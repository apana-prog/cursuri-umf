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8  ·  SĂNĂTATE PUBLICĂ ȘI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789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Duminică seara: cine plătește internarea?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Finanțarea sănătății, plata furnizorilor, DRG și organizarea serviciilor în România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7512" y="411480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Urmărim banii unei singure internări, de la sursa lor până la plata spitalului.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Medicină, anul 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ÎNTÂI · SITUAȚIA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M., duminică seara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pensionară dintr-o comună din Județul B; diabet de tip 2 tratat cu insulină, insuficiență cardiacă cronică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55448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DUMINICĂ SEARA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06654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febră și tuse de trei zile; acum respiră greu; cabinetul medicului de familie este închis până luni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55448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68249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06654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112, ambulanța, unitatea de primiri urgențe a Spitalului Județean A; pneumonie; internată pe medicină internă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1605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Externată după opt zile. Din ce bani se plătește internarea ei?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76072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760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construit; 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VOTUL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DECIZIE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ce bani se plătește, în cea mai mare parte, internarea doamnei M.?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bugetul de stat, prin Ministerul Sănătății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fondul național unic de asigurări sociale de sănătate, prin casa de asigurări a județului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11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plata directă a pacientei și a familiei ei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348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bugetul consiliului județean, proprietarul spitalului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REVOTUL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colegul care a votat altfel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 de bancă. Apoi votați din nou, cu aceleași variante.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1757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005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58343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41757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8660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00050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8660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58343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8660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SURSE DE BANI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strânge un sistem bani pentru sănătate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IMPOZITELE GENERALE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colectate de stat, alocate prin buget; baza modelului Beveridge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CONTRIBUȚIILE SOCIALE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obligatorii, proporționale cu venitul; baza modelului Bismarck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53721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ASIGURAREA VOLUNTARĂ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4169664"/>
            <a:ext cx="49697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cumpărată de persoane sau de angajatori, ca adaos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95060" y="3657600"/>
            <a:ext cx="5372100" cy="1783080"/>
          </a:xfrm>
          <a:prstGeom prst="roundRect">
            <a:avLst>
              <a:gd name="adj" fmla="val 461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DIRECTE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4169664"/>
            <a:ext cx="49697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coplăți, servicii neacoperite, medicamente fără rețetă, plăți informale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PUNEREA ÎN COMUN A RISCURILOR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 strânși înainte de boală, de la mulți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 plătiți în avans de mulți oameni, cu riscuri diferite, intră într-un fond comun din care se cumpără servicii pentru toți.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1455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BOALĂ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529584"/>
            <a:ext cx="49697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impozitele, contribuțiile și asigurarea voluntară: boala unuia se plătește din banii tuturor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5060" y="301752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6228" y="31455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MOMENTUL BOLII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96228" y="3529584"/>
            <a:ext cx="49697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directe cad exact pe cel bolnav; cu cât sunt mai mari, cu atât protecția financiară e mai slabă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ȘI UNIUNEA EUROPEANĂ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plătește sănătatea, pe scheme de finanțare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SCHEMA (% DIN CHELTUIELILE CURENTE)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840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Asigurările sociale de sănătate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772400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63,0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78408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46,1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Bugetul de stat și bugetele locale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772400" y="2880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14,2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784080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27,9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Asigurarea voluntară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77240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784080" y="3749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4,6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94360" y="46177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177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directe ale gospodăriilor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772400" y="4617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22,0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784080" y="4617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" y="5532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Totalul e mic: 6,2% din PIB în România, față de 10,2% în UE.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conturile de sănătate pe scheme de finanțare, 2024.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CONTRIBUȚIA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la sută din venit, într-un singur fond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venitul persoanei: contribuția de asigurări sociale de sănătate, colectată de autoritatea fiscală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600200"/>
            <a:ext cx="653796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0368" y="1728216"/>
            <a:ext cx="6135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SALARIAȚII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30368" y="2112264"/>
            <a:ext cx="6135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2018, contribuția este suportată integral de angajat; angajatorul o reține și o virează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0" y="3154680"/>
            <a:ext cx="653796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3282696"/>
            <a:ext cx="6135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VENITURI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3666744"/>
            <a:ext cx="6135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10% din venitul net, cu o bază între 6 și 60 de salarii minime brute pe an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Angajatorul plătește separat 2,25%: contribuția asiguratorie pentru muncă.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FONDUL NAȚIONAL UNIC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fond pentru toată țara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Contribuțiile și subvențiile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0" y="1819656"/>
            <a:ext cx="384048" cy="329184"/>
          </a:xfrm>
          <a:prstGeom prst="rightArrow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1600200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00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FNUASS, administrat de CNAS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35240" y="1819656"/>
            <a:ext cx="384048" cy="329184"/>
          </a:xfrm>
          <a:prstGeom prst="rightArrow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600200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00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43 de case de asigurări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6517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43 DE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6382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41 județene, casa municipiului București și casa ministerelor apărării, afacerilor interne și justiției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95060" y="2651760"/>
            <a:ext cx="53721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6228" y="2779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VENITURILE FONDULUI, 2023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6228" y="3163824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contribuțiile asiguraților: 71,8%; subvențiile de la bugetul de stat: 18,3%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5262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5262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Casa județeană nu „are banii județului”: primește o parte din fondul național.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SURSE PUBLICE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Alți bani publici plătesc altceva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MINISTERUL SĂNĂTĂȚII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programele naționale de prevenție, echipamentele, investițiile, cercetarea, învățământul medical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BUGETELE LOCALE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întreținerea și reparațiile clădirilor, mesele pacienților; sub 1% din cheltuielile curente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M.: cheltuielile curente ale internării vin din FNUASS; clădirea și o parte din aparatură, din alți bani publici.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ACOPERIREA ȘI PLĂȚILE DIRECTE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nu este acoperit și ce plătește pacientul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42062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89%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populație acoperită de asigurările sociale de sănătate, în 2023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0" y="1645920"/>
            <a:ext cx="653796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0368" y="1773936"/>
            <a:ext cx="6135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RESTUL DE 11%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30368" y="2157984"/>
            <a:ext cx="6135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asigurare; în parte, români care trăiesc în străinătate și sunt încă înregistrați ca rezidenți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0" y="3383280"/>
            <a:ext cx="653796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3511296"/>
            <a:ext cx="6135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DIRECTE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3895344"/>
            <a:ext cx="6135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stomatologie, medicamente fără rețetă, coplăți; aceeași coplată pentru pensionarul sărac și pentru salariatul bogat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PLĂȚILE INFORMALE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 care nu apar în nicio statistică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făcut o plată suplimentară, un cadou sau o donație, în ultimele 12 luni (Eurobarometru):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2019 · ROMÂNIA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2157984"/>
            <a:ext cx="5646420" cy="420624"/>
          </a:xfrm>
          <a:prstGeom prst="roundRect">
            <a:avLst>
              <a:gd name="adj" fmla="val 1087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0" y="21579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2019 · MEDIA 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77640" y="2816352"/>
            <a:ext cx="1485900" cy="420624"/>
          </a:xfrm>
          <a:prstGeom prst="roundRect">
            <a:avLst>
              <a:gd name="adj" fmla="val 1087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4980" y="28163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4198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 · ROMÂNIA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77640" y="3474720"/>
            <a:ext cx="2674620" cy="420624"/>
          </a:xfrm>
          <a:prstGeom prst="roundRect">
            <a:avLst>
              <a:gd name="adj" fmla="val 1087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3700" y="34747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0782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 · MEDIA UE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77640" y="4133088"/>
            <a:ext cx="891540" cy="420624"/>
          </a:xfrm>
          <a:prstGeom prst="roundRect">
            <a:avLst>
              <a:gd name="adj" fmla="val 1087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0620" y="41330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48463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46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2024: 7% față de 3% în UE (în 2013: 28%). Dimensiunea reală nu se cunoaște.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Eurobarometrul despre corupție; analiza sistemului de sănătate din România.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DECIZIE · CE SPUN DATELE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B: fondul național unic, prin casa județeană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Confundă canalele: ministerul plătește prevenția, investițiile și o parte din urgență.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Corect: spitalul e plătit pentru cazurile acute prin DRG, din fond, pe contractul cu casa.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 reală, dar mică: coplata, medicamentele, plățile informale.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Confundă proprietarul cu plătitorul.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Separarea plătitorului de furnizor: cel care plătește serviciile nu este cel care le produce.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 · COMPLICAȚIA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de observație, la externare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052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3677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INTERNARE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5528" y="2020824"/>
            <a:ext cx="3102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antibiotic intravenos; insulina ajustată după glicemii; doza de diuretic modificată, greutatea monitorizată zilnic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28160" y="1508760"/>
            <a:ext cx="35052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63677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TRECE REZIDENTUL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9328" y="2020824"/>
            <a:ext cx="3102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diagnostic: pneumonie, nespecificată (J18.9)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1960" y="1508760"/>
            <a:ext cx="35052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63677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LIPSEȘTE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63128" y="2020824"/>
            <a:ext cx="3102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diabetul (E11.9) și insuficiența cardiacă (I50.9), scrise în evoluție, nu în rubrica diagnosticelor secundare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794760"/>
            <a:ext cx="53721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22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STATISTICIANUL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" y="4306824"/>
            <a:ext cx="49697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„Așa iese o grupă mică.”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5060" y="3794760"/>
            <a:ext cx="53721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392277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COLEG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96228" y="4306824"/>
            <a:ext cx="49697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„Trece și o complicație severă, ca să iasă mai mult.” Nimic din foaie nu o susține.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576072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760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VOTUL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trece medicul în foaia de observație înainte de a o închide?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751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pneumonia, pentru că ea a fost motivul internării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163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7004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Pneumonia ca diagnostic principal, plus diabetul și insuficiența cardiacă, tratate și monitorizate în internare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576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511296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Pneumonia, diabetul, insuficiența cardiacă și o complicație severă, ca grupa să valoreze mai mult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352544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98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35254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Nimic în plus: codificarea o face statisticianul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REVOTUL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colegi, două minute, același enunț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cu colegul de bancă. Apoi votați din nou, cu aceleași variante.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1757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005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58343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REVOTUL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299923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41757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4175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86600" y="358216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00050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086600" y="416509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583430"/>
            <a:ext cx="384048" cy="384048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583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086600" y="4748022"/>
            <a:ext cx="4114800" cy="548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CUMPĂRĂTORUL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ajung banii puși în comun la furnizori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Fondul comun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86200" y="2029968"/>
            <a:ext cx="384048" cy="329184"/>
          </a:xfrm>
          <a:prstGeom prst="rightArrow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17373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37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Cumpărătorul: casa de asigurări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35240" y="2029968"/>
            <a:ext cx="384048" cy="329184"/>
          </a:xfrm>
          <a:prstGeom prst="rightArrow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737360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737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Furnizorii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297180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71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Regulile după care plătește cumpărătorul formează mecanismele de plată a furnizorilor.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mecanism creează stimulente proprii: împinge furnizorul spre un anumit comportament.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MECANISMELE DE PLATĂ (1)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plătește și spre ce împinge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MECANISMUL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PLĂTEȘTE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SPRE CE ÎMPINGE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Bugetul pe linii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657600" y="201168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sumă fixă pe cheltuieli precise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011680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prea puține; nicio atenție la rezultate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3580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Bugetul global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57600" y="3035808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sumă fixă pe o perioadă, fără linii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303580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prea puține, loc pentru eficiență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4059936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59936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Capitația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57600" y="4059936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sumă fixă pe persoana înscrisă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4059936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prea puține; trimiteri prea multe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5084064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84064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 serviciu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657600" y="5084064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serviciu, la tarif fix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5084064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prea multe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sinteza despre cumpărarea strategică a serviciilor, 2019, anexa 1.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MECANISMELE DE PLATĂ (2)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Performanța, cazul și ziua de spitalizare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MECANISMUL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PLĂTEȘTE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SPRE CE ÎMPINGE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pentru performanță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657600" y="201168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atingerea unei ținte stabilite dinainte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011680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atenție la ce se plătește, uneori în dauna restului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3580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 caz (DRG)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57600" y="3035808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sumă fixă pe internare, după caracteristicile clinice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3035808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internări, cost mai mic pe caz, evitarea cazurilor grele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4059936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59936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 zi de spitalizare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57600" y="4059936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sumă fixă pe zi de internare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4059936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internări prelungite, selecția pacienților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sinteza despre cumpărarea strategică a serviciilor, 2019, anexa 1.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SALARIUL ȘI COMBINAȚIILE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 mecanism nu este bun singur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SALARIUL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medicii din spitale, ambulatorii publice și sănătate publică; nu leagă venitul de volum sau de calitate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salariile medicilor și ale asistentelor au crescut între 70% și 172%, după sporuri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COMBINAȚIILE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 serviciu nelimitată duce la servicii prea multe; capitația protejează bugetul; performanța corectează numai ce măsoară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· MEDICUL DE FAMILIE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cap de locuitor, pe serviciu și pe performanță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 cap de locuitor / pe serviciu, în puncte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Până în 2023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840480" cy="5943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011680"/>
            <a:ext cx="3840480" cy="59436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0116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50% / 50%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2023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788920"/>
            <a:ext cx="2688336" cy="5943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2788920"/>
            <a:ext cx="4992624" cy="59436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788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35% / 65%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53721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PERFORMANȚA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4169664"/>
            <a:ext cx="49697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2023, o sumă anuală pe indicatori; primele plăți în 2025, pentru 2024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95060" y="3657600"/>
            <a:ext cx="53721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378561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4169664"/>
            <a:ext cx="49697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2 200 de pacienți înscriși; peste 18 700 de puncte pe an, punctele decontate scad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· AMBULATORIUL ȘI SPITALUL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Casele contractează cu toți furnizorii eligibili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serviciu, în puncte sau în lei; în medie 28 de servicii pe zi, 15 minute pe consultație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DRG pentru acuți; plată pe zi pentru cronici; plată pe caz pentru spitalizarea de zi; programe naționale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CASELE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își aleg furnizorii; tarifele sunt fixe, volumul se negociază în limita bugetului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ESTE SISTEMUL DRG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Grupe de diagnostice: clinic asemănătoare, cost asemănător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externați sunt clasificați în grupe asemănătoare clinic, care consumă resurse asemănătoare.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916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ORIGINEA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30098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anii '70, Universitatea Yale: medici, statisticieni și economiști care voiau să evalueze spitalele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28160" y="278892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9328" y="2916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CRITERIU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9328" y="330098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clasificarea bolilor ordonează diagnosticele; DRG adaugă costul îngrijirii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61960" y="2788920"/>
            <a:ext cx="35052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2916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FELURI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3128" y="3300984"/>
            <a:ext cx="3102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grupe medicale și grupe chirurgicale, după intervenția chirurgicală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ÎNCADRAREA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Șapte variabile obligatorii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6916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691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Sexul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91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Durata spitalizării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0" y="1691640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691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Diagnosticul principal și cele secundare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326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Intervențiile și procedurile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12920" y="292608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0080" y="2926080"/>
            <a:ext cx="326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Starea la externare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31480" y="292608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8640" y="2926080"/>
            <a:ext cx="326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Greutatea la naștere (nou-născuți)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4348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Încadrarea o face automat un program, din datele codificate ale foii de observație.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EVALUARE LA PLATĂ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 DRG până în România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956816"/>
            <a:ext cx="105156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292608" cy="29260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1983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Medicare folosește grupele pentru a plăti spitalele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292608" cy="292608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51960" y="28803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România: plata prin DRG la nivel național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1828800"/>
            <a:ext cx="292608" cy="292608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09560" y="28803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RO-DRG, pe baza clasificării australiene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RO-DRG are grupe noi și alte definiții pentru comorbidități; datele le validează INMSS.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FOAIA DE OBSERVAȚIE LA PLATĂ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pași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0604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2821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· CODIFICAREA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331720"/>
            <a:ext cx="220370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alege diagnosticul principal și pe cele secundare; fiecare primește un cod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172821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· ÎNCADRAREA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84448" y="2331720"/>
            <a:ext cx="220370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pune cazul într-o grupă, după variabilele codificate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260604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72821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· VALOAREA RELATIVĂ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3368" y="2331720"/>
            <a:ext cx="220370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grupă are o valoare stabilită prin norme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0" y="1600200"/>
            <a:ext cx="2606040" cy="242316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2288" y="1728216"/>
            <a:ext cx="2203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· PLATA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62288" y="2331720"/>
            <a:ext cx="220370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decontare lunară, după valoarea relativă și tarif, în limita sumei contractate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2976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976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Principal: afecțiunea care a cerut în primul rând tratamentul. Secundare: cele care coexistă și influențează îngrijirea.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normele de aplicare a Contractului-cadru, ordinul comun MS–CNAS din 2023.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cazului = valoarea relativă × tariful pe caz ponderat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TARIFUL PE CAZ PONDERAT (TCP)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5528" y="2203704"/>
            <a:ext cx="3102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stabilit pentru fiecare spital, neschimbat pe durata contractului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28160" y="169164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CASE-MIX (ICM)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9328" y="2203704"/>
            <a:ext cx="3102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complexitatea medie a cazurilor spitalului, stabilită pentru anul în curs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61960" y="169164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SUMA CONTRACTATĂ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63128" y="2203704"/>
            <a:ext cx="3102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cazurile pe care le pot trata paturile × ICM × TCP; plata se face în limita ei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51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 este o simplificare. Costul peste tarif înseamnă pierdere; costul sub tarif, câștig.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normele de aplicare a Contractului-cadru, ordinul comun MS–CNAS din 2023.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CALCULUL · VALORI CONSTRUITE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caz, trei feluri de a-l codifica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Tariful pe caz ponderat al Spitalului Județean A: 2 000 de lei (construit); tariful real diferă de la un spital la altul.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(A) numai pneumonia · 1,20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40680" y="2295144"/>
            <a:ext cx="2051437" cy="539496"/>
          </a:xfrm>
          <a:prstGeom prst="roundRect">
            <a:avLst>
              <a:gd name="adj" fmla="val 847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3557" y="2295144"/>
            <a:ext cx="2194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2 400 lei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(B) plus diabetul și insuficiența · 1,65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40680" y="3072384"/>
            <a:ext cx="2820725" cy="539496"/>
          </a:xfrm>
          <a:prstGeom prst="roundRect">
            <a:avLst>
              <a:gd name="adj" fmla="val 8475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2845" y="3072384"/>
            <a:ext cx="2194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3 300 lei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(C) plus o complicație nedocumentată · 2,30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40680" y="3849624"/>
            <a:ext cx="3931920" cy="539496"/>
          </a:xfrm>
          <a:prstGeom prst="roundRect">
            <a:avLst>
              <a:gd name="adj" fmla="val 847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3849624"/>
            <a:ext cx="2194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4 600 lei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7091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(B) față de (A): 900 de lei pe caz; la 40 de cazuri pe an, 36 000 de lei mai puțin.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Grupele, valorile relative și tariful: construite pentru curs.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SUBCODIFICAREA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diagnostice decât îngrijirea făcută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primește mai puțin decât munca făcută: grupa are o valoare relativă mai mică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NAȚIONALE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subestimează comorbiditățile; statisticile folosite la planificare sunt greșite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CASE-MIX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scade; spitalul pare mai simplu decât este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51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Pare o economie de timp. Costă spitalul, datele și planificarea.</a:t>
            </a:r>
            <a:endParaRPr lang="en-US" sz="1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SUPRACODIFICAREA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grav pe hârtie decât în foaia de observație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 CUNOSCUT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3102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plății prin DRG; plătitorii revizuiesc metodele și tarifele și folosesc auditul și controlul fraudei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ROMÂNIA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157984"/>
            <a:ext cx="3102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CNAS aprobă reguli de confirmare a cazurilor pe baza datelor clinice; spitalul poate cere reconfirmarea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77393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DECONTARE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157984"/>
            <a:ext cx="3102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casa validează cazurile ținând seama de confirmarea comunicată de INMSS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Nimic din ce nu este documentat nu se codifică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2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trec diagnosticul principal și afecțiunile care au influențat îngrijirea și sunt documentate.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21868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880360"/>
            <a:ext cx="982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Afecțiunile unui episod anterior, fără legătură cu cel actual, nu se trec.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1148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453128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114800"/>
            <a:ext cx="982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de observație este documentul medical al pacientului, o sursă de date statistice și baza plății spitalului.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 · CE SPUN DATELE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B: diagnosticele tratate și documentate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Subcodificare: grupă mai simplă decât cazul, spitalul pierde, datele despre comorbidități se pierd.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Corect: diabetul și insuficiența cardiacă au influențat îngrijirea, deci sunt diagnostice secundare.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Supracodificare: cazul nu rezistă confirmării pe baza datelor clinice.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Mută răspunderea: diagnosticele le alege medicul care răspunde de tratament (OMS, CIM-10).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de grupare nu poate corecta o foaie incompletă.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PRIN DRG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Avantajele și limitele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3474720"/>
          </a:xfrm>
          <a:prstGeom prst="roundRect">
            <a:avLst>
              <a:gd name="adj" fmla="val 236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AVANTAJELE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știe dinainte cât primește și are motiv să-și țină costurile sub tarif; cazurile devin comparabile; plătitorul bugetează după numărul și tipul cazurilor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3474720"/>
          </a:xfrm>
          <a:prstGeom prst="roundRect">
            <a:avLst>
              <a:gd name="adj" fmla="val 236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LIMITELE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internări, externări prea timpurii, evitarea cazurilor grele; supracodificarea cere control; internarea evitată nu aduce niciun ban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100 DE PUNCTE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INSTRUMENTUL ȘEDINȚEI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Fondul suplimentar al Casei Județului 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milioane de lei; un punct = 100 000 de lei. Pacienții ca doamna M. ajung la urgență seara și în weekend. Împărțiți 100 de puncte: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505456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ASISTENȚA PRIMARĂ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889504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consultație de monitorizare: 60 de lei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505456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2889504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consultație de specialitate: 120 de lei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505456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SPITALELE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2889504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acut ca al doamnei M. (varianta B): 3 300 de lei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1120" y="23774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2505456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62288" y="2889504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 a riscului: 40 de lei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3977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77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2834640" y="4206240"/>
            <a:ext cx="1965960" cy="594360"/>
          </a:xfrm>
          <a:prstGeom prst="rect">
            <a:avLst/>
          </a:prstGeom>
          <a:solidFill>
            <a:srgbClr val="1D1F2B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983480" y="4206240"/>
            <a:ext cx="1965960" cy="594360"/>
          </a:xfrm>
          <a:prstGeom prst="rect">
            <a:avLst/>
          </a:prstGeom>
          <a:solidFill>
            <a:srgbClr val="1D1F2B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32320" y="4206240"/>
            <a:ext cx="1965960" cy="594360"/>
          </a:xfrm>
          <a:prstGeom prst="rect">
            <a:avLst/>
          </a:prstGeom>
          <a:solidFill>
            <a:srgbClr val="1D1F2B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281160" y="4206240"/>
            <a:ext cx="1965960" cy="594360"/>
          </a:xfrm>
          <a:prstGeom prst="rect">
            <a:avLst/>
          </a:prstGeom>
          <a:solidFill>
            <a:srgbClr val="1D1F2B"/>
          </a:solidFill>
          <a:ln w="12700">
            <a:solidFill>
              <a:srgbClr val="959BB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436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 pentru curs.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100 DE PUNCTE · CONSECINȚELE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profiluri de alocare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(PUNCTE)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MONITORIZĂRI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SPECIALIST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ACUTE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întâi (10 / 10 / 70 / 10)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16 666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8 333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2 121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0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25 000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2971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9718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Împărțit egal (25 / 25 / 25 / 25)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029200" y="2971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41 666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20 833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62 500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3931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319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 și prevenție întâi (40 / 15 / 15 / 30)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66 666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3931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12 500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0" y="3931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0" y="3931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75 000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" y="50292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0292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 media sălii cu profilul cel mai apropiat.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ipotetice, din costurile construite.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SACRIFICAT?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 puși în spital plătesc consecința, nu cauza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2560320"/>
          </a:xfrm>
          <a:prstGeom prst="roundRect">
            <a:avLst>
              <a:gd name="adj" fmla="val 32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ÎNTÂI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aproape cinci ori mai multe cazuri acute, dar de patru ori mai puține monitorizări și de trei ori mai puține evaluări de prevenție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2560320"/>
          </a:xfrm>
          <a:prstGeom prst="roundRect">
            <a:avLst>
              <a:gd name="adj" fmla="val 32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 ȘI PREVENȚIE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efectul, internări evitate, apare mai târziu și nu poate fi fotografiat ca un pavilion nou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4805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80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Spitalul este plătit pentru fiecare caz tratat, nu pentru cazurile evitate.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 · DRUMUL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a ajuns doamna M. la urgență?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DUMINICĂ SEARA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boală cronică decompensată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886200" y="2542032"/>
            <a:ext cx="384048" cy="329184"/>
          </a:xfrm>
          <a:prstGeom prst="rightArrow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69164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CABINETUL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 din comună, închis până luni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635240" y="2542032"/>
            <a:ext cx="384048" cy="329184"/>
          </a:xfrm>
          <a:prstGeom prst="rightArrow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69164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240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112, ambulanța, urgența spitalului județean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3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prin medicul de familie, ci prin ambulanță și urgență: drumul multor pacienți din România.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94360" y="576072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760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pentru curs; detaliile sunt plauzibile, nu reale.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NIVELURILE DE ÎNGRIJIRE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mai multe probleme se rezolvă jos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880360" y="1600200"/>
            <a:ext cx="6400800" cy="914400"/>
          </a:xfrm>
          <a:prstGeom prst="roundRect">
            <a:avLst>
              <a:gd name="adj" fmla="val 9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5468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TERȚIARĂ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6636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spitale universitare, institute: expertiză concentrată, resurse scumpe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2651760"/>
            <a:ext cx="8686800" cy="914400"/>
          </a:xfrm>
          <a:prstGeom prst="roundRect">
            <a:avLst>
              <a:gd name="adj" fmla="val 90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SECUNDARĂ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0" y="26517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 de specialitate, spitalele județene și municipale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PRIMARĂ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3703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familie: primul contact, prevenție, boli cronice, coordonare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9377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Plus urgența, recuperarea, îngrijirea de lungă durată și cea paliativă.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SPITALELE DIN ROMÂNIA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Clasificate după competență și după proprietate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05200" cy="2560320"/>
          </a:xfrm>
          <a:prstGeom prst="roundRect">
            <a:avLst>
              <a:gd name="adj" fmla="val 321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COMPETENȚA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203704"/>
            <a:ext cx="3102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nivelurile I–V; categoria I, serviciile cele mai complexe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28160" y="1691640"/>
            <a:ext cx="3505200" cy="2560320"/>
          </a:xfrm>
          <a:prstGeom prst="roundRect">
            <a:avLst>
              <a:gd name="adj" fmla="val 321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PROPRIETATEA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203704"/>
            <a:ext cx="3102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publice, private și cu proprietate mixtă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1960" y="1691640"/>
            <a:ext cx="3505200" cy="2560320"/>
          </a:xfrm>
          <a:prstGeom prst="roundRect">
            <a:avLst>
              <a:gd name="adj" fmla="val 321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ADMINISTRAREA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203704"/>
            <a:ext cx="3102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spitalele publice, de autoritățile locale, cu excepția a 58 administrate de Ministerul Sănătății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 CA FILTRU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Regula: trimiterea spre specialist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0520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ÎNSCRIEREA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203704"/>
            <a:ext cx="3102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obligatorie; medicul poate fi schimbat după cel puțin șase luni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28160" y="1691640"/>
            <a:ext cx="350520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93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TRIMITEREA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9328" y="2203704"/>
            <a:ext cx="3102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consultația decontată la specialist cere bilet de trimitere; acces direct numai la unele controale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1960" y="1691640"/>
            <a:ext cx="3505200" cy="2926080"/>
          </a:xfrm>
          <a:prstGeom prst="roundRect">
            <a:avLst>
              <a:gd name="adj" fmla="val 28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128" y="1819656"/>
            <a:ext cx="310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SCRISOAREA MEDICALĂ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128" y="2203704"/>
            <a:ext cx="3102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specialistul informează medicul de familie cel puțin o dată pe an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FILTRUL, ÎN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funcționează slab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29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Mulți pacienți ocolesc medicul de familie și merg direct la urgență.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163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606040"/>
            <a:ext cx="9829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Medicii de familie nu sunt obligați să asigure îngrijire în afara programului.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7647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566160"/>
            <a:ext cx="9829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Centrele de permanență sunt încă insuficiente; mulți medici lucrează singuri.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Exact drumul doamnei M.: duminică seara, cabinet închis, ambulanță.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REȚEAUA DE SPITALE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multe spitale, mai ales private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05840" y="3019501"/>
            <a:ext cx="822960" cy="1918259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2301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010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2779182"/>
            <a:ext cx="822960" cy="2158578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32198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57400" y="5010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946547"/>
            <a:ext cx="822960" cy="19912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489347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464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5010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83480" y="2560320"/>
            <a:ext cx="822960" cy="237744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5010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5166360" cy="22860"/>
          </a:xfrm>
          <a:prstGeom prst="rect">
            <a:avLst/>
          </a:prstGeom>
          <a:solidFill>
            <a:srgbClr val="6A6F85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4592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773936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2157984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374 publice (67,5%); private: de la 5 în 2002 la 180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557016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3941064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67 de spitale publice închise; mai mult de jumătate s-au redeschis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PATURILE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Una dintre cele mai mari capacități din UE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Paturi la 100 000 de locuitori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560320"/>
            <a:ext cx="914400" cy="25603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889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193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3176640"/>
            <a:ext cx="914400" cy="194400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719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675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5193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3024000"/>
            <a:ext cx="914400" cy="20966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566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728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5193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438912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55448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682496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36208" y="2066544"/>
            <a:ext cx="5129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730,7 paturi la 100 000 de locuitori, față de 507,4 în 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3099816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EXTERNĂRI, 2022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36208" y="3483864"/>
            <a:ext cx="5129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162 la 1 000 de locuitori, față de 155 în UE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438912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4517136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36208" y="4901184"/>
            <a:ext cx="5129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91% din spitalele publice la oraș; 48% din populație la sat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 URMEAZĂ PATURILE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merg cheltuielile cu sănătatea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Îngrijirea spitalicească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60520" y="1792224"/>
            <a:ext cx="5486400" cy="630936"/>
          </a:xfrm>
          <a:prstGeom prst="roundRect">
            <a:avLst>
              <a:gd name="adj" fmla="val 7246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0" y="1792224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43,7%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Medicamentele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60520" y="2660904"/>
            <a:ext cx="3452540" cy="630936"/>
          </a:xfrm>
          <a:prstGeom prst="roundRect">
            <a:avLst>
              <a:gd name="adj" fmla="val 7246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04500" y="2660904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Îngrijirea ambulatorie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0520" y="3529584"/>
            <a:ext cx="2523493" cy="630936"/>
          </a:xfrm>
          <a:prstGeom prst="roundRect">
            <a:avLst>
              <a:gd name="adj" fmla="val 7246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5453" y="3529584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20,1%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7564B"/>
          </a:solidFill>
          <a:ln w="12700">
            <a:solidFill>
              <a:srgbClr val="0756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ocolesc asistența primară; DRG plătește fiecare internare, nu și pe cea evitată.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România; date pentru 2023.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REGIONALIZAREA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Spitalele regionale: propuse, amânate, în construcție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11096"/>
            <a:ext cx="105156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292608" cy="29260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rapoartele cer rețele regionale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0360" y="1783080"/>
            <a:ext cx="292608" cy="292608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88920" y="2834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lege neadoptată: opt spitale regionale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783080"/>
            <a:ext cx="292608" cy="292608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83480" y="2834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de raționalizare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69480" y="1783080"/>
            <a:ext cx="292608" cy="292608"/>
          </a:xfrm>
          <a:prstGeom prst="ellipse">
            <a:avLst/>
          </a:prstGeom>
          <a:solidFill>
            <a:srgbClr val="9C4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78040" y="2834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primele planuri regionale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64040" y="1783080"/>
            <a:ext cx="292608" cy="292608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72600" y="283464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începe construcția a trei: Iași, Cluj, Craiova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5720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spital regional nu rezolvă singur problema doamnei M.: are nevoie de asistență primară puternică.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analiza sistemului de sănătate din România (OMS Europa și Observatorul European).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ÎNTÂMPLAT · CAZ CONSTRUIT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M., după cinci săptămâni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066544"/>
            <a:ext cx="49697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completată în final cu pneumonia și cele două diagnostice secundare; cazul a fost confirmat și plătit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195060" y="15544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6824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EXTERNARE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066544"/>
            <a:ext cx="49697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scrisoarea medicală, dusă la medicul de familie abia după trei săptămâni; medicul are 1 900 de pacienți și nu are program seara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36118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7398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CINCEA SĂPTĂMÂNĂ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4123944"/>
            <a:ext cx="49697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reinternare prin urgență, cu insuficiența cardiacă decompensată; spitalul primește din nou o plată pe caz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195060" y="3611880"/>
            <a:ext cx="5372100" cy="1874520"/>
          </a:xfrm>
          <a:prstGeom prst="roundRect">
            <a:avLst>
              <a:gd name="adj" fmla="val 43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373989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CELE DOUĂ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4123944"/>
            <a:ext cx="49697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nimeni din sistem nu a fost plătit să o urmărească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576072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760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Deznodământ construit; plauzibil, nu real.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ȘI DEZNODĂMÂNTUL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 avut sala dreptate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DECIZIE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57984"/>
            <a:ext cx="49697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cei mai mulți știu că plătește „casa”; mai puțin cunoscut: fondul e unic și o parte din cost ajunge tot la pacient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5060" y="1645920"/>
            <a:ext cx="537210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6228" y="1773936"/>
            <a:ext cx="4969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DECIZIE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96228" y="2157984"/>
            <a:ext cx="49697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(A) pare firească; de aceea subcodificarea este greșeala cea mai ușor de făcut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foaie corectă plătește corect spitalul, dar nu schimbă drumul pacientei.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VOTUL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DECIZIE · TRANSFERUL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schimbare a plății ar ajuta?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Casa Județului B: bolnavii cu insuficiență cardiacă din comunele fără program prelungit se reinternează des după externare.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77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 relativă mai mare pentru grupele de insuficiență cardiacă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08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Plată pe serviciu pentru monitorizarea după externare la medicul de familie, cu un indicator de performanță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40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Medicii de familie plătiți integral pe cap de locuitor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94360" y="448056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720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Spitalele plătite pe zi de spitalizare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9436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vot, fără revot.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TREIA DECIZIE · TRANSFERUL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B: plătiți serviciul de care e nevoie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Plătește mai bine consecința: reinternările devin mai rentabile, nu mai rare.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Încurajează consultația de monitorizare; indicatorul îndreaptă atenția spre rezultat.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47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82696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Direcția opusă: servicii mai puține, trimiteri mai multe.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23944"/>
            <a:ext cx="9829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Prelungește internările, fără să schimbe ce urmează după externare.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program prelungit sau centru de permanență, consultația plătită tot nu există duminică seara.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RECAPITULARE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întrebări, în ordinea cursului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Sursele de bani, punerea în comun, contribuția, fondul unic, plățile directe, mecanismele de plată, medicul de familie, pașii DRG, plata unui caz, codificarea.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CHEIA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jocului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contribuțiile se strâng înainte de boală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fondul comun: plătesc și cei sănătoși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6596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10% din venit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96596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fond național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6596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22,0% față de 15,1% în UE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1600200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7556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600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servicii prea multe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2450592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6060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24505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589520" y="24505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35% / 65% din 2023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3300984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95160" y="330098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589520" y="33009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TCP stabilit pentru fiecare spital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4151376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306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95160" y="41513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89520" y="4151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limita sumei contractate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217920" y="5001768"/>
            <a:ext cx="534924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51572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9516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589520" y="5001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supracodificare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Banii unei singure internări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134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13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Internarea unui asigurat se plătește, în cea mai mare parte, din fondul național unic, prin casa județeană.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1002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100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3172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Fondul se alimentează din contribuția de 10%, din subvenții și din alte venituri, puse în comun la nivel național.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7870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787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Plata pe serviciu împinge spre mai multe servicii, capitația spre mai puține, plata pe caz spre internări mai multe și mai ieftine.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4738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473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6908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Diagnosticele secundare documentate pot schimba grupa DRG și plata.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0292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corectă plătește corect spitalul; organizarea serviciilor decide dacă doamna M. revine.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 DIMINEAȚĂ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pe secție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închideți o foaie de observație, treceți toate diagnosticele tratate sau monitorizate, și numai pe acestea.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832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externați un bolnav cronic, asigurați-vă că medicul de familie află de externare.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754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34340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Spuneți-i pacientului unde merge dacă se agravează duminică seara.</a:t>
            </a:r>
            <a:endParaRPr lang="en-US" sz="1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BILETUL DE IEȘIRE  · 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să plecați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te-am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ai putea folosi mâine?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răspunsuri scurte, pe telefon. Cinci minute.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8 - Duminică seara: cine plătește internarea?</dc:title>
  <dc:subject>PptxGenJS Presentation</dc:subject>
  <dc:creator>Conf. Univ. Dr. Adrian Pana</dc:creator>
  <cp:lastModifiedBy>Conf. Univ. Dr. Adrian Pana</cp:lastModifiedBy>
  <cp:revision>1</cp:revision>
  <dcterms:created xsi:type="dcterms:W3CDTF">2026-10-25T10:51:26Z</dcterms:created>
  <dcterms:modified xsi:type="dcterms:W3CDTF">2026-10-25T10:51:26Z</dcterms:modified>
  <cp:keywords>sursa_amprenta=f65090f4d221b9cc; proiectie</cp:keywords>
</cp:coreProperties>
</file>