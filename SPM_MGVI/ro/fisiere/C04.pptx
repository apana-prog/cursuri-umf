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603504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7724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CURSUL 4  ·  SĂNĂTATE PUBLICĂ ȘI MANAGEMENT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ce mor atâția români înainte de 70 de ani?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Bolile cronice netransmisibile. Factori de risc modificabili. Strategii preventive bazate pe dovezi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67512" y="4617720"/>
            <a:ext cx="1280160" cy="2743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8006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pacient, patru niveluri de prevenție, două strategii și o întrebare: ce s-ar fi putut face cu zece ani înainte?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UMF Cluj-Napoca · Medicină, anul VI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PACIENT CONSTRUIT PENTRU DISCUȚIE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Ion, 52 de ani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852160" cy="3108960"/>
          </a:xfrm>
          <a:prstGeom prst="roundRect">
            <a:avLst>
              <a:gd name="adj" fmla="val 264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5303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Locuiește într-o comună, lucrează în construcții, fumează de treizeci de ani, bea „moderat”, nu face mișcare și mănâncă „ca acasă”. Nu a mai fost la medic de cinci ani.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720840" y="1691640"/>
            <a:ext cx="484632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95160" y="1801368"/>
            <a:ext cx="42976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160/100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995160" y="2189988"/>
            <a:ext cx="429768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tensiunea arterială, mmHg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720840" y="2761488"/>
            <a:ext cx="484632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95160" y="2871216"/>
            <a:ext cx="42976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995160" y="3259836"/>
            <a:ext cx="429768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indicele de masă corporală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20840" y="3831336"/>
            <a:ext cx="484632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3941064"/>
            <a:ext cx="42976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126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995160" y="4329684"/>
            <a:ext cx="429768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glicemia à jeun, mg/dl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502920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0292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Care dintre problemele lui sunt modificabile și cine le poate modifica?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ipotetice; cazul nu descrie un pacient real.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NOR DE CUVINTE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ÎNAINTE DE ORICE CIFRĂ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Dacă ați conduce Ministerul Sănătății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1920240"/>
            <a:ext cx="10972800" cy="2194560"/>
          </a:xfrm>
          <a:prstGeom prst="roundRect">
            <a:avLst>
              <a:gd name="adj" fmla="val 37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202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Care ar fi singura măsură pe care ați lua-o pentru a reduce decesele premature prin boli cronice?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94360" y="4434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Unul până la trei cuvinte.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4983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CAZ LA DEFINIȚIE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este o boală netransmisibilă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5544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Boală de lungă durată, care nu se transmite de la o persoană la alta, produsă de factori genetici, fiziologici, de mediu și comportamentali.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94360" y="2697480"/>
            <a:ext cx="2606040" cy="868680"/>
          </a:xfrm>
          <a:prstGeom prst="roundRect">
            <a:avLst>
              <a:gd name="adj" fmla="val 9474"/>
            </a:avLst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6974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Boli cardiovasculare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383280" y="2697480"/>
            <a:ext cx="2606040" cy="868680"/>
          </a:xfrm>
          <a:prstGeom prst="roundRect">
            <a:avLst>
              <a:gd name="adj" fmla="val 9474"/>
            </a:avLst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26974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Cancere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172200" y="2697480"/>
            <a:ext cx="2606040" cy="868680"/>
          </a:xfrm>
          <a:prstGeom prst="roundRect">
            <a:avLst>
              <a:gd name="adj" fmla="val 9474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6974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Boli respiratorii cronice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961120" y="2697480"/>
            <a:ext cx="2606040" cy="868680"/>
          </a:xfrm>
          <a:prstGeom prst="roundRect">
            <a:avLst>
              <a:gd name="adj" fmla="val 9474"/>
            </a:avLst>
          </a:prstGeom>
          <a:solidFill>
            <a:srgbClr val="9C4A0A"/>
          </a:solidFill>
          <a:ln w="12700">
            <a:solidFill>
              <a:srgbClr val="9C4A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98280" y="26974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Diabet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94360" y="384048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931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Ani de expunere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" y="44348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timp pentru intervenție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43400" y="384048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931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Mai multe cauze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72000" y="44348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deci mai multe măsuri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92440" y="384048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3931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Unii factori nu se schimbă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21040" y="44348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alții da: de aceștia se ocupă cursul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" y="56692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Fișa disciplinei adaugă sănătatea mintală („4+1”).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FACTORII DE RISC AI LUI 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familii de factori de risc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029200" cy="3520440"/>
          </a:xfrm>
          <a:prstGeom prst="roundRect">
            <a:avLst>
              <a:gd name="adj" fmla="val 233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105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COMPORTAMENTALI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450592"/>
            <a:ext cx="146304" cy="14630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2860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tutunul, inclusiv fumul altora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3136392"/>
            <a:ext cx="146304" cy="14630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9718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alimentația nesănătoasă: sare, zahăr, grăsimi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3822192"/>
            <a:ext cx="146304" cy="14630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576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consumul nociv de alcool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4507992"/>
            <a:ext cx="146304" cy="14630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43434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activitatea fizică insuficientă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537960" y="1691640"/>
            <a:ext cx="5029200" cy="3520440"/>
          </a:xfrm>
          <a:prstGeom prst="roundRect">
            <a:avLst>
              <a:gd name="adj" fmla="val 233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18105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METABOLICI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0" y="2450592"/>
            <a:ext cx="146304" cy="146304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22860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tensiunea arterială crescută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858000" y="3136392"/>
            <a:ext cx="146304" cy="146304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29718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glicemia crescută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858000" y="3822192"/>
            <a:ext cx="146304" cy="146304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0" y="36576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lipidele sanguine crescute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858000" y="4507992"/>
            <a:ext cx="146304" cy="146304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0" y="43434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obezitatea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733288" y="3246120"/>
            <a:ext cx="685800" cy="329184"/>
          </a:xfrm>
          <a:prstGeom prst="rightArrow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5440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Ion îi are pe toți cei patru comportamentali și cel puțin trei metabolici, care acționează pe aceleași vase de sânge.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Organizația Mondială a Sănătății.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PERECHI · 3 MINUTE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LUCRU ÎN PERECHI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poate modifica fiecare factor?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8308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Notați toți factorii de risc modificabili ai lui Ion și, pentru fiecare, cine îl poate modifica.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94360" y="3429000"/>
            <a:ext cx="2606040" cy="914400"/>
          </a:xfrm>
          <a:prstGeom prst="roundRect">
            <a:avLst>
              <a:gd name="adj" fmla="val 9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4290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Ion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83280" y="3429000"/>
            <a:ext cx="2606040" cy="914400"/>
          </a:xfrm>
          <a:prstGeom prst="roundRect">
            <a:avLst>
              <a:gd name="adj" fmla="val 9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34290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medicul de familie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72200" y="3429000"/>
            <a:ext cx="2606040" cy="914400"/>
          </a:xfrm>
          <a:prstGeom prst="roundRect">
            <a:avLst>
              <a:gd name="adj" fmla="val 9000"/>
            </a:avLst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4290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104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spitalul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961120" y="3429000"/>
            <a:ext cx="2606040" cy="914400"/>
          </a:xfrm>
          <a:prstGeom prst="roundRect">
            <a:avLst>
              <a:gd name="adj" fmla="val 9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98280" y="34290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lege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94360" y="46634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factor poate avea mai mulți „proprietari”. După trei minute, câteva perechi citesc lista: câți factori au primit ca proprietar o lege sau o autoritate locală?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PACIENT LA POPULAȚIE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Ion la bărbații ca 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5544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Câți bărbați ca Ion există în România? Procentele nu se pot înmulți: fumatul, alcoolul și sedentarismul nu sunt independente, iar ancheta publică fiecare factor separat.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94360" y="2926080"/>
            <a:ext cx="5029200" cy="1828800"/>
          </a:xfrm>
          <a:prstGeom prst="roundRect">
            <a:avLst>
              <a:gd name="adj" fmla="val 4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92608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pacient cu cinci factori de risc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852160" y="3657600"/>
            <a:ext cx="502920" cy="329184"/>
          </a:xfrm>
          <a:prstGeom prst="rightArrow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2926080"/>
            <a:ext cx="5029200" cy="1828800"/>
          </a:xfrm>
          <a:prstGeom prst="roundRect">
            <a:avLst>
              <a:gd name="adj" fmla="val 45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12280" y="292608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Cinci factori de risc frecvenți în populație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94360" y="5074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Trecerea de la medicina clinică la sănătatea publică.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POVARA MONDIALĂ, 2021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Câți oameni mor din boli netransmisibile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55648"/>
            <a:ext cx="48006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 puțin 43 mil.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68680" y="2372868"/>
            <a:ext cx="4800600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decese; 75% din decesele din lume nelegate de pandemie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755648"/>
            <a:ext cx="48006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18 mil.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92240" y="2372868"/>
            <a:ext cx="4800600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decese înainte de 70 de ani; 82% în țările cu venituri mici și medii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246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Dintre toate decesele prin boli netransmisibile: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3657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Boli cardiovasculare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77640" y="3712464"/>
            <a:ext cx="5486400" cy="310896"/>
          </a:xfrm>
          <a:prstGeom prst="roundRect">
            <a:avLst>
              <a:gd name="adj" fmla="val 14706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55480" y="371246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 puțin 19 mil.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4206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Cancere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977640" y="4261104"/>
            <a:ext cx="2887579" cy="310896"/>
          </a:xfrm>
          <a:prstGeom prst="roundRect">
            <a:avLst>
              <a:gd name="adj" fmla="val 14706"/>
            </a:avLst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56659" y="426110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 mil.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4360" y="4754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Boli respiratorii cronice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977640" y="4809744"/>
            <a:ext cx="1155032" cy="310896"/>
          </a:xfrm>
          <a:prstGeom prst="roundRect">
            <a:avLst>
              <a:gd name="adj" fmla="val 14706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24112" y="48097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 mil.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5303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Diabet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977640" y="5358384"/>
            <a:ext cx="577516" cy="310896"/>
          </a:xfrm>
          <a:prstGeom prst="roundRect">
            <a:avLst>
              <a:gd name="adj" fmla="val 14706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46596" y="535838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peste 2 mil.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OMS, 2021. Fișa citează 74% (GBD 2021), cu alt numitor.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ȚINTA 3.4 DE DEZVOLTARE DURABILĂ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treime mai puțin până în 2030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Reducerea cu o treime a mortalității premature prin boli netransmisibile.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94360" y="3017520"/>
            <a:ext cx="5349240" cy="2651760"/>
          </a:xfrm>
          <a:prstGeom prst="roundRect">
            <a:avLst>
              <a:gd name="adj" fmla="val 310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1272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INDICATORUL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4846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Probabilitatea ca o persoană de 30 de ani să moară înainte de 70 de ani din boli cardiovasculare, cancer, diabet sau boli respiratorii cronice.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17920" y="3017520"/>
            <a:ext cx="5349240" cy="2651760"/>
          </a:xfrm>
          <a:prstGeom prst="roundRect">
            <a:avLst>
              <a:gd name="adj" fmla="val 310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31272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CE ESTE BUN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3520440"/>
            <a:ext cx="4846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 calculează din ratele de mortalitate pe vârste: nu depinde de structura pe vârste, deci țările se compară direct.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metadatele ONU ale indicatorului; planul global al OMS.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ESTIMAȚI ÎNAINTE DE CIFRĂ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 ce loc este România în Uniunea Europeană?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probabilitatea de a muri între 30 și 70 de ani din boli netransmisibile, de la valoarea cea mai mare, între cele 27 de state membre.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94360" y="2880360"/>
            <a:ext cx="10972800" cy="713232"/>
          </a:xfrm>
          <a:prstGeom prst="roundRect">
            <a:avLst>
              <a:gd name="adj" fmla="val 1153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02666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026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8803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 primele cinci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94360" y="3721608"/>
            <a:ext cx="10972800" cy="713232"/>
          </a:xfrm>
          <a:prstGeom prst="roundRect">
            <a:avLst>
              <a:gd name="adj" fmla="val 1153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86791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867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72160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 locurile șase și cincisprezece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594360" y="4562856"/>
            <a:ext cx="10972800" cy="713232"/>
          </a:xfrm>
          <a:prstGeom prst="roundRect">
            <a:avLst>
              <a:gd name="adj" fmla="val 1153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70916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709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562856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locul cincisprezece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94360" y="54864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RĂSPUNSUL: 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Locul al patrulea: 21,5% în 2021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Bulgaria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423160" y="1792224"/>
            <a:ext cx="4141529" cy="329184"/>
          </a:xfrm>
          <a:prstGeom prst="roundRect">
            <a:avLst>
              <a:gd name="adj" fmla="val 13889"/>
            </a:avLst>
          </a:prstGeom>
          <a:solidFill>
            <a:srgbClr val="6A6F85"/>
          </a:solidFill>
          <a:ln w="12700">
            <a:solidFill>
              <a:srgbClr val="6A6F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56129" y="179222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25,6%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30428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Letonia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23160" y="2359152"/>
            <a:ext cx="3672371" cy="329184"/>
          </a:xfrm>
          <a:prstGeom prst="roundRect">
            <a:avLst>
              <a:gd name="adj" fmla="val 13889"/>
            </a:avLst>
          </a:prstGeom>
          <a:solidFill>
            <a:srgbClr val="6A6F85"/>
          </a:solidFill>
          <a:ln w="12700">
            <a:solidFill>
              <a:srgbClr val="6A6F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86971" y="235915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22,7%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287121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Ungaria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423160" y="2926080"/>
            <a:ext cx="3510593" cy="329184"/>
          </a:xfrm>
          <a:prstGeom prst="roundRect">
            <a:avLst>
              <a:gd name="adj" fmla="val 13889"/>
            </a:avLst>
          </a:prstGeom>
          <a:solidFill>
            <a:srgbClr val="6A6F85"/>
          </a:solidFill>
          <a:ln w="12700">
            <a:solidFill>
              <a:srgbClr val="6A6F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25193" y="29260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21,7%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343814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423160" y="3493008"/>
            <a:ext cx="3478237" cy="329184"/>
          </a:xfrm>
          <a:prstGeom prst="roundRect">
            <a:avLst>
              <a:gd name="adj" fmla="val 13889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92837" y="349300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21,5%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4360" y="40050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…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4360" y="43434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Suedia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423160" y="4398264"/>
            <a:ext cx="1278050" cy="329184"/>
          </a:xfrm>
          <a:prstGeom prst="roundRect">
            <a:avLst>
              <a:gd name="adj" fmla="val 13889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2650" y="439826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7,9%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491032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Luxemburg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423160" y="4965192"/>
            <a:ext cx="1261872" cy="329184"/>
          </a:xfrm>
          <a:prstGeom prst="roundRect">
            <a:avLst>
              <a:gd name="adj" fmla="val 13889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76472" y="49651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7,8%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503920" y="1737360"/>
            <a:ext cx="3063240" cy="4206240"/>
          </a:xfrm>
          <a:prstGeom prst="roundRect">
            <a:avLst>
              <a:gd name="adj" fmla="val 268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32520" y="187452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Aproximativ doi oameni din zece în România, față de unul din treisprezece în Suedia.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732520" y="3657600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Intervalul României, 17,7–25,4%, cuprinde și valoarea Ungariei: ordinea dintre ele nu este sigură.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OMS, GHO (NCDMORT3070), ambele sexe, 2021.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CE BOLI VINE DIFERENȚA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s-ar evita cele mai multe decese?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10972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2023, rata standardizată prin toate cauzele: 1 376,1 la 100 000 în România, 963,4 în UE. Dacă România ar avea mâine rata UE la o singură grupă de boli, unde s-ar evita cele mai multe decese?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3017520"/>
            <a:ext cx="10972800" cy="512064"/>
          </a:xfrm>
          <a:prstGeom prst="roundRect">
            <a:avLst>
              <a:gd name="adj" fmla="val 1607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0632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063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3017520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Bolile aparatului circulator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94360" y="3657600"/>
            <a:ext cx="10972800" cy="512064"/>
          </a:xfrm>
          <a:prstGeom prst="roundRect">
            <a:avLst>
              <a:gd name="adj" fmla="val 1607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70332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703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657600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Cancerele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94360" y="4297680"/>
            <a:ext cx="10972800" cy="512064"/>
          </a:xfrm>
          <a:prstGeom prst="roundRect">
            <a:avLst>
              <a:gd name="adj" fmla="val 1607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34340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343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297680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Diabetul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594360" y="4937760"/>
            <a:ext cx="10972800" cy="512064"/>
          </a:xfrm>
          <a:prstGeom prst="roundRect">
            <a:avLst>
              <a:gd name="adj" fmla="val 1607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9834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983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4937760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Bolile respiratorii cronice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59436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RĂSPUNSUL: A  ·  TABELUL 4.1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Diferența vine din bolile aparatului circulator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67512" y="1618488"/>
            <a:ext cx="5340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standardizată, la 100 000, 2023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153912" y="1618488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08392" y="1618488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262872" y="1618488"/>
            <a:ext cx="2231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Comparația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167128"/>
            <a:ext cx="10972800" cy="13716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185416"/>
            <a:ext cx="5340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Bolile aparatului circulator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53912" y="2185416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787,1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08392" y="2185416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313,0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262872" y="2185416"/>
            <a:ext cx="2231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aproximativ 2,5 ori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2734056"/>
            <a:ext cx="10972800" cy="13716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2752344"/>
            <a:ext cx="5340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 din care cardiopatia ischemică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53912" y="2752344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257,3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08392" y="2752344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100,4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262872" y="2752344"/>
            <a:ext cx="2231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aproximativ 2,6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4360" y="3300984"/>
            <a:ext cx="10972800" cy="13716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3319272"/>
            <a:ext cx="5340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 din care bolile cerebrovasculare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53912" y="3319272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187,7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08392" y="3319272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63,9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62872" y="3319272"/>
            <a:ext cx="2231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aproape de 3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4360" y="3867912"/>
            <a:ext cx="10972800" cy="13716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3886200"/>
            <a:ext cx="5340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Tumorile maligne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53912" y="3886200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241,5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708392" y="3886200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233,1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262872" y="3886200"/>
            <a:ext cx="2231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apropiată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94360" y="4434840"/>
            <a:ext cx="10972800" cy="13716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" y="4453128"/>
            <a:ext cx="5340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Diabetul zaharat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153912" y="4453128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15,7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708392" y="4453128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23,5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262872" y="4453128"/>
            <a:ext cx="2231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mai mică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94360" y="5001768"/>
            <a:ext cx="10972800" cy="13716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" y="5020056"/>
            <a:ext cx="5340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Bolile cronice ale căilor respiratorii inferioare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153912" y="5020056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26,2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708392" y="5020056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27,9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262872" y="5020056"/>
            <a:ext cx="2231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puțin mai mică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Eurostat, hlth_cd_asdr2; valorile cu două zecimale, rotunjite la una.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ALTE DOUĂ UNGHIURI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mai arată datele despre cauze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349240" cy="4114800"/>
          </a:xfrm>
          <a:prstGeom prst="roundRect">
            <a:avLst>
              <a:gd name="adj" fmla="val 2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GLOBAL BURDEN OF DISEASE, ROMÂNIA, 2023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8680" y="2286000"/>
            <a:ext cx="4800600" cy="1463040"/>
          </a:xfrm>
          <a:prstGeom prst="roundRect">
            <a:avLst>
              <a:gd name="adj" fmla="val 5625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395728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22,9%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143000" y="3035808"/>
            <a:ext cx="4251960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decese: cardiopatia ischemică, aproximativ 56 400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3931920"/>
            <a:ext cx="4800600" cy="1463040"/>
          </a:xfrm>
          <a:prstGeom prst="roundRect">
            <a:avLst>
              <a:gd name="adj" fmla="val 5625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4041648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17,9%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143000" y="4681728"/>
            <a:ext cx="4251960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decese: accidentul vascular cerebral, aproximativ 44 100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5349240" cy="4114800"/>
          </a:xfrm>
          <a:prstGeom prst="roundRect">
            <a:avLst>
              <a:gd name="adj" fmla="val 2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DIABETUL PE CERTIFICAT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228600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rată mai mică a deceselor prin diabet nu înseamnă automat mai puțin diabet: la un bolnav de diabet care moare de infarct, certificatul poate înscrie infarctul.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Global Burden of Disease 2023 (estimări).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ANCHETA EUROPEANĂ DE SĂNĂTATE, 2019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Factorii de risc declarați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67512" y="1572768"/>
            <a:ext cx="7168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Procente din respondenți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82712" y="1572768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811512" y="1572768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066544"/>
            <a:ext cx="10972800" cy="13716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2084832"/>
            <a:ext cx="7168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Fumează zilnic, ambele sexe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82712" y="2084832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18,9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11512" y="2084832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19,3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2578608"/>
            <a:ext cx="10972800" cy="13716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596896"/>
            <a:ext cx="7168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Fumează zilnic, bărbați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82712" y="2596896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30,8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811512" y="2596896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23,6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4360" y="3090672"/>
            <a:ext cx="10972800" cy="13716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3108960"/>
            <a:ext cx="7168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Fumează zilnic, femei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982712" y="3108960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7,7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811512" y="3108960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15,3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4360" y="3602736"/>
            <a:ext cx="10972800" cy="13716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3621024"/>
            <a:ext cx="7168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Consum excesiv de alcool la o ocazie, săptămânal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982712" y="3621024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11,1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811512" y="3621024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3,7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4360" y="4114800"/>
            <a:ext cx="10972800" cy="13716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4133088"/>
            <a:ext cx="7168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consumă zilnic fructe sau legume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982712" y="4133088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73,6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811512" y="4133088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32,9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94360" y="4626864"/>
            <a:ext cx="10972800" cy="13716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" y="4645152"/>
            <a:ext cx="7168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Nicio activitate fizică aerobă în timpul liber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982712" y="4645152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84,0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811512" y="4645152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47,3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94360" y="5138928"/>
            <a:ext cx="10972800" cy="13716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" y="5157216"/>
            <a:ext cx="7168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Obezitate (indice de masă corporală 30 sau mai mult)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982712" y="5157216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10,5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811512" y="5157216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16,0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94360" y="5760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Diferențele cele mai mari: alimentația și mișcarea.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Eurostat, EHIS, valul 2019.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RÂND CARE PARE SĂ CONTRAZICĂ RESTUL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Ați crede această cifră?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349240" cy="1508760"/>
          </a:xfrm>
          <a:prstGeom prst="roundRect">
            <a:avLst>
              <a:gd name="adj" fmla="val 545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37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Obezitate declarată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10,5%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37560" y="21945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16,0%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33756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5349240" cy="1508760"/>
          </a:xfrm>
          <a:prstGeom prst="roundRect">
            <a:avLst>
              <a:gd name="adj" fmla="val 545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737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Supraponderea și obezitatea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1945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56,4%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49224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961120" y="21945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51,3%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96112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3337560"/>
            <a:ext cx="5349240" cy="1508760"/>
          </a:xfrm>
          <a:prstGeom prst="roundRect">
            <a:avLst>
              <a:gd name="adj" fmla="val 545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4290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Hipertensiune declarată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38862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15,7%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68680" y="4526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37560" y="38862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21,9%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3337560" y="4526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3337560"/>
            <a:ext cx="5349240" cy="1508760"/>
          </a:xfrm>
          <a:prstGeom prst="roundRect">
            <a:avLst>
              <a:gd name="adj" fmla="val 545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4290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Diabet declarat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92240" y="38862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5,0%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6492240" y="4526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961120" y="38862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7,4%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8961120" y="4526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5120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Cum s-a obținut: IMC din înălțimea și greutatea declarate la interviu (manualul EHIS), nu măsurate.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Eurostat, EHIS, valul 2019.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+ COLEGUL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VOTAȚI, APOI DOUĂ MINUTE CU COLEGUL DE BANCĂ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concluzie se poate trage?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459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Hipertensiunea declarată este mai rară în România decât în UE.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94360" y="2697480"/>
            <a:ext cx="10972800" cy="557784"/>
          </a:xfrm>
          <a:prstGeom prst="roundRect">
            <a:avLst>
              <a:gd name="adj" fmla="val 1475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76606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7660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697480"/>
            <a:ext cx="100584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Hipertensiunea este mai rară în România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3383280"/>
            <a:ext cx="10972800" cy="557784"/>
          </a:xfrm>
          <a:prstGeom prst="roundRect">
            <a:avLst>
              <a:gd name="adj" fmla="val 1475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45186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4518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383280"/>
            <a:ext cx="100584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Medicii români tratează mai bine hipertensiunea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94360" y="4069080"/>
            <a:ext cx="10972800" cy="557784"/>
          </a:xfrm>
          <a:prstGeom prst="roundRect">
            <a:avLst>
              <a:gd name="adj" fmla="val 1475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13766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1376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4069080"/>
            <a:ext cx="100584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Datele declarate nu includ bolnavii nediagnosticați, deci nu permit concluzia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94360" y="4754880"/>
            <a:ext cx="10972800" cy="557784"/>
          </a:xfrm>
          <a:prstGeom prst="roundRect">
            <a:avLst>
              <a:gd name="adj" fmla="val 1475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82346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8234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4754880"/>
            <a:ext cx="100584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Ancheta este greșită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9436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RĂSPUNSUL: 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Datele declarate nu permit concluzia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60020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Ancheta înregistrează numai bolile cunoscute de respondent. Ion, fără consultație de cinci ani, ar fi răspuns „nu”.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94360" y="2697480"/>
            <a:ext cx="3520440" cy="868680"/>
          </a:xfrm>
          <a:prstGeom prst="roundRect">
            <a:avLst>
              <a:gd name="adj" fmla="val 9474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69748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frecvență mai mică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43400" y="2697480"/>
            <a:ext cx="3520440" cy="868680"/>
          </a:xfrm>
          <a:prstGeom prst="roundRect">
            <a:avLst>
              <a:gd name="adj" fmla="val 9474"/>
            </a:avLst>
          </a:prstGeom>
          <a:solidFill>
            <a:srgbClr val="9C4A0A"/>
          </a:solidFill>
          <a:ln w="12700">
            <a:solidFill>
              <a:srgbClr val="9C4A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269748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diagnosticare mai rară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092440" y="2697480"/>
            <a:ext cx="3520440" cy="868680"/>
          </a:xfrm>
          <a:prstGeom prst="roundRect">
            <a:avLst>
              <a:gd name="adj" fmla="val 9474"/>
            </a:avLst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0" y="269748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declarare mai puțin exactă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60" y="37033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explicații posibile; datele nu le separă.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4297680"/>
            <a:ext cx="10972800" cy="1554480"/>
          </a:xfrm>
          <a:prstGeom prst="roundRect">
            <a:avLst>
              <a:gd name="adj" fmla="val 5294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29768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Verificați cum a fost obținută cifra și dacă decesele o confirmă: mortalitatea standardizată prin bolile aparatului circulator este de aproximativ 2,5 ori media UE.</a:t>
            </a:r>
            <a:endParaRPr lang="en-US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TERMEN NOU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Patru niveluri de prevenție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67512" y="1527048"/>
            <a:ext cx="18653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Nivelul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679192" y="1527048"/>
            <a:ext cx="35112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Cui se adresează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36792" y="1527048"/>
            <a:ext cx="5157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Exemplu pentru 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167128"/>
            <a:ext cx="10972800" cy="13716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2185416"/>
            <a:ext cx="18653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Primară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679192" y="2185416"/>
            <a:ext cx="35112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persoanelor fără boală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36792" y="2185416"/>
            <a:ext cx="5157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renunțarea la fumat, mai multă mișcare, sare mai puțină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2825496"/>
            <a:ext cx="10972800" cy="13716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843784"/>
            <a:ext cx="18653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Secundară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79192" y="2843784"/>
            <a:ext cx="35112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boală încă fără simptome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36792" y="2843784"/>
            <a:ext cx="5157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măsurarea tensiunii, confirmarea diabetului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4360" y="3483864"/>
            <a:ext cx="10972800" cy="13716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3502152"/>
            <a:ext cx="18653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Terțiară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79192" y="3502152"/>
            <a:ext cx="35112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boală cunoscută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36792" y="3502152"/>
            <a:ext cx="5157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îngrijirea piciorului diabetic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4360" y="4142232"/>
            <a:ext cx="10972800" cy="13716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4160520"/>
            <a:ext cx="18653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Cuaternară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679192" y="4160520"/>
            <a:ext cx="35112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oricui e expus unei intervenții inutile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36792" y="4160520"/>
            <a:ext cx="5157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renunțarea la investigații fără beneficiu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4360" y="498348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98348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Prevenția cuaternară: protejarea pacientului de investigații și tratamente care i-ar face mai mult rău decât bine.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Wonca (2003), sinteza din 2018, Jamoulle (1986); exemplele: ale cursului.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DOI ANI MAI TÂRZIU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nivel de prevenție este recuperarea?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459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Ion face un infarct. După externare, medicul îi recomandă un program de recuperare cardiacă.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94360" y="2834640"/>
            <a:ext cx="10972800" cy="530352"/>
          </a:xfrm>
          <a:prstGeom prst="roundRect">
            <a:avLst>
              <a:gd name="adj" fmla="val 1551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88950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889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834640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Primară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94360" y="3493008"/>
            <a:ext cx="10972800" cy="530352"/>
          </a:xfrm>
          <a:prstGeom prst="roundRect">
            <a:avLst>
              <a:gd name="adj" fmla="val 1551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54787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47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49300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Secundară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94360" y="4151376"/>
            <a:ext cx="10972800" cy="530352"/>
          </a:xfrm>
          <a:prstGeom prst="roundRect">
            <a:avLst>
              <a:gd name="adj" fmla="val 1551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2062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206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4151376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Terțiară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94360" y="4809744"/>
            <a:ext cx="10972800" cy="530352"/>
          </a:xfrm>
          <a:prstGeom prst="roundRect">
            <a:avLst>
              <a:gd name="adj" fmla="val 1551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8646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864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4809744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Cuaternară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9436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RĂSPUNSUL: 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Terțiară: limitarea consecințelor bolii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Recuperarea reduce efectele cronice ale unei boli deja apărute. Prevenția terțiară include recuperarea.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" y="338328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Primară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40690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înainte ca boala să apară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83280" y="338328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Secundară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66160" y="40690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depistarea într-un stadiu precoce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72200" y="338328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Terțiară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55080" y="40690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reducerea efectelor cronice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961120" y="338328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Cuaternară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0" y="40690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protecția față de intervenții care fac mai mult rău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GREȘEALĂ FRECVENTĂ LA EXAMEN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Nivelul depinde de pacient, nu de medicament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Înainte de infarct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Tratamentul tensiunii lui Ion este prevenție primară.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infarct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3317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Același tratament este prevenție terțiară.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94360" y="39319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Întrebarea corectă nu este „ce nivel are statina?”, ci „ce nivel are statina la acest pacient?”.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94360" y="5120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Prevenția secundară este, în mare parte, screening: subiectul cursului următor.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TERMEN NOU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Numărul necesar de tratat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Câți oameni trebuie tratați pentru ca unul să fie ferit de boală.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031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NNT = 1 / (riscul fără tratament − riscul cu tratament)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94360" y="315468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246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BENEFICIUL, CINCI ANI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65760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Infarct: 8% fără, 5% cu tratament. Diferența: 0,03. NNT = 1 / 0,03 ≈ 33.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315468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3246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EFECTUL ADVERS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365760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Durere musculară: 1,5% față de 0,5%. Diferența: 0,01. NNH = 1 / 0,01 = 100.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" y="5212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100 de pacienți tratați: circa trei infarcte evitate, un efect advers în plus.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ipotetice. Definiția: manualul Cochrane.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RISCUL DE BAZĂ SCHIMBĂ TOTUL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Același medicament, alt NNT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Medicamentul reduce riscul de infarct pe cinci ani cu 25%, în orice grup.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5349240" cy="2377440"/>
          </a:xfrm>
          <a:prstGeom prst="roundRect">
            <a:avLst>
              <a:gd name="adj" fmla="val 34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40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GRUPUL 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6517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20% → 15%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NNT = 20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217920" y="2148840"/>
            <a:ext cx="5349240" cy="2377440"/>
          </a:xfrm>
          <a:prstGeom prst="roundRect">
            <a:avLst>
              <a:gd name="adj" fmla="val 34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240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GRUPUL 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6517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4% → 3%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492240" y="35204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NNT = 100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94360" y="48006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grupul B: de cinci ori mai mulți pacienți tratați pentru un infarct evitat. NNT ține de medicament și de grup.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PERECHI + MENTIMETER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CALCUL ÎN PERECHI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Calculați: un tratament preventiv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9164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trei ani, riscul de accident vascular cerebral scade de la 6% la 4%, iar riscul de sângerare gravă crește de la 1% la 2%.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94360" y="3291840"/>
            <a:ext cx="10972800" cy="621792"/>
          </a:xfrm>
          <a:prstGeom prst="roundRect">
            <a:avLst>
              <a:gd name="adj" fmla="val 13235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39242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392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3291840"/>
            <a:ext cx="9829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Calculați NNT și NNH.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4023360"/>
            <a:ext cx="10972800" cy="621792"/>
          </a:xfrm>
          <a:prstGeom prst="roundRect">
            <a:avLst>
              <a:gd name="adj" fmla="val 13235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412394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123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4023360"/>
            <a:ext cx="9829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Formulați într-o frază ce i-ați spune pacientului.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" y="4892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Votul, pentru NNT:  A. 25   ·   B. 33   ·   C. 50   ·   D. 100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94360" y="5440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ipotetice.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RĂSPUNSUL: 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Rezolvarea exercițiului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349240" cy="2377440"/>
          </a:xfrm>
          <a:prstGeom prst="roundRect">
            <a:avLst>
              <a:gd name="adj" fmla="val 34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BENEFICIUL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6% − 4% = 2%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3017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NNT = 1 / 0,02 = cincizeci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49240" cy="2377440"/>
          </a:xfrm>
          <a:prstGeom prst="roundRect">
            <a:avLst>
              <a:gd name="adj" fmla="val 34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RĂUL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21945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2% − 1% = 1%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92240" y="3017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NNH = 1 / 0,01 = 100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594360" y="434340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3434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100 de pacienți tratați trei ani: aproximativ două accidente vasculare evitate și o sângerare gravă în plus.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ipotetice.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TERMEN NOU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Paradoxul prevenției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măsură care aduce fiecăruia un câștig mic, dar populației un câștig mare.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4360" y="2194560"/>
            <a:ext cx="5349240" cy="3566160"/>
          </a:xfrm>
          <a:prstGeom prst="roundRect">
            <a:avLst>
              <a:gd name="adj" fmla="val 2308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3317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„A preventive measure which brings much benefit to the population offers little to each participating individual”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4389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Geoffrey Rose, 1985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2194560"/>
            <a:ext cx="5349240" cy="3566160"/>
          </a:xfrm>
          <a:prstGeom prst="roundRect">
            <a:avLst>
              <a:gd name="adj" fmla="val 230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286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REEVALUAREA DIN 2018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2697480"/>
            <a:ext cx="4846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Exemplul lui Rose: mai mulți copii cu sindrom Down se nasc din mame tinere, deși riscul individual e mai mare la mamele vârstnice, pentru că mult mai multe sarcini apar la femeile tinere. La fel, la bolile cardiovasculare.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Rose, „Sick individuals and sick populations”, 1985.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POPULAȚIE DE 1 000 DE ADULȚI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produce mai multe cazuri?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5349240" cy="1463040"/>
          </a:xfrm>
          <a:prstGeom prst="roundRect">
            <a:avLst>
              <a:gd name="adj" fmla="val 562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55648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68680" y="2395728"/>
            <a:ext cx="4800600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 risc mare: 10% în zece ani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349240" cy="1463040"/>
          </a:xfrm>
          <a:prstGeom prst="roundRect">
            <a:avLst>
              <a:gd name="adj" fmla="val 562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755648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900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92240" y="2395728"/>
            <a:ext cx="4800600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 risc moderat: 2% în zece ani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3337560"/>
            <a:ext cx="10972800" cy="530352"/>
          </a:xfrm>
          <a:prstGeom prst="roundRect">
            <a:avLst>
              <a:gd name="adj" fmla="val 1551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39242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392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337560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Cei 100 cu risc mare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94360" y="3995928"/>
            <a:ext cx="10972800" cy="530352"/>
          </a:xfrm>
          <a:prstGeom prst="roundRect">
            <a:avLst>
              <a:gd name="adj" fmla="val 1551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05079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050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99592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Cei 900 cu risc moderat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94360" y="4654296"/>
            <a:ext cx="10972800" cy="530352"/>
          </a:xfrm>
          <a:prstGeom prst="roundRect">
            <a:avLst>
              <a:gd name="adj" fmla="val 1551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70916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709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4654296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Produc la fel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9436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ipotetice.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RĂSPUNSUL: 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Mulți cu risc moderat: 18 cazuri față de 10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80160" y="3393440"/>
            <a:ext cx="1645920" cy="172720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9362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 cazuri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51937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100 × 0,10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06240" y="2011680"/>
            <a:ext cx="1645920" cy="310896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15544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18 cazuri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931920" y="51937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900 × 0,02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5120640"/>
            <a:ext cx="4937760" cy="2286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737360"/>
            <a:ext cx="5349240" cy="3931920"/>
          </a:xfrm>
          <a:prstGeom prst="roundRect">
            <a:avLst>
              <a:gd name="adj" fmla="val 209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8745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Grupul cu risc moderat produce aproape două treimi din cazuri (18 din 28), deși riscul fiecăruia este de cinci ori mai mic.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374904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program numai pentru riscul mare previne cel mult o parte din cele 10; celelalte 18 rămân.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ipotetice.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TABELUL 4.4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strategii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67512" y="1481328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496312" y="1481328"/>
            <a:ext cx="4425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Risc înalt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068312" y="1481328"/>
            <a:ext cx="4425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Populațională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066544"/>
            <a:ext cx="10972800" cy="13716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2084832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96312" y="2084832"/>
            <a:ext cx="4425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persoanelor cu risc mare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68312" y="2084832"/>
            <a:ext cx="4425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întregii populații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2670048"/>
            <a:ext cx="10972800" cy="13716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688336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96312" y="2688336"/>
            <a:ext cx="4425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tratament, consiliere intensivă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68312" y="2688336"/>
            <a:ext cx="4425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legi, taxe, reformularea alimentelor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4360" y="3273552"/>
            <a:ext cx="10972800" cy="13716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3291840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Avantaj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496312" y="3291840"/>
            <a:ext cx="4425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câștig mare pentru fiecare pacient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68312" y="3291840"/>
            <a:ext cx="4425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mai multe cazuri prevenite în total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4360" y="3877056"/>
            <a:ext cx="10972800" cy="13716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3895344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Limită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496312" y="3895344"/>
            <a:ext cx="4425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ratează cazurile cu risc moderat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68312" y="3895344"/>
            <a:ext cx="4425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câștig mic, deci motivație redusă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4360" y="4617720"/>
            <a:ext cx="10972800" cy="1325880"/>
          </a:xfrm>
          <a:prstGeom prst="roundRect">
            <a:avLst>
              <a:gd name="adj" fmla="val 6207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617720"/>
            <a:ext cx="10424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Reevaluarea din 2018: ghidurile au coborât pragul; riscul înalt a devenit risc moderat, iar mulți sunt acum eligibili pentru tratament preventiv.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după Rose (1985) și reevaluarea din 2018.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DEZBATERE + MENTIMETER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SALA ÎN DOUĂ TABERE, TRASE LA SORȚI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strategie reduce mai mult mortalitatea prematură?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TABĂRA 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Prevenția populațională reduce mai mult mortalitatea prematură prin boli netransmisibile în România.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TABĂRA 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1488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Prevenția de risc înalt reduce mai mult mortalitatea prematură prin boli netransmisibile în România.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94360" y="3703320"/>
            <a:ext cx="1719072" cy="777240"/>
          </a:xfrm>
          <a:prstGeom prst="roundRect">
            <a:avLst>
              <a:gd name="adj" fmla="val 10588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703320"/>
            <a:ext cx="1444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 înainte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450592" y="3703320"/>
            <a:ext cx="1719072" cy="777240"/>
          </a:xfrm>
          <a:prstGeom prst="roundRect">
            <a:avLst>
              <a:gd name="adj" fmla="val 10588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87752" y="3703320"/>
            <a:ext cx="1444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 min pregătire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06824" y="3703320"/>
            <a:ext cx="1719072" cy="777240"/>
          </a:xfrm>
          <a:prstGeom prst="roundRect">
            <a:avLst>
              <a:gd name="adj" fmla="val 10588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43984" y="3703320"/>
            <a:ext cx="1444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 min 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63056" y="3703320"/>
            <a:ext cx="1719072" cy="777240"/>
          </a:xfrm>
          <a:prstGeom prst="roundRect">
            <a:avLst>
              <a:gd name="adj" fmla="val 10588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0216" y="3703320"/>
            <a:ext cx="1444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 min B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19288" y="3703320"/>
            <a:ext cx="1719072" cy="777240"/>
          </a:xfrm>
          <a:prstGeom prst="roundRect">
            <a:avLst>
              <a:gd name="adj" fmla="val 10588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56448" y="3703320"/>
            <a:ext cx="1444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 + 2 min replici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875520" y="3703320"/>
            <a:ext cx="1719072" cy="777240"/>
          </a:xfrm>
          <a:prstGeom prst="roundRect">
            <a:avLst>
              <a:gd name="adj" fmla="val 10588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12680" y="3703320"/>
            <a:ext cx="1444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 după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" y="47548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Argumentele: numai din datele cursului. Răspundeți pe telefon, la codul afișat.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SINTEZA DEZBATERII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Cele două strategii se completează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POPULAȚIONALĂ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Schimbă mediul în care trăiesc toți oamenii ca Ion.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RISC ÎNALT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22402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Îl tratează pe Ion după ce a fost găsit.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94360" y="393192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93192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politică ce alege numai una lasă neacoperită fie majoritatea cazurilor, fie pacienții care au deja nevoie de tratament.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argument a schimbat voturile?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FUNCȚIONEAZĂ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„Best buys”: cea mai multă sănătate pe un leu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01368"/>
            <a:ext cx="297180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68680" y="2555748"/>
            <a:ext cx="2971800" cy="778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intervenții, actualizarea din 2022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801368"/>
            <a:ext cx="297180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58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617720" y="2555748"/>
            <a:ext cx="2971800" cy="778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analizate pentru cost-eficacitate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92440" y="169164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1801368"/>
            <a:ext cx="297180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28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8366760" y="2555748"/>
            <a:ext cx="2971800" cy="778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cele mai cost-eficace și fezabile: „best buys”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6576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Criteriul: cel mult 100 de dolari internaționali pentru un an de viață sănătoasă câștigat, în țările cu venituri mici și medii-inferioare.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94360" y="47548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Pragul nu privește România: lista spune ce este avantajos oriunde, nu ce este cost-eficace aici.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OMS, „Tackling NCDs”, 2022.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ÎNAINTE DE LISTĂ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Care măsură pentru tutun este un „best buy”?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1109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11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783080"/>
            <a:ext cx="10058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Creșterea accizelor și a prețurilor produselor din tutun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94360" y="2587752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71576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587752"/>
            <a:ext cx="10058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Screening pulmonar pentru toți fumătorii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94360" y="3392424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5204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20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392424"/>
            <a:ext cx="10058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Consiliere numai la cererea pacientului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94360" y="4197096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32511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325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4197096"/>
            <a:ext cx="10058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Interzicerea vânzării de tutun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94360" y="5212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RĂSPUNSUL: A  ·  LISTA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conține lista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10972800" cy="786384"/>
          </a:xfrm>
          <a:prstGeom prst="roundRect">
            <a:avLst>
              <a:gd name="adj" fmla="val 1046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4592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463040"/>
            <a:ext cx="9829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Tutun: accize și prețuri, avertismente grafice, interzicerea publicității, spații închise fără fum.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359152"/>
            <a:ext cx="10972800" cy="786384"/>
          </a:xfrm>
          <a:prstGeom prst="roundRect">
            <a:avLst>
              <a:gd name="adj" fmla="val 1046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542032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359152"/>
            <a:ext cx="9829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Alcool: accize, mai puțină publicitate, ore de vânzare mai puține.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3255264"/>
            <a:ext cx="10972800" cy="786384"/>
          </a:xfrm>
          <a:prstGeom prst="roundRect">
            <a:avLst>
              <a:gd name="adj" fmla="val 1046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438144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438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255264"/>
            <a:ext cx="9829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Alimentație: reformularea alimentelor, etichetarea pe față, protecția copiilor de marketing.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4151376"/>
            <a:ext cx="10972800" cy="786384"/>
          </a:xfrm>
          <a:prstGeom prst="roundRect">
            <a:avLst>
              <a:gd name="adj" fmla="val 1046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334256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334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4151376"/>
            <a:ext cx="9829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Inimă și vase: antihipertensiv și statină la riscul de cel puțin 20% în zece ani, estimat cu diagramele OMS.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5047488"/>
            <a:ext cx="10972800" cy="786384"/>
          </a:xfrm>
          <a:prstGeom prst="roundRect">
            <a:avLst>
              <a:gd name="adj" fmla="val 1046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5230368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230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5047488"/>
            <a:ext cx="9829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Cancere: vaccinarea HPV a fetelor de 9–14 ani; testarea ADN HPV de la 30 de ani.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OMS, „Tackling NCDs”, 2022.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VACCINAREA: PREVENȚIE PRIMARĂ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Pragul imunității colective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Câți trebuie să fie protejați pentru ca boala să nu mai circule.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031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pragul = 1 − 1/R0   (R0: câți îmbolnăvește un bolnav, când nimeni nu e imun)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315468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246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R0 = 4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374904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1 − 1/4 = 0,75: trei sferturi din populație.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0" y="315468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3246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R0 = 10 (ipotetic)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92240" y="374904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Pragul 0,9; cu un vaccin care protejează 95% dintre vaccinați, acoperirea necesară ≈ 95%.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94360" y="5120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Pentru rujeolă, OMS recomandă două doze; focarele apar acolo unde copiii nu sunt vaccinați.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+ COLEGUL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AȚI CREDE ACEST TITLU?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site de știri, aprilie 2025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1097280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0876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„Explozie de cazuri de rujeolă în România: doar 1 din 4 copii e vaccinat”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94360" y="3291840"/>
            <a:ext cx="10972800" cy="530352"/>
          </a:xfrm>
          <a:prstGeom prst="roundRect">
            <a:avLst>
              <a:gd name="adj" fmla="val 1551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34670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346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3291840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Titlul descrie corect acoperirea vaccinală a copiilor din România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3950208"/>
            <a:ext cx="10972800" cy="530352"/>
          </a:xfrm>
          <a:prstGeom prst="roundRect">
            <a:avLst>
              <a:gd name="adj" fmla="val 1551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400507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95020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Titlul nu spune despre ce copii este vorba, deci nu poate fi verificat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94360" y="4608576"/>
            <a:ext cx="10972800" cy="530352"/>
          </a:xfrm>
          <a:prstGeom prst="roundRect">
            <a:avLst>
              <a:gd name="adj" fmla="val 1551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634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63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4608576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Titlul este fals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94360" y="54406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Votați, apoi două minute cu colegul de bancă. Răspundeți pe telefon, la codul afișat.</a:t>
            </a:r>
            <a:endParaRPr lang="en-US" sz="1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RĂSPUNSUL: 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Titlul este fals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349240" cy="2743200"/>
          </a:xfrm>
          <a:prstGeom prst="roundRect">
            <a:avLst>
              <a:gd name="adj" fmla="val 3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ARTICOLUL ÎNSUȘI (SPOTMEDIA)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4846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„aproximativ un copil român din patru nu este vaccinat împotriva acestei boli”: 78% prima doză, 62% a doua.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49240" cy="2743200"/>
          </a:xfrm>
          <a:prstGeom prst="roundRect">
            <a:avLst>
              <a:gd name="adj" fmla="val 3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DATELE OFICIALE, 2024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92240" y="2103120"/>
            <a:ext cx="4846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INSP: 80,8% prima doză, 69,4% a doua. OMS și UNICEF: 68% a doua doză.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94360" y="457200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Titlul a inversat proporția din propriul articol. Acoperirea reală este mult mai mare, dar sub cea necesară pentru a opri transmiterea.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Înainte de a crede un titlu: citiți articolul și sursa oficială.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KAHOOT · 8 MINUTE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RECAPITULARE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Zece afirmații: adevărat sau fals?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10972800" cy="2194560"/>
          </a:xfrm>
          <a:prstGeom prst="roundRect">
            <a:avLst>
              <a:gd name="adj" fmla="val 37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ordinea cursului: bolile netransmisibile, locul României, cauzele, datele declarate, nivelurile de prevenție, numărul necesar de tratat, paradoxul prevenției, „best buys” și imunitatea colectivă.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94360" y="4389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Codul jocului apare pe ecran. Douăzeci de secunde pentru fiecare afirmație.</a:t>
            </a:r>
            <a:endParaRPr lang="en-US" sz="1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CHEIA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Adevărat sau fals: răspunsurile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556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600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965960" y="1600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diabetul este una dintre cele patru grupe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2450592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6060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06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450592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965960" y="245059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obezitatea este un factor metabolic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3300984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45643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456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300984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965960" y="3300984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locul al patrulea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4151376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30682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306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4151376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965960" y="4151376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cancere: 241,5 față de 233,1 (2023)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94360" y="5001768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15721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157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71600" y="500176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965960" y="500176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bărbați: 30,8% față de 23,6%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17920" y="1600200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17556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95160" y="1600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589520" y="1600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definiția din 2018; Jamoulle, 1986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217920" y="2450592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0" y="26060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2606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95160" y="2450592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7589520" y="245059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depinde de riscul de bază al grupului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217920" y="3300984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0" y="345643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0" y="3456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995160" y="3300984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7589520" y="3300984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multe cazuri, la cei cu risc moderat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6217920" y="4151376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0" y="430682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0" y="4306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995160" y="4151376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7589520" y="4151376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listată, dar peste pragul de 100 I$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6217920" y="5001768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00800" y="515721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51" name="Text 49"/>
          <p:cNvSpPr/>
          <p:nvPr/>
        </p:nvSpPr>
        <p:spPr>
          <a:xfrm>
            <a:off x="6400800" y="5157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995160" y="500176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7589520" y="500176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1 − 1/4 = 0,75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REȚINUT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rămâne din cursul de azi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591056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463040"/>
            <a:ext cx="9829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Patru grupe principale de boli, mai multe cauze, ani de expunere.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231136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359152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359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231136"/>
            <a:ext cx="9829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România: printre cele mai mari riscuri de deces prematur din UE, mai ales prin bolile cardiovasculare.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2999232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127248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2999232"/>
            <a:ext cx="9829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Patru niveluri de prevenție, inclusiv cea cuaternară.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3767328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3895344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895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3767328"/>
            <a:ext cx="9829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Numărul necesar de tratat depinde de riscul de bază al celor tratați.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4535424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66344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663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4535424"/>
            <a:ext cx="9829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Cele două strategii se completează.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4360" y="539496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53949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Ion: fiecare factor e frecvent la bărbații din România; câți îi au pe toți nu se știe.</a:t>
            </a:r>
            <a:endParaRPr lang="en-US" sz="17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MÂINE, CA MEDICI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faceți diferit, luni dimineață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1325880"/>
          </a:xfrm>
          <a:prstGeom prst="roundRect">
            <a:avLst>
              <a:gd name="adj" fmla="val 620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5740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600200"/>
            <a:ext cx="9784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un tratament preventiv: care e riscul de bază al pacientului? Spuneți-i câți oameni ca el trebuie tratați pentru ca unul să fie ferit de boală.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3063240"/>
            <a:ext cx="10972800" cy="1325880"/>
          </a:xfrm>
          <a:prstGeom prst="roundRect">
            <a:avLst>
              <a:gd name="adj" fmla="val 620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5204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520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3063240"/>
            <a:ext cx="9784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Când statul vă întreabă ce să facă: multe infarcte apar la oameni care nu sunt în grupul cu risc mare.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94360" y="4526280"/>
            <a:ext cx="10972800" cy="1325880"/>
          </a:xfrm>
          <a:prstGeom prst="roundRect">
            <a:avLst>
              <a:gd name="adj" fmla="val 620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49834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983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4526280"/>
            <a:ext cx="9784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Când un pacient cere un test „ca să fie sigur”: gândiți-vă la al patrulea nivel de prevenție.</a:t>
            </a:r>
            <a:endParaRPr lang="en-US" sz="1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22960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822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ULTIMELE CINCI MINUTE · ANONIM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întrebări pentru final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26700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251460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 fost util azi?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387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38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33832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v-am pierdut?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14400" y="44074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407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42519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ați putea folosi mâine?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321040" y="2514600"/>
            <a:ext cx="3246120" cy="2468880"/>
          </a:xfrm>
          <a:prstGeom prst="roundRect">
            <a:avLst>
              <a:gd name="adj" fmla="val 333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9640" y="2514600"/>
            <a:ext cx="2788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94360" y="5349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Începutul cursului următor: două modificări, făcute pe baza răspunsurilor dumneavoastră.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Cursul 4 - De ce mor atâția români înainte de 70 de ani?</dc:title>
  <dc:subject>PptxGenJS Presentation</dc:subject>
  <dc:creator>Conf. Univ. Dr. Adrian Pana</dc:creator>
  <cp:lastModifiedBy>Conf. Univ. Dr. Adrian Pana</cp:lastModifiedBy>
  <cp:revision>1</cp:revision>
  <dcterms:created xsi:type="dcterms:W3CDTF">2026-10-11T10:20:42Z</dcterms:created>
  <dcterms:modified xsi:type="dcterms:W3CDTF">2026-10-11T10:20:42Z</dcterms:modified>
  <cp:keywords>sursa_amprenta=6210de95c27ecb7e; proiectie</cp:keywords>
</cp:coreProperties>
</file>