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5-1.jpg" ContentType="image/jpg"/>
  <Override PartName="/ppt/media/image-2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585216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58521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1  ·  SĂNĂTATE PUBLICĂ ȘI MANAGEMENT</a:t>
            </a:r>
            <a:endParaRPr lang="en-US" sz="1300" dirty="0"/>
          </a:p>
        </p:txBody>
      </p:sp>
      <p:sp>
        <p:nvSpPr>
          <p:cNvPr id="4" name="Text 2"/>
          <p:cNvSpPr/>
          <p:nvPr/>
        </p:nvSpPr>
        <p:spPr>
          <a:xfrm>
            <a:off x="640080" y="1463040"/>
            <a:ext cx="10789920" cy="100584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Același pacient, a treia oară</a:t>
            </a:r>
            <a:endParaRPr lang="en-US" sz="4600" dirty="0"/>
          </a:p>
        </p:txBody>
      </p:sp>
      <p:sp>
        <p:nvSpPr>
          <p:cNvPr id="5" name="Text 3"/>
          <p:cNvSpPr/>
          <p:nvPr/>
        </p:nvSpPr>
        <p:spPr>
          <a:xfrm>
            <a:off x="640080" y="2560320"/>
            <a:ext cx="10241280" cy="1280160"/>
          </a:xfrm>
          <a:prstGeom prst="rect">
            <a:avLst/>
          </a:prstGeom>
          <a:noFill/>
          <a:ln/>
        </p:spPr>
        <p:txBody>
          <a:bodyPr wrap="square" lIns="0" tIns="0" rIns="0" bIns="0" rtlCol="0" anchor="t"/>
          <a:lstStyle/>
          <a:p>
            <a:pPr indent="0" marL="0">
              <a:buNone/>
            </a:pPr>
            <a:r>
              <a:rPr lang="en-US" sz="3000" b="1" dirty="0">
                <a:solidFill>
                  <a:srgbClr val="27D3BE"/>
                </a:solidFill>
                <a:latin typeface="Palatino Linotype" pitchFamily="34" charset="0"/>
                <a:ea typeface="Palatino Linotype" pitchFamily="34" charset="-122"/>
                <a:cs typeface="Palatino Linotype" pitchFamily="34" charset="-120"/>
              </a:rPr>
              <a:t>Ce înseamnă sănătatea publică pentru medicul care a făcut tot ce trebuia?</a:t>
            </a:r>
            <a:endParaRPr lang="en-US" sz="3000" dirty="0"/>
          </a:p>
        </p:txBody>
      </p:sp>
      <p:sp>
        <p:nvSpPr>
          <p:cNvPr id="6" name="Shape 4"/>
          <p:cNvSpPr/>
          <p:nvPr/>
        </p:nvSpPr>
        <p:spPr>
          <a:xfrm>
            <a:off x="667512" y="4206240"/>
            <a:ext cx="1280160" cy="27432"/>
          </a:xfrm>
          <a:prstGeom prst="rect">
            <a:avLst/>
          </a:prstGeom>
          <a:solidFill>
            <a:srgbClr val="FF4757"/>
          </a:solidFill>
          <a:ln w="12700">
            <a:solidFill>
              <a:srgbClr val="FF4757"/>
            </a:solidFill>
            <a:prstDash val="solid"/>
          </a:ln>
        </p:spPr>
        <p:txBody>
          <a:bodyPr/>
          <a:p/>
        </p:txBody>
      </p:sp>
      <p:sp>
        <p:nvSpPr>
          <p:cNvPr id="7" name="Text 5"/>
          <p:cNvSpPr/>
          <p:nvPr/>
        </p:nvSpPr>
        <p:spPr>
          <a:xfrm>
            <a:off x="640080" y="4434840"/>
            <a:ext cx="10515600" cy="73152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Conceptul modern de sănătate publică. Funcții esențiale EPHO. Determinanții sănătății. Cadru instituțional</a:t>
            </a:r>
            <a:endParaRPr lang="en-US" sz="1600" dirty="0"/>
          </a:p>
        </p:txBody>
      </p:sp>
      <p:sp>
        <p:nvSpPr>
          <p:cNvPr id="8" name="Text 6"/>
          <p:cNvSpPr/>
          <p:nvPr/>
        </p:nvSpPr>
        <p:spPr>
          <a:xfrm>
            <a:off x="640080" y="530352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Cluj-Napoca · Medicină, anul VI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cazuri în două ore</a:t>
            </a:r>
            <a:endParaRPr lang="en-US" sz="3100" dirty="0"/>
          </a:p>
        </p:txBody>
      </p:sp>
      <p:sp>
        <p:nvSpPr>
          <p:cNvPr id="4" name="Shape 2"/>
          <p:cNvSpPr/>
          <p:nvPr/>
        </p:nvSpPr>
        <p:spPr>
          <a:xfrm>
            <a:off x="594360" y="2103120"/>
            <a:ext cx="548640" cy="868680"/>
          </a:xfrm>
          <a:prstGeom prst="rect">
            <a:avLst/>
          </a:prstGeom>
          <a:solidFill>
            <a:srgbClr val="585A64"/>
          </a:solidFill>
          <a:ln w="19050">
            <a:solidFill>
              <a:srgbClr val="F6F5F2"/>
            </a:solidFill>
            <a:prstDash val="solid"/>
          </a:ln>
        </p:spPr>
        <p:txBody>
          <a:bodyPr/>
          <a:p/>
        </p:txBody>
      </p:sp>
      <p:sp>
        <p:nvSpPr>
          <p:cNvPr id="5" name="Shape 3"/>
          <p:cNvSpPr/>
          <p:nvPr/>
        </p:nvSpPr>
        <p:spPr>
          <a:xfrm>
            <a:off x="1143000" y="2103120"/>
            <a:ext cx="2560320" cy="868680"/>
          </a:xfrm>
          <a:prstGeom prst="rect">
            <a:avLst/>
          </a:prstGeom>
          <a:solidFill>
            <a:srgbClr val="FF4757"/>
          </a:solidFill>
          <a:ln w="19050">
            <a:solidFill>
              <a:srgbClr val="F6F5F2"/>
            </a:solidFill>
            <a:prstDash val="solid"/>
          </a:ln>
        </p:spPr>
        <p:txBody>
          <a:bodyPr/>
          <a:p/>
        </p:txBody>
      </p:sp>
      <p:sp>
        <p:nvSpPr>
          <p:cNvPr id="6" name="Text 4"/>
          <p:cNvSpPr/>
          <p:nvPr/>
        </p:nvSpPr>
        <p:spPr>
          <a:xfrm>
            <a:off x="1143000" y="2103120"/>
            <a:ext cx="2560320" cy="868680"/>
          </a:xfrm>
          <a:prstGeom prst="rect">
            <a:avLst/>
          </a:prstGeom>
          <a:noFill/>
          <a:ln/>
        </p:spPr>
        <p:txBody>
          <a:bodyPr wrap="square" lIns="0" tIns="0" rIns="0" bIns="0" rtlCol="0" anchor="ctr"/>
          <a:lstStyle/>
          <a:p>
            <a:pPr algn="ctr" indent="0" marL="0">
              <a:buNone/>
            </a:pPr>
            <a:r>
              <a:rPr lang="en-US" sz="1900" b="1" dirty="0">
                <a:solidFill>
                  <a:srgbClr val="2E060B"/>
                </a:solidFill>
                <a:latin typeface="Palatino Linotype" pitchFamily="34" charset="0"/>
                <a:ea typeface="Palatino Linotype" pitchFamily="34" charset="-122"/>
                <a:cs typeface="Palatino Linotype" pitchFamily="34" charset="-120"/>
              </a:rPr>
              <a:t>Garda</a:t>
            </a:r>
            <a:endParaRPr lang="en-US" sz="1900" dirty="0"/>
          </a:p>
        </p:txBody>
      </p:sp>
      <p:sp>
        <p:nvSpPr>
          <p:cNvPr id="7" name="Shape 5"/>
          <p:cNvSpPr/>
          <p:nvPr/>
        </p:nvSpPr>
        <p:spPr>
          <a:xfrm>
            <a:off x="3703320" y="2103120"/>
            <a:ext cx="2926080" cy="868680"/>
          </a:xfrm>
          <a:prstGeom prst="rect">
            <a:avLst/>
          </a:prstGeom>
          <a:solidFill>
            <a:srgbClr val="9B7EF7"/>
          </a:solidFill>
          <a:ln w="19050">
            <a:solidFill>
              <a:srgbClr val="F6F5F2"/>
            </a:solidFill>
            <a:prstDash val="solid"/>
          </a:ln>
        </p:spPr>
        <p:txBody>
          <a:bodyPr/>
          <a:p/>
        </p:txBody>
      </p:sp>
      <p:sp>
        <p:nvSpPr>
          <p:cNvPr id="8" name="Text 6"/>
          <p:cNvSpPr/>
          <p:nvPr/>
        </p:nvSpPr>
        <p:spPr>
          <a:xfrm>
            <a:off x="3703320" y="2103120"/>
            <a:ext cx="2926080" cy="868680"/>
          </a:xfrm>
          <a:prstGeom prst="rect">
            <a:avLst/>
          </a:prstGeom>
          <a:noFill/>
          <a:ln/>
        </p:spPr>
        <p:txBody>
          <a:bodyPr wrap="square" lIns="0" tIns="0" rIns="0" bIns="0" rtlCol="0" anchor="ctr"/>
          <a:lstStyle/>
          <a:p>
            <a:pPr algn="ctr" indent="0" marL="0">
              <a:buNone/>
            </a:pPr>
            <a:r>
              <a:rPr lang="en-US" sz="1900" b="1" dirty="0">
                <a:solidFill>
                  <a:srgbClr val="1F1040"/>
                </a:solidFill>
                <a:latin typeface="Palatino Linotype" pitchFamily="34" charset="0"/>
                <a:ea typeface="Palatino Linotype" pitchFamily="34" charset="-122"/>
                <a:cs typeface="Palatino Linotype" pitchFamily="34" charset="-120"/>
              </a:rPr>
              <a:t>Cabinetul</a:t>
            </a:r>
            <a:endParaRPr lang="en-US" sz="1900" dirty="0"/>
          </a:p>
        </p:txBody>
      </p:sp>
      <p:sp>
        <p:nvSpPr>
          <p:cNvPr id="9" name="Shape 7"/>
          <p:cNvSpPr/>
          <p:nvPr/>
        </p:nvSpPr>
        <p:spPr>
          <a:xfrm>
            <a:off x="6629400" y="2103120"/>
            <a:ext cx="914400" cy="868680"/>
          </a:xfrm>
          <a:prstGeom prst="rect">
            <a:avLst/>
          </a:prstGeom>
          <a:solidFill>
            <a:srgbClr val="ECEAE4"/>
          </a:solidFill>
          <a:ln w="19050">
            <a:solidFill>
              <a:srgbClr val="F6F5F2"/>
            </a:solidFill>
            <a:prstDash val="solid"/>
          </a:ln>
        </p:spPr>
        <p:txBody>
          <a:bodyPr/>
          <a:p/>
        </p:txBody>
      </p:sp>
      <p:sp>
        <p:nvSpPr>
          <p:cNvPr id="10" name="Shape 8"/>
          <p:cNvSpPr/>
          <p:nvPr/>
        </p:nvSpPr>
        <p:spPr>
          <a:xfrm>
            <a:off x="7543800" y="2103120"/>
            <a:ext cx="2011680" cy="868680"/>
          </a:xfrm>
          <a:prstGeom prst="rect">
            <a:avLst/>
          </a:prstGeom>
          <a:solidFill>
            <a:srgbClr val="FFC24B"/>
          </a:solidFill>
          <a:ln w="19050">
            <a:solidFill>
              <a:srgbClr val="F6F5F2"/>
            </a:solidFill>
            <a:prstDash val="solid"/>
          </a:ln>
        </p:spPr>
        <p:txBody>
          <a:bodyPr/>
          <a:p/>
        </p:txBody>
      </p:sp>
      <p:sp>
        <p:nvSpPr>
          <p:cNvPr id="11" name="Text 9"/>
          <p:cNvSpPr/>
          <p:nvPr/>
        </p:nvSpPr>
        <p:spPr>
          <a:xfrm>
            <a:off x="7543800" y="2103120"/>
            <a:ext cx="2011680" cy="868680"/>
          </a:xfrm>
          <a:prstGeom prst="rect">
            <a:avLst/>
          </a:prstGeom>
          <a:noFill/>
          <a:ln/>
        </p:spPr>
        <p:txBody>
          <a:bodyPr wrap="square" lIns="0" tIns="0" rIns="0" bIns="0" rtlCol="0" anchor="ctr"/>
          <a:lstStyle/>
          <a:p>
            <a:pPr algn="ctr" indent="0" marL="0">
              <a:buNone/>
            </a:pPr>
            <a:r>
              <a:rPr lang="en-US" sz="1900" b="1" dirty="0">
                <a:solidFill>
                  <a:srgbClr val="3D2A00"/>
                </a:solidFill>
                <a:latin typeface="Palatino Linotype" pitchFamily="34" charset="0"/>
                <a:ea typeface="Palatino Linotype" pitchFamily="34" charset="-122"/>
                <a:cs typeface="Palatino Linotype" pitchFamily="34" charset="-120"/>
              </a:rPr>
              <a:t>Secția</a:t>
            </a:r>
            <a:endParaRPr lang="en-US" sz="1900" dirty="0"/>
          </a:p>
        </p:txBody>
      </p:sp>
      <p:sp>
        <p:nvSpPr>
          <p:cNvPr id="12" name="Shape 10"/>
          <p:cNvSpPr/>
          <p:nvPr/>
        </p:nvSpPr>
        <p:spPr>
          <a:xfrm>
            <a:off x="9555480" y="2103120"/>
            <a:ext cx="1097280" cy="868680"/>
          </a:xfrm>
          <a:prstGeom prst="rect">
            <a:avLst/>
          </a:prstGeom>
          <a:solidFill>
            <a:srgbClr val="27D3BE"/>
          </a:solidFill>
          <a:ln w="19050">
            <a:solidFill>
              <a:srgbClr val="F6F5F2"/>
            </a:solidFill>
            <a:prstDash val="solid"/>
          </a:ln>
        </p:spPr>
        <p:txBody>
          <a:bodyPr/>
          <a:p/>
        </p:txBody>
      </p:sp>
      <p:sp>
        <p:nvSpPr>
          <p:cNvPr id="13" name="Text 11"/>
          <p:cNvSpPr/>
          <p:nvPr/>
        </p:nvSpPr>
        <p:spPr>
          <a:xfrm>
            <a:off x="9555480" y="2103120"/>
            <a:ext cx="1097280" cy="86868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Kahoot</a:t>
            </a:r>
            <a:endParaRPr lang="en-US" sz="1400" dirty="0"/>
          </a:p>
        </p:txBody>
      </p:sp>
      <p:sp>
        <p:nvSpPr>
          <p:cNvPr id="14" name="Shape 12"/>
          <p:cNvSpPr/>
          <p:nvPr/>
        </p:nvSpPr>
        <p:spPr>
          <a:xfrm>
            <a:off x="10652760" y="2103120"/>
            <a:ext cx="914400" cy="868680"/>
          </a:xfrm>
          <a:prstGeom prst="rect">
            <a:avLst/>
          </a:prstGeom>
          <a:solidFill>
            <a:srgbClr val="FF8A3D"/>
          </a:solidFill>
          <a:ln w="19050">
            <a:solidFill>
              <a:srgbClr val="F6F5F2"/>
            </a:solidFill>
            <a:prstDash val="solid"/>
          </a:ln>
        </p:spPr>
        <p:txBody>
          <a:bodyPr/>
          <a:p/>
        </p:txBody>
      </p:sp>
      <p:sp>
        <p:nvSpPr>
          <p:cNvPr id="15" name="Text 13"/>
          <p:cNvSpPr/>
          <p:nvPr/>
        </p:nvSpPr>
        <p:spPr>
          <a:xfrm>
            <a:off x="22860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0′</a:t>
            </a:r>
            <a:endParaRPr lang="en-US" sz="1300" dirty="0"/>
          </a:p>
        </p:txBody>
      </p:sp>
      <p:sp>
        <p:nvSpPr>
          <p:cNvPr id="16" name="Text 14"/>
          <p:cNvSpPr/>
          <p:nvPr/>
        </p:nvSpPr>
        <p:spPr>
          <a:xfrm>
            <a:off x="77724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a:t>
            </a:r>
            <a:endParaRPr lang="en-US" sz="1300" dirty="0"/>
          </a:p>
        </p:txBody>
      </p:sp>
      <p:sp>
        <p:nvSpPr>
          <p:cNvPr id="17" name="Text 15"/>
          <p:cNvSpPr/>
          <p:nvPr/>
        </p:nvSpPr>
        <p:spPr>
          <a:xfrm>
            <a:off x="333756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34′</a:t>
            </a:r>
            <a:endParaRPr lang="en-US" sz="1300" dirty="0"/>
          </a:p>
        </p:txBody>
      </p:sp>
      <p:sp>
        <p:nvSpPr>
          <p:cNvPr id="18" name="Text 16"/>
          <p:cNvSpPr/>
          <p:nvPr/>
        </p:nvSpPr>
        <p:spPr>
          <a:xfrm>
            <a:off x="626364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66′</a:t>
            </a:r>
            <a:endParaRPr lang="en-US" sz="1300" dirty="0"/>
          </a:p>
        </p:txBody>
      </p:sp>
      <p:sp>
        <p:nvSpPr>
          <p:cNvPr id="19" name="Text 17"/>
          <p:cNvSpPr/>
          <p:nvPr/>
        </p:nvSpPr>
        <p:spPr>
          <a:xfrm>
            <a:off x="717804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76′</a:t>
            </a:r>
            <a:endParaRPr lang="en-US" sz="1300" dirty="0"/>
          </a:p>
        </p:txBody>
      </p:sp>
      <p:sp>
        <p:nvSpPr>
          <p:cNvPr id="20" name="Text 18"/>
          <p:cNvSpPr/>
          <p:nvPr/>
        </p:nvSpPr>
        <p:spPr>
          <a:xfrm>
            <a:off x="918972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98′</a:t>
            </a:r>
            <a:endParaRPr lang="en-US" sz="1300" dirty="0"/>
          </a:p>
        </p:txBody>
      </p:sp>
      <p:sp>
        <p:nvSpPr>
          <p:cNvPr id="21" name="Text 19"/>
          <p:cNvSpPr/>
          <p:nvPr/>
        </p:nvSpPr>
        <p:spPr>
          <a:xfrm>
            <a:off x="1028700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110′</a:t>
            </a:r>
            <a:endParaRPr lang="en-US" sz="1300" dirty="0"/>
          </a:p>
        </p:txBody>
      </p:sp>
      <p:sp>
        <p:nvSpPr>
          <p:cNvPr id="22" name="Text 20"/>
          <p:cNvSpPr/>
          <p:nvPr/>
        </p:nvSpPr>
        <p:spPr>
          <a:xfrm>
            <a:off x="1120140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120′</a:t>
            </a:r>
            <a:endParaRPr lang="en-US" sz="1300" dirty="0"/>
          </a:p>
        </p:txBody>
      </p:sp>
      <p:sp>
        <p:nvSpPr>
          <p:cNvPr id="23" name="Text 21"/>
          <p:cNvSpPr/>
          <p:nvPr/>
        </p:nvSpPr>
        <p:spPr>
          <a:xfrm>
            <a:off x="6629400" y="3044952"/>
            <a:ext cx="914400"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Pauză</a:t>
            </a:r>
            <a:endParaRPr lang="en-US" sz="1300" dirty="0"/>
          </a:p>
        </p:txBody>
      </p:sp>
      <p:sp>
        <p:nvSpPr>
          <p:cNvPr id="24" name="Text 22"/>
          <p:cNvSpPr/>
          <p:nvPr/>
        </p:nvSpPr>
        <p:spPr>
          <a:xfrm>
            <a:off x="10652760" y="3044952"/>
            <a:ext cx="914400" cy="274320"/>
          </a:xfrm>
          <a:prstGeom prst="rect">
            <a:avLst/>
          </a:prstGeom>
          <a:noFill/>
          <a:ln/>
        </p:spPr>
        <p:txBody>
          <a:bodyPr wrap="square" lIns="0" tIns="0" rIns="0" bIns="0" rtlCol="0" anchor="t"/>
          <a:lstStyle/>
          <a:p>
            <a:pPr algn="ctr" indent="0" marL="0">
              <a:buNone/>
            </a:pPr>
            <a:r>
              <a:rPr lang="en-US" sz="1300" b="1" dirty="0">
                <a:solidFill>
                  <a:srgbClr val="9C4A0A"/>
                </a:solidFill>
                <a:latin typeface="Palatino Linotype" pitchFamily="34" charset="0"/>
                <a:ea typeface="Palatino Linotype" pitchFamily="34" charset="-122"/>
                <a:cs typeface="Palatino Linotype" pitchFamily="34" charset="-120"/>
              </a:rPr>
              <a:t>Final</a:t>
            </a:r>
            <a:endParaRPr lang="en-US" sz="1300" dirty="0"/>
          </a:p>
        </p:txBody>
      </p:sp>
      <p:sp>
        <p:nvSpPr>
          <p:cNvPr id="25" name="Shape 23"/>
          <p:cNvSpPr/>
          <p:nvPr/>
        </p:nvSpPr>
        <p:spPr>
          <a:xfrm>
            <a:off x="1143000" y="3429000"/>
            <a:ext cx="45720" cy="658368"/>
          </a:xfrm>
          <a:prstGeom prst="rect">
            <a:avLst/>
          </a:prstGeom>
          <a:solidFill>
            <a:srgbClr val="B02532"/>
          </a:solidFill>
          <a:ln w="12700">
            <a:solidFill>
              <a:srgbClr val="B02532"/>
            </a:solidFill>
            <a:prstDash val="solid"/>
          </a:ln>
        </p:spPr>
        <p:txBody>
          <a:bodyPr/>
          <a:p/>
        </p:txBody>
      </p:sp>
      <p:sp>
        <p:nvSpPr>
          <p:cNvPr id="26" name="Text 24"/>
          <p:cNvSpPr/>
          <p:nvPr/>
        </p:nvSpPr>
        <p:spPr>
          <a:xfrm>
            <a:off x="1307592" y="3429000"/>
            <a:ext cx="228600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Același pacient, a treia oară: ce este sănătatea publică</a:t>
            </a:r>
            <a:endParaRPr lang="en-US" sz="1500" dirty="0"/>
          </a:p>
        </p:txBody>
      </p:sp>
      <p:sp>
        <p:nvSpPr>
          <p:cNvPr id="27" name="Shape 25"/>
          <p:cNvSpPr/>
          <p:nvPr/>
        </p:nvSpPr>
        <p:spPr>
          <a:xfrm>
            <a:off x="3703320" y="3429000"/>
            <a:ext cx="45720" cy="658368"/>
          </a:xfrm>
          <a:prstGeom prst="rect">
            <a:avLst/>
          </a:prstGeom>
          <a:solidFill>
            <a:srgbClr val="4A2D8C"/>
          </a:solidFill>
          <a:ln w="12700">
            <a:solidFill>
              <a:srgbClr val="4A2D8C"/>
            </a:solidFill>
            <a:prstDash val="solid"/>
          </a:ln>
        </p:spPr>
        <p:txBody>
          <a:bodyPr/>
          <a:p/>
        </p:txBody>
      </p:sp>
      <p:sp>
        <p:nvSpPr>
          <p:cNvPr id="28" name="Text 26"/>
          <p:cNvSpPr/>
          <p:nvPr/>
        </p:nvSpPr>
        <p:spPr>
          <a:xfrm>
            <a:off x="3867912" y="3429000"/>
            <a:ext cx="265176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caz de rujeolă: cine face sănătatea publică</a:t>
            </a:r>
            <a:endParaRPr lang="en-US" sz="1500" dirty="0"/>
          </a:p>
        </p:txBody>
      </p:sp>
      <p:sp>
        <p:nvSpPr>
          <p:cNvPr id="29" name="Shape 27"/>
          <p:cNvSpPr/>
          <p:nvPr/>
        </p:nvSpPr>
        <p:spPr>
          <a:xfrm>
            <a:off x="7543800" y="3429000"/>
            <a:ext cx="45720" cy="658368"/>
          </a:xfrm>
          <a:prstGeom prst="rect">
            <a:avLst/>
          </a:prstGeom>
          <a:solidFill>
            <a:srgbClr val="8A6100"/>
          </a:solidFill>
          <a:ln w="12700">
            <a:solidFill>
              <a:srgbClr val="8A6100"/>
            </a:solidFill>
            <a:prstDash val="solid"/>
          </a:ln>
        </p:spPr>
        <p:txBody>
          <a:bodyPr/>
          <a:p/>
        </p:txBody>
      </p:sp>
      <p:sp>
        <p:nvSpPr>
          <p:cNvPr id="30" name="Text 28"/>
          <p:cNvSpPr/>
          <p:nvPr/>
        </p:nvSpPr>
        <p:spPr>
          <a:xfrm>
            <a:off x="7708392" y="3429000"/>
            <a:ext cx="173736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Pacienta care se reinternează: determinanții</a:t>
            </a:r>
            <a:endParaRPr lang="en-US" sz="1500" dirty="0"/>
          </a:p>
        </p:txBody>
      </p:sp>
      <p:sp>
        <p:nvSpPr>
          <p:cNvPr id="31" name="Text 29"/>
          <p:cNvSpPr/>
          <p:nvPr/>
        </p:nvSpPr>
        <p:spPr>
          <a:xfrm>
            <a:off x="594360" y="4846320"/>
            <a:ext cx="10972800" cy="411480"/>
          </a:xfrm>
          <a:prstGeom prst="rect">
            <a:avLst/>
          </a:prstGeom>
          <a:noFill/>
          <a:ln/>
        </p:spPr>
        <p:txBody>
          <a:bodyPr wrap="square" lIns="0" tIns="0" rIns="0" bIns="0" rtlCol="0" anchor="t"/>
          <a:lstStyle/>
          <a:p>
            <a:pPr indent="0" marL="0">
              <a:buNone/>
            </a:pPr>
            <a:r>
              <a:rPr lang="en-US" sz="1700" b="1" i="1" dirty="0">
                <a:solidFill>
                  <a:srgbClr val="B02532"/>
                </a:solidFill>
                <a:latin typeface="Palatino Linotype" pitchFamily="34" charset="0"/>
                <a:ea typeface="Palatino Linotype" pitchFamily="34" charset="-122"/>
                <a:cs typeface="Palatino Linotype" pitchFamily="34" charset="-120"/>
              </a:rPr>
              <a:t>Trei termeni noi: operațiunile esențiale de sănătate publică · determinanții sociali · gradientul social.</a:t>
            </a:r>
            <a:endParaRPr lang="en-US" sz="1700" dirty="0"/>
          </a:p>
        </p:txBody>
      </p:sp>
      <p:sp>
        <p:nvSpPr>
          <p:cNvPr id="32" name="Text 30"/>
          <p:cNvSpPr/>
          <p:nvPr/>
        </p:nvSpPr>
        <p:spPr>
          <a:xfrm>
            <a:off x="594360" y="5349240"/>
            <a:ext cx="10972800"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Jumătate din timp lucrați dumneavoastră: vot pe telefon, perechi, tabere, un joc de rol. Aveți nevoie de un telefon cu acces la internet.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CUM SUNTEȚI EVALUAȚI</a:t>
            </a:r>
            <a:endParaRPr lang="en-US" sz="1300" dirty="0"/>
          </a:p>
        </p:txBody>
      </p:sp>
      <p:sp>
        <p:nvSpPr>
          <p:cNvPr id="3" name="Text 1"/>
          <p:cNvSpPr/>
          <p:nvPr/>
        </p:nvSpPr>
        <p:spPr>
          <a:xfrm>
            <a:off x="594360" y="777240"/>
            <a:ext cx="10972800" cy="731520"/>
          </a:xfrm>
          <a:prstGeom prst="rect">
            <a:avLst/>
          </a:prstGeom>
          <a:noFill/>
          <a:ln/>
        </p:spPr>
        <p:txBody>
          <a:bodyPr wrap="square" lIns="0" tIns="0" rIns="0" bIns="0" rtlCol="0" anchor="t"/>
          <a:lstStyle/>
          <a:p>
            <a:pPr indent="0" marL="0">
              <a:buNone/>
            </a:pPr>
            <a:r>
              <a:rPr lang="en-US" sz="3400" b="1" dirty="0">
                <a:solidFill>
                  <a:srgbClr val="073B34"/>
                </a:solidFill>
                <a:latin typeface="Palatino Linotype" pitchFamily="34" charset="0"/>
                <a:ea typeface="Palatino Linotype" pitchFamily="34" charset="-122"/>
                <a:cs typeface="Palatino Linotype" pitchFamily="34" charset="-120"/>
              </a:rPr>
              <a:t>Nota finală, pe un singur rând</a:t>
            </a:r>
            <a:endParaRPr lang="en-US" sz="3400" dirty="0"/>
          </a:p>
        </p:txBody>
      </p:sp>
      <p:sp>
        <p:nvSpPr>
          <p:cNvPr id="4" name="Shape 2"/>
          <p:cNvSpPr/>
          <p:nvPr/>
        </p:nvSpPr>
        <p:spPr>
          <a:xfrm>
            <a:off x="594360" y="1783080"/>
            <a:ext cx="6583680" cy="1234440"/>
          </a:xfrm>
          <a:prstGeom prst="rect">
            <a:avLst/>
          </a:prstGeom>
          <a:solidFill>
            <a:srgbClr val="07564B"/>
          </a:solidFill>
          <a:ln w="12700">
            <a:solidFill>
              <a:srgbClr val="07564B"/>
            </a:solidFill>
            <a:prstDash val="solid"/>
          </a:ln>
        </p:spPr>
        <p:txBody>
          <a:bodyPr/>
          <a:p/>
        </p:txBody>
      </p:sp>
      <p:sp>
        <p:nvSpPr>
          <p:cNvPr id="5" name="Shape 3"/>
          <p:cNvSpPr/>
          <p:nvPr/>
        </p:nvSpPr>
        <p:spPr>
          <a:xfrm>
            <a:off x="7178040" y="1783080"/>
            <a:ext cx="3291840" cy="1234440"/>
          </a:xfrm>
          <a:prstGeom prst="rect">
            <a:avLst/>
          </a:prstGeom>
          <a:solidFill>
            <a:srgbClr val="FFFFFF"/>
          </a:solidFill>
          <a:ln w="12700">
            <a:solidFill>
              <a:srgbClr val="FFFFFF"/>
            </a:solidFill>
            <a:prstDash val="solid"/>
          </a:ln>
        </p:spPr>
        <p:txBody>
          <a:bodyPr/>
          <a:p/>
        </p:txBody>
      </p:sp>
      <p:sp>
        <p:nvSpPr>
          <p:cNvPr id="6" name="Shape 4"/>
          <p:cNvSpPr/>
          <p:nvPr/>
        </p:nvSpPr>
        <p:spPr>
          <a:xfrm>
            <a:off x="10469880" y="1783080"/>
            <a:ext cx="1097280" cy="1234440"/>
          </a:xfrm>
          <a:prstGeom prst="rect">
            <a:avLst/>
          </a:prstGeom>
          <a:solidFill>
            <a:srgbClr val="073B34"/>
          </a:solidFill>
          <a:ln w="12700">
            <a:solidFill>
              <a:srgbClr val="073B34"/>
            </a:solidFill>
            <a:prstDash val="solid"/>
          </a:ln>
        </p:spPr>
        <p:txBody>
          <a:bodyPr/>
          <a:p/>
        </p:txBody>
      </p:sp>
      <p:sp>
        <p:nvSpPr>
          <p:cNvPr id="7" name="Text 5"/>
          <p:cNvSpPr/>
          <p:nvPr/>
        </p:nvSpPr>
        <p:spPr>
          <a:xfrm>
            <a:off x="822960" y="1783080"/>
            <a:ext cx="2103120" cy="1234440"/>
          </a:xfrm>
          <a:prstGeom prst="rect">
            <a:avLst/>
          </a:prstGeom>
          <a:noFill/>
          <a:ln/>
        </p:spPr>
        <p:txBody>
          <a:bodyPr wrap="square" lIns="0" tIns="0" rIns="0" bIns="0" rtlCol="0" anchor="ctr"/>
          <a:lstStyle/>
          <a:p>
            <a:pPr indent="0" marL="0">
              <a:buNone/>
            </a:pPr>
            <a:r>
              <a:rPr lang="en-US" sz="5200" b="1" dirty="0">
                <a:solidFill>
                  <a:srgbClr val="FFC24B"/>
                </a:solidFill>
                <a:latin typeface="Palatino Linotype" pitchFamily="34" charset="0"/>
                <a:ea typeface="Palatino Linotype" pitchFamily="34" charset="-122"/>
                <a:cs typeface="Palatino Linotype" pitchFamily="34" charset="-120"/>
              </a:rPr>
              <a:t>60%</a:t>
            </a:r>
            <a:endParaRPr lang="en-US" sz="5200" dirty="0"/>
          </a:p>
        </p:txBody>
      </p:sp>
      <p:sp>
        <p:nvSpPr>
          <p:cNvPr id="8" name="Text 6"/>
          <p:cNvSpPr/>
          <p:nvPr/>
        </p:nvSpPr>
        <p:spPr>
          <a:xfrm>
            <a:off x="2926080" y="1783080"/>
            <a:ext cx="4114800" cy="123444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Examenul scris</a:t>
            </a:r>
            <a:endParaRPr lang="en-US" sz="2200" dirty="0"/>
          </a:p>
        </p:txBody>
      </p:sp>
      <p:sp>
        <p:nvSpPr>
          <p:cNvPr id="9" name="Text 7"/>
          <p:cNvSpPr/>
          <p:nvPr/>
        </p:nvSpPr>
        <p:spPr>
          <a:xfrm>
            <a:off x="7360920" y="1783080"/>
            <a:ext cx="1463040" cy="1234440"/>
          </a:xfrm>
          <a:prstGeom prst="rect">
            <a:avLst/>
          </a:prstGeom>
          <a:noFill/>
          <a:ln/>
        </p:spPr>
        <p:txBody>
          <a:bodyPr wrap="square" lIns="0" tIns="0" rIns="0" bIns="0" rtlCol="0" anchor="ctr"/>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30%</a:t>
            </a:r>
            <a:endParaRPr lang="en-US" sz="4000" dirty="0"/>
          </a:p>
        </p:txBody>
      </p:sp>
      <p:sp>
        <p:nvSpPr>
          <p:cNvPr id="10" name="Text 8"/>
          <p:cNvSpPr/>
          <p:nvPr/>
        </p:nvSpPr>
        <p:spPr>
          <a:xfrm>
            <a:off x="8778240" y="1783080"/>
            <a:ext cx="1645920" cy="12344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Proiectul RENS</a:t>
            </a:r>
            <a:endParaRPr lang="en-US" sz="1700" dirty="0"/>
          </a:p>
        </p:txBody>
      </p:sp>
      <p:sp>
        <p:nvSpPr>
          <p:cNvPr id="11" name="Text 9"/>
          <p:cNvSpPr/>
          <p:nvPr/>
        </p:nvSpPr>
        <p:spPr>
          <a:xfrm>
            <a:off x="10469880" y="1783080"/>
            <a:ext cx="1097280" cy="123444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10%</a:t>
            </a:r>
            <a:endParaRPr lang="en-US" sz="2400" dirty="0"/>
          </a:p>
        </p:txBody>
      </p:sp>
      <p:sp>
        <p:nvSpPr>
          <p:cNvPr id="12" name="Text 10"/>
          <p:cNvSpPr/>
          <p:nvPr/>
        </p:nvSpPr>
        <p:spPr>
          <a:xfrm>
            <a:off x="594360" y="3246120"/>
            <a:ext cx="6309360" cy="1280160"/>
          </a:xfrm>
          <a:prstGeom prst="rect">
            <a:avLst/>
          </a:prstGeom>
          <a:noFill/>
          <a:ln/>
        </p:spPr>
        <p:txBody>
          <a:bodyPr wrap="square" lIns="0" tIns="0" rIns="0" bIns="0" rtlCol="0" anchor="t"/>
          <a:lstStyle/>
          <a:p>
            <a:pPr indent="0" marL="0">
              <a:buNone/>
            </a:pPr>
            <a:r>
              <a:rPr lang="en-US" sz="1700" dirty="0">
                <a:solidFill>
                  <a:srgbClr val="073B34"/>
                </a:solidFill>
                <a:latin typeface="Palatino Linotype" pitchFamily="34" charset="0"/>
                <a:ea typeface="Palatino Linotype" pitchFamily="34" charset="-122"/>
                <a:cs typeface="Palatino Linotype" pitchFamily="34" charset="-120"/>
              </a:rPr>
              <a:t>40 de întrebări grilă, cu un singur răspuns corect, din toate cele 14 cursuri, și 2 subiecte scurte, de cel mult 15 rânduri.</a:t>
            </a:r>
            <a:endParaRPr lang="en-US" sz="1700" dirty="0"/>
          </a:p>
        </p:txBody>
      </p:sp>
      <p:sp>
        <p:nvSpPr>
          <p:cNvPr id="13" name="Text 11"/>
          <p:cNvSpPr/>
          <p:nvPr/>
        </p:nvSpPr>
        <p:spPr>
          <a:xfrm>
            <a:off x="7178040" y="3246120"/>
            <a:ext cx="3154680" cy="1463040"/>
          </a:xfrm>
          <a:prstGeom prst="rect">
            <a:avLst/>
          </a:prstGeom>
          <a:noFill/>
          <a:ln/>
        </p:spPr>
        <p:txBody>
          <a:bodyPr wrap="square" lIns="0" tIns="0" rIns="0" bIns="0" rtlCol="0" anchor="t"/>
          <a:lstStyle/>
          <a:p>
            <a:pPr indent="0" marL="0">
              <a:buNone/>
            </a:pPr>
            <a:r>
              <a:rPr lang="en-US" sz="1600" dirty="0">
                <a:solidFill>
                  <a:srgbClr val="073B34"/>
                </a:solidFill>
                <a:latin typeface="Palatino Linotype" pitchFamily="34" charset="0"/>
                <a:ea typeface="Palatino Linotype" pitchFamily="34" charset="-122"/>
                <a:cs typeface="Palatino Linotype" pitchFamily="34" charset="-120"/>
              </a:rPr>
              <a:t>Profilul de sănătate al județului atribuit echipei, construit în lucrările practice.</a:t>
            </a:r>
            <a:endParaRPr lang="en-US" sz="1600" dirty="0"/>
          </a:p>
        </p:txBody>
      </p:sp>
      <p:sp>
        <p:nvSpPr>
          <p:cNvPr id="14" name="Text 12"/>
          <p:cNvSpPr/>
          <p:nvPr/>
        </p:nvSpPr>
        <p:spPr>
          <a:xfrm>
            <a:off x="10469880" y="3246120"/>
            <a:ext cx="1143000" cy="1280160"/>
          </a:xfrm>
          <a:prstGeom prst="rect">
            <a:avLst/>
          </a:prstGeom>
          <a:noFill/>
          <a:ln/>
        </p:spPr>
        <p:txBody>
          <a:bodyPr wrap="square" lIns="0" tIns="0" rIns="0" bIns="0" rtlCol="0" anchor="t"/>
          <a:lstStyle/>
          <a:p>
            <a:pPr indent="0" marL="0">
              <a:buNone/>
            </a:pPr>
            <a:r>
              <a:rPr lang="en-US" sz="1400" b="1" dirty="0">
                <a:solidFill>
                  <a:srgbClr val="073B34"/>
                </a:solidFill>
                <a:latin typeface="Palatino Linotype" pitchFamily="34" charset="0"/>
                <a:ea typeface="Palatino Linotype" pitchFamily="34" charset="-122"/>
                <a:cs typeface="Palatino Linotype" pitchFamily="34" charset="-120"/>
              </a:rPr>
              <a:t>Portofoliul fișelor LP</a:t>
            </a:r>
            <a:endParaRPr lang="en-US" sz="1400" dirty="0"/>
          </a:p>
        </p:txBody>
      </p:sp>
      <p:sp>
        <p:nvSpPr>
          <p:cNvPr id="15" name="Shape 13"/>
          <p:cNvSpPr/>
          <p:nvPr/>
        </p:nvSpPr>
        <p:spPr>
          <a:xfrm>
            <a:off x="594360" y="4846320"/>
            <a:ext cx="10972800" cy="18288"/>
          </a:xfrm>
          <a:prstGeom prst="rect">
            <a:avLst/>
          </a:prstGeom>
          <a:solidFill>
            <a:srgbClr val="073B34"/>
          </a:solidFill>
          <a:ln w="12700">
            <a:solidFill>
              <a:srgbClr val="073B34"/>
            </a:solidFill>
            <a:prstDash val="solid"/>
          </a:ln>
        </p:spPr>
        <p:txBody>
          <a:bodyPr/>
          <a:p/>
        </p:txBody>
      </p:sp>
      <p:sp>
        <p:nvSpPr>
          <p:cNvPr id="16" name="Text 14"/>
          <p:cNvSpPr/>
          <p:nvPr/>
        </p:nvSpPr>
        <p:spPr>
          <a:xfrm>
            <a:off x="594360" y="5029200"/>
            <a:ext cx="10972800" cy="822960"/>
          </a:xfrm>
          <a:prstGeom prst="rect">
            <a:avLst/>
          </a:prstGeom>
          <a:noFill/>
          <a:ln/>
        </p:spPr>
        <p:txBody>
          <a:bodyPr wrap="square" lIns="0" tIns="0" rIns="0" bIns="0" rtlCol="0" anchor="t"/>
          <a:lstStyle/>
          <a:p>
            <a:pPr indent="0" marL="0">
              <a:buNone/>
            </a:pPr>
            <a:r>
              <a:rPr lang="en-US" sz="1800" b="1" dirty="0">
                <a:solidFill>
                  <a:srgbClr val="073B34"/>
                </a:solidFill>
                <a:latin typeface="Palatino Linotype" pitchFamily="34" charset="0"/>
                <a:ea typeface="Palatino Linotype" pitchFamily="34" charset="-122"/>
                <a:cs typeface="Palatino Linotype" pitchFamily="34" charset="-120"/>
              </a:rPr>
              <a:t>Nota minimă 5 la examen și la proiectul RENS. Suportul pentru examen: notele de curs. Voturile și discuțiile din sală nu se notează.</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GARDA · CARDIOLOGIE, A DOUA NOAPTE</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Același pacient, a treia oară</a:t>
            </a:r>
            <a:endParaRPr lang="en-US" sz="3200" dirty="0"/>
          </a:p>
        </p:txBody>
      </p:sp>
      <p:sp>
        <p:nvSpPr>
          <p:cNvPr id="4" name="Shape 2"/>
          <p:cNvSpPr/>
          <p:nvPr/>
        </p:nvSpPr>
        <p:spPr>
          <a:xfrm rot="-90000">
            <a:off x="822960" y="1691640"/>
            <a:ext cx="5120640" cy="411480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5" name="Text 3"/>
          <p:cNvSpPr/>
          <p:nvPr/>
        </p:nvSpPr>
        <p:spPr>
          <a:xfrm rot="-90000">
            <a:off x="1143000" y="1965960"/>
            <a:ext cx="4480560" cy="27432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FOAIE DE OBSERVAȚIE · EXTRAS</a:t>
            </a:r>
            <a:endParaRPr lang="en-US" sz="1300" dirty="0"/>
          </a:p>
        </p:txBody>
      </p:sp>
      <p:sp>
        <p:nvSpPr>
          <p:cNvPr id="6" name="Shape 4"/>
          <p:cNvSpPr/>
          <p:nvPr/>
        </p:nvSpPr>
        <p:spPr>
          <a:xfrm rot="-90000">
            <a:off x="1143000" y="2331720"/>
            <a:ext cx="4480560" cy="18288"/>
          </a:xfrm>
          <a:prstGeom prst="rect">
            <a:avLst/>
          </a:prstGeom>
          <a:solidFill>
            <a:srgbClr val="11121A"/>
          </a:solidFill>
          <a:ln w="12700">
            <a:solidFill>
              <a:srgbClr val="11121A"/>
            </a:solidFill>
            <a:prstDash val="solid"/>
          </a:ln>
        </p:spPr>
        <p:txBody>
          <a:bodyPr/>
          <a:p/>
        </p:txBody>
      </p:sp>
      <p:sp>
        <p:nvSpPr>
          <p:cNvPr id="7" name="Text 5"/>
          <p:cNvSpPr/>
          <p:nvPr/>
        </p:nvSpPr>
        <p:spPr>
          <a:xfrm rot="-90000">
            <a:off x="1143000" y="2514600"/>
            <a:ext cx="4480560" cy="1737360"/>
          </a:xfrm>
          <a:prstGeom prst="rect">
            <a:avLst/>
          </a:prstGeom>
          <a:noFill/>
          <a:ln/>
        </p:spPr>
        <p:txBody>
          <a:bodyPr wrap="square" lIns="0" tIns="0" rIns="0" bIns="0" rtlCol="0" anchor="t"/>
          <a:lstStyle/>
          <a:p>
            <a:pPr indent="0" marL="0">
              <a:spcAft>
                <a:spcPts val="600"/>
              </a:spcAft>
              <a:buNone/>
            </a:pPr>
            <a:r>
              <a:rPr lang="en-US" sz="1800" b="1" dirty="0">
                <a:solidFill>
                  <a:srgbClr val="11121A"/>
                </a:solidFill>
                <a:latin typeface="Palatino Linotype" pitchFamily="34" charset="0"/>
                <a:ea typeface="Palatino Linotype" pitchFamily="34" charset="-122"/>
                <a:cs typeface="Palatino Linotype" pitchFamily="34" charset="-120"/>
              </a:rPr>
              <a:t>Bărbat, cincizeci și cinci de ani</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Fumător de treizeci de ani</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Hipertensiv · obezitate</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Motivul internării: durere toracică</a:t>
            </a:r>
            <a:endParaRPr lang="en-US" sz="1800" dirty="0"/>
          </a:p>
        </p:txBody>
      </p:sp>
      <p:sp>
        <p:nvSpPr>
          <p:cNvPr id="8" name="Shape 6"/>
          <p:cNvSpPr/>
          <p:nvPr/>
        </p:nvSpPr>
        <p:spPr>
          <a:xfrm rot="-90000">
            <a:off x="1143000" y="4434840"/>
            <a:ext cx="4480560" cy="960120"/>
          </a:xfrm>
          <a:prstGeom prst="roundRect">
            <a:avLst>
              <a:gd name="adj" fmla="val 5714"/>
            </a:avLst>
          </a:prstGeom>
          <a:solidFill>
            <a:srgbClr val="FFFFFF"/>
          </a:solidFill>
          <a:ln w="19050">
            <a:solidFill>
              <a:srgbClr val="B02532"/>
            </a:solidFill>
            <a:prstDash val="solid"/>
          </a:ln>
        </p:spPr>
        <p:txBody>
          <a:bodyPr/>
          <a:p/>
        </p:txBody>
      </p:sp>
      <p:sp>
        <p:nvSpPr>
          <p:cNvPr id="9" name="Text 7"/>
          <p:cNvSpPr/>
          <p:nvPr/>
        </p:nvSpPr>
        <p:spPr>
          <a:xfrm rot="-90000">
            <a:off x="1143000" y="4434840"/>
            <a:ext cx="4480560" cy="960120"/>
          </a:xfrm>
          <a:prstGeom prst="rect">
            <a:avLst/>
          </a:prstGeom>
          <a:noFill/>
          <a:ln/>
        </p:spPr>
        <p:txBody>
          <a:bodyPr wrap="square" lIns="0" tIns="0" rIns="0" bIns="0" rtlCol="0" anchor="ctr"/>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A treia internare în doi ani</a:t>
            </a:r>
            <a:endParaRPr lang="en-US" sz="2200" dirty="0"/>
          </a:p>
        </p:txBody>
      </p:sp>
      <p:sp>
        <p:nvSpPr>
          <p:cNvPr id="10" name="Text 8"/>
          <p:cNvSpPr/>
          <p:nvPr/>
        </p:nvSpPr>
        <p:spPr>
          <a:xfrm>
            <a:off x="6492240" y="1828800"/>
            <a:ext cx="5120640" cy="192024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Electrocardiograma, troponina, coronarografia și tratamentul urmează protocolul. După câteva zile, pacientul pleacă acasă cu o rețetă și cu sfatul de a se lăsa de fumat. Decizia clinică a fost corectă.</a:t>
            </a:r>
            <a:endParaRPr lang="en-US" sz="1700" dirty="0"/>
          </a:p>
        </p:txBody>
      </p:sp>
      <p:sp>
        <p:nvSpPr>
          <p:cNvPr id="11" name="Text 9"/>
          <p:cNvSpPr/>
          <p:nvPr/>
        </p:nvSpPr>
        <p:spPr>
          <a:xfrm>
            <a:off x="6492240" y="3931920"/>
            <a:ext cx="5120640" cy="13716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Ce înseamnă sănătatea publică pentru medicul care a făcut tot ce trebuia la patul acestui pacient?</a:t>
            </a:r>
            <a:endParaRPr lang="en-US" sz="2100" dirty="0"/>
          </a:p>
        </p:txBody>
      </p:sp>
      <p:sp>
        <p:nvSpPr>
          <p:cNvPr id="12" name="Text 10"/>
          <p:cNvSpPr/>
          <p:nvPr/>
        </p:nvSpPr>
        <p:spPr>
          <a:xfrm>
            <a:off x="822960" y="6172200"/>
            <a:ext cx="54864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 pacientul este fictiv.</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PREGĂTIREA PENTRU CURS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Fraza pe care ați adus-o</a:t>
            </a:r>
            <a:endParaRPr lang="en-US" sz="3400" dirty="0"/>
          </a:p>
        </p:txBody>
      </p:sp>
      <p:sp>
        <p:nvSpPr>
          <p:cNvPr id="6" name="Text 4"/>
          <p:cNvSpPr/>
          <p:nvPr/>
        </p:nvSpPr>
        <p:spPr>
          <a:xfrm>
            <a:off x="594360" y="1691640"/>
            <a:ext cx="10972800" cy="100584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Înainte de curs ați notat ce s-ar fi putut face pentru un pacient văzut de mai multe ori pentru aceeași problemă și cine ar fi trebuit să o facă.</a:t>
            </a:r>
            <a:endParaRPr lang="en-US" sz="1900" dirty="0"/>
          </a:p>
        </p:txBody>
      </p:sp>
      <p:sp>
        <p:nvSpPr>
          <p:cNvPr id="7" name="Shape 5"/>
          <p:cNvSpPr/>
          <p:nvPr/>
        </p:nvSpPr>
        <p:spPr>
          <a:xfrm>
            <a:off x="594360" y="2926080"/>
            <a:ext cx="10972800" cy="822960"/>
          </a:xfrm>
          <a:prstGeom prst="roundRect">
            <a:avLst>
              <a:gd name="adj" fmla="val 10000"/>
            </a:avLst>
          </a:prstGeom>
          <a:solidFill>
            <a:srgbClr val="1D1F2B"/>
          </a:solidFill>
          <a:ln w="12700">
            <a:solidFill>
              <a:srgbClr val="1D1F2B"/>
            </a:solidFill>
            <a:prstDash val="solid"/>
          </a:ln>
        </p:spPr>
        <p:txBody>
          <a:bodyPr/>
          <a:p/>
        </p:txBody>
      </p:sp>
      <p:sp>
        <p:nvSpPr>
          <p:cNvPr id="8" name="Shape 6"/>
          <p:cNvSpPr/>
          <p:nvPr/>
        </p:nvSpPr>
        <p:spPr>
          <a:xfrm>
            <a:off x="868680" y="3127248"/>
            <a:ext cx="420624" cy="420624"/>
          </a:xfrm>
          <a:prstGeom prst="ellipse">
            <a:avLst/>
          </a:prstGeom>
          <a:solidFill>
            <a:srgbClr val="FFC24B"/>
          </a:solidFill>
          <a:ln/>
        </p:spPr>
        <p:txBody>
          <a:bodyPr/>
          <a:p/>
        </p:txBody>
      </p:sp>
      <p:sp>
        <p:nvSpPr>
          <p:cNvPr id="9" name="Text 7"/>
          <p:cNvSpPr/>
          <p:nvPr/>
        </p:nvSpPr>
        <p:spPr>
          <a:xfrm>
            <a:off x="868680" y="3127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2926080"/>
            <a:ext cx="982980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Citiți-i fraza colegului de bancă.</a:t>
            </a:r>
            <a:endParaRPr lang="en-US" sz="2000" dirty="0"/>
          </a:p>
        </p:txBody>
      </p:sp>
      <p:sp>
        <p:nvSpPr>
          <p:cNvPr id="11" name="Shape 9"/>
          <p:cNvSpPr/>
          <p:nvPr/>
        </p:nvSpPr>
        <p:spPr>
          <a:xfrm>
            <a:off x="594360" y="3931920"/>
            <a:ext cx="10972800" cy="822960"/>
          </a:xfrm>
          <a:prstGeom prst="roundRect">
            <a:avLst>
              <a:gd name="adj" fmla="val 10000"/>
            </a:avLst>
          </a:prstGeom>
          <a:solidFill>
            <a:srgbClr val="1D1F2B"/>
          </a:solidFill>
          <a:ln w="12700">
            <a:solidFill>
              <a:srgbClr val="1D1F2B"/>
            </a:solidFill>
            <a:prstDash val="solid"/>
          </a:ln>
        </p:spPr>
        <p:txBody>
          <a:bodyPr/>
          <a:p/>
        </p:txBody>
      </p:sp>
      <p:sp>
        <p:nvSpPr>
          <p:cNvPr id="12" name="Shape 10"/>
          <p:cNvSpPr/>
          <p:nvPr/>
        </p:nvSpPr>
        <p:spPr>
          <a:xfrm>
            <a:off x="868680" y="4133088"/>
            <a:ext cx="420624" cy="420624"/>
          </a:xfrm>
          <a:prstGeom prst="ellipse">
            <a:avLst/>
          </a:prstGeom>
          <a:solidFill>
            <a:srgbClr val="FFC24B"/>
          </a:solidFill>
          <a:ln/>
        </p:spPr>
        <p:txBody>
          <a:bodyPr/>
          <a:p/>
        </p:txBody>
      </p:sp>
      <p:sp>
        <p:nvSpPr>
          <p:cNvPr id="13" name="Text 11"/>
          <p:cNvSpPr/>
          <p:nvPr/>
        </p:nvSpPr>
        <p:spPr>
          <a:xfrm>
            <a:off x="868680" y="4133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3931920"/>
            <a:ext cx="982980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ar fi putut face altcineva decât medicul care l-a tratat?</a:t>
            </a:r>
            <a:endParaRPr lang="en-US" sz="2000" dirty="0"/>
          </a:p>
        </p:txBody>
      </p:sp>
      <p:sp>
        <p:nvSpPr>
          <p:cNvPr id="15" name="Text 13"/>
          <p:cNvSpPr/>
          <p:nvPr/>
        </p:nvSpPr>
        <p:spPr>
          <a:xfrm>
            <a:off x="594360" y="5120640"/>
            <a:ext cx="10972800" cy="4572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Fără fraza pregătită: scrieți-o acum, pentru pacientul din gardă.</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RĂSPUNS PROVIZORIU LA TITLU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Sănătatea publică începe cu a doua întrebare</a:t>
            </a:r>
            <a:endParaRPr lang="en-US" sz="3200" dirty="0"/>
          </a:p>
        </p:txBody>
      </p:sp>
      <p:sp>
        <p:nvSpPr>
          <p:cNvPr id="4" name="Shape 2"/>
          <p:cNvSpPr/>
          <p:nvPr/>
        </p:nvSpPr>
        <p:spPr>
          <a:xfrm>
            <a:off x="594360" y="1828800"/>
            <a:ext cx="3931920" cy="2651760"/>
          </a:xfrm>
          <a:prstGeom prst="roundRect">
            <a:avLst>
              <a:gd name="adj" fmla="val 3103"/>
            </a:avLst>
          </a:prstGeom>
          <a:solidFill>
            <a:srgbClr val="ECEAE4"/>
          </a:solidFill>
          <a:ln w="12700">
            <a:solidFill>
              <a:srgbClr val="ECEAE4"/>
            </a:solidFill>
            <a:prstDash val="solid"/>
          </a:ln>
        </p:spPr>
        <p:txBody>
          <a:bodyPr/>
          <a:p/>
        </p:txBody>
      </p:sp>
      <p:sp>
        <p:nvSpPr>
          <p:cNvPr id="5" name="Text 3"/>
          <p:cNvSpPr/>
          <p:nvPr/>
        </p:nvSpPr>
        <p:spPr>
          <a:xfrm>
            <a:off x="868680" y="2011680"/>
            <a:ext cx="347472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ÎNTREBAREA CLINICĂ</a:t>
            </a:r>
            <a:endParaRPr lang="en-US" sz="1300" dirty="0"/>
          </a:p>
        </p:txBody>
      </p:sp>
      <p:sp>
        <p:nvSpPr>
          <p:cNvPr id="6" name="Text 4"/>
          <p:cNvSpPr/>
          <p:nvPr/>
        </p:nvSpPr>
        <p:spPr>
          <a:xfrm>
            <a:off x="868680" y="2514600"/>
            <a:ext cx="3474720" cy="1463040"/>
          </a:xfrm>
          <a:prstGeom prst="rect">
            <a:avLst/>
          </a:prstGeom>
          <a:noFill/>
          <a:ln/>
        </p:spPr>
        <p:txBody>
          <a:bodyPr wrap="square" lIns="0" tIns="0" rIns="0" bIns="0" rtlCol="0" anchor="ctr"/>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„Ce are acest pacient?”</a:t>
            </a:r>
            <a:endParaRPr lang="en-US" sz="2800" dirty="0"/>
          </a:p>
        </p:txBody>
      </p:sp>
      <p:sp>
        <p:nvSpPr>
          <p:cNvPr id="7" name="Shape 5"/>
          <p:cNvSpPr/>
          <p:nvPr/>
        </p:nvSpPr>
        <p:spPr>
          <a:xfrm>
            <a:off x="4709160" y="2971800"/>
            <a:ext cx="548640" cy="329184"/>
          </a:xfrm>
          <a:prstGeom prst="rightArrow">
            <a:avLst/>
          </a:prstGeom>
          <a:solidFill>
            <a:srgbClr val="B02532"/>
          </a:solidFill>
          <a:ln w="12700">
            <a:solidFill>
              <a:srgbClr val="B02532"/>
            </a:solidFill>
            <a:prstDash val="solid"/>
          </a:ln>
        </p:spPr>
        <p:txBody>
          <a:bodyPr/>
          <a:p/>
        </p:txBody>
      </p:sp>
      <p:sp>
        <p:nvSpPr>
          <p:cNvPr id="8" name="Shape 6"/>
          <p:cNvSpPr/>
          <p:nvPr/>
        </p:nvSpPr>
        <p:spPr>
          <a:xfrm>
            <a:off x="5486400" y="1828800"/>
            <a:ext cx="6080760" cy="2651760"/>
          </a:xfrm>
          <a:prstGeom prst="roundRect">
            <a:avLst>
              <a:gd name="adj" fmla="val 3103"/>
            </a:avLst>
          </a:prstGeom>
          <a:solidFill>
            <a:srgbClr val="B02532"/>
          </a:solidFill>
          <a:ln w="12700">
            <a:solidFill>
              <a:srgbClr val="B02532"/>
            </a:solidFill>
            <a:prstDash val="solid"/>
          </a:ln>
        </p:spPr>
        <p:txBody>
          <a:bodyPr/>
          <a:p/>
        </p:txBody>
      </p:sp>
      <p:sp>
        <p:nvSpPr>
          <p:cNvPr id="9" name="Text 7"/>
          <p:cNvSpPr/>
          <p:nvPr/>
        </p:nvSpPr>
        <p:spPr>
          <a:xfrm>
            <a:off x="5760720" y="2011680"/>
            <a:ext cx="5577840" cy="274320"/>
          </a:xfrm>
          <a:prstGeom prst="rect">
            <a:avLst/>
          </a:prstGeom>
          <a:noFill/>
          <a:ln/>
        </p:spPr>
        <p:txBody>
          <a:bodyPr wrap="square" lIns="0" tIns="0" rIns="0" bIns="0" rtlCol="0" anchor="t"/>
          <a:lstStyle/>
          <a:p>
            <a:pPr indent="0" marL="0">
              <a:buNone/>
            </a:pPr>
            <a:r>
              <a:rPr lang="en-US" sz="1300" b="1" spc="200" kern="0" dirty="0">
                <a:solidFill>
                  <a:srgbClr val="FFD6DA"/>
                </a:solidFill>
                <a:latin typeface="Palatino Linotype" pitchFamily="34" charset="0"/>
                <a:ea typeface="Palatino Linotype" pitchFamily="34" charset="-122"/>
                <a:cs typeface="Palatino Linotype" pitchFamily="34" charset="-120"/>
              </a:rPr>
              <a:t>ÎNTREBAREA SĂNĂTĂȚII PUBLICE</a:t>
            </a:r>
            <a:endParaRPr lang="en-US" sz="1300" dirty="0"/>
          </a:p>
        </p:txBody>
      </p:sp>
      <p:sp>
        <p:nvSpPr>
          <p:cNvPr id="10" name="Text 8"/>
          <p:cNvSpPr/>
          <p:nvPr/>
        </p:nvSpPr>
        <p:spPr>
          <a:xfrm>
            <a:off x="5760720" y="2377440"/>
            <a:ext cx="5577840" cy="196596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„Câți pacienți ca el există, de ce sunt atât de mulți și ce s-ar fi putut face înainte ca vreunul să ajungă la urgență?”</a:t>
            </a:r>
            <a:endParaRPr lang="en-US" sz="2200" dirty="0"/>
          </a:p>
        </p:txBody>
      </p:sp>
      <p:sp>
        <p:nvSpPr>
          <p:cNvPr id="11" name="Text 9"/>
          <p:cNvSpPr/>
          <p:nvPr/>
        </p:nvSpPr>
        <p:spPr>
          <a:xfrm>
            <a:off x="594360" y="4800600"/>
            <a:ext cx="1097280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Medicul de gardă nu poate răspunde singur la a doua întrebare, dar o poate pune. Datele lui, raportările lui și sfatul dat pacientului fac parte din răspuns.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DUPĂ GARDĂ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FFFFFF"/>
                </a:solidFill>
                <a:latin typeface="Palatino Linotype" pitchFamily="34" charset="0"/>
                <a:ea typeface="Palatino Linotype" pitchFamily="34" charset="-122"/>
                <a:cs typeface="Palatino Linotype" pitchFamily="34" charset="-120"/>
              </a:rPr>
              <a:t>Care dintre aceste decizii este de sănătate publică?</a:t>
            </a:r>
            <a:endParaRPr lang="en-US" sz="2900" dirty="0"/>
          </a:p>
        </p:txBody>
      </p:sp>
      <p:sp>
        <p:nvSpPr>
          <p:cNvPr id="6" name="Shape 4"/>
          <p:cNvSpPr/>
          <p:nvPr/>
        </p:nvSpPr>
        <p:spPr>
          <a:xfrm>
            <a:off x="594360" y="1783080"/>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7" name="Shape 5"/>
          <p:cNvSpPr/>
          <p:nvPr/>
        </p:nvSpPr>
        <p:spPr>
          <a:xfrm>
            <a:off x="868680" y="1975104"/>
            <a:ext cx="420624" cy="420624"/>
          </a:xfrm>
          <a:prstGeom prst="ellipse">
            <a:avLst/>
          </a:prstGeom>
          <a:solidFill>
            <a:srgbClr val="FFC24B"/>
          </a:solidFill>
          <a:ln/>
        </p:spPr>
        <p:txBody>
          <a:bodyPr/>
          <a:p/>
        </p:txBody>
      </p:sp>
      <p:sp>
        <p:nvSpPr>
          <p:cNvPr id="8" name="Text 6"/>
          <p:cNvSpPr/>
          <p:nvPr/>
        </p:nvSpPr>
        <p:spPr>
          <a:xfrm>
            <a:off x="86868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783080"/>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Prescrie pacientului tratamentul de prevenție secundară.</a:t>
            </a:r>
            <a:endParaRPr lang="en-US" sz="1700" dirty="0"/>
          </a:p>
        </p:txBody>
      </p:sp>
      <p:sp>
        <p:nvSpPr>
          <p:cNvPr id="10" name="Shape 8"/>
          <p:cNvSpPr/>
          <p:nvPr/>
        </p:nvSpPr>
        <p:spPr>
          <a:xfrm>
            <a:off x="594360" y="2715768"/>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1" name="Shape 9"/>
          <p:cNvSpPr/>
          <p:nvPr/>
        </p:nvSpPr>
        <p:spPr>
          <a:xfrm>
            <a:off x="868680" y="2907792"/>
            <a:ext cx="420624" cy="420624"/>
          </a:xfrm>
          <a:prstGeom prst="ellipse">
            <a:avLst/>
          </a:prstGeom>
          <a:solidFill>
            <a:srgbClr val="FFC24B"/>
          </a:solidFill>
          <a:ln/>
        </p:spPr>
        <p:txBody>
          <a:bodyPr/>
          <a:p/>
        </p:txBody>
      </p:sp>
      <p:sp>
        <p:nvSpPr>
          <p:cNvPr id="12" name="Text 10"/>
          <p:cNvSpPr/>
          <p:nvPr/>
        </p:nvSpPr>
        <p:spPr>
          <a:xfrm>
            <a:off x="868680" y="2907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715768"/>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Cere o analiză suplimentară pentru acest pacient.</a:t>
            </a:r>
            <a:endParaRPr lang="en-US" sz="1700" dirty="0"/>
          </a:p>
        </p:txBody>
      </p:sp>
      <p:sp>
        <p:nvSpPr>
          <p:cNvPr id="14" name="Shape 12"/>
          <p:cNvSpPr/>
          <p:nvPr/>
        </p:nvSpPr>
        <p:spPr>
          <a:xfrm>
            <a:off x="594360" y="3648456"/>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5" name="Shape 13"/>
          <p:cNvSpPr/>
          <p:nvPr/>
        </p:nvSpPr>
        <p:spPr>
          <a:xfrm>
            <a:off x="868680" y="3840480"/>
            <a:ext cx="420624" cy="420624"/>
          </a:xfrm>
          <a:prstGeom prst="ellipse">
            <a:avLst/>
          </a:prstGeom>
          <a:solidFill>
            <a:srgbClr val="FFC24B"/>
          </a:solidFill>
          <a:ln/>
        </p:spPr>
        <p:txBody>
          <a:bodyPr/>
          <a:p/>
        </p:txBody>
      </p:sp>
      <p:sp>
        <p:nvSpPr>
          <p:cNvPr id="16" name="Text 14"/>
          <p:cNvSpPr/>
          <p:nvPr/>
        </p:nvSpPr>
        <p:spPr>
          <a:xfrm>
            <a:off x="86868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648456"/>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Analizează, cu medicii de familie din zonă, câți pacienți cu factori de risc cardiovasculari nedepistați există în județ și propune un program de depistare.</a:t>
            </a:r>
            <a:endParaRPr lang="en-US" sz="1700" dirty="0"/>
          </a:p>
        </p:txBody>
      </p:sp>
      <p:sp>
        <p:nvSpPr>
          <p:cNvPr id="18" name="Shape 16"/>
          <p:cNvSpPr/>
          <p:nvPr/>
        </p:nvSpPr>
        <p:spPr>
          <a:xfrm>
            <a:off x="594360" y="4581144"/>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9" name="Shape 17"/>
          <p:cNvSpPr/>
          <p:nvPr/>
        </p:nvSpPr>
        <p:spPr>
          <a:xfrm>
            <a:off x="868680" y="4773168"/>
            <a:ext cx="420624" cy="420624"/>
          </a:xfrm>
          <a:prstGeom prst="ellipse">
            <a:avLst/>
          </a:prstGeom>
          <a:solidFill>
            <a:srgbClr val="FFC24B"/>
          </a:solidFill>
          <a:ln/>
        </p:spPr>
        <p:txBody>
          <a:bodyPr/>
          <a:p/>
        </p:txBody>
      </p:sp>
      <p:sp>
        <p:nvSpPr>
          <p:cNvPr id="20" name="Text 18"/>
          <p:cNvSpPr/>
          <p:nvPr/>
        </p:nvSpPr>
        <p:spPr>
          <a:xfrm>
            <a:off x="868680" y="47731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581144"/>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Trimite pacientul la un alt specialist.</a:t>
            </a:r>
            <a:endParaRPr lang="en-US" sz="1700" dirty="0"/>
          </a:p>
        </p:txBody>
      </p:sp>
      <p:sp>
        <p:nvSpPr>
          <p:cNvPr id="22" name="Text 20"/>
          <p:cNvSpPr/>
          <p:nvPr/>
        </p:nvSpPr>
        <p:spPr>
          <a:xfrm>
            <a:off x="594360" y="5623560"/>
            <a:ext cx="1097280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Votați pe telefon; apoi două minute de discuție cu colegul de bancă.</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 unitatea de analiză este populația</a:t>
            </a:r>
            <a:endParaRPr lang="en-US" sz="3200" dirty="0"/>
          </a:p>
        </p:txBody>
      </p:sp>
      <p:sp>
        <p:nvSpPr>
          <p:cNvPr id="4" name="Shape 2"/>
          <p:cNvSpPr/>
          <p:nvPr/>
        </p:nvSpPr>
        <p:spPr>
          <a:xfrm>
            <a:off x="594360" y="1783080"/>
            <a:ext cx="5349240" cy="2377440"/>
          </a:xfrm>
          <a:prstGeom prst="roundRect">
            <a:avLst>
              <a:gd name="adj" fmla="val 3462"/>
            </a:avLst>
          </a:prstGeom>
          <a:solidFill>
            <a:srgbClr val="ECEAE4"/>
          </a:solidFill>
          <a:ln w="12700">
            <a:solidFill>
              <a:srgbClr val="ECEAE4"/>
            </a:solidFill>
            <a:prstDash val="solid"/>
          </a:ln>
        </p:spPr>
        <p:txBody>
          <a:bodyPr/>
          <a:p/>
        </p:txBody>
      </p:sp>
      <p:sp>
        <p:nvSpPr>
          <p:cNvPr id="5" name="Text 3"/>
          <p:cNvSpPr/>
          <p:nvPr/>
        </p:nvSpPr>
        <p:spPr>
          <a:xfrm>
            <a:off x="868680" y="1920240"/>
            <a:ext cx="4846320" cy="320040"/>
          </a:xfrm>
          <a:prstGeom prst="rect">
            <a:avLst/>
          </a:prstGeom>
          <a:noFill/>
          <a:ln/>
        </p:spPr>
        <p:txBody>
          <a:bodyPr wrap="square" lIns="0" tIns="0" rIns="0" bIns="0" rtlCol="0" anchor="t"/>
          <a:lstStyle/>
          <a:p>
            <a:pPr indent="0" marL="0">
              <a:buNone/>
            </a:pPr>
            <a:r>
              <a:rPr lang="en-US" sz="1400" b="1" spc="200" kern="0" dirty="0">
                <a:solidFill>
                  <a:srgbClr val="585A64"/>
                </a:solidFill>
                <a:latin typeface="Palatino Linotype" pitchFamily="34" charset="0"/>
                <a:ea typeface="Palatino Linotype" pitchFamily="34" charset="-122"/>
                <a:cs typeface="Palatino Linotype" pitchFamily="34" charset="-120"/>
              </a:rPr>
              <a:t>A, B, D · ACT CLINIC</a:t>
            </a:r>
            <a:endParaRPr lang="en-US" sz="1400" dirty="0"/>
          </a:p>
        </p:txBody>
      </p:sp>
      <p:sp>
        <p:nvSpPr>
          <p:cNvPr id="6" name="Text 4"/>
          <p:cNvSpPr/>
          <p:nvPr/>
        </p:nvSpPr>
        <p:spPr>
          <a:xfrm>
            <a:off x="868680" y="2377440"/>
            <a:ext cx="4846320" cy="16459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Privesc pacientul din fața medicului: tratamentul lui, analizele lui, trimiterea lui.</a:t>
            </a:r>
            <a:endParaRPr lang="en-US" sz="1900" dirty="0"/>
          </a:p>
        </p:txBody>
      </p:sp>
      <p:sp>
        <p:nvSpPr>
          <p:cNvPr id="7" name="Shape 5"/>
          <p:cNvSpPr/>
          <p:nvPr/>
        </p:nvSpPr>
        <p:spPr>
          <a:xfrm>
            <a:off x="6217920" y="1783080"/>
            <a:ext cx="5349240" cy="2377440"/>
          </a:xfrm>
          <a:prstGeom prst="roundRect">
            <a:avLst>
              <a:gd name="adj" fmla="val 3462"/>
            </a:avLst>
          </a:prstGeom>
          <a:solidFill>
            <a:srgbClr val="0E7C6B"/>
          </a:solidFill>
          <a:ln w="12700">
            <a:solidFill>
              <a:srgbClr val="0E7C6B"/>
            </a:solidFill>
            <a:prstDash val="solid"/>
          </a:ln>
        </p:spPr>
        <p:txBody>
          <a:bodyPr/>
          <a:p/>
        </p:txBody>
      </p:sp>
      <p:sp>
        <p:nvSpPr>
          <p:cNvPr id="8" name="Text 6"/>
          <p:cNvSpPr/>
          <p:nvPr/>
        </p:nvSpPr>
        <p:spPr>
          <a:xfrm>
            <a:off x="6492240" y="1920240"/>
            <a:ext cx="4846320" cy="320040"/>
          </a:xfrm>
          <a:prstGeom prst="rect">
            <a:avLst/>
          </a:prstGeom>
          <a:noFill/>
          <a:ln/>
        </p:spPr>
        <p:txBody>
          <a:bodyPr wrap="square" lIns="0" tIns="0" rIns="0" bIns="0" rtlCol="0" anchor="t"/>
          <a:lstStyle/>
          <a:p>
            <a:pPr indent="0" marL="0">
              <a:buNone/>
            </a:pPr>
            <a:r>
              <a:rPr lang="en-US" sz="1400" b="1" spc="200" kern="0" dirty="0">
                <a:solidFill>
                  <a:srgbClr val="BFF3EA"/>
                </a:solidFill>
                <a:latin typeface="Palatino Linotype" pitchFamily="34" charset="0"/>
                <a:ea typeface="Palatino Linotype" pitchFamily="34" charset="-122"/>
                <a:cs typeface="Palatino Linotype" pitchFamily="34" charset="-120"/>
              </a:rPr>
              <a:t>C · SĂNĂTATE PUBLICĂ</a:t>
            </a:r>
            <a:endParaRPr lang="en-US" sz="1400" dirty="0"/>
          </a:p>
        </p:txBody>
      </p:sp>
      <p:sp>
        <p:nvSpPr>
          <p:cNvPr id="9" name="Text 7"/>
          <p:cNvSpPr/>
          <p:nvPr/>
        </p:nvSpPr>
        <p:spPr>
          <a:xfrm>
            <a:off x="6492240" y="2377440"/>
            <a:ext cx="4846320" cy="164592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Datele unei populații, grupurile cu risc și un program pentru toți.</a:t>
            </a:r>
            <a:endParaRPr lang="en-US" sz="1900" dirty="0"/>
          </a:p>
        </p:txBody>
      </p:sp>
      <p:sp>
        <p:nvSpPr>
          <p:cNvPr id="10" name="Text 8"/>
          <p:cNvSpPr/>
          <p:nvPr/>
        </p:nvSpPr>
        <p:spPr>
          <a:xfrm>
            <a:off x="594360" y="4389120"/>
            <a:ext cx="10972800" cy="14630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test cerut pentru un pacient cu simptome rămâne act clinic, chiar dacă același test se folosește în programele de depistare. Cele două activități nu sunt în competiție: programul aduce la medic pacienți depistați mai devreme, iar medicii semnalează problemele pe care programul trebuie să le urmărească.</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MEDICINA CLINICĂ ȘI SĂNĂTATEA PUBLICĂ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Același medic, două unități de analiză</a:t>
            </a:r>
            <a:endParaRPr lang="en-US" sz="3200" dirty="0"/>
          </a:p>
        </p:txBody>
      </p:sp>
      <p:sp>
        <p:nvSpPr>
          <p:cNvPr id="4" name="Text 2"/>
          <p:cNvSpPr/>
          <p:nvPr/>
        </p:nvSpPr>
        <p:spPr>
          <a:xfrm>
            <a:off x="3611880" y="1600200"/>
            <a:ext cx="3657600" cy="320040"/>
          </a:xfrm>
          <a:prstGeom prst="rect">
            <a:avLst/>
          </a:prstGeom>
          <a:noFill/>
          <a:ln/>
        </p:spPr>
        <p:txBody>
          <a:bodyPr wrap="square" lIns="0" tIns="0" rIns="0" bIns="0" rtlCol="0" anchor="t"/>
          <a:lstStyle/>
          <a:p>
            <a:pPr indent="0" marL="0">
              <a:buNone/>
            </a:pPr>
            <a:r>
              <a:rPr lang="en-US" sz="1500" b="1" dirty="0">
                <a:solidFill>
                  <a:srgbClr val="585A64"/>
                </a:solidFill>
                <a:latin typeface="Palatino Linotype" pitchFamily="34" charset="0"/>
                <a:ea typeface="Palatino Linotype" pitchFamily="34" charset="-122"/>
                <a:cs typeface="Palatino Linotype" pitchFamily="34" charset="-120"/>
              </a:rPr>
              <a:t>Medicina clinică</a:t>
            </a:r>
            <a:endParaRPr lang="en-US" sz="1500" dirty="0"/>
          </a:p>
        </p:txBody>
      </p:sp>
      <p:sp>
        <p:nvSpPr>
          <p:cNvPr id="5" name="Text 3"/>
          <p:cNvSpPr/>
          <p:nvPr/>
        </p:nvSpPr>
        <p:spPr>
          <a:xfrm>
            <a:off x="7452360" y="1600200"/>
            <a:ext cx="4023360" cy="32004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Sănătatea publică</a:t>
            </a:r>
            <a:endParaRPr lang="en-US" sz="1500" dirty="0"/>
          </a:p>
        </p:txBody>
      </p:sp>
      <p:sp>
        <p:nvSpPr>
          <p:cNvPr id="6" name="Shape 4"/>
          <p:cNvSpPr/>
          <p:nvPr/>
        </p:nvSpPr>
        <p:spPr>
          <a:xfrm>
            <a:off x="594360" y="1965960"/>
            <a:ext cx="10972800" cy="658368"/>
          </a:xfrm>
          <a:prstGeom prst="roundRect">
            <a:avLst>
              <a:gd name="adj" fmla="val 12500"/>
            </a:avLst>
          </a:prstGeom>
          <a:solidFill>
            <a:srgbClr val="ECEAE4"/>
          </a:solidFill>
          <a:ln w="12700">
            <a:solidFill>
              <a:srgbClr val="ECEAE4"/>
            </a:solidFill>
            <a:prstDash val="solid"/>
          </a:ln>
        </p:spPr>
        <p:txBody>
          <a:bodyPr/>
          <a:p/>
        </p:txBody>
      </p:sp>
      <p:sp>
        <p:nvSpPr>
          <p:cNvPr id="7" name="Text 5"/>
          <p:cNvSpPr/>
          <p:nvPr/>
        </p:nvSpPr>
        <p:spPr>
          <a:xfrm>
            <a:off x="822960" y="1965960"/>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Unitatea de analiză</a:t>
            </a:r>
            <a:endParaRPr lang="en-US" sz="1500" dirty="0"/>
          </a:p>
        </p:txBody>
      </p:sp>
      <p:sp>
        <p:nvSpPr>
          <p:cNvPr id="8" name="Text 6"/>
          <p:cNvSpPr/>
          <p:nvPr/>
        </p:nvSpPr>
        <p:spPr>
          <a:xfrm>
            <a:off x="3611880" y="1965960"/>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pacientul</a:t>
            </a:r>
            <a:endParaRPr lang="en-US" sz="1500" dirty="0"/>
          </a:p>
        </p:txBody>
      </p:sp>
      <p:sp>
        <p:nvSpPr>
          <p:cNvPr id="9" name="Text 7"/>
          <p:cNvSpPr/>
          <p:nvPr/>
        </p:nvSpPr>
        <p:spPr>
          <a:xfrm>
            <a:off x="7452360" y="1965960"/>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populația sau comunitatea</a:t>
            </a:r>
            <a:endParaRPr lang="en-US" sz="1500" dirty="0"/>
          </a:p>
        </p:txBody>
      </p:sp>
      <p:sp>
        <p:nvSpPr>
          <p:cNvPr id="10" name="Shape 8"/>
          <p:cNvSpPr/>
          <p:nvPr/>
        </p:nvSpPr>
        <p:spPr>
          <a:xfrm>
            <a:off x="594360" y="2715768"/>
            <a:ext cx="10972800" cy="658368"/>
          </a:xfrm>
          <a:prstGeom prst="roundRect">
            <a:avLst>
              <a:gd name="adj" fmla="val 12500"/>
            </a:avLst>
          </a:prstGeom>
          <a:solidFill>
            <a:srgbClr val="F9F8F5"/>
          </a:solidFill>
          <a:ln w="12700">
            <a:solidFill>
              <a:srgbClr val="F9F8F5"/>
            </a:solidFill>
            <a:prstDash val="solid"/>
          </a:ln>
        </p:spPr>
        <p:txBody>
          <a:bodyPr/>
          <a:p/>
        </p:txBody>
      </p:sp>
      <p:sp>
        <p:nvSpPr>
          <p:cNvPr id="11" name="Text 9"/>
          <p:cNvSpPr/>
          <p:nvPr/>
        </p:nvSpPr>
        <p:spPr>
          <a:xfrm>
            <a:off x="822960" y="2715768"/>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Obiectivul principal</a:t>
            </a:r>
            <a:endParaRPr lang="en-US" sz="1500" dirty="0"/>
          </a:p>
        </p:txBody>
      </p:sp>
      <p:sp>
        <p:nvSpPr>
          <p:cNvPr id="12" name="Text 10"/>
          <p:cNvSpPr/>
          <p:nvPr/>
        </p:nvSpPr>
        <p:spPr>
          <a:xfrm>
            <a:off x="3611880" y="2715768"/>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diagnosticul și tratamentul bolii</a:t>
            </a:r>
            <a:endParaRPr lang="en-US" sz="1500" dirty="0"/>
          </a:p>
        </p:txBody>
      </p:sp>
      <p:sp>
        <p:nvSpPr>
          <p:cNvPr id="13" name="Text 11"/>
          <p:cNvSpPr/>
          <p:nvPr/>
        </p:nvSpPr>
        <p:spPr>
          <a:xfrm>
            <a:off x="7452360" y="2715768"/>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prevenția, promovarea sănătății, protecția populației</a:t>
            </a:r>
            <a:endParaRPr lang="en-US" sz="1500" dirty="0"/>
          </a:p>
        </p:txBody>
      </p:sp>
      <p:sp>
        <p:nvSpPr>
          <p:cNvPr id="14" name="Shape 12"/>
          <p:cNvSpPr/>
          <p:nvPr/>
        </p:nvSpPr>
        <p:spPr>
          <a:xfrm>
            <a:off x="594360" y="3465576"/>
            <a:ext cx="10972800" cy="658368"/>
          </a:xfrm>
          <a:prstGeom prst="roundRect">
            <a:avLst>
              <a:gd name="adj" fmla="val 12500"/>
            </a:avLst>
          </a:prstGeom>
          <a:solidFill>
            <a:srgbClr val="ECEAE4"/>
          </a:solidFill>
          <a:ln w="12700">
            <a:solidFill>
              <a:srgbClr val="ECEAE4"/>
            </a:solidFill>
            <a:prstDash val="solid"/>
          </a:ln>
        </p:spPr>
        <p:txBody>
          <a:bodyPr/>
          <a:p/>
        </p:txBody>
      </p:sp>
      <p:sp>
        <p:nvSpPr>
          <p:cNvPr id="15" name="Text 13"/>
          <p:cNvSpPr/>
          <p:nvPr/>
        </p:nvSpPr>
        <p:spPr>
          <a:xfrm>
            <a:off x="822960" y="3465576"/>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Momentul intervenției</a:t>
            </a:r>
            <a:endParaRPr lang="en-US" sz="1500" dirty="0"/>
          </a:p>
        </p:txBody>
      </p:sp>
      <p:sp>
        <p:nvSpPr>
          <p:cNvPr id="16" name="Text 14"/>
          <p:cNvSpPr/>
          <p:nvPr/>
        </p:nvSpPr>
        <p:spPr>
          <a:xfrm>
            <a:off x="3611880" y="3465576"/>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 regulă, după apariția simptomelor</a:t>
            </a:r>
            <a:endParaRPr lang="en-US" sz="1500" dirty="0"/>
          </a:p>
        </p:txBody>
      </p:sp>
      <p:sp>
        <p:nvSpPr>
          <p:cNvPr id="17" name="Text 15"/>
          <p:cNvSpPr/>
          <p:nvPr/>
        </p:nvSpPr>
        <p:spPr>
          <a:xfrm>
            <a:off x="7452360" y="3465576"/>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 regulă, înainte de apariția bolii</a:t>
            </a:r>
            <a:endParaRPr lang="en-US" sz="1500" dirty="0"/>
          </a:p>
        </p:txBody>
      </p:sp>
      <p:sp>
        <p:nvSpPr>
          <p:cNvPr id="18" name="Shape 16"/>
          <p:cNvSpPr/>
          <p:nvPr/>
        </p:nvSpPr>
        <p:spPr>
          <a:xfrm>
            <a:off x="594360" y="4215384"/>
            <a:ext cx="10972800" cy="658368"/>
          </a:xfrm>
          <a:prstGeom prst="roundRect">
            <a:avLst>
              <a:gd name="adj" fmla="val 12500"/>
            </a:avLst>
          </a:prstGeom>
          <a:solidFill>
            <a:srgbClr val="F9F8F5"/>
          </a:solidFill>
          <a:ln w="12700">
            <a:solidFill>
              <a:srgbClr val="F9F8F5"/>
            </a:solidFill>
            <a:prstDash val="solid"/>
          </a:ln>
        </p:spPr>
        <p:txBody>
          <a:bodyPr/>
          <a:p/>
        </p:txBody>
      </p:sp>
      <p:sp>
        <p:nvSpPr>
          <p:cNvPr id="19" name="Text 17"/>
          <p:cNvSpPr/>
          <p:nvPr/>
        </p:nvSpPr>
        <p:spPr>
          <a:xfrm>
            <a:off x="822960" y="4215384"/>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Instrumentele</a:t>
            </a:r>
            <a:endParaRPr lang="en-US" sz="1500" dirty="0"/>
          </a:p>
        </p:txBody>
      </p:sp>
      <p:sp>
        <p:nvSpPr>
          <p:cNvPr id="20" name="Text 18"/>
          <p:cNvSpPr/>
          <p:nvPr/>
        </p:nvSpPr>
        <p:spPr>
          <a:xfrm>
            <a:off x="3611880" y="4215384"/>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examenul clinic, investigațiile, tratamentul</a:t>
            </a:r>
            <a:endParaRPr lang="en-US" sz="1500" dirty="0"/>
          </a:p>
        </p:txBody>
      </p:sp>
      <p:sp>
        <p:nvSpPr>
          <p:cNvPr id="21" name="Text 19"/>
          <p:cNvSpPr/>
          <p:nvPr/>
        </p:nvSpPr>
        <p:spPr>
          <a:xfrm>
            <a:off x="7452360" y="4215384"/>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supravegherea, epidemiologia, politicile, legislația, programele</a:t>
            </a:r>
            <a:endParaRPr lang="en-US" sz="1500" dirty="0"/>
          </a:p>
        </p:txBody>
      </p:sp>
      <p:sp>
        <p:nvSpPr>
          <p:cNvPr id="22" name="Shape 20"/>
          <p:cNvSpPr/>
          <p:nvPr/>
        </p:nvSpPr>
        <p:spPr>
          <a:xfrm>
            <a:off x="594360" y="4965192"/>
            <a:ext cx="10972800" cy="658368"/>
          </a:xfrm>
          <a:prstGeom prst="roundRect">
            <a:avLst>
              <a:gd name="adj" fmla="val 12500"/>
            </a:avLst>
          </a:prstGeom>
          <a:solidFill>
            <a:srgbClr val="ECEAE4"/>
          </a:solidFill>
          <a:ln w="12700">
            <a:solidFill>
              <a:srgbClr val="ECEAE4"/>
            </a:solidFill>
            <a:prstDash val="solid"/>
          </a:ln>
        </p:spPr>
        <p:txBody>
          <a:bodyPr/>
          <a:p/>
        </p:txBody>
      </p:sp>
      <p:sp>
        <p:nvSpPr>
          <p:cNvPr id="23" name="Text 21"/>
          <p:cNvSpPr/>
          <p:nvPr/>
        </p:nvSpPr>
        <p:spPr>
          <a:xfrm>
            <a:off x="822960" y="4965192"/>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Măsura succesului</a:t>
            </a:r>
            <a:endParaRPr lang="en-US" sz="1500" dirty="0"/>
          </a:p>
        </p:txBody>
      </p:sp>
      <p:sp>
        <p:nvSpPr>
          <p:cNvPr id="24" name="Text 22"/>
          <p:cNvSpPr/>
          <p:nvPr/>
        </p:nvSpPr>
        <p:spPr>
          <a:xfrm>
            <a:off x="3611880" y="4965192"/>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pacientul vindecat sau ameliorat</a:t>
            </a:r>
            <a:endParaRPr lang="en-US" sz="1500" dirty="0"/>
          </a:p>
        </p:txBody>
      </p:sp>
      <p:sp>
        <p:nvSpPr>
          <p:cNvPr id="25" name="Text 23"/>
          <p:cNvSpPr/>
          <p:nvPr/>
        </p:nvSpPr>
        <p:spPr>
          <a:xfrm>
            <a:off x="7452360" y="4965192"/>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boala mai rară și diferențe mai mici între grupuri</a:t>
            </a:r>
            <a:endParaRPr lang="en-US" sz="1500" dirty="0"/>
          </a:p>
        </p:txBody>
      </p:sp>
      <p:sp>
        <p:nvSpPr>
          <p:cNvPr id="26" name="Text 24"/>
          <p:cNvSpPr/>
          <p:nvPr/>
        </p:nvSpPr>
        <p:spPr>
          <a:xfrm>
            <a:off x="594360" y="5852160"/>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Comparație didactică, construită pentru acest curs: descrie accente, nu granițe rigide; același medic lucrează adesea în ambele registre.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ESTE SĂNĂTATEA PUBLICĂ</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O definiție veche de un secol, lărgită pe drum</a:t>
            </a:r>
            <a:endParaRPr lang="en-US" sz="3000" dirty="0"/>
          </a:p>
        </p:txBody>
      </p:sp>
      <p:sp>
        <p:nvSpPr>
          <p:cNvPr id="4" name="Shape 2"/>
          <p:cNvSpPr/>
          <p:nvPr/>
        </p:nvSpPr>
        <p:spPr>
          <a:xfrm>
            <a:off x="594360" y="2148840"/>
            <a:ext cx="10972800" cy="27432"/>
          </a:xfrm>
          <a:prstGeom prst="rect">
            <a:avLst/>
          </a:prstGeom>
          <a:solidFill>
            <a:srgbClr val="3A3E52"/>
          </a:solidFill>
          <a:ln w="12700">
            <a:solidFill>
              <a:srgbClr val="3A3E52"/>
            </a:solidFill>
            <a:prstDash val="solid"/>
          </a:ln>
        </p:spPr>
        <p:txBody>
          <a:bodyPr/>
          <a:p/>
        </p:txBody>
      </p:sp>
      <p:sp>
        <p:nvSpPr>
          <p:cNvPr id="5" name="Shape 3"/>
          <p:cNvSpPr/>
          <p:nvPr/>
        </p:nvSpPr>
        <p:spPr>
          <a:xfrm>
            <a:off x="612648" y="2057400"/>
            <a:ext cx="219456" cy="219456"/>
          </a:xfrm>
          <a:prstGeom prst="ellipse">
            <a:avLst/>
          </a:prstGeom>
          <a:solidFill>
            <a:srgbClr val="FFC24B"/>
          </a:solidFill>
          <a:ln w="12700">
            <a:solidFill>
              <a:srgbClr val="FFC24B"/>
            </a:solidFill>
            <a:prstDash val="solid"/>
          </a:ln>
        </p:spPr>
        <p:txBody>
          <a:bodyPr/>
          <a:p/>
        </p:txBody>
      </p:sp>
      <p:sp>
        <p:nvSpPr>
          <p:cNvPr id="6" name="Text 4"/>
          <p:cNvSpPr/>
          <p:nvPr/>
        </p:nvSpPr>
        <p:spPr>
          <a:xfrm>
            <a:off x="5943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1920</a:t>
            </a:r>
            <a:endParaRPr lang="en-US" sz="2200" dirty="0"/>
          </a:p>
        </p:txBody>
      </p:sp>
      <p:sp>
        <p:nvSpPr>
          <p:cNvPr id="7" name="Text 5"/>
          <p:cNvSpPr/>
          <p:nvPr/>
        </p:nvSpPr>
        <p:spPr>
          <a:xfrm>
            <a:off x="5943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Winslow, Science</a:t>
            </a:r>
            <a:endParaRPr lang="en-US" sz="1400" dirty="0"/>
          </a:p>
        </p:txBody>
      </p:sp>
      <p:sp>
        <p:nvSpPr>
          <p:cNvPr id="8" name="Text 6"/>
          <p:cNvSpPr/>
          <p:nvPr/>
        </p:nvSpPr>
        <p:spPr>
          <a:xfrm>
            <a:off x="5943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Știința și arta de a preveni boala și de a prelungi viața, prin eforturile organizate ale comunității.</a:t>
            </a:r>
            <a:endParaRPr lang="en-US" sz="1350" dirty="0"/>
          </a:p>
        </p:txBody>
      </p:sp>
      <p:sp>
        <p:nvSpPr>
          <p:cNvPr id="9" name="Shape 7"/>
          <p:cNvSpPr/>
          <p:nvPr/>
        </p:nvSpPr>
        <p:spPr>
          <a:xfrm>
            <a:off x="2441448" y="2057400"/>
            <a:ext cx="219456" cy="219456"/>
          </a:xfrm>
          <a:prstGeom prst="ellipse">
            <a:avLst/>
          </a:prstGeom>
          <a:solidFill>
            <a:srgbClr val="FFC24B"/>
          </a:solidFill>
          <a:ln w="12700">
            <a:solidFill>
              <a:srgbClr val="FFC24B"/>
            </a:solidFill>
            <a:prstDash val="solid"/>
          </a:ln>
        </p:spPr>
        <p:txBody>
          <a:bodyPr/>
          <a:p/>
        </p:txBody>
      </p:sp>
      <p:sp>
        <p:nvSpPr>
          <p:cNvPr id="10" name="Text 8"/>
          <p:cNvSpPr/>
          <p:nvPr/>
        </p:nvSpPr>
        <p:spPr>
          <a:xfrm>
            <a:off x="24231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1946</a:t>
            </a:r>
            <a:endParaRPr lang="en-US" sz="2200" dirty="0"/>
          </a:p>
        </p:txBody>
      </p:sp>
      <p:sp>
        <p:nvSpPr>
          <p:cNvPr id="11" name="Text 9"/>
          <p:cNvSpPr/>
          <p:nvPr/>
        </p:nvSpPr>
        <p:spPr>
          <a:xfrm>
            <a:off x="24231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Constituția OMS</a:t>
            </a:r>
            <a:endParaRPr lang="en-US" sz="1400" dirty="0"/>
          </a:p>
        </p:txBody>
      </p:sp>
      <p:sp>
        <p:nvSpPr>
          <p:cNvPr id="12" name="Text 10"/>
          <p:cNvSpPr/>
          <p:nvPr/>
        </p:nvSpPr>
        <p:spPr>
          <a:xfrm>
            <a:off x="24231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Sănătatea: o stare de complet bine fizic, mintal și social, nu doar absența bolii.</a:t>
            </a:r>
            <a:endParaRPr lang="en-US" sz="1350" dirty="0"/>
          </a:p>
        </p:txBody>
      </p:sp>
      <p:sp>
        <p:nvSpPr>
          <p:cNvPr id="13" name="Shape 11"/>
          <p:cNvSpPr/>
          <p:nvPr/>
        </p:nvSpPr>
        <p:spPr>
          <a:xfrm>
            <a:off x="4270248" y="2057400"/>
            <a:ext cx="219456" cy="219456"/>
          </a:xfrm>
          <a:prstGeom prst="ellipse">
            <a:avLst/>
          </a:prstGeom>
          <a:solidFill>
            <a:srgbClr val="FFC24B"/>
          </a:solidFill>
          <a:ln w="12700">
            <a:solidFill>
              <a:srgbClr val="FFC24B"/>
            </a:solidFill>
            <a:prstDash val="solid"/>
          </a:ln>
        </p:spPr>
        <p:txBody>
          <a:bodyPr/>
          <a:p/>
        </p:txBody>
      </p:sp>
      <p:sp>
        <p:nvSpPr>
          <p:cNvPr id="14" name="Text 12"/>
          <p:cNvSpPr/>
          <p:nvPr/>
        </p:nvSpPr>
        <p:spPr>
          <a:xfrm>
            <a:off x="42519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1988</a:t>
            </a:r>
            <a:endParaRPr lang="en-US" sz="2200" dirty="0"/>
          </a:p>
        </p:txBody>
      </p:sp>
      <p:sp>
        <p:nvSpPr>
          <p:cNvPr id="15" name="Text 13"/>
          <p:cNvSpPr/>
          <p:nvPr/>
        </p:nvSpPr>
        <p:spPr>
          <a:xfrm>
            <a:off x="42519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Raportul Acheson</a:t>
            </a:r>
            <a:endParaRPr lang="en-US" sz="1400" dirty="0"/>
          </a:p>
        </p:txBody>
      </p:sp>
      <p:sp>
        <p:nvSpPr>
          <p:cNvPr id="16" name="Text 14"/>
          <p:cNvSpPr/>
          <p:nvPr/>
        </p:nvSpPr>
        <p:spPr>
          <a:xfrm>
            <a:off x="42519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O definiție concisă, apropiată de cea a lui Winslow.</a:t>
            </a:r>
            <a:endParaRPr lang="en-US" sz="1350" dirty="0"/>
          </a:p>
        </p:txBody>
      </p:sp>
      <p:sp>
        <p:nvSpPr>
          <p:cNvPr id="17" name="Shape 15"/>
          <p:cNvSpPr/>
          <p:nvPr/>
        </p:nvSpPr>
        <p:spPr>
          <a:xfrm>
            <a:off x="6099048" y="2057400"/>
            <a:ext cx="219456" cy="219456"/>
          </a:xfrm>
          <a:prstGeom prst="ellipse">
            <a:avLst/>
          </a:prstGeom>
          <a:solidFill>
            <a:srgbClr val="FFC24B"/>
          </a:solidFill>
          <a:ln w="12700">
            <a:solidFill>
              <a:srgbClr val="FFC24B"/>
            </a:solidFill>
            <a:prstDash val="solid"/>
          </a:ln>
        </p:spPr>
        <p:txBody>
          <a:bodyPr/>
          <a:p/>
        </p:txBody>
      </p:sp>
      <p:sp>
        <p:nvSpPr>
          <p:cNvPr id="18" name="Text 16"/>
          <p:cNvSpPr/>
          <p:nvPr/>
        </p:nvSpPr>
        <p:spPr>
          <a:xfrm>
            <a:off x="60807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1998</a:t>
            </a:r>
            <a:endParaRPr lang="en-US" sz="2200" dirty="0"/>
          </a:p>
        </p:txBody>
      </p:sp>
      <p:sp>
        <p:nvSpPr>
          <p:cNvPr id="19" name="Text 17"/>
          <p:cNvSpPr/>
          <p:nvPr/>
        </p:nvSpPr>
        <p:spPr>
          <a:xfrm>
            <a:off x="60807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Glosarul OMS</a:t>
            </a:r>
            <a:endParaRPr lang="en-US" sz="1400" dirty="0"/>
          </a:p>
        </p:txBody>
      </p:sp>
      <p:sp>
        <p:nvSpPr>
          <p:cNvPr id="20" name="Text 18"/>
          <p:cNvSpPr/>
          <p:nvPr/>
        </p:nvSpPr>
        <p:spPr>
          <a:xfrm>
            <a:off x="60807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„Comunitatea” devine „societatea”: un concept social și politic.</a:t>
            </a:r>
            <a:endParaRPr lang="en-US" sz="1350" dirty="0"/>
          </a:p>
        </p:txBody>
      </p:sp>
      <p:sp>
        <p:nvSpPr>
          <p:cNvPr id="21" name="Shape 19"/>
          <p:cNvSpPr/>
          <p:nvPr/>
        </p:nvSpPr>
        <p:spPr>
          <a:xfrm>
            <a:off x="7927848" y="2057400"/>
            <a:ext cx="219456" cy="219456"/>
          </a:xfrm>
          <a:prstGeom prst="ellipse">
            <a:avLst/>
          </a:prstGeom>
          <a:solidFill>
            <a:srgbClr val="FFC24B"/>
          </a:solidFill>
          <a:ln w="12700">
            <a:solidFill>
              <a:srgbClr val="FFC24B"/>
            </a:solidFill>
            <a:prstDash val="solid"/>
          </a:ln>
        </p:spPr>
        <p:txBody>
          <a:bodyPr/>
          <a:p/>
        </p:txBody>
      </p:sp>
      <p:sp>
        <p:nvSpPr>
          <p:cNvPr id="22" name="Text 20"/>
          <p:cNvSpPr/>
          <p:nvPr/>
        </p:nvSpPr>
        <p:spPr>
          <a:xfrm>
            <a:off x="79095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95/2006</a:t>
            </a:r>
            <a:endParaRPr lang="en-US" sz="2200" dirty="0"/>
          </a:p>
        </p:txBody>
      </p:sp>
      <p:sp>
        <p:nvSpPr>
          <p:cNvPr id="23" name="Text 21"/>
          <p:cNvSpPr/>
          <p:nvPr/>
        </p:nvSpPr>
        <p:spPr>
          <a:xfrm>
            <a:off x="79095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Legea sănătății</a:t>
            </a:r>
            <a:endParaRPr lang="en-US" sz="1400" dirty="0"/>
          </a:p>
        </p:txBody>
      </p:sp>
      <p:sp>
        <p:nvSpPr>
          <p:cNvPr id="24" name="Text 22"/>
          <p:cNvSpPr/>
          <p:nvPr/>
        </p:nvSpPr>
        <p:spPr>
          <a:xfrm>
            <a:off x="79095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Separă starea de sănătate a populației de efortul care o protejează.</a:t>
            </a:r>
            <a:endParaRPr lang="en-US" sz="1350" dirty="0"/>
          </a:p>
        </p:txBody>
      </p:sp>
      <p:sp>
        <p:nvSpPr>
          <p:cNvPr id="25" name="Shape 23"/>
          <p:cNvSpPr/>
          <p:nvPr/>
        </p:nvSpPr>
        <p:spPr>
          <a:xfrm>
            <a:off x="9756648" y="2057400"/>
            <a:ext cx="219456" cy="219456"/>
          </a:xfrm>
          <a:prstGeom prst="ellipse">
            <a:avLst/>
          </a:prstGeom>
          <a:solidFill>
            <a:srgbClr val="FFC24B"/>
          </a:solidFill>
          <a:ln w="12700">
            <a:solidFill>
              <a:srgbClr val="FFC24B"/>
            </a:solidFill>
            <a:prstDash val="solid"/>
          </a:ln>
        </p:spPr>
        <p:txBody>
          <a:bodyPr/>
          <a:p/>
        </p:txBody>
      </p:sp>
      <p:sp>
        <p:nvSpPr>
          <p:cNvPr id="26" name="Text 24"/>
          <p:cNvSpPr/>
          <p:nvPr/>
        </p:nvSpPr>
        <p:spPr>
          <a:xfrm>
            <a:off x="97383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2012</a:t>
            </a:r>
            <a:endParaRPr lang="en-US" sz="2200" dirty="0"/>
          </a:p>
        </p:txBody>
      </p:sp>
      <p:sp>
        <p:nvSpPr>
          <p:cNvPr id="27" name="Text 25"/>
          <p:cNvSpPr/>
          <p:nvPr/>
        </p:nvSpPr>
        <p:spPr>
          <a:xfrm>
            <a:off x="97383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Planul european OMS</a:t>
            </a:r>
            <a:endParaRPr lang="en-US" sz="1400" dirty="0"/>
          </a:p>
        </p:txBody>
      </p:sp>
      <p:sp>
        <p:nvSpPr>
          <p:cNvPr id="28" name="Text 26"/>
          <p:cNvSpPr/>
          <p:nvPr/>
        </p:nvSpPr>
        <p:spPr>
          <a:xfrm>
            <a:off x="97383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Aceeași definiție, cu trimitere la raportul Acheson.</a:t>
            </a:r>
            <a:endParaRPr lang="en-US" sz="1350" dirty="0"/>
          </a:p>
        </p:txBody>
      </p:sp>
      <p:sp>
        <p:nvSpPr>
          <p:cNvPr id="29" name="Shape 27"/>
          <p:cNvSpPr/>
          <p:nvPr/>
        </p:nvSpPr>
        <p:spPr>
          <a:xfrm>
            <a:off x="594360" y="4846320"/>
            <a:ext cx="10972800" cy="1051560"/>
          </a:xfrm>
          <a:prstGeom prst="roundRect">
            <a:avLst>
              <a:gd name="adj" fmla="val 7826"/>
            </a:avLst>
          </a:prstGeom>
          <a:solidFill>
            <a:srgbClr val="1D1F2B"/>
          </a:solidFill>
          <a:ln w="12700">
            <a:solidFill>
              <a:srgbClr val="1D1F2B"/>
            </a:solidFill>
            <a:prstDash val="solid"/>
          </a:ln>
        </p:spPr>
        <p:txBody>
          <a:bodyPr/>
          <a:p/>
        </p:txBody>
      </p:sp>
      <p:sp>
        <p:nvSpPr>
          <p:cNvPr id="30" name="Text 28"/>
          <p:cNvSpPr/>
          <p:nvPr/>
        </p:nvSpPr>
        <p:spPr>
          <a:xfrm>
            <a:off x="868680" y="4846320"/>
            <a:ext cx="10424160" cy="105156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Sănătatea publică: știința și arta de a promova sănătatea, de a preveni boala și de a prelungi viața prin eforturile organizate ale societății.</a:t>
            </a:r>
            <a:endParaRPr lang="en-US" sz="1800" dirty="0"/>
          </a:p>
        </p:txBody>
      </p:sp>
      <p:sp>
        <p:nvSpPr>
          <p:cNvPr id="31" name="Text 2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Definiția: glosarul OMS de promovare a sănătății (1998), adaptată după raportul Acheson (1988).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WINSLOW, 1920 · TEXTUL COMPLET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Numai una din cinci direcții privește serviciile medicale</a:t>
            </a:r>
            <a:endParaRPr lang="en-US" sz="2900" dirty="0"/>
          </a:p>
        </p:txBody>
      </p:sp>
      <p:sp>
        <p:nvSpPr>
          <p:cNvPr id="4" name="Shape 2"/>
          <p:cNvSpPr/>
          <p:nvPr/>
        </p:nvSpPr>
        <p:spPr>
          <a:xfrm>
            <a:off x="594360" y="173736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5" name="Shape 3"/>
          <p:cNvSpPr/>
          <p:nvPr/>
        </p:nvSpPr>
        <p:spPr>
          <a:xfrm>
            <a:off x="822960" y="1837944"/>
            <a:ext cx="420624" cy="420624"/>
          </a:xfrm>
          <a:prstGeom prst="ellipse">
            <a:avLst/>
          </a:prstGeom>
          <a:solidFill>
            <a:srgbClr val="585A64"/>
          </a:solidFill>
          <a:ln/>
        </p:spPr>
        <p:txBody>
          <a:bodyPr/>
          <a:p/>
        </p:txBody>
      </p:sp>
      <p:sp>
        <p:nvSpPr>
          <p:cNvPr id="6" name="Text 4"/>
          <p:cNvSpPr/>
          <p:nvPr/>
        </p:nvSpPr>
        <p:spPr>
          <a:xfrm>
            <a:off x="822960" y="1837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73736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salubrizarea mediului</a:t>
            </a:r>
            <a:endParaRPr lang="en-US" sz="1700" dirty="0"/>
          </a:p>
        </p:txBody>
      </p:sp>
      <p:sp>
        <p:nvSpPr>
          <p:cNvPr id="8" name="Shape 6"/>
          <p:cNvSpPr/>
          <p:nvPr/>
        </p:nvSpPr>
        <p:spPr>
          <a:xfrm>
            <a:off x="594360" y="246888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9" name="Shape 7"/>
          <p:cNvSpPr/>
          <p:nvPr/>
        </p:nvSpPr>
        <p:spPr>
          <a:xfrm>
            <a:off x="822960" y="2569464"/>
            <a:ext cx="420624" cy="420624"/>
          </a:xfrm>
          <a:prstGeom prst="ellipse">
            <a:avLst/>
          </a:prstGeom>
          <a:solidFill>
            <a:srgbClr val="585A64"/>
          </a:solidFill>
          <a:ln/>
        </p:spPr>
        <p:txBody>
          <a:bodyPr/>
          <a:p/>
        </p:txBody>
      </p:sp>
      <p:sp>
        <p:nvSpPr>
          <p:cNvPr id="10" name="Text 8"/>
          <p:cNvSpPr/>
          <p:nvPr/>
        </p:nvSpPr>
        <p:spPr>
          <a:xfrm>
            <a:off x="822960" y="25694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46888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controlul infecțiilor din comunitate</a:t>
            </a:r>
            <a:endParaRPr lang="en-US" sz="1700" dirty="0"/>
          </a:p>
        </p:txBody>
      </p:sp>
      <p:sp>
        <p:nvSpPr>
          <p:cNvPr id="12" name="Shape 10"/>
          <p:cNvSpPr/>
          <p:nvPr/>
        </p:nvSpPr>
        <p:spPr>
          <a:xfrm>
            <a:off x="594360" y="3200400"/>
            <a:ext cx="10972800" cy="621792"/>
          </a:xfrm>
          <a:prstGeom prst="roundRect">
            <a:avLst>
              <a:gd name="adj" fmla="val 13235"/>
            </a:avLst>
          </a:prstGeom>
          <a:solidFill>
            <a:srgbClr val="ECEAE4"/>
          </a:solidFill>
          <a:ln w="12700">
            <a:solidFill>
              <a:srgbClr val="ECEAE4"/>
            </a:solidFill>
            <a:prstDash val="solid"/>
          </a:ln>
        </p:spPr>
        <p:txBody>
          <a:bodyPr/>
          <a:p/>
        </p:txBody>
      </p:sp>
      <p:sp>
        <p:nvSpPr>
          <p:cNvPr id="13" name="Shape 11"/>
          <p:cNvSpPr/>
          <p:nvPr/>
        </p:nvSpPr>
        <p:spPr>
          <a:xfrm>
            <a:off x="822960" y="3300984"/>
            <a:ext cx="420624" cy="420624"/>
          </a:xfrm>
          <a:prstGeom prst="ellipse">
            <a:avLst/>
          </a:prstGeom>
          <a:solidFill>
            <a:srgbClr val="585A64"/>
          </a:solidFill>
          <a:ln/>
        </p:spPr>
        <p:txBody>
          <a:bodyPr/>
          <a:p/>
        </p:txBody>
      </p:sp>
      <p:sp>
        <p:nvSpPr>
          <p:cNvPr id="14" name="Text 12"/>
          <p:cNvSpPr/>
          <p:nvPr/>
        </p:nvSpPr>
        <p:spPr>
          <a:xfrm>
            <a:off x="822960" y="3300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20040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educarea fiecărei persoane în igiena personală</a:t>
            </a:r>
            <a:endParaRPr lang="en-US" sz="1700" dirty="0"/>
          </a:p>
        </p:txBody>
      </p:sp>
      <p:sp>
        <p:nvSpPr>
          <p:cNvPr id="16" name="Shape 14"/>
          <p:cNvSpPr/>
          <p:nvPr/>
        </p:nvSpPr>
        <p:spPr>
          <a:xfrm>
            <a:off x="594360" y="3931920"/>
            <a:ext cx="10972800" cy="621792"/>
          </a:xfrm>
          <a:prstGeom prst="roundRect">
            <a:avLst>
              <a:gd name="adj" fmla="val 13235"/>
            </a:avLst>
          </a:prstGeom>
          <a:solidFill>
            <a:srgbClr val="DDF3EF"/>
          </a:solidFill>
          <a:ln w="12700">
            <a:solidFill>
              <a:srgbClr val="DDF3EF"/>
            </a:solidFill>
            <a:prstDash val="solid"/>
          </a:ln>
        </p:spPr>
        <p:txBody>
          <a:bodyPr/>
          <a:p/>
        </p:txBody>
      </p:sp>
      <p:sp>
        <p:nvSpPr>
          <p:cNvPr id="17" name="Shape 15"/>
          <p:cNvSpPr/>
          <p:nvPr/>
        </p:nvSpPr>
        <p:spPr>
          <a:xfrm>
            <a:off x="822960" y="4032504"/>
            <a:ext cx="420624" cy="420624"/>
          </a:xfrm>
          <a:prstGeom prst="ellipse">
            <a:avLst/>
          </a:prstGeom>
          <a:solidFill>
            <a:srgbClr val="0E7C6B"/>
          </a:solidFill>
          <a:ln/>
        </p:spPr>
        <p:txBody>
          <a:bodyPr/>
          <a:p/>
        </p:txBody>
      </p:sp>
      <p:sp>
        <p:nvSpPr>
          <p:cNvPr id="18" name="Text 16"/>
          <p:cNvSpPr/>
          <p:nvPr/>
        </p:nvSpPr>
        <p:spPr>
          <a:xfrm>
            <a:off x="822960" y="4032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3931920"/>
            <a:ext cx="9875520" cy="62179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organizarea serviciilor medicale și de nursing pentru diagnosticul precoce și tratamentul preventiv</a:t>
            </a:r>
            <a:endParaRPr lang="en-US" sz="1700" dirty="0"/>
          </a:p>
        </p:txBody>
      </p:sp>
      <p:sp>
        <p:nvSpPr>
          <p:cNvPr id="20" name="Shape 18"/>
          <p:cNvSpPr/>
          <p:nvPr/>
        </p:nvSpPr>
        <p:spPr>
          <a:xfrm>
            <a:off x="594360" y="4663440"/>
            <a:ext cx="10972800" cy="621792"/>
          </a:xfrm>
          <a:prstGeom prst="roundRect">
            <a:avLst>
              <a:gd name="adj" fmla="val 13235"/>
            </a:avLst>
          </a:prstGeom>
          <a:solidFill>
            <a:srgbClr val="FFE3E6"/>
          </a:solidFill>
          <a:ln w="12700">
            <a:solidFill>
              <a:srgbClr val="FFE3E6"/>
            </a:solidFill>
            <a:prstDash val="solid"/>
          </a:ln>
        </p:spPr>
        <p:txBody>
          <a:bodyPr/>
          <a:p/>
        </p:txBody>
      </p:sp>
      <p:sp>
        <p:nvSpPr>
          <p:cNvPr id="21" name="Shape 19"/>
          <p:cNvSpPr/>
          <p:nvPr/>
        </p:nvSpPr>
        <p:spPr>
          <a:xfrm>
            <a:off x="822960" y="4764024"/>
            <a:ext cx="420624" cy="420624"/>
          </a:xfrm>
          <a:prstGeom prst="ellipse">
            <a:avLst/>
          </a:prstGeom>
          <a:solidFill>
            <a:srgbClr val="B02532"/>
          </a:solidFill>
          <a:ln/>
        </p:spPr>
        <p:txBody>
          <a:bodyPr/>
          <a:p/>
        </p:txBody>
      </p:sp>
      <p:sp>
        <p:nvSpPr>
          <p:cNvPr id="22" name="Text 20"/>
          <p:cNvSpPr/>
          <p:nvPr/>
        </p:nvSpPr>
        <p:spPr>
          <a:xfrm>
            <a:off x="822960"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463040" y="4663440"/>
            <a:ext cx="9875520" cy="62179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un mecanism social care să asigure fiecăruia un nivel de trai adecvat menținerii sănătății</a:t>
            </a:r>
            <a:endParaRPr lang="en-US" sz="1700" dirty="0"/>
          </a:p>
        </p:txBody>
      </p:sp>
      <p:sp>
        <p:nvSpPr>
          <p:cNvPr id="24" name="Text 22"/>
          <p:cNvSpPr/>
          <p:nvPr/>
        </p:nvSpPr>
        <p:spPr>
          <a:xfrm>
            <a:off x="594360" y="5486400"/>
            <a:ext cx="1097280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Enumerarea se încheie cu nivelul de trai, o condiție socială: deschiderea spre ceea ce astăzi se numește determinanții sociali ai sănătății.</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LEGEA NR. 95/2006 · O DISTINCȚIE DE EXAMEN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Efortul și starea: două noțiuni, două nume</a:t>
            </a:r>
            <a:endParaRPr lang="en-US" sz="3200" dirty="0"/>
          </a:p>
        </p:txBody>
      </p:sp>
      <p:sp>
        <p:nvSpPr>
          <p:cNvPr id="4" name="Shape 2"/>
          <p:cNvSpPr/>
          <p:nvPr/>
        </p:nvSpPr>
        <p:spPr>
          <a:xfrm>
            <a:off x="594360" y="1737360"/>
            <a:ext cx="5303520" cy="3429000"/>
          </a:xfrm>
          <a:prstGeom prst="rect">
            <a:avLst/>
          </a:prstGeom>
          <a:solidFill>
            <a:srgbClr val="FBF8F1"/>
          </a:solidFill>
          <a:ln w="9525">
            <a:solidFill>
              <a:srgbClr val="E4DFD2"/>
            </a:solidFill>
            <a:prstDash val="solid"/>
          </a:ln>
          <a:effectLst>
            <a:outerShdw sx="100000" sy="100000" kx="0" ky="0" algn="bl" rotWithShape="0" blurRad="76200" dist="38100" dir="3600000">
              <a:srgbClr val="000000">
                <a:alpha val="18000"/>
              </a:srgbClr>
            </a:outerShdw>
          </a:effectLst>
        </p:spPr>
        <p:txBody>
          <a:bodyPr/>
          <a:p/>
        </p:txBody>
      </p:sp>
      <p:sp>
        <p:nvSpPr>
          <p:cNvPr id="5" name="Text 3"/>
          <p:cNvSpPr/>
          <p:nvPr/>
        </p:nvSpPr>
        <p:spPr>
          <a:xfrm>
            <a:off x="868680" y="1920240"/>
            <a:ext cx="4754880" cy="32004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ASISTENȚA DE SĂNĂTATE PUBLICĂ</a:t>
            </a:r>
            <a:endParaRPr lang="en-US" sz="1400" dirty="0"/>
          </a:p>
        </p:txBody>
      </p:sp>
      <p:sp>
        <p:nvSpPr>
          <p:cNvPr id="6" name="Shape 4"/>
          <p:cNvSpPr/>
          <p:nvPr/>
        </p:nvSpPr>
        <p:spPr>
          <a:xfrm>
            <a:off x="868680" y="2304288"/>
            <a:ext cx="4754880" cy="18288"/>
          </a:xfrm>
          <a:prstGeom prst="rect">
            <a:avLst/>
          </a:prstGeom>
          <a:solidFill>
            <a:srgbClr val="11121A"/>
          </a:solidFill>
          <a:ln w="12700">
            <a:solidFill>
              <a:srgbClr val="11121A"/>
            </a:solidFill>
            <a:prstDash val="solid"/>
          </a:ln>
        </p:spPr>
        <p:txBody>
          <a:bodyPr/>
          <a:p/>
        </p:txBody>
      </p:sp>
      <p:sp>
        <p:nvSpPr>
          <p:cNvPr id="7" name="Text 5"/>
          <p:cNvSpPr/>
          <p:nvPr/>
        </p:nvSpPr>
        <p:spPr>
          <a:xfrm>
            <a:off x="868680" y="2468880"/>
            <a:ext cx="4754880" cy="1143000"/>
          </a:xfrm>
          <a:prstGeom prst="rect">
            <a:avLst/>
          </a:prstGeom>
          <a:noFill/>
          <a:ln/>
        </p:spPr>
        <p:txBody>
          <a:bodyPr wrap="square" lIns="0" tIns="0" rIns="0" bIns="0" rtlCol="0" anchor="t"/>
          <a:lstStyle/>
          <a:p>
            <a:pPr indent="0" marL="0">
              <a:buNone/>
            </a:pPr>
            <a:r>
              <a:rPr lang="en-US" sz="1800" i="1" dirty="0">
                <a:solidFill>
                  <a:srgbClr val="11121A"/>
                </a:solidFill>
                <a:highlight>
                  <a:srgbClr val="FFE7A3"/>
                </a:highlight>
                <a:latin typeface="Palatino Linotype" pitchFamily="34" charset="0"/>
                <a:ea typeface="Palatino Linotype" pitchFamily="34" charset="-122"/>
                <a:cs typeface="Palatino Linotype" pitchFamily="34" charset="-120"/>
              </a:rPr>
              <a:t>„efortul organizat al societății în vederea protejării și promovării sănătății populației”</a:t>
            </a:r>
            <a:endParaRPr lang="en-US" sz="1800" dirty="0"/>
          </a:p>
        </p:txBody>
      </p:sp>
      <p:sp>
        <p:nvSpPr>
          <p:cNvPr id="8" name="Text 6"/>
          <p:cNvSpPr/>
          <p:nvPr/>
        </p:nvSpPr>
        <p:spPr>
          <a:xfrm>
            <a:off x="868680" y="3657600"/>
            <a:ext cx="4754880" cy="91440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prin politici și legi, prin programe adresate determinanților și prin instituțiile care furnizează serviciile</a:t>
            </a:r>
            <a:endParaRPr lang="en-US" sz="1500" dirty="0"/>
          </a:p>
        </p:txBody>
      </p:sp>
      <p:sp>
        <p:nvSpPr>
          <p:cNvPr id="9" name="Text 7"/>
          <p:cNvSpPr/>
          <p:nvPr/>
        </p:nvSpPr>
        <p:spPr>
          <a:xfrm>
            <a:off x="868680" y="4572000"/>
            <a:ext cx="4754880" cy="4572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 activitatea</a:t>
            </a:r>
            <a:endParaRPr lang="en-US" sz="2000" dirty="0"/>
          </a:p>
        </p:txBody>
      </p:sp>
      <p:sp>
        <p:nvSpPr>
          <p:cNvPr id="10" name="Shape 8"/>
          <p:cNvSpPr/>
          <p:nvPr/>
        </p:nvSpPr>
        <p:spPr>
          <a:xfrm>
            <a:off x="6263640" y="1737360"/>
            <a:ext cx="5303520" cy="3429000"/>
          </a:xfrm>
          <a:prstGeom prst="rect">
            <a:avLst/>
          </a:prstGeom>
          <a:solidFill>
            <a:srgbClr val="FBF8F1"/>
          </a:solidFill>
          <a:ln w="9525">
            <a:solidFill>
              <a:srgbClr val="E4DFD2"/>
            </a:solidFill>
            <a:prstDash val="solid"/>
          </a:ln>
          <a:effectLst>
            <a:outerShdw sx="100000" sy="100000" kx="0" ky="0" algn="bl" rotWithShape="0" blurRad="76200" dist="38100" dir="3600000">
              <a:srgbClr val="000000">
                <a:alpha val="18000"/>
              </a:srgbClr>
            </a:outerShdw>
          </a:effectLst>
        </p:spPr>
        <p:txBody>
          <a:bodyPr/>
          <a:p/>
        </p:txBody>
      </p:sp>
      <p:sp>
        <p:nvSpPr>
          <p:cNvPr id="11" name="Text 9"/>
          <p:cNvSpPr/>
          <p:nvPr/>
        </p:nvSpPr>
        <p:spPr>
          <a:xfrm>
            <a:off x="6537960" y="1920240"/>
            <a:ext cx="4754880" cy="32004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SĂNĂTATEA PUBLICĂ</a:t>
            </a:r>
            <a:endParaRPr lang="en-US" sz="1400" dirty="0"/>
          </a:p>
        </p:txBody>
      </p:sp>
      <p:sp>
        <p:nvSpPr>
          <p:cNvPr id="12" name="Shape 10"/>
          <p:cNvSpPr/>
          <p:nvPr/>
        </p:nvSpPr>
        <p:spPr>
          <a:xfrm>
            <a:off x="6537960" y="2304288"/>
            <a:ext cx="4754880" cy="18288"/>
          </a:xfrm>
          <a:prstGeom prst="rect">
            <a:avLst/>
          </a:prstGeom>
          <a:solidFill>
            <a:srgbClr val="11121A"/>
          </a:solidFill>
          <a:ln w="12700">
            <a:solidFill>
              <a:srgbClr val="11121A"/>
            </a:solidFill>
            <a:prstDash val="solid"/>
          </a:ln>
        </p:spPr>
        <p:txBody>
          <a:bodyPr/>
          <a:p/>
        </p:txBody>
      </p:sp>
      <p:sp>
        <p:nvSpPr>
          <p:cNvPr id="13" name="Text 11"/>
          <p:cNvSpPr/>
          <p:nvPr/>
        </p:nvSpPr>
        <p:spPr>
          <a:xfrm>
            <a:off x="6537960" y="2468880"/>
            <a:ext cx="4754880" cy="1143000"/>
          </a:xfrm>
          <a:prstGeom prst="rect">
            <a:avLst/>
          </a:prstGeom>
          <a:noFill/>
          <a:ln/>
        </p:spPr>
        <p:txBody>
          <a:bodyPr wrap="square" lIns="0" tIns="0" rIns="0" bIns="0" rtlCol="0" anchor="t"/>
          <a:lstStyle/>
          <a:p>
            <a:pPr indent="0" marL="0">
              <a:buNone/>
            </a:pPr>
            <a:r>
              <a:rPr lang="en-US" sz="1800" i="1" dirty="0">
                <a:solidFill>
                  <a:srgbClr val="11121A"/>
                </a:solidFill>
                <a:highlight>
                  <a:srgbClr val="FFE7A3"/>
                </a:highlight>
                <a:latin typeface="Palatino Linotype" pitchFamily="34" charset="0"/>
                <a:ea typeface="Palatino Linotype" pitchFamily="34" charset="-122"/>
                <a:cs typeface="Palatino Linotype" pitchFamily="34" charset="-120"/>
              </a:rPr>
              <a:t>„starea de sănătate a populației în raport cu determinanții stării de sănătate”</a:t>
            </a:r>
            <a:endParaRPr lang="en-US" sz="1800" dirty="0"/>
          </a:p>
        </p:txBody>
      </p:sp>
      <p:sp>
        <p:nvSpPr>
          <p:cNvPr id="14" name="Text 12"/>
          <p:cNvSpPr/>
          <p:nvPr/>
        </p:nvSpPr>
        <p:spPr>
          <a:xfrm>
            <a:off x="6537960" y="3657600"/>
            <a:ext cx="4754880" cy="91440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socio-economici, biologici, de mediu, stilul de viață, serviciile de sănătate, calitatea și accesibilitatea lor</a:t>
            </a:r>
            <a:endParaRPr lang="en-US" sz="1500" dirty="0"/>
          </a:p>
        </p:txBody>
      </p:sp>
      <p:sp>
        <p:nvSpPr>
          <p:cNvPr id="15" name="Text 13"/>
          <p:cNvSpPr/>
          <p:nvPr/>
        </p:nvSpPr>
        <p:spPr>
          <a:xfrm>
            <a:off x="6537960" y="4572000"/>
            <a:ext cx="475488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 starea</a:t>
            </a:r>
            <a:endParaRPr lang="en-US" sz="2000" dirty="0"/>
          </a:p>
        </p:txBody>
      </p:sp>
      <p:sp>
        <p:nvSpPr>
          <p:cNvPr id="16" name="Text 14"/>
          <p:cNvSpPr/>
          <p:nvPr/>
        </p:nvSpPr>
        <p:spPr>
          <a:xfrm>
            <a:off x="594360" y="5394960"/>
            <a:ext cx="10972800" cy="4572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Winslow și glosarul OMS le reunesc pe amândouă sub același nume; legea le separă.</a:t>
            </a:r>
            <a:endParaRPr lang="en-US" sz="17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95/2006 privind reforma în domeniul sănătății, forma consolidată; extrase.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CÂT DE DEPARTE ESTE ROMÂNIA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Decese sub 75 de ani care puteau fi evitate</a:t>
            </a:r>
            <a:endParaRPr lang="en-US" sz="3000" dirty="0"/>
          </a:p>
        </p:txBody>
      </p:sp>
      <p:sp>
        <p:nvSpPr>
          <p:cNvPr id="4" name="Text 2"/>
          <p:cNvSpPr/>
          <p:nvPr/>
        </p:nvSpPr>
        <p:spPr>
          <a:xfrm>
            <a:off x="594360" y="1691640"/>
            <a:ext cx="731520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Prevenibile: prin prevenție și sănătate publică</a:t>
            </a:r>
            <a:endParaRPr lang="en-US" sz="1600" dirty="0"/>
          </a:p>
        </p:txBody>
      </p:sp>
      <p:sp>
        <p:nvSpPr>
          <p:cNvPr id="5" name="Text 3"/>
          <p:cNvSpPr/>
          <p:nvPr/>
        </p:nvSpPr>
        <p:spPr>
          <a:xfrm>
            <a:off x="594360" y="2103120"/>
            <a:ext cx="1143000" cy="438912"/>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România</a:t>
            </a:r>
            <a:endParaRPr lang="en-US" sz="1400" dirty="0"/>
          </a:p>
        </p:txBody>
      </p:sp>
      <p:sp>
        <p:nvSpPr>
          <p:cNvPr id="6" name="Shape 4"/>
          <p:cNvSpPr/>
          <p:nvPr/>
        </p:nvSpPr>
        <p:spPr>
          <a:xfrm>
            <a:off x="1783080" y="2103120"/>
            <a:ext cx="5852160" cy="438912"/>
          </a:xfrm>
          <a:prstGeom prst="rect">
            <a:avLst/>
          </a:prstGeom>
          <a:solidFill>
            <a:srgbClr val="B02532"/>
          </a:solidFill>
          <a:ln w="12700">
            <a:solidFill>
              <a:srgbClr val="B02532"/>
            </a:solidFill>
            <a:prstDash val="solid"/>
          </a:ln>
        </p:spPr>
        <p:txBody>
          <a:bodyPr/>
          <a:p/>
        </p:txBody>
      </p:sp>
      <p:sp>
        <p:nvSpPr>
          <p:cNvPr id="7" name="Text 5"/>
          <p:cNvSpPr/>
          <p:nvPr/>
        </p:nvSpPr>
        <p:spPr>
          <a:xfrm>
            <a:off x="7726680" y="2103120"/>
            <a:ext cx="914400" cy="438912"/>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264,0</a:t>
            </a:r>
            <a:endParaRPr lang="en-US" sz="1600" dirty="0"/>
          </a:p>
        </p:txBody>
      </p:sp>
      <p:sp>
        <p:nvSpPr>
          <p:cNvPr id="8" name="Text 6"/>
          <p:cNvSpPr/>
          <p:nvPr/>
        </p:nvSpPr>
        <p:spPr>
          <a:xfrm>
            <a:off x="594360" y="2651760"/>
            <a:ext cx="1143000" cy="438912"/>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UE</a:t>
            </a:r>
            <a:endParaRPr lang="en-US" sz="1400" dirty="0"/>
          </a:p>
        </p:txBody>
      </p:sp>
      <p:sp>
        <p:nvSpPr>
          <p:cNvPr id="9" name="Shape 7"/>
          <p:cNvSpPr/>
          <p:nvPr/>
        </p:nvSpPr>
        <p:spPr>
          <a:xfrm>
            <a:off x="1783080" y="2651760"/>
            <a:ext cx="3345041" cy="438912"/>
          </a:xfrm>
          <a:prstGeom prst="rect">
            <a:avLst/>
          </a:prstGeom>
          <a:solidFill>
            <a:srgbClr val="585A64"/>
          </a:solidFill>
          <a:ln w="12700">
            <a:solidFill>
              <a:srgbClr val="585A64"/>
            </a:solidFill>
            <a:prstDash val="solid"/>
          </a:ln>
        </p:spPr>
        <p:txBody>
          <a:bodyPr/>
          <a:p/>
        </p:txBody>
      </p:sp>
      <p:sp>
        <p:nvSpPr>
          <p:cNvPr id="10" name="Text 8"/>
          <p:cNvSpPr/>
          <p:nvPr/>
        </p:nvSpPr>
        <p:spPr>
          <a:xfrm>
            <a:off x="5219561" y="2651760"/>
            <a:ext cx="914400" cy="438912"/>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150,9</a:t>
            </a:r>
            <a:endParaRPr lang="en-US" sz="1600" dirty="0"/>
          </a:p>
        </p:txBody>
      </p:sp>
      <p:sp>
        <p:nvSpPr>
          <p:cNvPr id="11" name="Text 9"/>
          <p:cNvSpPr/>
          <p:nvPr/>
        </p:nvSpPr>
        <p:spPr>
          <a:xfrm>
            <a:off x="1783080" y="3227832"/>
            <a:ext cx="5943600" cy="320040"/>
          </a:xfrm>
          <a:prstGeom prst="rect">
            <a:avLst/>
          </a:prstGeom>
          <a:noFill/>
          <a:ln/>
        </p:spPr>
        <p:txBody>
          <a:bodyPr wrap="square" lIns="0" tIns="0" rIns="0" bIns="0" rtlCol="0" anchor="t"/>
          <a:lstStyle/>
          <a:p>
            <a:pPr indent="0" marL="0">
              <a:buNone/>
            </a:pPr>
            <a:r>
              <a:rPr lang="en-US" sz="1400" i="1" dirty="0">
                <a:solidFill>
                  <a:srgbClr val="B02532"/>
                </a:solidFill>
                <a:latin typeface="Palatino Linotype" pitchFamily="34" charset="0"/>
                <a:ea typeface="Palatino Linotype" pitchFamily="34" charset="-122"/>
                <a:cs typeface="Palatino Linotype" pitchFamily="34" charset="-120"/>
              </a:rPr>
              <a:t>cu aproximativ trei sferturi mai mult</a:t>
            </a:r>
            <a:endParaRPr lang="en-US" sz="1400" dirty="0"/>
          </a:p>
        </p:txBody>
      </p:sp>
      <p:sp>
        <p:nvSpPr>
          <p:cNvPr id="12" name="Text 10"/>
          <p:cNvSpPr/>
          <p:nvPr/>
        </p:nvSpPr>
        <p:spPr>
          <a:xfrm>
            <a:off x="594360" y="3657600"/>
            <a:ext cx="731520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Tratabile: prin îngrijire la timp și eficace</a:t>
            </a:r>
            <a:endParaRPr lang="en-US" sz="1600" dirty="0"/>
          </a:p>
        </p:txBody>
      </p:sp>
      <p:sp>
        <p:nvSpPr>
          <p:cNvPr id="13" name="Text 11"/>
          <p:cNvSpPr/>
          <p:nvPr/>
        </p:nvSpPr>
        <p:spPr>
          <a:xfrm>
            <a:off x="594360" y="4069080"/>
            <a:ext cx="1143000" cy="438912"/>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România</a:t>
            </a:r>
            <a:endParaRPr lang="en-US" sz="1400" dirty="0"/>
          </a:p>
        </p:txBody>
      </p:sp>
      <p:sp>
        <p:nvSpPr>
          <p:cNvPr id="14" name="Shape 12"/>
          <p:cNvSpPr/>
          <p:nvPr/>
        </p:nvSpPr>
        <p:spPr>
          <a:xfrm>
            <a:off x="1783080" y="4069080"/>
            <a:ext cx="4426804" cy="438912"/>
          </a:xfrm>
          <a:prstGeom prst="rect">
            <a:avLst/>
          </a:prstGeom>
          <a:solidFill>
            <a:srgbClr val="B02532"/>
          </a:solidFill>
          <a:ln w="12700">
            <a:solidFill>
              <a:srgbClr val="B02532"/>
            </a:solidFill>
            <a:prstDash val="solid"/>
          </a:ln>
        </p:spPr>
        <p:txBody>
          <a:bodyPr/>
          <a:p/>
        </p:txBody>
      </p:sp>
      <p:sp>
        <p:nvSpPr>
          <p:cNvPr id="15" name="Text 13"/>
          <p:cNvSpPr/>
          <p:nvPr/>
        </p:nvSpPr>
        <p:spPr>
          <a:xfrm>
            <a:off x="6301324" y="4069080"/>
            <a:ext cx="914400" cy="438912"/>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199,7</a:t>
            </a:r>
            <a:endParaRPr lang="en-US" sz="1600" dirty="0"/>
          </a:p>
        </p:txBody>
      </p:sp>
      <p:sp>
        <p:nvSpPr>
          <p:cNvPr id="16" name="Text 14"/>
          <p:cNvSpPr/>
          <p:nvPr/>
        </p:nvSpPr>
        <p:spPr>
          <a:xfrm>
            <a:off x="594360" y="4617720"/>
            <a:ext cx="1143000" cy="438912"/>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UE</a:t>
            </a:r>
            <a:endParaRPr lang="en-US" sz="1400" dirty="0"/>
          </a:p>
        </p:txBody>
      </p:sp>
      <p:sp>
        <p:nvSpPr>
          <p:cNvPr id="17" name="Shape 15"/>
          <p:cNvSpPr/>
          <p:nvPr/>
        </p:nvSpPr>
        <p:spPr>
          <a:xfrm>
            <a:off x="1783080" y="4617720"/>
            <a:ext cx="1924119" cy="438912"/>
          </a:xfrm>
          <a:prstGeom prst="rect">
            <a:avLst/>
          </a:prstGeom>
          <a:solidFill>
            <a:srgbClr val="585A64"/>
          </a:solidFill>
          <a:ln w="12700">
            <a:solidFill>
              <a:srgbClr val="585A64"/>
            </a:solidFill>
            <a:prstDash val="solid"/>
          </a:ln>
        </p:spPr>
        <p:txBody>
          <a:bodyPr/>
          <a:p/>
        </p:txBody>
      </p:sp>
      <p:sp>
        <p:nvSpPr>
          <p:cNvPr id="18" name="Text 16"/>
          <p:cNvSpPr/>
          <p:nvPr/>
        </p:nvSpPr>
        <p:spPr>
          <a:xfrm>
            <a:off x="3798639" y="4617720"/>
            <a:ext cx="914400" cy="438912"/>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86,8</a:t>
            </a:r>
            <a:endParaRPr lang="en-US" sz="1600" dirty="0"/>
          </a:p>
        </p:txBody>
      </p:sp>
      <p:sp>
        <p:nvSpPr>
          <p:cNvPr id="19" name="Text 17"/>
          <p:cNvSpPr/>
          <p:nvPr/>
        </p:nvSpPr>
        <p:spPr>
          <a:xfrm>
            <a:off x="1783080" y="5193792"/>
            <a:ext cx="5943600" cy="320040"/>
          </a:xfrm>
          <a:prstGeom prst="rect">
            <a:avLst/>
          </a:prstGeom>
          <a:noFill/>
          <a:ln/>
        </p:spPr>
        <p:txBody>
          <a:bodyPr wrap="square" lIns="0" tIns="0" rIns="0" bIns="0" rtlCol="0" anchor="t"/>
          <a:lstStyle/>
          <a:p>
            <a:pPr indent="0" marL="0">
              <a:buNone/>
            </a:pPr>
            <a:r>
              <a:rPr lang="en-US" sz="1400" i="1" dirty="0">
                <a:solidFill>
                  <a:srgbClr val="B02532"/>
                </a:solidFill>
                <a:latin typeface="Palatino Linotype" pitchFamily="34" charset="0"/>
                <a:ea typeface="Palatino Linotype" pitchFamily="34" charset="-122"/>
                <a:cs typeface="Palatino Linotype" pitchFamily="34" charset="-120"/>
              </a:rPr>
              <a:t>de peste două ori mai mult</a:t>
            </a:r>
            <a:endParaRPr lang="en-US" sz="1400" dirty="0"/>
          </a:p>
        </p:txBody>
      </p:sp>
      <p:sp>
        <p:nvSpPr>
          <p:cNvPr id="20" name="Text 18"/>
          <p:cNvSpPr/>
          <p:nvPr/>
        </p:nvSpPr>
        <p:spPr>
          <a:xfrm>
            <a:off x="594360" y="5623560"/>
            <a:ext cx="6949440" cy="27432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Rate standardizate la 100 000 de locuitori, 2023</a:t>
            </a:r>
            <a:endParaRPr lang="en-US" sz="1300" dirty="0"/>
          </a:p>
        </p:txBody>
      </p:sp>
      <p:sp>
        <p:nvSpPr>
          <p:cNvPr id="21" name="Shape 19"/>
          <p:cNvSpPr/>
          <p:nvPr/>
        </p:nvSpPr>
        <p:spPr>
          <a:xfrm>
            <a:off x="8229600" y="1691640"/>
            <a:ext cx="27432" cy="4114800"/>
          </a:xfrm>
          <a:prstGeom prst="rect">
            <a:avLst/>
          </a:prstGeom>
          <a:solidFill>
            <a:srgbClr val="C9C6BE"/>
          </a:solidFill>
          <a:ln w="12700">
            <a:solidFill>
              <a:srgbClr val="C9C6BE"/>
            </a:solidFill>
            <a:prstDash val="solid"/>
          </a:ln>
        </p:spPr>
        <p:txBody>
          <a:bodyPr/>
          <a:p/>
        </p:txBody>
      </p:sp>
      <p:sp>
        <p:nvSpPr>
          <p:cNvPr id="22" name="Text 20"/>
          <p:cNvSpPr/>
          <p:nvPr/>
        </p:nvSpPr>
        <p:spPr>
          <a:xfrm>
            <a:off x="8503920" y="1645920"/>
            <a:ext cx="3200400" cy="685800"/>
          </a:xfrm>
          <a:prstGeom prst="rect">
            <a:avLst/>
          </a:prstGeom>
          <a:noFill/>
          <a:ln/>
        </p:spPr>
        <p:txBody>
          <a:bodyPr wrap="square" lIns="0" tIns="0" rIns="0" bIns="0" rtlCol="0" anchor="ctr"/>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76,5 · 81,5</a:t>
            </a:r>
            <a:endParaRPr lang="en-US" sz="3400" dirty="0"/>
          </a:p>
        </p:txBody>
      </p:sp>
      <p:sp>
        <p:nvSpPr>
          <p:cNvPr id="23" name="Text 21"/>
          <p:cNvSpPr/>
          <p:nvPr/>
        </p:nvSpPr>
        <p:spPr>
          <a:xfrm>
            <a:off x="8503920" y="2377440"/>
            <a:ext cx="3108960" cy="10972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ani de viață la naștere, România și UE, 2024: o diferență de 5,0 ani (estimări)</a:t>
            </a:r>
            <a:endParaRPr lang="en-US" sz="1400" dirty="0"/>
          </a:p>
        </p:txBody>
      </p:sp>
      <p:sp>
        <p:nvSpPr>
          <p:cNvPr id="24" name="Text 22"/>
          <p:cNvSpPr/>
          <p:nvPr/>
        </p:nvSpPr>
        <p:spPr>
          <a:xfrm>
            <a:off x="8503920" y="3657600"/>
            <a:ext cx="3200400" cy="685800"/>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5,8% · 9,9%</a:t>
            </a:r>
            <a:endParaRPr lang="en-US" sz="3400" dirty="0"/>
          </a:p>
        </p:txBody>
      </p:sp>
      <p:sp>
        <p:nvSpPr>
          <p:cNvPr id="25" name="Text 23"/>
          <p:cNvSpPr/>
          <p:nvPr/>
        </p:nvSpPr>
        <p:spPr>
          <a:xfrm>
            <a:off x="8503920" y="4389120"/>
            <a:ext cx="3108960" cy="91440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din PIB, cheltuielile curente cu sănătatea, România și UE, 2023</a:t>
            </a:r>
            <a:endParaRPr lang="en-US" sz="14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(lista comună OCDE–Eurostat a deceselor evitabile; speranța de viață 2024, valori estimate, UE și provizorie; cheltuielile cu sănătatea).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ÎNAINTE DE PRIMA INTERNARE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Două intervenții fără nicio rețetă</a:t>
            </a:r>
            <a:endParaRPr lang="en-US" sz="3400" dirty="0"/>
          </a:p>
        </p:txBody>
      </p:sp>
      <p:sp>
        <p:nvSpPr>
          <p:cNvPr id="6" name="Text 4"/>
          <p:cNvSpPr/>
          <p:nvPr/>
        </p:nvSpPr>
        <p:spPr>
          <a:xfrm>
            <a:off x="594360" y="1691640"/>
            <a:ext cx="10972800" cy="9144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Gândiți-vă la pacientul din gardă. Ce s-ar fi putut face pentru el înainte de prima internare, de către cine și la ce nivel?</a:t>
            </a:r>
            <a:endParaRPr lang="en-US" sz="1900" dirty="0"/>
          </a:p>
        </p:txBody>
      </p:sp>
      <p:sp>
        <p:nvSpPr>
          <p:cNvPr id="7" name="Shape 5"/>
          <p:cNvSpPr/>
          <p:nvPr/>
        </p:nvSpPr>
        <p:spPr>
          <a:xfrm>
            <a:off x="594360" y="2880360"/>
            <a:ext cx="2606040" cy="329184"/>
          </a:xfrm>
          <a:prstGeom prst="roundRect">
            <a:avLst>
              <a:gd name="adj" fmla="val 50000"/>
            </a:avLst>
          </a:prstGeom>
          <a:solidFill>
            <a:srgbClr val="FF4757"/>
          </a:solidFill>
          <a:ln w="12700">
            <a:solidFill>
              <a:srgbClr val="FF4757"/>
            </a:solidFill>
            <a:prstDash val="solid"/>
          </a:ln>
        </p:spPr>
        <p:txBody>
          <a:bodyPr/>
          <a:p/>
        </p:txBody>
      </p:sp>
      <p:sp>
        <p:nvSpPr>
          <p:cNvPr id="8" name="Text 6"/>
          <p:cNvSpPr/>
          <p:nvPr/>
        </p:nvSpPr>
        <p:spPr>
          <a:xfrm>
            <a:off x="594360" y="2880360"/>
            <a:ext cx="2606040" cy="329184"/>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pacientul însuși</a:t>
            </a:r>
            <a:endParaRPr lang="en-US" sz="1500" dirty="0"/>
          </a:p>
        </p:txBody>
      </p:sp>
      <p:sp>
        <p:nvSpPr>
          <p:cNvPr id="9" name="Shape 7"/>
          <p:cNvSpPr/>
          <p:nvPr/>
        </p:nvSpPr>
        <p:spPr>
          <a:xfrm>
            <a:off x="3383280" y="2880360"/>
            <a:ext cx="2606040" cy="329184"/>
          </a:xfrm>
          <a:prstGeom prst="roundRect">
            <a:avLst>
              <a:gd name="adj" fmla="val 50000"/>
            </a:avLst>
          </a:prstGeom>
          <a:solidFill>
            <a:srgbClr val="FFC24B"/>
          </a:solidFill>
          <a:ln w="12700">
            <a:solidFill>
              <a:srgbClr val="FFC24B"/>
            </a:solidFill>
            <a:prstDash val="solid"/>
          </a:ln>
        </p:spPr>
        <p:txBody>
          <a:bodyPr/>
          <a:p/>
        </p:txBody>
      </p:sp>
      <p:sp>
        <p:nvSpPr>
          <p:cNvPr id="10" name="Text 8"/>
          <p:cNvSpPr/>
          <p:nvPr/>
        </p:nvSpPr>
        <p:spPr>
          <a:xfrm>
            <a:off x="3383280" y="2880360"/>
            <a:ext cx="2606040" cy="329184"/>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medicul de familie</a:t>
            </a:r>
            <a:endParaRPr lang="en-US" sz="1500" dirty="0"/>
          </a:p>
        </p:txBody>
      </p:sp>
      <p:sp>
        <p:nvSpPr>
          <p:cNvPr id="11" name="Shape 9"/>
          <p:cNvSpPr/>
          <p:nvPr/>
        </p:nvSpPr>
        <p:spPr>
          <a:xfrm>
            <a:off x="6172200" y="2880360"/>
            <a:ext cx="2606040" cy="329184"/>
          </a:xfrm>
          <a:prstGeom prst="roundRect">
            <a:avLst>
              <a:gd name="adj" fmla="val 50000"/>
            </a:avLst>
          </a:prstGeom>
          <a:solidFill>
            <a:srgbClr val="9B7EF7"/>
          </a:solidFill>
          <a:ln w="12700">
            <a:solidFill>
              <a:srgbClr val="9B7EF7"/>
            </a:solidFill>
            <a:prstDash val="solid"/>
          </a:ln>
        </p:spPr>
        <p:txBody>
          <a:bodyPr/>
          <a:p/>
        </p:txBody>
      </p:sp>
      <p:sp>
        <p:nvSpPr>
          <p:cNvPr id="12" name="Text 10"/>
          <p:cNvSpPr/>
          <p:nvPr/>
        </p:nvSpPr>
        <p:spPr>
          <a:xfrm>
            <a:off x="6172200" y="2880360"/>
            <a:ext cx="2606040" cy="329184"/>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comunitatea</a:t>
            </a:r>
            <a:endParaRPr lang="en-US" sz="1500" dirty="0"/>
          </a:p>
        </p:txBody>
      </p:sp>
      <p:sp>
        <p:nvSpPr>
          <p:cNvPr id="13" name="Shape 11"/>
          <p:cNvSpPr/>
          <p:nvPr/>
        </p:nvSpPr>
        <p:spPr>
          <a:xfrm>
            <a:off x="8961120" y="2880360"/>
            <a:ext cx="2606040" cy="329184"/>
          </a:xfrm>
          <a:prstGeom prst="roundRect">
            <a:avLst>
              <a:gd name="adj" fmla="val 50000"/>
            </a:avLst>
          </a:prstGeom>
          <a:solidFill>
            <a:srgbClr val="27D3BE"/>
          </a:solidFill>
          <a:ln w="12700">
            <a:solidFill>
              <a:srgbClr val="27D3BE"/>
            </a:solidFill>
            <a:prstDash val="solid"/>
          </a:ln>
        </p:spPr>
        <p:txBody>
          <a:bodyPr/>
          <a:p/>
        </p:txBody>
      </p:sp>
      <p:sp>
        <p:nvSpPr>
          <p:cNvPr id="14" name="Text 12"/>
          <p:cNvSpPr/>
          <p:nvPr/>
        </p:nvSpPr>
        <p:spPr>
          <a:xfrm>
            <a:off x="8961120" y="2880360"/>
            <a:ext cx="2606040" cy="329184"/>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statul</a:t>
            </a:r>
            <a:endParaRPr lang="en-US" sz="1500" dirty="0"/>
          </a:p>
        </p:txBody>
      </p:sp>
      <p:sp>
        <p:nvSpPr>
          <p:cNvPr id="15" name="Shape 13"/>
          <p:cNvSpPr/>
          <p:nvPr/>
        </p:nvSpPr>
        <p:spPr>
          <a:xfrm>
            <a:off x="594360" y="3566160"/>
            <a:ext cx="10972800" cy="1188720"/>
          </a:xfrm>
          <a:prstGeom prst="roundRect">
            <a:avLst>
              <a:gd name="adj" fmla="val 6923"/>
            </a:avLst>
          </a:prstGeom>
          <a:solidFill>
            <a:srgbClr val="1D1F2B"/>
          </a:solidFill>
          <a:ln w="12700">
            <a:solidFill>
              <a:srgbClr val="1D1F2B"/>
            </a:solidFill>
            <a:prstDash val="solid"/>
          </a:ln>
        </p:spPr>
        <p:txBody>
          <a:bodyPr/>
          <a:p/>
        </p:txBody>
      </p:sp>
      <p:sp>
        <p:nvSpPr>
          <p:cNvPr id="16" name="Text 14"/>
          <p:cNvSpPr/>
          <p:nvPr/>
        </p:nvSpPr>
        <p:spPr>
          <a:xfrm>
            <a:off x="868680" y="3566160"/>
            <a:ext cx="10424160" cy="1188720"/>
          </a:xfrm>
          <a:prstGeom prst="rect">
            <a:avLst/>
          </a:prstGeom>
          <a:noFill/>
          <a:ln/>
        </p:spPr>
        <p:txBody>
          <a:bodyPr wrap="square" lIns="0" tIns="0" rIns="0" bIns="0" rtlCol="0" anchor="ctr"/>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Scrieți două intervenții care nu presupun nicio prescripție de medicament.</a:t>
            </a:r>
            <a:endParaRPr lang="en-US" sz="2200" dirty="0"/>
          </a:p>
        </p:txBody>
      </p:sp>
      <p:sp>
        <p:nvSpPr>
          <p:cNvPr id="17" name="Text 15"/>
          <p:cNvSpPr/>
          <p:nvPr/>
        </p:nvSpPr>
        <p:spPr>
          <a:xfrm>
            <a:off x="594360" y="5074920"/>
            <a:ext cx="1097280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Patru minute, cu colegul de bancă.</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MGVI/active/img/rujeola_copil_cdc.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Erupția din rujeolă, în a patra zi (fotografie de arhivă)</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CDC/NIP/Barbara Rice · domeniu public · CDC PHIL, via Wikimedia Commons</a:t>
            </a:r>
            <a:endParaRPr lang="en-US" sz="850" dirty="0"/>
          </a:p>
        </p:txBody>
      </p:sp>
      <p:sp>
        <p:nvSpPr>
          <p:cNvPr id="6" name="Text 3"/>
          <p:cNvSpPr/>
          <p:nvPr/>
        </p:nvSpPr>
        <p:spPr>
          <a:xfrm>
            <a:off x="594360" y="411480"/>
            <a:ext cx="585216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CABINETUL DE MEDICINA FAMILIEI</a:t>
            </a:r>
            <a:endParaRPr lang="en-US" sz="1300" dirty="0"/>
          </a:p>
        </p:txBody>
      </p:sp>
      <p:sp>
        <p:nvSpPr>
          <p:cNvPr id="7" name="Text 4"/>
          <p:cNvSpPr/>
          <p:nvPr/>
        </p:nvSpPr>
        <p:spPr>
          <a:xfrm>
            <a:off x="594360" y="822960"/>
            <a:ext cx="585216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Cazul de rujeolă din cabinet</a:t>
            </a:r>
            <a:endParaRPr lang="en-US" sz="3000" dirty="0"/>
          </a:p>
        </p:txBody>
      </p:sp>
      <p:sp>
        <p:nvSpPr>
          <p:cNvPr id="8" name="Text 5"/>
          <p:cNvSpPr/>
          <p:nvPr/>
        </p:nvSpPr>
        <p:spPr>
          <a:xfrm>
            <a:off x="594360" y="1828800"/>
            <a:ext cx="5760720" cy="2011680"/>
          </a:xfrm>
          <a:prstGeom prst="rect">
            <a:avLst/>
          </a:prstGeom>
          <a:noFill/>
          <a:ln/>
        </p:spPr>
        <p:txBody>
          <a:bodyPr wrap="square" lIns="0" tIns="0" rIns="0" bIns="0" rtlCol="0" anchor="t"/>
          <a:lstStyle/>
          <a:p>
            <a:pPr indent="0" marL="0">
              <a:buNone/>
            </a:pPr>
            <a:r>
              <a:rPr lang="en-US" sz="1750" dirty="0">
                <a:solidFill>
                  <a:srgbClr val="E6E8EF"/>
                </a:solidFill>
                <a:latin typeface="Palatino Linotype" pitchFamily="34" charset="0"/>
                <a:ea typeface="Palatino Linotype" pitchFamily="34" charset="-122"/>
                <a:cs typeface="Palatino Linotype" pitchFamily="34" charset="-120"/>
              </a:rPr>
              <a:t>Sunteți rezident de medicina familiei. O mamă vine cu un copil de doi ani: febră, conjunctivită și o erupție care a început în spatele urechilor. Copilul nu este vaccinat. Tratamentul lui este simplu și simptomatic.</a:t>
            </a:r>
            <a:endParaRPr lang="en-US" sz="1750" dirty="0"/>
          </a:p>
        </p:txBody>
      </p:sp>
      <p:sp>
        <p:nvSpPr>
          <p:cNvPr id="9" name="Text 6"/>
          <p:cNvSpPr/>
          <p:nvPr/>
        </p:nvSpPr>
        <p:spPr>
          <a:xfrm>
            <a:off x="594360" y="3977640"/>
            <a:ext cx="5760720" cy="82296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Ce urmează după ce mama pleacă din cabinet?</a:t>
            </a:r>
            <a:endParaRPr lang="en-US" sz="2200" dirty="0"/>
          </a:p>
        </p:txBody>
      </p:sp>
      <p:sp>
        <p:nvSpPr>
          <p:cNvPr id="10" name="Text 7"/>
          <p:cNvSpPr/>
          <p:nvPr/>
        </p:nvSpPr>
        <p:spPr>
          <a:xfrm>
            <a:off x="594360" y="4937760"/>
            <a:ext cx="5760720" cy="9144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Fiecare pas de aici înainte corespunde unei funcții pe care un sistem de sănătate publică trebuie să o îndeplinească.</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790956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790956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694944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DUPĂ CONFIRMAREA CAZULUI</a:t>
            </a:r>
            <a:endParaRPr lang="en-US" sz="1300" dirty="0"/>
          </a:p>
        </p:txBody>
      </p:sp>
      <p:sp>
        <p:nvSpPr>
          <p:cNvPr id="5" name="Text 3"/>
          <p:cNvSpPr/>
          <p:nvPr/>
        </p:nvSpPr>
        <p:spPr>
          <a:xfrm>
            <a:off x="594360" y="1188720"/>
            <a:ext cx="10972800" cy="91440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Un singur cuvânt</a:t>
            </a:r>
            <a:endParaRPr lang="en-US" sz="4400" dirty="0"/>
          </a:p>
        </p:txBody>
      </p:sp>
      <p:sp>
        <p:nvSpPr>
          <p:cNvPr id="6" name="Text 4"/>
          <p:cNvSpPr/>
          <p:nvPr/>
        </p:nvSpPr>
        <p:spPr>
          <a:xfrm>
            <a:off x="594360" y="2377440"/>
            <a:ext cx="10515600" cy="1645920"/>
          </a:xfrm>
          <a:prstGeom prst="rect">
            <a:avLst/>
          </a:prstGeom>
          <a:noFill/>
          <a:ln/>
        </p:spPr>
        <p:txBody>
          <a:bodyPr wrap="square" lIns="0" tIns="0" rIns="0" bIns="0" rtlCol="0" anchor="t"/>
          <a:lstStyle/>
          <a:p>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Ce trebuie să se întâmple, în afara cabinetului, în primele două zile după confirmarea cazului?</a:t>
            </a:r>
            <a:endParaRPr lang="en-US" sz="3000" dirty="0"/>
          </a:p>
        </p:txBody>
      </p:sp>
      <p:sp>
        <p:nvSpPr>
          <p:cNvPr id="7" name="Text 5"/>
          <p:cNvSpPr/>
          <p:nvPr/>
        </p:nvSpPr>
        <p:spPr>
          <a:xfrm>
            <a:off x="594360" y="4480560"/>
            <a:ext cx="10972800" cy="54864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Cuvintele sălii se compară apoi cu lista operațiunilor esențiale de sănătate publică.</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120000">
            <a:off x="822960" y="1234440"/>
            <a:ext cx="6400800" cy="420624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6" name="Text 4"/>
          <p:cNvSpPr/>
          <p:nvPr/>
        </p:nvSpPr>
        <p:spPr>
          <a:xfrm rot="-120000">
            <a:off x="1234440" y="1554480"/>
            <a:ext cx="5577840" cy="292608"/>
          </a:xfrm>
          <a:prstGeom prst="rect">
            <a:avLst/>
          </a:prstGeom>
          <a:noFill/>
          <a:ln/>
        </p:spPr>
        <p:txBody>
          <a:bodyPr wrap="square" lIns="0" tIns="0" rIns="0" bIns="0" rtlCol="0" anchor="t"/>
          <a:lstStyle/>
          <a:p>
            <a:pPr indent="0" marL="0">
              <a:buNone/>
            </a:pPr>
            <a:r>
              <a:rPr lang="en-US" sz="1300" b="1" spc="300" kern="0" dirty="0">
                <a:solidFill>
                  <a:srgbClr val="B02532"/>
                </a:solidFill>
                <a:latin typeface="Palatino Linotype" pitchFamily="34" charset="0"/>
                <a:ea typeface="Palatino Linotype" pitchFamily="34" charset="-122"/>
                <a:cs typeface="Palatino Linotype" pitchFamily="34" charset="-120"/>
              </a:rPr>
              <a:t>SPOTMEDIA · 14 APRILIE 2025</a:t>
            </a:r>
            <a:endParaRPr lang="en-US" sz="1300" dirty="0"/>
          </a:p>
        </p:txBody>
      </p:sp>
      <p:sp>
        <p:nvSpPr>
          <p:cNvPr id="7" name="Shape 5"/>
          <p:cNvSpPr/>
          <p:nvPr/>
        </p:nvSpPr>
        <p:spPr>
          <a:xfrm rot="-120000">
            <a:off x="1234440" y="1947672"/>
            <a:ext cx="5577840" cy="18288"/>
          </a:xfrm>
          <a:prstGeom prst="rect">
            <a:avLst/>
          </a:prstGeom>
          <a:solidFill>
            <a:srgbClr val="11121A"/>
          </a:solidFill>
          <a:ln w="12700">
            <a:solidFill>
              <a:srgbClr val="11121A"/>
            </a:solidFill>
            <a:prstDash val="solid"/>
          </a:ln>
        </p:spPr>
        <p:txBody>
          <a:bodyPr/>
          <a:p/>
        </p:txBody>
      </p:sp>
      <p:sp>
        <p:nvSpPr>
          <p:cNvPr id="8" name="Text 6"/>
          <p:cNvSpPr/>
          <p:nvPr/>
        </p:nvSpPr>
        <p:spPr>
          <a:xfrm rot="-120000">
            <a:off x="1234440" y="2103120"/>
            <a:ext cx="5577840" cy="2926080"/>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Explozie de cazuri de rujeolă în România: doar 1 din 4 copii e vaccinat</a:t>
            </a:r>
            <a:endParaRPr lang="en-US" sz="3400" dirty="0"/>
          </a:p>
        </p:txBody>
      </p:sp>
      <p:sp>
        <p:nvSpPr>
          <p:cNvPr id="9" name="Text 7"/>
          <p:cNvSpPr/>
          <p:nvPr/>
        </p:nvSpPr>
        <p:spPr>
          <a:xfrm>
            <a:off x="822960" y="5715000"/>
            <a:ext cx="64008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Titlul, reprodus tipografic; sursa: Spotmedia, 14 aprilie 2025.</a:t>
            </a:r>
            <a:endParaRPr lang="en-US" sz="1000" dirty="0"/>
          </a:p>
        </p:txBody>
      </p:sp>
      <p:sp>
        <p:nvSpPr>
          <p:cNvPr id="10" name="Shape 8"/>
          <p:cNvSpPr/>
          <p:nvPr/>
        </p:nvSpPr>
        <p:spPr>
          <a:xfrm>
            <a:off x="7818120" y="1737360"/>
            <a:ext cx="3749040" cy="777240"/>
          </a:xfrm>
          <a:prstGeom prst="roundRect">
            <a:avLst>
              <a:gd name="adj" fmla="val 10588"/>
            </a:avLst>
          </a:prstGeom>
          <a:solidFill>
            <a:srgbClr val="1D1F2B"/>
          </a:solidFill>
          <a:ln w="12700">
            <a:solidFill>
              <a:srgbClr val="1D1F2B"/>
            </a:solidFill>
            <a:prstDash val="solid"/>
          </a:ln>
        </p:spPr>
        <p:txBody>
          <a:bodyPr/>
          <a:p/>
        </p:txBody>
      </p:sp>
      <p:sp>
        <p:nvSpPr>
          <p:cNvPr id="11" name="Shape 9"/>
          <p:cNvSpPr/>
          <p:nvPr/>
        </p:nvSpPr>
        <p:spPr>
          <a:xfrm>
            <a:off x="8046720" y="1920240"/>
            <a:ext cx="420624" cy="420624"/>
          </a:xfrm>
          <a:prstGeom prst="ellipse">
            <a:avLst/>
          </a:prstGeom>
          <a:solidFill>
            <a:srgbClr val="FFC24B"/>
          </a:solidFill>
          <a:ln/>
        </p:spPr>
        <p:txBody>
          <a:bodyPr/>
          <a:p/>
        </p:txBody>
      </p:sp>
      <p:sp>
        <p:nvSpPr>
          <p:cNvPr id="12" name="Text 10"/>
          <p:cNvSpPr/>
          <p:nvPr/>
        </p:nvSpPr>
        <p:spPr>
          <a:xfrm>
            <a:off x="804672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3" name="Text 11"/>
          <p:cNvSpPr/>
          <p:nvPr/>
        </p:nvSpPr>
        <p:spPr>
          <a:xfrm>
            <a:off x="8641080" y="1737360"/>
            <a:ext cx="2834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Adevărat</a:t>
            </a:r>
            <a:endParaRPr lang="en-US" sz="1800" dirty="0"/>
          </a:p>
        </p:txBody>
      </p:sp>
      <p:sp>
        <p:nvSpPr>
          <p:cNvPr id="14" name="Shape 12"/>
          <p:cNvSpPr/>
          <p:nvPr/>
        </p:nvSpPr>
        <p:spPr>
          <a:xfrm>
            <a:off x="7818120" y="2697480"/>
            <a:ext cx="3749040" cy="777240"/>
          </a:xfrm>
          <a:prstGeom prst="roundRect">
            <a:avLst>
              <a:gd name="adj" fmla="val 10588"/>
            </a:avLst>
          </a:prstGeom>
          <a:solidFill>
            <a:srgbClr val="1D1F2B"/>
          </a:solidFill>
          <a:ln w="12700">
            <a:solidFill>
              <a:srgbClr val="1D1F2B"/>
            </a:solidFill>
            <a:prstDash val="solid"/>
          </a:ln>
        </p:spPr>
        <p:txBody>
          <a:bodyPr/>
          <a:p/>
        </p:txBody>
      </p:sp>
      <p:sp>
        <p:nvSpPr>
          <p:cNvPr id="15" name="Shape 13"/>
          <p:cNvSpPr/>
          <p:nvPr/>
        </p:nvSpPr>
        <p:spPr>
          <a:xfrm>
            <a:off x="8046720" y="2880360"/>
            <a:ext cx="420624" cy="420624"/>
          </a:xfrm>
          <a:prstGeom prst="ellipse">
            <a:avLst/>
          </a:prstGeom>
          <a:solidFill>
            <a:srgbClr val="FFC24B"/>
          </a:solidFill>
          <a:ln/>
        </p:spPr>
        <p:txBody>
          <a:bodyPr/>
          <a:p/>
        </p:txBody>
      </p:sp>
      <p:sp>
        <p:nvSpPr>
          <p:cNvPr id="16" name="Text 14"/>
          <p:cNvSpPr/>
          <p:nvPr/>
        </p:nvSpPr>
        <p:spPr>
          <a:xfrm>
            <a:off x="8046720" y="28803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7" name="Text 15"/>
          <p:cNvSpPr/>
          <p:nvPr/>
        </p:nvSpPr>
        <p:spPr>
          <a:xfrm>
            <a:off x="8641080" y="2697480"/>
            <a:ext cx="2834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Fals</a:t>
            </a:r>
            <a:endParaRPr lang="en-US" sz="1800" dirty="0"/>
          </a:p>
        </p:txBody>
      </p:sp>
      <p:sp>
        <p:nvSpPr>
          <p:cNvPr id="18" name="Shape 16"/>
          <p:cNvSpPr/>
          <p:nvPr/>
        </p:nvSpPr>
        <p:spPr>
          <a:xfrm>
            <a:off x="7818120" y="3657600"/>
            <a:ext cx="3749040" cy="777240"/>
          </a:xfrm>
          <a:prstGeom prst="roundRect">
            <a:avLst>
              <a:gd name="adj" fmla="val 10588"/>
            </a:avLst>
          </a:prstGeom>
          <a:solidFill>
            <a:srgbClr val="1D1F2B"/>
          </a:solidFill>
          <a:ln w="12700">
            <a:solidFill>
              <a:srgbClr val="1D1F2B"/>
            </a:solidFill>
            <a:prstDash val="solid"/>
          </a:ln>
        </p:spPr>
        <p:txBody>
          <a:bodyPr/>
          <a:p/>
        </p:txBody>
      </p:sp>
      <p:sp>
        <p:nvSpPr>
          <p:cNvPr id="19" name="Shape 17"/>
          <p:cNvSpPr/>
          <p:nvPr/>
        </p:nvSpPr>
        <p:spPr>
          <a:xfrm>
            <a:off x="8046720" y="3840480"/>
            <a:ext cx="420624" cy="420624"/>
          </a:xfrm>
          <a:prstGeom prst="ellipse">
            <a:avLst/>
          </a:prstGeom>
          <a:solidFill>
            <a:srgbClr val="FFC24B"/>
          </a:solidFill>
          <a:ln/>
        </p:spPr>
        <p:txBody>
          <a:bodyPr/>
          <a:p/>
        </p:txBody>
      </p:sp>
      <p:sp>
        <p:nvSpPr>
          <p:cNvPr id="20" name="Text 18"/>
          <p:cNvSpPr/>
          <p:nvPr/>
        </p:nvSpPr>
        <p:spPr>
          <a:xfrm>
            <a:off x="804672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1" name="Text 19"/>
          <p:cNvSpPr/>
          <p:nvPr/>
        </p:nvSpPr>
        <p:spPr>
          <a:xfrm>
            <a:off x="8641080" y="3657600"/>
            <a:ext cx="2834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Adevărat, dar înșelător</a:t>
            </a:r>
            <a:endParaRPr lang="en-US" sz="1800" dirty="0"/>
          </a:p>
        </p:txBody>
      </p:sp>
      <p:sp>
        <p:nvSpPr>
          <p:cNvPr id="22" name="Text 20"/>
          <p:cNvSpPr/>
          <p:nvPr/>
        </p:nvSpPr>
        <p:spPr>
          <a:xfrm>
            <a:off x="7818120" y="4709160"/>
            <a:ext cx="3749040" cy="73152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Votați; apoi două minute cu colegul de bancă.</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MĂSOARĂ FIECARE CIFRĂ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Titlul, articolul și INSP răspund la întrebări diferite</a:t>
            </a:r>
            <a:endParaRPr lang="en-US" sz="2800" dirty="0"/>
          </a:p>
        </p:txBody>
      </p:sp>
      <p:sp>
        <p:nvSpPr>
          <p:cNvPr id="4" name="Shape 2"/>
          <p:cNvSpPr/>
          <p:nvPr/>
        </p:nvSpPr>
        <p:spPr>
          <a:xfrm>
            <a:off x="594360" y="1645920"/>
            <a:ext cx="6309360" cy="896112"/>
          </a:xfrm>
          <a:prstGeom prst="roundRect">
            <a:avLst>
              <a:gd name="adj" fmla="val 9184"/>
            </a:avLst>
          </a:prstGeom>
          <a:solidFill>
            <a:srgbClr val="ECEAE4"/>
          </a:solidFill>
          <a:ln w="12700">
            <a:solidFill>
              <a:srgbClr val="ECEAE4"/>
            </a:solidFill>
            <a:prstDash val="solid"/>
          </a:ln>
        </p:spPr>
        <p:txBody>
          <a:bodyPr/>
          <a:p/>
        </p:txBody>
      </p:sp>
      <p:sp>
        <p:nvSpPr>
          <p:cNvPr id="5" name="Text 3"/>
          <p:cNvSpPr/>
          <p:nvPr/>
        </p:nvSpPr>
        <p:spPr>
          <a:xfrm>
            <a:off x="822960" y="1719072"/>
            <a:ext cx="5852160" cy="292608"/>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Titlul, citit literal</a:t>
            </a:r>
            <a:endParaRPr lang="en-US" sz="1400" dirty="0"/>
          </a:p>
        </p:txBody>
      </p:sp>
      <p:sp>
        <p:nvSpPr>
          <p:cNvPr id="6" name="Text 4"/>
          <p:cNvSpPr/>
          <p:nvPr/>
        </p:nvSpPr>
        <p:spPr>
          <a:xfrm>
            <a:off x="822960" y="2011680"/>
            <a:ext cx="5852160" cy="51206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numai un copil din patru este vaccinat</a:t>
            </a:r>
            <a:endParaRPr lang="en-US" sz="1500" dirty="0"/>
          </a:p>
        </p:txBody>
      </p:sp>
      <p:sp>
        <p:nvSpPr>
          <p:cNvPr id="7" name="Shape 5"/>
          <p:cNvSpPr/>
          <p:nvPr/>
        </p:nvSpPr>
        <p:spPr>
          <a:xfrm>
            <a:off x="594360" y="2670048"/>
            <a:ext cx="6309360" cy="896112"/>
          </a:xfrm>
          <a:prstGeom prst="roundRect">
            <a:avLst>
              <a:gd name="adj" fmla="val 9184"/>
            </a:avLst>
          </a:prstGeom>
          <a:solidFill>
            <a:srgbClr val="F9F8F5"/>
          </a:solidFill>
          <a:ln w="12700">
            <a:solidFill>
              <a:srgbClr val="F9F8F5"/>
            </a:solidFill>
            <a:prstDash val="solid"/>
          </a:ln>
        </p:spPr>
        <p:txBody>
          <a:bodyPr/>
          <a:p/>
        </p:txBody>
      </p:sp>
      <p:sp>
        <p:nvSpPr>
          <p:cNvPr id="8" name="Text 6"/>
          <p:cNvSpPr/>
          <p:nvPr/>
        </p:nvSpPr>
        <p:spPr>
          <a:xfrm>
            <a:off x="822960" y="2743200"/>
            <a:ext cx="5852160" cy="292608"/>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Textul articolului</a:t>
            </a:r>
            <a:endParaRPr lang="en-US" sz="1400" dirty="0"/>
          </a:p>
        </p:txBody>
      </p:sp>
      <p:sp>
        <p:nvSpPr>
          <p:cNvPr id="9" name="Text 7"/>
          <p:cNvSpPr/>
          <p:nvPr/>
        </p:nvSpPr>
        <p:spPr>
          <a:xfrm>
            <a:off x="822960" y="3035808"/>
            <a:ext cx="5852160" cy="51206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aproximativ 1 copil din 4 NU este vaccinat; prima doză ROR 78%, a doua 62%</a:t>
            </a:r>
            <a:endParaRPr lang="en-US" sz="1500" dirty="0"/>
          </a:p>
        </p:txBody>
      </p:sp>
      <p:sp>
        <p:nvSpPr>
          <p:cNvPr id="10" name="Shape 8"/>
          <p:cNvSpPr/>
          <p:nvPr/>
        </p:nvSpPr>
        <p:spPr>
          <a:xfrm>
            <a:off x="594360" y="3694176"/>
            <a:ext cx="6309360" cy="896112"/>
          </a:xfrm>
          <a:prstGeom prst="roundRect">
            <a:avLst>
              <a:gd name="adj" fmla="val 9184"/>
            </a:avLst>
          </a:prstGeom>
          <a:solidFill>
            <a:srgbClr val="ECEAE4"/>
          </a:solidFill>
          <a:ln w="12700">
            <a:solidFill>
              <a:srgbClr val="ECEAE4"/>
            </a:solidFill>
            <a:prstDash val="solid"/>
          </a:ln>
        </p:spPr>
        <p:txBody>
          <a:bodyPr/>
          <a:p/>
        </p:txBody>
      </p:sp>
      <p:sp>
        <p:nvSpPr>
          <p:cNvPr id="11" name="Text 9"/>
          <p:cNvSpPr/>
          <p:nvPr/>
        </p:nvSpPr>
        <p:spPr>
          <a:xfrm>
            <a:off x="822960" y="3767328"/>
            <a:ext cx="5852160" cy="292608"/>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INSP, 3 martie 2026</a:t>
            </a:r>
            <a:endParaRPr lang="en-US" sz="1400" dirty="0"/>
          </a:p>
        </p:txBody>
      </p:sp>
      <p:sp>
        <p:nvSpPr>
          <p:cNvPr id="12" name="Text 10"/>
          <p:cNvSpPr/>
          <p:nvPr/>
        </p:nvSpPr>
        <p:spPr>
          <a:xfrm>
            <a:off x="822960" y="4059936"/>
            <a:ext cx="5852160" cy="51206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acoperirea în 2024: prima doză 80,8%, a doua 69,4%</a:t>
            </a:r>
            <a:endParaRPr lang="en-US" sz="1500" dirty="0"/>
          </a:p>
        </p:txBody>
      </p:sp>
      <p:sp>
        <p:nvSpPr>
          <p:cNvPr id="13" name="Shape 11"/>
          <p:cNvSpPr/>
          <p:nvPr/>
        </p:nvSpPr>
        <p:spPr>
          <a:xfrm>
            <a:off x="7360920" y="2503627"/>
            <a:ext cx="731520" cy="2068373"/>
          </a:xfrm>
          <a:prstGeom prst="rect">
            <a:avLst/>
          </a:prstGeom>
          <a:solidFill>
            <a:srgbClr val="585A64"/>
          </a:solidFill>
          <a:ln w="12700">
            <a:solidFill>
              <a:srgbClr val="585A64"/>
            </a:solidFill>
            <a:prstDash val="solid"/>
          </a:ln>
        </p:spPr>
        <p:txBody>
          <a:bodyPr/>
          <a:p/>
        </p:txBody>
      </p:sp>
      <p:sp>
        <p:nvSpPr>
          <p:cNvPr id="14" name="Text 12"/>
          <p:cNvSpPr/>
          <p:nvPr/>
        </p:nvSpPr>
        <p:spPr>
          <a:xfrm>
            <a:off x="7223760" y="2156155"/>
            <a:ext cx="1005840" cy="310896"/>
          </a:xfrm>
          <a:prstGeom prst="rect">
            <a:avLst/>
          </a:prstGeom>
          <a:noFill/>
          <a:ln/>
        </p:spPr>
        <p:txBody>
          <a:bodyPr wrap="square" lIns="0" tIns="0" rIns="0" bIns="0" rtlCol="0" anchor="t"/>
          <a:lstStyle/>
          <a:p>
            <a:pPr algn="ctr" indent="0" marL="0">
              <a:buNone/>
            </a:pPr>
            <a:r>
              <a:rPr lang="en-US" sz="1400" b="1" dirty="0">
                <a:solidFill>
                  <a:srgbClr val="585A64"/>
                </a:solidFill>
                <a:latin typeface="Palatino Linotype" pitchFamily="34" charset="0"/>
                <a:ea typeface="Palatino Linotype" pitchFamily="34" charset="-122"/>
                <a:cs typeface="Palatino Linotype" pitchFamily="34" charset="-120"/>
              </a:rPr>
              <a:t>78%</a:t>
            </a:r>
            <a:endParaRPr lang="en-US" sz="1400" dirty="0"/>
          </a:p>
        </p:txBody>
      </p:sp>
      <p:sp>
        <p:nvSpPr>
          <p:cNvPr id="15" name="Text 13"/>
          <p:cNvSpPr/>
          <p:nvPr/>
        </p:nvSpPr>
        <p:spPr>
          <a:xfrm>
            <a:off x="7223760" y="4617720"/>
            <a:ext cx="100584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articol</a:t>
            </a:r>
            <a:endParaRPr lang="en-US" sz="1300" dirty="0"/>
          </a:p>
        </p:txBody>
      </p:sp>
      <p:sp>
        <p:nvSpPr>
          <p:cNvPr id="16" name="Shape 14"/>
          <p:cNvSpPr/>
          <p:nvPr/>
        </p:nvSpPr>
        <p:spPr>
          <a:xfrm>
            <a:off x="8229600" y="2429378"/>
            <a:ext cx="731520" cy="2142622"/>
          </a:xfrm>
          <a:prstGeom prst="rect">
            <a:avLst/>
          </a:prstGeom>
          <a:solidFill>
            <a:srgbClr val="0E7C6B"/>
          </a:solidFill>
          <a:ln w="12700">
            <a:solidFill>
              <a:srgbClr val="0E7C6B"/>
            </a:solidFill>
            <a:prstDash val="solid"/>
          </a:ln>
        </p:spPr>
        <p:txBody>
          <a:bodyPr/>
          <a:p/>
        </p:txBody>
      </p:sp>
      <p:sp>
        <p:nvSpPr>
          <p:cNvPr id="17" name="Text 15"/>
          <p:cNvSpPr/>
          <p:nvPr/>
        </p:nvSpPr>
        <p:spPr>
          <a:xfrm>
            <a:off x="8092440" y="2081906"/>
            <a:ext cx="1005840" cy="310896"/>
          </a:xfrm>
          <a:prstGeom prst="rect">
            <a:avLst/>
          </a:prstGeom>
          <a:noFill/>
          <a:ln/>
        </p:spPr>
        <p:txBody>
          <a:bodyPr wrap="square" lIns="0" tIns="0" rIns="0" bIns="0" rtlCol="0" anchor="t"/>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80,8%</a:t>
            </a:r>
            <a:endParaRPr lang="en-US" sz="1400" dirty="0"/>
          </a:p>
        </p:txBody>
      </p:sp>
      <p:sp>
        <p:nvSpPr>
          <p:cNvPr id="18" name="Text 16"/>
          <p:cNvSpPr/>
          <p:nvPr/>
        </p:nvSpPr>
        <p:spPr>
          <a:xfrm>
            <a:off x="8092440" y="4617720"/>
            <a:ext cx="1005840" cy="274320"/>
          </a:xfrm>
          <a:prstGeom prst="rect">
            <a:avLst/>
          </a:prstGeom>
          <a:noFill/>
          <a:ln/>
        </p:spPr>
        <p:txBody>
          <a:bodyPr wrap="square" lIns="0" tIns="0" rIns="0" bIns="0" rtlCol="0" anchor="t"/>
          <a:lstStyle/>
          <a:p>
            <a:pPr algn="ctr" indent="0" marL="0">
              <a:buNone/>
            </a:pPr>
            <a:r>
              <a:rPr lang="en-US" sz="1300" dirty="0">
                <a:solidFill>
                  <a:srgbClr val="0E7C6B"/>
                </a:solidFill>
                <a:latin typeface="Palatino Linotype" pitchFamily="34" charset="0"/>
                <a:ea typeface="Palatino Linotype" pitchFamily="34" charset="-122"/>
                <a:cs typeface="Palatino Linotype" pitchFamily="34" charset="-120"/>
              </a:rPr>
              <a:t>INSP 2024</a:t>
            </a:r>
            <a:endParaRPr lang="en-US" sz="1300" dirty="0"/>
          </a:p>
        </p:txBody>
      </p:sp>
      <p:sp>
        <p:nvSpPr>
          <p:cNvPr id="19" name="Text 17"/>
          <p:cNvSpPr/>
          <p:nvPr/>
        </p:nvSpPr>
        <p:spPr>
          <a:xfrm>
            <a:off x="7360920" y="4919472"/>
            <a:ext cx="1600200" cy="292608"/>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Doza 1</a:t>
            </a:r>
            <a:endParaRPr lang="en-US" sz="1400" dirty="0"/>
          </a:p>
        </p:txBody>
      </p:sp>
      <p:sp>
        <p:nvSpPr>
          <p:cNvPr id="20" name="Shape 18"/>
          <p:cNvSpPr/>
          <p:nvPr/>
        </p:nvSpPr>
        <p:spPr>
          <a:xfrm>
            <a:off x="9555480" y="2927909"/>
            <a:ext cx="731520" cy="1644091"/>
          </a:xfrm>
          <a:prstGeom prst="rect">
            <a:avLst/>
          </a:prstGeom>
          <a:solidFill>
            <a:srgbClr val="585A64"/>
          </a:solidFill>
          <a:ln w="12700">
            <a:solidFill>
              <a:srgbClr val="585A64"/>
            </a:solidFill>
            <a:prstDash val="solid"/>
          </a:ln>
        </p:spPr>
        <p:txBody>
          <a:bodyPr/>
          <a:p/>
        </p:txBody>
      </p:sp>
      <p:sp>
        <p:nvSpPr>
          <p:cNvPr id="21" name="Text 19"/>
          <p:cNvSpPr/>
          <p:nvPr/>
        </p:nvSpPr>
        <p:spPr>
          <a:xfrm>
            <a:off x="9418320" y="2580437"/>
            <a:ext cx="1005840" cy="310896"/>
          </a:xfrm>
          <a:prstGeom prst="rect">
            <a:avLst/>
          </a:prstGeom>
          <a:noFill/>
          <a:ln/>
        </p:spPr>
        <p:txBody>
          <a:bodyPr wrap="square" lIns="0" tIns="0" rIns="0" bIns="0" rtlCol="0" anchor="t"/>
          <a:lstStyle/>
          <a:p>
            <a:pPr algn="ctr" indent="0" marL="0">
              <a:buNone/>
            </a:pPr>
            <a:r>
              <a:rPr lang="en-US" sz="1400" b="1" dirty="0">
                <a:solidFill>
                  <a:srgbClr val="585A64"/>
                </a:solidFill>
                <a:latin typeface="Palatino Linotype" pitchFamily="34" charset="0"/>
                <a:ea typeface="Palatino Linotype" pitchFamily="34" charset="-122"/>
                <a:cs typeface="Palatino Linotype" pitchFamily="34" charset="-120"/>
              </a:rPr>
              <a:t>62%</a:t>
            </a:r>
            <a:endParaRPr lang="en-US" sz="1400" dirty="0"/>
          </a:p>
        </p:txBody>
      </p:sp>
      <p:sp>
        <p:nvSpPr>
          <p:cNvPr id="22" name="Text 20"/>
          <p:cNvSpPr/>
          <p:nvPr/>
        </p:nvSpPr>
        <p:spPr>
          <a:xfrm>
            <a:off x="9418320" y="4617720"/>
            <a:ext cx="100584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articol</a:t>
            </a:r>
            <a:endParaRPr lang="en-US" sz="1300" dirty="0"/>
          </a:p>
        </p:txBody>
      </p:sp>
      <p:sp>
        <p:nvSpPr>
          <p:cNvPr id="23" name="Shape 21"/>
          <p:cNvSpPr/>
          <p:nvPr/>
        </p:nvSpPr>
        <p:spPr>
          <a:xfrm>
            <a:off x="10424160" y="2731679"/>
            <a:ext cx="731520" cy="1840321"/>
          </a:xfrm>
          <a:prstGeom prst="rect">
            <a:avLst/>
          </a:prstGeom>
          <a:solidFill>
            <a:srgbClr val="0E7C6B"/>
          </a:solidFill>
          <a:ln w="12700">
            <a:solidFill>
              <a:srgbClr val="0E7C6B"/>
            </a:solidFill>
            <a:prstDash val="solid"/>
          </a:ln>
        </p:spPr>
        <p:txBody>
          <a:bodyPr/>
          <a:p/>
        </p:txBody>
      </p:sp>
      <p:sp>
        <p:nvSpPr>
          <p:cNvPr id="24" name="Text 22"/>
          <p:cNvSpPr/>
          <p:nvPr/>
        </p:nvSpPr>
        <p:spPr>
          <a:xfrm>
            <a:off x="10287000" y="2384207"/>
            <a:ext cx="1005840" cy="310896"/>
          </a:xfrm>
          <a:prstGeom prst="rect">
            <a:avLst/>
          </a:prstGeom>
          <a:noFill/>
          <a:ln/>
        </p:spPr>
        <p:txBody>
          <a:bodyPr wrap="square" lIns="0" tIns="0" rIns="0" bIns="0" rtlCol="0" anchor="t"/>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69,4%</a:t>
            </a:r>
            <a:endParaRPr lang="en-US" sz="1400" dirty="0"/>
          </a:p>
        </p:txBody>
      </p:sp>
      <p:sp>
        <p:nvSpPr>
          <p:cNvPr id="25" name="Text 23"/>
          <p:cNvSpPr/>
          <p:nvPr/>
        </p:nvSpPr>
        <p:spPr>
          <a:xfrm>
            <a:off x="10287000" y="4617720"/>
            <a:ext cx="1005840" cy="274320"/>
          </a:xfrm>
          <a:prstGeom prst="rect">
            <a:avLst/>
          </a:prstGeom>
          <a:noFill/>
          <a:ln/>
        </p:spPr>
        <p:txBody>
          <a:bodyPr wrap="square" lIns="0" tIns="0" rIns="0" bIns="0" rtlCol="0" anchor="t"/>
          <a:lstStyle/>
          <a:p>
            <a:pPr algn="ctr" indent="0" marL="0">
              <a:buNone/>
            </a:pPr>
            <a:r>
              <a:rPr lang="en-US" sz="1300" dirty="0">
                <a:solidFill>
                  <a:srgbClr val="0E7C6B"/>
                </a:solidFill>
                <a:latin typeface="Palatino Linotype" pitchFamily="34" charset="0"/>
                <a:ea typeface="Palatino Linotype" pitchFamily="34" charset="-122"/>
                <a:cs typeface="Palatino Linotype" pitchFamily="34" charset="-120"/>
              </a:rPr>
              <a:t>INSP 2024</a:t>
            </a:r>
            <a:endParaRPr lang="en-US" sz="1300" dirty="0"/>
          </a:p>
        </p:txBody>
      </p:sp>
      <p:sp>
        <p:nvSpPr>
          <p:cNvPr id="26" name="Text 24"/>
          <p:cNvSpPr/>
          <p:nvPr/>
        </p:nvSpPr>
        <p:spPr>
          <a:xfrm>
            <a:off x="9555480" y="4919472"/>
            <a:ext cx="1600200" cy="292608"/>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Doza 2</a:t>
            </a:r>
            <a:endParaRPr lang="en-US" sz="1400" dirty="0"/>
          </a:p>
        </p:txBody>
      </p:sp>
      <p:sp>
        <p:nvSpPr>
          <p:cNvPr id="27" name="Shape 25"/>
          <p:cNvSpPr/>
          <p:nvPr/>
        </p:nvSpPr>
        <p:spPr>
          <a:xfrm>
            <a:off x="7269480" y="4572000"/>
            <a:ext cx="4343400" cy="18288"/>
          </a:xfrm>
          <a:prstGeom prst="rect">
            <a:avLst/>
          </a:prstGeom>
          <a:solidFill>
            <a:srgbClr val="C9C6BE"/>
          </a:solidFill>
          <a:ln w="12700">
            <a:solidFill>
              <a:srgbClr val="C9C6BE"/>
            </a:solidFill>
            <a:prstDash val="solid"/>
          </a:ln>
        </p:spPr>
        <p:txBody>
          <a:bodyPr/>
          <a:p/>
        </p:txBody>
      </p:sp>
      <p:sp>
        <p:nvSpPr>
          <p:cNvPr id="28" name="Text 26"/>
          <p:cNvSpPr/>
          <p:nvPr/>
        </p:nvSpPr>
        <p:spPr>
          <a:xfrm>
            <a:off x="594360" y="4846320"/>
            <a:ext cx="64008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Înainte de a crede sau de a respinge o cifră:</a:t>
            </a:r>
            <a:endParaRPr lang="en-US" sz="1500" dirty="0"/>
          </a:p>
        </p:txBody>
      </p:sp>
      <p:sp>
        <p:nvSpPr>
          <p:cNvPr id="29" name="Shape 27"/>
          <p:cNvSpPr/>
          <p:nvPr/>
        </p:nvSpPr>
        <p:spPr>
          <a:xfrm>
            <a:off x="594360" y="5257800"/>
            <a:ext cx="1536192" cy="329184"/>
          </a:xfrm>
          <a:prstGeom prst="roundRect">
            <a:avLst>
              <a:gd name="adj" fmla="val 50000"/>
            </a:avLst>
          </a:prstGeom>
          <a:solidFill>
            <a:srgbClr val="B02532"/>
          </a:solidFill>
          <a:ln w="12700">
            <a:solidFill>
              <a:srgbClr val="B02532"/>
            </a:solidFill>
            <a:prstDash val="solid"/>
          </a:ln>
        </p:spPr>
        <p:txBody>
          <a:bodyPr/>
          <a:p/>
        </p:txBody>
      </p:sp>
      <p:sp>
        <p:nvSpPr>
          <p:cNvPr id="30" name="Text 28"/>
          <p:cNvSpPr/>
          <p:nvPr/>
        </p:nvSpPr>
        <p:spPr>
          <a:xfrm>
            <a:off x="594360"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ce măsoară?</a:t>
            </a:r>
            <a:endParaRPr lang="en-US" sz="1300" dirty="0"/>
          </a:p>
        </p:txBody>
      </p:sp>
      <p:sp>
        <p:nvSpPr>
          <p:cNvPr id="31" name="Shape 29"/>
          <p:cNvSpPr/>
          <p:nvPr/>
        </p:nvSpPr>
        <p:spPr>
          <a:xfrm>
            <a:off x="2221992" y="5257800"/>
            <a:ext cx="1536192" cy="329184"/>
          </a:xfrm>
          <a:prstGeom prst="roundRect">
            <a:avLst>
              <a:gd name="adj" fmla="val 50000"/>
            </a:avLst>
          </a:prstGeom>
          <a:solidFill>
            <a:srgbClr val="B02532"/>
          </a:solidFill>
          <a:ln w="12700">
            <a:solidFill>
              <a:srgbClr val="B02532"/>
            </a:solidFill>
            <a:prstDash val="solid"/>
          </a:ln>
        </p:spPr>
        <p:txBody>
          <a:bodyPr/>
          <a:p/>
        </p:txBody>
      </p:sp>
      <p:sp>
        <p:nvSpPr>
          <p:cNvPr id="32" name="Text 30"/>
          <p:cNvSpPr/>
          <p:nvPr/>
        </p:nvSpPr>
        <p:spPr>
          <a:xfrm>
            <a:off x="2221992"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la ce vârstă?</a:t>
            </a:r>
            <a:endParaRPr lang="en-US" sz="1300" dirty="0"/>
          </a:p>
        </p:txBody>
      </p:sp>
      <p:sp>
        <p:nvSpPr>
          <p:cNvPr id="33" name="Shape 31"/>
          <p:cNvSpPr/>
          <p:nvPr/>
        </p:nvSpPr>
        <p:spPr>
          <a:xfrm>
            <a:off x="3849624" y="5257800"/>
            <a:ext cx="1536192" cy="329184"/>
          </a:xfrm>
          <a:prstGeom prst="roundRect">
            <a:avLst>
              <a:gd name="adj" fmla="val 50000"/>
            </a:avLst>
          </a:prstGeom>
          <a:solidFill>
            <a:srgbClr val="B02532"/>
          </a:solidFill>
          <a:ln w="12700">
            <a:solidFill>
              <a:srgbClr val="B02532"/>
            </a:solidFill>
            <a:prstDash val="solid"/>
          </a:ln>
        </p:spPr>
        <p:txBody>
          <a:bodyPr/>
          <a:p/>
        </p:txBody>
      </p:sp>
      <p:sp>
        <p:nvSpPr>
          <p:cNvPr id="34" name="Text 32"/>
          <p:cNvSpPr/>
          <p:nvPr/>
        </p:nvSpPr>
        <p:spPr>
          <a:xfrm>
            <a:off x="3849624"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pentru ce an?</a:t>
            </a:r>
            <a:endParaRPr lang="en-US" sz="1300" dirty="0"/>
          </a:p>
        </p:txBody>
      </p:sp>
      <p:sp>
        <p:nvSpPr>
          <p:cNvPr id="35" name="Shape 33"/>
          <p:cNvSpPr/>
          <p:nvPr/>
        </p:nvSpPr>
        <p:spPr>
          <a:xfrm>
            <a:off x="5477256" y="5257800"/>
            <a:ext cx="1536192" cy="329184"/>
          </a:xfrm>
          <a:prstGeom prst="roundRect">
            <a:avLst>
              <a:gd name="adj" fmla="val 50000"/>
            </a:avLst>
          </a:prstGeom>
          <a:solidFill>
            <a:srgbClr val="B02532"/>
          </a:solidFill>
          <a:ln w="12700">
            <a:solidFill>
              <a:srgbClr val="B02532"/>
            </a:solidFill>
            <a:prstDash val="solid"/>
          </a:ln>
        </p:spPr>
        <p:txBody>
          <a:bodyPr/>
          <a:p/>
        </p:txBody>
      </p:sp>
      <p:sp>
        <p:nvSpPr>
          <p:cNvPr id="36" name="Text 34"/>
          <p:cNvSpPr/>
          <p:nvPr/>
        </p:nvSpPr>
        <p:spPr>
          <a:xfrm>
            <a:off x="5477256"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din ce sursă?</a:t>
            </a:r>
            <a:endParaRPr lang="en-US" sz="1300" dirty="0"/>
          </a:p>
        </p:txBody>
      </p:sp>
      <p:sp>
        <p:nvSpPr>
          <p:cNvPr id="37" name="Text 35"/>
          <p:cNvSpPr/>
          <p:nvPr/>
        </p:nvSpPr>
        <p:spPr>
          <a:xfrm>
            <a:off x="594360" y="571500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„Vaccinat” poate însemna o doză sau schema completă; ponderea nevaccinaților nu este ponderea vaccinaților.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9B7EF7"/>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1F1040"/>
                </a:solidFill>
                <a:latin typeface="Palatino Linotype" pitchFamily="34" charset="0"/>
                <a:ea typeface="Palatino Linotype" pitchFamily="34" charset="-122"/>
                <a:cs typeface="Palatino Linotype" pitchFamily="34" charset="-120"/>
              </a:rPr>
              <a:t>TERMENUL NOU 1 DIN 3</a:t>
            </a:r>
            <a:endParaRPr lang="en-US" sz="1300" dirty="0"/>
          </a:p>
        </p:txBody>
      </p:sp>
      <p:sp>
        <p:nvSpPr>
          <p:cNvPr id="3" name="Text 1"/>
          <p:cNvSpPr/>
          <p:nvPr/>
        </p:nvSpPr>
        <p:spPr>
          <a:xfrm>
            <a:off x="594360" y="777240"/>
            <a:ext cx="10972800" cy="914400"/>
          </a:xfrm>
          <a:prstGeom prst="rect">
            <a:avLst/>
          </a:prstGeom>
          <a:noFill/>
          <a:ln/>
        </p:spPr>
        <p:txBody>
          <a:bodyPr wrap="square" lIns="0" tIns="0" rIns="0" bIns="0" rtlCol="0" anchor="t"/>
          <a:lstStyle/>
          <a:p>
            <a:pPr indent="0" marL="0">
              <a:buNone/>
            </a:pPr>
            <a:r>
              <a:rPr lang="en-US" sz="3200" b="1" dirty="0">
                <a:solidFill>
                  <a:srgbClr val="1F1040"/>
                </a:solidFill>
                <a:latin typeface="Palatino Linotype" pitchFamily="34" charset="0"/>
                <a:ea typeface="Palatino Linotype" pitchFamily="34" charset="-122"/>
                <a:cs typeface="Palatino Linotype" pitchFamily="34" charset="-120"/>
              </a:rPr>
              <a:t>Operațiunile esențiale de sănătate publică (EPHO)</a:t>
            </a:r>
            <a:endParaRPr lang="en-US" sz="3200" dirty="0"/>
          </a:p>
        </p:txBody>
      </p:sp>
      <p:sp>
        <p:nvSpPr>
          <p:cNvPr id="4" name="Shape 2"/>
          <p:cNvSpPr/>
          <p:nvPr/>
        </p:nvSpPr>
        <p:spPr>
          <a:xfrm>
            <a:off x="594360" y="1874520"/>
            <a:ext cx="10972800" cy="1600200"/>
          </a:xfrm>
          <a:prstGeom prst="roundRect">
            <a:avLst>
              <a:gd name="adj" fmla="val 5143"/>
            </a:avLst>
          </a:prstGeom>
          <a:solidFill>
            <a:srgbClr val="FFFFFF"/>
          </a:solidFill>
          <a:ln w="12700">
            <a:solidFill>
              <a:srgbClr val="FFFFFF"/>
            </a:solidFill>
            <a:prstDash val="solid"/>
          </a:ln>
        </p:spPr>
        <p:txBody>
          <a:bodyPr/>
          <a:p/>
        </p:txBody>
      </p:sp>
      <p:sp>
        <p:nvSpPr>
          <p:cNvPr id="5" name="Text 3"/>
          <p:cNvSpPr/>
          <p:nvPr/>
        </p:nvSpPr>
        <p:spPr>
          <a:xfrm>
            <a:off x="914400" y="1874520"/>
            <a:ext cx="10332720" cy="1600200"/>
          </a:xfrm>
          <a:prstGeom prst="rect">
            <a:avLst/>
          </a:prstGeom>
          <a:noFill/>
          <a:ln/>
        </p:spPr>
        <p:txBody>
          <a:bodyPr wrap="square" lIns="0" tIns="0" rIns="0" bIns="0" rtlCol="0" anchor="ctr"/>
          <a:lstStyle/>
          <a:p>
            <a:pPr indent="0" marL="0">
              <a:buNone/>
            </a:pPr>
            <a:r>
              <a:rPr lang="en-US" sz="2400" b="1" i="1" dirty="0">
                <a:solidFill>
                  <a:srgbClr val="4A2D8C"/>
                </a:solidFill>
                <a:latin typeface="Palatino Linotype" pitchFamily="34" charset="0"/>
                <a:ea typeface="Palatino Linotype" pitchFamily="34" charset="-122"/>
                <a:cs typeface="Palatino Linotype" pitchFamily="34" charset="-120"/>
              </a:rPr>
              <a:t>Lista lucrurilor pe care un sistem trebuie să le facă pentru sănătatea tuturor, nu doar pentru pacientul care ajunge la medic.</a:t>
            </a:r>
            <a:endParaRPr lang="en-US" sz="2400" dirty="0"/>
          </a:p>
        </p:txBody>
      </p:sp>
      <p:sp>
        <p:nvSpPr>
          <p:cNvPr id="6" name="Text 4"/>
          <p:cNvSpPr/>
          <p:nvPr/>
        </p:nvSpPr>
        <p:spPr>
          <a:xfrm>
            <a:off x="594360" y="3749040"/>
            <a:ext cx="10972800" cy="914400"/>
          </a:xfrm>
          <a:prstGeom prst="rect">
            <a:avLst/>
          </a:prstGeom>
          <a:noFill/>
          <a:ln/>
        </p:spPr>
        <p:txBody>
          <a:bodyPr wrap="square" lIns="0" tIns="0" rIns="0" bIns="0" rtlCol="0" anchor="t"/>
          <a:lstStyle/>
          <a:p>
            <a:pPr indent="0" marL="0">
              <a:buNone/>
            </a:pPr>
            <a:r>
              <a:rPr lang="en-US" sz="1800" dirty="0">
                <a:solidFill>
                  <a:srgbClr val="1F1040"/>
                </a:solidFill>
                <a:latin typeface="Palatino Linotype" pitchFamily="34" charset="0"/>
                <a:ea typeface="Palatino Linotype" pitchFamily="34" charset="-122"/>
                <a:cs typeface="Palatino Linotype" pitchFamily="34" charset="-120"/>
              </a:rPr>
              <a:t>Zece operațiuni, formulate în 2012 de Biroul Regional OMS pentru Europa; țările le folosesc pentru a-și evalua și planifica serviciile de sănătate publică.</a:t>
            </a:r>
            <a:endParaRPr lang="en-US" sz="1800" dirty="0"/>
          </a:p>
        </p:txBody>
      </p:sp>
      <p:sp>
        <p:nvSpPr>
          <p:cNvPr id="7" name="Text 5"/>
          <p:cNvSpPr/>
          <p:nvPr/>
        </p:nvSpPr>
        <p:spPr>
          <a:xfrm>
            <a:off x="594360" y="4846320"/>
            <a:ext cx="10972800" cy="822960"/>
          </a:xfrm>
          <a:prstGeom prst="rect">
            <a:avLst/>
          </a:prstGeom>
          <a:noFill/>
          <a:ln/>
        </p:spPr>
        <p:txBody>
          <a:bodyPr wrap="square" lIns="0" tIns="0" rIns="0" bIns="0" rtlCol="0" anchor="t"/>
          <a:lstStyle/>
          <a:p>
            <a:pPr indent="0" marL="0">
              <a:buNone/>
            </a:pPr>
            <a:r>
              <a:rPr lang="en-US" sz="1800" b="1" dirty="0">
                <a:solidFill>
                  <a:srgbClr val="1F1040"/>
                </a:solidFill>
                <a:latin typeface="Palatino Linotype" pitchFamily="34" charset="0"/>
                <a:ea typeface="Palatino Linotype" pitchFamily="34" charset="-122"/>
                <a:cs typeface="Palatino Linotype" pitchFamily="34" charset="-120"/>
              </a:rPr>
              <a:t>În cazul de rujeolă: supravegherea, răspunsul la focar, vaccinarea contacților, comunicarea cu familia.</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PLANUL EUROPEAN OMS, 2012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Zece operațiuni, în două grupe de câte cinci</a:t>
            </a:r>
            <a:endParaRPr lang="en-US" sz="3000" dirty="0"/>
          </a:p>
        </p:txBody>
      </p:sp>
      <p:sp>
        <p:nvSpPr>
          <p:cNvPr id="4" name="Text 2"/>
          <p:cNvSpPr/>
          <p:nvPr/>
        </p:nvSpPr>
        <p:spPr>
          <a:xfrm>
            <a:off x="594360" y="1600200"/>
            <a:ext cx="5303520" cy="320040"/>
          </a:xfrm>
          <a:prstGeom prst="rect">
            <a:avLst/>
          </a:prstGeom>
          <a:noFill/>
          <a:ln/>
        </p:spPr>
        <p:txBody>
          <a:bodyPr wrap="square" lIns="0" tIns="0" rIns="0" bIns="0" rtlCol="0" anchor="t"/>
          <a:lstStyle/>
          <a:p>
            <a:pPr indent="0" marL="0">
              <a:buNone/>
            </a:pPr>
            <a:r>
              <a:rPr lang="en-US" sz="1400" b="1" spc="100" kern="0" dirty="0">
                <a:solidFill>
                  <a:srgbClr val="4A2D8C"/>
                </a:solidFill>
                <a:latin typeface="Palatino Linotype" pitchFamily="34" charset="0"/>
                <a:ea typeface="Palatino Linotype" pitchFamily="34" charset="-122"/>
                <a:cs typeface="Palatino Linotype" pitchFamily="34" charset="-120"/>
              </a:rPr>
              <a:t>OPERAȚIUNI DE BAZĂ · EPHO 1–5</a:t>
            </a:r>
            <a:endParaRPr lang="en-US" sz="1400" dirty="0"/>
          </a:p>
        </p:txBody>
      </p:sp>
      <p:sp>
        <p:nvSpPr>
          <p:cNvPr id="5" name="Shape 3"/>
          <p:cNvSpPr/>
          <p:nvPr/>
        </p:nvSpPr>
        <p:spPr>
          <a:xfrm>
            <a:off x="594360" y="2011680"/>
            <a:ext cx="5303520" cy="585216"/>
          </a:xfrm>
          <a:prstGeom prst="roundRect">
            <a:avLst>
              <a:gd name="adj" fmla="val 14063"/>
            </a:avLst>
          </a:prstGeom>
          <a:solidFill>
            <a:srgbClr val="ECEAE4"/>
          </a:solidFill>
          <a:ln w="12700">
            <a:solidFill>
              <a:srgbClr val="ECEAE4"/>
            </a:solidFill>
            <a:prstDash val="solid"/>
          </a:ln>
        </p:spPr>
        <p:txBody>
          <a:bodyPr/>
          <a:p/>
        </p:txBody>
      </p:sp>
      <p:sp>
        <p:nvSpPr>
          <p:cNvPr id="6" name="Shape 4"/>
          <p:cNvSpPr/>
          <p:nvPr/>
        </p:nvSpPr>
        <p:spPr>
          <a:xfrm>
            <a:off x="731520" y="2093976"/>
            <a:ext cx="420624" cy="420624"/>
          </a:xfrm>
          <a:prstGeom prst="ellipse">
            <a:avLst/>
          </a:prstGeom>
          <a:solidFill>
            <a:srgbClr val="4A2D8C"/>
          </a:solidFill>
          <a:ln/>
        </p:spPr>
        <p:txBody>
          <a:bodyPr/>
          <a:p/>
        </p:txBody>
      </p:sp>
      <p:sp>
        <p:nvSpPr>
          <p:cNvPr id="7" name="Text 5"/>
          <p:cNvSpPr/>
          <p:nvPr/>
        </p:nvSpPr>
        <p:spPr>
          <a:xfrm>
            <a:off x="731520" y="20939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325880" y="2011680"/>
            <a:ext cx="342900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Supravegherea sănătății și a stării de bine</a:t>
            </a:r>
            <a:endParaRPr lang="en-US" sz="1500" dirty="0"/>
          </a:p>
        </p:txBody>
      </p:sp>
      <p:sp>
        <p:nvSpPr>
          <p:cNvPr id="9" name="Shape 7"/>
          <p:cNvSpPr/>
          <p:nvPr/>
        </p:nvSpPr>
        <p:spPr>
          <a:xfrm>
            <a:off x="4800600" y="2139696"/>
            <a:ext cx="1005840" cy="329184"/>
          </a:xfrm>
          <a:prstGeom prst="roundRect">
            <a:avLst>
              <a:gd name="adj" fmla="val 50000"/>
            </a:avLst>
          </a:prstGeom>
          <a:solidFill>
            <a:srgbClr val="27D3BE"/>
          </a:solidFill>
          <a:ln w="12700">
            <a:solidFill>
              <a:srgbClr val="27D3BE"/>
            </a:solidFill>
            <a:prstDash val="solid"/>
          </a:ln>
        </p:spPr>
        <p:txBody>
          <a:bodyPr/>
          <a:p/>
        </p:txBody>
      </p:sp>
      <p:sp>
        <p:nvSpPr>
          <p:cNvPr id="10" name="Text 8"/>
          <p:cNvSpPr/>
          <p:nvPr/>
        </p:nvSpPr>
        <p:spPr>
          <a:xfrm>
            <a:off x="4800600" y="2139696"/>
            <a:ext cx="100584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informare</a:t>
            </a:r>
            <a:endParaRPr lang="en-US" sz="1200" dirty="0"/>
          </a:p>
        </p:txBody>
      </p:sp>
      <p:sp>
        <p:nvSpPr>
          <p:cNvPr id="11" name="Shape 9"/>
          <p:cNvSpPr/>
          <p:nvPr/>
        </p:nvSpPr>
        <p:spPr>
          <a:xfrm>
            <a:off x="594360" y="2688336"/>
            <a:ext cx="5303520" cy="585216"/>
          </a:xfrm>
          <a:prstGeom prst="roundRect">
            <a:avLst>
              <a:gd name="adj" fmla="val 14063"/>
            </a:avLst>
          </a:prstGeom>
          <a:solidFill>
            <a:srgbClr val="ECEAE4"/>
          </a:solidFill>
          <a:ln w="12700">
            <a:solidFill>
              <a:srgbClr val="ECEAE4"/>
            </a:solidFill>
            <a:prstDash val="solid"/>
          </a:ln>
        </p:spPr>
        <p:txBody>
          <a:bodyPr/>
          <a:p/>
        </p:txBody>
      </p:sp>
      <p:sp>
        <p:nvSpPr>
          <p:cNvPr id="12" name="Shape 10"/>
          <p:cNvSpPr/>
          <p:nvPr/>
        </p:nvSpPr>
        <p:spPr>
          <a:xfrm>
            <a:off x="731520" y="2770632"/>
            <a:ext cx="420624" cy="420624"/>
          </a:xfrm>
          <a:prstGeom prst="ellipse">
            <a:avLst/>
          </a:prstGeom>
          <a:solidFill>
            <a:srgbClr val="4A2D8C"/>
          </a:solidFill>
          <a:ln/>
        </p:spPr>
        <p:txBody>
          <a:bodyPr/>
          <a:p/>
        </p:txBody>
      </p:sp>
      <p:sp>
        <p:nvSpPr>
          <p:cNvPr id="13" name="Text 11"/>
          <p:cNvSpPr/>
          <p:nvPr/>
        </p:nvSpPr>
        <p:spPr>
          <a:xfrm>
            <a:off x="731520" y="2770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325880" y="2688336"/>
            <a:ext cx="342900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Pericolele și urgențele: monitorizare și răspuns</a:t>
            </a:r>
            <a:endParaRPr lang="en-US" sz="1500" dirty="0"/>
          </a:p>
        </p:txBody>
      </p:sp>
      <p:sp>
        <p:nvSpPr>
          <p:cNvPr id="15" name="Shape 13"/>
          <p:cNvSpPr/>
          <p:nvPr/>
        </p:nvSpPr>
        <p:spPr>
          <a:xfrm>
            <a:off x="4800600" y="2816352"/>
            <a:ext cx="1005840" cy="329184"/>
          </a:xfrm>
          <a:prstGeom prst="roundRect">
            <a:avLst>
              <a:gd name="adj" fmla="val 50000"/>
            </a:avLst>
          </a:prstGeom>
          <a:solidFill>
            <a:srgbClr val="27D3BE"/>
          </a:solidFill>
          <a:ln w="12700">
            <a:solidFill>
              <a:srgbClr val="27D3BE"/>
            </a:solidFill>
            <a:prstDash val="solid"/>
          </a:ln>
        </p:spPr>
        <p:txBody>
          <a:bodyPr/>
          <a:p/>
        </p:txBody>
      </p:sp>
      <p:sp>
        <p:nvSpPr>
          <p:cNvPr id="16" name="Text 14"/>
          <p:cNvSpPr/>
          <p:nvPr/>
        </p:nvSpPr>
        <p:spPr>
          <a:xfrm>
            <a:off x="4800600" y="2816352"/>
            <a:ext cx="100584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informare</a:t>
            </a:r>
            <a:endParaRPr lang="en-US" sz="1200" dirty="0"/>
          </a:p>
        </p:txBody>
      </p:sp>
      <p:sp>
        <p:nvSpPr>
          <p:cNvPr id="17" name="Shape 15"/>
          <p:cNvSpPr/>
          <p:nvPr/>
        </p:nvSpPr>
        <p:spPr>
          <a:xfrm>
            <a:off x="594360" y="3364992"/>
            <a:ext cx="5303520" cy="585216"/>
          </a:xfrm>
          <a:prstGeom prst="roundRect">
            <a:avLst>
              <a:gd name="adj" fmla="val 14063"/>
            </a:avLst>
          </a:prstGeom>
          <a:solidFill>
            <a:srgbClr val="ECEAE4"/>
          </a:solidFill>
          <a:ln w="12700">
            <a:solidFill>
              <a:srgbClr val="ECEAE4"/>
            </a:solidFill>
            <a:prstDash val="solid"/>
          </a:ln>
        </p:spPr>
        <p:txBody>
          <a:bodyPr/>
          <a:p/>
        </p:txBody>
      </p:sp>
      <p:sp>
        <p:nvSpPr>
          <p:cNvPr id="18" name="Shape 16"/>
          <p:cNvSpPr/>
          <p:nvPr/>
        </p:nvSpPr>
        <p:spPr>
          <a:xfrm>
            <a:off x="731520" y="3447288"/>
            <a:ext cx="420624" cy="420624"/>
          </a:xfrm>
          <a:prstGeom prst="ellipse">
            <a:avLst/>
          </a:prstGeom>
          <a:solidFill>
            <a:srgbClr val="4A2D8C"/>
          </a:solidFill>
          <a:ln/>
        </p:spPr>
        <p:txBody>
          <a:bodyPr/>
          <a:p/>
        </p:txBody>
      </p:sp>
      <p:sp>
        <p:nvSpPr>
          <p:cNvPr id="19" name="Text 17"/>
          <p:cNvSpPr/>
          <p:nvPr/>
        </p:nvSpPr>
        <p:spPr>
          <a:xfrm>
            <a:off x="731520" y="3447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1325880" y="3364992"/>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Protecția sănătății</a:t>
            </a:r>
            <a:endParaRPr lang="en-US" sz="1500" dirty="0"/>
          </a:p>
        </p:txBody>
      </p:sp>
      <p:sp>
        <p:nvSpPr>
          <p:cNvPr id="21" name="Shape 19"/>
          <p:cNvSpPr/>
          <p:nvPr/>
        </p:nvSpPr>
        <p:spPr>
          <a:xfrm>
            <a:off x="594360" y="4041648"/>
            <a:ext cx="5303520" cy="585216"/>
          </a:xfrm>
          <a:prstGeom prst="roundRect">
            <a:avLst>
              <a:gd name="adj" fmla="val 14063"/>
            </a:avLst>
          </a:prstGeom>
          <a:solidFill>
            <a:srgbClr val="ECEAE4"/>
          </a:solidFill>
          <a:ln w="12700">
            <a:solidFill>
              <a:srgbClr val="ECEAE4"/>
            </a:solidFill>
            <a:prstDash val="solid"/>
          </a:ln>
        </p:spPr>
        <p:txBody>
          <a:bodyPr/>
          <a:p/>
        </p:txBody>
      </p:sp>
      <p:sp>
        <p:nvSpPr>
          <p:cNvPr id="22" name="Shape 20"/>
          <p:cNvSpPr/>
          <p:nvPr/>
        </p:nvSpPr>
        <p:spPr>
          <a:xfrm>
            <a:off x="731520" y="4123944"/>
            <a:ext cx="420624" cy="420624"/>
          </a:xfrm>
          <a:prstGeom prst="ellipse">
            <a:avLst/>
          </a:prstGeom>
          <a:solidFill>
            <a:srgbClr val="4A2D8C"/>
          </a:solidFill>
          <a:ln/>
        </p:spPr>
        <p:txBody>
          <a:bodyPr/>
          <a:p/>
        </p:txBody>
      </p:sp>
      <p:sp>
        <p:nvSpPr>
          <p:cNvPr id="23" name="Text 21"/>
          <p:cNvSpPr/>
          <p:nvPr/>
        </p:nvSpPr>
        <p:spPr>
          <a:xfrm>
            <a:off x="731520" y="4123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4" name="Text 22"/>
          <p:cNvSpPr/>
          <p:nvPr/>
        </p:nvSpPr>
        <p:spPr>
          <a:xfrm>
            <a:off x="1325880" y="4041648"/>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Promovarea sănătății</a:t>
            </a:r>
            <a:endParaRPr lang="en-US" sz="1500" dirty="0"/>
          </a:p>
        </p:txBody>
      </p:sp>
      <p:sp>
        <p:nvSpPr>
          <p:cNvPr id="25" name="Shape 23"/>
          <p:cNvSpPr/>
          <p:nvPr/>
        </p:nvSpPr>
        <p:spPr>
          <a:xfrm>
            <a:off x="594360" y="4718304"/>
            <a:ext cx="5303520" cy="585216"/>
          </a:xfrm>
          <a:prstGeom prst="roundRect">
            <a:avLst>
              <a:gd name="adj" fmla="val 14063"/>
            </a:avLst>
          </a:prstGeom>
          <a:solidFill>
            <a:srgbClr val="ECEAE4"/>
          </a:solidFill>
          <a:ln w="12700">
            <a:solidFill>
              <a:srgbClr val="ECEAE4"/>
            </a:solidFill>
            <a:prstDash val="solid"/>
          </a:ln>
        </p:spPr>
        <p:txBody>
          <a:bodyPr/>
          <a:p/>
        </p:txBody>
      </p:sp>
      <p:sp>
        <p:nvSpPr>
          <p:cNvPr id="26" name="Shape 24"/>
          <p:cNvSpPr/>
          <p:nvPr/>
        </p:nvSpPr>
        <p:spPr>
          <a:xfrm>
            <a:off x="731520" y="4800600"/>
            <a:ext cx="420624" cy="420624"/>
          </a:xfrm>
          <a:prstGeom prst="ellipse">
            <a:avLst/>
          </a:prstGeom>
          <a:solidFill>
            <a:srgbClr val="4A2D8C"/>
          </a:solidFill>
          <a:ln/>
        </p:spPr>
        <p:txBody>
          <a:bodyPr/>
          <a:p/>
        </p:txBody>
      </p:sp>
      <p:sp>
        <p:nvSpPr>
          <p:cNvPr id="27" name="Text 25"/>
          <p:cNvSpPr/>
          <p:nvPr/>
        </p:nvSpPr>
        <p:spPr>
          <a:xfrm>
            <a:off x="731520" y="4800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8" name="Text 26"/>
          <p:cNvSpPr/>
          <p:nvPr/>
        </p:nvSpPr>
        <p:spPr>
          <a:xfrm>
            <a:off x="1325880" y="4718304"/>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Prevenirea bolilor, cu depistarea precoce</a:t>
            </a:r>
            <a:endParaRPr lang="en-US" sz="1500" dirty="0"/>
          </a:p>
        </p:txBody>
      </p:sp>
      <p:sp>
        <p:nvSpPr>
          <p:cNvPr id="29" name="Text 27"/>
          <p:cNvSpPr/>
          <p:nvPr/>
        </p:nvSpPr>
        <p:spPr>
          <a:xfrm>
            <a:off x="6263640" y="1600200"/>
            <a:ext cx="5303520" cy="320040"/>
          </a:xfrm>
          <a:prstGeom prst="rect">
            <a:avLst/>
          </a:prstGeom>
          <a:noFill/>
          <a:ln/>
        </p:spPr>
        <p:txBody>
          <a:bodyPr wrap="square" lIns="0" tIns="0" rIns="0" bIns="0" rtlCol="0" anchor="t"/>
          <a:lstStyle/>
          <a:p>
            <a:pPr indent="0" marL="0">
              <a:buNone/>
            </a:pPr>
            <a:r>
              <a:rPr lang="en-US" sz="1400" b="1" spc="100" kern="0" dirty="0">
                <a:solidFill>
                  <a:srgbClr val="B02532"/>
                </a:solidFill>
                <a:latin typeface="Palatino Linotype" pitchFamily="34" charset="0"/>
                <a:ea typeface="Palatino Linotype" pitchFamily="34" charset="-122"/>
                <a:cs typeface="Palatino Linotype" pitchFamily="34" charset="-120"/>
              </a:rPr>
              <a:t>CARE LE FAC POSIBILE · EPHO 6–10</a:t>
            </a:r>
            <a:endParaRPr lang="en-US" sz="1400" dirty="0"/>
          </a:p>
        </p:txBody>
      </p:sp>
      <p:sp>
        <p:nvSpPr>
          <p:cNvPr id="30" name="Shape 28"/>
          <p:cNvSpPr/>
          <p:nvPr/>
        </p:nvSpPr>
        <p:spPr>
          <a:xfrm>
            <a:off x="6263640" y="2011680"/>
            <a:ext cx="5303520" cy="585216"/>
          </a:xfrm>
          <a:prstGeom prst="roundRect">
            <a:avLst>
              <a:gd name="adj" fmla="val 14063"/>
            </a:avLst>
          </a:prstGeom>
          <a:solidFill>
            <a:srgbClr val="ECEAE4"/>
          </a:solidFill>
          <a:ln w="12700">
            <a:solidFill>
              <a:srgbClr val="ECEAE4"/>
            </a:solidFill>
            <a:prstDash val="solid"/>
          </a:ln>
        </p:spPr>
        <p:txBody>
          <a:bodyPr/>
          <a:p/>
        </p:txBody>
      </p:sp>
      <p:sp>
        <p:nvSpPr>
          <p:cNvPr id="31" name="Shape 29"/>
          <p:cNvSpPr/>
          <p:nvPr/>
        </p:nvSpPr>
        <p:spPr>
          <a:xfrm>
            <a:off x="6400800" y="2093976"/>
            <a:ext cx="420624" cy="420624"/>
          </a:xfrm>
          <a:prstGeom prst="ellipse">
            <a:avLst/>
          </a:prstGeom>
          <a:solidFill>
            <a:srgbClr val="B02532"/>
          </a:solidFill>
          <a:ln/>
        </p:spPr>
        <p:txBody>
          <a:bodyPr/>
          <a:p/>
        </p:txBody>
      </p:sp>
      <p:sp>
        <p:nvSpPr>
          <p:cNvPr id="32" name="Text 30"/>
          <p:cNvSpPr/>
          <p:nvPr/>
        </p:nvSpPr>
        <p:spPr>
          <a:xfrm>
            <a:off x="6400800" y="20939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33" name="Text 31"/>
          <p:cNvSpPr/>
          <p:nvPr/>
        </p:nvSpPr>
        <p:spPr>
          <a:xfrm>
            <a:off x="6995160" y="2011680"/>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Guvernanța pentru sănătate</a:t>
            </a:r>
            <a:endParaRPr lang="en-US" sz="1500" dirty="0"/>
          </a:p>
        </p:txBody>
      </p:sp>
      <p:sp>
        <p:nvSpPr>
          <p:cNvPr id="34" name="Shape 32"/>
          <p:cNvSpPr/>
          <p:nvPr/>
        </p:nvSpPr>
        <p:spPr>
          <a:xfrm>
            <a:off x="6263640" y="2688336"/>
            <a:ext cx="5303520" cy="585216"/>
          </a:xfrm>
          <a:prstGeom prst="roundRect">
            <a:avLst>
              <a:gd name="adj" fmla="val 14063"/>
            </a:avLst>
          </a:prstGeom>
          <a:solidFill>
            <a:srgbClr val="ECEAE4"/>
          </a:solidFill>
          <a:ln w="12700">
            <a:solidFill>
              <a:srgbClr val="ECEAE4"/>
            </a:solidFill>
            <a:prstDash val="solid"/>
          </a:ln>
        </p:spPr>
        <p:txBody>
          <a:bodyPr/>
          <a:p/>
        </p:txBody>
      </p:sp>
      <p:sp>
        <p:nvSpPr>
          <p:cNvPr id="35" name="Shape 33"/>
          <p:cNvSpPr/>
          <p:nvPr/>
        </p:nvSpPr>
        <p:spPr>
          <a:xfrm>
            <a:off x="6400800" y="2770632"/>
            <a:ext cx="420624" cy="420624"/>
          </a:xfrm>
          <a:prstGeom prst="ellipse">
            <a:avLst/>
          </a:prstGeom>
          <a:solidFill>
            <a:srgbClr val="B02532"/>
          </a:solidFill>
          <a:ln/>
        </p:spPr>
        <p:txBody>
          <a:bodyPr/>
          <a:p/>
        </p:txBody>
      </p:sp>
      <p:sp>
        <p:nvSpPr>
          <p:cNvPr id="36" name="Text 34"/>
          <p:cNvSpPr/>
          <p:nvPr/>
        </p:nvSpPr>
        <p:spPr>
          <a:xfrm>
            <a:off x="6400800" y="2770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95160" y="2688336"/>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Forța de muncă din sănătatea publică</a:t>
            </a:r>
            <a:endParaRPr lang="en-US" sz="1500" dirty="0"/>
          </a:p>
        </p:txBody>
      </p:sp>
      <p:sp>
        <p:nvSpPr>
          <p:cNvPr id="38" name="Shape 36"/>
          <p:cNvSpPr/>
          <p:nvPr/>
        </p:nvSpPr>
        <p:spPr>
          <a:xfrm>
            <a:off x="6263640" y="3364992"/>
            <a:ext cx="5303520" cy="585216"/>
          </a:xfrm>
          <a:prstGeom prst="roundRect">
            <a:avLst>
              <a:gd name="adj" fmla="val 14063"/>
            </a:avLst>
          </a:prstGeom>
          <a:solidFill>
            <a:srgbClr val="ECEAE4"/>
          </a:solidFill>
          <a:ln w="12700">
            <a:solidFill>
              <a:srgbClr val="ECEAE4"/>
            </a:solidFill>
            <a:prstDash val="solid"/>
          </a:ln>
        </p:spPr>
        <p:txBody>
          <a:bodyPr/>
          <a:p/>
        </p:txBody>
      </p:sp>
      <p:sp>
        <p:nvSpPr>
          <p:cNvPr id="39" name="Shape 37"/>
          <p:cNvSpPr/>
          <p:nvPr/>
        </p:nvSpPr>
        <p:spPr>
          <a:xfrm>
            <a:off x="6400800" y="3447288"/>
            <a:ext cx="420624" cy="420624"/>
          </a:xfrm>
          <a:prstGeom prst="ellipse">
            <a:avLst/>
          </a:prstGeom>
          <a:solidFill>
            <a:srgbClr val="B02532"/>
          </a:solidFill>
          <a:ln/>
        </p:spPr>
        <p:txBody>
          <a:bodyPr/>
          <a:p/>
        </p:txBody>
      </p:sp>
      <p:sp>
        <p:nvSpPr>
          <p:cNvPr id="40" name="Text 38"/>
          <p:cNvSpPr/>
          <p:nvPr/>
        </p:nvSpPr>
        <p:spPr>
          <a:xfrm>
            <a:off x="6400800" y="3447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8</a:t>
            </a:r>
            <a:endParaRPr lang="en-US" sz="1400" dirty="0"/>
          </a:p>
        </p:txBody>
      </p:sp>
      <p:sp>
        <p:nvSpPr>
          <p:cNvPr id="41" name="Text 39"/>
          <p:cNvSpPr/>
          <p:nvPr/>
        </p:nvSpPr>
        <p:spPr>
          <a:xfrm>
            <a:off x="6995160" y="3364992"/>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Structurile organizaționale și finanțarea</a:t>
            </a:r>
            <a:endParaRPr lang="en-US" sz="1500" dirty="0"/>
          </a:p>
        </p:txBody>
      </p:sp>
      <p:sp>
        <p:nvSpPr>
          <p:cNvPr id="42" name="Shape 40"/>
          <p:cNvSpPr/>
          <p:nvPr/>
        </p:nvSpPr>
        <p:spPr>
          <a:xfrm>
            <a:off x="6263640" y="4041648"/>
            <a:ext cx="5303520" cy="585216"/>
          </a:xfrm>
          <a:prstGeom prst="roundRect">
            <a:avLst>
              <a:gd name="adj" fmla="val 14063"/>
            </a:avLst>
          </a:prstGeom>
          <a:solidFill>
            <a:srgbClr val="ECEAE4"/>
          </a:solidFill>
          <a:ln w="12700">
            <a:solidFill>
              <a:srgbClr val="ECEAE4"/>
            </a:solidFill>
            <a:prstDash val="solid"/>
          </a:ln>
        </p:spPr>
        <p:txBody>
          <a:bodyPr/>
          <a:p/>
        </p:txBody>
      </p:sp>
      <p:sp>
        <p:nvSpPr>
          <p:cNvPr id="43" name="Shape 41"/>
          <p:cNvSpPr/>
          <p:nvPr/>
        </p:nvSpPr>
        <p:spPr>
          <a:xfrm>
            <a:off x="6400800" y="4123944"/>
            <a:ext cx="420624" cy="420624"/>
          </a:xfrm>
          <a:prstGeom prst="ellipse">
            <a:avLst/>
          </a:prstGeom>
          <a:solidFill>
            <a:srgbClr val="B02532"/>
          </a:solidFill>
          <a:ln/>
        </p:spPr>
        <p:txBody>
          <a:bodyPr/>
          <a:p/>
        </p:txBody>
      </p:sp>
      <p:sp>
        <p:nvSpPr>
          <p:cNvPr id="44" name="Text 42"/>
          <p:cNvSpPr/>
          <p:nvPr/>
        </p:nvSpPr>
        <p:spPr>
          <a:xfrm>
            <a:off x="6400800" y="4123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9</a:t>
            </a:r>
            <a:endParaRPr lang="en-US" sz="1400" dirty="0"/>
          </a:p>
        </p:txBody>
      </p:sp>
      <p:sp>
        <p:nvSpPr>
          <p:cNvPr id="45" name="Text 43"/>
          <p:cNvSpPr/>
          <p:nvPr/>
        </p:nvSpPr>
        <p:spPr>
          <a:xfrm>
            <a:off x="6995160" y="4041648"/>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Pledoaria, comunicarea, mobilizarea socială</a:t>
            </a:r>
            <a:endParaRPr lang="en-US" sz="1500" dirty="0"/>
          </a:p>
        </p:txBody>
      </p:sp>
      <p:sp>
        <p:nvSpPr>
          <p:cNvPr id="46" name="Shape 44"/>
          <p:cNvSpPr/>
          <p:nvPr/>
        </p:nvSpPr>
        <p:spPr>
          <a:xfrm>
            <a:off x="6263640" y="4718304"/>
            <a:ext cx="5303520" cy="585216"/>
          </a:xfrm>
          <a:prstGeom prst="roundRect">
            <a:avLst>
              <a:gd name="adj" fmla="val 14063"/>
            </a:avLst>
          </a:prstGeom>
          <a:solidFill>
            <a:srgbClr val="ECEAE4"/>
          </a:solidFill>
          <a:ln w="12700">
            <a:solidFill>
              <a:srgbClr val="ECEAE4"/>
            </a:solidFill>
            <a:prstDash val="solid"/>
          </a:ln>
        </p:spPr>
        <p:txBody>
          <a:bodyPr/>
          <a:p/>
        </p:txBody>
      </p:sp>
      <p:sp>
        <p:nvSpPr>
          <p:cNvPr id="47" name="Shape 45"/>
          <p:cNvSpPr/>
          <p:nvPr/>
        </p:nvSpPr>
        <p:spPr>
          <a:xfrm>
            <a:off x="6400800" y="4800600"/>
            <a:ext cx="420624" cy="420624"/>
          </a:xfrm>
          <a:prstGeom prst="ellipse">
            <a:avLst/>
          </a:prstGeom>
          <a:solidFill>
            <a:srgbClr val="B02532"/>
          </a:solidFill>
          <a:ln/>
        </p:spPr>
        <p:txBody>
          <a:bodyPr/>
          <a:p/>
        </p:txBody>
      </p:sp>
      <p:sp>
        <p:nvSpPr>
          <p:cNvPr id="48" name="Text 46"/>
          <p:cNvSpPr/>
          <p:nvPr/>
        </p:nvSpPr>
        <p:spPr>
          <a:xfrm>
            <a:off x="6400800" y="4800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10</a:t>
            </a:r>
            <a:endParaRPr lang="en-US" sz="1400" dirty="0"/>
          </a:p>
        </p:txBody>
      </p:sp>
      <p:sp>
        <p:nvSpPr>
          <p:cNvPr id="49" name="Text 47"/>
          <p:cNvSpPr/>
          <p:nvPr/>
        </p:nvSpPr>
        <p:spPr>
          <a:xfrm>
            <a:off x="6995160" y="4718304"/>
            <a:ext cx="342900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Cercetarea în sănătatea publică</a:t>
            </a:r>
            <a:endParaRPr lang="en-US" sz="1500" dirty="0"/>
          </a:p>
        </p:txBody>
      </p:sp>
      <p:sp>
        <p:nvSpPr>
          <p:cNvPr id="50" name="Shape 48"/>
          <p:cNvSpPr/>
          <p:nvPr/>
        </p:nvSpPr>
        <p:spPr>
          <a:xfrm>
            <a:off x="10469880" y="4846320"/>
            <a:ext cx="1005840" cy="329184"/>
          </a:xfrm>
          <a:prstGeom prst="roundRect">
            <a:avLst>
              <a:gd name="adj" fmla="val 50000"/>
            </a:avLst>
          </a:prstGeom>
          <a:solidFill>
            <a:srgbClr val="27D3BE"/>
          </a:solidFill>
          <a:ln w="12700">
            <a:solidFill>
              <a:srgbClr val="27D3BE"/>
            </a:solidFill>
            <a:prstDash val="solid"/>
          </a:ln>
        </p:spPr>
        <p:txBody>
          <a:bodyPr/>
          <a:p/>
        </p:txBody>
      </p:sp>
      <p:sp>
        <p:nvSpPr>
          <p:cNvPr id="51" name="Text 49"/>
          <p:cNvSpPr/>
          <p:nvPr/>
        </p:nvSpPr>
        <p:spPr>
          <a:xfrm>
            <a:off x="10469880" y="4846320"/>
            <a:ext cx="100584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informare</a:t>
            </a:r>
            <a:endParaRPr lang="en-US" sz="1200" dirty="0"/>
          </a:p>
        </p:txBody>
      </p:sp>
      <p:sp>
        <p:nvSpPr>
          <p:cNvPr id="52" name="Shape 50"/>
          <p:cNvSpPr/>
          <p:nvPr/>
        </p:nvSpPr>
        <p:spPr>
          <a:xfrm>
            <a:off x="411480" y="3364992"/>
            <a:ext cx="54864" cy="1828800"/>
          </a:xfrm>
          <a:prstGeom prst="rect">
            <a:avLst/>
          </a:prstGeom>
          <a:solidFill>
            <a:srgbClr val="FFC24B"/>
          </a:solidFill>
          <a:ln w="12700">
            <a:solidFill>
              <a:srgbClr val="FFC24B"/>
            </a:solidFill>
            <a:prstDash val="solid"/>
          </a:ln>
        </p:spPr>
        <p:txBody>
          <a:bodyPr/>
          <a:p/>
        </p:txBody>
      </p:sp>
      <p:sp>
        <p:nvSpPr>
          <p:cNvPr id="53" name="Text 51"/>
          <p:cNvSpPr/>
          <p:nvPr/>
        </p:nvSpPr>
        <p:spPr>
          <a:xfrm>
            <a:off x="594360" y="5440680"/>
            <a:ext cx="5394960" cy="365760"/>
          </a:xfrm>
          <a:prstGeom prst="rect">
            <a:avLst/>
          </a:prstGeom>
          <a:noFill/>
          <a:ln/>
        </p:spPr>
        <p:txBody>
          <a:bodyPr wrap="square" lIns="0" tIns="0" rIns="0" bIns="0" rtlCol="0" anchor="t"/>
          <a:lstStyle/>
          <a:p>
            <a:pPr indent="0" marL="0">
              <a:buNone/>
            </a:pPr>
            <a:r>
              <a:rPr lang="en-US" sz="1500" b="1" dirty="0">
                <a:solidFill>
                  <a:srgbClr val="8A6100"/>
                </a:solidFill>
                <a:latin typeface="Palatino Linotype" pitchFamily="34" charset="0"/>
                <a:ea typeface="Palatino Linotype" pitchFamily="34" charset="-122"/>
                <a:cs typeface="Palatino Linotype" pitchFamily="34" charset="-120"/>
              </a:rPr>
              <a:t>EPHO 3, 4 și 5: serviciile propriu-zise.</a:t>
            </a:r>
            <a:endParaRPr lang="en-US" sz="1500" dirty="0"/>
          </a:p>
        </p:txBody>
      </p:sp>
      <p:sp>
        <p:nvSpPr>
          <p:cNvPr id="54" name="Text 52"/>
          <p:cNvSpPr/>
          <p:nvPr/>
        </p:nvSpPr>
        <p:spPr>
          <a:xfrm>
            <a:off x="6263640" y="5440680"/>
            <a:ext cx="5394960" cy="54864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Gruparea de informare (1, 2 și 10) se suprapune peste cele două grupe.</a:t>
            </a:r>
            <a:endParaRPr lang="en-US" sz="1500" dirty="0"/>
          </a:p>
        </p:txBody>
      </p:sp>
      <p:sp>
        <p:nvSpPr>
          <p:cNvPr id="55" name="Text 5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Biroul Regional OMS pentru Europa, planul european de acțiune (2012). Pentru examen se folosește gruparea din 2012.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CAZUL DE RUJEOLĂ, ÎN OPERAȚIUNI</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Un serviciu fără operațiunile care îl fac posibil rămâne o clădire goală</a:t>
            </a:r>
            <a:endParaRPr lang="en-US" sz="2800" dirty="0"/>
          </a:p>
        </p:txBody>
      </p:sp>
      <p:sp>
        <p:nvSpPr>
          <p:cNvPr id="4" name="Shape 2"/>
          <p:cNvSpPr/>
          <p:nvPr/>
        </p:nvSpPr>
        <p:spPr>
          <a:xfrm>
            <a:off x="2148840" y="2423160"/>
            <a:ext cx="3931920" cy="1371600"/>
          </a:xfrm>
          <a:prstGeom prst="line">
            <a:avLst/>
          </a:prstGeom>
          <a:noFill/>
          <a:ln w="19050">
            <a:solidFill>
              <a:srgbClr val="4A4F66"/>
            </a:solidFill>
            <a:prstDash val="solid"/>
          </a:ln>
        </p:spPr>
        <p:txBody>
          <a:bodyPr/>
          <a:p/>
        </p:txBody>
      </p:sp>
      <p:sp>
        <p:nvSpPr>
          <p:cNvPr id="5" name="Shape 3"/>
          <p:cNvSpPr/>
          <p:nvPr/>
        </p:nvSpPr>
        <p:spPr>
          <a:xfrm flipV="1">
            <a:off x="2148840" y="3794760"/>
            <a:ext cx="3931920" cy="868680"/>
          </a:xfrm>
          <a:prstGeom prst="line">
            <a:avLst/>
          </a:prstGeom>
          <a:noFill/>
          <a:ln w="19050">
            <a:solidFill>
              <a:srgbClr val="4A4F66"/>
            </a:solidFill>
            <a:prstDash val="solid"/>
          </a:ln>
        </p:spPr>
        <p:txBody>
          <a:bodyPr/>
          <a:p/>
        </p:txBody>
      </p:sp>
      <p:sp>
        <p:nvSpPr>
          <p:cNvPr id="6" name="Shape 4"/>
          <p:cNvSpPr/>
          <p:nvPr/>
        </p:nvSpPr>
        <p:spPr>
          <a:xfrm flipV="1">
            <a:off x="6080760" y="2286000"/>
            <a:ext cx="3931920" cy="1508760"/>
          </a:xfrm>
          <a:prstGeom prst="line">
            <a:avLst/>
          </a:prstGeom>
          <a:noFill/>
          <a:ln w="19050">
            <a:solidFill>
              <a:srgbClr val="4A4F66"/>
            </a:solidFill>
            <a:prstDash val="solid"/>
          </a:ln>
        </p:spPr>
        <p:txBody>
          <a:bodyPr/>
          <a:p/>
        </p:txBody>
      </p:sp>
      <p:sp>
        <p:nvSpPr>
          <p:cNvPr id="7" name="Shape 5"/>
          <p:cNvSpPr/>
          <p:nvPr/>
        </p:nvSpPr>
        <p:spPr>
          <a:xfrm flipV="1">
            <a:off x="6080760" y="3749040"/>
            <a:ext cx="3931920" cy="45720"/>
          </a:xfrm>
          <a:prstGeom prst="line">
            <a:avLst/>
          </a:prstGeom>
          <a:noFill/>
          <a:ln w="19050">
            <a:solidFill>
              <a:srgbClr val="4A4F66"/>
            </a:solidFill>
            <a:prstDash val="solid"/>
          </a:ln>
        </p:spPr>
        <p:txBody>
          <a:bodyPr/>
          <a:p/>
        </p:txBody>
      </p:sp>
      <p:sp>
        <p:nvSpPr>
          <p:cNvPr id="8" name="Shape 6"/>
          <p:cNvSpPr/>
          <p:nvPr/>
        </p:nvSpPr>
        <p:spPr>
          <a:xfrm>
            <a:off x="6080760" y="3794760"/>
            <a:ext cx="3931920" cy="1417320"/>
          </a:xfrm>
          <a:prstGeom prst="line">
            <a:avLst/>
          </a:prstGeom>
          <a:noFill/>
          <a:ln w="19050">
            <a:solidFill>
              <a:srgbClr val="4A4F66"/>
            </a:solidFill>
            <a:prstDash val="solid"/>
          </a:ln>
        </p:spPr>
        <p:txBody>
          <a:bodyPr/>
          <a:p/>
        </p:txBody>
      </p:sp>
      <p:sp>
        <p:nvSpPr>
          <p:cNvPr id="9" name="Shape 7"/>
          <p:cNvSpPr/>
          <p:nvPr/>
        </p:nvSpPr>
        <p:spPr>
          <a:xfrm>
            <a:off x="4617720" y="3017520"/>
            <a:ext cx="2926080" cy="1554480"/>
          </a:xfrm>
          <a:prstGeom prst="roundRect">
            <a:avLst>
              <a:gd name="adj" fmla="val 5294"/>
            </a:avLst>
          </a:prstGeom>
          <a:solidFill>
            <a:srgbClr val="9B7EF7"/>
          </a:solidFill>
          <a:ln w="12700">
            <a:solidFill>
              <a:srgbClr val="9B7EF7"/>
            </a:solidFill>
            <a:prstDash val="solid"/>
          </a:ln>
        </p:spPr>
        <p:txBody>
          <a:bodyPr/>
          <a:p/>
        </p:txBody>
      </p:sp>
      <p:sp>
        <p:nvSpPr>
          <p:cNvPr id="10" name="Text 8"/>
          <p:cNvSpPr/>
          <p:nvPr/>
        </p:nvSpPr>
        <p:spPr>
          <a:xfrm>
            <a:off x="4800600" y="3017520"/>
            <a:ext cx="2560320" cy="1554480"/>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EPHO 5</a:t>
            </a:r>
            <a:endParaRPr lang="en-US" sz="1500" dirty="0"/>
          </a:p>
          <a:p>
            <a:pPr algn="ctr" indent="0" marL="0">
              <a:buNone/>
            </a:pPr>
            <a:r>
              <a:rPr lang="en-US" sz="2100" b="1" dirty="0">
                <a:solidFill>
                  <a:srgbClr val="1F1040"/>
                </a:solidFill>
                <a:latin typeface="Palatino Linotype" pitchFamily="34" charset="0"/>
                <a:ea typeface="Palatino Linotype" pitchFamily="34" charset="-122"/>
                <a:cs typeface="Palatino Linotype" pitchFamily="34" charset="-120"/>
              </a:rPr>
              <a:t>Vaccinarea contacților</a:t>
            </a:r>
            <a:endParaRPr lang="en-US" sz="1500" dirty="0"/>
          </a:p>
        </p:txBody>
      </p:sp>
      <p:sp>
        <p:nvSpPr>
          <p:cNvPr id="11" name="Shape 9"/>
          <p:cNvSpPr/>
          <p:nvPr/>
        </p:nvSpPr>
        <p:spPr>
          <a:xfrm>
            <a:off x="594360" y="1920240"/>
            <a:ext cx="3108960" cy="1005840"/>
          </a:xfrm>
          <a:prstGeom prst="roundRect">
            <a:avLst>
              <a:gd name="adj" fmla="val 8182"/>
            </a:avLst>
          </a:prstGeom>
          <a:solidFill>
            <a:srgbClr val="272A38"/>
          </a:solidFill>
          <a:ln w="12700">
            <a:solidFill>
              <a:srgbClr val="272A38"/>
            </a:solidFill>
            <a:prstDash val="solid"/>
          </a:ln>
        </p:spPr>
        <p:txBody>
          <a:bodyPr/>
          <a:p/>
        </p:txBody>
      </p:sp>
      <p:sp>
        <p:nvSpPr>
          <p:cNvPr id="12" name="Text 10"/>
          <p:cNvSpPr/>
          <p:nvPr/>
        </p:nvSpPr>
        <p:spPr>
          <a:xfrm>
            <a:off x="777240" y="192024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1</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supravegherea</a:t>
            </a:r>
            <a:endParaRPr lang="en-US" sz="1500" dirty="0"/>
          </a:p>
        </p:txBody>
      </p:sp>
      <p:sp>
        <p:nvSpPr>
          <p:cNvPr id="13" name="Shape 11"/>
          <p:cNvSpPr/>
          <p:nvPr/>
        </p:nvSpPr>
        <p:spPr>
          <a:xfrm>
            <a:off x="594360" y="4160520"/>
            <a:ext cx="3108960" cy="1005840"/>
          </a:xfrm>
          <a:prstGeom prst="roundRect">
            <a:avLst>
              <a:gd name="adj" fmla="val 8182"/>
            </a:avLst>
          </a:prstGeom>
          <a:solidFill>
            <a:srgbClr val="272A38"/>
          </a:solidFill>
          <a:ln w="12700">
            <a:solidFill>
              <a:srgbClr val="272A38"/>
            </a:solidFill>
            <a:prstDash val="solid"/>
          </a:ln>
        </p:spPr>
        <p:txBody>
          <a:bodyPr/>
          <a:p/>
        </p:txBody>
      </p:sp>
      <p:sp>
        <p:nvSpPr>
          <p:cNvPr id="14" name="Text 12"/>
          <p:cNvSpPr/>
          <p:nvPr/>
        </p:nvSpPr>
        <p:spPr>
          <a:xfrm>
            <a:off x="777240" y="416052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2</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răspunsul la focar</a:t>
            </a:r>
            <a:endParaRPr lang="en-US" sz="1500" dirty="0"/>
          </a:p>
        </p:txBody>
      </p:sp>
      <p:sp>
        <p:nvSpPr>
          <p:cNvPr id="15" name="Shape 13"/>
          <p:cNvSpPr/>
          <p:nvPr/>
        </p:nvSpPr>
        <p:spPr>
          <a:xfrm>
            <a:off x="8458200" y="1783080"/>
            <a:ext cx="3108960" cy="1005840"/>
          </a:xfrm>
          <a:prstGeom prst="roundRect">
            <a:avLst>
              <a:gd name="adj" fmla="val 8182"/>
            </a:avLst>
          </a:prstGeom>
          <a:solidFill>
            <a:srgbClr val="272A38"/>
          </a:solidFill>
          <a:ln w="12700">
            <a:solidFill>
              <a:srgbClr val="272A38"/>
            </a:solidFill>
            <a:prstDash val="solid"/>
          </a:ln>
        </p:spPr>
        <p:txBody>
          <a:bodyPr/>
          <a:p/>
        </p:txBody>
      </p:sp>
      <p:sp>
        <p:nvSpPr>
          <p:cNvPr id="16" name="Text 14"/>
          <p:cNvSpPr/>
          <p:nvPr/>
        </p:nvSpPr>
        <p:spPr>
          <a:xfrm>
            <a:off x="8641080" y="178308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7</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oameni pregătiți în DSP</a:t>
            </a:r>
            <a:endParaRPr lang="en-US" sz="1500" dirty="0"/>
          </a:p>
        </p:txBody>
      </p:sp>
      <p:sp>
        <p:nvSpPr>
          <p:cNvPr id="17" name="Shape 15"/>
          <p:cNvSpPr/>
          <p:nvPr/>
        </p:nvSpPr>
        <p:spPr>
          <a:xfrm>
            <a:off x="8458200" y="3246120"/>
            <a:ext cx="3108960" cy="1005840"/>
          </a:xfrm>
          <a:prstGeom prst="roundRect">
            <a:avLst>
              <a:gd name="adj" fmla="val 8182"/>
            </a:avLst>
          </a:prstGeom>
          <a:solidFill>
            <a:srgbClr val="272A38"/>
          </a:solidFill>
          <a:ln w="12700">
            <a:solidFill>
              <a:srgbClr val="272A38"/>
            </a:solidFill>
            <a:prstDash val="solid"/>
          </a:ln>
        </p:spPr>
        <p:txBody>
          <a:bodyPr/>
          <a:p/>
        </p:txBody>
      </p:sp>
      <p:sp>
        <p:nvSpPr>
          <p:cNvPr id="18" name="Text 16"/>
          <p:cNvSpPr/>
          <p:nvPr/>
        </p:nvSpPr>
        <p:spPr>
          <a:xfrm>
            <a:off x="8641080" y="324612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8</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bani pentru vaccin și echipe</a:t>
            </a:r>
            <a:endParaRPr lang="en-US" sz="1500" dirty="0"/>
          </a:p>
        </p:txBody>
      </p:sp>
      <p:sp>
        <p:nvSpPr>
          <p:cNvPr id="19" name="Shape 17"/>
          <p:cNvSpPr/>
          <p:nvPr/>
        </p:nvSpPr>
        <p:spPr>
          <a:xfrm>
            <a:off x="8458200" y="4709160"/>
            <a:ext cx="3108960" cy="1005840"/>
          </a:xfrm>
          <a:prstGeom prst="roundRect">
            <a:avLst>
              <a:gd name="adj" fmla="val 8182"/>
            </a:avLst>
          </a:prstGeom>
          <a:solidFill>
            <a:srgbClr val="272A38"/>
          </a:solidFill>
          <a:ln w="12700">
            <a:solidFill>
              <a:srgbClr val="272A38"/>
            </a:solidFill>
            <a:prstDash val="solid"/>
          </a:ln>
        </p:spPr>
        <p:txBody>
          <a:bodyPr/>
          <a:p/>
        </p:txBody>
      </p:sp>
      <p:sp>
        <p:nvSpPr>
          <p:cNvPr id="20" name="Text 18"/>
          <p:cNvSpPr/>
          <p:nvPr/>
        </p:nvSpPr>
        <p:spPr>
          <a:xfrm>
            <a:off x="8641080" y="470916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9</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comunicarea cu o familie care poate să nu aibă încredere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ORDONARE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RESURSE LIMITATE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În ce ordine ați investi?</a:t>
            </a:r>
            <a:endParaRPr lang="en-US" sz="3400" dirty="0"/>
          </a:p>
        </p:txBody>
      </p:sp>
      <p:sp>
        <p:nvSpPr>
          <p:cNvPr id="6" name="Shape 4"/>
          <p:cNvSpPr/>
          <p:nvPr/>
        </p:nvSpPr>
        <p:spPr>
          <a:xfrm>
            <a:off x="594360" y="1783080"/>
            <a:ext cx="10972800" cy="932688"/>
          </a:xfrm>
          <a:prstGeom prst="roundRect">
            <a:avLst>
              <a:gd name="adj" fmla="val 8824"/>
            </a:avLst>
          </a:prstGeom>
          <a:solidFill>
            <a:srgbClr val="1D1F2B"/>
          </a:solidFill>
          <a:ln w="12700">
            <a:solidFill>
              <a:srgbClr val="1D1F2B"/>
            </a:solidFill>
            <a:prstDash val="solid"/>
          </a:ln>
        </p:spPr>
        <p:txBody>
          <a:bodyPr/>
          <a:p/>
        </p:txBody>
      </p:sp>
      <p:sp>
        <p:nvSpPr>
          <p:cNvPr id="7" name="Shape 5"/>
          <p:cNvSpPr/>
          <p:nvPr/>
        </p:nvSpPr>
        <p:spPr>
          <a:xfrm>
            <a:off x="868680" y="2039112"/>
            <a:ext cx="420624" cy="420624"/>
          </a:xfrm>
          <a:prstGeom prst="ellipse">
            <a:avLst/>
          </a:prstGeom>
          <a:solidFill>
            <a:srgbClr val="FFC24B"/>
          </a:solidFill>
          <a:ln/>
        </p:spPr>
        <p:txBody>
          <a:bodyPr/>
          <a:p/>
        </p:txBody>
      </p:sp>
      <p:sp>
        <p:nvSpPr>
          <p:cNvPr id="8" name="Text 6"/>
          <p:cNvSpPr/>
          <p:nvPr/>
        </p:nvSpPr>
        <p:spPr>
          <a:xfrm>
            <a:off x="868680" y="20391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783080"/>
            <a:ext cx="9829800" cy="9326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Serviciile: protecția, promovarea și prevenția</a:t>
            </a:r>
            <a:endParaRPr lang="en-US" sz="1800" dirty="0"/>
          </a:p>
        </p:txBody>
      </p:sp>
      <p:sp>
        <p:nvSpPr>
          <p:cNvPr id="10" name="Shape 8"/>
          <p:cNvSpPr/>
          <p:nvPr/>
        </p:nvSpPr>
        <p:spPr>
          <a:xfrm>
            <a:off x="594360" y="2880360"/>
            <a:ext cx="10972800" cy="932688"/>
          </a:xfrm>
          <a:prstGeom prst="roundRect">
            <a:avLst>
              <a:gd name="adj" fmla="val 8824"/>
            </a:avLst>
          </a:prstGeom>
          <a:solidFill>
            <a:srgbClr val="1D1F2B"/>
          </a:solidFill>
          <a:ln w="12700">
            <a:solidFill>
              <a:srgbClr val="1D1F2B"/>
            </a:solidFill>
            <a:prstDash val="solid"/>
          </a:ln>
        </p:spPr>
        <p:txBody>
          <a:bodyPr/>
          <a:p/>
        </p:txBody>
      </p:sp>
      <p:sp>
        <p:nvSpPr>
          <p:cNvPr id="11" name="Shape 9"/>
          <p:cNvSpPr/>
          <p:nvPr/>
        </p:nvSpPr>
        <p:spPr>
          <a:xfrm>
            <a:off x="868680" y="3136392"/>
            <a:ext cx="420624" cy="420624"/>
          </a:xfrm>
          <a:prstGeom prst="ellipse">
            <a:avLst/>
          </a:prstGeom>
          <a:solidFill>
            <a:srgbClr val="FFC24B"/>
          </a:solidFill>
          <a:ln/>
        </p:spPr>
        <p:txBody>
          <a:bodyPr/>
          <a:p/>
        </p:txBody>
      </p:sp>
      <p:sp>
        <p:nvSpPr>
          <p:cNvPr id="12" name="Text 10"/>
          <p:cNvSpPr/>
          <p:nvPr/>
        </p:nvSpPr>
        <p:spPr>
          <a:xfrm>
            <a:off x="868680" y="3136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880360"/>
            <a:ext cx="9829800" cy="9326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Gruparea de informare: supravegherea, răspunsul la urgențe și cercetarea</a:t>
            </a:r>
            <a:endParaRPr lang="en-US" sz="1800" dirty="0"/>
          </a:p>
        </p:txBody>
      </p:sp>
      <p:sp>
        <p:nvSpPr>
          <p:cNvPr id="14" name="Shape 12"/>
          <p:cNvSpPr/>
          <p:nvPr/>
        </p:nvSpPr>
        <p:spPr>
          <a:xfrm>
            <a:off x="594360" y="3977640"/>
            <a:ext cx="10972800" cy="932688"/>
          </a:xfrm>
          <a:prstGeom prst="roundRect">
            <a:avLst>
              <a:gd name="adj" fmla="val 8824"/>
            </a:avLst>
          </a:prstGeom>
          <a:solidFill>
            <a:srgbClr val="1D1F2B"/>
          </a:solidFill>
          <a:ln w="12700">
            <a:solidFill>
              <a:srgbClr val="1D1F2B"/>
            </a:solidFill>
            <a:prstDash val="solid"/>
          </a:ln>
        </p:spPr>
        <p:txBody>
          <a:bodyPr/>
          <a:p/>
        </p:txBody>
      </p:sp>
      <p:sp>
        <p:nvSpPr>
          <p:cNvPr id="15" name="Shape 13"/>
          <p:cNvSpPr/>
          <p:nvPr/>
        </p:nvSpPr>
        <p:spPr>
          <a:xfrm>
            <a:off x="868680" y="4233672"/>
            <a:ext cx="420624" cy="420624"/>
          </a:xfrm>
          <a:prstGeom prst="ellipse">
            <a:avLst/>
          </a:prstGeom>
          <a:solidFill>
            <a:srgbClr val="FFC24B"/>
          </a:solidFill>
          <a:ln/>
        </p:spPr>
        <p:txBody>
          <a:bodyPr/>
          <a:p/>
        </p:txBody>
      </p:sp>
      <p:sp>
        <p:nvSpPr>
          <p:cNvPr id="16" name="Text 14"/>
          <p:cNvSpPr/>
          <p:nvPr/>
        </p:nvSpPr>
        <p:spPr>
          <a:xfrm>
            <a:off x="868680" y="4233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977640"/>
            <a:ext cx="9829800" cy="9326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Operațiunile care fac posibile serviciile: guvernanța, forța de muncă, structurile și finanțarea, comunicarea și cercetarea</a:t>
            </a:r>
            <a:endParaRPr lang="en-US" sz="1800" dirty="0"/>
          </a:p>
        </p:txBody>
      </p:sp>
      <p:sp>
        <p:nvSpPr>
          <p:cNvPr id="18" name="Text 16"/>
          <p:cNvSpPr/>
          <p:nvPr/>
        </p:nvSpPr>
        <p:spPr>
          <a:xfrm>
            <a:off x="594360" y="525780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Nu există o ordine corectă unică. Discuția privește dependența dintre grupe.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DE UNDE VIN ȘI CE A URMAT</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Aceeași idee, mai multe liste</a:t>
            </a:r>
            <a:endParaRPr lang="en-US" sz="3200" dirty="0"/>
          </a:p>
        </p:txBody>
      </p:sp>
      <p:sp>
        <p:nvSpPr>
          <p:cNvPr id="4" name="Shape 2"/>
          <p:cNvSpPr/>
          <p:nvPr/>
        </p:nvSpPr>
        <p:spPr>
          <a:xfrm>
            <a:off x="594360" y="2148840"/>
            <a:ext cx="10972800" cy="27432"/>
          </a:xfrm>
          <a:prstGeom prst="rect">
            <a:avLst/>
          </a:prstGeom>
          <a:solidFill>
            <a:srgbClr val="C9C6BE"/>
          </a:solidFill>
          <a:ln w="12700">
            <a:solidFill>
              <a:srgbClr val="C9C6BE"/>
            </a:solidFill>
            <a:prstDash val="solid"/>
          </a:ln>
        </p:spPr>
        <p:txBody>
          <a:bodyPr/>
          <a:p/>
        </p:txBody>
      </p:sp>
      <p:sp>
        <p:nvSpPr>
          <p:cNvPr id="5" name="Shape 3"/>
          <p:cNvSpPr/>
          <p:nvPr/>
        </p:nvSpPr>
        <p:spPr>
          <a:xfrm>
            <a:off x="612648" y="2057400"/>
            <a:ext cx="219456" cy="219456"/>
          </a:xfrm>
          <a:prstGeom prst="ellipse">
            <a:avLst/>
          </a:prstGeom>
          <a:solidFill>
            <a:srgbClr val="4A2D8C"/>
          </a:solidFill>
          <a:ln w="12700">
            <a:solidFill>
              <a:srgbClr val="4A2D8C"/>
            </a:solidFill>
            <a:prstDash val="solid"/>
          </a:ln>
        </p:spPr>
        <p:txBody>
          <a:bodyPr/>
          <a:p/>
        </p:txBody>
      </p:sp>
      <p:sp>
        <p:nvSpPr>
          <p:cNvPr id="6" name="Text 4"/>
          <p:cNvSpPr/>
          <p:nvPr/>
        </p:nvSpPr>
        <p:spPr>
          <a:xfrm>
            <a:off x="5943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1988</a:t>
            </a:r>
            <a:endParaRPr lang="en-US" sz="2200" dirty="0"/>
          </a:p>
        </p:txBody>
      </p:sp>
      <p:sp>
        <p:nvSpPr>
          <p:cNvPr id="7" name="Text 5"/>
          <p:cNvSpPr/>
          <p:nvPr/>
        </p:nvSpPr>
        <p:spPr>
          <a:xfrm>
            <a:off x="5943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IOM, SUA</a:t>
            </a:r>
            <a:endParaRPr lang="en-US" sz="1400" dirty="0"/>
          </a:p>
        </p:txBody>
      </p:sp>
      <p:sp>
        <p:nvSpPr>
          <p:cNvPr id="8" name="Text 6"/>
          <p:cNvSpPr/>
          <p:nvPr/>
        </p:nvSpPr>
        <p:spPr>
          <a:xfrm>
            <a:off x="5943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Trei funcții de bază: evaluarea, dezvoltarea politicilor, asigurarea.</a:t>
            </a:r>
            <a:endParaRPr lang="en-US" sz="1350" dirty="0"/>
          </a:p>
        </p:txBody>
      </p:sp>
      <p:sp>
        <p:nvSpPr>
          <p:cNvPr id="9" name="Shape 7"/>
          <p:cNvSpPr/>
          <p:nvPr/>
        </p:nvSpPr>
        <p:spPr>
          <a:xfrm>
            <a:off x="2441448" y="2057400"/>
            <a:ext cx="219456" cy="219456"/>
          </a:xfrm>
          <a:prstGeom prst="ellipse">
            <a:avLst/>
          </a:prstGeom>
          <a:solidFill>
            <a:srgbClr val="4A2D8C"/>
          </a:solidFill>
          <a:ln w="12700">
            <a:solidFill>
              <a:srgbClr val="4A2D8C"/>
            </a:solidFill>
            <a:prstDash val="solid"/>
          </a:ln>
        </p:spPr>
        <p:txBody>
          <a:bodyPr/>
          <a:p/>
        </p:txBody>
      </p:sp>
      <p:sp>
        <p:nvSpPr>
          <p:cNvPr id="10" name="Text 8"/>
          <p:cNvSpPr/>
          <p:nvPr/>
        </p:nvSpPr>
        <p:spPr>
          <a:xfrm>
            <a:off x="24231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1994</a:t>
            </a:r>
            <a:endParaRPr lang="en-US" sz="2200" dirty="0"/>
          </a:p>
        </p:txBody>
      </p:sp>
      <p:sp>
        <p:nvSpPr>
          <p:cNvPr id="11" name="Text 9"/>
          <p:cNvSpPr/>
          <p:nvPr/>
        </p:nvSpPr>
        <p:spPr>
          <a:xfrm>
            <a:off x="24231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Zece servicii, SUA</a:t>
            </a:r>
            <a:endParaRPr lang="en-US" sz="1400" dirty="0"/>
          </a:p>
        </p:txBody>
      </p:sp>
      <p:sp>
        <p:nvSpPr>
          <p:cNvPr id="12" name="Text 10"/>
          <p:cNvSpPr/>
          <p:nvPr/>
        </p:nvSpPr>
        <p:spPr>
          <a:xfrm>
            <a:off x="24231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Revizuite în 2020, cu echitatea în centru.</a:t>
            </a:r>
            <a:endParaRPr lang="en-US" sz="1350" dirty="0"/>
          </a:p>
        </p:txBody>
      </p:sp>
      <p:sp>
        <p:nvSpPr>
          <p:cNvPr id="13" name="Shape 11"/>
          <p:cNvSpPr/>
          <p:nvPr/>
        </p:nvSpPr>
        <p:spPr>
          <a:xfrm>
            <a:off x="4270248" y="2057400"/>
            <a:ext cx="219456" cy="219456"/>
          </a:xfrm>
          <a:prstGeom prst="ellipse">
            <a:avLst/>
          </a:prstGeom>
          <a:solidFill>
            <a:srgbClr val="4A2D8C"/>
          </a:solidFill>
          <a:ln w="12700">
            <a:solidFill>
              <a:srgbClr val="4A2D8C"/>
            </a:solidFill>
            <a:prstDash val="solid"/>
          </a:ln>
        </p:spPr>
        <p:txBody>
          <a:bodyPr/>
          <a:p/>
        </p:txBody>
      </p:sp>
      <p:sp>
        <p:nvSpPr>
          <p:cNvPr id="14" name="Text 12"/>
          <p:cNvSpPr/>
          <p:nvPr/>
        </p:nvSpPr>
        <p:spPr>
          <a:xfrm>
            <a:off x="42519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2012</a:t>
            </a:r>
            <a:endParaRPr lang="en-US" sz="2200" dirty="0"/>
          </a:p>
        </p:txBody>
      </p:sp>
      <p:sp>
        <p:nvSpPr>
          <p:cNvPr id="15" name="Text 13"/>
          <p:cNvSpPr/>
          <p:nvPr/>
        </p:nvSpPr>
        <p:spPr>
          <a:xfrm>
            <a:off x="42519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Zece EPHO</a:t>
            </a:r>
            <a:endParaRPr lang="en-US" sz="1400" dirty="0"/>
          </a:p>
        </p:txBody>
      </p:sp>
      <p:sp>
        <p:nvSpPr>
          <p:cNvPr id="16" name="Text 14"/>
          <p:cNvSpPr/>
          <p:nvPr/>
        </p:nvSpPr>
        <p:spPr>
          <a:xfrm>
            <a:off x="42519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Biroul Regional OMS pentru Europa.</a:t>
            </a:r>
            <a:endParaRPr lang="en-US" sz="1350" dirty="0"/>
          </a:p>
        </p:txBody>
      </p:sp>
      <p:sp>
        <p:nvSpPr>
          <p:cNvPr id="17" name="Shape 15"/>
          <p:cNvSpPr/>
          <p:nvPr/>
        </p:nvSpPr>
        <p:spPr>
          <a:xfrm>
            <a:off x="6099048" y="2057400"/>
            <a:ext cx="219456" cy="219456"/>
          </a:xfrm>
          <a:prstGeom prst="ellipse">
            <a:avLst/>
          </a:prstGeom>
          <a:solidFill>
            <a:srgbClr val="4A2D8C"/>
          </a:solidFill>
          <a:ln w="12700">
            <a:solidFill>
              <a:srgbClr val="4A2D8C"/>
            </a:solidFill>
            <a:prstDash val="solid"/>
          </a:ln>
        </p:spPr>
        <p:txBody>
          <a:bodyPr/>
          <a:p/>
        </p:txBody>
      </p:sp>
      <p:sp>
        <p:nvSpPr>
          <p:cNvPr id="18" name="Text 16"/>
          <p:cNvSpPr/>
          <p:nvPr/>
        </p:nvSpPr>
        <p:spPr>
          <a:xfrm>
            <a:off x="60807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2015</a:t>
            </a:r>
            <a:endParaRPr lang="en-US" sz="2200" dirty="0"/>
          </a:p>
        </p:txBody>
      </p:sp>
      <p:sp>
        <p:nvSpPr>
          <p:cNvPr id="19" name="Text 17"/>
          <p:cNvSpPr/>
          <p:nvPr/>
        </p:nvSpPr>
        <p:spPr>
          <a:xfrm>
            <a:off x="60807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Autoevaluarea</a:t>
            </a:r>
            <a:endParaRPr lang="en-US" sz="1400" dirty="0"/>
          </a:p>
        </p:txBody>
      </p:sp>
      <p:sp>
        <p:nvSpPr>
          <p:cNvPr id="20" name="Text 18"/>
          <p:cNvSpPr/>
          <p:nvPr/>
        </p:nvSpPr>
        <p:spPr>
          <a:xfrm>
            <a:off x="60807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Instrumentul european: criterii verificabile pentru fiecare operațiune.</a:t>
            </a:r>
            <a:endParaRPr lang="en-US" sz="1350" dirty="0"/>
          </a:p>
        </p:txBody>
      </p:sp>
      <p:sp>
        <p:nvSpPr>
          <p:cNvPr id="21" name="Shape 19"/>
          <p:cNvSpPr/>
          <p:nvPr/>
        </p:nvSpPr>
        <p:spPr>
          <a:xfrm>
            <a:off x="7927848" y="2057400"/>
            <a:ext cx="219456" cy="219456"/>
          </a:xfrm>
          <a:prstGeom prst="ellipse">
            <a:avLst/>
          </a:prstGeom>
          <a:solidFill>
            <a:srgbClr val="4A2D8C"/>
          </a:solidFill>
          <a:ln w="12700">
            <a:solidFill>
              <a:srgbClr val="4A2D8C"/>
            </a:solidFill>
            <a:prstDash val="solid"/>
          </a:ln>
        </p:spPr>
        <p:txBody>
          <a:bodyPr/>
          <a:p/>
        </p:txBody>
      </p:sp>
      <p:sp>
        <p:nvSpPr>
          <p:cNvPr id="22" name="Text 20"/>
          <p:cNvSpPr/>
          <p:nvPr/>
        </p:nvSpPr>
        <p:spPr>
          <a:xfrm>
            <a:off x="79095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2021</a:t>
            </a:r>
            <a:endParaRPr lang="en-US" sz="2200" dirty="0"/>
          </a:p>
        </p:txBody>
      </p:sp>
      <p:sp>
        <p:nvSpPr>
          <p:cNvPr id="23" name="Text 21"/>
          <p:cNvSpPr/>
          <p:nvPr/>
        </p:nvSpPr>
        <p:spPr>
          <a:xfrm>
            <a:off x="79095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12 funcții, OMS</a:t>
            </a:r>
            <a:endParaRPr lang="en-US" sz="1400" dirty="0"/>
          </a:p>
        </p:txBody>
      </p:sp>
      <p:sp>
        <p:nvSpPr>
          <p:cNvPr id="24" name="Text 22"/>
          <p:cNvSpPr/>
          <p:nvPr/>
        </p:nvSpPr>
        <p:spPr>
          <a:xfrm>
            <a:off x="79095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Lista globală unificată (EPHF).</a:t>
            </a:r>
            <a:endParaRPr lang="en-US" sz="1350" dirty="0"/>
          </a:p>
        </p:txBody>
      </p:sp>
      <p:sp>
        <p:nvSpPr>
          <p:cNvPr id="25" name="Shape 23"/>
          <p:cNvSpPr/>
          <p:nvPr/>
        </p:nvSpPr>
        <p:spPr>
          <a:xfrm>
            <a:off x="9756648" y="2057400"/>
            <a:ext cx="219456" cy="219456"/>
          </a:xfrm>
          <a:prstGeom prst="ellipse">
            <a:avLst/>
          </a:prstGeom>
          <a:solidFill>
            <a:srgbClr val="4A2D8C"/>
          </a:solidFill>
          <a:ln w="12700">
            <a:solidFill>
              <a:srgbClr val="4A2D8C"/>
            </a:solidFill>
            <a:prstDash val="solid"/>
          </a:ln>
        </p:spPr>
        <p:txBody>
          <a:bodyPr/>
          <a:p/>
        </p:txBody>
      </p:sp>
      <p:sp>
        <p:nvSpPr>
          <p:cNvPr id="26" name="Text 24"/>
          <p:cNvSpPr/>
          <p:nvPr/>
        </p:nvSpPr>
        <p:spPr>
          <a:xfrm>
            <a:off x="97383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2024</a:t>
            </a:r>
            <a:endParaRPr lang="en-US" sz="2200" dirty="0"/>
          </a:p>
        </p:txBody>
      </p:sp>
      <p:sp>
        <p:nvSpPr>
          <p:cNvPr id="27" name="Text 25"/>
          <p:cNvSpPr/>
          <p:nvPr/>
        </p:nvSpPr>
        <p:spPr>
          <a:xfrm>
            <a:off x="97383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Ghidul OMS</a:t>
            </a:r>
            <a:endParaRPr lang="en-US" sz="1400" dirty="0"/>
          </a:p>
        </p:txBody>
      </p:sp>
      <p:sp>
        <p:nvSpPr>
          <p:cNvPr id="28" name="Text 26"/>
          <p:cNvSpPr/>
          <p:nvPr/>
        </p:nvSpPr>
        <p:spPr>
          <a:xfrm>
            <a:off x="97383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Aplicarea celor 12 funcții; ordinea listei nu are semnificație.</a:t>
            </a:r>
            <a:endParaRPr lang="en-US" sz="1350" dirty="0"/>
          </a:p>
        </p:txBody>
      </p:sp>
      <p:sp>
        <p:nvSpPr>
          <p:cNvPr id="29" name="Shape 27"/>
          <p:cNvSpPr/>
          <p:nvPr/>
        </p:nvSpPr>
        <p:spPr>
          <a:xfrm>
            <a:off x="594360" y="489204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30" name="Text 28"/>
          <p:cNvSpPr/>
          <p:nvPr/>
        </p:nvSpPr>
        <p:spPr>
          <a:xfrm>
            <a:off x="868680" y="4892040"/>
            <a:ext cx="1042416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Lista globală numește distinct implicarea comunității, calitatea și echitatea serviciilor și accesul la produse și tehnologii pentru sănătate.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ASISTENȚA MEDICALĂ PRIMARĂ</a:t>
            </a:r>
            <a:endParaRPr lang="en-US" sz="13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Cazul a început într-un cabinet de medicina familiei</a:t>
            </a:r>
            <a:endParaRPr lang="en-US" sz="3000" dirty="0"/>
          </a:p>
        </p:txBody>
      </p:sp>
      <p:sp>
        <p:nvSpPr>
          <p:cNvPr id="4" name="Shape 2"/>
          <p:cNvSpPr/>
          <p:nvPr/>
        </p:nvSpPr>
        <p:spPr>
          <a:xfrm>
            <a:off x="594360" y="1737360"/>
            <a:ext cx="5303520" cy="3017520"/>
          </a:xfrm>
          <a:prstGeom prst="roundRect">
            <a:avLst>
              <a:gd name="adj" fmla="val 2727"/>
            </a:avLst>
          </a:prstGeom>
          <a:solidFill>
            <a:srgbClr val="1D1F2B"/>
          </a:solidFill>
          <a:ln w="12700">
            <a:solidFill>
              <a:srgbClr val="1D1F2B"/>
            </a:solidFill>
            <a:prstDash val="solid"/>
          </a:ln>
        </p:spPr>
        <p:txBody>
          <a:bodyPr/>
          <a:p/>
        </p:txBody>
      </p:sp>
      <p:sp>
        <p:nvSpPr>
          <p:cNvPr id="5" name="Text 3"/>
          <p:cNvSpPr/>
          <p:nvPr/>
        </p:nvSpPr>
        <p:spPr>
          <a:xfrm>
            <a:off x="868680" y="1828800"/>
            <a:ext cx="2377440" cy="914400"/>
          </a:xfrm>
          <a:prstGeom prst="rect">
            <a:avLst/>
          </a:prstGeom>
          <a:noFill/>
          <a:ln/>
        </p:spPr>
        <p:txBody>
          <a:bodyPr wrap="square" lIns="0" tIns="0" rIns="0" bIns="0" rtlCol="0" anchor="ctr"/>
          <a:lstStyle/>
          <a:p>
            <a:pPr indent="0" marL="0">
              <a:buNone/>
            </a:pPr>
            <a:r>
              <a:rPr lang="en-US" sz="5400" b="1" dirty="0">
                <a:solidFill>
                  <a:srgbClr val="FFC24B"/>
                </a:solidFill>
                <a:latin typeface="Palatino Linotype" pitchFamily="34" charset="0"/>
                <a:ea typeface="Palatino Linotype" pitchFamily="34" charset="-122"/>
                <a:cs typeface="Palatino Linotype" pitchFamily="34" charset="-120"/>
              </a:rPr>
              <a:t>1978</a:t>
            </a:r>
            <a:endParaRPr lang="en-US" sz="5400" dirty="0"/>
          </a:p>
        </p:txBody>
      </p:sp>
      <p:sp>
        <p:nvSpPr>
          <p:cNvPr id="6" name="Text 4"/>
          <p:cNvSpPr/>
          <p:nvPr/>
        </p:nvSpPr>
        <p:spPr>
          <a:xfrm>
            <a:off x="3337560" y="1828800"/>
            <a:ext cx="2377440" cy="91440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Alma-Ata</a:t>
            </a:r>
            <a:endParaRPr lang="en-US" sz="2200" dirty="0"/>
          </a:p>
        </p:txBody>
      </p:sp>
      <p:sp>
        <p:nvSpPr>
          <p:cNvPr id="7" name="Text 5"/>
          <p:cNvSpPr/>
          <p:nvPr/>
        </p:nvSpPr>
        <p:spPr>
          <a:xfrm>
            <a:off x="868680" y="2788920"/>
            <a:ext cx="4754880" cy="18745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Asistența medicală primară, cheia obiectivului „Sănătate pentru toți”: îngrijire esențială, accesibilă universal, cu participarea comunității, la un cost pe care țara și-l poate permite.</a:t>
            </a:r>
            <a:endParaRPr lang="en-US" sz="1600" dirty="0"/>
          </a:p>
        </p:txBody>
      </p:sp>
      <p:sp>
        <p:nvSpPr>
          <p:cNvPr id="8" name="Shape 6"/>
          <p:cNvSpPr/>
          <p:nvPr/>
        </p:nvSpPr>
        <p:spPr>
          <a:xfrm>
            <a:off x="6263640" y="1737360"/>
            <a:ext cx="5303520" cy="3017520"/>
          </a:xfrm>
          <a:prstGeom prst="roundRect">
            <a:avLst>
              <a:gd name="adj" fmla="val 2727"/>
            </a:avLst>
          </a:prstGeom>
          <a:solidFill>
            <a:srgbClr val="1D1F2B"/>
          </a:solidFill>
          <a:ln w="12700">
            <a:solidFill>
              <a:srgbClr val="1D1F2B"/>
            </a:solidFill>
            <a:prstDash val="solid"/>
          </a:ln>
        </p:spPr>
        <p:txBody>
          <a:bodyPr/>
          <a:p/>
        </p:txBody>
      </p:sp>
      <p:sp>
        <p:nvSpPr>
          <p:cNvPr id="9" name="Text 7"/>
          <p:cNvSpPr/>
          <p:nvPr/>
        </p:nvSpPr>
        <p:spPr>
          <a:xfrm>
            <a:off x="6537960" y="1828800"/>
            <a:ext cx="2377440" cy="914400"/>
          </a:xfrm>
          <a:prstGeom prst="rect">
            <a:avLst/>
          </a:prstGeom>
          <a:noFill/>
          <a:ln/>
        </p:spPr>
        <p:txBody>
          <a:bodyPr wrap="square" lIns="0" tIns="0" rIns="0" bIns="0" rtlCol="0" anchor="ctr"/>
          <a:lstStyle/>
          <a:p>
            <a:pPr indent="0" marL="0">
              <a:buNone/>
            </a:pPr>
            <a:r>
              <a:rPr lang="en-US" sz="5400" b="1" dirty="0">
                <a:solidFill>
                  <a:srgbClr val="27D3BE"/>
                </a:solidFill>
                <a:latin typeface="Palatino Linotype" pitchFamily="34" charset="0"/>
                <a:ea typeface="Palatino Linotype" pitchFamily="34" charset="-122"/>
                <a:cs typeface="Palatino Linotype" pitchFamily="34" charset="-120"/>
              </a:rPr>
              <a:t>2018</a:t>
            </a:r>
            <a:endParaRPr lang="en-US" sz="5400" dirty="0"/>
          </a:p>
        </p:txBody>
      </p:sp>
      <p:sp>
        <p:nvSpPr>
          <p:cNvPr id="10" name="Text 8"/>
          <p:cNvSpPr/>
          <p:nvPr/>
        </p:nvSpPr>
        <p:spPr>
          <a:xfrm>
            <a:off x="9006840" y="1828800"/>
            <a:ext cx="2377440" cy="91440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Astana</a:t>
            </a:r>
            <a:endParaRPr lang="en-US" sz="2200" dirty="0"/>
          </a:p>
        </p:txBody>
      </p:sp>
      <p:sp>
        <p:nvSpPr>
          <p:cNvPr id="11" name="Text 9"/>
          <p:cNvSpPr/>
          <p:nvPr/>
        </p:nvSpPr>
        <p:spPr>
          <a:xfrm>
            <a:off x="6537960" y="2788920"/>
            <a:ext cx="4754880" cy="18745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O nouă declarație reafirmă rolul central al asistenței primare și reînnoiește angajamentul politic al guvernelor.</a:t>
            </a:r>
            <a:endParaRPr lang="en-US" sz="1600" dirty="0"/>
          </a:p>
        </p:txBody>
      </p:sp>
      <p:sp>
        <p:nvSpPr>
          <p:cNvPr id="12" name="Text 10"/>
          <p:cNvSpPr/>
          <p:nvPr/>
        </p:nvSpPr>
        <p:spPr>
          <a:xfrm>
            <a:off x="594360" y="5029200"/>
            <a:ext cx="10972800" cy="8686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Nivel de îngrijire (cabinetul) și abordare a sistemului (acces universal, participare, acțiune intersectorială): medicul de familie din caz lucrează în ambele sensuri.</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LEGEA NR. 95/2006 · CINE FACE SĂNĂTATEA PUBLICĂ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Instituțiile din spatele cazului</a:t>
            </a:r>
            <a:endParaRPr lang="en-US" sz="3200" dirty="0"/>
          </a:p>
        </p:txBody>
      </p:sp>
      <p:sp>
        <p:nvSpPr>
          <p:cNvPr id="4" name="Shape 2"/>
          <p:cNvSpPr/>
          <p:nvPr/>
        </p:nvSpPr>
        <p:spPr>
          <a:xfrm>
            <a:off x="2377440" y="1600200"/>
            <a:ext cx="4846320" cy="777240"/>
          </a:xfrm>
          <a:prstGeom prst="roundRect">
            <a:avLst>
              <a:gd name="adj" fmla="val 10588"/>
            </a:avLst>
          </a:prstGeom>
          <a:solidFill>
            <a:srgbClr val="11121A"/>
          </a:solidFill>
          <a:ln w="12700">
            <a:solidFill>
              <a:srgbClr val="11121A"/>
            </a:solidFill>
            <a:prstDash val="solid"/>
          </a:ln>
        </p:spPr>
        <p:txBody>
          <a:bodyPr/>
          <a:p/>
        </p:txBody>
      </p:sp>
      <p:sp>
        <p:nvSpPr>
          <p:cNvPr id="5" name="Text 3"/>
          <p:cNvSpPr/>
          <p:nvPr/>
        </p:nvSpPr>
        <p:spPr>
          <a:xfrm>
            <a:off x="2560320" y="1600200"/>
            <a:ext cx="44805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Ministerul Sănătății</a:t>
            </a:r>
            <a:endParaRPr lang="en-US" sz="1700" dirty="0"/>
          </a:p>
          <a:p>
            <a:pPr algn="ctr" indent="0" marL="0">
              <a:buNone/>
            </a:pPr>
            <a:r>
              <a:rPr lang="en-US" sz="1300" dirty="0">
                <a:solidFill>
                  <a:srgbClr val="C9CCD8"/>
                </a:solidFill>
                <a:latin typeface="Palatino Linotype" pitchFamily="34" charset="0"/>
                <a:ea typeface="Palatino Linotype" pitchFamily="34" charset="-122"/>
                <a:cs typeface="Palatino Linotype" pitchFamily="34" charset="-120"/>
              </a:rPr>
              <a:t>autoritatea centrală</a:t>
            </a:r>
            <a:endParaRPr lang="en-US" sz="1700" dirty="0"/>
          </a:p>
        </p:txBody>
      </p:sp>
      <p:sp>
        <p:nvSpPr>
          <p:cNvPr id="6" name="Shape 4"/>
          <p:cNvSpPr/>
          <p:nvPr/>
        </p:nvSpPr>
        <p:spPr>
          <a:xfrm>
            <a:off x="3291840" y="2468880"/>
            <a:ext cx="310896" cy="329184"/>
          </a:xfrm>
          <a:prstGeom prst="downArrow">
            <a:avLst/>
          </a:prstGeom>
          <a:solidFill>
            <a:srgbClr val="C9C6BE"/>
          </a:solidFill>
          <a:ln w="12700">
            <a:solidFill>
              <a:srgbClr val="C9C6BE"/>
            </a:solidFill>
            <a:prstDash val="solid"/>
          </a:ln>
        </p:spPr>
        <p:txBody>
          <a:bodyPr/>
          <a:p/>
        </p:txBody>
      </p:sp>
      <p:sp>
        <p:nvSpPr>
          <p:cNvPr id="7" name="Shape 5"/>
          <p:cNvSpPr/>
          <p:nvPr/>
        </p:nvSpPr>
        <p:spPr>
          <a:xfrm>
            <a:off x="5989320" y="2468880"/>
            <a:ext cx="310896" cy="329184"/>
          </a:xfrm>
          <a:prstGeom prst="downArrow">
            <a:avLst/>
          </a:prstGeom>
          <a:solidFill>
            <a:srgbClr val="C9C6BE"/>
          </a:solidFill>
          <a:ln w="12700">
            <a:solidFill>
              <a:srgbClr val="C9C6BE"/>
            </a:solidFill>
            <a:prstDash val="solid"/>
          </a:ln>
        </p:spPr>
        <p:txBody>
          <a:bodyPr/>
          <a:p/>
        </p:txBody>
      </p:sp>
      <p:sp>
        <p:nvSpPr>
          <p:cNvPr id="8" name="Shape 6"/>
          <p:cNvSpPr/>
          <p:nvPr/>
        </p:nvSpPr>
        <p:spPr>
          <a:xfrm>
            <a:off x="594360" y="2880360"/>
            <a:ext cx="3931920" cy="1234440"/>
          </a:xfrm>
          <a:prstGeom prst="roundRect">
            <a:avLst>
              <a:gd name="adj" fmla="val 6667"/>
            </a:avLst>
          </a:prstGeom>
          <a:solidFill>
            <a:srgbClr val="ECEAE4"/>
          </a:solidFill>
          <a:ln w="12700">
            <a:solidFill>
              <a:srgbClr val="ECEAE4"/>
            </a:solidFill>
            <a:prstDash val="solid"/>
          </a:ln>
        </p:spPr>
        <p:txBody>
          <a:bodyPr/>
          <a:p/>
        </p:txBody>
      </p:sp>
      <p:sp>
        <p:nvSpPr>
          <p:cNvPr id="9" name="Text 7"/>
          <p:cNvSpPr/>
          <p:nvPr/>
        </p:nvSpPr>
        <p:spPr>
          <a:xfrm>
            <a:off x="777240" y="2880360"/>
            <a:ext cx="3566160" cy="123444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DSP județene și a municipiului București</a:t>
            </a: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servicii deconcentrate, cu personalitate juridică</a:t>
            </a:r>
            <a:endParaRPr lang="en-US" sz="1500" dirty="0"/>
          </a:p>
        </p:txBody>
      </p:sp>
      <p:sp>
        <p:nvSpPr>
          <p:cNvPr id="10" name="Shape 8"/>
          <p:cNvSpPr/>
          <p:nvPr/>
        </p:nvSpPr>
        <p:spPr>
          <a:xfrm>
            <a:off x="4754880" y="2880360"/>
            <a:ext cx="3931920" cy="1234440"/>
          </a:xfrm>
          <a:prstGeom prst="roundRect">
            <a:avLst>
              <a:gd name="adj" fmla="val 6667"/>
            </a:avLst>
          </a:prstGeom>
          <a:solidFill>
            <a:srgbClr val="ECEAE4"/>
          </a:solidFill>
          <a:ln w="12700">
            <a:solidFill>
              <a:srgbClr val="ECEAE4"/>
            </a:solidFill>
            <a:prstDash val="solid"/>
          </a:ln>
        </p:spPr>
        <p:txBody>
          <a:bodyPr/>
          <a:p/>
        </p:txBody>
      </p:sp>
      <p:sp>
        <p:nvSpPr>
          <p:cNvPr id="11" name="Text 9"/>
          <p:cNvSpPr/>
          <p:nvPr/>
        </p:nvSpPr>
        <p:spPr>
          <a:xfrm>
            <a:off x="4937760" y="2880360"/>
            <a:ext cx="3566160" cy="123444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INSP</a:t>
            </a: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 subordinea MS: îndrumă tehnic rețeaua, supraveghează starea de sănătate</a:t>
            </a:r>
            <a:endParaRPr lang="en-US" sz="1500" dirty="0"/>
          </a:p>
        </p:txBody>
      </p:sp>
      <p:sp>
        <p:nvSpPr>
          <p:cNvPr id="12" name="Shape 10"/>
          <p:cNvSpPr/>
          <p:nvPr/>
        </p:nvSpPr>
        <p:spPr>
          <a:xfrm>
            <a:off x="6565392" y="4206240"/>
            <a:ext cx="310896" cy="329184"/>
          </a:xfrm>
          <a:prstGeom prst="downArrow">
            <a:avLst/>
          </a:prstGeom>
          <a:solidFill>
            <a:srgbClr val="C9C6BE"/>
          </a:solidFill>
          <a:ln w="12700">
            <a:solidFill>
              <a:srgbClr val="C9C6BE"/>
            </a:solidFill>
            <a:prstDash val="solid"/>
          </a:ln>
        </p:spPr>
        <p:txBody>
          <a:bodyPr/>
          <a:p/>
        </p:txBody>
      </p:sp>
      <p:sp>
        <p:nvSpPr>
          <p:cNvPr id="13" name="Shape 11"/>
          <p:cNvSpPr/>
          <p:nvPr/>
        </p:nvSpPr>
        <p:spPr>
          <a:xfrm>
            <a:off x="4754880" y="4617720"/>
            <a:ext cx="3931920" cy="1188720"/>
          </a:xfrm>
          <a:prstGeom prst="roundRect">
            <a:avLst>
              <a:gd name="adj" fmla="val 6923"/>
            </a:avLst>
          </a:prstGeom>
          <a:solidFill>
            <a:srgbClr val="DDF3EF"/>
          </a:solidFill>
          <a:ln w="12700">
            <a:solidFill>
              <a:srgbClr val="DDF3EF"/>
            </a:solidFill>
            <a:prstDash val="solid"/>
          </a:ln>
        </p:spPr>
        <p:txBody>
          <a:bodyPr/>
          <a:p/>
        </p:txBody>
      </p:sp>
      <p:sp>
        <p:nvSpPr>
          <p:cNvPr id="14" name="Text 12"/>
          <p:cNvSpPr/>
          <p:nvPr/>
        </p:nvSpPr>
        <p:spPr>
          <a:xfrm>
            <a:off x="4937760" y="4617720"/>
            <a:ext cx="3566160" cy="1188720"/>
          </a:xfrm>
          <a:prstGeom prst="rect">
            <a:avLst/>
          </a:prstGeom>
          <a:noFill/>
          <a:ln/>
        </p:spPr>
        <p:txBody>
          <a:bodyPr wrap="square" lIns="0" tIns="0" rIns="0" bIns="0" rtlCol="0" anchor="ctr"/>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CNSCBT</a:t>
            </a: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Registrul unic de boli transmisibile (HG nr. 657/2022)</a:t>
            </a:r>
            <a:endParaRPr lang="en-US" sz="1500" dirty="0"/>
          </a:p>
        </p:txBody>
      </p:sp>
      <p:sp>
        <p:nvSpPr>
          <p:cNvPr id="15" name="Shape 13"/>
          <p:cNvSpPr/>
          <p:nvPr/>
        </p:nvSpPr>
        <p:spPr>
          <a:xfrm>
            <a:off x="8961120" y="1600200"/>
            <a:ext cx="2606040" cy="1280160"/>
          </a:xfrm>
          <a:prstGeom prst="roundRect">
            <a:avLst>
              <a:gd name="adj" fmla="val 6429"/>
            </a:avLst>
          </a:prstGeom>
          <a:solidFill>
            <a:srgbClr val="ECEAE4"/>
          </a:solidFill>
          <a:ln w="12700">
            <a:solidFill>
              <a:srgbClr val="ECEAE4"/>
            </a:solidFill>
            <a:prstDash val="solid"/>
          </a:ln>
        </p:spPr>
        <p:txBody>
          <a:bodyPr/>
          <a:p/>
        </p:txBody>
      </p:sp>
      <p:sp>
        <p:nvSpPr>
          <p:cNvPr id="16" name="Text 14"/>
          <p:cNvSpPr/>
          <p:nvPr/>
        </p:nvSpPr>
        <p:spPr>
          <a:xfrm>
            <a:off x="9098280" y="1600200"/>
            <a:ext cx="2377440" cy="1280160"/>
          </a:xfrm>
          <a:prstGeom prst="rect">
            <a:avLst/>
          </a:prstGeom>
          <a:noFill/>
          <a:ln/>
        </p:spPr>
        <p:txBody>
          <a:bodyPr wrap="square" lIns="0" tIns="0" rIns="0" bIns="0" rtlCol="0" anchor="ctr"/>
          <a:lstStyle/>
          <a:p>
            <a:pPr indent="0" marL="0">
              <a:buNone/>
            </a:pPr>
            <a:r>
              <a:rPr lang="en-US" sz="1300" b="1" dirty="0">
                <a:solidFill>
                  <a:srgbClr val="4A2D8C"/>
                </a:solidFill>
                <a:latin typeface="Palatino Linotype" pitchFamily="34" charset="0"/>
                <a:ea typeface="Palatino Linotype" pitchFamily="34" charset="-122"/>
                <a:cs typeface="Palatino Linotype" pitchFamily="34" charset="-120"/>
              </a:rPr>
              <a:t>CNAS</a:t>
            </a:r>
            <a:endParaRPr lang="en-US" sz="1300" dirty="0"/>
          </a:p>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asigurările sociale de sănătate; casele județene în subordine</a:t>
            </a:r>
            <a:endParaRPr lang="en-US" sz="1300" dirty="0"/>
          </a:p>
        </p:txBody>
      </p:sp>
      <p:sp>
        <p:nvSpPr>
          <p:cNvPr id="17" name="Shape 15"/>
          <p:cNvSpPr/>
          <p:nvPr/>
        </p:nvSpPr>
        <p:spPr>
          <a:xfrm>
            <a:off x="8961120" y="3108960"/>
            <a:ext cx="2606040" cy="1280160"/>
          </a:xfrm>
          <a:prstGeom prst="roundRect">
            <a:avLst>
              <a:gd name="adj" fmla="val 6429"/>
            </a:avLst>
          </a:prstGeom>
          <a:solidFill>
            <a:srgbClr val="ECEAE4"/>
          </a:solidFill>
          <a:ln w="12700">
            <a:solidFill>
              <a:srgbClr val="ECEAE4"/>
            </a:solidFill>
            <a:prstDash val="solid"/>
          </a:ln>
        </p:spPr>
        <p:txBody>
          <a:bodyPr/>
          <a:p/>
        </p:txBody>
      </p:sp>
      <p:sp>
        <p:nvSpPr>
          <p:cNvPr id="18" name="Text 16"/>
          <p:cNvSpPr/>
          <p:nvPr/>
        </p:nvSpPr>
        <p:spPr>
          <a:xfrm>
            <a:off x="9098280" y="3108960"/>
            <a:ext cx="2377440" cy="1280160"/>
          </a:xfrm>
          <a:prstGeom prst="rect">
            <a:avLst/>
          </a:prstGeom>
          <a:noFill/>
          <a:ln/>
        </p:spPr>
        <p:txBody>
          <a:bodyPr wrap="square" lIns="0" tIns="0" rIns="0" bIns="0" rtlCol="0" anchor="ctr"/>
          <a:lstStyle/>
          <a:p>
            <a:pPr indent="0" marL="0">
              <a:buNone/>
            </a:pPr>
            <a:r>
              <a:rPr lang="en-US" sz="1300" b="1" dirty="0">
                <a:solidFill>
                  <a:srgbClr val="4A2D8C"/>
                </a:solidFill>
                <a:latin typeface="Palatino Linotype" pitchFamily="34" charset="0"/>
                <a:ea typeface="Palatino Linotype" pitchFamily="34" charset="-122"/>
                <a:cs typeface="Palatino Linotype" pitchFamily="34" charset="-120"/>
              </a:rPr>
              <a:t>ANMCS</a:t>
            </a:r>
            <a:endParaRPr lang="en-US" sz="1300" dirty="0"/>
          </a:p>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în subordinea Guvernului: standardizează, evaluează, acreditează (Legea nr. 185/2017)</a:t>
            </a:r>
            <a:endParaRPr lang="en-US" sz="1300" dirty="0"/>
          </a:p>
        </p:txBody>
      </p:sp>
      <p:sp>
        <p:nvSpPr>
          <p:cNvPr id="19" name="Shape 17"/>
          <p:cNvSpPr/>
          <p:nvPr/>
        </p:nvSpPr>
        <p:spPr>
          <a:xfrm>
            <a:off x="8961120" y="4617720"/>
            <a:ext cx="2606040" cy="1280160"/>
          </a:xfrm>
          <a:prstGeom prst="roundRect">
            <a:avLst>
              <a:gd name="adj" fmla="val 6429"/>
            </a:avLst>
          </a:prstGeom>
          <a:solidFill>
            <a:srgbClr val="ECEAE4"/>
          </a:solidFill>
          <a:ln w="12700">
            <a:solidFill>
              <a:srgbClr val="ECEAE4"/>
            </a:solidFill>
            <a:prstDash val="solid"/>
          </a:ln>
        </p:spPr>
        <p:txBody>
          <a:bodyPr/>
          <a:p/>
        </p:txBody>
      </p:sp>
      <p:sp>
        <p:nvSpPr>
          <p:cNvPr id="20" name="Text 18"/>
          <p:cNvSpPr/>
          <p:nvPr/>
        </p:nvSpPr>
        <p:spPr>
          <a:xfrm>
            <a:off x="9098280" y="4617720"/>
            <a:ext cx="2377440" cy="1280160"/>
          </a:xfrm>
          <a:prstGeom prst="rect">
            <a:avLst/>
          </a:prstGeom>
          <a:noFill/>
          <a:ln/>
        </p:spPr>
        <p:txBody>
          <a:bodyPr wrap="square" lIns="0" tIns="0" rIns="0" bIns="0" rtlCol="0" anchor="ctr"/>
          <a:lstStyle/>
          <a:p>
            <a:pPr indent="0" marL="0">
              <a:buNone/>
            </a:pPr>
            <a:r>
              <a:rPr lang="en-US" sz="1300" b="1" dirty="0">
                <a:solidFill>
                  <a:srgbClr val="4A2D8C"/>
                </a:solidFill>
                <a:latin typeface="Palatino Linotype" pitchFamily="34" charset="0"/>
                <a:ea typeface="Palatino Linotype" pitchFamily="34" charset="-122"/>
                <a:cs typeface="Palatino Linotype" pitchFamily="34" charset="-120"/>
              </a:rPr>
              <a:t>INS</a:t>
            </a:r>
            <a:endParaRPr lang="en-US" sz="1300" dirty="0"/>
          </a:p>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nu este în rețeaua MS; publică numitorii indicatorilor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DRUMUL INFORMAȚIEI · ILUSTRARE SIMPLIFICATĂ</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De la cabinet la nivel european și global</a:t>
            </a:r>
            <a:endParaRPr lang="en-US" sz="3000" dirty="0"/>
          </a:p>
        </p:txBody>
      </p:sp>
      <p:sp>
        <p:nvSpPr>
          <p:cNvPr id="4" name="Shape 2"/>
          <p:cNvSpPr/>
          <p:nvPr/>
        </p:nvSpPr>
        <p:spPr>
          <a:xfrm>
            <a:off x="594360" y="1828800"/>
            <a:ext cx="1874520" cy="2103120"/>
          </a:xfrm>
          <a:prstGeom prst="roundRect">
            <a:avLst>
              <a:gd name="adj" fmla="val 4390"/>
            </a:avLst>
          </a:prstGeom>
          <a:solidFill>
            <a:srgbClr val="272A38"/>
          </a:solidFill>
          <a:ln w="12700">
            <a:solidFill>
              <a:srgbClr val="272A38"/>
            </a:solidFill>
            <a:prstDash val="solid"/>
          </a:ln>
        </p:spPr>
        <p:txBody>
          <a:bodyPr/>
          <a:p/>
        </p:txBody>
      </p:sp>
      <p:sp>
        <p:nvSpPr>
          <p:cNvPr id="5" name="Shape 3"/>
          <p:cNvSpPr/>
          <p:nvPr/>
        </p:nvSpPr>
        <p:spPr>
          <a:xfrm>
            <a:off x="594360" y="1828800"/>
            <a:ext cx="1874520" cy="82296"/>
          </a:xfrm>
          <a:prstGeom prst="rect">
            <a:avLst/>
          </a:prstGeom>
          <a:solidFill>
            <a:srgbClr val="FF4757"/>
          </a:solidFill>
          <a:ln w="12700">
            <a:solidFill>
              <a:srgbClr val="FF4757"/>
            </a:solidFill>
            <a:prstDash val="solid"/>
          </a:ln>
        </p:spPr>
        <p:txBody>
          <a:bodyPr/>
          <a:p/>
        </p:txBody>
      </p:sp>
      <p:sp>
        <p:nvSpPr>
          <p:cNvPr id="6" name="Text 4"/>
          <p:cNvSpPr/>
          <p:nvPr/>
        </p:nvSpPr>
        <p:spPr>
          <a:xfrm>
            <a:off x="731520" y="2011680"/>
            <a:ext cx="1600200" cy="685800"/>
          </a:xfrm>
          <a:prstGeom prst="rect">
            <a:avLst/>
          </a:prstGeom>
          <a:noFill/>
          <a:ln/>
        </p:spPr>
        <p:txBody>
          <a:bodyPr wrap="square" lIns="0" tIns="0" rIns="0" bIns="0" rtlCol="0" anchor="t"/>
          <a:lstStyle/>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Medicul de familie</a:t>
            </a:r>
            <a:endParaRPr lang="en-US" sz="1600" dirty="0"/>
          </a:p>
        </p:txBody>
      </p:sp>
      <p:sp>
        <p:nvSpPr>
          <p:cNvPr id="7" name="Text 5"/>
          <p:cNvSpPr/>
          <p:nvPr/>
        </p:nvSpPr>
        <p:spPr>
          <a:xfrm>
            <a:off x="731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raportează cazul</a:t>
            </a:r>
            <a:endParaRPr lang="en-US" sz="1400" dirty="0"/>
          </a:p>
        </p:txBody>
      </p:sp>
      <p:sp>
        <p:nvSpPr>
          <p:cNvPr id="8" name="Shape 6"/>
          <p:cNvSpPr/>
          <p:nvPr/>
        </p:nvSpPr>
        <p:spPr>
          <a:xfrm>
            <a:off x="2496312" y="2743200"/>
            <a:ext cx="347472" cy="329184"/>
          </a:xfrm>
          <a:prstGeom prst="rightArrow">
            <a:avLst/>
          </a:prstGeom>
          <a:solidFill>
            <a:srgbClr val="5A5F76"/>
          </a:solidFill>
          <a:ln w="12700">
            <a:solidFill>
              <a:srgbClr val="5A5F76"/>
            </a:solidFill>
            <a:prstDash val="solid"/>
          </a:ln>
        </p:spPr>
        <p:txBody>
          <a:bodyPr/>
          <a:p/>
        </p:txBody>
      </p:sp>
      <p:sp>
        <p:nvSpPr>
          <p:cNvPr id="9" name="Shape 7"/>
          <p:cNvSpPr/>
          <p:nvPr/>
        </p:nvSpPr>
        <p:spPr>
          <a:xfrm>
            <a:off x="2880360" y="1828800"/>
            <a:ext cx="1874520" cy="2103120"/>
          </a:xfrm>
          <a:prstGeom prst="roundRect">
            <a:avLst>
              <a:gd name="adj" fmla="val 4390"/>
            </a:avLst>
          </a:prstGeom>
          <a:solidFill>
            <a:srgbClr val="272A38"/>
          </a:solidFill>
          <a:ln w="12700">
            <a:solidFill>
              <a:srgbClr val="272A38"/>
            </a:solidFill>
            <a:prstDash val="solid"/>
          </a:ln>
        </p:spPr>
        <p:txBody>
          <a:bodyPr/>
          <a:p/>
        </p:txBody>
      </p:sp>
      <p:sp>
        <p:nvSpPr>
          <p:cNvPr id="10" name="Shape 8"/>
          <p:cNvSpPr/>
          <p:nvPr/>
        </p:nvSpPr>
        <p:spPr>
          <a:xfrm>
            <a:off x="2880360" y="1828800"/>
            <a:ext cx="1874520" cy="82296"/>
          </a:xfrm>
          <a:prstGeom prst="rect">
            <a:avLst/>
          </a:prstGeom>
          <a:solidFill>
            <a:srgbClr val="FFC24B"/>
          </a:solidFill>
          <a:ln w="12700">
            <a:solidFill>
              <a:srgbClr val="FFC24B"/>
            </a:solidFill>
            <a:prstDash val="solid"/>
          </a:ln>
        </p:spPr>
        <p:txBody>
          <a:bodyPr/>
          <a:p/>
        </p:txBody>
      </p:sp>
      <p:sp>
        <p:nvSpPr>
          <p:cNvPr id="11" name="Text 9"/>
          <p:cNvSpPr/>
          <p:nvPr/>
        </p:nvSpPr>
        <p:spPr>
          <a:xfrm>
            <a:off x="3017520" y="2011680"/>
            <a:ext cx="1600200" cy="6858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DSP</a:t>
            </a:r>
            <a:endParaRPr lang="en-US" sz="1600" dirty="0"/>
          </a:p>
        </p:txBody>
      </p:sp>
      <p:sp>
        <p:nvSpPr>
          <p:cNvPr id="12" name="Text 10"/>
          <p:cNvSpPr/>
          <p:nvPr/>
        </p:nvSpPr>
        <p:spPr>
          <a:xfrm>
            <a:off x="3017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investighează focarul, vaccinează contacții</a:t>
            </a:r>
            <a:endParaRPr lang="en-US" sz="1400" dirty="0"/>
          </a:p>
        </p:txBody>
      </p:sp>
      <p:sp>
        <p:nvSpPr>
          <p:cNvPr id="13" name="Shape 11"/>
          <p:cNvSpPr/>
          <p:nvPr/>
        </p:nvSpPr>
        <p:spPr>
          <a:xfrm>
            <a:off x="4782312" y="2743200"/>
            <a:ext cx="347472" cy="329184"/>
          </a:xfrm>
          <a:prstGeom prst="rightArrow">
            <a:avLst/>
          </a:prstGeom>
          <a:solidFill>
            <a:srgbClr val="5A5F76"/>
          </a:solidFill>
          <a:ln w="12700">
            <a:solidFill>
              <a:srgbClr val="5A5F76"/>
            </a:solidFill>
            <a:prstDash val="solid"/>
          </a:ln>
        </p:spPr>
        <p:txBody>
          <a:bodyPr/>
          <a:p/>
        </p:txBody>
      </p:sp>
      <p:sp>
        <p:nvSpPr>
          <p:cNvPr id="14" name="Shape 12"/>
          <p:cNvSpPr/>
          <p:nvPr/>
        </p:nvSpPr>
        <p:spPr>
          <a:xfrm>
            <a:off x="5166360" y="1828800"/>
            <a:ext cx="1874520" cy="2103120"/>
          </a:xfrm>
          <a:prstGeom prst="roundRect">
            <a:avLst>
              <a:gd name="adj" fmla="val 4390"/>
            </a:avLst>
          </a:prstGeom>
          <a:solidFill>
            <a:srgbClr val="272A38"/>
          </a:solidFill>
          <a:ln w="12700">
            <a:solidFill>
              <a:srgbClr val="272A38"/>
            </a:solidFill>
            <a:prstDash val="solid"/>
          </a:ln>
        </p:spPr>
        <p:txBody>
          <a:bodyPr/>
          <a:p/>
        </p:txBody>
      </p:sp>
      <p:sp>
        <p:nvSpPr>
          <p:cNvPr id="15" name="Shape 13"/>
          <p:cNvSpPr/>
          <p:nvPr/>
        </p:nvSpPr>
        <p:spPr>
          <a:xfrm>
            <a:off x="5166360" y="1828800"/>
            <a:ext cx="1874520" cy="82296"/>
          </a:xfrm>
          <a:prstGeom prst="rect">
            <a:avLst/>
          </a:prstGeom>
          <a:solidFill>
            <a:srgbClr val="27D3BE"/>
          </a:solidFill>
          <a:ln w="12700">
            <a:solidFill>
              <a:srgbClr val="27D3BE"/>
            </a:solidFill>
            <a:prstDash val="solid"/>
          </a:ln>
        </p:spPr>
        <p:txBody>
          <a:bodyPr/>
          <a:p/>
        </p:txBody>
      </p:sp>
      <p:sp>
        <p:nvSpPr>
          <p:cNvPr id="16" name="Text 14"/>
          <p:cNvSpPr/>
          <p:nvPr/>
        </p:nvSpPr>
        <p:spPr>
          <a:xfrm>
            <a:off x="5303520" y="2011680"/>
            <a:ext cx="1600200" cy="6858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INSP, prin CNSCBT</a:t>
            </a:r>
            <a:endParaRPr lang="en-US" sz="1600" dirty="0"/>
          </a:p>
        </p:txBody>
      </p:sp>
      <p:sp>
        <p:nvSpPr>
          <p:cNvPr id="17" name="Text 15"/>
          <p:cNvSpPr/>
          <p:nvPr/>
        </p:nvSpPr>
        <p:spPr>
          <a:xfrm>
            <a:off x="5303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registrul unic, analiza națională</a:t>
            </a:r>
            <a:endParaRPr lang="en-US" sz="1400" dirty="0"/>
          </a:p>
        </p:txBody>
      </p:sp>
      <p:sp>
        <p:nvSpPr>
          <p:cNvPr id="18" name="Shape 16"/>
          <p:cNvSpPr/>
          <p:nvPr/>
        </p:nvSpPr>
        <p:spPr>
          <a:xfrm>
            <a:off x="7068312" y="2743200"/>
            <a:ext cx="347472" cy="329184"/>
          </a:xfrm>
          <a:prstGeom prst="rightArrow">
            <a:avLst/>
          </a:prstGeom>
          <a:solidFill>
            <a:srgbClr val="5A5F76"/>
          </a:solidFill>
          <a:ln w="12700">
            <a:solidFill>
              <a:srgbClr val="5A5F76"/>
            </a:solidFill>
            <a:prstDash val="solid"/>
          </a:ln>
        </p:spPr>
        <p:txBody>
          <a:bodyPr/>
          <a:p/>
        </p:txBody>
      </p:sp>
      <p:sp>
        <p:nvSpPr>
          <p:cNvPr id="19" name="Shape 17"/>
          <p:cNvSpPr/>
          <p:nvPr/>
        </p:nvSpPr>
        <p:spPr>
          <a:xfrm>
            <a:off x="7452360" y="1828800"/>
            <a:ext cx="1874520" cy="2103120"/>
          </a:xfrm>
          <a:prstGeom prst="roundRect">
            <a:avLst>
              <a:gd name="adj" fmla="val 4390"/>
            </a:avLst>
          </a:prstGeom>
          <a:solidFill>
            <a:srgbClr val="272A38"/>
          </a:solidFill>
          <a:ln w="12700">
            <a:solidFill>
              <a:srgbClr val="272A38"/>
            </a:solidFill>
            <a:prstDash val="solid"/>
          </a:ln>
        </p:spPr>
        <p:txBody>
          <a:bodyPr/>
          <a:p/>
        </p:txBody>
      </p:sp>
      <p:sp>
        <p:nvSpPr>
          <p:cNvPr id="20" name="Shape 18"/>
          <p:cNvSpPr/>
          <p:nvPr/>
        </p:nvSpPr>
        <p:spPr>
          <a:xfrm>
            <a:off x="7452360" y="1828800"/>
            <a:ext cx="1874520" cy="82296"/>
          </a:xfrm>
          <a:prstGeom prst="rect">
            <a:avLst/>
          </a:prstGeom>
          <a:solidFill>
            <a:srgbClr val="9B7EF7"/>
          </a:solidFill>
          <a:ln w="12700">
            <a:solidFill>
              <a:srgbClr val="9B7EF7"/>
            </a:solidFill>
            <a:prstDash val="solid"/>
          </a:ln>
        </p:spPr>
        <p:txBody>
          <a:bodyPr/>
          <a:p/>
        </p:txBody>
      </p:sp>
      <p:sp>
        <p:nvSpPr>
          <p:cNvPr id="21" name="Text 19"/>
          <p:cNvSpPr/>
          <p:nvPr/>
        </p:nvSpPr>
        <p:spPr>
          <a:xfrm>
            <a:off x="7589520" y="2011680"/>
            <a:ext cx="1600200" cy="685800"/>
          </a:xfrm>
          <a:prstGeom prst="rect">
            <a:avLst/>
          </a:prstGeom>
          <a:noFill/>
          <a:ln/>
        </p:spPr>
        <p:txBody>
          <a:bodyPr wrap="square" lIns="0" tIns="0" rIns="0" bIns="0" rtlCol="0" anchor="t"/>
          <a:lstStyle/>
          <a:p>
            <a:pPr indent="0" marL="0">
              <a:buNone/>
            </a:pPr>
            <a:r>
              <a:rPr lang="en-US" sz="1600" b="1" dirty="0">
                <a:solidFill>
                  <a:srgbClr val="9B7EF7"/>
                </a:solidFill>
                <a:latin typeface="Palatino Linotype" pitchFamily="34" charset="0"/>
                <a:ea typeface="Palatino Linotype" pitchFamily="34" charset="-122"/>
                <a:cs typeface="Palatino Linotype" pitchFamily="34" charset="-120"/>
              </a:rPr>
              <a:t>ECDC</a:t>
            </a:r>
            <a:endParaRPr lang="en-US" sz="1600" dirty="0"/>
          </a:p>
        </p:txBody>
      </p:sp>
      <p:sp>
        <p:nvSpPr>
          <p:cNvPr id="22" name="Text 20"/>
          <p:cNvSpPr/>
          <p:nvPr/>
        </p:nvSpPr>
        <p:spPr>
          <a:xfrm>
            <a:off x="7589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analiza pentru întreaga Uniune</a:t>
            </a:r>
            <a:endParaRPr lang="en-US" sz="1400" dirty="0"/>
          </a:p>
        </p:txBody>
      </p:sp>
      <p:sp>
        <p:nvSpPr>
          <p:cNvPr id="23" name="Shape 21"/>
          <p:cNvSpPr/>
          <p:nvPr/>
        </p:nvSpPr>
        <p:spPr>
          <a:xfrm>
            <a:off x="9354312" y="2743200"/>
            <a:ext cx="347472" cy="329184"/>
          </a:xfrm>
          <a:prstGeom prst="rightArrow">
            <a:avLst/>
          </a:prstGeom>
          <a:solidFill>
            <a:srgbClr val="5A5F76"/>
          </a:solidFill>
          <a:ln w="12700">
            <a:solidFill>
              <a:srgbClr val="5A5F76"/>
            </a:solidFill>
            <a:prstDash val="solid"/>
          </a:ln>
        </p:spPr>
        <p:txBody>
          <a:bodyPr/>
          <a:p/>
        </p:txBody>
      </p:sp>
      <p:sp>
        <p:nvSpPr>
          <p:cNvPr id="24" name="Shape 22"/>
          <p:cNvSpPr/>
          <p:nvPr/>
        </p:nvSpPr>
        <p:spPr>
          <a:xfrm>
            <a:off x="9738360" y="1828800"/>
            <a:ext cx="1874520" cy="2103120"/>
          </a:xfrm>
          <a:prstGeom prst="roundRect">
            <a:avLst>
              <a:gd name="adj" fmla="val 4390"/>
            </a:avLst>
          </a:prstGeom>
          <a:solidFill>
            <a:srgbClr val="272A38"/>
          </a:solidFill>
          <a:ln w="12700">
            <a:solidFill>
              <a:srgbClr val="272A38"/>
            </a:solidFill>
            <a:prstDash val="solid"/>
          </a:ln>
        </p:spPr>
        <p:txBody>
          <a:bodyPr/>
          <a:p/>
        </p:txBody>
      </p:sp>
      <p:sp>
        <p:nvSpPr>
          <p:cNvPr id="25" name="Shape 23"/>
          <p:cNvSpPr/>
          <p:nvPr/>
        </p:nvSpPr>
        <p:spPr>
          <a:xfrm>
            <a:off x="9738360" y="1828800"/>
            <a:ext cx="1874520" cy="82296"/>
          </a:xfrm>
          <a:prstGeom prst="rect">
            <a:avLst/>
          </a:prstGeom>
          <a:solidFill>
            <a:srgbClr val="FF8A3D"/>
          </a:solidFill>
          <a:ln w="12700">
            <a:solidFill>
              <a:srgbClr val="FF8A3D"/>
            </a:solidFill>
            <a:prstDash val="solid"/>
          </a:ln>
        </p:spPr>
        <p:txBody>
          <a:bodyPr/>
          <a:p/>
        </p:txBody>
      </p:sp>
      <p:sp>
        <p:nvSpPr>
          <p:cNvPr id="26" name="Text 24"/>
          <p:cNvSpPr/>
          <p:nvPr/>
        </p:nvSpPr>
        <p:spPr>
          <a:xfrm>
            <a:off x="9875520" y="2011680"/>
            <a:ext cx="1600200" cy="685800"/>
          </a:xfrm>
          <a:prstGeom prst="rect">
            <a:avLst/>
          </a:prstGeom>
          <a:noFill/>
          <a:ln/>
        </p:spPr>
        <p:txBody>
          <a:bodyPr wrap="square" lIns="0" tIns="0" rIns="0" bIns="0" rtlCol="0" anchor="t"/>
          <a:lstStyle/>
          <a:p>
            <a:pPr indent="0" marL="0">
              <a:buNone/>
            </a:pPr>
            <a:r>
              <a:rPr lang="en-US" sz="1600" b="1" dirty="0">
                <a:solidFill>
                  <a:srgbClr val="FF8A3D"/>
                </a:solidFill>
                <a:latin typeface="Palatino Linotype" pitchFamily="34" charset="0"/>
                <a:ea typeface="Palatino Linotype" pitchFamily="34" charset="-122"/>
                <a:cs typeface="Palatino Linotype" pitchFamily="34" charset="-120"/>
              </a:rPr>
              <a:t>OMS</a:t>
            </a:r>
            <a:endParaRPr lang="en-US" sz="1600" dirty="0"/>
          </a:p>
        </p:txBody>
      </p:sp>
      <p:sp>
        <p:nvSpPr>
          <p:cNvPr id="27" name="Text 25"/>
          <p:cNvSpPr/>
          <p:nvPr/>
        </p:nvSpPr>
        <p:spPr>
          <a:xfrm>
            <a:off x="9875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Regulamentul Sanitar Internațional (2005)</a:t>
            </a:r>
            <a:endParaRPr lang="en-US" sz="1400" dirty="0"/>
          </a:p>
        </p:txBody>
      </p:sp>
      <p:sp>
        <p:nvSpPr>
          <p:cNvPr id="28" name="Text 26"/>
          <p:cNvSpPr/>
          <p:nvPr/>
        </p:nvSpPr>
        <p:spPr>
          <a:xfrm>
            <a:off x="594360" y="4251960"/>
            <a:ext cx="10972800" cy="1280160"/>
          </a:xfrm>
          <a:prstGeom prst="rect">
            <a:avLst/>
          </a:prstGeom>
          <a:noFill/>
          <a:ln/>
        </p:spPr>
        <p:txBody>
          <a:bodyPr wrap="square" lIns="0" tIns="0" rIns="0" bIns="0" rtlCol="0" anchor="t"/>
          <a:lstStyle/>
          <a:p>
            <a:pPr indent="0" marL="0">
              <a:buNone/>
            </a:pPr>
            <a:r>
              <a:rPr lang="en-US" sz="1600" dirty="0">
                <a:solidFill>
                  <a:srgbClr val="D5D8E2"/>
                </a:solidFill>
                <a:latin typeface="Palatino Linotype" pitchFamily="34" charset="0"/>
                <a:ea typeface="Palatino Linotype" pitchFamily="34" charset="-122"/>
                <a:cs typeface="Palatino Linotype" pitchFamily="34" charset="-120"/>
              </a:rPr>
              <a:t>În Uniune, rețeaua de supraveghere funcționează după Regulamentul (UE) 2022/2371; la Comisie, politica de sănătate ține de DG SANTE. OMS definește urgența de sănătate publică de importanță internațională: un eveniment extraordinar, cu risc pentru alte state prin răspândirea bolii.</a:t>
            </a:r>
            <a:endParaRPr lang="en-US" sz="160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Ilustrare construită pentru acest curs pe baza rolurilor stabilite de lege; nu este procedura pas cu pas a supravegherii rujeolei.</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ZIUA CONFIRMĂRII CAZULUI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Trei minute la telefon</a:t>
            </a:r>
            <a:endParaRPr lang="en-US" sz="3400" dirty="0"/>
          </a:p>
        </p:txBody>
      </p:sp>
      <p:sp>
        <p:nvSpPr>
          <p:cNvPr id="6" name="Text 4"/>
          <p:cNvSpPr/>
          <p:nvPr/>
        </p:nvSpPr>
        <p:spPr>
          <a:xfrm>
            <a:off x="868680" y="1554480"/>
            <a:ext cx="5486400" cy="27432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MEDICUL REZIDENT, DIN CABINET</a:t>
            </a:r>
            <a:endParaRPr lang="en-US" sz="1300" dirty="0"/>
          </a:p>
        </p:txBody>
      </p:sp>
      <p:sp>
        <p:nvSpPr>
          <p:cNvPr id="7" name="Shape 5"/>
          <p:cNvSpPr/>
          <p:nvPr/>
        </p:nvSpPr>
        <p:spPr>
          <a:xfrm>
            <a:off x="594360" y="1874520"/>
            <a:ext cx="6035040" cy="960120"/>
          </a:xfrm>
          <a:prstGeom prst="roundRect">
            <a:avLst>
              <a:gd name="adj" fmla="val 17143"/>
            </a:avLst>
          </a:prstGeom>
          <a:solidFill>
            <a:srgbClr val="30344A"/>
          </a:solidFill>
          <a:ln w="12700">
            <a:solidFill>
              <a:srgbClr val="30344A"/>
            </a:solidFill>
            <a:prstDash val="solid"/>
          </a:ln>
        </p:spPr>
        <p:txBody>
          <a:bodyPr/>
          <a:p/>
        </p:txBody>
      </p:sp>
      <p:sp>
        <p:nvSpPr>
          <p:cNvPr id="8" name="Shape 6"/>
          <p:cNvSpPr/>
          <p:nvPr/>
        </p:nvSpPr>
        <p:spPr>
          <a:xfrm flipV="1">
            <a:off x="1005840" y="2816352"/>
            <a:ext cx="457200" cy="292608"/>
          </a:xfrm>
          <a:prstGeom prst="triangle">
            <a:avLst/>
          </a:prstGeom>
          <a:solidFill>
            <a:srgbClr val="30344A"/>
          </a:solidFill>
          <a:ln w="12700">
            <a:solidFill>
              <a:srgbClr val="30344A"/>
            </a:solidFill>
            <a:prstDash val="solid"/>
          </a:ln>
        </p:spPr>
        <p:txBody>
          <a:bodyPr/>
          <a:p/>
        </p:txBody>
      </p:sp>
      <p:sp>
        <p:nvSpPr>
          <p:cNvPr id="9" name="Text 7"/>
          <p:cNvSpPr/>
          <p:nvPr/>
        </p:nvSpPr>
        <p:spPr>
          <a:xfrm>
            <a:off x="868680" y="1874520"/>
            <a:ext cx="5577840" cy="96012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„Vă sun de la cabinetul de medicina familiei: avem un caz confirmat de rujeolă.”</a:t>
            </a:r>
            <a:endParaRPr lang="en-US" sz="1800" dirty="0"/>
          </a:p>
        </p:txBody>
      </p:sp>
      <p:sp>
        <p:nvSpPr>
          <p:cNvPr id="10" name="Text 8"/>
          <p:cNvSpPr/>
          <p:nvPr/>
        </p:nvSpPr>
        <p:spPr>
          <a:xfrm>
            <a:off x="5029200" y="3154680"/>
            <a:ext cx="6263640" cy="274320"/>
          </a:xfrm>
          <a:prstGeom prst="rect">
            <a:avLst/>
          </a:prstGeom>
          <a:noFill/>
          <a:ln/>
        </p:spPr>
        <p:txBody>
          <a:bodyPr wrap="square" lIns="0" tIns="0" rIns="0" bIns="0" rtlCol="0" anchor="t"/>
          <a:lstStyle/>
          <a:p>
            <a:pPr algn="r" indent="0" marL="0">
              <a:buNone/>
            </a:pPr>
            <a:r>
              <a:rPr lang="en-US" sz="1300" b="1" spc="200" kern="0" dirty="0">
                <a:solidFill>
                  <a:srgbClr val="9FE8DC"/>
                </a:solidFill>
                <a:latin typeface="Palatino Linotype" pitchFamily="34" charset="0"/>
                <a:ea typeface="Palatino Linotype" pitchFamily="34" charset="-122"/>
                <a:cs typeface="Palatino Linotype" pitchFamily="34" charset="-120"/>
              </a:rPr>
              <a:t>MEDICUL EPIDEMIOLOG AL DSP</a:t>
            </a:r>
            <a:endParaRPr lang="en-US" sz="1300" dirty="0"/>
          </a:p>
        </p:txBody>
      </p:sp>
      <p:sp>
        <p:nvSpPr>
          <p:cNvPr id="11" name="Shape 9"/>
          <p:cNvSpPr/>
          <p:nvPr/>
        </p:nvSpPr>
        <p:spPr>
          <a:xfrm>
            <a:off x="4572000" y="3474720"/>
            <a:ext cx="6995160" cy="960120"/>
          </a:xfrm>
          <a:prstGeom prst="roundRect">
            <a:avLst>
              <a:gd name="adj" fmla="val 17143"/>
            </a:avLst>
          </a:prstGeom>
          <a:solidFill>
            <a:srgbClr val="0F5A4F"/>
          </a:solidFill>
          <a:ln w="12700">
            <a:solidFill>
              <a:srgbClr val="0F5A4F"/>
            </a:solidFill>
            <a:prstDash val="solid"/>
          </a:ln>
        </p:spPr>
        <p:txBody>
          <a:bodyPr/>
          <a:p/>
        </p:txBody>
      </p:sp>
      <p:sp>
        <p:nvSpPr>
          <p:cNvPr id="12" name="Shape 10"/>
          <p:cNvSpPr/>
          <p:nvPr/>
        </p:nvSpPr>
        <p:spPr>
          <a:xfrm flipV="1">
            <a:off x="10698480" y="4416552"/>
            <a:ext cx="457200" cy="292608"/>
          </a:xfrm>
          <a:prstGeom prst="triangle">
            <a:avLst/>
          </a:prstGeom>
          <a:solidFill>
            <a:srgbClr val="0F5A4F"/>
          </a:solidFill>
          <a:ln w="12700">
            <a:solidFill>
              <a:srgbClr val="0F5A4F"/>
            </a:solidFill>
            <a:prstDash val="solid"/>
          </a:ln>
        </p:spPr>
        <p:txBody>
          <a:bodyPr/>
          <a:p/>
        </p:txBody>
      </p:sp>
      <p:sp>
        <p:nvSpPr>
          <p:cNvPr id="13" name="Text 11"/>
          <p:cNvSpPr/>
          <p:nvPr/>
        </p:nvSpPr>
        <p:spPr>
          <a:xfrm>
            <a:off x="4846320" y="3474720"/>
            <a:ext cx="6492240" cy="96012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„Spuneți-mi tot ce îmi trebuie ca să opresc focarul.”</a:t>
            </a:r>
            <a:endParaRPr lang="en-US" sz="1800" dirty="0"/>
          </a:p>
        </p:txBody>
      </p:sp>
      <p:sp>
        <p:nvSpPr>
          <p:cNvPr id="14" name="Text 12"/>
          <p:cNvSpPr/>
          <p:nvPr/>
        </p:nvSpPr>
        <p:spPr>
          <a:xfrm>
            <a:off x="594360" y="493776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Doi voluntari. Sala ascultă și votează apoi ce informație a lipsit din convorbire.</a:t>
            </a:r>
            <a:endParaRPr lang="en-US" sz="1800" dirty="0"/>
          </a:p>
        </p:txBody>
      </p:sp>
      <p:sp>
        <p:nvSpPr>
          <p:cNvPr id="15" name="Text 13"/>
          <p:cNvSpPr/>
          <p:nvPr/>
        </p:nvSpPr>
        <p:spPr>
          <a:xfrm>
            <a:off x="9692640" y="6263640"/>
            <a:ext cx="187452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indent="0" marL="0">
              <a:buNone/>
            </a:pPr>
            <a:r>
              <a:rPr lang="en-US" sz="14000" b="1" dirty="0">
                <a:solidFill>
                  <a:srgbClr val="27D3BE"/>
                </a:solidFill>
                <a:latin typeface="Palatino Linotype" pitchFamily="34" charset="0"/>
                <a:ea typeface="Palatino Linotype" pitchFamily="34" charset="-122"/>
                <a:cs typeface="Palatino Linotype" pitchFamily="34" charset="-120"/>
              </a:rPr>
              <a:t>10′</a:t>
            </a:r>
            <a:endParaRPr lang="en-US" sz="14000" dirty="0"/>
          </a:p>
        </p:txBody>
      </p:sp>
      <p:sp>
        <p:nvSpPr>
          <p:cNvPr id="3" name="Shape 1"/>
          <p:cNvSpPr/>
          <p:nvPr/>
        </p:nvSpPr>
        <p:spPr>
          <a:xfrm>
            <a:off x="4206240" y="1737360"/>
            <a:ext cx="32004" cy="1737360"/>
          </a:xfrm>
          <a:prstGeom prst="rect">
            <a:avLst/>
          </a:prstGeom>
          <a:solidFill>
            <a:srgbClr val="27D3BE"/>
          </a:solidFill>
          <a:ln/>
        </p:spPr>
        <p:txBody>
          <a:bodyPr/>
          <a:p/>
        </p:txBody>
      </p:sp>
      <p:sp>
        <p:nvSpPr>
          <p:cNvPr id="4" name="Text 2"/>
          <p:cNvSpPr/>
          <p:nvPr/>
        </p:nvSpPr>
        <p:spPr>
          <a:xfrm>
            <a:off x="4709160" y="1755648"/>
            <a:ext cx="68580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Pauză</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După pauză, al treilea caz: pacienta care se reinternează.</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MGVI/active/img/sat_deal_hidiselul_commons.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Un sat de deal din România</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Delia2 · CC BY-SA 4.0 · Wikimedia Commons</a:t>
            </a:r>
            <a:endParaRPr lang="en-US" sz="850" dirty="0"/>
          </a:p>
        </p:txBody>
      </p:sp>
      <p:sp>
        <p:nvSpPr>
          <p:cNvPr id="6" name="Text 3"/>
          <p:cNvSpPr/>
          <p:nvPr/>
        </p:nvSpPr>
        <p:spPr>
          <a:xfrm>
            <a:off x="5943600" y="411480"/>
            <a:ext cx="576072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SECȚIA DE MEDICINĂ INTERNĂ</a:t>
            </a:r>
            <a:endParaRPr lang="en-US" sz="1300" dirty="0"/>
          </a:p>
        </p:txBody>
      </p:sp>
      <p:sp>
        <p:nvSpPr>
          <p:cNvPr id="7" name="Text 4"/>
          <p:cNvSpPr/>
          <p:nvPr/>
        </p:nvSpPr>
        <p:spPr>
          <a:xfrm>
            <a:off x="5943600" y="822960"/>
            <a:ext cx="576072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Pacienta care se reinternează</a:t>
            </a:r>
            <a:endParaRPr lang="en-US" sz="3000" dirty="0"/>
          </a:p>
        </p:txBody>
      </p:sp>
      <p:sp>
        <p:nvSpPr>
          <p:cNvPr id="8" name="Text 5"/>
          <p:cNvSpPr/>
          <p:nvPr/>
        </p:nvSpPr>
        <p:spPr>
          <a:xfrm>
            <a:off x="5943600" y="1828800"/>
            <a:ext cx="5760720" cy="2743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Salonul trei: șaptezeci și patru de ani, insuficiență cardiacă, a patra internare în acest an. Tratamentul este corect. Abia acum aflați ce nu apărea în foaia de observație: locuiește singură, într-un sat departe de oraș; pensia îi ajunge greu pentru medicamente și lemne; medicul de familie are cabinetul în altă comună.</a:t>
            </a:r>
            <a:endParaRPr lang="en-US" sz="1700" dirty="0"/>
          </a:p>
        </p:txBody>
      </p:sp>
      <p:sp>
        <p:nvSpPr>
          <p:cNvPr id="9" name="Text 6"/>
          <p:cNvSpPr/>
          <p:nvPr/>
        </p:nvSpPr>
        <p:spPr>
          <a:xfrm>
            <a:off x="5943600" y="4754880"/>
            <a:ext cx="5760720" cy="9144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Fiecare internare a fost tratată ca un episod medical. Unde sunt cauzele?</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TREI TABERE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DEZBATERE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explică cel mai bine reinternările pacientei?</a:t>
            </a:r>
            <a:endParaRPr lang="en-US" sz="3000" dirty="0"/>
          </a:p>
        </p:txBody>
      </p:sp>
      <p:sp>
        <p:nvSpPr>
          <p:cNvPr id="6" name="Shape 4"/>
          <p:cNvSpPr/>
          <p:nvPr/>
        </p:nvSpPr>
        <p:spPr>
          <a:xfrm>
            <a:off x="594360" y="1828800"/>
            <a:ext cx="3474720" cy="2743200"/>
          </a:xfrm>
          <a:prstGeom prst="roundRect">
            <a:avLst>
              <a:gd name="adj" fmla="val 3000"/>
            </a:avLst>
          </a:prstGeom>
          <a:solidFill>
            <a:srgbClr val="FF4757"/>
          </a:solidFill>
          <a:ln w="12700">
            <a:solidFill>
              <a:srgbClr val="FF4757"/>
            </a:solidFill>
            <a:prstDash val="solid"/>
          </a:ln>
        </p:spPr>
        <p:txBody>
          <a:bodyPr/>
          <a:p/>
        </p:txBody>
      </p:sp>
      <p:sp>
        <p:nvSpPr>
          <p:cNvPr id="7" name="Text 5"/>
          <p:cNvSpPr/>
          <p:nvPr/>
        </p:nvSpPr>
        <p:spPr>
          <a:xfrm>
            <a:off x="868680" y="2011680"/>
            <a:ext cx="2926080" cy="914400"/>
          </a:xfrm>
          <a:prstGeom prst="rect">
            <a:avLst/>
          </a:prstGeom>
          <a:noFill/>
          <a:ln/>
        </p:spPr>
        <p:txBody>
          <a:bodyPr wrap="square" lIns="0" tIns="0" rIns="0" bIns="0" rtlCol="0" anchor="t"/>
          <a:lstStyle/>
          <a:p>
            <a:pPr indent="0" marL="0">
              <a:buNone/>
            </a:pPr>
            <a:r>
              <a:rPr lang="en-US" sz="2400" b="1" dirty="0">
                <a:solidFill>
                  <a:srgbClr val="2E060B"/>
                </a:solidFill>
                <a:latin typeface="Palatino Linotype" pitchFamily="34" charset="0"/>
                <a:ea typeface="Palatino Linotype" pitchFamily="34" charset="-122"/>
                <a:cs typeface="Palatino Linotype" pitchFamily="34" charset="-120"/>
              </a:rPr>
              <a:t>Venitul</a:t>
            </a:r>
            <a:endParaRPr lang="en-US" sz="2400" dirty="0"/>
          </a:p>
        </p:txBody>
      </p:sp>
      <p:sp>
        <p:nvSpPr>
          <p:cNvPr id="8" name="Text 6"/>
          <p:cNvSpPr/>
          <p:nvPr/>
        </p:nvSpPr>
        <p:spPr>
          <a:xfrm>
            <a:off x="868680" y="3017520"/>
            <a:ext cx="2926080" cy="1371600"/>
          </a:xfrm>
          <a:prstGeom prst="rect">
            <a:avLst/>
          </a:prstGeom>
          <a:noFill/>
          <a:ln/>
        </p:spPr>
        <p:txBody>
          <a:bodyPr wrap="square" lIns="0" tIns="0" rIns="0" bIns="0" rtlCol="0" anchor="t"/>
          <a:lstStyle/>
          <a:p>
            <a:pPr indent="0" marL="0">
              <a:buNone/>
            </a:pPr>
            <a:r>
              <a:rPr lang="en-US" sz="1700" dirty="0">
                <a:solidFill>
                  <a:srgbClr val="2E060B"/>
                </a:solidFill>
                <a:latin typeface="Palatino Linotype" pitchFamily="34" charset="0"/>
                <a:ea typeface="Palatino Linotype" pitchFamily="34" charset="-122"/>
                <a:cs typeface="Palatino Linotype" pitchFamily="34" charset="-120"/>
              </a:rPr>
              <a:t>pensia îi ajunge greu pentru medicamente și lemne</a:t>
            </a:r>
            <a:endParaRPr lang="en-US" sz="1700" dirty="0"/>
          </a:p>
        </p:txBody>
      </p:sp>
      <p:sp>
        <p:nvSpPr>
          <p:cNvPr id="9" name="Shape 7"/>
          <p:cNvSpPr/>
          <p:nvPr/>
        </p:nvSpPr>
        <p:spPr>
          <a:xfrm>
            <a:off x="4343400" y="1828800"/>
            <a:ext cx="3474720" cy="2743200"/>
          </a:xfrm>
          <a:prstGeom prst="roundRect">
            <a:avLst>
              <a:gd name="adj" fmla="val 3000"/>
            </a:avLst>
          </a:prstGeom>
          <a:solidFill>
            <a:srgbClr val="9B7EF7"/>
          </a:solidFill>
          <a:ln w="12700">
            <a:solidFill>
              <a:srgbClr val="9B7EF7"/>
            </a:solidFill>
            <a:prstDash val="solid"/>
          </a:ln>
        </p:spPr>
        <p:txBody>
          <a:bodyPr/>
          <a:p/>
        </p:txBody>
      </p:sp>
      <p:sp>
        <p:nvSpPr>
          <p:cNvPr id="10" name="Text 8"/>
          <p:cNvSpPr/>
          <p:nvPr/>
        </p:nvSpPr>
        <p:spPr>
          <a:xfrm>
            <a:off x="4617720" y="2011680"/>
            <a:ext cx="2926080" cy="914400"/>
          </a:xfrm>
          <a:prstGeom prst="rect">
            <a:avLst/>
          </a:prstGeom>
          <a:noFill/>
          <a:ln/>
        </p:spPr>
        <p:txBody>
          <a:bodyPr wrap="square" lIns="0" tIns="0" rIns="0" bIns="0" rtlCol="0" anchor="t"/>
          <a:lstStyle/>
          <a:p>
            <a:pPr indent="0" marL="0">
              <a:buNone/>
            </a:pPr>
            <a:r>
              <a:rPr lang="en-US" sz="2400" b="1" dirty="0">
                <a:solidFill>
                  <a:srgbClr val="1F1040"/>
                </a:solidFill>
                <a:latin typeface="Palatino Linotype" pitchFamily="34" charset="0"/>
                <a:ea typeface="Palatino Linotype" pitchFamily="34" charset="-122"/>
                <a:cs typeface="Palatino Linotype" pitchFamily="34" charset="-120"/>
              </a:rPr>
              <a:t>Distanța față de servicii</a:t>
            </a:r>
            <a:endParaRPr lang="en-US" sz="2400" dirty="0"/>
          </a:p>
        </p:txBody>
      </p:sp>
      <p:sp>
        <p:nvSpPr>
          <p:cNvPr id="11" name="Text 9"/>
          <p:cNvSpPr/>
          <p:nvPr/>
        </p:nvSpPr>
        <p:spPr>
          <a:xfrm>
            <a:off x="4617720" y="3017520"/>
            <a:ext cx="2926080" cy="1371600"/>
          </a:xfrm>
          <a:prstGeom prst="rect">
            <a:avLst/>
          </a:prstGeom>
          <a:noFill/>
          <a:ln/>
        </p:spPr>
        <p:txBody>
          <a:bodyPr wrap="square" lIns="0" tIns="0" rIns="0" bIns="0" rtlCol="0" anchor="t"/>
          <a:lstStyle/>
          <a:p>
            <a:pPr indent="0" marL="0">
              <a:buNone/>
            </a:pPr>
            <a:r>
              <a:rPr lang="en-US" sz="1700" dirty="0">
                <a:solidFill>
                  <a:srgbClr val="1F1040"/>
                </a:solidFill>
                <a:latin typeface="Palatino Linotype" pitchFamily="34" charset="0"/>
                <a:ea typeface="Palatino Linotype" pitchFamily="34" charset="-122"/>
                <a:cs typeface="Palatino Linotype" pitchFamily="34" charset="-120"/>
              </a:rPr>
              <a:t>medicul de familie are cabinetul în altă comună</a:t>
            </a:r>
            <a:endParaRPr lang="en-US" sz="1700" dirty="0"/>
          </a:p>
        </p:txBody>
      </p:sp>
      <p:sp>
        <p:nvSpPr>
          <p:cNvPr id="12" name="Shape 10"/>
          <p:cNvSpPr/>
          <p:nvPr/>
        </p:nvSpPr>
        <p:spPr>
          <a:xfrm>
            <a:off x="8092440" y="1828800"/>
            <a:ext cx="3474720" cy="2743200"/>
          </a:xfrm>
          <a:prstGeom prst="roundRect">
            <a:avLst>
              <a:gd name="adj" fmla="val 3000"/>
            </a:avLst>
          </a:prstGeom>
          <a:solidFill>
            <a:srgbClr val="27D3BE"/>
          </a:solidFill>
          <a:ln w="12700">
            <a:solidFill>
              <a:srgbClr val="27D3BE"/>
            </a:solidFill>
            <a:prstDash val="solid"/>
          </a:ln>
        </p:spPr>
        <p:txBody>
          <a:bodyPr/>
          <a:p/>
        </p:txBody>
      </p:sp>
      <p:sp>
        <p:nvSpPr>
          <p:cNvPr id="13" name="Text 11"/>
          <p:cNvSpPr/>
          <p:nvPr/>
        </p:nvSpPr>
        <p:spPr>
          <a:xfrm>
            <a:off x="8366760" y="2011680"/>
            <a:ext cx="2926080" cy="914400"/>
          </a:xfrm>
          <a:prstGeom prst="rect">
            <a:avLst/>
          </a:prstGeom>
          <a:noFill/>
          <a:ln/>
        </p:spPr>
        <p:txBody>
          <a:bodyPr wrap="square" lIns="0" tIns="0" rIns="0" bIns="0" rtlCol="0" anchor="t"/>
          <a:lstStyle/>
          <a:p>
            <a:pPr indent="0" marL="0">
              <a:buNone/>
            </a:pPr>
            <a:r>
              <a:rPr lang="en-US" sz="2400" b="1" dirty="0">
                <a:solidFill>
                  <a:srgbClr val="073B34"/>
                </a:solidFill>
                <a:latin typeface="Palatino Linotype" pitchFamily="34" charset="0"/>
                <a:ea typeface="Palatino Linotype" pitchFamily="34" charset="-122"/>
                <a:cs typeface="Palatino Linotype" pitchFamily="34" charset="-120"/>
              </a:rPr>
              <a:t>Izolarea socială</a:t>
            </a:r>
            <a:endParaRPr lang="en-US" sz="2400" dirty="0"/>
          </a:p>
        </p:txBody>
      </p:sp>
      <p:sp>
        <p:nvSpPr>
          <p:cNvPr id="14" name="Text 12"/>
          <p:cNvSpPr/>
          <p:nvPr/>
        </p:nvSpPr>
        <p:spPr>
          <a:xfrm>
            <a:off x="8366760" y="3017520"/>
            <a:ext cx="2926080" cy="1371600"/>
          </a:xfrm>
          <a:prstGeom prst="rect">
            <a:avLst/>
          </a:prstGeom>
          <a:noFill/>
          <a:ln/>
        </p:spPr>
        <p:txBody>
          <a:bodyPr wrap="square" lIns="0" tIns="0" rIns="0" bIns="0" rtlCol="0" anchor="t"/>
          <a:lstStyle/>
          <a:p>
            <a:pPr indent="0" marL="0">
              <a:buNone/>
            </a:pPr>
            <a:r>
              <a:rPr lang="en-US" sz="1700" dirty="0">
                <a:solidFill>
                  <a:srgbClr val="073B34"/>
                </a:solidFill>
                <a:latin typeface="Palatino Linotype" pitchFamily="34" charset="0"/>
                <a:ea typeface="Palatino Linotype" pitchFamily="34" charset="-122"/>
                <a:cs typeface="Palatino Linotype" pitchFamily="34" charset="-120"/>
              </a:rPr>
              <a:t>locuiește singură</a:t>
            </a:r>
            <a:endParaRPr lang="en-US" sz="1700" dirty="0"/>
          </a:p>
        </p:txBody>
      </p:sp>
      <p:sp>
        <p:nvSpPr>
          <p:cNvPr id="15" name="Text 13"/>
          <p:cNvSpPr/>
          <p:nvPr/>
        </p:nvSpPr>
        <p:spPr>
          <a:xfrm>
            <a:off x="594360" y="4937760"/>
            <a:ext cx="10972800" cy="73152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Fiecare tabără: un minut pentru argumente. Apoi: ce legătură există între cele trei?</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DUPĂ DEZBATERE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 lanț, nu o competiție</a:t>
            </a:r>
            <a:endParaRPr lang="en-US" sz="3400" dirty="0"/>
          </a:p>
        </p:txBody>
      </p:sp>
      <p:sp>
        <p:nvSpPr>
          <p:cNvPr id="4" name="Shape 2"/>
          <p:cNvSpPr/>
          <p:nvPr/>
        </p:nvSpPr>
        <p:spPr>
          <a:xfrm>
            <a:off x="594360" y="1828800"/>
            <a:ext cx="2468880" cy="2011680"/>
          </a:xfrm>
          <a:prstGeom prst="roundRect">
            <a:avLst>
              <a:gd name="adj" fmla="val 4091"/>
            </a:avLst>
          </a:prstGeom>
          <a:solidFill>
            <a:srgbClr val="ECEAE4"/>
          </a:solidFill>
          <a:ln w="12700">
            <a:solidFill>
              <a:srgbClr val="ECEAE4"/>
            </a:solidFill>
            <a:prstDash val="solid"/>
          </a:ln>
        </p:spPr>
        <p:txBody>
          <a:bodyPr/>
          <a:p/>
        </p:txBody>
      </p:sp>
      <p:sp>
        <p:nvSpPr>
          <p:cNvPr id="5" name="Shape 3"/>
          <p:cNvSpPr/>
          <p:nvPr/>
        </p:nvSpPr>
        <p:spPr>
          <a:xfrm>
            <a:off x="594360" y="1828800"/>
            <a:ext cx="2468880" cy="82296"/>
          </a:xfrm>
          <a:prstGeom prst="rect">
            <a:avLst/>
          </a:prstGeom>
          <a:solidFill>
            <a:srgbClr val="585A64"/>
          </a:solidFill>
          <a:ln w="12700">
            <a:solidFill>
              <a:srgbClr val="585A64"/>
            </a:solidFill>
            <a:prstDash val="solid"/>
          </a:ln>
        </p:spPr>
        <p:txBody>
          <a:bodyPr/>
          <a:p/>
        </p:txBody>
      </p:sp>
      <p:sp>
        <p:nvSpPr>
          <p:cNvPr id="6" name="Text 4"/>
          <p:cNvSpPr/>
          <p:nvPr/>
        </p:nvSpPr>
        <p:spPr>
          <a:xfrm>
            <a:off x="777240" y="2011680"/>
            <a:ext cx="2103120" cy="685800"/>
          </a:xfrm>
          <a:prstGeom prst="rect">
            <a:avLst/>
          </a:prstGeom>
          <a:noFill/>
          <a:ln/>
        </p:spPr>
        <p:txBody>
          <a:bodyPr wrap="square" lIns="0" tIns="0" rIns="0" bIns="0" rtlCol="0" anchor="t"/>
          <a:lstStyle/>
          <a:p>
            <a:pPr indent="0" marL="0">
              <a:buNone/>
            </a:pPr>
            <a:r>
              <a:rPr lang="en-US" sz="1700" b="1" dirty="0">
                <a:solidFill>
                  <a:srgbClr val="585A64"/>
                </a:solidFill>
                <a:latin typeface="Palatino Linotype" pitchFamily="34" charset="0"/>
                <a:ea typeface="Palatino Linotype" pitchFamily="34" charset="-122"/>
                <a:cs typeface="Palatino Linotype" pitchFamily="34" charset="-120"/>
              </a:rPr>
              <a:t>Contextul social și politic</a:t>
            </a:r>
            <a:endParaRPr lang="en-US" sz="1700" dirty="0"/>
          </a:p>
        </p:txBody>
      </p:sp>
      <p:sp>
        <p:nvSpPr>
          <p:cNvPr id="7" name="Text 5"/>
          <p:cNvSpPr/>
          <p:nvPr/>
        </p:nvSpPr>
        <p:spPr>
          <a:xfrm>
            <a:off x="777240"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politicile, economia, protecția socială</a:t>
            </a:r>
            <a:endParaRPr lang="en-US" sz="1500" dirty="0"/>
          </a:p>
        </p:txBody>
      </p:sp>
      <p:sp>
        <p:nvSpPr>
          <p:cNvPr id="8" name="Shape 6"/>
          <p:cNvSpPr/>
          <p:nvPr/>
        </p:nvSpPr>
        <p:spPr>
          <a:xfrm>
            <a:off x="3081528" y="2697480"/>
            <a:ext cx="347472" cy="329184"/>
          </a:xfrm>
          <a:prstGeom prst="rightArrow">
            <a:avLst/>
          </a:prstGeom>
          <a:solidFill>
            <a:srgbClr val="585A64"/>
          </a:solidFill>
          <a:ln w="12700">
            <a:solidFill>
              <a:srgbClr val="585A64"/>
            </a:solidFill>
            <a:prstDash val="solid"/>
          </a:ln>
        </p:spPr>
        <p:txBody>
          <a:bodyPr/>
          <a:p/>
        </p:txBody>
      </p:sp>
      <p:sp>
        <p:nvSpPr>
          <p:cNvPr id="9" name="Shape 7"/>
          <p:cNvSpPr/>
          <p:nvPr/>
        </p:nvSpPr>
        <p:spPr>
          <a:xfrm>
            <a:off x="3456432" y="1828800"/>
            <a:ext cx="2468880" cy="2011680"/>
          </a:xfrm>
          <a:prstGeom prst="roundRect">
            <a:avLst>
              <a:gd name="adj" fmla="val 4091"/>
            </a:avLst>
          </a:prstGeom>
          <a:solidFill>
            <a:srgbClr val="ECEAE4"/>
          </a:solidFill>
          <a:ln w="12700">
            <a:solidFill>
              <a:srgbClr val="ECEAE4"/>
            </a:solidFill>
            <a:prstDash val="solid"/>
          </a:ln>
        </p:spPr>
        <p:txBody>
          <a:bodyPr/>
          <a:p/>
        </p:txBody>
      </p:sp>
      <p:sp>
        <p:nvSpPr>
          <p:cNvPr id="10" name="Shape 8"/>
          <p:cNvSpPr/>
          <p:nvPr/>
        </p:nvSpPr>
        <p:spPr>
          <a:xfrm>
            <a:off x="3456432" y="1828800"/>
            <a:ext cx="2468880" cy="82296"/>
          </a:xfrm>
          <a:prstGeom prst="rect">
            <a:avLst/>
          </a:prstGeom>
          <a:solidFill>
            <a:srgbClr val="B02532"/>
          </a:solidFill>
          <a:ln w="12700">
            <a:solidFill>
              <a:srgbClr val="B02532"/>
            </a:solidFill>
            <a:prstDash val="solid"/>
          </a:ln>
        </p:spPr>
        <p:txBody>
          <a:bodyPr/>
          <a:p/>
        </p:txBody>
      </p:sp>
      <p:sp>
        <p:nvSpPr>
          <p:cNvPr id="11" name="Text 9"/>
          <p:cNvSpPr/>
          <p:nvPr/>
        </p:nvSpPr>
        <p:spPr>
          <a:xfrm>
            <a:off x="3639312" y="2011680"/>
            <a:ext cx="210312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Poziția socială</a:t>
            </a:r>
            <a:endParaRPr lang="en-US" sz="1700" dirty="0"/>
          </a:p>
        </p:txBody>
      </p:sp>
      <p:sp>
        <p:nvSpPr>
          <p:cNvPr id="12" name="Text 10"/>
          <p:cNvSpPr/>
          <p:nvPr/>
        </p:nvSpPr>
        <p:spPr>
          <a:xfrm>
            <a:off x="3639312"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venitul, educația, ocupația: „cauzele cauzelor”</a:t>
            </a:r>
            <a:endParaRPr lang="en-US" sz="1500" dirty="0"/>
          </a:p>
        </p:txBody>
      </p:sp>
      <p:sp>
        <p:nvSpPr>
          <p:cNvPr id="13" name="Shape 11"/>
          <p:cNvSpPr/>
          <p:nvPr/>
        </p:nvSpPr>
        <p:spPr>
          <a:xfrm>
            <a:off x="5943600" y="2697480"/>
            <a:ext cx="347472" cy="329184"/>
          </a:xfrm>
          <a:prstGeom prst="rightArrow">
            <a:avLst/>
          </a:prstGeom>
          <a:solidFill>
            <a:srgbClr val="B02532"/>
          </a:solidFill>
          <a:ln w="12700">
            <a:solidFill>
              <a:srgbClr val="B02532"/>
            </a:solidFill>
            <a:prstDash val="solid"/>
          </a:ln>
        </p:spPr>
        <p:txBody>
          <a:bodyPr/>
          <a:p/>
        </p:txBody>
      </p:sp>
      <p:sp>
        <p:nvSpPr>
          <p:cNvPr id="14" name="Shape 12"/>
          <p:cNvSpPr/>
          <p:nvPr/>
        </p:nvSpPr>
        <p:spPr>
          <a:xfrm>
            <a:off x="6318504" y="1828800"/>
            <a:ext cx="2468880" cy="2011680"/>
          </a:xfrm>
          <a:prstGeom prst="roundRect">
            <a:avLst>
              <a:gd name="adj" fmla="val 4091"/>
            </a:avLst>
          </a:prstGeom>
          <a:solidFill>
            <a:srgbClr val="ECEAE4"/>
          </a:solidFill>
          <a:ln w="12700">
            <a:solidFill>
              <a:srgbClr val="ECEAE4"/>
            </a:solidFill>
            <a:prstDash val="solid"/>
          </a:ln>
        </p:spPr>
        <p:txBody>
          <a:bodyPr/>
          <a:p/>
        </p:txBody>
      </p:sp>
      <p:sp>
        <p:nvSpPr>
          <p:cNvPr id="15" name="Shape 13"/>
          <p:cNvSpPr/>
          <p:nvPr/>
        </p:nvSpPr>
        <p:spPr>
          <a:xfrm>
            <a:off x="6318504" y="1828800"/>
            <a:ext cx="2468880" cy="82296"/>
          </a:xfrm>
          <a:prstGeom prst="rect">
            <a:avLst/>
          </a:prstGeom>
          <a:solidFill>
            <a:srgbClr val="4A2D8C"/>
          </a:solidFill>
          <a:ln w="12700">
            <a:solidFill>
              <a:srgbClr val="4A2D8C"/>
            </a:solidFill>
            <a:prstDash val="solid"/>
          </a:ln>
        </p:spPr>
        <p:txBody>
          <a:bodyPr/>
          <a:p/>
        </p:txBody>
      </p:sp>
      <p:sp>
        <p:nvSpPr>
          <p:cNvPr id="16" name="Text 14"/>
          <p:cNvSpPr/>
          <p:nvPr/>
        </p:nvSpPr>
        <p:spPr>
          <a:xfrm>
            <a:off x="6501384" y="2011680"/>
            <a:ext cx="2103120" cy="68580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Condițiile concrete</a:t>
            </a:r>
            <a:endParaRPr lang="en-US" sz="1700" dirty="0"/>
          </a:p>
        </p:txBody>
      </p:sp>
      <p:sp>
        <p:nvSpPr>
          <p:cNvPr id="17" name="Text 15"/>
          <p:cNvSpPr/>
          <p:nvPr/>
        </p:nvSpPr>
        <p:spPr>
          <a:xfrm>
            <a:off x="6501384"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locuința, stresul, sprijinul social, accesul la medic</a:t>
            </a:r>
            <a:endParaRPr lang="en-US" sz="1500" dirty="0"/>
          </a:p>
        </p:txBody>
      </p:sp>
      <p:sp>
        <p:nvSpPr>
          <p:cNvPr id="18" name="Shape 16"/>
          <p:cNvSpPr/>
          <p:nvPr/>
        </p:nvSpPr>
        <p:spPr>
          <a:xfrm>
            <a:off x="8805672" y="2697480"/>
            <a:ext cx="347472" cy="329184"/>
          </a:xfrm>
          <a:prstGeom prst="rightArrow">
            <a:avLst/>
          </a:prstGeom>
          <a:solidFill>
            <a:srgbClr val="4A2D8C"/>
          </a:solidFill>
          <a:ln w="12700">
            <a:solidFill>
              <a:srgbClr val="4A2D8C"/>
            </a:solidFill>
            <a:prstDash val="solid"/>
          </a:ln>
        </p:spPr>
        <p:txBody>
          <a:bodyPr/>
          <a:p/>
        </p:txBody>
      </p:sp>
      <p:sp>
        <p:nvSpPr>
          <p:cNvPr id="19" name="Shape 17"/>
          <p:cNvSpPr/>
          <p:nvPr/>
        </p:nvSpPr>
        <p:spPr>
          <a:xfrm>
            <a:off x="9180576" y="1828800"/>
            <a:ext cx="2468880" cy="2011680"/>
          </a:xfrm>
          <a:prstGeom prst="roundRect">
            <a:avLst>
              <a:gd name="adj" fmla="val 4091"/>
            </a:avLst>
          </a:prstGeom>
          <a:solidFill>
            <a:srgbClr val="ECEAE4"/>
          </a:solidFill>
          <a:ln w="12700">
            <a:solidFill>
              <a:srgbClr val="ECEAE4"/>
            </a:solidFill>
            <a:prstDash val="solid"/>
          </a:ln>
        </p:spPr>
        <p:txBody>
          <a:bodyPr/>
          <a:p/>
        </p:txBody>
      </p:sp>
      <p:sp>
        <p:nvSpPr>
          <p:cNvPr id="20" name="Shape 18"/>
          <p:cNvSpPr/>
          <p:nvPr/>
        </p:nvSpPr>
        <p:spPr>
          <a:xfrm>
            <a:off x="9180576" y="1828800"/>
            <a:ext cx="2468880" cy="82296"/>
          </a:xfrm>
          <a:prstGeom prst="rect">
            <a:avLst/>
          </a:prstGeom>
          <a:solidFill>
            <a:srgbClr val="0E7C6B"/>
          </a:solidFill>
          <a:ln w="12700">
            <a:solidFill>
              <a:srgbClr val="0E7C6B"/>
            </a:solidFill>
            <a:prstDash val="solid"/>
          </a:ln>
        </p:spPr>
        <p:txBody>
          <a:bodyPr/>
          <a:p/>
        </p:txBody>
      </p:sp>
      <p:sp>
        <p:nvSpPr>
          <p:cNvPr id="21" name="Text 19"/>
          <p:cNvSpPr/>
          <p:nvPr/>
        </p:nvSpPr>
        <p:spPr>
          <a:xfrm>
            <a:off x="9363456" y="2011680"/>
            <a:ext cx="210312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Sănătatea</a:t>
            </a:r>
            <a:endParaRPr lang="en-US" sz="1700" dirty="0"/>
          </a:p>
        </p:txBody>
      </p:sp>
      <p:sp>
        <p:nvSpPr>
          <p:cNvPr id="22" name="Text 20"/>
          <p:cNvSpPr/>
          <p:nvPr/>
        </p:nvSpPr>
        <p:spPr>
          <a:xfrm>
            <a:off x="9363456"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reinternările pacientei</a:t>
            </a:r>
            <a:endParaRPr lang="en-US" sz="1500" dirty="0"/>
          </a:p>
        </p:txBody>
      </p:sp>
      <p:sp>
        <p:nvSpPr>
          <p:cNvPr id="23" name="Text 21"/>
          <p:cNvSpPr/>
          <p:nvPr/>
        </p:nvSpPr>
        <p:spPr>
          <a:xfrm>
            <a:off x="594360" y="4114800"/>
            <a:ext cx="10972800" cy="868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Pentru pacientă: pensia ține de poziția socială; lemnele, singurătatea și drumul până la medic sunt condițiile concrete prin care poziția socială ajunge la sănătatea ei.</a:t>
            </a:r>
            <a:endParaRPr lang="en-US" sz="1700" dirty="0"/>
          </a:p>
        </p:txBody>
      </p:sp>
      <p:sp>
        <p:nvSpPr>
          <p:cNvPr id="24" name="Text 22"/>
          <p:cNvSpPr/>
          <p:nvPr/>
        </p:nvSpPr>
        <p:spPr>
          <a:xfrm>
            <a:off x="594360" y="5074920"/>
            <a:ext cx="109728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Sistemul de sănătate este el însuși una dintre condițiile concrete.</a:t>
            </a:r>
            <a:endParaRPr lang="en-US" sz="170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cadrul conceptual OMS (Solar și Irwin, 2010), elaborat pentru Comisia OMS pentru determinanții sociali; în fișa disciplinei, „clasificarea OMS-CSDH 2008”.</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CANADA, 1974 · RAPORTUL LALONDE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„Harta teritoriului sănătății”: patru elemente egale</a:t>
            </a:r>
            <a:endParaRPr lang="en-US" sz="3000" dirty="0"/>
          </a:p>
        </p:txBody>
      </p:sp>
      <p:sp>
        <p:nvSpPr>
          <p:cNvPr id="4" name="Shape 2"/>
          <p:cNvSpPr/>
          <p:nvPr/>
        </p:nvSpPr>
        <p:spPr>
          <a:xfrm>
            <a:off x="594360" y="1783080"/>
            <a:ext cx="2697480" cy="1417320"/>
          </a:xfrm>
          <a:prstGeom prst="roundRect">
            <a:avLst>
              <a:gd name="adj" fmla="val 5806"/>
            </a:avLst>
          </a:prstGeom>
          <a:solidFill>
            <a:srgbClr val="B02532"/>
          </a:solidFill>
          <a:ln w="12700">
            <a:solidFill>
              <a:srgbClr val="B02532"/>
            </a:solidFill>
            <a:prstDash val="solid"/>
          </a:ln>
        </p:spPr>
        <p:txBody>
          <a:bodyPr/>
          <a:p/>
        </p:txBody>
      </p:sp>
      <p:sp>
        <p:nvSpPr>
          <p:cNvPr id="5" name="Text 3"/>
          <p:cNvSpPr/>
          <p:nvPr/>
        </p:nvSpPr>
        <p:spPr>
          <a:xfrm>
            <a:off x="777240" y="17830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Biologia umană</a:t>
            </a:r>
            <a:endParaRPr lang="en-US" sz="1900" dirty="0"/>
          </a:p>
        </p:txBody>
      </p:sp>
      <p:sp>
        <p:nvSpPr>
          <p:cNvPr id="6" name="Shape 4"/>
          <p:cNvSpPr/>
          <p:nvPr/>
        </p:nvSpPr>
        <p:spPr>
          <a:xfrm>
            <a:off x="3474720" y="1783080"/>
            <a:ext cx="2697480" cy="1417320"/>
          </a:xfrm>
          <a:prstGeom prst="roundRect">
            <a:avLst>
              <a:gd name="adj" fmla="val 5806"/>
            </a:avLst>
          </a:prstGeom>
          <a:solidFill>
            <a:srgbClr val="0E7C6B"/>
          </a:solidFill>
          <a:ln w="12700">
            <a:solidFill>
              <a:srgbClr val="0E7C6B"/>
            </a:solidFill>
            <a:prstDash val="solid"/>
          </a:ln>
        </p:spPr>
        <p:txBody>
          <a:bodyPr/>
          <a:p/>
        </p:txBody>
      </p:sp>
      <p:sp>
        <p:nvSpPr>
          <p:cNvPr id="7" name="Text 5"/>
          <p:cNvSpPr/>
          <p:nvPr/>
        </p:nvSpPr>
        <p:spPr>
          <a:xfrm>
            <a:off x="3657600" y="17830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Mediul</a:t>
            </a:r>
            <a:endParaRPr lang="en-US" sz="1900" dirty="0"/>
          </a:p>
        </p:txBody>
      </p:sp>
      <p:sp>
        <p:nvSpPr>
          <p:cNvPr id="8" name="Shape 6"/>
          <p:cNvSpPr/>
          <p:nvPr/>
        </p:nvSpPr>
        <p:spPr>
          <a:xfrm>
            <a:off x="594360" y="3383280"/>
            <a:ext cx="2697480" cy="1417320"/>
          </a:xfrm>
          <a:prstGeom prst="roundRect">
            <a:avLst>
              <a:gd name="adj" fmla="val 5806"/>
            </a:avLst>
          </a:prstGeom>
          <a:solidFill>
            <a:srgbClr val="4A2D8C"/>
          </a:solidFill>
          <a:ln w="12700">
            <a:solidFill>
              <a:srgbClr val="4A2D8C"/>
            </a:solidFill>
            <a:prstDash val="solid"/>
          </a:ln>
        </p:spPr>
        <p:txBody>
          <a:bodyPr/>
          <a:p/>
        </p:txBody>
      </p:sp>
      <p:sp>
        <p:nvSpPr>
          <p:cNvPr id="9" name="Text 7"/>
          <p:cNvSpPr/>
          <p:nvPr/>
        </p:nvSpPr>
        <p:spPr>
          <a:xfrm>
            <a:off x="777240" y="33832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Stilul de viață</a:t>
            </a:r>
            <a:endParaRPr lang="en-US" sz="1900" dirty="0"/>
          </a:p>
        </p:txBody>
      </p:sp>
      <p:sp>
        <p:nvSpPr>
          <p:cNvPr id="10" name="Shape 8"/>
          <p:cNvSpPr/>
          <p:nvPr/>
        </p:nvSpPr>
        <p:spPr>
          <a:xfrm>
            <a:off x="3474720" y="3383280"/>
            <a:ext cx="2697480" cy="1417320"/>
          </a:xfrm>
          <a:prstGeom prst="roundRect">
            <a:avLst>
              <a:gd name="adj" fmla="val 5806"/>
            </a:avLst>
          </a:prstGeom>
          <a:solidFill>
            <a:srgbClr val="8A6100"/>
          </a:solidFill>
          <a:ln w="12700">
            <a:solidFill>
              <a:srgbClr val="8A6100"/>
            </a:solidFill>
            <a:prstDash val="solid"/>
          </a:ln>
        </p:spPr>
        <p:txBody>
          <a:bodyPr/>
          <a:p/>
        </p:txBody>
      </p:sp>
      <p:sp>
        <p:nvSpPr>
          <p:cNvPr id="11" name="Text 9"/>
          <p:cNvSpPr/>
          <p:nvPr/>
        </p:nvSpPr>
        <p:spPr>
          <a:xfrm>
            <a:off x="3657600" y="33832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Organizarea îngrijirilor</a:t>
            </a:r>
            <a:endParaRPr lang="en-US" sz="1900" dirty="0"/>
          </a:p>
        </p:txBody>
      </p:sp>
      <p:sp>
        <p:nvSpPr>
          <p:cNvPr id="12" name="Text 10"/>
          <p:cNvSpPr/>
          <p:nvPr/>
        </p:nvSpPr>
        <p:spPr>
          <a:xfrm>
            <a:off x="6583680" y="1783080"/>
            <a:ext cx="4983480" cy="19202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Eforturile și banii mergeau mai ales spre organizarea îngrijirilor, deși multe cauze ale bolii și ale decesului se aflau în celelalte trei elemente.</a:t>
            </a:r>
            <a:endParaRPr lang="en-US" sz="1800" dirty="0"/>
          </a:p>
        </p:txBody>
      </p:sp>
      <p:sp>
        <p:nvSpPr>
          <p:cNvPr id="13" name="Text 11"/>
          <p:cNvSpPr/>
          <p:nvPr/>
        </p:nvSpPr>
        <p:spPr>
          <a:xfrm>
            <a:off x="6583680" y="3840480"/>
            <a:ext cx="4983480" cy="118872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Modelul a scos serviciile medicale din poziția de singur determinant al sănătății.</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DAHLGREN ȘI WHITEHEAD, 1991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Straturi de influență în jurul persoanei</a:t>
            </a:r>
            <a:endParaRPr lang="en-US" sz="3000" dirty="0"/>
          </a:p>
        </p:txBody>
      </p:sp>
      <p:sp>
        <p:nvSpPr>
          <p:cNvPr id="6" name="Shape 4"/>
          <p:cNvSpPr/>
          <p:nvPr/>
        </p:nvSpPr>
        <p:spPr>
          <a:xfrm>
            <a:off x="548640" y="2194560"/>
            <a:ext cx="7589520" cy="7589520"/>
          </a:xfrm>
          <a:prstGeom prst="ellipse">
            <a:avLst/>
          </a:prstGeom>
          <a:solidFill>
            <a:srgbClr val="E6DEFA"/>
          </a:solidFill>
          <a:ln w="19050">
            <a:solidFill>
              <a:srgbClr val="F6F5F2"/>
            </a:solidFill>
            <a:prstDash val="solid"/>
          </a:ln>
        </p:spPr>
        <p:txBody>
          <a:bodyPr/>
          <a:p/>
        </p:txBody>
      </p:sp>
      <p:sp>
        <p:nvSpPr>
          <p:cNvPr id="7" name="Shape 5"/>
          <p:cNvSpPr/>
          <p:nvPr/>
        </p:nvSpPr>
        <p:spPr>
          <a:xfrm>
            <a:off x="1371600" y="3017520"/>
            <a:ext cx="5943600" cy="5943600"/>
          </a:xfrm>
          <a:prstGeom prst="ellipse">
            <a:avLst/>
          </a:prstGeom>
          <a:solidFill>
            <a:srgbClr val="D3F1EC"/>
          </a:solidFill>
          <a:ln w="19050">
            <a:solidFill>
              <a:srgbClr val="F6F5F2"/>
            </a:solidFill>
            <a:prstDash val="solid"/>
          </a:ln>
        </p:spPr>
        <p:txBody>
          <a:bodyPr/>
          <a:p/>
        </p:txBody>
      </p:sp>
      <p:sp>
        <p:nvSpPr>
          <p:cNvPr id="8" name="Shape 6"/>
          <p:cNvSpPr/>
          <p:nvPr/>
        </p:nvSpPr>
        <p:spPr>
          <a:xfrm>
            <a:off x="2148840" y="3794760"/>
            <a:ext cx="4389120" cy="4389120"/>
          </a:xfrm>
          <a:prstGeom prst="ellipse">
            <a:avLst/>
          </a:prstGeom>
          <a:solidFill>
            <a:srgbClr val="FFEFC7"/>
          </a:solidFill>
          <a:ln w="19050">
            <a:solidFill>
              <a:srgbClr val="F6F5F2"/>
            </a:solidFill>
            <a:prstDash val="solid"/>
          </a:ln>
        </p:spPr>
        <p:txBody>
          <a:bodyPr/>
          <a:p/>
        </p:txBody>
      </p:sp>
      <p:sp>
        <p:nvSpPr>
          <p:cNvPr id="9" name="Shape 7"/>
          <p:cNvSpPr/>
          <p:nvPr/>
        </p:nvSpPr>
        <p:spPr>
          <a:xfrm>
            <a:off x="2880360" y="4526280"/>
            <a:ext cx="2926080" cy="2926080"/>
          </a:xfrm>
          <a:prstGeom prst="ellipse">
            <a:avLst/>
          </a:prstGeom>
          <a:solidFill>
            <a:srgbClr val="FFDADE"/>
          </a:solidFill>
          <a:ln w="19050">
            <a:solidFill>
              <a:srgbClr val="F6F5F2"/>
            </a:solidFill>
            <a:prstDash val="solid"/>
          </a:ln>
        </p:spPr>
        <p:txBody>
          <a:bodyPr/>
          <a:p/>
        </p:txBody>
      </p:sp>
      <p:sp>
        <p:nvSpPr>
          <p:cNvPr id="10" name="Shape 8"/>
          <p:cNvSpPr/>
          <p:nvPr/>
        </p:nvSpPr>
        <p:spPr>
          <a:xfrm>
            <a:off x="3593592" y="5239512"/>
            <a:ext cx="1499616" cy="1499616"/>
          </a:xfrm>
          <a:prstGeom prst="ellipse">
            <a:avLst/>
          </a:prstGeom>
          <a:solidFill>
            <a:srgbClr val="11121A"/>
          </a:solidFill>
          <a:ln w="19050">
            <a:solidFill>
              <a:srgbClr val="F6F5F2"/>
            </a:solidFill>
            <a:prstDash val="solid"/>
          </a:ln>
        </p:spPr>
        <p:txBody>
          <a:bodyPr/>
          <a:p/>
        </p:txBody>
      </p:sp>
      <p:sp>
        <p:nvSpPr>
          <p:cNvPr id="11" name="Shape 9"/>
          <p:cNvSpPr/>
          <p:nvPr/>
        </p:nvSpPr>
        <p:spPr>
          <a:xfrm>
            <a:off x="0" y="5989320"/>
            <a:ext cx="8686800" cy="868680"/>
          </a:xfrm>
          <a:prstGeom prst="rect">
            <a:avLst/>
          </a:prstGeom>
          <a:solidFill>
            <a:srgbClr val="F6F5F2"/>
          </a:solidFill>
          <a:ln w="12700">
            <a:solidFill>
              <a:srgbClr val="F6F5F2"/>
            </a:solidFill>
            <a:prstDash val="solid"/>
          </a:ln>
        </p:spPr>
        <p:txBody>
          <a:bodyPr/>
          <a:p/>
        </p:txBody>
      </p:sp>
      <p:sp>
        <p:nvSpPr>
          <p:cNvPr id="12" name="Text 10"/>
          <p:cNvSpPr/>
          <p:nvPr/>
        </p:nvSpPr>
        <p:spPr>
          <a:xfrm>
            <a:off x="2560320" y="2267712"/>
            <a:ext cx="3566160" cy="713232"/>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Condițiile socio-economice, culturale și de mediu</a:t>
            </a:r>
            <a:endParaRPr lang="en-US" sz="1300" dirty="0"/>
          </a:p>
        </p:txBody>
      </p:sp>
      <p:sp>
        <p:nvSpPr>
          <p:cNvPr id="13" name="Text 11"/>
          <p:cNvSpPr/>
          <p:nvPr/>
        </p:nvSpPr>
        <p:spPr>
          <a:xfrm>
            <a:off x="2560320" y="3090672"/>
            <a:ext cx="3566160" cy="667512"/>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Condițiile de viață și de muncă, inclusiv serviciile de sănătate</a:t>
            </a:r>
            <a:endParaRPr lang="en-US" sz="1300" dirty="0"/>
          </a:p>
        </p:txBody>
      </p:sp>
      <p:sp>
        <p:nvSpPr>
          <p:cNvPr id="14" name="Text 12"/>
          <p:cNvSpPr/>
          <p:nvPr/>
        </p:nvSpPr>
        <p:spPr>
          <a:xfrm>
            <a:off x="2788920" y="3867912"/>
            <a:ext cx="3108960" cy="621792"/>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Rețelele sociale și comunitare</a:t>
            </a:r>
            <a:endParaRPr lang="en-US" sz="1300" dirty="0"/>
          </a:p>
        </p:txBody>
      </p:sp>
      <p:sp>
        <p:nvSpPr>
          <p:cNvPr id="15" name="Text 13"/>
          <p:cNvSpPr/>
          <p:nvPr/>
        </p:nvSpPr>
        <p:spPr>
          <a:xfrm>
            <a:off x="3337560" y="4599432"/>
            <a:ext cx="2011680" cy="60350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Stilul de viață</a:t>
            </a:r>
            <a:endParaRPr lang="en-US" sz="1300" dirty="0"/>
          </a:p>
        </p:txBody>
      </p:sp>
      <p:sp>
        <p:nvSpPr>
          <p:cNvPr id="16" name="Text 14"/>
          <p:cNvSpPr/>
          <p:nvPr/>
        </p:nvSpPr>
        <p:spPr>
          <a:xfrm>
            <a:off x="3657600" y="5440680"/>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Vârsta, sexul</a:t>
            </a:r>
            <a:endParaRPr lang="en-US" sz="1300" dirty="0"/>
          </a:p>
        </p:txBody>
      </p:sp>
      <p:sp>
        <p:nvSpPr>
          <p:cNvPr id="17" name="Text 15"/>
          <p:cNvSpPr/>
          <p:nvPr/>
        </p:nvSpPr>
        <p:spPr>
          <a:xfrm>
            <a:off x="594360" y="6099048"/>
            <a:ext cx="7863840" cy="27432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Centrul (vârsta, sexul, factorii constituționali) nu este un strat.</a:t>
            </a:r>
            <a:endParaRPr lang="en-US" sz="1300" dirty="0"/>
          </a:p>
        </p:txBody>
      </p:sp>
      <p:sp>
        <p:nvSpPr>
          <p:cNvPr id="18" name="Text 16"/>
          <p:cNvSpPr/>
          <p:nvPr/>
        </p:nvSpPr>
        <p:spPr>
          <a:xfrm>
            <a:off x="8732520" y="1691640"/>
            <a:ext cx="2926080" cy="6400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Plasați pe straturi situația pacientei:</a:t>
            </a:r>
            <a:endParaRPr lang="en-US" sz="1600" dirty="0"/>
          </a:p>
        </p:txBody>
      </p:sp>
      <p:sp>
        <p:nvSpPr>
          <p:cNvPr id="19" name="Shape 17"/>
          <p:cNvSpPr/>
          <p:nvPr/>
        </p:nvSpPr>
        <p:spPr>
          <a:xfrm>
            <a:off x="8732520" y="2423160"/>
            <a:ext cx="2834640" cy="548640"/>
          </a:xfrm>
          <a:prstGeom prst="roundRect">
            <a:avLst>
              <a:gd name="adj" fmla="val 15000"/>
            </a:avLst>
          </a:prstGeom>
          <a:solidFill>
            <a:srgbClr val="ECEAE4"/>
          </a:solidFill>
          <a:ln w="12700">
            <a:solidFill>
              <a:srgbClr val="ECEAE4"/>
            </a:solidFill>
            <a:prstDash val="solid"/>
          </a:ln>
        </p:spPr>
        <p:txBody>
          <a:bodyPr/>
          <a:p/>
        </p:txBody>
      </p:sp>
      <p:sp>
        <p:nvSpPr>
          <p:cNvPr id="20" name="Text 18"/>
          <p:cNvSpPr/>
          <p:nvPr/>
        </p:nvSpPr>
        <p:spPr>
          <a:xfrm>
            <a:off x="8869680" y="2423160"/>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dieta și aderența la tratament</a:t>
            </a:r>
            <a:endParaRPr lang="en-US" sz="1300" dirty="0"/>
          </a:p>
        </p:txBody>
      </p:sp>
      <p:sp>
        <p:nvSpPr>
          <p:cNvPr id="21" name="Shape 19"/>
          <p:cNvSpPr/>
          <p:nvPr/>
        </p:nvSpPr>
        <p:spPr>
          <a:xfrm>
            <a:off x="8732520" y="3081528"/>
            <a:ext cx="2834640" cy="548640"/>
          </a:xfrm>
          <a:prstGeom prst="roundRect">
            <a:avLst>
              <a:gd name="adj" fmla="val 15000"/>
            </a:avLst>
          </a:prstGeom>
          <a:solidFill>
            <a:srgbClr val="ECEAE4"/>
          </a:solidFill>
          <a:ln w="12700">
            <a:solidFill>
              <a:srgbClr val="ECEAE4"/>
            </a:solidFill>
            <a:prstDash val="solid"/>
          </a:ln>
        </p:spPr>
        <p:txBody>
          <a:bodyPr/>
          <a:p/>
        </p:txBody>
      </p:sp>
      <p:sp>
        <p:nvSpPr>
          <p:cNvPr id="22" name="Text 20"/>
          <p:cNvSpPr/>
          <p:nvPr/>
        </p:nvSpPr>
        <p:spPr>
          <a:xfrm>
            <a:off x="8869680" y="3081528"/>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locuiește singură</a:t>
            </a:r>
            <a:endParaRPr lang="en-US" sz="1300" dirty="0"/>
          </a:p>
        </p:txBody>
      </p:sp>
      <p:sp>
        <p:nvSpPr>
          <p:cNvPr id="23" name="Shape 21"/>
          <p:cNvSpPr/>
          <p:nvPr/>
        </p:nvSpPr>
        <p:spPr>
          <a:xfrm>
            <a:off x="8732520" y="3739896"/>
            <a:ext cx="2834640" cy="548640"/>
          </a:xfrm>
          <a:prstGeom prst="roundRect">
            <a:avLst>
              <a:gd name="adj" fmla="val 15000"/>
            </a:avLst>
          </a:prstGeom>
          <a:solidFill>
            <a:srgbClr val="ECEAE4"/>
          </a:solidFill>
          <a:ln w="12700">
            <a:solidFill>
              <a:srgbClr val="ECEAE4"/>
            </a:solidFill>
            <a:prstDash val="solid"/>
          </a:ln>
        </p:spPr>
        <p:txBody>
          <a:bodyPr/>
          <a:p/>
        </p:txBody>
      </p:sp>
      <p:sp>
        <p:nvSpPr>
          <p:cNvPr id="24" name="Text 22"/>
          <p:cNvSpPr/>
          <p:nvPr/>
        </p:nvSpPr>
        <p:spPr>
          <a:xfrm>
            <a:off x="8869680" y="3739896"/>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locuința greu de încălzit</a:t>
            </a:r>
            <a:endParaRPr lang="en-US" sz="1300" dirty="0"/>
          </a:p>
        </p:txBody>
      </p:sp>
      <p:sp>
        <p:nvSpPr>
          <p:cNvPr id="25" name="Shape 23"/>
          <p:cNvSpPr/>
          <p:nvPr/>
        </p:nvSpPr>
        <p:spPr>
          <a:xfrm>
            <a:off x="8732520" y="4398264"/>
            <a:ext cx="2834640" cy="548640"/>
          </a:xfrm>
          <a:prstGeom prst="roundRect">
            <a:avLst>
              <a:gd name="adj" fmla="val 15000"/>
            </a:avLst>
          </a:prstGeom>
          <a:solidFill>
            <a:srgbClr val="ECEAE4"/>
          </a:solidFill>
          <a:ln w="12700">
            <a:solidFill>
              <a:srgbClr val="ECEAE4"/>
            </a:solidFill>
            <a:prstDash val="solid"/>
          </a:ln>
        </p:spPr>
        <p:txBody>
          <a:bodyPr/>
          <a:p/>
        </p:txBody>
      </p:sp>
      <p:sp>
        <p:nvSpPr>
          <p:cNvPr id="26" name="Text 24"/>
          <p:cNvSpPr/>
          <p:nvPr/>
        </p:nvSpPr>
        <p:spPr>
          <a:xfrm>
            <a:off x="8869680" y="4398264"/>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drumul până la medicul de familie</a:t>
            </a:r>
            <a:endParaRPr lang="en-US" sz="1300" dirty="0"/>
          </a:p>
        </p:txBody>
      </p:sp>
      <p:sp>
        <p:nvSpPr>
          <p:cNvPr id="27" name="Shape 25"/>
          <p:cNvSpPr/>
          <p:nvPr/>
        </p:nvSpPr>
        <p:spPr>
          <a:xfrm>
            <a:off x="8732520" y="5056632"/>
            <a:ext cx="2834640" cy="548640"/>
          </a:xfrm>
          <a:prstGeom prst="roundRect">
            <a:avLst>
              <a:gd name="adj" fmla="val 15000"/>
            </a:avLst>
          </a:prstGeom>
          <a:solidFill>
            <a:srgbClr val="ECEAE4"/>
          </a:solidFill>
          <a:ln w="12700">
            <a:solidFill>
              <a:srgbClr val="ECEAE4"/>
            </a:solidFill>
            <a:prstDash val="solid"/>
          </a:ln>
        </p:spPr>
        <p:txBody>
          <a:bodyPr/>
          <a:p/>
        </p:txBody>
      </p:sp>
      <p:sp>
        <p:nvSpPr>
          <p:cNvPr id="28" name="Text 26"/>
          <p:cNvSpPr/>
          <p:nvPr/>
        </p:nvSpPr>
        <p:spPr>
          <a:xfrm>
            <a:off x="8869680" y="5056632"/>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nivelul pensiilor</a:t>
            </a:r>
            <a:endParaRPr lang="en-US" sz="1300" dirty="0"/>
          </a:p>
        </p:txBody>
      </p:sp>
      <p:sp>
        <p:nvSpPr>
          <p:cNvPr id="29" name="Text 27"/>
          <p:cNvSpPr/>
          <p:nvPr/>
        </p:nvSpPr>
        <p:spPr>
          <a:xfrm>
            <a:off x="8732520" y="5760720"/>
            <a:ext cx="2926080" cy="54864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Modelul nu dă ponderi numerice straturilor.</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PACIENTA, STRAT CU STRAT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nu apărea în foaia de observație</a:t>
            </a:r>
            <a:endParaRPr lang="en-US" sz="3200" dirty="0"/>
          </a:p>
        </p:txBody>
      </p:sp>
      <p:sp>
        <p:nvSpPr>
          <p:cNvPr id="4" name="Shape 2"/>
          <p:cNvSpPr/>
          <p:nvPr/>
        </p:nvSpPr>
        <p:spPr>
          <a:xfrm>
            <a:off x="594360" y="1737360"/>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5" name="Text 3"/>
          <p:cNvSpPr/>
          <p:nvPr/>
        </p:nvSpPr>
        <p:spPr>
          <a:xfrm>
            <a:off x="868680" y="1737360"/>
            <a:ext cx="2377440" cy="676656"/>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Centrul</a:t>
            </a:r>
            <a:endParaRPr lang="en-US" sz="1600" dirty="0"/>
          </a:p>
        </p:txBody>
      </p:sp>
      <p:sp>
        <p:nvSpPr>
          <p:cNvPr id="6" name="Text 4"/>
          <p:cNvSpPr/>
          <p:nvPr/>
        </p:nvSpPr>
        <p:spPr>
          <a:xfrm>
            <a:off x="3383280" y="1737360"/>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vârsta și sexul</a:t>
            </a:r>
            <a:endParaRPr lang="en-US" sz="1700" dirty="0"/>
          </a:p>
        </p:txBody>
      </p:sp>
      <p:sp>
        <p:nvSpPr>
          <p:cNvPr id="7" name="Shape 5"/>
          <p:cNvSpPr/>
          <p:nvPr/>
        </p:nvSpPr>
        <p:spPr>
          <a:xfrm>
            <a:off x="594360" y="2523744"/>
            <a:ext cx="10972800" cy="676656"/>
          </a:xfrm>
          <a:prstGeom prst="roundRect">
            <a:avLst>
              <a:gd name="adj" fmla="val 12162"/>
            </a:avLst>
          </a:prstGeom>
          <a:solidFill>
            <a:srgbClr val="F9F8F5"/>
          </a:solidFill>
          <a:ln w="12700">
            <a:solidFill>
              <a:srgbClr val="F9F8F5"/>
            </a:solidFill>
            <a:prstDash val="solid"/>
          </a:ln>
        </p:spPr>
        <p:txBody>
          <a:bodyPr/>
          <a:p/>
        </p:txBody>
      </p:sp>
      <p:sp>
        <p:nvSpPr>
          <p:cNvPr id="8" name="Text 6"/>
          <p:cNvSpPr/>
          <p:nvPr/>
        </p:nvSpPr>
        <p:spPr>
          <a:xfrm>
            <a:off x="868680" y="2523744"/>
            <a:ext cx="2377440" cy="676656"/>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Primul strat</a:t>
            </a:r>
            <a:endParaRPr lang="en-US" sz="1600" dirty="0"/>
          </a:p>
        </p:txBody>
      </p:sp>
      <p:sp>
        <p:nvSpPr>
          <p:cNvPr id="9" name="Text 7"/>
          <p:cNvSpPr/>
          <p:nvPr/>
        </p:nvSpPr>
        <p:spPr>
          <a:xfrm>
            <a:off x="3383280" y="2523744"/>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dieta și aderența la tratament</a:t>
            </a:r>
            <a:endParaRPr lang="en-US" sz="1700" dirty="0"/>
          </a:p>
        </p:txBody>
      </p:sp>
      <p:sp>
        <p:nvSpPr>
          <p:cNvPr id="10" name="Shape 8"/>
          <p:cNvSpPr/>
          <p:nvPr/>
        </p:nvSpPr>
        <p:spPr>
          <a:xfrm>
            <a:off x="594360" y="3310128"/>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11" name="Text 9"/>
          <p:cNvSpPr/>
          <p:nvPr/>
        </p:nvSpPr>
        <p:spPr>
          <a:xfrm>
            <a:off x="868680" y="3310128"/>
            <a:ext cx="2377440" cy="676656"/>
          </a:xfrm>
          <a:prstGeom prst="rect">
            <a:avLst/>
          </a:prstGeom>
          <a:noFill/>
          <a:ln/>
        </p:spPr>
        <p:txBody>
          <a:bodyPr wrap="square" lIns="0" tIns="0" rIns="0" bIns="0" rtlCol="0" anchor="ctr"/>
          <a:lstStyle/>
          <a:p>
            <a:pPr indent="0" marL="0">
              <a:buNone/>
            </a:pPr>
            <a:r>
              <a:rPr lang="en-US" sz="1600" b="1" dirty="0">
                <a:solidFill>
                  <a:srgbClr val="8A6100"/>
                </a:solidFill>
                <a:latin typeface="Palatino Linotype" pitchFamily="34" charset="0"/>
                <a:ea typeface="Palatino Linotype" pitchFamily="34" charset="-122"/>
                <a:cs typeface="Palatino Linotype" pitchFamily="34" charset="-120"/>
              </a:rPr>
              <a:t>Al doilea strat</a:t>
            </a:r>
            <a:endParaRPr lang="en-US" sz="1600" dirty="0"/>
          </a:p>
        </p:txBody>
      </p:sp>
      <p:sp>
        <p:nvSpPr>
          <p:cNvPr id="12" name="Text 10"/>
          <p:cNvSpPr/>
          <p:nvPr/>
        </p:nvSpPr>
        <p:spPr>
          <a:xfrm>
            <a:off x="3383280" y="3310128"/>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locuiește singură</a:t>
            </a:r>
            <a:endParaRPr lang="en-US" sz="1700" dirty="0"/>
          </a:p>
        </p:txBody>
      </p:sp>
      <p:sp>
        <p:nvSpPr>
          <p:cNvPr id="13" name="Shape 11"/>
          <p:cNvSpPr/>
          <p:nvPr/>
        </p:nvSpPr>
        <p:spPr>
          <a:xfrm>
            <a:off x="594360" y="4096512"/>
            <a:ext cx="10972800" cy="676656"/>
          </a:xfrm>
          <a:prstGeom prst="roundRect">
            <a:avLst>
              <a:gd name="adj" fmla="val 12162"/>
            </a:avLst>
          </a:prstGeom>
          <a:solidFill>
            <a:srgbClr val="F9F8F5"/>
          </a:solidFill>
          <a:ln w="12700">
            <a:solidFill>
              <a:srgbClr val="F9F8F5"/>
            </a:solidFill>
            <a:prstDash val="solid"/>
          </a:ln>
        </p:spPr>
        <p:txBody>
          <a:bodyPr/>
          <a:p/>
        </p:txBody>
      </p:sp>
      <p:sp>
        <p:nvSpPr>
          <p:cNvPr id="14" name="Text 12"/>
          <p:cNvSpPr/>
          <p:nvPr/>
        </p:nvSpPr>
        <p:spPr>
          <a:xfrm>
            <a:off x="868680" y="4096512"/>
            <a:ext cx="2377440" cy="676656"/>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Al treilea strat</a:t>
            </a:r>
            <a:endParaRPr lang="en-US" sz="1600" dirty="0"/>
          </a:p>
        </p:txBody>
      </p:sp>
      <p:sp>
        <p:nvSpPr>
          <p:cNvPr id="15" name="Text 13"/>
          <p:cNvSpPr/>
          <p:nvPr/>
        </p:nvSpPr>
        <p:spPr>
          <a:xfrm>
            <a:off x="3383280" y="4096512"/>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locuința greu de încălzit, distanța până la medicul de familie, accesul la medicamente</a:t>
            </a:r>
            <a:endParaRPr lang="en-US" sz="1700" dirty="0"/>
          </a:p>
        </p:txBody>
      </p:sp>
      <p:sp>
        <p:nvSpPr>
          <p:cNvPr id="16" name="Shape 14"/>
          <p:cNvSpPr/>
          <p:nvPr/>
        </p:nvSpPr>
        <p:spPr>
          <a:xfrm>
            <a:off x="594360" y="4882896"/>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17" name="Text 15"/>
          <p:cNvSpPr/>
          <p:nvPr/>
        </p:nvSpPr>
        <p:spPr>
          <a:xfrm>
            <a:off x="868680" y="4882896"/>
            <a:ext cx="2377440" cy="676656"/>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Stratul exterior</a:t>
            </a:r>
            <a:endParaRPr lang="en-US" sz="1600" dirty="0"/>
          </a:p>
        </p:txBody>
      </p:sp>
      <p:sp>
        <p:nvSpPr>
          <p:cNvPr id="18" name="Text 16"/>
          <p:cNvSpPr/>
          <p:nvPr/>
        </p:nvSpPr>
        <p:spPr>
          <a:xfrm>
            <a:off x="3383280" y="4882896"/>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nivelul pensiilor și organizarea serviciilor în mediul rural</a:t>
            </a:r>
            <a:endParaRPr lang="en-US" sz="1700" dirty="0"/>
          </a:p>
        </p:txBody>
      </p:sp>
      <p:sp>
        <p:nvSpPr>
          <p:cNvPr id="19" name="Text 17"/>
          <p:cNvSpPr/>
          <p:nvPr/>
        </p:nvSpPr>
        <p:spPr>
          <a:xfrm>
            <a:off x="594360" y="5760720"/>
            <a:ext cx="10972800" cy="45720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Serviciile de sănătate sunt în al treilea strat, alături de locuință, educație și apă, nu în centrul modelului.</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TERMENUL NOU 2 DIN 3</a:t>
            </a:r>
            <a:endParaRPr lang="en-US" sz="1300" dirty="0"/>
          </a:p>
        </p:txBody>
      </p:sp>
      <p:sp>
        <p:nvSpPr>
          <p:cNvPr id="3" name="Text 1"/>
          <p:cNvSpPr/>
          <p:nvPr/>
        </p:nvSpPr>
        <p:spPr>
          <a:xfrm>
            <a:off x="594360" y="777240"/>
            <a:ext cx="10972800" cy="822960"/>
          </a:xfrm>
          <a:prstGeom prst="rect">
            <a:avLst/>
          </a:prstGeom>
          <a:noFill/>
          <a:ln/>
        </p:spPr>
        <p:txBody>
          <a:bodyPr wrap="square" lIns="0" tIns="0" rIns="0" bIns="0" rtlCol="0" anchor="t"/>
          <a:lstStyle/>
          <a:p>
            <a:pPr indent="0" marL="0">
              <a:buNone/>
            </a:pPr>
            <a:r>
              <a:rPr lang="en-US" sz="3400" b="1" dirty="0">
                <a:solidFill>
                  <a:srgbClr val="2E060B"/>
                </a:solidFill>
                <a:latin typeface="Palatino Linotype" pitchFamily="34" charset="0"/>
                <a:ea typeface="Palatino Linotype" pitchFamily="34" charset="-122"/>
                <a:cs typeface="Palatino Linotype" pitchFamily="34" charset="-120"/>
              </a:rPr>
              <a:t>Determinanții sociali ai sănătății</a:t>
            </a:r>
            <a:endParaRPr lang="en-US" sz="3400" dirty="0"/>
          </a:p>
        </p:txBody>
      </p:sp>
      <p:sp>
        <p:nvSpPr>
          <p:cNvPr id="4" name="Shape 2"/>
          <p:cNvSpPr/>
          <p:nvPr/>
        </p:nvSpPr>
        <p:spPr>
          <a:xfrm>
            <a:off x="594360" y="1783080"/>
            <a:ext cx="10972800" cy="1508760"/>
          </a:xfrm>
          <a:prstGeom prst="roundRect">
            <a:avLst>
              <a:gd name="adj" fmla="val 5455"/>
            </a:avLst>
          </a:prstGeom>
          <a:solidFill>
            <a:srgbClr val="FFFFFF"/>
          </a:solidFill>
          <a:ln w="12700">
            <a:solidFill>
              <a:srgbClr val="FFFFFF"/>
            </a:solidFill>
            <a:prstDash val="solid"/>
          </a:ln>
        </p:spPr>
        <p:txBody>
          <a:bodyPr/>
          <a:p/>
        </p:txBody>
      </p:sp>
      <p:sp>
        <p:nvSpPr>
          <p:cNvPr id="5" name="Text 3"/>
          <p:cNvSpPr/>
          <p:nvPr/>
        </p:nvSpPr>
        <p:spPr>
          <a:xfrm>
            <a:off x="914400" y="1783080"/>
            <a:ext cx="10332720" cy="1508760"/>
          </a:xfrm>
          <a:prstGeom prst="rect">
            <a:avLst/>
          </a:prstGeom>
          <a:noFill/>
          <a:ln/>
        </p:spPr>
        <p:txBody>
          <a:bodyPr wrap="square" lIns="0" tIns="0" rIns="0" bIns="0" rtlCol="0" anchor="ctr"/>
          <a:lstStyle/>
          <a:p>
            <a:pPr indent="0" marL="0">
              <a:buNone/>
            </a:pPr>
            <a:r>
              <a:rPr lang="en-US" sz="2300" b="1" i="1" dirty="0">
                <a:solidFill>
                  <a:srgbClr val="B02532"/>
                </a:solidFill>
                <a:latin typeface="Palatino Linotype" pitchFamily="34" charset="0"/>
                <a:ea typeface="Palatino Linotype" pitchFamily="34" charset="-122"/>
                <a:cs typeface="Palatino Linotype" pitchFamily="34" charset="-120"/>
              </a:rPr>
              <a:t>Tot ce se întâmplă cu sănătatea unei persoane în afara cabinetului: unde se naște, crește, trăiește, muncește și îmbătrânește.</a:t>
            </a:r>
            <a:endParaRPr lang="en-US" sz="2300" dirty="0"/>
          </a:p>
        </p:txBody>
      </p:sp>
      <p:sp>
        <p:nvSpPr>
          <p:cNvPr id="6" name="Text 4"/>
          <p:cNvSpPr/>
          <p:nvPr/>
        </p:nvSpPr>
        <p:spPr>
          <a:xfrm>
            <a:off x="594360" y="3520440"/>
            <a:ext cx="10972800" cy="914400"/>
          </a:xfrm>
          <a:prstGeom prst="rect">
            <a:avLst/>
          </a:prstGeom>
          <a:noFill/>
          <a:ln/>
        </p:spPr>
        <p:txBody>
          <a:bodyPr wrap="square" lIns="0" tIns="0" rIns="0" bIns="0" rtlCol="0" anchor="t"/>
          <a:lstStyle/>
          <a:p>
            <a:pPr indent="0" marL="0">
              <a:buNone/>
            </a:pPr>
            <a:r>
              <a:rPr lang="en-US" sz="1700" dirty="0">
                <a:solidFill>
                  <a:srgbClr val="2E060B"/>
                </a:solidFill>
                <a:latin typeface="Palatino Linotype" pitchFamily="34" charset="0"/>
                <a:ea typeface="Palatino Linotype" pitchFamily="34" charset="-122"/>
                <a:cs typeface="Palatino Linotype" pitchFamily="34" charset="-120"/>
              </a:rPr>
              <a:t>Comisia OMS pentru determinanții sociali, 2008, „Closing the gap in a generation”: aceste condiții sunt modelate de distribuția puterii, a banilor și a resurselor. Trei principii de acțiune:</a:t>
            </a:r>
            <a:endParaRPr lang="en-US" sz="1700" dirty="0"/>
          </a:p>
        </p:txBody>
      </p:sp>
      <p:sp>
        <p:nvSpPr>
          <p:cNvPr id="7" name="Shape 5"/>
          <p:cNvSpPr/>
          <p:nvPr/>
        </p:nvSpPr>
        <p:spPr>
          <a:xfrm>
            <a:off x="594360" y="4526280"/>
            <a:ext cx="3520440" cy="777240"/>
          </a:xfrm>
          <a:prstGeom prst="roundRect">
            <a:avLst>
              <a:gd name="adj" fmla="val 10588"/>
            </a:avLst>
          </a:prstGeom>
          <a:solidFill>
            <a:srgbClr val="FFD3D8"/>
          </a:solidFill>
          <a:ln w="12700">
            <a:solidFill>
              <a:srgbClr val="FFD3D8"/>
            </a:solidFill>
            <a:prstDash val="solid"/>
          </a:ln>
        </p:spPr>
        <p:txBody>
          <a:bodyPr/>
          <a:p/>
        </p:txBody>
      </p:sp>
      <p:sp>
        <p:nvSpPr>
          <p:cNvPr id="8" name="Text 6"/>
          <p:cNvSpPr/>
          <p:nvPr/>
        </p:nvSpPr>
        <p:spPr>
          <a:xfrm>
            <a:off x="731520" y="4526280"/>
            <a:ext cx="3246120" cy="77724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condițiile vieții de zi cu zi</a:t>
            </a:r>
            <a:endParaRPr lang="en-US" sz="1500" dirty="0"/>
          </a:p>
        </p:txBody>
      </p:sp>
      <p:sp>
        <p:nvSpPr>
          <p:cNvPr id="9" name="Shape 7"/>
          <p:cNvSpPr/>
          <p:nvPr/>
        </p:nvSpPr>
        <p:spPr>
          <a:xfrm>
            <a:off x="4297680" y="4526280"/>
            <a:ext cx="3520440" cy="777240"/>
          </a:xfrm>
          <a:prstGeom prst="roundRect">
            <a:avLst>
              <a:gd name="adj" fmla="val 10588"/>
            </a:avLst>
          </a:prstGeom>
          <a:solidFill>
            <a:srgbClr val="FFD3D8"/>
          </a:solidFill>
          <a:ln w="12700">
            <a:solidFill>
              <a:srgbClr val="FFD3D8"/>
            </a:solidFill>
            <a:prstDash val="solid"/>
          </a:ln>
        </p:spPr>
        <p:txBody>
          <a:bodyPr/>
          <a:p/>
        </p:txBody>
      </p:sp>
      <p:sp>
        <p:nvSpPr>
          <p:cNvPr id="10" name="Text 8"/>
          <p:cNvSpPr/>
          <p:nvPr/>
        </p:nvSpPr>
        <p:spPr>
          <a:xfrm>
            <a:off x="4434840" y="4526280"/>
            <a:ext cx="3246120" cy="77724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distribuția puterii, a banilor și a resurselor</a:t>
            </a:r>
            <a:endParaRPr lang="en-US" sz="1500" dirty="0"/>
          </a:p>
        </p:txBody>
      </p:sp>
      <p:sp>
        <p:nvSpPr>
          <p:cNvPr id="11" name="Shape 9"/>
          <p:cNvSpPr/>
          <p:nvPr/>
        </p:nvSpPr>
        <p:spPr>
          <a:xfrm>
            <a:off x="8001000" y="4526280"/>
            <a:ext cx="3520440" cy="777240"/>
          </a:xfrm>
          <a:prstGeom prst="roundRect">
            <a:avLst>
              <a:gd name="adj" fmla="val 10588"/>
            </a:avLst>
          </a:prstGeom>
          <a:solidFill>
            <a:srgbClr val="FFD3D8"/>
          </a:solidFill>
          <a:ln w="12700">
            <a:solidFill>
              <a:srgbClr val="FFD3D8"/>
            </a:solidFill>
            <a:prstDash val="solid"/>
          </a:ln>
        </p:spPr>
        <p:txBody>
          <a:bodyPr/>
          <a:p/>
        </p:txBody>
      </p:sp>
      <p:sp>
        <p:nvSpPr>
          <p:cNvPr id="12" name="Text 10"/>
          <p:cNvSpPr/>
          <p:nvPr/>
        </p:nvSpPr>
        <p:spPr>
          <a:xfrm>
            <a:off x="8138160" y="4526280"/>
            <a:ext cx="3246120" cy="77724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măsurarea problemei și evaluarea acțiunii</a:t>
            </a:r>
            <a:endParaRPr lang="en-US" sz="1500" dirty="0"/>
          </a:p>
        </p:txBody>
      </p:sp>
      <p:sp>
        <p:nvSpPr>
          <p:cNvPr id="13" name="Text 11"/>
          <p:cNvSpPr/>
          <p:nvPr/>
        </p:nvSpPr>
        <p:spPr>
          <a:xfrm>
            <a:off x="594360" y="5486400"/>
            <a:ext cx="10972800" cy="411480"/>
          </a:xfrm>
          <a:prstGeom prst="rect">
            <a:avLst/>
          </a:prstGeom>
          <a:noFill/>
          <a:ln/>
        </p:spPr>
        <p:txBody>
          <a:bodyPr wrap="square" lIns="0" tIns="0" rIns="0" bIns="0" rtlCol="0" anchor="t"/>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Pentru pacientă: pensia, lemnele, satul, drumul până la medic.</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TERMENUL NOU 3 DIN 3 · GRADIENTUL SOCIAL</a:t>
            </a:r>
            <a:endParaRPr lang="en-US" sz="1300" dirty="0"/>
          </a:p>
        </p:txBody>
      </p:sp>
      <p:sp>
        <p:nvSpPr>
          <p:cNvPr id="3" name="Text 1"/>
          <p:cNvSpPr/>
          <p:nvPr/>
        </p:nvSpPr>
        <p:spPr>
          <a:xfrm>
            <a:off x="594360" y="713232"/>
            <a:ext cx="10972800" cy="6858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Treaptă cu treaptă: sănătatea pe cincimi de venit</a:t>
            </a:r>
            <a:endParaRPr lang="en-US" sz="3000" dirty="0"/>
          </a:p>
        </p:txBody>
      </p:sp>
      <p:sp>
        <p:nvSpPr>
          <p:cNvPr id="4" name="Text 2"/>
          <p:cNvSpPr/>
          <p:nvPr/>
        </p:nvSpPr>
        <p:spPr>
          <a:xfrm>
            <a:off x="594360" y="1371600"/>
            <a:ext cx="10972800" cy="457200"/>
          </a:xfrm>
          <a:prstGeom prst="rect">
            <a:avLst/>
          </a:prstGeom>
          <a:noFill/>
          <a:ln/>
        </p:spPr>
        <p:txBody>
          <a:bodyPr wrap="square" lIns="0" tIns="0" rIns="0" bIns="0" rtlCol="0" anchor="t"/>
          <a:lstStyle/>
          <a:p>
            <a:pPr indent="0" marL="0">
              <a:buNone/>
            </a:pPr>
            <a:r>
              <a:rPr lang="en-US" sz="1700" b="1" i="1" dirty="0">
                <a:solidFill>
                  <a:srgbClr val="0E7C6B"/>
                </a:solidFill>
                <a:latin typeface="Palatino Linotype" pitchFamily="34" charset="0"/>
                <a:ea typeface="Palatino Linotype" pitchFamily="34" charset="-122"/>
                <a:cs typeface="Palatino Linotype" pitchFamily="34" charset="-120"/>
              </a:rPr>
              <a:t>„Cu fiecare treaptă de venit sau de educație în plus, sănătatea este, în medie, puțin mai bună.”</a:t>
            </a:r>
            <a:endParaRPr lang="en-US" sz="1700" dirty="0"/>
          </a:p>
        </p:txBody>
      </p:sp>
      <p:sp>
        <p:nvSpPr>
          <p:cNvPr id="5" name="Shape 3"/>
          <p:cNvSpPr/>
          <p:nvPr/>
        </p:nvSpPr>
        <p:spPr>
          <a:xfrm>
            <a:off x="594360" y="5257800"/>
            <a:ext cx="7589520" cy="18288"/>
          </a:xfrm>
          <a:prstGeom prst="rect">
            <a:avLst/>
          </a:prstGeom>
          <a:solidFill>
            <a:srgbClr val="C9C6BE"/>
          </a:solidFill>
          <a:ln w="12700">
            <a:solidFill>
              <a:srgbClr val="C9C6BE"/>
            </a:solidFill>
            <a:prstDash val="solid"/>
          </a:ln>
        </p:spPr>
        <p:txBody>
          <a:bodyPr/>
          <a:p/>
        </p:txBody>
      </p:sp>
      <p:sp>
        <p:nvSpPr>
          <p:cNvPr id="6" name="Shape 4"/>
          <p:cNvSpPr/>
          <p:nvPr/>
        </p:nvSpPr>
        <p:spPr>
          <a:xfrm>
            <a:off x="777240" y="3528761"/>
            <a:ext cx="530352" cy="1729039"/>
          </a:xfrm>
          <a:prstGeom prst="rect">
            <a:avLst/>
          </a:prstGeom>
          <a:solidFill>
            <a:srgbClr val="585A64"/>
          </a:solidFill>
          <a:ln w="12700">
            <a:solidFill>
              <a:srgbClr val="585A64"/>
            </a:solidFill>
            <a:prstDash val="solid"/>
          </a:ln>
        </p:spPr>
        <p:txBody>
          <a:bodyPr/>
          <a:p/>
        </p:txBody>
      </p:sp>
      <p:sp>
        <p:nvSpPr>
          <p:cNvPr id="7" name="Text 5"/>
          <p:cNvSpPr/>
          <p:nvPr/>
        </p:nvSpPr>
        <p:spPr>
          <a:xfrm>
            <a:off x="667512" y="3217865"/>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57,3</a:t>
            </a:r>
            <a:endParaRPr lang="en-US" sz="1300" dirty="0"/>
          </a:p>
        </p:txBody>
      </p:sp>
      <p:sp>
        <p:nvSpPr>
          <p:cNvPr id="8" name="Shape 6"/>
          <p:cNvSpPr/>
          <p:nvPr/>
        </p:nvSpPr>
        <p:spPr>
          <a:xfrm>
            <a:off x="1380744" y="3236062"/>
            <a:ext cx="530352" cy="2021738"/>
          </a:xfrm>
          <a:prstGeom prst="rect">
            <a:avLst/>
          </a:prstGeom>
          <a:solidFill>
            <a:srgbClr val="B02532"/>
          </a:solidFill>
          <a:ln w="12700">
            <a:solidFill>
              <a:srgbClr val="B02532"/>
            </a:solidFill>
            <a:prstDash val="solid"/>
          </a:ln>
        </p:spPr>
        <p:txBody>
          <a:bodyPr/>
          <a:p/>
        </p:txBody>
      </p:sp>
      <p:sp>
        <p:nvSpPr>
          <p:cNvPr id="9" name="Text 7"/>
          <p:cNvSpPr/>
          <p:nvPr/>
        </p:nvSpPr>
        <p:spPr>
          <a:xfrm>
            <a:off x="1271016" y="2925166"/>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67,0</a:t>
            </a:r>
            <a:endParaRPr lang="en-US" sz="1300" dirty="0"/>
          </a:p>
        </p:txBody>
      </p:sp>
      <p:sp>
        <p:nvSpPr>
          <p:cNvPr id="10" name="Text 8"/>
          <p:cNvSpPr/>
          <p:nvPr/>
        </p:nvSpPr>
        <p:spPr>
          <a:xfrm>
            <a:off x="64008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cea mai săracă</a:t>
            </a:r>
            <a:endParaRPr lang="en-US" sz="1300" dirty="0"/>
          </a:p>
        </p:txBody>
      </p:sp>
      <p:sp>
        <p:nvSpPr>
          <p:cNvPr id="11" name="Shape 9"/>
          <p:cNvSpPr/>
          <p:nvPr/>
        </p:nvSpPr>
        <p:spPr>
          <a:xfrm>
            <a:off x="2240280" y="3414095"/>
            <a:ext cx="530352" cy="1843705"/>
          </a:xfrm>
          <a:prstGeom prst="rect">
            <a:avLst/>
          </a:prstGeom>
          <a:solidFill>
            <a:srgbClr val="585A64"/>
          </a:solidFill>
          <a:ln w="12700">
            <a:solidFill>
              <a:srgbClr val="585A64"/>
            </a:solidFill>
            <a:prstDash val="solid"/>
          </a:ln>
        </p:spPr>
        <p:txBody>
          <a:bodyPr/>
          <a:p/>
        </p:txBody>
      </p:sp>
      <p:sp>
        <p:nvSpPr>
          <p:cNvPr id="12" name="Text 10"/>
          <p:cNvSpPr/>
          <p:nvPr/>
        </p:nvSpPr>
        <p:spPr>
          <a:xfrm>
            <a:off x="2130552" y="3103199"/>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61,1</a:t>
            </a:r>
            <a:endParaRPr lang="en-US" sz="1300" dirty="0"/>
          </a:p>
        </p:txBody>
      </p:sp>
      <p:sp>
        <p:nvSpPr>
          <p:cNvPr id="13" name="Shape 11"/>
          <p:cNvSpPr/>
          <p:nvPr/>
        </p:nvSpPr>
        <p:spPr>
          <a:xfrm>
            <a:off x="2843784" y="3314517"/>
            <a:ext cx="530352" cy="1943283"/>
          </a:xfrm>
          <a:prstGeom prst="rect">
            <a:avLst/>
          </a:prstGeom>
          <a:solidFill>
            <a:srgbClr val="B02532"/>
          </a:solidFill>
          <a:ln w="12700">
            <a:solidFill>
              <a:srgbClr val="B02532"/>
            </a:solidFill>
            <a:prstDash val="solid"/>
          </a:ln>
        </p:spPr>
        <p:txBody>
          <a:bodyPr/>
          <a:p/>
        </p:txBody>
      </p:sp>
      <p:sp>
        <p:nvSpPr>
          <p:cNvPr id="14" name="Text 12"/>
          <p:cNvSpPr/>
          <p:nvPr/>
        </p:nvSpPr>
        <p:spPr>
          <a:xfrm>
            <a:off x="2734056" y="3003621"/>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64,4</a:t>
            </a:r>
            <a:endParaRPr lang="en-US" sz="1300" dirty="0"/>
          </a:p>
        </p:txBody>
      </p:sp>
      <p:sp>
        <p:nvSpPr>
          <p:cNvPr id="15" name="Text 13"/>
          <p:cNvSpPr/>
          <p:nvPr/>
        </p:nvSpPr>
        <p:spPr>
          <a:xfrm>
            <a:off x="210312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a doua</a:t>
            </a:r>
            <a:endParaRPr lang="en-US" sz="1300" dirty="0"/>
          </a:p>
        </p:txBody>
      </p:sp>
      <p:sp>
        <p:nvSpPr>
          <p:cNvPr id="16" name="Shape 14"/>
          <p:cNvSpPr/>
          <p:nvPr/>
        </p:nvSpPr>
        <p:spPr>
          <a:xfrm>
            <a:off x="3703320" y="3211921"/>
            <a:ext cx="530352" cy="2045879"/>
          </a:xfrm>
          <a:prstGeom prst="rect">
            <a:avLst/>
          </a:prstGeom>
          <a:solidFill>
            <a:srgbClr val="585A64"/>
          </a:solidFill>
          <a:ln w="12700">
            <a:solidFill>
              <a:srgbClr val="585A64"/>
            </a:solidFill>
            <a:prstDash val="solid"/>
          </a:ln>
        </p:spPr>
        <p:txBody>
          <a:bodyPr/>
          <a:p/>
        </p:txBody>
      </p:sp>
      <p:sp>
        <p:nvSpPr>
          <p:cNvPr id="17" name="Text 15"/>
          <p:cNvSpPr/>
          <p:nvPr/>
        </p:nvSpPr>
        <p:spPr>
          <a:xfrm>
            <a:off x="3593592" y="2901025"/>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67,8</a:t>
            </a:r>
            <a:endParaRPr lang="en-US" sz="1300" dirty="0"/>
          </a:p>
        </p:txBody>
      </p:sp>
      <p:sp>
        <p:nvSpPr>
          <p:cNvPr id="18" name="Shape 16"/>
          <p:cNvSpPr/>
          <p:nvPr/>
        </p:nvSpPr>
        <p:spPr>
          <a:xfrm>
            <a:off x="4306824" y="3127431"/>
            <a:ext cx="530352" cy="2130369"/>
          </a:xfrm>
          <a:prstGeom prst="rect">
            <a:avLst/>
          </a:prstGeom>
          <a:solidFill>
            <a:srgbClr val="B02532"/>
          </a:solidFill>
          <a:ln w="12700">
            <a:solidFill>
              <a:srgbClr val="B02532"/>
            </a:solidFill>
            <a:prstDash val="solid"/>
          </a:ln>
        </p:spPr>
        <p:txBody>
          <a:bodyPr/>
          <a:p/>
        </p:txBody>
      </p:sp>
      <p:sp>
        <p:nvSpPr>
          <p:cNvPr id="19" name="Text 17"/>
          <p:cNvSpPr/>
          <p:nvPr/>
        </p:nvSpPr>
        <p:spPr>
          <a:xfrm>
            <a:off x="4197096" y="2816535"/>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70,6</a:t>
            </a:r>
            <a:endParaRPr lang="en-US" sz="1300" dirty="0"/>
          </a:p>
        </p:txBody>
      </p:sp>
      <p:sp>
        <p:nvSpPr>
          <p:cNvPr id="20" name="Text 18"/>
          <p:cNvSpPr/>
          <p:nvPr/>
        </p:nvSpPr>
        <p:spPr>
          <a:xfrm>
            <a:off x="356616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a treia</a:t>
            </a:r>
            <a:endParaRPr lang="en-US" sz="1300" dirty="0"/>
          </a:p>
        </p:txBody>
      </p:sp>
      <p:sp>
        <p:nvSpPr>
          <p:cNvPr id="21" name="Shape 19"/>
          <p:cNvSpPr/>
          <p:nvPr/>
        </p:nvSpPr>
        <p:spPr>
          <a:xfrm>
            <a:off x="5166360" y="3048975"/>
            <a:ext cx="530352" cy="2208825"/>
          </a:xfrm>
          <a:prstGeom prst="rect">
            <a:avLst/>
          </a:prstGeom>
          <a:solidFill>
            <a:srgbClr val="585A64"/>
          </a:solidFill>
          <a:ln w="12700">
            <a:solidFill>
              <a:srgbClr val="585A64"/>
            </a:solidFill>
            <a:prstDash val="solid"/>
          </a:ln>
        </p:spPr>
        <p:txBody>
          <a:bodyPr/>
          <a:p/>
        </p:txBody>
      </p:sp>
      <p:sp>
        <p:nvSpPr>
          <p:cNvPr id="22" name="Text 20"/>
          <p:cNvSpPr/>
          <p:nvPr/>
        </p:nvSpPr>
        <p:spPr>
          <a:xfrm>
            <a:off x="5056632" y="2738079"/>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73,2</a:t>
            </a:r>
            <a:endParaRPr lang="en-US" sz="1300" dirty="0"/>
          </a:p>
        </p:txBody>
      </p:sp>
      <p:sp>
        <p:nvSpPr>
          <p:cNvPr id="23" name="Shape 21"/>
          <p:cNvSpPr/>
          <p:nvPr/>
        </p:nvSpPr>
        <p:spPr>
          <a:xfrm>
            <a:off x="5769864" y="2919222"/>
            <a:ext cx="530352" cy="2338578"/>
          </a:xfrm>
          <a:prstGeom prst="rect">
            <a:avLst/>
          </a:prstGeom>
          <a:solidFill>
            <a:srgbClr val="B02532"/>
          </a:solidFill>
          <a:ln w="12700">
            <a:solidFill>
              <a:srgbClr val="B02532"/>
            </a:solidFill>
            <a:prstDash val="solid"/>
          </a:ln>
        </p:spPr>
        <p:txBody>
          <a:bodyPr/>
          <a:p/>
        </p:txBody>
      </p:sp>
      <p:sp>
        <p:nvSpPr>
          <p:cNvPr id="24" name="Text 22"/>
          <p:cNvSpPr/>
          <p:nvPr/>
        </p:nvSpPr>
        <p:spPr>
          <a:xfrm>
            <a:off x="5660136" y="2608326"/>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77,5</a:t>
            </a:r>
            <a:endParaRPr lang="en-US" sz="1300" dirty="0"/>
          </a:p>
        </p:txBody>
      </p:sp>
      <p:sp>
        <p:nvSpPr>
          <p:cNvPr id="25" name="Text 23"/>
          <p:cNvSpPr/>
          <p:nvPr/>
        </p:nvSpPr>
        <p:spPr>
          <a:xfrm>
            <a:off x="502920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a patra</a:t>
            </a:r>
            <a:endParaRPr lang="en-US" sz="1300" dirty="0"/>
          </a:p>
        </p:txBody>
      </p:sp>
      <p:sp>
        <p:nvSpPr>
          <p:cNvPr id="26" name="Shape 24"/>
          <p:cNvSpPr/>
          <p:nvPr/>
        </p:nvSpPr>
        <p:spPr>
          <a:xfrm>
            <a:off x="6629400" y="2864907"/>
            <a:ext cx="530352" cy="2392893"/>
          </a:xfrm>
          <a:prstGeom prst="rect">
            <a:avLst/>
          </a:prstGeom>
          <a:solidFill>
            <a:srgbClr val="585A64"/>
          </a:solidFill>
          <a:ln w="12700">
            <a:solidFill>
              <a:srgbClr val="585A64"/>
            </a:solidFill>
            <a:prstDash val="solid"/>
          </a:ln>
        </p:spPr>
        <p:txBody>
          <a:bodyPr/>
          <a:p/>
        </p:txBody>
      </p:sp>
      <p:sp>
        <p:nvSpPr>
          <p:cNvPr id="27" name="Text 25"/>
          <p:cNvSpPr/>
          <p:nvPr/>
        </p:nvSpPr>
        <p:spPr>
          <a:xfrm>
            <a:off x="6519672" y="2554011"/>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79,3</a:t>
            </a:r>
            <a:endParaRPr lang="en-US" sz="1300" dirty="0"/>
          </a:p>
        </p:txBody>
      </p:sp>
      <p:sp>
        <p:nvSpPr>
          <p:cNvPr id="28" name="Shape 26"/>
          <p:cNvSpPr/>
          <p:nvPr/>
        </p:nvSpPr>
        <p:spPr>
          <a:xfrm>
            <a:off x="7232904" y="2659715"/>
            <a:ext cx="530352" cy="2598085"/>
          </a:xfrm>
          <a:prstGeom prst="rect">
            <a:avLst/>
          </a:prstGeom>
          <a:solidFill>
            <a:srgbClr val="B02532"/>
          </a:solidFill>
          <a:ln w="12700">
            <a:solidFill>
              <a:srgbClr val="B02532"/>
            </a:solidFill>
            <a:prstDash val="solid"/>
          </a:ln>
        </p:spPr>
        <p:txBody>
          <a:bodyPr/>
          <a:p/>
        </p:txBody>
      </p:sp>
      <p:sp>
        <p:nvSpPr>
          <p:cNvPr id="29" name="Text 27"/>
          <p:cNvSpPr/>
          <p:nvPr/>
        </p:nvSpPr>
        <p:spPr>
          <a:xfrm>
            <a:off x="7123176" y="2348819"/>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86,1</a:t>
            </a:r>
            <a:endParaRPr lang="en-US" sz="1300" dirty="0"/>
          </a:p>
        </p:txBody>
      </p:sp>
      <p:sp>
        <p:nvSpPr>
          <p:cNvPr id="30" name="Text 28"/>
          <p:cNvSpPr/>
          <p:nvPr/>
        </p:nvSpPr>
        <p:spPr>
          <a:xfrm>
            <a:off x="649224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cea mai bogată</a:t>
            </a:r>
            <a:endParaRPr lang="en-US" sz="1300" dirty="0"/>
          </a:p>
        </p:txBody>
      </p:sp>
      <p:sp>
        <p:nvSpPr>
          <p:cNvPr id="31" name="Text 29"/>
          <p:cNvSpPr/>
          <p:nvPr/>
        </p:nvSpPr>
        <p:spPr>
          <a:xfrm>
            <a:off x="594360" y="5623560"/>
            <a:ext cx="7589520" cy="274320"/>
          </a:xfrm>
          <a:prstGeom prst="rect">
            <a:avLst/>
          </a:prstGeom>
          <a:noFill/>
          <a:ln/>
        </p:spPr>
        <p:txBody>
          <a:bodyPr wrap="square" lIns="0" tIns="0" rIns="0" bIns="0" rtlCol="0" anchor="t"/>
          <a:lstStyle/>
          <a:p>
            <a:pPr algn="ctr" indent="0" marL="0">
              <a:buNone/>
            </a:pPr>
            <a:r>
              <a:rPr lang="en-US" sz="1300" i="1" dirty="0">
                <a:solidFill>
                  <a:srgbClr val="585A64"/>
                </a:solidFill>
                <a:latin typeface="Palatino Linotype" pitchFamily="34" charset="0"/>
                <a:ea typeface="Palatino Linotype" pitchFamily="34" charset="-122"/>
                <a:cs typeface="Palatino Linotype" pitchFamily="34" charset="-120"/>
              </a:rPr>
              <a:t>cincimea de venit</a:t>
            </a:r>
            <a:endParaRPr lang="en-US" sz="1300" dirty="0"/>
          </a:p>
        </p:txBody>
      </p:sp>
      <p:sp>
        <p:nvSpPr>
          <p:cNvPr id="32" name="Shape 30"/>
          <p:cNvSpPr/>
          <p:nvPr/>
        </p:nvSpPr>
        <p:spPr>
          <a:xfrm>
            <a:off x="8595360" y="2103120"/>
            <a:ext cx="1280160" cy="329184"/>
          </a:xfrm>
          <a:prstGeom prst="roundRect">
            <a:avLst>
              <a:gd name="adj" fmla="val 50000"/>
            </a:avLst>
          </a:prstGeom>
          <a:solidFill>
            <a:srgbClr val="585A64"/>
          </a:solidFill>
          <a:ln w="12700">
            <a:solidFill>
              <a:srgbClr val="585A64"/>
            </a:solidFill>
            <a:prstDash val="solid"/>
          </a:ln>
        </p:spPr>
        <p:txBody>
          <a:bodyPr/>
          <a:p/>
        </p:txBody>
      </p:sp>
      <p:sp>
        <p:nvSpPr>
          <p:cNvPr id="33" name="Text 31"/>
          <p:cNvSpPr/>
          <p:nvPr/>
        </p:nvSpPr>
        <p:spPr>
          <a:xfrm>
            <a:off x="8595360" y="2103120"/>
            <a:ext cx="12801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UE</a:t>
            </a:r>
            <a:endParaRPr lang="en-US" sz="1300" dirty="0"/>
          </a:p>
        </p:txBody>
      </p:sp>
      <p:sp>
        <p:nvSpPr>
          <p:cNvPr id="34" name="Shape 32"/>
          <p:cNvSpPr/>
          <p:nvPr/>
        </p:nvSpPr>
        <p:spPr>
          <a:xfrm>
            <a:off x="10012680" y="2103120"/>
            <a:ext cx="1554480" cy="329184"/>
          </a:xfrm>
          <a:prstGeom prst="roundRect">
            <a:avLst>
              <a:gd name="adj" fmla="val 50000"/>
            </a:avLst>
          </a:prstGeom>
          <a:solidFill>
            <a:srgbClr val="B02532"/>
          </a:solidFill>
          <a:ln w="12700">
            <a:solidFill>
              <a:srgbClr val="B02532"/>
            </a:solidFill>
            <a:prstDash val="solid"/>
          </a:ln>
        </p:spPr>
        <p:txBody>
          <a:bodyPr/>
          <a:p/>
        </p:txBody>
      </p:sp>
      <p:sp>
        <p:nvSpPr>
          <p:cNvPr id="35" name="Text 33"/>
          <p:cNvSpPr/>
          <p:nvPr/>
        </p:nvSpPr>
        <p:spPr>
          <a:xfrm>
            <a:off x="10012680" y="2103120"/>
            <a:ext cx="15544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România</a:t>
            </a:r>
            <a:endParaRPr lang="en-US" sz="1300" dirty="0"/>
          </a:p>
        </p:txBody>
      </p:sp>
      <p:sp>
        <p:nvSpPr>
          <p:cNvPr id="36" name="Text 34"/>
          <p:cNvSpPr/>
          <p:nvPr/>
        </p:nvSpPr>
        <p:spPr>
          <a:xfrm>
            <a:off x="8595360" y="2606040"/>
            <a:ext cx="3017520" cy="10972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Ponderea persoanelor de 16 ani și peste care își declară sănătatea bună sau foarte bună, 2025, %.</a:t>
            </a:r>
            <a:endParaRPr lang="en-US" sz="1400" dirty="0"/>
          </a:p>
        </p:txBody>
      </p:sp>
      <p:sp>
        <p:nvSpPr>
          <p:cNvPr id="37" name="Text 35"/>
          <p:cNvSpPr/>
          <p:nvPr/>
        </p:nvSpPr>
        <p:spPr>
          <a:xfrm>
            <a:off x="8595360" y="3749040"/>
            <a:ext cx="3017520" cy="91440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UE: crește la fiecare treaptă. România: a doua cincime sub prima, apoi creștere.</a:t>
            </a:r>
            <a:endParaRPr lang="en-US" sz="1400" dirty="0"/>
          </a:p>
        </p:txBody>
      </p:sp>
      <p:sp>
        <p:nvSpPr>
          <p:cNvPr id="38" name="Text 36"/>
          <p:cNvSpPr/>
          <p:nvPr/>
        </p:nvSpPr>
        <p:spPr>
          <a:xfrm>
            <a:off x="8595360" y="4709160"/>
            <a:ext cx="3017520" cy="731520"/>
          </a:xfrm>
          <a:prstGeom prst="rect">
            <a:avLst/>
          </a:prstGeom>
          <a:noFill/>
          <a:ln/>
        </p:spPr>
        <p:txBody>
          <a:bodyPr wrap="square" lIns="0" tIns="0" rIns="0" bIns="0" rtlCol="0" anchor="t"/>
          <a:lstStyle/>
          <a:p>
            <a:pPr indent="0" marL="0">
              <a:buNone/>
            </a:pPr>
            <a:r>
              <a:rPr lang="en-US" sz="1400" dirty="0">
                <a:solidFill>
                  <a:srgbClr val="0E7C6B"/>
                </a:solidFill>
                <a:latin typeface="Palatino Linotype" pitchFamily="34" charset="0"/>
                <a:ea typeface="Palatino Linotype" pitchFamily="34" charset="-122"/>
                <a:cs typeface="Palatino Linotype" pitchFamily="34" charset="-120"/>
              </a:rPr>
              <a:t>Între extreme: 19,1 puncte procentuale în România, 22,0 în UE.</a:t>
            </a:r>
            <a:endParaRPr lang="en-US" sz="1400" dirty="0"/>
          </a:p>
        </p:txBody>
      </p:sp>
      <p:sp>
        <p:nvSpPr>
          <p:cNvPr id="39" name="Text 3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ancheta UE privind veniturile și condițiile de viață (hlth_silc_10), 2025.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O PRECAUȚIE DE CITIRE</a:t>
            </a:r>
            <a:endParaRPr lang="en-US" sz="13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Românii se declară mai sănătoși, dar trăiesc mai puțin</a:t>
            </a:r>
            <a:endParaRPr lang="en-US" sz="3000" dirty="0"/>
          </a:p>
        </p:txBody>
      </p:sp>
      <p:sp>
        <p:nvSpPr>
          <p:cNvPr id="4" name="Text 2"/>
          <p:cNvSpPr/>
          <p:nvPr/>
        </p:nvSpPr>
        <p:spPr>
          <a:xfrm>
            <a:off x="594360" y="1737360"/>
            <a:ext cx="5120640" cy="1371600"/>
          </a:xfrm>
          <a:prstGeom prst="rect">
            <a:avLst/>
          </a:prstGeom>
          <a:noFill/>
          <a:ln/>
        </p:spPr>
        <p:txBody>
          <a:bodyPr wrap="square" lIns="0" tIns="0" rIns="0" bIns="0" rtlCol="0" anchor="ctr"/>
          <a:lstStyle/>
          <a:p>
            <a:pPr indent="0" marL="0">
              <a:buNone/>
            </a:pPr>
            <a:r>
              <a:rPr lang="en-US" sz="9600" b="1" dirty="0">
                <a:solidFill>
                  <a:srgbClr val="27D3BE"/>
                </a:solidFill>
                <a:latin typeface="Palatino Linotype" pitchFamily="34" charset="0"/>
                <a:ea typeface="Palatino Linotype" pitchFamily="34" charset="-122"/>
                <a:cs typeface="Palatino Linotype" pitchFamily="34" charset="-120"/>
              </a:rPr>
              <a:t>73,3%</a:t>
            </a:r>
            <a:endParaRPr lang="en-US" sz="9600" dirty="0"/>
          </a:p>
        </p:txBody>
      </p:sp>
      <p:sp>
        <p:nvSpPr>
          <p:cNvPr id="5" name="Text 3"/>
          <p:cNvSpPr/>
          <p:nvPr/>
        </p:nvSpPr>
        <p:spPr>
          <a:xfrm>
            <a:off x="594360" y="3154680"/>
            <a:ext cx="4937760" cy="9144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din români își declară sănătatea bună sau foarte bună, față de 67,9% în UE (2025)</a:t>
            </a:r>
            <a:endParaRPr lang="en-US" sz="1700" dirty="0"/>
          </a:p>
        </p:txBody>
      </p:sp>
      <p:sp>
        <p:nvSpPr>
          <p:cNvPr id="6" name="Shape 4"/>
          <p:cNvSpPr/>
          <p:nvPr/>
        </p:nvSpPr>
        <p:spPr>
          <a:xfrm>
            <a:off x="5989320" y="1828800"/>
            <a:ext cx="27432" cy="2286000"/>
          </a:xfrm>
          <a:prstGeom prst="rect">
            <a:avLst/>
          </a:prstGeom>
          <a:solidFill>
            <a:srgbClr val="3A3E52"/>
          </a:solidFill>
          <a:ln w="12700">
            <a:solidFill>
              <a:srgbClr val="3A3E52"/>
            </a:solidFill>
            <a:prstDash val="solid"/>
          </a:ln>
        </p:spPr>
        <p:txBody>
          <a:bodyPr/>
          <a:p/>
        </p:txBody>
      </p:sp>
      <p:sp>
        <p:nvSpPr>
          <p:cNvPr id="7" name="Text 5"/>
          <p:cNvSpPr/>
          <p:nvPr/>
        </p:nvSpPr>
        <p:spPr>
          <a:xfrm>
            <a:off x="6355080" y="1737360"/>
            <a:ext cx="5212080" cy="13716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5,0</a:t>
            </a:r>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 ani</a:t>
            </a:r>
            <a:endParaRPr lang="en-US" sz="9600" dirty="0"/>
          </a:p>
        </p:txBody>
      </p:sp>
      <p:sp>
        <p:nvSpPr>
          <p:cNvPr id="8" name="Text 6"/>
          <p:cNvSpPr/>
          <p:nvPr/>
        </p:nvSpPr>
        <p:spPr>
          <a:xfrm>
            <a:off x="6355080" y="3154680"/>
            <a:ext cx="5120640" cy="9144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mai puțin: speranța de viață la naștere în România față de UE (2024)</a:t>
            </a:r>
            <a:endParaRPr lang="en-US" sz="1700" dirty="0"/>
          </a:p>
        </p:txBody>
      </p:sp>
      <p:sp>
        <p:nvSpPr>
          <p:cNvPr id="9" name="Shape 7"/>
          <p:cNvSpPr/>
          <p:nvPr/>
        </p:nvSpPr>
        <p:spPr>
          <a:xfrm>
            <a:off x="594360" y="4389120"/>
            <a:ext cx="10972800" cy="1371600"/>
          </a:xfrm>
          <a:prstGeom prst="roundRect">
            <a:avLst>
              <a:gd name="adj" fmla="val 6000"/>
            </a:avLst>
          </a:prstGeom>
          <a:solidFill>
            <a:srgbClr val="1D1F2B"/>
          </a:solidFill>
          <a:ln w="12700">
            <a:solidFill>
              <a:srgbClr val="1D1F2B"/>
            </a:solidFill>
            <a:prstDash val="solid"/>
          </a:ln>
        </p:spPr>
        <p:txBody>
          <a:bodyPr/>
          <a:p/>
        </p:txBody>
      </p:sp>
      <p:sp>
        <p:nvSpPr>
          <p:cNvPr id="10" name="Text 8"/>
          <p:cNvSpPr/>
          <p:nvPr/>
        </p:nvSpPr>
        <p:spPr>
          <a:xfrm>
            <a:off x="868680" y="4389120"/>
            <a:ext cx="10424160" cy="13716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Autoevaluarea depinde de așteptări, de vârstă și de normele culturale ale răspunsului; nu este o măsură a bolii. O concluzie despre sănătatea unei populații nu se trage dintr-un singur indicator.</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DE LA DETERMINANȚI LA ACȚIUNE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poate face medicul de pe secție</a:t>
            </a:r>
            <a:endParaRPr lang="en-US" sz="3200" dirty="0"/>
          </a:p>
        </p:txBody>
      </p:sp>
      <p:sp>
        <p:nvSpPr>
          <p:cNvPr id="4" name="Shape 2"/>
          <p:cNvSpPr/>
          <p:nvPr/>
        </p:nvSpPr>
        <p:spPr>
          <a:xfrm>
            <a:off x="594360" y="1691640"/>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5" name="Text 3"/>
          <p:cNvSpPr/>
          <p:nvPr/>
        </p:nvSpPr>
        <p:spPr>
          <a:xfrm>
            <a:off x="868680" y="1691640"/>
            <a:ext cx="2011680" cy="676656"/>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Structural</a:t>
            </a:r>
            <a:endParaRPr lang="en-US" sz="1700" dirty="0"/>
          </a:p>
        </p:txBody>
      </p:sp>
      <p:sp>
        <p:nvSpPr>
          <p:cNvPr id="6" name="Text 4"/>
          <p:cNvSpPr/>
          <p:nvPr/>
        </p:nvSpPr>
        <p:spPr>
          <a:xfrm>
            <a:off x="2926080" y="1691640"/>
            <a:ext cx="84124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politicile: protecția socială, educația, locuința, transportul, sănătatea în toate politicile</a:t>
            </a:r>
            <a:endParaRPr lang="en-US" sz="1600" dirty="0"/>
          </a:p>
        </p:txBody>
      </p:sp>
      <p:sp>
        <p:nvSpPr>
          <p:cNvPr id="7" name="Shape 5"/>
          <p:cNvSpPr/>
          <p:nvPr/>
        </p:nvSpPr>
        <p:spPr>
          <a:xfrm>
            <a:off x="594360" y="2478024"/>
            <a:ext cx="10972800" cy="676656"/>
          </a:xfrm>
          <a:prstGeom prst="roundRect">
            <a:avLst>
              <a:gd name="adj" fmla="val 12162"/>
            </a:avLst>
          </a:prstGeom>
          <a:solidFill>
            <a:srgbClr val="F9F8F5"/>
          </a:solidFill>
          <a:ln w="12700">
            <a:solidFill>
              <a:srgbClr val="F9F8F5"/>
            </a:solidFill>
            <a:prstDash val="solid"/>
          </a:ln>
        </p:spPr>
        <p:txBody>
          <a:bodyPr/>
          <a:p/>
        </p:txBody>
      </p:sp>
      <p:sp>
        <p:nvSpPr>
          <p:cNvPr id="8" name="Text 6"/>
          <p:cNvSpPr/>
          <p:nvPr/>
        </p:nvSpPr>
        <p:spPr>
          <a:xfrm>
            <a:off x="868680" y="2478024"/>
            <a:ext cx="2011680" cy="676656"/>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Comunitar</a:t>
            </a:r>
            <a:endParaRPr lang="en-US" sz="1700" dirty="0"/>
          </a:p>
        </p:txBody>
      </p:sp>
      <p:sp>
        <p:nvSpPr>
          <p:cNvPr id="9" name="Text 7"/>
          <p:cNvSpPr/>
          <p:nvPr/>
        </p:nvSpPr>
        <p:spPr>
          <a:xfrm>
            <a:off x="2926080" y="2478024"/>
            <a:ext cx="84124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programele: asistența medicală comunitară, mediatorii sanitari, rețelele de sprijin</a:t>
            </a:r>
            <a:endParaRPr lang="en-US" sz="1600" dirty="0"/>
          </a:p>
        </p:txBody>
      </p:sp>
      <p:sp>
        <p:nvSpPr>
          <p:cNvPr id="10" name="Shape 8"/>
          <p:cNvSpPr/>
          <p:nvPr/>
        </p:nvSpPr>
        <p:spPr>
          <a:xfrm>
            <a:off x="594360" y="3264408"/>
            <a:ext cx="10972800" cy="676656"/>
          </a:xfrm>
          <a:prstGeom prst="roundRect">
            <a:avLst>
              <a:gd name="adj" fmla="val 12162"/>
            </a:avLst>
          </a:prstGeom>
          <a:solidFill>
            <a:srgbClr val="ECEAE4"/>
          </a:solidFill>
          <a:ln w="12700">
            <a:solidFill>
              <a:srgbClr val="ECEAE4"/>
            </a:solidFill>
            <a:prstDash val="solid"/>
          </a:ln>
        </p:spPr>
        <p:txBody>
          <a:bodyPr/>
          <a:p/>
        </p:txBody>
      </p:sp>
      <p:sp>
        <p:nvSpPr>
          <p:cNvPr id="11" name="Text 9"/>
          <p:cNvSpPr/>
          <p:nvPr/>
        </p:nvSpPr>
        <p:spPr>
          <a:xfrm>
            <a:off x="868680" y="3264408"/>
            <a:ext cx="2011680" cy="676656"/>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Individual</a:t>
            </a:r>
            <a:endParaRPr lang="en-US" sz="1700" dirty="0"/>
          </a:p>
        </p:txBody>
      </p:sp>
      <p:sp>
        <p:nvSpPr>
          <p:cNvPr id="12" name="Text 10"/>
          <p:cNvSpPr/>
          <p:nvPr/>
        </p:nvSpPr>
        <p:spPr>
          <a:xfrm>
            <a:off x="2926080" y="3264408"/>
            <a:ext cx="84124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educația pentru sănătate, sprijinul pentru autoîngrijire, depistarea activă</a:t>
            </a:r>
            <a:endParaRPr lang="en-US" sz="1600" dirty="0"/>
          </a:p>
        </p:txBody>
      </p:sp>
      <p:sp>
        <p:nvSpPr>
          <p:cNvPr id="13" name="Shape 11"/>
          <p:cNvSpPr/>
          <p:nvPr/>
        </p:nvSpPr>
        <p:spPr>
          <a:xfrm>
            <a:off x="594360" y="4206240"/>
            <a:ext cx="10972800" cy="1371600"/>
          </a:xfrm>
          <a:prstGeom prst="roundRect">
            <a:avLst>
              <a:gd name="adj" fmla="val 6000"/>
            </a:avLst>
          </a:prstGeom>
          <a:solidFill>
            <a:srgbClr val="8A6100"/>
          </a:solidFill>
          <a:ln w="12700">
            <a:solidFill>
              <a:srgbClr val="8A6100"/>
            </a:solidFill>
            <a:prstDash val="solid"/>
          </a:ln>
        </p:spPr>
        <p:txBody>
          <a:bodyPr/>
          <a:p/>
        </p:txBody>
      </p:sp>
      <p:sp>
        <p:nvSpPr>
          <p:cNvPr id="14" name="Text 12"/>
          <p:cNvSpPr/>
          <p:nvPr/>
        </p:nvSpPr>
        <p:spPr>
          <a:xfrm>
            <a:off x="868680" y="4206240"/>
            <a:ext cx="10424160" cy="13716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Medicul nu poate schimba pensia pacientei. Poate afla de ce se reinternează, poate implica asistentul social și asistentul medical comunitar, poate vorbi cu medicul de familie și poate raporta problema celor care decid.</a:t>
            </a:r>
            <a:endParaRPr lang="en-US" sz="1700" dirty="0"/>
          </a:p>
        </p:txBody>
      </p:sp>
      <p:sp>
        <p:nvSpPr>
          <p:cNvPr id="15" name="Text 13"/>
          <p:cNvSpPr/>
          <p:nvPr/>
        </p:nvSpPr>
        <p:spPr>
          <a:xfrm>
            <a:off x="594360" y="5852160"/>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Cele trei niveluri: sinteză didactică a cursului. Raportul Marmot (Anglia, 2010): șase obiective de politică pentru reducerea inechităților de sănătate.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ESTE ȘI CE NU ESTE SĂNĂTATE PUBLICĂ</a:t>
            </a:r>
            <a:endParaRPr lang="en-US" sz="1300" dirty="0"/>
          </a:p>
        </p:txBody>
      </p:sp>
      <p:sp>
        <p:nvSpPr>
          <p:cNvPr id="5" name="Text 3"/>
          <p:cNvSpPr/>
          <p:nvPr/>
        </p:nvSpPr>
        <p:spPr>
          <a:xfrm>
            <a:off x="594360" y="1097280"/>
            <a:ext cx="10972800" cy="1097280"/>
          </a:xfrm>
          <a:prstGeom prst="rect">
            <a:avLst/>
          </a:prstGeom>
          <a:noFill/>
          <a:ln/>
        </p:spPr>
        <p:txBody>
          <a:bodyPr wrap="square" lIns="0" tIns="0" rIns="0" bIns="0" rtlCol="0" anchor="ctr"/>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Garda, cabinetul, secția: zece întrebări</a:t>
            </a:r>
            <a:endParaRPr lang="en-US" sz="38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După fiecare întrebare discutăm răspunsurile greșite.</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CHESTIONARUL · CHEIA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Zece afirmații: adevărat sau fals</a:t>
            </a:r>
            <a:endParaRPr lang="en-US" sz="3000" dirty="0"/>
          </a:p>
        </p:txBody>
      </p:sp>
      <p:sp>
        <p:nvSpPr>
          <p:cNvPr id="4" name="Shape 2"/>
          <p:cNvSpPr/>
          <p:nvPr/>
        </p:nvSpPr>
        <p:spPr>
          <a:xfrm>
            <a:off x="594360" y="1691640"/>
            <a:ext cx="5440680" cy="731520"/>
          </a:xfrm>
          <a:prstGeom prst="roundRect">
            <a:avLst>
              <a:gd name="adj" fmla="val 11250"/>
            </a:avLst>
          </a:prstGeom>
          <a:solidFill>
            <a:srgbClr val="ECEAE4"/>
          </a:solidFill>
          <a:ln w="12700">
            <a:solidFill>
              <a:srgbClr val="ECEAE4"/>
            </a:solidFill>
            <a:prstDash val="solid"/>
          </a:ln>
        </p:spPr>
        <p:txBody>
          <a:bodyPr/>
          <a:p/>
        </p:txBody>
      </p:sp>
      <p:sp>
        <p:nvSpPr>
          <p:cNvPr id="5" name="Shape 3"/>
          <p:cNvSpPr/>
          <p:nvPr/>
        </p:nvSpPr>
        <p:spPr>
          <a:xfrm>
            <a:off x="731520" y="1847088"/>
            <a:ext cx="420624" cy="420624"/>
          </a:xfrm>
          <a:prstGeom prst="ellipse">
            <a:avLst/>
          </a:prstGeom>
          <a:solidFill>
            <a:srgbClr val="B02532"/>
          </a:solidFill>
          <a:ln/>
        </p:spPr>
        <p:txBody>
          <a:bodyPr/>
          <a:p/>
        </p:txBody>
      </p:sp>
      <p:sp>
        <p:nvSpPr>
          <p:cNvPr id="6" name="Text 4"/>
          <p:cNvSpPr/>
          <p:nvPr/>
        </p:nvSpPr>
        <p:spPr>
          <a:xfrm>
            <a:off x="731520"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7" name="Text 5"/>
          <p:cNvSpPr/>
          <p:nvPr/>
        </p:nvSpPr>
        <p:spPr>
          <a:xfrm>
            <a:off x="1325880" y="169164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1. Sănătatea publică se ocupă exclusiv de bolile infecțioase.</a:t>
            </a:r>
            <a:endParaRPr lang="en-US" sz="1350" dirty="0"/>
          </a:p>
        </p:txBody>
      </p:sp>
      <p:sp>
        <p:nvSpPr>
          <p:cNvPr id="8" name="Shape 6"/>
          <p:cNvSpPr/>
          <p:nvPr/>
        </p:nvSpPr>
        <p:spPr>
          <a:xfrm>
            <a:off x="594360" y="2514600"/>
            <a:ext cx="5440680" cy="731520"/>
          </a:xfrm>
          <a:prstGeom prst="roundRect">
            <a:avLst>
              <a:gd name="adj" fmla="val 11250"/>
            </a:avLst>
          </a:prstGeom>
          <a:solidFill>
            <a:srgbClr val="F9F8F5"/>
          </a:solidFill>
          <a:ln w="12700">
            <a:solidFill>
              <a:srgbClr val="F9F8F5"/>
            </a:solidFill>
            <a:prstDash val="solid"/>
          </a:ln>
        </p:spPr>
        <p:txBody>
          <a:bodyPr/>
          <a:p/>
        </p:txBody>
      </p:sp>
      <p:sp>
        <p:nvSpPr>
          <p:cNvPr id="9" name="Shape 7"/>
          <p:cNvSpPr/>
          <p:nvPr/>
        </p:nvSpPr>
        <p:spPr>
          <a:xfrm>
            <a:off x="731520" y="2670048"/>
            <a:ext cx="420624" cy="420624"/>
          </a:xfrm>
          <a:prstGeom prst="ellipse">
            <a:avLst/>
          </a:prstGeom>
          <a:solidFill>
            <a:srgbClr val="0E7C6B"/>
          </a:solidFill>
          <a:ln/>
        </p:spPr>
        <p:txBody>
          <a:bodyPr/>
          <a:p/>
        </p:txBody>
      </p:sp>
      <p:sp>
        <p:nvSpPr>
          <p:cNvPr id="10" name="Text 8"/>
          <p:cNvSpPr/>
          <p:nvPr/>
        </p:nvSpPr>
        <p:spPr>
          <a:xfrm>
            <a:off x="731520" y="2670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325880" y="251460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2. Vaccinarea populației este un act de sănătate publică.</a:t>
            </a:r>
            <a:endParaRPr lang="en-US" sz="1350" dirty="0"/>
          </a:p>
        </p:txBody>
      </p:sp>
      <p:sp>
        <p:nvSpPr>
          <p:cNvPr id="12" name="Shape 10"/>
          <p:cNvSpPr/>
          <p:nvPr/>
        </p:nvSpPr>
        <p:spPr>
          <a:xfrm>
            <a:off x="594360" y="3337560"/>
            <a:ext cx="5440680" cy="731520"/>
          </a:xfrm>
          <a:prstGeom prst="roundRect">
            <a:avLst>
              <a:gd name="adj" fmla="val 11250"/>
            </a:avLst>
          </a:prstGeom>
          <a:solidFill>
            <a:srgbClr val="ECEAE4"/>
          </a:solidFill>
          <a:ln w="12700">
            <a:solidFill>
              <a:srgbClr val="ECEAE4"/>
            </a:solidFill>
            <a:prstDash val="solid"/>
          </a:ln>
        </p:spPr>
        <p:txBody>
          <a:bodyPr/>
          <a:p/>
        </p:txBody>
      </p:sp>
      <p:sp>
        <p:nvSpPr>
          <p:cNvPr id="13" name="Shape 11"/>
          <p:cNvSpPr/>
          <p:nvPr/>
        </p:nvSpPr>
        <p:spPr>
          <a:xfrm>
            <a:off x="731520" y="3493008"/>
            <a:ext cx="420624" cy="420624"/>
          </a:xfrm>
          <a:prstGeom prst="ellipse">
            <a:avLst/>
          </a:prstGeom>
          <a:solidFill>
            <a:srgbClr val="B02532"/>
          </a:solidFill>
          <a:ln/>
        </p:spPr>
        <p:txBody>
          <a:bodyPr/>
          <a:p/>
        </p:txBody>
      </p:sp>
      <p:sp>
        <p:nvSpPr>
          <p:cNvPr id="14" name="Text 12"/>
          <p:cNvSpPr/>
          <p:nvPr/>
        </p:nvSpPr>
        <p:spPr>
          <a:xfrm>
            <a:off x="731520" y="3493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15" name="Text 13"/>
          <p:cNvSpPr/>
          <p:nvPr/>
        </p:nvSpPr>
        <p:spPr>
          <a:xfrm>
            <a:off x="1325880" y="333756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3. Sănătatea publică nu are legătură cu politica sau economia.</a:t>
            </a:r>
            <a:endParaRPr lang="en-US" sz="1350" dirty="0"/>
          </a:p>
        </p:txBody>
      </p:sp>
      <p:sp>
        <p:nvSpPr>
          <p:cNvPr id="16" name="Shape 14"/>
          <p:cNvSpPr/>
          <p:nvPr/>
        </p:nvSpPr>
        <p:spPr>
          <a:xfrm>
            <a:off x="594360" y="4160520"/>
            <a:ext cx="5440680" cy="731520"/>
          </a:xfrm>
          <a:prstGeom prst="roundRect">
            <a:avLst>
              <a:gd name="adj" fmla="val 11250"/>
            </a:avLst>
          </a:prstGeom>
          <a:solidFill>
            <a:srgbClr val="F9F8F5"/>
          </a:solidFill>
          <a:ln w="12700">
            <a:solidFill>
              <a:srgbClr val="F9F8F5"/>
            </a:solidFill>
            <a:prstDash val="solid"/>
          </a:ln>
        </p:spPr>
        <p:txBody>
          <a:bodyPr/>
          <a:p/>
        </p:txBody>
      </p:sp>
      <p:sp>
        <p:nvSpPr>
          <p:cNvPr id="17" name="Shape 15"/>
          <p:cNvSpPr/>
          <p:nvPr/>
        </p:nvSpPr>
        <p:spPr>
          <a:xfrm>
            <a:off x="731520" y="4315968"/>
            <a:ext cx="420624" cy="420624"/>
          </a:xfrm>
          <a:prstGeom prst="ellipse">
            <a:avLst/>
          </a:prstGeom>
          <a:solidFill>
            <a:srgbClr val="0E7C6B"/>
          </a:solidFill>
          <a:ln/>
        </p:spPr>
        <p:txBody>
          <a:bodyPr/>
          <a:p/>
        </p:txBody>
      </p:sp>
      <p:sp>
        <p:nvSpPr>
          <p:cNvPr id="18" name="Text 16"/>
          <p:cNvSpPr/>
          <p:nvPr/>
        </p:nvSpPr>
        <p:spPr>
          <a:xfrm>
            <a:off x="731520" y="4315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19" name="Text 17"/>
          <p:cNvSpPr/>
          <p:nvPr/>
        </p:nvSpPr>
        <p:spPr>
          <a:xfrm>
            <a:off x="1325880" y="416052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4. În Legea nr. 95/2006, „sănătatea publică” este starea de sănătate a populației.</a:t>
            </a:r>
            <a:endParaRPr lang="en-US" sz="1350" dirty="0"/>
          </a:p>
        </p:txBody>
      </p:sp>
      <p:sp>
        <p:nvSpPr>
          <p:cNvPr id="20" name="Shape 18"/>
          <p:cNvSpPr/>
          <p:nvPr/>
        </p:nvSpPr>
        <p:spPr>
          <a:xfrm>
            <a:off x="594360" y="4983480"/>
            <a:ext cx="5440680" cy="731520"/>
          </a:xfrm>
          <a:prstGeom prst="roundRect">
            <a:avLst>
              <a:gd name="adj" fmla="val 11250"/>
            </a:avLst>
          </a:prstGeom>
          <a:solidFill>
            <a:srgbClr val="ECEAE4"/>
          </a:solidFill>
          <a:ln w="12700">
            <a:solidFill>
              <a:srgbClr val="ECEAE4"/>
            </a:solidFill>
            <a:prstDash val="solid"/>
          </a:ln>
        </p:spPr>
        <p:txBody>
          <a:bodyPr/>
          <a:p/>
        </p:txBody>
      </p:sp>
      <p:sp>
        <p:nvSpPr>
          <p:cNvPr id="21" name="Shape 19"/>
          <p:cNvSpPr/>
          <p:nvPr/>
        </p:nvSpPr>
        <p:spPr>
          <a:xfrm>
            <a:off x="731520" y="5138928"/>
            <a:ext cx="420624" cy="420624"/>
          </a:xfrm>
          <a:prstGeom prst="ellipse">
            <a:avLst/>
          </a:prstGeom>
          <a:solidFill>
            <a:srgbClr val="B02532"/>
          </a:solidFill>
          <a:ln/>
        </p:spPr>
        <p:txBody>
          <a:bodyPr/>
          <a:p/>
        </p:txBody>
      </p:sp>
      <p:sp>
        <p:nvSpPr>
          <p:cNvPr id="22" name="Text 20"/>
          <p:cNvSpPr/>
          <p:nvPr/>
        </p:nvSpPr>
        <p:spPr>
          <a:xfrm>
            <a:off x="731520" y="5138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23" name="Text 21"/>
          <p:cNvSpPr/>
          <p:nvPr/>
        </p:nvSpPr>
        <p:spPr>
          <a:xfrm>
            <a:off x="1325880" y="498348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5. DSP sunt în subordinea INSP.</a:t>
            </a:r>
            <a:endParaRPr lang="en-US" sz="1350" dirty="0"/>
          </a:p>
        </p:txBody>
      </p:sp>
      <p:sp>
        <p:nvSpPr>
          <p:cNvPr id="24" name="Shape 22"/>
          <p:cNvSpPr/>
          <p:nvPr/>
        </p:nvSpPr>
        <p:spPr>
          <a:xfrm>
            <a:off x="6217920" y="1691640"/>
            <a:ext cx="5440680" cy="731520"/>
          </a:xfrm>
          <a:prstGeom prst="roundRect">
            <a:avLst>
              <a:gd name="adj" fmla="val 11250"/>
            </a:avLst>
          </a:prstGeom>
          <a:solidFill>
            <a:srgbClr val="ECEAE4"/>
          </a:solidFill>
          <a:ln w="12700">
            <a:solidFill>
              <a:srgbClr val="ECEAE4"/>
            </a:solidFill>
            <a:prstDash val="solid"/>
          </a:ln>
        </p:spPr>
        <p:txBody>
          <a:bodyPr/>
          <a:p/>
        </p:txBody>
      </p:sp>
      <p:sp>
        <p:nvSpPr>
          <p:cNvPr id="25" name="Shape 23"/>
          <p:cNvSpPr/>
          <p:nvPr/>
        </p:nvSpPr>
        <p:spPr>
          <a:xfrm>
            <a:off x="6355080" y="1847088"/>
            <a:ext cx="420624" cy="420624"/>
          </a:xfrm>
          <a:prstGeom prst="ellipse">
            <a:avLst/>
          </a:prstGeom>
          <a:solidFill>
            <a:srgbClr val="0E7C6B"/>
          </a:solidFill>
          <a:ln/>
        </p:spPr>
        <p:txBody>
          <a:bodyPr/>
          <a:p/>
        </p:txBody>
      </p:sp>
      <p:sp>
        <p:nvSpPr>
          <p:cNvPr id="26" name="Text 24"/>
          <p:cNvSpPr/>
          <p:nvPr/>
        </p:nvSpPr>
        <p:spPr>
          <a:xfrm>
            <a:off x="6355080"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27" name="Text 25"/>
          <p:cNvSpPr/>
          <p:nvPr/>
        </p:nvSpPr>
        <p:spPr>
          <a:xfrm>
            <a:off x="6949440" y="169164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6. Registrul unic de boli transmisibile e administrat de INSP, prin CNSCBT.</a:t>
            </a:r>
            <a:endParaRPr lang="en-US" sz="1350" dirty="0"/>
          </a:p>
        </p:txBody>
      </p:sp>
      <p:sp>
        <p:nvSpPr>
          <p:cNvPr id="28" name="Shape 26"/>
          <p:cNvSpPr/>
          <p:nvPr/>
        </p:nvSpPr>
        <p:spPr>
          <a:xfrm>
            <a:off x="6217920" y="2514600"/>
            <a:ext cx="5440680" cy="731520"/>
          </a:xfrm>
          <a:prstGeom prst="roundRect">
            <a:avLst>
              <a:gd name="adj" fmla="val 11250"/>
            </a:avLst>
          </a:prstGeom>
          <a:solidFill>
            <a:srgbClr val="F9F8F5"/>
          </a:solidFill>
          <a:ln w="12700">
            <a:solidFill>
              <a:srgbClr val="F9F8F5"/>
            </a:solidFill>
            <a:prstDash val="solid"/>
          </a:ln>
        </p:spPr>
        <p:txBody>
          <a:bodyPr/>
          <a:p/>
        </p:txBody>
      </p:sp>
      <p:sp>
        <p:nvSpPr>
          <p:cNvPr id="29" name="Shape 27"/>
          <p:cNvSpPr/>
          <p:nvPr/>
        </p:nvSpPr>
        <p:spPr>
          <a:xfrm>
            <a:off x="6355080" y="2670048"/>
            <a:ext cx="420624" cy="420624"/>
          </a:xfrm>
          <a:prstGeom prst="ellipse">
            <a:avLst/>
          </a:prstGeom>
          <a:solidFill>
            <a:srgbClr val="0E7C6B"/>
          </a:solidFill>
          <a:ln/>
        </p:spPr>
        <p:txBody>
          <a:bodyPr/>
          <a:p/>
        </p:txBody>
      </p:sp>
      <p:sp>
        <p:nvSpPr>
          <p:cNvPr id="30" name="Text 28"/>
          <p:cNvSpPr/>
          <p:nvPr/>
        </p:nvSpPr>
        <p:spPr>
          <a:xfrm>
            <a:off x="6355080" y="2670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31" name="Text 29"/>
          <p:cNvSpPr/>
          <p:nvPr/>
        </p:nvSpPr>
        <p:spPr>
          <a:xfrm>
            <a:off x="6949440" y="251460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7. În planul din 2012, EPHO 7 (forța de muncă) le face posibile pe celelalte.</a:t>
            </a:r>
            <a:endParaRPr lang="en-US" sz="1350" dirty="0"/>
          </a:p>
        </p:txBody>
      </p:sp>
      <p:sp>
        <p:nvSpPr>
          <p:cNvPr id="32" name="Shape 30"/>
          <p:cNvSpPr/>
          <p:nvPr/>
        </p:nvSpPr>
        <p:spPr>
          <a:xfrm>
            <a:off x="6217920" y="3337560"/>
            <a:ext cx="5440680" cy="731520"/>
          </a:xfrm>
          <a:prstGeom prst="roundRect">
            <a:avLst>
              <a:gd name="adj" fmla="val 11250"/>
            </a:avLst>
          </a:prstGeom>
          <a:solidFill>
            <a:srgbClr val="ECEAE4"/>
          </a:solidFill>
          <a:ln w="12700">
            <a:solidFill>
              <a:srgbClr val="ECEAE4"/>
            </a:solidFill>
            <a:prstDash val="solid"/>
          </a:ln>
        </p:spPr>
        <p:txBody>
          <a:bodyPr/>
          <a:p/>
        </p:txBody>
      </p:sp>
      <p:sp>
        <p:nvSpPr>
          <p:cNvPr id="33" name="Shape 31"/>
          <p:cNvSpPr/>
          <p:nvPr/>
        </p:nvSpPr>
        <p:spPr>
          <a:xfrm>
            <a:off x="6355080" y="3493008"/>
            <a:ext cx="420624" cy="420624"/>
          </a:xfrm>
          <a:prstGeom prst="ellipse">
            <a:avLst/>
          </a:prstGeom>
          <a:solidFill>
            <a:srgbClr val="B02532"/>
          </a:solidFill>
          <a:ln/>
        </p:spPr>
        <p:txBody>
          <a:bodyPr/>
          <a:p/>
        </p:txBody>
      </p:sp>
      <p:sp>
        <p:nvSpPr>
          <p:cNvPr id="34" name="Text 32"/>
          <p:cNvSpPr/>
          <p:nvPr/>
        </p:nvSpPr>
        <p:spPr>
          <a:xfrm>
            <a:off x="6355080" y="3493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35" name="Text 33"/>
          <p:cNvSpPr/>
          <p:nvPr/>
        </p:nvSpPr>
        <p:spPr>
          <a:xfrm>
            <a:off x="6949440" y="333756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8. Serviciile de sănătate sunt în centrul modelului Dahlgren–Whitehead.</a:t>
            </a:r>
            <a:endParaRPr lang="en-US" sz="1350" dirty="0"/>
          </a:p>
        </p:txBody>
      </p:sp>
      <p:sp>
        <p:nvSpPr>
          <p:cNvPr id="36" name="Shape 34"/>
          <p:cNvSpPr/>
          <p:nvPr/>
        </p:nvSpPr>
        <p:spPr>
          <a:xfrm>
            <a:off x="6217920" y="4160520"/>
            <a:ext cx="5440680" cy="731520"/>
          </a:xfrm>
          <a:prstGeom prst="roundRect">
            <a:avLst>
              <a:gd name="adj" fmla="val 11250"/>
            </a:avLst>
          </a:prstGeom>
          <a:solidFill>
            <a:srgbClr val="F9F8F5"/>
          </a:solidFill>
          <a:ln w="12700">
            <a:solidFill>
              <a:srgbClr val="F9F8F5"/>
            </a:solidFill>
            <a:prstDash val="solid"/>
          </a:ln>
        </p:spPr>
        <p:txBody>
          <a:bodyPr/>
          <a:p/>
        </p:txBody>
      </p:sp>
      <p:sp>
        <p:nvSpPr>
          <p:cNvPr id="37" name="Shape 35"/>
          <p:cNvSpPr/>
          <p:nvPr/>
        </p:nvSpPr>
        <p:spPr>
          <a:xfrm>
            <a:off x="6355080" y="4315968"/>
            <a:ext cx="420624" cy="420624"/>
          </a:xfrm>
          <a:prstGeom prst="ellipse">
            <a:avLst/>
          </a:prstGeom>
          <a:solidFill>
            <a:srgbClr val="0E7C6B"/>
          </a:solidFill>
          <a:ln/>
        </p:spPr>
        <p:txBody>
          <a:bodyPr/>
          <a:p/>
        </p:txBody>
      </p:sp>
      <p:sp>
        <p:nvSpPr>
          <p:cNvPr id="38" name="Text 36"/>
          <p:cNvSpPr/>
          <p:nvPr/>
        </p:nvSpPr>
        <p:spPr>
          <a:xfrm>
            <a:off x="6355080" y="4315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39" name="Text 37"/>
          <p:cNvSpPr/>
          <p:nvPr/>
        </p:nvSpPr>
        <p:spPr>
          <a:xfrm>
            <a:off x="6949440" y="416052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9. Alma-Ata, 1978: asistența primară, cheia „Sănătății pentru toți”.</a:t>
            </a:r>
            <a:endParaRPr lang="en-US" sz="1350" dirty="0"/>
          </a:p>
        </p:txBody>
      </p:sp>
      <p:sp>
        <p:nvSpPr>
          <p:cNvPr id="40" name="Shape 38"/>
          <p:cNvSpPr/>
          <p:nvPr/>
        </p:nvSpPr>
        <p:spPr>
          <a:xfrm>
            <a:off x="6217920" y="4983480"/>
            <a:ext cx="5440680" cy="731520"/>
          </a:xfrm>
          <a:prstGeom prst="roundRect">
            <a:avLst>
              <a:gd name="adj" fmla="val 11250"/>
            </a:avLst>
          </a:prstGeom>
          <a:solidFill>
            <a:srgbClr val="ECEAE4"/>
          </a:solidFill>
          <a:ln w="12700">
            <a:solidFill>
              <a:srgbClr val="ECEAE4"/>
            </a:solidFill>
            <a:prstDash val="solid"/>
          </a:ln>
        </p:spPr>
        <p:txBody>
          <a:bodyPr/>
          <a:p/>
        </p:txBody>
      </p:sp>
      <p:sp>
        <p:nvSpPr>
          <p:cNvPr id="41" name="Shape 39"/>
          <p:cNvSpPr/>
          <p:nvPr/>
        </p:nvSpPr>
        <p:spPr>
          <a:xfrm>
            <a:off x="6355080" y="5138928"/>
            <a:ext cx="420624" cy="420624"/>
          </a:xfrm>
          <a:prstGeom prst="ellipse">
            <a:avLst/>
          </a:prstGeom>
          <a:solidFill>
            <a:srgbClr val="0E7C6B"/>
          </a:solidFill>
          <a:ln/>
        </p:spPr>
        <p:txBody>
          <a:bodyPr/>
          <a:p/>
        </p:txBody>
      </p:sp>
      <p:sp>
        <p:nvSpPr>
          <p:cNvPr id="42" name="Text 40"/>
          <p:cNvSpPr/>
          <p:nvPr/>
        </p:nvSpPr>
        <p:spPr>
          <a:xfrm>
            <a:off x="6355080" y="5138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A</a:t>
            </a:r>
            <a:endParaRPr lang="en-US" sz="1400" dirty="0"/>
          </a:p>
        </p:txBody>
      </p:sp>
      <p:sp>
        <p:nvSpPr>
          <p:cNvPr id="43" name="Text 41"/>
          <p:cNvSpPr/>
          <p:nvPr/>
        </p:nvSpPr>
        <p:spPr>
          <a:xfrm>
            <a:off x="6949440" y="498348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10. În 2023, mortalitatea tratabilă din România: peste două ori media UE.</a:t>
            </a:r>
            <a:endParaRPr lang="en-US" sz="1350" dirty="0"/>
          </a:p>
        </p:txBody>
      </p:sp>
      <p:sp>
        <p:nvSpPr>
          <p:cNvPr id="44" name="Text 42"/>
          <p:cNvSpPr/>
          <p:nvPr/>
        </p:nvSpPr>
        <p:spPr>
          <a:xfrm>
            <a:off x="594360" y="5852160"/>
            <a:ext cx="109728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A = adevărat · F = fals. DSP sunt servicii deconcentrate ale Ministerului Sănătății.</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DE REȚINUT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Cinci idei din cursul de azi</a:t>
            </a:r>
            <a:endParaRPr lang="en-US" sz="3200" dirty="0"/>
          </a:p>
        </p:txBody>
      </p:sp>
      <p:sp>
        <p:nvSpPr>
          <p:cNvPr id="4" name="Shape 2"/>
          <p:cNvSpPr/>
          <p:nvPr/>
        </p:nvSpPr>
        <p:spPr>
          <a:xfrm>
            <a:off x="594360" y="1600200"/>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5" name="Shape 3"/>
          <p:cNvSpPr/>
          <p:nvPr/>
        </p:nvSpPr>
        <p:spPr>
          <a:xfrm>
            <a:off x="868680" y="1792224"/>
            <a:ext cx="420624" cy="420624"/>
          </a:xfrm>
          <a:prstGeom prst="ellipse">
            <a:avLst/>
          </a:prstGeom>
          <a:solidFill>
            <a:srgbClr val="27D3BE"/>
          </a:solidFill>
          <a:ln/>
        </p:spPr>
        <p:txBody>
          <a:bodyPr/>
          <a:p/>
        </p:txBody>
      </p:sp>
      <p:sp>
        <p:nvSpPr>
          <p:cNvPr id="6" name="Text 4"/>
          <p:cNvSpPr/>
          <p:nvPr/>
        </p:nvSpPr>
        <p:spPr>
          <a:xfrm>
            <a:off x="868680" y="179222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00200"/>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Sănătatea publică: știința și arta de a preveni boala, de a prelungi viața și de a promova sănătatea prin eforturile organizate ale societății.</a:t>
            </a:r>
            <a:endParaRPr lang="en-US" sz="1550" dirty="0"/>
          </a:p>
        </p:txBody>
      </p:sp>
      <p:sp>
        <p:nvSpPr>
          <p:cNvPr id="8" name="Shape 6"/>
          <p:cNvSpPr/>
          <p:nvPr/>
        </p:nvSpPr>
        <p:spPr>
          <a:xfrm>
            <a:off x="594360" y="2496312"/>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9" name="Shape 7"/>
          <p:cNvSpPr/>
          <p:nvPr/>
        </p:nvSpPr>
        <p:spPr>
          <a:xfrm>
            <a:off x="868680" y="2688336"/>
            <a:ext cx="420624" cy="420624"/>
          </a:xfrm>
          <a:prstGeom prst="ellipse">
            <a:avLst/>
          </a:prstGeom>
          <a:solidFill>
            <a:srgbClr val="27D3BE"/>
          </a:solidFill>
          <a:ln/>
        </p:spPr>
        <p:txBody>
          <a:bodyPr/>
          <a:p/>
        </p:txBody>
      </p:sp>
      <p:sp>
        <p:nvSpPr>
          <p:cNvPr id="10" name="Text 8"/>
          <p:cNvSpPr/>
          <p:nvPr/>
        </p:nvSpPr>
        <p:spPr>
          <a:xfrm>
            <a:off x="868680" y="2688336"/>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96312"/>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Legea română: „asistența de sănătate publică” este efortul; „sănătatea publică”, starea de sănătate a populației.</a:t>
            </a:r>
            <a:endParaRPr lang="en-US" sz="1550" dirty="0"/>
          </a:p>
        </p:txBody>
      </p:sp>
      <p:sp>
        <p:nvSpPr>
          <p:cNvPr id="12" name="Shape 10"/>
          <p:cNvSpPr/>
          <p:nvPr/>
        </p:nvSpPr>
        <p:spPr>
          <a:xfrm>
            <a:off x="594360" y="3392424"/>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3" name="Shape 11"/>
          <p:cNvSpPr/>
          <p:nvPr/>
        </p:nvSpPr>
        <p:spPr>
          <a:xfrm>
            <a:off x="868680" y="3584448"/>
            <a:ext cx="420624" cy="420624"/>
          </a:xfrm>
          <a:prstGeom prst="ellipse">
            <a:avLst/>
          </a:prstGeom>
          <a:solidFill>
            <a:srgbClr val="27D3BE"/>
          </a:solidFill>
          <a:ln/>
        </p:spPr>
        <p:txBody>
          <a:bodyPr/>
          <a:p/>
        </p:txBody>
      </p:sp>
      <p:sp>
        <p:nvSpPr>
          <p:cNvPr id="14" name="Text 12"/>
          <p:cNvSpPr/>
          <p:nvPr/>
        </p:nvSpPr>
        <p:spPr>
          <a:xfrm>
            <a:off x="868680" y="358444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92424"/>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EPHO, 2012: cinci operațiuni de bază și cinci care le fac posibile, plus gruparea de informare; OMS: o listă globală de 12 funcții.</a:t>
            </a:r>
            <a:endParaRPr lang="en-US" sz="1550" dirty="0"/>
          </a:p>
        </p:txBody>
      </p:sp>
      <p:sp>
        <p:nvSpPr>
          <p:cNvPr id="16" name="Shape 14"/>
          <p:cNvSpPr/>
          <p:nvPr/>
        </p:nvSpPr>
        <p:spPr>
          <a:xfrm>
            <a:off x="594360" y="4288536"/>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7" name="Shape 15"/>
          <p:cNvSpPr/>
          <p:nvPr/>
        </p:nvSpPr>
        <p:spPr>
          <a:xfrm>
            <a:off x="868680" y="4480560"/>
            <a:ext cx="420624" cy="420624"/>
          </a:xfrm>
          <a:prstGeom prst="ellipse">
            <a:avLst/>
          </a:prstGeom>
          <a:solidFill>
            <a:srgbClr val="27D3BE"/>
          </a:solidFill>
          <a:ln/>
        </p:spPr>
        <p:txBody>
          <a:bodyPr/>
          <a:p/>
        </p:txBody>
      </p:sp>
      <p:sp>
        <p:nvSpPr>
          <p:cNvPr id="18" name="Text 16"/>
          <p:cNvSpPr/>
          <p:nvPr/>
        </p:nvSpPr>
        <p:spPr>
          <a:xfrm>
            <a:off x="868680" y="448056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288536"/>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Asistența medicală primară, de la Alma-Ata (1978) la Astana (2018): locul unde clinica și sănătatea publică se întâlnesc zilnic.</a:t>
            </a:r>
            <a:endParaRPr lang="en-US" sz="1550" dirty="0"/>
          </a:p>
        </p:txBody>
      </p:sp>
      <p:sp>
        <p:nvSpPr>
          <p:cNvPr id="20" name="Shape 18"/>
          <p:cNvSpPr/>
          <p:nvPr/>
        </p:nvSpPr>
        <p:spPr>
          <a:xfrm>
            <a:off x="594360" y="5184648"/>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21" name="Shape 19"/>
          <p:cNvSpPr/>
          <p:nvPr/>
        </p:nvSpPr>
        <p:spPr>
          <a:xfrm>
            <a:off x="868680" y="5376672"/>
            <a:ext cx="420624" cy="420624"/>
          </a:xfrm>
          <a:prstGeom prst="ellipse">
            <a:avLst/>
          </a:prstGeom>
          <a:solidFill>
            <a:srgbClr val="27D3BE"/>
          </a:solidFill>
          <a:ln/>
        </p:spPr>
        <p:txBody>
          <a:bodyPr/>
          <a:p/>
        </p:txBody>
      </p:sp>
      <p:sp>
        <p:nvSpPr>
          <p:cNvPr id="22" name="Text 20"/>
          <p:cNvSpPr/>
          <p:nvPr/>
        </p:nvSpPr>
        <p:spPr>
          <a:xfrm>
            <a:off x="868680" y="5376672"/>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5184648"/>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Determinanții merg de la comportamente la condițiile de viață și la distribuția puterii și a resurselor; gradientul urmează scara socială.</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MÂINE, CA MEDICI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diferit la gardă, în cabinet și pe secție</a:t>
            </a:r>
            <a:endParaRPr lang="en-US" sz="3000" dirty="0"/>
          </a:p>
        </p:txBody>
      </p:sp>
      <p:sp>
        <p:nvSpPr>
          <p:cNvPr id="4" name="Shape 2"/>
          <p:cNvSpPr/>
          <p:nvPr/>
        </p:nvSpPr>
        <p:spPr>
          <a:xfrm>
            <a:off x="594360" y="1737360"/>
            <a:ext cx="10972800" cy="841248"/>
          </a:xfrm>
          <a:prstGeom prst="roundRect">
            <a:avLst>
              <a:gd name="adj" fmla="val 9783"/>
            </a:avLst>
          </a:prstGeom>
          <a:solidFill>
            <a:srgbClr val="ECEAE4"/>
          </a:solidFill>
          <a:ln w="12700">
            <a:solidFill>
              <a:srgbClr val="ECEAE4"/>
            </a:solidFill>
            <a:prstDash val="solid"/>
          </a:ln>
        </p:spPr>
        <p:txBody>
          <a:bodyPr/>
          <a:p/>
        </p:txBody>
      </p:sp>
      <p:sp>
        <p:nvSpPr>
          <p:cNvPr id="5" name="Shape 3"/>
          <p:cNvSpPr/>
          <p:nvPr/>
        </p:nvSpPr>
        <p:spPr>
          <a:xfrm>
            <a:off x="868680" y="1947672"/>
            <a:ext cx="420624" cy="420624"/>
          </a:xfrm>
          <a:prstGeom prst="ellipse">
            <a:avLst/>
          </a:prstGeom>
          <a:solidFill>
            <a:srgbClr val="FF4757"/>
          </a:solidFill>
          <a:ln/>
        </p:spPr>
        <p:txBody>
          <a:bodyPr/>
          <a:p/>
        </p:txBody>
      </p:sp>
      <p:sp>
        <p:nvSpPr>
          <p:cNvPr id="6" name="Text 4"/>
          <p:cNvSpPr/>
          <p:nvPr/>
        </p:nvSpPr>
        <p:spPr>
          <a:xfrm>
            <a:off x="868680" y="194767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737360"/>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Puneți și a doua întrebare: câți pacienți ca acesta există și ce s-ar fi putut face înainte?</a:t>
            </a:r>
            <a:endParaRPr lang="en-US" sz="1800" dirty="0"/>
          </a:p>
        </p:txBody>
      </p:sp>
      <p:sp>
        <p:nvSpPr>
          <p:cNvPr id="8" name="Shape 6"/>
          <p:cNvSpPr/>
          <p:nvPr/>
        </p:nvSpPr>
        <p:spPr>
          <a:xfrm>
            <a:off x="594360" y="2724912"/>
            <a:ext cx="10972800" cy="841248"/>
          </a:xfrm>
          <a:prstGeom prst="roundRect">
            <a:avLst>
              <a:gd name="adj" fmla="val 9783"/>
            </a:avLst>
          </a:prstGeom>
          <a:solidFill>
            <a:srgbClr val="F9F8F5"/>
          </a:solidFill>
          <a:ln w="12700">
            <a:solidFill>
              <a:srgbClr val="F9F8F5"/>
            </a:solidFill>
            <a:prstDash val="solid"/>
          </a:ln>
        </p:spPr>
        <p:txBody>
          <a:bodyPr/>
          <a:p/>
        </p:txBody>
      </p:sp>
      <p:sp>
        <p:nvSpPr>
          <p:cNvPr id="9" name="Shape 7"/>
          <p:cNvSpPr/>
          <p:nvPr/>
        </p:nvSpPr>
        <p:spPr>
          <a:xfrm>
            <a:off x="868680" y="2935224"/>
            <a:ext cx="420624" cy="420624"/>
          </a:xfrm>
          <a:prstGeom prst="ellipse">
            <a:avLst/>
          </a:prstGeom>
          <a:solidFill>
            <a:srgbClr val="FF4757"/>
          </a:solidFill>
          <a:ln/>
        </p:spPr>
        <p:txBody>
          <a:bodyPr/>
          <a:p/>
        </p:txBody>
      </p:sp>
      <p:sp>
        <p:nvSpPr>
          <p:cNvPr id="10" name="Text 8"/>
          <p:cNvSpPr/>
          <p:nvPr/>
        </p:nvSpPr>
        <p:spPr>
          <a:xfrm>
            <a:off x="868680" y="29352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724912"/>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Raportați cazurile care trebuie raportate: raportarea dumneavoastră este prima verigă a supravegherii.</a:t>
            </a:r>
            <a:endParaRPr lang="en-US" sz="1800" dirty="0"/>
          </a:p>
        </p:txBody>
      </p:sp>
      <p:sp>
        <p:nvSpPr>
          <p:cNvPr id="12" name="Shape 10"/>
          <p:cNvSpPr/>
          <p:nvPr/>
        </p:nvSpPr>
        <p:spPr>
          <a:xfrm>
            <a:off x="594360" y="3712464"/>
            <a:ext cx="10972800" cy="841248"/>
          </a:xfrm>
          <a:prstGeom prst="roundRect">
            <a:avLst>
              <a:gd name="adj" fmla="val 9783"/>
            </a:avLst>
          </a:prstGeom>
          <a:solidFill>
            <a:srgbClr val="ECEAE4"/>
          </a:solidFill>
          <a:ln w="12700">
            <a:solidFill>
              <a:srgbClr val="ECEAE4"/>
            </a:solidFill>
            <a:prstDash val="solid"/>
          </a:ln>
        </p:spPr>
        <p:txBody>
          <a:bodyPr/>
          <a:p/>
        </p:txBody>
      </p:sp>
      <p:sp>
        <p:nvSpPr>
          <p:cNvPr id="13" name="Shape 11"/>
          <p:cNvSpPr/>
          <p:nvPr/>
        </p:nvSpPr>
        <p:spPr>
          <a:xfrm>
            <a:off x="868680" y="3922776"/>
            <a:ext cx="420624" cy="420624"/>
          </a:xfrm>
          <a:prstGeom prst="ellipse">
            <a:avLst/>
          </a:prstGeom>
          <a:solidFill>
            <a:srgbClr val="FF4757"/>
          </a:solidFill>
          <a:ln/>
        </p:spPr>
        <p:txBody>
          <a:bodyPr/>
          <a:p/>
        </p:txBody>
      </p:sp>
      <p:sp>
        <p:nvSpPr>
          <p:cNvPr id="14" name="Text 12"/>
          <p:cNvSpPr/>
          <p:nvPr/>
        </p:nvSpPr>
        <p:spPr>
          <a:xfrm>
            <a:off x="868680" y="392277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712464"/>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Întrebați pacientul cu reinternări repetate unde locuiește, cu cine și din ce trăiește: sunt informații clinice.</a:t>
            </a:r>
            <a:endParaRPr lang="en-US" sz="1800" dirty="0"/>
          </a:p>
        </p:txBody>
      </p:sp>
      <p:sp>
        <p:nvSpPr>
          <p:cNvPr id="16" name="Shape 14"/>
          <p:cNvSpPr/>
          <p:nvPr/>
        </p:nvSpPr>
        <p:spPr>
          <a:xfrm>
            <a:off x="594360" y="4700016"/>
            <a:ext cx="10972800" cy="841248"/>
          </a:xfrm>
          <a:prstGeom prst="roundRect">
            <a:avLst>
              <a:gd name="adj" fmla="val 9783"/>
            </a:avLst>
          </a:prstGeom>
          <a:solidFill>
            <a:srgbClr val="F9F8F5"/>
          </a:solidFill>
          <a:ln w="12700">
            <a:solidFill>
              <a:srgbClr val="F9F8F5"/>
            </a:solidFill>
            <a:prstDash val="solid"/>
          </a:ln>
        </p:spPr>
        <p:txBody>
          <a:bodyPr/>
          <a:p/>
        </p:txBody>
      </p:sp>
      <p:sp>
        <p:nvSpPr>
          <p:cNvPr id="17" name="Shape 15"/>
          <p:cNvSpPr/>
          <p:nvPr/>
        </p:nvSpPr>
        <p:spPr>
          <a:xfrm>
            <a:off x="868680" y="4910328"/>
            <a:ext cx="420624" cy="420624"/>
          </a:xfrm>
          <a:prstGeom prst="ellipse">
            <a:avLst/>
          </a:prstGeom>
          <a:solidFill>
            <a:srgbClr val="FF4757"/>
          </a:solidFill>
          <a:ln/>
        </p:spPr>
        <p:txBody>
          <a:bodyPr/>
          <a:p/>
        </p:txBody>
      </p:sp>
      <p:sp>
        <p:nvSpPr>
          <p:cNvPr id="18" name="Text 16"/>
          <p:cNvSpPr/>
          <p:nvPr/>
        </p:nvSpPr>
        <p:spPr>
          <a:xfrm>
            <a:off x="868680" y="49103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700016"/>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Când o problemă se repetă, semnalați-o celor care pot decide.</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5" name="Text 13"/>
          <p:cNvSpPr/>
          <p:nvPr/>
        </p:nvSpPr>
        <p:spPr>
          <a:xfrm>
            <a:off x="8549640" y="2514600"/>
            <a:ext cx="3017520" cy="246888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La începutul săptămânii viitoare, pe pagina disciplinei, veți găsi două modificări făcute pe baza răspunsurilor.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1 - Același pacient, a treia oară</dc:title>
  <dc:subject>PptxGenJS Presentation</dc:subject>
  <dc:creator>Conf. Univ. Dr. Adrian Pana</dc:creator>
  <cp:lastModifiedBy>Conf. Univ. Dr. Adrian Pana</cp:lastModifiedBy>
  <cp:revision>1</cp:revision>
  <dcterms:created xsi:type="dcterms:W3CDTF">2026-10-03T19:53:25Z</dcterms:created>
  <dcterms:modified xsi:type="dcterms:W3CDTF">2026-10-03T19:53:25Z</dcterms:modified>
  <cp:keywords>sursa_amprenta=453756d1b824f900; proiectie</cp:keywords>
</cp:coreProperties>
</file>