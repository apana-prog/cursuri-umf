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COURS 6  ·  SANTÉ PUBLIQUE ET MANAGEMENT</a:t>
            </a:r>
            <a:endParaRPr lang="en-US" sz="1300" dirty="0"/>
          </a:p>
        </p:txBody>
      </p:sp>
      <p:sp>
        <p:nvSpPr>
          <p:cNvPr id="4" name="Text 2"/>
          <p:cNvSpPr/>
          <p:nvPr/>
        </p:nvSpPr>
        <p:spPr>
          <a:xfrm>
            <a:off x="640080" y="1463040"/>
            <a:ext cx="10789920" cy="1280160"/>
          </a:xfrm>
          <a:prstGeom prst="rect">
            <a:avLst/>
          </a:prstGeom>
          <a:noFill/>
          <a:ln/>
        </p:spPr>
        <p:txBody>
          <a:bodyPr wrap="square" lIns="0" tIns="0" rIns="0" bIns="0" rtlCol="0" anchor="t"/>
          <a:lstStyle/>
          <a:p>
            <a:pPr indent="0" marL="0">
              <a:buNone/>
            </a:pPr>
            <a:r>
              <a:rPr lang="en-US" sz="5200" b="1" dirty="0">
                <a:solidFill>
                  <a:srgbClr val="FFFFFF"/>
                </a:solidFill>
                <a:latin typeface="Palatino Linotype" pitchFamily="34" charset="0"/>
                <a:ea typeface="Palatino Linotype" pitchFamily="34" charset="-122"/>
                <a:cs typeface="Palatino Linotype" pitchFamily="34" charset="-120"/>
              </a:rPr>
              <a:t>On sait, mais on ne fait pas</a:t>
            </a:r>
            <a:endParaRPr lang="en-US" sz="5200" dirty="0"/>
          </a:p>
        </p:txBody>
      </p:sp>
      <p:sp>
        <p:nvSpPr>
          <p:cNvPr id="5" name="Text 3"/>
          <p:cNvSpPr/>
          <p:nvPr/>
        </p:nvSpPr>
        <p:spPr>
          <a:xfrm>
            <a:off x="640080" y="2788920"/>
            <a:ext cx="10424160" cy="1280160"/>
          </a:xfrm>
          <a:prstGeom prst="rect">
            <a:avLst/>
          </a:prstGeom>
          <a:noFill/>
          <a:ln/>
        </p:spPr>
        <p:txBody>
          <a:bodyPr wrap="square" lIns="0" tIns="0" rIns="0" bIns="0" rtlCol="0" anchor="t"/>
          <a:lstStyle/>
          <a:p>
            <a:pPr indent="0" marL="0">
              <a:buNone/>
            </a:pPr>
            <a:r>
              <a:rPr lang="en-US" sz="2300" b="1" dirty="0">
                <a:solidFill>
                  <a:srgbClr val="27D3BE"/>
                </a:solidFill>
                <a:latin typeface="Palatino Linotype" pitchFamily="34" charset="0"/>
                <a:ea typeface="Palatino Linotype" pitchFamily="34" charset="-122"/>
                <a:cs typeface="Palatino Linotype" pitchFamily="34" charset="-120"/>
              </a:rPr>
              <a:t>Promotion de la santé. Modèles comportementaux. Littératie en santé. Santé mentale dans une perspective populationnelle</a:t>
            </a:r>
            <a:endParaRPr lang="en-US" sz="2300" dirty="0"/>
          </a:p>
        </p:txBody>
      </p:sp>
      <p:sp>
        <p:nvSpPr>
          <p:cNvPr id="6" name="Shape 4"/>
          <p:cNvSpPr/>
          <p:nvPr/>
        </p:nvSpPr>
        <p:spPr>
          <a:xfrm>
            <a:off x="667512" y="4343400"/>
            <a:ext cx="1280160" cy="27432"/>
          </a:xfrm>
          <a:prstGeom prst="rect">
            <a:avLst/>
          </a:prstGeom>
          <a:solidFill>
            <a:srgbClr val="FF4757"/>
          </a:solidFill>
          <a:ln w="12700">
            <a:solidFill>
              <a:srgbClr val="FF4757"/>
            </a:solidFill>
            <a:prstDash val="solid"/>
          </a:ln>
        </p:spPr>
      </p:sp>
      <p:sp>
        <p:nvSpPr>
          <p:cNvPr id="7" name="Text 5"/>
          <p:cNvSpPr/>
          <p:nvPr/>
        </p:nvSpPr>
        <p:spPr>
          <a:xfrm>
            <a:off x="640080" y="4526280"/>
            <a:ext cx="10515600" cy="82296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Un patient qui sait ce qui lui fait du mal, et une question : qui pourrait changer quelque chose pour lui et pour les personnes comme lui ?</a:t>
            </a:r>
            <a:endParaRPr lang="en-US" sz="1700" dirty="0"/>
          </a:p>
        </p:txBody>
      </p:sp>
      <p:sp>
        <p:nvSpPr>
          <p:cNvPr id="8" name="Text 6"/>
          <p:cNvSpPr/>
          <p:nvPr/>
        </p:nvSpPr>
        <p:spPr>
          <a:xfrm>
            <a:off x="640080" y="566928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Cluj-Napoca · Médecine, sixième année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CAS DU JOUR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M. Vasile, 56 ans</a:t>
            </a:r>
            <a:endParaRPr lang="en-US" sz="3400" dirty="0"/>
          </a:p>
        </p:txBody>
      </p:sp>
      <p:sp>
        <p:nvSpPr>
          <p:cNvPr id="4" name="Text 2"/>
          <p:cNvSpPr/>
          <p:nvPr/>
        </p:nvSpPr>
        <p:spPr>
          <a:xfrm>
            <a:off x="594360" y="1508760"/>
            <a:ext cx="10972800" cy="822960"/>
          </a:xfrm>
          <a:prstGeom prst="rect">
            <a:avLst/>
          </a:prstGeom>
          <a:noFill/>
          <a:ln/>
        </p:spPr>
        <p:txBody>
          <a:bodyPr wrap="square" lIns="0" tIns="0" rIns="0" bIns="0" rtlCol="0" anchor="t"/>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Son usine a fermé après 20 ans. Il fume un paquet par jour et sait que « le tabac donne le cancer ».</a:t>
            </a:r>
            <a:endParaRPr lang="en-US" sz="2000" dirty="0"/>
          </a:p>
        </p:txBody>
      </p:sp>
      <p:sp>
        <p:nvSpPr>
          <p:cNvPr id="5" name="Shape 3"/>
          <p:cNvSpPr/>
          <p:nvPr/>
        </p:nvSpPr>
        <p:spPr>
          <a:xfrm>
            <a:off x="594360" y="2468880"/>
            <a:ext cx="3505200" cy="2148840"/>
          </a:xfrm>
          <a:prstGeom prst="roundRect">
            <a:avLst>
              <a:gd name="adj" fmla="val 3830"/>
            </a:avLst>
          </a:prstGeom>
          <a:solidFill>
            <a:srgbClr val="ECEAE4"/>
          </a:solidFill>
          <a:ln w="12700">
            <a:solidFill>
              <a:srgbClr val="ECEAE4"/>
            </a:solidFill>
            <a:prstDash val="solid"/>
          </a:ln>
        </p:spPr>
      </p:sp>
      <p:sp>
        <p:nvSpPr>
          <p:cNvPr id="6" name="Text 4"/>
          <p:cNvSpPr/>
          <p:nvPr/>
        </p:nvSpPr>
        <p:spPr>
          <a:xfrm>
            <a:off x="795528" y="2596896"/>
            <a:ext cx="3102864" cy="384048"/>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LE KIT</a:t>
            </a:r>
            <a:endParaRPr lang="en-US" sz="1250" dirty="0"/>
          </a:p>
        </p:txBody>
      </p:sp>
      <p:sp>
        <p:nvSpPr>
          <p:cNvPr id="7" name="Text 5"/>
          <p:cNvSpPr/>
          <p:nvPr/>
        </p:nvSpPr>
        <p:spPr>
          <a:xfrm>
            <a:off x="795528" y="2980944"/>
            <a:ext cx="3102864" cy="15087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 recherche de sang occulte dans les selles, dans le tiroir depuis six mois</a:t>
            </a:r>
            <a:endParaRPr lang="en-US" sz="1700" dirty="0"/>
          </a:p>
        </p:txBody>
      </p:sp>
      <p:sp>
        <p:nvSpPr>
          <p:cNvPr id="8" name="Shape 6"/>
          <p:cNvSpPr/>
          <p:nvPr/>
        </p:nvSpPr>
        <p:spPr>
          <a:xfrm>
            <a:off x="4328160" y="2468880"/>
            <a:ext cx="3505200" cy="2148840"/>
          </a:xfrm>
          <a:prstGeom prst="roundRect">
            <a:avLst>
              <a:gd name="adj" fmla="val 3830"/>
            </a:avLst>
          </a:prstGeom>
          <a:solidFill>
            <a:srgbClr val="ECEAE4"/>
          </a:solidFill>
          <a:ln w="12700">
            <a:solidFill>
              <a:srgbClr val="ECEAE4"/>
            </a:solidFill>
            <a:prstDash val="solid"/>
          </a:ln>
        </p:spPr>
      </p:sp>
      <p:sp>
        <p:nvSpPr>
          <p:cNvPr id="9" name="Text 7"/>
          <p:cNvSpPr/>
          <p:nvPr/>
        </p:nvSpPr>
        <p:spPr>
          <a:xfrm>
            <a:off x="4529328" y="2596896"/>
            <a:ext cx="3102864" cy="384048"/>
          </a:xfrm>
          <a:prstGeom prst="rect">
            <a:avLst/>
          </a:prstGeom>
          <a:noFill/>
          <a:ln/>
        </p:spPr>
        <p:txBody>
          <a:bodyPr wrap="square" lIns="0" tIns="0" rIns="0" bIns="0" rtlCol="0" anchor="t"/>
          <a:lstStyle/>
          <a:p>
            <a:pPr indent="0" marL="0">
              <a:buNone/>
            </a:pPr>
            <a:r>
              <a:rPr lang="en-US" sz="1250" b="1" spc="100" kern="0" dirty="0">
                <a:solidFill>
                  <a:srgbClr val="4A2D8C"/>
                </a:solidFill>
                <a:latin typeface="Palatino Linotype" pitchFamily="34" charset="0"/>
                <a:ea typeface="Palatino Linotype" pitchFamily="34" charset="-122"/>
                <a:cs typeface="Palatino Linotype" pitchFamily="34" charset="-120"/>
              </a:rPr>
              <a:t>DEPUIS QU’IL EST AU CHÔMAGE</a:t>
            </a:r>
            <a:endParaRPr lang="en-US" sz="1250" dirty="0"/>
          </a:p>
        </p:txBody>
      </p:sp>
      <p:sp>
        <p:nvSpPr>
          <p:cNvPr id="10" name="Text 8"/>
          <p:cNvSpPr/>
          <p:nvPr/>
        </p:nvSpPr>
        <p:spPr>
          <a:xfrm>
            <a:off x="4529328" y="2980944"/>
            <a:ext cx="3102864" cy="15087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il dort mal, a maigri, ne sort plus : « ça ne sert plus à rien »</a:t>
            </a:r>
            <a:endParaRPr lang="en-US" sz="1700" dirty="0"/>
          </a:p>
        </p:txBody>
      </p:sp>
      <p:sp>
        <p:nvSpPr>
          <p:cNvPr id="11" name="Shape 9"/>
          <p:cNvSpPr/>
          <p:nvPr/>
        </p:nvSpPr>
        <p:spPr>
          <a:xfrm>
            <a:off x="8061960" y="2468880"/>
            <a:ext cx="3505200" cy="2148840"/>
          </a:xfrm>
          <a:prstGeom prst="roundRect">
            <a:avLst>
              <a:gd name="adj" fmla="val 3830"/>
            </a:avLst>
          </a:prstGeom>
          <a:solidFill>
            <a:srgbClr val="ECEAE4"/>
          </a:solidFill>
          <a:ln w="12700">
            <a:solidFill>
              <a:srgbClr val="ECEAE4"/>
            </a:solidFill>
            <a:prstDash val="solid"/>
          </a:ln>
        </p:spPr>
      </p:sp>
      <p:sp>
        <p:nvSpPr>
          <p:cNvPr id="12" name="Text 10"/>
          <p:cNvSpPr/>
          <p:nvPr/>
        </p:nvSpPr>
        <p:spPr>
          <a:xfrm>
            <a:off x="8263128" y="2596896"/>
            <a:ext cx="3102864" cy="384048"/>
          </a:xfrm>
          <a:prstGeom prst="rect">
            <a:avLst/>
          </a:prstGeom>
          <a:noFill/>
          <a:ln/>
        </p:spPr>
        <p:txBody>
          <a:bodyPr wrap="square" lIns="0" tIns="0" rIns="0" bIns="0" rtlCol="0" anchor="t"/>
          <a:lstStyle/>
          <a:p>
            <a:pPr indent="0" marL="0">
              <a:buNone/>
            </a:pPr>
            <a:r>
              <a:rPr lang="en-US" sz="1250" b="1" spc="100" kern="0" dirty="0">
                <a:solidFill>
                  <a:srgbClr val="0E7C6B"/>
                </a:solidFill>
                <a:latin typeface="Palatino Linotype" pitchFamily="34" charset="0"/>
                <a:ea typeface="Palatino Linotype" pitchFamily="34" charset="-122"/>
                <a:cs typeface="Palatino Linotype" pitchFamily="34" charset="-120"/>
              </a:rPr>
              <a:t>SA FILLE, FUTURE MÉDECIN</a:t>
            </a:r>
            <a:endParaRPr lang="en-US" sz="1250" dirty="0"/>
          </a:p>
        </p:txBody>
      </p:sp>
      <p:sp>
        <p:nvSpPr>
          <p:cNvPr id="13" name="Text 11"/>
          <p:cNvSpPr/>
          <p:nvPr/>
        </p:nvSpPr>
        <p:spPr>
          <a:xfrm>
            <a:off x="8263128" y="2980944"/>
            <a:ext cx="3102864" cy="15087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lui a envoyé un article sur le dépistage ; lui, une vidéo sur le « cancer provoqué par la coloscopie »</a:t>
            </a:r>
            <a:endParaRPr lang="en-US" sz="1700" dirty="0"/>
          </a:p>
        </p:txBody>
      </p:sp>
      <p:sp>
        <p:nvSpPr>
          <p:cNvPr id="14" name="Shape 12"/>
          <p:cNvSpPr/>
          <p:nvPr/>
        </p:nvSpPr>
        <p:spPr>
          <a:xfrm>
            <a:off x="594360" y="4846320"/>
            <a:ext cx="10972800" cy="868680"/>
          </a:xfrm>
          <a:prstGeom prst="roundRect">
            <a:avLst>
              <a:gd name="adj" fmla="val 9474"/>
            </a:avLst>
          </a:prstGeom>
          <a:solidFill>
            <a:srgbClr val="11121A"/>
          </a:solidFill>
          <a:ln w="12700">
            <a:solidFill>
              <a:srgbClr val="11121A"/>
            </a:solidFill>
            <a:prstDash val="solid"/>
          </a:ln>
        </p:spPr>
      </p:sp>
      <p:sp>
        <p:nvSpPr>
          <p:cNvPr id="15" name="Text 13"/>
          <p:cNvSpPr/>
          <p:nvPr/>
        </p:nvSpPr>
        <p:spPr>
          <a:xfrm>
            <a:off x="868680" y="4846320"/>
            <a:ext cx="10424160" cy="86868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Pourquoi ne fait-il pas ce qu’il sait devoir faire ?</a:t>
            </a:r>
            <a:endParaRPr lang="en-US" sz="21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Cas construit ; valeurs hypothétiques.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NUAGE DE MOTS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AVANT TOUT MODÈLE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Pourquoi n’a-t-il pas fait le test ?</a:t>
            </a:r>
            <a:endParaRPr lang="en-US" sz="3400" dirty="0"/>
          </a:p>
        </p:txBody>
      </p:sp>
      <p:sp>
        <p:nvSpPr>
          <p:cNvPr id="6" name="Shape 4"/>
          <p:cNvSpPr/>
          <p:nvPr/>
        </p:nvSpPr>
        <p:spPr>
          <a:xfrm>
            <a:off x="594360" y="1920240"/>
            <a:ext cx="10972800" cy="2103120"/>
          </a:xfrm>
          <a:prstGeom prst="roundRect">
            <a:avLst>
              <a:gd name="adj" fmla="val 3913"/>
            </a:avLst>
          </a:prstGeom>
          <a:solidFill>
            <a:srgbClr val="1D1F2B"/>
          </a:solidFill>
          <a:ln w="12700">
            <a:solidFill>
              <a:srgbClr val="1D1F2B"/>
            </a:solidFill>
            <a:prstDash val="solid"/>
          </a:ln>
        </p:spPr>
      </p:sp>
      <p:sp>
        <p:nvSpPr>
          <p:cNvPr id="7" name="Text 5"/>
          <p:cNvSpPr/>
          <p:nvPr/>
        </p:nvSpPr>
        <p:spPr>
          <a:xfrm>
            <a:off x="914400" y="1920240"/>
            <a:ext cx="10332720" cy="2103120"/>
          </a:xfrm>
          <a:prstGeom prst="rect">
            <a:avLst/>
          </a:prstGeom>
          <a:noFill/>
          <a:ln/>
        </p:spPr>
        <p:txBody>
          <a:bodyPr wrap="square" lIns="0" tIns="0" rIns="0" bIns="0" rtlCol="0" anchor="ctr"/>
          <a:lstStyle/>
          <a:p>
            <a:pPr indent="0" marL="0">
              <a:buNone/>
            </a:pPr>
            <a:r>
              <a:rPr lang="en-US" sz="3000" dirty="0">
                <a:solidFill>
                  <a:srgbClr val="FFFFFF"/>
                </a:solidFill>
                <a:latin typeface="Palatino Linotype" pitchFamily="34" charset="0"/>
                <a:ea typeface="Palatino Linotype" pitchFamily="34" charset="-122"/>
                <a:cs typeface="Palatino Linotype" pitchFamily="34" charset="-120"/>
              </a:rPr>
              <a:t>Pourquoi, selon vous, M. Vasile n’a-t-il pas fait le test ?</a:t>
            </a:r>
            <a:endParaRPr lang="en-US" sz="3000" dirty="0"/>
          </a:p>
        </p:txBody>
      </p:sp>
      <p:sp>
        <p:nvSpPr>
          <p:cNvPr id="8" name="Text 6"/>
          <p:cNvSpPr/>
          <p:nvPr/>
        </p:nvSpPr>
        <p:spPr>
          <a:xfrm>
            <a:off x="594360" y="4343400"/>
            <a:ext cx="10972800" cy="4572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Un à trois mots.</a:t>
            </a:r>
            <a:endParaRPr lang="en-US" sz="2000" dirty="0"/>
          </a:p>
        </p:txBody>
      </p:sp>
      <p:sp>
        <p:nvSpPr>
          <p:cNvPr id="9" name="Text 7"/>
          <p:cNvSpPr/>
          <p:nvPr/>
        </p:nvSpPr>
        <p:spPr>
          <a:xfrm>
            <a:off x="594360" y="493776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UNE RÉPONSE PROVISOIRE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Son problème n’est pas le manque d’information</a:t>
            </a:r>
            <a:endParaRPr lang="en-US" sz="3200" dirty="0"/>
          </a:p>
        </p:txBody>
      </p:sp>
      <p:sp>
        <p:nvSpPr>
          <p:cNvPr id="4" name="Text 2"/>
          <p:cNvSpPr/>
          <p:nvPr/>
        </p:nvSpPr>
        <p:spPr>
          <a:xfrm>
            <a:off x="594360" y="1508760"/>
            <a:ext cx="10972800" cy="457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Un dépliant de plus ne touche pas ce qui l’arrête :</a:t>
            </a:r>
            <a:endParaRPr lang="en-US" sz="1900" dirty="0"/>
          </a:p>
        </p:txBody>
      </p:sp>
      <p:sp>
        <p:nvSpPr>
          <p:cNvPr id="5" name="Shape 3"/>
          <p:cNvSpPr/>
          <p:nvPr/>
        </p:nvSpPr>
        <p:spPr>
          <a:xfrm>
            <a:off x="594360" y="2103120"/>
            <a:ext cx="2606040" cy="1051560"/>
          </a:xfrm>
          <a:prstGeom prst="roundRect">
            <a:avLst>
              <a:gd name="adj" fmla="val 7826"/>
            </a:avLst>
          </a:prstGeom>
          <a:solidFill>
            <a:srgbClr val="B02532"/>
          </a:solidFill>
          <a:ln w="12700">
            <a:solidFill>
              <a:srgbClr val="B02532"/>
            </a:solidFill>
            <a:prstDash val="solid"/>
          </a:ln>
        </p:spPr>
      </p:sp>
      <p:sp>
        <p:nvSpPr>
          <p:cNvPr id="6" name="Text 4"/>
          <p:cNvSpPr/>
          <p:nvPr/>
        </p:nvSpPr>
        <p:spPr>
          <a:xfrm>
            <a:off x="731520" y="2103120"/>
            <a:ext cx="233172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ce qu’il peut faire</a:t>
            </a:r>
            <a:endParaRPr lang="en-US" sz="1700" dirty="0"/>
          </a:p>
        </p:txBody>
      </p:sp>
      <p:sp>
        <p:nvSpPr>
          <p:cNvPr id="7" name="Shape 5"/>
          <p:cNvSpPr/>
          <p:nvPr/>
        </p:nvSpPr>
        <p:spPr>
          <a:xfrm>
            <a:off x="3383280" y="2103120"/>
            <a:ext cx="2606040" cy="1051560"/>
          </a:xfrm>
          <a:prstGeom prst="roundRect">
            <a:avLst>
              <a:gd name="adj" fmla="val 7826"/>
            </a:avLst>
          </a:prstGeom>
          <a:solidFill>
            <a:srgbClr val="9C4A0A"/>
          </a:solidFill>
          <a:ln w="12700">
            <a:solidFill>
              <a:srgbClr val="9C4A0A"/>
            </a:solidFill>
            <a:prstDash val="solid"/>
          </a:ln>
        </p:spPr>
      </p:sp>
      <p:sp>
        <p:nvSpPr>
          <p:cNvPr id="8" name="Text 6"/>
          <p:cNvSpPr/>
          <p:nvPr/>
        </p:nvSpPr>
        <p:spPr>
          <a:xfrm>
            <a:off x="3520440" y="2103120"/>
            <a:ext cx="233172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ce que lui permet son milieu</a:t>
            </a:r>
            <a:endParaRPr lang="en-US" sz="1700" dirty="0"/>
          </a:p>
        </p:txBody>
      </p:sp>
      <p:sp>
        <p:nvSpPr>
          <p:cNvPr id="9" name="Shape 7"/>
          <p:cNvSpPr/>
          <p:nvPr/>
        </p:nvSpPr>
        <p:spPr>
          <a:xfrm>
            <a:off x="6172200" y="2103120"/>
            <a:ext cx="2606040" cy="1051560"/>
          </a:xfrm>
          <a:prstGeom prst="roundRect">
            <a:avLst>
              <a:gd name="adj" fmla="val 7826"/>
            </a:avLst>
          </a:prstGeom>
          <a:solidFill>
            <a:srgbClr val="4A2D8C"/>
          </a:solidFill>
          <a:ln w="12700">
            <a:solidFill>
              <a:srgbClr val="4A2D8C"/>
            </a:solidFill>
            <a:prstDash val="solid"/>
          </a:ln>
        </p:spPr>
      </p:sp>
      <p:sp>
        <p:nvSpPr>
          <p:cNvPr id="10" name="Text 8"/>
          <p:cNvSpPr/>
          <p:nvPr/>
        </p:nvSpPr>
        <p:spPr>
          <a:xfrm>
            <a:off x="6309360" y="2103120"/>
            <a:ext cx="233172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ce qui le met en mouvement</a:t>
            </a:r>
            <a:endParaRPr lang="en-US" sz="1700" dirty="0"/>
          </a:p>
        </p:txBody>
      </p:sp>
      <p:sp>
        <p:nvSpPr>
          <p:cNvPr id="11" name="Shape 9"/>
          <p:cNvSpPr/>
          <p:nvPr/>
        </p:nvSpPr>
        <p:spPr>
          <a:xfrm>
            <a:off x="8961120" y="2103120"/>
            <a:ext cx="2606040" cy="1051560"/>
          </a:xfrm>
          <a:prstGeom prst="roundRect">
            <a:avLst>
              <a:gd name="adj" fmla="val 7826"/>
            </a:avLst>
          </a:prstGeom>
          <a:solidFill>
            <a:srgbClr val="0E7C6B"/>
          </a:solidFill>
          <a:ln w="12700">
            <a:solidFill>
              <a:srgbClr val="0E7C6B"/>
            </a:solidFill>
            <a:prstDash val="solid"/>
          </a:ln>
        </p:spPr>
      </p:sp>
      <p:sp>
        <p:nvSpPr>
          <p:cNvPr id="12" name="Text 10"/>
          <p:cNvSpPr/>
          <p:nvPr/>
        </p:nvSpPr>
        <p:spPr>
          <a:xfrm>
            <a:off x="9098280" y="2103120"/>
            <a:ext cx="233172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son état psychique</a:t>
            </a:r>
            <a:endParaRPr lang="en-US" sz="1700" dirty="0"/>
          </a:p>
        </p:txBody>
      </p:sp>
      <p:sp>
        <p:nvSpPr>
          <p:cNvPr id="13" name="Text 11"/>
          <p:cNvSpPr/>
          <p:nvPr/>
        </p:nvSpPr>
        <p:spPr>
          <a:xfrm>
            <a:off x="594360" y="3520440"/>
            <a:ext cx="1097280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COURS, EN QUATRE PARTIES</a:t>
            </a:r>
            <a:endParaRPr lang="en-US" sz="1300" dirty="0"/>
          </a:p>
        </p:txBody>
      </p:sp>
      <p:sp>
        <p:nvSpPr>
          <p:cNvPr id="14" name="Shape 12"/>
          <p:cNvSpPr/>
          <p:nvPr/>
        </p:nvSpPr>
        <p:spPr>
          <a:xfrm>
            <a:off x="594360" y="3977640"/>
            <a:ext cx="2606040" cy="1737360"/>
          </a:xfrm>
          <a:prstGeom prst="roundRect">
            <a:avLst>
              <a:gd name="adj" fmla="val 4737"/>
            </a:avLst>
          </a:prstGeom>
          <a:solidFill>
            <a:srgbClr val="ECEAE4"/>
          </a:solidFill>
          <a:ln w="12700">
            <a:solidFill>
              <a:srgbClr val="ECEAE4"/>
            </a:solidFill>
            <a:prstDash val="solid"/>
          </a:ln>
        </p:spPr>
      </p:sp>
      <p:sp>
        <p:nvSpPr>
          <p:cNvPr id="15" name="Shape 13"/>
          <p:cNvSpPr/>
          <p:nvPr/>
        </p:nvSpPr>
        <p:spPr>
          <a:xfrm>
            <a:off x="777240" y="4114800"/>
            <a:ext cx="420624" cy="420624"/>
          </a:xfrm>
          <a:prstGeom prst="ellipse">
            <a:avLst/>
          </a:prstGeom>
          <a:solidFill>
            <a:srgbClr val="FF4757"/>
          </a:solidFill>
          <a:ln/>
        </p:spPr>
      </p:sp>
      <p:sp>
        <p:nvSpPr>
          <p:cNvPr id="16" name="Text 14"/>
          <p:cNvSpPr/>
          <p:nvPr/>
        </p:nvSpPr>
        <p:spPr>
          <a:xfrm>
            <a:off x="777240" y="41148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7" name="Text 15"/>
          <p:cNvSpPr/>
          <p:nvPr/>
        </p:nvSpPr>
        <p:spPr>
          <a:xfrm>
            <a:off x="777240" y="4617720"/>
            <a:ext cx="2286000" cy="10058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promotion de la santé</a:t>
            </a:r>
            <a:endParaRPr lang="en-US" sz="1500" dirty="0"/>
          </a:p>
        </p:txBody>
      </p:sp>
      <p:sp>
        <p:nvSpPr>
          <p:cNvPr id="18" name="Shape 16"/>
          <p:cNvSpPr/>
          <p:nvPr/>
        </p:nvSpPr>
        <p:spPr>
          <a:xfrm>
            <a:off x="3383280" y="3977640"/>
            <a:ext cx="2606040" cy="1737360"/>
          </a:xfrm>
          <a:prstGeom prst="roundRect">
            <a:avLst>
              <a:gd name="adj" fmla="val 4737"/>
            </a:avLst>
          </a:prstGeom>
          <a:solidFill>
            <a:srgbClr val="ECEAE4"/>
          </a:solidFill>
          <a:ln w="12700">
            <a:solidFill>
              <a:srgbClr val="ECEAE4"/>
            </a:solidFill>
            <a:prstDash val="solid"/>
          </a:ln>
        </p:spPr>
      </p:sp>
      <p:sp>
        <p:nvSpPr>
          <p:cNvPr id="19" name="Shape 17"/>
          <p:cNvSpPr/>
          <p:nvPr/>
        </p:nvSpPr>
        <p:spPr>
          <a:xfrm>
            <a:off x="3566160" y="4114800"/>
            <a:ext cx="420624" cy="420624"/>
          </a:xfrm>
          <a:prstGeom prst="ellipse">
            <a:avLst/>
          </a:prstGeom>
          <a:solidFill>
            <a:srgbClr val="FF4757"/>
          </a:solidFill>
          <a:ln/>
        </p:spPr>
      </p:sp>
      <p:sp>
        <p:nvSpPr>
          <p:cNvPr id="20" name="Text 18"/>
          <p:cNvSpPr/>
          <p:nvPr/>
        </p:nvSpPr>
        <p:spPr>
          <a:xfrm>
            <a:off x="3566160" y="41148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21" name="Text 19"/>
          <p:cNvSpPr/>
          <p:nvPr/>
        </p:nvSpPr>
        <p:spPr>
          <a:xfrm>
            <a:off x="3566160" y="4617720"/>
            <a:ext cx="2286000" cy="10058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Deux modèles du comportement</a:t>
            </a:r>
            <a:endParaRPr lang="en-US" sz="1500" dirty="0"/>
          </a:p>
        </p:txBody>
      </p:sp>
      <p:sp>
        <p:nvSpPr>
          <p:cNvPr id="22" name="Shape 20"/>
          <p:cNvSpPr/>
          <p:nvPr/>
        </p:nvSpPr>
        <p:spPr>
          <a:xfrm>
            <a:off x="6172200" y="3977640"/>
            <a:ext cx="2606040" cy="1737360"/>
          </a:xfrm>
          <a:prstGeom prst="roundRect">
            <a:avLst>
              <a:gd name="adj" fmla="val 4737"/>
            </a:avLst>
          </a:prstGeom>
          <a:solidFill>
            <a:srgbClr val="ECEAE4"/>
          </a:solidFill>
          <a:ln w="12700">
            <a:solidFill>
              <a:srgbClr val="ECEAE4"/>
            </a:solidFill>
            <a:prstDash val="solid"/>
          </a:ln>
        </p:spPr>
      </p:sp>
      <p:sp>
        <p:nvSpPr>
          <p:cNvPr id="23" name="Shape 21"/>
          <p:cNvSpPr/>
          <p:nvPr/>
        </p:nvSpPr>
        <p:spPr>
          <a:xfrm>
            <a:off x="6355080" y="4114800"/>
            <a:ext cx="420624" cy="420624"/>
          </a:xfrm>
          <a:prstGeom prst="ellipse">
            <a:avLst/>
          </a:prstGeom>
          <a:solidFill>
            <a:srgbClr val="FF4757"/>
          </a:solidFill>
          <a:ln/>
        </p:spPr>
      </p:sp>
      <p:sp>
        <p:nvSpPr>
          <p:cNvPr id="24" name="Text 22"/>
          <p:cNvSpPr/>
          <p:nvPr/>
        </p:nvSpPr>
        <p:spPr>
          <a:xfrm>
            <a:off x="6355080" y="41148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25" name="Text 23"/>
          <p:cNvSpPr/>
          <p:nvPr/>
        </p:nvSpPr>
        <p:spPr>
          <a:xfrm>
            <a:off x="6355080" y="4617720"/>
            <a:ext cx="2286000" cy="10058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Littératie en santé et marketing social</a:t>
            </a:r>
            <a:endParaRPr lang="en-US" sz="1500" dirty="0"/>
          </a:p>
        </p:txBody>
      </p:sp>
      <p:sp>
        <p:nvSpPr>
          <p:cNvPr id="26" name="Shape 24"/>
          <p:cNvSpPr/>
          <p:nvPr/>
        </p:nvSpPr>
        <p:spPr>
          <a:xfrm>
            <a:off x="8961120" y="3977640"/>
            <a:ext cx="2606040" cy="1737360"/>
          </a:xfrm>
          <a:prstGeom prst="roundRect">
            <a:avLst>
              <a:gd name="adj" fmla="val 4737"/>
            </a:avLst>
          </a:prstGeom>
          <a:solidFill>
            <a:srgbClr val="ECEAE4"/>
          </a:solidFill>
          <a:ln w="12700">
            <a:solidFill>
              <a:srgbClr val="ECEAE4"/>
            </a:solidFill>
            <a:prstDash val="solid"/>
          </a:ln>
        </p:spPr>
      </p:sp>
      <p:sp>
        <p:nvSpPr>
          <p:cNvPr id="27" name="Shape 25"/>
          <p:cNvSpPr/>
          <p:nvPr/>
        </p:nvSpPr>
        <p:spPr>
          <a:xfrm>
            <a:off x="9144000" y="4114800"/>
            <a:ext cx="420624" cy="420624"/>
          </a:xfrm>
          <a:prstGeom prst="ellipse">
            <a:avLst/>
          </a:prstGeom>
          <a:solidFill>
            <a:srgbClr val="FF4757"/>
          </a:solidFill>
          <a:ln/>
        </p:spPr>
      </p:sp>
      <p:sp>
        <p:nvSpPr>
          <p:cNvPr id="28" name="Text 26"/>
          <p:cNvSpPr/>
          <p:nvPr/>
        </p:nvSpPr>
        <p:spPr>
          <a:xfrm>
            <a:off x="9144000" y="41148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9" name="Text 27"/>
          <p:cNvSpPr/>
          <p:nvPr/>
        </p:nvSpPr>
        <p:spPr>
          <a:xfrm>
            <a:off x="9144000" y="4617720"/>
            <a:ext cx="2286000" cy="10058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santé mentale de la population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 DÉPLIANT AUX POLITIQUES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La promotion de la santé : plus que l’information</a:t>
            </a:r>
            <a:endParaRPr lang="en-US" sz="3100" dirty="0"/>
          </a:p>
        </p:txBody>
      </p:sp>
      <p:sp>
        <p:nvSpPr>
          <p:cNvPr id="4" name="Shape 2"/>
          <p:cNvSpPr/>
          <p:nvPr/>
        </p:nvSpPr>
        <p:spPr>
          <a:xfrm>
            <a:off x="594360" y="1645920"/>
            <a:ext cx="10972800" cy="1280160"/>
          </a:xfrm>
          <a:prstGeom prst="roundRect">
            <a:avLst>
              <a:gd name="adj" fmla="val 6429"/>
            </a:avLst>
          </a:prstGeom>
          <a:solidFill>
            <a:srgbClr val="272A38"/>
          </a:solidFill>
          <a:ln w="12700">
            <a:solidFill>
              <a:srgbClr val="272A38"/>
            </a:solidFill>
            <a:prstDash val="solid"/>
          </a:ln>
        </p:spPr>
      </p:sp>
      <p:sp>
        <p:nvSpPr>
          <p:cNvPr id="5" name="Text 3"/>
          <p:cNvSpPr/>
          <p:nvPr/>
        </p:nvSpPr>
        <p:spPr>
          <a:xfrm>
            <a:off x="868680" y="1645920"/>
            <a:ext cx="10424160" cy="128016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Le processus qui permet aux gens d’accroître leur contrôle sur leur santé et de l’améliorer.</a:t>
            </a:r>
            <a:endParaRPr lang="en-US" sz="2100" dirty="0"/>
          </a:p>
        </p:txBody>
      </p:sp>
      <p:sp>
        <p:nvSpPr>
          <p:cNvPr id="6" name="Shape 4"/>
          <p:cNvSpPr/>
          <p:nvPr/>
        </p:nvSpPr>
        <p:spPr>
          <a:xfrm>
            <a:off x="594360" y="3154680"/>
            <a:ext cx="3505200" cy="2651760"/>
          </a:xfrm>
          <a:prstGeom prst="roundRect">
            <a:avLst>
              <a:gd name="adj" fmla="val 3103"/>
            </a:avLst>
          </a:prstGeom>
          <a:solidFill>
            <a:srgbClr val="1D1F2B"/>
          </a:solidFill>
          <a:ln w="12700">
            <a:solidFill>
              <a:srgbClr val="1D1F2B"/>
            </a:solidFill>
            <a:prstDash val="solid"/>
          </a:ln>
        </p:spPr>
      </p:sp>
      <p:sp>
        <p:nvSpPr>
          <p:cNvPr id="7" name="Text 5"/>
          <p:cNvSpPr/>
          <p:nvPr/>
        </p:nvSpPr>
        <p:spPr>
          <a:xfrm>
            <a:off x="795528" y="3282696"/>
            <a:ext cx="31028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L’ÉDUCATION POUR LA SANTÉ</a:t>
            </a:r>
            <a:endParaRPr lang="en-US" sz="1300" dirty="0"/>
          </a:p>
        </p:txBody>
      </p:sp>
      <p:sp>
        <p:nvSpPr>
          <p:cNvPr id="8" name="Text 6"/>
          <p:cNvSpPr/>
          <p:nvPr/>
        </p:nvSpPr>
        <p:spPr>
          <a:xfrm>
            <a:off x="795528" y="3666744"/>
            <a:ext cx="3102864" cy="20116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une partie de la promotion, non un synonyme : connaissances, motivation, littératie</a:t>
            </a:r>
            <a:endParaRPr lang="en-US" sz="1700" dirty="0"/>
          </a:p>
        </p:txBody>
      </p:sp>
      <p:sp>
        <p:nvSpPr>
          <p:cNvPr id="9" name="Shape 7"/>
          <p:cNvSpPr/>
          <p:nvPr/>
        </p:nvSpPr>
        <p:spPr>
          <a:xfrm>
            <a:off x="4328160" y="3154680"/>
            <a:ext cx="3505200" cy="2651760"/>
          </a:xfrm>
          <a:prstGeom prst="roundRect">
            <a:avLst>
              <a:gd name="adj" fmla="val 3103"/>
            </a:avLst>
          </a:prstGeom>
          <a:solidFill>
            <a:srgbClr val="1D1F2B"/>
          </a:solidFill>
          <a:ln w="12700">
            <a:solidFill>
              <a:srgbClr val="1D1F2B"/>
            </a:solidFill>
            <a:prstDash val="solid"/>
          </a:ln>
        </p:spPr>
      </p:sp>
      <p:sp>
        <p:nvSpPr>
          <p:cNvPr id="10" name="Text 8"/>
          <p:cNvSpPr/>
          <p:nvPr/>
        </p:nvSpPr>
        <p:spPr>
          <a:xfrm>
            <a:off x="4529328" y="3282696"/>
            <a:ext cx="31028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LA PRÉVENTION CLINIQUE</a:t>
            </a:r>
            <a:endParaRPr lang="en-US" sz="1300" dirty="0"/>
          </a:p>
        </p:txBody>
      </p:sp>
      <p:sp>
        <p:nvSpPr>
          <p:cNvPr id="11" name="Text 9"/>
          <p:cNvSpPr/>
          <p:nvPr/>
        </p:nvSpPr>
        <p:spPr>
          <a:xfrm>
            <a:off x="4529328" y="3666744"/>
            <a:ext cx="3102864" cy="20116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part d’une maladie et du risque de la contracter</a:t>
            </a:r>
            <a:endParaRPr lang="en-US" sz="1700" dirty="0"/>
          </a:p>
        </p:txBody>
      </p:sp>
      <p:sp>
        <p:nvSpPr>
          <p:cNvPr id="12" name="Shape 10"/>
          <p:cNvSpPr/>
          <p:nvPr/>
        </p:nvSpPr>
        <p:spPr>
          <a:xfrm>
            <a:off x="8061960" y="3154680"/>
            <a:ext cx="3505200" cy="2651760"/>
          </a:xfrm>
          <a:prstGeom prst="roundRect">
            <a:avLst>
              <a:gd name="adj" fmla="val 3103"/>
            </a:avLst>
          </a:prstGeom>
          <a:solidFill>
            <a:srgbClr val="1D1F2B"/>
          </a:solidFill>
          <a:ln w="12700">
            <a:solidFill>
              <a:srgbClr val="1D1F2B"/>
            </a:solidFill>
            <a:prstDash val="solid"/>
          </a:ln>
        </p:spPr>
      </p:sp>
      <p:sp>
        <p:nvSpPr>
          <p:cNvPr id="13" name="Text 11"/>
          <p:cNvSpPr/>
          <p:nvPr/>
        </p:nvSpPr>
        <p:spPr>
          <a:xfrm>
            <a:off x="8263128" y="3282696"/>
            <a:ext cx="31028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LA PROMOTION DE LA SANTÉ</a:t>
            </a:r>
            <a:endParaRPr lang="en-US" sz="1300" dirty="0"/>
          </a:p>
        </p:txBody>
      </p:sp>
      <p:sp>
        <p:nvSpPr>
          <p:cNvPr id="14" name="Text 12"/>
          <p:cNvSpPr/>
          <p:nvPr/>
        </p:nvSpPr>
        <p:spPr>
          <a:xfrm>
            <a:off x="8263128" y="3666744"/>
            <a:ext cx="3102864" cy="20116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part des conditions de vie : les déterminants sociaux, économiques et environnementaux</a:t>
            </a:r>
            <a:endParaRPr lang="en-US" sz="17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glossaire de la promotion de la santé, 2021.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CHARTE D’OTTAWA</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Ottawa, 21 novembre 1986</a:t>
            </a:r>
            <a:endParaRPr lang="en-US" sz="3400" dirty="0"/>
          </a:p>
        </p:txBody>
      </p:sp>
      <p:sp>
        <p:nvSpPr>
          <p:cNvPr id="4" name="Text 2"/>
          <p:cNvSpPr/>
          <p:nvPr/>
        </p:nvSpPr>
        <p:spPr>
          <a:xfrm>
            <a:off x="594360" y="1554480"/>
            <a:ext cx="10972800" cy="9144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 première Conférence internationale pour la promotion de la santé : « la santé pour tous » d’ici l’an 2000 et au-delà.</a:t>
            </a:r>
            <a:endParaRPr lang="en-US" sz="1900" dirty="0"/>
          </a:p>
        </p:txBody>
      </p:sp>
      <p:sp>
        <p:nvSpPr>
          <p:cNvPr id="5" name="Text 3"/>
          <p:cNvSpPr/>
          <p:nvPr/>
        </p:nvSpPr>
        <p:spPr>
          <a:xfrm>
            <a:off x="594360" y="2697480"/>
            <a:ext cx="1097280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TROIS STRATÉGIES DE BASE</a:t>
            </a:r>
            <a:endParaRPr lang="en-US" sz="1300" dirty="0"/>
          </a:p>
        </p:txBody>
      </p:sp>
      <p:sp>
        <p:nvSpPr>
          <p:cNvPr id="6" name="Shape 4"/>
          <p:cNvSpPr/>
          <p:nvPr/>
        </p:nvSpPr>
        <p:spPr>
          <a:xfrm>
            <a:off x="594360" y="3154680"/>
            <a:ext cx="3505200" cy="2377440"/>
          </a:xfrm>
          <a:prstGeom prst="roundRect">
            <a:avLst>
              <a:gd name="adj" fmla="val 3462"/>
            </a:avLst>
          </a:prstGeom>
          <a:solidFill>
            <a:srgbClr val="ECEAE4"/>
          </a:solidFill>
          <a:ln w="12700">
            <a:solidFill>
              <a:srgbClr val="ECEAE4"/>
            </a:solidFill>
            <a:prstDash val="solid"/>
          </a:ln>
        </p:spPr>
      </p:sp>
      <p:sp>
        <p:nvSpPr>
          <p:cNvPr id="7" name="Text 5"/>
          <p:cNvSpPr/>
          <p:nvPr/>
        </p:nvSpPr>
        <p:spPr>
          <a:xfrm>
            <a:off x="795528" y="3282696"/>
            <a:ext cx="3102864" cy="54864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Le plaidoyer</a:t>
            </a:r>
            <a:endParaRPr lang="en-US" sz="2000" dirty="0"/>
          </a:p>
        </p:txBody>
      </p:sp>
      <p:sp>
        <p:nvSpPr>
          <p:cNvPr id="8" name="Text 6"/>
          <p:cNvSpPr/>
          <p:nvPr/>
        </p:nvSpPr>
        <p:spPr>
          <a:xfrm>
            <a:off x="795528" y="3831336"/>
            <a:ext cx="3102864" cy="1572768"/>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réclamer publiquement les conditions nécessaires à la santé</a:t>
            </a:r>
            <a:endParaRPr lang="en-US" sz="1800" dirty="0"/>
          </a:p>
        </p:txBody>
      </p:sp>
      <p:sp>
        <p:nvSpPr>
          <p:cNvPr id="9" name="Shape 7"/>
          <p:cNvSpPr/>
          <p:nvPr/>
        </p:nvSpPr>
        <p:spPr>
          <a:xfrm>
            <a:off x="4328160" y="3154680"/>
            <a:ext cx="3505200" cy="2377440"/>
          </a:xfrm>
          <a:prstGeom prst="roundRect">
            <a:avLst>
              <a:gd name="adj" fmla="val 3462"/>
            </a:avLst>
          </a:prstGeom>
          <a:solidFill>
            <a:srgbClr val="ECEAE4"/>
          </a:solidFill>
          <a:ln w="12700">
            <a:solidFill>
              <a:srgbClr val="ECEAE4"/>
            </a:solidFill>
            <a:prstDash val="solid"/>
          </a:ln>
        </p:spPr>
      </p:sp>
      <p:sp>
        <p:nvSpPr>
          <p:cNvPr id="10" name="Text 8"/>
          <p:cNvSpPr/>
          <p:nvPr/>
        </p:nvSpPr>
        <p:spPr>
          <a:xfrm>
            <a:off x="4529328" y="3282696"/>
            <a:ext cx="3102864" cy="54864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Conférer les moyens</a:t>
            </a:r>
            <a:endParaRPr lang="en-US" sz="2000" dirty="0"/>
          </a:p>
        </p:txBody>
      </p:sp>
      <p:sp>
        <p:nvSpPr>
          <p:cNvPr id="11" name="Text 9"/>
          <p:cNvSpPr/>
          <p:nvPr/>
        </p:nvSpPr>
        <p:spPr>
          <a:xfrm>
            <a:off x="4529328" y="3831336"/>
            <a:ext cx="3102864" cy="1572768"/>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rendre les gens capables de réaliser leur potentiel de santé</a:t>
            </a:r>
            <a:endParaRPr lang="en-US" sz="1800" dirty="0"/>
          </a:p>
        </p:txBody>
      </p:sp>
      <p:sp>
        <p:nvSpPr>
          <p:cNvPr id="12" name="Shape 10"/>
          <p:cNvSpPr/>
          <p:nvPr/>
        </p:nvSpPr>
        <p:spPr>
          <a:xfrm>
            <a:off x="8061960" y="3154680"/>
            <a:ext cx="3505200" cy="2377440"/>
          </a:xfrm>
          <a:prstGeom prst="roundRect">
            <a:avLst>
              <a:gd name="adj" fmla="val 3462"/>
            </a:avLst>
          </a:prstGeom>
          <a:solidFill>
            <a:srgbClr val="ECEAE4"/>
          </a:solidFill>
          <a:ln w="12700">
            <a:solidFill>
              <a:srgbClr val="ECEAE4"/>
            </a:solidFill>
            <a:prstDash val="solid"/>
          </a:ln>
        </p:spPr>
      </p:sp>
      <p:sp>
        <p:nvSpPr>
          <p:cNvPr id="13" name="Text 11"/>
          <p:cNvSpPr/>
          <p:nvPr/>
        </p:nvSpPr>
        <p:spPr>
          <a:xfrm>
            <a:off x="8263128" y="3282696"/>
            <a:ext cx="3102864" cy="548640"/>
          </a:xfrm>
          <a:prstGeom prst="rect">
            <a:avLst/>
          </a:prstGeom>
          <a:noFill/>
          <a:ln/>
        </p:spPr>
        <p:txBody>
          <a:bodyPr wrap="square" lIns="0" tIns="0" rIns="0" bIns="0" rtlCol="0" anchor="t"/>
          <a:lstStyle/>
          <a:p>
            <a:pPr indent="0" marL="0">
              <a:buNone/>
            </a:pPr>
            <a:r>
              <a:rPr lang="en-US" sz="2000" b="1" dirty="0">
                <a:solidFill>
                  <a:srgbClr val="4A2D8C"/>
                </a:solidFill>
                <a:latin typeface="Palatino Linotype" pitchFamily="34" charset="0"/>
                <a:ea typeface="Palatino Linotype" pitchFamily="34" charset="-122"/>
                <a:cs typeface="Palatino Linotype" pitchFamily="34" charset="-120"/>
              </a:rPr>
              <a:t>La médiation</a:t>
            </a:r>
            <a:endParaRPr lang="en-US" sz="2000" dirty="0"/>
          </a:p>
        </p:txBody>
      </p:sp>
      <p:sp>
        <p:nvSpPr>
          <p:cNvPr id="14" name="Text 12"/>
          <p:cNvSpPr/>
          <p:nvPr/>
        </p:nvSpPr>
        <p:spPr>
          <a:xfrm>
            <a:off x="8263128" y="3831336"/>
            <a:ext cx="3102864" cy="1572768"/>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entre les intérêts divergents de la société</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Charte d’Ottawa, 1986 ; OMS, glossaire de la promotion de la santé, 2021.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CINQ DOMAINES D’ACTION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demande la Charte d’Ottawa</a:t>
            </a:r>
            <a:endParaRPr lang="en-US" sz="3200" dirty="0"/>
          </a:p>
        </p:txBody>
      </p:sp>
      <p:sp>
        <p:nvSpPr>
          <p:cNvPr id="4" name="Shape 2"/>
          <p:cNvSpPr/>
          <p:nvPr/>
        </p:nvSpPr>
        <p:spPr>
          <a:xfrm>
            <a:off x="594360" y="1508760"/>
            <a:ext cx="10972800" cy="621792"/>
          </a:xfrm>
          <a:prstGeom prst="roundRect">
            <a:avLst>
              <a:gd name="adj" fmla="val 13235"/>
            </a:avLst>
          </a:prstGeom>
          <a:solidFill>
            <a:srgbClr val="1D1F2B"/>
          </a:solidFill>
          <a:ln w="12700">
            <a:solidFill>
              <a:srgbClr val="1D1F2B"/>
            </a:solidFill>
            <a:prstDash val="solid"/>
          </a:ln>
        </p:spPr>
      </p:sp>
      <p:sp>
        <p:nvSpPr>
          <p:cNvPr id="5" name="Shape 3"/>
          <p:cNvSpPr/>
          <p:nvPr/>
        </p:nvSpPr>
        <p:spPr>
          <a:xfrm>
            <a:off x="868680" y="1609344"/>
            <a:ext cx="420624" cy="420624"/>
          </a:xfrm>
          <a:prstGeom prst="ellipse">
            <a:avLst/>
          </a:prstGeom>
          <a:solidFill>
            <a:srgbClr val="FFC24B"/>
          </a:solidFill>
          <a:ln/>
        </p:spPr>
      </p:sp>
      <p:sp>
        <p:nvSpPr>
          <p:cNvPr id="6" name="Text 4"/>
          <p:cNvSpPr/>
          <p:nvPr/>
        </p:nvSpPr>
        <p:spPr>
          <a:xfrm>
            <a:off x="868680" y="16093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08760"/>
            <a:ext cx="982980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Politique publique saine : des lois et des taxes qui facilitent le choix sain.</a:t>
            </a:r>
            <a:endParaRPr lang="en-US" sz="1650" dirty="0"/>
          </a:p>
        </p:txBody>
      </p:sp>
      <p:sp>
        <p:nvSpPr>
          <p:cNvPr id="8" name="Shape 6"/>
          <p:cNvSpPr/>
          <p:nvPr/>
        </p:nvSpPr>
        <p:spPr>
          <a:xfrm>
            <a:off x="594360" y="2221992"/>
            <a:ext cx="10972800" cy="621792"/>
          </a:xfrm>
          <a:prstGeom prst="roundRect">
            <a:avLst>
              <a:gd name="adj" fmla="val 13235"/>
            </a:avLst>
          </a:prstGeom>
          <a:solidFill>
            <a:srgbClr val="1D1F2B"/>
          </a:solidFill>
          <a:ln w="12700">
            <a:solidFill>
              <a:srgbClr val="1D1F2B"/>
            </a:solidFill>
            <a:prstDash val="solid"/>
          </a:ln>
        </p:spPr>
      </p:sp>
      <p:sp>
        <p:nvSpPr>
          <p:cNvPr id="9" name="Shape 7"/>
          <p:cNvSpPr/>
          <p:nvPr/>
        </p:nvSpPr>
        <p:spPr>
          <a:xfrm>
            <a:off x="868680" y="2322576"/>
            <a:ext cx="420624" cy="420624"/>
          </a:xfrm>
          <a:prstGeom prst="ellipse">
            <a:avLst/>
          </a:prstGeom>
          <a:solidFill>
            <a:srgbClr val="FFC24B"/>
          </a:solidFill>
          <a:ln/>
        </p:spPr>
      </p:sp>
      <p:sp>
        <p:nvSpPr>
          <p:cNvPr id="10" name="Text 8"/>
          <p:cNvSpPr/>
          <p:nvPr/>
        </p:nvSpPr>
        <p:spPr>
          <a:xfrm>
            <a:off x="868680" y="23225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221992"/>
            <a:ext cx="982980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Milieux favorables : espaces sans fumée, villes où l’on marche.</a:t>
            </a:r>
            <a:endParaRPr lang="en-US" sz="1650" dirty="0"/>
          </a:p>
        </p:txBody>
      </p:sp>
      <p:sp>
        <p:nvSpPr>
          <p:cNvPr id="12" name="Shape 10"/>
          <p:cNvSpPr/>
          <p:nvPr/>
        </p:nvSpPr>
        <p:spPr>
          <a:xfrm>
            <a:off x="594360" y="2935224"/>
            <a:ext cx="10972800" cy="621792"/>
          </a:xfrm>
          <a:prstGeom prst="roundRect">
            <a:avLst>
              <a:gd name="adj" fmla="val 13235"/>
            </a:avLst>
          </a:prstGeom>
          <a:solidFill>
            <a:srgbClr val="1D1F2B"/>
          </a:solidFill>
          <a:ln w="12700">
            <a:solidFill>
              <a:srgbClr val="1D1F2B"/>
            </a:solidFill>
            <a:prstDash val="solid"/>
          </a:ln>
        </p:spPr>
      </p:sp>
      <p:sp>
        <p:nvSpPr>
          <p:cNvPr id="13" name="Shape 11"/>
          <p:cNvSpPr/>
          <p:nvPr/>
        </p:nvSpPr>
        <p:spPr>
          <a:xfrm>
            <a:off x="868680" y="3035808"/>
            <a:ext cx="420624" cy="420624"/>
          </a:xfrm>
          <a:prstGeom prst="ellipse">
            <a:avLst/>
          </a:prstGeom>
          <a:solidFill>
            <a:srgbClr val="FFC24B"/>
          </a:solidFill>
          <a:ln/>
        </p:spPr>
      </p:sp>
      <p:sp>
        <p:nvSpPr>
          <p:cNvPr id="14" name="Text 12"/>
          <p:cNvSpPr/>
          <p:nvPr/>
        </p:nvSpPr>
        <p:spPr>
          <a:xfrm>
            <a:off x="868680" y="3035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2935224"/>
            <a:ext cx="982980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Action communautaire : les communautés fixent leurs priorités.</a:t>
            </a:r>
            <a:endParaRPr lang="en-US" sz="1650" dirty="0"/>
          </a:p>
        </p:txBody>
      </p:sp>
      <p:sp>
        <p:nvSpPr>
          <p:cNvPr id="16" name="Shape 14"/>
          <p:cNvSpPr/>
          <p:nvPr/>
        </p:nvSpPr>
        <p:spPr>
          <a:xfrm>
            <a:off x="594360" y="3648456"/>
            <a:ext cx="10972800" cy="621792"/>
          </a:xfrm>
          <a:prstGeom prst="roundRect">
            <a:avLst>
              <a:gd name="adj" fmla="val 13235"/>
            </a:avLst>
          </a:prstGeom>
          <a:solidFill>
            <a:srgbClr val="1D1F2B"/>
          </a:solidFill>
          <a:ln w="12700">
            <a:solidFill>
              <a:srgbClr val="1D1F2B"/>
            </a:solidFill>
            <a:prstDash val="solid"/>
          </a:ln>
        </p:spPr>
      </p:sp>
      <p:sp>
        <p:nvSpPr>
          <p:cNvPr id="17" name="Shape 15"/>
          <p:cNvSpPr/>
          <p:nvPr/>
        </p:nvSpPr>
        <p:spPr>
          <a:xfrm>
            <a:off x="868680" y="3749040"/>
            <a:ext cx="420624" cy="420624"/>
          </a:xfrm>
          <a:prstGeom prst="ellipse">
            <a:avLst/>
          </a:prstGeom>
          <a:solidFill>
            <a:srgbClr val="FFC24B"/>
          </a:solidFill>
          <a:ln/>
        </p:spPr>
      </p:sp>
      <p:sp>
        <p:nvSpPr>
          <p:cNvPr id="18" name="Text 16"/>
          <p:cNvSpPr/>
          <p:nvPr/>
        </p:nvSpPr>
        <p:spPr>
          <a:xfrm>
            <a:off x="868680" y="3749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648456"/>
            <a:ext cx="982980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Aptitudes individuelles : éducation et littératie en santé.</a:t>
            </a:r>
            <a:endParaRPr lang="en-US" sz="1650" dirty="0"/>
          </a:p>
        </p:txBody>
      </p:sp>
      <p:sp>
        <p:nvSpPr>
          <p:cNvPr id="20" name="Shape 18"/>
          <p:cNvSpPr/>
          <p:nvPr/>
        </p:nvSpPr>
        <p:spPr>
          <a:xfrm>
            <a:off x="594360" y="4361688"/>
            <a:ext cx="10972800" cy="621792"/>
          </a:xfrm>
          <a:prstGeom prst="roundRect">
            <a:avLst>
              <a:gd name="adj" fmla="val 13235"/>
            </a:avLst>
          </a:prstGeom>
          <a:solidFill>
            <a:srgbClr val="1D1F2B"/>
          </a:solidFill>
          <a:ln w="12700">
            <a:solidFill>
              <a:srgbClr val="1D1F2B"/>
            </a:solidFill>
            <a:prstDash val="solid"/>
          </a:ln>
        </p:spPr>
      </p:sp>
      <p:sp>
        <p:nvSpPr>
          <p:cNvPr id="21" name="Shape 19"/>
          <p:cNvSpPr/>
          <p:nvPr/>
        </p:nvSpPr>
        <p:spPr>
          <a:xfrm>
            <a:off x="868680" y="4462272"/>
            <a:ext cx="420624" cy="420624"/>
          </a:xfrm>
          <a:prstGeom prst="ellipse">
            <a:avLst/>
          </a:prstGeom>
          <a:solidFill>
            <a:srgbClr val="FFC24B"/>
          </a:solidFill>
          <a:ln/>
        </p:spPr>
      </p:sp>
      <p:sp>
        <p:nvSpPr>
          <p:cNvPr id="22" name="Text 20"/>
          <p:cNvSpPr/>
          <p:nvPr/>
        </p:nvSpPr>
        <p:spPr>
          <a:xfrm>
            <a:off x="868680" y="4462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361688"/>
            <a:ext cx="9829800" cy="621792"/>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Réorienter les services : chaque consultation, l’occasion d’un bref conseil.</a:t>
            </a:r>
            <a:endParaRPr lang="en-US" sz="1650" dirty="0"/>
          </a:p>
        </p:txBody>
      </p:sp>
      <p:sp>
        <p:nvSpPr>
          <p:cNvPr id="24" name="Shape 22"/>
          <p:cNvSpPr/>
          <p:nvPr/>
        </p:nvSpPr>
        <p:spPr>
          <a:xfrm>
            <a:off x="594360" y="5166360"/>
            <a:ext cx="10972800" cy="868680"/>
          </a:xfrm>
          <a:prstGeom prst="roundRect">
            <a:avLst>
              <a:gd name="adj" fmla="val 9474"/>
            </a:avLst>
          </a:prstGeom>
          <a:solidFill>
            <a:srgbClr val="07564B"/>
          </a:solidFill>
          <a:ln w="12700">
            <a:solidFill>
              <a:srgbClr val="07564B"/>
            </a:solidFill>
            <a:prstDash val="solid"/>
          </a:ln>
        </p:spPr>
      </p:sp>
      <p:sp>
        <p:nvSpPr>
          <p:cNvPr id="25" name="Text 23"/>
          <p:cNvSpPr/>
          <p:nvPr/>
        </p:nvSpPr>
        <p:spPr>
          <a:xfrm>
            <a:off x="868680" y="5166360"/>
            <a:ext cx="10424160" cy="868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Les deux premiers agissent sur tous, sans demander à chacun motivation ou temps.</a:t>
            </a:r>
            <a:endParaRPr lang="en-US" sz="17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glossaire de la promotion de la santé, 2021 ; OMS, « Tackling NCDs », 2024.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DEUX VOTES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 CINQ DOMAINES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qui se fait et ce qui aiderait</a:t>
            </a:r>
            <a:endParaRPr lang="en-US" sz="3400" dirty="0"/>
          </a:p>
        </p:txBody>
      </p:sp>
      <p:sp>
        <p:nvSpPr>
          <p:cNvPr id="6" name="Shape 4"/>
          <p:cNvSpPr/>
          <p:nvPr/>
        </p:nvSpPr>
        <p:spPr>
          <a:xfrm>
            <a:off x="594360" y="1828800"/>
            <a:ext cx="10972800" cy="1234440"/>
          </a:xfrm>
          <a:prstGeom prst="roundRect">
            <a:avLst>
              <a:gd name="adj" fmla="val 6667"/>
            </a:avLst>
          </a:prstGeom>
          <a:solidFill>
            <a:srgbClr val="1D1F2B"/>
          </a:solidFill>
          <a:ln w="12700">
            <a:solidFill>
              <a:srgbClr val="1D1F2B"/>
            </a:solidFill>
            <a:prstDash val="solid"/>
          </a:ln>
        </p:spPr>
      </p:sp>
      <p:sp>
        <p:nvSpPr>
          <p:cNvPr id="7" name="Shape 5"/>
          <p:cNvSpPr/>
          <p:nvPr/>
        </p:nvSpPr>
        <p:spPr>
          <a:xfrm>
            <a:off x="868680" y="2212848"/>
            <a:ext cx="475488" cy="475488"/>
          </a:xfrm>
          <a:prstGeom prst="ellipse">
            <a:avLst/>
          </a:prstGeom>
          <a:solidFill>
            <a:srgbClr val="FFC24B"/>
          </a:solidFill>
          <a:ln/>
        </p:spPr>
      </p:sp>
      <p:sp>
        <p:nvSpPr>
          <p:cNvPr id="8" name="Text 6"/>
          <p:cNvSpPr/>
          <p:nvPr/>
        </p:nvSpPr>
        <p:spPr>
          <a:xfrm>
            <a:off x="868680" y="2212848"/>
            <a:ext cx="475488" cy="47548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828800"/>
            <a:ext cx="9692640" cy="1234440"/>
          </a:xfrm>
          <a:prstGeom prst="rect">
            <a:avLst/>
          </a:prstGeom>
          <a:noFill/>
          <a:ln/>
        </p:spPr>
        <p:txBody>
          <a:bodyPr wrap="square" lIns="0" tIns="0" rIns="0" bIns="0" rtlCol="0" anchor="ctr"/>
          <a:lstStyle/>
          <a:p>
            <a:pPr indent="0" marL="0">
              <a:buNone/>
            </a:pPr>
            <a:r>
              <a:rPr lang="en-US" sz="2300" dirty="0">
                <a:solidFill>
                  <a:srgbClr val="FFFFFF"/>
                </a:solidFill>
                <a:latin typeface="Palatino Linotype" pitchFamily="34" charset="0"/>
                <a:ea typeface="Palatino Linotype" pitchFamily="34" charset="-122"/>
                <a:cs typeface="Palatino Linotype" pitchFamily="34" charset="-120"/>
              </a:rPr>
              <a:t>Quel domaine est, selon vous, le plus souvent utilisé en Roumanie ?</a:t>
            </a:r>
            <a:endParaRPr lang="en-US" sz="2300" dirty="0"/>
          </a:p>
        </p:txBody>
      </p:sp>
      <p:sp>
        <p:nvSpPr>
          <p:cNvPr id="10" name="Shape 8"/>
          <p:cNvSpPr/>
          <p:nvPr/>
        </p:nvSpPr>
        <p:spPr>
          <a:xfrm>
            <a:off x="594360" y="3246120"/>
            <a:ext cx="10972800" cy="1234440"/>
          </a:xfrm>
          <a:prstGeom prst="roundRect">
            <a:avLst>
              <a:gd name="adj" fmla="val 6667"/>
            </a:avLst>
          </a:prstGeom>
          <a:solidFill>
            <a:srgbClr val="1D1F2B"/>
          </a:solidFill>
          <a:ln w="12700">
            <a:solidFill>
              <a:srgbClr val="1D1F2B"/>
            </a:solidFill>
            <a:prstDash val="solid"/>
          </a:ln>
        </p:spPr>
      </p:sp>
      <p:sp>
        <p:nvSpPr>
          <p:cNvPr id="11" name="Shape 9"/>
          <p:cNvSpPr/>
          <p:nvPr/>
        </p:nvSpPr>
        <p:spPr>
          <a:xfrm>
            <a:off x="868680" y="3630168"/>
            <a:ext cx="475488" cy="475488"/>
          </a:xfrm>
          <a:prstGeom prst="ellipse">
            <a:avLst/>
          </a:prstGeom>
          <a:solidFill>
            <a:srgbClr val="FFC24B"/>
          </a:solidFill>
          <a:ln/>
        </p:spPr>
      </p:sp>
      <p:sp>
        <p:nvSpPr>
          <p:cNvPr id="12" name="Text 10"/>
          <p:cNvSpPr/>
          <p:nvPr/>
        </p:nvSpPr>
        <p:spPr>
          <a:xfrm>
            <a:off x="868680" y="3630168"/>
            <a:ext cx="475488" cy="475488"/>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3246120"/>
            <a:ext cx="9692640" cy="1234440"/>
          </a:xfrm>
          <a:prstGeom prst="rect">
            <a:avLst/>
          </a:prstGeom>
          <a:noFill/>
          <a:ln/>
        </p:spPr>
        <p:txBody>
          <a:bodyPr wrap="square" lIns="0" tIns="0" rIns="0" bIns="0" rtlCol="0" anchor="ctr"/>
          <a:lstStyle/>
          <a:p>
            <a:pPr indent="0" marL="0">
              <a:buNone/>
            </a:pPr>
            <a:r>
              <a:rPr lang="en-US" sz="2300" dirty="0">
                <a:solidFill>
                  <a:srgbClr val="FFFFFF"/>
                </a:solidFill>
                <a:latin typeface="Palatino Linotype" pitchFamily="34" charset="0"/>
                <a:ea typeface="Palatino Linotype" pitchFamily="34" charset="-122"/>
                <a:cs typeface="Palatino Linotype" pitchFamily="34" charset="-120"/>
              </a:rPr>
              <a:t>Lequel aurait le plus grand effet pour M. Vasile et les personnes comme lui ?</a:t>
            </a:r>
            <a:endParaRPr lang="en-US" sz="2300" dirty="0"/>
          </a:p>
        </p:txBody>
      </p:sp>
      <p:sp>
        <p:nvSpPr>
          <p:cNvPr id="14" name="Text 12"/>
          <p:cNvSpPr/>
          <p:nvPr/>
        </p:nvSpPr>
        <p:spPr>
          <a:xfrm>
            <a:off x="594360" y="475488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Les mêmes cinq options aux deux votes. Questions d’opinion : il n’y a pas de bonne réponse.</a:t>
            </a:r>
            <a:endParaRPr lang="en-US" sz="1700" dirty="0"/>
          </a:p>
        </p:txBody>
      </p:sp>
      <p:sp>
        <p:nvSpPr>
          <p:cNvPr id="15" name="Text 13"/>
          <p:cNvSpPr/>
          <p:nvPr/>
        </p:nvSpPr>
        <p:spPr>
          <a:xfrm>
            <a:off x="594360" y="530352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L’ÉCOLE, LE TRAVAIL, LA VILLE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Milieux de vie et santé dans toutes les politiques</a:t>
            </a:r>
            <a:endParaRPr lang="en-US" sz="2900" dirty="0"/>
          </a:p>
        </p:txBody>
      </p:sp>
      <p:sp>
        <p:nvSpPr>
          <p:cNvPr id="4" name="Shape 2"/>
          <p:cNvSpPr/>
          <p:nvPr/>
        </p:nvSpPr>
        <p:spPr>
          <a:xfrm>
            <a:off x="594360" y="1600200"/>
            <a:ext cx="5372100" cy="1874520"/>
          </a:xfrm>
          <a:prstGeom prst="roundRect">
            <a:avLst>
              <a:gd name="adj" fmla="val 4390"/>
            </a:avLst>
          </a:prstGeom>
          <a:solidFill>
            <a:srgbClr val="ECEAE4"/>
          </a:solidFill>
          <a:ln w="12700">
            <a:solidFill>
              <a:srgbClr val="ECEAE4"/>
            </a:solidFill>
            <a:prstDash val="solid"/>
          </a:ln>
        </p:spPr>
      </p:sp>
      <p:sp>
        <p:nvSpPr>
          <p:cNvPr id="5" name="Text 3"/>
          <p:cNvSpPr/>
          <p:nvPr/>
        </p:nvSpPr>
        <p:spPr>
          <a:xfrm>
            <a:off x="795528" y="1728216"/>
            <a:ext cx="49697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LE MILIEU DE VIE</a:t>
            </a:r>
            <a:endParaRPr lang="en-US" sz="1300" dirty="0"/>
          </a:p>
        </p:txBody>
      </p:sp>
      <p:sp>
        <p:nvSpPr>
          <p:cNvPr id="6" name="Text 4"/>
          <p:cNvSpPr/>
          <p:nvPr/>
        </p:nvSpPr>
        <p:spPr>
          <a:xfrm>
            <a:off x="795528" y="2112264"/>
            <a:ext cx="4969764" cy="12344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 lieu de la vie quotidienne. L’approche n’utilise pas l’école pour un exposé : elle transforme l’école elle-même.</a:t>
            </a:r>
            <a:endParaRPr lang="en-US" sz="1700" dirty="0"/>
          </a:p>
        </p:txBody>
      </p:sp>
      <p:sp>
        <p:nvSpPr>
          <p:cNvPr id="7" name="Shape 5"/>
          <p:cNvSpPr/>
          <p:nvPr/>
        </p:nvSpPr>
        <p:spPr>
          <a:xfrm>
            <a:off x="6195060" y="1600200"/>
            <a:ext cx="5372100" cy="1874520"/>
          </a:xfrm>
          <a:prstGeom prst="roundRect">
            <a:avLst>
              <a:gd name="adj" fmla="val 4390"/>
            </a:avLst>
          </a:prstGeom>
          <a:solidFill>
            <a:srgbClr val="ECEAE4"/>
          </a:solidFill>
          <a:ln w="12700">
            <a:solidFill>
              <a:srgbClr val="ECEAE4"/>
            </a:solidFill>
            <a:prstDash val="solid"/>
          </a:ln>
        </p:spPr>
      </p:sp>
      <p:sp>
        <p:nvSpPr>
          <p:cNvPr id="8" name="Text 6"/>
          <p:cNvSpPr/>
          <p:nvPr/>
        </p:nvSpPr>
        <p:spPr>
          <a:xfrm>
            <a:off x="6396228" y="1728216"/>
            <a:ext cx="49697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LA SANTÉ DANS TOUTES LES POLITIQUES</a:t>
            </a:r>
            <a:endParaRPr lang="en-US" sz="1300" dirty="0"/>
          </a:p>
        </p:txBody>
      </p:sp>
      <p:sp>
        <p:nvSpPr>
          <p:cNvPr id="9" name="Text 7"/>
          <p:cNvSpPr/>
          <p:nvPr/>
        </p:nvSpPr>
        <p:spPr>
          <a:xfrm>
            <a:off x="6396228" y="2112264"/>
            <a:ext cx="4969764" cy="12344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Tous les secteurs prennent en compte les effets de leurs décisions sur la santé et l’équité en santé.</a:t>
            </a:r>
            <a:endParaRPr lang="en-US" sz="1700" dirty="0"/>
          </a:p>
        </p:txBody>
      </p:sp>
      <p:sp>
        <p:nvSpPr>
          <p:cNvPr id="10" name="Shape 8"/>
          <p:cNvSpPr/>
          <p:nvPr/>
        </p:nvSpPr>
        <p:spPr>
          <a:xfrm>
            <a:off x="594360" y="3703320"/>
            <a:ext cx="1719072" cy="566928"/>
          </a:xfrm>
          <a:prstGeom prst="roundRect">
            <a:avLst>
              <a:gd name="adj" fmla="val 14516"/>
            </a:avLst>
          </a:prstGeom>
          <a:solidFill>
            <a:srgbClr val="B02532"/>
          </a:solidFill>
          <a:ln w="12700">
            <a:solidFill>
              <a:srgbClr val="B02532"/>
            </a:solidFill>
            <a:prstDash val="solid"/>
          </a:ln>
        </p:spPr>
      </p:sp>
      <p:sp>
        <p:nvSpPr>
          <p:cNvPr id="11" name="Text 9"/>
          <p:cNvSpPr/>
          <p:nvPr/>
        </p:nvSpPr>
        <p:spPr>
          <a:xfrm>
            <a:off x="731520" y="3703320"/>
            <a:ext cx="1444752"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transports</a:t>
            </a:r>
            <a:endParaRPr lang="en-US" sz="1500" dirty="0"/>
          </a:p>
        </p:txBody>
      </p:sp>
      <p:sp>
        <p:nvSpPr>
          <p:cNvPr id="12" name="Shape 10"/>
          <p:cNvSpPr/>
          <p:nvPr/>
        </p:nvSpPr>
        <p:spPr>
          <a:xfrm>
            <a:off x="2450592" y="3703320"/>
            <a:ext cx="1719072" cy="566928"/>
          </a:xfrm>
          <a:prstGeom prst="roundRect">
            <a:avLst>
              <a:gd name="adj" fmla="val 14516"/>
            </a:avLst>
          </a:prstGeom>
          <a:solidFill>
            <a:srgbClr val="0E7C6B"/>
          </a:solidFill>
          <a:ln w="12700">
            <a:solidFill>
              <a:srgbClr val="0E7C6B"/>
            </a:solidFill>
            <a:prstDash val="solid"/>
          </a:ln>
        </p:spPr>
      </p:sp>
      <p:sp>
        <p:nvSpPr>
          <p:cNvPr id="13" name="Text 11"/>
          <p:cNvSpPr/>
          <p:nvPr/>
        </p:nvSpPr>
        <p:spPr>
          <a:xfrm>
            <a:off x="2587752" y="3703320"/>
            <a:ext cx="1444752"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éducation</a:t>
            </a:r>
            <a:endParaRPr lang="en-US" sz="1500" dirty="0"/>
          </a:p>
        </p:txBody>
      </p:sp>
      <p:sp>
        <p:nvSpPr>
          <p:cNvPr id="14" name="Shape 12"/>
          <p:cNvSpPr/>
          <p:nvPr/>
        </p:nvSpPr>
        <p:spPr>
          <a:xfrm>
            <a:off x="4306824" y="3703320"/>
            <a:ext cx="1719072" cy="566928"/>
          </a:xfrm>
          <a:prstGeom prst="roundRect">
            <a:avLst>
              <a:gd name="adj" fmla="val 14516"/>
            </a:avLst>
          </a:prstGeom>
          <a:solidFill>
            <a:srgbClr val="4A2D8C"/>
          </a:solidFill>
          <a:ln w="12700">
            <a:solidFill>
              <a:srgbClr val="4A2D8C"/>
            </a:solidFill>
            <a:prstDash val="solid"/>
          </a:ln>
        </p:spPr>
      </p:sp>
      <p:sp>
        <p:nvSpPr>
          <p:cNvPr id="15" name="Text 13"/>
          <p:cNvSpPr/>
          <p:nvPr/>
        </p:nvSpPr>
        <p:spPr>
          <a:xfrm>
            <a:off x="4443984" y="3703320"/>
            <a:ext cx="1444752"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logement</a:t>
            </a:r>
            <a:endParaRPr lang="en-US" sz="1500" dirty="0"/>
          </a:p>
        </p:txBody>
      </p:sp>
      <p:sp>
        <p:nvSpPr>
          <p:cNvPr id="16" name="Shape 14"/>
          <p:cNvSpPr/>
          <p:nvPr/>
        </p:nvSpPr>
        <p:spPr>
          <a:xfrm>
            <a:off x="6163056" y="3703320"/>
            <a:ext cx="1719072" cy="566928"/>
          </a:xfrm>
          <a:prstGeom prst="roundRect">
            <a:avLst>
              <a:gd name="adj" fmla="val 14516"/>
            </a:avLst>
          </a:prstGeom>
          <a:solidFill>
            <a:srgbClr val="9C4A0A"/>
          </a:solidFill>
          <a:ln w="12700">
            <a:solidFill>
              <a:srgbClr val="9C4A0A"/>
            </a:solidFill>
            <a:prstDash val="solid"/>
          </a:ln>
        </p:spPr>
      </p:sp>
      <p:sp>
        <p:nvSpPr>
          <p:cNvPr id="17" name="Text 15"/>
          <p:cNvSpPr/>
          <p:nvPr/>
        </p:nvSpPr>
        <p:spPr>
          <a:xfrm>
            <a:off x="6300216" y="3703320"/>
            <a:ext cx="1444752"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taxes</a:t>
            </a:r>
            <a:endParaRPr lang="en-US" sz="1500" dirty="0"/>
          </a:p>
        </p:txBody>
      </p:sp>
      <p:sp>
        <p:nvSpPr>
          <p:cNvPr id="18" name="Shape 16"/>
          <p:cNvSpPr/>
          <p:nvPr/>
        </p:nvSpPr>
        <p:spPr>
          <a:xfrm>
            <a:off x="8019288" y="3703320"/>
            <a:ext cx="1719072" cy="566928"/>
          </a:xfrm>
          <a:prstGeom prst="roundRect">
            <a:avLst>
              <a:gd name="adj" fmla="val 14516"/>
            </a:avLst>
          </a:prstGeom>
          <a:solidFill>
            <a:srgbClr val="8A6100"/>
          </a:solidFill>
          <a:ln w="12700">
            <a:solidFill>
              <a:srgbClr val="8A6100"/>
            </a:solidFill>
            <a:prstDash val="solid"/>
          </a:ln>
        </p:spPr>
      </p:sp>
      <p:sp>
        <p:nvSpPr>
          <p:cNvPr id="19" name="Text 17"/>
          <p:cNvSpPr/>
          <p:nvPr/>
        </p:nvSpPr>
        <p:spPr>
          <a:xfrm>
            <a:off x="8156448" y="3703320"/>
            <a:ext cx="1444752"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alimentation</a:t>
            </a:r>
            <a:endParaRPr lang="en-US" sz="1500" dirty="0"/>
          </a:p>
        </p:txBody>
      </p:sp>
      <p:sp>
        <p:nvSpPr>
          <p:cNvPr id="20" name="Shape 18"/>
          <p:cNvSpPr/>
          <p:nvPr/>
        </p:nvSpPr>
        <p:spPr>
          <a:xfrm>
            <a:off x="9875520" y="3703320"/>
            <a:ext cx="1719072" cy="566928"/>
          </a:xfrm>
          <a:prstGeom prst="roundRect">
            <a:avLst>
              <a:gd name="adj" fmla="val 14516"/>
            </a:avLst>
          </a:prstGeom>
          <a:solidFill>
            <a:srgbClr val="B02532"/>
          </a:solidFill>
          <a:ln w="12700">
            <a:solidFill>
              <a:srgbClr val="B02532"/>
            </a:solidFill>
            <a:prstDash val="solid"/>
          </a:ln>
        </p:spPr>
      </p:sp>
      <p:sp>
        <p:nvSpPr>
          <p:cNvPr id="21" name="Text 19"/>
          <p:cNvSpPr/>
          <p:nvPr/>
        </p:nvSpPr>
        <p:spPr>
          <a:xfrm>
            <a:off x="10012680" y="3703320"/>
            <a:ext cx="1444752"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travail</a:t>
            </a:r>
            <a:endParaRPr lang="en-US" sz="1500" dirty="0"/>
          </a:p>
        </p:txBody>
      </p:sp>
      <p:sp>
        <p:nvSpPr>
          <p:cNvPr id="22" name="Shape 20"/>
          <p:cNvSpPr/>
          <p:nvPr/>
        </p:nvSpPr>
        <p:spPr>
          <a:xfrm>
            <a:off x="594360" y="4526280"/>
            <a:ext cx="10972800" cy="914400"/>
          </a:xfrm>
          <a:prstGeom prst="roundRect">
            <a:avLst>
              <a:gd name="adj" fmla="val 9000"/>
            </a:avLst>
          </a:prstGeom>
          <a:solidFill>
            <a:srgbClr val="11121A"/>
          </a:solidFill>
          <a:ln w="12700">
            <a:solidFill>
              <a:srgbClr val="11121A"/>
            </a:solidFill>
            <a:prstDash val="solid"/>
          </a:ln>
        </p:spPr>
      </p:sp>
      <p:sp>
        <p:nvSpPr>
          <p:cNvPr id="23" name="Text 21"/>
          <p:cNvSpPr/>
          <p:nvPr/>
        </p:nvSpPr>
        <p:spPr>
          <a:xfrm>
            <a:off x="868680" y="4526280"/>
            <a:ext cx="10424160" cy="91440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Le ministère de la santé ne décide pas ici : il faut l’engagement de tout le gouvernement.</a:t>
            </a:r>
            <a:endParaRPr lang="en-US" sz="18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glossaire de la promotion de la santé, 2021.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D’OTTAWA À GENÈVE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Charte de Genève pour le bien-être</a:t>
            </a:r>
            <a:endParaRPr lang="en-US" sz="3200" dirty="0"/>
          </a:p>
        </p:txBody>
      </p:sp>
      <p:sp>
        <p:nvSpPr>
          <p:cNvPr id="4" name="Shape 2"/>
          <p:cNvSpPr/>
          <p:nvPr/>
        </p:nvSpPr>
        <p:spPr>
          <a:xfrm>
            <a:off x="822960" y="2221992"/>
            <a:ext cx="10515600" cy="36576"/>
          </a:xfrm>
          <a:prstGeom prst="rect">
            <a:avLst/>
          </a:prstGeom>
          <a:solidFill>
            <a:srgbClr val="6A6F85"/>
          </a:solidFill>
          <a:ln w="12700">
            <a:solidFill>
              <a:srgbClr val="6A6F85"/>
            </a:solidFill>
            <a:prstDash val="solid"/>
          </a:ln>
        </p:spPr>
      </p:sp>
      <p:sp>
        <p:nvSpPr>
          <p:cNvPr id="5" name="Shape 3"/>
          <p:cNvSpPr/>
          <p:nvPr/>
        </p:nvSpPr>
        <p:spPr>
          <a:xfrm>
            <a:off x="731520" y="2093976"/>
            <a:ext cx="292608" cy="292608"/>
          </a:xfrm>
          <a:prstGeom prst="ellipse">
            <a:avLst/>
          </a:prstGeom>
          <a:solidFill>
            <a:srgbClr val="27D3BE"/>
          </a:solidFill>
          <a:ln/>
        </p:spPr>
      </p:sp>
      <p:sp>
        <p:nvSpPr>
          <p:cNvPr id="6" name="Text 4"/>
          <p:cNvSpPr/>
          <p:nvPr/>
        </p:nvSpPr>
        <p:spPr>
          <a:xfrm>
            <a:off x="594360" y="2514600"/>
            <a:ext cx="352044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1986</a:t>
            </a:r>
            <a:endParaRPr lang="en-US" sz="1900" dirty="0"/>
          </a:p>
        </p:txBody>
      </p:sp>
      <p:sp>
        <p:nvSpPr>
          <p:cNvPr id="7" name="Text 5"/>
          <p:cNvSpPr/>
          <p:nvPr/>
        </p:nvSpPr>
        <p:spPr>
          <a:xfrm>
            <a:off x="594360" y="2971800"/>
            <a:ext cx="3520440" cy="1005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La Charte d’Ottawa</a:t>
            </a:r>
            <a:endParaRPr lang="en-US" sz="1600" dirty="0"/>
          </a:p>
        </p:txBody>
      </p:sp>
      <p:sp>
        <p:nvSpPr>
          <p:cNvPr id="8" name="Shape 6"/>
          <p:cNvSpPr/>
          <p:nvPr/>
        </p:nvSpPr>
        <p:spPr>
          <a:xfrm>
            <a:off x="4480560" y="2093976"/>
            <a:ext cx="292608" cy="292608"/>
          </a:xfrm>
          <a:prstGeom prst="ellipse">
            <a:avLst/>
          </a:prstGeom>
          <a:solidFill>
            <a:srgbClr val="FFC24B"/>
          </a:solidFill>
          <a:ln/>
        </p:spPr>
      </p:sp>
      <p:sp>
        <p:nvSpPr>
          <p:cNvPr id="9" name="Text 7"/>
          <p:cNvSpPr/>
          <p:nvPr/>
        </p:nvSpPr>
        <p:spPr>
          <a:xfrm>
            <a:off x="4343400" y="2514600"/>
            <a:ext cx="352044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13–15 décembre 2021</a:t>
            </a:r>
            <a:endParaRPr lang="en-US" sz="1900" dirty="0"/>
          </a:p>
        </p:txBody>
      </p:sp>
      <p:sp>
        <p:nvSpPr>
          <p:cNvPr id="10" name="Text 8"/>
          <p:cNvSpPr/>
          <p:nvPr/>
        </p:nvSpPr>
        <p:spPr>
          <a:xfrm>
            <a:off x="4343400" y="2971800"/>
            <a:ext cx="3520440" cy="1005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10e Conférence mondiale sur la promotion de la santé</a:t>
            </a:r>
            <a:endParaRPr lang="en-US" sz="1600" dirty="0"/>
          </a:p>
        </p:txBody>
      </p:sp>
      <p:sp>
        <p:nvSpPr>
          <p:cNvPr id="11" name="Shape 9"/>
          <p:cNvSpPr/>
          <p:nvPr/>
        </p:nvSpPr>
        <p:spPr>
          <a:xfrm>
            <a:off x="8229600" y="2093976"/>
            <a:ext cx="292608" cy="292608"/>
          </a:xfrm>
          <a:prstGeom prst="ellipse">
            <a:avLst/>
          </a:prstGeom>
          <a:solidFill>
            <a:srgbClr val="FF4757"/>
          </a:solidFill>
          <a:ln/>
        </p:spPr>
      </p:sp>
      <p:sp>
        <p:nvSpPr>
          <p:cNvPr id="12" name="Text 10"/>
          <p:cNvSpPr/>
          <p:nvPr/>
        </p:nvSpPr>
        <p:spPr>
          <a:xfrm>
            <a:off x="8092440" y="2514600"/>
            <a:ext cx="3520440" cy="45720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21 décembre 2021</a:t>
            </a:r>
            <a:endParaRPr lang="en-US" sz="1900" dirty="0"/>
          </a:p>
        </p:txBody>
      </p:sp>
      <p:sp>
        <p:nvSpPr>
          <p:cNvPr id="13" name="Text 11"/>
          <p:cNvSpPr/>
          <p:nvPr/>
        </p:nvSpPr>
        <p:spPr>
          <a:xfrm>
            <a:off x="8092440" y="2971800"/>
            <a:ext cx="3520440" cy="10058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L’OMS publie la Charte, adoptée par les participants</a:t>
            </a:r>
            <a:endParaRPr lang="en-US" sz="1600" dirty="0"/>
          </a:p>
        </p:txBody>
      </p:sp>
      <p:sp>
        <p:nvSpPr>
          <p:cNvPr id="14" name="Shape 12"/>
          <p:cNvSpPr/>
          <p:nvPr/>
        </p:nvSpPr>
        <p:spPr>
          <a:xfrm>
            <a:off x="594360" y="4206240"/>
            <a:ext cx="10972800" cy="1600200"/>
          </a:xfrm>
          <a:prstGeom prst="roundRect">
            <a:avLst>
              <a:gd name="adj" fmla="val 5143"/>
            </a:avLst>
          </a:prstGeom>
          <a:solidFill>
            <a:srgbClr val="1D1F2B"/>
          </a:solidFill>
          <a:ln w="12700">
            <a:solidFill>
              <a:srgbClr val="1D1F2B"/>
            </a:solidFill>
            <a:prstDash val="solid"/>
          </a:ln>
        </p:spPr>
      </p:sp>
      <p:sp>
        <p:nvSpPr>
          <p:cNvPr id="15" name="Text 13"/>
          <p:cNvSpPr/>
          <p:nvPr/>
        </p:nvSpPr>
        <p:spPr>
          <a:xfrm>
            <a:off x="868680" y="4206240"/>
            <a:ext cx="10424160" cy="1600200"/>
          </a:xfrm>
          <a:prstGeom prst="rect">
            <a:avLst/>
          </a:prstGeom>
          <a:noFill/>
          <a:ln/>
        </p:spPr>
        <p:txBody>
          <a:bodyPr wrap="square" lIns="0" tIns="0" rIns="0" bIns="0" rtlCol="0" anchor="ctr"/>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Elle demande des résultats équitables en santé et en société, aujourd’hui et pour les générations futures, sans détruire la santé de la planète.</a:t>
            </a:r>
            <a:endParaRPr lang="en-US" sz="17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Charte de Genève pour le bien-être, 2021.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L’ÉCART ENTRE L’INTENTION ET LE COMPORTEMENT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Où la chaîne se rompt</a:t>
            </a:r>
            <a:endParaRPr lang="en-US" sz="3200" dirty="0"/>
          </a:p>
        </p:txBody>
      </p:sp>
      <p:sp>
        <p:nvSpPr>
          <p:cNvPr id="4" name="Shape 2"/>
          <p:cNvSpPr/>
          <p:nvPr/>
        </p:nvSpPr>
        <p:spPr>
          <a:xfrm>
            <a:off x="594360" y="1600200"/>
            <a:ext cx="2331720" cy="731520"/>
          </a:xfrm>
          <a:prstGeom prst="roundRect">
            <a:avLst>
              <a:gd name="adj" fmla="val 11250"/>
            </a:avLst>
          </a:prstGeom>
          <a:solidFill>
            <a:srgbClr val="0E7C6B"/>
          </a:solidFill>
          <a:ln w="12700">
            <a:solidFill>
              <a:srgbClr val="0E7C6B"/>
            </a:solidFill>
            <a:prstDash val="solid"/>
          </a:ln>
        </p:spPr>
      </p:sp>
      <p:sp>
        <p:nvSpPr>
          <p:cNvPr id="5" name="Text 3"/>
          <p:cNvSpPr/>
          <p:nvPr/>
        </p:nvSpPr>
        <p:spPr>
          <a:xfrm>
            <a:off x="731520" y="1600200"/>
            <a:ext cx="2057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l’information</a:t>
            </a:r>
            <a:endParaRPr lang="en-US" sz="1700" dirty="0"/>
          </a:p>
        </p:txBody>
      </p:sp>
      <p:sp>
        <p:nvSpPr>
          <p:cNvPr id="6" name="Shape 4"/>
          <p:cNvSpPr/>
          <p:nvPr/>
        </p:nvSpPr>
        <p:spPr>
          <a:xfrm>
            <a:off x="2971800" y="1801368"/>
            <a:ext cx="384048" cy="329184"/>
          </a:xfrm>
          <a:prstGeom prst="rightArrow">
            <a:avLst/>
          </a:prstGeom>
          <a:solidFill>
            <a:srgbClr val="C9C6BE"/>
          </a:solidFill>
          <a:ln w="12700">
            <a:solidFill>
              <a:srgbClr val="C9C6BE"/>
            </a:solidFill>
            <a:prstDash val="solid"/>
          </a:ln>
        </p:spPr>
      </p:sp>
      <p:sp>
        <p:nvSpPr>
          <p:cNvPr id="7" name="Shape 5"/>
          <p:cNvSpPr/>
          <p:nvPr/>
        </p:nvSpPr>
        <p:spPr>
          <a:xfrm>
            <a:off x="3429000" y="1600200"/>
            <a:ext cx="2331720" cy="731520"/>
          </a:xfrm>
          <a:prstGeom prst="roundRect">
            <a:avLst>
              <a:gd name="adj" fmla="val 11250"/>
            </a:avLst>
          </a:prstGeom>
          <a:solidFill>
            <a:srgbClr val="0E7C6B"/>
          </a:solidFill>
          <a:ln w="12700">
            <a:solidFill>
              <a:srgbClr val="0E7C6B"/>
            </a:solidFill>
            <a:prstDash val="solid"/>
          </a:ln>
        </p:spPr>
      </p:sp>
      <p:sp>
        <p:nvSpPr>
          <p:cNvPr id="8" name="Text 6"/>
          <p:cNvSpPr/>
          <p:nvPr/>
        </p:nvSpPr>
        <p:spPr>
          <a:xfrm>
            <a:off x="3566160" y="1600200"/>
            <a:ext cx="2057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l’attitude</a:t>
            </a:r>
            <a:endParaRPr lang="en-US" sz="1700" dirty="0"/>
          </a:p>
        </p:txBody>
      </p:sp>
      <p:sp>
        <p:nvSpPr>
          <p:cNvPr id="9" name="Shape 7"/>
          <p:cNvSpPr/>
          <p:nvPr/>
        </p:nvSpPr>
        <p:spPr>
          <a:xfrm>
            <a:off x="5806440" y="1801368"/>
            <a:ext cx="384048" cy="329184"/>
          </a:xfrm>
          <a:prstGeom prst="rightArrow">
            <a:avLst/>
          </a:prstGeom>
          <a:solidFill>
            <a:srgbClr val="C9C6BE"/>
          </a:solidFill>
          <a:ln w="12700">
            <a:solidFill>
              <a:srgbClr val="C9C6BE"/>
            </a:solidFill>
            <a:prstDash val="solid"/>
          </a:ln>
        </p:spPr>
      </p:sp>
      <p:sp>
        <p:nvSpPr>
          <p:cNvPr id="10" name="Shape 8"/>
          <p:cNvSpPr/>
          <p:nvPr/>
        </p:nvSpPr>
        <p:spPr>
          <a:xfrm>
            <a:off x="6263640" y="1600200"/>
            <a:ext cx="2331720" cy="731520"/>
          </a:xfrm>
          <a:prstGeom prst="roundRect">
            <a:avLst>
              <a:gd name="adj" fmla="val 11250"/>
            </a:avLst>
          </a:prstGeom>
          <a:solidFill>
            <a:srgbClr val="0E7C6B"/>
          </a:solidFill>
          <a:ln w="12700">
            <a:solidFill>
              <a:srgbClr val="0E7C6B"/>
            </a:solidFill>
            <a:prstDash val="solid"/>
          </a:ln>
        </p:spPr>
      </p:sp>
      <p:sp>
        <p:nvSpPr>
          <p:cNvPr id="11" name="Text 9"/>
          <p:cNvSpPr/>
          <p:nvPr/>
        </p:nvSpPr>
        <p:spPr>
          <a:xfrm>
            <a:off x="6400800" y="1600200"/>
            <a:ext cx="2057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l’intention</a:t>
            </a:r>
            <a:endParaRPr lang="en-US" sz="1700" dirty="0"/>
          </a:p>
        </p:txBody>
      </p:sp>
      <p:sp>
        <p:nvSpPr>
          <p:cNvPr id="12" name="Shape 10"/>
          <p:cNvSpPr/>
          <p:nvPr/>
        </p:nvSpPr>
        <p:spPr>
          <a:xfrm>
            <a:off x="8641080" y="1801368"/>
            <a:ext cx="384048" cy="329184"/>
          </a:xfrm>
          <a:prstGeom prst="rightArrow">
            <a:avLst/>
          </a:prstGeom>
          <a:solidFill>
            <a:srgbClr val="C9C6BE"/>
          </a:solidFill>
          <a:ln w="12700">
            <a:solidFill>
              <a:srgbClr val="C9C6BE"/>
            </a:solidFill>
            <a:prstDash val="solid"/>
          </a:ln>
        </p:spPr>
      </p:sp>
      <p:sp>
        <p:nvSpPr>
          <p:cNvPr id="13" name="Shape 11"/>
          <p:cNvSpPr/>
          <p:nvPr/>
        </p:nvSpPr>
        <p:spPr>
          <a:xfrm>
            <a:off x="9098280" y="1600200"/>
            <a:ext cx="2331720" cy="731520"/>
          </a:xfrm>
          <a:prstGeom prst="roundRect">
            <a:avLst>
              <a:gd name="adj" fmla="val 11250"/>
            </a:avLst>
          </a:prstGeom>
          <a:solidFill>
            <a:srgbClr val="B02532"/>
          </a:solidFill>
          <a:ln w="12700">
            <a:solidFill>
              <a:srgbClr val="B02532"/>
            </a:solidFill>
            <a:prstDash val="solid"/>
          </a:ln>
        </p:spPr>
      </p:sp>
      <p:sp>
        <p:nvSpPr>
          <p:cNvPr id="14" name="Text 12"/>
          <p:cNvSpPr/>
          <p:nvPr/>
        </p:nvSpPr>
        <p:spPr>
          <a:xfrm>
            <a:off x="9235440" y="1600200"/>
            <a:ext cx="205740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le comportement</a:t>
            </a:r>
            <a:endParaRPr lang="en-US" sz="1700" dirty="0"/>
          </a:p>
        </p:txBody>
      </p:sp>
      <p:sp>
        <p:nvSpPr>
          <p:cNvPr id="15" name="Text 13"/>
          <p:cNvSpPr/>
          <p:nvPr/>
        </p:nvSpPr>
        <p:spPr>
          <a:xfrm>
            <a:off x="594360" y="2560320"/>
            <a:ext cx="10972800" cy="5486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M. Vasile sait que le tabac donne le cancer. L’intention peut exister. Le comportement ne suit pas.</a:t>
            </a:r>
            <a:endParaRPr lang="en-US" sz="1900" dirty="0"/>
          </a:p>
        </p:txBody>
      </p:sp>
      <p:sp>
        <p:nvSpPr>
          <p:cNvPr id="16" name="Shape 14"/>
          <p:cNvSpPr/>
          <p:nvPr/>
        </p:nvSpPr>
        <p:spPr>
          <a:xfrm>
            <a:off x="594360" y="3246120"/>
            <a:ext cx="5349240" cy="1325880"/>
          </a:xfrm>
          <a:prstGeom prst="roundRect">
            <a:avLst>
              <a:gd name="adj" fmla="val 6207"/>
            </a:avLst>
          </a:prstGeom>
          <a:solidFill>
            <a:srgbClr val="ECEAE4"/>
          </a:solidFill>
          <a:ln w="12700">
            <a:solidFill>
              <a:srgbClr val="ECEAE4"/>
            </a:solidFill>
            <a:prstDash val="solid"/>
          </a:ln>
        </p:spPr>
      </p:sp>
      <p:sp>
        <p:nvSpPr>
          <p:cNvPr id="17" name="Text 15"/>
          <p:cNvSpPr/>
          <p:nvPr/>
        </p:nvSpPr>
        <p:spPr>
          <a:xfrm>
            <a:off x="868680" y="3355848"/>
            <a:ext cx="4800600" cy="662940"/>
          </a:xfrm>
          <a:prstGeom prst="rect">
            <a:avLst/>
          </a:prstGeom>
          <a:noFill/>
          <a:ln/>
        </p:spPr>
        <p:txBody>
          <a:bodyPr wrap="square" lIns="0" tIns="0" rIns="0" bIns="0" rtlCol="0" anchor="ctr"/>
          <a:lstStyle/>
          <a:p>
            <a:pPr indent="0" marL="0">
              <a:buNone/>
            </a:pPr>
            <a:r>
              <a:rPr lang="en-US" sz="3800" b="1" dirty="0">
                <a:solidFill>
                  <a:srgbClr val="B02532"/>
                </a:solidFill>
                <a:latin typeface="Palatino Linotype" pitchFamily="34" charset="0"/>
                <a:ea typeface="Palatino Linotype" pitchFamily="34" charset="-122"/>
                <a:cs typeface="Palatino Linotype" pitchFamily="34" charset="-120"/>
              </a:rPr>
              <a:t>30,8 %</a:t>
            </a:r>
            <a:endParaRPr lang="en-US" sz="3800" dirty="0"/>
          </a:p>
        </p:txBody>
      </p:sp>
      <p:sp>
        <p:nvSpPr>
          <p:cNvPr id="18" name="Text 16"/>
          <p:cNvSpPr/>
          <p:nvPr/>
        </p:nvSpPr>
        <p:spPr>
          <a:xfrm>
            <a:off x="868680" y="3927348"/>
            <a:ext cx="4800600" cy="60990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des hommes en Roumanie fumaient quotidiennement, en 2019</a:t>
            </a:r>
            <a:endParaRPr lang="en-US" sz="1200" dirty="0"/>
          </a:p>
        </p:txBody>
      </p:sp>
      <p:sp>
        <p:nvSpPr>
          <p:cNvPr id="19" name="Shape 17"/>
          <p:cNvSpPr/>
          <p:nvPr/>
        </p:nvSpPr>
        <p:spPr>
          <a:xfrm>
            <a:off x="6217920" y="3246120"/>
            <a:ext cx="5349240" cy="1325880"/>
          </a:xfrm>
          <a:prstGeom prst="roundRect">
            <a:avLst>
              <a:gd name="adj" fmla="val 6207"/>
            </a:avLst>
          </a:prstGeom>
          <a:solidFill>
            <a:srgbClr val="ECEAE4"/>
          </a:solidFill>
          <a:ln w="12700">
            <a:solidFill>
              <a:srgbClr val="ECEAE4"/>
            </a:solidFill>
            <a:prstDash val="solid"/>
          </a:ln>
        </p:spPr>
      </p:sp>
      <p:sp>
        <p:nvSpPr>
          <p:cNvPr id="20" name="Text 18"/>
          <p:cNvSpPr/>
          <p:nvPr/>
        </p:nvSpPr>
        <p:spPr>
          <a:xfrm>
            <a:off x="6492240" y="3355848"/>
            <a:ext cx="4800600" cy="662940"/>
          </a:xfrm>
          <a:prstGeom prst="rect">
            <a:avLst/>
          </a:prstGeom>
          <a:noFill/>
          <a:ln/>
        </p:spPr>
        <p:txBody>
          <a:bodyPr wrap="square" lIns="0" tIns="0" rIns="0" bIns="0" rtlCol="0" anchor="ctr"/>
          <a:lstStyle/>
          <a:p>
            <a:pPr indent="0" marL="0">
              <a:buNone/>
            </a:pPr>
            <a:r>
              <a:rPr lang="en-US" sz="3800" b="1" dirty="0">
                <a:solidFill>
                  <a:srgbClr val="0E7C6B"/>
                </a:solidFill>
                <a:latin typeface="Palatino Linotype" pitchFamily="34" charset="0"/>
                <a:ea typeface="Palatino Linotype" pitchFamily="34" charset="-122"/>
                <a:cs typeface="Palatino Linotype" pitchFamily="34" charset="-120"/>
              </a:rPr>
              <a:t>23,6 %</a:t>
            </a:r>
            <a:endParaRPr lang="en-US" sz="3800" dirty="0"/>
          </a:p>
        </p:txBody>
      </p:sp>
      <p:sp>
        <p:nvSpPr>
          <p:cNvPr id="21" name="Text 19"/>
          <p:cNvSpPr/>
          <p:nvPr/>
        </p:nvSpPr>
        <p:spPr>
          <a:xfrm>
            <a:off x="6492240" y="3927348"/>
            <a:ext cx="4800600" cy="60990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la moyenne de l’Union européenne</a:t>
            </a:r>
            <a:endParaRPr lang="en-US" sz="1200" dirty="0"/>
          </a:p>
        </p:txBody>
      </p:sp>
      <p:sp>
        <p:nvSpPr>
          <p:cNvPr id="22" name="Shape 20"/>
          <p:cNvSpPr/>
          <p:nvPr/>
        </p:nvSpPr>
        <p:spPr>
          <a:xfrm>
            <a:off x="594360" y="4800600"/>
            <a:ext cx="10972800" cy="1005840"/>
          </a:xfrm>
          <a:prstGeom prst="roundRect">
            <a:avLst>
              <a:gd name="adj" fmla="val 8182"/>
            </a:avLst>
          </a:prstGeom>
          <a:solidFill>
            <a:srgbClr val="11121A"/>
          </a:solidFill>
          <a:ln w="12700">
            <a:solidFill>
              <a:srgbClr val="11121A"/>
            </a:solidFill>
            <a:prstDash val="solid"/>
          </a:ln>
        </p:spPr>
      </p:sp>
      <p:sp>
        <p:nvSpPr>
          <p:cNvPr id="23" name="Text 21"/>
          <p:cNvSpPr/>
          <p:nvPr/>
        </p:nvSpPr>
        <p:spPr>
          <a:xfrm>
            <a:off x="868680" y="4800600"/>
            <a:ext cx="10424160" cy="10058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 comportement dépend aussi des aptitudes, du milieu, des habitudes et des émotions.</a:t>
            </a:r>
            <a:endParaRPr lang="en-US" sz="17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enquête européenne par interview sur la santé (EHIS), 2019 ; Michie et al., 2011.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PREMIER MODÈLE · CHAMPION ET SKINNER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Le modèle des croyances relatives à la santé</a:t>
            </a:r>
            <a:endParaRPr lang="en-US" sz="3100" dirty="0"/>
          </a:p>
        </p:txBody>
      </p:sp>
      <p:sp>
        <p:nvSpPr>
          <p:cNvPr id="4" name="Text 2"/>
          <p:cNvSpPr/>
          <p:nvPr/>
        </p:nvSpPr>
        <p:spPr>
          <a:xfrm>
            <a:off x="594360" y="1463040"/>
            <a:ext cx="10972800" cy="68580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Six construits, sur le cas de M. Vasile :</a:t>
            </a:r>
            <a:endParaRPr lang="en-US" sz="1800" dirty="0"/>
          </a:p>
        </p:txBody>
      </p:sp>
      <p:sp>
        <p:nvSpPr>
          <p:cNvPr id="5" name="Shape 3"/>
          <p:cNvSpPr/>
          <p:nvPr/>
        </p:nvSpPr>
        <p:spPr>
          <a:xfrm>
            <a:off x="594360" y="2286000"/>
            <a:ext cx="3505200" cy="1600200"/>
          </a:xfrm>
          <a:prstGeom prst="roundRect">
            <a:avLst>
              <a:gd name="adj" fmla="val 5143"/>
            </a:avLst>
          </a:prstGeom>
          <a:solidFill>
            <a:srgbClr val="1D1F2B"/>
          </a:solidFill>
          <a:ln w="12700">
            <a:solidFill>
              <a:srgbClr val="1D1F2B"/>
            </a:solidFill>
            <a:prstDash val="solid"/>
          </a:ln>
        </p:spPr>
      </p:sp>
      <p:sp>
        <p:nvSpPr>
          <p:cNvPr id="6" name="Text 4"/>
          <p:cNvSpPr/>
          <p:nvPr/>
        </p:nvSpPr>
        <p:spPr>
          <a:xfrm>
            <a:off x="795528" y="2414016"/>
            <a:ext cx="3102864" cy="384048"/>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La vulnérabilité perçue</a:t>
            </a:r>
            <a:endParaRPr lang="en-US" sz="1400" dirty="0"/>
          </a:p>
        </p:txBody>
      </p:sp>
      <p:sp>
        <p:nvSpPr>
          <p:cNvPr id="7" name="Text 5"/>
          <p:cNvSpPr/>
          <p:nvPr/>
        </p:nvSpPr>
        <p:spPr>
          <a:xfrm>
            <a:off x="795528" y="2798064"/>
            <a:ext cx="31028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 je n’ai rien, je n’ai mal nulle part »</a:t>
            </a:r>
            <a:endParaRPr lang="en-US" sz="1700" dirty="0"/>
          </a:p>
        </p:txBody>
      </p:sp>
      <p:sp>
        <p:nvSpPr>
          <p:cNvPr id="8" name="Shape 6"/>
          <p:cNvSpPr/>
          <p:nvPr/>
        </p:nvSpPr>
        <p:spPr>
          <a:xfrm>
            <a:off x="4328160" y="2286000"/>
            <a:ext cx="3505200" cy="1600200"/>
          </a:xfrm>
          <a:prstGeom prst="roundRect">
            <a:avLst>
              <a:gd name="adj" fmla="val 5143"/>
            </a:avLst>
          </a:prstGeom>
          <a:solidFill>
            <a:srgbClr val="1D1F2B"/>
          </a:solidFill>
          <a:ln w="12700">
            <a:solidFill>
              <a:srgbClr val="1D1F2B"/>
            </a:solidFill>
            <a:prstDash val="solid"/>
          </a:ln>
        </p:spPr>
      </p:sp>
      <p:sp>
        <p:nvSpPr>
          <p:cNvPr id="9" name="Text 7"/>
          <p:cNvSpPr/>
          <p:nvPr/>
        </p:nvSpPr>
        <p:spPr>
          <a:xfrm>
            <a:off x="4529328" y="2414016"/>
            <a:ext cx="3102864" cy="384048"/>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La gravité perçue</a:t>
            </a:r>
            <a:endParaRPr lang="en-US" sz="1400" dirty="0"/>
          </a:p>
        </p:txBody>
      </p:sp>
      <p:sp>
        <p:nvSpPr>
          <p:cNvPr id="10" name="Text 8"/>
          <p:cNvSpPr/>
          <p:nvPr/>
        </p:nvSpPr>
        <p:spPr>
          <a:xfrm>
            <a:off x="4529328" y="2798064"/>
            <a:ext cx="31028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maladie serait-elle grave pour lui ?</a:t>
            </a:r>
            <a:endParaRPr lang="en-US" sz="1700" dirty="0"/>
          </a:p>
        </p:txBody>
      </p:sp>
      <p:sp>
        <p:nvSpPr>
          <p:cNvPr id="11" name="Shape 9"/>
          <p:cNvSpPr/>
          <p:nvPr/>
        </p:nvSpPr>
        <p:spPr>
          <a:xfrm>
            <a:off x="8061960" y="2286000"/>
            <a:ext cx="3505200" cy="1600200"/>
          </a:xfrm>
          <a:prstGeom prst="roundRect">
            <a:avLst>
              <a:gd name="adj" fmla="val 5143"/>
            </a:avLst>
          </a:prstGeom>
          <a:solidFill>
            <a:srgbClr val="1D1F2B"/>
          </a:solidFill>
          <a:ln w="12700">
            <a:solidFill>
              <a:srgbClr val="1D1F2B"/>
            </a:solidFill>
            <a:prstDash val="solid"/>
          </a:ln>
        </p:spPr>
      </p:sp>
      <p:sp>
        <p:nvSpPr>
          <p:cNvPr id="12" name="Text 10"/>
          <p:cNvSpPr/>
          <p:nvPr/>
        </p:nvSpPr>
        <p:spPr>
          <a:xfrm>
            <a:off x="8263128" y="2414016"/>
            <a:ext cx="3102864" cy="384048"/>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Les bénéfices perçus</a:t>
            </a:r>
            <a:endParaRPr lang="en-US" sz="1400" dirty="0"/>
          </a:p>
        </p:txBody>
      </p:sp>
      <p:sp>
        <p:nvSpPr>
          <p:cNvPr id="13" name="Text 11"/>
          <p:cNvSpPr/>
          <p:nvPr/>
        </p:nvSpPr>
        <p:spPr>
          <a:xfrm>
            <a:off x="8263128" y="2798064"/>
            <a:ext cx="31028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 test l’aiderait-il ?</a:t>
            </a:r>
            <a:endParaRPr lang="en-US" sz="1700" dirty="0"/>
          </a:p>
        </p:txBody>
      </p:sp>
      <p:sp>
        <p:nvSpPr>
          <p:cNvPr id="14" name="Shape 12"/>
          <p:cNvSpPr/>
          <p:nvPr/>
        </p:nvSpPr>
        <p:spPr>
          <a:xfrm>
            <a:off x="594360" y="4069080"/>
            <a:ext cx="3505200" cy="1600200"/>
          </a:xfrm>
          <a:prstGeom prst="roundRect">
            <a:avLst>
              <a:gd name="adj" fmla="val 5143"/>
            </a:avLst>
          </a:prstGeom>
          <a:solidFill>
            <a:srgbClr val="1D1F2B"/>
          </a:solidFill>
          <a:ln w="12700">
            <a:solidFill>
              <a:srgbClr val="1D1F2B"/>
            </a:solidFill>
            <a:prstDash val="solid"/>
          </a:ln>
        </p:spPr>
      </p:sp>
      <p:sp>
        <p:nvSpPr>
          <p:cNvPr id="15" name="Text 13"/>
          <p:cNvSpPr/>
          <p:nvPr/>
        </p:nvSpPr>
        <p:spPr>
          <a:xfrm>
            <a:off x="795528" y="4197096"/>
            <a:ext cx="3102864" cy="384048"/>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Les obstacles perçus</a:t>
            </a:r>
            <a:endParaRPr lang="en-US" sz="1400" dirty="0"/>
          </a:p>
        </p:txBody>
      </p:sp>
      <p:sp>
        <p:nvSpPr>
          <p:cNvPr id="16" name="Text 14"/>
          <p:cNvSpPr/>
          <p:nvPr/>
        </p:nvSpPr>
        <p:spPr>
          <a:xfrm>
            <a:off x="795528" y="4581144"/>
            <a:ext cx="31028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peur du résultat, la gêne, la vidéo sur la coloscopie</a:t>
            </a:r>
            <a:endParaRPr lang="en-US" sz="1700" dirty="0"/>
          </a:p>
        </p:txBody>
      </p:sp>
      <p:sp>
        <p:nvSpPr>
          <p:cNvPr id="17" name="Shape 15"/>
          <p:cNvSpPr/>
          <p:nvPr/>
        </p:nvSpPr>
        <p:spPr>
          <a:xfrm>
            <a:off x="4328160" y="4069080"/>
            <a:ext cx="3505200" cy="1600200"/>
          </a:xfrm>
          <a:prstGeom prst="roundRect">
            <a:avLst>
              <a:gd name="adj" fmla="val 5143"/>
            </a:avLst>
          </a:prstGeom>
          <a:solidFill>
            <a:srgbClr val="1D1F2B"/>
          </a:solidFill>
          <a:ln w="12700">
            <a:solidFill>
              <a:srgbClr val="1D1F2B"/>
            </a:solidFill>
            <a:prstDash val="solid"/>
          </a:ln>
        </p:spPr>
      </p:sp>
      <p:sp>
        <p:nvSpPr>
          <p:cNvPr id="18" name="Text 16"/>
          <p:cNvSpPr/>
          <p:nvPr/>
        </p:nvSpPr>
        <p:spPr>
          <a:xfrm>
            <a:off x="4529328" y="4197096"/>
            <a:ext cx="3102864" cy="384048"/>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Les signaux d’action</a:t>
            </a:r>
            <a:endParaRPr lang="en-US" sz="1400" dirty="0"/>
          </a:p>
        </p:txBody>
      </p:sp>
      <p:sp>
        <p:nvSpPr>
          <p:cNvPr id="19" name="Text 17"/>
          <p:cNvSpPr/>
          <p:nvPr/>
        </p:nvSpPr>
        <p:spPr>
          <a:xfrm>
            <a:off x="4529328" y="4581144"/>
            <a:ext cx="31028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le médecin qui insiste, un voisin malade, une lettre</a:t>
            </a:r>
            <a:endParaRPr lang="en-US" sz="1700" dirty="0"/>
          </a:p>
        </p:txBody>
      </p:sp>
      <p:sp>
        <p:nvSpPr>
          <p:cNvPr id="20" name="Shape 18"/>
          <p:cNvSpPr/>
          <p:nvPr/>
        </p:nvSpPr>
        <p:spPr>
          <a:xfrm>
            <a:off x="8061960" y="4069080"/>
            <a:ext cx="3505200" cy="1600200"/>
          </a:xfrm>
          <a:prstGeom prst="roundRect">
            <a:avLst>
              <a:gd name="adj" fmla="val 5143"/>
            </a:avLst>
          </a:prstGeom>
          <a:solidFill>
            <a:srgbClr val="1D1F2B"/>
          </a:solidFill>
          <a:ln w="12700">
            <a:solidFill>
              <a:srgbClr val="1D1F2B"/>
            </a:solidFill>
            <a:prstDash val="solid"/>
          </a:ln>
        </p:spPr>
      </p:sp>
      <p:sp>
        <p:nvSpPr>
          <p:cNvPr id="21" name="Text 19"/>
          <p:cNvSpPr/>
          <p:nvPr/>
        </p:nvSpPr>
        <p:spPr>
          <a:xfrm>
            <a:off x="8263128" y="4197096"/>
            <a:ext cx="3102864" cy="384048"/>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L’auto-efficacité</a:t>
            </a:r>
            <a:endParaRPr lang="en-US" sz="1400" dirty="0"/>
          </a:p>
        </p:txBody>
      </p:sp>
      <p:sp>
        <p:nvSpPr>
          <p:cNvPr id="22" name="Text 20"/>
          <p:cNvSpPr/>
          <p:nvPr/>
        </p:nvSpPr>
        <p:spPr>
          <a:xfrm>
            <a:off x="8263128" y="4581144"/>
            <a:ext cx="3102864" cy="9601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croit-il pouvoir faire le test seul, chez lui ?</a:t>
            </a:r>
            <a:endParaRPr lang="en-US" sz="17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Lau et al., 2020.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QUE MONTRENT LES DONNÉES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Une association n’est pas une cause</a:t>
            </a:r>
            <a:endParaRPr lang="en-US" sz="3200" dirty="0"/>
          </a:p>
        </p:txBody>
      </p:sp>
      <p:sp>
        <p:nvSpPr>
          <p:cNvPr id="4" name="Shape 2"/>
          <p:cNvSpPr/>
          <p:nvPr/>
        </p:nvSpPr>
        <p:spPr>
          <a:xfrm>
            <a:off x="594360" y="1600200"/>
            <a:ext cx="4206240" cy="2011680"/>
          </a:xfrm>
          <a:prstGeom prst="roundRect">
            <a:avLst>
              <a:gd name="adj" fmla="val 4091"/>
            </a:avLst>
          </a:prstGeom>
          <a:solidFill>
            <a:srgbClr val="ECEAE4"/>
          </a:solidFill>
          <a:ln w="12700">
            <a:solidFill>
              <a:srgbClr val="ECEAE4"/>
            </a:solidFill>
            <a:prstDash val="solid"/>
          </a:ln>
        </p:spPr>
      </p:sp>
      <p:sp>
        <p:nvSpPr>
          <p:cNvPr id="5" name="Text 3"/>
          <p:cNvSpPr/>
          <p:nvPr/>
        </p:nvSpPr>
        <p:spPr>
          <a:xfrm>
            <a:off x="868680" y="1709928"/>
            <a:ext cx="3657600" cy="1005840"/>
          </a:xfrm>
          <a:prstGeom prst="rect">
            <a:avLst/>
          </a:prstGeom>
          <a:noFill/>
          <a:ln/>
        </p:spPr>
        <p:txBody>
          <a:bodyPr wrap="square" lIns="0" tIns="0" rIns="0" bIns="0" rtlCol="0" anchor="ctr"/>
          <a:lstStyle/>
          <a:p>
            <a:pPr indent="0" marL="0">
              <a:buNone/>
            </a:pPr>
            <a:r>
              <a:rPr lang="en-US" sz="5400" b="1" dirty="0">
                <a:solidFill>
                  <a:srgbClr val="B02532"/>
                </a:solidFill>
                <a:latin typeface="Palatino Linotype" pitchFamily="34" charset="0"/>
                <a:ea typeface="Palatino Linotype" pitchFamily="34" charset="-122"/>
                <a:cs typeface="Palatino Linotype" pitchFamily="34" charset="-120"/>
              </a:rPr>
              <a:t>30</a:t>
            </a:r>
            <a:endParaRPr lang="en-US" sz="5400" dirty="0"/>
          </a:p>
        </p:txBody>
      </p:sp>
      <p:sp>
        <p:nvSpPr>
          <p:cNvPr id="6" name="Text 4"/>
          <p:cNvSpPr/>
          <p:nvPr/>
        </p:nvSpPr>
        <p:spPr>
          <a:xfrm>
            <a:off x="868680" y="2624328"/>
            <a:ext cx="3657600" cy="925373"/>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études transversales : la revue systématique de 2020, dépistage colorectal</a:t>
            </a:r>
            <a:endParaRPr lang="en-US" sz="1200" dirty="0"/>
          </a:p>
        </p:txBody>
      </p:sp>
      <p:sp>
        <p:nvSpPr>
          <p:cNvPr id="7" name="Shape 5"/>
          <p:cNvSpPr/>
          <p:nvPr/>
        </p:nvSpPr>
        <p:spPr>
          <a:xfrm>
            <a:off x="5029200" y="1600200"/>
            <a:ext cx="6537960" cy="2011680"/>
          </a:xfrm>
          <a:prstGeom prst="roundRect">
            <a:avLst>
              <a:gd name="adj" fmla="val 4091"/>
            </a:avLst>
          </a:prstGeom>
          <a:solidFill>
            <a:srgbClr val="ECEAE4"/>
          </a:solidFill>
          <a:ln w="12700">
            <a:solidFill>
              <a:srgbClr val="ECEAE4"/>
            </a:solidFill>
            <a:prstDash val="solid"/>
          </a:ln>
        </p:spPr>
      </p:sp>
      <p:sp>
        <p:nvSpPr>
          <p:cNvPr id="8" name="Text 6"/>
          <p:cNvSpPr/>
          <p:nvPr/>
        </p:nvSpPr>
        <p:spPr>
          <a:xfrm>
            <a:off x="5303520" y="1600200"/>
            <a:ext cx="6035040" cy="201168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La vulnérabilité, les bénéfices et les signaux d’action étaient associés au dépistage ; les obstacles, inversement.</a:t>
            </a:r>
            <a:endParaRPr lang="en-US" sz="1800" dirty="0"/>
          </a:p>
        </p:txBody>
      </p:sp>
      <p:sp>
        <p:nvSpPr>
          <p:cNvPr id="9" name="Text 7"/>
          <p:cNvSpPr/>
          <p:nvPr/>
        </p:nvSpPr>
        <p:spPr>
          <a:xfrm>
            <a:off x="594360" y="3794760"/>
            <a:ext cx="1097280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LES LIMITES</a:t>
            </a:r>
            <a:endParaRPr lang="en-US" sz="1300" dirty="0"/>
          </a:p>
        </p:txBody>
      </p:sp>
      <p:sp>
        <p:nvSpPr>
          <p:cNvPr id="10" name="Shape 8"/>
          <p:cNvSpPr/>
          <p:nvPr/>
        </p:nvSpPr>
        <p:spPr>
          <a:xfrm>
            <a:off x="594360" y="4206240"/>
            <a:ext cx="3520440" cy="822960"/>
          </a:xfrm>
          <a:prstGeom prst="roundRect">
            <a:avLst>
              <a:gd name="adj" fmla="val 10000"/>
            </a:avLst>
          </a:prstGeom>
          <a:solidFill>
            <a:srgbClr val="ECEAE4"/>
          </a:solidFill>
          <a:ln w="12700">
            <a:solidFill>
              <a:srgbClr val="ECEAE4"/>
            </a:solidFill>
            <a:prstDash val="solid"/>
          </a:ln>
        </p:spPr>
      </p:sp>
      <p:sp>
        <p:nvSpPr>
          <p:cNvPr id="11" name="Text 9"/>
          <p:cNvSpPr/>
          <p:nvPr/>
        </p:nvSpPr>
        <p:spPr>
          <a:xfrm>
            <a:off x="731520" y="4206240"/>
            <a:ext cx="3246120" cy="82296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croyances et comportement, mesurés au même moment</a:t>
            </a:r>
            <a:endParaRPr lang="en-US" sz="1450" dirty="0"/>
          </a:p>
        </p:txBody>
      </p:sp>
      <p:sp>
        <p:nvSpPr>
          <p:cNvPr id="12" name="Shape 10"/>
          <p:cNvSpPr/>
          <p:nvPr/>
        </p:nvSpPr>
        <p:spPr>
          <a:xfrm>
            <a:off x="4343400" y="4206240"/>
            <a:ext cx="3520440" cy="822960"/>
          </a:xfrm>
          <a:prstGeom prst="roundRect">
            <a:avLst>
              <a:gd name="adj" fmla="val 10000"/>
            </a:avLst>
          </a:prstGeom>
          <a:solidFill>
            <a:srgbClr val="ECEAE4"/>
          </a:solidFill>
          <a:ln w="12700">
            <a:solidFill>
              <a:srgbClr val="ECEAE4"/>
            </a:solidFill>
            <a:prstDash val="solid"/>
          </a:ln>
        </p:spPr>
      </p:sp>
      <p:sp>
        <p:nvSpPr>
          <p:cNvPr id="13" name="Text 11"/>
          <p:cNvSpPr/>
          <p:nvPr/>
        </p:nvSpPr>
        <p:spPr>
          <a:xfrm>
            <a:off x="4480560" y="4206240"/>
            <a:ext cx="3246120" cy="82296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comportement déclaré, échantillons de convenance</a:t>
            </a:r>
            <a:endParaRPr lang="en-US" sz="1450" dirty="0"/>
          </a:p>
        </p:txBody>
      </p:sp>
      <p:sp>
        <p:nvSpPr>
          <p:cNvPr id="14" name="Shape 12"/>
          <p:cNvSpPr/>
          <p:nvPr/>
        </p:nvSpPr>
        <p:spPr>
          <a:xfrm>
            <a:off x="8092440" y="4206240"/>
            <a:ext cx="3520440" cy="822960"/>
          </a:xfrm>
          <a:prstGeom prst="roundRect">
            <a:avLst>
              <a:gd name="adj" fmla="val 10000"/>
            </a:avLst>
          </a:prstGeom>
          <a:solidFill>
            <a:srgbClr val="ECEAE4"/>
          </a:solidFill>
          <a:ln w="12700">
            <a:solidFill>
              <a:srgbClr val="ECEAE4"/>
            </a:solidFill>
            <a:prstDash val="solid"/>
          </a:ln>
        </p:spPr>
      </p:sp>
      <p:sp>
        <p:nvSpPr>
          <p:cNvPr id="15" name="Text 13"/>
          <p:cNvSpPr/>
          <p:nvPr/>
        </p:nvSpPr>
        <p:spPr>
          <a:xfrm>
            <a:off x="8229600" y="4206240"/>
            <a:ext cx="3246120" cy="82296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facteurs sociodémographiques et normes culturelles, seulement comme facteurs modificateurs</a:t>
            </a:r>
            <a:endParaRPr lang="en-US" sz="1450" dirty="0"/>
          </a:p>
        </p:txBody>
      </p:sp>
      <p:sp>
        <p:nvSpPr>
          <p:cNvPr id="16" name="Shape 14"/>
          <p:cNvSpPr/>
          <p:nvPr/>
        </p:nvSpPr>
        <p:spPr>
          <a:xfrm>
            <a:off x="594360" y="5257800"/>
            <a:ext cx="10972800" cy="731520"/>
          </a:xfrm>
          <a:prstGeom prst="roundRect">
            <a:avLst>
              <a:gd name="adj" fmla="val 11250"/>
            </a:avLst>
          </a:prstGeom>
          <a:solidFill>
            <a:srgbClr val="11121A"/>
          </a:solidFill>
          <a:ln w="12700">
            <a:solidFill>
              <a:srgbClr val="11121A"/>
            </a:solidFill>
            <a:prstDash val="solid"/>
          </a:ln>
        </p:spPr>
      </p:sp>
      <p:sp>
        <p:nvSpPr>
          <p:cNvPr id="17" name="Text 15"/>
          <p:cNvSpPr/>
          <p:nvPr/>
        </p:nvSpPr>
        <p:spPr>
          <a:xfrm>
            <a:off x="868680" y="5257800"/>
            <a:ext cx="10424160" cy="7315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Pour le milieu, le coût et les normes : un modèle plus large.</a:t>
            </a:r>
            <a:endParaRPr lang="en-US" sz="18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Lau et al., 2020.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DEUXIÈME MODÈLE · COM-B</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Capacité, opportunité, motivation</a:t>
            </a:r>
            <a:endParaRPr lang="en-US" sz="3200" dirty="0"/>
          </a:p>
        </p:txBody>
      </p:sp>
      <p:sp>
        <p:nvSpPr>
          <p:cNvPr id="4" name="Shape 2"/>
          <p:cNvSpPr/>
          <p:nvPr/>
        </p:nvSpPr>
        <p:spPr>
          <a:xfrm>
            <a:off x="594360" y="1554480"/>
            <a:ext cx="10972800" cy="1508760"/>
          </a:xfrm>
          <a:prstGeom prst="roundRect">
            <a:avLst>
              <a:gd name="adj" fmla="val 5455"/>
            </a:avLst>
          </a:prstGeom>
          <a:solidFill>
            <a:srgbClr val="272A38"/>
          </a:solidFill>
          <a:ln w="12700">
            <a:solidFill>
              <a:srgbClr val="272A38"/>
            </a:solidFill>
            <a:prstDash val="solid"/>
          </a:ln>
        </p:spPr>
      </p:sp>
      <p:sp>
        <p:nvSpPr>
          <p:cNvPr id="5" name="Text 3"/>
          <p:cNvSpPr/>
          <p:nvPr/>
        </p:nvSpPr>
        <p:spPr>
          <a:xfrm>
            <a:off x="868680" y="1600200"/>
            <a:ext cx="10424160" cy="105156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Un comportement n’a lieu que lorsque la personne a la capacité et l’opportunité de l’adopter et qu’elle est plus motivée pour lui que pour tout autre comportement.</a:t>
            </a:r>
            <a:endParaRPr lang="en-US" sz="1900" dirty="0"/>
          </a:p>
        </p:txBody>
      </p:sp>
      <p:sp>
        <p:nvSpPr>
          <p:cNvPr id="6" name="Text 4"/>
          <p:cNvSpPr/>
          <p:nvPr/>
        </p:nvSpPr>
        <p:spPr>
          <a:xfrm>
            <a:off x="868680" y="2651760"/>
            <a:ext cx="10424160" cy="320040"/>
          </a:xfrm>
          <a:prstGeom prst="rect">
            <a:avLst/>
          </a:prstGeom>
          <a:noFill/>
          <a:ln/>
        </p:spPr>
        <p:txBody>
          <a:bodyPr wrap="square" lIns="0" tIns="0" rIns="0" bIns="0" rtlCol="0" anchor="t"/>
          <a:lstStyle/>
          <a:p>
            <a:pPr indent="0" marL="0">
              <a:buNone/>
            </a:pPr>
            <a:r>
              <a:rPr lang="en-US" sz="1300" b="1" dirty="0">
                <a:solidFill>
                  <a:srgbClr val="FFC24B"/>
                </a:solidFill>
                <a:latin typeface="Palatino Linotype" pitchFamily="34" charset="0"/>
                <a:ea typeface="Palatino Linotype" pitchFamily="34" charset="-122"/>
                <a:cs typeface="Palatino Linotype" pitchFamily="34" charset="-120"/>
              </a:rPr>
              <a:t>West et Michie, 2020</a:t>
            </a:r>
            <a:endParaRPr lang="en-US" sz="1300" dirty="0"/>
          </a:p>
        </p:txBody>
      </p:sp>
      <p:sp>
        <p:nvSpPr>
          <p:cNvPr id="7" name="Shape 5"/>
          <p:cNvSpPr/>
          <p:nvPr/>
        </p:nvSpPr>
        <p:spPr>
          <a:xfrm>
            <a:off x="594360" y="3291840"/>
            <a:ext cx="3520440" cy="2514600"/>
          </a:xfrm>
          <a:prstGeom prst="roundRect">
            <a:avLst>
              <a:gd name="adj" fmla="val 3273"/>
            </a:avLst>
          </a:prstGeom>
          <a:solidFill>
            <a:srgbClr val="1D1F2B"/>
          </a:solidFill>
          <a:ln w="12700">
            <a:solidFill>
              <a:srgbClr val="1D1F2B"/>
            </a:solidFill>
            <a:prstDash val="solid"/>
          </a:ln>
        </p:spPr>
      </p:sp>
      <p:sp>
        <p:nvSpPr>
          <p:cNvPr id="8" name="Shape 6"/>
          <p:cNvSpPr/>
          <p:nvPr/>
        </p:nvSpPr>
        <p:spPr>
          <a:xfrm>
            <a:off x="822960" y="3456432"/>
            <a:ext cx="566928" cy="566928"/>
          </a:xfrm>
          <a:prstGeom prst="ellipse">
            <a:avLst/>
          </a:prstGeom>
          <a:solidFill>
            <a:srgbClr val="FF4757"/>
          </a:solidFill>
          <a:ln/>
        </p:spPr>
      </p:sp>
      <p:sp>
        <p:nvSpPr>
          <p:cNvPr id="9" name="Text 7"/>
          <p:cNvSpPr/>
          <p:nvPr/>
        </p:nvSpPr>
        <p:spPr>
          <a:xfrm>
            <a:off x="822960" y="3456432"/>
            <a:ext cx="566928" cy="566928"/>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C</a:t>
            </a:r>
            <a:endParaRPr lang="en-US" sz="1700" dirty="0"/>
          </a:p>
        </p:txBody>
      </p:sp>
      <p:sp>
        <p:nvSpPr>
          <p:cNvPr id="10" name="Text 8"/>
          <p:cNvSpPr/>
          <p:nvPr/>
        </p:nvSpPr>
        <p:spPr>
          <a:xfrm>
            <a:off x="1508760" y="3456432"/>
            <a:ext cx="2468880" cy="566928"/>
          </a:xfrm>
          <a:prstGeom prst="rect">
            <a:avLst/>
          </a:prstGeom>
          <a:noFill/>
          <a:ln/>
        </p:spPr>
        <p:txBody>
          <a:bodyPr wrap="square" lIns="0" tIns="0" rIns="0" bIns="0" rtlCol="0" anchor="ctr"/>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La capacité</a:t>
            </a:r>
            <a:endParaRPr lang="en-US" sz="1900" dirty="0"/>
          </a:p>
        </p:txBody>
      </p:sp>
      <p:sp>
        <p:nvSpPr>
          <p:cNvPr id="11" name="Text 9"/>
          <p:cNvSpPr/>
          <p:nvPr/>
        </p:nvSpPr>
        <p:spPr>
          <a:xfrm>
            <a:off x="822960" y="4160520"/>
            <a:ext cx="3108960" cy="1554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psychologique et physique : connaissances, aptitudes</a:t>
            </a:r>
            <a:endParaRPr lang="en-US" sz="1600" dirty="0"/>
          </a:p>
        </p:txBody>
      </p:sp>
      <p:sp>
        <p:nvSpPr>
          <p:cNvPr id="12" name="Shape 10"/>
          <p:cNvSpPr/>
          <p:nvPr/>
        </p:nvSpPr>
        <p:spPr>
          <a:xfrm>
            <a:off x="4343400" y="3291840"/>
            <a:ext cx="3520440" cy="2514600"/>
          </a:xfrm>
          <a:prstGeom prst="roundRect">
            <a:avLst>
              <a:gd name="adj" fmla="val 3273"/>
            </a:avLst>
          </a:prstGeom>
          <a:solidFill>
            <a:srgbClr val="1D1F2B"/>
          </a:solidFill>
          <a:ln w="12700">
            <a:solidFill>
              <a:srgbClr val="1D1F2B"/>
            </a:solidFill>
            <a:prstDash val="solid"/>
          </a:ln>
        </p:spPr>
      </p:sp>
      <p:sp>
        <p:nvSpPr>
          <p:cNvPr id="13" name="Shape 11"/>
          <p:cNvSpPr/>
          <p:nvPr/>
        </p:nvSpPr>
        <p:spPr>
          <a:xfrm>
            <a:off x="4572000" y="3456432"/>
            <a:ext cx="566928" cy="566928"/>
          </a:xfrm>
          <a:prstGeom prst="ellipse">
            <a:avLst/>
          </a:prstGeom>
          <a:solidFill>
            <a:srgbClr val="27D3BE"/>
          </a:solidFill>
          <a:ln/>
        </p:spPr>
      </p:sp>
      <p:sp>
        <p:nvSpPr>
          <p:cNvPr id="14" name="Text 12"/>
          <p:cNvSpPr/>
          <p:nvPr/>
        </p:nvSpPr>
        <p:spPr>
          <a:xfrm>
            <a:off x="4572000" y="3456432"/>
            <a:ext cx="566928" cy="566928"/>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O</a:t>
            </a:r>
            <a:endParaRPr lang="en-US" sz="1700" dirty="0"/>
          </a:p>
        </p:txBody>
      </p:sp>
      <p:sp>
        <p:nvSpPr>
          <p:cNvPr id="15" name="Text 13"/>
          <p:cNvSpPr/>
          <p:nvPr/>
        </p:nvSpPr>
        <p:spPr>
          <a:xfrm>
            <a:off x="5257800" y="3456432"/>
            <a:ext cx="2468880" cy="566928"/>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L’opportunité</a:t>
            </a:r>
            <a:endParaRPr lang="en-US" sz="1900" dirty="0"/>
          </a:p>
        </p:txBody>
      </p:sp>
      <p:sp>
        <p:nvSpPr>
          <p:cNvPr id="16" name="Text 14"/>
          <p:cNvSpPr/>
          <p:nvPr/>
        </p:nvSpPr>
        <p:spPr>
          <a:xfrm>
            <a:off x="4572000" y="4160520"/>
            <a:ext cx="3108960" cy="1554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les facteurs extérieurs qui rendent le comportement possible ou le déclenchent</a:t>
            </a:r>
            <a:endParaRPr lang="en-US" sz="1600" dirty="0"/>
          </a:p>
        </p:txBody>
      </p:sp>
      <p:sp>
        <p:nvSpPr>
          <p:cNvPr id="17" name="Shape 15"/>
          <p:cNvSpPr/>
          <p:nvPr/>
        </p:nvSpPr>
        <p:spPr>
          <a:xfrm>
            <a:off x="8092440" y="3291840"/>
            <a:ext cx="3520440" cy="2514600"/>
          </a:xfrm>
          <a:prstGeom prst="roundRect">
            <a:avLst>
              <a:gd name="adj" fmla="val 3273"/>
            </a:avLst>
          </a:prstGeom>
          <a:solidFill>
            <a:srgbClr val="1D1F2B"/>
          </a:solidFill>
          <a:ln w="12700">
            <a:solidFill>
              <a:srgbClr val="1D1F2B"/>
            </a:solidFill>
            <a:prstDash val="solid"/>
          </a:ln>
        </p:spPr>
      </p:sp>
      <p:sp>
        <p:nvSpPr>
          <p:cNvPr id="18" name="Shape 16"/>
          <p:cNvSpPr/>
          <p:nvPr/>
        </p:nvSpPr>
        <p:spPr>
          <a:xfrm>
            <a:off x="8321040" y="3456432"/>
            <a:ext cx="566928" cy="566928"/>
          </a:xfrm>
          <a:prstGeom prst="ellipse">
            <a:avLst/>
          </a:prstGeom>
          <a:solidFill>
            <a:srgbClr val="FFC24B"/>
          </a:solidFill>
          <a:ln/>
        </p:spPr>
      </p:sp>
      <p:sp>
        <p:nvSpPr>
          <p:cNvPr id="19" name="Text 17"/>
          <p:cNvSpPr/>
          <p:nvPr/>
        </p:nvSpPr>
        <p:spPr>
          <a:xfrm>
            <a:off x="8321040" y="3456432"/>
            <a:ext cx="566928" cy="566928"/>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M</a:t>
            </a:r>
            <a:endParaRPr lang="en-US" sz="1700" dirty="0"/>
          </a:p>
        </p:txBody>
      </p:sp>
      <p:sp>
        <p:nvSpPr>
          <p:cNvPr id="20" name="Text 18"/>
          <p:cNvSpPr/>
          <p:nvPr/>
        </p:nvSpPr>
        <p:spPr>
          <a:xfrm>
            <a:off x="9006840" y="3456432"/>
            <a:ext cx="2468880" cy="566928"/>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La motivation</a:t>
            </a:r>
            <a:endParaRPr lang="en-US" sz="1900" dirty="0"/>
          </a:p>
        </p:txBody>
      </p:sp>
      <p:sp>
        <p:nvSpPr>
          <p:cNvPr id="21" name="Text 19"/>
          <p:cNvSpPr/>
          <p:nvPr/>
        </p:nvSpPr>
        <p:spPr>
          <a:xfrm>
            <a:off x="8321040" y="4160520"/>
            <a:ext cx="3108960" cy="1554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les processus qui donnent énergie et direction au comportement, pas seulement les décisions conscientes</a:t>
            </a:r>
            <a:endParaRPr lang="en-US" sz="16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Michie, van Stralen et West, 2011 ; West et Michie, 2020.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MOTIVATION A DEUX COMPOSANTES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 Je veux arrêter » et la cigarette après le café</a:t>
            </a:r>
            <a:endParaRPr lang="en-US" sz="3000" dirty="0"/>
          </a:p>
        </p:txBody>
      </p:sp>
      <p:sp>
        <p:nvSpPr>
          <p:cNvPr id="4" name="Shape 2"/>
          <p:cNvSpPr/>
          <p:nvPr/>
        </p:nvSpPr>
        <p:spPr>
          <a:xfrm>
            <a:off x="594360" y="1600200"/>
            <a:ext cx="5372100" cy="1463040"/>
          </a:xfrm>
          <a:prstGeom prst="roundRect">
            <a:avLst>
              <a:gd name="adj" fmla="val 5625"/>
            </a:avLst>
          </a:prstGeom>
          <a:solidFill>
            <a:srgbClr val="ECEAE4"/>
          </a:solidFill>
          <a:ln w="12700">
            <a:solidFill>
              <a:srgbClr val="ECEAE4"/>
            </a:solidFill>
            <a:prstDash val="solid"/>
          </a:ln>
        </p:spPr>
      </p:sp>
      <p:sp>
        <p:nvSpPr>
          <p:cNvPr id="5" name="Text 3"/>
          <p:cNvSpPr/>
          <p:nvPr/>
        </p:nvSpPr>
        <p:spPr>
          <a:xfrm>
            <a:off x="795528" y="1728216"/>
            <a:ext cx="49697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RÉFLEXIVE</a:t>
            </a:r>
            <a:endParaRPr lang="en-US" sz="1300" dirty="0"/>
          </a:p>
        </p:txBody>
      </p:sp>
      <p:sp>
        <p:nvSpPr>
          <p:cNvPr id="6" name="Text 4"/>
          <p:cNvSpPr/>
          <p:nvPr/>
        </p:nvSpPr>
        <p:spPr>
          <a:xfrm>
            <a:off x="795528" y="2112264"/>
            <a:ext cx="4969764"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projets, évaluations, croyances sur les conséquences : « je veux arrêter »</a:t>
            </a:r>
            <a:endParaRPr lang="en-US" sz="1800" dirty="0"/>
          </a:p>
        </p:txBody>
      </p:sp>
      <p:sp>
        <p:nvSpPr>
          <p:cNvPr id="7" name="Shape 5"/>
          <p:cNvSpPr/>
          <p:nvPr/>
        </p:nvSpPr>
        <p:spPr>
          <a:xfrm>
            <a:off x="6195060" y="1600200"/>
            <a:ext cx="5372100" cy="1463040"/>
          </a:xfrm>
          <a:prstGeom prst="roundRect">
            <a:avLst>
              <a:gd name="adj" fmla="val 5625"/>
            </a:avLst>
          </a:prstGeom>
          <a:solidFill>
            <a:srgbClr val="ECEAE4"/>
          </a:solidFill>
          <a:ln w="12700">
            <a:solidFill>
              <a:srgbClr val="ECEAE4"/>
            </a:solidFill>
            <a:prstDash val="solid"/>
          </a:ln>
        </p:spPr>
      </p:sp>
      <p:sp>
        <p:nvSpPr>
          <p:cNvPr id="8" name="Text 6"/>
          <p:cNvSpPr/>
          <p:nvPr/>
        </p:nvSpPr>
        <p:spPr>
          <a:xfrm>
            <a:off x="6396228" y="1728216"/>
            <a:ext cx="4969764" cy="384048"/>
          </a:xfrm>
          <a:prstGeom prst="rect">
            <a:avLst/>
          </a:prstGeom>
          <a:noFill/>
          <a:ln/>
        </p:spPr>
        <p:txBody>
          <a:bodyPr wrap="square" lIns="0" tIns="0" rIns="0" bIns="0" rtlCol="0" anchor="t"/>
          <a:lstStyle/>
          <a:p>
            <a:pPr indent="0" marL="0">
              <a:buNone/>
            </a:pPr>
            <a:r>
              <a:rPr lang="en-US" sz="1300" b="1" spc="100" kern="0" dirty="0">
                <a:solidFill>
                  <a:srgbClr val="9C4A0A"/>
                </a:solidFill>
                <a:latin typeface="Palatino Linotype" pitchFamily="34" charset="0"/>
                <a:ea typeface="Palatino Linotype" pitchFamily="34" charset="-122"/>
                <a:cs typeface="Palatino Linotype" pitchFamily="34" charset="-120"/>
              </a:rPr>
              <a:t>ÉMOTIONNELLE ET D’HABITUDE</a:t>
            </a:r>
            <a:endParaRPr lang="en-US" sz="1300" dirty="0"/>
          </a:p>
        </p:txBody>
      </p:sp>
      <p:sp>
        <p:nvSpPr>
          <p:cNvPr id="9" name="Text 7"/>
          <p:cNvSpPr/>
          <p:nvPr/>
        </p:nvSpPr>
        <p:spPr>
          <a:xfrm>
            <a:off x="6396228" y="2112264"/>
            <a:ext cx="4969764"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les réactions et les habitudes : la cigarette après le café</a:t>
            </a:r>
            <a:endParaRPr lang="en-US" sz="1800" dirty="0"/>
          </a:p>
        </p:txBody>
      </p:sp>
      <p:sp>
        <p:nvSpPr>
          <p:cNvPr id="10" name="Text 8"/>
          <p:cNvSpPr/>
          <p:nvPr/>
        </p:nvSpPr>
        <p:spPr>
          <a:xfrm>
            <a:off x="594360" y="3291840"/>
            <a:ext cx="10972800" cy="73152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Les flèches comptent : l’opportunité et la capacité influencent la motivation ; le comportement les modifie toutes.</a:t>
            </a:r>
            <a:endParaRPr lang="en-US" sz="1800" dirty="0"/>
          </a:p>
        </p:txBody>
      </p:sp>
      <p:sp>
        <p:nvSpPr>
          <p:cNvPr id="11" name="Shape 9"/>
          <p:cNvSpPr/>
          <p:nvPr/>
        </p:nvSpPr>
        <p:spPr>
          <a:xfrm>
            <a:off x="594360" y="4160520"/>
            <a:ext cx="10972800" cy="1600200"/>
          </a:xfrm>
          <a:prstGeom prst="roundRect">
            <a:avLst>
              <a:gd name="adj" fmla="val 5143"/>
            </a:avLst>
          </a:prstGeom>
          <a:solidFill>
            <a:srgbClr val="11121A"/>
          </a:solidFill>
          <a:ln w="12700">
            <a:solidFill>
              <a:srgbClr val="11121A"/>
            </a:solidFill>
            <a:prstDash val="solid"/>
          </a:ln>
        </p:spPr>
      </p:sp>
      <p:sp>
        <p:nvSpPr>
          <p:cNvPr id="12" name="Text 10"/>
          <p:cNvSpPr/>
          <p:nvPr/>
        </p:nvSpPr>
        <p:spPr>
          <a:xfrm>
            <a:off x="868680" y="4160520"/>
            <a:ext cx="10424160" cy="16002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L’exemple des auteurs : la pratique de la conduite augmente la capacité, et celle-ci, l’envie de conduire.</a:t>
            </a:r>
            <a:endParaRPr lang="en-US" sz="18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West et Michie, 2020 ; Michie et al., 2011.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L’ARTICLE DE 2011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 roue du changement de comportement</a:t>
            </a:r>
            <a:endParaRPr lang="en-US" sz="3200" dirty="0"/>
          </a:p>
        </p:txBody>
      </p:sp>
      <p:sp>
        <p:nvSpPr>
          <p:cNvPr id="4" name="Shape 2"/>
          <p:cNvSpPr/>
          <p:nvPr/>
        </p:nvSpPr>
        <p:spPr>
          <a:xfrm>
            <a:off x="594360" y="1554480"/>
            <a:ext cx="4023360" cy="4023360"/>
          </a:xfrm>
          <a:prstGeom prst="ellipse">
            <a:avLst/>
          </a:prstGeom>
          <a:solidFill>
            <a:srgbClr val="272A38"/>
          </a:solidFill>
          <a:ln w="25400">
            <a:solidFill>
              <a:srgbClr val="11121A"/>
            </a:solidFill>
            <a:prstDash val="solid"/>
          </a:ln>
        </p:spPr>
      </p:sp>
      <p:sp>
        <p:nvSpPr>
          <p:cNvPr id="5" name="Shape 3"/>
          <p:cNvSpPr/>
          <p:nvPr/>
        </p:nvSpPr>
        <p:spPr>
          <a:xfrm>
            <a:off x="1143000" y="2103120"/>
            <a:ext cx="2926080" cy="2926080"/>
          </a:xfrm>
          <a:prstGeom prst="ellipse">
            <a:avLst/>
          </a:prstGeom>
          <a:solidFill>
            <a:srgbClr val="07564B"/>
          </a:solidFill>
          <a:ln w="25400">
            <a:solidFill>
              <a:srgbClr val="11121A"/>
            </a:solidFill>
            <a:prstDash val="solid"/>
          </a:ln>
        </p:spPr>
      </p:sp>
      <p:sp>
        <p:nvSpPr>
          <p:cNvPr id="6" name="Shape 4"/>
          <p:cNvSpPr/>
          <p:nvPr/>
        </p:nvSpPr>
        <p:spPr>
          <a:xfrm>
            <a:off x="1783080" y="2743200"/>
            <a:ext cx="1645920" cy="1645920"/>
          </a:xfrm>
          <a:prstGeom prst="ellipse">
            <a:avLst/>
          </a:prstGeom>
          <a:solidFill>
            <a:srgbClr val="FF4757"/>
          </a:solidFill>
          <a:ln w="25400">
            <a:solidFill>
              <a:srgbClr val="11121A"/>
            </a:solidFill>
            <a:prstDash val="solid"/>
          </a:ln>
        </p:spPr>
      </p:sp>
      <p:sp>
        <p:nvSpPr>
          <p:cNvPr id="7" name="Text 5"/>
          <p:cNvSpPr/>
          <p:nvPr/>
        </p:nvSpPr>
        <p:spPr>
          <a:xfrm>
            <a:off x="1783080" y="2743200"/>
            <a:ext cx="1645920" cy="1645920"/>
          </a:xfrm>
          <a:prstGeom prst="rect">
            <a:avLst/>
          </a:prstGeom>
          <a:noFill/>
          <a:ln/>
        </p:spPr>
        <p:txBody>
          <a:bodyPr wrap="square" lIns="0" tIns="0" rIns="0" bIns="0" rtlCol="0" anchor="ctr"/>
          <a:lstStyle/>
          <a:p>
            <a:pPr algn="ctr" indent="0" marL="0">
              <a:buNone/>
            </a:pPr>
            <a:r>
              <a:rPr lang="en-US" sz="2000" b="1" dirty="0">
                <a:solidFill>
                  <a:srgbClr val="2E060B"/>
                </a:solidFill>
                <a:latin typeface="Palatino Linotype" pitchFamily="34" charset="0"/>
                <a:ea typeface="Palatino Linotype" pitchFamily="34" charset="-122"/>
                <a:cs typeface="Palatino Linotype" pitchFamily="34" charset="-120"/>
              </a:rPr>
              <a:t>COM-B</a:t>
            </a:r>
            <a:endParaRPr lang="en-US" sz="2000" dirty="0"/>
          </a:p>
        </p:txBody>
      </p:sp>
      <p:sp>
        <p:nvSpPr>
          <p:cNvPr id="8" name="Text 6"/>
          <p:cNvSpPr/>
          <p:nvPr/>
        </p:nvSpPr>
        <p:spPr>
          <a:xfrm>
            <a:off x="1143000" y="2176272"/>
            <a:ext cx="2926080" cy="502920"/>
          </a:xfrm>
          <a:prstGeom prst="rect">
            <a:avLst/>
          </a:prstGeom>
          <a:noFill/>
          <a:ln/>
        </p:spPr>
        <p:txBody>
          <a:bodyPr wrap="square" lIns="0" tIns="0" rIns="0" bIns="0" rtlCol="0" anchor="t"/>
          <a:lstStyle/>
          <a:p>
            <a:pPr algn="ctr" indent="0" marL="0">
              <a:buNone/>
            </a:pPr>
            <a:r>
              <a:rPr lang="en-US" sz="1250" b="1" dirty="0">
                <a:solidFill>
                  <a:srgbClr val="FFFFFF"/>
                </a:solidFill>
                <a:latin typeface="Palatino Linotype" pitchFamily="34" charset="0"/>
                <a:ea typeface="Palatino Linotype" pitchFamily="34" charset="-122"/>
                <a:cs typeface="Palatino Linotype" pitchFamily="34" charset="-120"/>
              </a:rPr>
              <a:t>neuf fonctions d’intervention</a:t>
            </a:r>
            <a:endParaRPr lang="en-US" sz="1250" dirty="0"/>
          </a:p>
        </p:txBody>
      </p:sp>
      <p:sp>
        <p:nvSpPr>
          <p:cNvPr id="9" name="Text 7"/>
          <p:cNvSpPr/>
          <p:nvPr/>
        </p:nvSpPr>
        <p:spPr>
          <a:xfrm>
            <a:off x="594360" y="1627632"/>
            <a:ext cx="4023360" cy="457200"/>
          </a:xfrm>
          <a:prstGeom prst="rect">
            <a:avLst/>
          </a:prstGeom>
          <a:noFill/>
          <a:ln/>
        </p:spPr>
        <p:txBody>
          <a:bodyPr wrap="square" lIns="0" tIns="0" rIns="0" bIns="0" rtlCol="0" anchor="t"/>
          <a:lstStyle/>
          <a:p>
            <a:pPr algn="ctr" indent="0" marL="0">
              <a:buNone/>
            </a:pPr>
            <a:r>
              <a:rPr lang="en-US" sz="1250" b="1" dirty="0">
                <a:solidFill>
                  <a:srgbClr val="FFC24B"/>
                </a:solidFill>
                <a:latin typeface="Palatino Linotype" pitchFamily="34" charset="0"/>
                <a:ea typeface="Palatino Linotype" pitchFamily="34" charset="-122"/>
                <a:cs typeface="Palatino Linotype" pitchFamily="34" charset="-120"/>
              </a:rPr>
              <a:t>sept catégories de politiques</a:t>
            </a:r>
            <a:endParaRPr lang="en-US" sz="1250" dirty="0"/>
          </a:p>
        </p:txBody>
      </p:sp>
      <p:sp>
        <p:nvSpPr>
          <p:cNvPr id="10" name="Text 8"/>
          <p:cNvSpPr/>
          <p:nvPr/>
        </p:nvSpPr>
        <p:spPr>
          <a:xfrm>
            <a:off x="5029200" y="1554480"/>
            <a:ext cx="6537960" cy="777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Sur 19 cadres de classification analysés, aucun ne couvrait tout.</a:t>
            </a:r>
            <a:endParaRPr lang="en-US" sz="1700" dirty="0"/>
          </a:p>
        </p:txBody>
      </p:sp>
      <p:sp>
        <p:nvSpPr>
          <p:cNvPr id="11" name="Text 9"/>
          <p:cNvSpPr/>
          <p:nvPr/>
        </p:nvSpPr>
        <p:spPr>
          <a:xfrm>
            <a:off x="5029200" y="2423160"/>
            <a:ext cx="6537960" cy="36576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LES SEPT CATÉGORIES DE POLITIQUES</a:t>
            </a:r>
            <a:endParaRPr lang="en-US" sz="1250" dirty="0"/>
          </a:p>
        </p:txBody>
      </p:sp>
      <p:sp>
        <p:nvSpPr>
          <p:cNvPr id="12" name="Text 10"/>
          <p:cNvSpPr/>
          <p:nvPr/>
        </p:nvSpPr>
        <p:spPr>
          <a:xfrm>
            <a:off x="5029200" y="2834640"/>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la communication et le marketing</a:t>
            </a:r>
            <a:endParaRPr lang="en-US" sz="1500" dirty="0"/>
          </a:p>
        </p:txBody>
      </p:sp>
      <p:sp>
        <p:nvSpPr>
          <p:cNvPr id="13" name="Text 11"/>
          <p:cNvSpPr/>
          <p:nvPr/>
        </p:nvSpPr>
        <p:spPr>
          <a:xfrm>
            <a:off x="8339328" y="2834640"/>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les lignes directrices</a:t>
            </a:r>
            <a:endParaRPr lang="en-US" sz="1500" dirty="0"/>
          </a:p>
        </p:txBody>
      </p:sp>
      <p:sp>
        <p:nvSpPr>
          <p:cNvPr id="14" name="Text 12"/>
          <p:cNvSpPr/>
          <p:nvPr/>
        </p:nvSpPr>
        <p:spPr>
          <a:xfrm>
            <a:off x="5029200" y="3364992"/>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les mesures fiscales</a:t>
            </a:r>
            <a:endParaRPr lang="en-US" sz="1500" dirty="0"/>
          </a:p>
        </p:txBody>
      </p:sp>
      <p:sp>
        <p:nvSpPr>
          <p:cNvPr id="15" name="Text 13"/>
          <p:cNvSpPr/>
          <p:nvPr/>
        </p:nvSpPr>
        <p:spPr>
          <a:xfrm>
            <a:off x="8339328" y="3364992"/>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la réglementation</a:t>
            </a:r>
            <a:endParaRPr lang="en-US" sz="1500" dirty="0"/>
          </a:p>
        </p:txBody>
      </p:sp>
      <p:sp>
        <p:nvSpPr>
          <p:cNvPr id="16" name="Text 14"/>
          <p:cNvSpPr/>
          <p:nvPr/>
        </p:nvSpPr>
        <p:spPr>
          <a:xfrm>
            <a:off x="5029200" y="3895344"/>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la législation</a:t>
            </a:r>
            <a:endParaRPr lang="en-US" sz="1500" dirty="0"/>
          </a:p>
        </p:txBody>
      </p:sp>
      <p:sp>
        <p:nvSpPr>
          <p:cNvPr id="17" name="Text 15"/>
          <p:cNvSpPr/>
          <p:nvPr/>
        </p:nvSpPr>
        <p:spPr>
          <a:xfrm>
            <a:off x="8339328" y="3895344"/>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la planification de l’environnement</a:t>
            </a:r>
            <a:endParaRPr lang="en-US" sz="1500" dirty="0"/>
          </a:p>
        </p:txBody>
      </p:sp>
      <p:sp>
        <p:nvSpPr>
          <p:cNvPr id="18" name="Text 16"/>
          <p:cNvSpPr/>
          <p:nvPr/>
        </p:nvSpPr>
        <p:spPr>
          <a:xfrm>
            <a:off x="5029200" y="4425696"/>
            <a:ext cx="324612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  la prestation de services</a:t>
            </a:r>
            <a:endParaRPr lang="en-US" sz="1500" dirty="0"/>
          </a:p>
        </p:txBody>
      </p:sp>
      <p:sp>
        <p:nvSpPr>
          <p:cNvPr id="19" name="Shape 17"/>
          <p:cNvSpPr/>
          <p:nvPr/>
        </p:nvSpPr>
        <p:spPr>
          <a:xfrm>
            <a:off x="594360" y="5120640"/>
            <a:ext cx="10972800" cy="868680"/>
          </a:xfrm>
          <a:prstGeom prst="roundRect">
            <a:avLst>
              <a:gd name="adj" fmla="val 9474"/>
            </a:avLst>
          </a:prstGeom>
          <a:solidFill>
            <a:srgbClr val="07564B"/>
          </a:solidFill>
          <a:ln w="12700">
            <a:solidFill>
              <a:srgbClr val="07564B"/>
            </a:solidFill>
            <a:prstDash val="solid"/>
          </a:ln>
        </p:spPr>
      </p:sp>
      <p:sp>
        <p:nvSpPr>
          <p:cNvPr id="20" name="Text 18"/>
          <p:cNvSpPr/>
          <p:nvPr/>
        </p:nvSpPr>
        <p:spPr>
          <a:xfrm>
            <a:off x="868680" y="5120640"/>
            <a:ext cx="10424160" cy="868680"/>
          </a:xfrm>
          <a:prstGeom prst="rect">
            <a:avLst/>
          </a:prstGeom>
          <a:noFill/>
          <a:ln/>
        </p:spPr>
        <p:txBody>
          <a:bodyPr wrap="square" lIns="0" tIns="0" rIns="0" bIns="0" rtlCol="0" anchor="ctr"/>
          <a:lstStyle/>
          <a:p>
            <a:pPr indent="0" marL="0">
              <a:buNone/>
            </a:pPr>
            <a:r>
              <a:rPr lang="en-US" sz="1650" b="1" dirty="0">
                <a:solidFill>
                  <a:srgbClr val="FFFFFF"/>
                </a:solidFill>
                <a:latin typeface="Palatino Linotype" pitchFamily="34" charset="0"/>
                <a:ea typeface="Palatino Linotype" pitchFamily="34" charset="-122"/>
                <a:cs typeface="Palatino Linotype" pitchFamily="34" charset="-120"/>
              </a:rPr>
              <a:t>D’abord le diagnostic, ensuite l’intervention : si les gens savent déjà, l’éducation ne corrige rien.</a:t>
            </a:r>
            <a:endParaRPr lang="en-US" sz="165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Michie, van Stralen et West, 2011.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NEUF FONCTIONS D’INTERVENTION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que peut faire une intervention</a:t>
            </a:r>
            <a:endParaRPr lang="en-US" sz="3200" dirty="0"/>
          </a:p>
        </p:txBody>
      </p:sp>
      <p:sp>
        <p:nvSpPr>
          <p:cNvPr id="4" name="Shape 2"/>
          <p:cNvSpPr/>
          <p:nvPr/>
        </p:nvSpPr>
        <p:spPr>
          <a:xfrm>
            <a:off x="594360" y="1554480"/>
            <a:ext cx="3505200" cy="1280160"/>
          </a:xfrm>
          <a:prstGeom prst="roundRect">
            <a:avLst>
              <a:gd name="adj" fmla="val 6429"/>
            </a:avLst>
          </a:prstGeom>
          <a:solidFill>
            <a:srgbClr val="ECEAE4"/>
          </a:solidFill>
          <a:ln w="12700">
            <a:solidFill>
              <a:srgbClr val="ECEAE4"/>
            </a:solidFill>
            <a:prstDash val="solid"/>
          </a:ln>
        </p:spPr>
      </p:sp>
      <p:sp>
        <p:nvSpPr>
          <p:cNvPr id="5" name="Text 3"/>
          <p:cNvSpPr/>
          <p:nvPr/>
        </p:nvSpPr>
        <p:spPr>
          <a:xfrm>
            <a:off x="795528" y="1682496"/>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L’éducation</a:t>
            </a:r>
            <a:endParaRPr lang="en-US" sz="1700" dirty="0"/>
          </a:p>
        </p:txBody>
      </p:sp>
      <p:sp>
        <p:nvSpPr>
          <p:cNvPr id="6" name="Text 4"/>
          <p:cNvSpPr/>
          <p:nvPr/>
        </p:nvSpPr>
        <p:spPr>
          <a:xfrm>
            <a:off x="795528" y="2139696"/>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accroître la connaissance</a:t>
            </a:r>
            <a:endParaRPr lang="en-US" sz="1600" dirty="0"/>
          </a:p>
        </p:txBody>
      </p:sp>
      <p:sp>
        <p:nvSpPr>
          <p:cNvPr id="7" name="Shape 5"/>
          <p:cNvSpPr/>
          <p:nvPr/>
        </p:nvSpPr>
        <p:spPr>
          <a:xfrm>
            <a:off x="4328160" y="1554480"/>
            <a:ext cx="3505200" cy="1280160"/>
          </a:xfrm>
          <a:prstGeom prst="roundRect">
            <a:avLst>
              <a:gd name="adj" fmla="val 6429"/>
            </a:avLst>
          </a:prstGeom>
          <a:solidFill>
            <a:srgbClr val="ECEAE4"/>
          </a:solidFill>
          <a:ln w="12700">
            <a:solidFill>
              <a:srgbClr val="ECEAE4"/>
            </a:solidFill>
            <a:prstDash val="solid"/>
          </a:ln>
        </p:spPr>
      </p:sp>
      <p:sp>
        <p:nvSpPr>
          <p:cNvPr id="8" name="Text 6"/>
          <p:cNvSpPr/>
          <p:nvPr/>
        </p:nvSpPr>
        <p:spPr>
          <a:xfrm>
            <a:off x="4529328" y="1682496"/>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La persuasion</a:t>
            </a:r>
            <a:endParaRPr lang="en-US" sz="1700" dirty="0"/>
          </a:p>
        </p:txBody>
      </p:sp>
      <p:sp>
        <p:nvSpPr>
          <p:cNvPr id="9" name="Text 7"/>
          <p:cNvSpPr/>
          <p:nvPr/>
        </p:nvSpPr>
        <p:spPr>
          <a:xfrm>
            <a:off x="4529328" y="2139696"/>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susciter des émotions ou l’action</a:t>
            </a:r>
            <a:endParaRPr lang="en-US" sz="1600" dirty="0"/>
          </a:p>
        </p:txBody>
      </p:sp>
      <p:sp>
        <p:nvSpPr>
          <p:cNvPr id="10" name="Shape 8"/>
          <p:cNvSpPr/>
          <p:nvPr/>
        </p:nvSpPr>
        <p:spPr>
          <a:xfrm>
            <a:off x="8061960" y="1554480"/>
            <a:ext cx="3505200" cy="1280160"/>
          </a:xfrm>
          <a:prstGeom prst="roundRect">
            <a:avLst>
              <a:gd name="adj" fmla="val 6429"/>
            </a:avLst>
          </a:prstGeom>
          <a:solidFill>
            <a:srgbClr val="ECEAE4"/>
          </a:solidFill>
          <a:ln w="12700">
            <a:solidFill>
              <a:srgbClr val="ECEAE4"/>
            </a:solidFill>
            <a:prstDash val="solid"/>
          </a:ln>
        </p:spPr>
      </p:sp>
      <p:sp>
        <p:nvSpPr>
          <p:cNvPr id="11" name="Text 9"/>
          <p:cNvSpPr/>
          <p:nvPr/>
        </p:nvSpPr>
        <p:spPr>
          <a:xfrm>
            <a:off x="8263128" y="1682496"/>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L’incitation</a:t>
            </a:r>
            <a:endParaRPr lang="en-US" sz="1700" dirty="0"/>
          </a:p>
        </p:txBody>
      </p:sp>
      <p:sp>
        <p:nvSpPr>
          <p:cNvPr id="12" name="Text 10"/>
          <p:cNvSpPr/>
          <p:nvPr/>
        </p:nvSpPr>
        <p:spPr>
          <a:xfrm>
            <a:off x="8263128" y="2139696"/>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l’attente d’une récompense</a:t>
            </a:r>
            <a:endParaRPr lang="en-US" sz="1600" dirty="0"/>
          </a:p>
        </p:txBody>
      </p:sp>
      <p:sp>
        <p:nvSpPr>
          <p:cNvPr id="13" name="Shape 11"/>
          <p:cNvSpPr/>
          <p:nvPr/>
        </p:nvSpPr>
        <p:spPr>
          <a:xfrm>
            <a:off x="594360" y="2990088"/>
            <a:ext cx="3505200" cy="1280160"/>
          </a:xfrm>
          <a:prstGeom prst="roundRect">
            <a:avLst>
              <a:gd name="adj" fmla="val 6429"/>
            </a:avLst>
          </a:prstGeom>
          <a:solidFill>
            <a:srgbClr val="ECEAE4"/>
          </a:solidFill>
          <a:ln w="12700">
            <a:solidFill>
              <a:srgbClr val="ECEAE4"/>
            </a:solidFill>
            <a:prstDash val="solid"/>
          </a:ln>
        </p:spPr>
      </p:sp>
      <p:sp>
        <p:nvSpPr>
          <p:cNvPr id="14" name="Text 12"/>
          <p:cNvSpPr/>
          <p:nvPr/>
        </p:nvSpPr>
        <p:spPr>
          <a:xfrm>
            <a:off x="795528" y="3118104"/>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La contrainte</a:t>
            </a:r>
            <a:endParaRPr lang="en-US" sz="1700" dirty="0"/>
          </a:p>
        </p:txBody>
      </p:sp>
      <p:sp>
        <p:nvSpPr>
          <p:cNvPr id="15" name="Text 13"/>
          <p:cNvSpPr/>
          <p:nvPr/>
        </p:nvSpPr>
        <p:spPr>
          <a:xfrm>
            <a:off x="795528" y="3575304"/>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l’attente d’un coût : le prix de l’alcool</a:t>
            </a:r>
            <a:endParaRPr lang="en-US" sz="1600" dirty="0"/>
          </a:p>
        </p:txBody>
      </p:sp>
      <p:sp>
        <p:nvSpPr>
          <p:cNvPr id="16" name="Shape 14"/>
          <p:cNvSpPr/>
          <p:nvPr/>
        </p:nvSpPr>
        <p:spPr>
          <a:xfrm>
            <a:off x="4328160" y="2990088"/>
            <a:ext cx="3505200" cy="1280160"/>
          </a:xfrm>
          <a:prstGeom prst="roundRect">
            <a:avLst>
              <a:gd name="adj" fmla="val 6429"/>
            </a:avLst>
          </a:prstGeom>
          <a:solidFill>
            <a:srgbClr val="ECEAE4"/>
          </a:solidFill>
          <a:ln w="12700">
            <a:solidFill>
              <a:srgbClr val="ECEAE4"/>
            </a:solidFill>
            <a:prstDash val="solid"/>
          </a:ln>
        </p:spPr>
      </p:sp>
      <p:sp>
        <p:nvSpPr>
          <p:cNvPr id="17" name="Text 15"/>
          <p:cNvSpPr/>
          <p:nvPr/>
        </p:nvSpPr>
        <p:spPr>
          <a:xfrm>
            <a:off x="4529328" y="3118104"/>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La formation</a:t>
            </a:r>
            <a:endParaRPr lang="en-US" sz="1700" dirty="0"/>
          </a:p>
        </p:txBody>
      </p:sp>
      <p:sp>
        <p:nvSpPr>
          <p:cNvPr id="18" name="Text 16"/>
          <p:cNvSpPr/>
          <p:nvPr/>
        </p:nvSpPr>
        <p:spPr>
          <a:xfrm>
            <a:off x="4529328" y="3575304"/>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transmettre des aptitudes</a:t>
            </a:r>
            <a:endParaRPr lang="en-US" sz="1600" dirty="0"/>
          </a:p>
        </p:txBody>
      </p:sp>
      <p:sp>
        <p:nvSpPr>
          <p:cNvPr id="19" name="Shape 17"/>
          <p:cNvSpPr/>
          <p:nvPr/>
        </p:nvSpPr>
        <p:spPr>
          <a:xfrm>
            <a:off x="8061960" y="2990088"/>
            <a:ext cx="3505200" cy="1280160"/>
          </a:xfrm>
          <a:prstGeom prst="roundRect">
            <a:avLst>
              <a:gd name="adj" fmla="val 6429"/>
            </a:avLst>
          </a:prstGeom>
          <a:solidFill>
            <a:srgbClr val="ECEAE4"/>
          </a:solidFill>
          <a:ln w="12700">
            <a:solidFill>
              <a:srgbClr val="ECEAE4"/>
            </a:solidFill>
            <a:prstDash val="solid"/>
          </a:ln>
        </p:spPr>
      </p:sp>
      <p:sp>
        <p:nvSpPr>
          <p:cNvPr id="20" name="Text 18"/>
          <p:cNvSpPr/>
          <p:nvPr/>
        </p:nvSpPr>
        <p:spPr>
          <a:xfrm>
            <a:off x="8263128" y="3118104"/>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La restriction</a:t>
            </a:r>
            <a:endParaRPr lang="en-US" sz="1700" dirty="0"/>
          </a:p>
        </p:txBody>
      </p:sp>
      <p:sp>
        <p:nvSpPr>
          <p:cNvPr id="21" name="Text 19"/>
          <p:cNvSpPr/>
          <p:nvPr/>
        </p:nvSpPr>
        <p:spPr>
          <a:xfrm>
            <a:off x="8263128" y="3575304"/>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des règles qui réduisent l’opportunité</a:t>
            </a:r>
            <a:endParaRPr lang="en-US" sz="1600" dirty="0"/>
          </a:p>
        </p:txBody>
      </p:sp>
      <p:sp>
        <p:nvSpPr>
          <p:cNvPr id="22" name="Shape 20"/>
          <p:cNvSpPr/>
          <p:nvPr/>
        </p:nvSpPr>
        <p:spPr>
          <a:xfrm>
            <a:off x="594360" y="4425696"/>
            <a:ext cx="3505200" cy="1280160"/>
          </a:xfrm>
          <a:prstGeom prst="roundRect">
            <a:avLst>
              <a:gd name="adj" fmla="val 6429"/>
            </a:avLst>
          </a:prstGeom>
          <a:solidFill>
            <a:srgbClr val="ECEAE4"/>
          </a:solidFill>
          <a:ln w="12700">
            <a:solidFill>
              <a:srgbClr val="ECEAE4"/>
            </a:solidFill>
            <a:prstDash val="solid"/>
          </a:ln>
        </p:spPr>
      </p:sp>
      <p:sp>
        <p:nvSpPr>
          <p:cNvPr id="23" name="Text 21"/>
          <p:cNvSpPr/>
          <p:nvPr/>
        </p:nvSpPr>
        <p:spPr>
          <a:xfrm>
            <a:off x="795528" y="4553712"/>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La restructuration</a:t>
            </a:r>
            <a:endParaRPr lang="en-US" sz="1700" dirty="0"/>
          </a:p>
        </p:txBody>
      </p:sp>
      <p:sp>
        <p:nvSpPr>
          <p:cNvPr id="24" name="Text 22"/>
          <p:cNvSpPr/>
          <p:nvPr/>
        </p:nvSpPr>
        <p:spPr>
          <a:xfrm>
            <a:off x="795528" y="5010912"/>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 l’environnement : un message sur l’écran du médecin</a:t>
            </a:r>
            <a:endParaRPr lang="en-US" sz="1600" dirty="0"/>
          </a:p>
        </p:txBody>
      </p:sp>
      <p:sp>
        <p:nvSpPr>
          <p:cNvPr id="25" name="Shape 23"/>
          <p:cNvSpPr/>
          <p:nvPr/>
        </p:nvSpPr>
        <p:spPr>
          <a:xfrm>
            <a:off x="4328160" y="4425696"/>
            <a:ext cx="3505200" cy="1280160"/>
          </a:xfrm>
          <a:prstGeom prst="roundRect">
            <a:avLst>
              <a:gd name="adj" fmla="val 6429"/>
            </a:avLst>
          </a:prstGeom>
          <a:solidFill>
            <a:srgbClr val="ECEAE4"/>
          </a:solidFill>
          <a:ln w="12700">
            <a:solidFill>
              <a:srgbClr val="ECEAE4"/>
            </a:solidFill>
            <a:prstDash val="solid"/>
          </a:ln>
        </p:spPr>
      </p:sp>
      <p:sp>
        <p:nvSpPr>
          <p:cNvPr id="26" name="Text 24"/>
          <p:cNvSpPr/>
          <p:nvPr/>
        </p:nvSpPr>
        <p:spPr>
          <a:xfrm>
            <a:off x="4529328" y="4553712"/>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Le modelage</a:t>
            </a:r>
            <a:endParaRPr lang="en-US" sz="1700" dirty="0"/>
          </a:p>
        </p:txBody>
      </p:sp>
      <p:sp>
        <p:nvSpPr>
          <p:cNvPr id="27" name="Text 25"/>
          <p:cNvSpPr/>
          <p:nvPr/>
        </p:nvSpPr>
        <p:spPr>
          <a:xfrm>
            <a:off x="4529328" y="5010912"/>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exemple à suivre</a:t>
            </a:r>
            <a:endParaRPr lang="en-US" sz="1600" dirty="0"/>
          </a:p>
        </p:txBody>
      </p:sp>
      <p:sp>
        <p:nvSpPr>
          <p:cNvPr id="28" name="Shape 26"/>
          <p:cNvSpPr/>
          <p:nvPr/>
        </p:nvSpPr>
        <p:spPr>
          <a:xfrm>
            <a:off x="8061960" y="4425696"/>
            <a:ext cx="3505200" cy="1280160"/>
          </a:xfrm>
          <a:prstGeom prst="roundRect">
            <a:avLst>
              <a:gd name="adj" fmla="val 6429"/>
            </a:avLst>
          </a:prstGeom>
          <a:solidFill>
            <a:srgbClr val="ECEAE4"/>
          </a:solidFill>
          <a:ln w="12700">
            <a:solidFill>
              <a:srgbClr val="ECEAE4"/>
            </a:solidFill>
            <a:prstDash val="solid"/>
          </a:ln>
        </p:spPr>
      </p:sp>
      <p:sp>
        <p:nvSpPr>
          <p:cNvPr id="29" name="Text 27"/>
          <p:cNvSpPr/>
          <p:nvPr/>
        </p:nvSpPr>
        <p:spPr>
          <a:xfrm>
            <a:off x="8263128" y="4553712"/>
            <a:ext cx="3102864"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L’habilitation</a:t>
            </a:r>
            <a:endParaRPr lang="en-US" sz="1700" dirty="0"/>
          </a:p>
        </p:txBody>
      </p:sp>
      <p:sp>
        <p:nvSpPr>
          <p:cNvPr id="30" name="Text 28"/>
          <p:cNvSpPr/>
          <p:nvPr/>
        </p:nvSpPr>
        <p:spPr>
          <a:xfrm>
            <a:off x="8263128" y="5010912"/>
            <a:ext cx="3102864" cy="566928"/>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soutien et médicaments pour le sevrage tabagique</a:t>
            </a:r>
            <a:endParaRPr lang="en-US" sz="160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Michie, van Stralen et West, 2011.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BINÔMES · VOTE · 6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DIAGNOSTIC EN BINÔMES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Le test dans le tiroir</a:t>
            </a:r>
            <a:endParaRPr lang="en-US" sz="3400" dirty="0"/>
          </a:p>
        </p:txBody>
      </p:sp>
      <p:sp>
        <p:nvSpPr>
          <p:cNvPr id="6" name="Shape 4"/>
          <p:cNvSpPr/>
          <p:nvPr/>
        </p:nvSpPr>
        <p:spPr>
          <a:xfrm>
            <a:off x="594360" y="1783080"/>
            <a:ext cx="10972800" cy="1188720"/>
          </a:xfrm>
          <a:prstGeom prst="roundRect">
            <a:avLst>
              <a:gd name="adj" fmla="val 6923"/>
            </a:avLst>
          </a:prstGeom>
          <a:solidFill>
            <a:srgbClr val="1D1F2B"/>
          </a:solidFill>
          <a:ln w="12700">
            <a:solidFill>
              <a:srgbClr val="1D1F2B"/>
            </a:solidFill>
            <a:prstDash val="solid"/>
          </a:ln>
        </p:spPr>
      </p:sp>
      <p:sp>
        <p:nvSpPr>
          <p:cNvPr id="7" name="Text 5"/>
          <p:cNvSpPr/>
          <p:nvPr/>
        </p:nvSpPr>
        <p:spPr>
          <a:xfrm>
            <a:off x="914400" y="1783080"/>
            <a:ext cx="10332720" cy="1188720"/>
          </a:xfrm>
          <a:prstGeom prst="rect">
            <a:avLst/>
          </a:prstGeom>
          <a:noFill/>
          <a:ln/>
        </p:spPr>
        <p:txBody>
          <a:bodyPr wrap="square" lIns="0" tIns="0" rIns="0" bIns="0" rtlCol="0" anchor="ctr"/>
          <a:lstStyle/>
          <a:p>
            <a:pPr indent="0" marL="0">
              <a:buNone/>
            </a:pPr>
            <a:r>
              <a:rPr lang="en-US" sz="2300" dirty="0">
                <a:solidFill>
                  <a:srgbClr val="FFFFFF"/>
                </a:solidFill>
                <a:latin typeface="Palatino Linotype" pitchFamily="34" charset="0"/>
                <a:ea typeface="Palatino Linotype" pitchFamily="34" charset="-122"/>
                <a:cs typeface="Palatino Linotype" pitchFamily="34" charset="-120"/>
              </a:rPr>
              <a:t>Quelle condition manque en premier lieu et quelle fonction d’intervention choisiriez-vous ?</a:t>
            </a:r>
            <a:endParaRPr lang="en-US" sz="2300" dirty="0"/>
          </a:p>
        </p:txBody>
      </p:sp>
      <p:sp>
        <p:nvSpPr>
          <p:cNvPr id="8" name="Shape 6"/>
          <p:cNvSpPr/>
          <p:nvPr/>
        </p:nvSpPr>
        <p:spPr>
          <a:xfrm>
            <a:off x="594360" y="3154680"/>
            <a:ext cx="6583680" cy="585216"/>
          </a:xfrm>
          <a:prstGeom prst="roundRect">
            <a:avLst>
              <a:gd name="adj" fmla="val 14063"/>
            </a:avLst>
          </a:prstGeom>
          <a:solidFill>
            <a:srgbClr val="1D1F2B"/>
          </a:solidFill>
          <a:ln w="12700">
            <a:solidFill>
              <a:srgbClr val="1D1F2B"/>
            </a:solidFill>
            <a:prstDash val="solid"/>
          </a:ln>
        </p:spPr>
      </p:sp>
      <p:sp>
        <p:nvSpPr>
          <p:cNvPr id="9" name="Shape 7"/>
          <p:cNvSpPr/>
          <p:nvPr/>
        </p:nvSpPr>
        <p:spPr>
          <a:xfrm>
            <a:off x="777240" y="3236976"/>
            <a:ext cx="420624" cy="420624"/>
          </a:xfrm>
          <a:prstGeom prst="ellipse">
            <a:avLst/>
          </a:prstGeom>
          <a:solidFill>
            <a:srgbClr val="FFC24B"/>
          </a:solidFill>
          <a:ln/>
        </p:spPr>
      </p:sp>
      <p:sp>
        <p:nvSpPr>
          <p:cNvPr id="10" name="Text 8"/>
          <p:cNvSpPr/>
          <p:nvPr/>
        </p:nvSpPr>
        <p:spPr>
          <a:xfrm>
            <a:off x="777240" y="32369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71600" y="3154680"/>
            <a:ext cx="5669280" cy="58521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La capacité</a:t>
            </a:r>
            <a:endParaRPr lang="en-US" sz="2000" dirty="0"/>
          </a:p>
        </p:txBody>
      </p:sp>
      <p:sp>
        <p:nvSpPr>
          <p:cNvPr id="12" name="Shape 10"/>
          <p:cNvSpPr/>
          <p:nvPr/>
        </p:nvSpPr>
        <p:spPr>
          <a:xfrm>
            <a:off x="594360" y="3867912"/>
            <a:ext cx="6583680" cy="585216"/>
          </a:xfrm>
          <a:prstGeom prst="roundRect">
            <a:avLst>
              <a:gd name="adj" fmla="val 14063"/>
            </a:avLst>
          </a:prstGeom>
          <a:solidFill>
            <a:srgbClr val="1D1F2B"/>
          </a:solidFill>
          <a:ln w="12700">
            <a:solidFill>
              <a:srgbClr val="1D1F2B"/>
            </a:solidFill>
            <a:prstDash val="solid"/>
          </a:ln>
        </p:spPr>
      </p:sp>
      <p:sp>
        <p:nvSpPr>
          <p:cNvPr id="13" name="Shape 11"/>
          <p:cNvSpPr/>
          <p:nvPr/>
        </p:nvSpPr>
        <p:spPr>
          <a:xfrm>
            <a:off x="777240" y="3950208"/>
            <a:ext cx="420624" cy="420624"/>
          </a:xfrm>
          <a:prstGeom prst="ellipse">
            <a:avLst/>
          </a:prstGeom>
          <a:solidFill>
            <a:srgbClr val="FFC24B"/>
          </a:solidFill>
          <a:ln/>
        </p:spPr>
      </p:sp>
      <p:sp>
        <p:nvSpPr>
          <p:cNvPr id="14" name="Text 12"/>
          <p:cNvSpPr/>
          <p:nvPr/>
        </p:nvSpPr>
        <p:spPr>
          <a:xfrm>
            <a:off x="777240" y="3950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371600" y="3867912"/>
            <a:ext cx="5669280" cy="58521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L’opportunité</a:t>
            </a:r>
            <a:endParaRPr lang="en-US" sz="2000" dirty="0"/>
          </a:p>
        </p:txBody>
      </p:sp>
      <p:sp>
        <p:nvSpPr>
          <p:cNvPr id="16" name="Shape 14"/>
          <p:cNvSpPr/>
          <p:nvPr/>
        </p:nvSpPr>
        <p:spPr>
          <a:xfrm>
            <a:off x="594360" y="4581144"/>
            <a:ext cx="6583680" cy="585216"/>
          </a:xfrm>
          <a:prstGeom prst="roundRect">
            <a:avLst>
              <a:gd name="adj" fmla="val 14063"/>
            </a:avLst>
          </a:prstGeom>
          <a:solidFill>
            <a:srgbClr val="1D1F2B"/>
          </a:solidFill>
          <a:ln w="12700">
            <a:solidFill>
              <a:srgbClr val="1D1F2B"/>
            </a:solidFill>
            <a:prstDash val="solid"/>
          </a:ln>
        </p:spPr>
      </p:sp>
      <p:sp>
        <p:nvSpPr>
          <p:cNvPr id="17" name="Shape 15"/>
          <p:cNvSpPr/>
          <p:nvPr/>
        </p:nvSpPr>
        <p:spPr>
          <a:xfrm>
            <a:off x="777240" y="4663440"/>
            <a:ext cx="420624" cy="420624"/>
          </a:xfrm>
          <a:prstGeom prst="ellipse">
            <a:avLst/>
          </a:prstGeom>
          <a:solidFill>
            <a:srgbClr val="FFC24B"/>
          </a:solidFill>
          <a:ln/>
        </p:spPr>
      </p:sp>
      <p:sp>
        <p:nvSpPr>
          <p:cNvPr id="18" name="Text 16"/>
          <p:cNvSpPr/>
          <p:nvPr/>
        </p:nvSpPr>
        <p:spPr>
          <a:xfrm>
            <a:off x="777240" y="4663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371600" y="4581144"/>
            <a:ext cx="5669280" cy="58521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La motivation</a:t>
            </a:r>
            <a:endParaRPr lang="en-US" sz="2000" dirty="0"/>
          </a:p>
        </p:txBody>
      </p:sp>
      <p:sp>
        <p:nvSpPr>
          <p:cNvPr id="20" name="Shape 18"/>
          <p:cNvSpPr/>
          <p:nvPr/>
        </p:nvSpPr>
        <p:spPr>
          <a:xfrm>
            <a:off x="7452360" y="3154680"/>
            <a:ext cx="4114800" cy="2011680"/>
          </a:xfrm>
          <a:prstGeom prst="roundRect">
            <a:avLst>
              <a:gd name="adj" fmla="val 4091"/>
            </a:avLst>
          </a:prstGeom>
          <a:solidFill>
            <a:srgbClr val="272A38"/>
          </a:solidFill>
          <a:ln w="12700">
            <a:solidFill>
              <a:srgbClr val="272A38"/>
            </a:solidFill>
            <a:prstDash val="solid"/>
          </a:ln>
        </p:spPr>
      </p:sp>
      <p:sp>
        <p:nvSpPr>
          <p:cNvPr id="21" name="Text 19"/>
          <p:cNvSpPr/>
          <p:nvPr/>
        </p:nvSpPr>
        <p:spPr>
          <a:xfrm>
            <a:off x="7680960" y="3154680"/>
            <a:ext cx="3657600" cy="914400"/>
          </a:xfrm>
          <a:prstGeom prst="rect">
            <a:avLst/>
          </a:prstGeom>
          <a:noFill/>
          <a:ln/>
        </p:spPr>
        <p:txBody>
          <a:bodyPr wrap="square" lIns="0" tIns="0" rIns="0" bIns="0" rtlCol="0" anchor="ctr"/>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Deux minutes avec votre voisin de banc, puis le vote.</a:t>
            </a:r>
            <a:endParaRPr lang="en-US" sz="1700" dirty="0"/>
          </a:p>
        </p:txBody>
      </p:sp>
      <p:sp>
        <p:nvSpPr>
          <p:cNvPr id="22" name="Text 20"/>
          <p:cNvSpPr/>
          <p:nvPr/>
        </p:nvSpPr>
        <p:spPr>
          <a:xfrm>
            <a:off x="7680960" y="4069080"/>
            <a:ext cx="3657600" cy="100584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DIAGNOSTIC POSSIBLE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Plusieurs conditions manquent à la fois</a:t>
            </a:r>
            <a:endParaRPr lang="en-US" sz="3200" dirty="0"/>
          </a:p>
        </p:txBody>
      </p:sp>
      <p:sp>
        <p:nvSpPr>
          <p:cNvPr id="4" name="Shape 2"/>
          <p:cNvSpPr/>
          <p:nvPr/>
        </p:nvSpPr>
        <p:spPr>
          <a:xfrm>
            <a:off x="594360" y="1600200"/>
            <a:ext cx="3505200" cy="2743200"/>
          </a:xfrm>
          <a:prstGeom prst="roundRect">
            <a:avLst>
              <a:gd name="adj" fmla="val 3000"/>
            </a:avLst>
          </a:prstGeom>
          <a:solidFill>
            <a:srgbClr val="ECEAE4"/>
          </a:solidFill>
          <a:ln w="12700">
            <a:solidFill>
              <a:srgbClr val="ECEAE4"/>
            </a:solidFill>
            <a:prstDash val="solid"/>
          </a:ln>
        </p:spPr>
      </p:sp>
      <p:sp>
        <p:nvSpPr>
          <p:cNvPr id="5" name="Text 3"/>
          <p:cNvSpPr/>
          <p:nvPr/>
        </p:nvSpPr>
        <p:spPr>
          <a:xfrm>
            <a:off x="795528" y="1728216"/>
            <a:ext cx="3102864" cy="384048"/>
          </a:xfrm>
          <a:prstGeom prst="rect">
            <a:avLst/>
          </a:prstGeom>
          <a:noFill/>
          <a:ln/>
        </p:spPr>
        <p:txBody>
          <a:bodyPr wrap="square" lIns="0" tIns="0" rIns="0" bIns="0" rtlCol="0" anchor="t"/>
          <a:lstStyle/>
          <a:p>
            <a:pPr indent="0" marL="0">
              <a:buNone/>
            </a:pPr>
            <a:r>
              <a:rPr lang="en-US" sz="1400" b="1" spc="100" kern="0" dirty="0">
                <a:solidFill>
                  <a:srgbClr val="B02532"/>
                </a:solidFill>
                <a:latin typeface="Palatino Linotype" pitchFamily="34" charset="0"/>
                <a:ea typeface="Palatino Linotype" pitchFamily="34" charset="-122"/>
                <a:cs typeface="Palatino Linotype" pitchFamily="34" charset="-120"/>
              </a:rPr>
              <a:t>LA CAPACITÉ</a:t>
            </a:r>
            <a:endParaRPr lang="en-US" sz="1400" dirty="0"/>
          </a:p>
        </p:txBody>
      </p:sp>
      <p:sp>
        <p:nvSpPr>
          <p:cNvPr id="6" name="Text 4"/>
          <p:cNvSpPr/>
          <p:nvPr/>
        </p:nvSpPr>
        <p:spPr>
          <a:xfrm>
            <a:off x="795528" y="2112264"/>
            <a:ext cx="3102864" cy="2103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Pour le tabac, ce n’est pas le problème principal. Pour le test, elle peut manquer : il ne sait peut-être pas utiliser le kit.</a:t>
            </a:r>
            <a:endParaRPr lang="en-US" sz="1800" dirty="0"/>
          </a:p>
        </p:txBody>
      </p:sp>
      <p:sp>
        <p:nvSpPr>
          <p:cNvPr id="7" name="Shape 5"/>
          <p:cNvSpPr/>
          <p:nvPr/>
        </p:nvSpPr>
        <p:spPr>
          <a:xfrm>
            <a:off x="4328160" y="1600200"/>
            <a:ext cx="3505200" cy="2743200"/>
          </a:xfrm>
          <a:prstGeom prst="roundRect">
            <a:avLst>
              <a:gd name="adj" fmla="val 3000"/>
            </a:avLst>
          </a:prstGeom>
          <a:solidFill>
            <a:srgbClr val="ECEAE4"/>
          </a:solidFill>
          <a:ln w="12700">
            <a:solidFill>
              <a:srgbClr val="ECEAE4"/>
            </a:solidFill>
            <a:prstDash val="solid"/>
          </a:ln>
        </p:spPr>
      </p:sp>
      <p:sp>
        <p:nvSpPr>
          <p:cNvPr id="8" name="Text 6"/>
          <p:cNvSpPr/>
          <p:nvPr/>
        </p:nvSpPr>
        <p:spPr>
          <a:xfrm>
            <a:off x="4529328" y="1728216"/>
            <a:ext cx="3102864" cy="384048"/>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L’OPPORTUNITÉ</a:t>
            </a:r>
            <a:endParaRPr lang="en-US" sz="1400" dirty="0"/>
          </a:p>
        </p:txBody>
      </p:sp>
      <p:sp>
        <p:nvSpPr>
          <p:cNvPr id="9" name="Text 7"/>
          <p:cNvSpPr/>
          <p:nvPr/>
        </p:nvSpPr>
        <p:spPr>
          <a:xfrm>
            <a:off x="4529328" y="2112264"/>
            <a:ext cx="3102864" cy="2103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Personne ne lui rappelle le kit, les cigarettes sont à portée de main, le traitement du sevrage est payant.</a:t>
            </a:r>
            <a:endParaRPr lang="en-US" sz="1800" dirty="0"/>
          </a:p>
        </p:txBody>
      </p:sp>
      <p:sp>
        <p:nvSpPr>
          <p:cNvPr id="10" name="Shape 8"/>
          <p:cNvSpPr/>
          <p:nvPr/>
        </p:nvSpPr>
        <p:spPr>
          <a:xfrm>
            <a:off x="8061960" y="1600200"/>
            <a:ext cx="3505200" cy="2743200"/>
          </a:xfrm>
          <a:prstGeom prst="roundRect">
            <a:avLst>
              <a:gd name="adj" fmla="val 3000"/>
            </a:avLst>
          </a:prstGeom>
          <a:solidFill>
            <a:srgbClr val="ECEAE4"/>
          </a:solidFill>
          <a:ln w="12700">
            <a:solidFill>
              <a:srgbClr val="ECEAE4"/>
            </a:solidFill>
            <a:prstDash val="solid"/>
          </a:ln>
        </p:spPr>
      </p:sp>
      <p:sp>
        <p:nvSpPr>
          <p:cNvPr id="11" name="Text 9"/>
          <p:cNvSpPr/>
          <p:nvPr/>
        </p:nvSpPr>
        <p:spPr>
          <a:xfrm>
            <a:off x="8263128" y="1728216"/>
            <a:ext cx="3102864" cy="384048"/>
          </a:xfrm>
          <a:prstGeom prst="rect">
            <a:avLst/>
          </a:prstGeom>
          <a:noFill/>
          <a:ln/>
        </p:spPr>
        <p:txBody>
          <a:bodyPr wrap="square" lIns="0" tIns="0" rIns="0" bIns="0" rtlCol="0" anchor="t"/>
          <a:lstStyle/>
          <a:p>
            <a:pPr indent="0" marL="0">
              <a:buNone/>
            </a:pPr>
            <a:r>
              <a:rPr lang="en-US" sz="1400" b="1" spc="100" kern="0" dirty="0">
                <a:solidFill>
                  <a:srgbClr val="8A6100"/>
                </a:solidFill>
                <a:latin typeface="Palatino Linotype" pitchFamily="34" charset="0"/>
                <a:ea typeface="Palatino Linotype" pitchFamily="34" charset="-122"/>
                <a:cs typeface="Palatino Linotype" pitchFamily="34" charset="-120"/>
              </a:rPr>
              <a:t>LA MOTIVATION</a:t>
            </a:r>
            <a:endParaRPr lang="en-US" sz="1400" dirty="0"/>
          </a:p>
        </p:txBody>
      </p:sp>
      <p:sp>
        <p:nvSpPr>
          <p:cNvPr id="12" name="Text 10"/>
          <p:cNvSpPr/>
          <p:nvPr/>
        </p:nvSpPr>
        <p:spPr>
          <a:xfrm>
            <a:off x="8263128" y="2112264"/>
            <a:ext cx="3102864" cy="2103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Automatique : la dépendance à la nicotine. Réflexive : affaiblie par le manque d’espoir.</a:t>
            </a:r>
            <a:endParaRPr lang="en-US" sz="1800" dirty="0"/>
          </a:p>
        </p:txBody>
      </p:sp>
      <p:sp>
        <p:nvSpPr>
          <p:cNvPr id="13" name="Shape 11"/>
          <p:cNvSpPr/>
          <p:nvPr/>
        </p:nvSpPr>
        <p:spPr>
          <a:xfrm>
            <a:off x="594360" y="4572000"/>
            <a:ext cx="10972800" cy="1143000"/>
          </a:xfrm>
          <a:prstGeom prst="roundRect">
            <a:avLst>
              <a:gd name="adj" fmla="val 7200"/>
            </a:avLst>
          </a:prstGeom>
          <a:solidFill>
            <a:srgbClr val="11121A"/>
          </a:solidFill>
          <a:ln w="12700">
            <a:solidFill>
              <a:srgbClr val="11121A"/>
            </a:solidFill>
            <a:prstDash val="solid"/>
          </a:ln>
        </p:spPr>
      </p:sp>
      <p:sp>
        <p:nvSpPr>
          <p:cNvPr id="14" name="Text 12"/>
          <p:cNvSpPr/>
          <p:nvPr/>
        </p:nvSpPr>
        <p:spPr>
          <a:xfrm>
            <a:off x="868680" y="4572000"/>
            <a:ext cx="10424160" cy="11430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L’habilitation, la restructuration de l’environnement et, surtout, l’évaluation de son état psychique. Un dépliant ne corrige aucun déficit.</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LITTÉRATIE EN SANTÉ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L’article de la fille, la vidéo du père</a:t>
            </a:r>
            <a:endParaRPr lang="en-US" sz="3200" dirty="0"/>
          </a:p>
        </p:txBody>
      </p:sp>
      <p:sp>
        <p:nvSpPr>
          <p:cNvPr id="4" name="Text 2"/>
          <p:cNvSpPr/>
          <p:nvPr/>
        </p:nvSpPr>
        <p:spPr>
          <a:xfrm>
            <a:off x="594360" y="1508760"/>
            <a:ext cx="10972800" cy="502920"/>
          </a:xfrm>
          <a:prstGeom prst="rect">
            <a:avLst/>
          </a:prstGeom>
          <a:noFill/>
          <a:ln/>
        </p:spPr>
        <p:txBody>
          <a:bodyPr wrap="square" lIns="0" tIns="0" rIns="0" bIns="0" rtlCol="0" anchor="t"/>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Comment jugeons-nous l’information sur la santé ?</a:t>
            </a:r>
            <a:endParaRPr lang="en-US" sz="2100" dirty="0"/>
          </a:p>
        </p:txBody>
      </p:sp>
      <p:sp>
        <p:nvSpPr>
          <p:cNvPr id="5" name="Shape 3"/>
          <p:cNvSpPr/>
          <p:nvPr/>
        </p:nvSpPr>
        <p:spPr>
          <a:xfrm>
            <a:off x="594360" y="2148840"/>
            <a:ext cx="10972800" cy="2011680"/>
          </a:xfrm>
          <a:prstGeom prst="roundRect">
            <a:avLst>
              <a:gd name="adj" fmla="val 4091"/>
            </a:avLst>
          </a:prstGeom>
          <a:solidFill>
            <a:srgbClr val="1D1F2B"/>
          </a:solidFill>
          <a:ln w="12700">
            <a:solidFill>
              <a:srgbClr val="1D1F2B"/>
            </a:solidFill>
            <a:prstDash val="solid"/>
          </a:ln>
        </p:spPr>
      </p:sp>
      <p:sp>
        <p:nvSpPr>
          <p:cNvPr id="6" name="Text 4"/>
          <p:cNvSpPr/>
          <p:nvPr/>
        </p:nvSpPr>
        <p:spPr>
          <a:xfrm>
            <a:off x="868680" y="2148840"/>
            <a:ext cx="10424160" cy="20116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Les connaissances et les compétences qui permettent aux gens de trouver, de comprendre, d’évaluer et d’utiliser les informations et les services pour leur santé et celle de leur entourage. Elles sont médiatisées par les structures organisationnelles et par les ressources disponibles.</a:t>
            </a:r>
            <a:endParaRPr lang="en-US" sz="1900" dirty="0"/>
          </a:p>
        </p:txBody>
      </p:sp>
      <p:sp>
        <p:nvSpPr>
          <p:cNvPr id="7" name="Shape 5"/>
          <p:cNvSpPr/>
          <p:nvPr/>
        </p:nvSpPr>
        <p:spPr>
          <a:xfrm>
            <a:off x="594360" y="4389120"/>
            <a:ext cx="10972800" cy="1280160"/>
          </a:xfrm>
          <a:prstGeom prst="roundRect">
            <a:avLst>
              <a:gd name="adj" fmla="val 6429"/>
            </a:avLst>
          </a:prstGeom>
          <a:solidFill>
            <a:srgbClr val="07564B"/>
          </a:solidFill>
          <a:ln w="12700">
            <a:solidFill>
              <a:srgbClr val="07564B"/>
            </a:solidFill>
            <a:prstDash val="solid"/>
          </a:ln>
        </p:spPr>
      </p:sp>
      <p:sp>
        <p:nvSpPr>
          <p:cNvPr id="8" name="Text 6"/>
          <p:cNvSpPr/>
          <p:nvPr/>
        </p:nvSpPr>
        <p:spPr>
          <a:xfrm>
            <a:off x="868680" y="4389120"/>
            <a:ext cx="10424160" cy="128016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Pas seulement l’affaire de l’individu : le gouvernement, la société civile et les services doivent rendre l’information fiable accessible.</a:t>
            </a:r>
            <a:endParaRPr lang="en-US" sz="18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glossaire de la promotion de la santé, 2021.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L’ENQUÊTE EUROPÉENNE : LA DÉFINITION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Quatre opérations, trois domaines</a:t>
            </a:r>
            <a:endParaRPr lang="en-US" sz="3200" dirty="0"/>
          </a:p>
        </p:txBody>
      </p:sp>
      <p:sp>
        <p:nvSpPr>
          <p:cNvPr id="4" name="Shape 2"/>
          <p:cNvSpPr/>
          <p:nvPr/>
        </p:nvSpPr>
        <p:spPr>
          <a:xfrm>
            <a:off x="594360" y="1600200"/>
            <a:ext cx="2606040" cy="2011680"/>
          </a:xfrm>
          <a:prstGeom prst="roundRect">
            <a:avLst>
              <a:gd name="adj" fmla="val 4091"/>
            </a:avLst>
          </a:prstGeom>
          <a:solidFill>
            <a:srgbClr val="ECEAE4"/>
          </a:solidFill>
          <a:ln w="12700">
            <a:solidFill>
              <a:srgbClr val="ECEAE4"/>
            </a:solidFill>
            <a:prstDash val="solid"/>
          </a:ln>
        </p:spPr>
      </p:sp>
      <p:sp>
        <p:nvSpPr>
          <p:cNvPr id="5" name="Text 3"/>
          <p:cNvSpPr/>
          <p:nvPr/>
        </p:nvSpPr>
        <p:spPr>
          <a:xfrm>
            <a:off x="777240" y="1719072"/>
            <a:ext cx="2240280" cy="411480"/>
          </a:xfrm>
          <a:prstGeom prst="rect">
            <a:avLst/>
          </a:prstGeom>
          <a:noFill/>
          <a:ln/>
        </p:spPr>
        <p:txBody>
          <a:bodyPr wrap="square" lIns="0" tIns="0" rIns="0" bIns="0" rtlCol="0" anchor="t"/>
          <a:lstStyle/>
          <a:p>
            <a:pPr indent="0" marL="0">
              <a:buNone/>
            </a:pPr>
            <a:r>
              <a:rPr lang="en-US" sz="1500" b="1" spc="100" kern="0" dirty="0">
                <a:solidFill>
                  <a:srgbClr val="B02532"/>
                </a:solidFill>
                <a:latin typeface="Palatino Linotype" pitchFamily="34" charset="0"/>
                <a:ea typeface="Palatino Linotype" pitchFamily="34" charset="-122"/>
                <a:cs typeface="Palatino Linotype" pitchFamily="34" charset="-120"/>
              </a:rPr>
              <a:t>ACCÉDER</a:t>
            </a:r>
            <a:endParaRPr lang="en-US" sz="1500" dirty="0"/>
          </a:p>
        </p:txBody>
      </p:sp>
      <p:sp>
        <p:nvSpPr>
          <p:cNvPr id="6" name="Text 4"/>
          <p:cNvSpPr/>
          <p:nvPr/>
        </p:nvSpPr>
        <p:spPr>
          <a:xfrm>
            <a:off x="777240" y="2176272"/>
            <a:ext cx="2240280" cy="13258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au programme de dépistage</a:t>
            </a:r>
            <a:endParaRPr lang="en-US" sz="1700" dirty="0"/>
          </a:p>
        </p:txBody>
      </p:sp>
      <p:sp>
        <p:nvSpPr>
          <p:cNvPr id="7" name="Shape 5"/>
          <p:cNvSpPr/>
          <p:nvPr/>
        </p:nvSpPr>
        <p:spPr>
          <a:xfrm>
            <a:off x="3383280" y="1600200"/>
            <a:ext cx="2606040" cy="2011680"/>
          </a:xfrm>
          <a:prstGeom prst="roundRect">
            <a:avLst>
              <a:gd name="adj" fmla="val 4091"/>
            </a:avLst>
          </a:prstGeom>
          <a:solidFill>
            <a:srgbClr val="ECEAE4"/>
          </a:solidFill>
          <a:ln w="12700">
            <a:solidFill>
              <a:srgbClr val="ECEAE4"/>
            </a:solidFill>
            <a:prstDash val="solid"/>
          </a:ln>
        </p:spPr>
      </p:sp>
      <p:sp>
        <p:nvSpPr>
          <p:cNvPr id="8" name="Text 6"/>
          <p:cNvSpPr/>
          <p:nvPr/>
        </p:nvSpPr>
        <p:spPr>
          <a:xfrm>
            <a:off x="3566160" y="1719072"/>
            <a:ext cx="2240280" cy="411480"/>
          </a:xfrm>
          <a:prstGeom prst="rect">
            <a:avLst/>
          </a:prstGeom>
          <a:noFill/>
          <a:ln/>
        </p:spPr>
        <p:txBody>
          <a:bodyPr wrap="square" lIns="0" tIns="0" rIns="0" bIns="0" rtlCol="0" anchor="t"/>
          <a:lstStyle/>
          <a:p>
            <a:pPr indent="0" marL="0">
              <a:buNone/>
            </a:pPr>
            <a:r>
              <a:rPr lang="en-US" sz="1500" b="1" spc="100" kern="0" dirty="0">
                <a:solidFill>
                  <a:srgbClr val="B02532"/>
                </a:solidFill>
                <a:latin typeface="Palatino Linotype" pitchFamily="34" charset="0"/>
                <a:ea typeface="Palatino Linotype" pitchFamily="34" charset="-122"/>
                <a:cs typeface="Palatino Linotype" pitchFamily="34" charset="-120"/>
              </a:rPr>
              <a:t>COMPRENDRE</a:t>
            </a:r>
            <a:endParaRPr lang="en-US" sz="1500" dirty="0"/>
          </a:p>
        </p:txBody>
      </p:sp>
      <p:sp>
        <p:nvSpPr>
          <p:cNvPr id="9" name="Text 7"/>
          <p:cNvSpPr/>
          <p:nvPr/>
        </p:nvSpPr>
        <p:spPr>
          <a:xfrm>
            <a:off x="3566160" y="2176272"/>
            <a:ext cx="2240280" cy="13258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lettre avec le résultat</a:t>
            </a:r>
            <a:endParaRPr lang="en-US" sz="1700" dirty="0"/>
          </a:p>
        </p:txBody>
      </p:sp>
      <p:sp>
        <p:nvSpPr>
          <p:cNvPr id="10" name="Shape 8"/>
          <p:cNvSpPr/>
          <p:nvPr/>
        </p:nvSpPr>
        <p:spPr>
          <a:xfrm>
            <a:off x="6172200" y="1600200"/>
            <a:ext cx="2606040" cy="2011680"/>
          </a:xfrm>
          <a:prstGeom prst="roundRect">
            <a:avLst>
              <a:gd name="adj" fmla="val 4091"/>
            </a:avLst>
          </a:prstGeom>
          <a:solidFill>
            <a:srgbClr val="11121A"/>
          </a:solidFill>
          <a:ln w="12700">
            <a:solidFill>
              <a:srgbClr val="11121A"/>
            </a:solidFill>
            <a:prstDash val="solid"/>
          </a:ln>
        </p:spPr>
      </p:sp>
      <p:sp>
        <p:nvSpPr>
          <p:cNvPr id="11" name="Text 9"/>
          <p:cNvSpPr/>
          <p:nvPr/>
        </p:nvSpPr>
        <p:spPr>
          <a:xfrm>
            <a:off x="6355080" y="1719072"/>
            <a:ext cx="2240280" cy="411480"/>
          </a:xfrm>
          <a:prstGeom prst="rect">
            <a:avLst/>
          </a:prstGeom>
          <a:noFill/>
          <a:ln/>
        </p:spPr>
        <p:txBody>
          <a:bodyPr wrap="square" lIns="0" tIns="0" rIns="0" bIns="0" rtlCol="0" anchor="t"/>
          <a:lstStyle/>
          <a:p>
            <a:pPr indent="0" marL="0">
              <a:buNone/>
            </a:pPr>
            <a:r>
              <a:rPr lang="en-US" sz="1500" b="1" spc="100" kern="0" dirty="0">
                <a:solidFill>
                  <a:srgbClr val="FFC24B"/>
                </a:solidFill>
                <a:latin typeface="Palatino Linotype" pitchFamily="34" charset="0"/>
                <a:ea typeface="Palatino Linotype" pitchFamily="34" charset="-122"/>
                <a:cs typeface="Palatino Linotype" pitchFamily="34" charset="-120"/>
              </a:rPr>
              <a:t>ÉVALUER</a:t>
            </a:r>
            <a:endParaRPr lang="en-US" sz="1500" dirty="0"/>
          </a:p>
        </p:txBody>
      </p:sp>
      <p:sp>
        <p:nvSpPr>
          <p:cNvPr id="12" name="Text 10"/>
          <p:cNvSpPr/>
          <p:nvPr/>
        </p:nvSpPr>
        <p:spPr>
          <a:xfrm>
            <a:off x="6355080" y="2176272"/>
            <a:ext cx="2240280" cy="13258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vidéo : est-elle fiable ?</a:t>
            </a:r>
            <a:endParaRPr lang="en-US" sz="1700" dirty="0"/>
          </a:p>
        </p:txBody>
      </p:sp>
      <p:sp>
        <p:nvSpPr>
          <p:cNvPr id="13" name="Shape 11"/>
          <p:cNvSpPr/>
          <p:nvPr/>
        </p:nvSpPr>
        <p:spPr>
          <a:xfrm>
            <a:off x="8961120" y="1600200"/>
            <a:ext cx="2606040" cy="2011680"/>
          </a:xfrm>
          <a:prstGeom prst="roundRect">
            <a:avLst>
              <a:gd name="adj" fmla="val 4091"/>
            </a:avLst>
          </a:prstGeom>
          <a:solidFill>
            <a:srgbClr val="ECEAE4"/>
          </a:solidFill>
          <a:ln w="12700">
            <a:solidFill>
              <a:srgbClr val="ECEAE4"/>
            </a:solidFill>
            <a:prstDash val="solid"/>
          </a:ln>
        </p:spPr>
      </p:sp>
      <p:sp>
        <p:nvSpPr>
          <p:cNvPr id="14" name="Text 12"/>
          <p:cNvSpPr/>
          <p:nvPr/>
        </p:nvSpPr>
        <p:spPr>
          <a:xfrm>
            <a:off x="9144000" y="1719072"/>
            <a:ext cx="2240280" cy="411480"/>
          </a:xfrm>
          <a:prstGeom prst="rect">
            <a:avLst/>
          </a:prstGeom>
          <a:noFill/>
          <a:ln/>
        </p:spPr>
        <p:txBody>
          <a:bodyPr wrap="square" lIns="0" tIns="0" rIns="0" bIns="0" rtlCol="0" anchor="t"/>
          <a:lstStyle/>
          <a:p>
            <a:pPr indent="0" marL="0">
              <a:buNone/>
            </a:pPr>
            <a:r>
              <a:rPr lang="en-US" sz="1500" b="1" spc="100" kern="0" dirty="0">
                <a:solidFill>
                  <a:srgbClr val="B02532"/>
                </a:solidFill>
                <a:latin typeface="Palatino Linotype" pitchFamily="34" charset="0"/>
                <a:ea typeface="Palatino Linotype" pitchFamily="34" charset="-122"/>
                <a:cs typeface="Palatino Linotype" pitchFamily="34" charset="-120"/>
              </a:rPr>
              <a:t>APPLIQUER</a:t>
            </a:r>
            <a:endParaRPr lang="en-US" sz="1500" dirty="0"/>
          </a:p>
        </p:txBody>
      </p:sp>
      <p:sp>
        <p:nvSpPr>
          <p:cNvPr id="15" name="Text 13"/>
          <p:cNvSpPr/>
          <p:nvPr/>
        </p:nvSpPr>
        <p:spPr>
          <a:xfrm>
            <a:off x="9144000" y="2176272"/>
            <a:ext cx="2240280" cy="13258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faire le test</a:t>
            </a:r>
            <a:endParaRPr lang="en-US" sz="1700" dirty="0"/>
          </a:p>
        </p:txBody>
      </p:sp>
      <p:sp>
        <p:nvSpPr>
          <p:cNvPr id="16" name="Text 14"/>
          <p:cNvSpPr/>
          <p:nvPr/>
        </p:nvSpPr>
        <p:spPr>
          <a:xfrm>
            <a:off x="594360" y="3749040"/>
            <a:ext cx="10972800" cy="45720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soins médicaux · prévention des maladies · promotion de la santé : douze situations</a:t>
            </a:r>
            <a:endParaRPr lang="en-US" sz="1600" dirty="0"/>
          </a:p>
        </p:txBody>
      </p:sp>
      <p:sp>
        <p:nvSpPr>
          <p:cNvPr id="17" name="Shape 15"/>
          <p:cNvSpPr/>
          <p:nvPr/>
        </p:nvSpPr>
        <p:spPr>
          <a:xfrm>
            <a:off x="594360" y="4343400"/>
            <a:ext cx="10972800" cy="1417320"/>
          </a:xfrm>
          <a:prstGeom prst="roundRect">
            <a:avLst>
              <a:gd name="adj" fmla="val 5806"/>
            </a:avLst>
          </a:prstGeom>
          <a:solidFill>
            <a:srgbClr val="11121A"/>
          </a:solidFill>
          <a:ln w="12700">
            <a:solidFill>
              <a:srgbClr val="11121A"/>
            </a:solidFill>
            <a:prstDash val="solid"/>
          </a:ln>
        </p:spPr>
      </p:sp>
      <p:sp>
        <p:nvSpPr>
          <p:cNvPr id="18" name="Text 16"/>
          <p:cNvSpPr/>
          <p:nvPr/>
        </p:nvSpPr>
        <p:spPr>
          <a:xfrm>
            <a:off x="868680" y="4343400"/>
            <a:ext cx="10424160" cy="14173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En 2019–2021, parmi les tâches les plus difficiles : juger les options de traitement ou si une information numérique est fiable.</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Sørensen et al., 2015 ; résumé du rapport international HLS19, 2021.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HLS-EU, 2011 · HUIT PAYS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Près d’un répondant sur deux</a:t>
            </a:r>
            <a:endParaRPr lang="en-US" sz="3200" dirty="0"/>
          </a:p>
        </p:txBody>
      </p:sp>
      <p:sp>
        <p:nvSpPr>
          <p:cNvPr id="4" name="Text 2"/>
          <p:cNvSpPr/>
          <p:nvPr/>
        </p:nvSpPr>
        <p:spPr>
          <a:xfrm>
            <a:off x="594360" y="1508760"/>
            <a:ext cx="5120640" cy="2103120"/>
          </a:xfrm>
          <a:prstGeom prst="rect">
            <a:avLst/>
          </a:prstGeom>
          <a:noFill/>
          <a:ln/>
        </p:spPr>
        <p:txBody>
          <a:bodyPr wrap="square" lIns="0" tIns="0" rIns="0" bIns="0" rtlCol="0" anchor="t"/>
          <a:lstStyle/>
          <a:p>
            <a:pPr indent="0" marL="0">
              <a:buNone/>
            </a:pPr>
            <a:r>
              <a:rPr lang="en-US" sz="1600" dirty="0">
                <a:solidFill>
                  <a:srgbClr val="D5D8E2"/>
                </a:solidFill>
                <a:latin typeface="Palatino Linotype" pitchFamily="34" charset="0"/>
                <a:ea typeface="Palatino Linotype" pitchFamily="34" charset="-122"/>
                <a:cs typeface="Palatino Linotype" pitchFamily="34" charset="-120"/>
              </a:rPr>
              <a:t>Juillet–août 2011, environ mille personnes d’au moins 15 ans par pays. Score 0–50, quatre niveaux ; inadéquat et problématique = « limitée ».</a:t>
            </a:r>
            <a:endParaRPr lang="en-US" sz="1600" dirty="0"/>
          </a:p>
        </p:txBody>
      </p:sp>
      <p:sp>
        <p:nvSpPr>
          <p:cNvPr id="5" name="Shape 3"/>
          <p:cNvSpPr/>
          <p:nvPr/>
        </p:nvSpPr>
        <p:spPr>
          <a:xfrm>
            <a:off x="594360" y="3749040"/>
            <a:ext cx="5120640" cy="2011680"/>
          </a:xfrm>
          <a:prstGeom prst="roundRect">
            <a:avLst>
              <a:gd name="adj" fmla="val 4091"/>
            </a:avLst>
          </a:prstGeom>
          <a:solidFill>
            <a:srgbClr val="1D1F2B"/>
          </a:solidFill>
          <a:ln w="12700">
            <a:solidFill>
              <a:srgbClr val="1D1F2B"/>
            </a:solidFill>
            <a:prstDash val="solid"/>
          </a:ln>
        </p:spPr>
      </p:sp>
      <p:sp>
        <p:nvSpPr>
          <p:cNvPr id="6" name="Text 4"/>
          <p:cNvSpPr/>
          <p:nvPr/>
        </p:nvSpPr>
        <p:spPr>
          <a:xfrm>
            <a:off x="868680" y="3858768"/>
            <a:ext cx="4572000" cy="1005840"/>
          </a:xfrm>
          <a:prstGeom prst="rect">
            <a:avLst/>
          </a:prstGeom>
          <a:noFill/>
          <a:ln/>
        </p:spPr>
        <p:txBody>
          <a:bodyPr wrap="square" lIns="0" tIns="0" rIns="0" bIns="0" rtlCol="0" anchor="ctr"/>
          <a:lstStyle/>
          <a:p>
            <a:pPr indent="0" marL="0">
              <a:buNone/>
            </a:pPr>
            <a:r>
              <a:rPr lang="en-US" sz="5400" b="1" dirty="0">
                <a:solidFill>
                  <a:srgbClr val="FF4757"/>
                </a:solidFill>
                <a:latin typeface="Palatino Linotype" pitchFamily="34" charset="0"/>
                <a:ea typeface="Palatino Linotype" pitchFamily="34" charset="-122"/>
                <a:cs typeface="Palatino Linotype" pitchFamily="34" charset="-120"/>
              </a:rPr>
              <a:t>47,6 %</a:t>
            </a:r>
            <a:endParaRPr lang="en-US" sz="5400" dirty="0"/>
          </a:p>
        </p:txBody>
      </p:sp>
      <p:sp>
        <p:nvSpPr>
          <p:cNvPr id="7" name="Text 5"/>
          <p:cNvSpPr/>
          <p:nvPr/>
        </p:nvSpPr>
        <p:spPr>
          <a:xfrm>
            <a:off x="868680" y="4773168"/>
            <a:ext cx="4572000" cy="925373"/>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littératie limitée, dans l’échantillon total</a:t>
            </a:r>
            <a:endParaRPr lang="en-US" sz="1200" dirty="0"/>
          </a:p>
        </p:txBody>
      </p:sp>
      <p:sp>
        <p:nvSpPr>
          <p:cNvPr id="8" name="Text 6"/>
          <p:cNvSpPr/>
          <p:nvPr/>
        </p:nvSpPr>
        <p:spPr>
          <a:xfrm>
            <a:off x="6035040" y="1508760"/>
            <a:ext cx="5486400" cy="320040"/>
          </a:xfrm>
          <a:prstGeom prst="rect">
            <a:avLst/>
          </a:prstGeom>
          <a:noFill/>
          <a:ln/>
        </p:spPr>
        <p:txBody>
          <a:bodyPr wrap="square" lIns="0" tIns="0" rIns="0" bIns="0" rtlCol="0" anchor="t"/>
          <a:lstStyle/>
          <a:p>
            <a:pPr indent="0" marL="0">
              <a:buNone/>
            </a:pPr>
            <a:r>
              <a:rPr lang="en-US" sz="1250" b="1" spc="200" kern="0" dirty="0">
                <a:solidFill>
                  <a:srgbClr val="FF4757"/>
                </a:solidFill>
                <a:latin typeface="Palatino Linotype" pitchFamily="34" charset="0"/>
                <a:ea typeface="Palatino Linotype" pitchFamily="34" charset="-122"/>
                <a:cs typeface="Palatino Linotype" pitchFamily="34" charset="-120"/>
              </a:rPr>
              <a:t>LITTÉRATIE LIMITÉE</a:t>
            </a:r>
            <a:endParaRPr lang="en-US" sz="1250" dirty="0"/>
          </a:p>
        </p:txBody>
      </p:sp>
      <p:sp>
        <p:nvSpPr>
          <p:cNvPr id="9" name="Text 7"/>
          <p:cNvSpPr/>
          <p:nvPr/>
        </p:nvSpPr>
        <p:spPr>
          <a:xfrm>
            <a:off x="6035040" y="1874520"/>
            <a:ext cx="128016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Pays-Bas</a:t>
            </a:r>
            <a:endParaRPr lang="en-US" sz="1500" dirty="0"/>
          </a:p>
        </p:txBody>
      </p:sp>
      <p:sp>
        <p:nvSpPr>
          <p:cNvPr id="10" name="Shape 8"/>
          <p:cNvSpPr/>
          <p:nvPr/>
        </p:nvSpPr>
        <p:spPr>
          <a:xfrm>
            <a:off x="7406640" y="1929384"/>
            <a:ext cx="1098752" cy="329184"/>
          </a:xfrm>
          <a:prstGeom prst="roundRect">
            <a:avLst>
              <a:gd name="adj" fmla="val 13889"/>
            </a:avLst>
          </a:prstGeom>
          <a:solidFill>
            <a:srgbClr val="27D3BE"/>
          </a:solidFill>
          <a:ln w="12700">
            <a:solidFill>
              <a:srgbClr val="27D3BE"/>
            </a:solidFill>
            <a:prstDash val="solid"/>
          </a:ln>
        </p:spPr>
      </p:sp>
      <p:sp>
        <p:nvSpPr>
          <p:cNvPr id="11" name="Text 9"/>
          <p:cNvSpPr/>
          <p:nvPr/>
        </p:nvSpPr>
        <p:spPr>
          <a:xfrm>
            <a:off x="8596832" y="1929384"/>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28,7 %</a:t>
            </a:r>
            <a:endParaRPr lang="en-US" sz="1500" dirty="0"/>
          </a:p>
        </p:txBody>
      </p:sp>
      <p:sp>
        <p:nvSpPr>
          <p:cNvPr id="12" name="Text 10"/>
          <p:cNvSpPr/>
          <p:nvPr/>
        </p:nvSpPr>
        <p:spPr>
          <a:xfrm>
            <a:off x="6035040" y="2441448"/>
            <a:ext cx="128016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Total</a:t>
            </a:r>
            <a:endParaRPr lang="en-US" sz="1500" dirty="0"/>
          </a:p>
        </p:txBody>
      </p:sp>
      <p:sp>
        <p:nvSpPr>
          <p:cNvPr id="13" name="Shape 11"/>
          <p:cNvSpPr/>
          <p:nvPr/>
        </p:nvSpPr>
        <p:spPr>
          <a:xfrm>
            <a:off x="7406640" y="2496312"/>
            <a:ext cx="1822321" cy="329184"/>
          </a:xfrm>
          <a:prstGeom prst="roundRect">
            <a:avLst>
              <a:gd name="adj" fmla="val 13889"/>
            </a:avLst>
          </a:prstGeom>
          <a:solidFill>
            <a:srgbClr val="FF4757"/>
          </a:solidFill>
          <a:ln w="12700">
            <a:solidFill>
              <a:srgbClr val="FF4757"/>
            </a:solidFill>
            <a:prstDash val="solid"/>
          </a:ln>
        </p:spPr>
      </p:sp>
      <p:sp>
        <p:nvSpPr>
          <p:cNvPr id="14" name="Text 12"/>
          <p:cNvSpPr/>
          <p:nvPr/>
        </p:nvSpPr>
        <p:spPr>
          <a:xfrm>
            <a:off x="9320401" y="2496312"/>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47,6 %</a:t>
            </a:r>
            <a:endParaRPr lang="en-US" sz="1500" dirty="0"/>
          </a:p>
        </p:txBody>
      </p:sp>
      <p:sp>
        <p:nvSpPr>
          <p:cNvPr id="15" name="Text 13"/>
          <p:cNvSpPr/>
          <p:nvPr/>
        </p:nvSpPr>
        <p:spPr>
          <a:xfrm>
            <a:off x="6035040" y="3008376"/>
            <a:ext cx="128016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Bulgarie</a:t>
            </a:r>
            <a:endParaRPr lang="en-US" sz="1500" dirty="0"/>
          </a:p>
        </p:txBody>
      </p:sp>
      <p:sp>
        <p:nvSpPr>
          <p:cNvPr id="16" name="Shape 14"/>
          <p:cNvSpPr/>
          <p:nvPr/>
        </p:nvSpPr>
        <p:spPr>
          <a:xfrm>
            <a:off x="7406640" y="3063240"/>
            <a:ext cx="2377440" cy="329184"/>
          </a:xfrm>
          <a:prstGeom prst="roundRect">
            <a:avLst>
              <a:gd name="adj" fmla="val 13889"/>
            </a:avLst>
          </a:prstGeom>
          <a:solidFill>
            <a:srgbClr val="FFC24B"/>
          </a:solidFill>
          <a:ln w="12700">
            <a:solidFill>
              <a:srgbClr val="FFC24B"/>
            </a:solidFill>
            <a:prstDash val="solid"/>
          </a:ln>
        </p:spPr>
      </p:sp>
      <p:sp>
        <p:nvSpPr>
          <p:cNvPr id="17" name="Text 15"/>
          <p:cNvSpPr/>
          <p:nvPr/>
        </p:nvSpPr>
        <p:spPr>
          <a:xfrm>
            <a:off x="9875520" y="3063240"/>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plus de 62,1 %</a:t>
            </a:r>
            <a:endParaRPr lang="en-US" sz="1500" dirty="0"/>
          </a:p>
        </p:txBody>
      </p:sp>
      <p:sp>
        <p:nvSpPr>
          <p:cNvPr id="18" name="Text 16"/>
          <p:cNvSpPr/>
          <p:nvPr/>
        </p:nvSpPr>
        <p:spPr>
          <a:xfrm>
            <a:off x="6035040" y="3749040"/>
            <a:ext cx="5486400" cy="320040"/>
          </a:xfrm>
          <a:prstGeom prst="rect">
            <a:avLst/>
          </a:prstGeom>
          <a:noFill/>
          <a:ln/>
        </p:spPr>
        <p:txBody>
          <a:bodyPr wrap="square" lIns="0" tIns="0" rIns="0" bIns="0" rtlCol="0" anchor="t"/>
          <a:lstStyle/>
          <a:p>
            <a:pPr indent="0" marL="0">
              <a:buNone/>
            </a:pPr>
            <a:r>
              <a:rPr lang="en-US" sz="1250" b="1" spc="200" kern="0" dirty="0">
                <a:solidFill>
                  <a:srgbClr val="FF4757"/>
                </a:solidFill>
                <a:latin typeface="Palatino Linotype" pitchFamily="34" charset="0"/>
                <a:ea typeface="Palatino Linotype" pitchFamily="34" charset="-122"/>
                <a:cs typeface="Palatino Linotype" pitchFamily="34" charset="-120"/>
              </a:rPr>
              <a:t>INADÉQUATE</a:t>
            </a:r>
            <a:endParaRPr lang="en-US" sz="1250" dirty="0"/>
          </a:p>
        </p:txBody>
      </p:sp>
      <p:sp>
        <p:nvSpPr>
          <p:cNvPr id="19" name="Text 17"/>
          <p:cNvSpPr/>
          <p:nvPr/>
        </p:nvSpPr>
        <p:spPr>
          <a:xfrm>
            <a:off x="6035040" y="4114800"/>
            <a:ext cx="128016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Pays-Bas</a:t>
            </a:r>
            <a:endParaRPr lang="en-US" sz="1500" dirty="0"/>
          </a:p>
        </p:txBody>
      </p:sp>
      <p:sp>
        <p:nvSpPr>
          <p:cNvPr id="20" name="Shape 18"/>
          <p:cNvSpPr/>
          <p:nvPr/>
        </p:nvSpPr>
        <p:spPr>
          <a:xfrm>
            <a:off x="7406640" y="4169664"/>
            <a:ext cx="68911" cy="329184"/>
          </a:xfrm>
          <a:prstGeom prst="roundRect">
            <a:avLst>
              <a:gd name="adj" fmla="val 66346"/>
            </a:avLst>
          </a:prstGeom>
          <a:solidFill>
            <a:srgbClr val="27D3BE"/>
          </a:solidFill>
          <a:ln w="12700">
            <a:solidFill>
              <a:srgbClr val="27D3BE"/>
            </a:solidFill>
            <a:prstDash val="solid"/>
          </a:ln>
        </p:spPr>
      </p:sp>
      <p:sp>
        <p:nvSpPr>
          <p:cNvPr id="21" name="Text 19"/>
          <p:cNvSpPr/>
          <p:nvPr/>
        </p:nvSpPr>
        <p:spPr>
          <a:xfrm>
            <a:off x="7566991" y="4169664"/>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1,8 %</a:t>
            </a:r>
            <a:endParaRPr lang="en-US" sz="1500" dirty="0"/>
          </a:p>
        </p:txBody>
      </p:sp>
      <p:sp>
        <p:nvSpPr>
          <p:cNvPr id="22" name="Text 20"/>
          <p:cNvSpPr/>
          <p:nvPr/>
        </p:nvSpPr>
        <p:spPr>
          <a:xfrm>
            <a:off x="6035040" y="4681728"/>
            <a:ext cx="128016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Total</a:t>
            </a:r>
            <a:endParaRPr lang="en-US" sz="1500" dirty="0"/>
          </a:p>
        </p:txBody>
      </p:sp>
      <p:sp>
        <p:nvSpPr>
          <p:cNvPr id="23" name="Shape 21"/>
          <p:cNvSpPr/>
          <p:nvPr/>
        </p:nvSpPr>
        <p:spPr>
          <a:xfrm>
            <a:off x="7406640" y="4736592"/>
            <a:ext cx="474722" cy="329184"/>
          </a:xfrm>
          <a:prstGeom prst="roundRect">
            <a:avLst>
              <a:gd name="adj" fmla="val 13889"/>
            </a:avLst>
          </a:prstGeom>
          <a:solidFill>
            <a:srgbClr val="FF4757"/>
          </a:solidFill>
          <a:ln w="12700">
            <a:solidFill>
              <a:srgbClr val="FF4757"/>
            </a:solidFill>
            <a:prstDash val="solid"/>
          </a:ln>
        </p:spPr>
      </p:sp>
      <p:sp>
        <p:nvSpPr>
          <p:cNvPr id="24" name="Text 22"/>
          <p:cNvSpPr/>
          <p:nvPr/>
        </p:nvSpPr>
        <p:spPr>
          <a:xfrm>
            <a:off x="7972802" y="4736592"/>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12,4 %</a:t>
            </a:r>
            <a:endParaRPr lang="en-US" sz="1500" dirty="0"/>
          </a:p>
        </p:txBody>
      </p:sp>
      <p:sp>
        <p:nvSpPr>
          <p:cNvPr id="25" name="Text 23"/>
          <p:cNvSpPr/>
          <p:nvPr/>
        </p:nvSpPr>
        <p:spPr>
          <a:xfrm>
            <a:off x="6035040" y="5248656"/>
            <a:ext cx="1280160" cy="47548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Bulgarie</a:t>
            </a:r>
            <a:endParaRPr lang="en-US" sz="1500" dirty="0"/>
          </a:p>
        </p:txBody>
      </p:sp>
      <p:sp>
        <p:nvSpPr>
          <p:cNvPr id="26" name="Shape 24"/>
          <p:cNvSpPr/>
          <p:nvPr/>
        </p:nvSpPr>
        <p:spPr>
          <a:xfrm>
            <a:off x="7406640" y="5303520"/>
            <a:ext cx="1029841" cy="329184"/>
          </a:xfrm>
          <a:prstGeom prst="roundRect">
            <a:avLst>
              <a:gd name="adj" fmla="val 13889"/>
            </a:avLst>
          </a:prstGeom>
          <a:solidFill>
            <a:srgbClr val="FFC24B"/>
          </a:solidFill>
          <a:ln w="12700">
            <a:solidFill>
              <a:srgbClr val="FFC24B"/>
            </a:solidFill>
            <a:prstDash val="solid"/>
          </a:ln>
        </p:spPr>
      </p:sp>
      <p:sp>
        <p:nvSpPr>
          <p:cNvPr id="27" name="Text 25"/>
          <p:cNvSpPr/>
          <p:nvPr/>
        </p:nvSpPr>
        <p:spPr>
          <a:xfrm>
            <a:off x="8527921" y="5303520"/>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26,9 %</a:t>
            </a:r>
            <a:endParaRPr lang="en-US" sz="1500" dirty="0"/>
          </a:p>
        </p:txBody>
      </p:sp>
      <p:sp>
        <p:nvSpPr>
          <p:cNvPr id="28" name="Text 2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Sørensen et al., 2015 (HLS-EU).</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ROUMANIE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chiffre qui manque</a:t>
            </a:r>
            <a:endParaRPr lang="en-US" sz="3200" dirty="0"/>
          </a:p>
        </p:txBody>
      </p:sp>
      <p:sp>
        <p:nvSpPr>
          <p:cNvPr id="4" name="Shape 2"/>
          <p:cNvSpPr/>
          <p:nvPr/>
        </p:nvSpPr>
        <p:spPr>
          <a:xfrm>
            <a:off x="594360" y="1554480"/>
            <a:ext cx="6400800" cy="4251960"/>
          </a:xfrm>
          <a:prstGeom prst="roundRect">
            <a:avLst>
              <a:gd name="adj" fmla="val 1935"/>
            </a:avLst>
          </a:prstGeom>
          <a:solidFill>
            <a:srgbClr val="ECEAE4"/>
          </a:solidFill>
          <a:ln w="12700">
            <a:solidFill>
              <a:srgbClr val="ECEAE4"/>
            </a:solidFill>
            <a:prstDash val="solid"/>
          </a:ln>
        </p:spPr>
      </p:sp>
      <p:sp>
        <p:nvSpPr>
          <p:cNvPr id="5" name="Text 3"/>
          <p:cNvSpPr/>
          <p:nvPr/>
        </p:nvSpPr>
        <p:spPr>
          <a:xfrm>
            <a:off x="822960" y="1664208"/>
            <a:ext cx="5943600" cy="36576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HLS19 · NOVEMBRE 2019 – JUIN 2021</a:t>
            </a:r>
            <a:endParaRPr lang="en-US" sz="1250" dirty="0"/>
          </a:p>
        </p:txBody>
      </p:sp>
      <p:sp>
        <p:nvSpPr>
          <p:cNvPr id="6" name="Text 4"/>
          <p:cNvSpPr/>
          <p:nvPr/>
        </p:nvSpPr>
        <p:spPr>
          <a:xfrm>
            <a:off x="822960" y="2057400"/>
            <a:ext cx="2834640" cy="731520"/>
          </a:xfrm>
          <a:prstGeom prst="rect">
            <a:avLst/>
          </a:prstGeom>
          <a:noFill/>
          <a:ln/>
        </p:spPr>
        <p:txBody>
          <a:bodyPr wrap="square" lIns="0" tIns="0" rIns="0" bIns="0" rtlCol="0" anchor="t"/>
          <a:lstStyle/>
          <a:p>
            <a:pPr indent="0" marL="0">
              <a:buNone/>
            </a:pPr>
            <a:r>
              <a:rPr lang="en-US" sz="4000" b="1" dirty="0">
                <a:solidFill>
                  <a:srgbClr val="B02532"/>
                </a:solidFill>
                <a:latin typeface="Palatino Linotype" pitchFamily="34" charset="0"/>
                <a:ea typeface="Palatino Linotype" pitchFamily="34" charset="-122"/>
                <a:cs typeface="Palatino Linotype" pitchFamily="34" charset="-120"/>
              </a:rPr>
              <a:t>17</a:t>
            </a:r>
            <a:endParaRPr lang="en-US" sz="4000" dirty="0"/>
          </a:p>
        </p:txBody>
      </p:sp>
      <p:sp>
        <p:nvSpPr>
          <p:cNvPr id="7" name="Text 5"/>
          <p:cNvSpPr/>
          <p:nvPr/>
        </p:nvSpPr>
        <p:spPr>
          <a:xfrm>
            <a:off x="822960" y="2788920"/>
            <a:ext cx="2834640" cy="5486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pays de la Région européenne de l’OMS</a:t>
            </a:r>
            <a:endParaRPr lang="en-US" sz="1400" dirty="0"/>
          </a:p>
        </p:txBody>
      </p:sp>
      <p:sp>
        <p:nvSpPr>
          <p:cNvPr id="8" name="Text 6"/>
          <p:cNvSpPr/>
          <p:nvPr/>
        </p:nvSpPr>
        <p:spPr>
          <a:xfrm>
            <a:off x="3794760" y="2057400"/>
            <a:ext cx="2834640" cy="731520"/>
          </a:xfrm>
          <a:prstGeom prst="rect">
            <a:avLst/>
          </a:prstGeom>
          <a:noFill/>
          <a:ln/>
        </p:spPr>
        <p:txBody>
          <a:bodyPr wrap="square" lIns="0" tIns="0" rIns="0" bIns="0" rtlCol="0" anchor="t"/>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42 445</a:t>
            </a:r>
            <a:endParaRPr lang="en-US" sz="4000" dirty="0"/>
          </a:p>
        </p:txBody>
      </p:sp>
      <p:sp>
        <p:nvSpPr>
          <p:cNvPr id="9" name="Text 7"/>
          <p:cNvSpPr/>
          <p:nvPr/>
        </p:nvSpPr>
        <p:spPr>
          <a:xfrm>
            <a:off x="3794760" y="2788920"/>
            <a:ext cx="2834640" cy="5486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entretiens</a:t>
            </a:r>
            <a:endParaRPr lang="en-US" sz="1400" dirty="0"/>
          </a:p>
        </p:txBody>
      </p:sp>
      <p:sp>
        <p:nvSpPr>
          <p:cNvPr id="10" name="Text 8"/>
          <p:cNvSpPr/>
          <p:nvPr/>
        </p:nvSpPr>
        <p:spPr>
          <a:xfrm>
            <a:off x="822960" y="3429000"/>
            <a:ext cx="5943600" cy="22860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La Roumanie n’y a pas participé non plus ; le pourcentage de la Bulgarie ne se transpose pas. Comparer les pays avec prudence : méthodes différentes, plan transversal.</a:t>
            </a:r>
            <a:endParaRPr lang="en-US" sz="1650" dirty="0"/>
          </a:p>
        </p:txBody>
      </p:sp>
      <p:sp>
        <p:nvSpPr>
          <p:cNvPr id="11" name="Shape 9"/>
          <p:cNvSpPr/>
          <p:nvPr/>
        </p:nvSpPr>
        <p:spPr>
          <a:xfrm>
            <a:off x="7223760" y="1554480"/>
            <a:ext cx="4343400" cy="4251960"/>
          </a:xfrm>
          <a:prstGeom prst="roundRect">
            <a:avLst>
              <a:gd name="adj" fmla="val 1935"/>
            </a:avLst>
          </a:prstGeom>
          <a:solidFill>
            <a:srgbClr val="11121A"/>
          </a:solidFill>
          <a:ln w="12700">
            <a:solidFill>
              <a:srgbClr val="11121A"/>
            </a:solidFill>
            <a:prstDash val="solid"/>
          </a:ln>
        </p:spPr>
      </p:sp>
      <p:sp>
        <p:nvSpPr>
          <p:cNvPr id="12" name="Text 10"/>
          <p:cNvSpPr/>
          <p:nvPr/>
        </p:nvSpPr>
        <p:spPr>
          <a:xfrm>
            <a:off x="7452360" y="1664208"/>
            <a:ext cx="3931920" cy="36576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LE GRADIENT SOCIAL</a:t>
            </a:r>
            <a:endParaRPr lang="en-US" sz="1250" dirty="0"/>
          </a:p>
        </p:txBody>
      </p:sp>
      <p:sp>
        <p:nvSpPr>
          <p:cNvPr id="13" name="Text 11"/>
          <p:cNvSpPr/>
          <p:nvPr/>
        </p:nvSpPr>
        <p:spPr>
          <a:xfrm>
            <a:off x="7452360" y="2103120"/>
            <a:ext cx="3931920" cy="35661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Littératie limitée plus fréquente en cas de difficultés financières, de statut social bas, de faible instruction, d’âge avancé ; dans tous les pays, en 2019–2021.</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résumé du rapport international HLS19, 2021 ; Sørensen et al., 2015.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QUE PEUT FAIRE LE MÉDECIN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Les recommandations de l’enquête 2019–2021</a:t>
            </a:r>
            <a:endParaRPr lang="en-US" sz="3200" dirty="0"/>
          </a:p>
        </p:txBody>
      </p:sp>
      <p:sp>
        <p:nvSpPr>
          <p:cNvPr id="4" name="Shape 2"/>
          <p:cNvSpPr/>
          <p:nvPr/>
        </p:nvSpPr>
        <p:spPr>
          <a:xfrm>
            <a:off x="594360" y="1645920"/>
            <a:ext cx="3505200" cy="3931920"/>
          </a:xfrm>
          <a:prstGeom prst="roundRect">
            <a:avLst>
              <a:gd name="adj" fmla="val 2348"/>
            </a:avLst>
          </a:prstGeom>
          <a:solidFill>
            <a:srgbClr val="1D1F2B"/>
          </a:solidFill>
          <a:ln w="12700">
            <a:solidFill>
              <a:srgbClr val="1D1F2B"/>
            </a:solidFill>
            <a:prstDash val="solid"/>
          </a:ln>
        </p:spPr>
      </p:sp>
      <p:sp>
        <p:nvSpPr>
          <p:cNvPr id="5" name="Text 3"/>
          <p:cNvSpPr/>
          <p:nvPr/>
        </p:nvSpPr>
        <p:spPr>
          <a:xfrm>
            <a:off x="795528" y="1773936"/>
            <a:ext cx="3102864" cy="384048"/>
          </a:xfrm>
          <a:prstGeom prst="rect">
            <a:avLst/>
          </a:prstGeom>
          <a:noFill/>
          <a:ln/>
        </p:spPr>
        <p:txBody>
          <a:bodyPr wrap="square" lIns="0" tIns="0" rIns="0" bIns="0" rtlCol="0" anchor="t"/>
          <a:lstStyle/>
          <a:p>
            <a:pPr indent="0" marL="0">
              <a:buNone/>
            </a:pPr>
            <a:r>
              <a:rPr lang="en-US" sz="1400" b="1" spc="100" kern="0" dirty="0">
                <a:solidFill>
                  <a:srgbClr val="FFC24B"/>
                </a:solidFill>
                <a:latin typeface="Palatino Linotype" pitchFamily="34" charset="0"/>
                <a:ea typeface="Palatino Linotype" pitchFamily="34" charset="-122"/>
                <a:cs typeface="Palatino Linotype" pitchFamily="34" charset="-120"/>
              </a:rPr>
              <a:t>LA COMMUNICATION</a:t>
            </a:r>
            <a:endParaRPr lang="en-US" sz="1400" dirty="0"/>
          </a:p>
        </p:txBody>
      </p:sp>
      <p:sp>
        <p:nvSpPr>
          <p:cNvPr id="6" name="Text 4"/>
          <p:cNvSpPr/>
          <p:nvPr/>
        </p:nvSpPr>
        <p:spPr>
          <a:xfrm>
            <a:off x="795528" y="2157984"/>
            <a:ext cx="3102864" cy="32918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centrée sur la personne ; les médecins, soutenus pour y consacrer plus de temps</a:t>
            </a:r>
            <a:endParaRPr lang="en-US" sz="1900" dirty="0"/>
          </a:p>
        </p:txBody>
      </p:sp>
      <p:sp>
        <p:nvSpPr>
          <p:cNvPr id="7" name="Shape 5"/>
          <p:cNvSpPr/>
          <p:nvPr/>
        </p:nvSpPr>
        <p:spPr>
          <a:xfrm>
            <a:off x="4328160" y="1645920"/>
            <a:ext cx="3505200" cy="3931920"/>
          </a:xfrm>
          <a:prstGeom prst="roundRect">
            <a:avLst>
              <a:gd name="adj" fmla="val 2348"/>
            </a:avLst>
          </a:prstGeom>
          <a:solidFill>
            <a:srgbClr val="1D1F2B"/>
          </a:solidFill>
          <a:ln w="12700">
            <a:solidFill>
              <a:srgbClr val="1D1F2B"/>
            </a:solidFill>
            <a:prstDash val="solid"/>
          </a:ln>
        </p:spPr>
      </p:sp>
      <p:sp>
        <p:nvSpPr>
          <p:cNvPr id="8" name="Text 6"/>
          <p:cNvSpPr/>
          <p:nvPr/>
        </p:nvSpPr>
        <p:spPr>
          <a:xfrm>
            <a:off x="4529328" y="1773936"/>
            <a:ext cx="3102864" cy="384048"/>
          </a:xfrm>
          <a:prstGeom prst="rect">
            <a:avLst/>
          </a:prstGeom>
          <a:noFill/>
          <a:ln/>
        </p:spPr>
        <p:txBody>
          <a:bodyPr wrap="square" lIns="0" tIns="0" rIns="0" bIns="0" rtlCol="0" anchor="t"/>
          <a:lstStyle/>
          <a:p>
            <a:pPr indent="0" marL="0">
              <a:buNone/>
            </a:pPr>
            <a:r>
              <a:rPr lang="en-US" sz="1400" b="1" spc="100" kern="0" dirty="0">
                <a:solidFill>
                  <a:srgbClr val="27D3BE"/>
                </a:solidFill>
                <a:latin typeface="Palatino Linotype" pitchFamily="34" charset="0"/>
                <a:ea typeface="Palatino Linotype" pitchFamily="34" charset="-122"/>
                <a:cs typeface="Palatino Linotype" pitchFamily="34" charset="-120"/>
              </a:rPr>
              <a:t>L’INFORMATION</a:t>
            </a:r>
            <a:endParaRPr lang="en-US" sz="1400" dirty="0"/>
          </a:p>
        </p:txBody>
      </p:sp>
      <p:sp>
        <p:nvSpPr>
          <p:cNvPr id="9" name="Text 7"/>
          <p:cNvSpPr/>
          <p:nvPr/>
        </p:nvSpPr>
        <p:spPr>
          <a:xfrm>
            <a:off x="4529328" y="2157984"/>
            <a:ext cx="3102864" cy="32918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facilement accessible, fiable et facile à comprendre</a:t>
            </a:r>
            <a:endParaRPr lang="en-US" sz="1900" dirty="0"/>
          </a:p>
        </p:txBody>
      </p:sp>
      <p:sp>
        <p:nvSpPr>
          <p:cNvPr id="10" name="Shape 8"/>
          <p:cNvSpPr/>
          <p:nvPr/>
        </p:nvSpPr>
        <p:spPr>
          <a:xfrm>
            <a:off x="8061960" y="1645920"/>
            <a:ext cx="3505200" cy="3931920"/>
          </a:xfrm>
          <a:prstGeom prst="roundRect">
            <a:avLst>
              <a:gd name="adj" fmla="val 2348"/>
            </a:avLst>
          </a:prstGeom>
          <a:solidFill>
            <a:srgbClr val="1D1F2B"/>
          </a:solidFill>
          <a:ln w="12700">
            <a:solidFill>
              <a:srgbClr val="1D1F2B"/>
            </a:solidFill>
            <a:prstDash val="solid"/>
          </a:ln>
        </p:spPr>
      </p:sp>
      <p:sp>
        <p:nvSpPr>
          <p:cNvPr id="11" name="Text 9"/>
          <p:cNvSpPr/>
          <p:nvPr/>
        </p:nvSpPr>
        <p:spPr>
          <a:xfrm>
            <a:off x="8263128" y="1773936"/>
            <a:ext cx="3102864" cy="384048"/>
          </a:xfrm>
          <a:prstGeom prst="rect">
            <a:avLst/>
          </a:prstGeom>
          <a:noFill/>
          <a:ln/>
        </p:spPr>
        <p:txBody>
          <a:bodyPr wrap="square" lIns="0" tIns="0" rIns="0" bIns="0" rtlCol="0" anchor="t"/>
          <a:lstStyle/>
          <a:p>
            <a:pPr indent="0" marL="0">
              <a:buNone/>
            </a:pPr>
            <a:r>
              <a:rPr lang="en-US" sz="1400" b="1" spc="100" kern="0" dirty="0">
                <a:solidFill>
                  <a:srgbClr val="FF4757"/>
                </a:solidFill>
                <a:latin typeface="Palatino Linotype" pitchFamily="34" charset="0"/>
                <a:ea typeface="Palatino Linotype" pitchFamily="34" charset="-122"/>
                <a:cs typeface="Palatino Linotype" pitchFamily="34" charset="-120"/>
              </a:rPr>
              <a:t>LE SYSTÈME</a:t>
            </a:r>
            <a:endParaRPr lang="en-US" sz="1400" dirty="0"/>
          </a:p>
        </p:txBody>
      </p:sp>
      <p:sp>
        <p:nvSpPr>
          <p:cNvPr id="12" name="Text 10"/>
          <p:cNvSpPr/>
          <p:nvPr/>
        </p:nvSpPr>
        <p:spPr>
          <a:xfrm>
            <a:off x="8263128" y="2157984"/>
            <a:ext cx="3102864" cy="32918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facile à parcourir : invitations, formulaires de consentement et applications, rédigés pour leurs destinataires et testés avec eux</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résumé du rapport international HLS19, 2021.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MARKETING SOCIAL</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message pour le kit du tiroir</a:t>
            </a:r>
            <a:endParaRPr lang="en-US" sz="3000" dirty="0"/>
          </a:p>
        </p:txBody>
      </p:sp>
      <p:sp>
        <p:nvSpPr>
          <p:cNvPr id="4" name="Text 2"/>
          <p:cNvSpPr/>
          <p:nvPr/>
        </p:nvSpPr>
        <p:spPr>
          <a:xfrm>
            <a:off x="594360" y="150876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Les concepts du marketing, intégrés à d’autres approches, pour influencer des comportements bénéfiques aux individus et aux communautés.</a:t>
            </a:r>
            <a:endParaRPr lang="en-US" sz="1800" dirty="0"/>
          </a:p>
        </p:txBody>
      </p:sp>
      <p:sp>
        <p:nvSpPr>
          <p:cNvPr id="5" name="Shape 3"/>
          <p:cNvSpPr/>
          <p:nvPr/>
        </p:nvSpPr>
        <p:spPr>
          <a:xfrm>
            <a:off x="594360" y="2423160"/>
            <a:ext cx="2571750" cy="1965960"/>
          </a:xfrm>
          <a:prstGeom prst="roundRect">
            <a:avLst>
              <a:gd name="adj" fmla="val 4186"/>
            </a:avLst>
          </a:prstGeom>
          <a:solidFill>
            <a:srgbClr val="ECEAE4"/>
          </a:solidFill>
          <a:ln w="12700">
            <a:solidFill>
              <a:srgbClr val="ECEAE4"/>
            </a:solidFill>
            <a:prstDash val="solid"/>
          </a:ln>
        </p:spPr>
      </p:sp>
      <p:sp>
        <p:nvSpPr>
          <p:cNvPr id="6" name="Text 4"/>
          <p:cNvSpPr/>
          <p:nvPr/>
        </p:nvSpPr>
        <p:spPr>
          <a:xfrm>
            <a:off x="795528" y="2551176"/>
            <a:ext cx="216941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LE PRODUIT</a:t>
            </a:r>
            <a:endParaRPr lang="en-US" sz="1300" dirty="0"/>
          </a:p>
        </p:txBody>
      </p:sp>
      <p:sp>
        <p:nvSpPr>
          <p:cNvPr id="7" name="Text 5"/>
          <p:cNvSpPr/>
          <p:nvPr/>
        </p:nvSpPr>
        <p:spPr>
          <a:xfrm>
            <a:off x="795528" y="2935224"/>
            <a:ext cx="2169414" cy="1325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comportement précis : « remplacez une boisson sucrée par jour par de l’eau »</a:t>
            </a:r>
            <a:endParaRPr lang="en-US" sz="1600" dirty="0"/>
          </a:p>
        </p:txBody>
      </p:sp>
      <p:sp>
        <p:nvSpPr>
          <p:cNvPr id="8" name="Shape 6"/>
          <p:cNvSpPr/>
          <p:nvPr/>
        </p:nvSpPr>
        <p:spPr>
          <a:xfrm>
            <a:off x="3394710" y="2423160"/>
            <a:ext cx="2571750" cy="1965960"/>
          </a:xfrm>
          <a:prstGeom prst="roundRect">
            <a:avLst>
              <a:gd name="adj" fmla="val 4186"/>
            </a:avLst>
          </a:prstGeom>
          <a:solidFill>
            <a:srgbClr val="ECEAE4"/>
          </a:solidFill>
          <a:ln w="12700">
            <a:solidFill>
              <a:srgbClr val="ECEAE4"/>
            </a:solidFill>
            <a:prstDash val="solid"/>
          </a:ln>
        </p:spPr>
      </p:sp>
      <p:sp>
        <p:nvSpPr>
          <p:cNvPr id="9" name="Text 7"/>
          <p:cNvSpPr/>
          <p:nvPr/>
        </p:nvSpPr>
        <p:spPr>
          <a:xfrm>
            <a:off x="3595878" y="2551176"/>
            <a:ext cx="2169414" cy="384048"/>
          </a:xfrm>
          <a:prstGeom prst="rect">
            <a:avLst/>
          </a:prstGeom>
          <a:noFill/>
          <a:ln/>
        </p:spPr>
        <p:txBody>
          <a:bodyPr wrap="square" lIns="0" tIns="0" rIns="0" bIns="0" rtlCol="0" anchor="t"/>
          <a:lstStyle/>
          <a:p>
            <a:pPr indent="0" marL="0">
              <a:buNone/>
            </a:pPr>
            <a:r>
              <a:rPr lang="en-US" sz="1300" b="1" spc="100" kern="0" dirty="0">
                <a:solidFill>
                  <a:srgbClr val="9C4A0A"/>
                </a:solidFill>
                <a:latin typeface="Palatino Linotype" pitchFamily="34" charset="0"/>
                <a:ea typeface="Palatino Linotype" pitchFamily="34" charset="-122"/>
                <a:cs typeface="Palatino Linotype" pitchFamily="34" charset="-120"/>
              </a:rPr>
              <a:t>LE PRIX</a:t>
            </a:r>
            <a:endParaRPr lang="en-US" sz="1300" dirty="0"/>
          </a:p>
        </p:txBody>
      </p:sp>
      <p:sp>
        <p:nvSpPr>
          <p:cNvPr id="10" name="Text 8"/>
          <p:cNvSpPr/>
          <p:nvPr/>
        </p:nvSpPr>
        <p:spPr>
          <a:xfrm>
            <a:off x="3595878" y="2935224"/>
            <a:ext cx="2169414" cy="1325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argent, temps, effort, plaisir perdu, gêne</a:t>
            </a:r>
            <a:endParaRPr lang="en-US" sz="1600" dirty="0"/>
          </a:p>
        </p:txBody>
      </p:sp>
      <p:sp>
        <p:nvSpPr>
          <p:cNvPr id="11" name="Shape 9"/>
          <p:cNvSpPr/>
          <p:nvPr/>
        </p:nvSpPr>
        <p:spPr>
          <a:xfrm>
            <a:off x="6195060" y="2423160"/>
            <a:ext cx="2571750" cy="1965960"/>
          </a:xfrm>
          <a:prstGeom prst="roundRect">
            <a:avLst>
              <a:gd name="adj" fmla="val 4186"/>
            </a:avLst>
          </a:prstGeom>
          <a:solidFill>
            <a:srgbClr val="ECEAE4"/>
          </a:solidFill>
          <a:ln w="12700">
            <a:solidFill>
              <a:srgbClr val="ECEAE4"/>
            </a:solidFill>
            <a:prstDash val="solid"/>
          </a:ln>
        </p:spPr>
      </p:sp>
      <p:sp>
        <p:nvSpPr>
          <p:cNvPr id="12" name="Text 10"/>
          <p:cNvSpPr/>
          <p:nvPr/>
        </p:nvSpPr>
        <p:spPr>
          <a:xfrm>
            <a:off x="6396228" y="2551176"/>
            <a:ext cx="216941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LA PLACE</a:t>
            </a:r>
            <a:endParaRPr lang="en-US" sz="1300" dirty="0"/>
          </a:p>
        </p:txBody>
      </p:sp>
      <p:sp>
        <p:nvSpPr>
          <p:cNvPr id="13" name="Text 11"/>
          <p:cNvSpPr/>
          <p:nvPr/>
        </p:nvSpPr>
        <p:spPr>
          <a:xfrm>
            <a:off x="6396228" y="2935224"/>
            <a:ext cx="2169414" cy="1325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où et quand : un kit envoyé à domicile supprime le déplacement au cabinet</a:t>
            </a:r>
            <a:endParaRPr lang="en-US" sz="1600" dirty="0"/>
          </a:p>
        </p:txBody>
      </p:sp>
      <p:sp>
        <p:nvSpPr>
          <p:cNvPr id="14" name="Shape 12"/>
          <p:cNvSpPr/>
          <p:nvPr/>
        </p:nvSpPr>
        <p:spPr>
          <a:xfrm>
            <a:off x="8995410" y="2423160"/>
            <a:ext cx="2571750" cy="1965960"/>
          </a:xfrm>
          <a:prstGeom prst="roundRect">
            <a:avLst>
              <a:gd name="adj" fmla="val 4186"/>
            </a:avLst>
          </a:prstGeom>
          <a:solidFill>
            <a:srgbClr val="ECEAE4"/>
          </a:solidFill>
          <a:ln w="12700">
            <a:solidFill>
              <a:srgbClr val="ECEAE4"/>
            </a:solidFill>
            <a:prstDash val="solid"/>
          </a:ln>
        </p:spPr>
      </p:sp>
      <p:sp>
        <p:nvSpPr>
          <p:cNvPr id="15" name="Text 13"/>
          <p:cNvSpPr/>
          <p:nvPr/>
        </p:nvSpPr>
        <p:spPr>
          <a:xfrm>
            <a:off x="9196578" y="2551176"/>
            <a:ext cx="2169414" cy="384048"/>
          </a:xfrm>
          <a:prstGeom prst="rect">
            <a:avLst/>
          </a:prstGeom>
          <a:noFill/>
          <a:ln/>
        </p:spPr>
        <p:txBody>
          <a:bodyPr wrap="square" lIns="0" tIns="0" rIns="0" bIns="0" rtlCol="0" anchor="t"/>
          <a:lstStyle/>
          <a:p>
            <a:pPr indent="0" marL="0">
              <a:buNone/>
            </a:pPr>
            <a:r>
              <a:rPr lang="en-US" sz="1300" b="1" spc="100" kern="0" dirty="0">
                <a:solidFill>
                  <a:srgbClr val="4A2D8C"/>
                </a:solidFill>
                <a:latin typeface="Palatino Linotype" pitchFamily="34" charset="0"/>
                <a:ea typeface="Palatino Linotype" pitchFamily="34" charset="-122"/>
                <a:cs typeface="Palatino Linotype" pitchFamily="34" charset="-120"/>
              </a:rPr>
              <a:t>LA PROMOTION</a:t>
            </a:r>
            <a:endParaRPr lang="en-US" sz="1300" dirty="0"/>
          </a:p>
        </p:txBody>
      </p:sp>
      <p:sp>
        <p:nvSpPr>
          <p:cNvPr id="16" name="Text 14"/>
          <p:cNvSpPr/>
          <p:nvPr/>
        </p:nvSpPr>
        <p:spPr>
          <a:xfrm>
            <a:off x="9196578" y="2935224"/>
            <a:ext cx="2169414" cy="1325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message et le canal, pour un public précis</a:t>
            </a:r>
            <a:endParaRPr lang="en-US" sz="1600" dirty="0"/>
          </a:p>
        </p:txBody>
      </p:sp>
      <p:sp>
        <p:nvSpPr>
          <p:cNvPr id="17" name="Shape 15"/>
          <p:cNvSpPr/>
          <p:nvPr/>
        </p:nvSpPr>
        <p:spPr>
          <a:xfrm>
            <a:off x="594360" y="4617720"/>
            <a:ext cx="10972800" cy="960120"/>
          </a:xfrm>
          <a:prstGeom prst="roundRect">
            <a:avLst>
              <a:gd name="adj" fmla="val 8571"/>
            </a:avLst>
          </a:prstGeom>
          <a:solidFill>
            <a:srgbClr val="11121A"/>
          </a:solidFill>
          <a:ln w="12700">
            <a:solidFill>
              <a:srgbClr val="11121A"/>
            </a:solidFill>
            <a:prstDash val="solid"/>
          </a:ln>
        </p:spPr>
      </p:sp>
      <p:sp>
        <p:nvSpPr>
          <p:cNvPr id="18" name="Text 16"/>
          <p:cNvSpPr/>
          <p:nvPr/>
        </p:nvSpPr>
        <p:spPr>
          <a:xfrm>
            <a:off x="868680" y="4617720"/>
            <a:ext cx="10424160" cy="96012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Pas une campagne d’affiches : un processus, de la recherche sur le public au test du message.</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glossaire de la promotion de la santé, 2021.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 DONNÉES POUR L’ATELIER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Quatre thèmes, des données vérifiées</a:t>
            </a:r>
            <a:endParaRPr lang="en-US" sz="3200" dirty="0"/>
          </a:p>
        </p:txBody>
      </p:sp>
      <p:sp>
        <p:nvSpPr>
          <p:cNvPr id="4" name="Shape 2"/>
          <p:cNvSpPr/>
          <p:nvPr/>
        </p:nvSpPr>
        <p:spPr>
          <a:xfrm>
            <a:off x="594360" y="1600200"/>
            <a:ext cx="5372100" cy="2011680"/>
          </a:xfrm>
          <a:prstGeom prst="roundRect">
            <a:avLst>
              <a:gd name="adj" fmla="val 4091"/>
            </a:avLst>
          </a:prstGeom>
          <a:solidFill>
            <a:srgbClr val="1D1F2B"/>
          </a:solidFill>
          <a:ln w="12700">
            <a:solidFill>
              <a:srgbClr val="1D1F2B"/>
            </a:solidFill>
            <a:prstDash val="solid"/>
          </a:ln>
        </p:spPr>
      </p:sp>
      <p:sp>
        <p:nvSpPr>
          <p:cNvPr id="5" name="Text 3"/>
          <p:cNvSpPr/>
          <p:nvPr/>
        </p:nvSpPr>
        <p:spPr>
          <a:xfrm>
            <a:off x="795528" y="1728216"/>
            <a:ext cx="4969764" cy="384048"/>
          </a:xfrm>
          <a:prstGeom prst="rect">
            <a:avLst/>
          </a:prstGeom>
          <a:noFill/>
          <a:ln/>
        </p:spPr>
        <p:txBody>
          <a:bodyPr wrap="square" lIns="0" tIns="0" rIns="0" bIns="0" rtlCol="0" anchor="t"/>
          <a:lstStyle/>
          <a:p>
            <a:pPr indent="0" marL="0">
              <a:buNone/>
            </a:pPr>
            <a:r>
              <a:rPr lang="en-US" sz="1300" b="1" spc="100" kern="0" dirty="0">
                <a:solidFill>
                  <a:srgbClr val="FF4757"/>
                </a:solidFill>
                <a:latin typeface="Palatino Linotype" pitchFamily="34" charset="0"/>
                <a:ea typeface="Palatino Linotype" pitchFamily="34" charset="-122"/>
                <a:cs typeface="Palatino Linotype" pitchFamily="34" charset="-120"/>
              </a:rPr>
              <a:t>LA VACCINATION CONTRE LE VPH</a:t>
            </a:r>
            <a:endParaRPr lang="en-US" sz="1300" dirty="0"/>
          </a:p>
        </p:txBody>
      </p:sp>
      <p:sp>
        <p:nvSpPr>
          <p:cNvPr id="6" name="Text 4"/>
          <p:cNvSpPr/>
          <p:nvPr/>
        </p:nvSpPr>
        <p:spPr>
          <a:xfrm>
            <a:off x="795528" y="2112264"/>
            <a:ext cx="4969764"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Parmi les interventions les plus coût-efficaces (OMS) : les filles de 9–14 ans, une ou deux doses.</a:t>
            </a:r>
            <a:endParaRPr lang="en-US" sz="1700" dirty="0"/>
          </a:p>
        </p:txBody>
      </p:sp>
      <p:sp>
        <p:nvSpPr>
          <p:cNvPr id="7" name="Shape 5"/>
          <p:cNvSpPr/>
          <p:nvPr/>
        </p:nvSpPr>
        <p:spPr>
          <a:xfrm>
            <a:off x="6195060" y="1600200"/>
            <a:ext cx="5372100" cy="2011680"/>
          </a:xfrm>
          <a:prstGeom prst="roundRect">
            <a:avLst>
              <a:gd name="adj" fmla="val 4091"/>
            </a:avLst>
          </a:prstGeom>
          <a:solidFill>
            <a:srgbClr val="1D1F2B"/>
          </a:solidFill>
          <a:ln w="12700">
            <a:solidFill>
              <a:srgbClr val="1D1F2B"/>
            </a:solidFill>
            <a:prstDash val="solid"/>
          </a:ln>
        </p:spPr>
      </p:sp>
      <p:sp>
        <p:nvSpPr>
          <p:cNvPr id="8" name="Text 6"/>
          <p:cNvSpPr/>
          <p:nvPr/>
        </p:nvSpPr>
        <p:spPr>
          <a:xfrm>
            <a:off x="6396228" y="1728216"/>
            <a:ext cx="49697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LE SEVRAGE TABAGIQUE</a:t>
            </a:r>
            <a:endParaRPr lang="en-US" sz="1300" dirty="0"/>
          </a:p>
        </p:txBody>
      </p:sp>
      <p:sp>
        <p:nvSpPr>
          <p:cNvPr id="9" name="Text 7"/>
          <p:cNvSpPr/>
          <p:nvPr/>
        </p:nvSpPr>
        <p:spPr>
          <a:xfrm>
            <a:off x="6396228" y="2112264"/>
            <a:ext cx="4969764"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Tabagisme quotidien des hommes, en 2019 : 30,8 % en Roumanie, 23,6 % dans l’Union européenne.</a:t>
            </a:r>
            <a:endParaRPr lang="en-US" sz="1700" dirty="0"/>
          </a:p>
        </p:txBody>
      </p:sp>
      <p:sp>
        <p:nvSpPr>
          <p:cNvPr id="10" name="Shape 8"/>
          <p:cNvSpPr/>
          <p:nvPr/>
        </p:nvSpPr>
        <p:spPr>
          <a:xfrm>
            <a:off x="594360" y="3840480"/>
            <a:ext cx="5372100" cy="2011680"/>
          </a:xfrm>
          <a:prstGeom prst="roundRect">
            <a:avLst>
              <a:gd name="adj" fmla="val 4091"/>
            </a:avLst>
          </a:prstGeom>
          <a:solidFill>
            <a:srgbClr val="1D1F2B"/>
          </a:solidFill>
          <a:ln w="12700">
            <a:solidFill>
              <a:srgbClr val="1D1F2B"/>
            </a:solidFill>
            <a:prstDash val="solid"/>
          </a:ln>
        </p:spPr>
      </p:sp>
      <p:sp>
        <p:nvSpPr>
          <p:cNvPr id="11" name="Text 9"/>
          <p:cNvSpPr/>
          <p:nvPr/>
        </p:nvSpPr>
        <p:spPr>
          <a:xfrm>
            <a:off x="795528" y="3968496"/>
            <a:ext cx="49697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LE DÉPISTAGE COLORECTAL</a:t>
            </a:r>
            <a:endParaRPr lang="en-US" sz="1300" dirty="0"/>
          </a:p>
        </p:txBody>
      </p:sp>
      <p:sp>
        <p:nvSpPr>
          <p:cNvPr id="12" name="Text 10"/>
          <p:cNvSpPr/>
          <p:nvPr/>
        </p:nvSpPr>
        <p:spPr>
          <a:xfrm>
            <a:off x="795528" y="4352544"/>
            <a:ext cx="4969764"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Après cinquante ans. Les détails : dans le cours sur le dépistage.</a:t>
            </a:r>
            <a:endParaRPr lang="en-US" sz="1700" dirty="0"/>
          </a:p>
        </p:txBody>
      </p:sp>
      <p:sp>
        <p:nvSpPr>
          <p:cNvPr id="13" name="Shape 11"/>
          <p:cNvSpPr/>
          <p:nvPr/>
        </p:nvSpPr>
        <p:spPr>
          <a:xfrm>
            <a:off x="6195060" y="3840480"/>
            <a:ext cx="5372100" cy="2011680"/>
          </a:xfrm>
          <a:prstGeom prst="roundRect">
            <a:avLst>
              <a:gd name="adj" fmla="val 4091"/>
            </a:avLst>
          </a:prstGeom>
          <a:solidFill>
            <a:srgbClr val="1D1F2B"/>
          </a:solidFill>
          <a:ln w="12700">
            <a:solidFill>
              <a:srgbClr val="1D1F2B"/>
            </a:solidFill>
            <a:prstDash val="solid"/>
          </a:ln>
        </p:spPr>
      </p:sp>
      <p:sp>
        <p:nvSpPr>
          <p:cNvPr id="14" name="Text 12"/>
          <p:cNvSpPr/>
          <p:nvPr/>
        </p:nvSpPr>
        <p:spPr>
          <a:xfrm>
            <a:off x="6396228" y="3968496"/>
            <a:ext cx="4969764" cy="384048"/>
          </a:xfrm>
          <a:prstGeom prst="rect">
            <a:avLst/>
          </a:prstGeom>
          <a:noFill/>
          <a:ln/>
        </p:spPr>
        <p:txBody>
          <a:bodyPr wrap="square" lIns="0" tIns="0" rIns="0" bIns="0" rtlCol="0" anchor="t"/>
          <a:lstStyle/>
          <a:p>
            <a:pPr indent="0" marL="0">
              <a:buNone/>
            </a:pPr>
            <a:r>
              <a:rPr lang="en-US" sz="1300" b="1" spc="100" kern="0" dirty="0">
                <a:solidFill>
                  <a:srgbClr val="9B7EF7"/>
                </a:solidFill>
                <a:latin typeface="Palatino Linotype" pitchFamily="34" charset="0"/>
                <a:ea typeface="Palatino Linotype" pitchFamily="34" charset="-122"/>
                <a:cs typeface="Palatino Linotype" pitchFamily="34" charset="-120"/>
              </a:rPr>
              <a:t>LA RÉDUCTION DU SEL</a:t>
            </a:r>
            <a:endParaRPr lang="en-US" sz="1300" dirty="0"/>
          </a:p>
        </p:txBody>
      </p:sp>
      <p:sp>
        <p:nvSpPr>
          <p:cNvPr id="15" name="Text 13"/>
          <p:cNvSpPr/>
          <p:nvPr/>
        </p:nvSpPr>
        <p:spPr>
          <a:xfrm>
            <a:off x="6396228" y="4352544"/>
            <a:ext cx="4969764" cy="13716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Recommandées par l’OMS : la reformulation des aliments, l’étiquetage sur la face avant.</a:t>
            </a:r>
            <a:endParaRPr lang="en-US" sz="17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 Tackling NCDs » ; Eurostat, enquête européenne par interview sur la santé (EHIS), 2019.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ÉQUIPES · 25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ATELIER</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Concevez le message</a:t>
            </a:r>
            <a:endParaRPr lang="en-US" sz="3400" dirty="0"/>
          </a:p>
        </p:txBody>
      </p:sp>
      <p:sp>
        <p:nvSpPr>
          <p:cNvPr id="6" name="Shape 4"/>
          <p:cNvSpPr/>
          <p:nvPr/>
        </p:nvSpPr>
        <p:spPr>
          <a:xfrm>
            <a:off x="594360" y="1691640"/>
            <a:ext cx="10972800" cy="713232"/>
          </a:xfrm>
          <a:prstGeom prst="roundRect">
            <a:avLst>
              <a:gd name="adj" fmla="val 11538"/>
            </a:avLst>
          </a:prstGeom>
          <a:solidFill>
            <a:srgbClr val="1D1F2B"/>
          </a:solidFill>
          <a:ln w="12700">
            <a:solidFill>
              <a:srgbClr val="1D1F2B"/>
            </a:solidFill>
            <a:prstDash val="solid"/>
          </a:ln>
        </p:spPr>
      </p:sp>
      <p:sp>
        <p:nvSpPr>
          <p:cNvPr id="7" name="Shape 5"/>
          <p:cNvSpPr/>
          <p:nvPr/>
        </p:nvSpPr>
        <p:spPr>
          <a:xfrm>
            <a:off x="868680" y="1837944"/>
            <a:ext cx="420624" cy="420624"/>
          </a:xfrm>
          <a:prstGeom prst="ellipse">
            <a:avLst/>
          </a:prstGeom>
          <a:solidFill>
            <a:srgbClr val="27D3BE"/>
          </a:solidFill>
          <a:ln/>
        </p:spPr>
      </p:sp>
      <p:sp>
        <p:nvSpPr>
          <p:cNvPr id="8" name="Text 6"/>
          <p:cNvSpPr/>
          <p:nvPr/>
        </p:nvSpPr>
        <p:spPr>
          <a:xfrm>
            <a:off x="868680" y="183794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91640"/>
            <a:ext cx="9829800" cy="71323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Le diagnostic COM-B, en une phrase : « l’obstacle principal est … parce que … ».</a:t>
            </a:r>
            <a:endParaRPr lang="en-US" sz="1750" dirty="0"/>
          </a:p>
        </p:txBody>
      </p:sp>
      <p:sp>
        <p:nvSpPr>
          <p:cNvPr id="10" name="Shape 8"/>
          <p:cNvSpPr/>
          <p:nvPr/>
        </p:nvSpPr>
        <p:spPr>
          <a:xfrm>
            <a:off x="594360" y="2496312"/>
            <a:ext cx="10972800" cy="713232"/>
          </a:xfrm>
          <a:prstGeom prst="roundRect">
            <a:avLst>
              <a:gd name="adj" fmla="val 11538"/>
            </a:avLst>
          </a:prstGeom>
          <a:solidFill>
            <a:srgbClr val="1D1F2B"/>
          </a:solidFill>
          <a:ln w="12700">
            <a:solidFill>
              <a:srgbClr val="1D1F2B"/>
            </a:solidFill>
            <a:prstDash val="solid"/>
          </a:ln>
        </p:spPr>
      </p:sp>
      <p:sp>
        <p:nvSpPr>
          <p:cNvPr id="11" name="Shape 9"/>
          <p:cNvSpPr/>
          <p:nvPr/>
        </p:nvSpPr>
        <p:spPr>
          <a:xfrm>
            <a:off x="868680" y="2642616"/>
            <a:ext cx="420624" cy="420624"/>
          </a:xfrm>
          <a:prstGeom prst="ellipse">
            <a:avLst/>
          </a:prstGeom>
          <a:solidFill>
            <a:srgbClr val="27D3BE"/>
          </a:solidFill>
          <a:ln/>
        </p:spPr>
      </p:sp>
      <p:sp>
        <p:nvSpPr>
          <p:cNvPr id="12" name="Text 10"/>
          <p:cNvSpPr/>
          <p:nvPr/>
        </p:nvSpPr>
        <p:spPr>
          <a:xfrm>
            <a:off x="868680" y="2642616"/>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496312"/>
            <a:ext cx="9829800" cy="71323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Un public cible précis : l’âge, le milieu, les canaux ; pas « la population générale ».</a:t>
            </a:r>
            <a:endParaRPr lang="en-US" sz="1750" dirty="0"/>
          </a:p>
        </p:txBody>
      </p:sp>
      <p:sp>
        <p:nvSpPr>
          <p:cNvPr id="14" name="Shape 12"/>
          <p:cNvSpPr/>
          <p:nvPr/>
        </p:nvSpPr>
        <p:spPr>
          <a:xfrm>
            <a:off x="594360" y="3300984"/>
            <a:ext cx="10972800" cy="713232"/>
          </a:xfrm>
          <a:prstGeom prst="roundRect">
            <a:avLst>
              <a:gd name="adj" fmla="val 11538"/>
            </a:avLst>
          </a:prstGeom>
          <a:solidFill>
            <a:srgbClr val="1D1F2B"/>
          </a:solidFill>
          <a:ln w="12700">
            <a:solidFill>
              <a:srgbClr val="1D1F2B"/>
            </a:solidFill>
            <a:prstDash val="solid"/>
          </a:ln>
        </p:spPr>
      </p:sp>
      <p:sp>
        <p:nvSpPr>
          <p:cNvPr id="15" name="Shape 13"/>
          <p:cNvSpPr/>
          <p:nvPr/>
        </p:nvSpPr>
        <p:spPr>
          <a:xfrm>
            <a:off x="868680" y="3447288"/>
            <a:ext cx="420624" cy="420624"/>
          </a:xfrm>
          <a:prstGeom prst="ellipse">
            <a:avLst/>
          </a:prstGeom>
          <a:solidFill>
            <a:srgbClr val="27D3BE"/>
          </a:solidFill>
          <a:ln/>
        </p:spPr>
      </p:sp>
      <p:sp>
        <p:nvSpPr>
          <p:cNvPr id="16" name="Text 14"/>
          <p:cNvSpPr/>
          <p:nvPr/>
        </p:nvSpPr>
        <p:spPr>
          <a:xfrm>
            <a:off x="868680" y="344728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300984"/>
            <a:ext cx="9829800" cy="71323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Le message : une cible claire, quinze mots au maximum, un appel à l’action.</a:t>
            </a:r>
            <a:endParaRPr lang="en-US" sz="1750" dirty="0"/>
          </a:p>
        </p:txBody>
      </p:sp>
      <p:sp>
        <p:nvSpPr>
          <p:cNvPr id="18" name="Shape 16"/>
          <p:cNvSpPr/>
          <p:nvPr/>
        </p:nvSpPr>
        <p:spPr>
          <a:xfrm>
            <a:off x="594360" y="4105656"/>
            <a:ext cx="10972800" cy="713232"/>
          </a:xfrm>
          <a:prstGeom prst="roundRect">
            <a:avLst>
              <a:gd name="adj" fmla="val 11538"/>
            </a:avLst>
          </a:prstGeom>
          <a:solidFill>
            <a:srgbClr val="1D1F2B"/>
          </a:solidFill>
          <a:ln w="12700">
            <a:solidFill>
              <a:srgbClr val="1D1F2B"/>
            </a:solidFill>
            <a:prstDash val="solid"/>
          </a:ln>
        </p:spPr>
      </p:sp>
      <p:sp>
        <p:nvSpPr>
          <p:cNvPr id="19" name="Shape 17"/>
          <p:cNvSpPr/>
          <p:nvPr/>
        </p:nvSpPr>
        <p:spPr>
          <a:xfrm>
            <a:off x="868680" y="4251960"/>
            <a:ext cx="420624" cy="420624"/>
          </a:xfrm>
          <a:prstGeom prst="ellipse">
            <a:avLst/>
          </a:prstGeom>
          <a:solidFill>
            <a:srgbClr val="27D3BE"/>
          </a:solidFill>
          <a:ln/>
        </p:spPr>
      </p:sp>
      <p:sp>
        <p:nvSpPr>
          <p:cNvPr id="20" name="Text 18"/>
          <p:cNvSpPr/>
          <p:nvPr/>
        </p:nvSpPr>
        <p:spPr>
          <a:xfrm>
            <a:off x="868680" y="425196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105656"/>
            <a:ext cx="9829800" cy="713232"/>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Une minute de présentation par équipe.</a:t>
            </a:r>
            <a:endParaRPr lang="en-US" sz="1750" dirty="0"/>
          </a:p>
        </p:txBody>
      </p:sp>
      <p:sp>
        <p:nvSpPr>
          <p:cNvPr id="22" name="Shape 20"/>
          <p:cNvSpPr/>
          <p:nvPr/>
        </p:nvSpPr>
        <p:spPr>
          <a:xfrm>
            <a:off x="594360" y="4983480"/>
            <a:ext cx="10972800" cy="914400"/>
          </a:xfrm>
          <a:prstGeom prst="roundRect">
            <a:avLst>
              <a:gd name="adj" fmla="val 9000"/>
            </a:avLst>
          </a:prstGeom>
          <a:solidFill>
            <a:srgbClr val="272A38"/>
          </a:solidFill>
          <a:ln w="12700">
            <a:solidFill>
              <a:srgbClr val="272A38"/>
            </a:solidFill>
            <a:prstDash val="solid"/>
          </a:ln>
        </p:spPr>
      </p:sp>
      <p:sp>
        <p:nvSpPr>
          <p:cNvPr id="23" name="Text 21"/>
          <p:cNvSpPr/>
          <p:nvPr/>
        </p:nvSpPr>
        <p:spPr>
          <a:xfrm>
            <a:off x="868680" y="4983480"/>
            <a:ext cx="10424160" cy="914400"/>
          </a:xfrm>
          <a:prstGeom prst="rect">
            <a:avLst/>
          </a:prstGeom>
          <a:noFill/>
          <a:ln/>
        </p:spPr>
        <p:txBody>
          <a:bodyPr wrap="square" lIns="0" tIns="0" rIns="0" bIns="0" rtlCol="0" anchor="ctr"/>
          <a:lstStyle/>
          <a:p>
            <a:pPr indent="0" marL="0">
              <a:buNone/>
            </a:pPr>
            <a:r>
              <a:rPr lang="en-US" sz="1600" dirty="0">
                <a:solidFill>
                  <a:srgbClr val="27D3BE"/>
                </a:solidFill>
                <a:latin typeface="Palatino Linotype" pitchFamily="34" charset="0"/>
                <a:ea typeface="Palatino Linotype" pitchFamily="34" charset="-122"/>
                <a:cs typeface="Palatino Linotype" pitchFamily="34" charset="-120"/>
              </a:rPr>
              <a:t>Les critères : comportement précis et réalisable · le message correspond à l’obstacle · public et canal adaptés · le message touche une émotion.</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ATELIER · LE VOTE DE LA SALLE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Quel message vous convainc ?</a:t>
            </a:r>
            <a:endParaRPr lang="en-US" sz="3400" dirty="0"/>
          </a:p>
        </p:txBody>
      </p:sp>
      <p:sp>
        <p:nvSpPr>
          <p:cNvPr id="6" name="Shape 4"/>
          <p:cNvSpPr/>
          <p:nvPr/>
        </p:nvSpPr>
        <p:spPr>
          <a:xfrm>
            <a:off x="594360" y="1828800"/>
            <a:ext cx="10972800" cy="1463040"/>
          </a:xfrm>
          <a:prstGeom prst="roundRect">
            <a:avLst>
              <a:gd name="adj" fmla="val 5625"/>
            </a:avLst>
          </a:prstGeom>
          <a:solidFill>
            <a:srgbClr val="1D1F2B"/>
          </a:solidFill>
          <a:ln w="12700">
            <a:solidFill>
              <a:srgbClr val="1D1F2B"/>
            </a:solidFill>
            <a:prstDash val="solid"/>
          </a:ln>
        </p:spPr>
      </p:sp>
      <p:sp>
        <p:nvSpPr>
          <p:cNvPr id="7" name="Text 5"/>
          <p:cNvSpPr/>
          <p:nvPr/>
        </p:nvSpPr>
        <p:spPr>
          <a:xfrm>
            <a:off x="914400" y="1828800"/>
            <a:ext cx="10332720" cy="1463040"/>
          </a:xfrm>
          <a:prstGeom prst="rect">
            <a:avLst/>
          </a:prstGeom>
          <a:noFill/>
          <a:ln/>
        </p:spPr>
        <p:txBody>
          <a:bodyPr wrap="square" lIns="0" tIns="0" rIns="0" bIns="0" rtlCol="0" anchor="ctr"/>
          <a:lstStyle/>
          <a:p>
            <a:pPr indent="0" marL="0">
              <a:buNone/>
            </a:pPr>
            <a:r>
              <a:rPr lang="en-US" sz="2700" dirty="0">
                <a:solidFill>
                  <a:srgbClr val="FFFFFF"/>
                </a:solidFill>
                <a:latin typeface="Palatino Linotype" pitchFamily="34" charset="0"/>
                <a:ea typeface="Palatino Linotype" pitchFamily="34" charset="-122"/>
                <a:cs typeface="Palatino Linotype" pitchFamily="34" charset="-120"/>
              </a:rPr>
              <a:t>Votez pour le message le plus convaincant parmi ceux présentés.</a:t>
            </a:r>
            <a:endParaRPr lang="en-US" sz="2700" dirty="0"/>
          </a:p>
        </p:txBody>
      </p:sp>
      <p:sp>
        <p:nvSpPr>
          <p:cNvPr id="8" name="Text 6"/>
          <p:cNvSpPr/>
          <p:nvPr/>
        </p:nvSpPr>
        <p:spPr>
          <a:xfrm>
            <a:off x="594360" y="352044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
        <p:nvSpPr>
          <p:cNvPr id="9" name="Text 7"/>
          <p:cNvSpPr/>
          <p:nvPr/>
        </p:nvSpPr>
        <p:spPr>
          <a:xfrm>
            <a:off x="594360" y="4343400"/>
            <a:ext cx="10972800" cy="128016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Qu’est-ce qui a rendu le message gagnant plus efficace que les autres ? En règle générale, les plus faibles sont les plus généraux : sans public précis, sans canal, sans diagnostic.</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SANTÉ MENTALE DE LA POPULATION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 Ça ne sert plus à rien »</a:t>
            </a:r>
            <a:endParaRPr lang="en-US" sz="3400" dirty="0"/>
          </a:p>
        </p:txBody>
      </p:sp>
      <p:sp>
        <p:nvSpPr>
          <p:cNvPr id="4" name="Text 2"/>
          <p:cNvSpPr/>
          <p:nvPr/>
        </p:nvSpPr>
        <p:spPr>
          <a:xfrm>
            <a:off x="594360" y="1508760"/>
            <a:ext cx="10972800" cy="457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M. Vasile dort mal et a maigri.</a:t>
            </a:r>
            <a:endParaRPr lang="en-US" sz="1900" dirty="0"/>
          </a:p>
        </p:txBody>
      </p:sp>
      <p:sp>
        <p:nvSpPr>
          <p:cNvPr id="5" name="Shape 3"/>
          <p:cNvSpPr/>
          <p:nvPr/>
        </p:nvSpPr>
        <p:spPr>
          <a:xfrm>
            <a:off x="594360" y="2103120"/>
            <a:ext cx="10972800" cy="1371600"/>
          </a:xfrm>
          <a:prstGeom prst="roundRect">
            <a:avLst>
              <a:gd name="adj" fmla="val 6000"/>
            </a:avLst>
          </a:prstGeom>
          <a:solidFill>
            <a:srgbClr val="11121A"/>
          </a:solidFill>
          <a:ln w="12700">
            <a:solidFill>
              <a:srgbClr val="11121A"/>
            </a:solidFill>
            <a:prstDash val="solid"/>
          </a:ln>
        </p:spPr>
      </p:sp>
      <p:sp>
        <p:nvSpPr>
          <p:cNvPr id="6" name="Text 4"/>
          <p:cNvSpPr/>
          <p:nvPr/>
        </p:nvSpPr>
        <p:spPr>
          <a:xfrm>
            <a:off x="868680" y="2103120"/>
            <a:ext cx="10424160" cy="13716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état de bien-être mental qui permet aux gens de faire face au stress de la vie, de réaliser leurs capacités, de bien apprendre et de bien travailler et de contribuer à la vie de la communauté.</a:t>
            </a:r>
            <a:endParaRPr lang="en-US" sz="1800" dirty="0"/>
          </a:p>
        </p:txBody>
      </p:sp>
      <p:sp>
        <p:nvSpPr>
          <p:cNvPr id="7" name="Shape 5"/>
          <p:cNvSpPr/>
          <p:nvPr/>
        </p:nvSpPr>
        <p:spPr>
          <a:xfrm>
            <a:off x="594360" y="3703320"/>
            <a:ext cx="5372100" cy="1965960"/>
          </a:xfrm>
          <a:prstGeom prst="roundRect">
            <a:avLst>
              <a:gd name="adj" fmla="val 4186"/>
            </a:avLst>
          </a:prstGeom>
          <a:solidFill>
            <a:srgbClr val="ECEAE4"/>
          </a:solidFill>
          <a:ln w="12700">
            <a:solidFill>
              <a:srgbClr val="ECEAE4"/>
            </a:solidFill>
            <a:prstDash val="solid"/>
          </a:ln>
        </p:spPr>
      </p:sp>
      <p:sp>
        <p:nvSpPr>
          <p:cNvPr id="8" name="Text 6"/>
          <p:cNvSpPr/>
          <p:nvPr/>
        </p:nvSpPr>
        <p:spPr>
          <a:xfrm>
            <a:off x="795528" y="3831336"/>
            <a:ext cx="4969764" cy="384048"/>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LE CLINICIEN DEMANDE</a:t>
            </a:r>
            <a:endParaRPr lang="en-US" sz="1300" dirty="0"/>
          </a:p>
        </p:txBody>
      </p:sp>
      <p:sp>
        <p:nvSpPr>
          <p:cNvPr id="9" name="Text 7"/>
          <p:cNvSpPr/>
          <p:nvPr/>
        </p:nvSpPr>
        <p:spPr>
          <a:xfrm>
            <a:off x="795528" y="4215384"/>
            <a:ext cx="4969764" cy="13258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 patient a-t-il un trouble et comment le traiter ?</a:t>
            </a:r>
            <a:endParaRPr lang="en-US" sz="1900" dirty="0"/>
          </a:p>
        </p:txBody>
      </p:sp>
      <p:sp>
        <p:nvSpPr>
          <p:cNvPr id="10" name="Shape 8"/>
          <p:cNvSpPr/>
          <p:nvPr/>
        </p:nvSpPr>
        <p:spPr>
          <a:xfrm>
            <a:off x="6195060" y="3703320"/>
            <a:ext cx="5372100" cy="1965960"/>
          </a:xfrm>
          <a:prstGeom prst="roundRect">
            <a:avLst>
              <a:gd name="adj" fmla="val 4186"/>
            </a:avLst>
          </a:prstGeom>
          <a:solidFill>
            <a:srgbClr val="ECEAE4"/>
          </a:solidFill>
          <a:ln w="12700">
            <a:solidFill>
              <a:srgbClr val="ECEAE4"/>
            </a:solidFill>
            <a:prstDash val="solid"/>
          </a:ln>
        </p:spPr>
      </p:sp>
      <p:sp>
        <p:nvSpPr>
          <p:cNvPr id="11" name="Text 9"/>
          <p:cNvSpPr/>
          <p:nvPr/>
        </p:nvSpPr>
        <p:spPr>
          <a:xfrm>
            <a:off x="6396228" y="3831336"/>
            <a:ext cx="4969764" cy="384048"/>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LA SANTÉ PUBLIQUE DEMANDE</a:t>
            </a:r>
            <a:endParaRPr lang="en-US" sz="1300" dirty="0"/>
          </a:p>
        </p:txBody>
      </p:sp>
      <p:sp>
        <p:nvSpPr>
          <p:cNvPr id="12" name="Text 10"/>
          <p:cNvSpPr/>
          <p:nvPr/>
        </p:nvSpPr>
        <p:spPr>
          <a:xfrm>
            <a:off x="6396228" y="4215384"/>
            <a:ext cx="4969764" cy="13258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combien sont touchés, quel fardeau, qui n’accède pas aux soins ?</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fiche « Mental health: strengthening our response ».</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QUELLE FRÉQUENCE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1 personne sur 7, en 2023</a:t>
            </a:r>
            <a:endParaRPr lang="en-US" sz="3400" dirty="0"/>
          </a:p>
        </p:txBody>
      </p:sp>
      <p:sp>
        <p:nvSpPr>
          <p:cNvPr id="4" name="Shape 2"/>
          <p:cNvSpPr/>
          <p:nvPr/>
        </p:nvSpPr>
        <p:spPr>
          <a:xfrm>
            <a:off x="594360" y="1600200"/>
            <a:ext cx="5669280" cy="2194560"/>
          </a:xfrm>
          <a:prstGeom prst="roundRect">
            <a:avLst>
              <a:gd name="adj" fmla="val 3750"/>
            </a:avLst>
          </a:prstGeom>
          <a:solidFill>
            <a:srgbClr val="1D1F2B"/>
          </a:solidFill>
          <a:ln w="12700">
            <a:solidFill>
              <a:srgbClr val="1D1F2B"/>
            </a:solidFill>
            <a:prstDash val="solid"/>
          </a:ln>
        </p:spPr>
      </p:sp>
      <p:sp>
        <p:nvSpPr>
          <p:cNvPr id="5" name="Text 3"/>
          <p:cNvSpPr/>
          <p:nvPr/>
        </p:nvSpPr>
        <p:spPr>
          <a:xfrm>
            <a:off x="868680" y="1709928"/>
            <a:ext cx="5120640" cy="1097280"/>
          </a:xfrm>
          <a:prstGeom prst="rect">
            <a:avLst/>
          </a:prstGeom>
          <a:noFill/>
          <a:ln/>
        </p:spPr>
        <p:txBody>
          <a:bodyPr wrap="square" lIns="0" tIns="0" rIns="0" bIns="0" rtlCol="0" anchor="ctr"/>
          <a:lstStyle/>
          <a:p>
            <a:pPr indent="0" marL="0">
              <a:buNone/>
            </a:pPr>
            <a:r>
              <a:rPr lang="en-US" sz="5800" b="1" dirty="0">
                <a:solidFill>
                  <a:srgbClr val="FF4757"/>
                </a:solidFill>
                <a:latin typeface="Palatino Linotype" pitchFamily="34" charset="0"/>
                <a:ea typeface="Palatino Linotype" pitchFamily="34" charset="-122"/>
                <a:cs typeface="Palatino Linotype" pitchFamily="34" charset="-120"/>
              </a:rPr>
              <a:t>1,2 milliard</a:t>
            </a:r>
            <a:endParaRPr lang="en-US" sz="5800" dirty="0"/>
          </a:p>
        </p:txBody>
      </p:sp>
      <p:sp>
        <p:nvSpPr>
          <p:cNvPr id="6" name="Text 4"/>
          <p:cNvSpPr/>
          <p:nvPr/>
        </p:nvSpPr>
        <p:spPr>
          <a:xfrm>
            <a:off x="868680" y="2715768"/>
            <a:ext cx="5120640" cy="10094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 personnes vivaient avec un trouble mental</a:t>
            </a:r>
            <a:endParaRPr lang="en-US" sz="1200" dirty="0"/>
          </a:p>
        </p:txBody>
      </p:sp>
      <p:sp>
        <p:nvSpPr>
          <p:cNvPr id="7" name="Shape 5"/>
          <p:cNvSpPr/>
          <p:nvPr/>
        </p:nvSpPr>
        <p:spPr>
          <a:xfrm>
            <a:off x="6492240" y="1600200"/>
            <a:ext cx="5074920" cy="1051560"/>
          </a:xfrm>
          <a:prstGeom prst="roundRect">
            <a:avLst>
              <a:gd name="adj" fmla="val 7826"/>
            </a:avLst>
          </a:prstGeom>
          <a:solidFill>
            <a:srgbClr val="1D1F2B"/>
          </a:solidFill>
          <a:ln w="12700">
            <a:solidFill>
              <a:srgbClr val="1D1F2B"/>
            </a:solidFill>
            <a:prstDash val="solid"/>
          </a:ln>
        </p:spPr>
      </p:sp>
      <p:sp>
        <p:nvSpPr>
          <p:cNvPr id="8" name="Text 6"/>
          <p:cNvSpPr/>
          <p:nvPr/>
        </p:nvSpPr>
        <p:spPr>
          <a:xfrm>
            <a:off x="6766560" y="1709928"/>
            <a:ext cx="4526280" cy="525780"/>
          </a:xfrm>
          <a:prstGeom prst="rect">
            <a:avLst/>
          </a:prstGeom>
          <a:noFill/>
          <a:ln/>
        </p:spPr>
        <p:txBody>
          <a:bodyPr wrap="square" lIns="0" tIns="0" rIns="0" bIns="0" rtlCol="0" anchor="ctr"/>
          <a:lstStyle/>
          <a:p>
            <a:pPr indent="0" marL="0">
              <a:buNone/>
            </a:pPr>
            <a:r>
              <a:rPr lang="en-US" sz="3200" b="1" dirty="0">
                <a:solidFill>
                  <a:srgbClr val="FFC24B"/>
                </a:solidFill>
                <a:latin typeface="Palatino Linotype" pitchFamily="34" charset="0"/>
                <a:ea typeface="Palatino Linotype" pitchFamily="34" charset="-122"/>
                <a:cs typeface="Palatino Linotype" pitchFamily="34" charset="-120"/>
              </a:rPr>
              <a:t>470 M</a:t>
            </a:r>
            <a:endParaRPr lang="en-US" sz="3200" dirty="0"/>
          </a:p>
        </p:txBody>
      </p:sp>
      <p:sp>
        <p:nvSpPr>
          <p:cNvPr id="9" name="Text 7"/>
          <p:cNvSpPr/>
          <p:nvPr/>
        </p:nvSpPr>
        <p:spPr>
          <a:xfrm>
            <a:off x="6766560" y="2144268"/>
            <a:ext cx="4526280" cy="48371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avec un trouble anxieux</a:t>
            </a:r>
            <a:endParaRPr lang="en-US" sz="1200" dirty="0"/>
          </a:p>
        </p:txBody>
      </p:sp>
      <p:sp>
        <p:nvSpPr>
          <p:cNvPr id="10" name="Shape 8"/>
          <p:cNvSpPr/>
          <p:nvPr/>
        </p:nvSpPr>
        <p:spPr>
          <a:xfrm>
            <a:off x="6492240" y="2743200"/>
            <a:ext cx="5074920" cy="1051560"/>
          </a:xfrm>
          <a:prstGeom prst="roundRect">
            <a:avLst>
              <a:gd name="adj" fmla="val 7826"/>
            </a:avLst>
          </a:prstGeom>
          <a:solidFill>
            <a:srgbClr val="1D1F2B"/>
          </a:solidFill>
          <a:ln w="12700">
            <a:solidFill>
              <a:srgbClr val="1D1F2B"/>
            </a:solidFill>
            <a:prstDash val="solid"/>
          </a:ln>
        </p:spPr>
      </p:sp>
      <p:sp>
        <p:nvSpPr>
          <p:cNvPr id="11" name="Text 9"/>
          <p:cNvSpPr/>
          <p:nvPr/>
        </p:nvSpPr>
        <p:spPr>
          <a:xfrm>
            <a:off x="6766560" y="2852928"/>
            <a:ext cx="4526280" cy="525780"/>
          </a:xfrm>
          <a:prstGeom prst="rect">
            <a:avLst/>
          </a:prstGeom>
          <a:noFill/>
          <a:ln/>
        </p:spPr>
        <p:txBody>
          <a:bodyPr wrap="square" lIns="0" tIns="0" rIns="0" bIns="0" rtlCol="0" anchor="ctr"/>
          <a:lstStyle/>
          <a:p>
            <a:pPr indent="0" marL="0">
              <a:buNone/>
            </a:pPr>
            <a:r>
              <a:rPr lang="en-US" sz="3200" b="1" dirty="0">
                <a:solidFill>
                  <a:srgbClr val="27D3BE"/>
                </a:solidFill>
                <a:latin typeface="Palatino Linotype" pitchFamily="34" charset="0"/>
                <a:ea typeface="Palatino Linotype" pitchFamily="34" charset="-122"/>
                <a:cs typeface="Palatino Linotype" pitchFamily="34" charset="-120"/>
              </a:rPr>
              <a:t>322 M</a:t>
            </a:r>
            <a:endParaRPr lang="en-US" sz="3200" dirty="0"/>
          </a:p>
        </p:txBody>
      </p:sp>
      <p:sp>
        <p:nvSpPr>
          <p:cNvPr id="12" name="Text 10"/>
          <p:cNvSpPr/>
          <p:nvPr/>
        </p:nvSpPr>
        <p:spPr>
          <a:xfrm>
            <a:off x="6766560" y="3287268"/>
            <a:ext cx="4526280" cy="48371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avec une dépression</a:t>
            </a:r>
            <a:endParaRPr lang="en-US" sz="1200" dirty="0"/>
          </a:p>
        </p:txBody>
      </p:sp>
      <p:sp>
        <p:nvSpPr>
          <p:cNvPr id="13" name="Shape 11"/>
          <p:cNvSpPr/>
          <p:nvPr/>
        </p:nvSpPr>
        <p:spPr>
          <a:xfrm>
            <a:off x="594360" y="4069080"/>
            <a:ext cx="10972800" cy="1691640"/>
          </a:xfrm>
          <a:prstGeom prst="roundRect">
            <a:avLst>
              <a:gd name="adj" fmla="val 4865"/>
            </a:avLst>
          </a:prstGeom>
          <a:solidFill>
            <a:srgbClr val="272A38"/>
          </a:solidFill>
          <a:ln w="12700">
            <a:solidFill>
              <a:srgbClr val="272A38"/>
            </a:solidFill>
            <a:prstDash val="solid"/>
          </a:ln>
        </p:spPr>
      </p:sp>
      <p:sp>
        <p:nvSpPr>
          <p:cNvPr id="14" name="Text 12"/>
          <p:cNvSpPr/>
          <p:nvPr/>
        </p:nvSpPr>
        <p:spPr>
          <a:xfrm>
            <a:off x="868680" y="4069080"/>
            <a:ext cx="10424160" cy="1691640"/>
          </a:xfrm>
          <a:prstGeom prst="rect">
            <a:avLst/>
          </a:prstGeom>
          <a:noFill/>
          <a:ln/>
        </p:spPr>
        <p:txBody>
          <a:bodyPr wrap="square" lIns="0" tIns="0" rIns="0" bIns="0" rtlCol="0" anchor="ctr"/>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Rapport de l’OMS de 2022 : 1 personne sur 8 en 2019 (970 millions). Des estimations différentes, mises côte à côte, ne prouvent pas à elles seules une augmentation.</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fiche « Mental disorders » ; rapport mondial sur la santé mentale, 2022.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DÉPRESSION N’EST PAS LA TRISTESSE ORDINAIRE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Au moins deux semaines</a:t>
            </a:r>
            <a:endParaRPr lang="en-US" sz="3400" dirty="0"/>
          </a:p>
        </p:txBody>
      </p:sp>
      <p:sp>
        <p:nvSpPr>
          <p:cNvPr id="4" name="Text 2"/>
          <p:cNvSpPr/>
          <p:nvPr/>
        </p:nvSpPr>
        <p:spPr>
          <a:xfrm>
            <a:off x="594360" y="1554480"/>
            <a:ext cx="10972800" cy="914400"/>
          </a:xfrm>
          <a:prstGeom prst="rect">
            <a:avLst/>
          </a:prstGeom>
          <a:noFill/>
          <a:ln/>
        </p:spPr>
        <p:txBody>
          <a:bodyPr wrap="square" lIns="0" tIns="0" rIns="0" bIns="0" rtlCol="0" anchor="t"/>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Humeur dépressive (triste, irritable, vide) ou perte du plaisir et de l’intérêt, la plus grande partie de la journée, presque tous les jours.</a:t>
            </a:r>
            <a:endParaRPr lang="en-US" sz="2000" dirty="0"/>
          </a:p>
        </p:txBody>
      </p:sp>
      <p:sp>
        <p:nvSpPr>
          <p:cNvPr id="5" name="Shape 3"/>
          <p:cNvSpPr/>
          <p:nvPr/>
        </p:nvSpPr>
        <p:spPr>
          <a:xfrm>
            <a:off x="594360" y="2697480"/>
            <a:ext cx="2606040" cy="1097280"/>
          </a:xfrm>
          <a:prstGeom prst="roundRect">
            <a:avLst>
              <a:gd name="adj" fmla="val 7500"/>
            </a:avLst>
          </a:prstGeom>
          <a:solidFill>
            <a:srgbClr val="B02532"/>
          </a:solidFill>
          <a:ln w="12700">
            <a:solidFill>
              <a:srgbClr val="B02532"/>
            </a:solidFill>
            <a:prstDash val="solid"/>
          </a:ln>
        </p:spPr>
      </p:sp>
      <p:sp>
        <p:nvSpPr>
          <p:cNvPr id="6" name="Text 4"/>
          <p:cNvSpPr/>
          <p:nvPr/>
        </p:nvSpPr>
        <p:spPr>
          <a:xfrm>
            <a:off x="731520" y="2697480"/>
            <a:ext cx="23317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manque d’espoir</a:t>
            </a:r>
            <a:endParaRPr lang="en-US" sz="1600" dirty="0"/>
          </a:p>
        </p:txBody>
      </p:sp>
      <p:sp>
        <p:nvSpPr>
          <p:cNvPr id="7" name="Shape 5"/>
          <p:cNvSpPr/>
          <p:nvPr/>
        </p:nvSpPr>
        <p:spPr>
          <a:xfrm>
            <a:off x="3383280" y="2697480"/>
            <a:ext cx="2606040" cy="1097280"/>
          </a:xfrm>
          <a:prstGeom prst="roundRect">
            <a:avLst>
              <a:gd name="adj" fmla="val 7500"/>
            </a:avLst>
          </a:prstGeom>
          <a:solidFill>
            <a:srgbClr val="4A2D8C"/>
          </a:solidFill>
          <a:ln w="12700">
            <a:solidFill>
              <a:srgbClr val="4A2D8C"/>
            </a:solidFill>
            <a:prstDash val="solid"/>
          </a:ln>
        </p:spPr>
      </p:sp>
      <p:sp>
        <p:nvSpPr>
          <p:cNvPr id="8" name="Text 6"/>
          <p:cNvSpPr/>
          <p:nvPr/>
        </p:nvSpPr>
        <p:spPr>
          <a:xfrm>
            <a:off x="3520440" y="2697480"/>
            <a:ext cx="23317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pensées de mort ou de suicide</a:t>
            </a:r>
            <a:endParaRPr lang="en-US" sz="1600" dirty="0"/>
          </a:p>
        </p:txBody>
      </p:sp>
      <p:sp>
        <p:nvSpPr>
          <p:cNvPr id="9" name="Shape 7"/>
          <p:cNvSpPr/>
          <p:nvPr/>
        </p:nvSpPr>
        <p:spPr>
          <a:xfrm>
            <a:off x="6172200" y="2697480"/>
            <a:ext cx="2606040" cy="1097280"/>
          </a:xfrm>
          <a:prstGeom prst="roundRect">
            <a:avLst>
              <a:gd name="adj" fmla="val 7500"/>
            </a:avLst>
          </a:prstGeom>
          <a:solidFill>
            <a:srgbClr val="0E7C6B"/>
          </a:solidFill>
          <a:ln w="12700">
            <a:solidFill>
              <a:srgbClr val="0E7C6B"/>
            </a:solidFill>
            <a:prstDash val="solid"/>
          </a:ln>
        </p:spPr>
      </p:sp>
      <p:sp>
        <p:nvSpPr>
          <p:cNvPr id="10" name="Text 8"/>
          <p:cNvSpPr/>
          <p:nvPr/>
        </p:nvSpPr>
        <p:spPr>
          <a:xfrm>
            <a:off x="6309360" y="2697480"/>
            <a:ext cx="23317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troubles du sommeil</a:t>
            </a:r>
            <a:endParaRPr lang="en-US" sz="1600" dirty="0"/>
          </a:p>
        </p:txBody>
      </p:sp>
      <p:sp>
        <p:nvSpPr>
          <p:cNvPr id="11" name="Shape 9"/>
          <p:cNvSpPr/>
          <p:nvPr/>
        </p:nvSpPr>
        <p:spPr>
          <a:xfrm>
            <a:off x="8961120" y="2697480"/>
            <a:ext cx="2606040" cy="1097280"/>
          </a:xfrm>
          <a:prstGeom prst="roundRect">
            <a:avLst>
              <a:gd name="adj" fmla="val 7500"/>
            </a:avLst>
          </a:prstGeom>
          <a:solidFill>
            <a:srgbClr val="9C4A0A"/>
          </a:solidFill>
          <a:ln w="12700">
            <a:solidFill>
              <a:srgbClr val="9C4A0A"/>
            </a:solidFill>
            <a:prstDash val="solid"/>
          </a:ln>
        </p:spPr>
      </p:sp>
      <p:sp>
        <p:nvSpPr>
          <p:cNvPr id="12" name="Text 10"/>
          <p:cNvSpPr/>
          <p:nvPr/>
        </p:nvSpPr>
        <p:spPr>
          <a:xfrm>
            <a:off x="9098280" y="2697480"/>
            <a:ext cx="2331720" cy="10972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troubles de l’appétit</a:t>
            </a:r>
            <a:endParaRPr lang="en-US" sz="1600" dirty="0"/>
          </a:p>
        </p:txBody>
      </p:sp>
      <p:sp>
        <p:nvSpPr>
          <p:cNvPr id="13" name="Shape 11"/>
          <p:cNvSpPr/>
          <p:nvPr/>
        </p:nvSpPr>
        <p:spPr>
          <a:xfrm>
            <a:off x="594360" y="4114800"/>
            <a:ext cx="10972800" cy="1463040"/>
          </a:xfrm>
          <a:prstGeom prst="roundRect">
            <a:avLst>
              <a:gd name="adj" fmla="val 5625"/>
            </a:avLst>
          </a:prstGeom>
          <a:solidFill>
            <a:srgbClr val="11121A"/>
          </a:solidFill>
          <a:ln w="12700">
            <a:solidFill>
              <a:srgbClr val="11121A"/>
            </a:solidFill>
            <a:prstDash val="solid"/>
          </a:ln>
        </p:spPr>
      </p:sp>
      <p:sp>
        <p:nvSpPr>
          <p:cNvPr id="14" name="Text 12"/>
          <p:cNvSpPr/>
          <p:nvPr/>
        </p:nvSpPr>
        <p:spPr>
          <a:xfrm>
            <a:off x="868680" y="4114800"/>
            <a:ext cx="10424160" cy="146304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Le risque de suicide augmente. Le sommeil, l’amaigrissement et le manque d’espoir de M. Vasile demandent une évaluation, pas des encouragements.</a:t>
            </a:r>
            <a:endParaRPr lang="en-US" sz="20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fiche « Mental disorders ».</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FARDEAU</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L’incapacité plus que le décès</a:t>
            </a:r>
            <a:endParaRPr lang="en-US" sz="3400" dirty="0"/>
          </a:p>
        </p:txBody>
      </p:sp>
      <p:sp>
        <p:nvSpPr>
          <p:cNvPr id="4" name="Shape 2"/>
          <p:cNvSpPr/>
          <p:nvPr/>
        </p:nvSpPr>
        <p:spPr>
          <a:xfrm>
            <a:off x="594360" y="1645920"/>
            <a:ext cx="5349240" cy="2514600"/>
          </a:xfrm>
          <a:prstGeom prst="roundRect">
            <a:avLst>
              <a:gd name="adj" fmla="val 3273"/>
            </a:avLst>
          </a:prstGeom>
          <a:solidFill>
            <a:srgbClr val="1D1F2B"/>
          </a:solidFill>
          <a:ln w="12700">
            <a:solidFill>
              <a:srgbClr val="1D1F2B"/>
            </a:solidFill>
            <a:prstDash val="solid"/>
          </a:ln>
        </p:spPr>
      </p:sp>
      <p:sp>
        <p:nvSpPr>
          <p:cNvPr id="5" name="Text 3"/>
          <p:cNvSpPr/>
          <p:nvPr/>
        </p:nvSpPr>
        <p:spPr>
          <a:xfrm>
            <a:off x="868680" y="1755648"/>
            <a:ext cx="4800600" cy="1257300"/>
          </a:xfrm>
          <a:prstGeom prst="rect">
            <a:avLst/>
          </a:prstGeom>
          <a:noFill/>
          <a:ln/>
        </p:spPr>
        <p:txBody>
          <a:bodyPr wrap="square" lIns="0" tIns="0" rIns="0" bIns="0" rtlCol="0" anchor="ctr"/>
          <a:lstStyle/>
          <a:p>
            <a:pPr indent="0" marL="0">
              <a:buNone/>
            </a:pPr>
            <a:r>
              <a:rPr lang="en-US" sz="6400" b="1" dirty="0">
                <a:solidFill>
                  <a:srgbClr val="FF4757"/>
                </a:solidFill>
                <a:latin typeface="Palatino Linotype" pitchFamily="34" charset="0"/>
                <a:ea typeface="Palatino Linotype" pitchFamily="34" charset="-122"/>
                <a:cs typeface="Palatino Linotype" pitchFamily="34" charset="-120"/>
              </a:rPr>
              <a:t>15,6 %</a:t>
            </a:r>
            <a:endParaRPr lang="en-US" sz="6400" dirty="0"/>
          </a:p>
        </p:txBody>
      </p:sp>
      <p:sp>
        <p:nvSpPr>
          <p:cNvPr id="6" name="Text 4"/>
          <p:cNvSpPr/>
          <p:nvPr/>
        </p:nvSpPr>
        <p:spPr>
          <a:xfrm>
            <a:off x="868680" y="2921508"/>
            <a:ext cx="4800600" cy="1156716"/>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années vécues avec une incapacité dans le monde : les troubles mentaux, première cause (une année sur six)</a:t>
            </a:r>
            <a:endParaRPr lang="en-US" sz="1200" dirty="0"/>
          </a:p>
        </p:txBody>
      </p:sp>
      <p:sp>
        <p:nvSpPr>
          <p:cNvPr id="7" name="Shape 5"/>
          <p:cNvSpPr/>
          <p:nvPr/>
        </p:nvSpPr>
        <p:spPr>
          <a:xfrm>
            <a:off x="6217920" y="1645920"/>
            <a:ext cx="5349240" cy="2514600"/>
          </a:xfrm>
          <a:prstGeom prst="roundRect">
            <a:avLst>
              <a:gd name="adj" fmla="val 3273"/>
            </a:avLst>
          </a:prstGeom>
          <a:solidFill>
            <a:srgbClr val="1D1F2B"/>
          </a:solidFill>
          <a:ln w="12700">
            <a:solidFill>
              <a:srgbClr val="1D1F2B"/>
            </a:solidFill>
            <a:prstDash val="solid"/>
          </a:ln>
        </p:spPr>
      </p:sp>
      <p:sp>
        <p:nvSpPr>
          <p:cNvPr id="8" name="Text 6"/>
          <p:cNvSpPr/>
          <p:nvPr/>
        </p:nvSpPr>
        <p:spPr>
          <a:xfrm>
            <a:off x="6492240" y="1755648"/>
            <a:ext cx="4800600" cy="1257300"/>
          </a:xfrm>
          <a:prstGeom prst="rect">
            <a:avLst/>
          </a:prstGeom>
          <a:noFill/>
          <a:ln/>
        </p:spPr>
        <p:txBody>
          <a:bodyPr wrap="square" lIns="0" tIns="0" rIns="0" bIns="0" rtlCol="0" anchor="ctr"/>
          <a:lstStyle/>
          <a:p>
            <a:pPr indent="0" marL="0">
              <a:buNone/>
            </a:pPr>
            <a:r>
              <a:rPr lang="en-US" sz="6400" b="1" dirty="0">
                <a:solidFill>
                  <a:srgbClr val="FFC24B"/>
                </a:solidFill>
                <a:latin typeface="Palatino Linotype" pitchFamily="34" charset="0"/>
                <a:ea typeface="Palatino Linotype" pitchFamily="34" charset="-122"/>
                <a:cs typeface="Palatino Linotype" pitchFamily="34" charset="-120"/>
              </a:rPr>
              <a:t>5,6 %</a:t>
            </a:r>
            <a:endParaRPr lang="en-US" sz="6400" dirty="0"/>
          </a:p>
        </p:txBody>
      </p:sp>
      <p:sp>
        <p:nvSpPr>
          <p:cNvPr id="9" name="Text 7"/>
          <p:cNvSpPr/>
          <p:nvPr/>
        </p:nvSpPr>
        <p:spPr>
          <a:xfrm>
            <a:off x="6492240" y="2921508"/>
            <a:ext cx="4800600" cy="1156716"/>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la dépression seule, deuxième cause, en 2019</a:t>
            </a:r>
            <a:endParaRPr lang="en-US" sz="1200" dirty="0"/>
          </a:p>
        </p:txBody>
      </p:sp>
      <p:sp>
        <p:nvSpPr>
          <p:cNvPr id="10" name="Shape 8"/>
          <p:cNvSpPr/>
          <p:nvPr/>
        </p:nvSpPr>
        <p:spPr>
          <a:xfrm>
            <a:off x="594360" y="4434840"/>
            <a:ext cx="10972800" cy="1325880"/>
          </a:xfrm>
          <a:prstGeom prst="roundRect">
            <a:avLst>
              <a:gd name="adj" fmla="val 6207"/>
            </a:avLst>
          </a:prstGeom>
          <a:solidFill>
            <a:srgbClr val="272A38"/>
          </a:solidFill>
          <a:ln w="12700">
            <a:solidFill>
              <a:srgbClr val="272A38"/>
            </a:solidFill>
            <a:prstDash val="solid"/>
          </a:ln>
        </p:spPr>
      </p:sp>
      <p:sp>
        <p:nvSpPr>
          <p:cNvPr id="11" name="Text 9"/>
          <p:cNvSpPr/>
          <p:nvPr/>
        </p:nvSpPr>
        <p:spPr>
          <a:xfrm>
            <a:off x="868680" y="4434840"/>
            <a:ext cx="10424160" cy="1325880"/>
          </a:xfrm>
          <a:prstGeom prst="rect">
            <a:avLst/>
          </a:prstGeom>
          <a:noFill/>
          <a:ln/>
        </p:spPr>
        <p:txBody>
          <a:bodyPr wrap="square" lIns="0" tIns="0" rIns="0" bIns="0" rtlCol="0" anchor="ctr"/>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Les statistiques de décès le sous-estiment : aucun décès n’est attribué à la dépression, et le suicide est compté parmi les lésions intentionnelles.</a:t>
            </a:r>
            <a:endParaRPr lang="en-US" sz="18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rapport mondial sur la santé mentale, 2022.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ROUMANIE : LES DONNÉES DÉCLARÉES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Moins de symptômes déclarés. Pourquoi ?</a:t>
            </a:r>
            <a:endParaRPr lang="en-US" sz="3200" dirty="0"/>
          </a:p>
        </p:txBody>
      </p:sp>
      <p:sp>
        <p:nvSpPr>
          <p:cNvPr id="4" name="Shape 2"/>
          <p:cNvSpPr/>
          <p:nvPr/>
        </p:nvSpPr>
        <p:spPr>
          <a:xfrm>
            <a:off x="914400" y="3453819"/>
            <a:ext cx="1005840" cy="1392501"/>
          </a:xfrm>
          <a:prstGeom prst="rect">
            <a:avLst/>
          </a:prstGeom>
          <a:solidFill>
            <a:srgbClr val="B02532"/>
          </a:solidFill>
          <a:ln w="12700">
            <a:solidFill>
              <a:srgbClr val="B02532"/>
            </a:solidFill>
            <a:prstDash val="solid"/>
          </a:ln>
        </p:spPr>
      </p:sp>
      <p:sp>
        <p:nvSpPr>
          <p:cNvPr id="5" name="Text 3"/>
          <p:cNvSpPr/>
          <p:nvPr/>
        </p:nvSpPr>
        <p:spPr>
          <a:xfrm>
            <a:off x="640080" y="2996619"/>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4,1 %</a:t>
            </a:r>
            <a:endParaRPr lang="en-US" sz="2000" dirty="0"/>
          </a:p>
        </p:txBody>
      </p:sp>
      <p:sp>
        <p:nvSpPr>
          <p:cNvPr id="6" name="Text 4"/>
          <p:cNvSpPr/>
          <p:nvPr/>
        </p:nvSpPr>
        <p:spPr>
          <a:xfrm>
            <a:off x="640080" y="491947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Roumanie</a:t>
            </a:r>
            <a:endParaRPr lang="en-US" sz="1400" dirty="0"/>
          </a:p>
        </p:txBody>
      </p:sp>
      <p:sp>
        <p:nvSpPr>
          <p:cNvPr id="7" name="Shape 5"/>
          <p:cNvSpPr/>
          <p:nvPr/>
        </p:nvSpPr>
        <p:spPr>
          <a:xfrm>
            <a:off x="2377440" y="2468880"/>
            <a:ext cx="1005840" cy="2377440"/>
          </a:xfrm>
          <a:prstGeom prst="rect">
            <a:avLst/>
          </a:prstGeom>
          <a:solidFill>
            <a:srgbClr val="0E7C6B"/>
          </a:solidFill>
          <a:ln w="12700">
            <a:solidFill>
              <a:srgbClr val="0E7C6B"/>
            </a:solidFill>
            <a:prstDash val="solid"/>
          </a:ln>
        </p:spPr>
      </p:sp>
      <p:sp>
        <p:nvSpPr>
          <p:cNvPr id="8" name="Text 6"/>
          <p:cNvSpPr/>
          <p:nvPr/>
        </p:nvSpPr>
        <p:spPr>
          <a:xfrm>
            <a:off x="2103120" y="2011680"/>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7,0 %</a:t>
            </a:r>
            <a:endParaRPr lang="en-US" sz="2000" dirty="0"/>
          </a:p>
        </p:txBody>
      </p:sp>
      <p:sp>
        <p:nvSpPr>
          <p:cNvPr id="9" name="Text 7"/>
          <p:cNvSpPr/>
          <p:nvPr/>
        </p:nvSpPr>
        <p:spPr>
          <a:xfrm>
            <a:off x="2103120" y="491947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UE</a:t>
            </a:r>
            <a:endParaRPr lang="en-US" sz="1400" dirty="0"/>
          </a:p>
        </p:txBody>
      </p:sp>
      <p:sp>
        <p:nvSpPr>
          <p:cNvPr id="10" name="Shape 8"/>
          <p:cNvSpPr/>
          <p:nvPr/>
        </p:nvSpPr>
        <p:spPr>
          <a:xfrm>
            <a:off x="731520" y="4846320"/>
            <a:ext cx="2834640" cy="22860"/>
          </a:xfrm>
          <a:prstGeom prst="rect">
            <a:avLst/>
          </a:prstGeom>
          <a:solidFill>
            <a:srgbClr val="C9C6BE"/>
          </a:solidFill>
          <a:ln w="12700">
            <a:solidFill>
              <a:srgbClr val="C9C6BE"/>
            </a:solidFill>
            <a:prstDash val="solid"/>
          </a:ln>
        </p:spPr>
      </p:sp>
      <p:sp>
        <p:nvSpPr>
          <p:cNvPr id="11" name="Text 9"/>
          <p:cNvSpPr/>
          <p:nvPr/>
        </p:nvSpPr>
        <p:spPr>
          <a:xfrm>
            <a:off x="640080" y="5257800"/>
            <a:ext cx="2743200" cy="502920"/>
          </a:xfrm>
          <a:prstGeom prst="rect">
            <a:avLst/>
          </a:prstGeom>
          <a:noFill/>
          <a:ln/>
        </p:spPr>
        <p:txBody>
          <a:bodyPr wrap="square" lIns="0" tIns="0" rIns="0" bIns="0" rtlCol="0" anchor="t"/>
          <a:lstStyle/>
          <a:p>
            <a:pPr algn="ctr" indent="0" marL="0">
              <a:buNone/>
            </a:pPr>
            <a:r>
              <a:rPr lang="en-US" sz="1350" b="1" dirty="0">
                <a:solidFill>
                  <a:srgbClr val="11121A"/>
                </a:solidFill>
                <a:latin typeface="Palatino Linotype" pitchFamily="34" charset="0"/>
                <a:ea typeface="Palatino Linotype" pitchFamily="34" charset="-122"/>
                <a:cs typeface="Palatino Linotype" pitchFamily="34" charset="-120"/>
              </a:rPr>
              <a:t>Symptômes dépressifs actuels</a:t>
            </a:r>
            <a:endParaRPr lang="en-US" sz="1350" dirty="0"/>
          </a:p>
        </p:txBody>
      </p:sp>
      <p:sp>
        <p:nvSpPr>
          <p:cNvPr id="12" name="Shape 10"/>
          <p:cNvSpPr/>
          <p:nvPr/>
        </p:nvSpPr>
        <p:spPr>
          <a:xfrm>
            <a:off x="4023360" y="4167051"/>
            <a:ext cx="1005840" cy="679269"/>
          </a:xfrm>
          <a:prstGeom prst="rect">
            <a:avLst/>
          </a:prstGeom>
          <a:solidFill>
            <a:srgbClr val="B02532"/>
          </a:solidFill>
          <a:ln w="12700">
            <a:solidFill>
              <a:srgbClr val="B02532"/>
            </a:solidFill>
            <a:prstDash val="solid"/>
          </a:ln>
        </p:spPr>
      </p:sp>
      <p:sp>
        <p:nvSpPr>
          <p:cNvPr id="13" name="Text 11"/>
          <p:cNvSpPr/>
          <p:nvPr/>
        </p:nvSpPr>
        <p:spPr>
          <a:xfrm>
            <a:off x="3749040" y="3709851"/>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2,0 %</a:t>
            </a:r>
            <a:endParaRPr lang="en-US" sz="2000" dirty="0"/>
          </a:p>
        </p:txBody>
      </p:sp>
      <p:sp>
        <p:nvSpPr>
          <p:cNvPr id="14" name="Text 12"/>
          <p:cNvSpPr/>
          <p:nvPr/>
        </p:nvSpPr>
        <p:spPr>
          <a:xfrm>
            <a:off x="3749040" y="491947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Roumanie</a:t>
            </a:r>
            <a:endParaRPr lang="en-US" sz="1400" dirty="0"/>
          </a:p>
        </p:txBody>
      </p:sp>
      <p:sp>
        <p:nvSpPr>
          <p:cNvPr id="15" name="Shape 13"/>
          <p:cNvSpPr/>
          <p:nvPr/>
        </p:nvSpPr>
        <p:spPr>
          <a:xfrm>
            <a:off x="5486400" y="3929307"/>
            <a:ext cx="1005840" cy="917013"/>
          </a:xfrm>
          <a:prstGeom prst="rect">
            <a:avLst/>
          </a:prstGeom>
          <a:solidFill>
            <a:srgbClr val="0E7C6B"/>
          </a:solidFill>
          <a:ln w="12700">
            <a:solidFill>
              <a:srgbClr val="0E7C6B"/>
            </a:solidFill>
            <a:prstDash val="solid"/>
          </a:ln>
        </p:spPr>
      </p:sp>
      <p:sp>
        <p:nvSpPr>
          <p:cNvPr id="16" name="Text 14"/>
          <p:cNvSpPr/>
          <p:nvPr/>
        </p:nvSpPr>
        <p:spPr>
          <a:xfrm>
            <a:off x="5212080" y="3472107"/>
            <a:ext cx="155448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2,7 %</a:t>
            </a:r>
            <a:endParaRPr lang="en-US" sz="2000" dirty="0"/>
          </a:p>
        </p:txBody>
      </p:sp>
      <p:sp>
        <p:nvSpPr>
          <p:cNvPr id="17" name="Text 15"/>
          <p:cNvSpPr/>
          <p:nvPr/>
        </p:nvSpPr>
        <p:spPr>
          <a:xfrm>
            <a:off x="5212080" y="4919472"/>
            <a:ext cx="155448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UE</a:t>
            </a:r>
            <a:endParaRPr lang="en-US" sz="1400" dirty="0"/>
          </a:p>
        </p:txBody>
      </p:sp>
      <p:sp>
        <p:nvSpPr>
          <p:cNvPr id="18" name="Shape 16"/>
          <p:cNvSpPr/>
          <p:nvPr/>
        </p:nvSpPr>
        <p:spPr>
          <a:xfrm>
            <a:off x="3840480" y="4846320"/>
            <a:ext cx="2834640" cy="22860"/>
          </a:xfrm>
          <a:prstGeom prst="rect">
            <a:avLst/>
          </a:prstGeom>
          <a:solidFill>
            <a:srgbClr val="C9C6BE"/>
          </a:solidFill>
          <a:ln w="12700">
            <a:solidFill>
              <a:srgbClr val="C9C6BE"/>
            </a:solidFill>
            <a:prstDash val="solid"/>
          </a:ln>
        </p:spPr>
      </p:sp>
      <p:sp>
        <p:nvSpPr>
          <p:cNvPr id="19" name="Text 17"/>
          <p:cNvSpPr/>
          <p:nvPr/>
        </p:nvSpPr>
        <p:spPr>
          <a:xfrm>
            <a:off x="3749040" y="5257800"/>
            <a:ext cx="2743200" cy="502920"/>
          </a:xfrm>
          <a:prstGeom prst="rect">
            <a:avLst/>
          </a:prstGeom>
          <a:noFill/>
          <a:ln/>
        </p:spPr>
        <p:txBody>
          <a:bodyPr wrap="square" lIns="0" tIns="0" rIns="0" bIns="0" rtlCol="0" anchor="t"/>
          <a:lstStyle/>
          <a:p>
            <a:pPr algn="ctr" indent="0" marL="0">
              <a:buNone/>
            </a:pPr>
            <a:r>
              <a:rPr lang="en-US" sz="1350" b="1" dirty="0">
                <a:solidFill>
                  <a:srgbClr val="11121A"/>
                </a:solidFill>
                <a:latin typeface="Palatino Linotype" pitchFamily="34" charset="0"/>
                <a:ea typeface="Palatino Linotype" pitchFamily="34" charset="-122"/>
                <a:cs typeface="Palatino Linotype" pitchFamily="34" charset="-120"/>
              </a:rPr>
              <a:t>Symptômes dépressifs majeurs</a:t>
            </a:r>
            <a:endParaRPr lang="en-US" sz="1350" dirty="0"/>
          </a:p>
        </p:txBody>
      </p:sp>
      <p:sp>
        <p:nvSpPr>
          <p:cNvPr id="20" name="Shape 18"/>
          <p:cNvSpPr/>
          <p:nvPr/>
        </p:nvSpPr>
        <p:spPr>
          <a:xfrm>
            <a:off x="7178040" y="1600200"/>
            <a:ext cx="4389120" cy="4160520"/>
          </a:xfrm>
          <a:prstGeom prst="roundRect">
            <a:avLst>
              <a:gd name="adj" fmla="val 1978"/>
            </a:avLst>
          </a:prstGeom>
          <a:solidFill>
            <a:srgbClr val="ECEAE4"/>
          </a:solidFill>
          <a:ln w="12700">
            <a:solidFill>
              <a:srgbClr val="ECEAE4"/>
            </a:solidFill>
            <a:prstDash val="solid"/>
          </a:ln>
        </p:spPr>
      </p:sp>
      <p:sp>
        <p:nvSpPr>
          <p:cNvPr id="21" name="Text 19"/>
          <p:cNvSpPr/>
          <p:nvPr/>
        </p:nvSpPr>
        <p:spPr>
          <a:xfrm>
            <a:off x="7406640" y="1709928"/>
            <a:ext cx="3931920" cy="36576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TROIS EXPLICATIONS POSSIBLES</a:t>
            </a:r>
            <a:endParaRPr lang="en-US" sz="1250" dirty="0"/>
          </a:p>
        </p:txBody>
      </p:sp>
      <p:sp>
        <p:nvSpPr>
          <p:cNvPr id="22" name="Shape 20"/>
          <p:cNvSpPr/>
          <p:nvPr/>
        </p:nvSpPr>
        <p:spPr>
          <a:xfrm>
            <a:off x="7406640" y="2194560"/>
            <a:ext cx="384048" cy="384048"/>
          </a:xfrm>
          <a:prstGeom prst="ellipse">
            <a:avLst/>
          </a:prstGeom>
          <a:solidFill>
            <a:srgbClr val="FF4757"/>
          </a:solidFill>
          <a:ln/>
        </p:spPr>
      </p:sp>
      <p:sp>
        <p:nvSpPr>
          <p:cNvPr id="23" name="Text 21"/>
          <p:cNvSpPr/>
          <p:nvPr/>
        </p:nvSpPr>
        <p:spPr>
          <a:xfrm>
            <a:off x="7406640" y="2194560"/>
            <a:ext cx="384048" cy="384048"/>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24" name="Text 22"/>
          <p:cNvSpPr/>
          <p:nvPr/>
        </p:nvSpPr>
        <p:spPr>
          <a:xfrm>
            <a:off x="7909560" y="2130552"/>
            <a:ext cx="352044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une fréquence plus faible</a:t>
            </a:r>
            <a:endParaRPr lang="en-US" sz="1500" dirty="0"/>
          </a:p>
        </p:txBody>
      </p:sp>
      <p:sp>
        <p:nvSpPr>
          <p:cNvPr id="25" name="Shape 23"/>
          <p:cNvSpPr/>
          <p:nvPr/>
        </p:nvSpPr>
        <p:spPr>
          <a:xfrm>
            <a:off x="7406640" y="3154680"/>
            <a:ext cx="384048" cy="384048"/>
          </a:xfrm>
          <a:prstGeom prst="ellipse">
            <a:avLst/>
          </a:prstGeom>
          <a:solidFill>
            <a:srgbClr val="FF4757"/>
          </a:solidFill>
          <a:ln/>
        </p:spPr>
      </p:sp>
      <p:sp>
        <p:nvSpPr>
          <p:cNvPr id="26" name="Text 24"/>
          <p:cNvSpPr/>
          <p:nvPr/>
        </p:nvSpPr>
        <p:spPr>
          <a:xfrm>
            <a:off x="7406640" y="3154680"/>
            <a:ext cx="384048" cy="384048"/>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27" name="Text 25"/>
          <p:cNvSpPr/>
          <p:nvPr/>
        </p:nvSpPr>
        <p:spPr>
          <a:xfrm>
            <a:off x="7909560" y="3090672"/>
            <a:ext cx="352044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une déclaration plus rare : la stigmatisation, la manière de nommer les symptômes</a:t>
            </a:r>
            <a:endParaRPr lang="en-US" sz="1500" dirty="0"/>
          </a:p>
        </p:txBody>
      </p:sp>
      <p:sp>
        <p:nvSpPr>
          <p:cNvPr id="28" name="Shape 26"/>
          <p:cNvSpPr/>
          <p:nvPr/>
        </p:nvSpPr>
        <p:spPr>
          <a:xfrm>
            <a:off x="7406640" y="4114800"/>
            <a:ext cx="384048" cy="384048"/>
          </a:xfrm>
          <a:prstGeom prst="ellipse">
            <a:avLst/>
          </a:prstGeom>
          <a:solidFill>
            <a:srgbClr val="FF4757"/>
          </a:solidFill>
          <a:ln/>
        </p:spPr>
      </p:sp>
      <p:sp>
        <p:nvSpPr>
          <p:cNvPr id="29" name="Text 27"/>
          <p:cNvSpPr/>
          <p:nvPr/>
        </p:nvSpPr>
        <p:spPr>
          <a:xfrm>
            <a:off x="7406640" y="4114800"/>
            <a:ext cx="384048" cy="384048"/>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30" name="Text 28"/>
          <p:cNvSpPr/>
          <p:nvPr/>
        </p:nvSpPr>
        <p:spPr>
          <a:xfrm>
            <a:off x="7909560" y="4050792"/>
            <a:ext cx="352044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une combinaison des deux</a:t>
            </a:r>
            <a:endParaRPr lang="en-US" sz="1500" dirty="0"/>
          </a:p>
        </p:txBody>
      </p:sp>
      <p:sp>
        <p:nvSpPr>
          <p:cNvPr id="31" name="Text 29"/>
          <p:cNvSpPr/>
          <p:nvPr/>
        </p:nvSpPr>
        <p:spPr>
          <a:xfrm>
            <a:off x="7406640" y="5074920"/>
            <a:ext cx="3931920" cy="640080"/>
          </a:xfrm>
          <a:prstGeom prst="rect">
            <a:avLst/>
          </a:prstGeom>
          <a:noFill/>
          <a:ln/>
        </p:spPr>
        <p:txBody>
          <a:bodyPr wrap="square" lIns="0" tIns="0" rIns="0" bIns="0" rtlCol="0" anchor="t"/>
          <a:lstStyle/>
          <a:p>
            <a:pPr indent="0" marL="0">
              <a:buNone/>
            </a:pPr>
            <a:r>
              <a:rPr lang="en-US" sz="1350" i="1" dirty="0">
                <a:solidFill>
                  <a:srgbClr val="585A64"/>
                </a:solidFill>
                <a:latin typeface="Palatino Linotype" pitchFamily="34" charset="0"/>
                <a:ea typeface="Palatino Linotype" pitchFamily="34" charset="-122"/>
                <a:cs typeface="Palatino Linotype" pitchFamily="34" charset="-120"/>
              </a:rPr>
              <a:t>Données déclarées dans un questionnaire, pas des diagnostics. L’enquête ne les sépare pas.</a:t>
            </a:r>
            <a:endParaRPr lang="en-US" sz="1350" dirty="0"/>
          </a:p>
        </p:txBody>
      </p:sp>
      <p:sp>
        <p:nvSpPr>
          <p:cNvPr id="32" name="Text 3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enquête européenne par interview sur la santé (EHIS), 2019.</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SUICIDE, UN PROBLÈME DE SANTÉ PUBLIQUE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Évitable, mais fréquent</a:t>
            </a:r>
            <a:endParaRPr lang="en-US" sz="3400" dirty="0"/>
          </a:p>
        </p:txBody>
      </p:sp>
      <p:sp>
        <p:nvSpPr>
          <p:cNvPr id="4" name="Shape 2"/>
          <p:cNvSpPr/>
          <p:nvPr/>
        </p:nvSpPr>
        <p:spPr>
          <a:xfrm>
            <a:off x="594360" y="1737360"/>
            <a:ext cx="3520440" cy="3566160"/>
          </a:xfrm>
          <a:prstGeom prst="roundRect">
            <a:avLst>
              <a:gd name="adj" fmla="val 2338"/>
            </a:avLst>
          </a:prstGeom>
          <a:solidFill>
            <a:srgbClr val="1D1F2B"/>
          </a:solidFill>
          <a:ln w="12700">
            <a:solidFill>
              <a:srgbClr val="1D1F2B"/>
            </a:solidFill>
            <a:prstDash val="solid"/>
          </a:ln>
        </p:spPr>
      </p:sp>
      <p:sp>
        <p:nvSpPr>
          <p:cNvPr id="5" name="Text 3"/>
          <p:cNvSpPr/>
          <p:nvPr/>
        </p:nvSpPr>
        <p:spPr>
          <a:xfrm>
            <a:off x="868680" y="1847088"/>
            <a:ext cx="2971800" cy="1783080"/>
          </a:xfrm>
          <a:prstGeom prst="rect">
            <a:avLst/>
          </a:prstGeom>
          <a:noFill/>
          <a:ln/>
        </p:spPr>
        <p:txBody>
          <a:bodyPr wrap="square" lIns="0" tIns="0" rIns="0" bIns="0" rtlCol="0" anchor="ctr"/>
          <a:lstStyle/>
          <a:p>
            <a:pPr indent="0" marL="0">
              <a:buNone/>
            </a:pPr>
            <a:r>
              <a:rPr lang="en-US" sz="4600" b="1" dirty="0">
                <a:solidFill>
                  <a:srgbClr val="FF4757"/>
                </a:solidFill>
                <a:latin typeface="Palatino Linotype" pitchFamily="34" charset="0"/>
                <a:ea typeface="Palatino Linotype" pitchFamily="34" charset="-122"/>
                <a:cs typeface="Palatino Linotype" pitchFamily="34" charset="-120"/>
              </a:rPr>
              <a:t>727 000</a:t>
            </a:r>
            <a:endParaRPr lang="en-US" sz="4600" dirty="0"/>
          </a:p>
        </p:txBody>
      </p:sp>
      <p:sp>
        <p:nvSpPr>
          <p:cNvPr id="6" name="Text 4"/>
          <p:cNvSpPr/>
          <p:nvPr/>
        </p:nvSpPr>
        <p:spPr>
          <a:xfrm>
            <a:off x="868680" y="3538728"/>
            <a:ext cx="2971800" cy="1640434"/>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personnes mettent fin à leurs jours chaque année ; les tentatives sont beaucoup plus nombreuses</a:t>
            </a:r>
            <a:endParaRPr lang="en-US" sz="1200" dirty="0"/>
          </a:p>
        </p:txBody>
      </p:sp>
      <p:sp>
        <p:nvSpPr>
          <p:cNvPr id="7" name="Shape 5"/>
          <p:cNvSpPr/>
          <p:nvPr/>
        </p:nvSpPr>
        <p:spPr>
          <a:xfrm>
            <a:off x="4343400" y="1737360"/>
            <a:ext cx="3520440" cy="3566160"/>
          </a:xfrm>
          <a:prstGeom prst="roundRect">
            <a:avLst>
              <a:gd name="adj" fmla="val 2338"/>
            </a:avLst>
          </a:prstGeom>
          <a:solidFill>
            <a:srgbClr val="1D1F2B"/>
          </a:solidFill>
          <a:ln w="12700">
            <a:solidFill>
              <a:srgbClr val="1D1F2B"/>
            </a:solidFill>
            <a:prstDash val="solid"/>
          </a:ln>
        </p:spPr>
      </p:sp>
      <p:sp>
        <p:nvSpPr>
          <p:cNvPr id="8" name="Text 6"/>
          <p:cNvSpPr/>
          <p:nvPr/>
        </p:nvSpPr>
        <p:spPr>
          <a:xfrm>
            <a:off x="4617720" y="1847088"/>
            <a:ext cx="2971800" cy="1783080"/>
          </a:xfrm>
          <a:prstGeom prst="rect">
            <a:avLst/>
          </a:prstGeom>
          <a:noFill/>
          <a:ln/>
        </p:spPr>
        <p:txBody>
          <a:bodyPr wrap="square" lIns="0" tIns="0" rIns="0" bIns="0" rtlCol="0" anchor="ctr"/>
          <a:lstStyle/>
          <a:p>
            <a:pPr indent="0" marL="0">
              <a:buNone/>
            </a:pPr>
            <a:r>
              <a:rPr lang="en-US" sz="4600" b="1" dirty="0">
                <a:solidFill>
                  <a:srgbClr val="FFC24B"/>
                </a:solidFill>
                <a:latin typeface="Palatino Linotype" pitchFamily="34" charset="0"/>
                <a:ea typeface="Palatino Linotype" pitchFamily="34" charset="-122"/>
                <a:cs typeface="Palatino Linotype" pitchFamily="34" charset="-120"/>
              </a:rPr>
              <a:t>3e</a:t>
            </a:r>
            <a:endParaRPr lang="en-US" sz="4600" dirty="0"/>
          </a:p>
        </p:txBody>
      </p:sp>
      <p:sp>
        <p:nvSpPr>
          <p:cNvPr id="9" name="Text 7"/>
          <p:cNvSpPr/>
          <p:nvPr/>
        </p:nvSpPr>
        <p:spPr>
          <a:xfrm>
            <a:off x="4617720" y="3538728"/>
            <a:ext cx="2971800" cy="1640434"/>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cause de décès chez les 15–29 ans, en 2021</a:t>
            </a:r>
            <a:endParaRPr lang="en-US" sz="1200" dirty="0"/>
          </a:p>
        </p:txBody>
      </p:sp>
      <p:sp>
        <p:nvSpPr>
          <p:cNvPr id="10" name="Shape 8"/>
          <p:cNvSpPr/>
          <p:nvPr/>
        </p:nvSpPr>
        <p:spPr>
          <a:xfrm>
            <a:off x="8092440" y="1737360"/>
            <a:ext cx="3520440" cy="3566160"/>
          </a:xfrm>
          <a:prstGeom prst="roundRect">
            <a:avLst>
              <a:gd name="adj" fmla="val 2338"/>
            </a:avLst>
          </a:prstGeom>
          <a:solidFill>
            <a:srgbClr val="1D1F2B"/>
          </a:solidFill>
          <a:ln w="12700">
            <a:solidFill>
              <a:srgbClr val="1D1F2B"/>
            </a:solidFill>
            <a:prstDash val="solid"/>
          </a:ln>
        </p:spPr>
      </p:sp>
      <p:sp>
        <p:nvSpPr>
          <p:cNvPr id="11" name="Text 9"/>
          <p:cNvSpPr/>
          <p:nvPr/>
        </p:nvSpPr>
        <p:spPr>
          <a:xfrm>
            <a:off x="8366760" y="1847088"/>
            <a:ext cx="2971800" cy="1783080"/>
          </a:xfrm>
          <a:prstGeom prst="rect">
            <a:avLst/>
          </a:prstGeom>
          <a:noFill/>
          <a:ln/>
        </p:spPr>
        <p:txBody>
          <a:bodyPr wrap="square" lIns="0" tIns="0" rIns="0" bIns="0" rtlCol="0" anchor="ctr"/>
          <a:lstStyle/>
          <a:p>
            <a:pPr indent="0" marL="0">
              <a:buNone/>
            </a:pPr>
            <a:r>
              <a:rPr lang="en-US" sz="4600" b="1" dirty="0">
                <a:solidFill>
                  <a:srgbClr val="27D3BE"/>
                </a:solidFill>
                <a:latin typeface="Palatino Linotype" pitchFamily="34" charset="0"/>
                <a:ea typeface="Palatino Linotype" pitchFamily="34" charset="-122"/>
                <a:cs typeface="Palatino Linotype" pitchFamily="34" charset="-120"/>
              </a:rPr>
              <a:t>73 %</a:t>
            </a:r>
            <a:endParaRPr lang="en-US" sz="4600" dirty="0"/>
          </a:p>
        </p:txBody>
      </p:sp>
      <p:sp>
        <p:nvSpPr>
          <p:cNvPr id="12" name="Text 10"/>
          <p:cNvSpPr/>
          <p:nvPr/>
        </p:nvSpPr>
        <p:spPr>
          <a:xfrm>
            <a:off x="8366760" y="3538728"/>
            <a:ext cx="2971800" cy="1640434"/>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suicides dans le monde, dans des pays à revenu faible ou intermédiaire</a:t>
            </a:r>
            <a:endParaRPr lang="en-US" sz="12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fiche « Suicide ».</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ROUMANIE · EUROSTAT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5,9 fois plus élevé chez les hommes</a:t>
            </a:r>
            <a:endParaRPr lang="en-US" sz="3200" dirty="0"/>
          </a:p>
        </p:txBody>
      </p:sp>
      <p:sp>
        <p:nvSpPr>
          <p:cNvPr id="4" name="Text 2"/>
          <p:cNvSpPr/>
          <p:nvPr/>
        </p:nvSpPr>
        <p:spPr>
          <a:xfrm>
            <a:off x="594360" y="1508760"/>
            <a:ext cx="5303520" cy="32004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TAUX STANDARDISÉ POUR 100 000</a:t>
            </a:r>
            <a:endParaRPr lang="en-US" sz="1250" dirty="0"/>
          </a:p>
        </p:txBody>
      </p:sp>
      <p:sp>
        <p:nvSpPr>
          <p:cNvPr id="5" name="Text 3"/>
          <p:cNvSpPr/>
          <p:nvPr/>
        </p:nvSpPr>
        <p:spPr>
          <a:xfrm>
            <a:off x="594360" y="187452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Roumanie, 2011</a:t>
            </a:r>
            <a:endParaRPr lang="en-US" sz="1400" dirty="0"/>
          </a:p>
        </p:txBody>
      </p:sp>
      <p:sp>
        <p:nvSpPr>
          <p:cNvPr id="6" name="Shape 4"/>
          <p:cNvSpPr/>
          <p:nvPr/>
        </p:nvSpPr>
        <p:spPr>
          <a:xfrm>
            <a:off x="2788920" y="1929384"/>
            <a:ext cx="1832052" cy="265176"/>
          </a:xfrm>
          <a:prstGeom prst="roundRect">
            <a:avLst>
              <a:gd name="adj" fmla="val 17241"/>
            </a:avLst>
          </a:prstGeom>
          <a:solidFill>
            <a:srgbClr val="B02532"/>
          </a:solidFill>
          <a:ln w="12700">
            <a:solidFill>
              <a:srgbClr val="B02532"/>
            </a:solidFill>
            <a:prstDash val="solid"/>
          </a:ln>
        </p:spPr>
      </p:sp>
      <p:sp>
        <p:nvSpPr>
          <p:cNvPr id="7" name="Text 5"/>
          <p:cNvSpPr/>
          <p:nvPr/>
        </p:nvSpPr>
        <p:spPr>
          <a:xfrm>
            <a:off x="4712412" y="192938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13</a:t>
            </a:r>
            <a:endParaRPr lang="en-US" sz="1500" dirty="0"/>
          </a:p>
        </p:txBody>
      </p:sp>
      <p:sp>
        <p:nvSpPr>
          <p:cNvPr id="8" name="Text 6"/>
          <p:cNvSpPr/>
          <p:nvPr/>
        </p:nvSpPr>
        <p:spPr>
          <a:xfrm>
            <a:off x="594360" y="237744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Roumanie, 2023</a:t>
            </a:r>
            <a:endParaRPr lang="en-US" sz="1400" dirty="0"/>
          </a:p>
        </p:txBody>
      </p:sp>
      <p:sp>
        <p:nvSpPr>
          <p:cNvPr id="9" name="Shape 7"/>
          <p:cNvSpPr/>
          <p:nvPr/>
        </p:nvSpPr>
        <p:spPr>
          <a:xfrm>
            <a:off x="2788920" y="2432304"/>
            <a:ext cx="1173923" cy="265176"/>
          </a:xfrm>
          <a:prstGeom prst="roundRect">
            <a:avLst>
              <a:gd name="adj" fmla="val 17241"/>
            </a:avLst>
          </a:prstGeom>
          <a:solidFill>
            <a:srgbClr val="B02532"/>
          </a:solidFill>
          <a:ln w="12700">
            <a:solidFill>
              <a:srgbClr val="B02532"/>
            </a:solidFill>
            <a:prstDash val="solid"/>
          </a:ln>
        </p:spPr>
      </p:sp>
      <p:sp>
        <p:nvSpPr>
          <p:cNvPr id="10" name="Text 8"/>
          <p:cNvSpPr/>
          <p:nvPr/>
        </p:nvSpPr>
        <p:spPr>
          <a:xfrm>
            <a:off x="4054283" y="243230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8,33</a:t>
            </a:r>
            <a:endParaRPr lang="en-US" sz="1500" dirty="0"/>
          </a:p>
        </p:txBody>
      </p:sp>
      <p:sp>
        <p:nvSpPr>
          <p:cNvPr id="11" name="Text 9"/>
          <p:cNvSpPr/>
          <p:nvPr/>
        </p:nvSpPr>
        <p:spPr>
          <a:xfrm>
            <a:off x="594360" y="288036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UE, 2011</a:t>
            </a:r>
            <a:endParaRPr lang="en-US" sz="1400" dirty="0"/>
          </a:p>
        </p:txBody>
      </p:sp>
      <p:sp>
        <p:nvSpPr>
          <p:cNvPr id="12" name="Shape 10"/>
          <p:cNvSpPr/>
          <p:nvPr/>
        </p:nvSpPr>
        <p:spPr>
          <a:xfrm>
            <a:off x="2788920" y="2935224"/>
            <a:ext cx="1658712" cy="265176"/>
          </a:xfrm>
          <a:prstGeom prst="roundRect">
            <a:avLst>
              <a:gd name="adj" fmla="val 17241"/>
            </a:avLst>
          </a:prstGeom>
          <a:solidFill>
            <a:srgbClr val="0E7C6B"/>
          </a:solidFill>
          <a:ln w="12700">
            <a:solidFill>
              <a:srgbClr val="0E7C6B"/>
            </a:solidFill>
            <a:prstDash val="solid"/>
          </a:ln>
        </p:spPr>
      </p:sp>
      <p:sp>
        <p:nvSpPr>
          <p:cNvPr id="13" name="Text 11"/>
          <p:cNvSpPr/>
          <p:nvPr/>
        </p:nvSpPr>
        <p:spPr>
          <a:xfrm>
            <a:off x="4539072" y="293522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11,77</a:t>
            </a:r>
            <a:endParaRPr lang="en-US" sz="1500" dirty="0"/>
          </a:p>
        </p:txBody>
      </p:sp>
      <p:sp>
        <p:nvSpPr>
          <p:cNvPr id="14" name="Text 12"/>
          <p:cNvSpPr/>
          <p:nvPr/>
        </p:nvSpPr>
        <p:spPr>
          <a:xfrm>
            <a:off x="594360" y="338328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UE, 2023</a:t>
            </a:r>
            <a:endParaRPr lang="en-US" sz="1400" dirty="0"/>
          </a:p>
        </p:txBody>
      </p:sp>
      <p:sp>
        <p:nvSpPr>
          <p:cNvPr id="15" name="Shape 13"/>
          <p:cNvSpPr/>
          <p:nvPr/>
        </p:nvSpPr>
        <p:spPr>
          <a:xfrm>
            <a:off x="2788920" y="3438144"/>
            <a:ext cx="1461414" cy="265176"/>
          </a:xfrm>
          <a:prstGeom prst="roundRect">
            <a:avLst>
              <a:gd name="adj" fmla="val 17241"/>
            </a:avLst>
          </a:prstGeom>
          <a:solidFill>
            <a:srgbClr val="0E7C6B"/>
          </a:solidFill>
          <a:ln w="12700">
            <a:solidFill>
              <a:srgbClr val="0E7C6B"/>
            </a:solidFill>
            <a:prstDash val="solid"/>
          </a:ln>
        </p:spPr>
      </p:sp>
      <p:sp>
        <p:nvSpPr>
          <p:cNvPr id="16" name="Text 14"/>
          <p:cNvSpPr/>
          <p:nvPr/>
        </p:nvSpPr>
        <p:spPr>
          <a:xfrm>
            <a:off x="4341774" y="343814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10,37</a:t>
            </a:r>
            <a:endParaRPr lang="en-US" sz="1500" dirty="0"/>
          </a:p>
        </p:txBody>
      </p:sp>
      <p:sp>
        <p:nvSpPr>
          <p:cNvPr id="17" name="Text 15"/>
          <p:cNvSpPr/>
          <p:nvPr/>
        </p:nvSpPr>
        <p:spPr>
          <a:xfrm>
            <a:off x="6263640" y="1508760"/>
            <a:ext cx="5303520" cy="32004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2023, PAR SEXE</a:t>
            </a:r>
            <a:endParaRPr lang="en-US" sz="1250" dirty="0"/>
          </a:p>
        </p:txBody>
      </p:sp>
      <p:sp>
        <p:nvSpPr>
          <p:cNvPr id="18" name="Text 16"/>
          <p:cNvSpPr/>
          <p:nvPr/>
        </p:nvSpPr>
        <p:spPr>
          <a:xfrm>
            <a:off x="6263640" y="187452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Roumanie, hommes</a:t>
            </a:r>
            <a:endParaRPr lang="en-US" sz="1400" dirty="0"/>
          </a:p>
        </p:txBody>
      </p:sp>
      <p:sp>
        <p:nvSpPr>
          <p:cNvPr id="19" name="Shape 17"/>
          <p:cNvSpPr/>
          <p:nvPr/>
        </p:nvSpPr>
        <p:spPr>
          <a:xfrm>
            <a:off x="8458200" y="1929384"/>
            <a:ext cx="2112497" cy="265176"/>
          </a:xfrm>
          <a:prstGeom prst="roundRect">
            <a:avLst>
              <a:gd name="adj" fmla="val 17241"/>
            </a:avLst>
          </a:prstGeom>
          <a:solidFill>
            <a:srgbClr val="B02532"/>
          </a:solidFill>
          <a:ln w="12700">
            <a:solidFill>
              <a:srgbClr val="B02532"/>
            </a:solidFill>
            <a:prstDash val="solid"/>
          </a:ln>
        </p:spPr>
      </p:sp>
      <p:sp>
        <p:nvSpPr>
          <p:cNvPr id="20" name="Text 18"/>
          <p:cNvSpPr/>
          <p:nvPr/>
        </p:nvSpPr>
        <p:spPr>
          <a:xfrm>
            <a:off x="10662137" y="192938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14,99</a:t>
            </a:r>
            <a:endParaRPr lang="en-US" sz="1500" dirty="0"/>
          </a:p>
        </p:txBody>
      </p:sp>
      <p:sp>
        <p:nvSpPr>
          <p:cNvPr id="21" name="Text 19"/>
          <p:cNvSpPr/>
          <p:nvPr/>
        </p:nvSpPr>
        <p:spPr>
          <a:xfrm>
            <a:off x="6263640" y="237744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Roumanie, femmes</a:t>
            </a:r>
            <a:endParaRPr lang="en-US" sz="1400" dirty="0"/>
          </a:p>
        </p:txBody>
      </p:sp>
      <p:sp>
        <p:nvSpPr>
          <p:cNvPr id="22" name="Shape 20"/>
          <p:cNvSpPr/>
          <p:nvPr/>
        </p:nvSpPr>
        <p:spPr>
          <a:xfrm>
            <a:off x="8458200" y="2432304"/>
            <a:ext cx="357955" cy="265176"/>
          </a:xfrm>
          <a:prstGeom prst="roundRect">
            <a:avLst>
              <a:gd name="adj" fmla="val 17241"/>
            </a:avLst>
          </a:prstGeom>
          <a:solidFill>
            <a:srgbClr val="B02532"/>
          </a:solidFill>
          <a:ln w="12700">
            <a:solidFill>
              <a:srgbClr val="B02532"/>
            </a:solidFill>
            <a:prstDash val="solid"/>
          </a:ln>
        </p:spPr>
      </p:sp>
      <p:sp>
        <p:nvSpPr>
          <p:cNvPr id="23" name="Text 21"/>
          <p:cNvSpPr/>
          <p:nvPr/>
        </p:nvSpPr>
        <p:spPr>
          <a:xfrm>
            <a:off x="8907595" y="243230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2,54</a:t>
            </a:r>
            <a:endParaRPr lang="en-US" sz="1500" dirty="0"/>
          </a:p>
        </p:txBody>
      </p:sp>
      <p:sp>
        <p:nvSpPr>
          <p:cNvPr id="24" name="Text 22"/>
          <p:cNvSpPr/>
          <p:nvPr/>
        </p:nvSpPr>
        <p:spPr>
          <a:xfrm>
            <a:off x="6263640" y="288036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UE, hommes</a:t>
            </a:r>
            <a:endParaRPr lang="en-US" sz="1400" dirty="0"/>
          </a:p>
        </p:txBody>
      </p:sp>
      <p:sp>
        <p:nvSpPr>
          <p:cNvPr id="25" name="Shape 23"/>
          <p:cNvSpPr/>
          <p:nvPr/>
        </p:nvSpPr>
        <p:spPr>
          <a:xfrm>
            <a:off x="8458200" y="2935224"/>
            <a:ext cx="2377440" cy="265176"/>
          </a:xfrm>
          <a:prstGeom prst="roundRect">
            <a:avLst>
              <a:gd name="adj" fmla="val 17241"/>
            </a:avLst>
          </a:prstGeom>
          <a:solidFill>
            <a:srgbClr val="0E7C6B"/>
          </a:solidFill>
          <a:ln w="12700">
            <a:solidFill>
              <a:srgbClr val="0E7C6B"/>
            </a:solidFill>
            <a:prstDash val="solid"/>
          </a:ln>
        </p:spPr>
      </p:sp>
      <p:sp>
        <p:nvSpPr>
          <p:cNvPr id="26" name="Text 24"/>
          <p:cNvSpPr/>
          <p:nvPr/>
        </p:nvSpPr>
        <p:spPr>
          <a:xfrm>
            <a:off x="10927080" y="293522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16,87</a:t>
            </a:r>
            <a:endParaRPr lang="en-US" sz="1500" dirty="0"/>
          </a:p>
        </p:txBody>
      </p:sp>
      <p:sp>
        <p:nvSpPr>
          <p:cNvPr id="27" name="Text 25"/>
          <p:cNvSpPr/>
          <p:nvPr/>
        </p:nvSpPr>
        <p:spPr>
          <a:xfrm>
            <a:off x="6263640" y="3383280"/>
            <a:ext cx="2103120" cy="411480"/>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UE, femmes</a:t>
            </a:r>
            <a:endParaRPr lang="en-US" sz="1400" dirty="0"/>
          </a:p>
        </p:txBody>
      </p:sp>
      <p:sp>
        <p:nvSpPr>
          <p:cNvPr id="28" name="Shape 26"/>
          <p:cNvSpPr/>
          <p:nvPr/>
        </p:nvSpPr>
        <p:spPr>
          <a:xfrm>
            <a:off x="8458200" y="3438144"/>
            <a:ext cx="655311" cy="265176"/>
          </a:xfrm>
          <a:prstGeom prst="roundRect">
            <a:avLst>
              <a:gd name="adj" fmla="val 17241"/>
            </a:avLst>
          </a:prstGeom>
          <a:solidFill>
            <a:srgbClr val="0E7C6B"/>
          </a:solidFill>
          <a:ln w="12700">
            <a:solidFill>
              <a:srgbClr val="0E7C6B"/>
            </a:solidFill>
            <a:prstDash val="solid"/>
          </a:ln>
        </p:spPr>
      </p:sp>
      <p:sp>
        <p:nvSpPr>
          <p:cNvPr id="29" name="Text 27"/>
          <p:cNvSpPr/>
          <p:nvPr/>
        </p:nvSpPr>
        <p:spPr>
          <a:xfrm>
            <a:off x="9204951" y="3438144"/>
            <a:ext cx="2194560" cy="265176"/>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4,65</a:t>
            </a:r>
            <a:endParaRPr lang="en-US" sz="1500" dirty="0"/>
          </a:p>
        </p:txBody>
      </p:sp>
      <p:sp>
        <p:nvSpPr>
          <p:cNvPr id="30" name="Shape 28"/>
          <p:cNvSpPr/>
          <p:nvPr/>
        </p:nvSpPr>
        <p:spPr>
          <a:xfrm>
            <a:off x="594360" y="4023360"/>
            <a:ext cx="10972800" cy="777240"/>
          </a:xfrm>
          <a:prstGeom prst="roundRect">
            <a:avLst>
              <a:gd name="adj" fmla="val 10588"/>
            </a:avLst>
          </a:prstGeom>
          <a:solidFill>
            <a:srgbClr val="11121A"/>
          </a:solidFill>
          <a:ln w="12700">
            <a:solidFill>
              <a:srgbClr val="11121A"/>
            </a:solidFill>
            <a:prstDash val="solid"/>
          </a:ln>
        </p:spPr>
      </p:sp>
      <p:sp>
        <p:nvSpPr>
          <p:cNvPr id="31" name="Text 29"/>
          <p:cNvSpPr/>
          <p:nvPr/>
        </p:nvSpPr>
        <p:spPr>
          <a:xfrm>
            <a:off x="868680" y="4023360"/>
            <a:ext cx="10424160" cy="7772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Rapport hommes / femmes : 5,9 en Roumanie, 3,6 dans l’UE.</a:t>
            </a:r>
            <a:endParaRPr lang="en-US" sz="1900" dirty="0"/>
          </a:p>
        </p:txBody>
      </p:sp>
      <p:sp>
        <p:nvSpPr>
          <p:cNvPr id="32" name="Text 30"/>
          <p:cNvSpPr/>
          <p:nvPr/>
        </p:nvSpPr>
        <p:spPr>
          <a:xfrm>
            <a:off x="594360" y="4983480"/>
            <a:ext cx="10972800" cy="82296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Avec réserve : données suffisantes dans environ 80 États Membres ; sous-déclaration due à la stigmatisation.</a:t>
            </a:r>
            <a:endParaRPr lang="en-US" sz="1500" dirty="0"/>
          </a:p>
        </p:txBody>
      </p:sp>
      <p:sp>
        <p:nvSpPr>
          <p:cNvPr id="33" name="Text 3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mortalité standardisée par suicide ; OMS, fiche « Suicide ».</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SUICIDE PEUT ÊTRE PRÉVENU</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Quatre interventions LIVE LIFE</a:t>
            </a:r>
            <a:endParaRPr lang="en-US" sz="3200" dirty="0"/>
          </a:p>
        </p:txBody>
      </p:sp>
      <p:sp>
        <p:nvSpPr>
          <p:cNvPr id="4" name="Shape 2"/>
          <p:cNvSpPr/>
          <p:nvPr/>
        </p:nvSpPr>
        <p:spPr>
          <a:xfrm>
            <a:off x="594360" y="1554480"/>
            <a:ext cx="7498080" cy="685800"/>
          </a:xfrm>
          <a:prstGeom prst="roundRect">
            <a:avLst>
              <a:gd name="adj" fmla="val 12000"/>
            </a:avLst>
          </a:prstGeom>
          <a:solidFill>
            <a:srgbClr val="1D1F2B"/>
          </a:solidFill>
          <a:ln w="12700">
            <a:solidFill>
              <a:srgbClr val="1D1F2B"/>
            </a:solidFill>
            <a:prstDash val="solid"/>
          </a:ln>
        </p:spPr>
      </p:sp>
      <p:sp>
        <p:nvSpPr>
          <p:cNvPr id="5" name="Shape 3"/>
          <p:cNvSpPr/>
          <p:nvPr/>
        </p:nvSpPr>
        <p:spPr>
          <a:xfrm>
            <a:off x="868680" y="1687068"/>
            <a:ext cx="420624" cy="420624"/>
          </a:xfrm>
          <a:prstGeom prst="ellipse">
            <a:avLst/>
          </a:prstGeom>
          <a:solidFill>
            <a:srgbClr val="FFC24B"/>
          </a:solidFill>
          <a:ln/>
        </p:spPr>
      </p:sp>
      <p:sp>
        <p:nvSpPr>
          <p:cNvPr id="6" name="Text 4"/>
          <p:cNvSpPr/>
          <p:nvPr/>
        </p:nvSpPr>
        <p:spPr>
          <a:xfrm>
            <a:off x="868680" y="16870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554480"/>
            <a:ext cx="6355080" cy="6858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Limiter l’accès aux moyens : pesticides, armes à feu, certains médicaments.</a:t>
            </a:r>
            <a:endParaRPr lang="en-US" sz="1650" dirty="0"/>
          </a:p>
        </p:txBody>
      </p:sp>
      <p:sp>
        <p:nvSpPr>
          <p:cNvPr id="8" name="Shape 6"/>
          <p:cNvSpPr/>
          <p:nvPr/>
        </p:nvSpPr>
        <p:spPr>
          <a:xfrm>
            <a:off x="594360" y="2331720"/>
            <a:ext cx="7498080" cy="685800"/>
          </a:xfrm>
          <a:prstGeom prst="roundRect">
            <a:avLst>
              <a:gd name="adj" fmla="val 12000"/>
            </a:avLst>
          </a:prstGeom>
          <a:solidFill>
            <a:srgbClr val="1D1F2B"/>
          </a:solidFill>
          <a:ln w="12700">
            <a:solidFill>
              <a:srgbClr val="1D1F2B"/>
            </a:solidFill>
            <a:prstDash val="solid"/>
          </a:ln>
        </p:spPr>
      </p:sp>
      <p:sp>
        <p:nvSpPr>
          <p:cNvPr id="9" name="Shape 7"/>
          <p:cNvSpPr/>
          <p:nvPr/>
        </p:nvSpPr>
        <p:spPr>
          <a:xfrm>
            <a:off x="868680" y="2464308"/>
            <a:ext cx="420624" cy="420624"/>
          </a:xfrm>
          <a:prstGeom prst="ellipse">
            <a:avLst/>
          </a:prstGeom>
          <a:solidFill>
            <a:srgbClr val="FFC24B"/>
          </a:solidFill>
          <a:ln/>
        </p:spPr>
      </p:sp>
      <p:sp>
        <p:nvSpPr>
          <p:cNvPr id="10" name="Text 8"/>
          <p:cNvSpPr/>
          <p:nvPr/>
        </p:nvSpPr>
        <p:spPr>
          <a:xfrm>
            <a:off x="868680" y="24643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31720"/>
            <a:ext cx="6355080" cy="6858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Une couverture responsable des cas, avec les médias.</a:t>
            </a:r>
            <a:endParaRPr lang="en-US" sz="1650" dirty="0"/>
          </a:p>
        </p:txBody>
      </p:sp>
      <p:sp>
        <p:nvSpPr>
          <p:cNvPr id="12" name="Shape 10"/>
          <p:cNvSpPr/>
          <p:nvPr/>
        </p:nvSpPr>
        <p:spPr>
          <a:xfrm>
            <a:off x="594360" y="3108960"/>
            <a:ext cx="7498080" cy="685800"/>
          </a:xfrm>
          <a:prstGeom prst="roundRect">
            <a:avLst>
              <a:gd name="adj" fmla="val 12000"/>
            </a:avLst>
          </a:prstGeom>
          <a:solidFill>
            <a:srgbClr val="1D1F2B"/>
          </a:solidFill>
          <a:ln w="12700">
            <a:solidFill>
              <a:srgbClr val="1D1F2B"/>
            </a:solidFill>
            <a:prstDash val="solid"/>
          </a:ln>
        </p:spPr>
      </p:sp>
      <p:sp>
        <p:nvSpPr>
          <p:cNvPr id="13" name="Shape 11"/>
          <p:cNvSpPr/>
          <p:nvPr/>
        </p:nvSpPr>
        <p:spPr>
          <a:xfrm>
            <a:off x="868680" y="3241548"/>
            <a:ext cx="420624" cy="420624"/>
          </a:xfrm>
          <a:prstGeom prst="ellipse">
            <a:avLst/>
          </a:prstGeom>
          <a:solidFill>
            <a:srgbClr val="FFC24B"/>
          </a:solidFill>
          <a:ln/>
        </p:spPr>
      </p:sp>
      <p:sp>
        <p:nvSpPr>
          <p:cNvPr id="14" name="Text 12"/>
          <p:cNvSpPr/>
          <p:nvPr/>
        </p:nvSpPr>
        <p:spPr>
          <a:xfrm>
            <a:off x="868680" y="32415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108960"/>
            <a:ext cx="6355080" cy="6858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Les compétences socio-émotionnelles des adolescents.</a:t>
            </a:r>
            <a:endParaRPr lang="en-US" sz="1650" dirty="0"/>
          </a:p>
        </p:txBody>
      </p:sp>
      <p:sp>
        <p:nvSpPr>
          <p:cNvPr id="16" name="Shape 14"/>
          <p:cNvSpPr/>
          <p:nvPr/>
        </p:nvSpPr>
        <p:spPr>
          <a:xfrm>
            <a:off x="594360" y="3886200"/>
            <a:ext cx="7498080" cy="685800"/>
          </a:xfrm>
          <a:prstGeom prst="roundRect">
            <a:avLst>
              <a:gd name="adj" fmla="val 12000"/>
            </a:avLst>
          </a:prstGeom>
          <a:solidFill>
            <a:srgbClr val="1D1F2B"/>
          </a:solidFill>
          <a:ln w="12700">
            <a:solidFill>
              <a:srgbClr val="1D1F2B"/>
            </a:solidFill>
            <a:prstDash val="solid"/>
          </a:ln>
        </p:spPr>
      </p:sp>
      <p:sp>
        <p:nvSpPr>
          <p:cNvPr id="17" name="Shape 15"/>
          <p:cNvSpPr/>
          <p:nvPr/>
        </p:nvSpPr>
        <p:spPr>
          <a:xfrm>
            <a:off x="868680" y="4018788"/>
            <a:ext cx="420624" cy="420624"/>
          </a:xfrm>
          <a:prstGeom prst="ellipse">
            <a:avLst/>
          </a:prstGeom>
          <a:solidFill>
            <a:srgbClr val="FFC24B"/>
          </a:solidFill>
          <a:ln/>
        </p:spPr>
      </p:sp>
      <p:sp>
        <p:nvSpPr>
          <p:cNvPr id="18" name="Text 16"/>
          <p:cNvSpPr/>
          <p:nvPr/>
        </p:nvSpPr>
        <p:spPr>
          <a:xfrm>
            <a:off x="868680" y="40187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886200"/>
            <a:ext cx="6355080" cy="6858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Identifier, évaluer, prendre en charge et suivre précocement les personnes touchées.</a:t>
            </a:r>
            <a:endParaRPr lang="en-US" sz="1650" dirty="0"/>
          </a:p>
        </p:txBody>
      </p:sp>
      <p:sp>
        <p:nvSpPr>
          <p:cNvPr id="20" name="Text 18"/>
          <p:cNvSpPr/>
          <p:nvPr/>
        </p:nvSpPr>
        <p:spPr>
          <a:xfrm>
            <a:off x="594360" y="4754880"/>
            <a:ext cx="7498080" cy="9144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Les deux premières agissent sur toute la population, sans que personne ait à demander de l’aide.</a:t>
            </a:r>
            <a:endParaRPr lang="en-US" sz="1700" dirty="0"/>
          </a:p>
        </p:txBody>
      </p:sp>
      <p:sp>
        <p:nvSpPr>
          <p:cNvPr id="21" name="Shape 19"/>
          <p:cNvSpPr/>
          <p:nvPr/>
        </p:nvSpPr>
        <p:spPr>
          <a:xfrm>
            <a:off x="8321040" y="1554480"/>
            <a:ext cx="3246120" cy="4114800"/>
          </a:xfrm>
          <a:prstGeom prst="roundRect">
            <a:avLst>
              <a:gd name="adj" fmla="val 2535"/>
            </a:avLst>
          </a:prstGeom>
          <a:solidFill>
            <a:srgbClr val="272A38"/>
          </a:solidFill>
          <a:ln w="12700">
            <a:solidFill>
              <a:srgbClr val="272A38"/>
            </a:solidFill>
            <a:prstDash val="solid"/>
          </a:ln>
        </p:spPr>
      </p:sp>
      <p:sp>
        <p:nvSpPr>
          <p:cNvPr id="22" name="Text 20"/>
          <p:cNvSpPr/>
          <p:nvPr/>
        </p:nvSpPr>
        <p:spPr>
          <a:xfrm>
            <a:off x="8595360" y="1664208"/>
            <a:ext cx="2697480" cy="2057400"/>
          </a:xfrm>
          <a:prstGeom prst="rect">
            <a:avLst/>
          </a:prstGeom>
          <a:noFill/>
          <a:ln/>
        </p:spPr>
        <p:txBody>
          <a:bodyPr wrap="square" lIns="0" tIns="0" rIns="0" bIns="0" rtlCol="0" anchor="ctr"/>
          <a:lstStyle/>
          <a:p>
            <a:pPr indent="0" marL="0">
              <a:buNone/>
            </a:pPr>
            <a:r>
              <a:rPr lang="en-US" sz="7200" b="1" dirty="0">
                <a:solidFill>
                  <a:srgbClr val="FF4757"/>
                </a:solidFill>
                <a:latin typeface="Palatino Linotype" pitchFamily="34" charset="0"/>
                <a:ea typeface="Palatino Linotype" pitchFamily="34" charset="-122"/>
                <a:cs typeface="Palatino Linotype" pitchFamily="34" charset="-120"/>
              </a:rPr>
              <a:t>38</a:t>
            </a:r>
            <a:endParaRPr lang="en-US" sz="7200" dirty="0"/>
          </a:p>
        </p:txBody>
      </p:sp>
      <p:sp>
        <p:nvSpPr>
          <p:cNvPr id="23" name="Text 21"/>
          <p:cNvSpPr/>
          <p:nvPr/>
        </p:nvSpPr>
        <p:spPr>
          <a:xfrm>
            <a:off x="8595360" y="3630168"/>
            <a:ext cx="2697480" cy="189280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pays déclarent une stratégie nationale de prévention du suicide</a:t>
            </a:r>
            <a:endParaRPr lang="en-US" sz="12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fiche « Suicide ».</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STIGMATISATION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Universelle, dans toutes les cultures</a:t>
            </a:r>
            <a:endParaRPr lang="en-US" sz="3400" dirty="0"/>
          </a:p>
        </p:txBody>
      </p:sp>
      <p:sp>
        <p:nvSpPr>
          <p:cNvPr id="4" name="Text 2"/>
          <p:cNvSpPr/>
          <p:nvPr/>
        </p:nvSpPr>
        <p:spPr>
          <a:xfrm>
            <a:off x="594360" y="1508760"/>
            <a:ext cx="10972800" cy="36576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D’OÙ ELLE VIENT</a:t>
            </a:r>
            <a:endParaRPr lang="en-US" sz="1250" dirty="0"/>
          </a:p>
        </p:txBody>
      </p:sp>
      <p:sp>
        <p:nvSpPr>
          <p:cNvPr id="5" name="Shape 3"/>
          <p:cNvSpPr/>
          <p:nvPr/>
        </p:nvSpPr>
        <p:spPr>
          <a:xfrm>
            <a:off x="594360" y="1920240"/>
            <a:ext cx="3520440" cy="868680"/>
          </a:xfrm>
          <a:prstGeom prst="roundRect">
            <a:avLst>
              <a:gd name="adj" fmla="val 9474"/>
            </a:avLst>
          </a:prstGeom>
          <a:solidFill>
            <a:srgbClr val="B02532"/>
          </a:solidFill>
          <a:ln w="12700">
            <a:solidFill>
              <a:srgbClr val="B02532"/>
            </a:solidFill>
            <a:prstDash val="solid"/>
          </a:ln>
        </p:spPr>
      </p:sp>
      <p:sp>
        <p:nvSpPr>
          <p:cNvPr id="6" name="Text 4"/>
          <p:cNvSpPr/>
          <p:nvPr/>
        </p:nvSpPr>
        <p:spPr>
          <a:xfrm>
            <a:off x="731520" y="1920240"/>
            <a:ext cx="324612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la famille et les voisins</a:t>
            </a:r>
            <a:endParaRPr lang="en-US" sz="1600" dirty="0"/>
          </a:p>
        </p:txBody>
      </p:sp>
      <p:sp>
        <p:nvSpPr>
          <p:cNvPr id="7" name="Shape 5"/>
          <p:cNvSpPr/>
          <p:nvPr/>
        </p:nvSpPr>
        <p:spPr>
          <a:xfrm>
            <a:off x="4343400" y="1920240"/>
            <a:ext cx="3520440" cy="868680"/>
          </a:xfrm>
          <a:prstGeom prst="roundRect">
            <a:avLst>
              <a:gd name="adj" fmla="val 9474"/>
            </a:avLst>
          </a:prstGeom>
          <a:solidFill>
            <a:srgbClr val="4A2D8C"/>
          </a:solidFill>
          <a:ln w="12700">
            <a:solidFill>
              <a:srgbClr val="4A2D8C"/>
            </a:solidFill>
            <a:prstDash val="solid"/>
          </a:ln>
        </p:spPr>
      </p:sp>
      <p:sp>
        <p:nvSpPr>
          <p:cNvPr id="8" name="Text 6"/>
          <p:cNvSpPr/>
          <p:nvPr/>
        </p:nvSpPr>
        <p:spPr>
          <a:xfrm>
            <a:off x="4480560" y="1920240"/>
            <a:ext cx="324612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les professionnels de santé</a:t>
            </a:r>
            <a:endParaRPr lang="en-US" sz="1600" dirty="0"/>
          </a:p>
        </p:txBody>
      </p:sp>
      <p:sp>
        <p:nvSpPr>
          <p:cNvPr id="9" name="Shape 7"/>
          <p:cNvSpPr/>
          <p:nvPr/>
        </p:nvSpPr>
        <p:spPr>
          <a:xfrm>
            <a:off x="8092440" y="1920240"/>
            <a:ext cx="3520440" cy="868680"/>
          </a:xfrm>
          <a:prstGeom prst="roundRect">
            <a:avLst>
              <a:gd name="adj" fmla="val 9474"/>
            </a:avLst>
          </a:prstGeom>
          <a:solidFill>
            <a:srgbClr val="0E7C6B"/>
          </a:solidFill>
          <a:ln w="12700">
            <a:solidFill>
              <a:srgbClr val="0E7C6B"/>
            </a:solidFill>
            <a:prstDash val="solid"/>
          </a:ln>
        </p:spPr>
      </p:sp>
      <p:sp>
        <p:nvSpPr>
          <p:cNvPr id="10" name="Text 8"/>
          <p:cNvSpPr/>
          <p:nvPr/>
        </p:nvSpPr>
        <p:spPr>
          <a:xfrm>
            <a:off x="8229600" y="1920240"/>
            <a:ext cx="324612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la personne elle-même : l’autostigmatisation</a:t>
            </a:r>
            <a:endParaRPr lang="en-US" sz="1600" dirty="0"/>
          </a:p>
        </p:txBody>
      </p:sp>
      <p:sp>
        <p:nvSpPr>
          <p:cNvPr id="11" name="Shape 9"/>
          <p:cNvSpPr/>
          <p:nvPr/>
        </p:nvSpPr>
        <p:spPr>
          <a:xfrm>
            <a:off x="594360" y="3017520"/>
            <a:ext cx="10972800" cy="1371600"/>
          </a:xfrm>
          <a:prstGeom prst="roundRect">
            <a:avLst>
              <a:gd name="adj" fmla="val 6000"/>
            </a:avLst>
          </a:prstGeom>
          <a:solidFill>
            <a:srgbClr val="11121A"/>
          </a:solidFill>
          <a:ln w="12700">
            <a:solidFill>
              <a:srgbClr val="11121A"/>
            </a:solidFill>
            <a:prstDash val="solid"/>
          </a:ln>
        </p:spPr>
      </p:sp>
      <p:sp>
        <p:nvSpPr>
          <p:cNvPr id="12" name="Text 10"/>
          <p:cNvSpPr/>
          <p:nvPr/>
        </p:nvSpPr>
        <p:spPr>
          <a:xfrm>
            <a:off x="868680" y="3017520"/>
            <a:ext cx="10424160" cy="13716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Beaucoup choisissent de souffrir sans aide plutôt que de risquer la discrimination et l’exclusion.</a:t>
            </a:r>
            <a:endParaRPr lang="en-US" sz="1900" dirty="0"/>
          </a:p>
        </p:txBody>
      </p:sp>
      <p:sp>
        <p:nvSpPr>
          <p:cNvPr id="13" name="Text 11"/>
          <p:cNvSpPr/>
          <p:nvPr/>
        </p:nvSpPr>
        <p:spPr>
          <a:xfrm>
            <a:off x="594360" y="4617720"/>
            <a:ext cx="10972800" cy="10972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stigmatisation empêche beaucoup de ceux qui pensent au suicide de demander de l’aide ; elle touche aussi ceux qui travaillent en santé mentale.</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rapport mondial sur la santé mentale, 2022 ; fiche « Suicide ».</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L’ÉCART DE TRAITEMENT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Qui n’accède pas aux soins</a:t>
            </a:r>
            <a:endParaRPr lang="en-US" sz="3400" dirty="0"/>
          </a:p>
        </p:txBody>
      </p:sp>
      <p:sp>
        <p:nvSpPr>
          <p:cNvPr id="4" name="Shape 2"/>
          <p:cNvSpPr/>
          <p:nvPr/>
        </p:nvSpPr>
        <p:spPr>
          <a:xfrm>
            <a:off x="594360" y="1600200"/>
            <a:ext cx="5349240" cy="1600200"/>
          </a:xfrm>
          <a:prstGeom prst="roundRect">
            <a:avLst>
              <a:gd name="adj" fmla="val 5143"/>
            </a:avLst>
          </a:prstGeom>
          <a:solidFill>
            <a:srgbClr val="1D1F2B"/>
          </a:solidFill>
          <a:ln w="12700">
            <a:solidFill>
              <a:srgbClr val="1D1F2B"/>
            </a:solidFill>
            <a:prstDash val="solid"/>
          </a:ln>
        </p:spPr>
      </p:sp>
      <p:sp>
        <p:nvSpPr>
          <p:cNvPr id="5" name="Text 3"/>
          <p:cNvSpPr/>
          <p:nvPr/>
        </p:nvSpPr>
        <p:spPr>
          <a:xfrm>
            <a:off x="868680" y="1709928"/>
            <a:ext cx="4800600" cy="800100"/>
          </a:xfrm>
          <a:prstGeom prst="rect">
            <a:avLst/>
          </a:prstGeom>
          <a:noFill/>
          <a:ln/>
        </p:spPr>
        <p:txBody>
          <a:bodyPr wrap="square" lIns="0" tIns="0" rIns="0" bIns="0" rtlCol="0" anchor="ctr"/>
          <a:lstStyle/>
          <a:p>
            <a:pPr indent="0" marL="0">
              <a:buNone/>
            </a:pPr>
            <a:r>
              <a:rPr lang="en-US" sz="4400" b="1" dirty="0">
                <a:solidFill>
                  <a:srgbClr val="FF4757"/>
                </a:solidFill>
                <a:latin typeface="Palatino Linotype" pitchFamily="34" charset="0"/>
                <a:ea typeface="Palatino Linotype" pitchFamily="34" charset="-122"/>
                <a:cs typeface="Palatino Linotype" pitchFamily="34" charset="-120"/>
              </a:rPr>
              <a:t>40 %</a:t>
            </a:r>
            <a:endParaRPr lang="en-US" sz="4400" dirty="0"/>
          </a:p>
        </p:txBody>
      </p:sp>
      <p:sp>
        <p:nvSpPr>
          <p:cNvPr id="6" name="Text 4"/>
          <p:cNvSpPr/>
          <p:nvPr/>
        </p:nvSpPr>
        <p:spPr>
          <a:xfrm>
            <a:off x="868680" y="2418588"/>
            <a:ext cx="4800600" cy="736092"/>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personnes atteintes de psychose reçoivent des soins formels</a:t>
            </a:r>
            <a:endParaRPr lang="en-US" sz="1200" dirty="0"/>
          </a:p>
        </p:txBody>
      </p:sp>
      <p:sp>
        <p:nvSpPr>
          <p:cNvPr id="7" name="Shape 5"/>
          <p:cNvSpPr/>
          <p:nvPr/>
        </p:nvSpPr>
        <p:spPr>
          <a:xfrm>
            <a:off x="6217920" y="1600200"/>
            <a:ext cx="5349240" cy="1600200"/>
          </a:xfrm>
          <a:prstGeom prst="roundRect">
            <a:avLst>
              <a:gd name="adj" fmla="val 5143"/>
            </a:avLst>
          </a:prstGeom>
          <a:solidFill>
            <a:srgbClr val="1D1F2B"/>
          </a:solidFill>
          <a:ln w="12700">
            <a:solidFill>
              <a:srgbClr val="1D1F2B"/>
            </a:solidFill>
            <a:prstDash val="solid"/>
          </a:ln>
        </p:spPr>
      </p:sp>
      <p:sp>
        <p:nvSpPr>
          <p:cNvPr id="8" name="Text 6"/>
          <p:cNvSpPr/>
          <p:nvPr/>
        </p:nvSpPr>
        <p:spPr>
          <a:xfrm>
            <a:off x="6492240" y="1709928"/>
            <a:ext cx="4800600" cy="800100"/>
          </a:xfrm>
          <a:prstGeom prst="rect">
            <a:avLst/>
          </a:prstGeom>
          <a:noFill/>
          <a:ln/>
        </p:spPr>
        <p:txBody>
          <a:bodyPr wrap="square" lIns="0" tIns="0" rIns="0" bIns="0" rtlCol="0" anchor="ctr"/>
          <a:lstStyle/>
          <a:p>
            <a:pPr indent="0" marL="0">
              <a:buNone/>
            </a:pPr>
            <a:r>
              <a:rPr lang="en-US" sz="4400" b="1" dirty="0">
                <a:solidFill>
                  <a:srgbClr val="FFC24B"/>
                </a:solidFill>
                <a:latin typeface="Palatino Linotype" pitchFamily="34" charset="0"/>
                <a:ea typeface="Palatino Linotype" pitchFamily="34" charset="-122"/>
                <a:cs typeface="Palatino Linotype" pitchFamily="34" charset="-120"/>
              </a:rPr>
              <a:t>un tiers</a:t>
            </a:r>
            <a:endParaRPr lang="en-US" sz="4400" dirty="0"/>
          </a:p>
        </p:txBody>
      </p:sp>
      <p:sp>
        <p:nvSpPr>
          <p:cNvPr id="9" name="Text 7"/>
          <p:cNvSpPr/>
          <p:nvPr/>
        </p:nvSpPr>
        <p:spPr>
          <a:xfrm>
            <a:off x="6492240" y="2418588"/>
            <a:ext cx="4800600" cy="736092"/>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personnes atteintes de dépression</a:t>
            </a:r>
            <a:endParaRPr lang="en-US" sz="1200" dirty="0"/>
          </a:p>
        </p:txBody>
      </p:sp>
      <p:sp>
        <p:nvSpPr>
          <p:cNvPr id="10" name="Shape 8"/>
          <p:cNvSpPr/>
          <p:nvPr/>
        </p:nvSpPr>
        <p:spPr>
          <a:xfrm>
            <a:off x="594360" y="3383280"/>
            <a:ext cx="5349240" cy="1463040"/>
          </a:xfrm>
          <a:prstGeom prst="roundRect">
            <a:avLst>
              <a:gd name="adj" fmla="val 5625"/>
            </a:avLst>
          </a:prstGeom>
          <a:solidFill>
            <a:srgbClr val="272A38"/>
          </a:solidFill>
          <a:ln w="12700">
            <a:solidFill>
              <a:srgbClr val="272A38"/>
            </a:solidFill>
            <a:prstDash val="solid"/>
          </a:ln>
        </p:spPr>
      </p:sp>
      <p:sp>
        <p:nvSpPr>
          <p:cNvPr id="11" name="Text 9"/>
          <p:cNvSpPr/>
          <p:nvPr/>
        </p:nvSpPr>
        <p:spPr>
          <a:xfrm>
            <a:off x="868680" y="3493008"/>
            <a:ext cx="4800600" cy="73152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moins de 2 %</a:t>
            </a:r>
            <a:endParaRPr lang="en-US" sz="3400" dirty="0"/>
          </a:p>
        </p:txBody>
      </p:sp>
      <p:sp>
        <p:nvSpPr>
          <p:cNvPr id="12" name="Text 10"/>
          <p:cNvSpPr/>
          <p:nvPr/>
        </p:nvSpPr>
        <p:spPr>
          <a:xfrm>
            <a:off x="868680" y="4133088"/>
            <a:ext cx="4800600" cy="6729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budgets de santé vont, en moyenne, à la santé mentale</a:t>
            </a:r>
            <a:endParaRPr lang="en-US" sz="1200" dirty="0"/>
          </a:p>
        </p:txBody>
      </p:sp>
      <p:sp>
        <p:nvSpPr>
          <p:cNvPr id="13" name="Shape 11"/>
          <p:cNvSpPr/>
          <p:nvPr/>
        </p:nvSpPr>
        <p:spPr>
          <a:xfrm>
            <a:off x="6217920" y="3383280"/>
            <a:ext cx="5349240" cy="1463040"/>
          </a:xfrm>
          <a:prstGeom prst="roundRect">
            <a:avLst>
              <a:gd name="adj" fmla="val 5625"/>
            </a:avLst>
          </a:prstGeom>
          <a:solidFill>
            <a:srgbClr val="272A38"/>
          </a:solidFill>
          <a:ln w="12700">
            <a:solidFill>
              <a:srgbClr val="272A38"/>
            </a:solidFill>
            <a:prstDash val="solid"/>
          </a:ln>
        </p:spPr>
      </p:sp>
      <p:sp>
        <p:nvSpPr>
          <p:cNvPr id="14" name="Text 12"/>
          <p:cNvSpPr/>
          <p:nvPr/>
        </p:nvSpPr>
        <p:spPr>
          <a:xfrm>
            <a:off x="6492240" y="3493008"/>
            <a:ext cx="4800600" cy="73152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plus de 70 %</a:t>
            </a:r>
            <a:endParaRPr lang="en-US" sz="3400" dirty="0"/>
          </a:p>
        </p:txBody>
      </p:sp>
      <p:sp>
        <p:nvSpPr>
          <p:cNvPr id="15" name="Text 13"/>
          <p:cNvSpPr/>
          <p:nvPr/>
        </p:nvSpPr>
        <p:spPr>
          <a:xfrm>
            <a:off x="6492240" y="4133088"/>
            <a:ext cx="4800600" cy="6729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dépenses de santé mentale, dans les pays à revenu intermédiaire : les hôpitaux psychiatriques</a:t>
            </a:r>
            <a:endParaRPr lang="en-US" sz="1200" dirty="0"/>
          </a:p>
        </p:txBody>
      </p:sp>
      <p:sp>
        <p:nvSpPr>
          <p:cNvPr id="16" name="Shape 14"/>
          <p:cNvSpPr/>
          <p:nvPr/>
        </p:nvSpPr>
        <p:spPr>
          <a:xfrm>
            <a:off x="594360" y="5029200"/>
            <a:ext cx="10972800" cy="868680"/>
          </a:xfrm>
          <a:prstGeom prst="roundRect">
            <a:avLst>
              <a:gd name="adj" fmla="val 9474"/>
            </a:avLst>
          </a:prstGeom>
          <a:solidFill>
            <a:srgbClr val="07564B"/>
          </a:solidFill>
          <a:ln w="12700">
            <a:solidFill>
              <a:srgbClr val="07564B"/>
            </a:solidFill>
            <a:prstDash val="solid"/>
          </a:ln>
        </p:spPr>
      </p:sp>
      <p:sp>
        <p:nvSpPr>
          <p:cNvPr id="17" name="Text 15"/>
          <p:cNvSpPr/>
          <p:nvPr/>
        </p:nvSpPr>
        <p:spPr>
          <a:xfrm>
            <a:off x="868680" y="5029200"/>
            <a:ext cx="10424160" cy="868680"/>
          </a:xfrm>
          <a:prstGeom prst="rect">
            <a:avLst/>
          </a:prstGeom>
          <a:noFill/>
          <a:ln/>
        </p:spPr>
        <p:txBody>
          <a:bodyPr wrap="square" lIns="0" tIns="0" rIns="0" bIns="0" rtlCol="0" anchor="ctr"/>
          <a:lstStyle/>
          <a:p>
            <a:pPr indent="0" marL="0">
              <a:buNone/>
            </a:pPr>
            <a:r>
              <a:rPr lang="en-US" sz="1650" b="1" dirty="0">
                <a:solidFill>
                  <a:srgbClr val="FFFFFF"/>
                </a:solidFill>
                <a:latin typeface="Palatino Linotype" pitchFamily="34" charset="0"/>
                <a:ea typeface="Palatino Linotype" pitchFamily="34" charset="-122"/>
                <a:cs typeface="Palatino Linotype" pitchFamily="34" charset="-120"/>
              </a:rPr>
              <a:t>Les services de proximité restent sous-financés ; la stigmatisation tient les gens à l’écart même là où les services existent.</a:t>
            </a:r>
            <a:endParaRPr lang="en-US" sz="165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fiche « Mental disorders » ; rapport mondial sur la santé mentale, 2022.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PLAN D’ACTION DE L’OMS, 2013–2030</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Quatre cibles pour 2030</a:t>
            </a:r>
            <a:endParaRPr lang="en-US" sz="3400" dirty="0"/>
          </a:p>
        </p:txBody>
      </p:sp>
      <p:sp>
        <p:nvSpPr>
          <p:cNvPr id="4" name="Shape 2"/>
          <p:cNvSpPr/>
          <p:nvPr/>
        </p:nvSpPr>
        <p:spPr>
          <a:xfrm>
            <a:off x="594360" y="1600200"/>
            <a:ext cx="5349240" cy="1691640"/>
          </a:xfrm>
          <a:prstGeom prst="roundRect">
            <a:avLst>
              <a:gd name="adj" fmla="val 4865"/>
            </a:avLst>
          </a:prstGeom>
          <a:solidFill>
            <a:srgbClr val="ECEAE4"/>
          </a:solidFill>
          <a:ln w="12700">
            <a:solidFill>
              <a:srgbClr val="ECEAE4"/>
            </a:solidFill>
            <a:prstDash val="solid"/>
          </a:ln>
        </p:spPr>
      </p:sp>
      <p:sp>
        <p:nvSpPr>
          <p:cNvPr id="5" name="Text 3"/>
          <p:cNvSpPr/>
          <p:nvPr/>
        </p:nvSpPr>
        <p:spPr>
          <a:xfrm>
            <a:off x="868680" y="1709928"/>
            <a:ext cx="4800600" cy="845820"/>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au moins la moitié</a:t>
            </a:r>
            <a:endParaRPr lang="en-US" sz="3400" dirty="0"/>
          </a:p>
        </p:txBody>
      </p:sp>
      <p:sp>
        <p:nvSpPr>
          <p:cNvPr id="6" name="Text 4"/>
          <p:cNvSpPr/>
          <p:nvPr/>
        </p:nvSpPr>
        <p:spPr>
          <a:xfrm>
            <a:off x="868680" y="2464308"/>
            <a:ext cx="4800600" cy="778154"/>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d’augmentation de la couverture des services pour les troubles mentaux</a:t>
            </a:r>
            <a:endParaRPr lang="en-US" sz="1200" dirty="0"/>
          </a:p>
        </p:txBody>
      </p:sp>
      <p:sp>
        <p:nvSpPr>
          <p:cNvPr id="7" name="Shape 5"/>
          <p:cNvSpPr/>
          <p:nvPr/>
        </p:nvSpPr>
        <p:spPr>
          <a:xfrm>
            <a:off x="6217920" y="1600200"/>
            <a:ext cx="5349240" cy="1691640"/>
          </a:xfrm>
          <a:prstGeom prst="roundRect">
            <a:avLst>
              <a:gd name="adj" fmla="val 4865"/>
            </a:avLst>
          </a:prstGeom>
          <a:solidFill>
            <a:srgbClr val="ECEAE4"/>
          </a:solidFill>
          <a:ln w="12700">
            <a:solidFill>
              <a:srgbClr val="ECEAE4"/>
            </a:solidFill>
            <a:prstDash val="solid"/>
          </a:ln>
        </p:spPr>
      </p:sp>
      <p:sp>
        <p:nvSpPr>
          <p:cNvPr id="8" name="Text 6"/>
          <p:cNvSpPr/>
          <p:nvPr/>
        </p:nvSpPr>
        <p:spPr>
          <a:xfrm>
            <a:off x="6492240" y="1709928"/>
            <a:ext cx="4800600" cy="84582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80 %</a:t>
            </a:r>
            <a:endParaRPr lang="en-US" sz="3400" dirty="0"/>
          </a:p>
        </p:txBody>
      </p:sp>
      <p:sp>
        <p:nvSpPr>
          <p:cNvPr id="9" name="Text 7"/>
          <p:cNvSpPr/>
          <p:nvPr/>
        </p:nvSpPr>
        <p:spPr>
          <a:xfrm>
            <a:off x="6492240" y="2464308"/>
            <a:ext cx="4800600" cy="778154"/>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des pays : doublement des services de santé mentale de proximité</a:t>
            </a:r>
            <a:endParaRPr lang="en-US" sz="1200" dirty="0"/>
          </a:p>
        </p:txBody>
      </p:sp>
      <p:sp>
        <p:nvSpPr>
          <p:cNvPr id="10" name="Shape 8"/>
          <p:cNvSpPr/>
          <p:nvPr/>
        </p:nvSpPr>
        <p:spPr>
          <a:xfrm>
            <a:off x="594360" y="3474720"/>
            <a:ext cx="5349240" cy="1691640"/>
          </a:xfrm>
          <a:prstGeom prst="roundRect">
            <a:avLst>
              <a:gd name="adj" fmla="val 4865"/>
            </a:avLst>
          </a:prstGeom>
          <a:solidFill>
            <a:srgbClr val="ECEAE4"/>
          </a:solidFill>
          <a:ln w="12700">
            <a:solidFill>
              <a:srgbClr val="ECEAE4"/>
            </a:solidFill>
            <a:prstDash val="solid"/>
          </a:ln>
        </p:spPr>
      </p:sp>
      <p:sp>
        <p:nvSpPr>
          <p:cNvPr id="11" name="Text 9"/>
          <p:cNvSpPr/>
          <p:nvPr/>
        </p:nvSpPr>
        <p:spPr>
          <a:xfrm>
            <a:off x="868680" y="3584448"/>
            <a:ext cx="4800600" cy="845820"/>
          </a:xfrm>
          <a:prstGeom prst="rect">
            <a:avLst/>
          </a:prstGeom>
          <a:noFill/>
          <a:ln/>
        </p:spPr>
        <p:txBody>
          <a:bodyPr wrap="square" lIns="0" tIns="0" rIns="0" bIns="0" rtlCol="0" anchor="ctr"/>
          <a:lstStyle/>
          <a:p>
            <a:pPr indent="0" marL="0">
              <a:buNone/>
            </a:pPr>
            <a:r>
              <a:rPr lang="en-US" sz="3400" b="1" dirty="0">
                <a:solidFill>
                  <a:srgbClr val="4A2D8C"/>
                </a:solidFill>
                <a:latin typeface="Palatino Linotype" pitchFamily="34" charset="0"/>
                <a:ea typeface="Palatino Linotype" pitchFamily="34" charset="-122"/>
                <a:cs typeface="Palatino Linotype" pitchFamily="34" charset="-120"/>
              </a:rPr>
              <a:t>80 %</a:t>
            </a:r>
            <a:endParaRPr lang="en-US" sz="3400" dirty="0"/>
          </a:p>
        </p:txBody>
      </p:sp>
      <p:sp>
        <p:nvSpPr>
          <p:cNvPr id="12" name="Text 10"/>
          <p:cNvSpPr/>
          <p:nvPr/>
        </p:nvSpPr>
        <p:spPr>
          <a:xfrm>
            <a:off x="868680" y="4338828"/>
            <a:ext cx="4800600" cy="778154"/>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des pays : santé mentale intégrée aux soins de santé primaires</a:t>
            </a:r>
            <a:endParaRPr lang="en-US" sz="1200" dirty="0"/>
          </a:p>
        </p:txBody>
      </p:sp>
      <p:sp>
        <p:nvSpPr>
          <p:cNvPr id="13" name="Shape 11"/>
          <p:cNvSpPr/>
          <p:nvPr/>
        </p:nvSpPr>
        <p:spPr>
          <a:xfrm>
            <a:off x="6217920" y="3474720"/>
            <a:ext cx="5349240" cy="1691640"/>
          </a:xfrm>
          <a:prstGeom prst="roundRect">
            <a:avLst>
              <a:gd name="adj" fmla="val 4865"/>
            </a:avLst>
          </a:prstGeom>
          <a:solidFill>
            <a:srgbClr val="ECEAE4"/>
          </a:solidFill>
          <a:ln w="12700">
            <a:solidFill>
              <a:srgbClr val="ECEAE4"/>
            </a:solidFill>
            <a:prstDash val="solid"/>
          </a:ln>
        </p:spPr>
      </p:sp>
      <p:sp>
        <p:nvSpPr>
          <p:cNvPr id="14" name="Text 12"/>
          <p:cNvSpPr/>
          <p:nvPr/>
        </p:nvSpPr>
        <p:spPr>
          <a:xfrm>
            <a:off x="6492240" y="3584448"/>
            <a:ext cx="4800600" cy="845820"/>
          </a:xfrm>
          <a:prstGeom prst="rect">
            <a:avLst/>
          </a:prstGeom>
          <a:noFill/>
          <a:ln/>
        </p:spPr>
        <p:txBody>
          <a:bodyPr wrap="square" lIns="0" tIns="0" rIns="0" bIns="0" rtlCol="0" anchor="ctr"/>
          <a:lstStyle/>
          <a:p>
            <a:pPr indent="0" marL="0">
              <a:buNone/>
            </a:pPr>
            <a:r>
              <a:rPr lang="en-US" sz="3400" b="1" dirty="0">
                <a:solidFill>
                  <a:srgbClr val="9C4A0A"/>
                </a:solidFill>
                <a:latin typeface="Palatino Linotype" pitchFamily="34" charset="0"/>
                <a:ea typeface="Palatino Linotype" pitchFamily="34" charset="-122"/>
                <a:cs typeface="Palatino Linotype" pitchFamily="34" charset="-120"/>
              </a:rPr>
              <a:t>un tiers</a:t>
            </a:r>
            <a:endParaRPr lang="en-US" sz="3400" dirty="0"/>
          </a:p>
        </p:txBody>
      </p:sp>
      <p:sp>
        <p:nvSpPr>
          <p:cNvPr id="15" name="Text 13"/>
          <p:cNvSpPr/>
          <p:nvPr/>
        </p:nvSpPr>
        <p:spPr>
          <a:xfrm>
            <a:off x="6492240" y="4338828"/>
            <a:ext cx="4800600" cy="778154"/>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réduction du taux de suicide</a:t>
            </a:r>
            <a:endParaRPr lang="en-US" sz="1200" dirty="0"/>
          </a:p>
        </p:txBody>
      </p:sp>
      <p:sp>
        <p:nvSpPr>
          <p:cNvPr id="16" name="Text 14"/>
          <p:cNvSpPr/>
          <p:nvPr/>
        </p:nvSpPr>
        <p:spPr>
          <a:xfrm>
            <a:off x="594360" y="5440680"/>
            <a:ext cx="10972800" cy="41148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Approuvé par la 74e Assemblée mondiale de la Santé.</a:t>
            </a:r>
            <a:endParaRPr lang="en-US" sz="15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Plan d’action global pour la santé mentale 2013–2030.</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 ORIENTATIONS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De l’hôpital vers la communauté et le cabinet</a:t>
            </a:r>
            <a:endParaRPr lang="en-US" sz="3200" dirty="0"/>
          </a:p>
        </p:txBody>
      </p:sp>
      <p:sp>
        <p:nvSpPr>
          <p:cNvPr id="4" name="Shape 2"/>
          <p:cNvSpPr/>
          <p:nvPr/>
        </p:nvSpPr>
        <p:spPr>
          <a:xfrm>
            <a:off x="594360" y="1600200"/>
            <a:ext cx="5372100" cy="2651760"/>
          </a:xfrm>
          <a:prstGeom prst="roundRect">
            <a:avLst>
              <a:gd name="adj" fmla="val 3103"/>
            </a:avLst>
          </a:prstGeom>
          <a:solidFill>
            <a:srgbClr val="1D1F2B"/>
          </a:solidFill>
          <a:ln w="12700">
            <a:solidFill>
              <a:srgbClr val="1D1F2B"/>
            </a:solidFill>
            <a:prstDash val="solid"/>
          </a:ln>
        </p:spPr>
      </p:sp>
      <p:sp>
        <p:nvSpPr>
          <p:cNvPr id="5" name="Text 3"/>
          <p:cNvSpPr/>
          <p:nvPr/>
        </p:nvSpPr>
        <p:spPr>
          <a:xfrm>
            <a:off x="795528" y="1728216"/>
            <a:ext cx="4969764" cy="384048"/>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LA DÉSINSTITUTIONNALISATION</a:t>
            </a:r>
            <a:endParaRPr lang="en-US" sz="1300" dirty="0"/>
          </a:p>
        </p:txBody>
      </p:sp>
      <p:sp>
        <p:nvSpPr>
          <p:cNvPr id="6" name="Text 4"/>
          <p:cNvSpPr/>
          <p:nvPr/>
        </p:nvSpPr>
        <p:spPr>
          <a:xfrm>
            <a:off x="795528" y="2112264"/>
            <a:ext cx="4969764" cy="20116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États transfèrent les soins des hôpitaux psychiatriques de long séjour vers des services non spécialisés.</a:t>
            </a:r>
            <a:endParaRPr lang="en-US" sz="1800" dirty="0"/>
          </a:p>
        </p:txBody>
      </p:sp>
      <p:sp>
        <p:nvSpPr>
          <p:cNvPr id="7" name="Shape 5"/>
          <p:cNvSpPr/>
          <p:nvPr/>
        </p:nvSpPr>
        <p:spPr>
          <a:xfrm>
            <a:off x="6195060" y="1600200"/>
            <a:ext cx="5372100" cy="2651760"/>
          </a:xfrm>
          <a:prstGeom prst="roundRect">
            <a:avLst>
              <a:gd name="adj" fmla="val 3103"/>
            </a:avLst>
          </a:prstGeom>
          <a:solidFill>
            <a:srgbClr val="1D1F2B"/>
          </a:solidFill>
          <a:ln w="12700">
            <a:solidFill>
              <a:srgbClr val="1D1F2B"/>
            </a:solidFill>
            <a:prstDash val="solid"/>
          </a:ln>
        </p:spPr>
      </p:sp>
      <p:sp>
        <p:nvSpPr>
          <p:cNvPr id="8" name="Text 6"/>
          <p:cNvSpPr/>
          <p:nvPr/>
        </p:nvSpPr>
        <p:spPr>
          <a:xfrm>
            <a:off x="6396228" y="1728216"/>
            <a:ext cx="4969764" cy="384048"/>
          </a:xfrm>
          <a:prstGeom prst="rect">
            <a:avLst/>
          </a:prstGeom>
          <a:noFill/>
          <a:ln/>
        </p:spPr>
        <p:txBody>
          <a:bodyPr wrap="square" lIns="0" tIns="0" rIns="0" bIns="0" rtlCol="0" anchor="t"/>
          <a:lstStyle/>
          <a:p>
            <a:pPr indent="0" marL="0">
              <a:buNone/>
            </a:pPr>
            <a:r>
              <a:rPr lang="en-US" sz="1300" b="1" spc="100" kern="0" dirty="0">
                <a:solidFill>
                  <a:srgbClr val="27D3BE"/>
                </a:solidFill>
                <a:latin typeface="Palatino Linotype" pitchFamily="34" charset="0"/>
                <a:ea typeface="Palatino Linotype" pitchFamily="34" charset="-122"/>
                <a:cs typeface="Palatino Linotype" pitchFamily="34" charset="-120"/>
              </a:rPr>
              <a:t>L’INTÉGRATION DANS LES SOINS PRIMAIRES</a:t>
            </a:r>
            <a:endParaRPr lang="en-US" sz="1300" dirty="0"/>
          </a:p>
        </p:txBody>
      </p:sp>
      <p:sp>
        <p:nvSpPr>
          <p:cNvPr id="9" name="Text 7"/>
          <p:cNvSpPr/>
          <p:nvPr/>
        </p:nvSpPr>
        <p:spPr>
          <a:xfrm>
            <a:off x="6396228" y="2112264"/>
            <a:ext cx="4969764" cy="20116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partage des tâches avec les soins de santé primaires réduit l’écart de traitement et accroît la couverture.</a:t>
            </a:r>
            <a:endParaRPr lang="en-US" sz="1800" dirty="0"/>
          </a:p>
        </p:txBody>
      </p:sp>
      <p:sp>
        <p:nvSpPr>
          <p:cNvPr id="10" name="Shape 8"/>
          <p:cNvSpPr/>
          <p:nvPr/>
        </p:nvSpPr>
        <p:spPr>
          <a:xfrm>
            <a:off x="594360" y="4480560"/>
            <a:ext cx="10972800" cy="1234440"/>
          </a:xfrm>
          <a:prstGeom prst="roundRect">
            <a:avLst>
              <a:gd name="adj" fmla="val 6667"/>
            </a:avLst>
          </a:prstGeom>
          <a:solidFill>
            <a:srgbClr val="07564B"/>
          </a:solidFill>
          <a:ln w="12700">
            <a:solidFill>
              <a:srgbClr val="07564B"/>
            </a:solidFill>
            <a:prstDash val="solid"/>
          </a:ln>
        </p:spPr>
      </p:sp>
      <p:sp>
        <p:nvSpPr>
          <p:cNvPr id="11" name="Text 9"/>
          <p:cNvSpPr/>
          <p:nvPr/>
        </p:nvSpPr>
        <p:spPr>
          <a:xfrm>
            <a:off x="868680" y="4480560"/>
            <a:ext cx="10424160" cy="123444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 premier qui peut reconnaître la dépression de M. Vasile : le médecin de famille qui lui a remis le kit.</a:t>
            </a:r>
            <a:endParaRPr lang="en-US" sz="19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plan d’action 2013–2030 ; rapport mondial sur la santé mentale, 2022.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RISQUE SUICIDAIRE · mhGAP</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Une question directe</a:t>
            </a:r>
            <a:endParaRPr lang="en-US" sz="3400" dirty="0"/>
          </a:p>
        </p:txBody>
      </p:sp>
      <p:sp>
        <p:nvSpPr>
          <p:cNvPr id="4" name="Text 2"/>
          <p:cNvSpPr/>
          <p:nvPr/>
        </p:nvSpPr>
        <p:spPr>
          <a:xfrm>
            <a:off x="594360" y="1508760"/>
            <a:ext cx="10972800" cy="50292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 Ça ne sert plus à rien » : posez directement la question des idées suicidaires.</a:t>
            </a:r>
            <a:endParaRPr lang="en-US" sz="1900" dirty="0"/>
          </a:p>
        </p:txBody>
      </p:sp>
      <p:sp>
        <p:nvSpPr>
          <p:cNvPr id="5" name="Shape 3"/>
          <p:cNvSpPr/>
          <p:nvPr/>
        </p:nvSpPr>
        <p:spPr>
          <a:xfrm>
            <a:off x="594360" y="2148840"/>
            <a:ext cx="5120640" cy="3611880"/>
          </a:xfrm>
          <a:prstGeom prst="roundRect">
            <a:avLst>
              <a:gd name="adj" fmla="val 2278"/>
            </a:avLst>
          </a:prstGeom>
          <a:solidFill>
            <a:srgbClr val="ECEAE4"/>
          </a:solidFill>
          <a:ln w="12700">
            <a:solidFill>
              <a:srgbClr val="ECEAE4"/>
            </a:solidFill>
            <a:prstDash val="solid"/>
          </a:ln>
        </p:spPr>
      </p:sp>
      <p:sp>
        <p:nvSpPr>
          <p:cNvPr id="6" name="Text 4"/>
          <p:cNvSpPr/>
          <p:nvPr/>
        </p:nvSpPr>
        <p:spPr>
          <a:xfrm>
            <a:off x="822960" y="2258568"/>
            <a:ext cx="4663440" cy="36576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L’ÉVALUATION</a:t>
            </a:r>
            <a:endParaRPr lang="en-US" sz="1250" dirty="0"/>
          </a:p>
        </p:txBody>
      </p:sp>
      <p:sp>
        <p:nvSpPr>
          <p:cNvPr id="7" name="Text 5"/>
          <p:cNvSpPr/>
          <p:nvPr/>
        </p:nvSpPr>
        <p:spPr>
          <a:xfrm>
            <a:off x="822960" y="2670048"/>
            <a:ext cx="4663440" cy="30175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Chez toute personne avec un manque d’espoir extrême ou un trouble prioritaire (par exemple, la dépression) : les pensées, les projets, les actes d’automutilation. La question ne provoque pas l’automutilation.</a:t>
            </a:r>
            <a:endParaRPr lang="en-US" sz="1700" dirty="0"/>
          </a:p>
        </p:txBody>
      </p:sp>
      <p:sp>
        <p:nvSpPr>
          <p:cNvPr id="8" name="Shape 6"/>
          <p:cNvSpPr/>
          <p:nvPr/>
        </p:nvSpPr>
        <p:spPr>
          <a:xfrm>
            <a:off x="5943600" y="2148840"/>
            <a:ext cx="5623560" cy="3611880"/>
          </a:xfrm>
          <a:prstGeom prst="roundRect">
            <a:avLst>
              <a:gd name="adj" fmla="val 2278"/>
            </a:avLst>
          </a:prstGeom>
          <a:solidFill>
            <a:srgbClr val="11121A"/>
          </a:solidFill>
          <a:ln w="12700">
            <a:solidFill>
              <a:srgbClr val="11121A"/>
            </a:solidFill>
            <a:prstDash val="solid"/>
          </a:ln>
        </p:spPr>
      </p:sp>
      <p:sp>
        <p:nvSpPr>
          <p:cNvPr id="9" name="Text 7"/>
          <p:cNvSpPr/>
          <p:nvPr/>
        </p:nvSpPr>
        <p:spPr>
          <a:xfrm>
            <a:off x="6172200" y="2258568"/>
            <a:ext cx="5120640" cy="36576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SI LE RISQUE EST IMMINENT</a:t>
            </a:r>
            <a:endParaRPr lang="en-US" sz="1250" dirty="0"/>
          </a:p>
        </p:txBody>
      </p:sp>
      <p:sp>
        <p:nvSpPr>
          <p:cNvPr id="10" name="Shape 8"/>
          <p:cNvSpPr/>
          <p:nvPr/>
        </p:nvSpPr>
        <p:spPr>
          <a:xfrm>
            <a:off x="6217920" y="2852928"/>
            <a:ext cx="137160" cy="137160"/>
          </a:xfrm>
          <a:prstGeom prst="ellipse">
            <a:avLst/>
          </a:prstGeom>
          <a:solidFill>
            <a:srgbClr val="FFC24B"/>
          </a:solidFill>
          <a:ln/>
        </p:spPr>
      </p:sp>
      <p:sp>
        <p:nvSpPr>
          <p:cNvPr id="11" name="Text 9"/>
          <p:cNvSpPr/>
          <p:nvPr/>
        </p:nvSpPr>
        <p:spPr>
          <a:xfrm>
            <a:off x="6492240" y="2697480"/>
            <a:ext cx="4892040" cy="65836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éloigner les moyens d’automutilation</a:t>
            </a:r>
            <a:endParaRPr lang="en-US" sz="1600" dirty="0"/>
          </a:p>
        </p:txBody>
      </p:sp>
      <p:sp>
        <p:nvSpPr>
          <p:cNvPr id="12" name="Shape 10"/>
          <p:cNvSpPr/>
          <p:nvPr/>
        </p:nvSpPr>
        <p:spPr>
          <a:xfrm>
            <a:off x="6217920" y="3566160"/>
            <a:ext cx="137160" cy="137160"/>
          </a:xfrm>
          <a:prstGeom prst="ellipse">
            <a:avLst/>
          </a:prstGeom>
          <a:solidFill>
            <a:srgbClr val="FFC24B"/>
          </a:solidFill>
          <a:ln/>
        </p:spPr>
      </p:sp>
      <p:sp>
        <p:nvSpPr>
          <p:cNvPr id="13" name="Text 11"/>
          <p:cNvSpPr/>
          <p:nvPr/>
        </p:nvSpPr>
        <p:spPr>
          <a:xfrm>
            <a:off x="6492240" y="3410712"/>
            <a:ext cx="4892040" cy="65836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environnement sûr : la personne n’est pas laissée seule, elle est surveillée</a:t>
            </a:r>
            <a:endParaRPr lang="en-US" sz="1600" dirty="0"/>
          </a:p>
        </p:txBody>
      </p:sp>
      <p:sp>
        <p:nvSpPr>
          <p:cNvPr id="14" name="Shape 12"/>
          <p:cNvSpPr/>
          <p:nvPr/>
        </p:nvSpPr>
        <p:spPr>
          <a:xfrm>
            <a:off x="6217920" y="4279392"/>
            <a:ext cx="137160" cy="137160"/>
          </a:xfrm>
          <a:prstGeom prst="ellipse">
            <a:avLst/>
          </a:prstGeom>
          <a:solidFill>
            <a:srgbClr val="FFC24B"/>
          </a:solidFill>
          <a:ln/>
        </p:spPr>
      </p:sp>
      <p:sp>
        <p:nvSpPr>
          <p:cNvPr id="15" name="Text 13"/>
          <p:cNvSpPr/>
          <p:nvPr/>
        </p:nvSpPr>
        <p:spPr>
          <a:xfrm>
            <a:off x="6492240" y="4123944"/>
            <a:ext cx="4892040" cy="65836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consulter un spécialiste de santé mentale, là où il en existe</a:t>
            </a:r>
            <a:endParaRPr lang="en-US" sz="1600" dirty="0"/>
          </a:p>
        </p:txBody>
      </p:sp>
      <p:sp>
        <p:nvSpPr>
          <p:cNvPr id="16" name="Shape 14"/>
          <p:cNvSpPr/>
          <p:nvPr/>
        </p:nvSpPr>
        <p:spPr>
          <a:xfrm>
            <a:off x="6217920" y="4992624"/>
            <a:ext cx="137160" cy="137160"/>
          </a:xfrm>
          <a:prstGeom prst="ellipse">
            <a:avLst/>
          </a:prstGeom>
          <a:solidFill>
            <a:srgbClr val="FFC24B"/>
          </a:solidFill>
          <a:ln/>
        </p:spPr>
      </p:sp>
      <p:sp>
        <p:nvSpPr>
          <p:cNvPr id="17" name="Text 15"/>
          <p:cNvSpPr/>
          <p:nvPr/>
        </p:nvSpPr>
        <p:spPr>
          <a:xfrm>
            <a:off x="6492240" y="4837176"/>
            <a:ext cx="4892040" cy="65836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maintenir le contact et le suivi</a:t>
            </a:r>
            <a:endParaRPr lang="en-US" sz="16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guide d’intervention mhGAP (la conduite détaillée : dans le guide).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FILM · 10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VISIONNAGE GUIDÉ</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 I had a black dog »</a:t>
            </a:r>
            <a:endParaRPr lang="en-US" sz="3400" dirty="0"/>
          </a:p>
        </p:txBody>
      </p:sp>
      <p:sp>
        <p:nvSpPr>
          <p:cNvPr id="6" name="Text 4"/>
          <p:cNvSpPr/>
          <p:nvPr/>
        </p:nvSpPr>
        <p:spPr>
          <a:xfrm>
            <a:off x="594360" y="1691640"/>
            <a:ext cx="10972800" cy="548640"/>
          </a:xfrm>
          <a:prstGeom prst="rect">
            <a:avLst/>
          </a:prstGeom>
          <a:noFill/>
          <a:ln/>
        </p:spPr>
        <p:txBody>
          <a:bodyPr wrap="square" lIns="0" tIns="0" rIns="0" bIns="0" rtlCol="0" anchor="t"/>
          <a:lstStyle/>
          <a:p>
            <a:pPr indent="0" marL="0">
              <a:buNone/>
            </a:pPr>
            <a:r>
              <a:rPr lang="en-US" sz="2000" dirty="0">
                <a:solidFill>
                  <a:srgbClr val="D5D8E2"/>
                </a:solidFill>
                <a:latin typeface="Palatino Linotype" pitchFamily="34" charset="0"/>
                <a:ea typeface="Palatino Linotype" pitchFamily="34" charset="-122"/>
                <a:cs typeface="Palatino Linotype" pitchFamily="34" charset="-120"/>
              </a:rPr>
              <a:t>Le film, puis une réflexion individuelle, par écrit :</a:t>
            </a:r>
            <a:endParaRPr lang="en-US" sz="2000" dirty="0"/>
          </a:p>
        </p:txBody>
      </p:sp>
      <p:sp>
        <p:nvSpPr>
          <p:cNvPr id="7" name="Shape 5"/>
          <p:cNvSpPr/>
          <p:nvPr/>
        </p:nvSpPr>
        <p:spPr>
          <a:xfrm>
            <a:off x="594360" y="2423160"/>
            <a:ext cx="10972800" cy="914400"/>
          </a:xfrm>
          <a:prstGeom prst="roundRect">
            <a:avLst>
              <a:gd name="adj" fmla="val 9000"/>
            </a:avLst>
          </a:prstGeom>
          <a:solidFill>
            <a:srgbClr val="1D1F2B"/>
          </a:solidFill>
          <a:ln w="12700">
            <a:solidFill>
              <a:srgbClr val="1D1F2B"/>
            </a:solidFill>
            <a:prstDash val="solid"/>
          </a:ln>
        </p:spPr>
      </p:sp>
      <p:sp>
        <p:nvSpPr>
          <p:cNvPr id="8" name="Shape 6"/>
          <p:cNvSpPr/>
          <p:nvPr/>
        </p:nvSpPr>
        <p:spPr>
          <a:xfrm>
            <a:off x="868680" y="2670048"/>
            <a:ext cx="420624" cy="420624"/>
          </a:xfrm>
          <a:prstGeom prst="ellipse">
            <a:avLst/>
          </a:prstGeom>
          <a:solidFill>
            <a:srgbClr val="27D3BE"/>
          </a:solidFill>
          <a:ln/>
        </p:spPr>
      </p:sp>
      <p:sp>
        <p:nvSpPr>
          <p:cNvPr id="9" name="Text 7"/>
          <p:cNvSpPr/>
          <p:nvPr/>
        </p:nvSpPr>
        <p:spPr>
          <a:xfrm>
            <a:off x="868680" y="267004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423160"/>
            <a:ext cx="9829800" cy="91440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Qu’avez-vous reconnu chez les patients vus en stage ?</a:t>
            </a:r>
            <a:endParaRPr lang="en-US" sz="2000" dirty="0"/>
          </a:p>
        </p:txBody>
      </p:sp>
      <p:sp>
        <p:nvSpPr>
          <p:cNvPr id="11" name="Shape 9"/>
          <p:cNvSpPr/>
          <p:nvPr/>
        </p:nvSpPr>
        <p:spPr>
          <a:xfrm>
            <a:off x="594360" y="3474720"/>
            <a:ext cx="10972800" cy="914400"/>
          </a:xfrm>
          <a:prstGeom prst="roundRect">
            <a:avLst>
              <a:gd name="adj" fmla="val 9000"/>
            </a:avLst>
          </a:prstGeom>
          <a:solidFill>
            <a:srgbClr val="1D1F2B"/>
          </a:solidFill>
          <a:ln w="12700">
            <a:solidFill>
              <a:srgbClr val="1D1F2B"/>
            </a:solidFill>
            <a:prstDash val="solid"/>
          </a:ln>
        </p:spPr>
      </p:sp>
      <p:sp>
        <p:nvSpPr>
          <p:cNvPr id="12" name="Shape 10"/>
          <p:cNvSpPr/>
          <p:nvPr/>
        </p:nvSpPr>
        <p:spPr>
          <a:xfrm>
            <a:off x="868680" y="3721608"/>
            <a:ext cx="420624" cy="420624"/>
          </a:xfrm>
          <a:prstGeom prst="ellipse">
            <a:avLst/>
          </a:prstGeom>
          <a:solidFill>
            <a:srgbClr val="27D3BE"/>
          </a:solidFill>
          <a:ln/>
        </p:spPr>
      </p:sp>
      <p:sp>
        <p:nvSpPr>
          <p:cNvPr id="13" name="Text 11"/>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3474720"/>
            <a:ext cx="9829800" cy="91440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aurait pu amener le personnage à demander de l’aide plus tôt ?</a:t>
            </a:r>
            <a:endParaRPr lang="en-US" sz="2000" dirty="0"/>
          </a:p>
        </p:txBody>
      </p:sp>
      <p:sp>
        <p:nvSpPr>
          <p:cNvPr id="15" name="Shape 13"/>
          <p:cNvSpPr/>
          <p:nvPr/>
        </p:nvSpPr>
        <p:spPr>
          <a:xfrm>
            <a:off x="594360" y="4526280"/>
            <a:ext cx="10972800" cy="914400"/>
          </a:xfrm>
          <a:prstGeom prst="roundRect">
            <a:avLst>
              <a:gd name="adj" fmla="val 9000"/>
            </a:avLst>
          </a:prstGeom>
          <a:solidFill>
            <a:srgbClr val="1D1F2B"/>
          </a:solidFill>
          <a:ln w="12700">
            <a:solidFill>
              <a:srgbClr val="1D1F2B"/>
            </a:solidFill>
            <a:prstDash val="solid"/>
          </a:ln>
        </p:spPr>
      </p:sp>
      <p:sp>
        <p:nvSpPr>
          <p:cNvPr id="16" name="Shape 14"/>
          <p:cNvSpPr/>
          <p:nvPr/>
        </p:nvSpPr>
        <p:spPr>
          <a:xfrm>
            <a:off x="868680" y="4773168"/>
            <a:ext cx="420624" cy="420624"/>
          </a:xfrm>
          <a:prstGeom prst="ellipse">
            <a:avLst/>
          </a:prstGeom>
          <a:solidFill>
            <a:srgbClr val="27D3BE"/>
          </a:solidFill>
          <a:ln/>
        </p:spPr>
      </p:sp>
      <p:sp>
        <p:nvSpPr>
          <p:cNvPr id="17" name="Text 15"/>
          <p:cNvSpPr/>
          <p:nvPr/>
        </p:nvSpPr>
        <p:spPr>
          <a:xfrm>
            <a:off x="868680" y="477316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508760" y="4526280"/>
            <a:ext cx="9829800" cy="91440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 pourrait faire le médecin de famille lors de la première consultation ?</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a:t>
            </a:r>
            <a:endParaRPr lang="en-US" sz="1300" dirty="0"/>
          </a:p>
        </p:txBody>
      </p:sp>
      <p:sp>
        <p:nvSpPr>
          <p:cNvPr id="4" name="Text 2"/>
          <p:cNvSpPr/>
          <p:nvPr/>
        </p:nvSpPr>
        <p:spPr>
          <a:xfrm>
            <a:off x="594360" y="347472"/>
            <a:ext cx="749808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CONSULTATION DE QUINZE MINUTES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Que faites-vous d’abord ?</a:t>
            </a:r>
            <a:endParaRPr lang="en-US" sz="3400" dirty="0"/>
          </a:p>
        </p:txBody>
      </p:sp>
      <p:sp>
        <p:nvSpPr>
          <p:cNvPr id="6" name="Text 4"/>
          <p:cNvSpPr/>
          <p:nvPr/>
        </p:nvSpPr>
        <p:spPr>
          <a:xfrm>
            <a:off x="594360" y="1645920"/>
            <a:ext cx="10972800" cy="50292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Vous êtes le médecin de famille de M. Vasile.</a:t>
            </a:r>
            <a:endParaRPr lang="en-US" sz="2100" dirty="0"/>
          </a:p>
        </p:txBody>
      </p:sp>
      <p:sp>
        <p:nvSpPr>
          <p:cNvPr id="7" name="Shape 5"/>
          <p:cNvSpPr/>
          <p:nvPr/>
        </p:nvSpPr>
        <p:spPr>
          <a:xfrm>
            <a:off x="594360" y="2286000"/>
            <a:ext cx="10972800" cy="649224"/>
          </a:xfrm>
          <a:prstGeom prst="roundRect">
            <a:avLst>
              <a:gd name="adj" fmla="val 12676"/>
            </a:avLst>
          </a:prstGeom>
          <a:solidFill>
            <a:srgbClr val="1D1F2B"/>
          </a:solidFill>
          <a:ln w="12700">
            <a:solidFill>
              <a:srgbClr val="1D1F2B"/>
            </a:solidFill>
            <a:prstDash val="solid"/>
          </a:ln>
        </p:spPr>
      </p:sp>
      <p:sp>
        <p:nvSpPr>
          <p:cNvPr id="8" name="Shape 6"/>
          <p:cNvSpPr/>
          <p:nvPr/>
        </p:nvSpPr>
        <p:spPr>
          <a:xfrm>
            <a:off x="777240" y="2400300"/>
            <a:ext cx="420624" cy="420624"/>
          </a:xfrm>
          <a:prstGeom prst="ellipse">
            <a:avLst/>
          </a:prstGeom>
          <a:solidFill>
            <a:srgbClr val="FFC24B"/>
          </a:solidFill>
          <a:ln/>
        </p:spPr>
      </p:sp>
      <p:sp>
        <p:nvSpPr>
          <p:cNvPr id="9" name="Text 7"/>
          <p:cNvSpPr/>
          <p:nvPr/>
        </p:nvSpPr>
        <p:spPr>
          <a:xfrm>
            <a:off x="777240" y="24003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371600" y="2286000"/>
            <a:ext cx="10058400" cy="649224"/>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Vous parlez du test dans le tiroir</a:t>
            </a:r>
            <a:endParaRPr lang="en-US" sz="2100" dirty="0"/>
          </a:p>
        </p:txBody>
      </p:sp>
      <p:sp>
        <p:nvSpPr>
          <p:cNvPr id="11" name="Shape 9"/>
          <p:cNvSpPr/>
          <p:nvPr/>
        </p:nvSpPr>
        <p:spPr>
          <a:xfrm>
            <a:off x="594360" y="3063240"/>
            <a:ext cx="10972800" cy="649224"/>
          </a:xfrm>
          <a:prstGeom prst="roundRect">
            <a:avLst>
              <a:gd name="adj" fmla="val 12676"/>
            </a:avLst>
          </a:prstGeom>
          <a:solidFill>
            <a:srgbClr val="1D1F2B"/>
          </a:solidFill>
          <a:ln w="12700">
            <a:solidFill>
              <a:srgbClr val="1D1F2B"/>
            </a:solidFill>
            <a:prstDash val="solid"/>
          </a:ln>
        </p:spPr>
      </p:sp>
      <p:sp>
        <p:nvSpPr>
          <p:cNvPr id="12" name="Shape 10"/>
          <p:cNvSpPr/>
          <p:nvPr/>
        </p:nvSpPr>
        <p:spPr>
          <a:xfrm>
            <a:off x="777240" y="3177540"/>
            <a:ext cx="420624" cy="420624"/>
          </a:xfrm>
          <a:prstGeom prst="ellipse">
            <a:avLst/>
          </a:prstGeom>
          <a:solidFill>
            <a:srgbClr val="FFC24B"/>
          </a:solidFill>
          <a:ln/>
        </p:spPr>
      </p:sp>
      <p:sp>
        <p:nvSpPr>
          <p:cNvPr id="13" name="Text 11"/>
          <p:cNvSpPr/>
          <p:nvPr/>
        </p:nvSpPr>
        <p:spPr>
          <a:xfrm>
            <a:off x="777240" y="31775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371600" y="3063240"/>
            <a:ext cx="10058400" cy="649224"/>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Vous parlez du sevrage tabagique</a:t>
            </a:r>
            <a:endParaRPr lang="en-US" sz="2100" dirty="0"/>
          </a:p>
        </p:txBody>
      </p:sp>
      <p:sp>
        <p:nvSpPr>
          <p:cNvPr id="15" name="Shape 13"/>
          <p:cNvSpPr/>
          <p:nvPr/>
        </p:nvSpPr>
        <p:spPr>
          <a:xfrm>
            <a:off x="594360" y="3840480"/>
            <a:ext cx="10972800" cy="649224"/>
          </a:xfrm>
          <a:prstGeom prst="roundRect">
            <a:avLst>
              <a:gd name="adj" fmla="val 12676"/>
            </a:avLst>
          </a:prstGeom>
          <a:solidFill>
            <a:srgbClr val="1D1F2B"/>
          </a:solidFill>
          <a:ln w="12700">
            <a:solidFill>
              <a:srgbClr val="1D1F2B"/>
            </a:solidFill>
            <a:prstDash val="solid"/>
          </a:ln>
        </p:spPr>
      </p:sp>
      <p:sp>
        <p:nvSpPr>
          <p:cNvPr id="16" name="Shape 14"/>
          <p:cNvSpPr/>
          <p:nvPr/>
        </p:nvSpPr>
        <p:spPr>
          <a:xfrm>
            <a:off x="777240" y="3954780"/>
            <a:ext cx="420624" cy="420624"/>
          </a:xfrm>
          <a:prstGeom prst="ellipse">
            <a:avLst/>
          </a:prstGeom>
          <a:solidFill>
            <a:srgbClr val="FFC24B"/>
          </a:solidFill>
          <a:ln/>
        </p:spPr>
      </p:sp>
      <p:sp>
        <p:nvSpPr>
          <p:cNvPr id="17" name="Text 15"/>
          <p:cNvSpPr/>
          <p:nvPr/>
        </p:nvSpPr>
        <p:spPr>
          <a:xfrm>
            <a:off x="777240" y="39547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371600" y="3840480"/>
            <a:ext cx="10058400" cy="649224"/>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Vous lui demandez comment il dort et comment il se sent</a:t>
            </a:r>
            <a:endParaRPr lang="en-US" sz="2100" dirty="0"/>
          </a:p>
        </p:txBody>
      </p:sp>
      <p:sp>
        <p:nvSpPr>
          <p:cNvPr id="19" name="Text 17"/>
          <p:cNvSpPr/>
          <p:nvPr/>
        </p:nvSpPr>
        <p:spPr>
          <a:xfrm>
            <a:off x="594360" y="4754880"/>
            <a:ext cx="10972800" cy="45720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Il n’y a pas une seule bonne réponse : ce qui compte, c’est l’ordre et le lien entre les trois.</a:t>
            </a:r>
            <a:endParaRPr lang="en-US" sz="1600" dirty="0"/>
          </a:p>
        </p:txBody>
      </p:sp>
      <p:sp>
        <p:nvSpPr>
          <p:cNvPr id="20" name="Text 18"/>
          <p:cNvSpPr/>
          <p:nvPr/>
        </p:nvSpPr>
        <p:spPr>
          <a:xfrm>
            <a:off x="594360" y="530352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8 MINUTES</a:t>
            </a:r>
            <a:endParaRPr lang="en-US" sz="1300" dirty="0"/>
          </a:p>
        </p:txBody>
      </p:sp>
      <p:sp>
        <p:nvSpPr>
          <p:cNvPr id="4" name="Text 2"/>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RÉCAPITULATION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Dix affirmations : vrai ou faux ?</a:t>
            </a:r>
            <a:endParaRPr lang="en-US" sz="3400" dirty="0"/>
          </a:p>
        </p:txBody>
      </p:sp>
      <p:sp>
        <p:nvSpPr>
          <p:cNvPr id="6" name="Shape 4"/>
          <p:cNvSpPr/>
          <p:nvPr/>
        </p:nvSpPr>
        <p:spPr>
          <a:xfrm>
            <a:off x="594360" y="1828800"/>
            <a:ext cx="10972800" cy="2194560"/>
          </a:xfrm>
          <a:prstGeom prst="roundRect">
            <a:avLst>
              <a:gd name="adj" fmla="val 3750"/>
            </a:avLst>
          </a:prstGeom>
          <a:solidFill>
            <a:srgbClr val="1D1F2B"/>
          </a:solidFill>
          <a:ln w="12700">
            <a:solidFill>
              <a:srgbClr val="1D1F2B"/>
            </a:solidFill>
            <a:prstDash val="solid"/>
          </a:ln>
        </p:spPr>
      </p:sp>
      <p:sp>
        <p:nvSpPr>
          <p:cNvPr id="7" name="Text 5"/>
          <p:cNvSpPr/>
          <p:nvPr/>
        </p:nvSpPr>
        <p:spPr>
          <a:xfrm>
            <a:off x="914400" y="1828800"/>
            <a:ext cx="10332720" cy="219456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Dans l’ordre du cours : la promotion de la santé, la Charte d’Ottawa, la santé dans toutes les politiques, les deux modèles, la littératie en santé, le marketing social, le fardeau des troubles mentaux et le suicide.</a:t>
            </a:r>
            <a:endParaRPr lang="en-US" sz="2100" dirty="0"/>
          </a:p>
        </p:txBody>
      </p:sp>
      <p:sp>
        <p:nvSpPr>
          <p:cNvPr id="8" name="Text 6"/>
          <p:cNvSpPr/>
          <p:nvPr/>
        </p:nvSpPr>
        <p:spPr>
          <a:xfrm>
            <a:off x="594360" y="4389120"/>
            <a:ext cx="10972800" cy="54864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Le code du jeu s’affiche à l’écran. Vingt secondes pour chaque affirmation.</a:t>
            </a:r>
            <a:endParaRPr lang="en-US" sz="1900" dirty="0"/>
          </a:p>
        </p:txBody>
      </p:sp>
      <p:sp>
        <p:nvSpPr>
          <p:cNvPr id="9" name="Text 7"/>
          <p:cNvSpPr/>
          <p:nvPr/>
        </p:nvSpPr>
        <p:spPr>
          <a:xfrm>
            <a:off x="594360" y="512064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CORRIGÉ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Vrai ou faux : les réponses</a:t>
            </a:r>
            <a:endParaRPr lang="en-US" sz="3200" dirty="0"/>
          </a:p>
        </p:txBody>
      </p:sp>
      <p:sp>
        <p:nvSpPr>
          <p:cNvPr id="4" name="Shape 2"/>
          <p:cNvSpPr/>
          <p:nvPr/>
        </p:nvSpPr>
        <p:spPr>
          <a:xfrm>
            <a:off x="594360" y="1600200"/>
            <a:ext cx="534924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777240" y="1755648"/>
            <a:ext cx="420624" cy="420624"/>
          </a:xfrm>
          <a:prstGeom prst="ellipse">
            <a:avLst/>
          </a:prstGeom>
          <a:solidFill>
            <a:srgbClr val="FFC24B"/>
          </a:solidFill>
          <a:ln/>
        </p:spPr>
      </p:sp>
      <p:sp>
        <p:nvSpPr>
          <p:cNvPr id="6" name="Text 4"/>
          <p:cNvSpPr/>
          <p:nvPr/>
        </p:nvSpPr>
        <p:spPr>
          <a:xfrm>
            <a:off x="77724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600200"/>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8" name="Text 6"/>
          <p:cNvSpPr/>
          <p:nvPr/>
        </p:nvSpPr>
        <p:spPr>
          <a:xfrm>
            <a:off x="1965960" y="1600200"/>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inclut l’action sur les déterminants</a:t>
            </a:r>
            <a:endParaRPr lang="en-US" sz="1500" dirty="0"/>
          </a:p>
        </p:txBody>
      </p:sp>
      <p:sp>
        <p:nvSpPr>
          <p:cNvPr id="9" name="Shape 7"/>
          <p:cNvSpPr/>
          <p:nvPr/>
        </p:nvSpPr>
        <p:spPr>
          <a:xfrm>
            <a:off x="594360" y="2450592"/>
            <a:ext cx="5349240" cy="731520"/>
          </a:xfrm>
          <a:prstGeom prst="roundRect">
            <a:avLst>
              <a:gd name="adj" fmla="val 11250"/>
            </a:avLst>
          </a:prstGeom>
          <a:solidFill>
            <a:srgbClr val="ECEAE4"/>
          </a:solidFill>
          <a:ln w="12700">
            <a:solidFill>
              <a:srgbClr val="ECEAE4"/>
            </a:solidFill>
            <a:prstDash val="solid"/>
          </a:ln>
        </p:spPr>
      </p:sp>
      <p:sp>
        <p:nvSpPr>
          <p:cNvPr id="10" name="Shape 8"/>
          <p:cNvSpPr/>
          <p:nvPr/>
        </p:nvSpPr>
        <p:spPr>
          <a:xfrm>
            <a:off x="777240" y="2606040"/>
            <a:ext cx="420624" cy="420624"/>
          </a:xfrm>
          <a:prstGeom prst="ellipse">
            <a:avLst/>
          </a:prstGeom>
          <a:solidFill>
            <a:srgbClr val="FFC24B"/>
          </a:solidFill>
          <a:ln/>
        </p:spPr>
      </p:sp>
      <p:sp>
        <p:nvSpPr>
          <p:cNvPr id="11" name="Text 9"/>
          <p:cNvSpPr/>
          <p:nvPr/>
        </p:nvSpPr>
        <p:spPr>
          <a:xfrm>
            <a:off x="77724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371600" y="2450592"/>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13" name="Text 11"/>
          <p:cNvSpPr/>
          <p:nvPr/>
        </p:nvSpPr>
        <p:spPr>
          <a:xfrm>
            <a:off x="1965960" y="2450592"/>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domaine de la Charte</a:t>
            </a:r>
            <a:endParaRPr lang="en-US" sz="1500" dirty="0"/>
          </a:p>
        </p:txBody>
      </p:sp>
      <p:sp>
        <p:nvSpPr>
          <p:cNvPr id="14" name="Shape 12"/>
          <p:cNvSpPr/>
          <p:nvPr/>
        </p:nvSpPr>
        <p:spPr>
          <a:xfrm>
            <a:off x="594360" y="3300984"/>
            <a:ext cx="5349240" cy="731520"/>
          </a:xfrm>
          <a:prstGeom prst="roundRect">
            <a:avLst>
              <a:gd name="adj" fmla="val 11250"/>
            </a:avLst>
          </a:prstGeom>
          <a:solidFill>
            <a:srgbClr val="ECEAE4"/>
          </a:solidFill>
          <a:ln w="12700">
            <a:solidFill>
              <a:srgbClr val="ECEAE4"/>
            </a:solidFill>
            <a:prstDash val="solid"/>
          </a:ln>
        </p:spPr>
      </p:sp>
      <p:sp>
        <p:nvSpPr>
          <p:cNvPr id="15" name="Shape 13"/>
          <p:cNvSpPr/>
          <p:nvPr/>
        </p:nvSpPr>
        <p:spPr>
          <a:xfrm>
            <a:off x="777240" y="3456432"/>
            <a:ext cx="420624" cy="420624"/>
          </a:xfrm>
          <a:prstGeom prst="ellipse">
            <a:avLst/>
          </a:prstGeom>
          <a:solidFill>
            <a:srgbClr val="FFC24B"/>
          </a:solidFill>
          <a:ln/>
        </p:spPr>
      </p:sp>
      <p:sp>
        <p:nvSpPr>
          <p:cNvPr id="16" name="Text 14"/>
          <p:cNvSpPr/>
          <p:nvPr/>
        </p:nvSpPr>
        <p:spPr>
          <a:xfrm>
            <a:off x="777240" y="3456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300984"/>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18" name="Text 16"/>
          <p:cNvSpPr/>
          <p:nvPr/>
        </p:nvSpPr>
        <p:spPr>
          <a:xfrm>
            <a:off x="1965960" y="3300984"/>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l’engagement de tout le gouvernement</a:t>
            </a:r>
            <a:endParaRPr lang="en-US" sz="1500" dirty="0"/>
          </a:p>
        </p:txBody>
      </p:sp>
      <p:sp>
        <p:nvSpPr>
          <p:cNvPr id="19" name="Shape 17"/>
          <p:cNvSpPr/>
          <p:nvPr/>
        </p:nvSpPr>
        <p:spPr>
          <a:xfrm>
            <a:off x="594360" y="4151376"/>
            <a:ext cx="5349240" cy="731520"/>
          </a:xfrm>
          <a:prstGeom prst="roundRect">
            <a:avLst>
              <a:gd name="adj" fmla="val 11250"/>
            </a:avLst>
          </a:prstGeom>
          <a:solidFill>
            <a:srgbClr val="ECEAE4"/>
          </a:solidFill>
          <a:ln w="12700">
            <a:solidFill>
              <a:srgbClr val="ECEAE4"/>
            </a:solidFill>
            <a:prstDash val="solid"/>
          </a:ln>
        </p:spPr>
      </p:sp>
      <p:sp>
        <p:nvSpPr>
          <p:cNvPr id="20" name="Shape 18"/>
          <p:cNvSpPr/>
          <p:nvPr/>
        </p:nvSpPr>
        <p:spPr>
          <a:xfrm>
            <a:off x="777240" y="4306824"/>
            <a:ext cx="420624" cy="420624"/>
          </a:xfrm>
          <a:prstGeom prst="ellipse">
            <a:avLst/>
          </a:prstGeom>
          <a:solidFill>
            <a:srgbClr val="FFC24B"/>
          </a:solidFill>
          <a:ln/>
        </p:spPr>
      </p:sp>
      <p:sp>
        <p:nvSpPr>
          <p:cNvPr id="21" name="Text 19"/>
          <p:cNvSpPr/>
          <p:nvPr/>
        </p:nvSpPr>
        <p:spPr>
          <a:xfrm>
            <a:off x="777240" y="4306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371600" y="4151376"/>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23" name="Text 21"/>
          <p:cNvSpPr/>
          <p:nvPr/>
        </p:nvSpPr>
        <p:spPr>
          <a:xfrm>
            <a:off x="1965960" y="4151376"/>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construit du modèle</a:t>
            </a:r>
            <a:endParaRPr lang="en-US" sz="1500" dirty="0"/>
          </a:p>
        </p:txBody>
      </p:sp>
      <p:sp>
        <p:nvSpPr>
          <p:cNvPr id="24" name="Shape 22"/>
          <p:cNvSpPr/>
          <p:nvPr/>
        </p:nvSpPr>
        <p:spPr>
          <a:xfrm>
            <a:off x="594360" y="5001768"/>
            <a:ext cx="5349240" cy="731520"/>
          </a:xfrm>
          <a:prstGeom prst="roundRect">
            <a:avLst>
              <a:gd name="adj" fmla="val 11250"/>
            </a:avLst>
          </a:prstGeom>
          <a:solidFill>
            <a:srgbClr val="ECEAE4"/>
          </a:solidFill>
          <a:ln w="12700">
            <a:solidFill>
              <a:srgbClr val="ECEAE4"/>
            </a:solidFill>
            <a:prstDash val="solid"/>
          </a:ln>
        </p:spPr>
      </p:sp>
      <p:sp>
        <p:nvSpPr>
          <p:cNvPr id="25" name="Shape 23"/>
          <p:cNvSpPr/>
          <p:nvPr/>
        </p:nvSpPr>
        <p:spPr>
          <a:xfrm>
            <a:off x="777240" y="5157216"/>
            <a:ext cx="420624" cy="420624"/>
          </a:xfrm>
          <a:prstGeom prst="ellipse">
            <a:avLst/>
          </a:prstGeom>
          <a:solidFill>
            <a:srgbClr val="FFC24B"/>
          </a:solidFill>
          <a:ln/>
        </p:spPr>
      </p:sp>
      <p:sp>
        <p:nvSpPr>
          <p:cNvPr id="26" name="Text 24"/>
          <p:cNvSpPr/>
          <p:nvPr/>
        </p:nvSpPr>
        <p:spPr>
          <a:xfrm>
            <a:off x="777240" y="51572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371600" y="5001768"/>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28" name="Text 26"/>
          <p:cNvSpPr/>
          <p:nvPr/>
        </p:nvSpPr>
        <p:spPr>
          <a:xfrm>
            <a:off x="1965960" y="5001768"/>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aussi les habitudes et les émotions</a:t>
            </a:r>
            <a:endParaRPr lang="en-US" sz="1500" dirty="0"/>
          </a:p>
        </p:txBody>
      </p:sp>
      <p:sp>
        <p:nvSpPr>
          <p:cNvPr id="29" name="Shape 27"/>
          <p:cNvSpPr/>
          <p:nvPr/>
        </p:nvSpPr>
        <p:spPr>
          <a:xfrm>
            <a:off x="6217920" y="1600200"/>
            <a:ext cx="5349240" cy="731520"/>
          </a:xfrm>
          <a:prstGeom prst="roundRect">
            <a:avLst>
              <a:gd name="adj" fmla="val 11250"/>
            </a:avLst>
          </a:prstGeom>
          <a:solidFill>
            <a:srgbClr val="ECEAE4"/>
          </a:solidFill>
          <a:ln w="12700">
            <a:solidFill>
              <a:srgbClr val="ECEAE4"/>
            </a:solidFill>
            <a:prstDash val="solid"/>
          </a:ln>
        </p:spPr>
      </p:sp>
      <p:sp>
        <p:nvSpPr>
          <p:cNvPr id="30" name="Shape 28"/>
          <p:cNvSpPr/>
          <p:nvPr/>
        </p:nvSpPr>
        <p:spPr>
          <a:xfrm>
            <a:off x="6400800" y="1755648"/>
            <a:ext cx="420624" cy="420624"/>
          </a:xfrm>
          <a:prstGeom prst="ellipse">
            <a:avLst/>
          </a:prstGeom>
          <a:solidFill>
            <a:srgbClr val="FFC24B"/>
          </a:solidFill>
          <a:ln/>
        </p:spPr>
      </p:sp>
      <p:sp>
        <p:nvSpPr>
          <p:cNvPr id="31" name="Text 29"/>
          <p:cNvSpPr/>
          <p:nvPr/>
        </p:nvSpPr>
        <p:spPr>
          <a:xfrm>
            <a:off x="640080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6995160" y="160020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33" name="Text 31"/>
          <p:cNvSpPr/>
          <p:nvPr/>
        </p:nvSpPr>
        <p:spPr>
          <a:xfrm>
            <a:off x="7589520" y="1600200"/>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une fonction de la roue</a:t>
            </a:r>
            <a:endParaRPr lang="en-US" sz="1500" dirty="0"/>
          </a:p>
        </p:txBody>
      </p:sp>
      <p:sp>
        <p:nvSpPr>
          <p:cNvPr id="34" name="Shape 32"/>
          <p:cNvSpPr/>
          <p:nvPr/>
        </p:nvSpPr>
        <p:spPr>
          <a:xfrm>
            <a:off x="6217920" y="2450592"/>
            <a:ext cx="5349240" cy="731520"/>
          </a:xfrm>
          <a:prstGeom prst="roundRect">
            <a:avLst>
              <a:gd name="adj" fmla="val 11250"/>
            </a:avLst>
          </a:prstGeom>
          <a:solidFill>
            <a:srgbClr val="ECEAE4"/>
          </a:solidFill>
          <a:ln w="12700">
            <a:solidFill>
              <a:srgbClr val="ECEAE4"/>
            </a:solidFill>
            <a:prstDash val="solid"/>
          </a:ln>
        </p:spPr>
      </p:sp>
      <p:sp>
        <p:nvSpPr>
          <p:cNvPr id="35" name="Shape 33"/>
          <p:cNvSpPr/>
          <p:nvPr/>
        </p:nvSpPr>
        <p:spPr>
          <a:xfrm>
            <a:off x="6400800" y="2606040"/>
            <a:ext cx="420624" cy="420624"/>
          </a:xfrm>
          <a:prstGeom prst="ellipse">
            <a:avLst/>
          </a:prstGeom>
          <a:solidFill>
            <a:srgbClr val="FFC24B"/>
          </a:solidFill>
          <a:ln/>
        </p:spPr>
      </p:sp>
      <p:sp>
        <p:nvSpPr>
          <p:cNvPr id="36" name="Text 34"/>
          <p:cNvSpPr/>
          <p:nvPr/>
        </p:nvSpPr>
        <p:spPr>
          <a:xfrm>
            <a:off x="640080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450592"/>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38" name="Text 36"/>
          <p:cNvSpPr/>
          <p:nvPr/>
        </p:nvSpPr>
        <p:spPr>
          <a:xfrm>
            <a:off x="7589520" y="2450592"/>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 28,7 % à plus de 62,1 %</a:t>
            </a:r>
            <a:endParaRPr lang="en-US" sz="1500" dirty="0"/>
          </a:p>
        </p:txBody>
      </p:sp>
      <p:sp>
        <p:nvSpPr>
          <p:cNvPr id="39" name="Shape 37"/>
          <p:cNvSpPr/>
          <p:nvPr/>
        </p:nvSpPr>
        <p:spPr>
          <a:xfrm>
            <a:off x="6217920" y="3300984"/>
            <a:ext cx="5349240" cy="731520"/>
          </a:xfrm>
          <a:prstGeom prst="roundRect">
            <a:avLst>
              <a:gd name="adj" fmla="val 11250"/>
            </a:avLst>
          </a:prstGeom>
          <a:solidFill>
            <a:srgbClr val="ECEAE4"/>
          </a:solidFill>
          <a:ln w="12700">
            <a:solidFill>
              <a:srgbClr val="ECEAE4"/>
            </a:solidFill>
            <a:prstDash val="solid"/>
          </a:ln>
        </p:spPr>
      </p:sp>
      <p:sp>
        <p:nvSpPr>
          <p:cNvPr id="40" name="Shape 38"/>
          <p:cNvSpPr/>
          <p:nvPr/>
        </p:nvSpPr>
        <p:spPr>
          <a:xfrm>
            <a:off x="6400800" y="3456432"/>
            <a:ext cx="420624" cy="420624"/>
          </a:xfrm>
          <a:prstGeom prst="ellipse">
            <a:avLst/>
          </a:prstGeom>
          <a:solidFill>
            <a:srgbClr val="FFC24B"/>
          </a:solidFill>
          <a:ln/>
        </p:spPr>
      </p:sp>
      <p:sp>
        <p:nvSpPr>
          <p:cNvPr id="41" name="Text 39"/>
          <p:cNvSpPr/>
          <p:nvPr/>
        </p:nvSpPr>
        <p:spPr>
          <a:xfrm>
            <a:off x="6400800" y="3456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6995160" y="3300984"/>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43" name="Text 41"/>
          <p:cNvSpPr/>
          <p:nvPr/>
        </p:nvSpPr>
        <p:spPr>
          <a:xfrm>
            <a:off x="7589520" y="3300984"/>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comportement précis</a:t>
            </a:r>
            <a:endParaRPr lang="en-US" sz="1500" dirty="0"/>
          </a:p>
        </p:txBody>
      </p:sp>
      <p:sp>
        <p:nvSpPr>
          <p:cNvPr id="44" name="Shape 42"/>
          <p:cNvSpPr/>
          <p:nvPr/>
        </p:nvSpPr>
        <p:spPr>
          <a:xfrm>
            <a:off x="6217920" y="4151376"/>
            <a:ext cx="5349240" cy="731520"/>
          </a:xfrm>
          <a:prstGeom prst="roundRect">
            <a:avLst>
              <a:gd name="adj" fmla="val 11250"/>
            </a:avLst>
          </a:prstGeom>
          <a:solidFill>
            <a:srgbClr val="ECEAE4"/>
          </a:solidFill>
          <a:ln w="12700">
            <a:solidFill>
              <a:srgbClr val="ECEAE4"/>
            </a:solidFill>
            <a:prstDash val="solid"/>
          </a:ln>
        </p:spPr>
      </p:sp>
      <p:sp>
        <p:nvSpPr>
          <p:cNvPr id="45" name="Shape 43"/>
          <p:cNvSpPr/>
          <p:nvPr/>
        </p:nvSpPr>
        <p:spPr>
          <a:xfrm>
            <a:off x="6400800" y="4306824"/>
            <a:ext cx="420624" cy="420624"/>
          </a:xfrm>
          <a:prstGeom prst="ellipse">
            <a:avLst/>
          </a:prstGeom>
          <a:solidFill>
            <a:srgbClr val="FFC24B"/>
          </a:solidFill>
          <a:ln/>
        </p:spPr>
      </p:sp>
      <p:sp>
        <p:nvSpPr>
          <p:cNvPr id="46" name="Text 44"/>
          <p:cNvSpPr/>
          <p:nvPr/>
        </p:nvSpPr>
        <p:spPr>
          <a:xfrm>
            <a:off x="6400800" y="4306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6995160" y="4151376"/>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48" name="Text 46"/>
          <p:cNvSpPr/>
          <p:nvPr/>
        </p:nvSpPr>
        <p:spPr>
          <a:xfrm>
            <a:off x="7589520" y="4151376"/>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deuxième cause ; première : troubles mentaux</a:t>
            </a:r>
            <a:endParaRPr lang="en-US" sz="1500" dirty="0"/>
          </a:p>
        </p:txBody>
      </p:sp>
      <p:sp>
        <p:nvSpPr>
          <p:cNvPr id="49" name="Shape 47"/>
          <p:cNvSpPr/>
          <p:nvPr/>
        </p:nvSpPr>
        <p:spPr>
          <a:xfrm>
            <a:off x="6217920" y="5001768"/>
            <a:ext cx="5349240" cy="731520"/>
          </a:xfrm>
          <a:prstGeom prst="roundRect">
            <a:avLst>
              <a:gd name="adj" fmla="val 11250"/>
            </a:avLst>
          </a:prstGeom>
          <a:solidFill>
            <a:srgbClr val="ECEAE4"/>
          </a:solidFill>
          <a:ln w="12700">
            <a:solidFill>
              <a:srgbClr val="ECEAE4"/>
            </a:solidFill>
            <a:prstDash val="solid"/>
          </a:ln>
        </p:spPr>
      </p:sp>
      <p:sp>
        <p:nvSpPr>
          <p:cNvPr id="50" name="Shape 48"/>
          <p:cNvSpPr/>
          <p:nvPr/>
        </p:nvSpPr>
        <p:spPr>
          <a:xfrm>
            <a:off x="6400800" y="5157216"/>
            <a:ext cx="420624" cy="420624"/>
          </a:xfrm>
          <a:prstGeom prst="ellipse">
            <a:avLst/>
          </a:prstGeom>
          <a:solidFill>
            <a:srgbClr val="FFC24B"/>
          </a:solidFill>
          <a:ln/>
        </p:spPr>
      </p:sp>
      <p:sp>
        <p:nvSpPr>
          <p:cNvPr id="51" name="Text 49"/>
          <p:cNvSpPr/>
          <p:nvPr/>
        </p:nvSpPr>
        <p:spPr>
          <a:xfrm>
            <a:off x="6400800" y="51572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6995160" y="5001768"/>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53" name="Text 51"/>
          <p:cNvSpPr/>
          <p:nvPr/>
        </p:nvSpPr>
        <p:spPr>
          <a:xfrm>
            <a:off x="7589520" y="5001768"/>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14,99 contre 2,54 pour 100 000</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À RETENIR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qui reste du cours d’aujourd’hui</a:t>
            </a:r>
            <a:endParaRPr lang="en-US" sz="3200" dirty="0"/>
          </a:p>
        </p:txBody>
      </p:sp>
      <p:sp>
        <p:nvSpPr>
          <p:cNvPr id="4" name="Shape 2"/>
          <p:cNvSpPr/>
          <p:nvPr/>
        </p:nvSpPr>
        <p:spPr>
          <a:xfrm>
            <a:off x="594360" y="1463040"/>
            <a:ext cx="10972800" cy="658368"/>
          </a:xfrm>
          <a:prstGeom prst="roundRect">
            <a:avLst>
              <a:gd name="adj" fmla="val 12500"/>
            </a:avLst>
          </a:prstGeom>
          <a:solidFill>
            <a:srgbClr val="ECEAE4"/>
          </a:solidFill>
          <a:ln w="12700">
            <a:solidFill>
              <a:srgbClr val="ECEAE4"/>
            </a:solidFill>
            <a:prstDash val="solid"/>
          </a:ln>
        </p:spPr>
      </p:sp>
      <p:sp>
        <p:nvSpPr>
          <p:cNvPr id="5" name="Shape 3"/>
          <p:cNvSpPr/>
          <p:nvPr/>
        </p:nvSpPr>
        <p:spPr>
          <a:xfrm>
            <a:off x="868680" y="1581912"/>
            <a:ext cx="420624" cy="420624"/>
          </a:xfrm>
          <a:prstGeom prst="ellipse">
            <a:avLst/>
          </a:prstGeom>
          <a:solidFill>
            <a:srgbClr val="FF4757"/>
          </a:solidFill>
          <a:ln/>
        </p:spPr>
      </p:sp>
      <p:sp>
        <p:nvSpPr>
          <p:cNvPr id="6" name="Text 4"/>
          <p:cNvSpPr/>
          <p:nvPr/>
        </p:nvSpPr>
        <p:spPr>
          <a:xfrm>
            <a:off x="868680" y="15819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463040"/>
            <a:ext cx="9829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promotion de la santé : plus de contrôle sur sa santé, par l’information et par les conditions de vie.</a:t>
            </a:r>
            <a:endParaRPr lang="en-US" sz="1600" dirty="0"/>
          </a:p>
        </p:txBody>
      </p:sp>
      <p:sp>
        <p:nvSpPr>
          <p:cNvPr id="8" name="Shape 6"/>
          <p:cNvSpPr/>
          <p:nvPr/>
        </p:nvSpPr>
        <p:spPr>
          <a:xfrm>
            <a:off x="594360" y="2212848"/>
            <a:ext cx="10972800" cy="658368"/>
          </a:xfrm>
          <a:prstGeom prst="roundRect">
            <a:avLst>
              <a:gd name="adj" fmla="val 12500"/>
            </a:avLst>
          </a:prstGeom>
          <a:solidFill>
            <a:srgbClr val="ECEAE4"/>
          </a:solidFill>
          <a:ln w="12700">
            <a:solidFill>
              <a:srgbClr val="ECEAE4"/>
            </a:solidFill>
            <a:prstDash val="solid"/>
          </a:ln>
        </p:spPr>
      </p:sp>
      <p:sp>
        <p:nvSpPr>
          <p:cNvPr id="9" name="Shape 7"/>
          <p:cNvSpPr/>
          <p:nvPr/>
        </p:nvSpPr>
        <p:spPr>
          <a:xfrm>
            <a:off x="868680" y="2331720"/>
            <a:ext cx="420624" cy="420624"/>
          </a:xfrm>
          <a:prstGeom prst="ellipse">
            <a:avLst/>
          </a:prstGeom>
          <a:solidFill>
            <a:srgbClr val="FF4757"/>
          </a:solidFill>
          <a:ln/>
        </p:spPr>
      </p:sp>
      <p:sp>
        <p:nvSpPr>
          <p:cNvPr id="10" name="Text 8"/>
          <p:cNvSpPr/>
          <p:nvPr/>
        </p:nvSpPr>
        <p:spPr>
          <a:xfrm>
            <a:off x="868680" y="23317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212848"/>
            <a:ext cx="9829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D’abord le diagnostic : la capacité, l’opportunité ou la motivation ; ensuite l’intervention.</a:t>
            </a:r>
            <a:endParaRPr lang="en-US" sz="1600" dirty="0"/>
          </a:p>
        </p:txBody>
      </p:sp>
      <p:sp>
        <p:nvSpPr>
          <p:cNvPr id="12" name="Shape 10"/>
          <p:cNvSpPr/>
          <p:nvPr/>
        </p:nvSpPr>
        <p:spPr>
          <a:xfrm>
            <a:off x="594360" y="2962656"/>
            <a:ext cx="10972800" cy="658368"/>
          </a:xfrm>
          <a:prstGeom prst="roundRect">
            <a:avLst>
              <a:gd name="adj" fmla="val 12500"/>
            </a:avLst>
          </a:prstGeom>
          <a:solidFill>
            <a:srgbClr val="ECEAE4"/>
          </a:solidFill>
          <a:ln w="12700">
            <a:solidFill>
              <a:srgbClr val="ECEAE4"/>
            </a:solidFill>
            <a:prstDash val="solid"/>
          </a:ln>
        </p:spPr>
      </p:sp>
      <p:sp>
        <p:nvSpPr>
          <p:cNvPr id="13" name="Shape 11"/>
          <p:cNvSpPr/>
          <p:nvPr/>
        </p:nvSpPr>
        <p:spPr>
          <a:xfrm>
            <a:off x="868680" y="3081528"/>
            <a:ext cx="420624" cy="420624"/>
          </a:xfrm>
          <a:prstGeom prst="ellipse">
            <a:avLst/>
          </a:prstGeom>
          <a:solidFill>
            <a:srgbClr val="FF4757"/>
          </a:solidFill>
          <a:ln/>
        </p:spPr>
      </p:sp>
      <p:sp>
        <p:nvSpPr>
          <p:cNvPr id="14" name="Text 12"/>
          <p:cNvSpPr/>
          <p:nvPr/>
        </p:nvSpPr>
        <p:spPr>
          <a:xfrm>
            <a:off x="868680" y="30815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2962656"/>
            <a:ext cx="9829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littératie en santé dépend aussi des institutions.</a:t>
            </a:r>
            <a:endParaRPr lang="en-US" sz="1600" dirty="0"/>
          </a:p>
        </p:txBody>
      </p:sp>
      <p:sp>
        <p:nvSpPr>
          <p:cNvPr id="16" name="Shape 14"/>
          <p:cNvSpPr/>
          <p:nvPr/>
        </p:nvSpPr>
        <p:spPr>
          <a:xfrm>
            <a:off x="594360" y="3712464"/>
            <a:ext cx="10972800" cy="658368"/>
          </a:xfrm>
          <a:prstGeom prst="roundRect">
            <a:avLst>
              <a:gd name="adj" fmla="val 12500"/>
            </a:avLst>
          </a:prstGeom>
          <a:solidFill>
            <a:srgbClr val="ECEAE4"/>
          </a:solidFill>
          <a:ln w="12700">
            <a:solidFill>
              <a:srgbClr val="ECEAE4"/>
            </a:solidFill>
            <a:prstDash val="solid"/>
          </a:ln>
        </p:spPr>
      </p:sp>
      <p:sp>
        <p:nvSpPr>
          <p:cNvPr id="17" name="Shape 15"/>
          <p:cNvSpPr/>
          <p:nvPr/>
        </p:nvSpPr>
        <p:spPr>
          <a:xfrm>
            <a:off x="868680" y="3831336"/>
            <a:ext cx="420624" cy="420624"/>
          </a:xfrm>
          <a:prstGeom prst="ellipse">
            <a:avLst/>
          </a:prstGeom>
          <a:solidFill>
            <a:srgbClr val="FF4757"/>
          </a:solidFill>
          <a:ln/>
        </p:spPr>
      </p:sp>
      <p:sp>
        <p:nvSpPr>
          <p:cNvPr id="18" name="Text 16"/>
          <p:cNvSpPr/>
          <p:nvPr/>
        </p:nvSpPr>
        <p:spPr>
          <a:xfrm>
            <a:off x="868680" y="383133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712464"/>
            <a:ext cx="9829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Près de la moitié, avec une littératie limitée en 2011 ; la Roumanie, dans aucune enquête.</a:t>
            </a:r>
            <a:endParaRPr lang="en-US" sz="1600" dirty="0"/>
          </a:p>
        </p:txBody>
      </p:sp>
      <p:sp>
        <p:nvSpPr>
          <p:cNvPr id="20" name="Shape 18"/>
          <p:cNvSpPr/>
          <p:nvPr/>
        </p:nvSpPr>
        <p:spPr>
          <a:xfrm>
            <a:off x="594360" y="4462272"/>
            <a:ext cx="10972800" cy="658368"/>
          </a:xfrm>
          <a:prstGeom prst="roundRect">
            <a:avLst>
              <a:gd name="adj" fmla="val 12500"/>
            </a:avLst>
          </a:prstGeom>
          <a:solidFill>
            <a:srgbClr val="ECEAE4"/>
          </a:solidFill>
          <a:ln w="12700">
            <a:solidFill>
              <a:srgbClr val="ECEAE4"/>
            </a:solidFill>
            <a:prstDash val="solid"/>
          </a:ln>
        </p:spPr>
      </p:sp>
      <p:sp>
        <p:nvSpPr>
          <p:cNvPr id="21" name="Shape 19"/>
          <p:cNvSpPr/>
          <p:nvPr/>
        </p:nvSpPr>
        <p:spPr>
          <a:xfrm>
            <a:off x="868680" y="4581144"/>
            <a:ext cx="420624" cy="420624"/>
          </a:xfrm>
          <a:prstGeom prst="ellipse">
            <a:avLst/>
          </a:prstGeom>
          <a:solidFill>
            <a:srgbClr val="FF4757"/>
          </a:solidFill>
          <a:ln/>
        </p:spPr>
      </p:sp>
      <p:sp>
        <p:nvSpPr>
          <p:cNvPr id="22" name="Text 20"/>
          <p:cNvSpPr/>
          <p:nvPr/>
        </p:nvSpPr>
        <p:spPr>
          <a:xfrm>
            <a:off x="868680" y="45811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462272"/>
            <a:ext cx="9829800" cy="658368"/>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troubles mentaux : première cause d’incapacité ; la plupart ne reçoivent pas de soins efficaces.</a:t>
            </a:r>
            <a:endParaRPr lang="en-US" sz="1600" dirty="0"/>
          </a:p>
        </p:txBody>
      </p:sp>
      <p:sp>
        <p:nvSpPr>
          <p:cNvPr id="24" name="Shape 22"/>
          <p:cNvSpPr/>
          <p:nvPr/>
        </p:nvSpPr>
        <p:spPr>
          <a:xfrm>
            <a:off x="594360" y="5349240"/>
            <a:ext cx="10972800" cy="777240"/>
          </a:xfrm>
          <a:prstGeom prst="roundRect">
            <a:avLst>
              <a:gd name="adj" fmla="val 10588"/>
            </a:avLst>
          </a:prstGeom>
          <a:solidFill>
            <a:srgbClr val="11121A"/>
          </a:solidFill>
          <a:ln w="12700">
            <a:solidFill>
              <a:srgbClr val="11121A"/>
            </a:solidFill>
            <a:prstDash val="solid"/>
          </a:ln>
        </p:spPr>
      </p:sp>
      <p:sp>
        <p:nvSpPr>
          <p:cNvPr id="25" name="Text 23"/>
          <p:cNvSpPr/>
          <p:nvPr/>
        </p:nvSpPr>
        <p:spPr>
          <a:xfrm>
            <a:off x="868680" y="5349240"/>
            <a:ext cx="10424160" cy="7772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M. Vasile n’a pas besoin d’information, mais de quelqu’un qui lui demande comment il va.</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DÈS DEMAIN, EN TANT QUE MÉDECINS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vous faites autrement, lundi matin</a:t>
            </a:r>
            <a:endParaRPr lang="en-US" sz="3200" dirty="0"/>
          </a:p>
        </p:txBody>
      </p:sp>
      <p:sp>
        <p:nvSpPr>
          <p:cNvPr id="4" name="Shape 2"/>
          <p:cNvSpPr/>
          <p:nvPr/>
        </p:nvSpPr>
        <p:spPr>
          <a:xfrm>
            <a:off x="594360" y="1600200"/>
            <a:ext cx="10972800" cy="1325880"/>
          </a:xfrm>
          <a:prstGeom prst="roundRect">
            <a:avLst>
              <a:gd name="adj" fmla="val 6207"/>
            </a:avLst>
          </a:prstGeom>
          <a:solidFill>
            <a:srgbClr val="1D1F2B"/>
          </a:solidFill>
          <a:ln w="12700">
            <a:solidFill>
              <a:srgbClr val="1D1F2B"/>
            </a:solidFill>
            <a:prstDash val="solid"/>
          </a:ln>
        </p:spPr>
      </p:sp>
      <p:sp>
        <p:nvSpPr>
          <p:cNvPr id="5" name="Shape 3"/>
          <p:cNvSpPr/>
          <p:nvPr/>
        </p:nvSpPr>
        <p:spPr>
          <a:xfrm>
            <a:off x="868680" y="2057400"/>
            <a:ext cx="420624" cy="420624"/>
          </a:xfrm>
          <a:prstGeom prst="ellipse">
            <a:avLst/>
          </a:prstGeom>
          <a:solidFill>
            <a:srgbClr val="FFC24B"/>
          </a:solidFill>
          <a:ln/>
        </p:spPr>
      </p:sp>
      <p:sp>
        <p:nvSpPr>
          <p:cNvPr id="6" name="Text 4"/>
          <p:cNvSpPr/>
          <p:nvPr/>
        </p:nvSpPr>
        <p:spPr>
          <a:xfrm>
            <a:off x="868680" y="2057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54480" y="1600200"/>
            <a:ext cx="9784080" cy="13258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patient ne fait pas ce que vous lui avez recommandé ? N’insistez pas plus fort : demandez-vous ce qui lui manque, la capacité, l’opportunité ou la motivation.</a:t>
            </a:r>
            <a:endParaRPr lang="en-US" sz="1800" dirty="0"/>
          </a:p>
        </p:txBody>
      </p:sp>
      <p:sp>
        <p:nvSpPr>
          <p:cNvPr id="8" name="Shape 6"/>
          <p:cNvSpPr/>
          <p:nvPr/>
        </p:nvSpPr>
        <p:spPr>
          <a:xfrm>
            <a:off x="594360" y="3063240"/>
            <a:ext cx="10972800" cy="1325880"/>
          </a:xfrm>
          <a:prstGeom prst="roundRect">
            <a:avLst>
              <a:gd name="adj" fmla="val 6207"/>
            </a:avLst>
          </a:prstGeom>
          <a:solidFill>
            <a:srgbClr val="1D1F2B"/>
          </a:solidFill>
          <a:ln w="12700">
            <a:solidFill>
              <a:srgbClr val="1D1F2B"/>
            </a:solidFill>
            <a:prstDash val="solid"/>
          </a:ln>
        </p:spPr>
      </p:sp>
      <p:sp>
        <p:nvSpPr>
          <p:cNvPr id="9" name="Shape 7"/>
          <p:cNvSpPr/>
          <p:nvPr/>
        </p:nvSpPr>
        <p:spPr>
          <a:xfrm>
            <a:off x="868680" y="3520440"/>
            <a:ext cx="420624" cy="420624"/>
          </a:xfrm>
          <a:prstGeom prst="ellipse">
            <a:avLst/>
          </a:prstGeom>
          <a:solidFill>
            <a:srgbClr val="FFC24B"/>
          </a:solidFill>
          <a:ln/>
        </p:spPr>
      </p:sp>
      <p:sp>
        <p:nvSpPr>
          <p:cNvPr id="10" name="Text 8"/>
          <p:cNvSpPr/>
          <p:nvPr/>
        </p:nvSpPr>
        <p:spPr>
          <a:xfrm>
            <a:off x="86868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54480" y="3063240"/>
            <a:ext cx="9784080" cy="13258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patient semble seulement « fatigué » ? La dépression est une cause majeure d’incapacité ; la plupart ne reçoivent pas de soins.</a:t>
            </a:r>
            <a:endParaRPr lang="en-US" sz="1800" dirty="0"/>
          </a:p>
        </p:txBody>
      </p:sp>
      <p:sp>
        <p:nvSpPr>
          <p:cNvPr id="12" name="Shape 10"/>
          <p:cNvSpPr/>
          <p:nvPr/>
        </p:nvSpPr>
        <p:spPr>
          <a:xfrm>
            <a:off x="594360" y="4526280"/>
            <a:ext cx="10972800" cy="1325880"/>
          </a:xfrm>
          <a:prstGeom prst="roundRect">
            <a:avLst>
              <a:gd name="adj" fmla="val 6207"/>
            </a:avLst>
          </a:prstGeom>
          <a:solidFill>
            <a:srgbClr val="1D1F2B"/>
          </a:solidFill>
          <a:ln w="12700">
            <a:solidFill>
              <a:srgbClr val="1D1F2B"/>
            </a:solidFill>
            <a:prstDash val="solid"/>
          </a:ln>
        </p:spPr>
      </p:sp>
      <p:sp>
        <p:nvSpPr>
          <p:cNvPr id="13" name="Shape 11"/>
          <p:cNvSpPr/>
          <p:nvPr/>
        </p:nvSpPr>
        <p:spPr>
          <a:xfrm>
            <a:off x="868680" y="4983480"/>
            <a:ext cx="420624" cy="420624"/>
          </a:xfrm>
          <a:prstGeom prst="ellipse">
            <a:avLst/>
          </a:prstGeom>
          <a:solidFill>
            <a:srgbClr val="FFC24B"/>
          </a:solidFill>
          <a:ln/>
        </p:spPr>
      </p:sp>
      <p:sp>
        <p:nvSpPr>
          <p:cNvPr id="14" name="Text 12"/>
          <p:cNvSpPr/>
          <p:nvPr/>
        </p:nvSpPr>
        <p:spPr>
          <a:xfrm>
            <a:off x="868680" y="4983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54480" y="4526280"/>
            <a:ext cx="9784080" cy="13258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Une question sur le sommeil et l’espoir peut être la première intervention ; la question directe sur le suicide ne provoque pas l’automutilation.</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LES CINQ DERNIÈRES MINUTES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Trois questions pour finir</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a été utile aujourd’hui ?</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Où vous ai-je perdus ?</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 pourriez-vous utiliser demain ?</a:t>
            </a:r>
            <a:endParaRPr lang="en-US" sz="2000" dirty="0"/>
          </a:p>
        </p:txBody>
      </p:sp>
      <p:sp>
        <p:nvSpPr>
          <p:cNvPr id="14" name="Shape 12"/>
          <p:cNvSpPr/>
          <p:nvPr/>
        </p:nvSpPr>
        <p:spPr>
          <a:xfrm>
            <a:off x="8321040" y="2514600"/>
            <a:ext cx="32461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549640" y="2514600"/>
            <a:ext cx="2788920" cy="2468880"/>
          </a:xfrm>
          <a:prstGeom prst="rect">
            <a:avLst/>
          </a:prstGeom>
          <a:noFill/>
          <a:ln/>
        </p:spPr>
        <p:txBody>
          <a:bodyPr wrap="square" lIns="0" tIns="0" rIns="0" bIns="0" rtlCol="0" anchor="ctr"/>
          <a:lstStyle/>
          <a:p>
            <a:pPr algn="ct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Au début du prochain cours : deux modifications, faites à partir de vos réponses.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6 - On sait, mais on ne fait pas</dc:title>
  <dc:subject>PptxGenJS Presentation</dc:subject>
  <dc:creator>Conf. Univ. Dr. Adrian Pana</dc:creator>
  <cp:lastModifiedBy>Conf. Univ. Dr. Adrian Pana</cp:lastModifiedBy>
  <cp:revision>1</cp:revision>
  <dcterms:created xsi:type="dcterms:W3CDTF">2026-10-17T11:00:17Z</dcterms:created>
  <dcterms:modified xsi:type="dcterms:W3CDTF">2026-10-17T11:00:17Z</dcterms:modified>
  <cp:keywords>sursa_amprenta=7987f0e2659fcf3d; proiectie</cp:keywords>
</cp:coreProperties>
</file>