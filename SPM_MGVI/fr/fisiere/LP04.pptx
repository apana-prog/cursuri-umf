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contenu minimal et l’auteur du certificat de décès sont fixés par la loi en une seule phrase : le certificat médical de décès, dans lequel sont consignées la cause du décès et la date du décès, est établi et signé par le médecin qui a fait la constatation.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médecin de famille de l’acte 1 n’a pas enfreint la loi, qui demande seulement de consigner la cause ; il a rempli le formulaire comme le remplissent beaucoup de collègues, dans les conditions où il l’a rempli.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TRAVAUX PRATIQUES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Qu’écrit le médecin sur le certificat, lundi à 07:40 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67512" y="388620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148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Documents médicaux : du formulaire aux statistiques de santé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Certificats médicaux de naissance et de décès, arrêt de travail, déclaration des maladies transmissibles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822960"/>
            <a:ext cx="4846320" cy="5120640"/>
          </a:xfrm>
          <a:prstGeom prst="roundRect">
            <a:avLst>
              <a:gd name="adj" fmla="val 169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PARTIE 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8660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1901952"/>
            <a:ext cx="3657600" cy="0"/>
          </a:xfrm>
          <a:prstGeom prst="line">
            <a:avLst/>
          </a:prstGeom>
          <a:noFill/>
          <a:ln w="15875">
            <a:solidFill>
              <a:srgbClr val="4A4E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48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due 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86600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2615184"/>
            <a:ext cx="3657600" cy="0"/>
          </a:xfrm>
          <a:prstGeom prst="line">
            <a:avLst/>
          </a:prstGeom>
          <a:noFill/>
          <a:ln w="15875">
            <a:solidFill>
              <a:srgbClr val="4A4E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48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due 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0" y="2980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89520" y="3328416"/>
            <a:ext cx="3657600" cy="0"/>
          </a:xfrm>
          <a:prstGeom prst="line">
            <a:avLst/>
          </a:prstGeom>
          <a:noFill/>
          <a:ln w="15875">
            <a:solidFill>
              <a:srgbClr val="4A4E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48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due 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36941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4041648"/>
            <a:ext cx="3657600" cy="0"/>
          </a:xfrm>
          <a:prstGeom prst="line">
            <a:avLst/>
          </a:prstGeom>
          <a:noFill/>
          <a:ln w="15875">
            <a:solidFill>
              <a:srgbClr val="4A4E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PARTIE II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86600" y="5349240"/>
            <a:ext cx="4160520" cy="0"/>
          </a:xfrm>
          <a:prstGeom prst="line">
            <a:avLst/>
          </a:prstGeom>
          <a:noFill/>
          <a:ln w="15875">
            <a:solidFill>
              <a:srgbClr val="4A4E6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ACTE 1 · LA SITUATION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778240" y="310896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0" y="3108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CONSTRUIT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décès à domicile, lundi matin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3291840" cy="361188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Lundi, 07:40</a:t>
            </a:r>
            <a:endParaRPr lang="en-US" sz="26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commune C, comté B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Patient de 78 ans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069080" y="155448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74650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55448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Décédé une heure plus tôt, en présence de sa fille. Aucun signe de violence.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069080" y="246888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66090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46888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Diabète de type 2, maladie rénale chronique, cardiopathie ischémique avec infarctus ancien.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069080" y="338328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57530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38328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y a deux semaines : dyspnée d’effort, œdèmes ; le médecin avait noté une insuffisance cardiaque.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069080" y="429768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448970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429768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Ces derniers jours, il ne respirait plus qu’assis. La famille demande le certificat.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94360" y="539496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3949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construit pour le cours ; les détails sont plausibles, non réels.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DÉCISION 1 · VOTE INDIVIDUEL, SANS DISCUSSION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Qu’écrit le médecin dans la partie I du certificat 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Arrêt cardiorespiratoire », seul.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9204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Seulement « insuffisance cardiaque », sur la première ligne.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 refuse le certificat et je demande l’autopsie.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9204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85216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a) insuffisance cardiaque, due à b) cardiopathie ischémique chronique ; partie II : diabète, maladie rénale.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89720" y="1783080"/>
            <a:ext cx="2377440" cy="30632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78308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[code QR Mentimeter]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le téléphone, au code affiché.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DÉCISION 1 · REVOTE, APRÈS LA DISCUSSION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REVOTE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Convainquez celui qui a voté autrement. Puis votez de nouveau.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vote individuel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[distribution de Mentimeter]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revote, après la discussion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[distribution de Mentimeter]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 arrêt cardiorespiratoire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 seulement l’insuffisance cardiaque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  l’autopsie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  l’enchaînement complet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le téléphone, au code affiché.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LOI N° 119/1996 · ACTES DE L’ÉTAT CIVIL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rédige le certificat, et dans quel délai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47472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médecin qui a fait la constatation. Il consigne la cause du décès et la date du décès.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600200"/>
            <a:ext cx="3474720" cy="82296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quel délai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Déclaration du décès : dans les 3 jours à compter de la date de la mort.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16002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600200"/>
            <a:ext cx="347472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Exception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6760" y="246888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Suicide, accident, autres causes violentes, cadavre découvert : l’état civil exige aussi la preuve de la saisine de la police ou du parquet.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93776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9377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certificat est le document médical que l’état civil transforme en acte de décès.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n° 119/1996 cu privire la actele de stare civilă (loi relative aux actes de l’état civil), forme consolidée.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RÈGLES DE L’OMS · CIM-10, VOLUME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Partie I : un enchaînement. Partie II : ce qui a contribué.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Cause terminale : la maladie inscrite en premier, sur la première ligne.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624328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243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62432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due à ...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648456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4845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648456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Point de départ : sur la dernière ligne utilisée. C’est sur lui que se construit la cause initiale.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754880"/>
            <a:ext cx="6766560" cy="914400"/>
          </a:xfrm>
          <a:prstGeom prst="roundRect">
            <a:avLst>
              <a:gd name="adj" fmla="val 9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548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Partie II 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états qui ont contribué, sans être des maillons de l’enchaînement.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1600200"/>
            <a:ext cx="3931920" cy="4069080"/>
          </a:xfrm>
          <a:prstGeom prst="roundRect">
            <a:avLst>
              <a:gd name="adj" fmla="val 209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828800"/>
            <a:ext cx="3429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se lit de haut en bas, avec « due à ».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côté de chaque maladie : l’intervalle approximatif entre le début et le décès, non depuis le diagnostic.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Organisation mondiale de la santé, CIM-10, volume 2, manuel d’utilisation.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L’EXEMPLE · VALEURS HYPOTHÉTIQUES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certificat du patient, correctement rempli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94944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Ligne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Maladie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Intervalle depuis le début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 a)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Insuffisance cardiaque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quelques semaines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 b)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Cardiopathie ischémique chronique, avec infarctus du myocarde ancien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plusieurs années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II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Diabète de type 2 ; maladie rénale chronique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75488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47548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autre médecin, avec d’autres données cliniques, pourrait défendre un autre enchaînement ; ce qu’on ne peut pas défendre, c’est un certificat sans maladie.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PIÈGE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Arrêt cardiorespiratoire » n’est pas une cause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420624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I46.9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R99</a:t>
            </a:r>
            <a:endParaRPr lang="en-US" sz="4400" dirty="0"/>
          </a:p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causes non précisées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120640" y="1691640"/>
            <a:ext cx="6446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Toute personne qui meurt présente, à la fin, l’arrêt du cœur et de la respiration : l’expression décrit la façon de mourir, non la maladie.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Not to be used for underlying-cause mortality coding. » (Ne pas utiliser pour le codage de la cause initiale de décès.)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Sans autre cause déclarée, le décès est codé en R99.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484632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8463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certificat répond à la question : quelle maladie a déclenché l’enchaînement qui a conduit à la mort 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OMS, CIM-10, volume 2 : l’arrêt cardiaque sans précision ne s’utilise pas pour le codage de la cause initiale.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DÉCISION 1 · COMMENT SE TRANCHENT LES OPTIONS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Quatre options, quatre conséquences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Cause non précisée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26280" y="1600200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L’expression seule envoie le décès en R99.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67919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44368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67919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Incomplet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679192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Cause terminale sans point de départ : la cardiopathie ischémique manque.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75818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2336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5818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Sans appui dans les faits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3758184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décès n’entre dans aucune exception de la loi ; le certificat est signé par le médecin qui a constaté le décès.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4837176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102352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83717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Correct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26280" y="4837176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L’enchaînement complet, avec le diabète et la maladie rénale en partie II : celui qu’exigent les règles de l’OMS.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FORMULAIRES RÉELS, EN SALLE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formulaires types roumains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00200"/>
            <a:ext cx="82296" cy="1143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certificat médical de décès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00200"/>
            <a:ext cx="82296" cy="11430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002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certificat médical de naissance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82296" cy="114300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260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fiche unique de déclaration de la maladie transmissible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926080"/>
            <a:ext cx="82296" cy="114300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9260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certificat d’arrêt de travail, d’après les rubriques des instructions de l’arrêté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389120"/>
            <a:ext cx="10972800" cy="1691640"/>
          </a:xfrm>
          <a:prstGeom prst="roundRect">
            <a:avLst>
              <a:gd name="adj" fmla="val 486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8912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 chaque formulaire 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le remplit, quelles rubriques sont médicales, où va chaque exemplaire et quel indicateur statistique il alimente.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DEUXIÈME DOCUMENT DU MATIN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certificat d’arrêt de travail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fille, avec une pneumonie aiguë. Formulaire à régime spécial, qui constitue un ordre de paiement.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type.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Initial ou de prolongation : la prolongation continue un arrêt ininterrompu, pour la même affection.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031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mois.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 dépasse pas le mois en cours ; les jours du mois suivant, sur un nouveau certificat, de prolongation.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3703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033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diagnostic.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code selon la CIM-10, avec la forme clinique : aiguë, subaiguë ou chronique.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17920" y="3703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7033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L’indemnité.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Son code, en chiffres et en lettres, selon les spécifications du verso du certificat.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Arrêté MS/CNAS n° 1192/745/2020, annexe n° 2 ; 3 exemplaires.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OUG N° 158/2005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paie, et combien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Jours 1–5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267712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l’employeur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Ensuite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92240" y="2267712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Fonds national unique d’assurance sociale de santé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29260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55 %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3798418"/>
            <a:ext cx="29260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jusqu’à 7 jours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310896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200400"/>
            <a:ext cx="29260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65 %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3798418"/>
            <a:ext cx="29260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8–14 jours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310896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3200400"/>
            <a:ext cx="29260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75 %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366760" y="3798418"/>
            <a:ext cx="29260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plus de 15 jours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4572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pourcentage, par épisode de maladie ordinaire (loi n° 141/2025). Certaines maladies ont un pourcentage fixe : 75 % ou 100 %.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5212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Durée minimale d’assurance : 6 mois sur les 12 derniers. 183 jours au plus par an ; à partir du 91e jour, avec l’approbation du médecin expert des assurances sociales.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FICHE DE TRAVAIL 4 · INDIVIDUEL, DANS FORMS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ÉTAPES 1 ET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certificat de décès et l’arrêt de travail de la fille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786384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Réécrivez la partie médicale du certificat portant « arrêt cardiorespiratoire » : l’enchaînement, les intervalles, la cause terminale, le point de départ.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786384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7033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Pneumonie aiguë, maladie ordinaire : 5 jours, puis 2 de plus, sans interruption, le même mois. Type de certificat, payeur, pourcentage.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732520" y="1645920"/>
            <a:ext cx="2834640" cy="301752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16459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[code QR du formulaire]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[lien court]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937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rubriques du formulaire roumain : dans l’espace réservé, à partir des formulaires montrés en salle.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le téléphone, au code affiché.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ACTE 2 · LA COMPLICATION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778240" y="310896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0" y="3108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CONSTRUIT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mois plus tard, à la direction de santé publique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12,0 %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68680" y="2836469"/>
            <a:ext cx="480060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Comté B : 600 décès sur 5 000 ont une cause initiale non précisée.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916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5,0 %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92240" y="2836469"/>
            <a:ext cx="480060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Comté voisin, à structure par âge semblable : 250 sur 5 000.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20624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062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L’échantillon de certificats 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 la première ligne, « arrêt cardiorespiratoire » ; en dessous, rien. Le certificat de l’acte 1 en fait partie.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hypothétiques, construites pour le cours.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 FORMULAIRE À LA STATISTIQUE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chemin de la cause de décès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25146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médecin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rubrique médicale du certificat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210312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47288" y="1600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600200"/>
            <a:ext cx="2514600" cy="82296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L’état civil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30168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acte de décès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61888" y="210312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00216" y="1600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1600200"/>
            <a:ext cx="2514600" cy="82296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Bulletin statistique de décès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83096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transmis par voie électronique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14816" y="210312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53144" y="1600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53144" y="1600200"/>
            <a:ext cx="25146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36024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mortalité par cause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3611880"/>
            <a:ext cx="10972800" cy="2468880"/>
          </a:xfrm>
          <a:prstGeom prst="roundRect">
            <a:avLst>
              <a:gd name="adj" fmla="val 3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9476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proportion élevée de symptômes et de signes « indicates a need to check or estimate the quality of the tabulated data ».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Chaque décès classé en causes non précisées manque à la ligne de la maladie qui l’a provoqué : la mortalité cardiovasculaire du comté paraît plus faible qu’elle ne l’est.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n° 119/1996 (bulletins statistiques, INS) ; OMS, CIM-10, volume 2.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CONFÉRENCE RMM · LA CHRONOLOGIE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décisions et des conditions, pas des coupables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291840"/>
                <a:gridCol w="31089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Moment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Qui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Ce qu’il a vu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Ce qu’il a décidé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Lundi, 07:40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le médecin de famille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décès à domicile, la fille présente, sans violence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constate le décès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À la délivrance du certificat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le médecin de famille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la famille attend ; le dossier est au cabinet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« arrêt cardiorespiratoire » ; le reste vide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Dans le délai de 3 jours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la fille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le certificat signé et revêtu du cachet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déclare le décès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Les semaines suivantes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l’état civil, le codage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une seule expression, non acceptée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bulletin à l’INS ; cause non précisée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Trois mois plus tard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l’analyste de la DSP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12,0 % contre 5,0 %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cherche le schéma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hypothétiques ; moments et rôles plausibles, non réels.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CONFÉRENCE RMM · DIAGRAMME DES CAUSES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NUAGE DE MOTS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Pourquoi « arrêt cardiorespiratoire » s’est-il retrouvé sur le certificat 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7863840" cy="0"/>
          </a:xfrm>
          <a:prstGeom prst="line">
            <a:avLst/>
          </a:prstGeom>
          <a:noFill/>
          <a:ln w="38100">
            <a:solidFill>
              <a:srgbClr val="1112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0" y="292608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9260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 sans maladie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80160" y="1783080"/>
            <a:ext cx="1188720" cy="1828800"/>
          </a:xfrm>
          <a:prstGeom prst="line">
            <a:avLst/>
          </a:prstGeom>
          <a:noFill/>
          <a:ln w="25400">
            <a:solidFill>
              <a:srgbClr val="B025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63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1783080"/>
            <a:ext cx="1188720" cy="1828800"/>
          </a:xfrm>
          <a:prstGeom prst="line">
            <a:avLst/>
          </a:prstGeom>
          <a:noFill/>
          <a:ln w="25400">
            <a:solidFill>
              <a:srgbClr val="B025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4630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63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Procédures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1188720" cy="1828800"/>
          </a:xfrm>
          <a:prstGeom prst="line">
            <a:avLst/>
          </a:prstGeom>
          <a:noFill/>
          <a:ln w="25400">
            <a:solidFill>
              <a:srgbClr val="B025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14630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463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Équipements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flipV="1">
            <a:off x="1280160" y="3611880"/>
            <a:ext cx="1188720" cy="1783080"/>
          </a:xfrm>
          <a:prstGeom prst="line">
            <a:avLst/>
          </a:prstGeom>
          <a:noFill/>
          <a:ln w="25400">
            <a:solidFill>
              <a:srgbClr val="0E7C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4406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40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Environnement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flipV="1">
            <a:off x="3840480" y="3611880"/>
            <a:ext cx="1188720" cy="1783080"/>
          </a:xfrm>
          <a:prstGeom prst="line">
            <a:avLst/>
          </a:prstGeom>
          <a:noFill/>
          <a:ln w="25400">
            <a:solidFill>
              <a:srgbClr val="0E7C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54406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5440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Organisation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 flipV="1">
            <a:off x="6400800" y="3611880"/>
            <a:ext cx="1188720" cy="1783080"/>
          </a:xfrm>
          <a:prstGeom prst="line">
            <a:avLst/>
          </a:prstGeom>
          <a:noFill/>
          <a:ln w="25400">
            <a:solidFill>
              <a:srgbClr val="0E7C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54406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5440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le téléphone, au code affiché.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89720" y="4617720"/>
            <a:ext cx="2377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461772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[code QR Mentimeter]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CINQ POURQUOI · VOTE ÉTAPE PAR ÉTAPE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seule cause : le médecin a écrit « arrêt cardiorespiratoire »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832104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Pourquoi 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313432"/>
            <a:ext cx="832104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048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313432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Pourquoi 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026664"/>
            <a:ext cx="832104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1181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026664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Pourquoi 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3739896"/>
            <a:ext cx="832104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313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739896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Pourquoi 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4360" y="4453128"/>
            <a:ext cx="832104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5445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453128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Pourquoi 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189720" y="1600200"/>
            <a:ext cx="2377440" cy="292608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160020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[code QR Mentimeter]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le téléphone, au code affiché.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DIAGRAMME COMPLÉTÉ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causes sur les six branches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Personnes: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formation à la certification des décès est courte ; beaucoup de médecins n’ont jamais vu un certificat corrigé.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Procédures: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personne ne vérifie, avant l’enregistrement, si la partie médicale contient une maladie.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6324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Équipements: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formulaire ne porte pas d’exemple d’enchaînement ; le dossier du patient n’est pas au domicile.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306324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06324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Environnement: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la maison, le matin, avec la famille présente et le délai légal qui court.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57200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Organisation: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certificats de cause non précisée ne reviennent jamais au signataire.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0" y="45720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57200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Communication: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aucun canal entre ceux qui codent et ceux qui certifient.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CINQ POURQUOI · JUSQU’AU SYSTÈME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circuit qui manque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64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a noté le dernier événement observé.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4360" y="2304288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4140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3042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a compris la rubrique comme « ce qui s’est passé au moment de la mort ».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94360" y="3054096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163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05409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n’a jamais reçu un certificat en retour, avec une question.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3803904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9136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38039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Entre le codage et la certification, il n’existe pas de circuit de retour.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94360" y="4553712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663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45537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circuit a été conçu pour l’enregistrement, non pour la qualité de la cause.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9436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réponse finale n’est pas une personne, mais un circuit qui manque.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DÉCISION 2 · VOTE INDIVIDUEL, SANS DISCUSSION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Quelle mesure la direction de santé publique propose-t-elle 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lettre aux médecins : « remplissez avec plus d’attention ».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9204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liste déroulante de diagnostics dans le certificat électronique.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Chaque certificat de cause non précisée est renvoyé au signataire, avec une question écrite ; rapport trimestriel par établissement.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9204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85216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amendes pour les certificats incomplets.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89720" y="1783080"/>
            <a:ext cx="2377440" cy="30632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78308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[code QR Mentimeter]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le téléphone, au code affiché.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DÉCISION 2 · REVOTE, APRÈS LA DISCUSSION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REVOTE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Convainquez celui qui a voté autrement. Puis votez de nouveau.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vote individuel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[distribution de Mentimeter]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revote, après la discussion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[distribution de Mentimeter]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 la lettre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 la liste déroulante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  le renvoi au signataire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  les amendes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le téléphone, au code affiché.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DÉCISION 2 · COMMENT SE TRANCHENT LES OPTIONS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mesure de système : le circuit de retour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 change rien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26280" y="1600200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conditions du diagramme restent les mêmes.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67919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44368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67919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Interdite par l’OMS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679192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Automated systems must not include lists or other prompts to guide the certifier. » (pas de listes pour guider le médecin)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375818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2336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5818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mesure de système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3758184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certificat revient au signataire, avec une question écrite ; les établissements reçoivent chaque trimestre leur proportion.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4837176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10235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83717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Sans fondement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26280" y="4837176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 de fondement dans les actes cités ; elles contredisent la culture sans blâme.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COMMENT SAVOIR SI ÇA A FONCTIONNÉ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L’indicateur : la proportion des causes non précisées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12,0 % → 5,0 %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693822"/>
            <a:ext cx="4800600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cible du comté B : le niveau du comté voisin (cas construit)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002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Calculée chaque trimestre, par comté et par établissement.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3931920"/>
            <a:ext cx="10972800" cy="2148840"/>
          </a:xfrm>
          <a:prstGeom prst="roundRect">
            <a:avLst>
              <a:gd name="adj" fmla="val 383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931920"/>
            <a:ext cx="10424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piège 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l’indicateur baisse aussi si « arrêt cardiorespiratoire » est remplacé par d’autres formulations vagues. C’est pourquoi on suit, à côté de lui, l’échantillon de certificats vérifiés manuellement.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TROISIÈME FORMULAIRE · HG N° 657/2022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Déclarer à la suspicion, non à la confirmation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fiche unique: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la direction de santé publique, dans un délai maximal de 5 jours à compter du dépistage.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Maladie marquée « (T) »: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immédiatement, par téléphone ; puis la fiche, toujours dans un délai de 5 jours au plus.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301752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175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sanctions: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avertissement écrit ; dans un délai d’un an, 500 à 1 000 lei ; ensuite 2 500 à 5 000 lei.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0175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registre: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RUBT, administré par l’INSP ; les données personnelles sont confidentielles.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10972800" cy="1508760"/>
          </a:xfrm>
          <a:prstGeom prst="roundRect">
            <a:avLst>
              <a:gd name="adj" fmla="val 545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57200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Étape 3, dans le formulaire 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petit-fils, un enfant, cas suspect d’une maladie marquée « (T) ».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ACTE 3 · LE TRANSFERT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778240" y="310896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0" y="3108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CONSTRUIT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naissance à la limite de la viabilité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68680" y="255117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semaines de grossesse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480 g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617720" y="255117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la naissance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60020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~40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66760" y="255117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minutes de battements cardiaques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5760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Maternité de l’hôpital A, comté B. L’enfant meurt, malgré les soins. </a:t>
            </a:r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collègue propose : « mort-né, parce qu’il n’était de toute façon pas viable et qu’il pèse moins de 500 grammes ».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construit pour le cours, y compris la réplique de la collègue ; les détails sont plausibles, non réels.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DÉCISION 3 · VOTE INDIVIDUEL, SANS DISCUSSION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Comment la naissance est-elle enregistrée 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Mort-né : certificat médical de naissance et acte de naissance.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9204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Né vivant : certificat médical de naissance et certificat médical de décès.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Avortement, sans enregistrement à l’état civil.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9204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85216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Né vivant, avec l’acte de naissance seulement, sans acte de décès.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89720" y="1783080"/>
            <a:ext cx="2377440" cy="30632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78308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[code QR Mentimeter]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le téléphone, au code affiché.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DÉFINITION DE L’OMS ET LOI SUR L’ÉTAT CIVIL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signes de vie décident, non le poids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irrespective of the duration of the pregnancy, which, after such separation, breathes or shows any other evidence of life 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971800"/>
            <a:ext cx="347472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Né vivant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Déclaration dans les 30 jours ; s’il meurt dans ce délai, dans les 24 heures suivant le décès.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29718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971800"/>
            <a:ext cx="347472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Mort-né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Déclaration dans les 3 jours. Seul l’acte de naissance est dressé.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29718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2971800"/>
            <a:ext cx="3474720" cy="82296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 de naissance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66760" y="36576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Formulaire type : numéro d’enregistrement, date certaine, signature du médecin.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OMS, CIM-10, volume 2 ; loi n° 119/1996 ; HG n° 255/2024.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DÉCISION 3 · COMMENT SE TRANCHENT LES OPTIONS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L’enfant est né vivant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Faux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26280" y="1600200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Mort-né » ne s’applique qu’à l’enfant sans aucun signe de vie.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67919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4436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67919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Correct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679192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 de naissance, puis certificat de décès ; l’acte de naissance avant l’acte de décès.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375818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2336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5818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Contredit la définition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3758184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battements du cœur sont un signe de vie, indépendamment de la durée de la grossesse.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4837176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10235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83717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Contredit la loi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26280" y="4837176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L’enfant né vivant qui meurt a aussi un acte de décès.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seuils de 500 grammes et de 22 semaines délimitent la période périnatale, non la décision « vivant ou mort ».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INDICATEURS · POUR 1 000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même type de décès, des dénominateurs différents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Mortalité infantile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15544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avant 1 an ÷ nés vivants × 1 000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697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97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Mortalité périnatale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06240" y="26974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(morts fœtales + décès néonatals précoces) ÷ (nés vivants + mort-nés) × 1 000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31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Néonatale: </a:t>
            </a:r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 premiers jours révolus ; néonatale précoce : 7 premiers jours.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393192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931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Post-néonatale: </a:t>
            </a:r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mortalité infantile moins mortalité néonatale.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502920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029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Période périnatale: </a:t>
            </a:r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22 semaines révolues (en général 500 g) à 7 jours après la naissance.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502920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5029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Ordre des critères: </a:t>
            </a:r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poids, âge gestationnel, taille couronne-talons.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FICHE DE TRAVAIL 4 · ÉTAPE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LE MÊME FORMULAIRE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indicateurs du comté 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554480" cy="173736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4 000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nés vivants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1600200"/>
            <a:ext cx="1554480" cy="173736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3172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mort-nés, période périnatale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1600200"/>
            <a:ext cx="1554480" cy="173736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2336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avant 1 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1600200"/>
            <a:ext cx="1554480" cy="173736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1500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les 28 premiers jours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60920" y="1600200"/>
            <a:ext cx="1554480" cy="173736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0664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les 7 premiers jours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566160"/>
            <a:ext cx="8092440" cy="1920240"/>
          </a:xfrm>
          <a:prstGeom prst="roundRect">
            <a:avLst>
              <a:gd name="adj" fmla="val 428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56616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Calculez, avec une décimale, les cinq taux. Refaites le calcul avec deux nés vivants inscrits « mort-nés ». Quel indicateur ne change pas, et pourquoi ?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915400" y="1600200"/>
            <a:ext cx="2651760" cy="33832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15400" y="1600200"/>
            <a:ext cx="2651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[code QR du formulaire]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5623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hypothétiques, construites pour le cours.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 L’ERREUR SE RÉPÈTE · CAS CONSTRUIT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 nés vivants inscrits « mort-nés »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6675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  <a:gridCol w="182880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Pour 1 000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Correct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Avec l’erreur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Nés vivants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4 000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3 998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Infantile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7,0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Néonatale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4,0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Néonatale précoce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2,0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Périnatale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508760"/>
            <a:ext cx="4023360" cy="3621024"/>
          </a:xfrm>
          <a:prstGeom prst="roundRect">
            <a:avLst>
              <a:gd name="adj" fmla="val 2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69164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L’infantile baisse sur le papier d’un demi-décès pour 1 000 ; aucun enfant n’a vécu plus longtemps.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périnatale reste la même : les deux erreurs restent dans son numérateur.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Roumanie, 2024 : infantile 6,6 pour 1 000 enfants nés vivants ; UE : 3,5.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Comté B : valeurs hypothétiques. Roumanie et UE : Eurostat.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VOUS FAITES AUTREMENT LUNDI MATIN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gestes, trois formulaires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47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premier certificat de décès : la maladie qui a déclenché l’enchaînement, sur la dernière ligne utilisée de la partie I ; jamais « arrêt cardiorespiratoire » seul.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90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697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premier enfant né avec des signes de vie, aussi petit soit-il : le certificat de naissance et, s’il meurt, le certificat de décès.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133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840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premier cas suspect d’une maladie à déclaration obligatoire : n’attendez pas le laboratoire.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94360" y="51206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Chaque formulaire rempli aujourd’hui sera, un jour, un chiffre dans un tableau que quelqu’un d’autre utilise pour décider où vont l’argent et les personnes.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4480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CINQ DERNIÈRES MINUTES · ANONYME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questions pour finir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Qu’est-ce qui a été utile 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Où vous ai-je perdus 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pourriez-vous utiliser demain 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[code QR Mentimeter]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le téléphone, au code affiché. À la séance suivante, sur la page de la discipline, vous trouverez deux modifications faites d’après les réponses.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4 - Qu’écrit le médecin sur le certificat, lundi à 07:40 ?</dc:title>
  <dc:subject>PptxGenJS Presentation</dc:subject>
  <dc:creator>Conf. Univ. Dr. Adrian Pana</dc:creator>
  <cp:lastModifiedBy>Conf. Univ. Dr. Adrian Pana</cp:lastModifiedBy>
  <cp:revision>1</cp:revision>
  <dcterms:created xsi:type="dcterms:W3CDTF">2026-10-24T13:41:00Z</dcterms:created>
  <dcterms:modified xsi:type="dcterms:W3CDTF">2026-10-24T13:41:00Z</dcterms:modified>
  <cp:keywords>sursa_amprenta=707f7adb4c589b78; proiectie</cp:keywords>
</cp:coreProperties>
</file>