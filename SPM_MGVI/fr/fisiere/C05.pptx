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40080" y="777240"/>
            <a:ext cx="603504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640080" y="777240"/>
            <a:ext cx="60350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COURS 5  ·  SANTÉ PUBLIQUE ET MANAGEMENT</a:t>
            </a:r>
            <a:endParaRPr lang="en-US" sz="1300" dirty="0"/>
          </a:p>
        </p:txBody>
      </p:sp>
      <p:sp>
        <p:nvSpPr>
          <p:cNvPr id="4" name="Text 2"/>
          <p:cNvSpPr/>
          <p:nvPr/>
        </p:nvSpPr>
        <p:spPr>
          <a:xfrm>
            <a:off x="640080" y="1463040"/>
            <a:ext cx="10789920" cy="1371600"/>
          </a:xfrm>
          <a:prstGeom prst="rect">
            <a:avLst/>
          </a:prstGeom>
          <a:noFill/>
          <a:ln/>
        </p:spPr>
        <p:txBody>
          <a:bodyPr wrap="square" lIns="0" tIns="0" rIns="0" bIns="0" rtlCol="0" anchor="t"/>
          <a:lstStyle/>
          <a:p>
            <a:pPr indent="0" marL="0">
              <a:buNone/>
            </a:pPr>
            <a:r>
              <a:rPr lang="en-US" sz="5200" b="1" dirty="0">
                <a:solidFill>
                  <a:srgbClr val="FFFFFF"/>
                </a:solidFill>
                <a:latin typeface="Palatino Linotype" pitchFamily="34" charset="0"/>
                <a:ea typeface="Palatino Linotype" pitchFamily="34" charset="-122"/>
                <a:cs typeface="Palatino Linotype" pitchFamily="34" charset="-120"/>
              </a:rPr>
              <a:t>« Docteur, j’ai un cancer ? »</a:t>
            </a:r>
            <a:endParaRPr lang="en-US" sz="5200" dirty="0"/>
          </a:p>
        </p:txBody>
      </p:sp>
      <p:sp>
        <p:nvSpPr>
          <p:cNvPr id="5" name="Text 3"/>
          <p:cNvSpPr/>
          <p:nvPr/>
        </p:nvSpPr>
        <p:spPr>
          <a:xfrm>
            <a:off x="640080" y="2971800"/>
            <a:ext cx="10424160" cy="1005840"/>
          </a:xfrm>
          <a:prstGeom prst="rect">
            <a:avLst/>
          </a:prstGeom>
          <a:noFill/>
          <a:ln/>
        </p:spPr>
        <p:txBody>
          <a:bodyPr wrap="square" lIns="0" tIns="0" rIns="0" bIns="0" rtlCol="0" anchor="t"/>
          <a:lstStyle/>
          <a:p>
            <a:pPr indent="0" marL="0">
              <a:buNone/>
            </a:pPr>
            <a:r>
              <a:rPr lang="en-US" sz="2400" b="1" dirty="0">
                <a:solidFill>
                  <a:srgbClr val="27D3BE"/>
                </a:solidFill>
                <a:latin typeface="Palatino Linotype" pitchFamily="34" charset="0"/>
                <a:ea typeface="Palatino Linotype" pitchFamily="34" charset="-122"/>
                <a:cs typeface="Palatino Linotype" pitchFamily="34" charset="-120"/>
              </a:rPr>
              <a:t>Dépistage de population. Critères de Wilson-Jungner. Évaluation des tests diagnostiques</a:t>
            </a:r>
            <a:endParaRPr lang="en-US" sz="2400" dirty="0"/>
          </a:p>
        </p:txBody>
      </p:sp>
      <p:sp>
        <p:nvSpPr>
          <p:cNvPr id="6" name="Shape 4"/>
          <p:cNvSpPr/>
          <p:nvPr/>
        </p:nvSpPr>
        <p:spPr>
          <a:xfrm>
            <a:off x="667512" y="4251960"/>
            <a:ext cx="1280160" cy="27432"/>
          </a:xfrm>
          <a:prstGeom prst="rect">
            <a:avLst/>
          </a:prstGeom>
          <a:solidFill>
            <a:srgbClr val="FF4757"/>
          </a:solidFill>
          <a:ln w="12700">
            <a:solidFill>
              <a:srgbClr val="FF4757"/>
            </a:solidFill>
            <a:prstDash val="solid"/>
          </a:ln>
        </p:spPr>
      </p:sp>
      <p:sp>
        <p:nvSpPr>
          <p:cNvPr id="7" name="Text 5"/>
          <p:cNvSpPr/>
          <p:nvPr/>
        </p:nvSpPr>
        <p:spPr>
          <a:xfrm>
            <a:off x="640080" y="4434840"/>
            <a:ext cx="10515600" cy="91440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Une lettre avec un résultat positif et deux questions : quelle est la probabilité que la personne soit malade, et quand un État a-t-il intérêt à tester des personnes sans symptômes ?</a:t>
            </a:r>
            <a:endParaRPr lang="en-US" sz="1700" dirty="0"/>
          </a:p>
        </p:txBody>
      </p:sp>
      <p:sp>
        <p:nvSpPr>
          <p:cNvPr id="8" name="Text 6"/>
          <p:cNvSpPr/>
          <p:nvPr/>
        </p:nvSpPr>
        <p:spPr>
          <a:xfrm>
            <a:off x="640080" y="5669280"/>
            <a:ext cx="10515600" cy="365760"/>
          </a:xfrm>
          <a:prstGeom prst="rect">
            <a:avLst/>
          </a:prstGeom>
          <a:noFill/>
          <a:ln/>
        </p:spPr>
        <p:txBody>
          <a:bodyPr wrap="square" lIns="0" tIns="0" rIns="0" bIns="0" rtlCol="0" anchor="t"/>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UMF Cluj-Napoca · Médecine, sixième année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 PATIENT CONSTRUIT POUR LA DISCUSSION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M. Vasile, 58 ans</a:t>
            </a:r>
            <a:endParaRPr lang="en-US" sz="3400" dirty="0"/>
          </a:p>
        </p:txBody>
      </p:sp>
      <p:sp>
        <p:nvSpPr>
          <p:cNvPr id="4" name="Shape 2"/>
          <p:cNvSpPr/>
          <p:nvPr/>
        </p:nvSpPr>
        <p:spPr>
          <a:xfrm>
            <a:off x="594360" y="1691640"/>
            <a:ext cx="5852160" cy="3108960"/>
          </a:xfrm>
          <a:prstGeom prst="roundRect">
            <a:avLst>
              <a:gd name="adj" fmla="val 2647"/>
            </a:avLst>
          </a:prstGeom>
          <a:solidFill>
            <a:srgbClr val="ECEAE4"/>
          </a:solidFill>
          <a:ln w="12700">
            <a:solidFill>
              <a:srgbClr val="ECEAE4"/>
            </a:solidFill>
            <a:prstDash val="solid"/>
          </a:ln>
        </p:spPr>
      </p:sp>
      <p:sp>
        <p:nvSpPr>
          <p:cNvPr id="5" name="Text 3"/>
          <p:cNvSpPr/>
          <p:nvPr/>
        </p:nvSpPr>
        <p:spPr>
          <a:xfrm>
            <a:off x="868680" y="1783080"/>
            <a:ext cx="5303520" cy="2926080"/>
          </a:xfrm>
          <a:prstGeom prst="rect">
            <a:avLst/>
          </a:prstGeom>
          <a:noFill/>
          <a:ln/>
        </p:spPr>
        <p:txBody>
          <a:bodyPr wrap="square" lIns="0" tIns="0" rIns="0" bIns="0" rtlCol="0" anchor="ctr"/>
          <a:lstStyle/>
          <a:p>
            <a:pPr indent="0" marL="0">
              <a:buNone/>
            </a:pPr>
            <a:r>
              <a:rPr lang="en-US" sz="2100" dirty="0">
                <a:solidFill>
                  <a:srgbClr val="11121A"/>
                </a:solidFill>
                <a:latin typeface="Palatino Linotype" pitchFamily="34" charset="0"/>
                <a:ea typeface="Palatino Linotype" pitchFamily="34" charset="-122"/>
                <a:cs typeface="Palatino Linotype" pitchFamily="34" charset="-120"/>
              </a:rPr>
              <a:t>Il n’a aucun symptôme. Il a reçu à domicile un test de sang occulte dans les selles, proposé à toutes les personnes de son âge dans le département. Le test est revenu positif.</a:t>
            </a:r>
            <a:endParaRPr lang="en-US" sz="2100" dirty="0"/>
          </a:p>
        </p:txBody>
      </p:sp>
      <p:sp>
        <p:nvSpPr>
          <p:cNvPr id="6" name="Shape 4"/>
          <p:cNvSpPr/>
          <p:nvPr/>
        </p:nvSpPr>
        <p:spPr>
          <a:xfrm>
            <a:off x="6720840" y="1691640"/>
            <a:ext cx="4846320" cy="960120"/>
          </a:xfrm>
          <a:prstGeom prst="roundRect">
            <a:avLst>
              <a:gd name="adj" fmla="val 8571"/>
            </a:avLst>
          </a:prstGeom>
          <a:solidFill>
            <a:srgbClr val="ECEAE4"/>
          </a:solidFill>
          <a:ln w="12700">
            <a:solidFill>
              <a:srgbClr val="ECEAE4"/>
            </a:solidFill>
            <a:prstDash val="solid"/>
          </a:ln>
        </p:spPr>
      </p:sp>
      <p:sp>
        <p:nvSpPr>
          <p:cNvPr id="7" name="Text 5"/>
          <p:cNvSpPr/>
          <p:nvPr/>
        </p:nvSpPr>
        <p:spPr>
          <a:xfrm>
            <a:off x="6995160" y="1801368"/>
            <a:ext cx="4297680" cy="480060"/>
          </a:xfrm>
          <a:prstGeom prst="rect">
            <a:avLst/>
          </a:prstGeom>
          <a:noFill/>
          <a:ln/>
        </p:spPr>
        <p:txBody>
          <a:bodyPr wrap="square" lIns="0" tIns="0" rIns="0" bIns="0" rtlCol="0" anchor="ctr"/>
          <a:lstStyle/>
          <a:p>
            <a:pPr indent="0" marL="0">
              <a:buNone/>
            </a:pPr>
            <a:r>
              <a:rPr lang="en-US" sz="3000" b="1" dirty="0">
                <a:solidFill>
                  <a:srgbClr val="0E7C6B"/>
                </a:solidFill>
                <a:latin typeface="Palatino Linotype" pitchFamily="34" charset="0"/>
                <a:ea typeface="Palatino Linotype" pitchFamily="34" charset="-122"/>
                <a:cs typeface="Palatino Linotype" pitchFamily="34" charset="-120"/>
              </a:rPr>
              <a:t>90 %</a:t>
            </a:r>
            <a:endParaRPr lang="en-US" sz="3000" dirty="0"/>
          </a:p>
        </p:txBody>
      </p:sp>
      <p:sp>
        <p:nvSpPr>
          <p:cNvPr id="8" name="Text 6"/>
          <p:cNvSpPr/>
          <p:nvPr/>
        </p:nvSpPr>
        <p:spPr>
          <a:xfrm>
            <a:off x="6995160" y="2189988"/>
            <a:ext cx="4297680" cy="441655"/>
          </a:xfrm>
          <a:prstGeom prst="rect">
            <a:avLst/>
          </a:prstGeom>
          <a:noFill/>
          <a:ln/>
        </p:spPr>
        <p:txBody>
          <a:bodyPr wrap="square" lIns="0" tIns="0" rIns="0" bIns="0" rtlCol="0" anchor="t"/>
          <a:lstStyle/>
          <a:p>
            <a:pPr indent="0" marL="0">
              <a:buNone/>
            </a:pPr>
            <a:r>
              <a:rPr lang="en-US" sz="1200" dirty="0">
                <a:solidFill>
                  <a:srgbClr val="585A64"/>
                </a:solidFill>
                <a:latin typeface="Palatino Linotype" pitchFamily="34" charset="0"/>
                <a:ea typeface="Palatino Linotype" pitchFamily="34" charset="-122"/>
                <a:cs typeface="Palatino Linotype" pitchFamily="34" charset="-120"/>
              </a:rPr>
              <a:t>sensibilité du test</a:t>
            </a:r>
            <a:endParaRPr lang="en-US" sz="1200" dirty="0"/>
          </a:p>
        </p:txBody>
      </p:sp>
      <p:sp>
        <p:nvSpPr>
          <p:cNvPr id="9" name="Shape 7"/>
          <p:cNvSpPr/>
          <p:nvPr/>
        </p:nvSpPr>
        <p:spPr>
          <a:xfrm>
            <a:off x="6720840" y="2761488"/>
            <a:ext cx="4846320" cy="960120"/>
          </a:xfrm>
          <a:prstGeom prst="roundRect">
            <a:avLst>
              <a:gd name="adj" fmla="val 8571"/>
            </a:avLst>
          </a:prstGeom>
          <a:solidFill>
            <a:srgbClr val="ECEAE4"/>
          </a:solidFill>
          <a:ln w="12700">
            <a:solidFill>
              <a:srgbClr val="ECEAE4"/>
            </a:solidFill>
            <a:prstDash val="solid"/>
          </a:ln>
        </p:spPr>
      </p:sp>
      <p:sp>
        <p:nvSpPr>
          <p:cNvPr id="10" name="Text 8"/>
          <p:cNvSpPr/>
          <p:nvPr/>
        </p:nvSpPr>
        <p:spPr>
          <a:xfrm>
            <a:off x="6995160" y="2871216"/>
            <a:ext cx="4297680" cy="480060"/>
          </a:xfrm>
          <a:prstGeom prst="rect">
            <a:avLst/>
          </a:prstGeom>
          <a:noFill/>
          <a:ln/>
        </p:spPr>
        <p:txBody>
          <a:bodyPr wrap="square" lIns="0" tIns="0" rIns="0" bIns="0" rtlCol="0" anchor="ctr"/>
          <a:lstStyle/>
          <a:p>
            <a:pPr indent="0" marL="0">
              <a:buNone/>
            </a:pPr>
            <a:r>
              <a:rPr lang="en-US" sz="3000" b="1" dirty="0">
                <a:solidFill>
                  <a:srgbClr val="4A2D8C"/>
                </a:solidFill>
                <a:latin typeface="Palatino Linotype" pitchFamily="34" charset="0"/>
                <a:ea typeface="Palatino Linotype" pitchFamily="34" charset="-122"/>
                <a:cs typeface="Palatino Linotype" pitchFamily="34" charset="-120"/>
              </a:rPr>
              <a:t>95 %</a:t>
            </a:r>
            <a:endParaRPr lang="en-US" sz="3000" dirty="0"/>
          </a:p>
        </p:txBody>
      </p:sp>
      <p:sp>
        <p:nvSpPr>
          <p:cNvPr id="11" name="Text 9"/>
          <p:cNvSpPr/>
          <p:nvPr/>
        </p:nvSpPr>
        <p:spPr>
          <a:xfrm>
            <a:off x="6995160" y="3259836"/>
            <a:ext cx="4297680" cy="441655"/>
          </a:xfrm>
          <a:prstGeom prst="rect">
            <a:avLst/>
          </a:prstGeom>
          <a:noFill/>
          <a:ln/>
        </p:spPr>
        <p:txBody>
          <a:bodyPr wrap="square" lIns="0" tIns="0" rIns="0" bIns="0" rtlCol="0" anchor="t"/>
          <a:lstStyle/>
          <a:p>
            <a:pPr indent="0" marL="0">
              <a:buNone/>
            </a:pPr>
            <a:r>
              <a:rPr lang="en-US" sz="1200" dirty="0">
                <a:solidFill>
                  <a:srgbClr val="585A64"/>
                </a:solidFill>
                <a:latin typeface="Palatino Linotype" pitchFamily="34" charset="0"/>
                <a:ea typeface="Palatino Linotype" pitchFamily="34" charset="-122"/>
                <a:cs typeface="Palatino Linotype" pitchFamily="34" charset="-120"/>
              </a:rPr>
              <a:t>spécificité du test</a:t>
            </a:r>
            <a:endParaRPr lang="en-US" sz="1200" dirty="0"/>
          </a:p>
        </p:txBody>
      </p:sp>
      <p:sp>
        <p:nvSpPr>
          <p:cNvPr id="12" name="Shape 10"/>
          <p:cNvSpPr/>
          <p:nvPr/>
        </p:nvSpPr>
        <p:spPr>
          <a:xfrm>
            <a:off x="6720840" y="3831336"/>
            <a:ext cx="4846320" cy="960120"/>
          </a:xfrm>
          <a:prstGeom prst="roundRect">
            <a:avLst>
              <a:gd name="adj" fmla="val 8571"/>
            </a:avLst>
          </a:prstGeom>
          <a:solidFill>
            <a:srgbClr val="ECEAE4"/>
          </a:solidFill>
          <a:ln w="12700">
            <a:solidFill>
              <a:srgbClr val="ECEAE4"/>
            </a:solidFill>
            <a:prstDash val="solid"/>
          </a:ln>
        </p:spPr>
      </p:sp>
      <p:sp>
        <p:nvSpPr>
          <p:cNvPr id="13" name="Text 11"/>
          <p:cNvSpPr/>
          <p:nvPr/>
        </p:nvSpPr>
        <p:spPr>
          <a:xfrm>
            <a:off x="6995160" y="3941064"/>
            <a:ext cx="4297680" cy="480060"/>
          </a:xfrm>
          <a:prstGeom prst="rect">
            <a:avLst/>
          </a:prstGeom>
          <a:noFill/>
          <a:ln/>
        </p:spPr>
        <p:txBody>
          <a:bodyPr wrap="square" lIns="0" tIns="0" rIns="0" bIns="0" rtlCol="0" anchor="ctr"/>
          <a:lstStyle/>
          <a:p>
            <a:pPr indent="0" marL="0">
              <a:buNone/>
            </a:pPr>
            <a:r>
              <a:rPr lang="en-US" sz="3000" b="1" dirty="0">
                <a:solidFill>
                  <a:srgbClr val="B02532"/>
                </a:solidFill>
                <a:latin typeface="Palatino Linotype" pitchFamily="34" charset="0"/>
                <a:ea typeface="Palatino Linotype" pitchFamily="34" charset="-122"/>
                <a:cs typeface="Palatino Linotype" pitchFamily="34" charset="-120"/>
              </a:rPr>
              <a:t>1 sur 100</a:t>
            </a:r>
            <a:endParaRPr lang="en-US" sz="3000" dirty="0"/>
          </a:p>
        </p:txBody>
      </p:sp>
      <p:sp>
        <p:nvSpPr>
          <p:cNvPr id="14" name="Text 12"/>
          <p:cNvSpPr/>
          <p:nvPr/>
        </p:nvSpPr>
        <p:spPr>
          <a:xfrm>
            <a:off x="6995160" y="4329684"/>
            <a:ext cx="4297680" cy="441655"/>
          </a:xfrm>
          <a:prstGeom prst="rect">
            <a:avLst/>
          </a:prstGeom>
          <a:noFill/>
          <a:ln/>
        </p:spPr>
        <p:txBody>
          <a:bodyPr wrap="square" lIns="0" tIns="0" rIns="0" bIns="0" rtlCol="0" anchor="t"/>
          <a:lstStyle/>
          <a:p>
            <a:pPr indent="0" marL="0">
              <a:buNone/>
            </a:pPr>
            <a:r>
              <a:rPr lang="en-US" sz="1200" dirty="0">
                <a:solidFill>
                  <a:srgbClr val="585A64"/>
                </a:solidFill>
                <a:latin typeface="Palatino Linotype" pitchFamily="34" charset="0"/>
                <a:ea typeface="Palatino Linotype" pitchFamily="34" charset="-122"/>
                <a:cs typeface="Palatino Linotype" pitchFamily="34" charset="-120"/>
              </a:rPr>
              <a:t>a la maladie recherchée, dans le groupe testé</a:t>
            </a:r>
            <a:endParaRPr lang="en-US" sz="1200" dirty="0"/>
          </a:p>
        </p:txBody>
      </p:sp>
      <p:sp>
        <p:nvSpPr>
          <p:cNvPr id="15" name="Shape 13"/>
          <p:cNvSpPr/>
          <p:nvPr/>
        </p:nvSpPr>
        <p:spPr>
          <a:xfrm>
            <a:off x="594360" y="5029200"/>
            <a:ext cx="10972800" cy="868680"/>
          </a:xfrm>
          <a:prstGeom prst="roundRect">
            <a:avLst>
              <a:gd name="adj" fmla="val 9474"/>
            </a:avLst>
          </a:prstGeom>
          <a:solidFill>
            <a:srgbClr val="11121A"/>
          </a:solidFill>
          <a:ln w="12700">
            <a:solidFill>
              <a:srgbClr val="11121A"/>
            </a:solidFill>
            <a:prstDash val="solid"/>
          </a:ln>
        </p:spPr>
      </p:sp>
      <p:sp>
        <p:nvSpPr>
          <p:cNvPr id="16" name="Text 14"/>
          <p:cNvSpPr/>
          <p:nvPr/>
        </p:nvSpPr>
        <p:spPr>
          <a:xfrm>
            <a:off x="868680" y="5029200"/>
            <a:ext cx="10424160" cy="868680"/>
          </a:xfrm>
          <a:prstGeom prst="rect">
            <a:avLst/>
          </a:prstGeom>
          <a:noFill/>
          <a:ln/>
        </p:spPr>
        <p:txBody>
          <a:bodyPr wrap="square" lIns="0" tIns="0" rIns="0" bIns="0" rtlCol="0" anchor="ctr"/>
          <a:lstStyle/>
          <a:p>
            <a:pPr indent="0" marL="0">
              <a:buNone/>
            </a:pPr>
            <a:r>
              <a:rPr lang="en-US" sz="2400" b="1" dirty="0">
                <a:solidFill>
                  <a:srgbClr val="FFFFFF"/>
                </a:solidFill>
                <a:latin typeface="Palatino Linotype" pitchFamily="34" charset="0"/>
                <a:ea typeface="Palatino Linotype" pitchFamily="34" charset="-122"/>
                <a:cs typeface="Palatino Linotype" pitchFamily="34" charset="-120"/>
              </a:rPr>
              <a:t>« Docteur, est-ce que j’ai un cancer ? »</a:t>
            </a:r>
            <a:endParaRPr lang="en-US" sz="24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Valeurs hypothétiques ; le cas ne décrit pas un patient réel.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PREMIÈRE IMPRESSION</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SANS CALCUL</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Quelle est la probabilité que M. Vasile soit malade ?</a:t>
            </a:r>
            <a:endParaRPr lang="en-US" sz="3000" dirty="0"/>
          </a:p>
        </p:txBody>
      </p:sp>
      <p:sp>
        <p:nvSpPr>
          <p:cNvPr id="6" name="Shape 4"/>
          <p:cNvSpPr/>
          <p:nvPr/>
        </p:nvSpPr>
        <p:spPr>
          <a:xfrm>
            <a:off x="594360" y="1874520"/>
            <a:ext cx="10972800" cy="676656"/>
          </a:xfrm>
          <a:prstGeom prst="roundRect">
            <a:avLst>
              <a:gd name="adj" fmla="val 12162"/>
            </a:avLst>
          </a:prstGeom>
          <a:solidFill>
            <a:srgbClr val="1D1F2B"/>
          </a:solidFill>
          <a:ln w="12700">
            <a:solidFill>
              <a:srgbClr val="1D1F2B"/>
            </a:solidFill>
            <a:prstDash val="solid"/>
          </a:ln>
        </p:spPr>
      </p:sp>
      <p:sp>
        <p:nvSpPr>
          <p:cNvPr id="7" name="Shape 5"/>
          <p:cNvSpPr/>
          <p:nvPr/>
        </p:nvSpPr>
        <p:spPr>
          <a:xfrm>
            <a:off x="777240" y="2002536"/>
            <a:ext cx="420624" cy="420624"/>
          </a:xfrm>
          <a:prstGeom prst="ellipse">
            <a:avLst/>
          </a:prstGeom>
          <a:solidFill>
            <a:srgbClr val="FFC24B"/>
          </a:solidFill>
          <a:ln/>
        </p:spPr>
      </p:sp>
      <p:sp>
        <p:nvSpPr>
          <p:cNvPr id="8" name="Text 6"/>
          <p:cNvSpPr/>
          <p:nvPr/>
        </p:nvSpPr>
        <p:spPr>
          <a:xfrm>
            <a:off x="777240" y="200253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371600" y="1874520"/>
            <a:ext cx="10058400" cy="676656"/>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Presque certaine : plus de neuf sur dix</a:t>
            </a:r>
            <a:endParaRPr lang="en-US" sz="2000" dirty="0"/>
          </a:p>
        </p:txBody>
      </p:sp>
      <p:sp>
        <p:nvSpPr>
          <p:cNvPr id="10" name="Shape 8"/>
          <p:cNvSpPr/>
          <p:nvPr/>
        </p:nvSpPr>
        <p:spPr>
          <a:xfrm>
            <a:off x="594360" y="2679192"/>
            <a:ext cx="10972800" cy="676656"/>
          </a:xfrm>
          <a:prstGeom prst="roundRect">
            <a:avLst>
              <a:gd name="adj" fmla="val 12162"/>
            </a:avLst>
          </a:prstGeom>
          <a:solidFill>
            <a:srgbClr val="1D1F2B"/>
          </a:solidFill>
          <a:ln w="12700">
            <a:solidFill>
              <a:srgbClr val="1D1F2B"/>
            </a:solidFill>
            <a:prstDash val="solid"/>
          </a:ln>
        </p:spPr>
      </p:sp>
      <p:sp>
        <p:nvSpPr>
          <p:cNvPr id="11" name="Shape 9"/>
          <p:cNvSpPr/>
          <p:nvPr/>
        </p:nvSpPr>
        <p:spPr>
          <a:xfrm>
            <a:off x="777240" y="2807208"/>
            <a:ext cx="420624" cy="420624"/>
          </a:xfrm>
          <a:prstGeom prst="ellipse">
            <a:avLst/>
          </a:prstGeom>
          <a:solidFill>
            <a:srgbClr val="FFC24B"/>
          </a:solidFill>
          <a:ln/>
        </p:spPr>
      </p:sp>
      <p:sp>
        <p:nvSpPr>
          <p:cNvPr id="12" name="Text 10"/>
          <p:cNvSpPr/>
          <p:nvPr/>
        </p:nvSpPr>
        <p:spPr>
          <a:xfrm>
            <a:off x="777240" y="28072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371600" y="2679192"/>
            <a:ext cx="10058400" cy="676656"/>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Probable : plus de la moitié</a:t>
            </a:r>
            <a:endParaRPr lang="en-US" sz="2000" dirty="0"/>
          </a:p>
        </p:txBody>
      </p:sp>
      <p:sp>
        <p:nvSpPr>
          <p:cNvPr id="14" name="Shape 12"/>
          <p:cNvSpPr/>
          <p:nvPr/>
        </p:nvSpPr>
        <p:spPr>
          <a:xfrm>
            <a:off x="594360" y="3483864"/>
            <a:ext cx="10972800" cy="676656"/>
          </a:xfrm>
          <a:prstGeom prst="roundRect">
            <a:avLst>
              <a:gd name="adj" fmla="val 12162"/>
            </a:avLst>
          </a:prstGeom>
          <a:solidFill>
            <a:srgbClr val="1D1F2B"/>
          </a:solidFill>
          <a:ln w="12700">
            <a:solidFill>
              <a:srgbClr val="1D1F2B"/>
            </a:solidFill>
            <a:prstDash val="solid"/>
          </a:ln>
        </p:spPr>
      </p:sp>
      <p:sp>
        <p:nvSpPr>
          <p:cNvPr id="15" name="Shape 13"/>
          <p:cNvSpPr/>
          <p:nvPr/>
        </p:nvSpPr>
        <p:spPr>
          <a:xfrm>
            <a:off x="777240" y="3611880"/>
            <a:ext cx="420624" cy="420624"/>
          </a:xfrm>
          <a:prstGeom prst="ellipse">
            <a:avLst/>
          </a:prstGeom>
          <a:solidFill>
            <a:srgbClr val="FFC24B"/>
          </a:solidFill>
          <a:ln/>
        </p:spPr>
      </p:sp>
      <p:sp>
        <p:nvSpPr>
          <p:cNvPr id="16" name="Text 14"/>
          <p:cNvSpPr/>
          <p:nvPr/>
        </p:nvSpPr>
        <p:spPr>
          <a:xfrm>
            <a:off x="777240" y="36118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371600" y="3483864"/>
            <a:ext cx="10058400" cy="676656"/>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Possible : entre un dixième et la moitié</a:t>
            </a:r>
            <a:endParaRPr lang="en-US" sz="2000" dirty="0"/>
          </a:p>
        </p:txBody>
      </p:sp>
      <p:sp>
        <p:nvSpPr>
          <p:cNvPr id="18" name="Shape 16"/>
          <p:cNvSpPr/>
          <p:nvPr/>
        </p:nvSpPr>
        <p:spPr>
          <a:xfrm>
            <a:off x="594360" y="4288536"/>
            <a:ext cx="10972800" cy="676656"/>
          </a:xfrm>
          <a:prstGeom prst="roundRect">
            <a:avLst>
              <a:gd name="adj" fmla="val 12162"/>
            </a:avLst>
          </a:prstGeom>
          <a:solidFill>
            <a:srgbClr val="1D1F2B"/>
          </a:solidFill>
          <a:ln w="12700">
            <a:solidFill>
              <a:srgbClr val="1D1F2B"/>
            </a:solidFill>
            <a:prstDash val="solid"/>
          </a:ln>
        </p:spPr>
      </p:sp>
      <p:sp>
        <p:nvSpPr>
          <p:cNvPr id="19" name="Shape 17"/>
          <p:cNvSpPr/>
          <p:nvPr/>
        </p:nvSpPr>
        <p:spPr>
          <a:xfrm>
            <a:off x="777240" y="4416552"/>
            <a:ext cx="420624" cy="420624"/>
          </a:xfrm>
          <a:prstGeom prst="ellipse">
            <a:avLst/>
          </a:prstGeom>
          <a:solidFill>
            <a:srgbClr val="FFC24B"/>
          </a:solidFill>
          <a:ln/>
        </p:spPr>
      </p:sp>
      <p:sp>
        <p:nvSpPr>
          <p:cNvPr id="20" name="Text 18"/>
          <p:cNvSpPr/>
          <p:nvPr/>
        </p:nvSpPr>
        <p:spPr>
          <a:xfrm>
            <a:off x="777240" y="44165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371600" y="4288536"/>
            <a:ext cx="10058400" cy="676656"/>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Peu probable : moins d’un dixième</a:t>
            </a:r>
            <a:endParaRPr lang="en-US" sz="2000" dirty="0"/>
          </a:p>
        </p:txBody>
      </p:sp>
      <p:sp>
        <p:nvSpPr>
          <p:cNvPr id="22" name="Text 20"/>
          <p:cNvSpPr/>
          <p:nvPr/>
        </p:nvSpPr>
        <p:spPr>
          <a:xfrm>
            <a:off x="594360" y="5257800"/>
            <a:ext cx="10972800" cy="54864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Votez à la première impression ; nous reviendrons au vote après le calcul. Répondez sur votre téléphone, au code affiché.</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RÉPONSE PROVISOIRE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Cela dépend de trois choses qui ne tiennent pas au test</a:t>
            </a:r>
            <a:endParaRPr lang="en-US" sz="3200" dirty="0"/>
          </a:p>
        </p:txBody>
      </p:sp>
      <p:sp>
        <p:nvSpPr>
          <p:cNvPr id="4" name="Shape 2"/>
          <p:cNvSpPr/>
          <p:nvPr/>
        </p:nvSpPr>
        <p:spPr>
          <a:xfrm>
            <a:off x="594360" y="1737360"/>
            <a:ext cx="3520440" cy="2834640"/>
          </a:xfrm>
          <a:prstGeom prst="roundRect">
            <a:avLst>
              <a:gd name="adj" fmla="val 2903"/>
            </a:avLst>
          </a:prstGeom>
          <a:solidFill>
            <a:srgbClr val="ECEAE4"/>
          </a:solidFill>
          <a:ln w="12700">
            <a:solidFill>
              <a:srgbClr val="ECEAE4"/>
            </a:solidFill>
            <a:prstDash val="solid"/>
          </a:ln>
        </p:spPr>
      </p:sp>
      <p:sp>
        <p:nvSpPr>
          <p:cNvPr id="5" name="Shape 3"/>
          <p:cNvSpPr/>
          <p:nvPr/>
        </p:nvSpPr>
        <p:spPr>
          <a:xfrm>
            <a:off x="822960" y="1920240"/>
            <a:ext cx="420624" cy="420624"/>
          </a:xfrm>
          <a:prstGeom prst="ellipse">
            <a:avLst/>
          </a:prstGeom>
          <a:solidFill>
            <a:srgbClr val="FF4757"/>
          </a:solidFill>
          <a:ln/>
        </p:spPr>
      </p:sp>
      <p:sp>
        <p:nvSpPr>
          <p:cNvPr id="6" name="Text 4"/>
          <p:cNvSpPr/>
          <p:nvPr/>
        </p:nvSpPr>
        <p:spPr>
          <a:xfrm>
            <a:off x="822960" y="192024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822960" y="2468880"/>
            <a:ext cx="3108960" cy="109728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La fréquence de la maladie dans le groupe testé</a:t>
            </a:r>
            <a:endParaRPr lang="en-US" sz="1900" dirty="0"/>
          </a:p>
        </p:txBody>
      </p:sp>
      <p:sp>
        <p:nvSpPr>
          <p:cNvPr id="8" name="Text 6"/>
          <p:cNvSpPr/>
          <p:nvPr/>
        </p:nvSpPr>
        <p:spPr>
          <a:xfrm>
            <a:off x="822960" y="3566160"/>
            <a:ext cx="3108960" cy="914400"/>
          </a:xfrm>
          <a:prstGeom prst="rect">
            <a:avLst/>
          </a:prstGeom>
          <a:noFill/>
          <a:ln/>
        </p:spPr>
        <p:txBody>
          <a:bodyPr wrap="square" lIns="0" tIns="0" rIns="0" bIns="0" rtlCol="0" anchor="t"/>
          <a:lstStyle/>
          <a:p>
            <a:pPr indent="0" marL="0">
              <a:buNone/>
            </a:pPr>
            <a:r>
              <a:rPr lang="en-US" sz="1600" i="1" dirty="0">
                <a:solidFill>
                  <a:srgbClr val="B02532"/>
                </a:solidFill>
                <a:latin typeface="Palatino Linotype" pitchFamily="34" charset="0"/>
                <a:ea typeface="Palatino Linotype" pitchFamily="34" charset="-122"/>
                <a:cs typeface="Palatino Linotype" pitchFamily="34" charset="-120"/>
              </a:rPr>
              <a:t>se calcule</a:t>
            </a:r>
            <a:endParaRPr lang="en-US" sz="1600" dirty="0"/>
          </a:p>
        </p:txBody>
      </p:sp>
      <p:sp>
        <p:nvSpPr>
          <p:cNvPr id="9" name="Shape 7"/>
          <p:cNvSpPr/>
          <p:nvPr/>
        </p:nvSpPr>
        <p:spPr>
          <a:xfrm>
            <a:off x="4343400" y="1737360"/>
            <a:ext cx="3520440" cy="2834640"/>
          </a:xfrm>
          <a:prstGeom prst="roundRect">
            <a:avLst>
              <a:gd name="adj" fmla="val 2903"/>
            </a:avLst>
          </a:prstGeom>
          <a:solidFill>
            <a:srgbClr val="ECEAE4"/>
          </a:solidFill>
          <a:ln w="12700">
            <a:solidFill>
              <a:srgbClr val="ECEAE4"/>
            </a:solidFill>
            <a:prstDash val="solid"/>
          </a:ln>
        </p:spPr>
      </p:sp>
      <p:sp>
        <p:nvSpPr>
          <p:cNvPr id="10" name="Shape 8"/>
          <p:cNvSpPr/>
          <p:nvPr/>
        </p:nvSpPr>
        <p:spPr>
          <a:xfrm>
            <a:off x="4572000" y="1920240"/>
            <a:ext cx="420624" cy="420624"/>
          </a:xfrm>
          <a:prstGeom prst="ellipse">
            <a:avLst/>
          </a:prstGeom>
          <a:solidFill>
            <a:srgbClr val="FF4757"/>
          </a:solidFill>
          <a:ln/>
        </p:spPr>
      </p:sp>
      <p:sp>
        <p:nvSpPr>
          <p:cNvPr id="11" name="Text 9"/>
          <p:cNvSpPr/>
          <p:nvPr/>
        </p:nvSpPr>
        <p:spPr>
          <a:xfrm>
            <a:off x="4572000" y="192024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4572000" y="2468880"/>
            <a:ext cx="3108960" cy="109728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Ce qui se passe après un résultat positif</a:t>
            </a:r>
            <a:endParaRPr lang="en-US" sz="1900" dirty="0"/>
          </a:p>
        </p:txBody>
      </p:sp>
      <p:sp>
        <p:nvSpPr>
          <p:cNvPr id="13" name="Text 11"/>
          <p:cNvSpPr/>
          <p:nvPr/>
        </p:nvSpPr>
        <p:spPr>
          <a:xfrm>
            <a:off x="4572000" y="3566160"/>
            <a:ext cx="3108960" cy="914400"/>
          </a:xfrm>
          <a:prstGeom prst="rect">
            <a:avLst/>
          </a:prstGeom>
          <a:noFill/>
          <a:ln/>
        </p:spPr>
        <p:txBody>
          <a:bodyPr wrap="square" lIns="0" tIns="0" rIns="0" bIns="0" rtlCol="0" anchor="t"/>
          <a:lstStyle/>
          <a:p>
            <a:pPr indent="0" marL="0">
              <a:buNone/>
            </a:pPr>
            <a:r>
              <a:rPr lang="en-US" sz="1600" i="1" dirty="0">
                <a:solidFill>
                  <a:srgbClr val="B02532"/>
                </a:solidFill>
                <a:latin typeface="Palatino Linotype" pitchFamily="34" charset="0"/>
                <a:ea typeface="Palatino Linotype" pitchFamily="34" charset="-122"/>
                <a:cs typeface="Palatino Linotype" pitchFamily="34" charset="-120"/>
              </a:rPr>
              <a:t>s’organise</a:t>
            </a:r>
            <a:endParaRPr lang="en-US" sz="1600" dirty="0"/>
          </a:p>
        </p:txBody>
      </p:sp>
      <p:sp>
        <p:nvSpPr>
          <p:cNvPr id="14" name="Shape 12"/>
          <p:cNvSpPr/>
          <p:nvPr/>
        </p:nvSpPr>
        <p:spPr>
          <a:xfrm>
            <a:off x="8092440" y="1737360"/>
            <a:ext cx="3520440" cy="2834640"/>
          </a:xfrm>
          <a:prstGeom prst="roundRect">
            <a:avLst>
              <a:gd name="adj" fmla="val 2903"/>
            </a:avLst>
          </a:prstGeom>
          <a:solidFill>
            <a:srgbClr val="ECEAE4"/>
          </a:solidFill>
          <a:ln w="12700">
            <a:solidFill>
              <a:srgbClr val="ECEAE4"/>
            </a:solidFill>
            <a:prstDash val="solid"/>
          </a:ln>
        </p:spPr>
      </p:sp>
      <p:sp>
        <p:nvSpPr>
          <p:cNvPr id="15" name="Shape 13"/>
          <p:cNvSpPr/>
          <p:nvPr/>
        </p:nvSpPr>
        <p:spPr>
          <a:xfrm>
            <a:off x="8321040" y="1920240"/>
            <a:ext cx="420624" cy="420624"/>
          </a:xfrm>
          <a:prstGeom prst="ellipse">
            <a:avLst/>
          </a:prstGeom>
          <a:solidFill>
            <a:srgbClr val="FF4757"/>
          </a:solidFill>
          <a:ln/>
        </p:spPr>
      </p:sp>
      <p:sp>
        <p:nvSpPr>
          <p:cNvPr id="16" name="Text 14"/>
          <p:cNvSpPr/>
          <p:nvPr/>
        </p:nvSpPr>
        <p:spPr>
          <a:xfrm>
            <a:off x="8321040" y="192024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8321040" y="2468880"/>
            <a:ext cx="3108960" cy="109728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La détection précoce change-t-elle le sort du malade ?</a:t>
            </a:r>
            <a:endParaRPr lang="en-US" sz="1900" dirty="0"/>
          </a:p>
        </p:txBody>
      </p:sp>
      <p:sp>
        <p:nvSpPr>
          <p:cNvPr id="18" name="Text 16"/>
          <p:cNvSpPr/>
          <p:nvPr/>
        </p:nvSpPr>
        <p:spPr>
          <a:xfrm>
            <a:off x="8321040" y="3566160"/>
            <a:ext cx="3108960" cy="914400"/>
          </a:xfrm>
          <a:prstGeom prst="rect">
            <a:avLst/>
          </a:prstGeom>
          <a:noFill/>
          <a:ln/>
        </p:spPr>
        <p:txBody>
          <a:bodyPr wrap="square" lIns="0" tIns="0" rIns="0" bIns="0" rtlCol="0" anchor="t"/>
          <a:lstStyle/>
          <a:p>
            <a:pPr indent="0" marL="0">
              <a:buNone/>
            </a:pPr>
            <a:r>
              <a:rPr lang="en-US" sz="1600" i="1" dirty="0">
                <a:solidFill>
                  <a:srgbClr val="B02532"/>
                </a:solidFill>
                <a:latin typeface="Palatino Linotype" pitchFamily="34" charset="0"/>
                <a:ea typeface="Palatino Linotype" pitchFamily="34" charset="-122"/>
                <a:cs typeface="Palatino Linotype" pitchFamily="34" charset="-120"/>
              </a:rPr>
              <a:t>ne se démontre que par des études qui mesurent la mortalité</a:t>
            </a:r>
            <a:endParaRPr lang="en-US" sz="1600" dirty="0"/>
          </a:p>
        </p:txBody>
      </p:sp>
      <p:sp>
        <p:nvSpPr>
          <p:cNvPr id="19" name="Shape 17"/>
          <p:cNvSpPr/>
          <p:nvPr/>
        </p:nvSpPr>
        <p:spPr>
          <a:xfrm>
            <a:off x="594360" y="4892040"/>
            <a:ext cx="10972800" cy="914400"/>
          </a:xfrm>
          <a:prstGeom prst="roundRect">
            <a:avLst>
              <a:gd name="adj" fmla="val 9000"/>
            </a:avLst>
          </a:prstGeom>
          <a:solidFill>
            <a:srgbClr val="11121A"/>
          </a:solidFill>
          <a:ln w="12700">
            <a:solidFill>
              <a:srgbClr val="11121A"/>
            </a:solidFill>
            <a:prstDash val="solid"/>
          </a:ln>
        </p:spPr>
      </p:sp>
      <p:sp>
        <p:nvSpPr>
          <p:cNvPr id="20" name="Text 18"/>
          <p:cNvSpPr/>
          <p:nvPr/>
        </p:nvSpPr>
        <p:spPr>
          <a:xfrm>
            <a:off x="868680" y="4892040"/>
            <a:ext cx="10424160" cy="914400"/>
          </a:xfrm>
          <a:prstGeom prst="rect">
            <a:avLst/>
          </a:prstGeom>
          <a:noFill/>
          <a:ln/>
        </p:spPr>
        <p:txBody>
          <a:bodyPr wrap="square" lIns="0" tIns="0" rIns="0" bIns="0" rtlCol="0" anchor="ctr"/>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Le dépistage est-il une bonne idée pour M. Vasile et pour son département ?</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5.1 · QU’EST-CE QUE LE DÉPISTAGE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L’identification présomptive d’une maladie non reconnue</a:t>
            </a:r>
            <a:endParaRPr lang="en-US" sz="3000" dirty="0"/>
          </a:p>
        </p:txBody>
      </p:sp>
      <p:sp>
        <p:nvSpPr>
          <p:cNvPr id="4" name="Shape 2"/>
          <p:cNvSpPr/>
          <p:nvPr/>
        </p:nvSpPr>
        <p:spPr>
          <a:xfrm>
            <a:off x="594360" y="1691640"/>
            <a:ext cx="10972800" cy="1325880"/>
          </a:xfrm>
          <a:prstGeom prst="roundRect">
            <a:avLst>
              <a:gd name="adj" fmla="val 6207"/>
            </a:avLst>
          </a:prstGeom>
          <a:solidFill>
            <a:srgbClr val="272A38"/>
          </a:solidFill>
          <a:ln w="12700">
            <a:solidFill>
              <a:srgbClr val="272A38"/>
            </a:solidFill>
            <a:prstDash val="solid"/>
          </a:ln>
        </p:spPr>
      </p:sp>
      <p:sp>
        <p:nvSpPr>
          <p:cNvPr id="5" name="Text 3"/>
          <p:cNvSpPr/>
          <p:nvPr/>
        </p:nvSpPr>
        <p:spPr>
          <a:xfrm>
            <a:off x="868680" y="1691640"/>
            <a:ext cx="10424160" cy="1325880"/>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Des tests, examens ou procédures appliqués rapidement séparent les personnes apparemment en bonne santé qui ont probablement une maladie de celles qui ne l’ont probablement pas.</a:t>
            </a:r>
            <a:endParaRPr lang="en-US" sz="2100" dirty="0"/>
          </a:p>
        </p:txBody>
      </p:sp>
      <p:sp>
        <p:nvSpPr>
          <p:cNvPr id="6" name="Shape 4"/>
          <p:cNvSpPr/>
          <p:nvPr/>
        </p:nvSpPr>
        <p:spPr>
          <a:xfrm>
            <a:off x="594360" y="3246120"/>
            <a:ext cx="5349240" cy="1463040"/>
          </a:xfrm>
          <a:prstGeom prst="roundRect">
            <a:avLst>
              <a:gd name="adj" fmla="val 5625"/>
            </a:avLst>
          </a:prstGeom>
          <a:solidFill>
            <a:srgbClr val="1D1F2B"/>
          </a:solidFill>
          <a:ln w="12700">
            <a:solidFill>
              <a:srgbClr val="1D1F2B"/>
            </a:solidFill>
            <a:prstDash val="solid"/>
          </a:ln>
        </p:spPr>
      </p:sp>
      <p:sp>
        <p:nvSpPr>
          <p:cNvPr id="7" name="Text 5"/>
          <p:cNvSpPr/>
          <p:nvPr/>
        </p:nvSpPr>
        <p:spPr>
          <a:xfrm>
            <a:off x="868680" y="3337560"/>
            <a:ext cx="4846320" cy="45720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1951 · 1968</a:t>
            </a:r>
            <a:endParaRPr lang="en-US" sz="1800" dirty="0"/>
          </a:p>
        </p:txBody>
      </p:sp>
      <p:sp>
        <p:nvSpPr>
          <p:cNvPr id="8" name="Text 6"/>
          <p:cNvSpPr/>
          <p:nvPr/>
        </p:nvSpPr>
        <p:spPr>
          <a:xfrm>
            <a:off x="868680" y="3794760"/>
            <a:ext cx="4846320" cy="86868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la définition américaine, reprise par Wilson et Jungner pour l’OMS</a:t>
            </a:r>
            <a:endParaRPr lang="en-US" sz="1600" dirty="0"/>
          </a:p>
        </p:txBody>
      </p:sp>
      <p:sp>
        <p:nvSpPr>
          <p:cNvPr id="9" name="Shape 7"/>
          <p:cNvSpPr/>
          <p:nvPr/>
        </p:nvSpPr>
        <p:spPr>
          <a:xfrm>
            <a:off x="6217920" y="3246120"/>
            <a:ext cx="5349240" cy="1463040"/>
          </a:xfrm>
          <a:prstGeom prst="roundRect">
            <a:avLst>
              <a:gd name="adj" fmla="val 5625"/>
            </a:avLst>
          </a:prstGeom>
          <a:solidFill>
            <a:srgbClr val="1D1F2B"/>
          </a:solidFill>
          <a:ln w="12700">
            <a:solidFill>
              <a:srgbClr val="1D1F2B"/>
            </a:solidFill>
            <a:prstDash val="solid"/>
          </a:ln>
        </p:spPr>
      </p:sp>
      <p:sp>
        <p:nvSpPr>
          <p:cNvPr id="10" name="Text 8"/>
          <p:cNvSpPr/>
          <p:nvPr/>
        </p:nvSpPr>
        <p:spPr>
          <a:xfrm>
            <a:off x="6492240" y="3337560"/>
            <a:ext cx="4846320" cy="45720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Ce n’est pas un diagnostic</a:t>
            </a:r>
            <a:endParaRPr lang="en-US" sz="1800" dirty="0"/>
          </a:p>
        </p:txBody>
      </p:sp>
      <p:sp>
        <p:nvSpPr>
          <p:cNvPr id="11" name="Text 9"/>
          <p:cNvSpPr/>
          <p:nvPr/>
        </p:nvSpPr>
        <p:spPr>
          <a:xfrm>
            <a:off x="6492240" y="3794760"/>
            <a:ext cx="4846320" cy="86868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la personne avec un résultat positif est adressée au médecin, pour confirmation</a:t>
            </a:r>
            <a:endParaRPr lang="en-US" sz="1600" dirty="0"/>
          </a:p>
        </p:txBody>
      </p:sp>
      <p:sp>
        <p:nvSpPr>
          <p:cNvPr id="12" name="Text 10"/>
          <p:cNvSpPr/>
          <p:nvPr/>
        </p:nvSpPr>
        <p:spPr>
          <a:xfrm>
            <a:off x="594360" y="4983480"/>
            <a:ext cx="10972800" cy="82296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La feuille de M. Vasile ne dit pas « vous avez un cancer », mais « il vous faut un examen ».</a:t>
            </a:r>
            <a:endParaRPr lang="en-US" sz="19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Sources : Wilson et Jungner, OMS, 1968 ; OMS Europe, 2020.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DEUX SITUATIONS DIFFÉRENTES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Dépistage ou diagnostic ?</a:t>
            </a:r>
            <a:endParaRPr lang="en-US" sz="3200" dirty="0"/>
          </a:p>
        </p:txBody>
      </p:sp>
      <p:sp>
        <p:nvSpPr>
          <p:cNvPr id="4" name="Shape 2"/>
          <p:cNvSpPr/>
          <p:nvPr/>
        </p:nvSpPr>
        <p:spPr>
          <a:xfrm>
            <a:off x="594360" y="1645920"/>
            <a:ext cx="5349240" cy="2697480"/>
          </a:xfrm>
          <a:prstGeom prst="roundRect">
            <a:avLst>
              <a:gd name="adj" fmla="val 3051"/>
            </a:avLst>
          </a:prstGeom>
          <a:solidFill>
            <a:srgbClr val="ECEAE4"/>
          </a:solidFill>
          <a:ln w="12700">
            <a:solidFill>
              <a:srgbClr val="ECEAE4"/>
            </a:solidFill>
            <a:prstDash val="solid"/>
          </a:ln>
        </p:spPr>
      </p:sp>
      <p:sp>
        <p:nvSpPr>
          <p:cNvPr id="5" name="Text 3"/>
          <p:cNvSpPr/>
          <p:nvPr/>
        </p:nvSpPr>
        <p:spPr>
          <a:xfrm>
            <a:off x="868680" y="1783080"/>
            <a:ext cx="4846320" cy="365760"/>
          </a:xfrm>
          <a:prstGeom prst="rect">
            <a:avLst/>
          </a:prstGeom>
          <a:noFill/>
          <a:ln/>
        </p:spPr>
        <p:txBody>
          <a:bodyPr wrap="square" lIns="0" tIns="0" rIns="0" bIns="0" rtlCol="0" anchor="t"/>
          <a:lstStyle/>
          <a:p>
            <a:pPr indent="0" marL="0">
              <a:buNone/>
            </a:pPr>
            <a:r>
              <a:rPr lang="en-US" sz="1400" b="1" spc="200" kern="0" dirty="0">
                <a:solidFill>
                  <a:srgbClr val="0E7C6B"/>
                </a:solidFill>
                <a:latin typeface="Palatino Linotype" pitchFamily="34" charset="0"/>
                <a:ea typeface="Palatino Linotype" pitchFamily="34" charset="-122"/>
                <a:cs typeface="Palatino Linotype" pitchFamily="34" charset="-120"/>
              </a:rPr>
              <a:t>DÉPISTAGE</a:t>
            </a:r>
            <a:endParaRPr lang="en-US" sz="1400" dirty="0"/>
          </a:p>
        </p:txBody>
      </p:sp>
      <p:sp>
        <p:nvSpPr>
          <p:cNvPr id="6" name="Shape 4"/>
          <p:cNvSpPr/>
          <p:nvPr/>
        </p:nvSpPr>
        <p:spPr>
          <a:xfrm>
            <a:off x="914400" y="2404872"/>
            <a:ext cx="137160" cy="137160"/>
          </a:xfrm>
          <a:prstGeom prst="ellipse">
            <a:avLst/>
          </a:prstGeom>
          <a:solidFill>
            <a:srgbClr val="0E7C6B"/>
          </a:solidFill>
          <a:ln/>
        </p:spPr>
      </p:sp>
      <p:sp>
        <p:nvSpPr>
          <p:cNvPr id="7" name="Text 5"/>
          <p:cNvSpPr/>
          <p:nvPr/>
        </p:nvSpPr>
        <p:spPr>
          <a:xfrm>
            <a:off x="1188720" y="2212848"/>
            <a:ext cx="457200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des personnes sans symptômes</a:t>
            </a:r>
            <a:endParaRPr lang="en-US" sz="1700" dirty="0"/>
          </a:p>
        </p:txBody>
      </p:sp>
      <p:sp>
        <p:nvSpPr>
          <p:cNvPr id="8" name="Shape 6"/>
          <p:cNvSpPr/>
          <p:nvPr/>
        </p:nvSpPr>
        <p:spPr>
          <a:xfrm>
            <a:off x="914400" y="3063240"/>
            <a:ext cx="137160" cy="137160"/>
          </a:xfrm>
          <a:prstGeom prst="ellipse">
            <a:avLst/>
          </a:prstGeom>
          <a:solidFill>
            <a:srgbClr val="0E7C6B"/>
          </a:solidFill>
          <a:ln/>
        </p:spPr>
      </p:sp>
      <p:sp>
        <p:nvSpPr>
          <p:cNvPr id="9" name="Text 7"/>
          <p:cNvSpPr/>
          <p:nvPr/>
        </p:nvSpPr>
        <p:spPr>
          <a:xfrm>
            <a:off x="1188720" y="2871216"/>
            <a:ext cx="457200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une population où la maladie est rare</a:t>
            </a:r>
            <a:endParaRPr lang="en-US" sz="1700" dirty="0"/>
          </a:p>
        </p:txBody>
      </p:sp>
      <p:sp>
        <p:nvSpPr>
          <p:cNvPr id="10" name="Shape 8"/>
          <p:cNvSpPr/>
          <p:nvPr/>
        </p:nvSpPr>
        <p:spPr>
          <a:xfrm>
            <a:off x="914400" y="3721608"/>
            <a:ext cx="137160" cy="137160"/>
          </a:xfrm>
          <a:prstGeom prst="ellipse">
            <a:avLst/>
          </a:prstGeom>
          <a:solidFill>
            <a:srgbClr val="0E7C6B"/>
          </a:solidFill>
          <a:ln/>
        </p:spPr>
      </p:sp>
      <p:sp>
        <p:nvSpPr>
          <p:cNvPr id="11" name="Text 9"/>
          <p:cNvSpPr/>
          <p:nvPr/>
        </p:nvSpPr>
        <p:spPr>
          <a:xfrm>
            <a:off x="1188720" y="3529584"/>
            <a:ext cx="457200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le résultat positif demande une confirmation</a:t>
            </a:r>
            <a:endParaRPr lang="en-US" sz="1700" dirty="0"/>
          </a:p>
        </p:txBody>
      </p:sp>
      <p:sp>
        <p:nvSpPr>
          <p:cNvPr id="12" name="Shape 10"/>
          <p:cNvSpPr/>
          <p:nvPr/>
        </p:nvSpPr>
        <p:spPr>
          <a:xfrm>
            <a:off x="6217920" y="1645920"/>
            <a:ext cx="5349240" cy="2697480"/>
          </a:xfrm>
          <a:prstGeom prst="roundRect">
            <a:avLst>
              <a:gd name="adj" fmla="val 3051"/>
            </a:avLst>
          </a:prstGeom>
          <a:solidFill>
            <a:srgbClr val="ECEAE4"/>
          </a:solidFill>
          <a:ln w="12700">
            <a:solidFill>
              <a:srgbClr val="ECEAE4"/>
            </a:solidFill>
            <a:prstDash val="solid"/>
          </a:ln>
        </p:spPr>
      </p:sp>
      <p:sp>
        <p:nvSpPr>
          <p:cNvPr id="13" name="Text 11"/>
          <p:cNvSpPr/>
          <p:nvPr/>
        </p:nvSpPr>
        <p:spPr>
          <a:xfrm>
            <a:off x="6492240" y="1783080"/>
            <a:ext cx="4846320" cy="365760"/>
          </a:xfrm>
          <a:prstGeom prst="rect">
            <a:avLst/>
          </a:prstGeom>
          <a:noFill/>
          <a:ln/>
        </p:spPr>
        <p:txBody>
          <a:bodyPr wrap="square" lIns="0" tIns="0" rIns="0" bIns="0" rtlCol="0" anchor="t"/>
          <a:lstStyle/>
          <a:p>
            <a:pPr indent="0" marL="0">
              <a:buNone/>
            </a:pPr>
            <a:r>
              <a:rPr lang="en-US" sz="1400" b="1" spc="200" kern="0" dirty="0">
                <a:solidFill>
                  <a:srgbClr val="B02532"/>
                </a:solidFill>
                <a:latin typeface="Palatino Linotype" pitchFamily="34" charset="0"/>
                <a:ea typeface="Palatino Linotype" pitchFamily="34" charset="-122"/>
                <a:cs typeface="Palatino Linotype" pitchFamily="34" charset="-120"/>
              </a:rPr>
              <a:t>DIAGNOSTIC</a:t>
            </a:r>
            <a:endParaRPr lang="en-US" sz="1400" dirty="0"/>
          </a:p>
        </p:txBody>
      </p:sp>
      <p:sp>
        <p:nvSpPr>
          <p:cNvPr id="14" name="Shape 12"/>
          <p:cNvSpPr/>
          <p:nvPr/>
        </p:nvSpPr>
        <p:spPr>
          <a:xfrm>
            <a:off x="6537960" y="2404872"/>
            <a:ext cx="137160" cy="137160"/>
          </a:xfrm>
          <a:prstGeom prst="ellipse">
            <a:avLst/>
          </a:prstGeom>
          <a:solidFill>
            <a:srgbClr val="B02532"/>
          </a:solidFill>
          <a:ln/>
        </p:spPr>
      </p:sp>
      <p:sp>
        <p:nvSpPr>
          <p:cNvPr id="15" name="Text 13"/>
          <p:cNvSpPr/>
          <p:nvPr/>
        </p:nvSpPr>
        <p:spPr>
          <a:xfrm>
            <a:off x="6812280" y="2212848"/>
            <a:ext cx="457200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une personne avec des symptômes : sang dans les selles, nodule, toux qui ne passe pas</a:t>
            </a:r>
            <a:endParaRPr lang="en-US" sz="1700" dirty="0"/>
          </a:p>
        </p:txBody>
      </p:sp>
      <p:sp>
        <p:nvSpPr>
          <p:cNvPr id="16" name="Shape 14"/>
          <p:cNvSpPr/>
          <p:nvPr/>
        </p:nvSpPr>
        <p:spPr>
          <a:xfrm>
            <a:off x="6537960" y="3063240"/>
            <a:ext cx="137160" cy="137160"/>
          </a:xfrm>
          <a:prstGeom prst="ellipse">
            <a:avLst/>
          </a:prstGeom>
          <a:solidFill>
            <a:srgbClr val="B02532"/>
          </a:solidFill>
          <a:ln/>
        </p:spPr>
      </p:sp>
      <p:sp>
        <p:nvSpPr>
          <p:cNvPr id="17" name="Text 15"/>
          <p:cNvSpPr/>
          <p:nvPr/>
        </p:nvSpPr>
        <p:spPr>
          <a:xfrm>
            <a:off x="6812280" y="2871216"/>
            <a:ext cx="457200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la probabilité de la maladie est déjà augmentée</a:t>
            </a:r>
            <a:endParaRPr lang="en-US" sz="1700" dirty="0"/>
          </a:p>
        </p:txBody>
      </p:sp>
      <p:sp>
        <p:nvSpPr>
          <p:cNvPr id="18" name="Shape 16"/>
          <p:cNvSpPr/>
          <p:nvPr/>
        </p:nvSpPr>
        <p:spPr>
          <a:xfrm>
            <a:off x="594360" y="4617720"/>
            <a:ext cx="10972800" cy="1143000"/>
          </a:xfrm>
          <a:prstGeom prst="roundRect">
            <a:avLst>
              <a:gd name="adj" fmla="val 7200"/>
            </a:avLst>
          </a:prstGeom>
          <a:solidFill>
            <a:srgbClr val="11121A"/>
          </a:solidFill>
          <a:ln w="12700">
            <a:solidFill>
              <a:srgbClr val="11121A"/>
            </a:solidFill>
            <a:prstDash val="solid"/>
          </a:ln>
        </p:spPr>
      </p:sp>
      <p:sp>
        <p:nvSpPr>
          <p:cNvPr id="19" name="Text 17"/>
          <p:cNvSpPr/>
          <p:nvPr/>
        </p:nvSpPr>
        <p:spPr>
          <a:xfrm>
            <a:off x="868680" y="4617720"/>
            <a:ext cx="10424160" cy="114300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Pas seulement les cancers : l’OMS cite le dépistage néonatal en Allemagne (maladies congénitales) et au Royaume-Uni (audition).</a:t>
            </a:r>
            <a:endParaRPr lang="en-US" sz="1700" dirty="0"/>
          </a:p>
        </p:txBody>
      </p:sp>
      <p:sp>
        <p:nvSpPr>
          <p:cNvPr id="20" name="Text 18"/>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OMS Europe, 2020.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L’ORGANISATION, PAS LA QUALITÉ DU TEST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Le programme organisé et le dépistage opportuniste</a:t>
            </a:r>
            <a:endParaRPr lang="en-US" sz="3000" dirty="0"/>
          </a:p>
        </p:txBody>
      </p:sp>
      <p:sp>
        <p:nvSpPr>
          <p:cNvPr id="4" name="Shape 2"/>
          <p:cNvSpPr/>
          <p:nvPr/>
        </p:nvSpPr>
        <p:spPr>
          <a:xfrm>
            <a:off x="594360" y="1645920"/>
            <a:ext cx="5349240" cy="3246120"/>
          </a:xfrm>
          <a:prstGeom prst="roundRect">
            <a:avLst>
              <a:gd name="adj" fmla="val 2535"/>
            </a:avLst>
          </a:prstGeom>
          <a:solidFill>
            <a:srgbClr val="1D1F2B"/>
          </a:solidFill>
          <a:ln w="12700">
            <a:solidFill>
              <a:srgbClr val="1D1F2B"/>
            </a:solidFill>
            <a:prstDash val="solid"/>
          </a:ln>
        </p:spPr>
      </p:sp>
      <p:sp>
        <p:nvSpPr>
          <p:cNvPr id="5" name="Text 3"/>
          <p:cNvSpPr/>
          <p:nvPr/>
        </p:nvSpPr>
        <p:spPr>
          <a:xfrm>
            <a:off x="868680" y="1783080"/>
            <a:ext cx="4846320" cy="365760"/>
          </a:xfrm>
          <a:prstGeom prst="rect">
            <a:avLst/>
          </a:prstGeom>
          <a:noFill/>
          <a:ln/>
        </p:spPr>
        <p:txBody>
          <a:bodyPr wrap="square" lIns="0" tIns="0" rIns="0" bIns="0" rtlCol="0" anchor="t"/>
          <a:lstStyle/>
          <a:p>
            <a:pPr indent="0" marL="0">
              <a:buNone/>
            </a:pPr>
            <a:r>
              <a:rPr lang="en-US" sz="1400" b="1" spc="200" kern="0" dirty="0">
                <a:solidFill>
                  <a:srgbClr val="27D3BE"/>
                </a:solidFill>
                <a:latin typeface="Palatino Linotype" pitchFamily="34" charset="0"/>
                <a:ea typeface="Palatino Linotype" pitchFamily="34" charset="-122"/>
                <a:cs typeface="Palatino Linotype" pitchFamily="34" charset="-120"/>
              </a:rPr>
              <a:t>ORGANISÉ</a:t>
            </a:r>
            <a:endParaRPr lang="en-US" sz="1400" dirty="0"/>
          </a:p>
        </p:txBody>
      </p:sp>
      <p:sp>
        <p:nvSpPr>
          <p:cNvPr id="6" name="Shape 4"/>
          <p:cNvSpPr/>
          <p:nvPr/>
        </p:nvSpPr>
        <p:spPr>
          <a:xfrm>
            <a:off x="914400" y="2404872"/>
            <a:ext cx="137160" cy="137160"/>
          </a:xfrm>
          <a:prstGeom prst="ellipse">
            <a:avLst/>
          </a:prstGeom>
          <a:solidFill>
            <a:srgbClr val="27D3BE"/>
          </a:solidFill>
          <a:ln/>
        </p:spPr>
      </p:sp>
      <p:sp>
        <p:nvSpPr>
          <p:cNvPr id="7" name="Text 5"/>
          <p:cNvSpPr/>
          <p:nvPr/>
        </p:nvSpPr>
        <p:spPr>
          <a:xfrm>
            <a:off x="1188720" y="2212848"/>
            <a:ext cx="4572000" cy="54864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population éligible, définie selon bénéfices et risques</a:t>
            </a:r>
            <a:endParaRPr lang="en-US" sz="1600" dirty="0"/>
          </a:p>
        </p:txBody>
      </p:sp>
      <p:sp>
        <p:nvSpPr>
          <p:cNvPr id="8" name="Shape 6"/>
          <p:cNvSpPr/>
          <p:nvPr/>
        </p:nvSpPr>
        <p:spPr>
          <a:xfrm>
            <a:off x="914400" y="3063240"/>
            <a:ext cx="137160" cy="137160"/>
          </a:xfrm>
          <a:prstGeom prst="ellipse">
            <a:avLst/>
          </a:prstGeom>
          <a:solidFill>
            <a:srgbClr val="27D3BE"/>
          </a:solidFill>
          <a:ln/>
        </p:spPr>
      </p:sp>
      <p:sp>
        <p:nvSpPr>
          <p:cNvPr id="9" name="Text 7"/>
          <p:cNvSpPr/>
          <p:nvPr/>
        </p:nvSpPr>
        <p:spPr>
          <a:xfrm>
            <a:off x="1188720" y="2871216"/>
            <a:ext cx="4572000" cy="54864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invitation et relance à intervalles réguliers</a:t>
            </a:r>
            <a:endParaRPr lang="en-US" sz="1600" dirty="0"/>
          </a:p>
        </p:txBody>
      </p:sp>
      <p:sp>
        <p:nvSpPr>
          <p:cNvPr id="10" name="Shape 8"/>
          <p:cNvSpPr/>
          <p:nvPr/>
        </p:nvSpPr>
        <p:spPr>
          <a:xfrm>
            <a:off x="914400" y="3721608"/>
            <a:ext cx="137160" cy="137160"/>
          </a:xfrm>
          <a:prstGeom prst="ellipse">
            <a:avLst/>
          </a:prstGeom>
          <a:solidFill>
            <a:srgbClr val="27D3BE"/>
          </a:solidFill>
          <a:ln/>
        </p:spPr>
      </p:sp>
      <p:sp>
        <p:nvSpPr>
          <p:cNvPr id="11" name="Text 9"/>
          <p:cNvSpPr/>
          <p:nvPr/>
        </p:nvSpPr>
        <p:spPr>
          <a:xfrm>
            <a:off x="1188720" y="3529584"/>
            <a:ext cx="4572000" cy="54864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diagnostic et traitement selon des protocoles</a:t>
            </a:r>
            <a:endParaRPr lang="en-US" sz="1600" dirty="0"/>
          </a:p>
        </p:txBody>
      </p:sp>
      <p:sp>
        <p:nvSpPr>
          <p:cNvPr id="12" name="Shape 10"/>
          <p:cNvSpPr/>
          <p:nvPr/>
        </p:nvSpPr>
        <p:spPr>
          <a:xfrm>
            <a:off x="914400" y="4379976"/>
            <a:ext cx="137160" cy="137160"/>
          </a:xfrm>
          <a:prstGeom prst="ellipse">
            <a:avLst/>
          </a:prstGeom>
          <a:solidFill>
            <a:srgbClr val="27D3BE"/>
          </a:solidFill>
          <a:ln/>
        </p:spPr>
      </p:sp>
      <p:sp>
        <p:nvSpPr>
          <p:cNvPr id="13" name="Text 11"/>
          <p:cNvSpPr/>
          <p:nvPr/>
        </p:nvSpPr>
        <p:spPr>
          <a:xfrm>
            <a:off x="1188720" y="4187952"/>
            <a:ext cx="4572000" cy="54864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assurance qualité, avec des indicateurs validés</a:t>
            </a:r>
            <a:endParaRPr lang="en-US" sz="1600" dirty="0"/>
          </a:p>
        </p:txBody>
      </p:sp>
      <p:sp>
        <p:nvSpPr>
          <p:cNvPr id="14" name="Shape 12"/>
          <p:cNvSpPr/>
          <p:nvPr/>
        </p:nvSpPr>
        <p:spPr>
          <a:xfrm>
            <a:off x="6217920" y="1645920"/>
            <a:ext cx="5349240" cy="3246120"/>
          </a:xfrm>
          <a:prstGeom prst="roundRect">
            <a:avLst>
              <a:gd name="adj" fmla="val 2535"/>
            </a:avLst>
          </a:prstGeom>
          <a:solidFill>
            <a:srgbClr val="1D1F2B"/>
          </a:solidFill>
          <a:ln w="12700">
            <a:solidFill>
              <a:srgbClr val="1D1F2B"/>
            </a:solidFill>
            <a:prstDash val="solid"/>
          </a:ln>
        </p:spPr>
      </p:sp>
      <p:sp>
        <p:nvSpPr>
          <p:cNvPr id="15" name="Text 13"/>
          <p:cNvSpPr/>
          <p:nvPr/>
        </p:nvSpPr>
        <p:spPr>
          <a:xfrm>
            <a:off x="6492240" y="1783080"/>
            <a:ext cx="4846320" cy="365760"/>
          </a:xfrm>
          <a:prstGeom prst="rect">
            <a:avLst/>
          </a:prstGeom>
          <a:noFill/>
          <a:ln/>
        </p:spPr>
        <p:txBody>
          <a:bodyPr wrap="square" lIns="0" tIns="0" rIns="0" bIns="0" rtlCol="0" anchor="t"/>
          <a:lstStyle/>
          <a:p>
            <a:pPr indent="0" marL="0">
              <a:buNone/>
            </a:pPr>
            <a:r>
              <a:rPr lang="en-US" sz="1400" b="1" spc="200" kern="0" dirty="0">
                <a:solidFill>
                  <a:srgbClr val="FF4757"/>
                </a:solidFill>
                <a:latin typeface="Palatino Linotype" pitchFamily="34" charset="0"/>
                <a:ea typeface="Palatino Linotype" pitchFamily="34" charset="-122"/>
                <a:cs typeface="Palatino Linotype" pitchFamily="34" charset="-120"/>
              </a:rPr>
              <a:t>OPPORTUNISTE</a:t>
            </a:r>
            <a:endParaRPr lang="en-US" sz="1400" dirty="0"/>
          </a:p>
        </p:txBody>
      </p:sp>
      <p:sp>
        <p:nvSpPr>
          <p:cNvPr id="16" name="Shape 14"/>
          <p:cNvSpPr/>
          <p:nvPr/>
        </p:nvSpPr>
        <p:spPr>
          <a:xfrm>
            <a:off x="6537960" y="2404872"/>
            <a:ext cx="137160" cy="137160"/>
          </a:xfrm>
          <a:prstGeom prst="ellipse">
            <a:avLst/>
          </a:prstGeom>
          <a:solidFill>
            <a:srgbClr val="FF4757"/>
          </a:solidFill>
          <a:ln/>
        </p:spPr>
      </p:sp>
      <p:sp>
        <p:nvSpPr>
          <p:cNvPr id="17" name="Text 15"/>
          <p:cNvSpPr/>
          <p:nvPr/>
        </p:nvSpPr>
        <p:spPr>
          <a:xfrm>
            <a:off x="6812280" y="2212848"/>
            <a:ext cx="4572000" cy="54864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test proposé quand le patient vient pour un autre motif</a:t>
            </a:r>
            <a:endParaRPr lang="en-US" sz="1600" dirty="0"/>
          </a:p>
        </p:txBody>
      </p:sp>
      <p:sp>
        <p:nvSpPr>
          <p:cNvPr id="18" name="Shape 16"/>
          <p:cNvSpPr/>
          <p:nvPr/>
        </p:nvSpPr>
        <p:spPr>
          <a:xfrm>
            <a:off x="6537960" y="3063240"/>
            <a:ext cx="137160" cy="137160"/>
          </a:xfrm>
          <a:prstGeom prst="ellipse">
            <a:avLst/>
          </a:prstGeom>
          <a:solidFill>
            <a:srgbClr val="FF4757"/>
          </a:solidFill>
          <a:ln/>
        </p:spPr>
      </p:sp>
      <p:sp>
        <p:nvSpPr>
          <p:cNvPr id="19" name="Text 17"/>
          <p:cNvSpPr/>
          <p:nvPr/>
        </p:nvSpPr>
        <p:spPr>
          <a:xfrm>
            <a:off x="6812280" y="2871216"/>
            <a:ext cx="4572000" cy="54864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à la demande ou hors du groupe éligible</a:t>
            </a:r>
            <a:endParaRPr lang="en-US" sz="1600" dirty="0"/>
          </a:p>
        </p:txBody>
      </p:sp>
      <p:sp>
        <p:nvSpPr>
          <p:cNvPr id="20" name="Shape 18"/>
          <p:cNvSpPr/>
          <p:nvPr/>
        </p:nvSpPr>
        <p:spPr>
          <a:xfrm>
            <a:off x="6537960" y="3721608"/>
            <a:ext cx="137160" cy="137160"/>
          </a:xfrm>
          <a:prstGeom prst="ellipse">
            <a:avLst/>
          </a:prstGeom>
          <a:solidFill>
            <a:srgbClr val="FF4757"/>
          </a:solidFill>
          <a:ln/>
        </p:spPr>
      </p:sp>
      <p:sp>
        <p:nvSpPr>
          <p:cNvPr id="21" name="Text 19"/>
          <p:cNvSpPr/>
          <p:nvPr/>
        </p:nvSpPr>
        <p:spPr>
          <a:xfrm>
            <a:off x="6812280" y="3529584"/>
            <a:ext cx="4572000" cy="54864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beaucoup moins efficace : un gaspillage de ressources</a:t>
            </a:r>
            <a:endParaRPr lang="en-US" sz="1600" dirty="0"/>
          </a:p>
        </p:txBody>
      </p:sp>
      <p:sp>
        <p:nvSpPr>
          <p:cNvPr id="22" name="Text 20"/>
          <p:cNvSpPr/>
          <p:nvPr/>
        </p:nvSpPr>
        <p:spPr>
          <a:xfrm>
            <a:off x="594360" y="5120640"/>
            <a:ext cx="10972800" cy="73152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En opportuniste, ce sont surtout ceux qui vont de toute façon chez le médecin qui arrivent au test.</a:t>
            </a:r>
            <a:endParaRPr lang="en-US" sz="1800" dirty="0"/>
          </a:p>
        </p:txBody>
      </p:sp>
      <p:sp>
        <p:nvSpPr>
          <p:cNvPr id="23" name="Text 2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OMS Europe, guide du dépistage du cancer, 2022.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AVEC VOTRE VOISIN · DEUX MINUTES</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EN BINÔMES · QUATRE SITUATIONS</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Dépistage ou diagnostic ?</a:t>
            </a:r>
            <a:endParaRPr lang="en-US" sz="3200" dirty="0"/>
          </a:p>
        </p:txBody>
      </p:sp>
      <p:sp>
        <p:nvSpPr>
          <p:cNvPr id="6" name="Shape 4"/>
          <p:cNvSpPr/>
          <p:nvPr/>
        </p:nvSpPr>
        <p:spPr>
          <a:xfrm>
            <a:off x="594360" y="1645920"/>
            <a:ext cx="10972800" cy="731520"/>
          </a:xfrm>
          <a:prstGeom prst="roundRect">
            <a:avLst>
              <a:gd name="adj" fmla="val 11250"/>
            </a:avLst>
          </a:prstGeom>
          <a:solidFill>
            <a:srgbClr val="1D1F2B"/>
          </a:solidFill>
          <a:ln w="12700">
            <a:solidFill>
              <a:srgbClr val="1D1F2B"/>
            </a:solidFill>
            <a:prstDash val="solid"/>
          </a:ln>
        </p:spPr>
      </p:sp>
      <p:sp>
        <p:nvSpPr>
          <p:cNvPr id="7" name="Shape 5"/>
          <p:cNvSpPr/>
          <p:nvPr/>
        </p:nvSpPr>
        <p:spPr>
          <a:xfrm>
            <a:off x="868680" y="1801368"/>
            <a:ext cx="420624" cy="420624"/>
          </a:xfrm>
          <a:prstGeom prst="ellipse">
            <a:avLst/>
          </a:prstGeom>
          <a:solidFill>
            <a:srgbClr val="FFC24B"/>
          </a:solidFill>
          <a:ln/>
        </p:spPr>
      </p:sp>
      <p:sp>
        <p:nvSpPr>
          <p:cNvPr id="8" name="Text 6"/>
          <p:cNvSpPr/>
          <p:nvPr/>
        </p:nvSpPr>
        <p:spPr>
          <a:xfrm>
            <a:off x="868680" y="18013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508760" y="1645920"/>
            <a:ext cx="9829800" cy="7315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Une femme de cinquante ans, sans symptômes, invitée à une mammographie</a:t>
            </a:r>
            <a:endParaRPr lang="en-US" sz="1800" dirty="0"/>
          </a:p>
        </p:txBody>
      </p:sp>
      <p:sp>
        <p:nvSpPr>
          <p:cNvPr id="10" name="Shape 8"/>
          <p:cNvSpPr/>
          <p:nvPr/>
        </p:nvSpPr>
        <p:spPr>
          <a:xfrm>
            <a:off x="594360" y="2487168"/>
            <a:ext cx="10972800" cy="731520"/>
          </a:xfrm>
          <a:prstGeom prst="roundRect">
            <a:avLst>
              <a:gd name="adj" fmla="val 11250"/>
            </a:avLst>
          </a:prstGeom>
          <a:solidFill>
            <a:srgbClr val="1D1F2B"/>
          </a:solidFill>
          <a:ln w="12700">
            <a:solidFill>
              <a:srgbClr val="1D1F2B"/>
            </a:solidFill>
            <a:prstDash val="solid"/>
          </a:ln>
        </p:spPr>
      </p:sp>
      <p:sp>
        <p:nvSpPr>
          <p:cNvPr id="11" name="Shape 9"/>
          <p:cNvSpPr/>
          <p:nvPr/>
        </p:nvSpPr>
        <p:spPr>
          <a:xfrm>
            <a:off x="868680" y="2642616"/>
            <a:ext cx="420624" cy="420624"/>
          </a:xfrm>
          <a:prstGeom prst="ellipse">
            <a:avLst/>
          </a:prstGeom>
          <a:solidFill>
            <a:srgbClr val="FFC24B"/>
          </a:solidFill>
          <a:ln/>
        </p:spPr>
      </p:sp>
      <p:sp>
        <p:nvSpPr>
          <p:cNvPr id="12" name="Text 10"/>
          <p:cNvSpPr/>
          <p:nvPr/>
        </p:nvSpPr>
        <p:spPr>
          <a:xfrm>
            <a:off x="868680" y="26426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508760" y="2487168"/>
            <a:ext cx="9829800" cy="7315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Un homme qui a perdu du poids, à qui l’on fait une coloscopie</a:t>
            </a:r>
            <a:endParaRPr lang="en-US" sz="1800" dirty="0"/>
          </a:p>
        </p:txBody>
      </p:sp>
      <p:sp>
        <p:nvSpPr>
          <p:cNvPr id="14" name="Shape 12"/>
          <p:cNvSpPr/>
          <p:nvPr/>
        </p:nvSpPr>
        <p:spPr>
          <a:xfrm>
            <a:off x="594360" y="3328416"/>
            <a:ext cx="10972800" cy="731520"/>
          </a:xfrm>
          <a:prstGeom prst="roundRect">
            <a:avLst>
              <a:gd name="adj" fmla="val 11250"/>
            </a:avLst>
          </a:prstGeom>
          <a:solidFill>
            <a:srgbClr val="1D1F2B"/>
          </a:solidFill>
          <a:ln w="12700">
            <a:solidFill>
              <a:srgbClr val="1D1F2B"/>
            </a:solidFill>
            <a:prstDash val="solid"/>
          </a:ln>
        </p:spPr>
      </p:sp>
      <p:sp>
        <p:nvSpPr>
          <p:cNvPr id="15" name="Shape 13"/>
          <p:cNvSpPr/>
          <p:nvPr/>
        </p:nvSpPr>
        <p:spPr>
          <a:xfrm>
            <a:off x="868680" y="3483864"/>
            <a:ext cx="420624" cy="420624"/>
          </a:xfrm>
          <a:prstGeom prst="ellipse">
            <a:avLst/>
          </a:prstGeom>
          <a:solidFill>
            <a:srgbClr val="FFC24B"/>
          </a:solidFill>
          <a:ln/>
        </p:spPr>
      </p:sp>
      <p:sp>
        <p:nvSpPr>
          <p:cNvPr id="16" name="Text 14"/>
          <p:cNvSpPr/>
          <p:nvPr/>
        </p:nvSpPr>
        <p:spPr>
          <a:xfrm>
            <a:off x="868680" y="34838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508760" y="3328416"/>
            <a:ext cx="9829800" cy="7315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Un nouveau-né à qui l’on prélève du sang au talon, à la maternité</a:t>
            </a:r>
            <a:endParaRPr lang="en-US" sz="1800" dirty="0"/>
          </a:p>
        </p:txBody>
      </p:sp>
      <p:sp>
        <p:nvSpPr>
          <p:cNvPr id="18" name="Shape 16"/>
          <p:cNvSpPr/>
          <p:nvPr/>
        </p:nvSpPr>
        <p:spPr>
          <a:xfrm>
            <a:off x="594360" y="4169664"/>
            <a:ext cx="10972800" cy="731520"/>
          </a:xfrm>
          <a:prstGeom prst="roundRect">
            <a:avLst>
              <a:gd name="adj" fmla="val 11250"/>
            </a:avLst>
          </a:prstGeom>
          <a:solidFill>
            <a:srgbClr val="1D1F2B"/>
          </a:solidFill>
          <a:ln w="12700">
            <a:solidFill>
              <a:srgbClr val="1D1F2B"/>
            </a:solidFill>
            <a:prstDash val="solid"/>
          </a:ln>
        </p:spPr>
      </p:sp>
      <p:sp>
        <p:nvSpPr>
          <p:cNvPr id="19" name="Shape 17"/>
          <p:cNvSpPr/>
          <p:nvPr/>
        </p:nvSpPr>
        <p:spPr>
          <a:xfrm>
            <a:off x="868680" y="4325112"/>
            <a:ext cx="420624" cy="420624"/>
          </a:xfrm>
          <a:prstGeom prst="ellipse">
            <a:avLst/>
          </a:prstGeom>
          <a:solidFill>
            <a:srgbClr val="FFC24B"/>
          </a:solidFill>
          <a:ln/>
        </p:spPr>
      </p:sp>
      <p:sp>
        <p:nvSpPr>
          <p:cNvPr id="20" name="Text 18"/>
          <p:cNvSpPr/>
          <p:nvPr/>
        </p:nvSpPr>
        <p:spPr>
          <a:xfrm>
            <a:off x="868680" y="43251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508760" y="4169664"/>
            <a:ext cx="9829800" cy="7315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Une patiente hospitalisée pour une autre maladie : test de sang occulte demandé « puisqu’elle est là »</a:t>
            </a:r>
            <a:endParaRPr lang="en-US" sz="1800" dirty="0"/>
          </a:p>
        </p:txBody>
      </p:sp>
      <p:sp>
        <p:nvSpPr>
          <p:cNvPr id="22" name="Text 20"/>
          <p:cNvSpPr/>
          <p:nvPr/>
        </p:nvSpPr>
        <p:spPr>
          <a:xfrm>
            <a:off x="594360" y="5120640"/>
            <a:ext cx="10972800" cy="54864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Pour la quatrième situation : organisé ou opportuniste ?</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RÉPONSE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Trois dépistages et un diagnostic</a:t>
            </a:r>
            <a:endParaRPr lang="en-US" sz="3200" dirty="0"/>
          </a:p>
        </p:txBody>
      </p:sp>
      <p:sp>
        <p:nvSpPr>
          <p:cNvPr id="4" name="Shape 2"/>
          <p:cNvSpPr/>
          <p:nvPr/>
        </p:nvSpPr>
        <p:spPr>
          <a:xfrm>
            <a:off x="594360" y="1645920"/>
            <a:ext cx="10972800" cy="868680"/>
          </a:xfrm>
          <a:prstGeom prst="roundRect">
            <a:avLst>
              <a:gd name="adj" fmla="val 9474"/>
            </a:avLst>
          </a:prstGeom>
          <a:solidFill>
            <a:srgbClr val="ECEAE4"/>
          </a:solidFill>
          <a:ln w="12700">
            <a:solidFill>
              <a:srgbClr val="ECEAE4"/>
            </a:solidFill>
            <a:prstDash val="solid"/>
          </a:ln>
        </p:spPr>
      </p:sp>
      <p:sp>
        <p:nvSpPr>
          <p:cNvPr id="5" name="Shape 3"/>
          <p:cNvSpPr/>
          <p:nvPr/>
        </p:nvSpPr>
        <p:spPr>
          <a:xfrm>
            <a:off x="822960" y="1874520"/>
            <a:ext cx="420624" cy="420624"/>
          </a:xfrm>
          <a:prstGeom prst="ellipse">
            <a:avLst/>
          </a:prstGeom>
          <a:solidFill>
            <a:srgbClr val="FF4757"/>
          </a:solidFill>
          <a:ln/>
        </p:spPr>
      </p:sp>
      <p:sp>
        <p:nvSpPr>
          <p:cNvPr id="6" name="Text 4"/>
          <p:cNvSpPr/>
          <p:nvPr/>
        </p:nvSpPr>
        <p:spPr>
          <a:xfrm>
            <a:off x="822960" y="187452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63040" y="1645920"/>
            <a:ext cx="4206240" cy="868680"/>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La mammographie sur invitation</a:t>
            </a:r>
            <a:endParaRPr lang="en-US" sz="1800" dirty="0"/>
          </a:p>
        </p:txBody>
      </p:sp>
      <p:sp>
        <p:nvSpPr>
          <p:cNvPr id="8" name="Text 6"/>
          <p:cNvSpPr/>
          <p:nvPr/>
        </p:nvSpPr>
        <p:spPr>
          <a:xfrm>
            <a:off x="5760720" y="1645920"/>
            <a:ext cx="5577840" cy="868680"/>
          </a:xfrm>
          <a:prstGeom prst="rect">
            <a:avLst/>
          </a:prstGeom>
          <a:noFill/>
          <a:ln/>
        </p:spPr>
        <p:txBody>
          <a:bodyPr wrap="square" lIns="0" tIns="0" rIns="0" bIns="0" rtlCol="0" anchor="ctr"/>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dépistage (organisé, si l’invitation vient d’un registre)</a:t>
            </a:r>
            <a:endParaRPr lang="en-US" sz="1800" dirty="0"/>
          </a:p>
        </p:txBody>
      </p:sp>
      <p:sp>
        <p:nvSpPr>
          <p:cNvPr id="9" name="Shape 7"/>
          <p:cNvSpPr/>
          <p:nvPr/>
        </p:nvSpPr>
        <p:spPr>
          <a:xfrm>
            <a:off x="594360" y="2651760"/>
            <a:ext cx="10972800" cy="868680"/>
          </a:xfrm>
          <a:prstGeom prst="roundRect">
            <a:avLst>
              <a:gd name="adj" fmla="val 9474"/>
            </a:avLst>
          </a:prstGeom>
          <a:solidFill>
            <a:srgbClr val="ECEAE4"/>
          </a:solidFill>
          <a:ln w="12700">
            <a:solidFill>
              <a:srgbClr val="ECEAE4"/>
            </a:solidFill>
            <a:prstDash val="solid"/>
          </a:ln>
        </p:spPr>
      </p:sp>
      <p:sp>
        <p:nvSpPr>
          <p:cNvPr id="10" name="Shape 8"/>
          <p:cNvSpPr/>
          <p:nvPr/>
        </p:nvSpPr>
        <p:spPr>
          <a:xfrm>
            <a:off x="822960" y="2880360"/>
            <a:ext cx="420624" cy="420624"/>
          </a:xfrm>
          <a:prstGeom prst="ellipse">
            <a:avLst/>
          </a:prstGeom>
          <a:solidFill>
            <a:srgbClr val="FF4757"/>
          </a:solidFill>
          <a:ln/>
        </p:spPr>
      </p:sp>
      <p:sp>
        <p:nvSpPr>
          <p:cNvPr id="11" name="Text 9"/>
          <p:cNvSpPr/>
          <p:nvPr/>
        </p:nvSpPr>
        <p:spPr>
          <a:xfrm>
            <a:off x="822960" y="288036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463040" y="2651760"/>
            <a:ext cx="4206240" cy="868680"/>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La coloscopie pour perte de poids</a:t>
            </a:r>
            <a:endParaRPr lang="en-US" sz="1800" dirty="0"/>
          </a:p>
        </p:txBody>
      </p:sp>
      <p:sp>
        <p:nvSpPr>
          <p:cNvPr id="13" name="Text 11"/>
          <p:cNvSpPr/>
          <p:nvPr/>
        </p:nvSpPr>
        <p:spPr>
          <a:xfrm>
            <a:off x="5760720" y="2651760"/>
            <a:ext cx="5577840" cy="868680"/>
          </a:xfrm>
          <a:prstGeom prst="rect">
            <a:avLst/>
          </a:prstGeom>
          <a:noFill/>
          <a:ln/>
        </p:spPr>
        <p:txBody>
          <a:bodyPr wrap="square" lIns="0" tIns="0" rIns="0" bIns="0" rtlCol="0" anchor="ctr"/>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diagnostic : le patient a des symptômes</a:t>
            </a:r>
            <a:endParaRPr lang="en-US" sz="1800" dirty="0"/>
          </a:p>
        </p:txBody>
      </p:sp>
      <p:sp>
        <p:nvSpPr>
          <p:cNvPr id="14" name="Shape 12"/>
          <p:cNvSpPr/>
          <p:nvPr/>
        </p:nvSpPr>
        <p:spPr>
          <a:xfrm>
            <a:off x="594360" y="3657600"/>
            <a:ext cx="10972800" cy="868680"/>
          </a:xfrm>
          <a:prstGeom prst="roundRect">
            <a:avLst>
              <a:gd name="adj" fmla="val 9474"/>
            </a:avLst>
          </a:prstGeom>
          <a:solidFill>
            <a:srgbClr val="ECEAE4"/>
          </a:solidFill>
          <a:ln w="12700">
            <a:solidFill>
              <a:srgbClr val="ECEAE4"/>
            </a:solidFill>
            <a:prstDash val="solid"/>
          </a:ln>
        </p:spPr>
      </p:sp>
      <p:sp>
        <p:nvSpPr>
          <p:cNvPr id="15" name="Shape 13"/>
          <p:cNvSpPr/>
          <p:nvPr/>
        </p:nvSpPr>
        <p:spPr>
          <a:xfrm>
            <a:off x="822960" y="3886200"/>
            <a:ext cx="420624" cy="420624"/>
          </a:xfrm>
          <a:prstGeom prst="ellipse">
            <a:avLst/>
          </a:prstGeom>
          <a:solidFill>
            <a:srgbClr val="FF4757"/>
          </a:solidFill>
          <a:ln/>
        </p:spPr>
      </p:sp>
      <p:sp>
        <p:nvSpPr>
          <p:cNvPr id="16" name="Text 14"/>
          <p:cNvSpPr/>
          <p:nvPr/>
        </p:nvSpPr>
        <p:spPr>
          <a:xfrm>
            <a:off x="822960" y="388620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463040" y="3657600"/>
            <a:ext cx="4206240" cy="868680"/>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Le sang au talon</a:t>
            </a:r>
            <a:endParaRPr lang="en-US" sz="1800" dirty="0"/>
          </a:p>
        </p:txBody>
      </p:sp>
      <p:sp>
        <p:nvSpPr>
          <p:cNvPr id="18" name="Text 16"/>
          <p:cNvSpPr/>
          <p:nvPr/>
        </p:nvSpPr>
        <p:spPr>
          <a:xfrm>
            <a:off x="5760720" y="3657600"/>
            <a:ext cx="5577840" cy="868680"/>
          </a:xfrm>
          <a:prstGeom prst="rect">
            <a:avLst/>
          </a:prstGeom>
          <a:noFill/>
          <a:ln/>
        </p:spPr>
        <p:txBody>
          <a:bodyPr wrap="square" lIns="0" tIns="0" rIns="0" bIns="0" rtlCol="0" anchor="ctr"/>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dépistage néonatal</a:t>
            </a:r>
            <a:endParaRPr lang="en-US" sz="1800" dirty="0"/>
          </a:p>
        </p:txBody>
      </p:sp>
      <p:sp>
        <p:nvSpPr>
          <p:cNvPr id="19" name="Shape 17"/>
          <p:cNvSpPr/>
          <p:nvPr/>
        </p:nvSpPr>
        <p:spPr>
          <a:xfrm>
            <a:off x="594360" y="4663440"/>
            <a:ext cx="10972800" cy="868680"/>
          </a:xfrm>
          <a:prstGeom prst="roundRect">
            <a:avLst>
              <a:gd name="adj" fmla="val 9474"/>
            </a:avLst>
          </a:prstGeom>
          <a:solidFill>
            <a:srgbClr val="ECEAE4"/>
          </a:solidFill>
          <a:ln w="12700">
            <a:solidFill>
              <a:srgbClr val="ECEAE4"/>
            </a:solidFill>
            <a:prstDash val="solid"/>
          </a:ln>
        </p:spPr>
      </p:sp>
      <p:sp>
        <p:nvSpPr>
          <p:cNvPr id="20" name="Shape 18"/>
          <p:cNvSpPr/>
          <p:nvPr/>
        </p:nvSpPr>
        <p:spPr>
          <a:xfrm>
            <a:off x="822960" y="4892040"/>
            <a:ext cx="420624" cy="420624"/>
          </a:xfrm>
          <a:prstGeom prst="ellipse">
            <a:avLst/>
          </a:prstGeom>
          <a:solidFill>
            <a:srgbClr val="FF4757"/>
          </a:solidFill>
          <a:ln/>
        </p:spPr>
      </p:sp>
      <p:sp>
        <p:nvSpPr>
          <p:cNvPr id="21" name="Text 19"/>
          <p:cNvSpPr/>
          <p:nvPr/>
        </p:nvSpPr>
        <p:spPr>
          <a:xfrm>
            <a:off x="822960" y="489204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22" name="Text 20"/>
          <p:cNvSpPr/>
          <p:nvPr/>
        </p:nvSpPr>
        <p:spPr>
          <a:xfrm>
            <a:off x="1463040" y="4663440"/>
            <a:ext cx="4206240" cy="868680"/>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Le test « puisqu’elle est là »</a:t>
            </a:r>
            <a:endParaRPr lang="en-US" sz="1800" dirty="0"/>
          </a:p>
        </p:txBody>
      </p:sp>
      <p:sp>
        <p:nvSpPr>
          <p:cNvPr id="23" name="Text 21"/>
          <p:cNvSpPr/>
          <p:nvPr/>
        </p:nvSpPr>
        <p:spPr>
          <a:xfrm>
            <a:off x="5760720" y="4663440"/>
            <a:ext cx="5577840" cy="868680"/>
          </a:xfrm>
          <a:prstGeom prst="rect">
            <a:avLst/>
          </a:prstGeom>
          <a:noFill/>
          <a:ln/>
        </p:spPr>
        <p:txBody>
          <a:bodyPr wrap="square" lIns="0" tIns="0" rIns="0" bIns="0" rtlCol="0" anchor="ctr"/>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dépistage opportuniste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5.2 · WILSON ET JUNGNER, 1968</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Dix critères, en trois familles</a:t>
            </a:r>
            <a:endParaRPr lang="en-US" sz="3200" dirty="0"/>
          </a:p>
        </p:txBody>
      </p:sp>
      <p:sp>
        <p:nvSpPr>
          <p:cNvPr id="4" name="Shape 2"/>
          <p:cNvSpPr/>
          <p:nvPr/>
        </p:nvSpPr>
        <p:spPr>
          <a:xfrm>
            <a:off x="594360" y="1600200"/>
            <a:ext cx="3383280" cy="4434840"/>
          </a:xfrm>
          <a:prstGeom prst="roundRect">
            <a:avLst>
              <a:gd name="adj" fmla="val 2432"/>
            </a:avLst>
          </a:prstGeom>
          <a:solidFill>
            <a:srgbClr val="ECEAE4"/>
          </a:solidFill>
          <a:ln w="12700">
            <a:solidFill>
              <a:srgbClr val="ECEAE4"/>
            </a:solidFill>
            <a:prstDash val="solid"/>
          </a:ln>
        </p:spPr>
      </p:sp>
      <p:sp>
        <p:nvSpPr>
          <p:cNvPr id="5" name="Text 3"/>
          <p:cNvSpPr/>
          <p:nvPr/>
        </p:nvSpPr>
        <p:spPr>
          <a:xfrm>
            <a:off x="822960" y="1691640"/>
            <a:ext cx="2926080" cy="365760"/>
          </a:xfrm>
          <a:prstGeom prst="rect">
            <a:avLst/>
          </a:prstGeom>
          <a:noFill/>
          <a:ln/>
        </p:spPr>
        <p:txBody>
          <a:bodyPr wrap="square" lIns="0" tIns="0" rIns="0" bIns="0" rtlCol="0" anchor="t"/>
          <a:lstStyle/>
          <a:p>
            <a:pPr indent="0" marL="0">
              <a:buNone/>
            </a:pPr>
            <a:r>
              <a:rPr lang="en-US" sz="1400" b="1" spc="200" kern="0" dirty="0">
                <a:solidFill>
                  <a:srgbClr val="B02532"/>
                </a:solidFill>
                <a:latin typeface="Palatino Linotype" pitchFamily="34" charset="0"/>
                <a:ea typeface="Palatino Linotype" pitchFamily="34" charset="-122"/>
                <a:cs typeface="Palatino Linotype" pitchFamily="34" charset="-120"/>
              </a:rPr>
              <a:t>LA MALADIE</a:t>
            </a:r>
            <a:endParaRPr lang="en-US" sz="1400" dirty="0"/>
          </a:p>
        </p:txBody>
      </p:sp>
      <p:sp>
        <p:nvSpPr>
          <p:cNvPr id="6" name="Shape 4"/>
          <p:cNvSpPr/>
          <p:nvPr/>
        </p:nvSpPr>
        <p:spPr>
          <a:xfrm>
            <a:off x="777240" y="2258568"/>
            <a:ext cx="457200" cy="457200"/>
          </a:xfrm>
          <a:prstGeom prst="ellipse">
            <a:avLst/>
          </a:prstGeom>
          <a:solidFill>
            <a:srgbClr val="B02532"/>
          </a:solidFill>
          <a:ln/>
        </p:spPr>
      </p:sp>
      <p:sp>
        <p:nvSpPr>
          <p:cNvPr id="7" name="Text 5"/>
          <p:cNvSpPr/>
          <p:nvPr/>
        </p:nvSpPr>
        <p:spPr>
          <a:xfrm>
            <a:off x="777240" y="22585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371600" y="2148840"/>
            <a:ext cx="2468880" cy="676656"/>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un problème de santé important</a:t>
            </a:r>
            <a:endParaRPr lang="en-US" sz="1550" dirty="0"/>
          </a:p>
        </p:txBody>
      </p:sp>
      <p:sp>
        <p:nvSpPr>
          <p:cNvPr id="9" name="Shape 7"/>
          <p:cNvSpPr/>
          <p:nvPr/>
        </p:nvSpPr>
        <p:spPr>
          <a:xfrm>
            <a:off x="777240" y="3026664"/>
            <a:ext cx="457200" cy="457200"/>
          </a:xfrm>
          <a:prstGeom prst="ellipse">
            <a:avLst/>
          </a:prstGeom>
          <a:solidFill>
            <a:srgbClr val="B02532"/>
          </a:solidFill>
          <a:ln/>
        </p:spPr>
      </p:sp>
      <p:sp>
        <p:nvSpPr>
          <p:cNvPr id="10" name="Text 8"/>
          <p:cNvSpPr/>
          <p:nvPr/>
        </p:nvSpPr>
        <p:spPr>
          <a:xfrm>
            <a:off x="777240" y="302666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1" name="Text 9"/>
          <p:cNvSpPr/>
          <p:nvPr/>
        </p:nvSpPr>
        <p:spPr>
          <a:xfrm>
            <a:off x="1371600" y="2916936"/>
            <a:ext cx="2468880" cy="676656"/>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une phase latente ou précoce reconnaissable</a:t>
            </a:r>
            <a:endParaRPr lang="en-US" sz="1550" dirty="0"/>
          </a:p>
        </p:txBody>
      </p:sp>
      <p:sp>
        <p:nvSpPr>
          <p:cNvPr id="12" name="Shape 10"/>
          <p:cNvSpPr/>
          <p:nvPr/>
        </p:nvSpPr>
        <p:spPr>
          <a:xfrm>
            <a:off x="777240" y="3794760"/>
            <a:ext cx="457200" cy="457200"/>
          </a:xfrm>
          <a:prstGeom prst="ellipse">
            <a:avLst/>
          </a:prstGeom>
          <a:solidFill>
            <a:srgbClr val="B02532"/>
          </a:solidFill>
          <a:ln/>
        </p:spPr>
      </p:sp>
      <p:sp>
        <p:nvSpPr>
          <p:cNvPr id="13" name="Text 11"/>
          <p:cNvSpPr/>
          <p:nvPr/>
        </p:nvSpPr>
        <p:spPr>
          <a:xfrm>
            <a:off x="777240" y="37947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7</a:t>
            </a:r>
            <a:endParaRPr lang="en-US" sz="1400" dirty="0"/>
          </a:p>
        </p:txBody>
      </p:sp>
      <p:sp>
        <p:nvSpPr>
          <p:cNvPr id="14" name="Text 12"/>
          <p:cNvSpPr/>
          <p:nvPr/>
        </p:nvSpPr>
        <p:spPr>
          <a:xfrm>
            <a:off x="1371600" y="3685032"/>
            <a:ext cx="2468880" cy="676656"/>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une histoire naturelle connue</a:t>
            </a:r>
            <a:endParaRPr lang="en-US" sz="1550" dirty="0"/>
          </a:p>
        </p:txBody>
      </p:sp>
      <p:sp>
        <p:nvSpPr>
          <p:cNvPr id="15" name="Shape 13"/>
          <p:cNvSpPr/>
          <p:nvPr/>
        </p:nvSpPr>
        <p:spPr>
          <a:xfrm>
            <a:off x="4206240" y="1600200"/>
            <a:ext cx="3383280" cy="4434840"/>
          </a:xfrm>
          <a:prstGeom prst="roundRect">
            <a:avLst>
              <a:gd name="adj" fmla="val 2432"/>
            </a:avLst>
          </a:prstGeom>
          <a:solidFill>
            <a:srgbClr val="ECEAE4"/>
          </a:solidFill>
          <a:ln w="12700">
            <a:solidFill>
              <a:srgbClr val="ECEAE4"/>
            </a:solidFill>
            <a:prstDash val="solid"/>
          </a:ln>
        </p:spPr>
      </p:sp>
      <p:sp>
        <p:nvSpPr>
          <p:cNvPr id="16" name="Text 14"/>
          <p:cNvSpPr/>
          <p:nvPr/>
        </p:nvSpPr>
        <p:spPr>
          <a:xfrm>
            <a:off x="4434840" y="1691640"/>
            <a:ext cx="2926080" cy="365760"/>
          </a:xfrm>
          <a:prstGeom prst="rect">
            <a:avLst/>
          </a:prstGeom>
          <a:noFill/>
          <a:ln/>
        </p:spPr>
        <p:txBody>
          <a:bodyPr wrap="square" lIns="0" tIns="0" rIns="0" bIns="0" rtlCol="0" anchor="t"/>
          <a:lstStyle/>
          <a:p>
            <a:pPr indent="0" marL="0">
              <a:buNone/>
            </a:pPr>
            <a:r>
              <a:rPr lang="en-US" sz="1400" b="1" spc="200" kern="0" dirty="0">
                <a:solidFill>
                  <a:srgbClr val="4A2D8C"/>
                </a:solidFill>
                <a:latin typeface="Palatino Linotype" pitchFamily="34" charset="0"/>
                <a:ea typeface="Palatino Linotype" pitchFamily="34" charset="-122"/>
                <a:cs typeface="Palatino Linotype" pitchFamily="34" charset="-120"/>
              </a:rPr>
              <a:t>LE TEST</a:t>
            </a:r>
            <a:endParaRPr lang="en-US" sz="1400" dirty="0"/>
          </a:p>
        </p:txBody>
      </p:sp>
      <p:sp>
        <p:nvSpPr>
          <p:cNvPr id="17" name="Shape 15"/>
          <p:cNvSpPr/>
          <p:nvPr/>
        </p:nvSpPr>
        <p:spPr>
          <a:xfrm>
            <a:off x="4389120" y="2258568"/>
            <a:ext cx="457200" cy="457200"/>
          </a:xfrm>
          <a:prstGeom prst="ellipse">
            <a:avLst/>
          </a:prstGeom>
          <a:solidFill>
            <a:srgbClr val="4A2D8C"/>
          </a:solidFill>
          <a:ln/>
        </p:spPr>
      </p:sp>
      <p:sp>
        <p:nvSpPr>
          <p:cNvPr id="18" name="Text 16"/>
          <p:cNvSpPr/>
          <p:nvPr/>
        </p:nvSpPr>
        <p:spPr>
          <a:xfrm>
            <a:off x="4389120" y="22585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19" name="Text 17"/>
          <p:cNvSpPr/>
          <p:nvPr/>
        </p:nvSpPr>
        <p:spPr>
          <a:xfrm>
            <a:off x="4983480" y="2148840"/>
            <a:ext cx="2468880" cy="676656"/>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un test ou un examen approprié</a:t>
            </a:r>
            <a:endParaRPr lang="en-US" sz="1550" dirty="0"/>
          </a:p>
        </p:txBody>
      </p:sp>
      <p:sp>
        <p:nvSpPr>
          <p:cNvPr id="20" name="Shape 18"/>
          <p:cNvSpPr/>
          <p:nvPr/>
        </p:nvSpPr>
        <p:spPr>
          <a:xfrm>
            <a:off x="4389120" y="3026664"/>
            <a:ext cx="457200" cy="457200"/>
          </a:xfrm>
          <a:prstGeom prst="ellipse">
            <a:avLst/>
          </a:prstGeom>
          <a:solidFill>
            <a:srgbClr val="4A2D8C"/>
          </a:solidFill>
          <a:ln/>
        </p:spPr>
      </p:sp>
      <p:sp>
        <p:nvSpPr>
          <p:cNvPr id="21" name="Text 19"/>
          <p:cNvSpPr/>
          <p:nvPr/>
        </p:nvSpPr>
        <p:spPr>
          <a:xfrm>
            <a:off x="4389120" y="302666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6</a:t>
            </a:r>
            <a:endParaRPr lang="en-US" sz="1400" dirty="0"/>
          </a:p>
        </p:txBody>
      </p:sp>
      <p:sp>
        <p:nvSpPr>
          <p:cNvPr id="22" name="Text 20"/>
          <p:cNvSpPr/>
          <p:nvPr/>
        </p:nvSpPr>
        <p:spPr>
          <a:xfrm>
            <a:off x="4983480" y="2916936"/>
            <a:ext cx="2468880" cy="676656"/>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un test acceptable pour la population</a:t>
            </a:r>
            <a:endParaRPr lang="en-US" sz="1550" dirty="0"/>
          </a:p>
        </p:txBody>
      </p:sp>
      <p:sp>
        <p:nvSpPr>
          <p:cNvPr id="23" name="Shape 21"/>
          <p:cNvSpPr/>
          <p:nvPr/>
        </p:nvSpPr>
        <p:spPr>
          <a:xfrm>
            <a:off x="7818120" y="1600200"/>
            <a:ext cx="3749040" cy="4434840"/>
          </a:xfrm>
          <a:prstGeom prst="roundRect">
            <a:avLst>
              <a:gd name="adj" fmla="val 2195"/>
            </a:avLst>
          </a:prstGeom>
          <a:solidFill>
            <a:srgbClr val="ECEAE4"/>
          </a:solidFill>
          <a:ln w="12700">
            <a:solidFill>
              <a:srgbClr val="ECEAE4"/>
            </a:solidFill>
            <a:prstDash val="solid"/>
          </a:ln>
        </p:spPr>
      </p:sp>
      <p:sp>
        <p:nvSpPr>
          <p:cNvPr id="24" name="Text 22"/>
          <p:cNvSpPr/>
          <p:nvPr/>
        </p:nvSpPr>
        <p:spPr>
          <a:xfrm>
            <a:off x="8046720" y="1691640"/>
            <a:ext cx="3291840" cy="365760"/>
          </a:xfrm>
          <a:prstGeom prst="rect">
            <a:avLst/>
          </a:prstGeom>
          <a:noFill/>
          <a:ln/>
        </p:spPr>
        <p:txBody>
          <a:bodyPr wrap="square" lIns="0" tIns="0" rIns="0" bIns="0" rtlCol="0" anchor="t"/>
          <a:lstStyle/>
          <a:p>
            <a:pPr indent="0" marL="0">
              <a:buNone/>
            </a:pPr>
            <a:r>
              <a:rPr lang="en-US" sz="1400" b="1" spc="200" kern="0" dirty="0">
                <a:solidFill>
                  <a:srgbClr val="0E7C6B"/>
                </a:solidFill>
                <a:latin typeface="Palatino Linotype" pitchFamily="34" charset="0"/>
                <a:ea typeface="Palatino Linotype" pitchFamily="34" charset="-122"/>
                <a:cs typeface="Palatino Linotype" pitchFamily="34" charset="-120"/>
              </a:rPr>
              <a:t>LE SYSTÈME</a:t>
            </a:r>
            <a:endParaRPr lang="en-US" sz="1400" dirty="0"/>
          </a:p>
        </p:txBody>
      </p:sp>
      <p:sp>
        <p:nvSpPr>
          <p:cNvPr id="25" name="Shape 23"/>
          <p:cNvSpPr/>
          <p:nvPr/>
        </p:nvSpPr>
        <p:spPr>
          <a:xfrm>
            <a:off x="8001000" y="2258568"/>
            <a:ext cx="457200" cy="457200"/>
          </a:xfrm>
          <a:prstGeom prst="ellipse">
            <a:avLst/>
          </a:prstGeom>
          <a:solidFill>
            <a:srgbClr val="0E7C6B"/>
          </a:solidFill>
          <a:ln/>
        </p:spPr>
      </p:sp>
      <p:sp>
        <p:nvSpPr>
          <p:cNvPr id="26" name="Text 24"/>
          <p:cNvSpPr/>
          <p:nvPr/>
        </p:nvSpPr>
        <p:spPr>
          <a:xfrm>
            <a:off x="8001000" y="22585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27" name="Text 25"/>
          <p:cNvSpPr/>
          <p:nvPr/>
        </p:nvSpPr>
        <p:spPr>
          <a:xfrm>
            <a:off x="8595360" y="2148840"/>
            <a:ext cx="2834640" cy="676656"/>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un traitement accepté</a:t>
            </a:r>
            <a:endParaRPr lang="en-US" sz="1550" dirty="0"/>
          </a:p>
        </p:txBody>
      </p:sp>
      <p:sp>
        <p:nvSpPr>
          <p:cNvPr id="28" name="Shape 26"/>
          <p:cNvSpPr/>
          <p:nvPr/>
        </p:nvSpPr>
        <p:spPr>
          <a:xfrm>
            <a:off x="8001000" y="3026664"/>
            <a:ext cx="457200" cy="457200"/>
          </a:xfrm>
          <a:prstGeom prst="ellipse">
            <a:avLst/>
          </a:prstGeom>
          <a:solidFill>
            <a:srgbClr val="0E7C6B"/>
          </a:solidFill>
          <a:ln/>
        </p:spPr>
      </p:sp>
      <p:sp>
        <p:nvSpPr>
          <p:cNvPr id="29" name="Text 27"/>
          <p:cNvSpPr/>
          <p:nvPr/>
        </p:nvSpPr>
        <p:spPr>
          <a:xfrm>
            <a:off x="8001000" y="302666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30" name="Text 28"/>
          <p:cNvSpPr/>
          <p:nvPr/>
        </p:nvSpPr>
        <p:spPr>
          <a:xfrm>
            <a:off x="8595360" y="2916936"/>
            <a:ext cx="2834640" cy="676656"/>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des moyens de diagnostic et de traitement</a:t>
            </a:r>
            <a:endParaRPr lang="en-US" sz="1550" dirty="0"/>
          </a:p>
        </p:txBody>
      </p:sp>
      <p:sp>
        <p:nvSpPr>
          <p:cNvPr id="31" name="Shape 29"/>
          <p:cNvSpPr/>
          <p:nvPr/>
        </p:nvSpPr>
        <p:spPr>
          <a:xfrm>
            <a:off x="8001000" y="3794760"/>
            <a:ext cx="457200" cy="457200"/>
          </a:xfrm>
          <a:prstGeom prst="ellipse">
            <a:avLst/>
          </a:prstGeom>
          <a:solidFill>
            <a:srgbClr val="0E7C6B"/>
          </a:solidFill>
          <a:ln/>
        </p:spPr>
      </p:sp>
      <p:sp>
        <p:nvSpPr>
          <p:cNvPr id="32" name="Text 30"/>
          <p:cNvSpPr/>
          <p:nvPr/>
        </p:nvSpPr>
        <p:spPr>
          <a:xfrm>
            <a:off x="8001000" y="37947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8</a:t>
            </a:r>
            <a:endParaRPr lang="en-US" sz="1400" dirty="0"/>
          </a:p>
        </p:txBody>
      </p:sp>
      <p:sp>
        <p:nvSpPr>
          <p:cNvPr id="33" name="Text 31"/>
          <p:cNvSpPr/>
          <p:nvPr/>
        </p:nvSpPr>
        <p:spPr>
          <a:xfrm>
            <a:off x="8595360" y="3685032"/>
            <a:ext cx="2834640" cy="676656"/>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une politique convenue : qui traiter</a:t>
            </a:r>
            <a:endParaRPr lang="en-US" sz="1550" dirty="0"/>
          </a:p>
        </p:txBody>
      </p:sp>
      <p:sp>
        <p:nvSpPr>
          <p:cNvPr id="34" name="Shape 32"/>
          <p:cNvSpPr/>
          <p:nvPr/>
        </p:nvSpPr>
        <p:spPr>
          <a:xfrm>
            <a:off x="8001000" y="4562856"/>
            <a:ext cx="457200" cy="457200"/>
          </a:xfrm>
          <a:prstGeom prst="ellipse">
            <a:avLst/>
          </a:prstGeom>
          <a:solidFill>
            <a:srgbClr val="0E7C6B"/>
          </a:solidFill>
          <a:ln/>
        </p:spPr>
      </p:sp>
      <p:sp>
        <p:nvSpPr>
          <p:cNvPr id="35" name="Text 33"/>
          <p:cNvSpPr/>
          <p:nvPr/>
        </p:nvSpPr>
        <p:spPr>
          <a:xfrm>
            <a:off x="8001000" y="456285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9</a:t>
            </a:r>
            <a:endParaRPr lang="en-US" sz="1400" dirty="0"/>
          </a:p>
        </p:txBody>
      </p:sp>
      <p:sp>
        <p:nvSpPr>
          <p:cNvPr id="36" name="Text 34"/>
          <p:cNvSpPr/>
          <p:nvPr/>
        </p:nvSpPr>
        <p:spPr>
          <a:xfrm>
            <a:off x="8595360" y="4453128"/>
            <a:ext cx="2834640" cy="676656"/>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un coût économiquement équilibré</a:t>
            </a:r>
            <a:endParaRPr lang="en-US" sz="1550" dirty="0"/>
          </a:p>
        </p:txBody>
      </p:sp>
      <p:sp>
        <p:nvSpPr>
          <p:cNvPr id="37" name="Shape 35"/>
          <p:cNvSpPr/>
          <p:nvPr/>
        </p:nvSpPr>
        <p:spPr>
          <a:xfrm>
            <a:off x="8001000" y="5330952"/>
            <a:ext cx="457200" cy="457200"/>
          </a:xfrm>
          <a:prstGeom prst="ellipse">
            <a:avLst/>
          </a:prstGeom>
          <a:solidFill>
            <a:srgbClr val="0E7C6B"/>
          </a:solidFill>
          <a:ln/>
        </p:spPr>
      </p:sp>
      <p:sp>
        <p:nvSpPr>
          <p:cNvPr id="38" name="Text 36"/>
          <p:cNvSpPr/>
          <p:nvPr/>
        </p:nvSpPr>
        <p:spPr>
          <a:xfrm>
            <a:off x="8001000" y="53309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10</a:t>
            </a:r>
            <a:endParaRPr lang="en-US" sz="1400" dirty="0"/>
          </a:p>
        </p:txBody>
      </p:sp>
      <p:sp>
        <p:nvSpPr>
          <p:cNvPr id="39" name="Text 37"/>
          <p:cNvSpPr/>
          <p:nvPr/>
        </p:nvSpPr>
        <p:spPr>
          <a:xfrm>
            <a:off x="8595360" y="5221224"/>
            <a:ext cx="2834640" cy="676656"/>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un processus continu, pas un projet unique</a:t>
            </a:r>
            <a:endParaRPr lang="en-US" sz="1550" dirty="0"/>
          </a:p>
        </p:txBody>
      </p:sp>
      <p:sp>
        <p:nvSpPr>
          <p:cNvPr id="40" name="Text 38"/>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Wilson et Jungner, 1968 (ordre original), dans OMS Europe, 2020.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EN PRATIQUE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Quatre critères souvent mal compris</a:t>
            </a:r>
            <a:endParaRPr lang="en-US" sz="3200" dirty="0"/>
          </a:p>
        </p:txBody>
      </p:sp>
      <p:sp>
        <p:nvSpPr>
          <p:cNvPr id="4" name="Shape 2"/>
          <p:cNvSpPr/>
          <p:nvPr/>
        </p:nvSpPr>
        <p:spPr>
          <a:xfrm>
            <a:off x="594360" y="1645920"/>
            <a:ext cx="5349240" cy="2011680"/>
          </a:xfrm>
          <a:prstGeom prst="roundRect">
            <a:avLst>
              <a:gd name="adj" fmla="val 4091"/>
            </a:avLst>
          </a:prstGeom>
          <a:solidFill>
            <a:srgbClr val="1D1F2B"/>
          </a:solidFill>
          <a:ln w="12700">
            <a:solidFill>
              <a:srgbClr val="1D1F2B"/>
            </a:solidFill>
            <a:prstDash val="solid"/>
          </a:ln>
        </p:spPr>
      </p:sp>
      <p:sp>
        <p:nvSpPr>
          <p:cNvPr id="5" name="Text 3"/>
          <p:cNvSpPr/>
          <p:nvPr/>
        </p:nvSpPr>
        <p:spPr>
          <a:xfrm>
            <a:off x="868680" y="1783080"/>
            <a:ext cx="4846320" cy="45720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Traitement accepté</a:t>
            </a:r>
            <a:endParaRPr lang="en-US" sz="1900" dirty="0"/>
          </a:p>
        </p:txBody>
      </p:sp>
      <p:sp>
        <p:nvSpPr>
          <p:cNvPr id="6" name="Text 4"/>
          <p:cNvSpPr/>
          <p:nvPr/>
        </p:nvSpPr>
        <p:spPr>
          <a:xfrm>
            <a:off x="868680" y="2286000"/>
            <a:ext cx="4846320" cy="128016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le traitement précoce doit donner un meilleur résultat que celui appliqué après les symptômes</a:t>
            </a:r>
            <a:endParaRPr lang="en-US" sz="1800" dirty="0"/>
          </a:p>
        </p:txBody>
      </p:sp>
      <p:sp>
        <p:nvSpPr>
          <p:cNvPr id="7" name="Shape 5"/>
          <p:cNvSpPr/>
          <p:nvPr/>
        </p:nvSpPr>
        <p:spPr>
          <a:xfrm>
            <a:off x="6217920" y="1645920"/>
            <a:ext cx="5349240" cy="2011680"/>
          </a:xfrm>
          <a:prstGeom prst="roundRect">
            <a:avLst>
              <a:gd name="adj" fmla="val 4091"/>
            </a:avLst>
          </a:prstGeom>
          <a:solidFill>
            <a:srgbClr val="1D1F2B"/>
          </a:solidFill>
          <a:ln w="12700">
            <a:solidFill>
              <a:srgbClr val="1D1F2B"/>
            </a:solidFill>
            <a:prstDash val="solid"/>
          </a:ln>
        </p:spPr>
      </p:sp>
      <p:sp>
        <p:nvSpPr>
          <p:cNvPr id="8" name="Text 6"/>
          <p:cNvSpPr/>
          <p:nvPr/>
        </p:nvSpPr>
        <p:spPr>
          <a:xfrm>
            <a:off x="6492240" y="1783080"/>
            <a:ext cx="4846320" cy="45720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Test acceptable</a:t>
            </a:r>
            <a:endParaRPr lang="en-US" sz="1900" dirty="0"/>
          </a:p>
        </p:txBody>
      </p:sp>
      <p:sp>
        <p:nvSpPr>
          <p:cNvPr id="9" name="Text 7"/>
          <p:cNvSpPr/>
          <p:nvPr/>
        </p:nvSpPr>
        <p:spPr>
          <a:xfrm>
            <a:off x="6492240" y="2286000"/>
            <a:ext cx="4846320" cy="128016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les gens le font vraiment ; un test refusé ne réduit pas la mortalité</a:t>
            </a:r>
            <a:endParaRPr lang="en-US" sz="1800" dirty="0"/>
          </a:p>
        </p:txBody>
      </p:sp>
      <p:sp>
        <p:nvSpPr>
          <p:cNvPr id="10" name="Shape 8"/>
          <p:cNvSpPr/>
          <p:nvPr/>
        </p:nvSpPr>
        <p:spPr>
          <a:xfrm>
            <a:off x="594360" y="3840480"/>
            <a:ext cx="5349240" cy="2011680"/>
          </a:xfrm>
          <a:prstGeom prst="roundRect">
            <a:avLst>
              <a:gd name="adj" fmla="val 4091"/>
            </a:avLst>
          </a:prstGeom>
          <a:solidFill>
            <a:srgbClr val="1D1F2B"/>
          </a:solidFill>
          <a:ln w="12700">
            <a:solidFill>
              <a:srgbClr val="1D1F2B"/>
            </a:solidFill>
            <a:prstDash val="solid"/>
          </a:ln>
        </p:spPr>
      </p:sp>
      <p:sp>
        <p:nvSpPr>
          <p:cNvPr id="11" name="Text 9"/>
          <p:cNvSpPr/>
          <p:nvPr/>
        </p:nvSpPr>
        <p:spPr>
          <a:xfrm>
            <a:off x="868680" y="3977640"/>
            <a:ext cx="4846320" cy="45720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Qui traiter</a:t>
            </a:r>
            <a:endParaRPr lang="en-US" sz="1900" dirty="0"/>
          </a:p>
        </p:txBody>
      </p:sp>
      <p:sp>
        <p:nvSpPr>
          <p:cNvPr id="12" name="Text 10"/>
          <p:cNvSpPr/>
          <p:nvPr/>
        </p:nvSpPr>
        <p:spPr>
          <a:xfrm>
            <a:off x="868680" y="4480560"/>
            <a:ext cx="4846320" cy="128016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établi avant le programme, y compris pour les petites lésions à l’évolution incertaine</a:t>
            </a:r>
            <a:endParaRPr lang="en-US" sz="1800" dirty="0"/>
          </a:p>
        </p:txBody>
      </p:sp>
      <p:sp>
        <p:nvSpPr>
          <p:cNvPr id="13" name="Shape 11"/>
          <p:cNvSpPr/>
          <p:nvPr/>
        </p:nvSpPr>
        <p:spPr>
          <a:xfrm>
            <a:off x="6217920" y="3840480"/>
            <a:ext cx="5349240" cy="2011680"/>
          </a:xfrm>
          <a:prstGeom prst="roundRect">
            <a:avLst>
              <a:gd name="adj" fmla="val 4091"/>
            </a:avLst>
          </a:prstGeom>
          <a:solidFill>
            <a:srgbClr val="1D1F2B"/>
          </a:solidFill>
          <a:ln w="12700">
            <a:solidFill>
              <a:srgbClr val="1D1F2B"/>
            </a:solidFill>
            <a:prstDash val="solid"/>
          </a:ln>
        </p:spPr>
      </p:sp>
      <p:sp>
        <p:nvSpPr>
          <p:cNvPr id="14" name="Text 12"/>
          <p:cNvSpPr/>
          <p:nvPr/>
        </p:nvSpPr>
        <p:spPr>
          <a:xfrm>
            <a:off x="6492240" y="3977640"/>
            <a:ext cx="4846320" cy="45720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Processus continu</a:t>
            </a:r>
            <a:endParaRPr lang="en-US" sz="1900" dirty="0"/>
          </a:p>
        </p:txBody>
      </p:sp>
      <p:sp>
        <p:nvSpPr>
          <p:cNvPr id="15" name="Text 13"/>
          <p:cNvSpPr/>
          <p:nvPr/>
        </p:nvSpPr>
        <p:spPr>
          <a:xfrm>
            <a:off x="6492240" y="4480560"/>
            <a:ext cx="4846320" cy="128016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l’invitation répétée des mêmes personnes et le suivi des positifs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QUI S’EST AJOUTÉ APRÈS 1968</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Une revue systématique de 2018</a:t>
            </a:r>
            <a:endParaRPr lang="en-US" sz="3200" dirty="0"/>
          </a:p>
        </p:txBody>
      </p:sp>
      <p:sp>
        <p:nvSpPr>
          <p:cNvPr id="4" name="Shape 2"/>
          <p:cNvSpPr/>
          <p:nvPr/>
        </p:nvSpPr>
        <p:spPr>
          <a:xfrm>
            <a:off x="594360" y="1645920"/>
            <a:ext cx="3520440" cy="1463040"/>
          </a:xfrm>
          <a:prstGeom prst="roundRect">
            <a:avLst>
              <a:gd name="adj" fmla="val 5625"/>
            </a:avLst>
          </a:prstGeom>
          <a:solidFill>
            <a:srgbClr val="ECEAE4"/>
          </a:solidFill>
          <a:ln w="12700">
            <a:solidFill>
              <a:srgbClr val="ECEAE4"/>
            </a:solidFill>
            <a:prstDash val="solid"/>
          </a:ln>
        </p:spPr>
      </p:sp>
      <p:sp>
        <p:nvSpPr>
          <p:cNvPr id="5" name="Text 3"/>
          <p:cNvSpPr/>
          <p:nvPr/>
        </p:nvSpPr>
        <p:spPr>
          <a:xfrm>
            <a:off x="868680" y="1755648"/>
            <a:ext cx="2971800" cy="731520"/>
          </a:xfrm>
          <a:prstGeom prst="rect">
            <a:avLst/>
          </a:prstGeom>
          <a:noFill/>
          <a:ln/>
        </p:spPr>
        <p:txBody>
          <a:bodyPr wrap="square" lIns="0" tIns="0" rIns="0" bIns="0" rtlCol="0" anchor="ctr"/>
          <a:lstStyle/>
          <a:p>
            <a:pPr indent="0" marL="0">
              <a:buNone/>
            </a:pPr>
            <a:r>
              <a:rPr lang="en-US" sz="4400" b="1" dirty="0">
                <a:solidFill>
                  <a:srgbClr val="B02532"/>
                </a:solidFill>
                <a:latin typeface="Palatino Linotype" pitchFamily="34" charset="0"/>
                <a:ea typeface="Palatino Linotype" pitchFamily="34" charset="-122"/>
                <a:cs typeface="Palatino Linotype" pitchFamily="34" charset="-120"/>
              </a:rPr>
              <a:t>41</a:t>
            </a:r>
            <a:endParaRPr lang="en-US" sz="4400" dirty="0"/>
          </a:p>
        </p:txBody>
      </p:sp>
      <p:sp>
        <p:nvSpPr>
          <p:cNvPr id="6" name="Text 4"/>
          <p:cNvSpPr/>
          <p:nvPr/>
        </p:nvSpPr>
        <p:spPr>
          <a:xfrm>
            <a:off x="868680" y="2395728"/>
            <a:ext cx="2971800" cy="672998"/>
          </a:xfrm>
          <a:prstGeom prst="rect">
            <a:avLst/>
          </a:prstGeom>
          <a:noFill/>
          <a:ln/>
        </p:spPr>
        <p:txBody>
          <a:bodyPr wrap="square" lIns="0" tIns="0" rIns="0" bIns="0" rtlCol="0" anchor="t"/>
          <a:lstStyle/>
          <a:p>
            <a:pPr indent="0" marL="0">
              <a:buNone/>
            </a:pPr>
            <a:r>
              <a:rPr lang="en-US" sz="1200" dirty="0">
                <a:solidFill>
                  <a:srgbClr val="585A64"/>
                </a:solidFill>
                <a:latin typeface="Palatino Linotype" pitchFamily="34" charset="0"/>
                <a:ea typeface="Palatino Linotype" pitchFamily="34" charset="-122"/>
                <a:cs typeface="Palatino Linotype" pitchFamily="34" charset="-120"/>
              </a:rPr>
              <a:t>ensembles de principes de dépistage</a:t>
            </a:r>
            <a:endParaRPr lang="en-US" sz="1200" dirty="0"/>
          </a:p>
        </p:txBody>
      </p:sp>
      <p:sp>
        <p:nvSpPr>
          <p:cNvPr id="7" name="Shape 5"/>
          <p:cNvSpPr/>
          <p:nvPr/>
        </p:nvSpPr>
        <p:spPr>
          <a:xfrm>
            <a:off x="4343400" y="1645920"/>
            <a:ext cx="3520440" cy="1463040"/>
          </a:xfrm>
          <a:prstGeom prst="roundRect">
            <a:avLst>
              <a:gd name="adj" fmla="val 5625"/>
            </a:avLst>
          </a:prstGeom>
          <a:solidFill>
            <a:srgbClr val="ECEAE4"/>
          </a:solidFill>
          <a:ln w="12700">
            <a:solidFill>
              <a:srgbClr val="ECEAE4"/>
            </a:solidFill>
            <a:prstDash val="solid"/>
          </a:ln>
        </p:spPr>
      </p:sp>
      <p:sp>
        <p:nvSpPr>
          <p:cNvPr id="8" name="Text 6"/>
          <p:cNvSpPr/>
          <p:nvPr/>
        </p:nvSpPr>
        <p:spPr>
          <a:xfrm>
            <a:off x="4617720" y="1755648"/>
            <a:ext cx="2971800" cy="731520"/>
          </a:xfrm>
          <a:prstGeom prst="rect">
            <a:avLst/>
          </a:prstGeom>
          <a:noFill/>
          <a:ln/>
        </p:spPr>
        <p:txBody>
          <a:bodyPr wrap="square" lIns="0" tIns="0" rIns="0" bIns="0" rtlCol="0" anchor="ctr"/>
          <a:lstStyle/>
          <a:p>
            <a:pPr indent="0" marL="0">
              <a:buNone/>
            </a:pPr>
            <a:r>
              <a:rPr lang="en-US" sz="4400" b="1" dirty="0">
                <a:solidFill>
                  <a:srgbClr val="4A2D8C"/>
                </a:solidFill>
                <a:latin typeface="Palatino Linotype" pitchFamily="34" charset="0"/>
                <a:ea typeface="Palatino Linotype" pitchFamily="34" charset="-122"/>
                <a:cs typeface="Palatino Linotype" pitchFamily="34" charset="-120"/>
              </a:rPr>
              <a:t>367</a:t>
            </a:r>
            <a:endParaRPr lang="en-US" sz="4400" dirty="0"/>
          </a:p>
        </p:txBody>
      </p:sp>
      <p:sp>
        <p:nvSpPr>
          <p:cNvPr id="9" name="Text 7"/>
          <p:cNvSpPr/>
          <p:nvPr/>
        </p:nvSpPr>
        <p:spPr>
          <a:xfrm>
            <a:off x="4617720" y="2395728"/>
            <a:ext cx="2971800" cy="672998"/>
          </a:xfrm>
          <a:prstGeom prst="rect">
            <a:avLst/>
          </a:prstGeom>
          <a:noFill/>
          <a:ln/>
        </p:spPr>
        <p:txBody>
          <a:bodyPr wrap="square" lIns="0" tIns="0" rIns="0" bIns="0" rtlCol="0" anchor="t"/>
          <a:lstStyle/>
          <a:p>
            <a:pPr indent="0" marL="0">
              <a:buNone/>
            </a:pPr>
            <a:r>
              <a:rPr lang="en-US" sz="1200" dirty="0">
                <a:solidFill>
                  <a:srgbClr val="585A64"/>
                </a:solidFill>
                <a:latin typeface="Palatino Linotype" pitchFamily="34" charset="0"/>
                <a:ea typeface="Palatino Linotype" pitchFamily="34" charset="-122"/>
                <a:cs typeface="Palatino Linotype" pitchFamily="34" charset="-120"/>
              </a:rPr>
              <a:t>principes uniques</a:t>
            </a:r>
            <a:endParaRPr lang="en-US" sz="1200" dirty="0"/>
          </a:p>
        </p:txBody>
      </p:sp>
      <p:sp>
        <p:nvSpPr>
          <p:cNvPr id="10" name="Shape 8"/>
          <p:cNvSpPr/>
          <p:nvPr/>
        </p:nvSpPr>
        <p:spPr>
          <a:xfrm>
            <a:off x="8092440" y="1645920"/>
            <a:ext cx="3520440" cy="1463040"/>
          </a:xfrm>
          <a:prstGeom prst="roundRect">
            <a:avLst>
              <a:gd name="adj" fmla="val 5625"/>
            </a:avLst>
          </a:prstGeom>
          <a:solidFill>
            <a:srgbClr val="ECEAE4"/>
          </a:solidFill>
          <a:ln w="12700">
            <a:solidFill>
              <a:srgbClr val="ECEAE4"/>
            </a:solidFill>
            <a:prstDash val="solid"/>
          </a:ln>
        </p:spPr>
      </p:sp>
      <p:sp>
        <p:nvSpPr>
          <p:cNvPr id="11" name="Text 9"/>
          <p:cNvSpPr/>
          <p:nvPr/>
        </p:nvSpPr>
        <p:spPr>
          <a:xfrm>
            <a:off x="8366760" y="1755648"/>
            <a:ext cx="2971800" cy="731520"/>
          </a:xfrm>
          <a:prstGeom prst="rect">
            <a:avLst/>
          </a:prstGeom>
          <a:noFill/>
          <a:ln/>
        </p:spPr>
        <p:txBody>
          <a:bodyPr wrap="square" lIns="0" tIns="0" rIns="0" bIns="0" rtlCol="0" anchor="ctr"/>
          <a:lstStyle/>
          <a:p>
            <a:pPr indent="0" marL="0">
              <a:buNone/>
            </a:pPr>
            <a:r>
              <a:rPr lang="en-US" sz="4400" b="1" dirty="0">
                <a:solidFill>
                  <a:srgbClr val="0E7C6B"/>
                </a:solidFill>
                <a:latin typeface="Palatino Linotype" pitchFamily="34" charset="0"/>
                <a:ea typeface="Palatino Linotype" pitchFamily="34" charset="-122"/>
                <a:cs typeface="Palatino Linotype" pitchFamily="34" charset="-120"/>
              </a:rPr>
              <a:t>12</a:t>
            </a:r>
            <a:endParaRPr lang="en-US" sz="4400" dirty="0"/>
          </a:p>
        </p:txBody>
      </p:sp>
      <p:sp>
        <p:nvSpPr>
          <p:cNvPr id="12" name="Text 10"/>
          <p:cNvSpPr/>
          <p:nvPr/>
        </p:nvSpPr>
        <p:spPr>
          <a:xfrm>
            <a:off x="8366760" y="2395728"/>
            <a:ext cx="2971800" cy="672998"/>
          </a:xfrm>
          <a:prstGeom prst="rect">
            <a:avLst/>
          </a:prstGeom>
          <a:noFill/>
          <a:ln/>
        </p:spPr>
        <p:txBody>
          <a:bodyPr wrap="square" lIns="0" tIns="0" rIns="0" bIns="0" rtlCol="0" anchor="t"/>
          <a:lstStyle/>
          <a:p>
            <a:pPr indent="0" marL="0">
              <a:buNone/>
            </a:pPr>
            <a:r>
              <a:rPr lang="en-US" sz="1200" dirty="0">
                <a:solidFill>
                  <a:srgbClr val="585A64"/>
                </a:solidFill>
                <a:latin typeface="Palatino Linotype" pitchFamily="34" charset="0"/>
                <a:ea typeface="Palatino Linotype" pitchFamily="34" charset="-122"/>
                <a:cs typeface="Palatino Linotype" pitchFamily="34" charset="-120"/>
              </a:rPr>
              <a:t>principes consolidés, en trois domaines</a:t>
            </a:r>
            <a:endParaRPr lang="en-US" sz="1200" dirty="0"/>
          </a:p>
        </p:txBody>
      </p:sp>
      <p:sp>
        <p:nvSpPr>
          <p:cNvPr id="13" name="Shape 11"/>
          <p:cNvSpPr/>
          <p:nvPr/>
        </p:nvSpPr>
        <p:spPr>
          <a:xfrm>
            <a:off x="594360" y="3337560"/>
            <a:ext cx="10972800" cy="1143000"/>
          </a:xfrm>
          <a:prstGeom prst="roundRect">
            <a:avLst>
              <a:gd name="adj" fmla="val 7200"/>
            </a:avLst>
          </a:prstGeom>
          <a:solidFill>
            <a:srgbClr val="ECEAE4"/>
          </a:solidFill>
          <a:ln w="12700">
            <a:solidFill>
              <a:srgbClr val="ECEAE4"/>
            </a:solidFill>
            <a:prstDash val="solid"/>
          </a:ln>
        </p:spPr>
      </p:sp>
      <p:sp>
        <p:nvSpPr>
          <p:cNvPr id="14" name="Text 12"/>
          <p:cNvSpPr/>
          <p:nvPr/>
        </p:nvSpPr>
        <p:spPr>
          <a:xfrm>
            <a:off x="868680" y="3337560"/>
            <a:ext cx="10424160" cy="1143000"/>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Wilson et Jungner : sept des dix critères portaient sur la maladie ou le test, et trois seulement sur le programme et le système.</a:t>
            </a:r>
            <a:endParaRPr lang="en-US" sz="2000" dirty="0"/>
          </a:p>
        </p:txBody>
      </p:sp>
      <p:sp>
        <p:nvSpPr>
          <p:cNvPr id="15" name="Shape 13"/>
          <p:cNvSpPr/>
          <p:nvPr/>
        </p:nvSpPr>
        <p:spPr>
          <a:xfrm>
            <a:off x="594360" y="4663440"/>
            <a:ext cx="10972800" cy="1005840"/>
          </a:xfrm>
          <a:prstGeom prst="roundRect">
            <a:avLst>
              <a:gd name="adj" fmla="val 8182"/>
            </a:avLst>
          </a:prstGeom>
          <a:solidFill>
            <a:srgbClr val="11121A"/>
          </a:solidFill>
          <a:ln w="12700">
            <a:solidFill>
              <a:srgbClr val="11121A"/>
            </a:solidFill>
            <a:prstDash val="solid"/>
          </a:ln>
        </p:spPr>
      </p:sp>
      <p:sp>
        <p:nvSpPr>
          <p:cNvPr id="16" name="Text 14"/>
          <p:cNvSpPr/>
          <p:nvPr/>
        </p:nvSpPr>
        <p:spPr>
          <a:xfrm>
            <a:off x="868680" y="4663440"/>
            <a:ext cx="10424160" cy="1005840"/>
          </a:xfrm>
          <a:prstGeom prst="rect">
            <a:avLst/>
          </a:prstGeom>
          <a:noFill/>
          <a:ln/>
        </p:spPr>
        <p:txBody>
          <a:bodyPr wrap="square" lIns="0" tIns="0" rIns="0" bIns="0" rtlCol="0" anchor="ctr"/>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Les principes formulés ensuite : près de la moitié portent sur le programme et le système.</a:t>
            </a:r>
            <a:endParaRPr lang="en-US" sz="20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Dobrow et al., CMAJ, 2018.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LES PRINCIPES CONSOLIDÉS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qu’ils demandent en plus, entre autres</a:t>
            </a:r>
            <a:endParaRPr lang="en-US" sz="3200" dirty="0"/>
          </a:p>
        </p:txBody>
      </p:sp>
      <p:sp>
        <p:nvSpPr>
          <p:cNvPr id="4" name="Shape 2"/>
          <p:cNvSpPr/>
          <p:nvPr/>
        </p:nvSpPr>
        <p:spPr>
          <a:xfrm>
            <a:off x="594360" y="1645920"/>
            <a:ext cx="5349240" cy="914400"/>
          </a:xfrm>
          <a:prstGeom prst="roundRect">
            <a:avLst>
              <a:gd name="adj" fmla="val 9000"/>
            </a:avLst>
          </a:prstGeom>
          <a:solidFill>
            <a:srgbClr val="1D1F2B"/>
          </a:solidFill>
          <a:ln w="12700">
            <a:solidFill>
              <a:srgbClr val="1D1F2B"/>
            </a:solidFill>
            <a:prstDash val="solid"/>
          </a:ln>
        </p:spPr>
      </p:sp>
      <p:sp>
        <p:nvSpPr>
          <p:cNvPr id="5" name="Shape 3"/>
          <p:cNvSpPr/>
          <p:nvPr/>
        </p:nvSpPr>
        <p:spPr>
          <a:xfrm>
            <a:off x="795528" y="1892808"/>
            <a:ext cx="420624" cy="420624"/>
          </a:xfrm>
          <a:prstGeom prst="ellipse">
            <a:avLst/>
          </a:prstGeom>
          <a:solidFill>
            <a:srgbClr val="27D3BE"/>
          </a:solidFill>
          <a:ln/>
        </p:spPr>
      </p:sp>
      <p:sp>
        <p:nvSpPr>
          <p:cNvPr id="6" name="Text 4"/>
          <p:cNvSpPr/>
          <p:nvPr/>
        </p:nvSpPr>
        <p:spPr>
          <a:xfrm>
            <a:off x="795528" y="189280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17320" y="1645920"/>
            <a:ext cx="4389120" cy="9144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une population cible définie, identifiable et accessible</a:t>
            </a:r>
            <a:endParaRPr lang="en-US" sz="1700" dirty="0"/>
          </a:p>
        </p:txBody>
      </p:sp>
      <p:sp>
        <p:nvSpPr>
          <p:cNvPr id="8" name="Shape 6"/>
          <p:cNvSpPr/>
          <p:nvPr/>
        </p:nvSpPr>
        <p:spPr>
          <a:xfrm>
            <a:off x="594360" y="2697480"/>
            <a:ext cx="5349240" cy="914400"/>
          </a:xfrm>
          <a:prstGeom prst="roundRect">
            <a:avLst>
              <a:gd name="adj" fmla="val 9000"/>
            </a:avLst>
          </a:prstGeom>
          <a:solidFill>
            <a:srgbClr val="1D1F2B"/>
          </a:solidFill>
          <a:ln w="12700">
            <a:solidFill>
              <a:srgbClr val="1D1F2B"/>
            </a:solidFill>
            <a:prstDash val="solid"/>
          </a:ln>
        </p:spPr>
      </p:sp>
      <p:sp>
        <p:nvSpPr>
          <p:cNvPr id="9" name="Shape 7"/>
          <p:cNvSpPr/>
          <p:nvPr/>
        </p:nvSpPr>
        <p:spPr>
          <a:xfrm>
            <a:off x="795528" y="2944368"/>
            <a:ext cx="420624" cy="420624"/>
          </a:xfrm>
          <a:prstGeom prst="ellipse">
            <a:avLst/>
          </a:prstGeom>
          <a:solidFill>
            <a:srgbClr val="27D3BE"/>
          </a:solidFill>
          <a:ln/>
        </p:spPr>
      </p:sp>
      <p:sp>
        <p:nvSpPr>
          <p:cNvPr id="10" name="Text 8"/>
          <p:cNvSpPr/>
          <p:nvPr/>
        </p:nvSpPr>
        <p:spPr>
          <a:xfrm>
            <a:off x="795528" y="294436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17320" y="2697480"/>
            <a:ext cx="4389120" cy="9144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des résultats interprétables, avec des seuils convenus</a:t>
            </a:r>
            <a:endParaRPr lang="en-US" sz="1700" dirty="0"/>
          </a:p>
        </p:txBody>
      </p:sp>
      <p:sp>
        <p:nvSpPr>
          <p:cNvPr id="12" name="Shape 10"/>
          <p:cNvSpPr/>
          <p:nvPr/>
        </p:nvSpPr>
        <p:spPr>
          <a:xfrm>
            <a:off x="594360" y="3749040"/>
            <a:ext cx="5349240" cy="914400"/>
          </a:xfrm>
          <a:prstGeom prst="roundRect">
            <a:avLst>
              <a:gd name="adj" fmla="val 9000"/>
            </a:avLst>
          </a:prstGeom>
          <a:solidFill>
            <a:srgbClr val="1D1F2B"/>
          </a:solidFill>
          <a:ln w="12700">
            <a:solidFill>
              <a:srgbClr val="1D1F2B"/>
            </a:solidFill>
            <a:prstDash val="solid"/>
          </a:ln>
        </p:spPr>
      </p:sp>
      <p:sp>
        <p:nvSpPr>
          <p:cNvPr id="13" name="Shape 11"/>
          <p:cNvSpPr/>
          <p:nvPr/>
        </p:nvSpPr>
        <p:spPr>
          <a:xfrm>
            <a:off x="795528" y="3995928"/>
            <a:ext cx="420624" cy="420624"/>
          </a:xfrm>
          <a:prstGeom prst="ellipse">
            <a:avLst/>
          </a:prstGeom>
          <a:solidFill>
            <a:srgbClr val="27D3BE"/>
          </a:solidFill>
          <a:ln/>
        </p:spPr>
      </p:sp>
      <p:sp>
        <p:nvSpPr>
          <p:cNvPr id="14" name="Text 12"/>
          <p:cNvSpPr/>
          <p:nvPr/>
        </p:nvSpPr>
        <p:spPr>
          <a:xfrm>
            <a:off x="795528" y="399592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417320" y="3749040"/>
            <a:ext cx="4389120" cy="9144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une conduite convenue après un test positif</a:t>
            </a:r>
            <a:endParaRPr lang="en-US" sz="1700" dirty="0"/>
          </a:p>
        </p:txBody>
      </p:sp>
      <p:sp>
        <p:nvSpPr>
          <p:cNvPr id="16" name="Shape 14"/>
          <p:cNvSpPr/>
          <p:nvPr/>
        </p:nvSpPr>
        <p:spPr>
          <a:xfrm>
            <a:off x="594360" y="4800600"/>
            <a:ext cx="5349240" cy="914400"/>
          </a:xfrm>
          <a:prstGeom prst="roundRect">
            <a:avLst>
              <a:gd name="adj" fmla="val 9000"/>
            </a:avLst>
          </a:prstGeom>
          <a:solidFill>
            <a:srgbClr val="1D1F2B"/>
          </a:solidFill>
          <a:ln w="12700">
            <a:solidFill>
              <a:srgbClr val="1D1F2B"/>
            </a:solidFill>
            <a:prstDash val="solid"/>
          </a:ln>
        </p:spPr>
      </p:sp>
      <p:sp>
        <p:nvSpPr>
          <p:cNvPr id="17" name="Shape 15"/>
          <p:cNvSpPr/>
          <p:nvPr/>
        </p:nvSpPr>
        <p:spPr>
          <a:xfrm>
            <a:off x="795528" y="5047488"/>
            <a:ext cx="420624" cy="420624"/>
          </a:xfrm>
          <a:prstGeom prst="ellipse">
            <a:avLst/>
          </a:prstGeom>
          <a:solidFill>
            <a:srgbClr val="27D3BE"/>
          </a:solidFill>
          <a:ln/>
        </p:spPr>
      </p:sp>
      <p:sp>
        <p:nvSpPr>
          <p:cNvPr id="18" name="Text 16"/>
          <p:cNvSpPr/>
          <p:nvPr/>
        </p:nvSpPr>
        <p:spPr>
          <a:xfrm>
            <a:off x="795528" y="504748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417320" y="4800600"/>
            <a:ext cx="4389120" cy="9144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une infrastructure et une coordination avec le reste du système</a:t>
            </a:r>
            <a:endParaRPr lang="en-US" sz="1700" dirty="0"/>
          </a:p>
        </p:txBody>
      </p:sp>
      <p:sp>
        <p:nvSpPr>
          <p:cNvPr id="20" name="Shape 18"/>
          <p:cNvSpPr/>
          <p:nvPr/>
        </p:nvSpPr>
        <p:spPr>
          <a:xfrm>
            <a:off x="6217920" y="1645920"/>
            <a:ext cx="5349240" cy="914400"/>
          </a:xfrm>
          <a:prstGeom prst="roundRect">
            <a:avLst>
              <a:gd name="adj" fmla="val 9000"/>
            </a:avLst>
          </a:prstGeom>
          <a:solidFill>
            <a:srgbClr val="1D1F2B"/>
          </a:solidFill>
          <a:ln w="12700">
            <a:solidFill>
              <a:srgbClr val="1D1F2B"/>
            </a:solidFill>
            <a:prstDash val="solid"/>
          </a:ln>
        </p:spPr>
      </p:sp>
      <p:sp>
        <p:nvSpPr>
          <p:cNvPr id="21" name="Shape 19"/>
          <p:cNvSpPr/>
          <p:nvPr/>
        </p:nvSpPr>
        <p:spPr>
          <a:xfrm>
            <a:off x="6419088" y="1892808"/>
            <a:ext cx="420624" cy="420624"/>
          </a:xfrm>
          <a:prstGeom prst="ellipse">
            <a:avLst/>
          </a:prstGeom>
          <a:solidFill>
            <a:srgbClr val="27D3BE"/>
          </a:solidFill>
          <a:ln/>
        </p:spPr>
      </p:sp>
      <p:sp>
        <p:nvSpPr>
          <p:cNvPr id="22" name="Text 20"/>
          <p:cNvSpPr/>
          <p:nvPr/>
        </p:nvSpPr>
        <p:spPr>
          <a:xfrm>
            <a:off x="6419088" y="189280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7040880" y="1645920"/>
            <a:ext cx="4389120" cy="9144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une acceptabilité clinique, sociale et éthique</a:t>
            </a:r>
            <a:endParaRPr lang="en-US" sz="1700" dirty="0"/>
          </a:p>
        </p:txBody>
      </p:sp>
      <p:sp>
        <p:nvSpPr>
          <p:cNvPr id="24" name="Shape 22"/>
          <p:cNvSpPr/>
          <p:nvPr/>
        </p:nvSpPr>
        <p:spPr>
          <a:xfrm>
            <a:off x="6217920" y="2697480"/>
            <a:ext cx="5349240" cy="914400"/>
          </a:xfrm>
          <a:prstGeom prst="roundRect">
            <a:avLst>
              <a:gd name="adj" fmla="val 9000"/>
            </a:avLst>
          </a:prstGeom>
          <a:solidFill>
            <a:srgbClr val="1D1F2B"/>
          </a:solidFill>
          <a:ln w="12700">
            <a:solidFill>
              <a:srgbClr val="1D1F2B"/>
            </a:solidFill>
            <a:prstDash val="solid"/>
          </a:ln>
        </p:spPr>
      </p:sp>
      <p:sp>
        <p:nvSpPr>
          <p:cNvPr id="25" name="Shape 23"/>
          <p:cNvSpPr/>
          <p:nvPr/>
        </p:nvSpPr>
        <p:spPr>
          <a:xfrm>
            <a:off x="6419088" y="2944368"/>
            <a:ext cx="420624" cy="420624"/>
          </a:xfrm>
          <a:prstGeom prst="ellipse">
            <a:avLst/>
          </a:prstGeom>
          <a:solidFill>
            <a:srgbClr val="27D3BE"/>
          </a:solidFill>
          <a:ln/>
        </p:spPr>
      </p:sp>
      <p:sp>
        <p:nvSpPr>
          <p:cNvPr id="26" name="Text 24"/>
          <p:cNvSpPr/>
          <p:nvPr/>
        </p:nvSpPr>
        <p:spPr>
          <a:xfrm>
            <a:off x="6419088" y="294436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6</a:t>
            </a:r>
            <a:endParaRPr lang="en-US" sz="1400" dirty="0"/>
          </a:p>
        </p:txBody>
      </p:sp>
      <p:sp>
        <p:nvSpPr>
          <p:cNvPr id="27" name="Text 25"/>
          <p:cNvSpPr/>
          <p:nvPr/>
        </p:nvSpPr>
        <p:spPr>
          <a:xfrm>
            <a:off x="7040880" y="2697480"/>
            <a:ext cx="4389120" cy="9144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les bénéfices et les risques estimés, y compris le surdiagnostic</a:t>
            </a:r>
            <a:endParaRPr lang="en-US" sz="1700" dirty="0"/>
          </a:p>
        </p:txBody>
      </p:sp>
      <p:sp>
        <p:nvSpPr>
          <p:cNvPr id="28" name="Shape 26"/>
          <p:cNvSpPr/>
          <p:nvPr/>
        </p:nvSpPr>
        <p:spPr>
          <a:xfrm>
            <a:off x="6217920" y="3749040"/>
            <a:ext cx="5349240" cy="914400"/>
          </a:xfrm>
          <a:prstGeom prst="roundRect">
            <a:avLst>
              <a:gd name="adj" fmla="val 9000"/>
            </a:avLst>
          </a:prstGeom>
          <a:solidFill>
            <a:srgbClr val="1D1F2B"/>
          </a:solidFill>
          <a:ln w="12700">
            <a:solidFill>
              <a:srgbClr val="1D1F2B"/>
            </a:solidFill>
            <a:prstDash val="solid"/>
          </a:ln>
        </p:spPr>
      </p:sp>
      <p:sp>
        <p:nvSpPr>
          <p:cNvPr id="29" name="Shape 27"/>
          <p:cNvSpPr/>
          <p:nvPr/>
        </p:nvSpPr>
        <p:spPr>
          <a:xfrm>
            <a:off x="6419088" y="3995928"/>
            <a:ext cx="420624" cy="420624"/>
          </a:xfrm>
          <a:prstGeom prst="ellipse">
            <a:avLst/>
          </a:prstGeom>
          <a:solidFill>
            <a:srgbClr val="27D3BE"/>
          </a:solidFill>
          <a:ln/>
        </p:spPr>
      </p:sp>
      <p:sp>
        <p:nvSpPr>
          <p:cNvPr id="30" name="Text 28"/>
          <p:cNvSpPr/>
          <p:nvPr/>
        </p:nvSpPr>
        <p:spPr>
          <a:xfrm>
            <a:off x="6419088" y="399592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7</a:t>
            </a:r>
            <a:endParaRPr lang="en-US" sz="1400" dirty="0"/>
          </a:p>
        </p:txBody>
      </p:sp>
      <p:sp>
        <p:nvSpPr>
          <p:cNvPr id="31" name="Text 29"/>
          <p:cNvSpPr/>
          <p:nvPr/>
        </p:nvSpPr>
        <p:spPr>
          <a:xfrm>
            <a:off x="7040880" y="3749040"/>
            <a:ext cx="4389120" cy="9144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une évaluation économique du programme</a:t>
            </a:r>
            <a:endParaRPr lang="en-US" sz="1700" dirty="0"/>
          </a:p>
        </p:txBody>
      </p:sp>
      <p:sp>
        <p:nvSpPr>
          <p:cNvPr id="32" name="Shape 30"/>
          <p:cNvSpPr/>
          <p:nvPr/>
        </p:nvSpPr>
        <p:spPr>
          <a:xfrm>
            <a:off x="6217920" y="4800600"/>
            <a:ext cx="5349240" cy="914400"/>
          </a:xfrm>
          <a:prstGeom prst="roundRect">
            <a:avLst>
              <a:gd name="adj" fmla="val 9000"/>
            </a:avLst>
          </a:prstGeom>
          <a:solidFill>
            <a:srgbClr val="1D1F2B"/>
          </a:solidFill>
          <a:ln w="12700">
            <a:solidFill>
              <a:srgbClr val="1D1F2B"/>
            </a:solidFill>
            <a:prstDash val="solid"/>
          </a:ln>
        </p:spPr>
      </p:sp>
      <p:sp>
        <p:nvSpPr>
          <p:cNvPr id="33" name="Shape 31"/>
          <p:cNvSpPr/>
          <p:nvPr/>
        </p:nvSpPr>
        <p:spPr>
          <a:xfrm>
            <a:off x="6419088" y="5047488"/>
            <a:ext cx="420624" cy="420624"/>
          </a:xfrm>
          <a:prstGeom prst="ellipse">
            <a:avLst/>
          </a:prstGeom>
          <a:solidFill>
            <a:srgbClr val="27D3BE"/>
          </a:solidFill>
          <a:ln/>
        </p:spPr>
      </p:sp>
      <p:sp>
        <p:nvSpPr>
          <p:cNvPr id="34" name="Text 32"/>
          <p:cNvSpPr/>
          <p:nvPr/>
        </p:nvSpPr>
        <p:spPr>
          <a:xfrm>
            <a:off x="6419088" y="504748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8</a:t>
            </a:r>
            <a:endParaRPr lang="en-US" sz="1400" dirty="0"/>
          </a:p>
        </p:txBody>
      </p:sp>
      <p:sp>
        <p:nvSpPr>
          <p:cNvPr id="35" name="Text 33"/>
          <p:cNvSpPr/>
          <p:nvPr/>
        </p:nvSpPr>
        <p:spPr>
          <a:xfrm>
            <a:off x="7040880" y="4800600"/>
            <a:ext cx="4389120" cy="9144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des objectifs, une surveillance, la communication de la qualité</a:t>
            </a:r>
            <a:endParaRPr lang="en-US" sz="1700" dirty="0"/>
          </a:p>
        </p:txBody>
      </p:sp>
      <p:sp>
        <p:nvSpPr>
          <p:cNvPr id="36" name="Text 3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Dobrow et al., 2018, tableau 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LES TROIS MOTS DE LA FICHE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Coût-efficacité, équité, consentement</a:t>
            </a:r>
            <a:endParaRPr lang="en-US" sz="3200" dirty="0"/>
          </a:p>
        </p:txBody>
      </p:sp>
      <p:sp>
        <p:nvSpPr>
          <p:cNvPr id="4" name="Shape 2"/>
          <p:cNvSpPr/>
          <p:nvPr/>
        </p:nvSpPr>
        <p:spPr>
          <a:xfrm>
            <a:off x="594360" y="1645920"/>
            <a:ext cx="3505200" cy="1828800"/>
          </a:xfrm>
          <a:prstGeom prst="roundRect">
            <a:avLst>
              <a:gd name="adj" fmla="val 4500"/>
            </a:avLst>
          </a:prstGeom>
          <a:solidFill>
            <a:srgbClr val="ECEAE4"/>
          </a:solidFill>
          <a:ln w="12700">
            <a:solidFill>
              <a:srgbClr val="ECEAE4"/>
            </a:solidFill>
            <a:prstDash val="solid"/>
          </a:ln>
        </p:spPr>
      </p:sp>
      <p:sp>
        <p:nvSpPr>
          <p:cNvPr id="5" name="Text 3"/>
          <p:cNvSpPr/>
          <p:nvPr/>
        </p:nvSpPr>
        <p:spPr>
          <a:xfrm>
            <a:off x="822960" y="1783080"/>
            <a:ext cx="3048000" cy="82296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Le coût-efficacité</a:t>
            </a:r>
            <a:endParaRPr lang="en-US" sz="1900" dirty="0"/>
          </a:p>
        </p:txBody>
      </p:sp>
      <p:sp>
        <p:nvSpPr>
          <p:cNvPr id="6" name="Text 4"/>
          <p:cNvSpPr/>
          <p:nvPr/>
        </p:nvSpPr>
        <p:spPr>
          <a:xfrm>
            <a:off x="822960" y="2606040"/>
            <a:ext cx="3048000" cy="7315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c’est l’évaluation économique des principes consolidés</a:t>
            </a:r>
            <a:endParaRPr lang="en-US" sz="1600" dirty="0"/>
          </a:p>
        </p:txBody>
      </p:sp>
      <p:sp>
        <p:nvSpPr>
          <p:cNvPr id="7" name="Shape 5"/>
          <p:cNvSpPr/>
          <p:nvPr/>
        </p:nvSpPr>
        <p:spPr>
          <a:xfrm>
            <a:off x="4328160" y="1645920"/>
            <a:ext cx="3505200" cy="1828800"/>
          </a:xfrm>
          <a:prstGeom prst="roundRect">
            <a:avLst>
              <a:gd name="adj" fmla="val 4500"/>
            </a:avLst>
          </a:prstGeom>
          <a:solidFill>
            <a:srgbClr val="ECEAE4"/>
          </a:solidFill>
          <a:ln w="12700">
            <a:solidFill>
              <a:srgbClr val="ECEAE4"/>
            </a:solidFill>
            <a:prstDash val="solid"/>
          </a:ln>
        </p:spPr>
      </p:sp>
      <p:sp>
        <p:nvSpPr>
          <p:cNvPr id="8" name="Text 6"/>
          <p:cNvSpPr/>
          <p:nvPr/>
        </p:nvSpPr>
        <p:spPr>
          <a:xfrm>
            <a:off x="4556760" y="1783080"/>
            <a:ext cx="3048000" cy="82296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Le consentement</a:t>
            </a:r>
            <a:endParaRPr lang="en-US" sz="1900" dirty="0"/>
          </a:p>
        </p:txBody>
      </p:sp>
      <p:sp>
        <p:nvSpPr>
          <p:cNvPr id="9" name="Text 7"/>
          <p:cNvSpPr/>
          <p:nvPr/>
        </p:nvSpPr>
        <p:spPr>
          <a:xfrm>
            <a:off x="4556760" y="2606040"/>
            <a:ext cx="3048000" cy="7315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c’est l’autonomie : une décision éclairée et libre de contrainte</a:t>
            </a:r>
            <a:endParaRPr lang="en-US" sz="1600" dirty="0"/>
          </a:p>
        </p:txBody>
      </p:sp>
      <p:sp>
        <p:nvSpPr>
          <p:cNvPr id="10" name="Shape 8"/>
          <p:cNvSpPr/>
          <p:nvPr/>
        </p:nvSpPr>
        <p:spPr>
          <a:xfrm>
            <a:off x="8061960" y="1645920"/>
            <a:ext cx="3505200" cy="1828800"/>
          </a:xfrm>
          <a:prstGeom prst="roundRect">
            <a:avLst>
              <a:gd name="adj" fmla="val 4500"/>
            </a:avLst>
          </a:prstGeom>
          <a:solidFill>
            <a:srgbClr val="ECEAE4"/>
          </a:solidFill>
          <a:ln w="12700">
            <a:solidFill>
              <a:srgbClr val="ECEAE4"/>
            </a:solidFill>
            <a:prstDash val="solid"/>
          </a:ln>
        </p:spPr>
      </p:sp>
      <p:sp>
        <p:nvSpPr>
          <p:cNvPr id="11" name="Text 9"/>
          <p:cNvSpPr/>
          <p:nvPr/>
        </p:nvSpPr>
        <p:spPr>
          <a:xfrm>
            <a:off x="8290560" y="1783080"/>
            <a:ext cx="3048000" cy="82296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L’équité</a:t>
            </a:r>
            <a:endParaRPr lang="en-US" sz="1900" dirty="0"/>
          </a:p>
        </p:txBody>
      </p:sp>
      <p:sp>
        <p:nvSpPr>
          <p:cNvPr id="12" name="Text 10"/>
          <p:cNvSpPr/>
          <p:nvPr/>
        </p:nvSpPr>
        <p:spPr>
          <a:xfrm>
            <a:off x="8290560" y="2606040"/>
            <a:ext cx="3048000" cy="7315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signifie des ressources allouées proportionnellement au besoin</a:t>
            </a:r>
            <a:endParaRPr lang="en-US" sz="1600" dirty="0"/>
          </a:p>
        </p:txBody>
      </p:sp>
      <p:sp>
        <p:nvSpPr>
          <p:cNvPr id="13" name="Shape 11"/>
          <p:cNvSpPr/>
          <p:nvPr/>
        </p:nvSpPr>
        <p:spPr>
          <a:xfrm>
            <a:off x="594360" y="3657600"/>
            <a:ext cx="10972800" cy="777240"/>
          </a:xfrm>
          <a:prstGeom prst="roundRect">
            <a:avLst>
              <a:gd name="adj" fmla="val 10588"/>
            </a:avLst>
          </a:prstGeom>
          <a:solidFill>
            <a:srgbClr val="ECEAE4"/>
          </a:solidFill>
          <a:ln w="12700">
            <a:solidFill>
              <a:srgbClr val="ECEAE4"/>
            </a:solidFill>
            <a:prstDash val="solid"/>
          </a:ln>
        </p:spPr>
      </p:sp>
      <p:sp>
        <p:nvSpPr>
          <p:cNvPr id="14" name="Text 12"/>
          <p:cNvSpPr/>
          <p:nvPr/>
        </p:nvSpPr>
        <p:spPr>
          <a:xfrm>
            <a:off x="868680" y="3657600"/>
            <a:ext cx="10424160" cy="777240"/>
          </a:xfrm>
          <a:prstGeom prst="rect">
            <a:avLst/>
          </a:prstGeom>
          <a:noFill/>
          <a:ln/>
        </p:spPr>
        <p:txBody>
          <a:bodyPr wrap="square" lIns="0" tIns="0" rIns="0" bIns="0" rtlCol="0" anchor="ctr"/>
          <a:lstStyle/>
          <a:p>
            <a:pPr indent="0" marL="0">
              <a:buNone/>
            </a:pPr>
            <a:r>
              <a:rPr lang="en-US" sz="1700" i="1" dirty="0">
                <a:solidFill>
                  <a:srgbClr val="0E7C6B"/>
                </a:solidFill>
                <a:latin typeface="Palatino Linotype" pitchFamily="34" charset="0"/>
                <a:ea typeface="Palatino Linotype" pitchFamily="34" charset="-122"/>
                <a:cs typeface="Palatino Linotype" pitchFamily="34" charset="-120"/>
              </a:rPr>
              <a:t>Les valeurs éthiques de l’OMS : l’autonomie, ne pas nuire, faire le bien, la justice et l’équité, la prudence.</a:t>
            </a:r>
            <a:endParaRPr lang="en-US" sz="1700" dirty="0"/>
          </a:p>
        </p:txBody>
      </p:sp>
      <p:sp>
        <p:nvSpPr>
          <p:cNvPr id="15" name="Shape 13"/>
          <p:cNvSpPr/>
          <p:nvPr/>
        </p:nvSpPr>
        <p:spPr>
          <a:xfrm>
            <a:off x="594360" y="4617720"/>
            <a:ext cx="10972800" cy="1188720"/>
          </a:xfrm>
          <a:prstGeom prst="roundRect">
            <a:avLst>
              <a:gd name="adj" fmla="val 6923"/>
            </a:avLst>
          </a:prstGeom>
          <a:solidFill>
            <a:srgbClr val="11121A"/>
          </a:solidFill>
          <a:ln w="12700">
            <a:solidFill>
              <a:srgbClr val="11121A"/>
            </a:solidFill>
            <a:prstDash val="solid"/>
          </a:ln>
        </p:spPr>
      </p:sp>
      <p:sp>
        <p:nvSpPr>
          <p:cNvPr id="16" name="Text 14"/>
          <p:cNvSpPr/>
          <p:nvPr/>
        </p:nvSpPr>
        <p:spPr>
          <a:xfrm>
            <a:off x="868680" y="4617720"/>
            <a:ext cx="10424160" cy="118872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Les personnes de statut socio-économique élevé et à faible risque participent plus que les personnes défavorisées, à risque plus élevé : les inégalités peuvent croître.</a:t>
            </a:r>
            <a:endParaRPr lang="en-US" sz="18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Sources : fiche de la discipline ; Dobrow et al., 2018 ; OMS Europe, 2020.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LES CRITÈRES APPLIQUÉS · COL DE L’UTÉRUS, ROUMANIE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La maladie est un problème important</a:t>
            </a:r>
            <a:endParaRPr lang="en-US" sz="3200" dirty="0"/>
          </a:p>
        </p:txBody>
      </p:sp>
      <p:sp>
        <p:nvSpPr>
          <p:cNvPr id="4" name="Shape 2"/>
          <p:cNvSpPr/>
          <p:nvPr/>
        </p:nvSpPr>
        <p:spPr>
          <a:xfrm>
            <a:off x="594360" y="1691640"/>
            <a:ext cx="5349240" cy="1920240"/>
          </a:xfrm>
          <a:prstGeom prst="roundRect">
            <a:avLst>
              <a:gd name="adj" fmla="val 4286"/>
            </a:avLst>
          </a:prstGeom>
          <a:solidFill>
            <a:srgbClr val="1D1F2B"/>
          </a:solidFill>
          <a:ln w="12700">
            <a:solidFill>
              <a:srgbClr val="1D1F2B"/>
            </a:solidFill>
            <a:prstDash val="solid"/>
          </a:ln>
        </p:spPr>
      </p:sp>
      <p:sp>
        <p:nvSpPr>
          <p:cNvPr id="5" name="Text 3"/>
          <p:cNvSpPr/>
          <p:nvPr/>
        </p:nvSpPr>
        <p:spPr>
          <a:xfrm>
            <a:off x="868680" y="1801368"/>
            <a:ext cx="4800600" cy="960120"/>
          </a:xfrm>
          <a:prstGeom prst="rect">
            <a:avLst/>
          </a:prstGeom>
          <a:noFill/>
          <a:ln/>
        </p:spPr>
        <p:txBody>
          <a:bodyPr wrap="square" lIns="0" tIns="0" rIns="0" bIns="0" rtlCol="0" anchor="ctr"/>
          <a:lstStyle/>
          <a:p>
            <a:pPr indent="0" marL="0">
              <a:buNone/>
            </a:pPr>
            <a:r>
              <a:rPr lang="en-US" sz="4600" b="1" dirty="0">
                <a:solidFill>
                  <a:srgbClr val="FF4757"/>
                </a:solidFill>
                <a:latin typeface="Palatino Linotype" pitchFamily="34" charset="0"/>
                <a:ea typeface="Palatino Linotype" pitchFamily="34" charset="-122"/>
                <a:cs typeface="Palatino Linotype" pitchFamily="34" charset="-120"/>
              </a:rPr>
              <a:t>33 contre 12</a:t>
            </a:r>
            <a:endParaRPr lang="en-US" sz="4600" dirty="0"/>
          </a:p>
        </p:txBody>
      </p:sp>
      <p:sp>
        <p:nvSpPr>
          <p:cNvPr id="6" name="Text 4"/>
          <p:cNvSpPr/>
          <p:nvPr/>
        </p:nvSpPr>
        <p:spPr>
          <a:xfrm>
            <a:off x="868680" y="2670048"/>
            <a:ext cx="4800600" cy="883310"/>
          </a:xfrm>
          <a:prstGeom prst="rect">
            <a:avLst/>
          </a:prstGeom>
          <a:noFill/>
          <a:ln/>
        </p:spPr>
        <p:txBody>
          <a:bodyPr wrap="square" lIns="0" tIns="0" rIns="0" bIns="0" rtlCol="0" anchor="t"/>
          <a:lstStyle/>
          <a:p>
            <a:pPr indent="0" marL="0">
              <a:buNone/>
            </a:pPr>
            <a:r>
              <a:rPr lang="en-US" sz="1200" dirty="0">
                <a:solidFill>
                  <a:srgbClr val="D5D8E2"/>
                </a:solidFill>
                <a:latin typeface="Palatino Linotype" pitchFamily="34" charset="0"/>
                <a:ea typeface="Palatino Linotype" pitchFamily="34" charset="-122"/>
                <a:cs typeface="Palatino Linotype" pitchFamily="34" charset="-120"/>
              </a:rPr>
              <a:t>nouveaux cas pour 100 000 femmes, Roumanie contre UE (2022)</a:t>
            </a:r>
            <a:endParaRPr lang="en-US" sz="1200" dirty="0"/>
          </a:p>
        </p:txBody>
      </p:sp>
      <p:sp>
        <p:nvSpPr>
          <p:cNvPr id="7" name="Shape 5"/>
          <p:cNvSpPr/>
          <p:nvPr/>
        </p:nvSpPr>
        <p:spPr>
          <a:xfrm>
            <a:off x="6217920" y="1691640"/>
            <a:ext cx="5349240" cy="1920240"/>
          </a:xfrm>
          <a:prstGeom prst="roundRect">
            <a:avLst>
              <a:gd name="adj" fmla="val 4286"/>
            </a:avLst>
          </a:prstGeom>
          <a:solidFill>
            <a:srgbClr val="1D1F2B"/>
          </a:solidFill>
          <a:ln w="12700">
            <a:solidFill>
              <a:srgbClr val="1D1F2B"/>
            </a:solidFill>
            <a:prstDash val="solid"/>
          </a:ln>
        </p:spPr>
      </p:sp>
      <p:sp>
        <p:nvSpPr>
          <p:cNvPr id="8" name="Text 6"/>
          <p:cNvSpPr/>
          <p:nvPr/>
        </p:nvSpPr>
        <p:spPr>
          <a:xfrm>
            <a:off x="6492240" y="1801368"/>
            <a:ext cx="4800600" cy="960120"/>
          </a:xfrm>
          <a:prstGeom prst="rect">
            <a:avLst/>
          </a:prstGeom>
          <a:noFill/>
          <a:ln/>
        </p:spPr>
        <p:txBody>
          <a:bodyPr wrap="square" lIns="0" tIns="0" rIns="0" bIns="0" rtlCol="0" anchor="ctr"/>
          <a:lstStyle/>
          <a:p>
            <a:pPr indent="0" marL="0">
              <a:buNone/>
            </a:pPr>
            <a:r>
              <a:rPr lang="en-US" sz="4600" b="1" dirty="0">
                <a:solidFill>
                  <a:srgbClr val="FFC24B"/>
                </a:solidFill>
                <a:latin typeface="Palatino Linotype" pitchFamily="34" charset="0"/>
                <a:ea typeface="Palatino Linotype" pitchFamily="34" charset="-122"/>
                <a:cs typeface="Palatino Linotype" pitchFamily="34" charset="-120"/>
              </a:rPr>
              <a:t>12 contre 4</a:t>
            </a:r>
            <a:endParaRPr lang="en-US" sz="4600" dirty="0"/>
          </a:p>
        </p:txBody>
      </p:sp>
      <p:sp>
        <p:nvSpPr>
          <p:cNvPr id="9" name="Text 7"/>
          <p:cNvSpPr/>
          <p:nvPr/>
        </p:nvSpPr>
        <p:spPr>
          <a:xfrm>
            <a:off x="6492240" y="2670048"/>
            <a:ext cx="4800600" cy="883310"/>
          </a:xfrm>
          <a:prstGeom prst="rect">
            <a:avLst/>
          </a:prstGeom>
          <a:noFill/>
          <a:ln/>
        </p:spPr>
        <p:txBody>
          <a:bodyPr wrap="square" lIns="0" tIns="0" rIns="0" bIns="0" rtlCol="0" anchor="t"/>
          <a:lstStyle/>
          <a:p>
            <a:pPr indent="0" marL="0">
              <a:buNone/>
            </a:pPr>
            <a:r>
              <a:rPr lang="en-US" sz="1200" dirty="0">
                <a:solidFill>
                  <a:srgbClr val="D5D8E2"/>
                </a:solidFill>
                <a:latin typeface="Palatino Linotype" pitchFamily="34" charset="0"/>
                <a:ea typeface="Palatino Linotype" pitchFamily="34" charset="-122"/>
                <a:cs typeface="Palatino Linotype" pitchFamily="34" charset="-120"/>
              </a:rPr>
              <a:t>décès pour 100 000, Roumanie contre UE (2021)</a:t>
            </a:r>
            <a:endParaRPr lang="en-US" sz="1200" dirty="0"/>
          </a:p>
        </p:txBody>
      </p:sp>
      <p:sp>
        <p:nvSpPr>
          <p:cNvPr id="10" name="Shape 8"/>
          <p:cNvSpPr/>
          <p:nvPr/>
        </p:nvSpPr>
        <p:spPr>
          <a:xfrm>
            <a:off x="594360" y="3886200"/>
            <a:ext cx="10972800" cy="1463040"/>
          </a:xfrm>
          <a:prstGeom prst="roundRect">
            <a:avLst>
              <a:gd name="adj" fmla="val 5625"/>
            </a:avLst>
          </a:prstGeom>
          <a:solidFill>
            <a:srgbClr val="272A38"/>
          </a:solidFill>
          <a:ln w="12700">
            <a:solidFill>
              <a:srgbClr val="272A38"/>
            </a:solidFill>
            <a:prstDash val="solid"/>
          </a:ln>
        </p:spPr>
      </p:sp>
      <p:sp>
        <p:nvSpPr>
          <p:cNvPr id="11" name="Text 9"/>
          <p:cNvSpPr/>
          <p:nvPr/>
        </p:nvSpPr>
        <p:spPr>
          <a:xfrm>
            <a:off x="868680" y="3886200"/>
            <a:ext cx="10424160" cy="146304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Le troisième cancer le plus fréquent chez les femmes en Roumanie. Entre 2011 et 2021, la mortalité a baissé de 25 % (UE : 16 %), mais elle est restée trois fois plus élevée.</a:t>
            </a:r>
            <a:endParaRPr lang="en-US" sz="2000" dirty="0"/>
          </a:p>
        </p:txBody>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OCDE/CE, Profil de pays sur le cancer : Roumanie 2025, doi:10.1787/a90c2c0d-ro.</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LES CRITÈRES APPLIQUÉS · COL DE L’UTÉRUS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Il existe une phase précoce et un test approprié</a:t>
            </a:r>
            <a:endParaRPr lang="en-US" sz="3200" dirty="0"/>
          </a:p>
        </p:txBody>
      </p:sp>
      <p:sp>
        <p:nvSpPr>
          <p:cNvPr id="4" name="Text 2"/>
          <p:cNvSpPr/>
          <p:nvPr/>
        </p:nvSpPr>
        <p:spPr>
          <a:xfrm>
            <a:off x="594360" y="1600200"/>
            <a:ext cx="10972800" cy="64008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Le but du dépistage : réduire l’incidence, par la détection et le traitement des lésions précancéreuses.</a:t>
            </a:r>
            <a:endParaRPr lang="en-US" sz="1900" dirty="0"/>
          </a:p>
        </p:txBody>
      </p:sp>
      <p:sp>
        <p:nvSpPr>
          <p:cNvPr id="5" name="Shape 3"/>
          <p:cNvSpPr/>
          <p:nvPr/>
        </p:nvSpPr>
        <p:spPr>
          <a:xfrm>
            <a:off x="594360" y="2377440"/>
            <a:ext cx="10972800" cy="2103120"/>
          </a:xfrm>
          <a:prstGeom prst="roundRect">
            <a:avLst>
              <a:gd name="adj" fmla="val 3913"/>
            </a:avLst>
          </a:prstGeom>
          <a:solidFill>
            <a:srgbClr val="ECEAE4"/>
          </a:solidFill>
          <a:ln w="12700">
            <a:solidFill>
              <a:srgbClr val="ECEAE4"/>
            </a:solidFill>
            <a:prstDash val="solid"/>
          </a:ln>
        </p:spPr>
      </p:sp>
      <p:sp>
        <p:nvSpPr>
          <p:cNvPr id="6" name="Text 4"/>
          <p:cNvSpPr/>
          <p:nvPr/>
        </p:nvSpPr>
        <p:spPr>
          <a:xfrm>
            <a:off x="941832" y="2487168"/>
            <a:ext cx="3877056" cy="603504"/>
          </a:xfrm>
          <a:prstGeom prst="rect">
            <a:avLst/>
          </a:prstGeom>
          <a:noFill/>
          <a:ln/>
        </p:spPr>
        <p:txBody>
          <a:bodyPr wrap="square" lIns="0" tIns="0" rIns="0" bIns="0" rtlCol="0" anchor="ctr"/>
          <a:lstStyle/>
          <a:p>
            <a:pPr algn="l" indent="0" marL="0">
              <a:buNone/>
            </a:pPr>
            <a:r>
              <a:rPr lang="en-US" sz="2000" b="1" dirty="0">
                <a:solidFill>
                  <a:srgbClr val="B02532"/>
                </a:solidFill>
                <a:latin typeface="Palatino Linotype" pitchFamily="34" charset="0"/>
                <a:ea typeface="Palatino Linotype" pitchFamily="34" charset="-122"/>
                <a:cs typeface="Palatino Linotype" pitchFamily="34" charset="-120"/>
              </a:rPr>
              <a:t>Pour CIN2+</a:t>
            </a:r>
            <a:endParaRPr lang="en-US" sz="2000" dirty="0"/>
          </a:p>
        </p:txBody>
      </p:sp>
      <p:sp>
        <p:nvSpPr>
          <p:cNvPr id="7" name="Text 5"/>
          <p:cNvSpPr/>
          <p:nvPr/>
        </p:nvSpPr>
        <p:spPr>
          <a:xfrm>
            <a:off x="4965192" y="2487168"/>
            <a:ext cx="3054096" cy="603504"/>
          </a:xfrm>
          <a:prstGeom prst="rect">
            <a:avLst/>
          </a:prstGeom>
          <a:noFill/>
          <a:ln/>
        </p:spPr>
        <p:txBody>
          <a:bodyPr wrap="square" lIns="0" tIns="0" rIns="0" bIns="0" rtlCol="0" anchor="ctr"/>
          <a:lstStyle/>
          <a:p>
            <a:pPr algn="ctr" indent="0" marL="0">
              <a:buNone/>
            </a:pPr>
            <a:r>
              <a:rPr lang="en-US" sz="2000" b="1" dirty="0">
                <a:solidFill>
                  <a:srgbClr val="B02532"/>
                </a:solidFill>
                <a:latin typeface="Palatino Linotype" pitchFamily="34" charset="0"/>
                <a:ea typeface="Palatino Linotype" pitchFamily="34" charset="-122"/>
                <a:cs typeface="Palatino Linotype" pitchFamily="34" charset="-120"/>
              </a:rPr>
              <a:t>Test viral (HPV)</a:t>
            </a:r>
            <a:endParaRPr lang="en-US" sz="2000" dirty="0"/>
          </a:p>
        </p:txBody>
      </p:sp>
      <p:sp>
        <p:nvSpPr>
          <p:cNvPr id="8" name="Text 6"/>
          <p:cNvSpPr/>
          <p:nvPr/>
        </p:nvSpPr>
        <p:spPr>
          <a:xfrm>
            <a:off x="8165592" y="2487168"/>
            <a:ext cx="3054096" cy="603504"/>
          </a:xfrm>
          <a:prstGeom prst="rect">
            <a:avLst/>
          </a:prstGeom>
          <a:noFill/>
          <a:ln/>
        </p:spPr>
        <p:txBody>
          <a:bodyPr wrap="square" lIns="0" tIns="0" rIns="0" bIns="0" rtlCol="0" anchor="ctr"/>
          <a:lstStyle/>
          <a:p>
            <a:pPr algn="ctr" indent="0" marL="0">
              <a:buNone/>
            </a:pPr>
            <a:r>
              <a:rPr lang="en-US" sz="2000" b="1" dirty="0">
                <a:solidFill>
                  <a:srgbClr val="B02532"/>
                </a:solidFill>
                <a:latin typeface="Palatino Linotype" pitchFamily="34" charset="0"/>
                <a:ea typeface="Palatino Linotype" pitchFamily="34" charset="-122"/>
                <a:cs typeface="Palatino Linotype" pitchFamily="34" charset="-120"/>
              </a:rPr>
              <a:t>Cytologie</a:t>
            </a:r>
            <a:endParaRPr lang="en-US" sz="2000" dirty="0"/>
          </a:p>
        </p:txBody>
      </p:sp>
      <p:sp>
        <p:nvSpPr>
          <p:cNvPr id="9" name="Shape 7"/>
          <p:cNvSpPr/>
          <p:nvPr/>
        </p:nvSpPr>
        <p:spPr>
          <a:xfrm>
            <a:off x="868680" y="3108960"/>
            <a:ext cx="10424160" cy="13716"/>
          </a:xfrm>
          <a:prstGeom prst="rect">
            <a:avLst/>
          </a:prstGeom>
          <a:solidFill>
            <a:srgbClr val="C9C6BE"/>
          </a:solidFill>
          <a:ln w="12700">
            <a:solidFill>
              <a:srgbClr val="C9C6BE"/>
            </a:solidFill>
            <a:prstDash val="solid"/>
          </a:ln>
        </p:spPr>
      </p:sp>
      <p:sp>
        <p:nvSpPr>
          <p:cNvPr id="10" name="Text 8"/>
          <p:cNvSpPr/>
          <p:nvPr/>
        </p:nvSpPr>
        <p:spPr>
          <a:xfrm>
            <a:off x="941832" y="3127248"/>
            <a:ext cx="3877056" cy="603504"/>
          </a:xfrm>
          <a:prstGeom prst="rect">
            <a:avLst/>
          </a:prstGeom>
          <a:noFill/>
          <a:ln/>
        </p:spPr>
        <p:txBody>
          <a:bodyPr wrap="square" lIns="0" tIns="0" rIns="0" bIns="0" rtlCol="0" anchor="ctr"/>
          <a:lstStyle/>
          <a:p>
            <a:pPr algn="l" indent="0" marL="0">
              <a:buNone/>
            </a:pPr>
            <a:r>
              <a:rPr lang="en-US" sz="2200" b="1" dirty="0">
                <a:solidFill>
                  <a:srgbClr val="11121A"/>
                </a:solidFill>
                <a:latin typeface="Palatino Linotype" pitchFamily="34" charset="0"/>
                <a:ea typeface="Palatino Linotype" pitchFamily="34" charset="-122"/>
                <a:cs typeface="Palatino Linotype" pitchFamily="34" charset="-120"/>
              </a:rPr>
              <a:t>Sensibilité</a:t>
            </a:r>
            <a:endParaRPr lang="en-US" sz="2200" dirty="0"/>
          </a:p>
        </p:txBody>
      </p:sp>
      <p:sp>
        <p:nvSpPr>
          <p:cNvPr id="11" name="Text 9"/>
          <p:cNvSpPr/>
          <p:nvPr/>
        </p:nvSpPr>
        <p:spPr>
          <a:xfrm>
            <a:off x="4965192" y="3127248"/>
            <a:ext cx="3054096" cy="603504"/>
          </a:xfrm>
          <a:prstGeom prst="rect">
            <a:avLst/>
          </a:prstGeom>
          <a:noFill/>
          <a:ln/>
        </p:spPr>
        <p:txBody>
          <a:bodyPr wrap="square" lIns="0" tIns="0" rIns="0" bIns="0" rtlCol="0" anchor="ctr"/>
          <a:lstStyle/>
          <a:p>
            <a:pPr algn="ctr" indent="0" marL="0">
              <a:buNone/>
            </a:pPr>
            <a:r>
              <a:rPr lang="en-US" sz="2200" dirty="0">
                <a:solidFill>
                  <a:srgbClr val="11121A"/>
                </a:solidFill>
                <a:latin typeface="Palatino Linotype" pitchFamily="34" charset="0"/>
                <a:ea typeface="Palatino Linotype" pitchFamily="34" charset="-122"/>
                <a:cs typeface="Palatino Linotype" pitchFamily="34" charset="-120"/>
              </a:rPr>
              <a:t>89,9 %</a:t>
            </a:r>
            <a:endParaRPr lang="en-US" sz="2200" dirty="0"/>
          </a:p>
        </p:txBody>
      </p:sp>
      <p:sp>
        <p:nvSpPr>
          <p:cNvPr id="12" name="Text 10"/>
          <p:cNvSpPr/>
          <p:nvPr/>
        </p:nvSpPr>
        <p:spPr>
          <a:xfrm>
            <a:off x="8165592" y="3127248"/>
            <a:ext cx="3054096" cy="603504"/>
          </a:xfrm>
          <a:prstGeom prst="rect">
            <a:avLst/>
          </a:prstGeom>
          <a:noFill/>
          <a:ln/>
        </p:spPr>
        <p:txBody>
          <a:bodyPr wrap="square" lIns="0" tIns="0" rIns="0" bIns="0" rtlCol="0" anchor="ctr"/>
          <a:lstStyle/>
          <a:p>
            <a:pPr algn="ctr" indent="0" marL="0">
              <a:buNone/>
            </a:pPr>
            <a:r>
              <a:rPr lang="en-US" sz="2200" dirty="0">
                <a:solidFill>
                  <a:srgbClr val="11121A"/>
                </a:solidFill>
                <a:latin typeface="Palatino Linotype" pitchFamily="34" charset="0"/>
                <a:ea typeface="Palatino Linotype" pitchFamily="34" charset="-122"/>
                <a:cs typeface="Palatino Linotype" pitchFamily="34" charset="-120"/>
              </a:rPr>
              <a:t>62,5 %</a:t>
            </a:r>
            <a:endParaRPr lang="en-US" sz="2200" dirty="0"/>
          </a:p>
        </p:txBody>
      </p:sp>
      <p:sp>
        <p:nvSpPr>
          <p:cNvPr id="13" name="Shape 11"/>
          <p:cNvSpPr/>
          <p:nvPr/>
        </p:nvSpPr>
        <p:spPr>
          <a:xfrm>
            <a:off x="868680" y="3749040"/>
            <a:ext cx="10424160" cy="13716"/>
          </a:xfrm>
          <a:prstGeom prst="rect">
            <a:avLst/>
          </a:prstGeom>
          <a:solidFill>
            <a:srgbClr val="C9C6BE"/>
          </a:solidFill>
          <a:ln w="12700">
            <a:solidFill>
              <a:srgbClr val="C9C6BE"/>
            </a:solidFill>
            <a:prstDash val="solid"/>
          </a:ln>
        </p:spPr>
      </p:sp>
      <p:sp>
        <p:nvSpPr>
          <p:cNvPr id="14" name="Text 12"/>
          <p:cNvSpPr/>
          <p:nvPr/>
        </p:nvSpPr>
        <p:spPr>
          <a:xfrm>
            <a:off x="941832" y="3767328"/>
            <a:ext cx="3877056" cy="603504"/>
          </a:xfrm>
          <a:prstGeom prst="rect">
            <a:avLst/>
          </a:prstGeom>
          <a:noFill/>
          <a:ln/>
        </p:spPr>
        <p:txBody>
          <a:bodyPr wrap="square" lIns="0" tIns="0" rIns="0" bIns="0" rtlCol="0" anchor="ctr"/>
          <a:lstStyle/>
          <a:p>
            <a:pPr algn="l" indent="0" marL="0">
              <a:buNone/>
            </a:pPr>
            <a:r>
              <a:rPr lang="en-US" sz="2200" b="1" dirty="0">
                <a:solidFill>
                  <a:srgbClr val="11121A"/>
                </a:solidFill>
                <a:latin typeface="Palatino Linotype" pitchFamily="34" charset="0"/>
                <a:ea typeface="Palatino Linotype" pitchFamily="34" charset="-122"/>
                <a:cs typeface="Palatino Linotype" pitchFamily="34" charset="-120"/>
              </a:rPr>
              <a:t>Spécificité</a:t>
            </a:r>
            <a:endParaRPr lang="en-US" sz="2200" dirty="0"/>
          </a:p>
        </p:txBody>
      </p:sp>
      <p:sp>
        <p:nvSpPr>
          <p:cNvPr id="15" name="Text 13"/>
          <p:cNvSpPr/>
          <p:nvPr/>
        </p:nvSpPr>
        <p:spPr>
          <a:xfrm>
            <a:off x="4965192" y="3767328"/>
            <a:ext cx="3054096" cy="603504"/>
          </a:xfrm>
          <a:prstGeom prst="rect">
            <a:avLst/>
          </a:prstGeom>
          <a:noFill/>
          <a:ln/>
        </p:spPr>
        <p:txBody>
          <a:bodyPr wrap="square" lIns="0" tIns="0" rIns="0" bIns="0" rtlCol="0" anchor="ctr"/>
          <a:lstStyle/>
          <a:p>
            <a:pPr algn="ctr" indent="0" marL="0">
              <a:buNone/>
            </a:pPr>
            <a:r>
              <a:rPr lang="en-US" sz="2200" dirty="0">
                <a:solidFill>
                  <a:srgbClr val="11121A"/>
                </a:solidFill>
                <a:latin typeface="Palatino Linotype" pitchFamily="34" charset="0"/>
                <a:ea typeface="Palatino Linotype" pitchFamily="34" charset="-122"/>
                <a:cs typeface="Palatino Linotype" pitchFamily="34" charset="-120"/>
              </a:rPr>
              <a:t>89,9 %</a:t>
            </a:r>
            <a:endParaRPr lang="en-US" sz="2200" dirty="0"/>
          </a:p>
        </p:txBody>
      </p:sp>
      <p:sp>
        <p:nvSpPr>
          <p:cNvPr id="16" name="Text 14"/>
          <p:cNvSpPr/>
          <p:nvPr/>
        </p:nvSpPr>
        <p:spPr>
          <a:xfrm>
            <a:off x="8165592" y="3767328"/>
            <a:ext cx="3054096" cy="603504"/>
          </a:xfrm>
          <a:prstGeom prst="rect">
            <a:avLst/>
          </a:prstGeom>
          <a:noFill/>
          <a:ln/>
        </p:spPr>
        <p:txBody>
          <a:bodyPr wrap="square" lIns="0" tIns="0" rIns="0" bIns="0" rtlCol="0" anchor="ctr"/>
          <a:lstStyle/>
          <a:p>
            <a:pPr algn="ctr" indent="0" marL="0">
              <a:buNone/>
            </a:pPr>
            <a:r>
              <a:rPr lang="en-US" sz="2200" dirty="0">
                <a:solidFill>
                  <a:srgbClr val="11121A"/>
                </a:solidFill>
                <a:latin typeface="Palatino Linotype" pitchFamily="34" charset="0"/>
                <a:ea typeface="Palatino Linotype" pitchFamily="34" charset="-122"/>
                <a:cs typeface="Palatino Linotype" pitchFamily="34" charset="-120"/>
              </a:rPr>
              <a:t>96,6 %</a:t>
            </a:r>
            <a:endParaRPr lang="en-US" sz="2200" dirty="0"/>
          </a:p>
        </p:txBody>
      </p:sp>
      <p:sp>
        <p:nvSpPr>
          <p:cNvPr id="17" name="Shape 15"/>
          <p:cNvSpPr/>
          <p:nvPr/>
        </p:nvSpPr>
        <p:spPr>
          <a:xfrm>
            <a:off x="594360" y="4709160"/>
            <a:ext cx="10972800" cy="914400"/>
          </a:xfrm>
          <a:prstGeom prst="roundRect">
            <a:avLst>
              <a:gd name="adj" fmla="val 9000"/>
            </a:avLst>
          </a:prstGeom>
          <a:solidFill>
            <a:srgbClr val="11121A"/>
          </a:solidFill>
          <a:ln w="12700">
            <a:solidFill>
              <a:srgbClr val="11121A"/>
            </a:solidFill>
            <a:prstDash val="solid"/>
          </a:ln>
        </p:spPr>
      </p:sp>
      <p:sp>
        <p:nvSpPr>
          <p:cNvPr id="18" name="Text 16"/>
          <p:cNvSpPr/>
          <p:nvPr/>
        </p:nvSpPr>
        <p:spPr>
          <a:xfrm>
            <a:off x="868680" y="4709160"/>
            <a:ext cx="10424160" cy="91440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Le test viral trouve plus de lésions ; la cytologie donne moins de fausses alertes.</a:t>
            </a:r>
            <a:endParaRPr lang="en-US" sz="19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Sources : OMS Europe, 2022 ; revue Cochrane, 2017.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VOTRE VOISIN</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COL DE L’UTÉRUS, ROUMANIE</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Quel critère est le moins rempli ?</a:t>
            </a:r>
            <a:endParaRPr lang="en-US" sz="3000" dirty="0"/>
          </a:p>
        </p:txBody>
      </p:sp>
      <p:sp>
        <p:nvSpPr>
          <p:cNvPr id="6" name="Shape 4"/>
          <p:cNvSpPr/>
          <p:nvPr/>
        </p:nvSpPr>
        <p:spPr>
          <a:xfrm>
            <a:off x="594360" y="1783080"/>
            <a:ext cx="10972800" cy="676656"/>
          </a:xfrm>
          <a:prstGeom prst="roundRect">
            <a:avLst>
              <a:gd name="adj" fmla="val 12162"/>
            </a:avLst>
          </a:prstGeom>
          <a:solidFill>
            <a:srgbClr val="1D1F2B"/>
          </a:solidFill>
          <a:ln w="12700">
            <a:solidFill>
              <a:srgbClr val="1D1F2B"/>
            </a:solidFill>
            <a:prstDash val="solid"/>
          </a:ln>
        </p:spPr>
      </p:sp>
      <p:sp>
        <p:nvSpPr>
          <p:cNvPr id="7" name="Shape 5"/>
          <p:cNvSpPr/>
          <p:nvPr/>
        </p:nvSpPr>
        <p:spPr>
          <a:xfrm>
            <a:off x="777240" y="1911096"/>
            <a:ext cx="420624" cy="420624"/>
          </a:xfrm>
          <a:prstGeom prst="ellipse">
            <a:avLst/>
          </a:prstGeom>
          <a:solidFill>
            <a:srgbClr val="FFC24B"/>
          </a:solidFill>
          <a:ln/>
        </p:spPr>
      </p:sp>
      <p:sp>
        <p:nvSpPr>
          <p:cNvPr id="8" name="Text 6"/>
          <p:cNvSpPr/>
          <p:nvPr/>
        </p:nvSpPr>
        <p:spPr>
          <a:xfrm>
            <a:off x="777240" y="19110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371600" y="1783080"/>
            <a:ext cx="10058400" cy="676656"/>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La maladie n’est pas un problème important</a:t>
            </a:r>
            <a:endParaRPr lang="en-US" sz="1900" dirty="0"/>
          </a:p>
        </p:txBody>
      </p:sp>
      <p:sp>
        <p:nvSpPr>
          <p:cNvPr id="10" name="Shape 8"/>
          <p:cNvSpPr/>
          <p:nvPr/>
        </p:nvSpPr>
        <p:spPr>
          <a:xfrm>
            <a:off x="594360" y="2587752"/>
            <a:ext cx="10972800" cy="676656"/>
          </a:xfrm>
          <a:prstGeom prst="roundRect">
            <a:avLst>
              <a:gd name="adj" fmla="val 12162"/>
            </a:avLst>
          </a:prstGeom>
          <a:solidFill>
            <a:srgbClr val="1D1F2B"/>
          </a:solidFill>
          <a:ln w="12700">
            <a:solidFill>
              <a:srgbClr val="1D1F2B"/>
            </a:solidFill>
            <a:prstDash val="solid"/>
          </a:ln>
        </p:spPr>
      </p:sp>
      <p:sp>
        <p:nvSpPr>
          <p:cNvPr id="11" name="Shape 9"/>
          <p:cNvSpPr/>
          <p:nvPr/>
        </p:nvSpPr>
        <p:spPr>
          <a:xfrm>
            <a:off x="777240" y="2715768"/>
            <a:ext cx="420624" cy="420624"/>
          </a:xfrm>
          <a:prstGeom prst="ellipse">
            <a:avLst/>
          </a:prstGeom>
          <a:solidFill>
            <a:srgbClr val="FFC24B"/>
          </a:solidFill>
          <a:ln/>
        </p:spPr>
      </p:sp>
      <p:sp>
        <p:nvSpPr>
          <p:cNvPr id="12" name="Text 10"/>
          <p:cNvSpPr/>
          <p:nvPr/>
        </p:nvSpPr>
        <p:spPr>
          <a:xfrm>
            <a:off x="777240" y="27157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371600" y="2587752"/>
            <a:ext cx="10058400" cy="676656"/>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Il n’existe pas de test approprié</a:t>
            </a:r>
            <a:endParaRPr lang="en-US" sz="1900" dirty="0"/>
          </a:p>
        </p:txBody>
      </p:sp>
      <p:sp>
        <p:nvSpPr>
          <p:cNvPr id="14" name="Shape 12"/>
          <p:cNvSpPr/>
          <p:nvPr/>
        </p:nvSpPr>
        <p:spPr>
          <a:xfrm>
            <a:off x="594360" y="3392424"/>
            <a:ext cx="10972800" cy="676656"/>
          </a:xfrm>
          <a:prstGeom prst="roundRect">
            <a:avLst>
              <a:gd name="adj" fmla="val 12162"/>
            </a:avLst>
          </a:prstGeom>
          <a:solidFill>
            <a:srgbClr val="1D1F2B"/>
          </a:solidFill>
          <a:ln w="12700">
            <a:solidFill>
              <a:srgbClr val="1D1F2B"/>
            </a:solidFill>
            <a:prstDash val="solid"/>
          </a:ln>
        </p:spPr>
      </p:sp>
      <p:sp>
        <p:nvSpPr>
          <p:cNvPr id="15" name="Shape 13"/>
          <p:cNvSpPr/>
          <p:nvPr/>
        </p:nvSpPr>
        <p:spPr>
          <a:xfrm>
            <a:off x="777240" y="3520440"/>
            <a:ext cx="420624" cy="420624"/>
          </a:xfrm>
          <a:prstGeom prst="ellipse">
            <a:avLst/>
          </a:prstGeom>
          <a:solidFill>
            <a:srgbClr val="FFC24B"/>
          </a:solidFill>
          <a:ln/>
        </p:spPr>
      </p:sp>
      <p:sp>
        <p:nvSpPr>
          <p:cNvPr id="16" name="Text 14"/>
          <p:cNvSpPr/>
          <p:nvPr/>
        </p:nvSpPr>
        <p:spPr>
          <a:xfrm>
            <a:off x="777240" y="35204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371600" y="3392424"/>
            <a:ext cx="10058400" cy="676656"/>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Le test n’est pas acceptable pour la population</a:t>
            </a:r>
            <a:endParaRPr lang="en-US" sz="1900" dirty="0"/>
          </a:p>
        </p:txBody>
      </p:sp>
      <p:sp>
        <p:nvSpPr>
          <p:cNvPr id="18" name="Shape 16"/>
          <p:cNvSpPr/>
          <p:nvPr/>
        </p:nvSpPr>
        <p:spPr>
          <a:xfrm>
            <a:off x="594360" y="4197096"/>
            <a:ext cx="10972800" cy="676656"/>
          </a:xfrm>
          <a:prstGeom prst="roundRect">
            <a:avLst>
              <a:gd name="adj" fmla="val 12162"/>
            </a:avLst>
          </a:prstGeom>
          <a:solidFill>
            <a:srgbClr val="1D1F2B"/>
          </a:solidFill>
          <a:ln w="12700">
            <a:solidFill>
              <a:srgbClr val="1D1F2B"/>
            </a:solidFill>
            <a:prstDash val="solid"/>
          </a:ln>
        </p:spPr>
      </p:sp>
      <p:sp>
        <p:nvSpPr>
          <p:cNvPr id="19" name="Shape 17"/>
          <p:cNvSpPr/>
          <p:nvPr/>
        </p:nvSpPr>
        <p:spPr>
          <a:xfrm>
            <a:off x="777240" y="4325112"/>
            <a:ext cx="420624" cy="420624"/>
          </a:xfrm>
          <a:prstGeom prst="ellipse">
            <a:avLst/>
          </a:prstGeom>
          <a:solidFill>
            <a:srgbClr val="FFC24B"/>
          </a:solidFill>
          <a:ln/>
        </p:spPr>
      </p:sp>
      <p:sp>
        <p:nvSpPr>
          <p:cNvPr id="20" name="Text 18"/>
          <p:cNvSpPr/>
          <p:nvPr/>
        </p:nvSpPr>
        <p:spPr>
          <a:xfrm>
            <a:off x="777240" y="43251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371600" y="4197096"/>
            <a:ext cx="10058400" cy="676656"/>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La détection n’est pas un processus continu, avec invitation systématique</a:t>
            </a:r>
            <a:endParaRPr lang="en-US" sz="1900" dirty="0"/>
          </a:p>
        </p:txBody>
      </p:sp>
      <p:sp>
        <p:nvSpPr>
          <p:cNvPr id="22" name="Text 20"/>
          <p:cNvSpPr/>
          <p:nvPr/>
        </p:nvSpPr>
        <p:spPr>
          <a:xfrm>
            <a:off x="594360" y="5120640"/>
            <a:ext cx="10972800" cy="54864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Votez, puis deux minutes avec votre voisin : quel seul changement feriez-vous en premier ? Répondez sur votre téléphone, au code affiché.</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RÉPONSE : D</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Le processus continu et l’invitation systématique</a:t>
            </a:r>
            <a:endParaRPr lang="en-US" sz="3200" dirty="0"/>
          </a:p>
        </p:txBody>
      </p:sp>
      <p:sp>
        <p:nvSpPr>
          <p:cNvPr id="4" name="Shape 2"/>
          <p:cNvSpPr/>
          <p:nvPr/>
        </p:nvSpPr>
        <p:spPr>
          <a:xfrm>
            <a:off x="594360" y="1645920"/>
            <a:ext cx="10972800" cy="1234440"/>
          </a:xfrm>
          <a:prstGeom prst="roundRect">
            <a:avLst>
              <a:gd name="adj" fmla="val 6667"/>
            </a:avLst>
          </a:prstGeom>
          <a:solidFill>
            <a:srgbClr val="11121A"/>
          </a:solidFill>
          <a:ln w="12700">
            <a:solidFill>
              <a:srgbClr val="11121A"/>
            </a:solidFill>
            <a:prstDash val="solid"/>
          </a:ln>
        </p:spPr>
      </p:sp>
      <p:sp>
        <p:nvSpPr>
          <p:cNvPr id="5" name="Shape 3"/>
          <p:cNvSpPr/>
          <p:nvPr/>
        </p:nvSpPr>
        <p:spPr>
          <a:xfrm>
            <a:off x="822960" y="2048256"/>
            <a:ext cx="420624" cy="420624"/>
          </a:xfrm>
          <a:prstGeom prst="ellipse">
            <a:avLst/>
          </a:prstGeom>
          <a:solidFill>
            <a:srgbClr val="FF4757"/>
          </a:solidFill>
          <a:ln/>
        </p:spPr>
      </p:sp>
      <p:sp>
        <p:nvSpPr>
          <p:cNvPr id="6" name="Text 4"/>
          <p:cNvSpPr/>
          <p:nvPr/>
        </p:nvSpPr>
        <p:spPr>
          <a:xfrm>
            <a:off x="822960" y="204825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63040" y="1645920"/>
            <a:ext cx="9875520" cy="123444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Profil OCDE 2025 : pas de pratique systématique ; tests proposés surtout de manière opportuniste, avec un suivi réduit des positifs.</a:t>
            </a:r>
            <a:endParaRPr lang="en-US" sz="1900" dirty="0"/>
          </a:p>
        </p:txBody>
      </p:sp>
      <p:sp>
        <p:nvSpPr>
          <p:cNvPr id="8" name="Shape 6"/>
          <p:cNvSpPr/>
          <p:nvPr/>
        </p:nvSpPr>
        <p:spPr>
          <a:xfrm>
            <a:off x="594360" y="3017520"/>
            <a:ext cx="10972800" cy="1234440"/>
          </a:xfrm>
          <a:prstGeom prst="roundRect">
            <a:avLst>
              <a:gd name="adj" fmla="val 6667"/>
            </a:avLst>
          </a:prstGeom>
          <a:solidFill>
            <a:srgbClr val="ECEAE4"/>
          </a:solidFill>
          <a:ln w="12700">
            <a:solidFill>
              <a:srgbClr val="ECEAE4"/>
            </a:solidFill>
            <a:prstDash val="solid"/>
          </a:ln>
        </p:spPr>
      </p:sp>
      <p:sp>
        <p:nvSpPr>
          <p:cNvPr id="9" name="Shape 7"/>
          <p:cNvSpPr/>
          <p:nvPr/>
        </p:nvSpPr>
        <p:spPr>
          <a:xfrm>
            <a:off x="822960" y="3419856"/>
            <a:ext cx="420624" cy="420624"/>
          </a:xfrm>
          <a:prstGeom prst="ellipse">
            <a:avLst/>
          </a:prstGeom>
          <a:solidFill>
            <a:srgbClr val="FF4757"/>
          </a:solidFill>
          <a:ln/>
        </p:spPr>
      </p:sp>
      <p:sp>
        <p:nvSpPr>
          <p:cNvPr id="10" name="Text 8"/>
          <p:cNvSpPr/>
          <p:nvPr/>
        </p:nvSpPr>
        <p:spPr>
          <a:xfrm>
            <a:off x="822960" y="341985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63040" y="3017520"/>
            <a:ext cx="9875520" cy="123444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La stratégie de 2024 : test viral primaire, puis triage cytologique, pour toutes les femmes éligibles de 25–65 ans, tous les cinq ans.</a:t>
            </a:r>
            <a:endParaRPr lang="en-US" sz="1900" dirty="0"/>
          </a:p>
        </p:txBody>
      </p:sp>
      <p:sp>
        <p:nvSpPr>
          <p:cNvPr id="12" name="Shape 10"/>
          <p:cNvSpPr/>
          <p:nvPr/>
        </p:nvSpPr>
        <p:spPr>
          <a:xfrm>
            <a:off x="594360" y="4389120"/>
            <a:ext cx="10972800" cy="1234440"/>
          </a:xfrm>
          <a:prstGeom prst="roundRect">
            <a:avLst>
              <a:gd name="adj" fmla="val 6667"/>
            </a:avLst>
          </a:prstGeom>
          <a:solidFill>
            <a:srgbClr val="ECEAE4"/>
          </a:solidFill>
          <a:ln w="12700">
            <a:solidFill>
              <a:srgbClr val="ECEAE4"/>
            </a:solidFill>
            <a:prstDash val="solid"/>
          </a:ln>
        </p:spPr>
      </p:sp>
      <p:sp>
        <p:nvSpPr>
          <p:cNvPr id="13" name="Shape 11"/>
          <p:cNvSpPr/>
          <p:nvPr/>
        </p:nvSpPr>
        <p:spPr>
          <a:xfrm>
            <a:off x="822960" y="4791456"/>
            <a:ext cx="420624" cy="420624"/>
          </a:xfrm>
          <a:prstGeom prst="ellipse">
            <a:avLst/>
          </a:prstGeom>
          <a:solidFill>
            <a:srgbClr val="FF4757"/>
          </a:solidFill>
          <a:ln/>
        </p:spPr>
      </p:sp>
      <p:sp>
        <p:nvSpPr>
          <p:cNvPr id="14" name="Text 12"/>
          <p:cNvSpPr/>
          <p:nvPr/>
        </p:nvSpPr>
        <p:spPr>
          <a:xfrm>
            <a:off x="822960" y="479145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463040" y="4389120"/>
            <a:ext cx="9875520" cy="123444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L’acceptabilité se discute : 39 % des femmes avaient fait un test au cours des trois dernières années (2019).</a:t>
            </a:r>
            <a:endParaRPr lang="en-US" sz="19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OCDE/CE, Profil de pays sur le cancer : Roumanie 2025, doi:10.1787/a90c2c0d-ro.</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AVEC VOTRE VOISIN · TROIS MINUTES</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APPLIQUEZ LES CRITÈRES</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Le cancer du pancréas, chez tous les adultes sans symptômes ?</a:t>
            </a:r>
            <a:endParaRPr lang="en-US" sz="3000" dirty="0"/>
          </a:p>
        </p:txBody>
      </p:sp>
      <p:sp>
        <p:nvSpPr>
          <p:cNvPr id="6" name="Shape 4"/>
          <p:cNvSpPr/>
          <p:nvPr/>
        </p:nvSpPr>
        <p:spPr>
          <a:xfrm>
            <a:off x="594360" y="1828800"/>
            <a:ext cx="3520440" cy="2194560"/>
          </a:xfrm>
          <a:prstGeom prst="roundRect">
            <a:avLst>
              <a:gd name="adj" fmla="val 3750"/>
            </a:avLst>
          </a:prstGeom>
          <a:solidFill>
            <a:srgbClr val="1D1F2B"/>
          </a:solidFill>
          <a:ln w="12700">
            <a:solidFill>
              <a:srgbClr val="1D1F2B"/>
            </a:solidFill>
            <a:prstDash val="solid"/>
          </a:ln>
        </p:spPr>
      </p:sp>
      <p:sp>
        <p:nvSpPr>
          <p:cNvPr id="7" name="Text 5"/>
          <p:cNvSpPr/>
          <p:nvPr/>
        </p:nvSpPr>
        <p:spPr>
          <a:xfrm>
            <a:off x="594360" y="1828800"/>
            <a:ext cx="3520440" cy="2194560"/>
          </a:xfrm>
          <a:prstGeom prst="rect">
            <a:avLst/>
          </a:prstGeom>
          <a:noFill/>
          <a:ln/>
        </p:spPr>
        <p:txBody>
          <a:bodyPr wrap="square" lIns="0" tIns="0" rIns="0" bIns="0" rtlCol="0" anchor="ctr"/>
          <a:lstStyle/>
          <a:p>
            <a:pPr algn="ctr" indent="0" marL="0">
              <a:buNone/>
            </a:pPr>
            <a:r>
              <a:rPr lang="en-US" sz="2600" b="1" spc="200" kern="0" dirty="0">
                <a:solidFill>
                  <a:srgbClr val="FF4757"/>
                </a:solidFill>
                <a:latin typeface="Palatino Linotype" pitchFamily="34" charset="0"/>
                <a:ea typeface="Palatino Linotype" pitchFamily="34" charset="-122"/>
                <a:cs typeface="Palatino Linotype" pitchFamily="34" charset="-120"/>
              </a:rPr>
              <a:t>LA MALADIE</a:t>
            </a:r>
            <a:endParaRPr lang="en-US" sz="2600" dirty="0"/>
          </a:p>
        </p:txBody>
      </p:sp>
      <p:sp>
        <p:nvSpPr>
          <p:cNvPr id="8" name="Shape 6"/>
          <p:cNvSpPr/>
          <p:nvPr/>
        </p:nvSpPr>
        <p:spPr>
          <a:xfrm>
            <a:off x="4343400" y="1828800"/>
            <a:ext cx="3520440" cy="2194560"/>
          </a:xfrm>
          <a:prstGeom prst="roundRect">
            <a:avLst>
              <a:gd name="adj" fmla="val 3750"/>
            </a:avLst>
          </a:prstGeom>
          <a:solidFill>
            <a:srgbClr val="1D1F2B"/>
          </a:solidFill>
          <a:ln w="12700">
            <a:solidFill>
              <a:srgbClr val="1D1F2B"/>
            </a:solidFill>
            <a:prstDash val="solid"/>
          </a:ln>
        </p:spPr>
      </p:sp>
      <p:sp>
        <p:nvSpPr>
          <p:cNvPr id="9" name="Text 7"/>
          <p:cNvSpPr/>
          <p:nvPr/>
        </p:nvSpPr>
        <p:spPr>
          <a:xfrm>
            <a:off x="4343400" y="1828800"/>
            <a:ext cx="3520440" cy="2194560"/>
          </a:xfrm>
          <a:prstGeom prst="rect">
            <a:avLst/>
          </a:prstGeom>
          <a:noFill/>
          <a:ln/>
        </p:spPr>
        <p:txBody>
          <a:bodyPr wrap="square" lIns="0" tIns="0" rIns="0" bIns="0" rtlCol="0" anchor="ctr"/>
          <a:lstStyle/>
          <a:p>
            <a:pPr algn="ctr" indent="0" marL="0">
              <a:buNone/>
            </a:pPr>
            <a:r>
              <a:rPr lang="en-US" sz="2600" b="1" spc="200" kern="0" dirty="0">
                <a:solidFill>
                  <a:srgbClr val="9B7EF7"/>
                </a:solidFill>
                <a:latin typeface="Palatino Linotype" pitchFamily="34" charset="0"/>
                <a:ea typeface="Palatino Linotype" pitchFamily="34" charset="-122"/>
                <a:cs typeface="Palatino Linotype" pitchFamily="34" charset="-120"/>
              </a:rPr>
              <a:t>LE TEST</a:t>
            </a:r>
            <a:endParaRPr lang="en-US" sz="2600" dirty="0"/>
          </a:p>
        </p:txBody>
      </p:sp>
      <p:sp>
        <p:nvSpPr>
          <p:cNvPr id="10" name="Shape 8"/>
          <p:cNvSpPr/>
          <p:nvPr/>
        </p:nvSpPr>
        <p:spPr>
          <a:xfrm>
            <a:off x="8092440" y="1828800"/>
            <a:ext cx="3520440" cy="2194560"/>
          </a:xfrm>
          <a:prstGeom prst="roundRect">
            <a:avLst>
              <a:gd name="adj" fmla="val 3750"/>
            </a:avLst>
          </a:prstGeom>
          <a:solidFill>
            <a:srgbClr val="1D1F2B"/>
          </a:solidFill>
          <a:ln w="12700">
            <a:solidFill>
              <a:srgbClr val="1D1F2B"/>
            </a:solidFill>
            <a:prstDash val="solid"/>
          </a:ln>
        </p:spPr>
      </p:sp>
      <p:sp>
        <p:nvSpPr>
          <p:cNvPr id="11" name="Text 9"/>
          <p:cNvSpPr/>
          <p:nvPr/>
        </p:nvSpPr>
        <p:spPr>
          <a:xfrm>
            <a:off x="8092440" y="1828800"/>
            <a:ext cx="3520440" cy="2194560"/>
          </a:xfrm>
          <a:prstGeom prst="rect">
            <a:avLst/>
          </a:prstGeom>
          <a:noFill/>
          <a:ln/>
        </p:spPr>
        <p:txBody>
          <a:bodyPr wrap="square" lIns="0" tIns="0" rIns="0" bIns="0" rtlCol="0" anchor="ctr"/>
          <a:lstStyle/>
          <a:p>
            <a:pPr algn="ctr" indent="0" marL="0">
              <a:buNone/>
            </a:pPr>
            <a:r>
              <a:rPr lang="en-US" sz="2600" b="1" spc="200" kern="0" dirty="0">
                <a:solidFill>
                  <a:srgbClr val="27D3BE"/>
                </a:solidFill>
                <a:latin typeface="Palatino Linotype" pitchFamily="34" charset="0"/>
                <a:ea typeface="Palatino Linotype" pitchFamily="34" charset="-122"/>
                <a:cs typeface="Palatino Linotype" pitchFamily="34" charset="-120"/>
              </a:rPr>
              <a:t>LE SYSTÈME</a:t>
            </a:r>
            <a:endParaRPr lang="en-US" sz="2600" dirty="0"/>
          </a:p>
        </p:txBody>
      </p:sp>
      <p:sp>
        <p:nvSpPr>
          <p:cNvPr id="12" name="Text 10"/>
          <p:cNvSpPr/>
          <p:nvPr/>
        </p:nvSpPr>
        <p:spPr>
          <a:xfrm>
            <a:off x="594360" y="4389120"/>
            <a:ext cx="10972800" cy="73152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Que faudrait-il savoir pour décider ? Qu’est-ce qui manque ?</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RÉPONSE : CRITÈRE NON REMPLI</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La recommandation est contre le dépistage</a:t>
            </a:r>
            <a:endParaRPr lang="en-US" sz="3200" dirty="0"/>
          </a:p>
        </p:txBody>
      </p:sp>
      <p:sp>
        <p:nvSpPr>
          <p:cNvPr id="4" name="Shape 2"/>
          <p:cNvSpPr/>
          <p:nvPr/>
        </p:nvSpPr>
        <p:spPr>
          <a:xfrm>
            <a:off x="594360" y="1645920"/>
            <a:ext cx="3505200" cy="2286000"/>
          </a:xfrm>
          <a:prstGeom prst="roundRect">
            <a:avLst>
              <a:gd name="adj" fmla="val 3600"/>
            </a:avLst>
          </a:prstGeom>
          <a:solidFill>
            <a:srgbClr val="ECEAE4"/>
          </a:solidFill>
          <a:ln w="12700">
            <a:solidFill>
              <a:srgbClr val="ECEAE4"/>
            </a:solidFill>
            <a:prstDash val="solid"/>
          </a:ln>
        </p:spPr>
      </p:sp>
      <p:sp>
        <p:nvSpPr>
          <p:cNvPr id="5" name="Text 3"/>
          <p:cNvSpPr/>
          <p:nvPr/>
        </p:nvSpPr>
        <p:spPr>
          <a:xfrm>
            <a:off x="822960" y="1783080"/>
            <a:ext cx="3048000" cy="82296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LA MALADIE</a:t>
            </a:r>
            <a:endParaRPr lang="en-US" sz="1600" dirty="0"/>
          </a:p>
        </p:txBody>
      </p:sp>
      <p:sp>
        <p:nvSpPr>
          <p:cNvPr id="6" name="Text 4"/>
          <p:cNvSpPr/>
          <p:nvPr/>
        </p:nvSpPr>
        <p:spPr>
          <a:xfrm>
            <a:off x="822960" y="2606040"/>
            <a:ext cx="3048000" cy="11887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rare dans la population générale : valeur prédictive positive faible</a:t>
            </a:r>
            <a:endParaRPr lang="en-US" sz="1800" dirty="0"/>
          </a:p>
        </p:txBody>
      </p:sp>
      <p:sp>
        <p:nvSpPr>
          <p:cNvPr id="7" name="Shape 5"/>
          <p:cNvSpPr/>
          <p:nvPr/>
        </p:nvSpPr>
        <p:spPr>
          <a:xfrm>
            <a:off x="4328160" y="1645920"/>
            <a:ext cx="3505200" cy="2286000"/>
          </a:xfrm>
          <a:prstGeom prst="roundRect">
            <a:avLst>
              <a:gd name="adj" fmla="val 3600"/>
            </a:avLst>
          </a:prstGeom>
          <a:solidFill>
            <a:srgbClr val="ECEAE4"/>
          </a:solidFill>
          <a:ln w="12700">
            <a:solidFill>
              <a:srgbClr val="ECEAE4"/>
            </a:solidFill>
            <a:prstDash val="solid"/>
          </a:ln>
        </p:spPr>
      </p:sp>
      <p:sp>
        <p:nvSpPr>
          <p:cNvPr id="8" name="Text 6"/>
          <p:cNvSpPr/>
          <p:nvPr/>
        </p:nvSpPr>
        <p:spPr>
          <a:xfrm>
            <a:off x="4556760" y="1783080"/>
            <a:ext cx="3048000" cy="82296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LE TEST</a:t>
            </a:r>
            <a:endParaRPr lang="en-US" sz="1600" dirty="0"/>
          </a:p>
        </p:txBody>
      </p:sp>
      <p:sp>
        <p:nvSpPr>
          <p:cNvPr id="9" name="Text 7"/>
          <p:cNvSpPr/>
          <p:nvPr/>
        </p:nvSpPr>
        <p:spPr>
          <a:xfrm>
            <a:off x="4556760" y="2606040"/>
            <a:ext cx="3048000" cy="11887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l’exactitude des tests proposés est incertaine</a:t>
            </a:r>
            <a:endParaRPr lang="en-US" sz="1800" dirty="0"/>
          </a:p>
        </p:txBody>
      </p:sp>
      <p:sp>
        <p:nvSpPr>
          <p:cNvPr id="10" name="Shape 8"/>
          <p:cNvSpPr/>
          <p:nvPr/>
        </p:nvSpPr>
        <p:spPr>
          <a:xfrm>
            <a:off x="8061960" y="1645920"/>
            <a:ext cx="3505200" cy="2286000"/>
          </a:xfrm>
          <a:prstGeom prst="roundRect">
            <a:avLst>
              <a:gd name="adj" fmla="val 3600"/>
            </a:avLst>
          </a:prstGeom>
          <a:solidFill>
            <a:srgbClr val="ECEAE4"/>
          </a:solidFill>
          <a:ln w="12700">
            <a:solidFill>
              <a:srgbClr val="ECEAE4"/>
            </a:solidFill>
            <a:prstDash val="solid"/>
          </a:ln>
        </p:spPr>
      </p:sp>
      <p:sp>
        <p:nvSpPr>
          <p:cNvPr id="11" name="Text 9"/>
          <p:cNvSpPr/>
          <p:nvPr/>
        </p:nvSpPr>
        <p:spPr>
          <a:xfrm>
            <a:off x="8290560" y="1783080"/>
            <a:ext cx="3048000" cy="82296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LE SYSTÈME</a:t>
            </a:r>
            <a:endParaRPr lang="en-US" sz="1600" dirty="0"/>
          </a:p>
        </p:txBody>
      </p:sp>
      <p:sp>
        <p:nvSpPr>
          <p:cNvPr id="12" name="Text 10"/>
          <p:cNvSpPr/>
          <p:nvPr/>
        </p:nvSpPr>
        <p:spPr>
          <a:xfrm>
            <a:off x="8290560" y="2606040"/>
            <a:ext cx="3048000" cy="11887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le pronostic reste mauvais même avec un traitement précoce</a:t>
            </a:r>
            <a:endParaRPr lang="en-US" sz="1800" dirty="0"/>
          </a:p>
        </p:txBody>
      </p:sp>
      <p:sp>
        <p:nvSpPr>
          <p:cNvPr id="13" name="Shape 11"/>
          <p:cNvSpPr/>
          <p:nvPr/>
        </p:nvSpPr>
        <p:spPr>
          <a:xfrm>
            <a:off x="594360" y="4206240"/>
            <a:ext cx="10972800" cy="1188720"/>
          </a:xfrm>
          <a:prstGeom prst="roundRect">
            <a:avLst>
              <a:gd name="adj" fmla="val 6923"/>
            </a:avLst>
          </a:prstGeom>
          <a:solidFill>
            <a:srgbClr val="11121A"/>
          </a:solidFill>
          <a:ln w="12700">
            <a:solidFill>
              <a:srgbClr val="11121A"/>
            </a:solidFill>
            <a:prstDash val="solid"/>
          </a:ln>
        </p:spPr>
      </p:sp>
      <p:sp>
        <p:nvSpPr>
          <p:cNvPr id="14" name="Text 12"/>
          <p:cNvSpPr/>
          <p:nvPr/>
        </p:nvSpPr>
        <p:spPr>
          <a:xfrm>
            <a:off x="868680" y="4206240"/>
            <a:ext cx="10424160" cy="118872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Aucune donnée ne montre que le dépistage réduit la mortalité. Exception : les personnes à haut risque familial ou génétique.</a:t>
            </a:r>
            <a:endParaRPr lang="en-US" sz="1900" dirty="0"/>
          </a:p>
        </p:txBody>
      </p:sp>
      <p:sp>
        <p:nvSpPr>
          <p:cNvPr id="15" name="Text 1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groupe de travail américain sur les services de prévention (USPSTF), JAMA, 2019.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5.3 · QUE VAUT LE TEST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Quatre cases</a:t>
            </a:r>
            <a:endParaRPr lang="en-US" sz="3200" dirty="0"/>
          </a:p>
        </p:txBody>
      </p:sp>
      <p:sp>
        <p:nvSpPr>
          <p:cNvPr id="4" name="Shape 2"/>
          <p:cNvSpPr/>
          <p:nvPr/>
        </p:nvSpPr>
        <p:spPr>
          <a:xfrm>
            <a:off x="594360" y="1600200"/>
            <a:ext cx="10972800" cy="2514600"/>
          </a:xfrm>
          <a:prstGeom prst="roundRect">
            <a:avLst>
              <a:gd name="adj" fmla="val 3273"/>
            </a:avLst>
          </a:prstGeom>
          <a:solidFill>
            <a:srgbClr val="1D1F2B"/>
          </a:solidFill>
          <a:ln w="12700">
            <a:solidFill>
              <a:srgbClr val="1D1F2B"/>
            </a:solidFill>
            <a:prstDash val="solid"/>
          </a:ln>
        </p:spPr>
      </p:sp>
      <p:sp>
        <p:nvSpPr>
          <p:cNvPr id="5" name="Text 3"/>
          <p:cNvSpPr/>
          <p:nvPr/>
        </p:nvSpPr>
        <p:spPr>
          <a:xfrm>
            <a:off x="896112" y="1709928"/>
            <a:ext cx="2596896" cy="530352"/>
          </a:xfrm>
          <a:prstGeom prst="rect">
            <a:avLst/>
          </a:prstGeom>
          <a:noFill/>
          <a:ln/>
        </p:spPr>
        <p:txBody>
          <a:bodyPr wrap="square" lIns="0" tIns="0" rIns="0" bIns="0" rtlCol="0" anchor="ctr"/>
          <a:lstStyle/>
          <a:p>
            <a:pPr algn="l" indent="0" marL="0">
              <a:buNone/>
            </a:pPr>
            <a:r>
              <a:rPr lang="en-US" sz="1600" b="1" dirty="0">
                <a:solidFill>
                  <a:srgbClr val="FFC24B"/>
                </a:solidFill>
                <a:latin typeface="Palatino Linotype" pitchFamily="34" charset="0"/>
                <a:ea typeface="Palatino Linotype" pitchFamily="34" charset="-122"/>
                <a:cs typeface="Palatino Linotype" pitchFamily="34" charset="-120"/>
              </a:rPr>
              <a:t>Résultat du test</a:t>
            </a:r>
            <a:endParaRPr lang="en-US" sz="1600" dirty="0"/>
          </a:p>
        </p:txBody>
      </p:sp>
      <p:sp>
        <p:nvSpPr>
          <p:cNvPr id="6" name="Text 4"/>
          <p:cNvSpPr/>
          <p:nvPr/>
        </p:nvSpPr>
        <p:spPr>
          <a:xfrm>
            <a:off x="3639312" y="1709928"/>
            <a:ext cx="2688336" cy="530352"/>
          </a:xfrm>
          <a:prstGeom prst="rect">
            <a:avLst/>
          </a:prstGeom>
          <a:noFill/>
          <a:ln/>
        </p:spPr>
        <p:txBody>
          <a:bodyPr wrap="square" lIns="0" tIns="0" rIns="0" bIns="0" rtlCol="0" anchor="ctr"/>
          <a:lstStyle/>
          <a:p>
            <a:pPr algn="ctr" indent="0" marL="0">
              <a:buNone/>
            </a:pPr>
            <a:r>
              <a:rPr lang="en-US" sz="1600" b="1" dirty="0">
                <a:solidFill>
                  <a:srgbClr val="FFC24B"/>
                </a:solidFill>
                <a:latin typeface="Palatino Linotype" pitchFamily="34" charset="0"/>
                <a:ea typeface="Palatino Linotype" pitchFamily="34" charset="-122"/>
                <a:cs typeface="Palatino Linotype" pitchFamily="34" charset="-120"/>
              </a:rPr>
              <a:t>Malades</a:t>
            </a:r>
            <a:endParaRPr lang="en-US" sz="1600" dirty="0"/>
          </a:p>
        </p:txBody>
      </p:sp>
      <p:sp>
        <p:nvSpPr>
          <p:cNvPr id="7" name="Text 5"/>
          <p:cNvSpPr/>
          <p:nvPr/>
        </p:nvSpPr>
        <p:spPr>
          <a:xfrm>
            <a:off x="6473952" y="1709928"/>
            <a:ext cx="2688336" cy="530352"/>
          </a:xfrm>
          <a:prstGeom prst="rect">
            <a:avLst/>
          </a:prstGeom>
          <a:noFill/>
          <a:ln/>
        </p:spPr>
        <p:txBody>
          <a:bodyPr wrap="square" lIns="0" tIns="0" rIns="0" bIns="0" rtlCol="0" anchor="ctr"/>
          <a:lstStyle/>
          <a:p>
            <a:pPr algn="ctr" indent="0" marL="0">
              <a:buNone/>
            </a:pPr>
            <a:r>
              <a:rPr lang="en-US" sz="1600" b="1" dirty="0">
                <a:solidFill>
                  <a:srgbClr val="FFC24B"/>
                </a:solidFill>
                <a:latin typeface="Palatino Linotype" pitchFamily="34" charset="0"/>
                <a:ea typeface="Palatino Linotype" pitchFamily="34" charset="-122"/>
                <a:cs typeface="Palatino Linotype" pitchFamily="34" charset="-120"/>
              </a:rPr>
              <a:t>Non malades</a:t>
            </a:r>
            <a:endParaRPr lang="en-US" sz="1600" dirty="0"/>
          </a:p>
        </p:txBody>
      </p:sp>
      <p:sp>
        <p:nvSpPr>
          <p:cNvPr id="8" name="Text 6"/>
          <p:cNvSpPr/>
          <p:nvPr/>
        </p:nvSpPr>
        <p:spPr>
          <a:xfrm>
            <a:off x="9308592" y="1709928"/>
            <a:ext cx="1956816" cy="530352"/>
          </a:xfrm>
          <a:prstGeom prst="rect">
            <a:avLst/>
          </a:prstGeom>
          <a:noFill/>
          <a:ln/>
        </p:spPr>
        <p:txBody>
          <a:bodyPr wrap="square" lIns="0" tIns="0" rIns="0" bIns="0" rtlCol="0" anchor="ctr"/>
          <a:lstStyle/>
          <a:p>
            <a:pPr algn="ctr" indent="0" marL="0">
              <a:buNone/>
            </a:pPr>
            <a:r>
              <a:rPr lang="en-US" sz="1600" b="1" dirty="0">
                <a:solidFill>
                  <a:srgbClr val="FFC24B"/>
                </a:solidFill>
                <a:latin typeface="Palatino Linotype" pitchFamily="34" charset="0"/>
                <a:ea typeface="Palatino Linotype" pitchFamily="34" charset="-122"/>
                <a:cs typeface="Palatino Linotype" pitchFamily="34" charset="-120"/>
              </a:rPr>
              <a:t>Total</a:t>
            </a:r>
            <a:endParaRPr lang="en-US" sz="1600" dirty="0"/>
          </a:p>
        </p:txBody>
      </p:sp>
      <p:sp>
        <p:nvSpPr>
          <p:cNvPr id="9" name="Shape 7"/>
          <p:cNvSpPr/>
          <p:nvPr/>
        </p:nvSpPr>
        <p:spPr>
          <a:xfrm>
            <a:off x="822960" y="2258568"/>
            <a:ext cx="10515600" cy="13716"/>
          </a:xfrm>
          <a:prstGeom prst="rect">
            <a:avLst/>
          </a:prstGeom>
          <a:solidFill>
            <a:srgbClr val="4B5068"/>
          </a:solidFill>
          <a:ln w="12700">
            <a:solidFill>
              <a:srgbClr val="C9C6BE"/>
            </a:solidFill>
            <a:prstDash val="solid"/>
          </a:ln>
        </p:spPr>
      </p:sp>
      <p:sp>
        <p:nvSpPr>
          <p:cNvPr id="10" name="Text 8"/>
          <p:cNvSpPr/>
          <p:nvPr/>
        </p:nvSpPr>
        <p:spPr>
          <a:xfrm>
            <a:off x="896112" y="2276856"/>
            <a:ext cx="2596896" cy="530352"/>
          </a:xfrm>
          <a:prstGeom prst="rect">
            <a:avLst/>
          </a:prstGeom>
          <a:noFill/>
          <a:ln/>
        </p:spPr>
        <p:txBody>
          <a:bodyPr wrap="square" lIns="0" tIns="0" rIns="0" bIns="0" rtlCol="0" anchor="ctr"/>
          <a:lstStyle/>
          <a:p>
            <a:pPr algn="l" indent="0" marL="0">
              <a:buNone/>
            </a:pPr>
            <a:r>
              <a:rPr lang="en-US" sz="1800" b="1" dirty="0">
                <a:solidFill>
                  <a:srgbClr val="FFFFFF"/>
                </a:solidFill>
                <a:latin typeface="Palatino Linotype" pitchFamily="34" charset="0"/>
                <a:ea typeface="Palatino Linotype" pitchFamily="34" charset="-122"/>
                <a:cs typeface="Palatino Linotype" pitchFamily="34" charset="-120"/>
              </a:rPr>
              <a:t>Positif</a:t>
            </a:r>
            <a:endParaRPr lang="en-US" sz="1800" dirty="0"/>
          </a:p>
        </p:txBody>
      </p:sp>
      <p:sp>
        <p:nvSpPr>
          <p:cNvPr id="11" name="Text 9"/>
          <p:cNvSpPr/>
          <p:nvPr/>
        </p:nvSpPr>
        <p:spPr>
          <a:xfrm>
            <a:off x="3639312" y="2276856"/>
            <a:ext cx="2688336" cy="530352"/>
          </a:xfrm>
          <a:prstGeom prst="rect">
            <a:avLst/>
          </a:prstGeom>
          <a:noFill/>
          <a:ln/>
        </p:spPr>
        <p:txBody>
          <a:bodyPr wrap="square" lIns="0" tIns="0" rIns="0" bIns="0" rtlCol="0" anchor="ctr"/>
          <a:lstStyle/>
          <a:p>
            <a:pPr algn="ctr" indent="0" marL="0">
              <a:buNone/>
            </a:pPr>
            <a:r>
              <a:rPr lang="en-US" sz="1800" dirty="0">
                <a:solidFill>
                  <a:srgbClr val="FFFFFF"/>
                </a:solidFill>
                <a:latin typeface="Palatino Linotype" pitchFamily="34" charset="0"/>
                <a:ea typeface="Palatino Linotype" pitchFamily="34" charset="-122"/>
                <a:cs typeface="Palatino Linotype" pitchFamily="34" charset="-120"/>
              </a:rPr>
              <a:t>a : vrais positifs</a:t>
            </a:r>
            <a:endParaRPr lang="en-US" sz="1800" dirty="0"/>
          </a:p>
        </p:txBody>
      </p:sp>
      <p:sp>
        <p:nvSpPr>
          <p:cNvPr id="12" name="Text 10"/>
          <p:cNvSpPr/>
          <p:nvPr/>
        </p:nvSpPr>
        <p:spPr>
          <a:xfrm>
            <a:off x="6473952" y="2276856"/>
            <a:ext cx="2688336" cy="530352"/>
          </a:xfrm>
          <a:prstGeom prst="rect">
            <a:avLst/>
          </a:prstGeom>
          <a:noFill/>
          <a:ln/>
        </p:spPr>
        <p:txBody>
          <a:bodyPr wrap="square" lIns="0" tIns="0" rIns="0" bIns="0" rtlCol="0" anchor="ctr"/>
          <a:lstStyle/>
          <a:p>
            <a:pPr algn="ctr" indent="0" marL="0">
              <a:buNone/>
            </a:pPr>
            <a:r>
              <a:rPr lang="en-US" sz="1800" dirty="0">
                <a:solidFill>
                  <a:srgbClr val="FFFFFF"/>
                </a:solidFill>
                <a:latin typeface="Palatino Linotype" pitchFamily="34" charset="0"/>
                <a:ea typeface="Palatino Linotype" pitchFamily="34" charset="-122"/>
                <a:cs typeface="Palatino Linotype" pitchFamily="34" charset="-120"/>
              </a:rPr>
              <a:t>b : faux positifs</a:t>
            </a:r>
            <a:endParaRPr lang="en-US" sz="1800" dirty="0"/>
          </a:p>
        </p:txBody>
      </p:sp>
      <p:sp>
        <p:nvSpPr>
          <p:cNvPr id="13" name="Text 11"/>
          <p:cNvSpPr/>
          <p:nvPr/>
        </p:nvSpPr>
        <p:spPr>
          <a:xfrm>
            <a:off x="9308592" y="2276856"/>
            <a:ext cx="1956816" cy="530352"/>
          </a:xfrm>
          <a:prstGeom prst="rect">
            <a:avLst/>
          </a:prstGeom>
          <a:noFill/>
          <a:ln/>
        </p:spPr>
        <p:txBody>
          <a:bodyPr wrap="square" lIns="0" tIns="0" rIns="0" bIns="0" rtlCol="0" anchor="ctr"/>
          <a:lstStyle/>
          <a:p>
            <a:pPr algn="ctr" indent="0" marL="0">
              <a:buNone/>
            </a:pPr>
            <a:r>
              <a:rPr lang="en-US" sz="1800" dirty="0">
                <a:solidFill>
                  <a:srgbClr val="FFFFFF"/>
                </a:solidFill>
                <a:latin typeface="Palatino Linotype" pitchFamily="34" charset="0"/>
                <a:ea typeface="Palatino Linotype" pitchFamily="34" charset="-122"/>
                <a:cs typeface="Palatino Linotype" pitchFamily="34" charset="-120"/>
              </a:rPr>
              <a:t>a + b</a:t>
            </a:r>
            <a:endParaRPr lang="en-US" sz="1800" dirty="0"/>
          </a:p>
        </p:txBody>
      </p:sp>
      <p:sp>
        <p:nvSpPr>
          <p:cNvPr id="14" name="Shape 12"/>
          <p:cNvSpPr/>
          <p:nvPr/>
        </p:nvSpPr>
        <p:spPr>
          <a:xfrm>
            <a:off x="822960" y="2825496"/>
            <a:ext cx="10515600" cy="13716"/>
          </a:xfrm>
          <a:prstGeom prst="rect">
            <a:avLst/>
          </a:prstGeom>
          <a:solidFill>
            <a:srgbClr val="4B5068"/>
          </a:solidFill>
          <a:ln w="12700">
            <a:solidFill>
              <a:srgbClr val="C9C6BE"/>
            </a:solidFill>
            <a:prstDash val="solid"/>
          </a:ln>
        </p:spPr>
      </p:sp>
      <p:sp>
        <p:nvSpPr>
          <p:cNvPr id="15" name="Text 13"/>
          <p:cNvSpPr/>
          <p:nvPr/>
        </p:nvSpPr>
        <p:spPr>
          <a:xfrm>
            <a:off x="896112" y="2843784"/>
            <a:ext cx="2596896" cy="530352"/>
          </a:xfrm>
          <a:prstGeom prst="rect">
            <a:avLst/>
          </a:prstGeom>
          <a:noFill/>
          <a:ln/>
        </p:spPr>
        <p:txBody>
          <a:bodyPr wrap="square" lIns="0" tIns="0" rIns="0" bIns="0" rtlCol="0" anchor="ctr"/>
          <a:lstStyle/>
          <a:p>
            <a:pPr algn="l" indent="0" marL="0">
              <a:buNone/>
            </a:pPr>
            <a:r>
              <a:rPr lang="en-US" sz="1800" b="1" dirty="0">
                <a:solidFill>
                  <a:srgbClr val="FFFFFF"/>
                </a:solidFill>
                <a:latin typeface="Palatino Linotype" pitchFamily="34" charset="0"/>
                <a:ea typeface="Palatino Linotype" pitchFamily="34" charset="-122"/>
                <a:cs typeface="Palatino Linotype" pitchFamily="34" charset="-120"/>
              </a:rPr>
              <a:t>Négatif</a:t>
            </a:r>
            <a:endParaRPr lang="en-US" sz="1800" dirty="0"/>
          </a:p>
        </p:txBody>
      </p:sp>
      <p:sp>
        <p:nvSpPr>
          <p:cNvPr id="16" name="Text 14"/>
          <p:cNvSpPr/>
          <p:nvPr/>
        </p:nvSpPr>
        <p:spPr>
          <a:xfrm>
            <a:off x="3639312" y="2843784"/>
            <a:ext cx="2688336" cy="530352"/>
          </a:xfrm>
          <a:prstGeom prst="rect">
            <a:avLst/>
          </a:prstGeom>
          <a:noFill/>
          <a:ln/>
        </p:spPr>
        <p:txBody>
          <a:bodyPr wrap="square" lIns="0" tIns="0" rIns="0" bIns="0" rtlCol="0" anchor="ctr"/>
          <a:lstStyle/>
          <a:p>
            <a:pPr algn="ctr" indent="0" marL="0">
              <a:buNone/>
            </a:pPr>
            <a:r>
              <a:rPr lang="en-US" sz="1800" dirty="0">
                <a:solidFill>
                  <a:srgbClr val="FFFFFF"/>
                </a:solidFill>
                <a:latin typeface="Palatino Linotype" pitchFamily="34" charset="0"/>
                <a:ea typeface="Palatino Linotype" pitchFamily="34" charset="-122"/>
                <a:cs typeface="Palatino Linotype" pitchFamily="34" charset="-120"/>
              </a:rPr>
              <a:t>c : faux négatifs</a:t>
            </a:r>
            <a:endParaRPr lang="en-US" sz="1800" dirty="0"/>
          </a:p>
        </p:txBody>
      </p:sp>
      <p:sp>
        <p:nvSpPr>
          <p:cNvPr id="17" name="Text 15"/>
          <p:cNvSpPr/>
          <p:nvPr/>
        </p:nvSpPr>
        <p:spPr>
          <a:xfrm>
            <a:off x="6473952" y="2843784"/>
            <a:ext cx="2688336" cy="530352"/>
          </a:xfrm>
          <a:prstGeom prst="rect">
            <a:avLst/>
          </a:prstGeom>
          <a:noFill/>
          <a:ln/>
        </p:spPr>
        <p:txBody>
          <a:bodyPr wrap="square" lIns="0" tIns="0" rIns="0" bIns="0" rtlCol="0" anchor="ctr"/>
          <a:lstStyle/>
          <a:p>
            <a:pPr algn="ctr" indent="0" marL="0">
              <a:buNone/>
            </a:pPr>
            <a:r>
              <a:rPr lang="en-US" sz="1800" dirty="0">
                <a:solidFill>
                  <a:srgbClr val="FFFFFF"/>
                </a:solidFill>
                <a:latin typeface="Palatino Linotype" pitchFamily="34" charset="0"/>
                <a:ea typeface="Palatino Linotype" pitchFamily="34" charset="-122"/>
                <a:cs typeface="Palatino Linotype" pitchFamily="34" charset="-120"/>
              </a:rPr>
              <a:t>d : vrais négatifs</a:t>
            </a:r>
            <a:endParaRPr lang="en-US" sz="1800" dirty="0"/>
          </a:p>
        </p:txBody>
      </p:sp>
      <p:sp>
        <p:nvSpPr>
          <p:cNvPr id="18" name="Text 16"/>
          <p:cNvSpPr/>
          <p:nvPr/>
        </p:nvSpPr>
        <p:spPr>
          <a:xfrm>
            <a:off x="9308592" y="2843784"/>
            <a:ext cx="1956816" cy="530352"/>
          </a:xfrm>
          <a:prstGeom prst="rect">
            <a:avLst/>
          </a:prstGeom>
          <a:noFill/>
          <a:ln/>
        </p:spPr>
        <p:txBody>
          <a:bodyPr wrap="square" lIns="0" tIns="0" rIns="0" bIns="0" rtlCol="0" anchor="ctr"/>
          <a:lstStyle/>
          <a:p>
            <a:pPr algn="ctr" indent="0" marL="0">
              <a:buNone/>
            </a:pPr>
            <a:r>
              <a:rPr lang="en-US" sz="1800" dirty="0">
                <a:solidFill>
                  <a:srgbClr val="FFFFFF"/>
                </a:solidFill>
                <a:latin typeface="Palatino Linotype" pitchFamily="34" charset="0"/>
                <a:ea typeface="Palatino Linotype" pitchFamily="34" charset="-122"/>
                <a:cs typeface="Palatino Linotype" pitchFamily="34" charset="-120"/>
              </a:rPr>
              <a:t>c + d</a:t>
            </a:r>
            <a:endParaRPr lang="en-US" sz="1800" dirty="0"/>
          </a:p>
        </p:txBody>
      </p:sp>
      <p:sp>
        <p:nvSpPr>
          <p:cNvPr id="19" name="Shape 17"/>
          <p:cNvSpPr/>
          <p:nvPr/>
        </p:nvSpPr>
        <p:spPr>
          <a:xfrm>
            <a:off x="822960" y="3392424"/>
            <a:ext cx="10515600" cy="13716"/>
          </a:xfrm>
          <a:prstGeom prst="rect">
            <a:avLst/>
          </a:prstGeom>
          <a:solidFill>
            <a:srgbClr val="4B5068"/>
          </a:solidFill>
          <a:ln w="12700">
            <a:solidFill>
              <a:srgbClr val="C9C6BE"/>
            </a:solidFill>
            <a:prstDash val="solid"/>
          </a:ln>
        </p:spPr>
      </p:sp>
      <p:sp>
        <p:nvSpPr>
          <p:cNvPr id="20" name="Text 18"/>
          <p:cNvSpPr/>
          <p:nvPr/>
        </p:nvSpPr>
        <p:spPr>
          <a:xfrm>
            <a:off x="896112" y="3410712"/>
            <a:ext cx="2596896" cy="530352"/>
          </a:xfrm>
          <a:prstGeom prst="rect">
            <a:avLst/>
          </a:prstGeom>
          <a:noFill/>
          <a:ln/>
        </p:spPr>
        <p:txBody>
          <a:bodyPr wrap="square" lIns="0" tIns="0" rIns="0" bIns="0" rtlCol="0" anchor="ctr"/>
          <a:lstStyle/>
          <a:p>
            <a:pPr algn="l" indent="0" marL="0">
              <a:buNone/>
            </a:pPr>
            <a:r>
              <a:rPr lang="en-US" sz="1800" b="1" dirty="0">
                <a:solidFill>
                  <a:srgbClr val="FFFFFF"/>
                </a:solidFill>
                <a:latin typeface="Palatino Linotype" pitchFamily="34" charset="0"/>
                <a:ea typeface="Palatino Linotype" pitchFamily="34" charset="-122"/>
                <a:cs typeface="Palatino Linotype" pitchFamily="34" charset="-120"/>
              </a:rPr>
              <a:t>Total</a:t>
            </a:r>
            <a:endParaRPr lang="en-US" sz="1800" dirty="0"/>
          </a:p>
        </p:txBody>
      </p:sp>
      <p:sp>
        <p:nvSpPr>
          <p:cNvPr id="21" name="Text 19"/>
          <p:cNvSpPr/>
          <p:nvPr/>
        </p:nvSpPr>
        <p:spPr>
          <a:xfrm>
            <a:off x="3639312" y="3410712"/>
            <a:ext cx="2688336" cy="530352"/>
          </a:xfrm>
          <a:prstGeom prst="rect">
            <a:avLst/>
          </a:prstGeom>
          <a:noFill/>
          <a:ln/>
        </p:spPr>
        <p:txBody>
          <a:bodyPr wrap="square" lIns="0" tIns="0" rIns="0" bIns="0" rtlCol="0" anchor="ctr"/>
          <a:lstStyle/>
          <a:p>
            <a:pPr algn="ctr" indent="0" marL="0">
              <a:buNone/>
            </a:pPr>
            <a:r>
              <a:rPr lang="en-US" sz="1800" dirty="0">
                <a:solidFill>
                  <a:srgbClr val="FFFFFF"/>
                </a:solidFill>
                <a:latin typeface="Palatino Linotype" pitchFamily="34" charset="0"/>
                <a:ea typeface="Palatino Linotype" pitchFamily="34" charset="-122"/>
                <a:cs typeface="Palatino Linotype" pitchFamily="34" charset="-120"/>
              </a:rPr>
              <a:t>a + c</a:t>
            </a:r>
            <a:endParaRPr lang="en-US" sz="1800" dirty="0"/>
          </a:p>
        </p:txBody>
      </p:sp>
      <p:sp>
        <p:nvSpPr>
          <p:cNvPr id="22" name="Text 20"/>
          <p:cNvSpPr/>
          <p:nvPr/>
        </p:nvSpPr>
        <p:spPr>
          <a:xfrm>
            <a:off x="6473952" y="3410712"/>
            <a:ext cx="2688336" cy="530352"/>
          </a:xfrm>
          <a:prstGeom prst="rect">
            <a:avLst/>
          </a:prstGeom>
          <a:noFill/>
          <a:ln/>
        </p:spPr>
        <p:txBody>
          <a:bodyPr wrap="square" lIns="0" tIns="0" rIns="0" bIns="0" rtlCol="0" anchor="ctr"/>
          <a:lstStyle/>
          <a:p>
            <a:pPr algn="ctr" indent="0" marL="0">
              <a:buNone/>
            </a:pPr>
            <a:r>
              <a:rPr lang="en-US" sz="1800" dirty="0">
                <a:solidFill>
                  <a:srgbClr val="FFFFFF"/>
                </a:solidFill>
                <a:latin typeface="Palatino Linotype" pitchFamily="34" charset="0"/>
                <a:ea typeface="Palatino Linotype" pitchFamily="34" charset="-122"/>
                <a:cs typeface="Palatino Linotype" pitchFamily="34" charset="-120"/>
              </a:rPr>
              <a:t>b + d</a:t>
            </a:r>
            <a:endParaRPr lang="en-US" sz="1800" dirty="0"/>
          </a:p>
        </p:txBody>
      </p:sp>
      <p:sp>
        <p:nvSpPr>
          <p:cNvPr id="23" name="Text 21"/>
          <p:cNvSpPr/>
          <p:nvPr/>
        </p:nvSpPr>
        <p:spPr>
          <a:xfrm>
            <a:off x="9308592" y="3410712"/>
            <a:ext cx="1956816" cy="530352"/>
          </a:xfrm>
          <a:prstGeom prst="rect">
            <a:avLst/>
          </a:prstGeom>
          <a:noFill/>
          <a:ln/>
        </p:spPr>
        <p:txBody>
          <a:bodyPr wrap="square" lIns="0" tIns="0" rIns="0" bIns="0" rtlCol="0" anchor="ctr"/>
          <a:lstStyle/>
          <a:p>
            <a:pPr algn="ctr" indent="0" marL="0">
              <a:buNone/>
            </a:pPr>
            <a:r>
              <a:rPr lang="en-US" sz="1800" dirty="0">
                <a:solidFill>
                  <a:srgbClr val="FFFFFF"/>
                </a:solidFill>
                <a:latin typeface="Palatino Linotype" pitchFamily="34" charset="0"/>
                <a:ea typeface="Palatino Linotype" pitchFamily="34" charset="-122"/>
                <a:cs typeface="Palatino Linotype" pitchFamily="34" charset="-120"/>
              </a:rPr>
              <a:t>N</a:t>
            </a:r>
            <a:endParaRPr lang="en-US" sz="1800" dirty="0"/>
          </a:p>
        </p:txBody>
      </p:sp>
      <p:sp>
        <p:nvSpPr>
          <p:cNvPr id="24" name="Shape 22"/>
          <p:cNvSpPr/>
          <p:nvPr/>
        </p:nvSpPr>
        <p:spPr>
          <a:xfrm>
            <a:off x="594360" y="4343400"/>
            <a:ext cx="5349240" cy="1417320"/>
          </a:xfrm>
          <a:prstGeom prst="roundRect">
            <a:avLst>
              <a:gd name="adj" fmla="val 5806"/>
            </a:avLst>
          </a:prstGeom>
          <a:solidFill>
            <a:srgbClr val="272A38"/>
          </a:solidFill>
          <a:ln w="12700">
            <a:solidFill>
              <a:srgbClr val="272A38"/>
            </a:solidFill>
            <a:prstDash val="solid"/>
          </a:ln>
        </p:spPr>
      </p:sp>
      <p:sp>
        <p:nvSpPr>
          <p:cNvPr id="25" name="Text 23"/>
          <p:cNvSpPr/>
          <p:nvPr/>
        </p:nvSpPr>
        <p:spPr>
          <a:xfrm>
            <a:off x="868680" y="4343400"/>
            <a:ext cx="4846320" cy="1417320"/>
          </a:xfrm>
          <a:prstGeom prst="rect">
            <a:avLst/>
          </a:prstGeom>
          <a:noFill/>
          <a:ln/>
        </p:spPr>
        <p:txBody>
          <a:bodyPr wrap="square" lIns="0" tIns="0" rIns="0" bIns="0" rtlCol="0" anchor="ctr"/>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Par colonnes : comment le test se comporte. Cela intéresse celui qui choisit le test.</a:t>
            </a:r>
            <a:endParaRPr lang="en-US" sz="1800" dirty="0"/>
          </a:p>
        </p:txBody>
      </p:sp>
      <p:sp>
        <p:nvSpPr>
          <p:cNvPr id="26" name="Shape 24"/>
          <p:cNvSpPr/>
          <p:nvPr/>
        </p:nvSpPr>
        <p:spPr>
          <a:xfrm>
            <a:off x="6217920" y="4343400"/>
            <a:ext cx="5349240" cy="1417320"/>
          </a:xfrm>
          <a:prstGeom prst="roundRect">
            <a:avLst>
              <a:gd name="adj" fmla="val 5806"/>
            </a:avLst>
          </a:prstGeom>
          <a:solidFill>
            <a:srgbClr val="272A38"/>
          </a:solidFill>
          <a:ln w="12700">
            <a:solidFill>
              <a:srgbClr val="272A38"/>
            </a:solidFill>
            <a:prstDash val="solid"/>
          </a:ln>
        </p:spPr>
      </p:sp>
      <p:sp>
        <p:nvSpPr>
          <p:cNvPr id="27" name="Text 25"/>
          <p:cNvSpPr/>
          <p:nvPr/>
        </p:nvSpPr>
        <p:spPr>
          <a:xfrm>
            <a:off x="6492240" y="4343400"/>
            <a:ext cx="4846320" cy="1417320"/>
          </a:xfrm>
          <a:prstGeom prst="rect">
            <a:avLst/>
          </a:prstGeom>
          <a:noFill/>
          <a:ln/>
        </p:spPr>
        <p:txBody>
          <a:bodyPr wrap="square" lIns="0" tIns="0" rIns="0" bIns="0" rtlCol="0" anchor="ctr"/>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Par lignes : ce que signifie un résultat. Cela intéresse le patient, la feuille à la main.</a:t>
            </a:r>
            <a:endParaRPr lang="en-US" sz="1800" dirty="0"/>
          </a:p>
        </p:txBody>
      </p:sp>
      <p:sp>
        <p:nvSpPr>
          <p:cNvPr id="28" name="Text 2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L’état réel est établi par le test de référence, par exemple la coloscopie avec biopsie.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LES PROPRIÉTÉS DU TEST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La sensibilité et la spécificité</a:t>
            </a:r>
            <a:endParaRPr lang="en-US" sz="3200" dirty="0"/>
          </a:p>
        </p:txBody>
      </p:sp>
      <p:sp>
        <p:nvSpPr>
          <p:cNvPr id="4" name="Shape 2"/>
          <p:cNvSpPr/>
          <p:nvPr/>
        </p:nvSpPr>
        <p:spPr>
          <a:xfrm>
            <a:off x="594360" y="1600200"/>
            <a:ext cx="5349240" cy="2331720"/>
          </a:xfrm>
          <a:prstGeom prst="roundRect">
            <a:avLst>
              <a:gd name="adj" fmla="val 3529"/>
            </a:avLst>
          </a:prstGeom>
          <a:solidFill>
            <a:srgbClr val="ECEAE4"/>
          </a:solidFill>
          <a:ln w="12700">
            <a:solidFill>
              <a:srgbClr val="ECEAE4"/>
            </a:solidFill>
            <a:prstDash val="solid"/>
          </a:ln>
        </p:spPr>
      </p:sp>
      <p:sp>
        <p:nvSpPr>
          <p:cNvPr id="5" name="Text 3"/>
          <p:cNvSpPr/>
          <p:nvPr/>
        </p:nvSpPr>
        <p:spPr>
          <a:xfrm>
            <a:off x="868680" y="1691640"/>
            <a:ext cx="4846320" cy="594360"/>
          </a:xfrm>
          <a:prstGeom prst="rect">
            <a:avLst/>
          </a:prstGeom>
          <a:noFill/>
          <a:ln/>
        </p:spPr>
        <p:txBody>
          <a:bodyPr wrap="square" lIns="0" tIns="0" rIns="0" bIns="0" rtlCol="0" anchor="t"/>
          <a:lstStyle/>
          <a:p>
            <a:pPr indent="0" marL="0">
              <a:buNone/>
            </a:pPr>
            <a:r>
              <a:rPr lang="en-US" sz="2600" b="1" dirty="0">
                <a:solidFill>
                  <a:srgbClr val="0E7C6B"/>
                </a:solidFill>
                <a:latin typeface="Palatino Linotype" pitchFamily="34" charset="0"/>
                <a:ea typeface="Palatino Linotype" pitchFamily="34" charset="-122"/>
                <a:cs typeface="Palatino Linotype" pitchFamily="34" charset="-120"/>
              </a:rPr>
              <a:t>Se = a / (a + c)</a:t>
            </a:r>
            <a:endParaRPr lang="en-US" sz="2600" dirty="0"/>
          </a:p>
        </p:txBody>
      </p:sp>
      <p:sp>
        <p:nvSpPr>
          <p:cNvPr id="6" name="Text 4"/>
          <p:cNvSpPr/>
          <p:nvPr/>
        </p:nvSpPr>
        <p:spPr>
          <a:xfrm>
            <a:off x="868680" y="2331720"/>
            <a:ext cx="4846320" cy="64008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parmi tous les malades, combien sont trouvés</a:t>
            </a:r>
            <a:endParaRPr lang="en-US" sz="1800" dirty="0"/>
          </a:p>
        </p:txBody>
      </p:sp>
      <p:sp>
        <p:nvSpPr>
          <p:cNvPr id="7" name="Text 5"/>
          <p:cNvSpPr/>
          <p:nvPr/>
        </p:nvSpPr>
        <p:spPr>
          <a:xfrm>
            <a:off x="868680" y="3017520"/>
            <a:ext cx="4846320" cy="822960"/>
          </a:xfrm>
          <a:prstGeom prst="rect">
            <a:avLst/>
          </a:prstGeom>
          <a:noFill/>
          <a:ln/>
        </p:spPr>
        <p:txBody>
          <a:bodyPr wrap="square" lIns="0" tIns="0" rIns="0" bIns="0" rtlCol="0" anchor="t"/>
          <a:lstStyle/>
          <a:p>
            <a:pPr indent="0" marL="0">
              <a:buNone/>
            </a:pPr>
            <a:r>
              <a:rPr lang="en-US" sz="1600" i="1" dirty="0">
                <a:solidFill>
                  <a:srgbClr val="585A64"/>
                </a:solidFill>
                <a:latin typeface="Palatino Linotype" pitchFamily="34" charset="0"/>
                <a:ea typeface="Palatino Linotype" pitchFamily="34" charset="-122"/>
                <a:cs typeface="Palatino Linotype" pitchFamily="34" charset="-120"/>
              </a:rPr>
              <a:t>un faux négatif : une personne rassurée à tort</a:t>
            </a:r>
            <a:endParaRPr lang="en-US" sz="1600" dirty="0"/>
          </a:p>
        </p:txBody>
      </p:sp>
      <p:sp>
        <p:nvSpPr>
          <p:cNvPr id="8" name="Shape 6"/>
          <p:cNvSpPr/>
          <p:nvPr/>
        </p:nvSpPr>
        <p:spPr>
          <a:xfrm>
            <a:off x="6217920" y="1600200"/>
            <a:ext cx="5349240" cy="2331720"/>
          </a:xfrm>
          <a:prstGeom prst="roundRect">
            <a:avLst>
              <a:gd name="adj" fmla="val 3529"/>
            </a:avLst>
          </a:prstGeom>
          <a:solidFill>
            <a:srgbClr val="ECEAE4"/>
          </a:solidFill>
          <a:ln w="12700">
            <a:solidFill>
              <a:srgbClr val="ECEAE4"/>
            </a:solidFill>
            <a:prstDash val="solid"/>
          </a:ln>
        </p:spPr>
      </p:sp>
      <p:sp>
        <p:nvSpPr>
          <p:cNvPr id="9" name="Text 7"/>
          <p:cNvSpPr/>
          <p:nvPr/>
        </p:nvSpPr>
        <p:spPr>
          <a:xfrm>
            <a:off x="6492240" y="1691640"/>
            <a:ext cx="4846320" cy="594360"/>
          </a:xfrm>
          <a:prstGeom prst="rect">
            <a:avLst/>
          </a:prstGeom>
          <a:noFill/>
          <a:ln/>
        </p:spPr>
        <p:txBody>
          <a:bodyPr wrap="square" lIns="0" tIns="0" rIns="0" bIns="0" rtlCol="0" anchor="t"/>
          <a:lstStyle/>
          <a:p>
            <a:pPr indent="0" marL="0">
              <a:buNone/>
            </a:pPr>
            <a:r>
              <a:rPr lang="en-US" sz="2600" b="1" dirty="0">
                <a:solidFill>
                  <a:srgbClr val="4A2D8C"/>
                </a:solidFill>
                <a:latin typeface="Palatino Linotype" pitchFamily="34" charset="0"/>
                <a:ea typeface="Palatino Linotype" pitchFamily="34" charset="-122"/>
                <a:cs typeface="Palatino Linotype" pitchFamily="34" charset="-120"/>
              </a:rPr>
              <a:t>Sp = d / (b + d)</a:t>
            </a:r>
            <a:endParaRPr lang="en-US" sz="2600" dirty="0"/>
          </a:p>
        </p:txBody>
      </p:sp>
      <p:sp>
        <p:nvSpPr>
          <p:cNvPr id="10" name="Text 8"/>
          <p:cNvSpPr/>
          <p:nvPr/>
        </p:nvSpPr>
        <p:spPr>
          <a:xfrm>
            <a:off x="6492240" y="2331720"/>
            <a:ext cx="4846320" cy="64008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parmi les bien portants, combien sont laissés tranquilles</a:t>
            </a:r>
            <a:endParaRPr lang="en-US" sz="1800" dirty="0"/>
          </a:p>
        </p:txBody>
      </p:sp>
      <p:sp>
        <p:nvSpPr>
          <p:cNvPr id="11" name="Text 9"/>
          <p:cNvSpPr/>
          <p:nvPr/>
        </p:nvSpPr>
        <p:spPr>
          <a:xfrm>
            <a:off x="6492240" y="3017520"/>
            <a:ext cx="4846320" cy="822960"/>
          </a:xfrm>
          <a:prstGeom prst="rect">
            <a:avLst/>
          </a:prstGeom>
          <a:noFill/>
          <a:ln/>
        </p:spPr>
        <p:txBody>
          <a:bodyPr wrap="square" lIns="0" tIns="0" rIns="0" bIns="0" rtlCol="0" anchor="t"/>
          <a:lstStyle/>
          <a:p>
            <a:pPr indent="0" marL="0">
              <a:buNone/>
            </a:pPr>
            <a:r>
              <a:rPr lang="en-US" sz="1600" i="1" dirty="0">
                <a:solidFill>
                  <a:srgbClr val="585A64"/>
                </a:solidFill>
                <a:latin typeface="Palatino Linotype" pitchFamily="34" charset="0"/>
                <a:ea typeface="Palatino Linotype" pitchFamily="34" charset="-122"/>
                <a:cs typeface="Palatino Linotype" pitchFamily="34" charset="-120"/>
              </a:rPr>
              <a:t>un faux positif : de l’anxiété et un examen invasif</a:t>
            </a:r>
            <a:endParaRPr lang="en-US" sz="1600" dirty="0"/>
          </a:p>
        </p:txBody>
      </p:sp>
      <p:sp>
        <p:nvSpPr>
          <p:cNvPr id="12" name="Text 10"/>
          <p:cNvSpPr/>
          <p:nvPr/>
        </p:nvSpPr>
        <p:spPr>
          <a:xfrm>
            <a:off x="594360" y="4114800"/>
            <a:ext cx="10972800" cy="6858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Seuil abaissé : plus de malades trouvés, plus de fausses alertes ; seuil élevé : l’inverse.</a:t>
            </a:r>
            <a:endParaRPr lang="en-US" sz="1800" dirty="0"/>
          </a:p>
        </p:txBody>
      </p:sp>
      <p:sp>
        <p:nvSpPr>
          <p:cNvPr id="13" name="Shape 11"/>
          <p:cNvSpPr/>
          <p:nvPr/>
        </p:nvSpPr>
        <p:spPr>
          <a:xfrm>
            <a:off x="594360" y="4892040"/>
            <a:ext cx="10972800" cy="1005840"/>
          </a:xfrm>
          <a:prstGeom prst="roundRect">
            <a:avLst>
              <a:gd name="adj" fmla="val 8182"/>
            </a:avLst>
          </a:prstGeom>
          <a:solidFill>
            <a:srgbClr val="11121A"/>
          </a:solidFill>
          <a:ln w="12700">
            <a:solidFill>
              <a:srgbClr val="11121A"/>
            </a:solidFill>
            <a:prstDash val="solid"/>
          </a:ln>
        </p:spPr>
      </p:sp>
      <p:sp>
        <p:nvSpPr>
          <p:cNvPr id="14" name="Text 12"/>
          <p:cNvSpPr/>
          <p:nvPr/>
        </p:nvSpPr>
        <p:spPr>
          <a:xfrm>
            <a:off x="868680" y="4892040"/>
            <a:ext cx="10424160" cy="100584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Les moyens mnémotechniques (« sensible et négatif exclut, spécifique et positif confirme ») : avec prudence, les valeurs ne sont pas fixes.</a:t>
            </a:r>
            <a:endParaRPr lang="en-US" sz="1700" dirty="0"/>
          </a:p>
        </p:txBody>
      </p:sp>
      <p:sp>
        <p:nvSpPr>
          <p:cNvPr id="15" name="Text 1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Sources : OMS Europe, 2020 ; Trevethan, 2017.</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QUE SIGNIFIE LE RÉSULTAT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Les valeurs prédictives</a:t>
            </a:r>
            <a:endParaRPr lang="en-US" sz="3200" dirty="0"/>
          </a:p>
        </p:txBody>
      </p:sp>
      <p:sp>
        <p:nvSpPr>
          <p:cNvPr id="4" name="Shape 2"/>
          <p:cNvSpPr/>
          <p:nvPr/>
        </p:nvSpPr>
        <p:spPr>
          <a:xfrm>
            <a:off x="594360" y="1645920"/>
            <a:ext cx="5349240" cy="2377440"/>
          </a:xfrm>
          <a:prstGeom prst="roundRect">
            <a:avLst>
              <a:gd name="adj" fmla="val 3462"/>
            </a:avLst>
          </a:prstGeom>
          <a:solidFill>
            <a:srgbClr val="1D1F2B"/>
          </a:solidFill>
          <a:ln w="12700">
            <a:solidFill>
              <a:srgbClr val="1D1F2B"/>
            </a:solidFill>
            <a:prstDash val="solid"/>
          </a:ln>
        </p:spPr>
      </p:sp>
      <p:sp>
        <p:nvSpPr>
          <p:cNvPr id="5" name="Text 3"/>
          <p:cNvSpPr/>
          <p:nvPr/>
        </p:nvSpPr>
        <p:spPr>
          <a:xfrm>
            <a:off x="868680" y="1783080"/>
            <a:ext cx="4846320" cy="640080"/>
          </a:xfrm>
          <a:prstGeom prst="rect">
            <a:avLst/>
          </a:prstGeom>
          <a:noFill/>
          <a:ln/>
        </p:spPr>
        <p:txBody>
          <a:bodyPr wrap="square" lIns="0" tIns="0" rIns="0" bIns="0" rtlCol="0" anchor="t"/>
          <a:lstStyle/>
          <a:p>
            <a:pPr indent="0" marL="0">
              <a:buNone/>
            </a:pPr>
            <a:r>
              <a:rPr lang="en-US" sz="2800" b="1" dirty="0">
                <a:solidFill>
                  <a:srgbClr val="FF4757"/>
                </a:solidFill>
                <a:latin typeface="Palatino Linotype" pitchFamily="34" charset="0"/>
                <a:ea typeface="Palatino Linotype" pitchFamily="34" charset="-122"/>
                <a:cs typeface="Palatino Linotype" pitchFamily="34" charset="-120"/>
              </a:rPr>
              <a:t>VPP = a / (a + b)</a:t>
            </a:r>
            <a:endParaRPr lang="en-US" sz="2800" dirty="0"/>
          </a:p>
        </p:txBody>
      </p:sp>
      <p:sp>
        <p:nvSpPr>
          <p:cNvPr id="6" name="Text 4"/>
          <p:cNvSpPr/>
          <p:nvPr/>
        </p:nvSpPr>
        <p:spPr>
          <a:xfrm>
            <a:off x="868680" y="2560320"/>
            <a:ext cx="4846320" cy="128016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parmi les personnes au test positif, combien sont malades : la question de M. Vasile</a:t>
            </a:r>
            <a:endParaRPr lang="en-US" sz="1900" dirty="0"/>
          </a:p>
        </p:txBody>
      </p:sp>
      <p:sp>
        <p:nvSpPr>
          <p:cNvPr id="7" name="Shape 5"/>
          <p:cNvSpPr/>
          <p:nvPr/>
        </p:nvSpPr>
        <p:spPr>
          <a:xfrm>
            <a:off x="6217920" y="1645920"/>
            <a:ext cx="5349240" cy="2377440"/>
          </a:xfrm>
          <a:prstGeom prst="roundRect">
            <a:avLst>
              <a:gd name="adj" fmla="val 3462"/>
            </a:avLst>
          </a:prstGeom>
          <a:solidFill>
            <a:srgbClr val="1D1F2B"/>
          </a:solidFill>
          <a:ln w="12700">
            <a:solidFill>
              <a:srgbClr val="1D1F2B"/>
            </a:solidFill>
            <a:prstDash val="solid"/>
          </a:ln>
        </p:spPr>
      </p:sp>
      <p:sp>
        <p:nvSpPr>
          <p:cNvPr id="8" name="Text 6"/>
          <p:cNvSpPr/>
          <p:nvPr/>
        </p:nvSpPr>
        <p:spPr>
          <a:xfrm>
            <a:off x="6492240" y="1783080"/>
            <a:ext cx="4846320" cy="640080"/>
          </a:xfrm>
          <a:prstGeom prst="rect">
            <a:avLst/>
          </a:prstGeom>
          <a:noFill/>
          <a:ln/>
        </p:spPr>
        <p:txBody>
          <a:bodyPr wrap="square" lIns="0" tIns="0" rIns="0" bIns="0" rtlCol="0" anchor="t"/>
          <a:lstStyle/>
          <a:p>
            <a:pPr indent="0" marL="0">
              <a:buNone/>
            </a:pPr>
            <a:r>
              <a:rPr lang="en-US" sz="2800" b="1" dirty="0">
                <a:solidFill>
                  <a:srgbClr val="27D3BE"/>
                </a:solidFill>
                <a:latin typeface="Palatino Linotype" pitchFamily="34" charset="0"/>
                <a:ea typeface="Palatino Linotype" pitchFamily="34" charset="-122"/>
                <a:cs typeface="Palatino Linotype" pitchFamily="34" charset="-120"/>
              </a:rPr>
              <a:t>VPN = d / (c + d)</a:t>
            </a:r>
            <a:endParaRPr lang="en-US" sz="2800" dirty="0"/>
          </a:p>
        </p:txBody>
      </p:sp>
      <p:sp>
        <p:nvSpPr>
          <p:cNvPr id="9" name="Text 7"/>
          <p:cNvSpPr/>
          <p:nvPr/>
        </p:nvSpPr>
        <p:spPr>
          <a:xfrm>
            <a:off x="6492240" y="2560320"/>
            <a:ext cx="4846320" cy="128016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parmi les personnes au test négatif, combien sont en bonne santé</a:t>
            </a:r>
            <a:endParaRPr lang="en-US" sz="1900" dirty="0"/>
          </a:p>
        </p:txBody>
      </p:sp>
      <p:sp>
        <p:nvSpPr>
          <p:cNvPr id="10" name="Shape 8"/>
          <p:cNvSpPr/>
          <p:nvPr/>
        </p:nvSpPr>
        <p:spPr>
          <a:xfrm>
            <a:off x="594360" y="4297680"/>
            <a:ext cx="10972800" cy="1280160"/>
          </a:xfrm>
          <a:prstGeom prst="roundRect">
            <a:avLst>
              <a:gd name="adj" fmla="val 6429"/>
            </a:avLst>
          </a:prstGeom>
          <a:solidFill>
            <a:srgbClr val="272A38"/>
          </a:solidFill>
          <a:ln w="12700">
            <a:solidFill>
              <a:srgbClr val="272A38"/>
            </a:solidFill>
            <a:prstDash val="solid"/>
          </a:ln>
        </p:spPr>
      </p:sp>
      <p:sp>
        <p:nvSpPr>
          <p:cNvPr id="11" name="Text 9"/>
          <p:cNvSpPr/>
          <p:nvPr/>
        </p:nvSpPr>
        <p:spPr>
          <a:xfrm>
            <a:off x="868680" y="4297680"/>
            <a:ext cx="10424160" cy="1280160"/>
          </a:xfrm>
          <a:prstGeom prst="rect">
            <a:avLst/>
          </a:prstGeom>
          <a:noFill/>
          <a:ln/>
        </p:spPr>
        <p:txBody>
          <a:bodyPr wrap="square" lIns="0" tIns="0" rIns="0" bIns="0" rtlCol="0" anchor="ctr"/>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À la différence de la sensibilité et de la spécificité, les valeurs prédictives dépendent de la prévalence de la maladie dans la population testée.</a:t>
            </a:r>
            <a:endParaRPr lang="en-US" sz="2000" dirty="0"/>
          </a:p>
        </p:txBody>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OMS Europe, 2020.</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L’EXEMPLE TRAITÉ · VALEURS HYPOTHÉTIQUES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10 000 personnes testées</a:t>
            </a:r>
            <a:endParaRPr lang="en-US" sz="3400" dirty="0"/>
          </a:p>
        </p:txBody>
      </p:sp>
      <p:sp>
        <p:nvSpPr>
          <p:cNvPr id="4" name="Shape 2"/>
          <p:cNvSpPr/>
          <p:nvPr/>
        </p:nvSpPr>
        <p:spPr>
          <a:xfrm>
            <a:off x="594360" y="1691640"/>
            <a:ext cx="10972800" cy="1097280"/>
          </a:xfrm>
          <a:prstGeom prst="roundRect">
            <a:avLst>
              <a:gd name="adj" fmla="val 7500"/>
            </a:avLst>
          </a:prstGeom>
          <a:solidFill>
            <a:srgbClr val="ECEAE4"/>
          </a:solidFill>
          <a:ln w="12700">
            <a:solidFill>
              <a:srgbClr val="ECEAE4"/>
            </a:solidFill>
            <a:prstDash val="solid"/>
          </a:ln>
        </p:spPr>
      </p:sp>
      <p:sp>
        <p:nvSpPr>
          <p:cNvPr id="5" name="Shape 3"/>
          <p:cNvSpPr/>
          <p:nvPr/>
        </p:nvSpPr>
        <p:spPr>
          <a:xfrm>
            <a:off x="868680" y="2029968"/>
            <a:ext cx="420624" cy="420624"/>
          </a:xfrm>
          <a:prstGeom prst="ellipse">
            <a:avLst/>
          </a:prstGeom>
          <a:solidFill>
            <a:srgbClr val="FF4757"/>
          </a:solidFill>
          <a:ln/>
        </p:spPr>
      </p:sp>
      <p:sp>
        <p:nvSpPr>
          <p:cNvPr id="6" name="Text 4"/>
          <p:cNvSpPr/>
          <p:nvPr/>
        </p:nvSpPr>
        <p:spPr>
          <a:xfrm>
            <a:off x="868680" y="202996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91640"/>
            <a:ext cx="9829800" cy="1097280"/>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Malades et bien portants : 1 % de 10 000, soit 100 malades et 9 900 personnes en bonne santé.</a:t>
            </a:r>
            <a:endParaRPr lang="en-US" sz="2000" dirty="0"/>
          </a:p>
        </p:txBody>
      </p:sp>
      <p:sp>
        <p:nvSpPr>
          <p:cNvPr id="8" name="Shape 6"/>
          <p:cNvSpPr/>
          <p:nvPr/>
        </p:nvSpPr>
        <p:spPr>
          <a:xfrm>
            <a:off x="594360" y="2926080"/>
            <a:ext cx="10972800" cy="1097280"/>
          </a:xfrm>
          <a:prstGeom prst="roundRect">
            <a:avLst>
              <a:gd name="adj" fmla="val 7500"/>
            </a:avLst>
          </a:prstGeom>
          <a:solidFill>
            <a:srgbClr val="ECEAE4"/>
          </a:solidFill>
          <a:ln w="12700">
            <a:solidFill>
              <a:srgbClr val="ECEAE4"/>
            </a:solidFill>
            <a:prstDash val="solid"/>
          </a:ln>
        </p:spPr>
      </p:sp>
      <p:sp>
        <p:nvSpPr>
          <p:cNvPr id="9" name="Shape 7"/>
          <p:cNvSpPr/>
          <p:nvPr/>
        </p:nvSpPr>
        <p:spPr>
          <a:xfrm>
            <a:off x="868680" y="3264408"/>
            <a:ext cx="420624" cy="420624"/>
          </a:xfrm>
          <a:prstGeom prst="ellipse">
            <a:avLst/>
          </a:prstGeom>
          <a:solidFill>
            <a:srgbClr val="FF4757"/>
          </a:solidFill>
          <a:ln/>
        </p:spPr>
      </p:sp>
      <p:sp>
        <p:nvSpPr>
          <p:cNvPr id="10" name="Text 8"/>
          <p:cNvSpPr/>
          <p:nvPr/>
        </p:nvSpPr>
        <p:spPr>
          <a:xfrm>
            <a:off x="868680" y="326440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926080"/>
            <a:ext cx="9829800" cy="1097280"/>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Les malades : le test en trouve 90 %, soit 90 vrais positifs ; 10 malades sont manqués.</a:t>
            </a:r>
            <a:endParaRPr lang="en-US" sz="2000" dirty="0"/>
          </a:p>
        </p:txBody>
      </p:sp>
      <p:sp>
        <p:nvSpPr>
          <p:cNvPr id="12" name="Shape 10"/>
          <p:cNvSpPr/>
          <p:nvPr/>
        </p:nvSpPr>
        <p:spPr>
          <a:xfrm>
            <a:off x="594360" y="4160520"/>
            <a:ext cx="10972800" cy="1097280"/>
          </a:xfrm>
          <a:prstGeom prst="roundRect">
            <a:avLst>
              <a:gd name="adj" fmla="val 7500"/>
            </a:avLst>
          </a:prstGeom>
          <a:solidFill>
            <a:srgbClr val="ECEAE4"/>
          </a:solidFill>
          <a:ln w="12700">
            <a:solidFill>
              <a:srgbClr val="ECEAE4"/>
            </a:solidFill>
            <a:prstDash val="solid"/>
          </a:ln>
        </p:spPr>
      </p:sp>
      <p:sp>
        <p:nvSpPr>
          <p:cNvPr id="13" name="Shape 11"/>
          <p:cNvSpPr/>
          <p:nvPr/>
        </p:nvSpPr>
        <p:spPr>
          <a:xfrm>
            <a:off x="868680" y="4498848"/>
            <a:ext cx="420624" cy="420624"/>
          </a:xfrm>
          <a:prstGeom prst="ellipse">
            <a:avLst/>
          </a:prstGeom>
          <a:solidFill>
            <a:srgbClr val="FF4757"/>
          </a:solidFill>
          <a:ln/>
        </p:spPr>
      </p:sp>
      <p:sp>
        <p:nvSpPr>
          <p:cNvPr id="14" name="Text 12"/>
          <p:cNvSpPr/>
          <p:nvPr/>
        </p:nvSpPr>
        <p:spPr>
          <a:xfrm>
            <a:off x="868680" y="449884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4160520"/>
            <a:ext cx="9829800" cy="1097280"/>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Les bien portants : 95 % ont un test négatif, soit 9 405 ; les 495 autres ont un test positif.</a:t>
            </a:r>
            <a:endParaRPr lang="en-US" sz="20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Sensibilité 90 %, spécificité 95 %, prévalence 1 %.</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 VOTE ET LE CALCUL</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Moins d’une sur six</a:t>
            </a:r>
            <a:endParaRPr lang="en-US" sz="3200" dirty="0"/>
          </a:p>
        </p:txBody>
      </p:sp>
      <p:sp>
        <p:nvSpPr>
          <p:cNvPr id="4" name="Shape 2"/>
          <p:cNvSpPr/>
          <p:nvPr/>
        </p:nvSpPr>
        <p:spPr>
          <a:xfrm>
            <a:off x="594360" y="1645920"/>
            <a:ext cx="3840480" cy="3017520"/>
          </a:xfrm>
          <a:prstGeom prst="roundRect">
            <a:avLst>
              <a:gd name="adj" fmla="val 2727"/>
            </a:avLst>
          </a:prstGeom>
          <a:solidFill>
            <a:srgbClr val="1D1F2B"/>
          </a:solidFill>
          <a:ln w="12700">
            <a:solidFill>
              <a:srgbClr val="1D1F2B"/>
            </a:solidFill>
            <a:prstDash val="solid"/>
          </a:ln>
        </p:spPr>
      </p:sp>
      <p:sp>
        <p:nvSpPr>
          <p:cNvPr id="5" name="Text 3"/>
          <p:cNvSpPr/>
          <p:nvPr/>
        </p:nvSpPr>
        <p:spPr>
          <a:xfrm>
            <a:off x="868680" y="1755648"/>
            <a:ext cx="3291840" cy="1508760"/>
          </a:xfrm>
          <a:prstGeom prst="rect">
            <a:avLst/>
          </a:prstGeom>
          <a:noFill/>
          <a:ln/>
        </p:spPr>
        <p:txBody>
          <a:bodyPr wrap="square" lIns="0" tIns="0" rIns="0" bIns="0" rtlCol="0" anchor="ctr"/>
          <a:lstStyle/>
          <a:p>
            <a:pPr indent="0" marL="0">
              <a:buNone/>
            </a:pPr>
            <a:r>
              <a:rPr lang="en-US" sz="7200" b="1" dirty="0">
                <a:solidFill>
                  <a:srgbClr val="FF4757"/>
                </a:solidFill>
                <a:latin typeface="Palatino Linotype" pitchFamily="34" charset="0"/>
                <a:ea typeface="Palatino Linotype" pitchFamily="34" charset="-122"/>
                <a:cs typeface="Palatino Linotype" pitchFamily="34" charset="-120"/>
              </a:rPr>
              <a:t>15 %</a:t>
            </a:r>
            <a:endParaRPr lang="en-US" sz="7200" dirty="0"/>
          </a:p>
        </p:txBody>
      </p:sp>
      <p:sp>
        <p:nvSpPr>
          <p:cNvPr id="6" name="Text 4"/>
          <p:cNvSpPr/>
          <p:nvPr/>
        </p:nvSpPr>
        <p:spPr>
          <a:xfrm>
            <a:off x="868680" y="3172968"/>
            <a:ext cx="3291840" cy="1388059"/>
          </a:xfrm>
          <a:prstGeom prst="rect">
            <a:avLst/>
          </a:prstGeom>
          <a:noFill/>
          <a:ln/>
        </p:spPr>
        <p:txBody>
          <a:bodyPr wrap="square" lIns="0" tIns="0" rIns="0" bIns="0" rtlCol="0" anchor="t"/>
          <a:lstStyle/>
          <a:p>
            <a:pPr indent="0" marL="0">
              <a:buNone/>
            </a:pPr>
            <a:r>
              <a:rPr lang="en-US" sz="1200" dirty="0">
                <a:solidFill>
                  <a:srgbClr val="D5D8E2"/>
                </a:solidFill>
                <a:latin typeface="Palatino Linotype" pitchFamily="34" charset="0"/>
                <a:ea typeface="Palatino Linotype" pitchFamily="34" charset="-122"/>
                <a:cs typeface="Palatino Linotype" pitchFamily="34" charset="-120"/>
              </a:rPr>
              <a:t>valeur prédictive positive : 90 / 585 = 0,154</a:t>
            </a:r>
            <a:endParaRPr lang="en-US" sz="1200" dirty="0"/>
          </a:p>
        </p:txBody>
      </p:sp>
      <p:sp>
        <p:nvSpPr>
          <p:cNvPr id="7" name="Shape 5"/>
          <p:cNvSpPr/>
          <p:nvPr/>
        </p:nvSpPr>
        <p:spPr>
          <a:xfrm>
            <a:off x="4663440" y="1645920"/>
            <a:ext cx="6903720" cy="914400"/>
          </a:xfrm>
          <a:prstGeom prst="roundRect">
            <a:avLst>
              <a:gd name="adj" fmla="val 9000"/>
            </a:avLst>
          </a:prstGeom>
          <a:solidFill>
            <a:srgbClr val="1D1F2B"/>
          </a:solidFill>
          <a:ln w="12700">
            <a:solidFill>
              <a:srgbClr val="1D1F2B"/>
            </a:solidFill>
            <a:prstDash val="solid"/>
          </a:ln>
        </p:spPr>
      </p:sp>
      <p:sp>
        <p:nvSpPr>
          <p:cNvPr id="8" name="Shape 6"/>
          <p:cNvSpPr/>
          <p:nvPr/>
        </p:nvSpPr>
        <p:spPr>
          <a:xfrm>
            <a:off x="4846320" y="1892808"/>
            <a:ext cx="420624" cy="420624"/>
          </a:xfrm>
          <a:prstGeom prst="ellipse">
            <a:avLst/>
          </a:prstGeom>
          <a:solidFill>
            <a:srgbClr val="FFC24B"/>
          </a:solidFill>
          <a:ln/>
        </p:spPr>
      </p:sp>
      <p:sp>
        <p:nvSpPr>
          <p:cNvPr id="9" name="Text 7"/>
          <p:cNvSpPr/>
          <p:nvPr/>
        </p:nvSpPr>
        <p:spPr>
          <a:xfrm>
            <a:off x="4846320" y="18928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10" name="Text 8"/>
          <p:cNvSpPr/>
          <p:nvPr/>
        </p:nvSpPr>
        <p:spPr>
          <a:xfrm>
            <a:off x="5440680" y="1645920"/>
            <a:ext cx="5989320" cy="91440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Résultats positifs : 90 + 495 = 585 ; seuls 90 appartiennent à des malades.</a:t>
            </a:r>
            <a:endParaRPr lang="en-US" sz="1650" dirty="0"/>
          </a:p>
        </p:txBody>
      </p:sp>
      <p:sp>
        <p:nvSpPr>
          <p:cNvPr id="11" name="Shape 9"/>
          <p:cNvSpPr/>
          <p:nvPr/>
        </p:nvSpPr>
        <p:spPr>
          <a:xfrm>
            <a:off x="4663440" y="2670048"/>
            <a:ext cx="6903720" cy="914400"/>
          </a:xfrm>
          <a:prstGeom prst="roundRect">
            <a:avLst>
              <a:gd name="adj" fmla="val 9000"/>
            </a:avLst>
          </a:prstGeom>
          <a:solidFill>
            <a:srgbClr val="1D1F2B"/>
          </a:solidFill>
          <a:ln w="12700">
            <a:solidFill>
              <a:srgbClr val="1D1F2B"/>
            </a:solidFill>
            <a:prstDash val="solid"/>
          </a:ln>
        </p:spPr>
      </p:sp>
      <p:sp>
        <p:nvSpPr>
          <p:cNvPr id="12" name="Shape 10"/>
          <p:cNvSpPr/>
          <p:nvPr/>
        </p:nvSpPr>
        <p:spPr>
          <a:xfrm>
            <a:off x="4846320" y="2916936"/>
            <a:ext cx="420624" cy="420624"/>
          </a:xfrm>
          <a:prstGeom prst="ellipse">
            <a:avLst/>
          </a:prstGeom>
          <a:solidFill>
            <a:srgbClr val="FFC24B"/>
          </a:solidFill>
          <a:ln/>
        </p:spPr>
      </p:sp>
      <p:sp>
        <p:nvSpPr>
          <p:cNvPr id="13" name="Text 11"/>
          <p:cNvSpPr/>
          <p:nvPr/>
        </p:nvSpPr>
        <p:spPr>
          <a:xfrm>
            <a:off x="4846320" y="291693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14" name="Text 12"/>
          <p:cNvSpPr/>
          <p:nvPr/>
        </p:nvSpPr>
        <p:spPr>
          <a:xfrm>
            <a:off x="5440680" y="2670048"/>
            <a:ext cx="5989320" cy="91440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Sur 100 lettres « positif », environ 15 sont celles de malades, et 85 non.</a:t>
            </a:r>
            <a:endParaRPr lang="en-US" sz="1650" dirty="0"/>
          </a:p>
        </p:txBody>
      </p:sp>
      <p:sp>
        <p:nvSpPr>
          <p:cNvPr id="15" name="Shape 13"/>
          <p:cNvSpPr/>
          <p:nvPr/>
        </p:nvSpPr>
        <p:spPr>
          <a:xfrm>
            <a:off x="4663440" y="3694176"/>
            <a:ext cx="6903720" cy="914400"/>
          </a:xfrm>
          <a:prstGeom prst="roundRect">
            <a:avLst>
              <a:gd name="adj" fmla="val 9000"/>
            </a:avLst>
          </a:prstGeom>
          <a:solidFill>
            <a:srgbClr val="1D1F2B"/>
          </a:solidFill>
          <a:ln w="12700">
            <a:solidFill>
              <a:srgbClr val="1D1F2B"/>
            </a:solidFill>
            <a:prstDash val="solid"/>
          </a:ln>
        </p:spPr>
      </p:sp>
      <p:sp>
        <p:nvSpPr>
          <p:cNvPr id="16" name="Shape 14"/>
          <p:cNvSpPr/>
          <p:nvPr/>
        </p:nvSpPr>
        <p:spPr>
          <a:xfrm>
            <a:off x="4846320" y="3941064"/>
            <a:ext cx="420624" cy="420624"/>
          </a:xfrm>
          <a:prstGeom prst="ellipse">
            <a:avLst/>
          </a:prstGeom>
          <a:solidFill>
            <a:srgbClr val="FFC24B"/>
          </a:solidFill>
          <a:ln/>
        </p:spPr>
      </p:sp>
      <p:sp>
        <p:nvSpPr>
          <p:cNvPr id="17" name="Text 15"/>
          <p:cNvSpPr/>
          <p:nvPr/>
        </p:nvSpPr>
        <p:spPr>
          <a:xfrm>
            <a:off x="4846320" y="39410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6</a:t>
            </a:r>
            <a:endParaRPr lang="en-US" sz="1400" dirty="0"/>
          </a:p>
        </p:txBody>
      </p:sp>
      <p:sp>
        <p:nvSpPr>
          <p:cNvPr id="18" name="Text 16"/>
          <p:cNvSpPr/>
          <p:nvPr/>
        </p:nvSpPr>
        <p:spPr>
          <a:xfrm>
            <a:off x="5440680" y="3694176"/>
            <a:ext cx="5989320" cy="91440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Valeur prédictive négative : 9 405 / 9 415 = 99,9 %.</a:t>
            </a:r>
            <a:endParaRPr lang="en-US" sz="1650" dirty="0"/>
          </a:p>
        </p:txBody>
      </p:sp>
      <p:sp>
        <p:nvSpPr>
          <p:cNvPr id="19" name="Shape 17"/>
          <p:cNvSpPr/>
          <p:nvPr/>
        </p:nvSpPr>
        <p:spPr>
          <a:xfrm>
            <a:off x="594360" y="4892040"/>
            <a:ext cx="10972800" cy="1097280"/>
          </a:xfrm>
          <a:prstGeom prst="roundRect">
            <a:avLst>
              <a:gd name="adj" fmla="val 7500"/>
            </a:avLst>
          </a:prstGeom>
          <a:solidFill>
            <a:srgbClr val="272A38"/>
          </a:solidFill>
          <a:ln w="12700">
            <a:solidFill>
              <a:srgbClr val="272A38"/>
            </a:solidFill>
            <a:prstDash val="solid"/>
          </a:ln>
        </p:spPr>
      </p:sp>
      <p:sp>
        <p:nvSpPr>
          <p:cNvPr id="20" name="Text 18"/>
          <p:cNvSpPr/>
          <p:nvPr/>
        </p:nvSpPr>
        <p:spPr>
          <a:xfrm>
            <a:off x="868680" y="4892040"/>
            <a:ext cx="10424160" cy="109728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 Vous n’avez probablement pas de cancer, mais il vous faut une coloscopie pour le savoir. » La réponse au vote : « possible ».</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EN BINÔMES · SIX MINUTES</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CALCULEZ</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Le même test, un autre groupe</a:t>
            </a:r>
            <a:endParaRPr lang="en-US" sz="3200" dirty="0"/>
          </a:p>
        </p:txBody>
      </p:sp>
      <p:sp>
        <p:nvSpPr>
          <p:cNvPr id="6" name="Shape 4"/>
          <p:cNvSpPr/>
          <p:nvPr/>
        </p:nvSpPr>
        <p:spPr>
          <a:xfrm>
            <a:off x="594360" y="1645920"/>
            <a:ext cx="10972800" cy="1097280"/>
          </a:xfrm>
          <a:prstGeom prst="roundRect">
            <a:avLst>
              <a:gd name="adj" fmla="val 7500"/>
            </a:avLst>
          </a:prstGeom>
          <a:solidFill>
            <a:srgbClr val="272A38"/>
          </a:solidFill>
          <a:ln w="12700">
            <a:solidFill>
              <a:srgbClr val="272A38"/>
            </a:solidFill>
            <a:prstDash val="solid"/>
          </a:ln>
        </p:spPr>
      </p:sp>
      <p:sp>
        <p:nvSpPr>
          <p:cNvPr id="7" name="Text 5"/>
          <p:cNvSpPr/>
          <p:nvPr/>
        </p:nvSpPr>
        <p:spPr>
          <a:xfrm>
            <a:off x="868680" y="1645920"/>
            <a:ext cx="10424160" cy="109728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Des patients adressés au gastro-entérologue pour des symptômes : la maladie est présente chez une personne sur cinq.</a:t>
            </a:r>
            <a:endParaRPr lang="en-US" sz="2000" dirty="0"/>
          </a:p>
        </p:txBody>
      </p:sp>
      <p:sp>
        <p:nvSpPr>
          <p:cNvPr id="8" name="Shape 6"/>
          <p:cNvSpPr/>
          <p:nvPr/>
        </p:nvSpPr>
        <p:spPr>
          <a:xfrm>
            <a:off x="594360" y="2926080"/>
            <a:ext cx="10972800" cy="676656"/>
          </a:xfrm>
          <a:prstGeom prst="roundRect">
            <a:avLst>
              <a:gd name="adj" fmla="val 12162"/>
            </a:avLst>
          </a:prstGeom>
          <a:solidFill>
            <a:srgbClr val="1D1F2B"/>
          </a:solidFill>
          <a:ln w="12700">
            <a:solidFill>
              <a:srgbClr val="1D1F2B"/>
            </a:solidFill>
            <a:prstDash val="solid"/>
          </a:ln>
        </p:spPr>
      </p:sp>
      <p:sp>
        <p:nvSpPr>
          <p:cNvPr id="9" name="Shape 7"/>
          <p:cNvSpPr/>
          <p:nvPr/>
        </p:nvSpPr>
        <p:spPr>
          <a:xfrm>
            <a:off x="868680" y="3054096"/>
            <a:ext cx="420624" cy="420624"/>
          </a:xfrm>
          <a:prstGeom prst="ellipse">
            <a:avLst/>
          </a:prstGeom>
          <a:solidFill>
            <a:srgbClr val="FFC24B"/>
          </a:solidFill>
          <a:ln/>
        </p:spPr>
      </p:sp>
      <p:sp>
        <p:nvSpPr>
          <p:cNvPr id="10" name="Text 8"/>
          <p:cNvSpPr/>
          <p:nvPr/>
        </p:nvSpPr>
        <p:spPr>
          <a:xfrm>
            <a:off x="868680" y="30540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1" name="Text 9"/>
          <p:cNvSpPr/>
          <p:nvPr/>
        </p:nvSpPr>
        <p:spPr>
          <a:xfrm>
            <a:off x="1508760" y="2926080"/>
            <a:ext cx="9829800" cy="676656"/>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Construisez le tableau de contingence pour dix mille personnes.</a:t>
            </a:r>
            <a:endParaRPr lang="en-US" sz="1800" dirty="0"/>
          </a:p>
        </p:txBody>
      </p:sp>
      <p:sp>
        <p:nvSpPr>
          <p:cNvPr id="12" name="Shape 10"/>
          <p:cNvSpPr/>
          <p:nvPr/>
        </p:nvSpPr>
        <p:spPr>
          <a:xfrm>
            <a:off x="594360" y="3703320"/>
            <a:ext cx="10972800" cy="676656"/>
          </a:xfrm>
          <a:prstGeom prst="roundRect">
            <a:avLst>
              <a:gd name="adj" fmla="val 12162"/>
            </a:avLst>
          </a:prstGeom>
          <a:solidFill>
            <a:srgbClr val="1D1F2B"/>
          </a:solidFill>
          <a:ln w="12700">
            <a:solidFill>
              <a:srgbClr val="1D1F2B"/>
            </a:solidFill>
            <a:prstDash val="solid"/>
          </a:ln>
        </p:spPr>
      </p:sp>
      <p:sp>
        <p:nvSpPr>
          <p:cNvPr id="13" name="Shape 11"/>
          <p:cNvSpPr/>
          <p:nvPr/>
        </p:nvSpPr>
        <p:spPr>
          <a:xfrm>
            <a:off x="868680" y="3831336"/>
            <a:ext cx="420624" cy="420624"/>
          </a:xfrm>
          <a:prstGeom prst="ellipse">
            <a:avLst/>
          </a:prstGeom>
          <a:solidFill>
            <a:srgbClr val="FFC24B"/>
          </a:solidFill>
          <a:ln/>
        </p:spPr>
      </p:sp>
      <p:sp>
        <p:nvSpPr>
          <p:cNvPr id="14" name="Text 12"/>
          <p:cNvSpPr/>
          <p:nvPr/>
        </p:nvSpPr>
        <p:spPr>
          <a:xfrm>
            <a:off x="868680" y="383133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5" name="Text 13"/>
          <p:cNvSpPr/>
          <p:nvPr/>
        </p:nvSpPr>
        <p:spPr>
          <a:xfrm>
            <a:off x="1508760" y="3703320"/>
            <a:ext cx="9829800" cy="676656"/>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Calculez la valeur prédictive positive.</a:t>
            </a:r>
            <a:endParaRPr lang="en-US" sz="1800" dirty="0"/>
          </a:p>
        </p:txBody>
      </p:sp>
      <p:sp>
        <p:nvSpPr>
          <p:cNvPr id="16" name="Shape 14"/>
          <p:cNvSpPr/>
          <p:nvPr/>
        </p:nvSpPr>
        <p:spPr>
          <a:xfrm>
            <a:off x="594360" y="4480560"/>
            <a:ext cx="10972800" cy="676656"/>
          </a:xfrm>
          <a:prstGeom prst="roundRect">
            <a:avLst>
              <a:gd name="adj" fmla="val 12162"/>
            </a:avLst>
          </a:prstGeom>
          <a:solidFill>
            <a:srgbClr val="1D1F2B"/>
          </a:solidFill>
          <a:ln w="12700">
            <a:solidFill>
              <a:srgbClr val="1D1F2B"/>
            </a:solidFill>
            <a:prstDash val="solid"/>
          </a:ln>
        </p:spPr>
      </p:sp>
      <p:sp>
        <p:nvSpPr>
          <p:cNvPr id="17" name="Shape 15"/>
          <p:cNvSpPr/>
          <p:nvPr/>
        </p:nvSpPr>
        <p:spPr>
          <a:xfrm>
            <a:off x="868680" y="4608576"/>
            <a:ext cx="420624" cy="420624"/>
          </a:xfrm>
          <a:prstGeom prst="ellipse">
            <a:avLst/>
          </a:prstGeom>
          <a:solidFill>
            <a:srgbClr val="FFC24B"/>
          </a:solidFill>
          <a:ln/>
        </p:spPr>
      </p:sp>
      <p:sp>
        <p:nvSpPr>
          <p:cNvPr id="18" name="Text 16"/>
          <p:cNvSpPr/>
          <p:nvPr/>
        </p:nvSpPr>
        <p:spPr>
          <a:xfrm>
            <a:off x="868680" y="460857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9" name="Text 17"/>
          <p:cNvSpPr/>
          <p:nvPr/>
        </p:nvSpPr>
        <p:spPr>
          <a:xfrm>
            <a:off x="1508760" y="4480560"/>
            <a:ext cx="9829800" cy="676656"/>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Comparez le résultat à l’exemple traité.</a:t>
            </a:r>
            <a:endParaRPr lang="en-US" sz="1800" dirty="0"/>
          </a:p>
        </p:txBody>
      </p:sp>
      <p:sp>
        <p:nvSpPr>
          <p:cNvPr id="20" name="Text 18"/>
          <p:cNvSpPr/>
          <p:nvPr/>
        </p:nvSpPr>
        <p:spPr>
          <a:xfrm>
            <a:off x="594360" y="5394960"/>
            <a:ext cx="10972800" cy="457200"/>
          </a:xfrm>
          <a:prstGeom prst="rect">
            <a:avLst/>
          </a:prstGeom>
          <a:noFill/>
          <a:ln/>
        </p:spPr>
        <p:txBody>
          <a:bodyPr wrap="square" lIns="0" tIns="0" rIns="0" bIns="0" rtlCol="0" anchor="t"/>
          <a:lstStyle/>
          <a:p>
            <a:pPr indent="0" marL="0">
              <a:buNone/>
            </a:pPr>
            <a:r>
              <a:rPr lang="en-US" sz="1700" i="1" dirty="0">
                <a:solidFill>
                  <a:srgbClr val="959BB0"/>
                </a:solidFill>
                <a:latin typeface="Palatino Linotype" pitchFamily="34" charset="0"/>
                <a:ea typeface="Palatino Linotype" pitchFamily="34" charset="-122"/>
                <a:cs typeface="Palatino Linotype" pitchFamily="34" charset="-120"/>
              </a:rPr>
              <a:t>Sur papier ou avec la calculatrice du téléphone.</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5.4 · LA PRÉVALENCE CHANGE TOUT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Le même test, trois populations</a:t>
            </a:r>
            <a:endParaRPr lang="en-US" sz="3200" dirty="0"/>
          </a:p>
        </p:txBody>
      </p:sp>
      <p:sp>
        <p:nvSpPr>
          <p:cNvPr id="4" name="Shape 2"/>
          <p:cNvSpPr/>
          <p:nvPr/>
        </p:nvSpPr>
        <p:spPr>
          <a:xfrm>
            <a:off x="594360" y="1600200"/>
            <a:ext cx="10972800" cy="2697480"/>
          </a:xfrm>
          <a:prstGeom prst="roundRect">
            <a:avLst>
              <a:gd name="adj" fmla="val 3051"/>
            </a:avLst>
          </a:prstGeom>
          <a:solidFill>
            <a:srgbClr val="ECEAE4"/>
          </a:solidFill>
          <a:ln w="12700">
            <a:solidFill>
              <a:srgbClr val="ECEAE4"/>
            </a:solidFill>
            <a:prstDash val="solid"/>
          </a:ln>
        </p:spPr>
      </p:sp>
      <p:sp>
        <p:nvSpPr>
          <p:cNvPr id="5" name="Text 3"/>
          <p:cNvSpPr/>
          <p:nvPr/>
        </p:nvSpPr>
        <p:spPr>
          <a:xfrm>
            <a:off x="804672" y="1709928"/>
            <a:ext cx="1179576" cy="585216"/>
          </a:xfrm>
          <a:prstGeom prst="rect">
            <a:avLst/>
          </a:prstGeom>
          <a:noFill/>
          <a:ln/>
        </p:spPr>
        <p:txBody>
          <a:bodyPr wrap="square" lIns="0" tIns="0" rIns="0" bIns="0" rtlCol="0" anchor="ctr"/>
          <a:lstStyle/>
          <a:p>
            <a:pPr algn="l" indent="0" marL="0">
              <a:buNone/>
            </a:pPr>
            <a:r>
              <a:rPr lang="en-US" sz="1600" b="1" dirty="0">
                <a:solidFill>
                  <a:srgbClr val="B02532"/>
                </a:solidFill>
                <a:latin typeface="Palatino Linotype" pitchFamily="34" charset="0"/>
                <a:ea typeface="Palatino Linotype" pitchFamily="34" charset="-122"/>
                <a:cs typeface="Palatino Linotype" pitchFamily="34" charset="-120"/>
              </a:rPr>
              <a:t>Prévalence</a:t>
            </a:r>
            <a:endParaRPr lang="en-US" sz="1600" dirty="0"/>
          </a:p>
        </p:txBody>
      </p:sp>
      <p:sp>
        <p:nvSpPr>
          <p:cNvPr id="6" name="Text 4"/>
          <p:cNvSpPr/>
          <p:nvPr/>
        </p:nvSpPr>
        <p:spPr>
          <a:xfrm>
            <a:off x="2130552" y="1709928"/>
            <a:ext cx="1042416" cy="585216"/>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Malades</a:t>
            </a:r>
            <a:endParaRPr lang="en-US" sz="1600" dirty="0"/>
          </a:p>
        </p:txBody>
      </p:sp>
      <p:sp>
        <p:nvSpPr>
          <p:cNvPr id="7" name="Text 5"/>
          <p:cNvSpPr/>
          <p:nvPr/>
        </p:nvSpPr>
        <p:spPr>
          <a:xfrm>
            <a:off x="3319272" y="1709928"/>
            <a:ext cx="1271016" cy="585216"/>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Vrais positifs</a:t>
            </a:r>
            <a:endParaRPr lang="en-US" sz="1600" dirty="0"/>
          </a:p>
        </p:txBody>
      </p:sp>
      <p:sp>
        <p:nvSpPr>
          <p:cNvPr id="8" name="Text 6"/>
          <p:cNvSpPr/>
          <p:nvPr/>
        </p:nvSpPr>
        <p:spPr>
          <a:xfrm>
            <a:off x="4736592" y="1709928"/>
            <a:ext cx="1133856" cy="585216"/>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Faux positifs</a:t>
            </a:r>
            <a:endParaRPr lang="en-US" sz="1600" dirty="0"/>
          </a:p>
        </p:txBody>
      </p:sp>
      <p:sp>
        <p:nvSpPr>
          <p:cNvPr id="9" name="Text 7"/>
          <p:cNvSpPr/>
          <p:nvPr/>
        </p:nvSpPr>
        <p:spPr>
          <a:xfrm>
            <a:off x="6016752" y="1709928"/>
            <a:ext cx="1133856" cy="585216"/>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Faux négatifs</a:t>
            </a:r>
            <a:endParaRPr lang="en-US" sz="1600" dirty="0"/>
          </a:p>
        </p:txBody>
      </p:sp>
      <p:sp>
        <p:nvSpPr>
          <p:cNvPr id="10" name="Text 8"/>
          <p:cNvSpPr/>
          <p:nvPr/>
        </p:nvSpPr>
        <p:spPr>
          <a:xfrm>
            <a:off x="7296912" y="1709928"/>
            <a:ext cx="1316736" cy="585216"/>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Vrais négatifs</a:t>
            </a:r>
            <a:endParaRPr lang="en-US" sz="1600" dirty="0"/>
          </a:p>
        </p:txBody>
      </p:sp>
      <p:sp>
        <p:nvSpPr>
          <p:cNvPr id="11" name="Text 9"/>
          <p:cNvSpPr/>
          <p:nvPr/>
        </p:nvSpPr>
        <p:spPr>
          <a:xfrm>
            <a:off x="8759952" y="1709928"/>
            <a:ext cx="1225296" cy="585216"/>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VPP</a:t>
            </a:r>
            <a:endParaRPr lang="en-US" sz="1600" dirty="0"/>
          </a:p>
        </p:txBody>
      </p:sp>
      <p:sp>
        <p:nvSpPr>
          <p:cNvPr id="12" name="Text 10"/>
          <p:cNvSpPr/>
          <p:nvPr/>
        </p:nvSpPr>
        <p:spPr>
          <a:xfrm>
            <a:off x="10131552" y="1709928"/>
            <a:ext cx="1225296" cy="585216"/>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VPN</a:t>
            </a:r>
            <a:endParaRPr lang="en-US" sz="1600" dirty="0"/>
          </a:p>
        </p:txBody>
      </p:sp>
      <p:sp>
        <p:nvSpPr>
          <p:cNvPr id="13" name="Shape 11"/>
          <p:cNvSpPr/>
          <p:nvPr/>
        </p:nvSpPr>
        <p:spPr>
          <a:xfrm>
            <a:off x="731520" y="2313432"/>
            <a:ext cx="10698480" cy="13716"/>
          </a:xfrm>
          <a:prstGeom prst="rect">
            <a:avLst/>
          </a:prstGeom>
          <a:solidFill>
            <a:srgbClr val="C9C6BE"/>
          </a:solidFill>
          <a:ln w="12700">
            <a:solidFill>
              <a:srgbClr val="C9C6BE"/>
            </a:solidFill>
            <a:prstDash val="solid"/>
          </a:ln>
        </p:spPr>
      </p:sp>
      <p:sp>
        <p:nvSpPr>
          <p:cNvPr id="14" name="Text 12"/>
          <p:cNvSpPr/>
          <p:nvPr/>
        </p:nvSpPr>
        <p:spPr>
          <a:xfrm>
            <a:off x="804672" y="2331720"/>
            <a:ext cx="1179576" cy="585216"/>
          </a:xfrm>
          <a:prstGeom prst="rect">
            <a:avLst/>
          </a:prstGeom>
          <a:noFill/>
          <a:ln/>
        </p:spPr>
        <p:txBody>
          <a:bodyPr wrap="square" lIns="0" tIns="0" rIns="0" bIns="0" rtlCol="0" anchor="ctr"/>
          <a:lstStyle/>
          <a:p>
            <a:pPr algn="l" indent="0" marL="0">
              <a:buNone/>
            </a:pPr>
            <a:r>
              <a:rPr lang="en-US" sz="1800" b="1" dirty="0">
                <a:solidFill>
                  <a:srgbClr val="11121A"/>
                </a:solidFill>
                <a:latin typeface="Palatino Linotype" pitchFamily="34" charset="0"/>
                <a:ea typeface="Palatino Linotype" pitchFamily="34" charset="-122"/>
                <a:cs typeface="Palatino Linotype" pitchFamily="34" charset="-120"/>
              </a:rPr>
              <a:t>1 %</a:t>
            </a:r>
            <a:endParaRPr lang="en-US" sz="1800" dirty="0"/>
          </a:p>
        </p:txBody>
      </p:sp>
      <p:sp>
        <p:nvSpPr>
          <p:cNvPr id="15" name="Text 13"/>
          <p:cNvSpPr/>
          <p:nvPr/>
        </p:nvSpPr>
        <p:spPr>
          <a:xfrm>
            <a:off x="2130552" y="2331720"/>
            <a:ext cx="1042416" cy="585216"/>
          </a:xfrm>
          <a:prstGeom prst="rect">
            <a:avLst/>
          </a:prstGeom>
          <a:noFill/>
          <a:ln/>
        </p:spPr>
        <p:txBody>
          <a:bodyPr wrap="square" lIns="0" tIns="0" rIns="0" bIns="0" rtlCol="0" anchor="ctr"/>
          <a:lstStyle/>
          <a:p>
            <a:pPr algn="ctr" indent="0" marL="0">
              <a:buNone/>
            </a:pPr>
            <a:r>
              <a:rPr lang="en-US" sz="1800" dirty="0">
                <a:solidFill>
                  <a:srgbClr val="11121A"/>
                </a:solidFill>
                <a:latin typeface="Palatino Linotype" pitchFamily="34" charset="0"/>
                <a:ea typeface="Palatino Linotype" pitchFamily="34" charset="-122"/>
                <a:cs typeface="Palatino Linotype" pitchFamily="34" charset="-120"/>
              </a:rPr>
              <a:t>100</a:t>
            </a:r>
            <a:endParaRPr lang="en-US" sz="1800" dirty="0"/>
          </a:p>
        </p:txBody>
      </p:sp>
      <p:sp>
        <p:nvSpPr>
          <p:cNvPr id="16" name="Text 14"/>
          <p:cNvSpPr/>
          <p:nvPr/>
        </p:nvSpPr>
        <p:spPr>
          <a:xfrm>
            <a:off x="3319272" y="2331720"/>
            <a:ext cx="1271016" cy="585216"/>
          </a:xfrm>
          <a:prstGeom prst="rect">
            <a:avLst/>
          </a:prstGeom>
          <a:noFill/>
          <a:ln/>
        </p:spPr>
        <p:txBody>
          <a:bodyPr wrap="square" lIns="0" tIns="0" rIns="0" bIns="0" rtlCol="0" anchor="ctr"/>
          <a:lstStyle/>
          <a:p>
            <a:pPr algn="ctr" indent="0" marL="0">
              <a:buNone/>
            </a:pPr>
            <a:r>
              <a:rPr lang="en-US" sz="1800" dirty="0">
                <a:solidFill>
                  <a:srgbClr val="11121A"/>
                </a:solidFill>
                <a:latin typeface="Palatino Linotype" pitchFamily="34" charset="0"/>
                <a:ea typeface="Palatino Linotype" pitchFamily="34" charset="-122"/>
                <a:cs typeface="Palatino Linotype" pitchFamily="34" charset="-120"/>
              </a:rPr>
              <a:t>90</a:t>
            </a:r>
            <a:endParaRPr lang="en-US" sz="1800" dirty="0"/>
          </a:p>
        </p:txBody>
      </p:sp>
      <p:sp>
        <p:nvSpPr>
          <p:cNvPr id="17" name="Text 15"/>
          <p:cNvSpPr/>
          <p:nvPr/>
        </p:nvSpPr>
        <p:spPr>
          <a:xfrm>
            <a:off x="4736592" y="2331720"/>
            <a:ext cx="1133856" cy="585216"/>
          </a:xfrm>
          <a:prstGeom prst="rect">
            <a:avLst/>
          </a:prstGeom>
          <a:noFill/>
          <a:ln/>
        </p:spPr>
        <p:txBody>
          <a:bodyPr wrap="square" lIns="0" tIns="0" rIns="0" bIns="0" rtlCol="0" anchor="ctr"/>
          <a:lstStyle/>
          <a:p>
            <a:pPr algn="ctr" indent="0" marL="0">
              <a:buNone/>
            </a:pPr>
            <a:r>
              <a:rPr lang="en-US" sz="1800" dirty="0">
                <a:solidFill>
                  <a:srgbClr val="11121A"/>
                </a:solidFill>
                <a:latin typeface="Palatino Linotype" pitchFamily="34" charset="0"/>
                <a:ea typeface="Palatino Linotype" pitchFamily="34" charset="-122"/>
                <a:cs typeface="Palatino Linotype" pitchFamily="34" charset="-120"/>
              </a:rPr>
              <a:t>495</a:t>
            </a:r>
            <a:endParaRPr lang="en-US" sz="1800" dirty="0"/>
          </a:p>
        </p:txBody>
      </p:sp>
      <p:sp>
        <p:nvSpPr>
          <p:cNvPr id="18" name="Text 16"/>
          <p:cNvSpPr/>
          <p:nvPr/>
        </p:nvSpPr>
        <p:spPr>
          <a:xfrm>
            <a:off x="6016752" y="2331720"/>
            <a:ext cx="1133856" cy="585216"/>
          </a:xfrm>
          <a:prstGeom prst="rect">
            <a:avLst/>
          </a:prstGeom>
          <a:noFill/>
          <a:ln/>
        </p:spPr>
        <p:txBody>
          <a:bodyPr wrap="square" lIns="0" tIns="0" rIns="0" bIns="0" rtlCol="0" anchor="ctr"/>
          <a:lstStyle/>
          <a:p>
            <a:pPr algn="ctr" indent="0" marL="0">
              <a:buNone/>
            </a:pPr>
            <a:r>
              <a:rPr lang="en-US" sz="1800" dirty="0">
                <a:solidFill>
                  <a:srgbClr val="11121A"/>
                </a:solidFill>
                <a:latin typeface="Palatino Linotype" pitchFamily="34" charset="0"/>
                <a:ea typeface="Palatino Linotype" pitchFamily="34" charset="-122"/>
                <a:cs typeface="Palatino Linotype" pitchFamily="34" charset="-120"/>
              </a:rPr>
              <a:t>10</a:t>
            </a:r>
            <a:endParaRPr lang="en-US" sz="1800" dirty="0"/>
          </a:p>
        </p:txBody>
      </p:sp>
      <p:sp>
        <p:nvSpPr>
          <p:cNvPr id="19" name="Text 17"/>
          <p:cNvSpPr/>
          <p:nvPr/>
        </p:nvSpPr>
        <p:spPr>
          <a:xfrm>
            <a:off x="7296912" y="2331720"/>
            <a:ext cx="1316736" cy="585216"/>
          </a:xfrm>
          <a:prstGeom prst="rect">
            <a:avLst/>
          </a:prstGeom>
          <a:noFill/>
          <a:ln/>
        </p:spPr>
        <p:txBody>
          <a:bodyPr wrap="square" lIns="0" tIns="0" rIns="0" bIns="0" rtlCol="0" anchor="ctr"/>
          <a:lstStyle/>
          <a:p>
            <a:pPr algn="ctr" indent="0" marL="0">
              <a:buNone/>
            </a:pPr>
            <a:r>
              <a:rPr lang="en-US" sz="1800" dirty="0">
                <a:solidFill>
                  <a:srgbClr val="11121A"/>
                </a:solidFill>
                <a:latin typeface="Palatino Linotype" pitchFamily="34" charset="0"/>
                <a:ea typeface="Palatino Linotype" pitchFamily="34" charset="-122"/>
                <a:cs typeface="Palatino Linotype" pitchFamily="34" charset="-120"/>
              </a:rPr>
              <a:t>9 405</a:t>
            </a:r>
            <a:endParaRPr lang="en-US" sz="1800" dirty="0"/>
          </a:p>
        </p:txBody>
      </p:sp>
      <p:sp>
        <p:nvSpPr>
          <p:cNvPr id="20" name="Text 18"/>
          <p:cNvSpPr/>
          <p:nvPr/>
        </p:nvSpPr>
        <p:spPr>
          <a:xfrm>
            <a:off x="8759952" y="2331720"/>
            <a:ext cx="1225296" cy="585216"/>
          </a:xfrm>
          <a:prstGeom prst="rect">
            <a:avLst/>
          </a:prstGeom>
          <a:noFill/>
          <a:ln/>
        </p:spPr>
        <p:txBody>
          <a:bodyPr wrap="square" lIns="0" tIns="0" rIns="0" bIns="0" rtlCol="0" anchor="ctr"/>
          <a:lstStyle/>
          <a:p>
            <a:pPr algn="ctr" indent="0" marL="0">
              <a:buNone/>
            </a:pPr>
            <a:r>
              <a:rPr lang="en-US" sz="1800" dirty="0">
                <a:solidFill>
                  <a:srgbClr val="11121A"/>
                </a:solidFill>
                <a:latin typeface="Palatino Linotype" pitchFamily="34" charset="0"/>
                <a:ea typeface="Palatino Linotype" pitchFamily="34" charset="-122"/>
                <a:cs typeface="Palatino Linotype" pitchFamily="34" charset="-120"/>
              </a:rPr>
              <a:t>15,4 %</a:t>
            </a:r>
            <a:endParaRPr lang="en-US" sz="1800" dirty="0"/>
          </a:p>
        </p:txBody>
      </p:sp>
      <p:sp>
        <p:nvSpPr>
          <p:cNvPr id="21" name="Text 19"/>
          <p:cNvSpPr/>
          <p:nvPr/>
        </p:nvSpPr>
        <p:spPr>
          <a:xfrm>
            <a:off x="10131552" y="2331720"/>
            <a:ext cx="1225296" cy="585216"/>
          </a:xfrm>
          <a:prstGeom prst="rect">
            <a:avLst/>
          </a:prstGeom>
          <a:noFill/>
          <a:ln/>
        </p:spPr>
        <p:txBody>
          <a:bodyPr wrap="square" lIns="0" tIns="0" rIns="0" bIns="0" rtlCol="0" anchor="ctr"/>
          <a:lstStyle/>
          <a:p>
            <a:pPr algn="ctr" indent="0" marL="0">
              <a:buNone/>
            </a:pPr>
            <a:r>
              <a:rPr lang="en-US" sz="1800" dirty="0">
                <a:solidFill>
                  <a:srgbClr val="11121A"/>
                </a:solidFill>
                <a:latin typeface="Palatino Linotype" pitchFamily="34" charset="0"/>
                <a:ea typeface="Palatino Linotype" pitchFamily="34" charset="-122"/>
                <a:cs typeface="Palatino Linotype" pitchFamily="34" charset="-120"/>
              </a:rPr>
              <a:t>99,9 %</a:t>
            </a:r>
            <a:endParaRPr lang="en-US" sz="1800" dirty="0"/>
          </a:p>
        </p:txBody>
      </p:sp>
      <p:sp>
        <p:nvSpPr>
          <p:cNvPr id="22" name="Shape 20"/>
          <p:cNvSpPr/>
          <p:nvPr/>
        </p:nvSpPr>
        <p:spPr>
          <a:xfrm>
            <a:off x="731520" y="2935224"/>
            <a:ext cx="10698480" cy="13716"/>
          </a:xfrm>
          <a:prstGeom prst="rect">
            <a:avLst/>
          </a:prstGeom>
          <a:solidFill>
            <a:srgbClr val="C9C6BE"/>
          </a:solidFill>
          <a:ln w="12700">
            <a:solidFill>
              <a:srgbClr val="C9C6BE"/>
            </a:solidFill>
            <a:prstDash val="solid"/>
          </a:ln>
        </p:spPr>
      </p:sp>
      <p:sp>
        <p:nvSpPr>
          <p:cNvPr id="23" name="Text 21"/>
          <p:cNvSpPr/>
          <p:nvPr/>
        </p:nvSpPr>
        <p:spPr>
          <a:xfrm>
            <a:off x="804672" y="2953512"/>
            <a:ext cx="1179576" cy="585216"/>
          </a:xfrm>
          <a:prstGeom prst="rect">
            <a:avLst/>
          </a:prstGeom>
          <a:noFill/>
          <a:ln/>
        </p:spPr>
        <p:txBody>
          <a:bodyPr wrap="square" lIns="0" tIns="0" rIns="0" bIns="0" rtlCol="0" anchor="ctr"/>
          <a:lstStyle/>
          <a:p>
            <a:pPr algn="l" indent="0" marL="0">
              <a:buNone/>
            </a:pPr>
            <a:r>
              <a:rPr lang="en-US" sz="1800" b="1" dirty="0">
                <a:solidFill>
                  <a:srgbClr val="11121A"/>
                </a:solidFill>
                <a:latin typeface="Palatino Linotype" pitchFamily="34" charset="0"/>
                <a:ea typeface="Palatino Linotype" pitchFamily="34" charset="-122"/>
                <a:cs typeface="Palatino Linotype" pitchFamily="34" charset="-120"/>
              </a:rPr>
              <a:t>5 %</a:t>
            </a:r>
            <a:endParaRPr lang="en-US" sz="1800" dirty="0"/>
          </a:p>
        </p:txBody>
      </p:sp>
      <p:sp>
        <p:nvSpPr>
          <p:cNvPr id="24" name="Text 22"/>
          <p:cNvSpPr/>
          <p:nvPr/>
        </p:nvSpPr>
        <p:spPr>
          <a:xfrm>
            <a:off x="2130552" y="2953512"/>
            <a:ext cx="1042416" cy="585216"/>
          </a:xfrm>
          <a:prstGeom prst="rect">
            <a:avLst/>
          </a:prstGeom>
          <a:noFill/>
          <a:ln/>
        </p:spPr>
        <p:txBody>
          <a:bodyPr wrap="square" lIns="0" tIns="0" rIns="0" bIns="0" rtlCol="0" anchor="ctr"/>
          <a:lstStyle/>
          <a:p>
            <a:pPr algn="ctr" indent="0" marL="0">
              <a:buNone/>
            </a:pPr>
            <a:r>
              <a:rPr lang="en-US" sz="1800" dirty="0">
                <a:solidFill>
                  <a:srgbClr val="11121A"/>
                </a:solidFill>
                <a:latin typeface="Palatino Linotype" pitchFamily="34" charset="0"/>
                <a:ea typeface="Palatino Linotype" pitchFamily="34" charset="-122"/>
                <a:cs typeface="Palatino Linotype" pitchFamily="34" charset="-120"/>
              </a:rPr>
              <a:t>500</a:t>
            </a:r>
            <a:endParaRPr lang="en-US" sz="1800" dirty="0"/>
          </a:p>
        </p:txBody>
      </p:sp>
      <p:sp>
        <p:nvSpPr>
          <p:cNvPr id="25" name="Text 23"/>
          <p:cNvSpPr/>
          <p:nvPr/>
        </p:nvSpPr>
        <p:spPr>
          <a:xfrm>
            <a:off x="3319272" y="2953512"/>
            <a:ext cx="1271016" cy="585216"/>
          </a:xfrm>
          <a:prstGeom prst="rect">
            <a:avLst/>
          </a:prstGeom>
          <a:noFill/>
          <a:ln/>
        </p:spPr>
        <p:txBody>
          <a:bodyPr wrap="square" lIns="0" tIns="0" rIns="0" bIns="0" rtlCol="0" anchor="ctr"/>
          <a:lstStyle/>
          <a:p>
            <a:pPr algn="ctr" indent="0" marL="0">
              <a:buNone/>
            </a:pPr>
            <a:r>
              <a:rPr lang="en-US" sz="1800" dirty="0">
                <a:solidFill>
                  <a:srgbClr val="11121A"/>
                </a:solidFill>
                <a:latin typeface="Palatino Linotype" pitchFamily="34" charset="0"/>
                <a:ea typeface="Palatino Linotype" pitchFamily="34" charset="-122"/>
                <a:cs typeface="Palatino Linotype" pitchFamily="34" charset="-120"/>
              </a:rPr>
              <a:t>450</a:t>
            </a:r>
            <a:endParaRPr lang="en-US" sz="1800" dirty="0"/>
          </a:p>
        </p:txBody>
      </p:sp>
      <p:sp>
        <p:nvSpPr>
          <p:cNvPr id="26" name="Text 24"/>
          <p:cNvSpPr/>
          <p:nvPr/>
        </p:nvSpPr>
        <p:spPr>
          <a:xfrm>
            <a:off x="4736592" y="2953512"/>
            <a:ext cx="1133856" cy="585216"/>
          </a:xfrm>
          <a:prstGeom prst="rect">
            <a:avLst/>
          </a:prstGeom>
          <a:noFill/>
          <a:ln/>
        </p:spPr>
        <p:txBody>
          <a:bodyPr wrap="square" lIns="0" tIns="0" rIns="0" bIns="0" rtlCol="0" anchor="ctr"/>
          <a:lstStyle/>
          <a:p>
            <a:pPr algn="ctr" indent="0" marL="0">
              <a:buNone/>
            </a:pPr>
            <a:r>
              <a:rPr lang="en-US" sz="1800" dirty="0">
                <a:solidFill>
                  <a:srgbClr val="11121A"/>
                </a:solidFill>
                <a:latin typeface="Palatino Linotype" pitchFamily="34" charset="0"/>
                <a:ea typeface="Palatino Linotype" pitchFamily="34" charset="-122"/>
                <a:cs typeface="Palatino Linotype" pitchFamily="34" charset="-120"/>
              </a:rPr>
              <a:t>475</a:t>
            </a:r>
            <a:endParaRPr lang="en-US" sz="1800" dirty="0"/>
          </a:p>
        </p:txBody>
      </p:sp>
      <p:sp>
        <p:nvSpPr>
          <p:cNvPr id="27" name="Text 25"/>
          <p:cNvSpPr/>
          <p:nvPr/>
        </p:nvSpPr>
        <p:spPr>
          <a:xfrm>
            <a:off x="6016752" y="2953512"/>
            <a:ext cx="1133856" cy="585216"/>
          </a:xfrm>
          <a:prstGeom prst="rect">
            <a:avLst/>
          </a:prstGeom>
          <a:noFill/>
          <a:ln/>
        </p:spPr>
        <p:txBody>
          <a:bodyPr wrap="square" lIns="0" tIns="0" rIns="0" bIns="0" rtlCol="0" anchor="ctr"/>
          <a:lstStyle/>
          <a:p>
            <a:pPr algn="ctr" indent="0" marL="0">
              <a:buNone/>
            </a:pPr>
            <a:r>
              <a:rPr lang="en-US" sz="1800" dirty="0">
                <a:solidFill>
                  <a:srgbClr val="11121A"/>
                </a:solidFill>
                <a:latin typeface="Palatino Linotype" pitchFamily="34" charset="0"/>
                <a:ea typeface="Palatino Linotype" pitchFamily="34" charset="-122"/>
                <a:cs typeface="Palatino Linotype" pitchFamily="34" charset="-120"/>
              </a:rPr>
              <a:t>50</a:t>
            </a:r>
            <a:endParaRPr lang="en-US" sz="1800" dirty="0"/>
          </a:p>
        </p:txBody>
      </p:sp>
      <p:sp>
        <p:nvSpPr>
          <p:cNvPr id="28" name="Text 26"/>
          <p:cNvSpPr/>
          <p:nvPr/>
        </p:nvSpPr>
        <p:spPr>
          <a:xfrm>
            <a:off x="7296912" y="2953512"/>
            <a:ext cx="1316736" cy="585216"/>
          </a:xfrm>
          <a:prstGeom prst="rect">
            <a:avLst/>
          </a:prstGeom>
          <a:noFill/>
          <a:ln/>
        </p:spPr>
        <p:txBody>
          <a:bodyPr wrap="square" lIns="0" tIns="0" rIns="0" bIns="0" rtlCol="0" anchor="ctr"/>
          <a:lstStyle/>
          <a:p>
            <a:pPr algn="ctr" indent="0" marL="0">
              <a:buNone/>
            </a:pPr>
            <a:r>
              <a:rPr lang="en-US" sz="1800" dirty="0">
                <a:solidFill>
                  <a:srgbClr val="11121A"/>
                </a:solidFill>
                <a:latin typeface="Palatino Linotype" pitchFamily="34" charset="0"/>
                <a:ea typeface="Palatino Linotype" pitchFamily="34" charset="-122"/>
                <a:cs typeface="Palatino Linotype" pitchFamily="34" charset="-120"/>
              </a:rPr>
              <a:t>9 025</a:t>
            </a:r>
            <a:endParaRPr lang="en-US" sz="1800" dirty="0"/>
          </a:p>
        </p:txBody>
      </p:sp>
      <p:sp>
        <p:nvSpPr>
          <p:cNvPr id="29" name="Text 27"/>
          <p:cNvSpPr/>
          <p:nvPr/>
        </p:nvSpPr>
        <p:spPr>
          <a:xfrm>
            <a:off x="8759952" y="2953512"/>
            <a:ext cx="1225296" cy="585216"/>
          </a:xfrm>
          <a:prstGeom prst="rect">
            <a:avLst/>
          </a:prstGeom>
          <a:noFill/>
          <a:ln/>
        </p:spPr>
        <p:txBody>
          <a:bodyPr wrap="square" lIns="0" tIns="0" rIns="0" bIns="0" rtlCol="0" anchor="ctr"/>
          <a:lstStyle/>
          <a:p>
            <a:pPr algn="ctr" indent="0" marL="0">
              <a:buNone/>
            </a:pPr>
            <a:r>
              <a:rPr lang="en-US" sz="1800" dirty="0">
                <a:solidFill>
                  <a:srgbClr val="11121A"/>
                </a:solidFill>
                <a:latin typeface="Palatino Linotype" pitchFamily="34" charset="0"/>
                <a:ea typeface="Palatino Linotype" pitchFamily="34" charset="-122"/>
                <a:cs typeface="Palatino Linotype" pitchFamily="34" charset="-120"/>
              </a:rPr>
              <a:t>48,6 %</a:t>
            </a:r>
            <a:endParaRPr lang="en-US" sz="1800" dirty="0"/>
          </a:p>
        </p:txBody>
      </p:sp>
      <p:sp>
        <p:nvSpPr>
          <p:cNvPr id="30" name="Text 28"/>
          <p:cNvSpPr/>
          <p:nvPr/>
        </p:nvSpPr>
        <p:spPr>
          <a:xfrm>
            <a:off x="10131552" y="2953512"/>
            <a:ext cx="1225296" cy="585216"/>
          </a:xfrm>
          <a:prstGeom prst="rect">
            <a:avLst/>
          </a:prstGeom>
          <a:noFill/>
          <a:ln/>
        </p:spPr>
        <p:txBody>
          <a:bodyPr wrap="square" lIns="0" tIns="0" rIns="0" bIns="0" rtlCol="0" anchor="ctr"/>
          <a:lstStyle/>
          <a:p>
            <a:pPr algn="ctr" indent="0" marL="0">
              <a:buNone/>
            </a:pPr>
            <a:r>
              <a:rPr lang="en-US" sz="1800" dirty="0">
                <a:solidFill>
                  <a:srgbClr val="11121A"/>
                </a:solidFill>
                <a:latin typeface="Palatino Linotype" pitchFamily="34" charset="0"/>
                <a:ea typeface="Palatino Linotype" pitchFamily="34" charset="-122"/>
                <a:cs typeface="Palatino Linotype" pitchFamily="34" charset="-120"/>
              </a:rPr>
              <a:t>99,4 %</a:t>
            </a:r>
            <a:endParaRPr lang="en-US" sz="1800" dirty="0"/>
          </a:p>
        </p:txBody>
      </p:sp>
      <p:sp>
        <p:nvSpPr>
          <p:cNvPr id="31" name="Shape 29"/>
          <p:cNvSpPr/>
          <p:nvPr/>
        </p:nvSpPr>
        <p:spPr>
          <a:xfrm>
            <a:off x="731520" y="3557016"/>
            <a:ext cx="10698480" cy="13716"/>
          </a:xfrm>
          <a:prstGeom prst="rect">
            <a:avLst/>
          </a:prstGeom>
          <a:solidFill>
            <a:srgbClr val="C9C6BE"/>
          </a:solidFill>
          <a:ln w="12700">
            <a:solidFill>
              <a:srgbClr val="C9C6BE"/>
            </a:solidFill>
            <a:prstDash val="solid"/>
          </a:ln>
        </p:spPr>
      </p:sp>
      <p:sp>
        <p:nvSpPr>
          <p:cNvPr id="32" name="Text 30"/>
          <p:cNvSpPr/>
          <p:nvPr/>
        </p:nvSpPr>
        <p:spPr>
          <a:xfrm>
            <a:off x="804672" y="3575304"/>
            <a:ext cx="1179576" cy="585216"/>
          </a:xfrm>
          <a:prstGeom prst="rect">
            <a:avLst/>
          </a:prstGeom>
          <a:noFill/>
          <a:ln/>
        </p:spPr>
        <p:txBody>
          <a:bodyPr wrap="square" lIns="0" tIns="0" rIns="0" bIns="0" rtlCol="0" anchor="ctr"/>
          <a:lstStyle/>
          <a:p>
            <a:pPr algn="l" indent="0" marL="0">
              <a:buNone/>
            </a:pPr>
            <a:r>
              <a:rPr lang="en-US" sz="1800" b="1" dirty="0">
                <a:solidFill>
                  <a:srgbClr val="B02532"/>
                </a:solidFill>
                <a:latin typeface="Palatino Linotype" pitchFamily="34" charset="0"/>
                <a:ea typeface="Palatino Linotype" pitchFamily="34" charset="-122"/>
                <a:cs typeface="Palatino Linotype" pitchFamily="34" charset="-120"/>
              </a:rPr>
              <a:t>20 %</a:t>
            </a:r>
            <a:endParaRPr lang="en-US" sz="1800" dirty="0"/>
          </a:p>
        </p:txBody>
      </p:sp>
      <p:sp>
        <p:nvSpPr>
          <p:cNvPr id="33" name="Text 31"/>
          <p:cNvSpPr/>
          <p:nvPr/>
        </p:nvSpPr>
        <p:spPr>
          <a:xfrm>
            <a:off x="2130552" y="3575304"/>
            <a:ext cx="1042416" cy="585216"/>
          </a:xfrm>
          <a:prstGeom prst="rect">
            <a:avLst/>
          </a:prstGeom>
          <a:noFill/>
          <a:ln/>
        </p:spPr>
        <p:txBody>
          <a:bodyPr wrap="square" lIns="0" tIns="0" rIns="0" bIns="0" rtlCol="0" anchor="ctr"/>
          <a:lstStyle/>
          <a:p>
            <a:pPr algn="ctr" indent="0" marL="0">
              <a:buNone/>
            </a:pPr>
            <a:r>
              <a:rPr lang="en-US" sz="1800" b="1" dirty="0">
                <a:solidFill>
                  <a:srgbClr val="B02532"/>
                </a:solidFill>
                <a:latin typeface="Palatino Linotype" pitchFamily="34" charset="0"/>
                <a:ea typeface="Palatino Linotype" pitchFamily="34" charset="-122"/>
                <a:cs typeface="Palatino Linotype" pitchFamily="34" charset="-120"/>
              </a:rPr>
              <a:t>2 000</a:t>
            </a:r>
            <a:endParaRPr lang="en-US" sz="1800" dirty="0"/>
          </a:p>
        </p:txBody>
      </p:sp>
      <p:sp>
        <p:nvSpPr>
          <p:cNvPr id="34" name="Text 32"/>
          <p:cNvSpPr/>
          <p:nvPr/>
        </p:nvSpPr>
        <p:spPr>
          <a:xfrm>
            <a:off x="3319272" y="3575304"/>
            <a:ext cx="1271016" cy="585216"/>
          </a:xfrm>
          <a:prstGeom prst="rect">
            <a:avLst/>
          </a:prstGeom>
          <a:noFill/>
          <a:ln/>
        </p:spPr>
        <p:txBody>
          <a:bodyPr wrap="square" lIns="0" tIns="0" rIns="0" bIns="0" rtlCol="0" anchor="ctr"/>
          <a:lstStyle/>
          <a:p>
            <a:pPr algn="ctr" indent="0" marL="0">
              <a:buNone/>
            </a:pPr>
            <a:r>
              <a:rPr lang="en-US" sz="1800" b="1" dirty="0">
                <a:solidFill>
                  <a:srgbClr val="B02532"/>
                </a:solidFill>
                <a:latin typeface="Palatino Linotype" pitchFamily="34" charset="0"/>
                <a:ea typeface="Palatino Linotype" pitchFamily="34" charset="-122"/>
                <a:cs typeface="Palatino Linotype" pitchFamily="34" charset="-120"/>
              </a:rPr>
              <a:t>1 800</a:t>
            </a:r>
            <a:endParaRPr lang="en-US" sz="1800" dirty="0"/>
          </a:p>
        </p:txBody>
      </p:sp>
      <p:sp>
        <p:nvSpPr>
          <p:cNvPr id="35" name="Text 33"/>
          <p:cNvSpPr/>
          <p:nvPr/>
        </p:nvSpPr>
        <p:spPr>
          <a:xfrm>
            <a:off x="4736592" y="3575304"/>
            <a:ext cx="1133856" cy="585216"/>
          </a:xfrm>
          <a:prstGeom prst="rect">
            <a:avLst/>
          </a:prstGeom>
          <a:noFill/>
          <a:ln/>
        </p:spPr>
        <p:txBody>
          <a:bodyPr wrap="square" lIns="0" tIns="0" rIns="0" bIns="0" rtlCol="0" anchor="ctr"/>
          <a:lstStyle/>
          <a:p>
            <a:pPr algn="ctr" indent="0" marL="0">
              <a:buNone/>
            </a:pPr>
            <a:r>
              <a:rPr lang="en-US" sz="1800" b="1" dirty="0">
                <a:solidFill>
                  <a:srgbClr val="B02532"/>
                </a:solidFill>
                <a:latin typeface="Palatino Linotype" pitchFamily="34" charset="0"/>
                <a:ea typeface="Palatino Linotype" pitchFamily="34" charset="-122"/>
                <a:cs typeface="Palatino Linotype" pitchFamily="34" charset="-120"/>
              </a:rPr>
              <a:t>400</a:t>
            </a:r>
            <a:endParaRPr lang="en-US" sz="1800" dirty="0"/>
          </a:p>
        </p:txBody>
      </p:sp>
      <p:sp>
        <p:nvSpPr>
          <p:cNvPr id="36" name="Text 34"/>
          <p:cNvSpPr/>
          <p:nvPr/>
        </p:nvSpPr>
        <p:spPr>
          <a:xfrm>
            <a:off x="6016752" y="3575304"/>
            <a:ext cx="1133856" cy="585216"/>
          </a:xfrm>
          <a:prstGeom prst="rect">
            <a:avLst/>
          </a:prstGeom>
          <a:noFill/>
          <a:ln/>
        </p:spPr>
        <p:txBody>
          <a:bodyPr wrap="square" lIns="0" tIns="0" rIns="0" bIns="0" rtlCol="0" anchor="ctr"/>
          <a:lstStyle/>
          <a:p>
            <a:pPr algn="ctr" indent="0" marL="0">
              <a:buNone/>
            </a:pPr>
            <a:r>
              <a:rPr lang="en-US" sz="1800" b="1" dirty="0">
                <a:solidFill>
                  <a:srgbClr val="B02532"/>
                </a:solidFill>
                <a:latin typeface="Palatino Linotype" pitchFamily="34" charset="0"/>
                <a:ea typeface="Palatino Linotype" pitchFamily="34" charset="-122"/>
                <a:cs typeface="Palatino Linotype" pitchFamily="34" charset="-120"/>
              </a:rPr>
              <a:t>200</a:t>
            </a:r>
            <a:endParaRPr lang="en-US" sz="1800" dirty="0"/>
          </a:p>
        </p:txBody>
      </p:sp>
      <p:sp>
        <p:nvSpPr>
          <p:cNvPr id="37" name="Text 35"/>
          <p:cNvSpPr/>
          <p:nvPr/>
        </p:nvSpPr>
        <p:spPr>
          <a:xfrm>
            <a:off x="7296912" y="3575304"/>
            <a:ext cx="1316736" cy="585216"/>
          </a:xfrm>
          <a:prstGeom prst="rect">
            <a:avLst/>
          </a:prstGeom>
          <a:noFill/>
          <a:ln/>
        </p:spPr>
        <p:txBody>
          <a:bodyPr wrap="square" lIns="0" tIns="0" rIns="0" bIns="0" rtlCol="0" anchor="ctr"/>
          <a:lstStyle/>
          <a:p>
            <a:pPr algn="ctr" indent="0" marL="0">
              <a:buNone/>
            </a:pPr>
            <a:r>
              <a:rPr lang="en-US" sz="1800" b="1" dirty="0">
                <a:solidFill>
                  <a:srgbClr val="B02532"/>
                </a:solidFill>
                <a:latin typeface="Palatino Linotype" pitchFamily="34" charset="0"/>
                <a:ea typeface="Palatino Linotype" pitchFamily="34" charset="-122"/>
                <a:cs typeface="Palatino Linotype" pitchFamily="34" charset="-120"/>
              </a:rPr>
              <a:t>7 600</a:t>
            </a:r>
            <a:endParaRPr lang="en-US" sz="1800" dirty="0"/>
          </a:p>
        </p:txBody>
      </p:sp>
      <p:sp>
        <p:nvSpPr>
          <p:cNvPr id="38" name="Text 36"/>
          <p:cNvSpPr/>
          <p:nvPr/>
        </p:nvSpPr>
        <p:spPr>
          <a:xfrm>
            <a:off x="8759952" y="3575304"/>
            <a:ext cx="1225296" cy="585216"/>
          </a:xfrm>
          <a:prstGeom prst="rect">
            <a:avLst/>
          </a:prstGeom>
          <a:noFill/>
          <a:ln/>
        </p:spPr>
        <p:txBody>
          <a:bodyPr wrap="square" lIns="0" tIns="0" rIns="0" bIns="0" rtlCol="0" anchor="ctr"/>
          <a:lstStyle/>
          <a:p>
            <a:pPr algn="ctr" indent="0" marL="0">
              <a:buNone/>
            </a:pPr>
            <a:r>
              <a:rPr lang="en-US" sz="1800" b="1" dirty="0">
                <a:solidFill>
                  <a:srgbClr val="B02532"/>
                </a:solidFill>
                <a:latin typeface="Palatino Linotype" pitchFamily="34" charset="0"/>
                <a:ea typeface="Palatino Linotype" pitchFamily="34" charset="-122"/>
                <a:cs typeface="Palatino Linotype" pitchFamily="34" charset="-120"/>
              </a:rPr>
              <a:t>81,8 %</a:t>
            </a:r>
            <a:endParaRPr lang="en-US" sz="1800" dirty="0"/>
          </a:p>
        </p:txBody>
      </p:sp>
      <p:sp>
        <p:nvSpPr>
          <p:cNvPr id="39" name="Text 37"/>
          <p:cNvSpPr/>
          <p:nvPr/>
        </p:nvSpPr>
        <p:spPr>
          <a:xfrm>
            <a:off x="10131552" y="3575304"/>
            <a:ext cx="1225296" cy="585216"/>
          </a:xfrm>
          <a:prstGeom prst="rect">
            <a:avLst/>
          </a:prstGeom>
          <a:noFill/>
          <a:ln/>
        </p:spPr>
        <p:txBody>
          <a:bodyPr wrap="square" lIns="0" tIns="0" rIns="0" bIns="0" rtlCol="0" anchor="ctr"/>
          <a:lstStyle/>
          <a:p>
            <a:pPr algn="ctr" indent="0" marL="0">
              <a:buNone/>
            </a:pPr>
            <a:r>
              <a:rPr lang="en-US" sz="1800" b="1" dirty="0">
                <a:solidFill>
                  <a:srgbClr val="B02532"/>
                </a:solidFill>
                <a:latin typeface="Palatino Linotype" pitchFamily="34" charset="0"/>
                <a:ea typeface="Palatino Linotype" pitchFamily="34" charset="-122"/>
                <a:cs typeface="Palatino Linotype" pitchFamily="34" charset="-120"/>
              </a:rPr>
              <a:t>97,4 %</a:t>
            </a:r>
            <a:endParaRPr lang="en-US" sz="1800" dirty="0"/>
          </a:p>
        </p:txBody>
      </p:sp>
      <p:sp>
        <p:nvSpPr>
          <p:cNvPr id="40" name="Shape 38"/>
          <p:cNvSpPr/>
          <p:nvPr/>
        </p:nvSpPr>
        <p:spPr>
          <a:xfrm>
            <a:off x="594360" y="4526280"/>
            <a:ext cx="10972800" cy="914400"/>
          </a:xfrm>
          <a:prstGeom prst="roundRect">
            <a:avLst>
              <a:gd name="adj" fmla="val 9000"/>
            </a:avLst>
          </a:prstGeom>
          <a:solidFill>
            <a:srgbClr val="11121A"/>
          </a:solidFill>
          <a:ln w="12700">
            <a:solidFill>
              <a:srgbClr val="11121A"/>
            </a:solidFill>
            <a:prstDash val="solid"/>
          </a:ln>
        </p:spPr>
      </p:sp>
      <p:sp>
        <p:nvSpPr>
          <p:cNvPr id="41" name="Text 39"/>
          <p:cNvSpPr/>
          <p:nvPr/>
        </p:nvSpPr>
        <p:spPr>
          <a:xfrm>
            <a:off x="868680" y="4526280"/>
            <a:ext cx="10424160" cy="914400"/>
          </a:xfrm>
          <a:prstGeom prst="rect">
            <a:avLst/>
          </a:prstGeom>
          <a:noFill/>
          <a:ln/>
        </p:spPr>
        <p:txBody>
          <a:bodyPr wrap="square" lIns="0" tIns="0" rIns="0" bIns="0" rtlCol="0" anchor="ctr"/>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Le groupe adressé pour des symptômes : VPP = 1 800 / (1 800 + 400) = 81,8 %.</a:t>
            </a:r>
            <a:endParaRPr lang="en-US" sz="2000" dirty="0"/>
          </a:p>
        </p:txBody>
      </p:sp>
      <p:sp>
        <p:nvSpPr>
          <p:cNvPr id="42" name="Text 40"/>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Valeurs hypothétiques : sensibilité 90 %, spécificité 95 %, 10 000 personnes testées.</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QUE DIT LE TABLEAU</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La valeur prédictive positive suit la prévalence</a:t>
            </a:r>
            <a:endParaRPr lang="en-US" sz="3000" dirty="0"/>
          </a:p>
        </p:txBody>
      </p:sp>
      <p:sp>
        <p:nvSpPr>
          <p:cNvPr id="4" name="Shape 2"/>
          <p:cNvSpPr/>
          <p:nvPr/>
        </p:nvSpPr>
        <p:spPr>
          <a:xfrm>
            <a:off x="594360" y="1645920"/>
            <a:ext cx="10972800" cy="868680"/>
          </a:xfrm>
          <a:prstGeom prst="roundRect">
            <a:avLst>
              <a:gd name="adj" fmla="val 9474"/>
            </a:avLst>
          </a:prstGeom>
          <a:solidFill>
            <a:srgbClr val="1D1F2B"/>
          </a:solidFill>
          <a:ln w="12700">
            <a:solidFill>
              <a:srgbClr val="1D1F2B"/>
            </a:solidFill>
            <a:prstDash val="solid"/>
          </a:ln>
        </p:spPr>
      </p:sp>
      <p:sp>
        <p:nvSpPr>
          <p:cNvPr id="5" name="Shape 3"/>
          <p:cNvSpPr/>
          <p:nvPr/>
        </p:nvSpPr>
        <p:spPr>
          <a:xfrm>
            <a:off x="822960" y="1874520"/>
            <a:ext cx="420624" cy="420624"/>
          </a:xfrm>
          <a:prstGeom prst="ellipse">
            <a:avLst/>
          </a:prstGeom>
          <a:solidFill>
            <a:srgbClr val="27D3BE"/>
          </a:solidFill>
          <a:ln/>
        </p:spPr>
      </p:sp>
      <p:sp>
        <p:nvSpPr>
          <p:cNvPr id="6" name="Text 4"/>
          <p:cNvSpPr/>
          <p:nvPr/>
        </p:nvSpPr>
        <p:spPr>
          <a:xfrm>
            <a:off x="822960" y="1874520"/>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63040" y="1645920"/>
            <a:ext cx="9875520" cy="86868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La sensibilité et la spécificité : les mêmes sur toutes les lignes.</a:t>
            </a:r>
            <a:endParaRPr lang="en-US" sz="1800" dirty="0"/>
          </a:p>
        </p:txBody>
      </p:sp>
      <p:sp>
        <p:nvSpPr>
          <p:cNvPr id="8" name="Shape 6"/>
          <p:cNvSpPr/>
          <p:nvPr/>
        </p:nvSpPr>
        <p:spPr>
          <a:xfrm>
            <a:off x="594360" y="2651760"/>
            <a:ext cx="10972800" cy="868680"/>
          </a:xfrm>
          <a:prstGeom prst="roundRect">
            <a:avLst>
              <a:gd name="adj" fmla="val 9474"/>
            </a:avLst>
          </a:prstGeom>
          <a:solidFill>
            <a:srgbClr val="1D1F2B"/>
          </a:solidFill>
          <a:ln w="12700">
            <a:solidFill>
              <a:srgbClr val="1D1F2B"/>
            </a:solidFill>
            <a:prstDash val="solid"/>
          </a:ln>
        </p:spPr>
      </p:sp>
      <p:sp>
        <p:nvSpPr>
          <p:cNvPr id="9" name="Shape 7"/>
          <p:cNvSpPr/>
          <p:nvPr/>
        </p:nvSpPr>
        <p:spPr>
          <a:xfrm>
            <a:off x="822960" y="2880360"/>
            <a:ext cx="420624" cy="420624"/>
          </a:xfrm>
          <a:prstGeom prst="ellipse">
            <a:avLst/>
          </a:prstGeom>
          <a:solidFill>
            <a:srgbClr val="27D3BE"/>
          </a:solidFill>
          <a:ln/>
        </p:spPr>
      </p:sp>
      <p:sp>
        <p:nvSpPr>
          <p:cNvPr id="10" name="Text 8"/>
          <p:cNvSpPr/>
          <p:nvPr/>
        </p:nvSpPr>
        <p:spPr>
          <a:xfrm>
            <a:off x="822960" y="2880360"/>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63040" y="2651760"/>
            <a:ext cx="9875520" cy="86868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De la prévalence la plus faible à la plus forte, la VPP est multipliée par plus de cinq ; la VPN baisse un peu.</a:t>
            </a:r>
            <a:endParaRPr lang="en-US" sz="1800" dirty="0"/>
          </a:p>
        </p:txBody>
      </p:sp>
      <p:sp>
        <p:nvSpPr>
          <p:cNvPr id="12" name="Shape 10"/>
          <p:cNvSpPr/>
          <p:nvPr/>
        </p:nvSpPr>
        <p:spPr>
          <a:xfrm>
            <a:off x="594360" y="3657600"/>
            <a:ext cx="10972800" cy="868680"/>
          </a:xfrm>
          <a:prstGeom prst="roundRect">
            <a:avLst>
              <a:gd name="adj" fmla="val 9474"/>
            </a:avLst>
          </a:prstGeom>
          <a:solidFill>
            <a:srgbClr val="1D1F2B"/>
          </a:solidFill>
          <a:ln w="12700">
            <a:solidFill>
              <a:srgbClr val="1D1F2B"/>
            </a:solidFill>
            <a:prstDash val="solid"/>
          </a:ln>
        </p:spPr>
      </p:sp>
      <p:sp>
        <p:nvSpPr>
          <p:cNvPr id="13" name="Shape 11"/>
          <p:cNvSpPr/>
          <p:nvPr/>
        </p:nvSpPr>
        <p:spPr>
          <a:xfrm>
            <a:off x="822960" y="3886200"/>
            <a:ext cx="420624" cy="420624"/>
          </a:xfrm>
          <a:prstGeom prst="ellipse">
            <a:avLst/>
          </a:prstGeom>
          <a:solidFill>
            <a:srgbClr val="27D3BE"/>
          </a:solidFill>
          <a:ln/>
        </p:spPr>
      </p:sp>
      <p:sp>
        <p:nvSpPr>
          <p:cNvPr id="14" name="Text 12"/>
          <p:cNvSpPr/>
          <p:nvPr/>
        </p:nvSpPr>
        <p:spPr>
          <a:xfrm>
            <a:off x="822960" y="3886200"/>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463040" y="3657600"/>
            <a:ext cx="9875520" cy="86868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Là où la maladie est rare, chaque malade trouvé s’accompagne de plus de cinq fausses alertes.</a:t>
            </a:r>
            <a:endParaRPr lang="en-US" sz="1800" dirty="0"/>
          </a:p>
        </p:txBody>
      </p:sp>
      <p:sp>
        <p:nvSpPr>
          <p:cNvPr id="16" name="Shape 14"/>
          <p:cNvSpPr/>
          <p:nvPr/>
        </p:nvSpPr>
        <p:spPr>
          <a:xfrm>
            <a:off x="594360" y="4754880"/>
            <a:ext cx="10972800" cy="1143000"/>
          </a:xfrm>
          <a:prstGeom prst="roundRect">
            <a:avLst>
              <a:gd name="adj" fmla="val 7200"/>
            </a:avLst>
          </a:prstGeom>
          <a:solidFill>
            <a:srgbClr val="272A38"/>
          </a:solidFill>
          <a:ln w="12700">
            <a:solidFill>
              <a:srgbClr val="272A38"/>
            </a:solidFill>
            <a:prstDash val="solid"/>
          </a:ln>
        </p:spPr>
      </p:sp>
      <p:sp>
        <p:nvSpPr>
          <p:cNvPr id="17" name="Text 15"/>
          <p:cNvSpPr/>
          <p:nvPr/>
        </p:nvSpPr>
        <p:spPr>
          <a:xfrm>
            <a:off x="868680" y="4754880"/>
            <a:ext cx="10424160" cy="114300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C’est pourquoi les programmes choisissent la tranche d’âge ; un test « pour tous, pour être sûr » peut faire plus de mal.</a:t>
            </a:r>
            <a:endParaRPr lang="en-US" sz="1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 DÉPISTAGE EN DEUX ÉTAPES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Le premier test filtre, le second confirme</a:t>
            </a:r>
            <a:endParaRPr lang="en-US" sz="3200" dirty="0"/>
          </a:p>
        </p:txBody>
      </p:sp>
      <p:sp>
        <p:nvSpPr>
          <p:cNvPr id="4" name="Shape 2"/>
          <p:cNvSpPr/>
          <p:nvPr/>
        </p:nvSpPr>
        <p:spPr>
          <a:xfrm>
            <a:off x="594360" y="1691640"/>
            <a:ext cx="2468880" cy="1188720"/>
          </a:xfrm>
          <a:prstGeom prst="roundRect">
            <a:avLst>
              <a:gd name="adj" fmla="val 6923"/>
            </a:avLst>
          </a:prstGeom>
          <a:solidFill>
            <a:srgbClr val="585A64"/>
          </a:solidFill>
          <a:ln w="12700">
            <a:solidFill>
              <a:srgbClr val="585A64"/>
            </a:solidFill>
            <a:prstDash val="solid"/>
          </a:ln>
        </p:spPr>
      </p:sp>
      <p:sp>
        <p:nvSpPr>
          <p:cNvPr id="5" name="Text 3"/>
          <p:cNvSpPr/>
          <p:nvPr/>
        </p:nvSpPr>
        <p:spPr>
          <a:xfrm>
            <a:off x="731520" y="1691640"/>
            <a:ext cx="2194560"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Toutes les personnes invitées</a:t>
            </a:r>
            <a:endParaRPr lang="en-US" sz="1500" dirty="0"/>
          </a:p>
        </p:txBody>
      </p:sp>
      <p:sp>
        <p:nvSpPr>
          <p:cNvPr id="6" name="Shape 4"/>
          <p:cNvSpPr/>
          <p:nvPr/>
        </p:nvSpPr>
        <p:spPr>
          <a:xfrm>
            <a:off x="3081528" y="2121408"/>
            <a:ext cx="329184" cy="329184"/>
          </a:xfrm>
          <a:prstGeom prst="rightArrow">
            <a:avLst/>
          </a:prstGeom>
          <a:solidFill>
            <a:srgbClr val="B02532"/>
          </a:solidFill>
          <a:ln w="12700">
            <a:solidFill>
              <a:srgbClr val="B02532"/>
            </a:solidFill>
            <a:prstDash val="solid"/>
          </a:ln>
        </p:spPr>
      </p:sp>
      <p:sp>
        <p:nvSpPr>
          <p:cNvPr id="7" name="Shape 5"/>
          <p:cNvSpPr/>
          <p:nvPr/>
        </p:nvSpPr>
        <p:spPr>
          <a:xfrm>
            <a:off x="3429000" y="1691640"/>
            <a:ext cx="2468880" cy="1188720"/>
          </a:xfrm>
          <a:prstGeom prst="roundRect">
            <a:avLst>
              <a:gd name="adj" fmla="val 6923"/>
            </a:avLst>
          </a:prstGeom>
          <a:solidFill>
            <a:srgbClr val="0E7C6B"/>
          </a:solidFill>
          <a:ln w="12700">
            <a:solidFill>
              <a:srgbClr val="0E7C6B"/>
            </a:solidFill>
            <a:prstDash val="solid"/>
          </a:ln>
        </p:spPr>
      </p:sp>
      <p:sp>
        <p:nvSpPr>
          <p:cNvPr id="8" name="Text 6"/>
          <p:cNvSpPr/>
          <p:nvPr/>
        </p:nvSpPr>
        <p:spPr>
          <a:xfrm>
            <a:off x="3566160" y="1691640"/>
            <a:ext cx="2194560"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Étape 1 : test peu coûteux, très sensible</a:t>
            </a:r>
            <a:endParaRPr lang="en-US" sz="1500" dirty="0"/>
          </a:p>
        </p:txBody>
      </p:sp>
      <p:sp>
        <p:nvSpPr>
          <p:cNvPr id="9" name="Shape 7"/>
          <p:cNvSpPr/>
          <p:nvPr/>
        </p:nvSpPr>
        <p:spPr>
          <a:xfrm>
            <a:off x="5916168" y="2121408"/>
            <a:ext cx="329184" cy="329184"/>
          </a:xfrm>
          <a:prstGeom prst="rightArrow">
            <a:avLst/>
          </a:prstGeom>
          <a:solidFill>
            <a:srgbClr val="B02532"/>
          </a:solidFill>
          <a:ln w="12700">
            <a:solidFill>
              <a:srgbClr val="B02532"/>
            </a:solidFill>
            <a:prstDash val="solid"/>
          </a:ln>
        </p:spPr>
      </p:sp>
      <p:sp>
        <p:nvSpPr>
          <p:cNvPr id="10" name="Shape 8"/>
          <p:cNvSpPr/>
          <p:nvPr/>
        </p:nvSpPr>
        <p:spPr>
          <a:xfrm>
            <a:off x="6263640" y="1691640"/>
            <a:ext cx="2468880" cy="1188720"/>
          </a:xfrm>
          <a:prstGeom prst="roundRect">
            <a:avLst>
              <a:gd name="adj" fmla="val 6923"/>
            </a:avLst>
          </a:prstGeom>
          <a:solidFill>
            <a:srgbClr val="9C4A0A"/>
          </a:solidFill>
          <a:ln w="12700">
            <a:solidFill>
              <a:srgbClr val="9C4A0A"/>
            </a:solidFill>
            <a:prstDash val="solid"/>
          </a:ln>
        </p:spPr>
      </p:sp>
      <p:sp>
        <p:nvSpPr>
          <p:cNvPr id="11" name="Text 9"/>
          <p:cNvSpPr/>
          <p:nvPr/>
        </p:nvSpPr>
        <p:spPr>
          <a:xfrm>
            <a:off x="6400800" y="1691640"/>
            <a:ext cx="2194560"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Les positifs : la maladie, bien plus fréquente</a:t>
            </a:r>
            <a:endParaRPr lang="en-US" sz="1500" dirty="0"/>
          </a:p>
        </p:txBody>
      </p:sp>
      <p:sp>
        <p:nvSpPr>
          <p:cNvPr id="12" name="Shape 10"/>
          <p:cNvSpPr/>
          <p:nvPr/>
        </p:nvSpPr>
        <p:spPr>
          <a:xfrm>
            <a:off x="8750808" y="2121408"/>
            <a:ext cx="329184" cy="329184"/>
          </a:xfrm>
          <a:prstGeom prst="rightArrow">
            <a:avLst/>
          </a:prstGeom>
          <a:solidFill>
            <a:srgbClr val="B02532"/>
          </a:solidFill>
          <a:ln w="12700">
            <a:solidFill>
              <a:srgbClr val="B02532"/>
            </a:solidFill>
            <a:prstDash val="solid"/>
          </a:ln>
        </p:spPr>
      </p:sp>
      <p:sp>
        <p:nvSpPr>
          <p:cNvPr id="13" name="Shape 11"/>
          <p:cNvSpPr/>
          <p:nvPr/>
        </p:nvSpPr>
        <p:spPr>
          <a:xfrm>
            <a:off x="9098280" y="1691640"/>
            <a:ext cx="2468880" cy="1188720"/>
          </a:xfrm>
          <a:prstGeom prst="roundRect">
            <a:avLst>
              <a:gd name="adj" fmla="val 6923"/>
            </a:avLst>
          </a:prstGeom>
          <a:solidFill>
            <a:srgbClr val="4A2D8C"/>
          </a:solidFill>
          <a:ln w="12700">
            <a:solidFill>
              <a:srgbClr val="4A2D8C"/>
            </a:solidFill>
            <a:prstDash val="solid"/>
          </a:ln>
        </p:spPr>
      </p:sp>
      <p:sp>
        <p:nvSpPr>
          <p:cNvPr id="14" name="Text 12"/>
          <p:cNvSpPr/>
          <p:nvPr/>
        </p:nvSpPr>
        <p:spPr>
          <a:xfrm>
            <a:off x="9235440" y="1691640"/>
            <a:ext cx="2194560"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Étape 2 : test très spécifique</a:t>
            </a:r>
            <a:endParaRPr lang="en-US" sz="1500" dirty="0"/>
          </a:p>
        </p:txBody>
      </p:sp>
      <p:sp>
        <p:nvSpPr>
          <p:cNvPr id="15" name="Shape 13"/>
          <p:cNvSpPr/>
          <p:nvPr/>
        </p:nvSpPr>
        <p:spPr>
          <a:xfrm>
            <a:off x="594360" y="3200400"/>
            <a:ext cx="10972800" cy="914400"/>
          </a:xfrm>
          <a:prstGeom prst="roundRect">
            <a:avLst>
              <a:gd name="adj" fmla="val 9000"/>
            </a:avLst>
          </a:prstGeom>
          <a:solidFill>
            <a:srgbClr val="ECEAE4"/>
          </a:solidFill>
          <a:ln w="12700">
            <a:solidFill>
              <a:srgbClr val="ECEAE4"/>
            </a:solidFill>
            <a:prstDash val="solid"/>
          </a:ln>
        </p:spPr>
      </p:sp>
      <p:sp>
        <p:nvSpPr>
          <p:cNvPr id="16" name="Text 14"/>
          <p:cNvSpPr/>
          <p:nvPr/>
        </p:nvSpPr>
        <p:spPr>
          <a:xfrm>
            <a:off x="868680" y="3200400"/>
            <a:ext cx="4206240" cy="914400"/>
          </a:xfrm>
          <a:prstGeom prst="rect">
            <a:avLst/>
          </a:prstGeom>
          <a:noFill/>
          <a:ln/>
        </p:spPr>
        <p:txBody>
          <a:bodyPr wrap="square" lIns="0" tIns="0" rIns="0" bIns="0" rtlCol="0" anchor="ctr"/>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Sang occulte dans les selles</a:t>
            </a:r>
            <a:endParaRPr lang="en-US" sz="1900" dirty="0"/>
          </a:p>
        </p:txBody>
      </p:sp>
      <p:sp>
        <p:nvSpPr>
          <p:cNvPr id="17" name="Shape 15"/>
          <p:cNvSpPr/>
          <p:nvPr/>
        </p:nvSpPr>
        <p:spPr>
          <a:xfrm>
            <a:off x="5212080" y="3493008"/>
            <a:ext cx="457200" cy="329184"/>
          </a:xfrm>
          <a:prstGeom prst="rightArrow">
            <a:avLst/>
          </a:prstGeom>
          <a:solidFill>
            <a:srgbClr val="B02532"/>
          </a:solidFill>
          <a:ln w="12700">
            <a:solidFill>
              <a:srgbClr val="B02532"/>
            </a:solidFill>
            <a:prstDash val="solid"/>
          </a:ln>
        </p:spPr>
      </p:sp>
      <p:sp>
        <p:nvSpPr>
          <p:cNvPr id="18" name="Text 16"/>
          <p:cNvSpPr/>
          <p:nvPr/>
        </p:nvSpPr>
        <p:spPr>
          <a:xfrm>
            <a:off x="5852160" y="3200400"/>
            <a:ext cx="5486400" cy="914400"/>
          </a:xfrm>
          <a:prstGeom prst="rect">
            <a:avLst/>
          </a:prstGeom>
          <a:noFill/>
          <a:ln/>
        </p:spPr>
        <p:txBody>
          <a:bodyPr wrap="square" lIns="0" tIns="0" rIns="0" bIns="0" rtlCol="0" anchor="ctr"/>
          <a:lstStyle/>
          <a:p>
            <a:pPr indent="0" marL="0">
              <a:buNone/>
            </a:pPr>
            <a:r>
              <a:rPr lang="en-US" sz="1900" b="1" dirty="0">
                <a:solidFill>
                  <a:srgbClr val="4A2D8C"/>
                </a:solidFill>
                <a:latin typeface="Palatino Linotype" pitchFamily="34" charset="0"/>
                <a:ea typeface="Palatino Linotype" pitchFamily="34" charset="-122"/>
                <a:cs typeface="Palatino Linotype" pitchFamily="34" charset="-120"/>
              </a:rPr>
              <a:t>coloscopie</a:t>
            </a:r>
            <a:endParaRPr lang="en-US" sz="1900" dirty="0"/>
          </a:p>
        </p:txBody>
      </p:sp>
      <p:sp>
        <p:nvSpPr>
          <p:cNvPr id="19" name="Shape 17"/>
          <p:cNvSpPr/>
          <p:nvPr/>
        </p:nvSpPr>
        <p:spPr>
          <a:xfrm>
            <a:off x="594360" y="4297680"/>
            <a:ext cx="10972800" cy="914400"/>
          </a:xfrm>
          <a:prstGeom prst="roundRect">
            <a:avLst>
              <a:gd name="adj" fmla="val 9000"/>
            </a:avLst>
          </a:prstGeom>
          <a:solidFill>
            <a:srgbClr val="ECEAE4"/>
          </a:solidFill>
          <a:ln w="12700">
            <a:solidFill>
              <a:srgbClr val="ECEAE4"/>
            </a:solidFill>
            <a:prstDash val="solid"/>
          </a:ln>
        </p:spPr>
      </p:sp>
      <p:sp>
        <p:nvSpPr>
          <p:cNvPr id="20" name="Text 18"/>
          <p:cNvSpPr/>
          <p:nvPr/>
        </p:nvSpPr>
        <p:spPr>
          <a:xfrm>
            <a:off x="868680" y="4297680"/>
            <a:ext cx="4206240" cy="914400"/>
          </a:xfrm>
          <a:prstGeom prst="rect">
            <a:avLst/>
          </a:prstGeom>
          <a:noFill/>
          <a:ln/>
        </p:spPr>
        <p:txBody>
          <a:bodyPr wrap="square" lIns="0" tIns="0" rIns="0" bIns="0" rtlCol="0" anchor="ctr"/>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Test viral HPV</a:t>
            </a:r>
            <a:endParaRPr lang="en-US" sz="1900" dirty="0"/>
          </a:p>
        </p:txBody>
      </p:sp>
      <p:sp>
        <p:nvSpPr>
          <p:cNvPr id="21" name="Shape 19"/>
          <p:cNvSpPr/>
          <p:nvPr/>
        </p:nvSpPr>
        <p:spPr>
          <a:xfrm>
            <a:off x="5212080" y="4590288"/>
            <a:ext cx="457200" cy="329184"/>
          </a:xfrm>
          <a:prstGeom prst="rightArrow">
            <a:avLst/>
          </a:prstGeom>
          <a:solidFill>
            <a:srgbClr val="B02532"/>
          </a:solidFill>
          <a:ln w="12700">
            <a:solidFill>
              <a:srgbClr val="B02532"/>
            </a:solidFill>
            <a:prstDash val="solid"/>
          </a:ln>
        </p:spPr>
      </p:sp>
      <p:sp>
        <p:nvSpPr>
          <p:cNvPr id="22" name="Text 20"/>
          <p:cNvSpPr/>
          <p:nvPr/>
        </p:nvSpPr>
        <p:spPr>
          <a:xfrm>
            <a:off x="5852160" y="4297680"/>
            <a:ext cx="5486400" cy="914400"/>
          </a:xfrm>
          <a:prstGeom prst="rect">
            <a:avLst/>
          </a:prstGeom>
          <a:noFill/>
          <a:ln/>
        </p:spPr>
        <p:txBody>
          <a:bodyPr wrap="square" lIns="0" tIns="0" rIns="0" bIns="0" rtlCol="0" anchor="ctr"/>
          <a:lstStyle/>
          <a:p>
            <a:pPr indent="0" marL="0">
              <a:buNone/>
            </a:pPr>
            <a:r>
              <a:rPr lang="en-US" sz="1900" b="1" dirty="0">
                <a:solidFill>
                  <a:srgbClr val="4A2D8C"/>
                </a:solidFill>
                <a:latin typeface="Palatino Linotype" pitchFamily="34" charset="0"/>
                <a:ea typeface="Palatino Linotype" pitchFamily="34" charset="-122"/>
                <a:cs typeface="Palatino Linotype" pitchFamily="34" charset="-120"/>
              </a:rPr>
              <a:t>cytologie : la stratégie roumaine de 2024</a:t>
            </a:r>
            <a:endParaRPr lang="en-US" sz="1900" dirty="0"/>
          </a:p>
        </p:txBody>
      </p:sp>
      <p:sp>
        <p:nvSpPr>
          <p:cNvPr id="23" name="Text 2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Sources : OMS Europe, 2020 ; Cochrane, 2017 ; OCDE/CE, 2025.</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 TEST « PRESQUE PARFAIT »</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Une personne malade sur dix mille</a:t>
            </a:r>
            <a:endParaRPr lang="en-US" sz="3000" dirty="0"/>
          </a:p>
        </p:txBody>
      </p:sp>
      <p:sp>
        <p:nvSpPr>
          <p:cNvPr id="6" name="Shape 4"/>
          <p:cNvSpPr/>
          <p:nvPr/>
        </p:nvSpPr>
        <p:spPr>
          <a:xfrm>
            <a:off x="594360" y="1600200"/>
            <a:ext cx="10972800" cy="1143000"/>
          </a:xfrm>
          <a:prstGeom prst="roundRect">
            <a:avLst>
              <a:gd name="adj" fmla="val 7200"/>
            </a:avLst>
          </a:prstGeom>
          <a:solidFill>
            <a:srgbClr val="272A38"/>
          </a:solidFill>
          <a:ln w="12700">
            <a:solidFill>
              <a:srgbClr val="272A38"/>
            </a:solidFill>
            <a:prstDash val="solid"/>
          </a:ln>
        </p:spPr>
      </p:sp>
      <p:sp>
        <p:nvSpPr>
          <p:cNvPr id="7" name="Text 5"/>
          <p:cNvSpPr/>
          <p:nvPr/>
        </p:nvSpPr>
        <p:spPr>
          <a:xfrm>
            <a:off x="868680" y="1600200"/>
            <a:ext cx="10424160" cy="114300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Sensibilité et spécificité du test : quatre-vingt-dix-neuf pour cent. Sur cent résultats positifs, combien appartiennent à des malades ?</a:t>
            </a:r>
            <a:endParaRPr lang="en-US" sz="1900" dirty="0"/>
          </a:p>
        </p:txBody>
      </p:sp>
      <p:sp>
        <p:nvSpPr>
          <p:cNvPr id="8" name="Shape 6"/>
          <p:cNvSpPr/>
          <p:nvPr/>
        </p:nvSpPr>
        <p:spPr>
          <a:xfrm>
            <a:off x="594360" y="2880360"/>
            <a:ext cx="10972800" cy="475488"/>
          </a:xfrm>
          <a:prstGeom prst="roundRect">
            <a:avLst>
              <a:gd name="adj" fmla="val 17308"/>
            </a:avLst>
          </a:prstGeom>
          <a:solidFill>
            <a:srgbClr val="1D1F2B"/>
          </a:solidFill>
          <a:ln w="12700">
            <a:solidFill>
              <a:srgbClr val="1D1F2B"/>
            </a:solidFill>
            <a:prstDash val="solid"/>
          </a:ln>
        </p:spPr>
      </p:sp>
      <p:sp>
        <p:nvSpPr>
          <p:cNvPr id="9" name="Shape 7"/>
          <p:cNvSpPr/>
          <p:nvPr/>
        </p:nvSpPr>
        <p:spPr>
          <a:xfrm>
            <a:off x="777240" y="2907792"/>
            <a:ext cx="420624" cy="420624"/>
          </a:xfrm>
          <a:prstGeom prst="ellipse">
            <a:avLst/>
          </a:prstGeom>
          <a:solidFill>
            <a:srgbClr val="FFC24B"/>
          </a:solidFill>
          <a:ln/>
        </p:spPr>
      </p:sp>
      <p:sp>
        <p:nvSpPr>
          <p:cNvPr id="10" name="Text 8"/>
          <p:cNvSpPr/>
          <p:nvPr/>
        </p:nvSpPr>
        <p:spPr>
          <a:xfrm>
            <a:off x="777240" y="29077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1" name="Text 9"/>
          <p:cNvSpPr/>
          <p:nvPr/>
        </p:nvSpPr>
        <p:spPr>
          <a:xfrm>
            <a:off x="1371600" y="2880360"/>
            <a:ext cx="10058400" cy="47548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Presque tous</a:t>
            </a:r>
            <a:endParaRPr lang="en-US" sz="1800" dirty="0"/>
          </a:p>
        </p:txBody>
      </p:sp>
      <p:sp>
        <p:nvSpPr>
          <p:cNvPr id="12" name="Shape 10"/>
          <p:cNvSpPr/>
          <p:nvPr/>
        </p:nvSpPr>
        <p:spPr>
          <a:xfrm>
            <a:off x="594360" y="3483864"/>
            <a:ext cx="10972800" cy="475488"/>
          </a:xfrm>
          <a:prstGeom prst="roundRect">
            <a:avLst>
              <a:gd name="adj" fmla="val 17308"/>
            </a:avLst>
          </a:prstGeom>
          <a:solidFill>
            <a:srgbClr val="1D1F2B"/>
          </a:solidFill>
          <a:ln w="12700">
            <a:solidFill>
              <a:srgbClr val="1D1F2B"/>
            </a:solidFill>
            <a:prstDash val="solid"/>
          </a:ln>
        </p:spPr>
      </p:sp>
      <p:sp>
        <p:nvSpPr>
          <p:cNvPr id="13" name="Shape 11"/>
          <p:cNvSpPr/>
          <p:nvPr/>
        </p:nvSpPr>
        <p:spPr>
          <a:xfrm>
            <a:off x="777240" y="3511296"/>
            <a:ext cx="420624" cy="420624"/>
          </a:xfrm>
          <a:prstGeom prst="ellipse">
            <a:avLst/>
          </a:prstGeom>
          <a:solidFill>
            <a:srgbClr val="FFC24B"/>
          </a:solidFill>
          <a:ln/>
        </p:spPr>
      </p:sp>
      <p:sp>
        <p:nvSpPr>
          <p:cNvPr id="14" name="Text 12"/>
          <p:cNvSpPr/>
          <p:nvPr/>
        </p:nvSpPr>
        <p:spPr>
          <a:xfrm>
            <a:off x="777240" y="35112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5" name="Text 13"/>
          <p:cNvSpPr/>
          <p:nvPr/>
        </p:nvSpPr>
        <p:spPr>
          <a:xfrm>
            <a:off x="1371600" y="3483864"/>
            <a:ext cx="10058400" cy="47548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Environ la moitié</a:t>
            </a:r>
            <a:endParaRPr lang="en-US" sz="1800" dirty="0"/>
          </a:p>
        </p:txBody>
      </p:sp>
      <p:sp>
        <p:nvSpPr>
          <p:cNvPr id="16" name="Shape 14"/>
          <p:cNvSpPr/>
          <p:nvPr/>
        </p:nvSpPr>
        <p:spPr>
          <a:xfrm>
            <a:off x="594360" y="4087368"/>
            <a:ext cx="10972800" cy="475488"/>
          </a:xfrm>
          <a:prstGeom prst="roundRect">
            <a:avLst>
              <a:gd name="adj" fmla="val 17308"/>
            </a:avLst>
          </a:prstGeom>
          <a:solidFill>
            <a:srgbClr val="1D1F2B"/>
          </a:solidFill>
          <a:ln w="12700">
            <a:solidFill>
              <a:srgbClr val="1D1F2B"/>
            </a:solidFill>
            <a:prstDash val="solid"/>
          </a:ln>
        </p:spPr>
      </p:sp>
      <p:sp>
        <p:nvSpPr>
          <p:cNvPr id="17" name="Shape 15"/>
          <p:cNvSpPr/>
          <p:nvPr/>
        </p:nvSpPr>
        <p:spPr>
          <a:xfrm>
            <a:off x="777240" y="4114800"/>
            <a:ext cx="420624" cy="420624"/>
          </a:xfrm>
          <a:prstGeom prst="ellipse">
            <a:avLst/>
          </a:prstGeom>
          <a:solidFill>
            <a:srgbClr val="FFC24B"/>
          </a:solidFill>
          <a:ln/>
        </p:spPr>
      </p:sp>
      <p:sp>
        <p:nvSpPr>
          <p:cNvPr id="18" name="Text 16"/>
          <p:cNvSpPr/>
          <p:nvPr/>
        </p:nvSpPr>
        <p:spPr>
          <a:xfrm>
            <a:off x="777240" y="41148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9" name="Text 17"/>
          <p:cNvSpPr/>
          <p:nvPr/>
        </p:nvSpPr>
        <p:spPr>
          <a:xfrm>
            <a:off x="1371600" y="4087368"/>
            <a:ext cx="10058400" cy="47548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Environ dix</a:t>
            </a:r>
            <a:endParaRPr lang="en-US" sz="1800" dirty="0"/>
          </a:p>
        </p:txBody>
      </p:sp>
      <p:sp>
        <p:nvSpPr>
          <p:cNvPr id="20" name="Shape 18"/>
          <p:cNvSpPr/>
          <p:nvPr/>
        </p:nvSpPr>
        <p:spPr>
          <a:xfrm>
            <a:off x="594360" y="4690872"/>
            <a:ext cx="10972800" cy="475488"/>
          </a:xfrm>
          <a:prstGeom prst="roundRect">
            <a:avLst>
              <a:gd name="adj" fmla="val 17308"/>
            </a:avLst>
          </a:prstGeom>
          <a:solidFill>
            <a:srgbClr val="1D1F2B"/>
          </a:solidFill>
          <a:ln w="12700">
            <a:solidFill>
              <a:srgbClr val="1D1F2B"/>
            </a:solidFill>
            <a:prstDash val="solid"/>
          </a:ln>
        </p:spPr>
      </p:sp>
      <p:sp>
        <p:nvSpPr>
          <p:cNvPr id="21" name="Shape 19"/>
          <p:cNvSpPr/>
          <p:nvPr/>
        </p:nvSpPr>
        <p:spPr>
          <a:xfrm>
            <a:off x="777240" y="4718304"/>
            <a:ext cx="420624" cy="420624"/>
          </a:xfrm>
          <a:prstGeom prst="ellipse">
            <a:avLst/>
          </a:prstGeom>
          <a:solidFill>
            <a:srgbClr val="FFC24B"/>
          </a:solidFill>
          <a:ln/>
        </p:spPr>
      </p:sp>
      <p:sp>
        <p:nvSpPr>
          <p:cNvPr id="22" name="Text 20"/>
          <p:cNvSpPr/>
          <p:nvPr/>
        </p:nvSpPr>
        <p:spPr>
          <a:xfrm>
            <a:off x="777240" y="47183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3" name="Text 21"/>
          <p:cNvSpPr/>
          <p:nvPr/>
        </p:nvSpPr>
        <p:spPr>
          <a:xfrm>
            <a:off x="1371600" y="4690872"/>
            <a:ext cx="10058400" cy="47548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Un ou moins</a:t>
            </a:r>
            <a:endParaRPr lang="en-US" sz="1800" dirty="0"/>
          </a:p>
        </p:txBody>
      </p:sp>
      <p:sp>
        <p:nvSpPr>
          <p:cNvPr id="24" name="Text 22"/>
          <p:cNvSpPr/>
          <p:nvPr/>
        </p:nvSpPr>
        <p:spPr>
          <a:xfrm>
            <a:off x="594360" y="5440680"/>
            <a:ext cx="10972800" cy="54864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RÉPONSE : D</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Un ou moins</a:t>
            </a:r>
            <a:endParaRPr lang="en-US" sz="3400" dirty="0"/>
          </a:p>
        </p:txBody>
      </p:sp>
      <p:sp>
        <p:nvSpPr>
          <p:cNvPr id="4" name="Shape 2"/>
          <p:cNvSpPr/>
          <p:nvPr/>
        </p:nvSpPr>
        <p:spPr>
          <a:xfrm>
            <a:off x="594360" y="1645920"/>
            <a:ext cx="10972800" cy="868680"/>
          </a:xfrm>
          <a:prstGeom prst="roundRect">
            <a:avLst>
              <a:gd name="adj" fmla="val 9474"/>
            </a:avLst>
          </a:prstGeom>
          <a:solidFill>
            <a:srgbClr val="ECEAE4"/>
          </a:solidFill>
          <a:ln w="12700">
            <a:solidFill>
              <a:srgbClr val="ECEAE4"/>
            </a:solidFill>
            <a:prstDash val="solid"/>
          </a:ln>
        </p:spPr>
      </p:sp>
      <p:sp>
        <p:nvSpPr>
          <p:cNvPr id="5" name="Shape 3"/>
          <p:cNvSpPr/>
          <p:nvPr/>
        </p:nvSpPr>
        <p:spPr>
          <a:xfrm>
            <a:off x="822960" y="1874520"/>
            <a:ext cx="420624" cy="420624"/>
          </a:xfrm>
          <a:prstGeom prst="ellipse">
            <a:avLst/>
          </a:prstGeom>
          <a:solidFill>
            <a:srgbClr val="FF4757"/>
          </a:solidFill>
          <a:ln/>
        </p:spPr>
      </p:sp>
      <p:sp>
        <p:nvSpPr>
          <p:cNvPr id="6" name="Text 4"/>
          <p:cNvSpPr/>
          <p:nvPr/>
        </p:nvSpPr>
        <p:spPr>
          <a:xfrm>
            <a:off x="822960" y="187452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63040" y="1645920"/>
            <a:ext cx="9875520" cy="86868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Sur un million de personnes : cent malades, dont quatre-vingt-dix-neuf trouvés.</a:t>
            </a:r>
            <a:endParaRPr lang="en-US" sz="1900" dirty="0"/>
          </a:p>
        </p:txBody>
      </p:sp>
      <p:sp>
        <p:nvSpPr>
          <p:cNvPr id="8" name="Shape 6"/>
          <p:cNvSpPr/>
          <p:nvPr/>
        </p:nvSpPr>
        <p:spPr>
          <a:xfrm>
            <a:off x="594360" y="2651760"/>
            <a:ext cx="10972800" cy="868680"/>
          </a:xfrm>
          <a:prstGeom prst="roundRect">
            <a:avLst>
              <a:gd name="adj" fmla="val 9474"/>
            </a:avLst>
          </a:prstGeom>
          <a:solidFill>
            <a:srgbClr val="ECEAE4"/>
          </a:solidFill>
          <a:ln w="12700">
            <a:solidFill>
              <a:srgbClr val="ECEAE4"/>
            </a:solidFill>
            <a:prstDash val="solid"/>
          </a:ln>
        </p:spPr>
      </p:sp>
      <p:sp>
        <p:nvSpPr>
          <p:cNvPr id="9" name="Shape 7"/>
          <p:cNvSpPr/>
          <p:nvPr/>
        </p:nvSpPr>
        <p:spPr>
          <a:xfrm>
            <a:off x="822960" y="2880360"/>
            <a:ext cx="420624" cy="420624"/>
          </a:xfrm>
          <a:prstGeom prst="ellipse">
            <a:avLst/>
          </a:prstGeom>
          <a:solidFill>
            <a:srgbClr val="FF4757"/>
          </a:solidFill>
          <a:ln/>
        </p:spPr>
      </p:sp>
      <p:sp>
        <p:nvSpPr>
          <p:cNvPr id="10" name="Text 8"/>
          <p:cNvSpPr/>
          <p:nvPr/>
        </p:nvSpPr>
        <p:spPr>
          <a:xfrm>
            <a:off x="822960" y="288036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63040" y="2651760"/>
            <a:ext cx="9875520" cy="86868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Les fausses alertes : près de dix mille.</a:t>
            </a:r>
            <a:endParaRPr lang="en-US" sz="1900" dirty="0"/>
          </a:p>
        </p:txBody>
      </p:sp>
      <p:sp>
        <p:nvSpPr>
          <p:cNvPr id="12" name="Shape 10"/>
          <p:cNvSpPr/>
          <p:nvPr/>
        </p:nvSpPr>
        <p:spPr>
          <a:xfrm>
            <a:off x="594360" y="3657600"/>
            <a:ext cx="10972800" cy="868680"/>
          </a:xfrm>
          <a:prstGeom prst="roundRect">
            <a:avLst>
              <a:gd name="adj" fmla="val 9474"/>
            </a:avLst>
          </a:prstGeom>
          <a:solidFill>
            <a:srgbClr val="ECEAE4"/>
          </a:solidFill>
          <a:ln w="12700">
            <a:solidFill>
              <a:srgbClr val="ECEAE4"/>
            </a:solidFill>
            <a:prstDash val="solid"/>
          </a:ln>
        </p:spPr>
      </p:sp>
      <p:sp>
        <p:nvSpPr>
          <p:cNvPr id="13" name="Shape 11"/>
          <p:cNvSpPr/>
          <p:nvPr/>
        </p:nvSpPr>
        <p:spPr>
          <a:xfrm>
            <a:off x="822960" y="3886200"/>
            <a:ext cx="420624" cy="420624"/>
          </a:xfrm>
          <a:prstGeom prst="ellipse">
            <a:avLst/>
          </a:prstGeom>
          <a:solidFill>
            <a:srgbClr val="FF4757"/>
          </a:solidFill>
          <a:ln/>
        </p:spPr>
      </p:sp>
      <p:sp>
        <p:nvSpPr>
          <p:cNvPr id="14" name="Text 12"/>
          <p:cNvSpPr/>
          <p:nvPr/>
        </p:nvSpPr>
        <p:spPr>
          <a:xfrm>
            <a:off x="822960" y="388620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463040" y="3657600"/>
            <a:ext cx="9875520" cy="86868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Sur cent résultats positifs, environ un est celui d’un malade.</a:t>
            </a:r>
            <a:endParaRPr lang="en-US" sz="1900" dirty="0"/>
          </a:p>
        </p:txBody>
      </p:sp>
      <p:sp>
        <p:nvSpPr>
          <p:cNvPr id="16" name="Shape 14"/>
          <p:cNvSpPr/>
          <p:nvPr/>
        </p:nvSpPr>
        <p:spPr>
          <a:xfrm>
            <a:off x="594360" y="4800600"/>
            <a:ext cx="10972800" cy="1005840"/>
          </a:xfrm>
          <a:prstGeom prst="roundRect">
            <a:avLst>
              <a:gd name="adj" fmla="val 8182"/>
            </a:avLst>
          </a:prstGeom>
          <a:solidFill>
            <a:srgbClr val="11121A"/>
          </a:solidFill>
          <a:ln w="12700">
            <a:solidFill>
              <a:srgbClr val="11121A"/>
            </a:solidFill>
            <a:prstDash val="solid"/>
          </a:ln>
        </p:spPr>
      </p:sp>
      <p:sp>
        <p:nvSpPr>
          <p:cNvPr id="17" name="Text 15"/>
          <p:cNvSpPr/>
          <p:nvPr/>
        </p:nvSpPr>
        <p:spPr>
          <a:xfrm>
            <a:off x="868680" y="4800600"/>
            <a:ext cx="10424160" cy="100584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Un test « très précis », proposé à tous pour une maladie rare, produit surtout des fausses alertes.</a:t>
            </a:r>
            <a:endParaRPr lang="en-US" sz="1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5.5 · COMBIEN FAUT-IL EN INVITER</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Le nombre nécessaire à dépister</a:t>
            </a:r>
            <a:endParaRPr lang="en-US" sz="3200" dirty="0"/>
          </a:p>
        </p:txBody>
      </p:sp>
      <p:sp>
        <p:nvSpPr>
          <p:cNvPr id="4" name="Shape 2"/>
          <p:cNvSpPr/>
          <p:nvPr/>
        </p:nvSpPr>
        <p:spPr>
          <a:xfrm>
            <a:off x="594360" y="1600200"/>
            <a:ext cx="10972800" cy="914400"/>
          </a:xfrm>
          <a:prstGeom prst="roundRect">
            <a:avLst>
              <a:gd name="adj" fmla="val 9000"/>
            </a:avLst>
          </a:prstGeom>
          <a:solidFill>
            <a:srgbClr val="272A38"/>
          </a:solidFill>
          <a:ln w="12700">
            <a:solidFill>
              <a:srgbClr val="272A38"/>
            </a:solidFill>
            <a:prstDash val="solid"/>
          </a:ln>
        </p:spPr>
      </p:sp>
      <p:sp>
        <p:nvSpPr>
          <p:cNvPr id="5" name="Text 3"/>
          <p:cNvSpPr/>
          <p:nvPr/>
        </p:nvSpPr>
        <p:spPr>
          <a:xfrm>
            <a:off x="868680" y="1600200"/>
            <a:ext cx="10424160" cy="914400"/>
          </a:xfrm>
          <a:prstGeom prst="rect">
            <a:avLst/>
          </a:prstGeom>
          <a:noFill/>
          <a:ln/>
        </p:spPr>
        <p:txBody>
          <a:bodyPr wrap="square" lIns="0" tIns="0" rIns="0" bIns="0" rtlCol="0" anchor="ctr"/>
          <a:lstStyle/>
          <a:p>
            <a:pPr algn="ctr" indent="0" marL="0">
              <a:buNone/>
            </a:pPr>
            <a:r>
              <a:rPr lang="en-US" sz="2300" b="1" dirty="0">
                <a:solidFill>
                  <a:srgbClr val="FFC24B"/>
                </a:solidFill>
                <a:latin typeface="Palatino Linotype" pitchFamily="34" charset="0"/>
                <a:ea typeface="Palatino Linotype" pitchFamily="34" charset="-122"/>
                <a:cs typeface="Palatino Linotype" pitchFamily="34" charset="-120"/>
              </a:rPr>
              <a:t>NND = 1 / (mortalité sans dépistage − mortalité avec dépistage)</a:t>
            </a:r>
            <a:endParaRPr lang="en-US" sz="2300" dirty="0"/>
          </a:p>
        </p:txBody>
      </p:sp>
      <p:sp>
        <p:nvSpPr>
          <p:cNvPr id="6" name="Text 4"/>
          <p:cNvSpPr/>
          <p:nvPr/>
        </p:nvSpPr>
        <p:spPr>
          <a:xfrm>
            <a:off x="594360" y="2697480"/>
            <a:ext cx="10972800" cy="77724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L’inverse de la différence absolue de mortalité par la maladie recherchée, comme le nombre de patients à traiter. En anglais : NNS.</a:t>
            </a:r>
            <a:endParaRPr lang="en-US" sz="1800" dirty="0"/>
          </a:p>
        </p:txBody>
      </p:sp>
      <p:sp>
        <p:nvSpPr>
          <p:cNvPr id="7" name="Shape 5"/>
          <p:cNvSpPr/>
          <p:nvPr/>
        </p:nvSpPr>
        <p:spPr>
          <a:xfrm>
            <a:off x="594360" y="3611880"/>
            <a:ext cx="5349240" cy="1325880"/>
          </a:xfrm>
          <a:prstGeom prst="roundRect">
            <a:avLst>
              <a:gd name="adj" fmla="val 6207"/>
            </a:avLst>
          </a:prstGeom>
          <a:solidFill>
            <a:srgbClr val="1D1F2B"/>
          </a:solidFill>
          <a:ln w="12700">
            <a:solidFill>
              <a:srgbClr val="1D1F2B"/>
            </a:solidFill>
            <a:prstDash val="solid"/>
          </a:ln>
        </p:spPr>
      </p:sp>
      <p:sp>
        <p:nvSpPr>
          <p:cNvPr id="8" name="Text 6"/>
          <p:cNvSpPr/>
          <p:nvPr/>
        </p:nvSpPr>
        <p:spPr>
          <a:xfrm>
            <a:off x="868680" y="3675888"/>
            <a:ext cx="4846320" cy="45720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Sur les personnes testées</a:t>
            </a:r>
            <a:endParaRPr lang="en-US" sz="1800" dirty="0"/>
          </a:p>
        </p:txBody>
      </p:sp>
      <p:sp>
        <p:nvSpPr>
          <p:cNvPr id="9" name="Text 7"/>
          <p:cNvSpPr/>
          <p:nvPr/>
        </p:nvSpPr>
        <p:spPr>
          <a:xfrm>
            <a:off x="868680" y="4133088"/>
            <a:ext cx="4846320" cy="7315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le nombre nécessaire à dépister, au sens strict</a:t>
            </a:r>
            <a:endParaRPr lang="en-US" sz="1700" dirty="0"/>
          </a:p>
        </p:txBody>
      </p:sp>
      <p:sp>
        <p:nvSpPr>
          <p:cNvPr id="10" name="Shape 8"/>
          <p:cNvSpPr/>
          <p:nvPr/>
        </p:nvSpPr>
        <p:spPr>
          <a:xfrm>
            <a:off x="6217920" y="3611880"/>
            <a:ext cx="5349240" cy="1325880"/>
          </a:xfrm>
          <a:prstGeom prst="roundRect">
            <a:avLst>
              <a:gd name="adj" fmla="val 6207"/>
            </a:avLst>
          </a:prstGeom>
          <a:solidFill>
            <a:srgbClr val="1D1F2B"/>
          </a:solidFill>
          <a:ln w="12700">
            <a:solidFill>
              <a:srgbClr val="1D1F2B"/>
            </a:solidFill>
            <a:prstDash val="solid"/>
          </a:ln>
        </p:spPr>
      </p:sp>
      <p:sp>
        <p:nvSpPr>
          <p:cNvPr id="11" name="Text 9"/>
          <p:cNvSpPr/>
          <p:nvPr/>
        </p:nvSpPr>
        <p:spPr>
          <a:xfrm>
            <a:off x="6492240" y="3675888"/>
            <a:ext cx="4846320" cy="45720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Sur toutes les personnes invitées</a:t>
            </a:r>
            <a:endParaRPr lang="en-US" sz="1800" dirty="0"/>
          </a:p>
        </p:txBody>
      </p:sp>
      <p:sp>
        <p:nvSpPr>
          <p:cNvPr id="12" name="Text 10"/>
          <p:cNvSpPr/>
          <p:nvPr/>
        </p:nvSpPr>
        <p:spPr>
          <a:xfrm>
            <a:off x="6492240" y="4133088"/>
            <a:ext cx="4846320" cy="7315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le nombre nécessaire à inviter : c’est ainsi qu’on juge un programme</a:t>
            </a:r>
            <a:endParaRPr lang="en-US" sz="1700" dirty="0"/>
          </a:p>
        </p:txBody>
      </p:sp>
      <p:sp>
        <p:nvSpPr>
          <p:cNvPr id="13" name="Text 11"/>
          <p:cNvSpPr/>
          <p:nvPr/>
        </p:nvSpPr>
        <p:spPr>
          <a:xfrm>
            <a:off x="594360" y="5166360"/>
            <a:ext cx="10972800" cy="54864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Il n’a de sens qu’avec la période et le résultat mesuré.</a:t>
            </a:r>
            <a:endParaRPr lang="en-US" sz="18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Sources : Liu et al., BMC Medicine ; Rembold, 1998.</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VALEURS HYPOTHÉTIQUES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Un décès évité n’est pas un cas trouvé</a:t>
            </a:r>
            <a:endParaRPr lang="en-US" sz="3200" dirty="0"/>
          </a:p>
        </p:txBody>
      </p:sp>
      <p:sp>
        <p:nvSpPr>
          <p:cNvPr id="4" name="Shape 2"/>
          <p:cNvSpPr/>
          <p:nvPr/>
        </p:nvSpPr>
        <p:spPr>
          <a:xfrm>
            <a:off x="594360" y="1645920"/>
            <a:ext cx="5349240" cy="2743200"/>
          </a:xfrm>
          <a:prstGeom prst="roundRect">
            <a:avLst>
              <a:gd name="adj" fmla="val 3000"/>
            </a:avLst>
          </a:prstGeom>
          <a:solidFill>
            <a:srgbClr val="ECEAE4"/>
          </a:solidFill>
          <a:ln w="12700">
            <a:solidFill>
              <a:srgbClr val="ECEAE4"/>
            </a:solidFill>
            <a:prstDash val="solid"/>
          </a:ln>
        </p:spPr>
      </p:sp>
      <p:sp>
        <p:nvSpPr>
          <p:cNvPr id="5" name="Text 3"/>
          <p:cNvSpPr/>
          <p:nvPr/>
        </p:nvSpPr>
        <p:spPr>
          <a:xfrm>
            <a:off x="868680" y="1783080"/>
            <a:ext cx="4846320" cy="365760"/>
          </a:xfrm>
          <a:prstGeom prst="rect">
            <a:avLst/>
          </a:prstGeom>
          <a:noFill/>
          <a:ln/>
        </p:spPr>
        <p:txBody>
          <a:bodyPr wrap="square" lIns="0" tIns="0" rIns="0" bIns="0" rtlCol="0" anchor="t"/>
          <a:lstStyle/>
          <a:p>
            <a:pPr indent="0" marL="0">
              <a:buNone/>
            </a:pPr>
            <a:r>
              <a:rPr lang="en-US" sz="1400" b="1" spc="200" kern="0" dirty="0">
                <a:solidFill>
                  <a:srgbClr val="0E7C6B"/>
                </a:solidFill>
                <a:latin typeface="Palatino Linotype" pitchFamily="34" charset="0"/>
                <a:ea typeface="Palatino Linotype" pitchFamily="34" charset="-122"/>
                <a:cs typeface="Palatino Linotype" pitchFamily="34" charset="-120"/>
              </a:rPr>
              <a:t>LE BÉNÉFICE · DIX ANS</a:t>
            </a:r>
            <a:endParaRPr lang="en-US" sz="1400" dirty="0"/>
          </a:p>
        </p:txBody>
      </p:sp>
      <p:sp>
        <p:nvSpPr>
          <p:cNvPr id="6" name="Shape 4"/>
          <p:cNvSpPr/>
          <p:nvPr/>
        </p:nvSpPr>
        <p:spPr>
          <a:xfrm>
            <a:off x="914400" y="2404872"/>
            <a:ext cx="137160" cy="137160"/>
          </a:xfrm>
          <a:prstGeom prst="ellipse">
            <a:avLst/>
          </a:prstGeom>
          <a:solidFill>
            <a:srgbClr val="0E7C6B"/>
          </a:solidFill>
          <a:ln/>
        </p:spPr>
      </p:sp>
      <p:sp>
        <p:nvSpPr>
          <p:cNvPr id="7" name="Text 5"/>
          <p:cNvSpPr/>
          <p:nvPr/>
        </p:nvSpPr>
        <p:spPr>
          <a:xfrm>
            <a:off x="1188720" y="2212848"/>
            <a:ext cx="457200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meurent de la maladie 0,8 % des non-invités et 0,6 % des invités</a:t>
            </a:r>
            <a:endParaRPr lang="en-US" sz="1700" dirty="0"/>
          </a:p>
        </p:txBody>
      </p:sp>
      <p:sp>
        <p:nvSpPr>
          <p:cNvPr id="8" name="Shape 6"/>
          <p:cNvSpPr/>
          <p:nvPr/>
        </p:nvSpPr>
        <p:spPr>
          <a:xfrm>
            <a:off x="914400" y="3063240"/>
            <a:ext cx="137160" cy="137160"/>
          </a:xfrm>
          <a:prstGeom prst="ellipse">
            <a:avLst/>
          </a:prstGeom>
          <a:solidFill>
            <a:srgbClr val="0E7C6B"/>
          </a:solidFill>
          <a:ln/>
        </p:spPr>
      </p:sp>
      <p:sp>
        <p:nvSpPr>
          <p:cNvPr id="9" name="Text 7"/>
          <p:cNvSpPr/>
          <p:nvPr/>
        </p:nvSpPr>
        <p:spPr>
          <a:xfrm>
            <a:off x="1188720" y="2871216"/>
            <a:ext cx="457200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0,8 % − 0,6 % = 0,2 %, soit 0,002</a:t>
            </a:r>
            <a:endParaRPr lang="en-US" sz="1700" dirty="0"/>
          </a:p>
        </p:txBody>
      </p:sp>
      <p:sp>
        <p:nvSpPr>
          <p:cNvPr id="10" name="Shape 8"/>
          <p:cNvSpPr/>
          <p:nvPr/>
        </p:nvSpPr>
        <p:spPr>
          <a:xfrm>
            <a:off x="914400" y="3721608"/>
            <a:ext cx="137160" cy="137160"/>
          </a:xfrm>
          <a:prstGeom prst="ellipse">
            <a:avLst/>
          </a:prstGeom>
          <a:solidFill>
            <a:srgbClr val="0E7C6B"/>
          </a:solidFill>
          <a:ln/>
        </p:spPr>
      </p:sp>
      <p:sp>
        <p:nvSpPr>
          <p:cNvPr id="11" name="Text 9"/>
          <p:cNvSpPr/>
          <p:nvPr/>
        </p:nvSpPr>
        <p:spPr>
          <a:xfrm>
            <a:off x="1188720" y="3529584"/>
            <a:ext cx="457200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1 / 0,002 = 500 invités pour un décès évité</a:t>
            </a:r>
            <a:endParaRPr lang="en-US" sz="1700" dirty="0"/>
          </a:p>
        </p:txBody>
      </p:sp>
      <p:sp>
        <p:nvSpPr>
          <p:cNvPr id="12" name="Shape 10"/>
          <p:cNvSpPr/>
          <p:nvPr/>
        </p:nvSpPr>
        <p:spPr>
          <a:xfrm>
            <a:off x="6217920" y="1645920"/>
            <a:ext cx="5349240" cy="2743200"/>
          </a:xfrm>
          <a:prstGeom prst="roundRect">
            <a:avLst>
              <a:gd name="adj" fmla="val 3000"/>
            </a:avLst>
          </a:prstGeom>
          <a:solidFill>
            <a:srgbClr val="ECEAE4"/>
          </a:solidFill>
          <a:ln w="12700">
            <a:solidFill>
              <a:srgbClr val="ECEAE4"/>
            </a:solidFill>
            <a:prstDash val="solid"/>
          </a:ln>
        </p:spPr>
      </p:sp>
      <p:sp>
        <p:nvSpPr>
          <p:cNvPr id="13" name="Text 11"/>
          <p:cNvSpPr/>
          <p:nvPr/>
        </p:nvSpPr>
        <p:spPr>
          <a:xfrm>
            <a:off x="6492240" y="1783080"/>
            <a:ext cx="4846320" cy="365760"/>
          </a:xfrm>
          <a:prstGeom prst="rect">
            <a:avLst/>
          </a:prstGeom>
          <a:noFill/>
          <a:ln/>
        </p:spPr>
        <p:txBody>
          <a:bodyPr wrap="square" lIns="0" tIns="0" rIns="0" bIns="0" rtlCol="0" anchor="t"/>
          <a:lstStyle/>
          <a:p>
            <a:pPr indent="0" marL="0">
              <a:buNone/>
            </a:pPr>
            <a:r>
              <a:rPr lang="en-US" sz="1400" b="1" spc="200" kern="0" dirty="0">
                <a:solidFill>
                  <a:srgbClr val="B02532"/>
                </a:solidFill>
                <a:latin typeface="Palatino Linotype" pitchFamily="34" charset="0"/>
                <a:ea typeface="Palatino Linotype" pitchFamily="34" charset="-122"/>
                <a:cs typeface="Palatino Linotype" pitchFamily="34" charset="-120"/>
              </a:rPr>
              <a:t>LA DÉTECTION</a:t>
            </a:r>
            <a:endParaRPr lang="en-US" sz="1400" dirty="0"/>
          </a:p>
        </p:txBody>
      </p:sp>
      <p:sp>
        <p:nvSpPr>
          <p:cNvPr id="14" name="Shape 12"/>
          <p:cNvSpPr/>
          <p:nvPr/>
        </p:nvSpPr>
        <p:spPr>
          <a:xfrm>
            <a:off x="6537960" y="2404872"/>
            <a:ext cx="137160" cy="137160"/>
          </a:xfrm>
          <a:prstGeom prst="ellipse">
            <a:avLst/>
          </a:prstGeom>
          <a:solidFill>
            <a:srgbClr val="B02532"/>
          </a:solidFill>
          <a:ln/>
        </p:spPr>
      </p:sp>
      <p:sp>
        <p:nvSpPr>
          <p:cNvPr id="15" name="Text 13"/>
          <p:cNvSpPr/>
          <p:nvPr/>
        </p:nvSpPr>
        <p:spPr>
          <a:xfrm>
            <a:off x="6812280" y="2212848"/>
            <a:ext cx="457200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prévalence 1 %, sensibilité 90 %</a:t>
            </a:r>
            <a:endParaRPr lang="en-US" sz="1700" dirty="0"/>
          </a:p>
        </p:txBody>
      </p:sp>
      <p:sp>
        <p:nvSpPr>
          <p:cNvPr id="16" name="Shape 14"/>
          <p:cNvSpPr/>
          <p:nvPr/>
        </p:nvSpPr>
        <p:spPr>
          <a:xfrm>
            <a:off x="6537960" y="3063240"/>
            <a:ext cx="137160" cy="137160"/>
          </a:xfrm>
          <a:prstGeom prst="ellipse">
            <a:avLst/>
          </a:prstGeom>
          <a:solidFill>
            <a:srgbClr val="B02532"/>
          </a:solidFill>
          <a:ln/>
        </p:spPr>
      </p:sp>
      <p:sp>
        <p:nvSpPr>
          <p:cNvPr id="17" name="Text 15"/>
          <p:cNvSpPr/>
          <p:nvPr/>
        </p:nvSpPr>
        <p:spPr>
          <a:xfrm>
            <a:off x="6812280" y="2871216"/>
            <a:ext cx="457200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1 / (0,01 × 0,9) : environ 111 testés pour un cas trouvé</a:t>
            </a:r>
            <a:endParaRPr lang="en-US" sz="1700" dirty="0"/>
          </a:p>
        </p:txBody>
      </p:sp>
      <p:sp>
        <p:nvSpPr>
          <p:cNvPr id="18" name="Shape 16"/>
          <p:cNvSpPr/>
          <p:nvPr/>
        </p:nvSpPr>
        <p:spPr>
          <a:xfrm>
            <a:off x="6537960" y="3721608"/>
            <a:ext cx="137160" cy="137160"/>
          </a:xfrm>
          <a:prstGeom prst="ellipse">
            <a:avLst/>
          </a:prstGeom>
          <a:solidFill>
            <a:srgbClr val="B02532"/>
          </a:solidFill>
          <a:ln/>
        </p:spPr>
      </p:sp>
      <p:sp>
        <p:nvSpPr>
          <p:cNvPr id="19" name="Text 17"/>
          <p:cNvSpPr/>
          <p:nvPr/>
        </p:nvSpPr>
        <p:spPr>
          <a:xfrm>
            <a:off x="6812280" y="3529584"/>
            <a:ext cx="4572000" cy="5486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dit combien coûte un cas, pas si la personne a été aidée</a:t>
            </a:r>
            <a:endParaRPr lang="en-US" sz="1700" dirty="0"/>
          </a:p>
        </p:txBody>
      </p:sp>
      <p:sp>
        <p:nvSpPr>
          <p:cNvPr id="20" name="Text 18"/>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Valeurs hypothétiques.</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 EXEMPLE PUBLIÉ</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La mammographie au Royaume-Uni</a:t>
            </a:r>
            <a:endParaRPr lang="en-US" sz="3200" dirty="0"/>
          </a:p>
        </p:txBody>
      </p:sp>
      <p:sp>
        <p:nvSpPr>
          <p:cNvPr id="4" name="Text 2"/>
          <p:cNvSpPr/>
          <p:nvPr/>
        </p:nvSpPr>
        <p:spPr>
          <a:xfrm>
            <a:off x="594360" y="1554480"/>
            <a:ext cx="10972800" cy="502920"/>
          </a:xfrm>
          <a:prstGeom prst="rect">
            <a:avLst/>
          </a:prstGeom>
          <a:noFill/>
          <a:ln/>
        </p:spPr>
        <p:txBody>
          <a:bodyPr wrap="square" lIns="0" tIns="0" rIns="0" bIns="0" rtlCol="0" anchor="t"/>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1 000 femmes de 50–70 ans, invitées à une mammographie tous les trois ans</a:t>
            </a:r>
            <a:endParaRPr lang="en-US" sz="2000" dirty="0"/>
          </a:p>
        </p:txBody>
      </p:sp>
      <p:sp>
        <p:nvSpPr>
          <p:cNvPr id="5" name="Shape 3"/>
          <p:cNvSpPr/>
          <p:nvPr/>
        </p:nvSpPr>
        <p:spPr>
          <a:xfrm>
            <a:off x="594360" y="2148840"/>
            <a:ext cx="3520440" cy="1737360"/>
          </a:xfrm>
          <a:prstGeom prst="roundRect">
            <a:avLst>
              <a:gd name="adj" fmla="val 4737"/>
            </a:avLst>
          </a:prstGeom>
          <a:solidFill>
            <a:srgbClr val="1D1F2B"/>
          </a:solidFill>
          <a:ln w="12700">
            <a:solidFill>
              <a:srgbClr val="1D1F2B"/>
            </a:solidFill>
            <a:prstDash val="solid"/>
          </a:ln>
        </p:spPr>
      </p:sp>
      <p:sp>
        <p:nvSpPr>
          <p:cNvPr id="6" name="Text 4"/>
          <p:cNvSpPr/>
          <p:nvPr/>
        </p:nvSpPr>
        <p:spPr>
          <a:xfrm>
            <a:off x="868680" y="2258568"/>
            <a:ext cx="2971800" cy="868680"/>
          </a:xfrm>
          <a:prstGeom prst="rect">
            <a:avLst/>
          </a:prstGeom>
          <a:noFill/>
          <a:ln/>
        </p:spPr>
        <p:txBody>
          <a:bodyPr wrap="square" lIns="0" tIns="0" rIns="0" bIns="0" rtlCol="0" anchor="ctr"/>
          <a:lstStyle/>
          <a:p>
            <a:pPr indent="0" marL="0">
              <a:buNone/>
            </a:pPr>
            <a:r>
              <a:rPr lang="en-US" sz="4400" b="1" dirty="0">
                <a:solidFill>
                  <a:srgbClr val="27D3BE"/>
                </a:solidFill>
                <a:latin typeface="Palatino Linotype" pitchFamily="34" charset="0"/>
                <a:ea typeface="Palatino Linotype" pitchFamily="34" charset="-122"/>
                <a:cs typeface="Palatino Linotype" pitchFamily="34" charset="-120"/>
              </a:rPr>
              <a:t>4</a:t>
            </a:r>
            <a:endParaRPr lang="en-US" sz="4400" dirty="0"/>
          </a:p>
        </p:txBody>
      </p:sp>
      <p:sp>
        <p:nvSpPr>
          <p:cNvPr id="7" name="Text 5"/>
          <p:cNvSpPr/>
          <p:nvPr/>
        </p:nvSpPr>
        <p:spPr>
          <a:xfrm>
            <a:off x="868680" y="3035808"/>
            <a:ext cx="2971800" cy="799186"/>
          </a:xfrm>
          <a:prstGeom prst="rect">
            <a:avLst/>
          </a:prstGeom>
          <a:noFill/>
          <a:ln/>
        </p:spPr>
        <p:txBody>
          <a:bodyPr wrap="square" lIns="0" tIns="0" rIns="0" bIns="0" rtlCol="0" anchor="t"/>
          <a:lstStyle/>
          <a:p>
            <a:pPr indent="0" marL="0">
              <a:buNone/>
            </a:pPr>
            <a:r>
              <a:rPr lang="en-US" sz="1200" dirty="0">
                <a:solidFill>
                  <a:srgbClr val="D5D8E2"/>
                </a:solidFill>
                <a:latin typeface="Palatino Linotype" pitchFamily="34" charset="0"/>
                <a:ea typeface="Palatino Linotype" pitchFamily="34" charset="-122"/>
                <a:cs typeface="Palatino Linotype" pitchFamily="34" charset="-120"/>
              </a:rPr>
              <a:t>vies sauvées du cancer du sein</a:t>
            </a:r>
            <a:endParaRPr lang="en-US" sz="1200" dirty="0"/>
          </a:p>
        </p:txBody>
      </p:sp>
      <p:sp>
        <p:nvSpPr>
          <p:cNvPr id="8" name="Shape 6"/>
          <p:cNvSpPr/>
          <p:nvPr/>
        </p:nvSpPr>
        <p:spPr>
          <a:xfrm>
            <a:off x="4343400" y="2148840"/>
            <a:ext cx="3520440" cy="1737360"/>
          </a:xfrm>
          <a:prstGeom prst="roundRect">
            <a:avLst>
              <a:gd name="adj" fmla="val 4737"/>
            </a:avLst>
          </a:prstGeom>
          <a:solidFill>
            <a:srgbClr val="1D1F2B"/>
          </a:solidFill>
          <a:ln w="12700">
            <a:solidFill>
              <a:srgbClr val="1D1F2B"/>
            </a:solidFill>
            <a:prstDash val="solid"/>
          </a:ln>
        </p:spPr>
      </p:sp>
      <p:sp>
        <p:nvSpPr>
          <p:cNvPr id="9" name="Text 7"/>
          <p:cNvSpPr/>
          <p:nvPr/>
        </p:nvSpPr>
        <p:spPr>
          <a:xfrm>
            <a:off x="4617720" y="2258568"/>
            <a:ext cx="2971800" cy="868680"/>
          </a:xfrm>
          <a:prstGeom prst="rect">
            <a:avLst/>
          </a:prstGeom>
          <a:noFill/>
          <a:ln/>
        </p:spPr>
        <p:txBody>
          <a:bodyPr wrap="square" lIns="0" tIns="0" rIns="0" bIns="0" rtlCol="0" anchor="ctr"/>
          <a:lstStyle/>
          <a:p>
            <a:pPr indent="0" marL="0">
              <a:buNone/>
            </a:pPr>
            <a:r>
              <a:rPr lang="en-US" sz="4400" b="1" dirty="0">
                <a:solidFill>
                  <a:srgbClr val="FF4757"/>
                </a:solidFill>
                <a:latin typeface="Palatino Linotype" pitchFamily="34" charset="0"/>
                <a:ea typeface="Palatino Linotype" pitchFamily="34" charset="-122"/>
                <a:cs typeface="Palatino Linotype" pitchFamily="34" charset="-120"/>
              </a:rPr>
              <a:t>13</a:t>
            </a:r>
            <a:endParaRPr lang="en-US" sz="4400" dirty="0"/>
          </a:p>
        </p:txBody>
      </p:sp>
      <p:sp>
        <p:nvSpPr>
          <p:cNvPr id="10" name="Text 8"/>
          <p:cNvSpPr/>
          <p:nvPr/>
        </p:nvSpPr>
        <p:spPr>
          <a:xfrm>
            <a:off x="4617720" y="3035808"/>
            <a:ext cx="2971800" cy="799186"/>
          </a:xfrm>
          <a:prstGeom prst="rect">
            <a:avLst/>
          </a:prstGeom>
          <a:noFill/>
          <a:ln/>
        </p:spPr>
        <p:txBody>
          <a:bodyPr wrap="square" lIns="0" tIns="0" rIns="0" bIns="0" rtlCol="0" anchor="t"/>
          <a:lstStyle/>
          <a:p>
            <a:pPr indent="0" marL="0">
              <a:buNone/>
            </a:pPr>
            <a:r>
              <a:rPr lang="en-US" sz="1200" dirty="0">
                <a:solidFill>
                  <a:srgbClr val="D5D8E2"/>
                </a:solidFill>
                <a:latin typeface="Palatino Linotype" pitchFamily="34" charset="0"/>
                <a:ea typeface="Palatino Linotype" pitchFamily="34" charset="-122"/>
                <a:cs typeface="Palatino Linotype" pitchFamily="34" charset="-120"/>
              </a:rPr>
              <a:t>femmes diagnostiquées d’un cancer qui ne leur aurait pas nui</a:t>
            </a:r>
            <a:endParaRPr lang="en-US" sz="1200" dirty="0"/>
          </a:p>
        </p:txBody>
      </p:sp>
      <p:sp>
        <p:nvSpPr>
          <p:cNvPr id="11" name="Shape 9"/>
          <p:cNvSpPr/>
          <p:nvPr/>
        </p:nvSpPr>
        <p:spPr>
          <a:xfrm>
            <a:off x="8092440" y="2148840"/>
            <a:ext cx="3520440" cy="1737360"/>
          </a:xfrm>
          <a:prstGeom prst="roundRect">
            <a:avLst>
              <a:gd name="adj" fmla="val 4737"/>
            </a:avLst>
          </a:prstGeom>
          <a:solidFill>
            <a:srgbClr val="1D1F2B"/>
          </a:solidFill>
          <a:ln w="12700">
            <a:solidFill>
              <a:srgbClr val="1D1F2B"/>
            </a:solidFill>
            <a:prstDash val="solid"/>
          </a:ln>
        </p:spPr>
      </p:sp>
      <p:sp>
        <p:nvSpPr>
          <p:cNvPr id="12" name="Text 10"/>
          <p:cNvSpPr/>
          <p:nvPr/>
        </p:nvSpPr>
        <p:spPr>
          <a:xfrm>
            <a:off x="8366760" y="2258568"/>
            <a:ext cx="2971800" cy="868680"/>
          </a:xfrm>
          <a:prstGeom prst="rect">
            <a:avLst/>
          </a:prstGeom>
          <a:noFill/>
          <a:ln/>
        </p:spPr>
        <p:txBody>
          <a:bodyPr wrap="square" lIns="0" tIns="0" rIns="0" bIns="0" rtlCol="0" anchor="ctr"/>
          <a:lstStyle/>
          <a:p>
            <a:pPr indent="0" marL="0">
              <a:buNone/>
            </a:pPr>
            <a:r>
              <a:rPr lang="en-US" sz="4400" b="1" dirty="0">
                <a:solidFill>
                  <a:srgbClr val="FFC24B"/>
                </a:solidFill>
                <a:latin typeface="Palatino Linotype" pitchFamily="34" charset="0"/>
                <a:ea typeface="Palatino Linotype" pitchFamily="34" charset="-122"/>
                <a:cs typeface="Palatino Linotype" pitchFamily="34" charset="-120"/>
              </a:rPr>
              <a:t>≈ 250</a:t>
            </a:r>
            <a:endParaRPr lang="en-US" sz="4400" dirty="0"/>
          </a:p>
        </p:txBody>
      </p:sp>
      <p:sp>
        <p:nvSpPr>
          <p:cNvPr id="13" name="Text 11"/>
          <p:cNvSpPr/>
          <p:nvPr/>
        </p:nvSpPr>
        <p:spPr>
          <a:xfrm>
            <a:off x="8366760" y="3035808"/>
            <a:ext cx="2971800" cy="799186"/>
          </a:xfrm>
          <a:prstGeom prst="rect">
            <a:avLst/>
          </a:prstGeom>
          <a:noFill/>
          <a:ln/>
        </p:spPr>
        <p:txBody>
          <a:bodyPr wrap="square" lIns="0" tIns="0" rIns="0" bIns="0" rtlCol="0" anchor="t"/>
          <a:lstStyle/>
          <a:p>
            <a:pPr indent="0" marL="0">
              <a:buNone/>
            </a:pPr>
            <a:r>
              <a:rPr lang="en-US" sz="1200" dirty="0">
                <a:solidFill>
                  <a:srgbClr val="D5D8E2"/>
                </a:solidFill>
                <a:latin typeface="Palatino Linotype" pitchFamily="34" charset="0"/>
                <a:ea typeface="Palatino Linotype" pitchFamily="34" charset="-122"/>
                <a:cs typeface="Palatino Linotype" pitchFamily="34" charset="-120"/>
              </a:rPr>
              <a:t>femmes invitées pour une vie sauvée</a:t>
            </a:r>
            <a:endParaRPr lang="en-US" sz="1200" dirty="0"/>
          </a:p>
        </p:txBody>
      </p:sp>
      <p:sp>
        <p:nvSpPr>
          <p:cNvPr id="14" name="Text 12"/>
          <p:cNvSpPr/>
          <p:nvPr/>
        </p:nvSpPr>
        <p:spPr>
          <a:xfrm>
            <a:off x="594360" y="4069080"/>
            <a:ext cx="10972800" cy="731520"/>
          </a:xfrm>
          <a:prstGeom prst="rect">
            <a:avLst/>
          </a:prstGeom>
          <a:noFill/>
          <a:ln/>
        </p:spPr>
        <p:txBody>
          <a:bodyPr wrap="square" lIns="0" tIns="0" rIns="0" bIns="0" rtlCol="0" anchor="t"/>
          <a:lstStyle/>
          <a:p>
            <a:pPr indent="0" marL="0">
              <a:buNone/>
            </a:pPr>
            <a:r>
              <a:rPr lang="en-US" sz="1700" dirty="0">
                <a:solidFill>
                  <a:srgbClr val="D5D8E2"/>
                </a:solidFill>
                <a:latin typeface="Palatino Linotype" pitchFamily="34" charset="0"/>
                <a:ea typeface="Palatino Linotype" pitchFamily="34" charset="-122"/>
                <a:cs typeface="Palatino Linotype" pitchFamily="34" charset="-120"/>
              </a:rPr>
              <a:t>Belgique, tous les deux ans : 3 vies sauvées et 3 surdiagnostics (50–59 ans) ; 4 et 4 (60–69 ans).</a:t>
            </a:r>
            <a:endParaRPr lang="en-US" sz="1700" dirty="0"/>
          </a:p>
        </p:txBody>
      </p:sp>
      <p:sp>
        <p:nvSpPr>
          <p:cNvPr id="15" name="Shape 13"/>
          <p:cNvSpPr/>
          <p:nvPr/>
        </p:nvSpPr>
        <p:spPr>
          <a:xfrm>
            <a:off x="594360" y="4892040"/>
            <a:ext cx="10972800" cy="868680"/>
          </a:xfrm>
          <a:prstGeom prst="roundRect">
            <a:avLst>
              <a:gd name="adj" fmla="val 9474"/>
            </a:avLst>
          </a:prstGeom>
          <a:solidFill>
            <a:srgbClr val="272A38"/>
          </a:solidFill>
          <a:ln w="12700">
            <a:solidFill>
              <a:srgbClr val="272A38"/>
            </a:solidFill>
            <a:prstDash val="solid"/>
          </a:ln>
        </p:spPr>
      </p:sp>
      <p:sp>
        <p:nvSpPr>
          <p:cNvPr id="16" name="Text 14"/>
          <p:cNvSpPr/>
          <p:nvPr/>
        </p:nvSpPr>
        <p:spPr>
          <a:xfrm>
            <a:off x="868680" y="4892040"/>
            <a:ext cx="10424160" cy="86868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Le surdiagnostic est difficile à quantifier ; les chiffres ne se transposent pas automatiquement à la Roumanie.</a:t>
            </a:r>
            <a:endParaRPr lang="en-US" sz="18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OMS Europe, 2020.</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AVEC VOTRE VOISIN · TROIS MINUTES</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DISCUTEZ</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Est-ce acceptable ?</a:t>
            </a:r>
            <a:endParaRPr lang="en-US" sz="3200" dirty="0"/>
          </a:p>
        </p:txBody>
      </p:sp>
      <p:sp>
        <p:nvSpPr>
          <p:cNvPr id="6" name="Shape 4"/>
          <p:cNvSpPr/>
          <p:nvPr/>
        </p:nvSpPr>
        <p:spPr>
          <a:xfrm>
            <a:off x="594360" y="1645920"/>
            <a:ext cx="10972800" cy="2377440"/>
          </a:xfrm>
          <a:prstGeom prst="roundRect">
            <a:avLst>
              <a:gd name="adj" fmla="val 3462"/>
            </a:avLst>
          </a:prstGeom>
          <a:solidFill>
            <a:srgbClr val="1D1F2B"/>
          </a:solidFill>
          <a:ln w="12700">
            <a:solidFill>
              <a:srgbClr val="1D1F2B"/>
            </a:solidFill>
            <a:prstDash val="solid"/>
          </a:ln>
        </p:spPr>
      </p:sp>
      <p:sp>
        <p:nvSpPr>
          <p:cNvPr id="7" name="Text 5"/>
          <p:cNvSpPr/>
          <p:nvPr/>
        </p:nvSpPr>
        <p:spPr>
          <a:xfrm>
            <a:off x="868680" y="1645920"/>
            <a:ext cx="10424160" cy="2377440"/>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Environ deux cent cinquante femmes invitées à une mammographie, tous les trois ans, sur toute la tranche d’âge du programme, pour une vie sauvée ; pour chaque vie sauvée, plus de trois femmes reçoivent le diagnostic d’un cancer dont elles n’auraient pas souffert.</a:t>
            </a:r>
            <a:endParaRPr lang="en-US" sz="2100" dirty="0"/>
          </a:p>
        </p:txBody>
      </p:sp>
      <p:sp>
        <p:nvSpPr>
          <p:cNvPr id="8" name="Text 6"/>
          <p:cNvSpPr/>
          <p:nvPr/>
        </p:nvSpPr>
        <p:spPr>
          <a:xfrm>
            <a:off x="594360" y="4343400"/>
            <a:ext cx="10972800" cy="73152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Qui devrait décider : l’État, le médecin ou chaque femme ?</a:t>
            </a:r>
            <a:endParaRPr lang="en-US" sz="2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5.6 · TROIS ILLUSIONS · LA PREMIÈRE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Le biais d’avance au diagnostic</a:t>
            </a:r>
            <a:endParaRPr lang="en-US" sz="3200" dirty="0"/>
          </a:p>
        </p:txBody>
      </p:sp>
      <p:sp>
        <p:nvSpPr>
          <p:cNvPr id="4" name="Text 2"/>
          <p:cNvSpPr/>
          <p:nvPr/>
        </p:nvSpPr>
        <p:spPr>
          <a:xfrm>
            <a:off x="594360" y="1965960"/>
            <a:ext cx="3200400" cy="64008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Diagnostic aux symptômes</a:t>
            </a:r>
            <a:endParaRPr lang="en-US" sz="1700" dirty="0"/>
          </a:p>
        </p:txBody>
      </p:sp>
      <p:sp>
        <p:nvSpPr>
          <p:cNvPr id="5" name="Shape 3"/>
          <p:cNvSpPr/>
          <p:nvPr/>
        </p:nvSpPr>
        <p:spPr>
          <a:xfrm>
            <a:off x="3931920" y="2212848"/>
            <a:ext cx="7223760" cy="146304"/>
          </a:xfrm>
          <a:prstGeom prst="rect">
            <a:avLst/>
          </a:prstGeom>
          <a:solidFill>
            <a:srgbClr val="C9C6BE"/>
          </a:solidFill>
          <a:ln w="12700">
            <a:solidFill>
              <a:srgbClr val="C9C6BE"/>
            </a:solidFill>
            <a:prstDash val="solid"/>
          </a:ln>
        </p:spPr>
      </p:sp>
      <p:sp>
        <p:nvSpPr>
          <p:cNvPr id="6" name="Shape 4"/>
          <p:cNvSpPr/>
          <p:nvPr/>
        </p:nvSpPr>
        <p:spPr>
          <a:xfrm>
            <a:off x="9710928" y="2148840"/>
            <a:ext cx="1444752" cy="274320"/>
          </a:xfrm>
          <a:prstGeom prst="rect">
            <a:avLst/>
          </a:prstGeom>
          <a:solidFill>
            <a:srgbClr val="B02532"/>
          </a:solidFill>
          <a:ln w="12700">
            <a:solidFill>
              <a:srgbClr val="C9C6BE"/>
            </a:solidFill>
            <a:prstDash val="solid"/>
          </a:ln>
        </p:spPr>
      </p:sp>
      <p:sp>
        <p:nvSpPr>
          <p:cNvPr id="7" name="Shape 5"/>
          <p:cNvSpPr/>
          <p:nvPr/>
        </p:nvSpPr>
        <p:spPr>
          <a:xfrm>
            <a:off x="9582912" y="2157984"/>
            <a:ext cx="256032" cy="256032"/>
          </a:xfrm>
          <a:prstGeom prst="ellipse">
            <a:avLst/>
          </a:prstGeom>
          <a:solidFill>
            <a:srgbClr val="11121A"/>
          </a:solidFill>
          <a:ln/>
        </p:spPr>
      </p:sp>
      <p:sp>
        <p:nvSpPr>
          <p:cNvPr id="8" name="Text 6"/>
          <p:cNvSpPr/>
          <p:nvPr/>
        </p:nvSpPr>
        <p:spPr>
          <a:xfrm>
            <a:off x="9345168" y="1691640"/>
            <a:ext cx="731520" cy="274320"/>
          </a:xfrm>
          <a:prstGeom prst="rect">
            <a:avLst/>
          </a:prstGeom>
          <a:noFill/>
          <a:ln/>
        </p:spPr>
        <p:txBody>
          <a:bodyPr wrap="square" lIns="0" tIns="0" rIns="0" bIns="0" rtlCol="0" anchor="t"/>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63</a:t>
            </a:r>
            <a:endParaRPr lang="en-US" sz="1400" dirty="0"/>
          </a:p>
        </p:txBody>
      </p:sp>
      <p:sp>
        <p:nvSpPr>
          <p:cNvPr id="9" name="Text 7"/>
          <p:cNvSpPr/>
          <p:nvPr/>
        </p:nvSpPr>
        <p:spPr>
          <a:xfrm>
            <a:off x="9710928" y="2468880"/>
            <a:ext cx="1444752" cy="320040"/>
          </a:xfrm>
          <a:prstGeom prst="rect">
            <a:avLst/>
          </a:prstGeom>
          <a:noFill/>
          <a:ln/>
        </p:spPr>
        <p:txBody>
          <a:bodyPr wrap="square" lIns="0" tIns="0" rIns="0" bIns="0" rtlCol="0" anchor="t"/>
          <a:lstStyle/>
          <a:p>
            <a:pPr algn="ctr" indent="0" marL="0">
              <a:buNone/>
            </a:pPr>
            <a:r>
              <a:rPr lang="en-US" sz="1500" b="1" dirty="0">
                <a:solidFill>
                  <a:srgbClr val="B02532"/>
                </a:solidFill>
                <a:latin typeface="Palatino Linotype" pitchFamily="34" charset="0"/>
                <a:ea typeface="Palatino Linotype" pitchFamily="34" charset="-122"/>
                <a:cs typeface="Palatino Linotype" pitchFamily="34" charset="-120"/>
              </a:rPr>
              <a:t>2 ans</a:t>
            </a:r>
            <a:endParaRPr lang="en-US" sz="1500" dirty="0"/>
          </a:p>
        </p:txBody>
      </p:sp>
      <p:sp>
        <p:nvSpPr>
          <p:cNvPr id="10" name="Text 8"/>
          <p:cNvSpPr/>
          <p:nvPr/>
        </p:nvSpPr>
        <p:spPr>
          <a:xfrm>
            <a:off x="594360" y="3154680"/>
            <a:ext cx="3200400" cy="64008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Découvert par dépistage</a:t>
            </a:r>
            <a:endParaRPr lang="en-US" sz="1700" dirty="0"/>
          </a:p>
        </p:txBody>
      </p:sp>
      <p:sp>
        <p:nvSpPr>
          <p:cNvPr id="11" name="Shape 9"/>
          <p:cNvSpPr/>
          <p:nvPr/>
        </p:nvSpPr>
        <p:spPr>
          <a:xfrm>
            <a:off x="3931920" y="3401568"/>
            <a:ext cx="7223760" cy="146304"/>
          </a:xfrm>
          <a:prstGeom prst="rect">
            <a:avLst/>
          </a:prstGeom>
          <a:solidFill>
            <a:srgbClr val="C9C6BE"/>
          </a:solidFill>
          <a:ln w="12700">
            <a:solidFill>
              <a:srgbClr val="C9C6BE"/>
            </a:solidFill>
            <a:prstDash val="solid"/>
          </a:ln>
        </p:spPr>
      </p:sp>
      <p:sp>
        <p:nvSpPr>
          <p:cNvPr id="12" name="Shape 10"/>
          <p:cNvSpPr/>
          <p:nvPr/>
        </p:nvSpPr>
        <p:spPr>
          <a:xfrm>
            <a:off x="6821424" y="3337560"/>
            <a:ext cx="4334256" cy="274320"/>
          </a:xfrm>
          <a:prstGeom prst="rect">
            <a:avLst/>
          </a:prstGeom>
          <a:solidFill>
            <a:srgbClr val="0E7C6B"/>
          </a:solidFill>
          <a:ln w="12700">
            <a:solidFill>
              <a:srgbClr val="C9C6BE"/>
            </a:solidFill>
            <a:prstDash val="solid"/>
          </a:ln>
        </p:spPr>
      </p:sp>
      <p:sp>
        <p:nvSpPr>
          <p:cNvPr id="13" name="Shape 11"/>
          <p:cNvSpPr/>
          <p:nvPr/>
        </p:nvSpPr>
        <p:spPr>
          <a:xfrm>
            <a:off x="6693408" y="3346704"/>
            <a:ext cx="256032" cy="256032"/>
          </a:xfrm>
          <a:prstGeom prst="ellipse">
            <a:avLst/>
          </a:prstGeom>
          <a:solidFill>
            <a:srgbClr val="11121A"/>
          </a:solidFill>
          <a:ln/>
        </p:spPr>
      </p:sp>
      <p:sp>
        <p:nvSpPr>
          <p:cNvPr id="14" name="Text 12"/>
          <p:cNvSpPr/>
          <p:nvPr/>
        </p:nvSpPr>
        <p:spPr>
          <a:xfrm>
            <a:off x="6455664" y="2880360"/>
            <a:ext cx="731520" cy="274320"/>
          </a:xfrm>
          <a:prstGeom prst="rect">
            <a:avLst/>
          </a:prstGeom>
          <a:noFill/>
          <a:ln/>
        </p:spPr>
        <p:txBody>
          <a:bodyPr wrap="square" lIns="0" tIns="0" rIns="0" bIns="0" rtlCol="0" anchor="t"/>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59</a:t>
            </a:r>
            <a:endParaRPr lang="en-US" sz="1400" dirty="0"/>
          </a:p>
        </p:txBody>
      </p:sp>
      <p:sp>
        <p:nvSpPr>
          <p:cNvPr id="15" name="Text 13"/>
          <p:cNvSpPr/>
          <p:nvPr/>
        </p:nvSpPr>
        <p:spPr>
          <a:xfrm>
            <a:off x="6821424" y="3657600"/>
            <a:ext cx="4334256" cy="320040"/>
          </a:xfrm>
          <a:prstGeom prst="rect">
            <a:avLst/>
          </a:prstGeom>
          <a:noFill/>
          <a:ln/>
        </p:spPr>
        <p:txBody>
          <a:bodyPr wrap="square" lIns="0" tIns="0" rIns="0" bIns="0" rtlCol="0" anchor="t"/>
          <a:lstStyle/>
          <a:p>
            <a:pPr algn="ctr" indent="0" marL="0">
              <a:buNone/>
            </a:pPr>
            <a:r>
              <a:rPr lang="en-US" sz="1500" b="1" dirty="0">
                <a:solidFill>
                  <a:srgbClr val="0E7C6B"/>
                </a:solidFill>
                <a:latin typeface="Palatino Linotype" pitchFamily="34" charset="0"/>
                <a:ea typeface="Palatino Linotype" pitchFamily="34" charset="-122"/>
                <a:cs typeface="Palatino Linotype" pitchFamily="34" charset="-120"/>
              </a:rPr>
              <a:t>6 ans</a:t>
            </a:r>
            <a:endParaRPr lang="en-US" sz="1500" dirty="0"/>
          </a:p>
        </p:txBody>
      </p:sp>
      <p:sp>
        <p:nvSpPr>
          <p:cNvPr id="16" name="Text 14"/>
          <p:cNvSpPr/>
          <p:nvPr/>
        </p:nvSpPr>
        <p:spPr>
          <a:xfrm>
            <a:off x="3108960" y="4160520"/>
            <a:ext cx="1645920" cy="32004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55 · le début</a:t>
            </a:r>
            <a:endParaRPr lang="en-US" sz="1300" dirty="0"/>
          </a:p>
        </p:txBody>
      </p:sp>
      <p:sp>
        <p:nvSpPr>
          <p:cNvPr id="17" name="Text 15"/>
          <p:cNvSpPr/>
          <p:nvPr/>
        </p:nvSpPr>
        <p:spPr>
          <a:xfrm>
            <a:off x="10332720" y="4160520"/>
            <a:ext cx="1645920" cy="32004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65 · le décès</a:t>
            </a:r>
            <a:endParaRPr lang="en-US" sz="1300" dirty="0"/>
          </a:p>
        </p:txBody>
      </p:sp>
      <p:sp>
        <p:nvSpPr>
          <p:cNvPr id="18" name="Text 16"/>
          <p:cNvSpPr/>
          <p:nvPr/>
        </p:nvSpPr>
        <p:spPr>
          <a:xfrm>
            <a:off x="3931920" y="1508760"/>
            <a:ext cx="7223760" cy="320040"/>
          </a:xfrm>
          <a:prstGeom prst="rect">
            <a:avLst/>
          </a:prstGeom>
          <a:noFill/>
          <a:ln/>
        </p:spPr>
        <p:txBody>
          <a:bodyPr wrap="square" lIns="0" tIns="0" rIns="0" bIns="0" rtlCol="0" anchor="t"/>
          <a:lstStyle/>
          <a:p>
            <a:pPr algn="r" indent="0" marL="0">
              <a:buNone/>
            </a:pPr>
            <a:r>
              <a:rPr lang="en-US" sz="1300" i="1" dirty="0">
                <a:solidFill>
                  <a:srgbClr val="585A64"/>
                </a:solidFill>
                <a:latin typeface="Palatino Linotype" pitchFamily="34" charset="0"/>
                <a:ea typeface="Palatino Linotype" pitchFamily="34" charset="-122"/>
                <a:cs typeface="Palatino Linotype" pitchFamily="34" charset="-120"/>
              </a:rPr>
              <a:t>la survie après le diagnostic</a:t>
            </a:r>
            <a:endParaRPr lang="en-US" sz="1300" dirty="0"/>
          </a:p>
        </p:txBody>
      </p:sp>
      <p:sp>
        <p:nvSpPr>
          <p:cNvPr id="19" name="Shape 17"/>
          <p:cNvSpPr/>
          <p:nvPr/>
        </p:nvSpPr>
        <p:spPr>
          <a:xfrm>
            <a:off x="594360" y="4663440"/>
            <a:ext cx="10972800" cy="1188720"/>
          </a:xfrm>
          <a:prstGeom prst="roundRect">
            <a:avLst>
              <a:gd name="adj" fmla="val 6923"/>
            </a:avLst>
          </a:prstGeom>
          <a:solidFill>
            <a:srgbClr val="11121A"/>
          </a:solidFill>
          <a:ln w="12700">
            <a:solidFill>
              <a:srgbClr val="11121A"/>
            </a:solidFill>
            <a:prstDash val="solid"/>
          </a:ln>
        </p:spPr>
      </p:sp>
      <p:sp>
        <p:nvSpPr>
          <p:cNvPr id="20" name="Text 18"/>
          <p:cNvSpPr/>
          <p:nvPr/>
        </p:nvSpPr>
        <p:spPr>
          <a:xfrm>
            <a:off x="868680" y="4663440"/>
            <a:ext cx="10424160" cy="118872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Le même âge au décès : le second a seulement vécu plus longtemps en se sachant malade. La survie ne mesure pas le succès d’un programme.</a:t>
            </a:r>
            <a:endParaRPr lang="en-US" sz="180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Valeurs hypothétiques. Le mécanisme : OMS Europe, 2020.</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TROIS ILLUSIONS · LA DEUXIÈME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Le biais de durée</a:t>
            </a:r>
            <a:endParaRPr lang="en-US" sz="3200" dirty="0"/>
          </a:p>
        </p:txBody>
      </p:sp>
      <p:sp>
        <p:nvSpPr>
          <p:cNvPr id="4" name="Shape 2"/>
          <p:cNvSpPr/>
          <p:nvPr/>
        </p:nvSpPr>
        <p:spPr>
          <a:xfrm>
            <a:off x="594360" y="1645920"/>
            <a:ext cx="5349240" cy="2377440"/>
          </a:xfrm>
          <a:prstGeom prst="roundRect">
            <a:avLst>
              <a:gd name="adj" fmla="val 3462"/>
            </a:avLst>
          </a:prstGeom>
          <a:solidFill>
            <a:srgbClr val="1D1F2B"/>
          </a:solidFill>
          <a:ln w="12700">
            <a:solidFill>
              <a:srgbClr val="1D1F2B"/>
            </a:solidFill>
            <a:prstDash val="solid"/>
          </a:ln>
        </p:spPr>
      </p:sp>
      <p:sp>
        <p:nvSpPr>
          <p:cNvPr id="5" name="Text 3"/>
          <p:cNvSpPr/>
          <p:nvPr/>
        </p:nvSpPr>
        <p:spPr>
          <a:xfrm>
            <a:off x="868680" y="1783080"/>
            <a:ext cx="4846320" cy="502920"/>
          </a:xfrm>
          <a:prstGeom prst="rect">
            <a:avLst/>
          </a:prstGeom>
          <a:noFill/>
          <a:ln/>
        </p:spPr>
        <p:txBody>
          <a:bodyPr wrap="square" lIns="0" tIns="0" rIns="0" bIns="0" rtlCol="0" anchor="t"/>
          <a:lstStyle/>
          <a:p>
            <a:pPr indent="0" marL="0">
              <a:buNone/>
            </a:pPr>
            <a:r>
              <a:rPr lang="en-US" sz="2000" b="1" dirty="0">
                <a:solidFill>
                  <a:srgbClr val="27D3BE"/>
                </a:solidFill>
                <a:latin typeface="Palatino Linotype" pitchFamily="34" charset="0"/>
                <a:ea typeface="Palatino Linotype" pitchFamily="34" charset="-122"/>
                <a:cs typeface="Palatino Linotype" pitchFamily="34" charset="-120"/>
              </a:rPr>
              <a:t>La tumeur qui croît lentement</a:t>
            </a:r>
            <a:endParaRPr lang="en-US" sz="2000" dirty="0"/>
          </a:p>
        </p:txBody>
      </p:sp>
      <p:sp>
        <p:nvSpPr>
          <p:cNvPr id="6" name="Text 4"/>
          <p:cNvSpPr/>
          <p:nvPr/>
        </p:nvSpPr>
        <p:spPr>
          <a:xfrm>
            <a:off x="868680" y="2377440"/>
            <a:ext cx="4846320" cy="146304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reste longtemps dans la phase où le dépistage peut la trouver</a:t>
            </a:r>
            <a:endParaRPr lang="en-US" sz="1900" dirty="0"/>
          </a:p>
        </p:txBody>
      </p:sp>
      <p:sp>
        <p:nvSpPr>
          <p:cNvPr id="7" name="Shape 5"/>
          <p:cNvSpPr/>
          <p:nvPr/>
        </p:nvSpPr>
        <p:spPr>
          <a:xfrm>
            <a:off x="6217920" y="1645920"/>
            <a:ext cx="5349240" cy="2377440"/>
          </a:xfrm>
          <a:prstGeom prst="roundRect">
            <a:avLst>
              <a:gd name="adj" fmla="val 3462"/>
            </a:avLst>
          </a:prstGeom>
          <a:solidFill>
            <a:srgbClr val="1D1F2B"/>
          </a:solidFill>
          <a:ln w="12700">
            <a:solidFill>
              <a:srgbClr val="1D1F2B"/>
            </a:solidFill>
            <a:prstDash val="solid"/>
          </a:ln>
        </p:spPr>
      </p:sp>
      <p:sp>
        <p:nvSpPr>
          <p:cNvPr id="8" name="Text 6"/>
          <p:cNvSpPr/>
          <p:nvPr/>
        </p:nvSpPr>
        <p:spPr>
          <a:xfrm>
            <a:off x="6492240" y="1783080"/>
            <a:ext cx="4846320" cy="502920"/>
          </a:xfrm>
          <a:prstGeom prst="rect">
            <a:avLst/>
          </a:prstGeom>
          <a:noFill/>
          <a:ln/>
        </p:spPr>
        <p:txBody>
          <a:bodyPr wrap="square" lIns="0" tIns="0" rIns="0" bIns="0" rtlCol="0" anchor="t"/>
          <a:lstStyle/>
          <a:p>
            <a:pPr indent="0" marL="0">
              <a:buNone/>
            </a:pPr>
            <a:r>
              <a:rPr lang="en-US" sz="2000" b="1" dirty="0">
                <a:solidFill>
                  <a:srgbClr val="FF4757"/>
                </a:solidFill>
                <a:latin typeface="Palatino Linotype" pitchFamily="34" charset="0"/>
                <a:ea typeface="Palatino Linotype" pitchFamily="34" charset="-122"/>
                <a:cs typeface="Palatino Linotype" pitchFamily="34" charset="-120"/>
              </a:rPr>
              <a:t>La tumeur agressive</a:t>
            </a:r>
            <a:endParaRPr lang="en-US" sz="2000" dirty="0"/>
          </a:p>
        </p:txBody>
      </p:sp>
      <p:sp>
        <p:nvSpPr>
          <p:cNvPr id="9" name="Text 7"/>
          <p:cNvSpPr/>
          <p:nvPr/>
        </p:nvSpPr>
        <p:spPr>
          <a:xfrm>
            <a:off x="6492240" y="2377440"/>
            <a:ext cx="4846320" cy="146304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traverse vite cette phase et apparaît souvent avec des symptômes entre deux campagnes</a:t>
            </a:r>
            <a:endParaRPr lang="en-US" sz="1900" dirty="0"/>
          </a:p>
        </p:txBody>
      </p:sp>
      <p:sp>
        <p:nvSpPr>
          <p:cNvPr id="10" name="Shape 8"/>
          <p:cNvSpPr/>
          <p:nvPr/>
        </p:nvSpPr>
        <p:spPr>
          <a:xfrm>
            <a:off x="594360" y="4297680"/>
            <a:ext cx="10972800" cy="1325880"/>
          </a:xfrm>
          <a:prstGeom prst="roundRect">
            <a:avLst>
              <a:gd name="adj" fmla="val 6207"/>
            </a:avLst>
          </a:prstGeom>
          <a:solidFill>
            <a:srgbClr val="272A38"/>
          </a:solidFill>
          <a:ln w="12700">
            <a:solidFill>
              <a:srgbClr val="272A38"/>
            </a:solidFill>
            <a:prstDash val="solid"/>
          </a:ln>
        </p:spPr>
      </p:sp>
      <p:sp>
        <p:nvSpPr>
          <p:cNvPr id="11" name="Text 9"/>
          <p:cNvSpPr/>
          <p:nvPr/>
        </p:nvSpPr>
        <p:spPr>
          <a:xfrm>
            <a:off x="868680" y="4297680"/>
            <a:ext cx="10424160" cy="132588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Les cas détectés par dépistage ont presque toujours de meilleurs résultats ; cela ne signifie pas une mortalité plus faible dans la population.</a:t>
            </a:r>
            <a:endParaRPr lang="en-US" sz="1900" dirty="0"/>
          </a:p>
        </p:txBody>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OMS Europe, 2020.</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TROIS ILLUSIONS · LA TROISIÈME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Le surdiagnostic</a:t>
            </a:r>
            <a:endParaRPr lang="en-US" sz="3200" dirty="0"/>
          </a:p>
        </p:txBody>
      </p:sp>
      <p:sp>
        <p:nvSpPr>
          <p:cNvPr id="4" name="Text 2"/>
          <p:cNvSpPr/>
          <p:nvPr/>
        </p:nvSpPr>
        <p:spPr>
          <a:xfrm>
            <a:off x="594360" y="1554480"/>
            <a:ext cx="10972800" cy="640080"/>
          </a:xfrm>
          <a:prstGeom prst="rect">
            <a:avLst/>
          </a:prstGeom>
          <a:noFill/>
          <a:ln/>
        </p:spPr>
        <p:txBody>
          <a:bodyPr wrap="square" lIns="0" tIns="0" rIns="0" bIns="0" rtlCol="0" anchor="t"/>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Une affection qui n’aurait causé aucun tort à la personne au cours de sa vie.</a:t>
            </a:r>
            <a:endParaRPr lang="en-US" sz="2100" dirty="0"/>
          </a:p>
        </p:txBody>
      </p:sp>
      <p:sp>
        <p:nvSpPr>
          <p:cNvPr id="5" name="Shape 3"/>
          <p:cNvSpPr/>
          <p:nvPr/>
        </p:nvSpPr>
        <p:spPr>
          <a:xfrm>
            <a:off x="594360" y="2377440"/>
            <a:ext cx="3520440" cy="1600200"/>
          </a:xfrm>
          <a:prstGeom prst="roundRect">
            <a:avLst>
              <a:gd name="adj" fmla="val 5143"/>
            </a:avLst>
          </a:prstGeom>
          <a:solidFill>
            <a:srgbClr val="ECEAE4"/>
          </a:solidFill>
          <a:ln w="12700">
            <a:solidFill>
              <a:srgbClr val="ECEAE4"/>
            </a:solidFill>
            <a:prstDash val="solid"/>
          </a:ln>
        </p:spPr>
      </p:sp>
      <p:sp>
        <p:nvSpPr>
          <p:cNvPr id="6" name="Shape 4"/>
          <p:cNvSpPr/>
          <p:nvPr/>
        </p:nvSpPr>
        <p:spPr>
          <a:xfrm>
            <a:off x="795528" y="2514600"/>
            <a:ext cx="420624" cy="420624"/>
          </a:xfrm>
          <a:prstGeom prst="ellipse">
            <a:avLst/>
          </a:prstGeom>
          <a:solidFill>
            <a:srgbClr val="FF4757"/>
          </a:solidFill>
          <a:ln/>
        </p:spPr>
      </p:sp>
      <p:sp>
        <p:nvSpPr>
          <p:cNvPr id="7" name="Text 5"/>
          <p:cNvSpPr/>
          <p:nvPr/>
        </p:nvSpPr>
        <p:spPr>
          <a:xfrm>
            <a:off x="795528" y="251460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822960" y="3017520"/>
            <a:ext cx="3108960" cy="9144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beaucoup d’affections ne progressent pas ou progressent trop lentement</a:t>
            </a:r>
            <a:endParaRPr lang="en-US" sz="1600" dirty="0"/>
          </a:p>
        </p:txBody>
      </p:sp>
      <p:sp>
        <p:nvSpPr>
          <p:cNvPr id="9" name="Shape 7"/>
          <p:cNvSpPr/>
          <p:nvPr/>
        </p:nvSpPr>
        <p:spPr>
          <a:xfrm>
            <a:off x="4343400" y="2377440"/>
            <a:ext cx="3520440" cy="1600200"/>
          </a:xfrm>
          <a:prstGeom prst="roundRect">
            <a:avLst>
              <a:gd name="adj" fmla="val 5143"/>
            </a:avLst>
          </a:prstGeom>
          <a:solidFill>
            <a:srgbClr val="ECEAE4"/>
          </a:solidFill>
          <a:ln w="12700">
            <a:solidFill>
              <a:srgbClr val="ECEAE4"/>
            </a:solidFill>
            <a:prstDash val="solid"/>
          </a:ln>
        </p:spPr>
      </p:sp>
      <p:sp>
        <p:nvSpPr>
          <p:cNvPr id="10" name="Shape 8"/>
          <p:cNvSpPr/>
          <p:nvPr/>
        </p:nvSpPr>
        <p:spPr>
          <a:xfrm>
            <a:off x="4544568" y="2514600"/>
            <a:ext cx="420624" cy="420624"/>
          </a:xfrm>
          <a:prstGeom prst="ellipse">
            <a:avLst/>
          </a:prstGeom>
          <a:solidFill>
            <a:srgbClr val="FF4757"/>
          </a:solidFill>
          <a:ln/>
        </p:spPr>
      </p:sp>
      <p:sp>
        <p:nvSpPr>
          <p:cNvPr id="11" name="Text 9"/>
          <p:cNvSpPr/>
          <p:nvPr/>
        </p:nvSpPr>
        <p:spPr>
          <a:xfrm>
            <a:off x="4544568" y="251460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4572000" y="3017520"/>
            <a:ext cx="3108960" cy="9144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 risque de mourir d’une autre cause</a:t>
            </a:r>
            <a:endParaRPr lang="en-US" sz="1600" dirty="0"/>
          </a:p>
        </p:txBody>
      </p:sp>
      <p:sp>
        <p:nvSpPr>
          <p:cNvPr id="13" name="Shape 11"/>
          <p:cNvSpPr/>
          <p:nvPr/>
        </p:nvSpPr>
        <p:spPr>
          <a:xfrm>
            <a:off x="8092440" y="2377440"/>
            <a:ext cx="3520440" cy="1600200"/>
          </a:xfrm>
          <a:prstGeom prst="roundRect">
            <a:avLst>
              <a:gd name="adj" fmla="val 5143"/>
            </a:avLst>
          </a:prstGeom>
          <a:solidFill>
            <a:srgbClr val="ECEAE4"/>
          </a:solidFill>
          <a:ln w="12700">
            <a:solidFill>
              <a:srgbClr val="ECEAE4"/>
            </a:solidFill>
            <a:prstDash val="solid"/>
          </a:ln>
        </p:spPr>
      </p:sp>
      <p:sp>
        <p:nvSpPr>
          <p:cNvPr id="14" name="Shape 12"/>
          <p:cNvSpPr/>
          <p:nvPr/>
        </p:nvSpPr>
        <p:spPr>
          <a:xfrm>
            <a:off x="8293608" y="2514600"/>
            <a:ext cx="420624" cy="420624"/>
          </a:xfrm>
          <a:prstGeom prst="ellipse">
            <a:avLst/>
          </a:prstGeom>
          <a:solidFill>
            <a:srgbClr val="FF4757"/>
          </a:solidFill>
          <a:ln/>
        </p:spPr>
      </p:sp>
      <p:sp>
        <p:nvSpPr>
          <p:cNvPr id="15" name="Text 13"/>
          <p:cNvSpPr/>
          <p:nvPr/>
        </p:nvSpPr>
        <p:spPr>
          <a:xfrm>
            <a:off x="8293608" y="251460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6" name="Text 14"/>
          <p:cNvSpPr/>
          <p:nvPr/>
        </p:nvSpPr>
        <p:spPr>
          <a:xfrm>
            <a:off x="8321040" y="3017520"/>
            <a:ext cx="3108960" cy="9144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les technologies à haute résolution trouvent des formes plus petites, souvent bénignes</a:t>
            </a:r>
            <a:endParaRPr lang="en-US" sz="1600" dirty="0"/>
          </a:p>
        </p:txBody>
      </p:sp>
      <p:sp>
        <p:nvSpPr>
          <p:cNvPr id="17" name="Shape 15"/>
          <p:cNvSpPr/>
          <p:nvPr/>
        </p:nvSpPr>
        <p:spPr>
          <a:xfrm>
            <a:off x="594360" y="4206240"/>
            <a:ext cx="10972800" cy="1600200"/>
          </a:xfrm>
          <a:prstGeom prst="roundRect">
            <a:avLst>
              <a:gd name="adj" fmla="val 5143"/>
            </a:avLst>
          </a:prstGeom>
          <a:solidFill>
            <a:srgbClr val="11121A"/>
          </a:solidFill>
          <a:ln w="12700">
            <a:solidFill>
              <a:srgbClr val="11121A"/>
            </a:solidFill>
            <a:prstDash val="solid"/>
          </a:ln>
        </p:spPr>
      </p:sp>
      <p:sp>
        <p:nvSpPr>
          <p:cNvPr id="18" name="Text 16"/>
          <p:cNvSpPr/>
          <p:nvPr/>
        </p:nvSpPr>
        <p:spPr>
          <a:xfrm>
            <a:off x="868680" y="4206240"/>
            <a:ext cx="10424160" cy="160020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Il ne se voit pas à l’échelle du patient : à toute personne chez qui l’on trouve un cancer, on propose un traitement. D’où le surtraitement, par exemple dans le cancer de la prostate.</a:t>
            </a:r>
            <a:endParaRPr lang="en-US" sz="18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Sources : OMS Europe, 2020 et 2022.</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 SURDIAGNOSTIC, EN DONNÉES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Le cancer de la thyroïde en Italie</a:t>
            </a:r>
            <a:endParaRPr lang="en-US" sz="3200" dirty="0"/>
          </a:p>
        </p:txBody>
      </p:sp>
      <p:sp>
        <p:nvSpPr>
          <p:cNvPr id="4" name="Shape 2"/>
          <p:cNvSpPr/>
          <p:nvPr/>
        </p:nvSpPr>
        <p:spPr>
          <a:xfrm>
            <a:off x="594360" y="1691640"/>
            <a:ext cx="10972800" cy="1005840"/>
          </a:xfrm>
          <a:prstGeom prst="roundRect">
            <a:avLst>
              <a:gd name="adj" fmla="val 8182"/>
            </a:avLst>
          </a:prstGeom>
          <a:solidFill>
            <a:srgbClr val="1D1F2B"/>
          </a:solidFill>
          <a:ln w="12700">
            <a:solidFill>
              <a:srgbClr val="1D1F2B"/>
            </a:solidFill>
            <a:prstDash val="solid"/>
          </a:ln>
        </p:spPr>
      </p:sp>
      <p:sp>
        <p:nvSpPr>
          <p:cNvPr id="5" name="Shape 3"/>
          <p:cNvSpPr/>
          <p:nvPr/>
        </p:nvSpPr>
        <p:spPr>
          <a:xfrm>
            <a:off x="868680" y="1874520"/>
            <a:ext cx="640080" cy="640080"/>
          </a:xfrm>
          <a:prstGeom prst="upArrow">
            <a:avLst/>
          </a:prstGeom>
          <a:solidFill>
            <a:srgbClr val="FF4757"/>
          </a:solidFill>
          <a:ln w="12700">
            <a:solidFill>
              <a:srgbClr val="FF4757"/>
            </a:solidFill>
            <a:prstDash val="solid"/>
          </a:ln>
        </p:spPr>
      </p:sp>
      <p:sp>
        <p:nvSpPr>
          <p:cNvPr id="6" name="Text 4"/>
          <p:cNvSpPr/>
          <p:nvPr/>
        </p:nvSpPr>
        <p:spPr>
          <a:xfrm>
            <a:off x="1783080" y="1691640"/>
            <a:ext cx="3291840" cy="1005840"/>
          </a:xfrm>
          <a:prstGeom prst="rect">
            <a:avLst/>
          </a:prstGeom>
          <a:noFill/>
          <a:ln/>
        </p:spPr>
        <p:txBody>
          <a:bodyPr wrap="square" lIns="0" tIns="0" rIns="0" bIns="0" rtlCol="0" anchor="ctr"/>
          <a:lstStyle/>
          <a:p>
            <a:pPr indent="0" marL="0">
              <a:buNone/>
            </a:pPr>
            <a:r>
              <a:rPr lang="en-US" sz="2100" b="1" dirty="0">
                <a:solidFill>
                  <a:srgbClr val="FF4757"/>
                </a:solidFill>
                <a:latin typeface="Palatino Linotype" pitchFamily="34" charset="0"/>
                <a:ea typeface="Palatino Linotype" pitchFamily="34" charset="-122"/>
                <a:cs typeface="Palatino Linotype" pitchFamily="34" charset="-120"/>
              </a:rPr>
              <a:t>Les cas détectés</a:t>
            </a:r>
            <a:endParaRPr lang="en-US" sz="2100" dirty="0"/>
          </a:p>
        </p:txBody>
      </p:sp>
      <p:sp>
        <p:nvSpPr>
          <p:cNvPr id="7" name="Text 5"/>
          <p:cNvSpPr/>
          <p:nvPr/>
        </p:nvSpPr>
        <p:spPr>
          <a:xfrm>
            <a:off x="5120640" y="1691640"/>
            <a:ext cx="6217920" cy="100584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ont considérablement augmenté, avec le dépistage opportuniste</a:t>
            </a:r>
            <a:endParaRPr lang="en-US" sz="1900" dirty="0"/>
          </a:p>
        </p:txBody>
      </p:sp>
      <p:sp>
        <p:nvSpPr>
          <p:cNvPr id="8" name="Shape 6"/>
          <p:cNvSpPr/>
          <p:nvPr/>
        </p:nvSpPr>
        <p:spPr>
          <a:xfrm>
            <a:off x="594360" y="2880360"/>
            <a:ext cx="10972800" cy="1005840"/>
          </a:xfrm>
          <a:prstGeom prst="roundRect">
            <a:avLst>
              <a:gd name="adj" fmla="val 8182"/>
            </a:avLst>
          </a:prstGeom>
          <a:solidFill>
            <a:srgbClr val="1D1F2B"/>
          </a:solidFill>
          <a:ln w="12700">
            <a:solidFill>
              <a:srgbClr val="1D1F2B"/>
            </a:solidFill>
            <a:prstDash val="solid"/>
          </a:ln>
        </p:spPr>
      </p:sp>
      <p:sp>
        <p:nvSpPr>
          <p:cNvPr id="9" name="Shape 7"/>
          <p:cNvSpPr/>
          <p:nvPr/>
        </p:nvSpPr>
        <p:spPr>
          <a:xfrm>
            <a:off x="868680" y="3063240"/>
            <a:ext cx="640080" cy="640080"/>
          </a:xfrm>
          <a:prstGeom prst="rightArrow">
            <a:avLst/>
          </a:prstGeom>
          <a:solidFill>
            <a:srgbClr val="27D3BE"/>
          </a:solidFill>
          <a:ln w="12700">
            <a:solidFill>
              <a:srgbClr val="FF4757"/>
            </a:solidFill>
            <a:prstDash val="solid"/>
          </a:ln>
        </p:spPr>
      </p:sp>
      <p:sp>
        <p:nvSpPr>
          <p:cNvPr id="10" name="Text 8"/>
          <p:cNvSpPr/>
          <p:nvPr/>
        </p:nvSpPr>
        <p:spPr>
          <a:xfrm>
            <a:off x="1783080" y="2880360"/>
            <a:ext cx="3291840" cy="1005840"/>
          </a:xfrm>
          <a:prstGeom prst="rect">
            <a:avLst/>
          </a:prstGeom>
          <a:noFill/>
          <a:ln/>
        </p:spPr>
        <p:txBody>
          <a:bodyPr wrap="square" lIns="0" tIns="0" rIns="0" bIns="0" rtlCol="0" anchor="ctr"/>
          <a:lstStyle/>
          <a:p>
            <a:pPr indent="0" marL="0">
              <a:buNone/>
            </a:pPr>
            <a:r>
              <a:rPr lang="en-US" sz="2100" b="1" dirty="0">
                <a:solidFill>
                  <a:srgbClr val="27D3BE"/>
                </a:solidFill>
                <a:latin typeface="Palatino Linotype" pitchFamily="34" charset="0"/>
                <a:ea typeface="Palatino Linotype" pitchFamily="34" charset="-122"/>
                <a:cs typeface="Palatino Linotype" pitchFamily="34" charset="-120"/>
              </a:rPr>
              <a:t>La mortalité</a:t>
            </a:r>
            <a:endParaRPr lang="en-US" sz="2100" dirty="0"/>
          </a:p>
        </p:txBody>
      </p:sp>
      <p:sp>
        <p:nvSpPr>
          <p:cNvPr id="11" name="Text 9"/>
          <p:cNvSpPr/>
          <p:nvPr/>
        </p:nvSpPr>
        <p:spPr>
          <a:xfrm>
            <a:off x="5120640" y="2880360"/>
            <a:ext cx="6217920" cy="100584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n’a pas changé</a:t>
            </a:r>
            <a:endParaRPr lang="en-US" sz="1900" dirty="0"/>
          </a:p>
        </p:txBody>
      </p:sp>
      <p:sp>
        <p:nvSpPr>
          <p:cNvPr id="12" name="Text 10"/>
          <p:cNvSpPr/>
          <p:nvPr/>
        </p:nvSpPr>
        <p:spPr>
          <a:xfrm>
            <a:off x="594360" y="4114800"/>
            <a:ext cx="10972800" cy="685800"/>
          </a:xfrm>
          <a:prstGeom prst="rect">
            <a:avLst/>
          </a:prstGeom>
          <a:noFill/>
          <a:ln/>
        </p:spPr>
        <p:txBody>
          <a:bodyPr wrap="square" lIns="0" tIns="0" rIns="0" bIns="0" rtlCol="0" anchor="t"/>
          <a:lstStyle/>
          <a:p>
            <a:pPr indent="0" marL="0">
              <a:buNone/>
            </a:pPr>
            <a:r>
              <a:rPr lang="en-US" sz="1800" dirty="0">
                <a:solidFill>
                  <a:srgbClr val="D5D8E2"/>
                </a:solidFill>
                <a:latin typeface="Palatino Linotype" pitchFamily="34" charset="0"/>
                <a:ea typeface="Palatino Linotype" pitchFamily="34" charset="-122"/>
                <a:cs typeface="Palatino Linotype" pitchFamily="34" charset="-120"/>
              </a:rPr>
              <a:t>L’explication la plus probable : le surdiagnostic. L’exemple est illustré par le guide OMS des programmes de dépistage.</a:t>
            </a:r>
            <a:endParaRPr lang="en-US" sz="1800" dirty="0"/>
          </a:p>
        </p:txBody>
      </p:sp>
      <p:sp>
        <p:nvSpPr>
          <p:cNvPr id="13" name="Shape 11"/>
          <p:cNvSpPr/>
          <p:nvPr/>
        </p:nvSpPr>
        <p:spPr>
          <a:xfrm>
            <a:off x="594360" y="4892040"/>
            <a:ext cx="10972800" cy="914400"/>
          </a:xfrm>
          <a:prstGeom prst="roundRect">
            <a:avLst>
              <a:gd name="adj" fmla="val 9000"/>
            </a:avLst>
          </a:prstGeom>
          <a:solidFill>
            <a:srgbClr val="272A38"/>
          </a:solidFill>
          <a:ln w="12700">
            <a:solidFill>
              <a:srgbClr val="272A38"/>
            </a:solidFill>
            <a:prstDash val="solid"/>
          </a:ln>
        </p:spPr>
      </p:sp>
      <p:sp>
        <p:nvSpPr>
          <p:cNvPr id="14" name="Text 12"/>
          <p:cNvSpPr/>
          <p:nvPr/>
        </p:nvSpPr>
        <p:spPr>
          <a:xfrm>
            <a:off x="868680" y="4892040"/>
            <a:ext cx="10424160" cy="91440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Le guide OMS du dépistage du cancer : le dépistage thyroïdien et les scanners du corps entier doivent être activement découragés.</a:t>
            </a:r>
            <a:endParaRPr lang="en-US" sz="1800" dirty="0"/>
          </a:p>
        </p:txBody>
      </p:sp>
      <p:sp>
        <p:nvSpPr>
          <p:cNvPr id="15" name="Text 1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Sources : OMS Europe, 2020 et 2022.</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UNE MINUTE</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CROIRIEZ-VOUS CE TITRE ?</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Un titre construit pour la discussion</a:t>
            </a:r>
            <a:endParaRPr lang="en-US" sz="2800" dirty="0"/>
          </a:p>
        </p:txBody>
      </p:sp>
      <p:sp>
        <p:nvSpPr>
          <p:cNvPr id="6" name="Shape 4"/>
          <p:cNvSpPr/>
          <p:nvPr/>
        </p:nvSpPr>
        <p:spPr>
          <a:xfrm>
            <a:off x="594360" y="1508760"/>
            <a:ext cx="10972800" cy="1371600"/>
          </a:xfrm>
          <a:prstGeom prst="roundRect">
            <a:avLst>
              <a:gd name="adj" fmla="val 6000"/>
            </a:avLst>
          </a:prstGeom>
          <a:solidFill>
            <a:srgbClr val="FFFFFF"/>
          </a:solidFill>
          <a:ln w="12700">
            <a:solidFill>
              <a:srgbClr val="FFFFFF"/>
            </a:solidFill>
            <a:prstDash val="solid"/>
          </a:ln>
        </p:spPr>
      </p:sp>
      <p:sp>
        <p:nvSpPr>
          <p:cNvPr id="7" name="Text 5"/>
          <p:cNvSpPr/>
          <p:nvPr/>
        </p:nvSpPr>
        <p:spPr>
          <a:xfrm>
            <a:off x="914400" y="1508760"/>
            <a:ext cx="10332720" cy="1371600"/>
          </a:xfrm>
          <a:prstGeom prst="rect">
            <a:avLst/>
          </a:prstGeom>
          <a:noFill/>
          <a:ln/>
        </p:spPr>
        <p:txBody>
          <a:bodyPr wrap="square" lIns="0" tIns="0" rIns="0" bIns="0" rtlCol="0" anchor="ctr"/>
          <a:lstStyle/>
          <a:p>
            <a:pPr indent="0" marL="0">
              <a:buNone/>
            </a:pPr>
            <a:r>
              <a:rPr lang="en-US" sz="2300" b="1" dirty="0">
                <a:solidFill>
                  <a:srgbClr val="11121A"/>
                </a:solidFill>
                <a:latin typeface="Palatino Linotype" pitchFamily="34" charset="0"/>
                <a:ea typeface="Palatino Linotype" pitchFamily="34" charset="-122"/>
                <a:cs typeface="Palatino Linotype" pitchFamily="34" charset="-120"/>
              </a:rPr>
              <a:t>« La survie à cinq ans des patientes atteintes d’un cancer du sein a augmenté de façon spectaculaire depuis le lancement du dépistage. »</a:t>
            </a:r>
            <a:endParaRPr lang="en-US" sz="2300" dirty="0"/>
          </a:p>
        </p:txBody>
      </p:sp>
      <p:sp>
        <p:nvSpPr>
          <p:cNvPr id="8" name="Shape 6"/>
          <p:cNvSpPr/>
          <p:nvPr/>
        </p:nvSpPr>
        <p:spPr>
          <a:xfrm>
            <a:off x="594360" y="3063240"/>
            <a:ext cx="10972800" cy="548640"/>
          </a:xfrm>
          <a:prstGeom prst="roundRect">
            <a:avLst>
              <a:gd name="adj" fmla="val 15000"/>
            </a:avLst>
          </a:prstGeom>
          <a:solidFill>
            <a:srgbClr val="1D1F2B"/>
          </a:solidFill>
          <a:ln w="12700">
            <a:solidFill>
              <a:srgbClr val="1D1F2B"/>
            </a:solidFill>
            <a:prstDash val="solid"/>
          </a:ln>
        </p:spPr>
      </p:sp>
      <p:sp>
        <p:nvSpPr>
          <p:cNvPr id="9" name="Shape 7"/>
          <p:cNvSpPr/>
          <p:nvPr/>
        </p:nvSpPr>
        <p:spPr>
          <a:xfrm>
            <a:off x="777240" y="3127248"/>
            <a:ext cx="420624" cy="420624"/>
          </a:xfrm>
          <a:prstGeom prst="ellipse">
            <a:avLst/>
          </a:prstGeom>
          <a:solidFill>
            <a:srgbClr val="FFC24B"/>
          </a:solidFill>
          <a:ln/>
        </p:spPr>
      </p:sp>
      <p:sp>
        <p:nvSpPr>
          <p:cNvPr id="10" name="Text 8"/>
          <p:cNvSpPr/>
          <p:nvPr/>
        </p:nvSpPr>
        <p:spPr>
          <a:xfrm>
            <a:off x="777240" y="31272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1" name="Text 9"/>
          <p:cNvSpPr/>
          <p:nvPr/>
        </p:nvSpPr>
        <p:spPr>
          <a:xfrm>
            <a:off x="1371600" y="3063240"/>
            <a:ext cx="10058400" cy="5486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Oui, cela prouve que le dépistage sauve des vies</a:t>
            </a:r>
            <a:endParaRPr lang="en-US" sz="1800" dirty="0"/>
          </a:p>
        </p:txBody>
      </p:sp>
      <p:sp>
        <p:nvSpPr>
          <p:cNvPr id="12" name="Shape 10"/>
          <p:cNvSpPr/>
          <p:nvPr/>
        </p:nvSpPr>
        <p:spPr>
          <a:xfrm>
            <a:off x="594360" y="3739896"/>
            <a:ext cx="10972800" cy="548640"/>
          </a:xfrm>
          <a:prstGeom prst="roundRect">
            <a:avLst>
              <a:gd name="adj" fmla="val 15000"/>
            </a:avLst>
          </a:prstGeom>
          <a:solidFill>
            <a:srgbClr val="1D1F2B"/>
          </a:solidFill>
          <a:ln w="12700">
            <a:solidFill>
              <a:srgbClr val="1D1F2B"/>
            </a:solidFill>
            <a:prstDash val="solid"/>
          </a:ln>
        </p:spPr>
      </p:sp>
      <p:sp>
        <p:nvSpPr>
          <p:cNvPr id="13" name="Shape 11"/>
          <p:cNvSpPr/>
          <p:nvPr/>
        </p:nvSpPr>
        <p:spPr>
          <a:xfrm>
            <a:off x="777240" y="3803904"/>
            <a:ext cx="420624" cy="420624"/>
          </a:xfrm>
          <a:prstGeom prst="ellipse">
            <a:avLst/>
          </a:prstGeom>
          <a:solidFill>
            <a:srgbClr val="FFC24B"/>
          </a:solidFill>
          <a:ln/>
        </p:spPr>
      </p:sp>
      <p:sp>
        <p:nvSpPr>
          <p:cNvPr id="14" name="Text 12"/>
          <p:cNvSpPr/>
          <p:nvPr/>
        </p:nvSpPr>
        <p:spPr>
          <a:xfrm>
            <a:off x="777240" y="38039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5" name="Text 13"/>
          <p:cNvSpPr/>
          <p:nvPr/>
        </p:nvSpPr>
        <p:spPr>
          <a:xfrm>
            <a:off x="1371600" y="3739896"/>
            <a:ext cx="10058400" cy="5486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Non, cela ne le prouve pas</a:t>
            </a:r>
            <a:endParaRPr lang="en-US" sz="1800" dirty="0"/>
          </a:p>
        </p:txBody>
      </p:sp>
      <p:sp>
        <p:nvSpPr>
          <p:cNvPr id="16" name="Shape 14"/>
          <p:cNvSpPr/>
          <p:nvPr/>
        </p:nvSpPr>
        <p:spPr>
          <a:xfrm>
            <a:off x="594360" y="4416552"/>
            <a:ext cx="10972800" cy="548640"/>
          </a:xfrm>
          <a:prstGeom prst="roundRect">
            <a:avLst>
              <a:gd name="adj" fmla="val 15000"/>
            </a:avLst>
          </a:prstGeom>
          <a:solidFill>
            <a:srgbClr val="1D1F2B"/>
          </a:solidFill>
          <a:ln w="12700">
            <a:solidFill>
              <a:srgbClr val="1D1F2B"/>
            </a:solidFill>
            <a:prstDash val="solid"/>
          </a:ln>
        </p:spPr>
      </p:sp>
      <p:sp>
        <p:nvSpPr>
          <p:cNvPr id="17" name="Shape 15"/>
          <p:cNvSpPr/>
          <p:nvPr/>
        </p:nvSpPr>
        <p:spPr>
          <a:xfrm>
            <a:off x="777240" y="4480560"/>
            <a:ext cx="420624" cy="420624"/>
          </a:xfrm>
          <a:prstGeom prst="ellipse">
            <a:avLst/>
          </a:prstGeom>
          <a:solidFill>
            <a:srgbClr val="FFC24B"/>
          </a:solidFill>
          <a:ln/>
        </p:spPr>
      </p:sp>
      <p:sp>
        <p:nvSpPr>
          <p:cNvPr id="18" name="Text 16"/>
          <p:cNvSpPr/>
          <p:nvPr/>
        </p:nvSpPr>
        <p:spPr>
          <a:xfrm>
            <a:off x="777240" y="44805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9" name="Text 17"/>
          <p:cNvSpPr/>
          <p:nvPr/>
        </p:nvSpPr>
        <p:spPr>
          <a:xfrm>
            <a:off x="1371600" y="4416552"/>
            <a:ext cx="10058400" cy="5486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On ne peut pas le dire sans d’autres données</a:t>
            </a:r>
            <a:endParaRPr lang="en-US" sz="1800" dirty="0"/>
          </a:p>
        </p:txBody>
      </p:sp>
      <p:sp>
        <p:nvSpPr>
          <p:cNvPr id="20" name="Text 18"/>
          <p:cNvSpPr/>
          <p:nvPr/>
        </p:nvSpPr>
        <p:spPr>
          <a:xfrm>
            <a:off x="594360" y="5257800"/>
            <a:ext cx="10972800" cy="54864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Ensuite : quel chiffre demanderiez-vous pour décider ? Répondez sur votre téléphone, au code affiché.</a:t>
            </a:r>
            <a:endParaRPr lang="en-US" sz="1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RÉPONSE : B</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Le titre ne prouve pas le bénéfice</a:t>
            </a:r>
            <a:endParaRPr lang="en-US" sz="3200" dirty="0"/>
          </a:p>
        </p:txBody>
      </p:sp>
      <p:sp>
        <p:nvSpPr>
          <p:cNvPr id="4" name="Shape 2"/>
          <p:cNvSpPr/>
          <p:nvPr/>
        </p:nvSpPr>
        <p:spPr>
          <a:xfrm>
            <a:off x="594360" y="1645920"/>
            <a:ext cx="10972800" cy="868680"/>
          </a:xfrm>
          <a:prstGeom prst="roundRect">
            <a:avLst>
              <a:gd name="adj" fmla="val 9474"/>
            </a:avLst>
          </a:prstGeom>
          <a:solidFill>
            <a:srgbClr val="ECEAE4"/>
          </a:solidFill>
          <a:ln w="12700">
            <a:solidFill>
              <a:srgbClr val="ECEAE4"/>
            </a:solidFill>
            <a:prstDash val="solid"/>
          </a:ln>
        </p:spPr>
      </p:sp>
      <p:sp>
        <p:nvSpPr>
          <p:cNvPr id="5" name="Shape 3"/>
          <p:cNvSpPr/>
          <p:nvPr/>
        </p:nvSpPr>
        <p:spPr>
          <a:xfrm>
            <a:off x="822960" y="1874520"/>
            <a:ext cx="420624" cy="420624"/>
          </a:xfrm>
          <a:prstGeom prst="ellipse">
            <a:avLst/>
          </a:prstGeom>
          <a:solidFill>
            <a:srgbClr val="FF4757"/>
          </a:solidFill>
          <a:ln/>
        </p:spPr>
      </p:sp>
      <p:sp>
        <p:nvSpPr>
          <p:cNvPr id="6" name="Text 4"/>
          <p:cNvSpPr/>
          <p:nvPr/>
        </p:nvSpPr>
        <p:spPr>
          <a:xfrm>
            <a:off x="822960" y="187452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63040" y="1645920"/>
            <a:ext cx="9875520" cy="86868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La survie plus longue s’explique aussi par l’avance, par la durée et par le surdiagnostic.</a:t>
            </a:r>
            <a:endParaRPr lang="en-US" sz="1800" dirty="0"/>
          </a:p>
        </p:txBody>
      </p:sp>
      <p:sp>
        <p:nvSpPr>
          <p:cNvPr id="8" name="Shape 6"/>
          <p:cNvSpPr/>
          <p:nvPr/>
        </p:nvSpPr>
        <p:spPr>
          <a:xfrm>
            <a:off x="594360" y="2651760"/>
            <a:ext cx="10972800" cy="868680"/>
          </a:xfrm>
          <a:prstGeom prst="roundRect">
            <a:avLst>
              <a:gd name="adj" fmla="val 9474"/>
            </a:avLst>
          </a:prstGeom>
          <a:solidFill>
            <a:srgbClr val="ECEAE4"/>
          </a:solidFill>
          <a:ln w="12700">
            <a:solidFill>
              <a:srgbClr val="ECEAE4"/>
            </a:solidFill>
            <a:prstDash val="solid"/>
          </a:ln>
        </p:spPr>
      </p:sp>
      <p:sp>
        <p:nvSpPr>
          <p:cNvPr id="9" name="Shape 7"/>
          <p:cNvSpPr/>
          <p:nvPr/>
        </p:nvSpPr>
        <p:spPr>
          <a:xfrm>
            <a:off x="822960" y="2880360"/>
            <a:ext cx="420624" cy="420624"/>
          </a:xfrm>
          <a:prstGeom prst="ellipse">
            <a:avLst/>
          </a:prstGeom>
          <a:solidFill>
            <a:srgbClr val="FF4757"/>
          </a:solidFill>
          <a:ln/>
        </p:spPr>
      </p:sp>
      <p:sp>
        <p:nvSpPr>
          <p:cNvPr id="10" name="Text 8"/>
          <p:cNvSpPr/>
          <p:nvPr/>
        </p:nvSpPr>
        <p:spPr>
          <a:xfrm>
            <a:off x="822960" y="288036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63040" y="2651760"/>
            <a:ext cx="9875520" cy="86868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Le chiffre à demander : la mortalité par cancer du sein dans la population invitée, comparée à une population non invitée.</a:t>
            </a:r>
            <a:endParaRPr lang="en-US" sz="1800" dirty="0"/>
          </a:p>
        </p:txBody>
      </p:sp>
      <p:sp>
        <p:nvSpPr>
          <p:cNvPr id="12" name="Shape 10"/>
          <p:cNvSpPr/>
          <p:nvPr/>
        </p:nvSpPr>
        <p:spPr>
          <a:xfrm>
            <a:off x="594360" y="3657600"/>
            <a:ext cx="10972800" cy="868680"/>
          </a:xfrm>
          <a:prstGeom prst="roundRect">
            <a:avLst>
              <a:gd name="adj" fmla="val 9474"/>
            </a:avLst>
          </a:prstGeom>
          <a:solidFill>
            <a:srgbClr val="ECEAE4"/>
          </a:solidFill>
          <a:ln w="12700">
            <a:solidFill>
              <a:srgbClr val="ECEAE4"/>
            </a:solidFill>
            <a:prstDash val="solid"/>
          </a:ln>
        </p:spPr>
      </p:sp>
      <p:sp>
        <p:nvSpPr>
          <p:cNvPr id="13" name="Shape 11"/>
          <p:cNvSpPr/>
          <p:nvPr/>
        </p:nvSpPr>
        <p:spPr>
          <a:xfrm>
            <a:off x="822960" y="3886200"/>
            <a:ext cx="420624" cy="420624"/>
          </a:xfrm>
          <a:prstGeom prst="ellipse">
            <a:avLst/>
          </a:prstGeom>
          <a:solidFill>
            <a:srgbClr val="FF4757"/>
          </a:solidFill>
          <a:ln/>
        </p:spPr>
      </p:sp>
      <p:sp>
        <p:nvSpPr>
          <p:cNvPr id="14" name="Text 12"/>
          <p:cNvSpPr/>
          <p:nvPr/>
        </p:nvSpPr>
        <p:spPr>
          <a:xfrm>
            <a:off x="822960" y="388620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463040" y="3657600"/>
            <a:ext cx="9875520" cy="86868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 On ne peut pas le dire sans d’autres données » est acceptable si vous nommez la mortalité.</a:t>
            </a:r>
            <a:endParaRPr lang="en-US" sz="1800" dirty="0"/>
          </a:p>
        </p:txBody>
      </p:sp>
      <p:sp>
        <p:nvSpPr>
          <p:cNvPr id="16" name="Shape 14"/>
          <p:cNvSpPr/>
          <p:nvPr/>
        </p:nvSpPr>
        <p:spPr>
          <a:xfrm>
            <a:off x="594360" y="4800600"/>
            <a:ext cx="10972800" cy="1005840"/>
          </a:xfrm>
          <a:prstGeom prst="roundRect">
            <a:avLst>
              <a:gd name="adj" fmla="val 8182"/>
            </a:avLst>
          </a:prstGeom>
          <a:solidFill>
            <a:srgbClr val="11121A"/>
          </a:solidFill>
          <a:ln w="12700">
            <a:solidFill>
              <a:srgbClr val="11121A"/>
            </a:solidFill>
            <a:prstDash val="solid"/>
          </a:ln>
        </p:spPr>
      </p:sp>
      <p:sp>
        <p:nvSpPr>
          <p:cNvPr id="17" name="Text 15"/>
          <p:cNvSpPr/>
          <p:nvPr/>
        </p:nvSpPr>
        <p:spPr>
          <a:xfrm>
            <a:off x="868680" y="4800600"/>
            <a:ext cx="10424160" cy="100584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La preuve vient d’études qui comparent la mortalité, de préférence randomisées.</a:t>
            </a:r>
            <a:endParaRPr lang="en-US" sz="1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5.7 · LE DÉPISTAGE EN ROUMANIE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La participation est faible</a:t>
            </a:r>
            <a:endParaRPr lang="en-US" sz="3200" dirty="0"/>
          </a:p>
        </p:txBody>
      </p:sp>
      <p:sp>
        <p:nvSpPr>
          <p:cNvPr id="4" name="Shape 2"/>
          <p:cNvSpPr/>
          <p:nvPr/>
        </p:nvSpPr>
        <p:spPr>
          <a:xfrm>
            <a:off x="594360" y="1645920"/>
            <a:ext cx="3520440" cy="2651760"/>
          </a:xfrm>
          <a:prstGeom prst="roundRect">
            <a:avLst>
              <a:gd name="adj" fmla="val 3103"/>
            </a:avLst>
          </a:prstGeom>
          <a:solidFill>
            <a:srgbClr val="1D1F2B"/>
          </a:solidFill>
          <a:ln w="12700">
            <a:solidFill>
              <a:srgbClr val="1D1F2B"/>
            </a:solidFill>
            <a:prstDash val="solid"/>
          </a:ln>
        </p:spPr>
      </p:sp>
      <p:sp>
        <p:nvSpPr>
          <p:cNvPr id="5" name="Text 3"/>
          <p:cNvSpPr/>
          <p:nvPr/>
        </p:nvSpPr>
        <p:spPr>
          <a:xfrm>
            <a:off x="868680" y="1755648"/>
            <a:ext cx="2971800" cy="1325880"/>
          </a:xfrm>
          <a:prstGeom prst="rect">
            <a:avLst/>
          </a:prstGeom>
          <a:noFill/>
          <a:ln/>
        </p:spPr>
        <p:txBody>
          <a:bodyPr wrap="square" lIns="0" tIns="0" rIns="0" bIns="0" rtlCol="0" anchor="ctr"/>
          <a:lstStyle/>
          <a:p>
            <a:pPr indent="0" marL="0">
              <a:buNone/>
            </a:pPr>
            <a:r>
              <a:rPr lang="en-US" sz="4000" b="1" dirty="0">
                <a:solidFill>
                  <a:srgbClr val="FF4757"/>
                </a:solidFill>
                <a:latin typeface="Palatino Linotype" pitchFamily="34" charset="0"/>
                <a:ea typeface="Palatino Linotype" pitchFamily="34" charset="-122"/>
                <a:cs typeface="Palatino Linotype" pitchFamily="34" charset="-120"/>
              </a:rPr>
              <a:t>9 %</a:t>
            </a:r>
            <a:endParaRPr lang="en-US" sz="4000" dirty="0"/>
          </a:p>
        </p:txBody>
      </p:sp>
      <p:sp>
        <p:nvSpPr>
          <p:cNvPr id="6" name="Text 4"/>
          <p:cNvSpPr/>
          <p:nvPr/>
        </p:nvSpPr>
        <p:spPr>
          <a:xfrm>
            <a:off x="868680" y="2990088"/>
            <a:ext cx="2971800" cy="1219810"/>
          </a:xfrm>
          <a:prstGeom prst="rect">
            <a:avLst/>
          </a:prstGeom>
          <a:noFill/>
          <a:ln/>
        </p:spPr>
        <p:txBody>
          <a:bodyPr wrap="square" lIns="0" tIns="0" rIns="0" bIns="0" rtlCol="0" anchor="t"/>
          <a:lstStyle/>
          <a:p>
            <a:pPr indent="0" marL="0">
              <a:buNone/>
            </a:pPr>
            <a:r>
              <a:rPr lang="en-US" sz="1200" dirty="0">
                <a:solidFill>
                  <a:srgbClr val="D5D8E2"/>
                </a:solidFill>
                <a:latin typeface="Palatino Linotype" pitchFamily="34" charset="0"/>
                <a:ea typeface="Palatino Linotype" pitchFamily="34" charset="-122"/>
                <a:cs typeface="Palatino Linotype" pitchFamily="34" charset="-120"/>
              </a:rPr>
              <a:t>50–69 ans, mammographie au cours des deux dernières années (2019) : la proportion la plus faible de l’UE</a:t>
            </a:r>
            <a:endParaRPr lang="en-US" sz="1200" dirty="0"/>
          </a:p>
        </p:txBody>
      </p:sp>
      <p:sp>
        <p:nvSpPr>
          <p:cNvPr id="7" name="Shape 5"/>
          <p:cNvSpPr/>
          <p:nvPr/>
        </p:nvSpPr>
        <p:spPr>
          <a:xfrm>
            <a:off x="4343400" y="1645920"/>
            <a:ext cx="3520440" cy="2651760"/>
          </a:xfrm>
          <a:prstGeom prst="roundRect">
            <a:avLst>
              <a:gd name="adj" fmla="val 3103"/>
            </a:avLst>
          </a:prstGeom>
          <a:solidFill>
            <a:srgbClr val="1D1F2B"/>
          </a:solidFill>
          <a:ln w="12700">
            <a:solidFill>
              <a:srgbClr val="1D1F2B"/>
            </a:solidFill>
            <a:prstDash val="solid"/>
          </a:ln>
        </p:spPr>
      </p:sp>
      <p:sp>
        <p:nvSpPr>
          <p:cNvPr id="8" name="Text 6"/>
          <p:cNvSpPr/>
          <p:nvPr/>
        </p:nvSpPr>
        <p:spPr>
          <a:xfrm>
            <a:off x="4617720" y="1755648"/>
            <a:ext cx="2971800" cy="1325880"/>
          </a:xfrm>
          <a:prstGeom prst="rect">
            <a:avLst/>
          </a:prstGeom>
          <a:noFill/>
          <a:ln/>
        </p:spPr>
        <p:txBody>
          <a:bodyPr wrap="square" lIns="0" tIns="0" rIns="0" bIns="0" rtlCol="0" anchor="ctr"/>
          <a:lstStyle/>
          <a:p>
            <a:pPr indent="0" marL="0">
              <a:buNone/>
            </a:pPr>
            <a:r>
              <a:rPr lang="en-US" sz="4000" b="1" dirty="0">
                <a:solidFill>
                  <a:srgbClr val="FFC24B"/>
                </a:solidFill>
                <a:latin typeface="Palatino Linotype" pitchFamily="34" charset="0"/>
                <a:ea typeface="Palatino Linotype" pitchFamily="34" charset="-122"/>
                <a:cs typeface="Palatino Linotype" pitchFamily="34" charset="-120"/>
              </a:rPr>
              <a:t>4 % · 17 %</a:t>
            </a:r>
            <a:endParaRPr lang="en-US" sz="4000" dirty="0"/>
          </a:p>
        </p:txBody>
      </p:sp>
      <p:sp>
        <p:nvSpPr>
          <p:cNvPr id="9" name="Text 7"/>
          <p:cNvSpPr/>
          <p:nvPr/>
        </p:nvSpPr>
        <p:spPr>
          <a:xfrm>
            <a:off x="4617720" y="2990088"/>
            <a:ext cx="2971800" cy="1219810"/>
          </a:xfrm>
          <a:prstGeom prst="rect">
            <a:avLst/>
          </a:prstGeom>
          <a:noFill/>
          <a:ln/>
        </p:spPr>
        <p:txBody>
          <a:bodyPr wrap="square" lIns="0" tIns="0" rIns="0" bIns="0" rtlCol="0" anchor="t"/>
          <a:lstStyle/>
          <a:p>
            <a:pPr indent="0" marL="0">
              <a:buNone/>
            </a:pPr>
            <a:r>
              <a:rPr lang="en-US" sz="1200" dirty="0">
                <a:solidFill>
                  <a:srgbClr val="D5D8E2"/>
                </a:solidFill>
                <a:latin typeface="Palatino Linotype" pitchFamily="34" charset="0"/>
                <a:ea typeface="Palatino Linotype" pitchFamily="34" charset="-122"/>
                <a:cs typeface="Palatino Linotype" pitchFamily="34" charset="-120"/>
              </a:rPr>
              <a:t>mammographie de dépistage déclarée : faible niveau d’instruction, contre études supérieures</a:t>
            </a:r>
            <a:endParaRPr lang="en-US" sz="1200" dirty="0"/>
          </a:p>
        </p:txBody>
      </p:sp>
      <p:sp>
        <p:nvSpPr>
          <p:cNvPr id="10" name="Shape 8"/>
          <p:cNvSpPr/>
          <p:nvPr/>
        </p:nvSpPr>
        <p:spPr>
          <a:xfrm>
            <a:off x="8092440" y="1645920"/>
            <a:ext cx="3520440" cy="2651760"/>
          </a:xfrm>
          <a:prstGeom prst="roundRect">
            <a:avLst>
              <a:gd name="adj" fmla="val 3103"/>
            </a:avLst>
          </a:prstGeom>
          <a:solidFill>
            <a:srgbClr val="1D1F2B"/>
          </a:solidFill>
          <a:ln w="12700">
            <a:solidFill>
              <a:srgbClr val="1D1F2B"/>
            </a:solidFill>
            <a:prstDash val="solid"/>
          </a:ln>
        </p:spPr>
      </p:sp>
      <p:sp>
        <p:nvSpPr>
          <p:cNvPr id="11" name="Text 9"/>
          <p:cNvSpPr/>
          <p:nvPr/>
        </p:nvSpPr>
        <p:spPr>
          <a:xfrm>
            <a:off x="8366760" y="1755648"/>
            <a:ext cx="2971800" cy="1325880"/>
          </a:xfrm>
          <a:prstGeom prst="rect">
            <a:avLst/>
          </a:prstGeom>
          <a:noFill/>
          <a:ln/>
        </p:spPr>
        <p:txBody>
          <a:bodyPr wrap="square" lIns="0" tIns="0" rIns="0" bIns="0" rtlCol="0" anchor="ctr"/>
          <a:lstStyle/>
          <a:p>
            <a:pPr indent="0" marL="0">
              <a:buNone/>
            </a:pPr>
            <a:r>
              <a:rPr lang="en-US" sz="4000" b="1" dirty="0">
                <a:solidFill>
                  <a:srgbClr val="27D3BE"/>
                </a:solidFill>
                <a:latin typeface="Palatino Linotype" pitchFamily="34" charset="0"/>
                <a:ea typeface="Palatino Linotype" pitchFamily="34" charset="-122"/>
                <a:cs typeface="Palatino Linotype" pitchFamily="34" charset="-120"/>
              </a:rPr>
              <a:t>39 %</a:t>
            </a:r>
            <a:endParaRPr lang="en-US" sz="4000" dirty="0"/>
          </a:p>
        </p:txBody>
      </p:sp>
      <p:sp>
        <p:nvSpPr>
          <p:cNvPr id="12" name="Text 10"/>
          <p:cNvSpPr/>
          <p:nvPr/>
        </p:nvSpPr>
        <p:spPr>
          <a:xfrm>
            <a:off x="8366760" y="2990088"/>
            <a:ext cx="2971800" cy="1219810"/>
          </a:xfrm>
          <a:prstGeom prst="rect">
            <a:avLst/>
          </a:prstGeom>
          <a:noFill/>
          <a:ln/>
        </p:spPr>
        <p:txBody>
          <a:bodyPr wrap="square" lIns="0" tIns="0" rIns="0" bIns="0" rtlCol="0" anchor="t"/>
          <a:lstStyle/>
          <a:p>
            <a:pPr indent="0" marL="0">
              <a:buNone/>
            </a:pPr>
            <a:r>
              <a:rPr lang="en-US" sz="1200" dirty="0">
                <a:solidFill>
                  <a:srgbClr val="D5D8E2"/>
                </a:solidFill>
                <a:latin typeface="Palatino Linotype" pitchFamily="34" charset="0"/>
                <a:ea typeface="Palatino Linotype" pitchFamily="34" charset="-122"/>
                <a:cs typeface="Palatino Linotype" pitchFamily="34" charset="-120"/>
              </a:rPr>
              <a:t>25–69 ans, test du col de l’utérus au cours des trois dernières années (2019)</a:t>
            </a:r>
            <a:endParaRPr lang="en-US" sz="1200" dirty="0"/>
          </a:p>
        </p:txBody>
      </p:sp>
      <p:sp>
        <p:nvSpPr>
          <p:cNvPr id="13" name="Shape 11"/>
          <p:cNvSpPr/>
          <p:nvPr/>
        </p:nvSpPr>
        <p:spPr>
          <a:xfrm>
            <a:off x="594360" y="4526280"/>
            <a:ext cx="10972800" cy="1143000"/>
          </a:xfrm>
          <a:prstGeom prst="roundRect">
            <a:avLst>
              <a:gd name="adj" fmla="val 7200"/>
            </a:avLst>
          </a:prstGeom>
          <a:solidFill>
            <a:srgbClr val="272A38"/>
          </a:solidFill>
          <a:ln w="12700">
            <a:solidFill>
              <a:srgbClr val="272A38"/>
            </a:solidFill>
            <a:prstDash val="solid"/>
          </a:ln>
        </p:spPr>
      </p:sp>
      <p:sp>
        <p:nvSpPr>
          <p:cNvPr id="14" name="Text 12"/>
          <p:cNvSpPr/>
          <p:nvPr/>
        </p:nvSpPr>
        <p:spPr>
          <a:xfrm>
            <a:off x="868680" y="4526280"/>
            <a:ext cx="10424160" cy="114300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La Stratégie nationale de santé 2023–2030 fait du dépistage une priorité, mais une pratique systématique manque.</a:t>
            </a:r>
            <a:endParaRPr lang="en-US" sz="1800" dirty="0"/>
          </a:p>
        </p:txBody>
      </p:sp>
      <p:sp>
        <p:nvSpPr>
          <p:cNvPr id="15" name="Text 1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OCDE/CE, Profil de pays sur le cancer : Roumanie 2025, doi:10.1787/a90c2c0d-ro.</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LES PROGRAMMES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Des projets pilotes à un programme national</a:t>
            </a:r>
            <a:endParaRPr lang="en-US" sz="3200" dirty="0"/>
          </a:p>
        </p:txBody>
      </p:sp>
      <p:sp>
        <p:nvSpPr>
          <p:cNvPr id="4" name="Shape 2"/>
          <p:cNvSpPr/>
          <p:nvPr/>
        </p:nvSpPr>
        <p:spPr>
          <a:xfrm>
            <a:off x="594360" y="1600200"/>
            <a:ext cx="10972800" cy="960120"/>
          </a:xfrm>
          <a:prstGeom prst="roundRect">
            <a:avLst>
              <a:gd name="adj" fmla="val 8571"/>
            </a:avLst>
          </a:prstGeom>
          <a:solidFill>
            <a:srgbClr val="ECEAE4"/>
          </a:solidFill>
          <a:ln w="12700">
            <a:solidFill>
              <a:srgbClr val="ECEAE4"/>
            </a:solidFill>
            <a:prstDash val="solid"/>
          </a:ln>
        </p:spPr>
      </p:sp>
      <p:sp>
        <p:nvSpPr>
          <p:cNvPr id="5" name="Text 3"/>
          <p:cNvSpPr/>
          <p:nvPr/>
        </p:nvSpPr>
        <p:spPr>
          <a:xfrm>
            <a:off x="822960" y="1600200"/>
            <a:ext cx="1920240" cy="960120"/>
          </a:xfrm>
          <a:prstGeom prst="rect">
            <a:avLst/>
          </a:prstGeom>
          <a:noFill/>
          <a:ln/>
        </p:spPr>
        <p:txBody>
          <a:bodyPr wrap="square" lIns="0" tIns="0" rIns="0" bIns="0" rtlCol="0" anchor="ctr"/>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2012</a:t>
            </a:r>
            <a:endParaRPr lang="en-US" sz="2100" dirty="0"/>
          </a:p>
        </p:txBody>
      </p:sp>
      <p:sp>
        <p:nvSpPr>
          <p:cNvPr id="6" name="Text 4"/>
          <p:cNvSpPr/>
          <p:nvPr/>
        </p:nvSpPr>
        <p:spPr>
          <a:xfrm>
            <a:off x="2743200" y="1600200"/>
            <a:ext cx="8641080" cy="96012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 premier programme national : le cancer du col de l’utérus</a:t>
            </a:r>
            <a:endParaRPr lang="en-US" sz="1600" dirty="0"/>
          </a:p>
        </p:txBody>
      </p:sp>
      <p:sp>
        <p:nvSpPr>
          <p:cNvPr id="7" name="Shape 5"/>
          <p:cNvSpPr/>
          <p:nvPr/>
        </p:nvSpPr>
        <p:spPr>
          <a:xfrm>
            <a:off x="594360" y="2670048"/>
            <a:ext cx="10972800" cy="960120"/>
          </a:xfrm>
          <a:prstGeom prst="roundRect">
            <a:avLst>
              <a:gd name="adj" fmla="val 8571"/>
            </a:avLst>
          </a:prstGeom>
          <a:solidFill>
            <a:srgbClr val="ECEAE4"/>
          </a:solidFill>
          <a:ln w="12700">
            <a:solidFill>
              <a:srgbClr val="ECEAE4"/>
            </a:solidFill>
            <a:prstDash val="solid"/>
          </a:ln>
        </p:spPr>
      </p:sp>
      <p:sp>
        <p:nvSpPr>
          <p:cNvPr id="8" name="Text 6"/>
          <p:cNvSpPr/>
          <p:nvPr/>
        </p:nvSpPr>
        <p:spPr>
          <a:xfrm>
            <a:off x="822960" y="2670048"/>
            <a:ext cx="1920240" cy="960120"/>
          </a:xfrm>
          <a:prstGeom prst="rect">
            <a:avLst/>
          </a:prstGeom>
          <a:noFill/>
          <a:ln/>
        </p:spPr>
        <p:txBody>
          <a:bodyPr wrap="square" lIns="0" tIns="0" rIns="0" bIns="0" rtlCol="0" anchor="ctr"/>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2018</a:t>
            </a:r>
            <a:endParaRPr lang="en-US" sz="2100" dirty="0"/>
          </a:p>
        </p:txBody>
      </p:sp>
      <p:sp>
        <p:nvSpPr>
          <p:cNvPr id="9" name="Text 7"/>
          <p:cNvSpPr/>
          <p:nvPr/>
        </p:nvSpPr>
        <p:spPr>
          <a:xfrm>
            <a:off x="2743200" y="2670048"/>
            <a:ext cx="8641080" cy="96012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la réorganisation ; test viral expérimenté dans quatre régions, sur 200 000 femmes de 25–64 ans ; le pilote sein : 60 000 femmes</a:t>
            </a:r>
            <a:endParaRPr lang="en-US" sz="1600" dirty="0"/>
          </a:p>
        </p:txBody>
      </p:sp>
      <p:sp>
        <p:nvSpPr>
          <p:cNvPr id="10" name="Shape 8"/>
          <p:cNvSpPr/>
          <p:nvPr/>
        </p:nvSpPr>
        <p:spPr>
          <a:xfrm>
            <a:off x="594360" y="3739896"/>
            <a:ext cx="10972800" cy="960120"/>
          </a:xfrm>
          <a:prstGeom prst="roundRect">
            <a:avLst>
              <a:gd name="adj" fmla="val 8571"/>
            </a:avLst>
          </a:prstGeom>
          <a:solidFill>
            <a:srgbClr val="ECEAE4"/>
          </a:solidFill>
          <a:ln w="12700">
            <a:solidFill>
              <a:srgbClr val="ECEAE4"/>
            </a:solidFill>
            <a:prstDash val="solid"/>
          </a:ln>
        </p:spPr>
      </p:sp>
      <p:sp>
        <p:nvSpPr>
          <p:cNvPr id="11" name="Text 9"/>
          <p:cNvSpPr/>
          <p:nvPr/>
        </p:nvSpPr>
        <p:spPr>
          <a:xfrm>
            <a:off x="822960" y="3739896"/>
            <a:ext cx="1920240" cy="960120"/>
          </a:xfrm>
          <a:prstGeom prst="rect">
            <a:avLst/>
          </a:prstGeom>
          <a:noFill/>
          <a:ln/>
        </p:spPr>
        <p:txBody>
          <a:bodyPr wrap="square" lIns="0" tIns="0" rIns="0" bIns="0" rtlCol="0" anchor="ctr"/>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2021–2023</a:t>
            </a:r>
            <a:endParaRPr lang="en-US" sz="2100" dirty="0"/>
          </a:p>
        </p:txBody>
      </p:sp>
      <p:sp>
        <p:nvSpPr>
          <p:cNvPr id="12" name="Text 10"/>
          <p:cNvSpPr/>
          <p:nvPr/>
        </p:nvSpPr>
        <p:spPr>
          <a:xfrm>
            <a:off x="2743200" y="3739896"/>
            <a:ext cx="8641080" cy="96012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 pilote colorectal : 200 000 personnes de 50–74 ans</a:t>
            </a:r>
            <a:endParaRPr lang="en-US" sz="1600" dirty="0"/>
          </a:p>
        </p:txBody>
      </p:sp>
      <p:sp>
        <p:nvSpPr>
          <p:cNvPr id="13" name="Shape 11"/>
          <p:cNvSpPr/>
          <p:nvPr/>
        </p:nvSpPr>
        <p:spPr>
          <a:xfrm>
            <a:off x="594360" y="4809744"/>
            <a:ext cx="10972800" cy="960120"/>
          </a:xfrm>
          <a:prstGeom prst="roundRect">
            <a:avLst>
              <a:gd name="adj" fmla="val 8571"/>
            </a:avLst>
          </a:prstGeom>
          <a:solidFill>
            <a:srgbClr val="ECEAE4"/>
          </a:solidFill>
          <a:ln w="12700">
            <a:solidFill>
              <a:srgbClr val="ECEAE4"/>
            </a:solidFill>
            <a:prstDash val="solid"/>
          </a:ln>
        </p:spPr>
      </p:sp>
      <p:sp>
        <p:nvSpPr>
          <p:cNvPr id="14" name="Text 12"/>
          <p:cNvSpPr/>
          <p:nvPr/>
        </p:nvSpPr>
        <p:spPr>
          <a:xfrm>
            <a:off x="822960" y="4809744"/>
            <a:ext cx="1920240" cy="960120"/>
          </a:xfrm>
          <a:prstGeom prst="rect">
            <a:avLst/>
          </a:prstGeom>
          <a:noFill/>
          <a:ln/>
        </p:spPr>
        <p:txBody>
          <a:bodyPr wrap="square" lIns="0" tIns="0" rIns="0" bIns="0" rtlCol="0" anchor="ctr"/>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2024</a:t>
            </a:r>
            <a:endParaRPr lang="en-US" sz="2100" dirty="0"/>
          </a:p>
        </p:txBody>
      </p:sp>
      <p:sp>
        <p:nvSpPr>
          <p:cNvPr id="15" name="Text 13"/>
          <p:cNvSpPr/>
          <p:nvPr/>
        </p:nvSpPr>
        <p:spPr>
          <a:xfrm>
            <a:off x="2743200" y="4809744"/>
            <a:ext cx="8641080" cy="96012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la stratégie : test viral, puis cytologie, 25–65 ans, tous les cinq ans ; méthodologies, financement CNAS, registres, indicateurs</a:t>
            </a:r>
            <a:endParaRPr lang="en-US" sz="16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OCDE/CE, Profil de pays sur le cancer : Roumanie 2025, doi:10.1787/a90c2c0d-ro.</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L’INVITATION ET LA RELANCE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que cela signifie pour le médecin de famille</a:t>
            </a:r>
            <a:endParaRPr lang="en-US" sz="3200" dirty="0"/>
          </a:p>
        </p:txBody>
      </p:sp>
      <p:sp>
        <p:nvSpPr>
          <p:cNvPr id="4" name="Shape 2"/>
          <p:cNvSpPr/>
          <p:nvPr/>
        </p:nvSpPr>
        <p:spPr>
          <a:xfrm>
            <a:off x="594360" y="1645920"/>
            <a:ext cx="10972800" cy="896112"/>
          </a:xfrm>
          <a:prstGeom prst="roundRect">
            <a:avLst>
              <a:gd name="adj" fmla="val 9184"/>
            </a:avLst>
          </a:prstGeom>
          <a:solidFill>
            <a:srgbClr val="1D1F2B"/>
          </a:solidFill>
          <a:ln w="12700">
            <a:solidFill>
              <a:srgbClr val="1D1F2B"/>
            </a:solidFill>
            <a:prstDash val="solid"/>
          </a:ln>
        </p:spPr>
      </p:sp>
      <p:sp>
        <p:nvSpPr>
          <p:cNvPr id="5" name="Shape 3"/>
          <p:cNvSpPr/>
          <p:nvPr/>
        </p:nvSpPr>
        <p:spPr>
          <a:xfrm>
            <a:off x="868680" y="1883664"/>
            <a:ext cx="420624" cy="420624"/>
          </a:xfrm>
          <a:prstGeom prst="ellipse">
            <a:avLst/>
          </a:prstGeom>
          <a:solidFill>
            <a:srgbClr val="27D3BE"/>
          </a:solidFill>
          <a:ln/>
        </p:spPr>
      </p:sp>
      <p:sp>
        <p:nvSpPr>
          <p:cNvPr id="6" name="Text 4"/>
          <p:cNvSpPr/>
          <p:nvPr/>
        </p:nvSpPr>
        <p:spPr>
          <a:xfrm>
            <a:off x="868680" y="1883664"/>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45920"/>
            <a:ext cx="9829800" cy="896112"/>
          </a:xfrm>
          <a:prstGeom prst="rect">
            <a:avLst/>
          </a:prstGeom>
          <a:noFill/>
          <a:ln/>
        </p:spPr>
        <p:txBody>
          <a:bodyPr wrap="square" lIns="0" tIns="0" rIns="0" bIns="0" rtlCol="0" anchor="ctr"/>
          <a:lstStyle/>
          <a:p>
            <a:pPr indent="0" marL="0">
              <a:buNone/>
            </a:pPr>
            <a:r>
              <a:rPr lang="en-US" sz="1750" dirty="0">
                <a:solidFill>
                  <a:srgbClr val="FFFFFF"/>
                </a:solidFill>
                <a:latin typeface="Palatino Linotype" pitchFamily="34" charset="0"/>
                <a:ea typeface="Palatino Linotype" pitchFamily="34" charset="-122"/>
                <a:cs typeface="Palatino Linotype" pitchFamily="34" charset="-120"/>
              </a:rPr>
              <a:t>L’invitation part d’un registre à jour de la population éligible ; le médecin peut vérifier si ses patients éligibles ont été invités.</a:t>
            </a:r>
            <a:endParaRPr lang="en-US" sz="1750" dirty="0"/>
          </a:p>
        </p:txBody>
      </p:sp>
      <p:sp>
        <p:nvSpPr>
          <p:cNvPr id="8" name="Shape 6"/>
          <p:cNvSpPr/>
          <p:nvPr/>
        </p:nvSpPr>
        <p:spPr>
          <a:xfrm>
            <a:off x="594360" y="2651760"/>
            <a:ext cx="10972800" cy="896112"/>
          </a:xfrm>
          <a:prstGeom prst="roundRect">
            <a:avLst>
              <a:gd name="adj" fmla="val 9184"/>
            </a:avLst>
          </a:prstGeom>
          <a:solidFill>
            <a:srgbClr val="1D1F2B"/>
          </a:solidFill>
          <a:ln w="12700">
            <a:solidFill>
              <a:srgbClr val="1D1F2B"/>
            </a:solidFill>
            <a:prstDash val="solid"/>
          </a:ln>
        </p:spPr>
      </p:sp>
      <p:sp>
        <p:nvSpPr>
          <p:cNvPr id="9" name="Shape 7"/>
          <p:cNvSpPr/>
          <p:nvPr/>
        </p:nvSpPr>
        <p:spPr>
          <a:xfrm>
            <a:off x="868680" y="2889504"/>
            <a:ext cx="420624" cy="420624"/>
          </a:xfrm>
          <a:prstGeom prst="ellipse">
            <a:avLst/>
          </a:prstGeom>
          <a:solidFill>
            <a:srgbClr val="27D3BE"/>
          </a:solidFill>
          <a:ln/>
        </p:spPr>
      </p:sp>
      <p:sp>
        <p:nvSpPr>
          <p:cNvPr id="10" name="Text 8"/>
          <p:cNvSpPr/>
          <p:nvPr/>
        </p:nvSpPr>
        <p:spPr>
          <a:xfrm>
            <a:off x="868680" y="2889504"/>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651760"/>
            <a:ext cx="9829800" cy="896112"/>
          </a:xfrm>
          <a:prstGeom prst="rect">
            <a:avLst/>
          </a:prstGeom>
          <a:noFill/>
          <a:ln/>
        </p:spPr>
        <p:txBody>
          <a:bodyPr wrap="square" lIns="0" tIns="0" rIns="0" bIns="0" rtlCol="0" anchor="ctr"/>
          <a:lstStyle/>
          <a:p>
            <a:pPr indent="0" marL="0">
              <a:buNone/>
            </a:pPr>
            <a:r>
              <a:rPr lang="en-US" sz="1750" dirty="0">
                <a:solidFill>
                  <a:srgbClr val="FFFFFF"/>
                </a:solidFill>
                <a:latin typeface="Palatino Linotype" pitchFamily="34" charset="0"/>
                <a:ea typeface="Palatino Linotype" pitchFamily="34" charset="-122"/>
                <a:cs typeface="Palatino Linotype" pitchFamily="34" charset="-120"/>
              </a:rPr>
              <a:t>Sa recommandation compte dans la décision du patient.</a:t>
            </a:r>
            <a:endParaRPr lang="en-US" sz="1750" dirty="0"/>
          </a:p>
        </p:txBody>
      </p:sp>
      <p:sp>
        <p:nvSpPr>
          <p:cNvPr id="12" name="Shape 10"/>
          <p:cNvSpPr/>
          <p:nvPr/>
        </p:nvSpPr>
        <p:spPr>
          <a:xfrm>
            <a:off x="594360" y="3657600"/>
            <a:ext cx="10972800" cy="896112"/>
          </a:xfrm>
          <a:prstGeom prst="roundRect">
            <a:avLst>
              <a:gd name="adj" fmla="val 9184"/>
            </a:avLst>
          </a:prstGeom>
          <a:solidFill>
            <a:srgbClr val="1D1F2B"/>
          </a:solidFill>
          <a:ln w="12700">
            <a:solidFill>
              <a:srgbClr val="1D1F2B"/>
            </a:solidFill>
            <a:prstDash val="solid"/>
          </a:ln>
        </p:spPr>
      </p:sp>
      <p:sp>
        <p:nvSpPr>
          <p:cNvPr id="13" name="Shape 11"/>
          <p:cNvSpPr/>
          <p:nvPr/>
        </p:nvSpPr>
        <p:spPr>
          <a:xfrm>
            <a:off x="868680" y="3895344"/>
            <a:ext cx="420624" cy="420624"/>
          </a:xfrm>
          <a:prstGeom prst="ellipse">
            <a:avLst/>
          </a:prstGeom>
          <a:solidFill>
            <a:srgbClr val="27D3BE"/>
          </a:solidFill>
          <a:ln/>
        </p:spPr>
      </p:sp>
      <p:sp>
        <p:nvSpPr>
          <p:cNvPr id="14" name="Text 12"/>
          <p:cNvSpPr/>
          <p:nvPr/>
        </p:nvSpPr>
        <p:spPr>
          <a:xfrm>
            <a:off x="868680" y="3895344"/>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657600"/>
            <a:ext cx="9829800" cy="896112"/>
          </a:xfrm>
          <a:prstGeom prst="rect">
            <a:avLst/>
          </a:prstGeom>
          <a:noFill/>
          <a:ln/>
        </p:spPr>
        <p:txBody>
          <a:bodyPr wrap="square" lIns="0" tIns="0" rIns="0" bIns="0" rtlCol="0" anchor="ctr"/>
          <a:lstStyle/>
          <a:p>
            <a:pPr indent="0" marL="0">
              <a:buNone/>
            </a:pPr>
            <a:r>
              <a:rPr lang="en-US" sz="1750" dirty="0">
                <a:solidFill>
                  <a:srgbClr val="FFFFFF"/>
                </a:solidFill>
                <a:latin typeface="Palatino Linotype" pitchFamily="34" charset="0"/>
                <a:ea typeface="Palatino Linotype" pitchFamily="34" charset="-122"/>
                <a:cs typeface="Palatino Linotype" pitchFamily="34" charset="-120"/>
              </a:rPr>
              <a:t>Le patient au résultat positif est suivi jusqu’au diagnostic.</a:t>
            </a:r>
            <a:endParaRPr lang="en-US" sz="1750" dirty="0"/>
          </a:p>
        </p:txBody>
      </p:sp>
      <p:sp>
        <p:nvSpPr>
          <p:cNvPr id="16" name="Shape 14"/>
          <p:cNvSpPr/>
          <p:nvPr/>
        </p:nvSpPr>
        <p:spPr>
          <a:xfrm>
            <a:off x="594360" y="4800600"/>
            <a:ext cx="10972800" cy="1005840"/>
          </a:xfrm>
          <a:prstGeom prst="roundRect">
            <a:avLst>
              <a:gd name="adj" fmla="val 8182"/>
            </a:avLst>
          </a:prstGeom>
          <a:solidFill>
            <a:srgbClr val="272A38"/>
          </a:solidFill>
          <a:ln w="12700">
            <a:solidFill>
              <a:srgbClr val="272A38"/>
            </a:solidFill>
            <a:prstDash val="solid"/>
          </a:ln>
        </p:spPr>
      </p:sp>
      <p:sp>
        <p:nvSpPr>
          <p:cNvPr id="17" name="Text 15"/>
          <p:cNvSpPr/>
          <p:nvPr/>
        </p:nvSpPr>
        <p:spPr>
          <a:xfrm>
            <a:off x="868680" y="4800600"/>
            <a:ext cx="10424160" cy="100584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Les invitations individuelles sont plus efficaces que les campagnes publiques ; les rappels par courrier et par téléphone aident aussi.</a:t>
            </a:r>
            <a:endParaRPr lang="en-US" sz="18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Sources : OMS Europe, 2020 et 2022.</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RECOMMANDATION DE L’OMS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Une approche par étapes</a:t>
            </a:r>
            <a:endParaRPr lang="en-US" sz="3200" dirty="0"/>
          </a:p>
        </p:txBody>
      </p:sp>
      <p:sp>
        <p:nvSpPr>
          <p:cNvPr id="4" name="Shape 2"/>
          <p:cNvSpPr/>
          <p:nvPr/>
        </p:nvSpPr>
        <p:spPr>
          <a:xfrm>
            <a:off x="594360" y="1645920"/>
            <a:ext cx="10972800" cy="1097280"/>
          </a:xfrm>
          <a:prstGeom prst="roundRect">
            <a:avLst>
              <a:gd name="adj" fmla="val 7500"/>
            </a:avLst>
          </a:prstGeom>
          <a:solidFill>
            <a:srgbClr val="ECEAE4"/>
          </a:solidFill>
          <a:ln w="12700">
            <a:solidFill>
              <a:srgbClr val="ECEAE4"/>
            </a:solidFill>
            <a:prstDash val="solid"/>
          </a:ln>
        </p:spPr>
      </p:sp>
      <p:sp>
        <p:nvSpPr>
          <p:cNvPr id="5" name="Text 3"/>
          <p:cNvSpPr/>
          <p:nvPr/>
        </p:nvSpPr>
        <p:spPr>
          <a:xfrm>
            <a:off x="822960" y="1645920"/>
            <a:ext cx="2011680" cy="1097280"/>
          </a:xfrm>
          <a:prstGeom prst="rect">
            <a:avLst/>
          </a:prstGeom>
          <a:noFill/>
          <a:ln/>
        </p:spPr>
        <p:txBody>
          <a:bodyPr wrap="square" lIns="0" tIns="0" rIns="0" bIns="0" rtlCol="0" anchor="ctr"/>
          <a:lstStyle/>
          <a:p>
            <a:pPr indent="0" marL="0">
              <a:buNone/>
            </a:pPr>
            <a:r>
              <a:rPr lang="en-US" sz="1800" b="1" spc="200" kern="0" dirty="0">
                <a:solidFill>
                  <a:srgbClr val="0E7C6B"/>
                </a:solidFill>
                <a:latin typeface="Palatino Linotype" pitchFamily="34" charset="0"/>
                <a:ea typeface="Palatino Linotype" pitchFamily="34" charset="-122"/>
                <a:cs typeface="Palatino Linotype" pitchFamily="34" charset="-120"/>
              </a:rPr>
              <a:t>D’ABORD</a:t>
            </a:r>
            <a:endParaRPr lang="en-US" sz="1800" dirty="0"/>
          </a:p>
        </p:txBody>
      </p:sp>
      <p:sp>
        <p:nvSpPr>
          <p:cNvPr id="6" name="Text 4"/>
          <p:cNvSpPr/>
          <p:nvPr/>
        </p:nvSpPr>
        <p:spPr>
          <a:xfrm>
            <a:off x="2834640" y="1645920"/>
            <a:ext cx="8549640" cy="109728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col de l’utérus, sein et colorectal : des programmes organisés, de qualité, liés à un traitement rapide, capables d’offrir le dépistage à au moins 70 % de la population</a:t>
            </a:r>
            <a:endParaRPr lang="en-US" sz="1700" dirty="0"/>
          </a:p>
        </p:txBody>
      </p:sp>
      <p:sp>
        <p:nvSpPr>
          <p:cNvPr id="7" name="Shape 5"/>
          <p:cNvSpPr/>
          <p:nvPr/>
        </p:nvSpPr>
        <p:spPr>
          <a:xfrm>
            <a:off x="594360" y="2880360"/>
            <a:ext cx="10972800" cy="1097280"/>
          </a:xfrm>
          <a:prstGeom prst="roundRect">
            <a:avLst>
              <a:gd name="adj" fmla="val 7500"/>
            </a:avLst>
          </a:prstGeom>
          <a:solidFill>
            <a:srgbClr val="ECEAE4"/>
          </a:solidFill>
          <a:ln w="12700">
            <a:solidFill>
              <a:srgbClr val="ECEAE4"/>
            </a:solidFill>
            <a:prstDash val="solid"/>
          </a:ln>
        </p:spPr>
      </p:sp>
      <p:sp>
        <p:nvSpPr>
          <p:cNvPr id="8" name="Text 6"/>
          <p:cNvSpPr/>
          <p:nvPr/>
        </p:nvSpPr>
        <p:spPr>
          <a:xfrm>
            <a:off x="822960" y="2880360"/>
            <a:ext cx="2011680" cy="1097280"/>
          </a:xfrm>
          <a:prstGeom prst="rect">
            <a:avLst/>
          </a:prstGeom>
          <a:noFill/>
          <a:ln/>
        </p:spPr>
        <p:txBody>
          <a:bodyPr wrap="square" lIns="0" tIns="0" rIns="0" bIns="0" rtlCol="0" anchor="ctr"/>
          <a:lstStyle/>
          <a:p>
            <a:pPr indent="0" marL="0">
              <a:buNone/>
            </a:pPr>
            <a:r>
              <a:rPr lang="en-US" sz="1800" b="1" spc="200" kern="0" dirty="0">
                <a:solidFill>
                  <a:srgbClr val="4A2D8C"/>
                </a:solidFill>
                <a:latin typeface="Palatino Linotype" pitchFamily="34" charset="0"/>
                <a:ea typeface="Palatino Linotype" pitchFamily="34" charset="-122"/>
                <a:cs typeface="Palatino Linotype" pitchFamily="34" charset="-120"/>
              </a:rPr>
              <a:t>ENSUITE SEULEMENT</a:t>
            </a:r>
            <a:endParaRPr lang="en-US" sz="1800" dirty="0"/>
          </a:p>
        </p:txBody>
      </p:sp>
      <p:sp>
        <p:nvSpPr>
          <p:cNvPr id="9" name="Text 7"/>
          <p:cNvSpPr/>
          <p:nvPr/>
        </p:nvSpPr>
        <p:spPr>
          <a:xfrm>
            <a:off x="2834640" y="2880360"/>
            <a:ext cx="8549640" cy="109728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les autres cancers, évalués selon les critères de Wilson et Jungner ou des critères similaires</a:t>
            </a:r>
            <a:endParaRPr lang="en-US" sz="1700" dirty="0"/>
          </a:p>
        </p:txBody>
      </p:sp>
      <p:sp>
        <p:nvSpPr>
          <p:cNvPr id="10" name="Text 8"/>
          <p:cNvSpPr/>
          <p:nvPr/>
        </p:nvSpPr>
        <p:spPr>
          <a:xfrm>
            <a:off x="594360" y="4206240"/>
            <a:ext cx="10972800" cy="548640"/>
          </a:xfrm>
          <a:prstGeom prst="rect">
            <a:avLst/>
          </a:prstGeom>
          <a:noFill/>
          <a:ln/>
        </p:spPr>
        <p:txBody>
          <a:bodyPr wrap="square" lIns="0" tIns="0" rIns="0" bIns="0" rtlCol="0" anchor="t"/>
          <a:lstStyle/>
          <a:p>
            <a:pPr indent="0" marL="0">
              <a:buNone/>
            </a:pPr>
            <a:r>
              <a:rPr lang="en-US" sz="1600" i="1" dirty="0">
                <a:solidFill>
                  <a:srgbClr val="585A64"/>
                </a:solidFill>
                <a:latin typeface="Palatino Linotype" pitchFamily="34" charset="0"/>
                <a:ea typeface="Palatino Linotype" pitchFamily="34" charset="-122"/>
                <a:cs typeface="Palatino Linotype" pitchFamily="34" charset="-120"/>
              </a:rPr>
              <a:t>Données insuffisantes : poumon, prostate, ovaire, thyroïde, estomac, foie, peau, cavité buccale.</a:t>
            </a:r>
            <a:endParaRPr lang="en-US" sz="1600" dirty="0"/>
          </a:p>
        </p:txBody>
      </p:sp>
      <p:sp>
        <p:nvSpPr>
          <p:cNvPr id="11" name="Shape 9"/>
          <p:cNvSpPr/>
          <p:nvPr/>
        </p:nvSpPr>
        <p:spPr>
          <a:xfrm>
            <a:off x="594360" y="4846320"/>
            <a:ext cx="10972800" cy="960120"/>
          </a:xfrm>
          <a:prstGeom prst="roundRect">
            <a:avLst>
              <a:gd name="adj" fmla="val 8571"/>
            </a:avLst>
          </a:prstGeom>
          <a:solidFill>
            <a:srgbClr val="11121A"/>
          </a:solidFill>
          <a:ln w="12700">
            <a:solidFill>
              <a:srgbClr val="11121A"/>
            </a:solidFill>
            <a:prstDash val="solid"/>
          </a:ln>
        </p:spPr>
      </p:sp>
      <p:sp>
        <p:nvSpPr>
          <p:cNvPr id="12" name="Text 10"/>
          <p:cNvSpPr/>
          <p:nvPr/>
        </p:nvSpPr>
        <p:spPr>
          <a:xfrm>
            <a:off x="868680" y="4846320"/>
            <a:ext cx="10424160" cy="96012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Col de l’utérus : l’OMS recommande de commencer à 30 ans ; la Roumanie, à 25. Les sources lues n’expliquent pas l’écart.</a:t>
            </a:r>
            <a:endParaRPr lang="en-US" sz="18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Sources : OMS Europe, 2022 ; OCDE/CE, 2025.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5.8 · LA DÉCISION ÉCLAIRÉE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que la personne doit savoir avant le test</a:t>
            </a:r>
            <a:endParaRPr lang="en-US" sz="3200" dirty="0"/>
          </a:p>
        </p:txBody>
      </p:sp>
      <p:sp>
        <p:nvSpPr>
          <p:cNvPr id="4" name="Shape 2"/>
          <p:cNvSpPr/>
          <p:nvPr/>
        </p:nvSpPr>
        <p:spPr>
          <a:xfrm>
            <a:off x="594360" y="1645920"/>
            <a:ext cx="10972800" cy="694944"/>
          </a:xfrm>
          <a:prstGeom prst="roundRect">
            <a:avLst>
              <a:gd name="adj" fmla="val 11842"/>
            </a:avLst>
          </a:prstGeom>
          <a:solidFill>
            <a:srgbClr val="1D1F2B"/>
          </a:solidFill>
          <a:ln w="12700">
            <a:solidFill>
              <a:srgbClr val="1D1F2B"/>
            </a:solidFill>
            <a:prstDash val="solid"/>
          </a:ln>
        </p:spPr>
      </p:sp>
      <p:sp>
        <p:nvSpPr>
          <p:cNvPr id="5" name="Shape 3"/>
          <p:cNvSpPr/>
          <p:nvPr/>
        </p:nvSpPr>
        <p:spPr>
          <a:xfrm>
            <a:off x="868680" y="1783080"/>
            <a:ext cx="420624" cy="420624"/>
          </a:xfrm>
          <a:prstGeom prst="ellipse">
            <a:avLst/>
          </a:prstGeom>
          <a:solidFill>
            <a:srgbClr val="FFC24B"/>
          </a:solidFill>
          <a:ln/>
        </p:spPr>
      </p:sp>
      <p:sp>
        <p:nvSpPr>
          <p:cNvPr id="6" name="Text 4"/>
          <p:cNvSpPr/>
          <p:nvPr/>
        </p:nvSpPr>
        <p:spPr>
          <a:xfrm>
            <a:off x="868680" y="17830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45920"/>
            <a:ext cx="9829800" cy="69494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quelle maladie le test recherche</a:t>
            </a:r>
            <a:endParaRPr lang="en-US" sz="1800" dirty="0"/>
          </a:p>
        </p:txBody>
      </p:sp>
      <p:sp>
        <p:nvSpPr>
          <p:cNvPr id="8" name="Shape 6"/>
          <p:cNvSpPr/>
          <p:nvPr/>
        </p:nvSpPr>
        <p:spPr>
          <a:xfrm>
            <a:off x="594360" y="2432304"/>
            <a:ext cx="10972800" cy="694944"/>
          </a:xfrm>
          <a:prstGeom prst="roundRect">
            <a:avLst>
              <a:gd name="adj" fmla="val 11842"/>
            </a:avLst>
          </a:prstGeom>
          <a:solidFill>
            <a:srgbClr val="1D1F2B"/>
          </a:solidFill>
          <a:ln w="12700">
            <a:solidFill>
              <a:srgbClr val="1D1F2B"/>
            </a:solidFill>
            <a:prstDash val="solid"/>
          </a:ln>
        </p:spPr>
      </p:sp>
      <p:sp>
        <p:nvSpPr>
          <p:cNvPr id="9" name="Shape 7"/>
          <p:cNvSpPr/>
          <p:nvPr/>
        </p:nvSpPr>
        <p:spPr>
          <a:xfrm>
            <a:off x="868680" y="2569464"/>
            <a:ext cx="420624" cy="420624"/>
          </a:xfrm>
          <a:prstGeom prst="ellipse">
            <a:avLst/>
          </a:prstGeom>
          <a:solidFill>
            <a:srgbClr val="FFC24B"/>
          </a:solidFill>
          <a:ln/>
        </p:spPr>
      </p:sp>
      <p:sp>
        <p:nvSpPr>
          <p:cNvPr id="10" name="Text 8"/>
          <p:cNvSpPr/>
          <p:nvPr/>
        </p:nvSpPr>
        <p:spPr>
          <a:xfrm>
            <a:off x="868680" y="25694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432304"/>
            <a:ext cx="9829800" cy="69494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ce que signifie un résultat positif : une probabilité, non un diagnostic</a:t>
            </a:r>
            <a:endParaRPr lang="en-US" sz="1800" dirty="0"/>
          </a:p>
        </p:txBody>
      </p:sp>
      <p:sp>
        <p:nvSpPr>
          <p:cNvPr id="12" name="Shape 10"/>
          <p:cNvSpPr/>
          <p:nvPr/>
        </p:nvSpPr>
        <p:spPr>
          <a:xfrm>
            <a:off x="594360" y="3218688"/>
            <a:ext cx="10972800" cy="694944"/>
          </a:xfrm>
          <a:prstGeom prst="roundRect">
            <a:avLst>
              <a:gd name="adj" fmla="val 11842"/>
            </a:avLst>
          </a:prstGeom>
          <a:solidFill>
            <a:srgbClr val="1D1F2B"/>
          </a:solidFill>
          <a:ln w="12700">
            <a:solidFill>
              <a:srgbClr val="1D1F2B"/>
            </a:solidFill>
            <a:prstDash val="solid"/>
          </a:ln>
        </p:spPr>
      </p:sp>
      <p:sp>
        <p:nvSpPr>
          <p:cNvPr id="13" name="Shape 11"/>
          <p:cNvSpPr/>
          <p:nvPr/>
        </p:nvSpPr>
        <p:spPr>
          <a:xfrm>
            <a:off x="868680" y="3355848"/>
            <a:ext cx="420624" cy="420624"/>
          </a:xfrm>
          <a:prstGeom prst="ellipse">
            <a:avLst/>
          </a:prstGeom>
          <a:solidFill>
            <a:srgbClr val="FFC24B"/>
          </a:solidFill>
          <a:ln/>
        </p:spPr>
      </p:sp>
      <p:sp>
        <p:nvSpPr>
          <p:cNvPr id="14" name="Text 12"/>
          <p:cNvSpPr/>
          <p:nvPr/>
        </p:nvSpPr>
        <p:spPr>
          <a:xfrm>
            <a:off x="868680" y="33558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218688"/>
            <a:ext cx="9829800" cy="69494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ce qui suit un résultat positif</a:t>
            </a:r>
            <a:endParaRPr lang="en-US" sz="1800" dirty="0"/>
          </a:p>
        </p:txBody>
      </p:sp>
      <p:sp>
        <p:nvSpPr>
          <p:cNvPr id="16" name="Shape 14"/>
          <p:cNvSpPr/>
          <p:nvPr/>
        </p:nvSpPr>
        <p:spPr>
          <a:xfrm>
            <a:off x="594360" y="4005072"/>
            <a:ext cx="10972800" cy="694944"/>
          </a:xfrm>
          <a:prstGeom prst="roundRect">
            <a:avLst>
              <a:gd name="adj" fmla="val 11842"/>
            </a:avLst>
          </a:prstGeom>
          <a:solidFill>
            <a:srgbClr val="1D1F2B"/>
          </a:solidFill>
          <a:ln w="12700">
            <a:solidFill>
              <a:srgbClr val="1D1F2B"/>
            </a:solidFill>
            <a:prstDash val="solid"/>
          </a:ln>
        </p:spPr>
      </p:sp>
      <p:sp>
        <p:nvSpPr>
          <p:cNvPr id="17" name="Shape 15"/>
          <p:cNvSpPr/>
          <p:nvPr/>
        </p:nvSpPr>
        <p:spPr>
          <a:xfrm>
            <a:off x="868680" y="4142232"/>
            <a:ext cx="420624" cy="420624"/>
          </a:xfrm>
          <a:prstGeom prst="ellipse">
            <a:avLst/>
          </a:prstGeom>
          <a:solidFill>
            <a:srgbClr val="FFC24B"/>
          </a:solidFill>
          <a:ln/>
        </p:spPr>
      </p:sp>
      <p:sp>
        <p:nvSpPr>
          <p:cNvPr id="18" name="Text 16"/>
          <p:cNvSpPr/>
          <p:nvPr/>
        </p:nvSpPr>
        <p:spPr>
          <a:xfrm>
            <a:off x="868680" y="41422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4005072"/>
            <a:ext cx="9829800" cy="69494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le bénéfice et le risque, en personnes sur mille</a:t>
            </a:r>
            <a:endParaRPr lang="en-US" sz="1800" dirty="0"/>
          </a:p>
        </p:txBody>
      </p:sp>
      <p:sp>
        <p:nvSpPr>
          <p:cNvPr id="20" name="Text 18"/>
          <p:cNvSpPr/>
          <p:nvPr/>
        </p:nvSpPr>
        <p:spPr>
          <a:xfrm>
            <a:off x="594360" y="4892040"/>
            <a:ext cx="10972800" cy="914400"/>
          </a:xfrm>
          <a:prstGeom prst="rect">
            <a:avLst/>
          </a:prstGeom>
          <a:noFill/>
          <a:ln/>
        </p:spPr>
        <p:txBody>
          <a:bodyPr wrap="square" lIns="0" tIns="0" rIns="0" bIns="0" rtlCol="0" anchor="t"/>
          <a:lstStyle/>
          <a:p>
            <a:pPr indent="0" marL="0">
              <a:buNone/>
            </a:pPr>
            <a:r>
              <a:rPr lang="en-US" sz="1700" dirty="0">
                <a:solidFill>
                  <a:srgbClr val="D5D8E2"/>
                </a:solidFill>
                <a:latin typeface="Palatino Linotype" pitchFamily="34" charset="0"/>
                <a:ea typeface="Palatino Linotype" pitchFamily="34" charset="-122"/>
                <a:cs typeface="Palatino Linotype" pitchFamily="34" charset="-120"/>
              </a:rPr>
              <a:t>Les risques concernent tout le parcours, par exemple la perforation de l’intestin après une coloscopie. Plus de personnes sont exposées aux risques que de personnes qui peuvent en bénéficier.</a:t>
            </a:r>
            <a:endParaRPr lang="en-US" sz="170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OMS Europe, 2020.</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COMMENT LE DIRE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Des fréquences naturelles, pas des pourcentages relatifs</a:t>
            </a:r>
            <a:endParaRPr lang="en-US" sz="3200" dirty="0"/>
          </a:p>
        </p:txBody>
      </p:sp>
      <p:sp>
        <p:nvSpPr>
          <p:cNvPr id="4" name="Shape 2"/>
          <p:cNvSpPr/>
          <p:nvPr/>
        </p:nvSpPr>
        <p:spPr>
          <a:xfrm>
            <a:off x="594360" y="1645920"/>
            <a:ext cx="6949440" cy="2194560"/>
          </a:xfrm>
          <a:prstGeom prst="roundRect">
            <a:avLst>
              <a:gd name="adj" fmla="val 3750"/>
            </a:avLst>
          </a:prstGeom>
          <a:solidFill>
            <a:srgbClr val="ECEAE4"/>
          </a:solidFill>
          <a:ln w="12700">
            <a:solidFill>
              <a:srgbClr val="ECEAE4"/>
            </a:solidFill>
            <a:prstDash val="solid"/>
          </a:ln>
        </p:spPr>
      </p:sp>
      <p:sp>
        <p:nvSpPr>
          <p:cNvPr id="5" name="Shape 3"/>
          <p:cNvSpPr/>
          <p:nvPr/>
        </p:nvSpPr>
        <p:spPr>
          <a:xfrm>
            <a:off x="594360" y="1645920"/>
            <a:ext cx="91440" cy="2194560"/>
          </a:xfrm>
          <a:prstGeom prst="rect">
            <a:avLst/>
          </a:prstGeom>
          <a:solidFill>
            <a:srgbClr val="0E7C6B"/>
          </a:solidFill>
          <a:ln w="12700">
            <a:solidFill>
              <a:srgbClr val="0E7C6B"/>
            </a:solidFill>
            <a:prstDash val="solid"/>
          </a:ln>
        </p:spPr>
      </p:sp>
      <p:sp>
        <p:nvSpPr>
          <p:cNvPr id="6" name="Text 4"/>
          <p:cNvSpPr/>
          <p:nvPr/>
        </p:nvSpPr>
        <p:spPr>
          <a:xfrm>
            <a:off x="914400" y="1645920"/>
            <a:ext cx="6400800" cy="219456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 Sur 1 000 femmes comme vous, invitées tous les trois ans, 4 auront la vie sauvée, et 13 recevront le diagnostic d’un cancer qui ne leur aurait pas nui. »</a:t>
            </a:r>
            <a:endParaRPr lang="en-US" sz="1800" dirty="0"/>
          </a:p>
        </p:txBody>
      </p:sp>
      <p:sp>
        <p:nvSpPr>
          <p:cNvPr id="7" name="Shape 5"/>
          <p:cNvSpPr/>
          <p:nvPr/>
        </p:nvSpPr>
        <p:spPr>
          <a:xfrm>
            <a:off x="7772400" y="1645920"/>
            <a:ext cx="3794760" cy="2194560"/>
          </a:xfrm>
          <a:prstGeom prst="roundRect">
            <a:avLst>
              <a:gd name="adj" fmla="val 3750"/>
            </a:avLst>
          </a:prstGeom>
          <a:solidFill>
            <a:srgbClr val="ECEAE4"/>
          </a:solidFill>
          <a:ln w="12700">
            <a:solidFill>
              <a:srgbClr val="ECEAE4"/>
            </a:solidFill>
            <a:prstDash val="solid"/>
          </a:ln>
        </p:spPr>
      </p:sp>
      <p:sp>
        <p:nvSpPr>
          <p:cNvPr id="8" name="Shape 6"/>
          <p:cNvSpPr/>
          <p:nvPr/>
        </p:nvSpPr>
        <p:spPr>
          <a:xfrm>
            <a:off x="7772400" y="1645920"/>
            <a:ext cx="91440" cy="2194560"/>
          </a:xfrm>
          <a:prstGeom prst="rect">
            <a:avLst/>
          </a:prstGeom>
          <a:solidFill>
            <a:srgbClr val="B02532"/>
          </a:solidFill>
          <a:ln w="12700">
            <a:solidFill>
              <a:srgbClr val="B02532"/>
            </a:solidFill>
            <a:prstDash val="solid"/>
          </a:ln>
        </p:spPr>
      </p:sp>
      <p:sp>
        <p:nvSpPr>
          <p:cNvPr id="9" name="Text 7"/>
          <p:cNvSpPr/>
          <p:nvPr/>
        </p:nvSpPr>
        <p:spPr>
          <a:xfrm>
            <a:off x="8092440" y="1645920"/>
            <a:ext cx="3291840" cy="2194560"/>
          </a:xfrm>
          <a:prstGeom prst="rect">
            <a:avLst/>
          </a:prstGeom>
          <a:noFill/>
          <a:ln/>
        </p:spPr>
        <p:txBody>
          <a:bodyPr wrap="square" lIns="0" tIns="0" rIns="0" bIns="0" rtlCol="0" anchor="ctr"/>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 Le dépistage réduit la mortalité d’un cinquième. » De combien ?</a:t>
            </a:r>
            <a:endParaRPr lang="en-US" sz="1800" dirty="0"/>
          </a:p>
        </p:txBody>
      </p:sp>
      <p:sp>
        <p:nvSpPr>
          <p:cNvPr id="10" name="Shape 8"/>
          <p:cNvSpPr/>
          <p:nvPr/>
        </p:nvSpPr>
        <p:spPr>
          <a:xfrm>
            <a:off x="594360" y="4114800"/>
            <a:ext cx="10972800" cy="1645920"/>
          </a:xfrm>
          <a:prstGeom prst="roundRect">
            <a:avLst>
              <a:gd name="adj" fmla="val 5000"/>
            </a:avLst>
          </a:prstGeom>
          <a:solidFill>
            <a:srgbClr val="11121A"/>
          </a:solidFill>
          <a:ln w="12700">
            <a:solidFill>
              <a:srgbClr val="11121A"/>
            </a:solidFill>
            <a:prstDash val="solid"/>
          </a:ln>
        </p:spPr>
      </p:sp>
      <p:sp>
        <p:nvSpPr>
          <p:cNvPr id="11" name="Text 9"/>
          <p:cNvSpPr/>
          <p:nvPr/>
        </p:nvSpPr>
        <p:spPr>
          <a:xfrm>
            <a:off x="868680" y="4114800"/>
            <a:ext cx="10424160" cy="164592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Pour M. Vasile : « Le test a trouvé quelque chose qu’il faut éclaircir. La plupart des personnes qui ont ce résultat n’ont pas de cancer ; je vous programme la coloscopie maintenant. »</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JEU DE RÔLE + MENTIMETER</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DEUX VOLONTAIRES</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Le médecin et M. Vasile</a:t>
            </a:r>
            <a:endParaRPr lang="en-US" sz="3200" dirty="0"/>
          </a:p>
        </p:txBody>
      </p:sp>
      <p:sp>
        <p:nvSpPr>
          <p:cNvPr id="6" name="Shape 4"/>
          <p:cNvSpPr/>
          <p:nvPr/>
        </p:nvSpPr>
        <p:spPr>
          <a:xfrm>
            <a:off x="594360" y="1645920"/>
            <a:ext cx="10972800" cy="2194560"/>
          </a:xfrm>
          <a:prstGeom prst="roundRect">
            <a:avLst>
              <a:gd name="adj" fmla="val 3750"/>
            </a:avLst>
          </a:prstGeom>
          <a:solidFill>
            <a:srgbClr val="1D1F2B"/>
          </a:solidFill>
          <a:ln w="12700">
            <a:solidFill>
              <a:srgbClr val="1D1F2B"/>
            </a:solidFill>
            <a:prstDash val="solid"/>
          </a:ln>
        </p:spPr>
      </p:sp>
      <p:sp>
        <p:nvSpPr>
          <p:cNvPr id="7" name="Text 5"/>
          <p:cNvSpPr/>
          <p:nvPr/>
        </p:nvSpPr>
        <p:spPr>
          <a:xfrm>
            <a:off x="868680" y="1645920"/>
            <a:ext cx="10424160" cy="2194560"/>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Trois minutes au plus. M. Vasile vient avec le résultat positif et il est convaincu d’avoir un cancer. Le médecin lui explique ce que signifie le résultat et ce qui va suivre, sans pourcentages.</a:t>
            </a:r>
            <a:endParaRPr lang="en-US" sz="2100" dirty="0"/>
          </a:p>
        </p:txBody>
      </p:sp>
      <p:sp>
        <p:nvSpPr>
          <p:cNvPr id="8" name="Text 6"/>
          <p:cNvSpPr/>
          <p:nvPr/>
        </p:nvSpPr>
        <p:spPr>
          <a:xfrm>
            <a:off x="594360" y="4114800"/>
            <a:ext cx="10972800" cy="548640"/>
          </a:xfrm>
          <a:prstGeom prst="rect">
            <a:avLst/>
          </a:prstGeom>
          <a:noFill/>
          <a:ln/>
        </p:spPr>
        <p:txBody>
          <a:bodyPr wrap="square" lIns="0" tIns="0" rIns="0" bIns="0" rtlCol="0" anchor="t"/>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Ensuite, votez : l’explication a-t-elle été claire ? Qu’auriez-vous ajouté ?</a:t>
            </a:r>
            <a:endParaRPr lang="en-US" sz="2000" dirty="0"/>
          </a:p>
        </p:txBody>
      </p:sp>
      <p:sp>
        <p:nvSpPr>
          <p:cNvPr id="9" name="Text 7"/>
          <p:cNvSpPr/>
          <p:nvPr/>
        </p:nvSpPr>
        <p:spPr>
          <a:xfrm>
            <a:off x="594360" y="4846320"/>
            <a:ext cx="10972800" cy="54864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1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 · DIX MINUTES</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RÉCAPITULATION</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Douze questions</a:t>
            </a:r>
            <a:endParaRPr lang="en-US" sz="3400" dirty="0"/>
          </a:p>
        </p:txBody>
      </p:sp>
      <p:sp>
        <p:nvSpPr>
          <p:cNvPr id="6" name="Shape 4"/>
          <p:cNvSpPr/>
          <p:nvPr/>
        </p:nvSpPr>
        <p:spPr>
          <a:xfrm>
            <a:off x="594360" y="1783080"/>
            <a:ext cx="10972800" cy="2377440"/>
          </a:xfrm>
          <a:prstGeom prst="roundRect">
            <a:avLst>
              <a:gd name="adj" fmla="val 3462"/>
            </a:avLst>
          </a:prstGeom>
          <a:solidFill>
            <a:srgbClr val="1D1F2B"/>
          </a:solidFill>
          <a:ln w="12700">
            <a:solidFill>
              <a:srgbClr val="1D1F2B"/>
            </a:solidFill>
            <a:prstDash val="solid"/>
          </a:ln>
        </p:spPr>
      </p:sp>
      <p:sp>
        <p:nvSpPr>
          <p:cNvPr id="7" name="Text 5"/>
          <p:cNvSpPr/>
          <p:nvPr/>
        </p:nvSpPr>
        <p:spPr>
          <a:xfrm>
            <a:off x="914400" y="1783080"/>
            <a:ext cx="10332720" cy="2377440"/>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Dans l’ordre du cours : la définition, dépistage ou diagnostic, les critères, la Roumanie, le cancer du pancréas, la valeur prédictive positive pour trois prévalences, le test en deux étapes, le nombre nécessaire à dépister, le surdiagnostic et un titre de presse.</a:t>
            </a:r>
            <a:endParaRPr lang="en-US" sz="2100" dirty="0"/>
          </a:p>
        </p:txBody>
      </p:sp>
      <p:sp>
        <p:nvSpPr>
          <p:cNvPr id="8" name="Text 6"/>
          <p:cNvSpPr/>
          <p:nvPr/>
        </p:nvSpPr>
        <p:spPr>
          <a:xfrm>
            <a:off x="594360" y="4434840"/>
            <a:ext cx="10972800" cy="54864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Le code du jeu s’affiche à l’écran.</a:t>
            </a:r>
            <a:endParaRPr lang="en-US" sz="1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CLÉ</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Les réponses du jeu</a:t>
            </a:r>
            <a:endParaRPr lang="en-US" sz="3000" dirty="0"/>
          </a:p>
        </p:txBody>
      </p:sp>
      <p:sp>
        <p:nvSpPr>
          <p:cNvPr id="4" name="Shape 2"/>
          <p:cNvSpPr/>
          <p:nvPr/>
        </p:nvSpPr>
        <p:spPr>
          <a:xfrm>
            <a:off x="594360" y="1463040"/>
            <a:ext cx="5349240" cy="640080"/>
          </a:xfrm>
          <a:prstGeom prst="roundRect">
            <a:avLst>
              <a:gd name="adj" fmla="val 12857"/>
            </a:avLst>
          </a:prstGeom>
          <a:solidFill>
            <a:srgbClr val="ECEAE4"/>
          </a:solidFill>
          <a:ln w="12700">
            <a:solidFill>
              <a:srgbClr val="ECEAE4"/>
            </a:solidFill>
            <a:prstDash val="solid"/>
          </a:ln>
        </p:spPr>
      </p:sp>
      <p:sp>
        <p:nvSpPr>
          <p:cNvPr id="5" name="Shape 3"/>
          <p:cNvSpPr/>
          <p:nvPr/>
        </p:nvSpPr>
        <p:spPr>
          <a:xfrm>
            <a:off x="731520" y="1572768"/>
            <a:ext cx="420624" cy="420624"/>
          </a:xfrm>
          <a:prstGeom prst="ellipse">
            <a:avLst/>
          </a:prstGeom>
          <a:solidFill>
            <a:srgbClr val="FFC24B"/>
          </a:solidFill>
          <a:ln/>
        </p:spPr>
      </p:sp>
      <p:sp>
        <p:nvSpPr>
          <p:cNvPr id="6" name="Text 4"/>
          <p:cNvSpPr/>
          <p:nvPr/>
        </p:nvSpPr>
        <p:spPr>
          <a:xfrm>
            <a:off x="731520" y="15727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280160" y="1463040"/>
            <a:ext cx="502920" cy="640080"/>
          </a:xfrm>
          <a:prstGeom prst="rect">
            <a:avLst/>
          </a:prstGeom>
          <a:noFill/>
          <a:ln/>
        </p:spPr>
        <p:txBody>
          <a:bodyPr wrap="square" lIns="0" tIns="0" rIns="0" bIns="0" rtlCol="0" anchor="ctr"/>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F</a:t>
            </a:r>
            <a:endParaRPr lang="en-US" sz="2200" dirty="0"/>
          </a:p>
        </p:txBody>
      </p:sp>
      <p:sp>
        <p:nvSpPr>
          <p:cNvPr id="8" name="Text 6"/>
          <p:cNvSpPr/>
          <p:nvPr/>
        </p:nvSpPr>
        <p:spPr>
          <a:xfrm>
            <a:off x="1783080" y="1463040"/>
            <a:ext cx="4069080" cy="64008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à confirmer</a:t>
            </a:r>
            <a:endParaRPr lang="en-US" sz="1500" dirty="0"/>
          </a:p>
        </p:txBody>
      </p:sp>
      <p:sp>
        <p:nvSpPr>
          <p:cNvPr id="9" name="Shape 7"/>
          <p:cNvSpPr/>
          <p:nvPr/>
        </p:nvSpPr>
        <p:spPr>
          <a:xfrm>
            <a:off x="594360" y="2212848"/>
            <a:ext cx="5349240" cy="640080"/>
          </a:xfrm>
          <a:prstGeom prst="roundRect">
            <a:avLst>
              <a:gd name="adj" fmla="val 12857"/>
            </a:avLst>
          </a:prstGeom>
          <a:solidFill>
            <a:srgbClr val="ECEAE4"/>
          </a:solidFill>
          <a:ln w="12700">
            <a:solidFill>
              <a:srgbClr val="ECEAE4"/>
            </a:solidFill>
            <a:prstDash val="solid"/>
          </a:ln>
        </p:spPr>
      </p:sp>
      <p:sp>
        <p:nvSpPr>
          <p:cNvPr id="10" name="Shape 8"/>
          <p:cNvSpPr/>
          <p:nvPr/>
        </p:nvSpPr>
        <p:spPr>
          <a:xfrm>
            <a:off x="731520" y="2322576"/>
            <a:ext cx="420624" cy="420624"/>
          </a:xfrm>
          <a:prstGeom prst="ellipse">
            <a:avLst/>
          </a:prstGeom>
          <a:solidFill>
            <a:srgbClr val="FFC24B"/>
          </a:solidFill>
          <a:ln/>
        </p:spPr>
      </p:sp>
      <p:sp>
        <p:nvSpPr>
          <p:cNvPr id="11" name="Text 9"/>
          <p:cNvSpPr/>
          <p:nvPr/>
        </p:nvSpPr>
        <p:spPr>
          <a:xfrm>
            <a:off x="731520" y="232257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280160" y="2212848"/>
            <a:ext cx="502920" cy="640080"/>
          </a:xfrm>
          <a:prstGeom prst="rect">
            <a:avLst/>
          </a:prstGeom>
          <a:noFill/>
          <a:ln/>
        </p:spPr>
        <p:txBody>
          <a:bodyPr wrap="square" lIns="0" tIns="0" rIns="0" bIns="0" rtlCol="0" anchor="ctr"/>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B</a:t>
            </a:r>
            <a:endParaRPr lang="en-US" sz="2200" dirty="0"/>
          </a:p>
        </p:txBody>
      </p:sp>
      <p:sp>
        <p:nvSpPr>
          <p:cNvPr id="13" name="Text 11"/>
          <p:cNvSpPr/>
          <p:nvPr/>
        </p:nvSpPr>
        <p:spPr>
          <a:xfrm>
            <a:off x="1783080" y="2212848"/>
            <a:ext cx="4069080" cy="64008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opportuniste</a:t>
            </a:r>
            <a:endParaRPr lang="en-US" sz="1500" dirty="0"/>
          </a:p>
        </p:txBody>
      </p:sp>
      <p:sp>
        <p:nvSpPr>
          <p:cNvPr id="14" name="Shape 12"/>
          <p:cNvSpPr/>
          <p:nvPr/>
        </p:nvSpPr>
        <p:spPr>
          <a:xfrm>
            <a:off x="594360" y="2962656"/>
            <a:ext cx="5349240" cy="640080"/>
          </a:xfrm>
          <a:prstGeom prst="roundRect">
            <a:avLst>
              <a:gd name="adj" fmla="val 12857"/>
            </a:avLst>
          </a:prstGeom>
          <a:solidFill>
            <a:srgbClr val="ECEAE4"/>
          </a:solidFill>
          <a:ln w="12700">
            <a:solidFill>
              <a:srgbClr val="ECEAE4"/>
            </a:solidFill>
            <a:prstDash val="solid"/>
          </a:ln>
        </p:spPr>
      </p:sp>
      <p:sp>
        <p:nvSpPr>
          <p:cNvPr id="15" name="Shape 13"/>
          <p:cNvSpPr/>
          <p:nvPr/>
        </p:nvSpPr>
        <p:spPr>
          <a:xfrm>
            <a:off x="731520" y="3072384"/>
            <a:ext cx="420624" cy="420624"/>
          </a:xfrm>
          <a:prstGeom prst="ellipse">
            <a:avLst/>
          </a:prstGeom>
          <a:solidFill>
            <a:srgbClr val="FFC24B"/>
          </a:solidFill>
          <a:ln/>
        </p:spPr>
      </p:sp>
      <p:sp>
        <p:nvSpPr>
          <p:cNvPr id="16" name="Text 14"/>
          <p:cNvSpPr/>
          <p:nvPr/>
        </p:nvSpPr>
        <p:spPr>
          <a:xfrm>
            <a:off x="731520" y="30723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280160" y="2962656"/>
            <a:ext cx="502920" cy="640080"/>
          </a:xfrm>
          <a:prstGeom prst="rect">
            <a:avLst/>
          </a:prstGeom>
          <a:noFill/>
          <a:ln/>
        </p:spPr>
        <p:txBody>
          <a:bodyPr wrap="square" lIns="0" tIns="0" rIns="0" bIns="0" rtlCol="0" anchor="ctr"/>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F</a:t>
            </a:r>
            <a:endParaRPr lang="en-US" sz="2200" dirty="0"/>
          </a:p>
        </p:txBody>
      </p:sp>
      <p:sp>
        <p:nvSpPr>
          <p:cNvPr id="18" name="Text 16"/>
          <p:cNvSpPr/>
          <p:nvPr/>
        </p:nvSpPr>
        <p:spPr>
          <a:xfrm>
            <a:off x="1783080" y="2962656"/>
            <a:ext cx="4069080" cy="64008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évaluation économique</a:t>
            </a:r>
            <a:endParaRPr lang="en-US" sz="1500" dirty="0"/>
          </a:p>
        </p:txBody>
      </p:sp>
      <p:sp>
        <p:nvSpPr>
          <p:cNvPr id="19" name="Shape 17"/>
          <p:cNvSpPr/>
          <p:nvPr/>
        </p:nvSpPr>
        <p:spPr>
          <a:xfrm>
            <a:off x="594360" y="3712464"/>
            <a:ext cx="5349240" cy="640080"/>
          </a:xfrm>
          <a:prstGeom prst="roundRect">
            <a:avLst>
              <a:gd name="adj" fmla="val 12857"/>
            </a:avLst>
          </a:prstGeom>
          <a:solidFill>
            <a:srgbClr val="ECEAE4"/>
          </a:solidFill>
          <a:ln w="12700">
            <a:solidFill>
              <a:srgbClr val="ECEAE4"/>
            </a:solidFill>
            <a:prstDash val="solid"/>
          </a:ln>
        </p:spPr>
      </p:sp>
      <p:sp>
        <p:nvSpPr>
          <p:cNvPr id="20" name="Shape 18"/>
          <p:cNvSpPr/>
          <p:nvPr/>
        </p:nvSpPr>
        <p:spPr>
          <a:xfrm>
            <a:off x="731520" y="3822192"/>
            <a:ext cx="420624" cy="420624"/>
          </a:xfrm>
          <a:prstGeom prst="ellipse">
            <a:avLst/>
          </a:prstGeom>
          <a:solidFill>
            <a:srgbClr val="FFC24B"/>
          </a:solidFill>
          <a:ln/>
        </p:spPr>
      </p:sp>
      <p:sp>
        <p:nvSpPr>
          <p:cNvPr id="21" name="Text 19"/>
          <p:cNvSpPr/>
          <p:nvPr/>
        </p:nvSpPr>
        <p:spPr>
          <a:xfrm>
            <a:off x="731520" y="38221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2" name="Text 20"/>
          <p:cNvSpPr/>
          <p:nvPr/>
        </p:nvSpPr>
        <p:spPr>
          <a:xfrm>
            <a:off x="1280160" y="3712464"/>
            <a:ext cx="502920" cy="640080"/>
          </a:xfrm>
          <a:prstGeom prst="rect">
            <a:avLst/>
          </a:prstGeom>
          <a:noFill/>
          <a:ln/>
        </p:spPr>
        <p:txBody>
          <a:bodyPr wrap="square" lIns="0" tIns="0" rIns="0" bIns="0" rtlCol="0" anchor="ctr"/>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C</a:t>
            </a:r>
            <a:endParaRPr lang="en-US" sz="2200" dirty="0"/>
          </a:p>
        </p:txBody>
      </p:sp>
      <p:sp>
        <p:nvSpPr>
          <p:cNvPr id="23" name="Text 21"/>
          <p:cNvSpPr/>
          <p:nvPr/>
        </p:nvSpPr>
        <p:spPr>
          <a:xfrm>
            <a:off x="1783080" y="3712464"/>
            <a:ext cx="4069080" cy="64008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processus continu</a:t>
            </a:r>
            <a:endParaRPr lang="en-US" sz="1500" dirty="0"/>
          </a:p>
        </p:txBody>
      </p:sp>
      <p:sp>
        <p:nvSpPr>
          <p:cNvPr id="24" name="Shape 22"/>
          <p:cNvSpPr/>
          <p:nvPr/>
        </p:nvSpPr>
        <p:spPr>
          <a:xfrm>
            <a:off x="594360" y="4462272"/>
            <a:ext cx="5349240" cy="640080"/>
          </a:xfrm>
          <a:prstGeom prst="roundRect">
            <a:avLst>
              <a:gd name="adj" fmla="val 12857"/>
            </a:avLst>
          </a:prstGeom>
          <a:solidFill>
            <a:srgbClr val="ECEAE4"/>
          </a:solidFill>
          <a:ln w="12700">
            <a:solidFill>
              <a:srgbClr val="ECEAE4"/>
            </a:solidFill>
            <a:prstDash val="solid"/>
          </a:ln>
        </p:spPr>
      </p:sp>
      <p:sp>
        <p:nvSpPr>
          <p:cNvPr id="25" name="Shape 23"/>
          <p:cNvSpPr/>
          <p:nvPr/>
        </p:nvSpPr>
        <p:spPr>
          <a:xfrm>
            <a:off x="731520" y="4572000"/>
            <a:ext cx="420624" cy="420624"/>
          </a:xfrm>
          <a:prstGeom prst="ellipse">
            <a:avLst/>
          </a:prstGeom>
          <a:solidFill>
            <a:srgbClr val="FFC24B"/>
          </a:solidFill>
          <a:ln/>
        </p:spPr>
      </p:sp>
      <p:sp>
        <p:nvSpPr>
          <p:cNvPr id="26" name="Text 24"/>
          <p:cNvSpPr/>
          <p:nvPr/>
        </p:nvSpPr>
        <p:spPr>
          <a:xfrm>
            <a:off x="731520" y="45720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7" name="Text 25"/>
          <p:cNvSpPr/>
          <p:nvPr/>
        </p:nvSpPr>
        <p:spPr>
          <a:xfrm>
            <a:off x="1280160" y="4462272"/>
            <a:ext cx="502920" cy="640080"/>
          </a:xfrm>
          <a:prstGeom prst="rect">
            <a:avLst/>
          </a:prstGeom>
          <a:noFill/>
          <a:ln/>
        </p:spPr>
        <p:txBody>
          <a:bodyPr wrap="square" lIns="0" tIns="0" rIns="0" bIns="0" rtlCol="0" anchor="ctr"/>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B</a:t>
            </a:r>
            <a:endParaRPr lang="en-US" sz="2200" dirty="0"/>
          </a:p>
        </p:txBody>
      </p:sp>
      <p:sp>
        <p:nvSpPr>
          <p:cNvPr id="28" name="Text 26"/>
          <p:cNvSpPr/>
          <p:nvPr/>
        </p:nvSpPr>
        <p:spPr>
          <a:xfrm>
            <a:off x="1783080" y="4462272"/>
            <a:ext cx="4069080" cy="64008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critère non rempli</a:t>
            </a:r>
            <a:endParaRPr lang="en-US" sz="1500" dirty="0"/>
          </a:p>
        </p:txBody>
      </p:sp>
      <p:sp>
        <p:nvSpPr>
          <p:cNvPr id="29" name="Shape 27"/>
          <p:cNvSpPr/>
          <p:nvPr/>
        </p:nvSpPr>
        <p:spPr>
          <a:xfrm>
            <a:off x="594360" y="5212080"/>
            <a:ext cx="5349240" cy="640080"/>
          </a:xfrm>
          <a:prstGeom prst="roundRect">
            <a:avLst>
              <a:gd name="adj" fmla="val 12857"/>
            </a:avLst>
          </a:prstGeom>
          <a:solidFill>
            <a:srgbClr val="ECEAE4"/>
          </a:solidFill>
          <a:ln w="12700">
            <a:solidFill>
              <a:srgbClr val="ECEAE4"/>
            </a:solidFill>
            <a:prstDash val="solid"/>
          </a:ln>
        </p:spPr>
      </p:sp>
      <p:sp>
        <p:nvSpPr>
          <p:cNvPr id="30" name="Shape 28"/>
          <p:cNvSpPr/>
          <p:nvPr/>
        </p:nvSpPr>
        <p:spPr>
          <a:xfrm>
            <a:off x="731520" y="5321808"/>
            <a:ext cx="420624" cy="420624"/>
          </a:xfrm>
          <a:prstGeom prst="ellipse">
            <a:avLst/>
          </a:prstGeom>
          <a:solidFill>
            <a:srgbClr val="FFC24B"/>
          </a:solidFill>
          <a:ln/>
        </p:spPr>
      </p:sp>
      <p:sp>
        <p:nvSpPr>
          <p:cNvPr id="31" name="Text 29"/>
          <p:cNvSpPr/>
          <p:nvPr/>
        </p:nvSpPr>
        <p:spPr>
          <a:xfrm>
            <a:off x="731520" y="53218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6</a:t>
            </a:r>
            <a:endParaRPr lang="en-US" sz="1400" dirty="0"/>
          </a:p>
        </p:txBody>
      </p:sp>
      <p:sp>
        <p:nvSpPr>
          <p:cNvPr id="32" name="Text 30"/>
          <p:cNvSpPr/>
          <p:nvPr/>
        </p:nvSpPr>
        <p:spPr>
          <a:xfrm>
            <a:off x="1280160" y="5212080"/>
            <a:ext cx="502920" cy="640080"/>
          </a:xfrm>
          <a:prstGeom prst="rect">
            <a:avLst/>
          </a:prstGeom>
          <a:noFill/>
          <a:ln/>
        </p:spPr>
        <p:txBody>
          <a:bodyPr wrap="square" lIns="0" tIns="0" rIns="0" bIns="0" rtlCol="0" anchor="ctr"/>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A</a:t>
            </a:r>
            <a:endParaRPr lang="en-US" sz="2200" dirty="0"/>
          </a:p>
        </p:txBody>
      </p:sp>
      <p:sp>
        <p:nvSpPr>
          <p:cNvPr id="33" name="Text 31"/>
          <p:cNvSpPr/>
          <p:nvPr/>
        </p:nvSpPr>
        <p:spPr>
          <a:xfrm>
            <a:off x="1783080" y="5212080"/>
            <a:ext cx="4069080" cy="64008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VPP 15,4 %</a:t>
            </a:r>
            <a:endParaRPr lang="en-US" sz="1500" dirty="0"/>
          </a:p>
        </p:txBody>
      </p:sp>
      <p:sp>
        <p:nvSpPr>
          <p:cNvPr id="34" name="Shape 32"/>
          <p:cNvSpPr/>
          <p:nvPr/>
        </p:nvSpPr>
        <p:spPr>
          <a:xfrm>
            <a:off x="6217920" y="1463040"/>
            <a:ext cx="5349240" cy="640080"/>
          </a:xfrm>
          <a:prstGeom prst="roundRect">
            <a:avLst>
              <a:gd name="adj" fmla="val 12857"/>
            </a:avLst>
          </a:prstGeom>
          <a:solidFill>
            <a:srgbClr val="ECEAE4"/>
          </a:solidFill>
          <a:ln w="12700">
            <a:solidFill>
              <a:srgbClr val="ECEAE4"/>
            </a:solidFill>
            <a:prstDash val="solid"/>
          </a:ln>
        </p:spPr>
      </p:sp>
      <p:sp>
        <p:nvSpPr>
          <p:cNvPr id="35" name="Shape 33"/>
          <p:cNvSpPr/>
          <p:nvPr/>
        </p:nvSpPr>
        <p:spPr>
          <a:xfrm>
            <a:off x="6355080" y="1572768"/>
            <a:ext cx="420624" cy="420624"/>
          </a:xfrm>
          <a:prstGeom prst="ellipse">
            <a:avLst/>
          </a:prstGeom>
          <a:solidFill>
            <a:srgbClr val="FFC24B"/>
          </a:solidFill>
          <a:ln/>
        </p:spPr>
      </p:sp>
      <p:sp>
        <p:nvSpPr>
          <p:cNvPr id="36" name="Text 34"/>
          <p:cNvSpPr/>
          <p:nvPr/>
        </p:nvSpPr>
        <p:spPr>
          <a:xfrm>
            <a:off x="6355080" y="15727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7</a:t>
            </a:r>
            <a:endParaRPr lang="en-US" sz="1400" dirty="0"/>
          </a:p>
        </p:txBody>
      </p:sp>
      <p:sp>
        <p:nvSpPr>
          <p:cNvPr id="37" name="Text 35"/>
          <p:cNvSpPr/>
          <p:nvPr/>
        </p:nvSpPr>
        <p:spPr>
          <a:xfrm>
            <a:off x="6903720" y="1463040"/>
            <a:ext cx="502920" cy="640080"/>
          </a:xfrm>
          <a:prstGeom prst="rect">
            <a:avLst/>
          </a:prstGeom>
          <a:noFill/>
          <a:ln/>
        </p:spPr>
        <p:txBody>
          <a:bodyPr wrap="square" lIns="0" tIns="0" rIns="0" bIns="0" rtlCol="0" anchor="ctr"/>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B</a:t>
            </a:r>
            <a:endParaRPr lang="en-US" sz="2200" dirty="0"/>
          </a:p>
        </p:txBody>
      </p:sp>
      <p:sp>
        <p:nvSpPr>
          <p:cNvPr id="38" name="Text 36"/>
          <p:cNvSpPr/>
          <p:nvPr/>
        </p:nvSpPr>
        <p:spPr>
          <a:xfrm>
            <a:off x="7406640" y="1463040"/>
            <a:ext cx="4069080" cy="64008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VPP 48,6 %</a:t>
            </a:r>
            <a:endParaRPr lang="en-US" sz="1500" dirty="0"/>
          </a:p>
        </p:txBody>
      </p:sp>
      <p:sp>
        <p:nvSpPr>
          <p:cNvPr id="39" name="Shape 37"/>
          <p:cNvSpPr/>
          <p:nvPr/>
        </p:nvSpPr>
        <p:spPr>
          <a:xfrm>
            <a:off x="6217920" y="2212848"/>
            <a:ext cx="5349240" cy="640080"/>
          </a:xfrm>
          <a:prstGeom prst="roundRect">
            <a:avLst>
              <a:gd name="adj" fmla="val 12857"/>
            </a:avLst>
          </a:prstGeom>
          <a:solidFill>
            <a:srgbClr val="ECEAE4"/>
          </a:solidFill>
          <a:ln w="12700">
            <a:solidFill>
              <a:srgbClr val="ECEAE4"/>
            </a:solidFill>
            <a:prstDash val="solid"/>
          </a:ln>
        </p:spPr>
      </p:sp>
      <p:sp>
        <p:nvSpPr>
          <p:cNvPr id="40" name="Shape 38"/>
          <p:cNvSpPr/>
          <p:nvPr/>
        </p:nvSpPr>
        <p:spPr>
          <a:xfrm>
            <a:off x="6355080" y="2322576"/>
            <a:ext cx="420624" cy="420624"/>
          </a:xfrm>
          <a:prstGeom prst="ellipse">
            <a:avLst/>
          </a:prstGeom>
          <a:solidFill>
            <a:srgbClr val="FFC24B"/>
          </a:solidFill>
          <a:ln/>
        </p:spPr>
      </p:sp>
      <p:sp>
        <p:nvSpPr>
          <p:cNvPr id="41" name="Text 39"/>
          <p:cNvSpPr/>
          <p:nvPr/>
        </p:nvSpPr>
        <p:spPr>
          <a:xfrm>
            <a:off x="6355080" y="232257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8</a:t>
            </a:r>
            <a:endParaRPr lang="en-US" sz="1400" dirty="0"/>
          </a:p>
        </p:txBody>
      </p:sp>
      <p:sp>
        <p:nvSpPr>
          <p:cNvPr id="42" name="Text 40"/>
          <p:cNvSpPr/>
          <p:nvPr/>
        </p:nvSpPr>
        <p:spPr>
          <a:xfrm>
            <a:off x="6903720" y="2212848"/>
            <a:ext cx="502920" cy="640080"/>
          </a:xfrm>
          <a:prstGeom prst="rect">
            <a:avLst/>
          </a:prstGeom>
          <a:noFill/>
          <a:ln/>
        </p:spPr>
        <p:txBody>
          <a:bodyPr wrap="square" lIns="0" tIns="0" rIns="0" bIns="0" rtlCol="0" anchor="ctr"/>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C</a:t>
            </a:r>
            <a:endParaRPr lang="en-US" sz="2200" dirty="0"/>
          </a:p>
        </p:txBody>
      </p:sp>
      <p:sp>
        <p:nvSpPr>
          <p:cNvPr id="43" name="Text 41"/>
          <p:cNvSpPr/>
          <p:nvPr/>
        </p:nvSpPr>
        <p:spPr>
          <a:xfrm>
            <a:off x="7406640" y="2212848"/>
            <a:ext cx="4069080" cy="64008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VPP 81,8 %</a:t>
            </a:r>
            <a:endParaRPr lang="en-US" sz="1500" dirty="0"/>
          </a:p>
        </p:txBody>
      </p:sp>
      <p:sp>
        <p:nvSpPr>
          <p:cNvPr id="44" name="Shape 42"/>
          <p:cNvSpPr/>
          <p:nvPr/>
        </p:nvSpPr>
        <p:spPr>
          <a:xfrm>
            <a:off x="6217920" y="2962656"/>
            <a:ext cx="5349240" cy="640080"/>
          </a:xfrm>
          <a:prstGeom prst="roundRect">
            <a:avLst>
              <a:gd name="adj" fmla="val 12857"/>
            </a:avLst>
          </a:prstGeom>
          <a:solidFill>
            <a:srgbClr val="ECEAE4"/>
          </a:solidFill>
          <a:ln w="12700">
            <a:solidFill>
              <a:srgbClr val="ECEAE4"/>
            </a:solidFill>
            <a:prstDash val="solid"/>
          </a:ln>
        </p:spPr>
      </p:sp>
      <p:sp>
        <p:nvSpPr>
          <p:cNvPr id="45" name="Shape 43"/>
          <p:cNvSpPr/>
          <p:nvPr/>
        </p:nvSpPr>
        <p:spPr>
          <a:xfrm>
            <a:off x="6355080" y="3072384"/>
            <a:ext cx="420624" cy="420624"/>
          </a:xfrm>
          <a:prstGeom prst="ellipse">
            <a:avLst/>
          </a:prstGeom>
          <a:solidFill>
            <a:srgbClr val="FFC24B"/>
          </a:solidFill>
          <a:ln/>
        </p:spPr>
      </p:sp>
      <p:sp>
        <p:nvSpPr>
          <p:cNvPr id="46" name="Text 44"/>
          <p:cNvSpPr/>
          <p:nvPr/>
        </p:nvSpPr>
        <p:spPr>
          <a:xfrm>
            <a:off x="6355080" y="30723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9</a:t>
            </a:r>
            <a:endParaRPr lang="en-US" sz="1400" dirty="0"/>
          </a:p>
        </p:txBody>
      </p:sp>
      <p:sp>
        <p:nvSpPr>
          <p:cNvPr id="47" name="Text 45"/>
          <p:cNvSpPr/>
          <p:nvPr/>
        </p:nvSpPr>
        <p:spPr>
          <a:xfrm>
            <a:off x="6903720" y="2962656"/>
            <a:ext cx="502920" cy="640080"/>
          </a:xfrm>
          <a:prstGeom prst="rect">
            <a:avLst/>
          </a:prstGeom>
          <a:noFill/>
          <a:ln/>
        </p:spPr>
        <p:txBody>
          <a:bodyPr wrap="square" lIns="0" tIns="0" rIns="0" bIns="0" rtlCol="0" anchor="ctr"/>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A</a:t>
            </a:r>
            <a:endParaRPr lang="en-US" sz="2200" dirty="0"/>
          </a:p>
        </p:txBody>
      </p:sp>
      <p:sp>
        <p:nvSpPr>
          <p:cNvPr id="48" name="Text 46"/>
          <p:cNvSpPr/>
          <p:nvPr/>
        </p:nvSpPr>
        <p:spPr>
          <a:xfrm>
            <a:off x="7406640" y="2962656"/>
            <a:ext cx="4069080" cy="64008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d’abord le test sensible</a:t>
            </a:r>
            <a:endParaRPr lang="en-US" sz="1500" dirty="0"/>
          </a:p>
        </p:txBody>
      </p:sp>
      <p:sp>
        <p:nvSpPr>
          <p:cNvPr id="49" name="Shape 47"/>
          <p:cNvSpPr/>
          <p:nvPr/>
        </p:nvSpPr>
        <p:spPr>
          <a:xfrm>
            <a:off x="6217920" y="3712464"/>
            <a:ext cx="5349240" cy="640080"/>
          </a:xfrm>
          <a:prstGeom prst="roundRect">
            <a:avLst>
              <a:gd name="adj" fmla="val 12857"/>
            </a:avLst>
          </a:prstGeom>
          <a:solidFill>
            <a:srgbClr val="ECEAE4"/>
          </a:solidFill>
          <a:ln w="12700">
            <a:solidFill>
              <a:srgbClr val="ECEAE4"/>
            </a:solidFill>
            <a:prstDash val="solid"/>
          </a:ln>
        </p:spPr>
      </p:sp>
      <p:sp>
        <p:nvSpPr>
          <p:cNvPr id="50" name="Shape 48"/>
          <p:cNvSpPr/>
          <p:nvPr/>
        </p:nvSpPr>
        <p:spPr>
          <a:xfrm>
            <a:off x="6355080" y="3822192"/>
            <a:ext cx="420624" cy="420624"/>
          </a:xfrm>
          <a:prstGeom prst="ellipse">
            <a:avLst/>
          </a:prstGeom>
          <a:solidFill>
            <a:srgbClr val="FFC24B"/>
          </a:solidFill>
          <a:ln/>
        </p:spPr>
      </p:sp>
      <p:sp>
        <p:nvSpPr>
          <p:cNvPr id="51" name="Text 49"/>
          <p:cNvSpPr/>
          <p:nvPr/>
        </p:nvSpPr>
        <p:spPr>
          <a:xfrm>
            <a:off x="6355080" y="38221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10</a:t>
            </a:r>
            <a:endParaRPr lang="en-US" sz="1400" dirty="0"/>
          </a:p>
        </p:txBody>
      </p:sp>
      <p:sp>
        <p:nvSpPr>
          <p:cNvPr id="52" name="Text 50"/>
          <p:cNvSpPr/>
          <p:nvPr/>
        </p:nvSpPr>
        <p:spPr>
          <a:xfrm>
            <a:off x="6903720" y="3712464"/>
            <a:ext cx="502920" cy="640080"/>
          </a:xfrm>
          <a:prstGeom prst="rect">
            <a:avLst/>
          </a:prstGeom>
          <a:noFill/>
          <a:ln/>
        </p:spPr>
        <p:txBody>
          <a:bodyPr wrap="square" lIns="0" tIns="0" rIns="0" bIns="0" rtlCol="0" anchor="ctr"/>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V</a:t>
            </a:r>
            <a:endParaRPr lang="en-US" sz="2200" dirty="0"/>
          </a:p>
        </p:txBody>
      </p:sp>
      <p:sp>
        <p:nvSpPr>
          <p:cNvPr id="53" name="Text 51"/>
          <p:cNvSpPr/>
          <p:nvPr/>
        </p:nvSpPr>
        <p:spPr>
          <a:xfrm>
            <a:off x="7406640" y="3712464"/>
            <a:ext cx="4069080" cy="64008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un décès évité</a:t>
            </a:r>
            <a:endParaRPr lang="en-US" sz="1500" dirty="0"/>
          </a:p>
        </p:txBody>
      </p:sp>
      <p:sp>
        <p:nvSpPr>
          <p:cNvPr id="54" name="Shape 52"/>
          <p:cNvSpPr/>
          <p:nvPr/>
        </p:nvSpPr>
        <p:spPr>
          <a:xfrm>
            <a:off x="6217920" y="4462272"/>
            <a:ext cx="5349240" cy="640080"/>
          </a:xfrm>
          <a:prstGeom prst="roundRect">
            <a:avLst>
              <a:gd name="adj" fmla="val 12857"/>
            </a:avLst>
          </a:prstGeom>
          <a:solidFill>
            <a:srgbClr val="ECEAE4"/>
          </a:solidFill>
          <a:ln w="12700">
            <a:solidFill>
              <a:srgbClr val="ECEAE4"/>
            </a:solidFill>
            <a:prstDash val="solid"/>
          </a:ln>
        </p:spPr>
      </p:sp>
      <p:sp>
        <p:nvSpPr>
          <p:cNvPr id="55" name="Shape 53"/>
          <p:cNvSpPr/>
          <p:nvPr/>
        </p:nvSpPr>
        <p:spPr>
          <a:xfrm>
            <a:off x="6355080" y="4572000"/>
            <a:ext cx="420624" cy="420624"/>
          </a:xfrm>
          <a:prstGeom prst="ellipse">
            <a:avLst/>
          </a:prstGeom>
          <a:solidFill>
            <a:srgbClr val="FFC24B"/>
          </a:solidFill>
          <a:ln/>
        </p:spPr>
      </p:sp>
      <p:sp>
        <p:nvSpPr>
          <p:cNvPr id="56" name="Text 54"/>
          <p:cNvSpPr/>
          <p:nvPr/>
        </p:nvSpPr>
        <p:spPr>
          <a:xfrm>
            <a:off x="6355080" y="45720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11</a:t>
            </a:r>
            <a:endParaRPr lang="en-US" sz="1400" dirty="0"/>
          </a:p>
        </p:txBody>
      </p:sp>
      <p:sp>
        <p:nvSpPr>
          <p:cNvPr id="57" name="Text 55"/>
          <p:cNvSpPr/>
          <p:nvPr/>
        </p:nvSpPr>
        <p:spPr>
          <a:xfrm>
            <a:off x="6903720" y="4462272"/>
            <a:ext cx="502920" cy="640080"/>
          </a:xfrm>
          <a:prstGeom prst="rect">
            <a:avLst/>
          </a:prstGeom>
          <a:noFill/>
          <a:ln/>
        </p:spPr>
        <p:txBody>
          <a:bodyPr wrap="square" lIns="0" tIns="0" rIns="0" bIns="0" rtlCol="0" anchor="ctr"/>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B</a:t>
            </a:r>
            <a:endParaRPr lang="en-US" sz="2200" dirty="0"/>
          </a:p>
        </p:txBody>
      </p:sp>
      <p:sp>
        <p:nvSpPr>
          <p:cNvPr id="58" name="Text 56"/>
          <p:cNvSpPr/>
          <p:nvPr/>
        </p:nvSpPr>
        <p:spPr>
          <a:xfrm>
            <a:off x="7406640" y="4462272"/>
            <a:ext cx="4069080" cy="64008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n’aurait pas nui</a:t>
            </a:r>
            <a:endParaRPr lang="en-US" sz="1500" dirty="0"/>
          </a:p>
        </p:txBody>
      </p:sp>
      <p:sp>
        <p:nvSpPr>
          <p:cNvPr id="59" name="Shape 57"/>
          <p:cNvSpPr/>
          <p:nvPr/>
        </p:nvSpPr>
        <p:spPr>
          <a:xfrm>
            <a:off x="6217920" y="5212080"/>
            <a:ext cx="5349240" cy="640080"/>
          </a:xfrm>
          <a:prstGeom prst="roundRect">
            <a:avLst>
              <a:gd name="adj" fmla="val 12857"/>
            </a:avLst>
          </a:prstGeom>
          <a:solidFill>
            <a:srgbClr val="ECEAE4"/>
          </a:solidFill>
          <a:ln w="12700">
            <a:solidFill>
              <a:srgbClr val="ECEAE4"/>
            </a:solidFill>
            <a:prstDash val="solid"/>
          </a:ln>
        </p:spPr>
      </p:sp>
      <p:sp>
        <p:nvSpPr>
          <p:cNvPr id="60" name="Shape 58"/>
          <p:cNvSpPr/>
          <p:nvPr/>
        </p:nvSpPr>
        <p:spPr>
          <a:xfrm>
            <a:off x="6355080" y="5321808"/>
            <a:ext cx="420624" cy="420624"/>
          </a:xfrm>
          <a:prstGeom prst="ellipse">
            <a:avLst/>
          </a:prstGeom>
          <a:solidFill>
            <a:srgbClr val="FFC24B"/>
          </a:solidFill>
          <a:ln/>
        </p:spPr>
      </p:sp>
      <p:sp>
        <p:nvSpPr>
          <p:cNvPr id="61" name="Text 59"/>
          <p:cNvSpPr/>
          <p:nvPr/>
        </p:nvSpPr>
        <p:spPr>
          <a:xfrm>
            <a:off x="6355080" y="53218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12</a:t>
            </a:r>
            <a:endParaRPr lang="en-US" sz="1400" dirty="0"/>
          </a:p>
        </p:txBody>
      </p:sp>
      <p:sp>
        <p:nvSpPr>
          <p:cNvPr id="62" name="Text 60"/>
          <p:cNvSpPr/>
          <p:nvPr/>
        </p:nvSpPr>
        <p:spPr>
          <a:xfrm>
            <a:off x="6903720" y="5212080"/>
            <a:ext cx="502920" cy="640080"/>
          </a:xfrm>
          <a:prstGeom prst="rect">
            <a:avLst/>
          </a:prstGeom>
          <a:noFill/>
          <a:ln/>
        </p:spPr>
        <p:txBody>
          <a:bodyPr wrap="square" lIns="0" tIns="0" rIns="0" bIns="0" rtlCol="0" anchor="ctr"/>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B</a:t>
            </a:r>
            <a:endParaRPr lang="en-US" sz="2200" dirty="0"/>
          </a:p>
        </p:txBody>
      </p:sp>
      <p:sp>
        <p:nvSpPr>
          <p:cNvPr id="63" name="Text 61"/>
          <p:cNvSpPr/>
          <p:nvPr/>
        </p:nvSpPr>
        <p:spPr>
          <a:xfrm>
            <a:off x="7406640" y="5212080"/>
            <a:ext cx="4069080" cy="64008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la survie ne prouve pas</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À RETENIR</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qui reste du cours d’aujourd’hui</a:t>
            </a:r>
            <a:endParaRPr lang="en-US" sz="3200" dirty="0"/>
          </a:p>
        </p:txBody>
      </p:sp>
      <p:sp>
        <p:nvSpPr>
          <p:cNvPr id="4" name="Shape 2"/>
          <p:cNvSpPr/>
          <p:nvPr/>
        </p:nvSpPr>
        <p:spPr>
          <a:xfrm>
            <a:off x="594360" y="1463040"/>
            <a:ext cx="10972800" cy="676656"/>
          </a:xfrm>
          <a:prstGeom prst="roundRect">
            <a:avLst>
              <a:gd name="adj" fmla="val 12162"/>
            </a:avLst>
          </a:prstGeom>
          <a:solidFill>
            <a:srgbClr val="ECEAE4"/>
          </a:solidFill>
          <a:ln w="12700">
            <a:solidFill>
              <a:srgbClr val="ECEAE4"/>
            </a:solidFill>
            <a:prstDash val="solid"/>
          </a:ln>
        </p:spPr>
      </p:sp>
      <p:sp>
        <p:nvSpPr>
          <p:cNvPr id="5" name="Shape 3"/>
          <p:cNvSpPr/>
          <p:nvPr/>
        </p:nvSpPr>
        <p:spPr>
          <a:xfrm>
            <a:off x="868680" y="1591056"/>
            <a:ext cx="420624" cy="420624"/>
          </a:xfrm>
          <a:prstGeom prst="ellipse">
            <a:avLst/>
          </a:prstGeom>
          <a:solidFill>
            <a:srgbClr val="FF4757"/>
          </a:solidFill>
          <a:ln/>
        </p:spPr>
      </p:sp>
      <p:sp>
        <p:nvSpPr>
          <p:cNvPr id="6" name="Text 4"/>
          <p:cNvSpPr/>
          <p:nvPr/>
        </p:nvSpPr>
        <p:spPr>
          <a:xfrm>
            <a:off x="868680" y="159105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463040"/>
            <a:ext cx="982980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 dépistage sépare les personnes probablement malades des personnes probablement saines ; un positif demande confirmation.</a:t>
            </a:r>
            <a:endParaRPr lang="en-US" sz="1600" dirty="0"/>
          </a:p>
        </p:txBody>
      </p:sp>
      <p:sp>
        <p:nvSpPr>
          <p:cNvPr id="8" name="Shape 6"/>
          <p:cNvSpPr/>
          <p:nvPr/>
        </p:nvSpPr>
        <p:spPr>
          <a:xfrm>
            <a:off x="594360" y="2231136"/>
            <a:ext cx="10972800" cy="676656"/>
          </a:xfrm>
          <a:prstGeom prst="roundRect">
            <a:avLst>
              <a:gd name="adj" fmla="val 12162"/>
            </a:avLst>
          </a:prstGeom>
          <a:solidFill>
            <a:srgbClr val="ECEAE4"/>
          </a:solidFill>
          <a:ln w="12700">
            <a:solidFill>
              <a:srgbClr val="ECEAE4"/>
            </a:solidFill>
            <a:prstDash val="solid"/>
          </a:ln>
        </p:spPr>
      </p:sp>
      <p:sp>
        <p:nvSpPr>
          <p:cNvPr id="9" name="Shape 7"/>
          <p:cNvSpPr/>
          <p:nvPr/>
        </p:nvSpPr>
        <p:spPr>
          <a:xfrm>
            <a:off x="868680" y="2359152"/>
            <a:ext cx="420624" cy="420624"/>
          </a:xfrm>
          <a:prstGeom prst="ellipse">
            <a:avLst/>
          </a:prstGeom>
          <a:solidFill>
            <a:srgbClr val="FF4757"/>
          </a:solidFill>
          <a:ln/>
        </p:spPr>
      </p:sp>
      <p:sp>
        <p:nvSpPr>
          <p:cNvPr id="10" name="Text 8"/>
          <p:cNvSpPr/>
          <p:nvPr/>
        </p:nvSpPr>
        <p:spPr>
          <a:xfrm>
            <a:off x="868680" y="235915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231136"/>
            <a:ext cx="982980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Un programme est un parcours, de l’invitation à la communication des résultats.</a:t>
            </a:r>
            <a:endParaRPr lang="en-US" sz="1600" dirty="0"/>
          </a:p>
        </p:txBody>
      </p:sp>
      <p:sp>
        <p:nvSpPr>
          <p:cNvPr id="12" name="Shape 10"/>
          <p:cNvSpPr/>
          <p:nvPr/>
        </p:nvSpPr>
        <p:spPr>
          <a:xfrm>
            <a:off x="594360" y="2999232"/>
            <a:ext cx="10972800" cy="676656"/>
          </a:xfrm>
          <a:prstGeom prst="roundRect">
            <a:avLst>
              <a:gd name="adj" fmla="val 12162"/>
            </a:avLst>
          </a:prstGeom>
          <a:solidFill>
            <a:srgbClr val="ECEAE4"/>
          </a:solidFill>
          <a:ln w="12700">
            <a:solidFill>
              <a:srgbClr val="ECEAE4"/>
            </a:solidFill>
            <a:prstDash val="solid"/>
          </a:ln>
        </p:spPr>
      </p:sp>
      <p:sp>
        <p:nvSpPr>
          <p:cNvPr id="13" name="Shape 11"/>
          <p:cNvSpPr/>
          <p:nvPr/>
        </p:nvSpPr>
        <p:spPr>
          <a:xfrm>
            <a:off x="868680" y="3127248"/>
            <a:ext cx="420624" cy="420624"/>
          </a:xfrm>
          <a:prstGeom prst="ellipse">
            <a:avLst/>
          </a:prstGeom>
          <a:solidFill>
            <a:srgbClr val="FF4757"/>
          </a:solidFill>
          <a:ln/>
        </p:spPr>
      </p:sp>
      <p:sp>
        <p:nvSpPr>
          <p:cNvPr id="14" name="Text 12"/>
          <p:cNvSpPr/>
          <p:nvPr/>
        </p:nvSpPr>
        <p:spPr>
          <a:xfrm>
            <a:off x="868680" y="312724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2999232"/>
            <a:ext cx="982980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La sensibilité et la spécificité décrivent le test ; les valeurs prédictives, le résultat.</a:t>
            </a:r>
            <a:endParaRPr lang="en-US" sz="1600" dirty="0"/>
          </a:p>
        </p:txBody>
      </p:sp>
      <p:sp>
        <p:nvSpPr>
          <p:cNvPr id="16" name="Shape 14"/>
          <p:cNvSpPr/>
          <p:nvPr/>
        </p:nvSpPr>
        <p:spPr>
          <a:xfrm>
            <a:off x="594360" y="3767328"/>
            <a:ext cx="10972800" cy="676656"/>
          </a:xfrm>
          <a:prstGeom prst="roundRect">
            <a:avLst>
              <a:gd name="adj" fmla="val 12162"/>
            </a:avLst>
          </a:prstGeom>
          <a:solidFill>
            <a:srgbClr val="ECEAE4"/>
          </a:solidFill>
          <a:ln w="12700">
            <a:solidFill>
              <a:srgbClr val="ECEAE4"/>
            </a:solidFill>
            <a:prstDash val="solid"/>
          </a:ln>
        </p:spPr>
      </p:sp>
      <p:sp>
        <p:nvSpPr>
          <p:cNvPr id="17" name="Shape 15"/>
          <p:cNvSpPr/>
          <p:nvPr/>
        </p:nvSpPr>
        <p:spPr>
          <a:xfrm>
            <a:off x="868680" y="3895344"/>
            <a:ext cx="420624" cy="420624"/>
          </a:xfrm>
          <a:prstGeom prst="ellipse">
            <a:avLst/>
          </a:prstGeom>
          <a:solidFill>
            <a:srgbClr val="FF4757"/>
          </a:solidFill>
          <a:ln/>
        </p:spPr>
      </p:sp>
      <p:sp>
        <p:nvSpPr>
          <p:cNvPr id="18" name="Text 16"/>
          <p:cNvSpPr/>
          <p:nvPr/>
        </p:nvSpPr>
        <p:spPr>
          <a:xfrm>
            <a:off x="868680" y="389534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3767328"/>
            <a:ext cx="982980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Plus la maladie est rare, plus les résultats positifs sont souvent faux.</a:t>
            </a:r>
            <a:endParaRPr lang="en-US" sz="1600" dirty="0"/>
          </a:p>
        </p:txBody>
      </p:sp>
      <p:sp>
        <p:nvSpPr>
          <p:cNvPr id="20" name="Shape 18"/>
          <p:cNvSpPr/>
          <p:nvPr/>
        </p:nvSpPr>
        <p:spPr>
          <a:xfrm>
            <a:off x="594360" y="4535424"/>
            <a:ext cx="10972800" cy="676656"/>
          </a:xfrm>
          <a:prstGeom prst="roundRect">
            <a:avLst>
              <a:gd name="adj" fmla="val 12162"/>
            </a:avLst>
          </a:prstGeom>
          <a:solidFill>
            <a:srgbClr val="ECEAE4"/>
          </a:solidFill>
          <a:ln w="12700">
            <a:solidFill>
              <a:srgbClr val="ECEAE4"/>
            </a:solidFill>
            <a:prstDash val="solid"/>
          </a:ln>
        </p:spPr>
      </p:sp>
      <p:sp>
        <p:nvSpPr>
          <p:cNvPr id="21" name="Shape 19"/>
          <p:cNvSpPr/>
          <p:nvPr/>
        </p:nvSpPr>
        <p:spPr>
          <a:xfrm>
            <a:off x="868680" y="4663440"/>
            <a:ext cx="420624" cy="420624"/>
          </a:xfrm>
          <a:prstGeom prst="ellipse">
            <a:avLst/>
          </a:prstGeom>
          <a:solidFill>
            <a:srgbClr val="FF4757"/>
          </a:solidFill>
          <a:ln/>
        </p:spPr>
      </p:sp>
      <p:sp>
        <p:nvSpPr>
          <p:cNvPr id="22" name="Text 20"/>
          <p:cNvSpPr/>
          <p:nvPr/>
        </p:nvSpPr>
        <p:spPr>
          <a:xfrm>
            <a:off x="868680" y="466344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4535424"/>
            <a:ext cx="982980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La survie ne prouve pas que le dépistage sauve des vies ; la mortalité, oui.</a:t>
            </a:r>
            <a:endParaRPr lang="en-US" sz="1600" dirty="0"/>
          </a:p>
        </p:txBody>
      </p:sp>
      <p:sp>
        <p:nvSpPr>
          <p:cNvPr id="24" name="Shape 22"/>
          <p:cNvSpPr/>
          <p:nvPr/>
        </p:nvSpPr>
        <p:spPr>
          <a:xfrm>
            <a:off x="594360" y="5394960"/>
            <a:ext cx="10972800" cy="777240"/>
          </a:xfrm>
          <a:prstGeom prst="roundRect">
            <a:avLst>
              <a:gd name="adj" fmla="val 10588"/>
            </a:avLst>
          </a:prstGeom>
          <a:solidFill>
            <a:srgbClr val="11121A"/>
          </a:solidFill>
          <a:ln w="12700">
            <a:solidFill>
              <a:srgbClr val="11121A"/>
            </a:solidFill>
            <a:prstDash val="solid"/>
          </a:ln>
        </p:spPr>
      </p:sp>
      <p:sp>
        <p:nvSpPr>
          <p:cNvPr id="25" name="Text 23"/>
          <p:cNvSpPr/>
          <p:nvPr/>
        </p:nvSpPr>
        <p:spPr>
          <a:xfrm>
            <a:off x="868680" y="5394960"/>
            <a:ext cx="10424160" cy="77724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M. Vasile : très probablement, un faux positif. Le programme est bon s’il le conduit vite à la coloscopie.</a:t>
            </a:r>
            <a:endParaRPr lang="en-US" sz="17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DÈS DEMAIN, EN TANT QUE MÉDECINS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que vous faites autrement, lundi matin</a:t>
            </a:r>
            <a:endParaRPr lang="en-US" sz="3200" dirty="0"/>
          </a:p>
        </p:txBody>
      </p:sp>
      <p:sp>
        <p:nvSpPr>
          <p:cNvPr id="4" name="Shape 2"/>
          <p:cNvSpPr/>
          <p:nvPr/>
        </p:nvSpPr>
        <p:spPr>
          <a:xfrm>
            <a:off x="594360" y="1600200"/>
            <a:ext cx="10972800" cy="1325880"/>
          </a:xfrm>
          <a:prstGeom prst="roundRect">
            <a:avLst>
              <a:gd name="adj" fmla="val 6207"/>
            </a:avLst>
          </a:prstGeom>
          <a:solidFill>
            <a:srgbClr val="1D1F2B"/>
          </a:solidFill>
          <a:ln w="12700">
            <a:solidFill>
              <a:srgbClr val="1D1F2B"/>
            </a:solidFill>
            <a:prstDash val="solid"/>
          </a:ln>
        </p:spPr>
      </p:sp>
      <p:sp>
        <p:nvSpPr>
          <p:cNvPr id="5" name="Shape 3"/>
          <p:cNvSpPr/>
          <p:nvPr/>
        </p:nvSpPr>
        <p:spPr>
          <a:xfrm>
            <a:off x="868680" y="2057400"/>
            <a:ext cx="420624" cy="420624"/>
          </a:xfrm>
          <a:prstGeom prst="ellipse">
            <a:avLst/>
          </a:prstGeom>
          <a:solidFill>
            <a:srgbClr val="FFC24B"/>
          </a:solidFill>
          <a:ln/>
        </p:spPr>
      </p:sp>
      <p:sp>
        <p:nvSpPr>
          <p:cNvPr id="6" name="Text 4"/>
          <p:cNvSpPr/>
          <p:nvPr/>
        </p:nvSpPr>
        <p:spPr>
          <a:xfrm>
            <a:off x="868680" y="20574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54480" y="1600200"/>
            <a:ext cx="9784080" cy="13258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Devant un résultat de dépistage positif : dites d’abord la probabilité, en personnes sur cent, puis ce qui va suivre.</a:t>
            </a:r>
            <a:endParaRPr lang="en-US" sz="1900" dirty="0"/>
          </a:p>
        </p:txBody>
      </p:sp>
      <p:sp>
        <p:nvSpPr>
          <p:cNvPr id="8" name="Shape 6"/>
          <p:cNvSpPr/>
          <p:nvPr/>
        </p:nvSpPr>
        <p:spPr>
          <a:xfrm>
            <a:off x="594360" y="3063240"/>
            <a:ext cx="10972800" cy="1325880"/>
          </a:xfrm>
          <a:prstGeom prst="roundRect">
            <a:avLst>
              <a:gd name="adj" fmla="val 6207"/>
            </a:avLst>
          </a:prstGeom>
          <a:solidFill>
            <a:srgbClr val="1D1F2B"/>
          </a:solidFill>
          <a:ln w="12700">
            <a:solidFill>
              <a:srgbClr val="1D1F2B"/>
            </a:solidFill>
            <a:prstDash val="solid"/>
          </a:ln>
        </p:spPr>
      </p:sp>
      <p:sp>
        <p:nvSpPr>
          <p:cNvPr id="9" name="Shape 7"/>
          <p:cNvSpPr/>
          <p:nvPr/>
        </p:nvSpPr>
        <p:spPr>
          <a:xfrm>
            <a:off x="868680" y="3520440"/>
            <a:ext cx="420624" cy="420624"/>
          </a:xfrm>
          <a:prstGeom prst="ellipse">
            <a:avLst/>
          </a:prstGeom>
          <a:solidFill>
            <a:srgbClr val="FFC24B"/>
          </a:solidFill>
          <a:ln/>
        </p:spPr>
      </p:sp>
      <p:sp>
        <p:nvSpPr>
          <p:cNvPr id="10" name="Text 8"/>
          <p:cNvSpPr/>
          <p:nvPr/>
        </p:nvSpPr>
        <p:spPr>
          <a:xfrm>
            <a:off x="868680" y="35204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54480" y="3063240"/>
            <a:ext cx="9784080" cy="13258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Devant un test demandé « pour être sûr » : quelle est la fréquence de la maladie chez les personnes comme lui, et combien de fausses alertes produira-t-il ?</a:t>
            </a:r>
            <a:endParaRPr lang="en-US" sz="1900" dirty="0"/>
          </a:p>
        </p:txBody>
      </p:sp>
      <p:sp>
        <p:nvSpPr>
          <p:cNvPr id="12" name="Shape 10"/>
          <p:cNvSpPr/>
          <p:nvPr/>
        </p:nvSpPr>
        <p:spPr>
          <a:xfrm>
            <a:off x="594360" y="4526280"/>
            <a:ext cx="10972800" cy="1325880"/>
          </a:xfrm>
          <a:prstGeom prst="roundRect">
            <a:avLst>
              <a:gd name="adj" fmla="val 6207"/>
            </a:avLst>
          </a:prstGeom>
          <a:solidFill>
            <a:srgbClr val="1D1F2B"/>
          </a:solidFill>
          <a:ln w="12700">
            <a:solidFill>
              <a:srgbClr val="1D1F2B"/>
            </a:solidFill>
            <a:prstDash val="solid"/>
          </a:ln>
        </p:spPr>
      </p:sp>
      <p:sp>
        <p:nvSpPr>
          <p:cNvPr id="13" name="Shape 11"/>
          <p:cNvSpPr/>
          <p:nvPr/>
        </p:nvSpPr>
        <p:spPr>
          <a:xfrm>
            <a:off x="868680" y="4983480"/>
            <a:ext cx="420624" cy="420624"/>
          </a:xfrm>
          <a:prstGeom prst="ellipse">
            <a:avLst/>
          </a:prstGeom>
          <a:solidFill>
            <a:srgbClr val="FFC24B"/>
          </a:solidFill>
          <a:ln/>
        </p:spPr>
      </p:sp>
      <p:sp>
        <p:nvSpPr>
          <p:cNvPr id="14" name="Text 12"/>
          <p:cNvSpPr/>
          <p:nvPr/>
        </p:nvSpPr>
        <p:spPr>
          <a:xfrm>
            <a:off x="868680" y="49834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54480" y="4526280"/>
            <a:ext cx="9784080" cy="13258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Quand vous entendez qu’un programme « a augmenté la survie » : qu’est-il advenu de la mortalité ?</a:t>
            </a:r>
            <a:endParaRPr lang="en-US" sz="1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LES CINQ DERNIÈRES MINUTES · ANONYME</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Trois questions pour finir</a:t>
            </a:r>
            <a:endParaRPr lang="en-US" sz="4000" dirty="0"/>
          </a:p>
        </p:txBody>
      </p:sp>
      <p:sp>
        <p:nvSpPr>
          <p:cNvPr id="5" name="Shape 3"/>
          <p:cNvSpPr/>
          <p:nvPr/>
        </p:nvSpPr>
        <p:spPr>
          <a:xfrm>
            <a:off x="914400" y="2670048"/>
            <a:ext cx="420624" cy="420624"/>
          </a:xfrm>
          <a:prstGeom prst="ellipse">
            <a:avLst/>
          </a:prstGeom>
          <a:solidFill>
            <a:srgbClr val="FFC24B"/>
          </a:solidFill>
          <a:ln/>
        </p:spPr>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Qu’est-ce qui a été utile aujourd’hui ?</a:t>
            </a:r>
            <a:endParaRPr lang="en-US" sz="2000" dirty="0"/>
          </a:p>
        </p:txBody>
      </p:sp>
      <p:sp>
        <p:nvSpPr>
          <p:cNvPr id="8" name="Shape 6"/>
          <p:cNvSpPr/>
          <p:nvPr/>
        </p:nvSpPr>
        <p:spPr>
          <a:xfrm>
            <a:off x="914400" y="3538728"/>
            <a:ext cx="420624" cy="420624"/>
          </a:xfrm>
          <a:prstGeom prst="ellipse">
            <a:avLst/>
          </a:prstGeom>
          <a:solidFill>
            <a:srgbClr val="FFC24B"/>
          </a:solidFill>
          <a:ln/>
        </p:spPr>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Où vous ai-je perdus ?</a:t>
            </a:r>
            <a:endParaRPr lang="en-US" sz="2000" dirty="0"/>
          </a:p>
        </p:txBody>
      </p:sp>
      <p:sp>
        <p:nvSpPr>
          <p:cNvPr id="11" name="Shape 9"/>
          <p:cNvSpPr/>
          <p:nvPr/>
        </p:nvSpPr>
        <p:spPr>
          <a:xfrm>
            <a:off x="914400" y="4407408"/>
            <a:ext cx="420624" cy="420624"/>
          </a:xfrm>
          <a:prstGeom prst="ellipse">
            <a:avLst/>
          </a:prstGeom>
          <a:solidFill>
            <a:srgbClr val="FFC24B"/>
          </a:solidFill>
          <a:ln/>
        </p:spPr>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Que pourriez-vous utiliser demain ?</a:t>
            </a:r>
            <a:endParaRPr lang="en-US" sz="2000" dirty="0"/>
          </a:p>
        </p:txBody>
      </p:sp>
      <p:sp>
        <p:nvSpPr>
          <p:cNvPr id="14" name="Shape 12"/>
          <p:cNvSpPr/>
          <p:nvPr/>
        </p:nvSpPr>
        <p:spPr>
          <a:xfrm>
            <a:off x="8321040" y="2514600"/>
            <a:ext cx="3246120" cy="2468880"/>
          </a:xfrm>
          <a:prstGeom prst="roundRect">
            <a:avLst>
              <a:gd name="adj" fmla="val 3333"/>
            </a:avLst>
          </a:prstGeom>
          <a:solidFill>
            <a:srgbClr val="1D1F2B"/>
          </a:solidFill>
          <a:ln w="12700">
            <a:solidFill>
              <a:srgbClr val="1D1F2B"/>
            </a:solidFill>
            <a:prstDash val="solid"/>
          </a:ln>
        </p:spPr>
      </p:sp>
      <p:sp>
        <p:nvSpPr>
          <p:cNvPr id="15" name="Text 13"/>
          <p:cNvSpPr/>
          <p:nvPr/>
        </p:nvSpPr>
        <p:spPr>
          <a:xfrm>
            <a:off x="8549640" y="2514600"/>
            <a:ext cx="2788920" cy="2468880"/>
          </a:xfrm>
          <a:prstGeom prst="rect">
            <a:avLst/>
          </a:prstGeom>
          <a:noFill/>
          <a:ln/>
        </p:spPr>
        <p:txBody>
          <a:bodyPr wrap="square" lIns="0" tIns="0" rIns="0" bIns="0" rtlCol="0" anchor="ctr"/>
          <a:lstStyle/>
          <a:p>
            <a:pPr algn="ctr" indent="0" marL="0">
              <a:buNone/>
            </a:pPr>
            <a:r>
              <a:rPr lang="en-US" sz="19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1900" dirty="0"/>
          </a:p>
        </p:txBody>
      </p:sp>
      <p:sp>
        <p:nvSpPr>
          <p:cNvPr id="16" name="Text 14"/>
          <p:cNvSpPr/>
          <p:nvPr/>
        </p:nvSpPr>
        <p:spPr>
          <a:xfrm>
            <a:off x="594360" y="5349240"/>
            <a:ext cx="10972800" cy="5486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Au début du cours suivant : deux modifications, faites à partir de vos réponses.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 5 - Le dépistage de population</dc:title>
  <dc:subject>PptxGenJS Presentation</dc:subject>
  <dc:creator>Conf. Univ. Dr. Adrian Pana</dc:creator>
  <cp:lastModifiedBy>Conf. Univ. Dr. Adrian Pana</cp:lastModifiedBy>
  <cp:revision>1</cp:revision>
  <dcterms:created xsi:type="dcterms:W3CDTF">2026-10-17T10:43:42Z</dcterms:created>
  <dcterms:modified xsi:type="dcterms:W3CDTF">2026-10-17T10:43:42Z</dcterms:modified>
  <cp:keywords>sursa_amprenta=0287ee9b51922698; proiectie</cp:keywords>
</cp:coreProperties>
</file>