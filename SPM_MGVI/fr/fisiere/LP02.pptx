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de travail : comparez la longueur des barres de la base, du milieu et du haut.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mortalité n’ajoute pas de personnes à un âge donné ; la fécondité d’Ilfov est la plus faible, donc les naissances n’expliquent pas non plus la 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TRAVAUX PRATIQUES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 seront les patients dans dix ans 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374904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977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 sanitaire du comté attribué (II)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Structure de la population et pyramide des âges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67872" y="5372608"/>
            <a:ext cx="113040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098280" y="5372608"/>
            <a:ext cx="106380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42667" y="5103368"/>
            <a:ext cx="1355613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098280" y="5103368"/>
            <a:ext cx="128736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38275" y="4834128"/>
            <a:ext cx="136000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098280" y="4834128"/>
            <a:ext cx="1287366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54654" y="4564888"/>
            <a:ext cx="1443626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098280" y="4564888"/>
            <a:ext cx="1364237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51201" y="4295648"/>
            <a:ext cx="134707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8280" y="4295648"/>
            <a:ext cx="1241242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710" y="4026408"/>
            <a:ext cx="132557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98280" y="4026408"/>
            <a:ext cx="119911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73512" y="3757168"/>
            <a:ext cx="142476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98280" y="3757168"/>
            <a:ext cx="130093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02802" y="3487928"/>
            <a:ext cx="179547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98280" y="3487928"/>
            <a:ext cx="165951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81580" y="3218688"/>
            <a:ext cx="171670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3218688"/>
            <a:ext cx="159405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43900" y="2949448"/>
            <a:ext cx="195438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98280" y="2949448"/>
            <a:ext cx="185826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45358" y="2680208"/>
            <a:ext cx="1852922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98280" y="2680208"/>
            <a:ext cx="181824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02759" y="2410968"/>
            <a:ext cx="179552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98280" y="2410968"/>
            <a:ext cx="184311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868875" y="2141728"/>
            <a:ext cx="122940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98280" y="2141728"/>
            <a:ext cx="138559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735132" y="1872488"/>
            <a:ext cx="136314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98280" y="1872488"/>
            <a:ext cx="176956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77067" y="1603248"/>
            <a:ext cx="1121213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098280" y="1603248"/>
            <a:ext cx="1582800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386806" y="1334008"/>
            <a:ext cx="711474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098280" y="1334008"/>
            <a:ext cx="1117266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703925" y="1064768"/>
            <a:ext cx="394355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098280" y="1064768"/>
            <a:ext cx="72841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776328" y="795528"/>
            <a:ext cx="321952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098280" y="795528"/>
            <a:ext cx="718659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7512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Roumanie, 1er janvier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TOUT CALCUL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TOUT LE GROUPE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Laquelle est celle de Teleorman 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Hommes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595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93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7464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1541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978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3902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963683" y="4823993"/>
            <a:ext cx="98525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589020" y="4823993"/>
            <a:ext cx="9254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948940" y="48082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74359" y="4648733"/>
            <a:ext cx="127458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89020" y="4648733"/>
            <a:ext cx="122035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762553" y="4473473"/>
            <a:ext cx="118638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589020" y="4473473"/>
            <a:ext cx="1129302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828925" y="4298213"/>
            <a:ext cx="112001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89020" y="4298213"/>
            <a:ext cx="104812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48940" y="428244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42459" y="4122953"/>
            <a:ext cx="90648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589020" y="4122953"/>
            <a:ext cx="86907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894193" y="3947693"/>
            <a:ext cx="105474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589020" y="3947693"/>
            <a:ext cx="110936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628315" y="3772433"/>
            <a:ext cx="132062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589020" y="3772433"/>
            <a:ext cx="14204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948940" y="375666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117" y="3597173"/>
            <a:ext cx="19438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589020" y="3597173"/>
            <a:ext cx="206403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122600" y="3421913"/>
            <a:ext cx="182634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589020" y="3421913"/>
            <a:ext cx="181601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61293" y="3246653"/>
            <a:ext cx="188764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589020" y="3246653"/>
            <a:ext cx="182146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948940" y="323088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541680" y="3071393"/>
            <a:ext cx="140726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589020" y="3071393"/>
            <a:ext cx="142421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631432" y="2896133"/>
            <a:ext cx="1317508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589020" y="2896133"/>
            <a:ext cx="1344135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40017" y="2720873"/>
            <a:ext cx="7089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589020" y="2720873"/>
            <a:ext cx="83712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48940" y="270510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70917" y="2545613"/>
            <a:ext cx="7780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589020" y="2545613"/>
            <a:ext cx="102967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316975" y="2370353"/>
            <a:ext cx="63196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589020" y="2370353"/>
            <a:ext cx="87686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578373" y="2195093"/>
            <a:ext cx="37056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589020" y="2195093"/>
            <a:ext cx="55299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948940" y="21793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66903" y="2019833"/>
            <a:ext cx="18203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3589020" y="2019833"/>
            <a:ext cx="336212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803661" y="1844573"/>
            <a:ext cx="14527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3589020" y="1844573"/>
            <a:ext cx="37069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2004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66928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10490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844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8897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0995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9946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0" y="1371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62179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Hommes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55548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Femmes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7830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99928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69982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77772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1334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1156258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862189" y="4823993"/>
            <a:ext cx="71031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9212580" y="4823993"/>
            <a:ext cx="65352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572500" y="48082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667123" y="4648733"/>
            <a:ext cx="90537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212580" y="4648733"/>
            <a:ext cx="82176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7617479" y="4473473"/>
            <a:ext cx="95502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9212580" y="4473473"/>
            <a:ext cx="87591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7500013" y="4298213"/>
            <a:ext cx="107248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9212580" y="4298213"/>
            <a:ext cx="100479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8572500" y="428244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537121" y="4122953"/>
            <a:ext cx="103537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9212580" y="4122953"/>
            <a:ext cx="88958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7566205" y="3947693"/>
            <a:ext cx="100629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9212580" y="3947693"/>
            <a:ext cx="779888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7532231" y="3772433"/>
            <a:ext cx="104026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9212580" y="3772433"/>
            <a:ext cx="77675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72500" y="375666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351457" y="3597173"/>
            <a:ext cx="122104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9212580" y="3597173"/>
            <a:ext cx="101632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7380667" y="3421913"/>
            <a:ext cx="119183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9212580" y="3421913"/>
            <a:ext cx="103889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7025135" y="3246653"/>
            <a:ext cx="154736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9212580" y="3246653"/>
            <a:ext cx="1450208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8572500" y="323088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6927100" y="3071393"/>
            <a:ext cx="164540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9212580" y="3071393"/>
            <a:ext cx="153407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6842354" y="2896133"/>
            <a:ext cx="1730146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9212580" y="2896133"/>
            <a:ext cx="16090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7443850" y="2720873"/>
            <a:ext cx="112865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9212580" y="2720873"/>
            <a:ext cx="1182306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8572500" y="270510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305950" y="2545613"/>
            <a:ext cx="126655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9212580" y="2545613"/>
            <a:ext cx="152103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7430185" y="2370353"/>
            <a:ext cx="114231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9212580" y="2370353"/>
            <a:ext cx="162095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7699843" y="2195093"/>
            <a:ext cx="87265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9212580" y="2195093"/>
            <a:ext cx="132973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8572500" y="21793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8065654" y="2019833"/>
            <a:ext cx="506846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9212580" y="2019833"/>
            <a:ext cx="88030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8166447" y="1844573"/>
            <a:ext cx="40605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9212580" y="1844573"/>
            <a:ext cx="87391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94360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1129284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67284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1050798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75133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97231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86182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594360" y="54406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planifierait différemment le directeur de l’hôpital de comté dans chacun des deux comtés ?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 dans la population totale, en %, 1er janvier 2025. Source : Eurostat, demo_r_pjangrp3 ; valeurs estimées.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RÉPONSE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Entre elles : 9,3 ans d’âge médian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 (A)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71790" y="4789830"/>
            <a:ext cx="63133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03120" y="4789830"/>
            <a:ext cx="59300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86399" y="4627270"/>
            <a:ext cx="81672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03120" y="4627270"/>
            <a:ext cx="78197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42911" y="4464710"/>
            <a:ext cx="76020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03120" y="4464710"/>
            <a:ext cx="72363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85440" y="4302150"/>
            <a:ext cx="71768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03120" y="4302150"/>
            <a:ext cx="67161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22268" y="4139590"/>
            <a:ext cx="580852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103120" y="4139590"/>
            <a:ext cx="55688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27263" y="3977030"/>
            <a:ext cx="67585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103120" y="3977030"/>
            <a:ext cx="71085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56894" y="3814470"/>
            <a:ext cx="84622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103120" y="3814470"/>
            <a:ext cx="91018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57564" y="3651910"/>
            <a:ext cx="124555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103120" y="3651910"/>
            <a:ext cx="132258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2844" y="3489350"/>
            <a:ext cx="117027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103120" y="3489350"/>
            <a:ext cx="116366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93560" y="3326790"/>
            <a:ext cx="120956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103120" y="3326790"/>
            <a:ext cx="116715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201381" y="3164230"/>
            <a:ext cx="90173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103120" y="3164230"/>
            <a:ext cx="91260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258891" y="3001670"/>
            <a:ext cx="84422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103120" y="3001670"/>
            <a:ext cx="86129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648859" y="2839110"/>
            <a:ext cx="45426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103120" y="2839110"/>
            <a:ext cx="536408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604581" y="2676550"/>
            <a:ext cx="49853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103120" y="2676550"/>
            <a:ext cx="65979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698172" y="2513990"/>
            <a:ext cx="404948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103120" y="2513990"/>
            <a:ext cx="56187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865669" y="2351430"/>
            <a:ext cx="23745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103120" y="2351430"/>
            <a:ext cx="35434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986475" y="2188870"/>
            <a:ext cx="11664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03120" y="2188870"/>
            <a:ext cx="21543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010029" y="2026310"/>
            <a:ext cx="9309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103120" y="2026310"/>
            <a:ext cx="23753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84048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40,1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384048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ans, âge médian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4048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13,4 %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384048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ont 65 ans et plus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63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(B)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7317249" y="4789830"/>
            <a:ext cx="45515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772400" y="4789830"/>
            <a:ext cx="41876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192255" y="4627270"/>
            <a:ext cx="58014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772400" y="4627270"/>
            <a:ext cx="52656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160445" y="4464710"/>
            <a:ext cx="61195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772400" y="4464710"/>
            <a:ext cx="56126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085175" y="4302150"/>
            <a:ext cx="68722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772400" y="4302150"/>
            <a:ext cx="64384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108953" y="4139590"/>
            <a:ext cx="66344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772400" y="4139590"/>
            <a:ext cx="57002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127590" y="3977030"/>
            <a:ext cx="64481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772400" y="3977030"/>
            <a:ext cx="49973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105820" y="3814470"/>
            <a:ext cx="66658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772400" y="3814470"/>
            <a:ext cx="49772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989984" y="3651910"/>
            <a:ext cx="78241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7772400" y="3651910"/>
            <a:ext cx="65123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008701" y="3489350"/>
            <a:ext cx="76369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772400" y="3489350"/>
            <a:ext cx="66569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780884" y="3326790"/>
            <a:ext cx="99151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7772400" y="3326790"/>
            <a:ext cx="92926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718066" y="3164230"/>
            <a:ext cx="1054334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7772400" y="3164230"/>
            <a:ext cx="98300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663763" y="3001670"/>
            <a:ext cx="110863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7772400" y="3001670"/>
            <a:ext cx="1031038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7049187" y="2839110"/>
            <a:ext cx="723213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7772400" y="2839110"/>
            <a:ext cx="75759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960824" y="2676550"/>
            <a:ext cx="81157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772400" y="2676550"/>
            <a:ext cx="97464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7040431" y="2513990"/>
            <a:ext cx="73196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7772400" y="2513990"/>
            <a:ext cx="1038669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213222" y="2351430"/>
            <a:ext cx="559178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7772400" y="2351430"/>
            <a:ext cx="85206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7447625" y="2188870"/>
            <a:ext cx="32477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7772400" y="2188870"/>
            <a:ext cx="564079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7512211" y="2026310"/>
            <a:ext cx="26018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7772400" y="2026310"/>
            <a:ext cx="55998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950976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49,4</a:t>
            </a:r>
            <a:endParaRPr lang="en-US" sz="5000" dirty="0"/>
          </a:p>
        </p:txBody>
      </p:sp>
      <p:sp>
        <p:nvSpPr>
          <p:cNvPr id="83" name="Text 81"/>
          <p:cNvSpPr/>
          <p:nvPr/>
        </p:nvSpPr>
        <p:spPr>
          <a:xfrm>
            <a:off x="95097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ans, âge médian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50976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26,6 %</a:t>
            </a:r>
            <a:endParaRPr lang="en-US" sz="3600" dirty="0"/>
          </a:p>
        </p:txBody>
      </p:sp>
      <p:sp>
        <p:nvSpPr>
          <p:cNvPr id="85" name="Text 83"/>
          <p:cNvSpPr/>
          <p:nvPr/>
        </p:nvSpPr>
        <p:spPr>
          <a:xfrm>
            <a:off x="950976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ont 65 ans et plus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Roumanie 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âge médian 44,0 ans ; 20,3 % ont 65 ans et plus. Âge médian : la moitié des habitants sont plus jeunes, l’autre moitié plus âgés.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demo_r_pjanind3 et demo_r_pjangrp3 ; 1er janvier 2025, valeurs estimées.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DÉMONSTRATION DANS EXCEL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pyramide en cinq étapes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Copiez la population de 2025 : les hommes et les femmes, par groupe d’âge, du plus jeune au plus âgé.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47802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2642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47802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Calculez la proportion de chaque cellule : population de la cellule ÷ population totale × 100.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3558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440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35584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Inscrivez les proportions des hommes avec le signe moins.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23367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" y="43982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23367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Insérez un graphique à barres horizontales groupées.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1114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4400" y="5276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11149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Superposition 100 %, écartement 0 entre les barres, format « 0;0 » sur l’axe horizontal.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Feuille « Par sexe » du fichier de l’équipe. À l’écran, avec le fichier de Teleorman.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RÉSULTAT DE LA 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Teleorman, 1er janvier 2025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Hommes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15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766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5134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63372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9528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978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3922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81397" y="5469128"/>
            <a:ext cx="944783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11980" y="5469128"/>
            <a:ext cx="869247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26180" y="54508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21940" y="5250688"/>
            <a:ext cx="120424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11980" y="5250688"/>
            <a:ext cx="109302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26180" y="52324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55909" y="5032248"/>
            <a:ext cx="1270271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11980" y="5032248"/>
            <a:ext cx="1165054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26180" y="50139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10–14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99668" y="4813808"/>
            <a:ext cx="1426512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11980" y="4813808"/>
            <a:ext cx="1336469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26180" y="47955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49025" y="4595368"/>
            <a:ext cx="1377155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11980" y="4595368"/>
            <a:ext cx="118323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726180" y="45770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20–24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87710" y="4376928"/>
            <a:ext cx="133847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411980" y="4376928"/>
            <a:ext cx="1037327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26180" y="43586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25–29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42522" y="4158488"/>
            <a:ext cx="1383658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411980" y="4158488"/>
            <a:ext cx="1033158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26180" y="41402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02074" y="3940048"/>
            <a:ext cx="1624106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11980" y="3940048"/>
            <a:ext cx="135181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726180" y="39217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35–39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40926" y="3721608"/>
            <a:ext cx="158525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411980" y="3721608"/>
            <a:ext cx="1381824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726180" y="37033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40–44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668034" y="3503168"/>
            <a:ext cx="2058146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411980" y="3503168"/>
            <a:ext cx="1928918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726180" y="34848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537639" y="3284728"/>
            <a:ext cx="2188541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411980" y="3284728"/>
            <a:ext cx="2040471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726180" y="32664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50–54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424918" y="3066288"/>
            <a:ext cx="2301262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411980" y="3066288"/>
            <a:ext cx="2140185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726180" y="30480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55–59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224966" y="2847848"/>
            <a:ext cx="150121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411980" y="2847848"/>
            <a:ext cx="1572582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726180" y="28295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041545" y="2629408"/>
            <a:ext cx="1684635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411980" y="2629408"/>
            <a:ext cx="2023129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726180" y="26111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65–69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206790" y="2410968"/>
            <a:ext cx="151939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411980" y="2410968"/>
            <a:ext cx="2156026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726180" y="23926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70–74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565461" y="2192528"/>
            <a:ext cx="1160719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411980" y="2192528"/>
            <a:ext cx="1768675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726180" y="21742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052026" y="1974088"/>
            <a:ext cx="67415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411980" y="1974088"/>
            <a:ext cx="117089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726180" y="19558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80–84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186090" y="1755648"/>
            <a:ext cx="54009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411980" y="1755648"/>
            <a:ext cx="1162386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726180" y="17373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85+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2004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26948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36398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22554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240792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18160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79476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818120" y="1773936"/>
            <a:ext cx="64008" cy="1019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046720" y="1773936"/>
            <a:ext cx="3520440" cy="1019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 ans et plus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sommet : les personnes âgées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7818120" y="2866136"/>
            <a:ext cx="64008" cy="211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046720" y="2866136"/>
            <a:ext cx="3520440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15–64 ans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milieu : la population d’âge actif</a:t>
            </a:r>
            <a:endParaRPr lang="en-US" sz="1700" dirty="0"/>
          </a:p>
        </p:txBody>
      </p:sp>
      <p:sp>
        <p:nvSpPr>
          <p:cNvPr id="77" name="Shape 75"/>
          <p:cNvSpPr/>
          <p:nvPr/>
        </p:nvSpPr>
        <p:spPr>
          <a:xfrm>
            <a:off x="7818120" y="5050536"/>
            <a:ext cx="64008" cy="58216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046720" y="5050536"/>
            <a:ext cx="352044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0–14 ans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base : les enfants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 dans la population totale, en %. Source : Eurostat, demo_r_pjangrp3 ; valeurs estimées.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FORMES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Comment lire la forme d’une pyramide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3419856"/>
            <a:ext cx="135788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345436" y="3419856"/>
            <a:ext cx="135788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24712" y="3209544"/>
            <a:ext cx="119329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45436" y="3209544"/>
            <a:ext cx="119329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75588" y="2999232"/>
            <a:ext cx="10424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45436" y="2999232"/>
            <a:ext cx="10424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412748" y="2788920"/>
            <a:ext cx="9052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45436" y="2788920"/>
            <a:ext cx="9052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49908" y="2578608"/>
            <a:ext cx="76809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345436" y="2578608"/>
            <a:ext cx="76809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687068" y="2368296"/>
            <a:ext cx="63093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45436" y="2368296"/>
            <a:ext cx="63093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824228" y="2157984"/>
            <a:ext cx="49377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345436" y="2157984"/>
            <a:ext cx="49377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961388" y="1947672"/>
            <a:ext cx="3566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345436" y="1947672"/>
            <a:ext cx="3566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098548" y="1737360"/>
            <a:ext cx="2194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345436" y="1737360"/>
            <a:ext cx="2194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Expansive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Dite aussi progressive : la barre de la base est la plus longue ; les barres raccourcissent régulièrement vers le sommet.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4340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983480" y="3419856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94476" y="3419856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983480" y="3209544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094476" y="3209544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983480" y="2999232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094476" y="2999232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983480" y="2788920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094476" y="2788920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983480" y="2578608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94476" y="2578608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983480" y="2368296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094476" y="2368296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65776" y="2157984"/>
            <a:ext cx="1001268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094476" y="2157984"/>
            <a:ext cx="1001268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285232" y="1947672"/>
            <a:ext cx="78181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094476" y="1947672"/>
            <a:ext cx="78181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614416" y="1737360"/>
            <a:ext cx="452628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094476" y="1737360"/>
            <a:ext cx="452628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1772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Stationnaire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61772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Barres presque égales jusqu’aux âges avancés ; elles ne raccourcissent qu’en haut.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09244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116568" y="3419856"/>
            <a:ext cx="6995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843516" y="3419856"/>
            <a:ext cx="6995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979408" y="3209544"/>
            <a:ext cx="83667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9843516" y="3209544"/>
            <a:ext cx="83667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759952" y="2999232"/>
            <a:ext cx="10561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9843516" y="2999232"/>
            <a:ext cx="105613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67928" y="2788920"/>
            <a:ext cx="12481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843516" y="2788920"/>
            <a:ext cx="12481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458200" y="2578608"/>
            <a:ext cx="135788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9843516" y="2578608"/>
            <a:ext cx="135788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8513064" y="2368296"/>
            <a:ext cx="1303020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843516" y="2368296"/>
            <a:ext cx="1303020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50224" y="2157984"/>
            <a:ext cx="1165860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843516" y="2157984"/>
            <a:ext cx="1165860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869680" y="1947672"/>
            <a:ext cx="94640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843516" y="1947672"/>
            <a:ext cx="94640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212580" y="1737360"/>
            <a:ext cx="60350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9843516" y="1737360"/>
            <a:ext cx="60350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36676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Constrictive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836676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Dite aussi régressive : base plus étroite que le milieu ; les groupes d’âge les plus jeunes sont moins nombreux que ceux d’âge moyen.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9436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forme se lit sur trois zones : la base, le milieu, le sommet.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 TOUTE COMPARAISON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vérifications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Quelle population 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L’adresse de la carte d’identité ou le lieu où la personne vit réellement. Le profil se fait sur une seule base : la résidence habituelle.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2826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même définition sur toute la série 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Après le recensement de 2021, à Teleorman les personnes de 90 ans et plus passent de 4 055 à 2 512, sans explication.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6542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dernière année et ses indicateurs de statut 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42519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population de 2025 porte le code « e » : estimée, donc révisable. Notez la date du téléchargement.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COMPTE UMF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ÉQUIPE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L’exercice commun, en quatre étapes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pyramide de Teleorman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7004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L’indice de vieillissement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1129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rapport de dépendance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52544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4897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natalité et la fécondité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321040" y="1783080"/>
            <a:ext cx="32461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246120" cy="32461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code QR du formulaire de votre groupe s’affiche à l’écran, en salle.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/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collègue calcule, un autre refait le calcul de façon indépendante. Chacun rend le formulaire avant de quitter la salle.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DONNÉES DES ÉTAPES 1 ET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et Ilfov, 1er janvier 2025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Population totale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313 033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604 264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Hommes de 55–59 ans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13 801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Garçons de 0–4 ans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5 666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Enfants de 0–14 ans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39 261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103 495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Personnes de 65 ans et plus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83 121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81 214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00200"/>
            <a:ext cx="3657600" cy="3072384"/>
          </a:xfrm>
          <a:prstGeom prst="roundRect">
            <a:avLst>
              <a:gd name="adj" fmla="val 267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909560" y="1600200"/>
            <a:ext cx="82296" cy="307238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 nouveau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 de vieillissement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0" y="29260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combien de personnes âgées (65+) pour 100 enfants (0–14) »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demo_r_pjangrp3 ; population estimée.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DONNÉES DES ÉTAPES 3 ET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Dépendance et natalité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Étape 3, Teleorman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Personnes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0–14 ans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39 261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15–64 ans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190 651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65+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83 121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Roumanie, rapport de dépendance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55,6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Étape 4, 2024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257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Naissances vivantes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1 749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4 253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Population moyenne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314 257,5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593 963,5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Fécondité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1,27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1,09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41148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83680" y="4251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Rapport de dépendance : </a:t>
            </a:r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combien d’enfants et de personnes âgées pour 100 personnes de 15–64 ans »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 synthétique de fécondité : </a:t>
            </a:r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« combien d’enfants aurait une femme, aux taux de fécondité par âge d’aujourd’hui »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 ; valeurs estimées.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ÉQUIPE · EXCEL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PYRAMIDE DE VOTRE COMTÉ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Même démarche, avec votre fichier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Feuille « Par sexe » du fichier de l’équipe : année 2025.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72491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89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72491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Proportions de la population totale, les cinq étapes.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62102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785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62102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Titre complet : le comté, la date, la source.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51713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681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51713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Nommez la forme : expansive, stationnaire ou constrictive.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RÉSULTATS · EXERCICE COMMUN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quatre étapes, résolues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20116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· Pyramide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4,41 % · 1,81 %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 : constrictive. Ilfov : excédent de 35–49 ans dû aux arrivées (28,9 % contre 21,8 %).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554480"/>
            <a:ext cx="82296" cy="2011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· Vieillissement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· Ilfov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211,7 · 78,5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 : 212 personnes âgées pour 100 enfants.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749040"/>
            <a:ext cx="82296" cy="20116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· Dépendance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0332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64,2 · 43,6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L’écart avec le pays vient des personnes âgées.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82296" cy="20116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9224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· Natalité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· Ilfov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297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5,57 · 7,16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9224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1 000 habitants, en 2024.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demo_r_pjangrp3 et demo_r_gind3 ; calcul tiré des notes de la séance.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RÉSULTATS · ÉTAPE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Natalité plus élevée, fécondité plus faible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Taux de natalité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 1 000 habitants, 2024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5074920"/>
            <a:ext cx="329184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688336"/>
            <a:ext cx="1280160" cy="23865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304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23160" y="3218688"/>
            <a:ext cx="1280160" cy="18562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40280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24028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 synthétique de fécondité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enfants par femme, 2024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5074920"/>
            <a:ext cx="329184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80560" y="3147974"/>
            <a:ext cx="1280160" cy="192694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0" y="276392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1,09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9768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829763"/>
            <a:ext cx="1280160" cy="2245157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52160" y="2445715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1,27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85216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63840" y="1508760"/>
            <a:ext cx="3703320" cy="3657600"/>
          </a:xfrm>
          <a:prstGeom prst="roundRect">
            <a:avLst>
              <a:gd name="adj" fmla="val 2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3816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Pourquoi ?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38160" y="22402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femmes de 15–49 ans représentent 25,9 % de la population d’Ilfov et 17,7 % de celle de Teleorman.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taux de natalité rapporte les naissances à toute la population ; l’indice synthétique de fécondité ne dépend pas du nombre de femmes à chaque âge.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 : Eurostat, demo_r_gind3 et demo_r_find3 ; valeurs estimées.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À LA MAISON, DANS LES DEUX JOURS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chapitre démographique de votre comté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Synthèse, à tour de rôle 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quel indicateur mettriez-vous en première page du profil et quel service en découle-t-il 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5786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pyramides de 2025 et de 2019, avec la réserve du saut de série de 2021–2022.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136392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2004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1363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L’indice de vieillissement et les rapports de dépendance et de féminité, comparés au pays.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82219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7581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Dans Eurostat : taux de natalité, indice synthétique de fécondité, accroissement naturel, solde migratoire (2024).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79976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4439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799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constat et une conséquence pour les services en 2030–2040.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001768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017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Facultatif : projection EUROPOP2019 pour le comté (2025, 2040), avec la réserve d’une base de 2019.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Individuellement, dans le formulaire du travail à la maison, avec le fichier Excel.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LES CINQ DERNIÈRES MINUTES · ANONYME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Trois questions pour finir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Qu’est-ce qui a été utile 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Où vous ai-je perdu 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 pourriez-vous utiliser demain 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: entrez sur menti.com avec le code affiché à l’écran.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Lundi, sur la page de la discipline, vous trouverez deux modifications faites d’après les réponses.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LP02 - Qui seront les patients dans dix ans ?</dc:title>
  <dc:subject>PptxGenJS Presentation</dc:subject>
  <dc:creator>Conf. Univ. Dr. Adrian Pana</dc:creator>
  <cp:lastModifiedBy>Conf. Univ. Dr. Adrian Pana</cp:lastModifiedBy>
  <cp:revision>1</cp:revision>
  <dcterms:created xsi:type="dcterms:W3CDTF">2026-10-11T09:16:05Z</dcterms:created>
  <dcterms:modified xsi:type="dcterms:W3CDTF">2026-10-11T09:16:05Z</dcterms:modified>
  <cp:keywords>sursa_amprenta=52c9048381f20302; proiectie</cp:keywords>
</cp:coreProperties>
</file>