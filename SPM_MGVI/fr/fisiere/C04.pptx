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40080" y="777240"/>
            <a:ext cx="6035040" cy="329184"/>
          </a:xfrm>
          <a:prstGeom prst="roundRect">
            <a:avLst>
              <a:gd name="adj" fmla="val 50000"/>
            </a:avLst>
          </a:prstGeom>
          <a:solidFill>
            <a:srgbClr val="FF4757"/>
          </a:solidFill>
          <a:ln w="12700">
            <a:solidFill>
              <a:srgbClr val="FF4757"/>
            </a:solidFill>
            <a:prstDash val="solid"/>
          </a:ln>
        </p:spPr>
      </p:sp>
      <p:sp>
        <p:nvSpPr>
          <p:cNvPr id="3" name="Text 1"/>
          <p:cNvSpPr/>
          <p:nvPr/>
        </p:nvSpPr>
        <p:spPr>
          <a:xfrm>
            <a:off x="640080" y="777240"/>
            <a:ext cx="603504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COURS 4  ·  SANTÉ PUBLIQUE ET MANAGEMENT</a:t>
            </a:r>
            <a:endParaRPr lang="en-US" sz="1300" dirty="0"/>
          </a:p>
        </p:txBody>
      </p:sp>
      <p:sp>
        <p:nvSpPr>
          <p:cNvPr id="4" name="Text 2"/>
          <p:cNvSpPr/>
          <p:nvPr/>
        </p:nvSpPr>
        <p:spPr>
          <a:xfrm>
            <a:off x="640080" y="1463040"/>
            <a:ext cx="10789920" cy="1737360"/>
          </a:xfrm>
          <a:prstGeom prst="rect">
            <a:avLst/>
          </a:prstGeom>
          <a:noFill/>
          <a:ln/>
        </p:spPr>
        <p:txBody>
          <a:bodyPr wrap="square" lIns="0" tIns="0" rIns="0" bIns="0" rtlCol="0" anchor="t"/>
          <a:lstStyle/>
          <a:p>
            <a:pPr indent="0" marL="0">
              <a:buNone/>
            </a:pPr>
            <a:r>
              <a:rPr lang="en-US" sz="4600" b="1" dirty="0">
                <a:solidFill>
                  <a:srgbClr val="FFFFFF"/>
                </a:solidFill>
                <a:latin typeface="Palatino Linotype" pitchFamily="34" charset="0"/>
                <a:ea typeface="Palatino Linotype" pitchFamily="34" charset="-122"/>
                <a:cs typeface="Palatino Linotype" pitchFamily="34" charset="-120"/>
              </a:rPr>
              <a:t>Pourquoi tant de Roumains meurent-ils avant 70 ans ?</a:t>
            </a:r>
            <a:endParaRPr lang="en-US" sz="4600" dirty="0"/>
          </a:p>
        </p:txBody>
      </p:sp>
      <p:sp>
        <p:nvSpPr>
          <p:cNvPr id="5" name="Text 3"/>
          <p:cNvSpPr/>
          <p:nvPr/>
        </p:nvSpPr>
        <p:spPr>
          <a:xfrm>
            <a:off x="640080" y="3383280"/>
            <a:ext cx="10424160" cy="1005840"/>
          </a:xfrm>
          <a:prstGeom prst="rect">
            <a:avLst/>
          </a:prstGeom>
          <a:noFill/>
          <a:ln/>
        </p:spPr>
        <p:txBody>
          <a:bodyPr wrap="square" lIns="0" tIns="0" rIns="0" bIns="0" rtlCol="0" anchor="t"/>
          <a:lstStyle/>
          <a:p>
            <a:pPr indent="0" marL="0">
              <a:buNone/>
            </a:pPr>
            <a:r>
              <a:rPr lang="en-US" sz="2400" b="1" dirty="0">
                <a:solidFill>
                  <a:srgbClr val="27D3BE"/>
                </a:solidFill>
                <a:latin typeface="Palatino Linotype" pitchFamily="34" charset="0"/>
                <a:ea typeface="Palatino Linotype" pitchFamily="34" charset="-122"/>
                <a:cs typeface="Palatino Linotype" pitchFamily="34" charset="-120"/>
              </a:rPr>
              <a:t>Maladies chroniques non transmissibles. Facteurs de risque modifiables. Stratégies de prévention fondées sur des données probantes</a:t>
            </a:r>
            <a:endParaRPr lang="en-US" sz="2400" dirty="0"/>
          </a:p>
        </p:txBody>
      </p:sp>
      <p:sp>
        <p:nvSpPr>
          <p:cNvPr id="6" name="Shape 4"/>
          <p:cNvSpPr/>
          <p:nvPr/>
        </p:nvSpPr>
        <p:spPr>
          <a:xfrm>
            <a:off x="667512" y="4617720"/>
            <a:ext cx="1280160" cy="27432"/>
          </a:xfrm>
          <a:prstGeom prst="rect">
            <a:avLst/>
          </a:prstGeom>
          <a:solidFill>
            <a:srgbClr val="FF4757"/>
          </a:solidFill>
          <a:ln w="12700">
            <a:solidFill>
              <a:srgbClr val="FF4757"/>
            </a:solidFill>
            <a:prstDash val="solid"/>
          </a:ln>
        </p:spPr>
      </p:sp>
      <p:sp>
        <p:nvSpPr>
          <p:cNvPr id="7" name="Text 5"/>
          <p:cNvSpPr/>
          <p:nvPr/>
        </p:nvSpPr>
        <p:spPr>
          <a:xfrm>
            <a:off x="640080" y="4800600"/>
            <a:ext cx="10515600" cy="731520"/>
          </a:xfrm>
          <a:prstGeom prst="rect">
            <a:avLst/>
          </a:prstGeom>
          <a:noFill/>
          <a:ln/>
        </p:spPr>
        <p:txBody>
          <a:bodyPr wrap="square" lIns="0" tIns="0" rIns="0" bIns="0" rtlCol="0" anchor="t"/>
          <a:lstStyle/>
          <a:p>
            <a:pPr indent="0" marL="0">
              <a:buNone/>
            </a:pPr>
            <a:r>
              <a:rPr lang="en-US" sz="1600" dirty="0">
                <a:solidFill>
                  <a:srgbClr val="959BB0"/>
                </a:solidFill>
                <a:latin typeface="Palatino Linotype" pitchFamily="34" charset="0"/>
                <a:ea typeface="Palatino Linotype" pitchFamily="34" charset="-122"/>
                <a:cs typeface="Palatino Linotype" pitchFamily="34" charset="-120"/>
              </a:rPr>
              <a:t>Un patient, quatre niveaux de prévention, deux stratégies et une question : qu’aurait-on pu faire dix ans plus tôt ?</a:t>
            </a:r>
            <a:endParaRPr lang="en-US" sz="1600" dirty="0"/>
          </a:p>
        </p:txBody>
      </p:sp>
      <p:sp>
        <p:nvSpPr>
          <p:cNvPr id="8" name="Text 6"/>
          <p:cNvSpPr/>
          <p:nvPr/>
        </p:nvSpPr>
        <p:spPr>
          <a:xfrm>
            <a:off x="640080" y="5669280"/>
            <a:ext cx="10515600" cy="365760"/>
          </a:xfrm>
          <a:prstGeom prst="rect">
            <a:avLst/>
          </a:prstGeom>
          <a:noFill/>
          <a:ln/>
        </p:spPr>
        <p:txBody>
          <a:bodyPr wrap="square" lIns="0" tIns="0" rIns="0" bIns="0" rtlCol="0" anchor="t"/>
          <a:lstStyle/>
          <a:p>
            <a:pPr indent="0" marL="0">
              <a:buNone/>
            </a:pPr>
            <a:r>
              <a:rPr lang="en-US" sz="1300" dirty="0">
                <a:solidFill>
                  <a:srgbClr val="959BB0"/>
                </a:solidFill>
                <a:latin typeface="Palatino Linotype" pitchFamily="34" charset="0"/>
                <a:ea typeface="Palatino Linotype" pitchFamily="34" charset="-122"/>
                <a:cs typeface="Palatino Linotype" pitchFamily="34" charset="-120"/>
              </a:rPr>
              <a:t>UMF Cluj-Napoca · Médecine, 6e année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UN PATIENT CONSTRUIT POUR LA DISCUSSION</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Ion, 52 ans</a:t>
            </a:r>
            <a:endParaRPr lang="en-US" sz="3400" dirty="0"/>
          </a:p>
        </p:txBody>
      </p:sp>
      <p:sp>
        <p:nvSpPr>
          <p:cNvPr id="4" name="Shape 2"/>
          <p:cNvSpPr/>
          <p:nvPr/>
        </p:nvSpPr>
        <p:spPr>
          <a:xfrm>
            <a:off x="594360" y="1691640"/>
            <a:ext cx="5852160" cy="3108960"/>
          </a:xfrm>
          <a:prstGeom prst="roundRect">
            <a:avLst>
              <a:gd name="adj" fmla="val 2647"/>
            </a:avLst>
          </a:prstGeom>
          <a:solidFill>
            <a:srgbClr val="ECEAE4"/>
          </a:solidFill>
          <a:ln w="12700">
            <a:solidFill>
              <a:srgbClr val="ECEAE4"/>
            </a:solidFill>
            <a:prstDash val="solid"/>
          </a:ln>
        </p:spPr>
      </p:sp>
      <p:sp>
        <p:nvSpPr>
          <p:cNvPr id="5" name="Text 3"/>
          <p:cNvSpPr/>
          <p:nvPr/>
        </p:nvSpPr>
        <p:spPr>
          <a:xfrm>
            <a:off x="868680" y="1783080"/>
            <a:ext cx="5303520" cy="2926080"/>
          </a:xfrm>
          <a:prstGeom prst="rect">
            <a:avLst/>
          </a:prstGeom>
          <a:noFill/>
          <a:ln/>
        </p:spPr>
        <p:txBody>
          <a:bodyPr wrap="square" lIns="0" tIns="0" rIns="0" bIns="0" rtlCol="0" anchor="ctr"/>
          <a:lstStyle/>
          <a:p>
            <a:pPr indent="0" marL="0">
              <a:buNone/>
            </a:pPr>
            <a:r>
              <a:rPr lang="en-US" sz="2000" dirty="0">
                <a:solidFill>
                  <a:srgbClr val="11121A"/>
                </a:solidFill>
                <a:latin typeface="Palatino Linotype" pitchFamily="34" charset="0"/>
                <a:ea typeface="Palatino Linotype" pitchFamily="34" charset="-122"/>
                <a:cs typeface="Palatino Linotype" pitchFamily="34" charset="-120"/>
              </a:rPr>
              <a:t>Il vit dans une commune rurale, travaille dans le bâtiment, fume depuis trente ans, boit « modérément », ne fait pas d’exercice et mange « comme à la maison ». Il n’est pas allé chez le médecin depuis cinq ans.</a:t>
            </a:r>
            <a:endParaRPr lang="en-US" sz="2000" dirty="0"/>
          </a:p>
        </p:txBody>
      </p:sp>
      <p:sp>
        <p:nvSpPr>
          <p:cNvPr id="6" name="Shape 4"/>
          <p:cNvSpPr/>
          <p:nvPr/>
        </p:nvSpPr>
        <p:spPr>
          <a:xfrm>
            <a:off x="6720840" y="1691640"/>
            <a:ext cx="4846320" cy="960120"/>
          </a:xfrm>
          <a:prstGeom prst="roundRect">
            <a:avLst>
              <a:gd name="adj" fmla="val 8571"/>
            </a:avLst>
          </a:prstGeom>
          <a:solidFill>
            <a:srgbClr val="ECEAE4"/>
          </a:solidFill>
          <a:ln w="12700">
            <a:solidFill>
              <a:srgbClr val="ECEAE4"/>
            </a:solidFill>
            <a:prstDash val="solid"/>
          </a:ln>
        </p:spPr>
      </p:sp>
      <p:sp>
        <p:nvSpPr>
          <p:cNvPr id="7" name="Text 5"/>
          <p:cNvSpPr/>
          <p:nvPr/>
        </p:nvSpPr>
        <p:spPr>
          <a:xfrm>
            <a:off x="6995160" y="1801368"/>
            <a:ext cx="4297680" cy="480060"/>
          </a:xfrm>
          <a:prstGeom prst="rect">
            <a:avLst/>
          </a:prstGeom>
          <a:noFill/>
          <a:ln/>
        </p:spPr>
        <p:txBody>
          <a:bodyPr wrap="square" lIns="0" tIns="0" rIns="0" bIns="0" rtlCol="0" anchor="ctr"/>
          <a:lstStyle/>
          <a:p>
            <a:pPr indent="0" marL="0">
              <a:buNone/>
            </a:pPr>
            <a:r>
              <a:rPr lang="en-US" sz="3000" b="1" dirty="0">
                <a:solidFill>
                  <a:srgbClr val="B02532"/>
                </a:solidFill>
                <a:latin typeface="Palatino Linotype" pitchFamily="34" charset="0"/>
                <a:ea typeface="Palatino Linotype" pitchFamily="34" charset="-122"/>
                <a:cs typeface="Palatino Linotype" pitchFamily="34" charset="-120"/>
              </a:rPr>
              <a:t>160/100</a:t>
            </a:r>
            <a:endParaRPr lang="en-US" sz="3000" dirty="0"/>
          </a:p>
        </p:txBody>
      </p:sp>
      <p:sp>
        <p:nvSpPr>
          <p:cNvPr id="8" name="Text 6"/>
          <p:cNvSpPr/>
          <p:nvPr/>
        </p:nvSpPr>
        <p:spPr>
          <a:xfrm>
            <a:off x="6995160" y="2189988"/>
            <a:ext cx="4297680" cy="441655"/>
          </a:xfrm>
          <a:prstGeom prst="rect">
            <a:avLst/>
          </a:prstGeom>
          <a:noFill/>
          <a:ln/>
        </p:spPr>
        <p:txBody>
          <a:bodyPr wrap="square" lIns="0" tIns="0" rIns="0" bIns="0" rtlCol="0" anchor="t"/>
          <a:lstStyle/>
          <a:p>
            <a:pPr indent="0" marL="0">
              <a:buNone/>
            </a:pPr>
            <a:r>
              <a:rPr lang="en-US" sz="1200" dirty="0">
                <a:solidFill>
                  <a:srgbClr val="585A64"/>
                </a:solidFill>
                <a:latin typeface="Palatino Linotype" pitchFamily="34" charset="0"/>
                <a:ea typeface="Palatino Linotype" pitchFamily="34" charset="-122"/>
                <a:cs typeface="Palatino Linotype" pitchFamily="34" charset="-120"/>
              </a:rPr>
              <a:t>tension artérielle, mmHg</a:t>
            </a:r>
            <a:endParaRPr lang="en-US" sz="1200" dirty="0"/>
          </a:p>
        </p:txBody>
      </p:sp>
      <p:sp>
        <p:nvSpPr>
          <p:cNvPr id="9" name="Shape 7"/>
          <p:cNvSpPr/>
          <p:nvPr/>
        </p:nvSpPr>
        <p:spPr>
          <a:xfrm>
            <a:off x="6720840" y="2761488"/>
            <a:ext cx="4846320" cy="960120"/>
          </a:xfrm>
          <a:prstGeom prst="roundRect">
            <a:avLst>
              <a:gd name="adj" fmla="val 8571"/>
            </a:avLst>
          </a:prstGeom>
          <a:solidFill>
            <a:srgbClr val="ECEAE4"/>
          </a:solidFill>
          <a:ln w="12700">
            <a:solidFill>
              <a:srgbClr val="ECEAE4"/>
            </a:solidFill>
            <a:prstDash val="solid"/>
          </a:ln>
        </p:spPr>
      </p:sp>
      <p:sp>
        <p:nvSpPr>
          <p:cNvPr id="10" name="Text 8"/>
          <p:cNvSpPr/>
          <p:nvPr/>
        </p:nvSpPr>
        <p:spPr>
          <a:xfrm>
            <a:off x="6995160" y="2871216"/>
            <a:ext cx="4297680" cy="480060"/>
          </a:xfrm>
          <a:prstGeom prst="rect">
            <a:avLst/>
          </a:prstGeom>
          <a:noFill/>
          <a:ln/>
        </p:spPr>
        <p:txBody>
          <a:bodyPr wrap="square" lIns="0" tIns="0" rIns="0" bIns="0" rtlCol="0" anchor="ctr"/>
          <a:lstStyle/>
          <a:p>
            <a:pPr indent="0" marL="0">
              <a:buNone/>
            </a:pPr>
            <a:r>
              <a:rPr lang="en-US" sz="3000" b="1" dirty="0">
                <a:solidFill>
                  <a:srgbClr val="9C4A0A"/>
                </a:solidFill>
                <a:latin typeface="Palatino Linotype" pitchFamily="34" charset="0"/>
                <a:ea typeface="Palatino Linotype" pitchFamily="34" charset="-122"/>
                <a:cs typeface="Palatino Linotype" pitchFamily="34" charset="-120"/>
              </a:rPr>
              <a:t>32</a:t>
            </a:r>
            <a:endParaRPr lang="en-US" sz="3000" dirty="0"/>
          </a:p>
        </p:txBody>
      </p:sp>
      <p:sp>
        <p:nvSpPr>
          <p:cNvPr id="11" name="Text 9"/>
          <p:cNvSpPr/>
          <p:nvPr/>
        </p:nvSpPr>
        <p:spPr>
          <a:xfrm>
            <a:off x="6995160" y="3259836"/>
            <a:ext cx="4297680" cy="441655"/>
          </a:xfrm>
          <a:prstGeom prst="rect">
            <a:avLst/>
          </a:prstGeom>
          <a:noFill/>
          <a:ln/>
        </p:spPr>
        <p:txBody>
          <a:bodyPr wrap="square" lIns="0" tIns="0" rIns="0" bIns="0" rtlCol="0" anchor="t"/>
          <a:lstStyle/>
          <a:p>
            <a:pPr indent="0" marL="0">
              <a:buNone/>
            </a:pPr>
            <a:r>
              <a:rPr lang="en-US" sz="1200" dirty="0">
                <a:solidFill>
                  <a:srgbClr val="585A64"/>
                </a:solidFill>
                <a:latin typeface="Palatino Linotype" pitchFamily="34" charset="0"/>
                <a:ea typeface="Palatino Linotype" pitchFamily="34" charset="-122"/>
                <a:cs typeface="Palatino Linotype" pitchFamily="34" charset="-120"/>
              </a:rPr>
              <a:t>indice de masse corporelle</a:t>
            </a:r>
            <a:endParaRPr lang="en-US" sz="1200" dirty="0"/>
          </a:p>
        </p:txBody>
      </p:sp>
      <p:sp>
        <p:nvSpPr>
          <p:cNvPr id="12" name="Shape 10"/>
          <p:cNvSpPr/>
          <p:nvPr/>
        </p:nvSpPr>
        <p:spPr>
          <a:xfrm>
            <a:off x="6720840" y="3831336"/>
            <a:ext cx="4846320" cy="960120"/>
          </a:xfrm>
          <a:prstGeom prst="roundRect">
            <a:avLst>
              <a:gd name="adj" fmla="val 8571"/>
            </a:avLst>
          </a:prstGeom>
          <a:solidFill>
            <a:srgbClr val="ECEAE4"/>
          </a:solidFill>
          <a:ln w="12700">
            <a:solidFill>
              <a:srgbClr val="ECEAE4"/>
            </a:solidFill>
            <a:prstDash val="solid"/>
          </a:ln>
        </p:spPr>
      </p:sp>
      <p:sp>
        <p:nvSpPr>
          <p:cNvPr id="13" name="Text 11"/>
          <p:cNvSpPr/>
          <p:nvPr/>
        </p:nvSpPr>
        <p:spPr>
          <a:xfrm>
            <a:off x="6995160" y="3941064"/>
            <a:ext cx="4297680" cy="480060"/>
          </a:xfrm>
          <a:prstGeom prst="rect">
            <a:avLst/>
          </a:prstGeom>
          <a:noFill/>
          <a:ln/>
        </p:spPr>
        <p:txBody>
          <a:bodyPr wrap="square" lIns="0" tIns="0" rIns="0" bIns="0" rtlCol="0" anchor="ctr"/>
          <a:lstStyle/>
          <a:p>
            <a:pPr indent="0" marL="0">
              <a:buNone/>
            </a:pPr>
            <a:r>
              <a:rPr lang="en-US" sz="3000" b="1" dirty="0">
                <a:solidFill>
                  <a:srgbClr val="4A2D8C"/>
                </a:solidFill>
                <a:latin typeface="Palatino Linotype" pitchFamily="34" charset="0"/>
                <a:ea typeface="Palatino Linotype" pitchFamily="34" charset="-122"/>
                <a:cs typeface="Palatino Linotype" pitchFamily="34" charset="-120"/>
              </a:rPr>
              <a:t>126</a:t>
            </a:r>
            <a:endParaRPr lang="en-US" sz="3000" dirty="0"/>
          </a:p>
        </p:txBody>
      </p:sp>
      <p:sp>
        <p:nvSpPr>
          <p:cNvPr id="14" name="Text 12"/>
          <p:cNvSpPr/>
          <p:nvPr/>
        </p:nvSpPr>
        <p:spPr>
          <a:xfrm>
            <a:off x="6995160" y="4329684"/>
            <a:ext cx="4297680" cy="441655"/>
          </a:xfrm>
          <a:prstGeom prst="rect">
            <a:avLst/>
          </a:prstGeom>
          <a:noFill/>
          <a:ln/>
        </p:spPr>
        <p:txBody>
          <a:bodyPr wrap="square" lIns="0" tIns="0" rIns="0" bIns="0" rtlCol="0" anchor="t"/>
          <a:lstStyle/>
          <a:p>
            <a:pPr indent="0" marL="0">
              <a:buNone/>
            </a:pPr>
            <a:r>
              <a:rPr lang="en-US" sz="1200" dirty="0">
                <a:solidFill>
                  <a:srgbClr val="585A64"/>
                </a:solidFill>
                <a:latin typeface="Palatino Linotype" pitchFamily="34" charset="0"/>
                <a:ea typeface="Palatino Linotype" pitchFamily="34" charset="-122"/>
                <a:cs typeface="Palatino Linotype" pitchFamily="34" charset="-120"/>
              </a:rPr>
              <a:t>glycémie à jeun, mg/dl</a:t>
            </a:r>
            <a:endParaRPr lang="en-US" sz="1200" dirty="0"/>
          </a:p>
        </p:txBody>
      </p:sp>
      <p:sp>
        <p:nvSpPr>
          <p:cNvPr id="15" name="Shape 13"/>
          <p:cNvSpPr/>
          <p:nvPr/>
        </p:nvSpPr>
        <p:spPr>
          <a:xfrm>
            <a:off x="594360" y="5029200"/>
            <a:ext cx="10972800" cy="868680"/>
          </a:xfrm>
          <a:prstGeom prst="roundRect">
            <a:avLst>
              <a:gd name="adj" fmla="val 9474"/>
            </a:avLst>
          </a:prstGeom>
          <a:solidFill>
            <a:srgbClr val="11121A"/>
          </a:solidFill>
          <a:ln w="12700">
            <a:solidFill>
              <a:srgbClr val="11121A"/>
            </a:solidFill>
            <a:prstDash val="solid"/>
          </a:ln>
        </p:spPr>
      </p:sp>
      <p:sp>
        <p:nvSpPr>
          <p:cNvPr id="16" name="Text 14"/>
          <p:cNvSpPr/>
          <p:nvPr/>
        </p:nvSpPr>
        <p:spPr>
          <a:xfrm>
            <a:off x="868680" y="5029200"/>
            <a:ext cx="10424160" cy="868680"/>
          </a:xfrm>
          <a:prstGeom prst="rect">
            <a:avLst/>
          </a:prstGeom>
          <a:noFill/>
          <a:ln/>
        </p:spPr>
        <p:txBody>
          <a:bodyPr wrap="square" lIns="0" tIns="0" rIns="0" bIns="0" rtlCol="0" anchor="ctr"/>
          <a:lstStyle/>
          <a:p>
            <a:pPr indent="0" marL="0">
              <a:buNone/>
            </a:pPr>
            <a:r>
              <a:rPr lang="en-US" sz="2000" b="1" dirty="0">
                <a:solidFill>
                  <a:srgbClr val="FFFFFF"/>
                </a:solidFill>
                <a:latin typeface="Palatino Linotype" pitchFamily="34" charset="0"/>
                <a:ea typeface="Palatino Linotype" pitchFamily="34" charset="-122"/>
                <a:cs typeface="Palatino Linotype" pitchFamily="34" charset="-120"/>
              </a:rPr>
              <a:t>Lesquels de ses problèmes sont modifiables, et qui peut les modifier ?</a:t>
            </a:r>
            <a:endParaRPr lang="en-US" sz="2000" dirty="0"/>
          </a:p>
        </p:txBody>
      </p:sp>
      <p:sp>
        <p:nvSpPr>
          <p:cNvPr id="17" name="Text 15"/>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Valeurs hypothétiques ; le cas ne décrit pas un patient réel.</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229600" y="292608"/>
            <a:ext cx="333756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229600" y="292608"/>
            <a:ext cx="333756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NUAGE DE MOTS</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AVANT TOUT CHIFFRE</a:t>
            </a:r>
            <a:endParaRPr lang="en-US" sz="1300" dirty="0"/>
          </a:p>
        </p:txBody>
      </p:sp>
      <p:sp>
        <p:nvSpPr>
          <p:cNvPr id="5" name="Text 3"/>
          <p:cNvSpPr/>
          <p:nvPr/>
        </p:nvSpPr>
        <p:spPr>
          <a:xfrm>
            <a:off x="594360" y="713232"/>
            <a:ext cx="7589520" cy="100584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Si vous dirigiez le ministère de la Santé</a:t>
            </a:r>
            <a:endParaRPr lang="en-US" sz="3400" dirty="0"/>
          </a:p>
        </p:txBody>
      </p:sp>
      <p:sp>
        <p:nvSpPr>
          <p:cNvPr id="6" name="Shape 4"/>
          <p:cNvSpPr/>
          <p:nvPr/>
        </p:nvSpPr>
        <p:spPr>
          <a:xfrm>
            <a:off x="594360" y="1920240"/>
            <a:ext cx="10972800" cy="2194560"/>
          </a:xfrm>
          <a:prstGeom prst="roundRect">
            <a:avLst>
              <a:gd name="adj" fmla="val 3750"/>
            </a:avLst>
          </a:prstGeom>
          <a:solidFill>
            <a:srgbClr val="1D1F2B"/>
          </a:solidFill>
          <a:ln w="12700">
            <a:solidFill>
              <a:srgbClr val="1D1F2B"/>
            </a:solidFill>
            <a:prstDash val="solid"/>
          </a:ln>
        </p:spPr>
      </p:sp>
      <p:sp>
        <p:nvSpPr>
          <p:cNvPr id="7" name="Text 5"/>
          <p:cNvSpPr/>
          <p:nvPr/>
        </p:nvSpPr>
        <p:spPr>
          <a:xfrm>
            <a:off x="914400" y="1920240"/>
            <a:ext cx="10332720" cy="2194560"/>
          </a:xfrm>
          <a:prstGeom prst="rect">
            <a:avLst/>
          </a:prstGeom>
          <a:noFill/>
          <a:ln/>
        </p:spPr>
        <p:txBody>
          <a:bodyPr wrap="square" lIns="0" tIns="0" rIns="0" bIns="0" rtlCol="0" anchor="ctr"/>
          <a:lstStyle/>
          <a:p>
            <a:pPr indent="0" marL="0">
              <a:buNone/>
            </a:pPr>
            <a:r>
              <a:rPr lang="en-US" sz="2600" dirty="0">
                <a:solidFill>
                  <a:srgbClr val="FFFFFF"/>
                </a:solidFill>
                <a:latin typeface="Palatino Linotype" pitchFamily="34" charset="0"/>
                <a:ea typeface="Palatino Linotype" pitchFamily="34" charset="-122"/>
                <a:cs typeface="Palatino Linotype" pitchFamily="34" charset="-120"/>
              </a:rPr>
              <a:t>Quelle serait la seule mesure que vous prendriez pour réduire les décès prématurés dus aux maladies chroniques ?</a:t>
            </a:r>
            <a:endParaRPr lang="en-US" sz="2600" dirty="0"/>
          </a:p>
        </p:txBody>
      </p:sp>
      <p:sp>
        <p:nvSpPr>
          <p:cNvPr id="8" name="Text 6"/>
          <p:cNvSpPr/>
          <p:nvPr/>
        </p:nvSpPr>
        <p:spPr>
          <a:xfrm>
            <a:off x="594360" y="4434840"/>
            <a:ext cx="10972800" cy="457200"/>
          </a:xfrm>
          <a:prstGeom prst="rect">
            <a:avLst/>
          </a:prstGeom>
          <a:noFill/>
          <a:ln/>
        </p:spPr>
        <p:txBody>
          <a:bodyPr wrap="square" lIns="0" tIns="0" rIns="0" bIns="0" rtlCol="0" anchor="t"/>
          <a:lstStyle/>
          <a:p>
            <a:pPr indent="0" marL="0">
              <a:buNone/>
            </a:pPr>
            <a:r>
              <a:rPr lang="en-US" sz="2000" dirty="0">
                <a:solidFill>
                  <a:srgbClr val="959BB0"/>
                </a:solidFill>
                <a:latin typeface="Palatino Linotype" pitchFamily="34" charset="0"/>
                <a:ea typeface="Palatino Linotype" pitchFamily="34" charset="-122"/>
                <a:cs typeface="Palatino Linotype" pitchFamily="34" charset="-120"/>
              </a:rPr>
              <a:t>Un à trois mots.</a:t>
            </a:r>
            <a:endParaRPr lang="en-US" sz="2000" dirty="0"/>
          </a:p>
        </p:txBody>
      </p:sp>
      <p:sp>
        <p:nvSpPr>
          <p:cNvPr id="9" name="Text 7"/>
          <p:cNvSpPr/>
          <p:nvPr/>
        </p:nvSpPr>
        <p:spPr>
          <a:xfrm>
            <a:off x="594360" y="4983480"/>
            <a:ext cx="10972800" cy="548640"/>
          </a:xfrm>
          <a:prstGeom prst="rect">
            <a:avLst/>
          </a:prstGeom>
          <a:noFill/>
          <a:ln/>
        </p:spPr>
        <p:txBody>
          <a:bodyPr wrap="square" lIns="0" tIns="0" rIns="0" bIns="0" rtlCol="0" anchor="t"/>
          <a:lstStyle/>
          <a:p>
            <a:pPr indent="0" marL="0">
              <a:buNone/>
            </a:pPr>
            <a:r>
              <a:rPr lang="en-US" sz="2200" b="1" dirty="0">
                <a:solidFill>
                  <a:srgbClr val="FFC24B"/>
                </a:solidFill>
                <a:latin typeface="Palatino Linotype" pitchFamily="34" charset="0"/>
                <a:ea typeface="Palatino Linotype" pitchFamily="34" charset="-122"/>
                <a:cs typeface="Palatino Linotype" pitchFamily="34" charset="-120"/>
              </a:rPr>
              <a:t>Répondez sur votre téléphone, au code affiché.</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DU CAS À LA DÉFINITION</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Qu’est-ce qu’une maladie non transmissible</a:t>
            </a:r>
            <a:endParaRPr lang="en-US" sz="3200" dirty="0"/>
          </a:p>
        </p:txBody>
      </p:sp>
      <p:sp>
        <p:nvSpPr>
          <p:cNvPr id="4" name="Text 2"/>
          <p:cNvSpPr/>
          <p:nvPr/>
        </p:nvSpPr>
        <p:spPr>
          <a:xfrm>
            <a:off x="594360" y="1554480"/>
            <a:ext cx="10972800" cy="91440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Maladie de longue durée, qui ne se transmet pas d’une personne à l’autre, produite par des facteurs génétiques, physiologiques, environnementaux et comportementaux.</a:t>
            </a:r>
            <a:endParaRPr lang="en-US" sz="1900" dirty="0"/>
          </a:p>
        </p:txBody>
      </p:sp>
      <p:sp>
        <p:nvSpPr>
          <p:cNvPr id="5" name="Shape 3"/>
          <p:cNvSpPr/>
          <p:nvPr/>
        </p:nvSpPr>
        <p:spPr>
          <a:xfrm>
            <a:off x="594360" y="2697480"/>
            <a:ext cx="2606040" cy="868680"/>
          </a:xfrm>
          <a:prstGeom prst="roundRect">
            <a:avLst>
              <a:gd name="adj" fmla="val 9474"/>
            </a:avLst>
          </a:prstGeom>
          <a:solidFill>
            <a:srgbClr val="B02532"/>
          </a:solidFill>
          <a:ln w="12700">
            <a:solidFill>
              <a:srgbClr val="B02532"/>
            </a:solidFill>
            <a:prstDash val="solid"/>
          </a:ln>
        </p:spPr>
      </p:sp>
      <p:sp>
        <p:nvSpPr>
          <p:cNvPr id="6" name="Text 4"/>
          <p:cNvSpPr/>
          <p:nvPr/>
        </p:nvSpPr>
        <p:spPr>
          <a:xfrm>
            <a:off x="731520" y="2697480"/>
            <a:ext cx="2331720" cy="86868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Maladies cardiovasculaires</a:t>
            </a:r>
            <a:endParaRPr lang="en-US" sz="1700" dirty="0"/>
          </a:p>
        </p:txBody>
      </p:sp>
      <p:sp>
        <p:nvSpPr>
          <p:cNvPr id="7" name="Shape 5"/>
          <p:cNvSpPr/>
          <p:nvPr/>
        </p:nvSpPr>
        <p:spPr>
          <a:xfrm>
            <a:off x="3383280" y="2697480"/>
            <a:ext cx="2606040" cy="868680"/>
          </a:xfrm>
          <a:prstGeom prst="roundRect">
            <a:avLst>
              <a:gd name="adj" fmla="val 9474"/>
            </a:avLst>
          </a:prstGeom>
          <a:solidFill>
            <a:srgbClr val="4A2D8C"/>
          </a:solidFill>
          <a:ln w="12700">
            <a:solidFill>
              <a:srgbClr val="4A2D8C"/>
            </a:solidFill>
            <a:prstDash val="solid"/>
          </a:ln>
        </p:spPr>
      </p:sp>
      <p:sp>
        <p:nvSpPr>
          <p:cNvPr id="8" name="Text 6"/>
          <p:cNvSpPr/>
          <p:nvPr/>
        </p:nvSpPr>
        <p:spPr>
          <a:xfrm>
            <a:off x="3520440" y="2697480"/>
            <a:ext cx="2331720" cy="86868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Cancers</a:t>
            </a:r>
            <a:endParaRPr lang="en-US" sz="1700" dirty="0"/>
          </a:p>
        </p:txBody>
      </p:sp>
      <p:sp>
        <p:nvSpPr>
          <p:cNvPr id="9" name="Shape 7"/>
          <p:cNvSpPr/>
          <p:nvPr/>
        </p:nvSpPr>
        <p:spPr>
          <a:xfrm>
            <a:off x="6172200" y="2697480"/>
            <a:ext cx="2606040" cy="868680"/>
          </a:xfrm>
          <a:prstGeom prst="roundRect">
            <a:avLst>
              <a:gd name="adj" fmla="val 9474"/>
            </a:avLst>
          </a:prstGeom>
          <a:solidFill>
            <a:srgbClr val="0E7C6B"/>
          </a:solidFill>
          <a:ln w="12700">
            <a:solidFill>
              <a:srgbClr val="0E7C6B"/>
            </a:solidFill>
            <a:prstDash val="solid"/>
          </a:ln>
        </p:spPr>
      </p:sp>
      <p:sp>
        <p:nvSpPr>
          <p:cNvPr id="10" name="Text 8"/>
          <p:cNvSpPr/>
          <p:nvPr/>
        </p:nvSpPr>
        <p:spPr>
          <a:xfrm>
            <a:off x="6309360" y="2697480"/>
            <a:ext cx="2331720" cy="86868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Maladies respiratoires chroniques</a:t>
            </a:r>
            <a:endParaRPr lang="en-US" sz="1700" dirty="0"/>
          </a:p>
        </p:txBody>
      </p:sp>
      <p:sp>
        <p:nvSpPr>
          <p:cNvPr id="11" name="Shape 9"/>
          <p:cNvSpPr/>
          <p:nvPr/>
        </p:nvSpPr>
        <p:spPr>
          <a:xfrm>
            <a:off x="8961120" y="2697480"/>
            <a:ext cx="2606040" cy="868680"/>
          </a:xfrm>
          <a:prstGeom prst="roundRect">
            <a:avLst>
              <a:gd name="adj" fmla="val 9474"/>
            </a:avLst>
          </a:prstGeom>
          <a:solidFill>
            <a:srgbClr val="9C4A0A"/>
          </a:solidFill>
          <a:ln w="12700">
            <a:solidFill>
              <a:srgbClr val="9C4A0A"/>
            </a:solidFill>
            <a:prstDash val="solid"/>
          </a:ln>
        </p:spPr>
      </p:sp>
      <p:sp>
        <p:nvSpPr>
          <p:cNvPr id="12" name="Text 10"/>
          <p:cNvSpPr/>
          <p:nvPr/>
        </p:nvSpPr>
        <p:spPr>
          <a:xfrm>
            <a:off x="9098280" y="2697480"/>
            <a:ext cx="2331720" cy="86868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Diabète</a:t>
            </a:r>
            <a:endParaRPr lang="en-US" sz="1700" dirty="0"/>
          </a:p>
        </p:txBody>
      </p:sp>
      <p:sp>
        <p:nvSpPr>
          <p:cNvPr id="13" name="Shape 11"/>
          <p:cNvSpPr/>
          <p:nvPr/>
        </p:nvSpPr>
        <p:spPr>
          <a:xfrm>
            <a:off x="594360" y="3840480"/>
            <a:ext cx="3520440" cy="1600200"/>
          </a:xfrm>
          <a:prstGeom prst="roundRect">
            <a:avLst>
              <a:gd name="adj" fmla="val 5143"/>
            </a:avLst>
          </a:prstGeom>
          <a:solidFill>
            <a:srgbClr val="ECEAE4"/>
          </a:solidFill>
          <a:ln w="12700">
            <a:solidFill>
              <a:srgbClr val="ECEAE4"/>
            </a:solidFill>
            <a:prstDash val="solid"/>
          </a:ln>
        </p:spPr>
      </p:sp>
      <p:sp>
        <p:nvSpPr>
          <p:cNvPr id="14" name="Text 12"/>
          <p:cNvSpPr/>
          <p:nvPr/>
        </p:nvSpPr>
        <p:spPr>
          <a:xfrm>
            <a:off x="822960" y="3931920"/>
            <a:ext cx="3108960" cy="457200"/>
          </a:xfrm>
          <a:prstGeom prst="rect">
            <a:avLst/>
          </a:prstGeom>
          <a:noFill/>
          <a:ln/>
        </p:spPr>
        <p:txBody>
          <a:bodyPr wrap="square" lIns="0" tIns="0" rIns="0" bIns="0" rtlCol="0" anchor="t"/>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Des années d’exposition</a:t>
            </a:r>
            <a:endParaRPr lang="en-US" sz="1700" dirty="0"/>
          </a:p>
        </p:txBody>
      </p:sp>
      <p:sp>
        <p:nvSpPr>
          <p:cNvPr id="15" name="Text 13"/>
          <p:cNvSpPr/>
          <p:nvPr/>
        </p:nvSpPr>
        <p:spPr>
          <a:xfrm>
            <a:off x="822960" y="4434840"/>
            <a:ext cx="3108960" cy="91440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du temps pour intervenir</a:t>
            </a:r>
            <a:endParaRPr lang="en-US" sz="1600" dirty="0"/>
          </a:p>
        </p:txBody>
      </p:sp>
      <p:sp>
        <p:nvSpPr>
          <p:cNvPr id="16" name="Shape 14"/>
          <p:cNvSpPr/>
          <p:nvPr/>
        </p:nvSpPr>
        <p:spPr>
          <a:xfrm>
            <a:off x="4343400" y="3840480"/>
            <a:ext cx="3520440" cy="1600200"/>
          </a:xfrm>
          <a:prstGeom prst="roundRect">
            <a:avLst>
              <a:gd name="adj" fmla="val 5143"/>
            </a:avLst>
          </a:prstGeom>
          <a:solidFill>
            <a:srgbClr val="ECEAE4"/>
          </a:solidFill>
          <a:ln w="12700">
            <a:solidFill>
              <a:srgbClr val="ECEAE4"/>
            </a:solidFill>
            <a:prstDash val="solid"/>
          </a:ln>
        </p:spPr>
      </p:sp>
      <p:sp>
        <p:nvSpPr>
          <p:cNvPr id="17" name="Text 15"/>
          <p:cNvSpPr/>
          <p:nvPr/>
        </p:nvSpPr>
        <p:spPr>
          <a:xfrm>
            <a:off x="4572000" y="3931920"/>
            <a:ext cx="3108960" cy="457200"/>
          </a:xfrm>
          <a:prstGeom prst="rect">
            <a:avLst/>
          </a:prstGeom>
          <a:noFill/>
          <a:ln/>
        </p:spPr>
        <p:txBody>
          <a:bodyPr wrap="square" lIns="0" tIns="0" rIns="0" bIns="0" rtlCol="0" anchor="t"/>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Plusieurs causes</a:t>
            </a:r>
            <a:endParaRPr lang="en-US" sz="1700" dirty="0"/>
          </a:p>
        </p:txBody>
      </p:sp>
      <p:sp>
        <p:nvSpPr>
          <p:cNvPr id="18" name="Text 16"/>
          <p:cNvSpPr/>
          <p:nvPr/>
        </p:nvSpPr>
        <p:spPr>
          <a:xfrm>
            <a:off x="4572000" y="4434840"/>
            <a:ext cx="3108960" cy="91440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donc plusieurs mesures</a:t>
            </a:r>
            <a:endParaRPr lang="en-US" sz="1600" dirty="0"/>
          </a:p>
        </p:txBody>
      </p:sp>
      <p:sp>
        <p:nvSpPr>
          <p:cNvPr id="19" name="Shape 17"/>
          <p:cNvSpPr/>
          <p:nvPr/>
        </p:nvSpPr>
        <p:spPr>
          <a:xfrm>
            <a:off x="8092440" y="3840480"/>
            <a:ext cx="3520440" cy="1600200"/>
          </a:xfrm>
          <a:prstGeom prst="roundRect">
            <a:avLst>
              <a:gd name="adj" fmla="val 5143"/>
            </a:avLst>
          </a:prstGeom>
          <a:solidFill>
            <a:srgbClr val="ECEAE4"/>
          </a:solidFill>
          <a:ln w="12700">
            <a:solidFill>
              <a:srgbClr val="ECEAE4"/>
            </a:solidFill>
            <a:prstDash val="solid"/>
          </a:ln>
        </p:spPr>
      </p:sp>
      <p:sp>
        <p:nvSpPr>
          <p:cNvPr id="20" name="Text 18"/>
          <p:cNvSpPr/>
          <p:nvPr/>
        </p:nvSpPr>
        <p:spPr>
          <a:xfrm>
            <a:off x="8321040" y="3931920"/>
            <a:ext cx="3108960" cy="457200"/>
          </a:xfrm>
          <a:prstGeom prst="rect">
            <a:avLst/>
          </a:prstGeom>
          <a:noFill/>
          <a:ln/>
        </p:spPr>
        <p:txBody>
          <a:bodyPr wrap="square" lIns="0" tIns="0" rIns="0" bIns="0" rtlCol="0" anchor="t"/>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Certains facteurs sont fixes</a:t>
            </a:r>
            <a:endParaRPr lang="en-US" sz="1700" dirty="0"/>
          </a:p>
        </p:txBody>
      </p:sp>
      <p:sp>
        <p:nvSpPr>
          <p:cNvPr id="21" name="Text 19"/>
          <p:cNvSpPr/>
          <p:nvPr/>
        </p:nvSpPr>
        <p:spPr>
          <a:xfrm>
            <a:off x="8321040" y="4434840"/>
            <a:ext cx="3108960" cy="91440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d’autres oui : le cours s’en occupe</a:t>
            </a:r>
            <a:endParaRPr lang="en-US" sz="1600" dirty="0"/>
          </a:p>
        </p:txBody>
      </p:sp>
      <p:sp>
        <p:nvSpPr>
          <p:cNvPr id="22" name="Text 20"/>
          <p:cNvSpPr/>
          <p:nvPr/>
        </p:nvSpPr>
        <p:spPr>
          <a:xfrm>
            <a:off x="594360" y="5669280"/>
            <a:ext cx="10972800" cy="411480"/>
          </a:xfrm>
          <a:prstGeom prst="rect">
            <a:avLst/>
          </a:prstGeom>
          <a:noFill/>
          <a:ln/>
        </p:spPr>
        <p:txBody>
          <a:bodyPr wrap="square" lIns="0" tIns="0" rIns="0" bIns="0" rtlCol="0" anchor="t"/>
          <a:lstStyle/>
          <a:p>
            <a:pPr indent="0" marL="0">
              <a:buNone/>
            </a:pPr>
            <a:r>
              <a:rPr lang="en-US" sz="1400" i="1" dirty="0">
                <a:solidFill>
                  <a:srgbClr val="585A64"/>
                </a:solidFill>
                <a:latin typeface="Palatino Linotype" pitchFamily="34" charset="0"/>
                <a:ea typeface="Palatino Linotype" pitchFamily="34" charset="-122"/>
                <a:cs typeface="Palatino Linotype" pitchFamily="34" charset="-120"/>
              </a:rPr>
              <a:t>La fiche de la discipline ajoute la santé mentale (« 4+1 »).</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LES FACTEURS DE RISQUE D’ION</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Deux familles de facteurs de risque</a:t>
            </a:r>
            <a:endParaRPr lang="en-US" sz="3200" dirty="0"/>
          </a:p>
        </p:txBody>
      </p:sp>
      <p:sp>
        <p:nvSpPr>
          <p:cNvPr id="4" name="Shape 2"/>
          <p:cNvSpPr/>
          <p:nvPr/>
        </p:nvSpPr>
        <p:spPr>
          <a:xfrm>
            <a:off x="594360" y="1691640"/>
            <a:ext cx="5029200" cy="3520440"/>
          </a:xfrm>
          <a:prstGeom prst="roundRect">
            <a:avLst>
              <a:gd name="adj" fmla="val 2338"/>
            </a:avLst>
          </a:prstGeom>
          <a:solidFill>
            <a:srgbClr val="1D1F2B"/>
          </a:solidFill>
          <a:ln w="12700">
            <a:solidFill>
              <a:srgbClr val="1D1F2B"/>
            </a:solidFill>
            <a:prstDash val="solid"/>
          </a:ln>
        </p:spPr>
      </p:sp>
      <p:sp>
        <p:nvSpPr>
          <p:cNvPr id="5" name="Text 3"/>
          <p:cNvSpPr/>
          <p:nvPr/>
        </p:nvSpPr>
        <p:spPr>
          <a:xfrm>
            <a:off x="868680" y="1810512"/>
            <a:ext cx="4572000" cy="365760"/>
          </a:xfrm>
          <a:prstGeom prst="rect">
            <a:avLst/>
          </a:prstGeom>
          <a:noFill/>
          <a:ln/>
        </p:spPr>
        <p:txBody>
          <a:bodyPr wrap="square" lIns="0" tIns="0" rIns="0" bIns="0" rtlCol="0" anchor="t"/>
          <a:lstStyle/>
          <a:p>
            <a:pPr indent="0" marL="0">
              <a:buNone/>
            </a:pPr>
            <a:r>
              <a:rPr lang="en-US" sz="1400" b="1" spc="200" kern="0" dirty="0">
                <a:solidFill>
                  <a:srgbClr val="FF4757"/>
                </a:solidFill>
                <a:latin typeface="Palatino Linotype" pitchFamily="34" charset="0"/>
                <a:ea typeface="Palatino Linotype" pitchFamily="34" charset="-122"/>
                <a:cs typeface="Palatino Linotype" pitchFamily="34" charset="-120"/>
              </a:rPr>
              <a:t>COMPORTEMENTAUX</a:t>
            </a:r>
            <a:endParaRPr lang="en-US" sz="1400" dirty="0"/>
          </a:p>
        </p:txBody>
      </p:sp>
      <p:sp>
        <p:nvSpPr>
          <p:cNvPr id="6" name="Shape 4"/>
          <p:cNvSpPr/>
          <p:nvPr/>
        </p:nvSpPr>
        <p:spPr>
          <a:xfrm>
            <a:off x="914400" y="2450592"/>
            <a:ext cx="146304" cy="146304"/>
          </a:xfrm>
          <a:prstGeom prst="ellipse">
            <a:avLst/>
          </a:prstGeom>
          <a:solidFill>
            <a:srgbClr val="FF4757"/>
          </a:solidFill>
          <a:ln/>
        </p:spPr>
      </p:sp>
      <p:sp>
        <p:nvSpPr>
          <p:cNvPr id="7" name="Text 5"/>
          <p:cNvSpPr/>
          <p:nvPr/>
        </p:nvSpPr>
        <p:spPr>
          <a:xfrm>
            <a:off x="1188720" y="2286000"/>
            <a:ext cx="4297680" cy="50292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le tabac, y compris la fumée des autres</a:t>
            </a:r>
            <a:endParaRPr lang="en-US" sz="1800" dirty="0"/>
          </a:p>
        </p:txBody>
      </p:sp>
      <p:sp>
        <p:nvSpPr>
          <p:cNvPr id="8" name="Shape 6"/>
          <p:cNvSpPr/>
          <p:nvPr/>
        </p:nvSpPr>
        <p:spPr>
          <a:xfrm>
            <a:off x="914400" y="3136392"/>
            <a:ext cx="146304" cy="146304"/>
          </a:xfrm>
          <a:prstGeom prst="ellipse">
            <a:avLst/>
          </a:prstGeom>
          <a:solidFill>
            <a:srgbClr val="FF4757"/>
          </a:solidFill>
          <a:ln/>
        </p:spPr>
      </p:sp>
      <p:sp>
        <p:nvSpPr>
          <p:cNvPr id="9" name="Text 7"/>
          <p:cNvSpPr/>
          <p:nvPr/>
        </p:nvSpPr>
        <p:spPr>
          <a:xfrm>
            <a:off x="1188720" y="2971800"/>
            <a:ext cx="4297680" cy="50292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alimentation déséquilibrée : sel, sucre, graisses</a:t>
            </a:r>
            <a:endParaRPr lang="en-US" sz="1800" dirty="0"/>
          </a:p>
        </p:txBody>
      </p:sp>
      <p:sp>
        <p:nvSpPr>
          <p:cNvPr id="10" name="Shape 8"/>
          <p:cNvSpPr/>
          <p:nvPr/>
        </p:nvSpPr>
        <p:spPr>
          <a:xfrm>
            <a:off x="914400" y="3822192"/>
            <a:ext cx="146304" cy="146304"/>
          </a:xfrm>
          <a:prstGeom prst="ellipse">
            <a:avLst/>
          </a:prstGeom>
          <a:solidFill>
            <a:srgbClr val="FF4757"/>
          </a:solidFill>
          <a:ln/>
        </p:spPr>
      </p:sp>
      <p:sp>
        <p:nvSpPr>
          <p:cNvPr id="11" name="Text 9"/>
          <p:cNvSpPr/>
          <p:nvPr/>
        </p:nvSpPr>
        <p:spPr>
          <a:xfrm>
            <a:off x="1188720" y="3657600"/>
            <a:ext cx="4297680" cy="50292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usage nocif de l’alcool</a:t>
            </a:r>
            <a:endParaRPr lang="en-US" sz="1800" dirty="0"/>
          </a:p>
        </p:txBody>
      </p:sp>
      <p:sp>
        <p:nvSpPr>
          <p:cNvPr id="12" name="Shape 10"/>
          <p:cNvSpPr/>
          <p:nvPr/>
        </p:nvSpPr>
        <p:spPr>
          <a:xfrm>
            <a:off x="914400" y="4507992"/>
            <a:ext cx="146304" cy="146304"/>
          </a:xfrm>
          <a:prstGeom prst="ellipse">
            <a:avLst/>
          </a:prstGeom>
          <a:solidFill>
            <a:srgbClr val="FF4757"/>
          </a:solidFill>
          <a:ln/>
        </p:spPr>
      </p:sp>
      <p:sp>
        <p:nvSpPr>
          <p:cNvPr id="13" name="Text 11"/>
          <p:cNvSpPr/>
          <p:nvPr/>
        </p:nvSpPr>
        <p:spPr>
          <a:xfrm>
            <a:off x="1188720" y="4343400"/>
            <a:ext cx="4297680" cy="50292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activité physique insuffisante</a:t>
            </a:r>
            <a:endParaRPr lang="en-US" sz="1800" dirty="0"/>
          </a:p>
        </p:txBody>
      </p:sp>
      <p:sp>
        <p:nvSpPr>
          <p:cNvPr id="14" name="Shape 12"/>
          <p:cNvSpPr/>
          <p:nvPr/>
        </p:nvSpPr>
        <p:spPr>
          <a:xfrm>
            <a:off x="6537960" y="1691640"/>
            <a:ext cx="5029200" cy="3520440"/>
          </a:xfrm>
          <a:prstGeom prst="roundRect">
            <a:avLst>
              <a:gd name="adj" fmla="val 2338"/>
            </a:avLst>
          </a:prstGeom>
          <a:solidFill>
            <a:srgbClr val="1D1F2B"/>
          </a:solidFill>
          <a:ln w="12700">
            <a:solidFill>
              <a:srgbClr val="1D1F2B"/>
            </a:solidFill>
            <a:prstDash val="solid"/>
          </a:ln>
        </p:spPr>
      </p:sp>
      <p:sp>
        <p:nvSpPr>
          <p:cNvPr id="15" name="Text 13"/>
          <p:cNvSpPr/>
          <p:nvPr/>
        </p:nvSpPr>
        <p:spPr>
          <a:xfrm>
            <a:off x="6812280" y="1810512"/>
            <a:ext cx="4572000" cy="365760"/>
          </a:xfrm>
          <a:prstGeom prst="rect">
            <a:avLst/>
          </a:prstGeom>
          <a:noFill/>
          <a:ln/>
        </p:spPr>
        <p:txBody>
          <a:bodyPr wrap="square" lIns="0" tIns="0" rIns="0" bIns="0" rtlCol="0" anchor="t"/>
          <a:lstStyle/>
          <a:p>
            <a:pPr indent="0" marL="0">
              <a:buNone/>
            </a:pPr>
            <a:r>
              <a:rPr lang="en-US" sz="1400" b="1" spc="200" kern="0" dirty="0">
                <a:solidFill>
                  <a:srgbClr val="27D3BE"/>
                </a:solidFill>
                <a:latin typeface="Palatino Linotype" pitchFamily="34" charset="0"/>
                <a:ea typeface="Palatino Linotype" pitchFamily="34" charset="-122"/>
                <a:cs typeface="Palatino Linotype" pitchFamily="34" charset="-120"/>
              </a:rPr>
              <a:t>MÉTABOLIQUES</a:t>
            </a:r>
            <a:endParaRPr lang="en-US" sz="1400" dirty="0"/>
          </a:p>
        </p:txBody>
      </p:sp>
      <p:sp>
        <p:nvSpPr>
          <p:cNvPr id="16" name="Shape 14"/>
          <p:cNvSpPr/>
          <p:nvPr/>
        </p:nvSpPr>
        <p:spPr>
          <a:xfrm>
            <a:off x="6858000" y="2450592"/>
            <a:ext cx="146304" cy="146304"/>
          </a:xfrm>
          <a:prstGeom prst="ellipse">
            <a:avLst/>
          </a:prstGeom>
          <a:solidFill>
            <a:srgbClr val="27D3BE"/>
          </a:solidFill>
          <a:ln/>
        </p:spPr>
      </p:sp>
      <p:sp>
        <p:nvSpPr>
          <p:cNvPr id="17" name="Text 15"/>
          <p:cNvSpPr/>
          <p:nvPr/>
        </p:nvSpPr>
        <p:spPr>
          <a:xfrm>
            <a:off x="7132320" y="2286000"/>
            <a:ext cx="4297680" cy="50292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tension artérielle élevée</a:t>
            </a:r>
            <a:endParaRPr lang="en-US" sz="1800" dirty="0"/>
          </a:p>
        </p:txBody>
      </p:sp>
      <p:sp>
        <p:nvSpPr>
          <p:cNvPr id="18" name="Shape 16"/>
          <p:cNvSpPr/>
          <p:nvPr/>
        </p:nvSpPr>
        <p:spPr>
          <a:xfrm>
            <a:off x="6858000" y="3136392"/>
            <a:ext cx="146304" cy="146304"/>
          </a:xfrm>
          <a:prstGeom prst="ellipse">
            <a:avLst/>
          </a:prstGeom>
          <a:solidFill>
            <a:srgbClr val="27D3BE"/>
          </a:solidFill>
          <a:ln/>
        </p:spPr>
      </p:sp>
      <p:sp>
        <p:nvSpPr>
          <p:cNvPr id="19" name="Text 17"/>
          <p:cNvSpPr/>
          <p:nvPr/>
        </p:nvSpPr>
        <p:spPr>
          <a:xfrm>
            <a:off x="7132320" y="2971800"/>
            <a:ext cx="4297680" cy="50292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glycémie élevée</a:t>
            </a:r>
            <a:endParaRPr lang="en-US" sz="1800" dirty="0"/>
          </a:p>
        </p:txBody>
      </p:sp>
      <p:sp>
        <p:nvSpPr>
          <p:cNvPr id="20" name="Shape 18"/>
          <p:cNvSpPr/>
          <p:nvPr/>
        </p:nvSpPr>
        <p:spPr>
          <a:xfrm>
            <a:off x="6858000" y="3822192"/>
            <a:ext cx="146304" cy="146304"/>
          </a:xfrm>
          <a:prstGeom prst="ellipse">
            <a:avLst/>
          </a:prstGeom>
          <a:solidFill>
            <a:srgbClr val="27D3BE"/>
          </a:solidFill>
          <a:ln/>
        </p:spPr>
      </p:sp>
      <p:sp>
        <p:nvSpPr>
          <p:cNvPr id="21" name="Text 19"/>
          <p:cNvSpPr/>
          <p:nvPr/>
        </p:nvSpPr>
        <p:spPr>
          <a:xfrm>
            <a:off x="7132320" y="3657600"/>
            <a:ext cx="4297680" cy="50292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lipides sanguins élevés</a:t>
            </a:r>
            <a:endParaRPr lang="en-US" sz="1800" dirty="0"/>
          </a:p>
        </p:txBody>
      </p:sp>
      <p:sp>
        <p:nvSpPr>
          <p:cNvPr id="22" name="Shape 20"/>
          <p:cNvSpPr/>
          <p:nvPr/>
        </p:nvSpPr>
        <p:spPr>
          <a:xfrm>
            <a:off x="6858000" y="4507992"/>
            <a:ext cx="146304" cy="146304"/>
          </a:xfrm>
          <a:prstGeom prst="ellipse">
            <a:avLst/>
          </a:prstGeom>
          <a:solidFill>
            <a:srgbClr val="27D3BE"/>
          </a:solidFill>
          <a:ln/>
        </p:spPr>
      </p:sp>
      <p:sp>
        <p:nvSpPr>
          <p:cNvPr id="23" name="Text 21"/>
          <p:cNvSpPr/>
          <p:nvPr/>
        </p:nvSpPr>
        <p:spPr>
          <a:xfrm>
            <a:off x="7132320" y="4343400"/>
            <a:ext cx="4297680" cy="50292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obésité</a:t>
            </a:r>
            <a:endParaRPr lang="en-US" sz="1800" dirty="0"/>
          </a:p>
        </p:txBody>
      </p:sp>
      <p:sp>
        <p:nvSpPr>
          <p:cNvPr id="24" name="Shape 22"/>
          <p:cNvSpPr/>
          <p:nvPr/>
        </p:nvSpPr>
        <p:spPr>
          <a:xfrm>
            <a:off x="5733288" y="3246120"/>
            <a:ext cx="685800" cy="329184"/>
          </a:xfrm>
          <a:prstGeom prst="rightArrow">
            <a:avLst/>
          </a:prstGeom>
          <a:solidFill>
            <a:srgbClr val="FFC24B"/>
          </a:solidFill>
          <a:ln w="12700">
            <a:solidFill>
              <a:srgbClr val="FFC24B"/>
            </a:solidFill>
            <a:prstDash val="solid"/>
          </a:ln>
        </p:spPr>
      </p:sp>
      <p:sp>
        <p:nvSpPr>
          <p:cNvPr id="25" name="Text 23"/>
          <p:cNvSpPr/>
          <p:nvPr/>
        </p:nvSpPr>
        <p:spPr>
          <a:xfrm>
            <a:off x="594360" y="5440680"/>
            <a:ext cx="10972800" cy="640080"/>
          </a:xfrm>
          <a:prstGeom prst="rect">
            <a:avLst/>
          </a:prstGeom>
          <a:noFill/>
          <a:ln/>
        </p:spPr>
        <p:txBody>
          <a:bodyPr wrap="square" lIns="0" tIns="0" rIns="0" bIns="0" rtlCol="0" anchor="t"/>
          <a:lstStyle/>
          <a:p>
            <a:pPr indent="0" marL="0">
              <a:buNone/>
            </a:pPr>
            <a:r>
              <a:rPr lang="en-US" sz="1800" b="1" dirty="0">
                <a:solidFill>
                  <a:srgbClr val="FFC24B"/>
                </a:solidFill>
                <a:latin typeface="Palatino Linotype" pitchFamily="34" charset="0"/>
                <a:ea typeface="Palatino Linotype" pitchFamily="34" charset="-122"/>
                <a:cs typeface="Palatino Linotype" pitchFamily="34" charset="-120"/>
              </a:rPr>
              <a:t>Ion a les quatre facteurs comportementaux et au moins trois métaboliques, qui agissent sur les mêmes vaisseaux sanguins.</a:t>
            </a:r>
            <a:endParaRPr lang="en-US" sz="1800" dirty="0"/>
          </a:p>
        </p:txBody>
      </p:sp>
      <p:sp>
        <p:nvSpPr>
          <p:cNvPr id="26" name="Text 24"/>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Source : Organisation mondiale de la Santé.</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229600" y="292608"/>
            <a:ext cx="333756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229600" y="292608"/>
            <a:ext cx="333756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BINÔMES · 3 MINUTES</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TRAVAIL EN BINÔMES</a:t>
            </a:r>
            <a:endParaRPr lang="en-US" sz="1300" dirty="0"/>
          </a:p>
        </p:txBody>
      </p:sp>
      <p:sp>
        <p:nvSpPr>
          <p:cNvPr id="5" name="Text 3"/>
          <p:cNvSpPr/>
          <p:nvPr/>
        </p:nvSpPr>
        <p:spPr>
          <a:xfrm>
            <a:off x="594360" y="713232"/>
            <a:ext cx="758952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Qui peut modifier chaque facteur ?</a:t>
            </a:r>
            <a:endParaRPr lang="en-US" sz="3200" dirty="0"/>
          </a:p>
        </p:txBody>
      </p:sp>
      <p:sp>
        <p:nvSpPr>
          <p:cNvPr id="6" name="Shape 4"/>
          <p:cNvSpPr/>
          <p:nvPr/>
        </p:nvSpPr>
        <p:spPr>
          <a:xfrm>
            <a:off x="594360" y="1783080"/>
            <a:ext cx="10972800" cy="1371600"/>
          </a:xfrm>
          <a:prstGeom prst="roundRect">
            <a:avLst>
              <a:gd name="adj" fmla="val 6000"/>
            </a:avLst>
          </a:prstGeom>
          <a:solidFill>
            <a:srgbClr val="1D1F2B"/>
          </a:solidFill>
          <a:ln w="12700">
            <a:solidFill>
              <a:srgbClr val="1D1F2B"/>
            </a:solidFill>
            <a:prstDash val="solid"/>
          </a:ln>
        </p:spPr>
      </p:sp>
      <p:sp>
        <p:nvSpPr>
          <p:cNvPr id="7" name="Text 5"/>
          <p:cNvSpPr/>
          <p:nvPr/>
        </p:nvSpPr>
        <p:spPr>
          <a:xfrm>
            <a:off x="914400" y="1783080"/>
            <a:ext cx="10332720" cy="1371600"/>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Notez tous les facteurs de risque modifiables d’Ion et, pour chacun, qui peut le modifier.</a:t>
            </a:r>
            <a:endParaRPr lang="en-US" sz="2200" dirty="0"/>
          </a:p>
        </p:txBody>
      </p:sp>
      <p:sp>
        <p:nvSpPr>
          <p:cNvPr id="8" name="Shape 6"/>
          <p:cNvSpPr/>
          <p:nvPr/>
        </p:nvSpPr>
        <p:spPr>
          <a:xfrm>
            <a:off x="594360" y="3429000"/>
            <a:ext cx="2606040" cy="914400"/>
          </a:xfrm>
          <a:prstGeom prst="roundRect">
            <a:avLst>
              <a:gd name="adj" fmla="val 9000"/>
            </a:avLst>
          </a:prstGeom>
          <a:solidFill>
            <a:srgbClr val="FF4757"/>
          </a:solidFill>
          <a:ln w="12700">
            <a:solidFill>
              <a:srgbClr val="FF4757"/>
            </a:solidFill>
            <a:prstDash val="solid"/>
          </a:ln>
        </p:spPr>
      </p:sp>
      <p:sp>
        <p:nvSpPr>
          <p:cNvPr id="9" name="Text 7"/>
          <p:cNvSpPr/>
          <p:nvPr/>
        </p:nvSpPr>
        <p:spPr>
          <a:xfrm>
            <a:off x="731520" y="3429000"/>
            <a:ext cx="2331720" cy="914400"/>
          </a:xfrm>
          <a:prstGeom prst="rect">
            <a:avLst/>
          </a:prstGeom>
          <a:noFill/>
          <a:ln/>
        </p:spPr>
        <p:txBody>
          <a:bodyPr wrap="square" lIns="0" tIns="0" rIns="0" bIns="0" rtlCol="0" anchor="ctr"/>
          <a:lstStyle/>
          <a:p>
            <a:pPr algn="ctr" indent="0" marL="0">
              <a:buNone/>
            </a:pPr>
            <a:r>
              <a:rPr lang="en-US" sz="2000" b="1" dirty="0">
                <a:solidFill>
                  <a:srgbClr val="2E060B"/>
                </a:solidFill>
                <a:latin typeface="Palatino Linotype" pitchFamily="34" charset="0"/>
                <a:ea typeface="Palatino Linotype" pitchFamily="34" charset="-122"/>
                <a:cs typeface="Palatino Linotype" pitchFamily="34" charset="-120"/>
              </a:rPr>
              <a:t>Ion</a:t>
            </a:r>
            <a:endParaRPr lang="en-US" sz="2000" dirty="0"/>
          </a:p>
        </p:txBody>
      </p:sp>
      <p:sp>
        <p:nvSpPr>
          <p:cNvPr id="10" name="Shape 8"/>
          <p:cNvSpPr/>
          <p:nvPr/>
        </p:nvSpPr>
        <p:spPr>
          <a:xfrm>
            <a:off x="3383280" y="3429000"/>
            <a:ext cx="2606040" cy="914400"/>
          </a:xfrm>
          <a:prstGeom prst="roundRect">
            <a:avLst>
              <a:gd name="adj" fmla="val 9000"/>
            </a:avLst>
          </a:prstGeom>
          <a:solidFill>
            <a:srgbClr val="27D3BE"/>
          </a:solidFill>
          <a:ln w="12700">
            <a:solidFill>
              <a:srgbClr val="27D3BE"/>
            </a:solidFill>
            <a:prstDash val="solid"/>
          </a:ln>
        </p:spPr>
      </p:sp>
      <p:sp>
        <p:nvSpPr>
          <p:cNvPr id="11" name="Text 9"/>
          <p:cNvSpPr/>
          <p:nvPr/>
        </p:nvSpPr>
        <p:spPr>
          <a:xfrm>
            <a:off x="3520440" y="3429000"/>
            <a:ext cx="2331720" cy="914400"/>
          </a:xfrm>
          <a:prstGeom prst="rect">
            <a:avLst/>
          </a:prstGeom>
          <a:noFill/>
          <a:ln/>
        </p:spPr>
        <p:txBody>
          <a:bodyPr wrap="square" lIns="0" tIns="0" rIns="0" bIns="0" rtlCol="0" anchor="ctr"/>
          <a:lstStyle/>
          <a:p>
            <a:pPr algn="ctr" indent="0" marL="0">
              <a:buNone/>
            </a:pPr>
            <a:r>
              <a:rPr lang="en-US" sz="2000" b="1" dirty="0">
                <a:solidFill>
                  <a:srgbClr val="073B34"/>
                </a:solidFill>
                <a:latin typeface="Palatino Linotype" pitchFamily="34" charset="0"/>
                <a:ea typeface="Palatino Linotype" pitchFamily="34" charset="-122"/>
                <a:cs typeface="Palatino Linotype" pitchFamily="34" charset="-120"/>
              </a:rPr>
              <a:t>le médecin de famille</a:t>
            </a:r>
            <a:endParaRPr lang="en-US" sz="2000" dirty="0"/>
          </a:p>
        </p:txBody>
      </p:sp>
      <p:sp>
        <p:nvSpPr>
          <p:cNvPr id="12" name="Shape 10"/>
          <p:cNvSpPr/>
          <p:nvPr/>
        </p:nvSpPr>
        <p:spPr>
          <a:xfrm>
            <a:off x="6172200" y="3429000"/>
            <a:ext cx="2606040" cy="914400"/>
          </a:xfrm>
          <a:prstGeom prst="roundRect">
            <a:avLst>
              <a:gd name="adj" fmla="val 9000"/>
            </a:avLst>
          </a:prstGeom>
          <a:solidFill>
            <a:srgbClr val="9B7EF7"/>
          </a:solidFill>
          <a:ln w="12700">
            <a:solidFill>
              <a:srgbClr val="9B7EF7"/>
            </a:solidFill>
            <a:prstDash val="solid"/>
          </a:ln>
        </p:spPr>
      </p:sp>
      <p:sp>
        <p:nvSpPr>
          <p:cNvPr id="13" name="Text 11"/>
          <p:cNvSpPr/>
          <p:nvPr/>
        </p:nvSpPr>
        <p:spPr>
          <a:xfrm>
            <a:off x="6309360" y="3429000"/>
            <a:ext cx="2331720" cy="914400"/>
          </a:xfrm>
          <a:prstGeom prst="rect">
            <a:avLst/>
          </a:prstGeom>
          <a:noFill/>
          <a:ln/>
        </p:spPr>
        <p:txBody>
          <a:bodyPr wrap="square" lIns="0" tIns="0" rIns="0" bIns="0" rtlCol="0" anchor="ctr"/>
          <a:lstStyle/>
          <a:p>
            <a:pPr algn="ctr" indent="0" marL="0">
              <a:buNone/>
            </a:pPr>
            <a:r>
              <a:rPr lang="en-US" sz="2000" b="1" dirty="0">
                <a:solidFill>
                  <a:srgbClr val="1F1040"/>
                </a:solidFill>
                <a:latin typeface="Palatino Linotype" pitchFamily="34" charset="0"/>
                <a:ea typeface="Palatino Linotype" pitchFamily="34" charset="-122"/>
                <a:cs typeface="Palatino Linotype" pitchFamily="34" charset="-120"/>
              </a:rPr>
              <a:t>l’hôpital</a:t>
            </a:r>
            <a:endParaRPr lang="en-US" sz="2000" dirty="0"/>
          </a:p>
        </p:txBody>
      </p:sp>
      <p:sp>
        <p:nvSpPr>
          <p:cNvPr id="14" name="Shape 12"/>
          <p:cNvSpPr/>
          <p:nvPr/>
        </p:nvSpPr>
        <p:spPr>
          <a:xfrm>
            <a:off x="8961120" y="3429000"/>
            <a:ext cx="2606040" cy="914400"/>
          </a:xfrm>
          <a:prstGeom prst="roundRect">
            <a:avLst>
              <a:gd name="adj" fmla="val 9000"/>
            </a:avLst>
          </a:prstGeom>
          <a:solidFill>
            <a:srgbClr val="FFC24B"/>
          </a:solidFill>
          <a:ln w="12700">
            <a:solidFill>
              <a:srgbClr val="FFC24B"/>
            </a:solidFill>
            <a:prstDash val="solid"/>
          </a:ln>
        </p:spPr>
      </p:sp>
      <p:sp>
        <p:nvSpPr>
          <p:cNvPr id="15" name="Text 13"/>
          <p:cNvSpPr/>
          <p:nvPr/>
        </p:nvSpPr>
        <p:spPr>
          <a:xfrm>
            <a:off x="9098280" y="3429000"/>
            <a:ext cx="2331720" cy="914400"/>
          </a:xfrm>
          <a:prstGeom prst="rect">
            <a:avLst/>
          </a:prstGeom>
          <a:noFill/>
          <a:ln/>
        </p:spPr>
        <p:txBody>
          <a:bodyPr wrap="square" lIns="0" tIns="0" rIns="0" bIns="0" rtlCol="0" anchor="ctr"/>
          <a:lstStyle/>
          <a:p>
            <a:pPr algn="ctr" indent="0" marL="0">
              <a:buNone/>
            </a:pPr>
            <a:r>
              <a:rPr lang="en-US" sz="2000" b="1" dirty="0">
                <a:solidFill>
                  <a:srgbClr val="3D2A00"/>
                </a:solidFill>
                <a:latin typeface="Palatino Linotype" pitchFamily="34" charset="0"/>
                <a:ea typeface="Palatino Linotype" pitchFamily="34" charset="-122"/>
                <a:cs typeface="Palatino Linotype" pitchFamily="34" charset="-120"/>
              </a:rPr>
              <a:t>une loi</a:t>
            </a:r>
            <a:endParaRPr lang="en-US" sz="2000" dirty="0"/>
          </a:p>
        </p:txBody>
      </p:sp>
      <p:sp>
        <p:nvSpPr>
          <p:cNvPr id="16" name="Text 14"/>
          <p:cNvSpPr/>
          <p:nvPr/>
        </p:nvSpPr>
        <p:spPr>
          <a:xfrm>
            <a:off x="594360" y="4663440"/>
            <a:ext cx="10972800" cy="1097280"/>
          </a:xfrm>
          <a:prstGeom prst="rect">
            <a:avLst/>
          </a:prstGeom>
          <a:noFill/>
          <a:ln/>
        </p:spPr>
        <p:txBody>
          <a:bodyPr wrap="square" lIns="0" tIns="0" rIns="0" bIns="0" rtlCol="0" anchor="t"/>
          <a:lstStyle/>
          <a:p>
            <a:pPr indent="0" marL="0">
              <a:buNone/>
            </a:pPr>
            <a:r>
              <a:rPr lang="en-US" sz="1800" dirty="0">
                <a:solidFill>
                  <a:srgbClr val="959BB0"/>
                </a:solidFill>
                <a:latin typeface="Palatino Linotype" pitchFamily="34" charset="0"/>
                <a:ea typeface="Palatino Linotype" pitchFamily="34" charset="-122"/>
                <a:cs typeface="Palatino Linotype" pitchFamily="34" charset="-120"/>
              </a:rPr>
              <a:t>Un facteur peut avoir plusieurs « propriétaires ». Après trois minutes, quelques binômes lisent leur liste : combien de facteurs ont reçu comme propriétaire une loi ou une autorité locale ?</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DU PATIENT À LA POPULATION</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D’Ion aux hommes comme lui</a:t>
            </a:r>
            <a:endParaRPr lang="en-US" sz="3200" dirty="0"/>
          </a:p>
        </p:txBody>
      </p:sp>
      <p:sp>
        <p:nvSpPr>
          <p:cNvPr id="4" name="Text 2"/>
          <p:cNvSpPr/>
          <p:nvPr/>
        </p:nvSpPr>
        <p:spPr>
          <a:xfrm>
            <a:off x="594360" y="1554480"/>
            <a:ext cx="10972800" cy="109728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Combien d’hommes comme Ion y a-t-il en Roumanie ? Les pourcentages ne peuvent pas être multipliés : le tabagisme, l’alcool et la sédentarité ne sont pas indépendants, et l’enquête publie chaque facteur séparément.</a:t>
            </a:r>
            <a:endParaRPr lang="en-US" sz="1900" dirty="0"/>
          </a:p>
        </p:txBody>
      </p:sp>
      <p:sp>
        <p:nvSpPr>
          <p:cNvPr id="5" name="Shape 3"/>
          <p:cNvSpPr/>
          <p:nvPr/>
        </p:nvSpPr>
        <p:spPr>
          <a:xfrm>
            <a:off x="594360" y="2926080"/>
            <a:ext cx="5029200" cy="1828800"/>
          </a:xfrm>
          <a:prstGeom prst="roundRect">
            <a:avLst>
              <a:gd name="adj" fmla="val 4500"/>
            </a:avLst>
          </a:prstGeom>
          <a:solidFill>
            <a:srgbClr val="ECEAE4"/>
          </a:solidFill>
          <a:ln w="12700">
            <a:solidFill>
              <a:srgbClr val="ECEAE4"/>
            </a:solidFill>
            <a:prstDash val="solid"/>
          </a:ln>
        </p:spPr>
      </p:sp>
      <p:sp>
        <p:nvSpPr>
          <p:cNvPr id="6" name="Text 4"/>
          <p:cNvSpPr/>
          <p:nvPr/>
        </p:nvSpPr>
        <p:spPr>
          <a:xfrm>
            <a:off x="868680" y="2926080"/>
            <a:ext cx="4480560" cy="1828800"/>
          </a:xfrm>
          <a:prstGeom prst="rect">
            <a:avLst/>
          </a:prstGeom>
          <a:noFill/>
          <a:ln/>
        </p:spPr>
        <p:txBody>
          <a:bodyPr wrap="square" lIns="0" tIns="0" rIns="0" bIns="0" rtlCol="0" anchor="ctr"/>
          <a:lstStyle/>
          <a:p>
            <a:pPr algn="ctr" indent="0" marL="0">
              <a:buNone/>
            </a:pPr>
            <a:r>
              <a:rPr lang="en-US" sz="2400" b="1" dirty="0">
                <a:solidFill>
                  <a:srgbClr val="11121A"/>
                </a:solidFill>
                <a:latin typeface="Palatino Linotype" pitchFamily="34" charset="0"/>
                <a:ea typeface="Palatino Linotype" pitchFamily="34" charset="-122"/>
                <a:cs typeface="Palatino Linotype" pitchFamily="34" charset="-120"/>
              </a:rPr>
              <a:t>Un patient avec cinq facteurs de risque</a:t>
            </a:r>
            <a:endParaRPr lang="en-US" sz="2400" dirty="0"/>
          </a:p>
        </p:txBody>
      </p:sp>
      <p:sp>
        <p:nvSpPr>
          <p:cNvPr id="7" name="Shape 5"/>
          <p:cNvSpPr/>
          <p:nvPr/>
        </p:nvSpPr>
        <p:spPr>
          <a:xfrm>
            <a:off x="5852160" y="3657600"/>
            <a:ext cx="502920" cy="329184"/>
          </a:xfrm>
          <a:prstGeom prst="rightArrow">
            <a:avLst/>
          </a:prstGeom>
          <a:solidFill>
            <a:srgbClr val="B02532"/>
          </a:solidFill>
          <a:ln w="12700">
            <a:solidFill>
              <a:srgbClr val="B02532"/>
            </a:solidFill>
            <a:prstDash val="solid"/>
          </a:ln>
        </p:spPr>
      </p:sp>
      <p:sp>
        <p:nvSpPr>
          <p:cNvPr id="8" name="Shape 6"/>
          <p:cNvSpPr/>
          <p:nvPr/>
        </p:nvSpPr>
        <p:spPr>
          <a:xfrm>
            <a:off x="6537960" y="2926080"/>
            <a:ext cx="5029200" cy="1828800"/>
          </a:xfrm>
          <a:prstGeom prst="roundRect">
            <a:avLst>
              <a:gd name="adj" fmla="val 4500"/>
            </a:avLst>
          </a:prstGeom>
          <a:solidFill>
            <a:srgbClr val="11121A"/>
          </a:solidFill>
          <a:ln w="12700">
            <a:solidFill>
              <a:srgbClr val="11121A"/>
            </a:solidFill>
            <a:prstDash val="solid"/>
          </a:ln>
        </p:spPr>
      </p:sp>
      <p:sp>
        <p:nvSpPr>
          <p:cNvPr id="9" name="Text 7"/>
          <p:cNvSpPr/>
          <p:nvPr/>
        </p:nvSpPr>
        <p:spPr>
          <a:xfrm>
            <a:off x="6812280" y="2926080"/>
            <a:ext cx="4480560" cy="1828800"/>
          </a:xfrm>
          <a:prstGeom prst="rect">
            <a:avLst/>
          </a:prstGeom>
          <a:noFill/>
          <a:ln/>
        </p:spPr>
        <p:txBody>
          <a:bodyPr wrap="square" lIns="0" tIns="0" rIns="0" bIns="0" rtlCol="0" anchor="ctr"/>
          <a:lstStyle/>
          <a:p>
            <a:pPr algn="ctr" indent="0" marL="0">
              <a:buNone/>
            </a:pPr>
            <a:r>
              <a:rPr lang="en-US" sz="2400" b="1" dirty="0">
                <a:solidFill>
                  <a:srgbClr val="FFFFFF"/>
                </a:solidFill>
                <a:latin typeface="Palatino Linotype" pitchFamily="34" charset="0"/>
                <a:ea typeface="Palatino Linotype" pitchFamily="34" charset="-122"/>
                <a:cs typeface="Palatino Linotype" pitchFamily="34" charset="-120"/>
              </a:rPr>
              <a:t>Cinq facteurs de risque fréquents dans la population</a:t>
            </a:r>
            <a:endParaRPr lang="en-US" sz="2400" dirty="0"/>
          </a:p>
        </p:txBody>
      </p:sp>
      <p:sp>
        <p:nvSpPr>
          <p:cNvPr id="10" name="Text 8"/>
          <p:cNvSpPr/>
          <p:nvPr/>
        </p:nvSpPr>
        <p:spPr>
          <a:xfrm>
            <a:off x="594360" y="5074920"/>
            <a:ext cx="10972800" cy="822960"/>
          </a:xfrm>
          <a:prstGeom prst="rect">
            <a:avLst/>
          </a:prstGeom>
          <a:noFill/>
          <a:ln/>
        </p:spPr>
        <p:txBody>
          <a:bodyPr wrap="square" lIns="0" tIns="0" rIns="0" bIns="0" rtlCol="0" anchor="t"/>
          <a:lstStyle/>
          <a:p>
            <a:pPr indent="0" marL="0">
              <a:buNone/>
            </a:pPr>
            <a:r>
              <a:rPr lang="en-US" sz="1800" b="1" dirty="0">
                <a:solidFill>
                  <a:srgbClr val="B02532"/>
                </a:solidFill>
                <a:latin typeface="Palatino Linotype" pitchFamily="34" charset="0"/>
                <a:ea typeface="Palatino Linotype" pitchFamily="34" charset="-122"/>
                <a:cs typeface="Palatino Linotype" pitchFamily="34" charset="-120"/>
              </a:rPr>
              <a:t>Le passage de la médecine clinique à la santé publique.</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LA CHARGE MONDIALE, 2021</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2800" b="1" dirty="0">
                <a:solidFill>
                  <a:srgbClr val="FFFFFF"/>
                </a:solidFill>
                <a:latin typeface="Palatino Linotype" pitchFamily="34" charset="0"/>
                <a:ea typeface="Palatino Linotype" pitchFamily="34" charset="-122"/>
                <a:cs typeface="Palatino Linotype" pitchFamily="34" charset="-120"/>
              </a:rPr>
              <a:t>Combien meurent de maladies non transmissibles</a:t>
            </a:r>
            <a:endParaRPr lang="en-US" sz="2800" dirty="0"/>
          </a:p>
        </p:txBody>
      </p:sp>
      <p:sp>
        <p:nvSpPr>
          <p:cNvPr id="4" name="Shape 2"/>
          <p:cNvSpPr/>
          <p:nvPr/>
        </p:nvSpPr>
        <p:spPr>
          <a:xfrm>
            <a:off x="594360" y="1645920"/>
            <a:ext cx="5349240" cy="1417320"/>
          </a:xfrm>
          <a:prstGeom prst="roundRect">
            <a:avLst>
              <a:gd name="adj" fmla="val 5806"/>
            </a:avLst>
          </a:prstGeom>
          <a:solidFill>
            <a:srgbClr val="1D1F2B"/>
          </a:solidFill>
          <a:ln w="12700">
            <a:solidFill>
              <a:srgbClr val="1D1F2B"/>
            </a:solidFill>
            <a:prstDash val="solid"/>
          </a:ln>
        </p:spPr>
      </p:sp>
      <p:sp>
        <p:nvSpPr>
          <p:cNvPr id="5" name="Text 3"/>
          <p:cNvSpPr/>
          <p:nvPr/>
        </p:nvSpPr>
        <p:spPr>
          <a:xfrm>
            <a:off x="868680" y="1755648"/>
            <a:ext cx="4800600" cy="708660"/>
          </a:xfrm>
          <a:prstGeom prst="rect">
            <a:avLst/>
          </a:prstGeom>
          <a:noFill/>
          <a:ln/>
        </p:spPr>
        <p:txBody>
          <a:bodyPr wrap="square" lIns="0" tIns="0" rIns="0" bIns="0" rtlCol="0" anchor="ctr"/>
          <a:lstStyle/>
          <a:p>
            <a:pPr indent="0" marL="0">
              <a:buNone/>
            </a:pPr>
            <a:r>
              <a:rPr lang="en-US" sz="3400" b="1" dirty="0">
                <a:solidFill>
                  <a:srgbClr val="FF4757"/>
                </a:solidFill>
                <a:latin typeface="Palatino Linotype" pitchFamily="34" charset="0"/>
                <a:ea typeface="Palatino Linotype" pitchFamily="34" charset="-122"/>
                <a:cs typeface="Palatino Linotype" pitchFamily="34" charset="-120"/>
              </a:rPr>
              <a:t>au moins 43 M</a:t>
            </a:r>
            <a:endParaRPr lang="en-US" sz="3400" dirty="0"/>
          </a:p>
        </p:txBody>
      </p:sp>
      <p:sp>
        <p:nvSpPr>
          <p:cNvPr id="6" name="Text 4"/>
          <p:cNvSpPr/>
          <p:nvPr/>
        </p:nvSpPr>
        <p:spPr>
          <a:xfrm>
            <a:off x="868680" y="2372868"/>
            <a:ext cx="4800600" cy="651967"/>
          </a:xfrm>
          <a:prstGeom prst="rect">
            <a:avLst/>
          </a:prstGeom>
          <a:noFill/>
          <a:ln/>
        </p:spPr>
        <p:txBody>
          <a:bodyPr wrap="square" lIns="0" tIns="0" rIns="0" bIns="0" rtlCol="0" anchor="t"/>
          <a:lstStyle/>
          <a:p>
            <a:pPr indent="0" marL="0">
              <a:buNone/>
            </a:pPr>
            <a:r>
              <a:rPr lang="en-US" sz="1200" dirty="0">
                <a:solidFill>
                  <a:srgbClr val="FFFFFF"/>
                </a:solidFill>
                <a:latin typeface="Palatino Linotype" pitchFamily="34" charset="0"/>
                <a:ea typeface="Palatino Linotype" pitchFamily="34" charset="-122"/>
                <a:cs typeface="Palatino Linotype" pitchFamily="34" charset="-120"/>
              </a:rPr>
              <a:t>décès ; 75 % des décès dans le monde non liés à la pandémie</a:t>
            </a:r>
            <a:endParaRPr lang="en-US" sz="1200" dirty="0"/>
          </a:p>
        </p:txBody>
      </p:sp>
      <p:sp>
        <p:nvSpPr>
          <p:cNvPr id="7" name="Shape 5"/>
          <p:cNvSpPr/>
          <p:nvPr/>
        </p:nvSpPr>
        <p:spPr>
          <a:xfrm>
            <a:off x="6217920" y="1645920"/>
            <a:ext cx="5349240" cy="1417320"/>
          </a:xfrm>
          <a:prstGeom prst="roundRect">
            <a:avLst>
              <a:gd name="adj" fmla="val 5806"/>
            </a:avLst>
          </a:prstGeom>
          <a:solidFill>
            <a:srgbClr val="1D1F2B"/>
          </a:solidFill>
          <a:ln w="12700">
            <a:solidFill>
              <a:srgbClr val="1D1F2B"/>
            </a:solidFill>
            <a:prstDash val="solid"/>
          </a:ln>
        </p:spPr>
      </p:sp>
      <p:sp>
        <p:nvSpPr>
          <p:cNvPr id="8" name="Text 6"/>
          <p:cNvSpPr/>
          <p:nvPr/>
        </p:nvSpPr>
        <p:spPr>
          <a:xfrm>
            <a:off x="6492240" y="1755648"/>
            <a:ext cx="4800600" cy="708660"/>
          </a:xfrm>
          <a:prstGeom prst="rect">
            <a:avLst/>
          </a:prstGeom>
          <a:noFill/>
          <a:ln/>
        </p:spPr>
        <p:txBody>
          <a:bodyPr wrap="square" lIns="0" tIns="0" rIns="0" bIns="0" rtlCol="0" anchor="ctr"/>
          <a:lstStyle/>
          <a:p>
            <a:pPr indent="0" marL="0">
              <a:buNone/>
            </a:pPr>
            <a:r>
              <a:rPr lang="en-US" sz="3400" b="1" dirty="0">
                <a:solidFill>
                  <a:srgbClr val="FFC24B"/>
                </a:solidFill>
                <a:latin typeface="Palatino Linotype" pitchFamily="34" charset="0"/>
                <a:ea typeface="Palatino Linotype" pitchFamily="34" charset="-122"/>
                <a:cs typeface="Palatino Linotype" pitchFamily="34" charset="-120"/>
              </a:rPr>
              <a:t>18 M</a:t>
            </a:r>
            <a:endParaRPr lang="en-US" sz="3400" dirty="0"/>
          </a:p>
        </p:txBody>
      </p:sp>
      <p:sp>
        <p:nvSpPr>
          <p:cNvPr id="9" name="Text 7"/>
          <p:cNvSpPr/>
          <p:nvPr/>
        </p:nvSpPr>
        <p:spPr>
          <a:xfrm>
            <a:off x="6492240" y="2372868"/>
            <a:ext cx="4800600" cy="651967"/>
          </a:xfrm>
          <a:prstGeom prst="rect">
            <a:avLst/>
          </a:prstGeom>
          <a:noFill/>
          <a:ln/>
        </p:spPr>
        <p:txBody>
          <a:bodyPr wrap="square" lIns="0" tIns="0" rIns="0" bIns="0" rtlCol="0" anchor="t"/>
          <a:lstStyle/>
          <a:p>
            <a:pPr indent="0" marL="0">
              <a:buNone/>
            </a:pPr>
            <a:r>
              <a:rPr lang="en-US" sz="1200" dirty="0">
                <a:solidFill>
                  <a:srgbClr val="FFFFFF"/>
                </a:solidFill>
                <a:latin typeface="Palatino Linotype" pitchFamily="34" charset="0"/>
                <a:ea typeface="Palatino Linotype" pitchFamily="34" charset="-122"/>
                <a:cs typeface="Palatino Linotype" pitchFamily="34" charset="-120"/>
              </a:rPr>
              <a:t>décès avant 70 ans ; 82 % dans les pays à revenu faible ou intermédiaire</a:t>
            </a:r>
            <a:endParaRPr lang="en-US" sz="1200" dirty="0"/>
          </a:p>
        </p:txBody>
      </p:sp>
      <p:sp>
        <p:nvSpPr>
          <p:cNvPr id="10" name="Text 8"/>
          <p:cNvSpPr/>
          <p:nvPr/>
        </p:nvSpPr>
        <p:spPr>
          <a:xfrm>
            <a:off x="594360" y="3246120"/>
            <a:ext cx="10972800" cy="365760"/>
          </a:xfrm>
          <a:prstGeom prst="rect">
            <a:avLst/>
          </a:prstGeom>
          <a:noFill/>
          <a:ln/>
        </p:spPr>
        <p:txBody>
          <a:bodyPr wrap="square" lIns="0" tIns="0" rIns="0" bIns="0" rtlCol="0" anchor="t"/>
          <a:lstStyle/>
          <a:p>
            <a:pPr indent="0" marL="0">
              <a:buNone/>
            </a:pPr>
            <a:r>
              <a:rPr lang="en-US" sz="1600" b="1" dirty="0">
                <a:solidFill>
                  <a:srgbClr val="D5D8E2"/>
                </a:solidFill>
                <a:latin typeface="Palatino Linotype" pitchFamily="34" charset="0"/>
                <a:ea typeface="Palatino Linotype" pitchFamily="34" charset="-122"/>
                <a:cs typeface="Palatino Linotype" pitchFamily="34" charset="-120"/>
              </a:rPr>
              <a:t>Parmi tous les décès dus aux maladies non transmissibles :</a:t>
            </a:r>
            <a:endParaRPr lang="en-US" sz="1600" dirty="0"/>
          </a:p>
        </p:txBody>
      </p:sp>
      <p:sp>
        <p:nvSpPr>
          <p:cNvPr id="11" name="Text 9"/>
          <p:cNvSpPr/>
          <p:nvPr/>
        </p:nvSpPr>
        <p:spPr>
          <a:xfrm>
            <a:off x="594360" y="3657600"/>
            <a:ext cx="3291840" cy="45720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Maladies cardiovasculaires</a:t>
            </a:r>
            <a:endParaRPr lang="en-US" sz="1600" dirty="0"/>
          </a:p>
        </p:txBody>
      </p:sp>
      <p:sp>
        <p:nvSpPr>
          <p:cNvPr id="12" name="Shape 10"/>
          <p:cNvSpPr/>
          <p:nvPr/>
        </p:nvSpPr>
        <p:spPr>
          <a:xfrm>
            <a:off x="3977640" y="3712464"/>
            <a:ext cx="5486400" cy="310896"/>
          </a:xfrm>
          <a:prstGeom prst="roundRect">
            <a:avLst>
              <a:gd name="adj" fmla="val 14706"/>
            </a:avLst>
          </a:prstGeom>
          <a:solidFill>
            <a:srgbClr val="FF4757"/>
          </a:solidFill>
          <a:ln w="12700">
            <a:solidFill>
              <a:srgbClr val="FF4757"/>
            </a:solidFill>
            <a:prstDash val="solid"/>
          </a:ln>
        </p:spPr>
      </p:sp>
      <p:sp>
        <p:nvSpPr>
          <p:cNvPr id="13" name="Text 11"/>
          <p:cNvSpPr/>
          <p:nvPr/>
        </p:nvSpPr>
        <p:spPr>
          <a:xfrm>
            <a:off x="9555480" y="3712464"/>
            <a:ext cx="2194560" cy="310896"/>
          </a:xfrm>
          <a:prstGeom prst="rect">
            <a:avLst/>
          </a:prstGeom>
          <a:noFill/>
          <a:ln/>
        </p:spPr>
        <p:txBody>
          <a:bodyPr wrap="square" lIns="0" tIns="0" rIns="0" bIns="0" rtlCol="0" anchor="ctr"/>
          <a:lstStyle/>
          <a:p>
            <a:pPr indent="0" marL="0">
              <a:buNone/>
            </a:pPr>
            <a:r>
              <a:rPr lang="en-US" sz="1500" b="1" dirty="0">
                <a:solidFill>
                  <a:srgbClr val="FFFFFF"/>
                </a:solidFill>
                <a:latin typeface="Palatino Linotype" pitchFamily="34" charset="0"/>
                <a:ea typeface="Palatino Linotype" pitchFamily="34" charset="-122"/>
                <a:cs typeface="Palatino Linotype" pitchFamily="34" charset="-120"/>
              </a:rPr>
              <a:t>au moins 19 M</a:t>
            </a:r>
            <a:endParaRPr lang="en-US" sz="1500" dirty="0"/>
          </a:p>
        </p:txBody>
      </p:sp>
      <p:sp>
        <p:nvSpPr>
          <p:cNvPr id="14" name="Text 12"/>
          <p:cNvSpPr/>
          <p:nvPr/>
        </p:nvSpPr>
        <p:spPr>
          <a:xfrm>
            <a:off x="594360" y="4206240"/>
            <a:ext cx="3291840" cy="45720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Cancers</a:t>
            </a:r>
            <a:endParaRPr lang="en-US" sz="1600" dirty="0"/>
          </a:p>
        </p:txBody>
      </p:sp>
      <p:sp>
        <p:nvSpPr>
          <p:cNvPr id="15" name="Shape 13"/>
          <p:cNvSpPr/>
          <p:nvPr/>
        </p:nvSpPr>
        <p:spPr>
          <a:xfrm>
            <a:off x="3977640" y="4261104"/>
            <a:ext cx="2887579" cy="310896"/>
          </a:xfrm>
          <a:prstGeom prst="roundRect">
            <a:avLst>
              <a:gd name="adj" fmla="val 14706"/>
            </a:avLst>
          </a:prstGeom>
          <a:solidFill>
            <a:srgbClr val="9B7EF7"/>
          </a:solidFill>
          <a:ln w="12700">
            <a:solidFill>
              <a:srgbClr val="9B7EF7"/>
            </a:solidFill>
            <a:prstDash val="solid"/>
          </a:ln>
        </p:spPr>
      </p:sp>
      <p:sp>
        <p:nvSpPr>
          <p:cNvPr id="16" name="Text 14"/>
          <p:cNvSpPr/>
          <p:nvPr/>
        </p:nvSpPr>
        <p:spPr>
          <a:xfrm>
            <a:off x="6956659" y="4261104"/>
            <a:ext cx="2194560" cy="310896"/>
          </a:xfrm>
          <a:prstGeom prst="rect">
            <a:avLst/>
          </a:prstGeom>
          <a:noFill/>
          <a:ln/>
        </p:spPr>
        <p:txBody>
          <a:bodyPr wrap="square" lIns="0" tIns="0" rIns="0" bIns="0" rtlCol="0" anchor="ctr"/>
          <a:lstStyle/>
          <a:p>
            <a:pPr indent="0" marL="0">
              <a:buNone/>
            </a:pPr>
            <a:r>
              <a:rPr lang="en-US" sz="1500" b="1" dirty="0">
                <a:solidFill>
                  <a:srgbClr val="FFFFFF"/>
                </a:solidFill>
                <a:latin typeface="Palatino Linotype" pitchFamily="34" charset="0"/>
                <a:ea typeface="Palatino Linotype" pitchFamily="34" charset="-122"/>
                <a:cs typeface="Palatino Linotype" pitchFamily="34" charset="-120"/>
              </a:rPr>
              <a:t>10 M</a:t>
            </a:r>
            <a:endParaRPr lang="en-US" sz="1500" dirty="0"/>
          </a:p>
        </p:txBody>
      </p:sp>
      <p:sp>
        <p:nvSpPr>
          <p:cNvPr id="17" name="Text 15"/>
          <p:cNvSpPr/>
          <p:nvPr/>
        </p:nvSpPr>
        <p:spPr>
          <a:xfrm>
            <a:off x="594360" y="4754880"/>
            <a:ext cx="3291840" cy="45720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Maladies respiratoires chroniques</a:t>
            </a:r>
            <a:endParaRPr lang="en-US" sz="1600" dirty="0"/>
          </a:p>
        </p:txBody>
      </p:sp>
      <p:sp>
        <p:nvSpPr>
          <p:cNvPr id="18" name="Shape 16"/>
          <p:cNvSpPr/>
          <p:nvPr/>
        </p:nvSpPr>
        <p:spPr>
          <a:xfrm>
            <a:off x="3977640" y="4809744"/>
            <a:ext cx="1155032" cy="310896"/>
          </a:xfrm>
          <a:prstGeom prst="roundRect">
            <a:avLst>
              <a:gd name="adj" fmla="val 14706"/>
            </a:avLst>
          </a:prstGeom>
          <a:solidFill>
            <a:srgbClr val="27D3BE"/>
          </a:solidFill>
          <a:ln w="12700">
            <a:solidFill>
              <a:srgbClr val="27D3BE"/>
            </a:solidFill>
            <a:prstDash val="solid"/>
          </a:ln>
        </p:spPr>
      </p:sp>
      <p:sp>
        <p:nvSpPr>
          <p:cNvPr id="19" name="Text 17"/>
          <p:cNvSpPr/>
          <p:nvPr/>
        </p:nvSpPr>
        <p:spPr>
          <a:xfrm>
            <a:off x="5224112" y="4809744"/>
            <a:ext cx="2194560" cy="310896"/>
          </a:xfrm>
          <a:prstGeom prst="rect">
            <a:avLst/>
          </a:prstGeom>
          <a:noFill/>
          <a:ln/>
        </p:spPr>
        <p:txBody>
          <a:bodyPr wrap="square" lIns="0" tIns="0" rIns="0" bIns="0" rtlCol="0" anchor="ctr"/>
          <a:lstStyle/>
          <a:p>
            <a:pPr indent="0" marL="0">
              <a:buNone/>
            </a:pPr>
            <a:r>
              <a:rPr lang="en-US" sz="1500" b="1" dirty="0">
                <a:solidFill>
                  <a:srgbClr val="FFFFFF"/>
                </a:solidFill>
                <a:latin typeface="Palatino Linotype" pitchFamily="34" charset="0"/>
                <a:ea typeface="Palatino Linotype" pitchFamily="34" charset="-122"/>
                <a:cs typeface="Palatino Linotype" pitchFamily="34" charset="-120"/>
              </a:rPr>
              <a:t>4 M</a:t>
            </a:r>
            <a:endParaRPr lang="en-US" sz="1500" dirty="0"/>
          </a:p>
        </p:txBody>
      </p:sp>
      <p:sp>
        <p:nvSpPr>
          <p:cNvPr id="20" name="Text 18"/>
          <p:cNvSpPr/>
          <p:nvPr/>
        </p:nvSpPr>
        <p:spPr>
          <a:xfrm>
            <a:off x="594360" y="5303520"/>
            <a:ext cx="3291840" cy="45720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Diabète</a:t>
            </a:r>
            <a:endParaRPr lang="en-US" sz="1600" dirty="0"/>
          </a:p>
        </p:txBody>
      </p:sp>
      <p:sp>
        <p:nvSpPr>
          <p:cNvPr id="21" name="Shape 19"/>
          <p:cNvSpPr/>
          <p:nvPr/>
        </p:nvSpPr>
        <p:spPr>
          <a:xfrm>
            <a:off x="3977640" y="5358384"/>
            <a:ext cx="577516" cy="310896"/>
          </a:xfrm>
          <a:prstGeom prst="roundRect">
            <a:avLst>
              <a:gd name="adj" fmla="val 14706"/>
            </a:avLst>
          </a:prstGeom>
          <a:solidFill>
            <a:srgbClr val="FFC24B"/>
          </a:solidFill>
          <a:ln w="12700">
            <a:solidFill>
              <a:srgbClr val="FFC24B"/>
            </a:solidFill>
            <a:prstDash val="solid"/>
          </a:ln>
        </p:spPr>
      </p:sp>
      <p:sp>
        <p:nvSpPr>
          <p:cNvPr id="22" name="Text 20"/>
          <p:cNvSpPr/>
          <p:nvPr/>
        </p:nvSpPr>
        <p:spPr>
          <a:xfrm>
            <a:off x="4646596" y="5358384"/>
            <a:ext cx="2194560" cy="310896"/>
          </a:xfrm>
          <a:prstGeom prst="rect">
            <a:avLst/>
          </a:prstGeom>
          <a:noFill/>
          <a:ln/>
        </p:spPr>
        <p:txBody>
          <a:bodyPr wrap="square" lIns="0" tIns="0" rIns="0" bIns="0" rtlCol="0" anchor="ctr"/>
          <a:lstStyle/>
          <a:p>
            <a:pPr indent="0" marL="0">
              <a:buNone/>
            </a:pPr>
            <a:r>
              <a:rPr lang="en-US" sz="1500" b="1" dirty="0">
                <a:solidFill>
                  <a:srgbClr val="FFFFFF"/>
                </a:solidFill>
                <a:latin typeface="Palatino Linotype" pitchFamily="34" charset="0"/>
                <a:ea typeface="Palatino Linotype" pitchFamily="34" charset="-122"/>
                <a:cs typeface="Palatino Linotype" pitchFamily="34" charset="-120"/>
              </a:rPr>
              <a:t>plus de 2 M</a:t>
            </a:r>
            <a:endParaRPr lang="en-US" sz="1500" dirty="0"/>
          </a:p>
        </p:txBody>
      </p:sp>
      <p:sp>
        <p:nvSpPr>
          <p:cNvPr id="23" name="Text 21"/>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Source : OMS, 2021. La fiche cite 74 % (GBD 2021), avec un autre dénominateur.</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CIBLE 3.4 DE DÉVELOPPEMENT DURABLE</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Un tiers de moins d’ici à 2030</a:t>
            </a:r>
            <a:endParaRPr lang="en-US" sz="3200" dirty="0"/>
          </a:p>
        </p:txBody>
      </p:sp>
      <p:sp>
        <p:nvSpPr>
          <p:cNvPr id="4" name="Shape 2"/>
          <p:cNvSpPr/>
          <p:nvPr/>
        </p:nvSpPr>
        <p:spPr>
          <a:xfrm>
            <a:off x="594360" y="1691640"/>
            <a:ext cx="10972800" cy="1097280"/>
          </a:xfrm>
          <a:prstGeom prst="roundRect">
            <a:avLst>
              <a:gd name="adj" fmla="val 7500"/>
            </a:avLst>
          </a:prstGeom>
          <a:solidFill>
            <a:srgbClr val="11121A"/>
          </a:solidFill>
          <a:ln w="12700">
            <a:solidFill>
              <a:srgbClr val="11121A"/>
            </a:solidFill>
            <a:prstDash val="solid"/>
          </a:ln>
        </p:spPr>
      </p:sp>
      <p:sp>
        <p:nvSpPr>
          <p:cNvPr id="5" name="Text 3"/>
          <p:cNvSpPr/>
          <p:nvPr/>
        </p:nvSpPr>
        <p:spPr>
          <a:xfrm>
            <a:off x="868680" y="1691640"/>
            <a:ext cx="10424160" cy="1097280"/>
          </a:xfrm>
          <a:prstGeom prst="rect">
            <a:avLst/>
          </a:prstGeom>
          <a:noFill/>
          <a:ln/>
        </p:spPr>
        <p:txBody>
          <a:bodyPr wrap="square" lIns="0" tIns="0" rIns="0" bIns="0" rtlCol="0" anchor="ctr"/>
          <a:lstStyle/>
          <a:p>
            <a:pPr indent="0" marL="0">
              <a:buNone/>
            </a:pPr>
            <a:r>
              <a:rPr lang="en-US" sz="2100" b="1" dirty="0">
                <a:solidFill>
                  <a:srgbClr val="FFFFFF"/>
                </a:solidFill>
                <a:latin typeface="Palatino Linotype" pitchFamily="34" charset="0"/>
                <a:ea typeface="Palatino Linotype" pitchFamily="34" charset="-122"/>
                <a:cs typeface="Palatino Linotype" pitchFamily="34" charset="-120"/>
              </a:rPr>
              <a:t>Réduire d’un tiers la mortalité prématurée due aux maladies non transmissibles.</a:t>
            </a:r>
            <a:endParaRPr lang="en-US" sz="2100" dirty="0"/>
          </a:p>
        </p:txBody>
      </p:sp>
      <p:sp>
        <p:nvSpPr>
          <p:cNvPr id="6" name="Shape 4"/>
          <p:cNvSpPr/>
          <p:nvPr/>
        </p:nvSpPr>
        <p:spPr>
          <a:xfrm>
            <a:off x="594360" y="3017520"/>
            <a:ext cx="5349240" cy="2651760"/>
          </a:xfrm>
          <a:prstGeom prst="roundRect">
            <a:avLst>
              <a:gd name="adj" fmla="val 3103"/>
            </a:avLst>
          </a:prstGeom>
          <a:solidFill>
            <a:srgbClr val="ECEAE4"/>
          </a:solidFill>
          <a:ln w="12700">
            <a:solidFill>
              <a:srgbClr val="ECEAE4"/>
            </a:solidFill>
            <a:prstDash val="solid"/>
          </a:ln>
        </p:spPr>
      </p:sp>
      <p:sp>
        <p:nvSpPr>
          <p:cNvPr id="7" name="Text 5"/>
          <p:cNvSpPr/>
          <p:nvPr/>
        </p:nvSpPr>
        <p:spPr>
          <a:xfrm>
            <a:off x="868680" y="3127248"/>
            <a:ext cx="4754880" cy="365760"/>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L’INDICATEUR</a:t>
            </a:r>
            <a:endParaRPr lang="en-US" sz="1300" dirty="0"/>
          </a:p>
        </p:txBody>
      </p:sp>
      <p:sp>
        <p:nvSpPr>
          <p:cNvPr id="8" name="Text 6"/>
          <p:cNvSpPr/>
          <p:nvPr/>
        </p:nvSpPr>
        <p:spPr>
          <a:xfrm>
            <a:off x="868680" y="3520440"/>
            <a:ext cx="4846320" cy="205740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Probabilité qu’une personne de 30 ans meure avant 70 ans d’une maladie cardiovasculaire, d’un cancer, du diabète ou d’une maladie respiratoire chronique.</a:t>
            </a:r>
            <a:endParaRPr lang="en-US" sz="1800" dirty="0"/>
          </a:p>
        </p:txBody>
      </p:sp>
      <p:sp>
        <p:nvSpPr>
          <p:cNvPr id="9" name="Shape 7"/>
          <p:cNvSpPr/>
          <p:nvPr/>
        </p:nvSpPr>
        <p:spPr>
          <a:xfrm>
            <a:off x="6217920" y="3017520"/>
            <a:ext cx="5349240" cy="2651760"/>
          </a:xfrm>
          <a:prstGeom prst="roundRect">
            <a:avLst>
              <a:gd name="adj" fmla="val 3103"/>
            </a:avLst>
          </a:prstGeom>
          <a:solidFill>
            <a:srgbClr val="ECEAE4"/>
          </a:solidFill>
          <a:ln w="12700">
            <a:solidFill>
              <a:srgbClr val="ECEAE4"/>
            </a:solidFill>
            <a:prstDash val="solid"/>
          </a:ln>
        </p:spPr>
      </p:sp>
      <p:sp>
        <p:nvSpPr>
          <p:cNvPr id="10" name="Text 8"/>
          <p:cNvSpPr/>
          <p:nvPr/>
        </p:nvSpPr>
        <p:spPr>
          <a:xfrm>
            <a:off x="6492240" y="3127248"/>
            <a:ext cx="4754880" cy="365760"/>
          </a:xfrm>
          <a:prstGeom prst="rect">
            <a:avLst/>
          </a:prstGeom>
          <a:noFill/>
          <a:ln/>
        </p:spPr>
        <p:txBody>
          <a:bodyPr wrap="square" lIns="0" tIns="0" rIns="0" bIns="0" rtlCol="0" anchor="t"/>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POURQUOI IL EST BON</a:t>
            </a:r>
            <a:endParaRPr lang="en-US" sz="1300" dirty="0"/>
          </a:p>
        </p:txBody>
      </p:sp>
      <p:sp>
        <p:nvSpPr>
          <p:cNvPr id="11" name="Text 9"/>
          <p:cNvSpPr/>
          <p:nvPr/>
        </p:nvSpPr>
        <p:spPr>
          <a:xfrm>
            <a:off x="6492240" y="3520440"/>
            <a:ext cx="4846320" cy="205740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Il se calcule à partir des taux de mortalité par âge : il ne dépend pas de la structure par âge, donc les pays se comparent directement.</a:t>
            </a:r>
            <a:endParaRPr lang="en-US" sz="1800" dirty="0"/>
          </a:p>
        </p:txBody>
      </p:sp>
      <p:sp>
        <p:nvSpPr>
          <p:cNvPr id="12" name="Text 10"/>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Source : métadonnées de l’ONU pour l’indicateur ; plan d’action mondial de l’OMS.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229600" y="292608"/>
            <a:ext cx="333756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229600" y="292608"/>
            <a:ext cx="333756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ESTIMEZ AVANT LE CHIFFRE</a:t>
            </a:r>
            <a:endParaRPr lang="en-US" sz="1300" dirty="0"/>
          </a:p>
        </p:txBody>
      </p:sp>
      <p:sp>
        <p:nvSpPr>
          <p:cNvPr id="5" name="Text 3"/>
          <p:cNvSpPr/>
          <p:nvPr/>
        </p:nvSpPr>
        <p:spPr>
          <a:xfrm>
            <a:off x="594360" y="713232"/>
            <a:ext cx="7589520" cy="1005840"/>
          </a:xfrm>
          <a:prstGeom prst="rect">
            <a:avLst/>
          </a:prstGeom>
          <a:noFill/>
          <a:ln/>
        </p:spPr>
        <p:txBody>
          <a:bodyPr wrap="square" lIns="0" tIns="0" rIns="0" bIns="0" rtlCol="0" anchor="t"/>
          <a:lstStyle/>
          <a:p>
            <a:pPr indent="0" marL="0">
              <a:buNone/>
            </a:pPr>
            <a:r>
              <a:rPr lang="en-US" sz="2600" b="1" dirty="0">
                <a:solidFill>
                  <a:srgbClr val="FFFFFF"/>
                </a:solidFill>
                <a:latin typeface="Palatino Linotype" pitchFamily="34" charset="0"/>
                <a:ea typeface="Palatino Linotype" pitchFamily="34" charset="-122"/>
                <a:cs typeface="Palatino Linotype" pitchFamily="34" charset="-120"/>
              </a:rPr>
              <a:t>À quel rang se trouve la Roumanie dans l’Union européenne ?</a:t>
            </a:r>
            <a:endParaRPr lang="en-US" sz="2600" dirty="0"/>
          </a:p>
        </p:txBody>
      </p:sp>
      <p:sp>
        <p:nvSpPr>
          <p:cNvPr id="6" name="Text 4"/>
          <p:cNvSpPr/>
          <p:nvPr/>
        </p:nvSpPr>
        <p:spPr>
          <a:xfrm>
            <a:off x="594360" y="1783080"/>
            <a:ext cx="10972800" cy="914400"/>
          </a:xfrm>
          <a:prstGeom prst="rect">
            <a:avLst/>
          </a:prstGeom>
          <a:noFill/>
          <a:ln/>
        </p:spPr>
        <p:txBody>
          <a:bodyPr wrap="square" lIns="0" tIns="0" rIns="0" bIns="0" rtlCol="0" anchor="t"/>
          <a:lstStyle/>
          <a:p>
            <a:pPr indent="0" marL="0">
              <a:buNone/>
            </a:pPr>
            <a:r>
              <a:rPr lang="en-US" sz="1900" dirty="0">
                <a:solidFill>
                  <a:srgbClr val="D5D8E2"/>
                </a:solidFill>
                <a:latin typeface="Palatino Linotype" pitchFamily="34" charset="0"/>
                <a:ea typeface="Palatino Linotype" pitchFamily="34" charset="-122"/>
                <a:cs typeface="Palatino Linotype" pitchFamily="34" charset="-120"/>
              </a:rPr>
              <a:t>Selon la probabilité de mourir entre 30 et 70 ans d’une maladie non transmissible, de la valeur la plus élevée à la plus faible, parmi les 27 États membres.</a:t>
            </a:r>
            <a:endParaRPr lang="en-US" sz="1900" dirty="0"/>
          </a:p>
        </p:txBody>
      </p:sp>
      <p:sp>
        <p:nvSpPr>
          <p:cNvPr id="7" name="Shape 5"/>
          <p:cNvSpPr/>
          <p:nvPr/>
        </p:nvSpPr>
        <p:spPr>
          <a:xfrm>
            <a:off x="594360" y="2880360"/>
            <a:ext cx="10972800" cy="713232"/>
          </a:xfrm>
          <a:prstGeom prst="roundRect">
            <a:avLst>
              <a:gd name="adj" fmla="val 11538"/>
            </a:avLst>
          </a:prstGeom>
          <a:solidFill>
            <a:srgbClr val="1D1F2B"/>
          </a:solidFill>
          <a:ln w="12700">
            <a:solidFill>
              <a:srgbClr val="1D1F2B"/>
            </a:solidFill>
            <a:prstDash val="solid"/>
          </a:ln>
        </p:spPr>
      </p:sp>
      <p:sp>
        <p:nvSpPr>
          <p:cNvPr id="8" name="Shape 6"/>
          <p:cNvSpPr/>
          <p:nvPr/>
        </p:nvSpPr>
        <p:spPr>
          <a:xfrm>
            <a:off x="777240" y="3026664"/>
            <a:ext cx="420624" cy="420624"/>
          </a:xfrm>
          <a:prstGeom prst="ellipse">
            <a:avLst/>
          </a:prstGeom>
          <a:solidFill>
            <a:srgbClr val="FFC24B"/>
          </a:solidFill>
          <a:ln/>
        </p:spPr>
      </p:sp>
      <p:sp>
        <p:nvSpPr>
          <p:cNvPr id="9" name="Text 7"/>
          <p:cNvSpPr/>
          <p:nvPr/>
        </p:nvSpPr>
        <p:spPr>
          <a:xfrm>
            <a:off x="777240" y="302666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10" name="Text 8"/>
          <p:cNvSpPr/>
          <p:nvPr/>
        </p:nvSpPr>
        <p:spPr>
          <a:xfrm>
            <a:off x="1371600" y="2880360"/>
            <a:ext cx="10058400" cy="713232"/>
          </a:xfrm>
          <a:prstGeom prst="rect">
            <a:avLst/>
          </a:prstGeom>
          <a:noFill/>
          <a:ln/>
        </p:spPr>
        <p:txBody>
          <a:bodyPr wrap="square" lIns="0" tIns="0" rIns="0" bIns="0" rtlCol="0" anchor="ctr"/>
          <a:lstStyle/>
          <a:p>
            <a:pPr indent="0" marL="0">
              <a:buNone/>
            </a:pPr>
            <a:r>
              <a:rPr lang="en-US" sz="2100" dirty="0">
                <a:solidFill>
                  <a:srgbClr val="FFFFFF"/>
                </a:solidFill>
                <a:latin typeface="Palatino Linotype" pitchFamily="34" charset="0"/>
                <a:ea typeface="Palatino Linotype" pitchFamily="34" charset="-122"/>
                <a:cs typeface="Palatino Linotype" pitchFamily="34" charset="-120"/>
              </a:rPr>
              <a:t>Parmi les cinq premiers</a:t>
            </a:r>
            <a:endParaRPr lang="en-US" sz="2100" dirty="0"/>
          </a:p>
        </p:txBody>
      </p:sp>
      <p:sp>
        <p:nvSpPr>
          <p:cNvPr id="11" name="Shape 9"/>
          <p:cNvSpPr/>
          <p:nvPr/>
        </p:nvSpPr>
        <p:spPr>
          <a:xfrm>
            <a:off x="594360" y="3721608"/>
            <a:ext cx="10972800" cy="713232"/>
          </a:xfrm>
          <a:prstGeom prst="roundRect">
            <a:avLst>
              <a:gd name="adj" fmla="val 11538"/>
            </a:avLst>
          </a:prstGeom>
          <a:solidFill>
            <a:srgbClr val="1D1F2B"/>
          </a:solidFill>
          <a:ln w="12700">
            <a:solidFill>
              <a:srgbClr val="1D1F2B"/>
            </a:solidFill>
            <a:prstDash val="solid"/>
          </a:ln>
        </p:spPr>
      </p:sp>
      <p:sp>
        <p:nvSpPr>
          <p:cNvPr id="12" name="Shape 10"/>
          <p:cNvSpPr/>
          <p:nvPr/>
        </p:nvSpPr>
        <p:spPr>
          <a:xfrm>
            <a:off x="777240" y="3867912"/>
            <a:ext cx="420624" cy="420624"/>
          </a:xfrm>
          <a:prstGeom prst="ellipse">
            <a:avLst/>
          </a:prstGeom>
          <a:solidFill>
            <a:srgbClr val="FFC24B"/>
          </a:solidFill>
          <a:ln/>
        </p:spPr>
      </p:sp>
      <p:sp>
        <p:nvSpPr>
          <p:cNvPr id="13" name="Text 11"/>
          <p:cNvSpPr/>
          <p:nvPr/>
        </p:nvSpPr>
        <p:spPr>
          <a:xfrm>
            <a:off x="777240" y="386791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4" name="Text 12"/>
          <p:cNvSpPr/>
          <p:nvPr/>
        </p:nvSpPr>
        <p:spPr>
          <a:xfrm>
            <a:off x="1371600" y="3721608"/>
            <a:ext cx="10058400" cy="713232"/>
          </a:xfrm>
          <a:prstGeom prst="rect">
            <a:avLst/>
          </a:prstGeom>
          <a:noFill/>
          <a:ln/>
        </p:spPr>
        <p:txBody>
          <a:bodyPr wrap="square" lIns="0" tIns="0" rIns="0" bIns="0" rtlCol="0" anchor="ctr"/>
          <a:lstStyle/>
          <a:p>
            <a:pPr indent="0" marL="0">
              <a:buNone/>
            </a:pPr>
            <a:r>
              <a:rPr lang="en-US" sz="2100" dirty="0">
                <a:solidFill>
                  <a:srgbClr val="FFFFFF"/>
                </a:solidFill>
                <a:latin typeface="Palatino Linotype" pitchFamily="34" charset="0"/>
                <a:ea typeface="Palatino Linotype" pitchFamily="34" charset="-122"/>
                <a:cs typeface="Palatino Linotype" pitchFamily="34" charset="-120"/>
              </a:rPr>
              <a:t>Entre le sixième et le quinzième rang</a:t>
            </a:r>
            <a:endParaRPr lang="en-US" sz="2100" dirty="0"/>
          </a:p>
        </p:txBody>
      </p:sp>
      <p:sp>
        <p:nvSpPr>
          <p:cNvPr id="15" name="Shape 13"/>
          <p:cNvSpPr/>
          <p:nvPr/>
        </p:nvSpPr>
        <p:spPr>
          <a:xfrm>
            <a:off x="594360" y="4562856"/>
            <a:ext cx="10972800" cy="713232"/>
          </a:xfrm>
          <a:prstGeom prst="roundRect">
            <a:avLst>
              <a:gd name="adj" fmla="val 11538"/>
            </a:avLst>
          </a:prstGeom>
          <a:solidFill>
            <a:srgbClr val="1D1F2B"/>
          </a:solidFill>
          <a:ln w="12700">
            <a:solidFill>
              <a:srgbClr val="1D1F2B"/>
            </a:solidFill>
            <a:prstDash val="solid"/>
          </a:ln>
        </p:spPr>
      </p:sp>
      <p:sp>
        <p:nvSpPr>
          <p:cNvPr id="16" name="Shape 14"/>
          <p:cNvSpPr/>
          <p:nvPr/>
        </p:nvSpPr>
        <p:spPr>
          <a:xfrm>
            <a:off x="777240" y="4709160"/>
            <a:ext cx="420624" cy="420624"/>
          </a:xfrm>
          <a:prstGeom prst="ellipse">
            <a:avLst/>
          </a:prstGeom>
          <a:solidFill>
            <a:srgbClr val="FFC24B"/>
          </a:solidFill>
          <a:ln/>
        </p:spPr>
      </p:sp>
      <p:sp>
        <p:nvSpPr>
          <p:cNvPr id="17" name="Text 15"/>
          <p:cNvSpPr/>
          <p:nvPr/>
        </p:nvSpPr>
        <p:spPr>
          <a:xfrm>
            <a:off x="777240" y="470916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8" name="Text 16"/>
          <p:cNvSpPr/>
          <p:nvPr/>
        </p:nvSpPr>
        <p:spPr>
          <a:xfrm>
            <a:off x="1371600" y="4562856"/>
            <a:ext cx="10058400" cy="713232"/>
          </a:xfrm>
          <a:prstGeom prst="rect">
            <a:avLst/>
          </a:prstGeom>
          <a:noFill/>
          <a:ln/>
        </p:spPr>
        <p:txBody>
          <a:bodyPr wrap="square" lIns="0" tIns="0" rIns="0" bIns="0" rtlCol="0" anchor="ctr"/>
          <a:lstStyle/>
          <a:p>
            <a:pPr indent="0" marL="0">
              <a:buNone/>
            </a:pPr>
            <a:r>
              <a:rPr lang="en-US" sz="2100" dirty="0">
                <a:solidFill>
                  <a:srgbClr val="FFFFFF"/>
                </a:solidFill>
                <a:latin typeface="Palatino Linotype" pitchFamily="34" charset="0"/>
                <a:ea typeface="Palatino Linotype" pitchFamily="34" charset="-122"/>
                <a:cs typeface="Palatino Linotype" pitchFamily="34" charset="-120"/>
              </a:rPr>
              <a:t>Après le quinzième rang</a:t>
            </a:r>
            <a:endParaRPr lang="en-US" sz="2100" dirty="0"/>
          </a:p>
        </p:txBody>
      </p:sp>
      <p:sp>
        <p:nvSpPr>
          <p:cNvPr id="19" name="Text 17"/>
          <p:cNvSpPr/>
          <p:nvPr/>
        </p:nvSpPr>
        <p:spPr>
          <a:xfrm>
            <a:off x="594360" y="5486400"/>
            <a:ext cx="10972800" cy="502920"/>
          </a:xfrm>
          <a:prstGeom prst="rect">
            <a:avLst/>
          </a:prstGeom>
          <a:noFill/>
          <a:ln/>
        </p:spPr>
        <p:txBody>
          <a:bodyPr wrap="square" lIns="0" tIns="0" rIns="0" bIns="0" rtlCol="0" anchor="t"/>
          <a:lstStyle/>
          <a:p>
            <a:pPr indent="0" marL="0">
              <a:buNone/>
            </a:pPr>
            <a:r>
              <a:rPr lang="en-US" sz="2000" b="1" dirty="0">
                <a:solidFill>
                  <a:srgbClr val="FFC24B"/>
                </a:solidFill>
                <a:latin typeface="Palatino Linotype" pitchFamily="34" charset="0"/>
                <a:ea typeface="Palatino Linotype" pitchFamily="34" charset="-122"/>
                <a:cs typeface="Palatino Linotype" pitchFamily="34" charset="-120"/>
              </a:rPr>
              <a:t>Répondez sur votre téléphone, au code affiché.</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LA RÉPONSE : A</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Quatrième rang : 21,5 % en 2021</a:t>
            </a:r>
            <a:endParaRPr lang="en-US" sz="3200" dirty="0"/>
          </a:p>
        </p:txBody>
      </p:sp>
      <p:sp>
        <p:nvSpPr>
          <p:cNvPr id="4" name="Text 2"/>
          <p:cNvSpPr/>
          <p:nvPr/>
        </p:nvSpPr>
        <p:spPr>
          <a:xfrm>
            <a:off x="594360" y="1737360"/>
            <a:ext cx="1737360" cy="475488"/>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Bulgarie</a:t>
            </a:r>
            <a:endParaRPr lang="en-US" sz="1600" dirty="0"/>
          </a:p>
        </p:txBody>
      </p:sp>
      <p:sp>
        <p:nvSpPr>
          <p:cNvPr id="5" name="Shape 3"/>
          <p:cNvSpPr/>
          <p:nvPr/>
        </p:nvSpPr>
        <p:spPr>
          <a:xfrm>
            <a:off x="2423160" y="1792224"/>
            <a:ext cx="4141529" cy="329184"/>
          </a:xfrm>
          <a:prstGeom prst="roundRect">
            <a:avLst>
              <a:gd name="adj" fmla="val 13889"/>
            </a:avLst>
          </a:prstGeom>
          <a:solidFill>
            <a:srgbClr val="6A6F85"/>
          </a:solidFill>
          <a:ln w="12700">
            <a:solidFill>
              <a:srgbClr val="6A6F85"/>
            </a:solidFill>
            <a:prstDash val="solid"/>
          </a:ln>
        </p:spPr>
      </p:sp>
      <p:sp>
        <p:nvSpPr>
          <p:cNvPr id="6" name="Text 4"/>
          <p:cNvSpPr/>
          <p:nvPr/>
        </p:nvSpPr>
        <p:spPr>
          <a:xfrm>
            <a:off x="6656129" y="1792224"/>
            <a:ext cx="2194560" cy="329184"/>
          </a:xfrm>
          <a:prstGeom prst="rect">
            <a:avLst/>
          </a:prstGeom>
          <a:noFill/>
          <a:ln/>
        </p:spPr>
        <p:txBody>
          <a:bodyPr wrap="square" lIns="0" tIns="0" rIns="0" bIns="0" rtlCol="0" anchor="ctr"/>
          <a:lstStyle/>
          <a:p>
            <a:pPr indent="0" marL="0">
              <a:buNone/>
            </a:pPr>
            <a:r>
              <a:rPr lang="en-US" sz="1500" b="1" dirty="0">
                <a:solidFill>
                  <a:srgbClr val="FFFFFF"/>
                </a:solidFill>
                <a:latin typeface="Palatino Linotype" pitchFamily="34" charset="0"/>
                <a:ea typeface="Palatino Linotype" pitchFamily="34" charset="-122"/>
                <a:cs typeface="Palatino Linotype" pitchFamily="34" charset="-120"/>
              </a:rPr>
              <a:t>25,6 %</a:t>
            </a:r>
            <a:endParaRPr lang="en-US" sz="1500" dirty="0"/>
          </a:p>
        </p:txBody>
      </p:sp>
      <p:sp>
        <p:nvSpPr>
          <p:cNvPr id="7" name="Text 5"/>
          <p:cNvSpPr/>
          <p:nvPr/>
        </p:nvSpPr>
        <p:spPr>
          <a:xfrm>
            <a:off x="594360" y="2304288"/>
            <a:ext cx="1737360" cy="475488"/>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Lettonie</a:t>
            </a:r>
            <a:endParaRPr lang="en-US" sz="1600" dirty="0"/>
          </a:p>
        </p:txBody>
      </p:sp>
      <p:sp>
        <p:nvSpPr>
          <p:cNvPr id="8" name="Shape 6"/>
          <p:cNvSpPr/>
          <p:nvPr/>
        </p:nvSpPr>
        <p:spPr>
          <a:xfrm>
            <a:off x="2423160" y="2359152"/>
            <a:ext cx="3672371" cy="329184"/>
          </a:xfrm>
          <a:prstGeom prst="roundRect">
            <a:avLst>
              <a:gd name="adj" fmla="val 13889"/>
            </a:avLst>
          </a:prstGeom>
          <a:solidFill>
            <a:srgbClr val="6A6F85"/>
          </a:solidFill>
          <a:ln w="12700">
            <a:solidFill>
              <a:srgbClr val="6A6F85"/>
            </a:solidFill>
            <a:prstDash val="solid"/>
          </a:ln>
        </p:spPr>
      </p:sp>
      <p:sp>
        <p:nvSpPr>
          <p:cNvPr id="9" name="Text 7"/>
          <p:cNvSpPr/>
          <p:nvPr/>
        </p:nvSpPr>
        <p:spPr>
          <a:xfrm>
            <a:off x="6186971" y="2359152"/>
            <a:ext cx="2194560" cy="329184"/>
          </a:xfrm>
          <a:prstGeom prst="rect">
            <a:avLst/>
          </a:prstGeom>
          <a:noFill/>
          <a:ln/>
        </p:spPr>
        <p:txBody>
          <a:bodyPr wrap="square" lIns="0" tIns="0" rIns="0" bIns="0" rtlCol="0" anchor="ctr"/>
          <a:lstStyle/>
          <a:p>
            <a:pPr indent="0" marL="0">
              <a:buNone/>
            </a:pPr>
            <a:r>
              <a:rPr lang="en-US" sz="1500" b="1" dirty="0">
                <a:solidFill>
                  <a:srgbClr val="FFFFFF"/>
                </a:solidFill>
                <a:latin typeface="Palatino Linotype" pitchFamily="34" charset="0"/>
                <a:ea typeface="Palatino Linotype" pitchFamily="34" charset="-122"/>
                <a:cs typeface="Palatino Linotype" pitchFamily="34" charset="-120"/>
              </a:rPr>
              <a:t>22,7 %</a:t>
            </a:r>
            <a:endParaRPr lang="en-US" sz="1500" dirty="0"/>
          </a:p>
        </p:txBody>
      </p:sp>
      <p:sp>
        <p:nvSpPr>
          <p:cNvPr id="10" name="Text 8"/>
          <p:cNvSpPr/>
          <p:nvPr/>
        </p:nvSpPr>
        <p:spPr>
          <a:xfrm>
            <a:off x="594360" y="2871216"/>
            <a:ext cx="1737360" cy="475488"/>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Hongrie</a:t>
            </a:r>
            <a:endParaRPr lang="en-US" sz="1600" dirty="0"/>
          </a:p>
        </p:txBody>
      </p:sp>
      <p:sp>
        <p:nvSpPr>
          <p:cNvPr id="11" name="Shape 9"/>
          <p:cNvSpPr/>
          <p:nvPr/>
        </p:nvSpPr>
        <p:spPr>
          <a:xfrm>
            <a:off x="2423160" y="2926080"/>
            <a:ext cx="3510593" cy="329184"/>
          </a:xfrm>
          <a:prstGeom prst="roundRect">
            <a:avLst>
              <a:gd name="adj" fmla="val 13889"/>
            </a:avLst>
          </a:prstGeom>
          <a:solidFill>
            <a:srgbClr val="6A6F85"/>
          </a:solidFill>
          <a:ln w="12700">
            <a:solidFill>
              <a:srgbClr val="6A6F85"/>
            </a:solidFill>
            <a:prstDash val="solid"/>
          </a:ln>
        </p:spPr>
      </p:sp>
      <p:sp>
        <p:nvSpPr>
          <p:cNvPr id="12" name="Text 10"/>
          <p:cNvSpPr/>
          <p:nvPr/>
        </p:nvSpPr>
        <p:spPr>
          <a:xfrm>
            <a:off x="6025193" y="2926080"/>
            <a:ext cx="2194560" cy="329184"/>
          </a:xfrm>
          <a:prstGeom prst="rect">
            <a:avLst/>
          </a:prstGeom>
          <a:noFill/>
          <a:ln/>
        </p:spPr>
        <p:txBody>
          <a:bodyPr wrap="square" lIns="0" tIns="0" rIns="0" bIns="0" rtlCol="0" anchor="ctr"/>
          <a:lstStyle/>
          <a:p>
            <a:pPr indent="0" marL="0">
              <a:buNone/>
            </a:pPr>
            <a:r>
              <a:rPr lang="en-US" sz="1500" b="1" dirty="0">
                <a:solidFill>
                  <a:srgbClr val="FFFFFF"/>
                </a:solidFill>
                <a:latin typeface="Palatino Linotype" pitchFamily="34" charset="0"/>
                <a:ea typeface="Palatino Linotype" pitchFamily="34" charset="-122"/>
                <a:cs typeface="Palatino Linotype" pitchFamily="34" charset="-120"/>
              </a:rPr>
              <a:t>21,7 %</a:t>
            </a:r>
            <a:endParaRPr lang="en-US" sz="1500" dirty="0"/>
          </a:p>
        </p:txBody>
      </p:sp>
      <p:sp>
        <p:nvSpPr>
          <p:cNvPr id="13" name="Text 11"/>
          <p:cNvSpPr/>
          <p:nvPr/>
        </p:nvSpPr>
        <p:spPr>
          <a:xfrm>
            <a:off x="594360" y="3438144"/>
            <a:ext cx="1737360" cy="475488"/>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Roumanie</a:t>
            </a:r>
            <a:endParaRPr lang="en-US" sz="1600" dirty="0"/>
          </a:p>
        </p:txBody>
      </p:sp>
      <p:sp>
        <p:nvSpPr>
          <p:cNvPr id="14" name="Shape 12"/>
          <p:cNvSpPr/>
          <p:nvPr/>
        </p:nvSpPr>
        <p:spPr>
          <a:xfrm>
            <a:off x="2423160" y="3493008"/>
            <a:ext cx="3478237" cy="329184"/>
          </a:xfrm>
          <a:prstGeom prst="roundRect">
            <a:avLst>
              <a:gd name="adj" fmla="val 13889"/>
            </a:avLst>
          </a:prstGeom>
          <a:solidFill>
            <a:srgbClr val="FF4757"/>
          </a:solidFill>
          <a:ln w="12700">
            <a:solidFill>
              <a:srgbClr val="FF4757"/>
            </a:solidFill>
            <a:prstDash val="solid"/>
          </a:ln>
        </p:spPr>
      </p:sp>
      <p:sp>
        <p:nvSpPr>
          <p:cNvPr id="15" name="Text 13"/>
          <p:cNvSpPr/>
          <p:nvPr/>
        </p:nvSpPr>
        <p:spPr>
          <a:xfrm>
            <a:off x="5992837" y="3493008"/>
            <a:ext cx="2194560" cy="329184"/>
          </a:xfrm>
          <a:prstGeom prst="rect">
            <a:avLst/>
          </a:prstGeom>
          <a:noFill/>
          <a:ln/>
        </p:spPr>
        <p:txBody>
          <a:bodyPr wrap="square" lIns="0" tIns="0" rIns="0" bIns="0" rtlCol="0" anchor="ctr"/>
          <a:lstStyle/>
          <a:p>
            <a:pPr indent="0" marL="0">
              <a:buNone/>
            </a:pPr>
            <a:r>
              <a:rPr lang="en-US" sz="1500" b="1" dirty="0">
                <a:solidFill>
                  <a:srgbClr val="FFFFFF"/>
                </a:solidFill>
                <a:latin typeface="Palatino Linotype" pitchFamily="34" charset="0"/>
                <a:ea typeface="Palatino Linotype" pitchFamily="34" charset="-122"/>
                <a:cs typeface="Palatino Linotype" pitchFamily="34" charset="-120"/>
              </a:rPr>
              <a:t>21,5 %</a:t>
            </a:r>
            <a:endParaRPr lang="en-US" sz="1500" dirty="0"/>
          </a:p>
        </p:txBody>
      </p:sp>
      <p:sp>
        <p:nvSpPr>
          <p:cNvPr id="16" name="Text 14"/>
          <p:cNvSpPr/>
          <p:nvPr/>
        </p:nvSpPr>
        <p:spPr>
          <a:xfrm>
            <a:off x="594360" y="4005072"/>
            <a:ext cx="1737360" cy="320040"/>
          </a:xfrm>
          <a:prstGeom prst="rect">
            <a:avLst/>
          </a:prstGeom>
          <a:noFill/>
          <a:ln/>
        </p:spPr>
        <p:txBody>
          <a:bodyPr wrap="square" lIns="0" tIns="0" rIns="0" bIns="0" rtlCol="0" anchor="t"/>
          <a:lstStyle/>
          <a:p>
            <a:pPr indent="0" marL="0">
              <a:buNone/>
            </a:pPr>
            <a:r>
              <a:rPr lang="en-US" sz="1800" dirty="0">
                <a:solidFill>
                  <a:srgbClr val="959BB0"/>
                </a:solidFill>
                <a:latin typeface="Palatino Linotype" pitchFamily="34" charset="0"/>
                <a:ea typeface="Palatino Linotype" pitchFamily="34" charset="-122"/>
                <a:cs typeface="Palatino Linotype" pitchFamily="34" charset="-120"/>
              </a:rPr>
              <a:t>…</a:t>
            </a:r>
            <a:endParaRPr lang="en-US" sz="1800" dirty="0"/>
          </a:p>
        </p:txBody>
      </p:sp>
      <p:sp>
        <p:nvSpPr>
          <p:cNvPr id="17" name="Text 15"/>
          <p:cNvSpPr/>
          <p:nvPr/>
        </p:nvSpPr>
        <p:spPr>
          <a:xfrm>
            <a:off x="594360" y="4343400"/>
            <a:ext cx="1737360" cy="475488"/>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Suède</a:t>
            </a:r>
            <a:endParaRPr lang="en-US" sz="1600" dirty="0"/>
          </a:p>
        </p:txBody>
      </p:sp>
      <p:sp>
        <p:nvSpPr>
          <p:cNvPr id="18" name="Shape 16"/>
          <p:cNvSpPr/>
          <p:nvPr/>
        </p:nvSpPr>
        <p:spPr>
          <a:xfrm>
            <a:off x="2423160" y="4398264"/>
            <a:ext cx="1278050" cy="329184"/>
          </a:xfrm>
          <a:prstGeom prst="roundRect">
            <a:avLst>
              <a:gd name="adj" fmla="val 13889"/>
            </a:avLst>
          </a:prstGeom>
          <a:solidFill>
            <a:srgbClr val="27D3BE"/>
          </a:solidFill>
          <a:ln w="12700">
            <a:solidFill>
              <a:srgbClr val="27D3BE"/>
            </a:solidFill>
            <a:prstDash val="solid"/>
          </a:ln>
        </p:spPr>
      </p:sp>
      <p:sp>
        <p:nvSpPr>
          <p:cNvPr id="19" name="Text 17"/>
          <p:cNvSpPr/>
          <p:nvPr/>
        </p:nvSpPr>
        <p:spPr>
          <a:xfrm>
            <a:off x="3792650" y="4398264"/>
            <a:ext cx="2194560" cy="329184"/>
          </a:xfrm>
          <a:prstGeom prst="rect">
            <a:avLst/>
          </a:prstGeom>
          <a:noFill/>
          <a:ln/>
        </p:spPr>
        <p:txBody>
          <a:bodyPr wrap="square" lIns="0" tIns="0" rIns="0" bIns="0" rtlCol="0" anchor="ctr"/>
          <a:lstStyle/>
          <a:p>
            <a:pPr indent="0" marL="0">
              <a:buNone/>
            </a:pPr>
            <a:r>
              <a:rPr lang="en-US" sz="1500" b="1" dirty="0">
                <a:solidFill>
                  <a:srgbClr val="FFFFFF"/>
                </a:solidFill>
                <a:latin typeface="Palatino Linotype" pitchFamily="34" charset="0"/>
                <a:ea typeface="Palatino Linotype" pitchFamily="34" charset="-122"/>
                <a:cs typeface="Palatino Linotype" pitchFamily="34" charset="-120"/>
              </a:rPr>
              <a:t>7,9 %</a:t>
            </a:r>
            <a:endParaRPr lang="en-US" sz="1500" dirty="0"/>
          </a:p>
        </p:txBody>
      </p:sp>
      <p:sp>
        <p:nvSpPr>
          <p:cNvPr id="20" name="Text 18"/>
          <p:cNvSpPr/>
          <p:nvPr/>
        </p:nvSpPr>
        <p:spPr>
          <a:xfrm>
            <a:off x="594360" y="4910328"/>
            <a:ext cx="1737360" cy="475488"/>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Luxembourg</a:t>
            </a:r>
            <a:endParaRPr lang="en-US" sz="1600" dirty="0"/>
          </a:p>
        </p:txBody>
      </p:sp>
      <p:sp>
        <p:nvSpPr>
          <p:cNvPr id="21" name="Shape 19"/>
          <p:cNvSpPr/>
          <p:nvPr/>
        </p:nvSpPr>
        <p:spPr>
          <a:xfrm>
            <a:off x="2423160" y="4965192"/>
            <a:ext cx="1261872" cy="329184"/>
          </a:xfrm>
          <a:prstGeom prst="roundRect">
            <a:avLst>
              <a:gd name="adj" fmla="val 13889"/>
            </a:avLst>
          </a:prstGeom>
          <a:solidFill>
            <a:srgbClr val="27D3BE"/>
          </a:solidFill>
          <a:ln w="12700">
            <a:solidFill>
              <a:srgbClr val="27D3BE"/>
            </a:solidFill>
            <a:prstDash val="solid"/>
          </a:ln>
        </p:spPr>
      </p:sp>
      <p:sp>
        <p:nvSpPr>
          <p:cNvPr id="22" name="Text 20"/>
          <p:cNvSpPr/>
          <p:nvPr/>
        </p:nvSpPr>
        <p:spPr>
          <a:xfrm>
            <a:off x="3776472" y="4965192"/>
            <a:ext cx="2194560" cy="329184"/>
          </a:xfrm>
          <a:prstGeom prst="rect">
            <a:avLst/>
          </a:prstGeom>
          <a:noFill/>
          <a:ln/>
        </p:spPr>
        <p:txBody>
          <a:bodyPr wrap="square" lIns="0" tIns="0" rIns="0" bIns="0" rtlCol="0" anchor="ctr"/>
          <a:lstStyle/>
          <a:p>
            <a:pPr indent="0" marL="0">
              <a:buNone/>
            </a:pPr>
            <a:r>
              <a:rPr lang="en-US" sz="1500" b="1" dirty="0">
                <a:solidFill>
                  <a:srgbClr val="FFFFFF"/>
                </a:solidFill>
                <a:latin typeface="Palatino Linotype" pitchFamily="34" charset="0"/>
                <a:ea typeface="Palatino Linotype" pitchFamily="34" charset="-122"/>
                <a:cs typeface="Palatino Linotype" pitchFamily="34" charset="-120"/>
              </a:rPr>
              <a:t>7,8 %</a:t>
            </a:r>
            <a:endParaRPr lang="en-US" sz="1500" dirty="0"/>
          </a:p>
        </p:txBody>
      </p:sp>
      <p:sp>
        <p:nvSpPr>
          <p:cNvPr id="23" name="Shape 21"/>
          <p:cNvSpPr/>
          <p:nvPr/>
        </p:nvSpPr>
        <p:spPr>
          <a:xfrm>
            <a:off x="8503920" y="1737360"/>
            <a:ext cx="3063240" cy="4206240"/>
          </a:xfrm>
          <a:prstGeom prst="roundRect">
            <a:avLst>
              <a:gd name="adj" fmla="val 2687"/>
            </a:avLst>
          </a:prstGeom>
          <a:solidFill>
            <a:srgbClr val="1D1F2B"/>
          </a:solidFill>
          <a:ln w="12700">
            <a:solidFill>
              <a:srgbClr val="1D1F2B"/>
            </a:solidFill>
            <a:prstDash val="solid"/>
          </a:ln>
        </p:spPr>
      </p:sp>
      <p:sp>
        <p:nvSpPr>
          <p:cNvPr id="24" name="Text 22"/>
          <p:cNvSpPr/>
          <p:nvPr/>
        </p:nvSpPr>
        <p:spPr>
          <a:xfrm>
            <a:off x="8732520" y="1874520"/>
            <a:ext cx="2651760" cy="1737360"/>
          </a:xfrm>
          <a:prstGeom prst="rect">
            <a:avLst/>
          </a:prstGeom>
          <a:noFill/>
          <a:ln/>
        </p:spPr>
        <p:txBody>
          <a:bodyPr wrap="square" lIns="0" tIns="0" rIns="0" bIns="0" rtlCol="0" anchor="t"/>
          <a:lstStyle/>
          <a:p>
            <a:pPr indent="0" marL="0">
              <a:buNone/>
            </a:pPr>
            <a:r>
              <a:rPr lang="en-US" sz="1600" b="1" dirty="0">
                <a:solidFill>
                  <a:srgbClr val="FFC24B"/>
                </a:solidFill>
                <a:latin typeface="Palatino Linotype" pitchFamily="34" charset="0"/>
                <a:ea typeface="Palatino Linotype" pitchFamily="34" charset="-122"/>
                <a:cs typeface="Palatino Linotype" pitchFamily="34" charset="-120"/>
              </a:rPr>
              <a:t>Environ deux personnes sur dix en Roumanie, contre une sur treize en Suède.</a:t>
            </a:r>
            <a:endParaRPr lang="en-US" sz="1600" dirty="0"/>
          </a:p>
        </p:txBody>
      </p:sp>
      <p:sp>
        <p:nvSpPr>
          <p:cNvPr id="25" name="Text 23"/>
          <p:cNvSpPr/>
          <p:nvPr/>
        </p:nvSpPr>
        <p:spPr>
          <a:xfrm>
            <a:off x="8732520" y="3657600"/>
            <a:ext cx="2651760" cy="2103120"/>
          </a:xfrm>
          <a:prstGeom prst="rect">
            <a:avLst/>
          </a:prstGeom>
          <a:noFill/>
          <a:ln/>
        </p:spPr>
        <p:txBody>
          <a:bodyPr wrap="square" lIns="0" tIns="0" rIns="0" bIns="0" rtlCol="0" anchor="t"/>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L’intervalle de la Roumanie, 17,7–25,4 %, comprend aussi la valeur de la Hongrie : l’ordre entre les deux n’est pas certain.</a:t>
            </a:r>
            <a:endParaRPr lang="en-US" sz="1500" dirty="0"/>
          </a:p>
        </p:txBody>
      </p:sp>
      <p:sp>
        <p:nvSpPr>
          <p:cNvPr id="26" name="Text 24"/>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Source : OMS, GHO (NCDMORT3070), les deux sexes, 2021.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229600" y="292608"/>
            <a:ext cx="333756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229600" y="292608"/>
            <a:ext cx="333756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DE QUELLES MALADIES VIENT L’ÉCART</a:t>
            </a:r>
            <a:endParaRPr lang="en-US" sz="1300" dirty="0"/>
          </a:p>
        </p:txBody>
      </p:sp>
      <p:sp>
        <p:nvSpPr>
          <p:cNvPr id="5" name="Text 3"/>
          <p:cNvSpPr/>
          <p:nvPr/>
        </p:nvSpPr>
        <p:spPr>
          <a:xfrm>
            <a:off x="594360" y="713232"/>
            <a:ext cx="758952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Où éviterait-on le plus de décès ?</a:t>
            </a:r>
            <a:endParaRPr lang="en-US" sz="3200" dirty="0"/>
          </a:p>
        </p:txBody>
      </p:sp>
      <p:sp>
        <p:nvSpPr>
          <p:cNvPr id="6" name="Text 4"/>
          <p:cNvSpPr/>
          <p:nvPr/>
        </p:nvSpPr>
        <p:spPr>
          <a:xfrm>
            <a:off x="594360" y="1600200"/>
            <a:ext cx="10972800" cy="1325880"/>
          </a:xfrm>
          <a:prstGeom prst="rect">
            <a:avLst/>
          </a:prstGeom>
          <a:noFill/>
          <a:ln/>
        </p:spPr>
        <p:txBody>
          <a:bodyPr wrap="square" lIns="0" tIns="0" rIns="0" bIns="0" rtlCol="0" anchor="t"/>
          <a:lstStyle/>
          <a:p>
            <a:pPr indent="0" marL="0">
              <a:buNone/>
            </a:pPr>
            <a:r>
              <a:rPr lang="en-US" sz="1800" dirty="0">
                <a:solidFill>
                  <a:srgbClr val="D5D8E2"/>
                </a:solidFill>
                <a:latin typeface="Palatino Linotype" pitchFamily="34" charset="0"/>
                <a:ea typeface="Palatino Linotype" pitchFamily="34" charset="-122"/>
                <a:cs typeface="Palatino Linotype" pitchFamily="34" charset="-120"/>
              </a:rPr>
              <a:t>En 2023, taux standardisé toutes causes : 1 376,1 pour 100 000 en Roumanie, 963,4 dans l’UE. Si la Roumanie avait dès demain le taux de l’UE pour un seul groupe de maladies, où éviterait-on le plus de décès ?</a:t>
            </a:r>
            <a:endParaRPr lang="en-US" sz="1800" dirty="0"/>
          </a:p>
        </p:txBody>
      </p:sp>
      <p:sp>
        <p:nvSpPr>
          <p:cNvPr id="7" name="Shape 5"/>
          <p:cNvSpPr/>
          <p:nvPr/>
        </p:nvSpPr>
        <p:spPr>
          <a:xfrm>
            <a:off x="594360" y="3017520"/>
            <a:ext cx="10972800" cy="512064"/>
          </a:xfrm>
          <a:prstGeom prst="roundRect">
            <a:avLst>
              <a:gd name="adj" fmla="val 16071"/>
            </a:avLst>
          </a:prstGeom>
          <a:solidFill>
            <a:srgbClr val="1D1F2B"/>
          </a:solidFill>
          <a:ln w="12700">
            <a:solidFill>
              <a:srgbClr val="1D1F2B"/>
            </a:solidFill>
            <a:prstDash val="solid"/>
          </a:ln>
        </p:spPr>
      </p:sp>
      <p:sp>
        <p:nvSpPr>
          <p:cNvPr id="8" name="Shape 6"/>
          <p:cNvSpPr/>
          <p:nvPr/>
        </p:nvSpPr>
        <p:spPr>
          <a:xfrm>
            <a:off x="777240" y="3063240"/>
            <a:ext cx="420624" cy="420624"/>
          </a:xfrm>
          <a:prstGeom prst="ellipse">
            <a:avLst/>
          </a:prstGeom>
          <a:solidFill>
            <a:srgbClr val="FFC24B"/>
          </a:solidFill>
          <a:ln/>
        </p:spPr>
      </p:sp>
      <p:sp>
        <p:nvSpPr>
          <p:cNvPr id="9" name="Text 7"/>
          <p:cNvSpPr/>
          <p:nvPr/>
        </p:nvSpPr>
        <p:spPr>
          <a:xfrm>
            <a:off x="777240" y="306324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10" name="Text 8"/>
          <p:cNvSpPr/>
          <p:nvPr/>
        </p:nvSpPr>
        <p:spPr>
          <a:xfrm>
            <a:off x="1371600" y="3017520"/>
            <a:ext cx="10058400" cy="512064"/>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Maladies de l’appareil circulatoire</a:t>
            </a:r>
            <a:endParaRPr lang="en-US" sz="1900" dirty="0"/>
          </a:p>
        </p:txBody>
      </p:sp>
      <p:sp>
        <p:nvSpPr>
          <p:cNvPr id="11" name="Shape 9"/>
          <p:cNvSpPr/>
          <p:nvPr/>
        </p:nvSpPr>
        <p:spPr>
          <a:xfrm>
            <a:off x="594360" y="3657600"/>
            <a:ext cx="10972800" cy="512064"/>
          </a:xfrm>
          <a:prstGeom prst="roundRect">
            <a:avLst>
              <a:gd name="adj" fmla="val 16071"/>
            </a:avLst>
          </a:prstGeom>
          <a:solidFill>
            <a:srgbClr val="1D1F2B"/>
          </a:solidFill>
          <a:ln w="12700">
            <a:solidFill>
              <a:srgbClr val="1D1F2B"/>
            </a:solidFill>
            <a:prstDash val="solid"/>
          </a:ln>
        </p:spPr>
      </p:sp>
      <p:sp>
        <p:nvSpPr>
          <p:cNvPr id="12" name="Shape 10"/>
          <p:cNvSpPr/>
          <p:nvPr/>
        </p:nvSpPr>
        <p:spPr>
          <a:xfrm>
            <a:off x="777240" y="3703320"/>
            <a:ext cx="420624" cy="420624"/>
          </a:xfrm>
          <a:prstGeom prst="ellipse">
            <a:avLst/>
          </a:prstGeom>
          <a:solidFill>
            <a:srgbClr val="FFC24B"/>
          </a:solidFill>
          <a:ln/>
        </p:spPr>
      </p:sp>
      <p:sp>
        <p:nvSpPr>
          <p:cNvPr id="13" name="Text 11"/>
          <p:cNvSpPr/>
          <p:nvPr/>
        </p:nvSpPr>
        <p:spPr>
          <a:xfrm>
            <a:off x="777240" y="370332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4" name="Text 12"/>
          <p:cNvSpPr/>
          <p:nvPr/>
        </p:nvSpPr>
        <p:spPr>
          <a:xfrm>
            <a:off x="1371600" y="3657600"/>
            <a:ext cx="10058400" cy="512064"/>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Cancers</a:t>
            </a:r>
            <a:endParaRPr lang="en-US" sz="1900" dirty="0"/>
          </a:p>
        </p:txBody>
      </p:sp>
      <p:sp>
        <p:nvSpPr>
          <p:cNvPr id="15" name="Shape 13"/>
          <p:cNvSpPr/>
          <p:nvPr/>
        </p:nvSpPr>
        <p:spPr>
          <a:xfrm>
            <a:off x="594360" y="4297680"/>
            <a:ext cx="10972800" cy="512064"/>
          </a:xfrm>
          <a:prstGeom prst="roundRect">
            <a:avLst>
              <a:gd name="adj" fmla="val 16071"/>
            </a:avLst>
          </a:prstGeom>
          <a:solidFill>
            <a:srgbClr val="1D1F2B"/>
          </a:solidFill>
          <a:ln w="12700">
            <a:solidFill>
              <a:srgbClr val="1D1F2B"/>
            </a:solidFill>
            <a:prstDash val="solid"/>
          </a:ln>
        </p:spPr>
      </p:sp>
      <p:sp>
        <p:nvSpPr>
          <p:cNvPr id="16" name="Shape 14"/>
          <p:cNvSpPr/>
          <p:nvPr/>
        </p:nvSpPr>
        <p:spPr>
          <a:xfrm>
            <a:off x="777240" y="4343400"/>
            <a:ext cx="420624" cy="420624"/>
          </a:xfrm>
          <a:prstGeom prst="ellipse">
            <a:avLst/>
          </a:prstGeom>
          <a:solidFill>
            <a:srgbClr val="FFC24B"/>
          </a:solidFill>
          <a:ln/>
        </p:spPr>
      </p:sp>
      <p:sp>
        <p:nvSpPr>
          <p:cNvPr id="17" name="Text 15"/>
          <p:cNvSpPr/>
          <p:nvPr/>
        </p:nvSpPr>
        <p:spPr>
          <a:xfrm>
            <a:off x="777240" y="434340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8" name="Text 16"/>
          <p:cNvSpPr/>
          <p:nvPr/>
        </p:nvSpPr>
        <p:spPr>
          <a:xfrm>
            <a:off x="1371600" y="4297680"/>
            <a:ext cx="10058400" cy="512064"/>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Diabète</a:t>
            </a:r>
            <a:endParaRPr lang="en-US" sz="1900" dirty="0"/>
          </a:p>
        </p:txBody>
      </p:sp>
      <p:sp>
        <p:nvSpPr>
          <p:cNvPr id="19" name="Shape 17"/>
          <p:cNvSpPr/>
          <p:nvPr/>
        </p:nvSpPr>
        <p:spPr>
          <a:xfrm>
            <a:off x="594360" y="4937760"/>
            <a:ext cx="10972800" cy="512064"/>
          </a:xfrm>
          <a:prstGeom prst="roundRect">
            <a:avLst>
              <a:gd name="adj" fmla="val 16071"/>
            </a:avLst>
          </a:prstGeom>
          <a:solidFill>
            <a:srgbClr val="1D1F2B"/>
          </a:solidFill>
          <a:ln w="12700">
            <a:solidFill>
              <a:srgbClr val="1D1F2B"/>
            </a:solidFill>
            <a:prstDash val="solid"/>
          </a:ln>
        </p:spPr>
      </p:sp>
      <p:sp>
        <p:nvSpPr>
          <p:cNvPr id="20" name="Shape 18"/>
          <p:cNvSpPr/>
          <p:nvPr/>
        </p:nvSpPr>
        <p:spPr>
          <a:xfrm>
            <a:off x="777240" y="4983480"/>
            <a:ext cx="420624" cy="420624"/>
          </a:xfrm>
          <a:prstGeom prst="ellipse">
            <a:avLst/>
          </a:prstGeom>
          <a:solidFill>
            <a:srgbClr val="FFC24B"/>
          </a:solidFill>
          <a:ln/>
        </p:spPr>
      </p:sp>
      <p:sp>
        <p:nvSpPr>
          <p:cNvPr id="21" name="Text 19"/>
          <p:cNvSpPr/>
          <p:nvPr/>
        </p:nvSpPr>
        <p:spPr>
          <a:xfrm>
            <a:off x="777240" y="49834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2" name="Text 20"/>
          <p:cNvSpPr/>
          <p:nvPr/>
        </p:nvSpPr>
        <p:spPr>
          <a:xfrm>
            <a:off x="1371600" y="4937760"/>
            <a:ext cx="10058400" cy="512064"/>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Maladies respiratoires chroniques</a:t>
            </a:r>
            <a:endParaRPr lang="en-US" sz="1900" dirty="0"/>
          </a:p>
        </p:txBody>
      </p:sp>
      <p:sp>
        <p:nvSpPr>
          <p:cNvPr id="23" name="Text 21"/>
          <p:cNvSpPr/>
          <p:nvPr/>
        </p:nvSpPr>
        <p:spPr>
          <a:xfrm>
            <a:off x="594360" y="5669280"/>
            <a:ext cx="10972800" cy="457200"/>
          </a:xfrm>
          <a:prstGeom prst="rect">
            <a:avLst/>
          </a:prstGeom>
          <a:noFill/>
          <a:ln/>
        </p:spPr>
        <p:txBody>
          <a:bodyPr wrap="square" lIns="0" tIns="0" rIns="0" bIns="0" rtlCol="0" anchor="t"/>
          <a:lstStyle/>
          <a:p>
            <a:pPr indent="0" marL="0">
              <a:buNone/>
            </a:pPr>
            <a:r>
              <a:rPr lang="en-US" sz="2000" b="1" dirty="0">
                <a:solidFill>
                  <a:srgbClr val="FFC24B"/>
                </a:solidFill>
                <a:latin typeface="Palatino Linotype" pitchFamily="34" charset="0"/>
                <a:ea typeface="Palatino Linotype" pitchFamily="34" charset="-122"/>
                <a:cs typeface="Palatino Linotype" pitchFamily="34" charset="-120"/>
              </a:rPr>
              <a:t>Répondez sur votre téléphone, au code affiché.</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LA RÉPONSE : A  ·  TABLEAU 4.1</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L’écart vient des maladies de l’appareil circulatoire</a:t>
            </a:r>
            <a:endParaRPr lang="en-US" sz="3000" dirty="0"/>
          </a:p>
        </p:txBody>
      </p:sp>
      <p:sp>
        <p:nvSpPr>
          <p:cNvPr id="4" name="Text 2"/>
          <p:cNvSpPr/>
          <p:nvPr/>
        </p:nvSpPr>
        <p:spPr>
          <a:xfrm>
            <a:off x="667512" y="1618488"/>
            <a:ext cx="5340096" cy="530352"/>
          </a:xfrm>
          <a:prstGeom prst="rect">
            <a:avLst/>
          </a:prstGeom>
          <a:noFill/>
          <a:ln/>
        </p:spPr>
        <p:txBody>
          <a:bodyPr wrap="square" lIns="0" tIns="0" rIns="0" bIns="0" rtlCol="0" anchor="ctr"/>
          <a:lstStyle/>
          <a:p>
            <a:pPr algn="l" indent="0" marL="0">
              <a:buNone/>
            </a:pPr>
            <a:r>
              <a:rPr lang="en-US" sz="1400" b="1" dirty="0">
                <a:solidFill>
                  <a:srgbClr val="B02532"/>
                </a:solidFill>
                <a:latin typeface="Palatino Linotype" pitchFamily="34" charset="0"/>
                <a:ea typeface="Palatino Linotype" pitchFamily="34" charset="-122"/>
                <a:cs typeface="Palatino Linotype" pitchFamily="34" charset="-120"/>
              </a:rPr>
              <a:t>Taux standardisé, pour 100 000, 2023</a:t>
            </a:r>
            <a:endParaRPr lang="en-US" sz="1400" dirty="0"/>
          </a:p>
        </p:txBody>
      </p:sp>
      <p:sp>
        <p:nvSpPr>
          <p:cNvPr id="5" name="Text 3"/>
          <p:cNvSpPr/>
          <p:nvPr/>
        </p:nvSpPr>
        <p:spPr>
          <a:xfrm>
            <a:off x="6153912" y="1618488"/>
            <a:ext cx="1408176" cy="530352"/>
          </a:xfrm>
          <a:prstGeom prst="rect">
            <a:avLst/>
          </a:prstGeom>
          <a:noFill/>
          <a:ln/>
        </p:spPr>
        <p:txBody>
          <a:bodyPr wrap="square" lIns="0" tIns="0" rIns="0" bIns="0" rtlCol="0" anchor="ctr"/>
          <a:lstStyle/>
          <a:p>
            <a:pPr algn="ctr" indent="0" marL="0">
              <a:buNone/>
            </a:pPr>
            <a:r>
              <a:rPr lang="en-US" sz="1400" b="1" dirty="0">
                <a:solidFill>
                  <a:srgbClr val="B02532"/>
                </a:solidFill>
                <a:latin typeface="Palatino Linotype" pitchFamily="34" charset="0"/>
                <a:ea typeface="Palatino Linotype" pitchFamily="34" charset="-122"/>
                <a:cs typeface="Palatino Linotype" pitchFamily="34" charset="-120"/>
              </a:rPr>
              <a:t>Roumanie</a:t>
            </a:r>
            <a:endParaRPr lang="en-US" sz="1400" dirty="0"/>
          </a:p>
        </p:txBody>
      </p:sp>
      <p:sp>
        <p:nvSpPr>
          <p:cNvPr id="6" name="Text 4"/>
          <p:cNvSpPr/>
          <p:nvPr/>
        </p:nvSpPr>
        <p:spPr>
          <a:xfrm>
            <a:off x="7708392" y="1618488"/>
            <a:ext cx="1408176" cy="530352"/>
          </a:xfrm>
          <a:prstGeom prst="rect">
            <a:avLst/>
          </a:prstGeom>
          <a:noFill/>
          <a:ln/>
        </p:spPr>
        <p:txBody>
          <a:bodyPr wrap="square" lIns="0" tIns="0" rIns="0" bIns="0" rtlCol="0" anchor="ctr"/>
          <a:lstStyle/>
          <a:p>
            <a:pPr algn="ctr" indent="0" marL="0">
              <a:buNone/>
            </a:pPr>
            <a:r>
              <a:rPr lang="en-US" sz="1400" b="1" dirty="0">
                <a:solidFill>
                  <a:srgbClr val="B02532"/>
                </a:solidFill>
                <a:latin typeface="Palatino Linotype" pitchFamily="34" charset="0"/>
                <a:ea typeface="Palatino Linotype" pitchFamily="34" charset="-122"/>
                <a:cs typeface="Palatino Linotype" pitchFamily="34" charset="-120"/>
              </a:rPr>
              <a:t>UE</a:t>
            </a:r>
            <a:endParaRPr lang="en-US" sz="1400" dirty="0"/>
          </a:p>
        </p:txBody>
      </p:sp>
      <p:sp>
        <p:nvSpPr>
          <p:cNvPr id="7" name="Text 5"/>
          <p:cNvSpPr/>
          <p:nvPr/>
        </p:nvSpPr>
        <p:spPr>
          <a:xfrm>
            <a:off x="9262872" y="1618488"/>
            <a:ext cx="2231136" cy="530352"/>
          </a:xfrm>
          <a:prstGeom prst="rect">
            <a:avLst/>
          </a:prstGeom>
          <a:noFill/>
          <a:ln/>
        </p:spPr>
        <p:txBody>
          <a:bodyPr wrap="square" lIns="0" tIns="0" rIns="0" bIns="0" rtlCol="0" anchor="ctr"/>
          <a:lstStyle/>
          <a:p>
            <a:pPr algn="ctr" indent="0" marL="0">
              <a:buNone/>
            </a:pPr>
            <a:r>
              <a:rPr lang="en-US" sz="1400" b="1" dirty="0">
                <a:solidFill>
                  <a:srgbClr val="B02532"/>
                </a:solidFill>
                <a:latin typeface="Palatino Linotype" pitchFamily="34" charset="0"/>
                <a:ea typeface="Palatino Linotype" pitchFamily="34" charset="-122"/>
                <a:cs typeface="Palatino Linotype" pitchFamily="34" charset="-120"/>
              </a:rPr>
              <a:t>Comparaison</a:t>
            </a:r>
            <a:endParaRPr lang="en-US" sz="1400" dirty="0"/>
          </a:p>
        </p:txBody>
      </p:sp>
      <p:sp>
        <p:nvSpPr>
          <p:cNvPr id="8" name="Shape 6"/>
          <p:cNvSpPr/>
          <p:nvPr/>
        </p:nvSpPr>
        <p:spPr>
          <a:xfrm>
            <a:off x="594360" y="2167128"/>
            <a:ext cx="10972800" cy="13716"/>
          </a:xfrm>
          <a:prstGeom prst="rect">
            <a:avLst/>
          </a:prstGeom>
          <a:solidFill>
            <a:srgbClr val="C9C6BE"/>
          </a:solidFill>
          <a:ln w="12700">
            <a:solidFill>
              <a:srgbClr val="C9C6BE"/>
            </a:solidFill>
            <a:prstDash val="solid"/>
          </a:ln>
        </p:spPr>
      </p:sp>
      <p:sp>
        <p:nvSpPr>
          <p:cNvPr id="9" name="Text 7"/>
          <p:cNvSpPr/>
          <p:nvPr/>
        </p:nvSpPr>
        <p:spPr>
          <a:xfrm>
            <a:off x="667512" y="2185416"/>
            <a:ext cx="5340096" cy="530352"/>
          </a:xfrm>
          <a:prstGeom prst="rect">
            <a:avLst/>
          </a:prstGeom>
          <a:noFill/>
          <a:ln/>
        </p:spPr>
        <p:txBody>
          <a:bodyPr wrap="square" lIns="0" tIns="0" rIns="0" bIns="0" rtlCol="0" anchor="ctr"/>
          <a:lstStyle/>
          <a:p>
            <a:pPr algn="l" indent="0" marL="0">
              <a:buNone/>
            </a:pPr>
            <a:r>
              <a:rPr lang="en-US" sz="1600" b="1" dirty="0">
                <a:solidFill>
                  <a:srgbClr val="B02532"/>
                </a:solidFill>
                <a:latin typeface="Palatino Linotype" pitchFamily="34" charset="0"/>
                <a:ea typeface="Palatino Linotype" pitchFamily="34" charset="-122"/>
                <a:cs typeface="Palatino Linotype" pitchFamily="34" charset="-120"/>
              </a:rPr>
              <a:t>Maladies de l’appareil circulatoire</a:t>
            </a:r>
            <a:endParaRPr lang="en-US" sz="1600" dirty="0"/>
          </a:p>
        </p:txBody>
      </p:sp>
      <p:sp>
        <p:nvSpPr>
          <p:cNvPr id="10" name="Text 8"/>
          <p:cNvSpPr/>
          <p:nvPr/>
        </p:nvSpPr>
        <p:spPr>
          <a:xfrm>
            <a:off x="6153912" y="2185416"/>
            <a:ext cx="1408176" cy="530352"/>
          </a:xfrm>
          <a:prstGeom prst="rect">
            <a:avLst/>
          </a:prstGeom>
          <a:noFill/>
          <a:ln/>
        </p:spPr>
        <p:txBody>
          <a:bodyPr wrap="square" lIns="0" tIns="0" rIns="0" bIns="0" rtlCol="0" anchor="ctr"/>
          <a:lstStyle/>
          <a:p>
            <a:pPr algn="ctr" indent="0" marL="0">
              <a:buNone/>
            </a:pPr>
            <a:r>
              <a:rPr lang="en-US" sz="1600" b="1" dirty="0">
                <a:solidFill>
                  <a:srgbClr val="B02532"/>
                </a:solidFill>
                <a:latin typeface="Palatino Linotype" pitchFamily="34" charset="0"/>
                <a:ea typeface="Palatino Linotype" pitchFamily="34" charset="-122"/>
                <a:cs typeface="Palatino Linotype" pitchFamily="34" charset="-120"/>
              </a:rPr>
              <a:t>787,1</a:t>
            </a:r>
            <a:endParaRPr lang="en-US" sz="1600" dirty="0"/>
          </a:p>
        </p:txBody>
      </p:sp>
      <p:sp>
        <p:nvSpPr>
          <p:cNvPr id="11" name="Text 9"/>
          <p:cNvSpPr/>
          <p:nvPr/>
        </p:nvSpPr>
        <p:spPr>
          <a:xfrm>
            <a:off x="7708392" y="2185416"/>
            <a:ext cx="1408176" cy="530352"/>
          </a:xfrm>
          <a:prstGeom prst="rect">
            <a:avLst/>
          </a:prstGeom>
          <a:noFill/>
          <a:ln/>
        </p:spPr>
        <p:txBody>
          <a:bodyPr wrap="square" lIns="0" tIns="0" rIns="0" bIns="0" rtlCol="0" anchor="ctr"/>
          <a:lstStyle/>
          <a:p>
            <a:pPr algn="ctr" indent="0" marL="0">
              <a:buNone/>
            </a:pPr>
            <a:r>
              <a:rPr lang="en-US" sz="1600" b="1" dirty="0">
                <a:solidFill>
                  <a:srgbClr val="B02532"/>
                </a:solidFill>
                <a:latin typeface="Palatino Linotype" pitchFamily="34" charset="0"/>
                <a:ea typeface="Palatino Linotype" pitchFamily="34" charset="-122"/>
                <a:cs typeface="Palatino Linotype" pitchFamily="34" charset="-120"/>
              </a:rPr>
              <a:t>313,0</a:t>
            </a:r>
            <a:endParaRPr lang="en-US" sz="1600" dirty="0"/>
          </a:p>
        </p:txBody>
      </p:sp>
      <p:sp>
        <p:nvSpPr>
          <p:cNvPr id="12" name="Text 10"/>
          <p:cNvSpPr/>
          <p:nvPr/>
        </p:nvSpPr>
        <p:spPr>
          <a:xfrm>
            <a:off x="9262872" y="2185416"/>
            <a:ext cx="2231136" cy="530352"/>
          </a:xfrm>
          <a:prstGeom prst="rect">
            <a:avLst/>
          </a:prstGeom>
          <a:noFill/>
          <a:ln/>
        </p:spPr>
        <p:txBody>
          <a:bodyPr wrap="square" lIns="0" tIns="0" rIns="0" bIns="0" rtlCol="0" anchor="ctr"/>
          <a:lstStyle/>
          <a:p>
            <a:pPr algn="ctr" indent="0" marL="0">
              <a:buNone/>
            </a:pPr>
            <a:r>
              <a:rPr lang="en-US" sz="1600" b="1" dirty="0">
                <a:solidFill>
                  <a:srgbClr val="B02532"/>
                </a:solidFill>
                <a:latin typeface="Palatino Linotype" pitchFamily="34" charset="0"/>
                <a:ea typeface="Palatino Linotype" pitchFamily="34" charset="-122"/>
                <a:cs typeface="Palatino Linotype" pitchFamily="34" charset="-120"/>
              </a:rPr>
              <a:t>environ 2,5 fois</a:t>
            </a:r>
            <a:endParaRPr lang="en-US" sz="1600" dirty="0"/>
          </a:p>
        </p:txBody>
      </p:sp>
      <p:sp>
        <p:nvSpPr>
          <p:cNvPr id="13" name="Shape 11"/>
          <p:cNvSpPr/>
          <p:nvPr/>
        </p:nvSpPr>
        <p:spPr>
          <a:xfrm>
            <a:off x="594360" y="2734056"/>
            <a:ext cx="10972800" cy="13716"/>
          </a:xfrm>
          <a:prstGeom prst="rect">
            <a:avLst/>
          </a:prstGeom>
          <a:solidFill>
            <a:srgbClr val="C9C6BE"/>
          </a:solidFill>
          <a:ln w="12700">
            <a:solidFill>
              <a:srgbClr val="C9C6BE"/>
            </a:solidFill>
            <a:prstDash val="solid"/>
          </a:ln>
        </p:spPr>
      </p:sp>
      <p:sp>
        <p:nvSpPr>
          <p:cNvPr id="14" name="Text 12"/>
          <p:cNvSpPr/>
          <p:nvPr/>
        </p:nvSpPr>
        <p:spPr>
          <a:xfrm>
            <a:off x="667512" y="2752344"/>
            <a:ext cx="5340096" cy="530352"/>
          </a:xfrm>
          <a:prstGeom prst="rect">
            <a:avLst/>
          </a:prstGeom>
          <a:noFill/>
          <a:ln/>
        </p:spPr>
        <p:txBody>
          <a:bodyPr wrap="square" lIns="0" tIns="0" rIns="0" bIns="0" rtlCol="0" anchor="ctr"/>
          <a:lstStyle/>
          <a:p>
            <a:pPr algn="l" indent="0" marL="0">
              <a:buNone/>
            </a:pPr>
            <a:r>
              <a:rPr lang="en-US" sz="1600" b="1" dirty="0">
                <a:solidFill>
                  <a:srgbClr val="11121A"/>
                </a:solidFill>
                <a:latin typeface="Palatino Linotype" pitchFamily="34" charset="0"/>
                <a:ea typeface="Palatino Linotype" pitchFamily="34" charset="-122"/>
                <a:cs typeface="Palatino Linotype" pitchFamily="34" charset="-120"/>
              </a:rPr>
              <a:t>  dont cardiopathie ischémique</a:t>
            </a:r>
            <a:endParaRPr lang="en-US" sz="1600" dirty="0"/>
          </a:p>
        </p:txBody>
      </p:sp>
      <p:sp>
        <p:nvSpPr>
          <p:cNvPr id="15" name="Text 13"/>
          <p:cNvSpPr/>
          <p:nvPr/>
        </p:nvSpPr>
        <p:spPr>
          <a:xfrm>
            <a:off x="6153912" y="2752344"/>
            <a:ext cx="1408176" cy="530352"/>
          </a:xfrm>
          <a:prstGeom prst="rect">
            <a:avLst/>
          </a:prstGeom>
          <a:noFill/>
          <a:ln/>
        </p:spPr>
        <p:txBody>
          <a:bodyPr wrap="square" lIns="0" tIns="0" rIns="0" bIns="0" rtlCol="0" anchor="ctr"/>
          <a:lstStyle/>
          <a:p>
            <a:pPr algn="ctr" indent="0" marL="0">
              <a:buNone/>
            </a:pPr>
            <a:r>
              <a:rPr lang="en-US" sz="1600" dirty="0">
                <a:solidFill>
                  <a:srgbClr val="11121A"/>
                </a:solidFill>
                <a:latin typeface="Palatino Linotype" pitchFamily="34" charset="0"/>
                <a:ea typeface="Palatino Linotype" pitchFamily="34" charset="-122"/>
                <a:cs typeface="Palatino Linotype" pitchFamily="34" charset="-120"/>
              </a:rPr>
              <a:t>257,3</a:t>
            </a:r>
            <a:endParaRPr lang="en-US" sz="1600" dirty="0"/>
          </a:p>
        </p:txBody>
      </p:sp>
      <p:sp>
        <p:nvSpPr>
          <p:cNvPr id="16" name="Text 14"/>
          <p:cNvSpPr/>
          <p:nvPr/>
        </p:nvSpPr>
        <p:spPr>
          <a:xfrm>
            <a:off x="7708392" y="2752344"/>
            <a:ext cx="1408176" cy="530352"/>
          </a:xfrm>
          <a:prstGeom prst="rect">
            <a:avLst/>
          </a:prstGeom>
          <a:noFill/>
          <a:ln/>
        </p:spPr>
        <p:txBody>
          <a:bodyPr wrap="square" lIns="0" tIns="0" rIns="0" bIns="0" rtlCol="0" anchor="ctr"/>
          <a:lstStyle/>
          <a:p>
            <a:pPr algn="ctr" indent="0" marL="0">
              <a:buNone/>
            </a:pPr>
            <a:r>
              <a:rPr lang="en-US" sz="1600" dirty="0">
                <a:solidFill>
                  <a:srgbClr val="11121A"/>
                </a:solidFill>
                <a:latin typeface="Palatino Linotype" pitchFamily="34" charset="0"/>
                <a:ea typeface="Palatino Linotype" pitchFamily="34" charset="-122"/>
                <a:cs typeface="Palatino Linotype" pitchFamily="34" charset="-120"/>
              </a:rPr>
              <a:t>100,4</a:t>
            </a:r>
            <a:endParaRPr lang="en-US" sz="1600" dirty="0"/>
          </a:p>
        </p:txBody>
      </p:sp>
      <p:sp>
        <p:nvSpPr>
          <p:cNvPr id="17" name="Text 15"/>
          <p:cNvSpPr/>
          <p:nvPr/>
        </p:nvSpPr>
        <p:spPr>
          <a:xfrm>
            <a:off x="9262872" y="2752344"/>
            <a:ext cx="2231136" cy="530352"/>
          </a:xfrm>
          <a:prstGeom prst="rect">
            <a:avLst/>
          </a:prstGeom>
          <a:noFill/>
          <a:ln/>
        </p:spPr>
        <p:txBody>
          <a:bodyPr wrap="square" lIns="0" tIns="0" rIns="0" bIns="0" rtlCol="0" anchor="ctr"/>
          <a:lstStyle/>
          <a:p>
            <a:pPr algn="ctr" indent="0" marL="0">
              <a:buNone/>
            </a:pPr>
            <a:r>
              <a:rPr lang="en-US" sz="1600" dirty="0">
                <a:solidFill>
                  <a:srgbClr val="11121A"/>
                </a:solidFill>
                <a:latin typeface="Palatino Linotype" pitchFamily="34" charset="0"/>
                <a:ea typeface="Palatino Linotype" pitchFamily="34" charset="-122"/>
                <a:cs typeface="Palatino Linotype" pitchFamily="34" charset="-120"/>
              </a:rPr>
              <a:t>environ 2,6</a:t>
            </a:r>
            <a:endParaRPr lang="en-US" sz="1600" dirty="0"/>
          </a:p>
        </p:txBody>
      </p:sp>
      <p:sp>
        <p:nvSpPr>
          <p:cNvPr id="18" name="Shape 16"/>
          <p:cNvSpPr/>
          <p:nvPr/>
        </p:nvSpPr>
        <p:spPr>
          <a:xfrm>
            <a:off x="594360" y="3300984"/>
            <a:ext cx="10972800" cy="13716"/>
          </a:xfrm>
          <a:prstGeom prst="rect">
            <a:avLst/>
          </a:prstGeom>
          <a:solidFill>
            <a:srgbClr val="C9C6BE"/>
          </a:solidFill>
          <a:ln w="12700">
            <a:solidFill>
              <a:srgbClr val="C9C6BE"/>
            </a:solidFill>
            <a:prstDash val="solid"/>
          </a:ln>
        </p:spPr>
      </p:sp>
      <p:sp>
        <p:nvSpPr>
          <p:cNvPr id="19" name="Text 17"/>
          <p:cNvSpPr/>
          <p:nvPr/>
        </p:nvSpPr>
        <p:spPr>
          <a:xfrm>
            <a:off x="667512" y="3319272"/>
            <a:ext cx="5340096" cy="530352"/>
          </a:xfrm>
          <a:prstGeom prst="rect">
            <a:avLst/>
          </a:prstGeom>
          <a:noFill/>
          <a:ln/>
        </p:spPr>
        <p:txBody>
          <a:bodyPr wrap="square" lIns="0" tIns="0" rIns="0" bIns="0" rtlCol="0" anchor="ctr"/>
          <a:lstStyle/>
          <a:p>
            <a:pPr algn="l" indent="0" marL="0">
              <a:buNone/>
            </a:pPr>
            <a:r>
              <a:rPr lang="en-US" sz="1600" b="1" dirty="0">
                <a:solidFill>
                  <a:srgbClr val="11121A"/>
                </a:solidFill>
                <a:latin typeface="Palatino Linotype" pitchFamily="34" charset="0"/>
                <a:ea typeface="Palatino Linotype" pitchFamily="34" charset="-122"/>
                <a:cs typeface="Palatino Linotype" pitchFamily="34" charset="-120"/>
              </a:rPr>
              <a:t>  dont maladies cérébrovasculaires</a:t>
            </a:r>
            <a:endParaRPr lang="en-US" sz="1600" dirty="0"/>
          </a:p>
        </p:txBody>
      </p:sp>
      <p:sp>
        <p:nvSpPr>
          <p:cNvPr id="20" name="Text 18"/>
          <p:cNvSpPr/>
          <p:nvPr/>
        </p:nvSpPr>
        <p:spPr>
          <a:xfrm>
            <a:off x="6153912" y="3319272"/>
            <a:ext cx="1408176" cy="530352"/>
          </a:xfrm>
          <a:prstGeom prst="rect">
            <a:avLst/>
          </a:prstGeom>
          <a:noFill/>
          <a:ln/>
        </p:spPr>
        <p:txBody>
          <a:bodyPr wrap="square" lIns="0" tIns="0" rIns="0" bIns="0" rtlCol="0" anchor="ctr"/>
          <a:lstStyle/>
          <a:p>
            <a:pPr algn="ctr" indent="0" marL="0">
              <a:buNone/>
            </a:pPr>
            <a:r>
              <a:rPr lang="en-US" sz="1600" dirty="0">
                <a:solidFill>
                  <a:srgbClr val="11121A"/>
                </a:solidFill>
                <a:latin typeface="Palatino Linotype" pitchFamily="34" charset="0"/>
                <a:ea typeface="Palatino Linotype" pitchFamily="34" charset="-122"/>
                <a:cs typeface="Palatino Linotype" pitchFamily="34" charset="-120"/>
              </a:rPr>
              <a:t>187,7</a:t>
            </a:r>
            <a:endParaRPr lang="en-US" sz="1600" dirty="0"/>
          </a:p>
        </p:txBody>
      </p:sp>
      <p:sp>
        <p:nvSpPr>
          <p:cNvPr id="21" name="Text 19"/>
          <p:cNvSpPr/>
          <p:nvPr/>
        </p:nvSpPr>
        <p:spPr>
          <a:xfrm>
            <a:off x="7708392" y="3319272"/>
            <a:ext cx="1408176" cy="530352"/>
          </a:xfrm>
          <a:prstGeom prst="rect">
            <a:avLst/>
          </a:prstGeom>
          <a:noFill/>
          <a:ln/>
        </p:spPr>
        <p:txBody>
          <a:bodyPr wrap="square" lIns="0" tIns="0" rIns="0" bIns="0" rtlCol="0" anchor="ctr"/>
          <a:lstStyle/>
          <a:p>
            <a:pPr algn="ctr" indent="0" marL="0">
              <a:buNone/>
            </a:pPr>
            <a:r>
              <a:rPr lang="en-US" sz="1600" dirty="0">
                <a:solidFill>
                  <a:srgbClr val="11121A"/>
                </a:solidFill>
                <a:latin typeface="Palatino Linotype" pitchFamily="34" charset="0"/>
                <a:ea typeface="Palatino Linotype" pitchFamily="34" charset="-122"/>
                <a:cs typeface="Palatino Linotype" pitchFamily="34" charset="-120"/>
              </a:rPr>
              <a:t>63,9</a:t>
            </a:r>
            <a:endParaRPr lang="en-US" sz="1600" dirty="0"/>
          </a:p>
        </p:txBody>
      </p:sp>
      <p:sp>
        <p:nvSpPr>
          <p:cNvPr id="22" name="Text 20"/>
          <p:cNvSpPr/>
          <p:nvPr/>
        </p:nvSpPr>
        <p:spPr>
          <a:xfrm>
            <a:off x="9262872" y="3319272"/>
            <a:ext cx="2231136" cy="530352"/>
          </a:xfrm>
          <a:prstGeom prst="rect">
            <a:avLst/>
          </a:prstGeom>
          <a:noFill/>
          <a:ln/>
        </p:spPr>
        <p:txBody>
          <a:bodyPr wrap="square" lIns="0" tIns="0" rIns="0" bIns="0" rtlCol="0" anchor="ctr"/>
          <a:lstStyle/>
          <a:p>
            <a:pPr algn="ctr" indent="0" marL="0">
              <a:buNone/>
            </a:pPr>
            <a:r>
              <a:rPr lang="en-US" sz="1600" dirty="0">
                <a:solidFill>
                  <a:srgbClr val="11121A"/>
                </a:solidFill>
                <a:latin typeface="Palatino Linotype" pitchFamily="34" charset="0"/>
                <a:ea typeface="Palatino Linotype" pitchFamily="34" charset="-122"/>
                <a:cs typeface="Palatino Linotype" pitchFamily="34" charset="-120"/>
              </a:rPr>
              <a:t>près de 3</a:t>
            </a:r>
            <a:endParaRPr lang="en-US" sz="1600" dirty="0"/>
          </a:p>
        </p:txBody>
      </p:sp>
      <p:sp>
        <p:nvSpPr>
          <p:cNvPr id="23" name="Shape 21"/>
          <p:cNvSpPr/>
          <p:nvPr/>
        </p:nvSpPr>
        <p:spPr>
          <a:xfrm>
            <a:off x="594360" y="3867912"/>
            <a:ext cx="10972800" cy="13716"/>
          </a:xfrm>
          <a:prstGeom prst="rect">
            <a:avLst/>
          </a:prstGeom>
          <a:solidFill>
            <a:srgbClr val="C9C6BE"/>
          </a:solidFill>
          <a:ln w="12700">
            <a:solidFill>
              <a:srgbClr val="C9C6BE"/>
            </a:solidFill>
            <a:prstDash val="solid"/>
          </a:ln>
        </p:spPr>
      </p:sp>
      <p:sp>
        <p:nvSpPr>
          <p:cNvPr id="24" name="Text 22"/>
          <p:cNvSpPr/>
          <p:nvPr/>
        </p:nvSpPr>
        <p:spPr>
          <a:xfrm>
            <a:off x="667512" y="3886200"/>
            <a:ext cx="5340096" cy="530352"/>
          </a:xfrm>
          <a:prstGeom prst="rect">
            <a:avLst/>
          </a:prstGeom>
          <a:noFill/>
          <a:ln/>
        </p:spPr>
        <p:txBody>
          <a:bodyPr wrap="square" lIns="0" tIns="0" rIns="0" bIns="0" rtlCol="0" anchor="ctr"/>
          <a:lstStyle/>
          <a:p>
            <a:pPr algn="l" indent="0" marL="0">
              <a:buNone/>
            </a:pPr>
            <a:r>
              <a:rPr lang="en-US" sz="1600" b="1" dirty="0">
                <a:solidFill>
                  <a:srgbClr val="11121A"/>
                </a:solidFill>
                <a:latin typeface="Palatino Linotype" pitchFamily="34" charset="0"/>
                <a:ea typeface="Palatino Linotype" pitchFamily="34" charset="-122"/>
                <a:cs typeface="Palatino Linotype" pitchFamily="34" charset="-120"/>
              </a:rPr>
              <a:t>Tumeurs malignes</a:t>
            </a:r>
            <a:endParaRPr lang="en-US" sz="1600" dirty="0"/>
          </a:p>
        </p:txBody>
      </p:sp>
      <p:sp>
        <p:nvSpPr>
          <p:cNvPr id="25" name="Text 23"/>
          <p:cNvSpPr/>
          <p:nvPr/>
        </p:nvSpPr>
        <p:spPr>
          <a:xfrm>
            <a:off x="6153912" y="3886200"/>
            <a:ext cx="1408176" cy="530352"/>
          </a:xfrm>
          <a:prstGeom prst="rect">
            <a:avLst/>
          </a:prstGeom>
          <a:noFill/>
          <a:ln/>
        </p:spPr>
        <p:txBody>
          <a:bodyPr wrap="square" lIns="0" tIns="0" rIns="0" bIns="0" rtlCol="0" anchor="ctr"/>
          <a:lstStyle/>
          <a:p>
            <a:pPr algn="ctr" indent="0" marL="0">
              <a:buNone/>
            </a:pPr>
            <a:r>
              <a:rPr lang="en-US" sz="1600" dirty="0">
                <a:solidFill>
                  <a:srgbClr val="11121A"/>
                </a:solidFill>
                <a:latin typeface="Palatino Linotype" pitchFamily="34" charset="0"/>
                <a:ea typeface="Palatino Linotype" pitchFamily="34" charset="-122"/>
                <a:cs typeface="Palatino Linotype" pitchFamily="34" charset="-120"/>
              </a:rPr>
              <a:t>241,5</a:t>
            </a:r>
            <a:endParaRPr lang="en-US" sz="1600" dirty="0"/>
          </a:p>
        </p:txBody>
      </p:sp>
      <p:sp>
        <p:nvSpPr>
          <p:cNvPr id="26" name="Text 24"/>
          <p:cNvSpPr/>
          <p:nvPr/>
        </p:nvSpPr>
        <p:spPr>
          <a:xfrm>
            <a:off x="7708392" y="3886200"/>
            <a:ext cx="1408176" cy="530352"/>
          </a:xfrm>
          <a:prstGeom prst="rect">
            <a:avLst/>
          </a:prstGeom>
          <a:noFill/>
          <a:ln/>
        </p:spPr>
        <p:txBody>
          <a:bodyPr wrap="square" lIns="0" tIns="0" rIns="0" bIns="0" rtlCol="0" anchor="ctr"/>
          <a:lstStyle/>
          <a:p>
            <a:pPr algn="ctr" indent="0" marL="0">
              <a:buNone/>
            </a:pPr>
            <a:r>
              <a:rPr lang="en-US" sz="1600" dirty="0">
                <a:solidFill>
                  <a:srgbClr val="11121A"/>
                </a:solidFill>
                <a:latin typeface="Palatino Linotype" pitchFamily="34" charset="0"/>
                <a:ea typeface="Palatino Linotype" pitchFamily="34" charset="-122"/>
                <a:cs typeface="Palatino Linotype" pitchFamily="34" charset="-120"/>
              </a:rPr>
              <a:t>233,1</a:t>
            </a:r>
            <a:endParaRPr lang="en-US" sz="1600" dirty="0"/>
          </a:p>
        </p:txBody>
      </p:sp>
      <p:sp>
        <p:nvSpPr>
          <p:cNvPr id="27" name="Text 25"/>
          <p:cNvSpPr/>
          <p:nvPr/>
        </p:nvSpPr>
        <p:spPr>
          <a:xfrm>
            <a:off x="9262872" y="3886200"/>
            <a:ext cx="2231136" cy="530352"/>
          </a:xfrm>
          <a:prstGeom prst="rect">
            <a:avLst/>
          </a:prstGeom>
          <a:noFill/>
          <a:ln/>
        </p:spPr>
        <p:txBody>
          <a:bodyPr wrap="square" lIns="0" tIns="0" rIns="0" bIns="0" rtlCol="0" anchor="ctr"/>
          <a:lstStyle/>
          <a:p>
            <a:pPr algn="ctr" indent="0" marL="0">
              <a:buNone/>
            </a:pPr>
            <a:r>
              <a:rPr lang="en-US" sz="1600" dirty="0">
                <a:solidFill>
                  <a:srgbClr val="11121A"/>
                </a:solidFill>
                <a:latin typeface="Palatino Linotype" pitchFamily="34" charset="0"/>
                <a:ea typeface="Palatino Linotype" pitchFamily="34" charset="-122"/>
                <a:cs typeface="Palatino Linotype" pitchFamily="34" charset="-120"/>
              </a:rPr>
              <a:t>proche</a:t>
            </a:r>
            <a:endParaRPr lang="en-US" sz="1600" dirty="0"/>
          </a:p>
        </p:txBody>
      </p:sp>
      <p:sp>
        <p:nvSpPr>
          <p:cNvPr id="28" name="Shape 26"/>
          <p:cNvSpPr/>
          <p:nvPr/>
        </p:nvSpPr>
        <p:spPr>
          <a:xfrm>
            <a:off x="594360" y="4434840"/>
            <a:ext cx="10972800" cy="13716"/>
          </a:xfrm>
          <a:prstGeom prst="rect">
            <a:avLst/>
          </a:prstGeom>
          <a:solidFill>
            <a:srgbClr val="C9C6BE"/>
          </a:solidFill>
          <a:ln w="12700">
            <a:solidFill>
              <a:srgbClr val="C9C6BE"/>
            </a:solidFill>
            <a:prstDash val="solid"/>
          </a:ln>
        </p:spPr>
      </p:sp>
      <p:sp>
        <p:nvSpPr>
          <p:cNvPr id="29" name="Text 27"/>
          <p:cNvSpPr/>
          <p:nvPr/>
        </p:nvSpPr>
        <p:spPr>
          <a:xfrm>
            <a:off x="667512" y="4453128"/>
            <a:ext cx="5340096" cy="530352"/>
          </a:xfrm>
          <a:prstGeom prst="rect">
            <a:avLst/>
          </a:prstGeom>
          <a:noFill/>
          <a:ln/>
        </p:spPr>
        <p:txBody>
          <a:bodyPr wrap="square" lIns="0" tIns="0" rIns="0" bIns="0" rtlCol="0" anchor="ctr"/>
          <a:lstStyle/>
          <a:p>
            <a:pPr algn="l" indent="0" marL="0">
              <a:buNone/>
            </a:pPr>
            <a:r>
              <a:rPr lang="en-US" sz="1600" b="1" dirty="0">
                <a:solidFill>
                  <a:srgbClr val="11121A"/>
                </a:solidFill>
                <a:latin typeface="Palatino Linotype" pitchFamily="34" charset="0"/>
                <a:ea typeface="Palatino Linotype" pitchFamily="34" charset="-122"/>
                <a:cs typeface="Palatino Linotype" pitchFamily="34" charset="-120"/>
              </a:rPr>
              <a:t>Diabète sucré</a:t>
            </a:r>
            <a:endParaRPr lang="en-US" sz="1600" dirty="0"/>
          </a:p>
        </p:txBody>
      </p:sp>
      <p:sp>
        <p:nvSpPr>
          <p:cNvPr id="30" name="Text 28"/>
          <p:cNvSpPr/>
          <p:nvPr/>
        </p:nvSpPr>
        <p:spPr>
          <a:xfrm>
            <a:off x="6153912" y="4453128"/>
            <a:ext cx="1408176" cy="530352"/>
          </a:xfrm>
          <a:prstGeom prst="rect">
            <a:avLst/>
          </a:prstGeom>
          <a:noFill/>
          <a:ln/>
        </p:spPr>
        <p:txBody>
          <a:bodyPr wrap="square" lIns="0" tIns="0" rIns="0" bIns="0" rtlCol="0" anchor="ctr"/>
          <a:lstStyle/>
          <a:p>
            <a:pPr algn="ctr" indent="0" marL="0">
              <a:buNone/>
            </a:pPr>
            <a:r>
              <a:rPr lang="en-US" sz="1600" dirty="0">
                <a:solidFill>
                  <a:srgbClr val="11121A"/>
                </a:solidFill>
                <a:latin typeface="Palatino Linotype" pitchFamily="34" charset="0"/>
                <a:ea typeface="Palatino Linotype" pitchFamily="34" charset="-122"/>
                <a:cs typeface="Palatino Linotype" pitchFamily="34" charset="-120"/>
              </a:rPr>
              <a:t>15,7</a:t>
            </a:r>
            <a:endParaRPr lang="en-US" sz="1600" dirty="0"/>
          </a:p>
        </p:txBody>
      </p:sp>
      <p:sp>
        <p:nvSpPr>
          <p:cNvPr id="31" name="Text 29"/>
          <p:cNvSpPr/>
          <p:nvPr/>
        </p:nvSpPr>
        <p:spPr>
          <a:xfrm>
            <a:off x="7708392" y="4453128"/>
            <a:ext cx="1408176" cy="530352"/>
          </a:xfrm>
          <a:prstGeom prst="rect">
            <a:avLst/>
          </a:prstGeom>
          <a:noFill/>
          <a:ln/>
        </p:spPr>
        <p:txBody>
          <a:bodyPr wrap="square" lIns="0" tIns="0" rIns="0" bIns="0" rtlCol="0" anchor="ctr"/>
          <a:lstStyle/>
          <a:p>
            <a:pPr algn="ctr" indent="0" marL="0">
              <a:buNone/>
            </a:pPr>
            <a:r>
              <a:rPr lang="en-US" sz="1600" dirty="0">
                <a:solidFill>
                  <a:srgbClr val="11121A"/>
                </a:solidFill>
                <a:latin typeface="Palatino Linotype" pitchFamily="34" charset="0"/>
                <a:ea typeface="Palatino Linotype" pitchFamily="34" charset="-122"/>
                <a:cs typeface="Palatino Linotype" pitchFamily="34" charset="-120"/>
              </a:rPr>
              <a:t>23,5</a:t>
            </a:r>
            <a:endParaRPr lang="en-US" sz="1600" dirty="0"/>
          </a:p>
        </p:txBody>
      </p:sp>
      <p:sp>
        <p:nvSpPr>
          <p:cNvPr id="32" name="Text 30"/>
          <p:cNvSpPr/>
          <p:nvPr/>
        </p:nvSpPr>
        <p:spPr>
          <a:xfrm>
            <a:off x="9262872" y="4453128"/>
            <a:ext cx="2231136" cy="530352"/>
          </a:xfrm>
          <a:prstGeom prst="rect">
            <a:avLst/>
          </a:prstGeom>
          <a:noFill/>
          <a:ln/>
        </p:spPr>
        <p:txBody>
          <a:bodyPr wrap="square" lIns="0" tIns="0" rIns="0" bIns="0" rtlCol="0" anchor="ctr"/>
          <a:lstStyle/>
          <a:p>
            <a:pPr algn="ctr" indent="0" marL="0">
              <a:buNone/>
            </a:pPr>
            <a:r>
              <a:rPr lang="en-US" sz="1600" dirty="0">
                <a:solidFill>
                  <a:srgbClr val="11121A"/>
                </a:solidFill>
                <a:latin typeface="Palatino Linotype" pitchFamily="34" charset="0"/>
                <a:ea typeface="Palatino Linotype" pitchFamily="34" charset="-122"/>
                <a:cs typeface="Palatino Linotype" pitchFamily="34" charset="-120"/>
              </a:rPr>
              <a:t>plus faible</a:t>
            </a:r>
            <a:endParaRPr lang="en-US" sz="1600" dirty="0"/>
          </a:p>
        </p:txBody>
      </p:sp>
      <p:sp>
        <p:nvSpPr>
          <p:cNvPr id="33" name="Shape 31"/>
          <p:cNvSpPr/>
          <p:nvPr/>
        </p:nvSpPr>
        <p:spPr>
          <a:xfrm>
            <a:off x="594360" y="5001768"/>
            <a:ext cx="10972800" cy="13716"/>
          </a:xfrm>
          <a:prstGeom prst="rect">
            <a:avLst/>
          </a:prstGeom>
          <a:solidFill>
            <a:srgbClr val="C9C6BE"/>
          </a:solidFill>
          <a:ln w="12700">
            <a:solidFill>
              <a:srgbClr val="C9C6BE"/>
            </a:solidFill>
            <a:prstDash val="solid"/>
          </a:ln>
        </p:spPr>
      </p:sp>
      <p:sp>
        <p:nvSpPr>
          <p:cNvPr id="34" name="Text 32"/>
          <p:cNvSpPr/>
          <p:nvPr/>
        </p:nvSpPr>
        <p:spPr>
          <a:xfrm>
            <a:off x="667512" y="5020056"/>
            <a:ext cx="5340096" cy="530352"/>
          </a:xfrm>
          <a:prstGeom prst="rect">
            <a:avLst/>
          </a:prstGeom>
          <a:noFill/>
          <a:ln/>
        </p:spPr>
        <p:txBody>
          <a:bodyPr wrap="square" lIns="0" tIns="0" rIns="0" bIns="0" rtlCol="0" anchor="ctr"/>
          <a:lstStyle/>
          <a:p>
            <a:pPr algn="l" indent="0" marL="0">
              <a:buNone/>
            </a:pPr>
            <a:r>
              <a:rPr lang="en-US" sz="1600" b="1" dirty="0">
                <a:solidFill>
                  <a:srgbClr val="11121A"/>
                </a:solidFill>
                <a:latin typeface="Palatino Linotype" pitchFamily="34" charset="0"/>
                <a:ea typeface="Palatino Linotype" pitchFamily="34" charset="-122"/>
                <a:cs typeface="Palatino Linotype" pitchFamily="34" charset="-120"/>
              </a:rPr>
              <a:t>Maladies chroniques des voies respiratoires inférieures</a:t>
            </a:r>
            <a:endParaRPr lang="en-US" sz="1600" dirty="0"/>
          </a:p>
        </p:txBody>
      </p:sp>
      <p:sp>
        <p:nvSpPr>
          <p:cNvPr id="35" name="Text 33"/>
          <p:cNvSpPr/>
          <p:nvPr/>
        </p:nvSpPr>
        <p:spPr>
          <a:xfrm>
            <a:off x="6153912" y="5020056"/>
            <a:ext cx="1408176" cy="530352"/>
          </a:xfrm>
          <a:prstGeom prst="rect">
            <a:avLst/>
          </a:prstGeom>
          <a:noFill/>
          <a:ln/>
        </p:spPr>
        <p:txBody>
          <a:bodyPr wrap="square" lIns="0" tIns="0" rIns="0" bIns="0" rtlCol="0" anchor="ctr"/>
          <a:lstStyle/>
          <a:p>
            <a:pPr algn="ctr" indent="0" marL="0">
              <a:buNone/>
            </a:pPr>
            <a:r>
              <a:rPr lang="en-US" sz="1600" dirty="0">
                <a:solidFill>
                  <a:srgbClr val="11121A"/>
                </a:solidFill>
                <a:latin typeface="Palatino Linotype" pitchFamily="34" charset="0"/>
                <a:ea typeface="Palatino Linotype" pitchFamily="34" charset="-122"/>
                <a:cs typeface="Palatino Linotype" pitchFamily="34" charset="-120"/>
              </a:rPr>
              <a:t>26,2</a:t>
            </a:r>
            <a:endParaRPr lang="en-US" sz="1600" dirty="0"/>
          </a:p>
        </p:txBody>
      </p:sp>
      <p:sp>
        <p:nvSpPr>
          <p:cNvPr id="36" name="Text 34"/>
          <p:cNvSpPr/>
          <p:nvPr/>
        </p:nvSpPr>
        <p:spPr>
          <a:xfrm>
            <a:off x="7708392" y="5020056"/>
            <a:ext cx="1408176" cy="530352"/>
          </a:xfrm>
          <a:prstGeom prst="rect">
            <a:avLst/>
          </a:prstGeom>
          <a:noFill/>
          <a:ln/>
        </p:spPr>
        <p:txBody>
          <a:bodyPr wrap="square" lIns="0" tIns="0" rIns="0" bIns="0" rtlCol="0" anchor="ctr"/>
          <a:lstStyle/>
          <a:p>
            <a:pPr algn="ctr" indent="0" marL="0">
              <a:buNone/>
            </a:pPr>
            <a:r>
              <a:rPr lang="en-US" sz="1600" dirty="0">
                <a:solidFill>
                  <a:srgbClr val="11121A"/>
                </a:solidFill>
                <a:latin typeface="Palatino Linotype" pitchFamily="34" charset="0"/>
                <a:ea typeface="Palatino Linotype" pitchFamily="34" charset="-122"/>
                <a:cs typeface="Palatino Linotype" pitchFamily="34" charset="-120"/>
              </a:rPr>
              <a:t>27,9</a:t>
            </a:r>
            <a:endParaRPr lang="en-US" sz="1600" dirty="0"/>
          </a:p>
        </p:txBody>
      </p:sp>
      <p:sp>
        <p:nvSpPr>
          <p:cNvPr id="37" name="Text 35"/>
          <p:cNvSpPr/>
          <p:nvPr/>
        </p:nvSpPr>
        <p:spPr>
          <a:xfrm>
            <a:off x="9262872" y="5020056"/>
            <a:ext cx="2231136" cy="530352"/>
          </a:xfrm>
          <a:prstGeom prst="rect">
            <a:avLst/>
          </a:prstGeom>
          <a:noFill/>
          <a:ln/>
        </p:spPr>
        <p:txBody>
          <a:bodyPr wrap="square" lIns="0" tIns="0" rIns="0" bIns="0" rtlCol="0" anchor="ctr"/>
          <a:lstStyle/>
          <a:p>
            <a:pPr algn="ctr" indent="0" marL="0">
              <a:buNone/>
            </a:pPr>
            <a:r>
              <a:rPr lang="en-US" sz="1600" dirty="0">
                <a:solidFill>
                  <a:srgbClr val="11121A"/>
                </a:solidFill>
                <a:latin typeface="Palatino Linotype" pitchFamily="34" charset="0"/>
                <a:ea typeface="Palatino Linotype" pitchFamily="34" charset="-122"/>
                <a:cs typeface="Palatino Linotype" pitchFamily="34" charset="-120"/>
              </a:rPr>
              <a:t>un peu plus faible</a:t>
            </a:r>
            <a:endParaRPr lang="en-US" sz="1600" dirty="0"/>
          </a:p>
        </p:txBody>
      </p:sp>
      <p:sp>
        <p:nvSpPr>
          <p:cNvPr id="38" name="Text 36"/>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Source : Eurostat, hlth_cd_asdr2 ; valeurs à deux décimales, arrondies à une.</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DEUX AUTRES ANGLES</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Ce que montrent encore les données sur les causes</a:t>
            </a:r>
            <a:endParaRPr lang="en-US" sz="3200" dirty="0"/>
          </a:p>
        </p:txBody>
      </p:sp>
      <p:sp>
        <p:nvSpPr>
          <p:cNvPr id="4" name="Shape 2"/>
          <p:cNvSpPr/>
          <p:nvPr/>
        </p:nvSpPr>
        <p:spPr>
          <a:xfrm>
            <a:off x="594360" y="1691640"/>
            <a:ext cx="5349240" cy="4114800"/>
          </a:xfrm>
          <a:prstGeom prst="roundRect">
            <a:avLst>
              <a:gd name="adj" fmla="val 2000"/>
            </a:avLst>
          </a:prstGeom>
          <a:solidFill>
            <a:srgbClr val="1D1F2B"/>
          </a:solidFill>
          <a:ln w="12700">
            <a:solidFill>
              <a:srgbClr val="1D1F2B"/>
            </a:solidFill>
            <a:prstDash val="solid"/>
          </a:ln>
        </p:spPr>
      </p:sp>
      <p:sp>
        <p:nvSpPr>
          <p:cNvPr id="5" name="Text 3"/>
          <p:cNvSpPr/>
          <p:nvPr/>
        </p:nvSpPr>
        <p:spPr>
          <a:xfrm>
            <a:off x="868680" y="1828800"/>
            <a:ext cx="4846320" cy="365760"/>
          </a:xfrm>
          <a:prstGeom prst="rect">
            <a:avLst/>
          </a:prstGeom>
          <a:noFill/>
          <a:ln/>
        </p:spPr>
        <p:txBody>
          <a:bodyPr wrap="square" lIns="0" tIns="0" rIns="0" bIns="0" rtlCol="0" anchor="t"/>
          <a:lstStyle/>
          <a:p>
            <a:pPr indent="0" marL="0">
              <a:buNone/>
            </a:pPr>
            <a:r>
              <a:rPr lang="en-US" sz="1200" b="1" spc="200" kern="0" dirty="0">
                <a:solidFill>
                  <a:srgbClr val="FFC24B"/>
                </a:solidFill>
                <a:latin typeface="Palatino Linotype" pitchFamily="34" charset="0"/>
                <a:ea typeface="Palatino Linotype" pitchFamily="34" charset="-122"/>
                <a:cs typeface="Palatino Linotype" pitchFamily="34" charset="-120"/>
              </a:rPr>
              <a:t>GLOBAL BURDEN OF DISEASE, ROUMANIE, 2023</a:t>
            </a:r>
            <a:endParaRPr lang="en-US" sz="1200" dirty="0"/>
          </a:p>
        </p:txBody>
      </p:sp>
      <p:sp>
        <p:nvSpPr>
          <p:cNvPr id="6" name="Shape 4"/>
          <p:cNvSpPr/>
          <p:nvPr/>
        </p:nvSpPr>
        <p:spPr>
          <a:xfrm>
            <a:off x="868680" y="2286000"/>
            <a:ext cx="4800600" cy="1463040"/>
          </a:xfrm>
          <a:prstGeom prst="roundRect">
            <a:avLst>
              <a:gd name="adj" fmla="val 5625"/>
            </a:avLst>
          </a:prstGeom>
          <a:solidFill>
            <a:srgbClr val="272A38"/>
          </a:solidFill>
          <a:ln w="12700">
            <a:solidFill>
              <a:srgbClr val="272A38"/>
            </a:solidFill>
            <a:prstDash val="solid"/>
          </a:ln>
        </p:spPr>
      </p:sp>
      <p:sp>
        <p:nvSpPr>
          <p:cNvPr id="7" name="Text 5"/>
          <p:cNvSpPr/>
          <p:nvPr/>
        </p:nvSpPr>
        <p:spPr>
          <a:xfrm>
            <a:off x="1143000" y="2395728"/>
            <a:ext cx="4251960" cy="731520"/>
          </a:xfrm>
          <a:prstGeom prst="rect">
            <a:avLst/>
          </a:prstGeom>
          <a:noFill/>
          <a:ln/>
        </p:spPr>
        <p:txBody>
          <a:bodyPr wrap="square" lIns="0" tIns="0" rIns="0" bIns="0" rtlCol="0" anchor="ctr"/>
          <a:lstStyle/>
          <a:p>
            <a:pPr indent="0" marL="0">
              <a:buNone/>
            </a:pPr>
            <a:r>
              <a:rPr lang="en-US" sz="3600" b="1" dirty="0">
                <a:solidFill>
                  <a:srgbClr val="FF4757"/>
                </a:solidFill>
                <a:latin typeface="Palatino Linotype" pitchFamily="34" charset="0"/>
                <a:ea typeface="Palatino Linotype" pitchFamily="34" charset="-122"/>
                <a:cs typeface="Palatino Linotype" pitchFamily="34" charset="-120"/>
              </a:rPr>
              <a:t>22,9 %</a:t>
            </a:r>
            <a:endParaRPr lang="en-US" sz="3600" dirty="0"/>
          </a:p>
        </p:txBody>
      </p:sp>
      <p:sp>
        <p:nvSpPr>
          <p:cNvPr id="8" name="Text 6"/>
          <p:cNvSpPr/>
          <p:nvPr/>
        </p:nvSpPr>
        <p:spPr>
          <a:xfrm>
            <a:off x="1143000" y="3035808"/>
            <a:ext cx="4251960" cy="672998"/>
          </a:xfrm>
          <a:prstGeom prst="rect">
            <a:avLst/>
          </a:prstGeom>
          <a:noFill/>
          <a:ln/>
        </p:spPr>
        <p:txBody>
          <a:bodyPr wrap="square" lIns="0" tIns="0" rIns="0" bIns="0" rtlCol="0" anchor="t"/>
          <a:lstStyle/>
          <a:p>
            <a:pPr indent="0" marL="0">
              <a:buNone/>
            </a:pPr>
            <a:r>
              <a:rPr lang="en-US" sz="1200" dirty="0">
                <a:solidFill>
                  <a:srgbClr val="FFFFFF"/>
                </a:solidFill>
                <a:latin typeface="Palatino Linotype" pitchFamily="34" charset="0"/>
                <a:ea typeface="Palatino Linotype" pitchFamily="34" charset="-122"/>
                <a:cs typeface="Palatino Linotype" pitchFamily="34" charset="-120"/>
              </a:rPr>
              <a:t>des décès : cardiopathie ischémique, environ 56 400</a:t>
            </a:r>
            <a:endParaRPr lang="en-US" sz="1200" dirty="0"/>
          </a:p>
        </p:txBody>
      </p:sp>
      <p:sp>
        <p:nvSpPr>
          <p:cNvPr id="9" name="Shape 7"/>
          <p:cNvSpPr/>
          <p:nvPr/>
        </p:nvSpPr>
        <p:spPr>
          <a:xfrm>
            <a:off x="868680" y="3931920"/>
            <a:ext cx="4800600" cy="1463040"/>
          </a:xfrm>
          <a:prstGeom prst="roundRect">
            <a:avLst>
              <a:gd name="adj" fmla="val 5625"/>
            </a:avLst>
          </a:prstGeom>
          <a:solidFill>
            <a:srgbClr val="272A38"/>
          </a:solidFill>
          <a:ln w="12700">
            <a:solidFill>
              <a:srgbClr val="272A38"/>
            </a:solidFill>
            <a:prstDash val="solid"/>
          </a:ln>
        </p:spPr>
      </p:sp>
      <p:sp>
        <p:nvSpPr>
          <p:cNvPr id="10" name="Text 8"/>
          <p:cNvSpPr/>
          <p:nvPr/>
        </p:nvSpPr>
        <p:spPr>
          <a:xfrm>
            <a:off x="1143000" y="4041648"/>
            <a:ext cx="4251960" cy="731520"/>
          </a:xfrm>
          <a:prstGeom prst="rect">
            <a:avLst/>
          </a:prstGeom>
          <a:noFill/>
          <a:ln/>
        </p:spPr>
        <p:txBody>
          <a:bodyPr wrap="square" lIns="0" tIns="0" rIns="0" bIns="0" rtlCol="0" anchor="ctr"/>
          <a:lstStyle/>
          <a:p>
            <a:pPr indent="0" marL="0">
              <a:buNone/>
            </a:pPr>
            <a:r>
              <a:rPr lang="en-US" sz="3600" b="1" dirty="0">
                <a:solidFill>
                  <a:srgbClr val="FF4757"/>
                </a:solidFill>
                <a:latin typeface="Palatino Linotype" pitchFamily="34" charset="0"/>
                <a:ea typeface="Palatino Linotype" pitchFamily="34" charset="-122"/>
                <a:cs typeface="Palatino Linotype" pitchFamily="34" charset="-120"/>
              </a:rPr>
              <a:t>17,9 %</a:t>
            </a:r>
            <a:endParaRPr lang="en-US" sz="3600" dirty="0"/>
          </a:p>
        </p:txBody>
      </p:sp>
      <p:sp>
        <p:nvSpPr>
          <p:cNvPr id="11" name="Text 9"/>
          <p:cNvSpPr/>
          <p:nvPr/>
        </p:nvSpPr>
        <p:spPr>
          <a:xfrm>
            <a:off x="1143000" y="4681728"/>
            <a:ext cx="4251960" cy="672998"/>
          </a:xfrm>
          <a:prstGeom prst="rect">
            <a:avLst/>
          </a:prstGeom>
          <a:noFill/>
          <a:ln/>
        </p:spPr>
        <p:txBody>
          <a:bodyPr wrap="square" lIns="0" tIns="0" rIns="0" bIns="0" rtlCol="0" anchor="t"/>
          <a:lstStyle/>
          <a:p>
            <a:pPr indent="0" marL="0">
              <a:buNone/>
            </a:pPr>
            <a:r>
              <a:rPr lang="en-US" sz="1200" dirty="0">
                <a:solidFill>
                  <a:srgbClr val="FFFFFF"/>
                </a:solidFill>
                <a:latin typeface="Palatino Linotype" pitchFamily="34" charset="0"/>
                <a:ea typeface="Palatino Linotype" pitchFamily="34" charset="-122"/>
                <a:cs typeface="Palatino Linotype" pitchFamily="34" charset="-120"/>
              </a:rPr>
              <a:t>des décès : accident vasculaire cérébral, environ 44 100</a:t>
            </a:r>
            <a:endParaRPr lang="en-US" sz="1200" dirty="0"/>
          </a:p>
        </p:txBody>
      </p:sp>
      <p:sp>
        <p:nvSpPr>
          <p:cNvPr id="12" name="Shape 10"/>
          <p:cNvSpPr/>
          <p:nvPr/>
        </p:nvSpPr>
        <p:spPr>
          <a:xfrm>
            <a:off x="6217920" y="1691640"/>
            <a:ext cx="5349240" cy="4114800"/>
          </a:xfrm>
          <a:prstGeom prst="roundRect">
            <a:avLst>
              <a:gd name="adj" fmla="val 2000"/>
            </a:avLst>
          </a:prstGeom>
          <a:solidFill>
            <a:srgbClr val="1D1F2B"/>
          </a:solidFill>
          <a:ln w="12700">
            <a:solidFill>
              <a:srgbClr val="1D1F2B"/>
            </a:solidFill>
            <a:prstDash val="solid"/>
          </a:ln>
        </p:spPr>
      </p:sp>
      <p:sp>
        <p:nvSpPr>
          <p:cNvPr id="13" name="Text 11"/>
          <p:cNvSpPr/>
          <p:nvPr/>
        </p:nvSpPr>
        <p:spPr>
          <a:xfrm>
            <a:off x="6492240" y="1828800"/>
            <a:ext cx="4846320" cy="365760"/>
          </a:xfrm>
          <a:prstGeom prst="rect">
            <a:avLst/>
          </a:prstGeom>
          <a:noFill/>
          <a:ln/>
        </p:spPr>
        <p:txBody>
          <a:bodyPr wrap="square" lIns="0" tIns="0" rIns="0" bIns="0" rtlCol="0" anchor="t"/>
          <a:lstStyle/>
          <a:p>
            <a:pPr indent="0" marL="0">
              <a:buNone/>
            </a:pPr>
            <a:r>
              <a:rPr lang="en-US" sz="1200" b="1" spc="200" kern="0" dirty="0">
                <a:solidFill>
                  <a:srgbClr val="27D3BE"/>
                </a:solidFill>
                <a:latin typeface="Palatino Linotype" pitchFamily="34" charset="0"/>
                <a:ea typeface="Palatino Linotype" pitchFamily="34" charset="-122"/>
                <a:cs typeface="Palatino Linotype" pitchFamily="34" charset="-120"/>
              </a:rPr>
              <a:t>LE DIABÈTE SUR LE CERTIFICAT</a:t>
            </a:r>
            <a:endParaRPr lang="en-US" sz="1200" dirty="0"/>
          </a:p>
        </p:txBody>
      </p:sp>
      <p:sp>
        <p:nvSpPr>
          <p:cNvPr id="14" name="Text 12"/>
          <p:cNvSpPr/>
          <p:nvPr/>
        </p:nvSpPr>
        <p:spPr>
          <a:xfrm>
            <a:off x="6492240" y="2286000"/>
            <a:ext cx="4846320" cy="3383280"/>
          </a:xfrm>
          <a:prstGeom prst="rect">
            <a:avLst/>
          </a:prstGeom>
          <a:noFill/>
          <a:ln/>
        </p:spPr>
        <p:txBody>
          <a:bodyPr wrap="square" lIns="0" tIns="0" rIns="0" bIns="0" rtlCol="0" anchor="t"/>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Un taux plus faible de décès par diabète ne signifie pas automatiquement moins de diabète : chez un diabétique qui meurt d’un infarctus, le certificat peut inscrire l’infarctus.</a:t>
            </a:r>
            <a:endParaRPr lang="en-US" sz="1800" dirty="0"/>
          </a:p>
        </p:txBody>
      </p:sp>
      <p:sp>
        <p:nvSpPr>
          <p:cNvPr id="15" name="Text 13"/>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Source : Global Burden of Disease 2023 (estimations).</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ENQUÊTE EUROPÉENNE DE SANTÉ, 2019</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Les facteurs de risque déclarés</a:t>
            </a:r>
            <a:endParaRPr lang="en-US" sz="3200" dirty="0"/>
          </a:p>
        </p:txBody>
      </p:sp>
      <p:sp>
        <p:nvSpPr>
          <p:cNvPr id="4" name="Text 2"/>
          <p:cNvSpPr/>
          <p:nvPr/>
        </p:nvSpPr>
        <p:spPr>
          <a:xfrm>
            <a:off x="667512" y="1572768"/>
            <a:ext cx="7168896" cy="475488"/>
          </a:xfrm>
          <a:prstGeom prst="rect">
            <a:avLst/>
          </a:prstGeom>
          <a:noFill/>
          <a:ln/>
        </p:spPr>
        <p:txBody>
          <a:bodyPr wrap="square" lIns="0" tIns="0" rIns="0" bIns="0" rtlCol="0" anchor="ctr"/>
          <a:lstStyle/>
          <a:p>
            <a:pPr algn="l" indent="0" marL="0">
              <a:buNone/>
            </a:pPr>
            <a:r>
              <a:rPr lang="en-US" sz="1400" b="1" dirty="0">
                <a:solidFill>
                  <a:srgbClr val="B02532"/>
                </a:solidFill>
                <a:latin typeface="Palatino Linotype" pitchFamily="34" charset="0"/>
                <a:ea typeface="Palatino Linotype" pitchFamily="34" charset="-122"/>
                <a:cs typeface="Palatino Linotype" pitchFamily="34" charset="-120"/>
              </a:rPr>
              <a:t>Pourcentages des répondants</a:t>
            </a:r>
            <a:endParaRPr lang="en-US" sz="1400" dirty="0"/>
          </a:p>
        </p:txBody>
      </p:sp>
      <p:sp>
        <p:nvSpPr>
          <p:cNvPr id="5" name="Text 3"/>
          <p:cNvSpPr/>
          <p:nvPr/>
        </p:nvSpPr>
        <p:spPr>
          <a:xfrm>
            <a:off x="7982712" y="1572768"/>
            <a:ext cx="1682496" cy="475488"/>
          </a:xfrm>
          <a:prstGeom prst="rect">
            <a:avLst/>
          </a:prstGeom>
          <a:noFill/>
          <a:ln/>
        </p:spPr>
        <p:txBody>
          <a:bodyPr wrap="square" lIns="0" tIns="0" rIns="0" bIns="0" rtlCol="0" anchor="ctr"/>
          <a:lstStyle/>
          <a:p>
            <a:pPr algn="ctr" indent="0" marL="0">
              <a:buNone/>
            </a:pPr>
            <a:r>
              <a:rPr lang="en-US" sz="1400" b="1" dirty="0">
                <a:solidFill>
                  <a:srgbClr val="B02532"/>
                </a:solidFill>
                <a:latin typeface="Palatino Linotype" pitchFamily="34" charset="0"/>
                <a:ea typeface="Palatino Linotype" pitchFamily="34" charset="-122"/>
                <a:cs typeface="Palatino Linotype" pitchFamily="34" charset="-120"/>
              </a:rPr>
              <a:t>Roumanie</a:t>
            </a:r>
            <a:endParaRPr lang="en-US" sz="1400" dirty="0"/>
          </a:p>
        </p:txBody>
      </p:sp>
      <p:sp>
        <p:nvSpPr>
          <p:cNvPr id="6" name="Text 4"/>
          <p:cNvSpPr/>
          <p:nvPr/>
        </p:nvSpPr>
        <p:spPr>
          <a:xfrm>
            <a:off x="9811512" y="1572768"/>
            <a:ext cx="1682496" cy="475488"/>
          </a:xfrm>
          <a:prstGeom prst="rect">
            <a:avLst/>
          </a:prstGeom>
          <a:noFill/>
          <a:ln/>
        </p:spPr>
        <p:txBody>
          <a:bodyPr wrap="square" lIns="0" tIns="0" rIns="0" bIns="0" rtlCol="0" anchor="ctr"/>
          <a:lstStyle/>
          <a:p>
            <a:pPr algn="ctr" indent="0" marL="0">
              <a:buNone/>
            </a:pPr>
            <a:r>
              <a:rPr lang="en-US" sz="1400" b="1" dirty="0">
                <a:solidFill>
                  <a:srgbClr val="B02532"/>
                </a:solidFill>
                <a:latin typeface="Palatino Linotype" pitchFamily="34" charset="0"/>
                <a:ea typeface="Palatino Linotype" pitchFamily="34" charset="-122"/>
                <a:cs typeface="Palatino Linotype" pitchFamily="34" charset="-120"/>
              </a:rPr>
              <a:t>UE</a:t>
            </a:r>
            <a:endParaRPr lang="en-US" sz="1400" dirty="0"/>
          </a:p>
        </p:txBody>
      </p:sp>
      <p:sp>
        <p:nvSpPr>
          <p:cNvPr id="7" name="Shape 5"/>
          <p:cNvSpPr/>
          <p:nvPr/>
        </p:nvSpPr>
        <p:spPr>
          <a:xfrm>
            <a:off x="594360" y="2066544"/>
            <a:ext cx="10972800" cy="13716"/>
          </a:xfrm>
          <a:prstGeom prst="rect">
            <a:avLst/>
          </a:prstGeom>
          <a:solidFill>
            <a:srgbClr val="C9C6BE"/>
          </a:solidFill>
          <a:ln w="12700">
            <a:solidFill>
              <a:srgbClr val="C9C6BE"/>
            </a:solidFill>
            <a:prstDash val="solid"/>
          </a:ln>
        </p:spPr>
      </p:sp>
      <p:sp>
        <p:nvSpPr>
          <p:cNvPr id="8" name="Text 6"/>
          <p:cNvSpPr/>
          <p:nvPr/>
        </p:nvSpPr>
        <p:spPr>
          <a:xfrm>
            <a:off x="667512" y="2084832"/>
            <a:ext cx="7168896" cy="475488"/>
          </a:xfrm>
          <a:prstGeom prst="rect">
            <a:avLst/>
          </a:prstGeom>
          <a:noFill/>
          <a:ln/>
        </p:spPr>
        <p:txBody>
          <a:bodyPr wrap="square" lIns="0" tIns="0" rIns="0" bIns="0" rtlCol="0" anchor="ctr"/>
          <a:lstStyle/>
          <a:p>
            <a:pPr algn="l" indent="0" marL="0">
              <a:buNone/>
            </a:pPr>
            <a:r>
              <a:rPr lang="en-US" sz="1600" b="1" dirty="0">
                <a:solidFill>
                  <a:srgbClr val="11121A"/>
                </a:solidFill>
                <a:latin typeface="Palatino Linotype" pitchFamily="34" charset="0"/>
                <a:ea typeface="Palatino Linotype" pitchFamily="34" charset="-122"/>
                <a:cs typeface="Palatino Linotype" pitchFamily="34" charset="-120"/>
              </a:rPr>
              <a:t>Fument tous les jours, les deux sexes</a:t>
            </a:r>
            <a:endParaRPr lang="en-US" sz="1600" dirty="0"/>
          </a:p>
        </p:txBody>
      </p:sp>
      <p:sp>
        <p:nvSpPr>
          <p:cNvPr id="9" name="Text 7"/>
          <p:cNvSpPr/>
          <p:nvPr/>
        </p:nvSpPr>
        <p:spPr>
          <a:xfrm>
            <a:off x="7982712" y="2084832"/>
            <a:ext cx="1682496" cy="475488"/>
          </a:xfrm>
          <a:prstGeom prst="rect">
            <a:avLst/>
          </a:prstGeom>
          <a:noFill/>
          <a:ln/>
        </p:spPr>
        <p:txBody>
          <a:bodyPr wrap="square" lIns="0" tIns="0" rIns="0" bIns="0" rtlCol="0" anchor="ctr"/>
          <a:lstStyle/>
          <a:p>
            <a:pPr algn="ctr" indent="0" marL="0">
              <a:buNone/>
            </a:pPr>
            <a:r>
              <a:rPr lang="en-US" sz="1600" dirty="0">
                <a:solidFill>
                  <a:srgbClr val="11121A"/>
                </a:solidFill>
                <a:latin typeface="Palatino Linotype" pitchFamily="34" charset="0"/>
                <a:ea typeface="Palatino Linotype" pitchFamily="34" charset="-122"/>
                <a:cs typeface="Palatino Linotype" pitchFamily="34" charset="-120"/>
              </a:rPr>
              <a:t>18,9</a:t>
            </a:r>
            <a:endParaRPr lang="en-US" sz="1600" dirty="0"/>
          </a:p>
        </p:txBody>
      </p:sp>
      <p:sp>
        <p:nvSpPr>
          <p:cNvPr id="10" name="Text 8"/>
          <p:cNvSpPr/>
          <p:nvPr/>
        </p:nvSpPr>
        <p:spPr>
          <a:xfrm>
            <a:off x="9811512" y="2084832"/>
            <a:ext cx="1682496" cy="475488"/>
          </a:xfrm>
          <a:prstGeom prst="rect">
            <a:avLst/>
          </a:prstGeom>
          <a:noFill/>
          <a:ln/>
        </p:spPr>
        <p:txBody>
          <a:bodyPr wrap="square" lIns="0" tIns="0" rIns="0" bIns="0" rtlCol="0" anchor="ctr"/>
          <a:lstStyle/>
          <a:p>
            <a:pPr algn="ctr" indent="0" marL="0">
              <a:buNone/>
            </a:pPr>
            <a:r>
              <a:rPr lang="en-US" sz="1600" dirty="0">
                <a:solidFill>
                  <a:srgbClr val="11121A"/>
                </a:solidFill>
                <a:latin typeface="Palatino Linotype" pitchFamily="34" charset="0"/>
                <a:ea typeface="Palatino Linotype" pitchFamily="34" charset="-122"/>
                <a:cs typeface="Palatino Linotype" pitchFamily="34" charset="-120"/>
              </a:rPr>
              <a:t>19,3</a:t>
            </a:r>
            <a:endParaRPr lang="en-US" sz="1600" dirty="0"/>
          </a:p>
        </p:txBody>
      </p:sp>
      <p:sp>
        <p:nvSpPr>
          <p:cNvPr id="11" name="Shape 9"/>
          <p:cNvSpPr/>
          <p:nvPr/>
        </p:nvSpPr>
        <p:spPr>
          <a:xfrm>
            <a:off x="594360" y="2578608"/>
            <a:ext cx="10972800" cy="13716"/>
          </a:xfrm>
          <a:prstGeom prst="rect">
            <a:avLst/>
          </a:prstGeom>
          <a:solidFill>
            <a:srgbClr val="C9C6BE"/>
          </a:solidFill>
          <a:ln w="12700">
            <a:solidFill>
              <a:srgbClr val="C9C6BE"/>
            </a:solidFill>
            <a:prstDash val="solid"/>
          </a:ln>
        </p:spPr>
      </p:sp>
      <p:sp>
        <p:nvSpPr>
          <p:cNvPr id="12" name="Text 10"/>
          <p:cNvSpPr/>
          <p:nvPr/>
        </p:nvSpPr>
        <p:spPr>
          <a:xfrm>
            <a:off x="667512" y="2596896"/>
            <a:ext cx="7168896" cy="475488"/>
          </a:xfrm>
          <a:prstGeom prst="rect">
            <a:avLst/>
          </a:prstGeom>
          <a:noFill/>
          <a:ln/>
        </p:spPr>
        <p:txBody>
          <a:bodyPr wrap="square" lIns="0" tIns="0" rIns="0" bIns="0" rtlCol="0" anchor="ctr"/>
          <a:lstStyle/>
          <a:p>
            <a:pPr algn="l" indent="0" marL="0">
              <a:buNone/>
            </a:pPr>
            <a:r>
              <a:rPr lang="en-US" sz="1600" b="1" dirty="0">
                <a:solidFill>
                  <a:srgbClr val="B02532"/>
                </a:solidFill>
                <a:latin typeface="Palatino Linotype" pitchFamily="34" charset="0"/>
                <a:ea typeface="Palatino Linotype" pitchFamily="34" charset="-122"/>
                <a:cs typeface="Palatino Linotype" pitchFamily="34" charset="-120"/>
              </a:rPr>
              <a:t>Fument tous les jours, hommes</a:t>
            </a:r>
            <a:endParaRPr lang="en-US" sz="1600" dirty="0"/>
          </a:p>
        </p:txBody>
      </p:sp>
      <p:sp>
        <p:nvSpPr>
          <p:cNvPr id="13" name="Text 11"/>
          <p:cNvSpPr/>
          <p:nvPr/>
        </p:nvSpPr>
        <p:spPr>
          <a:xfrm>
            <a:off x="7982712" y="2596896"/>
            <a:ext cx="1682496" cy="475488"/>
          </a:xfrm>
          <a:prstGeom prst="rect">
            <a:avLst/>
          </a:prstGeom>
          <a:noFill/>
          <a:ln/>
        </p:spPr>
        <p:txBody>
          <a:bodyPr wrap="square" lIns="0" tIns="0" rIns="0" bIns="0" rtlCol="0" anchor="ctr"/>
          <a:lstStyle/>
          <a:p>
            <a:pPr algn="ctr" indent="0" marL="0">
              <a:buNone/>
            </a:pPr>
            <a:r>
              <a:rPr lang="en-US" sz="1600" b="1" dirty="0">
                <a:solidFill>
                  <a:srgbClr val="B02532"/>
                </a:solidFill>
                <a:latin typeface="Palatino Linotype" pitchFamily="34" charset="0"/>
                <a:ea typeface="Palatino Linotype" pitchFamily="34" charset="-122"/>
                <a:cs typeface="Palatino Linotype" pitchFamily="34" charset="-120"/>
              </a:rPr>
              <a:t>30,8</a:t>
            </a:r>
            <a:endParaRPr lang="en-US" sz="1600" dirty="0"/>
          </a:p>
        </p:txBody>
      </p:sp>
      <p:sp>
        <p:nvSpPr>
          <p:cNvPr id="14" name="Text 12"/>
          <p:cNvSpPr/>
          <p:nvPr/>
        </p:nvSpPr>
        <p:spPr>
          <a:xfrm>
            <a:off x="9811512" y="2596896"/>
            <a:ext cx="1682496" cy="475488"/>
          </a:xfrm>
          <a:prstGeom prst="rect">
            <a:avLst/>
          </a:prstGeom>
          <a:noFill/>
          <a:ln/>
        </p:spPr>
        <p:txBody>
          <a:bodyPr wrap="square" lIns="0" tIns="0" rIns="0" bIns="0" rtlCol="0" anchor="ctr"/>
          <a:lstStyle/>
          <a:p>
            <a:pPr algn="ctr" indent="0" marL="0">
              <a:buNone/>
            </a:pPr>
            <a:r>
              <a:rPr lang="en-US" sz="1600" b="1" dirty="0">
                <a:solidFill>
                  <a:srgbClr val="B02532"/>
                </a:solidFill>
                <a:latin typeface="Palatino Linotype" pitchFamily="34" charset="0"/>
                <a:ea typeface="Palatino Linotype" pitchFamily="34" charset="-122"/>
                <a:cs typeface="Palatino Linotype" pitchFamily="34" charset="-120"/>
              </a:rPr>
              <a:t>23,6</a:t>
            </a:r>
            <a:endParaRPr lang="en-US" sz="1600" dirty="0"/>
          </a:p>
        </p:txBody>
      </p:sp>
      <p:sp>
        <p:nvSpPr>
          <p:cNvPr id="15" name="Shape 13"/>
          <p:cNvSpPr/>
          <p:nvPr/>
        </p:nvSpPr>
        <p:spPr>
          <a:xfrm>
            <a:off x="594360" y="3090672"/>
            <a:ext cx="10972800" cy="13716"/>
          </a:xfrm>
          <a:prstGeom prst="rect">
            <a:avLst/>
          </a:prstGeom>
          <a:solidFill>
            <a:srgbClr val="C9C6BE"/>
          </a:solidFill>
          <a:ln w="12700">
            <a:solidFill>
              <a:srgbClr val="C9C6BE"/>
            </a:solidFill>
            <a:prstDash val="solid"/>
          </a:ln>
        </p:spPr>
      </p:sp>
      <p:sp>
        <p:nvSpPr>
          <p:cNvPr id="16" name="Text 14"/>
          <p:cNvSpPr/>
          <p:nvPr/>
        </p:nvSpPr>
        <p:spPr>
          <a:xfrm>
            <a:off x="667512" y="3108960"/>
            <a:ext cx="7168896" cy="475488"/>
          </a:xfrm>
          <a:prstGeom prst="rect">
            <a:avLst/>
          </a:prstGeom>
          <a:noFill/>
          <a:ln/>
        </p:spPr>
        <p:txBody>
          <a:bodyPr wrap="square" lIns="0" tIns="0" rIns="0" bIns="0" rtlCol="0" anchor="ctr"/>
          <a:lstStyle/>
          <a:p>
            <a:pPr algn="l" indent="0" marL="0">
              <a:buNone/>
            </a:pPr>
            <a:r>
              <a:rPr lang="en-US" sz="1600" b="1" dirty="0">
                <a:solidFill>
                  <a:srgbClr val="11121A"/>
                </a:solidFill>
                <a:latin typeface="Palatino Linotype" pitchFamily="34" charset="0"/>
                <a:ea typeface="Palatino Linotype" pitchFamily="34" charset="-122"/>
                <a:cs typeface="Palatino Linotype" pitchFamily="34" charset="-120"/>
              </a:rPr>
              <a:t>Fument tous les jours, femmes</a:t>
            </a:r>
            <a:endParaRPr lang="en-US" sz="1600" dirty="0"/>
          </a:p>
        </p:txBody>
      </p:sp>
      <p:sp>
        <p:nvSpPr>
          <p:cNvPr id="17" name="Text 15"/>
          <p:cNvSpPr/>
          <p:nvPr/>
        </p:nvSpPr>
        <p:spPr>
          <a:xfrm>
            <a:off x="7982712" y="3108960"/>
            <a:ext cx="1682496" cy="475488"/>
          </a:xfrm>
          <a:prstGeom prst="rect">
            <a:avLst/>
          </a:prstGeom>
          <a:noFill/>
          <a:ln/>
        </p:spPr>
        <p:txBody>
          <a:bodyPr wrap="square" lIns="0" tIns="0" rIns="0" bIns="0" rtlCol="0" anchor="ctr"/>
          <a:lstStyle/>
          <a:p>
            <a:pPr algn="ctr" indent="0" marL="0">
              <a:buNone/>
            </a:pPr>
            <a:r>
              <a:rPr lang="en-US" sz="1600" dirty="0">
                <a:solidFill>
                  <a:srgbClr val="11121A"/>
                </a:solidFill>
                <a:latin typeface="Palatino Linotype" pitchFamily="34" charset="0"/>
                <a:ea typeface="Palatino Linotype" pitchFamily="34" charset="-122"/>
                <a:cs typeface="Palatino Linotype" pitchFamily="34" charset="-120"/>
              </a:rPr>
              <a:t>7,7</a:t>
            </a:r>
            <a:endParaRPr lang="en-US" sz="1600" dirty="0"/>
          </a:p>
        </p:txBody>
      </p:sp>
      <p:sp>
        <p:nvSpPr>
          <p:cNvPr id="18" name="Text 16"/>
          <p:cNvSpPr/>
          <p:nvPr/>
        </p:nvSpPr>
        <p:spPr>
          <a:xfrm>
            <a:off x="9811512" y="3108960"/>
            <a:ext cx="1682496" cy="475488"/>
          </a:xfrm>
          <a:prstGeom prst="rect">
            <a:avLst/>
          </a:prstGeom>
          <a:noFill/>
          <a:ln/>
        </p:spPr>
        <p:txBody>
          <a:bodyPr wrap="square" lIns="0" tIns="0" rIns="0" bIns="0" rtlCol="0" anchor="ctr"/>
          <a:lstStyle/>
          <a:p>
            <a:pPr algn="ctr" indent="0" marL="0">
              <a:buNone/>
            </a:pPr>
            <a:r>
              <a:rPr lang="en-US" sz="1600" dirty="0">
                <a:solidFill>
                  <a:srgbClr val="11121A"/>
                </a:solidFill>
                <a:latin typeface="Palatino Linotype" pitchFamily="34" charset="0"/>
                <a:ea typeface="Palatino Linotype" pitchFamily="34" charset="-122"/>
                <a:cs typeface="Palatino Linotype" pitchFamily="34" charset="-120"/>
              </a:rPr>
              <a:t>15,3</a:t>
            </a:r>
            <a:endParaRPr lang="en-US" sz="1600" dirty="0"/>
          </a:p>
        </p:txBody>
      </p:sp>
      <p:sp>
        <p:nvSpPr>
          <p:cNvPr id="19" name="Shape 17"/>
          <p:cNvSpPr/>
          <p:nvPr/>
        </p:nvSpPr>
        <p:spPr>
          <a:xfrm>
            <a:off x="594360" y="3602736"/>
            <a:ext cx="10972800" cy="13716"/>
          </a:xfrm>
          <a:prstGeom prst="rect">
            <a:avLst/>
          </a:prstGeom>
          <a:solidFill>
            <a:srgbClr val="C9C6BE"/>
          </a:solidFill>
          <a:ln w="12700">
            <a:solidFill>
              <a:srgbClr val="C9C6BE"/>
            </a:solidFill>
            <a:prstDash val="solid"/>
          </a:ln>
        </p:spPr>
      </p:sp>
      <p:sp>
        <p:nvSpPr>
          <p:cNvPr id="20" name="Text 18"/>
          <p:cNvSpPr/>
          <p:nvPr/>
        </p:nvSpPr>
        <p:spPr>
          <a:xfrm>
            <a:off x="667512" y="3621024"/>
            <a:ext cx="7168896" cy="475488"/>
          </a:xfrm>
          <a:prstGeom prst="rect">
            <a:avLst/>
          </a:prstGeom>
          <a:noFill/>
          <a:ln/>
        </p:spPr>
        <p:txBody>
          <a:bodyPr wrap="square" lIns="0" tIns="0" rIns="0" bIns="0" rtlCol="0" anchor="ctr"/>
          <a:lstStyle/>
          <a:p>
            <a:pPr algn="l" indent="0" marL="0">
              <a:buNone/>
            </a:pPr>
            <a:r>
              <a:rPr lang="en-US" sz="1600" b="1" dirty="0">
                <a:solidFill>
                  <a:srgbClr val="11121A"/>
                </a:solidFill>
                <a:latin typeface="Palatino Linotype" pitchFamily="34" charset="0"/>
                <a:ea typeface="Palatino Linotype" pitchFamily="34" charset="-122"/>
                <a:cs typeface="Palatino Linotype" pitchFamily="34" charset="-120"/>
              </a:rPr>
              <a:t>Consommation excessive d’alcool en une occasion, chaque semaine</a:t>
            </a:r>
            <a:endParaRPr lang="en-US" sz="1600" dirty="0"/>
          </a:p>
        </p:txBody>
      </p:sp>
      <p:sp>
        <p:nvSpPr>
          <p:cNvPr id="21" name="Text 19"/>
          <p:cNvSpPr/>
          <p:nvPr/>
        </p:nvSpPr>
        <p:spPr>
          <a:xfrm>
            <a:off x="7982712" y="3621024"/>
            <a:ext cx="1682496" cy="475488"/>
          </a:xfrm>
          <a:prstGeom prst="rect">
            <a:avLst/>
          </a:prstGeom>
          <a:noFill/>
          <a:ln/>
        </p:spPr>
        <p:txBody>
          <a:bodyPr wrap="square" lIns="0" tIns="0" rIns="0" bIns="0" rtlCol="0" anchor="ctr"/>
          <a:lstStyle/>
          <a:p>
            <a:pPr algn="ctr" indent="0" marL="0">
              <a:buNone/>
            </a:pPr>
            <a:r>
              <a:rPr lang="en-US" sz="1600" dirty="0">
                <a:solidFill>
                  <a:srgbClr val="11121A"/>
                </a:solidFill>
                <a:latin typeface="Palatino Linotype" pitchFamily="34" charset="0"/>
                <a:ea typeface="Palatino Linotype" pitchFamily="34" charset="-122"/>
                <a:cs typeface="Palatino Linotype" pitchFamily="34" charset="-120"/>
              </a:rPr>
              <a:t>11,1</a:t>
            </a:r>
            <a:endParaRPr lang="en-US" sz="1600" dirty="0"/>
          </a:p>
        </p:txBody>
      </p:sp>
      <p:sp>
        <p:nvSpPr>
          <p:cNvPr id="22" name="Text 20"/>
          <p:cNvSpPr/>
          <p:nvPr/>
        </p:nvSpPr>
        <p:spPr>
          <a:xfrm>
            <a:off x="9811512" y="3621024"/>
            <a:ext cx="1682496" cy="475488"/>
          </a:xfrm>
          <a:prstGeom prst="rect">
            <a:avLst/>
          </a:prstGeom>
          <a:noFill/>
          <a:ln/>
        </p:spPr>
        <p:txBody>
          <a:bodyPr wrap="square" lIns="0" tIns="0" rIns="0" bIns="0" rtlCol="0" anchor="ctr"/>
          <a:lstStyle/>
          <a:p>
            <a:pPr algn="ctr" indent="0" marL="0">
              <a:buNone/>
            </a:pPr>
            <a:r>
              <a:rPr lang="en-US" sz="1600" dirty="0">
                <a:solidFill>
                  <a:srgbClr val="11121A"/>
                </a:solidFill>
                <a:latin typeface="Palatino Linotype" pitchFamily="34" charset="0"/>
                <a:ea typeface="Palatino Linotype" pitchFamily="34" charset="-122"/>
                <a:cs typeface="Palatino Linotype" pitchFamily="34" charset="-120"/>
              </a:rPr>
              <a:t>3,7</a:t>
            </a:r>
            <a:endParaRPr lang="en-US" sz="1600" dirty="0"/>
          </a:p>
        </p:txBody>
      </p:sp>
      <p:sp>
        <p:nvSpPr>
          <p:cNvPr id="23" name="Shape 21"/>
          <p:cNvSpPr/>
          <p:nvPr/>
        </p:nvSpPr>
        <p:spPr>
          <a:xfrm>
            <a:off x="594360" y="4114800"/>
            <a:ext cx="10972800" cy="13716"/>
          </a:xfrm>
          <a:prstGeom prst="rect">
            <a:avLst/>
          </a:prstGeom>
          <a:solidFill>
            <a:srgbClr val="C9C6BE"/>
          </a:solidFill>
          <a:ln w="12700">
            <a:solidFill>
              <a:srgbClr val="C9C6BE"/>
            </a:solidFill>
            <a:prstDash val="solid"/>
          </a:ln>
        </p:spPr>
      </p:sp>
      <p:sp>
        <p:nvSpPr>
          <p:cNvPr id="24" name="Text 22"/>
          <p:cNvSpPr/>
          <p:nvPr/>
        </p:nvSpPr>
        <p:spPr>
          <a:xfrm>
            <a:off x="667512" y="4133088"/>
            <a:ext cx="7168896" cy="475488"/>
          </a:xfrm>
          <a:prstGeom prst="rect">
            <a:avLst/>
          </a:prstGeom>
          <a:noFill/>
          <a:ln/>
        </p:spPr>
        <p:txBody>
          <a:bodyPr wrap="square" lIns="0" tIns="0" rIns="0" bIns="0" rtlCol="0" anchor="ctr"/>
          <a:lstStyle/>
          <a:p>
            <a:pPr algn="l" indent="0" marL="0">
              <a:buNone/>
            </a:pPr>
            <a:r>
              <a:rPr lang="en-US" sz="1600" b="1" dirty="0">
                <a:solidFill>
                  <a:srgbClr val="B02532"/>
                </a:solidFill>
                <a:latin typeface="Palatino Linotype" pitchFamily="34" charset="0"/>
                <a:ea typeface="Palatino Linotype" pitchFamily="34" charset="-122"/>
                <a:cs typeface="Palatino Linotype" pitchFamily="34" charset="-120"/>
              </a:rPr>
              <a:t>Ne consomment pas de fruits ou de légumes tous les jours</a:t>
            </a:r>
            <a:endParaRPr lang="en-US" sz="1600" dirty="0"/>
          </a:p>
        </p:txBody>
      </p:sp>
      <p:sp>
        <p:nvSpPr>
          <p:cNvPr id="25" name="Text 23"/>
          <p:cNvSpPr/>
          <p:nvPr/>
        </p:nvSpPr>
        <p:spPr>
          <a:xfrm>
            <a:off x="7982712" y="4133088"/>
            <a:ext cx="1682496" cy="475488"/>
          </a:xfrm>
          <a:prstGeom prst="rect">
            <a:avLst/>
          </a:prstGeom>
          <a:noFill/>
          <a:ln/>
        </p:spPr>
        <p:txBody>
          <a:bodyPr wrap="square" lIns="0" tIns="0" rIns="0" bIns="0" rtlCol="0" anchor="ctr"/>
          <a:lstStyle/>
          <a:p>
            <a:pPr algn="ctr" indent="0" marL="0">
              <a:buNone/>
            </a:pPr>
            <a:r>
              <a:rPr lang="en-US" sz="1600" b="1" dirty="0">
                <a:solidFill>
                  <a:srgbClr val="B02532"/>
                </a:solidFill>
                <a:latin typeface="Palatino Linotype" pitchFamily="34" charset="0"/>
                <a:ea typeface="Palatino Linotype" pitchFamily="34" charset="-122"/>
                <a:cs typeface="Palatino Linotype" pitchFamily="34" charset="-120"/>
              </a:rPr>
              <a:t>73,6</a:t>
            </a:r>
            <a:endParaRPr lang="en-US" sz="1600" dirty="0"/>
          </a:p>
        </p:txBody>
      </p:sp>
      <p:sp>
        <p:nvSpPr>
          <p:cNvPr id="26" name="Text 24"/>
          <p:cNvSpPr/>
          <p:nvPr/>
        </p:nvSpPr>
        <p:spPr>
          <a:xfrm>
            <a:off x="9811512" y="4133088"/>
            <a:ext cx="1682496" cy="475488"/>
          </a:xfrm>
          <a:prstGeom prst="rect">
            <a:avLst/>
          </a:prstGeom>
          <a:noFill/>
          <a:ln/>
        </p:spPr>
        <p:txBody>
          <a:bodyPr wrap="square" lIns="0" tIns="0" rIns="0" bIns="0" rtlCol="0" anchor="ctr"/>
          <a:lstStyle/>
          <a:p>
            <a:pPr algn="ctr" indent="0" marL="0">
              <a:buNone/>
            </a:pPr>
            <a:r>
              <a:rPr lang="en-US" sz="1600" b="1" dirty="0">
                <a:solidFill>
                  <a:srgbClr val="B02532"/>
                </a:solidFill>
                <a:latin typeface="Palatino Linotype" pitchFamily="34" charset="0"/>
                <a:ea typeface="Palatino Linotype" pitchFamily="34" charset="-122"/>
                <a:cs typeface="Palatino Linotype" pitchFamily="34" charset="-120"/>
              </a:rPr>
              <a:t>32,9</a:t>
            </a:r>
            <a:endParaRPr lang="en-US" sz="1600" dirty="0"/>
          </a:p>
        </p:txBody>
      </p:sp>
      <p:sp>
        <p:nvSpPr>
          <p:cNvPr id="27" name="Shape 25"/>
          <p:cNvSpPr/>
          <p:nvPr/>
        </p:nvSpPr>
        <p:spPr>
          <a:xfrm>
            <a:off x="594360" y="4626864"/>
            <a:ext cx="10972800" cy="13716"/>
          </a:xfrm>
          <a:prstGeom prst="rect">
            <a:avLst/>
          </a:prstGeom>
          <a:solidFill>
            <a:srgbClr val="C9C6BE"/>
          </a:solidFill>
          <a:ln w="12700">
            <a:solidFill>
              <a:srgbClr val="C9C6BE"/>
            </a:solidFill>
            <a:prstDash val="solid"/>
          </a:ln>
        </p:spPr>
      </p:sp>
      <p:sp>
        <p:nvSpPr>
          <p:cNvPr id="28" name="Text 26"/>
          <p:cNvSpPr/>
          <p:nvPr/>
        </p:nvSpPr>
        <p:spPr>
          <a:xfrm>
            <a:off x="667512" y="4645152"/>
            <a:ext cx="7168896" cy="475488"/>
          </a:xfrm>
          <a:prstGeom prst="rect">
            <a:avLst/>
          </a:prstGeom>
          <a:noFill/>
          <a:ln/>
        </p:spPr>
        <p:txBody>
          <a:bodyPr wrap="square" lIns="0" tIns="0" rIns="0" bIns="0" rtlCol="0" anchor="ctr"/>
          <a:lstStyle/>
          <a:p>
            <a:pPr algn="l" indent="0" marL="0">
              <a:buNone/>
            </a:pPr>
            <a:r>
              <a:rPr lang="en-US" sz="1600" b="1" dirty="0">
                <a:solidFill>
                  <a:srgbClr val="B02532"/>
                </a:solidFill>
                <a:latin typeface="Palatino Linotype" pitchFamily="34" charset="0"/>
                <a:ea typeface="Palatino Linotype" pitchFamily="34" charset="-122"/>
                <a:cs typeface="Palatino Linotype" pitchFamily="34" charset="-120"/>
              </a:rPr>
              <a:t>Aucune activité physique aérobie pendant les loisirs</a:t>
            </a:r>
            <a:endParaRPr lang="en-US" sz="1600" dirty="0"/>
          </a:p>
        </p:txBody>
      </p:sp>
      <p:sp>
        <p:nvSpPr>
          <p:cNvPr id="29" name="Text 27"/>
          <p:cNvSpPr/>
          <p:nvPr/>
        </p:nvSpPr>
        <p:spPr>
          <a:xfrm>
            <a:off x="7982712" y="4645152"/>
            <a:ext cx="1682496" cy="475488"/>
          </a:xfrm>
          <a:prstGeom prst="rect">
            <a:avLst/>
          </a:prstGeom>
          <a:noFill/>
          <a:ln/>
        </p:spPr>
        <p:txBody>
          <a:bodyPr wrap="square" lIns="0" tIns="0" rIns="0" bIns="0" rtlCol="0" anchor="ctr"/>
          <a:lstStyle/>
          <a:p>
            <a:pPr algn="ctr" indent="0" marL="0">
              <a:buNone/>
            </a:pPr>
            <a:r>
              <a:rPr lang="en-US" sz="1600" b="1" dirty="0">
                <a:solidFill>
                  <a:srgbClr val="B02532"/>
                </a:solidFill>
                <a:latin typeface="Palatino Linotype" pitchFamily="34" charset="0"/>
                <a:ea typeface="Palatino Linotype" pitchFamily="34" charset="-122"/>
                <a:cs typeface="Palatino Linotype" pitchFamily="34" charset="-120"/>
              </a:rPr>
              <a:t>84,0</a:t>
            </a:r>
            <a:endParaRPr lang="en-US" sz="1600" dirty="0"/>
          </a:p>
        </p:txBody>
      </p:sp>
      <p:sp>
        <p:nvSpPr>
          <p:cNvPr id="30" name="Text 28"/>
          <p:cNvSpPr/>
          <p:nvPr/>
        </p:nvSpPr>
        <p:spPr>
          <a:xfrm>
            <a:off x="9811512" y="4645152"/>
            <a:ext cx="1682496" cy="475488"/>
          </a:xfrm>
          <a:prstGeom prst="rect">
            <a:avLst/>
          </a:prstGeom>
          <a:noFill/>
          <a:ln/>
        </p:spPr>
        <p:txBody>
          <a:bodyPr wrap="square" lIns="0" tIns="0" rIns="0" bIns="0" rtlCol="0" anchor="ctr"/>
          <a:lstStyle/>
          <a:p>
            <a:pPr algn="ctr" indent="0" marL="0">
              <a:buNone/>
            </a:pPr>
            <a:r>
              <a:rPr lang="en-US" sz="1600" b="1" dirty="0">
                <a:solidFill>
                  <a:srgbClr val="B02532"/>
                </a:solidFill>
                <a:latin typeface="Palatino Linotype" pitchFamily="34" charset="0"/>
                <a:ea typeface="Palatino Linotype" pitchFamily="34" charset="-122"/>
                <a:cs typeface="Palatino Linotype" pitchFamily="34" charset="-120"/>
              </a:rPr>
              <a:t>47,3</a:t>
            </a:r>
            <a:endParaRPr lang="en-US" sz="1600" dirty="0"/>
          </a:p>
        </p:txBody>
      </p:sp>
      <p:sp>
        <p:nvSpPr>
          <p:cNvPr id="31" name="Shape 29"/>
          <p:cNvSpPr/>
          <p:nvPr/>
        </p:nvSpPr>
        <p:spPr>
          <a:xfrm>
            <a:off x="594360" y="5138928"/>
            <a:ext cx="10972800" cy="13716"/>
          </a:xfrm>
          <a:prstGeom prst="rect">
            <a:avLst/>
          </a:prstGeom>
          <a:solidFill>
            <a:srgbClr val="C9C6BE"/>
          </a:solidFill>
          <a:ln w="12700">
            <a:solidFill>
              <a:srgbClr val="C9C6BE"/>
            </a:solidFill>
            <a:prstDash val="solid"/>
          </a:ln>
        </p:spPr>
      </p:sp>
      <p:sp>
        <p:nvSpPr>
          <p:cNvPr id="32" name="Text 30"/>
          <p:cNvSpPr/>
          <p:nvPr/>
        </p:nvSpPr>
        <p:spPr>
          <a:xfrm>
            <a:off x="667512" y="5157216"/>
            <a:ext cx="7168896" cy="475488"/>
          </a:xfrm>
          <a:prstGeom prst="rect">
            <a:avLst/>
          </a:prstGeom>
          <a:noFill/>
          <a:ln/>
        </p:spPr>
        <p:txBody>
          <a:bodyPr wrap="square" lIns="0" tIns="0" rIns="0" bIns="0" rtlCol="0" anchor="ctr"/>
          <a:lstStyle/>
          <a:p>
            <a:pPr algn="l" indent="0" marL="0">
              <a:buNone/>
            </a:pPr>
            <a:r>
              <a:rPr lang="en-US" sz="1600" b="1" dirty="0">
                <a:solidFill>
                  <a:srgbClr val="11121A"/>
                </a:solidFill>
                <a:latin typeface="Palatino Linotype" pitchFamily="34" charset="0"/>
                <a:ea typeface="Palatino Linotype" pitchFamily="34" charset="-122"/>
                <a:cs typeface="Palatino Linotype" pitchFamily="34" charset="-120"/>
              </a:rPr>
              <a:t>Obésité (indice de masse corporelle de 30 ou plus)</a:t>
            </a:r>
            <a:endParaRPr lang="en-US" sz="1600" dirty="0"/>
          </a:p>
        </p:txBody>
      </p:sp>
      <p:sp>
        <p:nvSpPr>
          <p:cNvPr id="33" name="Text 31"/>
          <p:cNvSpPr/>
          <p:nvPr/>
        </p:nvSpPr>
        <p:spPr>
          <a:xfrm>
            <a:off x="7982712" y="5157216"/>
            <a:ext cx="1682496" cy="475488"/>
          </a:xfrm>
          <a:prstGeom prst="rect">
            <a:avLst/>
          </a:prstGeom>
          <a:noFill/>
          <a:ln/>
        </p:spPr>
        <p:txBody>
          <a:bodyPr wrap="square" lIns="0" tIns="0" rIns="0" bIns="0" rtlCol="0" anchor="ctr"/>
          <a:lstStyle/>
          <a:p>
            <a:pPr algn="ctr" indent="0" marL="0">
              <a:buNone/>
            </a:pPr>
            <a:r>
              <a:rPr lang="en-US" sz="1600" dirty="0">
                <a:solidFill>
                  <a:srgbClr val="11121A"/>
                </a:solidFill>
                <a:latin typeface="Palatino Linotype" pitchFamily="34" charset="0"/>
                <a:ea typeface="Palatino Linotype" pitchFamily="34" charset="-122"/>
                <a:cs typeface="Palatino Linotype" pitchFamily="34" charset="-120"/>
              </a:rPr>
              <a:t>10,5</a:t>
            </a:r>
            <a:endParaRPr lang="en-US" sz="1600" dirty="0"/>
          </a:p>
        </p:txBody>
      </p:sp>
      <p:sp>
        <p:nvSpPr>
          <p:cNvPr id="34" name="Text 32"/>
          <p:cNvSpPr/>
          <p:nvPr/>
        </p:nvSpPr>
        <p:spPr>
          <a:xfrm>
            <a:off x="9811512" y="5157216"/>
            <a:ext cx="1682496" cy="475488"/>
          </a:xfrm>
          <a:prstGeom prst="rect">
            <a:avLst/>
          </a:prstGeom>
          <a:noFill/>
          <a:ln/>
        </p:spPr>
        <p:txBody>
          <a:bodyPr wrap="square" lIns="0" tIns="0" rIns="0" bIns="0" rtlCol="0" anchor="ctr"/>
          <a:lstStyle/>
          <a:p>
            <a:pPr algn="ctr" indent="0" marL="0">
              <a:buNone/>
            </a:pPr>
            <a:r>
              <a:rPr lang="en-US" sz="1600" dirty="0">
                <a:solidFill>
                  <a:srgbClr val="11121A"/>
                </a:solidFill>
                <a:latin typeface="Palatino Linotype" pitchFamily="34" charset="0"/>
                <a:ea typeface="Palatino Linotype" pitchFamily="34" charset="-122"/>
                <a:cs typeface="Palatino Linotype" pitchFamily="34" charset="-120"/>
              </a:rPr>
              <a:t>16,0</a:t>
            </a:r>
            <a:endParaRPr lang="en-US" sz="1600" dirty="0"/>
          </a:p>
        </p:txBody>
      </p:sp>
      <p:sp>
        <p:nvSpPr>
          <p:cNvPr id="35" name="Text 33"/>
          <p:cNvSpPr/>
          <p:nvPr/>
        </p:nvSpPr>
        <p:spPr>
          <a:xfrm>
            <a:off x="594360" y="5760720"/>
            <a:ext cx="10972800" cy="411480"/>
          </a:xfrm>
          <a:prstGeom prst="rect">
            <a:avLst/>
          </a:prstGeom>
          <a:noFill/>
          <a:ln/>
        </p:spPr>
        <p:txBody>
          <a:bodyPr wrap="square" lIns="0" tIns="0" rIns="0" bIns="0" rtlCol="0" anchor="t"/>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Les écarts les plus importants : l’alimentation et l’activité physique.</a:t>
            </a:r>
            <a:endParaRPr lang="en-US" sz="1600" dirty="0"/>
          </a:p>
        </p:txBody>
      </p:sp>
      <p:sp>
        <p:nvSpPr>
          <p:cNvPr id="36" name="Text 34"/>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Source : Eurostat, EHIS, vague 2019.</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UNE LIGNE QUI SEMBLE CONTREDIRE LE RESTE</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Croiriez-vous ce chiffre ?</a:t>
            </a:r>
            <a:endParaRPr lang="en-US" sz="3400" dirty="0"/>
          </a:p>
        </p:txBody>
      </p:sp>
      <p:sp>
        <p:nvSpPr>
          <p:cNvPr id="4" name="Shape 2"/>
          <p:cNvSpPr/>
          <p:nvPr/>
        </p:nvSpPr>
        <p:spPr>
          <a:xfrm>
            <a:off x="594360" y="1645920"/>
            <a:ext cx="5349240" cy="1508760"/>
          </a:xfrm>
          <a:prstGeom prst="roundRect">
            <a:avLst>
              <a:gd name="adj" fmla="val 5455"/>
            </a:avLst>
          </a:prstGeom>
          <a:solidFill>
            <a:srgbClr val="1D1F2B"/>
          </a:solidFill>
          <a:ln w="12700">
            <a:solidFill>
              <a:srgbClr val="1D1F2B"/>
            </a:solidFill>
            <a:prstDash val="solid"/>
          </a:ln>
        </p:spPr>
      </p:sp>
      <p:sp>
        <p:nvSpPr>
          <p:cNvPr id="5" name="Text 3"/>
          <p:cNvSpPr/>
          <p:nvPr/>
        </p:nvSpPr>
        <p:spPr>
          <a:xfrm>
            <a:off x="868680" y="1737360"/>
            <a:ext cx="4846320" cy="411480"/>
          </a:xfrm>
          <a:prstGeom prst="rect">
            <a:avLst/>
          </a:prstGeom>
          <a:noFill/>
          <a:ln/>
        </p:spPr>
        <p:txBody>
          <a:bodyPr wrap="square" lIns="0" tIns="0" rIns="0" bIns="0" rtlCol="0" anchor="t"/>
          <a:lstStyle/>
          <a:p>
            <a:pPr indent="0" marL="0">
              <a:buNone/>
            </a:pPr>
            <a:r>
              <a:rPr lang="en-US" sz="1600" b="1" dirty="0">
                <a:solidFill>
                  <a:srgbClr val="D5D8E2"/>
                </a:solidFill>
                <a:latin typeface="Palatino Linotype" pitchFamily="34" charset="0"/>
                <a:ea typeface="Palatino Linotype" pitchFamily="34" charset="-122"/>
                <a:cs typeface="Palatino Linotype" pitchFamily="34" charset="-120"/>
              </a:rPr>
              <a:t>Obésité déclarée</a:t>
            </a:r>
            <a:endParaRPr lang="en-US" sz="1600" dirty="0"/>
          </a:p>
        </p:txBody>
      </p:sp>
      <p:sp>
        <p:nvSpPr>
          <p:cNvPr id="6" name="Text 4"/>
          <p:cNvSpPr/>
          <p:nvPr/>
        </p:nvSpPr>
        <p:spPr>
          <a:xfrm>
            <a:off x="868680" y="2194560"/>
            <a:ext cx="2286000" cy="777240"/>
          </a:xfrm>
          <a:prstGeom prst="rect">
            <a:avLst/>
          </a:prstGeom>
          <a:noFill/>
          <a:ln/>
        </p:spPr>
        <p:txBody>
          <a:bodyPr wrap="square" lIns="0" tIns="0" rIns="0" bIns="0" rtlCol="0" anchor="ctr"/>
          <a:lstStyle/>
          <a:p>
            <a:pPr indent="0" marL="0">
              <a:buNone/>
            </a:pPr>
            <a:r>
              <a:rPr lang="en-US" sz="3400" b="1" dirty="0">
                <a:solidFill>
                  <a:srgbClr val="FF4757"/>
                </a:solidFill>
                <a:latin typeface="Palatino Linotype" pitchFamily="34" charset="0"/>
                <a:ea typeface="Palatino Linotype" pitchFamily="34" charset="-122"/>
                <a:cs typeface="Palatino Linotype" pitchFamily="34" charset="-120"/>
              </a:rPr>
              <a:t>10,5 %</a:t>
            </a:r>
            <a:endParaRPr lang="en-US" sz="3400" dirty="0"/>
          </a:p>
        </p:txBody>
      </p:sp>
      <p:sp>
        <p:nvSpPr>
          <p:cNvPr id="7" name="Text 5"/>
          <p:cNvSpPr/>
          <p:nvPr/>
        </p:nvSpPr>
        <p:spPr>
          <a:xfrm>
            <a:off x="868680" y="2834640"/>
            <a:ext cx="2286000" cy="274320"/>
          </a:xfrm>
          <a:prstGeom prst="rect">
            <a:avLst/>
          </a:prstGeom>
          <a:noFill/>
          <a:ln/>
        </p:spPr>
        <p:txBody>
          <a:bodyPr wrap="square" lIns="0" tIns="0" rIns="0" bIns="0" rtlCol="0" anchor="t"/>
          <a:lstStyle/>
          <a:p>
            <a:pPr indent="0" marL="0">
              <a:buNone/>
            </a:pPr>
            <a:r>
              <a:rPr lang="en-US" sz="1200" dirty="0">
                <a:solidFill>
                  <a:srgbClr val="959BB0"/>
                </a:solidFill>
                <a:latin typeface="Palatino Linotype" pitchFamily="34" charset="0"/>
                <a:ea typeface="Palatino Linotype" pitchFamily="34" charset="-122"/>
                <a:cs typeface="Palatino Linotype" pitchFamily="34" charset="-120"/>
              </a:rPr>
              <a:t>Roumanie</a:t>
            </a:r>
            <a:endParaRPr lang="en-US" sz="1200" dirty="0"/>
          </a:p>
        </p:txBody>
      </p:sp>
      <p:sp>
        <p:nvSpPr>
          <p:cNvPr id="8" name="Text 6"/>
          <p:cNvSpPr/>
          <p:nvPr/>
        </p:nvSpPr>
        <p:spPr>
          <a:xfrm>
            <a:off x="3337560" y="2194560"/>
            <a:ext cx="2286000" cy="777240"/>
          </a:xfrm>
          <a:prstGeom prst="rect">
            <a:avLst/>
          </a:prstGeom>
          <a:noFill/>
          <a:ln/>
        </p:spPr>
        <p:txBody>
          <a:bodyPr wrap="square" lIns="0" tIns="0" rIns="0" bIns="0" rtlCol="0" anchor="ctr"/>
          <a:lstStyle/>
          <a:p>
            <a:pPr indent="0" marL="0">
              <a:buNone/>
            </a:pPr>
            <a:r>
              <a:rPr lang="en-US" sz="3400" b="1" dirty="0">
                <a:solidFill>
                  <a:srgbClr val="27D3BE"/>
                </a:solidFill>
                <a:latin typeface="Palatino Linotype" pitchFamily="34" charset="0"/>
                <a:ea typeface="Palatino Linotype" pitchFamily="34" charset="-122"/>
                <a:cs typeface="Palatino Linotype" pitchFamily="34" charset="-120"/>
              </a:rPr>
              <a:t>16,0 %</a:t>
            </a:r>
            <a:endParaRPr lang="en-US" sz="3400" dirty="0"/>
          </a:p>
        </p:txBody>
      </p:sp>
      <p:sp>
        <p:nvSpPr>
          <p:cNvPr id="9" name="Text 7"/>
          <p:cNvSpPr/>
          <p:nvPr/>
        </p:nvSpPr>
        <p:spPr>
          <a:xfrm>
            <a:off x="3337560" y="2834640"/>
            <a:ext cx="2286000" cy="274320"/>
          </a:xfrm>
          <a:prstGeom prst="rect">
            <a:avLst/>
          </a:prstGeom>
          <a:noFill/>
          <a:ln/>
        </p:spPr>
        <p:txBody>
          <a:bodyPr wrap="square" lIns="0" tIns="0" rIns="0" bIns="0" rtlCol="0" anchor="t"/>
          <a:lstStyle/>
          <a:p>
            <a:pPr indent="0" marL="0">
              <a:buNone/>
            </a:pPr>
            <a:r>
              <a:rPr lang="en-US" sz="1200" dirty="0">
                <a:solidFill>
                  <a:srgbClr val="959BB0"/>
                </a:solidFill>
                <a:latin typeface="Palatino Linotype" pitchFamily="34" charset="0"/>
                <a:ea typeface="Palatino Linotype" pitchFamily="34" charset="-122"/>
                <a:cs typeface="Palatino Linotype" pitchFamily="34" charset="-120"/>
              </a:rPr>
              <a:t>UE</a:t>
            </a:r>
            <a:endParaRPr lang="en-US" sz="1200" dirty="0"/>
          </a:p>
        </p:txBody>
      </p:sp>
      <p:sp>
        <p:nvSpPr>
          <p:cNvPr id="10" name="Shape 8"/>
          <p:cNvSpPr/>
          <p:nvPr/>
        </p:nvSpPr>
        <p:spPr>
          <a:xfrm>
            <a:off x="6217920" y="1645920"/>
            <a:ext cx="5349240" cy="1508760"/>
          </a:xfrm>
          <a:prstGeom prst="roundRect">
            <a:avLst>
              <a:gd name="adj" fmla="val 5455"/>
            </a:avLst>
          </a:prstGeom>
          <a:solidFill>
            <a:srgbClr val="1D1F2B"/>
          </a:solidFill>
          <a:ln w="12700">
            <a:solidFill>
              <a:srgbClr val="1D1F2B"/>
            </a:solidFill>
            <a:prstDash val="solid"/>
          </a:ln>
        </p:spPr>
      </p:sp>
      <p:sp>
        <p:nvSpPr>
          <p:cNvPr id="11" name="Text 9"/>
          <p:cNvSpPr/>
          <p:nvPr/>
        </p:nvSpPr>
        <p:spPr>
          <a:xfrm>
            <a:off x="6492240" y="1737360"/>
            <a:ext cx="4846320" cy="411480"/>
          </a:xfrm>
          <a:prstGeom prst="rect">
            <a:avLst/>
          </a:prstGeom>
          <a:noFill/>
          <a:ln/>
        </p:spPr>
        <p:txBody>
          <a:bodyPr wrap="square" lIns="0" tIns="0" rIns="0" bIns="0" rtlCol="0" anchor="t"/>
          <a:lstStyle/>
          <a:p>
            <a:pPr indent="0" marL="0">
              <a:buNone/>
            </a:pPr>
            <a:r>
              <a:rPr lang="en-US" sz="1600" b="1" dirty="0">
                <a:solidFill>
                  <a:srgbClr val="D5D8E2"/>
                </a:solidFill>
                <a:latin typeface="Palatino Linotype" pitchFamily="34" charset="0"/>
                <a:ea typeface="Palatino Linotype" pitchFamily="34" charset="-122"/>
                <a:cs typeface="Palatino Linotype" pitchFamily="34" charset="-120"/>
              </a:rPr>
              <a:t>Surpoids et obésité</a:t>
            </a:r>
            <a:endParaRPr lang="en-US" sz="1600" dirty="0"/>
          </a:p>
        </p:txBody>
      </p:sp>
      <p:sp>
        <p:nvSpPr>
          <p:cNvPr id="12" name="Text 10"/>
          <p:cNvSpPr/>
          <p:nvPr/>
        </p:nvSpPr>
        <p:spPr>
          <a:xfrm>
            <a:off x="6492240" y="2194560"/>
            <a:ext cx="2286000" cy="777240"/>
          </a:xfrm>
          <a:prstGeom prst="rect">
            <a:avLst/>
          </a:prstGeom>
          <a:noFill/>
          <a:ln/>
        </p:spPr>
        <p:txBody>
          <a:bodyPr wrap="square" lIns="0" tIns="0" rIns="0" bIns="0" rtlCol="0" anchor="ctr"/>
          <a:lstStyle/>
          <a:p>
            <a:pPr indent="0" marL="0">
              <a:buNone/>
            </a:pPr>
            <a:r>
              <a:rPr lang="en-US" sz="3400" b="1" dirty="0">
                <a:solidFill>
                  <a:srgbClr val="FF4757"/>
                </a:solidFill>
                <a:latin typeface="Palatino Linotype" pitchFamily="34" charset="0"/>
                <a:ea typeface="Palatino Linotype" pitchFamily="34" charset="-122"/>
                <a:cs typeface="Palatino Linotype" pitchFamily="34" charset="-120"/>
              </a:rPr>
              <a:t>56,4 %</a:t>
            </a:r>
            <a:endParaRPr lang="en-US" sz="3400" dirty="0"/>
          </a:p>
        </p:txBody>
      </p:sp>
      <p:sp>
        <p:nvSpPr>
          <p:cNvPr id="13" name="Text 11"/>
          <p:cNvSpPr/>
          <p:nvPr/>
        </p:nvSpPr>
        <p:spPr>
          <a:xfrm>
            <a:off x="6492240" y="2834640"/>
            <a:ext cx="2286000" cy="274320"/>
          </a:xfrm>
          <a:prstGeom prst="rect">
            <a:avLst/>
          </a:prstGeom>
          <a:noFill/>
          <a:ln/>
        </p:spPr>
        <p:txBody>
          <a:bodyPr wrap="square" lIns="0" tIns="0" rIns="0" bIns="0" rtlCol="0" anchor="t"/>
          <a:lstStyle/>
          <a:p>
            <a:pPr indent="0" marL="0">
              <a:buNone/>
            </a:pPr>
            <a:r>
              <a:rPr lang="en-US" sz="1200" dirty="0">
                <a:solidFill>
                  <a:srgbClr val="959BB0"/>
                </a:solidFill>
                <a:latin typeface="Palatino Linotype" pitchFamily="34" charset="0"/>
                <a:ea typeface="Palatino Linotype" pitchFamily="34" charset="-122"/>
                <a:cs typeface="Palatino Linotype" pitchFamily="34" charset="-120"/>
              </a:rPr>
              <a:t>Roumanie</a:t>
            </a:r>
            <a:endParaRPr lang="en-US" sz="1200" dirty="0"/>
          </a:p>
        </p:txBody>
      </p:sp>
      <p:sp>
        <p:nvSpPr>
          <p:cNvPr id="14" name="Text 12"/>
          <p:cNvSpPr/>
          <p:nvPr/>
        </p:nvSpPr>
        <p:spPr>
          <a:xfrm>
            <a:off x="8961120" y="2194560"/>
            <a:ext cx="2286000" cy="777240"/>
          </a:xfrm>
          <a:prstGeom prst="rect">
            <a:avLst/>
          </a:prstGeom>
          <a:noFill/>
          <a:ln/>
        </p:spPr>
        <p:txBody>
          <a:bodyPr wrap="square" lIns="0" tIns="0" rIns="0" bIns="0" rtlCol="0" anchor="ctr"/>
          <a:lstStyle/>
          <a:p>
            <a:pPr indent="0" marL="0">
              <a:buNone/>
            </a:pPr>
            <a:r>
              <a:rPr lang="en-US" sz="3400" b="1" dirty="0">
                <a:solidFill>
                  <a:srgbClr val="27D3BE"/>
                </a:solidFill>
                <a:latin typeface="Palatino Linotype" pitchFamily="34" charset="0"/>
                <a:ea typeface="Palatino Linotype" pitchFamily="34" charset="-122"/>
                <a:cs typeface="Palatino Linotype" pitchFamily="34" charset="-120"/>
              </a:rPr>
              <a:t>51,3 %</a:t>
            </a:r>
            <a:endParaRPr lang="en-US" sz="3400" dirty="0"/>
          </a:p>
        </p:txBody>
      </p:sp>
      <p:sp>
        <p:nvSpPr>
          <p:cNvPr id="15" name="Text 13"/>
          <p:cNvSpPr/>
          <p:nvPr/>
        </p:nvSpPr>
        <p:spPr>
          <a:xfrm>
            <a:off x="8961120" y="2834640"/>
            <a:ext cx="2286000" cy="274320"/>
          </a:xfrm>
          <a:prstGeom prst="rect">
            <a:avLst/>
          </a:prstGeom>
          <a:noFill/>
          <a:ln/>
        </p:spPr>
        <p:txBody>
          <a:bodyPr wrap="square" lIns="0" tIns="0" rIns="0" bIns="0" rtlCol="0" anchor="t"/>
          <a:lstStyle/>
          <a:p>
            <a:pPr indent="0" marL="0">
              <a:buNone/>
            </a:pPr>
            <a:r>
              <a:rPr lang="en-US" sz="1200" dirty="0">
                <a:solidFill>
                  <a:srgbClr val="959BB0"/>
                </a:solidFill>
                <a:latin typeface="Palatino Linotype" pitchFamily="34" charset="0"/>
                <a:ea typeface="Palatino Linotype" pitchFamily="34" charset="-122"/>
                <a:cs typeface="Palatino Linotype" pitchFamily="34" charset="-120"/>
              </a:rPr>
              <a:t>UE</a:t>
            </a:r>
            <a:endParaRPr lang="en-US" sz="1200" dirty="0"/>
          </a:p>
        </p:txBody>
      </p:sp>
      <p:sp>
        <p:nvSpPr>
          <p:cNvPr id="16" name="Shape 14"/>
          <p:cNvSpPr/>
          <p:nvPr/>
        </p:nvSpPr>
        <p:spPr>
          <a:xfrm>
            <a:off x="594360" y="3337560"/>
            <a:ext cx="5349240" cy="1508760"/>
          </a:xfrm>
          <a:prstGeom prst="roundRect">
            <a:avLst>
              <a:gd name="adj" fmla="val 5455"/>
            </a:avLst>
          </a:prstGeom>
          <a:solidFill>
            <a:srgbClr val="1D1F2B"/>
          </a:solidFill>
          <a:ln w="12700">
            <a:solidFill>
              <a:srgbClr val="1D1F2B"/>
            </a:solidFill>
            <a:prstDash val="solid"/>
          </a:ln>
        </p:spPr>
      </p:sp>
      <p:sp>
        <p:nvSpPr>
          <p:cNvPr id="17" name="Text 15"/>
          <p:cNvSpPr/>
          <p:nvPr/>
        </p:nvSpPr>
        <p:spPr>
          <a:xfrm>
            <a:off x="868680" y="3429000"/>
            <a:ext cx="4846320" cy="411480"/>
          </a:xfrm>
          <a:prstGeom prst="rect">
            <a:avLst/>
          </a:prstGeom>
          <a:noFill/>
          <a:ln/>
        </p:spPr>
        <p:txBody>
          <a:bodyPr wrap="square" lIns="0" tIns="0" rIns="0" bIns="0" rtlCol="0" anchor="t"/>
          <a:lstStyle/>
          <a:p>
            <a:pPr indent="0" marL="0">
              <a:buNone/>
            </a:pPr>
            <a:r>
              <a:rPr lang="en-US" sz="1600" b="1" dirty="0">
                <a:solidFill>
                  <a:srgbClr val="D5D8E2"/>
                </a:solidFill>
                <a:latin typeface="Palatino Linotype" pitchFamily="34" charset="0"/>
                <a:ea typeface="Palatino Linotype" pitchFamily="34" charset="-122"/>
                <a:cs typeface="Palatino Linotype" pitchFamily="34" charset="-120"/>
              </a:rPr>
              <a:t>Hypertension déclarée</a:t>
            </a:r>
            <a:endParaRPr lang="en-US" sz="1600" dirty="0"/>
          </a:p>
        </p:txBody>
      </p:sp>
      <p:sp>
        <p:nvSpPr>
          <p:cNvPr id="18" name="Text 16"/>
          <p:cNvSpPr/>
          <p:nvPr/>
        </p:nvSpPr>
        <p:spPr>
          <a:xfrm>
            <a:off x="868680" y="3886200"/>
            <a:ext cx="2286000" cy="777240"/>
          </a:xfrm>
          <a:prstGeom prst="rect">
            <a:avLst/>
          </a:prstGeom>
          <a:noFill/>
          <a:ln/>
        </p:spPr>
        <p:txBody>
          <a:bodyPr wrap="square" lIns="0" tIns="0" rIns="0" bIns="0" rtlCol="0" anchor="ctr"/>
          <a:lstStyle/>
          <a:p>
            <a:pPr indent="0" marL="0">
              <a:buNone/>
            </a:pPr>
            <a:r>
              <a:rPr lang="en-US" sz="3400" b="1" dirty="0">
                <a:solidFill>
                  <a:srgbClr val="FF4757"/>
                </a:solidFill>
                <a:latin typeface="Palatino Linotype" pitchFamily="34" charset="0"/>
                <a:ea typeface="Palatino Linotype" pitchFamily="34" charset="-122"/>
                <a:cs typeface="Palatino Linotype" pitchFamily="34" charset="-120"/>
              </a:rPr>
              <a:t>15,7 %</a:t>
            </a:r>
            <a:endParaRPr lang="en-US" sz="3400" dirty="0"/>
          </a:p>
        </p:txBody>
      </p:sp>
      <p:sp>
        <p:nvSpPr>
          <p:cNvPr id="19" name="Text 17"/>
          <p:cNvSpPr/>
          <p:nvPr/>
        </p:nvSpPr>
        <p:spPr>
          <a:xfrm>
            <a:off x="868680" y="4526280"/>
            <a:ext cx="2286000" cy="274320"/>
          </a:xfrm>
          <a:prstGeom prst="rect">
            <a:avLst/>
          </a:prstGeom>
          <a:noFill/>
          <a:ln/>
        </p:spPr>
        <p:txBody>
          <a:bodyPr wrap="square" lIns="0" tIns="0" rIns="0" bIns="0" rtlCol="0" anchor="t"/>
          <a:lstStyle/>
          <a:p>
            <a:pPr indent="0" marL="0">
              <a:buNone/>
            </a:pPr>
            <a:r>
              <a:rPr lang="en-US" sz="1200" dirty="0">
                <a:solidFill>
                  <a:srgbClr val="959BB0"/>
                </a:solidFill>
                <a:latin typeface="Palatino Linotype" pitchFamily="34" charset="0"/>
                <a:ea typeface="Palatino Linotype" pitchFamily="34" charset="-122"/>
                <a:cs typeface="Palatino Linotype" pitchFamily="34" charset="-120"/>
              </a:rPr>
              <a:t>Roumanie</a:t>
            </a:r>
            <a:endParaRPr lang="en-US" sz="1200" dirty="0"/>
          </a:p>
        </p:txBody>
      </p:sp>
      <p:sp>
        <p:nvSpPr>
          <p:cNvPr id="20" name="Text 18"/>
          <p:cNvSpPr/>
          <p:nvPr/>
        </p:nvSpPr>
        <p:spPr>
          <a:xfrm>
            <a:off x="3337560" y="3886200"/>
            <a:ext cx="2286000" cy="777240"/>
          </a:xfrm>
          <a:prstGeom prst="rect">
            <a:avLst/>
          </a:prstGeom>
          <a:noFill/>
          <a:ln/>
        </p:spPr>
        <p:txBody>
          <a:bodyPr wrap="square" lIns="0" tIns="0" rIns="0" bIns="0" rtlCol="0" anchor="ctr"/>
          <a:lstStyle/>
          <a:p>
            <a:pPr indent="0" marL="0">
              <a:buNone/>
            </a:pPr>
            <a:r>
              <a:rPr lang="en-US" sz="3400" b="1" dirty="0">
                <a:solidFill>
                  <a:srgbClr val="27D3BE"/>
                </a:solidFill>
                <a:latin typeface="Palatino Linotype" pitchFamily="34" charset="0"/>
                <a:ea typeface="Palatino Linotype" pitchFamily="34" charset="-122"/>
                <a:cs typeface="Palatino Linotype" pitchFamily="34" charset="-120"/>
              </a:rPr>
              <a:t>21,9 %</a:t>
            </a:r>
            <a:endParaRPr lang="en-US" sz="3400" dirty="0"/>
          </a:p>
        </p:txBody>
      </p:sp>
      <p:sp>
        <p:nvSpPr>
          <p:cNvPr id="21" name="Text 19"/>
          <p:cNvSpPr/>
          <p:nvPr/>
        </p:nvSpPr>
        <p:spPr>
          <a:xfrm>
            <a:off x="3337560" y="4526280"/>
            <a:ext cx="2286000" cy="274320"/>
          </a:xfrm>
          <a:prstGeom prst="rect">
            <a:avLst/>
          </a:prstGeom>
          <a:noFill/>
          <a:ln/>
        </p:spPr>
        <p:txBody>
          <a:bodyPr wrap="square" lIns="0" tIns="0" rIns="0" bIns="0" rtlCol="0" anchor="t"/>
          <a:lstStyle/>
          <a:p>
            <a:pPr indent="0" marL="0">
              <a:buNone/>
            </a:pPr>
            <a:r>
              <a:rPr lang="en-US" sz="1200" dirty="0">
                <a:solidFill>
                  <a:srgbClr val="959BB0"/>
                </a:solidFill>
                <a:latin typeface="Palatino Linotype" pitchFamily="34" charset="0"/>
                <a:ea typeface="Palatino Linotype" pitchFamily="34" charset="-122"/>
                <a:cs typeface="Palatino Linotype" pitchFamily="34" charset="-120"/>
              </a:rPr>
              <a:t>UE</a:t>
            </a:r>
            <a:endParaRPr lang="en-US" sz="1200" dirty="0"/>
          </a:p>
        </p:txBody>
      </p:sp>
      <p:sp>
        <p:nvSpPr>
          <p:cNvPr id="22" name="Shape 20"/>
          <p:cNvSpPr/>
          <p:nvPr/>
        </p:nvSpPr>
        <p:spPr>
          <a:xfrm>
            <a:off x="6217920" y="3337560"/>
            <a:ext cx="5349240" cy="1508760"/>
          </a:xfrm>
          <a:prstGeom prst="roundRect">
            <a:avLst>
              <a:gd name="adj" fmla="val 5455"/>
            </a:avLst>
          </a:prstGeom>
          <a:solidFill>
            <a:srgbClr val="1D1F2B"/>
          </a:solidFill>
          <a:ln w="12700">
            <a:solidFill>
              <a:srgbClr val="1D1F2B"/>
            </a:solidFill>
            <a:prstDash val="solid"/>
          </a:ln>
        </p:spPr>
      </p:sp>
      <p:sp>
        <p:nvSpPr>
          <p:cNvPr id="23" name="Text 21"/>
          <p:cNvSpPr/>
          <p:nvPr/>
        </p:nvSpPr>
        <p:spPr>
          <a:xfrm>
            <a:off x="6492240" y="3429000"/>
            <a:ext cx="4846320" cy="411480"/>
          </a:xfrm>
          <a:prstGeom prst="rect">
            <a:avLst/>
          </a:prstGeom>
          <a:noFill/>
          <a:ln/>
        </p:spPr>
        <p:txBody>
          <a:bodyPr wrap="square" lIns="0" tIns="0" rIns="0" bIns="0" rtlCol="0" anchor="t"/>
          <a:lstStyle/>
          <a:p>
            <a:pPr indent="0" marL="0">
              <a:buNone/>
            </a:pPr>
            <a:r>
              <a:rPr lang="en-US" sz="1600" b="1" dirty="0">
                <a:solidFill>
                  <a:srgbClr val="D5D8E2"/>
                </a:solidFill>
                <a:latin typeface="Palatino Linotype" pitchFamily="34" charset="0"/>
                <a:ea typeface="Palatino Linotype" pitchFamily="34" charset="-122"/>
                <a:cs typeface="Palatino Linotype" pitchFamily="34" charset="-120"/>
              </a:rPr>
              <a:t>Diabète déclaré</a:t>
            </a:r>
            <a:endParaRPr lang="en-US" sz="1600" dirty="0"/>
          </a:p>
        </p:txBody>
      </p:sp>
      <p:sp>
        <p:nvSpPr>
          <p:cNvPr id="24" name="Text 22"/>
          <p:cNvSpPr/>
          <p:nvPr/>
        </p:nvSpPr>
        <p:spPr>
          <a:xfrm>
            <a:off x="6492240" y="3886200"/>
            <a:ext cx="2286000" cy="777240"/>
          </a:xfrm>
          <a:prstGeom prst="rect">
            <a:avLst/>
          </a:prstGeom>
          <a:noFill/>
          <a:ln/>
        </p:spPr>
        <p:txBody>
          <a:bodyPr wrap="square" lIns="0" tIns="0" rIns="0" bIns="0" rtlCol="0" anchor="ctr"/>
          <a:lstStyle/>
          <a:p>
            <a:pPr indent="0" marL="0">
              <a:buNone/>
            </a:pPr>
            <a:r>
              <a:rPr lang="en-US" sz="3400" b="1" dirty="0">
                <a:solidFill>
                  <a:srgbClr val="FF4757"/>
                </a:solidFill>
                <a:latin typeface="Palatino Linotype" pitchFamily="34" charset="0"/>
                <a:ea typeface="Palatino Linotype" pitchFamily="34" charset="-122"/>
                <a:cs typeface="Palatino Linotype" pitchFamily="34" charset="-120"/>
              </a:rPr>
              <a:t>5,0 %</a:t>
            </a:r>
            <a:endParaRPr lang="en-US" sz="3400" dirty="0"/>
          </a:p>
        </p:txBody>
      </p:sp>
      <p:sp>
        <p:nvSpPr>
          <p:cNvPr id="25" name="Text 23"/>
          <p:cNvSpPr/>
          <p:nvPr/>
        </p:nvSpPr>
        <p:spPr>
          <a:xfrm>
            <a:off x="6492240" y="4526280"/>
            <a:ext cx="2286000" cy="274320"/>
          </a:xfrm>
          <a:prstGeom prst="rect">
            <a:avLst/>
          </a:prstGeom>
          <a:noFill/>
          <a:ln/>
        </p:spPr>
        <p:txBody>
          <a:bodyPr wrap="square" lIns="0" tIns="0" rIns="0" bIns="0" rtlCol="0" anchor="t"/>
          <a:lstStyle/>
          <a:p>
            <a:pPr indent="0" marL="0">
              <a:buNone/>
            </a:pPr>
            <a:r>
              <a:rPr lang="en-US" sz="1200" dirty="0">
                <a:solidFill>
                  <a:srgbClr val="959BB0"/>
                </a:solidFill>
                <a:latin typeface="Palatino Linotype" pitchFamily="34" charset="0"/>
                <a:ea typeface="Palatino Linotype" pitchFamily="34" charset="-122"/>
                <a:cs typeface="Palatino Linotype" pitchFamily="34" charset="-120"/>
              </a:rPr>
              <a:t>Roumanie</a:t>
            </a:r>
            <a:endParaRPr lang="en-US" sz="1200" dirty="0"/>
          </a:p>
        </p:txBody>
      </p:sp>
      <p:sp>
        <p:nvSpPr>
          <p:cNvPr id="26" name="Text 24"/>
          <p:cNvSpPr/>
          <p:nvPr/>
        </p:nvSpPr>
        <p:spPr>
          <a:xfrm>
            <a:off x="8961120" y="3886200"/>
            <a:ext cx="2286000" cy="777240"/>
          </a:xfrm>
          <a:prstGeom prst="rect">
            <a:avLst/>
          </a:prstGeom>
          <a:noFill/>
          <a:ln/>
        </p:spPr>
        <p:txBody>
          <a:bodyPr wrap="square" lIns="0" tIns="0" rIns="0" bIns="0" rtlCol="0" anchor="ctr"/>
          <a:lstStyle/>
          <a:p>
            <a:pPr indent="0" marL="0">
              <a:buNone/>
            </a:pPr>
            <a:r>
              <a:rPr lang="en-US" sz="3400" b="1" dirty="0">
                <a:solidFill>
                  <a:srgbClr val="27D3BE"/>
                </a:solidFill>
                <a:latin typeface="Palatino Linotype" pitchFamily="34" charset="0"/>
                <a:ea typeface="Palatino Linotype" pitchFamily="34" charset="-122"/>
                <a:cs typeface="Palatino Linotype" pitchFamily="34" charset="-120"/>
              </a:rPr>
              <a:t>7,4 %</a:t>
            </a:r>
            <a:endParaRPr lang="en-US" sz="3400" dirty="0"/>
          </a:p>
        </p:txBody>
      </p:sp>
      <p:sp>
        <p:nvSpPr>
          <p:cNvPr id="27" name="Text 25"/>
          <p:cNvSpPr/>
          <p:nvPr/>
        </p:nvSpPr>
        <p:spPr>
          <a:xfrm>
            <a:off x="8961120" y="4526280"/>
            <a:ext cx="2286000" cy="274320"/>
          </a:xfrm>
          <a:prstGeom prst="rect">
            <a:avLst/>
          </a:prstGeom>
          <a:noFill/>
          <a:ln/>
        </p:spPr>
        <p:txBody>
          <a:bodyPr wrap="square" lIns="0" tIns="0" rIns="0" bIns="0" rtlCol="0" anchor="t"/>
          <a:lstStyle/>
          <a:p>
            <a:pPr indent="0" marL="0">
              <a:buNone/>
            </a:pPr>
            <a:r>
              <a:rPr lang="en-US" sz="1200" dirty="0">
                <a:solidFill>
                  <a:srgbClr val="959BB0"/>
                </a:solidFill>
                <a:latin typeface="Palatino Linotype" pitchFamily="34" charset="0"/>
                <a:ea typeface="Palatino Linotype" pitchFamily="34" charset="-122"/>
                <a:cs typeface="Palatino Linotype" pitchFamily="34" charset="-120"/>
              </a:rPr>
              <a:t>UE</a:t>
            </a:r>
            <a:endParaRPr lang="en-US" sz="1200" dirty="0"/>
          </a:p>
        </p:txBody>
      </p:sp>
      <p:sp>
        <p:nvSpPr>
          <p:cNvPr id="28" name="Text 26"/>
          <p:cNvSpPr/>
          <p:nvPr/>
        </p:nvSpPr>
        <p:spPr>
          <a:xfrm>
            <a:off x="594360" y="5120640"/>
            <a:ext cx="10972800" cy="822960"/>
          </a:xfrm>
          <a:prstGeom prst="rect">
            <a:avLst/>
          </a:prstGeom>
          <a:noFill/>
          <a:ln/>
        </p:spPr>
        <p:txBody>
          <a:bodyPr wrap="square" lIns="0" tIns="0" rIns="0" bIns="0" rtlCol="0" anchor="t"/>
          <a:lstStyle/>
          <a:p>
            <a:pPr indent="0" marL="0">
              <a:buNone/>
            </a:pPr>
            <a:r>
              <a:rPr lang="en-US" sz="1800" b="1" dirty="0">
                <a:solidFill>
                  <a:srgbClr val="FFC24B"/>
                </a:solidFill>
                <a:latin typeface="Palatino Linotype" pitchFamily="34" charset="0"/>
                <a:ea typeface="Palatino Linotype" pitchFamily="34" charset="-122"/>
                <a:cs typeface="Palatino Linotype" pitchFamily="34" charset="-120"/>
              </a:rPr>
              <a:t>Comment il a été obtenu : IMC calculé à partir de la taille et du poids déclarés à l’entretien (manuel EHIS), non mesurés.</a:t>
            </a:r>
            <a:endParaRPr lang="en-US" sz="1800" dirty="0"/>
          </a:p>
        </p:txBody>
      </p:sp>
      <p:sp>
        <p:nvSpPr>
          <p:cNvPr id="29" name="Text 27"/>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Source : Eurostat, EHIS, vague 2019.</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229600" y="292608"/>
            <a:ext cx="333756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229600" y="292608"/>
            <a:ext cx="333756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LE VOISIN</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VOTEZ, PUIS DEUX MINUTES AVEC VOTRE VOISIN</a:t>
            </a:r>
            <a:endParaRPr lang="en-US" sz="1300" dirty="0"/>
          </a:p>
        </p:txBody>
      </p:sp>
      <p:sp>
        <p:nvSpPr>
          <p:cNvPr id="5" name="Text 3"/>
          <p:cNvSpPr/>
          <p:nvPr/>
        </p:nvSpPr>
        <p:spPr>
          <a:xfrm>
            <a:off x="594360" y="713232"/>
            <a:ext cx="758952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Quelle conclusion peut-on en tirer ?</a:t>
            </a:r>
            <a:endParaRPr lang="en-US" sz="3200" dirty="0"/>
          </a:p>
        </p:txBody>
      </p:sp>
      <p:sp>
        <p:nvSpPr>
          <p:cNvPr id="6" name="Shape 4"/>
          <p:cNvSpPr/>
          <p:nvPr/>
        </p:nvSpPr>
        <p:spPr>
          <a:xfrm>
            <a:off x="594360" y="1645920"/>
            <a:ext cx="10972800" cy="868680"/>
          </a:xfrm>
          <a:prstGeom prst="roundRect">
            <a:avLst>
              <a:gd name="adj" fmla="val 9474"/>
            </a:avLst>
          </a:prstGeom>
          <a:solidFill>
            <a:srgbClr val="272A38"/>
          </a:solidFill>
          <a:ln w="12700">
            <a:solidFill>
              <a:srgbClr val="272A38"/>
            </a:solidFill>
            <a:prstDash val="solid"/>
          </a:ln>
        </p:spPr>
      </p:sp>
      <p:sp>
        <p:nvSpPr>
          <p:cNvPr id="7" name="Text 5"/>
          <p:cNvSpPr/>
          <p:nvPr/>
        </p:nvSpPr>
        <p:spPr>
          <a:xfrm>
            <a:off x="868680" y="1645920"/>
            <a:ext cx="10424160" cy="868680"/>
          </a:xfrm>
          <a:prstGeom prst="rect">
            <a:avLst/>
          </a:prstGeom>
          <a:noFill/>
          <a:ln/>
        </p:spPr>
        <p:txBody>
          <a:bodyPr wrap="square" lIns="0" tIns="0" rIns="0" bIns="0" rtlCol="0" anchor="ctr"/>
          <a:lstStyle/>
          <a:p>
            <a:pPr indent="0" marL="0">
              <a:buNone/>
            </a:pPr>
            <a:r>
              <a:rPr lang="en-US" sz="2100" b="1" dirty="0">
                <a:solidFill>
                  <a:srgbClr val="FFFFFF"/>
                </a:solidFill>
                <a:latin typeface="Palatino Linotype" pitchFamily="34" charset="0"/>
                <a:ea typeface="Palatino Linotype" pitchFamily="34" charset="-122"/>
                <a:cs typeface="Palatino Linotype" pitchFamily="34" charset="-120"/>
              </a:rPr>
              <a:t>L’hypertension déclarée est plus rare en Roumanie que dans l’UE.</a:t>
            </a:r>
            <a:endParaRPr lang="en-US" sz="2100" dirty="0"/>
          </a:p>
        </p:txBody>
      </p:sp>
      <p:sp>
        <p:nvSpPr>
          <p:cNvPr id="8" name="Shape 6"/>
          <p:cNvSpPr/>
          <p:nvPr/>
        </p:nvSpPr>
        <p:spPr>
          <a:xfrm>
            <a:off x="594360" y="2697480"/>
            <a:ext cx="10972800" cy="557784"/>
          </a:xfrm>
          <a:prstGeom prst="roundRect">
            <a:avLst>
              <a:gd name="adj" fmla="val 14754"/>
            </a:avLst>
          </a:prstGeom>
          <a:solidFill>
            <a:srgbClr val="1D1F2B"/>
          </a:solidFill>
          <a:ln w="12700">
            <a:solidFill>
              <a:srgbClr val="1D1F2B"/>
            </a:solidFill>
            <a:prstDash val="solid"/>
          </a:ln>
        </p:spPr>
      </p:sp>
      <p:sp>
        <p:nvSpPr>
          <p:cNvPr id="9" name="Shape 7"/>
          <p:cNvSpPr/>
          <p:nvPr/>
        </p:nvSpPr>
        <p:spPr>
          <a:xfrm>
            <a:off x="777240" y="2766060"/>
            <a:ext cx="420624" cy="420624"/>
          </a:xfrm>
          <a:prstGeom prst="ellipse">
            <a:avLst/>
          </a:prstGeom>
          <a:solidFill>
            <a:srgbClr val="FFC24B"/>
          </a:solidFill>
          <a:ln/>
        </p:spPr>
      </p:sp>
      <p:sp>
        <p:nvSpPr>
          <p:cNvPr id="10" name="Text 8"/>
          <p:cNvSpPr/>
          <p:nvPr/>
        </p:nvSpPr>
        <p:spPr>
          <a:xfrm>
            <a:off x="777240" y="276606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11" name="Text 9"/>
          <p:cNvSpPr/>
          <p:nvPr/>
        </p:nvSpPr>
        <p:spPr>
          <a:xfrm>
            <a:off x="1371600" y="2697480"/>
            <a:ext cx="10058400" cy="557784"/>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L’hypertension est plus rare en Roumanie</a:t>
            </a:r>
            <a:endParaRPr lang="en-US" sz="1800" dirty="0"/>
          </a:p>
        </p:txBody>
      </p:sp>
      <p:sp>
        <p:nvSpPr>
          <p:cNvPr id="12" name="Shape 10"/>
          <p:cNvSpPr/>
          <p:nvPr/>
        </p:nvSpPr>
        <p:spPr>
          <a:xfrm>
            <a:off x="594360" y="3383280"/>
            <a:ext cx="10972800" cy="557784"/>
          </a:xfrm>
          <a:prstGeom prst="roundRect">
            <a:avLst>
              <a:gd name="adj" fmla="val 14754"/>
            </a:avLst>
          </a:prstGeom>
          <a:solidFill>
            <a:srgbClr val="1D1F2B"/>
          </a:solidFill>
          <a:ln w="12700">
            <a:solidFill>
              <a:srgbClr val="1D1F2B"/>
            </a:solidFill>
            <a:prstDash val="solid"/>
          </a:ln>
        </p:spPr>
      </p:sp>
      <p:sp>
        <p:nvSpPr>
          <p:cNvPr id="13" name="Shape 11"/>
          <p:cNvSpPr/>
          <p:nvPr/>
        </p:nvSpPr>
        <p:spPr>
          <a:xfrm>
            <a:off x="777240" y="3451860"/>
            <a:ext cx="420624" cy="420624"/>
          </a:xfrm>
          <a:prstGeom prst="ellipse">
            <a:avLst/>
          </a:prstGeom>
          <a:solidFill>
            <a:srgbClr val="FFC24B"/>
          </a:solidFill>
          <a:ln/>
        </p:spPr>
      </p:sp>
      <p:sp>
        <p:nvSpPr>
          <p:cNvPr id="14" name="Text 12"/>
          <p:cNvSpPr/>
          <p:nvPr/>
        </p:nvSpPr>
        <p:spPr>
          <a:xfrm>
            <a:off x="777240" y="345186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5" name="Text 13"/>
          <p:cNvSpPr/>
          <p:nvPr/>
        </p:nvSpPr>
        <p:spPr>
          <a:xfrm>
            <a:off x="1371600" y="3383280"/>
            <a:ext cx="10058400" cy="557784"/>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Les médecins roumains traitent mieux l’hypertension</a:t>
            </a:r>
            <a:endParaRPr lang="en-US" sz="1800" dirty="0"/>
          </a:p>
        </p:txBody>
      </p:sp>
      <p:sp>
        <p:nvSpPr>
          <p:cNvPr id="16" name="Shape 14"/>
          <p:cNvSpPr/>
          <p:nvPr/>
        </p:nvSpPr>
        <p:spPr>
          <a:xfrm>
            <a:off x="594360" y="4069080"/>
            <a:ext cx="10972800" cy="557784"/>
          </a:xfrm>
          <a:prstGeom prst="roundRect">
            <a:avLst>
              <a:gd name="adj" fmla="val 14754"/>
            </a:avLst>
          </a:prstGeom>
          <a:solidFill>
            <a:srgbClr val="1D1F2B"/>
          </a:solidFill>
          <a:ln w="12700">
            <a:solidFill>
              <a:srgbClr val="1D1F2B"/>
            </a:solidFill>
            <a:prstDash val="solid"/>
          </a:ln>
        </p:spPr>
      </p:sp>
      <p:sp>
        <p:nvSpPr>
          <p:cNvPr id="17" name="Shape 15"/>
          <p:cNvSpPr/>
          <p:nvPr/>
        </p:nvSpPr>
        <p:spPr>
          <a:xfrm>
            <a:off x="777240" y="4137660"/>
            <a:ext cx="420624" cy="420624"/>
          </a:xfrm>
          <a:prstGeom prst="ellipse">
            <a:avLst/>
          </a:prstGeom>
          <a:solidFill>
            <a:srgbClr val="FFC24B"/>
          </a:solidFill>
          <a:ln/>
        </p:spPr>
      </p:sp>
      <p:sp>
        <p:nvSpPr>
          <p:cNvPr id="18" name="Text 16"/>
          <p:cNvSpPr/>
          <p:nvPr/>
        </p:nvSpPr>
        <p:spPr>
          <a:xfrm>
            <a:off x="777240" y="413766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9" name="Text 17"/>
          <p:cNvSpPr/>
          <p:nvPr/>
        </p:nvSpPr>
        <p:spPr>
          <a:xfrm>
            <a:off x="1371600" y="4069080"/>
            <a:ext cx="10058400" cy="557784"/>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Les données déclarées n’incluent pas les malades non diagnostiqués, donc ne permettent pas de conclure</a:t>
            </a:r>
            <a:endParaRPr lang="en-US" sz="1800" dirty="0"/>
          </a:p>
        </p:txBody>
      </p:sp>
      <p:sp>
        <p:nvSpPr>
          <p:cNvPr id="20" name="Shape 18"/>
          <p:cNvSpPr/>
          <p:nvPr/>
        </p:nvSpPr>
        <p:spPr>
          <a:xfrm>
            <a:off x="594360" y="4754880"/>
            <a:ext cx="10972800" cy="557784"/>
          </a:xfrm>
          <a:prstGeom prst="roundRect">
            <a:avLst>
              <a:gd name="adj" fmla="val 14754"/>
            </a:avLst>
          </a:prstGeom>
          <a:solidFill>
            <a:srgbClr val="1D1F2B"/>
          </a:solidFill>
          <a:ln w="12700">
            <a:solidFill>
              <a:srgbClr val="1D1F2B"/>
            </a:solidFill>
            <a:prstDash val="solid"/>
          </a:ln>
        </p:spPr>
      </p:sp>
      <p:sp>
        <p:nvSpPr>
          <p:cNvPr id="21" name="Shape 19"/>
          <p:cNvSpPr/>
          <p:nvPr/>
        </p:nvSpPr>
        <p:spPr>
          <a:xfrm>
            <a:off x="777240" y="4823460"/>
            <a:ext cx="420624" cy="420624"/>
          </a:xfrm>
          <a:prstGeom prst="ellipse">
            <a:avLst/>
          </a:prstGeom>
          <a:solidFill>
            <a:srgbClr val="FFC24B"/>
          </a:solidFill>
          <a:ln/>
        </p:spPr>
      </p:sp>
      <p:sp>
        <p:nvSpPr>
          <p:cNvPr id="22" name="Text 20"/>
          <p:cNvSpPr/>
          <p:nvPr/>
        </p:nvSpPr>
        <p:spPr>
          <a:xfrm>
            <a:off x="777240" y="482346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3" name="Text 21"/>
          <p:cNvSpPr/>
          <p:nvPr/>
        </p:nvSpPr>
        <p:spPr>
          <a:xfrm>
            <a:off x="1371600" y="4754880"/>
            <a:ext cx="10058400" cy="557784"/>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L’enquête est erronée</a:t>
            </a:r>
            <a:endParaRPr lang="en-US" sz="1800" dirty="0"/>
          </a:p>
        </p:txBody>
      </p:sp>
      <p:sp>
        <p:nvSpPr>
          <p:cNvPr id="24" name="Text 22"/>
          <p:cNvSpPr/>
          <p:nvPr/>
        </p:nvSpPr>
        <p:spPr>
          <a:xfrm>
            <a:off x="594360" y="5577840"/>
            <a:ext cx="10972800" cy="457200"/>
          </a:xfrm>
          <a:prstGeom prst="rect">
            <a:avLst/>
          </a:prstGeom>
          <a:noFill/>
          <a:ln/>
        </p:spPr>
        <p:txBody>
          <a:bodyPr wrap="square" lIns="0" tIns="0" rIns="0" bIns="0" rtlCol="0" anchor="t"/>
          <a:lstStyle/>
          <a:p>
            <a:pPr indent="0" marL="0">
              <a:buNone/>
            </a:pPr>
            <a:r>
              <a:rPr lang="en-US" sz="2000" b="1" dirty="0">
                <a:solidFill>
                  <a:srgbClr val="FFC24B"/>
                </a:solidFill>
                <a:latin typeface="Palatino Linotype" pitchFamily="34" charset="0"/>
                <a:ea typeface="Palatino Linotype" pitchFamily="34" charset="-122"/>
                <a:cs typeface="Palatino Linotype" pitchFamily="34" charset="-120"/>
              </a:rPr>
              <a:t>Répondez sur votre téléphone, au code affiché.</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LA RÉPONSE : C</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Les données déclarées ne permettent pas de conclure</a:t>
            </a:r>
            <a:endParaRPr lang="en-US" sz="3200" dirty="0"/>
          </a:p>
        </p:txBody>
      </p:sp>
      <p:sp>
        <p:nvSpPr>
          <p:cNvPr id="4" name="Text 2"/>
          <p:cNvSpPr/>
          <p:nvPr/>
        </p:nvSpPr>
        <p:spPr>
          <a:xfrm>
            <a:off x="594360" y="1600200"/>
            <a:ext cx="10972800" cy="86868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L’enquête n’enregistre que les maladies connues du répondant. Ion, sans consultation depuis cinq ans, aurait répondu « non ».</a:t>
            </a:r>
            <a:endParaRPr lang="en-US" sz="1900" dirty="0"/>
          </a:p>
        </p:txBody>
      </p:sp>
      <p:sp>
        <p:nvSpPr>
          <p:cNvPr id="5" name="Shape 3"/>
          <p:cNvSpPr/>
          <p:nvPr/>
        </p:nvSpPr>
        <p:spPr>
          <a:xfrm>
            <a:off x="594360" y="2697480"/>
            <a:ext cx="3520440" cy="868680"/>
          </a:xfrm>
          <a:prstGeom prst="roundRect">
            <a:avLst>
              <a:gd name="adj" fmla="val 9474"/>
            </a:avLst>
          </a:prstGeom>
          <a:solidFill>
            <a:srgbClr val="0E7C6B"/>
          </a:solidFill>
          <a:ln w="12700">
            <a:solidFill>
              <a:srgbClr val="0E7C6B"/>
            </a:solidFill>
            <a:prstDash val="solid"/>
          </a:ln>
        </p:spPr>
      </p:sp>
      <p:sp>
        <p:nvSpPr>
          <p:cNvPr id="6" name="Text 4"/>
          <p:cNvSpPr/>
          <p:nvPr/>
        </p:nvSpPr>
        <p:spPr>
          <a:xfrm>
            <a:off x="731520" y="2697480"/>
            <a:ext cx="3246120" cy="868680"/>
          </a:xfrm>
          <a:prstGeom prst="rect">
            <a:avLst/>
          </a:prstGeom>
          <a:noFill/>
          <a:ln/>
        </p:spPr>
        <p:txBody>
          <a:bodyPr wrap="square" lIns="0" tIns="0" rIns="0" bIns="0" rtlCol="0" anchor="ctr"/>
          <a:lstStyle/>
          <a:p>
            <a:pPr algn="ctr" indent="0" marL="0">
              <a:buNone/>
            </a:pPr>
            <a:r>
              <a:rPr lang="en-US" sz="1800" b="1" dirty="0">
                <a:solidFill>
                  <a:srgbClr val="FFFFFF"/>
                </a:solidFill>
                <a:latin typeface="Palatino Linotype" pitchFamily="34" charset="0"/>
                <a:ea typeface="Palatino Linotype" pitchFamily="34" charset="-122"/>
                <a:cs typeface="Palatino Linotype" pitchFamily="34" charset="-120"/>
              </a:rPr>
              <a:t>fréquence plus faible</a:t>
            </a:r>
            <a:endParaRPr lang="en-US" sz="1800" dirty="0"/>
          </a:p>
        </p:txBody>
      </p:sp>
      <p:sp>
        <p:nvSpPr>
          <p:cNvPr id="7" name="Shape 5"/>
          <p:cNvSpPr/>
          <p:nvPr/>
        </p:nvSpPr>
        <p:spPr>
          <a:xfrm>
            <a:off x="4343400" y="2697480"/>
            <a:ext cx="3520440" cy="868680"/>
          </a:xfrm>
          <a:prstGeom prst="roundRect">
            <a:avLst>
              <a:gd name="adj" fmla="val 9474"/>
            </a:avLst>
          </a:prstGeom>
          <a:solidFill>
            <a:srgbClr val="9C4A0A"/>
          </a:solidFill>
          <a:ln w="12700">
            <a:solidFill>
              <a:srgbClr val="9C4A0A"/>
            </a:solidFill>
            <a:prstDash val="solid"/>
          </a:ln>
        </p:spPr>
      </p:sp>
      <p:sp>
        <p:nvSpPr>
          <p:cNvPr id="8" name="Text 6"/>
          <p:cNvSpPr/>
          <p:nvPr/>
        </p:nvSpPr>
        <p:spPr>
          <a:xfrm>
            <a:off x="4480560" y="2697480"/>
            <a:ext cx="3246120" cy="868680"/>
          </a:xfrm>
          <a:prstGeom prst="rect">
            <a:avLst/>
          </a:prstGeom>
          <a:noFill/>
          <a:ln/>
        </p:spPr>
        <p:txBody>
          <a:bodyPr wrap="square" lIns="0" tIns="0" rIns="0" bIns="0" rtlCol="0" anchor="ctr"/>
          <a:lstStyle/>
          <a:p>
            <a:pPr algn="ctr" indent="0" marL="0">
              <a:buNone/>
            </a:pPr>
            <a:r>
              <a:rPr lang="en-US" sz="1800" b="1" dirty="0">
                <a:solidFill>
                  <a:srgbClr val="FFFFFF"/>
                </a:solidFill>
                <a:latin typeface="Palatino Linotype" pitchFamily="34" charset="0"/>
                <a:ea typeface="Palatino Linotype" pitchFamily="34" charset="-122"/>
                <a:cs typeface="Palatino Linotype" pitchFamily="34" charset="-120"/>
              </a:rPr>
              <a:t>diagnostic plus rare</a:t>
            </a:r>
            <a:endParaRPr lang="en-US" sz="1800" dirty="0"/>
          </a:p>
        </p:txBody>
      </p:sp>
      <p:sp>
        <p:nvSpPr>
          <p:cNvPr id="9" name="Shape 7"/>
          <p:cNvSpPr/>
          <p:nvPr/>
        </p:nvSpPr>
        <p:spPr>
          <a:xfrm>
            <a:off x="8092440" y="2697480"/>
            <a:ext cx="3520440" cy="868680"/>
          </a:xfrm>
          <a:prstGeom prst="roundRect">
            <a:avLst>
              <a:gd name="adj" fmla="val 9474"/>
            </a:avLst>
          </a:prstGeom>
          <a:solidFill>
            <a:srgbClr val="4A2D8C"/>
          </a:solidFill>
          <a:ln w="12700">
            <a:solidFill>
              <a:srgbClr val="4A2D8C"/>
            </a:solidFill>
            <a:prstDash val="solid"/>
          </a:ln>
        </p:spPr>
      </p:sp>
      <p:sp>
        <p:nvSpPr>
          <p:cNvPr id="10" name="Text 8"/>
          <p:cNvSpPr/>
          <p:nvPr/>
        </p:nvSpPr>
        <p:spPr>
          <a:xfrm>
            <a:off x="8229600" y="2697480"/>
            <a:ext cx="3246120" cy="868680"/>
          </a:xfrm>
          <a:prstGeom prst="rect">
            <a:avLst/>
          </a:prstGeom>
          <a:noFill/>
          <a:ln/>
        </p:spPr>
        <p:txBody>
          <a:bodyPr wrap="square" lIns="0" tIns="0" rIns="0" bIns="0" rtlCol="0" anchor="ctr"/>
          <a:lstStyle/>
          <a:p>
            <a:pPr algn="ctr" indent="0" marL="0">
              <a:buNone/>
            </a:pPr>
            <a:r>
              <a:rPr lang="en-US" sz="1800" b="1" dirty="0">
                <a:solidFill>
                  <a:srgbClr val="FFFFFF"/>
                </a:solidFill>
                <a:latin typeface="Palatino Linotype" pitchFamily="34" charset="0"/>
                <a:ea typeface="Palatino Linotype" pitchFamily="34" charset="-122"/>
                <a:cs typeface="Palatino Linotype" pitchFamily="34" charset="-120"/>
              </a:rPr>
              <a:t>déclaration moins exacte</a:t>
            </a:r>
            <a:endParaRPr lang="en-US" sz="1800" dirty="0"/>
          </a:p>
        </p:txBody>
      </p:sp>
      <p:sp>
        <p:nvSpPr>
          <p:cNvPr id="11" name="Text 9"/>
          <p:cNvSpPr/>
          <p:nvPr/>
        </p:nvSpPr>
        <p:spPr>
          <a:xfrm>
            <a:off x="594360" y="3703320"/>
            <a:ext cx="10972800" cy="411480"/>
          </a:xfrm>
          <a:prstGeom prst="rect">
            <a:avLst/>
          </a:prstGeom>
          <a:noFill/>
          <a:ln/>
        </p:spPr>
        <p:txBody>
          <a:bodyPr wrap="square" lIns="0" tIns="0" rIns="0" bIns="0" rtlCol="0" anchor="t"/>
          <a:lstStyle/>
          <a:p>
            <a:pPr indent="0" marL="0">
              <a:buNone/>
            </a:pPr>
            <a:r>
              <a:rPr lang="en-US" sz="1600" i="1" dirty="0">
                <a:solidFill>
                  <a:srgbClr val="585A64"/>
                </a:solidFill>
                <a:latin typeface="Palatino Linotype" pitchFamily="34" charset="0"/>
                <a:ea typeface="Palatino Linotype" pitchFamily="34" charset="-122"/>
                <a:cs typeface="Palatino Linotype" pitchFamily="34" charset="-120"/>
              </a:rPr>
              <a:t>Trois explications possibles ; les données ne les séparent pas.</a:t>
            </a:r>
            <a:endParaRPr lang="en-US" sz="1600" dirty="0"/>
          </a:p>
        </p:txBody>
      </p:sp>
      <p:sp>
        <p:nvSpPr>
          <p:cNvPr id="12" name="Shape 10"/>
          <p:cNvSpPr/>
          <p:nvPr/>
        </p:nvSpPr>
        <p:spPr>
          <a:xfrm>
            <a:off x="594360" y="4297680"/>
            <a:ext cx="10972800" cy="1554480"/>
          </a:xfrm>
          <a:prstGeom prst="roundRect">
            <a:avLst>
              <a:gd name="adj" fmla="val 5294"/>
            </a:avLst>
          </a:prstGeom>
          <a:solidFill>
            <a:srgbClr val="11121A"/>
          </a:solidFill>
          <a:ln w="12700">
            <a:solidFill>
              <a:srgbClr val="11121A"/>
            </a:solidFill>
            <a:prstDash val="solid"/>
          </a:ln>
        </p:spPr>
      </p:sp>
      <p:sp>
        <p:nvSpPr>
          <p:cNvPr id="13" name="Text 11"/>
          <p:cNvSpPr/>
          <p:nvPr/>
        </p:nvSpPr>
        <p:spPr>
          <a:xfrm>
            <a:off x="868680" y="4297680"/>
            <a:ext cx="10424160" cy="1554480"/>
          </a:xfrm>
          <a:prstGeom prst="rect">
            <a:avLst/>
          </a:prstGeom>
          <a:noFill/>
          <a:ln/>
        </p:spPr>
        <p:txBody>
          <a:bodyPr wrap="square" lIns="0" tIns="0" rIns="0" bIns="0" rtlCol="0" anchor="ctr"/>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Vérifiez comment le chiffre a été obtenu et si les décès le confirment : la mortalité standardisée due aux maladies de l’appareil circulatoire est environ 2,5 fois la moyenne de l’UE.</a:t>
            </a:r>
            <a:endParaRPr lang="en-US" sz="1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NOUVEAU TERME 1</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Quatre niveaux de prévention</a:t>
            </a:r>
            <a:endParaRPr lang="en-US" sz="3200" dirty="0"/>
          </a:p>
        </p:txBody>
      </p:sp>
      <p:sp>
        <p:nvSpPr>
          <p:cNvPr id="4" name="Text 2"/>
          <p:cNvSpPr/>
          <p:nvPr/>
        </p:nvSpPr>
        <p:spPr>
          <a:xfrm>
            <a:off x="667512" y="1527048"/>
            <a:ext cx="1865376" cy="621792"/>
          </a:xfrm>
          <a:prstGeom prst="rect">
            <a:avLst/>
          </a:prstGeom>
          <a:noFill/>
          <a:ln/>
        </p:spPr>
        <p:txBody>
          <a:bodyPr wrap="square" lIns="0" tIns="0" rIns="0" bIns="0" rtlCol="0" anchor="ctr"/>
          <a:lstStyle/>
          <a:p>
            <a:pPr algn="l" indent="0" marL="0">
              <a:buNone/>
            </a:pPr>
            <a:r>
              <a:rPr lang="en-US" sz="1400" b="1" dirty="0">
                <a:solidFill>
                  <a:srgbClr val="B02532"/>
                </a:solidFill>
                <a:latin typeface="Palatino Linotype" pitchFamily="34" charset="0"/>
                <a:ea typeface="Palatino Linotype" pitchFamily="34" charset="-122"/>
                <a:cs typeface="Palatino Linotype" pitchFamily="34" charset="-120"/>
              </a:rPr>
              <a:t>Niveau</a:t>
            </a:r>
            <a:endParaRPr lang="en-US" sz="1400" dirty="0"/>
          </a:p>
        </p:txBody>
      </p:sp>
      <p:sp>
        <p:nvSpPr>
          <p:cNvPr id="5" name="Text 3"/>
          <p:cNvSpPr/>
          <p:nvPr/>
        </p:nvSpPr>
        <p:spPr>
          <a:xfrm>
            <a:off x="2679192" y="1527048"/>
            <a:ext cx="3511296" cy="621792"/>
          </a:xfrm>
          <a:prstGeom prst="rect">
            <a:avLst/>
          </a:prstGeom>
          <a:noFill/>
          <a:ln/>
        </p:spPr>
        <p:txBody>
          <a:bodyPr wrap="square" lIns="0" tIns="0" rIns="0" bIns="0" rtlCol="0" anchor="ctr"/>
          <a:lstStyle/>
          <a:p>
            <a:pPr algn="ctr" indent="0" marL="0">
              <a:buNone/>
            </a:pPr>
            <a:r>
              <a:rPr lang="en-US" sz="1400" b="1" dirty="0">
                <a:solidFill>
                  <a:srgbClr val="B02532"/>
                </a:solidFill>
                <a:latin typeface="Palatino Linotype" pitchFamily="34" charset="0"/>
                <a:ea typeface="Palatino Linotype" pitchFamily="34" charset="-122"/>
                <a:cs typeface="Palatino Linotype" pitchFamily="34" charset="-120"/>
              </a:rPr>
              <a:t>À qui elle s’adresse</a:t>
            </a:r>
            <a:endParaRPr lang="en-US" sz="1400" dirty="0"/>
          </a:p>
        </p:txBody>
      </p:sp>
      <p:sp>
        <p:nvSpPr>
          <p:cNvPr id="6" name="Text 4"/>
          <p:cNvSpPr/>
          <p:nvPr/>
        </p:nvSpPr>
        <p:spPr>
          <a:xfrm>
            <a:off x="6336792" y="1527048"/>
            <a:ext cx="5157216" cy="621792"/>
          </a:xfrm>
          <a:prstGeom prst="rect">
            <a:avLst/>
          </a:prstGeom>
          <a:noFill/>
          <a:ln/>
        </p:spPr>
        <p:txBody>
          <a:bodyPr wrap="square" lIns="0" tIns="0" rIns="0" bIns="0" rtlCol="0" anchor="ctr"/>
          <a:lstStyle/>
          <a:p>
            <a:pPr algn="ctr" indent="0" marL="0">
              <a:buNone/>
            </a:pPr>
            <a:r>
              <a:rPr lang="en-US" sz="1400" b="1" dirty="0">
                <a:solidFill>
                  <a:srgbClr val="B02532"/>
                </a:solidFill>
                <a:latin typeface="Palatino Linotype" pitchFamily="34" charset="0"/>
                <a:ea typeface="Palatino Linotype" pitchFamily="34" charset="-122"/>
                <a:cs typeface="Palatino Linotype" pitchFamily="34" charset="-120"/>
              </a:rPr>
              <a:t>Exemple pour Ion</a:t>
            </a:r>
            <a:endParaRPr lang="en-US" sz="1400" dirty="0"/>
          </a:p>
        </p:txBody>
      </p:sp>
      <p:sp>
        <p:nvSpPr>
          <p:cNvPr id="7" name="Shape 5"/>
          <p:cNvSpPr/>
          <p:nvPr/>
        </p:nvSpPr>
        <p:spPr>
          <a:xfrm>
            <a:off x="594360" y="2167128"/>
            <a:ext cx="10972800" cy="13716"/>
          </a:xfrm>
          <a:prstGeom prst="rect">
            <a:avLst/>
          </a:prstGeom>
          <a:solidFill>
            <a:srgbClr val="C9C6BE"/>
          </a:solidFill>
          <a:ln w="12700">
            <a:solidFill>
              <a:srgbClr val="C9C6BE"/>
            </a:solidFill>
            <a:prstDash val="solid"/>
          </a:ln>
        </p:spPr>
      </p:sp>
      <p:sp>
        <p:nvSpPr>
          <p:cNvPr id="8" name="Text 6"/>
          <p:cNvSpPr/>
          <p:nvPr/>
        </p:nvSpPr>
        <p:spPr>
          <a:xfrm>
            <a:off x="667512" y="2185416"/>
            <a:ext cx="1865376" cy="621792"/>
          </a:xfrm>
          <a:prstGeom prst="rect">
            <a:avLst/>
          </a:prstGeom>
          <a:noFill/>
          <a:ln/>
        </p:spPr>
        <p:txBody>
          <a:bodyPr wrap="square" lIns="0" tIns="0" rIns="0" bIns="0" rtlCol="0" anchor="ctr"/>
          <a:lstStyle/>
          <a:p>
            <a:pPr algn="l" indent="0" marL="0">
              <a:buNone/>
            </a:pPr>
            <a:r>
              <a:rPr lang="en-US" sz="1600" b="1" dirty="0">
                <a:solidFill>
                  <a:srgbClr val="11121A"/>
                </a:solidFill>
                <a:latin typeface="Palatino Linotype" pitchFamily="34" charset="0"/>
                <a:ea typeface="Palatino Linotype" pitchFamily="34" charset="-122"/>
                <a:cs typeface="Palatino Linotype" pitchFamily="34" charset="-120"/>
              </a:rPr>
              <a:t>Primaire</a:t>
            </a:r>
            <a:endParaRPr lang="en-US" sz="1600" dirty="0"/>
          </a:p>
        </p:txBody>
      </p:sp>
      <p:sp>
        <p:nvSpPr>
          <p:cNvPr id="9" name="Text 7"/>
          <p:cNvSpPr/>
          <p:nvPr/>
        </p:nvSpPr>
        <p:spPr>
          <a:xfrm>
            <a:off x="2679192" y="2185416"/>
            <a:ext cx="3511296" cy="621792"/>
          </a:xfrm>
          <a:prstGeom prst="rect">
            <a:avLst/>
          </a:prstGeom>
          <a:noFill/>
          <a:ln/>
        </p:spPr>
        <p:txBody>
          <a:bodyPr wrap="square" lIns="0" tIns="0" rIns="0" bIns="0" rtlCol="0" anchor="ctr"/>
          <a:lstStyle/>
          <a:p>
            <a:pPr algn="ctr" indent="0" marL="0">
              <a:buNone/>
            </a:pPr>
            <a:r>
              <a:rPr lang="en-US" sz="1600" dirty="0">
                <a:solidFill>
                  <a:srgbClr val="11121A"/>
                </a:solidFill>
                <a:latin typeface="Palatino Linotype" pitchFamily="34" charset="0"/>
                <a:ea typeface="Palatino Linotype" pitchFamily="34" charset="-122"/>
                <a:cs typeface="Palatino Linotype" pitchFamily="34" charset="-120"/>
              </a:rPr>
              <a:t>aux personnes sans maladie</a:t>
            </a:r>
            <a:endParaRPr lang="en-US" sz="1600" dirty="0"/>
          </a:p>
        </p:txBody>
      </p:sp>
      <p:sp>
        <p:nvSpPr>
          <p:cNvPr id="10" name="Text 8"/>
          <p:cNvSpPr/>
          <p:nvPr/>
        </p:nvSpPr>
        <p:spPr>
          <a:xfrm>
            <a:off x="6336792" y="2185416"/>
            <a:ext cx="5157216" cy="621792"/>
          </a:xfrm>
          <a:prstGeom prst="rect">
            <a:avLst/>
          </a:prstGeom>
          <a:noFill/>
          <a:ln/>
        </p:spPr>
        <p:txBody>
          <a:bodyPr wrap="square" lIns="0" tIns="0" rIns="0" bIns="0" rtlCol="0" anchor="ctr"/>
          <a:lstStyle/>
          <a:p>
            <a:pPr algn="ctr" indent="0" marL="0">
              <a:buNone/>
            </a:pPr>
            <a:r>
              <a:rPr lang="en-US" sz="1600" dirty="0">
                <a:solidFill>
                  <a:srgbClr val="11121A"/>
                </a:solidFill>
                <a:latin typeface="Palatino Linotype" pitchFamily="34" charset="0"/>
                <a:ea typeface="Palatino Linotype" pitchFamily="34" charset="-122"/>
                <a:cs typeface="Palatino Linotype" pitchFamily="34" charset="-120"/>
              </a:rPr>
              <a:t>arrêt du tabac, davantage d’activité physique, moins de sel</a:t>
            </a:r>
            <a:endParaRPr lang="en-US" sz="1600" dirty="0"/>
          </a:p>
        </p:txBody>
      </p:sp>
      <p:sp>
        <p:nvSpPr>
          <p:cNvPr id="11" name="Shape 9"/>
          <p:cNvSpPr/>
          <p:nvPr/>
        </p:nvSpPr>
        <p:spPr>
          <a:xfrm>
            <a:off x="594360" y="2825496"/>
            <a:ext cx="10972800" cy="13716"/>
          </a:xfrm>
          <a:prstGeom prst="rect">
            <a:avLst/>
          </a:prstGeom>
          <a:solidFill>
            <a:srgbClr val="C9C6BE"/>
          </a:solidFill>
          <a:ln w="12700">
            <a:solidFill>
              <a:srgbClr val="C9C6BE"/>
            </a:solidFill>
            <a:prstDash val="solid"/>
          </a:ln>
        </p:spPr>
      </p:sp>
      <p:sp>
        <p:nvSpPr>
          <p:cNvPr id="12" name="Text 10"/>
          <p:cNvSpPr/>
          <p:nvPr/>
        </p:nvSpPr>
        <p:spPr>
          <a:xfrm>
            <a:off x="667512" y="2843784"/>
            <a:ext cx="1865376" cy="621792"/>
          </a:xfrm>
          <a:prstGeom prst="rect">
            <a:avLst/>
          </a:prstGeom>
          <a:noFill/>
          <a:ln/>
        </p:spPr>
        <p:txBody>
          <a:bodyPr wrap="square" lIns="0" tIns="0" rIns="0" bIns="0" rtlCol="0" anchor="ctr"/>
          <a:lstStyle/>
          <a:p>
            <a:pPr algn="l" indent="0" marL="0">
              <a:buNone/>
            </a:pPr>
            <a:r>
              <a:rPr lang="en-US" sz="1600" b="1" dirty="0">
                <a:solidFill>
                  <a:srgbClr val="11121A"/>
                </a:solidFill>
                <a:latin typeface="Palatino Linotype" pitchFamily="34" charset="0"/>
                <a:ea typeface="Palatino Linotype" pitchFamily="34" charset="-122"/>
                <a:cs typeface="Palatino Linotype" pitchFamily="34" charset="-120"/>
              </a:rPr>
              <a:t>Secondaire</a:t>
            </a:r>
            <a:endParaRPr lang="en-US" sz="1600" dirty="0"/>
          </a:p>
        </p:txBody>
      </p:sp>
      <p:sp>
        <p:nvSpPr>
          <p:cNvPr id="13" name="Text 11"/>
          <p:cNvSpPr/>
          <p:nvPr/>
        </p:nvSpPr>
        <p:spPr>
          <a:xfrm>
            <a:off x="2679192" y="2843784"/>
            <a:ext cx="3511296" cy="621792"/>
          </a:xfrm>
          <a:prstGeom prst="rect">
            <a:avLst/>
          </a:prstGeom>
          <a:noFill/>
          <a:ln/>
        </p:spPr>
        <p:txBody>
          <a:bodyPr wrap="square" lIns="0" tIns="0" rIns="0" bIns="0" rtlCol="0" anchor="ctr"/>
          <a:lstStyle/>
          <a:p>
            <a:pPr algn="ctr" indent="0" marL="0">
              <a:buNone/>
            </a:pPr>
            <a:r>
              <a:rPr lang="en-US" sz="1600" dirty="0">
                <a:solidFill>
                  <a:srgbClr val="11121A"/>
                </a:solidFill>
                <a:latin typeface="Palatino Linotype" pitchFamily="34" charset="0"/>
                <a:ea typeface="Palatino Linotype" pitchFamily="34" charset="-122"/>
                <a:cs typeface="Palatino Linotype" pitchFamily="34" charset="-120"/>
              </a:rPr>
              <a:t>maladie encore sans symptômes</a:t>
            </a:r>
            <a:endParaRPr lang="en-US" sz="1600" dirty="0"/>
          </a:p>
        </p:txBody>
      </p:sp>
      <p:sp>
        <p:nvSpPr>
          <p:cNvPr id="14" name="Text 12"/>
          <p:cNvSpPr/>
          <p:nvPr/>
        </p:nvSpPr>
        <p:spPr>
          <a:xfrm>
            <a:off x="6336792" y="2843784"/>
            <a:ext cx="5157216" cy="621792"/>
          </a:xfrm>
          <a:prstGeom prst="rect">
            <a:avLst/>
          </a:prstGeom>
          <a:noFill/>
          <a:ln/>
        </p:spPr>
        <p:txBody>
          <a:bodyPr wrap="square" lIns="0" tIns="0" rIns="0" bIns="0" rtlCol="0" anchor="ctr"/>
          <a:lstStyle/>
          <a:p>
            <a:pPr algn="ctr" indent="0" marL="0">
              <a:buNone/>
            </a:pPr>
            <a:r>
              <a:rPr lang="en-US" sz="1600" dirty="0">
                <a:solidFill>
                  <a:srgbClr val="11121A"/>
                </a:solidFill>
                <a:latin typeface="Palatino Linotype" pitchFamily="34" charset="0"/>
                <a:ea typeface="Palatino Linotype" pitchFamily="34" charset="-122"/>
                <a:cs typeface="Palatino Linotype" pitchFamily="34" charset="-120"/>
              </a:rPr>
              <a:t>mesure de la tension, confirmation du diabète</a:t>
            </a:r>
            <a:endParaRPr lang="en-US" sz="1600" dirty="0"/>
          </a:p>
        </p:txBody>
      </p:sp>
      <p:sp>
        <p:nvSpPr>
          <p:cNvPr id="15" name="Shape 13"/>
          <p:cNvSpPr/>
          <p:nvPr/>
        </p:nvSpPr>
        <p:spPr>
          <a:xfrm>
            <a:off x="594360" y="3483864"/>
            <a:ext cx="10972800" cy="13716"/>
          </a:xfrm>
          <a:prstGeom prst="rect">
            <a:avLst/>
          </a:prstGeom>
          <a:solidFill>
            <a:srgbClr val="C9C6BE"/>
          </a:solidFill>
          <a:ln w="12700">
            <a:solidFill>
              <a:srgbClr val="C9C6BE"/>
            </a:solidFill>
            <a:prstDash val="solid"/>
          </a:ln>
        </p:spPr>
      </p:sp>
      <p:sp>
        <p:nvSpPr>
          <p:cNvPr id="16" name="Text 14"/>
          <p:cNvSpPr/>
          <p:nvPr/>
        </p:nvSpPr>
        <p:spPr>
          <a:xfrm>
            <a:off x="667512" y="3502152"/>
            <a:ext cx="1865376" cy="621792"/>
          </a:xfrm>
          <a:prstGeom prst="rect">
            <a:avLst/>
          </a:prstGeom>
          <a:noFill/>
          <a:ln/>
        </p:spPr>
        <p:txBody>
          <a:bodyPr wrap="square" lIns="0" tIns="0" rIns="0" bIns="0" rtlCol="0" anchor="ctr"/>
          <a:lstStyle/>
          <a:p>
            <a:pPr algn="l" indent="0" marL="0">
              <a:buNone/>
            </a:pPr>
            <a:r>
              <a:rPr lang="en-US" sz="1600" b="1" dirty="0">
                <a:solidFill>
                  <a:srgbClr val="11121A"/>
                </a:solidFill>
                <a:latin typeface="Palatino Linotype" pitchFamily="34" charset="0"/>
                <a:ea typeface="Palatino Linotype" pitchFamily="34" charset="-122"/>
                <a:cs typeface="Palatino Linotype" pitchFamily="34" charset="-120"/>
              </a:rPr>
              <a:t>Tertiaire</a:t>
            </a:r>
            <a:endParaRPr lang="en-US" sz="1600" dirty="0"/>
          </a:p>
        </p:txBody>
      </p:sp>
      <p:sp>
        <p:nvSpPr>
          <p:cNvPr id="17" name="Text 15"/>
          <p:cNvSpPr/>
          <p:nvPr/>
        </p:nvSpPr>
        <p:spPr>
          <a:xfrm>
            <a:off x="2679192" y="3502152"/>
            <a:ext cx="3511296" cy="621792"/>
          </a:xfrm>
          <a:prstGeom prst="rect">
            <a:avLst/>
          </a:prstGeom>
          <a:noFill/>
          <a:ln/>
        </p:spPr>
        <p:txBody>
          <a:bodyPr wrap="square" lIns="0" tIns="0" rIns="0" bIns="0" rtlCol="0" anchor="ctr"/>
          <a:lstStyle/>
          <a:p>
            <a:pPr algn="ctr" indent="0" marL="0">
              <a:buNone/>
            </a:pPr>
            <a:r>
              <a:rPr lang="en-US" sz="1600" dirty="0">
                <a:solidFill>
                  <a:srgbClr val="11121A"/>
                </a:solidFill>
                <a:latin typeface="Palatino Linotype" pitchFamily="34" charset="0"/>
                <a:ea typeface="Palatino Linotype" pitchFamily="34" charset="-122"/>
                <a:cs typeface="Palatino Linotype" pitchFamily="34" charset="-120"/>
              </a:rPr>
              <a:t>maladie connue</a:t>
            </a:r>
            <a:endParaRPr lang="en-US" sz="1600" dirty="0"/>
          </a:p>
        </p:txBody>
      </p:sp>
      <p:sp>
        <p:nvSpPr>
          <p:cNvPr id="18" name="Text 16"/>
          <p:cNvSpPr/>
          <p:nvPr/>
        </p:nvSpPr>
        <p:spPr>
          <a:xfrm>
            <a:off x="6336792" y="3502152"/>
            <a:ext cx="5157216" cy="621792"/>
          </a:xfrm>
          <a:prstGeom prst="rect">
            <a:avLst/>
          </a:prstGeom>
          <a:noFill/>
          <a:ln/>
        </p:spPr>
        <p:txBody>
          <a:bodyPr wrap="square" lIns="0" tIns="0" rIns="0" bIns="0" rtlCol="0" anchor="ctr"/>
          <a:lstStyle/>
          <a:p>
            <a:pPr algn="ctr" indent="0" marL="0">
              <a:buNone/>
            </a:pPr>
            <a:r>
              <a:rPr lang="en-US" sz="1600" dirty="0">
                <a:solidFill>
                  <a:srgbClr val="11121A"/>
                </a:solidFill>
                <a:latin typeface="Palatino Linotype" pitchFamily="34" charset="0"/>
                <a:ea typeface="Palatino Linotype" pitchFamily="34" charset="-122"/>
                <a:cs typeface="Palatino Linotype" pitchFamily="34" charset="-120"/>
              </a:rPr>
              <a:t>soins du pied diabétique</a:t>
            </a:r>
            <a:endParaRPr lang="en-US" sz="1600" dirty="0"/>
          </a:p>
        </p:txBody>
      </p:sp>
      <p:sp>
        <p:nvSpPr>
          <p:cNvPr id="19" name="Shape 17"/>
          <p:cNvSpPr/>
          <p:nvPr/>
        </p:nvSpPr>
        <p:spPr>
          <a:xfrm>
            <a:off x="594360" y="4142232"/>
            <a:ext cx="10972800" cy="13716"/>
          </a:xfrm>
          <a:prstGeom prst="rect">
            <a:avLst/>
          </a:prstGeom>
          <a:solidFill>
            <a:srgbClr val="C9C6BE"/>
          </a:solidFill>
          <a:ln w="12700">
            <a:solidFill>
              <a:srgbClr val="C9C6BE"/>
            </a:solidFill>
            <a:prstDash val="solid"/>
          </a:ln>
        </p:spPr>
      </p:sp>
      <p:sp>
        <p:nvSpPr>
          <p:cNvPr id="20" name="Text 18"/>
          <p:cNvSpPr/>
          <p:nvPr/>
        </p:nvSpPr>
        <p:spPr>
          <a:xfrm>
            <a:off x="667512" y="4160520"/>
            <a:ext cx="1865376" cy="621792"/>
          </a:xfrm>
          <a:prstGeom prst="rect">
            <a:avLst/>
          </a:prstGeom>
          <a:noFill/>
          <a:ln/>
        </p:spPr>
        <p:txBody>
          <a:bodyPr wrap="square" lIns="0" tIns="0" rIns="0" bIns="0" rtlCol="0" anchor="ctr"/>
          <a:lstStyle/>
          <a:p>
            <a:pPr algn="l" indent="0" marL="0">
              <a:buNone/>
            </a:pPr>
            <a:r>
              <a:rPr lang="en-US" sz="1600" b="1" dirty="0">
                <a:solidFill>
                  <a:srgbClr val="B02532"/>
                </a:solidFill>
                <a:latin typeface="Palatino Linotype" pitchFamily="34" charset="0"/>
                <a:ea typeface="Palatino Linotype" pitchFamily="34" charset="-122"/>
                <a:cs typeface="Palatino Linotype" pitchFamily="34" charset="-120"/>
              </a:rPr>
              <a:t>Quaternaire</a:t>
            </a:r>
            <a:endParaRPr lang="en-US" sz="1600" dirty="0"/>
          </a:p>
        </p:txBody>
      </p:sp>
      <p:sp>
        <p:nvSpPr>
          <p:cNvPr id="21" name="Text 19"/>
          <p:cNvSpPr/>
          <p:nvPr/>
        </p:nvSpPr>
        <p:spPr>
          <a:xfrm>
            <a:off x="2679192" y="4160520"/>
            <a:ext cx="3511296" cy="621792"/>
          </a:xfrm>
          <a:prstGeom prst="rect">
            <a:avLst/>
          </a:prstGeom>
          <a:noFill/>
          <a:ln/>
        </p:spPr>
        <p:txBody>
          <a:bodyPr wrap="square" lIns="0" tIns="0" rIns="0" bIns="0" rtlCol="0" anchor="ctr"/>
          <a:lstStyle/>
          <a:p>
            <a:pPr algn="ctr" indent="0" marL="0">
              <a:buNone/>
            </a:pPr>
            <a:r>
              <a:rPr lang="en-US" sz="1600" b="1" dirty="0">
                <a:solidFill>
                  <a:srgbClr val="B02532"/>
                </a:solidFill>
                <a:latin typeface="Palatino Linotype" pitchFamily="34" charset="0"/>
                <a:ea typeface="Palatino Linotype" pitchFamily="34" charset="-122"/>
                <a:cs typeface="Palatino Linotype" pitchFamily="34" charset="-120"/>
              </a:rPr>
              <a:t>à tout patient exposé à une intervention inutile</a:t>
            </a:r>
            <a:endParaRPr lang="en-US" sz="1600" dirty="0"/>
          </a:p>
        </p:txBody>
      </p:sp>
      <p:sp>
        <p:nvSpPr>
          <p:cNvPr id="22" name="Text 20"/>
          <p:cNvSpPr/>
          <p:nvPr/>
        </p:nvSpPr>
        <p:spPr>
          <a:xfrm>
            <a:off x="6336792" y="4160520"/>
            <a:ext cx="5157216" cy="621792"/>
          </a:xfrm>
          <a:prstGeom prst="rect">
            <a:avLst/>
          </a:prstGeom>
          <a:noFill/>
          <a:ln/>
        </p:spPr>
        <p:txBody>
          <a:bodyPr wrap="square" lIns="0" tIns="0" rIns="0" bIns="0" rtlCol="0" anchor="ctr"/>
          <a:lstStyle/>
          <a:p>
            <a:pPr algn="ctr" indent="0" marL="0">
              <a:buNone/>
            </a:pPr>
            <a:r>
              <a:rPr lang="en-US" sz="1600" b="1" dirty="0">
                <a:solidFill>
                  <a:srgbClr val="B02532"/>
                </a:solidFill>
                <a:latin typeface="Palatino Linotype" pitchFamily="34" charset="0"/>
                <a:ea typeface="Palatino Linotype" pitchFamily="34" charset="-122"/>
                <a:cs typeface="Palatino Linotype" pitchFamily="34" charset="-120"/>
              </a:rPr>
              <a:t>renoncement aux examens sans bénéfice</a:t>
            </a:r>
            <a:endParaRPr lang="en-US" sz="1600" dirty="0"/>
          </a:p>
        </p:txBody>
      </p:sp>
      <p:sp>
        <p:nvSpPr>
          <p:cNvPr id="23" name="Shape 21"/>
          <p:cNvSpPr/>
          <p:nvPr/>
        </p:nvSpPr>
        <p:spPr>
          <a:xfrm>
            <a:off x="594360" y="4983480"/>
            <a:ext cx="10972800" cy="1051560"/>
          </a:xfrm>
          <a:prstGeom prst="roundRect">
            <a:avLst>
              <a:gd name="adj" fmla="val 7826"/>
            </a:avLst>
          </a:prstGeom>
          <a:solidFill>
            <a:srgbClr val="11121A"/>
          </a:solidFill>
          <a:ln w="12700">
            <a:solidFill>
              <a:srgbClr val="11121A"/>
            </a:solidFill>
            <a:prstDash val="solid"/>
          </a:ln>
        </p:spPr>
      </p:sp>
      <p:sp>
        <p:nvSpPr>
          <p:cNvPr id="24" name="Text 22"/>
          <p:cNvSpPr/>
          <p:nvPr/>
        </p:nvSpPr>
        <p:spPr>
          <a:xfrm>
            <a:off x="868680" y="4983480"/>
            <a:ext cx="10424160" cy="1051560"/>
          </a:xfrm>
          <a:prstGeom prst="rect">
            <a:avLst/>
          </a:prstGeom>
          <a:noFill/>
          <a:ln/>
        </p:spPr>
        <p:txBody>
          <a:bodyPr wrap="square" lIns="0" tIns="0" rIns="0" bIns="0" rtlCol="0" anchor="ctr"/>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Prévention quaternaire : protéger le patient des examens et des traitements qui lui feraient plus de mal que de bien.</a:t>
            </a:r>
            <a:endParaRPr lang="en-US" sz="1900" dirty="0"/>
          </a:p>
        </p:txBody>
      </p:sp>
      <p:sp>
        <p:nvSpPr>
          <p:cNvPr id="25" name="Text 23"/>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Wonca (2003), synthèse de 2018, Jamoulle (1986) ; les exemples sont propres au cours.</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229600" y="292608"/>
            <a:ext cx="333756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229600" y="292608"/>
            <a:ext cx="333756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DEUX ANS PLUS TARD</a:t>
            </a:r>
            <a:endParaRPr lang="en-US" sz="1300" dirty="0"/>
          </a:p>
        </p:txBody>
      </p:sp>
      <p:sp>
        <p:nvSpPr>
          <p:cNvPr id="5" name="Text 3"/>
          <p:cNvSpPr/>
          <p:nvPr/>
        </p:nvSpPr>
        <p:spPr>
          <a:xfrm>
            <a:off x="594360" y="713232"/>
            <a:ext cx="7589520" cy="1005840"/>
          </a:xfrm>
          <a:prstGeom prst="rect">
            <a:avLst/>
          </a:prstGeom>
          <a:noFill/>
          <a:ln/>
        </p:spPr>
        <p:txBody>
          <a:bodyPr wrap="square" lIns="0" tIns="0" rIns="0" bIns="0" rtlCol="0" anchor="t"/>
          <a:lstStyle/>
          <a:p>
            <a:pPr indent="0" marL="0">
              <a:buNone/>
            </a:pPr>
            <a:r>
              <a:rPr lang="en-US" sz="2600" b="1" dirty="0">
                <a:solidFill>
                  <a:srgbClr val="FFFFFF"/>
                </a:solidFill>
                <a:latin typeface="Palatino Linotype" pitchFamily="34" charset="0"/>
                <a:ea typeface="Palatino Linotype" pitchFamily="34" charset="-122"/>
                <a:cs typeface="Palatino Linotype" pitchFamily="34" charset="-120"/>
              </a:rPr>
              <a:t>À quel niveau de prévention appartient la réadaptation ?</a:t>
            </a:r>
            <a:endParaRPr lang="en-US" sz="2600" dirty="0"/>
          </a:p>
        </p:txBody>
      </p:sp>
      <p:sp>
        <p:nvSpPr>
          <p:cNvPr id="6" name="Shape 4"/>
          <p:cNvSpPr/>
          <p:nvPr/>
        </p:nvSpPr>
        <p:spPr>
          <a:xfrm>
            <a:off x="594360" y="1645920"/>
            <a:ext cx="10972800" cy="1005840"/>
          </a:xfrm>
          <a:prstGeom prst="roundRect">
            <a:avLst>
              <a:gd name="adj" fmla="val 8182"/>
            </a:avLst>
          </a:prstGeom>
          <a:solidFill>
            <a:srgbClr val="272A38"/>
          </a:solidFill>
          <a:ln w="12700">
            <a:solidFill>
              <a:srgbClr val="272A38"/>
            </a:solidFill>
            <a:prstDash val="solid"/>
          </a:ln>
        </p:spPr>
      </p:sp>
      <p:sp>
        <p:nvSpPr>
          <p:cNvPr id="7" name="Text 5"/>
          <p:cNvSpPr/>
          <p:nvPr/>
        </p:nvSpPr>
        <p:spPr>
          <a:xfrm>
            <a:off x="868680" y="1645920"/>
            <a:ext cx="10424160" cy="1005840"/>
          </a:xfrm>
          <a:prstGeom prst="rect">
            <a:avLst/>
          </a:prstGeom>
          <a:noFill/>
          <a:ln/>
        </p:spPr>
        <p:txBody>
          <a:bodyPr wrap="square" lIns="0" tIns="0" rIns="0" bIns="0" rtlCol="0" anchor="ctr"/>
          <a:lstStyle/>
          <a:p>
            <a:pPr indent="0" marL="0">
              <a:buNone/>
            </a:pPr>
            <a:r>
              <a:rPr lang="en-US" sz="2100" dirty="0">
                <a:solidFill>
                  <a:srgbClr val="FFFFFF"/>
                </a:solidFill>
                <a:latin typeface="Palatino Linotype" pitchFamily="34" charset="0"/>
                <a:ea typeface="Palatino Linotype" pitchFamily="34" charset="-122"/>
                <a:cs typeface="Palatino Linotype" pitchFamily="34" charset="-120"/>
              </a:rPr>
              <a:t>Ion fait un infarctus. Après sa sortie de l’hôpital, le médecin lui recommande un programme de réadaptation cardiaque.</a:t>
            </a:r>
            <a:endParaRPr lang="en-US" sz="2100" dirty="0"/>
          </a:p>
        </p:txBody>
      </p:sp>
      <p:sp>
        <p:nvSpPr>
          <p:cNvPr id="8" name="Shape 6"/>
          <p:cNvSpPr/>
          <p:nvPr/>
        </p:nvSpPr>
        <p:spPr>
          <a:xfrm>
            <a:off x="594360" y="2834640"/>
            <a:ext cx="10972800" cy="530352"/>
          </a:xfrm>
          <a:prstGeom prst="roundRect">
            <a:avLst>
              <a:gd name="adj" fmla="val 15517"/>
            </a:avLst>
          </a:prstGeom>
          <a:solidFill>
            <a:srgbClr val="1D1F2B"/>
          </a:solidFill>
          <a:ln w="12700">
            <a:solidFill>
              <a:srgbClr val="1D1F2B"/>
            </a:solidFill>
            <a:prstDash val="solid"/>
          </a:ln>
        </p:spPr>
      </p:sp>
      <p:sp>
        <p:nvSpPr>
          <p:cNvPr id="9" name="Shape 7"/>
          <p:cNvSpPr/>
          <p:nvPr/>
        </p:nvSpPr>
        <p:spPr>
          <a:xfrm>
            <a:off x="777240" y="2889504"/>
            <a:ext cx="420624" cy="420624"/>
          </a:xfrm>
          <a:prstGeom prst="ellipse">
            <a:avLst/>
          </a:prstGeom>
          <a:solidFill>
            <a:srgbClr val="FFC24B"/>
          </a:solidFill>
          <a:ln/>
        </p:spPr>
      </p:sp>
      <p:sp>
        <p:nvSpPr>
          <p:cNvPr id="10" name="Text 8"/>
          <p:cNvSpPr/>
          <p:nvPr/>
        </p:nvSpPr>
        <p:spPr>
          <a:xfrm>
            <a:off x="777240" y="288950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11" name="Text 9"/>
          <p:cNvSpPr/>
          <p:nvPr/>
        </p:nvSpPr>
        <p:spPr>
          <a:xfrm>
            <a:off x="1371600" y="2834640"/>
            <a:ext cx="10058400" cy="530352"/>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Primaire</a:t>
            </a:r>
            <a:endParaRPr lang="en-US" sz="2000" dirty="0"/>
          </a:p>
        </p:txBody>
      </p:sp>
      <p:sp>
        <p:nvSpPr>
          <p:cNvPr id="12" name="Shape 10"/>
          <p:cNvSpPr/>
          <p:nvPr/>
        </p:nvSpPr>
        <p:spPr>
          <a:xfrm>
            <a:off x="594360" y="3493008"/>
            <a:ext cx="10972800" cy="530352"/>
          </a:xfrm>
          <a:prstGeom prst="roundRect">
            <a:avLst>
              <a:gd name="adj" fmla="val 15517"/>
            </a:avLst>
          </a:prstGeom>
          <a:solidFill>
            <a:srgbClr val="1D1F2B"/>
          </a:solidFill>
          <a:ln w="12700">
            <a:solidFill>
              <a:srgbClr val="1D1F2B"/>
            </a:solidFill>
            <a:prstDash val="solid"/>
          </a:ln>
        </p:spPr>
      </p:sp>
      <p:sp>
        <p:nvSpPr>
          <p:cNvPr id="13" name="Shape 11"/>
          <p:cNvSpPr/>
          <p:nvPr/>
        </p:nvSpPr>
        <p:spPr>
          <a:xfrm>
            <a:off x="777240" y="3547872"/>
            <a:ext cx="420624" cy="420624"/>
          </a:xfrm>
          <a:prstGeom prst="ellipse">
            <a:avLst/>
          </a:prstGeom>
          <a:solidFill>
            <a:srgbClr val="FFC24B"/>
          </a:solidFill>
          <a:ln/>
        </p:spPr>
      </p:sp>
      <p:sp>
        <p:nvSpPr>
          <p:cNvPr id="14" name="Text 12"/>
          <p:cNvSpPr/>
          <p:nvPr/>
        </p:nvSpPr>
        <p:spPr>
          <a:xfrm>
            <a:off x="777240" y="354787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5" name="Text 13"/>
          <p:cNvSpPr/>
          <p:nvPr/>
        </p:nvSpPr>
        <p:spPr>
          <a:xfrm>
            <a:off x="1371600" y="3493008"/>
            <a:ext cx="10058400" cy="530352"/>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Secondaire</a:t>
            </a:r>
            <a:endParaRPr lang="en-US" sz="2000" dirty="0"/>
          </a:p>
        </p:txBody>
      </p:sp>
      <p:sp>
        <p:nvSpPr>
          <p:cNvPr id="16" name="Shape 14"/>
          <p:cNvSpPr/>
          <p:nvPr/>
        </p:nvSpPr>
        <p:spPr>
          <a:xfrm>
            <a:off x="594360" y="4151376"/>
            <a:ext cx="10972800" cy="530352"/>
          </a:xfrm>
          <a:prstGeom prst="roundRect">
            <a:avLst>
              <a:gd name="adj" fmla="val 15517"/>
            </a:avLst>
          </a:prstGeom>
          <a:solidFill>
            <a:srgbClr val="1D1F2B"/>
          </a:solidFill>
          <a:ln w="12700">
            <a:solidFill>
              <a:srgbClr val="1D1F2B"/>
            </a:solidFill>
            <a:prstDash val="solid"/>
          </a:ln>
        </p:spPr>
      </p:sp>
      <p:sp>
        <p:nvSpPr>
          <p:cNvPr id="17" name="Shape 15"/>
          <p:cNvSpPr/>
          <p:nvPr/>
        </p:nvSpPr>
        <p:spPr>
          <a:xfrm>
            <a:off x="777240" y="4206240"/>
            <a:ext cx="420624" cy="420624"/>
          </a:xfrm>
          <a:prstGeom prst="ellipse">
            <a:avLst/>
          </a:prstGeom>
          <a:solidFill>
            <a:srgbClr val="FFC24B"/>
          </a:solidFill>
          <a:ln/>
        </p:spPr>
      </p:sp>
      <p:sp>
        <p:nvSpPr>
          <p:cNvPr id="18" name="Text 16"/>
          <p:cNvSpPr/>
          <p:nvPr/>
        </p:nvSpPr>
        <p:spPr>
          <a:xfrm>
            <a:off x="777240" y="420624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9" name="Text 17"/>
          <p:cNvSpPr/>
          <p:nvPr/>
        </p:nvSpPr>
        <p:spPr>
          <a:xfrm>
            <a:off x="1371600" y="4151376"/>
            <a:ext cx="10058400" cy="530352"/>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Tertiaire</a:t>
            </a:r>
            <a:endParaRPr lang="en-US" sz="2000" dirty="0"/>
          </a:p>
        </p:txBody>
      </p:sp>
      <p:sp>
        <p:nvSpPr>
          <p:cNvPr id="20" name="Shape 18"/>
          <p:cNvSpPr/>
          <p:nvPr/>
        </p:nvSpPr>
        <p:spPr>
          <a:xfrm>
            <a:off x="594360" y="4809744"/>
            <a:ext cx="10972800" cy="530352"/>
          </a:xfrm>
          <a:prstGeom prst="roundRect">
            <a:avLst>
              <a:gd name="adj" fmla="val 15517"/>
            </a:avLst>
          </a:prstGeom>
          <a:solidFill>
            <a:srgbClr val="1D1F2B"/>
          </a:solidFill>
          <a:ln w="12700">
            <a:solidFill>
              <a:srgbClr val="1D1F2B"/>
            </a:solidFill>
            <a:prstDash val="solid"/>
          </a:ln>
        </p:spPr>
      </p:sp>
      <p:sp>
        <p:nvSpPr>
          <p:cNvPr id="21" name="Shape 19"/>
          <p:cNvSpPr/>
          <p:nvPr/>
        </p:nvSpPr>
        <p:spPr>
          <a:xfrm>
            <a:off x="777240" y="4864608"/>
            <a:ext cx="420624" cy="420624"/>
          </a:xfrm>
          <a:prstGeom prst="ellipse">
            <a:avLst/>
          </a:prstGeom>
          <a:solidFill>
            <a:srgbClr val="FFC24B"/>
          </a:solidFill>
          <a:ln/>
        </p:spPr>
      </p:sp>
      <p:sp>
        <p:nvSpPr>
          <p:cNvPr id="22" name="Text 20"/>
          <p:cNvSpPr/>
          <p:nvPr/>
        </p:nvSpPr>
        <p:spPr>
          <a:xfrm>
            <a:off x="777240" y="48646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3" name="Text 21"/>
          <p:cNvSpPr/>
          <p:nvPr/>
        </p:nvSpPr>
        <p:spPr>
          <a:xfrm>
            <a:off x="1371600" y="4809744"/>
            <a:ext cx="10058400" cy="530352"/>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Quaternaire</a:t>
            </a:r>
            <a:endParaRPr lang="en-US" sz="2000" dirty="0"/>
          </a:p>
        </p:txBody>
      </p:sp>
      <p:sp>
        <p:nvSpPr>
          <p:cNvPr id="24" name="Text 22"/>
          <p:cNvSpPr/>
          <p:nvPr/>
        </p:nvSpPr>
        <p:spPr>
          <a:xfrm>
            <a:off x="594360" y="5577840"/>
            <a:ext cx="10972800" cy="457200"/>
          </a:xfrm>
          <a:prstGeom prst="rect">
            <a:avLst/>
          </a:prstGeom>
          <a:noFill/>
          <a:ln/>
        </p:spPr>
        <p:txBody>
          <a:bodyPr wrap="square" lIns="0" tIns="0" rIns="0" bIns="0" rtlCol="0" anchor="t"/>
          <a:lstStyle/>
          <a:p>
            <a:pPr indent="0" marL="0">
              <a:buNone/>
            </a:pPr>
            <a:r>
              <a:rPr lang="en-US" sz="2000" b="1" dirty="0">
                <a:solidFill>
                  <a:srgbClr val="FFC24B"/>
                </a:solidFill>
                <a:latin typeface="Palatino Linotype" pitchFamily="34" charset="0"/>
                <a:ea typeface="Palatino Linotype" pitchFamily="34" charset="-122"/>
                <a:cs typeface="Palatino Linotype" pitchFamily="34" charset="-120"/>
              </a:rPr>
              <a:t>Répondez sur votre téléphone, au code affiché.</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LA RÉPONSE : C</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Tertiaire : limiter les conséquences de la maladie</a:t>
            </a:r>
            <a:endParaRPr lang="en-US" sz="3200" dirty="0"/>
          </a:p>
        </p:txBody>
      </p:sp>
      <p:sp>
        <p:nvSpPr>
          <p:cNvPr id="4" name="Shape 2"/>
          <p:cNvSpPr/>
          <p:nvPr/>
        </p:nvSpPr>
        <p:spPr>
          <a:xfrm>
            <a:off x="594360" y="1691640"/>
            <a:ext cx="10972800" cy="1371600"/>
          </a:xfrm>
          <a:prstGeom prst="roundRect">
            <a:avLst>
              <a:gd name="adj" fmla="val 6000"/>
            </a:avLst>
          </a:prstGeom>
          <a:solidFill>
            <a:srgbClr val="11121A"/>
          </a:solidFill>
          <a:ln w="12700">
            <a:solidFill>
              <a:srgbClr val="11121A"/>
            </a:solidFill>
            <a:prstDash val="solid"/>
          </a:ln>
        </p:spPr>
      </p:sp>
      <p:sp>
        <p:nvSpPr>
          <p:cNvPr id="5" name="Text 3"/>
          <p:cNvSpPr/>
          <p:nvPr/>
        </p:nvSpPr>
        <p:spPr>
          <a:xfrm>
            <a:off x="868680" y="1691640"/>
            <a:ext cx="10424160" cy="1371600"/>
          </a:xfrm>
          <a:prstGeom prst="rect">
            <a:avLst/>
          </a:prstGeom>
          <a:noFill/>
          <a:ln/>
        </p:spPr>
        <p:txBody>
          <a:bodyPr wrap="square" lIns="0" tIns="0" rIns="0" bIns="0" rtlCol="0" anchor="ctr"/>
          <a:lstStyle/>
          <a:p>
            <a:pPr indent="0" marL="0">
              <a:buNone/>
            </a:pPr>
            <a:r>
              <a:rPr lang="en-US" sz="2200" b="1" dirty="0">
                <a:solidFill>
                  <a:srgbClr val="FFFFFF"/>
                </a:solidFill>
                <a:latin typeface="Palatino Linotype" pitchFamily="34" charset="0"/>
                <a:ea typeface="Palatino Linotype" pitchFamily="34" charset="-122"/>
                <a:cs typeface="Palatino Linotype" pitchFamily="34" charset="-120"/>
              </a:rPr>
              <a:t>La réadaptation réduit les effets chroniques d’une maladie déjà apparue. La prévention tertiaire inclut la réadaptation.</a:t>
            </a:r>
            <a:endParaRPr lang="en-US" sz="2200" dirty="0"/>
          </a:p>
        </p:txBody>
      </p:sp>
      <p:sp>
        <p:nvSpPr>
          <p:cNvPr id="6" name="Shape 4"/>
          <p:cNvSpPr/>
          <p:nvPr/>
        </p:nvSpPr>
        <p:spPr>
          <a:xfrm>
            <a:off x="594360" y="3383280"/>
            <a:ext cx="2606040" cy="2286000"/>
          </a:xfrm>
          <a:prstGeom prst="roundRect">
            <a:avLst>
              <a:gd name="adj" fmla="val 3600"/>
            </a:avLst>
          </a:prstGeom>
          <a:solidFill>
            <a:srgbClr val="ECEAE4"/>
          </a:solidFill>
          <a:ln w="12700">
            <a:solidFill>
              <a:srgbClr val="ECEAE4"/>
            </a:solidFill>
            <a:prstDash val="solid"/>
          </a:ln>
        </p:spPr>
      </p:sp>
      <p:sp>
        <p:nvSpPr>
          <p:cNvPr id="7" name="Text 5"/>
          <p:cNvSpPr/>
          <p:nvPr/>
        </p:nvSpPr>
        <p:spPr>
          <a:xfrm>
            <a:off x="777240" y="3520440"/>
            <a:ext cx="2240280" cy="457200"/>
          </a:xfrm>
          <a:prstGeom prst="rect">
            <a:avLst/>
          </a:prstGeom>
          <a:noFill/>
          <a:ln/>
        </p:spPr>
        <p:txBody>
          <a:bodyPr wrap="square" lIns="0" tIns="0" rIns="0" bIns="0" rtlCol="0" anchor="t"/>
          <a:lstStyle/>
          <a:p>
            <a:pPr indent="0" marL="0">
              <a:buNone/>
            </a:pPr>
            <a:r>
              <a:rPr lang="en-US" sz="1800" b="1" dirty="0">
                <a:solidFill>
                  <a:srgbClr val="B02532"/>
                </a:solidFill>
                <a:latin typeface="Palatino Linotype" pitchFamily="34" charset="0"/>
                <a:ea typeface="Palatino Linotype" pitchFamily="34" charset="-122"/>
                <a:cs typeface="Palatino Linotype" pitchFamily="34" charset="-120"/>
              </a:rPr>
              <a:t>Primaire</a:t>
            </a:r>
            <a:endParaRPr lang="en-US" sz="1800" dirty="0"/>
          </a:p>
        </p:txBody>
      </p:sp>
      <p:sp>
        <p:nvSpPr>
          <p:cNvPr id="8" name="Text 6"/>
          <p:cNvSpPr/>
          <p:nvPr/>
        </p:nvSpPr>
        <p:spPr>
          <a:xfrm>
            <a:off x="777240" y="4069080"/>
            <a:ext cx="2240280" cy="146304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avant que la maladie n’apparaisse</a:t>
            </a:r>
            <a:endParaRPr lang="en-US" sz="1600" dirty="0"/>
          </a:p>
        </p:txBody>
      </p:sp>
      <p:sp>
        <p:nvSpPr>
          <p:cNvPr id="9" name="Shape 7"/>
          <p:cNvSpPr/>
          <p:nvPr/>
        </p:nvSpPr>
        <p:spPr>
          <a:xfrm>
            <a:off x="3383280" y="3383280"/>
            <a:ext cx="2606040" cy="2286000"/>
          </a:xfrm>
          <a:prstGeom prst="roundRect">
            <a:avLst>
              <a:gd name="adj" fmla="val 3600"/>
            </a:avLst>
          </a:prstGeom>
          <a:solidFill>
            <a:srgbClr val="ECEAE4"/>
          </a:solidFill>
          <a:ln w="12700">
            <a:solidFill>
              <a:srgbClr val="ECEAE4"/>
            </a:solidFill>
            <a:prstDash val="solid"/>
          </a:ln>
        </p:spPr>
      </p:sp>
      <p:sp>
        <p:nvSpPr>
          <p:cNvPr id="10" name="Text 8"/>
          <p:cNvSpPr/>
          <p:nvPr/>
        </p:nvSpPr>
        <p:spPr>
          <a:xfrm>
            <a:off x="3566160" y="3520440"/>
            <a:ext cx="2240280" cy="457200"/>
          </a:xfrm>
          <a:prstGeom prst="rect">
            <a:avLst/>
          </a:prstGeom>
          <a:noFill/>
          <a:ln/>
        </p:spPr>
        <p:txBody>
          <a:bodyPr wrap="square" lIns="0" tIns="0" rIns="0" bIns="0" rtlCol="0" anchor="t"/>
          <a:lstStyle/>
          <a:p>
            <a:pPr indent="0" marL="0">
              <a:buNone/>
            </a:pPr>
            <a:r>
              <a:rPr lang="en-US" sz="1800" b="1" dirty="0">
                <a:solidFill>
                  <a:srgbClr val="B02532"/>
                </a:solidFill>
                <a:latin typeface="Palatino Linotype" pitchFamily="34" charset="0"/>
                <a:ea typeface="Palatino Linotype" pitchFamily="34" charset="-122"/>
                <a:cs typeface="Palatino Linotype" pitchFamily="34" charset="-120"/>
              </a:rPr>
              <a:t>Secondaire</a:t>
            </a:r>
            <a:endParaRPr lang="en-US" sz="1800" dirty="0"/>
          </a:p>
        </p:txBody>
      </p:sp>
      <p:sp>
        <p:nvSpPr>
          <p:cNvPr id="11" name="Text 9"/>
          <p:cNvSpPr/>
          <p:nvPr/>
        </p:nvSpPr>
        <p:spPr>
          <a:xfrm>
            <a:off x="3566160" y="4069080"/>
            <a:ext cx="2240280" cy="146304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dépistage à un stade précoce</a:t>
            </a:r>
            <a:endParaRPr lang="en-US" sz="1600" dirty="0"/>
          </a:p>
        </p:txBody>
      </p:sp>
      <p:sp>
        <p:nvSpPr>
          <p:cNvPr id="12" name="Shape 10"/>
          <p:cNvSpPr/>
          <p:nvPr/>
        </p:nvSpPr>
        <p:spPr>
          <a:xfrm>
            <a:off x="6172200" y="3383280"/>
            <a:ext cx="2606040" cy="2286000"/>
          </a:xfrm>
          <a:prstGeom prst="roundRect">
            <a:avLst>
              <a:gd name="adj" fmla="val 3600"/>
            </a:avLst>
          </a:prstGeom>
          <a:solidFill>
            <a:srgbClr val="0E7C6B"/>
          </a:solidFill>
          <a:ln w="12700">
            <a:solidFill>
              <a:srgbClr val="0E7C6B"/>
            </a:solidFill>
            <a:prstDash val="solid"/>
          </a:ln>
        </p:spPr>
      </p:sp>
      <p:sp>
        <p:nvSpPr>
          <p:cNvPr id="13" name="Text 11"/>
          <p:cNvSpPr/>
          <p:nvPr/>
        </p:nvSpPr>
        <p:spPr>
          <a:xfrm>
            <a:off x="6355080" y="3520440"/>
            <a:ext cx="2240280" cy="457200"/>
          </a:xfrm>
          <a:prstGeom prst="rect">
            <a:avLst/>
          </a:prstGeom>
          <a:noFill/>
          <a:ln/>
        </p:spPr>
        <p:txBody>
          <a:bodyPr wrap="square" lIns="0" tIns="0" rIns="0" bIns="0" rtlCol="0" anchor="t"/>
          <a:lstStyle/>
          <a:p>
            <a:pPr indent="0" marL="0">
              <a:buNone/>
            </a:pPr>
            <a:r>
              <a:rPr lang="en-US" sz="1800" b="1" dirty="0">
                <a:solidFill>
                  <a:srgbClr val="FFFFFF"/>
                </a:solidFill>
                <a:latin typeface="Palatino Linotype" pitchFamily="34" charset="0"/>
                <a:ea typeface="Palatino Linotype" pitchFamily="34" charset="-122"/>
                <a:cs typeface="Palatino Linotype" pitchFamily="34" charset="-120"/>
              </a:rPr>
              <a:t>Tertiaire</a:t>
            </a:r>
            <a:endParaRPr lang="en-US" sz="1800" dirty="0"/>
          </a:p>
        </p:txBody>
      </p:sp>
      <p:sp>
        <p:nvSpPr>
          <p:cNvPr id="14" name="Text 12"/>
          <p:cNvSpPr/>
          <p:nvPr/>
        </p:nvSpPr>
        <p:spPr>
          <a:xfrm>
            <a:off x="6355080" y="4069080"/>
            <a:ext cx="2240280" cy="146304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réduction des effets chroniques</a:t>
            </a:r>
            <a:endParaRPr lang="en-US" sz="1600" dirty="0"/>
          </a:p>
        </p:txBody>
      </p:sp>
      <p:sp>
        <p:nvSpPr>
          <p:cNvPr id="15" name="Shape 13"/>
          <p:cNvSpPr/>
          <p:nvPr/>
        </p:nvSpPr>
        <p:spPr>
          <a:xfrm>
            <a:off x="8961120" y="3383280"/>
            <a:ext cx="2606040" cy="2286000"/>
          </a:xfrm>
          <a:prstGeom prst="roundRect">
            <a:avLst>
              <a:gd name="adj" fmla="val 3600"/>
            </a:avLst>
          </a:prstGeom>
          <a:solidFill>
            <a:srgbClr val="ECEAE4"/>
          </a:solidFill>
          <a:ln w="12700">
            <a:solidFill>
              <a:srgbClr val="ECEAE4"/>
            </a:solidFill>
            <a:prstDash val="solid"/>
          </a:ln>
        </p:spPr>
      </p:sp>
      <p:sp>
        <p:nvSpPr>
          <p:cNvPr id="16" name="Text 14"/>
          <p:cNvSpPr/>
          <p:nvPr/>
        </p:nvSpPr>
        <p:spPr>
          <a:xfrm>
            <a:off x="9144000" y="3520440"/>
            <a:ext cx="2240280" cy="457200"/>
          </a:xfrm>
          <a:prstGeom prst="rect">
            <a:avLst/>
          </a:prstGeom>
          <a:noFill/>
          <a:ln/>
        </p:spPr>
        <p:txBody>
          <a:bodyPr wrap="square" lIns="0" tIns="0" rIns="0" bIns="0" rtlCol="0" anchor="t"/>
          <a:lstStyle/>
          <a:p>
            <a:pPr indent="0" marL="0">
              <a:buNone/>
            </a:pPr>
            <a:r>
              <a:rPr lang="en-US" sz="1800" b="1" dirty="0">
                <a:solidFill>
                  <a:srgbClr val="B02532"/>
                </a:solidFill>
                <a:latin typeface="Palatino Linotype" pitchFamily="34" charset="0"/>
                <a:ea typeface="Palatino Linotype" pitchFamily="34" charset="-122"/>
                <a:cs typeface="Palatino Linotype" pitchFamily="34" charset="-120"/>
              </a:rPr>
              <a:t>Quaternaire</a:t>
            </a:r>
            <a:endParaRPr lang="en-US" sz="1800" dirty="0"/>
          </a:p>
        </p:txBody>
      </p:sp>
      <p:sp>
        <p:nvSpPr>
          <p:cNvPr id="17" name="Text 15"/>
          <p:cNvSpPr/>
          <p:nvPr/>
        </p:nvSpPr>
        <p:spPr>
          <a:xfrm>
            <a:off x="9144000" y="4069080"/>
            <a:ext cx="2240280" cy="146304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protection contre les interventions qui font plus de mal</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UNE ERREUR FRÉQUENTE À L’EXAMEN</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Le niveau dépend du patient, pas du médicament</a:t>
            </a:r>
            <a:endParaRPr lang="en-US" sz="3200" dirty="0"/>
          </a:p>
        </p:txBody>
      </p:sp>
      <p:sp>
        <p:nvSpPr>
          <p:cNvPr id="4" name="Shape 2"/>
          <p:cNvSpPr/>
          <p:nvPr/>
        </p:nvSpPr>
        <p:spPr>
          <a:xfrm>
            <a:off x="594360" y="1737360"/>
            <a:ext cx="5349240" cy="1920240"/>
          </a:xfrm>
          <a:prstGeom prst="roundRect">
            <a:avLst>
              <a:gd name="adj" fmla="val 4286"/>
            </a:avLst>
          </a:prstGeom>
          <a:solidFill>
            <a:srgbClr val="1D1F2B"/>
          </a:solidFill>
          <a:ln w="12700">
            <a:solidFill>
              <a:srgbClr val="1D1F2B"/>
            </a:solidFill>
            <a:prstDash val="solid"/>
          </a:ln>
        </p:spPr>
      </p:sp>
      <p:sp>
        <p:nvSpPr>
          <p:cNvPr id="5" name="Text 3"/>
          <p:cNvSpPr/>
          <p:nvPr/>
        </p:nvSpPr>
        <p:spPr>
          <a:xfrm>
            <a:off x="868680" y="1828800"/>
            <a:ext cx="4846320" cy="457200"/>
          </a:xfrm>
          <a:prstGeom prst="rect">
            <a:avLst/>
          </a:prstGeom>
          <a:noFill/>
          <a:ln/>
        </p:spPr>
        <p:txBody>
          <a:bodyPr wrap="square" lIns="0" tIns="0" rIns="0" bIns="0" rtlCol="0" anchor="t"/>
          <a:lstStyle/>
          <a:p>
            <a:pPr indent="0" marL="0">
              <a:buNone/>
            </a:pPr>
            <a:r>
              <a:rPr lang="en-US" sz="1800" b="1" dirty="0">
                <a:solidFill>
                  <a:srgbClr val="27D3BE"/>
                </a:solidFill>
                <a:latin typeface="Palatino Linotype" pitchFamily="34" charset="0"/>
                <a:ea typeface="Palatino Linotype" pitchFamily="34" charset="-122"/>
                <a:cs typeface="Palatino Linotype" pitchFamily="34" charset="-120"/>
              </a:rPr>
              <a:t>Avant l’infarctus</a:t>
            </a:r>
            <a:endParaRPr lang="en-US" sz="1800" dirty="0"/>
          </a:p>
        </p:txBody>
      </p:sp>
      <p:sp>
        <p:nvSpPr>
          <p:cNvPr id="6" name="Text 4"/>
          <p:cNvSpPr/>
          <p:nvPr/>
        </p:nvSpPr>
        <p:spPr>
          <a:xfrm>
            <a:off x="868680" y="2331720"/>
            <a:ext cx="4846320" cy="1188720"/>
          </a:xfrm>
          <a:prstGeom prst="rect">
            <a:avLst/>
          </a:prstGeom>
          <a:noFill/>
          <a:ln/>
        </p:spPr>
        <p:txBody>
          <a:bodyPr wrap="square" lIns="0" tIns="0" rIns="0" bIns="0" rtlCol="0" anchor="t"/>
          <a:lstStyle/>
          <a:p>
            <a:pPr indent="0" marL="0">
              <a:buNone/>
            </a:pPr>
            <a:r>
              <a:rPr lang="en-US" sz="2100" dirty="0">
                <a:solidFill>
                  <a:srgbClr val="FFFFFF"/>
                </a:solidFill>
                <a:latin typeface="Palatino Linotype" pitchFamily="34" charset="0"/>
                <a:ea typeface="Palatino Linotype" pitchFamily="34" charset="-122"/>
                <a:cs typeface="Palatino Linotype" pitchFamily="34" charset="-120"/>
              </a:rPr>
              <a:t>Le traitement de la tension d’Ion est une prévention primaire.</a:t>
            </a:r>
            <a:endParaRPr lang="en-US" sz="2100" dirty="0"/>
          </a:p>
        </p:txBody>
      </p:sp>
      <p:sp>
        <p:nvSpPr>
          <p:cNvPr id="7" name="Shape 5"/>
          <p:cNvSpPr/>
          <p:nvPr/>
        </p:nvSpPr>
        <p:spPr>
          <a:xfrm>
            <a:off x="6217920" y="1737360"/>
            <a:ext cx="5349240" cy="1920240"/>
          </a:xfrm>
          <a:prstGeom prst="roundRect">
            <a:avLst>
              <a:gd name="adj" fmla="val 4286"/>
            </a:avLst>
          </a:prstGeom>
          <a:solidFill>
            <a:srgbClr val="1D1F2B"/>
          </a:solidFill>
          <a:ln w="12700">
            <a:solidFill>
              <a:srgbClr val="1D1F2B"/>
            </a:solidFill>
            <a:prstDash val="solid"/>
          </a:ln>
        </p:spPr>
      </p:sp>
      <p:sp>
        <p:nvSpPr>
          <p:cNvPr id="8" name="Text 6"/>
          <p:cNvSpPr/>
          <p:nvPr/>
        </p:nvSpPr>
        <p:spPr>
          <a:xfrm>
            <a:off x="6492240" y="1828800"/>
            <a:ext cx="4846320" cy="457200"/>
          </a:xfrm>
          <a:prstGeom prst="rect">
            <a:avLst/>
          </a:prstGeom>
          <a:noFill/>
          <a:ln/>
        </p:spPr>
        <p:txBody>
          <a:bodyPr wrap="square" lIns="0" tIns="0" rIns="0" bIns="0" rtlCol="0" anchor="t"/>
          <a:lstStyle/>
          <a:p>
            <a:pPr indent="0" marL="0">
              <a:buNone/>
            </a:pPr>
            <a:r>
              <a:rPr lang="en-US" sz="1800" b="1" dirty="0">
                <a:solidFill>
                  <a:srgbClr val="FF4757"/>
                </a:solidFill>
                <a:latin typeface="Palatino Linotype" pitchFamily="34" charset="0"/>
                <a:ea typeface="Palatino Linotype" pitchFamily="34" charset="-122"/>
                <a:cs typeface="Palatino Linotype" pitchFamily="34" charset="-120"/>
              </a:rPr>
              <a:t>Après l’infarctus</a:t>
            </a:r>
            <a:endParaRPr lang="en-US" sz="1800" dirty="0"/>
          </a:p>
        </p:txBody>
      </p:sp>
      <p:sp>
        <p:nvSpPr>
          <p:cNvPr id="9" name="Text 7"/>
          <p:cNvSpPr/>
          <p:nvPr/>
        </p:nvSpPr>
        <p:spPr>
          <a:xfrm>
            <a:off x="6492240" y="2331720"/>
            <a:ext cx="4846320" cy="1188720"/>
          </a:xfrm>
          <a:prstGeom prst="rect">
            <a:avLst/>
          </a:prstGeom>
          <a:noFill/>
          <a:ln/>
        </p:spPr>
        <p:txBody>
          <a:bodyPr wrap="square" lIns="0" tIns="0" rIns="0" bIns="0" rtlCol="0" anchor="t"/>
          <a:lstStyle/>
          <a:p>
            <a:pPr indent="0" marL="0">
              <a:buNone/>
            </a:pPr>
            <a:r>
              <a:rPr lang="en-US" sz="2100" dirty="0">
                <a:solidFill>
                  <a:srgbClr val="FFFFFF"/>
                </a:solidFill>
                <a:latin typeface="Palatino Linotype" pitchFamily="34" charset="0"/>
                <a:ea typeface="Palatino Linotype" pitchFamily="34" charset="-122"/>
                <a:cs typeface="Palatino Linotype" pitchFamily="34" charset="-120"/>
              </a:rPr>
              <a:t>Le même traitement est une prévention tertiaire.</a:t>
            </a:r>
            <a:endParaRPr lang="en-US" sz="2100" dirty="0"/>
          </a:p>
        </p:txBody>
      </p:sp>
      <p:sp>
        <p:nvSpPr>
          <p:cNvPr id="10" name="Text 8"/>
          <p:cNvSpPr/>
          <p:nvPr/>
        </p:nvSpPr>
        <p:spPr>
          <a:xfrm>
            <a:off x="594360" y="3931920"/>
            <a:ext cx="10972800" cy="914400"/>
          </a:xfrm>
          <a:prstGeom prst="rect">
            <a:avLst/>
          </a:prstGeom>
          <a:noFill/>
          <a:ln/>
        </p:spPr>
        <p:txBody>
          <a:bodyPr wrap="square" lIns="0" tIns="0" rIns="0" bIns="0" rtlCol="0" anchor="t"/>
          <a:lstStyle/>
          <a:p>
            <a:pPr indent="0" marL="0">
              <a:buNone/>
            </a:pPr>
            <a:r>
              <a:rPr lang="en-US" sz="2100" b="1" dirty="0">
                <a:solidFill>
                  <a:srgbClr val="FFC24B"/>
                </a:solidFill>
                <a:latin typeface="Palatino Linotype" pitchFamily="34" charset="0"/>
                <a:ea typeface="Palatino Linotype" pitchFamily="34" charset="-122"/>
                <a:cs typeface="Palatino Linotype" pitchFamily="34" charset="-120"/>
              </a:rPr>
              <a:t>La bonne question n’est pas « quel est le niveau de la statine ? », mais « quel est le niveau de la statine chez ce patient ? ».</a:t>
            </a:r>
            <a:endParaRPr lang="en-US" sz="2100" dirty="0"/>
          </a:p>
        </p:txBody>
      </p:sp>
      <p:sp>
        <p:nvSpPr>
          <p:cNvPr id="11" name="Text 9"/>
          <p:cNvSpPr/>
          <p:nvPr/>
        </p:nvSpPr>
        <p:spPr>
          <a:xfrm>
            <a:off x="594360" y="5120640"/>
            <a:ext cx="10972800" cy="548640"/>
          </a:xfrm>
          <a:prstGeom prst="rect">
            <a:avLst/>
          </a:prstGeom>
          <a:noFill/>
          <a:ln/>
        </p:spPr>
        <p:txBody>
          <a:bodyPr wrap="square" lIns="0" tIns="0" rIns="0" bIns="0" rtlCol="0" anchor="t"/>
          <a:lstStyle/>
          <a:p>
            <a:pPr indent="0" marL="0">
              <a:buNone/>
            </a:pPr>
            <a:r>
              <a:rPr lang="en-US" sz="1700" dirty="0">
                <a:solidFill>
                  <a:srgbClr val="959BB0"/>
                </a:solidFill>
                <a:latin typeface="Palatino Linotype" pitchFamily="34" charset="0"/>
                <a:ea typeface="Palatino Linotype" pitchFamily="34" charset="-122"/>
                <a:cs typeface="Palatino Linotype" pitchFamily="34" charset="-120"/>
              </a:rPr>
              <a:t>La prévention secondaire est, pour une grande part, du dépistage : le sujet du cours suivant.</a:t>
            </a:r>
            <a:endParaRPr lang="en-US" sz="1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NOUVEAU TERME 2</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Le nombre de patients à traiter</a:t>
            </a:r>
            <a:endParaRPr lang="en-US" sz="3200" dirty="0"/>
          </a:p>
        </p:txBody>
      </p:sp>
      <p:sp>
        <p:nvSpPr>
          <p:cNvPr id="4" name="Text 2"/>
          <p:cNvSpPr/>
          <p:nvPr/>
        </p:nvSpPr>
        <p:spPr>
          <a:xfrm>
            <a:off x="594360" y="1463040"/>
            <a:ext cx="10972800" cy="502920"/>
          </a:xfrm>
          <a:prstGeom prst="rect">
            <a:avLst/>
          </a:prstGeom>
          <a:noFill/>
          <a:ln/>
        </p:spPr>
        <p:txBody>
          <a:bodyPr wrap="square" lIns="0" tIns="0" rIns="0" bIns="0" rtlCol="0" anchor="t"/>
          <a:lstStyle/>
          <a:p>
            <a:pPr indent="0" marL="0">
              <a:buNone/>
            </a:pPr>
            <a:r>
              <a:rPr lang="en-US" sz="2000" b="1" dirty="0">
                <a:solidFill>
                  <a:srgbClr val="B02532"/>
                </a:solidFill>
                <a:latin typeface="Palatino Linotype" pitchFamily="34" charset="0"/>
                <a:ea typeface="Palatino Linotype" pitchFamily="34" charset="-122"/>
                <a:cs typeface="Palatino Linotype" pitchFamily="34" charset="-120"/>
              </a:rPr>
              <a:t>Combien de personnes doivent être traitées pour qu’une seule soit protégée de la maladie.</a:t>
            </a:r>
            <a:endParaRPr lang="en-US" sz="2000" dirty="0"/>
          </a:p>
        </p:txBody>
      </p:sp>
      <p:sp>
        <p:nvSpPr>
          <p:cNvPr id="5" name="Shape 3"/>
          <p:cNvSpPr/>
          <p:nvPr/>
        </p:nvSpPr>
        <p:spPr>
          <a:xfrm>
            <a:off x="594360" y="2103120"/>
            <a:ext cx="10972800" cy="822960"/>
          </a:xfrm>
          <a:prstGeom prst="roundRect">
            <a:avLst>
              <a:gd name="adj" fmla="val 10000"/>
            </a:avLst>
          </a:prstGeom>
          <a:solidFill>
            <a:srgbClr val="11121A"/>
          </a:solidFill>
          <a:ln w="12700">
            <a:solidFill>
              <a:srgbClr val="11121A"/>
            </a:solidFill>
            <a:prstDash val="solid"/>
          </a:ln>
        </p:spPr>
      </p:sp>
      <p:sp>
        <p:nvSpPr>
          <p:cNvPr id="6" name="Text 4"/>
          <p:cNvSpPr/>
          <p:nvPr/>
        </p:nvSpPr>
        <p:spPr>
          <a:xfrm>
            <a:off x="868680" y="2103120"/>
            <a:ext cx="10424160" cy="822960"/>
          </a:xfrm>
          <a:prstGeom prst="rect">
            <a:avLst/>
          </a:prstGeom>
          <a:noFill/>
          <a:ln/>
        </p:spPr>
        <p:txBody>
          <a:bodyPr wrap="square" lIns="0" tIns="0" rIns="0" bIns="0" rtlCol="0" anchor="ctr"/>
          <a:lstStyle/>
          <a:p>
            <a:pPr algn="ctr" indent="0" marL="0">
              <a:buNone/>
            </a:pPr>
            <a:r>
              <a:rPr lang="en-US" sz="2400" b="1" dirty="0">
                <a:solidFill>
                  <a:srgbClr val="FFFFFF"/>
                </a:solidFill>
                <a:latin typeface="Palatino Linotype" pitchFamily="34" charset="0"/>
                <a:ea typeface="Palatino Linotype" pitchFamily="34" charset="-122"/>
                <a:cs typeface="Palatino Linotype" pitchFamily="34" charset="-120"/>
              </a:rPr>
              <a:t>NNT = 1 / (risque sans traitement − risque avec traitement)</a:t>
            </a:r>
            <a:endParaRPr lang="en-US" sz="2400" dirty="0"/>
          </a:p>
        </p:txBody>
      </p:sp>
      <p:sp>
        <p:nvSpPr>
          <p:cNvPr id="7" name="Shape 5"/>
          <p:cNvSpPr/>
          <p:nvPr/>
        </p:nvSpPr>
        <p:spPr>
          <a:xfrm>
            <a:off x="594360" y="3154680"/>
            <a:ext cx="5349240" cy="1828800"/>
          </a:xfrm>
          <a:prstGeom prst="roundRect">
            <a:avLst>
              <a:gd name="adj" fmla="val 4500"/>
            </a:avLst>
          </a:prstGeom>
          <a:solidFill>
            <a:srgbClr val="ECEAE4"/>
          </a:solidFill>
          <a:ln w="12700">
            <a:solidFill>
              <a:srgbClr val="ECEAE4"/>
            </a:solidFill>
            <a:prstDash val="solid"/>
          </a:ln>
        </p:spPr>
      </p:sp>
      <p:sp>
        <p:nvSpPr>
          <p:cNvPr id="8" name="Text 6"/>
          <p:cNvSpPr/>
          <p:nvPr/>
        </p:nvSpPr>
        <p:spPr>
          <a:xfrm>
            <a:off x="868680" y="3246120"/>
            <a:ext cx="4846320" cy="365760"/>
          </a:xfrm>
          <a:prstGeom prst="rect">
            <a:avLst/>
          </a:prstGeom>
          <a:noFill/>
          <a:ln/>
        </p:spPr>
        <p:txBody>
          <a:bodyPr wrap="square" lIns="0" tIns="0" rIns="0" bIns="0" rtlCol="0" anchor="t"/>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LE BÉNÉFICE, CINQ ANS</a:t>
            </a:r>
            <a:endParaRPr lang="en-US" sz="1300" dirty="0"/>
          </a:p>
        </p:txBody>
      </p:sp>
      <p:sp>
        <p:nvSpPr>
          <p:cNvPr id="9" name="Text 7"/>
          <p:cNvSpPr/>
          <p:nvPr/>
        </p:nvSpPr>
        <p:spPr>
          <a:xfrm>
            <a:off x="868680" y="3657600"/>
            <a:ext cx="4846320" cy="123444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Infarctus : 8 % sans, 5 % avec traitement. Différence : 0,03. NNT = 1 / 0,03 ≈ 33.</a:t>
            </a:r>
            <a:endParaRPr lang="en-US" sz="1800" dirty="0"/>
          </a:p>
        </p:txBody>
      </p:sp>
      <p:sp>
        <p:nvSpPr>
          <p:cNvPr id="10" name="Shape 8"/>
          <p:cNvSpPr/>
          <p:nvPr/>
        </p:nvSpPr>
        <p:spPr>
          <a:xfrm>
            <a:off x="6217920" y="3154680"/>
            <a:ext cx="5349240" cy="1828800"/>
          </a:xfrm>
          <a:prstGeom prst="roundRect">
            <a:avLst>
              <a:gd name="adj" fmla="val 4500"/>
            </a:avLst>
          </a:prstGeom>
          <a:solidFill>
            <a:srgbClr val="ECEAE4"/>
          </a:solidFill>
          <a:ln w="12700">
            <a:solidFill>
              <a:srgbClr val="ECEAE4"/>
            </a:solidFill>
            <a:prstDash val="solid"/>
          </a:ln>
        </p:spPr>
      </p:sp>
      <p:sp>
        <p:nvSpPr>
          <p:cNvPr id="11" name="Text 9"/>
          <p:cNvSpPr/>
          <p:nvPr/>
        </p:nvSpPr>
        <p:spPr>
          <a:xfrm>
            <a:off x="6492240" y="3246120"/>
            <a:ext cx="4846320" cy="365760"/>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L’EFFET INDÉSIRABLE</a:t>
            </a:r>
            <a:endParaRPr lang="en-US" sz="1300" dirty="0"/>
          </a:p>
        </p:txBody>
      </p:sp>
      <p:sp>
        <p:nvSpPr>
          <p:cNvPr id="12" name="Text 10"/>
          <p:cNvSpPr/>
          <p:nvPr/>
        </p:nvSpPr>
        <p:spPr>
          <a:xfrm>
            <a:off x="6492240" y="3657600"/>
            <a:ext cx="4846320" cy="123444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Douleur musculaire : 1,5 % contre 0,5 %. Différence : 0,01. NNH = 1 / 0,01 = 100.</a:t>
            </a:r>
            <a:endParaRPr lang="en-US" sz="1800" dirty="0"/>
          </a:p>
        </p:txBody>
      </p:sp>
      <p:sp>
        <p:nvSpPr>
          <p:cNvPr id="13" name="Text 11"/>
          <p:cNvSpPr/>
          <p:nvPr/>
        </p:nvSpPr>
        <p:spPr>
          <a:xfrm>
            <a:off x="594360" y="5212080"/>
            <a:ext cx="10972800" cy="548640"/>
          </a:xfrm>
          <a:prstGeom prst="rect">
            <a:avLst/>
          </a:prstGeom>
          <a:noFill/>
          <a:ln/>
        </p:spPr>
        <p:txBody>
          <a:bodyPr wrap="square" lIns="0" tIns="0" rIns="0" bIns="0" rtlCol="0" anchor="t"/>
          <a:lstStyle/>
          <a:p>
            <a:pPr indent="0" marL="0">
              <a:buNone/>
            </a:pPr>
            <a:r>
              <a:rPr lang="en-US" sz="1900" b="1" dirty="0">
                <a:solidFill>
                  <a:srgbClr val="11121A"/>
                </a:solidFill>
                <a:latin typeface="Palatino Linotype" pitchFamily="34" charset="0"/>
                <a:ea typeface="Palatino Linotype" pitchFamily="34" charset="-122"/>
                <a:cs typeface="Palatino Linotype" pitchFamily="34" charset="-120"/>
              </a:rPr>
              <a:t>Pour 100 patients traités : environ trois infarctus évités, un effet indésirable de plus.</a:t>
            </a:r>
            <a:endParaRPr lang="en-US" sz="1900" dirty="0"/>
          </a:p>
        </p:txBody>
      </p:sp>
      <p:sp>
        <p:nvSpPr>
          <p:cNvPr id="14" name="Text 12"/>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Valeurs hypothétiques. Définition : manuel Cochrane.</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LE RISQUE DE BASE CHANGE TOUT</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Le même médicament, un autre NNT</a:t>
            </a:r>
            <a:endParaRPr lang="en-US" sz="3200" dirty="0"/>
          </a:p>
        </p:txBody>
      </p:sp>
      <p:sp>
        <p:nvSpPr>
          <p:cNvPr id="4" name="Text 2"/>
          <p:cNvSpPr/>
          <p:nvPr/>
        </p:nvSpPr>
        <p:spPr>
          <a:xfrm>
            <a:off x="594360" y="1508760"/>
            <a:ext cx="10972800" cy="457200"/>
          </a:xfrm>
          <a:prstGeom prst="rect">
            <a:avLst/>
          </a:prstGeom>
          <a:noFill/>
          <a:ln/>
        </p:spPr>
        <p:txBody>
          <a:bodyPr wrap="square" lIns="0" tIns="0" rIns="0" bIns="0" rtlCol="0" anchor="t"/>
          <a:lstStyle/>
          <a:p>
            <a:pPr indent="0" marL="0">
              <a:buNone/>
            </a:pPr>
            <a:r>
              <a:rPr lang="en-US" sz="1900" dirty="0">
                <a:solidFill>
                  <a:srgbClr val="D5D8E2"/>
                </a:solidFill>
                <a:latin typeface="Palatino Linotype" pitchFamily="34" charset="0"/>
                <a:ea typeface="Palatino Linotype" pitchFamily="34" charset="-122"/>
                <a:cs typeface="Palatino Linotype" pitchFamily="34" charset="-120"/>
              </a:rPr>
              <a:t>Le médicament réduit de 25 % le risque d’infarctus à cinq ans, dans n’importe quel groupe.</a:t>
            </a:r>
            <a:endParaRPr lang="en-US" sz="1900" dirty="0"/>
          </a:p>
        </p:txBody>
      </p:sp>
      <p:sp>
        <p:nvSpPr>
          <p:cNvPr id="5" name="Shape 3"/>
          <p:cNvSpPr/>
          <p:nvPr/>
        </p:nvSpPr>
        <p:spPr>
          <a:xfrm>
            <a:off x="594360" y="2148840"/>
            <a:ext cx="5349240" cy="2377440"/>
          </a:xfrm>
          <a:prstGeom prst="roundRect">
            <a:avLst>
              <a:gd name="adj" fmla="val 3462"/>
            </a:avLst>
          </a:prstGeom>
          <a:solidFill>
            <a:srgbClr val="1D1F2B"/>
          </a:solidFill>
          <a:ln w="12700">
            <a:solidFill>
              <a:srgbClr val="1D1F2B"/>
            </a:solidFill>
            <a:prstDash val="solid"/>
          </a:ln>
        </p:spPr>
      </p:sp>
      <p:sp>
        <p:nvSpPr>
          <p:cNvPr id="6" name="Text 4"/>
          <p:cNvSpPr/>
          <p:nvPr/>
        </p:nvSpPr>
        <p:spPr>
          <a:xfrm>
            <a:off x="868680" y="2240280"/>
            <a:ext cx="4846320" cy="365760"/>
          </a:xfrm>
          <a:prstGeom prst="rect">
            <a:avLst/>
          </a:prstGeom>
          <a:noFill/>
          <a:ln/>
        </p:spPr>
        <p:txBody>
          <a:bodyPr wrap="square" lIns="0" tIns="0" rIns="0" bIns="0" rtlCol="0" anchor="t"/>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GROUPE A</a:t>
            </a:r>
            <a:endParaRPr lang="en-US" sz="1300" dirty="0"/>
          </a:p>
        </p:txBody>
      </p:sp>
      <p:sp>
        <p:nvSpPr>
          <p:cNvPr id="7" name="Text 5"/>
          <p:cNvSpPr/>
          <p:nvPr/>
        </p:nvSpPr>
        <p:spPr>
          <a:xfrm>
            <a:off x="868680" y="2651760"/>
            <a:ext cx="4846320" cy="822960"/>
          </a:xfrm>
          <a:prstGeom prst="rect">
            <a:avLst/>
          </a:prstGeom>
          <a:noFill/>
          <a:ln/>
        </p:spPr>
        <p:txBody>
          <a:bodyPr wrap="square" lIns="0" tIns="0" rIns="0" bIns="0" rtlCol="0" anchor="ctr"/>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20 % → 15 %</a:t>
            </a:r>
            <a:endParaRPr lang="en-US" sz="3400" dirty="0"/>
          </a:p>
        </p:txBody>
      </p:sp>
      <p:sp>
        <p:nvSpPr>
          <p:cNvPr id="8" name="Text 6"/>
          <p:cNvSpPr/>
          <p:nvPr/>
        </p:nvSpPr>
        <p:spPr>
          <a:xfrm>
            <a:off x="868680" y="3520440"/>
            <a:ext cx="4846320" cy="822960"/>
          </a:xfrm>
          <a:prstGeom prst="rect">
            <a:avLst/>
          </a:prstGeom>
          <a:noFill/>
          <a:ln/>
        </p:spPr>
        <p:txBody>
          <a:bodyPr wrap="square" lIns="0" tIns="0" rIns="0" bIns="0" rtlCol="0" anchor="ctr"/>
          <a:lstStyle/>
          <a:p>
            <a:pPr indent="0" marL="0">
              <a:buNone/>
            </a:pPr>
            <a:r>
              <a:rPr lang="en-US" sz="3000" b="1" dirty="0">
                <a:solidFill>
                  <a:srgbClr val="FF4757"/>
                </a:solidFill>
                <a:latin typeface="Palatino Linotype" pitchFamily="34" charset="0"/>
                <a:ea typeface="Palatino Linotype" pitchFamily="34" charset="-122"/>
                <a:cs typeface="Palatino Linotype" pitchFamily="34" charset="-120"/>
              </a:rPr>
              <a:t>NNT = 20</a:t>
            </a:r>
            <a:endParaRPr lang="en-US" sz="3000" dirty="0"/>
          </a:p>
        </p:txBody>
      </p:sp>
      <p:sp>
        <p:nvSpPr>
          <p:cNvPr id="9" name="Shape 7"/>
          <p:cNvSpPr/>
          <p:nvPr/>
        </p:nvSpPr>
        <p:spPr>
          <a:xfrm>
            <a:off x="6217920" y="2148840"/>
            <a:ext cx="5349240" cy="2377440"/>
          </a:xfrm>
          <a:prstGeom prst="roundRect">
            <a:avLst>
              <a:gd name="adj" fmla="val 3462"/>
            </a:avLst>
          </a:prstGeom>
          <a:solidFill>
            <a:srgbClr val="1D1F2B"/>
          </a:solidFill>
          <a:ln w="12700">
            <a:solidFill>
              <a:srgbClr val="1D1F2B"/>
            </a:solidFill>
            <a:prstDash val="solid"/>
          </a:ln>
        </p:spPr>
      </p:sp>
      <p:sp>
        <p:nvSpPr>
          <p:cNvPr id="10" name="Text 8"/>
          <p:cNvSpPr/>
          <p:nvPr/>
        </p:nvSpPr>
        <p:spPr>
          <a:xfrm>
            <a:off x="6492240" y="2240280"/>
            <a:ext cx="4846320" cy="365760"/>
          </a:xfrm>
          <a:prstGeom prst="rect">
            <a:avLst/>
          </a:prstGeom>
          <a:noFill/>
          <a:ln/>
        </p:spPr>
        <p:txBody>
          <a:bodyPr wrap="square" lIns="0" tIns="0" rIns="0" bIns="0" rtlCol="0" anchor="t"/>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GROUPE B</a:t>
            </a:r>
            <a:endParaRPr lang="en-US" sz="1300" dirty="0"/>
          </a:p>
        </p:txBody>
      </p:sp>
      <p:sp>
        <p:nvSpPr>
          <p:cNvPr id="11" name="Text 9"/>
          <p:cNvSpPr/>
          <p:nvPr/>
        </p:nvSpPr>
        <p:spPr>
          <a:xfrm>
            <a:off x="6492240" y="2651760"/>
            <a:ext cx="4846320" cy="822960"/>
          </a:xfrm>
          <a:prstGeom prst="rect">
            <a:avLst/>
          </a:prstGeom>
          <a:noFill/>
          <a:ln/>
        </p:spPr>
        <p:txBody>
          <a:bodyPr wrap="square" lIns="0" tIns="0" rIns="0" bIns="0" rtlCol="0" anchor="ctr"/>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4 % → 3 %</a:t>
            </a:r>
            <a:endParaRPr lang="en-US" sz="3400" dirty="0"/>
          </a:p>
        </p:txBody>
      </p:sp>
      <p:sp>
        <p:nvSpPr>
          <p:cNvPr id="12" name="Text 10"/>
          <p:cNvSpPr/>
          <p:nvPr/>
        </p:nvSpPr>
        <p:spPr>
          <a:xfrm>
            <a:off x="6492240" y="3520440"/>
            <a:ext cx="4846320" cy="822960"/>
          </a:xfrm>
          <a:prstGeom prst="rect">
            <a:avLst/>
          </a:prstGeom>
          <a:noFill/>
          <a:ln/>
        </p:spPr>
        <p:txBody>
          <a:bodyPr wrap="square" lIns="0" tIns="0" rIns="0" bIns="0" rtlCol="0" anchor="ctr"/>
          <a:lstStyle/>
          <a:p>
            <a:pPr indent="0" marL="0">
              <a:buNone/>
            </a:pPr>
            <a:r>
              <a:rPr lang="en-US" sz="3000" b="1" dirty="0">
                <a:solidFill>
                  <a:srgbClr val="27D3BE"/>
                </a:solidFill>
                <a:latin typeface="Palatino Linotype" pitchFamily="34" charset="0"/>
                <a:ea typeface="Palatino Linotype" pitchFamily="34" charset="-122"/>
                <a:cs typeface="Palatino Linotype" pitchFamily="34" charset="-120"/>
              </a:rPr>
              <a:t>NNT = 100</a:t>
            </a:r>
            <a:endParaRPr lang="en-US" sz="3000" dirty="0"/>
          </a:p>
        </p:txBody>
      </p:sp>
      <p:sp>
        <p:nvSpPr>
          <p:cNvPr id="13" name="Text 11"/>
          <p:cNvSpPr/>
          <p:nvPr/>
        </p:nvSpPr>
        <p:spPr>
          <a:xfrm>
            <a:off x="594360" y="4800600"/>
            <a:ext cx="10972800" cy="914400"/>
          </a:xfrm>
          <a:prstGeom prst="rect">
            <a:avLst/>
          </a:prstGeom>
          <a:noFill/>
          <a:ln/>
        </p:spPr>
        <p:txBody>
          <a:bodyPr wrap="square" lIns="0" tIns="0" rIns="0" bIns="0" rtlCol="0" anchor="t"/>
          <a:lstStyle/>
          <a:p>
            <a:pPr indent="0" marL="0">
              <a:buNone/>
            </a:pPr>
            <a:r>
              <a:rPr lang="en-US" sz="1900" b="1" dirty="0">
                <a:solidFill>
                  <a:srgbClr val="FFC24B"/>
                </a:solidFill>
                <a:latin typeface="Palatino Linotype" pitchFamily="34" charset="0"/>
                <a:ea typeface="Palatino Linotype" pitchFamily="34" charset="-122"/>
                <a:cs typeface="Palatino Linotype" pitchFamily="34" charset="-120"/>
              </a:rPr>
              <a:t>Dans le groupe B : cinq fois plus de patients traités pour un infarctus évité. Le NNT dépend du médicament et du groupe.</a:t>
            </a:r>
            <a:endParaRPr lang="en-US" sz="1900" dirty="0"/>
          </a:p>
        </p:txBody>
      </p:sp>
      <p:sp>
        <p:nvSpPr>
          <p:cNvPr id="14" name="Text 12"/>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Valeurs hypothétiques.</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229600" y="292608"/>
            <a:ext cx="333756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229600" y="292608"/>
            <a:ext cx="333756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BINÔMES + MENTIMETER</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CALCUL EN BINÔMES</a:t>
            </a:r>
            <a:endParaRPr lang="en-US" sz="1300" dirty="0"/>
          </a:p>
        </p:txBody>
      </p:sp>
      <p:sp>
        <p:nvSpPr>
          <p:cNvPr id="5" name="Text 3"/>
          <p:cNvSpPr/>
          <p:nvPr/>
        </p:nvSpPr>
        <p:spPr>
          <a:xfrm>
            <a:off x="594360" y="713232"/>
            <a:ext cx="758952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Calculez : un traitement préventif</a:t>
            </a:r>
            <a:endParaRPr lang="en-US" sz="3200" dirty="0"/>
          </a:p>
        </p:txBody>
      </p:sp>
      <p:sp>
        <p:nvSpPr>
          <p:cNvPr id="6" name="Shape 4"/>
          <p:cNvSpPr/>
          <p:nvPr/>
        </p:nvSpPr>
        <p:spPr>
          <a:xfrm>
            <a:off x="594360" y="1691640"/>
            <a:ext cx="10972800" cy="1371600"/>
          </a:xfrm>
          <a:prstGeom prst="roundRect">
            <a:avLst>
              <a:gd name="adj" fmla="val 6000"/>
            </a:avLst>
          </a:prstGeom>
          <a:solidFill>
            <a:srgbClr val="1D1F2B"/>
          </a:solidFill>
          <a:ln w="12700">
            <a:solidFill>
              <a:srgbClr val="1D1F2B"/>
            </a:solidFill>
            <a:prstDash val="solid"/>
          </a:ln>
        </p:spPr>
      </p:sp>
      <p:sp>
        <p:nvSpPr>
          <p:cNvPr id="7" name="Text 5"/>
          <p:cNvSpPr/>
          <p:nvPr/>
        </p:nvSpPr>
        <p:spPr>
          <a:xfrm>
            <a:off x="868680" y="1691640"/>
            <a:ext cx="10424160" cy="1371600"/>
          </a:xfrm>
          <a:prstGeom prst="rect">
            <a:avLst/>
          </a:prstGeom>
          <a:noFill/>
          <a:ln/>
        </p:spPr>
        <p:txBody>
          <a:bodyPr wrap="square" lIns="0" tIns="0" rIns="0" bIns="0" rtlCol="0" anchor="ctr"/>
          <a:lstStyle/>
          <a:p>
            <a:pPr indent="0" marL="0">
              <a:buNone/>
            </a:pPr>
            <a:r>
              <a:rPr lang="en-US" sz="2100" dirty="0">
                <a:solidFill>
                  <a:srgbClr val="FFFFFF"/>
                </a:solidFill>
                <a:latin typeface="Palatino Linotype" pitchFamily="34" charset="0"/>
                <a:ea typeface="Palatino Linotype" pitchFamily="34" charset="-122"/>
                <a:cs typeface="Palatino Linotype" pitchFamily="34" charset="-120"/>
              </a:rPr>
              <a:t>En trois ans, le risque d’accident vasculaire cérébral baisse de 6 % à 4 %, tandis que le risque d’hémorragie grave passe de 1 % à 2 %.</a:t>
            </a:r>
            <a:endParaRPr lang="en-US" sz="2100" dirty="0"/>
          </a:p>
        </p:txBody>
      </p:sp>
      <p:sp>
        <p:nvSpPr>
          <p:cNvPr id="8" name="Shape 6"/>
          <p:cNvSpPr/>
          <p:nvPr/>
        </p:nvSpPr>
        <p:spPr>
          <a:xfrm>
            <a:off x="594360" y="3291840"/>
            <a:ext cx="10972800" cy="621792"/>
          </a:xfrm>
          <a:prstGeom prst="roundRect">
            <a:avLst>
              <a:gd name="adj" fmla="val 13235"/>
            </a:avLst>
          </a:prstGeom>
          <a:solidFill>
            <a:srgbClr val="272A38"/>
          </a:solidFill>
          <a:ln w="12700">
            <a:solidFill>
              <a:srgbClr val="272A38"/>
            </a:solidFill>
            <a:prstDash val="solid"/>
          </a:ln>
        </p:spPr>
      </p:sp>
      <p:sp>
        <p:nvSpPr>
          <p:cNvPr id="9" name="Shape 7"/>
          <p:cNvSpPr/>
          <p:nvPr/>
        </p:nvSpPr>
        <p:spPr>
          <a:xfrm>
            <a:off x="868680" y="3392424"/>
            <a:ext cx="420624" cy="420624"/>
          </a:xfrm>
          <a:prstGeom prst="ellipse">
            <a:avLst/>
          </a:prstGeom>
          <a:solidFill>
            <a:srgbClr val="FFC24B"/>
          </a:solidFill>
          <a:ln/>
        </p:spPr>
      </p:sp>
      <p:sp>
        <p:nvSpPr>
          <p:cNvPr id="10" name="Text 8"/>
          <p:cNvSpPr/>
          <p:nvPr/>
        </p:nvSpPr>
        <p:spPr>
          <a:xfrm>
            <a:off x="868680" y="339242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11" name="Text 9"/>
          <p:cNvSpPr/>
          <p:nvPr/>
        </p:nvSpPr>
        <p:spPr>
          <a:xfrm>
            <a:off x="1508760" y="3291840"/>
            <a:ext cx="9829800" cy="621792"/>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Calculez le NNT et le NNH.</a:t>
            </a:r>
            <a:endParaRPr lang="en-US" sz="1800" dirty="0"/>
          </a:p>
        </p:txBody>
      </p:sp>
      <p:sp>
        <p:nvSpPr>
          <p:cNvPr id="12" name="Shape 10"/>
          <p:cNvSpPr/>
          <p:nvPr/>
        </p:nvSpPr>
        <p:spPr>
          <a:xfrm>
            <a:off x="594360" y="4023360"/>
            <a:ext cx="10972800" cy="621792"/>
          </a:xfrm>
          <a:prstGeom prst="roundRect">
            <a:avLst>
              <a:gd name="adj" fmla="val 13235"/>
            </a:avLst>
          </a:prstGeom>
          <a:solidFill>
            <a:srgbClr val="272A38"/>
          </a:solidFill>
          <a:ln w="12700">
            <a:solidFill>
              <a:srgbClr val="272A38"/>
            </a:solidFill>
            <a:prstDash val="solid"/>
          </a:ln>
        </p:spPr>
      </p:sp>
      <p:sp>
        <p:nvSpPr>
          <p:cNvPr id="13" name="Shape 11"/>
          <p:cNvSpPr/>
          <p:nvPr/>
        </p:nvSpPr>
        <p:spPr>
          <a:xfrm>
            <a:off x="868680" y="4123944"/>
            <a:ext cx="420624" cy="420624"/>
          </a:xfrm>
          <a:prstGeom prst="ellipse">
            <a:avLst/>
          </a:prstGeom>
          <a:solidFill>
            <a:srgbClr val="FFC24B"/>
          </a:solidFill>
          <a:ln/>
        </p:spPr>
      </p:sp>
      <p:sp>
        <p:nvSpPr>
          <p:cNvPr id="14" name="Text 12"/>
          <p:cNvSpPr/>
          <p:nvPr/>
        </p:nvSpPr>
        <p:spPr>
          <a:xfrm>
            <a:off x="868680" y="412394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5" name="Text 13"/>
          <p:cNvSpPr/>
          <p:nvPr/>
        </p:nvSpPr>
        <p:spPr>
          <a:xfrm>
            <a:off x="1508760" y="4023360"/>
            <a:ext cx="9829800" cy="621792"/>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Formulez en une phrase ce que vous diriez au patient.</a:t>
            </a:r>
            <a:endParaRPr lang="en-US" sz="1800" dirty="0"/>
          </a:p>
        </p:txBody>
      </p:sp>
      <p:sp>
        <p:nvSpPr>
          <p:cNvPr id="16" name="Text 14"/>
          <p:cNvSpPr/>
          <p:nvPr/>
        </p:nvSpPr>
        <p:spPr>
          <a:xfrm>
            <a:off x="594360" y="4892040"/>
            <a:ext cx="10972800" cy="457200"/>
          </a:xfrm>
          <a:prstGeom prst="rect">
            <a:avLst/>
          </a:prstGeom>
          <a:noFill/>
          <a:ln/>
        </p:spPr>
        <p:txBody>
          <a:bodyPr wrap="square" lIns="0" tIns="0" rIns="0" bIns="0" rtlCol="0" anchor="t"/>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Le vote, pour le NNT :  A. 25   ·   B. 33   ·   C. 50   ·   D. 100</a:t>
            </a:r>
            <a:endParaRPr lang="en-US" sz="1900" dirty="0"/>
          </a:p>
        </p:txBody>
      </p:sp>
      <p:sp>
        <p:nvSpPr>
          <p:cNvPr id="17" name="Text 15"/>
          <p:cNvSpPr/>
          <p:nvPr/>
        </p:nvSpPr>
        <p:spPr>
          <a:xfrm>
            <a:off x="594360" y="5440680"/>
            <a:ext cx="10972800" cy="457200"/>
          </a:xfrm>
          <a:prstGeom prst="rect">
            <a:avLst/>
          </a:prstGeom>
          <a:noFill/>
          <a:ln/>
        </p:spPr>
        <p:txBody>
          <a:bodyPr wrap="square" lIns="0" tIns="0" rIns="0" bIns="0" rtlCol="0" anchor="t"/>
          <a:lstStyle/>
          <a:p>
            <a:pPr indent="0" marL="0">
              <a:buNone/>
            </a:pPr>
            <a:r>
              <a:rPr lang="en-US" sz="2000" b="1" dirty="0">
                <a:solidFill>
                  <a:srgbClr val="FFC24B"/>
                </a:solidFill>
                <a:latin typeface="Palatino Linotype" pitchFamily="34" charset="0"/>
                <a:ea typeface="Palatino Linotype" pitchFamily="34" charset="-122"/>
                <a:cs typeface="Palatino Linotype" pitchFamily="34" charset="-120"/>
              </a:rPr>
              <a:t>Répondez sur votre téléphone, au code affiché.</a:t>
            </a:r>
            <a:endParaRPr lang="en-US" sz="2000" dirty="0"/>
          </a:p>
        </p:txBody>
      </p:sp>
      <p:sp>
        <p:nvSpPr>
          <p:cNvPr id="18" name="Text 16"/>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Valeurs hypothétiques.</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LA RÉPONSE : C</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La solution de l’exercice</a:t>
            </a:r>
            <a:endParaRPr lang="en-US" sz="3400" dirty="0"/>
          </a:p>
        </p:txBody>
      </p:sp>
      <p:sp>
        <p:nvSpPr>
          <p:cNvPr id="4" name="Shape 2"/>
          <p:cNvSpPr/>
          <p:nvPr/>
        </p:nvSpPr>
        <p:spPr>
          <a:xfrm>
            <a:off x="594360" y="1691640"/>
            <a:ext cx="5349240" cy="2377440"/>
          </a:xfrm>
          <a:prstGeom prst="roundRect">
            <a:avLst>
              <a:gd name="adj" fmla="val 3462"/>
            </a:avLst>
          </a:prstGeom>
          <a:solidFill>
            <a:srgbClr val="ECEAE4"/>
          </a:solidFill>
          <a:ln w="12700">
            <a:solidFill>
              <a:srgbClr val="ECEAE4"/>
            </a:solidFill>
            <a:prstDash val="solid"/>
          </a:ln>
        </p:spPr>
      </p:sp>
      <p:sp>
        <p:nvSpPr>
          <p:cNvPr id="5" name="Text 3"/>
          <p:cNvSpPr/>
          <p:nvPr/>
        </p:nvSpPr>
        <p:spPr>
          <a:xfrm>
            <a:off x="868680" y="1783080"/>
            <a:ext cx="4846320" cy="365760"/>
          </a:xfrm>
          <a:prstGeom prst="rect">
            <a:avLst/>
          </a:prstGeom>
          <a:noFill/>
          <a:ln/>
        </p:spPr>
        <p:txBody>
          <a:bodyPr wrap="square" lIns="0" tIns="0" rIns="0" bIns="0" rtlCol="0" anchor="t"/>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LE BÉNÉFICE</a:t>
            </a:r>
            <a:endParaRPr lang="en-US" sz="1300" dirty="0"/>
          </a:p>
        </p:txBody>
      </p:sp>
      <p:sp>
        <p:nvSpPr>
          <p:cNvPr id="6" name="Text 4"/>
          <p:cNvSpPr/>
          <p:nvPr/>
        </p:nvSpPr>
        <p:spPr>
          <a:xfrm>
            <a:off x="868680" y="2194560"/>
            <a:ext cx="4846320" cy="731520"/>
          </a:xfrm>
          <a:prstGeom prst="rect">
            <a:avLst/>
          </a:prstGeom>
          <a:noFill/>
          <a:ln/>
        </p:spPr>
        <p:txBody>
          <a:bodyPr wrap="square" lIns="0" tIns="0" rIns="0" bIns="0" rtlCol="0" anchor="ctr"/>
          <a:lstStyle/>
          <a:p>
            <a:pPr indent="0" marL="0">
              <a:buNone/>
            </a:pPr>
            <a:r>
              <a:rPr lang="en-US" sz="2600" dirty="0">
                <a:solidFill>
                  <a:srgbClr val="11121A"/>
                </a:solidFill>
                <a:latin typeface="Palatino Linotype" pitchFamily="34" charset="0"/>
                <a:ea typeface="Palatino Linotype" pitchFamily="34" charset="-122"/>
                <a:cs typeface="Palatino Linotype" pitchFamily="34" charset="-120"/>
              </a:rPr>
              <a:t>6 % − 4 % = 2 %</a:t>
            </a:r>
            <a:endParaRPr lang="en-US" sz="2600" dirty="0"/>
          </a:p>
        </p:txBody>
      </p:sp>
      <p:sp>
        <p:nvSpPr>
          <p:cNvPr id="7" name="Text 5"/>
          <p:cNvSpPr/>
          <p:nvPr/>
        </p:nvSpPr>
        <p:spPr>
          <a:xfrm>
            <a:off x="868680" y="3017520"/>
            <a:ext cx="4846320" cy="822960"/>
          </a:xfrm>
          <a:prstGeom prst="rect">
            <a:avLst/>
          </a:prstGeom>
          <a:noFill/>
          <a:ln/>
        </p:spPr>
        <p:txBody>
          <a:bodyPr wrap="square" lIns="0" tIns="0" rIns="0" bIns="0" rtlCol="0" anchor="ctr"/>
          <a:lstStyle/>
          <a:p>
            <a:pPr indent="0" marL="0">
              <a:buNone/>
            </a:pPr>
            <a:r>
              <a:rPr lang="en-US" sz="3000" b="1" dirty="0">
                <a:solidFill>
                  <a:srgbClr val="0E7C6B"/>
                </a:solidFill>
                <a:latin typeface="Palatino Linotype" pitchFamily="34" charset="0"/>
                <a:ea typeface="Palatino Linotype" pitchFamily="34" charset="-122"/>
                <a:cs typeface="Palatino Linotype" pitchFamily="34" charset="-120"/>
              </a:rPr>
              <a:t>NNT = 1 / 0,02 = cinquante</a:t>
            </a:r>
            <a:endParaRPr lang="en-US" sz="3000" dirty="0"/>
          </a:p>
        </p:txBody>
      </p:sp>
      <p:sp>
        <p:nvSpPr>
          <p:cNvPr id="8" name="Shape 6"/>
          <p:cNvSpPr/>
          <p:nvPr/>
        </p:nvSpPr>
        <p:spPr>
          <a:xfrm>
            <a:off x="6217920" y="1691640"/>
            <a:ext cx="5349240" cy="2377440"/>
          </a:xfrm>
          <a:prstGeom prst="roundRect">
            <a:avLst>
              <a:gd name="adj" fmla="val 3462"/>
            </a:avLst>
          </a:prstGeom>
          <a:solidFill>
            <a:srgbClr val="ECEAE4"/>
          </a:solidFill>
          <a:ln w="12700">
            <a:solidFill>
              <a:srgbClr val="ECEAE4"/>
            </a:solidFill>
            <a:prstDash val="solid"/>
          </a:ln>
        </p:spPr>
      </p:sp>
      <p:sp>
        <p:nvSpPr>
          <p:cNvPr id="9" name="Text 7"/>
          <p:cNvSpPr/>
          <p:nvPr/>
        </p:nvSpPr>
        <p:spPr>
          <a:xfrm>
            <a:off x="6492240" y="1783080"/>
            <a:ext cx="4846320" cy="365760"/>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LE PRÉJUDICE</a:t>
            </a:r>
            <a:endParaRPr lang="en-US" sz="1300" dirty="0"/>
          </a:p>
        </p:txBody>
      </p:sp>
      <p:sp>
        <p:nvSpPr>
          <p:cNvPr id="10" name="Text 8"/>
          <p:cNvSpPr/>
          <p:nvPr/>
        </p:nvSpPr>
        <p:spPr>
          <a:xfrm>
            <a:off x="6492240" y="2194560"/>
            <a:ext cx="4846320" cy="731520"/>
          </a:xfrm>
          <a:prstGeom prst="rect">
            <a:avLst/>
          </a:prstGeom>
          <a:noFill/>
          <a:ln/>
        </p:spPr>
        <p:txBody>
          <a:bodyPr wrap="square" lIns="0" tIns="0" rIns="0" bIns="0" rtlCol="0" anchor="ctr"/>
          <a:lstStyle/>
          <a:p>
            <a:pPr indent="0" marL="0">
              <a:buNone/>
            </a:pPr>
            <a:r>
              <a:rPr lang="en-US" sz="2600" dirty="0">
                <a:solidFill>
                  <a:srgbClr val="11121A"/>
                </a:solidFill>
                <a:latin typeface="Palatino Linotype" pitchFamily="34" charset="0"/>
                <a:ea typeface="Palatino Linotype" pitchFamily="34" charset="-122"/>
                <a:cs typeface="Palatino Linotype" pitchFamily="34" charset="-120"/>
              </a:rPr>
              <a:t>2 % − 1 % = 1 %</a:t>
            </a:r>
            <a:endParaRPr lang="en-US" sz="2600" dirty="0"/>
          </a:p>
        </p:txBody>
      </p:sp>
      <p:sp>
        <p:nvSpPr>
          <p:cNvPr id="11" name="Text 9"/>
          <p:cNvSpPr/>
          <p:nvPr/>
        </p:nvSpPr>
        <p:spPr>
          <a:xfrm>
            <a:off x="6492240" y="3017520"/>
            <a:ext cx="4846320" cy="822960"/>
          </a:xfrm>
          <a:prstGeom prst="rect">
            <a:avLst/>
          </a:prstGeom>
          <a:noFill/>
          <a:ln/>
        </p:spPr>
        <p:txBody>
          <a:bodyPr wrap="square" lIns="0" tIns="0" rIns="0" bIns="0" rtlCol="0" anchor="ctr"/>
          <a:lstStyle/>
          <a:p>
            <a:pPr indent="0" marL="0">
              <a:buNone/>
            </a:pPr>
            <a:r>
              <a:rPr lang="en-US" sz="3000" b="1" dirty="0">
                <a:solidFill>
                  <a:srgbClr val="B02532"/>
                </a:solidFill>
                <a:latin typeface="Palatino Linotype" pitchFamily="34" charset="0"/>
                <a:ea typeface="Palatino Linotype" pitchFamily="34" charset="-122"/>
                <a:cs typeface="Palatino Linotype" pitchFamily="34" charset="-120"/>
              </a:rPr>
              <a:t>NNH = 1 / 0,01 = 100</a:t>
            </a:r>
            <a:endParaRPr lang="en-US" sz="3000" dirty="0"/>
          </a:p>
        </p:txBody>
      </p:sp>
      <p:sp>
        <p:nvSpPr>
          <p:cNvPr id="12" name="Shape 10"/>
          <p:cNvSpPr/>
          <p:nvPr/>
        </p:nvSpPr>
        <p:spPr>
          <a:xfrm>
            <a:off x="594360" y="4343400"/>
            <a:ext cx="10972800" cy="1371600"/>
          </a:xfrm>
          <a:prstGeom prst="roundRect">
            <a:avLst>
              <a:gd name="adj" fmla="val 6000"/>
            </a:avLst>
          </a:prstGeom>
          <a:solidFill>
            <a:srgbClr val="11121A"/>
          </a:solidFill>
          <a:ln w="12700">
            <a:solidFill>
              <a:srgbClr val="11121A"/>
            </a:solidFill>
            <a:prstDash val="solid"/>
          </a:ln>
        </p:spPr>
      </p:sp>
      <p:sp>
        <p:nvSpPr>
          <p:cNvPr id="13" name="Text 11"/>
          <p:cNvSpPr/>
          <p:nvPr/>
        </p:nvSpPr>
        <p:spPr>
          <a:xfrm>
            <a:off x="868680" y="4343400"/>
            <a:ext cx="10424160" cy="1371600"/>
          </a:xfrm>
          <a:prstGeom prst="rect">
            <a:avLst/>
          </a:prstGeom>
          <a:noFill/>
          <a:ln/>
        </p:spPr>
        <p:txBody>
          <a:bodyPr wrap="square" lIns="0" tIns="0" rIns="0" bIns="0" rtlCol="0" anchor="ctr"/>
          <a:lstStyle/>
          <a:p>
            <a:pPr indent="0" marL="0">
              <a:buNone/>
            </a:pPr>
            <a:r>
              <a:rPr lang="en-US" sz="2100" b="1" dirty="0">
                <a:solidFill>
                  <a:srgbClr val="FFFFFF"/>
                </a:solidFill>
                <a:latin typeface="Palatino Linotype" pitchFamily="34" charset="0"/>
                <a:ea typeface="Palatino Linotype" pitchFamily="34" charset="-122"/>
                <a:cs typeface="Palatino Linotype" pitchFamily="34" charset="-120"/>
              </a:rPr>
              <a:t>Pour 100 patients traités pendant trois ans : environ deux accidents vasculaires évités et une hémorragie grave de plus.</a:t>
            </a:r>
            <a:endParaRPr lang="en-US" sz="2100" dirty="0"/>
          </a:p>
        </p:txBody>
      </p:sp>
      <p:sp>
        <p:nvSpPr>
          <p:cNvPr id="14" name="Text 12"/>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Valeurs hypothétiques.</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NOUVEAU TERME 3</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Le paradoxe de la prévention</a:t>
            </a:r>
            <a:endParaRPr lang="en-US" sz="3200" dirty="0"/>
          </a:p>
        </p:txBody>
      </p:sp>
      <p:sp>
        <p:nvSpPr>
          <p:cNvPr id="4" name="Text 2"/>
          <p:cNvSpPr/>
          <p:nvPr/>
        </p:nvSpPr>
        <p:spPr>
          <a:xfrm>
            <a:off x="594360" y="1463040"/>
            <a:ext cx="10972800" cy="502920"/>
          </a:xfrm>
          <a:prstGeom prst="rect">
            <a:avLst/>
          </a:prstGeom>
          <a:noFill/>
          <a:ln/>
        </p:spPr>
        <p:txBody>
          <a:bodyPr wrap="square" lIns="0" tIns="0" rIns="0" bIns="0" rtlCol="0" anchor="t"/>
          <a:lstStyle/>
          <a:p>
            <a:pPr indent="0" marL="0">
              <a:buNone/>
            </a:pPr>
            <a:r>
              <a:rPr lang="en-US" sz="2000" b="1" dirty="0">
                <a:solidFill>
                  <a:srgbClr val="B02532"/>
                </a:solidFill>
                <a:latin typeface="Palatino Linotype" pitchFamily="34" charset="0"/>
                <a:ea typeface="Palatino Linotype" pitchFamily="34" charset="-122"/>
                <a:cs typeface="Palatino Linotype" pitchFamily="34" charset="-120"/>
              </a:rPr>
              <a:t>Une mesure qui apporte à chacun un petit bénéfice, mais à la population un grand bénéfice.</a:t>
            </a:r>
            <a:endParaRPr lang="en-US" sz="2000" dirty="0"/>
          </a:p>
        </p:txBody>
      </p:sp>
      <p:sp>
        <p:nvSpPr>
          <p:cNvPr id="5" name="Shape 3"/>
          <p:cNvSpPr/>
          <p:nvPr/>
        </p:nvSpPr>
        <p:spPr>
          <a:xfrm>
            <a:off x="594360" y="2194560"/>
            <a:ext cx="5349240" cy="3566160"/>
          </a:xfrm>
          <a:prstGeom prst="roundRect">
            <a:avLst>
              <a:gd name="adj" fmla="val 2308"/>
            </a:avLst>
          </a:prstGeom>
          <a:solidFill>
            <a:srgbClr val="11121A"/>
          </a:solidFill>
          <a:ln w="12700">
            <a:solidFill>
              <a:srgbClr val="11121A"/>
            </a:solidFill>
            <a:prstDash val="solid"/>
          </a:ln>
        </p:spPr>
      </p:sp>
      <p:sp>
        <p:nvSpPr>
          <p:cNvPr id="6" name="Text 4"/>
          <p:cNvSpPr/>
          <p:nvPr/>
        </p:nvSpPr>
        <p:spPr>
          <a:xfrm>
            <a:off x="868680" y="2331720"/>
            <a:ext cx="4846320" cy="2011680"/>
          </a:xfrm>
          <a:prstGeom prst="rect">
            <a:avLst/>
          </a:prstGeom>
          <a:noFill/>
          <a:ln/>
        </p:spPr>
        <p:txBody>
          <a:bodyPr wrap="square" lIns="0" tIns="0" rIns="0" bIns="0" rtlCol="0" anchor="t"/>
          <a:lstStyle/>
          <a:p>
            <a:pPr indent="0" marL="0">
              <a:buNone/>
            </a:pPr>
            <a:r>
              <a:rPr lang="en-US" sz="1900" i="1" dirty="0">
                <a:solidFill>
                  <a:srgbClr val="FFFFFF"/>
                </a:solidFill>
                <a:latin typeface="Palatino Linotype" pitchFamily="34" charset="0"/>
                <a:ea typeface="Palatino Linotype" pitchFamily="34" charset="-122"/>
                <a:cs typeface="Palatino Linotype" pitchFamily="34" charset="-120"/>
              </a:rPr>
              <a:t>« A preventive measure which brings much benefit to the population offers little to each participating individual »</a:t>
            </a:r>
            <a:endParaRPr lang="en-US" sz="1900" dirty="0"/>
          </a:p>
        </p:txBody>
      </p:sp>
      <p:sp>
        <p:nvSpPr>
          <p:cNvPr id="7" name="Text 5"/>
          <p:cNvSpPr/>
          <p:nvPr/>
        </p:nvSpPr>
        <p:spPr>
          <a:xfrm>
            <a:off x="868680" y="4389120"/>
            <a:ext cx="4846320" cy="365760"/>
          </a:xfrm>
          <a:prstGeom prst="rect">
            <a:avLst/>
          </a:prstGeom>
          <a:noFill/>
          <a:ln/>
        </p:spPr>
        <p:txBody>
          <a:bodyPr wrap="square" lIns="0" tIns="0" rIns="0" bIns="0" rtlCol="0" anchor="t"/>
          <a:lstStyle/>
          <a:p>
            <a:pPr indent="0" marL="0">
              <a:buNone/>
            </a:pPr>
            <a:r>
              <a:rPr lang="en-US" sz="1500" b="1" dirty="0">
                <a:solidFill>
                  <a:srgbClr val="FFC24B"/>
                </a:solidFill>
                <a:latin typeface="Palatino Linotype" pitchFamily="34" charset="0"/>
                <a:ea typeface="Palatino Linotype" pitchFamily="34" charset="-122"/>
                <a:cs typeface="Palatino Linotype" pitchFamily="34" charset="-120"/>
              </a:rPr>
              <a:t>Geoffrey Rose, 1985</a:t>
            </a:r>
            <a:endParaRPr lang="en-US" sz="1500" dirty="0"/>
          </a:p>
        </p:txBody>
      </p:sp>
      <p:sp>
        <p:nvSpPr>
          <p:cNvPr id="8" name="Shape 6"/>
          <p:cNvSpPr/>
          <p:nvPr/>
        </p:nvSpPr>
        <p:spPr>
          <a:xfrm>
            <a:off x="6217920" y="2194560"/>
            <a:ext cx="5349240" cy="3566160"/>
          </a:xfrm>
          <a:prstGeom prst="roundRect">
            <a:avLst>
              <a:gd name="adj" fmla="val 2308"/>
            </a:avLst>
          </a:prstGeom>
          <a:solidFill>
            <a:srgbClr val="ECEAE4"/>
          </a:solidFill>
          <a:ln w="12700">
            <a:solidFill>
              <a:srgbClr val="ECEAE4"/>
            </a:solidFill>
            <a:prstDash val="solid"/>
          </a:ln>
        </p:spPr>
      </p:sp>
      <p:sp>
        <p:nvSpPr>
          <p:cNvPr id="9" name="Text 7"/>
          <p:cNvSpPr/>
          <p:nvPr/>
        </p:nvSpPr>
        <p:spPr>
          <a:xfrm>
            <a:off x="6492240" y="2286000"/>
            <a:ext cx="4846320" cy="365760"/>
          </a:xfrm>
          <a:prstGeom prst="rect">
            <a:avLst/>
          </a:prstGeom>
          <a:noFill/>
          <a:ln/>
        </p:spPr>
        <p:txBody>
          <a:bodyPr wrap="square" lIns="0" tIns="0" rIns="0" bIns="0" rtlCol="0" anchor="t"/>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LA RÉÉVALUATION DE 2018</a:t>
            </a:r>
            <a:endParaRPr lang="en-US" sz="1300" dirty="0"/>
          </a:p>
        </p:txBody>
      </p:sp>
      <p:sp>
        <p:nvSpPr>
          <p:cNvPr id="10" name="Text 8"/>
          <p:cNvSpPr/>
          <p:nvPr/>
        </p:nvSpPr>
        <p:spPr>
          <a:xfrm>
            <a:off x="6492240" y="2697480"/>
            <a:ext cx="4846320" cy="297180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L’exemple de Rose : davantage d’enfants atteints du syndrome de Down naissent de mères jeunes, bien que le risque individuel soit plus élevé chez les mères âgées, parce que beaucoup plus de grossesses surviennent chez les femmes jeunes. Il en va de même pour les maladies cardiovasculaires.</a:t>
            </a:r>
            <a:endParaRPr lang="en-US" sz="1600" dirty="0"/>
          </a:p>
        </p:txBody>
      </p:sp>
      <p:sp>
        <p:nvSpPr>
          <p:cNvPr id="11" name="Text 9"/>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Rose, « Sick individuals and sick populations », 1985.</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229600" y="292608"/>
            <a:ext cx="333756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229600" y="292608"/>
            <a:ext cx="333756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UNE POPULATION DE 1 000 ADULTES</a:t>
            </a:r>
            <a:endParaRPr lang="en-US" sz="1300" dirty="0"/>
          </a:p>
        </p:txBody>
      </p:sp>
      <p:sp>
        <p:nvSpPr>
          <p:cNvPr id="5" name="Text 3"/>
          <p:cNvSpPr/>
          <p:nvPr/>
        </p:nvSpPr>
        <p:spPr>
          <a:xfrm>
            <a:off x="594360" y="713232"/>
            <a:ext cx="758952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Qui produit le plus de cas ?</a:t>
            </a:r>
            <a:endParaRPr lang="en-US" sz="3200" dirty="0"/>
          </a:p>
        </p:txBody>
      </p:sp>
      <p:sp>
        <p:nvSpPr>
          <p:cNvPr id="6" name="Shape 4"/>
          <p:cNvSpPr/>
          <p:nvPr/>
        </p:nvSpPr>
        <p:spPr>
          <a:xfrm>
            <a:off x="594360" y="1645920"/>
            <a:ext cx="5349240" cy="1463040"/>
          </a:xfrm>
          <a:prstGeom prst="roundRect">
            <a:avLst>
              <a:gd name="adj" fmla="val 5625"/>
            </a:avLst>
          </a:prstGeom>
          <a:solidFill>
            <a:srgbClr val="1D1F2B"/>
          </a:solidFill>
          <a:ln w="12700">
            <a:solidFill>
              <a:srgbClr val="1D1F2B"/>
            </a:solidFill>
            <a:prstDash val="solid"/>
          </a:ln>
        </p:spPr>
      </p:sp>
      <p:sp>
        <p:nvSpPr>
          <p:cNvPr id="7" name="Text 5"/>
          <p:cNvSpPr/>
          <p:nvPr/>
        </p:nvSpPr>
        <p:spPr>
          <a:xfrm>
            <a:off x="868680" y="1755648"/>
            <a:ext cx="4800600" cy="731520"/>
          </a:xfrm>
          <a:prstGeom prst="rect">
            <a:avLst/>
          </a:prstGeom>
          <a:noFill/>
          <a:ln/>
        </p:spPr>
        <p:txBody>
          <a:bodyPr wrap="square" lIns="0" tIns="0" rIns="0" bIns="0" rtlCol="0" anchor="ctr"/>
          <a:lstStyle/>
          <a:p>
            <a:pPr indent="0" marL="0">
              <a:buNone/>
            </a:pPr>
            <a:r>
              <a:rPr lang="en-US" sz="4000" b="1" dirty="0">
                <a:solidFill>
                  <a:srgbClr val="FF4757"/>
                </a:solidFill>
                <a:latin typeface="Palatino Linotype" pitchFamily="34" charset="0"/>
                <a:ea typeface="Palatino Linotype" pitchFamily="34" charset="-122"/>
                <a:cs typeface="Palatino Linotype" pitchFamily="34" charset="-120"/>
              </a:rPr>
              <a:t>100</a:t>
            </a:r>
            <a:endParaRPr lang="en-US" sz="4000" dirty="0"/>
          </a:p>
        </p:txBody>
      </p:sp>
      <p:sp>
        <p:nvSpPr>
          <p:cNvPr id="8" name="Text 6"/>
          <p:cNvSpPr/>
          <p:nvPr/>
        </p:nvSpPr>
        <p:spPr>
          <a:xfrm>
            <a:off x="868680" y="2395728"/>
            <a:ext cx="4800600" cy="672998"/>
          </a:xfrm>
          <a:prstGeom prst="rect">
            <a:avLst/>
          </a:prstGeom>
          <a:noFill/>
          <a:ln/>
        </p:spPr>
        <p:txBody>
          <a:bodyPr wrap="square" lIns="0" tIns="0" rIns="0" bIns="0" rtlCol="0" anchor="t"/>
          <a:lstStyle/>
          <a:p>
            <a:pPr indent="0" marL="0">
              <a:buNone/>
            </a:pPr>
            <a:r>
              <a:rPr lang="en-US" sz="1200" dirty="0">
                <a:solidFill>
                  <a:srgbClr val="FFFFFF"/>
                </a:solidFill>
                <a:latin typeface="Palatino Linotype" pitchFamily="34" charset="0"/>
                <a:ea typeface="Palatino Linotype" pitchFamily="34" charset="-122"/>
                <a:cs typeface="Palatino Linotype" pitchFamily="34" charset="-120"/>
              </a:rPr>
              <a:t>à risque élevé : 10 % à dix ans</a:t>
            </a:r>
            <a:endParaRPr lang="en-US" sz="1200" dirty="0"/>
          </a:p>
        </p:txBody>
      </p:sp>
      <p:sp>
        <p:nvSpPr>
          <p:cNvPr id="9" name="Shape 7"/>
          <p:cNvSpPr/>
          <p:nvPr/>
        </p:nvSpPr>
        <p:spPr>
          <a:xfrm>
            <a:off x="6217920" y="1645920"/>
            <a:ext cx="5349240" cy="1463040"/>
          </a:xfrm>
          <a:prstGeom prst="roundRect">
            <a:avLst>
              <a:gd name="adj" fmla="val 5625"/>
            </a:avLst>
          </a:prstGeom>
          <a:solidFill>
            <a:srgbClr val="1D1F2B"/>
          </a:solidFill>
          <a:ln w="12700">
            <a:solidFill>
              <a:srgbClr val="1D1F2B"/>
            </a:solidFill>
            <a:prstDash val="solid"/>
          </a:ln>
        </p:spPr>
      </p:sp>
      <p:sp>
        <p:nvSpPr>
          <p:cNvPr id="10" name="Text 8"/>
          <p:cNvSpPr/>
          <p:nvPr/>
        </p:nvSpPr>
        <p:spPr>
          <a:xfrm>
            <a:off x="6492240" y="1755648"/>
            <a:ext cx="4800600" cy="731520"/>
          </a:xfrm>
          <a:prstGeom prst="rect">
            <a:avLst/>
          </a:prstGeom>
          <a:noFill/>
          <a:ln/>
        </p:spPr>
        <p:txBody>
          <a:bodyPr wrap="square" lIns="0" tIns="0" rIns="0" bIns="0" rtlCol="0" anchor="ctr"/>
          <a:lstStyle/>
          <a:p>
            <a:pPr indent="0" marL="0">
              <a:buNone/>
            </a:pPr>
            <a:r>
              <a:rPr lang="en-US" sz="4000" b="1" dirty="0">
                <a:solidFill>
                  <a:srgbClr val="27D3BE"/>
                </a:solidFill>
                <a:latin typeface="Palatino Linotype" pitchFamily="34" charset="0"/>
                <a:ea typeface="Palatino Linotype" pitchFamily="34" charset="-122"/>
                <a:cs typeface="Palatino Linotype" pitchFamily="34" charset="-120"/>
              </a:rPr>
              <a:t>900</a:t>
            </a:r>
            <a:endParaRPr lang="en-US" sz="4000" dirty="0"/>
          </a:p>
        </p:txBody>
      </p:sp>
      <p:sp>
        <p:nvSpPr>
          <p:cNvPr id="11" name="Text 9"/>
          <p:cNvSpPr/>
          <p:nvPr/>
        </p:nvSpPr>
        <p:spPr>
          <a:xfrm>
            <a:off x="6492240" y="2395728"/>
            <a:ext cx="4800600" cy="672998"/>
          </a:xfrm>
          <a:prstGeom prst="rect">
            <a:avLst/>
          </a:prstGeom>
          <a:noFill/>
          <a:ln/>
        </p:spPr>
        <p:txBody>
          <a:bodyPr wrap="square" lIns="0" tIns="0" rIns="0" bIns="0" rtlCol="0" anchor="t"/>
          <a:lstStyle/>
          <a:p>
            <a:pPr indent="0" marL="0">
              <a:buNone/>
            </a:pPr>
            <a:r>
              <a:rPr lang="en-US" sz="1200" dirty="0">
                <a:solidFill>
                  <a:srgbClr val="FFFFFF"/>
                </a:solidFill>
                <a:latin typeface="Palatino Linotype" pitchFamily="34" charset="0"/>
                <a:ea typeface="Palatino Linotype" pitchFamily="34" charset="-122"/>
                <a:cs typeface="Palatino Linotype" pitchFamily="34" charset="-120"/>
              </a:rPr>
              <a:t>à risque modéré : 2 % à dix ans</a:t>
            </a:r>
            <a:endParaRPr lang="en-US" sz="1200" dirty="0"/>
          </a:p>
        </p:txBody>
      </p:sp>
      <p:sp>
        <p:nvSpPr>
          <p:cNvPr id="12" name="Shape 10"/>
          <p:cNvSpPr/>
          <p:nvPr/>
        </p:nvSpPr>
        <p:spPr>
          <a:xfrm>
            <a:off x="594360" y="3337560"/>
            <a:ext cx="10972800" cy="530352"/>
          </a:xfrm>
          <a:prstGeom prst="roundRect">
            <a:avLst>
              <a:gd name="adj" fmla="val 15517"/>
            </a:avLst>
          </a:prstGeom>
          <a:solidFill>
            <a:srgbClr val="1D1F2B"/>
          </a:solidFill>
          <a:ln w="12700">
            <a:solidFill>
              <a:srgbClr val="1D1F2B"/>
            </a:solidFill>
            <a:prstDash val="solid"/>
          </a:ln>
        </p:spPr>
      </p:sp>
      <p:sp>
        <p:nvSpPr>
          <p:cNvPr id="13" name="Shape 11"/>
          <p:cNvSpPr/>
          <p:nvPr/>
        </p:nvSpPr>
        <p:spPr>
          <a:xfrm>
            <a:off x="777240" y="3392424"/>
            <a:ext cx="420624" cy="420624"/>
          </a:xfrm>
          <a:prstGeom prst="ellipse">
            <a:avLst/>
          </a:prstGeom>
          <a:solidFill>
            <a:srgbClr val="FFC24B"/>
          </a:solidFill>
          <a:ln/>
        </p:spPr>
      </p:sp>
      <p:sp>
        <p:nvSpPr>
          <p:cNvPr id="14" name="Text 12"/>
          <p:cNvSpPr/>
          <p:nvPr/>
        </p:nvSpPr>
        <p:spPr>
          <a:xfrm>
            <a:off x="777240" y="339242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15" name="Text 13"/>
          <p:cNvSpPr/>
          <p:nvPr/>
        </p:nvSpPr>
        <p:spPr>
          <a:xfrm>
            <a:off x="1371600" y="3337560"/>
            <a:ext cx="10058400" cy="530352"/>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Les 100 à risque élevé</a:t>
            </a:r>
            <a:endParaRPr lang="en-US" sz="2000" dirty="0"/>
          </a:p>
        </p:txBody>
      </p:sp>
      <p:sp>
        <p:nvSpPr>
          <p:cNvPr id="16" name="Shape 14"/>
          <p:cNvSpPr/>
          <p:nvPr/>
        </p:nvSpPr>
        <p:spPr>
          <a:xfrm>
            <a:off x="594360" y="3995928"/>
            <a:ext cx="10972800" cy="530352"/>
          </a:xfrm>
          <a:prstGeom prst="roundRect">
            <a:avLst>
              <a:gd name="adj" fmla="val 15517"/>
            </a:avLst>
          </a:prstGeom>
          <a:solidFill>
            <a:srgbClr val="1D1F2B"/>
          </a:solidFill>
          <a:ln w="12700">
            <a:solidFill>
              <a:srgbClr val="1D1F2B"/>
            </a:solidFill>
            <a:prstDash val="solid"/>
          </a:ln>
        </p:spPr>
      </p:sp>
      <p:sp>
        <p:nvSpPr>
          <p:cNvPr id="17" name="Shape 15"/>
          <p:cNvSpPr/>
          <p:nvPr/>
        </p:nvSpPr>
        <p:spPr>
          <a:xfrm>
            <a:off x="777240" y="4050792"/>
            <a:ext cx="420624" cy="420624"/>
          </a:xfrm>
          <a:prstGeom prst="ellipse">
            <a:avLst/>
          </a:prstGeom>
          <a:solidFill>
            <a:srgbClr val="FFC24B"/>
          </a:solidFill>
          <a:ln/>
        </p:spPr>
      </p:sp>
      <p:sp>
        <p:nvSpPr>
          <p:cNvPr id="18" name="Text 16"/>
          <p:cNvSpPr/>
          <p:nvPr/>
        </p:nvSpPr>
        <p:spPr>
          <a:xfrm>
            <a:off x="777240" y="405079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9" name="Text 17"/>
          <p:cNvSpPr/>
          <p:nvPr/>
        </p:nvSpPr>
        <p:spPr>
          <a:xfrm>
            <a:off x="1371600" y="3995928"/>
            <a:ext cx="10058400" cy="530352"/>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Les 900 à risque modéré</a:t>
            </a:r>
            <a:endParaRPr lang="en-US" sz="2000" dirty="0"/>
          </a:p>
        </p:txBody>
      </p:sp>
      <p:sp>
        <p:nvSpPr>
          <p:cNvPr id="20" name="Shape 18"/>
          <p:cNvSpPr/>
          <p:nvPr/>
        </p:nvSpPr>
        <p:spPr>
          <a:xfrm>
            <a:off x="594360" y="4654296"/>
            <a:ext cx="10972800" cy="530352"/>
          </a:xfrm>
          <a:prstGeom prst="roundRect">
            <a:avLst>
              <a:gd name="adj" fmla="val 15517"/>
            </a:avLst>
          </a:prstGeom>
          <a:solidFill>
            <a:srgbClr val="1D1F2B"/>
          </a:solidFill>
          <a:ln w="12700">
            <a:solidFill>
              <a:srgbClr val="1D1F2B"/>
            </a:solidFill>
            <a:prstDash val="solid"/>
          </a:ln>
        </p:spPr>
      </p:sp>
      <p:sp>
        <p:nvSpPr>
          <p:cNvPr id="21" name="Shape 19"/>
          <p:cNvSpPr/>
          <p:nvPr/>
        </p:nvSpPr>
        <p:spPr>
          <a:xfrm>
            <a:off x="777240" y="4709160"/>
            <a:ext cx="420624" cy="420624"/>
          </a:xfrm>
          <a:prstGeom prst="ellipse">
            <a:avLst/>
          </a:prstGeom>
          <a:solidFill>
            <a:srgbClr val="FFC24B"/>
          </a:solidFill>
          <a:ln/>
        </p:spPr>
      </p:sp>
      <p:sp>
        <p:nvSpPr>
          <p:cNvPr id="22" name="Text 20"/>
          <p:cNvSpPr/>
          <p:nvPr/>
        </p:nvSpPr>
        <p:spPr>
          <a:xfrm>
            <a:off x="777240" y="470916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23" name="Text 21"/>
          <p:cNvSpPr/>
          <p:nvPr/>
        </p:nvSpPr>
        <p:spPr>
          <a:xfrm>
            <a:off x="1371600" y="4654296"/>
            <a:ext cx="10058400" cy="530352"/>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Autant l’un que l’autre</a:t>
            </a:r>
            <a:endParaRPr lang="en-US" sz="2000" dirty="0"/>
          </a:p>
        </p:txBody>
      </p:sp>
      <p:sp>
        <p:nvSpPr>
          <p:cNvPr id="24" name="Text 22"/>
          <p:cNvSpPr/>
          <p:nvPr/>
        </p:nvSpPr>
        <p:spPr>
          <a:xfrm>
            <a:off x="594360" y="5394960"/>
            <a:ext cx="10972800" cy="457200"/>
          </a:xfrm>
          <a:prstGeom prst="rect">
            <a:avLst/>
          </a:prstGeom>
          <a:noFill/>
          <a:ln/>
        </p:spPr>
        <p:txBody>
          <a:bodyPr wrap="square" lIns="0" tIns="0" rIns="0" bIns="0" rtlCol="0" anchor="t"/>
          <a:lstStyle/>
          <a:p>
            <a:pPr indent="0" marL="0">
              <a:buNone/>
            </a:pPr>
            <a:r>
              <a:rPr lang="en-US" sz="2000" b="1" dirty="0">
                <a:solidFill>
                  <a:srgbClr val="FFC24B"/>
                </a:solidFill>
                <a:latin typeface="Palatino Linotype" pitchFamily="34" charset="0"/>
                <a:ea typeface="Palatino Linotype" pitchFamily="34" charset="-122"/>
                <a:cs typeface="Palatino Linotype" pitchFamily="34" charset="-120"/>
              </a:rPr>
              <a:t>Répondez sur votre téléphone, au code affiché.</a:t>
            </a:r>
            <a:endParaRPr lang="en-US" sz="2000" dirty="0"/>
          </a:p>
        </p:txBody>
      </p:sp>
      <p:sp>
        <p:nvSpPr>
          <p:cNvPr id="25" name="Text 23"/>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Valeurs hypothétiques.</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LA RÉPONSE : B</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Beaucoup à risque modéré : 18 cas contre 10</a:t>
            </a:r>
            <a:endParaRPr lang="en-US" sz="3200" dirty="0"/>
          </a:p>
        </p:txBody>
      </p:sp>
      <p:sp>
        <p:nvSpPr>
          <p:cNvPr id="4" name="Shape 2"/>
          <p:cNvSpPr/>
          <p:nvPr/>
        </p:nvSpPr>
        <p:spPr>
          <a:xfrm>
            <a:off x="1280160" y="3393440"/>
            <a:ext cx="1645920" cy="1727200"/>
          </a:xfrm>
          <a:prstGeom prst="rect">
            <a:avLst/>
          </a:prstGeom>
          <a:solidFill>
            <a:srgbClr val="B02532"/>
          </a:solidFill>
          <a:ln w="12700">
            <a:solidFill>
              <a:srgbClr val="B02532"/>
            </a:solidFill>
            <a:prstDash val="solid"/>
          </a:ln>
        </p:spPr>
      </p:sp>
      <p:sp>
        <p:nvSpPr>
          <p:cNvPr id="5" name="Text 3"/>
          <p:cNvSpPr/>
          <p:nvPr/>
        </p:nvSpPr>
        <p:spPr>
          <a:xfrm>
            <a:off x="1005840" y="2936240"/>
            <a:ext cx="2194560" cy="384048"/>
          </a:xfrm>
          <a:prstGeom prst="rect">
            <a:avLst/>
          </a:prstGeom>
          <a:noFill/>
          <a:ln/>
        </p:spPr>
        <p:txBody>
          <a:bodyPr wrap="square" lIns="0" tIns="0" rIns="0" bIns="0" rtlCol="0" anchor="b"/>
          <a:lstStyle/>
          <a:p>
            <a:pPr algn="ctr" indent="0" marL="0">
              <a:buNone/>
            </a:pPr>
            <a:r>
              <a:rPr lang="en-US" sz="2000" b="1" dirty="0">
                <a:solidFill>
                  <a:srgbClr val="11121A"/>
                </a:solidFill>
                <a:latin typeface="Palatino Linotype" pitchFamily="34" charset="0"/>
                <a:ea typeface="Palatino Linotype" pitchFamily="34" charset="-122"/>
                <a:cs typeface="Palatino Linotype" pitchFamily="34" charset="-120"/>
              </a:rPr>
              <a:t>10 cas</a:t>
            </a:r>
            <a:endParaRPr lang="en-US" sz="2000" dirty="0"/>
          </a:p>
        </p:txBody>
      </p:sp>
      <p:sp>
        <p:nvSpPr>
          <p:cNvPr id="6" name="Text 4"/>
          <p:cNvSpPr/>
          <p:nvPr/>
        </p:nvSpPr>
        <p:spPr>
          <a:xfrm>
            <a:off x="1005840" y="5193792"/>
            <a:ext cx="2194560" cy="365760"/>
          </a:xfrm>
          <a:prstGeom prst="rect">
            <a:avLst/>
          </a:prstGeom>
          <a:noFill/>
          <a:ln/>
        </p:spPr>
        <p:txBody>
          <a:bodyPr wrap="square" lIns="0" tIns="0" rIns="0" bIns="0" rtlCol="0" anchor="t"/>
          <a:lstStyle/>
          <a:p>
            <a:pPr algn="ctr" indent="0" marL="0">
              <a:buNone/>
            </a:pPr>
            <a:r>
              <a:rPr lang="en-US" sz="1400" dirty="0">
                <a:solidFill>
                  <a:srgbClr val="11121A"/>
                </a:solidFill>
                <a:latin typeface="Palatino Linotype" pitchFamily="34" charset="0"/>
                <a:ea typeface="Palatino Linotype" pitchFamily="34" charset="-122"/>
                <a:cs typeface="Palatino Linotype" pitchFamily="34" charset="-120"/>
              </a:rPr>
              <a:t>100 × 0,10</a:t>
            </a:r>
            <a:endParaRPr lang="en-US" sz="1400" dirty="0"/>
          </a:p>
        </p:txBody>
      </p:sp>
      <p:sp>
        <p:nvSpPr>
          <p:cNvPr id="7" name="Shape 5"/>
          <p:cNvSpPr/>
          <p:nvPr/>
        </p:nvSpPr>
        <p:spPr>
          <a:xfrm>
            <a:off x="4206240" y="2011680"/>
            <a:ext cx="1645920" cy="3108960"/>
          </a:xfrm>
          <a:prstGeom prst="rect">
            <a:avLst/>
          </a:prstGeom>
          <a:solidFill>
            <a:srgbClr val="0E7C6B"/>
          </a:solidFill>
          <a:ln w="12700">
            <a:solidFill>
              <a:srgbClr val="0E7C6B"/>
            </a:solidFill>
            <a:prstDash val="solid"/>
          </a:ln>
        </p:spPr>
      </p:sp>
      <p:sp>
        <p:nvSpPr>
          <p:cNvPr id="8" name="Text 6"/>
          <p:cNvSpPr/>
          <p:nvPr/>
        </p:nvSpPr>
        <p:spPr>
          <a:xfrm>
            <a:off x="3931920" y="1554480"/>
            <a:ext cx="2194560" cy="384048"/>
          </a:xfrm>
          <a:prstGeom prst="rect">
            <a:avLst/>
          </a:prstGeom>
          <a:noFill/>
          <a:ln/>
        </p:spPr>
        <p:txBody>
          <a:bodyPr wrap="square" lIns="0" tIns="0" rIns="0" bIns="0" rtlCol="0" anchor="b"/>
          <a:lstStyle/>
          <a:p>
            <a:pPr algn="ctr" indent="0" marL="0">
              <a:buNone/>
            </a:pPr>
            <a:r>
              <a:rPr lang="en-US" sz="2000" b="1" dirty="0">
                <a:solidFill>
                  <a:srgbClr val="11121A"/>
                </a:solidFill>
                <a:latin typeface="Palatino Linotype" pitchFamily="34" charset="0"/>
                <a:ea typeface="Palatino Linotype" pitchFamily="34" charset="-122"/>
                <a:cs typeface="Palatino Linotype" pitchFamily="34" charset="-120"/>
              </a:rPr>
              <a:t>18 cas</a:t>
            </a:r>
            <a:endParaRPr lang="en-US" sz="2000" dirty="0"/>
          </a:p>
        </p:txBody>
      </p:sp>
      <p:sp>
        <p:nvSpPr>
          <p:cNvPr id="9" name="Text 7"/>
          <p:cNvSpPr/>
          <p:nvPr/>
        </p:nvSpPr>
        <p:spPr>
          <a:xfrm>
            <a:off x="3931920" y="5193792"/>
            <a:ext cx="2194560" cy="365760"/>
          </a:xfrm>
          <a:prstGeom prst="rect">
            <a:avLst/>
          </a:prstGeom>
          <a:noFill/>
          <a:ln/>
        </p:spPr>
        <p:txBody>
          <a:bodyPr wrap="square" lIns="0" tIns="0" rIns="0" bIns="0" rtlCol="0" anchor="t"/>
          <a:lstStyle/>
          <a:p>
            <a:pPr algn="ctr" indent="0" marL="0">
              <a:buNone/>
            </a:pPr>
            <a:r>
              <a:rPr lang="en-US" sz="1400" dirty="0">
                <a:solidFill>
                  <a:srgbClr val="11121A"/>
                </a:solidFill>
                <a:latin typeface="Palatino Linotype" pitchFamily="34" charset="0"/>
                <a:ea typeface="Palatino Linotype" pitchFamily="34" charset="-122"/>
                <a:cs typeface="Palatino Linotype" pitchFamily="34" charset="-120"/>
              </a:rPr>
              <a:t>900 × 0,02</a:t>
            </a:r>
            <a:endParaRPr lang="en-US" sz="1400" dirty="0"/>
          </a:p>
        </p:txBody>
      </p:sp>
      <p:sp>
        <p:nvSpPr>
          <p:cNvPr id="10" name="Shape 8"/>
          <p:cNvSpPr/>
          <p:nvPr/>
        </p:nvSpPr>
        <p:spPr>
          <a:xfrm>
            <a:off x="1097280" y="5120640"/>
            <a:ext cx="4937760" cy="22860"/>
          </a:xfrm>
          <a:prstGeom prst="rect">
            <a:avLst/>
          </a:prstGeom>
          <a:solidFill>
            <a:srgbClr val="C9C6BE"/>
          </a:solidFill>
          <a:ln w="12700">
            <a:solidFill>
              <a:srgbClr val="C9C6BE"/>
            </a:solidFill>
            <a:prstDash val="solid"/>
          </a:ln>
        </p:spPr>
      </p:sp>
      <p:sp>
        <p:nvSpPr>
          <p:cNvPr id="11" name="Shape 9"/>
          <p:cNvSpPr/>
          <p:nvPr/>
        </p:nvSpPr>
        <p:spPr>
          <a:xfrm>
            <a:off x="6217920" y="1737360"/>
            <a:ext cx="5349240" cy="3931920"/>
          </a:xfrm>
          <a:prstGeom prst="roundRect">
            <a:avLst>
              <a:gd name="adj" fmla="val 2093"/>
            </a:avLst>
          </a:prstGeom>
          <a:solidFill>
            <a:srgbClr val="ECEAE4"/>
          </a:solidFill>
          <a:ln w="12700">
            <a:solidFill>
              <a:srgbClr val="ECEAE4"/>
            </a:solidFill>
            <a:prstDash val="solid"/>
          </a:ln>
        </p:spPr>
      </p:sp>
      <p:sp>
        <p:nvSpPr>
          <p:cNvPr id="12" name="Text 10"/>
          <p:cNvSpPr/>
          <p:nvPr/>
        </p:nvSpPr>
        <p:spPr>
          <a:xfrm>
            <a:off x="6492240" y="1874520"/>
            <a:ext cx="4846320" cy="1828800"/>
          </a:xfrm>
          <a:prstGeom prst="rect">
            <a:avLst/>
          </a:prstGeom>
          <a:noFill/>
          <a:ln/>
        </p:spPr>
        <p:txBody>
          <a:bodyPr wrap="square" lIns="0" tIns="0" rIns="0" bIns="0" rtlCol="0" anchor="t"/>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Le groupe à risque modéré produit près des deux tiers des cas (18 sur 28), bien que le risque de chacun soit cinq fois plus faible.</a:t>
            </a:r>
            <a:endParaRPr lang="en-US" sz="1800" dirty="0"/>
          </a:p>
        </p:txBody>
      </p:sp>
      <p:sp>
        <p:nvSpPr>
          <p:cNvPr id="13" name="Text 11"/>
          <p:cNvSpPr/>
          <p:nvPr/>
        </p:nvSpPr>
        <p:spPr>
          <a:xfrm>
            <a:off x="6492240" y="3749040"/>
            <a:ext cx="4846320" cy="182880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Un programme limité au risque élevé prévient au mieux une partie des 10 ; les 18 autres restent.</a:t>
            </a:r>
            <a:endParaRPr lang="en-US" sz="1700" dirty="0"/>
          </a:p>
        </p:txBody>
      </p:sp>
      <p:sp>
        <p:nvSpPr>
          <p:cNvPr id="14" name="Text 12"/>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Valeurs hypothétiques.</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TABLEAU 4.4</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Deux stratégies</a:t>
            </a:r>
            <a:endParaRPr lang="en-US" sz="3200" dirty="0"/>
          </a:p>
        </p:txBody>
      </p:sp>
      <p:sp>
        <p:nvSpPr>
          <p:cNvPr id="4" name="Text 2"/>
          <p:cNvSpPr/>
          <p:nvPr/>
        </p:nvSpPr>
        <p:spPr>
          <a:xfrm>
            <a:off x="667512" y="1481328"/>
            <a:ext cx="1682496" cy="566928"/>
          </a:xfrm>
          <a:prstGeom prst="rect">
            <a:avLst/>
          </a:prstGeom>
          <a:noFill/>
          <a:ln/>
        </p:spPr>
        <p:txBody>
          <a:bodyPr wrap="square" lIns="0" tIns="0" rIns="0" bIns="0" rtlCol="0" anchor="ctr"/>
          <a:lstStyle/>
          <a:p>
            <a:pPr algn="l" indent="0" marL="0">
              <a:buNone/>
            </a:pPr>
            <a:endParaRPr lang="en-US" sz="1400" dirty="0"/>
          </a:p>
        </p:txBody>
      </p:sp>
      <p:sp>
        <p:nvSpPr>
          <p:cNvPr id="5" name="Text 3"/>
          <p:cNvSpPr/>
          <p:nvPr/>
        </p:nvSpPr>
        <p:spPr>
          <a:xfrm>
            <a:off x="2496312" y="1481328"/>
            <a:ext cx="4425696" cy="566928"/>
          </a:xfrm>
          <a:prstGeom prst="rect">
            <a:avLst/>
          </a:prstGeom>
          <a:noFill/>
          <a:ln/>
        </p:spPr>
        <p:txBody>
          <a:bodyPr wrap="square" lIns="0" tIns="0" rIns="0" bIns="0" rtlCol="0" anchor="ctr"/>
          <a:lstStyle/>
          <a:p>
            <a:pPr algn="ctr" indent="0" marL="0">
              <a:buNone/>
            </a:pPr>
            <a:r>
              <a:rPr lang="en-US" sz="1400" b="1" dirty="0">
                <a:solidFill>
                  <a:srgbClr val="B02532"/>
                </a:solidFill>
                <a:latin typeface="Palatino Linotype" pitchFamily="34" charset="0"/>
                <a:ea typeface="Palatino Linotype" pitchFamily="34" charset="-122"/>
                <a:cs typeface="Palatino Linotype" pitchFamily="34" charset="-120"/>
              </a:rPr>
              <a:t>Haut risque</a:t>
            </a:r>
            <a:endParaRPr lang="en-US" sz="1400" dirty="0"/>
          </a:p>
        </p:txBody>
      </p:sp>
      <p:sp>
        <p:nvSpPr>
          <p:cNvPr id="6" name="Text 4"/>
          <p:cNvSpPr/>
          <p:nvPr/>
        </p:nvSpPr>
        <p:spPr>
          <a:xfrm>
            <a:off x="7068312" y="1481328"/>
            <a:ext cx="4425696" cy="566928"/>
          </a:xfrm>
          <a:prstGeom prst="rect">
            <a:avLst/>
          </a:prstGeom>
          <a:noFill/>
          <a:ln/>
        </p:spPr>
        <p:txBody>
          <a:bodyPr wrap="square" lIns="0" tIns="0" rIns="0" bIns="0" rtlCol="0" anchor="ctr"/>
          <a:lstStyle/>
          <a:p>
            <a:pPr algn="ctr" indent="0" marL="0">
              <a:buNone/>
            </a:pPr>
            <a:r>
              <a:rPr lang="en-US" sz="1400" b="1" dirty="0">
                <a:solidFill>
                  <a:srgbClr val="B02532"/>
                </a:solidFill>
                <a:latin typeface="Palatino Linotype" pitchFamily="34" charset="0"/>
                <a:ea typeface="Palatino Linotype" pitchFamily="34" charset="-122"/>
                <a:cs typeface="Palatino Linotype" pitchFamily="34" charset="-120"/>
              </a:rPr>
              <a:t>En population</a:t>
            </a:r>
            <a:endParaRPr lang="en-US" sz="1400" dirty="0"/>
          </a:p>
        </p:txBody>
      </p:sp>
      <p:sp>
        <p:nvSpPr>
          <p:cNvPr id="7" name="Shape 5"/>
          <p:cNvSpPr/>
          <p:nvPr/>
        </p:nvSpPr>
        <p:spPr>
          <a:xfrm>
            <a:off x="594360" y="2066544"/>
            <a:ext cx="10972800" cy="13716"/>
          </a:xfrm>
          <a:prstGeom prst="rect">
            <a:avLst/>
          </a:prstGeom>
          <a:solidFill>
            <a:srgbClr val="C9C6BE"/>
          </a:solidFill>
          <a:ln w="12700">
            <a:solidFill>
              <a:srgbClr val="C9C6BE"/>
            </a:solidFill>
            <a:prstDash val="solid"/>
          </a:ln>
        </p:spPr>
      </p:sp>
      <p:sp>
        <p:nvSpPr>
          <p:cNvPr id="8" name="Text 6"/>
          <p:cNvSpPr/>
          <p:nvPr/>
        </p:nvSpPr>
        <p:spPr>
          <a:xfrm>
            <a:off x="667512" y="2084832"/>
            <a:ext cx="1682496" cy="566928"/>
          </a:xfrm>
          <a:prstGeom prst="rect">
            <a:avLst/>
          </a:prstGeom>
          <a:noFill/>
          <a:ln/>
        </p:spPr>
        <p:txBody>
          <a:bodyPr wrap="square" lIns="0" tIns="0" rIns="0" bIns="0" rtlCol="0" anchor="ctr"/>
          <a:lstStyle/>
          <a:p>
            <a:pPr algn="l" indent="0" marL="0">
              <a:buNone/>
            </a:pPr>
            <a:r>
              <a:rPr lang="en-US" sz="1600" b="1" dirty="0">
                <a:solidFill>
                  <a:srgbClr val="11121A"/>
                </a:solidFill>
                <a:latin typeface="Palatino Linotype" pitchFamily="34" charset="0"/>
                <a:ea typeface="Palatino Linotype" pitchFamily="34" charset="-122"/>
                <a:cs typeface="Palatino Linotype" pitchFamily="34" charset="-120"/>
              </a:rPr>
              <a:t>À qui</a:t>
            </a:r>
            <a:endParaRPr lang="en-US" sz="1600" dirty="0"/>
          </a:p>
        </p:txBody>
      </p:sp>
      <p:sp>
        <p:nvSpPr>
          <p:cNvPr id="9" name="Text 7"/>
          <p:cNvSpPr/>
          <p:nvPr/>
        </p:nvSpPr>
        <p:spPr>
          <a:xfrm>
            <a:off x="2496312" y="2084832"/>
            <a:ext cx="4425696" cy="566928"/>
          </a:xfrm>
          <a:prstGeom prst="rect">
            <a:avLst/>
          </a:prstGeom>
          <a:noFill/>
          <a:ln/>
        </p:spPr>
        <p:txBody>
          <a:bodyPr wrap="square" lIns="0" tIns="0" rIns="0" bIns="0" rtlCol="0" anchor="ctr"/>
          <a:lstStyle/>
          <a:p>
            <a:pPr algn="ctr" indent="0" marL="0">
              <a:buNone/>
            </a:pPr>
            <a:r>
              <a:rPr lang="en-US" sz="1600" dirty="0">
                <a:solidFill>
                  <a:srgbClr val="11121A"/>
                </a:solidFill>
                <a:latin typeface="Palatino Linotype" pitchFamily="34" charset="0"/>
                <a:ea typeface="Palatino Linotype" pitchFamily="34" charset="-122"/>
                <a:cs typeface="Palatino Linotype" pitchFamily="34" charset="-120"/>
              </a:rPr>
              <a:t>aux personnes à risque élevé</a:t>
            </a:r>
            <a:endParaRPr lang="en-US" sz="1600" dirty="0"/>
          </a:p>
        </p:txBody>
      </p:sp>
      <p:sp>
        <p:nvSpPr>
          <p:cNvPr id="10" name="Text 8"/>
          <p:cNvSpPr/>
          <p:nvPr/>
        </p:nvSpPr>
        <p:spPr>
          <a:xfrm>
            <a:off x="7068312" y="2084832"/>
            <a:ext cx="4425696" cy="566928"/>
          </a:xfrm>
          <a:prstGeom prst="rect">
            <a:avLst/>
          </a:prstGeom>
          <a:noFill/>
          <a:ln/>
        </p:spPr>
        <p:txBody>
          <a:bodyPr wrap="square" lIns="0" tIns="0" rIns="0" bIns="0" rtlCol="0" anchor="ctr"/>
          <a:lstStyle/>
          <a:p>
            <a:pPr algn="ctr" indent="0" marL="0">
              <a:buNone/>
            </a:pPr>
            <a:r>
              <a:rPr lang="en-US" sz="1600" dirty="0">
                <a:solidFill>
                  <a:srgbClr val="11121A"/>
                </a:solidFill>
                <a:latin typeface="Palatino Linotype" pitchFamily="34" charset="0"/>
                <a:ea typeface="Palatino Linotype" pitchFamily="34" charset="-122"/>
                <a:cs typeface="Palatino Linotype" pitchFamily="34" charset="-120"/>
              </a:rPr>
              <a:t>à toute la population</a:t>
            </a:r>
            <a:endParaRPr lang="en-US" sz="1600" dirty="0"/>
          </a:p>
        </p:txBody>
      </p:sp>
      <p:sp>
        <p:nvSpPr>
          <p:cNvPr id="11" name="Shape 9"/>
          <p:cNvSpPr/>
          <p:nvPr/>
        </p:nvSpPr>
        <p:spPr>
          <a:xfrm>
            <a:off x="594360" y="2670048"/>
            <a:ext cx="10972800" cy="13716"/>
          </a:xfrm>
          <a:prstGeom prst="rect">
            <a:avLst/>
          </a:prstGeom>
          <a:solidFill>
            <a:srgbClr val="C9C6BE"/>
          </a:solidFill>
          <a:ln w="12700">
            <a:solidFill>
              <a:srgbClr val="C9C6BE"/>
            </a:solidFill>
            <a:prstDash val="solid"/>
          </a:ln>
        </p:spPr>
      </p:sp>
      <p:sp>
        <p:nvSpPr>
          <p:cNvPr id="12" name="Text 10"/>
          <p:cNvSpPr/>
          <p:nvPr/>
        </p:nvSpPr>
        <p:spPr>
          <a:xfrm>
            <a:off x="667512" y="2688336"/>
            <a:ext cx="1682496" cy="566928"/>
          </a:xfrm>
          <a:prstGeom prst="rect">
            <a:avLst/>
          </a:prstGeom>
          <a:noFill/>
          <a:ln/>
        </p:spPr>
        <p:txBody>
          <a:bodyPr wrap="square" lIns="0" tIns="0" rIns="0" bIns="0" rtlCol="0" anchor="ctr"/>
          <a:lstStyle/>
          <a:p>
            <a:pPr algn="l" indent="0" marL="0">
              <a:buNone/>
            </a:pPr>
            <a:r>
              <a:rPr lang="en-US" sz="1600" b="1" dirty="0">
                <a:solidFill>
                  <a:srgbClr val="11121A"/>
                </a:solidFill>
                <a:latin typeface="Palatino Linotype" pitchFamily="34" charset="0"/>
                <a:ea typeface="Palatino Linotype" pitchFamily="34" charset="-122"/>
                <a:cs typeface="Palatino Linotype" pitchFamily="34" charset="-120"/>
              </a:rPr>
              <a:t>Comment</a:t>
            </a:r>
            <a:endParaRPr lang="en-US" sz="1600" dirty="0"/>
          </a:p>
        </p:txBody>
      </p:sp>
      <p:sp>
        <p:nvSpPr>
          <p:cNvPr id="13" name="Text 11"/>
          <p:cNvSpPr/>
          <p:nvPr/>
        </p:nvSpPr>
        <p:spPr>
          <a:xfrm>
            <a:off x="2496312" y="2688336"/>
            <a:ext cx="4425696" cy="566928"/>
          </a:xfrm>
          <a:prstGeom prst="rect">
            <a:avLst/>
          </a:prstGeom>
          <a:noFill/>
          <a:ln/>
        </p:spPr>
        <p:txBody>
          <a:bodyPr wrap="square" lIns="0" tIns="0" rIns="0" bIns="0" rtlCol="0" anchor="ctr"/>
          <a:lstStyle/>
          <a:p>
            <a:pPr algn="ctr" indent="0" marL="0">
              <a:buNone/>
            </a:pPr>
            <a:r>
              <a:rPr lang="en-US" sz="1600" dirty="0">
                <a:solidFill>
                  <a:srgbClr val="11121A"/>
                </a:solidFill>
                <a:latin typeface="Palatino Linotype" pitchFamily="34" charset="0"/>
                <a:ea typeface="Palatino Linotype" pitchFamily="34" charset="-122"/>
                <a:cs typeface="Palatino Linotype" pitchFamily="34" charset="-120"/>
              </a:rPr>
              <a:t>traitement, conseil intensif</a:t>
            </a:r>
            <a:endParaRPr lang="en-US" sz="1600" dirty="0"/>
          </a:p>
        </p:txBody>
      </p:sp>
      <p:sp>
        <p:nvSpPr>
          <p:cNvPr id="14" name="Text 12"/>
          <p:cNvSpPr/>
          <p:nvPr/>
        </p:nvSpPr>
        <p:spPr>
          <a:xfrm>
            <a:off x="7068312" y="2688336"/>
            <a:ext cx="4425696" cy="566928"/>
          </a:xfrm>
          <a:prstGeom prst="rect">
            <a:avLst/>
          </a:prstGeom>
          <a:noFill/>
          <a:ln/>
        </p:spPr>
        <p:txBody>
          <a:bodyPr wrap="square" lIns="0" tIns="0" rIns="0" bIns="0" rtlCol="0" anchor="ctr"/>
          <a:lstStyle/>
          <a:p>
            <a:pPr algn="ctr" indent="0" marL="0">
              <a:buNone/>
            </a:pPr>
            <a:r>
              <a:rPr lang="en-US" sz="1600" dirty="0">
                <a:solidFill>
                  <a:srgbClr val="11121A"/>
                </a:solidFill>
                <a:latin typeface="Palatino Linotype" pitchFamily="34" charset="0"/>
                <a:ea typeface="Palatino Linotype" pitchFamily="34" charset="-122"/>
                <a:cs typeface="Palatino Linotype" pitchFamily="34" charset="-120"/>
              </a:rPr>
              <a:t>lois, taxes, reformulation des aliments</a:t>
            </a:r>
            <a:endParaRPr lang="en-US" sz="1600" dirty="0"/>
          </a:p>
        </p:txBody>
      </p:sp>
      <p:sp>
        <p:nvSpPr>
          <p:cNvPr id="15" name="Shape 13"/>
          <p:cNvSpPr/>
          <p:nvPr/>
        </p:nvSpPr>
        <p:spPr>
          <a:xfrm>
            <a:off x="594360" y="3273552"/>
            <a:ext cx="10972800" cy="13716"/>
          </a:xfrm>
          <a:prstGeom prst="rect">
            <a:avLst/>
          </a:prstGeom>
          <a:solidFill>
            <a:srgbClr val="C9C6BE"/>
          </a:solidFill>
          <a:ln w="12700">
            <a:solidFill>
              <a:srgbClr val="C9C6BE"/>
            </a:solidFill>
            <a:prstDash val="solid"/>
          </a:ln>
        </p:spPr>
      </p:sp>
      <p:sp>
        <p:nvSpPr>
          <p:cNvPr id="16" name="Text 14"/>
          <p:cNvSpPr/>
          <p:nvPr/>
        </p:nvSpPr>
        <p:spPr>
          <a:xfrm>
            <a:off x="667512" y="3291840"/>
            <a:ext cx="1682496" cy="566928"/>
          </a:xfrm>
          <a:prstGeom prst="rect">
            <a:avLst/>
          </a:prstGeom>
          <a:noFill/>
          <a:ln/>
        </p:spPr>
        <p:txBody>
          <a:bodyPr wrap="square" lIns="0" tIns="0" rIns="0" bIns="0" rtlCol="0" anchor="ctr"/>
          <a:lstStyle/>
          <a:p>
            <a:pPr algn="l" indent="0" marL="0">
              <a:buNone/>
            </a:pPr>
            <a:r>
              <a:rPr lang="en-US" sz="1600" b="1" dirty="0">
                <a:solidFill>
                  <a:srgbClr val="11121A"/>
                </a:solidFill>
                <a:latin typeface="Palatino Linotype" pitchFamily="34" charset="0"/>
                <a:ea typeface="Palatino Linotype" pitchFamily="34" charset="-122"/>
                <a:cs typeface="Palatino Linotype" pitchFamily="34" charset="-120"/>
              </a:rPr>
              <a:t>Avantage</a:t>
            </a:r>
            <a:endParaRPr lang="en-US" sz="1600" dirty="0"/>
          </a:p>
        </p:txBody>
      </p:sp>
      <p:sp>
        <p:nvSpPr>
          <p:cNvPr id="17" name="Text 15"/>
          <p:cNvSpPr/>
          <p:nvPr/>
        </p:nvSpPr>
        <p:spPr>
          <a:xfrm>
            <a:off x="2496312" y="3291840"/>
            <a:ext cx="4425696" cy="566928"/>
          </a:xfrm>
          <a:prstGeom prst="rect">
            <a:avLst/>
          </a:prstGeom>
          <a:noFill/>
          <a:ln/>
        </p:spPr>
        <p:txBody>
          <a:bodyPr wrap="square" lIns="0" tIns="0" rIns="0" bIns="0" rtlCol="0" anchor="ctr"/>
          <a:lstStyle/>
          <a:p>
            <a:pPr algn="ctr" indent="0" marL="0">
              <a:buNone/>
            </a:pPr>
            <a:r>
              <a:rPr lang="en-US" sz="1600" dirty="0">
                <a:solidFill>
                  <a:srgbClr val="11121A"/>
                </a:solidFill>
                <a:latin typeface="Palatino Linotype" pitchFamily="34" charset="0"/>
                <a:ea typeface="Palatino Linotype" pitchFamily="34" charset="-122"/>
                <a:cs typeface="Palatino Linotype" pitchFamily="34" charset="-120"/>
              </a:rPr>
              <a:t>bénéfice important pour chaque patient</a:t>
            </a:r>
            <a:endParaRPr lang="en-US" sz="1600" dirty="0"/>
          </a:p>
        </p:txBody>
      </p:sp>
      <p:sp>
        <p:nvSpPr>
          <p:cNvPr id="18" name="Text 16"/>
          <p:cNvSpPr/>
          <p:nvPr/>
        </p:nvSpPr>
        <p:spPr>
          <a:xfrm>
            <a:off x="7068312" y="3291840"/>
            <a:ext cx="4425696" cy="566928"/>
          </a:xfrm>
          <a:prstGeom prst="rect">
            <a:avLst/>
          </a:prstGeom>
          <a:noFill/>
          <a:ln/>
        </p:spPr>
        <p:txBody>
          <a:bodyPr wrap="square" lIns="0" tIns="0" rIns="0" bIns="0" rtlCol="0" anchor="ctr"/>
          <a:lstStyle/>
          <a:p>
            <a:pPr algn="ctr" indent="0" marL="0">
              <a:buNone/>
            </a:pPr>
            <a:r>
              <a:rPr lang="en-US" sz="1600" dirty="0">
                <a:solidFill>
                  <a:srgbClr val="11121A"/>
                </a:solidFill>
                <a:latin typeface="Palatino Linotype" pitchFamily="34" charset="0"/>
                <a:ea typeface="Palatino Linotype" pitchFamily="34" charset="-122"/>
                <a:cs typeface="Palatino Linotype" pitchFamily="34" charset="-120"/>
              </a:rPr>
              <a:t>davantage de cas prévenus au total</a:t>
            </a:r>
            <a:endParaRPr lang="en-US" sz="1600" dirty="0"/>
          </a:p>
        </p:txBody>
      </p:sp>
      <p:sp>
        <p:nvSpPr>
          <p:cNvPr id="19" name="Shape 17"/>
          <p:cNvSpPr/>
          <p:nvPr/>
        </p:nvSpPr>
        <p:spPr>
          <a:xfrm>
            <a:off x="594360" y="3877056"/>
            <a:ext cx="10972800" cy="13716"/>
          </a:xfrm>
          <a:prstGeom prst="rect">
            <a:avLst/>
          </a:prstGeom>
          <a:solidFill>
            <a:srgbClr val="C9C6BE"/>
          </a:solidFill>
          <a:ln w="12700">
            <a:solidFill>
              <a:srgbClr val="C9C6BE"/>
            </a:solidFill>
            <a:prstDash val="solid"/>
          </a:ln>
        </p:spPr>
      </p:sp>
      <p:sp>
        <p:nvSpPr>
          <p:cNvPr id="20" name="Text 18"/>
          <p:cNvSpPr/>
          <p:nvPr/>
        </p:nvSpPr>
        <p:spPr>
          <a:xfrm>
            <a:off x="667512" y="3895344"/>
            <a:ext cx="1682496" cy="566928"/>
          </a:xfrm>
          <a:prstGeom prst="rect">
            <a:avLst/>
          </a:prstGeom>
          <a:noFill/>
          <a:ln/>
        </p:spPr>
        <p:txBody>
          <a:bodyPr wrap="square" lIns="0" tIns="0" rIns="0" bIns="0" rtlCol="0" anchor="ctr"/>
          <a:lstStyle/>
          <a:p>
            <a:pPr algn="l" indent="0" marL="0">
              <a:buNone/>
            </a:pPr>
            <a:r>
              <a:rPr lang="en-US" sz="1600" b="1" dirty="0">
                <a:solidFill>
                  <a:srgbClr val="11121A"/>
                </a:solidFill>
                <a:latin typeface="Palatino Linotype" pitchFamily="34" charset="0"/>
                <a:ea typeface="Palatino Linotype" pitchFamily="34" charset="-122"/>
                <a:cs typeface="Palatino Linotype" pitchFamily="34" charset="-120"/>
              </a:rPr>
              <a:t>Limite</a:t>
            </a:r>
            <a:endParaRPr lang="en-US" sz="1600" dirty="0"/>
          </a:p>
        </p:txBody>
      </p:sp>
      <p:sp>
        <p:nvSpPr>
          <p:cNvPr id="21" name="Text 19"/>
          <p:cNvSpPr/>
          <p:nvPr/>
        </p:nvSpPr>
        <p:spPr>
          <a:xfrm>
            <a:off x="2496312" y="3895344"/>
            <a:ext cx="4425696" cy="566928"/>
          </a:xfrm>
          <a:prstGeom prst="rect">
            <a:avLst/>
          </a:prstGeom>
          <a:noFill/>
          <a:ln/>
        </p:spPr>
        <p:txBody>
          <a:bodyPr wrap="square" lIns="0" tIns="0" rIns="0" bIns="0" rtlCol="0" anchor="ctr"/>
          <a:lstStyle/>
          <a:p>
            <a:pPr algn="ctr" indent="0" marL="0">
              <a:buNone/>
            </a:pPr>
            <a:r>
              <a:rPr lang="en-US" sz="1600" dirty="0">
                <a:solidFill>
                  <a:srgbClr val="11121A"/>
                </a:solidFill>
                <a:latin typeface="Palatino Linotype" pitchFamily="34" charset="0"/>
                <a:ea typeface="Palatino Linotype" pitchFamily="34" charset="-122"/>
                <a:cs typeface="Palatino Linotype" pitchFamily="34" charset="-120"/>
              </a:rPr>
              <a:t>manque les cas à risque modéré</a:t>
            </a:r>
            <a:endParaRPr lang="en-US" sz="1600" dirty="0"/>
          </a:p>
        </p:txBody>
      </p:sp>
      <p:sp>
        <p:nvSpPr>
          <p:cNvPr id="22" name="Text 20"/>
          <p:cNvSpPr/>
          <p:nvPr/>
        </p:nvSpPr>
        <p:spPr>
          <a:xfrm>
            <a:off x="7068312" y="3895344"/>
            <a:ext cx="4425696" cy="566928"/>
          </a:xfrm>
          <a:prstGeom prst="rect">
            <a:avLst/>
          </a:prstGeom>
          <a:noFill/>
          <a:ln/>
        </p:spPr>
        <p:txBody>
          <a:bodyPr wrap="square" lIns="0" tIns="0" rIns="0" bIns="0" rtlCol="0" anchor="ctr"/>
          <a:lstStyle/>
          <a:p>
            <a:pPr algn="ctr" indent="0" marL="0">
              <a:buNone/>
            </a:pPr>
            <a:r>
              <a:rPr lang="en-US" sz="1600" dirty="0">
                <a:solidFill>
                  <a:srgbClr val="11121A"/>
                </a:solidFill>
                <a:latin typeface="Palatino Linotype" pitchFamily="34" charset="0"/>
                <a:ea typeface="Palatino Linotype" pitchFamily="34" charset="-122"/>
                <a:cs typeface="Palatino Linotype" pitchFamily="34" charset="-120"/>
              </a:rPr>
              <a:t>faible bénéfice, donc motivation réduite</a:t>
            </a:r>
            <a:endParaRPr lang="en-US" sz="1600" dirty="0"/>
          </a:p>
        </p:txBody>
      </p:sp>
      <p:sp>
        <p:nvSpPr>
          <p:cNvPr id="23" name="Shape 21"/>
          <p:cNvSpPr/>
          <p:nvPr/>
        </p:nvSpPr>
        <p:spPr>
          <a:xfrm>
            <a:off x="594360" y="4617720"/>
            <a:ext cx="10972800" cy="1325880"/>
          </a:xfrm>
          <a:prstGeom prst="roundRect">
            <a:avLst>
              <a:gd name="adj" fmla="val 6207"/>
            </a:avLst>
          </a:prstGeom>
          <a:solidFill>
            <a:srgbClr val="11121A"/>
          </a:solidFill>
          <a:ln w="12700">
            <a:solidFill>
              <a:srgbClr val="11121A"/>
            </a:solidFill>
            <a:prstDash val="solid"/>
          </a:ln>
        </p:spPr>
      </p:sp>
      <p:sp>
        <p:nvSpPr>
          <p:cNvPr id="24" name="Text 22"/>
          <p:cNvSpPr/>
          <p:nvPr/>
        </p:nvSpPr>
        <p:spPr>
          <a:xfrm>
            <a:off x="868680" y="4617720"/>
            <a:ext cx="10424160" cy="1325880"/>
          </a:xfrm>
          <a:prstGeom prst="rect">
            <a:avLst/>
          </a:prstGeom>
          <a:noFill/>
          <a:ln/>
        </p:spPr>
        <p:txBody>
          <a:bodyPr wrap="square" lIns="0" tIns="0" rIns="0" bIns="0" rtlCol="0" anchor="ctr"/>
          <a:lstStyle/>
          <a:p>
            <a:pPr indent="0" marL="0">
              <a:buNone/>
            </a:pPr>
            <a:r>
              <a:rPr lang="en-US" sz="1800" b="1" dirty="0">
                <a:solidFill>
                  <a:srgbClr val="FFFFFF"/>
                </a:solidFill>
                <a:latin typeface="Palatino Linotype" pitchFamily="34" charset="0"/>
                <a:ea typeface="Palatino Linotype" pitchFamily="34" charset="-122"/>
                <a:cs typeface="Palatino Linotype" pitchFamily="34" charset="-120"/>
              </a:rPr>
              <a:t>La réévaluation de 2018 : les recommandations ont abaissé le seuil ; le risque élevé est devenu un risque modéré, et beaucoup sont désormais éligibles au traitement préventif.</a:t>
            </a:r>
            <a:endParaRPr lang="en-US" sz="1800" dirty="0"/>
          </a:p>
        </p:txBody>
      </p:sp>
      <p:sp>
        <p:nvSpPr>
          <p:cNvPr id="25" name="Text 23"/>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Source : d’après Rose (1985) et la réévaluation de 2018.</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229600" y="292608"/>
            <a:ext cx="333756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229600" y="292608"/>
            <a:ext cx="333756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DÉBAT + MENTIMETER</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LA SALLE EN DEUX CAMPS, TIRÉS AU SORT</a:t>
            </a:r>
            <a:endParaRPr lang="en-US" sz="1300" dirty="0"/>
          </a:p>
        </p:txBody>
      </p:sp>
      <p:sp>
        <p:nvSpPr>
          <p:cNvPr id="5" name="Text 3"/>
          <p:cNvSpPr/>
          <p:nvPr/>
        </p:nvSpPr>
        <p:spPr>
          <a:xfrm>
            <a:off x="594360" y="713232"/>
            <a:ext cx="7589520" cy="1005840"/>
          </a:xfrm>
          <a:prstGeom prst="rect">
            <a:avLst/>
          </a:prstGeom>
          <a:noFill/>
          <a:ln/>
        </p:spPr>
        <p:txBody>
          <a:bodyPr wrap="square" lIns="0" tIns="0" rIns="0" bIns="0" rtlCol="0" anchor="t"/>
          <a:lstStyle/>
          <a:p>
            <a:pPr indent="0" marL="0">
              <a:buNone/>
            </a:pPr>
            <a:r>
              <a:rPr lang="en-US" sz="2400" b="1" dirty="0">
                <a:solidFill>
                  <a:srgbClr val="FFFFFF"/>
                </a:solidFill>
                <a:latin typeface="Palatino Linotype" pitchFamily="34" charset="0"/>
                <a:ea typeface="Palatino Linotype" pitchFamily="34" charset="-122"/>
                <a:cs typeface="Palatino Linotype" pitchFamily="34" charset="-120"/>
              </a:rPr>
              <a:t>Quelle stratégie réduit le plus la mortalité prématurée ?</a:t>
            </a:r>
            <a:endParaRPr lang="en-US" sz="2400" dirty="0"/>
          </a:p>
        </p:txBody>
      </p:sp>
      <p:sp>
        <p:nvSpPr>
          <p:cNvPr id="6" name="Shape 4"/>
          <p:cNvSpPr/>
          <p:nvPr/>
        </p:nvSpPr>
        <p:spPr>
          <a:xfrm>
            <a:off x="594360" y="1691640"/>
            <a:ext cx="5349240" cy="1737360"/>
          </a:xfrm>
          <a:prstGeom prst="roundRect">
            <a:avLst>
              <a:gd name="adj" fmla="val 4737"/>
            </a:avLst>
          </a:prstGeom>
          <a:solidFill>
            <a:srgbClr val="1D1F2B"/>
          </a:solidFill>
          <a:ln w="12700">
            <a:solidFill>
              <a:srgbClr val="1D1F2B"/>
            </a:solidFill>
            <a:prstDash val="solid"/>
          </a:ln>
        </p:spPr>
      </p:sp>
      <p:sp>
        <p:nvSpPr>
          <p:cNvPr id="7" name="Text 5"/>
          <p:cNvSpPr/>
          <p:nvPr/>
        </p:nvSpPr>
        <p:spPr>
          <a:xfrm>
            <a:off x="868680" y="1783080"/>
            <a:ext cx="4846320" cy="365760"/>
          </a:xfrm>
          <a:prstGeom prst="rect">
            <a:avLst/>
          </a:prstGeom>
          <a:noFill/>
          <a:ln/>
        </p:spPr>
        <p:txBody>
          <a:bodyPr wrap="square" lIns="0" tIns="0" rIns="0" bIns="0" rtlCol="0" anchor="t"/>
          <a:lstStyle/>
          <a:p>
            <a:pPr indent="0" marL="0">
              <a:buNone/>
            </a:pPr>
            <a:r>
              <a:rPr lang="en-US" sz="1400" b="1" spc="200" kern="0" dirty="0">
                <a:solidFill>
                  <a:srgbClr val="FF4757"/>
                </a:solidFill>
                <a:latin typeface="Palatino Linotype" pitchFamily="34" charset="0"/>
                <a:ea typeface="Palatino Linotype" pitchFamily="34" charset="-122"/>
                <a:cs typeface="Palatino Linotype" pitchFamily="34" charset="-120"/>
              </a:rPr>
              <a:t>CAMP A</a:t>
            </a:r>
            <a:endParaRPr lang="en-US" sz="1400" dirty="0"/>
          </a:p>
        </p:txBody>
      </p:sp>
      <p:sp>
        <p:nvSpPr>
          <p:cNvPr id="8" name="Text 6"/>
          <p:cNvSpPr/>
          <p:nvPr/>
        </p:nvSpPr>
        <p:spPr>
          <a:xfrm>
            <a:off x="868680" y="2148840"/>
            <a:ext cx="4846320" cy="118872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La prévention en population réduit davantage la mortalité prématurée due aux maladies non transmissibles en Roumanie.</a:t>
            </a:r>
            <a:endParaRPr lang="en-US" sz="1700" dirty="0"/>
          </a:p>
        </p:txBody>
      </p:sp>
      <p:sp>
        <p:nvSpPr>
          <p:cNvPr id="9" name="Shape 7"/>
          <p:cNvSpPr/>
          <p:nvPr/>
        </p:nvSpPr>
        <p:spPr>
          <a:xfrm>
            <a:off x="6217920" y="1691640"/>
            <a:ext cx="5349240" cy="1737360"/>
          </a:xfrm>
          <a:prstGeom prst="roundRect">
            <a:avLst>
              <a:gd name="adj" fmla="val 4737"/>
            </a:avLst>
          </a:prstGeom>
          <a:solidFill>
            <a:srgbClr val="1D1F2B"/>
          </a:solidFill>
          <a:ln w="12700">
            <a:solidFill>
              <a:srgbClr val="1D1F2B"/>
            </a:solidFill>
            <a:prstDash val="solid"/>
          </a:ln>
        </p:spPr>
      </p:sp>
      <p:sp>
        <p:nvSpPr>
          <p:cNvPr id="10" name="Text 8"/>
          <p:cNvSpPr/>
          <p:nvPr/>
        </p:nvSpPr>
        <p:spPr>
          <a:xfrm>
            <a:off x="6492240" y="1783080"/>
            <a:ext cx="4846320" cy="365760"/>
          </a:xfrm>
          <a:prstGeom prst="rect">
            <a:avLst/>
          </a:prstGeom>
          <a:noFill/>
          <a:ln/>
        </p:spPr>
        <p:txBody>
          <a:bodyPr wrap="square" lIns="0" tIns="0" rIns="0" bIns="0" rtlCol="0" anchor="t"/>
          <a:lstStyle/>
          <a:p>
            <a:pPr indent="0" marL="0">
              <a:buNone/>
            </a:pPr>
            <a:r>
              <a:rPr lang="en-US" sz="1400" b="1" spc="200" kern="0" dirty="0">
                <a:solidFill>
                  <a:srgbClr val="27D3BE"/>
                </a:solidFill>
                <a:latin typeface="Palatino Linotype" pitchFamily="34" charset="0"/>
                <a:ea typeface="Palatino Linotype" pitchFamily="34" charset="-122"/>
                <a:cs typeface="Palatino Linotype" pitchFamily="34" charset="-120"/>
              </a:rPr>
              <a:t>CAMP B</a:t>
            </a:r>
            <a:endParaRPr lang="en-US" sz="1400" dirty="0"/>
          </a:p>
        </p:txBody>
      </p:sp>
      <p:sp>
        <p:nvSpPr>
          <p:cNvPr id="11" name="Text 9"/>
          <p:cNvSpPr/>
          <p:nvPr/>
        </p:nvSpPr>
        <p:spPr>
          <a:xfrm>
            <a:off x="6492240" y="2148840"/>
            <a:ext cx="4846320" cy="118872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La prévention à haut risque réduit davantage la mortalité prématurée due aux maladies non transmissibles en Roumanie.</a:t>
            </a:r>
            <a:endParaRPr lang="en-US" sz="1700" dirty="0"/>
          </a:p>
        </p:txBody>
      </p:sp>
      <p:sp>
        <p:nvSpPr>
          <p:cNvPr id="12" name="Shape 10"/>
          <p:cNvSpPr/>
          <p:nvPr/>
        </p:nvSpPr>
        <p:spPr>
          <a:xfrm>
            <a:off x="594360" y="3703320"/>
            <a:ext cx="1719072" cy="777240"/>
          </a:xfrm>
          <a:prstGeom prst="roundRect">
            <a:avLst>
              <a:gd name="adj" fmla="val 10588"/>
            </a:avLst>
          </a:prstGeom>
          <a:solidFill>
            <a:srgbClr val="FFC24B"/>
          </a:solidFill>
          <a:ln w="12700">
            <a:solidFill>
              <a:srgbClr val="FFC24B"/>
            </a:solidFill>
            <a:prstDash val="solid"/>
          </a:ln>
        </p:spPr>
      </p:sp>
      <p:sp>
        <p:nvSpPr>
          <p:cNvPr id="13" name="Text 11"/>
          <p:cNvSpPr/>
          <p:nvPr/>
        </p:nvSpPr>
        <p:spPr>
          <a:xfrm>
            <a:off x="731520" y="3703320"/>
            <a:ext cx="1444752" cy="777240"/>
          </a:xfrm>
          <a:prstGeom prst="rect">
            <a:avLst/>
          </a:prstGeom>
          <a:noFill/>
          <a:ln/>
        </p:spPr>
        <p:txBody>
          <a:bodyPr wrap="square" lIns="0" tIns="0" rIns="0" bIns="0" rtlCol="0" anchor="ctr"/>
          <a:lstStyle/>
          <a:p>
            <a:pPr algn="ctr" indent="0" marL="0">
              <a:buNone/>
            </a:pPr>
            <a:r>
              <a:rPr lang="en-US" sz="1400" b="1" dirty="0">
                <a:solidFill>
                  <a:srgbClr val="3D2A00"/>
                </a:solidFill>
                <a:latin typeface="Palatino Linotype" pitchFamily="34" charset="0"/>
                <a:ea typeface="Palatino Linotype" pitchFamily="34" charset="-122"/>
                <a:cs typeface="Palatino Linotype" pitchFamily="34" charset="-120"/>
              </a:rPr>
              <a:t>vote avant</a:t>
            </a:r>
            <a:endParaRPr lang="en-US" sz="1400" dirty="0"/>
          </a:p>
        </p:txBody>
      </p:sp>
      <p:sp>
        <p:nvSpPr>
          <p:cNvPr id="14" name="Shape 12"/>
          <p:cNvSpPr/>
          <p:nvPr/>
        </p:nvSpPr>
        <p:spPr>
          <a:xfrm>
            <a:off x="2450592" y="3703320"/>
            <a:ext cx="1719072" cy="777240"/>
          </a:xfrm>
          <a:prstGeom prst="roundRect">
            <a:avLst>
              <a:gd name="adj" fmla="val 10588"/>
            </a:avLst>
          </a:prstGeom>
          <a:solidFill>
            <a:srgbClr val="272A38"/>
          </a:solidFill>
          <a:ln w="12700">
            <a:solidFill>
              <a:srgbClr val="272A38"/>
            </a:solidFill>
            <a:prstDash val="solid"/>
          </a:ln>
        </p:spPr>
      </p:sp>
      <p:sp>
        <p:nvSpPr>
          <p:cNvPr id="15" name="Text 13"/>
          <p:cNvSpPr/>
          <p:nvPr/>
        </p:nvSpPr>
        <p:spPr>
          <a:xfrm>
            <a:off x="2587752" y="3703320"/>
            <a:ext cx="1444752" cy="77724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 min de préparation</a:t>
            </a:r>
            <a:endParaRPr lang="en-US" sz="1400" dirty="0"/>
          </a:p>
        </p:txBody>
      </p:sp>
      <p:sp>
        <p:nvSpPr>
          <p:cNvPr id="16" name="Shape 14"/>
          <p:cNvSpPr/>
          <p:nvPr/>
        </p:nvSpPr>
        <p:spPr>
          <a:xfrm>
            <a:off x="4306824" y="3703320"/>
            <a:ext cx="1719072" cy="777240"/>
          </a:xfrm>
          <a:prstGeom prst="roundRect">
            <a:avLst>
              <a:gd name="adj" fmla="val 10588"/>
            </a:avLst>
          </a:prstGeom>
          <a:solidFill>
            <a:srgbClr val="FF4757"/>
          </a:solidFill>
          <a:ln w="12700">
            <a:solidFill>
              <a:srgbClr val="FF4757"/>
            </a:solidFill>
            <a:prstDash val="solid"/>
          </a:ln>
        </p:spPr>
      </p:sp>
      <p:sp>
        <p:nvSpPr>
          <p:cNvPr id="17" name="Text 15"/>
          <p:cNvSpPr/>
          <p:nvPr/>
        </p:nvSpPr>
        <p:spPr>
          <a:xfrm>
            <a:off x="4443984" y="3703320"/>
            <a:ext cx="1444752" cy="777240"/>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4 min A</a:t>
            </a:r>
            <a:endParaRPr lang="en-US" sz="1400" dirty="0"/>
          </a:p>
        </p:txBody>
      </p:sp>
      <p:sp>
        <p:nvSpPr>
          <p:cNvPr id="18" name="Shape 16"/>
          <p:cNvSpPr/>
          <p:nvPr/>
        </p:nvSpPr>
        <p:spPr>
          <a:xfrm>
            <a:off x="6163056" y="3703320"/>
            <a:ext cx="1719072" cy="777240"/>
          </a:xfrm>
          <a:prstGeom prst="roundRect">
            <a:avLst>
              <a:gd name="adj" fmla="val 10588"/>
            </a:avLst>
          </a:prstGeom>
          <a:solidFill>
            <a:srgbClr val="27D3BE"/>
          </a:solidFill>
          <a:ln w="12700">
            <a:solidFill>
              <a:srgbClr val="27D3BE"/>
            </a:solidFill>
            <a:prstDash val="solid"/>
          </a:ln>
        </p:spPr>
      </p:sp>
      <p:sp>
        <p:nvSpPr>
          <p:cNvPr id="19" name="Text 17"/>
          <p:cNvSpPr/>
          <p:nvPr/>
        </p:nvSpPr>
        <p:spPr>
          <a:xfrm>
            <a:off x="6300216" y="3703320"/>
            <a:ext cx="1444752" cy="777240"/>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4 min B</a:t>
            </a:r>
            <a:endParaRPr lang="en-US" sz="1400" dirty="0"/>
          </a:p>
        </p:txBody>
      </p:sp>
      <p:sp>
        <p:nvSpPr>
          <p:cNvPr id="20" name="Shape 18"/>
          <p:cNvSpPr/>
          <p:nvPr/>
        </p:nvSpPr>
        <p:spPr>
          <a:xfrm>
            <a:off x="8019288" y="3703320"/>
            <a:ext cx="1719072" cy="777240"/>
          </a:xfrm>
          <a:prstGeom prst="roundRect">
            <a:avLst>
              <a:gd name="adj" fmla="val 10588"/>
            </a:avLst>
          </a:prstGeom>
          <a:solidFill>
            <a:srgbClr val="272A38"/>
          </a:solidFill>
          <a:ln w="12700">
            <a:solidFill>
              <a:srgbClr val="272A38"/>
            </a:solidFill>
            <a:prstDash val="solid"/>
          </a:ln>
        </p:spPr>
      </p:sp>
      <p:sp>
        <p:nvSpPr>
          <p:cNvPr id="21" name="Text 19"/>
          <p:cNvSpPr/>
          <p:nvPr/>
        </p:nvSpPr>
        <p:spPr>
          <a:xfrm>
            <a:off x="8156448" y="3703320"/>
            <a:ext cx="1444752" cy="77724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 + 2 min de réplique</a:t>
            </a:r>
            <a:endParaRPr lang="en-US" sz="1400" dirty="0"/>
          </a:p>
        </p:txBody>
      </p:sp>
      <p:sp>
        <p:nvSpPr>
          <p:cNvPr id="22" name="Shape 20"/>
          <p:cNvSpPr/>
          <p:nvPr/>
        </p:nvSpPr>
        <p:spPr>
          <a:xfrm>
            <a:off x="9875520" y="3703320"/>
            <a:ext cx="1719072" cy="777240"/>
          </a:xfrm>
          <a:prstGeom prst="roundRect">
            <a:avLst>
              <a:gd name="adj" fmla="val 10588"/>
            </a:avLst>
          </a:prstGeom>
          <a:solidFill>
            <a:srgbClr val="FFC24B"/>
          </a:solidFill>
          <a:ln w="12700">
            <a:solidFill>
              <a:srgbClr val="FFC24B"/>
            </a:solidFill>
            <a:prstDash val="solid"/>
          </a:ln>
        </p:spPr>
      </p:sp>
      <p:sp>
        <p:nvSpPr>
          <p:cNvPr id="23" name="Text 21"/>
          <p:cNvSpPr/>
          <p:nvPr/>
        </p:nvSpPr>
        <p:spPr>
          <a:xfrm>
            <a:off x="10012680" y="3703320"/>
            <a:ext cx="1444752" cy="777240"/>
          </a:xfrm>
          <a:prstGeom prst="rect">
            <a:avLst/>
          </a:prstGeom>
          <a:noFill/>
          <a:ln/>
        </p:spPr>
        <p:txBody>
          <a:bodyPr wrap="square" lIns="0" tIns="0" rIns="0" bIns="0" rtlCol="0" anchor="ctr"/>
          <a:lstStyle/>
          <a:p>
            <a:pPr algn="ctr" indent="0" marL="0">
              <a:buNone/>
            </a:pPr>
            <a:r>
              <a:rPr lang="en-US" sz="1400" b="1" dirty="0">
                <a:solidFill>
                  <a:srgbClr val="3D2A00"/>
                </a:solidFill>
                <a:latin typeface="Palatino Linotype" pitchFamily="34" charset="0"/>
                <a:ea typeface="Palatino Linotype" pitchFamily="34" charset="-122"/>
                <a:cs typeface="Palatino Linotype" pitchFamily="34" charset="-120"/>
              </a:rPr>
              <a:t>vote après</a:t>
            </a:r>
            <a:endParaRPr lang="en-US" sz="1400" dirty="0"/>
          </a:p>
        </p:txBody>
      </p:sp>
      <p:sp>
        <p:nvSpPr>
          <p:cNvPr id="24" name="Text 22"/>
          <p:cNvSpPr/>
          <p:nvPr/>
        </p:nvSpPr>
        <p:spPr>
          <a:xfrm>
            <a:off x="594360" y="4754880"/>
            <a:ext cx="10972800" cy="1097280"/>
          </a:xfrm>
          <a:prstGeom prst="rect">
            <a:avLst/>
          </a:prstGeom>
          <a:noFill/>
          <a:ln/>
        </p:spPr>
        <p:txBody>
          <a:bodyPr wrap="square" lIns="0" tIns="0" rIns="0" bIns="0" rtlCol="0" anchor="t"/>
          <a:lstStyle/>
          <a:p>
            <a:pPr indent="0" marL="0">
              <a:buNone/>
            </a:pPr>
            <a:r>
              <a:rPr lang="en-US" sz="1800" b="1" dirty="0">
                <a:solidFill>
                  <a:srgbClr val="FFC24B"/>
                </a:solidFill>
                <a:latin typeface="Palatino Linotype" pitchFamily="34" charset="0"/>
                <a:ea typeface="Palatino Linotype" pitchFamily="34" charset="-122"/>
                <a:cs typeface="Palatino Linotype" pitchFamily="34" charset="-120"/>
              </a:rPr>
              <a:t>Les arguments : uniquement à partir des données du cours. Répondez sur votre téléphone, au code affiché.</a:t>
            </a:r>
            <a:endParaRPr lang="en-US" sz="1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SYNTHÈSE DU DÉBAT</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Les deux stratégies se complètent</a:t>
            </a:r>
            <a:endParaRPr lang="en-US" sz="3200" dirty="0"/>
          </a:p>
        </p:txBody>
      </p:sp>
      <p:sp>
        <p:nvSpPr>
          <p:cNvPr id="4" name="Shape 2"/>
          <p:cNvSpPr/>
          <p:nvPr/>
        </p:nvSpPr>
        <p:spPr>
          <a:xfrm>
            <a:off x="594360" y="1737360"/>
            <a:ext cx="5349240" cy="1920240"/>
          </a:xfrm>
          <a:prstGeom prst="roundRect">
            <a:avLst>
              <a:gd name="adj" fmla="val 4286"/>
            </a:avLst>
          </a:prstGeom>
          <a:solidFill>
            <a:srgbClr val="ECEAE4"/>
          </a:solidFill>
          <a:ln w="12700">
            <a:solidFill>
              <a:srgbClr val="ECEAE4"/>
            </a:solidFill>
            <a:prstDash val="solid"/>
          </a:ln>
        </p:spPr>
      </p:sp>
      <p:sp>
        <p:nvSpPr>
          <p:cNvPr id="5" name="Text 3"/>
          <p:cNvSpPr/>
          <p:nvPr/>
        </p:nvSpPr>
        <p:spPr>
          <a:xfrm>
            <a:off x="868680" y="1828800"/>
            <a:ext cx="4846320" cy="365760"/>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EN POPULATION</a:t>
            </a:r>
            <a:endParaRPr lang="en-US" sz="1300" dirty="0"/>
          </a:p>
        </p:txBody>
      </p:sp>
      <p:sp>
        <p:nvSpPr>
          <p:cNvPr id="6" name="Text 4"/>
          <p:cNvSpPr/>
          <p:nvPr/>
        </p:nvSpPr>
        <p:spPr>
          <a:xfrm>
            <a:off x="868680" y="2240280"/>
            <a:ext cx="4846320" cy="1280160"/>
          </a:xfrm>
          <a:prstGeom prst="rect">
            <a:avLst/>
          </a:prstGeom>
          <a:noFill/>
          <a:ln/>
        </p:spPr>
        <p:txBody>
          <a:bodyPr wrap="square" lIns="0" tIns="0" rIns="0" bIns="0" rtlCol="0" anchor="t"/>
          <a:lstStyle/>
          <a:p>
            <a:pPr indent="0" marL="0">
              <a:buNone/>
            </a:pPr>
            <a:r>
              <a:rPr lang="en-US" sz="2200" dirty="0">
                <a:solidFill>
                  <a:srgbClr val="11121A"/>
                </a:solidFill>
                <a:latin typeface="Palatino Linotype" pitchFamily="34" charset="0"/>
                <a:ea typeface="Palatino Linotype" pitchFamily="34" charset="-122"/>
                <a:cs typeface="Palatino Linotype" pitchFamily="34" charset="-120"/>
              </a:rPr>
              <a:t>Elle change l’environnement dans lequel vivent toutes les personnes comme Ion.</a:t>
            </a:r>
            <a:endParaRPr lang="en-US" sz="2200" dirty="0"/>
          </a:p>
        </p:txBody>
      </p:sp>
      <p:sp>
        <p:nvSpPr>
          <p:cNvPr id="7" name="Shape 5"/>
          <p:cNvSpPr/>
          <p:nvPr/>
        </p:nvSpPr>
        <p:spPr>
          <a:xfrm>
            <a:off x="6217920" y="1737360"/>
            <a:ext cx="5349240" cy="1920240"/>
          </a:xfrm>
          <a:prstGeom prst="roundRect">
            <a:avLst>
              <a:gd name="adj" fmla="val 4286"/>
            </a:avLst>
          </a:prstGeom>
          <a:solidFill>
            <a:srgbClr val="ECEAE4"/>
          </a:solidFill>
          <a:ln w="12700">
            <a:solidFill>
              <a:srgbClr val="ECEAE4"/>
            </a:solidFill>
            <a:prstDash val="solid"/>
          </a:ln>
        </p:spPr>
      </p:sp>
      <p:sp>
        <p:nvSpPr>
          <p:cNvPr id="8" name="Text 6"/>
          <p:cNvSpPr/>
          <p:nvPr/>
        </p:nvSpPr>
        <p:spPr>
          <a:xfrm>
            <a:off x="6492240" y="1828800"/>
            <a:ext cx="4846320" cy="365760"/>
          </a:xfrm>
          <a:prstGeom prst="rect">
            <a:avLst/>
          </a:prstGeom>
          <a:noFill/>
          <a:ln/>
        </p:spPr>
        <p:txBody>
          <a:bodyPr wrap="square" lIns="0" tIns="0" rIns="0" bIns="0" rtlCol="0" anchor="t"/>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HAUT RISQUE</a:t>
            </a:r>
            <a:endParaRPr lang="en-US" sz="1300" dirty="0"/>
          </a:p>
        </p:txBody>
      </p:sp>
      <p:sp>
        <p:nvSpPr>
          <p:cNvPr id="9" name="Text 7"/>
          <p:cNvSpPr/>
          <p:nvPr/>
        </p:nvSpPr>
        <p:spPr>
          <a:xfrm>
            <a:off x="6492240" y="2240280"/>
            <a:ext cx="4846320" cy="1280160"/>
          </a:xfrm>
          <a:prstGeom prst="rect">
            <a:avLst/>
          </a:prstGeom>
          <a:noFill/>
          <a:ln/>
        </p:spPr>
        <p:txBody>
          <a:bodyPr wrap="square" lIns="0" tIns="0" rIns="0" bIns="0" rtlCol="0" anchor="t"/>
          <a:lstStyle/>
          <a:p>
            <a:pPr indent="0" marL="0">
              <a:buNone/>
            </a:pPr>
            <a:r>
              <a:rPr lang="en-US" sz="2200" dirty="0">
                <a:solidFill>
                  <a:srgbClr val="11121A"/>
                </a:solidFill>
                <a:latin typeface="Palatino Linotype" pitchFamily="34" charset="0"/>
                <a:ea typeface="Palatino Linotype" pitchFamily="34" charset="-122"/>
                <a:cs typeface="Palatino Linotype" pitchFamily="34" charset="-120"/>
              </a:rPr>
              <a:t>Elle traite Ion une fois qu’il a été repéré.</a:t>
            </a:r>
            <a:endParaRPr lang="en-US" sz="2200" dirty="0"/>
          </a:p>
        </p:txBody>
      </p:sp>
      <p:sp>
        <p:nvSpPr>
          <p:cNvPr id="10" name="Shape 8"/>
          <p:cNvSpPr/>
          <p:nvPr/>
        </p:nvSpPr>
        <p:spPr>
          <a:xfrm>
            <a:off x="594360" y="3931920"/>
            <a:ext cx="10972800" cy="1371600"/>
          </a:xfrm>
          <a:prstGeom prst="roundRect">
            <a:avLst>
              <a:gd name="adj" fmla="val 6000"/>
            </a:avLst>
          </a:prstGeom>
          <a:solidFill>
            <a:srgbClr val="11121A"/>
          </a:solidFill>
          <a:ln w="12700">
            <a:solidFill>
              <a:srgbClr val="11121A"/>
            </a:solidFill>
            <a:prstDash val="solid"/>
          </a:ln>
        </p:spPr>
      </p:sp>
      <p:sp>
        <p:nvSpPr>
          <p:cNvPr id="11" name="Text 9"/>
          <p:cNvSpPr/>
          <p:nvPr/>
        </p:nvSpPr>
        <p:spPr>
          <a:xfrm>
            <a:off x="868680" y="3931920"/>
            <a:ext cx="10424160" cy="1371600"/>
          </a:xfrm>
          <a:prstGeom prst="rect">
            <a:avLst/>
          </a:prstGeom>
          <a:noFill/>
          <a:ln/>
        </p:spPr>
        <p:txBody>
          <a:bodyPr wrap="square" lIns="0" tIns="0" rIns="0" bIns="0" rtlCol="0" anchor="ctr"/>
          <a:lstStyle/>
          <a:p>
            <a:pPr indent="0" marL="0">
              <a:buNone/>
            </a:pPr>
            <a:r>
              <a:rPr lang="en-US" sz="2000" b="1" dirty="0">
                <a:solidFill>
                  <a:srgbClr val="FFFFFF"/>
                </a:solidFill>
                <a:latin typeface="Palatino Linotype" pitchFamily="34" charset="0"/>
                <a:ea typeface="Palatino Linotype" pitchFamily="34" charset="-122"/>
                <a:cs typeface="Palatino Linotype" pitchFamily="34" charset="-120"/>
              </a:rPr>
              <a:t>Une politique qui ne choisit que l’une d’elles laisse sans réponse soit la majorité des cas, soit les patients qui ont déjà besoin d’un traitement.</a:t>
            </a:r>
            <a:endParaRPr lang="en-US" sz="2000" dirty="0"/>
          </a:p>
        </p:txBody>
      </p:sp>
      <p:sp>
        <p:nvSpPr>
          <p:cNvPr id="12" name="Text 10"/>
          <p:cNvSpPr/>
          <p:nvPr/>
        </p:nvSpPr>
        <p:spPr>
          <a:xfrm>
            <a:off x="594360" y="5486400"/>
            <a:ext cx="10972800" cy="457200"/>
          </a:xfrm>
          <a:prstGeom prst="rect">
            <a:avLst/>
          </a:prstGeom>
          <a:noFill/>
          <a:ln/>
        </p:spPr>
        <p:txBody>
          <a:bodyPr wrap="square" lIns="0" tIns="0" rIns="0" bIns="0" rtlCol="0" anchor="t"/>
          <a:lstStyle/>
          <a:p>
            <a:pPr indent="0" marL="0">
              <a:buNone/>
            </a:pPr>
            <a:r>
              <a:rPr lang="en-US" sz="1800" i="1" dirty="0">
                <a:solidFill>
                  <a:srgbClr val="B02532"/>
                </a:solidFill>
                <a:latin typeface="Palatino Linotype" pitchFamily="34" charset="0"/>
                <a:ea typeface="Palatino Linotype" pitchFamily="34" charset="-122"/>
                <a:cs typeface="Palatino Linotype" pitchFamily="34" charset="-120"/>
              </a:rPr>
              <a:t>Quel argument a fait changer les votes ?</a:t>
            </a:r>
            <a:endParaRPr lang="en-US" sz="1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CE QUI FONCTIONNE</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 Best buys » : le plus de santé pour chaque leu</a:t>
            </a:r>
            <a:endParaRPr lang="en-US" sz="3200" dirty="0"/>
          </a:p>
        </p:txBody>
      </p:sp>
      <p:sp>
        <p:nvSpPr>
          <p:cNvPr id="4" name="Shape 2"/>
          <p:cNvSpPr/>
          <p:nvPr/>
        </p:nvSpPr>
        <p:spPr>
          <a:xfrm>
            <a:off x="594360" y="1691640"/>
            <a:ext cx="3520440" cy="1691640"/>
          </a:xfrm>
          <a:prstGeom prst="roundRect">
            <a:avLst>
              <a:gd name="adj" fmla="val 4865"/>
            </a:avLst>
          </a:prstGeom>
          <a:solidFill>
            <a:srgbClr val="1D1F2B"/>
          </a:solidFill>
          <a:ln w="12700">
            <a:solidFill>
              <a:srgbClr val="1D1F2B"/>
            </a:solidFill>
            <a:prstDash val="solid"/>
          </a:ln>
        </p:spPr>
      </p:sp>
      <p:sp>
        <p:nvSpPr>
          <p:cNvPr id="5" name="Text 3"/>
          <p:cNvSpPr/>
          <p:nvPr/>
        </p:nvSpPr>
        <p:spPr>
          <a:xfrm>
            <a:off x="868680" y="1801368"/>
            <a:ext cx="2971800" cy="845820"/>
          </a:xfrm>
          <a:prstGeom prst="rect">
            <a:avLst/>
          </a:prstGeom>
          <a:noFill/>
          <a:ln/>
        </p:spPr>
        <p:txBody>
          <a:bodyPr wrap="square" lIns="0" tIns="0" rIns="0" bIns="0" rtlCol="0" anchor="ctr"/>
          <a:lstStyle/>
          <a:p>
            <a:pPr indent="0" marL="0">
              <a:buNone/>
            </a:pPr>
            <a:r>
              <a:rPr lang="en-US" sz="4800" b="1" dirty="0">
                <a:solidFill>
                  <a:srgbClr val="FFFFFF"/>
                </a:solidFill>
                <a:latin typeface="Palatino Linotype" pitchFamily="34" charset="0"/>
                <a:ea typeface="Palatino Linotype" pitchFamily="34" charset="-122"/>
                <a:cs typeface="Palatino Linotype" pitchFamily="34" charset="-120"/>
              </a:rPr>
              <a:t>90</a:t>
            </a:r>
            <a:endParaRPr lang="en-US" sz="4800" dirty="0"/>
          </a:p>
        </p:txBody>
      </p:sp>
      <p:sp>
        <p:nvSpPr>
          <p:cNvPr id="6" name="Text 4"/>
          <p:cNvSpPr/>
          <p:nvPr/>
        </p:nvSpPr>
        <p:spPr>
          <a:xfrm>
            <a:off x="868680" y="2555748"/>
            <a:ext cx="2971800" cy="778154"/>
          </a:xfrm>
          <a:prstGeom prst="rect">
            <a:avLst/>
          </a:prstGeom>
          <a:noFill/>
          <a:ln/>
        </p:spPr>
        <p:txBody>
          <a:bodyPr wrap="square" lIns="0" tIns="0" rIns="0" bIns="0" rtlCol="0" anchor="t"/>
          <a:lstStyle/>
          <a:p>
            <a:pPr indent="0" marL="0">
              <a:buNone/>
            </a:pPr>
            <a:r>
              <a:rPr lang="en-US" sz="1200" dirty="0">
                <a:solidFill>
                  <a:srgbClr val="D5D8E2"/>
                </a:solidFill>
                <a:latin typeface="Palatino Linotype" pitchFamily="34" charset="0"/>
                <a:ea typeface="Palatino Linotype" pitchFamily="34" charset="-122"/>
                <a:cs typeface="Palatino Linotype" pitchFamily="34" charset="-120"/>
              </a:rPr>
              <a:t>interventions, mise à jour de 2022</a:t>
            </a:r>
            <a:endParaRPr lang="en-US" sz="1200" dirty="0"/>
          </a:p>
        </p:txBody>
      </p:sp>
      <p:sp>
        <p:nvSpPr>
          <p:cNvPr id="7" name="Shape 5"/>
          <p:cNvSpPr/>
          <p:nvPr/>
        </p:nvSpPr>
        <p:spPr>
          <a:xfrm>
            <a:off x="4343400" y="1691640"/>
            <a:ext cx="3520440" cy="1691640"/>
          </a:xfrm>
          <a:prstGeom prst="roundRect">
            <a:avLst>
              <a:gd name="adj" fmla="val 4865"/>
            </a:avLst>
          </a:prstGeom>
          <a:solidFill>
            <a:srgbClr val="1D1F2B"/>
          </a:solidFill>
          <a:ln w="12700">
            <a:solidFill>
              <a:srgbClr val="1D1F2B"/>
            </a:solidFill>
            <a:prstDash val="solid"/>
          </a:ln>
        </p:spPr>
      </p:sp>
      <p:sp>
        <p:nvSpPr>
          <p:cNvPr id="8" name="Text 6"/>
          <p:cNvSpPr/>
          <p:nvPr/>
        </p:nvSpPr>
        <p:spPr>
          <a:xfrm>
            <a:off x="4617720" y="1801368"/>
            <a:ext cx="2971800" cy="845820"/>
          </a:xfrm>
          <a:prstGeom prst="rect">
            <a:avLst/>
          </a:prstGeom>
          <a:noFill/>
          <a:ln/>
        </p:spPr>
        <p:txBody>
          <a:bodyPr wrap="square" lIns="0" tIns="0" rIns="0" bIns="0" rtlCol="0" anchor="ctr"/>
          <a:lstStyle/>
          <a:p>
            <a:pPr indent="0" marL="0">
              <a:buNone/>
            </a:pPr>
            <a:r>
              <a:rPr lang="en-US" sz="4800" b="1" dirty="0">
                <a:solidFill>
                  <a:srgbClr val="FFFFFF"/>
                </a:solidFill>
                <a:latin typeface="Palatino Linotype" pitchFamily="34" charset="0"/>
                <a:ea typeface="Palatino Linotype" pitchFamily="34" charset="-122"/>
                <a:cs typeface="Palatino Linotype" pitchFamily="34" charset="-120"/>
              </a:rPr>
              <a:t>58</a:t>
            </a:r>
            <a:endParaRPr lang="en-US" sz="4800" dirty="0"/>
          </a:p>
        </p:txBody>
      </p:sp>
      <p:sp>
        <p:nvSpPr>
          <p:cNvPr id="9" name="Text 7"/>
          <p:cNvSpPr/>
          <p:nvPr/>
        </p:nvSpPr>
        <p:spPr>
          <a:xfrm>
            <a:off x="4617720" y="2555748"/>
            <a:ext cx="2971800" cy="778154"/>
          </a:xfrm>
          <a:prstGeom prst="rect">
            <a:avLst/>
          </a:prstGeom>
          <a:noFill/>
          <a:ln/>
        </p:spPr>
        <p:txBody>
          <a:bodyPr wrap="square" lIns="0" tIns="0" rIns="0" bIns="0" rtlCol="0" anchor="t"/>
          <a:lstStyle/>
          <a:p>
            <a:pPr indent="0" marL="0">
              <a:buNone/>
            </a:pPr>
            <a:r>
              <a:rPr lang="en-US" sz="1200" dirty="0">
                <a:solidFill>
                  <a:srgbClr val="D5D8E2"/>
                </a:solidFill>
                <a:latin typeface="Palatino Linotype" pitchFamily="34" charset="0"/>
                <a:ea typeface="Palatino Linotype" pitchFamily="34" charset="-122"/>
                <a:cs typeface="Palatino Linotype" pitchFamily="34" charset="-120"/>
              </a:rPr>
              <a:t>analysées pour leur rapport coût-efficacité</a:t>
            </a:r>
            <a:endParaRPr lang="en-US" sz="1200" dirty="0"/>
          </a:p>
        </p:txBody>
      </p:sp>
      <p:sp>
        <p:nvSpPr>
          <p:cNvPr id="10" name="Shape 8"/>
          <p:cNvSpPr/>
          <p:nvPr/>
        </p:nvSpPr>
        <p:spPr>
          <a:xfrm>
            <a:off x="8092440" y="1691640"/>
            <a:ext cx="3520440" cy="1691640"/>
          </a:xfrm>
          <a:prstGeom prst="roundRect">
            <a:avLst>
              <a:gd name="adj" fmla="val 4865"/>
            </a:avLst>
          </a:prstGeom>
          <a:solidFill>
            <a:srgbClr val="1D1F2B"/>
          </a:solidFill>
          <a:ln w="12700">
            <a:solidFill>
              <a:srgbClr val="1D1F2B"/>
            </a:solidFill>
            <a:prstDash val="solid"/>
          </a:ln>
        </p:spPr>
      </p:sp>
      <p:sp>
        <p:nvSpPr>
          <p:cNvPr id="11" name="Text 9"/>
          <p:cNvSpPr/>
          <p:nvPr/>
        </p:nvSpPr>
        <p:spPr>
          <a:xfrm>
            <a:off x="8366760" y="1801368"/>
            <a:ext cx="2971800" cy="845820"/>
          </a:xfrm>
          <a:prstGeom prst="rect">
            <a:avLst/>
          </a:prstGeom>
          <a:noFill/>
          <a:ln/>
        </p:spPr>
        <p:txBody>
          <a:bodyPr wrap="square" lIns="0" tIns="0" rIns="0" bIns="0" rtlCol="0" anchor="ctr"/>
          <a:lstStyle/>
          <a:p>
            <a:pPr indent="0" marL="0">
              <a:buNone/>
            </a:pPr>
            <a:r>
              <a:rPr lang="en-US" sz="4800" b="1" dirty="0">
                <a:solidFill>
                  <a:srgbClr val="FF4757"/>
                </a:solidFill>
                <a:latin typeface="Palatino Linotype" pitchFamily="34" charset="0"/>
                <a:ea typeface="Palatino Linotype" pitchFamily="34" charset="-122"/>
                <a:cs typeface="Palatino Linotype" pitchFamily="34" charset="-120"/>
              </a:rPr>
              <a:t>28</a:t>
            </a:r>
            <a:endParaRPr lang="en-US" sz="4800" dirty="0"/>
          </a:p>
        </p:txBody>
      </p:sp>
      <p:sp>
        <p:nvSpPr>
          <p:cNvPr id="12" name="Text 10"/>
          <p:cNvSpPr/>
          <p:nvPr/>
        </p:nvSpPr>
        <p:spPr>
          <a:xfrm>
            <a:off x="8366760" y="2555748"/>
            <a:ext cx="2971800" cy="778154"/>
          </a:xfrm>
          <a:prstGeom prst="rect">
            <a:avLst/>
          </a:prstGeom>
          <a:noFill/>
          <a:ln/>
        </p:spPr>
        <p:txBody>
          <a:bodyPr wrap="square" lIns="0" tIns="0" rIns="0" bIns="0" rtlCol="0" anchor="t"/>
          <a:lstStyle/>
          <a:p>
            <a:pPr indent="0" marL="0">
              <a:buNone/>
            </a:pPr>
            <a:r>
              <a:rPr lang="en-US" sz="1200" dirty="0">
                <a:solidFill>
                  <a:srgbClr val="D5D8E2"/>
                </a:solidFill>
                <a:latin typeface="Palatino Linotype" pitchFamily="34" charset="0"/>
                <a:ea typeface="Palatino Linotype" pitchFamily="34" charset="-122"/>
                <a:cs typeface="Palatino Linotype" pitchFamily="34" charset="-120"/>
              </a:rPr>
              <a:t>les plus coût-efficaces et faisables : les « best buys »</a:t>
            </a:r>
            <a:endParaRPr lang="en-US" sz="1200" dirty="0"/>
          </a:p>
        </p:txBody>
      </p:sp>
      <p:sp>
        <p:nvSpPr>
          <p:cNvPr id="13" name="Text 11"/>
          <p:cNvSpPr/>
          <p:nvPr/>
        </p:nvSpPr>
        <p:spPr>
          <a:xfrm>
            <a:off x="594360" y="3657600"/>
            <a:ext cx="10972800" cy="914400"/>
          </a:xfrm>
          <a:prstGeom prst="rect">
            <a:avLst/>
          </a:prstGeom>
          <a:noFill/>
          <a:ln/>
        </p:spPr>
        <p:txBody>
          <a:bodyPr wrap="square" lIns="0" tIns="0" rIns="0" bIns="0" rtlCol="0" anchor="t"/>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Le critère : au plus 100 dollars internationaux par année de vie en bonne santé gagnée, dans les pays à revenu faible et intermédiaire de la tranche inférieure.</a:t>
            </a:r>
            <a:endParaRPr lang="en-US" sz="1900" dirty="0"/>
          </a:p>
        </p:txBody>
      </p:sp>
      <p:sp>
        <p:nvSpPr>
          <p:cNvPr id="14" name="Text 12"/>
          <p:cNvSpPr/>
          <p:nvPr/>
        </p:nvSpPr>
        <p:spPr>
          <a:xfrm>
            <a:off x="594360" y="4754880"/>
            <a:ext cx="10972800" cy="822960"/>
          </a:xfrm>
          <a:prstGeom prst="rect">
            <a:avLst/>
          </a:prstGeom>
          <a:noFill/>
          <a:ln/>
        </p:spPr>
        <p:txBody>
          <a:bodyPr wrap="square" lIns="0" tIns="0" rIns="0" bIns="0" rtlCol="0" anchor="t"/>
          <a:lstStyle/>
          <a:p>
            <a:pPr indent="0" marL="0">
              <a:buNone/>
            </a:pPr>
            <a:r>
              <a:rPr lang="en-US" sz="1900" b="1" dirty="0">
                <a:solidFill>
                  <a:srgbClr val="FFC24B"/>
                </a:solidFill>
                <a:latin typeface="Palatino Linotype" pitchFamily="34" charset="0"/>
                <a:ea typeface="Palatino Linotype" pitchFamily="34" charset="-122"/>
                <a:cs typeface="Palatino Linotype" pitchFamily="34" charset="-120"/>
              </a:rPr>
              <a:t>Le seuil ne concerne pas la Roumanie : la liste dit ce qui est avantageux partout, pas ce qui est coût-efficace ici.</a:t>
            </a:r>
            <a:endParaRPr lang="en-US" sz="1900" dirty="0"/>
          </a:p>
        </p:txBody>
      </p:sp>
      <p:sp>
        <p:nvSpPr>
          <p:cNvPr id="15" name="Text 13"/>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Source : OMS, « Tackling NCDs », 2022.</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229600" y="292608"/>
            <a:ext cx="333756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229600" y="292608"/>
            <a:ext cx="333756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AVANT LA LISTE</a:t>
            </a:r>
            <a:endParaRPr lang="en-US" sz="1300" dirty="0"/>
          </a:p>
        </p:txBody>
      </p:sp>
      <p:sp>
        <p:nvSpPr>
          <p:cNvPr id="5" name="Text 3"/>
          <p:cNvSpPr/>
          <p:nvPr/>
        </p:nvSpPr>
        <p:spPr>
          <a:xfrm>
            <a:off x="594360" y="713232"/>
            <a:ext cx="7589520" cy="1005840"/>
          </a:xfrm>
          <a:prstGeom prst="rect">
            <a:avLst/>
          </a:prstGeom>
          <a:noFill/>
          <a:ln/>
        </p:spPr>
        <p:txBody>
          <a:bodyPr wrap="square" lIns="0" tIns="0" rIns="0" bIns="0" rtlCol="0" anchor="t"/>
          <a:lstStyle/>
          <a:p>
            <a:pPr indent="0" marL="0">
              <a:buNone/>
            </a:pPr>
            <a:r>
              <a:rPr lang="en-US" sz="2600" b="1" dirty="0">
                <a:solidFill>
                  <a:srgbClr val="FFFFFF"/>
                </a:solidFill>
                <a:latin typeface="Palatino Linotype" pitchFamily="34" charset="0"/>
                <a:ea typeface="Palatino Linotype" pitchFamily="34" charset="-122"/>
                <a:cs typeface="Palatino Linotype" pitchFamily="34" charset="-120"/>
              </a:rPr>
              <a:t>Quelle mesure contre le tabac est un « best buy » ?</a:t>
            </a:r>
            <a:endParaRPr lang="en-US" sz="2600" dirty="0"/>
          </a:p>
        </p:txBody>
      </p:sp>
      <p:sp>
        <p:nvSpPr>
          <p:cNvPr id="6" name="Shape 4"/>
          <p:cNvSpPr/>
          <p:nvPr/>
        </p:nvSpPr>
        <p:spPr>
          <a:xfrm>
            <a:off x="594360" y="1783080"/>
            <a:ext cx="10972800" cy="676656"/>
          </a:xfrm>
          <a:prstGeom prst="roundRect">
            <a:avLst>
              <a:gd name="adj" fmla="val 12162"/>
            </a:avLst>
          </a:prstGeom>
          <a:solidFill>
            <a:srgbClr val="1D1F2B"/>
          </a:solidFill>
          <a:ln w="12700">
            <a:solidFill>
              <a:srgbClr val="1D1F2B"/>
            </a:solidFill>
            <a:prstDash val="solid"/>
          </a:ln>
        </p:spPr>
      </p:sp>
      <p:sp>
        <p:nvSpPr>
          <p:cNvPr id="7" name="Shape 5"/>
          <p:cNvSpPr/>
          <p:nvPr/>
        </p:nvSpPr>
        <p:spPr>
          <a:xfrm>
            <a:off x="777240" y="1911096"/>
            <a:ext cx="420624" cy="420624"/>
          </a:xfrm>
          <a:prstGeom prst="ellipse">
            <a:avLst/>
          </a:prstGeom>
          <a:solidFill>
            <a:srgbClr val="FFC24B"/>
          </a:solidFill>
          <a:ln/>
        </p:spPr>
      </p:sp>
      <p:sp>
        <p:nvSpPr>
          <p:cNvPr id="8" name="Text 6"/>
          <p:cNvSpPr/>
          <p:nvPr/>
        </p:nvSpPr>
        <p:spPr>
          <a:xfrm>
            <a:off x="777240" y="191109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371600" y="1783080"/>
            <a:ext cx="10058400" cy="676656"/>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L’augmentation des droits d’accise et des prix des produits du tabac</a:t>
            </a:r>
            <a:endParaRPr lang="en-US" sz="2000" dirty="0"/>
          </a:p>
        </p:txBody>
      </p:sp>
      <p:sp>
        <p:nvSpPr>
          <p:cNvPr id="10" name="Shape 8"/>
          <p:cNvSpPr/>
          <p:nvPr/>
        </p:nvSpPr>
        <p:spPr>
          <a:xfrm>
            <a:off x="594360" y="2587752"/>
            <a:ext cx="10972800" cy="676656"/>
          </a:xfrm>
          <a:prstGeom prst="roundRect">
            <a:avLst>
              <a:gd name="adj" fmla="val 12162"/>
            </a:avLst>
          </a:prstGeom>
          <a:solidFill>
            <a:srgbClr val="1D1F2B"/>
          </a:solidFill>
          <a:ln w="12700">
            <a:solidFill>
              <a:srgbClr val="1D1F2B"/>
            </a:solidFill>
            <a:prstDash val="solid"/>
          </a:ln>
        </p:spPr>
      </p:sp>
      <p:sp>
        <p:nvSpPr>
          <p:cNvPr id="11" name="Shape 9"/>
          <p:cNvSpPr/>
          <p:nvPr/>
        </p:nvSpPr>
        <p:spPr>
          <a:xfrm>
            <a:off x="777240" y="2715768"/>
            <a:ext cx="420624" cy="420624"/>
          </a:xfrm>
          <a:prstGeom prst="ellipse">
            <a:avLst/>
          </a:prstGeom>
          <a:solidFill>
            <a:srgbClr val="FFC24B"/>
          </a:solidFill>
          <a:ln/>
        </p:spPr>
      </p:sp>
      <p:sp>
        <p:nvSpPr>
          <p:cNvPr id="12" name="Text 10"/>
          <p:cNvSpPr/>
          <p:nvPr/>
        </p:nvSpPr>
        <p:spPr>
          <a:xfrm>
            <a:off x="777240" y="271576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371600" y="2587752"/>
            <a:ext cx="10058400" cy="676656"/>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Un dépistage pulmonaire pour tous les fumeurs</a:t>
            </a:r>
            <a:endParaRPr lang="en-US" sz="2000" dirty="0"/>
          </a:p>
        </p:txBody>
      </p:sp>
      <p:sp>
        <p:nvSpPr>
          <p:cNvPr id="14" name="Shape 12"/>
          <p:cNvSpPr/>
          <p:nvPr/>
        </p:nvSpPr>
        <p:spPr>
          <a:xfrm>
            <a:off x="594360" y="3392424"/>
            <a:ext cx="10972800" cy="676656"/>
          </a:xfrm>
          <a:prstGeom prst="roundRect">
            <a:avLst>
              <a:gd name="adj" fmla="val 12162"/>
            </a:avLst>
          </a:prstGeom>
          <a:solidFill>
            <a:srgbClr val="1D1F2B"/>
          </a:solidFill>
          <a:ln w="12700">
            <a:solidFill>
              <a:srgbClr val="1D1F2B"/>
            </a:solidFill>
            <a:prstDash val="solid"/>
          </a:ln>
        </p:spPr>
      </p:sp>
      <p:sp>
        <p:nvSpPr>
          <p:cNvPr id="15" name="Shape 13"/>
          <p:cNvSpPr/>
          <p:nvPr/>
        </p:nvSpPr>
        <p:spPr>
          <a:xfrm>
            <a:off x="777240" y="3520440"/>
            <a:ext cx="420624" cy="420624"/>
          </a:xfrm>
          <a:prstGeom prst="ellipse">
            <a:avLst/>
          </a:prstGeom>
          <a:solidFill>
            <a:srgbClr val="FFC24B"/>
          </a:solidFill>
          <a:ln/>
        </p:spPr>
      </p:sp>
      <p:sp>
        <p:nvSpPr>
          <p:cNvPr id="16" name="Text 14"/>
          <p:cNvSpPr/>
          <p:nvPr/>
        </p:nvSpPr>
        <p:spPr>
          <a:xfrm>
            <a:off x="777240" y="352044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371600" y="3392424"/>
            <a:ext cx="10058400" cy="676656"/>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Le conseil uniquement à la demande du patient</a:t>
            </a:r>
            <a:endParaRPr lang="en-US" sz="2000" dirty="0"/>
          </a:p>
        </p:txBody>
      </p:sp>
      <p:sp>
        <p:nvSpPr>
          <p:cNvPr id="18" name="Shape 16"/>
          <p:cNvSpPr/>
          <p:nvPr/>
        </p:nvSpPr>
        <p:spPr>
          <a:xfrm>
            <a:off x="594360" y="4197096"/>
            <a:ext cx="10972800" cy="676656"/>
          </a:xfrm>
          <a:prstGeom prst="roundRect">
            <a:avLst>
              <a:gd name="adj" fmla="val 12162"/>
            </a:avLst>
          </a:prstGeom>
          <a:solidFill>
            <a:srgbClr val="1D1F2B"/>
          </a:solidFill>
          <a:ln w="12700">
            <a:solidFill>
              <a:srgbClr val="1D1F2B"/>
            </a:solidFill>
            <a:prstDash val="solid"/>
          </a:ln>
        </p:spPr>
      </p:sp>
      <p:sp>
        <p:nvSpPr>
          <p:cNvPr id="19" name="Shape 17"/>
          <p:cNvSpPr/>
          <p:nvPr/>
        </p:nvSpPr>
        <p:spPr>
          <a:xfrm>
            <a:off x="777240" y="4325112"/>
            <a:ext cx="420624" cy="420624"/>
          </a:xfrm>
          <a:prstGeom prst="ellipse">
            <a:avLst/>
          </a:prstGeom>
          <a:solidFill>
            <a:srgbClr val="FFC24B"/>
          </a:solidFill>
          <a:ln/>
        </p:spPr>
      </p:sp>
      <p:sp>
        <p:nvSpPr>
          <p:cNvPr id="20" name="Text 18"/>
          <p:cNvSpPr/>
          <p:nvPr/>
        </p:nvSpPr>
        <p:spPr>
          <a:xfrm>
            <a:off x="777240" y="432511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1" name="Text 19"/>
          <p:cNvSpPr/>
          <p:nvPr/>
        </p:nvSpPr>
        <p:spPr>
          <a:xfrm>
            <a:off x="1371600" y="4197096"/>
            <a:ext cx="10058400" cy="676656"/>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L’interdiction de la vente de tabac</a:t>
            </a:r>
            <a:endParaRPr lang="en-US" sz="2000" dirty="0"/>
          </a:p>
        </p:txBody>
      </p:sp>
      <p:sp>
        <p:nvSpPr>
          <p:cNvPr id="22" name="Text 20"/>
          <p:cNvSpPr/>
          <p:nvPr/>
        </p:nvSpPr>
        <p:spPr>
          <a:xfrm>
            <a:off x="594360" y="5212080"/>
            <a:ext cx="10972800" cy="502920"/>
          </a:xfrm>
          <a:prstGeom prst="rect">
            <a:avLst/>
          </a:prstGeom>
          <a:noFill/>
          <a:ln/>
        </p:spPr>
        <p:txBody>
          <a:bodyPr wrap="square" lIns="0" tIns="0" rIns="0" bIns="0" rtlCol="0" anchor="t"/>
          <a:lstStyle/>
          <a:p>
            <a:pPr indent="0" marL="0">
              <a:buNone/>
            </a:pPr>
            <a:r>
              <a:rPr lang="en-US" sz="2000" b="1" dirty="0">
                <a:solidFill>
                  <a:srgbClr val="FFC24B"/>
                </a:solidFill>
                <a:latin typeface="Palatino Linotype" pitchFamily="34" charset="0"/>
                <a:ea typeface="Palatino Linotype" pitchFamily="34" charset="-122"/>
                <a:cs typeface="Palatino Linotype" pitchFamily="34" charset="-120"/>
              </a:rPr>
              <a:t>Répondez sur votre téléphone, au code affiché.</a:t>
            </a:r>
            <a:endParaRPr lang="en-US" sz="2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LA RÉPONSE : A  ·  LA LISTE</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Ce que contient la liste</a:t>
            </a:r>
            <a:endParaRPr lang="en-US" sz="3200" dirty="0"/>
          </a:p>
        </p:txBody>
      </p:sp>
      <p:sp>
        <p:nvSpPr>
          <p:cNvPr id="4" name="Shape 2"/>
          <p:cNvSpPr/>
          <p:nvPr/>
        </p:nvSpPr>
        <p:spPr>
          <a:xfrm>
            <a:off x="594360" y="1463040"/>
            <a:ext cx="10972800" cy="786384"/>
          </a:xfrm>
          <a:prstGeom prst="roundRect">
            <a:avLst>
              <a:gd name="adj" fmla="val 10465"/>
            </a:avLst>
          </a:prstGeom>
          <a:solidFill>
            <a:srgbClr val="ECEAE4"/>
          </a:solidFill>
          <a:ln w="12700">
            <a:solidFill>
              <a:srgbClr val="ECEAE4"/>
            </a:solidFill>
            <a:prstDash val="solid"/>
          </a:ln>
        </p:spPr>
      </p:sp>
      <p:sp>
        <p:nvSpPr>
          <p:cNvPr id="5" name="Shape 3"/>
          <p:cNvSpPr/>
          <p:nvPr/>
        </p:nvSpPr>
        <p:spPr>
          <a:xfrm>
            <a:off x="868680" y="1645920"/>
            <a:ext cx="420624" cy="420624"/>
          </a:xfrm>
          <a:prstGeom prst="ellipse">
            <a:avLst/>
          </a:prstGeom>
          <a:solidFill>
            <a:srgbClr val="FF4757"/>
          </a:solidFill>
          <a:ln/>
        </p:spPr>
      </p:sp>
      <p:sp>
        <p:nvSpPr>
          <p:cNvPr id="6" name="Text 4"/>
          <p:cNvSpPr/>
          <p:nvPr/>
        </p:nvSpPr>
        <p:spPr>
          <a:xfrm>
            <a:off x="868680" y="164592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T</a:t>
            </a:r>
            <a:endParaRPr lang="en-US" sz="1400" dirty="0"/>
          </a:p>
        </p:txBody>
      </p:sp>
      <p:sp>
        <p:nvSpPr>
          <p:cNvPr id="7" name="Text 5"/>
          <p:cNvSpPr/>
          <p:nvPr/>
        </p:nvSpPr>
        <p:spPr>
          <a:xfrm>
            <a:off x="1508760" y="1463040"/>
            <a:ext cx="9829800" cy="786384"/>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Tabac : droits d’accise et prix, avertissements graphiques, interdiction de la publicité, lieux fermés sans fumée.</a:t>
            </a:r>
            <a:endParaRPr lang="en-US" sz="1600" dirty="0"/>
          </a:p>
        </p:txBody>
      </p:sp>
      <p:sp>
        <p:nvSpPr>
          <p:cNvPr id="8" name="Shape 6"/>
          <p:cNvSpPr/>
          <p:nvPr/>
        </p:nvSpPr>
        <p:spPr>
          <a:xfrm>
            <a:off x="594360" y="2359152"/>
            <a:ext cx="10972800" cy="786384"/>
          </a:xfrm>
          <a:prstGeom prst="roundRect">
            <a:avLst>
              <a:gd name="adj" fmla="val 10465"/>
            </a:avLst>
          </a:prstGeom>
          <a:solidFill>
            <a:srgbClr val="ECEAE4"/>
          </a:solidFill>
          <a:ln w="12700">
            <a:solidFill>
              <a:srgbClr val="ECEAE4"/>
            </a:solidFill>
            <a:prstDash val="solid"/>
          </a:ln>
        </p:spPr>
      </p:sp>
      <p:sp>
        <p:nvSpPr>
          <p:cNvPr id="9" name="Shape 7"/>
          <p:cNvSpPr/>
          <p:nvPr/>
        </p:nvSpPr>
        <p:spPr>
          <a:xfrm>
            <a:off x="868680" y="2542032"/>
            <a:ext cx="420624" cy="420624"/>
          </a:xfrm>
          <a:prstGeom prst="ellipse">
            <a:avLst/>
          </a:prstGeom>
          <a:solidFill>
            <a:srgbClr val="FF4757"/>
          </a:solidFill>
          <a:ln/>
        </p:spPr>
      </p:sp>
      <p:sp>
        <p:nvSpPr>
          <p:cNvPr id="10" name="Text 8"/>
          <p:cNvSpPr/>
          <p:nvPr/>
        </p:nvSpPr>
        <p:spPr>
          <a:xfrm>
            <a:off x="868680" y="2542032"/>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A</a:t>
            </a:r>
            <a:endParaRPr lang="en-US" sz="1400" dirty="0"/>
          </a:p>
        </p:txBody>
      </p:sp>
      <p:sp>
        <p:nvSpPr>
          <p:cNvPr id="11" name="Text 9"/>
          <p:cNvSpPr/>
          <p:nvPr/>
        </p:nvSpPr>
        <p:spPr>
          <a:xfrm>
            <a:off x="1508760" y="2359152"/>
            <a:ext cx="9829800" cy="786384"/>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Alcool : droits d’accise, moins de publicité, moins d’heures de vente.</a:t>
            </a:r>
            <a:endParaRPr lang="en-US" sz="1600" dirty="0"/>
          </a:p>
        </p:txBody>
      </p:sp>
      <p:sp>
        <p:nvSpPr>
          <p:cNvPr id="12" name="Shape 10"/>
          <p:cNvSpPr/>
          <p:nvPr/>
        </p:nvSpPr>
        <p:spPr>
          <a:xfrm>
            <a:off x="594360" y="3255264"/>
            <a:ext cx="10972800" cy="786384"/>
          </a:xfrm>
          <a:prstGeom prst="roundRect">
            <a:avLst>
              <a:gd name="adj" fmla="val 10465"/>
            </a:avLst>
          </a:prstGeom>
          <a:solidFill>
            <a:srgbClr val="ECEAE4"/>
          </a:solidFill>
          <a:ln w="12700">
            <a:solidFill>
              <a:srgbClr val="ECEAE4"/>
            </a:solidFill>
            <a:prstDash val="solid"/>
          </a:ln>
        </p:spPr>
      </p:sp>
      <p:sp>
        <p:nvSpPr>
          <p:cNvPr id="13" name="Shape 11"/>
          <p:cNvSpPr/>
          <p:nvPr/>
        </p:nvSpPr>
        <p:spPr>
          <a:xfrm>
            <a:off x="868680" y="3438144"/>
            <a:ext cx="420624" cy="420624"/>
          </a:xfrm>
          <a:prstGeom prst="ellipse">
            <a:avLst/>
          </a:prstGeom>
          <a:solidFill>
            <a:srgbClr val="FF4757"/>
          </a:solidFill>
          <a:ln/>
        </p:spPr>
      </p:sp>
      <p:sp>
        <p:nvSpPr>
          <p:cNvPr id="14" name="Text 12"/>
          <p:cNvSpPr/>
          <p:nvPr/>
        </p:nvSpPr>
        <p:spPr>
          <a:xfrm>
            <a:off x="868680" y="3438144"/>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N</a:t>
            </a:r>
            <a:endParaRPr lang="en-US" sz="1400" dirty="0"/>
          </a:p>
        </p:txBody>
      </p:sp>
      <p:sp>
        <p:nvSpPr>
          <p:cNvPr id="15" name="Text 13"/>
          <p:cNvSpPr/>
          <p:nvPr/>
        </p:nvSpPr>
        <p:spPr>
          <a:xfrm>
            <a:off x="1508760" y="3255264"/>
            <a:ext cx="9829800" cy="786384"/>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Alimentation : reformulation des aliments, étiquetage sur la face avant, protection des enfants contre le marketing.</a:t>
            </a:r>
            <a:endParaRPr lang="en-US" sz="1600" dirty="0"/>
          </a:p>
        </p:txBody>
      </p:sp>
      <p:sp>
        <p:nvSpPr>
          <p:cNvPr id="16" name="Shape 14"/>
          <p:cNvSpPr/>
          <p:nvPr/>
        </p:nvSpPr>
        <p:spPr>
          <a:xfrm>
            <a:off x="594360" y="4151376"/>
            <a:ext cx="10972800" cy="786384"/>
          </a:xfrm>
          <a:prstGeom prst="roundRect">
            <a:avLst>
              <a:gd name="adj" fmla="val 10465"/>
            </a:avLst>
          </a:prstGeom>
          <a:solidFill>
            <a:srgbClr val="ECEAE4"/>
          </a:solidFill>
          <a:ln w="12700">
            <a:solidFill>
              <a:srgbClr val="ECEAE4"/>
            </a:solidFill>
            <a:prstDash val="solid"/>
          </a:ln>
        </p:spPr>
      </p:sp>
      <p:sp>
        <p:nvSpPr>
          <p:cNvPr id="17" name="Shape 15"/>
          <p:cNvSpPr/>
          <p:nvPr/>
        </p:nvSpPr>
        <p:spPr>
          <a:xfrm>
            <a:off x="868680" y="4334256"/>
            <a:ext cx="420624" cy="420624"/>
          </a:xfrm>
          <a:prstGeom prst="ellipse">
            <a:avLst/>
          </a:prstGeom>
          <a:solidFill>
            <a:srgbClr val="FF4757"/>
          </a:solidFill>
          <a:ln/>
        </p:spPr>
      </p:sp>
      <p:sp>
        <p:nvSpPr>
          <p:cNvPr id="18" name="Text 16"/>
          <p:cNvSpPr/>
          <p:nvPr/>
        </p:nvSpPr>
        <p:spPr>
          <a:xfrm>
            <a:off x="868680" y="4334256"/>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C</a:t>
            </a:r>
            <a:endParaRPr lang="en-US" sz="1400" dirty="0"/>
          </a:p>
        </p:txBody>
      </p:sp>
      <p:sp>
        <p:nvSpPr>
          <p:cNvPr id="19" name="Text 17"/>
          <p:cNvSpPr/>
          <p:nvPr/>
        </p:nvSpPr>
        <p:spPr>
          <a:xfrm>
            <a:off x="1508760" y="4151376"/>
            <a:ext cx="9829800" cy="786384"/>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Cœur et vaisseaux : antihypertenseur et statine pour un risque d’au moins 20 % à dix ans, estimé avec les diagrammes de l’OMS.</a:t>
            </a:r>
            <a:endParaRPr lang="en-US" sz="1600" dirty="0"/>
          </a:p>
        </p:txBody>
      </p:sp>
      <p:sp>
        <p:nvSpPr>
          <p:cNvPr id="20" name="Shape 18"/>
          <p:cNvSpPr/>
          <p:nvPr/>
        </p:nvSpPr>
        <p:spPr>
          <a:xfrm>
            <a:off x="594360" y="5047488"/>
            <a:ext cx="10972800" cy="786384"/>
          </a:xfrm>
          <a:prstGeom prst="roundRect">
            <a:avLst>
              <a:gd name="adj" fmla="val 10465"/>
            </a:avLst>
          </a:prstGeom>
          <a:solidFill>
            <a:srgbClr val="ECEAE4"/>
          </a:solidFill>
          <a:ln w="12700">
            <a:solidFill>
              <a:srgbClr val="ECEAE4"/>
            </a:solidFill>
            <a:prstDash val="solid"/>
          </a:ln>
        </p:spPr>
      </p:sp>
      <p:sp>
        <p:nvSpPr>
          <p:cNvPr id="21" name="Shape 19"/>
          <p:cNvSpPr/>
          <p:nvPr/>
        </p:nvSpPr>
        <p:spPr>
          <a:xfrm>
            <a:off x="868680" y="5230368"/>
            <a:ext cx="420624" cy="420624"/>
          </a:xfrm>
          <a:prstGeom prst="ellipse">
            <a:avLst/>
          </a:prstGeom>
          <a:solidFill>
            <a:srgbClr val="FF4757"/>
          </a:solidFill>
          <a:ln/>
        </p:spPr>
      </p:sp>
      <p:sp>
        <p:nvSpPr>
          <p:cNvPr id="22" name="Text 20"/>
          <p:cNvSpPr/>
          <p:nvPr/>
        </p:nvSpPr>
        <p:spPr>
          <a:xfrm>
            <a:off x="868680" y="523036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H</a:t>
            </a:r>
            <a:endParaRPr lang="en-US" sz="1400" dirty="0"/>
          </a:p>
        </p:txBody>
      </p:sp>
      <p:sp>
        <p:nvSpPr>
          <p:cNvPr id="23" name="Text 21"/>
          <p:cNvSpPr/>
          <p:nvPr/>
        </p:nvSpPr>
        <p:spPr>
          <a:xfrm>
            <a:off x="1508760" y="5047488"/>
            <a:ext cx="9829800" cy="786384"/>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Cancers : vaccination HPV des filles de 9–14 ans ; test ADN du HPV à partir de 30 ans.</a:t>
            </a:r>
            <a:endParaRPr lang="en-US" sz="1600" dirty="0"/>
          </a:p>
        </p:txBody>
      </p:sp>
      <p:sp>
        <p:nvSpPr>
          <p:cNvPr id="24" name="Text 22"/>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Source : OMS, « Tackling NCDs », 2022.</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LA VACCINATION : PRÉVENTION PRIMAIRE</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Le seuil d’immunité collective</a:t>
            </a:r>
            <a:endParaRPr lang="en-US" sz="3200" dirty="0"/>
          </a:p>
        </p:txBody>
      </p:sp>
      <p:sp>
        <p:nvSpPr>
          <p:cNvPr id="4" name="Text 2"/>
          <p:cNvSpPr/>
          <p:nvPr/>
        </p:nvSpPr>
        <p:spPr>
          <a:xfrm>
            <a:off x="594360" y="1463040"/>
            <a:ext cx="10972800" cy="457200"/>
          </a:xfrm>
          <a:prstGeom prst="rect">
            <a:avLst/>
          </a:prstGeom>
          <a:noFill/>
          <a:ln/>
        </p:spPr>
        <p:txBody>
          <a:bodyPr wrap="square" lIns="0" tIns="0" rIns="0" bIns="0" rtlCol="0" anchor="t"/>
          <a:lstStyle/>
          <a:p>
            <a:pPr indent="0" marL="0">
              <a:buNone/>
            </a:pPr>
            <a:r>
              <a:rPr lang="en-US" sz="2000" b="1" dirty="0">
                <a:solidFill>
                  <a:srgbClr val="FFC24B"/>
                </a:solidFill>
                <a:latin typeface="Palatino Linotype" pitchFamily="34" charset="0"/>
                <a:ea typeface="Palatino Linotype" pitchFamily="34" charset="-122"/>
                <a:cs typeface="Palatino Linotype" pitchFamily="34" charset="-120"/>
              </a:rPr>
              <a:t>Combien de personnes doivent être protégées pour que la maladie ne circule plus.</a:t>
            </a:r>
            <a:endParaRPr lang="en-US" sz="2000" dirty="0"/>
          </a:p>
        </p:txBody>
      </p:sp>
      <p:sp>
        <p:nvSpPr>
          <p:cNvPr id="5" name="Shape 3"/>
          <p:cNvSpPr/>
          <p:nvPr/>
        </p:nvSpPr>
        <p:spPr>
          <a:xfrm>
            <a:off x="594360" y="2103120"/>
            <a:ext cx="10972800" cy="822960"/>
          </a:xfrm>
          <a:prstGeom prst="roundRect">
            <a:avLst>
              <a:gd name="adj" fmla="val 10000"/>
            </a:avLst>
          </a:prstGeom>
          <a:solidFill>
            <a:srgbClr val="272A38"/>
          </a:solidFill>
          <a:ln w="12700">
            <a:solidFill>
              <a:srgbClr val="272A38"/>
            </a:solidFill>
            <a:prstDash val="solid"/>
          </a:ln>
        </p:spPr>
      </p:sp>
      <p:sp>
        <p:nvSpPr>
          <p:cNvPr id="6" name="Text 4"/>
          <p:cNvSpPr/>
          <p:nvPr/>
        </p:nvSpPr>
        <p:spPr>
          <a:xfrm>
            <a:off x="868680" y="2103120"/>
            <a:ext cx="10424160" cy="822960"/>
          </a:xfrm>
          <a:prstGeom prst="rect">
            <a:avLst/>
          </a:prstGeom>
          <a:noFill/>
          <a:ln/>
        </p:spPr>
        <p:txBody>
          <a:bodyPr wrap="square" lIns="0" tIns="0" rIns="0" bIns="0" rtlCol="0" anchor="ctr"/>
          <a:lstStyle/>
          <a:p>
            <a:pPr indent="0" marL="0">
              <a:buNone/>
            </a:pPr>
            <a:r>
              <a:rPr lang="en-US" sz="2000" b="1" dirty="0">
                <a:solidFill>
                  <a:srgbClr val="FFFFFF"/>
                </a:solidFill>
                <a:latin typeface="Palatino Linotype" pitchFamily="34" charset="0"/>
                <a:ea typeface="Palatino Linotype" pitchFamily="34" charset="-122"/>
                <a:cs typeface="Palatino Linotype" pitchFamily="34" charset="-120"/>
              </a:rPr>
              <a:t>seuil = 1 − 1/R0   (R0 : combien de personnes un malade contamine, quand personne n’est immunisé)</a:t>
            </a:r>
            <a:endParaRPr lang="en-US" sz="2000" dirty="0"/>
          </a:p>
        </p:txBody>
      </p:sp>
      <p:sp>
        <p:nvSpPr>
          <p:cNvPr id="7" name="Shape 5"/>
          <p:cNvSpPr/>
          <p:nvPr/>
        </p:nvSpPr>
        <p:spPr>
          <a:xfrm>
            <a:off x="594360" y="3154680"/>
            <a:ext cx="5349240" cy="1737360"/>
          </a:xfrm>
          <a:prstGeom prst="roundRect">
            <a:avLst>
              <a:gd name="adj" fmla="val 4737"/>
            </a:avLst>
          </a:prstGeom>
          <a:solidFill>
            <a:srgbClr val="1D1F2B"/>
          </a:solidFill>
          <a:ln w="12700">
            <a:solidFill>
              <a:srgbClr val="1D1F2B"/>
            </a:solidFill>
            <a:prstDash val="solid"/>
          </a:ln>
        </p:spPr>
      </p:sp>
      <p:sp>
        <p:nvSpPr>
          <p:cNvPr id="8" name="Text 6"/>
          <p:cNvSpPr/>
          <p:nvPr/>
        </p:nvSpPr>
        <p:spPr>
          <a:xfrm>
            <a:off x="868680" y="3246120"/>
            <a:ext cx="4846320" cy="457200"/>
          </a:xfrm>
          <a:prstGeom prst="rect">
            <a:avLst/>
          </a:prstGeom>
          <a:noFill/>
          <a:ln/>
        </p:spPr>
        <p:txBody>
          <a:bodyPr wrap="square" lIns="0" tIns="0" rIns="0" bIns="0" rtlCol="0" anchor="t"/>
          <a:lstStyle/>
          <a:p>
            <a:pPr indent="0" marL="0">
              <a:buNone/>
            </a:pPr>
            <a:r>
              <a:rPr lang="en-US" sz="2000" b="1" dirty="0">
                <a:solidFill>
                  <a:srgbClr val="27D3BE"/>
                </a:solidFill>
                <a:latin typeface="Palatino Linotype" pitchFamily="34" charset="0"/>
                <a:ea typeface="Palatino Linotype" pitchFamily="34" charset="-122"/>
                <a:cs typeface="Palatino Linotype" pitchFamily="34" charset="-120"/>
              </a:rPr>
              <a:t>R0 = 4</a:t>
            </a:r>
            <a:endParaRPr lang="en-US" sz="2000" dirty="0"/>
          </a:p>
        </p:txBody>
      </p:sp>
      <p:sp>
        <p:nvSpPr>
          <p:cNvPr id="9" name="Text 7"/>
          <p:cNvSpPr/>
          <p:nvPr/>
        </p:nvSpPr>
        <p:spPr>
          <a:xfrm>
            <a:off x="868680" y="3749040"/>
            <a:ext cx="4846320" cy="105156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1 − 1/4 = 0,75 : les trois quarts de la population.</a:t>
            </a:r>
            <a:endParaRPr lang="en-US" sz="1700" dirty="0"/>
          </a:p>
        </p:txBody>
      </p:sp>
      <p:sp>
        <p:nvSpPr>
          <p:cNvPr id="10" name="Shape 8"/>
          <p:cNvSpPr/>
          <p:nvPr/>
        </p:nvSpPr>
        <p:spPr>
          <a:xfrm>
            <a:off x="6217920" y="3154680"/>
            <a:ext cx="5349240" cy="1737360"/>
          </a:xfrm>
          <a:prstGeom prst="roundRect">
            <a:avLst>
              <a:gd name="adj" fmla="val 4737"/>
            </a:avLst>
          </a:prstGeom>
          <a:solidFill>
            <a:srgbClr val="1D1F2B"/>
          </a:solidFill>
          <a:ln w="12700">
            <a:solidFill>
              <a:srgbClr val="1D1F2B"/>
            </a:solidFill>
            <a:prstDash val="solid"/>
          </a:ln>
        </p:spPr>
      </p:sp>
      <p:sp>
        <p:nvSpPr>
          <p:cNvPr id="11" name="Text 9"/>
          <p:cNvSpPr/>
          <p:nvPr/>
        </p:nvSpPr>
        <p:spPr>
          <a:xfrm>
            <a:off x="6492240" y="3246120"/>
            <a:ext cx="4846320" cy="457200"/>
          </a:xfrm>
          <a:prstGeom prst="rect">
            <a:avLst/>
          </a:prstGeom>
          <a:noFill/>
          <a:ln/>
        </p:spPr>
        <p:txBody>
          <a:bodyPr wrap="square" lIns="0" tIns="0" rIns="0" bIns="0" rtlCol="0" anchor="t"/>
          <a:lstStyle/>
          <a:p>
            <a:pPr indent="0" marL="0">
              <a:buNone/>
            </a:pPr>
            <a:r>
              <a:rPr lang="en-US" sz="2000" b="1" dirty="0">
                <a:solidFill>
                  <a:srgbClr val="FF4757"/>
                </a:solidFill>
                <a:latin typeface="Palatino Linotype" pitchFamily="34" charset="0"/>
                <a:ea typeface="Palatino Linotype" pitchFamily="34" charset="-122"/>
                <a:cs typeface="Palatino Linotype" pitchFamily="34" charset="-120"/>
              </a:rPr>
              <a:t>R0 = 10 (hypothétique)</a:t>
            </a:r>
            <a:endParaRPr lang="en-US" sz="2000" dirty="0"/>
          </a:p>
        </p:txBody>
      </p:sp>
      <p:sp>
        <p:nvSpPr>
          <p:cNvPr id="12" name="Text 10"/>
          <p:cNvSpPr/>
          <p:nvPr/>
        </p:nvSpPr>
        <p:spPr>
          <a:xfrm>
            <a:off x="6492240" y="3749040"/>
            <a:ext cx="4846320" cy="105156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Seuil 0,9 ; avec un vaccin qui protège 95 % des vaccinés, la couverture nécessaire ≈ 95 %.</a:t>
            </a:r>
            <a:endParaRPr lang="en-US" sz="1700" dirty="0"/>
          </a:p>
        </p:txBody>
      </p:sp>
      <p:sp>
        <p:nvSpPr>
          <p:cNvPr id="13" name="Text 11"/>
          <p:cNvSpPr/>
          <p:nvPr/>
        </p:nvSpPr>
        <p:spPr>
          <a:xfrm>
            <a:off x="594360" y="5120640"/>
            <a:ext cx="10972800" cy="731520"/>
          </a:xfrm>
          <a:prstGeom prst="rect">
            <a:avLst/>
          </a:prstGeom>
          <a:noFill/>
          <a:ln/>
        </p:spPr>
        <p:txBody>
          <a:bodyPr wrap="square" lIns="0" tIns="0" rIns="0" bIns="0" rtlCol="0" anchor="t"/>
          <a:lstStyle/>
          <a:p>
            <a:pPr indent="0" marL="0">
              <a:buNone/>
            </a:pPr>
            <a:r>
              <a:rPr lang="en-US" sz="1800" dirty="0">
                <a:solidFill>
                  <a:srgbClr val="D5D8E2"/>
                </a:solidFill>
                <a:latin typeface="Palatino Linotype" pitchFamily="34" charset="0"/>
                <a:ea typeface="Palatino Linotype" pitchFamily="34" charset="-122"/>
                <a:cs typeface="Palatino Linotype" pitchFamily="34" charset="-120"/>
              </a:rPr>
              <a:t>Pour la rougeole, l’OMS recommande deux doses ; les flambées surviennent là où les enfants ne sont pas vaccinés.</a:t>
            </a:r>
            <a:endParaRPr lang="en-US" sz="1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229600" y="292608"/>
            <a:ext cx="3337560" cy="420624"/>
          </a:xfrm>
          <a:prstGeom prst="roundRect">
            <a:avLst>
              <a:gd name="adj" fmla="val 50000"/>
            </a:avLst>
          </a:prstGeom>
          <a:solidFill>
            <a:srgbClr val="FFC24B"/>
          </a:solidFill>
          <a:ln w="12700">
            <a:solidFill>
              <a:srgbClr val="FFC24B"/>
            </a:solidFill>
            <a:prstDash val="solid"/>
          </a:ln>
        </p:spPr>
      </p:sp>
      <p:sp>
        <p:nvSpPr>
          <p:cNvPr id="3" name="Text 1"/>
          <p:cNvSpPr/>
          <p:nvPr/>
        </p:nvSpPr>
        <p:spPr>
          <a:xfrm>
            <a:off x="8229600" y="292608"/>
            <a:ext cx="333756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LE VOISIN</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CROIRIEZ-VOUS CE TITRE ?</a:t>
            </a:r>
            <a:endParaRPr lang="en-US" sz="1300" dirty="0"/>
          </a:p>
        </p:txBody>
      </p:sp>
      <p:sp>
        <p:nvSpPr>
          <p:cNvPr id="5" name="Text 3"/>
          <p:cNvSpPr/>
          <p:nvPr/>
        </p:nvSpPr>
        <p:spPr>
          <a:xfrm>
            <a:off x="594360" y="713232"/>
            <a:ext cx="7589520" cy="1005840"/>
          </a:xfrm>
          <a:prstGeom prst="rect">
            <a:avLst/>
          </a:prstGeom>
          <a:noFill/>
          <a:ln/>
        </p:spPr>
        <p:txBody>
          <a:bodyPr wrap="square" lIns="0" tIns="0" rIns="0" bIns="0" rtlCol="0" anchor="t"/>
          <a:lstStyle/>
          <a:p>
            <a:pPr indent="0" marL="0">
              <a:buNone/>
            </a:pPr>
            <a:r>
              <a:rPr lang="en-US" sz="2600" b="1" dirty="0">
                <a:solidFill>
                  <a:srgbClr val="FFFFFF"/>
                </a:solidFill>
                <a:latin typeface="Palatino Linotype" pitchFamily="34" charset="0"/>
                <a:ea typeface="Palatino Linotype" pitchFamily="34" charset="-122"/>
                <a:cs typeface="Palatino Linotype" pitchFamily="34" charset="-120"/>
              </a:rPr>
              <a:t>Un site d’information, avril 2025</a:t>
            </a:r>
            <a:endParaRPr lang="en-US" sz="2600" dirty="0"/>
          </a:p>
        </p:txBody>
      </p:sp>
      <p:sp>
        <p:nvSpPr>
          <p:cNvPr id="6" name="Shape 4"/>
          <p:cNvSpPr/>
          <p:nvPr/>
        </p:nvSpPr>
        <p:spPr>
          <a:xfrm>
            <a:off x="594360" y="1508760"/>
            <a:ext cx="10972800" cy="1554480"/>
          </a:xfrm>
          <a:prstGeom prst="roundRect">
            <a:avLst>
              <a:gd name="adj" fmla="val 5294"/>
            </a:avLst>
          </a:prstGeom>
          <a:solidFill>
            <a:srgbClr val="FFFFFF"/>
          </a:solidFill>
          <a:ln w="12700">
            <a:solidFill>
              <a:srgbClr val="FFFFFF"/>
            </a:solidFill>
            <a:prstDash val="solid"/>
          </a:ln>
        </p:spPr>
      </p:sp>
      <p:sp>
        <p:nvSpPr>
          <p:cNvPr id="7" name="Text 5"/>
          <p:cNvSpPr/>
          <p:nvPr/>
        </p:nvSpPr>
        <p:spPr>
          <a:xfrm>
            <a:off x="914400" y="1508760"/>
            <a:ext cx="10332720" cy="1554480"/>
          </a:xfrm>
          <a:prstGeom prst="rect">
            <a:avLst/>
          </a:prstGeom>
          <a:noFill/>
          <a:ln/>
        </p:spPr>
        <p:txBody>
          <a:bodyPr wrap="square" lIns="0" tIns="0" rIns="0" bIns="0" rtlCol="0" anchor="ctr"/>
          <a:lstStyle/>
          <a:p>
            <a:pPr indent="0" marL="0">
              <a:buNone/>
            </a:pPr>
            <a:r>
              <a:rPr lang="en-US" sz="2100" b="1" dirty="0">
                <a:solidFill>
                  <a:srgbClr val="11121A"/>
                </a:solidFill>
                <a:latin typeface="Palatino Linotype" pitchFamily="34" charset="0"/>
                <a:ea typeface="Palatino Linotype" pitchFamily="34" charset="-122"/>
                <a:cs typeface="Palatino Linotype" pitchFamily="34" charset="-120"/>
              </a:rPr>
              <a:t>« Explozie de cazuri de rujeolă în România: doar 1 din 4 copii e vaccinat »</a:t>
            </a:r>
            <a:endParaRPr lang="en-US" sz="2100" dirty="0"/>
          </a:p>
          <a:p>
            <a:pPr indent="0" marL="0">
              <a:buNone/>
            </a:pPr>
            <a:r>
              <a:rPr lang="en-US" sz="2100" b="1" dirty="0">
                <a:solidFill>
                  <a:srgbClr val="11121A"/>
                </a:solidFill>
                <a:latin typeface="Palatino Linotype" pitchFamily="34" charset="0"/>
                <a:ea typeface="Palatino Linotype" pitchFamily="34" charset="-122"/>
                <a:cs typeface="Palatino Linotype" pitchFamily="34" charset="-120"/>
              </a:rPr>
              <a:t>« Explosion des cas de rougeole en Roumanie : seulement un enfant sur quatre est vacciné »</a:t>
            </a:r>
            <a:endParaRPr lang="en-US" sz="2100" dirty="0"/>
          </a:p>
        </p:txBody>
      </p:sp>
      <p:sp>
        <p:nvSpPr>
          <p:cNvPr id="8" name="Shape 6"/>
          <p:cNvSpPr/>
          <p:nvPr/>
        </p:nvSpPr>
        <p:spPr>
          <a:xfrm>
            <a:off x="594360" y="3291840"/>
            <a:ext cx="10972800" cy="530352"/>
          </a:xfrm>
          <a:prstGeom prst="roundRect">
            <a:avLst>
              <a:gd name="adj" fmla="val 15517"/>
            </a:avLst>
          </a:prstGeom>
          <a:solidFill>
            <a:srgbClr val="1D1F2B"/>
          </a:solidFill>
          <a:ln w="12700">
            <a:solidFill>
              <a:srgbClr val="1D1F2B"/>
            </a:solidFill>
            <a:prstDash val="solid"/>
          </a:ln>
        </p:spPr>
      </p:sp>
      <p:sp>
        <p:nvSpPr>
          <p:cNvPr id="9" name="Shape 7"/>
          <p:cNvSpPr/>
          <p:nvPr/>
        </p:nvSpPr>
        <p:spPr>
          <a:xfrm>
            <a:off x="777240" y="3346704"/>
            <a:ext cx="420624" cy="420624"/>
          </a:xfrm>
          <a:prstGeom prst="ellipse">
            <a:avLst/>
          </a:prstGeom>
          <a:solidFill>
            <a:srgbClr val="FFC24B"/>
          </a:solidFill>
          <a:ln/>
        </p:spPr>
      </p:sp>
      <p:sp>
        <p:nvSpPr>
          <p:cNvPr id="10" name="Text 8"/>
          <p:cNvSpPr/>
          <p:nvPr/>
        </p:nvSpPr>
        <p:spPr>
          <a:xfrm>
            <a:off x="777240" y="334670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11" name="Text 9"/>
          <p:cNvSpPr/>
          <p:nvPr/>
        </p:nvSpPr>
        <p:spPr>
          <a:xfrm>
            <a:off x="1371600" y="3291840"/>
            <a:ext cx="10058400" cy="530352"/>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Le titre décrit correctement la couverture vaccinale des enfants en Roumanie</a:t>
            </a:r>
            <a:endParaRPr lang="en-US" sz="1800" dirty="0"/>
          </a:p>
        </p:txBody>
      </p:sp>
      <p:sp>
        <p:nvSpPr>
          <p:cNvPr id="12" name="Shape 10"/>
          <p:cNvSpPr/>
          <p:nvPr/>
        </p:nvSpPr>
        <p:spPr>
          <a:xfrm>
            <a:off x="594360" y="3950208"/>
            <a:ext cx="10972800" cy="530352"/>
          </a:xfrm>
          <a:prstGeom prst="roundRect">
            <a:avLst>
              <a:gd name="adj" fmla="val 15517"/>
            </a:avLst>
          </a:prstGeom>
          <a:solidFill>
            <a:srgbClr val="1D1F2B"/>
          </a:solidFill>
          <a:ln w="12700">
            <a:solidFill>
              <a:srgbClr val="1D1F2B"/>
            </a:solidFill>
            <a:prstDash val="solid"/>
          </a:ln>
        </p:spPr>
      </p:sp>
      <p:sp>
        <p:nvSpPr>
          <p:cNvPr id="13" name="Shape 11"/>
          <p:cNvSpPr/>
          <p:nvPr/>
        </p:nvSpPr>
        <p:spPr>
          <a:xfrm>
            <a:off x="777240" y="4005072"/>
            <a:ext cx="420624" cy="420624"/>
          </a:xfrm>
          <a:prstGeom prst="ellipse">
            <a:avLst/>
          </a:prstGeom>
          <a:solidFill>
            <a:srgbClr val="FFC24B"/>
          </a:solidFill>
          <a:ln/>
        </p:spPr>
      </p:sp>
      <p:sp>
        <p:nvSpPr>
          <p:cNvPr id="14" name="Text 12"/>
          <p:cNvSpPr/>
          <p:nvPr/>
        </p:nvSpPr>
        <p:spPr>
          <a:xfrm>
            <a:off x="777240" y="400507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5" name="Text 13"/>
          <p:cNvSpPr/>
          <p:nvPr/>
        </p:nvSpPr>
        <p:spPr>
          <a:xfrm>
            <a:off x="1371600" y="3950208"/>
            <a:ext cx="10058400" cy="530352"/>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Le titre ne dit pas de quels enfants il s’agit, il ne peut donc pas être vérifié</a:t>
            </a:r>
            <a:endParaRPr lang="en-US" sz="1800" dirty="0"/>
          </a:p>
        </p:txBody>
      </p:sp>
      <p:sp>
        <p:nvSpPr>
          <p:cNvPr id="16" name="Shape 14"/>
          <p:cNvSpPr/>
          <p:nvPr/>
        </p:nvSpPr>
        <p:spPr>
          <a:xfrm>
            <a:off x="594360" y="4608576"/>
            <a:ext cx="10972800" cy="530352"/>
          </a:xfrm>
          <a:prstGeom prst="roundRect">
            <a:avLst>
              <a:gd name="adj" fmla="val 15517"/>
            </a:avLst>
          </a:prstGeom>
          <a:solidFill>
            <a:srgbClr val="1D1F2B"/>
          </a:solidFill>
          <a:ln w="12700">
            <a:solidFill>
              <a:srgbClr val="1D1F2B"/>
            </a:solidFill>
            <a:prstDash val="solid"/>
          </a:ln>
        </p:spPr>
      </p:sp>
      <p:sp>
        <p:nvSpPr>
          <p:cNvPr id="17" name="Shape 15"/>
          <p:cNvSpPr/>
          <p:nvPr/>
        </p:nvSpPr>
        <p:spPr>
          <a:xfrm>
            <a:off x="777240" y="4663440"/>
            <a:ext cx="420624" cy="420624"/>
          </a:xfrm>
          <a:prstGeom prst="ellipse">
            <a:avLst/>
          </a:prstGeom>
          <a:solidFill>
            <a:srgbClr val="FFC24B"/>
          </a:solidFill>
          <a:ln/>
        </p:spPr>
      </p:sp>
      <p:sp>
        <p:nvSpPr>
          <p:cNvPr id="18" name="Text 16"/>
          <p:cNvSpPr/>
          <p:nvPr/>
        </p:nvSpPr>
        <p:spPr>
          <a:xfrm>
            <a:off x="777240" y="466344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9" name="Text 17"/>
          <p:cNvSpPr/>
          <p:nvPr/>
        </p:nvSpPr>
        <p:spPr>
          <a:xfrm>
            <a:off x="1371600" y="4608576"/>
            <a:ext cx="10058400" cy="530352"/>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Le titre est faux</a:t>
            </a:r>
            <a:endParaRPr lang="en-US" sz="1800" dirty="0"/>
          </a:p>
        </p:txBody>
      </p:sp>
      <p:sp>
        <p:nvSpPr>
          <p:cNvPr id="20" name="Text 18"/>
          <p:cNvSpPr/>
          <p:nvPr/>
        </p:nvSpPr>
        <p:spPr>
          <a:xfrm>
            <a:off x="594360" y="5440680"/>
            <a:ext cx="10972800" cy="502920"/>
          </a:xfrm>
          <a:prstGeom prst="rect">
            <a:avLst/>
          </a:prstGeom>
          <a:noFill/>
          <a:ln/>
        </p:spPr>
        <p:txBody>
          <a:bodyPr wrap="square" lIns="0" tIns="0" rIns="0" bIns="0" rtlCol="0" anchor="t"/>
          <a:lstStyle/>
          <a:p>
            <a:pPr indent="0" marL="0">
              <a:buNone/>
            </a:pPr>
            <a:r>
              <a:rPr lang="en-US" sz="1900" b="1" dirty="0">
                <a:solidFill>
                  <a:srgbClr val="FFC24B"/>
                </a:solidFill>
                <a:latin typeface="Palatino Linotype" pitchFamily="34" charset="0"/>
                <a:ea typeface="Palatino Linotype" pitchFamily="34" charset="-122"/>
                <a:cs typeface="Palatino Linotype" pitchFamily="34" charset="-120"/>
              </a:rPr>
              <a:t>Votez, puis deux minutes avec votre voisin. Répondez sur votre téléphone, au code affiché.</a:t>
            </a:r>
            <a:endParaRPr lang="en-US" sz="1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LA RÉPONSE : C</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Le titre est faux</a:t>
            </a:r>
            <a:endParaRPr lang="en-US" sz="3400" dirty="0"/>
          </a:p>
        </p:txBody>
      </p:sp>
      <p:sp>
        <p:nvSpPr>
          <p:cNvPr id="4" name="Shape 2"/>
          <p:cNvSpPr/>
          <p:nvPr/>
        </p:nvSpPr>
        <p:spPr>
          <a:xfrm>
            <a:off x="594360" y="1600200"/>
            <a:ext cx="5349240" cy="2743200"/>
          </a:xfrm>
          <a:prstGeom prst="roundRect">
            <a:avLst>
              <a:gd name="adj" fmla="val 3000"/>
            </a:avLst>
          </a:prstGeom>
          <a:solidFill>
            <a:srgbClr val="ECEAE4"/>
          </a:solidFill>
          <a:ln w="12700">
            <a:solidFill>
              <a:srgbClr val="ECEAE4"/>
            </a:solidFill>
            <a:prstDash val="solid"/>
          </a:ln>
        </p:spPr>
      </p:sp>
      <p:sp>
        <p:nvSpPr>
          <p:cNvPr id="5" name="Text 3"/>
          <p:cNvSpPr/>
          <p:nvPr/>
        </p:nvSpPr>
        <p:spPr>
          <a:xfrm>
            <a:off x="868680" y="1691640"/>
            <a:ext cx="4846320" cy="365760"/>
          </a:xfrm>
          <a:prstGeom prst="rect">
            <a:avLst/>
          </a:prstGeom>
          <a:noFill/>
          <a:ln/>
        </p:spPr>
        <p:txBody>
          <a:bodyPr wrap="square" lIns="0" tIns="0" rIns="0" bIns="0" rtlCol="0" anchor="t"/>
          <a:lstStyle/>
          <a:p>
            <a:pPr indent="0" marL="0">
              <a:buNone/>
            </a:pPr>
            <a:r>
              <a:rPr lang="en-US" sz="1200" b="1" spc="200" kern="0" dirty="0">
                <a:solidFill>
                  <a:srgbClr val="B02532"/>
                </a:solidFill>
                <a:latin typeface="Palatino Linotype" pitchFamily="34" charset="0"/>
                <a:ea typeface="Palatino Linotype" pitchFamily="34" charset="-122"/>
                <a:cs typeface="Palatino Linotype" pitchFamily="34" charset="-120"/>
              </a:rPr>
              <a:t>L’ARTICLE LUI-MÊME (SPOTMEDIA)</a:t>
            </a:r>
            <a:endParaRPr lang="en-US" sz="1200" dirty="0"/>
          </a:p>
        </p:txBody>
      </p:sp>
      <p:sp>
        <p:nvSpPr>
          <p:cNvPr id="6" name="Text 4"/>
          <p:cNvSpPr/>
          <p:nvPr/>
        </p:nvSpPr>
        <p:spPr>
          <a:xfrm>
            <a:off x="868680" y="2103120"/>
            <a:ext cx="4846320" cy="214884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 aproximativ un copil român din patru nu este vaccinat împotriva acestei boli » (« environ un enfant roumain sur quatre n’est pas vacciné ») : 78 % première dose, 62 % deuxième.</a:t>
            </a:r>
            <a:endParaRPr lang="en-US" sz="1800" dirty="0"/>
          </a:p>
        </p:txBody>
      </p:sp>
      <p:sp>
        <p:nvSpPr>
          <p:cNvPr id="7" name="Shape 5"/>
          <p:cNvSpPr/>
          <p:nvPr/>
        </p:nvSpPr>
        <p:spPr>
          <a:xfrm>
            <a:off x="6217920" y="1600200"/>
            <a:ext cx="5349240" cy="2743200"/>
          </a:xfrm>
          <a:prstGeom prst="roundRect">
            <a:avLst>
              <a:gd name="adj" fmla="val 3000"/>
            </a:avLst>
          </a:prstGeom>
          <a:solidFill>
            <a:srgbClr val="ECEAE4"/>
          </a:solidFill>
          <a:ln w="12700">
            <a:solidFill>
              <a:srgbClr val="ECEAE4"/>
            </a:solidFill>
            <a:prstDash val="solid"/>
          </a:ln>
        </p:spPr>
      </p:sp>
      <p:sp>
        <p:nvSpPr>
          <p:cNvPr id="8" name="Text 6"/>
          <p:cNvSpPr/>
          <p:nvPr/>
        </p:nvSpPr>
        <p:spPr>
          <a:xfrm>
            <a:off x="6492240" y="1691640"/>
            <a:ext cx="4846320" cy="365760"/>
          </a:xfrm>
          <a:prstGeom prst="rect">
            <a:avLst/>
          </a:prstGeom>
          <a:noFill/>
          <a:ln/>
        </p:spPr>
        <p:txBody>
          <a:bodyPr wrap="square" lIns="0" tIns="0" rIns="0" bIns="0" rtlCol="0" anchor="t"/>
          <a:lstStyle/>
          <a:p>
            <a:pPr indent="0" marL="0">
              <a:buNone/>
            </a:pPr>
            <a:r>
              <a:rPr lang="en-US" sz="1200" b="1" spc="200" kern="0" dirty="0">
                <a:solidFill>
                  <a:srgbClr val="0E7C6B"/>
                </a:solidFill>
                <a:latin typeface="Palatino Linotype" pitchFamily="34" charset="0"/>
                <a:ea typeface="Palatino Linotype" pitchFamily="34" charset="-122"/>
                <a:cs typeface="Palatino Linotype" pitchFamily="34" charset="-120"/>
              </a:rPr>
              <a:t>LES DONNÉES OFFICIELLES, 2024</a:t>
            </a:r>
            <a:endParaRPr lang="en-US" sz="1200" dirty="0"/>
          </a:p>
        </p:txBody>
      </p:sp>
      <p:sp>
        <p:nvSpPr>
          <p:cNvPr id="9" name="Text 7"/>
          <p:cNvSpPr/>
          <p:nvPr/>
        </p:nvSpPr>
        <p:spPr>
          <a:xfrm>
            <a:off x="6492240" y="2103120"/>
            <a:ext cx="4846320" cy="2148840"/>
          </a:xfrm>
          <a:prstGeom prst="rect">
            <a:avLst/>
          </a:prstGeom>
          <a:noFill/>
          <a:ln/>
        </p:spPr>
        <p:txBody>
          <a:bodyPr wrap="square" lIns="0" tIns="0" rIns="0" bIns="0" rtlCol="0" anchor="t"/>
          <a:lstStyle/>
          <a:p>
            <a:pPr indent="0" marL="0">
              <a:buNone/>
            </a:pPr>
            <a:r>
              <a:rPr lang="en-US" sz="2000" b="1" dirty="0">
                <a:solidFill>
                  <a:srgbClr val="11121A"/>
                </a:solidFill>
                <a:latin typeface="Palatino Linotype" pitchFamily="34" charset="0"/>
                <a:ea typeface="Palatino Linotype" pitchFamily="34" charset="-122"/>
                <a:cs typeface="Palatino Linotype" pitchFamily="34" charset="-120"/>
              </a:rPr>
              <a:t>INSP : 80,8 % première dose, 69,4 % deuxième. OMS et UNICEF : 68 % deuxième dose.</a:t>
            </a:r>
            <a:endParaRPr lang="en-US" sz="2000" dirty="0"/>
          </a:p>
        </p:txBody>
      </p:sp>
      <p:sp>
        <p:nvSpPr>
          <p:cNvPr id="10" name="Shape 8"/>
          <p:cNvSpPr/>
          <p:nvPr/>
        </p:nvSpPr>
        <p:spPr>
          <a:xfrm>
            <a:off x="594360" y="4572000"/>
            <a:ext cx="10972800" cy="1371600"/>
          </a:xfrm>
          <a:prstGeom prst="roundRect">
            <a:avLst>
              <a:gd name="adj" fmla="val 6000"/>
            </a:avLst>
          </a:prstGeom>
          <a:solidFill>
            <a:srgbClr val="11121A"/>
          </a:solidFill>
          <a:ln w="12700">
            <a:solidFill>
              <a:srgbClr val="11121A"/>
            </a:solidFill>
            <a:prstDash val="solid"/>
          </a:ln>
        </p:spPr>
      </p:sp>
      <p:sp>
        <p:nvSpPr>
          <p:cNvPr id="11" name="Text 9"/>
          <p:cNvSpPr/>
          <p:nvPr/>
        </p:nvSpPr>
        <p:spPr>
          <a:xfrm>
            <a:off x="868680" y="4572000"/>
            <a:ext cx="10424160" cy="1371600"/>
          </a:xfrm>
          <a:prstGeom prst="rect">
            <a:avLst/>
          </a:prstGeom>
          <a:noFill/>
          <a:ln/>
        </p:spPr>
        <p:txBody>
          <a:bodyPr wrap="square" lIns="0" tIns="0" rIns="0" bIns="0" rtlCol="0" anchor="ctr"/>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Le titre a inversé la proportion de son propre article. La couverture réelle est bien plus élevée, mais inférieure à celle qui est nécessaire pour arrêter la transmission.</a:t>
            </a:r>
            <a:endParaRPr lang="en-US" sz="1900" dirty="0"/>
          </a:p>
        </p:txBody>
      </p:sp>
      <p:sp>
        <p:nvSpPr>
          <p:cNvPr id="12" name="Text 10"/>
          <p:cNvSpPr/>
          <p:nvPr/>
        </p:nvSpPr>
        <p:spPr>
          <a:xfrm>
            <a:off x="594360" y="6382512"/>
            <a:ext cx="1097280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Avant de croire un titre : lisez l’article et la source officielle.</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229600" y="292608"/>
            <a:ext cx="3337560" cy="420624"/>
          </a:xfrm>
          <a:prstGeom prst="roundRect">
            <a:avLst>
              <a:gd name="adj" fmla="val 50000"/>
            </a:avLst>
          </a:prstGeom>
          <a:solidFill>
            <a:srgbClr val="27D3BE"/>
          </a:solidFill>
          <a:ln w="12700">
            <a:solidFill>
              <a:srgbClr val="27D3BE"/>
            </a:solidFill>
            <a:prstDash val="solid"/>
          </a:ln>
        </p:spPr>
      </p:sp>
      <p:sp>
        <p:nvSpPr>
          <p:cNvPr id="3" name="Text 1"/>
          <p:cNvSpPr/>
          <p:nvPr/>
        </p:nvSpPr>
        <p:spPr>
          <a:xfrm>
            <a:off x="8229600" y="292608"/>
            <a:ext cx="333756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KAHOOT · 8 MINUTES</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RÉVISION</a:t>
            </a:r>
            <a:endParaRPr lang="en-US" sz="1300" dirty="0"/>
          </a:p>
        </p:txBody>
      </p:sp>
      <p:sp>
        <p:nvSpPr>
          <p:cNvPr id="5" name="Text 3"/>
          <p:cNvSpPr/>
          <p:nvPr/>
        </p:nvSpPr>
        <p:spPr>
          <a:xfrm>
            <a:off x="594360" y="713232"/>
            <a:ext cx="7589520" cy="100584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Dix affirmations : vrai ou faux ?</a:t>
            </a:r>
            <a:endParaRPr lang="en-US" sz="3400" dirty="0"/>
          </a:p>
        </p:txBody>
      </p:sp>
      <p:sp>
        <p:nvSpPr>
          <p:cNvPr id="6" name="Shape 4"/>
          <p:cNvSpPr/>
          <p:nvPr/>
        </p:nvSpPr>
        <p:spPr>
          <a:xfrm>
            <a:off x="594360" y="1828800"/>
            <a:ext cx="10972800" cy="2194560"/>
          </a:xfrm>
          <a:prstGeom prst="roundRect">
            <a:avLst>
              <a:gd name="adj" fmla="val 3750"/>
            </a:avLst>
          </a:prstGeom>
          <a:solidFill>
            <a:srgbClr val="1D1F2B"/>
          </a:solidFill>
          <a:ln w="12700">
            <a:solidFill>
              <a:srgbClr val="1D1F2B"/>
            </a:solidFill>
            <a:prstDash val="solid"/>
          </a:ln>
        </p:spPr>
      </p:sp>
      <p:sp>
        <p:nvSpPr>
          <p:cNvPr id="7" name="Text 5"/>
          <p:cNvSpPr/>
          <p:nvPr/>
        </p:nvSpPr>
        <p:spPr>
          <a:xfrm>
            <a:off x="914400" y="1828800"/>
            <a:ext cx="10332720" cy="2194560"/>
          </a:xfrm>
          <a:prstGeom prst="rect">
            <a:avLst/>
          </a:prstGeom>
          <a:noFill/>
          <a:ln/>
        </p:spPr>
        <p:txBody>
          <a:bodyPr wrap="square" lIns="0" tIns="0" rIns="0" bIns="0" rtlCol="0" anchor="ctr"/>
          <a:lstStyle/>
          <a:p>
            <a:pPr indent="0" marL="0">
              <a:buNone/>
            </a:pPr>
            <a:r>
              <a:rPr lang="en-US" sz="2100" dirty="0">
                <a:solidFill>
                  <a:srgbClr val="FFFFFF"/>
                </a:solidFill>
                <a:latin typeface="Palatino Linotype" pitchFamily="34" charset="0"/>
                <a:ea typeface="Palatino Linotype" pitchFamily="34" charset="-122"/>
                <a:cs typeface="Palatino Linotype" pitchFamily="34" charset="-120"/>
              </a:rPr>
              <a:t>Dans l’ordre du cours : les maladies non transmissibles, le rang de la Roumanie, les causes, les données déclarées, les niveaux de prévention, le nombre de patients à traiter, le paradoxe de la prévention, les « best buys » et l’immunité collective.</a:t>
            </a:r>
            <a:endParaRPr lang="en-US" sz="2100" dirty="0"/>
          </a:p>
        </p:txBody>
      </p:sp>
      <p:sp>
        <p:nvSpPr>
          <p:cNvPr id="8" name="Text 6"/>
          <p:cNvSpPr/>
          <p:nvPr/>
        </p:nvSpPr>
        <p:spPr>
          <a:xfrm>
            <a:off x="594360" y="4389120"/>
            <a:ext cx="10972800" cy="548640"/>
          </a:xfrm>
          <a:prstGeom prst="rect">
            <a:avLst/>
          </a:prstGeom>
          <a:noFill/>
          <a:ln/>
        </p:spPr>
        <p:txBody>
          <a:bodyPr wrap="square" lIns="0" tIns="0" rIns="0" bIns="0" rtlCol="0" anchor="t"/>
          <a:lstStyle/>
          <a:p>
            <a:pPr indent="0" marL="0">
              <a:buNone/>
            </a:pPr>
            <a:r>
              <a:rPr lang="en-US" sz="1900" b="1" dirty="0">
                <a:solidFill>
                  <a:srgbClr val="27D3BE"/>
                </a:solidFill>
                <a:latin typeface="Palatino Linotype" pitchFamily="34" charset="0"/>
                <a:ea typeface="Palatino Linotype" pitchFamily="34" charset="-122"/>
                <a:cs typeface="Palatino Linotype" pitchFamily="34" charset="-120"/>
              </a:rPr>
              <a:t>Le code du jeu s’affiche à l’écran. Vingt secondes pour chaque affirmation.</a:t>
            </a:r>
            <a:endParaRPr lang="en-US" sz="1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LA CLÉ</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Vrai ou faux : les réponses</a:t>
            </a:r>
            <a:endParaRPr lang="en-US" sz="3200" dirty="0"/>
          </a:p>
        </p:txBody>
      </p:sp>
      <p:sp>
        <p:nvSpPr>
          <p:cNvPr id="4" name="Shape 2"/>
          <p:cNvSpPr/>
          <p:nvPr/>
        </p:nvSpPr>
        <p:spPr>
          <a:xfrm>
            <a:off x="594360" y="1600200"/>
            <a:ext cx="5349240" cy="731520"/>
          </a:xfrm>
          <a:prstGeom prst="roundRect">
            <a:avLst>
              <a:gd name="adj" fmla="val 11250"/>
            </a:avLst>
          </a:prstGeom>
          <a:solidFill>
            <a:srgbClr val="ECEAE4"/>
          </a:solidFill>
          <a:ln w="12700">
            <a:solidFill>
              <a:srgbClr val="ECEAE4"/>
            </a:solidFill>
            <a:prstDash val="solid"/>
          </a:ln>
        </p:spPr>
      </p:sp>
      <p:sp>
        <p:nvSpPr>
          <p:cNvPr id="5" name="Shape 3"/>
          <p:cNvSpPr/>
          <p:nvPr/>
        </p:nvSpPr>
        <p:spPr>
          <a:xfrm>
            <a:off x="777240" y="1755648"/>
            <a:ext cx="420624" cy="420624"/>
          </a:xfrm>
          <a:prstGeom prst="ellipse">
            <a:avLst/>
          </a:prstGeom>
          <a:solidFill>
            <a:srgbClr val="FFC24B"/>
          </a:solidFill>
          <a:ln/>
        </p:spPr>
      </p:sp>
      <p:sp>
        <p:nvSpPr>
          <p:cNvPr id="6" name="Text 4"/>
          <p:cNvSpPr/>
          <p:nvPr/>
        </p:nvSpPr>
        <p:spPr>
          <a:xfrm>
            <a:off x="777240" y="17556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371600" y="1600200"/>
            <a:ext cx="548640" cy="731520"/>
          </a:xfrm>
          <a:prstGeom prst="rect">
            <a:avLst/>
          </a:prstGeom>
          <a:noFill/>
          <a:ln/>
        </p:spPr>
        <p:txBody>
          <a:bodyPr wrap="square" lIns="0" tIns="0" rIns="0" bIns="0" rtlCol="0" anchor="ctr"/>
          <a:lstStyle/>
          <a:p>
            <a:pPr indent="0" marL="0">
              <a:buNone/>
            </a:pPr>
            <a:r>
              <a:rPr lang="en-US" sz="2400" b="1" dirty="0">
                <a:solidFill>
                  <a:srgbClr val="0E7C6B"/>
                </a:solidFill>
                <a:latin typeface="Palatino Linotype" pitchFamily="34" charset="0"/>
                <a:ea typeface="Palatino Linotype" pitchFamily="34" charset="-122"/>
                <a:cs typeface="Palatino Linotype" pitchFamily="34" charset="-120"/>
              </a:rPr>
              <a:t>V</a:t>
            </a:r>
            <a:endParaRPr lang="en-US" sz="2400" dirty="0"/>
          </a:p>
        </p:txBody>
      </p:sp>
      <p:sp>
        <p:nvSpPr>
          <p:cNvPr id="8" name="Text 6"/>
          <p:cNvSpPr/>
          <p:nvPr/>
        </p:nvSpPr>
        <p:spPr>
          <a:xfrm>
            <a:off x="1965960" y="1600200"/>
            <a:ext cx="3840480" cy="73152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le diabète est l’un des quatre groupes</a:t>
            </a:r>
            <a:endParaRPr lang="en-US" sz="1500" dirty="0"/>
          </a:p>
        </p:txBody>
      </p:sp>
      <p:sp>
        <p:nvSpPr>
          <p:cNvPr id="9" name="Shape 7"/>
          <p:cNvSpPr/>
          <p:nvPr/>
        </p:nvSpPr>
        <p:spPr>
          <a:xfrm>
            <a:off x="594360" y="2450592"/>
            <a:ext cx="5349240" cy="731520"/>
          </a:xfrm>
          <a:prstGeom prst="roundRect">
            <a:avLst>
              <a:gd name="adj" fmla="val 11250"/>
            </a:avLst>
          </a:prstGeom>
          <a:solidFill>
            <a:srgbClr val="ECEAE4"/>
          </a:solidFill>
          <a:ln w="12700">
            <a:solidFill>
              <a:srgbClr val="ECEAE4"/>
            </a:solidFill>
            <a:prstDash val="solid"/>
          </a:ln>
        </p:spPr>
      </p:sp>
      <p:sp>
        <p:nvSpPr>
          <p:cNvPr id="10" name="Shape 8"/>
          <p:cNvSpPr/>
          <p:nvPr/>
        </p:nvSpPr>
        <p:spPr>
          <a:xfrm>
            <a:off x="777240" y="2606040"/>
            <a:ext cx="420624" cy="420624"/>
          </a:xfrm>
          <a:prstGeom prst="ellipse">
            <a:avLst/>
          </a:prstGeom>
          <a:solidFill>
            <a:srgbClr val="FFC24B"/>
          </a:solidFill>
          <a:ln/>
        </p:spPr>
      </p:sp>
      <p:sp>
        <p:nvSpPr>
          <p:cNvPr id="11" name="Text 9"/>
          <p:cNvSpPr/>
          <p:nvPr/>
        </p:nvSpPr>
        <p:spPr>
          <a:xfrm>
            <a:off x="777240" y="260604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2" name="Text 10"/>
          <p:cNvSpPr/>
          <p:nvPr/>
        </p:nvSpPr>
        <p:spPr>
          <a:xfrm>
            <a:off x="1371600" y="2450592"/>
            <a:ext cx="548640" cy="731520"/>
          </a:xfrm>
          <a:prstGeom prst="rect">
            <a:avLst/>
          </a:prstGeom>
          <a:noFill/>
          <a:ln/>
        </p:spPr>
        <p:txBody>
          <a:bodyPr wrap="square" lIns="0" tIns="0" rIns="0" bIns="0" rtlCol="0" anchor="ctr"/>
          <a:lstStyle/>
          <a:p>
            <a:pPr indent="0" marL="0">
              <a:buNone/>
            </a:pPr>
            <a:r>
              <a:rPr lang="en-US" sz="2400" b="1" dirty="0">
                <a:solidFill>
                  <a:srgbClr val="B02532"/>
                </a:solidFill>
                <a:latin typeface="Palatino Linotype" pitchFamily="34" charset="0"/>
                <a:ea typeface="Palatino Linotype" pitchFamily="34" charset="-122"/>
                <a:cs typeface="Palatino Linotype" pitchFamily="34" charset="-120"/>
              </a:rPr>
              <a:t>F</a:t>
            </a:r>
            <a:endParaRPr lang="en-US" sz="2400" dirty="0"/>
          </a:p>
        </p:txBody>
      </p:sp>
      <p:sp>
        <p:nvSpPr>
          <p:cNvPr id="13" name="Text 11"/>
          <p:cNvSpPr/>
          <p:nvPr/>
        </p:nvSpPr>
        <p:spPr>
          <a:xfrm>
            <a:off x="1965960" y="2450592"/>
            <a:ext cx="3840480" cy="73152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l’obésité est un facteur métabolique</a:t>
            </a:r>
            <a:endParaRPr lang="en-US" sz="1500" dirty="0"/>
          </a:p>
        </p:txBody>
      </p:sp>
      <p:sp>
        <p:nvSpPr>
          <p:cNvPr id="14" name="Shape 12"/>
          <p:cNvSpPr/>
          <p:nvPr/>
        </p:nvSpPr>
        <p:spPr>
          <a:xfrm>
            <a:off x="594360" y="3300984"/>
            <a:ext cx="5349240" cy="731520"/>
          </a:xfrm>
          <a:prstGeom prst="roundRect">
            <a:avLst>
              <a:gd name="adj" fmla="val 11250"/>
            </a:avLst>
          </a:prstGeom>
          <a:solidFill>
            <a:srgbClr val="ECEAE4"/>
          </a:solidFill>
          <a:ln w="12700">
            <a:solidFill>
              <a:srgbClr val="ECEAE4"/>
            </a:solidFill>
            <a:prstDash val="solid"/>
          </a:ln>
        </p:spPr>
      </p:sp>
      <p:sp>
        <p:nvSpPr>
          <p:cNvPr id="15" name="Shape 13"/>
          <p:cNvSpPr/>
          <p:nvPr/>
        </p:nvSpPr>
        <p:spPr>
          <a:xfrm>
            <a:off x="777240" y="3456432"/>
            <a:ext cx="420624" cy="420624"/>
          </a:xfrm>
          <a:prstGeom prst="ellipse">
            <a:avLst/>
          </a:prstGeom>
          <a:solidFill>
            <a:srgbClr val="FFC24B"/>
          </a:solidFill>
          <a:ln/>
        </p:spPr>
      </p:sp>
      <p:sp>
        <p:nvSpPr>
          <p:cNvPr id="16" name="Text 14"/>
          <p:cNvSpPr/>
          <p:nvPr/>
        </p:nvSpPr>
        <p:spPr>
          <a:xfrm>
            <a:off x="777240" y="345643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7" name="Text 15"/>
          <p:cNvSpPr/>
          <p:nvPr/>
        </p:nvSpPr>
        <p:spPr>
          <a:xfrm>
            <a:off x="1371600" y="3300984"/>
            <a:ext cx="548640" cy="731520"/>
          </a:xfrm>
          <a:prstGeom prst="rect">
            <a:avLst/>
          </a:prstGeom>
          <a:noFill/>
          <a:ln/>
        </p:spPr>
        <p:txBody>
          <a:bodyPr wrap="square" lIns="0" tIns="0" rIns="0" bIns="0" rtlCol="0" anchor="ctr"/>
          <a:lstStyle/>
          <a:p>
            <a:pPr indent="0" marL="0">
              <a:buNone/>
            </a:pPr>
            <a:r>
              <a:rPr lang="en-US" sz="2400" b="1" dirty="0">
                <a:solidFill>
                  <a:srgbClr val="B02532"/>
                </a:solidFill>
                <a:latin typeface="Palatino Linotype" pitchFamily="34" charset="0"/>
                <a:ea typeface="Palatino Linotype" pitchFamily="34" charset="-122"/>
                <a:cs typeface="Palatino Linotype" pitchFamily="34" charset="-120"/>
              </a:rPr>
              <a:t>F</a:t>
            </a:r>
            <a:endParaRPr lang="en-US" sz="2400" dirty="0"/>
          </a:p>
        </p:txBody>
      </p:sp>
      <p:sp>
        <p:nvSpPr>
          <p:cNvPr id="18" name="Text 16"/>
          <p:cNvSpPr/>
          <p:nvPr/>
        </p:nvSpPr>
        <p:spPr>
          <a:xfrm>
            <a:off x="1965960" y="3300984"/>
            <a:ext cx="3840480" cy="73152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quatrième rang</a:t>
            </a:r>
            <a:endParaRPr lang="en-US" sz="1500" dirty="0"/>
          </a:p>
        </p:txBody>
      </p:sp>
      <p:sp>
        <p:nvSpPr>
          <p:cNvPr id="19" name="Shape 17"/>
          <p:cNvSpPr/>
          <p:nvPr/>
        </p:nvSpPr>
        <p:spPr>
          <a:xfrm>
            <a:off x="594360" y="4151376"/>
            <a:ext cx="5349240" cy="731520"/>
          </a:xfrm>
          <a:prstGeom prst="roundRect">
            <a:avLst>
              <a:gd name="adj" fmla="val 11250"/>
            </a:avLst>
          </a:prstGeom>
          <a:solidFill>
            <a:srgbClr val="ECEAE4"/>
          </a:solidFill>
          <a:ln w="12700">
            <a:solidFill>
              <a:srgbClr val="ECEAE4"/>
            </a:solidFill>
            <a:prstDash val="solid"/>
          </a:ln>
        </p:spPr>
      </p:sp>
      <p:sp>
        <p:nvSpPr>
          <p:cNvPr id="20" name="Shape 18"/>
          <p:cNvSpPr/>
          <p:nvPr/>
        </p:nvSpPr>
        <p:spPr>
          <a:xfrm>
            <a:off x="777240" y="4306824"/>
            <a:ext cx="420624" cy="420624"/>
          </a:xfrm>
          <a:prstGeom prst="ellipse">
            <a:avLst/>
          </a:prstGeom>
          <a:solidFill>
            <a:srgbClr val="FFC24B"/>
          </a:solidFill>
          <a:ln/>
        </p:spPr>
      </p:sp>
      <p:sp>
        <p:nvSpPr>
          <p:cNvPr id="21" name="Text 19"/>
          <p:cNvSpPr/>
          <p:nvPr/>
        </p:nvSpPr>
        <p:spPr>
          <a:xfrm>
            <a:off x="777240" y="430682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22" name="Text 20"/>
          <p:cNvSpPr/>
          <p:nvPr/>
        </p:nvSpPr>
        <p:spPr>
          <a:xfrm>
            <a:off x="1371600" y="4151376"/>
            <a:ext cx="548640" cy="731520"/>
          </a:xfrm>
          <a:prstGeom prst="rect">
            <a:avLst/>
          </a:prstGeom>
          <a:noFill/>
          <a:ln/>
        </p:spPr>
        <p:txBody>
          <a:bodyPr wrap="square" lIns="0" tIns="0" rIns="0" bIns="0" rtlCol="0" anchor="ctr"/>
          <a:lstStyle/>
          <a:p>
            <a:pPr indent="0" marL="0">
              <a:buNone/>
            </a:pPr>
            <a:r>
              <a:rPr lang="en-US" sz="2400" b="1" dirty="0">
                <a:solidFill>
                  <a:srgbClr val="0E7C6B"/>
                </a:solidFill>
                <a:latin typeface="Palatino Linotype" pitchFamily="34" charset="0"/>
                <a:ea typeface="Palatino Linotype" pitchFamily="34" charset="-122"/>
                <a:cs typeface="Palatino Linotype" pitchFamily="34" charset="-120"/>
              </a:rPr>
              <a:t>V</a:t>
            </a:r>
            <a:endParaRPr lang="en-US" sz="2400" dirty="0"/>
          </a:p>
        </p:txBody>
      </p:sp>
      <p:sp>
        <p:nvSpPr>
          <p:cNvPr id="23" name="Text 21"/>
          <p:cNvSpPr/>
          <p:nvPr/>
        </p:nvSpPr>
        <p:spPr>
          <a:xfrm>
            <a:off x="1965960" y="4151376"/>
            <a:ext cx="3840480" cy="73152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cancers : 241,5 contre 233,1 (2023)</a:t>
            </a:r>
            <a:endParaRPr lang="en-US" sz="1500" dirty="0"/>
          </a:p>
        </p:txBody>
      </p:sp>
      <p:sp>
        <p:nvSpPr>
          <p:cNvPr id="24" name="Shape 22"/>
          <p:cNvSpPr/>
          <p:nvPr/>
        </p:nvSpPr>
        <p:spPr>
          <a:xfrm>
            <a:off x="594360" y="5001768"/>
            <a:ext cx="5349240" cy="731520"/>
          </a:xfrm>
          <a:prstGeom prst="roundRect">
            <a:avLst>
              <a:gd name="adj" fmla="val 11250"/>
            </a:avLst>
          </a:prstGeom>
          <a:solidFill>
            <a:srgbClr val="ECEAE4"/>
          </a:solidFill>
          <a:ln w="12700">
            <a:solidFill>
              <a:srgbClr val="ECEAE4"/>
            </a:solidFill>
            <a:prstDash val="solid"/>
          </a:ln>
        </p:spPr>
      </p:sp>
      <p:sp>
        <p:nvSpPr>
          <p:cNvPr id="25" name="Shape 23"/>
          <p:cNvSpPr/>
          <p:nvPr/>
        </p:nvSpPr>
        <p:spPr>
          <a:xfrm>
            <a:off x="777240" y="5157216"/>
            <a:ext cx="420624" cy="420624"/>
          </a:xfrm>
          <a:prstGeom prst="ellipse">
            <a:avLst/>
          </a:prstGeom>
          <a:solidFill>
            <a:srgbClr val="FFC24B"/>
          </a:solidFill>
          <a:ln/>
        </p:spPr>
      </p:sp>
      <p:sp>
        <p:nvSpPr>
          <p:cNvPr id="26" name="Text 24"/>
          <p:cNvSpPr/>
          <p:nvPr/>
        </p:nvSpPr>
        <p:spPr>
          <a:xfrm>
            <a:off x="777240" y="515721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5</a:t>
            </a:r>
            <a:endParaRPr lang="en-US" sz="1400" dirty="0"/>
          </a:p>
        </p:txBody>
      </p:sp>
      <p:sp>
        <p:nvSpPr>
          <p:cNvPr id="27" name="Text 25"/>
          <p:cNvSpPr/>
          <p:nvPr/>
        </p:nvSpPr>
        <p:spPr>
          <a:xfrm>
            <a:off x="1371600" y="5001768"/>
            <a:ext cx="548640" cy="731520"/>
          </a:xfrm>
          <a:prstGeom prst="rect">
            <a:avLst/>
          </a:prstGeom>
          <a:noFill/>
          <a:ln/>
        </p:spPr>
        <p:txBody>
          <a:bodyPr wrap="square" lIns="0" tIns="0" rIns="0" bIns="0" rtlCol="0" anchor="ctr"/>
          <a:lstStyle/>
          <a:p>
            <a:pPr indent="0" marL="0">
              <a:buNone/>
            </a:pPr>
            <a:r>
              <a:rPr lang="en-US" sz="2400" b="1" dirty="0">
                <a:solidFill>
                  <a:srgbClr val="0E7C6B"/>
                </a:solidFill>
                <a:latin typeface="Palatino Linotype" pitchFamily="34" charset="0"/>
                <a:ea typeface="Palatino Linotype" pitchFamily="34" charset="-122"/>
                <a:cs typeface="Palatino Linotype" pitchFamily="34" charset="-120"/>
              </a:rPr>
              <a:t>V</a:t>
            </a:r>
            <a:endParaRPr lang="en-US" sz="2400" dirty="0"/>
          </a:p>
        </p:txBody>
      </p:sp>
      <p:sp>
        <p:nvSpPr>
          <p:cNvPr id="28" name="Text 26"/>
          <p:cNvSpPr/>
          <p:nvPr/>
        </p:nvSpPr>
        <p:spPr>
          <a:xfrm>
            <a:off x="1965960" y="5001768"/>
            <a:ext cx="3840480" cy="73152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hommes : 30,8 % contre 23,6 %</a:t>
            </a:r>
            <a:endParaRPr lang="en-US" sz="1500" dirty="0"/>
          </a:p>
        </p:txBody>
      </p:sp>
      <p:sp>
        <p:nvSpPr>
          <p:cNvPr id="29" name="Shape 27"/>
          <p:cNvSpPr/>
          <p:nvPr/>
        </p:nvSpPr>
        <p:spPr>
          <a:xfrm>
            <a:off x="6217920" y="1600200"/>
            <a:ext cx="5349240" cy="731520"/>
          </a:xfrm>
          <a:prstGeom prst="roundRect">
            <a:avLst>
              <a:gd name="adj" fmla="val 11250"/>
            </a:avLst>
          </a:prstGeom>
          <a:solidFill>
            <a:srgbClr val="ECEAE4"/>
          </a:solidFill>
          <a:ln w="12700">
            <a:solidFill>
              <a:srgbClr val="ECEAE4"/>
            </a:solidFill>
            <a:prstDash val="solid"/>
          </a:ln>
        </p:spPr>
      </p:sp>
      <p:sp>
        <p:nvSpPr>
          <p:cNvPr id="30" name="Shape 28"/>
          <p:cNvSpPr/>
          <p:nvPr/>
        </p:nvSpPr>
        <p:spPr>
          <a:xfrm>
            <a:off x="6400800" y="1755648"/>
            <a:ext cx="420624" cy="420624"/>
          </a:xfrm>
          <a:prstGeom prst="ellipse">
            <a:avLst/>
          </a:prstGeom>
          <a:solidFill>
            <a:srgbClr val="FFC24B"/>
          </a:solidFill>
          <a:ln/>
        </p:spPr>
      </p:sp>
      <p:sp>
        <p:nvSpPr>
          <p:cNvPr id="31" name="Text 29"/>
          <p:cNvSpPr/>
          <p:nvPr/>
        </p:nvSpPr>
        <p:spPr>
          <a:xfrm>
            <a:off x="6400800" y="17556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6</a:t>
            </a:r>
            <a:endParaRPr lang="en-US" sz="1400" dirty="0"/>
          </a:p>
        </p:txBody>
      </p:sp>
      <p:sp>
        <p:nvSpPr>
          <p:cNvPr id="32" name="Text 30"/>
          <p:cNvSpPr/>
          <p:nvPr/>
        </p:nvSpPr>
        <p:spPr>
          <a:xfrm>
            <a:off x="6995160" y="1600200"/>
            <a:ext cx="548640" cy="731520"/>
          </a:xfrm>
          <a:prstGeom prst="rect">
            <a:avLst/>
          </a:prstGeom>
          <a:noFill/>
          <a:ln/>
        </p:spPr>
        <p:txBody>
          <a:bodyPr wrap="square" lIns="0" tIns="0" rIns="0" bIns="0" rtlCol="0" anchor="ctr"/>
          <a:lstStyle/>
          <a:p>
            <a:pPr indent="0" marL="0">
              <a:buNone/>
            </a:pPr>
            <a:r>
              <a:rPr lang="en-US" sz="2400" b="1" dirty="0">
                <a:solidFill>
                  <a:srgbClr val="0E7C6B"/>
                </a:solidFill>
                <a:latin typeface="Palatino Linotype" pitchFamily="34" charset="0"/>
                <a:ea typeface="Palatino Linotype" pitchFamily="34" charset="-122"/>
                <a:cs typeface="Palatino Linotype" pitchFamily="34" charset="-120"/>
              </a:rPr>
              <a:t>V</a:t>
            </a:r>
            <a:endParaRPr lang="en-US" sz="2400" dirty="0"/>
          </a:p>
        </p:txBody>
      </p:sp>
      <p:sp>
        <p:nvSpPr>
          <p:cNvPr id="33" name="Text 31"/>
          <p:cNvSpPr/>
          <p:nvPr/>
        </p:nvSpPr>
        <p:spPr>
          <a:xfrm>
            <a:off x="7589520" y="1600200"/>
            <a:ext cx="3840480" cy="73152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définition de 2018 ; Jamoulle, 1986</a:t>
            </a:r>
            <a:endParaRPr lang="en-US" sz="1500" dirty="0"/>
          </a:p>
        </p:txBody>
      </p:sp>
      <p:sp>
        <p:nvSpPr>
          <p:cNvPr id="34" name="Shape 32"/>
          <p:cNvSpPr/>
          <p:nvPr/>
        </p:nvSpPr>
        <p:spPr>
          <a:xfrm>
            <a:off x="6217920" y="2450592"/>
            <a:ext cx="5349240" cy="731520"/>
          </a:xfrm>
          <a:prstGeom prst="roundRect">
            <a:avLst>
              <a:gd name="adj" fmla="val 11250"/>
            </a:avLst>
          </a:prstGeom>
          <a:solidFill>
            <a:srgbClr val="ECEAE4"/>
          </a:solidFill>
          <a:ln w="12700">
            <a:solidFill>
              <a:srgbClr val="ECEAE4"/>
            </a:solidFill>
            <a:prstDash val="solid"/>
          </a:ln>
        </p:spPr>
      </p:sp>
      <p:sp>
        <p:nvSpPr>
          <p:cNvPr id="35" name="Shape 33"/>
          <p:cNvSpPr/>
          <p:nvPr/>
        </p:nvSpPr>
        <p:spPr>
          <a:xfrm>
            <a:off x="6400800" y="2606040"/>
            <a:ext cx="420624" cy="420624"/>
          </a:xfrm>
          <a:prstGeom prst="ellipse">
            <a:avLst/>
          </a:prstGeom>
          <a:solidFill>
            <a:srgbClr val="FFC24B"/>
          </a:solidFill>
          <a:ln/>
        </p:spPr>
      </p:sp>
      <p:sp>
        <p:nvSpPr>
          <p:cNvPr id="36" name="Text 34"/>
          <p:cNvSpPr/>
          <p:nvPr/>
        </p:nvSpPr>
        <p:spPr>
          <a:xfrm>
            <a:off x="6400800" y="260604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7</a:t>
            </a:r>
            <a:endParaRPr lang="en-US" sz="1400" dirty="0"/>
          </a:p>
        </p:txBody>
      </p:sp>
      <p:sp>
        <p:nvSpPr>
          <p:cNvPr id="37" name="Text 35"/>
          <p:cNvSpPr/>
          <p:nvPr/>
        </p:nvSpPr>
        <p:spPr>
          <a:xfrm>
            <a:off x="6995160" y="2450592"/>
            <a:ext cx="548640" cy="731520"/>
          </a:xfrm>
          <a:prstGeom prst="rect">
            <a:avLst/>
          </a:prstGeom>
          <a:noFill/>
          <a:ln/>
        </p:spPr>
        <p:txBody>
          <a:bodyPr wrap="square" lIns="0" tIns="0" rIns="0" bIns="0" rtlCol="0" anchor="ctr"/>
          <a:lstStyle/>
          <a:p>
            <a:pPr indent="0" marL="0">
              <a:buNone/>
            </a:pPr>
            <a:r>
              <a:rPr lang="en-US" sz="2400" b="1" dirty="0">
                <a:solidFill>
                  <a:srgbClr val="B02532"/>
                </a:solidFill>
                <a:latin typeface="Palatino Linotype" pitchFamily="34" charset="0"/>
                <a:ea typeface="Palatino Linotype" pitchFamily="34" charset="-122"/>
                <a:cs typeface="Palatino Linotype" pitchFamily="34" charset="-120"/>
              </a:rPr>
              <a:t>F</a:t>
            </a:r>
            <a:endParaRPr lang="en-US" sz="2400" dirty="0"/>
          </a:p>
        </p:txBody>
      </p:sp>
      <p:sp>
        <p:nvSpPr>
          <p:cNvPr id="38" name="Text 36"/>
          <p:cNvSpPr/>
          <p:nvPr/>
        </p:nvSpPr>
        <p:spPr>
          <a:xfrm>
            <a:off x="7589520" y="2450592"/>
            <a:ext cx="3840480" cy="73152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dépend du risque de base du groupe</a:t>
            </a:r>
            <a:endParaRPr lang="en-US" sz="1500" dirty="0"/>
          </a:p>
        </p:txBody>
      </p:sp>
      <p:sp>
        <p:nvSpPr>
          <p:cNvPr id="39" name="Shape 37"/>
          <p:cNvSpPr/>
          <p:nvPr/>
        </p:nvSpPr>
        <p:spPr>
          <a:xfrm>
            <a:off x="6217920" y="3300984"/>
            <a:ext cx="5349240" cy="731520"/>
          </a:xfrm>
          <a:prstGeom prst="roundRect">
            <a:avLst>
              <a:gd name="adj" fmla="val 11250"/>
            </a:avLst>
          </a:prstGeom>
          <a:solidFill>
            <a:srgbClr val="ECEAE4"/>
          </a:solidFill>
          <a:ln w="12700">
            <a:solidFill>
              <a:srgbClr val="ECEAE4"/>
            </a:solidFill>
            <a:prstDash val="solid"/>
          </a:ln>
        </p:spPr>
      </p:sp>
      <p:sp>
        <p:nvSpPr>
          <p:cNvPr id="40" name="Shape 38"/>
          <p:cNvSpPr/>
          <p:nvPr/>
        </p:nvSpPr>
        <p:spPr>
          <a:xfrm>
            <a:off x="6400800" y="3456432"/>
            <a:ext cx="420624" cy="420624"/>
          </a:xfrm>
          <a:prstGeom prst="ellipse">
            <a:avLst/>
          </a:prstGeom>
          <a:solidFill>
            <a:srgbClr val="FFC24B"/>
          </a:solidFill>
          <a:ln/>
        </p:spPr>
      </p:sp>
      <p:sp>
        <p:nvSpPr>
          <p:cNvPr id="41" name="Text 39"/>
          <p:cNvSpPr/>
          <p:nvPr/>
        </p:nvSpPr>
        <p:spPr>
          <a:xfrm>
            <a:off x="6400800" y="345643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8</a:t>
            </a:r>
            <a:endParaRPr lang="en-US" sz="1400" dirty="0"/>
          </a:p>
        </p:txBody>
      </p:sp>
      <p:sp>
        <p:nvSpPr>
          <p:cNvPr id="42" name="Text 40"/>
          <p:cNvSpPr/>
          <p:nvPr/>
        </p:nvSpPr>
        <p:spPr>
          <a:xfrm>
            <a:off x="6995160" y="3300984"/>
            <a:ext cx="548640" cy="731520"/>
          </a:xfrm>
          <a:prstGeom prst="rect">
            <a:avLst/>
          </a:prstGeom>
          <a:noFill/>
          <a:ln/>
        </p:spPr>
        <p:txBody>
          <a:bodyPr wrap="square" lIns="0" tIns="0" rIns="0" bIns="0" rtlCol="0" anchor="ctr"/>
          <a:lstStyle/>
          <a:p>
            <a:pPr indent="0" marL="0">
              <a:buNone/>
            </a:pPr>
            <a:r>
              <a:rPr lang="en-US" sz="2400" b="1" dirty="0">
                <a:solidFill>
                  <a:srgbClr val="B02532"/>
                </a:solidFill>
                <a:latin typeface="Palatino Linotype" pitchFamily="34" charset="0"/>
                <a:ea typeface="Palatino Linotype" pitchFamily="34" charset="-122"/>
                <a:cs typeface="Palatino Linotype" pitchFamily="34" charset="-120"/>
              </a:rPr>
              <a:t>F</a:t>
            </a:r>
            <a:endParaRPr lang="en-US" sz="2400" dirty="0"/>
          </a:p>
        </p:txBody>
      </p:sp>
      <p:sp>
        <p:nvSpPr>
          <p:cNvPr id="43" name="Text 41"/>
          <p:cNvSpPr/>
          <p:nvPr/>
        </p:nvSpPr>
        <p:spPr>
          <a:xfrm>
            <a:off x="7589520" y="3300984"/>
            <a:ext cx="3840480" cy="73152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beaucoup de cas, chez les personnes à risque modéré</a:t>
            </a:r>
            <a:endParaRPr lang="en-US" sz="1500" dirty="0"/>
          </a:p>
        </p:txBody>
      </p:sp>
      <p:sp>
        <p:nvSpPr>
          <p:cNvPr id="44" name="Shape 42"/>
          <p:cNvSpPr/>
          <p:nvPr/>
        </p:nvSpPr>
        <p:spPr>
          <a:xfrm>
            <a:off x="6217920" y="4151376"/>
            <a:ext cx="5349240" cy="731520"/>
          </a:xfrm>
          <a:prstGeom prst="roundRect">
            <a:avLst>
              <a:gd name="adj" fmla="val 11250"/>
            </a:avLst>
          </a:prstGeom>
          <a:solidFill>
            <a:srgbClr val="ECEAE4"/>
          </a:solidFill>
          <a:ln w="12700">
            <a:solidFill>
              <a:srgbClr val="ECEAE4"/>
            </a:solidFill>
            <a:prstDash val="solid"/>
          </a:ln>
        </p:spPr>
      </p:sp>
      <p:sp>
        <p:nvSpPr>
          <p:cNvPr id="45" name="Shape 43"/>
          <p:cNvSpPr/>
          <p:nvPr/>
        </p:nvSpPr>
        <p:spPr>
          <a:xfrm>
            <a:off x="6400800" y="4306824"/>
            <a:ext cx="420624" cy="420624"/>
          </a:xfrm>
          <a:prstGeom prst="ellipse">
            <a:avLst/>
          </a:prstGeom>
          <a:solidFill>
            <a:srgbClr val="FFC24B"/>
          </a:solidFill>
          <a:ln/>
        </p:spPr>
      </p:sp>
      <p:sp>
        <p:nvSpPr>
          <p:cNvPr id="46" name="Text 44"/>
          <p:cNvSpPr/>
          <p:nvPr/>
        </p:nvSpPr>
        <p:spPr>
          <a:xfrm>
            <a:off x="6400800" y="430682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9</a:t>
            </a:r>
            <a:endParaRPr lang="en-US" sz="1400" dirty="0"/>
          </a:p>
        </p:txBody>
      </p:sp>
      <p:sp>
        <p:nvSpPr>
          <p:cNvPr id="47" name="Text 45"/>
          <p:cNvSpPr/>
          <p:nvPr/>
        </p:nvSpPr>
        <p:spPr>
          <a:xfrm>
            <a:off x="6995160" y="4151376"/>
            <a:ext cx="548640" cy="731520"/>
          </a:xfrm>
          <a:prstGeom prst="rect">
            <a:avLst/>
          </a:prstGeom>
          <a:noFill/>
          <a:ln/>
        </p:spPr>
        <p:txBody>
          <a:bodyPr wrap="square" lIns="0" tIns="0" rIns="0" bIns="0" rtlCol="0" anchor="ctr"/>
          <a:lstStyle/>
          <a:p>
            <a:pPr indent="0" marL="0">
              <a:buNone/>
            </a:pPr>
            <a:r>
              <a:rPr lang="en-US" sz="2400" b="1" dirty="0">
                <a:solidFill>
                  <a:srgbClr val="B02532"/>
                </a:solidFill>
                <a:latin typeface="Palatino Linotype" pitchFamily="34" charset="0"/>
                <a:ea typeface="Palatino Linotype" pitchFamily="34" charset="-122"/>
                <a:cs typeface="Palatino Linotype" pitchFamily="34" charset="-120"/>
              </a:rPr>
              <a:t>F</a:t>
            </a:r>
            <a:endParaRPr lang="en-US" sz="2400" dirty="0"/>
          </a:p>
        </p:txBody>
      </p:sp>
      <p:sp>
        <p:nvSpPr>
          <p:cNvPr id="48" name="Text 46"/>
          <p:cNvSpPr/>
          <p:nvPr/>
        </p:nvSpPr>
        <p:spPr>
          <a:xfrm>
            <a:off x="7589520" y="4151376"/>
            <a:ext cx="3840480" cy="73152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listée, au-dessus du seuil de 100 $ int.</a:t>
            </a:r>
            <a:endParaRPr lang="en-US" sz="1500" dirty="0"/>
          </a:p>
        </p:txBody>
      </p:sp>
      <p:sp>
        <p:nvSpPr>
          <p:cNvPr id="49" name="Shape 47"/>
          <p:cNvSpPr/>
          <p:nvPr/>
        </p:nvSpPr>
        <p:spPr>
          <a:xfrm>
            <a:off x="6217920" y="5001768"/>
            <a:ext cx="5349240" cy="731520"/>
          </a:xfrm>
          <a:prstGeom prst="roundRect">
            <a:avLst>
              <a:gd name="adj" fmla="val 11250"/>
            </a:avLst>
          </a:prstGeom>
          <a:solidFill>
            <a:srgbClr val="ECEAE4"/>
          </a:solidFill>
          <a:ln w="12700">
            <a:solidFill>
              <a:srgbClr val="ECEAE4"/>
            </a:solidFill>
            <a:prstDash val="solid"/>
          </a:ln>
        </p:spPr>
      </p:sp>
      <p:sp>
        <p:nvSpPr>
          <p:cNvPr id="50" name="Shape 48"/>
          <p:cNvSpPr/>
          <p:nvPr/>
        </p:nvSpPr>
        <p:spPr>
          <a:xfrm>
            <a:off x="6400800" y="5157216"/>
            <a:ext cx="420624" cy="420624"/>
          </a:xfrm>
          <a:prstGeom prst="ellipse">
            <a:avLst/>
          </a:prstGeom>
          <a:solidFill>
            <a:srgbClr val="FFC24B"/>
          </a:solidFill>
          <a:ln/>
        </p:spPr>
      </p:sp>
      <p:sp>
        <p:nvSpPr>
          <p:cNvPr id="51" name="Text 49"/>
          <p:cNvSpPr/>
          <p:nvPr/>
        </p:nvSpPr>
        <p:spPr>
          <a:xfrm>
            <a:off x="6400800" y="515721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10</a:t>
            </a:r>
            <a:endParaRPr lang="en-US" sz="1400" dirty="0"/>
          </a:p>
        </p:txBody>
      </p:sp>
      <p:sp>
        <p:nvSpPr>
          <p:cNvPr id="52" name="Text 50"/>
          <p:cNvSpPr/>
          <p:nvPr/>
        </p:nvSpPr>
        <p:spPr>
          <a:xfrm>
            <a:off x="6995160" y="5001768"/>
            <a:ext cx="548640" cy="731520"/>
          </a:xfrm>
          <a:prstGeom prst="rect">
            <a:avLst/>
          </a:prstGeom>
          <a:noFill/>
          <a:ln/>
        </p:spPr>
        <p:txBody>
          <a:bodyPr wrap="square" lIns="0" tIns="0" rIns="0" bIns="0" rtlCol="0" anchor="ctr"/>
          <a:lstStyle/>
          <a:p>
            <a:pPr indent="0" marL="0">
              <a:buNone/>
            </a:pPr>
            <a:r>
              <a:rPr lang="en-US" sz="2400" b="1" dirty="0">
                <a:solidFill>
                  <a:srgbClr val="0E7C6B"/>
                </a:solidFill>
                <a:latin typeface="Palatino Linotype" pitchFamily="34" charset="0"/>
                <a:ea typeface="Palatino Linotype" pitchFamily="34" charset="-122"/>
                <a:cs typeface="Palatino Linotype" pitchFamily="34" charset="-120"/>
              </a:rPr>
              <a:t>V</a:t>
            </a:r>
            <a:endParaRPr lang="en-US" sz="2400" dirty="0"/>
          </a:p>
        </p:txBody>
      </p:sp>
      <p:sp>
        <p:nvSpPr>
          <p:cNvPr id="53" name="Text 51"/>
          <p:cNvSpPr/>
          <p:nvPr/>
        </p:nvSpPr>
        <p:spPr>
          <a:xfrm>
            <a:off x="7589520" y="5001768"/>
            <a:ext cx="3840480" cy="73152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1 − 1/4 = 0,75</a:t>
            </a:r>
            <a:endParaRPr lang="en-US" sz="15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À RETENIR</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Ce qui reste du cours d’aujourd’hui</a:t>
            </a:r>
            <a:endParaRPr lang="en-US" sz="3200" dirty="0"/>
          </a:p>
        </p:txBody>
      </p:sp>
      <p:sp>
        <p:nvSpPr>
          <p:cNvPr id="4" name="Shape 2"/>
          <p:cNvSpPr/>
          <p:nvPr/>
        </p:nvSpPr>
        <p:spPr>
          <a:xfrm>
            <a:off x="594360" y="1463040"/>
            <a:ext cx="10972800" cy="676656"/>
          </a:xfrm>
          <a:prstGeom prst="roundRect">
            <a:avLst>
              <a:gd name="adj" fmla="val 12162"/>
            </a:avLst>
          </a:prstGeom>
          <a:solidFill>
            <a:srgbClr val="ECEAE4"/>
          </a:solidFill>
          <a:ln w="12700">
            <a:solidFill>
              <a:srgbClr val="ECEAE4"/>
            </a:solidFill>
            <a:prstDash val="solid"/>
          </a:ln>
        </p:spPr>
      </p:sp>
      <p:sp>
        <p:nvSpPr>
          <p:cNvPr id="5" name="Shape 3"/>
          <p:cNvSpPr/>
          <p:nvPr/>
        </p:nvSpPr>
        <p:spPr>
          <a:xfrm>
            <a:off x="868680" y="1591056"/>
            <a:ext cx="420624" cy="420624"/>
          </a:xfrm>
          <a:prstGeom prst="ellipse">
            <a:avLst/>
          </a:prstGeom>
          <a:solidFill>
            <a:srgbClr val="FF4757"/>
          </a:solidFill>
          <a:ln/>
        </p:spPr>
      </p:sp>
      <p:sp>
        <p:nvSpPr>
          <p:cNvPr id="6" name="Text 4"/>
          <p:cNvSpPr/>
          <p:nvPr/>
        </p:nvSpPr>
        <p:spPr>
          <a:xfrm>
            <a:off x="868680" y="1591056"/>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508760" y="1463040"/>
            <a:ext cx="9829800" cy="676656"/>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Quatre groupes principaux de maladies, plusieurs causes, des années d’exposition.</a:t>
            </a:r>
            <a:endParaRPr lang="en-US" sz="1600" dirty="0"/>
          </a:p>
        </p:txBody>
      </p:sp>
      <p:sp>
        <p:nvSpPr>
          <p:cNvPr id="8" name="Shape 6"/>
          <p:cNvSpPr/>
          <p:nvPr/>
        </p:nvSpPr>
        <p:spPr>
          <a:xfrm>
            <a:off x="594360" y="2231136"/>
            <a:ext cx="10972800" cy="676656"/>
          </a:xfrm>
          <a:prstGeom prst="roundRect">
            <a:avLst>
              <a:gd name="adj" fmla="val 12162"/>
            </a:avLst>
          </a:prstGeom>
          <a:solidFill>
            <a:srgbClr val="ECEAE4"/>
          </a:solidFill>
          <a:ln w="12700">
            <a:solidFill>
              <a:srgbClr val="ECEAE4"/>
            </a:solidFill>
            <a:prstDash val="solid"/>
          </a:ln>
        </p:spPr>
      </p:sp>
      <p:sp>
        <p:nvSpPr>
          <p:cNvPr id="9" name="Shape 7"/>
          <p:cNvSpPr/>
          <p:nvPr/>
        </p:nvSpPr>
        <p:spPr>
          <a:xfrm>
            <a:off x="868680" y="2359152"/>
            <a:ext cx="420624" cy="420624"/>
          </a:xfrm>
          <a:prstGeom prst="ellipse">
            <a:avLst/>
          </a:prstGeom>
          <a:solidFill>
            <a:srgbClr val="FF4757"/>
          </a:solidFill>
          <a:ln/>
        </p:spPr>
      </p:sp>
      <p:sp>
        <p:nvSpPr>
          <p:cNvPr id="10" name="Text 8"/>
          <p:cNvSpPr/>
          <p:nvPr/>
        </p:nvSpPr>
        <p:spPr>
          <a:xfrm>
            <a:off x="868680" y="2359152"/>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508760" y="2231136"/>
            <a:ext cx="9829800" cy="676656"/>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Roumanie : parmi les risques de décès prématuré les plus élevés de l’UE, surtout par les maladies cardiovasculaires.</a:t>
            </a:r>
            <a:endParaRPr lang="en-US" sz="1600" dirty="0"/>
          </a:p>
        </p:txBody>
      </p:sp>
      <p:sp>
        <p:nvSpPr>
          <p:cNvPr id="12" name="Shape 10"/>
          <p:cNvSpPr/>
          <p:nvPr/>
        </p:nvSpPr>
        <p:spPr>
          <a:xfrm>
            <a:off x="594360" y="2999232"/>
            <a:ext cx="10972800" cy="676656"/>
          </a:xfrm>
          <a:prstGeom prst="roundRect">
            <a:avLst>
              <a:gd name="adj" fmla="val 12162"/>
            </a:avLst>
          </a:prstGeom>
          <a:solidFill>
            <a:srgbClr val="ECEAE4"/>
          </a:solidFill>
          <a:ln w="12700">
            <a:solidFill>
              <a:srgbClr val="ECEAE4"/>
            </a:solidFill>
            <a:prstDash val="solid"/>
          </a:ln>
        </p:spPr>
      </p:sp>
      <p:sp>
        <p:nvSpPr>
          <p:cNvPr id="13" name="Shape 11"/>
          <p:cNvSpPr/>
          <p:nvPr/>
        </p:nvSpPr>
        <p:spPr>
          <a:xfrm>
            <a:off x="868680" y="3127248"/>
            <a:ext cx="420624" cy="420624"/>
          </a:xfrm>
          <a:prstGeom prst="ellipse">
            <a:avLst/>
          </a:prstGeom>
          <a:solidFill>
            <a:srgbClr val="FF4757"/>
          </a:solidFill>
          <a:ln/>
        </p:spPr>
      </p:sp>
      <p:sp>
        <p:nvSpPr>
          <p:cNvPr id="14" name="Text 12"/>
          <p:cNvSpPr/>
          <p:nvPr/>
        </p:nvSpPr>
        <p:spPr>
          <a:xfrm>
            <a:off x="868680" y="312724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508760" y="2999232"/>
            <a:ext cx="9829800" cy="676656"/>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Quatre niveaux de prévention, y compris la prévention quaternaire.</a:t>
            </a:r>
            <a:endParaRPr lang="en-US" sz="1600" dirty="0"/>
          </a:p>
        </p:txBody>
      </p:sp>
      <p:sp>
        <p:nvSpPr>
          <p:cNvPr id="16" name="Shape 14"/>
          <p:cNvSpPr/>
          <p:nvPr/>
        </p:nvSpPr>
        <p:spPr>
          <a:xfrm>
            <a:off x="594360" y="3767328"/>
            <a:ext cx="10972800" cy="676656"/>
          </a:xfrm>
          <a:prstGeom prst="roundRect">
            <a:avLst>
              <a:gd name="adj" fmla="val 12162"/>
            </a:avLst>
          </a:prstGeom>
          <a:solidFill>
            <a:srgbClr val="ECEAE4"/>
          </a:solidFill>
          <a:ln w="12700">
            <a:solidFill>
              <a:srgbClr val="ECEAE4"/>
            </a:solidFill>
            <a:prstDash val="solid"/>
          </a:ln>
        </p:spPr>
      </p:sp>
      <p:sp>
        <p:nvSpPr>
          <p:cNvPr id="17" name="Shape 15"/>
          <p:cNvSpPr/>
          <p:nvPr/>
        </p:nvSpPr>
        <p:spPr>
          <a:xfrm>
            <a:off x="868680" y="3895344"/>
            <a:ext cx="420624" cy="420624"/>
          </a:xfrm>
          <a:prstGeom prst="ellipse">
            <a:avLst/>
          </a:prstGeom>
          <a:solidFill>
            <a:srgbClr val="FF4757"/>
          </a:solidFill>
          <a:ln/>
        </p:spPr>
      </p:sp>
      <p:sp>
        <p:nvSpPr>
          <p:cNvPr id="18" name="Text 16"/>
          <p:cNvSpPr/>
          <p:nvPr/>
        </p:nvSpPr>
        <p:spPr>
          <a:xfrm>
            <a:off x="868680" y="3895344"/>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4</a:t>
            </a:r>
            <a:endParaRPr lang="en-US" sz="1400" dirty="0"/>
          </a:p>
        </p:txBody>
      </p:sp>
      <p:sp>
        <p:nvSpPr>
          <p:cNvPr id="19" name="Text 17"/>
          <p:cNvSpPr/>
          <p:nvPr/>
        </p:nvSpPr>
        <p:spPr>
          <a:xfrm>
            <a:off x="1508760" y="3767328"/>
            <a:ext cx="9829800" cy="676656"/>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Le nombre de patients à traiter dépend du risque de base des personnes traitées.</a:t>
            </a:r>
            <a:endParaRPr lang="en-US" sz="1600" dirty="0"/>
          </a:p>
        </p:txBody>
      </p:sp>
      <p:sp>
        <p:nvSpPr>
          <p:cNvPr id="20" name="Shape 18"/>
          <p:cNvSpPr/>
          <p:nvPr/>
        </p:nvSpPr>
        <p:spPr>
          <a:xfrm>
            <a:off x="594360" y="4535424"/>
            <a:ext cx="10972800" cy="676656"/>
          </a:xfrm>
          <a:prstGeom prst="roundRect">
            <a:avLst>
              <a:gd name="adj" fmla="val 12162"/>
            </a:avLst>
          </a:prstGeom>
          <a:solidFill>
            <a:srgbClr val="ECEAE4"/>
          </a:solidFill>
          <a:ln w="12700">
            <a:solidFill>
              <a:srgbClr val="ECEAE4"/>
            </a:solidFill>
            <a:prstDash val="solid"/>
          </a:ln>
        </p:spPr>
      </p:sp>
      <p:sp>
        <p:nvSpPr>
          <p:cNvPr id="21" name="Shape 19"/>
          <p:cNvSpPr/>
          <p:nvPr/>
        </p:nvSpPr>
        <p:spPr>
          <a:xfrm>
            <a:off x="868680" y="4663440"/>
            <a:ext cx="420624" cy="420624"/>
          </a:xfrm>
          <a:prstGeom prst="ellipse">
            <a:avLst/>
          </a:prstGeom>
          <a:solidFill>
            <a:srgbClr val="FF4757"/>
          </a:solidFill>
          <a:ln/>
        </p:spPr>
      </p:sp>
      <p:sp>
        <p:nvSpPr>
          <p:cNvPr id="22" name="Text 20"/>
          <p:cNvSpPr/>
          <p:nvPr/>
        </p:nvSpPr>
        <p:spPr>
          <a:xfrm>
            <a:off x="868680" y="466344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5</a:t>
            </a:r>
            <a:endParaRPr lang="en-US" sz="1400" dirty="0"/>
          </a:p>
        </p:txBody>
      </p:sp>
      <p:sp>
        <p:nvSpPr>
          <p:cNvPr id="23" name="Text 21"/>
          <p:cNvSpPr/>
          <p:nvPr/>
        </p:nvSpPr>
        <p:spPr>
          <a:xfrm>
            <a:off x="1508760" y="4535424"/>
            <a:ext cx="9829800" cy="676656"/>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Les deux stratégies se complètent.</a:t>
            </a:r>
            <a:endParaRPr lang="en-US" sz="1600" dirty="0"/>
          </a:p>
        </p:txBody>
      </p:sp>
      <p:sp>
        <p:nvSpPr>
          <p:cNvPr id="24" name="Shape 22"/>
          <p:cNvSpPr/>
          <p:nvPr/>
        </p:nvSpPr>
        <p:spPr>
          <a:xfrm>
            <a:off x="594360" y="5394960"/>
            <a:ext cx="10972800" cy="777240"/>
          </a:xfrm>
          <a:prstGeom prst="roundRect">
            <a:avLst>
              <a:gd name="adj" fmla="val 10588"/>
            </a:avLst>
          </a:prstGeom>
          <a:solidFill>
            <a:srgbClr val="11121A"/>
          </a:solidFill>
          <a:ln w="12700">
            <a:solidFill>
              <a:srgbClr val="11121A"/>
            </a:solidFill>
            <a:prstDash val="solid"/>
          </a:ln>
        </p:spPr>
      </p:sp>
      <p:sp>
        <p:nvSpPr>
          <p:cNvPr id="25" name="Text 23"/>
          <p:cNvSpPr/>
          <p:nvPr/>
        </p:nvSpPr>
        <p:spPr>
          <a:xfrm>
            <a:off x="868680" y="5394960"/>
            <a:ext cx="10424160" cy="777240"/>
          </a:xfrm>
          <a:prstGeom prst="rect">
            <a:avLst/>
          </a:prstGeom>
          <a:noFill/>
          <a:ln/>
        </p:spPr>
        <p:txBody>
          <a:bodyPr wrap="square" lIns="0" tIns="0" rIns="0" bIns="0" rtlCol="0" anchor="ctr"/>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Ion : chaque facteur est fréquent chez les hommes en Roumanie ; combien les ont tous, on ne le sait pas.</a:t>
            </a:r>
            <a:endParaRPr lang="en-US" sz="17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DÈS DEMAIN, EN TANT QUE MÉDECINS</a:t>
            </a:r>
            <a:endParaRPr lang="en-US" sz="1300" dirty="0"/>
          </a:p>
        </p:txBody>
      </p:sp>
      <p:sp>
        <p:nvSpPr>
          <p:cNvPr id="3" name="Text 1"/>
          <p:cNvSpPr/>
          <p:nvPr/>
        </p:nvSpPr>
        <p:spPr>
          <a:xfrm>
            <a:off x="594360" y="713232"/>
            <a:ext cx="10972800" cy="100584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Ce que vous ferez différemment, lundi matin</a:t>
            </a:r>
            <a:endParaRPr lang="en-US" sz="3200" dirty="0"/>
          </a:p>
        </p:txBody>
      </p:sp>
      <p:sp>
        <p:nvSpPr>
          <p:cNvPr id="4" name="Shape 2"/>
          <p:cNvSpPr/>
          <p:nvPr/>
        </p:nvSpPr>
        <p:spPr>
          <a:xfrm>
            <a:off x="594360" y="1600200"/>
            <a:ext cx="10972800" cy="1325880"/>
          </a:xfrm>
          <a:prstGeom prst="roundRect">
            <a:avLst>
              <a:gd name="adj" fmla="val 6207"/>
            </a:avLst>
          </a:prstGeom>
          <a:solidFill>
            <a:srgbClr val="1D1F2B"/>
          </a:solidFill>
          <a:ln w="12700">
            <a:solidFill>
              <a:srgbClr val="1D1F2B"/>
            </a:solidFill>
            <a:prstDash val="solid"/>
          </a:ln>
        </p:spPr>
      </p:sp>
      <p:sp>
        <p:nvSpPr>
          <p:cNvPr id="5" name="Shape 3"/>
          <p:cNvSpPr/>
          <p:nvPr/>
        </p:nvSpPr>
        <p:spPr>
          <a:xfrm>
            <a:off x="868680" y="2057400"/>
            <a:ext cx="420624" cy="420624"/>
          </a:xfrm>
          <a:prstGeom prst="ellipse">
            <a:avLst/>
          </a:prstGeom>
          <a:solidFill>
            <a:srgbClr val="FFC24B"/>
          </a:solidFill>
          <a:ln/>
        </p:spPr>
      </p:sp>
      <p:sp>
        <p:nvSpPr>
          <p:cNvPr id="6" name="Text 4"/>
          <p:cNvSpPr/>
          <p:nvPr/>
        </p:nvSpPr>
        <p:spPr>
          <a:xfrm>
            <a:off x="868680" y="205740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554480" y="1600200"/>
            <a:ext cx="9784080" cy="132588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Devant un traitement préventif : quel est le risque de base du patient ? Dites-lui combien de personnes comme lui doivent être traitées pour qu’une seule soit protégée de la maladie.</a:t>
            </a:r>
            <a:endParaRPr lang="en-US" sz="1900" dirty="0"/>
          </a:p>
        </p:txBody>
      </p:sp>
      <p:sp>
        <p:nvSpPr>
          <p:cNvPr id="8" name="Shape 6"/>
          <p:cNvSpPr/>
          <p:nvPr/>
        </p:nvSpPr>
        <p:spPr>
          <a:xfrm>
            <a:off x="594360" y="3063240"/>
            <a:ext cx="10972800" cy="1325880"/>
          </a:xfrm>
          <a:prstGeom prst="roundRect">
            <a:avLst>
              <a:gd name="adj" fmla="val 6207"/>
            </a:avLst>
          </a:prstGeom>
          <a:solidFill>
            <a:srgbClr val="1D1F2B"/>
          </a:solidFill>
          <a:ln w="12700">
            <a:solidFill>
              <a:srgbClr val="1D1F2B"/>
            </a:solidFill>
            <a:prstDash val="solid"/>
          </a:ln>
        </p:spPr>
      </p:sp>
      <p:sp>
        <p:nvSpPr>
          <p:cNvPr id="9" name="Shape 7"/>
          <p:cNvSpPr/>
          <p:nvPr/>
        </p:nvSpPr>
        <p:spPr>
          <a:xfrm>
            <a:off x="868680" y="3520440"/>
            <a:ext cx="420624" cy="420624"/>
          </a:xfrm>
          <a:prstGeom prst="ellipse">
            <a:avLst/>
          </a:prstGeom>
          <a:solidFill>
            <a:srgbClr val="FFC24B"/>
          </a:solidFill>
          <a:ln/>
        </p:spPr>
      </p:sp>
      <p:sp>
        <p:nvSpPr>
          <p:cNvPr id="10" name="Text 8"/>
          <p:cNvSpPr/>
          <p:nvPr/>
        </p:nvSpPr>
        <p:spPr>
          <a:xfrm>
            <a:off x="868680" y="352044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554480" y="3063240"/>
            <a:ext cx="9784080" cy="132588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Quand l’État vous demande quoi faire : beaucoup d’infarctus surviennent chez des personnes qui ne sont pas dans le groupe à risque élevé.</a:t>
            </a:r>
            <a:endParaRPr lang="en-US" sz="1900" dirty="0"/>
          </a:p>
        </p:txBody>
      </p:sp>
      <p:sp>
        <p:nvSpPr>
          <p:cNvPr id="12" name="Shape 10"/>
          <p:cNvSpPr/>
          <p:nvPr/>
        </p:nvSpPr>
        <p:spPr>
          <a:xfrm>
            <a:off x="594360" y="4526280"/>
            <a:ext cx="10972800" cy="1325880"/>
          </a:xfrm>
          <a:prstGeom prst="roundRect">
            <a:avLst>
              <a:gd name="adj" fmla="val 6207"/>
            </a:avLst>
          </a:prstGeom>
          <a:solidFill>
            <a:srgbClr val="1D1F2B"/>
          </a:solidFill>
          <a:ln w="12700">
            <a:solidFill>
              <a:srgbClr val="1D1F2B"/>
            </a:solidFill>
            <a:prstDash val="solid"/>
          </a:ln>
        </p:spPr>
      </p:sp>
      <p:sp>
        <p:nvSpPr>
          <p:cNvPr id="13" name="Shape 11"/>
          <p:cNvSpPr/>
          <p:nvPr/>
        </p:nvSpPr>
        <p:spPr>
          <a:xfrm>
            <a:off x="868680" y="4983480"/>
            <a:ext cx="420624" cy="420624"/>
          </a:xfrm>
          <a:prstGeom prst="ellipse">
            <a:avLst/>
          </a:prstGeom>
          <a:solidFill>
            <a:srgbClr val="FFC24B"/>
          </a:solidFill>
          <a:ln/>
        </p:spPr>
      </p:sp>
      <p:sp>
        <p:nvSpPr>
          <p:cNvPr id="14" name="Text 12"/>
          <p:cNvSpPr/>
          <p:nvPr/>
        </p:nvSpPr>
        <p:spPr>
          <a:xfrm>
            <a:off x="868680" y="49834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554480" y="4526280"/>
            <a:ext cx="9784080" cy="132588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Quand un patient demande un examen « pour être sûr » : pensez au quatrième niveau de prévention.</a:t>
            </a:r>
            <a:endParaRPr lang="en-US" sz="1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85800" y="822960"/>
            <a:ext cx="3840480" cy="329184"/>
          </a:xfrm>
          <a:prstGeom prst="roundRect">
            <a:avLst>
              <a:gd name="adj" fmla="val 50000"/>
            </a:avLst>
          </a:prstGeom>
          <a:solidFill>
            <a:srgbClr val="FF4757"/>
          </a:solidFill>
          <a:ln w="12700">
            <a:solidFill>
              <a:srgbClr val="FF4757"/>
            </a:solidFill>
            <a:prstDash val="solid"/>
          </a:ln>
        </p:spPr>
      </p:sp>
      <p:sp>
        <p:nvSpPr>
          <p:cNvPr id="3" name="Text 1"/>
          <p:cNvSpPr/>
          <p:nvPr/>
        </p:nvSpPr>
        <p:spPr>
          <a:xfrm>
            <a:off x="685800" y="822960"/>
            <a:ext cx="384048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LES CINQ DERNIÈRES MINUTES · ANONYME</a:t>
            </a:r>
            <a:endParaRPr lang="en-US" sz="1300" dirty="0"/>
          </a:p>
        </p:txBody>
      </p:sp>
      <p:sp>
        <p:nvSpPr>
          <p:cNvPr id="4" name="Text 2"/>
          <p:cNvSpPr/>
          <p:nvPr/>
        </p:nvSpPr>
        <p:spPr>
          <a:xfrm>
            <a:off x="685800" y="1371600"/>
            <a:ext cx="10058400" cy="822960"/>
          </a:xfrm>
          <a:prstGeom prst="rect">
            <a:avLst/>
          </a:prstGeom>
          <a:noFill/>
          <a:ln/>
        </p:spPr>
        <p:txBody>
          <a:bodyPr wrap="square" lIns="0" tIns="0" rIns="0" bIns="0" rtlCol="0" anchor="t"/>
          <a:lstStyle/>
          <a:p>
            <a:pPr indent="0" marL="0">
              <a:buNone/>
            </a:pPr>
            <a:r>
              <a:rPr lang="en-US" sz="4000" b="1" dirty="0">
                <a:solidFill>
                  <a:srgbClr val="FFFFFF"/>
                </a:solidFill>
                <a:latin typeface="Palatino Linotype" pitchFamily="34" charset="0"/>
                <a:ea typeface="Palatino Linotype" pitchFamily="34" charset="-122"/>
                <a:cs typeface="Palatino Linotype" pitchFamily="34" charset="-120"/>
              </a:rPr>
              <a:t>Trois questions pour finir</a:t>
            </a:r>
            <a:endParaRPr lang="en-US" sz="4000" dirty="0"/>
          </a:p>
        </p:txBody>
      </p:sp>
      <p:sp>
        <p:nvSpPr>
          <p:cNvPr id="5" name="Shape 3"/>
          <p:cNvSpPr/>
          <p:nvPr/>
        </p:nvSpPr>
        <p:spPr>
          <a:xfrm>
            <a:off x="914400" y="2670048"/>
            <a:ext cx="420624" cy="420624"/>
          </a:xfrm>
          <a:prstGeom prst="ellipse">
            <a:avLst/>
          </a:prstGeom>
          <a:solidFill>
            <a:srgbClr val="FFC24B"/>
          </a:solidFill>
          <a:ln/>
        </p:spPr>
      </p:sp>
      <p:sp>
        <p:nvSpPr>
          <p:cNvPr id="6" name="Text 4"/>
          <p:cNvSpPr/>
          <p:nvPr/>
        </p:nvSpPr>
        <p:spPr>
          <a:xfrm>
            <a:off x="914400" y="26700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600200" y="2514600"/>
            <a:ext cx="630936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Qu’est-ce qui a été utile aujourd’hui ?</a:t>
            </a:r>
            <a:endParaRPr lang="en-US" sz="2000" dirty="0"/>
          </a:p>
        </p:txBody>
      </p:sp>
      <p:sp>
        <p:nvSpPr>
          <p:cNvPr id="8" name="Shape 6"/>
          <p:cNvSpPr/>
          <p:nvPr/>
        </p:nvSpPr>
        <p:spPr>
          <a:xfrm>
            <a:off x="914400" y="3538728"/>
            <a:ext cx="420624" cy="420624"/>
          </a:xfrm>
          <a:prstGeom prst="ellipse">
            <a:avLst/>
          </a:prstGeom>
          <a:solidFill>
            <a:srgbClr val="FFC24B"/>
          </a:solidFill>
          <a:ln/>
        </p:spPr>
      </p:sp>
      <p:sp>
        <p:nvSpPr>
          <p:cNvPr id="9" name="Text 7"/>
          <p:cNvSpPr/>
          <p:nvPr/>
        </p:nvSpPr>
        <p:spPr>
          <a:xfrm>
            <a:off x="914400" y="35387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0" name="Text 8"/>
          <p:cNvSpPr/>
          <p:nvPr/>
        </p:nvSpPr>
        <p:spPr>
          <a:xfrm>
            <a:off x="1600200" y="3383280"/>
            <a:ext cx="630936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Où vous ai-je perdus ?</a:t>
            </a:r>
            <a:endParaRPr lang="en-US" sz="2000" dirty="0"/>
          </a:p>
        </p:txBody>
      </p:sp>
      <p:sp>
        <p:nvSpPr>
          <p:cNvPr id="11" name="Shape 9"/>
          <p:cNvSpPr/>
          <p:nvPr/>
        </p:nvSpPr>
        <p:spPr>
          <a:xfrm>
            <a:off x="914400" y="4407408"/>
            <a:ext cx="420624" cy="420624"/>
          </a:xfrm>
          <a:prstGeom prst="ellipse">
            <a:avLst/>
          </a:prstGeom>
          <a:solidFill>
            <a:srgbClr val="FFC24B"/>
          </a:solidFill>
          <a:ln/>
        </p:spPr>
      </p:sp>
      <p:sp>
        <p:nvSpPr>
          <p:cNvPr id="12" name="Text 10"/>
          <p:cNvSpPr/>
          <p:nvPr/>
        </p:nvSpPr>
        <p:spPr>
          <a:xfrm>
            <a:off x="914400" y="44074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3" name="Text 11"/>
          <p:cNvSpPr/>
          <p:nvPr/>
        </p:nvSpPr>
        <p:spPr>
          <a:xfrm>
            <a:off x="1600200" y="4251960"/>
            <a:ext cx="630936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Que pourriez-vous utiliser demain ?</a:t>
            </a:r>
            <a:endParaRPr lang="en-US" sz="2000" dirty="0"/>
          </a:p>
        </p:txBody>
      </p:sp>
      <p:sp>
        <p:nvSpPr>
          <p:cNvPr id="14" name="Shape 12"/>
          <p:cNvSpPr/>
          <p:nvPr/>
        </p:nvSpPr>
        <p:spPr>
          <a:xfrm>
            <a:off x="8321040" y="2514600"/>
            <a:ext cx="3246120" cy="2468880"/>
          </a:xfrm>
          <a:prstGeom prst="roundRect">
            <a:avLst>
              <a:gd name="adj" fmla="val 3333"/>
            </a:avLst>
          </a:prstGeom>
          <a:solidFill>
            <a:srgbClr val="1D1F2B"/>
          </a:solidFill>
          <a:ln w="12700">
            <a:solidFill>
              <a:srgbClr val="1D1F2B"/>
            </a:solidFill>
            <a:prstDash val="solid"/>
          </a:ln>
        </p:spPr>
      </p:sp>
      <p:sp>
        <p:nvSpPr>
          <p:cNvPr id="15" name="Text 13"/>
          <p:cNvSpPr/>
          <p:nvPr/>
        </p:nvSpPr>
        <p:spPr>
          <a:xfrm>
            <a:off x="8549640" y="2514600"/>
            <a:ext cx="2788920" cy="2468880"/>
          </a:xfrm>
          <a:prstGeom prst="rect">
            <a:avLst/>
          </a:prstGeom>
          <a:noFill/>
          <a:ln/>
        </p:spPr>
        <p:txBody>
          <a:bodyPr wrap="square" lIns="0" tIns="0" rIns="0" bIns="0" rtlCol="0" anchor="ctr"/>
          <a:lstStyle/>
          <a:p>
            <a:pPr algn="ctr" indent="0" marL="0">
              <a:buNone/>
            </a:pPr>
            <a:r>
              <a:rPr lang="en-US" sz="1900" b="1" dirty="0">
                <a:solidFill>
                  <a:srgbClr val="FFC24B"/>
                </a:solidFill>
                <a:latin typeface="Palatino Linotype" pitchFamily="34" charset="0"/>
                <a:ea typeface="Palatino Linotype" pitchFamily="34" charset="-122"/>
                <a:cs typeface="Palatino Linotype" pitchFamily="34" charset="-120"/>
              </a:rPr>
              <a:t>Répondez sur votre téléphone, au code affiché.</a:t>
            </a:r>
            <a:endParaRPr lang="en-US" sz="1900" dirty="0"/>
          </a:p>
        </p:txBody>
      </p:sp>
      <p:sp>
        <p:nvSpPr>
          <p:cNvPr id="16" name="Text 14"/>
          <p:cNvSpPr/>
          <p:nvPr/>
        </p:nvSpPr>
        <p:spPr>
          <a:xfrm>
            <a:off x="594360" y="5349240"/>
            <a:ext cx="10972800" cy="54864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Début du prochain cours : deux modifications, faites à partir de vos réponses.</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 4 - Pourquoi tant de Roumains meurent-ils avant 70 ans ?</dc:title>
  <dc:subject>PptxGenJS Presentation</dc:subject>
  <dc:creator>Conf. Univ. Dr. Adrian Pana</dc:creator>
  <cp:lastModifiedBy>Conf. Univ. Dr. Adrian Pana</cp:lastModifiedBy>
  <cp:revision>1</cp:revision>
  <dcterms:created xsi:type="dcterms:W3CDTF">2026-10-11T10:32:28Z</dcterms:created>
  <dcterms:modified xsi:type="dcterms:W3CDTF">2026-10-11T10:32:28Z</dcterms:modified>
  <cp:keywords>sursa_amprenta=6210de95c27ecb7e; proiectie</cp:keywords>
</cp:coreProperties>
</file>