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8  ·  SANTÉ PUBLIQUE ET MANAGEMENT</a:t>
            </a:r>
            <a:endParaRPr lang="en-US" sz="1300" dirty="0"/>
          </a:p>
        </p:txBody>
      </p:sp>
      <p:sp>
        <p:nvSpPr>
          <p:cNvPr id="4" name="Text 2"/>
          <p:cNvSpPr/>
          <p:nvPr/>
        </p:nvSpPr>
        <p:spPr>
          <a:xfrm>
            <a:off x="640080" y="1325880"/>
            <a:ext cx="10789920" cy="150876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Dimanche soir : qui paie l’hospitalisation ?</a:t>
            </a:r>
            <a:endParaRPr lang="en-US" sz="4400" dirty="0"/>
          </a:p>
        </p:txBody>
      </p:sp>
      <p:sp>
        <p:nvSpPr>
          <p:cNvPr id="5" name="Text 3"/>
          <p:cNvSpPr/>
          <p:nvPr/>
        </p:nvSpPr>
        <p:spPr>
          <a:xfrm>
            <a:off x="640080" y="3017520"/>
            <a:ext cx="10424160" cy="91440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Financement de la santé, paiement des prestataires, DRG et organisation des services en Roumanie</a:t>
            </a:r>
            <a:endParaRPr lang="en-US" sz="2100" dirty="0"/>
          </a:p>
        </p:txBody>
      </p:sp>
      <p:sp>
        <p:nvSpPr>
          <p:cNvPr id="6" name="Shape 4"/>
          <p:cNvSpPr/>
          <p:nvPr/>
        </p:nvSpPr>
        <p:spPr>
          <a:xfrm>
            <a:off x="667512" y="4114800"/>
            <a:ext cx="1280160" cy="27432"/>
          </a:xfrm>
          <a:prstGeom prst="rect">
            <a:avLst/>
          </a:prstGeom>
          <a:solidFill>
            <a:srgbClr val="FF4757"/>
          </a:solidFill>
          <a:ln w="12700">
            <a:solidFill>
              <a:srgbClr val="FF4757"/>
            </a:solidFill>
            <a:prstDash val="solid"/>
          </a:ln>
        </p:spPr>
      </p:sp>
      <p:sp>
        <p:nvSpPr>
          <p:cNvPr id="7" name="Text 5"/>
          <p:cNvSpPr/>
          <p:nvPr/>
        </p:nvSpPr>
        <p:spPr>
          <a:xfrm>
            <a:off x="640080" y="4297680"/>
            <a:ext cx="10515600" cy="82296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Nous suivons l’argent d’une seule hospitalisation, de sa source jusqu’au paiement de l’hôpital.</a:t>
            </a:r>
            <a:endParaRPr lang="en-US" sz="18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Médecine, sixième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PREMIER ACTE · LA SITUATION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Mme M., dimanche soir</a:t>
            </a:r>
            <a:endParaRPr lang="en-US" sz="3400" dirty="0"/>
          </a:p>
        </p:txBody>
      </p:sp>
      <p:sp>
        <p:nvSpPr>
          <p:cNvPr id="4" name="Shape 2"/>
          <p:cNvSpPr/>
          <p:nvPr/>
        </p:nvSpPr>
        <p:spPr>
          <a:xfrm>
            <a:off x="594360" y="1554480"/>
            <a:ext cx="3505200" cy="2377440"/>
          </a:xfrm>
          <a:prstGeom prst="roundRect">
            <a:avLst>
              <a:gd name="adj" fmla="val 3462"/>
            </a:avLst>
          </a:prstGeom>
          <a:solidFill>
            <a:srgbClr val="ECEAE4"/>
          </a:solidFill>
          <a:ln w="12700">
            <a:solidFill>
              <a:srgbClr val="ECEAE4"/>
            </a:solidFill>
            <a:prstDash val="solid"/>
          </a:ln>
        </p:spPr>
      </p:sp>
      <p:sp>
        <p:nvSpPr>
          <p:cNvPr id="5" name="Text 3"/>
          <p:cNvSpPr/>
          <p:nvPr/>
        </p:nvSpPr>
        <p:spPr>
          <a:xfrm>
            <a:off x="795528" y="1682496"/>
            <a:ext cx="31028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LA PATIENTE</a:t>
            </a:r>
            <a:endParaRPr lang="en-US" sz="1300" dirty="0"/>
          </a:p>
        </p:txBody>
      </p:sp>
      <p:sp>
        <p:nvSpPr>
          <p:cNvPr id="6" name="Text 4"/>
          <p:cNvSpPr/>
          <p:nvPr/>
        </p:nvSpPr>
        <p:spPr>
          <a:xfrm>
            <a:off x="795528" y="2066544"/>
            <a:ext cx="3102864" cy="17373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retraitée d’une commune du département B ; diabète de type 2 sous insuline, insuffisance cardiaque chronique</a:t>
            </a:r>
            <a:endParaRPr lang="en-US" sz="1800" dirty="0"/>
          </a:p>
        </p:txBody>
      </p:sp>
      <p:sp>
        <p:nvSpPr>
          <p:cNvPr id="7" name="Shape 5"/>
          <p:cNvSpPr/>
          <p:nvPr/>
        </p:nvSpPr>
        <p:spPr>
          <a:xfrm>
            <a:off x="4328160" y="1554480"/>
            <a:ext cx="3505200" cy="2377440"/>
          </a:xfrm>
          <a:prstGeom prst="roundRect">
            <a:avLst>
              <a:gd name="adj" fmla="val 3462"/>
            </a:avLst>
          </a:prstGeom>
          <a:solidFill>
            <a:srgbClr val="ECEAE4"/>
          </a:solidFill>
          <a:ln w="12700">
            <a:solidFill>
              <a:srgbClr val="ECEAE4"/>
            </a:solidFill>
            <a:prstDash val="solid"/>
          </a:ln>
        </p:spPr>
      </p:sp>
      <p:sp>
        <p:nvSpPr>
          <p:cNvPr id="8" name="Text 6"/>
          <p:cNvSpPr/>
          <p:nvPr/>
        </p:nvSpPr>
        <p:spPr>
          <a:xfrm>
            <a:off x="4529328" y="1682496"/>
            <a:ext cx="31028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DIMANCHE SOIR</a:t>
            </a:r>
            <a:endParaRPr lang="en-US" sz="1300" dirty="0"/>
          </a:p>
        </p:txBody>
      </p:sp>
      <p:sp>
        <p:nvSpPr>
          <p:cNvPr id="9" name="Text 7"/>
          <p:cNvSpPr/>
          <p:nvPr/>
        </p:nvSpPr>
        <p:spPr>
          <a:xfrm>
            <a:off x="4529328" y="2066544"/>
            <a:ext cx="3102864" cy="17373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fièvre et toux depuis trois jours ; elle respire mal ; le cabinet du médecin de famille est fermé jusqu’à lundi</a:t>
            </a:r>
            <a:endParaRPr lang="en-US" sz="1800" dirty="0"/>
          </a:p>
        </p:txBody>
      </p:sp>
      <p:sp>
        <p:nvSpPr>
          <p:cNvPr id="10" name="Shape 8"/>
          <p:cNvSpPr/>
          <p:nvPr/>
        </p:nvSpPr>
        <p:spPr>
          <a:xfrm>
            <a:off x="8061960" y="1554480"/>
            <a:ext cx="3505200" cy="2377440"/>
          </a:xfrm>
          <a:prstGeom prst="roundRect">
            <a:avLst>
              <a:gd name="adj" fmla="val 3462"/>
            </a:avLst>
          </a:prstGeom>
          <a:solidFill>
            <a:srgbClr val="ECEAE4"/>
          </a:solidFill>
          <a:ln w="12700">
            <a:solidFill>
              <a:srgbClr val="ECEAE4"/>
            </a:solidFill>
            <a:prstDash val="solid"/>
          </a:ln>
        </p:spPr>
      </p:sp>
      <p:sp>
        <p:nvSpPr>
          <p:cNvPr id="11" name="Text 9"/>
          <p:cNvSpPr/>
          <p:nvPr/>
        </p:nvSpPr>
        <p:spPr>
          <a:xfrm>
            <a:off x="8263128" y="1682496"/>
            <a:ext cx="31028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 PARCOURS</a:t>
            </a:r>
            <a:endParaRPr lang="en-US" sz="1300" dirty="0"/>
          </a:p>
        </p:txBody>
      </p:sp>
      <p:sp>
        <p:nvSpPr>
          <p:cNvPr id="12" name="Text 10"/>
          <p:cNvSpPr/>
          <p:nvPr/>
        </p:nvSpPr>
        <p:spPr>
          <a:xfrm>
            <a:off x="8263128" y="2066544"/>
            <a:ext cx="3102864" cy="17373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112, l’ambulance, les urgences de l’Hôpital départemental A ; pneumonie ; hospitalisée en médecine interne</a:t>
            </a:r>
            <a:endParaRPr lang="en-US" sz="1800" dirty="0"/>
          </a:p>
        </p:txBody>
      </p:sp>
      <p:sp>
        <p:nvSpPr>
          <p:cNvPr id="13" name="Shape 11"/>
          <p:cNvSpPr/>
          <p:nvPr/>
        </p:nvSpPr>
        <p:spPr>
          <a:xfrm>
            <a:off x="594360" y="4160520"/>
            <a:ext cx="10972800" cy="914400"/>
          </a:xfrm>
          <a:prstGeom prst="roundRect">
            <a:avLst>
              <a:gd name="adj" fmla="val 9000"/>
            </a:avLst>
          </a:prstGeom>
          <a:solidFill>
            <a:srgbClr val="11121A"/>
          </a:solidFill>
          <a:ln w="12700">
            <a:solidFill>
              <a:srgbClr val="11121A"/>
            </a:solidFill>
            <a:prstDash val="solid"/>
          </a:ln>
        </p:spPr>
      </p:sp>
      <p:sp>
        <p:nvSpPr>
          <p:cNvPr id="14" name="Text 12"/>
          <p:cNvSpPr/>
          <p:nvPr/>
        </p:nvSpPr>
        <p:spPr>
          <a:xfrm>
            <a:off x="868680" y="4160520"/>
            <a:ext cx="10424160" cy="9144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Sortie après huit jours. Avec quel argent son hospitalisation est-elle payée ?</a:t>
            </a:r>
            <a:endParaRPr lang="en-US" sz="2000" dirty="0"/>
          </a:p>
        </p:txBody>
      </p:sp>
      <p:sp>
        <p:nvSpPr>
          <p:cNvPr id="15" name="Shape 13"/>
          <p:cNvSpPr/>
          <p:nvPr/>
        </p:nvSpPr>
        <p:spPr>
          <a:xfrm>
            <a:off x="594360" y="5760720"/>
            <a:ext cx="6949440" cy="329184"/>
          </a:xfrm>
          <a:prstGeom prst="roundRect">
            <a:avLst>
              <a:gd name="adj" fmla="val 50000"/>
            </a:avLst>
          </a:prstGeom>
          <a:solidFill>
            <a:srgbClr val="ECEAE4"/>
          </a:solidFill>
          <a:ln w="12700">
            <a:solidFill>
              <a:srgbClr val="ECEAE4"/>
            </a:solidFill>
            <a:prstDash val="solid"/>
          </a:ln>
        </p:spPr>
      </p:sp>
      <p:sp>
        <p:nvSpPr>
          <p:cNvPr id="16" name="Text 14"/>
          <p:cNvSpPr/>
          <p:nvPr/>
        </p:nvSpPr>
        <p:spPr>
          <a:xfrm>
            <a:off x="594360" y="5760720"/>
            <a:ext cx="6949440" cy="329184"/>
          </a:xfrm>
          <a:prstGeom prst="rect">
            <a:avLst/>
          </a:prstGeom>
          <a:noFill/>
          <a:ln/>
        </p:spPr>
        <p:txBody>
          <a:bodyPr wrap="square" lIns="0" tIns="0" rIns="0" bIns="0" rtlCol="0" anchor="ctr"/>
          <a:lstStyle/>
          <a:p>
            <a:pPr algn="ctr" indent="0" marL="0">
              <a:buNone/>
            </a:pPr>
            <a:r>
              <a:rPr lang="en-US" sz="1200" b="1" dirty="0">
                <a:solidFill>
                  <a:srgbClr val="B02532"/>
                </a:solidFill>
                <a:latin typeface="Palatino Linotype" pitchFamily="34" charset="0"/>
                <a:ea typeface="Palatino Linotype" pitchFamily="34" charset="-122"/>
                <a:cs typeface="Palatino Linotype" pitchFamily="34" charset="-120"/>
              </a:rPr>
              <a:t>Cas construit pour le cours ; les détails sont plausibles, non réels.</a:t>
            </a:r>
            <a:endParaRPr lang="en-US" sz="12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Cas construit ; valeurs hypothétiques.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 1</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PREMIÈRE DÉCISION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Avec quel argent l’hospitalisation de Mme M. est-elle payée, pour l’essentiel ?</a:t>
            </a:r>
            <a:endParaRPr lang="en-US" sz="2700" dirty="0"/>
          </a:p>
        </p:txBody>
      </p:sp>
      <p:sp>
        <p:nvSpPr>
          <p:cNvPr id="6" name="Shape 4"/>
          <p:cNvSpPr/>
          <p:nvPr/>
        </p:nvSpPr>
        <p:spPr>
          <a:xfrm>
            <a:off x="594360" y="1828800"/>
            <a:ext cx="10972800" cy="694944"/>
          </a:xfrm>
          <a:prstGeom prst="roundRect">
            <a:avLst>
              <a:gd name="adj" fmla="val 11842"/>
            </a:avLst>
          </a:prstGeom>
          <a:solidFill>
            <a:srgbClr val="1D1F2B"/>
          </a:solidFill>
          <a:ln w="12700">
            <a:solidFill>
              <a:srgbClr val="1D1F2B"/>
            </a:solidFill>
            <a:prstDash val="solid"/>
          </a:ln>
        </p:spPr>
      </p:sp>
      <p:sp>
        <p:nvSpPr>
          <p:cNvPr id="7" name="Shape 5"/>
          <p:cNvSpPr/>
          <p:nvPr/>
        </p:nvSpPr>
        <p:spPr>
          <a:xfrm>
            <a:off x="777240" y="1965960"/>
            <a:ext cx="420624" cy="420624"/>
          </a:xfrm>
          <a:prstGeom prst="ellipse">
            <a:avLst/>
          </a:prstGeom>
          <a:solidFill>
            <a:srgbClr val="FFC24B"/>
          </a:solidFill>
          <a:ln/>
        </p:spPr>
      </p:sp>
      <p:sp>
        <p:nvSpPr>
          <p:cNvPr id="8" name="Text 6"/>
          <p:cNvSpPr/>
          <p:nvPr/>
        </p:nvSpPr>
        <p:spPr>
          <a:xfrm>
            <a:off x="77724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828800"/>
            <a:ext cx="1005840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Avec le budget de l’État, par le ministère de la Santé</a:t>
            </a:r>
            <a:endParaRPr lang="en-US" sz="1700" dirty="0"/>
          </a:p>
        </p:txBody>
      </p:sp>
      <p:sp>
        <p:nvSpPr>
          <p:cNvPr id="10" name="Shape 8"/>
          <p:cNvSpPr/>
          <p:nvPr/>
        </p:nvSpPr>
        <p:spPr>
          <a:xfrm>
            <a:off x="594360" y="2651760"/>
            <a:ext cx="10972800" cy="694944"/>
          </a:xfrm>
          <a:prstGeom prst="roundRect">
            <a:avLst>
              <a:gd name="adj" fmla="val 11842"/>
            </a:avLst>
          </a:prstGeom>
          <a:solidFill>
            <a:srgbClr val="1D1F2B"/>
          </a:solidFill>
          <a:ln w="12700">
            <a:solidFill>
              <a:srgbClr val="1D1F2B"/>
            </a:solidFill>
            <a:prstDash val="solid"/>
          </a:ln>
        </p:spPr>
      </p:sp>
      <p:sp>
        <p:nvSpPr>
          <p:cNvPr id="11" name="Shape 9"/>
          <p:cNvSpPr/>
          <p:nvPr/>
        </p:nvSpPr>
        <p:spPr>
          <a:xfrm>
            <a:off x="777240" y="2788920"/>
            <a:ext cx="420624" cy="420624"/>
          </a:xfrm>
          <a:prstGeom prst="ellipse">
            <a:avLst/>
          </a:prstGeom>
          <a:solidFill>
            <a:srgbClr val="FFC24B"/>
          </a:solidFill>
          <a:ln/>
        </p:spPr>
      </p:sp>
      <p:sp>
        <p:nvSpPr>
          <p:cNvPr id="12" name="Text 10"/>
          <p:cNvSpPr/>
          <p:nvPr/>
        </p:nvSpPr>
        <p:spPr>
          <a:xfrm>
            <a:off x="77724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651760"/>
            <a:ext cx="1005840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Avec le fonds national unique d’assurance maladie sociale, par la caisse du département</a:t>
            </a:r>
            <a:endParaRPr lang="en-US" sz="1700" dirty="0"/>
          </a:p>
        </p:txBody>
      </p:sp>
      <p:sp>
        <p:nvSpPr>
          <p:cNvPr id="14" name="Shape 12"/>
          <p:cNvSpPr/>
          <p:nvPr/>
        </p:nvSpPr>
        <p:spPr>
          <a:xfrm>
            <a:off x="594360" y="3474720"/>
            <a:ext cx="10972800" cy="694944"/>
          </a:xfrm>
          <a:prstGeom prst="roundRect">
            <a:avLst>
              <a:gd name="adj" fmla="val 11842"/>
            </a:avLst>
          </a:prstGeom>
          <a:solidFill>
            <a:srgbClr val="1D1F2B"/>
          </a:solidFill>
          <a:ln w="12700">
            <a:solidFill>
              <a:srgbClr val="1D1F2B"/>
            </a:solidFill>
            <a:prstDash val="solid"/>
          </a:ln>
        </p:spPr>
      </p:sp>
      <p:sp>
        <p:nvSpPr>
          <p:cNvPr id="15" name="Shape 13"/>
          <p:cNvSpPr/>
          <p:nvPr/>
        </p:nvSpPr>
        <p:spPr>
          <a:xfrm>
            <a:off x="777240" y="3611880"/>
            <a:ext cx="420624" cy="420624"/>
          </a:xfrm>
          <a:prstGeom prst="ellipse">
            <a:avLst/>
          </a:prstGeom>
          <a:solidFill>
            <a:srgbClr val="FFC24B"/>
          </a:solidFill>
          <a:ln/>
        </p:spPr>
      </p:sp>
      <p:sp>
        <p:nvSpPr>
          <p:cNvPr id="16" name="Text 14"/>
          <p:cNvSpPr/>
          <p:nvPr/>
        </p:nvSpPr>
        <p:spPr>
          <a:xfrm>
            <a:off x="77724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474720"/>
            <a:ext cx="1005840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Avec le paiement direct de la patiente et de sa famille</a:t>
            </a:r>
            <a:endParaRPr lang="en-US" sz="1700" dirty="0"/>
          </a:p>
        </p:txBody>
      </p:sp>
      <p:sp>
        <p:nvSpPr>
          <p:cNvPr id="18" name="Shape 16"/>
          <p:cNvSpPr/>
          <p:nvPr/>
        </p:nvSpPr>
        <p:spPr>
          <a:xfrm>
            <a:off x="594360" y="4297680"/>
            <a:ext cx="10972800" cy="694944"/>
          </a:xfrm>
          <a:prstGeom prst="roundRect">
            <a:avLst>
              <a:gd name="adj" fmla="val 11842"/>
            </a:avLst>
          </a:prstGeom>
          <a:solidFill>
            <a:srgbClr val="1D1F2B"/>
          </a:solidFill>
          <a:ln w="12700">
            <a:solidFill>
              <a:srgbClr val="1D1F2B"/>
            </a:solidFill>
            <a:prstDash val="solid"/>
          </a:ln>
        </p:spPr>
      </p:sp>
      <p:sp>
        <p:nvSpPr>
          <p:cNvPr id="19" name="Shape 17"/>
          <p:cNvSpPr/>
          <p:nvPr/>
        </p:nvSpPr>
        <p:spPr>
          <a:xfrm>
            <a:off x="777240" y="4434840"/>
            <a:ext cx="420624" cy="420624"/>
          </a:xfrm>
          <a:prstGeom prst="ellipse">
            <a:avLst/>
          </a:prstGeom>
          <a:solidFill>
            <a:srgbClr val="FFC24B"/>
          </a:solidFill>
          <a:ln/>
        </p:spPr>
      </p:sp>
      <p:sp>
        <p:nvSpPr>
          <p:cNvPr id="20" name="Text 18"/>
          <p:cNvSpPr/>
          <p:nvPr/>
        </p:nvSpPr>
        <p:spPr>
          <a:xfrm>
            <a:off x="777240" y="44348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4297680"/>
            <a:ext cx="10058400" cy="69494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Avec le budget du conseil départemental, propriétaire de l’hôpital</a:t>
            </a:r>
            <a:endParaRPr lang="en-US" sz="1700" dirty="0"/>
          </a:p>
        </p:txBody>
      </p:sp>
      <p:sp>
        <p:nvSpPr>
          <p:cNvPr id="22" name="Text 20"/>
          <p:cNvSpPr/>
          <p:nvPr/>
        </p:nvSpPr>
        <p:spPr>
          <a:xfrm>
            <a:off x="594360" y="5212080"/>
            <a:ext cx="10972800" cy="3657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Vote individuel, sans discussion.</a:t>
            </a:r>
            <a:endParaRPr lang="en-US" sz="1500" dirty="0"/>
          </a:p>
        </p:txBody>
      </p:sp>
      <p:sp>
        <p:nvSpPr>
          <p:cNvPr id="23" name="Text 21"/>
          <p:cNvSpPr/>
          <p:nvPr/>
        </p:nvSpPr>
        <p:spPr>
          <a:xfrm>
            <a:off x="594360" y="5623560"/>
            <a:ext cx="109728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SECOND VOTE 1</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APRÈS DISCUSSION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Convainquez votre voisin</a:t>
            </a:r>
            <a:endParaRPr lang="en-US" sz="3000" dirty="0"/>
          </a:p>
        </p:txBody>
      </p:sp>
      <p:sp>
        <p:nvSpPr>
          <p:cNvPr id="6" name="Text 4"/>
          <p:cNvSpPr/>
          <p:nvPr/>
        </p:nvSpPr>
        <p:spPr>
          <a:xfrm>
            <a:off x="594360" y="1600200"/>
            <a:ext cx="10972800" cy="4572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Deux minutes avec votre voisin de banc. Puis votez de nouveau, avec les mêmes options.</a:t>
            </a:r>
            <a:endParaRPr lang="en-US" sz="1900" dirty="0"/>
          </a:p>
        </p:txBody>
      </p:sp>
      <p:sp>
        <p:nvSpPr>
          <p:cNvPr id="7" name="Shape 5"/>
          <p:cNvSpPr/>
          <p:nvPr/>
        </p:nvSpPr>
        <p:spPr>
          <a:xfrm>
            <a:off x="594360" y="2240280"/>
            <a:ext cx="5349240" cy="3108960"/>
          </a:xfrm>
          <a:prstGeom prst="roundRect">
            <a:avLst>
              <a:gd name="adj" fmla="val 2647"/>
            </a:avLst>
          </a:prstGeom>
          <a:solidFill>
            <a:srgbClr val="1D1F2B"/>
          </a:solidFill>
          <a:ln w="12700">
            <a:solidFill>
              <a:srgbClr val="1D1F2B"/>
            </a:solidFill>
            <a:prstDash val="solid"/>
          </a:ln>
        </p:spPr>
      </p:sp>
      <p:sp>
        <p:nvSpPr>
          <p:cNvPr id="8" name="Text 6"/>
          <p:cNvSpPr/>
          <p:nvPr/>
        </p:nvSpPr>
        <p:spPr>
          <a:xfrm>
            <a:off x="868680" y="2377440"/>
            <a:ext cx="4754880" cy="365760"/>
          </a:xfrm>
          <a:prstGeom prst="rect">
            <a:avLst/>
          </a:prstGeom>
          <a:noFill/>
          <a:ln/>
        </p:spPr>
        <p:txBody>
          <a:bodyPr wrap="square" lIns="0" tIns="0" rIns="0" bIns="0" rtlCol="0" anchor="t"/>
          <a:lstStyle/>
          <a:p>
            <a:pPr indent="0" marL="0">
              <a:buNone/>
            </a:pPr>
            <a:r>
              <a:rPr lang="en-US" sz="1400" b="1" spc="200" kern="0" dirty="0">
                <a:solidFill>
                  <a:srgbClr val="FFC24B"/>
                </a:solidFill>
                <a:latin typeface="Palatino Linotype" pitchFamily="34" charset="0"/>
                <a:ea typeface="Palatino Linotype" pitchFamily="34" charset="-122"/>
                <a:cs typeface="Palatino Linotype" pitchFamily="34" charset="-120"/>
              </a:rPr>
              <a:t>PREMIER VOTE</a:t>
            </a:r>
            <a:endParaRPr lang="en-US" sz="1400" dirty="0"/>
          </a:p>
        </p:txBody>
      </p:sp>
      <p:sp>
        <p:nvSpPr>
          <p:cNvPr id="9" name="Shape 7"/>
          <p:cNvSpPr/>
          <p:nvPr/>
        </p:nvSpPr>
        <p:spPr>
          <a:xfrm>
            <a:off x="868680" y="2834640"/>
            <a:ext cx="384048" cy="384048"/>
          </a:xfrm>
          <a:prstGeom prst="ellipse">
            <a:avLst/>
          </a:prstGeom>
          <a:solidFill>
            <a:srgbClr val="FFC24B"/>
          </a:solidFill>
          <a:ln/>
        </p:spPr>
      </p:sp>
      <p:sp>
        <p:nvSpPr>
          <p:cNvPr id="10" name="Text 8"/>
          <p:cNvSpPr/>
          <p:nvPr/>
        </p:nvSpPr>
        <p:spPr>
          <a:xfrm>
            <a:off x="868680" y="283464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Shape 9"/>
          <p:cNvSpPr/>
          <p:nvPr/>
        </p:nvSpPr>
        <p:spPr>
          <a:xfrm>
            <a:off x="1463040" y="2999232"/>
            <a:ext cx="4114800" cy="54864"/>
          </a:xfrm>
          <a:prstGeom prst="rect">
            <a:avLst/>
          </a:prstGeom>
          <a:solidFill>
            <a:srgbClr val="272A38"/>
          </a:solidFill>
          <a:ln w="12700">
            <a:solidFill>
              <a:srgbClr val="272A38"/>
            </a:solidFill>
            <a:prstDash val="solid"/>
          </a:ln>
        </p:spPr>
      </p:sp>
      <p:sp>
        <p:nvSpPr>
          <p:cNvPr id="12" name="Shape 10"/>
          <p:cNvSpPr/>
          <p:nvPr/>
        </p:nvSpPr>
        <p:spPr>
          <a:xfrm>
            <a:off x="868680" y="3417570"/>
            <a:ext cx="384048" cy="384048"/>
          </a:xfrm>
          <a:prstGeom prst="ellipse">
            <a:avLst/>
          </a:prstGeom>
          <a:solidFill>
            <a:srgbClr val="FFC24B"/>
          </a:solidFill>
          <a:ln/>
        </p:spPr>
      </p:sp>
      <p:sp>
        <p:nvSpPr>
          <p:cNvPr id="13" name="Text 11"/>
          <p:cNvSpPr/>
          <p:nvPr/>
        </p:nvSpPr>
        <p:spPr>
          <a:xfrm>
            <a:off x="868680" y="341757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Shape 12"/>
          <p:cNvSpPr/>
          <p:nvPr/>
        </p:nvSpPr>
        <p:spPr>
          <a:xfrm>
            <a:off x="1463040" y="3582162"/>
            <a:ext cx="4114800" cy="54864"/>
          </a:xfrm>
          <a:prstGeom prst="rect">
            <a:avLst/>
          </a:prstGeom>
          <a:solidFill>
            <a:srgbClr val="272A38"/>
          </a:solidFill>
          <a:ln w="12700">
            <a:solidFill>
              <a:srgbClr val="272A38"/>
            </a:solidFill>
            <a:prstDash val="solid"/>
          </a:ln>
        </p:spPr>
      </p:sp>
      <p:sp>
        <p:nvSpPr>
          <p:cNvPr id="15" name="Shape 13"/>
          <p:cNvSpPr/>
          <p:nvPr/>
        </p:nvSpPr>
        <p:spPr>
          <a:xfrm>
            <a:off x="868680" y="4000500"/>
            <a:ext cx="384048" cy="384048"/>
          </a:xfrm>
          <a:prstGeom prst="ellipse">
            <a:avLst/>
          </a:prstGeom>
          <a:solidFill>
            <a:srgbClr val="FFC24B"/>
          </a:solidFill>
          <a:ln/>
        </p:spPr>
      </p:sp>
      <p:sp>
        <p:nvSpPr>
          <p:cNvPr id="16" name="Text 14"/>
          <p:cNvSpPr/>
          <p:nvPr/>
        </p:nvSpPr>
        <p:spPr>
          <a:xfrm>
            <a:off x="868680" y="400050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Shape 15"/>
          <p:cNvSpPr/>
          <p:nvPr/>
        </p:nvSpPr>
        <p:spPr>
          <a:xfrm>
            <a:off x="1463040" y="4165092"/>
            <a:ext cx="4114800" cy="54864"/>
          </a:xfrm>
          <a:prstGeom prst="rect">
            <a:avLst/>
          </a:prstGeom>
          <a:solidFill>
            <a:srgbClr val="272A38"/>
          </a:solidFill>
          <a:ln w="12700">
            <a:solidFill>
              <a:srgbClr val="272A38"/>
            </a:solidFill>
            <a:prstDash val="solid"/>
          </a:ln>
        </p:spPr>
      </p:sp>
      <p:sp>
        <p:nvSpPr>
          <p:cNvPr id="18" name="Shape 16"/>
          <p:cNvSpPr/>
          <p:nvPr/>
        </p:nvSpPr>
        <p:spPr>
          <a:xfrm>
            <a:off x="868680" y="4583430"/>
            <a:ext cx="384048" cy="384048"/>
          </a:xfrm>
          <a:prstGeom prst="ellipse">
            <a:avLst/>
          </a:prstGeom>
          <a:solidFill>
            <a:srgbClr val="FFC24B"/>
          </a:solidFill>
          <a:ln/>
        </p:spPr>
      </p:sp>
      <p:sp>
        <p:nvSpPr>
          <p:cNvPr id="19" name="Text 17"/>
          <p:cNvSpPr/>
          <p:nvPr/>
        </p:nvSpPr>
        <p:spPr>
          <a:xfrm>
            <a:off x="868680" y="458343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0" name="Shape 18"/>
          <p:cNvSpPr/>
          <p:nvPr/>
        </p:nvSpPr>
        <p:spPr>
          <a:xfrm>
            <a:off x="1463040" y="4748022"/>
            <a:ext cx="4114800" cy="54864"/>
          </a:xfrm>
          <a:prstGeom prst="rect">
            <a:avLst/>
          </a:prstGeom>
          <a:solidFill>
            <a:srgbClr val="272A38"/>
          </a:solidFill>
          <a:ln w="12700">
            <a:solidFill>
              <a:srgbClr val="272A38"/>
            </a:solidFill>
            <a:prstDash val="solid"/>
          </a:ln>
        </p:spPr>
      </p:sp>
      <p:sp>
        <p:nvSpPr>
          <p:cNvPr id="21" name="Shape 19"/>
          <p:cNvSpPr/>
          <p:nvPr/>
        </p:nvSpPr>
        <p:spPr>
          <a:xfrm>
            <a:off x="6217920" y="2240280"/>
            <a:ext cx="5349240" cy="3108960"/>
          </a:xfrm>
          <a:prstGeom prst="roundRect">
            <a:avLst>
              <a:gd name="adj" fmla="val 2647"/>
            </a:avLst>
          </a:prstGeom>
          <a:solidFill>
            <a:srgbClr val="1D1F2B"/>
          </a:solidFill>
          <a:ln w="12700">
            <a:solidFill>
              <a:srgbClr val="1D1F2B"/>
            </a:solidFill>
            <a:prstDash val="solid"/>
          </a:ln>
        </p:spPr>
      </p:sp>
      <p:sp>
        <p:nvSpPr>
          <p:cNvPr id="22" name="Text 20"/>
          <p:cNvSpPr/>
          <p:nvPr/>
        </p:nvSpPr>
        <p:spPr>
          <a:xfrm>
            <a:off x="6492240" y="2377440"/>
            <a:ext cx="475488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SECOND VOTE</a:t>
            </a:r>
            <a:endParaRPr lang="en-US" sz="1400" dirty="0"/>
          </a:p>
        </p:txBody>
      </p:sp>
      <p:sp>
        <p:nvSpPr>
          <p:cNvPr id="23" name="Shape 21"/>
          <p:cNvSpPr/>
          <p:nvPr/>
        </p:nvSpPr>
        <p:spPr>
          <a:xfrm>
            <a:off x="6492240" y="2834640"/>
            <a:ext cx="384048" cy="384048"/>
          </a:xfrm>
          <a:prstGeom prst="ellipse">
            <a:avLst/>
          </a:prstGeom>
          <a:solidFill>
            <a:srgbClr val="27D3BE"/>
          </a:solidFill>
          <a:ln/>
        </p:spPr>
      </p:sp>
      <p:sp>
        <p:nvSpPr>
          <p:cNvPr id="24" name="Text 22"/>
          <p:cNvSpPr/>
          <p:nvPr/>
        </p:nvSpPr>
        <p:spPr>
          <a:xfrm>
            <a:off x="6492240" y="283464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5" name="Shape 23"/>
          <p:cNvSpPr/>
          <p:nvPr/>
        </p:nvSpPr>
        <p:spPr>
          <a:xfrm>
            <a:off x="7086600" y="2999232"/>
            <a:ext cx="4114800" cy="54864"/>
          </a:xfrm>
          <a:prstGeom prst="rect">
            <a:avLst/>
          </a:prstGeom>
          <a:solidFill>
            <a:srgbClr val="272A38"/>
          </a:solidFill>
          <a:ln w="12700">
            <a:solidFill>
              <a:srgbClr val="272A38"/>
            </a:solidFill>
            <a:prstDash val="solid"/>
          </a:ln>
        </p:spPr>
      </p:sp>
      <p:sp>
        <p:nvSpPr>
          <p:cNvPr id="26" name="Shape 24"/>
          <p:cNvSpPr/>
          <p:nvPr/>
        </p:nvSpPr>
        <p:spPr>
          <a:xfrm>
            <a:off x="6492240" y="3417570"/>
            <a:ext cx="384048" cy="384048"/>
          </a:xfrm>
          <a:prstGeom prst="ellipse">
            <a:avLst/>
          </a:prstGeom>
          <a:solidFill>
            <a:srgbClr val="27D3BE"/>
          </a:solidFill>
          <a:ln/>
        </p:spPr>
      </p:sp>
      <p:sp>
        <p:nvSpPr>
          <p:cNvPr id="27" name="Text 25"/>
          <p:cNvSpPr/>
          <p:nvPr/>
        </p:nvSpPr>
        <p:spPr>
          <a:xfrm>
            <a:off x="6492240" y="341757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8" name="Shape 26"/>
          <p:cNvSpPr/>
          <p:nvPr/>
        </p:nvSpPr>
        <p:spPr>
          <a:xfrm>
            <a:off x="7086600" y="3582162"/>
            <a:ext cx="4114800" cy="54864"/>
          </a:xfrm>
          <a:prstGeom prst="rect">
            <a:avLst/>
          </a:prstGeom>
          <a:solidFill>
            <a:srgbClr val="272A38"/>
          </a:solidFill>
          <a:ln w="12700">
            <a:solidFill>
              <a:srgbClr val="272A38"/>
            </a:solidFill>
            <a:prstDash val="solid"/>
          </a:ln>
        </p:spPr>
      </p:sp>
      <p:sp>
        <p:nvSpPr>
          <p:cNvPr id="29" name="Shape 27"/>
          <p:cNvSpPr/>
          <p:nvPr/>
        </p:nvSpPr>
        <p:spPr>
          <a:xfrm>
            <a:off x="6492240" y="4000500"/>
            <a:ext cx="384048" cy="384048"/>
          </a:xfrm>
          <a:prstGeom prst="ellipse">
            <a:avLst/>
          </a:prstGeom>
          <a:solidFill>
            <a:srgbClr val="27D3BE"/>
          </a:solidFill>
          <a:ln/>
        </p:spPr>
      </p:sp>
      <p:sp>
        <p:nvSpPr>
          <p:cNvPr id="30" name="Text 28"/>
          <p:cNvSpPr/>
          <p:nvPr/>
        </p:nvSpPr>
        <p:spPr>
          <a:xfrm>
            <a:off x="6492240" y="400050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31" name="Shape 29"/>
          <p:cNvSpPr/>
          <p:nvPr/>
        </p:nvSpPr>
        <p:spPr>
          <a:xfrm>
            <a:off x="7086600" y="4165092"/>
            <a:ext cx="4114800" cy="54864"/>
          </a:xfrm>
          <a:prstGeom prst="rect">
            <a:avLst/>
          </a:prstGeom>
          <a:solidFill>
            <a:srgbClr val="272A38"/>
          </a:solidFill>
          <a:ln w="12700">
            <a:solidFill>
              <a:srgbClr val="272A38"/>
            </a:solidFill>
            <a:prstDash val="solid"/>
          </a:ln>
        </p:spPr>
      </p:sp>
      <p:sp>
        <p:nvSpPr>
          <p:cNvPr id="32" name="Shape 30"/>
          <p:cNvSpPr/>
          <p:nvPr/>
        </p:nvSpPr>
        <p:spPr>
          <a:xfrm>
            <a:off x="6492240" y="4583430"/>
            <a:ext cx="384048" cy="384048"/>
          </a:xfrm>
          <a:prstGeom prst="ellipse">
            <a:avLst/>
          </a:prstGeom>
          <a:solidFill>
            <a:srgbClr val="27D3BE"/>
          </a:solidFill>
          <a:ln/>
        </p:spPr>
      </p:sp>
      <p:sp>
        <p:nvSpPr>
          <p:cNvPr id="33" name="Text 31"/>
          <p:cNvSpPr/>
          <p:nvPr/>
        </p:nvSpPr>
        <p:spPr>
          <a:xfrm>
            <a:off x="6492240" y="458343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34" name="Shape 32"/>
          <p:cNvSpPr/>
          <p:nvPr/>
        </p:nvSpPr>
        <p:spPr>
          <a:xfrm>
            <a:off x="7086600" y="4748022"/>
            <a:ext cx="4114800" cy="54864"/>
          </a:xfrm>
          <a:prstGeom prst="rect">
            <a:avLst/>
          </a:prstGeom>
          <a:solidFill>
            <a:srgbClr val="272A38"/>
          </a:solidFill>
          <a:ln w="12700">
            <a:solidFill>
              <a:srgbClr val="272A38"/>
            </a:solidFill>
            <a:prstDash val="solid"/>
          </a:ln>
        </p:spPr>
      </p:sp>
      <p:sp>
        <p:nvSpPr>
          <p:cNvPr id="35" name="Text 33"/>
          <p:cNvSpPr/>
          <p:nvPr/>
        </p:nvSpPr>
        <p:spPr>
          <a:xfrm>
            <a:off x="594360" y="5577840"/>
            <a:ext cx="109728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QUATRE SOURCES D’ARGENT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Où un système trouve l’argent de la santé</a:t>
            </a:r>
            <a:endParaRPr lang="en-US" sz="3100" dirty="0"/>
          </a:p>
        </p:txBody>
      </p:sp>
      <p:sp>
        <p:nvSpPr>
          <p:cNvPr id="4" name="Shape 2"/>
          <p:cNvSpPr/>
          <p:nvPr/>
        </p:nvSpPr>
        <p:spPr>
          <a:xfrm>
            <a:off x="594360" y="1645920"/>
            <a:ext cx="5372100" cy="1783080"/>
          </a:xfrm>
          <a:prstGeom prst="roundRect">
            <a:avLst>
              <a:gd name="adj" fmla="val 4615"/>
            </a:avLst>
          </a:prstGeom>
          <a:solidFill>
            <a:srgbClr val="ECEAE4"/>
          </a:solidFill>
          <a:ln w="12700">
            <a:solidFill>
              <a:srgbClr val="ECEAE4"/>
            </a:solidFill>
            <a:prstDash val="solid"/>
          </a:ln>
        </p:spPr>
      </p:sp>
      <p:sp>
        <p:nvSpPr>
          <p:cNvPr id="5" name="Text 3"/>
          <p:cNvSpPr/>
          <p:nvPr/>
        </p:nvSpPr>
        <p:spPr>
          <a:xfrm>
            <a:off x="795528" y="1773936"/>
            <a:ext cx="49697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LES IMPÔTS GÉNÉRAUX</a:t>
            </a:r>
            <a:endParaRPr lang="en-US" sz="1300" dirty="0"/>
          </a:p>
        </p:txBody>
      </p:sp>
      <p:sp>
        <p:nvSpPr>
          <p:cNvPr id="6" name="Text 4"/>
          <p:cNvSpPr/>
          <p:nvPr/>
        </p:nvSpPr>
        <p:spPr>
          <a:xfrm>
            <a:off x="795528" y="2157984"/>
            <a:ext cx="4969764" cy="11430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collectés par l’État, alloués par le budget ; base du modèle Beveridge</a:t>
            </a:r>
            <a:endParaRPr lang="en-US" sz="1800" dirty="0"/>
          </a:p>
        </p:txBody>
      </p:sp>
      <p:sp>
        <p:nvSpPr>
          <p:cNvPr id="7" name="Shape 5"/>
          <p:cNvSpPr/>
          <p:nvPr/>
        </p:nvSpPr>
        <p:spPr>
          <a:xfrm>
            <a:off x="6195060" y="1645920"/>
            <a:ext cx="5372100" cy="1783080"/>
          </a:xfrm>
          <a:prstGeom prst="roundRect">
            <a:avLst>
              <a:gd name="adj" fmla="val 4615"/>
            </a:avLst>
          </a:prstGeom>
          <a:solidFill>
            <a:srgbClr val="ECEAE4"/>
          </a:solidFill>
          <a:ln w="12700">
            <a:solidFill>
              <a:srgbClr val="ECEAE4"/>
            </a:solidFill>
            <a:prstDash val="solid"/>
          </a:ln>
        </p:spPr>
      </p:sp>
      <p:sp>
        <p:nvSpPr>
          <p:cNvPr id="8" name="Text 6"/>
          <p:cNvSpPr/>
          <p:nvPr/>
        </p:nvSpPr>
        <p:spPr>
          <a:xfrm>
            <a:off x="6396228" y="177393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LES COTISATIONS SOCIALES</a:t>
            </a:r>
            <a:endParaRPr lang="en-US" sz="1300" dirty="0"/>
          </a:p>
        </p:txBody>
      </p:sp>
      <p:sp>
        <p:nvSpPr>
          <p:cNvPr id="9" name="Text 7"/>
          <p:cNvSpPr/>
          <p:nvPr/>
        </p:nvSpPr>
        <p:spPr>
          <a:xfrm>
            <a:off x="6396228" y="2157984"/>
            <a:ext cx="4969764" cy="11430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obligatoires, proportionnelles au revenu ; base du modèle Bismarck</a:t>
            </a:r>
            <a:endParaRPr lang="en-US" sz="1800" dirty="0"/>
          </a:p>
        </p:txBody>
      </p:sp>
      <p:sp>
        <p:nvSpPr>
          <p:cNvPr id="10" name="Shape 8"/>
          <p:cNvSpPr/>
          <p:nvPr/>
        </p:nvSpPr>
        <p:spPr>
          <a:xfrm>
            <a:off x="594360" y="3657600"/>
            <a:ext cx="5372100" cy="1783080"/>
          </a:xfrm>
          <a:prstGeom prst="roundRect">
            <a:avLst>
              <a:gd name="adj" fmla="val 4615"/>
            </a:avLst>
          </a:prstGeom>
          <a:solidFill>
            <a:srgbClr val="ECEAE4"/>
          </a:solidFill>
          <a:ln w="12700">
            <a:solidFill>
              <a:srgbClr val="ECEAE4"/>
            </a:solidFill>
            <a:prstDash val="solid"/>
          </a:ln>
        </p:spPr>
      </p:sp>
      <p:sp>
        <p:nvSpPr>
          <p:cNvPr id="11" name="Text 9"/>
          <p:cNvSpPr/>
          <p:nvPr/>
        </p:nvSpPr>
        <p:spPr>
          <a:xfrm>
            <a:off x="795528" y="3785616"/>
            <a:ext cx="49697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L’ASSURANCE VOLONTAIRE</a:t>
            </a:r>
            <a:endParaRPr lang="en-US" sz="1300" dirty="0"/>
          </a:p>
        </p:txBody>
      </p:sp>
      <p:sp>
        <p:nvSpPr>
          <p:cNvPr id="12" name="Text 10"/>
          <p:cNvSpPr/>
          <p:nvPr/>
        </p:nvSpPr>
        <p:spPr>
          <a:xfrm>
            <a:off x="795528" y="4169664"/>
            <a:ext cx="4969764" cy="11430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achetée par des personnes ou des employeurs, en complément</a:t>
            </a:r>
            <a:endParaRPr lang="en-US" sz="1800" dirty="0"/>
          </a:p>
        </p:txBody>
      </p:sp>
      <p:sp>
        <p:nvSpPr>
          <p:cNvPr id="13" name="Shape 11"/>
          <p:cNvSpPr/>
          <p:nvPr/>
        </p:nvSpPr>
        <p:spPr>
          <a:xfrm>
            <a:off x="6195060" y="3657600"/>
            <a:ext cx="5372100" cy="1783080"/>
          </a:xfrm>
          <a:prstGeom prst="roundRect">
            <a:avLst>
              <a:gd name="adj" fmla="val 4615"/>
            </a:avLst>
          </a:prstGeom>
          <a:solidFill>
            <a:srgbClr val="ECEAE4"/>
          </a:solidFill>
          <a:ln w="12700">
            <a:solidFill>
              <a:srgbClr val="ECEAE4"/>
            </a:solidFill>
            <a:prstDash val="solid"/>
          </a:ln>
        </p:spPr>
      </p:sp>
      <p:sp>
        <p:nvSpPr>
          <p:cNvPr id="14" name="Text 12"/>
          <p:cNvSpPr/>
          <p:nvPr/>
        </p:nvSpPr>
        <p:spPr>
          <a:xfrm>
            <a:off x="6396228" y="3785616"/>
            <a:ext cx="4969764" cy="384048"/>
          </a:xfrm>
          <a:prstGeom prst="rect">
            <a:avLst/>
          </a:prstGeom>
          <a:noFill/>
          <a:ln/>
        </p:spPr>
        <p:txBody>
          <a:bodyPr wrap="square" lIns="0" tIns="0" rIns="0" bIns="0" rtlCol="0" anchor="t"/>
          <a:lstStyle/>
          <a:p>
            <a:pPr indent="0" marL="0">
              <a:buNone/>
            </a:pPr>
            <a:r>
              <a:rPr lang="en-US" sz="1300" b="1" spc="100" kern="0" dirty="0">
                <a:solidFill>
                  <a:srgbClr val="9C4A0A"/>
                </a:solidFill>
                <a:latin typeface="Palatino Linotype" pitchFamily="34" charset="0"/>
                <a:ea typeface="Palatino Linotype" pitchFamily="34" charset="-122"/>
                <a:cs typeface="Palatino Linotype" pitchFamily="34" charset="-120"/>
              </a:rPr>
              <a:t>LES PAIEMENTS DIRECTS</a:t>
            </a:r>
            <a:endParaRPr lang="en-US" sz="1300" dirty="0"/>
          </a:p>
        </p:txBody>
      </p:sp>
      <p:sp>
        <p:nvSpPr>
          <p:cNvPr id="15" name="Text 13"/>
          <p:cNvSpPr/>
          <p:nvPr/>
        </p:nvSpPr>
        <p:spPr>
          <a:xfrm>
            <a:off x="6396228" y="4169664"/>
            <a:ext cx="4969764" cy="11430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copaiements, services non couverts, médicaments sans ordonnance, paiements informels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MISE EN COMMUN DES RISQUES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L’argent réuni avant la maladie, auprès de beaucoup</a:t>
            </a:r>
            <a:endParaRPr lang="en-US" sz="3100" dirty="0"/>
          </a:p>
        </p:txBody>
      </p:sp>
      <p:sp>
        <p:nvSpPr>
          <p:cNvPr id="4" name="Shape 2"/>
          <p:cNvSpPr/>
          <p:nvPr/>
        </p:nvSpPr>
        <p:spPr>
          <a:xfrm>
            <a:off x="594360" y="1554480"/>
            <a:ext cx="10972800" cy="1188720"/>
          </a:xfrm>
          <a:prstGeom prst="roundRect">
            <a:avLst>
              <a:gd name="adj" fmla="val 6923"/>
            </a:avLst>
          </a:prstGeom>
          <a:solidFill>
            <a:srgbClr val="272A38"/>
          </a:solidFill>
          <a:ln w="12700">
            <a:solidFill>
              <a:srgbClr val="272A38"/>
            </a:solidFill>
            <a:prstDash val="solid"/>
          </a:ln>
        </p:spPr>
      </p:sp>
      <p:sp>
        <p:nvSpPr>
          <p:cNvPr id="5" name="Text 3"/>
          <p:cNvSpPr/>
          <p:nvPr/>
        </p:nvSpPr>
        <p:spPr>
          <a:xfrm>
            <a:off x="868680" y="1554480"/>
            <a:ext cx="10424160" cy="118872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L’argent payé d’avance par beaucoup de personnes, aux risques différents, entre dans un fonds commun qui achète des services pour tous.</a:t>
            </a:r>
            <a:endParaRPr lang="en-US" sz="2000" dirty="0"/>
          </a:p>
        </p:txBody>
      </p:sp>
      <p:sp>
        <p:nvSpPr>
          <p:cNvPr id="6" name="Shape 4"/>
          <p:cNvSpPr/>
          <p:nvPr/>
        </p:nvSpPr>
        <p:spPr>
          <a:xfrm>
            <a:off x="594360" y="3017520"/>
            <a:ext cx="537210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795528" y="3145536"/>
            <a:ext cx="49697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AVANT LA MALADIE</a:t>
            </a:r>
            <a:endParaRPr lang="en-US" sz="1300" dirty="0"/>
          </a:p>
        </p:txBody>
      </p:sp>
      <p:sp>
        <p:nvSpPr>
          <p:cNvPr id="8" name="Text 6"/>
          <p:cNvSpPr/>
          <p:nvPr/>
        </p:nvSpPr>
        <p:spPr>
          <a:xfrm>
            <a:off x="795528" y="3529584"/>
            <a:ext cx="4969764" cy="15544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impôts, cotisations et assurance volontaire : la maladie de l’un est payée par l’argent de tous</a:t>
            </a:r>
            <a:endParaRPr lang="en-US" sz="1900" dirty="0"/>
          </a:p>
        </p:txBody>
      </p:sp>
      <p:sp>
        <p:nvSpPr>
          <p:cNvPr id="9" name="Shape 7"/>
          <p:cNvSpPr/>
          <p:nvPr/>
        </p:nvSpPr>
        <p:spPr>
          <a:xfrm>
            <a:off x="6195060" y="3017520"/>
            <a:ext cx="5372100" cy="2194560"/>
          </a:xfrm>
          <a:prstGeom prst="roundRect">
            <a:avLst>
              <a:gd name="adj" fmla="val 3750"/>
            </a:avLst>
          </a:prstGeom>
          <a:solidFill>
            <a:srgbClr val="1D1F2B"/>
          </a:solidFill>
          <a:ln w="12700">
            <a:solidFill>
              <a:srgbClr val="1D1F2B"/>
            </a:solidFill>
            <a:prstDash val="solid"/>
          </a:ln>
        </p:spPr>
      </p:sp>
      <p:sp>
        <p:nvSpPr>
          <p:cNvPr id="10" name="Text 8"/>
          <p:cNvSpPr/>
          <p:nvPr/>
        </p:nvSpPr>
        <p:spPr>
          <a:xfrm>
            <a:off x="6396228" y="3145536"/>
            <a:ext cx="49697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AU MOMENT DE LA MALADIE</a:t>
            </a:r>
            <a:endParaRPr lang="en-US" sz="1300" dirty="0"/>
          </a:p>
        </p:txBody>
      </p:sp>
      <p:sp>
        <p:nvSpPr>
          <p:cNvPr id="11" name="Text 9"/>
          <p:cNvSpPr/>
          <p:nvPr/>
        </p:nvSpPr>
        <p:spPr>
          <a:xfrm>
            <a:off x="6396228" y="3529584"/>
            <a:ext cx="4969764" cy="15544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les paiements directs tombent sur le malade ; plus ils sont élevés, plus la protection financière est faible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ROUMANIE ET L’UNION EUROPÉENNE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Qui paie la santé, par régimes de financement</a:t>
            </a:r>
            <a:endParaRPr lang="en-US" sz="3000" dirty="0"/>
          </a:p>
        </p:txBody>
      </p:sp>
      <p:sp>
        <p:nvSpPr>
          <p:cNvPr id="4" name="Text 2"/>
          <p:cNvSpPr/>
          <p:nvPr/>
        </p:nvSpPr>
        <p:spPr>
          <a:xfrm>
            <a:off x="731520" y="1554480"/>
            <a:ext cx="6858000" cy="365760"/>
          </a:xfrm>
          <a:prstGeom prst="rect">
            <a:avLst/>
          </a:prstGeom>
          <a:noFill/>
          <a:ln/>
        </p:spPr>
        <p:txBody>
          <a:bodyPr wrap="square" lIns="0" tIns="0" rIns="0" bIns="0" rtlCol="0" anchor="t"/>
          <a:lstStyle/>
          <a:p>
            <a:pPr algn="l"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LE RÉGIME (% DES DÉPENSES COURANTES)</a:t>
            </a:r>
            <a:endParaRPr lang="en-US" sz="1200" dirty="0"/>
          </a:p>
        </p:txBody>
      </p:sp>
      <p:sp>
        <p:nvSpPr>
          <p:cNvPr id="5" name="Text 3"/>
          <p:cNvSpPr/>
          <p:nvPr/>
        </p:nvSpPr>
        <p:spPr>
          <a:xfrm>
            <a:off x="7772400" y="1554480"/>
            <a:ext cx="1828800" cy="365760"/>
          </a:xfrm>
          <a:prstGeom prst="rect">
            <a:avLst/>
          </a:prstGeom>
          <a:noFill/>
          <a:ln/>
        </p:spPr>
        <p:txBody>
          <a:bodyPr wrap="square" lIns="0" tIns="0" rIns="0" bIns="0" rtlCol="0" anchor="t"/>
          <a:lstStyle/>
          <a:p>
            <a:pPr algn="r"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ROUMANIE</a:t>
            </a:r>
            <a:endParaRPr lang="en-US" sz="1200" dirty="0"/>
          </a:p>
        </p:txBody>
      </p:sp>
      <p:sp>
        <p:nvSpPr>
          <p:cNvPr id="6" name="Text 4"/>
          <p:cNvSpPr/>
          <p:nvPr/>
        </p:nvSpPr>
        <p:spPr>
          <a:xfrm>
            <a:off x="9784080" y="1554480"/>
            <a:ext cx="1737360" cy="365760"/>
          </a:xfrm>
          <a:prstGeom prst="rect">
            <a:avLst/>
          </a:prstGeom>
          <a:noFill/>
          <a:ln/>
        </p:spPr>
        <p:txBody>
          <a:bodyPr wrap="square" lIns="0" tIns="0" rIns="0" bIns="0" rtlCol="0" anchor="t"/>
          <a:lstStyle/>
          <a:p>
            <a:pPr algn="r"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UE</a:t>
            </a:r>
            <a:endParaRPr lang="en-US" sz="1200" dirty="0"/>
          </a:p>
        </p:txBody>
      </p:sp>
      <p:sp>
        <p:nvSpPr>
          <p:cNvPr id="7" name="Shape 5"/>
          <p:cNvSpPr/>
          <p:nvPr/>
        </p:nvSpPr>
        <p:spPr>
          <a:xfrm>
            <a:off x="594360" y="2011680"/>
            <a:ext cx="10972800" cy="777240"/>
          </a:xfrm>
          <a:prstGeom prst="roundRect">
            <a:avLst>
              <a:gd name="adj" fmla="val 10588"/>
            </a:avLst>
          </a:prstGeom>
          <a:solidFill>
            <a:srgbClr val="ECEAE4"/>
          </a:solidFill>
          <a:ln w="12700">
            <a:solidFill>
              <a:srgbClr val="ECEAE4"/>
            </a:solidFill>
            <a:prstDash val="solid"/>
          </a:ln>
        </p:spPr>
      </p:sp>
      <p:sp>
        <p:nvSpPr>
          <p:cNvPr id="8" name="Text 6"/>
          <p:cNvSpPr/>
          <p:nvPr/>
        </p:nvSpPr>
        <p:spPr>
          <a:xfrm>
            <a:off x="731520" y="2011680"/>
            <a:ext cx="6766560" cy="777240"/>
          </a:xfrm>
          <a:prstGeom prst="rect">
            <a:avLst/>
          </a:prstGeom>
          <a:noFill/>
          <a:ln/>
        </p:spPr>
        <p:txBody>
          <a:bodyPr wrap="square" lIns="0" tIns="0" rIns="0" bIns="0" rtlCol="0" anchor="ctr"/>
          <a:lstStyle/>
          <a:p>
            <a:pPr algn="l" indent="0" marL="0">
              <a:buNone/>
            </a:pPr>
            <a:r>
              <a:rPr lang="en-US" sz="1750" b="1" dirty="0">
                <a:solidFill>
                  <a:srgbClr val="11121A"/>
                </a:solidFill>
                <a:latin typeface="Palatino Linotype" pitchFamily="34" charset="0"/>
                <a:ea typeface="Palatino Linotype" pitchFamily="34" charset="-122"/>
                <a:cs typeface="Palatino Linotype" pitchFamily="34" charset="-120"/>
              </a:rPr>
              <a:t>Les régimes d’assurance maladie sociale</a:t>
            </a:r>
            <a:endParaRPr lang="en-US" sz="1750" dirty="0"/>
          </a:p>
        </p:txBody>
      </p:sp>
      <p:sp>
        <p:nvSpPr>
          <p:cNvPr id="9" name="Text 7"/>
          <p:cNvSpPr/>
          <p:nvPr/>
        </p:nvSpPr>
        <p:spPr>
          <a:xfrm>
            <a:off x="7772400" y="2011680"/>
            <a:ext cx="1737360" cy="77724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63,0</a:t>
            </a:r>
            <a:endParaRPr lang="en-US" sz="2600" dirty="0"/>
          </a:p>
        </p:txBody>
      </p:sp>
      <p:sp>
        <p:nvSpPr>
          <p:cNvPr id="10" name="Text 8"/>
          <p:cNvSpPr/>
          <p:nvPr/>
        </p:nvSpPr>
        <p:spPr>
          <a:xfrm>
            <a:off x="9784080" y="2011680"/>
            <a:ext cx="1645920" cy="777240"/>
          </a:xfrm>
          <a:prstGeom prst="rect">
            <a:avLst/>
          </a:prstGeom>
          <a:noFill/>
          <a:ln/>
        </p:spPr>
        <p:txBody>
          <a:bodyPr wrap="square" lIns="0" tIns="0" rIns="0" bIns="0" rtlCol="0" anchor="ctr"/>
          <a:lstStyle/>
          <a:p>
            <a:pPr algn="r" indent="0" marL="0">
              <a:buNone/>
            </a:pPr>
            <a:r>
              <a:rPr lang="en-US" sz="2600" b="1" dirty="0">
                <a:solidFill>
                  <a:srgbClr val="0E7C6B"/>
                </a:solidFill>
                <a:latin typeface="Palatino Linotype" pitchFamily="34" charset="0"/>
                <a:ea typeface="Palatino Linotype" pitchFamily="34" charset="-122"/>
                <a:cs typeface="Palatino Linotype" pitchFamily="34" charset="-120"/>
              </a:rPr>
              <a:t>46,1</a:t>
            </a:r>
            <a:endParaRPr lang="en-US" sz="2600" dirty="0"/>
          </a:p>
        </p:txBody>
      </p:sp>
      <p:sp>
        <p:nvSpPr>
          <p:cNvPr id="11" name="Shape 9"/>
          <p:cNvSpPr/>
          <p:nvPr/>
        </p:nvSpPr>
        <p:spPr>
          <a:xfrm>
            <a:off x="594360" y="2880360"/>
            <a:ext cx="10972800" cy="777240"/>
          </a:xfrm>
          <a:prstGeom prst="roundRect">
            <a:avLst>
              <a:gd name="adj" fmla="val 10588"/>
            </a:avLst>
          </a:prstGeom>
          <a:solidFill>
            <a:srgbClr val="ECEAE4"/>
          </a:solidFill>
          <a:ln w="12700">
            <a:solidFill>
              <a:srgbClr val="ECEAE4"/>
            </a:solidFill>
            <a:prstDash val="solid"/>
          </a:ln>
        </p:spPr>
      </p:sp>
      <p:sp>
        <p:nvSpPr>
          <p:cNvPr id="12" name="Text 10"/>
          <p:cNvSpPr/>
          <p:nvPr/>
        </p:nvSpPr>
        <p:spPr>
          <a:xfrm>
            <a:off x="731520" y="2880360"/>
            <a:ext cx="6766560" cy="777240"/>
          </a:xfrm>
          <a:prstGeom prst="rect">
            <a:avLst/>
          </a:prstGeom>
          <a:noFill/>
          <a:ln/>
        </p:spPr>
        <p:txBody>
          <a:bodyPr wrap="square" lIns="0" tIns="0" rIns="0" bIns="0" rtlCol="0" anchor="ctr"/>
          <a:lstStyle/>
          <a:p>
            <a:pPr algn="l" indent="0" marL="0">
              <a:buNone/>
            </a:pPr>
            <a:r>
              <a:rPr lang="en-US" sz="1750" b="1" dirty="0">
                <a:solidFill>
                  <a:srgbClr val="11121A"/>
                </a:solidFill>
                <a:latin typeface="Palatino Linotype" pitchFamily="34" charset="0"/>
                <a:ea typeface="Palatino Linotype" pitchFamily="34" charset="-122"/>
                <a:cs typeface="Palatino Linotype" pitchFamily="34" charset="-120"/>
              </a:rPr>
              <a:t>Le budget de l’État et les budgets locaux</a:t>
            </a:r>
            <a:endParaRPr lang="en-US" sz="1750" dirty="0"/>
          </a:p>
        </p:txBody>
      </p:sp>
      <p:sp>
        <p:nvSpPr>
          <p:cNvPr id="13" name="Text 11"/>
          <p:cNvSpPr/>
          <p:nvPr/>
        </p:nvSpPr>
        <p:spPr>
          <a:xfrm>
            <a:off x="7772400" y="2880360"/>
            <a:ext cx="1737360" cy="77724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14,2</a:t>
            </a:r>
            <a:endParaRPr lang="en-US" sz="2600" dirty="0"/>
          </a:p>
        </p:txBody>
      </p:sp>
      <p:sp>
        <p:nvSpPr>
          <p:cNvPr id="14" name="Text 12"/>
          <p:cNvSpPr/>
          <p:nvPr/>
        </p:nvSpPr>
        <p:spPr>
          <a:xfrm>
            <a:off x="9784080" y="2880360"/>
            <a:ext cx="1645920" cy="777240"/>
          </a:xfrm>
          <a:prstGeom prst="rect">
            <a:avLst/>
          </a:prstGeom>
          <a:noFill/>
          <a:ln/>
        </p:spPr>
        <p:txBody>
          <a:bodyPr wrap="square" lIns="0" tIns="0" rIns="0" bIns="0" rtlCol="0" anchor="ctr"/>
          <a:lstStyle/>
          <a:p>
            <a:pPr algn="r" indent="0" marL="0">
              <a:buNone/>
            </a:pPr>
            <a:r>
              <a:rPr lang="en-US" sz="2600" b="1" dirty="0">
                <a:solidFill>
                  <a:srgbClr val="0E7C6B"/>
                </a:solidFill>
                <a:latin typeface="Palatino Linotype" pitchFamily="34" charset="0"/>
                <a:ea typeface="Palatino Linotype" pitchFamily="34" charset="-122"/>
                <a:cs typeface="Palatino Linotype" pitchFamily="34" charset="-120"/>
              </a:rPr>
              <a:t>27,9</a:t>
            </a:r>
            <a:endParaRPr lang="en-US" sz="2600" dirty="0"/>
          </a:p>
        </p:txBody>
      </p:sp>
      <p:sp>
        <p:nvSpPr>
          <p:cNvPr id="15" name="Shape 13"/>
          <p:cNvSpPr/>
          <p:nvPr/>
        </p:nvSpPr>
        <p:spPr>
          <a:xfrm>
            <a:off x="594360" y="3749040"/>
            <a:ext cx="10972800" cy="777240"/>
          </a:xfrm>
          <a:prstGeom prst="roundRect">
            <a:avLst>
              <a:gd name="adj" fmla="val 10588"/>
            </a:avLst>
          </a:prstGeom>
          <a:solidFill>
            <a:srgbClr val="ECEAE4"/>
          </a:solidFill>
          <a:ln w="12700">
            <a:solidFill>
              <a:srgbClr val="ECEAE4"/>
            </a:solidFill>
            <a:prstDash val="solid"/>
          </a:ln>
        </p:spPr>
      </p:sp>
      <p:sp>
        <p:nvSpPr>
          <p:cNvPr id="16" name="Text 14"/>
          <p:cNvSpPr/>
          <p:nvPr/>
        </p:nvSpPr>
        <p:spPr>
          <a:xfrm>
            <a:off x="731520" y="3749040"/>
            <a:ext cx="6766560" cy="777240"/>
          </a:xfrm>
          <a:prstGeom prst="rect">
            <a:avLst/>
          </a:prstGeom>
          <a:noFill/>
          <a:ln/>
        </p:spPr>
        <p:txBody>
          <a:bodyPr wrap="square" lIns="0" tIns="0" rIns="0" bIns="0" rtlCol="0" anchor="ctr"/>
          <a:lstStyle/>
          <a:p>
            <a:pPr algn="l" indent="0" marL="0">
              <a:buNone/>
            </a:pPr>
            <a:r>
              <a:rPr lang="en-US" sz="1750" b="1" dirty="0">
                <a:solidFill>
                  <a:srgbClr val="11121A"/>
                </a:solidFill>
                <a:latin typeface="Palatino Linotype" pitchFamily="34" charset="0"/>
                <a:ea typeface="Palatino Linotype" pitchFamily="34" charset="-122"/>
                <a:cs typeface="Palatino Linotype" pitchFamily="34" charset="-120"/>
              </a:rPr>
              <a:t>L’assurance volontaire</a:t>
            </a:r>
            <a:endParaRPr lang="en-US" sz="1750" dirty="0"/>
          </a:p>
        </p:txBody>
      </p:sp>
      <p:sp>
        <p:nvSpPr>
          <p:cNvPr id="17" name="Text 15"/>
          <p:cNvSpPr/>
          <p:nvPr/>
        </p:nvSpPr>
        <p:spPr>
          <a:xfrm>
            <a:off x="7772400" y="3749040"/>
            <a:ext cx="1737360" cy="77724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0,7</a:t>
            </a:r>
            <a:endParaRPr lang="en-US" sz="2600" dirty="0"/>
          </a:p>
        </p:txBody>
      </p:sp>
      <p:sp>
        <p:nvSpPr>
          <p:cNvPr id="18" name="Text 16"/>
          <p:cNvSpPr/>
          <p:nvPr/>
        </p:nvSpPr>
        <p:spPr>
          <a:xfrm>
            <a:off x="9784080" y="3749040"/>
            <a:ext cx="1645920" cy="777240"/>
          </a:xfrm>
          <a:prstGeom prst="rect">
            <a:avLst/>
          </a:prstGeom>
          <a:noFill/>
          <a:ln/>
        </p:spPr>
        <p:txBody>
          <a:bodyPr wrap="square" lIns="0" tIns="0" rIns="0" bIns="0" rtlCol="0" anchor="ctr"/>
          <a:lstStyle/>
          <a:p>
            <a:pPr algn="r" indent="0" marL="0">
              <a:buNone/>
            </a:pPr>
            <a:r>
              <a:rPr lang="en-US" sz="2600" b="1" dirty="0">
                <a:solidFill>
                  <a:srgbClr val="0E7C6B"/>
                </a:solidFill>
                <a:latin typeface="Palatino Linotype" pitchFamily="34" charset="0"/>
                <a:ea typeface="Palatino Linotype" pitchFamily="34" charset="-122"/>
                <a:cs typeface="Palatino Linotype" pitchFamily="34" charset="-120"/>
              </a:rPr>
              <a:t>4,6</a:t>
            </a:r>
            <a:endParaRPr lang="en-US" sz="2600" dirty="0"/>
          </a:p>
        </p:txBody>
      </p:sp>
      <p:sp>
        <p:nvSpPr>
          <p:cNvPr id="19" name="Shape 17"/>
          <p:cNvSpPr/>
          <p:nvPr/>
        </p:nvSpPr>
        <p:spPr>
          <a:xfrm>
            <a:off x="594360" y="4617720"/>
            <a:ext cx="10972800" cy="777240"/>
          </a:xfrm>
          <a:prstGeom prst="roundRect">
            <a:avLst>
              <a:gd name="adj" fmla="val 10588"/>
            </a:avLst>
          </a:prstGeom>
          <a:solidFill>
            <a:srgbClr val="ECEAE4"/>
          </a:solidFill>
          <a:ln w="12700">
            <a:solidFill>
              <a:srgbClr val="ECEAE4"/>
            </a:solidFill>
            <a:prstDash val="solid"/>
          </a:ln>
        </p:spPr>
      </p:sp>
      <p:sp>
        <p:nvSpPr>
          <p:cNvPr id="20" name="Text 18"/>
          <p:cNvSpPr/>
          <p:nvPr/>
        </p:nvSpPr>
        <p:spPr>
          <a:xfrm>
            <a:off x="731520" y="4617720"/>
            <a:ext cx="6766560" cy="777240"/>
          </a:xfrm>
          <a:prstGeom prst="rect">
            <a:avLst/>
          </a:prstGeom>
          <a:noFill/>
          <a:ln/>
        </p:spPr>
        <p:txBody>
          <a:bodyPr wrap="square" lIns="0" tIns="0" rIns="0" bIns="0" rtlCol="0" anchor="ctr"/>
          <a:lstStyle/>
          <a:p>
            <a:pPr algn="l" indent="0" marL="0">
              <a:buNone/>
            </a:pPr>
            <a:r>
              <a:rPr lang="en-US" sz="1750" b="1" dirty="0">
                <a:solidFill>
                  <a:srgbClr val="11121A"/>
                </a:solidFill>
                <a:latin typeface="Palatino Linotype" pitchFamily="34" charset="0"/>
                <a:ea typeface="Palatino Linotype" pitchFamily="34" charset="-122"/>
                <a:cs typeface="Palatino Linotype" pitchFamily="34" charset="-120"/>
              </a:rPr>
              <a:t>Les paiements directs des ménages</a:t>
            </a:r>
            <a:endParaRPr lang="en-US" sz="1750" dirty="0"/>
          </a:p>
        </p:txBody>
      </p:sp>
      <p:sp>
        <p:nvSpPr>
          <p:cNvPr id="21" name="Text 19"/>
          <p:cNvSpPr/>
          <p:nvPr/>
        </p:nvSpPr>
        <p:spPr>
          <a:xfrm>
            <a:off x="7772400" y="4617720"/>
            <a:ext cx="1737360" cy="77724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22,0</a:t>
            </a:r>
            <a:endParaRPr lang="en-US" sz="2600" dirty="0"/>
          </a:p>
        </p:txBody>
      </p:sp>
      <p:sp>
        <p:nvSpPr>
          <p:cNvPr id="22" name="Text 20"/>
          <p:cNvSpPr/>
          <p:nvPr/>
        </p:nvSpPr>
        <p:spPr>
          <a:xfrm>
            <a:off x="9784080" y="4617720"/>
            <a:ext cx="1645920" cy="777240"/>
          </a:xfrm>
          <a:prstGeom prst="rect">
            <a:avLst/>
          </a:prstGeom>
          <a:noFill/>
          <a:ln/>
        </p:spPr>
        <p:txBody>
          <a:bodyPr wrap="square" lIns="0" tIns="0" rIns="0" bIns="0" rtlCol="0" anchor="ctr"/>
          <a:lstStyle/>
          <a:p>
            <a:pPr algn="r" indent="0" marL="0">
              <a:buNone/>
            </a:pPr>
            <a:r>
              <a:rPr lang="en-US" sz="2600" b="1" dirty="0">
                <a:solidFill>
                  <a:srgbClr val="0E7C6B"/>
                </a:solidFill>
                <a:latin typeface="Palatino Linotype" pitchFamily="34" charset="0"/>
                <a:ea typeface="Palatino Linotype" pitchFamily="34" charset="-122"/>
                <a:cs typeface="Palatino Linotype" pitchFamily="34" charset="-120"/>
              </a:rPr>
              <a:t>15,1</a:t>
            </a:r>
            <a:endParaRPr lang="en-US" sz="2600" dirty="0"/>
          </a:p>
        </p:txBody>
      </p:sp>
      <p:sp>
        <p:nvSpPr>
          <p:cNvPr id="23" name="Text 21"/>
          <p:cNvSpPr/>
          <p:nvPr/>
        </p:nvSpPr>
        <p:spPr>
          <a:xfrm>
            <a:off x="594360" y="5532120"/>
            <a:ext cx="10972800" cy="411480"/>
          </a:xfrm>
          <a:prstGeom prst="rect">
            <a:avLst/>
          </a:prstGeom>
          <a:noFill/>
          <a:ln/>
        </p:spPr>
        <p:txBody>
          <a:bodyPr wrap="square" lIns="0" tIns="0" rIns="0" bIns="0" rtlCol="0" anchor="t"/>
          <a:lstStyle/>
          <a:p>
            <a:pPr indent="0" marL="0">
              <a:buNone/>
            </a:pPr>
            <a:r>
              <a:rPr lang="en-US" sz="1700" i="1" dirty="0">
                <a:solidFill>
                  <a:srgbClr val="B02532"/>
                </a:solidFill>
                <a:latin typeface="Palatino Linotype" pitchFamily="34" charset="0"/>
                <a:ea typeface="Palatino Linotype" pitchFamily="34" charset="-122"/>
                <a:cs typeface="Palatino Linotype" pitchFamily="34" charset="-120"/>
              </a:rPr>
              <a:t>Le total est petit : 6,2 % du PIB en Roumanie, contre 10,2 % dans l’UE.</a:t>
            </a:r>
            <a:endParaRPr lang="en-US" sz="17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comptes de la santé par régimes de financement, 2024.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COTISATION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Dix pour cent du revenu, dans un seul fonds</a:t>
            </a:r>
            <a:endParaRPr lang="en-US" sz="3100" dirty="0"/>
          </a:p>
        </p:txBody>
      </p:sp>
      <p:sp>
        <p:nvSpPr>
          <p:cNvPr id="4" name="Shape 2"/>
          <p:cNvSpPr/>
          <p:nvPr/>
        </p:nvSpPr>
        <p:spPr>
          <a:xfrm>
            <a:off x="594360" y="1600200"/>
            <a:ext cx="4206240" cy="2926080"/>
          </a:xfrm>
          <a:prstGeom prst="roundRect">
            <a:avLst>
              <a:gd name="adj" fmla="val 2813"/>
            </a:avLst>
          </a:prstGeom>
          <a:solidFill>
            <a:srgbClr val="1D1F2B"/>
          </a:solidFill>
          <a:ln w="12700">
            <a:solidFill>
              <a:srgbClr val="1D1F2B"/>
            </a:solidFill>
            <a:prstDash val="solid"/>
          </a:ln>
        </p:spPr>
      </p:sp>
      <p:sp>
        <p:nvSpPr>
          <p:cNvPr id="5" name="Text 3"/>
          <p:cNvSpPr/>
          <p:nvPr/>
        </p:nvSpPr>
        <p:spPr>
          <a:xfrm>
            <a:off x="868680" y="1691640"/>
            <a:ext cx="3657600" cy="1188720"/>
          </a:xfrm>
          <a:prstGeom prst="rect">
            <a:avLst/>
          </a:prstGeom>
          <a:noFill/>
          <a:ln/>
        </p:spPr>
        <p:txBody>
          <a:bodyPr wrap="square" lIns="0" tIns="0" rIns="0" bIns="0" rtlCol="0" anchor="ctr"/>
          <a:lstStyle/>
          <a:p>
            <a:pPr indent="0" marL="0">
              <a:buNone/>
            </a:pPr>
            <a:r>
              <a:rPr lang="en-US" sz="6600" b="1" dirty="0">
                <a:solidFill>
                  <a:srgbClr val="FFC24B"/>
                </a:solidFill>
                <a:latin typeface="Palatino Linotype" pitchFamily="34" charset="0"/>
                <a:ea typeface="Palatino Linotype" pitchFamily="34" charset="-122"/>
                <a:cs typeface="Palatino Linotype" pitchFamily="34" charset="-120"/>
              </a:rPr>
              <a:t>10 %</a:t>
            </a:r>
            <a:endParaRPr lang="en-US" sz="6600" dirty="0"/>
          </a:p>
        </p:txBody>
      </p:sp>
      <p:sp>
        <p:nvSpPr>
          <p:cNvPr id="6" name="Text 4"/>
          <p:cNvSpPr/>
          <p:nvPr/>
        </p:nvSpPr>
        <p:spPr>
          <a:xfrm>
            <a:off x="868680" y="2926080"/>
            <a:ext cx="3657600" cy="14630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du revenu de la personne : la cotisation d’assurance maladie sociale, collectée par l’administration fiscale</a:t>
            </a:r>
            <a:endParaRPr lang="en-US" sz="1600" dirty="0"/>
          </a:p>
        </p:txBody>
      </p:sp>
      <p:sp>
        <p:nvSpPr>
          <p:cNvPr id="7" name="Shape 5"/>
          <p:cNvSpPr/>
          <p:nvPr/>
        </p:nvSpPr>
        <p:spPr>
          <a:xfrm>
            <a:off x="5029200" y="1600200"/>
            <a:ext cx="6537960" cy="1371600"/>
          </a:xfrm>
          <a:prstGeom prst="roundRect">
            <a:avLst>
              <a:gd name="adj" fmla="val 6000"/>
            </a:avLst>
          </a:prstGeom>
          <a:solidFill>
            <a:srgbClr val="1D1F2B"/>
          </a:solidFill>
          <a:ln w="12700">
            <a:solidFill>
              <a:srgbClr val="1D1F2B"/>
            </a:solidFill>
            <a:prstDash val="solid"/>
          </a:ln>
        </p:spPr>
      </p:sp>
      <p:sp>
        <p:nvSpPr>
          <p:cNvPr id="8" name="Text 6"/>
          <p:cNvSpPr/>
          <p:nvPr/>
        </p:nvSpPr>
        <p:spPr>
          <a:xfrm>
            <a:off x="5230368" y="1728216"/>
            <a:ext cx="613562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LES SALARIÉS</a:t>
            </a:r>
            <a:endParaRPr lang="en-US" sz="1300" dirty="0"/>
          </a:p>
        </p:txBody>
      </p:sp>
      <p:sp>
        <p:nvSpPr>
          <p:cNvPr id="9" name="Text 7"/>
          <p:cNvSpPr/>
          <p:nvPr/>
        </p:nvSpPr>
        <p:spPr>
          <a:xfrm>
            <a:off x="5230368" y="2112264"/>
            <a:ext cx="6135624"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depuis 2018, la cotisation est entièrement à la charge du salarié ; l’employeur la retient et la verse</a:t>
            </a:r>
            <a:endParaRPr lang="en-US" sz="1700" dirty="0"/>
          </a:p>
        </p:txBody>
      </p:sp>
      <p:sp>
        <p:nvSpPr>
          <p:cNvPr id="10" name="Shape 8"/>
          <p:cNvSpPr/>
          <p:nvPr/>
        </p:nvSpPr>
        <p:spPr>
          <a:xfrm>
            <a:off x="5029200" y="3154680"/>
            <a:ext cx="6537960" cy="1371600"/>
          </a:xfrm>
          <a:prstGeom prst="roundRect">
            <a:avLst>
              <a:gd name="adj" fmla="val 6000"/>
            </a:avLst>
          </a:prstGeom>
          <a:solidFill>
            <a:srgbClr val="1D1F2B"/>
          </a:solidFill>
          <a:ln w="12700">
            <a:solidFill>
              <a:srgbClr val="1D1F2B"/>
            </a:solidFill>
            <a:prstDash val="solid"/>
          </a:ln>
        </p:spPr>
      </p:sp>
      <p:sp>
        <p:nvSpPr>
          <p:cNvPr id="11" name="Text 9"/>
          <p:cNvSpPr/>
          <p:nvPr/>
        </p:nvSpPr>
        <p:spPr>
          <a:xfrm>
            <a:off x="5230368" y="3282696"/>
            <a:ext cx="613562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LES AUTRES REVENUS</a:t>
            </a:r>
            <a:endParaRPr lang="en-US" sz="1300" dirty="0"/>
          </a:p>
        </p:txBody>
      </p:sp>
      <p:sp>
        <p:nvSpPr>
          <p:cNvPr id="12" name="Text 10"/>
          <p:cNvSpPr/>
          <p:nvPr/>
        </p:nvSpPr>
        <p:spPr>
          <a:xfrm>
            <a:off x="5230368" y="3666744"/>
            <a:ext cx="6135624"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10 % du revenu net, sur une base entre 6 et 60 salaires minimums bruts par an</a:t>
            </a:r>
            <a:endParaRPr lang="en-US" sz="1700" dirty="0"/>
          </a:p>
        </p:txBody>
      </p:sp>
      <p:sp>
        <p:nvSpPr>
          <p:cNvPr id="13" name="Shape 11"/>
          <p:cNvSpPr/>
          <p:nvPr/>
        </p:nvSpPr>
        <p:spPr>
          <a:xfrm>
            <a:off x="594360" y="4800600"/>
            <a:ext cx="10972800" cy="822960"/>
          </a:xfrm>
          <a:prstGeom prst="roundRect">
            <a:avLst>
              <a:gd name="adj" fmla="val 10000"/>
            </a:avLst>
          </a:prstGeom>
          <a:solidFill>
            <a:srgbClr val="07564B"/>
          </a:solidFill>
          <a:ln w="12700">
            <a:solidFill>
              <a:srgbClr val="07564B"/>
            </a:solidFill>
            <a:prstDash val="solid"/>
          </a:ln>
        </p:spPr>
      </p:sp>
      <p:sp>
        <p:nvSpPr>
          <p:cNvPr id="14" name="Text 12"/>
          <p:cNvSpPr/>
          <p:nvPr/>
        </p:nvSpPr>
        <p:spPr>
          <a:xfrm>
            <a:off x="868680" y="4800600"/>
            <a:ext cx="10424160" cy="82296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L’employeur paie à part 2,25 % : la contribution assurantielle pour le travail.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FONDS NATIONAL UNIQUE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Un seul fonds pour tout le pays</a:t>
            </a:r>
            <a:endParaRPr lang="en-US" sz="3100" dirty="0"/>
          </a:p>
        </p:txBody>
      </p:sp>
      <p:sp>
        <p:nvSpPr>
          <p:cNvPr id="4" name="Shape 2"/>
          <p:cNvSpPr/>
          <p:nvPr/>
        </p:nvSpPr>
        <p:spPr>
          <a:xfrm>
            <a:off x="594360" y="1600200"/>
            <a:ext cx="3246120" cy="777240"/>
          </a:xfrm>
          <a:prstGeom prst="roundRect">
            <a:avLst>
              <a:gd name="adj" fmla="val 10588"/>
            </a:avLst>
          </a:prstGeom>
          <a:solidFill>
            <a:srgbClr val="0E7C6B"/>
          </a:solidFill>
          <a:ln w="12700">
            <a:solidFill>
              <a:srgbClr val="0E7C6B"/>
            </a:solidFill>
            <a:prstDash val="solid"/>
          </a:ln>
        </p:spPr>
      </p:sp>
      <p:sp>
        <p:nvSpPr>
          <p:cNvPr id="5" name="Text 3"/>
          <p:cNvSpPr/>
          <p:nvPr/>
        </p:nvSpPr>
        <p:spPr>
          <a:xfrm>
            <a:off x="731520" y="1600200"/>
            <a:ext cx="29718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Les cotisations et les subventions</a:t>
            </a:r>
            <a:endParaRPr lang="en-US" sz="1600" dirty="0"/>
          </a:p>
        </p:txBody>
      </p:sp>
      <p:sp>
        <p:nvSpPr>
          <p:cNvPr id="6" name="Shape 4"/>
          <p:cNvSpPr/>
          <p:nvPr/>
        </p:nvSpPr>
        <p:spPr>
          <a:xfrm>
            <a:off x="3886200" y="1819656"/>
            <a:ext cx="384048" cy="329184"/>
          </a:xfrm>
          <a:prstGeom prst="rightArrow">
            <a:avLst/>
          </a:prstGeom>
          <a:solidFill>
            <a:srgbClr val="585A64"/>
          </a:solidFill>
          <a:ln w="12700">
            <a:solidFill>
              <a:srgbClr val="585A64"/>
            </a:solidFill>
            <a:prstDash val="solid"/>
          </a:ln>
        </p:spPr>
      </p:sp>
      <p:sp>
        <p:nvSpPr>
          <p:cNvPr id="7" name="Shape 5"/>
          <p:cNvSpPr/>
          <p:nvPr/>
        </p:nvSpPr>
        <p:spPr>
          <a:xfrm>
            <a:off x="4343400" y="1600200"/>
            <a:ext cx="3246120" cy="777240"/>
          </a:xfrm>
          <a:prstGeom prst="roundRect">
            <a:avLst>
              <a:gd name="adj" fmla="val 10588"/>
            </a:avLst>
          </a:prstGeom>
          <a:solidFill>
            <a:srgbClr val="B02532"/>
          </a:solidFill>
          <a:ln w="12700">
            <a:solidFill>
              <a:srgbClr val="B02532"/>
            </a:solidFill>
            <a:prstDash val="solid"/>
          </a:ln>
        </p:spPr>
      </p:sp>
      <p:sp>
        <p:nvSpPr>
          <p:cNvPr id="8" name="Text 6"/>
          <p:cNvSpPr/>
          <p:nvPr/>
        </p:nvSpPr>
        <p:spPr>
          <a:xfrm>
            <a:off x="4480560" y="1600200"/>
            <a:ext cx="29718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Le FNUASS, administré par la CNAS</a:t>
            </a:r>
            <a:endParaRPr lang="en-US" sz="1600" dirty="0"/>
          </a:p>
        </p:txBody>
      </p:sp>
      <p:sp>
        <p:nvSpPr>
          <p:cNvPr id="9" name="Shape 7"/>
          <p:cNvSpPr/>
          <p:nvPr/>
        </p:nvSpPr>
        <p:spPr>
          <a:xfrm>
            <a:off x="7635240" y="1819656"/>
            <a:ext cx="384048" cy="329184"/>
          </a:xfrm>
          <a:prstGeom prst="rightArrow">
            <a:avLst/>
          </a:prstGeom>
          <a:solidFill>
            <a:srgbClr val="585A64"/>
          </a:solidFill>
          <a:ln w="12700">
            <a:solidFill>
              <a:srgbClr val="585A64"/>
            </a:solidFill>
            <a:prstDash val="solid"/>
          </a:ln>
        </p:spPr>
      </p:sp>
      <p:sp>
        <p:nvSpPr>
          <p:cNvPr id="10" name="Shape 8"/>
          <p:cNvSpPr/>
          <p:nvPr/>
        </p:nvSpPr>
        <p:spPr>
          <a:xfrm>
            <a:off x="8092440" y="1600200"/>
            <a:ext cx="3246120" cy="777240"/>
          </a:xfrm>
          <a:prstGeom prst="roundRect">
            <a:avLst>
              <a:gd name="adj" fmla="val 10588"/>
            </a:avLst>
          </a:prstGeom>
          <a:solidFill>
            <a:srgbClr val="4A2D8C"/>
          </a:solidFill>
          <a:ln w="12700">
            <a:solidFill>
              <a:srgbClr val="4A2D8C"/>
            </a:solidFill>
            <a:prstDash val="solid"/>
          </a:ln>
        </p:spPr>
      </p:sp>
      <p:sp>
        <p:nvSpPr>
          <p:cNvPr id="11" name="Text 9"/>
          <p:cNvSpPr/>
          <p:nvPr/>
        </p:nvSpPr>
        <p:spPr>
          <a:xfrm>
            <a:off x="8229600" y="1600200"/>
            <a:ext cx="29718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43 caisses d’assurance maladie</a:t>
            </a:r>
            <a:endParaRPr lang="en-US" sz="1600" dirty="0"/>
          </a:p>
        </p:txBody>
      </p:sp>
      <p:sp>
        <p:nvSpPr>
          <p:cNvPr id="12" name="Shape 10"/>
          <p:cNvSpPr/>
          <p:nvPr/>
        </p:nvSpPr>
        <p:spPr>
          <a:xfrm>
            <a:off x="594360" y="2651760"/>
            <a:ext cx="5372100" cy="1600200"/>
          </a:xfrm>
          <a:prstGeom prst="roundRect">
            <a:avLst>
              <a:gd name="adj" fmla="val 5143"/>
            </a:avLst>
          </a:prstGeom>
          <a:solidFill>
            <a:srgbClr val="ECEAE4"/>
          </a:solidFill>
          <a:ln w="12700">
            <a:solidFill>
              <a:srgbClr val="ECEAE4"/>
            </a:solidFill>
            <a:prstDash val="solid"/>
          </a:ln>
        </p:spPr>
      </p:sp>
      <p:sp>
        <p:nvSpPr>
          <p:cNvPr id="13" name="Text 11"/>
          <p:cNvSpPr/>
          <p:nvPr/>
        </p:nvSpPr>
        <p:spPr>
          <a:xfrm>
            <a:off x="795528" y="2779776"/>
            <a:ext cx="49697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LES 43 CAISSES</a:t>
            </a:r>
            <a:endParaRPr lang="en-US" sz="1300" dirty="0"/>
          </a:p>
        </p:txBody>
      </p:sp>
      <p:sp>
        <p:nvSpPr>
          <p:cNvPr id="14" name="Text 12"/>
          <p:cNvSpPr/>
          <p:nvPr/>
        </p:nvSpPr>
        <p:spPr>
          <a:xfrm>
            <a:off x="795528" y="3163824"/>
            <a:ext cx="4969764" cy="960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41 départementales, celle de la municipalité de Bucarest et celle des ministères de la Défense, de l’Intérieur et de la Justice</a:t>
            </a:r>
            <a:endParaRPr lang="en-US" sz="1800" dirty="0"/>
          </a:p>
        </p:txBody>
      </p:sp>
      <p:sp>
        <p:nvSpPr>
          <p:cNvPr id="15" name="Shape 13"/>
          <p:cNvSpPr/>
          <p:nvPr/>
        </p:nvSpPr>
        <p:spPr>
          <a:xfrm>
            <a:off x="6195060" y="2651760"/>
            <a:ext cx="5372100" cy="1600200"/>
          </a:xfrm>
          <a:prstGeom prst="roundRect">
            <a:avLst>
              <a:gd name="adj" fmla="val 5143"/>
            </a:avLst>
          </a:prstGeom>
          <a:solidFill>
            <a:srgbClr val="ECEAE4"/>
          </a:solidFill>
          <a:ln w="12700">
            <a:solidFill>
              <a:srgbClr val="ECEAE4"/>
            </a:solidFill>
            <a:prstDash val="solid"/>
          </a:ln>
        </p:spPr>
      </p:sp>
      <p:sp>
        <p:nvSpPr>
          <p:cNvPr id="16" name="Text 14"/>
          <p:cNvSpPr/>
          <p:nvPr/>
        </p:nvSpPr>
        <p:spPr>
          <a:xfrm>
            <a:off x="6396228" y="277977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LES RECETTES DU FONDS, 2023</a:t>
            </a:r>
            <a:endParaRPr lang="en-US" sz="1300" dirty="0"/>
          </a:p>
        </p:txBody>
      </p:sp>
      <p:sp>
        <p:nvSpPr>
          <p:cNvPr id="17" name="Text 15"/>
          <p:cNvSpPr/>
          <p:nvPr/>
        </p:nvSpPr>
        <p:spPr>
          <a:xfrm>
            <a:off x="6396228" y="3163824"/>
            <a:ext cx="4969764" cy="960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cotisations des assurés : 71,8 % ; subventions du budget de l’État : 18,3 %</a:t>
            </a:r>
            <a:endParaRPr lang="en-US" sz="1800" dirty="0"/>
          </a:p>
        </p:txBody>
      </p:sp>
      <p:sp>
        <p:nvSpPr>
          <p:cNvPr id="18" name="Shape 16"/>
          <p:cNvSpPr/>
          <p:nvPr/>
        </p:nvSpPr>
        <p:spPr>
          <a:xfrm>
            <a:off x="594360" y="4526280"/>
            <a:ext cx="10972800" cy="868680"/>
          </a:xfrm>
          <a:prstGeom prst="roundRect">
            <a:avLst>
              <a:gd name="adj" fmla="val 9474"/>
            </a:avLst>
          </a:prstGeom>
          <a:solidFill>
            <a:srgbClr val="11121A"/>
          </a:solidFill>
          <a:ln w="12700">
            <a:solidFill>
              <a:srgbClr val="11121A"/>
            </a:solidFill>
            <a:prstDash val="solid"/>
          </a:ln>
        </p:spPr>
      </p:sp>
      <p:sp>
        <p:nvSpPr>
          <p:cNvPr id="19" name="Text 17"/>
          <p:cNvSpPr/>
          <p:nvPr/>
        </p:nvSpPr>
        <p:spPr>
          <a:xfrm>
            <a:off x="868680" y="452628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La caisse départementale n’« a » pas l’argent du département : elle reçoit une part du fonds national.</a:t>
            </a:r>
            <a:endParaRPr lang="en-US" sz="18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AUTRES SOURCES PUBLIQUES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D’autres fonds publics paient autre chose</a:t>
            </a:r>
            <a:endParaRPr lang="en-US" sz="3100" dirty="0"/>
          </a:p>
        </p:txBody>
      </p:sp>
      <p:sp>
        <p:nvSpPr>
          <p:cNvPr id="4" name="Shape 2"/>
          <p:cNvSpPr/>
          <p:nvPr/>
        </p:nvSpPr>
        <p:spPr>
          <a:xfrm>
            <a:off x="594360" y="1645920"/>
            <a:ext cx="5372100" cy="2103120"/>
          </a:xfrm>
          <a:prstGeom prst="roundRect">
            <a:avLst>
              <a:gd name="adj" fmla="val 3913"/>
            </a:avLst>
          </a:prstGeom>
          <a:solidFill>
            <a:srgbClr val="ECEAE4"/>
          </a:solidFill>
          <a:ln w="12700">
            <a:solidFill>
              <a:srgbClr val="ECEAE4"/>
            </a:solidFill>
            <a:prstDash val="solid"/>
          </a:ln>
        </p:spPr>
      </p:sp>
      <p:sp>
        <p:nvSpPr>
          <p:cNvPr id="5" name="Text 3"/>
          <p:cNvSpPr/>
          <p:nvPr/>
        </p:nvSpPr>
        <p:spPr>
          <a:xfrm>
            <a:off x="795528" y="1773936"/>
            <a:ext cx="49697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LE MINISTÈRE DE LA SANTÉ</a:t>
            </a:r>
            <a:endParaRPr lang="en-US" sz="1300" dirty="0"/>
          </a:p>
        </p:txBody>
      </p:sp>
      <p:sp>
        <p:nvSpPr>
          <p:cNvPr id="6" name="Text 4"/>
          <p:cNvSpPr/>
          <p:nvPr/>
        </p:nvSpPr>
        <p:spPr>
          <a:xfrm>
            <a:off x="795528" y="2157984"/>
            <a:ext cx="4969764" cy="14630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programmes nationaux de prévention, équipements, investissements, recherche, enseignement médical</a:t>
            </a:r>
            <a:endParaRPr lang="en-US" sz="1900" dirty="0"/>
          </a:p>
        </p:txBody>
      </p:sp>
      <p:sp>
        <p:nvSpPr>
          <p:cNvPr id="7" name="Shape 5"/>
          <p:cNvSpPr/>
          <p:nvPr/>
        </p:nvSpPr>
        <p:spPr>
          <a:xfrm>
            <a:off x="6195060" y="1645920"/>
            <a:ext cx="5372100" cy="2103120"/>
          </a:xfrm>
          <a:prstGeom prst="roundRect">
            <a:avLst>
              <a:gd name="adj" fmla="val 3913"/>
            </a:avLst>
          </a:prstGeom>
          <a:solidFill>
            <a:srgbClr val="ECEAE4"/>
          </a:solidFill>
          <a:ln w="12700">
            <a:solidFill>
              <a:srgbClr val="ECEAE4"/>
            </a:solidFill>
            <a:prstDash val="solid"/>
          </a:ln>
        </p:spPr>
      </p:sp>
      <p:sp>
        <p:nvSpPr>
          <p:cNvPr id="8" name="Text 6"/>
          <p:cNvSpPr/>
          <p:nvPr/>
        </p:nvSpPr>
        <p:spPr>
          <a:xfrm>
            <a:off x="6396228" y="1773936"/>
            <a:ext cx="4969764" cy="384048"/>
          </a:xfrm>
          <a:prstGeom prst="rect">
            <a:avLst/>
          </a:prstGeom>
          <a:noFill/>
          <a:ln/>
        </p:spPr>
        <p:txBody>
          <a:bodyPr wrap="square" lIns="0" tIns="0" rIns="0" bIns="0" rtlCol="0" anchor="t"/>
          <a:lstStyle/>
          <a:p>
            <a:pPr indent="0" marL="0">
              <a:buNone/>
            </a:pPr>
            <a:r>
              <a:rPr lang="en-US" sz="1300" b="1" spc="100" kern="0" dirty="0">
                <a:solidFill>
                  <a:srgbClr val="9C4A0A"/>
                </a:solidFill>
                <a:latin typeface="Palatino Linotype" pitchFamily="34" charset="0"/>
                <a:ea typeface="Palatino Linotype" pitchFamily="34" charset="-122"/>
                <a:cs typeface="Palatino Linotype" pitchFamily="34" charset="-120"/>
              </a:rPr>
              <a:t>LES BUDGETS LOCAUX</a:t>
            </a:r>
            <a:endParaRPr lang="en-US" sz="1300" dirty="0"/>
          </a:p>
        </p:txBody>
      </p:sp>
      <p:sp>
        <p:nvSpPr>
          <p:cNvPr id="9" name="Text 7"/>
          <p:cNvSpPr/>
          <p:nvPr/>
        </p:nvSpPr>
        <p:spPr>
          <a:xfrm>
            <a:off x="6396228" y="2157984"/>
            <a:ext cx="4969764" cy="14630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entretien et réparation des bâtiments, repas des patients ; moins de 1 % des dépenses courantes</a:t>
            </a:r>
            <a:endParaRPr lang="en-US" sz="1900" dirty="0"/>
          </a:p>
        </p:txBody>
      </p:sp>
      <p:sp>
        <p:nvSpPr>
          <p:cNvPr id="10" name="Shape 8"/>
          <p:cNvSpPr/>
          <p:nvPr/>
        </p:nvSpPr>
        <p:spPr>
          <a:xfrm>
            <a:off x="594360" y="4069080"/>
            <a:ext cx="10972800" cy="1097280"/>
          </a:xfrm>
          <a:prstGeom prst="roundRect">
            <a:avLst>
              <a:gd name="adj" fmla="val 7500"/>
            </a:avLst>
          </a:prstGeom>
          <a:solidFill>
            <a:srgbClr val="11121A"/>
          </a:solidFill>
          <a:ln w="12700">
            <a:solidFill>
              <a:srgbClr val="11121A"/>
            </a:solidFill>
            <a:prstDash val="solid"/>
          </a:ln>
        </p:spPr>
      </p:sp>
      <p:sp>
        <p:nvSpPr>
          <p:cNvPr id="11" name="Text 9"/>
          <p:cNvSpPr/>
          <p:nvPr/>
        </p:nvSpPr>
        <p:spPr>
          <a:xfrm>
            <a:off x="868680" y="4069080"/>
            <a:ext cx="10424160" cy="10972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Mme M. : les dépenses courantes du séjour viennent du FNUASS ; le bâtiment et une partie des appareils, d’autres fonds publics.</a:t>
            </a:r>
            <a:endParaRPr lang="en-US" sz="18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COUVERTURE ET LES PAIEMENTS DIRECTS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Qui n’est pas couvert et ce que paie le patient</a:t>
            </a:r>
            <a:endParaRPr lang="en-US" sz="3000" dirty="0"/>
          </a:p>
        </p:txBody>
      </p:sp>
      <p:sp>
        <p:nvSpPr>
          <p:cNvPr id="4" name="Shape 2"/>
          <p:cNvSpPr/>
          <p:nvPr/>
        </p:nvSpPr>
        <p:spPr>
          <a:xfrm>
            <a:off x="594360" y="1645920"/>
            <a:ext cx="4206240" cy="3291840"/>
          </a:xfrm>
          <a:prstGeom prst="roundRect">
            <a:avLst>
              <a:gd name="adj" fmla="val 2500"/>
            </a:avLst>
          </a:prstGeom>
          <a:solidFill>
            <a:srgbClr val="1D1F2B"/>
          </a:solidFill>
          <a:ln w="12700">
            <a:solidFill>
              <a:srgbClr val="1D1F2B"/>
            </a:solidFill>
            <a:prstDash val="solid"/>
          </a:ln>
        </p:spPr>
      </p:sp>
      <p:sp>
        <p:nvSpPr>
          <p:cNvPr id="5" name="Text 3"/>
          <p:cNvSpPr/>
          <p:nvPr/>
        </p:nvSpPr>
        <p:spPr>
          <a:xfrm>
            <a:off x="868680" y="1737360"/>
            <a:ext cx="3657600" cy="1280160"/>
          </a:xfrm>
          <a:prstGeom prst="rect">
            <a:avLst/>
          </a:prstGeom>
          <a:noFill/>
          <a:ln/>
        </p:spPr>
        <p:txBody>
          <a:bodyPr wrap="square" lIns="0" tIns="0" rIns="0" bIns="0" rtlCol="0" anchor="ctr"/>
          <a:lstStyle/>
          <a:p>
            <a:pPr indent="0" marL="0">
              <a:buNone/>
            </a:pPr>
            <a:r>
              <a:rPr lang="en-US" sz="7000" b="1" dirty="0">
                <a:solidFill>
                  <a:srgbClr val="27D3BE"/>
                </a:solidFill>
                <a:latin typeface="Palatino Linotype" pitchFamily="34" charset="0"/>
                <a:ea typeface="Palatino Linotype" pitchFamily="34" charset="-122"/>
                <a:cs typeface="Palatino Linotype" pitchFamily="34" charset="-120"/>
              </a:rPr>
              <a:t>89 %</a:t>
            </a:r>
            <a:endParaRPr lang="en-US" sz="7000" dirty="0"/>
          </a:p>
        </p:txBody>
      </p:sp>
      <p:sp>
        <p:nvSpPr>
          <p:cNvPr id="6" name="Text 4"/>
          <p:cNvSpPr/>
          <p:nvPr/>
        </p:nvSpPr>
        <p:spPr>
          <a:xfrm>
            <a:off x="868680" y="3108960"/>
            <a:ext cx="3657600" cy="16459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 la population couverte par l’assurance maladie sociale, en 2023</a:t>
            </a:r>
            <a:endParaRPr lang="en-US" sz="1700" dirty="0"/>
          </a:p>
        </p:txBody>
      </p:sp>
      <p:sp>
        <p:nvSpPr>
          <p:cNvPr id="7" name="Shape 5"/>
          <p:cNvSpPr/>
          <p:nvPr/>
        </p:nvSpPr>
        <p:spPr>
          <a:xfrm>
            <a:off x="5029200" y="1645920"/>
            <a:ext cx="6537960" cy="1554480"/>
          </a:xfrm>
          <a:prstGeom prst="roundRect">
            <a:avLst>
              <a:gd name="adj" fmla="val 5294"/>
            </a:avLst>
          </a:prstGeom>
          <a:solidFill>
            <a:srgbClr val="1D1F2B"/>
          </a:solidFill>
          <a:ln w="12700">
            <a:solidFill>
              <a:srgbClr val="1D1F2B"/>
            </a:solidFill>
            <a:prstDash val="solid"/>
          </a:ln>
        </p:spPr>
      </p:sp>
      <p:sp>
        <p:nvSpPr>
          <p:cNvPr id="8" name="Text 6"/>
          <p:cNvSpPr/>
          <p:nvPr/>
        </p:nvSpPr>
        <p:spPr>
          <a:xfrm>
            <a:off x="5230368" y="1773936"/>
            <a:ext cx="613562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LES 11 % RESTANTS</a:t>
            </a:r>
            <a:endParaRPr lang="en-US" sz="1300" dirty="0"/>
          </a:p>
        </p:txBody>
      </p:sp>
      <p:sp>
        <p:nvSpPr>
          <p:cNvPr id="9" name="Text 7"/>
          <p:cNvSpPr/>
          <p:nvPr/>
        </p:nvSpPr>
        <p:spPr>
          <a:xfrm>
            <a:off x="5230368" y="2157984"/>
            <a:ext cx="6135624"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sans assurance ; en partie, des Roumains vivant à l’étranger, encore enregistrés comme résidents</a:t>
            </a:r>
            <a:endParaRPr lang="en-US" sz="1700" dirty="0"/>
          </a:p>
        </p:txBody>
      </p:sp>
      <p:sp>
        <p:nvSpPr>
          <p:cNvPr id="10" name="Shape 8"/>
          <p:cNvSpPr/>
          <p:nvPr/>
        </p:nvSpPr>
        <p:spPr>
          <a:xfrm>
            <a:off x="5029200" y="3383280"/>
            <a:ext cx="6537960" cy="1554480"/>
          </a:xfrm>
          <a:prstGeom prst="roundRect">
            <a:avLst>
              <a:gd name="adj" fmla="val 5294"/>
            </a:avLst>
          </a:prstGeom>
          <a:solidFill>
            <a:srgbClr val="1D1F2B"/>
          </a:solidFill>
          <a:ln w="12700">
            <a:solidFill>
              <a:srgbClr val="1D1F2B"/>
            </a:solidFill>
            <a:prstDash val="solid"/>
          </a:ln>
        </p:spPr>
      </p:sp>
      <p:sp>
        <p:nvSpPr>
          <p:cNvPr id="11" name="Text 9"/>
          <p:cNvSpPr/>
          <p:nvPr/>
        </p:nvSpPr>
        <p:spPr>
          <a:xfrm>
            <a:off x="5230368" y="3511296"/>
            <a:ext cx="613562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LES PAIEMENTS DIRECTS</a:t>
            </a:r>
            <a:endParaRPr lang="en-US" sz="1300" dirty="0"/>
          </a:p>
        </p:txBody>
      </p:sp>
      <p:sp>
        <p:nvSpPr>
          <p:cNvPr id="12" name="Text 10"/>
          <p:cNvSpPr/>
          <p:nvPr/>
        </p:nvSpPr>
        <p:spPr>
          <a:xfrm>
            <a:off x="5230368" y="3895344"/>
            <a:ext cx="6135624"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dentaire, médicaments sans ordonnance, copaiements ; le même copaiement pour le retraité pauvre et le salarié aisé</a:t>
            </a:r>
            <a:endParaRPr lang="en-US" sz="17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PAIEMENTS INFORMELS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De l’argent qui n’apparaît dans aucune statistique</a:t>
            </a:r>
            <a:endParaRPr lang="en-US" sz="3100" dirty="0"/>
          </a:p>
        </p:txBody>
      </p:sp>
      <p:sp>
        <p:nvSpPr>
          <p:cNvPr id="4" name="Text 2"/>
          <p:cNvSpPr/>
          <p:nvPr/>
        </p:nvSpPr>
        <p:spPr>
          <a:xfrm>
            <a:off x="594360" y="1508760"/>
            <a:ext cx="10972800" cy="4572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Ont fait un paiement supplémentaire, un cadeau ou un don, au cours des 12 derniers mois (Eurobaromètre) :</a:t>
            </a:r>
            <a:endParaRPr lang="en-US" sz="1700" dirty="0"/>
          </a:p>
        </p:txBody>
      </p:sp>
      <p:sp>
        <p:nvSpPr>
          <p:cNvPr id="5" name="Text 3"/>
          <p:cNvSpPr/>
          <p:nvPr/>
        </p:nvSpPr>
        <p:spPr>
          <a:xfrm>
            <a:off x="594360" y="2103120"/>
            <a:ext cx="3291840" cy="56692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2019 · ROUMANIE</a:t>
            </a:r>
            <a:endParaRPr lang="en-US" sz="1500" dirty="0"/>
          </a:p>
        </p:txBody>
      </p:sp>
      <p:sp>
        <p:nvSpPr>
          <p:cNvPr id="6" name="Shape 4"/>
          <p:cNvSpPr/>
          <p:nvPr/>
        </p:nvSpPr>
        <p:spPr>
          <a:xfrm>
            <a:off x="3977640" y="2157984"/>
            <a:ext cx="5646420" cy="420624"/>
          </a:xfrm>
          <a:prstGeom prst="roundRect">
            <a:avLst>
              <a:gd name="adj" fmla="val 10870"/>
            </a:avLst>
          </a:prstGeom>
          <a:solidFill>
            <a:srgbClr val="B02532"/>
          </a:solidFill>
          <a:ln w="12700">
            <a:solidFill>
              <a:srgbClr val="B02532"/>
            </a:solidFill>
            <a:prstDash val="solid"/>
          </a:ln>
        </p:spPr>
      </p:sp>
      <p:sp>
        <p:nvSpPr>
          <p:cNvPr id="7" name="Text 5"/>
          <p:cNvSpPr/>
          <p:nvPr/>
        </p:nvSpPr>
        <p:spPr>
          <a:xfrm>
            <a:off x="9715500" y="2157984"/>
            <a:ext cx="2194560" cy="42062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19 %</a:t>
            </a:r>
            <a:endParaRPr lang="en-US" sz="1500" dirty="0"/>
          </a:p>
        </p:txBody>
      </p:sp>
      <p:sp>
        <p:nvSpPr>
          <p:cNvPr id="8" name="Text 6"/>
          <p:cNvSpPr/>
          <p:nvPr/>
        </p:nvSpPr>
        <p:spPr>
          <a:xfrm>
            <a:off x="594360" y="2761488"/>
            <a:ext cx="3291840" cy="56692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2019 · MOYENNE UE</a:t>
            </a:r>
            <a:endParaRPr lang="en-US" sz="1500" dirty="0"/>
          </a:p>
        </p:txBody>
      </p:sp>
      <p:sp>
        <p:nvSpPr>
          <p:cNvPr id="9" name="Shape 7"/>
          <p:cNvSpPr/>
          <p:nvPr/>
        </p:nvSpPr>
        <p:spPr>
          <a:xfrm>
            <a:off x="3977640" y="2816352"/>
            <a:ext cx="1485900" cy="420624"/>
          </a:xfrm>
          <a:prstGeom prst="roundRect">
            <a:avLst>
              <a:gd name="adj" fmla="val 10870"/>
            </a:avLst>
          </a:prstGeom>
          <a:solidFill>
            <a:srgbClr val="0E7C6B"/>
          </a:solidFill>
          <a:ln w="12700">
            <a:solidFill>
              <a:srgbClr val="0E7C6B"/>
            </a:solidFill>
            <a:prstDash val="solid"/>
          </a:ln>
        </p:spPr>
      </p:sp>
      <p:sp>
        <p:nvSpPr>
          <p:cNvPr id="10" name="Text 8"/>
          <p:cNvSpPr/>
          <p:nvPr/>
        </p:nvSpPr>
        <p:spPr>
          <a:xfrm>
            <a:off x="5554980" y="2816352"/>
            <a:ext cx="2194560" cy="42062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5 %</a:t>
            </a:r>
            <a:endParaRPr lang="en-US" sz="1500" dirty="0"/>
          </a:p>
        </p:txBody>
      </p:sp>
      <p:sp>
        <p:nvSpPr>
          <p:cNvPr id="11" name="Text 9"/>
          <p:cNvSpPr/>
          <p:nvPr/>
        </p:nvSpPr>
        <p:spPr>
          <a:xfrm>
            <a:off x="594360" y="3419856"/>
            <a:ext cx="3291840" cy="56692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2023 · ROUMANIE</a:t>
            </a:r>
            <a:endParaRPr lang="en-US" sz="1500" dirty="0"/>
          </a:p>
        </p:txBody>
      </p:sp>
      <p:sp>
        <p:nvSpPr>
          <p:cNvPr id="12" name="Shape 10"/>
          <p:cNvSpPr/>
          <p:nvPr/>
        </p:nvSpPr>
        <p:spPr>
          <a:xfrm>
            <a:off x="3977640" y="3474720"/>
            <a:ext cx="2674620" cy="420624"/>
          </a:xfrm>
          <a:prstGeom prst="roundRect">
            <a:avLst>
              <a:gd name="adj" fmla="val 10870"/>
            </a:avLst>
          </a:prstGeom>
          <a:solidFill>
            <a:srgbClr val="B02532"/>
          </a:solidFill>
          <a:ln w="12700">
            <a:solidFill>
              <a:srgbClr val="B02532"/>
            </a:solidFill>
            <a:prstDash val="solid"/>
          </a:ln>
        </p:spPr>
      </p:sp>
      <p:sp>
        <p:nvSpPr>
          <p:cNvPr id="13" name="Text 11"/>
          <p:cNvSpPr/>
          <p:nvPr/>
        </p:nvSpPr>
        <p:spPr>
          <a:xfrm>
            <a:off x="6743700" y="3474720"/>
            <a:ext cx="2194560" cy="42062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9 %</a:t>
            </a:r>
            <a:endParaRPr lang="en-US" sz="1500" dirty="0"/>
          </a:p>
        </p:txBody>
      </p:sp>
      <p:sp>
        <p:nvSpPr>
          <p:cNvPr id="14" name="Text 12"/>
          <p:cNvSpPr/>
          <p:nvPr/>
        </p:nvSpPr>
        <p:spPr>
          <a:xfrm>
            <a:off x="594360" y="4078224"/>
            <a:ext cx="3291840" cy="56692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2023 · MOYENNE UE</a:t>
            </a:r>
            <a:endParaRPr lang="en-US" sz="1500" dirty="0"/>
          </a:p>
        </p:txBody>
      </p:sp>
      <p:sp>
        <p:nvSpPr>
          <p:cNvPr id="15" name="Shape 13"/>
          <p:cNvSpPr/>
          <p:nvPr/>
        </p:nvSpPr>
        <p:spPr>
          <a:xfrm>
            <a:off x="3977640" y="4133088"/>
            <a:ext cx="891540" cy="420624"/>
          </a:xfrm>
          <a:prstGeom prst="roundRect">
            <a:avLst>
              <a:gd name="adj" fmla="val 10870"/>
            </a:avLst>
          </a:prstGeom>
          <a:solidFill>
            <a:srgbClr val="0E7C6B"/>
          </a:solidFill>
          <a:ln w="12700">
            <a:solidFill>
              <a:srgbClr val="0E7C6B"/>
            </a:solidFill>
            <a:prstDash val="solid"/>
          </a:ln>
        </p:spPr>
      </p:sp>
      <p:sp>
        <p:nvSpPr>
          <p:cNvPr id="16" name="Text 14"/>
          <p:cNvSpPr/>
          <p:nvPr/>
        </p:nvSpPr>
        <p:spPr>
          <a:xfrm>
            <a:off x="4960620" y="4133088"/>
            <a:ext cx="2194560" cy="42062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3 %</a:t>
            </a:r>
            <a:endParaRPr lang="en-US" sz="1500" dirty="0"/>
          </a:p>
        </p:txBody>
      </p:sp>
      <p:sp>
        <p:nvSpPr>
          <p:cNvPr id="17" name="Shape 15"/>
          <p:cNvSpPr/>
          <p:nvPr/>
        </p:nvSpPr>
        <p:spPr>
          <a:xfrm>
            <a:off x="594360" y="4846320"/>
            <a:ext cx="10972800" cy="868680"/>
          </a:xfrm>
          <a:prstGeom prst="roundRect">
            <a:avLst>
              <a:gd name="adj" fmla="val 9474"/>
            </a:avLst>
          </a:prstGeom>
          <a:solidFill>
            <a:srgbClr val="ECEAE4"/>
          </a:solidFill>
          <a:ln w="12700">
            <a:solidFill>
              <a:srgbClr val="ECEAE4"/>
            </a:solidFill>
            <a:prstDash val="solid"/>
          </a:ln>
        </p:spPr>
      </p:sp>
      <p:sp>
        <p:nvSpPr>
          <p:cNvPr id="18" name="Text 16"/>
          <p:cNvSpPr/>
          <p:nvPr/>
        </p:nvSpPr>
        <p:spPr>
          <a:xfrm>
            <a:off x="868680" y="4846320"/>
            <a:ext cx="10424160" cy="86868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En 2024 : 7 % contre 3 % dans l’UE (en 2013 : 28 %). L’ampleur réelle n’est pas connue.</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Eurobaromètre sur la corruption ; analyse du système de santé de la Roumanie.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PREMIÈRE DÉCISION · CE QUE DISENT LES DONNÉES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B : le fonds national unique, par la caisse départementale</a:t>
            </a:r>
            <a:endParaRPr lang="en-US" sz="2800" dirty="0"/>
          </a:p>
        </p:txBody>
      </p:sp>
      <p:sp>
        <p:nvSpPr>
          <p:cNvPr id="4" name="Shape 2"/>
          <p:cNvSpPr/>
          <p:nvPr/>
        </p:nvSpPr>
        <p:spPr>
          <a:xfrm>
            <a:off x="594360" y="1600200"/>
            <a:ext cx="10972800" cy="749808"/>
          </a:xfrm>
          <a:prstGeom prst="roundRect">
            <a:avLst>
              <a:gd name="adj" fmla="val 10976"/>
            </a:avLst>
          </a:prstGeom>
          <a:solidFill>
            <a:srgbClr val="ECEAE4"/>
          </a:solidFill>
          <a:ln w="12700">
            <a:solidFill>
              <a:srgbClr val="ECEAE4"/>
            </a:solidFill>
            <a:prstDash val="solid"/>
          </a:ln>
        </p:spPr>
      </p:sp>
      <p:sp>
        <p:nvSpPr>
          <p:cNvPr id="5" name="Shape 3"/>
          <p:cNvSpPr/>
          <p:nvPr/>
        </p:nvSpPr>
        <p:spPr>
          <a:xfrm>
            <a:off x="868680" y="1764792"/>
            <a:ext cx="420624" cy="420624"/>
          </a:xfrm>
          <a:prstGeom prst="ellipse">
            <a:avLst/>
          </a:prstGeom>
          <a:solidFill>
            <a:srgbClr val="FFC24B"/>
          </a:solidFill>
          <a:ln/>
        </p:spPr>
      </p:sp>
      <p:sp>
        <p:nvSpPr>
          <p:cNvPr id="6" name="Text 4"/>
          <p:cNvSpPr/>
          <p:nvPr/>
        </p:nvSpPr>
        <p:spPr>
          <a:xfrm>
            <a:off x="868680" y="1764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508760" y="1600200"/>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Confond les canaux : le ministère paie la prévention, les investissements et une partie des urgences.</a:t>
            </a:r>
            <a:endParaRPr lang="en-US" sz="1600" dirty="0"/>
          </a:p>
        </p:txBody>
      </p:sp>
      <p:sp>
        <p:nvSpPr>
          <p:cNvPr id="8" name="Shape 6"/>
          <p:cNvSpPr/>
          <p:nvPr/>
        </p:nvSpPr>
        <p:spPr>
          <a:xfrm>
            <a:off x="594360" y="2441448"/>
            <a:ext cx="10972800" cy="749808"/>
          </a:xfrm>
          <a:prstGeom prst="roundRect">
            <a:avLst>
              <a:gd name="adj" fmla="val 10976"/>
            </a:avLst>
          </a:prstGeom>
          <a:solidFill>
            <a:srgbClr val="ECEAE4"/>
          </a:solidFill>
          <a:ln w="12700">
            <a:solidFill>
              <a:srgbClr val="ECEAE4"/>
            </a:solidFill>
            <a:prstDash val="solid"/>
          </a:ln>
        </p:spPr>
      </p:sp>
      <p:sp>
        <p:nvSpPr>
          <p:cNvPr id="9" name="Shape 7"/>
          <p:cNvSpPr/>
          <p:nvPr/>
        </p:nvSpPr>
        <p:spPr>
          <a:xfrm>
            <a:off x="868680" y="2606040"/>
            <a:ext cx="420624" cy="420624"/>
          </a:xfrm>
          <a:prstGeom prst="ellipse">
            <a:avLst/>
          </a:prstGeom>
          <a:solidFill>
            <a:srgbClr val="FFC24B"/>
          </a:solidFill>
          <a:ln/>
        </p:spPr>
      </p:sp>
      <p:sp>
        <p:nvSpPr>
          <p:cNvPr id="10" name="Text 8"/>
          <p:cNvSpPr/>
          <p:nvPr/>
        </p:nvSpPr>
        <p:spPr>
          <a:xfrm>
            <a:off x="86868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1" name="Text 9"/>
          <p:cNvSpPr/>
          <p:nvPr/>
        </p:nvSpPr>
        <p:spPr>
          <a:xfrm>
            <a:off x="1508760" y="2441448"/>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Correct : l’hôpital est payé pour les cas aigus par DRG, sur le fonds, selon le contrat avec la caisse.</a:t>
            </a:r>
            <a:endParaRPr lang="en-US" sz="1600" dirty="0"/>
          </a:p>
        </p:txBody>
      </p:sp>
      <p:sp>
        <p:nvSpPr>
          <p:cNvPr id="12" name="Shape 10"/>
          <p:cNvSpPr/>
          <p:nvPr/>
        </p:nvSpPr>
        <p:spPr>
          <a:xfrm>
            <a:off x="594360" y="3282696"/>
            <a:ext cx="10972800" cy="749808"/>
          </a:xfrm>
          <a:prstGeom prst="roundRect">
            <a:avLst>
              <a:gd name="adj" fmla="val 10976"/>
            </a:avLst>
          </a:prstGeom>
          <a:solidFill>
            <a:srgbClr val="ECEAE4"/>
          </a:solidFill>
          <a:ln w="12700">
            <a:solidFill>
              <a:srgbClr val="ECEAE4"/>
            </a:solidFill>
            <a:prstDash val="solid"/>
          </a:ln>
        </p:spPr>
      </p:sp>
      <p:sp>
        <p:nvSpPr>
          <p:cNvPr id="13" name="Shape 11"/>
          <p:cNvSpPr/>
          <p:nvPr/>
        </p:nvSpPr>
        <p:spPr>
          <a:xfrm>
            <a:off x="868680" y="3447288"/>
            <a:ext cx="420624" cy="420624"/>
          </a:xfrm>
          <a:prstGeom prst="ellipse">
            <a:avLst/>
          </a:prstGeom>
          <a:solidFill>
            <a:srgbClr val="FFC24B"/>
          </a:solidFill>
          <a:ln/>
        </p:spPr>
      </p:sp>
      <p:sp>
        <p:nvSpPr>
          <p:cNvPr id="14" name="Text 12"/>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5" name="Text 13"/>
          <p:cNvSpPr/>
          <p:nvPr/>
        </p:nvSpPr>
        <p:spPr>
          <a:xfrm>
            <a:off x="1508760" y="3282696"/>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Part réelle, mais petite : le copaiement, les médicaments, les paiements informels.</a:t>
            </a:r>
            <a:endParaRPr lang="en-US" sz="1600" dirty="0"/>
          </a:p>
        </p:txBody>
      </p:sp>
      <p:sp>
        <p:nvSpPr>
          <p:cNvPr id="16" name="Shape 14"/>
          <p:cNvSpPr/>
          <p:nvPr/>
        </p:nvSpPr>
        <p:spPr>
          <a:xfrm>
            <a:off x="594360" y="4123944"/>
            <a:ext cx="10972800" cy="749808"/>
          </a:xfrm>
          <a:prstGeom prst="roundRect">
            <a:avLst>
              <a:gd name="adj" fmla="val 10976"/>
            </a:avLst>
          </a:prstGeom>
          <a:solidFill>
            <a:srgbClr val="ECEAE4"/>
          </a:solidFill>
          <a:ln w="12700">
            <a:solidFill>
              <a:srgbClr val="ECEAE4"/>
            </a:solidFill>
            <a:prstDash val="solid"/>
          </a:ln>
        </p:spPr>
      </p:sp>
      <p:sp>
        <p:nvSpPr>
          <p:cNvPr id="17" name="Shape 15"/>
          <p:cNvSpPr/>
          <p:nvPr/>
        </p:nvSpPr>
        <p:spPr>
          <a:xfrm>
            <a:off x="868680" y="4288536"/>
            <a:ext cx="420624" cy="420624"/>
          </a:xfrm>
          <a:prstGeom prst="ellipse">
            <a:avLst/>
          </a:prstGeom>
          <a:solidFill>
            <a:srgbClr val="FFC24B"/>
          </a:solidFill>
          <a:ln/>
        </p:spPr>
      </p:sp>
      <p:sp>
        <p:nvSpPr>
          <p:cNvPr id="18" name="Text 16"/>
          <p:cNvSpPr/>
          <p:nvPr/>
        </p:nvSpPr>
        <p:spPr>
          <a:xfrm>
            <a:off x="86868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9" name="Text 17"/>
          <p:cNvSpPr/>
          <p:nvPr/>
        </p:nvSpPr>
        <p:spPr>
          <a:xfrm>
            <a:off x="1508760" y="4123944"/>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Confond le propriétaire et le payeur.</a:t>
            </a:r>
            <a:endParaRPr lang="en-US" sz="1600" dirty="0"/>
          </a:p>
        </p:txBody>
      </p:sp>
      <p:sp>
        <p:nvSpPr>
          <p:cNvPr id="20" name="Shape 18"/>
          <p:cNvSpPr/>
          <p:nvPr/>
        </p:nvSpPr>
        <p:spPr>
          <a:xfrm>
            <a:off x="594360" y="5120640"/>
            <a:ext cx="10972800" cy="822960"/>
          </a:xfrm>
          <a:prstGeom prst="roundRect">
            <a:avLst>
              <a:gd name="adj" fmla="val 10000"/>
            </a:avLst>
          </a:prstGeom>
          <a:solidFill>
            <a:srgbClr val="11121A"/>
          </a:solidFill>
          <a:ln w="12700">
            <a:solidFill>
              <a:srgbClr val="11121A"/>
            </a:solidFill>
            <a:prstDash val="solid"/>
          </a:ln>
        </p:spPr>
      </p:sp>
      <p:sp>
        <p:nvSpPr>
          <p:cNvPr id="21" name="Text 19"/>
          <p:cNvSpPr/>
          <p:nvPr/>
        </p:nvSpPr>
        <p:spPr>
          <a:xfrm>
            <a:off x="868680" y="5120640"/>
            <a:ext cx="10424160" cy="82296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 séparation entre payeur et prestataire : celui qui paie les services n’est pas celui qui les produit.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DEUXIÈME ACTE · LA COMPLICATION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dossier médical, à la sortie</a:t>
            </a:r>
            <a:endParaRPr lang="en-US" sz="3000" dirty="0"/>
          </a:p>
        </p:txBody>
      </p:sp>
      <p:sp>
        <p:nvSpPr>
          <p:cNvPr id="4" name="Shape 2"/>
          <p:cNvSpPr/>
          <p:nvPr/>
        </p:nvSpPr>
        <p:spPr>
          <a:xfrm>
            <a:off x="594360" y="1508760"/>
            <a:ext cx="3505200" cy="2103120"/>
          </a:xfrm>
          <a:prstGeom prst="roundRect">
            <a:avLst>
              <a:gd name="adj" fmla="val 3913"/>
            </a:avLst>
          </a:prstGeom>
          <a:solidFill>
            <a:srgbClr val="1D1F2B"/>
          </a:solidFill>
          <a:ln w="12700">
            <a:solidFill>
              <a:srgbClr val="1D1F2B"/>
            </a:solidFill>
            <a:prstDash val="solid"/>
          </a:ln>
        </p:spPr>
      </p:sp>
      <p:sp>
        <p:nvSpPr>
          <p:cNvPr id="5" name="Text 3"/>
          <p:cNvSpPr/>
          <p:nvPr/>
        </p:nvSpPr>
        <p:spPr>
          <a:xfrm>
            <a:off x="795528" y="1636776"/>
            <a:ext cx="3102864" cy="384048"/>
          </a:xfrm>
          <a:prstGeom prst="rect">
            <a:avLst/>
          </a:prstGeom>
          <a:noFill/>
          <a:ln/>
        </p:spPr>
        <p:txBody>
          <a:bodyPr wrap="square" lIns="0" tIns="0" rIns="0" bIns="0" rtlCol="0" anchor="t"/>
          <a:lstStyle/>
          <a:p>
            <a:pPr indent="0" marL="0">
              <a:buNone/>
            </a:pPr>
            <a:r>
              <a:rPr lang="en-US" sz="1250" b="1" spc="100" kern="0" dirty="0">
                <a:solidFill>
                  <a:srgbClr val="27D3BE"/>
                </a:solidFill>
                <a:latin typeface="Palatino Linotype" pitchFamily="34" charset="0"/>
                <a:ea typeface="Palatino Linotype" pitchFamily="34" charset="-122"/>
                <a:cs typeface="Palatino Linotype" pitchFamily="34" charset="-120"/>
              </a:rPr>
              <a:t>PENDANT LE SÉJOUR</a:t>
            </a:r>
            <a:endParaRPr lang="en-US" sz="1250" dirty="0"/>
          </a:p>
        </p:txBody>
      </p:sp>
      <p:sp>
        <p:nvSpPr>
          <p:cNvPr id="6" name="Text 4"/>
          <p:cNvSpPr/>
          <p:nvPr/>
        </p:nvSpPr>
        <p:spPr>
          <a:xfrm>
            <a:off x="795528" y="2020824"/>
            <a:ext cx="3102864" cy="14630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antibiotique intraveineux ; insuline ajustée selon les glycémies ; dose de diurétique modifiée, poids surveillé chaque jour</a:t>
            </a:r>
            <a:endParaRPr lang="en-US" sz="1600" dirty="0"/>
          </a:p>
        </p:txBody>
      </p:sp>
      <p:sp>
        <p:nvSpPr>
          <p:cNvPr id="7" name="Shape 5"/>
          <p:cNvSpPr/>
          <p:nvPr/>
        </p:nvSpPr>
        <p:spPr>
          <a:xfrm>
            <a:off x="4328160" y="1508760"/>
            <a:ext cx="3505200" cy="2103120"/>
          </a:xfrm>
          <a:prstGeom prst="roundRect">
            <a:avLst>
              <a:gd name="adj" fmla="val 3913"/>
            </a:avLst>
          </a:prstGeom>
          <a:solidFill>
            <a:srgbClr val="1D1F2B"/>
          </a:solidFill>
          <a:ln w="12700">
            <a:solidFill>
              <a:srgbClr val="1D1F2B"/>
            </a:solidFill>
            <a:prstDash val="solid"/>
          </a:ln>
        </p:spPr>
      </p:sp>
      <p:sp>
        <p:nvSpPr>
          <p:cNvPr id="8" name="Text 6"/>
          <p:cNvSpPr/>
          <p:nvPr/>
        </p:nvSpPr>
        <p:spPr>
          <a:xfrm>
            <a:off x="4529328" y="1636776"/>
            <a:ext cx="3102864" cy="384048"/>
          </a:xfrm>
          <a:prstGeom prst="rect">
            <a:avLst/>
          </a:prstGeom>
          <a:noFill/>
          <a:ln/>
        </p:spPr>
        <p:txBody>
          <a:bodyPr wrap="square" lIns="0" tIns="0" rIns="0" bIns="0" rtlCol="0" anchor="t"/>
          <a:lstStyle/>
          <a:p>
            <a:pPr indent="0" marL="0">
              <a:buNone/>
            </a:pPr>
            <a:r>
              <a:rPr lang="en-US" sz="1250" b="1" spc="100" kern="0" dirty="0">
                <a:solidFill>
                  <a:srgbClr val="FFC24B"/>
                </a:solidFill>
                <a:latin typeface="Palatino Linotype" pitchFamily="34" charset="0"/>
                <a:ea typeface="Palatino Linotype" pitchFamily="34" charset="-122"/>
                <a:cs typeface="Palatino Linotype" pitchFamily="34" charset="-120"/>
              </a:rPr>
              <a:t>CE QU’INSCRIT LE RÉSIDENT</a:t>
            </a:r>
            <a:endParaRPr lang="en-US" sz="1250" dirty="0"/>
          </a:p>
        </p:txBody>
      </p:sp>
      <p:sp>
        <p:nvSpPr>
          <p:cNvPr id="9" name="Text 7"/>
          <p:cNvSpPr/>
          <p:nvPr/>
        </p:nvSpPr>
        <p:spPr>
          <a:xfrm>
            <a:off x="4529328" y="2020824"/>
            <a:ext cx="3102864" cy="14630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 seul diagnostic : pneumonie, sans précision (J18.9)</a:t>
            </a:r>
            <a:endParaRPr lang="en-US" sz="1600" dirty="0"/>
          </a:p>
        </p:txBody>
      </p:sp>
      <p:sp>
        <p:nvSpPr>
          <p:cNvPr id="10" name="Shape 8"/>
          <p:cNvSpPr/>
          <p:nvPr/>
        </p:nvSpPr>
        <p:spPr>
          <a:xfrm>
            <a:off x="8061960" y="1508760"/>
            <a:ext cx="3505200" cy="2103120"/>
          </a:xfrm>
          <a:prstGeom prst="roundRect">
            <a:avLst>
              <a:gd name="adj" fmla="val 3913"/>
            </a:avLst>
          </a:prstGeom>
          <a:solidFill>
            <a:srgbClr val="1D1F2B"/>
          </a:solidFill>
          <a:ln w="12700">
            <a:solidFill>
              <a:srgbClr val="1D1F2B"/>
            </a:solidFill>
            <a:prstDash val="solid"/>
          </a:ln>
        </p:spPr>
      </p:sp>
      <p:sp>
        <p:nvSpPr>
          <p:cNvPr id="11" name="Text 9"/>
          <p:cNvSpPr/>
          <p:nvPr/>
        </p:nvSpPr>
        <p:spPr>
          <a:xfrm>
            <a:off x="8263128" y="1636776"/>
            <a:ext cx="3102864" cy="384048"/>
          </a:xfrm>
          <a:prstGeom prst="rect">
            <a:avLst/>
          </a:prstGeom>
          <a:noFill/>
          <a:ln/>
        </p:spPr>
        <p:txBody>
          <a:bodyPr wrap="square" lIns="0" tIns="0" rIns="0" bIns="0" rtlCol="0" anchor="t"/>
          <a:lstStyle/>
          <a:p>
            <a:pPr indent="0" marL="0">
              <a:buNone/>
            </a:pPr>
            <a:r>
              <a:rPr lang="en-US" sz="1250" b="1" spc="100" kern="0" dirty="0">
                <a:solidFill>
                  <a:srgbClr val="FF4757"/>
                </a:solidFill>
                <a:latin typeface="Palatino Linotype" pitchFamily="34" charset="0"/>
                <a:ea typeface="Palatino Linotype" pitchFamily="34" charset="-122"/>
                <a:cs typeface="Palatino Linotype" pitchFamily="34" charset="-120"/>
              </a:rPr>
              <a:t>CE QUI MANQUE</a:t>
            </a:r>
            <a:endParaRPr lang="en-US" sz="1250" dirty="0"/>
          </a:p>
        </p:txBody>
      </p:sp>
      <p:sp>
        <p:nvSpPr>
          <p:cNvPr id="12" name="Text 10"/>
          <p:cNvSpPr/>
          <p:nvPr/>
        </p:nvSpPr>
        <p:spPr>
          <a:xfrm>
            <a:off x="8263128" y="2020824"/>
            <a:ext cx="3102864" cy="14630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 diabète (E11.9) et l’insuffisance cardiaque (I50.9), écrits dans l’évolution, non dans la rubrique des diagnostics secondaires</a:t>
            </a:r>
            <a:endParaRPr lang="en-US" sz="1600" dirty="0"/>
          </a:p>
        </p:txBody>
      </p:sp>
      <p:sp>
        <p:nvSpPr>
          <p:cNvPr id="13" name="Shape 11"/>
          <p:cNvSpPr/>
          <p:nvPr/>
        </p:nvSpPr>
        <p:spPr>
          <a:xfrm>
            <a:off x="594360" y="3794760"/>
            <a:ext cx="5372100" cy="1234440"/>
          </a:xfrm>
          <a:prstGeom prst="roundRect">
            <a:avLst>
              <a:gd name="adj" fmla="val 6667"/>
            </a:avLst>
          </a:prstGeom>
          <a:solidFill>
            <a:srgbClr val="1D1F2B"/>
          </a:solidFill>
          <a:ln w="12700">
            <a:solidFill>
              <a:srgbClr val="1D1F2B"/>
            </a:solidFill>
            <a:prstDash val="solid"/>
          </a:ln>
        </p:spPr>
      </p:sp>
      <p:sp>
        <p:nvSpPr>
          <p:cNvPr id="14" name="Text 12"/>
          <p:cNvSpPr/>
          <p:nvPr/>
        </p:nvSpPr>
        <p:spPr>
          <a:xfrm>
            <a:off x="795528" y="3922776"/>
            <a:ext cx="4969764" cy="384048"/>
          </a:xfrm>
          <a:prstGeom prst="rect">
            <a:avLst/>
          </a:prstGeom>
          <a:noFill/>
          <a:ln/>
        </p:spPr>
        <p:txBody>
          <a:bodyPr wrap="square" lIns="0" tIns="0" rIns="0" bIns="0" rtlCol="0" anchor="t"/>
          <a:lstStyle/>
          <a:p>
            <a:pPr indent="0" marL="0">
              <a:buNone/>
            </a:pPr>
            <a:r>
              <a:rPr lang="en-US" sz="1250" b="1" spc="100" kern="0" dirty="0">
                <a:solidFill>
                  <a:srgbClr val="9B7EF7"/>
                </a:solidFill>
                <a:latin typeface="Palatino Linotype" pitchFamily="34" charset="0"/>
                <a:ea typeface="Palatino Linotype" pitchFamily="34" charset="-122"/>
                <a:cs typeface="Palatino Linotype" pitchFamily="34" charset="-120"/>
              </a:rPr>
              <a:t>LE STATISTICIEN</a:t>
            </a:r>
            <a:endParaRPr lang="en-US" sz="1250" dirty="0"/>
          </a:p>
        </p:txBody>
      </p:sp>
      <p:sp>
        <p:nvSpPr>
          <p:cNvPr id="15" name="Text 13"/>
          <p:cNvSpPr/>
          <p:nvPr/>
        </p:nvSpPr>
        <p:spPr>
          <a:xfrm>
            <a:off x="795528" y="4306824"/>
            <a:ext cx="4969764" cy="5943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 Ça donne un petit groupe. »</a:t>
            </a:r>
            <a:endParaRPr lang="en-US" sz="1600" dirty="0"/>
          </a:p>
        </p:txBody>
      </p:sp>
      <p:sp>
        <p:nvSpPr>
          <p:cNvPr id="16" name="Shape 14"/>
          <p:cNvSpPr/>
          <p:nvPr/>
        </p:nvSpPr>
        <p:spPr>
          <a:xfrm>
            <a:off x="6195060" y="3794760"/>
            <a:ext cx="5372100" cy="1234440"/>
          </a:xfrm>
          <a:prstGeom prst="roundRect">
            <a:avLst>
              <a:gd name="adj" fmla="val 6667"/>
            </a:avLst>
          </a:prstGeom>
          <a:solidFill>
            <a:srgbClr val="1D1F2B"/>
          </a:solidFill>
          <a:ln w="12700">
            <a:solidFill>
              <a:srgbClr val="1D1F2B"/>
            </a:solidFill>
            <a:prstDash val="solid"/>
          </a:ln>
        </p:spPr>
      </p:sp>
      <p:sp>
        <p:nvSpPr>
          <p:cNvPr id="17" name="Text 15"/>
          <p:cNvSpPr/>
          <p:nvPr/>
        </p:nvSpPr>
        <p:spPr>
          <a:xfrm>
            <a:off x="6396228" y="3922776"/>
            <a:ext cx="4969764" cy="384048"/>
          </a:xfrm>
          <a:prstGeom prst="rect">
            <a:avLst/>
          </a:prstGeom>
          <a:noFill/>
          <a:ln/>
        </p:spPr>
        <p:txBody>
          <a:bodyPr wrap="square" lIns="0" tIns="0" rIns="0" bIns="0" rtlCol="0" anchor="t"/>
          <a:lstStyle/>
          <a:p>
            <a:pPr indent="0" marL="0">
              <a:buNone/>
            </a:pPr>
            <a:r>
              <a:rPr lang="en-US" sz="1250" b="1" spc="100" kern="0" dirty="0">
                <a:solidFill>
                  <a:srgbClr val="FF8A3D"/>
                </a:solidFill>
                <a:latin typeface="Palatino Linotype" pitchFamily="34" charset="0"/>
                <a:ea typeface="Palatino Linotype" pitchFamily="34" charset="-122"/>
                <a:cs typeface="Palatino Linotype" pitchFamily="34" charset="-120"/>
              </a:rPr>
              <a:t>UN COLLÈGUE</a:t>
            </a:r>
            <a:endParaRPr lang="en-US" sz="1250" dirty="0"/>
          </a:p>
        </p:txBody>
      </p:sp>
      <p:sp>
        <p:nvSpPr>
          <p:cNvPr id="18" name="Text 16"/>
          <p:cNvSpPr/>
          <p:nvPr/>
        </p:nvSpPr>
        <p:spPr>
          <a:xfrm>
            <a:off x="6396228" y="4306824"/>
            <a:ext cx="4969764" cy="5943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 Mets aussi une complication sévère, pour que ça rapporte plus. » Rien dans le dossier ne la justifie.</a:t>
            </a:r>
            <a:endParaRPr lang="en-US" sz="1600" dirty="0"/>
          </a:p>
        </p:txBody>
      </p:sp>
      <p:sp>
        <p:nvSpPr>
          <p:cNvPr id="19" name="Shape 17"/>
          <p:cNvSpPr/>
          <p:nvPr/>
        </p:nvSpPr>
        <p:spPr>
          <a:xfrm>
            <a:off x="594360" y="5760720"/>
            <a:ext cx="6949440" cy="329184"/>
          </a:xfrm>
          <a:prstGeom prst="roundRect">
            <a:avLst>
              <a:gd name="adj" fmla="val 50000"/>
            </a:avLst>
          </a:prstGeom>
          <a:solidFill>
            <a:srgbClr val="272A38"/>
          </a:solidFill>
          <a:ln w="12700">
            <a:solidFill>
              <a:srgbClr val="272A38"/>
            </a:solidFill>
            <a:prstDash val="solid"/>
          </a:ln>
        </p:spPr>
      </p:sp>
      <p:sp>
        <p:nvSpPr>
          <p:cNvPr id="20" name="Text 18"/>
          <p:cNvSpPr/>
          <p:nvPr/>
        </p:nvSpPr>
        <p:spPr>
          <a:xfrm>
            <a:off x="594360" y="5760720"/>
            <a:ext cx="6949440" cy="329184"/>
          </a:xfrm>
          <a:prstGeom prst="rect">
            <a:avLst/>
          </a:prstGeom>
          <a:noFill/>
          <a:ln/>
        </p:spPr>
        <p:txBody>
          <a:bodyPr wrap="square" lIns="0" tIns="0" rIns="0" bIns="0" rtlCol="0" anchor="ctr"/>
          <a:lstStyle/>
          <a:p>
            <a:pPr algn="ctr" indent="0" marL="0">
              <a:buNone/>
            </a:pPr>
            <a:r>
              <a:rPr lang="en-US" sz="1200" b="1" dirty="0">
                <a:solidFill>
                  <a:srgbClr val="FFC24B"/>
                </a:solidFill>
                <a:latin typeface="Palatino Linotype" pitchFamily="34" charset="0"/>
                <a:ea typeface="Palatino Linotype" pitchFamily="34" charset="-122"/>
                <a:cs typeface="Palatino Linotype" pitchFamily="34" charset="-120"/>
              </a:rPr>
              <a:t>Cas construit pour le cours ; les détails sont plausibles, non réels.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 2</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DEUXIÈME DÉCISION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Qu’inscrit le médecin dans le dossier médical avant de le clôturer ?</a:t>
            </a:r>
            <a:endParaRPr lang="en-US" sz="27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sp>
      <p:sp>
        <p:nvSpPr>
          <p:cNvPr id="7" name="Shape 5"/>
          <p:cNvSpPr/>
          <p:nvPr/>
        </p:nvSpPr>
        <p:spPr>
          <a:xfrm>
            <a:off x="777240" y="1975104"/>
            <a:ext cx="420624" cy="420624"/>
          </a:xfrm>
          <a:prstGeom prst="ellipse">
            <a:avLst/>
          </a:prstGeom>
          <a:solidFill>
            <a:srgbClr val="FFC24B"/>
          </a:solidFill>
          <a:ln/>
        </p:spPr>
      </p:sp>
      <p:sp>
        <p:nvSpPr>
          <p:cNvPr id="8" name="Text 6"/>
          <p:cNvSpPr/>
          <p:nvPr/>
        </p:nvSpPr>
        <p:spPr>
          <a:xfrm>
            <a:off x="77724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828800"/>
            <a:ext cx="10058400" cy="71323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Seulement la pneumonie, parce qu’elle a été le motif de l’hospitalisation</a:t>
            </a:r>
            <a:endParaRPr lang="en-US" sz="165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sp>
      <p:sp>
        <p:nvSpPr>
          <p:cNvPr id="11" name="Shape 9"/>
          <p:cNvSpPr/>
          <p:nvPr/>
        </p:nvSpPr>
        <p:spPr>
          <a:xfrm>
            <a:off x="777240" y="2816352"/>
            <a:ext cx="420624" cy="420624"/>
          </a:xfrm>
          <a:prstGeom prst="ellipse">
            <a:avLst/>
          </a:prstGeom>
          <a:solidFill>
            <a:srgbClr val="FFC24B"/>
          </a:solidFill>
          <a:ln/>
        </p:spPr>
      </p:sp>
      <p:sp>
        <p:nvSpPr>
          <p:cNvPr id="12" name="Text 10"/>
          <p:cNvSpPr/>
          <p:nvPr/>
        </p:nvSpPr>
        <p:spPr>
          <a:xfrm>
            <a:off x="77724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670048"/>
            <a:ext cx="10058400" cy="71323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La pneumonie comme diagnostic principal, plus le diabète et l’insuffisance cardiaque, traités et surveillés pendant le séjour</a:t>
            </a:r>
            <a:endParaRPr lang="en-US" sz="165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sp>
      <p:sp>
        <p:nvSpPr>
          <p:cNvPr id="15" name="Shape 13"/>
          <p:cNvSpPr/>
          <p:nvPr/>
        </p:nvSpPr>
        <p:spPr>
          <a:xfrm>
            <a:off x="777240" y="3657600"/>
            <a:ext cx="420624" cy="420624"/>
          </a:xfrm>
          <a:prstGeom prst="ellipse">
            <a:avLst/>
          </a:prstGeom>
          <a:solidFill>
            <a:srgbClr val="FFC24B"/>
          </a:solidFill>
          <a:ln/>
        </p:spPr>
      </p:sp>
      <p:sp>
        <p:nvSpPr>
          <p:cNvPr id="16" name="Text 14"/>
          <p:cNvSpPr/>
          <p:nvPr/>
        </p:nvSpPr>
        <p:spPr>
          <a:xfrm>
            <a:off x="77724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511296"/>
            <a:ext cx="10058400" cy="71323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La pneumonie, le diabète, l’insuffisance cardiaque et une complication sévère, pour que le groupe vaille plus</a:t>
            </a:r>
            <a:endParaRPr lang="en-US" sz="165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sp>
      <p:sp>
        <p:nvSpPr>
          <p:cNvPr id="19" name="Shape 17"/>
          <p:cNvSpPr/>
          <p:nvPr/>
        </p:nvSpPr>
        <p:spPr>
          <a:xfrm>
            <a:off x="777240" y="4498848"/>
            <a:ext cx="420624" cy="420624"/>
          </a:xfrm>
          <a:prstGeom prst="ellipse">
            <a:avLst/>
          </a:prstGeom>
          <a:solidFill>
            <a:srgbClr val="FFC24B"/>
          </a:solidFill>
          <a:ln/>
        </p:spPr>
      </p:sp>
      <p:sp>
        <p:nvSpPr>
          <p:cNvPr id="20" name="Text 18"/>
          <p:cNvSpPr/>
          <p:nvPr/>
        </p:nvSpPr>
        <p:spPr>
          <a:xfrm>
            <a:off x="77724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4352544"/>
            <a:ext cx="10058400" cy="71323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Rien de plus : c’est le statisticien qui fait le codage</a:t>
            </a:r>
            <a:endParaRPr lang="en-US" sz="1650" dirty="0"/>
          </a:p>
        </p:txBody>
      </p:sp>
      <p:sp>
        <p:nvSpPr>
          <p:cNvPr id="22" name="Text 20"/>
          <p:cNvSpPr/>
          <p:nvPr/>
        </p:nvSpPr>
        <p:spPr>
          <a:xfrm>
            <a:off x="594360" y="5257800"/>
            <a:ext cx="10972800" cy="3657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Vote individuel, sans discussion.</a:t>
            </a:r>
            <a:endParaRPr lang="en-US" sz="1500" dirty="0"/>
          </a:p>
        </p:txBody>
      </p:sp>
      <p:sp>
        <p:nvSpPr>
          <p:cNvPr id="23" name="Text 21"/>
          <p:cNvSpPr/>
          <p:nvPr/>
        </p:nvSpPr>
        <p:spPr>
          <a:xfrm>
            <a:off x="594360" y="5623560"/>
            <a:ext cx="109728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SECOND VOTE 2</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APRÈS DISCUSSION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Deux voisins, deux minutes</a:t>
            </a:r>
            <a:endParaRPr lang="en-US" sz="3000" dirty="0"/>
          </a:p>
        </p:txBody>
      </p:sp>
      <p:sp>
        <p:nvSpPr>
          <p:cNvPr id="6" name="Text 4"/>
          <p:cNvSpPr/>
          <p:nvPr/>
        </p:nvSpPr>
        <p:spPr>
          <a:xfrm>
            <a:off x="594360" y="1600200"/>
            <a:ext cx="10972800" cy="4572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Deux minutes avec votre voisin de banc. Puis votez de nouveau, avec les mêmes options.</a:t>
            </a:r>
            <a:endParaRPr lang="en-US" sz="1900" dirty="0"/>
          </a:p>
        </p:txBody>
      </p:sp>
      <p:sp>
        <p:nvSpPr>
          <p:cNvPr id="7" name="Shape 5"/>
          <p:cNvSpPr/>
          <p:nvPr/>
        </p:nvSpPr>
        <p:spPr>
          <a:xfrm>
            <a:off x="594360" y="2240280"/>
            <a:ext cx="5349240" cy="3108960"/>
          </a:xfrm>
          <a:prstGeom prst="roundRect">
            <a:avLst>
              <a:gd name="adj" fmla="val 2647"/>
            </a:avLst>
          </a:prstGeom>
          <a:solidFill>
            <a:srgbClr val="1D1F2B"/>
          </a:solidFill>
          <a:ln w="12700">
            <a:solidFill>
              <a:srgbClr val="1D1F2B"/>
            </a:solidFill>
            <a:prstDash val="solid"/>
          </a:ln>
        </p:spPr>
      </p:sp>
      <p:sp>
        <p:nvSpPr>
          <p:cNvPr id="8" name="Text 6"/>
          <p:cNvSpPr/>
          <p:nvPr/>
        </p:nvSpPr>
        <p:spPr>
          <a:xfrm>
            <a:off x="868680" y="2377440"/>
            <a:ext cx="4754880" cy="365760"/>
          </a:xfrm>
          <a:prstGeom prst="rect">
            <a:avLst/>
          </a:prstGeom>
          <a:noFill/>
          <a:ln/>
        </p:spPr>
        <p:txBody>
          <a:bodyPr wrap="square" lIns="0" tIns="0" rIns="0" bIns="0" rtlCol="0" anchor="t"/>
          <a:lstStyle/>
          <a:p>
            <a:pPr indent="0" marL="0">
              <a:buNone/>
            </a:pPr>
            <a:r>
              <a:rPr lang="en-US" sz="1400" b="1" spc="200" kern="0" dirty="0">
                <a:solidFill>
                  <a:srgbClr val="FFC24B"/>
                </a:solidFill>
                <a:latin typeface="Palatino Linotype" pitchFamily="34" charset="0"/>
                <a:ea typeface="Palatino Linotype" pitchFamily="34" charset="-122"/>
                <a:cs typeface="Palatino Linotype" pitchFamily="34" charset="-120"/>
              </a:rPr>
              <a:t>PREMIER VOTE</a:t>
            </a:r>
            <a:endParaRPr lang="en-US" sz="1400" dirty="0"/>
          </a:p>
        </p:txBody>
      </p:sp>
      <p:sp>
        <p:nvSpPr>
          <p:cNvPr id="9" name="Shape 7"/>
          <p:cNvSpPr/>
          <p:nvPr/>
        </p:nvSpPr>
        <p:spPr>
          <a:xfrm>
            <a:off x="868680" y="2834640"/>
            <a:ext cx="384048" cy="384048"/>
          </a:xfrm>
          <a:prstGeom prst="ellipse">
            <a:avLst/>
          </a:prstGeom>
          <a:solidFill>
            <a:srgbClr val="FFC24B"/>
          </a:solidFill>
          <a:ln/>
        </p:spPr>
      </p:sp>
      <p:sp>
        <p:nvSpPr>
          <p:cNvPr id="10" name="Text 8"/>
          <p:cNvSpPr/>
          <p:nvPr/>
        </p:nvSpPr>
        <p:spPr>
          <a:xfrm>
            <a:off x="868680" y="283464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Shape 9"/>
          <p:cNvSpPr/>
          <p:nvPr/>
        </p:nvSpPr>
        <p:spPr>
          <a:xfrm>
            <a:off x="1463040" y="2999232"/>
            <a:ext cx="4114800" cy="54864"/>
          </a:xfrm>
          <a:prstGeom prst="rect">
            <a:avLst/>
          </a:prstGeom>
          <a:solidFill>
            <a:srgbClr val="272A38"/>
          </a:solidFill>
          <a:ln w="12700">
            <a:solidFill>
              <a:srgbClr val="272A38"/>
            </a:solidFill>
            <a:prstDash val="solid"/>
          </a:ln>
        </p:spPr>
      </p:sp>
      <p:sp>
        <p:nvSpPr>
          <p:cNvPr id="12" name="Shape 10"/>
          <p:cNvSpPr/>
          <p:nvPr/>
        </p:nvSpPr>
        <p:spPr>
          <a:xfrm>
            <a:off x="868680" y="3417570"/>
            <a:ext cx="384048" cy="384048"/>
          </a:xfrm>
          <a:prstGeom prst="ellipse">
            <a:avLst/>
          </a:prstGeom>
          <a:solidFill>
            <a:srgbClr val="FFC24B"/>
          </a:solidFill>
          <a:ln/>
        </p:spPr>
      </p:sp>
      <p:sp>
        <p:nvSpPr>
          <p:cNvPr id="13" name="Text 11"/>
          <p:cNvSpPr/>
          <p:nvPr/>
        </p:nvSpPr>
        <p:spPr>
          <a:xfrm>
            <a:off x="868680" y="341757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Shape 12"/>
          <p:cNvSpPr/>
          <p:nvPr/>
        </p:nvSpPr>
        <p:spPr>
          <a:xfrm>
            <a:off x="1463040" y="3582162"/>
            <a:ext cx="4114800" cy="54864"/>
          </a:xfrm>
          <a:prstGeom prst="rect">
            <a:avLst/>
          </a:prstGeom>
          <a:solidFill>
            <a:srgbClr val="272A38"/>
          </a:solidFill>
          <a:ln w="12700">
            <a:solidFill>
              <a:srgbClr val="272A38"/>
            </a:solidFill>
            <a:prstDash val="solid"/>
          </a:ln>
        </p:spPr>
      </p:sp>
      <p:sp>
        <p:nvSpPr>
          <p:cNvPr id="15" name="Shape 13"/>
          <p:cNvSpPr/>
          <p:nvPr/>
        </p:nvSpPr>
        <p:spPr>
          <a:xfrm>
            <a:off x="868680" y="4000500"/>
            <a:ext cx="384048" cy="384048"/>
          </a:xfrm>
          <a:prstGeom prst="ellipse">
            <a:avLst/>
          </a:prstGeom>
          <a:solidFill>
            <a:srgbClr val="FFC24B"/>
          </a:solidFill>
          <a:ln/>
        </p:spPr>
      </p:sp>
      <p:sp>
        <p:nvSpPr>
          <p:cNvPr id="16" name="Text 14"/>
          <p:cNvSpPr/>
          <p:nvPr/>
        </p:nvSpPr>
        <p:spPr>
          <a:xfrm>
            <a:off x="868680" y="400050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Shape 15"/>
          <p:cNvSpPr/>
          <p:nvPr/>
        </p:nvSpPr>
        <p:spPr>
          <a:xfrm>
            <a:off x="1463040" y="4165092"/>
            <a:ext cx="4114800" cy="54864"/>
          </a:xfrm>
          <a:prstGeom prst="rect">
            <a:avLst/>
          </a:prstGeom>
          <a:solidFill>
            <a:srgbClr val="272A38"/>
          </a:solidFill>
          <a:ln w="12700">
            <a:solidFill>
              <a:srgbClr val="272A38"/>
            </a:solidFill>
            <a:prstDash val="solid"/>
          </a:ln>
        </p:spPr>
      </p:sp>
      <p:sp>
        <p:nvSpPr>
          <p:cNvPr id="18" name="Shape 16"/>
          <p:cNvSpPr/>
          <p:nvPr/>
        </p:nvSpPr>
        <p:spPr>
          <a:xfrm>
            <a:off x="868680" y="4583430"/>
            <a:ext cx="384048" cy="384048"/>
          </a:xfrm>
          <a:prstGeom prst="ellipse">
            <a:avLst/>
          </a:prstGeom>
          <a:solidFill>
            <a:srgbClr val="FFC24B"/>
          </a:solidFill>
          <a:ln/>
        </p:spPr>
      </p:sp>
      <p:sp>
        <p:nvSpPr>
          <p:cNvPr id="19" name="Text 17"/>
          <p:cNvSpPr/>
          <p:nvPr/>
        </p:nvSpPr>
        <p:spPr>
          <a:xfrm>
            <a:off x="868680" y="458343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0" name="Shape 18"/>
          <p:cNvSpPr/>
          <p:nvPr/>
        </p:nvSpPr>
        <p:spPr>
          <a:xfrm>
            <a:off x="1463040" y="4748022"/>
            <a:ext cx="4114800" cy="54864"/>
          </a:xfrm>
          <a:prstGeom prst="rect">
            <a:avLst/>
          </a:prstGeom>
          <a:solidFill>
            <a:srgbClr val="272A38"/>
          </a:solidFill>
          <a:ln w="12700">
            <a:solidFill>
              <a:srgbClr val="272A38"/>
            </a:solidFill>
            <a:prstDash val="solid"/>
          </a:ln>
        </p:spPr>
      </p:sp>
      <p:sp>
        <p:nvSpPr>
          <p:cNvPr id="21" name="Shape 19"/>
          <p:cNvSpPr/>
          <p:nvPr/>
        </p:nvSpPr>
        <p:spPr>
          <a:xfrm>
            <a:off x="6217920" y="2240280"/>
            <a:ext cx="5349240" cy="3108960"/>
          </a:xfrm>
          <a:prstGeom prst="roundRect">
            <a:avLst>
              <a:gd name="adj" fmla="val 2647"/>
            </a:avLst>
          </a:prstGeom>
          <a:solidFill>
            <a:srgbClr val="1D1F2B"/>
          </a:solidFill>
          <a:ln w="12700">
            <a:solidFill>
              <a:srgbClr val="1D1F2B"/>
            </a:solidFill>
            <a:prstDash val="solid"/>
          </a:ln>
        </p:spPr>
      </p:sp>
      <p:sp>
        <p:nvSpPr>
          <p:cNvPr id="22" name="Text 20"/>
          <p:cNvSpPr/>
          <p:nvPr/>
        </p:nvSpPr>
        <p:spPr>
          <a:xfrm>
            <a:off x="6492240" y="2377440"/>
            <a:ext cx="475488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SECOND VOTE</a:t>
            </a:r>
            <a:endParaRPr lang="en-US" sz="1400" dirty="0"/>
          </a:p>
        </p:txBody>
      </p:sp>
      <p:sp>
        <p:nvSpPr>
          <p:cNvPr id="23" name="Shape 21"/>
          <p:cNvSpPr/>
          <p:nvPr/>
        </p:nvSpPr>
        <p:spPr>
          <a:xfrm>
            <a:off x="6492240" y="2834640"/>
            <a:ext cx="384048" cy="384048"/>
          </a:xfrm>
          <a:prstGeom prst="ellipse">
            <a:avLst/>
          </a:prstGeom>
          <a:solidFill>
            <a:srgbClr val="27D3BE"/>
          </a:solidFill>
          <a:ln/>
        </p:spPr>
      </p:sp>
      <p:sp>
        <p:nvSpPr>
          <p:cNvPr id="24" name="Text 22"/>
          <p:cNvSpPr/>
          <p:nvPr/>
        </p:nvSpPr>
        <p:spPr>
          <a:xfrm>
            <a:off x="6492240" y="283464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5" name="Shape 23"/>
          <p:cNvSpPr/>
          <p:nvPr/>
        </p:nvSpPr>
        <p:spPr>
          <a:xfrm>
            <a:off x="7086600" y="2999232"/>
            <a:ext cx="4114800" cy="54864"/>
          </a:xfrm>
          <a:prstGeom prst="rect">
            <a:avLst/>
          </a:prstGeom>
          <a:solidFill>
            <a:srgbClr val="272A38"/>
          </a:solidFill>
          <a:ln w="12700">
            <a:solidFill>
              <a:srgbClr val="272A38"/>
            </a:solidFill>
            <a:prstDash val="solid"/>
          </a:ln>
        </p:spPr>
      </p:sp>
      <p:sp>
        <p:nvSpPr>
          <p:cNvPr id="26" name="Shape 24"/>
          <p:cNvSpPr/>
          <p:nvPr/>
        </p:nvSpPr>
        <p:spPr>
          <a:xfrm>
            <a:off x="6492240" y="3417570"/>
            <a:ext cx="384048" cy="384048"/>
          </a:xfrm>
          <a:prstGeom prst="ellipse">
            <a:avLst/>
          </a:prstGeom>
          <a:solidFill>
            <a:srgbClr val="27D3BE"/>
          </a:solidFill>
          <a:ln/>
        </p:spPr>
      </p:sp>
      <p:sp>
        <p:nvSpPr>
          <p:cNvPr id="27" name="Text 25"/>
          <p:cNvSpPr/>
          <p:nvPr/>
        </p:nvSpPr>
        <p:spPr>
          <a:xfrm>
            <a:off x="6492240" y="341757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8" name="Shape 26"/>
          <p:cNvSpPr/>
          <p:nvPr/>
        </p:nvSpPr>
        <p:spPr>
          <a:xfrm>
            <a:off x="7086600" y="3582162"/>
            <a:ext cx="4114800" cy="54864"/>
          </a:xfrm>
          <a:prstGeom prst="rect">
            <a:avLst/>
          </a:prstGeom>
          <a:solidFill>
            <a:srgbClr val="272A38"/>
          </a:solidFill>
          <a:ln w="12700">
            <a:solidFill>
              <a:srgbClr val="272A38"/>
            </a:solidFill>
            <a:prstDash val="solid"/>
          </a:ln>
        </p:spPr>
      </p:sp>
      <p:sp>
        <p:nvSpPr>
          <p:cNvPr id="29" name="Shape 27"/>
          <p:cNvSpPr/>
          <p:nvPr/>
        </p:nvSpPr>
        <p:spPr>
          <a:xfrm>
            <a:off x="6492240" y="4000500"/>
            <a:ext cx="384048" cy="384048"/>
          </a:xfrm>
          <a:prstGeom prst="ellipse">
            <a:avLst/>
          </a:prstGeom>
          <a:solidFill>
            <a:srgbClr val="27D3BE"/>
          </a:solidFill>
          <a:ln/>
        </p:spPr>
      </p:sp>
      <p:sp>
        <p:nvSpPr>
          <p:cNvPr id="30" name="Text 28"/>
          <p:cNvSpPr/>
          <p:nvPr/>
        </p:nvSpPr>
        <p:spPr>
          <a:xfrm>
            <a:off x="6492240" y="400050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31" name="Shape 29"/>
          <p:cNvSpPr/>
          <p:nvPr/>
        </p:nvSpPr>
        <p:spPr>
          <a:xfrm>
            <a:off x="7086600" y="4165092"/>
            <a:ext cx="4114800" cy="54864"/>
          </a:xfrm>
          <a:prstGeom prst="rect">
            <a:avLst/>
          </a:prstGeom>
          <a:solidFill>
            <a:srgbClr val="272A38"/>
          </a:solidFill>
          <a:ln w="12700">
            <a:solidFill>
              <a:srgbClr val="272A38"/>
            </a:solidFill>
            <a:prstDash val="solid"/>
          </a:ln>
        </p:spPr>
      </p:sp>
      <p:sp>
        <p:nvSpPr>
          <p:cNvPr id="32" name="Shape 30"/>
          <p:cNvSpPr/>
          <p:nvPr/>
        </p:nvSpPr>
        <p:spPr>
          <a:xfrm>
            <a:off x="6492240" y="4583430"/>
            <a:ext cx="384048" cy="384048"/>
          </a:xfrm>
          <a:prstGeom prst="ellipse">
            <a:avLst/>
          </a:prstGeom>
          <a:solidFill>
            <a:srgbClr val="27D3BE"/>
          </a:solidFill>
          <a:ln/>
        </p:spPr>
      </p:sp>
      <p:sp>
        <p:nvSpPr>
          <p:cNvPr id="33" name="Text 31"/>
          <p:cNvSpPr/>
          <p:nvPr/>
        </p:nvSpPr>
        <p:spPr>
          <a:xfrm>
            <a:off x="6492240" y="458343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34" name="Shape 32"/>
          <p:cNvSpPr/>
          <p:nvPr/>
        </p:nvSpPr>
        <p:spPr>
          <a:xfrm>
            <a:off x="7086600" y="4748022"/>
            <a:ext cx="4114800" cy="54864"/>
          </a:xfrm>
          <a:prstGeom prst="rect">
            <a:avLst/>
          </a:prstGeom>
          <a:solidFill>
            <a:srgbClr val="272A38"/>
          </a:solidFill>
          <a:ln w="12700">
            <a:solidFill>
              <a:srgbClr val="272A38"/>
            </a:solidFill>
            <a:prstDash val="solid"/>
          </a:ln>
        </p:spPr>
      </p:sp>
      <p:sp>
        <p:nvSpPr>
          <p:cNvPr id="35" name="Text 33"/>
          <p:cNvSpPr/>
          <p:nvPr/>
        </p:nvSpPr>
        <p:spPr>
          <a:xfrm>
            <a:off x="594360" y="5577840"/>
            <a:ext cx="109728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L’ACHETEUR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Comment l’argent mis en commun arrive aux prestataires</a:t>
            </a:r>
            <a:endParaRPr lang="en-US" sz="3100" dirty="0"/>
          </a:p>
        </p:txBody>
      </p:sp>
      <p:sp>
        <p:nvSpPr>
          <p:cNvPr id="4" name="Shape 2"/>
          <p:cNvSpPr/>
          <p:nvPr/>
        </p:nvSpPr>
        <p:spPr>
          <a:xfrm>
            <a:off x="594360" y="1737360"/>
            <a:ext cx="3246120" cy="914400"/>
          </a:xfrm>
          <a:prstGeom prst="roundRect">
            <a:avLst>
              <a:gd name="adj" fmla="val 9000"/>
            </a:avLst>
          </a:prstGeom>
          <a:solidFill>
            <a:srgbClr val="0E7C6B"/>
          </a:solidFill>
          <a:ln w="12700">
            <a:solidFill>
              <a:srgbClr val="0E7C6B"/>
            </a:solidFill>
            <a:prstDash val="solid"/>
          </a:ln>
        </p:spPr>
      </p:sp>
      <p:sp>
        <p:nvSpPr>
          <p:cNvPr id="5" name="Text 3"/>
          <p:cNvSpPr/>
          <p:nvPr/>
        </p:nvSpPr>
        <p:spPr>
          <a:xfrm>
            <a:off x="731520" y="1737360"/>
            <a:ext cx="29718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Le fonds commun</a:t>
            </a:r>
            <a:endParaRPr lang="en-US" sz="1700" dirty="0"/>
          </a:p>
        </p:txBody>
      </p:sp>
      <p:sp>
        <p:nvSpPr>
          <p:cNvPr id="6" name="Shape 4"/>
          <p:cNvSpPr/>
          <p:nvPr/>
        </p:nvSpPr>
        <p:spPr>
          <a:xfrm>
            <a:off x="3886200" y="2029968"/>
            <a:ext cx="384048" cy="329184"/>
          </a:xfrm>
          <a:prstGeom prst="rightArrow">
            <a:avLst/>
          </a:prstGeom>
          <a:solidFill>
            <a:srgbClr val="585A64"/>
          </a:solidFill>
          <a:ln w="12700">
            <a:solidFill>
              <a:srgbClr val="585A64"/>
            </a:solidFill>
            <a:prstDash val="solid"/>
          </a:ln>
        </p:spPr>
      </p:sp>
      <p:sp>
        <p:nvSpPr>
          <p:cNvPr id="7" name="Shape 5"/>
          <p:cNvSpPr/>
          <p:nvPr/>
        </p:nvSpPr>
        <p:spPr>
          <a:xfrm>
            <a:off x="4343400" y="1737360"/>
            <a:ext cx="3246120" cy="914400"/>
          </a:xfrm>
          <a:prstGeom prst="roundRect">
            <a:avLst>
              <a:gd name="adj" fmla="val 9000"/>
            </a:avLst>
          </a:prstGeom>
          <a:solidFill>
            <a:srgbClr val="B02532"/>
          </a:solidFill>
          <a:ln w="12700">
            <a:solidFill>
              <a:srgbClr val="B02532"/>
            </a:solidFill>
            <a:prstDash val="solid"/>
          </a:ln>
        </p:spPr>
      </p:sp>
      <p:sp>
        <p:nvSpPr>
          <p:cNvPr id="8" name="Text 6"/>
          <p:cNvSpPr/>
          <p:nvPr/>
        </p:nvSpPr>
        <p:spPr>
          <a:xfrm>
            <a:off x="4480560" y="1737360"/>
            <a:ext cx="29718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L’acheteur : la caisse d’assurance maladie</a:t>
            </a:r>
            <a:endParaRPr lang="en-US" sz="1700" dirty="0"/>
          </a:p>
        </p:txBody>
      </p:sp>
      <p:sp>
        <p:nvSpPr>
          <p:cNvPr id="9" name="Shape 7"/>
          <p:cNvSpPr/>
          <p:nvPr/>
        </p:nvSpPr>
        <p:spPr>
          <a:xfrm>
            <a:off x="7635240" y="2029968"/>
            <a:ext cx="384048" cy="329184"/>
          </a:xfrm>
          <a:prstGeom prst="rightArrow">
            <a:avLst/>
          </a:prstGeom>
          <a:solidFill>
            <a:srgbClr val="585A64"/>
          </a:solidFill>
          <a:ln w="12700">
            <a:solidFill>
              <a:srgbClr val="585A64"/>
            </a:solidFill>
            <a:prstDash val="solid"/>
          </a:ln>
        </p:spPr>
      </p:sp>
      <p:sp>
        <p:nvSpPr>
          <p:cNvPr id="10" name="Shape 8"/>
          <p:cNvSpPr/>
          <p:nvPr/>
        </p:nvSpPr>
        <p:spPr>
          <a:xfrm>
            <a:off x="8092440" y="1737360"/>
            <a:ext cx="3246120" cy="914400"/>
          </a:xfrm>
          <a:prstGeom prst="roundRect">
            <a:avLst>
              <a:gd name="adj" fmla="val 9000"/>
            </a:avLst>
          </a:prstGeom>
          <a:solidFill>
            <a:srgbClr val="4A2D8C"/>
          </a:solidFill>
          <a:ln w="12700">
            <a:solidFill>
              <a:srgbClr val="4A2D8C"/>
            </a:solidFill>
            <a:prstDash val="solid"/>
          </a:ln>
        </p:spPr>
      </p:sp>
      <p:sp>
        <p:nvSpPr>
          <p:cNvPr id="11" name="Text 9"/>
          <p:cNvSpPr/>
          <p:nvPr/>
        </p:nvSpPr>
        <p:spPr>
          <a:xfrm>
            <a:off x="8229600" y="1737360"/>
            <a:ext cx="29718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Les prestataires</a:t>
            </a:r>
            <a:endParaRPr lang="en-US" sz="1700" dirty="0"/>
          </a:p>
        </p:txBody>
      </p:sp>
      <p:sp>
        <p:nvSpPr>
          <p:cNvPr id="12" name="Shape 10"/>
          <p:cNvSpPr/>
          <p:nvPr/>
        </p:nvSpPr>
        <p:spPr>
          <a:xfrm>
            <a:off x="594360" y="2971800"/>
            <a:ext cx="10972800" cy="1051560"/>
          </a:xfrm>
          <a:prstGeom prst="roundRect">
            <a:avLst>
              <a:gd name="adj" fmla="val 7826"/>
            </a:avLst>
          </a:prstGeom>
          <a:solidFill>
            <a:srgbClr val="ECEAE4"/>
          </a:solidFill>
          <a:ln w="12700">
            <a:solidFill>
              <a:srgbClr val="ECEAE4"/>
            </a:solidFill>
            <a:prstDash val="solid"/>
          </a:ln>
        </p:spPr>
      </p:sp>
      <p:sp>
        <p:nvSpPr>
          <p:cNvPr id="13" name="Text 11"/>
          <p:cNvSpPr/>
          <p:nvPr/>
        </p:nvSpPr>
        <p:spPr>
          <a:xfrm>
            <a:off x="868680" y="2971800"/>
            <a:ext cx="10424160" cy="105156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Les règles selon lesquelles l’acheteur paie forment les mécanismes de paiement des prestataires.</a:t>
            </a:r>
            <a:endParaRPr lang="en-US" sz="2000" dirty="0"/>
          </a:p>
        </p:txBody>
      </p:sp>
      <p:sp>
        <p:nvSpPr>
          <p:cNvPr id="14" name="Shape 12"/>
          <p:cNvSpPr/>
          <p:nvPr/>
        </p:nvSpPr>
        <p:spPr>
          <a:xfrm>
            <a:off x="594360" y="4297680"/>
            <a:ext cx="10972800" cy="914400"/>
          </a:xfrm>
          <a:prstGeom prst="roundRect">
            <a:avLst>
              <a:gd name="adj" fmla="val 9000"/>
            </a:avLst>
          </a:prstGeom>
          <a:solidFill>
            <a:srgbClr val="11121A"/>
          </a:solidFill>
          <a:ln w="12700">
            <a:solidFill>
              <a:srgbClr val="11121A"/>
            </a:solidFill>
            <a:prstDash val="solid"/>
          </a:ln>
        </p:spPr>
      </p:sp>
      <p:sp>
        <p:nvSpPr>
          <p:cNvPr id="15" name="Text 13"/>
          <p:cNvSpPr/>
          <p:nvPr/>
        </p:nvSpPr>
        <p:spPr>
          <a:xfrm>
            <a:off x="868680" y="429768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Chaque mécanisme crée ses propres incitations : il pousse le prestataire vers un certain comportement.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MÉCANISMES DE PAIEMENT (1)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qui est payé et vers quoi cela pousse</a:t>
            </a:r>
            <a:endParaRPr lang="en-US" sz="3100" dirty="0"/>
          </a:p>
        </p:txBody>
      </p:sp>
      <p:sp>
        <p:nvSpPr>
          <p:cNvPr id="4" name="Text 2"/>
          <p:cNvSpPr/>
          <p:nvPr/>
        </p:nvSpPr>
        <p:spPr>
          <a:xfrm>
            <a:off x="731520" y="1554480"/>
            <a:ext cx="2743200" cy="365760"/>
          </a:xfrm>
          <a:prstGeom prst="rect">
            <a:avLst/>
          </a:prstGeom>
          <a:noFill/>
          <a:ln/>
        </p:spPr>
        <p:txBody>
          <a:bodyPr wrap="square" lIns="0" tIns="0" rIns="0" bIns="0" rtlCol="0" anchor="t"/>
          <a:lstStyle/>
          <a:p>
            <a:pPr algn="l"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LE MÉCANISME</a:t>
            </a:r>
            <a:endParaRPr lang="en-US" sz="1200" dirty="0"/>
          </a:p>
        </p:txBody>
      </p:sp>
      <p:sp>
        <p:nvSpPr>
          <p:cNvPr id="5" name="Text 3"/>
          <p:cNvSpPr/>
          <p:nvPr/>
        </p:nvSpPr>
        <p:spPr>
          <a:xfrm>
            <a:off x="3657600" y="1554480"/>
            <a:ext cx="338328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CE QUI EST PAYÉ</a:t>
            </a:r>
            <a:endParaRPr lang="en-US" sz="1200" dirty="0"/>
          </a:p>
        </p:txBody>
      </p:sp>
      <p:sp>
        <p:nvSpPr>
          <p:cNvPr id="6" name="Text 4"/>
          <p:cNvSpPr/>
          <p:nvPr/>
        </p:nvSpPr>
        <p:spPr>
          <a:xfrm>
            <a:off x="7223760" y="1554480"/>
            <a:ext cx="429768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VERS QUOI CELA POUSSE</a:t>
            </a:r>
            <a:endParaRPr lang="en-US" sz="1200" dirty="0"/>
          </a:p>
        </p:txBody>
      </p:sp>
      <p:sp>
        <p:nvSpPr>
          <p:cNvPr id="7" name="Shape 5"/>
          <p:cNvSpPr/>
          <p:nvPr/>
        </p:nvSpPr>
        <p:spPr>
          <a:xfrm>
            <a:off x="594360" y="2011680"/>
            <a:ext cx="10972800" cy="932688"/>
          </a:xfrm>
          <a:prstGeom prst="roundRect">
            <a:avLst>
              <a:gd name="adj" fmla="val 8824"/>
            </a:avLst>
          </a:prstGeom>
          <a:solidFill>
            <a:srgbClr val="ECEAE4"/>
          </a:solidFill>
          <a:ln w="12700">
            <a:solidFill>
              <a:srgbClr val="ECEAE4"/>
            </a:solidFill>
            <a:prstDash val="solid"/>
          </a:ln>
        </p:spPr>
      </p:sp>
      <p:sp>
        <p:nvSpPr>
          <p:cNvPr id="8" name="Text 6"/>
          <p:cNvSpPr/>
          <p:nvPr/>
        </p:nvSpPr>
        <p:spPr>
          <a:xfrm>
            <a:off x="731520" y="2011680"/>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budget par postes</a:t>
            </a:r>
            <a:endParaRPr lang="en-US" sz="1650" dirty="0"/>
          </a:p>
        </p:txBody>
      </p:sp>
      <p:sp>
        <p:nvSpPr>
          <p:cNvPr id="9" name="Text 7"/>
          <p:cNvSpPr/>
          <p:nvPr/>
        </p:nvSpPr>
        <p:spPr>
          <a:xfrm>
            <a:off x="3657600" y="2011680"/>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somme fixe par poste de dépenses</a:t>
            </a:r>
            <a:endParaRPr lang="en-US" sz="1600" dirty="0"/>
          </a:p>
        </p:txBody>
      </p:sp>
      <p:sp>
        <p:nvSpPr>
          <p:cNvPr id="10" name="Text 8"/>
          <p:cNvSpPr/>
          <p:nvPr/>
        </p:nvSpPr>
        <p:spPr>
          <a:xfrm>
            <a:off x="7223760" y="2011680"/>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trop peu de services ; aucune attention aux résultats</a:t>
            </a:r>
            <a:endParaRPr lang="en-US" sz="1600" dirty="0"/>
          </a:p>
        </p:txBody>
      </p:sp>
      <p:sp>
        <p:nvSpPr>
          <p:cNvPr id="11" name="Shape 9"/>
          <p:cNvSpPr/>
          <p:nvPr/>
        </p:nvSpPr>
        <p:spPr>
          <a:xfrm>
            <a:off x="594360" y="3035808"/>
            <a:ext cx="10972800" cy="932688"/>
          </a:xfrm>
          <a:prstGeom prst="roundRect">
            <a:avLst>
              <a:gd name="adj" fmla="val 8824"/>
            </a:avLst>
          </a:prstGeom>
          <a:solidFill>
            <a:srgbClr val="ECEAE4"/>
          </a:solidFill>
          <a:ln w="12700">
            <a:solidFill>
              <a:srgbClr val="ECEAE4"/>
            </a:solidFill>
            <a:prstDash val="solid"/>
          </a:ln>
        </p:spPr>
      </p:sp>
      <p:sp>
        <p:nvSpPr>
          <p:cNvPr id="12" name="Text 10"/>
          <p:cNvSpPr/>
          <p:nvPr/>
        </p:nvSpPr>
        <p:spPr>
          <a:xfrm>
            <a:off x="731520" y="3035808"/>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budget global</a:t>
            </a:r>
            <a:endParaRPr lang="en-US" sz="1650" dirty="0"/>
          </a:p>
        </p:txBody>
      </p:sp>
      <p:sp>
        <p:nvSpPr>
          <p:cNvPr id="13" name="Text 11"/>
          <p:cNvSpPr/>
          <p:nvPr/>
        </p:nvSpPr>
        <p:spPr>
          <a:xfrm>
            <a:off x="3657600" y="3035808"/>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somme fixe pour une période, sans postes</a:t>
            </a:r>
            <a:endParaRPr lang="en-US" sz="1600" dirty="0"/>
          </a:p>
        </p:txBody>
      </p:sp>
      <p:sp>
        <p:nvSpPr>
          <p:cNvPr id="14" name="Text 12"/>
          <p:cNvSpPr/>
          <p:nvPr/>
        </p:nvSpPr>
        <p:spPr>
          <a:xfrm>
            <a:off x="7223760" y="3035808"/>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trop peu de services, place pour l’efficience</a:t>
            </a:r>
            <a:endParaRPr lang="en-US" sz="1600" dirty="0"/>
          </a:p>
        </p:txBody>
      </p:sp>
      <p:sp>
        <p:nvSpPr>
          <p:cNvPr id="15" name="Shape 13"/>
          <p:cNvSpPr/>
          <p:nvPr/>
        </p:nvSpPr>
        <p:spPr>
          <a:xfrm>
            <a:off x="594360" y="4059936"/>
            <a:ext cx="10972800" cy="932688"/>
          </a:xfrm>
          <a:prstGeom prst="roundRect">
            <a:avLst>
              <a:gd name="adj" fmla="val 8824"/>
            </a:avLst>
          </a:prstGeom>
          <a:solidFill>
            <a:srgbClr val="ECEAE4"/>
          </a:solidFill>
          <a:ln w="12700">
            <a:solidFill>
              <a:srgbClr val="ECEAE4"/>
            </a:solidFill>
            <a:prstDash val="solid"/>
          </a:ln>
        </p:spPr>
      </p:sp>
      <p:sp>
        <p:nvSpPr>
          <p:cNvPr id="16" name="Text 14"/>
          <p:cNvSpPr/>
          <p:nvPr/>
        </p:nvSpPr>
        <p:spPr>
          <a:xfrm>
            <a:off x="731520" y="4059936"/>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La capitation</a:t>
            </a:r>
            <a:endParaRPr lang="en-US" sz="1650" dirty="0"/>
          </a:p>
        </p:txBody>
      </p:sp>
      <p:sp>
        <p:nvSpPr>
          <p:cNvPr id="17" name="Text 15"/>
          <p:cNvSpPr/>
          <p:nvPr/>
        </p:nvSpPr>
        <p:spPr>
          <a:xfrm>
            <a:off x="3657600" y="4059936"/>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somme fixe par personne inscrite</a:t>
            </a:r>
            <a:endParaRPr lang="en-US" sz="1600" dirty="0"/>
          </a:p>
        </p:txBody>
      </p:sp>
      <p:sp>
        <p:nvSpPr>
          <p:cNvPr id="18" name="Text 16"/>
          <p:cNvSpPr/>
          <p:nvPr/>
        </p:nvSpPr>
        <p:spPr>
          <a:xfrm>
            <a:off x="7223760" y="4059936"/>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trop peu de services ; trop d’orientations</a:t>
            </a:r>
            <a:endParaRPr lang="en-US" sz="1600" dirty="0"/>
          </a:p>
        </p:txBody>
      </p:sp>
      <p:sp>
        <p:nvSpPr>
          <p:cNvPr id="19" name="Shape 17"/>
          <p:cNvSpPr/>
          <p:nvPr/>
        </p:nvSpPr>
        <p:spPr>
          <a:xfrm>
            <a:off x="594360" y="5084064"/>
            <a:ext cx="10972800" cy="932688"/>
          </a:xfrm>
          <a:prstGeom prst="roundRect">
            <a:avLst>
              <a:gd name="adj" fmla="val 8824"/>
            </a:avLst>
          </a:prstGeom>
          <a:solidFill>
            <a:srgbClr val="ECEAE4"/>
          </a:solidFill>
          <a:ln w="12700">
            <a:solidFill>
              <a:srgbClr val="ECEAE4"/>
            </a:solidFill>
            <a:prstDash val="solid"/>
          </a:ln>
        </p:spPr>
      </p:sp>
      <p:sp>
        <p:nvSpPr>
          <p:cNvPr id="20" name="Text 18"/>
          <p:cNvSpPr/>
          <p:nvPr/>
        </p:nvSpPr>
        <p:spPr>
          <a:xfrm>
            <a:off x="731520" y="5084064"/>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paiement à l’acte</a:t>
            </a:r>
            <a:endParaRPr lang="en-US" sz="1650" dirty="0"/>
          </a:p>
        </p:txBody>
      </p:sp>
      <p:sp>
        <p:nvSpPr>
          <p:cNvPr id="21" name="Text 19"/>
          <p:cNvSpPr/>
          <p:nvPr/>
        </p:nvSpPr>
        <p:spPr>
          <a:xfrm>
            <a:off x="3657600" y="5084064"/>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chaque service, à tarif fixe</a:t>
            </a:r>
            <a:endParaRPr lang="en-US" sz="1600" dirty="0"/>
          </a:p>
        </p:txBody>
      </p:sp>
      <p:sp>
        <p:nvSpPr>
          <p:cNvPr id="22" name="Text 20"/>
          <p:cNvSpPr/>
          <p:nvPr/>
        </p:nvSpPr>
        <p:spPr>
          <a:xfrm>
            <a:off x="7223760" y="5084064"/>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trop de services</a:t>
            </a:r>
            <a:endParaRPr lang="en-US" sz="16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synthèse sur l’achat stratégique des services, 2019, annexe 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MÉCANISMES DE PAIEMENT (2)</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La performance, le cas et la journée d’hospitalisation</a:t>
            </a:r>
            <a:endParaRPr lang="en-US" sz="3100" dirty="0"/>
          </a:p>
        </p:txBody>
      </p:sp>
      <p:sp>
        <p:nvSpPr>
          <p:cNvPr id="4" name="Text 2"/>
          <p:cNvSpPr/>
          <p:nvPr/>
        </p:nvSpPr>
        <p:spPr>
          <a:xfrm>
            <a:off x="731520" y="1554480"/>
            <a:ext cx="2743200" cy="365760"/>
          </a:xfrm>
          <a:prstGeom prst="rect">
            <a:avLst/>
          </a:prstGeom>
          <a:noFill/>
          <a:ln/>
        </p:spPr>
        <p:txBody>
          <a:bodyPr wrap="square" lIns="0" tIns="0" rIns="0" bIns="0" rtlCol="0" anchor="t"/>
          <a:lstStyle/>
          <a:p>
            <a:pPr algn="l"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LE MÉCANISME</a:t>
            </a:r>
            <a:endParaRPr lang="en-US" sz="1200" dirty="0"/>
          </a:p>
        </p:txBody>
      </p:sp>
      <p:sp>
        <p:nvSpPr>
          <p:cNvPr id="5" name="Text 3"/>
          <p:cNvSpPr/>
          <p:nvPr/>
        </p:nvSpPr>
        <p:spPr>
          <a:xfrm>
            <a:off x="3657600" y="1554480"/>
            <a:ext cx="338328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CE QUI EST PAYÉ</a:t>
            </a:r>
            <a:endParaRPr lang="en-US" sz="1200" dirty="0"/>
          </a:p>
        </p:txBody>
      </p:sp>
      <p:sp>
        <p:nvSpPr>
          <p:cNvPr id="6" name="Text 4"/>
          <p:cNvSpPr/>
          <p:nvPr/>
        </p:nvSpPr>
        <p:spPr>
          <a:xfrm>
            <a:off x="7223760" y="1554480"/>
            <a:ext cx="429768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VERS QUOI CELA POUSSE</a:t>
            </a:r>
            <a:endParaRPr lang="en-US" sz="1200" dirty="0"/>
          </a:p>
        </p:txBody>
      </p:sp>
      <p:sp>
        <p:nvSpPr>
          <p:cNvPr id="7" name="Shape 5"/>
          <p:cNvSpPr/>
          <p:nvPr/>
        </p:nvSpPr>
        <p:spPr>
          <a:xfrm>
            <a:off x="594360" y="2011680"/>
            <a:ext cx="10972800" cy="932688"/>
          </a:xfrm>
          <a:prstGeom prst="roundRect">
            <a:avLst>
              <a:gd name="adj" fmla="val 8824"/>
            </a:avLst>
          </a:prstGeom>
          <a:solidFill>
            <a:srgbClr val="ECEAE4"/>
          </a:solidFill>
          <a:ln w="12700">
            <a:solidFill>
              <a:srgbClr val="ECEAE4"/>
            </a:solidFill>
            <a:prstDash val="solid"/>
          </a:ln>
        </p:spPr>
      </p:sp>
      <p:sp>
        <p:nvSpPr>
          <p:cNvPr id="8" name="Text 6"/>
          <p:cNvSpPr/>
          <p:nvPr/>
        </p:nvSpPr>
        <p:spPr>
          <a:xfrm>
            <a:off x="731520" y="2011680"/>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paiement à la performance</a:t>
            </a:r>
            <a:endParaRPr lang="en-US" sz="1650" dirty="0"/>
          </a:p>
        </p:txBody>
      </p:sp>
      <p:sp>
        <p:nvSpPr>
          <p:cNvPr id="9" name="Text 7"/>
          <p:cNvSpPr/>
          <p:nvPr/>
        </p:nvSpPr>
        <p:spPr>
          <a:xfrm>
            <a:off x="3657600" y="2011680"/>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l’atteinte d’une cible fixée d’avance</a:t>
            </a:r>
            <a:endParaRPr lang="en-US" sz="1600" dirty="0"/>
          </a:p>
        </p:txBody>
      </p:sp>
      <p:sp>
        <p:nvSpPr>
          <p:cNvPr id="10" name="Text 8"/>
          <p:cNvSpPr/>
          <p:nvPr/>
        </p:nvSpPr>
        <p:spPr>
          <a:xfrm>
            <a:off x="7223760" y="2011680"/>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attention à ce qui est payé, parfois au détriment du reste</a:t>
            </a:r>
            <a:endParaRPr lang="en-US" sz="1600" dirty="0"/>
          </a:p>
        </p:txBody>
      </p:sp>
      <p:sp>
        <p:nvSpPr>
          <p:cNvPr id="11" name="Shape 9"/>
          <p:cNvSpPr/>
          <p:nvPr/>
        </p:nvSpPr>
        <p:spPr>
          <a:xfrm>
            <a:off x="594360" y="3035808"/>
            <a:ext cx="10972800" cy="932688"/>
          </a:xfrm>
          <a:prstGeom prst="roundRect">
            <a:avLst>
              <a:gd name="adj" fmla="val 8824"/>
            </a:avLst>
          </a:prstGeom>
          <a:solidFill>
            <a:srgbClr val="ECEAE4"/>
          </a:solidFill>
          <a:ln w="12700">
            <a:solidFill>
              <a:srgbClr val="ECEAE4"/>
            </a:solidFill>
            <a:prstDash val="solid"/>
          </a:ln>
        </p:spPr>
      </p:sp>
      <p:sp>
        <p:nvSpPr>
          <p:cNvPr id="12" name="Text 10"/>
          <p:cNvSpPr/>
          <p:nvPr/>
        </p:nvSpPr>
        <p:spPr>
          <a:xfrm>
            <a:off x="731520" y="3035808"/>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paiement par cas (DRG)</a:t>
            </a:r>
            <a:endParaRPr lang="en-US" sz="1650" dirty="0"/>
          </a:p>
        </p:txBody>
      </p:sp>
      <p:sp>
        <p:nvSpPr>
          <p:cNvPr id="13" name="Text 11"/>
          <p:cNvSpPr/>
          <p:nvPr/>
        </p:nvSpPr>
        <p:spPr>
          <a:xfrm>
            <a:off x="3657600" y="3035808"/>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somme fixe par séjour, selon les caractéristiques cliniques</a:t>
            </a:r>
            <a:endParaRPr lang="en-US" sz="1600" dirty="0"/>
          </a:p>
        </p:txBody>
      </p:sp>
      <p:sp>
        <p:nvSpPr>
          <p:cNvPr id="14" name="Text 12"/>
          <p:cNvSpPr/>
          <p:nvPr/>
        </p:nvSpPr>
        <p:spPr>
          <a:xfrm>
            <a:off x="7223760" y="3035808"/>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plus d’hospitalisations, coût plus bas par cas, évitement des cas lourds</a:t>
            </a:r>
            <a:endParaRPr lang="en-US" sz="1600" dirty="0"/>
          </a:p>
        </p:txBody>
      </p:sp>
      <p:sp>
        <p:nvSpPr>
          <p:cNvPr id="15" name="Shape 13"/>
          <p:cNvSpPr/>
          <p:nvPr/>
        </p:nvSpPr>
        <p:spPr>
          <a:xfrm>
            <a:off x="594360" y="4059936"/>
            <a:ext cx="10972800" cy="932688"/>
          </a:xfrm>
          <a:prstGeom prst="roundRect">
            <a:avLst>
              <a:gd name="adj" fmla="val 8824"/>
            </a:avLst>
          </a:prstGeom>
          <a:solidFill>
            <a:srgbClr val="ECEAE4"/>
          </a:solidFill>
          <a:ln w="12700">
            <a:solidFill>
              <a:srgbClr val="ECEAE4"/>
            </a:solidFill>
            <a:prstDash val="solid"/>
          </a:ln>
        </p:spPr>
      </p:sp>
      <p:sp>
        <p:nvSpPr>
          <p:cNvPr id="16" name="Text 14"/>
          <p:cNvSpPr/>
          <p:nvPr/>
        </p:nvSpPr>
        <p:spPr>
          <a:xfrm>
            <a:off x="731520" y="4059936"/>
            <a:ext cx="2651760" cy="932688"/>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Le paiement à la journée</a:t>
            </a:r>
            <a:endParaRPr lang="en-US" sz="1650" dirty="0"/>
          </a:p>
        </p:txBody>
      </p:sp>
      <p:sp>
        <p:nvSpPr>
          <p:cNvPr id="17" name="Text 15"/>
          <p:cNvSpPr/>
          <p:nvPr/>
        </p:nvSpPr>
        <p:spPr>
          <a:xfrm>
            <a:off x="3657600" y="4059936"/>
            <a:ext cx="32918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somme fixe par journée d’hospitalisation</a:t>
            </a:r>
            <a:endParaRPr lang="en-US" sz="1600" dirty="0"/>
          </a:p>
        </p:txBody>
      </p:sp>
      <p:sp>
        <p:nvSpPr>
          <p:cNvPr id="18" name="Text 16"/>
          <p:cNvSpPr/>
          <p:nvPr/>
        </p:nvSpPr>
        <p:spPr>
          <a:xfrm>
            <a:off x="7223760" y="4059936"/>
            <a:ext cx="4206240" cy="932688"/>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séjours prolongés, sélection des patients</a:t>
            </a:r>
            <a:endParaRPr lang="en-US" sz="16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synthèse sur l’achat stratégique des services, 2019, annexe 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SALAIRE ET LES COMBINAISONS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Aucun mécanisme n’est bon seul</a:t>
            </a:r>
            <a:endParaRPr lang="en-US" sz="3100" dirty="0"/>
          </a:p>
        </p:txBody>
      </p:sp>
      <p:sp>
        <p:nvSpPr>
          <p:cNvPr id="4" name="Shape 2"/>
          <p:cNvSpPr/>
          <p:nvPr/>
        </p:nvSpPr>
        <p:spPr>
          <a:xfrm>
            <a:off x="594360" y="1645920"/>
            <a:ext cx="3505200" cy="3291840"/>
          </a:xfrm>
          <a:prstGeom prst="roundRect">
            <a:avLst>
              <a:gd name="adj" fmla="val 2500"/>
            </a:avLst>
          </a:prstGeom>
          <a:solidFill>
            <a:srgbClr val="1D1F2B"/>
          </a:solidFill>
          <a:ln w="12700">
            <a:solidFill>
              <a:srgbClr val="1D1F2B"/>
            </a:solidFill>
            <a:prstDash val="solid"/>
          </a:ln>
        </p:spPr>
      </p:sp>
      <p:sp>
        <p:nvSpPr>
          <p:cNvPr id="5" name="Text 3"/>
          <p:cNvSpPr/>
          <p:nvPr/>
        </p:nvSpPr>
        <p:spPr>
          <a:xfrm>
            <a:off x="795528" y="1773936"/>
            <a:ext cx="31028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LE SALAIRE</a:t>
            </a:r>
            <a:endParaRPr lang="en-US" sz="1300" dirty="0"/>
          </a:p>
        </p:txBody>
      </p:sp>
      <p:sp>
        <p:nvSpPr>
          <p:cNvPr id="6" name="Text 4"/>
          <p:cNvSpPr/>
          <p:nvPr/>
        </p:nvSpPr>
        <p:spPr>
          <a:xfrm>
            <a:off x="7955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médecins des hôpitaux, des ambulatoires publics et de la santé publique ; ne lie le revenu ni au volume ni à la qualité</a:t>
            </a:r>
            <a:endParaRPr lang="en-US" sz="1800" dirty="0"/>
          </a:p>
        </p:txBody>
      </p:sp>
      <p:sp>
        <p:nvSpPr>
          <p:cNvPr id="7" name="Shape 5"/>
          <p:cNvSpPr/>
          <p:nvPr/>
        </p:nvSpPr>
        <p:spPr>
          <a:xfrm>
            <a:off x="4328160" y="1645920"/>
            <a:ext cx="3505200" cy="3291840"/>
          </a:xfrm>
          <a:prstGeom prst="roundRect">
            <a:avLst>
              <a:gd name="adj" fmla="val 2500"/>
            </a:avLst>
          </a:prstGeom>
          <a:solidFill>
            <a:srgbClr val="1D1F2B"/>
          </a:solidFill>
          <a:ln w="12700">
            <a:solidFill>
              <a:srgbClr val="1D1F2B"/>
            </a:solidFill>
            <a:prstDash val="solid"/>
          </a:ln>
        </p:spPr>
      </p:sp>
      <p:sp>
        <p:nvSpPr>
          <p:cNvPr id="8" name="Text 6"/>
          <p:cNvSpPr/>
          <p:nvPr/>
        </p:nvSpPr>
        <p:spPr>
          <a:xfrm>
            <a:off x="4529328" y="1773936"/>
            <a:ext cx="31028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2018</a:t>
            </a:r>
            <a:endParaRPr lang="en-US" sz="1300" dirty="0"/>
          </a:p>
        </p:txBody>
      </p:sp>
      <p:sp>
        <p:nvSpPr>
          <p:cNvPr id="9" name="Text 7"/>
          <p:cNvSpPr/>
          <p:nvPr/>
        </p:nvSpPr>
        <p:spPr>
          <a:xfrm>
            <a:off x="45293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salaires des médecins et des infirmières ont augmenté de 70 % à 172 %, primes comprises</a:t>
            </a:r>
            <a:endParaRPr lang="en-US" sz="1800" dirty="0"/>
          </a:p>
        </p:txBody>
      </p:sp>
      <p:sp>
        <p:nvSpPr>
          <p:cNvPr id="10" name="Shape 8"/>
          <p:cNvSpPr/>
          <p:nvPr/>
        </p:nvSpPr>
        <p:spPr>
          <a:xfrm>
            <a:off x="8061960" y="1645920"/>
            <a:ext cx="3505200" cy="3291840"/>
          </a:xfrm>
          <a:prstGeom prst="roundRect">
            <a:avLst>
              <a:gd name="adj" fmla="val 2500"/>
            </a:avLst>
          </a:prstGeom>
          <a:solidFill>
            <a:srgbClr val="1D1F2B"/>
          </a:solidFill>
          <a:ln w="12700">
            <a:solidFill>
              <a:srgbClr val="1D1F2B"/>
            </a:solidFill>
            <a:prstDash val="solid"/>
          </a:ln>
        </p:spPr>
      </p:sp>
      <p:sp>
        <p:nvSpPr>
          <p:cNvPr id="11" name="Text 9"/>
          <p:cNvSpPr/>
          <p:nvPr/>
        </p:nvSpPr>
        <p:spPr>
          <a:xfrm>
            <a:off x="8263128" y="1773936"/>
            <a:ext cx="31028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LES COMBINAISONS</a:t>
            </a:r>
            <a:endParaRPr lang="en-US" sz="1300" dirty="0"/>
          </a:p>
        </p:txBody>
      </p:sp>
      <p:sp>
        <p:nvSpPr>
          <p:cNvPr id="12" name="Text 10"/>
          <p:cNvSpPr/>
          <p:nvPr/>
        </p:nvSpPr>
        <p:spPr>
          <a:xfrm>
            <a:off x="82631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l’acte sans plafond mène à trop de services ; la capitation protège le budget ; la performance ne corrige que ce qu’elle mesure</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ROUMANIE · LE MÉDECIN DE FAMILLE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Par habitant, à l’acte et à la performance</a:t>
            </a:r>
            <a:endParaRPr lang="en-US" sz="3000" dirty="0"/>
          </a:p>
        </p:txBody>
      </p:sp>
      <p:sp>
        <p:nvSpPr>
          <p:cNvPr id="4" name="Text 2"/>
          <p:cNvSpPr/>
          <p:nvPr/>
        </p:nvSpPr>
        <p:spPr>
          <a:xfrm>
            <a:off x="594360" y="1554480"/>
            <a:ext cx="10972800" cy="365760"/>
          </a:xfrm>
          <a:prstGeom prst="rect">
            <a:avLst/>
          </a:prstGeom>
          <a:noFill/>
          <a:ln/>
        </p:spPr>
        <p:txBody>
          <a:bodyPr wrap="square" lIns="0" tIns="0" rIns="0" bIns="0" rtlCol="0" anchor="t"/>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Paiement par habitant / à l’acte, en points</a:t>
            </a:r>
            <a:endParaRPr lang="en-US" sz="1400" dirty="0"/>
          </a:p>
        </p:txBody>
      </p:sp>
      <p:sp>
        <p:nvSpPr>
          <p:cNvPr id="5" name="Text 3"/>
          <p:cNvSpPr/>
          <p:nvPr/>
        </p:nvSpPr>
        <p:spPr>
          <a:xfrm>
            <a:off x="594360" y="2011680"/>
            <a:ext cx="2103120" cy="59436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Jusqu’en 2023</a:t>
            </a:r>
            <a:endParaRPr lang="en-US" sz="1600" dirty="0"/>
          </a:p>
        </p:txBody>
      </p:sp>
      <p:sp>
        <p:nvSpPr>
          <p:cNvPr id="6" name="Shape 4"/>
          <p:cNvSpPr/>
          <p:nvPr/>
        </p:nvSpPr>
        <p:spPr>
          <a:xfrm>
            <a:off x="2743200" y="2011680"/>
            <a:ext cx="3840480" cy="594360"/>
          </a:xfrm>
          <a:prstGeom prst="rect">
            <a:avLst/>
          </a:prstGeom>
          <a:solidFill>
            <a:srgbClr val="0E7C6B"/>
          </a:solidFill>
          <a:ln w="12700">
            <a:solidFill>
              <a:srgbClr val="0E7C6B"/>
            </a:solidFill>
            <a:prstDash val="solid"/>
          </a:ln>
        </p:spPr>
      </p:sp>
      <p:sp>
        <p:nvSpPr>
          <p:cNvPr id="7" name="Shape 5"/>
          <p:cNvSpPr/>
          <p:nvPr/>
        </p:nvSpPr>
        <p:spPr>
          <a:xfrm>
            <a:off x="6583680" y="2011680"/>
            <a:ext cx="3840480" cy="594360"/>
          </a:xfrm>
          <a:prstGeom prst="rect">
            <a:avLst/>
          </a:prstGeom>
          <a:solidFill>
            <a:srgbClr val="4A2D8C"/>
          </a:solidFill>
          <a:ln w="12700">
            <a:solidFill>
              <a:srgbClr val="4A2D8C"/>
            </a:solidFill>
            <a:prstDash val="solid"/>
          </a:ln>
        </p:spPr>
      </p:sp>
      <p:sp>
        <p:nvSpPr>
          <p:cNvPr id="8" name="Text 6"/>
          <p:cNvSpPr/>
          <p:nvPr/>
        </p:nvSpPr>
        <p:spPr>
          <a:xfrm>
            <a:off x="2743200" y="2011680"/>
            <a:ext cx="76809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50 % / 50 %</a:t>
            </a:r>
            <a:endParaRPr lang="en-US" sz="1800" dirty="0"/>
          </a:p>
        </p:txBody>
      </p:sp>
      <p:sp>
        <p:nvSpPr>
          <p:cNvPr id="9" name="Text 7"/>
          <p:cNvSpPr/>
          <p:nvPr/>
        </p:nvSpPr>
        <p:spPr>
          <a:xfrm>
            <a:off x="594360" y="2788920"/>
            <a:ext cx="2103120" cy="59436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Depuis 2023</a:t>
            </a:r>
            <a:endParaRPr lang="en-US" sz="1600" dirty="0"/>
          </a:p>
        </p:txBody>
      </p:sp>
      <p:sp>
        <p:nvSpPr>
          <p:cNvPr id="10" name="Shape 8"/>
          <p:cNvSpPr/>
          <p:nvPr/>
        </p:nvSpPr>
        <p:spPr>
          <a:xfrm>
            <a:off x="2743200" y="2788920"/>
            <a:ext cx="2688336" cy="594360"/>
          </a:xfrm>
          <a:prstGeom prst="rect">
            <a:avLst/>
          </a:prstGeom>
          <a:solidFill>
            <a:srgbClr val="0E7C6B"/>
          </a:solidFill>
          <a:ln w="12700">
            <a:solidFill>
              <a:srgbClr val="0E7C6B"/>
            </a:solidFill>
            <a:prstDash val="solid"/>
          </a:ln>
        </p:spPr>
      </p:sp>
      <p:sp>
        <p:nvSpPr>
          <p:cNvPr id="11" name="Shape 9"/>
          <p:cNvSpPr/>
          <p:nvPr/>
        </p:nvSpPr>
        <p:spPr>
          <a:xfrm>
            <a:off x="5431536" y="2788920"/>
            <a:ext cx="4992624" cy="594360"/>
          </a:xfrm>
          <a:prstGeom prst="rect">
            <a:avLst/>
          </a:prstGeom>
          <a:solidFill>
            <a:srgbClr val="4A2D8C"/>
          </a:solidFill>
          <a:ln w="12700">
            <a:solidFill>
              <a:srgbClr val="4A2D8C"/>
            </a:solidFill>
            <a:prstDash val="solid"/>
          </a:ln>
        </p:spPr>
      </p:sp>
      <p:sp>
        <p:nvSpPr>
          <p:cNvPr id="12" name="Text 10"/>
          <p:cNvSpPr/>
          <p:nvPr/>
        </p:nvSpPr>
        <p:spPr>
          <a:xfrm>
            <a:off x="2743200" y="2788920"/>
            <a:ext cx="76809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35 % / 65 %</a:t>
            </a:r>
            <a:endParaRPr lang="en-US" sz="1800" dirty="0"/>
          </a:p>
        </p:txBody>
      </p:sp>
      <p:sp>
        <p:nvSpPr>
          <p:cNvPr id="13" name="Shape 11"/>
          <p:cNvSpPr/>
          <p:nvPr/>
        </p:nvSpPr>
        <p:spPr>
          <a:xfrm>
            <a:off x="594360" y="3657600"/>
            <a:ext cx="5372100" cy="1828800"/>
          </a:xfrm>
          <a:prstGeom prst="roundRect">
            <a:avLst>
              <a:gd name="adj" fmla="val 4500"/>
            </a:avLst>
          </a:prstGeom>
          <a:solidFill>
            <a:srgbClr val="ECEAE4"/>
          </a:solidFill>
          <a:ln w="12700">
            <a:solidFill>
              <a:srgbClr val="ECEAE4"/>
            </a:solidFill>
            <a:prstDash val="solid"/>
          </a:ln>
        </p:spPr>
      </p:sp>
      <p:sp>
        <p:nvSpPr>
          <p:cNvPr id="14" name="Text 12"/>
          <p:cNvSpPr/>
          <p:nvPr/>
        </p:nvSpPr>
        <p:spPr>
          <a:xfrm>
            <a:off x="795528" y="3785616"/>
            <a:ext cx="4969764" cy="384048"/>
          </a:xfrm>
          <a:prstGeom prst="rect">
            <a:avLst/>
          </a:prstGeom>
          <a:noFill/>
          <a:ln/>
        </p:spPr>
        <p:txBody>
          <a:bodyPr wrap="square" lIns="0" tIns="0" rIns="0" bIns="0" rtlCol="0" anchor="t"/>
          <a:lstStyle/>
          <a:p>
            <a:pPr indent="0" marL="0">
              <a:buNone/>
            </a:pPr>
            <a:r>
              <a:rPr lang="en-US" sz="1300" b="1" spc="100" kern="0" dirty="0">
                <a:solidFill>
                  <a:srgbClr val="9C4A0A"/>
                </a:solidFill>
                <a:latin typeface="Palatino Linotype" pitchFamily="34" charset="0"/>
                <a:ea typeface="Palatino Linotype" pitchFamily="34" charset="-122"/>
                <a:cs typeface="Palatino Linotype" pitchFamily="34" charset="-120"/>
              </a:rPr>
              <a:t>LA PERFORMANCE</a:t>
            </a:r>
            <a:endParaRPr lang="en-US" sz="1300" dirty="0"/>
          </a:p>
        </p:txBody>
      </p:sp>
      <p:sp>
        <p:nvSpPr>
          <p:cNvPr id="15" name="Text 13"/>
          <p:cNvSpPr/>
          <p:nvPr/>
        </p:nvSpPr>
        <p:spPr>
          <a:xfrm>
            <a:off x="795528" y="4169664"/>
            <a:ext cx="4969764" cy="11887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depuis 2023, une somme annuelle sur indicateurs ; premiers paiements en 2025, pour 2024</a:t>
            </a:r>
            <a:endParaRPr lang="en-US" sz="1700" dirty="0"/>
          </a:p>
        </p:txBody>
      </p:sp>
      <p:sp>
        <p:nvSpPr>
          <p:cNvPr id="16" name="Shape 14"/>
          <p:cNvSpPr/>
          <p:nvPr/>
        </p:nvSpPr>
        <p:spPr>
          <a:xfrm>
            <a:off x="6195060" y="3657600"/>
            <a:ext cx="5372100" cy="1828800"/>
          </a:xfrm>
          <a:prstGeom prst="roundRect">
            <a:avLst>
              <a:gd name="adj" fmla="val 4500"/>
            </a:avLst>
          </a:prstGeom>
          <a:solidFill>
            <a:srgbClr val="ECEAE4"/>
          </a:solidFill>
          <a:ln w="12700">
            <a:solidFill>
              <a:srgbClr val="ECEAE4"/>
            </a:solidFill>
            <a:prstDash val="solid"/>
          </a:ln>
        </p:spPr>
      </p:sp>
      <p:sp>
        <p:nvSpPr>
          <p:cNvPr id="17" name="Text 15"/>
          <p:cNvSpPr/>
          <p:nvPr/>
        </p:nvSpPr>
        <p:spPr>
          <a:xfrm>
            <a:off x="6396228" y="3785616"/>
            <a:ext cx="49697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LES PLAFONDS</a:t>
            </a:r>
            <a:endParaRPr lang="en-US" sz="1300" dirty="0"/>
          </a:p>
        </p:txBody>
      </p:sp>
      <p:sp>
        <p:nvSpPr>
          <p:cNvPr id="18" name="Text 16"/>
          <p:cNvSpPr/>
          <p:nvPr/>
        </p:nvSpPr>
        <p:spPr>
          <a:xfrm>
            <a:off x="6396228" y="4169664"/>
            <a:ext cx="4969764" cy="11887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au plus 2 200 patients inscrits ; au-delà de 18 700 points par an, les points remboursés diminuent</a:t>
            </a:r>
            <a:endParaRPr lang="en-US" sz="17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ROUMANIE · L’AMBULATOIRE ET L’HÔPITAL</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Les caisses contractent avec tous les prestataires éligibles</a:t>
            </a:r>
            <a:endParaRPr lang="en-US" sz="3000" dirty="0"/>
          </a:p>
        </p:txBody>
      </p:sp>
      <p:sp>
        <p:nvSpPr>
          <p:cNvPr id="4" name="Shape 2"/>
          <p:cNvSpPr/>
          <p:nvPr/>
        </p:nvSpPr>
        <p:spPr>
          <a:xfrm>
            <a:off x="594360" y="1645920"/>
            <a:ext cx="3505200" cy="3291840"/>
          </a:xfrm>
          <a:prstGeom prst="roundRect">
            <a:avLst>
              <a:gd name="adj" fmla="val 2500"/>
            </a:avLst>
          </a:prstGeom>
          <a:solidFill>
            <a:srgbClr val="1D1F2B"/>
          </a:solidFill>
          <a:ln w="12700">
            <a:solidFill>
              <a:srgbClr val="1D1F2B"/>
            </a:solidFill>
            <a:prstDash val="solid"/>
          </a:ln>
        </p:spPr>
      </p:sp>
      <p:sp>
        <p:nvSpPr>
          <p:cNvPr id="5" name="Text 3"/>
          <p:cNvSpPr/>
          <p:nvPr/>
        </p:nvSpPr>
        <p:spPr>
          <a:xfrm>
            <a:off x="795528" y="1773936"/>
            <a:ext cx="31028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L’AMBULATOIRE</a:t>
            </a:r>
            <a:endParaRPr lang="en-US" sz="1300" dirty="0"/>
          </a:p>
        </p:txBody>
      </p:sp>
      <p:sp>
        <p:nvSpPr>
          <p:cNvPr id="6" name="Text 4"/>
          <p:cNvSpPr/>
          <p:nvPr/>
        </p:nvSpPr>
        <p:spPr>
          <a:xfrm>
            <a:off x="7955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à l’acte, en points ou en lei ; en moyenne 28 services par jour, 15 minutes par consultation</a:t>
            </a:r>
            <a:endParaRPr lang="en-US" sz="1800" dirty="0"/>
          </a:p>
        </p:txBody>
      </p:sp>
      <p:sp>
        <p:nvSpPr>
          <p:cNvPr id="7" name="Shape 5"/>
          <p:cNvSpPr/>
          <p:nvPr/>
        </p:nvSpPr>
        <p:spPr>
          <a:xfrm>
            <a:off x="4328160" y="1645920"/>
            <a:ext cx="3505200" cy="3291840"/>
          </a:xfrm>
          <a:prstGeom prst="roundRect">
            <a:avLst>
              <a:gd name="adj" fmla="val 2500"/>
            </a:avLst>
          </a:prstGeom>
          <a:solidFill>
            <a:srgbClr val="1D1F2B"/>
          </a:solidFill>
          <a:ln w="12700">
            <a:solidFill>
              <a:srgbClr val="1D1F2B"/>
            </a:solidFill>
            <a:prstDash val="solid"/>
          </a:ln>
        </p:spPr>
      </p:sp>
      <p:sp>
        <p:nvSpPr>
          <p:cNvPr id="8" name="Text 6"/>
          <p:cNvSpPr/>
          <p:nvPr/>
        </p:nvSpPr>
        <p:spPr>
          <a:xfrm>
            <a:off x="4529328" y="1773936"/>
            <a:ext cx="31028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L’HÔPITAL</a:t>
            </a:r>
            <a:endParaRPr lang="en-US" sz="1300" dirty="0"/>
          </a:p>
        </p:txBody>
      </p:sp>
      <p:sp>
        <p:nvSpPr>
          <p:cNvPr id="9" name="Text 7"/>
          <p:cNvSpPr/>
          <p:nvPr/>
        </p:nvSpPr>
        <p:spPr>
          <a:xfrm>
            <a:off x="45293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DRG pour les aigus ; paiement à la journée pour les chroniques ; par cas pour l’hôpital de jour ; programmes nationaux</a:t>
            </a:r>
            <a:endParaRPr lang="en-US" sz="1800" dirty="0"/>
          </a:p>
        </p:txBody>
      </p:sp>
      <p:sp>
        <p:nvSpPr>
          <p:cNvPr id="10" name="Shape 8"/>
          <p:cNvSpPr/>
          <p:nvPr/>
        </p:nvSpPr>
        <p:spPr>
          <a:xfrm>
            <a:off x="8061960" y="1645920"/>
            <a:ext cx="3505200" cy="3291840"/>
          </a:xfrm>
          <a:prstGeom prst="roundRect">
            <a:avLst>
              <a:gd name="adj" fmla="val 2500"/>
            </a:avLst>
          </a:prstGeom>
          <a:solidFill>
            <a:srgbClr val="1D1F2B"/>
          </a:solidFill>
          <a:ln w="12700">
            <a:solidFill>
              <a:srgbClr val="1D1F2B"/>
            </a:solidFill>
            <a:prstDash val="solid"/>
          </a:ln>
        </p:spPr>
      </p:sp>
      <p:sp>
        <p:nvSpPr>
          <p:cNvPr id="11" name="Text 9"/>
          <p:cNvSpPr/>
          <p:nvPr/>
        </p:nvSpPr>
        <p:spPr>
          <a:xfrm>
            <a:off x="8263128" y="1773936"/>
            <a:ext cx="310286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LES CAISSES</a:t>
            </a:r>
            <a:endParaRPr lang="en-US" sz="1300" dirty="0"/>
          </a:p>
        </p:txBody>
      </p:sp>
      <p:sp>
        <p:nvSpPr>
          <p:cNvPr id="12" name="Text 10"/>
          <p:cNvSpPr/>
          <p:nvPr/>
        </p:nvSpPr>
        <p:spPr>
          <a:xfrm>
            <a:off x="8263128" y="2157984"/>
            <a:ext cx="3102864" cy="2651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ne choisissent pas leurs prestataires ; tarifs fixes, volume négocié dans la limite du budget</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QU’EST-CE QUE LE SYSTÈME DRG</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Groupes de diagnostics : cliniquement proches, coût proche</a:t>
            </a:r>
            <a:endParaRPr lang="en-US" sz="2900" dirty="0"/>
          </a:p>
        </p:txBody>
      </p:sp>
      <p:sp>
        <p:nvSpPr>
          <p:cNvPr id="4" name="Shape 2"/>
          <p:cNvSpPr/>
          <p:nvPr/>
        </p:nvSpPr>
        <p:spPr>
          <a:xfrm>
            <a:off x="594360" y="1554480"/>
            <a:ext cx="10972800" cy="1005840"/>
          </a:xfrm>
          <a:prstGeom prst="roundRect">
            <a:avLst>
              <a:gd name="adj" fmla="val 8182"/>
            </a:avLst>
          </a:prstGeom>
          <a:solidFill>
            <a:srgbClr val="ECEAE4"/>
          </a:solidFill>
          <a:ln w="12700">
            <a:solidFill>
              <a:srgbClr val="ECEAE4"/>
            </a:solidFill>
            <a:prstDash val="solid"/>
          </a:ln>
        </p:spPr>
      </p:sp>
      <p:sp>
        <p:nvSpPr>
          <p:cNvPr id="5" name="Text 3"/>
          <p:cNvSpPr/>
          <p:nvPr/>
        </p:nvSpPr>
        <p:spPr>
          <a:xfrm>
            <a:off x="868680" y="1554480"/>
            <a:ext cx="10424160" cy="100584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Les patients sortis sont classés en groupes cliniquement semblables, qui consomment des ressources semblables.</a:t>
            </a:r>
            <a:endParaRPr lang="en-US" sz="1900" dirty="0"/>
          </a:p>
        </p:txBody>
      </p:sp>
      <p:sp>
        <p:nvSpPr>
          <p:cNvPr id="6" name="Shape 4"/>
          <p:cNvSpPr/>
          <p:nvPr/>
        </p:nvSpPr>
        <p:spPr>
          <a:xfrm>
            <a:off x="594360" y="2788920"/>
            <a:ext cx="3505200" cy="2377440"/>
          </a:xfrm>
          <a:prstGeom prst="roundRect">
            <a:avLst>
              <a:gd name="adj" fmla="val 3462"/>
            </a:avLst>
          </a:prstGeom>
          <a:solidFill>
            <a:srgbClr val="ECEAE4"/>
          </a:solidFill>
          <a:ln w="12700">
            <a:solidFill>
              <a:srgbClr val="ECEAE4"/>
            </a:solidFill>
            <a:prstDash val="solid"/>
          </a:ln>
        </p:spPr>
      </p:sp>
      <p:sp>
        <p:nvSpPr>
          <p:cNvPr id="7" name="Text 5"/>
          <p:cNvSpPr/>
          <p:nvPr/>
        </p:nvSpPr>
        <p:spPr>
          <a:xfrm>
            <a:off x="795528" y="2916936"/>
            <a:ext cx="31028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L’ORIGINE</a:t>
            </a:r>
            <a:endParaRPr lang="en-US" sz="1300" dirty="0"/>
          </a:p>
        </p:txBody>
      </p:sp>
      <p:sp>
        <p:nvSpPr>
          <p:cNvPr id="8" name="Text 6"/>
          <p:cNvSpPr/>
          <p:nvPr/>
        </p:nvSpPr>
        <p:spPr>
          <a:xfrm>
            <a:off x="795528" y="3300984"/>
            <a:ext cx="3102864"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années 70, Université Yale : médecins, statisticiens et économistes voulant évaluer les hôpitaux</a:t>
            </a:r>
            <a:endParaRPr lang="en-US" sz="1700" dirty="0"/>
          </a:p>
        </p:txBody>
      </p:sp>
      <p:sp>
        <p:nvSpPr>
          <p:cNvPr id="9" name="Shape 7"/>
          <p:cNvSpPr/>
          <p:nvPr/>
        </p:nvSpPr>
        <p:spPr>
          <a:xfrm>
            <a:off x="4328160" y="2788920"/>
            <a:ext cx="3505200" cy="2377440"/>
          </a:xfrm>
          <a:prstGeom prst="roundRect">
            <a:avLst>
              <a:gd name="adj" fmla="val 3462"/>
            </a:avLst>
          </a:prstGeom>
          <a:solidFill>
            <a:srgbClr val="ECEAE4"/>
          </a:solidFill>
          <a:ln w="12700">
            <a:solidFill>
              <a:srgbClr val="ECEAE4"/>
            </a:solidFill>
            <a:prstDash val="solid"/>
          </a:ln>
        </p:spPr>
      </p:sp>
      <p:sp>
        <p:nvSpPr>
          <p:cNvPr id="10" name="Text 8"/>
          <p:cNvSpPr/>
          <p:nvPr/>
        </p:nvSpPr>
        <p:spPr>
          <a:xfrm>
            <a:off x="4529328" y="2916936"/>
            <a:ext cx="31028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LE SECOND CRITÈRE</a:t>
            </a:r>
            <a:endParaRPr lang="en-US" sz="1300" dirty="0"/>
          </a:p>
        </p:txBody>
      </p:sp>
      <p:sp>
        <p:nvSpPr>
          <p:cNvPr id="11" name="Text 9"/>
          <p:cNvSpPr/>
          <p:nvPr/>
        </p:nvSpPr>
        <p:spPr>
          <a:xfrm>
            <a:off x="4529328" y="3300984"/>
            <a:ext cx="3102864"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classification des maladies ordonne les diagnostics ; les DRG ajoutent le coût des soins</a:t>
            </a:r>
            <a:endParaRPr lang="en-US" sz="1700" dirty="0"/>
          </a:p>
        </p:txBody>
      </p:sp>
      <p:sp>
        <p:nvSpPr>
          <p:cNvPr id="12" name="Shape 10"/>
          <p:cNvSpPr/>
          <p:nvPr/>
        </p:nvSpPr>
        <p:spPr>
          <a:xfrm>
            <a:off x="8061960" y="2788920"/>
            <a:ext cx="3505200" cy="2377440"/>
          </a:xfrm>
          <a:prstGeom prst="roundRect">
            <a:avLst>
              <a:gd name="adj" fmla="val 3462"/>
            </a:avLst>
          </a:prstGeom>
          <a:solidFill>
            <a:srgbClr val="ECEAE4"/>
          </a:solidFill>
          <a:ln w="12700">
            <a:solidFill>
              <a:srgbClr val="ECEAE4"/>
            </a:solidFill>
            <a:prstDash val="solid"/>
          </a:ln>
        </p:spPr>
      </p:sp>
      <p:sp>
        <p:nvSpPr>
          <p:cNvPr id="13" name="Text 11"/>
          <p:cNvSpPr/>
          <p:nvPr/>
        </p:nvSpPr>
        <p:spPr>
          <a:xfrm>
            <a:off x="8263128" y="2916936"/>
            <a:ext cx="31028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DEUX SORTES</a:t>
            </a:r>
            <a:endParaRPr lang="en-US" sz="1300" dirty="0"/>
          </a:p>
        </p:txBody>
      </p:sp>
      <p:sp>
        <p:nvSpPr>
          <p:cNvPr id="14" name="Text 12"/>
          <p:cNvSpPr/>
          <p:nvPr/>
        </p:nvSpPr>
        <p:spPr>
          <a:xfrm>
            <a:off x="8263128" y="3300984"/>
            <a:ext cx="3102864"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groupes médicaux et groupes chirurgicaux, selon l’intervention chirurgicale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CLASSEMENT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Sept variables obligatoires</a:t>
            </a:r>
            <a:endParaRPr lang="en-US" sz="3200" dirty="0"/>
          </a:p>
        </p:txBody>
      </p:sp>
      <p:sp>
        <p:nvSpPr>
          <p:cNvPr id="4" name="Shape 2"/>
          <p:cNvSpPr/>
          <p:nvPr/>
        </p:nvSpPr>
        <p:spPr>
          <a:xfrm>
            <a:off x="594360" y="1691640"/>
            <a:ext cx="2606040" cy="1051560"/>
          </a:xfrm>
          <a:prstGeom prst="roundRect">
            <a:avLst>
              <a:gd name="adj" fmla="val 7826"/>
            </a:avLst>
          </a:prstGeom>
          <a:solidFill>
            <a:srgbClr val="FF4757"/>
          </a:solidFill>
          <a:ln w="12700">
            <a:solidFill>
              <a:srgbClr val="FF4757"/>
            </a:solidFill>
            <a:prstDash val="solid"/>
          </a:ln>
        </p:spPr>
      </p:sp>
      <p:sp>
        <p:nvSpPr>
          <p:cNvPr id="5" name="Text 3"/>
          <p:cNvSpPr/>
          <p:nvPr/>
        </p:nvSpPr>
        <p:spPr>
          <a:xfrm>
            <a:off x="731520" y="1691640"/>
            <a:ext cx="233172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L’âge</a:t>
            </a:r>
            <a:endParaRPr lang="en-US" sz="1600" dirty="0"/>
          </a:p>
        </p:txBody>
      </p:sp>
      <p:sp>
        <p:nvSpPr>
          <p:cNvPr id="6" name="Shape 4"/>
          <p:cNvSpPr/>
          <p:nvPr/>
        </p:nvSpPr>
        <p:spPr>
          <a:xfrm>
            <a:off x="3383280" y="1691640"/>
            <a:ext cx="2606040" cy="1051560"/>
          </a:xfrm>
          <a:prstGeom prst="roundRect">
            <a:avLst>
              <a:gd name="adj" fmla="val 7826"/>
            </a:avLst>
          </a:prstGeom>
          <a:solidFill>
            <a:srgbClr val="FF8A3D"/>
          </a:solidFill>
          <a:ln w="12700">
            <a:solidFill>
              <a:srgbClr val="FF8A3D"/>
            </a:solidFill>
            <a:prstDash val="solid"/>
          </a:ln>
        </p:spPr>
      </p:sp>
      <p:sp>
        <p:nvSpPr>
          <p:cNvPr id="7" name="Text 5"/>
          <p:cNvSpPr/>
          <p:nvPr/>
        </p:nvSpPr>
        <p:spPr>
          <a:xfrm>
            <a:off x="3520440" y="1691640"/>
            <a:ext cx="233172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Le sexe</a:t>
            </a:r>
            <a:endParaRPr lang="en-US" sz="1600" dirty="0"/>
          </a:p>
        </p:txBody>
      </p:sp>
      <p:sp>
        <p:nvSpPr>
          <p:cNvPr id="8" name="Shape 6"/>
          <p:cNvSpPr/>
          <p:nvPr/>
        </p:nvSpPr>
        <p:spPr>
          <a:xfrm>
            <a:off x="6172200" y="1691640"/>
            <a:ext cx="2606040" cy="1051560"/>
          </a:xfrm>
          <a:prstGeom prst="roundRect">
            <a:avLst>
              <a:gd name="adj" fmla="val 7826"/>
            </a:avLst>
          </a:prstGeom>
          <a:solidFill>
            <a:srgbClr val="9B7EF7"/>
          </a:solidFill>
          <a:ln w="12700">
            <a:solidFill>
              <a:srgbClr val="9B7EF7"/>
            </a:solidFill>
            <a:prstDash val="solid"/>
          </a:ln>
        </p:spPr>
      </p:sp>
      <p:sp>
        <p:nvSpPr>
          <p:cNvPr id="9" name="Text 7"/>
          <p:cNvSpPr/>
          <p:nvPr/>
        </p:nvSpPr>
        <p:spPr>
          <a:xfrm>
            <a:off x="6309360" y="1691640"/>
            <a:ext cx="233172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La durée du séjour</a:t>
            </a:r>
            <a:endParaRPr lang="en-US" sz="1600" dirty="0"/>
          </a:p>
        </p:txBody>
      </p:sp>
      <p:sp>
        <p:nvSpPr>
          <p:cNvPr id="10" name="Shape 8"/>
          <p:cNvSpPr/>
          <p:nvPr/>
        </p:nvSpPr>
        <p:spPr>
          <a:xfrm>
            <a:off x="8961120" y="1691640"/>
            <a:ext cx="2606040" cy="1051560"/>
          </a:xfrm>
          <a:prstGeom prst="roundRect">
            <a:avLst>
              <a:gd name="adj" fmla="val 7826"/>
            </a:avLst>
          </a:prstGeom>
          <a:solidFill>
            <a:srgbClr val="27D3BE"/>
          </a:solidFill>
          <a:ln w="12700">
            <a:solidFill>
              <a:srgbClr val="27D3BE"/>
            </a:solidFill>
            <a:prstDash val="solid"/>
          </a:ln>
        </p:spPr>
      </p:sp>
      <p:sp>
        <p:nvSpPr>
          <p:cNvPr id="11" name="Text 9"/>
          <p:cNvSpPr/>
          <p:nvPr/>
        </p:nvSpPr>
        <p:spPr>
          <a:xfrm>
            <a:off x="9098280" y="1691640"/>
            <a:ext cx="233172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Le diagnostic principal et les secondaires</a:t>
            </a:r>
            <a:endParaRPr lang="en-US" sz="1600" dirty="0"/>
          </a:p>
        </p:txBody>
      </p:sp>
      <p:sp>
        <p:nvSpPr>
          <p:cNvPr id="12" name="Shape 10"/>
          <p:cNvSpPr/>
          <p:nvPr/>
        </p:nvSpPr>
        <p:spPr>
          <a:xfrm>
            <a:off x="594360" y="2926080"/>
            <a:ext cx="3535680" cy="1051560"/>
          </a:xfrm>
          <a:prstGeom prst="roundRect">
            <a:avLst>
              <a:gd name="adj" fmla="val 7826"/>
            </a:avLst>
          </a:prstGeom>
          <a:solidFill>
            <a:srgbClr val="FF4757"/>
          </a:solidFill>
          <a:ln w="12700">
            <a:solidFill>
              <a:srgbClr val="FF4757"/>
            </a:solidFill>
            <a:prstDash val="solid"/>
          </a:ln>
        </p:spPr>
      </p:sp>
      <p:sp>
        <p:nvSpPr>
          <p:cNvPr id="13" name="Text 11"/>
          <p:cNvSpPr/>
          <p:nvPr/>
        </p:nvSpPr>
        <p:spPr>
          <a:xfrm>
            <a:off x="731520" y="2926080"/>
            <a:ext cx="326136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Les interventions et procédures</a:t>
            </a:r>
            <a:endParaRPr lang="en-US" sz="1600" dirty="0"/>
          </a:p>
        </p:txBody>
      </p:sp>
      <p:sp>
        <p:nvSpPr>
          <p:cNvPr id="14" name="Shape 12"/>
          <p:cNvSpPr/>
          <p:nvPr/>
        </p:nvSpPr>
        <p:spPr>
          <a:xfrm>
            <a:off x="4312920" y="2926080"/>
            <a:ext cx="3535680" cy="1051560"/>
          </a:xfrm>
          <a:prstGeom prst="roundRect">
            <a:avLst>
              <a:gd name="adj" fmla="val 7826"/>
            </a:avLst>
          </a:prstGeom>
          <a:solidFill>
            <a:srgbClr val="FF8A3D"/>
          </a:solidFill>
          <a:ln w="12700">
            <a:solidFill>
              <a:srgbClr val="FF8A3D"/>
            </a:solidFill>
            <a:prstDash val="solid"/>
          </a:ln>
        </p:spPr>
      </p:sp>
      <p:sp>
        <p:nvSpPr>
          <p:cNvPr id="15" name="Text 13"/>
          <p:cNvSpPr/>
          <p:nvPr/>
        </p:nvSpPr>
        <p:spPr>
          <a:xfrm>
            <a:off x="4450080" y="2926080"/>
            <a:ext cx="326136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L’état à la sortie</a:t>
            </a:r>
            <a:endParaRPr lang="en-US" sz="1600" dirty="0"/>
          </a:p>
        </p:txBody>
      </p:sp>
      <p:sp>
        <p:nvSpPr>
          <p:cNvPr id="16" name="Shape 14"/>
          <p:cNvSpPr/>
          <p:nvPr/>
        </p:nvSpPr>
        <p:spPr>
          <a:xfrm>
            <a:off x="8031480" y="2926080"/>
            <a:ext cx="3535680" cy="1051560"/>
          </a:xfrm>
          <a:prstGeom prst="roundRect">
            <a:avLst>
              <a:gd name="adj" fmla="val 7826"/>
            </a:avLst>
          </a:prstGeom>
          <a:solidFill>
            <a:srgbClr val="9B7EF7"/>
          </a:solidFill>
          <a:ln w="12700">
            <a:solidFill>
              <a:srgbClr val="9B7EF7"/>
            </a:solidFill>
            <a:prstDash val="solid"/>
          </a:ln>
        </p:spPr>
      </p:sp>
      <p:sp>
        <p:nvSpPr>
          <p:cNvPr id="17" name="Text 15"/>
          <p:cNvSpPr/>
          <p:nvPr/>
        </p:nvSpPr>
        <p:spPr>
          <a:xfrm>
            <a:off x="8168640" y="2926080"/>
            <a:ext cx="3261360" cy="10515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Le poids de naissance des nouveau-nés</a:t>
            </a:r>
            <a:endParaRPr lang="en-US" sz="1600" dirty="0"/>
          </a:p>
        </p:txBody>
      </p:sp>
      <p:sp>
        <p:nvSpPr>
          <p:cNvPr id="18" name="Shape 16"/>
          <p:cNvSpPr/>
          <p:nvPr/>
        </p:nvSpPr>
        <p:spPr>
          <a:xfrm>
            <a:off x="594360" y="4434840"/>
            <a:ext cx="10972800" cy="914400"/>
          </a:xfrm>
          <a:prstGeom prst="roundRect">
            <a:avLst>
              <a:gd name="adj" fmla="val 9000"/>
            </a:avLst>
          </a:prstGeom>
          <a:solidFill>
            <a:srgbClr val="07564B"/>
          </a:solidFill>
          <a:ln w="12700">
            <a:solidFill>
              <a:srgbClr val="07564B"/>
            </a:solidFill>
            <a:prstDash val="solid"/>
          </a:ln>
        </p:spPr>
      </p:sp>
      <p:sp>
        <p:nvSpPr>
          <p:cNvPr id="19" name="Text 17"/>
          <p:cNvSpPr/>
          <p:nvPr/>
        </p:nvSpPr>
        <p:spPr>
          <a:xfrm>
            <a:off x="868680" y="443484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 classement est fait automatiquement par un logiciel, à partir des données codées du dossier médical.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L’ÉVALUATION AU PAIEMENT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Le chemin des DRG jusqu’en Roumanie</a:t>
            </a:r>
            <a:endParaRPr lang="en-US" sz="3100" dirty="0"/>
          </a:p>
        </p:txBody>
      </p:sp>
      <p:sp>
        <p:nvSpPr>
          <p:cNvPr id="4" name="Shape 2"/>
          <p:cNvSpPr/>
          <p:nvPr/>
        </p:nvSpPr>
        <p:spPr>
          <a:xfrm>
            <a:off x="822960" y="1956816"/>
            <a:ext cx="10515600" cy="36576"/>
          </a:xfrm>
          <a:prstGeom prst="rect">
            <a:avLst/>
          </a:prstGeom>
          <a:solidFill>
            <a:srgbClr val="C9C6BE"/>
          </a:solidFill>
          <a:ln w="12700">
            <a:solidFill>
              <a:srgbClr val="C9C6BE"/>
            </a:solidFill>
            <a:prstDash val="solid"/>
          </a:ln>
        </p:spPr>
      </p:sp>
      <p:sp>
        <p:nvSpPr>
          <p:cNvPr id="5" name="Shape 3"/>
          <p:cNvSpPr/>
          <p:nvPr/>
        </p:nvSpPr>
        <p:spPr>
          <a:xfrm>
            <a:off x="685800" y="1828800"/>
            <a:ext cx="292608" cy="292608"/>
          </a:xfrm>
          <a:prstGeom prst="ellipse">
            <a:avLst/>
          </a:prstGeom>
          <a:solidFill>
            <a:srgbClr val="0E7C6B"/>
          </a:solidFill>
          <a:ln/>
        </p:spPr>
      </p:sp>
      <p:sp>
        <p:nvSpPr>
          <p:cNvPr id="6" name="Text 4"/>
          <p:cNvSpPr/>
          <p:nvPr/>
        </p:nvSpPr>
        <p:spPr>
          <a:xfrm>
            <a:off x="594360" y="2286000"/>
            <a:ext cx="3520440" cy="54864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1983</a:t>
            </a:r>
            <a:endParaRPr lang="en-US" sz="2400" dirty="0"/>
          </a:p>
        </p:txBody>
      </p:sp>
      <p:sp>
        <p:nvSpPr>
          <p:cNvPr id="7" name="Text 5"/>
          <p:cNvSpPr/>
          <p:nvPr/>
        </p:nvSpPr>
        <p:spPr>
          <a:xfrm>
            <a:off x="594360" y="2880360"/>
            <a:ext cx="342900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Medicare utilise les groupes pour payer les hôpitaux</a:t>
            </a:r>
            <a:endParaRPr lang="en-US" sz="1600" dirty="0"/>
          </a:p>
        </p:txBody>
      </p:sp>
      <p:sp>
        <p:nvSpPr>
          <p:cNvPr id="8" name="Shape 6"/>
          <p:cNvSpPr/>
          <p:nvPr/>
        </p:nvSpPr>
        <p:spPr>
          <a:xfrm>
            <a:off x="4343400" y="1828800"/>
            <a:ext cx="292608" cy="292608"/>
          </a:xfrm>
          <a:prstGeom prst="ellipse">
            <a:avLst/>
          </a:prstGeom>
          <a:solidFill>
            <a:srgbClr val="B02532"/>
          </a:solidFill>
          <a:ln/>
        </p:spPr>
      </p:sp>
      <p:sp>
        <p:nvSpPr>
          <p:cNvPr id="9" name="Text 7"/>
          <p:cNvSpPr/>
          <p:nvPr/>
        </p:nvSpPr>
        <p:spPr>
          <a:xfrm>
            <a:off x="4251960" y="2286000"/>
            <a:ext cx="352044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2003</a:t>
            </a:r>
            <a:endParaRPr lang="en-US" sz="2400" dirty="0"/>
          </a:p>
        </p:txBody>
      </p:sp>
      <p:sp>
        <p:nvSpPr>
          <p:cNvPr id="10" name="Text 8"/>
          <p:cNvSpPr/>
          <p:nvPr/>
        </p:nvSpPr>
        <p:spPr>
          <a:xfrm>
            <a:off x="4251960" y="2880360"/>
            <a:ext cx="342900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Roumanie : paiement par DRG au niveau national</a:t>
            </a:r>
            <a:endParaRPr lang="en-US" sz="1600" dirty="0"/>
          </a:p>
        </p:txBody>
      </p:sp>
      <p:sp>
        <p:nvSpPr>
          <p:cNvPr id="11" name="Shape 9"/>
          <p:cNvSpPr/>
          <p:nvPr/>
        </p:nvSpPr>
        <p:spPr>
          <a:xfrm>
            <a:off x="8001000" y="1828800"/>
            <a:ext cx="292608" cy="292608"/>
          </a:xfrm>
          <a:prstGeom prst="ellipse">
            <a:avLst/>
          </a:prstGeom>
          <a:solidFill>
            <a:srgbClr val="4A2D8C"/>
          </a:solidFill>
          <a:ln/>
        </p:spPr>
      </p:sp>
      <p:sp>
        <p:nvSpPr>
          <p:cNvPr id="12" name="Text 10"/>
          <p:cNvSpPr/>
          <p:nvPr/>
        </p:nvSpPr>
        <p:spPr>
          <a:xfrm>
            <a:off x="7909560" y="2286000"/>
            <a:ext cx="3520440" cy="548640"/>
          </a:xfrm>
          <a:prstGeom prst="rect">
            <a:avLst/>
          </a:prstGeom>
          <a:noFill/>
          <a:ln/>
        </p:spPr>
        <p:txBody>
          <a:bodyPr wrap="square" lIns="0" tIns="0" rIns="0" bIns="0" rtlCol="0" anchor="t"/>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2010</a:t>
            </a:r>
            <a:endParaRPr lang="en-US" sz="2400" dirty="0"/>
          </a:p>
        </p:txBody>
      </p:sp>
      <p:sp>
        <p:nvSpPr>
          <p:cNvPr id="13" name="Text 11"/>
          <p:cNvSpPr/>
          <p:nvPr/>
        </p:nvSpPr>
        <p:spPr>
          <a:xfrm>
            <a:off x="7909560" y="2880360"/>
            <a:ext cx="342900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RO-DRG, sur la base de la classification australienne</a:t>
            </a:r>
            <a:endParaRPr lang="en-US" sz="1600" dirty="0"/>
          </a:p>
        </p:txBody>
      </p:sp>
      <p:sp>
        <p:nvSpPr>
          <p:cNvPr id="14" name="Shape 12"/>
          <p:cNvSpPr/>
          <p:nvPr/>
        </p:nvSpPr>
        <p:spPr>
          <a:xfrm>
            <a:off x="594360" y="4572000"/>
            <a:ext cx="10972800" cy="914400"/>
          </a:xfrm>
          <a:prstGeom prst="roundRect">
            <a:avLst>
              <a:gd name="adj" fmla="val 9000"/>
            </a:avLst>
          </a:prstGeom>
          <a:solidFill>
            <a:srgbClr val="11121A"/>
          </a:solidFill>
          <a:ln w="12700">
            <a:solidFill>
              <a:srgbClr val="11121A"/>
            </a:solidFill>
            <a:prstDash val="solid"/>
          </a:ln>
        </p:spPr>
      </p:sp>
      <p:sp>
        <p:nvSpPr>
          <p:cNvPr id="15" name="Text 13"/>
          <p:cNvSpPr/>
          <p:nvPr/>
        </p:nvSpPr>
        <p:spPr>
          <a:xfrm>
            <a:off x="868680" y="457200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RO-DRG a de nouveaux groupes et d’autres définitions des comorbidités ; l’INMSS valide les données.</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 DOSSIER MÉDICAL AU PAIEMENT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étapes</a:t>
            </a:r>
            <a:endParaRPr lang="en-US" sz="3200" dirty="0"/>
          </a:p>
        </p:txBody>
      </p:sp>
      <p:sp>
        <p:nvSpPr>
          <p:cNvPr id="4" name="Shape 2"/>
          <p:cNvSpPr/>
          <p:nvPr/>
        </p:nvSpPr>
        <p:spPr>
          <a:xfrm>
            <a:off x="594360" y="1600200"/>
            <a:ext cx="2606040" cy="2423160"/>
          </a:xfrm>
          <a:prstGeom prst="roundRect">
            <a:avLst>
              <a:gd name="adj" fmla="val 3396"/>
            </a:avLst>
          </a:prstGeom>
          <a:solidFill>
            <a:srgbClr val="1D1F2B"/>
          </a:solidFill>
          <a:ln w="12700">
            <a:solidFill>
              <a:srgbClr val="1D1F2B"/>
            </a:solidFill>
            <a:prstDash val="solid"/>
          </a:ln>
        </p:spPr>
      </p:sp>
      <p:sp>
        <p:nvSpPr>
          <p:cNvPr id="5" name="Text 3"/>
          <p:cNvSpPr/>
          <p:nvPr/>
        </p:nvSpPr>
        <p:spPr>
          <a:xfrm>
            <a:off x="795528" y="1728216"/>
            <a:ext cx="2203704" cy="603504"/>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1 · LE CODAGE</a:t>
            </a:r>
            <a:endParaRPr lang="en-US" sz="1300" dirty="0"/>
          </a:p>
        </p:txBody>
      </p:sp>
      <p:sp>
        <p:nvSpPr>
          <p:cNvPr id="6" name="Text 4"/>
          <p:cNvSpPr/>
          <p:nvPr/>
        </p:nvSpPr>
        <p:spPr>
          <a:xfrm>
            <a:off x="795528" y="2331720"/>
            <a:ext cx="2203704" cy="156362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 médecin choisit le diagnostic principal et les secondaires ; chacun reçoit un code</a:t>
            </a:r>
            <a:endParaRPr lang="en-US" sz="1600" dirty="0"/>
          </a:p>
        </p:txBody>
      </p:sp>
      <p:sp>
        <p:nvSpPr>
          <p:cNvPr id="7" name="Shape 5"/>
          <p:cNvSpPr/>
          <p:nvPr/>
        </p:nvSpPr>
        <p:spPr>
          <a:xfrm>
            <a:off x="3383280" y="1600200"/>
            <a:ext cx="2606040" cy="2423160"/>
          </a:xfrm>
          <a:prstGeom prst="roundRect">
            <a:avLst>
              <a:gd name="adj" fmla="val 3396"/>
            </a:avLst>
          </a:prstGeom>
          <a:solidFill>
            <a:srgbClr val="1D1F2B"/>
          </a:solidFill>
          <a:ln w="12700">
            <a:solidFill>
              <a:srgbClr val="1D1F2B"/>
            </a:solidFill>
            <a:prstDash val="solid"/>
          </a:ln>
        </p:spPr>
      </p:sp>
      <p:sp>
        <p:nvSpPr>
          <p:cNvPr id="8" name="Text 6"/>
          <p:cNvSpPr/>
          <p:nvPr/>
        </p:nvSpPr>
        <p:spPr>
          <a:xfrm>
            <a:off x="3584448" y="1728216"/>
            <a:ext cx="2203704" cy="603504"/>
          </a:xfrm>
          <a:prstGeom prst="rect">
            <a:avLst/>
          </a:prstGeom>
          <a:noFill/>
          <a:ln/>
        </p:spPr>
        <p:txBody>
          <a:bodyPr wrap="square" lIns="0" tIns="0" rIns="0" bIns="0" rtlCol="0" anchor="t"/>
          <a:lstStyle/>
          <a:p>
            <a:pPr indent="0" marL="0">
              <a:buNone/>
            </a:pPr>
            <a:r>
              <a:rPr lang="en-US" sz="1300" b="1" spc="100" kern="0" dirty="0">
                <a:solidFill>
                  <a:srgbClr val="FF8A3D"/>
                </a:solidFill>
                <a:latin typeface="Palatino Linotype" pitchFamily="34" charset="0"/>
                <a:ea typeface="Palatino Linotype" pitchFamily="34" charset="-122"/>
                <a:cs typeface="Palatino Linotype" pitchFamily="34" charset="-120"/>
              </a:rPr>
              <a:t>2 · LE CLASSEMENT</a:t>
            </a:r>
            <a:endParaRPr lang="en-US" sz="1300" dirty="0"/>
          </a:p>
        </p:txBody>
      </p:sp>
      <p:sp>
        <p:nvSpPr>
          <p:cNvPr id="9" name="Text 7"/>
          <p:cNvSpPr/>
          <p:nvPr/>
        </p:nvSpPr>
        <p:spPr>
          <a:xfrm>
            <a:off x="3584448" y="2331720"/>
            <a:ext cx="2203704" cy="156362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 logiciel place le cas dans un groupe, d’après les variables codées</a:t>
            </a:r>
            <a:endParaRPr lang="en-US" sz="1600" dirty="0"/>
          </a:p>
        </p:txBody>
      </p:sp>
      <p:sp>
        <p:nvSpPr>
          <p:cNvPr id="10" name="Shape 8"/>
          <p:cNvSpPr/>
          <p:nvPr/>
        </p:nvSpPr>
        <p:spPr>
          <a:xfrm>
            <a:off x="6172200" y="1600200"/>
            <a:ext cx="2606040" cy="2423160"/>
          </a:xfrm>
          <a:prstGeom prst="roundRect">
            <a:avLst>
              <a:gd name="adj" fmla="val 3396"/>
            </a:avLst>
          </a:prstGeom>
          <a:solidFill>
            <a:srgbClr val="1D1F2B"/>
          </a:solidFill>
          <a:ln w="12700">
            <a:solidFill>
              <a:srgbClr val="1D1F2B"/>
            </a:solidFill>
            <a:prstDash val="solid"/>
          </a:ln>
        </p:spPr>
      </p:sp>
      <p:sp>
        <p:nvSpPr>
          <p:cNvPr id="11" name="Text 9"/>
          <p:cNvSpPr/>
          <p:nvPr/>
        </p:nvSpPr>
        <p:spPr>
          <a:xfrm>
            <a:off x="6373368" y="1728216"/>
            <a:ext cx="2203704" cy="603504"/>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3 · LE POIDS RELATIF</a:t>
            </a:r>
            <a:endParaRPr lang="en-US" sz="1300" dirty="0"/>
          </a:p>
        </p:txBody>
      </p:sp>
      <p:sp>
        <p:nvSpPr>
          <p:cNvPr id="12" name="Text 10"/>
          <p:cNvSpPr/>
          <p:nvPr/>
        </p:nvSpPr>
        <p:spPr>
          <a:xfrm>
            <a:off x="6373368" y="2331720"/>
            <a:ext cx="2203704" cy="156362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chaque groupe a un poids fixé par les normes</a:t>
            </a:r>
            <a:endParaRPr lang="en-US" sz="1600" dirty="0"/>
          </a:p>
        </p:txBody>
      </p:sp>
      <p:sp>
        <p:nvSpPr>
          <p:cNvPr id="13" name="Shape 11"/>
          <p:cNvSpPr/>
          <p:nvPr/>
        </p:nvSpPr>
        <p:spPr>
          <a:xfrm>
            <a:off x="8961120" y="1600200"/>
            <a:ext cx="2606040" cy="2423160"/>
          </a:xfrm>
          <a:prstGeom prst="roundRect">
            <a:avLst>
              <a:gd name="adj" fmla="val 3396"/>
            </a:avLst>
          </a:prstGeom>
          <a:solidFill>
            <a:srgbClr val="1D1F2B"/>
          </a:solidFill>
          <a:ln w="12700">
            <a:solidFill>
              <a:srgbClr val="1D1F2B"/>
            </a:solidFill>
            <a:prstDash val="solid"/>
          </a:ln>
        </p:spPr>
      </p:sp>
      <p:sp>
        <p:nvSpPr>
          <p:cNvPr id="14" name="Text 12"/>
          <p:cNvSpPr/>
          <p:nvPr/>
        </p:nvSpPr>
        <p:spPr>
          <a:xfrm>
            <a:off x="9162288" y="1728216"/>
            <a:ext cx="2203704" cy="603504"/>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4 · LE PAIEMENT</a:t>
            </a:r>
            <a:endParaRPr lang="en-US" sz="1300" dirty="0"/>
          </a:p>
        </p:txBody>
      </p:sp>
      <p:sp>
        <p:nvSpPr>
          <p:cNvPr id="15" name="Text 13"/>
          <p:cNvSpPr/>
          <p:nvPr/>
        </p:nvSpPr>
        <p:spPr>
          <a:xfrm>
            <a:off x="9162288" y="2331720"/>
            <a:ext cx="2203704" cy="156362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remboursement mensuel, selon le poids relatif et le tarif, dans la limite de la somme contractée</a:t>
            </a:r>
            <a:endParaRPr lang="en-US" sz="1600" dirty="0"/>
          </a:p>
        </p:txBody>
      </p:sp>
      <p:sp>
        <p:nvSpPr>
          <p:cNvPr id="16" name="Shape 14"/>
          <p:cNvSpPr/>
          <p:nvPr/>
        </p:nvSpPr>
        <p:spPr>
          <a:xfrm>
            <a:off x="594360" y="4297680"/>
            <a:ext cx="10972800" cy="1143000"/>
          </a:xfrm>
          <a:prstGeom prst="roundRect">
            <a:avLst>
              <a:gd name="adj" fmla="val 7200"/>
            </a:avLst>
          </a:prstGeom>
          <a:solidFill>
            <a:srgbClr val="07564B"/>
          </a:solidFill>
          <a:ln w="12700">
            <a:solidFill>
              <a:srgbClr val="07564B"/>
            </a:solidFill>
            <a:prstDash val="solid"/>
          </a:ln>
        </p:spPr>
      </p:sp>
      <p:sp>
        <p:nvSpPr>
          <p:cNvPr id="17" name="Text 15"/>
          <p:cNvSpPr/>
          <p:nvPr/>
        </p:nvSpPr>
        <p:spPr>
          <a:xfrm>
            <a:off x="868680" y="4297680"/>
            <a:ext cx="10424160" cy="114300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Principal : l’affection qui a d’abord motivé le traitement. Secondaires : celles qui coexistent et influencent les soins.</a:t>
            </a:r>
            <a:endParaRPr lang="en-US" sz="165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modalités d’application du contrat-cadre, arrêté commun MS–CNAS de 2023.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FORMULE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Paiement du cas = poids relatif × tarif par cas pondéré</a:t>
            </a:r>
            <a:endParaRPr lang="en-US" sz="2800" dirty="0"/>
          </a:p>
        </p:txBody>
      </p:sp>
      <p:sp>
        <p:nvSpPr>
          <p:cNvPr id="4" name="Shape 2"/>
          <p:cNvSpPr/>
          <p:nvPr/>
        </p:nvSpPr>
        <p:spPr>
          <a:xfrm>
            <a:off x="594360" y="1691640"/>
            <a:ext cx="3505200" cy="2286000"/>
          </a:xfrm>
          <a:prstGeom prst="roundRect">
            <a:avLst>
              <a:gd name="adj" fmla="val 3600"/>
            </a:avLst>
          </a:prstGeom>
          <a:solidFill>
            <a:srgbClr val="ECEAE4"/>
          </a:solidFill>
          <a:ln w="12700">
            <a:solidFill>
              <a:srgbClr val="ECEAE4"/>
            </a:solidFill>
            <a:prstDash val="solid"/>
          </a:ln>
        </p:spPr>
      </p:sp>
      <p:sp>
        <p:nvSpPr>
          <p:cNvPr id="5" name="Text 3"/>
          <p:cNvSpPr/>
          <p:nvPr/>
        </p:nvSpPr>
        <p:spPr>
          <a:xfrm>
            <a:off x="795528" y="1819656"/>
            <a:ext cx="3102864" cy="384048"/>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TARIF PAR CAS PONDÉRÉ (TCP)</a:t>
            </a:r>
            <a:endParaRPr lang="en-US" sz="1250" dirty="0"/>
          </a:p>
        </p:txBody>
      </p:sp>
      <p:sp>
        <p:nvSpPr>
          <p:cNvPr id="6" name="Text 4"/>
          <p:cNvSpPr/>
          <p:nvPr/>
        </p:nvSpPr>
        <p:spPr>
          <a:xfrm>
            <a:off x="795528" y="2203704"/>
            <a:ext cx="3102864" cy="16459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fixé pour chaque hôpital, inchangé pendant la durée du contrat</a:t>
            </a:r>
            <a:endParaRPr lang="en-US" sz="1700" dirty="0"/>
          </a:p>
        </p:txBody>
      </p:sp>
      <p:sp>
        <p:nvSpPr>
          <p:cNvPr id="7" name="Shape 5"/>
          <p:cNvSpPr/>
          <p:nvPr/>
        </p:nvSpPr>
        <p:spPr>
          <a:xfrm>
            <a:off x="4328160" y="1691640"/>
            <a:ext cx="3505200" cy="2286000"/>
          </a:xfrm>
          <a:prstGeom prst="roundRect">
            <a:avLst>
              <a:gd name="adj" fmla="val 3600"/>
            </a:avLst>
          </a:prstGeom>
          <a:solidFill>
            <a:srgbClr val="ECEAE4"/>
          </a:solidFill>
          <a:ln w="12700">
            <a:solidFill>
              <a:srgbClr val="ECEAE4"/>
            </a:solidFill>
            <a:prstDash val="solid"/>
          </a:ln>
        </p:spPr>
      </p:sp>
      <p:sp>
        <p:nvSpPr>
          <p:cNvPr id="8" name="Text 6"/>
          <p:cNvSpPr/>
          <p:nvPr/>
        </p:nvSpPr>
        <p:spPr>
          <a:xfrm>
            <a:off x="4529328" y="1819656"/>
            <a:ext cx="3102864" cy="384048"/>
          </a:xfrm>
          <a:prstGeom prst="rect">
            <a:avLst/>
          </a:prstGeom>
          <a:noFill/>
          <a:ln/>
        </p:spPr>
        <p:txBody>
          <a:bodyPr wrap="square" lIns="0" tIns="0" rIns="0" bIns="0" rtlCol="0" anchor="t"/>
          <a:lstStyle/>
          <a:p>
            <a:pPr indent="0" marL="0">
              <a:buNone/>
            </a:pPr>
            <a:r>
              <a:rPr lang="en-US" sz="1250" b="1" spc="100" kern="0" dirty="0">
                <a:solidFill>
                  <a:srgbClr val="4A2D8C"/>
                </a:solidFill>
                <a:latin typeface="Palatino Linotype" pitchFamily="34" charset="0"/>
                <a:ea typeface="Palatino Linotype" pitchFamily="34" charset="-122"/>
                <a:cs typeface="Palatino Linotype" pitchFamily="34" charset="-120"/>
              </a:rPr>
              <a:t>L’INDICE DE CASE-MIX (ICM)</a:t>
            </a:r>
            <a:endParaRPr lang="en-US" sz="1250" dirty="0"/>
          </a:p>
        </p:txBody>
      </p:sp>
      <p:sp>
        <p:nvSpPr>
          <p:cNvPr id="9" name="Text 7"/>
          <p:cNvSpPr/>
          <p:nvPr/>
        </p:nvSpPr>
        <p:spPr>
          <a:xfrm>
            <a:off x="4529328" y="2203704"/>
            <a:ext cx="3102864" cy="16459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complexité moyenne des cas de l’hôpital, fixée pour l’année en cours</a:t>
            </a:r>
            <a:endParaRPr lang="en-US" sz="1700" dirty="0"/>
          </a:p>
        </p:txBody>
      </p:sp>
      <p:sp>
        <p:nvSpPr>
          <p:cNvPr id="10" name="Shape 8"/>
          <p:cNvSpPr/>
          <p:nvPr/>
        </p:nvSpPr>
        <p:spPr>
          <a:xfrm>
            <a:off x="8061960" y="1691640"/>
            <a:ext cx="3505200" cy="2286000"/>
          </a:xfrm>
          <a:prstGeom prst="roundRect">
            <a:avLst>
              <a:gd name="adj" fmla="val 3600"/>
            </a:avLst>
          </a:prstGeom>
          <a:solidFill>
            <a:srgbClr val="ECEAE4"/>
          </a:solidFill>
          <a:ln w="12700">
            <a:solidFill>
              <a:srgbClr val="ECEAE4"/>
            </a:solidFill>
            <a:prstDash val="solid"/>
          </a:ln>
        </p:spPr>
      </p:sp>
      <p:sp>
        <p:nvSpPr>
          <p:cNvPr id="11" name="Text 9"/>
          <p:cNvSpPr/>
          <p:nvPr/>
        </p:nvSpPr>
        <p:spPr>
          <a:xfrm>
            <a:off x="8263128" y="1819656"/>
            <a:ext cx="3102864" cy="384048"/>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LA SOMME CONTRACTÉE</a:t>
            </a:r>
            <a:endParaRPr lang="en-US" sz="1250" dirty="0"/>
          </a:p>
        </p:txBody>
      </p:sp>
      <p:sp>
        <p:nvSpPr>
          <p:cNvPr id="12" name="Text 10"/>
          <p:cNvSpPr/>
          <p:nvPr/>
        </p:nvSpPr>
        <p:spPr>
          <a:xfrm>
            <a:off x="8263128" y="2203704"/>
            <a:ext cx="3102864" cy="16459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les cas que les lits peuvent traiter × ICM × TCP ; le paiement se fait dans cette limite</a:t>
            </a:r>
            <a:endParaRPr lang="en-US" sz="1700" dirty="0"/>
          </a:p>
        </p:txBody>
      </p:sp>
      <p:sp>
        <p:nvSpPr>
          <p:cNvPr id="13" name="Shape 11"/>
          <p:cNvSpPr/>
          <p:nvPr/>
        </p:nvSpPr>
        <p:spPr>
          <a:xfrm>
            <a:off x="594360" y="4251960"/>
            <a:ext cx="10972800" cy="914400"/>
          </a:xfrm>
          <a:prstGeom prst="roundRect">
            <a:avLst>
              <a:gd name="adj" fmla="val 9000"/>
            </a:avLst>
          </a:prstGeom>
          <a:solidFill>
            <a:srgbClr val="11121A"/>
          </a:solidFill>
          <a:ln w="12700">
            <a:solidFill>
              <a:srgbClr val="11121A"/>
            </a:solidFill>
            <a:prstDash val="solid"/>
          </a:ln>
        </p:spPr>
      </p:sp>
      <p:sp>
        <p:nvSpPr>
          <p:cNvPr id="14" name="Text 12"/>
          <p:cNvSpPr/>
          <p:nvPr/>
        </p:nvSpPr>
        <p:spPr>
          <a:xfrm>
            <a:off x="868680" y="425196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La formule est une simplification. Un coût au-dessus du tarif est une perte ; en dessous, un gain.</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modalités d’application du contrat-cadre, arrêté commun MS–CNAS de 2023.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CALCUL · VALEURS CONSTRUITES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même cas, trois façons de le coder</a:t>
            </a:r>
            <a:endParaRPr lang="en-US" sz="3000" dirty="0"/>
          </a:p>
        </p:txBody>
      </p:sp>
      <p:sp>
        <p:nvSpPr>
          <p:cNvPr id="4" name="Text 2"/>
          <p:cNvSpPr/>
          <p:nvPr/>
        </p:nvSpPr>
        <p:spPr>
          <a:xfrm>
            <a:off x="594360" y="1463040"/>
            <a:ext cx="10972800" cy="6858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Tarif par cas pondéré de l’Hôpital départemental A : 2 000 lei (construit) ; le tarif réel diffère d’un hôpital à l’autre.</a:t>
            </a:r>
            <a:endParaRPr lang="en-US" sz="1600" dirty="0"/>
          </a:p>
        </p:txBody>
      </p:sp>
      <p:sp>
        <p:nvSpPr>
          <p:cNvPr id="5" name="Text 3"/>
          <p:cNvSpPr/>
          <p:nvPr/>
        </p:nvSpPr>
        <p:spPr>
          <a:xfrm>
            <a:off x="594360" y="2240280"/>
            <a:ext cx="4754880" cy="6858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 pneumonie seule · 1,20</a:t>
            </a:r>
            <a:endParaRPr lang="en-US" sz="1500" dirty="0"/>
          </a:p>
        </p:txBody>
      </p:sp>
      <p:sp>
        <p:nvSpPr>
          <p:cNvPr id="6" name="Shape 4"/>
          <p:cNvSpPr/>
          <p:nvPr/>
        </p:nvSpPr>
        <p:spPr>
          <a:xfrm>
            <a:off x="5440680" y="2295144"/>
            <a:ext cx="2051437" cy="539496"/>
          </a:xfrm>
          <a:prstGeom prst="roundRect">
            <a:avLst>
              <a:gd name="adj" fmla="val 8475"/>
            </a:avLst>
          </a:prstGeom>
          <a:solidFill>
            <a:srgbClr val="FFC24B"/>
          </a:solidFill>
          <a:ln w="12700">
            <a:solidFill>
              <a:srgbClr val="FFC24B"/>
            </a:solidFill>
            <a:prstDash val="solid"/>
          </a:ln>
        </p:spPr>
      </p:sp>
      <p:sp>
        <p:nvSpPr>
          <p:cNvPr id="7" name="Text 5"/>
          <p:cNvSpPr/>
          <p:nvPr/>
        </p:nvSpPr>
        <p:spPr>
          <a:xfrm>
            <a:off x="7583557" y="2295144"/>
            <a:ext cx="2194560" cy="5394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2 400 lei</a:t>
            </a:r>
            <a:endParaRPr lang="en-US" sz="1500" dirty="0"/>
          </a:p>
        </p:txBody>
      </p:sp>
      <p:sp>
        <p:nvSpPr>
          <p:cNvPr id="8" name="Text 6"/>
          <p:cNvSpPr/>
          <p:nvPr/>
        </p:nvSpPr>
        <p:spPr>
          <a:xfrm>
            <a:off x="594360" y="3017520"/>
            <a:ext cx="4754880" cy="6858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 plus diabète et insuffisance · 1,65</a:t>
            </a:r>
            <a:endParaRPr lang="en-US" sz="1500" dirty="0"/>
          </a:p>
        </p:txBody>
      </p:sp>
      <p:sp>
        <p:nvSpPr>
          <p:cNvPr id="9" name="Shape 7"/>
          <p:cNvSpPr/>
          <p:nvPr/>
        </p:nvSpPr>
        <p:spPr>
          <a:xfrm>
            <a:off x="5440680" y="3072384"/>
            <a:ext cx="2820725" cy="539496"/>
          </a:xfrm>
          <a:prstGeom prst="roundRect">
            <a:avLst>
              <a:gd name="adj" fmla="val 8475"/>
            </a:avLst>
          </a:prstGeom>
          <a:solidFill>
            <a:srgbClr val="27D3BE"/>
          </a:solidFill>
          <a:ln w="12700">
            <a:solidFill>
              <a:srgbClr val="27D3BE"/>
            </a:solidFill>
            <a:prstDash val="solid"/>
          </a:ln>
        </p:spPr>
      </p:sp>
      <p:sp>
        <p:nvSpPr>
          <p:cNvPr id="10" name="Text 8"/>
          <p:cNvSpPr/>
          <p:nvPr/>
        </p:nvSpPr>
        <p:spPr>
          <a:xfrm>
            <a:off x="8352845" y="3072384"/>
            <a:ext cx="2194560" cy="5394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3 300 lei</a:t>
            </a:r>
            <a:endParaRPr lang="en-US" sz="1500" dirty="0"/>
          </a:p>
        </p:txBody>
      </p:sp>
      <p:sp>
        <p:nvSpPr>
          <p:cNvPr id="11" name="Text 9"/>
          <p:cNvSpPr/>
          <p:nvPr/>
        </p:nvSpPr>
        <p:spPr>
          <a:xfrm>
            <a:off x="594360" y="3794760"/>
            <a:ext cx="4754880" cy="6858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 plus une complication non documentée · 2,30</a:t>
            </a:r>
            <a:endParaRPr lang="en-US" sz="1500" dirty="0"/>
          </a:p>
        </p:txBody>
      </p:sp>
      <p:sp>
        <p:nvSpPr>
          <p:cNvPr id="12" name="Shape 10"/>
          <p:cNvSpPr/>
          <p:nvPr/>
        </p:nvSpPr>
        <p:spPr>
          <a:xfrm>
            <a:off x="5440680" y="3849624"/>
            <a:ext cx="3931920" cy="539496"/>
          </a:xfrm>
          <a:prstGeom prst="roundRect">
            <a:avLst>
              <a:gd name="adj" fmla="val 8475"/>
            </a:avLst>
          </a:prstGeom>
          <a:solidFill>
            <a:srgbClr val="FF4757"/>
          </a:solidFill>
          <a:ln w="12700">
            <a:solidFill>
              <a:srgbClr val="FF4757"/>
            </a:solidFill>
            <a:prstDash val="solid"/>
          </a:ln>
        </p:spPr>
      </p:sp>
      <p:sp>
        <p:nvSpPr>
          <p:cNvPr id="13" name="Text 11"/>
          <p:cNvSpPr/>
          <p:nvPr/>
        </p:nvSpPr>
        <p:spPr>
          <a:xfrm>
            <a:off x="9464040" y="3849624"/>
            <a:ext cx="2194560" cy="5394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4 600 lei</a:t>
            </a:r>
            <a:endParaRPr lang="en-US" sz="1500" dirty="0"/>
          </a:p>
        </p:txBody>
      </p:sp>
      <p:sp>
        <p:nvSpPr>
          <p:cNvPr id="14" name="Shape 12"/>
          <p:cNvSpPr/>
          <p:nvPr/>
        </p:nvSpPr>
        <p:spPr>
          <a:xfrm>
            <a:off x="594360" y="4709160"/>
            <a:ext cx="10972800" cy="868680"/>
          </a:xfrm>
          <a:prstGeom prst="roundRect">
            <a:avLst>
              <a:gd name="adj" fmla="val 9474"/>
            </a:avLst>
          </a:prstGeom>
          <a:solidFill>
            <a:srgbClr val="1D1F2B"/>
          </a:solidFill>
          <a:ln w="12700">
            <a:solidFill>
              <a:srgbClr val="1D1F2B"/>
            </a:solidFill>
            <a:prstDash val="solid"/>
          </a:ln>
        </p:spPr>
      </p:sp>
      <p:sp>
        <p:nvSpPr>
          <p:cNvPr id="15" name="Text 13"/>
          <p:cNvSpPr/>
          <p:nvPr/>
        </p:nvSpPr>
        <p:spPr>
          <a:xfrm>
            <a:off x="868680" y="4709160"/>
            <a:ext cx="10424160" cy="868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(B) par rapport à (A) : 900 lei par cas ; à 40 cas par an, 36 000 lei de moins.</a:t>
            </a:r>
            <a:endParaRPr lang="en-US" sz="1700" dirty="0"/>
          </a:p>
        </p:txBody>
      </p:sp>
      <p:sp>
        <p:nvSpPr>
          <p:cNvPr id="16" name="Text 14"/>
          <p:cNvSpPr/>
          <p:nvPr/>
        </p:nvSpPr>
        <p:spPr>
          <a:xfrm>
            <a:off x="594360" y="5760720"/>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Les groupes, les poids relatifs et le tarif : construits pour le cours.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SOUS-CODAGE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Moins de diagnostics que les soins réalisés</a:t>
            </a:r>
            <a:endParaRPr lang="en-US" sz="3100" dirty="0"/>
          </a:p>
        </p:txBody>
      </p:sp>
      <p:sp>
        <p:nvSpPr>
          <p:cNvPr id="4" name="Shape 2"/>
          <p:cNvSpPr/>
          <p:nvPr/>
        </p:nvSpPr>
        <p:spPr>
          <a:xfrm>
            <a:off x="594360" y="1645920"/>
            <a:ext cx="3505200" cy="2286000"/>
          </a:xfrm>
          <a:prstGeom prst="roundRect">
            <a:avLst>
              <a:gd name="adj" fmla="val 3600"/>
            </a:avLst>
          </a:prstGeom>
          <a:solidFill>
            <a:srgbClr val="ECEAE4"/>
          </a:solidFill>
          <a:ln w="12700">
            <a:solidFill>
              <a:srgbClr val="ECEAE4"/>
            </a:solidFill>
            <a:prstDash val="solid"/>
          </a:ln>
        </p:spPr>
      </p:sp>
      <p:sp>
        <p:nvSpPr>
          <p:cNvPr id="5" name="Text 3"/>
          <p:cNvSpPr/>
          <p:nvPr/>
        </p:nvSpPr>
        <p:spPr>
          <a:xfrm>
            <a:off x="795528" y="1773936"/>
            <a:ext cx="31028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L’HÔPITAL</a:t>
            </a:r>
            <a:endParaRPr lang="en-US" sz="1300" dirty="0"/>
          </a:p>
        </p:txBody>
      </p:sp>
      <p:sp>
        <p:nvSpPr>
          <p:cNvPr id="6" name="Text 4"/>
          <p:cNvSpPr/>
          <p:nvPr/>
        </p:nvSpPr>
        <p:spPr>
          <a:xfrm>
            <a:off x="795528" y="2157984"/>
            <a:ext cx="3102864"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reçoit moins que le travail fait : le groupe a un poids relatif plus faible</a:t>
            </a:r>
            <a:endParaRPr lang="en-US" sz="1800" dirty="0"/>
          </a:p>
        </p:txBody>
      </p:sp>
      <p:sp>
        <p:nvSpPr>
          <p:cNvPr id="7" name="Shape 5"/>
          <p:cNvSpPr/>
          <p:nvPr/>
        </p:nvSpPr>
        <p:spPr>
          <a:xfrm>
            <a:off x="4328160" y="1645920"/>
            <a:ext cx="3505200" cy="2286000"/>
          </a:xfrm>
          <a:prstGeom prst="roundRect">
            <a:avLst>
              <a:gd name="adj" fmla="val 3600"/>
            </a:avLst>
          </a:prstGeom>
          <a:solidFill>
            <a:srgbClr val="ECEAE4"/>
          </a:solidFill>
          <a:ln w="12700">
            <a:solidFill>
              <a:srgbClr val="ECEAE4"/>
            </a:solidFill>
            <a:prstDash val="solid"/>
          </a:ln>
        </p:spPr>
      </p:sp>
      <p:sp>
        <p:nvSpPr>
          <p:cNvPr id="8" name="Text 6"/>
          <p:cNvSpPr/>
          <p:nvPr/>
        </p:nvSpPr>
        <p:spPr>
          <a:xfrm>
            <a:off x="4529328" y="1773936"/>
            <a:ext cx="31028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LES DONNÉES NATIONALES</a:t>
            </a:r>
            <a:endParaRPr lang="en-US" sz="1300" dirty="0"/>
          </a:p>
        </p:txBody>
      </p:sp>
      <p:sp>
        <p:nvSpPr>
          <p:cNvPr id="9" name="Text 7"/>
          <p:cNvSpPr/>
          <p:nvPr/>
        </p:nvSpPr>
        <p:spPr>
          <a:xfrm>
            <a:off x="4529328" y="2157984"/>
            <a:ext cx="3102864"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sous-estiment les comorbidités ; les statistiques utilisées pour la planification sont fausses</a:t>
            </a:r>
            <a:endParaRPr lang="en-US" sz="1800" dirty="0"/>
          </a:p>
        </p:txBody>
      </p:sp>
      <p:sp>
        <p:nvSpPr>
          <p:cNvPr id="10" name="Shape 8"/>
          <p:cNvSpPr/>
          <p:nvPr/>
        </p:nvSpPr>
        <p:spPr>
          <a:xfrm>
            <a:off x="8061960" y="1645920"/>
            <a:ext cx="3505200" cy="2286000"/>
          </a:xfrm>
          <a:prstGeom prst="roundRect">
            <a:avLst>
              <a:gd name="adj" fmla="val 3600"/>
            </a:avLst>
          </a:prstGeom>
          <a:solidFill>
            <a:srgbClr val="ECEAE4"/>
          </a:solidFill>
          <a:ln w="12700">
            <a:solidFill>
              <a:srgbClr val="ECEAE4"/>
            </a:solidFill>
            <a:prstDash val="solid"/>
          </a:ln>
        </p:spPr>
      </p:sp>
      <p:sp>
        <p:nvSpPr>
          <p:cNvPr id="11" name="Text 9"/>
          <p:cNvSpPr/>
          <p:nvPr/>
        </p:nvSpPr>
        <p:spPr>
          <a:xfrm>
            <a:off x="8263128" y="1773936"/>
            <a:ext cx="31028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L’INDICE DE CASE-MIX</a:t>
            </a:r>
            <a:endParaRPr lang="en-US" sz="1300" dirty="0"/>
          </a:p>
        </p:txBody>
      </p:sp>
      <p:sp>
        <p:nvSpPr>
          <p:cNvPr id="12" name="Text 10"/>
          <p:cNvSpPr/>
          <p:nvPr/>
        </p:nvSpPr>
        <p:spPr>
          <a:xfrm>
            <a:off x="8263128" y="2157984"/>
            <a:ext cx="3102864"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baisse ; l’hôpital paraît plus simple qu’il ne l’est</a:t>
            </a:r>
            <a:endParaRPr lang="en-US" sz="1800" dirty="0"/>
          </a:p>
        </p:txBody>
      </p:sp>
      <p:sp>
        <p:nvSpPr>
          <p:cNvPr id="13" name="Shape 11"/>
          <p:cNvSpPr/>
          <p:nvPr/>
        </p:nvSpPr>
        <p:spPr>
          <a:xfrm>
            <a:off x="594360" y="4251960"/>
            <a:ext cx="10972800" cy="914400"/>
          </a:xfrm>
          <a:prstGeom prst="roundRect">
            <a:avLst>
              <a:gd name="adj" fmla="val 9000"/>
            </a:avLst>
          </a:prstGeom>
          <a:solidFill>
            <a:srgbClr val="11121A"/>
          </a:solidFill>
          <a:ln w="12700">
            <a:solidFill>
              <a:srgbClr val="11121A"/>
            </a:solidFill>
            <a:prstDash val="solid"/>
          </a:ln>
        </p:spPr>
      </p:sp>
      <p:sp>
        <p:nvSpPr>
          <p:cNvPr id="14" name="Text 12"/>
          <p:cNvSpPr/>
          <p:nvPr/>
        </p:nvSpPr>
        <p:spPr>
          <a:xfrm>
            <a:off x="868680" y="42519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Cela semble faire gagner du temps. Cela coûte à l’hôpital, aux données et à la planification.</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SURCODAGE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Plus grave sur le papier que dans le dossier médical</a:t>
            </a:r>
            <a:endParaRPr lang="en-US" sz="3000" dirty="0"/>
          </a:p>
        </p:txBody>
      </p:sp>
      <p:sp>
        <p:nvSpPr>
          <p:cNvPr id="4" name="Shape 2"/>
          <p:cNvSpPr/>
          <p:nvPr/>
        </p:nvSpPr>
        <p:spPr>
          <a:xfrm>
            <a:off x="594360" y="1645920"/>
            <a:ext cx="3505200" cy="3108960"/>
          </a:xfrm>
          <a:prstGeom prst="roundRect">
            <a:avLst>
              <a:gd name="adj" fmla="val 2647"/>
            </a:avLst>
          </a:prstGeom>
          <a:solidFill>
            <a:srgbClr val="1D1F2B"/>
          </a:solidFill>
          <a:ln w="12700">
            <a:solidFill>
              <a:srgbClr val="1D1F2B"/>
            </a:solidFill>
            <a:prstDash val="solid"/>
          </a:ln>
        </p:spPr>
      </p:sp>
      <p:sp>
        <p:nvSpPr>
          <p:cNvPr id="5" name="Text 3"/>
          <p:cNvSpPr/>
          <p:nvPr/>
        </p:nvSpPr>
        <p:spPr>
          <a:xfrm>
            <a:off x="795528" y="1773936"/>
            <a:ext cx="31028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EFFET CONNU</a:t>
            </a:r>
            <a:endParaRPr lang="en-US" sz="1300" dirty="0"/>
          </a:p>
        </p:txBody>
      </p:sp>
      <p:sp>
        <p:nvSpPr>
          <p:cNvPr id="6" name="Text 4"/>
          <p:cNvSpPr/>
          <p:nvPr/>
        </p:nvSpPr>
        <p:spPr>
          <a:xfrm>
            <a:off x="795528" y="2157984"/>
            <a:ext cx="3102864" cy="24688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du paiement par DRG ; les payeurs révisent méthodes et tarifs et recourent à l’audit et au contrôle des fraudes</a:t>
            </a:r>
            <a:endParaRPr lang="en-US" sz="1800" dirty="0"/>
          </a:p>
        </p:txBody>
      </p:sp>
      <p:sp>
        <p:nvSpPr>
          <p:cNvPr id="7" name="Shape 5"/>
          <p:cNvSpPr/>
          <p:nvPr/>
        </p:nvSpPr>
        <p:spPr>
          <a:xfrm>
            <a:off x="4328160" y="1645920"/>
            <a:ext cx="3505200" cy="3108960"/>
          </a:xfrm>
          <a:prstGeom prst="roundRect">
            <a:avLst>
              <a:gd name="adj" fmla="val 2647"/>
            </a:avLst>
          </a:prstGeom>
          <a:solidFill>
            <a:srgbClr val="1D1F2B"/>
          </a:solidFill>
          <a:ln w="12700">
            <a:solidFill>
              <a:srgbClr val="1D1F2B"/>
            </a:solidFill>
            <a:prstDash val="solid"/>
          </a:ln>
        </p:spPr>
      </p:sp>
      <p:sp>
        <p:nvSpPr>
          <p:cNvPr id="8" name="Text 6"/>
          <p:cNvSpPr/>
          <p:nvPr/>
        </p:nvSpPr>
        <p:spPr>
          <a:xfrm>
            <a:off x="4529328" y="1773936"/>
            <a:ext cx="31028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EN ROUMANIE</a:t>
            </a:r>
            <a:endParaRPr lang="en-US" sz="1300" dirty="0"/>
          </a:p>
        </p:txBody>
      </p:sp>
      <p:sp>
        <p:nvSpPr>
          <p:cNvPr id="9" name="Text 7"/>
          <p:cNvSpPr/>
          <p:nvPr/>
        </p:nvSpPr>
        <p:spPr>
          <a:xfrm>
            <a:off x="4529328" y="2157984"/>
            <a:ext cx="3102864" cy="24688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 CNAS approuve des règles de confirmation des cas sur données cliniques ; l’hôpital peut demander une reconfirmation</a:t>
            </a:r>
            <a:endParaRPr lang="en-US" sz="1800" dirty="0"/>
          </a:p>
        </p:txBody>
      </p:sp>
      <p:sp>
        <p:nvSpPr>
          <p:cNvPr id="10" name="Shape 8"/>
          <p:cNvSpPr/>
          <p:nvPr/>
        </p:nvSpPr>
        <p:spPr>
          <a:xfrm>
            <a:off x="8061960" y="1645920"/>
            <a:ext cx="3505200" cy="3108960"/>
          </a:xfrm>
          <a:prstGeom prst="roundRect">
            <a:avLst>
              <a:gd name="adj" fmla="val 2647"/>
            </a:avLst>
          </a:prstGeom>
          <a:solidFill>
            <a:srgbClr val="1D1F2B"/>
          </a:solidFill>
          <a:ln w="12700">
            <a:solidFill>
              <a:srgbClr val="1D1F2B"/>
            </a:solidFill>
            <a:prstDash val="solid"/>
          </a:ln>
        </p:spPr>
      </p:sp>
      <p:sp>
        <p:nvSpPr>
          <p:cNvPr id="11" name="Text 9"/>
          <p:cNvSpPr/>
          <p:nvPr/>
        </p:nvSpPr>
        <p:spPr>
          <a:xfrm>
            <a:off x="8263128" y="1773936"/>
            <a:ext cx="31028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AU REMBOURSEMENT</a:t>
            </a:r>
            <a:endParaRPr lang="en-US" sz="1300" dirty="0"/>
          </a:p>
        </p:txBody>
      </p:sp>
      <p:sp>
        <p:nvSpPr>
          <p:cNvPr id="12" name="Text 10"/>
          <p:cNvSpPr/>
          <p:nvPr/>
        </p:nvSpPr>
        <p:spPr>
          <a:xfrm>
            <a:off x="8263128" y="2157984"/>
            <a:ext cx="3102864" cy="24688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 caisse valide les cas en tenant compte de la confirmation communiquée par l’INMSS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RÈGLE PRATIQUE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Rien de ce qui n’est pas documenté ne se code</a:t>
            </a:r>
            <a:endParaRPr lang="en-US" sz="3000" dirty="0"/>
          </a:p>
        </p:txBody>
      </p:sp>
      <p:sp>
        <p:nvSpPr>
          <p:cNvPr id="4" name="Shape 2"/>
          <p:cNvSpPr/>
          <p:nvPr/>
        </p:nvSpPr>
        <p:spPr>
          <a:xfrm>
            <a:off x="594360" y="1645920"/>
            <a:ext cx="10972800" cy="1097280"/>
          </a:xfrm>
          <a:prstGeom prst="roundRect">
            <a:avLst>
              <a:gd name="adj" fmla="val 7500"/>
            </a:avLst>
          </a:prstGeom>
          <a:solidFill>
            <a:srgbClr val="ECEAE4"/>
          </a:solidFill>
          <a:ln w="12700">
            <a:solidFill>
              <a:srgbClr val="ECEAE4"/>
            </a:solidFill>
            <a:prstDash val="solid"/>
          </a:ln>
        </p:spPr>
      </p:sp>
      <p:sp>
        <p:nvSpPr>
          <p:cNvPr id="5" name="Shape 3"/>
          <p:cNvSpPr/>
          <p:nvPr/>
        </p:nvSpPr>
        <p:spPr>
          <a:xfrm>
            <a:off x="868680" y="1984248"/>
            <a:ext cx="420624" cy="420624"/>
          </a:xfrm>
          <a:prstGeom prst="ellipse">
            <a:avLst/>
          </a:prstGeom>
          <a:solidFill>
            <a:srgbClr val="B02532"/>
          </a:solidFill>
          <a:ln/>
        </p:spPr>
      </p:sp>
      <p:sp>
        <p:nvSpPr>
          <p:cNvPr id="6" name="Text 4"/>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29800" cy="10972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On inscrit le diagnostic principal et les affections qui ont influencé les soins et sont documentées.</a:t>
            </a:r>
            <a:endParaRPr lang="en-US" sz="1900" dirty="0"/>
          </a:p>
        </p:txBody>
      </p:sp>
      <p:sp>
        <p:nvSpPr>
          <p:cNvPr id="8" name="Shape 6"/>
          <p:cNvSpPr/>
          <p:nvPr/>
        </p:nvSpPr>
        <p:spPr>
          <a:xfrm>
            <a:off x="594360" y="2880360"/>
            <a:ext cx="10972800" cy="1097280"/>
          </a:xfrm>
          <a:prstGeom prst="roundRect">
            <a:avLst>
              <a:gd name="adj" fmla="val 7500"/>
            </a:avLst>
          </a:prstGeom>
          <a:solidFill>
            <a:srgbClr val="ECEAE4"/>
          </a:solidFill>
          <a:ln w="12700">
            <a:solidFill>
              <a:srgbClr val="ECEAE4"/>
            </a:solidFill>
            <a:prstDash val="solid"/>
          </a:ln>
        </p:spPr>
      </p:sp>
      <p:sp>
        <p:nvSpPr>
          <p:cNvPr id="9" name="Shape 7"/>
          <p:cNvSpPr/>
          <p:nvPr/>
        </p:nvSpPr>
        <p:spPr>
          <a:xfrm>
            <a:off x="868680" y="3218688"/>
            <a:ext cx="420624" cy="420624"/>
          </a:xfrm>
          <a:prstGeom prst="ellipse">
            <a:avLst/>
          </a:prstGeom>
          <a:solidFill>
            <a:srgbClr val="B02532"/>
          </a:solidFill>
          <a:ln/>
        </p:spPr>
      </p:sp>
      <p:sp>
        <p:nvSpPr>
          <p:cNvPr id="10" name="Text 8"/>
          <p:cNvSpPr/>
          <p:nvPr/>
        </p:nvSpPr>
        <p:spPr>
          <a:xfrm>
            <a:off x="868680" y="32186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880360"/>
            <a:ext cx="9829800" cy="10972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Les affections d’un épisode antérieur, sans lien avec l’épisode actuel, ne sont pas inscrites.</a:t>
            </a:r>
            <a:endParaRPr lang="en-US" sz="1900" dirty="0"/>
          </a:p>
        </p:txBody>
      </p:sp>
      <p:sp>
        <p:nvSpPr>
          <p:cNvPr id="12" name="Shape 10"/>
          <p:cNvSpPr/>
          <p:nvPr/>
        </p:nvSpPr>
        <p:spPr>
          <a:xfrm>
            <a:off x="594360" y="4114800"/>
            <a:ext cx="10972800" cy="1097280"/>
          </a:xfrm>
          <a:prstGeom prst="roundRect">
            <a:avLst>
              <a:gd name="adj" fmla="val 7500"/>
            </a:avLst>
          </a:prstGeom>
          <a:solidFill>
            <a:srgbClr val="ECEAE4"/>
          </a:solidFill>
          <a:ln w="12700">
            <a:solidFill>
              <a:srgbClr val="ECEAE4"/>
            </a:solidFill>
            <a:prstDash val="solid"/>
          </a:ln>
        </p:spPr>
      </p:sp>
      <p:sp>
        <p:nvSpPr>
          <p:cNvPr id="13" name="Shape 11"/>
          <p:cNvSpPr/>
          <p:nvPr/>
        </p:nvSpPr>
        <p:spPr>
          <a:xfrm>
            <a:off x="868680" y="4453128"/>
            <a:ext cx="420624" cy="420624"/>
          </a:xfrm>
          <a:prstGeom prst="ellipse">
            <a:avLst/>
          </a:prstGeom>
          <a:solidFill>
            <a:srgbClr val="B02532"/>
          </a:solidFill>
          <a:ln/>
        </p:spPr>
      </p:sp>
      <p:sp>
        <p:nvSpPr>
          <p:cNvPr id="14" name="Text 12"/>
          <p:cNvSpPr/>
          <p:nvPr/>
        </p:nvSpPr>
        <p:spPr>
          <a:xfrm>
            <a:off x="868680" y="4453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4114800"/>
            <a:ext cx="9829800" cy="10972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 dossier médical est le document médical du patient, une source de données statistiques et la base du paiement de l’hôpital.</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DEUXIÈME DÉCISION · CE QUE DISENT LES DONNÉES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B : les diagnostics traités et documentés</a:t>
            </a:r>
            <a:endParaRPr lang="en-US" sz="2800" dirty="0"/>
          </a:p>
        </p:txBody>
      </p:sp>
      <p:sp>
        <p:nvSpPr>
          <p:cNvPr id="4" name="Shape 2"/>
          <p:cNvSpPr/>
          <p:nvPr/>
        </p:nvSpPr>
        <p:spPr>
          <a:xfrm>
            <a:off x="594360" y="1600200"/>
            <a:ext cx="10972800" cy="749808"/>
          </a:xfrm>
          <a:prstGeom prst="roundRect">
            <a:avLst>
              <a:gd name="adj" fmla="val 10976"/>
            </a:avLst>
          </a:prstGeom>
          <a:solidFill>
            <a:srgbClr val="ECEAE4"/>
          </a:solidFill>
          <a:ln w="12700">
            <a:solidFill>
              <a:srgbClr val="ECEAE4"/>
            </a:solidFill>
            <a:prstDash val="solid"/>
          </a:ln>
        </p:spPr>
      </p:sp>
      <p:sp>
        <p:nvSpPr>
          <p:cNvPr id="5" name="Shape 3"/>
          <p:cNvSpPr/>
          <p:nvPr/>
        </p:nvSpPr>
        <p:spPr>
          <a:xfrm>
            <a:off x="868680" y="1764792"/>
            <a:ext cx="420624" cy="420624"/>
          </a:xfrm>
          <a:prstGeom prst="ellipse">
            <a:avLst/>
          </a:prstGeom>
          <a:solidFill>
            <a:srgbClr val="FFC24B"/>
          </a:solidFill>
          <a:ln/>
        </p:spPr>
      </p:sp>
      <p:sp>
        <p:nvSpPr>
          <p:cNvPr id="6" name="Text 4"/>
          <p:cNvSpPr/>
          <p:nvPr/>
        </p:nvSpPr>
        <p:spPr>
          <a:xfrm>
            <a:off x="868680" y="1764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508760" y="1600200"/>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Sous-codage : groupe plus simple que le cas, l’hôpital perd, les données sur les comorbidités se perdent.</a:t>
            </a:r>
            <a:endParaRPr lang="en-US" sz="1600" dirty="0"/>
          </a:p>
        </p:txBody>
      </p:sp>
      <p:sp>
        <p:nvSpPr>
          <p:cNvPr id="8" name="Shape 6"/>
          <p:cNvSpPr/>
          <p:nvPr/>
        </p:nvSpPr>
        <p:spPr>
          <a:xfrm>
            <a:off x="594360" y="2441448"/>
            <a:ext cx="10972800" cy="749808"/>
          </a:xfrm>
          <a:prstGeom prst="roundRect">
            <a:avLst>
              <a:gd name="adj" fmla="val 10976"/>
            </a:avLst>
          </a:prstGeom>
          <a:solidFill>
            <a:srgbClr val="ECEAE4"/>
          </a:solidFill>
          <a:ln w="12700">
            <a:solidFill>
              <a:srgbClr val="ECEAE4"/>
            </a:solidFill>
            <a:prstDash val="solid"/>
          </a:ln>
        </p:spPr>
      </p:sp>
      <p:sp>
        <p:nvSpPr>
          <p:cNvPr id="9" name="Shape 7"/>
          <p:cNvSpPr/>
          <p:nvPr/>
        </p:nvSpPr>
        <p:spPr>
          <a:xfrm>
            <a:off x="868680" y="2606040"/>
            <a:ext cx="420624" cy="420624"/>
          </a:xfrm>
          <a:prstGeom prst="ellipse">
            <a:avLst/>
          </a:prstGeom>
          <a:solidFill>
            <a:srgbClr val="FFC24B"/>
          </a:solidFill>
          <a:ln/>
        </p:spPr>
      </p:sp>
      <p:sp>
        <p:nvSpPr>
          <p:cNvPr id="10" name="Text 8"/>
          <p:cNvSpPr/>
          <p:nvPr/>
        </p:nvSpPr>
        <p:spPr>
          <a:xfrm>
            <a:off x="86868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1" name="Text 9"/>
          <p:cNvSpPr/>
          <p:nvPr/>
        </p:nvSpPr>
        <p:spPr>
          <a:xfrm>
            <a:off x="1508760" y="2441448"/>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Correct : le diabète et l’insuffisance cardiaque ont influencé les soins, ce sont donc des diagnostics secondaires.</a:t>
            </a:r>
            <a:endParaRPr lang="en-US" sz="1600" dirty="0"/>
          </a:p>
        </p:txBody>
      </p:sp>
      <p:sp>
        <p:nvSpPr>
          <p:cNvPr id="12" name="Shape 10"/>
          <p:cNvSpPr/>
          <p:nvPr/>
        </p:nvSpPr>
        <p:spPr>
          <a:xfrm>
            <a:off x="594360" y="3282696"/>
            <a:ext cx="10972800" cy="749808"/>
          </a:xfrm>
          <a:prstGeom prst="roundRect">
            <a:avLst>
              <a:gd name="adj" fmla="val 10976"/>
            </a:avLst>
          </a:prstGeom>
          <a:solidFill>
            <a:srgbClr val="ECEAE4"/>
          </a:solidFill>
          <a:ln w="12700">
            <a:solidFill>
              <a:srgbClr val="ECEAE4"/>
            </a:solidFill>
            <a:prstDash val="solid"/>
          </a:ln>
        </p:spPr>
      </p:sp>
      <p:sp>
        <p:nvSpPr>
          <p:cNvPr id="13" name="Shape 11"/>
          <p:cNvSpPr/>
          <p:nvPr/>
        </p:nvSpPr>
        <p:spPr>
          <a:xfrm>
            <a:off x="868680" y="3447288"/>
            <a:ext cx="420624" cy="420624"/>
          </a:xfrm>
          <a:prstGeom prst="ellipse">
            <a:avLst/>
          </a:prstGeom>
          <a:solidFill>
            <a:srgbClr val="FFC24B"/>
          </a:solidFill>
          <a:ln/>
        </p:spPr>
      </p:sp>
      <p:sp>
        <p:nvSpPr>
          <p:cNvPr id="14" name="Text 12"/>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5" name="Text 13"/>
          <p:cNvSpPr/>
          <p:nvPr/>
        </p:nvSpPr>
        <p:spPr>
          <a:xfrm>
            <a:off x="1508760" y="3282696"/>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Surcodage : le cas ne résiste pas à la confirmation sur données cliniques.</a:t>
            </a:r>
            <a:endParaRPr lang="en-US" sz="1600" dirty="0"/>
          </a:p>
        </p:txBody>
      </p:sp>
      <p:sp>
        <p:nvSpPr>
          <p:cNvPr id="16" name="Shape 14"/>
          <p:cNvSpPr/>
          <p:nvPr/>
        </p:nvSpPr>
        <p:spPr>
          <a:xfrm>
            <a:off x="594360" y="4123944"/>
            <a:ext cx="10972800" cy="749808"/>
          </a:xfrm>
          <a:prstGeom prst="roundRect">
            <a:avLst>
              <a:gd name="adj" fmla="val 10976"/>
            </a:avLst>
          </a:prstGeom>
          <a:solidFill>
            <a:srgbClr val="ECEAE4"/>
          </a:solidFill>
          <a:ln w="12700">
            <a:solidFill>
              <a:srgbClr val="ECEAE4"/>
            </a:solidFill>
            <a:prstDash val="solid"/>
          </a:ln>
        </p:spPr>
      </p:sp>
      <p:sp>
        <p:nvSpPr>
          <p:cNvPr id="17" name="Shape 15"/>
          <p:cNvSpPr/>
          <p:nvPr/>
        </p:nvSpPr>
        <p:spPr>
          <a:xfrm>
            <a:off x="868680" y="4288536"/>
            <a:ext cx="420624" cy="420624"/>
          </a:xfrm>
          <a:prstGeom prst="ellipse">
            <a:avLst/>
          </a:prstGeom>
          <a:solidFill>
            <a:srgbClr val="FFC24B"/>
          </a:solidFill>
          <a:ln/>
        </p:spPr>
      </p:sp>
      <p:sp>
        <p:nvSpPr>
          <p:cNvPr id="18" name="Text 16"/>
          <p:cNvSpPr/>
          <p:nvPr/>
        </p:nvSpPr>
        <p:spPr>
          <a:xfrm>
            <a:off x="86868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9" name="Text 17"/>
          <p:cNvSpPr/>
          <p:nvPr/>
        </p:nvSpPr>
        <p:spPr>
          <a:xfrm>
            <a:off x="1508760" y="4123944"/>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Déplace la responsabilité : les diagnostics sont choisis par le médecin responsable du traitement (OMS, CIM-10).</a:t>
            </a:r>
            <a:endParaRPr lang="en-US" sz="1600" dirty="0"/>
          </a:p>
        </p:txBody>
      </p:sp>
      <p:sp>
        <p:nvSpPr>
          <p:cNvPr id="20" name="Shape 18"/>
          <p:cNvSpPr/>
          <p:nvPr/>
        </p:nvSpPr>
        <p:spPr>
          <a:xfrm>
            <a:off x="594360" y="5120640"/>
            <a:ext cx="10972800" cy="731520"/>
          </a:xfrm>
          <a:prstGeom prst="roundRect">
            <a:avLst>
              <a:gd name="adj" fmla="val 11250"/>
            </a:avLst>
          </a:prstGeom>
          <a:solidFill>
            <a:srgbClr val="11121A"/>
          </a:solidFill>
          <a:ln w="12700">
            <a:solidFill>
              <a:srgbClr val="11121A"/>
            </a:solidFill>
            <a:prstDash val="solid"/>
          </a:ln>
        </p:spPr>
      </p:sp>
      <p:sp>
        <p:nvSpPr>
          <p:cNvPr id="21" name="Text 19"/>
          <p:cNvSpPr/>
          <p:nvPr/>
        </p:nvSpPr>
        <p:spPr>
          <a:xfrm>
            <a:off x="868680" y="5120640"/>
            <a:ext cx="10424160" cy="7315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 logiciel de groupage ne peut pas corriger un dossier incomplet.</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PAIEMENT PAR DRG</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Les avantages et les limites</a:t>
            </a:r>
            <a:endParaRPr lang="en-US" sz="3200" dirty="0"/>
          </a:p>
        </p:txBody>
      </p:sp>
      <p:sp>
        <p:nvSpPr>
          <p:cNvPr id="4" name="Shape 2"/>
          <p:cNvSpPr/>
          <p:nvPr/>
        </p:nvSpPr>
        <p:spPr>
          <a:xfrm>
            <a:off x="594360" y="1645920"/>
            <a:ext cx="5372100" cy="3474720"/>
          </a:xfrm>
          <a:prstGeom prst="roundRect">
            <a:avLst>
              <a:gd name="adj" fmla="val 2368"/>
            </a:avLst>
          </a:prstGeom>
          <a:solidFill>
            <a:srgbClr val="1D1F2B"/>
          </a:solidFill>
          <a:ln w="12700">
            <a:solidFill>
              <a:srgbClr val="1D1F2B"/>
            </a:solidFill>
            <a:prstDash val="solid"/>
          </a:ln>
        </p:spPr>
      </p:sp>
      <p:sp>
        <p:nvSpPr>
          <p:cNvPr id="5" name="Text 3"/>
          <p:cNvSpPr/>
          <p:nvPr/>
        </p:nvSpPr>
        <p:spPr>
          <a:xfrm>
            <a:off x="795528" y="1773936"/>
            <a:ext cx="4969764" cy="384048"/>
          </a:xfrm>
          <a:prstGeom prst="rect">
            <a:avLst/>
          </a:prstGeom>
          <a:noFill/>
          <a:ln/>
        </p:spPr>
        <p:txBody>
          <a:bodyPr wrap="square" lIns="0" tIns="0" rIns="0" bIns="0" rtlCol="0" anchor="t"/>
          <a:lstStyle/>
          <a:p>
            <a:pPr indent="0" marL="0">
              <a:buNone/>
            </a:pPr>
            <a:r>
              <a:rPr lang="en-US" sz="1400" b="1" spc="100" kern="0" dirty="0">
                <a:solidFill>
                  <a:srgbClr val="27D3BE"/>
                </a:solidFill>
                <a:latin typeface="Palatino Linotype" pitchFamily="34" charset="0"/>
                <a:ea typeface="Palatino Linotype" pitchFamily="34" charset="-122"/>
                <a:cs typeface="Palatino Linotype" pitchFamily="34" charset="-120"/>
              </a:rPr>
              <a:t>LES AVANTAGES</a:t>
            </a:r>
            <a:endParaRPr lang="en-US" sz="1400" dirty="0"/>
          </a:p>
        </p:txBody>
      </p:sp>
      <p:sp>
        <p:nvSpPr>
          <p:cNvPr id="6" name="Text 4"/>
          <p:cNvSpPr/>
          <p:nvPr/>
        </p:nvSpPr>
        <p:spPr>
          <a:xfrm>
            <a:off x="795528" y="2157984"/>
            <a:ext cx="4969764" cy="28346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l’hôpital sait d’avance ce qu’il reçoit et a intérêt à garder ses coûts sous le tarif ; les cas deviennent comparables ; le payeur budgète selon le nombre et le type de cas</a:t>
            </a:r>
            <a:endParaRPr lang="en-US" sz="1900" dirty="0"/>
          </a:p>
        </p:txBody>
      </p:sp>
      <p:sp>
        <p:nvSpPr>
          <p:cNvPr id="7" name="Shape 5"/>
          <p:cNvSpPr/>
          <p:nvPr/>
        </p:nvSpPr>
        <p:spPr>
          <a:xfrm>
            <a:off x="6195060" y="1645920"/>
            <a:ext cx="5372100" cy="3474720"/>
          </a:xfrm>
          <a:prstGeom prst="roundRect">
            <a:avLst>
              <a:gd name="adj" fmla="val 2368"/>
            </a:avLst>
          </a:prstGeom>
          <a:solidFill>
            <a:srgbClr val="1D1F2B"/>
          </a:solidFill>
          <a:ln w="12700">
            <a:solidFill>
              <a:srgbClr val="1D1F2B"/>
            </a:solidFill>
            <a:prstDash val="solid"/>
          </a:ln>
        </p:spPr>
      </p:sp>
      <p:sp>
        <p:nvSpPr>
          <p:cNvPr id="8" name="Text 6"/>
          <p:cNvSpPr/>
          <p:nvPr/>
        </p:nvSpPr>
        <p:spPr>
          <a:xfrm>
            <a:off x="6396228" y="1773936"/>
            <a:ext cx="4969764" cy="384048"/>
          </a:xfrm>
          <a:prstGeom prst="rect">
            <a:avLst/>
          </a:prstGeom>
          <a:noFill/>
          <a:ln/>
        </p:spPr>
        <p:txBody>
          <a:bodyPr wrap="square" lIns="0" tIns="0" rIns="0" bIns="0" rtlCol="0" anchor="t"/>
          <a:lstStyle/>
          <a:p>
            <a:pPr indent="0" marL="0">
              <a:buNone/>
            </a:pPr>
            <a:r>
              <a:rPr lang="en-US" sz="1400" b="1" spc="100" kern="0" dirty="0">
                <a:solidFill>
                  <a:srgbClr val="FF4757"/>
                </a:solidFill>
                <a:latin typeface="Palatino Linotype" pitchFamily="34" charset="0"/>
                <a:ea typeface="Palatino Linotype" pitchFamily="34" charset="-122"/>
                <a:cs typeface="Palatino Linotype" pitchFamily="34" charset="-120"/>
              </a:rPr>
              <a:t>LES LIMITES</a:t>
            </a:r>
            <a:endParaRPr lang="en-US" sz="1400" dirty="0"/>
          </a:p>
        </p:txBody>
      </p:sp>
      <p:sp>
        <p:nvSpPr>
          <p:cNvPr id="9" name="Text 7"/>
          <p:cNvSpPr/>
          <p:nvPr/>
        </p:nvSpPr>
        <p:spPr>
          <a:xfrm>
            <a:off x="6396228" y="2157984"/>
            <a:ext cx="4969764" cy="28346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plus d’hospitalisations, sorties trop précoces, évitement des cas lourds ; le surcodage exige un contrôle ; l’hospitalisation évitée ne rapporte rien</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9B7EF7"/>
          </a:solidFill>
          <a:ln w="12700">
            <a:solidFill>
              <a:srgbClr val="9B7EF7"/>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100 POINTS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L’OUTIL DE LA SÉANCE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fonds supplémentaire de la Caisse B</a:t>
            </a:r>
            <a:endParaRPr lang="en-US" sz="3000" dirty="0"/>
          </a:p>
        </p:txBody>
      </p:sp>
      <p:sp>
        <p:nvSpPr>
          <p:cNvPr id="6" name="Text 4"/>
          <p:cNvSpPr/>
          <p:nvPr/>
        </p:nvSpPr>
        <p:spPr>
          <a:xfrm>
            <a:off x="594360" y="1463040"/>
            <a:ext cx="10972800" cy="82296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10 millions de lei ; un point = 100 000 lei. Les patients comme Mme M. arrivent aux urgences le soir et le week-end. Répartissez 100 points :</a:t>
            </a:r>
            <a:endParaRPr lang="en-US" sz="1700" dirty="0"/>
          </a:p>
        </p:txBody>
      </p:sp>
      <p:sp>
        <p:nvSpPr>
          <p:cNvPr id="7" name="Shape 5"/>
          <p:cNvSpPr/>
          <p:nvPr/>
        </p:nvSpPr>
        <p:spPr>
          <a:xfrm>
            <a:off x="594360" y="2377440"/>
            <a:ext cx="2606040" cy="1371600"/>
          </a:xfrm>
          <a:prstGeom prst="roundRect">
            <a:avLst>
              <a:gd name="adj" fmla="val 6000"/>
            </a:avLst>
          </a:prstGeom>
          <a:solidFill>
            <a:srgbClr val="1D1F2B"/>
          </a:solidFill>
          <a:ln w="12700">
            <a:solidFill>
              <a:srgbClr val="1D1F2B"/>
            </a:solidFill>
            <a:prstDash val="solid"/>
          </a:ln>
        </p:spPr>
      </p:sp>
      <p:sp>
        <p:nvSpPr>
          <p:cNvPr id="8" name="Text 6"/>
          <p:cNvSpPr/>
          <p:nvPr/>
        </p:nvSpPr>
        <p:spPr>
          <a:xfrm>
            <a:off x="795528" y="2505456"/>
            <a:ext cx="220370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LES SOINS PRIMAIRES</a:t>
            </a:r>
            <a:endParaRPr lang="en-US" sz="1300" dirty="0"/>
          </a:p>
        </p:txBody>
      </p:sp>
      <p:sp>
        <p:nvSpPr>
          <p:cNvPr id="9" name="Text 7"/>
          <p:cNvSpPr/>
          <p:nvPr/>
        </p:nvSpPr>
        <p:spPr>
          <a:xfrm>
            <a:off x="795528" y="2889504"/>
            <a:ext cx="2203704" cy="73152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consultation de suivi : 60 lei</a:t>
            </a:r>
            <a:endParaRPr lang="en-US" sz="1600" dirty="0"/>
          </a:p>
        </p:txBody>
      </p:sp>
      <p:sp>
        <p:nvSpPr>
          <p:cNvPr id="10" name="Shape 8"/>
          <p:cNvSpPr/>
          <p:nvPr/>
        </p:nvSpPr>
        <p:spPr>
          <a:xfrm>
            <a:off x="3383280" y="2377440"/>
            <a:ext cx="2606040" cy="1371600"/>
          </a:xfrm>
          <a:prstGeom prst="roundRect">
            <a:avLst>
              <a:gd name="adj" fmla="val 6000"/>
            </a:avLst>
          </a:prstGeom>
          <a:solidFill>
            <a:srgbClr val="1D1F2B"/>
          </a:solidFill>
          <a:ln w="12700">
            <a:solidFill>
              <a:srgbClr val="1D1F2B"/>
            </a:solidFill>
            <a:prstDash val="solid"/>
          </a:ln>
        </p:spPr>
      </p:sp>
      <p:sp>
        <p:nvSpPr>
          <p:cNvPr id="11" name="Text 9"/>
          <p:cNvSpPr/>
          <p:nvPr/>
        </p:nvSpPr>
        <p:spPr>
          <a:xfrm>
            <a:off x="3584448" y="2505456"/>
            <a:ext cx="220370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L’AMBULATOIRE</a:t>
            </a:r>
            <a:endParaRPr lang="en-US" sz="1300" dirty="0"/>
          </a:p>
        </p:txBody>
      </p:sp>
      <p:sp>
        <p:nvSpPr>
          <p:cNvPr id="12" name="Text 10"/>
          <p:cNvSpPr/>
          <p:nvPr/>
        </p:nvSpPr>
        <p:spPr>
          <a:xfrm>
            <a:off x="3584448" y="2889504"/>
            <a:ext cx="2203704" cy="73152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consultation de spécialité : 120 lei</a:t>
            </a:r>
            <a:endParaRPr lang="en-US" sz="1600" dirty="0"/>
          </a:p>
        </p:txBody>
      </p:sp>
      <p:sp>
        <p:nvSpPr>
          <p:cNvPr id="13" name="Shape 11"/>
          <p:cNvSpPr/>
          <p:nvPr/>
        </p:nvSpPr>
        <p:spPr>
          <a:xfrm>
            <a:off x="6172200" y="2377440"/>
            <a:ext cx="2606040" cy="1371600"/>
          </a:xfrm>
          <a:prstGeom prst="roundRect">
            <a:avLst>
              <a:gd name="adj" fmla="val 6000"/>
            </a:avLst>
          </a:prstGeom>
          <a:solidFill>
            <a:srgbClr val="1D1F2B"/>
          </a:solidFill>
          <a:ln w="12700">
            <a:solidFill>
              <a:srgbClr val="1D1F2B"/>
            </a:solidFill>
            <a:prstDash val="solid"/>
          </a:ln>
        </p:spPr>
      </p:sp>
      <p:sp>
        <p:nvSpPr>
          <p:cNvPr id="14" name="Text 12"/>
          <p:cNvSpPr/>
          <p:nvPr/>
        </p:nvSpPr>
        <p:spPr>
          <a:xfrm>
            <a:off x="6373368" y="2505456"/>
            <a:ext cx="220370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LES HÔPITAUX</a:t>
            </a:r>
            <a:endParaRPr lang="en-US" sz="1300" dirty="0"/>
          </a:p>
        </p:txBody>
      </p:sp>
      <p:sp>
        <p:nvSpPr>
          <p:cNvPr id="15" name="Text 13"/>
          <p:cNvSpPr/>
          <p:nvPr/>
        </p:nvSpPr>
        <p:spPr>
          <a:xfrm>
            <a:off x="6373368" y="2889504"/>
            <a:ext cx="2203704" cy="73152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cas aigu comme celui de Mme M. (option B) : 3 300 lei</a:t>
            </a:r>
            <a:endParaRPr lang="en-US" sz="1600" dirty="0"/>
          </a:p>
        </p:txBody>
      </p:sp>
      <p:sp>
        <p:nvSpPr>
          <p:cNvPr id="16" name="Shape 14"/>
          <p:cNvSpPr/>
          <p:nvPr/>
        </p:nvSpPr>
        <p:spPr>
          <a:xfrm>
            <a:off x="8961120" y="2377440"/>
            <a:ext cx="2606040" cy="1371600"/>
          </a:xfrm>
          <a:prstGeom prst="roundRect">
            <a:avLst>
              <a:gd name="adj" fmla="val 6000"/>
            </a:avLst>
          </a:prstGeom>
          <a:solidFill>
            <a:srgbClr val="1D1F2B"/>
          </a:solidFill>
          <a:ln w="12700">
            <a:solidFill>
              <a:srgbClr val="1D1F2B"/>
            </a:solidFill>
            <a:prstDash val="solid"/>
          </a:ln>
        </p:spPr>
      </p:sp>
      <p:sp>
        <p:nvSpPr>
          <p:cNvPr id="17" name="Text 15"/>
          <p:cNvSpPr/>
          <p:nvPr/>
        </p:nvSpPr>
        <p:spPr>
          <a:xfrm>
            <a:off x="9162288" y="2505456"/>
            <a:ext cx="220370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LA PRÉVENTION</a:t>
            </a:r>
            <a:endParaRPr lang="en-US" sz="1300" dirty="0"/>
          </a:p>
        </p:txBody>
      </p:sp>
      <p:sp>
        <p:nvSpPr>
          <p:cNvPr id="18" name="Text 16"/>
          <p:cNvSpPr/>
          <p:nvPr/>
        </p:nvSpPr>
        <p:spPr>
          <a:xfrm>
            <a:off x="9162288" y="2889504"/>
            <a:ext cx="2203704" cy="73152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évaluation du risque : 40 lei</a:t>
            </a:r>
            <a:endParaRPr lang="en-US" sz="1600" dirty="0"/>
          </a:p>
        </p:txBody>
      </p:sp>
      <p:sp>
        <p:nvSpPr>
          <p:cNvPr id="19" name="Shape 17"/>
          <p:cNvSpPr/>
          <p:nvPr/>
        </p:nvSpPr>
        <p:spPr>
          <a:xfrm>
            <a:off x="594360" y="3977640"/>
            <a:ext cx="10972800" cy="1051560"/>
          </a:xfrm>
          <a:prstGeom prst="roundRect">
            <a:avLst>
              <a:gd name="adj" fmla="val 7826"/>
            </a:avLst>
          </a:prstGeom>
          <a:solidFill>
            <a:srgbClr val="272A38"/>
          </a:solidFill>
          <a:ln w="12700">
            <a:solidFill>
              <a:srgbClr val="272A38"/>
            </a:solidFill>
            <a:prstDash val="solid"/>
          </a:ln>
        </p:spPr>
      </p:sp>
      <p:sp>
        <p:nvSpPr>
          <p:cNvPr id="20" name="Text 18"/>
          <p:cNvSpPr/>
          <p:nvPr/>
        </p:nvSpPr>
        <p:spPr>
          <a:xfrm>
            <a:off x="868680" y="3977640"/>
            <a:ext cx="1828800" cy="1051560"/>
          </a:xfrm>
          <a:prstGeom prst="rect">
            <a:avLst/>
          </a:prstGeom>
          <a:noFill/>
          <a:ln/>
        </p:spPr>
        <p:txBody>
          <a:bodyPr wrap="square" lIns="0" tIns="0" rIns="0" bIns="0" rtlCol="0" anchor="ctr"/>
          <a:lstStyle/>
          <a:p>
            <a:pPr indent="0" marL="0">
              <a:buNone/>
            </a:pPr>
            <a:r>
              <a:rPr lang="en-US" sz="4400" b="1" dirty="0">
                <a:solidFill>
                  <a:srgbClr val="FFC24B"/>
                </a:solidFill>
                <a:latin typeface="Palatino Linotype" pitchFamily="34" charset="0"/>
                <a:ea typeface="Palatino Linotype" pitchFamily="34" charset="-122"/>
                <a:cs typeface="Palatino Linotype" pitchFamily="34" charset="-120"/>
              </a:rPr>
              <a:t>100</a:t>
            </a:r>
            <a:endParaRPr lang="en-US" sz="4400" dirty="0"/>
          </a:p>
        </p:txBody>
      </p:sp>
      <p:sp>
        <p:nvSpPr>
          <p:cNvPr id="21" name="Shape 19"/>
          <p:cNvSpPr/>
          <p:nvPr/>
        </p:nvSpPr>
        <p:spPr>
          <a:xfrm>
            <a:off x="2834640" y="4206240"/>
            <a:ext cx="1965960" cy="594360"/>
          </a:xfrm>
          <a:prstGeom prst="rect">
            <a:avLst/>
          </a:prstGeom>
          <a:solidFill>
            <a:srgbClr val="1D1F2B"/>
          </a:solidFill>
          <a:ln w="12700">
            <a:solidFill>
              <a:srgbClr val="959BB0"/>
            </a:solidFill>
            <a:prstDash val="dash"/>
          </a:ln>
        </p:spPr>
      </p:sp>
      <p:sp>
        <p:nvSpPr>
          <p:cNvPr id="22" name="Shape 20"/>
          <p:cNvSpPr/>
          <p:nvPr/>
        </p:nvSpPr>
        <p:spPr>
          <a:xfrm>
            <a:off x="4983480" y="4206240"/>
            <a:ext cx="1965960" cy="594360"/>
          </a:xfrm>
          <a:prstGeom prst="rect">
            <a:avLst/>
          </a:prstGeom>
          <a:solidFill>
            <a:srgbClr val="1D1F2B"/>
          </a:solidFill>
          <a:ln w="12700">
            <a:solidFill>
              <a:srgbClr val="959BB0"/>
            </a:solidFill>
            <a:prstDash val="dash"/>
          </a:ln>
        </p:spPr>
      </p:sp>
      <p:sp>
        <p:nvSpPr>
          <p:cNvPr id="23" name="Shape 21"/>
          <p:cNvSpPr/>
          <p:nvPr/>
        </p:nvSpPr>
        <p:spPr>
          <a:xfrm>
            <a:off x="7132320" y="4206240"/>
            <a:ext cx="1965960" cy="594360"/>
          </a:xfrm>
          <a:prstGeom prst="rect">
            <a:avLst/>
          </a:prstGeom>
          <a:solidFill>
            <a:srgbClr val="1D1F2B"/>
          </a:solidFill>
          <a:ln w="12700">
            <a:solidFill>
              <a:srgbClr val="959BB0"/>
            </a:solidFill>
            <a:prstDash val="dash"/>
          </a:ln>
        </p:spPr>
      </p:sp>
      <p:sp>
        <p:nvSpPr>
          <p:cNvPr id="24" name="Shape 22"/>
          <p:cNvSpPr/>
          <p:nvPr/>
        </p:nvSpPr>
        <p:spPr>
          <a:xfrm>
            <a:off x="9281160" y="4206240"/>
            <a:ext cx="1965960" cy="594360"/>
          </a:xfrm>
          <a:prstGeom prst="rect">
            <a:avLst/>
          </a:prstGeom>
          <a:solidFill>
            <a:srgbClr val="1D1F2B"/>
          </a:solidFill>
          <a:ln w="12700">
            <a:solidFill>
              <a:srgbClr val="959BB0"/>
            </a:solidFill>
            <a:prstDash val="dash"/>
          </a:ln>
        </p:spPr>
      </p:sp>
      <p:sp>
        <p:nvSpPr>
          <p:cNvPr id="25" name="Text 23"/>
          <p:cNvSpPr/>
          <p:nvPr/>
        </p:nvSpPr>
        <p:spPr>
          <a:xfrm>
            <a:off x="594360" y="5166360"/>
            <a:ext cx="1097280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Valeurs construites pour le cours.</a:t>
            </a:r>
            <a:endParaRPr lang="en-US" sz="1400" dirty="0"/>
          </a:p>
        </p:txBody>
      </p:sp>
      <p:sp>
        <p:nvSpPr>
          <p:cNvPr id="26" name="Text 24"/>
          <p:cNvSpPr/>
          <p:nvPr/>
        </p:nvSpPr>
        <p:spPr>
          <a:xfrm>
            <a:off x="594360" y="5577840"/>
            <a:ext cx="109728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100 POINTS · LES CONSÉQUENCES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Trois profils d’allocation</a:t>
            </a:r>
            <a:endParaRPr lang="en-US" sz="3100" dirty="0"/>
          </a:p>
        </p:txBody>
      </p:sp>
      <p:sp>
        <p:nvSpPr>
          <p:cNvPr id="4" name="Text 2"/>
          <p:cNvSpPr/>
          <p:nvPr/>
        </p:nvSpPr>
        <p:spPr>
          <a:xfrm>
            <a:off x="731520" y="1554480"/>
            <a:ext cx="4114800" cy="365760"/>
          </a:xfrm>
          <a:prstGeom prst="rect">
            <a:avLst/>
          </a:prstGeom>
          <a:noFill/>
          <a:ln/>
        </p:spPr>
        <p:txBody>
          <a:bodyPr wrap="square" lIns="0" tIns="0" rIns="0" bIns="0" rtlCol="0" anchor="t"/>
          <a:lstStyle/>
          <a:p>
            <a:pPr algn="l"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LE PROFIL (POINTS)</a:t>
            </a:r>
            <a:endParaRPr lang="en-US" sz="1200" dirty="0"/>
          </a:p>
        </p:txBody>
      </p:sp>
      <p:sp>
        <p:nvSpPr>
          <p:cNvPr id="5" name="Text 3"/>
          <p:cNvSpPr/>
          <p:nvPr/>
        </p:nvSpPr>
        <p:spPr>
          <a:xfrm>
            <a:off x="5029200" y="1554480"/>
            <a:ext cx="155448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SUIVIS</a:t>
            </a:r>
            <a:endParaRPr lang="en-US" sz="1200" dirty="0"/>
          </a:p>
        </p:txBody>
      </p:sp>
      <p:sp>
        <p:nvSpPr>
          <p:cNvPr id="6" name="Text 4"/>
          <p:cNvSpPr/>
          <p:nvPr/>
        </p:nvSpPr>
        <p:spPr>
          <a:xfrm>
            <a:off x="6766560" y="1554480"/>
            <a:ext cx="146304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SPÉCIALISTE</a:t>
            </a:r>
            <a:endParaRPr lang="en-US" sz="1200" dirty="0"/>
          </a:p>
        </p:txBody>
      </p:sp>
      <p:sp>
        <p:nvSpPr>
          <p:cNvPr id="7" name="Text 5"/>
          <p:cNvSpPr/>
          <p:nvPr/>
        </p:nvSpPr>
        <p:spPr>
          <a:xfrm>
            <a:off x="8412480" y="1554480"/>
            <a:ext cx="146304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CAS AIGUS</a:t>
            </a:r>
            <a:endParaRPr lang="en-US" sz="1200" dirty="0"/>
          </a:p>
        </p:txBody>
      </p:sp>
      <p:sp>
        <p:nvSpPr>
          <p:cNvPr id="8" name="Text 6"/>
          <p:cNvSpPr/>
          <p:nvPr/>
        </p:nvSpPr>
        <p:spPr>
          <a:xfrm>
            <a:off x="10058400" y="1554480"/>
            <a:ext cx="1463040" cy="365760"/>
          </a:xfrm>
          <a:prstGeom prst="rect">
            <a:avLst/>
          </a:prstGeom>
          <a:noFill/>
          <a:ln/>
        </p:spPr>
        <p:txBody>
          <a:bodyPr wrap="square" lIns="0" tIns="0" rIns="0" bIns="0" rtlCol="0" anchor="t"/>
          <a:lstStyle/>
          <a:p>
            <a:pPr algn="l"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PRÉVENTION</a:t>
            </a:r>
            <a:endParaRPr lang="en-US" sz="1200" dirty="0"/>
          </a:p>
        </p:txBody>
      </p:sp>
      <p:sp>
        <p:nvSpPr>
          <p:cNvPr id="9" name="Shape 7"/>
          <p:cNvSpPr/>
          <p:nvPr/>
        </p:nvSpPr>
        <p:spPr>
          <a:xfrm>
            <a:off x="594360" y="2011680"/>
            <a:ext cx="10972800" cy="868680"/>
          </a:xfrm>
          <a:prstGeom prst="roundRect">
            <a:avLst>
              <a:gd name="adj" fmla="val 9474"/>
            </a:avLst>
          </a:prstGeom>
          <a:solidFill>
            <a:srgbClr val="ECEAE4"/>
          </a:solidFill>
          <a:ln w="12700">
            <a:solidFill>
              <a:srgbClr val="ECEAE4"/>
            </a:solidFill>
            <a:prstDash val="solid"/>
          </a:ln>
        </p:spPr>
      </p:sp>
      <p:sp>
        <p:nvSpPr>
          <p:cNvPr id="10" name="Text 8"/>
          <p:cNvSpPr/>
          <p:nvPr/>
        </p:nvSpPr>
        <p:spPr>
          <a:xfrm>
            <a:off x="731520" y="2011680"/>
            <a:ext cx="4023360" cy="868680"/>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 L’hôpital d’abord » (10 / 10 / 70 / 10)</a:t>
            </a:r>
            <a:endParaRPr lang="en-US" sz="1650" dirty="0"/>
          </a:p>
        </p:txBody>
      </p:sp>
      <p:sp>
        <p:nvSpPr>
          <p:cNvPr id="11" name="Text 9"/>
          <p:cNvSpPr/>
          <p:nvPr/>
        </p:nvSpPr>
        <p:spPr>
          <a:xfrm>
            <a:off x="5029200" y="2011680"/>
            <a:ext cx="146304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16 666</a:t>
            </a:r>
            <a:endParaRPr lang="en-US" sz="1600" dirty="0"/>
          </a:p>
        </p:txBody>
      </p:sp>
      <p:sp>
        <p:nvSpPr>
          <p:cNvPr id="12" name="Text 10"/>
          <p:cNvSpPr/>
          <p:nvPr/>
        </p:nvSpPr>
        <p:spPr>
          <a:xfrm>
            <a:off x="6766560" y="201168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8 333</a:t>
            </a:r>
            <a:endParaRPr lang="en-US" sz="1600" dirty="0"/>
          </a:p>
        </p:txBody>
      </p:sp>
      <p:sp>
        <p:nvSpPr>
          <p:cNvPr id="13" name="Text 11"/>
          <p:cNvSpPr/>
          <p:nvPr/>
        </p:nvSpPr>
        <p:spPr>
          <a:xfrm>
            <a:off x="8412480" y="201168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2 121</a:t>
            </a:r>
            <a:endParaRPr lang="en-US" sz="1600" dirty="0"/>
          </a:p>
        </p:txBody>
      </p:sp>
      <p:sp>
        <p:nvSpPr>
          <p:cNvPr id="14" name="Text 12"/>
          <p:cNvSpPr/>
          <p:nvPr/>
        </p:nvSpPr>
        <p:spPr>
          <a:xfrm>
            <a:off x="10058400" y="201168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25 000</a:t>
            </a:r>
            <a:endParaRPr lang="en-US" sz="1600" dirty="0"/>
          </a:p>
        </p:txBody>
      </p:sp>
      <p:sp>
        <p:nvSpPr>
          <p:cNvPr id="15" name="Shape 13"/>
          <p:cNvSpPr/>
          <p:nvPr/>
        </p:nvSpPr>
        <p:spPr>
          <a:xfrm>
            <a:off x="594360" y="2971800"/>
            <a:ext cx="10972800" cy="868680"/>
          </a:xfrm>
          <a:prstGeom prst="roundRect">
            <a:avLst>
              <a:gd name="adj" fmla="val 9474"/>
            </a:avLst>
          </a:prstGeom>
          <a:solidFill>
            <a:srgbClr val="ECEAE4"/>
          </a:solidFill>
          <a:ln w="12700">
            <a:solidFill>
              <a:srgbClr val="ECEAE4"/>
            </a:solidFill>
            <a:prstDash val="solid"/>
          </a:ln>
        </p:spPr>
      </p:sp>
      <p:sp>
        <p:nvSpPr>
          <p:cNvPr id="16" name="Text 14"/>
          <p:cNvSpPr/>
          <p:nvPr/>
        </p:nvSpPr>
        <p:spPr>
          <a:xfrm>
            <a:off x="731520" y="2971800"/>
            <a:ext cx="4023360" cy="868680"/>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 Partage égal » (25 / 25 / 25 / 25)</a:t>
            </a:r>
            <a:endParaRPr lang="en-US" sz="1650" dirty="0"/>
          </a:p>
        </p:txBody>
      </p:sp>
      <p:sp>
        <p:nvSpPr>
          <p:cNvPr id="17" name="Text 15"/>
          <p:cNvSpPr/>
          <p:nvPr/>
        </p:nvSpPr>
        <p:spPr>
          <a:xfrm>
            <a:off x="5029200" y="2971800"/>
            <a:ext cx="146304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41 666</a:t>
            </a:r>
            <a:endParaRPr lang="en-US" sz="1600" dirty="0"/>
          </a:p>
        </p:txBody>
      </p:sp>
      <p:sp>
        <p:nvSpPr>
          <p:cNvPr id="18" name="Text 16"/>
          <p:cNvSpPr/>
          <p:nvPr/>
        </p:nvSpPr>
        <p:spPr>
          <a:xfrm>
            <a:off x="6766560" y="297180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20 833</a:t>
            </a:r>
            <a:endParaRPr lang="en-US" sz="1600" dirty="0"/>
          </a:p>
        </p:txBody>
      </p:sp>
      <p:sp>
        <p:nvSpPr>
          <p:cNvPr id="19" name="Text 17"/>
          <p:cNvSpPr/>
          <p:nvPr/>
        </p:nvSpPr>
        <p:spPr>
          <a:xfrm>
            <a:off x="8412480" y="297180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757</a:t>
            </a:r>
            <a:endParaRPr lang="en-US" sz="1600" dirty="0"/>
          </a:p>
        </p:txBody>
      </p:sp>
      <p:sp>
        <p:nvSpPr>
          <p:cNvPr id="20" name="Text 18"/>
          <p:cNvSpPr/>
          <p:nvPr/>
        </p:nvSpPr>
        <p:spPr>
          <a:xfrm>
            <a:off x="10058400" y="297180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62 500</a:t>
            </a:r>
            <a:endParaRPr lang="en-US" sz="1600" dirty="0"/>
          </a:p>
        </p:txBody>
      </p:sp>
      <p:sp>
        <p:nvSpPr>
          <p:cNvPr id="21" name="Shape 19"/>
          <p:cNvSpPr/>
          <p:nvPr/>
        </p:nvSpPr>
        <p:spPr>
          <a:xfrm>
            <a:off x="594360" y="3931920"/>
            <a:ext cx="10972800" cy="868680"/>
          </a:xfrm>
          <a:prstGeom prst="roundRect">
            <a:avLst>
              <a:gd name="adj" fmla="val 9474"/>
            </a:avLst>
          </a:prstGeom>
          <a:solidFill>
            <a:srgbClr val="ECEAE4"/>
          </a:solidFill>
          <a:ln w="12700">
            <a:solidFill>
              <a:srgbClr val="ECEAE4"/>
            </a:solidFill>
            <a:prstDash val="solid"/>
          </a:ln>
        </p:spPr>
      </p:sp>
      <p:sp>
        <p:nvSpPr>
          <p:cNvPr id="22" name="Text 20"/>
          <p:cNvSpPr/>
          <p:nvPr/>
        </p:nvSpPr>
        <p:spPr>
          <a:xfrm>
            <a:off x="731520" y="3931920"/>
            <a:ext cx="4023360" cy="868680"/>
          </a:xfrm>
          <a:prstGeom prst="rect">
            <a:avLst/>
          </a:prstGeom>
          <a:noFill/>
          <a:ln/>
        </p:spPr>
        <p:txBody>
          <a:bodyPr wrap="square" lIns="0" tIns="0" rIns="0" bIns="0" rtlCol="0" anchor="ctr"/>
          <a:lstStyle/>
          <a:p>
            <a:pPr algn="l" indent="0" marL="0">
              <a:buNone/>
            </a:pPr>
            <a:r>
              <a:rPr lang="en-US" sz="1650" b="1" dirty="0">
                <a:solidFill>
                  <a:srgbClr val="11121A"/>
                </a:solidFill>
                <a:latin typeface="Palatino Linotype" pitchFamily="34" charset="0"/>
                <a:ea typeface="Palatino Linotype" pitchFamily="34" charset="-122"/>
                <a:cs typeface="Palatino Linotype" pitchFamily="34" charset="-120"/>
              </a:rPr>
              <a:t>« Soins primaires et prévention d’abord » (40 / 15 / 15 / 30)</a:t>
            </a:r>
            <a:endParaRPr lang="en-US" sz="1650" dirty="0"/>
          </a:p>
        </p:txBody>
      </p:sp>
      <p:sp>
        <p:nvSpPr>
          <p:cNvPr id="23" name="Text 21"/>
          <p:cNvSpPr/>
          <p:nvPr/>
        </p:nvSpPr>
        <p:spPr>
          <a:xfrm>
            <a:off x="5029200" y="3931920"/>
            <a:ext cx="146304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66 666</a:t>
            </a:r>
            <a:endParaRPr lang="en-US" sz="1600" dirty="0"/>
          </a:p>
        </p:txBody>
      </p:sp>
      <p:sp>
        <p:nvSpPr>
          <p:cNvPr id="24" name="Text 22"/>
          <p:cNvSpPr/>
          <p:nvPr/>
        </p:nvSpPr>
        <p:spPr>
          <a:xfrm>
            <a:off x="6766560" y="393192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12 500</a:t>
            </a:r>
            <a:endParaRPr lang="en-US" sz="1600" dirty="0"/>
          </a:p>
        </p:txBody>
      </p:sp>
      <p:sp>
        <p:nvSpPr>
          <p:cNvPr id="25" name="Text 23"/>
          <p:cNvSpPr/>
          <p:nvPr/>
        </p:nvSpPr>
        <p:spPr>
          <a:xfrm>
            <a:off x="8412480" y="393192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454</a:t>
            </a:r>
            <a:endParaRPr lang="en-US" sz="1600" dirty="0"/>
          </a:p>
        </p:txBody>
      </p:sp>
      <p:sp>
        <p:nvSpPr>
          <p:cNvPr id="26" name="Text 24"/>
          <p:cNvSpPr/>
          <p:nvPr/>
        </p:nvSpPr>
        <p:spPr>
          <a:xfrm>
            <a:off x="10058400" y="3931920"/>
            <a:ext cx="1371600" cy="86868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75 000</a:t>
            </a:r>
            <a:endParaRPr lang="en-US" sz="1600" dirty="0"/>
          </a:p>
        </p:txBody>
      </p:sp>
      <p:sp>
        <p:nvSpPr>
          <p:cNvPr id="27" name="Shape 25"/>
          <p:cNvSpPr/>
          <p:nvPr/>
        </p:nvSpPr>
        <p:spPr>
          <a:xfrm>
            <a:off x="594360" y="5029200"/>
            <a:ext cx="10972800" cy="685800"/>
          </a:xfrm>
          <a:prstGeom prst="roundRect">
            <a:avLst>
              <a:gd name="adj" fmla="val 12000"/>
            </a:avLst>
          </a:prstGeom>
          <a:solidFill>
            <a:srgbClr val="11121A"/>
          </a:solidFill>
          <a:ln w="12700">
            <a:solidFill>
              <a:srgbClr val="11121A"/>
            </a:solidFill>
            <a:prstDash val="solid"/>
          </a:ln>
        </p:spPr>
      </p:sp>
      <p:sp>
        <p:nvSpPr>
          <p:cNvPr id="28" name="Text 26"/>
          <p:cNvSpPr/>
          <p:nvPr/>
        </p:nvSpPr>
        <p:spPr>
          <a:xfrm>
            <a:off x="868680" y="5029200"/>
            <a:ext cx="10424160" cy="6858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Comparez la moyenne de la salle au profil le plus proche.</a:t>
            </a:r>
            <a:endParaRPr lang="en-US" sz="18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à partir des coûts construits.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QU’AVEZ-VOUS SACRIFIÉ ?</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L’argent mis dans l’hôpital paie la conséquence, non la cause</a:t>
            </a:r>
            <a:endParaRPr lang="en-US" sz="3000" dirty="0"/>
          </a:p>
        </p:txBody>
      </p:sp>
      <p:sp>
        <p:nvSpPr>
          <p:cNvPr id="4" name="Shape 2"/>
          <p:cNvSpPr/>
          <p:nvPr/>
        </p:nvSpPr>
        <p:spPr>
          <a:xfrm>
            <a:off x="594360" y="1645920"/>
            <a:ext cx="5372100" cy="2560320"/>
          </a:xfrm>
          <a:prstGeom prst="roundRect">
            <a:avLst>
              <a:gd name="adj" fmla="val 3214"/>
            </a:avLst>
          </a:prstGeom>
          <a:solidFill>
            <a:srgbClr val="1D1F2B"/>
          </a:solidFill>
          <a:ln w="12700">
            <a:solidFill>
              <a:srgbClr val="1D1F2B"/>
            </a:solidFill>
            <a:prstDash val="solid"/>
          </a:ln>
        </p:spPr>
      </p:sp>
      <p:sp>
        <p:nvSpPr>
          <p:cNvPr id="5" name="Text 3"/>
          <p:cNvSpPr/>
          <p:nvPr/>
        </p:nvSpPr>
        <p:spPr>
          <a:xfrm>
            <a:off x="795528" y="1773936"/>
            <a:ext cx="4969764" cy="384048"/>
          </a:xfrm>
          <a:prstGeom prst="rect">
            <a:avLst/>
          </a:prstGeom>
          <a:noFill/>
          <a:ln/>
        </p:spPr>
        <p:txBody>
          <a:bodyPr wrap="square" lIns="0" tIns="0" rIns="0" bIns="0" rtlCol="0" anchor="t"/>
          <a:lstStyle/>
          <a:p>
            <a:pPr indent="0" marL="0">
              <a:buNone/>
            </a:pPr>
            <a:r>
              <a:rPr lang="en-US" sz="1400" b="1" spc="100" kern="0" dirty="0">
                <a:solidFill>
                  <a:srgbClr val="FF4757"/>
                </a:solidFill>
                <a:latin typeface="Palatino Linotype" pitchFamily="34" charset="0"/>
                <a:ea typeface="Palatino Linotype" pitchFamily="34" charset="-122"/>
                <a:cs typeface="Palatino Linotype" pitchFamily="34" charset="-120"/>
              </a:rPr>
              <a:t>L’HÔPITAL D’ABORD</a:t>
            </a:r>
            <a:endParaRPr lang="en-US" sz="1400" dirty="0"/>
          </a:p>
        </p:txBody>
      </p:sp>
      <p:sp>
        <p:nvSpPr>
          <p:cNvPr id="6" name="Text 4"/>
          <p:cNvSpPr/>
          <p:nvPr/>
        </p:nvSpPr>
        <p:spPr>
          <a:xfrm>
            <a:off x="795528" y="2157984"/>
            <a:ext cx="4969764" cy="19202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presque cinq fois plus de cas aigus, mais quatre fois moins de suivis et trois fois moins d’évaluations de prévention</a:t>
            </a:r>
            <a:endParaRPr lang="en-US" sz="1900" dirty="0"/>
          </a:p>
        </p:txBody>
      </p:sp>
      <p:sp>
        <p:nvSpPr>
          <p:cNvPr id="7" name="Shape 5"/>
          <p:cNvSpPr/>
          <p:nvPr/>
        </p:nvSpPr>
        <p:spPr>
          <a:xfrm>
            <a:off x="6195060" y="1645920"/>
            <a:ext cx="5372100" cy="2560320"/>
          </a:xfrm>
          <a:prstGeom prst="roundRect">
            <a:avLst>
              <a:gd name="adj" fmla="val 3214"/>
            </a:avLst>
          </a:prstGeom>
          <a:solidFill>
            <a:srgbClr val="1D1F2B"/>
          </a:solidFill>
          <a:ln w="12700">
            <a:solidFill>
              <a:srgbClr val="1D1F2B"/>
            </a:solidFill>
            <a:prstDash val="solid"/>
          </a:ln>
        </p:spPr>
      </p:sp>
      <p:sp>
        <p:nvSpPr>
          <p:cNvPr id="8" name="Text 6"/>
          <p:cNvSpPr/>
          <p:nvPr/>
        </p:nvSpPr>
        <p:spPr>
          <a:xfrm>
            <a:off x="6396228" y="1773936"/>
            <a:ext cx="4969764" cy="384048"/>
          </a:xfrm>
          <a:prstGeom prst="rect">
            <a:avLst/>
          </a:prstGeom>
          <a:noFill/>
          <a:ln/>
        </p:spPr>
        <p:txBody>
          <a:bodyPr wrap="square" lIns="0" tIns="0" rIns="0" bIns="0" rtlCol="0" anchor="t"/>
          <a:lstStyle/>
          <a:p>
            <a:pPr indent="0" marL="0">
              <a:buNone/>
            </a:pPr>
            <a:r>
              <a:rPr lang="en-US" sz="1400" b="1" spc="100" kern="0" dirty="0">
                <a:solidFill>
                  <a:srgbClr val="27D3BE"/>
                </a:solidFill>
                <a:latin typeface="Palatino Linotype" pitchFamily="34" charset="0"/>
                <a:ea typeface="Palatino Linotype" pitchFamily="34" charset="-122"/>
                <a:cs typeface="Palatino Linotype" pitchFamily="34" charset="-120"/>
              </a:rPr>
              <a:t>SOINS PRIMAIRES ET PRÉVENTION</a:t>
            </a:r>
            <a:endParaRPr lang="en-US" sz="1400" dirty="0"/>
          </a:p>
        </p:txBody>
      </p:sp>
      <p:sp>
        <p:nvSpPr>
          <p:cNvPr id="9" name="Text 7"/>
          <p:cNvSpPr/>
          <p:nvPr/>
        </p:nvSpPr>
        <p:spPr>
          <a:xfrm>
            <a:off x="6396228" y="2157984"/>
            <a:ext cx="4969764" cy="19202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l’effet, les hospitalisations évitées, apparaît plus tard et ne se photographie pas comme un nouveau pavillon</a:t>
            </a:r>
            <a:endParaRPr lang="en-US" sz="1900" dirty="0"/>
          </a:p>
        </p:txBody>
      </p:sp>
      <p:sp>
        <p:nvSpPr>
          <p:cNvPr id="10" name="Shape 8"/>
          <p:cNvSpPr/>
          <p:nvPr/>
        </p:nvSpPr>
        <p:spPr>
          <a:xfrm>
            <a:off x="594360" y="4480560"/>
            <a:ext cx="10972800" cy="914400"/>
          </a:xfrm>
          <a:prstGeom prst="roundRect">
            <a:avLst>
              <a:gd name="adj" fmla="val 9000"/>
            </a:avLst>
          </a:prstGeom>
          <a:solidFill>
            <a:srgbClr val="07564B"/>
          </a:solidFill>
          <a:ln w="12700">
            <a:solidFill>
              <a:srgbClr val="07564B"/>
            </a:solidFill>
            <a:prstDash val="solid"/>
          </a:ln>
        </p:spPr>
      </p:sp>
      <p:sp>
        <p:nvSpPr>
          <p:cNvPr id="11" name="Text 9"/>
          <p:cNvSpPr/>
          <p:nvPr/>
        </p:nvSpPr>
        <p:spPr>
          <a:xfrm>
            <a:off x="868680" y="44805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L’hôpital est payé pour chaque cas traité, non pour les cas évités.</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TROISIÈME ACTE · LE PARCOURS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Pourquoi Mme M. est-elle arrivée aux urgences ?</a:t>
            </a:r>
            <a:endParaRPr lang="en-US" sz="3400" dirty="0"/>
          </a:p>
        </p:txBody>
      </p:sp>
      <p:sp>
        <p:nvSpPr>
          <p:cNvPr id="4" name="Shape 2"/>
          <p:cNvSpPr/>
          <p:nvPr/>
        </p:nvSpPr>
        <p:spPr>
          <a:xfrm>
            <a:off x="594360" y="1691640"/>
            <a:ext cx="3246120" cy="2011680"/>
          </a:xfrm>
          <a:prstGeom prst="roundRect">
            <a:avLst>
              <a:gd name="adj" fmla="val 4091"/>
            </a:avLst>
          </a:prstGeom>
          <a:solidFill>
            <a:srgbClr val="ECEAE4"/>
          </a:solidFill>
          <a:ln w="12700">
            <a:solidFill>
              <a:srgbClr val="ECEAE4"/>
            </a:solidFill>
            <a:prstDash val="solid"/>
          </a:ln>
        </p:spPr>
      </p:sp>
      <p:sp>
        <p:nvSpPr>
          <p:cNvPr id="5" name="Text 3"/>
          <p:cNvSpPr/>
          <p:nvPr/>
        </p:nvSpPr>
        <p:spPr>
          <a:xfrm>
            <a:off x="822960" y="1828800"/>
            <a:ext cx="2834640" cy="36576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DIMANCHE SOIR</a:t>
            </a:r>
            <a:endParaRPr lang="en-US" sz="1300" dirty="0"/>
          </a:p>
        </p:txBody>
      </p:sp>
      <p:sp>
        <p:nvSpPr>
          <p:cNvPr id="6" name="Text 4"/>
          <p:cNvSpPr/>
          <p:nvPr/>
        </p:nvSpPr>
        <p:spPr>
          <a:xfrm>
            <a:off x="822960" y="2240280"/>
            <a:ext cx="2834640" cy="13716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une maladie chronique décompensée</a:t>
            </a:r>
            <a:endParaRPr lang="en-US" sz="1900" dirty="0"/>
          </a:p>
        </p:txBody>
      </p:sp>
      <p:sp>
        <p:nvSpPr>
          <p:cNvPr id="7" name="Shape 5"/>
          <p:cNvSpPr/>
          <p:nvPr/>
        </p:nvSpPr>
        <p:spPr>
          <a:xfrm>
            <a:off x="3886200" y="2542032"/>
            <a:ext cx="384048" cy="329184"/>
          </a:xfrm>
          <a:prstGeom prst="rightArrow">
            <a:avLst/>
          </a:prstGeom>
          <a:solidFill>
            <a:srgbClr val="585A64"/>
          </a:solidFill>
          <a:ln w="12700">
            <a:solidFill>
              <a:srgbClr val="585A64"/>
            </a:solidFill>
            <a:prstDash val="solid"/>
          </a:ln>
        </p:spPr>
      </p:sp>
      <p:sp>
        <p:nvSpPr>
          <p:cNvPr id="8" name="Shape 6"/>
          <p:cNvSpPr/>
          <p:nvPr/>
        </p:nvSpPr>
        <p:spPr>
          <a:xfrm>
            <a:off x="4343400" y="1691640"/>
            <a:ext cx="3246120" cy="2011680"/>
          </a:xfrm>
          <a:prstGeom prst="roundRect">
            <a:avLst>
              <a:gd name="adj" fmla="val 4091"/>
            </a:avLst>
          </a:prstGeom>
          <a:solidFill>
            <a:srgbClr val="ECEAE4"/>
          </a:solidFill>
          <a:ln w="12700">
            <a:solidFill>
              <a:srgbClr val="ECEAE4"/>
            </a:solidFill>
            <a:prstDash val="solid"/>
          </a:ln>
        </p:spPr>
      </p:sp>
      <p:sp>
        <p:nvSpPr>
          <p:cNvPr id="9" name="Text 7"/>
          <p:cNvSpPr/>
          <p:nvPr/>
        </p:nvSpPr>
        <p:spPr>
          <a:xfrm>
            <a:off x="4572000" y="1828800"/>
            <a:ext cx="2834640" cy="365760"/>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LE CABINET</a:t>
            </a:r>
            <a:endParaRPr lang="en-US" sz="1300" dirty="0"/>
          </a:p>
        </p:txBody>
      </p:sp>
      <p:sp>
        <p:nvSpPr>
          <p:cNvPr id="10" name="Text 8"/>
          <p:cNvSpPr/>
          <p:nvPr/>
        </p:nvSpPr>
        <p:spPr>
          <a:xfrm>
            <a:off x="4572000" y="2240280"/>
            <a:ext cx="2834640" cy="13716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 médecin de famille de la commune, fermé jusqu’à lundi</a:t>
            </a:r>
            <a:endParaRPr lang="en-US" sz="1900" dirty="0"/>
          </a:p>
        </p:txBody>
      </p:sp>
      <p:sp>
        <p:nvSpPr>
          <p:cNvPr id="11" name="Shape 9"/>
          <p:cNvSpPr/>
          <p:nvPr/>
        </p:nvSpPr>
        <p:spPr>
          <a:xfrm>
            <a:off x="7635240" y="2542032"/>
            <a:ext cx="384048" cy="329184"/>
          </a:xfrm>
          <a:prstGeom prst="rightArrow">
            <a:avLst/>
          </a:prstGeom>
          <a:solidFill>
            <a:srgbClr val="585A64"/>
          </a:solidFill>
          <a:ln w="12700">
            <a:solidFill>
              <a:srgbClr val="585A64"/>
            </a:solidFill>
            <a:prstDash val="solid"/>
          </a:ln>
        </p:spPr>
      </p:sp>
      <p:sp>
        <p:nvSpPr>
          <p:cNvPr id="12" name="Shape 10"/>
          <p:cNvSpPr/>
          <p:nvPr/>
        </p:nvSpPr>
        <p:spPr>
          <a:xfrm>
            <a:off x="8092440" y="1691640"/>
            <a:ext cx="3246120" cy="2011680"/>
          </a:xfrm>
          <a:prstGeom prst="roundRect">
            <a:avLst>
              <a:gd name="adj" fmla="val 4091"/>
            </a:avLst>
          </a:prstGeom>
          <a:solidFill>
            <a:srgbClr val="ECEAE4"/>
          </a:solidFill>
          <a:ln w="12700">
            <a:solidFill>
              <a:srgbClr val="ECEAE4"/>
            </a:solidFill>
            <a:prstDash val="solid"/>
          </a:ln>
        </p:spPr>
      </p:sp>
      <p:sp>
        <p:nvSpPr>
          <p:cNvPr id="13" name="Text 11"/>
          <p:cNvSpPr/>
          <p:nvPr/>
        </p:nvSpPr>
        <p:spPr>
          <a:xfrm>
            <a:off x="8321040" y="1828800"/>
            <a:ext cx="2834640" cy="365760"/>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 PARCOURS</a:t>
            </a:r>
            <a:endParaRPr lang="en-US" sz="1300" dirty="0"/>
          </a:p>
        </p:txBody>
      </p:sp>
      <p:sp>
        <p:nvSpPr>
          <p:cNvPr id="14" name="Text 12"/>
          <p:cNvSpPr/>
          <p:nvPr/>
        </p:nvSpPr>
        <p:spPr>
          <a:xfrm>
            <a:off x="8321040" y="2240280"/>
            <a:ext cx="2834640" cy="13716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112, l’ambulance, les urgences de l’hôpital départemental</a:t>
            </a:r>
            <a:endParaRPr lang="en-US" sz="1900" dirty="0"/>
          </a:p>
        </p:txBody>
      </p:sp>
      <p:sp>
        <p:nvSpPr>
          <p:cNvPr id="15" name="Shape 13"/>
          <p:cNvSpPr/>
          <p:nvPr/>
        </p:nvSpPr>
        <p:spPr>
          <a:xfrm>
            <a:off x="594360" y="4023360"/>
            <a:ext cx="10972800" cy="1005840"/>
          </a:xfrm>
          <a:prstGeom prst="roundRect">
            <a:avLst>
              <a:gd name="adj" fmla="val 8182"/>
            </a:avLst>
          </a:prstGeom>
          <a:solidFill>
            <a:srgbClr val="11121A"/>
          </a:solidFill>
          <a:ln w="12700">
            <a:solidFill>
              <a:srgbClr val="11121A"/>
            </a:solidFill>
            <a:prstDash val="solid"/>
          </a:ln>
        </p:spPr>
      </p:sp>
      <p:sp>
        <p:nvSpPr>
          <p:cNvPr id="16" name="Text 14"/>
          <p:cNvSpPr/>
          <p:nvPr/>
        </p:nvSpPr>
        <p:spPr>
          <a:xfrm>
            <a:off x="868680" y="4023360"/>
            <a:ext cx="10424160" cy="10058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Non par le médecin de famille, mais par l’ambulance et les urgences : le parcours de beaucoup de patients en Roumanie.</a:t>
            </a:r>
            <a:endParaRPr lang="en-US" sz="1900" dirty="0"/>
          </a:p>
        </p:txBody>
      </p:sp>
      <p:sp>
        <p:nvSpPr>
          <p:cNvPr id="17" name="Shape 15"/>
          <p:cNvSpPr/>
          <p:nvPr/>
        </p:nvSpPr>
        <p:spPr>
          <a:xfrm>
            <a:off x="594360" y="5760720"/>
            <a:ext cx="6949440" cy="329184"/>
          </a:xfrm>
          <a:prstGeom prst="roundRect">
            <a:avLst>
              <a:gd name="adj" fmla="val 50000"/>
            </a:avLst>
          </a:prstGeom>
          <a:solidFill>
            <a:srgbClr val="ECEAE4"/>
          </a:solidFill>
          <a:ln w="12700">
            <a:solidFill>
              <a:srgbClr val="ECEAE4"/>
            </a:solidFill>
            <a:prstDash val="solid"/>
          </a:ln>
        </p:spPr>
      </p:sp>
      <p:sp>
        <p:nvSpPr>
          <p:cNvPr id="18" name="Text 16"/>
          <p:cNvSpPr/>
          <p:nvPr/>
        </p:nvSpPr>
        <p:spPr>
          <a:xfrm>
            <a:off x="594360" y="5760720"/>
            <a:ext cx="6949440" cy="329184"/>
          </a:xfrm>
          <a:prstGeom prst="rect">
            <a:avLst/>
          </a:prstGeom>
          <a:noFill/>
          <a:ln/>
        </p:spPr>
        <p:txBody>
          <a:bodyPr wrap="square" lIns="0" tIns="0" rIns="0" bIns="0" rtlCol="0" anchor="ctr"/>
          <a:lstStyle/>
          <a:p>
            <a:pPr algn="ctr" indent="0" marL="0">
              <a:buNone/>
            </a:pPr>
            <a:r>
              <a:rPr lang="en-US" sz="1200" b="1" dirty="0">
                <a:solidFill>
                  <a:srgbClr val="B02532"/>
                </a:solidFill>
                <a:latin typeface="Palatino Linotype" pitchFamily="34" charset="0"/>
                <a:ea typeface="Palatino Linotype" pitchFamily="34" charset="-122"/>
                <a:cs typeface="Palatino Linotype" pitchFamily="34" charset="-120"/>
              </a:rPr>
              <a:t>Cas construit pour le cours ; les détails sont plausibles, non réels.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NIVEAUX DE SOINS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La plupart des problèmes se règlent en bas</a:t>
            </a:r>
            <a:endParaRPr lang="en-US" sz="3100" dirty="0"/>
          </a:p>
        </p:txBody>
      </p:sp>
      <p:sp>
        <p:nvSpPr>
          <p:cNvPr id="4" name="Shape 2"/>
          <p:cNvSpPr/>
          <p:nvPr/>
        </p:nvSpPr>
        <p:spPr>
          <a:xfrm>
            <a:off x="2880360" y="1600200"/>
            <a:ext cx="6400800" cy="914400"/>
          </a:xfrm>
          <a:prstGeom prst="roundRect">
            <a:avLst>
              <a:gd name="adj" fmla="val 9000"/>
            </a:avLst>
          </a:prstGeom>
          <a:solidFill>
            <a:srgbClr val="9B7EF7"/>
          </a:solidFill>
          <a:ln w="12700">
            <a:solidFill>
              <a:srgbClr val="9B7EF7"/>
            </a:solidFill>
            <a:prstDash val="solid"/>
          </a:ln>
        </p:spPr>
      </p:sp>
      <p:sp>
        <p:nvSpPr>
          <p:cNvPr id="5" name="Text 3"/>
          <p:cNvSpPr/>
          <p:nvPr/>
        </p:nvSpPr>
        <p:spPr>
          <a:xfrm>
            <a:off x="3154680" y="1600200"/>
            <a:ext cx="2011680" cy="91440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TERTIAIRES</a:t>
            </a:r>
            <a:endParaRPr lang="en-US" sz="1500" dirty="0"/>
          </a:p>
        </p:txBody>
      </p:sp>
      <p:sp>
        <p:nvSpPr>
          <p:cNvPr id="6" name="Text 4"/>
          <p:cNvSpPr/>
          <p:nvPr/>
        </p:nvSpPr>
        <p:spPr>
          <a:xfrm>
            <a:off x="5166360" y="1600200"/>
            <a:ext cx="384048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hôpitaux universitaires, instituts : expertise concentrée, ressources coûteuses</a:t>
            </a:r>
            <a:endParaRPr lang="en-US" sz="1600" dirty="0"/>
          </a:p>
        </p:txBody>
      </p:sp>
      <p:sp>
        <p:nvSpPr>
          <p:cNvPr id="7" name="Shape 5"/>
          <p:cNvSpPr/>
          <p:nvPr/>
        </p:nvSpPr>
        <p:spPr>
          <a:xfrm>
            <a:off x="1737360" y="2651760"/>
            <a:ext cx="8686800" cy="914400"/>
          </a:xfrm>
          <a:prstGeom prst="roundRect">
            <a:avLst>
              <a:gd name="adj" fmla="val 9000"/>
            </a:avLst>
          </a:prstGeom>
          <a:solidFill>
            <a:srgbClr val="FF8A3D"/>
          </a:solidFill>
          <a:ln w="12700">
            <a:solidFill>
              <a:srgbClr val="FF8A3D"/>
            </a:solidFill>
            <a:prstDash val="solid"/>
          </a:ln>
        </p:spPr>
      </p:sp>
      <p:sp>
        <p:nvSpPr>
          <p:cNvPr id="8" name="Text 6"/>
          <p:cNvSpPr/>
          <p:nvPr/>
        </p:nvSpPr>
        <p:spPr>
          <a:xfrm>
            <a:off x="2011680" y="2651760"/>
            <a:ext cx="2011680" cy="91440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SECONDAIRES</a:t>
            </a:r>
            <a:endParaRPr lang="en-US" sz="1500" dirty="0"/>
          </a:p>
        </p:txBody>
      </p:sp>
      <p:sp>
        <p:nvSpPr>
          <p:cNvPr id="9" name="Text 7"/>
          <p:cNvSpPr/>
          <p:nvPr/>
        </p:nvSpPr>
        <p:spPr>
          <a:xfrm>
            <a:off x="4023360" y="2651760"/>
            <a:ext cx="612648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soins ambulatoires de spécialité, hôpitaux départementaux et municipaux</a:t>
            </a:r>
            <a:endParaRPr lang="en-US" sz="1600" dirty="0"/>
          </a:p>
        </p:txBody>
      </p:sp>
      <p:sp>
        <p:nvSpPr>
          <p:cNvPr id="10" name="Shape 8"/>
          <p:cNvSpPr/>
          <p:nvPr/>
        </p:nvSpPr>
        <p:spPr>
          <a:xfrm>
            <a:off x="594360" y="3703320"/>
            <a:ext cx="10972800" cy="914400"/>
          </a:xfrm>
          <a:prstGeom prst="roundRect">
            <a:avLst>
              <a:gd name="adj" fmla="val 9000"/>
            </a:avLst>
          </a:prstGeom>
          <a:solidFill>
            <a:srgbClr val="27D3BE"/>
          </a:solidFill>
          <a:ln w="12700">
            <a:solidFill>
              <a:srgbClr val="27D3BE"/>
            </a:solidFill>
            <a:prstDash val="solid"/>
          </a:ln>
        </p:spPr>
      </p:sp>
      <p:sp>
        <p:nvSpPr>
          <p:cNvPr id="11" name="Text 9"/>
          <p:cNvSpPr/>
          <p:nvPr/>
        </p:nvSpPr>
        <p:spPr>
          <a:xfrm>
            <a:off x="868680" y="3703320"/>
            <a:ext cx="2011680" cy="91440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PRIMAIRES</a:t>
            </a:r>
            <a:endParaRPr lang="en-US" sz="1500" dirty="0"/>
          </a:p>
        </p:txBody>
      </p:sp>
      <p:sp>
        <p:nvSpPr>
          <p:cNvPr id="12" name="Text 10"/>
          <p:cNvSpPr/>
          <p:nvPr/>
        </p:nvSpPr>
        <p:spPr>
          <a:xfrm>
            <a:off x="2880360" y="3703320"/>
            <a:ext cx="841248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médecin de famille : premier contact, prévention, maladies chroniques, coordination</a:t>
            </a:r>
            <a:endParaRPr lang="en-US" sz="1600" dirty="0"/>
          </a:p>
        </p:txBody>
      </p:sp>
      <p:sp>
        <p:nvSpPr>
          <p:cNvPr id="13" name="Shape 11"/>
          <p:cNvSpPr/>
          <p:nvPr/>
        </p:nvSpPr>
        <p:spPr>
          <a:xfrm>
            <a:off x="594360" y="4937760"/>
            <a:ext cx="10972800" cy="777240"/>
          </a:xfrm>
          <a:prstGeom prst="roundRect">
            <a:avLst>
              <a:gd name="adj" fmla="val 10588"/>
            </a:avLst>
          </a:prstGeom>
          <a:solidFill>
            <a:srgbClr val="07564B"/>
          </a:solidFill>
          <a:ln w="12700">
            <a:solidFill>
              <a:srgbClr val="07564B"/>
            </a:solidFill>
            <a:prstDash val="solid"/>
          </a:ln>
        </p:spPr>
      </p:sp>
      <p:sp>
        <p:nvSpPr>
          <p:cNvPr id="14" name="Text 12"/>
          <p:cNvSpPr/>
          <p:nvPr/>
        </p:nvSpPr>
        <p:spPr>
          <a:xfrm>
            <a:off x="868680" y="493776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S’y ajoutent les urgences, la réadaptation, les soins de longue durée et les soins palliatifs.</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HÔPITAUX EN ROUMANIE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Classés selon la compétence et selon la propriété</a:t>
            </a:r>
            <a:endParaRPr lang="en-US" sz="3000" dirty="0"/>
          </a:p>
        </p:txBody>
      </p:sp>
      <p:sp>
        <p:nvSpPr>
          <p:cNvPr id="4" name="Shape 2"/>
          <p:cNvSpPr/>
          <p:nvPr/>
        </p:nvSpPr>
        <p:spPr>
          <a:xfrm>
            <a:off x="594360" y="1691640"/>
            <a:ext cx="3505200" cy="2560320"/>
          </a:xfrm>
          <a:prstGeom prst="roundRect">
            <a:avLst>
              <a:gd name="adj" fmla="val 3214"/>
            </a:avLst>
          </a:prstGeom>
          <a:solidFill>
            <a:srgbClr val="ECEAE4"/>
          </a:solidFill>
          <a:ln w="12700">
            <a:solidFill>
              <a:srgbClr val="ECEAE4"/>
            </a:solidFill>
            <a:prstDash val="solid"/>
          </a:ln>
        </p:spPr>
      </p:sp>
      <p:sp>
        <p:nvSpPr>
          <p:cNvPr id="5" name="Text 3"/>
          <p:cNvSpPr/>
          <p:nvPr/>
        </p:nvSpPr>
        <p:spPr>
          <a:xfrm>
            <a:off x="795528" y="1819656"/>
            <a:ext cx="31028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LA COMPÉTENCE</a:t>
            </a:r>
            <a:endParaRPr lang="en-US" sz="1300" dirty="0"/>
          </a:p>
        </p:txBody>
      </p:sp>
      <p:sp>
        <p:nvSpPr>
          <p:cNvPr id="6" name="Text 4"/>
          <p:cNvSpPr/>
          <p:nvPr/>
        </p:nvSpPr>
        <p:spPr>
          <a:xfrm>
            <a:off x="795528" y="2203704"/>
            <a:ext cx="3102864" cy="1920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niveaux I–V ; la catégorie I, les services les plus complexes</a:t>
            </a:r>
            <a:endParaRPr lang="en-US" sz="1900" dirty="0"/>
          </a:p>
        </p:txBody>
      </p:sp>
      <p:sp>
        <p:nvSpPr>
          <p:cNvPr id="7" name="Shape 5"/>
          <p:cNvSpPr/>
          <p:nvPr/>
        </p:nvSpPr>
        <p:spPr>
          <a:xfrm>
            <a:off x="4328160" y="1691640"/>
            <a:ext cx="3505200" cy="2560320"/>
          </a:xfrm>
          <a:prstGeom prst="roundRect">
            <a:avLst>
              <a:gd name="adj" fmla="val 3214"/>
            </a:avLst>
          </a:prstGeom>
          <a:solidFill>
            <a:srgbClr val="ECEAE4"/>
          </a:solidFill>
          <a:ln w="12700">
            <a:solidFill>
              <a:srgbClr val="ECEAE4"/>
            </a:solidFill>
            <a:prstDash val="solid"/>
          </a:ln>
        </p:spPr>
      </p:sp>
      <p:sp>
        <p:nvSpPr>
          <p:cNvPr id="8" name="Text 6"/>
          <p:cNvSpPr/>
          <p:nvPr/>
        </p:nvSpPr>
        <p:spPr>
          <a:xfrm>
            <a:off x="4529328" y="1819656"/>
            <a:ext cx="310286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LA PROPRIÉTÉ</a:t>
            </a:r>
            <a:endParaRPr lang="en-US" sz="1300" dirty="0"/>
          </a:p>
        </p:txBody>
      </p:sp>
      <p:sp>
        <p:nvSpPr>
          <p:cNvPr id="9" name="Text 7"/>
          <p:cNvSpPr/>
          <p:nvPr/>
        </p:nvSpPr>
        <p:spPr>
          <a:xfrm>
            <a:off x="4529328" y="2203704"/>
            <a:ext cx="3102864" cy="1920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publics, privés et à propriété mixte</a:t>
            </a:r>
            <a:endParaRPr lang="en-US" sz="1900" dirty="0"/>
          </a:p>
        </p:txBody>
      </p:sp>
      <p:sp>
        <p:nvSpPr>
          <p:cNvPr id="10" name="Shape 8"/>
          <p:cNvSpPr/>
          <p:nvPr/>
        </p:nvSpPr>
        <p:spPr>
          <a:xfrm>
            <a:off x="8061960" y="1691640"/>
            <a:ext cx="3505200" cy="2560320"/>
          </a:xfrm>
          <a:prstGeom prst="roundRect">
            <a:avLst>
              <a:gd name="adj" fmla="val 3214"/>
            </a:avLst>
          </a:prstGeom>
          <a:solidFill>
            <a:srgbClr val="ECEAE4"/>
          </a:solidFill>
          <a:ln w="12700">
            <a:solidFill>
              <a:srgbClr val="ECEAE4"/>
            </a:solidFill>
            <a:prstDash val="solid"/>
          </a:ln>
        </p:spPr>
      </p:sp>
      <p:sp>
        <p:nvSpPr>
          <p:cNvPr id="11" name="Text 9"/>
          <p:cNvSpPr/>
          <p:nvPr/>
        </p:nvSpPr>
        <p:spPr>
          <a:xfrm>
            <a:off x="8263128" y="1819656"/>
            <a:ext cx="31028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L’ADMINISTRATION</a:t>
            </a:r>
            <a:endParaRPr lang="en-US" sz="1300" dirty="0"/>
          </a:p>
        </p:txBody>
      </p:sp>
      <p:sp>
        <p:nvSpPr>
          <p:cNvPr id="12" name="Text 10"/>
          <p:cNvSpPr/>
          <p:nvPr/>
        </p:nvSpPr>
        <p:spPr>
          <a:xfrm>
            <a:off x="8263128" y="2203704"/>
            <a:ext cx="3102864" cy="1920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les hôpitaux publics, par les autorités locales, sauf 58 administrés par le ministère de la Santé</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MÉDECIN DE FAMILLE COMME FILTRE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La règle : l’orientation vers le spécialiste</a:t>
            </a:r>
            <a:endParaRPr lang="en-US" sz="3100" dirty="0"/>
          </a:p>
        </p:txBody>
      </p:sp>
      <p:sp>
        <p:nvSpPr>
          <p:cNvPr id="4" name="Shape 2"/>
          <p:cNvSpPr/>
          <p:nvPr/>
        </p:nvSpPr>
        <p:spPr>
          <a:xfrm>
            <a:off x="594360" y="1691640"/>
            <a:ext cx="3505200" cy="2926080"/>
          </a:xfrm>
          <a:prstGeom prst="roundRect">
            <a:avLst>
              <a:gd name="adj" fmla="val 2813"/>
            </a:avLst>
          </a:prstGeom>
          <a:solidFill>
            <a:srgbClr val="1D1F2B"/>
          </a:solidFill>
          <a:ln w="12700">
            <a:solidFill>
              <a:srgbClr val="1D1F2B"/>
            </a:solidFill>
            <a:prstDash val="solid"/>
          </a:ln>
        </p:spPr>
      </p:sp>
      <p:sp>
        <p:nvSpPr>
          <p:cNvPr id="5" name="Text 3"/>
          <p:cNvSpPr/>
          <p:nvPr/>
        </p:nvSpPr>
        <p:spPr>
          <a:xfrm>
            <a:off x="795528" y="1819656"/>
            <a:ext cx="31028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L’INSCRIPTION</a:t>
            </a:r>
            <a:endParaRPr lang="en-US" sz="1300" dirty="0"/>
          </a:p>
        </p:txBody>
      </p:sp>
      <p:sp>
        <p:nvSpPr>
          <p:cNvPr id="6" name="Text 4"/>
          <p:cNvSpPr/>
          <p:nvPr/>
        </p:nvSpPr>
        <p:spPr>
          <a:xfrm>
            <a:off x="795528" y="2203704"/>
            <a:ext cx="3102864" cy="22860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obligatoire ; on peut changer de médecin après au moins six mois</a:t>
            </a:r>
            <a:endParaRPr lang="en-US" sz="1900" dirty="0"/>
          </a:p>
        </p:txBody>
      </p:sp>
      <p:sp>
        <p:nvSpPr>
          <p:cNvPr id="7" name="Shape 5"/>
          <p:cNvSpPr/>
          <p:nvPr/>
        </p:nvSpPr>
        <p:spPr>
          <a:xfrm>
            <a:off x="4328160" y="1691640"/>
            <a:ext cx="3505200" cy="2926080"/>
          </a:xfrm>
          <a:prstGeom prst="roundRect">
            <a:avLst>
              <a:gd name="adj" fmla="val 2813"/>
            </a:avLst>
          </a:prstGeom>
          <a:solidFill>
            <a:srgbClr val="1D1F2B"/>
          </a:solidFill>
          <a:ln w="12700">
            <a:solidFill>
              <a:srgbClr val="1D1F2B"/>
            </a:solidFill>
            <a:prstDash val="solid"/>
          </a:ln>
        </p:spPr>
      </p:sp>
      <p:sp>
        <p:nvSpPr>
          <p:cNvPr id="8" name="Text 6"/>
          <p:cNvSpPr/>
          <p:nvPr/>
        </p:nvSpPr>
        <p:spPr>
          <a:xfrm>
            <a:off x="4529328" y="1819656"/>
            <a:ext cx="31028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L’ORIENTATION</a:t>
            </a:r>
            <a:endParaRPr lang="en-US" sz="1300" dirty="0"/>
          </a:p>
        </p:txBody>
      </p:sp>
      <p:sp>
        <p:nvSpPr>
          <p:cNvPr id="9" name="Text 7"/>
          <p:cNvSpPr/>
          <p:nvPr/>
        </p:nvSpPr>
        <p:spPr>
          <a:xfrm>
            <a:off x="4529328" y="2203704"/>
            <a:ext cx="3102864" cy="22860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consultation remboursée chez le spécialiste exige une lettre d’orientation ; accès direct pour certains contrôles seulement</a:t>
            </a:r>
            <a:endParaRPr lang="en-US" sz="1900" dirty="0"/>
          </a:p>
        </p:txBody>
      </p:sp>
      <p:sp>
        <p:nvSpPr>
          <p:cNvPr id="10" name="Shape 8"/>
          <p:cNvSpPr/>
          <p:nvPr/>
        </p:nvSpPr>
        <p:spPr>
          <a:xfrm>
            <a:off x="8061960" y="1691640"/>
            <a:ext cx="3505200" cy="2926080"/>
          </a:xfrm>
          <a:prstGeom prst="roundRect">
            <a:avLst>
              <a:gd name="adj" fmla="val 2813"/>
            </a:avLst>
          </a:prstGeom>
          <a:solidFill>
            <a:srgbClr val="1D1F2B"/>
          </a:solidFill>
          <a:ln w="12700">
            <a:solidFill>
              <a:srgbClr val="1D1F2B"/>
            </a:solidFill>
            <a:prstDash val="solid"/>
          </a:ln>
        </p:spPr>
      </p:sp>
      <p:sp>
        <p:nvSpPr>
          <p:cNvPr id="11" name="Text 9"/>
          <p:cNvSpPr/>
          <p:nvPr/>
        </p:nvSpPr>
        <p:spPr>
          <a:xfrm>
            <a:off x="8263128" y="1819656"/>
            <a:ext cx="310286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LA LETTRE MÉDICALE</a:t>
            </a:r>
            <a:endParaRPr lang="en-US" sz="1300" dirty="0"/>
          </a:p>
        </p:txBody>
      </p:sp>
      <p:sp>
        <p:nvSpPr>
          <p:cNvPr id="12" name="Text 10"/>
          <p:cNvSpPr/>
          <p:nvPr/>
        </p:nvSpPr>
        <p:spPr>
          <a:xfrm>
            <a:off x="8263128" y="2203704"/>
            <a:ext cx="3102864" cy="22860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 spécialiste informe le médecin de famille au moins une fois par an</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FILTRE, EN PRATIQUE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Pourquoi il fonctionne mal</a:t>
            </a:r>
            <a:endParaRPr lang="en-US" sz="3100" dirty="0"/>
          </a:p>
        </p:txBody>
      </p:sp>
      <p:sp>
        <p:nvSpPr>
          <p:cNvPr id="4" name="Shape 2"/>
          <p:cNvSpPr/>
          <p:nvPr/>
        </p:nvSpPr>
        <p:spPr>
          <a:xfrm>
            <a:off x="594360" y="1645920"/>
            <a:ext cx="10972800" cy="841248"/>
          </a:xfrm>
          <a:prstGeom prst="roundRect">
            <a:avLst>
              <a:gd name="adj" fmla="val 9783"/>
            </a:avLst>
          </a:prstGeom>
          <a:solidFill>
            <a:srgbClr val="ECEAE4"/>
          </a:solidFill>
          <a:ln w="12700">
            <a:solidFill>
              <a:srgbClr val="ECEAE4"/>
            </a:solidFill>
            <a:prstDash val="solid"/>
          </a:ln>
        </p:spPr>
      </p:sp>
      <p:sp>
        <p:nvSpPr>
          <p:cNvPr id="5" name="Shape 3"/>
          <p:cNvSpPr/>
          <p:nvPr/>
        </p:nvSpPr>
        <p:spPr>
          <a:xfrm>
            <a:off x="868680" y="1856232"/>
            <a:ext cx="420624" cy="420624"/>
          </a:xfrm>
          <a:prstGeom prst="ellipse">
            <a:avLst/>
          </a:prstGeom>
          <a:solidFill>
            <a:srgbClr val="B02532"/>
          </a:solidFill>
          <a:ln/>
        </p:spPr>
      </p:sp>
      <p:sp>
        <p:nvSpPr>
          <p:cNvPr id="6" name="Text 4"/>
          <p:cNvSpPr/>
          <p:nvPr/>
        </p:nvSpPr>
        <p:spPr>
          <a:xfrm>
            <a:off x="868680" y="1856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2980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Beaucoup de patients contournent le médecin de famille et vont directement aux urgences.</a:t>
            </a:r>
            <a:endParaRPr lang="en-US" sz="1800" dirty="0"/>
          </a:p>
        </p:txBody>
      </p:sp>
      <p:sp>
        <p:nvSpPr>
          <p:cNvPr id="8" name="Shape 6"/>
          <p:cNvSpPr/>
          <p:nvPr/>
        </p:nvSpPr>
        <p:spPr>
          <a:xfrm>
            <a:off x="594360" y="2606040"/>
            <a:ext cx="10972800" cy="841248"/>
          </a:xfrm>
          <a:prstGeom prst="roundRect">
            <a:avLst>
              <a:gd name="adj" fmla="val 9783"/>
            </a:avLst>
          </a:prstGeom>
          <a:solidFill>
            <a:srgbClr val="ECEAE4"/>
          </a:solidFill>
          <a:ln w="12700">
            <a:solidFill>
              <a:srgbClr val="ECEAE4"/>
            </a:solidFill>
            <a:prstDash val="solid"/>
          </a:ln>
        </p:spPr>
      </p:sp>
      <p:sp>
        <p:nvSpPr>
          <p:cNvPr id="9" name="Shape 7"/>
          <p:cNvSpPr/>
          <p:nvPr/>
        </p:nvSpPr>
        <p:spPr>
          <a:xfrm>
            <a:off x="868680" y="2816352"/>
            <a:ext cx="420624" cy="420624"/>
          </a:xfrm>
          <a:prstGeom prst="ellipse">
            <a:avLst/>
          </a:prstGeom>
          <a:solidFill>
            <a:srgbClr val="B02532"/>
          </a:solidFill>
          <a:ln/>
        </p:spPr>
      </p:sp>
      <p:sp>
        <p:nvSpPr>
          <p:cNvPr id="10" name="Text 8"/>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606040"/>
            <a:ext cx="982980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Les médecins de famille ne sont pas obligés d’assurer des soins en dehors des heures d’ouverture.</a:t>
            </a:r>
            <a:endParaRPr lang="en-US" sz="1800" dirty="0"/>
          </a:p>
        </p:txBody>
      </p:sp>
      <p:sp>
        <p:nvSpPr>
          <p:cNvPr id="12" name="Shape 10"/>
          <p:cNvSpPr/>
          <p:nvPr/>
        </p:nvSpPr>
        <p:spPr>
          <a:xfrm>
            <a:off x="594360" y="3566160"/>
            <a:ext cx="10972800" cy="841248"/>
          </a:xfrm>
          <a:prstGeom prst="roundRect">
            <a:avLst>
              <a:gd name="adj" fmla="val 9783"/>
            </a:avLst>
          </a:prstGeom>
          <a:solidFill>
            <a:srgbClr val="ECEAE4"/>
          </a:solidFill>
          <a:ln w="12700">
            <a:solidFill>
              <a:srgbClr val="ECEAE4"/>
            </a:solidFill>
            <a:prstDash val="solid"/>
          </a:ln>
        </p:spPr>
      </p:sp>
      <p:sp>
        <p:nvSpPr>
          <p:cNvPr id="13" name="Shape 11"/>
          <p:cNvSpPr/>
          <p:nvPr/>
        </p:nvSpPr>
        <p:spPr>
          <a:xfrm>
            <a:off x="868680" y="3776472"/>
            <a:ext cx="420624" cy="420624"/>
          </a:xfrm>
          <a:prstGeom prst="ellipse">
            <a:avLst/>
          </a:prstGeom>
          <a:solidFill>
            <a:srgbClr val="B02532"/>
          </a:solidFill>
          <a:ln/>
        </p:spPr>
      </p:sp>
      <p:sp>
        <p:nvSpPr>
          <p:cNvPr id="14" name="Text 12"/>
          <p:cNvSpPr/>
          <p:nvPr/>
        </p:nvSpPr>
        <p:spPr>
          <a:xfrm>
            <a:off x="868680" y="3776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566160"/>
            <a:ext cx="982980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Les centres de permanence restent insuffisants ; beaucoup de médecins travaillent seuls.</a:t>
            </a:r>
            <a:endParaRPr lang="en-US" sz="1800" dirty="0"/>
          </a:p>
        </p:txBody>
      </p:sp>
      <p:sp>
        <p:nvSpPr>
          <p:cNvPr id="16" name="Shape 14"/>
          <p:cNvSpPr/>
          <p:nvPr/>
        </p:nvSpPr>
        <p:spPr>
          <a:xfrm>
            <a:off x="594360" y="4709160"/>
            <a:ext cx="10972800" cy="868680"/>
          </a:xfrm>
          <a:prstGeom prst="roundRect">
            <a:avLst>
              <a:gd name="adj" fmla="val 9474"/>
            </a:avLst>
          </a:prstGeom>
          <a:solidFill>
            <a:srgbClr val="11121A"/>
          </a:solidFill>
          <a:ln w="12700">
            <a:solidFill>
              <a:srgbClr val="11121A"/>
            </a:solidFill>
            <a:prstDash val="solid"/>
          </a:ln>
        </p:spPr>
      </p:sp>
      <p:sp>
        <p:nvSpPr>
          <p:cNvPr id="17" name="Text 15"/>
          <p:cNvSpPr/>
          <p:nvPr/>
        </p:nvSpPr>
        <p:spPr>
          <a:xfrm>
            <a:off x="868680" y="4709160"/>
            <a:ext cx="10424160" cy="8686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Exactement le parcours de Mme M. : dimanche soir, cabinet fermé, ambulance.</a:t>
            </a:r>
            <a:endParaRPr lang="en-US" sz="19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RÉSEAU HOSPITALIER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Plus d’hôpitaux, surtout privés</a:t>
            </a:r>
            <a:endParaRPr lang="en-US" sz="3100" dirty="0"/>
          </a:p>
        </p:txBody>
      </p:sp>
      <p:sp>
        <p:nvSpPr>
          <p:cNvPr id="4" name="Shape 2"/>
          <p:cNvSpPr/>
          <p:nvPr/>
        </p:nvSpPr>
        <p:spPr>
          <a:xfrm>
            <a:off x="1005840" y="3019501"/>
            <a:ext cx="822960" cy="1918259"/>
          </a:xfrm>
          <a:prstGeom prst="rect">
            <a:avLst/>
          </a:prstGeom>
          <a:solidFill>
            <a:srgbClr val="959BB0"/>
          </a:solidFill>
          <a:ln w="12700">
            <a:solidFill>
              <a:srgbClr val="959BB0"/>
            </a:solidFill>
            <a:prstDash val="solid"/>
          </a:ln>
        </p:spPr>
      </p:sp>
      <p:sp>
        <p:nvSpPr>
          <p:cNvPr id="5" name="Text 3"/>
          <p:cNvSpPr/>
          <p:nvPr/>
        </p:nvSpPr>
        <p:spPr>
          <a:xfrm>
            <a:off x="731520" y="2562301"/>
            <a:ext cx="137160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447</a:t>
            </a:r>
            <a:endParaRPr lang="en-US" sz="2000" dirty="0"/>
          </a:p>
        </p:txBody>
      </p:sp>
      <p:sp>
        <p:nvSpPr>
          <p:cNvPr id="6" name="Text 4"/>
          <p:cNvSpPr/>
          <p:nvPr/>
        </p:nvSpPr>
        <p:spPr>
          <a:xfrm>
            <a:off x="731520" y="5010912"/>
            <a:ext cx="1371600" cy="365760"/>
          </a:xfrm>
          <a:prstGeom prst="rect">
            <a:avLst/>
          </a:prstGeom>
          <a:noFill/>
          <a:ln/>
        </p:spPr>
        <p:txBody>
          <a:bodyPr wrap="square" lIns="0" tIns="0" rIns="0" bIns="0" rtlCol="0" anchor="t"/>
          <a:lstStyle/>
          <a:p>
            <a:pPr algn="ctr" indent="0" marL="0">
              <a:buNone/>
            </a:pPr>
            <a:r>
              <a:rPr lang="en-US" sz="1400" dirty="0">
                <a:solidFill>
                  <a:srgbClr val="D5D8E2"/>
                </a:solidFill>
                <a:latin typeface="Palatino Linotype" pitchFamily="34" charset="0"/>
                <a:ea typeface="Palatino Linotype" pitchFamily="34" charset="-122"/>
                <a:cs typeface="Palatino Linotype" pitchFamily="34" charset="-120"/>
              </a:rPr>
              <a:t>2002</a:t>
            </a:r>
            <a:endParaRPr lang="en-US" sz="1400" dirty="0"/>
          </a:p>
        </p:txBody>
      </p:sp>
      <p:sp>
        <p:nvSpPr>
          <p:cNvPr id="7" name="Shape 5"/>
          <p:cNvSpPr/>
          <p:nvPr/>
        </p:nvSpPr>
        <p:spPr>
          <a:xfrm>
            <a:off x="2331720" y="2779182"/>
            <a:ext cx="822960" cy="2158578"/>
          </a:xfrm>
          <a:prstGeom prst="rect">
            <a:avLst/>
          </a:prstGeom>
          <a:solidFill>
            <a:srgbClr val="959BB0"/>
          </a:solidFill>
          <a:ln w="12700">
            <a:solidFill>
              <a:srgbClr val="959BB0"/>
            </a:solidFill>
            <a:prstDash val="solid"/>
          </a:ln>
        </p:spPr>
      </p:sp>
      <p:sp>
        <p:nvSpPr>
          <p:cNvPr id="8" name="Text 6"/>
          <p:cNvSpPr/>
          <p:nvPr/>
        </p:nvSpPr>
        <p:spPr>
          <a:xfrm>
            <a:off x="2057400" y="2321982"/>
            <a:ext cx="137160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503</a:t>
            </a:r>
            <a:endParaRPr lang="en-US" sz="2000" dirty="0"/>
          </a:p>
        </p:txBody>
      </p:sp>
      <p:sp>
        <p:nvSpPr>
          <p:cNvPr id="9" name="Text 7"/>
          <p:cNvSpPr/>
          <p:nvPr/>
        </p:nvSpPr>
        <p:spPr>
          <a:xfrm>
            <a:off x="2057400" y="5010912"/>
            <a:ext cx="1371600" cy="365760"/>
          </a:xfrm>
          <a:prstGeom prst="rect">
            <a:avLst/>
          </a:prstGeom>
          <a:noFill/>
          <a:ln/>
        </p:spPr>
        <p:txBody>
          <a:bodyPr wrap="square" lIns="0" tIns="0" rIns="0" bIns="0" rtlCol="0" anchor="t"/>
          <a:lstStyle/>
          <a:p>
            <a:pPr algn="ctr" indent="0" marL="0">
              <a:buNone/>
            </a:pPr>
            <a:r>
              <a:rPr lang="en-US" sz="1400" dirty="0">
                <a:solidFill>
                  <a:srgbClr val="D5D8E2"/>
                </a:solidFill>
                <a:latin typeface="Palatino Linotype" pitchFamily="34" charset="0"/>
                <a:ea typeface="Palatino Linotype" pitchFamily="34" charset="-122"/>
                <a:cs typeface="Palatino Linotype" pitchFamily="34" charset="-120"/>
              </a:rPr>
              <a:t>2010</a:t>
            </a:r>
            <a:endParaRPr lang="en-US" sz="1400" dirty="0"/>
          </a:p>
        </p:txBody>
      </p:sp>
      <p:sp>
        <p:nvSpPr>
          <p:cNvPr id="10" name="Shape 8"/>
          <p:cNvSpPr/>
          <p:nvPr/>
        </p:nvSpPr>
        <p:spPr>
          <a:xfrm>
            <a:off x="3657600" y="2946547"/>
            <a:ext cx="822960" cy="1991213"/>
          </a:xfrm>
          <a:prstGeom prst="rect">
            <a:avLst/>
          </a:prstGeom>
          <a:solidFill>
            <a:srgbClr val="FF4757"/>
          </a:solidFill>
          <a:ln w="12700">
            <a:solidFill>
              <a:srgbClr val="FF4757"/>
            </a:solidFill>
            <a:prstDash val="solid"/>
          </a:ln>
        </p:spPr>
      </p:sp>
      <p:sp>
        <p:nvSpPr>
          <p:cNvPr id="11" name="Text 9"/>
          <p:cNvSpPr/>
          <p:nvPr/>
        </p:nvSpPr>
        <p:spPr>
          <a:xfrm>
            <a:off x="3383280" y="2489347"/>
            <a:ext cx="137160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464</a:t>
            </a:r>
            <a:endParaRPr lang="en-US" sz="2000" dirty="0"/>
          </a:p>
        </p:txBody>
      </p:sp>
      <p:sp>
        <p:nvSpPr>
          <p:cNvPr id="12" name="Text 10"/>
          <p:cNvSpPr/>
          <p:nvPr/>
        </p:nvSpPr>
        <p:spPr>
          <a:xfrm>
            <a:off x="3383280" y="5010912"/>
            <a:ext cx="1371600" cy="365760"/>
          </a:xfrm>
          <a:prstGeom prst="rect">
            <a:avLst/>
          </a:prstGeom>
          <a:noFill/>
          <a:ln/>
        </p:spPr>
        <p:txBody>
          <a:bodyPr wrap="square" lIns="0" tIns="0" rIns="0" bIns="0" rtlCol="0" anchor="t"/>
          <a:lstStyle/>
          <a:p>
            <a:pPr algn="ctr" indent="0" marL="0">
              <a:buNone/>
            </a:pPr>
            <a:r>
              <a:rPr lang="en-US" sz="1400" dirty="0">
                <a:solidFill>
                  <a:srgbClr val="D5D8E2"/>
                </a:solidFill>
                <a:latin typeface="Palatino Linotype" pitchFamily="34" charset="0"/>
                <a:ea typeface="Palatino Linotype" pitchFamily="34" charset="-122"/>
                <a:cs typeface="Palatino Linotype" pitchFamily="34" charset="-120"/>
              </a:rPr>
              <a:t>2011</a:t>
            </a:r>
            <a:endParaRPr lang="en-US" sz="1400" dirty="0"/>
          </a:p>
        </p:txBody>
      </p:sp>
      <p:sp>
        <p:nvSpPr>
          <p:cNvPr id="13" name="Shape 11"/>
          <p:cNvSpPr/>
          <p:nvPr/>
        </p:nvSpPr>
        <p:spPr>
          <a:xfrm>
            <a:off x="4983480" y="2560320"/>
            <a:ext cx="822960" cy="2377440"/>
          </a:xfrm>
          <a:prstGeom prst="rect">
            <a:avLst/>
          </a:prstGeom>
          <a:solidFill>
            <a:srgbClr val="FFC24B"/>
          </a:solidFill>
          <a:ln w="12700">
            <a:solidFill>
              <a:srgbClr val="FFC24B"/>
            </a:solidFill>
            <a:prstDash val="solid"/>
          </a:ln>
        </p:spPr>
      </p:sp>
      <p:sp>
        <p:nvSpPr>
          <p:cNvPr id="14" name="Text 12"/>
          <p:cNvSpPr/>
          <p:nvPr/>
        </p:nvSpPr>
        <p:spPr>
          <a:xfrm>
            <a:off x="4709160" y="2103120"/>
            <a:ext cx="137160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554</a:t>
            </a:r>
            <a:endParaRPr lang="en-US" sz="2000" dirty="0"/>
          </a:p>
        </p:txBody>
      </p:sp>
      <p:sp>
        <p:nvSpPr>
          <p:cNvPr id="15" name="Text 13"/>
          <p:cNvSpPr/>
          <p:nvPr/>
        </p:nvSpPr>
        <p:spPr>
          <a:xfrm>
            <a:off x="4709160" y="5010912"/>
            <a:ext cx="1371600" cy="365760"/>
          </a:xfrm>
          <a:prstGeom prst="rect">
            <a:avLst/>
          </a:prstGeom>
          <a:noFill/>
          <a:ln/>
        </p:spPr>
        <p:txBody>
          <a:bodyPr wrap="square" lIns="0" tIns="0" rIns="0" bIns="0" rtlCol="0" anchor="t"/>
          <a:lstStyle/>
          <a:p>
            <a:pPr algn="ctr" indent="0" marL="0">
              <a:buNone/>
            </a:pPr>
            <a:r>
              <a:rPr lang="en-US" sz="1400" dirty="0">
                <a:solidFill>
                  <a:srgbClr val="D5D8E2"/>
                </a:solidFill>
                <a:latin typeface="Palatino Linotype" pitchFamily="34" charset="0"/>
                <a:ea typeface="Palatino Linotype" pitchFamily="34" charset="-122"/>
                <a:cs typeface="Palatino Linotype" pitchFamily="34" charset="-120"/>
              </a:rPr>
              <a:t>2023</a:t>
            </a:r>
            <a:endParaRPr lang="en-US" sz="1400" dirty="0"/>
          </a:p>
        </p:txBody>
      </p:sp>
      <p:sp>
        <p:nvSpPr>
          <p:cNvPr id="16" name="Shape 14"/>
          <p:cNvSpPr/>
          <p:nvPr/>
        </p:nvSpPr>
        <p:spPr>
          <a:xfrm>
            <a:off x="822960" y="4937760"/>
            <a:ext cx="5166360" cy="22860"/>
          </a:xfrm>
          <a:prstGeom prst="rect">
            <a:avLst/>
          </a:prstGeom>
          <a:solidFill>
            <a:srgbClr val="6A6F85"/>
          </a:solidFill>
          <a:ln w="12700">
            <a:solidFill>
              <a:srgbClr val="C9C6BE"/>
            </a:solidFill>
            <a:prstDash val="solid"/>
          </a:ln>
        </p:spPr>
      </p:sp>
      <p:sp>
        <p:nvSpPr>
          <p:cNvPr id="17" name="Shape 15"/>
          <p:cNvSpPr/>
          <p:nvPr/>
        </p:nvSpPr>
        <p:spPr>
          <a:xfrm>
            <a:off x="6309360" y="1645920"/>
            <a:ext cx="5257800" cy="1600200"/>
          </a:xfrm>
          <a:prstGeom prst="roundRect">
            <a:avLst>
              <a:gd name="adj" fmla="val 5143"/>
            </a:avLst>
          </a:prstGeom>
          <a:solidFill>
            <a:srgbClr val="1D1F2B"/>
          </a:solidFill>
          <a:ln w="12700">
            <a:solidFill>
              <a:srgbClr val="1D1F2B"/>
            </a:solidFill>
            <a:prstDash val="solid"/>
          </a:ln>
        </p:spPr>
      </p:sp>
      <p:sp>
        <p:nvSpPr>
          <p:cNvPr id="18" name="Text 16"/>
          <p:cNvSpPr/>
          <p:nvPr/>
        </p:nvSpPr>
        <p:spPr>
          <a:xfrm>
            <a:off x="6510528" y="1773936"/>
            <a:ext cx="48554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2023</a:t>
            </a:r>
            <a:endParaRPr lang="en-US" sz="1300" dirty="0"/>
          </a:p>
        </p:txBody>
      </p:sp>
      <p:sp>
        <p:nvSpPr>
          <p:cNvPr id="19" name="Text 17"/>
          <p:cNvSpPr/>
          <p:nvPr/>
        </p:nvSpPr>
        <p:spPr>
          <a:xfrm>
            <a:off x="6510528" y="2157984"/>
            <a:ext cx="48554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374 publics (67,5 %) ; privés : de 5 en 2002 à 180</a:t>
            </a:r>
            <a:endParaRPr lang="en-US" sz="1700" dirty="0"/>
          </a:p>
        </p:txBody>
      </p:sp>
      <p:sp>
        <p:nvSpPr>
          <p:cNvPr id="20" name="Shape 18"/>
          <p:cNvSpPr/>
          <p:nvPr/>
        </p:nvSpPr>
        <p:spPr>
          <a:xfrm>
            <a:off x="6309360" y="3429000"/>
            <a:ext cx="5257800" cy="1600200"/>
          </a:xfrm>
          <a:prstGeom prst="roundRect">
            <a:avLst>
              <a:gd name="adj" fmla="val 5143"/>
            </a:avLst>
          </a:prstGeom>
          <a:solidFill>
            <a:srgbClr val="1D1F2B"/>
          </a:solidFill>
          <a:ln w="12700">
            <a:solidFill>
              <a:srgbClr val="1D1F2B"/>
            </a:solidFill>
            <a:prstDash val="solid"/>
          </a:ln>
        </p:spPr>
      </p:sp>
      <p:sp>
        <p:nvSpPr>
          <p:cNvPr id="21" name="Text 19"/>
          <p:cNvSpPr/>
          <p:nvPr/>
        </p:nvSpPr>
        <p:spPr>
          <a:xfrm>
            <a:off x="6510528" y="3557016"/>
            <a:ext cx="48554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2011</a:t>
            </a:r>
            <a:endParaRPr lang="en-US" sz="1300" dirty="0"/>
          </a:p>
        </p:txBody>
      </p:sp>
      <p:sp>
        <p:nvSpPr>
          <p:cNvPr id="22" name="Text 20"/>
          <p:cNvSpPr/>
          <p:nvPr/>
        </p:nvSpPr>
        <p:spPr>
          <a:xfrm>
            <a:off x="6510528" y="3941064"/>
            <a:ext cx="48554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67 hôpitaux publics fermés ; plus de la moitié ont rouvert</a:t>
            </a:r>
            <a:endParaRPr lang="en-US" sz="17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LITS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L’une des plus grandes capacités de l’UE</a:t>
            </a:r>
            <a:endParaRPr lang="en-US" sz="3100" dirty="0"/>
          </a:p>
        </p:txBody>
      </p:sp>
      <p:sp>
        <p:nvSpPr>
          <p:cNvPr id="4" name="Text 2"/>
          <p:cNvSpPr/>
          <p:nvPr/>
        </p:nvSpPr>
        <p:spPr>
          <a:xfrm>
            <a:off x="594360" y="1508760"/>
            <a:ext cx="5029200" cy="365760"/>
          </a:xfrm>
          <a:prstGeom prst="rect">
            <a:avLst/>
          </a:prstGeom>
          <a:noFill/>
          <a:ln/>
        </p:spPr>
        <p:txBody>
          <a:bodyPr wrap="square" lIns="0" tIns="0" rIns="0" bIns="0" rtlCol="0" anchor="t"/>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Lits pour 100 000 habitants</a:t>
            </a:r>
            <a:endParaRPr lang="en-US" sz="1400" dirty="0"/>
          </a:p>
        </p:txBody>
      </p:sp>
      <p:sp>
        <p:nvSpPr>
          <p:cNvPr id="5" name="Shape 3"/>
          <p:cNvSpPr/>
          <p:nvPr/>
        </p:nvSpPr>
        <p:spPr>
          <a:xfrm>
            <a:off x="1005840" y="2560320"/>
            <a:ext cx="914400" cy="2560320"/>
          </a:xfrm>
          <a:prstGeom prst="rect">
            <a:avLst/>
          </a:prstGeom>
          <a:solidFill>
            <a:srgbClr val="0E7C6B"/>
          </a:solidFill>
          <a:ln w="12700">
            <a:solidFill>
              <a:srgbClr val="0E7C6B"/>
            </a:solidFill>
            <a:prstDash val="solid"/>
          </a:ln>
        </p:spPr>
      </p:sp>
      <p:sp>
        <p:nvSpPr>
          <p:cNvPr id="6" name="Text 4"/>
          <p:cNvSpPr/>
          <p:nvPr/>
        </p:nvSpPr>
        <p:spPr>
          <a:xfrm>
            <a:off x="731520" y="2103120"/>
            <a:ext cx="146304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889</a:t>
            </a:r>
            <a:endParaRPr lang="en-US" sz="2000" dirty="0"/>
          </a:p>
        </p:txBody>
      </p:sp>
      <p:sp>
        <p:nvSpPr>
          <p:cNvPr id="7" name="Text 5"/>
          <p:cNvSpPr/>
          <p:nvPr/>
        </p:nvSpPr>
        <p:spPr>
          <a:xfrm>
            <a:off x="731520" y="5193792"/>
            <a:ext cx="146304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2000</a:t>
            </a:r>
            <a:endParaRPr lang="en-US" sz="1400" dirty="0"/>
          </a:p>
        </p:txBody>
      </p:sp>
      <p:sp>
        <p:nvSpPr>
          <p:cNvPr id="8" name="Shape 6"/>
          <p:cNvSpPr/>
          <p:nvPr/>
        </p:nvSpPr>
        <p:spPr>
          <a:xfrm>
            <a:off x="2560320" y="3176640"/>
            <a:ext cx="914400" cy="1944000"/>
          </a:xfrm>
          <a:prstGeom prst="rect">
            <a:avLst/>
          </a:prstGeom>
          <a:solidFill>
            <a:srgbClr val="4A2D8C"/>
          </a:solidFill>
          <a:ln w="12700">
            <a:solidFill>
              <a:srgbClr val="4A2D8C"/>
            </a:solidFill>
            <a:prstDash val="solid"/>
          </a:ln>
        </p:spPr>
      </p:sp>
      <p:sp>
        <p:nvSpPr>
          <p:cNvPr id="9" name="Text 7"/>
          <p:cNvSpPr/>
          <p:nvPr/>
        </p:nvSpPr>
        <p:spPr>
          <a:xfrm>
            <a:off x="2286000" y="2719440"/>
            <a:ext cx="146304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675</a:t>
            </a:r>
            <a:endParaRPr lang="en-US" sz="2000" dirty="0"/>
          </a:p>
        </p:txBody>
      </p:sp>
      <p:sp>
        <p:nvSpPr>
          <p:cNvPr id="10" name="Text 8"/>
          <p:cNvSpPr/>
          <p:nvPr/>
        </p:nvSpPr>
        <p:spPr>
          <a:xfrm>
            <a:off x="2286000" y="5193792"/>
            <a:ext cx="146304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2011</a:t>
            </a:r>
            <a:endParaRPr lang="en-US" sz="1400" dirty="0"/>
          </a:p>
        </p:txBody>
      </p:sp>
      <p:sp>
        <p:nvSpPr>
          <p:cNvPr id="11" name="Shape 9"/>
          <p:cNvSpPr/>
          <p:nvPr/>
        </p:nvSpPr>
        <p:spPr>
          <a:xfrm>
            <a:off x="4114800" y="3024000"/>
            <a:ext cx="914400" cy="2096640"/>
          </a:xfrm>
          <a:prstGeom prst="rect">
            <a:avLst/>
          </a:prstGeom>
          <a:solidFill>
            <a:srgbClr val="B02532"/>
          </a:solidFill>
          <a:ln w="12700">
            <a:solidFill>
              <a:srgbClr val="B02532"/>
            </a:solidFill>
            <a:prstDash val="solid"/>
          </a:ln>
        </p:spPr>
      </p:sp>
      <p:sp>
        <p:nvSpPr>
          <p:cNvPr id="12" name="Text 10"/>
          <p:cNvSpPr/>
          <p:nvPr/>
        </p:nvSpPr>
        <p:spPr>
          <a:xfrm>
            <a:off x="3840480" y="2566800"/>
            <a:ext cx="146304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728</a:t>
            </a:r>
            <a:endParaRPr lang="en-US" sz="2000" dirty="0"/>
          </a:p>
        </p:txBody>
      </p:sp>
      <p:sp>
        <p:nvSpPr>
          <p:cNvPr id="13" name="Text 11"/>
          <p:cNvSpPr/>
          <p:nvPr/>
        </p:nvSpPr>
        <p:spPr>
          <a:xfrm>
            <a:off x="3840480" y="5193792"/>
            <a:ext cx="146304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2023</a:t>
            </a:r>
            <a:endParaRPr lang="en-US" sz="1400" dirty="0"/>
          </a:p>
        </p:txBody>
      </p:sp>
      <p:sp>
        <p:nvSpPr>
          <p:cNvPr id="14" name="Shape 12"/>
          <p:cNvSpPr/>
          <p:nvPr/>
        </p:nvSpPr>
        <p:spPr>
          <a:xfrm>
            <a:off x="822960" y="5120640"/>
            <a:ext cx="4389120" cy="22860"/>
          </a:xfrm>
          <a:prstGeom prst="rect">
            <a:avLst/>
          </a:prstGeom>
          <a:solidFill>
            <a:srgbClr val="C9C6BE"/>
          </a:solidFill>
          <a:ln w="12700">
            <a:solidFill>
              <a:srgbClr val="C9C6BE"/>
            </a:solidFill>
            <a:prstDash val="solid"/>
          </a:ln>
        </p:spPr>
      </p:sp>
      <p:sp>
        <p:nvSpPr>
          <p:cNvPr id="15" name="Shape 13"/>
          <p:cNvSpPr/>
          <p:nvPr/>
        </p:nvSpPr>
        <p:spPr>
          <a:xfrm>
            <a:off x="6035040" y="1554480"/>
            <a:ext cx="5532120" cy="1280160"/>
          </a:xfrm>
          <a:prstGeom prst="roundRect">
            <a:avLst>
              <a:gd name="adj" fmla="val 6429"/>
            </a:avLst>
          </a:prstGeom>
          <a:solidFill>
            <a:srgbClr val="ECEAE4"/>
          </a:solidFill>
          <a:ln w="12700">
            <a:solidFill>
              <a:srgbClr val="ECEAE4"/>
            </a:solidFill>
            <a:prstDash val="solid"/>
          </a:ln>
        </p:spPr>
      </p:sp>
      <p:sp>
        <p:nvSpPr>
          <p:cNvPr id="16" name="Text 14"/>
          <p:cNvSpPr/>
          <p:nvPr/>
        </p:nvSpPr>
        <p:spPr>
          <a:xfrm>
            <a:off x="6236208" y="1682496"/>
            <a:ext cx="5129784" cy="384048"/>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2024</a:t>
            </a:r>
            <a:endParaRPr lang="en-US" sz="1250" dirty="0"/>
          </a:p>
        </p:txBody>
      </p:sp>
      <p:sp>
        <p:nvSpPr>
          <p:cNvPr id="17" name="Text 15"/>
          <p:cNvSpPr/>
          <p:nvPr/>
        </p:nvSpPr>
        <p:spPr>
          <a:xfrm>
            <a:off x="6236208" y="2066544"/>
            <a:ext cx="5129784"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730,7 lits pour 100 000 habitants, contre 507,4 dans l’UE</a:t>
            </a:r>
            <a:endParaRPr lang="en-US" sz="1600" dirty="0"/>
          </a:p>
        </p:txBody>
      </p:sp>
      <p:sp>
        <p:nvSpPr>
          <p:cNvPr id="18" name="Shape 16"/>
          <p:cNvSpPr/>
          <p:nvPr/>
        </p:nvSpPr>
        <p:spPr>
          <a:xfrm>
            <a:off x="6035040" y="2971800"/>
            <a:ext cx="5532120" cy="1280160"/>
          </a:xfrm>
          <a:prstGeom prst="roundRect">
            <a:avLst>
              <a:gd name="adj" fmla="val 6429"/>
            </a:avLst>
          </a:prstGeom>
          <a:solidFill>
            <a:srgbClr val="ECEAE4"/>
          </a:solidFill>
          <a:ln w="12700">
            <a:solidFill>
              <a:srgbClr val="ECEAE4"/>
            </a:solidFill>
            <a:prstDash val="solid"/>
          </a:ln>
        </p:spPr>
      </p:sp>
      <p:sp>
        <p:nvSpPr>
          <p:cNvPr id="19" name="Text 17"/>
          <p:cNvSpPr/>
          <p:nvPr/>
        </p:nvSpPr>
        <p:spPr>
          <a:xfrm>
            <a:off x="6236208" y="3099816"/>
            <a:ext cx="5129784" cy="384048"/>
          </a:xfrm>
          <a:prstGeom prst="rect">
            <a:avLst/>
          </a:prstGeom>
          <a:noFill/>
          <a:ln/>
        </p:spPr>
        <p:txBody>
          <a:bodyPr wrap="square" lIns="0" tIns="0" rIns="0" bIns="0" rtlCol="0" anchor="t"/>
          <a:lstStyle/>
          <a:p>
            <a:pPr indent="0" marL="0">
              <a:buNone/>
            </a:pPr>
            <a:r>
              <a:rPr lang="en-US" sz="1250" b="1" spc="100" kern="0" dirty="0">
                <a:solidFill>
                  <a:srgbClr val="4A2D8C"/>
                </a:solidFill>
                <a:latin typeface="Palatino Linotype" pitchFamily="34" charset="0"/>
                <a:ea typeface="Palatino Linotype" pitchFamily="34" charset="-122"/>
                <a:cs typeface="Palatino Linotype" pitchFamily="34" charset="-120"/>
              </a:rPr>
              <a:t>SORTIES, 2022</a:t>
            </a:r>
            <a:endParaRPr lang="en-US" sz="1250" dirty="0"/>
          </a:p>
        </p:txBody>
      </p:sp>
      <p:sp>
        <p:nvSpPr>
          <p:cNvPr id="20" name="Text 18"/>
          <p:cNvSpPr/>
          <p:nvPr/>
        </p:nvSpPr>
        <p:spPr>
          <a:xfrm>
            <a:off x="6236208" y="3483864"/>
            <a:ext cx="5129784"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162 pour 1 000 habitants, contre 155 dans l’UE</a:t>
            </a:r>
            <a:endParaRPr lang="en-US" sz="1600" dirty="0"/>
          </a:p>
        </p:txBody>
      </p:sp>
      <p:sp>
        <p:nvSpPr>
          <p:cNvPr id="21" name="Shape 19"/>
          <p:cNvSpPr/>
          <p:nvPr/>
        </p:nvSpPr>
        <p:spPr>
          <a:xfrm>
            <a:off x="6035040" y="4389120"/>
            <a:ext cx="5532120" cy="1280160"/>
          </a:xfrm>
          <a:prstGeom prst="roundRect">
            <a:avLst>
              <a:gd name="adj" fmla="val 6429"/>
            </a:avLst>
          </a:prstGeom>
          <a:solidFill>
            <a:srgbClr val="ECEAE4"/>
          </a:solidFill>
          <a:ln w="12700">
            <a:solidFill>
              <a:srgbClr val="ECEAE4"/>
            </a:solidFill>
            <a:prstDash val="solid"/>
          </a:ln>
        </p:spPr>
      </p:sp>
      <p:sp>
        <p:nvSpPr>
          <p:cNvPr id="22" name="Text 20"/>
          <p:cNvSpPr/>
          <p:nvPr/>
        </p:nvSpPr>
        <p:spPr>
          <a:xfrm>
            <a:off x="6236208" y="4517136"/>
            <a:ext cx="5129784" cy="384048"/>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2023</a:t>
            </a:r>
            <a:endParaRPr lang="en-US" sz="1250" dirty="0"/>
          </a:p>
        </p:txBody>
      </p:sp>
      <p:sp>
        <p:nvSpPr>
          <p:cNvPr id="23" name="Text 21"/>
          <p:cNvSpPr/>
          <p:nvPr/>
        </p:nvSpPr>
        <p:spPr>
          <a:xfrm>
            <a:off x="6236208" y="4901184"/>
            <a:ext cx="5129784"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91 % des hôpitaux publics en ville ; 48 % de la population à la campagne</a:t>
            </a:r>
            <a:endParaRPr lang="en-US" sz="16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L’ARGENT SUIT LES LITS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Où vont les dépenses de santé</a:t>
            </a:r>
            <a:endParaRPr lang="en-US" sz="3100" dirty="0"/>
          </a:p>
        </p:txBody>
      </p:sp>
      <p:sp>
        <p:nvSpPr>
          <p:cNvPr id="4" name="Text 2"/>
          <p:cNvSpPr/>
          <p:nvPr/>
        </p:nvSpPr>
        <p:spPr>
          <a:xfrm>
            <a:off x="594360" y="1737360"/>
            <a:ext cx="347472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Les soins hospitaliers</a:t>
            </a:r>
            <a:endParaRPr lang="en-US" sz="1700" dirty="0"/>
          </a:p>
        </p:txBody>
      </p:sp>
      <p:sp>
        <p:nvSpPr>
          <p:cNvPr id="5" name="Shape 3"/>
          <p:cNvSpPr/>
          <p:nvPr/>
        </p:nvSpPr>
        <p:spPr>
          <a:xfrm>
            <a:off x="4160520" y="1792224"/>
            <a:ext cx="5486400" cy="630936"/>
          </a:xfrm>
          <a:prstGeom prst="roundRect">
            <a:avLst>
              <a:gd name="adj" fmla="val 7246"/>
            </a:avLst>
          </a:prstGeom>
          <a:solidFill>
            <a:srgbClr val="FF4757"/>
          </a:solidFill>
          <a:ln w="12700">
            <a:solidFill>
              <a:srgbClr val="FF4757"/>
            </a:solidFill>
            <a:prstDash val="solid"/>
          </a:ln>
        </p:spPr>
      </p:sp>
      <p:sp>
        <p:nvSpPr>
          <p:cNvPr id="6" name="Text 4"/>
          <p:cNvSpPr/>
          <p:nvPr/>
        </p:nvSpPr>
        <p:spPr>
          <a:xfrm>
            <a:off x="9738360" y="1792224"/>
            <a:ext cx="2194560" cy="63093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43,7 %</a:t>
            </a:r>
            <a:endParaRPr lang="en-US" sz="1500" dirty="0"/>
          </a:p>
        </p:txBody>
      </p:sp>
      <p:sp>
        <p:nvSpPr>
          <p:cNvPr id="7" name="Text 5"/>
          <p:cNvSpPr/>
          <p:nvPr/>
        </p:nvSpPr>
        <p:spPr>
          <a:xfrm>
            <a:off x="594360" y="2606040"/>
            <a:ext cx="347472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Les médicaments</a:t>
            </a:r>
            <a:endParaRPr lang="en-US" sz="1700" dirty="0"/>
          </a:p>
        </p:txBody>
      </p:sp>
      <p:sp>
        <p:nvSpPr>
          <p:cNvPr id="8" name="Shape 6"/>
          <p:cNvSpPr/>
          <p:nvPr/>
        </p:nvSpPr>
        <p:spPr>
          <a:xfrm>
            <a:off x="4160520" y="2660904"/>
            <a:ext cx="3452540" cy="630936"/>
          </a:xfrm>
          <a:prstGeom prst="roundRect">
            <a:avLst>
              <a:gd name="adj" fmla="val 7246"/>
            </a:avLst>
          </a:prstGeom>
          <a:solidFill>
            <a:srgbClr val="9B7EF7"/>
          </a:solidFill>
          <a:ln w="12700">
            <a:solidFill>
              <a:srgbClr val="9B7EF7"/>
            </a:solidFill>
            <a:prstDash val="solid"/>
          </a:ln>
        </p:spPr>
      </p:sp>
      <p:sp>
        <p:nvSpPr>
          <p:cNvPr id="9" name="Text 7"/>
          <p:cNvSpPr/>
          <p:nvPr/>
        </p:nvSpPr>
        <p:spPr>
          <a:xfrm>
            <a:off x="7704500" y="2660904"/>
            <a:ext cx="2194560" cy="63093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27,5 %</a:t>
            </a:r>
            <a:endParaRPr lang="en-US" sz="1500" dirty="0"/>
          </a:p>
        </p:txBody>
      </p:sp>
      <p:sp>
        <p:nvSpPr>
          <p:cNvPr id="10" name="Text 8"/>
          <p:cNvSpPr/>
          <p:nvPr/>
        </p:nvSpPr>
        <p:spPr>
          <a:xfrm>
            <a:off x="594360" y="3474720"/>
            <a:ext cx="347472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Les soins ambulatoires</a:t>
            </a:r>
            <a:endParaRPr lang="en-US" sz="1700" dirty="0"/>
          </a:p>
        </p:txBody>
      </p:sp>
      <p:sp>
        <p:nvSpPr>
          <p:cNvPr id="11" name="Shape 9"/>
          <p:cNvSpPr/>
          <p:nvPr/>
        </p:nvSpPr>
        <p:spPr>
          <a:xfrm>
            <a:off x="4160520" y="3529584"/>
            <a:ext cx="2523493" cy="630936"/>
          </a:xfrm>
          <a:prstGeom prst="roundRect">
            <a:avLst>
              <a:gd name="adj" fmla="val 7246"/>
            </a:avLst>
          </a:prstGeom>
          <a:solidFill>
            <a:srgbClr val="27D3BE"/>
          </a:solidFill>
          <a:ln w="12700">
            <a:solidFill>
              <a:srgbClr val="27D3BE"/>
            </a:solidFill>
            <a:prstDash val="solid"/>
          </a:ln>
        </p:spPr>
      </p:sp>
      <p:sp>
        <p:nvSpPr>
          <p:cNvPr id="12" name="Text 10"/>
          <p:cNvSpPr/>
          <p:nvPr/>
        </p:nvSpPr>
        <p:spPr>
          <a:xfrm>
            <a:off x="6775453" y="3529584"/>
            <a:ext cx="2194560" cy="63093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20,1 %</a:t>
            </a:r>
            <a:endParaRPr lang="en-US" sz="1500" dirty="0"/>
          </a:p>
        </p:txBody>
      </p:sp>
      <p:sp>
        <p:nvSpPr>
          <p:cNvPr id="13" name="Shape 11"/>
          <p:cNvSpPr/>
          <p:nvPr/>
        </p:nvSpPr>
        <p:spPr>
          <a:xfrm>
            <a:off x="594360" y="4572000"/>
            <a:ext cx="10972800" cy="914400"/>
          </a:xfrm>
          <a:prstGeom prst="roundRect">
            <a:avLst>
              <a:gd name="adj" fmla="val 9000"/>
            </a:avLst>
          </a:prstGeom>
          <a:solidFill>
            <a:srgbClr val="07564B"/>
          </a:solidFill>
          <a:ln w="12700">
            <a:solidFill>
              <a:srgbClr val="07564B"/>
            </a:solidFill>
            <a:prstDash val="solid"/>
          </a:ln>
        </p:spPr>
      </p:sp>
      <p:sp>
        <p:nvSpPr>
          <p:cNvPr id="14" name="Text 12"/>
          <p:cNvSpPr/>
          <p:nvPr/>
        </p:nvSpPr>
        <p:spPr>
          <a:xfrm>
            <a:off x="868680" y="457200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Les patients contournent les soins primaires ; les DRG paient chaque hospitalisation, non celle qui est évitée.</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analyse du système de santé de la Roumanie ; données pour 2023.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RÉGIONALISATION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Les hôpitaux régionaux : proposés, reportés, en construction</a:t>
            </a:r>
            <a:endParaRPr lang="en-US" sz="3000" dirty="0"/>
          </a:p>
        </p:txBody>
      </p:sp>
      <p:sp>
        <p:nvSpPr>
          <p:cNvPr id="4" name="Shape 2"/>
          <p:cNvSpPr/>
          <p:nvPr/>
        </p:nvSpPr>
        <p:spPr>
          <a:xfrm>
            <a:off x="822960" y="1911096"/>
            <a:ext cx="10515600" cy="36576"/>
          </a:xfrm>
          <a:prstGeom prst="rect">
            <a:avLst/>
          </a:prstGeom>
          <a:solidFill>
            <a:srgbClr val="C9C6BE"/>
          </a:solidFill>
          <a:ln w="12700">
            <a:solidFill>
              <a:srgbClr val="C9C6BE"/>
            </a:solidFill>
            <a:prstDash val="solid"/>
          </a:ln>
        </p:spPr>
      </p:sp>
      <p:sp>
        <p:nvSpPr>
          <p:cNvPr id="5" name="Shape 3"/>
          <p:cNvSpPr/>
          <p:nvPr/>
        </p:nvSpPr>
        <p:spPr>
          <a:xfrm>
            <a:off x="685800" y="1783080"/>
            <a:ext cx="292608" cy="292608"/>
          </a:xfrm>
          <a:prstGeom prst="ellipse">
            <a:avLst/>
          </a:prstGeom>
          <a:solidFill>
            <a:srgbClr val="0E7C6B"/>
          </a:solidFill>
          <a:ln/>
        </p:spPr>
      </p:sp>
      <p:sp>
        <p:nvSpPr>
          <p:cNvPr id="6" name="Text 4"/>
          <p:cNvSpPr/>
          <p:nvPr/>
        </p:nvSpPr>
        <p:spPr>
          <a:xfrm>
            <a:off x="594360" y="2240280"/>
            <a:ext cx="2057400" cy="54864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2003</a:t>
            </a:r>
            <a:endParaRPr lang="en-US" sz="2400" dirty="0"/>
          </a:p>
        </p:txBody>
      </p:sp>
      <p:sp>
        <p:nvSpPr>
          <p:cNvPr id="7" name="Text 5"/>
          <p:cNvSpPr/>
          <p:nvPr/>
        </p:nvSpPr>
        <p:spPr>
          <a:xfrm>
            <a:off x="594360" y="2834640"/>
            <a:ext cx="19659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rapports demandent des réseaux régionaux</a:t>
            </a:r>
            <a:endParaRPr lang="en-US" sz="1600" dirty="0"/>
          </a:p>
        </p:txBody>
      </p:sp>
      <p:sp>
        <p:nvSpPr>
          <p:cNvPr id="8" name="Shape 6"/>
          <p:cNvSpPr/>
          <p:nvPr/>
        </p:nvSpPr>
        <p:spPr>
          <a:xfrm>
            <a:off x="2880360" y="1783080"/>
            <a:ext cx="292608" cy="292608"/>
          </a:xfrm>
          <a:prstGeom prst="ellipse">
            <a:avLst/>
          </a:prstGeom>
          <a:solidFill>
            <a:srgbClr val="B02532"/>
          </a:solidFill>
          <a:ln/>
        </p:spPr>
      </p:sp>
      <p:sp>
        <p:nvSpPr>
          <p:cNvPr id="9" name="Text 7"/>
          <p:cNvSpPr/>
          <p:nvPr/>
        </p:nvSpPr>
        <p:spPr>
          <a:xfrm>
            <a:off x="2788920" y="2240280"/>
            <a:ext cx="205740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2004</a:t>
            </a:r>
            <a:endParaRPr lang="en-US" sz="2400" dirty="0"/>
          </a:p>
        </p:txBody>
      </p:sp>
      <p:sp>
        <p:nvSpPr>
          <p:cNvPr id="10" name="Text 8"/>
          <p:cNvSpPr/>
          <p:nvPr/>
        </p:nvSpPr>
        <p:spPr>
          <a:xfrm>
            <a:off x="2788920" y="2834640"/>
            <a:ext cx="19659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une loi non adoptée : huit hôpitaux régionaux</a:t>
            </a:r>
            <a:endParaRPr lang="en-US" sz="1600" dirty="0"/>
          </a:p>
        </p:txBody>
      </p:sp>
      <p:sp>
        <p:nvSpPr>
          <p:cNvPr id="11" name="Shape 9"/>
          <p:cNvSpPr/>
          <p:nvPr/>
        </p:nvSpPr>
        <p:spPr>
          <a:xfrm>
            <a:off x="5074920" y="1783080"/>
            <a:ext cx="292608" cy="292608"/>
          </a:xfrm>
          <a:prstGeom prst="ellipse">
            <a:avLst/>
          </a:prstGeom>
          <a:solidFill>
            <a:srgbClr val="4A2D8C"/>
          </a:solidFill>
          <a:ln/>
        </p:spPr>
      </p:sp>
      <p:sp>
        <p:nvSpPr>
          <p:cNvPr id="12" name="Text 10"/>
          <p:cNvSpPr/>
          <p:nvPr/>
        </p:nvSpPr>
        <p:spPr>
          <a:xfrm>
            <a:off x="4983480" y="2240280"/>
            <a:ext cx="2057400" cy="548640"/>
          </a:xfrm>
          <a:prstGeom prst="rect">
            <a:avLst/>
          </a:prstGeom>
          <a:noFill/>
          <a:ln/>
        </p:spPr>
        <p:txBody>
          <a:bodyPr wrap="square" lIns="0" tIns="0" rIns="0" bIns="0" rtlCol="0" anchor="t"/>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2011</a:t>
            </a:r>
            <a:endParaRPr lang="en-US" sz="2400" dirty="0"/>
          </a:p>
        </p:txBody>
      </p:sp>
      <p:sp>
        <p:nvSpPr>
          <p:cNvPr id="13" name="Text 11"/>
          <p:cNvSpPr/>
          <p:nvPr/>
        </p:nvSpPr>
        <p:spPr>
          <a:xfrm>
            <a:off x="4983480" y="2834640"/>
            <a:ext cx="19659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stratégie de rationalisation</a:t>
            </a:r>
            <a:endParaRPr lang="en-US" sz="1600" dirty="0"/>
          </a:p>
        </p:txBody>
      </p:sp>
      <p:sp>
        <p:nvSpPr>
          <p:cNvPr id="14" name="Shape 12"/>
          <p:cNvSpPr/>
          <p:nvPr/>
        </p:nvSpPr>
        <p:spPr>
          <a:xfrm>
            <a:off x="7269480" y="1783080"/>
            <a:ext cx="292608" cy="292608"/>
          </a:xfrm>
          <a:prstGeom prst="ellipse">
            <a:avLst/>
          </a:prstGeom>
          <a:solidFill>
            <a:srgbClr val="9C4A0A"/>
          </a:solidFill>
          <a:ln/>
        </p:spPr>
      </p:sp>
      <p:sp>
        <p:nvSpPr>
          <p:cNvPr id="15" name="Text 13"/>
          <p:cNvSpPr/>
          <p:nvPr/>
        </p:nvSpPr>
        <p:spPr>
          <a:xfrm>
            <a:off x="7178040" y="2240280"/>
            <a:ext cx="2057400" cy="548640"/>
          </a:xfrm>
          <a:prstGeom prst="rect">
            <a:avLst/>
          </a:prstGeom>
          <a:noFill/>
          <a:ln/>
        </p:spPr>
        <p:txBody>
          <a:bodyPr wrap="square" lIns="0" tIns="0" rIns="0" bIns="0" rtlCol="0" anchor="t"/>
          <a:lstStyle/>
          <a:p>
            <a:pPr indent="0" marL="0">
              <a:buNone/>
            </a:pPr>
            <a:r>
              <a:rPr lang="en-US" sz="2400" b="1" dirty="0">
                <a:solidFill>
                  <a:srgbClr val="9C4A0A"/>
                </a:solidFill>
                <a:latin typeface="Palatino Linotype" pitchFamily="34" charset="0"/>
                <a:ea typeface="Palatino Linotype" pitchFamily="34" charset="-122"/>
                <a:cs typeface="Palatino Linotype" pitchFamily="34" charset="-120"/>
              </a:rPr>
              <a:t>2016</a:t>
            </a:r>
            <a:endParaRPr lang="en-US" sz="2400" dirty="0"/>
          </a:p>
        </p:txBody>
      </p:sp>
      <p:sp>
        <p:nvSpPr>
          <p:cNvPr id="16" name="Text 14"/>
          <p:cNvSpPr/>
          <p:nvPr/>
        </p:nvSpPr>
        <p:spPr>
          <a:xfrm>
            <a:off x="7178040" y="2834640"/>
            <a:ext cx="19659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premiers plans régionaux</a:t>
            </a:r>
            <a:endParaRPr lang="en-US" sz="1600" dirty="0"/>
          </a:p>
        </p:txBody>
      </p:sp>
      <p:sp>
        <p:nvSpPr>
          <p:cNvPr id="17" name="Shape 15"/>
          <p:cNvSpPr/>
          <p:nvPr/>
        </p:nvSpPr>
        <p:spPr>
          <a:xfrm>
            <a:off x="9464040" y="1783080"/>
            <a:ext cx="292608" cy="292608"/>
          </a:xfrm>
          <a:prstGeom prst="ellipse">
            <a:avLst/>
          </a:prstGeom>
          <a:solidFill>
            <a:srgbClr val="8A6100"/>
          </a:solidFill>
          <a:ln/>
        </p:spPr>
      </p:sp>
      <p:sp>
        <p:nvSpPr>
          <p:cNvPr id="18" name="Text 16"/>
          <p:cNvSpPr/>
          <p:nvPr/>
        </p:nvSpPr>
        <p:spPr>
          <a:xfrm>
            <a:off x="9372600" y="2240280"/>
            <a:ext cx="2057400" cy="548640"/>
          </a:xfrm>
          <a:prstGeom prst="rect">
            <a:avLst/>
          </a:prstGeom>
          <a:noFill/>
          <a:ln/>
        </p:spPr>
        <p:txBody>
          <a:bodyPr wrap="square" lIns="0" tIns="0" rIns="0" bIns="0" rtlCol="0" anchor="t"/>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2019</a:t>
            </a:r>
            <a:endParaRPr lang="en-US" sz="2400" dirty="0"/>
          </a:p>
        </p:txBody>
      </p:sp>
      <p:sp>
        <p:nvSpPr>
          <p:cNvPr id="19" name="Text 17"/>
          <p:cNvSpPr/>
          <p:nvPr/>
        </p:nvSpPr>
        <p:spPr>
          <a:xfrm>
            <a:off x="9372600" y="2834640"/>
            <a:ext cx="19659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début de la construction de trois : Iași, Cluj, Craiova</a:t>
            </a:r>
            <a:endParaRPr lang="en-US" sz="1600" dirty="0"/>
          </a:p>
        </p:txBody>
      </p:sp>
      <p:sp>
        <p:nvSpPr>
          <p:cNvPr id="20" name="Shape 18"/>
          <p:cNvSpPr/>
          <p:nvPr/>
        </p:nvSpPr>
        <p:spPr>
          <a:xfrm>
            <a:off x="594360" y="4572000"/>
            <a:ext cx="10972800" cy="914400"/>
          </a:xfrm>
          <a:prstGeom prst="roundRect">
            <a:avLst>
              <a:gd name="adj" fmla="val 9000"/>
            </a:avLst>
          </a:prstGeom>
          <a:solidFill>
            <a:srgbClr val="11121A"/>
          </a:solidFill>
          <a:ln w="12700">
            <a:solidFill>
              <a:srgbClr val="11121A"/>
            </a:solidFill>
            <a:prstDash val="solid"/>
          </a:ln>
        </p:spPr>
      </p:sp>
      <p:sp>
        <p:nvSpPr>
          <p:cNvPr id="21" name="Text 19"/>
          <p:cNvSpPr/>
          <p:nvPr/>
        </p:nvSpPr>
        <p:spPr>
          <a:xfrm>
            <a:off x="868680" y="457200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Un hôpital régional ne règle pas seul le problème de Mme M. : il lui faut des soins primaires forts.</a:t>
            </a:r>
            <a:endParaRPr lang="en-US" sz="18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analyse du système de santé de la Roumanie (OMS Europe et Observatoire européen).</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QUI S’EST PASSÉ · CAS CONSTRUIT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Mme M., cinq semaines plus tard</a:t>
            </a:r>
            <a:endParaRPr lang="en-US" sz="3100" dirty="0"/>
          </a:p>
        </p:txBody>
      </p:sp>
      <p:sp>
        <p:nvSpPr>
          <p:cNvPr id="4" name="Shape 2"/>
          <p:cNvSpPr/>
          <p:nvPr/>
        </p:nvSpPr>
        <p:spPr>
          <a:xfrm>
            <a:off x="594360" y="1554480"/>
            <a:ext cx="5372100" cy="1874520"/>
          </a:xfrm>
          <a:prstGeom prst="roundRect">
            <a:avLst>
              <a:gd name="adj" fmla="val 4390"/>
            </a:avLst>
          </a:prstGeom>
          <a:solidFill>
            <a:srgbClr val="1D1F2B"/>
          </a:solidFill>
          <a:ln w="12700">
            <a:solidFill>
              <a:srgbClr val="1D1F2B"/>
            </a:solidFill>
            <a:prstDash val="solid"/>
          </a:ln>
        </p:spPr>
      </p:sp>
      <p:sp>
        <p:nvSpPr>
          <p:cNvPr id="5" name="Text 3"/>
          <p:cNvSpPr/>
          <p:nvPr/>
        </p:nvSpPr>
        <p:spPr>
          <a:xfrm>
            <a:off x="795528" y="1682496"/>
            <a:ext cx="49697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LE DOSSIER</a:t>
            </a:r>
            <a:endParaRPr lang="en-US" sz="1300" dirty="0"/>
          </a:p>
        </p:txBody>
      </p:sp>
      <p:sp>
        <p:nvSpPr>
          <p:cNvPr id="6" name="Text 4"/>
          <p:cNvSpPr/>
          <p:nvPr/>
        </p:nvSpPr>
        <p:spPr>
          <a:xfrm>
            <a:off x="795528" y="2066544"/>
            <a:ext cx="4969764" cy="123444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finalement rempli avec la pneumonie et les deux diagnostics secondaires ; le cas a été confirmé et payé</a:t>
            </a:r>
            <a:endParaRPr lang="en-US" sz="1650" dirty="0"/>
          </a:p>
        </p:txBody>
      </p:sp>
      <p:sp>
        <p:nvSpPr>
          <p:cNvPr id="7" name="Shape 5"/>
          <p:cNvSpPr/>
          <p:nvPr/>
        </p:nvSpPr>
        <p:spPr>
          <a:xfrm>
            <a:off x="6195060" y="1554480"/>
            <a:ext cx="5372100" cy="1874520"/>
          </a:xfrm>
          <a:prstGeom prst="roundRect">
            <a:avLst>
              <a:gd name="adj" fmla="val 4390"/>
            </a:avLst>
          </a:prstGeom>
          <a:solidFill>
            <a:srgbClr val="1D1F2B"/>
          </a:solidFill>
          <a:ln w="12700">
            <a:solidFill>
              <a:srgbClr val="1D1F2B"/>
            </a:solidFill>
            <a:prstDash val="solid"/>
          </a:ln>
        </p:spPr>
      </p:sp>
      <p:sp>
        <p:nvSpPr>
          <p:cNvPr id="8" name="Text 6"/>
          <p:cNvSpPr/>
          <p:nvPr/>
        </p:nvSpPr>
        <p:spPr>
          <a:xfrm>
            <a:off x="6396228" y="1682496"/>
            <a:ext cx="49697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APRÈS LA SORTIE</a:t>
            </a:r>
            <a:endParaRPr lang="en-US" sz="1300" dirty="0"/>
          </a:p>
        </p:txBody>
      </p:sp>
      <p:sp>
        <p:nvSpPr>
          <p:cNvPr id="9" name="Text 7"/>
          <p:cNvSpPr/>
          <p:nvPr/>
        </p:nvSpPr>
        <p:spPr>
          <a:xfrm>
            <a:off x="6396228" y="2066544"/>
            <a:ext cx="4969764" cy="123444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la lettre médicale, apportée au médecin de famille au bout de trois semaines ; il a 1 900 patients et ne consulte pas le soir</a:t>
            </a:r>
            <a:endParaRPr lang="en-US" sz="1650" dirty="0"/>
          </a:p>
        </p:txBody>
      </p:sp>
      <p:sp>
        <p:nvSpPr>
          <p:cNvPr id="10" name="Shape 8"/>
          <p:cNvSpPr/>
          <p:nvPr/>
        </p:nvSpPr>
        <p:spPr>
          <a:xfrm>
            <a:off x="594360" y="3611880"/>
            <a:ext cx="5372100" cy="1874520"/>
          </a:xfrm>
          <a:prstGeom prst="roundRect">
            <a:avLst>
              <a:gd name="adj" fmla="val 4390"/>
            </a:avLst>
          </a:prstGeom>
          <a:solidFill>
            <a:srgbClr val="1D1F2B"/>
          </a:solidFill>
          <a:ln w="12700">
            <a:solidFill>
              <a:srgbClr val="1D1F2B"/>
            </a:solidFill>
            <a:prstDash val="solid"/>
          </a:ln>
        </p:spPr>
      </p:sp>
      <p:sp>
        <p:nvSpPr>
          <p:cNvPr id="11" name="Text 9"/>
          <p:cNvSpPr/>
          <p:nvPr/>
        </p:nvSpPr>
        <p:spPr>
          <a:xfrm>
            <a:off x="795528" y="3739896"/>
            <a:ext cx="49697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LA CINQUIÈME SEMAINE</a:t>
            </a:r>
            <a:endParaRPr lang="en-US" sz="1300" dirty="0"/>
          </a:p>
        </p:txBody>
      </p:sp>
      <p:sp>
        <p:nvSpPr>
          <p:cNvPr id="12" name="Text 10"/>
          <p:cNvSpPr/>
          <p:nvPr/>
        </p:nvSpPr>
        <p:spPr>
          <a:xfrm>
            <a:off x="795528" y="4123944"/>
            <a:ext cx="4969764" cy="123444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réhospitalisation par les urgences, pour une insuffisance cardiaque décompensée ; l’hôpital reçoit de nouveau un paiement par cas</a:t>
            </a:r>
            <a:endParaRPr lang="en-US" sz="1650" dirty="0"/>
          </a:p>
        </p:txBody>
      </p:sp>
      <p:sp>
        <p:nvSpPr>
          <p:cNvPr id="13" name="Shape 11"/>
          <p:cNvSpPr/>
          <p:nvPr/>
        </p:nvSpPr>
        <p:spPr>
          <a:xfrm>
            <a:off x="6195060" y="3611880"/>
            <a:ext cx="5372100" cy="1874520"/>
          </a:xfrm>
          <a:prstGeom prst="roundRect">
            <a:avLst>
              <a:gd name="adj" fmla="val 4390"/>
            </a:avLst>
          </a:prstGeom>
          <a:solidFill>
            <a:srgbClr val="1D1F2B"/>
          </a:solidFill>
          <a:ln w="12700">
            <a:solidFill>
              <a:srgbClr val="1D1F2B"/>
            </a:solidFill>
            <a:prstDash val="solid"/>
          </a:ln>
        </p:spPr>
      </p:sp>
      <p:sp>
        <p:nvSpPr>
          <p:cNvPr id="14" name="Text 12"/>
          <p:cNvSpPr/>
          <p:nvPr/>
        </p:nvSpPr>
        <p:spPr>
          <a:xfrm>
            <a:off x="6396228" y="3739896"/>
            <a:ext cx="496976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ENTRE LES DEUX</a:t>
            </a:r>
            <a:endParaRPr lang="en-US" sz="1300" dirty="0"/>
          </a:p>
        </p:txBody>
      </p:sp>
      <p:sp>
        <p:nvSpPr>
          <p:cNvPr id="15" name="Text 13"/>
          <p:cNvSpPr/>
          <p:nvPr/>
        </p:nvSpPr>
        <p:spPr>
          <a:xfrm>
            <a:off x="6396228" y="4123944"/>
            <a:ext cx="4969764" cy="123444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personne dans le système n’a été payé pour la suivre</a:t>
            </a:r>
            <a:endParaRPr lang="en-US" sz="1650" dirty="0"/>
          </a:p>
        </p:txBody>
      </p:sp>
      <p:sp>
        <p:nvSpPr>
          <p:cNvPr id="16" name="Shape 14"/>
          <p:cNvSpPr/>
          <p:nvPr/>
        </p:nvSpPr>
        <p:spPr>
          <a:xfrm>
            <a:off x="594360" y="5760720"/>
            <a:ext cx="6949440" cy="329184"/>
          </a:xfrm>
          <a:prstGeom prst="roundRect">
            <a:avLst>
              <a:gd name="adj" fmla="val 50000"/>
            </a:avLst>
          </a:prstGeom>
          <a:solidFill>
            <a:srgbClr val="272A38"/>
          </a:solidFill>
          <a:ln w="12700">
            <a:solidFill>
              <a:srgbClr val="272A38"/>
            </a:solidFill>
            <a:prstDash val="solid"/>
          </a:ln>
        </p:spPr>
      </p:sp>
      <p:sp>
        <p:nvSpPr>
          <p:cNvPr id="17" name="Text 15"/>
          <p:cNvSpPr/>
          <p:nvPr/>
        </p:nvSpPr>
        <p:spPr>
          <a:xfrm>
            <a:off x="594360" y="5760720"/>
            <a:ext cx="6949440" cy="329184"/>
          </a:xfrm>
          <a:prstGeom prst="rect">
            <a:avLst/>
          </a:prstGeom>
          <a:noFill/>
          <a:ln/>
        </p:spPr>
        <p:txBody>
          <a:bodyPr wrap="square" lIns="0" tIns="0" rIns="0" bIns="0" rtlCol="0" anchor="ctr"/>
          <a:lstStyle/>
          <a:p>
            <a:pPr algn="ctr" indent="0" marL="0">
              <a:buNone/>
            </a:pPr>
            <a:r>
              <a:rPr lang="en-US" sz="1200" b="1" dirty="0">
                <a:solidFill>
                  <a:srgbClr val="FFC24B"/>
                </a:solidFill>
                <a:latin typeface="Palatino Linotype" pitchFamily="34" charset="0"/>
                <a:ea typeface="Palatino Linotype" pitchFamily="34" charset="-122"/>
                <a:cs typeface="Palatino Linotype" pitchFamily="34" charset="-120"/>
              </a:rPr>
              <a:t>Dénouement construit ; plausible, non réel.</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SALLE ET LE DÉNOUEMENT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Où la salle a eu raison</a:t>
            </a:r>
            <a:endParaRPr lang="en-US" sz="3200" dirty="0"/>
          </a:p>
        </p:txBody>
      </p:sp>
      <p:sp>
        <p:nvSpPr>
          <p:cNvPr id="4" name="Shape 2"/>
          <p:cNvSpPr/>
          <p:nvPr/>
        </p:nvSpPr>
        <p:spPr>
          <a:xfrm>
            <a:off x="594360" y="1645920"/>
            <a:ext cx="5372100" cy="2194560"/>
          </a:xfrm>
          <a:prstGeom prst="roundRect">
            <a:avLst>
              <a:gd name="adj" fmla="val 3750"/>
            </a:avLst>
          </a:prstGeom>
          <a:solidFill>
            <a:srgbClr val="ECEAE4"/>
          </a:solidFill>
          <a:ln w="12700">
            <a:solidFill>
              <a:srgbClr val="ECEAE4"/>
            </a:solidFill>
            <a:prstDash val="solid"/>
          </a:ln>
        </p:spPr>
      </p:sp>
      <p:sp>
        <p:nvSpPr>
          <p:cNvPr id="5" name="Text 3"/>
          <p:cNvSpPr/>
          <p:nvPr/>
        </p:nvSpPr>
        <p:spPr>
          <a:xfrm>
            <a:off x="795528" y="177393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PREMIÈRE DÉCISION</a:t>
            </a:r>
            <a:endParaRPr lang="en-US" sz="1300" dirty="0"/>
          </a:p>
        </p:txBody>
      </p:sp>
      <p:sp>
        <p:nvSpPr>
          <p:cNvPr id="6" name="Text 4"/>
          <p:cNvSpPr/>
          <p:nvPr/>
        </p:nvSpPr>
        <p:spPr>
          <a:xfrm>
            <a:off x="795528" y="2157984"/>
            <a:ext cx="4969764" cy="15544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plupart savent que « la caisse » paie ; on sait moins que le fonds est unique et qu’une part du coût revient au patient</a:t>
            </a:r>
            <a:endParaRPr lang="en-US" sz="1900" dirty="0"/>
          </a:p>
        </p:txBody>
      </p:sp>
      <p:sp>
        <p:nvSpPr>
          <p:cNvPr id="7" name="Shape 5"/>
          <p:cNvSpPr/>
          <p:nvPr/>
        </p:nvSpPr>
        <p:spPr>
          <a:xfrm>
            <a:off x="6195060" y="1645920"/>
            <a:ext cx="5372100" cy="2194560"/>
          </a:xfrm>
          <a:prstGeom prst="roundRect">
            <a:avLst>
              <a:gd name="adj" fmla="val 3750"/>
            </a:avLst>
          </a:prstGeom>
          <a:solidFill>
            <a:srgbClr val="ECEAE4"/>
          </a:solidFill>
          <a:ln w="12700">
            <a:solidFill>
              <a:srgbClr val="ECEAE4"/>
            </a:solidFill>
            <a:prstDash val="solid"/>
          </a:ln>
        </p:spPr>
      </p:sp>
      <p:sp>
        <p:nvSpPr>
          <p:cNvPr id="8" name="Text 6"/>
          <p:cNvSpPr/>
          <p:nvPr/>
        </p:nvSpPr>
        <p:spPr>
          <a:xfrm>
            <a:off x="6396228" y="1773936"/>
            <a:ext cx="49697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DEUXIÈME DÉCISION</a:t>
            </a:r>
            <a:endParaRPr lang="en-US" sz="1300" dirty="0"/>
          </a:p>
        </p:txBody>
      </p:sp>
      <p:sp>
        <p:nvSpPr>
          <p:cNvPr id="9" name="Text 7"/>
          <p:cNvSpPr/>
          <p:nvPr/>
        </p:nvSpPr>
        <p:spPr>
          <a:xfrm>
            <a:off x="6396228" y="2157984"/>
            <a:ext cx="4969764" cy="15544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l’option (A) paraît naturelle ; c’est pourquoi le sous-codage est l’erreur la plus facile à commettre</a:t>
            </a:r>
            <a:endParaRPr lang="en-US" sz="1900" dirty="0"/>
          </a:p>
        </p:txBody>
      </p:sp>
      <p:sp>
        <p:nvSpPr>
          <p:cNvPr id="10" name="Shape 8"/>
          <p:cNvSpPr/>
          <p:nvPr/>
        </p:nvSpPr>
        <p:spPr>
          <a:xfrm>
            <a:off x="594360" y="4114800"/>
            <a:ext cx="10972800" cy="1005840"/>
          </a:xfrm>
          <a:prstGeom prst="roundRect">
            <a:avLst>
              <a:gd name="adj" fmla="val 8182"/>
            </a:avLst>
          </a:prstGeom>
          <a:solidFill>
            <a:srgbClr val="11121A"/>
          </a:solidFill>
          <a:ln w="12700">
            <a:solidFill>
              <a:srgbClr val="11121A"/>
            </a:solidFill>
            <a:prstDash val="solid"/>
          </a:ln>
        </p:spPr>
      </p:sp>
      <p:sp>
        <p:nvSpPr>
          <p:cNvPr id="11" name="Text 9"/>
          <p:cNvSpPr/>
          <p:nvPr/>
        </p:nvSpPr>
        <p:spPr>
          <a:xfrm>
            <a:off x="868680" y="4114800"/>
            <a:ext cx="10424160" cy="10058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Un dossier correct paie correctement l’hôpital, mais ne change pas le parcours de la patiente.</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 3</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TROISIÈME DÉCISION · LE TRANSFERT</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Quel changement du paiement aiderait ?</a:t>
            </a:r>
            <a:endParaRPr lang="en-US" sz="3000" dirty="0"/>
          </a:p>
        </p:txBody>
      </p:sp>
      <p:sp>
        <p:nvSpPr>
          <p:cNvPr id="6" name="Text 4"/>
          <p:cNvSpPr/>
          <p:nvPr/>
        </p:nvSpPr>
        <p:spPr>
          <a:xfrm>
            <a:off x="594360" y="1463040"/>
            <a:ext cx="10972800" cy="77724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Caisse du département B : les insuffisants cardiaques des communes sans horaires prolongés sont souvent réhospitalisés après la sortie.</a:t>
            </a:r>
            <a:endParaRPr lang="en-US" sz="1700" dirty="0"/>
          </a:p>
        </p:txBody>
      </p:sp>
      <p:sp>
        <p:nvSpPr>
          <p:cNvPr id="7" name="Shape 5"/>
          <p:cNvSpPr/>
          <p:nvPr/>
        </p:nvSpPr>
        <p:spPr>
          <a:xfrm>
            <a:off x="594360" y="2286000"/>
            <a:ext cx="10972800" cy="603504"/>
          </a:xfrm>
          <a:prstGeom prst="roundRect">
            <a:avLst>
              <a:gd name="adj" fmla="val 13636"/>
            </a:avLst>
          </a:prstGeom>
          <a:solidFill>
            <a:srgbClr val="1D1F2B"/>
          </a:solidFill>
          <a:ln w="12700">
            <a:solidFill>
              <a:srgbClr val="1D1F2B"/>
            </a:solidFill>
            <a:prstDash val="solid"/>
          </a:ln>
        </p:spPr>
      </p:sp>
      <p:sp>
        <p:nvSpPr>
          <p:cNvPr id="8" name="Shape 6"/>
          <p:cNvSpPr/>
          <p:nvPr/>
        </p:nvSpPr>
        <p:spPr>
          <a:xfrm>
            <a:off x="777240" y="2377440"/>
            <a:ext cx="420624" cy="420624"/>
          </a:xfrm>
          <a:prstGeom prst="ellipse">
            <a:avLst/>
          </a:prstGeom>
          <a:solidFill>
            <a:srgbClr val="FFC24B"/>
          </a:solidFill>
          <a:ln/>
        </p:spPr>
      </p:sp>
      <p:sp>
        <p:nvSpPr>
          <p:cNvPr id="9" name="Text 7"/>
          <p:cNvSpPr/>
          <p:nvPr/>
        </p:nvSpPr>
        <p:spPr>
          <a:xfrm>
            <a:off x="777240" y="2377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371600" y="2286000"/>
            <a:ext cx="10058400" cy="60350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 poids relatif plus élevé pour les groupes d’insuffisance cardiaque</a:t>
            </a:r>
            <a:endParaRPr lang="en-US" sz="1650" dirty="0"/>
          </a:p>
        </p:txBody>
      </p:sp>
      <p:sp>
        <p:nvSpPr>
          <p:cNvPr id="11" name="Shape 9"/>
          <p:cNvSpPr/>
          <p:nvPr/>
        </p:nvSpPr>
        <p:spPr>
          <a:xfrm>
            <a:off x="594360" y="3017520"/>
            <a:ext cx="10972800" cy="603504"/>
          </a:xfrm>
          <a:prstGeom prst="roundRect">
            <a:avLst>
              <a:gd name="adj" fmla="val 13636"/>
            </a:avLst>
          </a:prstGeom>
          <a:solidFill>
            <a:srgbClr val="1D1F2B"/>
          </a:solidFill>
          <a:ln w="12700">
            <a:solidFill>
              <a:srgbClr val="1D1F2B"/>
            </a:solidFill>
            <a:prstDash val="solid"/>
          </a:ln>
        </p:spPr>
      </p:sp>
      <p:sp>
        <p:nvSpPr>
          <p:cNvPr id="12" name="Shape 10"/>
          <p:cNvSpPr/>
          <p:nvPr/>
        </p:nvSpPr>
        <p:spPr>
          <a:xfrm>
            <a:off x="777240" y="3108960"/>
            <a:ext cx="420624" cy="420624"/>
          </a:xfrm>
          <a:prstGeom prst="ellipse">
            <a:avLst/>
          </a:prstGeom>
          <a:solidFill>
            <a:srgbClr val="FFC24B"/>
          </a:solidFill>
          <a:ln/>
        </p:spPr>
      </p:sp>
      <p:sp>
        <p:nvSpPr>
          <p:cNvPr id="13" name="Text 11"/>
          <p:cNvSpPr/>
          <p:nvPr/>
        </p:nvSpPr>
        <p:spPr>
          <a:xfrm>
            <a:off x="777240" y="3108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371600" y="3017520"/>
            <a:ext cx="10058400" cy="60350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 paiement à l’acte pour le suivi après la sortie chez le médecin de famille, avec un indicateur de performance</a:t>
            </a:r>
            <a:endParaRPr lang="en-US" sz="1650" dirty="0"/>
          </a:p>
        </p:txBody>
      </p:sp>
      <p:sp>
        <p:nvSpPr>
          <p:cNvPr id="15" name="Shape 13"/>
          <p:cNvSpPr/>
          <p:nvPr/>
        </p:nvSpPr>
        <p:spPr>
          <a:xfrm>
            <a:off x="594360" y="3749040"/>
            <a:ext cx="10972800" cy="603504"/>
          </a:xfrm>
          <a:prstGeom prst="roundRect">
            <a:avLst>
              <a:gd name="adj" fmla="val 13636"/>
            </a:avLst>
          </a:prstGeom>
          <a:solidFill>
            <a:srgbClr val="1D1F2B"/>
          </a:solidFill>
          <a:ln w="12700">
            <a:solidFill>
              <a:srgbClr val="1D1F2B"/>
            </a:solidFill>
            <a:prstDash val="solid"/>
          </a:ln>
        </p:spPr>
      </p:sp>
      <p:sp>
        <p:nvSpPr>
          <p:cNvPr id="16" name="Shape 14"/>
          <p:cNvSpPr/>
          <p:nvPr/>
        </p:nvSpPr>
        <p:spPr>
          <a:xfrm>
            <a:off x="777240" y="3840480"/>
            <a:ext cx="420624" cy="420624"/>
          </a:xfrm>
          <a:prstGeom prst="ellipse">
            <a:avLst/>
          </a:prstGeom>
          <a:solidFill>
            <a:srgbClr val="FFC24B"/>
          </a:solidFill>
          <a:ln/>
        </p:spPr>
      </p:sp>
      <p:sp>
        <p:nvSpPr>
          <p:cNvPr id="17" name="Text 15"/>
          <p:cNvSpPr/>
          <p:nvPr/>
        </p:nvSpPr>
        <p:spPr>
          <a:xfrm>
            <a:off x="77724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371600" y="3749040"/>
            <a:ext cx="10058400" cy="60350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Les médecins de famille payés intégralement par capitation</a:t>
            </a:r>
            <a:endParaRPr lang="en-US" sz="1650" dirty="0"/>
          </a:p>
        </p:txBody>
      </p:sp>
      <p:sp>
        <p:nvSpPr>
          <p:cNvPr id="19" name="Shape 17"/>
          <p:cNvSpPr/>
          <p:nvPr/>
        </p:nvSpPr>
        <p:spPr>
          <a:xfrm>
            <a:off x="594360" y="4480560"/>
            <a:ext cx="10972800" cy="603504"/>
          </a:xfrm>
          <a:prstGeom prst="roundRect">
            <a:avLst>
              <a:gd name="adj" fmla="val 13636"/>
            </a:avLst>
          </a:prstGeom>
          <a:solidFill>
            <a:srgbClr val="1D1F2B"/>
          </a:solidFill>
          <a:ln w="12700">
            <a:solidFill>
              <a:srgbClr val="1D1F2B"/>
            </a:solidFill>
            <a:prstDash val="solid"/>
          </a:ln>
        </p:spPr>
      </p:sp>
      <p:sp>
        <p:nvSpPr>
          <p:cNvPr id="20" name="Shape 18"/>
          <p:cNvSpPr/>
          <p:nvPr/>
        </p:nvSpPr>
        <p:spPr>
          <a:xfrm>
            <a:off x="777240" y="4572000"/>
            <a:ext cx="420624" cy="420624"/>
          </a:xfrm>
          <a:prstGeom prst="ellipse">
            <a:avLst/>
          </a:prstGeom>
          <a:solidFill>
            <a:srgbClr val="FFC24B"/>
          </a:solidFill>
          <a:ln/>
        </p:spPr>
      </p:sp>
      <p:sp>
        <p:nvSpPr>
          <p:cNvPr id="21" name="Text 19"/>
          <p:cNvSpPr/>
          <p:nvPr/>
        </p:nvSpPr>
        <p:spPr>
          <a:xfrm>
            <a:off x="777240" y="4572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371600" y="4480560"/>
            <a:ext cx="10058400" cy="60350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Les hôpitaux payés à la journée d’hospitalisation</a:t>
            </a:r>
            <a:endParaRPr lang="en-US" sz="1650" dirty="0"/>
          </a:p>
        </p:txBody>
      </p:sp>
      <p:sp>
        <p:nvSpPr>
          <p:cNvPr id="23" name="Text 21"/>
          <p:cNvSpPr/>
          <p:nvPr/>
        </p:nvSpPr>
        <p:spPr>
          <a:xfrm>
            <a:off x="594360" y="5303520"/>
            <a:ext cx="5486400" cy="3657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Un seul vote, sans second vote.</a:t>
            </a:r>
            <a:endParaRPr lang="en-US" sz="1500" dirty="0"/>
          </a:p>
        </p:txBody>
      </p:sp>
      <p:sp>
        <p:nvSpPr>
          <p:cNvPr id="24" name="Text 22"/>
          <p:cNvSpPr/>
          <p:nvPr/>
        </p:nvSpPr>
        <p:spPr>
          <a:xfrm>
            <a:off x="594360" y="5669280"/>
            <a:ext cx="10972800" cy="41148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TROISIÈME DÉCISION · LE TRANSFERT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B : payez le service dont on a besoin</a:t>
            </a:r>
            <a:endParaRPr lang="en-US" sz="3000" dirty="0"/>
          </a:p>
        </p:txBody>
      </p:sp>
      <p:sp>
        <p:nvSpPr>
          <p:cNvPr id="4" name="Shape 2"/>
          <p:cNvSpPr/>
          <p:nvPr/>
        </p:nvSpPr>
        <p:spPr>
          <a:xfrm>
            <a:off x="594360" y="1600200"/>
            <a:ext cx="10972800" cy="749808"/>
          </a:xfrm>
          <a:prstGeom prst="roundRect">
            <a:avLst>
              <a:gd name="adj" fmla="val 10976"/>
            </a:avLst>
          </a:prstGeom>
          <a:solidFill>
            <a:srgbClr val="ECEAE4"/>
          </a:solidFill>
          <a:ln w="12700">
            <a:solidFill>
              <a:srgbClr val="ECEAE4"/>
            </a:solidFill>
            <a:prstDash val="solid"/>
          </a:ln>
        </p:spPr>
      </p:sp>
      <p:sp>
        <p:nvSpPr>
          <p:cNvPr id="5" name="Shape 3"/>
          <p:cNvSpPr/>
          <p:nvPr/>
        </p:nvSpPr>
        <p:spPr>
          <a:xfrm>
            <a:off x="868680" y="1764792"/>
            <a:ext cx="420624" cy="420624"/>
          </a:xfrm>
          <a:prstGeom prst="ellipse">
            <a:avLst/>
          </a:prstGeom>
          <a:solidFill>
            <a:srgbClr val="FFC24B"/>
          </a:solidFill>
          <a:ln/>
        </p:spPr>
      </p:sp>
      <p:sp>
        <p:nvSpPr>
          <p:cNvPr id="6" name="Text 4"/>
          <p:cNvSpPr/>
          <p:nvPr/>
        </p:nvSpPr>
        <p:spPr>
          <a:xfrm>
            <a:off x="868680" y="1764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508760" y="1600200"/>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Paie mieux la conséquence : les réhospitalisations deviennent plus rentables, non plus rares.</a:t>
            </a:r>
            <a:endParaRPr lang="en-US" sz="1600" dirty="0"/>
          </a:p>
        </p:txBody>
      </p:sp>
      <p:sp>
        <p:nvSpPr>
          <p:cNvPr id="8" name="Shape 6"/>
          <p:cNvSpPr/>
          <p:nvPr/>
        </p:nvSpPr>
        <p:spPr>
          <a:xfrm>
            <a:off x="594360" y="2441448"/>
            <a:ext cx="10972800" cy="749808"/>
          </a:xfrm>
          <a:prstGeom prst="roundRect">
            <a:avLst>
              <a:gd name="adj" fmla="val 10976"/>
            </a:avLst>
          </a:prstGeom>
          <a:solidFill>
            <a:srgbClr val="ECEAE4"/>
          </a:solidFill>
          <a:ln w="12700">
            <a:solidFill>
              <a:srgbClr val="ECEAE4"/>
            </a:solidFill>
            <a:prstDash val="solid"/>
          </a:ln>
        </p:spPr>
      </p:sp>
      <p:sp>
        <p:nvSpPr>
          <p:cNvPr id="9" name="Shape 7"/>
          <p:cNvSpPr/>
          <p:nvPr/>
        </p:nvSpPr>
        <p:spPr>
          <a:xfrm>
            <a:off x="868680" y="2606040"/>
            <a:ext cx="420624" cy="420624"/>
          </a:xfrm>
          <a:prstGeom prst="ellipse">
            <a:avLst/>
          </a:prstGeom>
          <a:solidFill>
            <a:srgbClr val="FFC24B"/>
          </a:solidFill>
          <a:ln/>
        </p:spPr>
      </p:sp>
      <p:sp>
        <p:nvSpPr>
          <p:cNvPr id="10" name="Text 8"/>
          <p:cNvSpPr/>
          <p:nvPr/>
        </p:nvSpPr>
        <p:spPr>
          <a:xfrm>
            <a:off x="86868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1" name="Text 9"/>
          <p:cNvSpPr/>
          <p:nvPr/>
        </p:nvSpPr>
        <p:spPr>
          <a:xfrm>
            <a:off x="1508760" y="2441448"/>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Encourage la consultation de suivi ; l’indicateur oriente l’attention vers le résultat.</a:t>
            </a:r>
            <a:endParaRPr lang="en-US" sz="1600" dirty="0"/>
          </a:p>
        </p:txBody>
      </p:sp>
      <p:sp>
        <p:nvSpPr>
          <p:cNvPr id="12" name="Shape 10"/>
          <p:cNvSpPr/>
          <p:nvPr/>
        </p:nvSpPr>
        <p:spPr>
          <a:xfrm>
            <a:off x="594360" y="3282696"/>
            <a:ext cx="10972800" cy="749808"/>
          </a:xfrm>
          <a:prstGeom prst="roundRect">
            <a:avLst>
              <a:gd name="adj" fmla="val 10976"/>
            </a:avLst>
          </a:prstGeom>
          <a:solidFill>
            <a:srgbClr val="ECEAE4"/>
          </a:solidFill>
          <a:ln w="12700">
            <a:solidFill>
              <a:srgbClr val="ECEAE4"/>
            </a:solidFill>
            <a:prstDash val="solid"/>
          </a:ln>
        </p:spPr>
      </p:sp>
      <p:sp>
        <p:nvSpPr>
          <p:cNvPr id="13" name="Shape 11"/>
          <p:cNvSpPr/>
          <p:nvPr/>
        </p:nvSpPr>
        <p:spPr>
          <a:xfrm>
            <a:off x="868680" y="3447288"/>
            <a:ext cx="420624" cy="420624"/>
          </a:xfrm>
          <a:prstGeom prst="ellipse">
            <a:avLst/>
          </a:prstGeom>
          <a:solidFill>
            <a:srgbClr val="FFC24B"/>
          </a:solidFill>
          <a:ln/>
        </p:spPr>
      </p:sp>
      <p:sp>
        <p:nvSpPr>
          <p:cNvPr id="14" name="Text 12"/>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5" name="Text 13"/>
          <p:cNvSpPr/>
          <p:nvPr/>
        </p:nvSpPr>
        <p:spPr>
          <a:xfrm>
            <a:off x="1508760" y="3282696"/>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Direction opposée : moins de services, plus d’orientations.</a:t>
            </a:r>
            <a:endParaRPr lang="en-US" sz="1600" dirty="0"/>
          </a:p>
        </p:txBody>
      </p:sp>
      <p:sp>
        <p:nvSpPr>
          <p:cNvPr id="16" name="Shape 14"/>
          <p:cNvSpPr/>
          <p:nvPr/>
        </p:nvSpPr>
        <p:spPr>
          <a:xfrm>
            <a:off x="594360" y="4123944"/>
            <a:ext cx="10972800" cy="749808"/>
          </a:xfrm>
          <a:prstGeom prst="roundRect">
            <a:avLst>
              <a:gd name="adj" fmla="val 10976"/>
            </a:avLst>
          </a:prstGeom>
          <a:solidFill>
            <a:srgbClr val="ECEAE4"/>
          </a:solidFill>
          <a:ln w="12700">
            <a:solidFill>
              <a:srgbClr val="ECEAE4"/>
            </a:solidFill>
            <a:prstDash val="solid"/>
          </a:ln>
        </p:spPr>
      </p:sp>
      <p:sp>
        <p:nvSpPr>
          <p:cNvPr id="17" name="Shape 15"/>
          <p:cNvSpPr/>
          <p:nvPr/>
        </p:nvSpPr>
        <p:spPr>
          <a:xfrm>
            <a:off x="868680" y="4288536"/>
            <a:ext cx="420624" cy="420624"/>
          </a:xfrm>
          <a:prstGeom prst="ellipse">
            <a:avLst/>
          </a:prstGeom>
          <a:solidFill>
            <a:srgbClr val="FFC24B"/>
          </a:solidFill>
          <a:ln/>
        </p:spPr>
      </p:sp>
      <p:sp>
        <p:nvSpPr>
          <p:cNvPr id="18" name="Text 16"/>
          <p:cNvSpPr/>
          <p:nvPr/>
        </p:nvSpPr>
        <p:spPr>
          <a:xfrm>
            <a:off x="86868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9" name="Text 17"/>
          <p:cNvSpPr/>
          <p:nvPr/>
        </p:nvSpPr>
        <p:spPr>
          <a:xfrm>
            <a:off x="1508760" y="4123944"/>
            <a:ext cx="9829800" cy="74980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Prolonge les séjours, sans changer ce qui suit la sortie.</a:t>
            </a:r>
            <a:endParaRPr lang="en-US" sz="1600" dirty="0"/>
          </a:p>
        </p:txBody>
      </p:sp>
      <p:sp>
        <p:nvSpPr>
          <p:cNvPr id="20" name="Shape 18"/>
          <p:cNvSpPr/>
          <p:nvPr/>
        </p:nvSpPr>
        <p:spPr>
          <a:xfrm>
            <a:off x="594360" y="5120640"/>
            <a:ext cx="10972800" cy="822960"/>
          </a:xfrm>
          <a:prstGeom prst="roundRect">
            <a:avLst>
              <a:gd name="adj" fmla="val 10000"/>
            </a:avLst>
          </a:prstGeom>
          <a:solidFill>
            <a:srgbClr val="11121A"/>
          </a:solidFill>
          <a:ln w="12700">
            <a:solidFill>
              <a:srgbClr val="11121A"/>
            </a:solidFill>
            <a:prstDash val="solid"/>
          </a:ln>
        </p:spPr>
      </p:sp>
      <p:sp>
        <p:nvSpPr>
          <p:cNvPr id="21" name="Text 19"/>
          <p:cNvSpPr/>
          <p:nvPr/>
        </p:nvSpPr>
        <p:spPr>
          <a:xfrm>
            <a:off x="868680" y="5120640"/>
            <a:ext cx="10424160" cy="82296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Sans horaires prolongés ni centre de permanence, la consultation payée n’existe toujours pas le dimanche soir.</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RÉCAPITULATION</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LA RÉCAPITULATION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Dix questions, dans l’ordre du cours</a:t>
            </a:r>
            <a:endParaRPr lang="en-US" sz="3400" dirty="0"/>
          </a:p>
        </p:txBody>
      </p:sp>
      <p:sp>
        <p:nvSpPr>
          <p:cNvPr id="6" name="Shape 4"/>
          <p:cNvSpPr/>
          <p:nvPr/>
        </p:nvSpPr>
        <p:spPr>
          <a:xfrm>
            <a:off x="594360" y="1828800"/>
            <a:ext cx="10972800" cy="2011680"/>
          </a:xfrm>
          <a:prstGeom prst="roundRect">
            <a:avLst>
              <a:gd name="adj" fmla="val 4091"/>
            </a:avLst>
          </a:prstGeom>
          <a:solidFill>
            <a:srgbClr val="1D1F2B"/>
          </a:solidFill>
          <a:ln w="12700">
            <a:solidFill>
              <a:srgbClr val="1D1F2B"/>
            </a:solidFill>
            <a:prstDash val="solid"/>
          </a:ln>
        </p:spPr>
      </p:sp>
      <p:sp>
        <p:nvSpPr>
          <p:cNvPr id="7" name="Text 5"/>
          <p:cNvSpPr/>
          <p:nvPr/>
        </p:nvSpPr>
        <p:spPr>
          <a:xfrm>
            <a:off x="914400" y="1828800"/>
            <a:ext cx="10332720" cy="20116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Les sources d’argent, la mise en commun, la cotisation, le fonds unique, les paiements directs, les mécanismes de paiement, le médecin de famille, les étapes DRG, le paiement d’un cas, le codage.</a:t>
            </a:r>
            <a:endParaRPr lang="en-US" sz="2100" dirty="0"/>
          </a:p>
        </p:txBody>
      </p:sp>
      <p:sp>
        <p:nvSpPr>
          <p:cNvPr id="8" name="Text 6"/>
          <p:cNvSpPr/>
          <p:nvPr/>
        </p:nvSpPr>
        <p:spPr>
          <a:xfrm>
            <a:off x="594360" y="4206240"/>
            <a:ext cx="10972800" cy="5486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Vrai ou faux.</a:t>
            </a:r>
            <a:endParaRPr lang="en-US" sz="1900" dirty="0"/>
          </a:p>
        </p:txBody>
      </p:sp>
      <p:sp>
        <p:nvSpPr>
          <p:cNvPr id="9" name="Text 7"/>
          <p:cNvSpPr/>
          <p:nvPr/>
        </p:nvSpPr>
        <p:spPr>
          <a:xfrm>
            <a:off x="594360" y="493776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KAHOOT · LA CLÉ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Les réponses du jeu</a:t>
            </a:r>
            <a:endParaRPr lang="en-US" sz="3200" dirty="0"/>
          </a:p>
        </p:txBody>
      </p:sp>
      <p:sp>
        <p:nvSpPr>
          <p:cNvPr id="4" name="Shape 2"/>
          <p:cNvSpPr/>
          <p:nvPr/>
        </p:nvSpPr>
        <p:spPr>
          <a:xfrm>
            <a:off x="594360" y="1600200"/>
            <a:ext cx="534924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77240" y="1755648"/>
            <a:ext cx="420624" cy="420624"/>
          </a:xfrm>
          <a:prstGeom prst="ellipse">
            <a:avLst/>
          </a:prstGeom>
          <a:solidFill>
            <a:srgbClr val="FFC24B"/>
          </a:solidFill>
          <a:ln/>
        </p:spPr>
      </p:sp>
      <p:sp>
        <p:nvSpPr>
          <p:cNvPr id="6" name="Text 4"/>
          <p:cNvSpPr/>
          <p:nvPr/>
        </p:nvSpPr>
        <p:spPr>
          <a:xfrm>
            <a:off x="77724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0020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8" name="Text 6"/>
          <p:cNvSpPr/>
          <p:nvPr/>
        </p:nvSpPr>
        <p:spPr>
          <a:xfrm>
            <a:off x="196596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les cotisations sont réunies avant la maladie</a:t>
            </a:r>
            <a:endParaRPr lang="en-US" sz="1500" dirty="0"/>
          </a:p>
        </p:txBody>
      </p:sp>
      <p:sp>
        <p:nvSpPr>
          <p:cNvPr id="9" name="Shape 7"/>
          <p:cNvSpPr/>
          <p:nvPr/>
        </p:nvSpPr>
        <p:spPr>
          <a:xfrm>
            <a:off x="594360" y="2450592"/>
            <a:ext cx="5349240" cy="731520"/>
          </a:xfrm>
          <a:prstGeom prst="roundRect">
            <a:avLst>
              <a:gd name="adj" fmla="val 11250"/>
            </a:avLst>
          </a:prstGeom>
          <a:solidFill>
            <a:srgbClr val="ECEAE4"/>
          </a:solidFill>
          <a:ln w="12700">
            <a:solidFill>
              <a:srgbClr val="ECEAE4"/>
            </a:solidFill>
            <a:prstDash val="solid"/>
          </a:ln>
        </p:spPr>
      </p:sp>
      <p:sp>
        <p:nvSpPr>
          <p:cNvPr id="10" name="Shape 8"/>
          <p:cNvSpPr/>
          <p:nvPr/>
        </p:nvSpPr>
        <p:spPr>
          <a:xfrm>
            <a:off x="777240" y="2606040"/>
            <a:ext cx="420624" cy="420624"/>
          </a:xfrm>
          <a:prstGeom prst="ellipse">
            <a:avLst/>
          </a:prstGeom>
          <a:solidFill>
            <a:srgbClr val="FFC24B"/>
          </a:solidFill>
          <a:ln/>
        </p:spPr>
      </p:sp>
      <p:sp>
        <p:nvSpPr>
          <p:cNvPr id="11" name="Text 9"/>
          <p:cNvSpPr/>
          <p:nvPr/>
        </p:nvSpPr>
        <p:spPr>
          <a:xfrm>
            <a:off x="77724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371600" y="245059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3" name="Text 11"/>
          <p:cNvSpPr/>
          <p:nvPr/>
        </p:nvSpPr>
        <p:spPr>
          <a:xfrm>
            <a:off x="196596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fonds commun : les bien-portants paient aussi</a:t>
            </a:r>
            <a:endParaRPr lang="en-US" sz="1500" dirty="0"/>
          </a:p>
        </p:txBody>
      </p:sp>
      <p:sp>
        <p:nvSpPr>
          <p:cNvPr id="14" name="Shape 12"/>
          <p:cNvSpPr/>
          <p:nvPr/>
        </p:nvSpPr>
        <p:spPr>
          <a:xfrm>
            <a:off x="594360" y="3300984"/>
            <a:ext cx="5349240" cy="731520"/>
          </a:xfrm>
          <a:prstGeom prst="roundRect">
            <a:avLst>
              <a:gd name="adj" fmla="val 11250"/>
            </a:avLst>
          </a:prstGeom>
          <a:solidFill>
            <a:srgbClr val="ECEAE4"/>
          </a:solidFill>
          <a:ln w="12700">
            <a:solidFill>
              <a:srgbClr val="ECEAE4"/>
            </a:solidFill>
            <a:prstDash val="solid"/>
          </a:ln>
        </p:spPr>
      </p:sp>
      <p:sp>
        <p:nvSpPr>
          <p:cNvPr id="15" name="Shape 13"/>
          <p:cNvSpPr/>
          <p:nvPr/>
        </p:nvSpPr>
        <p:spPr>
          <a:xfrm>
            <a:off x="777240" y="3456432"/>
            <a:ext cx="420624" cy="420624"/>
          </a:xfrm>
          <a:prstGeom prst="ellipse">
            <a:avLst/>
          </a:prstGeom>
          <a:solidFill>
            <a:srgbClr val="FFC24B"/>
          </a:solidFill>
          <a:ln/>
        </p:spPr>
      </p:sp>
      <p:sp>
        <p:nvSpPr>
          <p:cNvPr id="16" name="Text 14"/>
          <p:cNvSpPr/>
          <p:nvPr/>
        </p:nvSpPr>
        <p:spPr>
          <a:xfrm>
            <a:off x="77724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30098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18" name="Text 16"/>
          <p:cNvSpPr/>
          <p:nvPr/>
        </p:nvSpPr>
        <p:spPr>
          <a:xfrm>
            <a:off x="196596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10 % du revenu</a:t>
            </a:r>
            <a:endParaRPr lang="en-US" sz="1500" dirty="0"/>
          </a:p>
        </p:txBody>
      </p:sp>
      <p:sp>
        <p:nvSpPr>
          <p:cNvPr id="19" name="Shape 17"/>
          <p:cNvSpPr/>
          <p:nvPr/>
        </p:nvSpPr>
        <p:spPr>
          <a:xfrm>
            <a:off x="594360" y="4151376"/>
            <a:ext cx="5349240" cy="731520"/>
          </a:xfrm>
          <a:prstGeom prst="roundRect">
            <a:avLst>
              <a:gd name="adj" fmla="val 11250"/>
            </a:avLst>
          </a:prstGeom>
          <a:solidFill>
            <a:srgbClr val="ECEAE4"/>
          </a:solidFill>
          <a:ln w="12700">
            <a:solidFill>
              <a:srgbClr val="ECEAE4"/>
            </a:solidFill>
            <a:prstDash val="solid"/>
          </a:ln>
        </p:spPr>
      </p:sp>
      <p:sp>
        <p:nvSpPr>
          <p:cNvPr id="20" name="Shape 18"/>
          <p:cNvSpPr/>
          <p:nvPr/>
        </p:nvSpPr>
        <p:spPr>
          <a:xfrm>
            <a:off x="777240" y="4306824"/>
            <a:ext cx="420624" cy="420624"/>
          </a:xfrm>
          <a:prstGeom prst="ellipse">
            <a:avLst/>
          </a:prstGeom>
          <a:solidFill>
            <a:srgbClr val="FFC24B"/>
          </a:solidFill>
          <a:ln/>
        </p:spPr>
      </p:sp>
      <p:sp>
        <p:nvSpPr>
          <p:cNvPr id="21" name="Text 19"/>
          <p:cNvSpPr/>
          <p:nvPr/>
        </p:nvSpPr>
        <p:spPr>
          <a:xfrm>
            <a:off x="77724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371600" y="4151376"/>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23" name="Text 21"/>
          <p:cNvSpPr/>
          <p:nvPr/>
        </p:nvSpPr>
        <p:spPr>
          <a:xfrm>
            <a:off x="196596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seul fonds national</a:t>
            </a:r>
            <a:endParaRPr lang="en-US" sz="1500" dirty="0"/>
          </a:p>
        </p:txBody>
      </p:sp>
      <p:sp>
        <p:nvSpPr>
          <p:cNvPr id="24" name="Shape 22"/>
          <p:cNvSpPr/>
          <p:nvPr/>
        </p:nvSpPr>
        <p:spPr>
          <a:xfrm>
            <a:off x="594360" y="5001768"/>
            <a:ext cx="534924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777240" y="5157216"/>
            <a:ext cx="420624" cy="420624"/>
          </a:xfrm>
          <a:prstGeom prst="ellipse">
            <a:avLst/>
          </a:prstGeom>
          <a:solidFill>
            <a:srgbClr val="FFC24B"/>
          </a:solidFill>
          <a:ln/>
        </p:spPr>
      </p:sp>
      <p:sp>
        <p:nvSpPr>
          <p:cNvPr id="26" name="Text 24"/>
          <p:cNvSpPr/>
          <p:nvPr/>
        </p:nvSpPr>
        <p:spPr>
          <a:xfrm>
            <a:off x="77724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371600" y="5001768"/>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28" name="Text 26"/>
          <p:cNvSpPr/>
          <p:nvPr/>
        </p:nvSpPr>
        <p:spPr>
          <a:xfrm>
            <a:off x="196596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22,0 % contre 15,1 % dans l’UE</a:t>
            </a:r>
            <a:endParaRPr lang="en-US" sz="1500" dirty="0"/>
          </a:p>
        </p:txBody>
      </p:sp>
      <p:sp>
        <p:nvSpPr>
          <p:cNvPr id="29" name="Shape 27"/>
          <p:cNvSpPr/>
          <p:nvPr/>
        </p:nvSpPr>
        <p:spPr>
          <a:xfrm>
            <a:off x="6217920" y="1600200"/>
            <a:ext cx="5349240" cy="731520"/>
          </a:xfrm>
          <a:prstGeom prst="roundRect">
            <a:avLst>
              <a:gd name="adj" fmla="val 11250"/>
            </a:avLst>
          </a:prstGeom>
          <a:solidFill>
            <a:srgbClr val="ECEAE4"/>
          </a:solidFill>
          <a:ln w="12700">
            <a:solidFill>
              <a:srgbClr val="ECEAE4"/>
            </a:solidFill>
            <a:prstDash val="solid"/>
          </a:ln>
        </p:spPr>
      </p:sp>
      <p:sp>
        <p:nvSpPr>
          <p:cNvPr id="30" name="Shape 28"/>
          <p:cNvSpPr/>
          <p:nvPr/>
        </p:nvSpPr>
        <p:spPr>
          <a:xfrm>
            <a:off x="6400800" y="1755648"/>
            <a:ext cx="420624" cy="420624"/>
          </a:xfrm>
          <a:prstGeom prst="ellipse">
            <a:avLst/>
          </a:prstGeom>
          <a:solidFill>
            <a:srgbClr val="FFC24B"/>
          </a:solidFill>
          <a:ln/>
        </p:spPr>
      </p:sp>
      <p:sp>
        <p:nvSpPr>
          <p:cNvPr id="31" name="Text 29"/>
          <p:cNvSpPr/>
          <p:nvPr/>
        </p:nvSpPr>
        <p:spPr>
          <a:xfrm>
            <a:off x="640080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6995160" y="160020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33" name="Text 31"/>
          <p:cNvSpPr/>
          <p:nvPr/>
        </p:nvSpPr>
        <p:spPr>
          <a:xfrm>
            <a:off x="758952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trop de services</a:t>
            </a:r>
            <a:endParaRPr lang="en-US" sz="1500" dirty="0"/>
          </a:p>
        </p:txBody>
      </p:sp>
      <p:sp>
        <p:nvSpPr>
          <p:cNvPr id="34" name="Shape 32"/>
          <p:cNvSpPr/>
          <p:nvPr/>
        </p:nvSpPr>
        <p:spPr>
          <a:xfrm>
            <a:off x="6217920" y="2450592"/>
            <a:ext cx="5349240" cy="731520"/>
          </a:xfrm>
          <a:prstGeom prst="roundRect">
            <a:avLst>
              <a:gd name="adj" fmla="val 11250"/>
            </a:avLst>
          </a:prstGeom>
          <a:solidFill>
            <a:srgbClr val="ECEAE4"/>
          </a:solidFill>
          <a:ln w="12700">
            <a:solidFill>
              <a:srgbClr val="ECEAE4"/>
            </a:solidFill>
            <a:prstDash val="solid"/>
          </a:ln>
        </p:spPr>
      </p:sp>
      <p:sp>
        <p:nvSpPr>
          <p:cNvPr id="35" name="Shape 33"/>
          <p:cNvSpPr/>
          <p:nvPr/>
        </p:nvSpPr>
        <p:spPr>
          <a:xfrm>
            <a:off x="6400800" y="2606040"/>
            <a:ext cx="420624" cy="420624"/>
          </a:xfrm>
          <a:prstGeom prst="ellipse">
            <a:avLst/>
          </a:prstGeom>
          <a:solidFill>
            <a:srgbClr val="FFC24B"/>
          </a:solidFill>
          <a:ln/>
        </p:spPr>
      </p:sp>
      <p:sp>
        <p:nvSpPr>
          <p:cNvPr id="36" name="Text 34"/>
          <p:cNvSpPr/>
          <p:nvPr/>
        </p:nvSpPr>
        <p:spPr>
          <a:xfrm>
            <a:off x="640080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450592"/>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38" name="Text 36"/>
          <p:cNvSpPr/>
          <p:nvPr/>
        </p:nvSpPr>
        <p:spPr>
          <a:xfrm>
            <a:off x="758952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35 % / 65 % depuis 2023</a:t>
            </a:r>
            <a:endParaRPr lang="en-US" sz="1500" dirty="0"/>
          </a:p>
        </p:txBody>
      </p:sp>
      <p:sp>
        <p:nvSpPr>
          <p:cNvPr id="39" name="Shape 37"/>
          <p:cNvSpPr/>
          <p:nvPr/>
        </p:nvSpPr>
        <p:spPr>
          <a:xfrm>
            <a:off x="6217920" y="3300984"/>
            <a:ext cx="5349240" cy="731520"/>
          </a:xfrm>
          <a:prstGeom prst="roundRect">
            <a:avLst>
              <a:gd name="adj" fmla="val 11250"/>
            </a:avLst>
          </a:prstGeom>
          <a:solidFill>
            <a:srgbClr val="ECEAE4"/>
          </a:solidFill>
          <a:ln w="12700">
            <a:solidFill>
              <a:srgbClr val="ECEAE4"/>
            </a:solidFill>
            <a:prstDash val="solid"/>
          </a:ln>
        </p:spPr>
      </p:sp>
      <p:sp>
        <p:nvSpPr>
          <p:cNvPr id="40" name="Shape 38"/>
          <p:cNvSpPr/>
          <p:nvPr/>
        </p:nvSpPr>
        <p:spPr>
          <a:xfrm>
            <a:off x="6400800" y="3456432"/>
            <a:ext cx="420624" cy="420624"/>
          </a:xfrm>
          <a:prstGeom prst="ellipse">
            <a:avLst/>
          </a:prstGeom>
          <a:solidFill>
            <a:srgbClr val="FFC24B"/>
          </a:solidFill>
          <a:ln/>
        </p:spPr>
      </p:sp>
      <p:sp>
        <p:nvSpPr>
          <p:cNvPr id="41" name="Text 39"/>
          <p:cNvSpPr/>
          <p:nvPr/>
        </p:nvSpPr>
        <p:spPr>
          <a:xfrm>
            <a:off x="640080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95160" y="3300984"/>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3" name="Text 41"/>
          <p:cNvSpPr/>
          <p:nvPr/>
        </p:nvSpPr>
        <p:spPr>
          <a:xfrm>
            <a:off x="758952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TCP fixé pour chaque hôpital</a:t>
            </a:r>
            <a:endParaRPr lang="en-US" sz="1500" dirty="0"/>
          </a:p>
        </p:txBody>
      </p:sp>
      <p:sp>
        <p:nvSpPr>
          <p:cNvPr id="44" name="Shape 42"/>
          <p:cNvSpPr/>
          <p:nvPr/>
        </p:nvSpPr>
        <p:spPr>
          <a:xfrm>
            <a:off x="6217920" y="4151376"/>
            <a:ext cx="5349240" cy="731520"/>
          </a:xfrm>
          <a:prstGeom prst="roundRect">
            <a:avLst>
              <a:gd name="adj" fmla="val 11250"/>
            </a:avLst>
          </a:prstGeom>
          <a:solidFill>
            <a:srgbClr val="ECEAE4"/>
          </a:solidFill>
          <a:ln w="12700">
            <a:solidFill>
              <a:srgbClr val="ECEAE4"/>
            </a:solidFill>
            <a:prstDash val="solid"/>
          </a:ln>
        </p:spPr>
      </p:sp>
      <p:sp>
        <p:nvSpPr>
          <p:cNvPr id="45" name="Shape 43"/>
          <p:cNvSpPr/>
          <p:nvPr/>
        </p:nvSpPr>
        <p:spPr>
          <a:xfrm>
            <a:off x="6400800" y="4306824"/>
            <a:ext cx="420624" cy="420624"/>
          </a:xfrm>
          <a:prstGeom prst="ellipse">
            <a:avLst/>
          </a:prstGeom>
          <a:solidFill>
            <a:srgbClr val="FFC24B"/>
          </a:solidFill>
          <a:ln/>
        </p:spPr>
      </p:sp>
      <p:sp>
        <p:nvSpPr>
          <p:cNvPr id="46" name="Text 44"/>
          <p:cNvSpPr/>
          <p:nvPr/>
        </p:nvSpPr>
        <p:spPr>
          <a:xfrm>
            <a:off x="640080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95160" y="4151376"/>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48" name="Text 46"/>
          <p:cNvSpPr/>
          <p:nvPr/>
        </p:nvSpPr>
        <p:spPr>
          <a:xfrm>
            <a:off x="758952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dans la limite de la somme contractée</a:t>
            </a:r>
            <a:endParaRPr lang="en-US" sz="1500" dirty="0"/>
          </a:p>
        </p:txBody>
      </p:sp>
      <p:sp>
        <p:nvSpPr>
          <p:cNvPr id="49" name="Shape 47"/>
          <p:cNvSpPr/>
          <p:nvPr/>
        </p:nvSpPr>
        <p:spPr>
          <a:xfrm>
            <a:off x="6217920" y="5001768"/>
            <a:ext cx="5349240" cy="731520"/>
          </a:xfrm>
          <a:prstGeom prst="roundRect">
            <a:avLst>
              <a:gd name="adj" fmla="val 11250"/>
            </a:avLst>
          </a:prstGeom>
          <a:solidFill>
            <a:srgbClr val="ECEAE4"/>
          </a:solidFill>
          <a:ln w="12700">
            <a:solidFill>
              <a:srgbClr val="ECEAE4"/>
            </a:solidFill>
            <a:prstDash val="solid"/>
          </a:ln>
        </p:spPr>
      </p:sp>
      <p:sp>
        <p:nvSpPr>
          <p:cNvPr id="50" name="Shape 48"/>
          <p:cNvSpPr/>
          <p:nvPr/>
        </p:nvSpPr>
        <p:spPr>
          <a:xfrm>
            <a:off x="6400800" y="5157216"/>
            <a:ext cx="420624" cy="420624"/>
          </a:xfrm>
          <a:prstGeom prst="ellipse">
            <a:avLst/>
          </a:prstGeom>
          <a:solidFill>
            <a:srgbClr val="FFC24B"/>
          </a:solidFill>
          <a:ln/>
        </p:spPr>
      </p:sp>
      <p:sp>
        <p:nvSpPr>
          <p:cNvPr id="51" name="Text 49"/>
          <p:cNvSpPr/>
          <p:nvPr/>
        </p:nvSpPr>
        <p:spPr>
          <a:xfrm>
            <a:off x="640080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95160" y="5001768"/>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53" name="Text 51"/>
          <p:cNvSpPr/>
          <p:nvPr/>
        </p:nvSpPr>
        <p:spPr>
          <a:xfrm>
            <a:off x="758952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c’est du surcodage</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QUI RESTE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L’argent d’une seule hospitalisation</a:t>
            </a:r>
            <a:endParaRPr lang="en-US" sz="3100" dirty="0"/>
          </a:p>
        </p:txBody>
      </p:sp>
      <p:sp>
        <p:nvSpPr>
          <p:cNvPr id="4" name="Shape 2"/>
          <p:cNvSpPr/>
          <p:nvPr/>
        </p:nvSpPr>
        <p:spPr>
          <a:xfrm>
            <a:off x="594360" y="1463040"/>
            <a:ext cx="10972800" cy="777240"/>
          </a:xfrm>
          <a:prstGeom prst="roundRect">
            <a:avLst>
              <a:gd name="adj" fmla="val 10588"/>
            </a:avLst>
          </a:prstGeom>
          <a:solidFill>
            <a:srgbClr val="ECEAE4"/>
          </a:solidFill>
          <a:ln w="12700">
            <a:solidFill>
              <a:srgbClr val="ECEAE4"/>
            </a:solidFill>
            <a:prstDash val="solid"/>
          </a:ln>
        </p:spPr>
      </p:sp>
      <p:sp>
        <p:nvSpPr>
          <p:cNvPr id="5" name="Shape 3"/>
          <p:cNvSpPr/>
          <p:nvPr/>
        </p:nvSpPr>
        <p:spPr>
          <a:xfrm>
            <a:off x="868680" y="1641348"/>
            <a:ext cx="420624" cy="420624"/>
          </a:xfrm>
          <a:prstGeom prst="ellipse">
            <a:avLst/>
          </a:prstGeom>
          <a:solidFill>
            <a:srgbClr val="FF4757"/>
          </a:solidFill>
          <a:ln/>
        </p:spPr>
      </p:sp>
      <p:sp>
        <p:nvSpPr>
          <p:cNvPr id="6" name="Text 4"/>
          <p:cNvSpPr/>
          <p:nvPr/>
        </p:nvSpPr>
        <p:spPr>
          <a:xfrm>
            <a:off x="868680" y="16413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463040"/>
            <a:ext cx="982980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L’hospitalisation d’un assuré est payée, pour l’essentiel, par le fonds national unique, par la caisse départementale.</a:t>
            </a:r>
            <a:endParaRPr lang="en-US" sz="1600" dirty="0"/>
          </a:p>
        </p:txBody>
      </p:sp>
      <p:sp>
        <p:nvSpPr>
          <p:cNvPr id="8" name="Shape 6"/>
          <p:cNvSpPr/>
          <p:nvPr/>
        </p:nvSpPr>
        <p:spPr>
          <a:xfrm>
            <a:off x="594360" y="2331720"/>
            <a:ext cx="10972800" cy="777240"/>
          </a:xfrm>
          <a:prstGeom prst="roundRect">
            <a:avLst>
              <a:gd name="adj" fmla="val 10588"/>
            </a:avLst>
          </a:prstGeom>
          <a:solidFill>
            <a:srgbClr val="ECEAE4"/>
          </a:solidFill>
          <a:ln w="12700">
            <a:solidFill>
              <a:srgbClr val="ECEAE4"/>
            </a:solidFill>
            <a:prstDash val="solid"/>
          </a:ln>
        </p:spPr>
      </p:sp>
      <p:sp>
        <p:nvSpPr>
          <p:cNvPr id="9" name="Shape 7"/>
          <p:cNvSpPr/>
          <p:nvPr/>
        </p:nvSpPr>
        <p:spPr>
          <a:xfrm>
            <a:off x="868680" y="2510028"/>
            <a:ext cx="420624" cy="420624"/>
          </a:xfrm>
          <a:prstGeom prst="ellipse">
            <a:avLst/>
          </a:prstGeom>
          <a:solidFill>
            <a:srgbClr val="FF4757"/>
          </a:solidFill>
          <a:ln/>
        </p:spPr>
      </p:sp>
      <p:sp>
        <p:nvSpPr>
          <p:cNvPr id="10" name="Text 8"/>
          <p:cNvSpPr/>
          <p:nvPr/>
        </p:nvSpPr>
        <p:spPr>
          <a:xfrm>
            <a:off x="868680" y="25100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31720"/>
            <a:ext cx="982980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fonds est alimenté par la cotisation de 10 %, des subventions et d’autres recettes, mises en commun au niveau national.</a:t>
            </a:r>
            <a:endParaRPr lang="en-US" sz="1600" dirty="0"/>
          </a:p>
        </p:txBody>
      </p:sp>
      <p:sp>
        <p:nvSpPr>
          <p:cNvPr id="12" name="Shape 10"/>
          <p:cNvSpPr/>
          <p:nvPr/>
        </p:nvSpPr>
        <p:spPr>
          <a:xfrm>
            <a:off x="594360" y="3200400"/>
            <a:ext cx="10972800" cy="777240"/>
          </a:xfrm>
          <a:prstGeom prst="roundRect">
            <a:avLst>
              <a:gd name="adj" fmla="val 10588"/>
            </a:avLst>
          </a:prstGeom>
          <a:solidFill>
            <a:srgbClr val="ECEAE4"/>
          </a:solidFill>
          <a:ln w="12700">
            <a:solidFill>
              <a:srgbClr val="ECEAE4"/>
            </a:solidFill>
            <a:prstDash val="solid"/>
          </a:ln>
        </p:spPr>
      </p:sp>
      <p:sp>
        <p:nvSpPr>
          <p:cNvPr id="13" name="Shape 11"/>
          <p:cNvSpPr/>
          <p:nvPr/>
        </p:nvSpPr>
        <p:spPr>
          <a:xfrm>
            <a:off x="868680" y="3378708"/>
            <a:ext cx="420624" cy="420624"/>
          </a:xfrm>
          <a:prstGeom prst="ellipse">
            <a:avLst/>
          </a:prstGeom>
          <a:solidFill>
            <a:srgbClr val="FF4757"/>
          </a:solidFill>
          <a:ln/>
        </p:spPr>
      </p:sp>
      <p:sp>
        <p:nvSpPr>
          <p:cNvPr id="14" name="Text 12"/>
          <p:cNvSpPr/>
          <p:nvPr/>
        </p:nvSpPr>
        <p:spPr>
          <a:xfrm>
            <a:off x="868680" y="33787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200400"/>
            <a:ext cx="982980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L’acte pousse vers plus de services, la capitation vers moins, le paiement par cas vers des séjours plus nombreux et moins chers.</a:t>
            </a:r>
            <a:endParaRPr lang="en-US" sz="1600" dirty="0"/>
          </a:p>
        </p:txBody>
      </p:sp>
      <p:sp>
        <p:nvSpPr>
          <p:cNvPr id="16" name="Shape 14"/>
          <p:cNvSpPr/>
          <p:nvPr/>
        </p:nvSpPr>
        <p:spPr>
          <a:xfrm>
            <a:off x="594360" y="4069080"/>
            <a:ext cx="10972800" cy="777240"/>
          </a:xfrm>
          <a:prstGeom prst="roundRect">
            <a:avLst>
              <a:gd name="adj" fmla="val 10588"/>
            </a:avLst>
          </a:prstGeom>
          <a:solidFill>
            <a:srgbClr val="ECEAE4"/>
          </a:solidFill>
          <a:ln w="12700">
            <a:solidFill>
              <a:srgbClr val="ECEAE4"/>
            </a:solidFill>
            <a:prstDash val="solid"/>
          </a:ln>
        </p:spPr>
      </p:sp>
      <p:sp>
        <p:nvSpPr>
          <p:cNvPr id="17" name="Shape 15"/>
          <p:cNvSpPr/>
          <p:nvPr/>
        </p:nvSpPr>
        <p:spPr>
          <a:xfrm>
            <a:off x="868680" y="4247388"/>
            <a:ext cx="420624" cy="420624"/>
          </a:xfrm>
          <a:prstGeom prst="ellipse">
            <a:avLst/>
          </a:prstGeom>
          <a:solidFill>
            <a:srgbClr val="FF4757"/>
          </a:solidFill>
          <a:ln/>
        </p:spPr>
      </p:sp>
      <p:sp>
        <p:nvSpPr>
          <p:cNvPr id="18" name="Text 16"/>
          <p:cNvSpPr/>
          <p:nvPr/>
        </p:nvSpPr>
        <p:spPr>
          <a:xfrm>
            <a:off x="868680" y="42473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069080"/>
            <a:ext cx="982980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diagnostics secondaires documentés peuvent changer le groupe DRG et le paiement.</a:t>
            </a:r>
            <a:endParaRPr lang="en-US" sz="1600" dirty="0"/>
          </a:p>
        </p:txBody>
      </p:sp>
      <p:sp>
        <p:nvSpPr>
          <p:cNvPr id="20" name="Shape 18"/>
          <p:cNvSpPr/>
          <p:nvPr/>
        </p:nvSpPr>
        <p:spPr>
          <a:xfrm>
            <a:off x="594360" y="5029200"/>
            <a:ext cx="10972800" cy="777240"/>
          </a:xfrm>
          <a:prstGeom prst="roundRect">
            <a:avLst>
              <a:gd name="adj" fmla="val 10588"/>
            </a:avLst>
          </a:prstGeom>
          <a:solidFill>
            <a:srgbClr val="11121A"/>
          </a:solidFill>
          <a:ln w="12700">
            <a:solidFill>
              <a:srgbClr val="11121A"/>
            </a:solidFill>
            <a:prstDash val="solid"/>
          </a:ln>
        </p:spPr>
      </p:sp>
      <p:sp>
        <p:nvSpPr>
          <p:cNvPr id="21" name="Text 19"/>
          <p:cNvSpPr/>
          <p:nvPr/>
        </p:nvSpPr>
        <p:spPr>
          <a:xfrm>
            <a:off x="868680" y="5029200"/>
            <a:ext cx="1042416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dossier correct paie correctement l’hôpital ; l’organisation des services décide si Mme M. revient.</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LUNDI MATIN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vous faites autrement dans le service</a:t>
            </a:r>
            <a:endParaRPr lang="en-US" sz="3200" dirty="0"/>
          </a:p>
        </p:txBody>
      </p:sp>
      <p:sp>
        <p:nvSpPr>
          <p:cNvPr id="4" name="Shape 2"/>
          <p:cNvSpPr/>
          <p:nvPr/>
        </p:nvSpPr>
        <p:spPr>
          <a:xfrm>
            <a:off x="594360" y="1600200"/>
            <a:ext cx="10972800" cy="1234440"/>
          </a:xfrm>
          <a:prstGeom prst="roundRect">
            <a:avLst>
              <a:gd name="adj" fmla="val 6667"/>
            </a:avLst>
          </a:prstGeom>
          <a:solidFill>
            <a:srgbClr val="1D1F2B"/>
          </a:solidFill>
          <a:ln w="12700">
            <a:solidFill>
              <a:srgbClr val="1D1F2B"/>
            </a:solidFill>
            <a:prstDash val="solid"/>
          </a:ln>
        </p:spPr>
      </p:sp>
      <p:sp>
        <p:nvSpPr>
          <p:cNvPr id="5" name="Shape 3"/>
          <p:cNvSpPr/>
          <p:nvPr/>
        </p:nvSpPr>
        <p:spPr>
          <a:xfrm>
            <a:off x="868680" y="2011680"/>
            <a:ext cx="420624" cy="420624"/>
          </a:xfrm>
          <a:prstGeom prst="ellipse">
            <a:avLst/>
          </a:prstGeom>
          <a:solidFill>
            <a:srgbClr val="FFC24B"/>
          </a:solidFill>
          <a:ln/>
        </p:spPr>
      </p:sp>
      <p:sp>
        <p:nvSpPr>
          <p:cNvPr id="6" name="Text 4"/>
          <p:cNvSpPr/>
          <p:nvPr/>
        </p:nvSpPr>
        <p:spPr>
          <a:xfrm>
            <a:off x="868680" y="2011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600200"/>
            <a:ext cx="9784080" cy="12344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Quand vous clôturez un dossier médical, inscrivez tous les diagnostics traités ou surveillés, et seulement ceux-là.</a:t>
            </a:r>
            <a:endParaRPr lang="en-US" sz="1900" dirty="0"/>
          </a:p>
        </p:txBody>
      </p:sp>
      <p:sp>
        <p:nvSpPr>
          <p:cNvPr id="8" name="Shape 6"/>
          <p:cNvSpPr/>
          <p:nvPr/>
        </p:nvSpPr>
        <p:spPr>
          <a:xfrm>
            <a:off x="594360" y="2971800"/>
            <a:ext cx="10972800" cy="1234440"/>
          </a:xfrm>
          <a:prstGeom prst="roundRect">
            <a:avLst>
              <a:gd name="adj" fmla="val 6667"/>
            </a:avLst>
          </a:prstGeom>
          <a:solidFill>
            <a:srgbClr val="1D1F2B"/>
          </a:solidFill>
          <a:ln w="12700">
            <a:solidFill>
              <a:srgbClr val="1D1F2B"/>
            </a:solidFill>
            <a:prstDash val="solid"/>
          </a:ln>
        </p:spPr>
      </p:sp>
      <p:sp>
        <p:nvSpPr>
          <p:cNvPr id="9" name="Shape 7"/>
          <p:cNvSpPr/>
          <p:nvPr/>
        </p:nvSpPr>
        <p:spPr>
          <a:xfrm>
            <a:off x="868680" y="3383280"/>
            <a:ext cx="420624" cy="420624"/>
          </a:xfrm>
          <a:prstGeom prst="ellipse">
            <a:avLst/>
          </a:prstGeom>
          <a:solidFill>
            <a:srgbClr val="FFC24B"/>
          </a:solidFill>
          <a:ln/>
        </p:spPr>
      </p:sp>
      <p:sp>
        <p:nvSpPr>
          <p:cNvPr id="10" name="Text 8"/>
          <p:cNvSpPr/>
          <p:nvPr/>
        </p:nvSpPr>
        <p:spPr>
          <a:xfrm>
            <a:off x="868680" y="3383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54480" y="2971800"/>
            <a:ext cx="9784080" cy="12344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Quand vous faites sortir un malade chronique, assurez-vous que le médecin de famille l’apprend.</a:t>
            </a:r>
            <a:endParaRPr lang="en-US" sz="1900" dirty="0"/>
          </a:p>
        </p:txBody>
      </p:sp>
      <p:sp>
        <p:nvSpPr>
          <p:cNvPr id="12" name="Shape 10"/>
          <p:cNvSpPr/>
          <p:nvPr/>
        </p:nvSpPr>
        <p:spPr>
          <a:xfrm>
            <a:off x="594360" y="4343400"/>
            <a:ext cx="10972800" cy="1234440"/>
          </a:xfrm>
          <a:prstGeom prst="roundRect">
            <a:avLst>
              <a:gd name="adj" fmla="val 6667"/>
            </a:avLst>
          </a:prstGeom>
          <a:solidFill>
            <a:srgbClr val="1D1F2B"/>
          </a:solidFill>
          <a:ln w="12700">
            <a:solidFill>
              <a:srgbClr val="1D1F2B"/>
            </a:solidFill>
            <a:prstDash val="solid"/>
          </a:ln>
        </p:spPr>
      </p:sp>
      <p:sp>
        <p:nvSpPr>
          <p:cNvPr id="13" name="Shape 11"/>
          <p:cNvSpPr/>
          <p:nvPr/>
        </p:nvSpPr>
        <p:spPr>
          <a:xfrm>
            <a:off x="868680" y="4754880"/>
            <a:ext cx="420624" cy="420624"/>
          </a:xfrm>
          <a:prstGeom prst="ellipse">
            <a:avLst/>
          </a:prstGeom>
          <a:solidFill>
            <a:srgbClr val="FFC24B"/>
          </a:solidFill>
          <a:ln/>
        </p:spPr>
      </p:sp>
      <p:sp>
        <p:nvSpPr>
          <p:cNvPr id="14" name="Text 12"/>
          <p:cNvSpPr/>
          <p:nvPr/>
        </p:nvSpPr>
        <p:spPr>
          <a:xfrm>
            <a:off x="868680" y="4754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54480" y="4343400"/>
            <a:ext cx="9784080" cy="12344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Dites au patient où aller s’il s’aggrave un dimanche soir.</a:t>
            </a:r>
            <a:endParaRPr lang="en-US" sz="1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TICKET DE SORTIE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Avant de partir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Qu’est-ce qui a été utile ?</a:t>
            </a:r>
            <a:endParaRPr lang="en-US" sz="22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Où vous ai-je perdus ?</a:t>
            </a:r>
            <a:endParaRPr lang="en-US" sz="22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2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Trois réponses courtes, sur le téléphone. Cinq minutes.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8 - Dimanche soir : qui paie l’hospitalisation ?</dc:title>
  <dc:subject>PptxGenJS Presentation</dc:subject>
  <dc:creator>Conf. Univ. Dr. Adrian Pana</dc:creator>
  <cp:lastModifiedBy>Conf. Univ. Dr. Adrian Pana</cp:lastModifiedBy>
  <cp:revision>1</cp:revision>
  <dcterms:created xsi:type="dcterms:W3CDTF">2026-10-25T11:09:11Z</dcterms:created>
  <dcterms:modified xsi:type="dcterms:W3CDTF">2026-10-25T11:09:11Z</dcterms:modified>
  <cp:keywords>sursa_amprenta=f65090f4d221b9cc; proiectie</cp:keywords>
</cp:coreProperties>
</file>