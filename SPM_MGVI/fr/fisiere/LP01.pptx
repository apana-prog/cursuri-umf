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TRAVAUX PRATIQUES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Où meurt-on le plus en Roumanie 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67512" y="374904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 sanitaire du comté attribué (I)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 de données et calcul des indicateurs de mortalité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48740"/>
            <a:ext cx="89611" cy="43205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26987" y="1496873"/>
            <a:ext cx="89611" cy="417240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53174" y="1842516"/>
            <a:ext cx="89611" cy="38267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79362" y="1842516"/>
            <a:ext cx="89611" cy="38267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5549" y="1867205"/>
            <a:ext cx="89611" cy="3802075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31736" y="1916582"/>
            <a:ext cx="89611" cy="375269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57923" y="1916582"/>
            <a:ext cx="89611" cy="375269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84110" y="2040026"/>
            <a:ext cx="89611" cy="362925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10298" y="2064715"/>
            <a:ext cx="89611" cy="3604565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36485" y="2089404"/>
            <a:ext cx="89611" cy="3579876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62672" y="2089404"/>
            <a:ext cx="89611" cy="3579876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8859" y="2114093"/>
            <a:ext cx="89611" cy="355518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15046" y="2138782"/>
            <a:ext cx="89611" cy="353049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1234" y="2138782"/>
            <a:ext cx="89611" cy="353049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67421" y="2212848"/>
            <a:ext cx="89611" cy="3456432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3608" y="2262226"/>
            <a:ext cx="89611" cy="340705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9795" y="2262226"/>
            <a:ext cx="89611" cy="340705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5982" y="2311603"/>
            <a:ext cx="89611" cy="335767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72170" y="2311603"/>
            <a:ext cx="89611" cy="335767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98357" y="2360981"/>
            <a:ext cx="89611" cy="3308299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24544" y="2435047"/>
            <a:ext cx="89611" cy="3234233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0731" y="2484425"/>
            <a:ext cx="89611" cy="3184855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6918" y="2509114"/>
            <a:ext cx="89611" cy="3160166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03106" y="2533802"/>
            <a:ext cx="89611" cy="313547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29293" y="2533802"/>
            <a:ext cx="89611" cy="313547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2533802"/>
            <a:ext cx="89611" cy="313547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81667" y="2533802"/>
            <a:ext cx="89611" cy="313547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07854" y="2583180"/>
            <a:ext cx="89611" cy="3086100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34042" y="2607869"/>
            <a:ext cx="89611" cy="3061411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60229" y="2607869"/>
            <a:ext cx="89611" cy="3061411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86416" y="2632558"/>
            <a:ext cx="89611" cy="3036722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12603" y="2657246"/>
            <a:ext cx="89611" cy="301203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38790" y="2681935"/>
            <a:ext cx="89611" cy="2987345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64978" y="2780690"/>
            <a:ext cx="89611" cy="2888590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91165" y="2854757"/>
            <a:ext cx="89611" cy="2814523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17352" y="2928823"/>
            <a:ext cx="89611" cy="274045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43539" y="2928823"/>
            <a:ext cx="89611" cy="274045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69726" y="2953512"/>
            <a:ext cx="89611" cy="271576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95914" y="3002890"/>
            <a:ext cx="89611" cy="2666390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322101" y="3027578"/>
            <a:ext cx="89611" cy="2641702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48288" y="3299155"/>
            <a:ext cx="89611" cy="2370125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574475" y="3866998"/>
            <a:ext cx="89611" cy="180228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57790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42 comtés, 2024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CLASSEMENT D’UN COLLÈGUE MÉDECIN RÉSIDENT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en tête, Ilfov en queue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74570"/>
            <a:ext cx="196596" cy="344043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" y="2392528"/>
            <a:ext cx="196596" cy="332247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2667762"/>
            <a:ext cx="196596" cy="3047238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7612" y="2667762"/>
            <a:ext cx="196596" cy="3047238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28216" y="2687422"/>
            <a:ext cx="196596" cy="3027578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88820" y="2726741"/>
            <a:ext cx="196596" cy="298825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9424" y="2726741"/>
            <a:ext cx="196596" cy="298825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0028" y="2825039"/>
            <a:ext cx="196596" cy="2889961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0632" y="2844698"/>
            <a:ext cx="196596" cy="287030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31236" y="2864358"/>
            <a:ext cx="196596" cy="285064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864358"/>
            <a:ext cx="196596" cy="285064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52444" y="2884018"/>
            <a:ext cx="196596" cy="283098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13048" y="2903677"/>
            <a:ext cx="196596" cy="2811323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73652" y="2903677"/>
            <a:ext cx="196596" cy="2811323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4256" y="2962656"/>
            <a:ext cx="196596" cy="2752344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4860" y="3001975"/>
            <a:ext cx="196596" cy="2713025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55464" y="3001975"/>
            <a:ext cx="196596" cy="2713025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16068" y="3041294"/>
            <a:ext cx="196596" cy="267370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76672" y="3041294"/>
            <a:ext cx="196596" cy="267370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37276" y="3080614"/>
            <a:ext cx="196596" cy="263438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3139592"/>
            <a:ext cx="196596" cy="2575408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8484" y="3178912"/>
            <a:ext cx="196596" cy="2536088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3198571"/>
            <a:ext cx="196596" cy="251642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9692" y="3218231"/>
            <a:ext cx="196596" cy="249676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0296" y="3218231"/>
            <a:ext cx="196596" cy="249676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00900" y="3218231"/>
            <a:ext cx="196596" cy="249676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61504" y="3218231"/>
            <a:ext cx="196596" cy="249676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2108" y="3257550"/>
            <a:ext cx="196596" cy="2457450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82712" y="3277210"/>
            <a:ext cx="196596" cy="2437790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3316" y="3277210"/>
            <a:ext cx="196596" cy="2437790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3296869"/>
            <a:ext cx="196596" cy="2418131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64524" y="3316529"/>
            <a:ext cx="196596" cy="2398471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25128" y="3336188"/>
            <a:ext cx="196596" cy="237881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85732" y="3414827"/>
            <a:ext cx="196596" cy="2300173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46336" y="3473806"/>
            <a:ext cx="196596" cy="2241194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06940" y="3532784"/>
            <a:ext cx="196596" cy="218221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67544" y="3532784"/>
            <a:ext cx="196596" cy="218221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28148" y="3552444"/>
            <a:ext cx="196596" cy="216255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88752" y="3591763"/>
            <a:ext cx="196596" cy="2123237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49356" y="3611423"/>
            <a:ext cx="196596" cy="2103577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09960" y="3827678"/>
            <a:ext cx="196596" cy="188732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370564" y="4279849"/>
            <a:ext cx="196596" cy="1435151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3198571"/>
            <a:ext cx="10945368" cy="0"/>
          </a:xfrm>
          <a:prstGeom prst="line">
            <a:avLst/>
          </a:prstGeom>
          <a:noFill/>
          <a:ln w="15875">
            <a:solidFill>
              <a:srgbClr val="11121A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9528048" y="2851099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 12,8 ‰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0080" y="189052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17,5 ‰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893808" y="3895801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Ilfov 7,3 ‰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577840" y="1600200"/>
            <a:ext cx="5989320" cy="914400"/>
          </a:xfrm>
          <a:prstGeom prst="roundRect">
            <a:avLst>
              <a:gd name="adj" fmla="val 9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16002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À Teleorman, le risque de décès est deux fois et demie plus élevé qu’à Ilfov. »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85800" y="58338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brut de mortalité : décès pour 1 000 habitants, 2024. Les 42 comtés, municipe de Bucarest compris.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demo_r_gind3 ; valeurs estimées.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 TOUT LE GROUPE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 TOUT CALCUL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quel comté le risque de décès est-il le plus élevé ?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621792" y="4251960"/>
            <a:ext cx="1280160" cy="27432"/>
          </a:xfrm>
          <a:prstGeom prst="rect">
            <a:avLst/>
          </a:prstGeom>
          <a:solidFill>
            <a:srgbClr val="FFC24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uniquement d’après le classement, en levant la main.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SOURCES DE DONNÉES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Où trouver les décès et la population d’un comté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27432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Eurostat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demo_r_magec3 : décès par groupe d’âge quinquennal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demo_r_pjangrp3 : population au 1er janvier, sur les mêmes groupes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demo_r_gind3 : taux brut publié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Filtrer sur un comté (région NUTS 3).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691640"/>
            <a:ext cx="82296" cy="27432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INS, base TEMPO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POP206K : décédés ayant leur résidence habituelle en Roumanie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POP106A : population résidente au 1er juillet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Lire d’abord la fiche de métadonnées de la matrice.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l’écran : la démonstration. Vous ne téléchargez rien ; chaque équipe reçoit le fichier Excel de son comté.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 : ec.europa.eu/eurostat/databrowser · https://statistici.insse.ro:8077/tempo-ins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 TOUTE COMPARAISON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vérifications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338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mêmes personnes au numérateur et au dénominateur 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6446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et population sur la même base : toutes deux selon la résidence habituelle, ou toutes deux selon le domicile.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715768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0358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715768"/>
            <a:ext cx="338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même définition sur toute la série 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715768"/>
            <a:ext cx="6446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 : depuis 2014, selon la résidence habituelle. Population : à Teleorman, les 90 ans et plus passent de 4 055 à 2 512 entre 2021 et 2022, sans explication.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922776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428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922776"/>
            <a:ext cx="338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dernière année et ses indicateurs de statut 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3922776"/>
            <a:ext cx="6446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2024 : population marquée « e », c’est-à-dire estimée ; les années récentes peuvent être révisées. Notez la date de téléchargement.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Autocontrôle 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5 495 ÷ 314 259 × 1 000 = 17,49, soit exactement la valeur publiée pour Teleorman.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ÉQUIPES ET LES COMTÉS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Votre comté, jusqu’aux derniers travaux pratiques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4813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Alba, Buzău, Gorj, Neamț, Suceava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2996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02996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Arad, Caraș-Severin, Harghita, Olt, Timiș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57860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7860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11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5786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Argeș, Călărași, Hunedoara, Prahova, Tulcea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12724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2724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12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1272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Bacău, Cluj, Ialomița, Satu Mare, Vaslui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67588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758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367588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Bihor, Constanța, Iași, Sălaj, Vâlcea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422452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2452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14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42245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Bistrița-Năsăud, Covasna, Maramureș, Sibiu, Vrancea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148132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48132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15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14813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Botoșani, Dâmbovița, Mehedinți, Brașov, Galați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920" y="202996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02996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16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202996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Brăila, Bucarest, Dolj, Giurgiu, Mureș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17920" y="257860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57860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17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25786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Cluj, Tulcea, Vâlcea, Botoșani, Timiș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17920" y="312724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12724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18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0" y="31272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Bucarest, Brăila, Iași, Covasna, Hunedoara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17920" y="367588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6758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19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0" y="367588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Constanța, Dolj, Bistrița-Năsăud, Olt, Sibiu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17920" y="422452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22452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Groupe 20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0" y="42245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Brașov, Suceava, Călărași, Mehedinți, Harghita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94360" y="4892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Fichier de l’équipe 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LP01_&lt;Comté&gt;.xlsx, sans diacritiques (par exemple LP01_Bistrita-Nasaud.xlsx), par la messagerie institutionnelle ou sur Teams. Teleorman et Ilfov restent l’exemple commun.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DONNÉES DE L’EXERCICE COMMUN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Teleorman, Ilfov et Roumanie, 2024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737360"/>
                <a:gridCol w="1188720"/>
                <a:gridCol w="1737360"/>
                <a:gridCol w="1280160"/>
                <a:gridCol w="16459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Teleorman</a:t>
                      </a: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Ilfov</a:t>
                      </a: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Roumanie</a:t>
                      </a: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 hMerge="1"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Groupe d’âge</a:t>
                      </a: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décès</a:t>
                      </a: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population moyenne</a:t>
                      </a: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décès</a:t>
                      </a: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population moyenne</a:t>
                      </a: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décès</a:t>
                      </a: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population moyenne</a:t>
                      </a:r>
                      <a:endParaRPr lang="en-US" sz="13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0–44 ans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133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136 855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180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354 080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8 453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9 829 314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45–64 ans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882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94 462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897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160 335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43 484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5 386 457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65–74 ans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1 206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44 792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1 069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50 636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59 305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2 305 994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75 ans et plus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3 274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38 150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2 163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28 913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133 333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1 533 599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Total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5 495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314 259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4 309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593 964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244 575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19 055 364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demo_r_magec3 et demo_r_pjangrp3 ; population moyenne de l’année (moyenne de la population au 1er janvier 2024 et au 1er janvier 2025), estimée.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FORMS · COMPTE UMF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 ÉQUIPE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L’exercice commun en quatre étapes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brut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807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670048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spécifiques par âge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511296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64845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511296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standardisé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352544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4897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352544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Ratio standardisé et conclusion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321040" y="1783080"/>
            <a:ext cx="324612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21040" y="1783080"/>
            <a:ext cx="3246120" cy="324612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code QR du formulaire de votre groupe s’affiche à l’écran, en salle.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/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53492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étudiant calcule, un autre refait le calcul de manière indépendante. Chacun remet le formulaire avant de quitter la salle.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QUATRE CALCULS, EN MOTS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termes nouveaux, quatre formules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82296" cy="1691640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64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brut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combien de décès par an pour mille habitants 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de l’année ÷ population moyenne × 1 000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82296" cy="16916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64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spécifique par âge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taux calculé dans un seul groupe d’âge 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du groupe ÷ population du groupe × 1 000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429000"/>
            <a:ext cx="82296" cy="16916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38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standardisé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taux du comté avec la structure par âge du pays 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389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somme : taux spécifique × poids du groupe dans le pays (0,5158, et non 51,58 %)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429000"/>
            <a:ext cx="82296" cy="16916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538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Ratio standardisé (RSM, SMR)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décès observés face aux décès attendus aux taux du pays »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389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observés ÷ décès attendus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Gardez quatre chiffres significatifs ; n’arrondissez que le résultat final.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RÉSULTATS · ÉTAPES 1, 3 ET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structure par âge égale, l’écart se resserre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5577840"/>
            <a:ext cx="6309360" cy="1828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537460"/>
            <a:ext cx="777240" cy="30403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5341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17,5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91640" y="3267151"/>
            <a:ext cx="777240" cy="231068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883103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13,3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26080" y="4309567"/>
            <a:ext cx="777240" cy="126827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925519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94760" y="3770986"/>
            <a:ext cx="777240" cy="180685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338693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10,4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43200" y="5669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Ilfov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3354019"/>
            <a:ext cx="777240" cy="2223821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69971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12,8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897880" y="3354019"/>
            <a:ext cx="777240" cy="2223821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969971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12,8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0" y="5669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15544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1554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brut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88920" y="1554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1554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standardisé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1554480"/>
            <a:ext cx="4251960" cy="3931920"/>
          </a:xfrm>
          <a:prstGeom prst="roundRect">
            <a:avLst>
              <a:gd name="adj" fmla="val 209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7373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par rapport au pays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4,7 à 0,5 décès pour 1 000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par rapport à Ilfov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2,4 fois à 1,3 fois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Ratio standardisé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1,027 : environ 3 % de décès de plus qu’aux taux du pays ; Ilfov 0,796 : environ 20 % de décès en moins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Chaque ratio se compare uniquement au pays ; les ratios de deux comtés ne se comparent pas entre eux.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pour 1 000 habitants, 2024 ; standard : population moyenne de la Roumanie en 2024. Source : Eurostat, calcul tiré des notes de la séance.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RÉSULTATS · ÉTAPE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âge égal : un peu plus élevé, pas deux fois et demie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0–44 ans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834640" y="1691640"/>
            <a:ext cx="47097" cy="31089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73177" y="1691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0,9718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2057400"/>
            <a:ext cx="41678" cy="310896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7758" y="2057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0,8600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45–64 ans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34640" y="2606040"/>
            <a:ext cx="452501" cy="31089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8581" y="26060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9,337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2971800"/>
            <a:ext cx="391243" cy="310896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7323" y="2971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8,073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65–74 ans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34640" y="3520440"/>
            <a:ext cx="1304629" cy="31089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0709" y="35204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26,92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34640" y="3886200"/>
            <a:ext cx="1246474" cy="310896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2554" y="38862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25,72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434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 ans et plus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834640" y="4434840"/>
            <a:ext cx="4159112" cy="31089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5192" y="4434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85,82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34640" y="4800600"/>
            <a:ext cx="4213391" cy="310896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9471" y="48006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86,94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34640" y="54406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5440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54406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5440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12480" y="1691640"/>
            <a:ext cx="3154680" cy="3566160"/>
          </a:xfrm>
          <a:prstGeom prst="roundRect">
            <a:avLst>
              <a:gd name="adj" fmla="val 260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187452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peu plus élevés jusqu’à 75 ans, un peu plus faibles ensuite.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Mais Teleorman compte plus de personnes âgées : les 75 ans et plus représentent 12,1 % de la population, contre 8,0 % dans le pays.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Décès pour 1 000 personnes du groupe, 2024. Source : Eurostat, demo_r_magec3 et demo_r_pjangrp3.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ÉQUIPES, À TOUR DE RÔLE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CELA SIGNIFIE POUR VOUS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 de croire un classement selon la mortalité, demandez quel taux a été utilisé.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3246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taux brut montre où meurent le plus de personnes ; le taux standardisé, où le risque de décès est le plus élevé au même âge.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438912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89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 indicateur mettriez-vous en première page du profil de votre comté ? Pourquoi ?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LA MAISON, DANS LES DEUX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premier chapitre du profil de votre comté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2821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28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la feuille « Lisez-moi » : la source, les codes des jeux de données et la date d’extraction.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86584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146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86584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taux brut pour 2019–2024 ; pour 2024, confronté à la valeur publiée par Eurostat.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172968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30098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00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172968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 2024 : les taux spécifiques, le taux standardisé, le ratio standardisé et les années potentielles de vie perdues avant 65 ans.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959352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08736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959352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graphiques ; le saut de population entre 2021 et 2022, indiqué sur le graphique.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745736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87375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745736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constat : l’indicateur, la valeur, l’année, le terme de comparaison et une limite des données.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Chaque étudiant, individuellement, dans le formulaire du travail à la maison. La feuille de calcul est conservée pour les séances suivantes.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CINQ DERNIÈRES MINUTES · ANONYME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questions pour finir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Qu’est-ce qui a été utile 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Où vous ai-je perdu 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pourriez-vous utiliser demain 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[code QR Mentimeter]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Lundi, sur la page de la discipline, vous trouverez deux modifications faites d’après les réponses.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LP01 - Où meurt-on le plus en Roumanie ?</dc:title>
  <dc:subject>PptxGenJS Presentation</dc:subject>
  <dc:creator>Conf. Univ. Dr. Adrian Pana</dc:creator>
  <cp:lastModifiedBy>Conf. Univ. Dr. Adrian Pana</cp:lastModifiedBy>
  <cp:revision>1</cp:revision>
  <dcterms:created xsi:type="dcterms:W3CDTF">2026-10-03T19:51:43Z</dcterms:created>
  <dcterms:modified xsi:type="dcterms:W3CDTF">2026-10-03T19:51:43Z</dcterms:modified>
  <cp:keywords>sursa_amprenta=b0af482ace50516d; proiectie</cp:keywords>
</cp:coreProperties>
</file>