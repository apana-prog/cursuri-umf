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COURS 7  ·  SANTÉ PUBLIQUE ET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Lundi, 07:45 : sans infirmières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Fonctions du management, modèles de systèmes de santé et composantes fondamentales du système de santé définies par l’OMS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7512" y="434340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fait un médecin quand le problème devant lui n’est plus celui d’un patient, mais celui d’un service 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Médecine, sixième année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PREMIER ACTE · LA SITUATION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service de médecine interne, lundi matin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 patients hospitalisés pour 30 lits ; trois ont besoin d’une surveillance attentive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L’ÉQUIPE DE JOUR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habituellement trois infirmières ; à 07:45, deux ont envoyé un arrêt maladie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JOURNÉE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admissions programmées, deux patients annoncés par les urgences ; équipe suivante à 14:00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ressources humaines n’ont personne. L’infirmière de nuit propose de rester deux heures de plus.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 pour le cours ; les détails sont plausibles, non réels.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 ; valeurs hypothétiques.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JEU DE RÔLE · TROIS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LE PREMIER VOTE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téléphone, juste après la nouvelle des absences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39696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VOLONTAIRE 1 · LE CHEF DE 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642616"/>
            <a:ext cx="49697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Demande de l’aide pour l’équipe de jour.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95060" y="201168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6228" y="2139696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VOLONTAIRE 2 · LE DIRECTEUR DES SOINS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6228" y="2642616"/>
            <a:ext cx="49697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N’a qu’une seule infirmière disponible, pour quelques heures, et demande ce qui peut être reporté.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94360" y="4617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salle note ce que fait chacun des deux, sans encore voter.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PREMIÈRE DÉCISION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Vous êtes le chef de service. Que faites-vous dans les trente premières minutes 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Vous demandez à la direction de suspendre les admissions, programmées et des urgences, jusqu’à l’après-midi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Vous demandez une infirmière d’un autre service, reprogrammez ce qui peut attendre et répartissez les tâches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Vous acceptez que l’infirmière de nuit reste deux heures de plus et prenez vous-même une partie des traitements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348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Vous signalez la situation par écrit au directeur et attendez sa décision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Vote individuel, sans discussion.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SECOND VOTE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APRÈS LA DISCUSSION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Convainquez votre voisin de banc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minutes pour convaincre celui qui a voté autrement. Puis votez de nouveau.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PREMIER VOTE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1757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005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8343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SECOND VOTE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41757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00050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8660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58343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8660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QUE LE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Obtenir des résultats par le travail des autres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chef de service ne traite pas un patient : il répartit les deux mains d’une infirmière entre vingt-huit patients.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560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 C’EST DIFFÉRENT EN SANTÉ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PLUSIEURS ACTEURS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propriétaire, le payeur, la direction de santé publique, l’accréditation, les patients, les salariés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QUALITÉ NE SE VOIT PAS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patient ne peut pas la juger seul ; elle s’assure par des règles, des normes et des contrôles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3017520"/>
            <a:ext cx="3505200" cy="2468880"/>
          </a:xfrm>
          <a:prstGeom prst="roundRect">
            <a:avLst>
              <a:gd name="adj" fmla="val 33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1455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LIMITES ÉTHIQUES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529584"/>
            <a:ext cx="3102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hôpital ne refuse pas un patient grave parce que son traitement coûte cher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FONCTIONS DU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Fayol aux quatre fonctions d’aujourd’hui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activités par lesquelles un dirigeant transforme les ressources d’une organisation en résultats.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planification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L’organisation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direction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961120" y="2743200"/>
            <a:ext cx="2606040" cy="822960"/>
          </a:xfrm>
          <a:prstGeom prst="roundRect">
            <a:avLst>
              <a:gd name="adj" fmla="val 1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contrôle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FAYOL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430682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prévision, la planification, l’organisation, le commandement, la coordination et le contrôle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95060" y="379476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62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MANUEL UNIVERSITAIRE RÉCENT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6228" y="430682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fonctions de base ; le cours utilise celles-ci, et la direction tient la place du commandement et de la coordination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Fayol, théorie générale du management ; OpenStax, Principles of Management (manuel universitaire).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 DES EXEMPLES D’HÔPITAL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signifie chaque fonction dans le service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PLANIFICATION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besoin en infirmières pour l’année suivante ; dans le service, la liste de remplacement manque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55448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L’ORGANISATION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06654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fait quoi et qui répond de quoi ; une infirmière déplacée vers le service surchargé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4655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DIRECTION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38496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motiver et communiquer : ce qui est reporté aujourd’hui et pourquoi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5060" y="33375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4655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CONTRÔLE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38496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compare le résultat à ce qui était prévu : indicateurs, audit d’un cas, analyse d’une plainte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la même matinée, le chef de service organise, dirige et note ce qu’il faudra planifier et contrôler.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RÔLES DU MANAGER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Mintzberg : dix rôles, en trois catégories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INTERPERSONNELS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représentant · le leader · l’agent de liaison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INFORMATIONNELS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l’observateur · le diffuseur · le porte-parole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DÉCISIONNELS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l’entrepreneur · le régulateur des perturbations · le répartiteur de ressources · le négociateur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fonctions disent ce que fait le management ; les rôles disent ce que fait le manager dans sa journée de travail.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Mintzberg, les rôles managériaux.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RÔLES, DANS LE CAS DU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 matin, le chef de service joue quatre rôles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régulateur des perturbations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répartiteur de ressources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l’agent de liaison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600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négociateur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deux derniers, au téléphone avec le directeur des soins.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004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rôle de leader influence les autres. La bonne volonté ne suffit pas : on dirige un service avec des compétences de management.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Hypothèse d’une étude : les médecins accomplissent des tâches managériales dès le début de leur carrière, et les étudiants ne se sentent pas préparés à ce rôle.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PREMIÈRE DÉCISION · CE QUE DISENT LES FONCTIONS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 : organisation et direction, suivies de planification et de contrôle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Déplace le problème vers les urgences et réduit l’accès ; la décision relève de la direction de l’hôpital.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Utilise les ressources de l’hôpital, reporte ce qui peut attendre, maintient la surveillance des instables.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Cache le problème : une garde de quatorze heures, et le chef ne dirige plus le service.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Laisse les patients sans décision aux heures de plus grand risque.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la crise, on voit l’organisation et la direction ; manquent la planification et le contrôle, qui ont produit la crise.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DEUXIÈME ACTE · LA COMPLICATION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semaines plus tard : le problème ne date pas de lundi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PERSONNEL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onze gardes non couvertes en trois mois ; deux infirmières parties à l’étranger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281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PATIENT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93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plainte : traitement avec quatre heures de retard ; envoyée aussi à la direction de santé publique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61960" y="155448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CHIRURGIE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63128" y="2066544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occupation d’environ 60 % : le bloc opératoire est en rénovation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L’ARGENT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contrat n’augmente pas ; les heures supplémentaires ont dépassé le budget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281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93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L’INFORMATION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93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données sur les lits et les gardes arrivent chaque mois, sur papier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61960" y="3547872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3128" y="3675888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63128" y="4059936"/>
            <a:ext cx="3102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convoque le comité de direction élargi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 pour le cours ; les détails sont plausibles, non réels.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 ; valeurs hypothétiques.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PROBLÈME À PLUSIEURS FACETTES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qui semblait le problème d’un service relève de tout le système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manque des personnes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25496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2656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l’argent est fixé par contrat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56632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3792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l’information arrive trop tard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87768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services se réduisent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18904" y="18288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6064" y="1828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décision appartient à plusieurs institutions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voir toutes les facettes à la fois, l’OMS a proposé en 2007 un cadre commun, utilisé aussi dans les analyses récentes de l’organisation.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OMS, cadre des six composantes fondamentales du système de santé, 2007.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SYSTÈME DE SANTÉ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large que l’hôpital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L’ensemble de toutes les organisations, personnes et actions dont le but principal est de promouvoir, de rétablir ou de maintenir la santé.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l’hôpital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médecin de famille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direction de santé publique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297180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2971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caisse d’assurance maladie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pharmacie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ministère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260604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patient, à domicile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6634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634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hôpital ne peut pas résoudre seul tous ses problèmes : une partie des causes se trouve dans d’autres organisations du système.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OMS, cadre des six composantes fondamentales du système de santé, 2007.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SIX COMPOSANTES FONDAMENTALES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Tout système, décrit par six parties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prestation des services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9C4A0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personnels de santé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011680"/>
            <a:ext cx="457200" cy="457200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0" y="16002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système d’information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produits médicaux, les vaccins et les technologies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474720"/>
            <a:ext cx="457200" cy="457200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financement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92440" y="30632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474720"/>
            <a:ext cx="457200" cy="457200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30632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leadership et la gouvernance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94360" y="47091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chaque composante, l’OMS dit ce que signifie bien fonctionner.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OMS, cadre des six composantes fondamentales du système de santé, 2007.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SIGNIFIE « BIEN FONCTIONNER » (I)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services, les personnels, l’information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interventions efficaces, sûres, de qualité, quand et là où il faut. Roumanie : un système centré sur l’hôpital.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PERSONNELS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nombre suffisant, répartis équitablement, compétents et réactifs. Roumanie : près de 200 localités sans médecin de famille, en 2024.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informations fiables et à jour. Roumanie : pas de stratégie claire, des systèmes non interopérables.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OMS, 2007 ; analyse du système de santé de la Roumanie (OMS Europe et Observatoire européen).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SIGNIFIE « BIEN FONCTIONNER » (II)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produits, le financement, la gouvernance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PRODUITS MÉDICAUX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accès équitable à des produits essentiels sûrs, efficaces et coût-efficaces, utilisés rationnellement.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FINANCEMENT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fonds suffisants et une protection contre l’appauvrissement dû au paiement des soins. Roumanie : les dépenses les plus faibles de l’UE (données de 2022).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3931920"/>
          </a:xfrm>
          <a:prstGeom prst="roundRect">
            <a:avLst>
              <a:gd name="adj" fmla="val 234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GOUVERNANCE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cadres stratégiques, supervision, réglementation et redevabilité. Roumanie : planification insuffisante, réformes fragmentées.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OMS, 2007 ; analyse du système de santé de la Roumanie (OMS Europe et Observatoire européen).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LEADERSHIP ET LA GOUVERNANCE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gouvernance, selon la formulation de l’OMS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„Des cadres politiques stratégiques, assortis d’une supervision efficace, de la construction de coalitions, de réglementations et d’incitations appropriées, d’une attention à la conception du système et de la redevabilité.”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 l’appelle aussi administration responsable du système : sa supervision et son orientation d’ensemble.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4348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présentation des années précédentes attribuait la définition à d’autres auteurs ; le texte est celui du document de l’OMS de 2007.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OMS, cadre des six composantes fondamentales du système de santé, 2007.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VISE UN SYSTÈME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composantes sont des moyens, non des fins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six composantes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801368"/>
            <a:ext cx="384048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l’accès · la couverture · la qualité · la sécurité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1801368"/>
            <a:ext cx="384048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600200"/>
            <a:ext cx="3246120" cy="731520"/>
          </a:xfrm>
          <a:prstGeom prst="roundRect">
            <a:avLst>
              <a:gd name="adj" fmla="val 1125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00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quatre résultats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SANTÉ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son niveau et l’équité entre les groupes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9471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587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RÉACTIVITÉ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587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respect de la personne ; orientation client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06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2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PROTECTION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622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contre le risque social et financier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95410" y="2606040"/>
            <a:ext cx="257175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6578" y="2734056"/>
            <a:ext cx="216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L’EFFICIENCE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96578" y="3118104"/>
            <a:ext cx="21694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efficience améliorée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43434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43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d’infirmières ne signifie pas un traitement à temps, si elles sont mal réparties entre les services.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OMS, cadre des six composantes fondamentales du système de santé, 2007.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COMPOSANTES SONT LIÉES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l’Hôpital A, une seule crise touche cinq composantes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PERSONNELS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infirmières manquent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21838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3006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FINANCEMENT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23006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contrat n’augmente pas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9317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0485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0485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 ne voit chaque jour l’occupation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76795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7963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7963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admissions se réduisent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4274" y="1645920"/>
            <a:ext cx="2062886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5442" y="1773936"/>
            <a:ext cx="1660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GOUVERNANCE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05442" y="2157984"/>
            <a:ext cx="16605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décision appartient à plusieurs institutions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66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heures supplémentaires payées ne touchent qu’une composante et déplacent le problème : le budget est dépassé, le personnel restant s’épuise.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COMITÉ, DANS LA LOI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décide dans un hôpital public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COMITÉ DE DIRECTION · ART. 181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de l’hôpital, le directeur médical et le directeur financier et comptable ; dans les hôpitaux de plus de 400 lits, aussi un directeur des soins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CONSEIL D’ADMINISTRATION · ART. 187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5–8 membres, nommés par le ministère ou par la direction de santé publique et par l’autorité locale ; le syndicat, invité permanent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le cas, la caisse d’assurance maladie, le conseil départemental, le syndicat et les patients sont invités au comité de direction.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Loi n° 95/2006.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COMITÉ · QR PAR RANGÉE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L’OUTIL DU JOUR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comité de direction élargi de l’Hôpital 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de l’hôpital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843784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1 · Directeur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médical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92824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2 · Médical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55448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7532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représentant de la caisse départementale d’assurance maladie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341864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3 · Caisse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représentant de l’association de patients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2843784" y="4636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4 · Patients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2628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responsable du syndicat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592824" y="4636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5 · Syndicat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3375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7532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RANGÉE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représentant du conseil départemental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0341864" y="4636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 b="1" i="0">
                <a:solidFill>
                  <a:srgbClr val="C9CDD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Rôle 6 · Conseil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516636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Fiche de rôle · vote depuis le rôle · binômes · second vote · porte-parole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Ouvrez sur votre téléphone la fiche de votre rangée.</a:t>
            </a:r>
            <a:endParaRPr lang="en-US" sz="1600" dirty="0"/>
          </a:p>
        </p:txBody>
      </p:sp>
      <p:pic>
        <p:nvPicPr>
          <p:cNvPr id="39" name="QR rôle 1" descr="qr_rol1_pg-s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1645920"/>
            <a:ext cx="1188720" cy="1188720"/>
          </a:xfrm>
          <a:prstGeom prst="rect">
            <a:avLst/>
          </a:prstGeom>
        </p:spPr>
      </p:pic>
      <p:pic>
        <p:nvPicPr>
          <p:cNvPr id="40" name="QR rôle 2" descr="qr_rol2_pg-s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645920"/>
            <a:ext cx="1188720" cy="1188720"/>
          </a:xfrm>
          <a:prstGeom prst="rect">
            <a:avLst/>
          </a:prstGeom>
        </p:spPr>
      </p:pic>
      <p:pic>
        <p:nvPicPr>
          <p:cNvPr id="41" name="QR rôle 3" descr="qr_rol3_pg-s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1645920"/>
            <a:ext cx="1188720" cy="1188720"/>
          </a:xfrm>
          <a:prstGeom prst="rect">
            <a:avLst/>
          </a:prstGeom>
        </p:spPr>
      </p:pic>
      <p:pic>
        <p:nvPicPr>
          <p:cNvPr id="42" name="QR rôle 4" descr="qr_rol4_pg-s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429000"/>
            <a:ext cx="1188720" cy="1188720"/>
          </a:xfrm>
          <a:prstGeom prst="rect">
            <a:avLst/>
          </a:prstGeom>
        </p:spPr>
      </p:pic>
      <p:pic>
        <p:nvPicPr>
          <p:cNvPr id="43" name="QR rôle 5" descr="qr_rol5_pg-s0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3429000"/>
            <a:ext cx="1188720" cy="1188720"/>
          </a:xfrm>
          <a:prstGeom prst="rect">
            <a:avLst/>
          </a:prstGeom>
        </p:spPr>
      </p:pic>
      <p:pic>
        <p:nvPicPr>
          <p:cNvPr id="44" name="QR rôle 6" descr="qr_rol6_pg-s0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1864" y="34290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DEUXIÈME DÉCISION · DEPUIS LE RÔLE DE LA RANGÉE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décide le comité 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059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59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fermeture temporaire de lits de médecine interne, jusqu’à ce que les postes soient pourvus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746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74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heures supplémentaires payées et des embauches temporaires, sans date de fin de la mesure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433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33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passage volontaire, avec formation, d’infirmières de chirurgie ; recrutement sur un an, avec le département ; gardes non couvertes suivies chaque mois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10972800" cy="740664"/>
          </a:xfrm>
          <a:prstGeom prst="roundRect">
            <a:avLst>
              <a:gd name="adj" fmla="val 111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119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19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demande d’argent à la caisse et au conseil départemental, sans autres mesures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D’abord votre rôle, ensuite le vote.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SECOND VOTE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APRÈS LA DISCUSSION EN BINÔMES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second vote et le vote par rôle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PREMIER VOTE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230200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8318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318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273634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1752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317068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451860"/>
            <a:ext cx="361188" cy="36118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5186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3605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5448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SECOND VOTE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4884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86600" y="230200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258318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58318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86600" y="273634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01752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1752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86600" y="317068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451860"/>
            <a:ext cx="361188" cy="36118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451860"/>
            <a:ext cx="36118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86600" y="3605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VOTE PAR RÔLE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450592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7752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médical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306824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3984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caisse d’assurance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63056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patients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19288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6448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syndicat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875520" y="4572000"/>
            <a:ext cx="1719072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0" y="457200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conseil départemental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94360" y="5257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décision passerait ? Qui en paie le coût ?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DEUXIÈME DÉCISION · CE QUE DISENT LES COMPOSANTES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 : plusieurs composantes et les quatre fonctions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Sacrifie les services et réduit l’accès ; seulement temporaire et annoncée, par sécurité.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l’argent à court terme ; ne change pas les causes des départs ; sans terme, elle devient la règle.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quatre fonctions ; le coût : du temps, de la confiance et une information que l’hôpital n’a pas.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demande sans plan, présentée au payeur et au propriétaire, a peu de chances d’aboutir.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suit l’idée de renforcement : les composantes, améliorées ensemble.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PAIE, QUI POSSÈDE, QUI DÉCIDE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 classer les systèmes de santé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D’OÙ VIENT L’ARGENT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impôts généraux, cotisations d’assurance sociale, paiements privés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PRESTATAIRES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l’État, des organisations à but non lucratif, des entreprises privées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00200"/>
            <a:ext cx="35052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282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GARANTIE DES SOINS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12264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toute la population, aux personnes assurées par leur travail ou à celles qui peuvent payer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littérature comparative distingue les modèles Beveridge et Bismarck ; les anciens pays communistes ont suivi le modèle soviétique, appelé Semachko.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MODÈLE BEVERIDGE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 l’impôt, pour toute la population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Financement principalement par les impôts généraux, forte réglementation de l’État, couverture universelle et soins gratuits au point de prestation.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L’ARCHÉTYPE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service national de santé du Royaume-Uni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LA MÊME FAMILLE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 exemple l’Italie et le Canada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2971800"/>
            <a:ext cx="35052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TENSION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483864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délai d’attente, qui a favorisé des marchés privés parallèles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49377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droit aux soins ne dépend pas d’un emploi.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MODÈLE BISMARCK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Assurance sociale, avec plusieurs caisses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Assurance maladie sociale, avec des cotisations partagées entre l’employeur et le salarié, gérées par plusieurs caisses d’assurance maladie réglementées.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L’ARCHÉTYPE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l’Allemagne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281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couverture universelle, comme dans le modèle Beveridge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61960" y="297180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09981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CAISSES ALLEMANDES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48386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réseau pluraliste et décentralisé, en concurrence, avec une couverture standardisée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MODÈLE SEMACHKO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modèle soviétique, suivi par la Roumanie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modèle soviétique d’organisation du système de santé, suivi par la Roumanie pendant la période communiste : la santé organisée par l’État, les prestataires privés nationalisés.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53721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0998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ROUMANIE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483864"/>
            <a:ext cx="4969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réorganisation par une loi sur l’organisation étatique de la santé ; tous les prestataires privés nationalisés en 1948–1949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95060" y="2971800"/>
            <a:ext cx="53721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6228" y="30998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AUJOURD’HUI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96228" y="3483864"/>
            <a:ext cx="4969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éléments du modèle se retrouvent dans certains systèmes mixtes, comme celui de la Russie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TOUS LES SYSTÈMES DEVIENNENT HYBRIDES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qui compte : la cohérence, non la fidélité à un modèle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Beaucoup de systèmes combinent le financement solidaire et la concurrence réglementée entre assureurs et prestataires. Les anciens systèmes Semachko sont passés à l’assurance sociale.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UN SYSTÈME BEVERIDGE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3163824"/>
            <a:ext cx="4969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problème de l’Hôpital A arrive à l’autorité qui possède et finance les services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5060" y="265176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62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UN SYSTÈME BISMARCK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96228" y="3163824"/>
            <a:ext cx="49697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a affaire à plusieurs caisses d’assurance maladie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45720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720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classification répond à une question pratique : qui peut résoudre le problème ?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 : DE SEMACHKO À L’ASSURANCE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chemin du système roumain, en six étapes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30552"/>
            <a:ext cx="10515600" cy="36576"/>
          </a:xfrm>
          <a:prstGeom prst="rect">
            <a:avLst/>
          </a:prstGeom>
          <a:solidFill>
            <a:srgbClr val="6A6F85"/>
          </a:solidFill>
          <a:ln w="12700">
            <a:solidFill>
              <a:srgbClr val="6A6F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02536"/>
            <a:ext cx="292608" cy="29260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1933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caisses d’assurance sociale et de maladie, unifiées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606040" y="2002536"/>
            <a:ext cx="292608" cy="29260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1948–1949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46888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prestataires privés nationalisés ; modèle Semachko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80560" y="2002536"/>
            <a:ext cx="292608" cy="29260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Loi n° 145/1997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payeur, séparé du prestataire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55080" y="2002536"/>
            <a:ext cx="292608" cy="29260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1999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système d’assurance devient opérationnel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0" y="2002536"/>
            <a:ext cx="292608" cy="292608"/>
          </a:xfrm>
          <a:prstGeom prst="ellipse">
            <a:avLst/>
          </a:prstGeom>
          <a:solidFill>
            <a:srgbClr val="9B7EF7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 n° 150/2002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9244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remplace la première loi d’assurance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104120" y="2002536"/>
            <a:ext cx="292608" cy="292608"/>
          </a:xfrm>
          <a:prstGeom prst="ellipse">
            <a:avLst/>
          </a:prstGeom>
          <a:solidFill>
            <a:srgbClr val="9B7EF7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468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Loi n° 95/2006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966960" y="333756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republiée en 2015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ROUMANIE AUJOURD’HUI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Deux niveaux, mais un système très centralisé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SEULE CAISSE NATIONALE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cotisations, mises en commun au niveau central ; les caisses départementales achètent des services aux prestataires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5060" y="155448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CHOIX DU PATIENT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06654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patients choisissent librement leur prestataire, à tous les niveaux de soins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MINISTÈRE ET LES DIRECTIONS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416966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l’autorité centrale et ses services déconcentrés ; l’institut de santé publique fournit encadrement et indicateurs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5060" y="3657600"/>
            <a:ext cx="537210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QUALITÉ ET LES HÔPITAUX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4169664"/>
            <a:ext cx="49697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l’autorité pour la qualité, depuis 2015 ; les hôpitaux publics, du ministère ou des autorités locales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ROUMANIE, UN SYSTÈME HYBRIDE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 modèle a la Roumanie ? Pas de réponse en un mot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89 %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population couverte par l’assurance sociale en 2023 : le financement principal est de type Bismarck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7393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STRUCTURE DE L’OFFRE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19088" y="2157984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garde des traces du modèle Semachko : un système centralisé et centré sur l’hôpital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2519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51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bonne réponse décrit chaque dimension séparément.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 RAPIDE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RECONNAÎTRE LE MODÈLE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systèmes anonymisés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836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système d’Europe occidentale d’aujourd’hui, financé par les impôts généraux, pour toute la population, gratuit au point de soins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9809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9748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salariés et employeurs partagent les cotisations, gérées par plusieurs caisses d’assurance maladie réglementées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10972800" cy="987552"/>
          </a:xfrm>
          <a:prstGeom prst="roundRect">
            <a:avLst>
              <a:gd name="adj" fmla="val 8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782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9829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l’assurance sociale a remplacé, à la fin des années quatre-vingt-dix, le financement par le budget ; l’État possède la majorité des hôpitaux ; paiements directs élevés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chacun : Beveridge · Bismarck · Semachko · hybride post-communiste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VOTE RAPIDE · LES RÉPONSES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 : Beveridge · b : Bismarck · c : hybride post-communiste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13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1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Beveridge : impôts généraux, couverture universelle, gratuité au point de soins. Pas Semachko, modèle de la période communiste.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01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0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Bismarck : cotisations partagées entre employeur et salarié, plusieurs caisses d’assurance maladie réglementées.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388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388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9829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Hybride post-communiste : financement devenu de type Bismarck, structure avec des traces du système étatique, comme en Roumanie.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TROISIÈME ACTE · CE QUI S’EST PASSÉ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L’Hôpital A, six mois plus tard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7210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QUI A MARCHÉ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49697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infirmières de chirurgie, passées volontairement après une formation de deux semaines ; logement du conseil départemental ; deux embauches ; gardes non couvertes, de onze à deux par trimestre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00200"/>
            <a:ext cx="537210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282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QUI RESTE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228" y="2112264"/>
            <a:ext cx="496976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nouvelle infirmière est partie après quatre mois ; les patients sans médecin de famille arrivent toujours par les urgences ; le contrat n’a pas augmenté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571500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5715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 construit pour le cours ; le dénouement est plausible, non réel.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SALLE ET LE DÉNOUEMENT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la salle a raison et où elle se trompe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D’HABITUDE, RAISON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bonnes solutions du deuxième acte combinent plusieurs composantes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D’HABITUDE, À TORT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bonne décision au niveau de l’hôpital ne résout pas seule le problème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49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partie des causes se trouve dans le système : le manque de médecins de famille, le financement limité, la gouvernance fragmentée. Un comité de direction ne peut pas les changer.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PERFORMANCE DU SYSTÈME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Roumanie et l’Union européenne, en 2024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INDICATEUR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181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298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 (27)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Espérance de vie à la naissance (années)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35240" y="20116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46920" y="20116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Dépenses courantes de santé (% du PIB)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35240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46920" y="29260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Paiements directs des ménages (% des dépenses courantes de santé)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35240" y="3840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46920" y="38404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4360" y="4754880"/>
            <a:ext cx="1097280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Lits d’hôpital pour 100 000 habitants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35240" y="4754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730,7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46920" y="47548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507,4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jeux de données demo_mlexpec, hlth_sha11_hf et hlth_rs_bds1 ; année 2024.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CHIFFRES SE LISENT ENSEMBLE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Centré sur l’hôpital et sous-financé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de lits que la moyenne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dépenses très inférieures à la moyenne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164592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645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 paiements directs élevés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88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part importante du coût retombe sur le patient : des paiements directs élevés signifient une protection financière faible.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Observatoire européen : près de la moitié du financement va aux hospitalisations, les patients contournent les soins primaires, la mortalité évitable est la plus élevée de l’UE.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OMS, 2007 ; analyse du système de santé de la Roumanie (OMS Europe et Observatoire européen).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L’ANALYSE DU SYSTÈME ROUMAIN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constats, selon les composantes du cadre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centré sur l’hôpital ; soins primaires contournés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PERSONNELS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près de 200 localités sans médecin de famille, en 2024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5409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540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054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 de stratégie ni d’interopérabilité ; données de qualité seulement depuis 2022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803904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80390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dépenses les plus faibles de l’UE ; paiements directs de 21,4 % en 2022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553712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537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GOUVERNANCE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55371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planification insuffisante ; réformes fragmentées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394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paiements directs : 21,4 % dans l’analyse (2022), 22,0 % dans le tableau (2024) ; les années diffèrent.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 : OMS, 2007 ; analyse du système de santé de la Roumanie (OMS Europe et Observatoire européen).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TROISIÈME DÉCISION · LE TRANSFERT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même crise, dans un autre système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Financement par l’impôt ; hôpitaux appartenant à une autorité régionale qui les finance aussi ; adressage obligatoire par le médecin de famille. Qui peut le mieux résoudre le problème 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609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directeur de l’hôpital, seul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264408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192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644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L’autorité régionale, qui possède et finance l’hôpital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3922776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77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2277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caisse d’assurance maladie qui négocie le contrat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581144"/>
            <a:ext cx="10972800" cy="530352"/>
          </a:xfrm>
          <a:prstGeom prst="roundRect">
            <a:avLst>
              <a:gd name="adj" fmla="val 1551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36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58114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patients, en choisissant un autre hôpital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seul vote, sans second vote.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TROISIÈME DÉCISION · LE TRANSFERT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 : l’autorité qui possède et finance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Surestime le directeur : il organise l’unité, mais ne change pas le financement.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Déplace de l’argent et des personnes entre les hôpitaux, planifie le recrutement, contrôle les résultats.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Décrit un système de type Bismarck, non le système de l’énoncé.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L’adressage obligatoire par le médecin de famille limite le choix du patient.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de juger une décision de management, demandez : qui paie, qui possède et qui décide ?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RÉCAPITULATION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RÉCAPITULATION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Dix questions, dans l’ordre du cours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fonctions et les rôles du manager, le système et les six composantes, les résultats, les modèles, le chemin de la Roumanie et les chiffres du tableau.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Vrai ou faux.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LE CORRIGÉ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réponses du jeu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quatre fonctions du cours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liste de remplacement relève de la planification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régulateur des perturbations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6596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système est plus large que les services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financement, l’une des six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réactivité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8952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 composante changée touche les autres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58952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Bismarck : cotisations, non impôts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8952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Loi n° 145/1997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58952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6,2 % contre 10,2 % du PIB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QUI RESTE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deux infirmières absentes au système du pays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13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 matin, un bon chef de service organise et dirige ; dans les semaines suivantes, il planifie et contrôle.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002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00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comité de direction peut combiner personnes, argent, information et services.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787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8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Au-dessus de l’hôpital restent le manque de médecins de famille, le financement limité, les paiements directs élevés et la gouvernance fragmentée.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4738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7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classification des modèles répond à une question : qui peut résoudre le problème 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cadre des six composantes ne donne pas la solution ; il montre où la chercher.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 MATIN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que vous ferez autrement dans votre service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Quand un problème se répète, cherchez la fonction qui manque : d’habitude la planification ou le contrôle.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832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Cherchez ensuite la composante du système qui le produit.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754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3434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Quand vous proposez une solution, dites comment vous saurez qu’elle a fonctionné : un indicateur simple, suivi chaque mois.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TICKET DE SORTIE  ·  ANONYME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de partir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qui a été utile 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vous ai-je perdus 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pourriez-vous utiliser demain 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Répondez sur votre téléphone, au code affiché.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réponses courtes, sur le téléphone.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7 - Lundi, 07:45 : un service sans infirmières</dc:title>
  <dc:subject>PptxGenJS Presentation</dc:subject>
  <dc:creator>Conf. Univ. Dr. Adrian Pana</dc:creator>
  <cp:lastModifiedBy>Conf. Univ. Dr. Adrian Pana</cp:lastModifiedBy>
  <cp:revision>1</cp:revision>
  <dcterms:created xsi:type="dcterms:W3CDTF">2026-10-24T13:47:27Z</dcterms:created>
  <dcterms:modified xsi:type="dcterms:W3CDTF">2026-10-24T13:47:27Z</dcterms:modified>
  <cp:keywords>sursa_amprenta=bf93e23576706d0e; proiectie</cp:keywords>
</cp:coreProperties>
</file>