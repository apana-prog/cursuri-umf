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60350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40080" y="77724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COURS 3  ·  SANTÉ PUBLIQUE ET MANAGEMENT</a:t>
            </a:r>
            <a:endParaRPr lang="en-US" sz="1300" dirty="0"/>
          </a:p>
        </p:txBody>
      </p:sp>
      <p:sp>
        <p:nvSpPr>
          <p:cNvPr id="4" name="Text 2"/>
          <p:cNvSpPr/>
          <p:nvPr/>
        </p:nvSpPr>
        <p:spPr>
          <a:xfrm>
            <a:off x="640080" y="1463040"/>
            <a:ext cx="10789920" cy="173736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Où sont passés quatre millions de personnes ?</a:t>
            </a:r>
            <a:endParaRPr lang="en-US" sz="4600" dirty="0"/>
          </a:p>
        </p:txBody>
      </p:sp>
      <p:sp>
        <p:nvSpPr>
          <p:cNvPr id="5" name="Text 3"/>
          <p:cNvSpPr/>
          <p:nvPr/>
        </p:nvSpPr>
        <p:spPr>
          <a:xfrm>
            <a:off x="640080" y="3383280"/>
            <a:ext cx="10424160" cy="100584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Transition démographique et épidémiologique. Profil démographique de la Roumanie. Santé maternelle et infantile</a:t>
            </a:r>
            <a:endParaRPr lang="en-US" sz="2400" dirty="0"/>
          </a:p>
        </p:txBody>
      </p:sp>
      <p:sp>
        <p:nvSpPr>
          <p:cNvPr id="6" name="Shape 4"/>
          <p:cNvSpPr/>
          <p:nvPr/>
        </p:nvSpPr>
        <p:spPr>
          <a:xfrm>
            <a:off x="667512" y="4617720"/>
            <a:ext cx="1280160" cy="27432"/>
          </a:xfrm>
          <a:prstGeom prst="rect">
            <a:avLst/>
          </a:prstGeom>
          <a:solidFill>
            <a:srgbClr val="FF4757"/>
          </a:solidFill>
          <a:ln w="12700">
            <a:solidFill>
              <a:srgbClr val="FF4757"/>
            </a:solidFill>
            <a:prstDash val="solid"/>
          </a:ln>
        </p:spPr>
      </p:sp>
      <p:sp>
        <p:nvSpPr>
          <p:cNvPr id="7" name="Text 5"/>
          <p:cNvSpPr/>
          <p:nvPr/>
        </p:nvSpPr>
        <p:spPr>
          <a:xfrm>
            <a:off x="640080" y="4800600"/>
            <a:ext cx="10515600" cy="73152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Trois questions : comment évoluent les naissances et les décès, comment évoluent les maladies, ce que ces changements signifient pour les mères et les enfants</a:t>
            </a:r>
            <a:endParaRPr lang="en-US" sz="1600" dirty="0"/>
          </a:p>
        </p:txBody>
      </p:sp>
      <p:sp>
        <p:nvSpPr>
          <p:cNvPr id="8" name="Text 6"/>
          <p:cNvSpPr/>
          <p:nvPr/>
        </p:nvSpPr>
        <p:spPr>
          <a:xfrm>
            <a:off x="640080" y="5669280"/>
            <a:ext cx="1051560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UMF Cluj-Napoca · Médecine, 6e année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AVANT TOUT CHIFFRE</a:t>
            </a:r>
            <a:endParaRPr lang="en-US" sz="1300" dirty="0"/>
          </a:p>
        </p:txBody>
      </p:sp>
      <p:sp>
        <p:nvSpPr>
          <p:cNvPr id="5" name="Text 3"/>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Combien d’habitants compte la Roumanie ?</a:t>
            </a:r>
            <a:endParaRPr lang="en-US" sz="3400" dirty="0"/>
          </a:p>
        </p:txBody>
      </p:sp>
      <p:sp>
        <p:nvSpPr>
          <p:cNvPr id="6" name="Shape 4"/>
          <p:cNvSpPr/>
          <p:nvPr/>
        </p:nvSpPr>
        <p:spPr>
          <a:xfrm>
            <a:off x="594360" y="2011680"/>
            <a:ext cx="3520440" cy="2743200"/>
          </a:xfrm>
          <a:prstGeom prst="roundRect">
            <a:avLst>
              <a:gd name="adj" fmla="val 3000"/>
            </a:avLst>
          </a:prstGeom>
          <a:solidFill>
            <a:srgbClr val="1D1F2B"/>
          </a:solidFill>
          <a:ln w="12700">
            <a:solidFill>
              <a:srgbClr val="1D1F2B"/>
            </a:solidFill>
            <a:prstDash val="solid"/>
          </a:ln>
        </p:spPr>
      </p:sp>
      <p:sp>
        <p:nvSpPr>
          <p:cNvPr id="7" name="Text 5"/>
          <p:cNvSpPr/>
          <p:nvPr/>
        </p:nvSpPr>
        <p:spPr>
          <a:xfrm>
            <a:off x="914400" y="2240280"/>
            <a:ext cx="2926080" cy="822960"/>
          </a:xfrm>
          <a:prstGeom prst="rect">
            <a:avLst/>
          </a:prstGeom>
          <a:noFill/>
          <a:ln/>
        </p:spPr>
        <p:txBody>
          <a:bodyPr wrap="square" lIns="0" tIns="0" rIns="0" bIns="0" rtlCol="0" anchor="t"/>
          <a:lstStyle/>
          <a:p>
            <a:pPr indent="0" marL="0">
              <a:buNone/>
            </a:pPr>
            <a:r>
              <a:rPr lang="en-US" sz="2700" b="1" dirty="0">
                <a:solidFill>
                  <a:srgbClr val="FF4757"/>
                </a:solidFill>
                <a:latin typeface="Palatino Linotype" pitchFamily="34" charset="0"/>
                <a:ea typeface="Palatino Linotype" pitchFamily="34" charset="-122"/>
                <a:cs typeface="Palatino Linotype" pitchFamily="34" charset="-120"/>
              </a:rPr>
              <a:t>1990</a:t>
            </a:r>
            <a:endParaRPr lang="en-US" sz="2700" dirty="0"/>
          </a:p>
        </p:txBody>
      </p:sp>
      <p:sp>
        <p:nvSpPr>
          <p:cNvPr id="8" name="Text 6"/>
          <p:cNvSpPr/>
          <p:nvPr/>
        </p:nvSpPr>
        <p:spPr>
          <a:xfrm>
            <a:off x="914400" y="3200400"/>
            <a:ext cx="292608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Combien d’habitants comptait la Roumanie en 1990 ?</a:t>
            </a:r>
            <a:endParaRPr lang="en-US" sz="1900" dirty="0"/>
          </a:p>
        </p:txBody>
      </p:sp>
      <p:sp>
        <p:nvSpPr>
          <p:cNvPr id="9" name="Text 7"/>
          <p:cNvSpPr/>
          <p:nvPr/>
        </p:nvSpPr>
        <p:spPr>
          <a:xfrm>
            <a:off x="914400" y="4297680"/>
            <a:ext cx="2926080" cy="32004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en millions</a:t>
            </a:r>
            <a:endParaRPr lang="en-US" sz="1300" dirty="0"/>
          </a:p>
        </p:txBody>
      </p:sp>
      <p:sp>
        <p:nvSpPr>
          <p:cNvPr id="10" name="Shape 8"/>
          <p:cNvSpPr/>
          <p:nvPr/>
        </p:nvSpPr>
        <p:spPr>
          <a:xfrm>
            <a:off x="4389120" y="2011680"/>
            <a:ext cx="3520440" cy="2743200"/>
          </a:xfrm>
          <a:prstGeom prst="roundRect">
            <a:avLst>
              <a:gd name="adj" fmla="val 3000"/>
            </a:avLst>
          </a:prstGeom>
          <a:solidFill>
            <a:srgbClr val="1D1F2B"/>
          </a:solidFill>
          <a:ln w="12700">
            <a:solidFill>
              <a:srgbClr val="1D1F2B"/>
            </a:solidFill>
            <a:prstDash val="solid"/>
          </a:ln>
        </p:spPr>
      </p:sp>
      <p:sp>
        <p:nvSpPr>
          <p:cNvPr id="11" name="Text 9"/>
          <p:cNvSpPr/>
          <p:nvPr/>
        </p:nvSpPr>
        <p:spPr>
          <a:xfrm>
            <a:off x="4709160" y="2240280"/>
            <a:ext cx="2926080" cy="822960"/>
          </a:xfrm>
          <a:prstGeom prst="rect">
            <a:avLst/>
          </a:prstGeom>
          <a:noFill/>
          <a:ln/>
        </p:spPr>
        <p:txBody>
          <a:bodyPr wrap="square" lIns="0" tIns="0" rIns="0" bIns="0" rtlCol="0" anchor="t"/>
          <a:lstStyle/>
          <a:p>
            <a:pPr indent="0" marL="0">
              <a:buNone/>
            </a:pPr>
            <a:r>
              <a:rPr lang="en-US" sz="2700" b="1" dirty="0">
                <a:solidFill>
                  <a:srgbClr val="27D3BE"/>
                </a:solidFill>
                <a:latin typeface="Palatino Linotype" pitchFamily="34" charset="0"/>
                <a:ea typeface="Palatino Linotype" pitchFamily="34" charset="-122"/>
                <a:cs typeface="Palatino Linotype" pitchFamily="34" charset="-120"/>
              </a:rPr>
              <a:t>AUJOURD’HUI</a:t>
            </a:r>
            <a:endParaRPr lang="en-US" sz="2700" dirty="0"/>
          </a:p>
        </p:txBody>
      </p:sp>
      <p:sp>
        <p:nvSpPr>
          <p:cNvPr id="12" name="Text 10"/>
          <p:cNvSpPr/>
          <p:nvPr/>
        </p:nvSpPr>
        <p:spPr>
          <a:xfrm>
            <a:off x="4709160" y="3200400"/>
            <a:ext cx="292608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Combien d’habitants compte la Roumanie aujourd’hui ?</a:t>
            </a:r>
            <a:endParaRPr lang="en-US" sz="1900" dirty="0"/>
          </a:p>
        </p:txBody>
      </p:sp>
      <p:sp>
        <p:nvSpPr>
          <p:cNvPr id="13" name="Text 11"/>
          <p:cNvSpPr/>
          <p:nvPr/>
        </p:nvSpPr>
        <p:spPr>
          <a:xfrm>
            <a:off x="4709160" y="4297680"/>
            <a:ext cx="2926080" cy="32004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en millions</a:t>
            </a:r>
            <a:endParaRPr lang="en-US" sz="1300" dirty="0"/>
          </a:p>
        </p:txBody>
      </p:sp>
      <p:sp>
        <p:nvSpPr>
          <p:cNvPr id="14" name="Shape 12"/>
          <p:cNvSpPr/>
          <p:nvPr/>
        </p:nvSpPr>
        <p:spPr>
          <a:xfrm>
            <a:off x="8183880" y="2011680"/>
            <a:ext cx="3520440" cy="2743200"/>
          </a:xfrm>
          <a:prstGeom prst="roundRect">
            <a:avLst>
              <a:gd name="adj" fmla="val 3000"/>
            </a:avLst>
          </a:prstGeom>
          <a:solidFill>
            <a:srgbClr val="1D1F2B"/>
          </a:solidFill>
          <a:ln w="12700">
            <a:solidFill>
              <a:srgbClr val="1D1F2B"/>
            </a:solidFill>
            <a:prstDash val="solid"/>
          </a:ln>
        </p:spPr>
      </p:sp>
      <p:sp>
        <p:nvSpPr>
          <p:cNvPr id="15" name="Text 13"/>
          <p:cNvSpPr/>
          <p:nvPr/>
        </p:nvSpPr>
        <p:spPr>
          <a:xfrm>
            <a:off x="8503920" y="2240280"/>
            <a:ext cx="2926080" cy="822960"/>
          </a:xfrm>
          <a:prstGeom prst="rect">
            <a:avLst/>
          </a:prstGeom>
          <a:noFill/>
          <a:ln/>
        </p:spPr>
        <p:txBody>
          <a:bodyPr wrap="square" lIns="0" tIns="0" rIns="0" bIns="0" rtlCol="0" anchor="t"/>
          <a:lstStyle/>
          <a:p>
            <a:pPr indent="0" marL="0">
              <a:buNone/>
            </a:pPr>
            <a:r>
              <a:rPr lang="en-US" sz="2700" b="1" dirty="0">
                <a:solidFill>
                  <a:srgbClr val="FFC24B"/>
                </a:solidFill>
                <a:latin typeface="Palatino Linotype" pitchFamily="34" charset="0"/>
                <a:ea typeface="Palatino Linotype" pitchFamily="34" charset="-122"/>
                <a:cs typeface="Palatino Linotype" pitchFamily="34" charset="-120"/>
              </a:rPr>
              <a:t>2050</a:t>
            </a:r>
            <a:endParaRPr lang="en-US" sz="2700" dirty="0"/>
          </a:p>
        </p:txBody>
      </p:sp>
      <p:sp>
        <p:nvSpPr>
          <p:cNvPr id="16" name="Text 14"/>
          <p:cNvSpPr/>
          <p:nvPr/>
        </p:nvSpPr>
        <p:spPr>
          <a:xfrm>
            <a:off x="8503920" y="3200400"/>
            <a:ext cx="292608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Combien en comptera-t-elle au milieu du siècle ?</a:t>
            </a:r>
            <a:endParaRPr lang="en-US" sz="1900" dirty="0"/>
          </a:p>
        </p:txBody>
      </p:sp>
      <p:sp>
        <p:nvSpPr>
          <p:cNvPr id="17" name="Text 15"/>
          <p:cNvSpPr/>
          <p:nvPr/>
        </p:nvSpPr>
        <p:spPr>
          <a:xfrm>
            <a:off x="8503920" y="4297680"/>
            <a:ext cx="2926080" cy="32004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en millions</a:t>
            </a:r>
            <a:endParaRPr lang="en-US" sz="1300" dirty="0"/>
          </a:p>
        </p:txBody>
      </p:sp>
      <p:sp>
        <p:nvSpPr>
          <p:cNvPr id="18" name="Text 16"/>
          <p:cNvSpPr/>
          <p:nvPr/>
        </p:nvSpPr>
        <p:spPr>
          <a:xfrm>
            <a:off x="594360" y="521208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Estimez, sans chercher. Répondez sur votre téléphone, au code affiché.</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QUESTION DU TITRE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La réponse : deux causes qui s’additionnent</a:t>
            </a:r>
            <a:endParaRPr lang="en-US" sz="3400" dirty="0"/>
          </a:p>
        </p:txBody>
      </p:sp>
      <p:sp>
        <p:nvSpPr>
          <p:cNvPr id="4" name="Shape 2"/>
          <p:cNvSpPr/>
          <p:nvPr/>
        </p:nvSpPr>
        <p:spPr>
          <a:xfrm>
            <a:off x="594360" y="1783080"/>
            <a:ext cx="5303520" cy="1783080"/>
          </a:xfrm>
          <a:prstGeom prst="roundRect">
            <a:avLst>
              <a:gd name="adj" fmla="val 4615"/>
            </a:avLst>
          </a:prstGeom>
          <a:solidFill>
            <a:srgbClr val="1D1F2B"/>
          </a:solidFill>
          <a:ln w="12700">
            <a:solidFill>
              <a:srgbClr val="1D1F2B"/>
            </a:solidFill>
            <a:prstDash val="solid"/>
          </a:ln>
        </p:spPr>
      </p:sp>
      <p:sp>
        <p:nvSpPr>
          <p:cNvPr id="5" name="Text 3"/>
          <p:cNvSpPr/>
          <p:nvPr/>
        </p:nvSpPr>
        <p:spPr>
          <a:xfrm>
            <a:off x="960120" y="1920240"/>
            <a:ext cx="4572000" cy="36576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1ER JANVIER 1990</a:t>
            </a:r>
            <a:endParaRPr lang="en-US" sz="1300" dirty="0"/>
          </a:p>
        </p:txBody>
      </p:sp>
      <p:sp>
        <p:nvSpPr>
          <p:cNvPr id="6" name="Text 4"/>
          <p:cNvSpPr/>
          <p:nvPr/>
        </p:nvSpPr>
        <p:spPr>
          <a:xfrm>
            <a:off x="960120" y="2331720"/>
            <a:ext cx="4572000" cy="1097280"/>
          </a:xfrm>
          <a:prstGeom prst="rect">
            <a:avLst/>
          </a:prstGeom>
          <a:noFill/>
          <a:ln/>
        </p:spPr>
        <p:txBody>
          <a:bodyPr wrap="square" lIns="0" tIns="0" rIns="0" bIns="0" rtlCol="0" anchor="ctr"/>
          <a:lstStyle/>
          <a:p>
            <a:pPr indent="0" marL="0">
              <a:buNone/>
            </a:pPr>
            <a:r>
              <a:rPr lang="en-US" sz="5400" b="1" dirty="0">
                <a:solidFill>
                  <a:srgbClr val="FFFFFF"/>
                </a:solidFill>
                <a:latin typeface="Palatino Linotype" pitchFamily="34" charset="0"/>
                <a:ea typeface="Palatino Linotype" pitchFamily="34" charset="-122"/>
                <a:cs typeface="Palatino Linotype" pitchFamily="34" charset="-120"/>
              </a:rPr>
              <a:t>23 211 395</a:t>
            </a:r>
            <a:endParaRPr lang="en-US" sz="5400" dirty="0"/>
          </a:p>
        </p:txBody>
      </p:sp>
      <p:sp>
        <p:nvSpPr>
          <p:cNvPr id="7" name="Shape 5"/>
          <p:cNvSpPr/>
          <p:nvPr/>
        </p:nvSpPr>
        <p:spPr>
          <a:xfrm>
            <a:off x="6263640" y="1783080"/>
            <a:ext cx="5303520" cy="1783080"/>
          </a:xfrm>
          <a:prstGeom prst="roundRect">
            <a:avLst>
              <a:gd name="adj" fmla="val 4615"/>
            </a:avLst>
          </a:prstGeom>
          <a:solidFill>
            <a:srgbClr val="1D1F2B"/>
          </a:solidFill>
          <a:ln w="12700">
            <a:solidFill>
              <a:srgbClr val="1D1F2B"/>
            </a:solidFill>
            <a:prstDash val="solid"/>
          </a:ln>
        </p:spPr>
      </p:sp>
      <p:sp>
        <p:nvSpPr>
          <p:cNvPr id="8" name="Text 6"/>
          <p:cNvSpPr/>
          <p:nvPr/>
        </p:nvSpPr>
        <p:spPr>
          <a:xfrm>
            <a:off x="6629400" y="1920240"/>
            <a:ext cx="4572000" cy="36576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1ER JANVIER 2026 (ESTIMATION)</a:t>
            </a:r>
            <a:endParaRPr lang="en-US" sz="1300" dirty="0"/>
          </a:p>
        </p:txBody>
      </p:sp>
      <p:sp>
        <p:nvSpPr>
          <p:cNvPr id="9" name="Text 7"/>
          <p:cNvSpPr/>
          <p:nvPr/>
        </p:nvSpPr>
        <p:spPr>
          <a:xfrm>
            <a:off x="6629400" y="2331720"/>
            <a:ext cx="4572000" cy="1097280"/>
          </a:xfrm>
          <a:prstGeom prst="rect">
            <a:avLst/>
          </a:prstGeom>
          <a:noFill/>
          <a:ln/>
        </p:spPr>
        <p:txBody>
          <a:bodyPr wrap="square" lIns="0" tIns="0" rIns="0" bIns="0" rtlCol="0" anchor="ctr"/>
          <a:lstStyle/>
          <a:p>
            <a:pPr indent="0" marL="0">
              <a:buNone/>
            </a:pPr>
            <a:r>
              <a:rPr lang="en-US" sz="5400" b="1" dirty="0">
                <a:solidFill>
                  <a:srgbClr val="FFFFFF"/>
                </a:solidFill>
                <a:latin typeface="Palatino Linotype" pitchFamily="34" charset="0"/>
                <a:ea typeface="Palatino Linotype" pitchFamily="34" charset="-122"/>
                <a:cs typeface="Palatino Linotype" pitchFamily="34" charset="-120"/>
              </a:rPr>
              <a:t>19 041 322</a:t>
            </a:r>
            <a:endParaRPr lang="en-US" sz="5400" dirty="0"/>
          </a:p>
        </p:txBody>
      </p:sp>
      <p:sp>
        <p:nvSpPr>
          <p:cNvPr id="10" name="Shape 8"/>
          <p:cNvSpPr/>
          <p:nvPr/>
        </p:nvSpPr>
        <p:spPr>
          <a:xfrm>
            <a:off x="5760720" y="2514600"/>
            <a:ext cx="457200" cy="329184"/>
          </a:xfrm>
          <a:prstGeom prst="rightArrow">
            <a:avLst/>
          </a:prstGeom>
          <a:solidFill>
            <a:srgbClr val="FFC24B"/>
          </a:solidFill>
          <a:ln w="12700">
            <a:solidFill>
              <a:srgbClr val="FFC24B"/>
            </a:solidFill>
            <a:prstDash val="solid"/>
          </a:ln>
        </p:spPr>
      </p:sp>
      <p:sp>
        <p:nvSpPr>
          <p:cNvPr id="11" name="Text 9"/>
          <p:cNvSpPr/>
          <p:nvPr/>
        </p:nvSpPr>
        <p:spPr>
          <a:xfrm>
            <a:off x="594360" y="3749040"/>
            <a:ext cx="10972800" cy="548640"/>
          </a:xfrm>
          <a:prstGeom prst="rect">
            <a:avLst/>
          </a:prstGeom>
          <a:noFill/>
          <a:ln/>
        </p:spPr>
        <p:txBody>
          <a:bodyPr wrap="square" lIns="0" tIns="0" rIns="0" bIns="0" rtlCol="0" anchor="t"/>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La différence : 4 170 073 personnes, soit environ 4,2 millions</a:t>
            </a:r>
            <a:endParaRPr lang="en-US" sz="2400" dirty="0"/>
          </a:p>
        </p:txBody>
      </p:sp>
      <p:sp>
        <p:nvSpPr>
          <p:cNvPr id="12" name="Shape 10"/>
          <p:cNvSpPr/>
          <p:nvPr/>
        </p:nvSpPr>
        <p:spPr>
          <a:xfrm>
            <a:off x="594360" y="4480560"/>
            <a:ext cx="5349240" cy="1463040"/>
          </a:xfrm>
          <a:prstGeom prst="roundRect">
            <a:avLst>
              <a:gd name="adj" fmla="val 5625"/>
            </a:avLst>
          </a:prstGeom>
          <a:solidFill>
            <a:srgbClr val="272A38"/>
          </a:solidFill>
          <a:ln w="12700">
            <a:solidFill>
              <a:srgbClr val="272A38"/>
            </a:solidFill>
            <a:prstDash val="solid"/>
          </a:ln>
        </p:spPr>
      </p:sp>
      <p:sp>
        <p:nvSpPr>
          <p:cNvPr id="13" name="Shape 11"/>
          <p:cNvSpPr/>
          <p:nvPr/>
        </p:nvSpPr>
        <p:spPr>
          <a:xfrm>
            <a:off x="868680" y="4800600"/>
            <a:ext cx="420624" cy="420624"/>
          </a:xfrm>
          <a:prstGeom prst="ellipse">
            <a:avLst/>
          </a:prstGeom>
          <a:solidFill>
            <a:srgbClr val="FF4757"/>
          </a:solidFill>
          <a:ln/>
        </p:spPr>
      </p:sp>
      <p:sp>
        <p:nvSpPr>
          <p:cNvPr id="14" name="Text 12"/>
          <p:cNvSpPr/>
          <p:nvPr/>
        </p:nvSpPr>
        <p:spPr>
          <a:xfrm>
            <a:off x="868680" y="4800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5" name="Text 13"/>
          <p:cNvSpPr/>
          <p:nvPr/>
        </p:nvSpPr>
        <p:spPr>
          <a:xfrm>
            <a:off x="1508760" y="4572000"/>
            <a:ext cx="4206240" cy="411480"/>
          </a:xfrm>
          <a:prstGeom prst="rect">
            <a:avLst/>
          </a:prstGeom>
          <a:noFill/>
          <a:ln/>
        </p:spPr>
        <p:txBody>
          <a:bodyPr wrap="square" lIns="0" tIns="0" rIns="0" bIns="0" rtlCol="0" anchor="t"/>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L’accroissement naturel</a:t>
            </a:r>
            <a:endParaRPr lang="en-US" sz="1800" dirty="0"/>
          </a:p>
        </p:txBody>
      </p:sp>
      <p:sp>
        <p:nvSpPr>
          <p:cNvPr id="16" name="Text 14"/>
          <p:cNvSpPr/>
          <p:nvPr/>
        </p:nvSpPr>
        <p:spPr>
          <a:xfrm>
            <a:off x="1508760" y="4983480"/>
            <a:ext cx="4206240" cy="8686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Depuis 1992, il meurt plus de personnes qu’il n’en naît.</a:t>
            </a:r>
            <a:endParaRPr lang="en-US" sz="1800" dirty="0"/>
          </a:p>
        </p:txBody>
      </p:sp>
      <p:sp>
        <p:nvSpPr>
          <p:cNvPr id="17" name="Shape 15"/>
          <p:cNvSpPr/>
          <p:nvPr/>
        </p:nvSpPr>
        <p:spPr>
          <a:xfrm>
            <a:off x="6217920" y="4480560"/>
            <a:ext cx="5349240" cy="1463040"/>
          </a:xfrm>
          <a:prstGeom prst="roundRect">
            <a:avLst>
              <a:gd name="adj" fmla="val 5625"/>
            </a:avLst>
          </a:prstGeom>
          <a:solidFill>
            <a:srgbClr val="272A38"/>
          </a:solidFill>
          <a:ln w="12700">
            <a:solidFill>
              <a:srgbClr val="272A38"/>
            </a:solidFill>
            <a:prstDash val="solid"/>
          </a:ln>
        </p:spPr>
      </p:sp>
      <p:sp>
        <p:nvSpPr>
          <p:cNvPr id="18" name="Shape 16"/>
          <p:cNvSpPr/>
          <p:nvPr/>
        </p:nvSpPr>
        <p:spPr>
          <a:xfrm>
            <a:off x="6492240" y="4800600"/>
            <a:ext cx="420624" cy="420624"/>
          </a:xfrm>
          <a:prstGeom prst="ellipse">
            <a:avLst/>
          </a:prstGeom>
          <a:solidFill>
            <a:srgbClr val="27D3BE"/>
          </a:solidFill>
          <a:ln/>
        </p:spPr>
      </p:sp>
      <p:sp>
        <p:nvSpPr>
          <p:cNvPr id="19" name="Text 17"/>
          <p:cNvSpPr/>
          <p:nvPr/>
        </p:nvSpPr>
        <p:spPr>
          <a:xfrm>
            <a:off x="6492240" y="4800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20" name="Text 18"/>
          <p:cNvSpPr/>
          <p:nvPr/>
        </p:nvSpPr>
        <p:spPr>
          <a:xfrm>
            <a:off x="7132320" y="4572000"/>
            <a:ext cx="4206240" cy="4114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La migration</a:t>
            </a:r>
            <a:endParaRPr lang="en-US" sz="1800" dirty="0"/>
          </a:p>
        </p:txBody>
      </p:sp>
      <p:sp>
        <p:nvSpPr>
          <p:cNvPr id="21" name="Text 19"/>
          <p:cNvSpPr/>
          <p:nvPr/>
        </p:nvSpPr>
        <p:spPr>
          <a:xfrm>
            <a:off x="7132320" y="4983480"/>
            <a:ext cx="4206240" cy="8686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Pendant trois décennies, les départs ont été plus nombreux que les arrivées.</a:t>
            </a:r>
            <a:endParaRPr lang="en-US" sz="1800" dirty="0"/>
          </a:p>
        </p:txBody>
      </p:sp>
      <p:sp>
        <p:nvSpPr>
          <p:cNvPr id="22" name="Text 2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population au 1er janvier.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BINÔMES · 3 MINUTES</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AVANT TOUT CONCEPT, UN CAS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Qu’est-ce qui change dans votre liste de patients ?</a:t>
            </a:r>
            <a:endParaRPr lang="en-US" sz="3200" dirty="0"/>
          </a:p>
        </p:txBody>
      </p:sp>
      <p:sp>
        <p:nvSpPr>
          <p:cNvPr id="6" name="Shape 4"/>
          <p:cNvSpPr/>
          <p:nvPr/>
        </p:nvSpPr>
        <p:spPr>
          <a:xfrm>
            <a:off x="594360" y="1920240"/>
            <a:ext cx="10972800" cy="1828800"/>
          </a:xfrm>
          <a:prstGeom prst="roundRect">
            <a:avLst>
              <a:gd name="adj" fmla="val 4500"/>
            </a:avLst>
          </a:prstGeom>
          <a:solidFill>
            <a:srgbClr val="1D1F2B"/>
          </a:solidFill>
          <a:ln w="12700">
            <a:solidFill>
              <a:srgbClr val="1D1F2B"/>
            </a:solidFill>
            <a:prstDash val="solid"/>
          </a:ln>
        </p:spPr>
      </p:sp>
      <p:sp>
        <p:nvSpPr>
          <p:cNvPr id="7" name="Text 5"/>
          <p:cNvSpPr/>
          <p:nvPr/>
        </p:nvSpPr>
        <p:spPr>
          <a:xfrm>
            <a:off x="914400" y="1920240"/>
            <a:ext cx="10332720" cy="182880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Vous êtes médecin de famille dans une commune rurale où, depuis dix ans, il naît de moins en moins d’enfants, et où une partie des jeunes travaille à l’étranger.</a:t>
            </a:r>
            <a:endParaRPr lang="en-US" sz="2200" dirty="0"/>
          </a:p>
        </p:txBody>
      </p:sp>
      <p:sp>
        <p:nvSpPr>
          <p:cNvPr id="8" name="Shape 6"/>
          <p:cNvSpPr/>
          <p:nvPr/>
        </p:nvSpPr>
        <p:spPr>
          <a:xfrm>
            <a:off x="594360" y="4023360"/>
            <a:ext cx="10972800" cy="1463040"/>
          </a:xfrm>
          <a:prstGeom prst="roundRect">
            <a:avLst>
              <a:gd name="adj" fmla="val 5625"/>
            </a:avLst>
          </a:prstGeom>
          <a:solidFill>
            <a:srgbClr val="272A38"/>
          </a:solidFill>
          <a:ln w="12700">
            <a:solidFill>
              <a:srgbClr val="272A38"/>
            </a:solidFill>
            <a:prstDash val="solid"/>
          </a:ln>
        </p:spPr>
      </p:sp>
      <p:sp>
        <p:nvSpPr>
          <p:cNvPr id="9" name="Text 7"/>
          <p:cNvSpPr/>
          <p:nvPr/>
        </p:nvSpPr>
        <p:spPr>
          <a:xfrm>
            <a:off x="914400" y="4023360"/>
            <a:ext cx="10332720" cy="1463040"/>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Notez trois changements que vous attendez dans dix ans et une mesure que vous pouvez prendre dès maintenant.</a:t>
            </a:r>
            <a:endParaRPr lang="en-US" sz="2200" dirty="0"/>
          </a:p>
        </p:txBody>
      </p:sp>
      <p:sp>
        <p:nvSpPr>
          <p:cNvPr id="10" name="Text 8"/>
          <p:cNvSpPr/>
          <p:nvPr/>
        </p:nvSpPr>
        <p:spPr>
          <a:xfrm>
            <a:off x="594360" y="5577840"/>
            <a:ext cx="10972800" cy="54864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Trois minutes en binômes, puis deux réponses en salle. La liste est conservée : les concepts qui suivent expliquent pourquoi les patients changent.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NOUVEAU TERME 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La transition démographique : quatre étapes</a:t>
            </a:r>
            <a:endParaRPr lang="en-US" sz="3200" dirty="0"/>
          </a:p>
        </p:txBody>
      </p:sp>
      <p:sp>
        <p:nvSpPr>
          <p:cNvPr id="4" name="Text 2"/>
          <p:cNvSpPr/>
          <p:nvPr/>
        </p:nvSpPr>
        <p:spPr>
          <a:xfrm>
            <a:off x="594360" y="1600200"/>
            <a:ext cx="10972800" cy="50292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Le passage de beaucoup de naissances et beaucoup de décès à peu de naissances et peu de décès.</a:t>
            </a:r>
            <a:endParaRPr lang="en-US" sz="1900" dirty="0"/>
          </a:p>
        </p:txBody>
      </p:sp>
      <p:sp>
        <p:nvSpPr>
          <p:cNvPr id="5" name="Shape 3"/>
          <p:cNvSpPr/>
          <p:nvPr/>
        </p:nvSpPr>
        <p:spPr>
          <a:xfrm>
            <a:off x="594360" y="2286000"/>
            <a:ext cx="2651760" cy="3657600"/>
          </a:xfrm>
          <a:prstGeom prst="roundRect">
            <a:avLst>
              <a:gd name="adj" fmla="val 3103"/>
            </a:avLst>
          </a:prstGeom>
          <a:solidFill>
            <a:srgbClr val="ECEAE4"/>
          </a:solidFill>
          <a:ln w="12700">
            <a:solidFill>
              <a:srgbClr val="ECEAE4"/>
            </a:solidFill>
            <a:prstDash val="solid"/>
          </a:ln>
        </p:spPr>
      </p:sp>
      <p:sp>
        <p:nvSpPr>
          <p:cNvPr id="6" name="Shape 4"/>
          <p:cNvSpPr/>
          <p:nvPr/>
        </p:nvSpPr>
        <p:spPr>
          <a:xfrm>
            <a:off x="822960" y="2423160"/>
            <a:ext cx="420624" cy="420624"/>
          </a:xfrm>
          <a:prstGeom prst="ellipse">
            <a:avLst/>
          </a:prstGeom>
          <a:solidFill>
            <a:srgbClr val="FFC24B"/>
          </a:solidFill>
          <a:ln/>
        </p:spPr>
      </p:sp>
      <p:sp>
        <p:nvSpPr>
          <p:cNvPr id="7" name="Text 5"/>
          <p:cNvSpPr/>
          <p:nvPr/>
        </p:nvSpPr>
        <p:spPr>
          <a:xfrm>
            <a:off x="822960" y="2423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Shape 6"/>
          <p:cNvSpPr/>
          <p:nvPr/>
        </p:nvSpPr>
        <p:spPr>
          <a:xfrm>
            <a:off x="1463040" y="2194560"/>
            <a:ext cx="457200" cy="1645920"/>
          </a:xfrm>
          <a:prstGeom prst="rect">
            <a:avLst/>
          </a:prstGeom>
          <a:solidFill>
            <a:srgbClr val="FF4757"/>
          </a:solidFill>
          <a:ln w="12700">
            <a:solidFill>
              <a:srgbClr val="FF4757"/>
            </a:solidFill>
            <a:prstDash val="solid"/>
          </a:ln>
        </p:spPr>
      </p:sp>
      <p:sp>
        <p:nvSpPr>
          <p:cNvPr id="9" name="Shape 7"/>
          <p:cNvSpPr/>
          <p:nvPr/>
        </p:nvSpPr>
        <p:spPr>
          <a:xfrm>
            <a:off x="2103120" y="2194560"/>
            <a:ext cx="457200" cy="1645920"/>
          </a:xfrm>
          <a:prstGeom prst="rect">
            <a:avLst/>
          </a:prstGeom>
          <a:solidFill>
            <a:srgbClr val="11121A"/>
          </a:solidFill>
          <a:ln w="12700">
            <a:solidFill>
              <a:srgbClr val="11121A"/>
            </a:solidFill>
            <a:prstDash val="solid"/>
          </a:ln>
        </p:spPr>
      </p:sp>
      <p:sp>
        <p:nvSpPr>
          <p:cNvPr id="10" name="Shape 8"/>
          <p:cNvSpPr/>
          <p:nvPr/>
        </p:nvSpPr>
        <p:spPr>
          <a:xfrm>
            <a:off x="1325880" y="3840480"/>
            <a:ext cx="1371600" cy="18288"/>
          </a:xfrm>
          <a:prstGeom prst="rect">
            <a:avLst/>
          </a:prstGeom>
          <a:solidFill>
            <a:srgbClr val="6A6F85"/>
          </a:solidFill>
          <a:ln w="12700">
            <a:solidFill>
              <a:srgbClr val="6A6F85"/>
            </a:solidFill>
            <a:prstDash val="solid"/>
          </a:ln>
        </p:spPr>
      </p:sp>
      <p:sp>
        <p:nvSpPr>
          <p:cNvPr id="11" name="Text 9"/>
          <p:cNvSpPr/>
          <p:nvPr/>
        </p:nvSpPr>
        <p:spPr>
          <a:xfrm>
            <a:off x="822960" y="4023360"/>
            <a:ext cx="219456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toutes deux élevées</a:t>
            </a:r>
            <a:endParaRPr lang="en-US" sz="1500" dirty="0"/>
          </a:p>
        </p:txBody>
      </p:sp>
      <p:sp>
        <p:nvSpPr>
          <p:cNvPr id="12" name="Text 10"/>
          <p:cNvSpPr/>
          <p:nvPr/>
        </p:nvSpPr>
        <p:spPr>
          <a:xfrm>
            <a:off x="822960" y="4526280"/>
            <a:ext cx="2194560" cy="13258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la mortalité fluctue au gré des épidémies et des famines</a:t>
            </a:r>
            <a:endParaRPr lang="en-US" sz="1400" dirty="0"/>
          </a:p>
        </p:txBody>
      </p:sp>
      <p:sp>
        <p:nvSpPr>
          <p:cNvPr id="13" name="Shape 11"/>
          <p:cNvSpPr/>
          <p:nvPr/>
        </p:nvSpPr>
        <p:spPr>
          <a:xfrm>
            <a:off x="3383280" y="2286000"/>
            <a:ext cx="2651760" cy="3657600"/>
          </a:xfrm>
          <a:prstGeom prst="roundRect">
            <a:avLst>
              <a:gd name="adj" fmla="val 3103"/>
            </a:avLst>
          </a:prstGeom>
          <a:solidFill>
            <a:srgbClr val="ECEAE4"/>
          </a:solidFill>
          <a:ln w="12700">
            <a:solidFill>
              <a:srgbClr val="ECEAE4"/>
            </a:solidFill>
            <a:prstDash val="solid"/>
          </a:ln>
        </p:spPr>
      </p:sp>
      <p:sp>
        <p:nvSpPr>
          <p:cNvPr id="14" name="Shape 12"/>
          <p:cNvSpPr/>
          <p:nvPr/>
        </p:nvSpPr>
        <p:spPr>
          <a:xfrm>
            <a:off x="3611880" y="2423160"/>
            <a:ext cx="420624" cy="420624"/>
          </a:xfrm>
          <a:prstGeom prst="ellipse">
            <a:avLst/>
          </a:prstGeom>
          <a:solidFill>
            <a:srgbClr val="FFC24B"/>
          </a:solidFill>
          <a:ln/>
        </p:spPr>
      </p:sp>
      <p:sp>
        <p:nvSpPr>
          <p:cNvPr id="15" name="Text 13"/>
          <p:cNvSpPr/>
          <p:nvPr/>
        </p:nvSpPr>
        <p:spPr>
          <a:xfrm>
            <a:off x="3611880" y="2423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6" name="Shape 14"/>
          <p:cNvSpPr/>
          <p:nvPr/>
        </p:nvSpPr>
        <p:spPr>
          <a:xfrm>
            <a:off x="4251960" y="2194560"/>
            <a:ext cx="457200" cy="1645920"/>
          </a:xfrm>
          <a:prstGeom prst="rect">
            <a:avLst/>
          </a:prstGeom>
          <a:solidFill>
            <a:srgbClr val="FF4757"/>
          </a:solidFill>
          <a:ln w="12700">
            <a:solidFill>
              <a:srgbClr val="FF4757"/>
            </a:solidFill>
            <a:prstDash val="solid"/>
          </a:ln>
        </p:spPr>
      </p:sp>
      <p:sp>
        <p:nvSpPr>
          <p:cNvPr id="17" name="Shape 15"/>
          <p:cNvSpPr/>
          <p:nvPr/>
        </p:nvSpPr>
        <p:spPr>
          <a:xfrm>
            <a:off x="4892040" y="2926080"/>
            <a:ext cx="457200" cy="914400"/>
          </a:xfrm>
          <a:prstGeom prst="rect">
            <a:avLst/>
          </a:prstGeom>
          <a:solidFill>
            <a:srgbClr val="11121A"/>
          </a:solidFill>
          <a:ln w="12700">
            <a:solidFill>
              <a:srgbClr val="11121A"/>
            </a:solidFill>
            <a:prstDash val="solid"/>
          </a:ln>
        </p:spPr>
      </p:sp>
      <p:sp>
        <p:nvSpPr>
          <p:cNvPr id="18" name="Shape 16"/>
          <p:cNvSpPr/>
          <p:nvPr/>
        </p:nvSpPr>
        <p:spPr>
          <a:xfrm>
            <a:off x="4114800" y="3840480"/>
            <a:ext cx="1371600" cy="18288"/>
          </a:xfrm>
          <a:prstGeom prst="rect">
            <a:avLst/>
          </a:prstGeom>
          <a:solidFill>
            <a:srgbClr val="6A6F85"/>
          </a:solidFill>
          <a:ln w="12700">
            <a:solidFill>
              <a:srgbClr val="6A6F85"/>
            </a:solidFill>
            <a:prstDash val="solid"/>
          </a:ln>
        </p:spPr>
      </p:sp>
      <p:sp>
        <p:nvSpPr>
          <p:cNvPr id="19" name="Text 17"/>
          <p:cNvSpPr/>
          <p:nvPr/>
        </p:nvSpPr>
        <p:spPr>
          <a:xfrm>
            <a:off x="3611880" y="4023360"/>
            <a:ext cx="219456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la mortalité baisse</a:t>
            </a:r>
            <a:endParaRPr lang="en-US" sz="1500" dirty="0"/>
          </a:p>
        </p:txBody>
      </p:sp>
      <p:sp>
        <p:nvSpPr>
          <p:cNvPr id="20" name="Text 18"/>
          <p:cNvSpPr/>
          <p:nvPr/>
        </p:nvSpPr>
        <p:spPr>
          <a:xfrm>
            <a:off x="3611880" y="4526280"/>
            <a:ext cx="2194560" cy="13258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l’écart se creuse, la population augmente rapidement</a:t>
            </a:r>
            <a:endParaRPr lang="en-US" sz="1400" dirty="0"/>
          </a:p>
        </p:txBody>
      </p:sp>
      <p:sp>
        <p:nvSpPr>
          <p:cNvPr id="21" name="Shape 19"/>
          <p:cNvSpPr/>
          <p:nvPr/>
        </p:nvSpPr>
        <p:spPr>
          <a:xfrm>
            <a:off x="6172200" y="2286000"/>
            <a:ext cx="2651760" cy="3657600"/>
          </a:xfrm>
          <a:prstGeom prst="roundRect">
            <a:avLst>
              <a:gd name="adj" fmla="val 3103"/>
            </a:avLst>
          </a:prstGeom>
          <a:solidFill>
            <a:srgbClr val="ECEAE4"/>
          </a:solidFill>
          <a:ln w="12700">
            <a:solidFill>
              <a:srgbClr val="ECEAE4"/>
            </a:solidFill>
            <a:prstDash val="solid"/>
          </a:ln>
        </p:spPr>
      </p:sp>
      <p:sp>
        <p:nvSpPr>
          <p:cNvPr id="22" name="Shape 20"/>
          <p:cNvSpPr/>
          <p:nvPr/>
        </p:nvSpPr>
        <p:spPr>
          <a:xfrm>
            <a:off x="6400800" y="2423160"/>
            <a:ext cx="420624" cy="420624"/>
          </a:xfrm>
          <a:prstGeom prst="ellipse">
            <a:avLst/>
          </a:prstGeom>
          <a:solidFill>
            <a:srgbClr val="FFC24B"/>
          </a:solidFill>
          <a:ln/>
        </p:spPr>
      </p:sp>
      <p:sp>
        <p:nvSpPr>
          <p:cNvPr id="23" name="Text 21"/>
          <p:cNvSpPr/>
          <p:nvPr/>
        </p:nvSpPr>
        <p:spPr>
          <a:xfrm>
            <a:off x="6400800" y="2423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4" name="Shape 22"/>
          <p:cNvSpPr/>
          <p:nvPr/>
        </p:nvSpPr>
        <p:spPr>
          <a:xfrm>
            <a:off x="7040880" y="2743200"/>
            <a:ext cx="457200" cy="1097280"/>
          </a:xfrm>
          <a:prstGeom prst="rect">
            <a:avLst/>
          </a:prstGeom>
          <a:solidFill>
            <a:srgbClr val="FF4757"/>
          </a:solidFill>
          <a:ln w="12700">
            <a:solidFill>
              <a:srgbClr val="FF4757"/>
            </a:solidFill>
            <a:prstDash val="solid"/>
          </a:ln>
        </p:spPr>
      </p:sp>
      <p:sp>
        <p:nvSpPr>
          <p:cNvPr id="25" name="Shape 23"/>
          <p:cNvSpPr/>
          <p:nvPr/>
        </p:nvSpPr>
        <p:spPr>
          <a:xfrm>
            <a:off x="7680960" y="3291840"/>
            <a:ext cx="457200" cy="548640"/>
          </a:xfrm>
          <a:prstGeom prst="rect">
            <a:avLst/>
          </a:prstGeom>
          <a:solidFill>
            <a:srgbClr val="11121A"/>
          </a:solidFill>
          <a:ln w="12700">
            <a:solidFill>
              <a:srgbClr val="11121A"/>
            </a:solidFill>
            <a:prstDash val="solid"/>
          </a:ln>
        </p:spPr>
      </p:sp>
      <p:sp>
        <p:nvSpPr>
          <p:cNvPr id="26" name="Shape 24"/>
          <p:cNvSpPr/>
          <p:nvPr/>
        </p:nvSpPr>
        <p:spPr>
          <a:xfrm>
            <a:off x="6903720" y="3840480"/>
            <a:ext cx="1371600" cy="18288"/>
          </a:xfrm>
          <a:prstGeom prst="rect">
            <a:avLst/>
          </a:prstGeom>
          <a:solidFill>
            <a:srgbClr val="6A6F85"/>
          </a:solidFill>
          <a:ln w="12700">
            <a:solidFill>
              <a:srgbClr val="6A6F85"/>
            </a:solidFill>
            <a:prstDash val="solid"/>
          </a:ln>
        </p:spPr>
      </p:sp>
      <p:sp>
        <p:nvSpPr>
          <p:cNvPr id="27" name="Text 25"/>
          <p:cNvSpPr/>
          <p:nvPr/>
        </p:nvSpPr>
        <p:spPr>
          <a:xfrm>
            <a:off x="6400800" y="4023360"/>
            <a:ext cx="219456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la natalité baisse</a:t>
            </a:r>
            <a:endParaRPr lang="en-US" sz="1500" dirty="0"/>
          </a:p>
        </p:txBody>
      </p:sp>
      <p:sp>
        <p:nvSpPr>
          <p:cNvPr id="28" name="Text 26"/>
          <p:cNvSpPr/>
          <p:nvPr/>
        </p:nvSpPr>
        <p:spPr>
          <a:xfrm>
            <a:off x="6400800" y="4526280"/>
            <a:ext cx="2194560" cy="13258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l’écart se resserre</a:t>
            </a:r>
            <a:endParaRPr lang="en-US" sz="1400" dirty="0"/>
          </a:p>
        </p:txBody>
      </p:sp>
      <p:sp>
        <p:nvSpPr>
          <p:cNvPr id="29" name="Shape 27"/>
          <p:cNvSpPr/>
          <p:nvPr/>
        </p:nvSpPr>
        <p:spPr>
          <a:xfrm>
            <a:off x="8961120" y="2286000"/>
            <a:ext cx="2651760" cy="3657600"/>
          </a:xfrm>
          <a:prstGeom prst="roundRect">
            <a:avLst>
              <a:gd name="adj" fmla="val 3103"/>
            </a:avLst>
          </a:prstGeom>
          <a:solidFill>
            <a:srgbClr val="ECEAE4"/>
          </a:solidFill>
          <a:ln w="12700">
            <a:solidFill>
              <a:srgbClr val="ECEAE4"/>
            </a:solidFill>
            <a:prstDash val="solid"/>
          </a:ln>
        </p:spPr>
      </p:sp>
      <p:sp>
        <p:nvSpPr>
          <p:cNvPr id="30" name="Shape 28"/>
          <p:cNvSpPr/>
          <p:nvPr/>
        </p:nvSpPr>
        <p:spPr>
          <a:xfrm>
            <a:off x="9189720" y="2423160"/>
            <a:ext cx="420624" cy="420624"/>
          </a:xfrm>
          <a:prstGeom prst="ellipse">
            <a:avLst/>
          </a:prstGeom>
          <a:solidFill>
            <a:srgbClr val="FFC24B"/>
          </a:solidFill>
          <a:ln/>
        </p:spPr>
      </p:sp>
      <p:sp>
        <p:nvSpPr>
          <p:cNvPr id="31" name="Text 29"/>
          <p:cNvSpPr/>
          <p:nvPr/>
        </p:nvSpPr>
        <p:spPr>
          <a:xfrm>
            <a:off x="9189720" y="2423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32" name="Shape 30"/>
          <p:cNvSpPr/>
          <p:nvPr/>
        </p:nvSpPr>
        <p:spPr>
          <a:xfrm>
            <a:off x="9829800" y="3291840"/>
            <a:ext cx="457200" cy="548640"/>
          </a:xfrm>
          <a:prstGeom prst="rect">
            <a:avLst/>
          </a:prstGeom>
          <a:solidFill>
            <a:srgbClr val="FF4757"/>
          </a:solidFill>
          <a:ln w="12700">
            <a:solidFill>
              <a:srgbClr val="FF4757"/>
            </a:solidFill>
            <a:prstDash val="solid"/>
          </a:ln>
        </p:spPr>
      </p:sp>
      <p:sp>
        <p:nvSpPr>
          <p:cNvPr id="33" name="Shape 31"/>
          <p:cNvSpPr/>
          <p:nvPr/>
        </p:nvSpPr>
        <p:spPr>
          <a:xfrm>
            <a:off x="10469880" y="3291840"/>
            <a:ext cx="457200" cy="548640"/>
          </a:xfrm>
          <a:prstGeom prst="rect">
            <a:avLst/>
          </a:prstGeom>
          <a:solidFill>
            <a:srgbClr val="11121A"/>
          </a:solidFill>
          <a:ln w="12700">
            <a:solidFill>
              <a:srgbClr val="11121A"/>
            </a:solidFill>
            <a:prstDash val="solid"/>
          </a:ln>
        </p:spPr>
      </p:sp>
      <p:sp>
        <p:nvSpPr>
          <p:cNvPr id="34" name="Shape 32"/>
          <p:cNvSpPr/>
          <p:nvPr/>
        </p:nvSpPr>
        <p:spPr>
          <a:xfrm>
            <a:off x="9692640" y="3840480"/>
            <a:ext cx="1371600" cy="18288"/>
          </a:xfrm>
          <a:prstGeom prst="rect">
            <a:avLst/>
          </a:prstGeom>
          <a:solidFill>
            <a:srgbClr val="6A6F85"/>
          </a:solidFill>
          <a:ln w="12700">
            <a:solidFill>
              <a:srgbClr val="6A6F85"/>
            </a:solidFill>
            <a:prstDash val="solid"/>
          </a:ln>
        </p:spPr>
      </p:sp>
      <p:sp>
        <p:nvSpPr>
          <p:cNvPr id="35" name="Text 33"/>
          <p:cNvSpPr/>
          <p:nvPr/>
        </p:nvSpPr>
        <p:spPr>
          <a:xfrm>
            <a:off x="9189720" y="4023360"/>
            <a:ext cx="219456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toutes deux faibles</a:t>
            </a:r>
            <a:endParaRPr lang="en-US" sz="1500" dirty="0"/>
          </a:p>
        </p:txBody>
      </p:sp>
      <p:sp>
        <p:nvSpPr>
          <p:cNvPr id="36" name="Text 34"/>
          <p:cNvSpPr/>
          <p:nvPr/>
        </p:nvSpPr>
        <p:spPr>
          <a:xfrm>
            <a:off x="9189720" y="4526280"/>
            <a:ext cx="2194560" cy="13258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population plus âgée, à peu près stationnaire, fécondité au seuil de remplacement</a:t>
            </a:r>
            <a:endParaRPr lang="en-US" sz="1400" dirty="0"/>
          </a:p>
        </p:txBody>
      </p:sp>
      <p:sp>
        <p:nvSpPr>
          <p:cNvPr id="37" name="Text 35"/>
          <p:cNvSpPr/>
          <p:nvPr/>
        </p:nvSpPr>
        <p:spPr>
          <a:xfrm>
            <a:off x="594360" y="6080760"/>
            <a:ext cx="10972800" cy="274320"/>
          </a:xfrm>
          <a:prstGeom prst="rect">
            <a:avLst/>
          </a:prstGeom>
          <a:noFill/>
          <a:ln/>
        </p:spPr>
        <p:txBody>
          <a:bodyPr wrap="square" lIns="0" tIns="0" rIns="0" bIns="0" rtlCol="0" anchor="t"/>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Schéma, sans valeurs. Corail : la natalité. Noir : la mortalité. D’après Omran et Lesthaeghe ; ce qui vient après la quatrième étape ne fait pas partie du modèle classique.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NOUVEAU TERME 2</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L’accroissement naturel</a:t>
            </a:r>
            <a:endParaRPr lang="en-US" sz="3600" dirty="0"/>
          </a:p>
        </p:txBody>
      </p:sp>
      <p:sp>
        <p:nvSpPr>
          <p:cNvPr id="4" name="Shape 2"/>
          <p:cNvSpPr/>
          <p:nvPr/>
        </p:nvSpPr>
        <p:spPr>
          <a:xfrm>
            <a:off x="594360" y="1828800"/>
            <a:ext cx="3291840" cy="1005840"/>
          </a:xfrm>
          <a:prstGeom prst="roundRect">
            <a:avLst>
              <a:gd name="adj" fmla="val 8182"/>
            </a:avLst>
          </a:prstGeom>
          <a:solidFill>
            <a:srgbClr val="FF4757"/>
          </a:solidFill>
          <a:ln w="12700">
            <a:solidFill>
              <a:srgbClr val="FF4757"/>
            </a:solidFill>
            <a:prstDash val="solid"/>
          </a:ln>
        </p:spPr>
      </p:sp>
      <p:sp>
        <p:nvSpPr>
          <p:cNvPr id="5" name="Text 3"/>
          <p:cNvSpPr/>
          <p:nvPr/>
        </p:nvSpPr>
        <p:spPr>
          <a:xfrm>
            <a:off x="731520" y="1828800"/>
            <a:ext cx="3017520" cy="1005840"/>
          </a:xfrm>
          <a:prstGeom prst="rect">
            <a:avLst/>
          </a:prstGeom>
          <a:noFill/>
          <a:ln/>
        </p:spPr>
        <p:txBody>
          <a:bodyPr wrap="square" lIns="0" tIns="0" rIns="0" bIns="0" rtlCol="0" anchor="ctr"/>
          <a:lstStyle/>
          <a:p>
            <a:pPr algn="ctr" indent="0" marL="0">
              <a:buNone/>
            </a:pPr>
            <a:r>
              <a:rPr lang="en-US" sz="2400" b="1" dirty="0">
                <a:solidFill>
                  <a:srgbClr val="2E060B"/>
                </a:solidFill>
                <a:latin typeface="Palatino Linotype" pitchFamily="34" charset="0"/>
                <a:ea typeface="Palatino Linotype" pitchFamily="34" charset="-122"/>
                <a:cs typeface="Palatino Linotype" pitchFamily="34" charset="-120"/>
              </a:rPr>
              <a:t>naissances vivantes</a:t>
            </a:r>
            <a:endParaRPr lang="en-US" sz="2400" dirty="0"/>
          </a:p>
        </p:txBody>
      </p:sp>
      <p:sp>
        <p:nvSpPr>
          <p:cNvPr id="6" name="Text 4"/>
          <p:cNvSpPr/>
          <p:nvPr/>
        </p:nvSpPr>
        <p:spPr>
          <a:xfrm>
            <a:off x="3931920" y="1828800"/>
            <a:ext cx="5486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Palatino Linotype" pitchFamily="34" charset="0"/>
                <a:ea typeface="Palatino Linotype" pitchFamily="34" charset="-122"/>
                <a:cs typeface="Palatino Linotype" pitchFamily="34" charset="-120"/>
              </a:rPr>
              <a:t>−</a:t>
            </a:r>
            <a:endParaRPr lang="en-US" sz="4000" dirty="0"/>
          </a:p>
        </p:txBody>
      </p:sp>
      <p:sp>
        <p:nvSpPr>
          <p:cNvPr id="7" name="Shape 5"/>
          <p:cNvSpPr/>
          <p:nvPr/>
        </p:nvSpPr>
        <p:spPr>
          <a:xfrm>
            <a:off x="4526280" y="1828800"/>
            <a:ext cx="3291840" cy="1005840"/>
          </a:xfrm>
          <a:prstGeom prst="roundRect">
            <a:avLst>
              <a:gd name="adj" fmla="val 8182"/>
            </a:avLst>
          </a:prstGeom>
          <a:solidFill>
            <a:srgbClr val="272A38"/>
          </a:solidFill>
          <a:ln w="12700">
            <a:solidFill>
              <a:srgbClr val="272A38"/>
            </a:solidFill>
            <a:prstDash val="solid"/>
          </a:ln>
        </p:spPr>
      </p:sp>
      <p:sp>
        <p:nvSpPr>
          <p:cNvPr id="8" name="Text 6"/>
          <p:cNvSpPr/>
          <p:nvPr/>
        </p:nvSpPr>
        <p:spPr>
          <a:xfrm>
            <a:off x="4663440" y="1828800"/>
            <a:ext cx="3017520"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décès</a:t>
            </a:r>
            <a:endParaRPr lang="en-US" sz="2400" dirty="0"/>
          </a:p>
        </p:txBody>
      </p:sp>
      <p:sp>
        <p:nvSpPr>
          <p:cNvPr id="9" name="Text 7"/>
          <p:cNvSpPr/>
          <p:nvPr/>
        </p:nvSpPr>
        <p:spPr>
          <a:xfrm>
            <a:off x="7863840" y="1828800"/>
            <a:ext cx="5486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Palatino Linotype" pitchFamily="34" charset="0"/>
                <a:ea typeface="Palatino Linotype" pitchFamily="34" charset="-122"/>
                <a:cs typeface="Palatino Linotype" pitchFamily="34" charset="-120"/>
              </a:rPr>
              <a:t>=</a:t>
            </a:r>
            <a:endParaRPr lang="en-US" sz="4000" dirty="0"/>
          </a:p>
        </p:txBody>
      </p:sp>
      <p:sp>
        <p:nvSpPr>
          <p:cNvPr id="10" name="Shape 8"/>
          <p:cNvSpPr/>
          <p:nvPr/>
        </p:nvSpPr>
        <p:spPr>
          <a:xfrm>
            <a:off x="8458200" y="1828800"/>
            <a:ext cx="3108960" cy="1005840"/>
          </a:xfrm>
          <a:prstGeom prst="roundRect">
            <a:avLst>
              <a:gd name="adj" fmla="val 8182"/>
            </a:avLst>
          </a:prstGeom>
          <a:solidFill>
            <a:srgbClr val="27D3BE"/>
          </a:solidFill>
          <a:ln w="12700">
            <a:solidFill>
              <a:srgbClr val="27D3BE"/>
            </a:solidFill>
            <a:prstDash val="solid"/>
          </a:ln>
        </p:spPr>
      </p:sp>
      <p:sp>
        <p:nvSpPr>
          <p:cNvPr id="11" name="Text 9"/>
          <p:cNvSpPr/>
          <p:nvPr/>
        </p:nvSpPr>
        <p:spPr>
          <a:xfrm>
            <a:off x="8595360" y="1828800"/>
            <a:ext cx="2834640" cy="1005840"/>
          </a:xfrm>
          <a:prstGeom prst="rect">
            <a:avLst/>
          </a:prstGeom>
          <a:noFill/>
          <a:ln/>
        </p:spPr>
        <p:txBody>
          <a:bodyPr wrap="square" lIns="0" tIns="0" rIns="0" bIns="0" rtlCol="0" anchor="ctr"/>
          <a:lstStyle/>
          <a:p>
            <a:pPr algn="ctr" indent="0" marL="0">
              <a:buNone/>
            </a:pPr>
            <a:r>
              <a:rPr lang="en-US" sz="2400" b="1" dirty="0">
                <a:solidFill>
                  <a:srgbClr val="073B34"/>
                </a:solidFill>
                <a:latin typeface="Palatino Linotype" pitchFamily="34" charset="0"/>
                <a:ea typeface="Palatino Linotype" pitchFamily="34" charset="-122"/>
                <a:cs typeface="Palatino Linotype" pitchFamily="34" charset="-120"/>
              </a:rPr>
              <a:t>accroissement naturel</a:t>
            </a:r>
            <a:endParaRPr lang="en-US" sz="2400" dirty="0"/>
          </a:p>
        </p:txBody>
      </p:sp>
      <p:sp>
        <p:nvSpPr>
          <p:cNvPr id="12" name="Text 10"/>
          <p:cNvSpPr/>
          <p:nvPr/>
        </p:nvSpPr>
        <p:spPr>
          <a:xfrm>
            <a:off x="594360" y="310896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La différence entre le nombre des naissances et celui des décès au cours d’une année.</a:t>
            </a:r>
            <a:endParaRPr lang="en-US" sz="2000" dirty="0"/>
          </a:p>
        </p:txBody>
      </p:sp>
      <p:sp>
        <p:nvSpPr>
          <p:cNvPr id="13" name="Shape 11"/>
          <p:cNvSpPr/>
          <p:nvPr/>
        </p:nvSpPr>
        <p:spPr>
          <a:xfrm>
            <a:off x="594360" y="3840480"/>
            <a:ext cx="5349240" cy="2103120"/>
          </a:xfrm>
          <a:prstGeom prst="roundRect">
            <a:avLst>
              <a:gd name="adj" fmla="val 3913"/>
            </a:avLst>
          </a:prstGeom>
          <a:solidFill>
            <a:srgbClr val="1D1F2B"/>
          </a:solidFill>
          <a:ln w="12700">
            <a:solidFill>
              <a:srgbClr val="1D1F2B"/>
            </a:solidFill>
            <a:prstDash val="solid"/>
          </a:ln>
        </p:spPr>
      </p:sp>
      <p:sp>
        <p:nvSpPr>
          <p:cNvPr id="14" name="Text 12"/>
          <p:cNvSpPr/>
          <p:nvPr/>
        </p:nvSpPr>
        <p:spPr>
          <a:xfrm>
            <a:off x="868680" y="3931920"/>
            <a:ext cx="4846320" cy="1920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Positif : la population augmente d’elle-même. Négatif : la population diminue, si la migration ne compense pas.</a:t>
            </a:r>
            <a:endParaRPr lang="en-US" sz="1800" dirty="0"/>
          </a:p>
        </p:txBody>
      </p:sp>
      <p:sp>
        <p:nvSpPr>
          <p:cNvPr id="15" name="Shape 13"/>
          <p:cNvSpPr/>
          <p:nvPr/>
        </p:nvSpPr>
        <p:spPr>
          <a:xfrm>
            <a:off x="6217920" y="3840480"/>
            <a:ext cx="5349240" cy="2103120"/>
          </a:xfrm>
          <a:prstGeom prst="roundRect">
            <a:avLst>
              <a:gd name="adj" fmla="val 3913"/>
            </a:avLst>
          </a:prstGeom>
          <a:solidFill>
            <a:srgbClr val="1D1F2B"/>
          </a:solidFill>
          <a:ln w="12700">
            <a:solidFill>
              <a:srgbClr val="1D1F2B"/>
            </a:solidFill>
            <a:prstDash val="solid"/>
          </a:ln>
        </p:spPr>
      </p:sp>
      <p:sp>
        <p:nvSpPr>
          <p:cNvPr id="16" name="Text 14"/>
          <p:cNvSpPr/>
          <p:nvPr/>
        </p:nvSpPr>
        <p:spPr>
          <a:xfrm>
            <a:off x="6492240" y="3931920"/>
            <a:ext cx="4846320" cy="1920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Accroissement total = accroissement naturel + solde migratoire (arrivées moins départs). Taux bruts de natalité et de mortalité : naissances et décès pour mille habitants.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COMBIEN D’ENFANTS A, EN MOYENNE, UNE FEMME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Indice synthétique de fécondité de la Roumanie, 1990–2024</a:t>
            </a:r>
            <a:endParaRPr lang="en-US" sz="3200" dirty="0"/>
          </a:p>
        </p:txBody>
      </p:sp>
      <p:sp>
        <p:nvSpPr>
          <p:cNvPr id="4" name="Shape 2"/>
          <p:cNvSpPr/>
          <p:nvPr/>
        </p:nvSpPr>
        <p:spPr>
          <a:xfrm>
            <a:off x="802634" y="2824249"/>
            <a:ext cx="160830" cy="2662151"/>
          </a:xfrm>
          <a:prstGeom prst="rect">
            <a:avLst/>
          </a:prstGeom>
          <a:solidFill>
            <a:srgbClr val="FF4757"/>
          </a:solidFill>
          <a:ln w="12700">
            <a:solidFill>
              <a:srgbClr val="FF4757"/>
            </a:solidFill>
            <a:prstDash val="solid"/>
          </a:ln>
        </p:spPr>
      </p:sp>
      <p:sp>
        <p:nvSpPr>
          <p:cNvPr id="5" name="Shape 3"/>
          <p:cNvSpPr/>
          <p:nvPr/>
        </p:nvSpPr>
        <p:spPr>
          <a:xfrm>
            <a:off x="1014252" y="3173384"/>
            <a:ext cx="160830" cy="2313016"/>
          </a:xfrm>
          <a:prstGeom prst="rect">
            <a:avLst/>
          </a:prstGeom>
          <a:solidFill>
            <a:srgbClr val="4B5068"/>
          </a:solidFill>
          <a:ln w="12700">
            <a:solidFill>
              <a:srgbClr val="4B5068"/>
            </a:solidFill>
            <a:prstDash val="solid"/>
          </a:ln>
        </p:spPr>
      </p:sp>
      <p:sp>
        <p:nvSpPr>
          <p:cNvPr id="6" name="Shape 4"/>
          <p:cNvSpPr/>
          <p:nvPr/>
        </p:nvSpPr>
        <p:spPr>
          <a:xfrm>
            <a:off x="1225871" y="3289762"/>
            <a:ext cx="160830" cy="2196638"/>
          </a:xfrm>
          <a:prstGeom prst="rect">
            <a:avLst/>
          </a:prstGeom>
          <a:solidFill>
            <a:srgbClr val="4B5068"/>
          </a:solidFill>
          <a:ln w="12700">
            <a:solidFill>
              <a:srgbClr val="4B5068"/>
            </a:solidFill>
            <a:prstDash val="solid"/>
          </a:ln>
        </p:spPr>
      </p:sp>
      <p:sp>
        <p:nvSpPr>
          <p:cNvPr id="7" name="Shape 5"/>
          <p:cNvSpPr/>
          <p:nvPr/>
        </p:nvSpPr>
        <p:spPr>
          <a:xfrm>
            <a:off x="1437489" y="3406140"/>
            <a:ext cx="160830" cy="2080260"/>
          </a:xfrm>
          <a:prstGeom prst="rect">
            <a:avLst/>
          </a:prstGeom>
          <a:solidFill>
            <a:srgbClr val="4B5068"/>
          </a:solidFill>
          <a:ln w="12700">
            <a:solidFill>
              <a:srgbClr val="4B5068"/>
            </a:solidFill>
            <a:prstDash val="solid"/>
          </a:ln>
        </p:spPr>
      </p:sp>
      <p:sp>
        <p:nvSpPr>
          <p:cNvPr id="8" name="Shape 6"/>
          <p:cNvSpPr/>
          <p:nvPr/>
        </p:nvSpPr>
        <p:spPr>
          <a:xfrm>
            <a:off x="1649107" y="3449782"/>
            <a:ext cx="160830" cy="2036618"/>
          </a:xfrm>
          <a:prstGeom prst="rect">
            <a:avLst/>
          </a:prstGeom>
          <a:solidFill>
            <a:srgbClr val="4B5068"/>
          </a:solidFill>
          <a:ln w="12700">
            <a:solidFill>
              <a:srgbClr val="4B5068"/>
            </a:solidFill>
            <a:prstDash val="solid"/>
          </a:ln>
        </p:spPr>
      </p:sp>
      <p:sp>
        <p:nvSpPr>
          <p:cNvPr id="9" name="Shape 7"/>
          <p:cNvSpPr/>
          <p:nvPr/>
        </p:nvSpPr>
        <p:spPr>
          <a:xfrm>
            <a:off x="1860726" y="3551613"/>
            <a:ext cx="160830" cy="1934787"/>
          </a:xfrm>
          <a:prstGeom prst="rect">
            <a:avLst/>
          </a:prstGeom>
          <a:solidFill>
            <a:srgbClr val="4B5068"/>
          </a:solidFill>
          <a:ln w="12700">
            <a:solidFill>
              <a:srgbClr val="4B5068"/>
            </a:solidFill>
            <a:prstDash val="solid"/>
          </a:ln>
        </p:spPr>
      </p:sp>
      <p:sp>
        <p:nvSpPr>
          <p:cNvPr id="10" name="Shape 8"/>
          <p:cNvSpPr/>
          <p:nvPr/>
        </p:nvSpPr>
        <p:spPr>
          <a:xfrm>
            <a:off x="2072344" y="3595255"/>
            <a:ext cx="160830" cy="1891145"/>
          </a:xfrm>
          <a:prstGeom prst="rect">
            <a:avLst/>
          </a:prstGeom>
          <a:solidFill>
            <a:srgbClr val="4B5068"/>
          </a:solidFill>
          <a:ln w="12700">
            <a:solidFill>
              <a:srgbClr val="4B5068"/>
            </a:solidFill>
            <a:prstDash val="solid"/>
          </a:ln>
        </p:spPr>
      </p:sp>
      <p:sp>
        <p:nvSpPr>
          <p:cNvPr id="11" name="Shape 9"/>
          <p:cNvSpPr/>
          <p:nvPr/>
        </p:nvSpPr>
        <p:spPr>
          <a:xfrm>
            <a:off x="2283962" y="3566160"/>
            <a:ext cx="160830" cy="1920240"/>
          </a:xfrm>
          <a:prstGeom prst="rect">
            <a:avLst/>
          </a:prstGeom>
          <a:solidFill>
            <a:srgbClr val="4B5068"/>
          </a:solidFill>
          <a:ln w="12700">
            <a:solidFill>
              <a:srgbClr val="4B5068"/>
            </a:solidFill>
            <a:prstDash val="solid"/>
          </a:ln>
        </p:spPr>
      </p:sp>
      <p:sp>
        <p:nvSpPr>
          <p:cNvPr id="12" name="Shape 10"/>
          <p:cNvSpPr/>
          <p:nvPr/>
        </p:nvSpPr>
        <p:spPr>
          <a:xfrm>
            <a:off x="2495580" y="3566160"/>
            <a:ext cx="160830" cy="1920240"/>
          </a:xfrm>
          <a:prstGeom prst="rect">
            <a:avLst/>
          </a:prstGeom>
          <a:solidFill>
            <a:srgbClr val="4B5068"/>
          </a:solidFill>
          <a:ln w="12700">
            <a:solidFill>
              <a:srgbClr val="4B5068"/>
            </a:solidFill>
            <a:prstDash val="solid"/>
          </a:ln>
        </p:spPr>
      </p:sp>
      <p:sp>
        <p:nvSpPr>
          <p:cNvPr id="13" name="Shape 11"/>
          <p:cNvSpPr/>
          <p:nvPr/>
        </p:nvSpPr>
        <p:spPr>
          <a:xfrm>
            <a:off x="2707199" y="3595255"/>
            <a:ext cx="160830" cy="1891145"/>
          </a:xfrm>
          <a:prstGeom prst="rect">
            <a:avLst/>
          </a:prstGeom>
          <a:solidFill>
            <a:srgbClr val="4B5068"/>
          </a:solidFill>
          <a:ln w="12700">
            <a:solidFill>
              <a:srgbClr val="4B5068"/>
            </a:solidFill>
            <a:prstDash val="solid"/>
          </a:ln>
        </p:spPr>
      </p:sp>
      <p:sp>
        <p:nvSpPr>
          <p:cNvPr id="14" name="Shape 12"/>
          <p:cNvSpPr/>
          <p:nvPr/>
        </p:nvSpPr>
        <p:spPr>
          <a:xfrm>
            <a:off x="2918817" y="3580707"/>
            <a:ext cx="160830" cy="1905693"/>
          </a:xfrm>
          <a:prstGeom prst="rect">
            <a:avLst/>
          </a:prstGeom>
          <a:solidFill>
            <a:srgbClr val="4B5068"/>
          </a:solidFill>
          <a:ln w="12700">
            <a:solidFill>
              <a:srgbClr val="4B5068"/>
            </a:solidFill>
            <a:prstDash val="solid"/>
          </a:ln>
        </p:spPr>
      </p:sp>
      <p:sp>
        <p:nvSpPr>
          <p:cNvPr id="15" name="Shape 13"/>
          <p:cNvSpPr/>
          <p:nvPr/>
        </p:nvSpPr>
        <p:spPr>
          <a:xfrm>
            <a:off x="3130435" y="3638896"/>
            <a:ext cx="160830" cy="1847504"/>
          </a:xfrm>
          <a:prstGeom prst="rect">
            <a:avLst/>
          </a:prstGeom>
          <a:solidFill>
            <a:srgbClr val="4B5068"/>
          </a:solidFill>
          <a:ln w="12700">
            <a:solidFill>
              <a:srgbClr val="4B5068"/>
            </a:solidFill>
            <a:prstDash val="solid"/>
          </a:ln>
        </p:spPr>
      </p:sp>
      <p:sp>
        <p:nvSpPr>
          <p:cNvPr id="16" name="Shape 14"/>
          <p:cNvSpPr/>
          <p:nvPr/>
        </p:nvSpPr>
        <p:spPr>
          <a:xfrm>
            <a:off x="3342054" y="3638896"/>
            <a:ext cx="160830" cy="1847504"/>
          </a:xfrm>
          <a:prstGeom prst="rect">
            <a:avLst/>
          </a:prstGeom>
          <a:solidFill>
            <a:srgbClr val="FF4757"/>
          </a:solidFill>
          <a:ln w="12700">
            <a:solidFill>
              <a:srgbClr val="FF4757"/>
            </a:solidFill>
            <a:prstDash val="solid"/>
          </a:ln>
        </p:spPr>
      </p:sp>
      <p:sp>
        <p:nvSpPr>
          <p:cNvPr id="17" name="Shape 15"/>
          <p:cNvSpPr/>
          <p:nvPr/>
        </p:nvSpPr>
        <p:spPr>
          <a:xfrm>
            <a:off x="3553672" y="3595255"/>
            <a:ext cx="160830" cy="1891145"/>
          </a:xfrm>
          <a:prstGeom prst="rect">
            <a:avLst/>
          </a:prstGeom>
          <a:solidFill>
            <a:srgbClr val="4B5068"/>
          </a:solidFill>
          <a:ln w="12700">
            <a:solidFill>
              <a:srgbClr val="4B5068"/>
            </a:solidFill>
            <a:prstDash val="solid"/>
          </a:ln>
        </p:spPr>
      </p:sp>
      <p:sp>
        <p:nvSpPr>
          <p:cNvPr id="18" name="Shape 16"/>
          <p:cNvSpPr/>
          <p:nvPr/>
        </p:nvSpPr>
        <p:spPr>
          <a:xfrm>
            <a:off x="3765290" y="3551613"/>
            <a:ext cx="160830" cy="1934787"/>
          </a:xfrm>
          <a:prstGeom prst="rect">
            <a:avLst/>
          </a:prstGeom>
          <a:solidFill>
            <a:srgbClr val="4B5068"/>
          </a:solidFill>
          <a:ln w="12700">
            <a:solidFill>
              <a:srgbClr val="4B5068"/>
            </a:solidFill>
            <a:prstDash val="solid"/>
          </a:ln>
        </p:spPr>
      </p:sp>
      <p:sp>
        <p:nvSpPr>
          <p:cNvPr id="19" name="Shape 17"/>
          <p:cNvSpPr/>
          <p:nvPr/>
        </p:nvSpPr>
        <p:spPr>
          <a:xfrm>
            <a:off x="3976908" y="3449782"/>
            <a:ext cx="160830" cy="2036618"/>
          </a:xfrm>
          <a:prstGeom prst="rect">
            <a:avLst/>
          </a:prstGeom>
          <a:solidFill>
            <a:srgbClr val="4B5068"/>
          </a:solidFill>
          <a:ln w="12700">
            <a:solidFill>
              <a:srgbClr val="4B5068"/>
            </a:solidFill>
            <a:prstDash val="solid"/>
          </a:ln>
        </p:spPr>
      </p:sp>
      <p:sp>
        <p:nvSpPr>
          <p:cNvPr id="20" name="Shape 18"/>
          <p:cNvSpPr/>
          <p:nvPr/>
        </p:nvSpPr>
        <p:spPr>
          <a:xfrm>
            <a:off x="4188527" y="3420687"/>
            <a:ext cx="160830" cy="2065713"/>
          </a:xfrm>
          <a:prstGeom prst="rect">
            <a:avLst/>
          </a:prstGeom>
          <a:solidFill>
            <a:srgbClr val="4B5068"/>
          </a:solidFill>
          <a:ln w="12700">
            <a:solidFill>
              <a:srgbClr val="4B5068"/>
            </a:solidFill>
            <a:prstDash val="solid"/>
          </a:ln>
        </p:spPr>
      </p:sp>
      <p:sp>
        <p:nvSpPr>
          <p:cNvPr id="21" name="Shape 19"/>
          <p:cNvSpPr/>
          <p:nvPr/>
        </p:nvSpPr>
        <p:spPr>
          <a:xfrm>
            <a:off x="4400145" y="3377045"/>
            <a:ext cx="160830" cy="2109355"/>
          </a:xfrm>
          <a:prstGeom prst="rect">
            <a:avLst/>
          </a:prstGeom>
          <a:solidFill>
            <a:srgbClr val="4B5068"/>
          </a:solidFill>
          <a:ln w="12700">
            <a:solidFill>
              <a:srgbClr val="4B5068"/>
            </a:solidFill>
            <a:prstDash val="solid"/>
          </a:ln>
        </p:spPr>
      </p:sp>
      <p:sp>
        <p:nvSpPr>
          <p:cNvPr id="22" name="Shape 20"/>
          <p:cNvSpPr/>
          <p:nvPr/>
        </p:nvSpPr>
        <p:spPr>
          <a:xfrm>
            <a:off x="4611763" y="3158836"/>
            <a:ext cx="160830" cy="2327564"/>
          </a:xfrm>
          <a:prstGeom prst="rect">
            <a:avLst/>
          </a:prstGeom>
          <a:solidFill>
            <a:srgbClr val="4B5068"/>
          </a:solidFill>
          <a:ln w="12700">
            <a:solidFill>
              <a:srgbClr val="4B5068"/>
            </a:solidFill>
            <a:prstDash val="solid"/>
          </a:ln>
        </p:spPr>
      </p:sp>
      <p:sp>
        <p:nvSpPr>
          <p:cNvPr id="23" name="Shape 21"/>
          <p:cNvSpPr/>
          <p:nvPr/>
        </p:nvSpPr>
        <p:spPr>
          <a:xfrm>
            <a:off x="4823382" y="3071553"/>
            <a:ext cx="160830" cy="2414847"/>
          </a:xfrm>
          <a:prstGeom prst="rect">
            <a:avLst/>
          </a:prstGeom>
          <a:solidFill>
            <a:srgbClr val="4B5068"/>
          </a:solidFill>
          <a:ln w="12700">
            <a:solidFill>
              <a:srgbClr val="4B5068"/>
            </a:solidFill>
            <a:prstDash val="solid"/>
          </a:ln>
        </p:spPr>
      </p:sp>
      <p:sp>
        <p:nvSpPr>
          <p:cNvPr id="24" name="Shape 22"/>
          <p:cNvSpPr/>
          <p:nvPr/>
        </p:nvSpPr>
        <p:spPr>
          <a:xfrm>
            <a:off x="5035000" y="3173384"/>
            <a:ext cx="160830" cy="2313016"/>
          </a:xfrm>
          <a:prstGeom prst="rect">
            <a:avLst/>
          </a:prstGeom>
          <a:solidFill>
            <a:srgbClr val="4B5068"/>
          </a:solidFill>
          <a:ln w="12700">
            <a:solidFill>
              <a:srgbClr val="4B5068"/>
            </a:solidFill>
            <a:prstDash val="solid"/>
          </a:ln>
        </p:spPr>
      </p:sp>
      <p:sp>
        <p:nvSpPr>
          <p:cNvPr id="25" name="Shape 23"/>
          <p:cNvSpPr/>
          <p:nvPr/>
        </p:nvSpPr>
        <p:spPr>
          <a:xfrm>
            <a:off x="5246618" y="3347951"/>
            <a:ext cx="160830" cy="2138449"/>
          </a:xfrm>
          <a:prstGeom prst="rect">
            <a:avLst/>
          </a:prstGeom>
          <a:solidFill>
            <a:srgbClr val="4B5068"/>
          </a:solidFill>
          <a:ln w="12700">
            <a:solidFill>
              <a:srgbClr val="4B5068"/>
            </a:solidFill>
            <a:prstDash val="solid"/>
          </a:ln>
        </p:spPr>
      </p:sp>
      <p:sp>
        <p:nvSpPr>
          <p:cNvPr id="26" name="Shape 24"/>
          <p:cNvSpPr/>
          <p:nvPr/>
        </p:nvSpPr>
        <p:spPr>
          <a:xfrm>
            <a:off x="5458236" y="3275215"/>
            <a:ext cx="160830" cy="2211185"/>
          </a:xfrm>
          <a:prstGeom prst="rect">
            <a:avLst/>
          </a:prstGeom>
          <a:solidFill>
            <a:srgbClr val="4B5068"/>
          </a:solidFill>
          <a:ln w="12700">
            <a:solidFill>
              <a:srgbClr val="4B5068"/>
            </a:solidFill>
            <a:prstDash val="solid"/>
          </a:ln>
        </p:spPr>
      </p:sp>
      <p:sp>
        <p:nvSpPr>
          <p:cNvPr id="27" name="Shape 25"/>
          <p:cNvSpPr/>
          <p:nvPr/>
        </p:nvSpPr>
        <p:spPr>
          <a:xfrm>
            <a:off x="5669855" y="3362498"/>
            <a:ext cx="160830" cy="2123902"/>
          </a:xfrm>
          <a:prstGeom prst="rect">
            <a:avLst/>
          </a:prstGeom>
          <a:solidFill>
            <a:srgbClr val="4B5068"/>
          </a:solidFill>
          <a:ln w="12700">
            <a:solidFill>
              <a:srgbClr val="4B5068"/>
            </a:solidFill>
            <a:prstDash val="solid"/>
          </a:ln>
        </p:spPr>
      </p:sp>
      <p:sp>
        <p:nvSpPr>
          <p:cNvPr id="28" name="Shape 26"/>
          <p:cNvSpPr/>
          <p:nvPr/>
        </p:nvSpPr>
        <p:spPr>
          <a:xfrm>
            <a:off x="5881473" y="3217025"/>
            <a:ext cx="160830" cy="2269375"/>
          </a:xfrm>
          <a:prstGeom prst="rect">
            <a:avLst/>
          </a:prstGeom>
          <a:solidFill>
            <a:srgbClr val="4B5068"/>
          </a:solidFill>
          <a:ln w="12700">
            <a:solidFill>
              <a:srgbClr val="4B5068"/>
            </a:solidFill>
            <a:prstDash val="solid"/>
          </a:ln>
        </p:spPr>
      </p:sp>
      <p:sp>
        <p:nvSpPr>
          <p:cNvPr id="29" name="Shape 27"/>
          <p:cNvSpPr/>
          <p:nvPr/>
        </p:nvSpPr>
        <p:spPr>
          <a:xfrm>
            <a:off x="6093091" y="3129742"/>
            <a:ext cx="160830" cy="2356658"/>
          </a:xfrm>
          <a:prstGeom prst="rect">
            <a:avLst/>
          </a:prstGeom>
          <a:solidFill>
            <a:srgbClr val="4B5068"/>
          </a:solidFill>
          <a:ln w="12700">
            <a:solidFill>
              <a:srgbClr val="4B5068"/>
            </a:solidFill>
            <a:prstDash val="solid"/>
          </a:ln>
        </p:spPr>
      </p:sp>
      <p:sp>
        <p:nvSpPr>
          <p:cNvPr id="30" name="Shape 28"/>
          <p:cNvSpPr/>
          <p:nvPr/>
        </p:nvSpPr>
        <p:spPr>
          <a:xfrm>
            <a:off x="6304710" y="3027911"/>
            <a:ext cx="160830" cy="2458489"/>
          </a:xfrm>
          <a:prstGeom prst="rect">
            <a:avLst/>
          </a:prstGeom>
          <a:solidFill>
            <a:srgbClr val="4B5068"/>
          </a:solidFill>
          <a:ln w="12700">
            <a:solidFill>
              <a:srgbClr val="4B5068"/>
            </a:solidFill>
            <a:prstDash val="solid"/>
          </a:ln>
        </p:spPr>
      </p:sp>
      <p:sp>
        <p:nvSpPr>
          <p:cNvPr id="31" name="Shape 29"/>
          <p:cNvSpPr/>
          <p:nvPr/>
        </p:nvSpPr>
        <p:spPr>
          <a:xfrm>
            <a:off x="6516328" y="2896985"/>
            <a:ext cx="160830" cy="2589415"/>
          </a:xfrm>
          <a:prstGeom prst="rect">
            <a:avLst/>
          </a:prstGeom>
          <a:solidFill>
            <a:srgbClr val="4B5068"/>
          </a:solidFill>
          <a:ln w="12700">
            <a:solidFill>
              <a:srgbClr val="4B5068"/>
            </a:solidFill>
            <a:prstDash val="solid"/>
          </a:ln>
        </p:spPr>
      </p:sp>
      <p:sp>
        <p:nvSpPr>
          <p:cNvPr id="32" name="Shape 30"/>
          <p:cNvSpPr/>
          <p:nvPr/>
        </p:nvSpPr>
        <p:spPr>
          <a:xfrm>
            <a:off x="6727946" y="2926080"/>
            <a:ext cx="160830" cy="2560320"/>
          </a:xfrm>
          <a:prstGeom prst="rect">
            <a:avLst/>
          </a:prstGeom>
          <a:solidFill>
            <a:srgbClr val="4B5068"/>
          </a:solidFill>
          <a:ln w="12700">
            <a:solidFill>
              <a:srgbClr val="4B5068"/>
            </a:solidFill>
            <a:prstDash val="solid"/>
          </a:ln>
        </p:spPr>
      </p:sp>
      <p:sp>
        <p:nvSpPr>
          <p:cNvPr id="33" name="Shape 31"/>
          <p:cNvSpPr/>
          <p:nvPr/>
        </p:nvSpPr>
        <p:spPr>
          <a:xfrm>
            <a:off x="6939564" y="2911533"/>
            <a:ext cx="160830" cy="2574867"/>
          </a:xfrm>
          <a:prstGeom prst="rect">
            <a:avLst/>
          </a:prstGeom>
          <a:solidFill>
            <a:srgbClr val="4B5068"/>
          </a:solidFill>
          <a:ln w="12700">
            <a:solidFill>
              <a:srgbClr val="4B5068"/>
            </a:solidFill>
            <a:prstDash val="solid"/>
          </a:ln>
        </p:spPr>
      </p:sp>
      <p:sp>
        <p:nvSpPr>
          <p:cNvPr id="34" name="Shape 32"/>
          <p:cNvSpPr/>
          <p:nvPr/>
        </p:nvSpPr>
        <p:spPr>
          <a:xfrm>
            <a:off x="7151183" y="2867891"/>
            <a:ext cx="160830" cy="2618509"/>
          </a:xfrm>
          <a:prstGeom prst="rect">
            <a:avLst/>
          </a:prstGeom>
          <a:solidFill>
            <a:srgbClr val="4B5068"/>
          </a:solidFill>
          <a:ln w="12700">
            <a:solidFill>
              <a:srgbClr val="4B5068"/>
            </a:solidFill>
            <a:prstDash val="solid"/>
          </a:ln>
        </p:spPr>
      </p:sp>
      <p:sp>
        <p:nvSpPr>
          <p:cNvPr id="35" name="Shape 33"/>
          <p:cNvSpPr/>
          <p:nvPr/>
        </p:nvSpPr>
        <p:spPr>
          <a:xfrm>
            <a:off x="7362801" y="2853344"/>
            <a:ext cx="160830" cy="2633056"/>
          </a:xfrm>
          <a:prstGeom prst="rect">
            <a:avLst/>
          </a:prstGeom>
          <a:solidFill>
            <a:srgbClr val="4B5068"/>
          </a:solidFill>
          <a:ln w="12700">
            <a:solidFill>
              <a:srgbClr val="4B5068"/>
            </a:solidFill>
            <a:prstDash val="solid"/>
          </a:ln>
        </p:spPr>
      </p:sp>
      <p:sp>
        <p:nvSpPr>
          <p:cNvPr id="36" name="Shape 34"/>
          <p:cNvSpPr/>
          <p:nvPr/>
        </p:nvSpPr>
        <p:spPr>
          <a:xfrm>
            <a:off x="7574419" y="2940627"/>
            <a:ext cx="160830" cy="2545773"/>
          </a:xfrm>
          <a:prstGeom prst="rect">
            <a:avLst/>
          </a:prstGeom>
          <a:solidFill>
            <a:srgbClr val="FF4757"/>
          </a:solidFill>
          <a:ln w="12700">
            <a:solidFill>
              <a:srgbClr val="FF4757"/>
            </a:solidFill>
            <a:prstDash val="solid"/>
          </a:ln>
        </p:spPr>
      </p:sp>
      <p:sp>
        <p:nvSpPr>
          <p:cNvPr id="37" name="Shape 35"/>
          <p:cNvSpPr/>
          <p:nvPr/>
        </p:nvSpPr>
        <p:spPr>
          <a:xfrm>
            <a:off x="7786038" y="3246120"/>
            <a:ext cx="160830" cy="2240280"/>
          </a:xfrm>
          <a:prstGeom prst="rect">
            <a:avLst/>
          </a:prstGeom>
          <a:solidFill>
            <a:srgbClr val="4B5068"/>
          </a:solidFill>
          <a:ln w="12700">
            <a:solidFill>
              <a:srgbClr val="4B5068"/>
            </a:solidFill>
            <a:prstDash val="solid"/>
          </a:ln>
        </p:spPr>
      </p:sp>
      <p:sp>
        <p:nvSpPr>
          <p:cNvPr id="38" name="Shape 36"/>
          <p:cNvSpPr/>
          <p:nvPr/>
        </p:nvSpPr>
        <p:spPr>
          <a:xfrm>
            <a:off x="7997656" y="3464329"/>
            <a:ext cx="160830" cy="2022071"/>
          </a:xfrm>
          <a:prstGeom prst="rect">
            <a:avLst/>
          </a:prstGeom>
          <a:solidFill>
            <a:srgbClr val="FF4757"/>
          </a:solidFill>
          <a:ln w="12700">
            <a:solidFill>
              <a:srgbClr val="FF4757"/>
            </a:solidFill>
            <a:prstDash val="solid"/>
          </a:ln>
        </p:spPr>
      </p:sp>
      <p:sp>
        <p:nvSpPr>
          <p:cNvPr id="39" name="Shape 37"/>
          <p:cNvSpPr/>
          <p:nvPr/>
        </p:nvSpPr>
        <p:spPr>
          <a:xfrm>
            <a:off x="685800" y="5486400"/>
            <a:ext cx="7589520" cy="22860"/>
          </a:xfrm>
          <a:prstGeom prst="rect">
            <a:avLst/>
          </a:prstGeom>
          <a:solidFill>
            <a:srgbClr val="6A6F85"/>
          </a:solidFill>
          <a:ln w="12700">
            <a:solidFill>
              <a:srgbClr val="6A6F85"/>
            </a:solidFill>
            <a:prstDash val="solid"/>
          </a:ln>
        </p:spPr>
      </p:sp>
      <p:sp>
        <p:nvSpPr>
          <p:cNvPr id="40" name="Shape 38"/>
          <p:cNvSpPr/>
          <p:nvPr/>
        </p:nvSpPr>
        <p:spPr>
          <a:xfrm>
            <a:off x="777240" y="3537065"/>
            <a:ext cx="7406640" cy="27432"/>
          </a:xfrm>
          <a:prstGeom prst="rect">
            <a:avLst/>
          </a:prstGeom>
          <a:solidFill>
            <a:srgbClr val="27D3BE"/>
          </a:solidFill>
          <a:ln w="12700">
            <a:solidFill>
              <a:srgbClr val="27D3BE"/>
            </a:solidFill>
            <a:prstDash val="solid"/>
          </a:ln>
        </p:spPr>
      </p:sp>
      <p:sp>
        <p:nvSpPr>
          <p:cNvPr id="41" name="Text 39"/>
          <p:cNvSpPr/>
          <p:nvPr/>
        </p:nvSpPr>
        <p:spPr>
          <a:xfrm>
            <a:off x="3703320" y="3207881"/>
            <a:ext cx="2194560" cy="292608"/>
          </a:xfrm>
          <a:prstGeom prst="rect">
            <a:avLst/>
          </a:prstGeom>
          <a:noFill/>
          <a:ln/>
        </p:spPr>
        <p:txBody>
          <a:bodyPr wrap="square" lIns="0" tIns="0" rIns="0" bIns="0" rtlCol="0" anchor="t"/>
          <a:lstStyle/>
          <a:p>
            <a:pPr indent="0" marL="0">
              <a:buNone/>
            </a:pPr>
            <a:r>
              <a:rPr lang="en-US" sz="1300" b="1" dirty="0">
                <a:solidFill>
                  <a:srgbClr val="27D3BE"/>
                </a:solidFill>
                <a:latin typeface="Palatino Linotype" pitchFamily="34" charset="0"/>
                <a:ea typeface="Palatino Linotype" pitchFamily="34" charset="-122"/>
                <a:cs typeface="Palatino Linotype" pitchFamily="34" charset="-120"/>
              </a:rPr>
              <a:t>UE, 2024 : 1,34</a:t>
            </a:r>
            <a:endParaRPr lang="en-US" sz="1300" dirty="0"/>
          </a:p>
        </p:txBody>
      </p:sp>
      <p:sp>
        <p:nvSpPr>
          <p:cNvPr id="42" name="Shape 40"/>
          <p:cNvSpPr/>
          <p:nvPr/>
        </p:nvSpPr>
        <p:spPr>
          <a:xfrm>
            <a:off x="777240" y="2431473"/>
            <a:ext cx="7406640" cy="18288"/>
          </a:xfrm>
          <a:prstGeom prst="rect">
            <a:avLst/>
          </a:prstGeom>
          <a:solidFill>
            <a:srgbClr val="FFC24B"/>
          </a:solidFill>
          <a:ln w="12700">
            <a:solidFill>
              <a:srgbClr val="FFC24B"/>
            </a:solidFill>
            <a:prstDash val="solid"/>
          </a:ln>
        </p:spPr>
      </p:sp>
      <p:sp>
        <p:nvSpPr>
          <p:cNvPr id="43" name="Text 41"/>
          <p:cNvSpPr/>
          <p:nvPr/>
        </p:nvSpPr>
        <p:spPr>
          <a:xfrm>
            <a:off x="2788920" y="2120577"/>
            <a:ext cx="4206240" cy="274320"/>
          </a:xfrm>
          <a:prstGeom prst="rect">
            <a:avLst/>
          </a:prstGeom>
          <a:noFill/>
          <a:ln/>
        </p:spPr>
        <p:txBody>
          <a:bodyPr wrap="square" lIns="0" tIns="0" rIns="0" bIns="0" rtlCol="0" anchor="t"/>
          <a:lstStyle/>
          <a:p>
            <a:pPr indent="0" marL="0">
              <a:buNone/>
            </a:pPr>
            <a:r>
              <a:rPr lang="en-US" sz="1300" dirty="0">
                <a:solidFill>
                  <a:srgbClr val="FFC24B"/>
                </a:solidFill>
                <a:latin typeface="Palatino Linotype" pitchFamily="34" charset="0"/>
                <a:ea typeface="Palatino Linotype" pitchFamily="34" charset="-122"/>
                <a:cs typeface="Palatino Linotype" pitchFamily="34" charset="-120"/>
              </a:rPr>
              <a:t>remplacement des générations : un peu plus de 2</a:t>
            </a:r>
            <a:endParaRPr lang="en-US" sz="1300" dirty="0"/>
          </a:p>
        </p:txBody>
      </p:sp>
      <p:sp>
        <p:nvSpPr>
          <p:cNvPr id="44" name="Text 42"/>
          <p:cNvSpPr/>
          <p:nvPr/>
        </p:nvSpPr>
        <p:spPr>
          <a:xfrm>
            <a:off x="517289" y="2476777"/>
            <a:ext cx="73152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1,83</a:t>
            </a:r>
            <a:endParaRPr lang="en-US" sz="1500" dirty="0"/>
          </a:p>
        </p:txBody>
      </p:sp>
      <p:sp>
        <p:nvSpPr>
          <p:cNvPr id="45" name="Text 43"/>
          <p:cNvSpPr/>
          <p:nvPr/>
        </p:nvSpPr>
        <p:spPr>
          <a:xfrm>
            <a:off x="517289" y="554126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1990</a:t>
            </a:r>
            <a:endParaRPr lang="en-US" sz="1200" dirty="0"/>
          </a:p>
        </p:txBody>
      </p:sp>
      <p:sp>
        <p:nvSpPr>
          <p:cNvPr id="46" name="Text 44"/>
          <p:cNvSpPr/>
          <p:nvPr/>
        </p:nvSpPr>
        <p:spPr>
          <a:xfrm>
            <a:off x="3056709" y="3291424"/>
            <a:ext cx="73152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1,27</a:t>
            </a:r>
            <a:endParaRPr lang="en-US" sz="1500" dirty="0"/>
          </a:p>
        </p:txBody>
      </p:sp>
      <p:sp>
        <p:nvSpPr>
          <p:cNvPr id="47" name="Text 45"/>
          <p:cNvSpPr/>
          <p:nvPr/>
        </p:nvSpPr>
        <p:spPr>
          <a:xfrm>
            <a:off x="3056709" y="554126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2002</a:t>
            </a:r>
            <a:endParaRPr lang="en-US" sz="1200" dirty="0"/>
          </a:p>
        </p:txBody>
      </p:sp>
      <p:sp>
        <p:nvSpPr>
          <p:cNvPr id="48" name="Text 46"/>
          <p:cNvSpPr/>
          <p:nvPr/>
        </p:nvSpPr>
        <p:spPr>
          <a:xfrm>
            <a:off x="6648994" y="2593155"/>
            <a:ext cx="73152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1,75</a:t>
            </a:r>
            <a:endParaRPr lang="en-US" sz="1500" dirty="0"/>
          </a:p>
        </p:txBody>
      </p:sp>
      <p:sp>
        <p:nvSpPr>
          <p:cNvPr id="49" name="Text 47"/>
          <p:cNvSpPr/>
          <p:nvPr/>
        </p:nvSpPr>
        <p:spPr>
          <a:xfrm>
            <a:off x="6648994" y="554126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2022</a:t>
            </a:r>
            <a:endParaRPr lang="en-US" sz="1200" dirty="0"/>
          </a:p>
        </p:txBody>
      </p:sp>
      <p:sp>
        <p:nvSpPr>
          <p:cNvPr id="50" name="Text 48"/>
          <p:cNvSpPr/>
          <p:nvPr/>
        </p:nvSpPr>
        <p:spPr>
          <a:xfrm>
            <a:off x="7620871" y="3116857"/>
            <a:ext cx="73152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1,39</a:t>
            </a:r>
            <a:endParaRPr lang="en-US" sz="1500" dirty="0"/>
          </a:p>
        </p:txBody>
      </p:sp>
      <p:sp>
        <p:nvSpPr>
          <p:cNvPr id="51" name="Text 49"/>
          <p:cNvSpPr/>
          <p:nvPr/>
        </p:nvSpPr>
        <p:spPr>
          <a:xfrm>
            <a:off x="7620871" y="554126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2024</a:t>
            </a:r>
            <a:endParaRPr lang="en-US" sz="1200" dirty="0"/>
          </a:p>
        </p:txBody>
      </p:sp>
      <p:sp>
        <p:nvSpPr>
          <p:cNvPr id="52" name="Shape 50"/>
          <p:cNvSpPr/>
          <p:nvPr/>
        </p:nvSpPr>
        <p:spPr>
          <a:xfrm>
            <a:off x="8503920" y="1783080"/>
            <a:ext cx="3063240" cy="4297680"/>
          </a:xfrm>
          <a:prstGeom prst="roundRect">
            <a:avLst>
              <a:gd name="adj" fmla="val 2687"/>
            </a:avLst>
          </a:prstGeom>
          <a:solidFill>
            <a:srgbClr val="1D1F2B"/>
          </a:solidFill>
          <a:ln w="12700">
            <a:solidFill>
              <a:srgbClr val="1D1F2B"/>
            </a:solidFill>
            <a:prstDash val="solid"/>
          </a:ln>
        </p:spPr>
      </p:sp>
      <p:sp>
        <p:nvSpPr>
          <p:cNvPr id="53" name="Text 51"/>
          <p:cNvSpPr/>
          <p:nvPr/>
        </p:nvSpPr>
        <p:spPr>
          <a:xfrm>
            <a:off x="8732520" y="1920240"/>
            <a:ext cx="2651760" cy="228600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Indice synthétique de fécondité : nombre moyen d’enfants qu’aurait une femme si elle avait, à chaque âge, la fécondité d’une année.</a:t>
            </a:r>
            <a:endParaRPr lang="en-US" sz="1400" dirty="0"/>
          </a:p>
        </p:txBody>
      </p:sp>
      <p:sp>
        <p:nvSpPr>
          <p:cNvPr id="54" name="Text 52"/>
          <p:cNvSpPr/>
          <p:nvPr/>
        </p:nvSpPr>
        <p:spPr>
          <a:xfrm>
            <a:off x="8732520" y="4160520"/>
            <a:ext cx="2651760" cy="182880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En 2024, la Roumanie (1,39) n’a pas une fécondité inférieure à la moyenne européenne (1,34). Le problème vient de la combinaison avec l’émigration et la mortalité.</a:t>
            </a:r>
            <a:endParaRPr lang="en-US" sz="1400" dirty="0"/>
          </a:p>
        </p:txBody>
      </p:sp>
      <p:sp>
        <p:nvSpPr>
          <p:cNvPr id="55" name="Text 5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indice synthétique de fécondité ; les valeurs des trois dernières années sont des estimations.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LIMITES DU MODÈLE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modèle n’est pas une loi</a:t>
            </a:r>
            <a:endParaRPr lang="en-US" sz="3200" dirty="0"/>
          </a:p>
        </p:txBody>
      </p:sp>
      <p:sp>
        <p:nvSpPr>
          <p:cNvPr id="4" name="Shape 2"/>
          <p:cNvSpPr/>
          <p:nvPr/>
        </p:nvSpPr>
        <p:spPr>
          <a:xfrm>
            <a:off x="594360" y="1783080"/>
            <a:ext cx="5349240" cy="4206240"/>
          </a:xfrm>
          <a:prstGeom prst="roundRect">
            <a:avLst>
              <a:gd name="adj" fmla="val 1957"/>
            </a:avLst>
          </a:prstGeom>
          <a:solidFill>
            <a:srgbClr val="ECEAE4"/>
          </a:solidFill>
          <a:ln w="12700">
            <a:solidFill>
              <a:srgbClr val="ECEAE4"/>
            </a:solidFill>
            <a:prstDash val="solid"/>
          </a:ln>
        </p:spPr>
      </p:sp>
      <p:sp>
        <p:nvSpPr>
          <p:cNvPr id="5" name="Text 3"/>
          <p:cNvSpPr/>
          <p:nvPr/>
        </p:nvSpPr>
        <p:spPr>
          <a:xfrm>
            <a:off x="868680" y="1920240"/>
            <a:ext cx="484632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TROIS VARIANTES, D’APRÈS OMRAN</a:t>
            </a:r>
            <a:endParaRPr lang="en-US" sz="1300" dirty="0"/>
          </a:p>
        </p:txBody>
      </p:sp>
      <p:sp>
        <p:nvSpPr>
          <p:cNvPr id="6" name="Text 4"/>
          <p:cNvSpPr/>
          <p:nvPr/>
        </p:nvSpPr>
        <p:spPr>
          <a:xfrm>
            <a:off x="868680" y="2377440"/>
            <a:ext cx="4846320" cy="17373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classique : en environ deux siècles</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accélérée : le Japon</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retardée : la mortalité n’a baissé qu’au siècle dernier</a:t>
            </a:r>
            <a:endParaRPr lang="en-US" sz="1700" dirty="0"/>
          </a:p>
        </p:txBody>
      </p:sp>
      <p:sp>
        <p:nvSpPr>
          <p:cNvPr id="7" name="Text 5"/>
          <p:cNvSpPr/>
          <p:nvPr/>
        </p:nvSpPr>
        <p:spPr>
          <a:xfrm>
            <a:off x="868680" y="4206240"/>
            <a:ext cx="4846320" cy="1554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Le modèle ne dit pas combien de temps durent les étapes, ne garantit pas que la natalité baisse et n’inclut pas la migration.</a:t>
            </a:r>
            <a:endParaRPr lang="en-US" sz="1700" dirty="0"/>
          </a:p>
        </p:txBody>
      </p:sp>
      <p:sp>
        <p:nvSpPr>
          <p:cNvPr id="8" name="Shape 6"/>
          <p:cNvSpPr/>
          <p:nvPr/>
        </p:nvSpPr>
        <p:spPr>
          <a:xfrm>
            <a:off x="6217920" y="1783080"/>
            <a:ext cx="5349240" cy="4206240"/>
          </a:xfrm>
          <a:prstGeom prst="roundRect">
            <a:avLst>
              <a:gd name="adj" fmla="val 1957"/>
            </a:avLst>
          </a:prstGeom>
          <a:solidFill>
            <a:srgbClr val="11121A"/>
          </a:solidFill>
          <a:ln w="12700">
            <a:solidFill>
              <a:srgbClr val="11121A"/>
            </a:solidFill>
            <a:prstDash val="solid"/>
          </a:ln>
        </p:spPr>
      </p:sp>
      <p:sp>
        <p:nvSpPr>
          <p:cNvPr id="9" name="Text 7"/>
          <p:cNvSpPr/>
          <p:nvPr/>
        </p:nvSpPr>
        <p:spPr>
          <a:xfrm>
            <a:off x="6492240" y="1920240"/>
            <a:ext cx="4846320" cy="36576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SECONDE TRANSITION · LESTHAEGHE, VAN DE KAA</a:t>
            </a:r>
            <a:endParaRPr lang="en-US" sz="1300" dirty="0"/>
          </a:p>
        </p:txBody>
      </p:sp>
      <p:sp>
        <p:nvSpPr>
          <p:cNvPr id="10" name="Text 8"/>
          <p:cNvSpPr/>
          <p:nvPr/>
        </p:nvSpPr>
        <p:spPr>
          <a:xfrm>
            <a:off x="6492240" y="2606040"/>
            <a:ext cx="4846320" cy="10058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fécondité reste sous le seuil de remplacement, le mariage est retardé, les valeurs changent.</a:t>
            </a:r>
            <a:endParaRPr lang="en-US" sz="1700" dirty="0"/>
          </a:p>
        </p:txBody>
      </p:sp>
      <p:sp>
        <p:nvSpPr>
          <p:cNvPr id="11" name="Text 9"/>
          <p:cNvSpPr/>
          <p:nvPr/>
        </p:nvSpPr>
        <p:spPr>
          <a:xfrm>
            <a:off x="6492240" y="3657600"/>
            <a:ext cx="4846320" cy="54864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23,6 → 27,2 ans</a:t>
            </a:r>
            <a:endParaRPr lang="en-US" sz="2800" dirty="0"/>
          </a:p>
        </p:txBody>
      </p:sp>
      <p:sp>
        <p:nvSpPr>
          <p:cNvPr id="12" name="Text 10"/>
          <p:cNvSpPr/>
          <p:nvPr/>
        </p:nvSpPr>
        <p:spPr>
          <a:xfrm>
            <a:off x="6492240" y="4206240"/>
            <a:ext cx="4846320" cy="54864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âge moyen à la première naissance, 2000 → 2024 (UE 2024 : 29,9)</a:t>
            </a:r>
            <a:endParaRPr lang="en-US" sz="1400" dirty="0"/>
          </a:p>
        </p:txBody>
      </p:sp>
      <p:sp>
        <p:nvSpPr>
          <p:cNvPr id="13" name="Text 11"/>
          <p:cNvSpPr/>
          <p:nvPr/>
        </p:nvSpPr>
        <p:spPr>
          <a:xfrm>
            <a:off x="6492240" y="4846320"/>
            <a:ext cx="4846320" cy="54864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32,1 %</a:t>
            </a:r>
            <a:endParaRPr lang="en-US" sz="2800" dirty="0"/>
          </a:p>
        </p:txBody>
      </p:sp>
      <p:sp>
        <p:nvSpPr>
          <p:cNvPr id="14" name="Text 12"/>
          <p:cNvSpPr/>
          <p:nvPr/>
        </p:nvSpPr>
        <p:spPr>
          <a:xfrm>
            <a:off x="6492240" y="5394960"/>
            <a:ext cx="4846320" cy="54864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naissances hors mariage, 2024 (UE : 41,1 %)</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VOTE SUR TÉLÉPHONE</a:t>
            </a:r>
            <a:endParaRPr lang="en-US" sz="1300" dirty="0"/>
          </a:p>
        </p:txBody>
      </p:sp>
      <p:sp>
        <p:nvSpPr>
          <p:cNvPr id="5" name="Text 3"/>
          <p:cNvSpPr/>
          <p:nvPr/>
        </p:nvSpPr>
        <p:spPr>
          <a:xfrm>
            <a:off x="594360" y="713232"/>
            <a:ext cx="7498080" cy="100584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Depuis quelle année meurt-il en Roumanie plus de personnes qu’il n’en naît ?</a:t>
            </a:r>
            <a:endParaRPr lang="en-US" sz="2600" dirty="0"/>
          </a:p>
        </p:txBody>
      </p:sp>
      <p:sp>
        <p:nvSpPr>
          <p:cNvPr id="6" name="Shape 4"/>
          <p:cNvSpPr/>
          <p:nvPr/>
        </p:nvSpPr>
        <p:spPr>
          <a:xfrm>
            <a:off x="594360" y="2103120"/>
            <a:ext cx="5349240" cy="1097280"/>
          </a:xfrm>
          <a:prstGeom prst="roundRect">
            <a:avLst>
              <a:gd name="adj" fmla="val 7500"/>
            </a:avLst>
          </a:prstGeom>
          <a:solidFill>
            <a:srgbClr val="1D1F2B"/>
          </a:solidFill>
          <a:ln w="12700">
            <a:solidFill>
              <a:srgbClr val="1D1F2B"/>
            </a:solidFill>
            <a:prstDash val="solid"/>
          </a:ln>
        </p:spPr>
      </p:sp>
      <p:sp>
        <p:nvSpPr>
          <p:cNvPr id="7" name="Text 5"/>
          <p:cNvSpPr/>
          <p:nvPr/>
        </p:nvSpPr>
        <p:spPr>
          <a:xfrm>
            <a:off x="731520" y="2103120"/>
            <a:ext cx="5074920" cy="1097280"/>
          </a:xfrm>
          <a:prstGeom prst="rect">
            <a:avLst/>
          </a:prstGeom>
          <a:noFill/>
          <a:ln/>
        </p:spPr>
        <p:txBody>
          <a:bodyPr wrap="square" lIns="0" tIns="0" rIns="0" bIns="0" rtlCol="0" anchor="ctr"/>
          <a:lstStyle/>
          <a:p>
            <a:pPr algn="ctr" indent="0" marL="0">
              <a:buNone/>
            </a:pPr>
            <a:r>
              <a:rPr lang="en-US" sz="2800" b="1" dirty="0">
                <a:solidFill>
                  <a:srgbClr val="FFFFFF"/>
                </a:solidFill>
                <a:latin typeface="Palatino Linotype" pitchFamily="34" charset="0"/>
                <a:ea typeface="Palatino Linotype" pitchFamily="34" charset="-122"/>
                <a:cs typeface="Palatino Linotype" pitchFamily="34" charset="-120"/>
              </a:rPr>
              <a:t>A  ·  1967</a:t>
            </a:r>
            <a:endParaRPr lang="en-US" sz="2800" dirty="0"/>
          </a:p>
        </p:txBody>
      </p:sp>
      <p:sp>
        <p:nvSpPr>
          <p:cNvPr id="8" name="Shape 6"/>
          <p:cNvSpPr/>
          <p:nvPr/>
        </p:nvSpPr>
        <p:spPr>
          <a:xfrm>
            <a:off x="6217920" y="2103120"/>
            <a:ext cx="5349240" cy="1097280"/>
          </a:xfrm>
          <a:prstGeom prst="roundRect">
            <a:avLst>
              <a:gd name="adj" fmla="val 7500"/>
            </a:avLst>
          </a:prstGeom>
          <a:solidFill>
            <a:srgbClr val="1D1F2B"/>
          </a:solidFill>
          <a:ln w="12700">
            <a:solidFill>
              <a:srgbClr val="1D1F2B"/>
            </a:solidFill>
            <a:prstDash val="solid"/>
          </a:ln>
        </p:spPr>
      </p:sp>
      <p:sp>
        <p:nvSpPr>
          <p:cNvPr id="9" name="Text 7"/>
          <p:cNvSpPr/>
          <p:nvPr/>
        </p:nvSpPr>
        <p:spPr>
          <a:xfrm>
            <a:off x="6355080" y="2103120"/>
            <a:ext cx="5074920" cy="1097280"/>
          </a:xfrm>
          <a:prstGeom prst="rect">
            <a:avLst/>
          </a:prstGeom>
          <a:noFill/>
          <a:ln/>
        </p:spPr>
        <p:txBody>
          <a:bodyPr wrap="square" lIns="0" tIns="0" rIns="0" bIns="0" rtlCol="0" anchor="ctr"/>
          <a:lstStyle/>
          <a:p>
            <a:pPr algn="ctr" indent="0" marL="0">
              <a:buNone/>
            </a:pPr>
            <a:r>
              <a:rPr lang="en-US" sz="2800" b="1" dirty="0">
                <a:solidFill>
                  <a:srgbClr val="FFFFFF"/>
                </a:solidFill>
                <a:latin typeface="Palatino Linotype" pitchFamily="34" charset="0"/>
                <a:ea typeface="Palatino Linotype" pitchFamily="34" charset="-122"/>
                <a:cs typeface="Palatino Linotype" pitchFamily="34" charset="-120"/>
              </a:rPr>
              <a:t>B  ·  1990</a:t>
            </a:r>
            <a:endParaRPr lang="en-US" sz="2800" dirty="0"/>
          </a:p>
        </p:txBody>
      </p:sp>
      <p:sp>
        <p:nvSpPr>
          <p:cNvPr id="10" name="Shape 8"/>
          <p:cNvSpPr/>
          <p:nvPr/>
        </p:nvSpPr>
        <p:spPr>
          <a:xfrm>
            <a:off x="594360" y="3474720"/>
            <a:ext cx="5349240" cy="1097280"/>
          </a:xfrm>
          <a:prstGeom prst="roundRect">
            <a:avLst>
              <a:gd name="adj" fmla="val 7500"/>
            </a:avLst>
          </a:prstGeom>
          <a:solidFill>
            <a:srgbClr val="1D1F2B"/>
          </a:solidFill>
          <a:ln w="12700">
            <a:solidFill>
              <a:srgbClr val="1D1F2B"/>
            </a:solidFill>
            <a:prstDash val="solid"/>
          </a:ln>
        </p:spPr>
      </p:sp>
      <p:sp>
        <p:nvSpPr>
          <p:cNvPr id="11" name="Text 9"/>
          <p:cNvSpPr/>
          <p:nvPr/>
        </p:nvSpPr>
        <p:spPr>
          <a:xfrm>
            <a:off x="731520" y="3474720"/>
            <a:ext cx="5074920" cy="1097280"/>
          </a:xfrm>
          <a:prstGeom prst="rect">
            <a:avLst/>
          </a:prstGeom>
          <a:noFill/>
          <a:ln/>
        </p:spPr>
        <p:txBody>
          <a:bodyPr wrap="square" lIns="0" tIns="0" rIns="0" bIns="0" rtlCol="0" anchor="ctr"/>
          <a:lstStyle/>
          <a:p>
            <a:pPr algn="ctr" indent="0" marL="0">
              <a:buNone/>
            </a:pPr>
            <a:r>
              <a:rPr lang="en-US" sz="2800" b="1" dirty="0">
                <a:solidFill>
                  <a:srgbClr val="FFFFFF"/>
                </a:solidFill>
                <a:latin typeface="Palatino Linotype" pitchFamily="34" charset="0"/>
                <a:ea typeface="Palatino Linotype" pitchFamily="34" charset="-122"/>
                <a:cs typeface="Palatino Linotype" pitchFamily="34" charset="-120"/>
              </a:rPr>
              <a:t>C  ·  1992</a:t>
            </a:r>
            <a:endParaRPr lang="en-US" sz="2800" dirty="0"/>
          </a:p>
        </p:txBody>
      </p:sp>
      <p:sp>
        <p:nvSpPr>
          <p:cNvPr id="12" name="Shape 10"/>
          <p:cNvSpPr/>
          <p:nvPr/>
        </p:nvSpPr>
        <p:spPr>
          <a:xfrm>
            <a:off x="6217920" y="3474720"/>
            <a:ext cx="5349240" cy="1097280"/>
          </a:xfrm>
          <a:prstGeom prst="roundRect">
            <a:avLst>
              <a:gd name="adj" fmla="val 7500"/>
            </a:avLst>
          </a:prstGeom>
          <a:solidFill>
            <a:srgbClr val="1D1F2B"/>
          </a:solidFill>
          <a:ln w="12700">
            <a:solidFill>
              <a:srgbClr val="1D1F2B"/>
            </a:solidFill>
            <a:prstDash val="solid"/>
          </a:ln>
        </p:spPr>
      </p:sp>
      <p:sp>
        <p:nvSpPr>
          <p:cNvPr id="13" name="Text 11"/>
          <p:cNvSpPr/>
          <p:nvPr/>
        </p:nvSpPr>
        <p:spPr>
          <a:xfrm>
            <a:off x="6355080" y="3474720"/>
            <a:ext cx="5074920" cy="1097280"/>
          </a:xfrm>
          <a:prstGeom prst="rect">
            <a:avLst/>
          </a:prstGeom>
          <a:noFill/>
          <a:ln/>
        </p:spPr>
        <p:txBody>
          <a:bodyPr wrap="square" lIns="0" tIns="0" rIns="0" bIns="0" rtlCol="0" anchor="ctr"/>
          <a:lstStyle/>
          <a:p>
            <a:pPr algn="ctr" indent="0" marL="0">
              <a:buNone/>
            </a:pPr>
            <a:r>
              <a:rPr lang="en-US" sz="2800" b="1" dirty="0">
                <a:solidFill>
                  <a:srgbClr val="FFFFFF"/>
                </a:solidFill>
                <a:latin typeface="Palatino Linotype" pitchFamily="34" charset="0"/>
                <a:ea typeface="Palatino Linotype" pitchFamily="34" charset="-122"/>
                <a:cs typeface="Palatino Linotype" pitchFamily="34" charset="-120"/>
              </a:rPr>
              <a:t>D  ·  2021</a:t>
            </a:r>
            <a:endParaRPr lang="en-US" sz="2800" dirty="0"/>
          </a:p>
        </p:txBody>
      </p:sp>
      <p:sp>
        <p:nvSpPr>
          <p:cNvPr id="14" name="Text 12"/>
          <p:cNvSpPr/>
          <p:nvPr/>
        </p:nvSpPr>
        <p:spPr>
          <a:xfrm>
            <a:off x="594360" y="502920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Série d’Eurostat. Une seule réponse. Répondez sur votre téléphone, au code affiché.</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Depuis 1992, il meurt plus de personnes qu’il n’en naît</a:t>
            </a:r>
            <a:endParaRPr lang="en-US" sz="3200" dirty="0"/>
          </a:p>
        </p:txBody>
      </p:sp>
      <p:sp>
        <p:nvSpPr>
          <p:cNvPr id="4" name="Shape 2"/>
          <p:cNvSpPr/>
          <p:nvPr/>
        </p:nvSpPr>
        <p:spPr>
          <a:xfrm>
            <a:off x="594360" y="1920240"/>
            <a:ext cx="10972800" cy="1828800"/>
          </a:xfrm>
          <a:prstGeom prst="roundRect">
            <a:avLst>
              <a:gd name="adj" fmla="val 4500"/>
            </a:avLst>
          </a:prstGeom>
          <a:solidFill>
            <a:srgbClr val="11121A"/>
          </a:solidFill>
          <a:ln w="12700">
            <a:solidFill>
              <a:srgbClr val="11121A"/>
            </a:solidFill>
            <a:prstDash val="solid"/>
          </a:ln>
        </p:spPr>
      </p:sp>
      <p:sp>
        <p:nvSpPr>
          <p:cNvPr id="5" name="Text 3"/>
          <p:cNvSpPr/>
          <p:nvPr/>
        </p:nvSpPr>
        <p:spPr>
          <a:xfrm>
            <a:off x="914400" y="1920240"/>
            <a:ext cx="10332720" cy="1828800"/>
          </a:xfrm>
          <a:prstGeom prst="rect">
            <a:avLst/>
          </a:prstGeom>
          <a:noFill/>
          <a:ln/>
        </p:spPr>
        <p:txBody>
          <a:bodyPr wrap="square" lIns="0" tIns="0" rIns="0" bIns="0" rtlCol="0" anchor="ctr"/>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 · 1992. Dans la série d’Eurostat, le nombre des décès dépasse celui des naissances.</a:t>
            </a:r>
            <a:endParaRPr lang="en-US" sz="2800" dirty="0"/>
          </a:p>
        </p:txBody>
      </p:sp>
      <p:sp>
        <p:nvSpPr>
          <p:cNvPr id="6" name="Shape 4"/>
          <p:cNvSpPr/>
          <p:nvPr/>
        </p:nvSpPr>
        <p:spPr>
          <a:xfrm>
            <a:off x="594360" y="4023360"/>
            <a:ext cx="10972800" cy="2011680"/>
          </a:xfrm>
          <a:prstGeom prst="roundRect">
            <a:avLst>
              <a:gd name="adj" fmla="val 4091"/>
            </a:avLst>
          </a:prstGeom>
          <a:solidFill>
            <a:srgbClr val="ECEAE4"/>
          </a:solidFill>
          <a:ln w="12700">
            <a:solidFill>
              <a:srgbClr val="ECEAE4"/>
            </a:solidFill>
            <a:prstDash val="solid"/>
          </a:ln>
        </p:spPr>
      </p:sp>
      <p:sp>
        <p:nvSpPr>
          <p:cNvPr id="7" name="Text 5"/>
          <p:cNvSpPr/>
          <p:nvPr/>
        </p:nvSpPr>
        <p:spPr>
          <a:xfrm>
            <a:off x="914400" y="4023360"/>
            <a:ext cx="10332720" cy="2011680"/>
          </a:xfrm>
          <a:prstGeom prst="rect">
            <a:avLst/>
          </a:prstGeom>
          <a:noFill/>
          <a:ln/>
        </p:spPr>
        <p:txBody>
          <a:bodyPr wrap="square" lIns="0" tIns="0" rIns="0" bIns="0" rtlCol="0" anchor="ctr"/>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Le modèle classique s’arrête à une population à peu près stationnaire ; la Roumanie a dépassé ce point. Pour la discussion : qu’arriverait-il à la population si l’émigration s’arrêtait, mais que la fécondité restait la même ?</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TRANSITION ÉPIDÉMIOLOGIQUE · OMRAN, 1971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Omran : trois stades de la transition épidémiologique</a:t>
            </a:r>
            <a:endParaRPr lang="en-US" sz="3200" dirty="0"/>
          </a:p>
        </p:txBody>
      </p:sp>
      <p:sp>
        <p:nvSpPr>
          <p:cNvPr id="4" name="Shape 2"/>
          <p:cNvSpPr/>
          <p:nvPr/>
        </p:nvSpPr>
        <p:spPr>
          <a:xfrm>
            <a:off x="594360" y="1828800"/>
            <a:ext cx="3520440" cy="2743200"/>
          </a:xfrm>
          <a:prstGeom prst="roundRect">
            <a:avLst>
              <a:gd name="adj" fmla="val 3000"/>
            </a:avLst>
          </a:prstGeom>
          <a:solidFill>
            <a:srgbClr val="ECEAE4"/>
          </a:solidFill>
          <a:ln w="12700">
            <a:solidFill>
              <a:srgbClr val="ECEAE4"/>
            </a:solidFill>
            <a:prstDash val="solid"/>
          </a:ln>
        </p:spPr>
      </p:sp>
      <p:sp>
        <p:nvSpPr>
          <p:cNvPr id="5" name="Shape 3"/>
          <p:cNvSpPr/>
          <p:nvPr/>
        </p:nvSpPr>
        <p:spPr>
          <a:xfrm>
            <a:off x="594360" y="1828800"/>
            <a:ext cx="3520440" cy="109728"/>
          </a:xfrm>
          <a:prstGeom prst="rect">
            <a:avLst/>
          </a:prstGeom>
          <a:solidFill>
            <a:srgbClr val="FF4757"/>
          </a:solidFill>
          <a:ln w="12700">
            <a:solidFill>
              <a:srgbClr val="FF4757"/>
            </a:solidFill>
            <a:prstDash val="solid"/>
          </a:ln>
        </p:spPr>
      </p:sp>
      <p:sp>
        <p:nvSpPr>
          <p:cNvPr id="6" name="Shape 4"/>
          <p:cNvSpPr/>
          <p:nvPr/>
        </p:nvSpPr>
        <p:spPr>
          <a:xfrm>
            <a:off x="868680" y="2194560"/>
            <a:ext cx="420624" cy="420624"/>
          </a:xfrm>
          <a:prstGeom prst="ellipse">
            <a:avLst/>
          </a:prstGeom>
          <a:solidFill>
            <a:srgbClr val="FF4757"/>
          </a:solidFill>
          <a:ln/>
        </p:spPr>
      </p:sp>
      <p:sp>
        <p:nvSpPr>
          <p:cNvPr id="7" name="Text 5"/>
          <p:cNvSpPr/>
          <p:nvPr/>
        </p:nvSpPr>
        <p:spPr>
          <a:xfrm>
            <a:off x="868680" y="21945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868680" y="2743200"/>
            <a:ext cx="3017520" cy="9144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L’âge des épidémies et des famines</a:t>
            </a:r>
            <a:endParaRPr lang="en-US" sz="1700" dirty="0"/>
          </a:p>
        </p:txBody>
      </p:sp>
      <p:sp>
        <p:nvSpPr>
          <p:cNvPr id="9" name="Text 7"/>
          <p:cNvSpPr/>
          <p:nvPr/>
        </p:nvSpPr>
        <p:spPr>
          <a:xfrm>
            <a:off x="868680" y="3657600"/>
            <a:ext cx="3017520" cy="82296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mortalité élevée et fluctuante, vie courte</a:t>
            </a:r>
            <a:endParaRPr lang="en-US" sz="1500" dirty="0"/>
          </a:p>
        </p:txBody>
      </p:sp>
      <p:sp>
        <p:nvSpPr>
          <p:cNvPr id="10" name="Shape 8"/>
          <p:cNvSpPr/>
          <p:nvPr/>
        </p:nvSpPr>
        <p:spPr>
          <a:xfrm>
            <a:off x="4389120" y="1828800"/>
            <a:ext cx="3520440" cy="2743200"/>
          </a:xfrm>
          <a:prstGeom prst="roundRect">
            <a:avLst>
              <a:gd name="adj" fmla="val 3000"/>
            </a:avLst>
          </a:prstGeom>
          <a:solidFill>
            <a:srgbClr val="ECEAE4"/>
          </a:solidFill>
          <a:ln w="12700">
            <a:solidFill>
              <a:srgbClr val="ECEAE4"/>
            </a:solidFill>
            <a:prstDash val="solid"/>
          </a:ln>
        </p:spPr>
      </p:sp>
      <p:sp>
        <p:nvSpPr>
          <p:cNvPr id="11" name="Shape 9"/>
          <p:cNvSpPr/>
          <p:nvPr/>
        </p:nvSpPr>
        <p:spPr>
          <a:xfrm>
            <a:off x="4389120" y="1828800"/>
            <a:ext cx="3520440" cy="109728"/>
          </a:xfrm>
          <a:prstGeom prst="rect">
            <a:avLst/>
          </a:prstGeom>
          <a:solidFill>
            <a:srgbClr val="FFC24B"/>
          </a:solidFill>
          <a:ln w="12700">
            <a:solidFill>
              <a:srgbClr val="FFC24B"/>
            </a:solidFill>
            <a:prstDash val="solid"/>
          </a:ln>
        </p:spPr>
      </p:sp>
      <p:sp>
        <p:nvSpPr>
          <p:cNvPr id="12" name="Shape 10"/>
          <p:cNvSpPr/>
          <p:nvPr/>
        </p:nvSpPr>
        <p:spPr>
          <a:xfrm>
            <a:off x="4663440" y="2194560"/>
            <a:ext cx="420624" cy="420624"/>
          </a:xfrm>
          <a:prstGeom prst="ellipse">
            <a:avLst/>
          </a:prstGeom>
          <a:solidFill>
            <a:srgbClr val="FFC24B"/>
          </a:solidFill>
          <a:ln/>
        </p:spPr>
      </p:sp>
      <p:sp>
        <p:nvSpPr>
          <p:cNvPr id="13" name="Text 11"/>
          <p:cNvSpPr/>
          <p:nvPr/>
        </p:nvSpPr>
        <p:spPr>
          <a:xfrm>
            <a:off x="4663440" y="21945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4663440" y="2743200"/>
            <a:ext cx="3017520" cy="9144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L’âge du recul des pandémies</a:t>
            </a:r>
            <a:endParaRPr lang="en-US" sz="1700" dirty="0"/>
          </a:p>
        </p:txBody>
      </p:sp>
      <p:sp>
        <p:nvSpPr>
          <p:cNvPr id="15" name="Text 13"/>
          <p:cNvSpPr/>
          <p:nvPr/>
        </p:nvSpPr>
        <p:spPr>
          <a:xfrm>
            <a:off x="4663440" y="3657600"/>
            <a:ext cx="3017520" cy="82296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les pics épidémiques se raréfient, la mortalité baisse</a:t>
            </a:r>
            <a:endParaRPr lang="en-US" sz="1500" dirty="0"/>
          </a:p>
        </p:txBody>
      </p:sp>
      <p:sp>
        <p:nvSpPr>
          <p:cNvPr id="16" name="Shape 14"/>
          <p:cNvSpPr/>
          <p:nvPr/>
        </p:nvSpPr>
        <p:spPr>
          <a:xfrm>
            <a:off x="8183880" y="1828800"/>
            <a:ext cx="3520440" cy="2743200"/>
          </a:xfrm>
          <a:prstGeom prst="roundRect">
            <a:avLst>
              <a:gd name="adj" fmla="val 3000"/>
            </a:avLst>
          </a:prstGeom>
          <a:solidFill>
            <a:srgbClr val="ECEAE4"/>
          </a:solidFill>
          <a:ln w="12700">
            <a:solidFill>
              <a:srgbClr val="ECEAE4"/>
            </a:solidFill>
            <a:prstDash val="solid"/>
          </a:ln>
        </p:spPr>
      </p:sp>
      <p:sp>
        <p:nvSpPr>
          <p:cNvPr id="17" name="Shape 15"/>
          <p:cNvSpPr/>
          <p:nvPr/>
        </p:nvSpPr>
        <p:spPr>
          <a:xfrm>
            <a:off x="8183880" y="1828800"/>
            <a:ext cx="3520440" cy="109728"/>
          </a:xfrm>
          <a:prstGeom prst="rect">
            <a:avLst/>
          </a:prstGeom>
          <a:solidFill>
            <a:srgbClr val="27D3BE"/>
          </a:solidFill>
          <a:ln w="12700">
            <a:solidFill>
              <a:srgbClr val="27D3BE"/>
            </a:solidFill>
            <a:prstDash val="solid"/>
          </a:ln>
        </p:spPr>
      </p:sp>
      <p:sp>
        <p:nvSpPr>
          <p:cNvPr id="18" name="Shape 16"/>
          <p:cNvSpPr/>
          <p:nvPr/>
        </p:nvSpPr>
        <p:spPr>
          <a:xfrm>
            <a:off x="8458200" y="2194560"/>
            <a:ext cx="420624" cy="420624"/>
          </a:xfrm>
          <a:prstGeom prst="ellipse">
            <a:avLst/>
          </a:prstGeom>
          <a:solidFill>
            <a:srgbClr val="27D3BE"/>
          </a:solidFill>
          <a:ln/>
        </p:spPr>
      </p:sp>
      <p:sp>
        <p:nvSpPr>
          <p:cNvPr id="19" name="Text 17"/>
          <p:cNvSpPr/>
          <p:nvPr/>
        </p:nvSpPr>
        <p:spPr>
          <a:xfrm>
            <a:off x="8458200" y="21945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8458200" y="2743200"/>
            <a:ext cx="3017520" cy="9144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L’âge des maladies dégénératives et de celles produites par l’homme</a:t>
            </a:r>
            <a:endParaRPr lang="en-US" sz="1700" dirty="0"/>
          </a:p>
        </p:txBody>
      </p:sp>
      <p:sp>
        <p:nvSpPr>
          <p:cNvPr id="21" name="Text 19"/>
          <p:cNvSpPr/>
          <p:nvPr/>
        </p:nvSpPr>
        <p:spPr>
          <a:xfrm>
            <a:off x="8458200" y="3657600"/>
            <a:ext cx="3017520" cy="82296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les maladies chroniques deviennent les principales causes de décès</a:t>
            </a:r>
            <a:endParaRPr lang="en-US" sz="1500" dirty="0"/>
          </a:p>
        </p:txBody>
      </p:sp>
      <p:sp>
        <p:nvSpPr>
          <p:cNvPr id="22" name="Shape 20"/>
          <p:cNvSpPr/>
          <p:nvPr/>
        </p:nvSpPr>
        <p:spPr>
          <a:xfrm>
            <a:off x="594360" y="4846320"/>
            <a:ext cx="10972800" cy="1188720"/>
          </a:xfrm>
          <a:prstGeom prst="roundRect">
            <a:avLst>
              <a:gd name="adj" fmla="val 6923"/>
            </a:avLst>
          </a:prstGeom>
          <a:solidFill>
            <a:srgbClr val="11121A"/>
          </a:solidFill>
          <a:ln w="12700">
            <a:solidFill>
              <a:srgbClr val="11121A"/>
            </a:solidFill>
            <a:prstDash val="solid"/>
          </a:ln>
        </p:spPr>
      </p:sp>
      <p:sp>
        <p:nvSpPr>
          <p:cNvPr id="23" name="Text 21"/>
          <p:cNvSpPr/>
          <p:nvPr/>
        </p:nvSpPr>
        <p:spPr>
          <a:xfrm>
            <a:off x="914400" y="4846320"/>
            <a:ext cx="10332720" cy="11887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Les plus grands bénéfices : les enfants et les jeunes femmes, les plus vulnérables aux infections et aux risques de la grossesse.</a:t>
            </a:r>
            <a:endParaRPr lang="en-US" sz="1700" dirty="0"/>
          </a:p>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La transition épidémiologique va de pair avec la transition démographique et interagit avec les facteurs démographiques, économiques et sociaux.</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APRÈS OMRAN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Les maladies chroniques apparaissent à des âges de plus en plus avancés</a:t>
            </a:r>
            <a:endParaRPr lang="en-US" sz="3200" dirty="0"/>
          </a:p>
        </p:txBody>
      </p:sp>
      <p:sp>
        <p:nvSpPr>
          <p:cNvPr id="4" name="Shape 2"/>
          <p:cNvSpPr/>
          <p:nvPr/>
        </p:nvSpPr>
        <p:spPr>
          <a:xfrm>
            <a:off x="594360" y="1828800"/>
            <a:ext cx="5486400" cy="4114800"/>
          </a:xfrm>
          <a:prstGeom prst="roundRect">
            <a:avLst>
              <a:gd name="adj" fmla="val 2000"/>
            </a:avLst>
          </a:prstGeom>
          <a:solidFill>
            <a:srgbClr val="1D1F2B"/>
          </a:solidFill>
          <a:ln w="12700">
            <a:solidFill>
              <a:srgbClr val="1D1F2B"/>
            </a:solidFill>
            <a:prstDash val="solid"/>
          </a:ln>
        </p:spPr>
      </p:sp>
      <p:sp>
        <p:nvSpPr>
          <p:cNvPr id="5" name="Text 3"/>
          <p:cNvSpPr/>
          <p:nvPr/>
        </p:nvSpPr>
        <p:spPr>
          <a:xfrm>
            <a:off x="868680" y="1965960"/>
            <a:ext cx="4937760" cy="365760"/>
          </a:xfrm>
          <a:prstGeom prst="rect">
            <a:avLst/>
          </a:prstGeom>
          <a:noFill/>
          <a:ln/>
        </p:spPr>
        <p:txBody>
          <a:bodyPr wrap="square" lIns="0" tIns="0" rIns="0" bIns="0" rtlCol="0" anchor="t"/>
          <a:lstStyle/>
          <a:p>
            <a:pPr indent="0" marL="0">
              <a:buNone/>
            </a:pPr>
            <a:r>
              <a:rPr lang="en-US" sz="1200" b="1" spc="100" kern="0" dirty="0">
                <a:solidFill>
                  <a:srgbClr val="FFC24B"/>
                </a:solidFill>
                <a:latin typeface="Palatino Linotype" pitchFamily="34" charset="0"/>
                <a:ea typeface="Palatino Linotype" pitchFamily="34" charset="-122"/>
                <a:cs typeface="Palatino Linotype" pitchFamily="34" charset="-120"/>
              </a:rPr>
              <a:t>LE QUATRIÈME STADE · OLSHANSKY ET AULT, 1986</a:t>
            </a:r>
            <a:endParaRPr lang="en-US" sz="1200" dirty="0"/>
          </a:p>
        </p:txBody>
      </p:sp>
      <p:sp>
        <p:nvSpPr>
          <p:cNvPr id="6" name="Text 4"/>
          <p:cNvSpPr/>
          <p:nvPr/>
        </p:nvSpPr>
        <p:spPr>
          <a:xfrm>
            <a:off x="868680" y="2468880"/>
            <a:ext cx="4937760" cy="329184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Les maladies dégénératives ne disparaissent pas, mais elles tuent à des âges de plus en plus avancés. L’espérance de vie continue d’augmenter, même si les causes de décès restent les mêmes.</a:t>
            </a:r>
            <a:endParaRPr lang="en-US" sz="2100" dirty="0"/>
          </a:p>
        </p:txBody>
      </p:sp>
      <p:sp>
        <p:nvSpPr>
          <p:cNvPr id="7" name="Shape 5"/>
          <p:cNvSpPr/>
          <p:nvPr/>
        </p:nvSpPr>
        <p:spPr>
          <a:xfrm>
            <a:off x="6355080" y="1828800"/>
            <a:ext cx="5212080" cy="4114800"/>
          </a:xfrm>
          <a:prstGeom prst="roundRect">
            <a:avLst>
              <a:gd name="adj" fmla="val 2000"/>
            </a:avLst>
          </a:prstGeom>
          <a:solidFill>
            <a:srgbClr val="272A38"/>
          </a:solidFill>
          <a:ln w="12700">
            <a:solidFill>
              <a:srgbClr val="272A38"/>
            </a:solidFill>
            <a:prstDash val="solid"/>
          </a:ln>
        </p:spPr>
      </p:sp>
      <p:sp>
        <p:nvSpPr>
          <p:cNvPr id="8" name="Text 6"/>
          <p:cNvSpPr/>
          <p:nvPr/>
        </p:nvSpPr>
        <p:spPr>
          <a:xfrm>
            <a:off x="6629400" y="1965960"/>
            <a:ext cx="4663440" cy="365760"/>
          </a:xfrm>
          <a:prstGeom prst="rect">
            <a:avLst/>
          </a:prstGeom>
          <a:noFill/>
          <a:ln/>
        </p:spPr>
        <p:txBody>
          <a:bodyPr wrap="square" lIns="0" tIns="0" rIns="0" bIns="0" rtlCol="0" anchor="t"/>
          <a:lstStyle/>
          <a:p>
            <a:pPr indent="0" marL="0">
              <a:buNone/>
            </a:pPr>
            <a:r>
              <a:rPr lang="en-US" sz="1200" b="1" spc="200" kern="0" dirty="0">
                <a:solidFill>
                  <a:srgbClr val="27D3BE"/>
                </a:solidFill>
                <a:latin typeface="Palatino Linotype" pitchFamily="34" charset="0"/>
                <a:ea typeface="Palatino Linotype" pitchFamily="34" charset="-122"/>
                <a:cs typeface="Palatino Linotype" pitchFamily="34" charset="-120"/>
              </a:rPr>
              <a:t>LA SYNTHÈSE DE 2014 · SANTOSA ET COLL.</a:t>
            </a:r>
            <a:endParaRPr lang="en-US" sz="1200" dirty="0"/>
          </a:p>
        </p:txBody>
      </p:sp>
      <p:sp>
        <p:nvSpPr>
          <p:cNvPr id="9" name="Text 7"/>
          <p:cNvSpPr/>
          <p:nvPr/>
        </p:nvSpPr>
        <p:spPr>
          <a:xfrm>
            <a:off x="6629400" y="2468880"/>
            <a:ext cx="4663440" cy="24688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Omran lui-même a reconnu par la suite un, et peut-être deux, nouveaux stades. Dans le quatrième, l’espérance de vie continue d’augmenter. Le cinquième, avec des maladies nouvelles et la réapparition de maladies anciennes, avait déjà été décrit par d’autres auteurs.</a:t>
            </a:r>
            <a:endParaRPr lang="en-US" sz="1700" dirty="0"/>
          </a:p>
        </p:txBody>
      </p:sp>
      <p:sp>
        <p:nvSpPr>
          <p:cNvPr id="10" name="Text 8"/>
          <p:cNvSpPr/>
          <p:nvPr/>
        </p:nvSpPr>
        <p:spPr>
          <a:xfrm>
            <a:off x="6629400" y="5029200"/>
            <a:ext cx="4663440" cy="73152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Ces extensions ne sont pas développées dans le cours.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VOTE SUR TÉLÉPHONE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Qu’est-ce qui décrit le mieux le quatrième stade de la transition épidémiologique ?</a:t>
            </a:r>
            <a:endParaRPr lang="en-US" sz="2800" dirty="0"/>
          </a:p>
        </p:txBody>
      </p:sp>
      <p:sp>
        <p:nvSpPr>
          <p:cNvPr id="6" name="Shape 4"/>
          <p:cNvSpPr/>
          <p:nvPr/>
        </p:nvSpPr>
        <p:spPr>
          <a:xfrm>
            <a:off x="594360" y="2103120"/>
            <a:ext cx="5349240" cy="1234440"/>
          </a:xfrm>
          <a:prstGeom prst="roundRect">
            <a:avLst>
              <a:gd name="adj" fmla="val 6667"/>
            </a:avLst>
          </a:prstGeom>
          <a:solidFill>
            <a:srgbClr val="1D1F2B"/>
          </a:solidFill>
          <a:ln w="12700">
            <a:solidFill>
              <a:srgbClr val="1D1F2B"/>
            </a:solidFill>
            <a:prstDash val="solid"/>
          </a:ln>
        </p:spPr>
      </p:sp>
      <p:sp>
        <p:nvSpPr>
          <p:cNvPr id="7" name="Text 5"/>
          <p:cNvSpPr/>
          <p:nvPr/>
        </p:nvSpPr>
        <p:spPr>
          <a:xfrm>
            <a:off x="731520" y="2103120"/>
            <a:ext cx="507492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A  ·  Les maladies infectieuses disparaissent complètement</a:t>
            </a:r>
            <a:endParaRPr lang="en-US" sz="1800" dirty="0"/>
          </a:p>
        </p:txBody>
      </p:sp>
      <p:sp>
        <p:nvSpPr>
          <p:cNvPr id="8" name="Shape 6"/>
          <p:cNvSpPr/>
          <p:nvPr/>
        </p:nvSpPr>
        <p:spPr>
          <a:xfrm>
            <a:off x="6217920" y="2103120"/>
            <a:ext cx="5349240" cy="1234440"/>
          </a:xfrm>
          <a:prstGeom prst="roundRect">
            <a:avLst>
              <a:gd name="adj" fmla="val 6667"/>
            </a:avLst>
          </a:prstGeom>
          <a:solidFill>
            <a:srgbClr val="1D1F2B"/>
          </a:solidFill>
          <a:ln w="12700">
            <a:solidFill>
              <a:srgbClr val="1D1F2B"/>
            </a:solidFill>
            <a:prstDash val="solid"/>
          </a:ln>
        </p:spPr>
      </p:sp>
      <p:sp>
        <p:nvSpPr>
          <p:cNvPr id="9" name="Text 7"/>
          <p:cNvSpPr/>
          <p:nvPr/>
        </p:nvSpPr>
        <p:spPr>
          <a:xfrm>
            <a:off x="6355080" y="2103120"/>
            <a:ext cx="507492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B  ·  Les maladies dégénératives apparaissent et tuent à des âges de plus en plus avancés</a:t>
            </a:r>
            <a:endParaRPr lang="en-US" sz="1800" dirty="0"/>
          </a:p>
        </p:txBody>
      </p:sp>
      <p:sp>
        <p:nvSpPr>
          <p:cNvPr id="10" name="Shape 8"/>
          <p:cNvSpPr/>
          <p:nvPr/>
        </p:nvSpPr>
        <p:spPr>
          <a:xfrm>
            <a:off x="594360" y="3566160"/>
            <a:ext cx="5349240" cy="1234440"/>
          </a:xfrm>
          <a:prstGeom prst="roundRect">
            <a:avLst>
              <a:gd name="adj" fmla="val 6667"/>
            </a:avLst>
          </a:prstGeom>
          <a:solidFill>
            <a:srgbClr val="1D1F2B"/>
          </a:solidFill>
          <a:ln w="12700">
            <a:solidFill>
              <a:srgbClr val="1D1F2B"/>
            </a:solidFill>
            <a:prstDash val="solid"/>
          </a:ln>
        </p:spPr>
      </p:sp>
      <p:sp>
        <p:nvSpPr>
          <p:cNvPr id="11" name="Text 9"/>
          <p:cNvSpPr/>
          <p:nvPr/>
        </p:nvSpPr>
        <p:spPr>
          <a:xfrm>
            <a:off x="731520" y="3566160"/>
            <a:ext cx="507492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C  ·  La mortalité augmente de nouveau</a:t>
            </a:r>
            <a:endParaRPr lang="en-US" sz="1800" dirty="0"/>
          </a:p>
        </p:txBody>
      </p:sp>
      <p:sp>
        <p:nvSpPr>
          <p:cNvPr id="12" name="Shape 10"/>
          <p:cNvSpPr/>
          <p:nvPr/>
        </p:nvSpPr>
        <p:spPr>
          <a:xfrm>
            <a:off x="6217920" y="3566160"/>
            <a:ext cx="5349240" cy="1234440"/>
          </a:xfrm>
          <a:prstGeom prst="roundRect">
            <a:avLst>
              <a:gd name="adj" fmla="val 6667"/>
            </a:avLst>
          </a:prstGeom>
          <a:solidFill>
            <a:srgbClr val="1D1F2B"/>
          </a:solidFill>
          <a:ln w="12700">
            <a:solidFill>
              <a:srgbClr val="1D1F2B"/>
            </a:solidFill>
            <a:prstDash val="solid"/>
          </a:ln>
        </p:spPr>
      </p:sp>
      <p:sp>
        <p:nvSpPr>
          <p:cNvPr id="13" name="Text 11"/>
          <p:cNvSpPr/>
          <p:nvPr/>
        </p:nvSpPr>
        <p:spPr>
          <a:xfrm>
            <a:off x="6355080" y="3566160"/>
            <a:ext cx="507492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D  ·  La natalité descend sous la mortalité</a:t>
            </a:r>
            <a:endParaRPr lang="en-US" sz="1800" dirty="0"/>
          </a:p>
        </p:txBody>
      </p:sp>
      <p:sp>
        <p:nvSpPr>
          <p:cNvPr id="14" name="Text 12"/>
          <p:cNvSpPr/>
          <p:nvPr/>
        </p:nvSpPr>
        <p:spPr>
          <a:xfrm>
            <a:off x="594360" y="521208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Une seule réponse. Répondez sur votre téléphone, au code affiché.</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Les maladies dégénératives tuent à des âges de plus en plus avancés</a:t>
            </a:r>
            <a:endParaRPr lang="en-US" sz="3000" dirty="0"/>
          </a:p>
        </p:txBody>
      </p:sp>
      <p:sp>
        <p:nvSpPr>
          <p:cNvPr id="4" name="Shape 2"/>
          <p:cNvSpPr/>
          <p:nvPr/>
        </p:nvSpPr>
        <p:spPr>
          <a:xfrm>
            <a:off x="594360" y="1920240"/>
            <a:ext cx="10972800" cy="1828800"/>
          </a:xfrm>
          <a:prstGeom prst="roundRect">
            <a:avLst>
              <a:gd name="adj" fmla="val 4500"/>
            </a:avLst>
          </a:prstGeom>
          <a:solidFill>
            <a:srgbClr val="11121A"/>
          </a:solidFill>
          <a:ln w="12700">
            <a:solidFill>
              <a:srgbClr val="11121A"/>
            </a:solidFill>
            <a:prstDash val="solid"/>
          </a:ln>
        </p:spPr>
      </p:sp>
      <p:sp>
        <p:nvSpPr>
          <p:cNvPr id="5" name="Text 3"/>
          <p:cNvSpPr/>
          <p:nvPr/>
        </p:nvSpPr>
        <p:spPr>
          <a:xfrm>
            <a:off x="914400" y="1920240"/>
            <a:ext cx="10332720" cy="1828800"/>
          </a:xfrm>
          <a:prstGeom prst="rect">
            <a:avLst/>
          </a:prstGeom>
          <a:noFill/>
          <a:ln/>
        </p:spPr>
        <p:txBody>
          <a:bodyPr wrap="square" lIns="0" tIns="0" rIns="0" bIns="0" rtlCol="0" anchor="ctr"/>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B · Les maladies dégénératives apparaissent et tuent à des âges de plus en plus avancés.</a:t>
            </a:r>
            <a:endParaRPr lang="en-US" sz="2800" dirty="0"/>
          </a:p>
        </p:txBody>
      </p:sp>
      <p:sp>
        <p:nvSpPr>
          <p:cNvPr id="6" name="Shape 4"/>
          <p:cNvSpPr/>
          <p:nvPr/>
        </p:nvSpPr>
        <p:spPr>
          <a:xfrm>
            <a:off x="594360" y="4114800"/>
            <a:ext cx="10972800" cy="1554480"/>
          </a:xfrm>
          <a:prstGeom prst="roundRect">
            <a:avLst>
              <a:gd name="adj" fmla="val 5294"/>
            </a:avLst>
          </a:prstGeom>
          <a:solidFill>
            <a:srgbClr val="ECEAE4"/>
          </a:solidFill>
          <a:ln w="12700">
            <a:solidFill>
              <a:srgbClr val="ECEAE4"/>
            </a:solidFill>
            <a:prstDash val="solid"/>
          </a:ln>
        </p:spPr>
      </p:sp>
      <p:sp>
        <p:nvSpPr>
          <p:cNvPr id="7" name="Text 5"/>
          <p:cNvSpPr/>
          <p:nvPr/>
        </p:nvSpPr>
        <p:spPr>
          <a:xfrm>
            <a:off x="914400" y="4114800"/>
            <a:ext cx="10332720" cy="1554480"/>
          </a:xfrm>
          <a:prstGeom prst="rect">
            <a:avLst/>
          </a:prstGeom>
          <a:noFill/>
          <a:ln/>
        </p:spPr>
        <p:txBody>
          <a:bodyPr wrap="square" lIns="0" tIns="0" rIns="0" bIns="0" rtlCol="0" anchor="ctr"/>
          <a:lstStyle/>
          <a:p>
            <a:pPr indent="0" marL="0">
              <a:buNone/>
            </a:pPr>
            <a:r>
              <a:rPr lang="en-US" sz="2200" dirty="0">
                <a:solidFill>
                  <a:srgbClr val="11121A"/>
                </a:solidFill>
                <a:latin typeface="Palatino Linotype" pitchFamily="34" charset="0"/>
                <a:ea typeface="Palatino Linotype" pitchFamily="34" charset="-122"/>
                <a:cs typeface="Palatino Linotype" pitchFamily="34" charset="-120"/>
              </a:rPr>
              <a:t>Le choix D décrit une population qui diminue, et non un stade de la transition épidémiologique.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ROUMANIE AU STADE DES MALADIES CHRONIQUES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Appareil circulatoire : plus de la moitié des décès</a:t>
            </a:r>
            <a:endParaRPr lang="en-US" sz="3200" dirty="0"/>
          </a:p>
        </p:txBody>
      </p:sp>
      <p:sp>
        <p:nvSpPr>
          <p:cNvPr id="4" name="Shape 2"/>
          <p:cNvSpPr/>
          <p:nvPr/>
        </p:nvSpPr>
        <p:spPr>
          <a:xfrm>
            <a:off x="594360" y="1828800"/>
            <a:ext cx="5349240" cy="4114800"/>
          </a:xfrm>
          <a:prstGeom prst="roundRect">
            <a:avLst>
              <a:gd name="adj" fmla="val 2000"/>
            </a:avLst>
          </a:prstGeom>
          <a:solidFill>
            <a:srgbClr val="11121A"/>
          </a:solidFill>
          <a:ln w="12700">
            <a:solidFill>
              <a:srgbClr val="11121A"/>
            </a:solidFill>
            <a:prstDash val="solid"/>
          </a:ln>
        </p:spPr>
      </p:sp>
      <p:sp>
        <p:nvSpPr>
          <p:cNvPr id="5" name="Text 3"/>
          <p:cNvSpPr/>
          <p:nvPr/>
        </p:nvSpPr>
        <p:spPr>
          <a:xfrm>
            <a:off x="868680" y="2011680"/>
            <a:ext cx="4846320" cy="1463040"/>
          </a:xfrm>
          <a:prstGeom prst="rect">
            <a:avLst/>
          </a:prstGeom>
          <a:noFill/>
          <a:ln/>
        </p:spPr>
        <p:txBody>
          <a:bodyPr wrap="square" lIns="0" tIns="0" rIns="0" bIns="0" rtlCol="0" anchor="ctr"/>
          <a:lstStyle/>
          <a:p>
            <a:pPr indent="0" marL="0">
              <a:buNone/>
            </a:pPr>
            <a:r>
              <a:rPr lang="en-US" sz="8000" b="1" dirty="0">
                <a:solidFill>
                  <a:srgbClr val="FF4757"/>
                </a:solidFill>
                <a:latin typeface="Palatino Linotype" pitchFamily="34" charset="0"/>
                <a:ea typeface="Palatino Linotype" pitchFamily="34" charset="-122"/>
                <a:cs typeface="Palatino Linotype" pitchFamily="34" charset="-120"/>
              </a:rPr>
              <a:t>54,0 %</a:t>
            </a:r>
            <a:endParaRPr lang="en-US" sz="8000" dirty="0"/>
          </a:p>
        </p:txBody>
      </p:sp>
      <p:sp>
        <p:nvSpPr>
          <p:cNvPr id="6" name="Text 4"/>
          <p:cNvSpPr/>
          <p:nvPr/>
        </p:nvSpPr>
        <p:spPr>
          <a:xfrm>
            <a:off x="868680" y="3566160"/>
            <a:ext cx="4846320" cy="10058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des 244 061 décès de 2023 sont dus aux maladies de l’appareil circulatoire.</a:t>
            </a:r>
            <a:endParaRPr lang="en-US" sz="1800" dirty="0"/>
          </a:p>
        </p:txBody>
      </p:sp>
      <p:sp>
        <p:nvSpPr>
          <p:cNvPr id="7" name="Text 5"/>
          <p:cNvSpPr/>
          <p:nvPr/>
        </p:nvSpPr>
        <p:spPr>
          <a:xfrm>
            <a:off x="868680" y="4663440"/>
            <a:ext cx="4846320" cy="10972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Premières places de la charge de morbidité (DALY) : la cardiopathie ischémique et l’accident vasculaire cérébral.</a:t>
            </a:r>
            <a:endParaRPr lang="en-US" sz="1500" dirty="0"/>
          </a:p>
        </p:txBody>
      </p:sp>
      <p:sp>
        <p:nvSpPr>
          <p:cNvPr id="8" name="Shape 6"/>
          <p:cNvSpPr/>
          <p:nvPr/>
        </p:nvSpPr>
        <p:spPr>
          <a:xfrm>
            <a:off x="6217920" y="1828800"/>
            <a:ext cx="5349240" cy="4114800"/>
          </a:xfrm>
          <a:prstGeom prst="roundRect">
            <a:avLst>
              <a:gd name="adj" fmla="val 2000"/>
            </a:avLst>
          </a:prstGeom>
          <a:solidFill>
            <a:srgbClr val="ECEAE4"/>
          </a:solidFill>
          <a:ln w="12700">
            <a:solidFill>
              <a:srgbClr val="ECEAE4"/>
            </a:solidFill>
            <a:prstDash val="solid"/>
          </a:ln>
        </p:spPr>
      </p:sp>
      <p:sp>
        <p:nvSpPr>
          <p:cNvPr id="9" name="Text 7"/>
          <p:cNvSpPr/>
          <p:nvPr/>
        </p:nvSpPr>
        <p:spPr>
          <a:xfrm>
            <a:off x="6492240" y="2011680"/>
            <a:ext cx="4846320" cy="1463040"/>
          </a:xfrm>
          <a:prstGeom prst="rect">
            <a:avLst/>
          </a:prstGeom>
          <a:noFill/>
          <a:ln/>
        </p:spPr>
        <p:txBody>
          <a:bodyPr wrap="square" lIns="0" tIns="0" rIns="0" bIns="0" rtlCol="0" anchor="ctr"/>
          <a:lstStyle/>
          <a:p>
            <a:pPr indent="0" marL="0">
              <a:buNone/>
            </a:pPr>
            <a:r>
              <a:rPr lang="en-US" sz="8000" b="1" dirty="0">
                <a:solidFill>
                  <a:srgbClr val="0E7C6B"/>
                </a:solidFill>
                <a:latin typeface="Palatino Linotype" pitchFamily="34" charset="0"/>
                <a:ea typeface="Palatino Linotype" pitchFamily="34" charset="-122"/>
                <a:cs typeface="Palatino Linotype" pitchFamily="34" charset="-120"/>
              </a:rPr>
              <a:t>21,5 %</a:t>
            </a:r>
            <a:endParaRPr lang="en-US" sz="8000" dirty="0"/>
          </a:p>
        </p:txBody>
      </p:sp>
      <p:sp>
        <p:nvSpPr>
          <p:cNvPr id="10" name="Text 8"/>
          <p:cNvSpPr/>
          <p:nvPr/>
        </p:nvSpPr>
        <p:spPr>
          <a:xfrm>
            <a:off x="6492240" y="3566160"/>
            <a:ext cx="4846320" cy="14630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probabilité qu’un adulte de 30 ans meure avant 70 ans d’un cancer, d’une maladie cardiovasculaire, du diabète ou d’une maladie respiratoire chronique (2021).</a:t>
            </a:r>
            <a:endParaRPr lang="en-US" sz="1700" dirty="0"/>
          </a:p>
        </p:txBody>
      </p:sp>
      <p:sp>
        <p:nvSpPr>
          <p:cNvPr id="11" name="Text 9"/>
          <p:cNvSpPr/>
          <p:nvPr/>
        </p:nvSpPr>
        <p:spPr>
          <a:xfrm>
            <a:off x="6492240" y="5120640"/>
            <a:ext cx="4846320" cy="73152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Suite au cours 4.</a:t>
            </a:r>
            <a:endParaRPr lang="en-US" sz="16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Sources : Eurostat, 2023 ; OMS, 2021 (ODD 3.4.1) ; GBD.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ROUMANIE EN TROIS ACTES · PREMIER ACTE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1967 : les naissances doublent presque en un an</a:t>
            </a:r>
            <a:endParaRPr lang="en-US" sz="3200" dirty="0"/>
          </a:p>
        </p:txBody>
      </p:sp>
      <p:sp>
        <p:nvSpPr>
          <p:cNvPr id="4" name="Shape 2"/>
          <p:cNvSpPr/>
          <p:nvPr/>
        </p:nvSpPr>
        <p:spPr>
          <a:xfrm>
            <a:off x="698934" y="3426159"/>
            <a:ext cx="83183" cy="2243121"/>
          </a:xfrm>
          <a:prstGeom prst="rect">
            <a:avLst/>
          </a:prstGeom>
          <a:solidFill>
            <a:srgbClr val="4B5068"/>
          </a:solidFill>
          <a:ln w="12700">
            <a:solidFill>
              <a:srgbClr val="4B5068"/>
            </a:solidFill>
            <a:prstDash val="solid"/>
          </a:ln>
        </p:spPr>
      </p:sp>
      <p:sp>
        <p:nvSpPr>
          <p:cNvPr id="5" name="Shape 3"/>
          <p:cNvSpPr/>
          <p:nvPr/>
        </p:nvSpPr>
        <p:spPr>
          <a:xfrm>
            <a:off x="808385" y="3600531"/>
            <a:ext cx="83183" cy="2068749"/>
          </a:xfrm>
          <a:prstGeom prst="rect">
            <a:avLst/>
          </a:prstGeom>
          <a:solidFill>
            <a:srgbClr val="4B5068"/>
          </a:solidFill>
          <a:ln w="12700">
            <a:solidFill>
              <a:srgbClr val="4B5068"/>
            </a:solidFill>
            <a:prstDash val="solid"/>
          </a:ln>
        </p:spPr>
      </p:sp>
      <p:sp>
        <p:nvSpPr>
          <p:cNvPr id="6" name="Shape 4"/>
          <p:cNvSpPr/>
          <p:nvPr/>
        </p:nvSpPr>
        <p:spPr>
          <a:xfrm>
            <a:off x="917836" y="3746196"/>
            <a:ext cx="83183" cy="1923084"/>
          </a:xfrm>
          <a:prstGeom prst="rect">
            <a:avLst/>
          </a:prstGeom>
          <a:solidFill>
            <a:srgbClr val="4B5068"/>
          </a:solidFill>
          <a:ln w="12700">
            <a:solidFill>
              <a:srgbClr val="4B5068"/>
            </a:solidFill>
            <a:prstDash val="solid"/>
          </a:ln>
        </p:spPr>
      </p:sp>
      <p:sp>
        <p:nvSpPr>
          <p:cNvPr id="7" name="Shape 5"/>
          <p:cNvSpPr/>
          <p:nvPr/>
        </p:nvSpPr>
        <p:spPr>
          <a:xfrm>
            <a:off x="1027287" y="3791404"/>
            <a:ext cx="83183" cy="1877876"/>
          </a:xfrm>
          <a:prstGeom prst="rect">
            <a:avLst/>
          </a:prstGeom>
          <a:solidFill>
            <a:srgbClr val="4B5068"/>
          </a:solidFill>
          <a:ln w="12700">
            <a:solidFill>
              <a:srgbClr val="4B5068"/>
            </a:solidFill>
            <a:prstDash val="solid"/>
          </a:ln>
        </p:spPr>
      </p:sp>
      <p:sp>
        <p:nvSpPr>
          <p:cNvPr id="8" name="Shape 6"/>
          <p:cNvSpPr/>
          <p:nvPr/>
        </p:nvSpPr>
        <p:spPr>
          <a:xfrm>
            <a:off x="1136738" y="3839184"/>
            <a:ext cx="83183" cy="1830096"/>
          </a:xfrm>
          <a:prstGeom prst="rect">
            <a:avLst/>
          </a:prstGeom>
          <a:solidFill>
            <a:srgbClr val="4B5068"/>
          </a:solidFill>
          <a:ln w="12700">
            <a:solidFill>
              <a:srgbClr val="4B5068"/>
            </a:solidFill>
            <a:prstDash val="solid"/>
          </a:ln>
        </p:spPr>
      </p:sp>
      <p:sp>
        <p:nvSpPr>
          <p:cNvPr id="9" name="Shape 7"/>
          <p:cNvSpPr/>
          <p:nvPr/>
        </p:nvSpPr>
        <p:spPr>
          <a:xfrm>
            <a:off x="1246189" y="3896631"/>
            <a:ext cx="83183" cy="1772649"/>
          </a:xfrm>
          <a:prstGeom prst="rect">
            <a:avLst/>
          </a:prstGeom>
          <a:solidFill>
            <a:srgbClr val="4B5068"/>
          </a:solidFill>
          <a:ln w="12700">
            <a:solidFill>
              <a:srgbClr val="4B5068"/>
            </a:solidFill>
            <a:prstDash val="solid"/>
          </a:ln>
        </p:spPr>
      </p:sp>
      <p:sp>
        <p:nvSpPr>
          <p:cNvPr id="10" name="Shape 8"/>
          <p:cNvSpPr/>
          <p:nvPr/>
        </p:nvSpPr>
        <p:spPr>
          <a:xfrm>
            <a:off x="1355640" y="3926459"/>
            <a:ext cx="83183" cy="1742821"/>
          </a:xfrm>
          <a:prstGeom prst="rect">
            <a:avLst/>
          </a:prstGeom>
          <a:solidFill>
            <a:srgbClr val="FFC24B"/>
          </a:solidFill>
          <a:ln w="12700">
            <a:solidFill>
              <a:srgbClr val="FFC24B"/>
            </a:solidFill>
            <a:prstDash val="solid"/>
          </a:ln>
        </p:spPr>
      </p:sp>
      <p:sp>
        <p:nvSpPr>
          <p:cNvPr id="11" name="Shape 9"/>
          <p:cNvSpPr/>
          <p:nvPr/>
        </p:nvSpPr>
        <p:spPr>
          <a:xfrm>
            <a:off x="1465090" y="2308403"/>
            <a:ext cx="83183" cy="3360877"/>
          </a:xfrm>
          <a:prstGeom prst="rect">
            <a:avLst/>
          </a:prstGeom>
          <a:solidFill>
            <a:srgbClr val="FF4757"/>
          </a:solidFill>
          <a:ln w="12700">
            <a:solidFill>
              <a:srgbClr val="FF4757"/>
            </a:solidFill>
            <a:prstDash val="solid"/>
          </a:ln>
        </p:spPr>
      </p:sp>
      <p:sp>
        <p:nvSpPr>
          <p:cNvPr id="12" name="Shape 10"/>
          <p:cNvSpPr/>
          <p:nvPr/>
        </p:nvSpPr>
        <p:spPr>
          <a:xfrm>
            <a:off x="1574541" y="2319057"/>
            <a:ext cx="83183" cy="3350223"/>
          </a:xfrm>
          <a:prstGeom prst="rect">
            <a:avLst/>
          </a:prstGeom>
          <a:solidFill>
            <a:srgbClr val="4B5068"/>
          </a:solidFill>
          <a:ln w="12700">
            <a:solidFill>
              <a:srgbClr val="4B5068"/>
            </a:solidFill>
            <a:prstDash val="solid"/>
          </a:ln>
        </p:spPr>
      </p:sp>
      <p:sp>
        <p:nvSpPr>
          <p:cNvPr id="13" name="Shape 11"/>
          <p:cNvSpPr/>
          <p:nvPr/>
        </p:nvSpPr>
        <p:spPr>
          <a:xfrm>
            <a:off x="1683992" y="2703228"/>
            <a:ext cx="83183" cy="2966052"/>
          </a:xfrm>
          <a:prstGeom prst="rect">
            <a:avLst/>
          </a:prstGeom>
          <a:solidFill>
            <a:srgbClr val="4B5068"/>
          </a:solidFill>
          <a:ln w="12700">
            <a:solidFill>
              <a:srgbClr val="4B5068"/>
            </a:solidFill>
            <a:prstDash val="solid"/>
          </a:ln>
        </p:spPr>
      </p:sp>
      <p:sp>
        <p:nvSpPr>
          <p:cNvPr id="14" name="Shape 12"/>
          <p:cNvSpPr/>
          <p:nvPr/>
        </p:nvSpPr>
        <p:spPr>
          <a:xfrm>
            <a:off x="1793443" y="2949866"/>
            <a:ext cx="83183" cy="2719414"/>
          </a:xfrm>
          <a:prstGeom prst="rect">
            <a:avLst/>
          </a:prstGeom>
          <a:solidFill>
            <a:srgbClr val="4B5068"/>
          </a:solidFill>
          <a:ln w="12700">
            <a:solidFill>
              <a:srgbClr val="4B5068"/>
            </a:solidFill>
            <a:prstDash val="solid"/>
          </a:ln>
        </p:spPr>
      </p:sp>
      <p:sp>
        <p:nvSpPr>
          <p:cNvPr id="15" name="Shape 13"/>
          <p:cNvSpPr/>
          <p:nvPr/>
        </p:nvSpPr>
        <p:spPr>
          <a:xfrm>
            <a:off x="1902894" y="3121093"/>
            <a:ext cx="83183" cy="2548187"/>
          </a:xfrm>
          <a:prstGeom prst="rect">
            <a:avLst/>
          </a:prstGeom>
          <a:solidFill>
            <a:srgbClr val="4B5068"/>
          </a:solidFill>
          <a:ln w="12700">
            <a:solidFill>
              <a:srgbClr val="4B5068"/>
            </a:solidFill>
            <a:prstDash val="solid"/>
          </a:ln>
        </p:spPr>
      </p:sp>
      <p:sp>
        <p:nvSpPr>
          <p:cNvPr id="16" name="Shape 14"/>
          <p:cNvSpPr/>
          <p:nvPr/>
        </p:nvSpPr>
        <p:spPr>
          <a:xfrm>
            <a:off x="2012345" y="3191098"/>
            <a:ext cx="83183" cy="2478182"/>
          </a:xfrm>
          <a:prstGeom prst="rect">
            <a:avLst/>
          </a:prstGeom>
          <a:solidFill>
            <a:srgbClr val="4B5068"/>
          </a:solidFill>
          <a:ln w="12700">
            <a:solidFill>
              <a:srgbClr val="4B5068"/>
            </a:solidFill>
            <a:prstDash val="solid"/>
          </a:ln>
        </p:spPr>
      </p:sp>
      <p:sp>
        <p:nvSpPr>
          <p:cNvPr id="17" name="Shape 15"/>
          <p:cNvSpPr/>
          <p:nvPr/>
        </p:nvSpPr>
        <p:spPr>
          <a:xfrm>
            <a:off x="2121796" y="3257690"/>
            <a:ext cx="83183" cy="2411590"/>
          </a:xfrm>
          <a:prstGeom prst="rect">
            <a:avLst/>
          </a:prstGeom>
          <a:solidFill>
            <a:srgbClr val="4B5068"/>
          </a:solidFill>
          <a:ln w="12700">
            <a:solidFill>
              <a:srgbClr val="4B5068"/>
            </a:solidFill>
            <a:prstDash val="solid"/>
          </a:ln>
        </p:spPr>
      </p:sp>
      <p:sp>
        <p:nvSpPr>
          <p:cNvPr id="18" name="Shape 16"/>
          <p:cNvSpPr/>
          <p:nvPr/>
        </p:nvSpPr>
        <p:spPr>
          <a:xfrm>
            <a:off x="2231247" y="2945422"/>
            <a:ext cx="83183" cy="2723858"/>
          </a:xfrm>
          <a:prstGeom prst="rect">
            <a:avLst/>
          </a:prstGeom>
          <a:solidFill>
            <a:srgbClr val="4B5068"/>
          </a:solidFill>
          <a:ln w="12700">
            <a:solidFill>
              <a:srgbClr val="4B5068"/>
            </a:solidFill>
            <a:prstDash val="solid"/>
          </a:ln>
        </p:spPr>
      </p:sp>
      <p:sp>
        <p:nvSpPr>
          <p:cNvPr id="19" name="Shape 17"/>
          <p:cNvSpPr/>
          <p:nvPr/>
        </p:nvSpPr>
        <p:spPr>
          <a:xfrm>
            <a:off x="2340698" y="3006218"/>
            <a:ext cx="83183" cy="2663062"/>
          </a:xfrm>
          <a:prstGeom prst="rect">
            <a:avLst/>
          </a:prstGeom>
          <a:solidFill>
            <a:srgbClr val="4B5068"/>
          </a:solidFill>
          <a:ln w="12700">
            <a:solidFill>
              <a:srgbClr val="4B5068"/>
            </a:solidFill>
            <a:prstDash val="solid"/>
          </a:ln>
        </p:spPr>
      </p:sp>
      <p:sp>
        <p:nvSpPr>
          <p:cNvPr id="20" name="Shape 18"/>
          <p:cNvSpPr/>
          <p:nvPr/>
        </p:nvSpPr>
        <p:spPr>
          <a:xfrm>
            <a:off x="2450149" y="3011516"/>
            <a:ext cx="83183" cy="2657764"/>
          </a:xfrm>
          <a:prstGeom prst="rect">
            <a:avLst/>
          </a:prstGeom>
          <a:solidFill>
            <a:srgbClr val="4B5068"/>
          </a:solidFill>
          <a:ln w="12700">
            <a:solidFill>
              <a:srgbClr val="4B5068"/>
            </a:solidFill>
            <a:prstDash val="solid"/>
          </a:ln>
        </p:spPr>
      </p:sp>
      <p:sp>
        <p:nvSpPr>
          <p:cNvPr id="21" name="Shape 19"/>
          <p:cNvSpPr/>
          <p:nvPr/>
        </p:nvSpPr>
        <p:spPr>
          <a:xfrm>
            <a:off x="2559600" y="2969455"/>
            <a:ext cx="83183" cy="2699825"/>
          </a:xfrm>
          <a:prstGeom prst="rect">
            <a:avLst/>
          </a:prstGeom>
          <a:solidFill>
            <a:srgbClr val="4B5068"/>
          </a:solidFill>
          <a:ln w="12700">
            <a:solidFill>
              <a:srgbClr val="4B5068"/>
            </a:solidFill>
            <a:prstDash val="solid"/>
          </a:ln>
        </p:spPr>
      </p:sp>
      <p:sp>
        <p:nvSpPr>
          <p:cNvPr id="22" name="Shape 20"/>
          <p:cNvSpPr/>
          <p:nvPr/>
        </p:nvSpPr>
        <p:spPr>
          <a:xfrm>
            <a:off x="2669050" y="3016324"/>
            <a:ext cx="83183" cy="2652956"/>
          </a:xfrm>
          <a:prstGeom prst="rect">
            <a:avLst/>
          </a:prstGeom>
          <a:solidFill>
            <a:srgbClr val="4B5068"/>
          </a:solidFill>
          <a:ln w="12700">
            <a:solidFill>
              <a:srgbClr val="4B5068"/>
            </a:solidFill>
            <a:prstDash val="solid"/>
          </a:ln>
        </p:spPr>
      </p:sp>
      <p:sp>
        <p:nvSpPr>
          <p:cNvPr id="23" name="Shape 21"/>
          <p:cNvSpPr/>
          <p:nvPr/>
        </p:nvSpPr>
        <p:spPr>
          <a:xfrm>
            <a:off x="2778501" y="3054501"/>
            <a:ext cx="83183" cy="2614779"/>
          </a:xfrm>
          <a:prstGeom prst="rect">
            <a:avLst/>
          </a:prstGeom>
          <a:solidFill>
            <a:srgbClr val="4B5068"/>
          </a:solidFill>
          <a:ln w="12700">
            <a:solidFill>
              <a:srgbClr val="4B5068"/>
            </a:solidFill>
            <a:prstDash val="solid"/>
          </a:ln>
        </p:spPr>
      </p:sp>
      <p:sp>
        <p:nvSpPr>
          <p:cNvPr id="24" name="Shape 22"/>
          <p:cNvSpPr/>
          <p:nvPr/>
        </p:nvSpPr>
        <p:spPr>
          <a:xfrm>
            <a:off x="2887952" y="3129002"/>
            <a:ext cx="83183" cy="2540278"/>
          </a:xfrm>
          <a:prstGeom prst="rect">
            <a:avLst/>
          </a:prstGeom>
          <a:solidFill>
            <a:srgbClr val="4B5068"/>
          </a:solidFill>
          <a:ln w="12700">
            <a:solidFill>
              <a:srgbClr val="4B5068"/>
            </a:solidFill>
            <a:prstDash val="solid"/>
          </a:ln>
        </p:spPr>
      </p:sp>
      <p:sp>
        <p:nvSpPr>
          <p:cNvPr id="25" name="Shape 23"/>
          <p:cNvSpPr/>
          <p:nvPr/>
        </p:nvSpPr>
        <p:spPr>
          <a:xfrm>
            <a:off x="2997403" y="3242374"/>
            <a:ext cx="83183" cy="2426906"/>
          </a:xfrm>
          <a:prstGeom prst="rect">
            <a:avLst/>
          </a:prstGeom>
          <a:solidFill>
            <a:srgbClr val="4B5068"/>
          </a:solidFill>
          <a:ln w="12700">
            <a:solidFill>
              <a:srgbClr val="4B5068"/>
            </a:solidFill>
            <a:prstDash val="solid"/>
          </a:ln>
        </p:spPr>
      </p:sp>
      <p:sp>
        <p:nvSpPr>
          <p:cNvPr id="26" name="Shape 24"/>
          <p:cNvSpPr/>
          <p:nvPr/>
        </p:nvSpPr>
        <p:spPr>
          <a:xfrm>
            <a:off x="3106854" y="3476289"/>
            <a:ext cx="83183" cy="2192991"/>
          </a:xfrm>
          <a:prstGeom prst="rect">
            <a:avLst/>
          </a:prstGeom>
          <a:solidFill>
            <a:srgbClr val="4B5068"/>
          </a:solidFill>
          <a:ln w="12700">
            <a:solidFill>
              <a:srgbClr val="4B5068"/>
            </a:solidFill>
            <a:prstDash val="solid"/>
          </a:ln>
        </p:spPr>
      </p:sp>
      <p:sp>
        <p:nvSpPr>
          <p:cNvPr id="27" name="Shape 25"/>
          <p:cNvSpPr/>
          <p:nvPr/>
        </p:nvSpPr>
        <p:spPr>
          <a:xfrm>
            <a:off x="3216305" y="3621935"/>
            <a:ext cx="83183" cy="2047345"/>
          </a:xfrm>
          <a:prstGeom prst="rect">
            <a:avLst/>
          </a:prstGeom>
          <a:solidFill>
            <a:srgbClr val="4B5068"/>
          </a:solidFill>
          <a:ln w="12700">
            <a:solidFill>
              <a:srgbClr val="4B5068"/>
            </a:solidFill>
            <a:prstDash val="solid"/>
          </a:ln>
        </p:spPr>
      </p:sp>
      <p:sp>
        <p:nvSpPr>
          <p:cNvPr id="28" name="Shape 26"/>
          <p:cNvSpPr/>
          <p:nvPr/>
        </p:nvSpPr>
        <p:spPr>
          <a:xfrm>
            <a:off x="3325756" y="3435711"/>
            <a:ext cx="83183" cy="2233569"/>
          </a:xfrm>
          <a:prstGeom prst="rect">
            <a:avLst/>
          </a:prstGeom>
          <a:solidFill>
            <a:srgbClr val="4B5068"/>
          </a:solidFill>
          <a:ln w="12700">
            <a:solidFill>
              <a:srgbClr val="4B5068"/>
            </a:solidFill>
            <a:prstDash val="solid"/>
          </a:ln>
        </p:spPr>
      </p:sp>
      <p:sp>
        <p:nvSpPr>
          <p:cNvPr id="29" name="Shape 27"/>
          <p:cNvSpPr/>
          <p:nvPr/>
        </p:nvSpPr>
        <p:spPr>
          <a:xfrm>
            <a:off x="3435207" y="3384409"/>
            <a:ext cx="83183" cy="2284871"/>
          </a:xfrm>
          <a:prstGeom prst="rect">
            <a:avLst/>
          </a:prstGeom>
          <a:solidFill>
            <a:srgbClr val="4B5068"/>
          </a:solidFill>
          <a:ln w="12700">
            <a:solidFill>
              <a:srgbClr val="4B5068"/>
            </a:solidFill>
            <a:prstDash val="solid"/>
          </a:ln>
        </p:spPr>
      </p:sp>
      <p:sp>
        <p:nvSpPr>
          <p:cNvPr id="30" name="Shape 28"/>
          <p:cNvSpPr/>
          <p:nvPr/>
        </p:nvSpPr>
        <p:spPr>
          <a:xfrm>
            <a:off x="3544658" y="3269152"/>
            <a:ext cx="83183" cy="2400128"/>
          </a:xfrm>
          <a:prstGeom prst="rect">
            <a:avLst/>
          </a:prstGeom>
          <a:solidFill>
            <a:srgbClr val="4B5068"/>
          </a:solidFill>
          <a:ln w="12700">
            <a:solidFill>
              <a:srgbClr val="4B5068"/>
            </a:solidFill>
            <a:prstDash val="solid"/>
          </a:ln>
        </p:spPr>
      </p:sp>
      <p:sp>
        <p:nvSpPr>
          <p:cNvPr id="31" name="Shape 29"/>
          <p:cNvSpPr/>
          <p:nvPr/>
        </p:nvSpPr>
        <p:spPr>
          <a:xfrm>
            <a:off x="3654109" y="3229014"/>
            <a:ext cx="83183" cy="2440266"/>
          </a:xfrm>
          <a:prstGeom prst="rect">
            <a:avLst/>
          </a:prstGeom>
          <a:solidFill>
            <a:srgbClr val="4B5068"/>
          </a:solidFill>
          <a:ln w="12700">
            <a:solidFill>
              <a:srgbClr val="4B5068"/>
            </a:solidFill>
            <a:prstDash val="solid"/>
          </a:ln>
        </p:spPr>
      </p:sp>
      <p:sp>
        <p:nvSpPr>
          <p:cNvPr id="32" name="Shape 30"/>
          <p:cNvSpPr/>
          <p:nvPr/>
        </p:nvSpPr>
        <p:spPr>
          <a:xfrm>
            <a:off x="3763560" y="3249112"/>
            <a:ext cx="83183" cy="2420168"/>
          </a:xfrm>
          <a:prstGeom prst="rect">
            <a:avLst/>
          </a:prstGeom>
          <a:solidFill>
            <a:srgbClr val="4B5068"/>
          </a:solidFill>
          <a:ln w="12700">
            <a:solidFill>
              <a:srgbClr val="4B5068"/>
            </a:solidFill>
            <a:prstDash val="solid"/>
          </a:ln>
        </p:spPr>
      </p:sp>
      <p:sp>
        <p:nvSpPr>
          <p:cNvPr id="33" name="Shape 31"/>
          <p:cNvSpPr/>
          <p:nvPr/>
        </p:nvSpPr>
        <p:spPr>
          <a:xfrm>
            <a:off x="3873010" y="3315971"/>
            <a:ext cx="83183" cy="2353309"/>
          </a:xfrm>
          <a:prstGeom prst="rect">
            <a:avLst/>
          </a:prstGeom>
          <a:solidFill>
            <a:srgbClr val="27D3BE"/>
          </a:solidFill>
          <a:ln w="12700">
            <a:solidFill>
              <a:srgbClr val="27D3BE"/>
            </a:solidFill>
            <a:prstDash val="solid"/>
          </a:ln>
        </p:spPr>
      </p:sp>
      <p:sp>
        <p:nvSpPr>
          <p:cNvPr id="34" name="Shape 32"/>
          <p:cNvSpPr/>
          <p:nvPr/>
        </p:nvSpPr>
        <p:spPr>
          <a:xfrm>
            <a:off x="3982461" y="3664933"/>
            <a:ext cx="83183" cy="2004347"/>
          </a:xfrm>
          <a:prstGeom prst="rect">
            <a:avLst/>
          </a:prstGeom>
          <a:solidFill>
            <a:srgbClr val="27D3BE"/>
          </a:solidFill>
          <a:ln w="12700">
            <a:solidFill>
              <a:srgbClr val="27D3BE"/>
            </a:solidFill>
            <a:prstDash val="solid"/>
          </a:ln>
        </p:spPr>
      </p:sp>
      <p:sp>
        <p:nvSpPr>
          <p:cNvPr id="35" name="Shape 33"/>
          <p:cNvSpPr/>
          <p:nvPr/>
        </p:nvSpPr>
        <p:spPr>
          <a:xfrm>
            <a:off x="4091912" y="3916289"/>
            <a:ext cx="83183" cy="1752991"/>
          </a:xfrm>
          <a:prstGeom prst="rect">
            <a:avLst/>
          </a:prstGeom>
          <a:solidFill>
            <a:srgbClr val="4B5068"/>
          </a:solidFill>
          <a:ln w="12700">
            <a:solidFill>
              <a:srgbClr val="4B5068"/>
            </a:solidFill>
            <a:prstDash val="solid"/>
          </a:ln>
        </p:spPr>
      </p:sp>
      <p:sp>
        <p:nvSpPr>
          <p:cNvPr id="36" name="Shape 34"/>
          <p:cNvSpPr/>
          <p:nvPr/>
        </p:nvSpPr>
        <p:spPr>
          <a:xfrm>
            <a:off x="4201363" y="4011060"/>
            <a:ext cx="83183" cy="1658220"/>
          </a:xfrm>
          <a:prstGeom prst="rect">
            <a:avLst/>
          </a:prstGeom>
          <a:solidFill>
            <a:srgbClr val="4B5068"/>
          </a:solidFill>
          <a:ln w="12700">
            <a:solidFill>
              <a:srgbClr val="4B5068"/>
            </a:solidFill>
            <a:prstDash val="solid"/>
          </a:ln>
        </p:spPr>
      </p:sp>
      <p:sp>
        <p:nvSpPr>
          <p:cNvPr id="37" name="Shape 35"/>
          <p:cNvSpPr/>
          <p:nvPr/>
        </p:nvSpPr>
        <p:spPr>
          <a:xfrm>
            <a:off x="4310814" y="4077282"/>
            <a:ext cx="83183" cy="1591998"/>
          </a:xfrm>
          <a:prstGeom prst="rect">
            <a:avLst/>
          </a:prstGeom>
          <a:solidFill>
            <a:srgbClr val="4B5068"/>
          </a:solidFill>
          <a:ln w="12700">
            <a:solidFill>
              <a:srgbClr val="4B5068"/>
            </a:solidFill>
            <a:prstDash val="solid"/>
          </a:ln>
        </p:spPr>
      </p:sp>
      <p:sp>
        <p:nvSpPr>
          <p:cNvPr id="38" name="Shape 36"/>
          <p:cNvSpPr/>
          <p:nvPr/>
        </p:nvSpPr>
        <p:spPr>
          <a:xfrm>
            <a:off x="4420265" y="4098030"/>
            <a:ext cx="83183" cy="1571250"/>
          </a:xfrm>
          <a:prstGeom prst="rect">
            <a:avLst/>
          </a:prstGeom>
          <a:solidFill>
            <a:srgbClr val="4B5068"/>
          </a:solidFill>
          <a:ln w="12700">
            <a:solidFill>
              <a:srgbClr val="4B5068"/>
            </a:solidFill>
            <a:prstDash val="solid"/>
          </a:ln>
        </p:spPr>
      </p:sp>
      <p:sp>
        <p:nvSpPr>
          <p:cNvPr id="39" name="Shape 37"/>
          <p:cNvSpPr/>
          <p:nvPr/>
        </p:nvSpPr>
        <p:spPr>
          <a:xfrm>
            <a:off x="4529716" y="4162323"/>
            <a:ext cx="83183" cy="1506957"/>
          </a:xfrm>
          <a:prstGeom prst="rect">
            <a:avLst/>
          </a:prstGeom>
          <a:solidFill>
            <a:srgbClr val="4B5068"/>
          </a:solidFill>
          <a:ln w="12700">
            <a:solidFill>
              <a:srgbClr val="4B5068"/>
            </a:solidFill>
            <a:prstDash val="solid"/>
          </a:ln>
        </p:spPr>
      </p:sp>
      <p:sp>
        <p:nvSpPr>
          <p:cNvPr id="40" name="Shape 38"/>
          <p:cNvSpPr/>
          <p:nvPr/>
        </p:nvSpPr>
        <p:spPr>
          <a:xfrm>
            <a:off x="4639167" y="4196023"/>
            <a:ext cx="83183" cy="1473257"/>
          </a:xfrm>
          <a:prstGeom prst="rect">
            <a:avLst/>
          </a:prstGeom>
          <a:solidFill>
            <a:srgbClr val="4B5068"/>
          </a:solidFill>
          <a:ln w="12700">
            <a:solidFill>
              <a:srgbClr val="4B5068"/>
            </a:solidFill>
            <a:prstDash val="solid"/>
          </a:ln>
        </p:spPr>
      </p:sp>
      <p:sp>
        <p:nvSpPr>
          <p:cNvPr id="41" name="Shape 39"/>
          <p:cNvSpPr/>
          <p:nvPr/>
        </p:nvSpPr>
        <p:spPr>
          <a:xfrm>
            <a:off x="4748618" y="4160724"/>
            <a:ext cx="83183" cy="1508556"/>
          </a:xfrm>
          <a:prstGeom prst="rect">
            <a:avLst/>
          </a:prstGeom>
          <a:solidFill>
            <a:srgbClr val="4B5068"/>
          </a:solidFill>
          <a:ln w="12700">
            <a:solidFill>
              <a:srgbClr val="4B5068"/>
            </a:solidFill>
            <a:prstDash val="solid"/>
          </a:ln>
        </p:spPr>
      </p:sp>
      <p:sp>
        <p:nvSpPr>
          <p:cNvPr id="42" name="Shape 40"/>
          <p:cNvSpPr/>
          <p:nvPr/>
        </p:nvSpPr>
        <p:spPr>
          <a:xfrm>
            <a:off x="4858069" y="4158139"/>
            <a:ext cx="83183" cy="1511141"/>
          </a:xfrm>
          <a:prstGeom prst="rect">
            <a:avLst/>
          </a:prstGeom>
          <a:solidFill>
            <a:srgbClr val="4B5068"/>
          </a:solidFill>
          <a:ln w="12700">
            <a:solidFill>
              <a:srgbClr val="4B5068"/>
            </a:solidFill>
            <a:prstDash val="solid"/>
          </a:ln>
        </p:spPr>
      </p:sp>
      <p:sp>
        <p:nvSpPr>
          <p:cNvPr id="43" name="Shape 41"/>
          <p:cNvSpPr/>
          <p:nvPr/>
        </p:nvSpPr>
        <p:spPr>
          <a:xfrm>
            <a:off x="4967520" y="4175314"/>
            <a:ext cx="83183" cy="1493966"/>
          </a:xfrm>
          <a:prstGeom prst="rect">
            <a:avLst/>
          </a:prstGeom>
          <a:solidFill>
            <a:srgbClr val="4B5068"/>
          </a:solidFill>
          <a:ln w="12700">
            <a:solidFill>
              <a:srgbClr val="4B5068"/>
            </a:solidFill>
            <a:prstDash val="solid"/>
          </a:ln>
        </p:spPr>
      </p:sp>
      <p:sp>
        <p:nvSpPr>
          <p:cNvPr id="44" name="Shape 42"/>
          <p:cNvSpPr/>
          <p:nvPr/>
        </p:nvSpPr>
        <p:spPr>
          <a:xfrm>
            <a:off x="5076970" y="4175817"/>
            <a:ext cx="83183" cy="1493463"/>
          </a:xfrm>
          <a:prstGeom prst="rect">
            <a:avLst/>
          </a:prstGeom>
          <a:solidFill>
            <a:srgbClr val="4B5068"/>
          </a:solidFill>
          <a:ln w="12700">
            <a:solidFill>
              <a:srgbClr val="4B5068"/>
            </a:solidFill>
            <a:prstDash val="solid"/>
          </a:ln>
        </p:spPr>
      </p:sp>
      <p:sp>
        <p:nvSpPr>
          <p:cNvPr id="45" name="Shape 43"/>
          <p:cNvSpPr/>
          <p:nvPr/>
        </p:nvSpPr>
        <p:spPr>
          <a:xfrm>
            <a:off x="5186421" y="4265945"/>
            <a:ext cx="83183" cy="1403335"/>
          </a:xfrm>
          <a:prstGeom prst="rect">
            <a:avLst/>
          </a:prstGeom>
          <a:solidFill>
            <a:srgbClr val="4B5068"/>
          </a:solidFill>
          <a:ln w="12700">
            <a:solidFill>
              <a:srgbClr val="4B5068"/>
            </a:solidFill>
            <a:prstDash val="solid"/>
          </a:ln>
        </p:spPr>
      </p:sp>
      <p:sp>
        <p:nvSpPr>
          <p:cNvPr id="46" name="Shape 44"/>
          <p:cNvSpPr/>
          <p:nvPr/>
        </p:nvSpPr>
        <p:spPr>
          <a:xfrm>
            <a:off x="5295872" y="4328601"/>
            <a:ext cx="83183" cy="1340679"/>
          </a:xfrm>
          <a:prstGeom prst="rect">
            <a:avLst/>
          </a:prstGeom>
          <a:solidFill>
            <a:srgbClr val="4B5068"/>
          </a:solidFill>
          <a:ln w="12700">
            <a:solidFill>
              <a:srgbClr val="4B5068"/>
            </a:solidFill>
            <a:prstDash val="solid"/>
          </a:ln>
        </p:spPr>
      </p:sp>
      <p:sp>
        <p:nvSpPr>
          <p:cNvPr id="47" name="Shape 45"/>
          <p:cNvSpPr/>
          <p:nvPr/>
        </p:nvSpPr>
        <p:spPr>
          <a:xfrm>
            <a:off x="5405323" y="4316311"/>
            <a:ext cx="83183" cy="1352969"/>
          </a:xfrm>
          <a:prstGeom prst="rect">
            <a:avLst/>
          </a:prstGeom>
          <a:solidFill>
            <a:srgbClr val="4B5068"/>
          </a:solidFill>
          <a:ln w="12700">
            <a:solidFill>
              <a:srgbClr val="4B5068"/>
            </a:solidFill>
            <a:prstDash val="solid"/>
          </a:ln>
        </p:spPr>
      </p:sp>
      <p:sp>
        <p:nvSpPr>
          <p:cNvPr id="48" name="Shape 46"/>
          <p:cNvSpPr/>
          <p:nvPr/>
        </p:nvSpPr>
        <p:spPr>
          <a:xfrm>
            <a:off x="5514774" y="4292099"/>
            <a:ext cx="83183" cy="1377181"/>
          </a:xfrm>
          <a:prstGeom prst="rect">
            <a:avLst/>
          </a:prstGeom>
          <a:solidFill>
            <a:srgbClr val="4B5068"/>
          </a:solidFill>
          <a:ln w="12700">
            <a:solidFill>
              <a:srgbClr val="4B5068"/>
            </a:solidFill>
            <a:prstDash val="solid"/>
          </a:ln>
        </p:spPr>
      </p:sp>
      <p:sp>
        <p:nvSpPr>
          <p:cNvPr id="49" name="Shape 47"/>
          <p:cNvSpPr/>
          <p:nvPr/>
        </p:nvSpPr>
        <p:spPr>
          <a:xfrm>
            <a:off x="5624225" y="4261793"/>
            <a:ext cx="83183" cy="1407487"/>
          </a:xfrm>
          <a:prstGeom prst="rect">
            <a:avLst/>
          </a:prstGeom>
          <a:solidFill>
            <a:srgbClr val="4B5068"/>
          </a:solidFill>
          <a:ln w="12700">
            <a:solidFill>
              <a:srgbClr val="4B5068"/>
            </a:solidFill>
            <a:prstDash val="solid"/>
          </a:ln>
        </p:spPr>
      </p:sp>
      <p:sp>
        <p:nvSpPr>
          <p:cNvPr id="50" name="Shape 48"/>
          <p:cNvSpPr/>
          <p:nvPr/>
        </p:nvSpPr>
        <p:spPr>
          <a:xfrm>
            <a:off x="5733676" y="4271581"/>
            <a:ext cx="83183" cy="1397699"/>
          </a:xfrm>
          <a:prstGeom prst="rect">
            <a:avLst/>
          </a:prstGeom>
          <a:solidFill>
            <a:srgbClr val="4B5068"/>
          </a:solidFill>
          <a:ln w="12700">
            <a:solidFill>
              <a:srgbClr val="4B5068"/>
            </a:solidFill>
            <a:prstDash val="solid"/>
          </a:ln>
        </p:spPr>
      </p:sp>
      <p:sp>
        <p:nvSpPr>
          <p:cNvPr id="51" name="Shape 49"/>
          <p:cNvSpPr/>
          <p:nvPr/>
        </p:nvSpPr>
        <p:spPr>
          <a:xfrm>
            <a:off x="5843127" y="4301861"/>
            <a:ext cx="83183" cy="1367419"/>
          </a:xfrm>
          <a:prstGeom prst="rect">
            <a:avLst/>
          </a:prstGeom>
          <a:solidFill>
            <a:srgbClr val="4B5068"/>
          </a:solidFill>
          <a:ln w="12700">
            <a:solidFill>
              <a:srgbClr val="4B5068"/>
            </a:solidFill>
            <a:prstDash val="solid"/>
          </a:ln>
        </p:spPr>
      </p:sp>
      <p:sp>
        <p:nvSpPr>
          <p:cNvPr id="52" name="Shape 50"/>
          <p:cNvSpPr/>
          <p:nvPr/>
        </p:nvSpPr>
        <p:spPr>
          <a:xfrm>
            <a:off x="5952578" y="4256189"/>
            <a:ext cx="83183" cy="1413091"/>
          </a:xfrm>
          <a:prstGeom prst="rect">
            <a:avLst/>
          </a:prstGeom>
          <a:solidFill>
            <a:srgbClr val="4B5068"/>
          </a:solidFill>
          <a:ln w="12700">
            <a:solidFill>
              <a:srgbClr val="4B5068"/>
            </a:solidFill>
            <a:prstDash val="solid"/>
          </a:ln>
        </p:spPr>
      </p:sp>
      <p:sp>
        <p:nvSpPr>
          <p:cNvPr id="53" name="Shape 51"/>
          <p:cNvSpPr/>
          <p:nvPr/>
        </p:nvSpPr>
        <p:spPr>
          <a:xfrm>
            <a:off x="6062029" y="4253081"/>
            <a:ext cx="83183" cy="1416199"/>
          </a:xfrm>
          <a:prstGeom prst="rect">
            <a:avLst/>
          </a:prstGeom>
          <a:solidFill>
            <a:srgbClr val="4B5068"/>
          </a:solidFill>
          <a:ln w="12700">
            <a:solidFill>
              <a:srgbClr val="4B5068"/>
            </a:solidFill>
            <a:prstDash val="solid"/>
          </a:ln>
        </p:spPr>
      </p:sp>
      <p:sp>
        <p:nvSpPr>
          <p:cNvPr id="54" name="Shape 52"/>
          <p:cNvSpPr/>
          <p:nvPr/>
        </p:nvSpPr>
        <p:spPr>
          <a:xfrm>
            <a:off x="6171480" y="4317966"/>
            <a:ext cx="83183" cy="1351314"/>
          </a:xfrm>
          <a:prstGeom prst="rect">
            <a:avLst/>
          </a:prstGeom>
          <a:solidFill>
            <a:srgbClr val="4B5068"/>
          </a:solidFill>
          <a:ln w="12700">
            <a:solidFill>
              <a:srgbClr val="4B5068"/>
            </a:solidFill>
            <a:prstDash val="solid"/>
          </a:ln>
        </p:spPr>
      </p:sp>
      <p:sp>
        <p:nvSpPr>
          <p:cNvPr id="55" name="Shape 53"/>
          <p:cNvSpPr/>
          <p:nvPr/>
        </p:nvSpPr>
        <p:spPr>
          <a:xfrm>
            <a:off x="6280930" y="4419583"/>
            <a:ext cx="83183" cy="1249697"/>
          </a:xfrm>
          <a:prstGeom prst="rect">
            <a:avLst/>
          </a:prstGeom>
          <a:solidFill>
            <a:srgbClr val="4B5068"/>
          </a:solidFill>
          <a:ln w="12700">
            <a:solidFill>
              <a:srgbClr val="4B5068"/>
            </a:solidFill>
            <a:prstDash val="solid"/>
          </a:ln>
        </p:spPr>
      </p:sp>
      <p:sp>
        <p:nvSpPr>
          <p:cNvPr id="56" name="Shape 54"/>
          <p:cNvSpPr/>
          <p:nvPr/>
        </p:nvSpPr>
        <p:spPr>
          <a:xfrm>
            <a:off x="6390381" y="4388621"/>
            <a:ext cx="83183" cy="1280659"/>
          </a:xfrm>
          <a:prstGeom prst="rect">
            <a:avLst/>
          </a:prstGeom>
          <a:solidFill>
            <a:srgbClr val="4B5068"/>
          </a:solidFill>
          <a:ln w="12700">
            <a:solidFill>
              <a:srgbClr val="4B5068"/>
            </a:solidFill>
            <a:prstDash val="solid"/>
          </a:ln>
        </p:spPr>
      </p:sp>
      <p:sp>
        <p:nvSpPr>
          <p:cNvPr id="57" name="Shape 55"/>
          <p:cNvSpPr/>
          <p:nvPr/>
        </p:nvSpPr>
        <p:spPr>
          <a:xfrm>
            <a:off x="6499832" y="4468255"/>
            <a:ext cx="83183" cy="1201025"/>
          </a:xfrm>
          <a:prstGeom prst="rect">
            <a:avLst/>
          </a:prstGeom>
          <a:solidFill>
            <a:srgbClr val="4B5068"/>
          </a:solidFill>
          <a:ln w="12700">
            <a:solidFill>
              <a:srgbClr val="4B5068"/>
            </a:solidFill>
            <a:prstDash val="solid"/>
          </a:ln>
        </p:spPr>
      </p:sp>
      <p:sp>
        <p:nvSpPr>
          <p:cNvPr id="58" name="Shape 56"/>
          <p:cNvSpPr/>
          <p:nvPr/>
        </p:nvSpPr>
        <p:spPr>
          <a:xfrm>
            <a:off x="6609283" y="4403675"/>
            <a:ext cx="83183" cy="1265605"/>
          </a:xfrm>
          <a:prstGeom prst="rect">
            <a:avLst/>
          </a:prstGeom>
          <a:solidFill>
            <a:srgbClr val="4B5068"/>
          </a:solidFill>
          <a:ln w="12700">
            <a:solidFill>
              <a:srgbClr val="4B5068"/>
            </a:solidFill>
            <a:prstDash val="solid"/>
          </a:ln>
        </p:spPr>
      </p:sp>
      <p:sp>
        <p:nvSpPr>
          <p:cNvPr id="59" name="Shape 57"/>
          <p:cNvSpPr/>
          <p:nvPr/>
        </p:nvSpPr>
        <p:spPr>
          <a:xfrm>
            <a:off x="6718734" y="4382947"/>
            <a:ext cx="83183" cy="1286333"/>
          </a:xfrm>
          <a:prstGeom prst="rect">
            <a:avLst/>
          </a:prstGeom>
          <a:solidFill>
            <a:srgbClr val="4B5068"/>
          </a:solidFill>
          <a:ln w="12700">
            <a:solidFill>
              <a:srgbClr val="4B5068"/>
            </a:solidFill>
            <a:prstDash val="solid"/>
          </a:ln>
        </p:spPr>
      </p:sp>
      <p:sp>
        <p:nvSpPr>
          <p:cNvPr id="60" name="Shape 58"/>
          <p:cNvSpPr/>
          <p:nvPr/>
        </p:nvSpPr>
        <p:spPr>
          <a:xfrm>
            <a:off x="6828185" y="4358888"/>
            <a:ext cx="83183" cy="1310392"/>
          </a:xfrm>
          <a:prstGeom prst="rect">
            <a:avLst/>
          </a:prstGeom>
          <a:solidFill>
            <a:srgbClr val="4B5068"/>
          </a:solidFill>
          <a:ln w="12700">
            <a:solidFill>
              <a:srgbClr val="4B5068"/>
            </a:solidFill>
            <a:prstDash val="solid"/>
          </a:ln>
        </p:spPr>
      </p:sp>
      <p:sp>
        <p:nvSpPr>
          <p:cNvPr id="61" name="Shape 59"/>
          <p:cNvSpPr/>
          <p:nvPr/>
        </p:nvSpPr>
        <p:spPr>
          <a:xfrm>
            <a:off x="6937636" y="4328213"/>
            <a:ext cx="83183" cy="1341067"/>
          </a:xfrm>
          <a:prstGeom prst="rect">
            <a:avLst/>
          </a:prstGeom>
          <a:solidFill>
            <a:srgbClr val="4B5068"/>
          </a:solidFill>
          <a:ln w="12700">
            <a:solidFill>
              <a:srgbClr val="4B5068"/>
            </a:solidFill>
            <a:prstDash val="solid"/>
          </a:ln>
        </p:spPr>
      </p:sp>
      <p:sp>
        <p:nvSpPr>
          <p:cNvPr id="62" name="Shape 60"/>
          <p:cNvSpPr/>
          <p:nvPr/>
        </p:nvSpPr>
        <p:spPr>
          <a:xfrm>
            <a:off x="7047087" y="4378177"/>
            <a:ext cx="83183" cy="1291103"/>
          </a:xfrm>
          <a:prstGeom prst="rect">
            <a:avLst/>
          </a:prstGeom>
          <a:solidFill>
            <a:srgbClr val="4B5068"/>
          </a:solidFill>
          <a:ln w="12700">
            <a:solidFill>
              <a:srgbClr val="4B5068"/>
            </a:solidFill>
            <a:prstDash val="solid"/>
          </a:ln>
        </p:spPr>
      </p:sp>
      <p:sp>
        <p:nvSpPr>
          <p:cNvPr id="63" name="Shape 61"/>
          <p:cNvSpPr/>
          <p:nvPr/>
        </p:nvSpPr>
        <p:spPr>
          <a:xfrm>
            <a:off x="7156538" y="4397435"/>
            <a:ext cx="83183" cy="1271845"/>
          </a:xfrm>
          <a:prstGeom prst="rect">
            <a:avLst/>
          </a:prstGeom>
          <a:solidFill>
            <a:srgbClr val="4B5068"/>
          </a:solidFill>
          <a:ln w="12700">
            <a:solidFill>
              <a:srgbClr val="4B5068"/>
            </a:solidFill>
            <a:prstDash val="solid"/>
          </a:ln>
        </p:spPr>
      </p:sp>
      <p:sp>
        <p:nvSpPr>
          <p:cNvPr id="64" name="Shape 62"/>
          <p:cNvSpPr/>
          <p:nvPr/>
        </p:nvSpPr>
        <p:spPr>
          <a:xfrm>
            <a:off x="7265989" y="4406465"/>
            <a:ext cx="83183" cy="1262815"/>
          </a:xfrm>
          <a:prstGeom prst="rect">
            <a:avLst/>
          </a:prstGeom>
          <a:solidFill>
            <a:srgbClr val="4B5068"/>
          </a:solidFill>
          <a:ln w="12700">
            <a:solidFill>
              <a:srgbClr val="4B5068"/>
            </a:solidFill>
            <a:prstDash val="solid"/>
          </a:ln>
        </p:spPr>
      </p:sp>
      <p:sp>
        <p:nvSpPr>
          <p:cNvPr id="65" name="Shape 63"/>
          <p:cNvSpPr/>
          <p:nvPr/>
        </p:nvSpPr>
        <p:spPr>
          <a:xfrm>
            <a:off x="7375440" y="4439012"/>
            <a:ext cx="83183" cy="1230268"/>
          </a:xfrm>
          <a:prstGeom prst="rect">
            <a:avLst/>
          </a:prstGeom>
          <a:solidFill>
            <a:srgbClr val="4B5068"/>
          </a:solidFill>
          <a:ln w="12700">
            <a:solidFill>
              <a:srgbClr val="4B5068"/>
            </a:solidFill>
            <a:prstDash val="solid"/>
          </a:ln>
        </p:spPr>
      </p:sp>
      <p:sp>
        <p:nvSpPr>
          <p:cNvPr id="66" name="Shape 64"/>
          <p:cNvSpPr/>
          <p:nvPr/>
        </p:nvSpPr>
        <p:spPr>
          <a:xfrm>
            <a:off x="7484890" y="4504610"/>
            <a:ext cx="83183" cy="1164670"/>
          </a:xfrm>
          <a:prstGeom prst="rect">
            <a:avLst/>
          </a:prstGeom>
          <a:solidFill>
            <a:srgbClr val="4B5068"/>
          </a:solidFill>
          <a:ln w="12700">
            <a:solidFill>
              <a:srgbClr val="4B5068"/>
            </a:solidFill>
            <a:prstDash val="solid"/>
          </a:ln>
        </p:spPr>
      </p:sp>
      <p:sp>
        <p:nvSpPr>
          <p:cNvPr id="67" name="Shape 65"/>
          <p:cNvSpPr/>
          <p:nvPr/>
        </p:nvSpPr>
        <p:spPr>
          <a:xfrm>
            <a:off x="7594341" y="4649880"/>
            <a:ext cx="83183" cy="1019400"/>
          </a:xfrm>
          <a:prstGeom prst="rect">
            <a:avLst/>
          </a:prstGeom>
          <a:solidFill>
            <a:srgbClr val="4B5068"/>
          </a:solidFill>
          <a:ln w="12700">
            <a:solidFill>
              <a:srgbClr val="4B5068"/>
            </a:solidFill>
            <a:prstDash val="solid"/>
          </a:ln>
        </p:spPr>
      </p:sp>
      <p:sp>
        <p:nvSpPr>
          <p:cNvPr id="68" name="Shape 66"/>
          <p:cNvSpPr/>
          <p:nvPr/>
        </p:nvSpPr>
        <p:spPr>
          <a:xfrm>
            <a:off x="7703792" y="4754579"/>
            <a:ext cx="83183" cy="914701"/>
          </a:xfrm>
          <a:prstGeom prst="rect">
            <a:avLst/>
          </a:prstGeom>
          <a:solidFill>
            <a:srgbClr val="27D3BE"/>
          </a:solidFill>
          <a:ln w="12700">
            <a:solidFill>
              <a:srgbClr val="27D3BE"/>
            </a:solidFill>
            <a:prstDash val="solid"/>
          </a:ln>
        </p:spPr>
      </p:sp>
      <p:sp>
        <p:nvSpPr>
          <p:cNvPr id="69" name="Shape 67"/>
          <p:cNvSpPr/>
          <p:nvPr/>
        </p:nvSpPr>
        <p:spPr>
          <a:xfrm>
            <a:off x="7813243" y="4814433"/>
            <a:ext cx="83183" cy="854847"/>
          </a:xfrm>
          <a:prstGeom prst="rect">
            <a:avLst/>
          </a:prstGeom>
          <a:solidFill>
            <a:srgbClr val="4B5068"/>
          </a:solidFill>
          <a:ln w="12700">
            <a:solidFill>
              <a:srgbClr val="4B5068"/>
            </a:solidFill>
            <a:prstDash val="solid"/>
          </a:ln>
        </p:spPr>
      </p:sp>
      <p:sp>
        <p:nvSpPr>
          <p:cNvPr id="70" name="Shape 68"/>
          <p:cNvSpPr/>
          <p:nvPr/>
        </p:nvSpPr>
        <p:spPr>
          <a:xfrm>
            <a:off x="594360" y="5669280"/>
            <a:ext cx="7406640" cy="22860"/>
          </a:xfrm>
          <a:prstGeom prst="rect">
            <a:avLst/>
          </a:prstGeom>
          <a:solidFill>
            <a:srgbClr val="6A6F85"/>
          </a:solidFill>
          <a:ln w="12700">
            <a:solidFill>
              <a:srgbClr val="6A6F85"/>
            </a:solidFill>
            <a:prstDash val="solid"/>
          </a:ln>
        </p:spPr>
      </p:sp>
      <p:sp>
        <p:nvSpPr>
          <p:cNvPr id="71" name="Text 69"/>
          <p:cNvSpPr/>
          <p:nvPr/>
        </p:nvSpPr>
        <p:spPr>
          <a:xfrm>
            <a:off x="866602" y="1942643"/>
            <a:ext cx="128016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527 764</a:t>
            </a:r>
            <a:endParaRPr lang="en-US" sz="1500" dirty="0"/>
          </a:p>
        </p:txBody>
      </p:sp>
      <p:sp>
        <p:nvSpPr>
          <p:cNvPr id="72" name="Text 70"/>
          <p:cNvSpPr/>
          <p:nvPr/>
        </p:nvSpPr>
        <p:spPr>
          <a:xfrm>
            <a:off x="1031471" y="572414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1966</a:t>
            </a:r>
            <a:endParaRPr lang="en-US" sz="1200" dirty="0"/>
          </a:p>
        </p:txBody>
      </p:sp>
      <p:sp>
        <p:nvSpPr>
          <p:cNvPr id="73" name="Text 71"/>
          <p:cNvSpPr/>
          <p:nvPr/>
        </p:nvSpPr>
        <p:spPr>
          <a:xfrm>
            <a:off x="3548842" y="572414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1989</a:t>
            </a:r>
            <a:endParaRPr lang="en-US" sz="1200" dirty="0"/>
          </a:p>
        </p:txBody>
      </p:sp>
      <p:sp>
        <p:nvSpPr>
          <p:cNvPr id="74" name="Text 72"/>
          <p:cNvSpPr/>
          <p:nvPr/>
        </p:nvSpPr>
        <p:spPr>
          <a:xfrm>
            <a:off x="7379624" y="572414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2024</a:t>
            </a:r>
            <a:endParaRPr lang="en-US" sz="1200" dirty="0"/>
          </a:p>
        </p:txBody>
      </p:sp>
      <p:sp>
        <p:nvSpPr>
          <p:cNvPr id="75" name="Text 73"/>
          <p:cNvSpPr/>
          <p:nvPr/>
        </p:nvSpPr>
        <p:spPr>
          <a:xfrm>
            <a:off x="685800" y="1783080"/>
            <a:ext cx="4572000" cy="274320"/>
          </a:xfrm>
          <a:prstGeom prst="rect">
            <a:avLst/>
          </a:prstGeom>
          <a:noFill/>
          <a:ln/>
        </p:spPr>
        <p:txBody>
          <a:bodyPr wrap="square" lIns="0" tIns="0" rIns="0" bIns="0" rtlCol="0" anchor="t"/>
          <a:lstStyle/>
          <a:p>
            <a:pPr indent="0" marL="0">
              <a:buNone/>
            </a:pPr>
            <a:r>
              <a:rPr lang="en-US" sz="1200" i="1" dirty="0">
                <a:solidFill>
                  <a:srgbClr val="959BB0"/>
                </a:solidFill>
                <a:latin typeface="Palatino Linotype" pitchFamily="34" charset="0"/>
                <a:ea typeface="Palatino Linotype" pitchFamily="34" charset="-122"/>
                <a:cs typeface="Palatino Linotype" pitchFamily="34" charset="-120"/>
              </a:rPr>
              <a:t>Naissances vivantes par an, Roumanie</a:t>
            </a:r>
            <a:endParaRPr lang="en-US" sz="1200" dirty="0"/>
          </a:p>
        </p:txBody>
      </p:sp>
      <p:sp>
        <p:nvSpPr>
          <p:cNvPr id="76" name="Shape 74"/>
          <p:cNvSpPr/>
          <p:nvPr/>
        </p:nvSpPr>
        <p:spPr>
          <a:xfrm>
            <a:off x="8183880" y="1783080"/>
            <a:ext cx="3383280" cy="1234440"/>
          </a:xfrm>
          <a:prstGeom prst="roundRect">
            <a:avLst>
              <a:gd name="adj" fmla="val 6667"/>
            </a:avLst>
          </a:prstGeom>
          <a:solidFill>
            <a:srgbClr val="1D1F2B"/>
          </a:solidFill>
          <a:ln w="12700">
            <a:solidFill>
              <a:srgbClr val="1D1F2B"/>
            </a:solidFill>
            <a:prstDash val="solid"/>
          </a:ln>
        </p:spPr>
      </p:sp>
      <p:sp>
        <p:nvSpPr>
          <p:cNvPr id="77" name="Text 75"/>
          <p:cNvSpPr/>
          <p:nvPr/>
        </p:nvSpPr>
        <p:spPr>
          <a:xfrm>
            <a:off x="8412480" y="1828800"/>
            <a:ext cx="1097280" cy="3657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1966</a:t>
            </a:r>
            <a:endParaRPr lang="en-US" sz="1400" dirty="0"/>
          </a:p>
        </p:txBody>
      </p:sp>
      <p:sp>
        <p:nvSpPr>
          <p:cNvPr id="78" name="Text 76"/>
          <p:cNvSpPr/>
          <p:nvPr/>
        </p:nvSpPr>
        <p:spPr>
          <a:xfrm>
            <a:off x="8412480" y="2194560"/>
            <a:ext cx="3017520" cy="64008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273 678</a:t>
            </a:r>
            <a:endParaRPr lang="en-US" sz="3200" dirty="0"/>
          </a:p>
        </p:txBody>
      </p:sp>
      <p:sp>
        <p:nvSpPr>
          <p:cNvPr id="79" name="Shape 77"/>
          <p:cNvSpPr/>
          <p:nvPr/>
        </p:nvSpPr>
        <p:spPr>
          <a:xfrm>
            <a:off x="8183880" y="3154680"/>
            <a:ext cx="3383280" cy="1234440"/>
          </a:xfrm>
          <a:prstGeom prst="roundRect">
            <a:avLst>
              <a:gd name="adj" fmla="val 6667"/>
            </a:avLst>
          </a:prstGeom>
          <a:solidFill>
            <a:srgbClr val="1D1F2B"/>
          </a:solidFill>
          <a:ln w="12700">
            <a:solidFill>
              <a:srgbClr val="1D1F2B"/>
            </a:solidFill>
            <a:prstDash val="solid"/>
          </a:ln>
        </p:spPr>
      </p:sp>
      <p:sp>
        <p:nvSpPr>
          <p:cNvPr id="80" name="Text 78"/>
          <p:cNvSpPr/>
          <p:nvPr/>
        </p:nvSpPr>
        <p:spPr>
          <a:xfrm>
            <a:off x="8412480" y="3200400"/>
            <a:ext cx="1097280" cy="365760"/>
          </a:xfrm>
          <a:prstGeom prst="rect">
            <a:avLst/>
          </a:prstGeom>
          <a:noFill/>
          <a:ln/>
        </p:spPr>
        <p:txBody>
          <a:bodyPr wrap="square" lIns="0" tIns="0" rIns="0" bIns="0" rtlCol="0" anchor="t"/>
          <a:lstStyle/>
          <a:p>
            <a:pPr indent="0" marL="0">
              <a:buNone/>
            </a:pPr>
            <a:r>
              <a:rPr lang="en-US" sz="1400" b="1" dirty="0">
                <a:solidFill>
                  <a:srgbClr val="FF4757"/>
                </a:solidFill>
                <a:latin typeface="Palatino Linotype" pitchFamily="34" charset="0"/>
                <a:ea typeface="Palatino Linotype" pitchFamily="34" charset="-122"/>
                <a:cs typeface="Palatino Linotype" pitchFamily="34" charset="-120"/>
              </a:rPr>
              <a:t>1967</a:t>
            </a:r>
            <a:endParaRPr lang="en-US" sz="1400" dirty="0"/>
          </a:p>
        </p:txBody>
      </p:sp>
      <p:sp>
        <p:nvSpPr>
          <p:cNvPr id="81" name="Text 79"/>
          <p:cNvSpPr/>
          <p:nvPr/>
        </p:nvSpPr>
        <p:spPr>
          <a:xfrm>
            <a:off x="8412480" y="3566160"/>
            <a:ext cx="3017520" cy="64008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527 764</a:t>
            </a:r>
            <a:endParaRPr lang="en-US" sz="3200" dirty="0"/>
          </a:p>
        </p:txBody>
      </p:sp>
      <p:sp>
        <p:nvSpPr>
          <p:cNvPr id="82" name="Text 80"/>
          <p:cNvSpPr/>
          <p:nvPr/>
        </p:nvSpPr>
        <p:spPr>
          <a:xfrm>
            <a:off x="8183880" y="4572000"/>
            <a:ext cx="3383280" cy="12801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1,93 fois plus de naissances. Taux brut de natalité : 14,2 → 27,0 pour mille habitants.</a:t>
            </a:r>
            <a:endParaRPr lang="en-US" sz="1500" dirty="0"/>
          </a:p>
        </p:txBody>
      </p:sp>
      <p:sp>
        <p:nvSpPr>
          <p:cNvPr id="83" name="Text 8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naissances vivantes (demo_gind). Seules les données sont décrites ; les causes du bond ne sont pas affirmées.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CAS CONSTRUIT POUR LA DISCUSSION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Une nuit d’hiver, à la fin des années 80</a:t>
            </a:r>
            <a:endParaRPr lang="en-US" sz="3200" dirty="0"/>
          </a:p>
        </p:txBody>
      </p:sp>
      <p:sp>
        <p:nvSpPr>
          <p:cNvPr id="4" name="Shape 2"/>
          <p:cNvSpPr/>
          <p:nvPr/>
        </p:nvSpPr>
        <p:spPr>
          <a:xfrm>
            <a:off x="594360" y="1783080"/>
            <a:ext cx="6492240" cy="4160520"/>
          </a:xfrm>
          <a:prstGeom prst="roundRect">
            <a:avLst>
              <a:gd name="adj" fmla="val 1978"/>
            </a:avLst>
          </a:prstGeom>
          <a:solidFill>
            <a:srgbClr val="FFFFFF"/>
          </a:solidFill>
          <a:ln w="12700">
            <a:solidFill>
              <a:srgbClr val="FFFFFF"/>
            </a:solidFill>
            <a:prstDash val="solid"/>
          </a:ln>
        </p:spPr>
      </p:sp>
      <p:sp>
        <p:nvSpPr>
          <p:cNvPr id="5" name="Shape 3"/>
          <p:cNvSpPr/>
          <p:nvPr/>
        </p:nvSpPr>
        <p:spPr>
          <a:xfrm>
            <a:off x="594360" y="1783080"/>
            <a:ext cx="91440" cy="4160520"/>
          </a:xfrm>
          <a:prstGeom prst="rect">
            <a:avLst/>
          </a:prstGeom>
          <a:solidFill>
            <a:srgbClr val="FF4757"/>
          </a:solidFill>
          <a:ln w="12700">
            <a:solidFill>
              <a:srgbClr val="FF4757"/>
            </a:solidFill>
            <a:prstDash val="solid"/>
          </a:ln>
        </p:spPr>
      </p:sp>
      <p:sp>
        <p:nvSpPr>
          <p:cNvPr id="6" name="Text 4"/>
          <p:cNvSpPr/>
          <p:nvPr/>
        </p:nvSpPr>
        <p:spPr>
          <a:xfrm>
            <a:off x="960120" y="1920240"/>
            <a:ext cx="5760720" cy="32004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LA GARDE</a:t>
            </a:r>
            <a:endParaRPr lang="en-US" sz="1200" dirty="0"/>
          </a:p>
        </p:txBody>
      </p:sp>
      <p:sp>
        <p:nvSpPr>
          <p:cNvPr id="7" name="Text 5"/>
          <p:cNvSpPr/>
          <p:nvPr/>
        </p:nvSpPr>
        <p:spPr>
          <a:xfrm>
            <a:off x="960120" y="2331720"/>
            <a:ext cx="5852160" cy="26517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Une femme de trente-cinq ans, mère de quatre enfants, arrive à l’hôpital de comté avec de la fièvre, des douleurs abdominales et des saignements, après une intervention faite à domicile. Le médecin de garde reconnaît une complication qu’il voit presque chaque semaine.</a:t>
            </a:r>
            <a:endParaRPr lang="en-US" sz="1900" dirty="0"/>
          </a:p>
        </p:txBody>
      </p:sp>
      <p:sp>
        <p:nvSpPr>
          <p:cNvPr id="8" name="Shape 6"/>
          <p:cNvSpPr/>
          <p:nvPr/>
        </p:nvSpPr>
        <p:spPr>
          <a:xfrm>
            <a:off x="7360920" y="1783080"/>
            <a:ext cx="4206240" cy="4160520"/>
          </a:xfrm>
          <a:prstGeom prst="roundRect">
            <a:avLst>
              <a:gd name="adj" fmla="val 1978"/>
            </a:avLst>
          </a:prstGeom>
          <a:solidFill>
            <a:srgbClr val="11121A"/>
          </a:solidFill>
          <a:ln w="12700">
            <a:solidFill>
              <a:srgbClr val="11121A"/>
            </a:solidFill>
            <a:prstDash val="solid"/>
          </a:ln>
        </p:spPr>
      </p:sp>
      <p:sp>
        <p:nvSpPr>
          <p:cNvPr id="9" name="Text 7"/>
          <p:cNvSpPr/>
          <p:nvPr/>
        </p:nvSpPr>
        <p:spPr>
          <a:xfrm>
            <a:off x="7635240" y="1920240"/>
            <a:ext cx="365760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MORTALITÉ MATERNELLE · ROUMANIE, 1990</a:t>
            </a:r>
            <a:endParaRPr lang="en-US" sz="1200" dirty="0"/>
          </a:p>
        </p:txBody>
      </p:sp>
      <p:sp>
        <p:nvSpPr>
          <p:cNvPr id="10" name="Text 8"/>
          <p:cNvSpPr/>
          <p:nvPr/>
        </p:nvSpPr>
        <p:spPr>
          <a:xfrm>
            <a:off x="7635240" y="2377440"/>
            <a:ext cx="3657600" cy="731520"/>
          </a:xfrm>
          <a:prstGeom prst="rect">
            <a:avLst/>
          </a:prstGeom>
          <a:noFill/>
          <a:ln/>
        </p:spPr>
        <p:txBody>
          <a:bodyPr wrap="square" lIns="0" tIns="0" rIns="0" bIns="0" rtlCol="0" anchor="t"/>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118</a:t>
            </a:r>
            <a:endParaRPr lang="en-US" sz="4400" dirty="0"/>
          </a:p>
        </p:txBody>
      </p:sp>
      <p:sp>
        <p:nvSpPr>
          <p:cNvPr id="11" name="Text 9"/>
          <p:cNvSpPr/>
          <p:nvPr/>
        </p:nvSpPr>
        <p:spPr>
          <a:xfrm>
            <a:off x="7635240" y="3200400"/>
            <a:ext cx="3657600" cy="12801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décès maternels pour 100 000 naissances vivantes, estimation de l’Organisation mondiale de la santé pour 1990.</a:t>
            </a:r>
            <a:endParaRPr lang="en-US" sz="1600" dirty="0"/>
          </a:p>
        </p:txBody>
      </p:sp>
      <p:sp>
        <p:nvSpPr>
          <p:cNvPr id="12" name="Text 10"/>
          <p:cNvSpPr/>
          <p:nvPr/>
        </p:nvSpPr>
        <p:spPr>
          <a:xfrm>
            <a:off x="7635240" y="4526280"/>
            <a:ext cx="3657600" cy="91440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Le cas illustre, à l’échelle d’une garde, ce que signifie ce niveau.</a:t>
            </a:r>
            <a:endParaRPr lang="en-US" sz="1600" dirty="0"/>
          </a:p>
        </p:txBody>
      </p:sp>
      <p:sp>
        <p:nvSpPr>
          <p:cNvPr id="13" name="Text 11"/>
          <p:cNvSpPr/>
          <p:nvPr/>
        </p:nvSpPr>
        <p:spPr>
          <a:xfrm>
            <a:off x="7635240" y="5440680"/>
            <a:ext cx="3657600" cy="457200"/>
          </a:xfrm>
          <a:prstGeom prst="rect">
            <a:avLst/>
          </a:prstGeom>
          <a:noFill/>
          <a:ln/>
        </p:spPr>
        <p:txBody>
          <a:bodyPr wrap="square" lIns="0" tIns="0" rIns="0" bIns="0" rtlCol="0" anchor="t"/>
          <a:lstStyle/>
          <a:p>
            <a:pPr indent="0" marL="0">
              <a:buNone/>
            </a:pPr>
            <a:r>
              <a:rPr lang="en-US" sz="1100" i="1" dirty="0">
                <a:solidFill>
                  <a:srgbClr val="959BB0"/>
                </a:solidFill>
                <a:latin typeface="Palatino Linotype" pitchFamily="34" charset="0"/>
                <a:ea typeface="Palatino Linotype" pitchFamily="34" charset="-122"/>
                <a:cs typeface="Palatino Linotype" pitchFamily="34" charset="-120"/>
              </a:rPr>
              <a:t>Source : OMS, série estimée. Le cas est construit pour la discussion.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DEUXIÈME ACTE · APRÈS LA CHUTE DU RÉGIME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 natalité baisse, puis la mortalité la dépasse</a:t>
            </a:r>
            <a:endParaRPr lang="en-US" sz="3200" dirty="0"/>
          </a:p>
        </p:txBody>
      </p:sp>
      <p:sp>
        <p:nvSpPr>
          <p:cNvPr id="4" name="Shape 2"/>
          <p:cNvSpPr/>
          <p:nvPr/>
        </p:nvSpPr>
        <p:spPr>
          <a:xfrm>
            <a:off x="822960" y="2743200"/>
            <a:ext cx="10515600" cy="36576"/>
          </a:xfrm>
          <a:prstGeom prst="rect">
            <a:avLst/>
          </a:prstGeom>
          <a:solidFill>
            <a:srgbClr val="6A6F85"/>
          </a:solidFill>
          <a:ln w="12700">
            <a:solidFill>
              <a:srgbClr val="6A6F85"/>
            </a:solidFill>
            <a:prstDash val="solid"/>
          </a:ln>
        </p:spPr>
      </p:sp>
      <p:sp>
        <p:nvSpPr>
          <p:cNvPr id="5" name="Shape 3"/>
          <p:cNvSpPr/>
          <p:nvPr/>
        </p:nvSpPr>
        <p:spPr>
          <a:xfrm>
            <a:off x="1691640" y="2606040"/>
            <a:ext cx="310896" cy="310896"/>
          </a:xfrm>
          <a:prstGeom prst="ellipse">
            <a:avLst/>
          </a:prstGeom>
          <a:solidFill>
            <a:srgbClr val="FF4757"/>
          </a:solidFill>
          <a:ln/>
        </p:spPr>
      </p:sp>
      <p:sp>
        <p:nvSpPr>
          <p:cNvPr id="6" name="Text 4"/>
          <p:cNvSpPr/>
          <p:nvPr/>
        </p:nvSpPr>
        <p:spPr>
          <a:xfrm>
            <a:off x="594360" y="1920240"/>
            <a:ext cx="2560320" cy="548640"/>
          </a:xfrm>
          <a:prstGeom prst="rect">
            <a:avLst/>
          </a:prstGeom>
          <a:noFill/>
          <a:ln/>
        </p:spPr>
        <p:txBody>
          <a:bodyPr wrap="square" lIns="0" tIns="0" rIns="0" bIns="0" rtlCol="0" anchor="t"/>
          <a:lstStyle/>
          <a:p>
            <a:pPr algn="ctr" indent="0" marL="0">
              <a:buNone/>
            </a:pPr>
            <a:r>
              <a:rPr lang="en-US" sz="3000" b="1" dirty="0">
                <a:solidFill>
                  <a:srgbClr val="FF4757"/>
                </a:solidFill>
                <a:latin typeface="Palatino Linotype" pitchFamily="34" charset="0"/>
                <a:ea typeface="Palatino Linotype" pitchFamily="34" charset="-122"/>
                <a:cs typeface="Palatino Linotype" pitchFamily="34" charset="-120"/>
              </a:rPr>
              <a:t>1989</a:t>
            </a:r>
            <a:endParaRPr lang="en-US" sz="3000" dirty="0"/>
          </a:p>
        </p:txBody>
      </p:sp>
      <p:sp>
        <p:nvSpPr>
          <p:cNvPr id="7" name="Shape 5"/>
          <p:cNvSpPr/>
          <p:nvPr/>
        </p:nvSpPr>
        <p:spPr>
          <a:xfrm>
            <a:off x="594360" y="3200400"/>
            <a:ext cx="2560320" cy="2286000"/>
          </a:xfrm>
          <a:prstGeom prst="roundRect">
            <a:avLst>
              <a:gd name="adj" fmla="val 3600"/>
            </a:avLst>
          </a:prstGeom>
          <a:solidFill>
            <a:srgbClr val="1D1F2B"/>
          </a:solidFill>
          <a:ln w="12700">
            <a:solidFill>
              <a:srgbClr val="1D1F2B"/>
            </a:solidFill>
            <a:prstDash val="solid"/>
          </a:ln>
        </p:spPr>
      </p:sp>
      <p:sp>
        <p:nvSpPr>
          <p:cNvPr id="8" name="Text 6"/>
          <p:cNvSpPr/>
          <p:nvPr/>
        </p:nvSpPr>
        <p:spPr>
          <a:xfrm>
            <a:off x="777240" y="3291840"/>
            <a:ext cx="21945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Naissances vivantes</a:t>
            </a:r>
            <a:endParaRPr lang="en-US" sz="1400" dirty="0"/>
          </a:p>
        </p:txBody>
      </p:sp>
      <p:sp>
        <p:nvSpPr>
          <p:cNvPr id="9" name="Text 7"/>
          <p:cNvSpPr/>
          <p:nvPr/>
        </p:nvSpPr>
        <p:spPr>
          <a:xfrm>
            <a:off x="777240" y="3703320"/>
            <a:ext cx="2194560" cy="16459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369 544</a:t>
            </a:r>
            <a:endParaRPr lang="en-US" sz="2800" dirty="0"/>
          </a:p>
        </p:txBody>
      </p:sp>
      <p:sp>
        <p:nvSpPr>
          <p:cNvPr id="10" name="Shape 8"/>
          <p:cNvSpPr/>
          <p:nvPr/>
        </p:nvSpPr>
        <p:spPr>
          <a:xfrm>
            <a:off x="4526280" y="2606040"/>
            <a:ext cx="310896" cy="310896"/>
          </a:xfrm>
          <a:prstGeom prst="ellipse">
            <a:avLst/>
          </a:prstGeom>
          <a:solidFill>
            <a:srgbClr val="FF4757"/>
          </a:solidFill>
          <a:ln/>
        </p:spPr>
      </p:sp>
      <p:sp>
        <p:nvSpPr>
          <p:cNvPr id="11" name="Text 9"/>
          <p:cNvSpPr/>
          <p:nvPr/>
        </p:nvSpPr>
        <p:spPr>
          <a:xfrm>
            <a:off x="3429000" y="1920240"/>
            <a:ext cx="2560320" cy="548640"/>
          </a:xfrm>
          <a:prstGeom prst="rect">
            <a:avLst/>
          </a:prstGeom>
          <a:noFill/>
          <a:ln/>
        </p:spPr>
        <p:txBody>
          <a:bodyPr wrap="square" lIns="0" tIns="0" rIns="0" bIns="0" rtlCol="0" anchor="t"/>
          <a:lstStyle/>
          <a:p>
            <a:pPr algn="ctr" indent="0" marL="0">
              <a:buNone/>
            </a:pPr>
            <a:r>
              <a:rPr lang="en-US" sz="3000" b="1" dirty="0">
                <a:solidFill>
                  <a:srgbClr val="FF4757"/>
                </a:solidFill>
                <a:latin typeface="Palatino Linotype" pitchFamily="34" charset="0"/>
                <a:ea typeface="Palatino Linotype" pitchFamily="34" charset="-122"/>
                <a:cs typeface="Palatino Linotype" pitchFamily="34" charset="-120"/>
              </a:rPr>
              <a:t>1990</a:t>
            </a:r>
            <a:endParaRPr lang="en-US" sz="3000" dirty="0"/>
          </a:p>
        </p:txBody>
      </p:sp>
      <p:sp>
        <p:nvSpPr>
          <p:cNvPr id="12" name="Shape 10"/>
          <p:cNvSpPr/>
          <p:nvPr/>
        </p:nvSpPr>
        <p:spPr>
          <a:xfrm>
            <a:off x="3429000" y="3200400"/>
            <a:ext cx="2560320" cy="2286000"/>
          </a:xfrm>
          <a:prstGeom prst="roundRect">
            <a:avLst>
              <a:gd name="adj" fmla="val 3600"/>
            </a:avLst>
          </a:prstGeom>
          <a:solidFill>
            <a:srgbClr val="1D1F2B"/>
          </a:solidFill>
          <a:ln w="12700">
            <a:solidFill>
              <a:srgbClr val="1D1F2B"/>
            </a:solidFill>
            <a:prstDash val="solid"/>
          </a:ln>
        </p:spPr>
      </p:sp>
      <p:sp>
        <p:nvSpPr>
          <p:cNvPr id="13" name="Text 11"/>
          <p:cNvSpPr/>
          <p:nvPr/>
        </p:nvSpPr>
        <p:spPr>
          <a:xfrm>
            <a:off x="3611880" y="3291840"/>
            <a:ext cx="21945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Naissances vivantes</a:t>
            </a:r>
            <a:endParaRPr lang="en-US" sz="1400" dirty="0"/>
          </a:p>
        </p:txBody>
      </p:sp>
      <p:sp>
        <p:nvSpPr>
          <p:cNvPr id="14" name="Text 12"/>
          <p:cNvSpPr/>
          <p:nvPr/>
        </p:nvSpPr>
        <p:spPr>
          <a:xfrm>
            <a:off x="3611880" y="3703320"/>
            <a:ext cx="2194560" cy="16459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314 746</a:t>
            </a:r>
            <a:endParaRPr lang="en-US" sz="2800" dirty="0"/>
          </a:p>
        </p:txBody>
      </p:sp>
      <p:sp>
        <p:nvSpPr>
          <p:cNvPr id="15" name="Shape 13"/>
          <p:cNvSpPr/>
          <p:nvPr/>
        </p:nvSpPr>
        <p:spPr>
          <a:xfrm>
            <a:off x="7360920" y="2606040"/>
            <a:ext cx="310896" cy="310896"/>
          </a:xfrm>
          <a:prstGeom prst="ellipse">
            <a:avLst/>
          </a:prstGeom>
          <a:solidFill>
            <a:srgbClr val="27D3BE"/>
          </a:solidFill>
          <a:ln/>
        </p:spPr>
      </p:sp>
      <p:sp>
        <p:nvSpPr>
          <p:cNvPr id="16" name="Text 14"/>
          <p:cNvSpPr/>
          <p:nvPr/>
        </p:nvSpPr>
        <p:spPr>
          <a:xfrm>
            <a:off x="6263640" y="1920240"/>
            <a:ext cx="2560320" cy="548640"/>
          </a:xfrm>
          <a:prstGeom prst="rect">
            <a:avLst/>
          </a:prstGeom>
          <a:noFill/>
          <a:ln/>
        </p:spPr>
        <p:txBody>
          <a:bodyPr wrap="square" lIns="0" tIns="0" rIns="0" bIns="0" rtlCol="0" anchor="t"/>
          <a:lstStyle/>
          <a:p>
            <a:pPr algn="ctr" indent="0" marL="0">
              <a:buNone/>
            </a:pPr>
            <a:r>
              <a:rPr lang="en-US" sz="3000" b="1" dirty="0">
                <a:solidFill>
                  <a:srgbClr val="27D3BE"/>
                </a:solidFill>
                <a:latin typeface="Palatino Linotype" pitchFamily="34" charset="0"/>
                <a:ea typeface="Palatino Linotype" pitchFamily="34" charset="-122"/>
                <a:cs typeface="Palatino Linotype" pitchFamily="34" charset="-120"/>
              </a:rPr>
              <a:t>1991</a:t>
            </a:r>
            <a:endParaRPr lang="en-US" sz="3000" dirty="0"/>
          </a:p>
        </p:txBody>
      </p:sp>
      <p:sp>
        <p:nvSpPr>
          <p:cNvPr id="17" name="Shape 15"/>
          <p:cNvSpPr/>
          <p:nvPr/>
        </p:nvSpPr>
        <p:spPr>
          <a:xfrm>
            <a:off x="6263640" y="3200400"/>
            <a:ext cx="2560320" cy="2286000"/>
          </a:xfrm>
          <a:prstGeom prst="roundRect">
            <a:avLst>
              <a:gd name="adj" fmla="val 3600"/>
            </a:avLst>
          </a:prstGeom>
          <a:solidFill>
            <a:srgbClr val="1D1F2B"/>
          </a:solidFill>
          <a:ln w="12700">
            <a:solidFill>
              <a:srgbClr val="1D1F2B"/>
            </a:solidFill>
            <a:prstDash val="solid"/>
          </a:ln>
        </p:spPr>
      </p:sp>
      <p:sp>
        <p:nvSpPr>
          <p:cNvPr id="18" name="Text 16"/>
          <p:cNvSpPr/>
          <p:nvPr/>
        </p:nvSpPr>
        <p:spPr>
          <a:xfrm>
            <a:off x="6446520" y="3291840"/>
            <a:ext cx="21945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Migration nette ajustée</a:t>
            </a:r>
            <a:endParaRPr lang="en-US" sz="1400" dirty="0"/>
          </a:p>
        </p:txBody>
      </p:sp>
      <p:sp>
        <p:nvSpPr>
          <p:cNvPr id="19" name="Text 17"/>
          <p:cNvSpPr/>
          <p:nvPr/>
        </p:nvSpPr>
        <p:spPr>
          <a:xfrm>
            <a:off x="6446520" y="3703320"/>
            <a:ext cx="2194560" cy="164592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405 754 personnes en moins</a:t>
            </a:r>
            <a:endParaRPr lang="en-US" sz="1800" dirty="0"/>
          </a:p>
        </p:txBody>
      </p:sp>
      <p:sp>
        <p:nvSpPr>
          <p:cNvPr id="20" name="Shape 18"/>
          <p:cNvSpPr/>
          <p:nvPr/>
        </p:nvSpPr>
        <p:spPr>
          <a:xfrm>
            <a:off x="10195560" y="2606040"/>
            <a:ext cx="310896" cy="310896"/>
          </a:xfrm>
          <a:prstGeom prst="ellipse">
            <a:avLst/>
          </a:prstGeom>
          <a:solidFill>
            <a:srgbClr val="FFC24B"/>
          </a:solidFill>
          <a:ln/>
        </p:spPr>
      </p:sp>
      <p:sp>
        <p:nvSpPr>
          <p:cNvPr id="21" name="Text 19"/>
          <p:cNvSpPr/>
          <p:nvPr/>
        </p:nvSpPr>
        <p:spPr>
          <a:xfrm>
            <a:off x="9098280" y="1920240"/>
            <a:ext cx="2560320" cy="548640"/>
          </a:xfrm>
          <a:prstGeom prst="rect">
            <a:avLst/>
          </a:prstGeom>
          <a:noFill/>
          <a:ln/>
        </p:spPr>
        <p:txBody>
          <a:bodyPr wrap="square" lIns="0" tIns="0" rIns="0" bIns="0" rtlCol="0" anchor="t"/>
          <a:lstStyle/>
          <a:p>
            <a:pPr algn="ctr" indent="0" marL="0">
              <a:buNone/>
            </a:pPr>
            <a:r>
              <a:rPr lang="en-US" sz="3000" b="1" dirty="0">
                <a:solidFill>
                  <a:srgbClr val="FFC24B"/>
                </a:solidFill>
                <a:latin typeface="Palatino Linotype" pitchFamily="34" charset="0"/>
                <a:ea typeface="Palatino Linotype" pitchFamily="34" charset="-122"/>
                <a:cs typeface="Palatino Linotype" pitchFamily="34" charset="-120"/>
              </a:rPr>
              <a:t>1992</a:t>
            </a:r>
            <a:endParaRPr lang="en-US" sz="3000" dirty="0"/>
          </a:p>
        </p:txBody>
      </p:sp>
      <p:sp>
        <p:nvSpPr>
          <p:cNvPr id="22" name="Shape 20"/>
          <p:cNvSpPr/>
          <p:nvPr/>
        </p:nvSpPr>
        <p:spPr>
          <a:xfrm>
            <a:off x="9098280" y="3200400"/>
            <a:ext cx="2560320" cy="2286000"/>
          </a:xfrm>
          <a:prstGeom prst="roundRect">
            <a:avLst>
              <a:gd name="adj" fmla="val 3600"/>
            </a:avLst>
          </a:prstGeom>
          <a:solidFill>
            <a:srgbClr val="1D1F2B"/>
          </a:solidFill>
          <a:ln w="12700">
            <a:solidFill>
              <a:srgbClr val="1D1F2B"/>
            </a:solidFill>
            <a:prstDash val="solid"/>
          </a:ln>
        </p:spPr>
      </p:sp>
      <p:sp>
        <p:nvSpPr>
          <p:cNvPr id="23" name="Text 21"/>
          <p:cNvSpPr/>
          <p:nvPr/>
        </p:nvSpPr>
        <p:spPr>
          <a:xfrm>
            <a:off x="9281160" y="3291840"/>
            <a:ext cx="21945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Décès &gt; naissances</a:t>
            </a:r>
            <a:endParaRPr lang="en-US" sz="1400" dirty="0"/>
          </a:p>
        </p:txBody>
      </p:sp>
      <p:sp>
        <p:nvSpPr>
          <p:cNvPr id="24" name="Text 22"/>
          <p:cNvSpPr/>
          <p:nvPr/>
        </p:nvSpPr>
        <p:spPr>
          <a:xfrm>
            <a:off x="9281160" y="3703320"/>
            <a:ext cx="2194560" cy="164592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pour la première fois dans la série d’Eurostat</a:t>
            </a:r>
            <a:endParaRPr lang="en-US" sz="1800" dirty="0"/>
          </a:p>
        </p:txBody>
      </p:sp>
      <p:sp>
        <p:nvSpPr>
          <p:cNvPr id="25" name="Text 23"/>
          <p:cNvSpPr/>
          <p:nvPr/>
        </p:nvSpPr>
        <p:spPr>
          <a:xfrm>
            <a:off x="594360" y="5669280"/>
            <a:ext cx="10972800" cy="502920"/>
          </a:xfrm>
          <a:prstGeom prst="rect">
            <a:avLst/>
          </a:prstGeom>
          <a:noFill/>
          <a:ln/>
        </p:spPr>
        <p:txBody>
          <a:bodyPr wrap="square" lIns="0" tIns="0" rIns="0" bIns="0" rtlCol="0" anchor="t"/>
          <a:lstStyle/>
          <a:p>
            <a:pPr indent="0" marL="0">
              <a:buNone/>
            </a:pPr>
            <a:r>
              <a:rPr lang="en-US" sz="1700" dirty="0">
                <a:solidFill>
                  <a:srgbClr val="FFC24B"/>
                </a:solidFill>
                <a:latin typeface="Palatino Linotype" pitchFamily="34" charset="0"/>
                <a:ea typeface="Palatino Linotype" pitchFamily="34" charset="-122"/>
                <a:cs typeface="Palatino Linotype" pitchFamily="34" charset="-120"/>
              </a:rPr>
              <a:t>La fécondité est descendue à 1,27 enfant par femme en 2002.</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TROISIÈME ACTE · L’EUROPE ET L’ÉMIGRATION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Le bilan de l’année 2024</a:t>
            </a:r>
            <a:endParaRPr lang="en-US" sz="3400" dirty="0"/>
          </a:p>
        </p:txBody>
      </p:sp>
      <p:sp>
        <p:nvSpPr>
          <p:cNvPr id="4" name="Text 2"/>
          <p:cNvSpPr/>
          <p:nvPr/>
        </p:nvSpPr>
        <p:spPr>
          <a:xfrm>
            <a:off x="594360" y="1920240"/>
            <a:ext cx="2834640" cy="4572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Naissances vivantes</a:t>
            </a:r>
            <a:endParaRPr lang="en-US" sz="1600" dirty="0"/>
          </a:p>
        </p:txBody>
      </p:sp>
      <p:sp>
        <p:nvSpPr>
          <p:cNvPr id="5" name="Shape 3"/>
          <p:cNvSpPr/>
          <p:nvPr/>
        </p:nvSpPr>
        <p:spPr>
          <a:xfrm>
            <a:off x="3520440" y="1984248"/>
            <a:ext cx="1733710" cy="329184"/>
          </a:xfrm>
          <a:prstGeom prst="roundRect">
            <a:avLst>
              <a:gd name="adj" fmla="val 13889"/>
            </a:avLst>
          </a:prstGeom>
          <a:solidFill>
            <a:srgbClr val="FF4757"/>
          </a:solidFill>
          <a:ln w="12700">
            <a:solidFill>
              <a:srgbClr val="FF4757"/>
            </a:solidFill>
            <a:prstDash val="solid"/>
          </a:ln>
        </p:spPr>
      </p:sp>
      <p:sp>
        <p:nvSpPr>
          <p:cNvPr id="6" name="Text 4"/>
          <p:cNvSpPr/>
          <p:nvPr/>
        </p:nvSpPr>
        <p:spPr>
          <a:xfrm>
            <a:off x="5345590" y="1920240"/>
            <a:ext cx="237744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143 637</a:t>
            </a:r>
            <a:endParaRPr lang="en-US" sz="1600" dirty="0"/>
          </a:p>
        </p:txBody>
      </p:sp>
      <p:sp>
        <p:nvSpPr>
          <p:cNvPr id="7" name="Text 5"/>
          <p:cNvSpPr/>
          <p:nvPr/>
        </p:nvSpPr>
        <p:spPr>
          <a:xfrm>
            <a:off x="594360" y="2697480"/>
            <a:ext cx="2834640" cy="4572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Décès</a:t>
            </a:r>
            <a:endParaRPr lang="en-US" sz="1600" dirty="0"/>
          </a:p>
        </p:txBody>
      </p:sp>
      <p:sp>
        <p:nvSpPr>
          <p:cNvPr id="8" name="Shape 6"/>
          <p:cNvSpPr/>
          <p:nvPr/>
        </p:nvSpPr>
        <p:spPr>
          <a:xfrm>
            <a:off x="3520440" y="2761488"/>
            <a:ext cx="2952040" cy="329184"/>
          </a:xfrm>
          <a:prstGeom prst="roundRect">
            <a:avLst>
              <a:gd name="adj" fmla="val 13889"/>
            </a:avLst>
          </a:prstGeom>
          <a:solidFill>
            <a:srgbClr val="11121A"/>
          </a:solidFill>
          <a:ln w="12700">
            <a:solidFill>
              <a:srgbClr val="11121A"/>
            </a:solidFill>
            <a:prstDash val="solid"/>
          </a:ln>
        </p:spPr>
      </p:sp>
      <p:sp>
        <p:nvSpPr>
          <p:cNvPr id="9" name="Text 7"/>
          <p:cNvSpPr/>
          <p:nvPr/>
        </p:nvSpPr>
        <p:spPr>
          <a:xfrm>
            <a:off x="6563920" y="2697480"/>
            <a:ext cx="237744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244 575</a:t>
            </a:r>
            <a:endParaRPr lang="en-US" sz="1600" dirty="0"/>
          </a:p>
        </p:txBody>
      </p:sp>
      <p:sp>
        <p:nvSpPr>
          <p:cNvPr id="10" name="Text 8"/>
          <p:cNvSpPr/>
          <p:nvPr/>
        </p:nvSpPr>
        <p:spPr>
          <a:xfrm>
            <a:off x="594360" y="3474720"/>
            <a:ext cx="2834640" cy="4572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Solde migratoire</a:t>
            </a:r>
            <a:endParaRPr lang="en-US" sz="1600" dirty="0"/>
          </a:p>
        </p:txBody>
      </p:sp>
      <p:sp>
        <p:nvSpPr>
          <p:cNvPr id="11" name="Shape 9"/>
          <p:cNvSpPr/>
          <p:nvPr/>
        </p:nvSpPr>
        <p:spPr>
          <a:xfrm>
            <a:off x="3520440" y="3538728"/>
            <a:ext cx="923518" cy="329184"/>
          </a:xfrm>
          <a:prstGeom prst="roundRect">
            <a:avLst>
              <a:gd name="adj" fmla="val 13889"/>
            </a:avLst>
          </a:prstGeom>
          <a:solidFill>
            <a:srgbClr val="27D3BE"/>
          </a:solidFill>
          <a:ln w="12700">
            <a:solidFill>
              <a:srgbClr val="27D3BE"/>
            </a:solidFill>
            <a:prstDash val="solid"/>
          </a:ln>
        </p:spPr>
      </p:sp>
      <p:sp>
        <p:nvSpPr>
          <p:cNvPr id="12" name="Text 10"/>
          <p:cNvSpPr/>
          <p:nvPr/>
        </p:nvSpPr>
        <p:spPr>
          <a:xfrm>
            <a:off x="4535398" y="3474720"/>
            <a:ext cx="237744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+76 513</a:t>
            </a:r>
            <a:endParaRPr lang="en-US" sz="1600" dirty="0"/>
          </a:p>
        </p:txBody>
      </p:sp>
      <p:sp>
        <p:nvSpPr>
          <p:cNvPr id="13" name="Shape 11"/>
          <p:cNvSpPr/>
          <p:nvPr/>
        </p:nvSpPr>
        <p:spPr>
          <a:xfrm>
            <a:off x="594360" y="4343400"/>
            <a:ext cx="6858000" cy="1600200"/>
          </a:xfrm>
          <a:prstGeom prst="roundRect">
            <a:avLst>
              <a:gd name="adj" fmla="val 5143"/>
            </a:avLst>
          </a:prstGeom>
          <a:solidFill>
            <a:srgbClr val="11121A"/>
          </a:solidFill>
          <a:ln w="12700">
            <a:solidFill>
              <a:srgbClr val="11121A"/>
            </a:solidFill>
            <a:prstDash val="solid"/>
          </a:ln>
        </p:spPr>
      </p:sp>
      <p:sp>
        <p:nvSpPr>
          <p:cNvPr id="14" name="Text 12"/>
          <p:cNvSpPr/>
          <p:nvPr/>
        </p:nvSpPr>
        <p:spPr>
          <a:xfrm>
            <a:off x="868680" y="4434840"/>
            <a:ext cx="3657600" cy="3657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Accroissement naturel, 2024</a:t>
            </a:r>
            <a:endParaRPr lang="en-US" sz="1400" dirty="0"/>
          </a:p>
        </p:txBody>
      </p:sp>
      <p:sp>
        <p:nvSpPr>
          <p:cNvPr id="15" name="Text 13"/>
          <p:cNvSpPr/>
          <p:nvPr/>
        </p:nvSpPr>
        <p:spPr>
          <a:xfrm>
            <a:off x="868680" y="4800600"/>
            <a:ext cx="4114800" cy="822960"/>
          </a:xfrm>
          <a:prstGeom prst="rect">
            <a:avLst/>
          </a:prstGeom>
          <a:noFill/>
          <a:ln/>
        </p:spPr>
        <p:txBody>
          <a:bodyPr wrap="square" lIns="0" tIns="0" rIns="0" bIns="0" rtlCol="0" anchor="t"/>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moins 100 938</a:t>
            </a:r>
            <a:endParaRPr lang="en-US" sz="4400" dirty="0"/>
          </a:p>
        </p:txBody>
      </p:sp>
      <p:sp>
        <p:nvSpPr>
          <p:cNvPr id="16" name="Text 14"/>
          <p:cNvSpPr/>
          <p:nvPr/>
        </p:nvSpPr>
        <p:spPr>
          <a:xfrm>
            <a:off x="4617720" y="4800600"/>
            <a:ext cx="2743200" cy="8229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taux : moins 5,3 pour mille (UE : moins 2,8)</a:t>
            </a:r>
            <a:endParaRPr lang="en-US" sz="1500" dirty="0"/>
          </a:p>
        </p:txBody>
      </p:sp>
      <p:sp>
        <p:nvSpPr>
          <p:cNvPr id="17" name="Shape 15"/>
          <p:cNvSpPr/>
          <p:nvPr/>
        </p:nvSpPr>
        <p:spPr>
          <a:xfrm>
            <a:off x="7726680" y="1783080"/>
            <a:ext cx="3840480" cy="4160520"/>
          </a:xfrm>
          <a:prstGeom prst="roundRect">
            <a:avLst>
              <a:gd name="adj" fmla="val 2143"/>
            </a:avLst>
          </a:prstGeom>
          <a:solidFill>
            <a:srgbClr val="ECEAE4"/>
          </a:solidFill>
          <a:ln w="12700">
            <a:solidFill>
              <a:srgbClr val="ECEAE4"/>
            </a:solidFill>
            <a:prstDash val="solid"/>
          </a:ln>
        </p:spPr>
      </p:sp>
      <p:sp>
        <p:nvSpPr>
          <p:cNvPr id="18" name="Text 16"/>
          <p:cNvSpPr/>
          <p:nvPr/>
        </p:nvSpPr>
        <p:spPr>
          <a:xfrm>
            <a:off x="8001000" y="1920240"/>
            <a:ext cx="3291840" cy="914400"/>
          </a:xfrm>
          <a:prstGeom prst="rect">
            <a:avLst/>
          </a:prstGeom>
          <a:noFill/>
          <a:ln/>
        </p:spPr>
        <p:txBody>
          <a:bodyPr wrap="square" lIns="0" tIns="0" rIns="0" bIns="0" rtlCol="0" anchor="t"/>
          <a:lstStyle/>
          <a:p>
            <a:pPr indent="0" marL="0">
              <a:buNone/>
            </a:pPr>
            <a:r>
              <a:rPr lang="en-US" sz="5200" b="1" dirty="0">
                <a:solidFill>
                  <a:srgbClr val="B02532"/>
                </a:solidFill>
                <a:latin typeface="Palatino Linotype" pitchFamily="34" charset="0"/>
                <a:ea typeface="Palatino Linotype" pitchFamily="34" charset="-122"/>
                <a:cs typeface="Palatino Linotype" pitchFamily="34" charset="-120"/>
              </a:rPr>
              <a:t>27,2 %</a:t>
            </a:r>
            <a:endParaRPr lang="en-US" sz="5200" dirty="0"/>
          </a:p>
        </p:txBody>
      </p:sp>
      <p:sp>
        <p:nvSpPr>
          <p:cNvPr id="19" name="Text 17"/>
          <p:cNvSpPr/>
          <p:nvPr/>
        </p:nvSpPr>
        <p:spPr>
          <a:xfrm>
            <a:off x="8001000" y="2834640"/>
            <a:ext cx="3291840" cy="7315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les naissances de 2024, par rapport à celles de 1967</a:t>
            </a:r>
            <a:endParaRPr lang="en-US" sz="1500" dirty="0"/>
          </a:p>
        </p:txBody>
      </p:sp>
      <p:sp>
        <p:nvSpPr>
          <p:cNvPr id="20" name="Text 18"/>
          <p:cNvSpPr/>
          <p:nvPr/>
        </p:nvSpPr>
        <p:spPr>
          <a:xfrm>
            <a:off x="8001000" y="3749040"/>
            <a:ext cx="3291840" cy="210312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En 2025 : 134 238 naissances (provisoire). Le solde inclut un ajustement statistique et ne dit pas qui arrive : Roumains qui reviennent, étrangers, corrections des registres.</a:t>
            </a:r>
            <a:endParaRPr lang="en-US" sz="14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bilan démographique (demo_gind).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LIEN AVEC LA SANTÉ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Espérance de vie à la naissance, 2024</a:t>
            </a:r>
            <a:endParaRPr lang="en-US" sz="3400" dirty="0"/>
          </a:p>
        </p:txBody>
      </p:sp>
      <p:sp>
        <p:nvSpPr>
          <p:cNvPr id="4" name="Text 2"/>
          <p:cNvSpPr/>
          <p:nvPr/>
        </p:nvSpPr>
        <p:spPr>
          <a:xfrm>
            <a:off x="594360" y="1920240"/>
            <a:ext cx="27432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Roumanie</a:t>
            </a:r>
            <a:endParaRPr lang="en-US" sz="1700" dirty="0"/>
          </a:p>
        </p:txBody>
      </p:sp>
      <p:sp>
        <p:nvSpPr>
          <p:cNvPr id="5" name="Shape 3"/>
          <p:cNvSpPr/>
          <p:nvPr/>
        </p:nvSpPr>
        <p:spPr>
          <a:xfrm>
            <a:off x="3429000" y="1984248"/>
            <a:ext cx="4197096" cy="329184"/>
          </a:xfrm>
          <a:prstGeom prst="roundRect">
            <a:avLst>
              <a:gd name="adj" fmla="val 13889"/>
            </a:avLst>
          </a:prstGeom>
          <a:solidFill>
            <a:srgbClr val="FF4757"/>
          </a:solidFill>
          <a:ln w="12700">
            <a:solidFill>
              <a:srgbClr val="FF4757"/>
            </a:solidFill>
            <a:prstDash val="solid"/>
          </a:ln>
        </p:spPr>
      </p:sp>
      <p:sp>
        <p:nvSpPr>
          <p:cNvPr id="6" name="Text 4"/>
          <p:cNvSpPr/>
          <p:nvPr/>
        </p:nvSpPr>
        <p:spPr>
          <a:xfrm>
            <a:off x="7717536" y="192024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76,5 ans</a:t>
            </a:r>
            <a:endParaRPr lang="en-US" sz="1600" dirty="0"/>
          </a:p>
        </p:txBody>
      </p:sp>
      <p:sp>
        <p:nvSpPr>
          <p:cNvPr id="7" name="Text 5"/>
          <p:cNvSpPr/>
          <p:nvPr/>
        </p:nvSpPr>
        <p:spPr>
          <a:xfrm>
            <a:off x="594360" y="2651760"/>
            <a:ext cx="27432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Union européenne</a:t>
            </a:r>
            <a:endParaRPr lang="en-US" sz="1700" dirty="0"/>
          </a:p>
        </p:txBody>
      </p:sp>
      <p:sp>
        <p:nvSpPr>
          <p:cNvPr id="8" name="Shape 6"/>
          <p:cNvSpPr/>
          <p:nvPr/>
        </p:nvSpPr>
        <p:spPr>
          <a:xfrm>
            <a:off x="3429000" y="2715768"/>
            <a:ext cx="4471416" cy="329184"/>
          </a:xfrm>
          <a:prstGeom prst="roundRect">
            <a:avLst>
              <a:gd name="adj" fmla="val 13889"/>
            </a:avLst>
          </a:prstGeom>
          <a:solidFill>
            <a:srgbClr val="27D3BE"/>
          </a:solidFill>
          <a:ln w="12700">
            <a:solidFill>
              <a:srgbClr val="27D3BE"/>
            </a:solidFill>
            <a:prstDash val="solid"/>
          </a:ln>
        </p:spPr>
      </p:sp>
      <p:sp>
        <p:nvSpPr>
          <p:cNvPr id="9" name="Text 7"/>
          <p:cNvSpPr/>
          <p:nvPr/>
        </p:nvSpPr>
        <p:spPr>
          <a:xfrm>
            <a:off x="7991856" y="265176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81,5 ans</a:t>
            </a:r>
            <a:endParaRPr lang="en-US" sz="1600" dirty="0"/>
          </a:p>
        </p:txBody>
      </p:sp>
      <p:sp>
        <p:nvSpPr>
          <p:cNvPr id="10" name="Text 8"/>
          <p:cNvSpPr/>
          <p:nvPr/>
        </p:nvSpPr>
        <p:spPr>
          <a:xfrm>
            <a:off x="594360" y="3383280"/>
            <a:ext cx="27432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Hommes, Roumanie</a:t>
            </a:r>
            <a:endParaRPr lang="en-US" sz="1700" dirty="0"/>
          </a:p>
        </p:txBody>
      </p:sp>
      <p:sp>
        <p:nvSpPr>
          <p:cNvPr id="11" name="Shape 9"/>
          <p:cNvSpPr/>
          <p:nvPr/>
        </p:nvSpPr>
        <p:spPr>
          <a:xfrm>
            <a:off x="3429000" y="3447288"/>
            <a:ext cx="3994099" cy="329184"/>
          </a:xfrm>
          <a:prstGeom prst="roundRect">
            <a:avLst>
              <a:gd name="adj" fmla="val 13889"/>
            </a:avLst>
          </a:prstGeom>
          <a:solidFill>
            <a:srgbClr val="4B5068"/>
          </a:solidFill>
          <a:ln w="12700">
            <a:solidFill>
              <a:srgbClr val="4B5068"/>
            </a:solidFill>
            <a:prstDash val="solid"/>
          </a:ln>
        </p:spPr>
      </p:sp>
      <p:sp>
        <p:nvSpPr>
          <p:cNvPr id="12" name="Text 10"/>
          <p:cNvSpPr/>
          <p:nvPr/>
        </p:nvSpPr>
        <p:spPr>
          <a:xfrm>
            <a:off x="7514539" y="338328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72,8 ans</a:t>
            </a:r>
            <a:endParaRPr lang="en-US" sz="1600" dirty="0"/>
          </a:p>
        </p:txBody>
      </p:sp>
      <p:sp>
        <p:nvSpPr>
          <p:cNvPr id="13" name="Text 11"/>
          <p:cNvSpPr/>
          <p:nvPr/>
        </p:nvSpPr>
        <p:spPr>
          <a:xfrm>
            <a:off x="594360" y="4114800"/>
            <a:ext cx="27432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Femmes, Roumanie</a:t>
            </a:r>
            <a:endParaRPr lang="en-US" sz="1700" dirty="0"/>
          </a:p>
        </p:txBody>
      </p:sp>
      <p:sp>
        <p:nvSpPr>
          <p:cNvPr id="14" name="Shape 12"/>
          <p:cNvSpPr/>
          <p:nvPr/>
        </p:nvSpPr>
        <p:spPr>
          <a:xfrm>
            <a:off x="3429000" y="4178808"/>
            <a:ext cx="4405579" cy="329184"/>
          </a:xfrm>
          <a:prstGeom prst="roundRect">
            <a:avLst>
              <a:gd name="adj" fmla="val 13889"/>
            </a:avLst>
          </a:prstGeom>
          <a:solidFill>
            <a:srgbClr val="4B5068"/>
          </a:solidFill>
          <a:ln w="12700">
            <a:solidFill>
              <a:srgbClr val="4B5068"/>
            </a:solidFill>
            <a:prstDash val="solid"/>
          </a:ln>
        </p:spPr>
      </p:sp>
      <p:sp>
        <p:nvSpPr>
          <p:cNvPr id="15" name="Text 13"/>
          <p:cNvSpPr/>
          <p:nvPr/>
        </p:nvSpPr>
        <p:spPr>
          <a:xfrm>
            <a:off x="7926019" y="411480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80,3 ans</a:t>
            </a:r>
            <a:endParaRPr lang="en-US" sz="1600" dirty="0"/>
          </a:p>
        </p:txBody>
      </p:sp>
      <p:sp>
        <p:nvSpPr>
          <p:cNvPr id="16" name="Shape 14"/>
          <p:cNvSpPr/>
          <p:nvPr/>
        </p:nvSpPr>
        <p:spPr>
          <a:xfrm>
            <a:off x="594360" y="4983480"/>
            <a:ext cx="10972800" cy="1051560"/>
          </a:xfrm>
          <a:prstGeom prst="roundRect">
            <a:avLst>
              <a:gd name="adj" fmla="val 7826"/>
            </a:avLst>
          </a:prstGeom>
          <a:solidFill>
            <a:srgbClr val="1D1F2B"/>
          </a:solidFill>
          <a:ln w="12700">
            <a:solidFill>
              <a:srgbClr val="1D1F2B"/>
            </a:solidFill>
            <a:prstDash val="solid"/>
          </a:ln>
        </p:spPr>
      </p:sp>
      <p:sp>
        <p:nvSpPr>
          <p:cNvPr id="17" name="Text 15"/>
          <p:cNvSpPr/>
          <p:nvPr/>
        </p:nvSpPr>
        <p:spPr>
          <a:xfrm>
            <a:off x="868680" y="4983480"/>
            <a:ext cx="10424160" cy="105156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L’écart de près de huit ans entre les hommes et les femmes tient, en grande partie, aux décès prématurés des hommes ; leurs causes sont discutées au cours 4.</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espérance de vie à la naissance, 2024.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LIRE UN GRAPHIQUE, SANS CALCULS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Trois types de pyramide des âges</a:t>
            </a:r>
            <a:endParaRPr lang="en-US" sz="3200" dirty="0"/>
          </a:p>
        </p:txBody>
      </p:sp>
      <p:sp>
        <p:nvSpPr>
          <p:cNvPr id="4" name="Shape 2"/>
          <p:cNvSpPr/>
          <p:nvPr/>
        </p:nvSpPr>
        <p:spPr>
          <a:xfrm>
            <a:off x="594360" y="1783080"/>
            <a:ext cx="3520440" cy="4206240"/>
          </a:xfrm>
          <a:prstGeom prst="roundRect">
            <a:avLst>
              <a:gd name="adj" fmla="val 2338"/>
            </a:avLst>
          </a:prstGeom>
          <a:solidFill>
            <a:srgbClr val="ECEAE4"/>
          </a:solidFill>
          <a:ln w="12700">
            <a:solidFill>
              <a:srgbClr val="ECEAE4"/>
            </a:solidFill>
            <a:prstDash val="solid"/>
          </a:ln>
        </p:spPr>
      </p:sp>
      <p:sp>
        <p:nvSpPr>
          <p:cNvPr id="5" name="Shape 3"/>
          <p:cNvSpPr/>
          <p:nvPr/>
        </p:nvSpPr>
        <p:spPr>
          <a:xfrm>
            <a:off x="1017727" y="3657600"/>
            <a:ext cx="2673706" cy="237744"/>
          </a:xfrm>
          <a:prstGeom prst="rect">
            <a:avLst/>
          </a:prstGeom>
          <a:solidFill>
            <a:srgbClr val="0E7C6B"/>
          </a:solidFill>
          <a:ln w="12700">
            <a:solidFill>
              <a:srgbClr val="FF4757"/>
            </a:solidFill>
            <a:prstDash val="solid"/>
          </a:ln>
        </p:spPr>
      </p:sp>
      <p:sp>
        <p:nvSpPr>
          <p:cNvPr id="6" name="Shape 4"/>
          <p:cNvSpPr/>
          <p:nvPr/>
        </p:nvSpPr>
        <p:spPr>
          <a:xfrm>
            <a:off x="1173175" y="3383280"/>
            <a:ext cx="2362810" cy="237744"/>
          </a:xfrm>
          <a:prstGeom prst="rect">
            <a:avLst/>
          </a:prstGeom>
          <a:solidFill>
            <a:srgbClr val="0E7C6B"/>
          </a:solidFill>
          <a:ln w="12700">
            <a:solidFill>
              <a:srgbClr val="FF4757"/>
            </a:solidFill>
            <a:prstDash val="solid"/>
          </a:ln>
        </p:spPr>
      </p:sp>
      <p:sp>
        <p:nvSpPr>
          <p:cNvPr id="7" name="Shape 5"/>
          <p:cNvSpPr/>
          <p:nvPr/>
        </p:nvSpPr>
        <p:spPr>
          <a:xfrm>
            <a:off x="1328623" y="3108960"/>
            <a:ext cx="2051914" cy="237744"/>
          </a:xfrm>
          <a:prstGeom prst="rect">
            <a:avLst/>
          </a:prstGeom>
          <a:solidFill>
            <a:srgbClr val="0E7C6B"/>
          </a:solidFill>
          <a:ln w="12700">
            <a:solidFill>
              <a:srgbClr val="FF4757"/>
            </a:solidFill>
            <a:prstDash val="solid"/>
          </a:ln>
        </p:spPr>
      </p:sp>
      <p:sp>
        <p:nvSpPr>
          <p:cNvPr id="8" name="Shape 6"/>
          <p:cNvSpPr/>
          <p:nvPr/>
        </p:nvSpPr>
        <p:spPr>
          <a:xfrm>
            <a:off x="1515161" y="2834640"/>
            <a:ext cx="1678838" cy="237744"/>
          </a:xfrm>
          <a:prstGeom prst="rect">
            <a:avLst/>
          </a:prstGeom>
          <a:solidFill>
            <a:srgbClr val="0E7C6B"/>
          </a:solidFill>
          <a:ln w="12700">
            <a:solidFill>
              <a:srgbClr val="FF4757"/>
            </a:solidFill>
            <a:prstDash val="solid"/>
          </a:ln>
        </p:spPr>
      </p:sp>
      <p:sp>
        <p:nvSpPr>
          <p:cNvPr id="9" name="Shape 7"/>
          <p:cNvSpPr/>
          <p:nvPr/>
        </p:nvSpPr>
        <p:spPr>
          <a:xfrm>
            <a:off x="1701698" y="2560320"/>
            <a:ext cx="1305763" cy="237744"/>
          </a:xfrm>
          <a:prstGeom prst="rect">
            <a:avLst/>
          </a:prstGeom>
          <a:solidFill>
            <a:srgbClr val="0E7C6B"/>
          </a:solidFill>
          <a:ln w="12700">
            <a:solidFill>
              <a:srgbClr val="FF4757"/>
            </a:solidFill>
            <a:prstDash val="solid"/>
          </a:ln>
        </p:spPr>
      </p:sp>
      <p:sp>
        <p:nvSpPr>
          <p:cNvPr id="10" name="Shape 8"/>
          <p:cNvSpPr/>
          <p:nvPr/>
        </p:nvSpPr>
        <p:spPr>
          <a:xfrm>
            <a:off x="1888236" y="2286000"/>
            <a:ext cx="932688" cy="237744"/>
          </a:xfrm>
          <a:prstGeom prst="rect">
            <a:avLst/>
          </a:prstGeom>
          <a:solidFill>
            <a:srgbClr val="0E7C6B"/>
          </a:solidFill>
          <a:ln w="12700">
            <a:solidFill>
              <a:srgbClr val="FF4757"/>
            </a:solidFill>
            <a:prstDash val="solid"/>
          </a:ln>
        </p:spPr>
      </p:sp>
      <p:sp>
        <p:nvSpPr>
          <p:cNvPr id="11" name="Shape 9"/>
          <p:cNvSpPr/>
          <p:nvPr/>
        </p:nvSpPr>
        <p:spPr>
          <a:xfrm>
            <a:off x="2074774" y="2011680"/>
            <a:ext cx="559613" cy="237744"/>
          </a:xfrm>
          <a:prstGeom prst="rect">
            <a:avLst/>
          </a:prstGeom>
          <a:solidFill>
            <a:srgbClr val="0E7C6B"/>
          </a:solidFill>
          <a:ln w="12700">
            <a:solidFill>
              <a:srgbClr val="FF4757"/>
            </a:solidFill>
            <a:prstDash val="solid"/>
          </a:ln>
        </p:spPr>
      </p:sp>
      <p:sp>
        <p:nvSpPr>
          <p:cNvPr id="12" name="Text 10"/>
          <p:cNvSpPr/>
          <p:nvPr/>
        </p:nvSpPr>
        <p:spPr>
          <a:xfrm>
            <a:off x="822960" y="3931920"/>
            <a:ext cx="3063240" cy="4114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Expansive (progressive)</a:t>
            </a:r>
            <a:endParaRPr lang="en-US" sz="1900" dirty="0"/>
          </a:p>
        </p:txBody>
      </p:sp>
      <p:sp>
        <p:nvSpPr>
          <p:cNvPr id="13" name="Text 11"/>
          <p:cNvSpPr/>
          <p:nvPr/>
        </p:nvSpPr>
        <p:spPr>
          <a:xfrm>
            <a:off x="822960" y="4389120"/>
            <a:ext cx="3063240" cy="15544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base la plus large, se rétrécit régulièrement vers le sommet : chaque génération qui naît est plus nombreuse que la précédente</a:t>
            </a:r>
            <a:endParaRPr lang="en-US" sz="1400" dirty="0"/>
          </a:p>
        </p:txBody>
      </p:sp>
      <p:sp>
        <p:nvSpPr>
          <p:cNvPr id="14" name="Shape 12"/>
          <p:cNvSpPr/>
          <p:nvPr/>
        </p:nvSpPr>
        <p:spPr>
          <a:xfrm>
            <a:off x="4389120" y="1783080"/>
            <a:ext cx="3520440" cy="4206240"/>
          </a:xfrm>
          <a:prstGeom prst="roundRect">
            <a:avLst>
              <a:gd name="adj" fmla="val 2338"/>
            </a:avLst>
          </a:prstGeom>
          <a:solidFill>
            <a:srgbClr val="ECEAE4"/>
          </a:solidFill>
          <a:ln w="12700">
            <a:solidFill>
              <a:srgbClr val="ECEAE4"/>
            </a:solidFill>
            <a:prstDash val="solid"/>
          </a:ln>
        </p:spPr>
      </p:sp>
      <p:sp>
        <p:nvSpPr>
          <p:cNvPr id="15" name="Shape 13"/>
          <p:cNvSpPr/>
          <p:nvPr/>
        </p:nvSpPr>
        <p:spPr>
          <a:xfrm>
            <a:off x="5154473" y="3657600"/>
            <a:ext cx="1989734" cy="237744"/>
          </a:xfrm>
          <a:prstGeom prst="rect">
            <a:avLst/>
          </a:prstGeom>
          <a:solidFill>
            <a:srgbClr val="0E7C6B"/>
          </a:solidFill>
          <a:ln w="12700">
            <a:solidFill>
              <a:srgbClr val="FF4757"/>
            </a:solidFill>
            <a:prstDash val="solid"/>
          </a:ln>
        </p:spPr>
      </p:sp>
      <p:sp>
        <p:nvSpPr>
          <p:cNvPr id="16" name="Shape 14"/>
          <p:cNvSpPr/>
          <p:nvPr/>
        </p:nvSpPr>
        <p:spPr>
          <a:xfrm>
            <a:off x="5154473" y="3383280"/>
            <a:ext cx="1989734" cy="237744"/>
          </a:xfrm>
          <a:prstGeom prst="rect">
            <a:avLst/>
          </a:prstGeom>
          <a:solidFill>
            <a:srgbClr val="0E7C6B"/>
          </a:solidFill>
          <a:ln w="12700">
            <a:solidFill>
              <a:srgbClr val="FF4757"/>
            </a:solidFill>
            <a:prstDash val="solid"/>
          </a:ln>
        </p:spPr>
      </p:sp>
      <p:sp>
        <p:nvSpPr>
          <p:cNvPr id="17" name="Shape 15"/>
          <p:cNvSpPr/>
          <p:nvPr/>
        </p:nvSpPr>
        <p:spPr>
          <a:xfrm>
            <a:off x="5154473" y="3108960"/>
            <a:ext cx="1989734" cy="237744"/>
          </a:xfrm>
          <a:prstGeom prst="rect">
            <a:avLst/>
          </a:prstGeom>
          <a:solidFill>
            <a:srgbClr val="0E7C6B"/>
          </a:solidFill>
          <a:ln w="12700">
            <a:solidFill>
              <a:srgbClr val="FF4757"/>
            </a:solidFill>
            <a:prstDash val="solid"/>
          </a:ln>
        </p:spPr>
      </p:sp>
      <p:sp>
        <p:nvSpPr>
          <p:cNvPr id="18" name="Shape 16"/>
          <p:cNvSpPr/>
          <p:nvPr/>
        </p:nvSpPr>
        <p:spPr>
          <a:xfrm>
            <a:off x="5170018" y="2834640"/>
            <a:ext cx="1958645" cy="237744"/>
          </a:xfrm>
          <a:prstGeom prst="rect">
            <a:avLst/>
          </a:prstGeom>
          <a:solidFill>
            <a:srgbClr val="0E7C6B"/>
          </a:solidFill>
          <a:ln w="12700">
            <a:solidFill>
              <a:srgbClr val="FF4757"/>
            </a:solidFill>
            <a:prstDash val="solid"/>
          </a:ln>
        </p:spPr>
      </p:sp>
      <p:sp>
        <p:nvSpPr>
          <p:cNvPr id="19" name="Shape 17"/>
          <p:cNvSpPr/>
          <p:nvPr/>
        </p:nvSpPr>
        <p:spPr>
          <a:xfrm>
            <a:off x="5216652" y="2560320"/>
            <a:ext cx="1865376" cy="237744"/>
          </a:xfrm>
          <a:prstGeom prst="rect">
            <a:avLst/>
          </a:prstGeom>
          <a:solidFill>
            <a:srgbClr val="0E7C6B"/>
          </a:solidFill>
          <a:ln w="12700">
            <a:solidFill>
              <a:srgbClr val="FF4757"/>
            </a:solidFill>
            <a:prstDash val="solid"/>
          </a:ln>
        </p:spPr>
      </p:sp>
      <p:sp>
        <p:nvSpPr>
          <p:cNvPr id="20" name="Shape 18"/>
          <p:cNvSpPr/>
          <p:nvPr/>
        </p:nvSpPr>
        <p:spPr>
          <a:xfrm>
            <a:off x="5372100" y="2286000"/>
            <a:ext cx="1554480" cy="237744"/>
          </a:xfrm>
          <a:prstGeom prst="rect">
            <a:avLst/>
          </a:prstGeom>
          <a:solidFill>
            <a:srgbClr val="0E7C6B"/>
          </a:solidFill>
          <a:ln w="12700">
            <a:solidFill>
              <a:srgbClr val="FF4757"/>
            </a:solidFill>
            <a:prstDash val="solid"/>
          </a:ln>
        </p:spPr>
      </p:sp>
      <p:sp>
        <p:nvSpPr>
          <p:cNvPr id="21" name="Shape 19"/>
          <p:cNvSpPr/>
          <p:nvPr/>
        </p:nvSpPr>
        <p:spPr>
          <a:xfrm>
            <a:off x="5745175" y="2011680"/>
            <a:ext cx="808330" cy="237744"/>
          </a:xfrm>
          <a:prstGeom prst="rect">
            <a:avLst/>
          </a:prstGeom>
          <a:solidFill>
            <a:srgbClr val="0E7C6B"/>
          </a:solidFill>
          <a:ln w="12700">
            <a:solidFill>
              <a:srgbClr val="FF4757"/>
            </a:solidFill>
            <a:prstDash val="solid"/>
          </a:ln>
        </p:spPr>
      </p:sp>
      <p:sp>
        <p:nvSpPr>
          <p:cNvPr id="22" name="Text 20"/>
          <p:cNvSpPr/>
          <p:nvPr/>
        </p:nvSpPr>
        <p:spPr>
          <a:xfrm>
            <a:off x="4617720" y="3931920"/>
            <a:ext cx="3063240" cy="4114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Stationnaire</a:t>
            </a:r>
            <a:endParaRPr lang="en-US" sz="1900" dirty="0"/>
          </a:p>
        </p:txBody>
      </p:sp>
      <p:sp>
        <p:nvSpPr>
          <p:cNvPr id="23" name="Text 21"/>
          <p:cNvSpPr/>
          <p:nvPr/>
        </p:nvSpPr>
        <p:spPr>
          <a:xfrm>
            <a:off x="4617720" y="4389120"/>
            <a:ext cx="3063240" cy="15544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barres presque égales jusqu’aux âges avancés : le nombre des naissances est resté à peu près le même d’une génération à l’autre</a:t>
            </a:r>
            <a:endParaRPr lang="en-US" sz="1400" dirty="0"/>
          </a:p>
        </p:txBody>
      </p:sp>
      <p:sp>
        <p:nvSpPr>
          <p:cNvPr id="24" name="Shape 22"/>
          <p:cNvSpPr/>
          <p:nvPr/>
        </p:nvSpPr>
        <p:spPr>
          <a:xfrm>
            <a:off x="8183880" y="1783080"/>
            <a:ext cx="3520440" cy="4206240"/>
          </a:xfrm>
          <a:prstGeom prst="roundRect">
            <a:avLst>
              <a:gd name="adj" fmla="val 2338"/>
            </a:avLst>
          </a:prstGeom>
          <a:solidFill>
            <a:srgbClr val="ECEAE4"/>
          </a:solidFill>
          <a:ln w="12700">
            <a:solidFill>
              <a:srgbClr val="ECEAE4"/>
            </a:solidFill>
            <a:prstDash val="solid"/>
          </a:ln>
        </p:spPr>
      </p:sp>
      <p:sp>
        <p:nvSpPr>
          <p:cNvPr id="25" name="Shape 23"/>
          <p:cNvSpPr/>
          <p:nvPr/>
        </p:nvSpPr>
        <p:spPr>
          <a:xfrm>
            <a:off x="9415577" y="3657600"/>
            <a:ext cx="1057046" cy="237744"/>
          </a:xfrm>
          <a:prstGeom prst="rect">
            <a:avLst/>
          </a:prstGeom>
          <a:solidFill>
            <a:srgbClr val="FF4757"/>
          </a:solidFill>
          <a:ln w="12700">
            <a:solidFill>
              <a:srgbClr val="FF4757"/>
            </a:solidFill>
            <a:prstDash val="solid"/>
          </a:ln>
        </p:spPr>
      </p:sp>
      <p:sp>
        <p:nvSpPr>
          <p:cNvPr id="26" name="Shape 24"/>
          <p:cNvSpPr/>
          <p:nvPr/>
        </p:nvSpPr>
        <p:spPr>
          <a:xfrm>
            <a:off x="9260129" y="3383280"/>
            <a:ext cx="1367942" cy="237744"/>
          </a:xfrm>
          <a:prstGeom prst="rect">
            <a:avLst/>
          </a:prstGeom>
          <a:solidFill>
            <a:srgbClr val="FF4757"/>
          </a:solidFill>
          <a:ln w="12700">
            <a:solidFill>
              <a:srgbClr val="FF4757"/>
            </a:solidFill>
            <a:prstDash val="solid"/>
          </a:ln>
        </p:spPr>
      </p:sp>
      <p:sp>
        <p:nvSpPr>
          <p:cNvPr id="27" name="Shape 25"/>
          <p:cNvSpPr/>
          <p:nvPr/>
        </p:nvSpPr>
        <p:spPr>
          <a:xfrm>
            <a:off x="9073591" y="3108960"/>
            <a:ext cx="1741018" cy="237744"/>
          </a:xfrm>
          <a:prstGeom prst="rect">
            <a:avLst/>
          </a:prstGeom>
          <a:solidFill>
            <a:srgbClr val="FF4757"/>
          </a:solidFill>
          <a:ln w="12700">
            <a:solidFill>
              <a:srgbClr val="FF4757"/>
            </a:solidFill>
            <a:prstDash val="solid"/>
          </a:ln>
        </p:spPr>
      </p:sp>
      <p:sp>
        <p:nvSpPr>
          <p:cNvPr id="28" name="Shape 26"/>
          <p:cNvSpPr/>
          <p:nvPr/>
        </p:nvSpPr>
        <p:spPr>
          <a:xfrm>
            <a:off x="8949233" y="2834640"/>
            <a:ext cx="1989734" cy="237744"/>
          </a:xfrm>
          <a:prstGeom prst="rect">
            <a:avLst/>
          </a:prstGeom>
          <a:solidFill>
            <a:srgbClr val="FF4757"/>
          </a:solidFill>
          <a:ln w="12700">
            <a:solidFill>
              <a:srgbClr val="FF4757"/>
            </a:solidFill>
            <a:prstDash val="solid"/>
          </a:ln>
        </p:spPr>
      </p:sp>
      <p:sp>
        <p:nvSpPr>
          <p:cNvPr id="29" name="Shape 27"/>
          <p:cNvSpPr/>
          <p:nvPr/>
        </p:nvSpPr>
        <p:spPr>
          <a:xfrm>
            <a:off x="9042502" y="2560320"/>
            <a:ext cx="1803197" cy="237744"/>
          </a:xfrm>
          <a:prstGeom prst="rect">
            <a:avLst/>
          </a:prstGeom>
          <a:solidFill>
            <a:srgbClr val="FF4757"/>
          </a:solidFill>
          <a:ln w="12700">
            <a:solidFill>
              <a:srgbClr val="FF4757"/>
            </a:solidFill>
            <a:prstDash val="solid"/>
          </a:ln>
        </p:spPr>
      </p:sp>
      <p:sp>
        <p:nvSpPr>
          <p:cNvPr id="30" name="Shape 28"/>
          <p:cNvSpPr/>
          <p:nvPr/>
        </p:nvSpPr>
        <p:spPr>
          <a:xfrm>
            <a:off x="9291218" y="2286000"/>
            <a:ext cx="1305763" cy="237744"/>
          </a:xfrm>
          <a:prstGeom prst="rect">
            <a:avLst/>
          </a:prstGeom>
          <a:solidFill>
            <a:srgbClr val="FF4757"/>
          </a:solidFill>
          <a:ln w="12700">
            <a:solidFill>
              <a:srgbClr val="FF4757"/>
            </a:solidFill>
            <a:prstDash val="solid"/>
          </a:ln>
        </p:spPr>
      </p:sp>
      <p:sp>
        <p:nvSpPr>
          <p:cNvPr id="31" name="Shape 29"/>
          <p:cNvSpPr/>
          <p:nvPr/>
        </p:nvSpPr>
        <p:spPr>
          <a:xfrm>
            <a:off x="9602114" y="2011680"/>
            <a:ext cx="683971" cy="237744"/>
          </a:xfrm>
          <a:prstGeom prst="rect">
            <a:avLst/>
          </a:prstGeom>
          <a:solidFill>
            <a:srgbClr val="FF4757"/>
          </a:solidFill>
          <a:ln w="12700">
            <a:solidFill>
              <a:srgbClr val="FF4757"/>
            </a:solidFill>
            <a:prstDash val="solid"/>
          </a:ln>
        </p:spPr>
      </p:sp>
      <p:sp>
        <p:nvSpPr>
          <p:cNvPr id="32" name="Text 30"/>
          <p:cNvSpPr/>
          <p:nvPr/>
        </p:nvSpPr>
        <p:spPr>
          <a:xfrm>
            <a:off x="8412480" y="3931920"/>
            <a:ext cx="3063240" cy="4114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Constrictive (régressive)</a:t>
            </a:r>
            <a:endParaRPr lang="en-US" sz="1900" dirty="0"/>
          </a:p>
        </p:txBody>
      </p:sp>
      <p:sp>
        <p:nvSpPr>
          <p:cNvPr id="33" name="Text 31"/>
          <p:cNvSpPr/>
          <p:nvPr/>
        </p:nvSpPr>
        <p:spPr>
          <a:xfrm>
            <a:off x="8412480" y="4389120"/>
            <a:ext cx="3063240" cy="15544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base plus étroite que le milieu : les enfants nés ces dernières années sont moins nombreux que la génération de leurs parents</a:t>
            </a:r>
            <a:endParaRPr lang="en-US" sz="1400" dirty="0"/>
          </a:p>
        </p:txBody>
      </p:sp>
      <p:sp>
        <p:nvSpPr>
          <p:cNvPr id="34" name="Text 32"/>
          <p:cNvSpPr/>
          <p:nvPr/>
        </p:nvSpPr>
        <p:spPr>
          <a:xfrm>
            <a:off x="594360" y="6126480"/>
            <a:ext cx="10972800" cy="274320"/>
          </a:xfrm>
          <a:prstGeom prst="rect">
            <a:avLst/>
          </a:prstGeom>
          <a:noFill/>
          <a:ln/>
        </p:spPr>
        <p:txBody>
          <a:bodyPr wrap="square" lIns="0" tIns="0" rIns="0" bIns="0" rtlCol="0" anchor="t"/>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Schémas, sans valeurs ; les types de la fiche de la discipline et du travail pratique 2, où l’on construit la pyramide à partir des données d’un comté.</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VOTE SUR TÉLÉPHONE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Laquelle de ces trois pyramides est celle de la Roumanie d’aujourd’hui ?</a:t>
            </a:r>
            <a:endParaRPr lang="en-US" sz="3000" dirty="0"/>
          </a:p>
        </p:txBody>
      </p:sp>
      <p:sp>
        <p:nvSpPr>
          <p:cNvPr id="6" name="Shape 4"/>
          <p:cNvSpPr/>
          <p:nvPr/>
        </p:nvSpPr>
        <p:spPr>
          <a:xfrm>
            <a:off x="594360" y="1783080"/>
            <a:ext cx="3520440" cy="4206240"/>
          </a:xfrm>
          <a:prstGeom prst="roundRect">
            <a:avLst>
              <a:gd name="adj" fmla="val 2338"/>
            </a:avLst>
          </a:prstGeom>
          <a:solidFill>
            <a:srgbClr val="1D1F2B"/>
          </a:solidFill>
          <a:ln w="12700">
            <a:solidFill>
              <a:srgbClr val="1D1F2B"/>
            </a:solidFill>
            <a:prstDash val="solid"/>
          </a:ln>
        </p:spPr>
      </p:sp>
      <p:sp>
        <p:nvSpPr>
          <p:cNvPr id="7" name="Shape 5"/>
          <p:cNvSpPr/>
          <p:nvPr/>
        </p:nvSpPr>
        <p:spPr>
          <a:xfrm>
            <a:off x="822960" y="1920240"/>
            <a:ext cx="420624" cy="420624"/>
          </a:xfrm>
          <a:prstGeom prst="ellipse">
            <a:avLst/>
          </a:prstGeom>
          <a:solidFill>
            <a:srgbClr val="FFC24B"/>
          </a:solidFill>
          <a:ln/>
        </p:spPr>
      </p:sp>
      <p:sp>
        <p:nvSpPr>
          <p:cNvPr id="8" name="Text 6"/>
          <p:cNvSpPr/>
          <p:nvPr/>
        </p:nvSpPr>
        <p:spPr>
          <a:xfrm>
            <a:off x="82296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Shape 7"/>
          <p:cNvSpPr/>
          <p:nvPr/>
        </p:nvSpPr>
        <p:spPr>
          <a:xfrm>
            <a:off x="1051560" y="5598414"/>
            <a:ext cx="1459515" cy="144272"/>
          </a:xfrm>
          <a:prstGeom prst="rect">
            <a:avLst/>
          </a:prstGeom>
          <a:solidFill>
            <a:srgbClr val="27D3BE"/>
          </a:solidFill>
          <a:ln w="12700">
            <a:solidFill>
              <a:srgbClr val="27D3BE"/>
            </a:solidFill>
            <a:prstDash val="solid"/>
          </a:ln>
        </p:spPr>
      </p:sp>
      <p:sp>
        <p:nvSpPr>
          <p:cNvPr id="10" name="Shape 8"/>
          <p:cNvSpPr/>
          <p:nvPr/>
        </p:nvSpPr>
        <p:spPr>
          <a:xfrm>
            <a:off x="1051560" y="5418074"/>
            <a:ext cx="1466294" cy="144272"/>
          </a:xfrm>
          <a:prstGeom prst="rect">
            <a:avLst/>
          </a:prstGeom>
          <a:solidFill>
            <a:srgbClr val="27D3BE"/>
          </a:solidFill>
          <a:ln w="12700">
            <a:solidFill>
              <a:srgbClr val="27D3BE"/>
            </a:solidFill>
            <a:prstDash val="solid"/>
          </a:ln>
        </p:spPr>
      </p:sp>
      <p:sp>
        <p:nvSpPr>
          <p:cNvPr id="11" name="Shape 9"/>
          <p:cNvSpPr/>
          <p:nvPr/>
        </p:nvSpPr>
        <p:spPr>
          <a:xfrm>
            <a:off x="1051560" y="5237734"/>
            <a:ext cx="1523271" cy="144272"/>
          </a:xfrm>
          <a:prstGeom prst="rect">
            <a:avLst/>
          </a:prstGeom>
          <a:solidFill>
            <a:srgbClr val="27D3BE"/>
          </a:solidFill>
          <a:ln w="12700">
            <a:solidFill>
              <a:srgbClr val="27D3BE"/>
            </a:solidFill>
            <a:prstDash val="solid"/>
          </a:ln>
        </p:spPr>
      </p:sp>
      <p:sp>
        <p:nvSpPr>
          <p:cNvPr id="12" name="Shape 10"/>
          <p:cNvSpPr/>
          <p:nvPr/>
        </p:nvSpPr>
        <p:spPr>
          <a:xfrm>
            <a:off x="1051560" y="5057394"/>
            <a:ext cx="1566357" cy="144272"/>
          </a:xfrm>
          <a:prstGeom prst="rect">
            <a:avLst/>
          </a:prstGeom>
          <a:solidFill>
            <a:srgbClr val="27D3BE"/>
          </a:solidFill>
          <a:ln w="12700">
            <a:solidFill>
              <a:srgbClr val="27D3BE"/>
            </a:solidFill>
            <a:prstDash val="solid"/>
          </a:ln>
        </p:spPr>
      </p:sp>
      <p:sp>
        <p:nvSpPr>
          <p:cNvPr id="13" name="Shape 11"/>
          <p:cNvSpPr/>
          <p:nvPr/>
        </p:nvSpPr>
        <p:spPr>
          <a:xfrm>
            <a:off x="1051560" y="4877054"/>
            <a:ext cx="1924463" cy="144272"/>
          </a:xfrm>
          <a:prstGeom prst="rect">
            <a:avLst/>
          </a:prstGeom>
          <a:solidFill>
            <a:srgbClr val="27D3BE"/>
          </a:solidFill>
          <a:ln w="12700">
            <a:solidFill>
              <a:srgbClr val="27D3BE"/>
            </a:solidFill>
            <a:prstDash val="solid"/>
          </a:ln>
        </p:spPr>
      </p:sp>
      <p:sp>
        <p:nvSpPr>
          <p:cNvPr id="14" name="Shape 12"/>
          <p:cNvSpPr/>
          <p:nvPr/>
        </p:nvSpPr>
        <p:spPr>
          <a:xfrm>
            <a:off x="1051560" y="4696714"/>
            <a:ext cx="1823295" cy="144272"/>
          </a:xfrm>
          <a:prstGeom prst="rect">
            <a:avLst/>
          </a:prstGeom>
          <a:solidFill>
            <a:srgbClr val="27D3BE"/>
          </a:solidFill>
          <a:ln w="12700">
            <a:solidFill>
              <a:srgbClr val="27D3BE"/>
            </a:solidFill>
            <a:prstDash val="solid"/>
          </a:ln>
        </p:spPr>
      </p:sp>
      <p:sp>
        <p:nvSpPr>
          <p:cNvPr id="15" name="Shape 13"/>
          <p:cNvSpPr/>
          <p:nvPr/>
        </p:nvSpPr>
        <p:spPr>
          <a:xfrm>
            <a:off x="1051560" y="4516374"/>
            <a:ext cx="2128962" cy="144272"/>
          </a:xfrm>
          <a:prstGeom prst="rect">
            <a:avLst/>
          </a:prstGeom>
          <a:solidFill>
            <a:srgbClr val="27D3BE"/>
          </a:solidFill>
          <a:ln w="12700">
            <a:solidFill>
              <a:srgbClr val="27D3BE"/>
            </a:solidFill>
            <a:prstDash val="solid"/>
          </a:ln>
        </p:spPr>
      </p:sp>
      <p:sp>
        <p:nvSpPr>
          <p:cNvPr id="16" name="Shape 14"/>
          <p:cNvSpPr/>
          <p:nvPr/>
        </p:nvSpPr>
        <p:spPr>
          <a:xfrm>
            <a:off x="1051560" y="4336034"/>
            <a:ext cx="2141592" cy="144272"/>
          </a:xfrm>
          <a:prstGeom prst="rect">
            <a:avLst/>
          </a:prstGeom>
          <a:solidFill>
            <a:srgbClr val="27D3BE"/>
          </a:solidFill>
          <a:ln w="12700">
            <a:solidFill>
              <a:srgbClr val="27D3BE"/>
            </a:solidFill>
            <a:prstDash val="solid"/>
          </a:ln>
        </p:spPr>
      </p:sp>
      <p:sp>
        <p:nvSpPr>
          <p:cNvPr id="17" name="Shape 15"/>
          <p:cNvSpPr/>
          <p:nvPr/>
        </p:nvSpPr>
        <p:spPr>
          <a:xfrm>
            <a:off x="1051560" y="4155694"/>
            <a:ext cx="2416401" cy="144272"/>
          </a:xfrm>
          <a:prstGeom prst="rect">
            <a:avLst/>
          </a:prstGeom>
          <a:solidFill>
            <a:srgbClr val="27D3BE"/>
          </a:solidFill>
          <a:ln w="12700">
            <a:solidFill>
              <a:srgbClr val="27D3BE"/>
            </a:solidFill>
            <a:prstDash val="solid"/>
          </a:ln>
        </p:spPr>
      </p:sp>
      <p:sp>
        <p:nvSpPr>
          <p:cNvPr id="18" name="Shape 16"/>
          <p:cNvSpPr/>
          <p:nvPr/>
        </p:nvSpPr>
        <p:spPr>
          <a:xfrm>
            <a:off x="1051560" y="3975354"/>
            <a:ext cx="1528700" cy="144272"/>
          </a:xfrm>
          <a:prstGeom prst="rect">
            <a:avLst/>
          </a:prstGeom>
          <a:solidFill>
            <a:srgbClr val="27D3BE"/>
          </a:solidFill>
          <a:ln w="12700">
            <a:solidFill>
              <a:srgbClr val="27D3BE"/>
            </a:solidFill>
            <a:prstDash val="solid"/>
          </a:ln>
        </p:spPr>
      </p:sp>
      <p:sp>
        <p:nvSpPr>
          <p:cNvPr id="19" name="Shape 17"/>
          <p:cNvSpPr/>
          <p:nvPr/>
        </p:nvSpPr>
        <p:spPr>
          <a:xfrm>
            <a:off x="1051560" y="3795014"/>
            <a:ext cx="1898042" cy="144272"/>
          </a:xfrm>
          <a:prstGeom prst="rect">
            <a:avLst/>
          </a:prstGeom>
          <a:solidFill>
            <a:srgbClr val="27D3BE"/>
          </a:solidFill>
          <a:ln w="12700">
            <a:solidFill>
              <a:srgbClr val="27D3BE"/>
            </a:solidFill>
            <a:prstDash val="solid"/>
          </a:ln>
        </p:spPr>
      </p:sp>
      <p:sp>
        <p:nvSpPr>
          <p:cNvPr id="20" name="Shape 18"/>
          <p:cNvSpPr/>
          <p:nvPr/>
        </p:nvSpPr>
        <p:spPr>
          <a:xfrm>
            <a:off x="1051560" y="3614674"/>
            <a:ext cx="2022406" cy="144272"/>
          </a:xfrm>
          <a:prstGeom prst="rect">
            <a:avLst/>
          </a:prstGeom>
          <a:solidFill>
            <a:srgbClr val="27D3BE"/>
          </a:solidFill>
          <a:ln w="12700">
            <a:solidFill>
              <a:srgbClr val="27D3BE"/>
            </a:solidFill>
            <a:prstDash val="solid"/>
          </a:ln>
        </p:spPr>
      </p:sp>
      <p:sp>
        <p:nvSpPr>
          <p:cNvPr id="21" name="Shape 19"/>
          <p:cNvSpPr/>
          <p:nvPr/>
        </p:nvSpPr>
        <p:spPr>
          <a:xfrm>
            <a:off x="1051560" y="3434334"/>
            <a:ext cx="1719443" cy="144272"/>
          </a:xfrm>
          <a:prstGeom prst="rect">
            <a:avLst/>
          </a:prstGeom>
          <a:solidFill>
            <a:srgbClr val="27D3BE"/>
          </a:solidFill>
          <a:ln w="12700">
            <a:solidFill>
              <a:srgbClr val="27D3BE"/>
            </a:solidFill>
            <a:prstDash val="solid"/>
          </a:ln>
        </p:spPr>
      </p:sp>
      <p:sp>
        <p:nvSpPr>
          <p:cNvPr id="22" name="Shape 20"/>
          <p:cNvSpPr/>
          <p:nvPr/>
        </p:nvSpPr>
        <p:spPr>
          <a:xfrm>
            <a:off x="1051560" y="3253994"/>
            <a:ext cx="1247373" cy="144272"/>
          </a:xfrm>
          <a:prstGeom prst="rect">
            <a:avLst/>
          </a:prstGeom>
          <a:solidFill>
            <a:srgbClr val="27D3BE"/>
          </a:solidFill>
          <a:ln w="12700">
            <a:solidFill>
              <a:srgbClr val="27D3BE"/>
            </a:solidFill>
            <a:prstDash val="solid"/>
          </a:ln>
        </p:spPr>
      </p:sp>
      <p:sp>
        <p:nvSpPr>
          <p:cNvPr id="23" name="Shape 21"/>
          <p:cNvSpPr/>
          <p:nvPr/>
        </p:nvSpPr>
        <p:spPr>
          <a:xfrm>
            <a:off x="1051560" y="3073654"/>
            <a:ext cx="1269139" cy="144272"/>
          </a:xfrm>
          <a:prstGeom prst="rect">
            <a:avLst/>
          </a:prstGeom>
          <a:solidFill>
            <a:srgbClr val="27D3BE"/>
          </a:solidFill>
          <a:ln w="12700">
            <a:solidFill>
              <a:srgbClr val="27D3BE"/>
            </a:solidFill>
            <a:prstDash val="solid"/>
          </a:ln>
        </p:spPr>
      </p:sp>
      <p:sp>
        <p:nvSpPr>
          <p:cNvPr id="24" name="Shape 22"/>
          <p:cNvSpPr/>
          <p:nvPr/>
        </p:nvSpPr>
        <p:spPr>
          <a:xfrm>
            <a:off x="1051560" y="2893314"/>
            <a:ext cx="1021982" cy="144272"/>
          </a:xfrm>
          <a:prstGeom prst="rect">
            <a:avLst/>
          </a:prstGeom>
          <a:solidFill>
            <a:srgbClr val="27D3BE"/>
          </a:solidFill>
          <a:ln w="12700">
            <a:solidFill>
              <a:srgbClr val="27D3BE"/>
            </a:solidFill>
            <a:prstDash val="solid"/>
          </a:ln>
        </p:spPr>
      </p:sp>
      <p:sp>
        <p:nvSpPr>
          <p:cNvPr id="25" name="Shape 23"/>
          <p:cNvSpPr/>
          <p:nvPr/>
        </p:nvSpPr>
        <p:spPr>
          <a:xfrm>
            <a:off x="1051560" y="2712974"/>
            <a:ext cx="644297" cy="144272"/>
          </a:xfrm>
          <a:prstGeom prst="rect">
            <a:avLst/>
          </a:prstGeom>
          <a:solidFill>
            <a:srgbClr val="27D3BE"/>
          </a:solidFill>
          <a:ln w="12700">
            <a:solidFill>
              <a:srgbClr val="27D3BE"/>
            </a:solidFill>
            <a:prstDash val="solid"/>
          </a:ln>
        </p:spPr>
      </p:sp>
      <p:sp>
        <p:nvSpPr>
          <p:cNvPr id="26" name="Shape 24"/>
          <p:cNvSpPr/>
          <p:nvPr/>
        </p:nvSpPr>
        <p:spPr>
          <a:xfrm>
            <a:off x="1051560" y="2532634"/>
            <a:ext cx="361529" cy="144272"/>
          </a:xfrm>
          <a:prstGeom prst="rect">
            <a:avLst/>
          </a:prstGeom>
          <a:solidFill>
            <a:srgbClr val="27D3BE"/>
          </a:solidFill>
          <a:ln w="12700">
            <a:solidFill>
              <a:srgbClr val="27D3BE"/>
            </a:solidFill>
            <a:prstDash val="solid"/>
          </a:ln>
        </p:spPr>
      </p:sp>
      <p:sp>
        <p:nvSpPr>
          <p:cNvPr id="27" name="Shape 25"/>
          <p:cNvSpPr/>
          <p:nvPr/>
        </p:nvSpPr>
        <p:spPr>
          <a:xfrm>
            <a:off x="1024128" y="2514600"/>
            <a:ext cx="22860" cy="3246120"/>
          </a:xfrm>
          <a:prstGeom prst="rect">
            <a:avLst/>
          </a:prstGeom>
          <a:solidFill>
            <a:srgbClr val="6A6F85"/>
          </a:solidFill>
          <a:ln w="12700">
            <a:solidFill>
              <a:srgbClr val="6A6F85"/>
            </a:solidFill>
            <a:prstDash val="solid"/>
          </a:ln>
        </p:spPr>
      </p:sp>
      <p:sp>
        <p:nvSpPr>
          <p:cNvPr id="28" name="Shape 26"/>
          <p:cNvSpPr/>
          <p:nvPr/>
        </p:nvSpPr>
        <p:spPr>
          <a:xfrm>
            <a:off x="4389120" y="1783080"/>
            <a:ext cx="3520440" cy="4206240"/>
          </a:xfrm>
          <a:prstGeom prst="roundRect">
            <a:avLst>
              <a:gd name="adj" fmla="val 2338"/>
            </a:avLst>
          </a:prstGeom>
          <a:solidFill>
            <a:srgbClr val="1D1F2B"/>
          </a:solidFill>
          <a:ln w="12700">
            <a:solidFill>
              <a:srgbClr val="1D1F2B"/>
            </a:solidFill>
            <a:prstDash val="solid"/>
          </a:ln>
        </p:spPr>
      </p:sp>
      <p:sp>
        <p:nvSpPr>
          <p:cNvPr id="29" name="Shape 27"/>
          <p:cNvSpPr/>
          <p:nvPr/>
        </p:nvSpPr>
        <p:spPr>
          <a:xfrm>
            <a:off x="4617720" y="1920240"/>
            <a:ext cx="420624" cy="420624"/>
          </a:xfrm>
          <a:prstGeom prst="ellipse">
            <a:avLst/>
          </a:prstGeom>
          <a:solidFill>
            <a:srgbClr val="FFC24B"/>
          </a:solidFill>
          <a:ln/>
        </p:spPr>
      </p:sp>
      <p:sp>
        <p:nvSpPr>
          <p:cNvPr id="30" name="Text 28"/>
          <p:cNvSpPr/>
          <p:nvPr/>
        </p:nvSpPr>
        <p:spPr>
          <a:xfrm>
            <a:off x="461772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31" name="Shape 29"/>
          <p:cNvSpPr/>
          <p:nvPr/>
        </p:nvSpPr>
        <p:spPr>
          <a:xfrm>
            <a:off x="4846320" y="5598414"/>
            <a:ext cx="2513743" cy="144272"/>
          </a:xfrm>
          <a:prstGeom prst="rect">
            <a:avLst/>
          </a:prstGeom>
          <a:solidFill>
            <a:srgbClr val="27D3BE"/>
          </a:solidFill>
          <a:ln w="12700">
            <a:solidFill>
              <a:srgbClr val="27D3BE"/>
            </a:solidFill>
            <a:prstDash val="solid"/>
          </a:ln>
        </p:spPr>
      </p:sp>
      <p:sp>
        <p:nvSpPr>
          <p:cNvPr id="32" name="Shape 30"/>
          <p:cNvSpPr/>
          <p:nvPr/>
        </p:nvSpPr>
        <p:spPr>
          <a:xfrm>
            <a:off x="4846320" y="5418074"/>
            <a:ext cx="2387209" cy="144272"/>
          </a:xfrm>
          <a:prstGeom prst="rect">
            <a:avLst/>
          </a:prstGeom>
          <a:solidFill>
            <a:srgbClr val="27D3BE"/>
          </a:solidFill>
          <a:ln w="12700">
            <a:solidFill>
              <a:srgbClr val="27D3BE"/>
            </a:solidFill>
            <a:prstDash val="solid"/>
          </a:ln>
        </p:spPr>
      </p:sp>
      <p:sp>
        <p:nvSpPr>
          <p:cNvPr id="33" name="Shape 31"/>
          <p:cNvSpPr/>
          <p:nvPr/>
        </p:nvSpPr>
        <p:spPr>
          <a:xfrm>
            <a:off x="4846320" y="5237734"/>
            <a:ext cx="2743200" cy="144272"/>
          </a:xfrm>
          <a:prstGeom prst="rect">
            <a:avLst/>
          </a:prstGeom>
          <a:solidFill>
            <a:srgbClr val="27D3BE"/>
          </a:solidFill>
          <a:ln w="12700">
            <a:solidFill>
              <a:srgbClr val="27D3BE"/>
            </a:solidFill>
            <a:prstDash val="solid"/>
          </a:ln>
        </p:spPr>
      </p:sp>
      <p:sp>
        <p:nvSpPr>
          <p:cNvPr id="34" name="Shape 32"/>
          <p:cNvSpPr/>
          <p:nvPr/>
        </p:nvSpPr>
        <p:spPr>
          <a:xfrm>
            <a:off x="4846320" y="5057394"/>
            <a:ext cx="2629094" cy="144272"/>
          </a:xfrm>
          <a:prstGeom prst="rect">
            <a:avLst/>
          </a:prstGeom>
          <a:solidFill>
            <a:srgbClr val="27D3BE"/>
          </a:solidFill>
          <a:ln w="12700">
            <a:solidFill>
              <a:srgbClr val="27D3BE"/>
            </a:solidFill>
            <a:prstDash val="solid"/>
          </a:ln>
        </p:spPr>
      </p:sp>
      <p:sp>
        <p:nvSpPr>
          <p:cNvPr id="35" name="Shape 33"/>
          <p:cNvSpPr/>
          <p:nvPr/>
        </p:nvSpPr>
        <p:spPr>
          <a:xfrm>
            <a:off x="4846320" y="4877054"/>
            <a:ext cx="2648314" cy="144272"/>
          </a:xfrm>
          <a:prstGeom prst="rect">
            <a:avLst/>
          </a:prstGeom>
          <a:solidFill>
            <a:srgbClr val="27D3BE"/>
          </a:solidFill>
          <a:ln w="12700">
            <a:solidFill>
              <a:srgbClr val="27D3BE"/>
            </a:solidFill>
            <a:prstDash val="solid"/>
          </a:ln>
        </p:spPr>
      </p:sp>
      <p:sp>
        <p:nvSpPr>
          <p:cNvPr id="36" name="Shape 34"/>
          <p:cNvSpPr/>
          <p:nvPr/>
        </p:nvSpPr>
        <p:spPr>
          <a:xfrm>
            <a:off x="4846320" y="4696714"/>
            <a:ext cx="1979093" cy="144272"/>
          </a:xfrm>
          <a:prstGeom prst="rect">
            <a:avLst/>
          </a:prstGeom>
          <a:solidFill>
            <a:srgbClr val="27D3BE"/>
          </a:solidFill>
          <a:ln w="12700">
            <a:solidFill>
              <a:srgbClr val="27D3BE"/>
            </a:solidFill>
            <a:prstDash val="solid"/>
          </a:ln>
        </p:spPr>
      </p:sp>
      <p:sp>
        <p:nvSpPr>
          <p:cNvPr id="37" name="Shape 35"/>
          <p:cNvSpPr/>
          <p:nvPr/>
        </p:nvSpPr>
        <p:spPr>
          <a:xfrm>
            <a:off x="4846320" y="4516374"/>
            <a:ext cx="2424884" cy="144272"/>
          </a:xfrm>
          <a:prstGeom prst="rect">
            <a:avLst/>
          </a:prstGeom>
          <a:solidFill>
            <a:srgbClr val="27D3BE"/>
          </a:solidFill>
          <a:ln w="12700">
            <a:solidFill>
              <a:srgbClr val="27D3BE"/>
            </a:solidFill>
            <a:prstDash val="solid"/>
          </a:ln>
        </p:spPr>
      </p:sp>
      <p:sp>
        <p:nvSpPr>
          <p:cNvPr id="38" name="Shape 36"/>
          <p:cNvSpPr/>
          <p:nvPr/>
        </p:nvSpPr>
        <p:spPr>
          <a:xfrm>
            <a:off x="4846320" y="4336034"/>
            <a:ext cx="2371138" cy="144272"/>
          </a:xfrm>
          <a:prstGeom prst="rect">
            <a:avLst/>
          </a:prstGeom>
          <a:solidFill>
            <a:srgbClr val="27D3BE"/>
          </a:solidFill>
          <a:ln w="12700">
            <a:solidFill>
              <a:srgbClr val="27D3BE"/>
            </a:solidFill>
            <a:prstDash val="solid"/>
          </a:ln>
        </p:spPr>
      </p:sp>
      <p:sp>
        <p:nvSpPr>
          <p:cNvPr id="39" name="Shape 37"/>
          <p:cNvSpPr/>
          <p:nvPr/>
        </p:nvSpPr>
        <p:spPr>
          <a:xfrm>
            <a:off x="4846320" y="4155694"/>
            <a:ext cx="1911314" cy="144272"/>
          </a:xfrm>
          <a:prstGeom prst="rect">
            <a:avLst/>
          </a:prstGeom>
          <a:solidFill>
            <a:srgbClr val="27D3BE"/>
          </a:solidFill>
          <a:ln w="12700">
            <a:solidFill>
              <a:srgbClr val="27D3BE"/>
            </a:solidFill>
            <a:prstDash val="solid"/>
          </a:ln>
        </p:spPr>
      </p:sp>
      <p:sp>
        <p:nvSpPr>
          <p:cNvPr id="40" name="Shape 38"/>
          <p:cNvSpPr/>
          <p:nvPr/>
        </p:nvSpPr>
        <p:spPr>
          <a:xfrm>
            <a:off x="4846320" y="3975354"/>
            <a:ext cx="1719553" cy="144272"/>
          </a:xfrm>
          <a:prstGeom prst="rect">
            <a:avLst/>
          </a:prstGeom>
          <a:solidFill>
            <a:srgbClr val="27D3BE"/>
          </a:solidFill>
          <a:ln w="12700">
            <a:solidFill>
              <a:srgbClr val="27D3BE"/>
            </a:solidFill>
            <a:prstDash val="solid"/>
          </a:ln>
        </p:spPr>
      </p:sp>
      <p:sp>
        <p:nvSpPr>
          <p:cNvPr id="41" name="Shape 39"/>
          <p:cNvSpPr/>
          <p:nvPr/>
        </p:nvSpPr>
        <p:spPr>
          <a:xfrm>
            <a:off x="4846320" y="3795014"/>
            <a:ext cx="2001267" cy="144272"/>
          </a:xfrm>
          <a:prstGeom prst="rect">
            <a:avLst/>
          </a:prstGeom>
          <a:solidFill>
            <a:srgbClr val="27D3BE"/>
          </a:solidFill>
          <a:ln w="12700">
            <a:solidFill>
              <a:srgbClr val="27D3BE"/>
            </a:solidFill>
            <a:prstDash val="solid"/>
          </a:ln>
        </p:spPr>
      </p:sp>
      <p:sp>
        <p:nvSpPr>
          <p:cNvPr id="42" name="Shape 40"/>
          <p:cNvSpPr/>
          <p:nvPr/>
        </p:nvSpPr>
        <p:spPr>
          <a:xfrm>
            <a:off x="4846320" y="3614674"/>
            <a:ext cx="1893883" cy="144272"/>
          </a:xfrm>
          <a:prstGeom prst="rect">
            <a:avLst/>
          </a:prstGeom>
          <a:solidFill>
            <a:srgbClr val="27D3BE"/>
          </a:solidFill>
          <a:ln w="12700">
            <a:solidFill>
              <a:srgbClr val="27D3BE"/>
            </a:solidFill>
            <a:prstDash val="solid"/>
          </a:ln>
        </p:spPr>
      </p:sp>
      <p:sp>
        <p:nvSpPr>
          <p:cNvPr id="43" name="Shape 41"/>
          <p:cNvSpPr/>
          <p:nvPr/>
        </p:nvSpPr>
        <p:spPr>
          <a:xfrm>
            <a:off x="4846320" y="3434334"/>
            <a:ext cx="1680401" cy="144272"/>
          </a:xfrm>
          <a:prstGeom prst="rect">
            <a:avLst/>
          </a:prstGeom>
          <a:solidFill>
            <a:srgbClr val="27D3BE"/>
          </a:solidFill>
          <a:ln w="12700">
            <a:solidFill>
              <a:srgbClr val="27D3BE"/>
            </a:solidFill>
            <a:prstDash val="solid"/>
          </a:ln>
        </p:spPr>
      </p:sp>
      <p:sp>
        <p:nvSpPr>
          <p:cNvPr id="44" name="Shape 42"/>
          <p:cNvSpPr/>
          <p:nvPr/>
        </p:nvSpPr>
        <p:spPr>
          <a:xfrm>
            <a:off x="4846320" y="3253994"/>
            <a:ext cx="1338901" cy="144272"/>
          </a:xfrm>
          <a:prstGeom prst="rect">
            <a:avLst/>
          </a:prstGeom>
          <a:solidFill>
            <a:srgbClr val="27D3BE"/>
          </a:solidFill>
          <a:ln w="12700">
            <a:solidFill>
              <a:srgbClr val="27D3BE"/>
            </a:solidFill>
            <a:prstDash val="solid"/>
          </a:ln>
        </p:spPr>
      </p:sp>
      <p:sp>
        <p:nvSpPr>
          <p:cNvPr id="45" name="Shape 43"/>
          <p:cNvSpPr/>
          <p:nvPr/>
        </p:nvSpPr>
        <p:spPr>
          <a:xfrm>
            <a:off x="4846320" y="3073654"/>
            <a:ext cx="659720" cy="144272"/>
          </a:xfrm>
          <a:prstGeom prst="rect">
            <a:avLst/>
          </a:prstGeom>
          <a:solidFill>
            <a:srgbClr val="27D3BE"/>
          </a:solidFill>
          <a:ln w="12700">
            <a:solidFill>
              <a:srgbClr val="27D3BE"/>
            </a:solidFill>
            <a:prstDash val="solid"/>
          </a:ln>
        </p:spPr>
      </p:sp>
      <p:sp>
        <p:nvSpPr>
          <p:cNvPr id="46" name="Shape 44"/>
          <p:cNvSpPr/>
          <p:nvPr/>
        </p:nvSpPr>
        <p:spPr>
          <a:xfrm>
            <a:off x="4846320" y="2893314"/>
            <a:ext cx="752492" cy="144272"/>
          </a:xfrm>
          <a:prstGeom prst="rect">
            <a:avLst/>
          </a:prstGeom>
          <a:solidFill>
            <a:srgbClr val="27D3BE"/>
          </a:solidFill>
          <a:ln w="12700">
            <a:solidFill>
              <a:srgbClr val="27D3BE"/>
            </a:solidFill>
            <a:prstDash val="solid"/>
          </a:ln>
        </p:spPr>
      </p:sp>
      <p:sp>
        <p:nvSpPr>
          <p:cNvPr id="47" name="Shape 45"/>
          <p:cNvSpPr/>
          <p:nvPr/>
        </p:nvSpPr>
        <p:spPr>
          <a:xfrm>
            <a:off x="4846320" y="2712974"/>
            <a:ext cx="386393" cy="144272"/>
          </a:xfrm>
          <a:prstGeom prst="rect">
            <a:avLst/>
          </a:prstGeom>
          <a:solidFill>
            <a:srgbClr val="27D3BE"/>
          </a:solidFill>
          <a:ln w="12700">
            <a:solidFill>
              <a:srgbClr val="27D3BE"/>
            </a:solidFill>
            <a:prstDash val="solid"/>
          </a:ln>
        </p:spPr>
      </p:sp>
      <p:sp>
        <p:nvSpPr>
          <p:cNvPr id="48" name="Shape 46"/>
          <p:cNvSpPr/>
          <p:nvPr/>
        </p:nvSpPr>
        <p:spPr>
          <a:xfrm>
            <a:off x="4846320" y="2532634"/>
            <a:ext cx="170002" cy="144272"/>
          </a:xfrm>
          <a:prstGeom prst="rect">
            <a:avLst/>
          </a:prstGeom>
          <a:solidFill>
            <a:srgbClr val="27D3BE"/>
          </a:solidFill>
          <a:ln w="12700">
            <a:solidFill>
              <a:srgbClr val="27D3BE"/>
            </a:solidFill>
            <a:prstDash val="solid"/>
          </a:ln>
        </p:spPr>
      </p:sp>
      <p:sp>
        <p:nvSpPr>
          <p:cNvPr id="49" name="Shape 47"/>
          <p:cNvSpPr/>
          <p:nvPr/>
        </p:nvSpPr>
        <p:spPr>
          <a:xfrm>
            <a:off x="4818888" y="2514600"/>
            <a:ext cx="22860" cy="3246120"/>
          </a:xfrm>
          <a:prstGeom prst="rect">
            <a:avLst/>
          </a:prstGeom>
          <a:solidFill>
            <a:srgbClr val="6A6F85"/>
          </a:solidFill>
          <a:ln w="12700">
            <a:solidFill>
              <a:srgbClr val="6A6F85"/>
            </a:solidFill>
            <a:prstDash val="solid"/>
          </a:ln>
        </p:spPr>
      </p:sp>
      <p:sp>
        <p:nvSpPr>
          <p:cNvPr id="50" name="Shape 48"/>
          <p:cNvSpPr/>
          <p:nvPr/>
        </p:nvSpPr>
        <p:spPr>
          <a:xfrm>
            <a:off x="8183880" y="1783080"/>
            <a:ext cx="3520440" cy="4206240"/>
          </a:xfrm>
          <a:prstGeom prst="roundRect">
            <a:avLst>
              <a:gd name="adj" fmla="val 2338"/>
            </a:avLst>
          </a:prstGeom>
          <a:solidFill>
            <a:srgbClr val="1D1F2B"/>
          </a:solidFill>
          <a:ln w="12700">
            <a:solidFill>
              <a:srgbClr val="1D1F2B"/>
            </a:solidFill>
            <a:prstDash val="solid"/>
          </a:ln>
        </p:spPr>
      </p:sp>
      <p:sp>
        <p:nvSpPr>
          <p:cNvPr id="51" name="Shape 49"/>
          <p:cNvSpPr/>
          <p:nvPr/>
        </p:nvSpPr>
        <p:spPr>
          <a:xfrm>
            <a:off x="8412480" y="1920240"/>
            <a:ext cx="420624" cy="420624"/>
          </a:xfrm>
          <a:prstGeom prst="ellipse">
            <a:avLst/>
          </a:prstGeom>
          <a:solidFill>
            <a:srgbClr val="FFC24B"/>
          </a:solidFill>
          <a:ln/>
        </p:spPr>
      </p:sp>
      <p:sp>
        <p:nvSpPr>
          <p:cNvPr id="52" name="Text 50"/>
          <p:cNvSpPr/>
          <p:nvPr/>
        </p:nvSpPr>
        <p:spPr>
          <a:xfrm>
            <a:off x="841248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53" name="Shape 51"/>
          <p:cNvSpPr/>
          <p:nvPr/>
        </p:nvSpPr>
        <p:spPr>
          <a:xfrm>
            <a:off x="8641080" y="5598414"/>
            <a:ext cx="1196475" cy="144272"/>
          </a:xfrm>
          <a:prstGeom prst="rect">
            <a:avLst/>
          </a:prstGeom>
          <a:solidFill>
            <a:srgbClr val="27D3BE"/>
          </a:solidFill>
          <a:ln w="12700">
            <a:solidFill>
              <a:srgbClr val="27D3BE"/>
            </a:solidFill>
            <a:prstDash val="solid"/>
          </a:ln>
        </p:spPr>
      </p:sp>
      <p:sp>
        <p:nvSpPr>
          <p:cNvPr id="54" name="Shape 52"/>
          <p:cNvSpPr/>
          <p:nvPr/>
        </p:nvSpPr>
        <p:spPr>
          <a:xfrm>
            <a:off x="8641080" y="5418074"/>
            <a:ext cx="1441176" cy="144272"/>
          </a:xfrm>
          <a:prstGeom prst="rect">
            <a:avLst/>
          </a:prstGeom>
          <a:solidFill>
            <a:srgbClr val="27D3BE"/>
          </a:solidFill>
          <a:ln w="12700">
            <a:solidFill>
              <a:srgbClr val="27D3BE"/>
            </a:solidFill>
            <a:prstDash val="solid"/>
          </a:ln>
        </p:spPr>
      </p:sp>
      <p:sp>
        <p:nvSpPr>
          <p:cNvPr id="55" name="Shape 53"/>
          <p:cNvSpPr/>
          <p:nvPr/>
        </p:nvSpPr>
        <p:spPr>
          <a:xfrm>
            <a:off x="8641080" y="5237734"/>
            <a:ext cx="1443574" cy="144272"/>
          </a:xfrm>
          <a:prstGeom prst="rect">
            <a:avLst/>
          </a:prstGeom>
          <a:solidFill>
            <a:srgbClr val="27D3BE"/>
          </a:solidFill>
          <a:ln w="12700">
            <a:solidFill>
              <a:srgbClr val="27D3BE"/>
            </a:solidFill>
            <a:prstDash val="solid"/>
          </a:ln>
        </p:spPr>
      </p:sp>
      <p:sp>
        <p:nvSpPr>
          <p:cNvPr id="56" name="Shape 54"/>
          <p:cNvSpPr/>
          <p:nvPr/>
        </p:nvSpPr>
        <p:spPr>
          <a:xfrm>
            <a:off x="8641080" y="5057394"/>
            <a:ext cx="1531088" cy="144272"/>
          </a:xfrm>
          <a:prstGeom prst="rect">
            <a:avLst/>
          </a:prstGeom>
          <a:solidFill>
            <a:srgbClr val="27D3BE"/>
          </a:solidFill>
          <a:ln w="12700">
            <a:solidFill>
              <a:srgbClr val="27D3BE"/>
            </a:solidFill>
            <a:prstDash val="solid"/>
          </a:ln>
        </p:spPr>
      </p:sp>
      <p:sp>
        <p:nvSpPr>
          <p:cNvPr id="57" name="Shape 55"/>
          <p:cNvSpPr/>
          <p:nvPr/>
        </p:nvSpPr>
        <p:spPr>
          <a:xfrm>
            <a:off x="8641080" y="4877054"/>
            <a:ext cx="1411375" cy="144272"/>
          </a:xfrm>
          <a:prstGeom prst="rect">
            <a:avLst/>
          </a:prstGeom>
          <a:solidFill>
            <a:srgbClr val="27D3BE"/>
          </a:solidFill>
          <a:ln w="12700">
            <a:solidFill>
              <a:srgbClr val="27D3BE"/>
            </a:solidFill>
            <a:prstDash val="solid"/>
          </a:ln>
        </p:spPr>
      </p:sp>
      <p:sp>
        <p:nvSpPr>
          <p:cNvPr id="58" name="Shape 56"/>
          <p:cNvSpPr/>
          <p:nvPr/>
        </p:nvSpPr>
        <p:spPr>
          <a:xfrm>
            <a:off x="8641080" y="4696714"/>
            <a:ext cx="1376677" cy="144272"/>
          </a:xfrm>
          <a:prstGeom prst="rect">
            <a:avLst/>
          </a:prstGeom>
          <a:solidFill>
            <a:srgbClr val="27D3BE"/>
          </a:solidFill>
          <a:ln w="12700">
            <a:solidFill>
              <a:srgbClr val="27D3BE"/>
            </a:solidFill>
            <a:prstDash val="solid"/>
          </a:ln>
        </p:spPr>
      </p:sp>
      <p:sp>
        <p:nvSpPr>
          <p:cNvPr id="59" name="Shape 57"/>
          <p:cNvSpPr/>
          <p:nvPr/>
        </p:nvSpPr>
        <p:spPr>
          <a:xfrm>
            <a:off x="8641080" y="4516374"/>
            <a:ext cx="1486289" cy="144272"/>
          </a:xfrm>
          <a:prstGeom prst="rect">
            <a:avLst/>
          </a:prstGeom>
          <a:solidFill>
            <a:srgbClr val="27D3BE"/>
          </a:solidFill>
          <a:ln w="12700">
            <a:solidFill>
              <a:srgbClr val="27D3BE"/>
            </a:solidFill>
            <a:prstDash val="solid"/>
          </a:ln>
        </p:spPr>
      </p:sp>
      <p:sp>
        <p:nvSpPr>
          <p:cNvPr id="60" name="Shape 58"/>
          <p:cNvSpPr/>
          <p:nvPr/>
        </p:nvSpPr>
        <p:spPr>
          <a:xfrm>
            <a:off x="8641080" y="4336034"/>
            <a:ext cx="1883961" cy="144272"/>
          </a:xfrm>
          <a:prstGeom prst="rect">
            <a:avLst/>
          </a:prstGeom>
          <a:solidFill>
            <a:srgbClr val="27D3BE"/>
          </a:solidFill>
          <a:ln w="12700">
            <a:solidFill>
              <a:srgbClr val="27D3BE"/>
            </a:solidFill>
            <a:prstDash val="solid"/>
          </a:ln>
        </p:spPr>
      </p:sp>
      <p:sp>
        <p:nvSpPr>
          <p:cNvPr id="61" name="Shape 59"/>
          <p:cNvSpPr/>
          <p:nvPr/>
        </p:nvSpPr>
        <p:spPr>
          <a:xfrm>
            <a:off x="8641080" y="4155694"/>
            <a:ext cx="1805306" cy="144272"/>
          </a:xfrm>
          <a:prstGeom prst="rect">
            <a:avLst/>
          </a:prstGeom>
          <a:solidFill>
            <a:srgbClr val="27D3BE"/>
          </a:solidFill>
          <a:ln w="12700">
            <a:solidFill>
              <a:srgbClr val="27D3BE"/>
            </a:solidFill>
            <a:prstDash val="solid"/>
          </a:ln>
        </p:spPr>
      </p:sp>
      <p:sp>
        <p:nvSpPr>
          <p:cNvPr id="62" name="Shape 60"/>
          <p:cNvSpPr/>
          <p:nvPr/>
        </p:nvSpPr>
        <p:spPr>
          <a:xfrm>
            <a:off x="8641080" y="3975354"/>
            <a:ext cx="2078984" cy="144272"/>
          </a:xfrm>
          <a:prstGeom prst="rect">
            <a:avLst/>
          </a:prstGeom>
          <a:solidFill>
            <a:srgbClr val="27D3BE"/>
          </a:solidFill>
          <a:ln w="12700">
            <a:solidFill>
              <a:srgbClr val="27D3BE"/>
            </a:solidFill>
            <a:prstDash val="solid"/>
          </a:ln>
        </p:spPr>
      </p:sp>
      <p:sp>
        <p:nvSpPr>
          <p:cNvPr id="63" name="Shape 61"/>
          <p:cNvSpPr/>
          <p:nvPr/>
        </p:nvSpPr>
        <p:spPr>
          <a:xfrm>
            <a:off x="8641080" y="3795014"/>
            <a:ext cx="2001836" cy="144272"/>
          </a:xfrm>
          <a:prstGeom prst="rect">
            <a:avLst/>
          </a:prstGeom>
          <a:solidFill>
            <a:srgbClr val="27D3BE"/>
          </a:solidFill>
          <a:ln w="12700">
            <a:solidFill>
              <a:srgbClr val="27D3BE"/>
            </a:solidFill>
            <a:prstDash val="solid"/>
          </a:ln>
        </p:spPr>
      </p:sp>
      <p:sp>
        <p:nvSpPr>
          <p:cNvPr id="64" name="Shape 62"/>
          <p:cNvSpPr/>
          <p:nvPr/>
        </p:nvSpPr>
        <p:spPr>
          <a:xfrm>
            <a:off x="8641080" y="3614674"/>
            <a:ext cx="1984100" cy="144272"/>
          </a:xfrm>
          <a:prstGeom prst="rect">
            <a:avLst/>
          </a:prstGeom>
          <a:solidFill>
            <a:srgbClr val="27D3BE"/>
          </a:solidFill>
          <a:ln w="12700">
            <a:solidFill>
              <a:srgbClr val="27D3BE"/>
            </a:solidFill>
            <a:prstDash val="solid"/>
          </a:ln>
        </p:spPr>
      </p:sp>
      <p:sp>
        <p:nvSpPr>
          <p:cNvPr id="65" name="Shape 63"/>
          <p:cNvSpPr/>
          <p:nvPr/>
        </p:nvSpPr>
        <p:spPr>
          <a:xfrm>
            <a:off x="8641080" y="3434334"/>
            <a:ext cx="1425925" cy="144272"/>
          </a:xfrm>
          <a:prstGeom prst="rect">
            <a:avLst/>
          </a:prstGeom>
          <a:solidFill>
            <a:srgbClr val="27D3BE"/>
          </a:solidFill>
          <a:ln w="12700">
            <a:solidFill>
              <a:srgbClr val="27D3BE"/>
            </a:solidFill>
            <a:prstDash val="solid"/>
          </a:ln>
        </p:spPr>
      </p:sp>
      <p:sp>
        <p:nvSpPr>
          <p:cNvPr id="66" name="Shape 64"/>
          <p:cNvSpPr/>
          <p:nvPr/>
        </p:nvSpPr>
        <p:spPr>
          <a:xfrm>
            <a:off x="8641080" y="3253994"/>
            <a:ext cx="1708226" cy="144272"/>
          </a:xfrm>
          <a:prstGeom prst="rect">
            <a:avLst/>
          </a:prstGeom>
          <a:solidFill>
            <a:srgbClr val="27D3BE"/>
          </a:solidFill>
          <a:ln w="12700">
            <a:solidFill>
              <a:srgbClr val="27D3BE"/>
            </a:solidFill>
            <a:prstDash val="solid"/>
          </a:ln>
        </p:spPr>
      </p:sp>
      <p:sp>
        <p:nvSpPr>
          <p:cNvPr id="67" name="Shape 65"/>
          <p:cNvSpPr/>
          <p:nvPr/>
        </p:nvSpPr>
        <p:spPr>
          <a:xfrm>
            <a:off x="8641080" y="3073654"/>
            <a:ext cx="1474460" cy="144272"/>
          </a:xfrm>
          <a:prstGeom prst="rect">
            <a:avLst/>
          </a:prstGeom>
          <a:solidFill>
            <a:srgbClr val="27D3BE"/>
          </a:solidFill>
          <a:ln w="12700">
            <a:solidFill>
              <a:srgbClr val="27D3BE"/>
            </a:solidFill>
            <a:prstDash val="solid"/>
          </a:ln>
        </p:spPr>
      </p:sp>
      <p:sp>
        <p:nvSpPr>
          <p:cNvPr id="68" name="Shape 66"/>
          <p:cNvSpPr/>
          <p:nvPr/>
        </p:nvSpPr>
        <p:spPr>
          <a:xfrm>
            <a:off x="8641080" y="2893314"/>
            <a:ext cx="997186" cy="144272"/>
          </a:xfrm>
          <a:prstGeom prst="rect">
            <a:avLst/>
          </a:prstGeom>
          <a:solidFill>
            <a:srgbClr val="27D3BE"/>
          </a:solidFill>
          <a:ln w="12700">
            <a:solidFill>
              <a:srgbClr val="27D3BE"/>
            </a:solidFill>
            <a:prstDash val="solid"/>
          </a:ln>
        </p:spPr>
      </p:sp>
      <p:sp>
        <p:nvSpPr>
          <p:cNvPr id="69" name="Shape 67"/>
          <p:cNvSpPr/>
          <p:nvPr/>
        </p:nvSpPr>
        <p:spPr>
          <a:xfrm>
            <a:off x="8641080" y="2712974"/>
            <a:ext cx="612232" cy="144272"/>
          </a:xfrm>
          <a:prstGeom prst="rect">
            <a:avLst/>
          </a:prstGeom>
          <a:solidFill>
            <a:srgbClr val="27D3BE"/>
          </a:solidFill>
          <a:ln w="12700">
            <a:solidFill>
              <a:srgbClr val="27D3BE"/>
            </a:solidFill>
            <a:prstDash val="solid"/>
          </a:ln>
        </p:spPr>
      </p:sp>
      <p:sp>
        <p:nvSpPr>
          <p:cNvPr id="70" name="Shape 68"/>
          <p:cNvSpPr/>
          <p:nvPr/>
        </p:nvSpPr>
        <p:spPr>
          <a:xfrm>
            <a:off x="8641080" y="2532634"/>
            <a:ext cx="567430" cy="144272"/>
          </a:xfrm>
          <a:prstGeom prst="rect">
            <a:avLst/>
          </a:prstGeom>
          <a:solidFill>
            <a:srgbClr val="27D3BE"/>
          </a:solidFill>
          <a:ln w="12700">
            <a:solidFill>
              <a:srgbClr val="27D3BE"/>
            </a:solidFill>
            <a:prstDash val="solid"/>
          </a:ln>
        </p:spPr>
      </p:sp>
      <p:sp>
        <p:nvSpPr>
          <p:cNvPr id="71" name="Shape 69"/>
          <p:cNvSpPr/>
          <p:nvPr/>
        </p:nvSpPr>
        <p:spPr>
          <a:xfrm>
            <a:off x="8613648" y="2514600"/>
            <a:ext cx="22860" cy="3246120"/>
          </a:xfrm>
          <a:prstGeom prst="rect">
            <a:avLst/>
          </a:prstGeom>
          <a:solidFill>
            <a:srgbClr val="6A6F85"/>
          </a:solidFill>
          <a:ln w="12700">
            <a:solidFill>
              <a:srgbClr val="6A6F85"/>
            </a:solidFill>
            <a:prstDash val="solid"/>
          </a:ln>
        </p:spPr>
      </p:sp>
      <p:sp>
        <p:nvSpPr>
          <p:cNvPr id="72" name="Text 70"/>
          <p:cNvSpPr/>
          <p:nvPr/>
        </p:nvSpPr>
        <p:spPr>
          <a:xfrm>
            <a:off x="594360" y="6080760"/>
            <a:ext cx="10972800" cy="3657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Les deux sexes ensemble ; l’âge augmente de bas en haut. Répondez sur votre téléphone, au code affiché.</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La pyramide d’aujourd’hui : constrictive, avec des irrégularités</a:t>
            </a:r>
            <a:endParaRPr lang="en-US" sz="3000" dirty="0"/>
          </a:p>
        </p:txBody>
      </p:sp>
      <p:sp>
        <p:nvSpPr>
          <p:cNvPr id="4" name="Shape 2"/>
          <p:cNvSpPr/>
          <p:nvPr/>
        </p:nvSpPr>
        <p:spPr>
          <a:xfrm>
            <a:off x="594360" y="1783080"/>
            <a:ext cx="5120640" cy="4297680"/>
          </a:xfrm>
          <a:prstGeom prst="roundRect">
            <a:avLst>
              <a:gd name="adj" fmla="val 1915"/>
            </a:avLst>
          </a:prstGeom>
          <a:solidFill>
            <a:srgbClr val="11121A"/>
          </a:solidFill>
          <a:ln w="12700">
            <a:solidFill>
              <a:srgbClr val="11121A"/>
            </a:solidFill>
            <a:prstDash val="solid"/>
          </a:ln>
        </p:spPr>
      </p:sp>
      <p:sp>
        <p:nvSpPr>
          <p:cNvPr id="5" name="Shape 3"/>
          <p:cNvSpPr/>
          <p:nvPr/>
        </p:nvSpPr>
        <p:spPr>
          <a:xfrm>
            <a:off x="1280160" y="5660136"/>
            <a:ext cx="1714947" cy="170688"/>
          </a:xfrm>
          <a:prstGeom prst="rect">
            <a:avLst/>
          </a:prstGeom>
          <a:solidFill>
            <a:srgbClr val="27D3BE"/>
          </a:solidFill>
          <a:ln w="12700">
            <a:solidFill>
              <a:srgbClr val="27D3BE"/>
            </a:solidFill>
            <a:prstDash val="solid"/>
          </a:ln>
        </p:spPr>
      </p:sp>
      <p:sp>
        <p:nvSpPr>
          <p:cNvPr id="6" name="Shape 4"/>
          <p:cNvSpPr/>
          <p:nvPr/>
        </p:nvSpPr>
        <p:spPr>
          <a:xfrm>
            <a:off x="1280160" y="5446776"/>
            <a:ext cx="2065686" cy="170688"/>
          </a:xfrm>
          <a:prstGeom prst="rect">
            <a:avLst/>
          </a:prstGeom>
          <a:solidFill>
            <a:srgbClr val="27D3BE"/>
          </a:solidFill>
          <a:ln w="12700">
            <a:solidFill>
              <a:srgbClr val="27D3BE"/>
            </a:solidFill>
            <a:prstDash val="solid"/>
          </a:ln>
        </p:spPr>
      </p:sp>
      <p:sp>
        <p:nvSpPr>
          <p:cNvPr id="7" name="Shape 5"/>
          <p:cNvSpPr/>
          <p:nvPr/>
        </p:nvSpPr>
        <p:spPr>
          <a:xfrm>
            <a:off x="1280160" y="5233416"/>
            <a:ext cx="2069123" cy="170688"/>
          </a:xfrm>
          <a:prstGeom prst="rect">
            <a:avLst/>
          </a:prstGeom>
          <a:solidFill>
            <a:srgbClr val="27D3BE"/>
          </a:solidFill>
          <a:ln w="12700">
            <a:solidFill>
              <a:srgbClr val="27D3BE"/>
            </a:solidFill>
            <a:prstDash val="solid"/>
          </a:ln>
        </p:spPr>
      </p:sp>
      <p:sp>
        <p:nvSpPr>
          <p:cNvPr id="8" name="Shape 6"/>
          <p:cNvSpPr/>
          <p:nvPr/>
        </p:nvSpPr>
        <p:spPr>
          <a:xfrm>
            <a:off x="1280160" y="5020056"/>
            <a:ext cx="2194560" cy="170688"/>
          </a:xfrm>
          <a:prstGeom prst="rect">
            <a:avLst/>
          </a:prstGeom>
          <a:solidFill>
            <a:srgbClr val="27D3BE"/>
          </a:solidFill>
          <a:ln w="12700">
            <a:solidFill>
              <a:srgbClr val="27D3BE"/>
            </a:solidFill>
            <a:prstDash val="solid"/>
          </a:ln>
        </p:spPr>
      </p:sp>
      <p:sp>
        <p:nvSpPr>
          <p:cNvPr id="9" name="Shape 7"/>
          <p:cNvSpPr/>
          <p:nvPr/>
        </p:nvSpPr>
        <p:spPr>
          <a:xfrm>
            <a:off x="1280160" y="4806696"/>
            <a:ext cx="2022971" cy="170688"/>
          </a:xfrm>
          <a:prstGeom prst="rect">
            <a:avLst/>
          </a:prstGeom>
          <a:solidFill>
            <a:srgbClr val="27D3BE"/>
          </a:solidFill>
          <a:ln w="12700">
            <a:solidFill>
              <a:srgbClr val="27D3BE"/>
            </a:solidFill>
            <a:prstDash val="solid"/>
          </a:ln>
        </p:spPr>
      </p:sp>
      <p:sp>
        <p:nvSpPr>
          <p:cNvPr id="10" name="Shape 8"/>
          <p:cNvSpPr/>
          <p:nvPr/>
        </p:nvSpPr>
        <p:spPr>
          <a:xfrm>
            <a:off x="1280160" y="4593336"/>
            <a:ext cx="1973237" cy="170688"/>
          </a:xfrm>
          <a:prstGeom prst="rect">
            <a:avLst/>
          </a:prstGeom>
          <a:solidFill>
            <a:srgbClr val="27D3BE"/>
          </a:solidFill>
          <a:ln w="12700">
            <a:solidFill>
              <a:srgbClr val="27D3BE"/>
            </a:solidFill>
            <a:prstDash val="solid"/>
          </a:ln>
        </p:spPr>
      </p:sp>
      <p:sp>
        <p:nvSpPr>
          <p:cNvPr id="11" name="Shape 9"/>
          <p:cNvSpPr/>
          <p:nvPr/>
        </p:nvSpPr>
        <p:spPr>
          <a:xfrm>
            <a:off x="1280160" y="4379976"/>
            <a:ext cx="2130348" cy="170688"/>
          </a:xfrm>
          <a:prstGeom prst="rect">
            <a:avLst/>
          </a:prstGeom>
          <a:solidFill>
            <a:srgbClr val="27D3BE"/>
          </a:solidFill>
          <a:ln w="12700">
            <a:solidFill>
              <a:srgbClr val="27D3BE"/>
            </a:solidFill>
            <a:prstDash val="solid"/>
          </a:ln>
        </p:spPr>
      </p:sp>
      <p:sp>
        <p:nvSpPr>
          <p:cNvPr id="12" name="Shape 10"/>
          <p:cNvSpPr/>
          <p:nvPr/>
        </p:nvSpPr>
        <p:spPr>
          <a:xfrm>
            <a:off x="1280160" y="4166616"/>
            <a:ext cx="2700345" cy="170688"/>
          </a:xfrm>
          <a:prstGeom prst="rect">
            <a:avLst/>
          </a:prstGeom>
          <a:solidFill>
            <a:srgbClr val="27D3BE"/>
          </a:solidFill>
          <a:ln w="12700">
            <a:solidFill>
              <a:srgbClr val="27D3BE"/>
            </a:solidFill>
            <a:prstDash val="solid"/>
          </a:ln>
        </p:spPr>
      </p:sp>
      <p:sp>
        <p:nvSpPr>
          <p:cNvPr id="13" name="Shape 11"/>
          <p:cNvSpPr/>
          <p:nvPr/>
        </p:nvSpPr>
        <p:spPr>
          <a:xfrm>
            <a:off x="1280160" y="3953256"/>
            <a:ext cx="2587605" cy="170688"/>
          </a:xfrm>
          <a:prstGeom prst="rect">
            <a:avLst/>
          </a:prstGeom>
          <a:solidFill>
            <a:srgbClr val="27D3BE"/>
          </a:solidFill>
          <a:ln w="12700">
            <a:solidFill>
              <a:srgbClr val="27D3BE"/>
            </a:solidFill>
            <a:prstDash val="solid"/>
          </a:ln>
        </p:spPr>
      </p:sp>
      <p:sp>
        <p:nvSpPr>
          <p:cNvPr id="14" name="Shape 12"/>
          <p:cNvSpPr/>
          <p:nvPr/>
        </p:nvSpPr>
        <p:spPr>
          <a:xfrm>
            <a:off x="1280160" y="3739896"/>
            <a:ext cx="2979877" cy="170688"/>
          </a:xfrm>
          <a:prstGeom prst="rect">
            <a:avLst/>
          </a:prstGeom>
          <a:solidFill>
            <a:srgbClr val="27D3BE"/>
          </a:solidFill>
          <a:ln w="12700">
            <a:solidFill>
              <a:srgbClr val="27D3BE"/>
            </a:solidFill>
            <a:prstDash val="solid"/>
          </a:ln>
        </p:spPr>
      </p:sp>
      <p:sp>
        <p:nvSpPr>
          <p:cNvPr id="15" name="Shape 13"/>
          <p:cNvSpPr/>
          <p:nvPr/>
        </p:nvSpPr>
        <p:spPr>
          <a:xfrm>
            <a:off x="1280160" y="3526536"/>
            <a:ext cx="2869298" cy="170688"/>
          </a:xfrm>
          <a:prstGeom prst="rect">
            <a:avLst/>
          </a:prstGeom>
          <a:solidFill>
            <a:srgbClr val="27D3BE"/>
          </a:solidFill>
          <a:ln w="12700">
            <a:solidFill>
              <a:srgbClr val="27D3BE"/>
            </a:solidFill>
            <a:prstDash val="solid"/>
          </a:ln>
        </p:spPr>
      </p:sp>
      <p:sp>
        <p:nvSpPr>
          <p:cNvPr id="16" name="Shape 14"/>
          <p:cNvSpPr/>
          <p:nvPr/>
        </p:nvSpPr>
        <p:spPr>
          <a:xfrm>
            <a:off x="1280160" y="3313176"/>
            <a:ext cx="2843876" cy="170688"/>
          </a:xfrm>
          <a:prstGeom prst="rect">
            <a:avLst/>
          </a:prstGeom>
          <a:solidFill>
            <a:srgbClr val="FF4757"/>
          </a:solidFill>
          <a:ln w="12700">
            <a:solidFill>
              <a:srgbClr val="FF4757"/>
            </a:solidFill>
            <a:prstDash val="solid"/>
          </a:ln>
        </p:spPr>
      </p:sp>
      <p:sp>
        <p:nvSpPr>
          <p:cNvPr id="17" name="Shape 15"/>
          <p:cNvSpPr/>
          <p:nvPr/>
        </p:nvSpPr>
        <p:spPr>
          <a:xfrm>
            <a:off x="1280160" y="3099816"/>
            <a:ext cx="2043826" cy="170688"/>
          </a:xfrm>
          <a:prstGeom prst="rect">
            <a:avLst/>
          </a:prstGeom>
          <a:solidFill>
            <a:srgbClr val="27D3BE"/>
          </a:solidFill>
          <a:ln w="12700">
            <a:solidFill>
              <a:srgbClr val="27D3BE"/>
            </a:solidFill>
            <a:prstDash val="solid"/>
          </a:ln>
        </p:spPr>
      </p:sp>
      <p:sp>
        <p:nvSpPr>
          <p:cNvPr id="18" name="Shape 16"/>
          <p:cNvSpPr/>
          <p:nvPr/>
        </p:nvSpPr>
        <p:spPr>
          <a:xfrm>
            <a:off x="1280160" y="2886456"/>
            <a:ext cx="2448458" cy="170688"/>
          </a:xfrm>
          <a:prstGeom prst="rect">
            <a:avLst/>
          </a:prstGeom>
          <a:solidFill>
            <a:srgbClr val="27D3BE"/>
          </a:solidFill>
          <a:ln w="12700">
            <a:solidFill>
              <a:srgbClr val="27D3BE"/>
            </a:solidFill>
            <a:prstDash val="solid"/>
          </a:ln>
        </p:spPr>
      </p:sp>
      <p:sp>
        <p:nvSpPr>
          <p:cNvPr id="19" name="Shape 17"/>
          <p:cNvSpPr/>
          <p:nvPr/>
        </p:nvSpPr>
        <p:spPr>
          <a:xfrm>
            <a:off x="1280160" y="2673096"/>
            <a:ext cx="2113393" cy="170688"/>
          </a:xfrm>
          <a:prstGeom prst="rect">
            <a:avLst/>
          </a:prstGeom>
          <a:solidFill>
            <a:srgbClr val="27D3BE"/>
          </a:solidFill>
          <a:ln w="12700">
            <a:solidFill>
              <a:srgbClr val="27D3BE"/>
            </a:solidFill>
            <a:prstDash val="solid"/>
          </a:ln>
        </p:spPr>
      </p:sp>
      <p:sp>
        <p:nvSpPr>
          <p:cNvPr id="20" name="Shape 18"/>
          <p:cNvSpPr/>
          <p:nvPr/>
        </p:nvSpPr>
        <p:spPr>
          <a:xfrm>
            <a:off x="1280160" y="2459736"/>
            <a:ext cx="1429301" cy="170688"/>
          </a:xfrm>
          <a:prstGeom prst="rect">
            <a:avLst/>
          </a:prstGeom>
          <a:solidFill>
            <a:srgbClr val="27D3BE"/>
          </a:solidFill>
          <a:ln w="12700">
            <a:solidFill>
              <a:srgbClr val="27D3BE"/>
            </a:solidFill>
            <a:prstDash val="solid"/>
          </a:ln>
        </p:spPr>
      </p:sp>
      <p:sp>
        <p:nvSpPr>
          <p:cNvPr id="21" name="Shape 19"/>
          <p:cNvSpPr/>
          <p:nvPr/>
        </p:nvSpPr>
        <p:spPr>
          <a:xfrm>
            <a:off x="1280160" y="2246376"/>
            <a:ext cx="877533" cy="170688"/>
          </a:xfrm>
          <a:prstGeom prst="rect">
            <a:avLst/>
          </a:prstGeom>
          <a:solidFill>
            <a:srgbClr val="27D3BE"/>
          </a:solidFill>
          <a:ln w="12700">
            <a:solidFill>
              <a:srgbClr val="27D3BE"/>
            </a:solidFill>
            <a:prstDash val="solid"/>
          </a:ln>
        </p:spPr>
      </p:sp>
      <p:sp>
        <p:nvSpPr>
          <p:cNvPr id="22" name="Shape 20"/>
          <p:cNvSpPr/>
          <p:nvPr/>
        </p:nvSpPr>
        <p:spPr>
          <a:xfrm>
            <a:off x="1280160" y="2033016"/>
            <a:ext cx="813317" cy="170688"/>
          </a:xfrm>
          <a:prstGeom prst="rect">
            <a:avLst/>
          </a:prstGeom>
          <a:solidFill>
            <a:srgbClr val="27D3BE"/>
          </a:solidFill>
          <a:ln w="12700">
            <a:solidFill>
              <a:srgbClr val="27D3BE"/>
            </a:solidFill>
            <a:prstDash val="solid"/>
          </a:ln>
        </p:spPr>
      </p:sp>
      <p:sp>
        <p:nvSpPr>
          <p:cNvPr id="23" name="Shape 21"/>
          <p:cNvSpPr/>
          <p:nvPr/>
        </p:nvSpPr>
        <p:spPr>
          <a:xfrm>
            <a:off x="1252728" y="2011680"/>
            <a:ext cx="22860" cy="3840480"/>
          </a:xfrm>
          <a:prstGeom prst="rect">
            <a:avLst/>
          </a:prstGeom>
          <a:solidFill>
            <a:srgbClr val="6A6F85"/>
          </a:solidFill>
          <a:ln w="12700">
            <a:solidFill>
              <a:srgbClr val="6A6F85"/>
            </a:solidFill>
            <a:prstDash val="solid"/>
          </a:ln>
        </p:spPr>
      </p:sp>
      <p:sp>
        <p:nvSpPr>
          <p:cNvPr id="24" name="Text 22"/>
          <p:cNvSpPr/>
          <p:nvPr/>
        </p:nvSpPr>
        <p:spPr>
          <a:xfrm>
            <a:off x="777240" y="5620512"/>
            <a:ext cx="457200" cy="228600"/>
          </a:xfrm>
          <a:prstGeom prst="rect">
            <a:avLst/>
          </a:prstGeom>
          <a:noFill/>
          <a:ln/>
        </p:spPr>
        <p:txBody>
          <a:bodyPr wrap="square" lIns="0" tIns="0" rIns="0" bIns="0" rtlCol="0" anchor="t"/>
          <a:lstStyle/>
          <a:p>
            <a:pPr algn="r" indent="0" marL="0">
              <a:buNone/>
            </a:pPr>
            <a:r>
              <a:rPr lang="en-US" sz="1100" dirty="0">
                <a:solidFill>
                  <a:srgbClr val="959BB0"/>
                </a:solidFill>
                <a:latin typeface="Palatino Linotype" pitchFamily="34" charset="0"/>
                <a:ea typeface="Palatino Linotype" pitchFamily="34" charset="-122"/>
                <a:cs typeface="Palatino Linotype" pitchFamily="34" charset="-120"/>
              </a:rPr>
              <a:t>0</a:t>
            </a:r>
            <a:endParaRPr lang="en-US" sz="1100" dirty="0"/>
          </a:p>
        </p:txBody>
      </p:sp>
      <p:sp>
        <p:nvSpPr>
          <p:cNvPr id="25" name="Text 23"/>
          <p:cNvSpPr/>
          <p:nvPr/>
        </p:nvSpPr>
        <p:spPr>
          <a:xfrm>
            <a:off x="777240" y="4767072"/>
            <a:ext cx="457200" cy="228600"/>
          </a:xfrm>
          <a:prstGeom prst="rect">
            <a:avLst/>
          </a:prstGeom>
          <a:noFill/>
          <a:ln/>
        </p:spPr>
        <p:txBody>
          <a:bodyPr wrap="square" lIns="0" tIns="0" rIns="0" bIns="0" rtlCol="0" anchor="t"/>
          <a:lstStyle/>
          <a:p>
            <a:pPr algn="r" indent="0" marL="0">
              <a:buNone/>
            </a:pPr>
            <a:r>
              <a:rPr lang="en-US" sz="1100" dirty="0">
                <a:solidFill>
                  <a:srgbClr val="959BB0"/>
                </a:solidFill>
                <a:latin typeface="Palatino Linotype" pitchFamily="34" charset="0"/>
                <a:ea typeface="Palatino Linotype" pitchFamily="34" charset="-122"/>
                <a:cs typeface="Palatino Linotype" pitchFamily="34" charset="-120"/>
              </a:rPr>
              <a:t>20</a:t>
            </a:r>
            <a:endParaRPr lang="en-US" sz="1100" dirty="0"/>
          </a:p>
        </p:txBody>
      </p:sp>
      <p:sp>
        <p:nvSpPr>
          <p:cNvPr id="26" name="Text 24"/>
          <p:cNvSpPr/>
          <p:nvPr/>
        </p:nvSpPr>
        <p:spPr>
          <a:xfrm>
            <a:off x="777240" y="2846832"/>
            <a:ext cx="457200" cy="228600"/>
          </a:xfrm>
          <a:prstGeom prst="rect">
            <a:avLst/>
          </a:prstGeom>
          <a:noFill/>
          <a:ln/>
        </p:spPr>
        <p:txBody>
          <a:bodyPr wrap="square" lIns="0" tIns="0" rIns="0" bIns="0" rtlCol="0" anchor="t"/>
          <a:lstStyle/>
          <a:p>
            <a:pPr algn="r" indent="0" marL="0">
              <a:buNone/>
            </a:pPr>
            <a:r>
              <a:rPr lang="en-US" sz="1100" dirty="0">
                <a:solidFill>
                  <a:srgbClr val="959BB0"/>
                </a:solidFill>
                <a:latin typeface="Palatino Linotype" pitchFamily="34" charset="0"/>
                <a:ea typeface="Palatino Linotype" pitchFamily="34" charset="-122"/>
                <a:cs typeface="Palatino Linotype" pitchFamily="34" charset="-120"/>
              </a:rPr>
              <a:t>65</a:t>
            </a:r>
            <a:endParaRPr lang="en-US" sz="1100" dirty="0"/>
          </a:p>
        </p:txBody>
      </p:sp>
      <p:sp>
        <p:nvSpPr>
          <p:cNvPr id="27" name="Text 25"/>
          <p:cNvSpPr/>
          <p:nvPr/>
        </p:nvSpPr>
        <p:spPr>
          <a:xfrm>
            <a:off x="777240" y="2206752"/>
            <a:ext cx="457200" cy="228600"/>
          </a:xfrm>
          <a:prstGeom prst="rect">
            <a:avLst/>
          </a:prstGeom>
          <a:noFill/>
          <a:ln/>
        </p:spPr>
        <p:txBody>
          <a:bodyPr wrap="square" lIns="0" tIns="0" rIns="0" bIns="0" rtlCol="0" anchor="t"/>
          <a:lstStyle/>
          <a:p>
            <a:pPr algn="r" indent="0" marL="0">
              <a:buNone/>
            </a:pPr>
            <a:r>
              <a:rPr lang="en-US" sz="1100" dirty="0">
                <a:solidFill>
                  <a:srgbClr val="959BB0"/>
                </a:solidFill>
                <a:latin typeface="Palatino Linotype" pitchFamily="34" charset="0"/>
                <a:ea typeface="Palatino Linotype" pitchFamily="34" charset="-122"/>
                <a:cs typeface="Palatino Linotype" pitchFamily="34" charset="-120"/>
              </a:rPr>
              <a:t>80</a:t>
            </a:r>
            <a:endParaRPr lang="en-US" sz="1100" dirty="0"/>
          </a:p>
        </p:txBody>
      </p:sp>
      <p:sp>
        <p:nvSpPr>
          <p:cNvPr id="28" name="Shape 26"/>
          <p:cNvSpPr/>
          <p:nvPr/>
        </p:nvSpPr>
        <p:spPr>
          <a:xfrm>
            <a:off x="5989320" y="1783080"/>
            <a:ext cx="5577840" cy="1965960"/>
          </a:xfrm>
          <a:prstGeom prst="roundRect">
            <a:avLst>
              <a:gd name="adj" fmla="val 4186"/>
            </a:avLst>
          </a:prstGeom>
          <a:solidFill>
            <a:srgbClr val="ECEAE4"/>
          </a:solidFill>
          <a:ln w="12700">
            <a:solidFill>
              <a:srgbClr val="ECEAE4"/>
            </a:solidFill>
            <a:prstDash val="solid"/>
          </a:ln>
        </p:spPr>
      </p:sp>
      <p:sp>
        <p:nvSpPr>
          <p:cNvPr id="29" name="Shape 27"/>
          <p:cNvSpPr/>
          <p:nvPr/>
        </p:nvSpPr>
        <p:spPr>
          <a:xfrm>
            <a:off x="5989320" y="1783080"/>
            <a:ext cx="91440" cy="1965960"/>
          </a:xfrm>
          <a:prstGeom prst="rect">
            <a:avLst/>
          </a:prstGeom>
          <a:solidFill>
            <a:srgbClr val="FF4757"/>
          </a:solidFill>
          <a:ln w="12700">
            <a:solidFill>
              <a:srgbClr val="FF4757"/>
            </a:solidFill>
            <a:prstDash val="solid"/>
          </a:ln>
        </p:spPr>
      </p:sp>
      <p:sp>
        <p:nvSpPr>
          <p:cNvPr id="30" name="Text 28"/>
          <p:cNvSpPr/>
          <p:nvPr/>
        </p:nvSpPr>
        <p:spPr>
          <a:xfrm>
            <a:off x="6355080" y="1783080"/>
            <a:ext cx="5029200" cy="196596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 renflement : les générations nées après 1967, aujourd’hui âgées de plus de cinquante ans.</a:t>
            </a:r>
            <a:endParaRPr lang="en-US" sz="1900" dirty="0"/>
          </a:p>
        </p:txBody>
      </p:sp>
      <p:sp>
        <p:nvSpPr>
          <p:cNvPr id="31" name="Shape 29"/>
          <p:cNvSpPr/>
          <p:nvPr/>
        </p:nvSpPr>
        <p:spPr>
          <a:xfrm>
            <a:off x="5989320" y="3931920"/>
            <a:ext cx="5577840" cy="2148840"/>
          </a:xfrm>
          <a:prstGeom prst="roundRect">
            <a:avLst>
              <a:gd name="adj" fmla="val 3830"/>
            </a:avLst>
          </a:prstGeom>
          <a:solidFill>
            <a:srgbClr val="ECEAE4"/>
          </a:solidFill>
          <a:ln w="12700">
            <a:solidFill>
              <a:srgbClr val="ECEAE4"/>
            </a:solidFill>
            <a:prstDash val="solid"/>
          </a:ln>
        </p:spPr>
      </p:sp>
      <p:sp>
        <p:nvSpPr>
          <p:cNvPr id="32" name="Shape 30"/>
          <p:cNvSpPr/>
          <p:nvPr/>
        </p:nvSpPr>
        <p:spPr>
          <a:xfrm>
            <a:off x="5989320" y="3931920"/>
            <a:ext cx="91440" cy="2148840"/>
          </a:xfrm>
          <a:prstGeom prst="rect">
            <a:avLst/>
          </a:prstGeom>
          <a:solidFill>
            <a:srgbClr val="0E7C6B"/>
          </a:solidFill>
          <a:ln w="12700">
            <a:solidFill>
              <a:srgbClr val="0E7C6B"/>
            </a:solidFill>
            <a:prstDash val="solid"/>
          </a:ln>
        </p:spPr>
      </p:sp>
      <p:sp>
        <p:nvSpPr>
          <p:cNvPr id="33" name="Text 31"/>
          <p:cNvSpPr/>
          <p:nvPr/>
        </p:nvSpPr>
        <p:spPr>
          <a:xfrm>
            <a:off x="6355080" y="3931920"/>
            <a:ext cx="5029200" cy="214884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La base étroite : les générations nées après 1990 sont beaucoup moins nombreuses. Elle annonce, des décennies à l’avance, les départs à la retraite et les besoins de soins.</a:t>
            </a:r>
            <a:endParaRPr lang="en-US" sz="1900" dirty="0"/>
          </a:p>
        </p:txBody>
      </p:sp>
      <p:sp>
        <p:nvSpPr>
          <p:cNvPr id="34" name="Text 3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population par groupes d’âge au 1er janvier 2025 (les deux sexes).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VIEILLISSEMENT DE LA POPULATION · 2025</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La Roumanie par rapport à l’Union européenne</a:t>
            </a:r>
            <a:endParaRPr lang="en-US" sz="3400" dirty="0"/>
          </a:p>
        </p:txBody>
      </p:sp>
      <p:sp>
        <p:nvSpPr>
          <p:cNvPr id="4" name="Shape 2"/>
          <p:cNvSpPr/>
          <p:nvPr/>
        </p:nvSpPr>
        <p:spPr>
          <a:xfrm>
            <a:off x="594360" y="1783080"/>
            <a:ext cx="7223760" cy="4251960"/>
          </a:xfrm>
          <a:prstGeom prst="roundRect">
            <a:avLst>
              <a:gd name="adj" fmla="val 1935"/>
            </a:avLst>
          </a:prstGeom>
          <a:solidFill>
            <a:srgbClr val="1D1F2B"/>
          </a:solidFill>
          <a:ln w="12700">
            <a:solidFill>
              <a:srgbClr val="1D1F2B"/>
            </a:solidFill>
            <a:prstDash val="solid"/>
          </a:ln>
        </p:spPr>
      </p:sp>
      <p:sp>
        <p:nvSpPr>
          <p:cNvPr id="5" name="Text 3"/>
          <p:cNvSpPr/>
          <p:nvPr/>
        </p:nvSpPr>
        <p:spPr>
          <a:xfrm>
            <a:off x="4572000" y="1874520"/>
            <a:ext cx="1554480" cy="365760"/>
          </a:xfrm>
          <a:prstGeom prst="rect">
            <a:avLst/>
          </a:prstGeom>
          <a:noFill/>
          <a:ln/>
        </p:spPr>
        <p:txBody>
          <a:bodyPr wrap="square" lIns="0" tIns="0" rIns="0" bIns="0" rtlCol="0" anchor="t"/>
          <a:lstStyle/>
          <a:p>
            <a:pPr algn="ctr" indent="0" marL="0">
              <a:buNone/>
            </a:pPr>
            <a:r>
              <a:rPr lang="en-US" sz="1400" b="1" dirty="0">
                <a:solidFill>
                  <a:srgbClr val="FF4757"/>
                </a:solidFill>
                <a:latin typeface="Palatino Linotype" pitchFamily="34" charset="0"/>
                <a:ea typeface="Palatino Linotype" pitchFamily="34" charset="-122"/>
                <a:cs typeface="Palatino Linotype" pitchFamily="34" charset="-120"/>
              </a:rPr>
              <a:t>Roumanie</a:t>
            </a:r>
            <a:endParaRPr lang="en-US" sz="1400" dirty="0"/>
          </a:p>
        </p:txBody>
      </p:sp>
      <p:sp>
        <p:nvSpPr>
          <p:cNvPr id="6" name="Text 4"/>
          <p:cNvSpPr/>
          <p:nvPr/>
        </p:nvSpPr>
        <p:spPr>
          <a:xfrm>
            <a:off x="6217920" y="1874520"/>
            <a:ext cx="1371600" cy="365760"/>
          </a:xfrm>
          <a:prstGeom prst="rect">
            <a:avLst/>
          </a:prstGeom>
          <a:noFill/>
          <a:ln/>
        </p:spPr>
        <p:txBody>
          <a:bodyPr wrap="square" lIns="0" tIns="0" rIns="0" bIns="0" rtlCol="0" anchor="t"/>
          <a:lstStyle/>
          <a:p>
            <a:pPr algn="ctr" indent="0" marL="0">
              <a:buNone/>
            </a:pPr>
            <a:r>
              <a:rPr lang="en-US" sz="1400" b="1" dirty="0">
                <a:solidFill>
                  <a:srgbClr val="27D3BE"/>
                </a:solidFill>
                <a:latin typeface="Palatino Linotype" pitchFamily="34" charset="0"/>
                <a:ea typeface="Palatino Linotype" pitchFamily="34" charset="-122"/>
                <a:cs typeface="Palatino Linotype" pitchFamily="34" charset="-120"/>
              </a:rPr>
              <a:t>UE</a:t>
            </a:r>
            <a:endParaRPr lang="en-US" sz="1400" dirty="0"/>
          </a:p>
        </p:txBody>
      </p:sp>
      <p:sp>
        <p:nvSpPr>
          <p:cNvPr id="7" name="Shape 5"/>
          <p:cNvSpPr/>
          <p:nvPr/>
        </p:nvSpPr>
        <p:spPr>
          <a:xfrm>
            <a:off x="822960" y="2286000"/>
            <a:ext cx="6766560" cy="18288"/>
          </a:xfrm>
          <a:prstGeom prst="rect">
            <a:avLst/>
          </a:prstGeom>
          <a:solidFill>
            <a:srgbClr val="4B5068"/>
          </a:solidFill>
          <a:ln w="12700">
            <a:solidFill>
              <a:srgbClr val="4B5068"/>
            </a:solidFill>
            <a:prstDash val="solid"/>
          </a:ln>
        </p:spPr>
      </p:sp>
      <p:sp>
        <p:nvSpPr>
          <p:cNvPr id="8" name="Text 6"/>
          <p:cNvSpPr/>
          <p:nvPr/>
        </p:nvSpPr>
        <p:spPr>
          <a:xfrm>
            <a:off x="822960" y="2331720"/>
            <a:ext cx="3657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Personnes de 65 ans et plus</a:t>
            </a:r>
            <a:endParaRPr lang="en-US" sz="1500" dirty="0"/>
          </a:p>
        </p:txBody>
      </p:sp>
      <p:sp>
        <p:nvSpPr>
          <p:cNvPr id="9" name="Text 7"/>
          <p:cNvSpPr/>
          <p:nvPr/>
        </p:nvSpPr>
        <p:spPr>
          <a:xfrm>
            <a:off x="4572000" y="2331720"/>
            <a:ext cx="15544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20,3 %</a:t>
            </a:r>
            <a:endParaRPr lang="en-US" sz="2200" dirty="0"/>
          </a:p>
        </p:txBody>
      </p:sp>
      <p:sp>
        <p:nvSpPr>
          <p:cNvPr id="10" name="Text 8"/>
          <p:cNvSpPr/>
          <p:nvPr/>
        </p:nvSpPr>
        <p:spPr>
          <a:xfrm>
            <a:off x="6217920" y="2331720"/>
            <a:ext cx="1371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22,0 %</a:t>
            </a:r>
            <a:endParaRPr lang="en-US" sz="2200" dirty="0"/>
          </a:p>
        </p:txBody>
      </p:sp>
      <p:sp>
        <p:nvSpPr>
          <p:cNvPr id="11" name="Shape 9"/>
          <p:cNvSpPr/>
          <p:nvPr/>
        </p:nvSpPr>
        <p:spPr>
          <a:xfrm>
            <a:off x="822960" y="3191256"/>
            <a:ext cx="6766560" cy="18288"/>
          </a:xfrm>
          <a:prstGeom prst="rect">
            <a:avLst/>
          </a:prstGeom>
          <a:solidFill>
            <a:srgbClr val="4B5068"/>
          </a:solidFill>
          <a:ln w="12700">
            <a:solidFill>
              <a:srgbClr val="4B5068"/>
            </a:solidFill>
            <a:prstDash val="solid"/>
          </a:ln>
        </p:spPr>
      </p:sp>
      <p:sp>
        <p:nvSpPr>
          <p:cNvPr id="12" name="Text 10"/>
          <p:cNvSpPr/>
          <p:nvPr/>
        </p:nvSpPr>
        <p:spPr>
          <a:xfrm>
            <a:off x="822960" y="3236976"/>
            <a:ext cx="3657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Personnes de 80 ans et plus</a:t>
            </a:r>
            <a:endParaRPr lang="en-US" sz="1500" dirty="0"/>
          </a:p>
        </p:txBody>
      </p:sp>
      <p:sp>
        <p:nvSpPr>
          <p:cNvPr id="13" name="Text 11"/>
          <p:cNvSpPr/>
          <p:nvPr/>
        </p:nvSpPr>
        <p:spPr>
          <a:xfrm>
            <a:off x="4572000" y="3236976"/>
            <a:ext cx="15544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4,5 %</a:t>
            </a:r>
            <a:endParaRPr lang="en-US" sz="2200" dirty="0"/>
          </a:p>
        </p:txBody>
      </p:sp>
      <p:sp>
        <p:nvSpPr>
          <p:cNvPr id="14" name="Text 12"/>
          <p:cNvSpPr/>
          <p:nvPr/>
        </p:nvSpPr>
        <p:spPr>
          <a:xfrm>
            <a:off x="6217920" y="3236976"/>
            <a:ext cx="1371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6,2 %</a:t>
            </a:r>
            <a:endParaRPr lang="en-US" sz="2200" dirty="0"/>
          </a:p>
        </p:txBody>
      </p:sp>
      <p:sp>
        <p:nvSpPr>
          <p:cNvPr id="15" name="Shape 13"/>
          <p:cNvSpPr/>
          <p:nvPr/>
        </p:nvSpPr>
        <p:spPr>
          <a:xfrm>
            <a:off x="822960" y="4096512"/>
            <a:ext cx="6766560" cy="18288"/>
          </a:xfrm>
          <a:prstGeom prst="rect">
            <a:avLst/>
          </a:prstGeom>
          <a:solidFill>
            <a:srgbClr val="4B5068"/>
          </a:solidFill>
          <a:ln w="12700">
            <a:solidFill>
              <a:srgbClr val="4B5068"/>
            </a:solidFill>
            <a:prstDash val="solid"/>
          </a:ln>
        </p:spPr>
      </p:sp>
      <p:sp>
        <p:nvSpPr>
          <p:cNvPr id="16" name="Text 14"/>
          <p:cNvSpPr/>
          <p:nvPr/>
        </p:nvSpPr>
        <p:spPr>
          <a:xfrm>
            <a:off x="822960" y="4142232"/>
            <a:ext cx="3657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Âge médian</a:t>
            </a:r>
            <a:endParaRPr lang="en-US" sz="1500" dirty="0"/>
          </a:p>
        </p:txBody>
      </p:sp>
      <p:sp>
        <p:nvSpPr>
          <p:cNvPr id="17" name="Text 15"/>
          <p:cNvSpPr/>
          <p:nvPr/>
        </p:nvSpPr>
        <p:spPr>
          <a:xfrm>
            <a:off x="4572000" y="4142232"/>
            <a:ext cx="15544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44,1 ans</a:t>
            </a:r>
            <a:endParaRPr lang="en-US" sz="2200" dirty="0"/>
          </a:p>
        </p:txBody>
      </p:sp>
      <p:sp>
        <p:nvSpPr>
          <p:cNvPr id="18" name="Text 16"/>
          <p:cNvSpPr/>
          <p:nvPr/>
        </p:nvSpPr>
        <p:spPr>
          <a:xfrm>
            <a:off x="6217920" y="4142232"/>
            <a:ext cx="1371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44,9 ans</a:t>
            </a:r>
            <a:endParaRPr lang="en-US" sz="2200" dirty="0"/>
          </a:p>
        </p:txBody>
      </p:sp>
      <p:sp>
        <p:nvSpPr>
          <p:cNvPr id="19" name="Shape 17"/>
          <p:cNvSpPr/>
          <p:nvPr/>
        </p:nvSpPr>
        <p:spPr>
          <a:xfrm>
            <a:off x="822960" y="5001768"/>
            <a:ext cx="6766560" cy="18288"/>
          </a:xfrm>
          <a:prstGeom prst="rect">
            <a:avLst/>
          </a:prstGeom>
          <a:solidFill>
            <a:srgbClr val="4B5068"/>
          </a:solidFill>
          <a:ln w="12700">
            <a:solidFill>
              <a:srgbClr val="4B5068"/>
            </a:solidFill>
            <a:prstDash val="solid"/>
          </a:ln>
        </p:spPr>
      </p:sp>
      <p:sp>
        <p:nvSpPr>
          <p:cNvPr id="20" name="Text 18"/>
          <p:cNvSpPr/>
          <p:nvPr/>
        </p:nvSpPr>
        <p:spPr>
          <a:xfrm>
            <a:off x="822960" y="5047488"/>
            <a:ext cx="3657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Rapport de dépendance des personnes âgées</a:t>
            </a:r>
            <a:endParaRPr lang="en-US" sz="1500" dirty="0"/>
          </a:p>
        </p:txBody>
      </p:sp>
      <p:sp>
        <p:nvSpPr>
          <p:cNvPr id="21" name="Text 19"/>
          <p:cNvSpPr/>
          <p:nvPr/>
        </p:nvSpPr>
        <p:spPr>
          <a:xfrm>
            <a:off x="4572000" y="5047488"/>
            <a:ext cx="15544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31,6</a:t>
            </a:r>
            <a:endParaRPr lang="en-US" sz="2200" dirty="0"/>
          </a:p>
        </p:txBody>
      </p:sp>
      <p:sp>
        <p:nvSpPr>
          <p:cNvPr id="22" name="Text 20"/>
          <p:cNvSpPr/>
          <p:nvPr/>
        </p:nvSpPr>
        <p:spPr>
          <a:xfrm>
            <a:off x="6217920" y="5047488"/>
            <a:ext cx="1371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34,5</a:t>
            </a:r>
            <a:endParaRPr lang="en-US" sz="2200" dirty="0"/>
          </a:p>
        </p:txBody>
      </p:sp>
      <p:sp>
        <p:nvSpPr>
          <p:cNvPr id="23" name="Shape 21"/>
          <p:cNvSpPr/>
          <p:nvPr/>
        </p:nvSpPr>
        <p:spPr>
          <a:xfrm>
            <a:off x="8092440" y="1783080"/>
            <a:ext cx="3474720" cy="4251960"/>
          </a:xfrm>
          <a:prstGeom prst="roundRect">
            <a:avLst>
              <a:gd name="adj" fmla="val 2368"/>
            </a:avLst>
          </a:prstGeom>
          <a:solidFill>
            <a:srgbClr val="272A38"/>
          </a:solidFill>
          <a:ln w="12700">
            <a:solidFill>
              <a:srgbClr val="272A38"/>
            </a:solidFill>
            <a:prstDash val="solid"/>
          </a:ln>
        </p:spPr>
      </p:sp>
      <p:sp>
        <p:nvSpPr>
          <p:cNvPr id="24" name="Text 22"/>
          <p:cNvSpPr/>
          <p:nvPr/>
        </p:nvSpPr>
        <p:spPr>
          <a:xfrm>
            <a:off x="8321040" y="1920240"/>
            <a:ext cx="3017520" cy="146304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Pas plus âgée que la moyenne européenne, mais elle vieillit vite.</a:t>
            </a:r>
            <a:endParaRPr lang="en-US" sz="1700" dirty="0"/>
          </a:p>
        </p:txBody>
      </p:sp>
      <p:sp>
        <p:nvSpPr>
          <p:cNvPr id="25" name="Text 23"/>
          <p:cNvSpPr/>
          <p:nvPr/>
        </p:nvSpPr>
        <p:spPr>
          <a:xfrm>
            <a:off x="8321040" y="3474720"/>
            <a:ext cx="3017520" cy="237744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Les personnes de 65 ans et plus représentaient 10,3 % en 1990. Rapport de dépendance des personnes âgées : 15,6 en 1990, 31,6 en 2025.</a:t>
            </a:r>
            <a:endParaRPr lang="en-US" sz="14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(demo_pjanind). Rapport de dépendance des personnes âgées (appelé aussi taux de dépendance) : personnes de 65+ pour cent personnes de 15–64 ans.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COMBIEN DE GRANDS-PARENTS POUR CENT ENFANTS ?</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Indice de vieillissement : 131,3</a:t>
            </a:r>
            <a:endParaRPr lang="en-US" sz="3400" dirty="0"/>
          </a:p>
        </p:txBody>
      </p:sp>
      <p:sp>
        <p:nvSpPr>
          <p:cNvPr id="4" name="Shape 2"/>
          <p:cNvSpPr/>
          <p:nvPr/>
        </p:nvSpPr>
        <p:spPr>
          <a:xfrm>
            <a:off x="594360" y="1783080"/>
            <a:ext cx="4206240" cy="4251960"/>
          </a:xfrm>
          <a:prstGeom prst="roundRect">
            <a:avLst>
              <a:gd name="adj" fmla="val 1957"/>
            </a:avLst>
          </a:prstGeom>
          <a:solidFill>
            <a:srgbClr val="11121A"/>
          </a:solidFill>
          <a:ln w="12700">
            <a:solidFill>
              <a:srgbClr val="11121A"/>
            </a:solidFill>
            <a:prstDash val="solid"/>
          </a:ln>
        </p:spPr>
      </p:sp>
      <p:sp>
        <p:nvSpPr>
          <p:cNvPr id="5" name="Text 3"/>
          <p:cNvSpPr/>
          <p:nvPr/>
        </p:nvSpPr>
        <p:spPr>
          <a:xfrm>
            <a:off x="822960" y="2011680"/>
            <a:ext cx="3749040" cy="1371600"/>
          </a:xfrm>
          <a:prstGeom prst="rect">
            <a:avLst/>
          </a:prstGeom>
          <a:noFill/>
          <a:ln/>
        </p:spPr>
        <p:txBody>
          <a:bodyPr wrap="square" lIns="0" tIns="0" rIns="0" bIns="0" rtlCol="0" anchor="ctr"/>
          <a:lstStyle/>
          <a:p>
            <a:pPr indent="0" marL="0">
              <a:buNone/>
            </a:pPr>
            <a:r>
              <a:rPr lang="en-US" sz="7600" b="1" dirty="0">
                <a:solidFill>
                  <a:srgbClr val="FF4757"/>
                </a:solidFill>
                <a:latin typeface="Palatino Linotype" pitchFamily="34" charset="0"/>
                <a:ea typeface="Palatino Linotype" pitchFamily="34" charset="-122"/>
                <a:cs typeface="Palatino Linotype" pitchFamily="34" charset="-120"/>
              </a:rPr>
              <a:t>131,3</a:t>
            </a:r>
            <a:endParaRPr lang="en-US" sz="7600" dirty="0"/>
          </a:p>
        </p:txBody>
      </p:sp>
      <p:sp>
        <p:nvSpPr>
          <p:cNvPr id="6" name="Text 4"/>
          <p:cNvSpPr/>
          <p:nvPr/>
        </p:nvSpPr>
        <p:spPr>
          <a:xfrm>
            <a:off x="822960" y="3474720"/>
            <a:ext cx="3749040" cy="22860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pour cent enfants de moins de 15 ans, environ cent trente et une personnes de 65 ans et plus (1er janvier 2025)</a:t>
            </a:r>
            <a:endParaRPr lang="en-US" sz="1600" dirty="0"/>
          </a:p>
        </p:txBody>
      </p:sp>
      <p:sp>
        <p:nvSpPr>
          <p:cNvPr id="7" name="Shape 5"/>
          <p:cNvSpPr/>
          <p:nvPr/>
        </p:nvSpPr>
        <p:spPr>
          <a:xfrm>
            <a:off x="5074920" y="1783080"/>
            <a:ext cx="6492240" cy="960120"/>
          </a:xfrm>
          <a:prstGeom prst="roundRect">
            <a:avLst>
              <a:gd name="adj" fmla="val 8571"/>
            </a:avLst>
          </a:prstGeom>
          <a:solidFill>
            <a:srgbClr val="ECEAE4"/>
          </a:solidFill>
          <a:ln w="12700">
            <a:solidFill>
              <a:srgbClr val="ECEAE4"/>
            </a:solidFill>
            <a:prstDash val="solid"/>
          </a:ln>
        </p:spPr>
      </p:sp>
      <p:sp>
        <p:nvSpPr>
          <p:cNvPr id="8" name="Shape 6"/>
          <p:cNvSpPr/>
          <p:nvPr/>
        </p:nvSpPr>
        <p:spPr>
          <a:xfrm>
            <a:off x="5303520" y="2057400"/>
            <a:ext cx="420624" cy="420624"/>
          </a:xfrm>
          <a:prstGeom prst="ellipse">
            <a:avLst/>
          </a:prstGeom>
          <a:solidFill>
            <a:srgbClr val="FFC24B"/>
          </a:solidFill>
          <a:ln/>
        </p:spPr>
      </p:sp>
      <p:sp>
        <p:nvSpPr>
          <p:cNvPr id="9" name="Text 7"/>
          <p:cNvSpPr/>
          <p:nvPr/>
        </p:nvSpPr>
        <p:spPr>
          <a:xfrm>
            <a:off x="5303520" y="20574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5943600" y="1783080"/>
            <a:ext cx="5486400" cy="9601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On additionne les personnes de 65 ans et plus.</a:t>
            </a:r>
            <a:endParaRPr lang="en-US" sz="1800" dirty="0"/>
          </a:p>
        </p:txBody>
      </p:sp>
      <p:sp>
        <p:nvSpPr>
          <p:cNvPr id="11" name="Shape 9"/>
          <p:cNvSpPr/>
          <p:nvPr/>
        </p:nvSpPr>
        <p:spPr>
          <a:xfrm>
            <a:off x="5074920" y="2880360"/>
            <a:ext cx="6492240" cy="960120"/>
          </a:xfrm>
          <a:prstGeom prst="roundRect">
            <a:avLst>
              <a:gd name="adj" fmla="val 8571"/>
            </a:avLst>
          </a:prstGeom>
          <a:solidFill>
            <a:srgbClr val="ECEAE4"/>
          </a:solidFill>
          <a:ln w="12700">
            <a:solidFill>
              <a:srgbClr val="ECEAE4"/>
            </a:solidFill>
            <a:prstDash val="solid"/>
          </a:ln>
        </p:spPr>
      </p:sp>
      <p:sp>
        <p:nvSpPr>
          <p:cNvPr id="12" name="Shape 10"/>
          <p:cNvSpPr/>
          <p:nvPr/>
        </p:nvSpPr>
        <p:spPr>
          <a:xfrm>
            <a:off x="5303520" y="3154680"/>
            <a:ext cx="420624" cy="420624"/>
          </a:xfrm>
          <a:prstGeom prst="ellipse">
            <a:avLst/>
          </a:prstGeom>
          <a:solidFill>
            <a:srgbClr val="FFC24B"/>
          </a:solidFill>
          <a:ln/>
        </p:spPr>
      </p:sp>
      <p:sp>
        <p:nvSpPr>
          <p:cNvPr id="13" name="Text 11"/>
          <p:cNvSpPr/>
          <p:nvPr/>
        </p:nvSpPr>
        <p:spPr>
          <a:xfrm>
            <a:off x="5303520" y="3154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5943600" y="2880360"/>
            <a:ext cx="5486400" cy="9601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On additionne les enfants de 0–14 ans.</a:t>
            </a:r>
            <a:endParaRPr lang="en-US" sz="1800" dirty="0"/>
          </a:p>
        </p:txBody>
      </p:sp>
      <p:sp>
        <p:nvSpPr>
          <p:cNvPr id="15" name="Shape 13"/>
          <p:cNvSpPr/>
          <p:nvPr/>
        </p:nvSpPr>
        <p:spPr>
          <a:xfrm>
            <a:off x="5074920" y="3977640"/>
            <a:ext cx="6492240" cy="960120"/>
          </a:xfrm>
          <a:prstGeom prst="roundRect">
            <a:avLst>
              <a:gd name="adj" fmla="val 8571"/>
            </a:avLst>
          </a:prstGeom>
          <a:solidFill>
            <a:srgbClr val="ECEAE4"/>
          </a:solidFill>
          <a:ln w="12700">
            <a:solidFill>
              <a:srgbClr val="ECEAE4"/>
            </a:solidFill>
            <a:prstDash val="solid"/>
          </a:ln>
        </p:spPr>
      </p:sp>
      <p:sp>
        <p:nvSpPr>
          <p:cNvPr id="16" name="Shape 14"/>
          <p:cNvSpPr/>
          <p:nvPr/>
        </p:nvSpPr>
        <p:spPr>
          <a:xfrm>
            <a:off x="5303520" y="4251960"/>
            <a:ext cx="420624" cy="420624"/>
          </a:xfrm>
          <a:prstGeom prst="ellipse">
            <a:avLst/>
          </a:prstGeom>
          <a:solidFill>
            <a:srgbClr val="FFC24B"/>
          </a:solidFill>
          <a:ln/>
        </p:spPr>
      </p:sp>
      <p:sp>
        <p:nvSpPr>
          <p:cNvPr id="17" name="Text 15"/>
          <p:cNvSpPr/>
          <p:nvPr/>
        </p:nvSpPr>
        <p:spPr>
          <a:xfrm>
            <a:off x="5303520" y="4251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5943600" y="3977640"/>
            <a:ext cx="5486400" cy="9601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On divise la première somme par la seconde et on multiplie par cent.</a:t>
            </a:r>
            <a:endParaRPr lang="en-US" sz="1800" dirty="0"/>
          </a:p>
        </p:txBody>
      </p:sp>
      <p:sp>
        <p:nvSpPr>
          <p:cNvPr id="19" name="Shape 17"/>
          <p:cNvSpPr/>
          <p:nvPr/>
        </p:nvSpPr>
        <p:spPr>
          <a:xfrm>
            <a:off x="5074920" y="5120640"/>
            <a:ext cx="6492240" cy="914400"/>
          </a:xfrm>
          <a:prstGeom prst="roundRect">
            <a:avLst>
              <a:gd name="adj" fmla="val 9000"/>
            </a:avLst>
          </a:prstGeom>
          <a:solidFill>
            <a:srgbClr val="F9F8F5"/>
          </a:solidFill>
          <a:ln w="12700">
            <a:solidFill>
              <a:srgbClr val="F9F8F5"/>
            </a:solidFill>
            <a:prstDash val="solid"/>
          </a:ln>
        </p:spPr>
      </p:sp>
      <p:sp>
        <p:nvSpPr>
          <p:cNvPr id="20" name="Text 18"/>
          <p:cNvSpPr/>
          <p:nvPr/>
        </p:nvSpPr>
        <p:spPr>
          <a:xfrm>
            <a:off x="5303520" y="5120640"/>
            <a:ext cx="6035040" cy="91440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Au-dessus de cent : les personnes âgées sont plus nombreuses que les enfants. L’indice ne dit rien de leur santé.</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CONSÉQUENCES POUR LES SERVICES DE SANTÉ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Plus de personnes âgées, moins de personnes actives</a:t>
            </a:r>
            <a:endParaRPr lang="en-US" sz="3200" dirty="0"/>
          </a:p>
        </p:txBody>
      </p:sp>
      <p:sp>
        <p:nvSpPr>
          <p:cNvPr id="4" name="Shape 2"/>
          <p:cNvSpPr/>
          <p:nvPr/>
        </p:nvSpPr>
        <p:spPr>
          <a:xfrm>
            <a:off x="594360" y="1783080"/>
            <a:ext cx="3520440" cy="3383280"/>
          </a:xfrm>
          <a:prstGeom prst="roundRect">
            <a:avLst>
              <a:gd name="adj" fmla="val 2432"/>
            </a:avLst>
          </a:prstGeom>
          <a:solidFill>
            <a:srgbClr val="1D1F2B"/>
          </a:solidFill>
          <a:ln w="12700">
            <a:solidFill>
              <a:srgbClr val="1D1F2B"/>
            </a:solidFill>
            <a:prstDash val="solid"/>
          </a:ln>
        </p:spPr>
      </p:sp>
      <p:sp>
        <p:nvSpPr>
          <p:cNvPr id="5" name="Shape 3"/>
          <p:cNvSpPr/>
          <p:nvPr/>
        </p:nvSpPr>
        <p:spPr>
          <a:xfrm>
            <a:off x="594360" y="1783080"/>
            <a:ext cx="3520440" cy="91440"/>
          </a:xfrm>
          <a:prstGeom prst="rect">
            <a:avLst/>
          </a:prstGeom>
          <a:solidFill>
            <a:srgbClr val="FF4757"/>
          </a:solidFill>
          <a:ln w="12700">
            <a:solidFill>
              <a:srgbClr val="FF4757"/>
            </a:solidFill>
            <a:prstDash val="solid"/>
          </a:ln>
        </p:spPr>
      </p:sp>
      <p:sp>
        <p:nvSpPr>
          <p:cNvPr id="6" name="Text 4"/>
          <p:cNvSpPr/>
          <p:nvPr/>
        </p:nvSpPr>
        <p:spPr>
          <a:xfrm>
            <a:off x="868680" y="2057400"/>
            <a:ext cx="3017520" cy="457200"/>
          </a:xfrm>
          <a:prstGeom prst="rect">
            <a:avLst/>
          </a:prstGeom>
          <a:noFill/>
          <a:ln/>
        </p:spPr>
        <p:txBody>
          <a:bodyPr wrap="square" lIns="0" tIns="0" rIns="0" bIns="0" rtlCol="0" anchor="t"/>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Les patients</a:t>
            </a:r>
            <a:endParaRPr lang="en-US" sz="2200" dirty="0"/>
          </a:p>
        </p:txBody>
      </p:sp>
      <p:sp>
        <p:nvSpPr>
          <p:cNvPr id="7" name="Text 5"/>
          <p:cNvSpPr/>
          <p:nvPr/>
        </p:nvSpPr>
        <p:spPr>
          <a:xfrm>
            <a:off x="868680" y="2651760"/>
            <a:ext cx="3017520" cy="2377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plusieurs maladies à la fois, plus de médicaments, soins de longue durée</a:t>
            </a:r>
            <a:endParaRPr lang="en-US" sz="1600" dirty="0"/>
          </a:p>
        </p:txBody>
      </p:sp>
      <p:sp>
        <p:nvSpPr>
          <p:cNvPr id="8" name="Shape 6"/>
          <p:cNvSpPr/>
          <p:nvPr/>
        </p:nvSpPr>
        <p:spPr>
          <a:xfrm>
            <a:off x="4389120" y="1783080"/>
            <a:ext cx="3520440" cy="3383280"/>
          </a:xfrm>
          <a:prstGeom prst="roundRect">
            <a:avLst>
              <a:gd name="adj" fmla="val 2432"/>
            </a:avLst>
          </a:prstGeom>
          <a:solidFill>
            <a:srgbClr val="1D1F2B"/>
          </a:solidFill>
          <a:ln w="12700">
            <a:solidFill>
              <a:srgbClr val="1D1F2B"/>
            </a:solidFill>
            <a:prstDash val="solid"/>
          </a:ln>
        </p:spPr>
      </p:sp>
      <p:sp>
        <p:nvSpPr>
          <p:cNvPr id="9" name="Shape 7"/>
          <p:cNvSpPr/>
          <p:nvPr/>
        </p:nvSpPr>
        <p:spPr>
          <a:xfrm>
            <a:off x="4389120" y="1783080"/>
            <a:ext cx="3520440" cy="91440"/>
          </a:xfrm>
          <a:prstGeom prst="rect">
            <a:avLst/>
          </a:prstGeom>
          <a:solidFill>
            <a:srgbClr val="FFC24B"/>
          </a:solidFill>
          <a:ln w="12700">
            <a:solidFill>
              <a:srgbClr val="FFC24B"/>
            </a:solidFill>
            <a:prstDash val="solid"/>
          </a:ln>
        </p:spPr>
      </p:sp>
      <p:sp>
        <p:nvSpPr>
          <p:cNvPr id="10" name="Text 8"/>
          <p:cNvSpPr/>
          <p:nvPr/>
        </p:nvSpPr>
        <p:spPr>
          <a:xfrm>
            <a:off x="4663440" y="2057400"/>
            <a:ext cx="3017520" cy="4572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Le financement</a:t>
            </a:r>
            <a:endParaRPr lang="en-US" sz="2200" dirty="0"/>
          </a:p>
        </p:txBody>
      </p:sp>
      <p:sp>
        <p:nvSpPr>
          <p:cNvPr id="11" name="Text 9"/>
          <p:cNvSpPr/>
          <p:nvPr/>
        </p:nvSpPr>
        <p:spPr>
          <a:xfrm>
            <a:off x="4663440" y="2651760"/>
            <a:ext cx="3017520" cy="2377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moins de personnes actives cotisent ; une partie des aidants informels travaille à l’étranger</a:t>
            </a:r>
            <a:endParaRPr lang="en-US" sz="1600" dirty="0"/>
          </a:p>
        </p:txBody>
      </p:sp>
      <p:sp>
        <p:nvSpPr>
          <p:cNvPr id="12" name="Shape 10"/>
          <p:cNvSpPr/>
          <p:nvPr/>
        </p:nvSpPr>
        <p:spPr>
          <a:xfrm>
            <a:off x="8183880" y="1783080"/>
            <a:ext cx="3520440" cy="3383280"/>
          </a:xfrm>
          <a:prstGeom prst="roundRect">
            <a:avLst>
              <a:gd name="adj" fmla="val 2432"/>
            </a:avLst>
          </a:prstGeom>
          <a:solidFill>
            <a:srgbClr val="1D1F2B"/>
          </a:solidFill>
          <a:ln w="12700">
            <a:solidFill>
              <a:srgbClr val="1D1F2B"/>
            </a:solidFill>
            <a:prstDash val="solid"/>
          </a:ln>
        </p:spPr>
      </p:sp>
      <p:sp>
        <p:nvSpPr>
          <p:cNvPr id="13" name="Shape 11"/>
          <p:cNvSpPr/>
          <p:nvPr/>
        </p:nvSpPr>
        <p:spPr>
          <a:xfrm>
            <a:off x="8183880" y="1783080"/>
            <a:ext cx="3520440" cy="91440"/>
          </a:xfrm>
          <a:prstGeom prst="rect">
            <a:avLst/>
          </a:prstGeom>
          <a:solidFill>
            <a:srgbClr val="27D3BE"/>
          </a:solidFill>
          <a:ln w="12700">
            <a:solidFill>
              <a:srgbClr val="27D3BE"/>
            </a:solidFill>
            <a:prstDash val="solid"/>
          </a:ln>
        </p:spPr>
      </p:sp>
      <p:sp>
        <p:nvSpPr>
          <p:cNvPr id="14" name="Text 12"/>
          <p:cNvSpPr/>
          <p:nvPr/>
        </p:nvSpPr>
        <p:spPr>
          <a:xfrm>
            <a:off x="8458200" y="2057400"/>
            <a:ext cx="3017520" cy="45720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Les spécialités</a:t>
            </a:r>
            <a:endParaRPr lang="en-US" sz="2200" dirty="0"/>
          </a:p>
        </p:txBody>
      </p:sp>
      <p:sp>
        <p:nvSpPr>
          <p:cNvPr id="15" name="Text 13"/>
          <p:cNvSpPr/>
          <p:nvPr/>
        </p:nvSpPr>
        <p:spPr>
          <a:xfrm>
            <a:off x="8458200" y="2651760"/>
            <a:ext cx="3017520" cy="2377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plus de médecine de famille, de gériatrie, de soins palliatifs, de réadaptation ; la pédiatrie et l’obstétrique, avec moins de patients, mais des exigences plus élevées</a:t>
            </a:r>
            <a:endParaRPr lang="en-US" sz="1600" dirty="0"/>
          </a:p>
        </p:txBody>
      </p:sp>
      <p:sp>
        <p:nvSpPr>
          <p:cNvPr id="16" name="Shape 14"/>
          <p:cNvSpPr/>
          <p:nvPr/>
        </p:nvSpPr>
        <p:spPr>
          <a:xfrm>
            <a:off x="594360" y="5394960"/>
            <a:ext cx="10972800" cy="777240"/>
          </a:xfrm>
          <a:prstGeom prst="roundRect">
            <a:avLst>
              <a:gd name="adj" fmla="val 10588"/>
            </a:avLst>
          </a:prstGeom>
          <a:solidFill>
            <a:srgbClr val="272A38"/>
          </a:solidFill>
          <a:ln w="12700">
            <a:solidFill>
              <a:srgbClr val="272A38"/>
            </a:solidFill>
            <a:prstDash val="solid"/>
          </a:ln>
        </p:spPr>
      </p:sp>
      <p:sp>
        <p:nvSpPr>
          <p:cNvPr id="17" name="Text 15"/>
          <p:cNvSpPr/>
          <p:nvPr/>
        </p:nvSpPr>
        <p:spPr>
          <a:xfrm>
            <a:off x="868680" y="5394960"/>
            <a:ext cx="10424160" cy="777240"/>
          </a:xfrm>
          <a:prstGeom prst="rect">
            <a:avLst/>
          </a:prstGeom>
          <a:noFill/>
          <a:ln/>
        </p:spPr>
        <p:txBody>
          <a:bodyPr wrap="square" lIns="0" tIns="0" rIns="0" bIns="0" rtlCol="0" anchor="ctr"/>
          <a:lstStyle/>
          <a:p>
            <a:pPr indent="0" marL="0">
              <a:buNone/>
            </a:pPr>
            <a:r>
              <a:rPr lang="en-US" sz="1500" i="1" dirty="0">
                <a:solidFill>
                  <a:srgbClr val="D5D8E2"/>
                </a:solidFill>
                <a:latin typeface="Palatino Linotype" pitchFamily="34" charset="0"/>
                <a:ea typeface="Palatino Linotype" pitchFamily="34" charset="-122"/>
                <a:cs typeface="Palatino Linotype" pitchFamily="34" charset="-120"/>
              </a:rPr>
              <a:t>L’image « 4-2-1 » (quatre grands-parents, deux parents, un enfant) est une illustration, et non un chiffre mesuré pour la Roumanie.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NUAGE DE MOTS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Que signifie le vieillissement de la population pour votre spécialité ?</a:t>
            </a:r>
            <a:endParaRPr lang="en-US" sz="3000" dirty="0"/>
          </a:p>
        </p:txBody>
      </p:sp>
      <p:sp>
        <p:nvSpPr>
          <p:cNvPr id="6" name="Shape 4"/>
          <p:cNvSpPr/>
          <p:nvPr/>
        </p:nvSpPr>
        <p:spPr>
          <a:xfrm>
            <a:off x="594360" y="2103120"/>
            <a:ext cx="10972800" cy="2468880"/>
          </a:xfrm>
          <a:prstGeom prst="roundRect">
            <a:avLst>
              <a:gd name="adj" fmla="val 3333"/>
            </a:avLst>
          </a:prstGeom>
          <a:solidFill>
            <a:srgbClr val="1D1F2B"/>
          </a:solidFill>
          <a:ln w="12700">
            <a:solidFill>
              <a:srgbClr val="1D1F2B"/>
            </a:solidFill>
            <a:prstDash val="solid"/>
          </a:ln>
        </p:spPr>
      </p:sp>
      <p:sp>
        <p:nvSpPr>
          <p:cNvPr id="7" name="Text 5"/>
          <p:cNvSpPr/>
          <p:nvPr/>
        </p:nvSpPr>
        <p:spPr>
          <a:xfrm>
            <a:off x="914400" y="2103120"/>
            <a:ext cx="10332720" cy="2468880"/>
          </a:xfrm>
          <a:prstGeom prst="rect">
            <a:avLst/>
          </a:prstGeom>
          <a:noFill/>
          <a:ln/>
        </p:spPr>
        <p:txBody>
          <a:bodyPr wrap="square" lIns="0" tIns="0" rIns="0" bIns="0" rtlCol="0" anchor="ctr"/>
          <a:lstStyle/>
          <a:p>
            <a:pPr algn="ctr" indent="0" marL="0">
              <a:buNone/>
            </a:pPr>
            <a:r>
              <a:rPr lang="en-US" sz="3000" b="1" dirty="0">
                <a:solidFill>
                  <a:srgbClr val="FFFFFF"/>
                </a:solidFill>
                <a:latin typeface="Palatino Linotype" pitchFamily="34" charset="0"/>
                <a:ea typeface="Palatino Linotype" pitchFamily="34" charset="-122"/>
                <a:cs typeface="Palatino Linotype" pitchFamily="34" charset="-120"/>
              </a:rPr>
              <a:t>Un mot ou une expression courte.</a:t>
            </a:r>
            <a:endParaRPr lang="en-US" sz="3000" dirty="0"/>
          </a:p>
        </p:txBody>
      </p:sp>
      <p:sp>
        <p:nvSpPr>
          <p:cNvPr id="8" name="Text 6"/>
          <p:cNvSpPr/>
          <p:nvPr/>
        </p:nvSpPr>
        <p:spPr>
          <a:xfrm>
            <a:off x="594360" y="493776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Répondez sur votre téléphone, au code affiché. Deux envois au plus.</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MIGRATION ET LA SANTÉ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Trois voies par lesquelles le départ arrive au cabinet</a:t>
            </a:r>
            <a:endParaRPr lang="en-US" sz="3200" dirty="0"/>
          </a:p>
        </p:txBody>
      </p:sp>
      <p:sp>
        <p:nvSpPr>
          <p:cNvPr id="4" name="Shape 2"/>
          <p:cNvSpPr/>
          <p:nvPr/>
        </p:nvSpPr>
        <p:spPr>
          <a:xfrm>
            <a:off x="594360" y="1783080"/>
            <a:ext cx="3520440" cy="2926080"/>
          </a:xfrm>
          <a:prstGeom prst="roundRect">
            <a:avLst>
              <a:gd name="adj" fmla="val 2813"/>
            </a:avLst>
          </a:prstGeom>
          <a:solidFill>
            <a:srgbClr val="ECEAE4"/>
          </a:solidFill>
          <a:ln w="12700">
            <a:solidFill>
              <a:srgbClr val="ECEAE4"/>
            </a:solidFill>
            <a:prstDash val="solid"/>
          </a:ln>
        </p:spPr>
      </p:sp>
      <p:sp>
        <p:nvSpPr>
          <p:cNvPr id="5" name="Shape 3"/>
          <p:cNvSpPr/>
          <p:nvPr/>
        </p:nvSpPr>
        <p:spPr>
          <a:xfrm>
            <a:off x="868680" y="1965960"/>
            <a:ext cx="420624" cy="420624"/>
          </a:xfrm>
          <a:prstGeom prst="ellipse">
            <a:avLst/>
          </a:prstGeom>
          <a:solidFill>
            <a:srgbClr val="FF4757"/>
          </a:solidFill>
          <a:ln/>
        </p:spPr>
      </p:sp>
      <p:sp>
        <p:nvSpPr>
          <p:cNvPr id="6" name="Text 4"/>
          <p:cNvSpPr/>
          <p:nvPr/>
        </p:nvSpPr>
        <p:spPr>
          <a:xfrm>
            <a:off x="868680" y="1965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868680" y="2560320"/>
            <a:ext cx="3017520" cy="457200"/>
          </a:xfrm>
          <a:prstGeom prst="rect">
            <a:avLst/>
          </a:prstGeom>
          <a:noFill/>
          <a:ln/>
        </p:spPr>
        <p:txBody>
          <a:bodyPr wrap="square" lIns="0" tIns="0" rIns="0" bIns="0" rtlCol="0" anchor="t"/>
          <a:lstStyle/>
          <a:p>
            <a:pPr indent="0" marL="0">
              <a:buNone/>
            </a:pPr>
            <a:r>
              <a:rPr lang="en-US" sz="2100" b="1" dirty="0">
                <a:solidFill>
                  <a:srgbClr val="FF4757"/>
                </a:solidFill>
                <a:latin typeface="Palatino Linotype" pitchFamily="34" charset="0"/>
                <a:ea typeface="Palatino Linotype" pitchFamily="34" charset="-122"/>
                <a:cs typeface="Palatino Linotype" pitchFamily="34" charset="-120"/>
              </a:rPr>
              <a:t>Démographique</a:t>
            </a:r>
            <a:endParaRPr lang="en-US" sz="2100" dirty="0"/>
          </a:p>
        </p:txBody>
      </p:sp>
      <p:sp>
        <p:nvSpPr>
          <p:cNvPr id="8" name="Text 6"/>
          <p:cNvSpPr/>
          <p:nvPr/>
        </p:nvSpPr>
        <p:spPr>
          <a:xfrm>
            <a:off x="868680" y="3108960"/>
            <a:ext cx="30175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jeunes adultes partent : les naissances futures baissent, le vieillissement s’accélère</a:t>
            </a:r>
            <a:endParaRPr lang="en-US" sz="1600" dirty="0"/>
          </a:p>
        </p:txBody>
      </p:sp>
      <p:sp>
        <p:nvSpPr>
          <p:cNvPr id="9" name="Shape 7"/>
          <p:cNvSpPr/>
          <p:nvPr/>
        </p:nvSpPr>
        <p:spPr>
          <a:xfrm>
            <a:off x="4389120" y="1783080"/>
            <a:ext cx="3520440" cy="2926080"/>
          </a:xfrm>
          <a:prstGeom prst="roundRect">
            <a:avLst>
              <a:gd name="adj" fmla="val 2813"/>
            </a:avLst>
          </a:prstGeom>
          <a:solidFill>
            <a:srgbClr val="ECEAE4"/>
          </a:solidFill>
          <a:ln w="12700">
            <a:solidFill>
              <a:srgbClr val="ECEAE4"/>
            </a:solidFill>
            <a:prstDash val="solid"/>
          </a:ln>
        </p:spPr>
      </p:sp>
      <p:sp>
        <p:nvSpPr>
          <p:cNvPr id="10" name="Shape 8"/>
          <p:cNvSpPr/>
          <p:nvPr/>
        </p:nvSpPr>
        <p:spPr>
          <a:xfrm>
            <a:off x="4663440" y="1965960"/>
            <a:ext cx="420624" cy="420624"/>
          </a:xfrm>
          <a:prstGeom prst="ellipse">
            <a:avLst/>
          </a:prstGeom>
          <a:solidFill>
            <a:srgbClr val="0E7C6B"/>
          </a:solidFill>
          <a:ln/>
        </p:spPr>
      </p:sp>
      <p:sp>
        <p:nvSpPr>
          <p:cNvPr id="11" name="Text 9"/>
          <p:cNvSpPr/>
          <p:nvPr/>
        </p:nvSpPr>
        <p:spPr>
          <a:xfrm>
            <a:off x="4663440" y="1965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4663440" y="2560320"/>
            <a:ext cx="3017520" cy="45720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Familiale</a:t>
            </a:r>
            <a:endParaRPr lang="en-US" sz="2100" dirty="0"/>
          </a:p>
        </p:txBody>
      </p:sp>
      <p:sp>
        <p:nvSpPr>
          <p:cNvPr id="13" name="Text 11"/>
          <p:cNvSpPr/>
          <p:nvPr/>
        </p:nvSpPr>
        <p:spPr>
          <a:xfrm>
            <a:off x="4663440" y="3108960"/>
            <a:ext cx="30175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enfants restés avec les grands-parents et les personnes âgées restées seules ont des besoins de soins</a:t>
            </a:r>
            <a:endParaRPr lang="en-US" sz="1600" dirty="0"/>
          </a:p>
        </p:txBody>
      </p:sp>
      <p:sp>
        <p:nvSpPr>
          <p:cNvPr id="14" name="Shape 12"/>
          <p:cNvSpPr/>
          <p:nvPr/>
        </p:nvSpPr>
        <p:spPr>
          <a:xfrm>
            <a:off x="8183880" y="1783080"/>
            <a:ext cx="3520440" cy="2926080"/>
          </a:xfrm>
          <a:prstGeom prst="roundRect">
            <a:avLst>
              <a:gd name="adj" fmla="val 2813"/>
            </a:avLst>
          </a:prstGeom>
          <a:solidFill>
            <a:srgbClr val="ECEAE4"/>
          </a:solidFill>
          <a:ln w="12700">
            <a:solidFill>
              <a:srgbClr val="ECEAE4"/>
            </a:solidFill>
            <a:prstDash val="solid"/>
          </a:ln>
        </p:spPr>
      </p:sp>
      <p:sp>
        <p:nvSpPr>
          <p:cNvPr id="15" name="Shape 13"/>
          <p:cNvSpPr/>
          <p:nvPr/>
        </p:nvSpPr>
        <p:spPr>
          <a:xfrm>
            <a:off x="8458200" y="1965960"/>
            <a:ext cx="420624" cy="420624"/>
          </a:xfrm>
          <a:prstGeom prst="ellipse">
            <a:avLst/>
          </a:prstGeom>
          <a:solidFill>
            <a:srgbClr val="8A6100"/>
          </a:solidFill>
          <a:ln/>
        </p:spPr>
      </p:sp>
      <p:sp>
        <p:nvSpPr>
          <p:cNvPr id="16" name="Text 14"/>
          <p:cNvSpPr/>
          <p:nvPr/>
        </p:nvSpPr>
        <p:spPr>
          <a:xfrm>
            <a:off x="8458200" y="1965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8458200" y="2560320"/>
            <a:ext cx="3017520" cy="457200"/>
          </a:xfrm>
          <a:prstGeom prst="rect">
            <a:avLst/>
          </a:prstGeom>
          <a:noFill/>
          <a:ln/>
        </p:spPr>
        <p:txBody>
          <a:bodyPr wrap="square" lIns="0" tIns="0" rIns="0" bIns="0" rtlCol="0" anchor="t"/>
          <a:lstStyle/>
          <a:p>
            <a:pPr indent="0" marL="0">
              <a:buNone/>
            </a:pPr>
            <a:r>
              <a:rPr lang="en-US" sz="2100" b="1" dirty="0">
                <a:solidFill>
                  <a:srgbClr val="8A6100"/>
                </a:solidFill>
                <a:latin typeface="Palatino Linotype" pitchFamily="34" charset="0"/>
                <a:ea typeface="Palatino Linotype" pitchFamily="34" charset="-122"/>
                <a:cs typeface="Palatino Linotype" pitchFamily="34" charset="-120"/>
              </a:rPr>
              <a:t>Professionnelle</a:t>
            </a:r>
            <a:endParaRPr lang="en-US" sz="2100" dirty="0"/>
          </a:p>
        </p:txBody>
      </p:sp>
      <p:sp>
        <p:nvSpPr>
          <p:cNvPr id="18" name="Text 16"/>
          <p:cNvSpPr/>
          <p:nvPr/>
        </p:nvSpPr>
        <p:spPr>
          <a:xfrm>
            <a:off x="8458200" y="3108960"/>
            <a:ext cx="30175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des médecins et des infirmiers formés en Roumanie travaillent dans d’autres États ; ceux qui restent sont inégalement répartis</a:t>
            </a:r>
            <a:endParaRPr lang="en-US" sz="1600" dirty="0"/>
          </a:p>
        </p:txBody>
      </p:sp>
      <p:sp>
        <p:nvSpPr>
          <p:cNvPr id="19" name="Shape 17"/>
          <p:cNvSpPr/>
          <p:nvPr/>
        </p:nvSpPr>
        <p:spPr>
          <a:xfrm>
            <a:off x="594360" y="4937760"/>
            <a:ext cx="10972800" cy="1143000"/>
          </a:xfrm>
          <a:prstGeom prst="roundRect">
            <a:avLst>
              <a:gd name="adj" fmla="val 7200"/>
            </a:avLst>
          </a:prstGeom>
          <a:solidFill>
            <a:srgbClr val="11121A"/>
          </a:solidFill>
          <a:ln w="12700">
            <a:solidFill>
              <a:srgbClr val="11121A"/>
            </a:solidFill>
            <a:prstDash val="solid"/>
          </a:ln>
        </p:spPr>
      </p:sp>
      <p:sp>
        <p:nvSpPr>
          <p:cNvPr id="20" name="Text 18"/>
          <p:cNvSpPr/>
          <p:nvPr/>
        </p:nvSpPr>
        <p:spPr>
          <a:xfrm>
            <a:off x="868680" y="4937760"/>
            <a:ext cx="10424160" cy="11430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Ce que nous ne savons pas : les statistiques européennes ne publient pas le solde migratoire par profession, et les estimations sur les médecins partis n’ont pas pu être confrontées à une source publiée.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SCÉNARIO DE TYPE « QUE SE PASSERAIT-IL SI »</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Population de la Roumanie, scénario de référence</a:t>
            </a:r>
            <a:endParaRPr lang="en-US" sz="3000" dirty="0"/>
          </a:p>
        </p:txBody>
      </p:sp>
      <p:sp>
        <p:nvSpPr>
          <p:cNvPr id="4" name="Shape 2"/>
          <p:cNvSpPr/>
          <p:nvPr/>
        </p:nvSpPr>
        <p:spPr>
          <a:xfrm>
            <a:off x="868680" y="2609138"/>
            <a:ext cx="868680" cy="2785822"/>
          </a:xfrm>
          <a:prstGeom prst="rect">
            <a:avLst/>
          </a:prstGeom>
          <a:solidFill>
            <a:srgbClr val="4B5068"/>
          </a:solidFill>
          <a:ln w="12700">
            <a:solidFill>
              <a:srgbClr val="4B5068"/>
            </a:solidFill>
            <a:prstDash val="solid"/>
          </a:ln>
        </p:spPr>
      </p:sp>
      <p:sp>
        <p:nvSpPr>
          <p:cNvPr id="5" name="Text 3"/>
          <p:cNvSpPr/>
          <p:nvPr/>
        </p:nvSpPr>
        <p:spPr>
          <a:xfrm>
            <a:off x="594360" y="2243378"/>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19 041 322</a:t>
            </a:r>
            <a:endParaRPr lang="en-US" sz="1400" dirty="0"/>
          </a:p>
        </p:txBody>
      </p:sp>
      <p:sp>
        <p:nvSpPr>
          <p:cNvPr id="6" name="Text 4"/>
          <p:cNvSpPr/>
          <p:nvPr/>
        </p:nvSpPr>
        <p:spPr>
          <a:xfrm>
            <a:off x="68580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2026</a:t>
            </a:r>
            <a:endParaRPr lang="en-US" sz="1300" dirty="0"/>
          </a:p>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estimation</a:t>
            </a:r>
            <a:endParaRPr lang="en-US" sz="1300" dirty="0"/>
          </a:p>
        </p:txBody>
      </p:sp>
      <p:sp>
        <p:nvSpPr>
          <p:cNvPr id="7" name="Shape 5"/>
          <p:cNvSpPr/>
          <p:nvPr/>
        </p:nvSpPr>
        <p:spPr>
          <a:xfrm>
            <a:off x="2057400" y="2658088"/>
            <a:ext cx="868680" cy="2736872"/>
          </a:xfrm>
          <a:prstGeom prst="rect">
            <a:avLst/>
          </a:prstGeom>
          <a:solidFill>
            <a:srgbClr val="27D3BE"/>
          </a:solidFill>
          <a:ln w="12700">
            <a:solidFill>
              <a:srgbClr val="27D3BE"/>
            </a:solidFill>
            <a:prstDash val="solid"/>
          </a:ln>
        </p:spPr>
      </p:sp>
      <p:sp>
        <p:nvSpPr>
          <p:cNvPr id="8" name="Text 6"/>
          <p:cNvSpPr/>
          <p:nvPr/>
        </p:nvSpPr>
        <p:spPr>
          <a:xfrm>
            <a:off x="1783080" y="2292328"/>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18 706 751</a:t>
            </a:r>
            <a:endParaRPr lang="en-US" sz="1400" dirty="0"/>
          </a:p>
        </p:txBody>
      </p:sp>
      <p:sp>
        <p:nvSpPr>
          <p:cNvPr id="9" name="Text 7"/>
          <p:cNvSpPr/>
          <p:nvPr/>
        </p:nvSpPr>
        <p:spPr>
          <a:xfrm>
            <a:off x="187452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2030</a:t>
            </a:r>
            <a:endParaRPr lang="en-US" sz="1300" dirty="0"/>
          </a:p>
        </p:txBody>
      </p:sp>
      <p:sp>
        <p:nvSpPr>
          <p:cNvPr id="10" name="Shape 8"/>
          <p:cNvSpPr/>
          <p:nvPr/>
        </p:nvSpPr>
        <p:spPr>
          <a:xfrm>
            <a:off x="3246120" y="2776653"/>
            <a:ext cx="868680" cy="2618307"/>
          </a:xfrm>
          <a:prstGeom prst="rect">
            <a:avLst/>
          </a:prstGeom>
          <a:solidFill>
            <a:srgbClr val="27D3BE"/>
          </a:solidFill>
          <a:ln w="12700">
            <a:solidFill>
              <a:srgbClr val="27D3BE"/>
            </a:solidFill>
            <a:prstDash val="solid"/>
          </a:ln>
        </p:spPr>
      </p:sp>
      <p:sp>
        <p:nvSpPr>
          <p:cNvPr id="11" name="Text 9"/>
          <p:cNvSpPr/>
          <p:nvPr/>
        </p:nvSpPr>
        <p:spPr>
          <a:xfrm>
            <a:off x="2971800" y="2410893"/>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17 896 346</a:t>
            </a:r>
            <a:endParaRPr lang="en-US" sz="1400" dirty="0"/>
          </a:p>
        </p:txBody>
      </p:sp>
      <p:sp>
        <p:nvSpPr>
          <p:cNvPr id="12" name="Text 10"/>
          <p:cNvSpPr/>
          <p:nvPr/>
        </p:nvSpPr>
        <p:spPr>
          <a:xfrm>
            <a:off x="306324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2040</a:t>
            </a:r>
            <a:endParaRPr lang="en-US" sz="1300" dirty="0"/>
          </a:p>
        </p:txBody>
      </p:sp>
      <p:sp>
        <p:nvSpPr>
          <p:cNvPr id="13" name="Shape 11"/>
          <p:cNvSpPr/>
          <p:nvPr/>
        </p:nvSpPr>
        <p:spPr>
          <a:xfrm>
            <a:off x="4434840" y="2886088"/>
            <a:ext cx="868680" cy="2508872"/>
          </a:xfrm>
          <a:prstGeom prst="rect">
            <a:avLst/>
          </a:prstGeom>
          <a:solidFill>
            <a:srgbClr val="FF4757"/>
          </a:solidFill>
          <a:ln w="12700">
            <a:solidFill>
              <a:srgbClr val="FF4757"/>
            </a:solidFill>
            <a:prstDash val="solid"/>
          </a:ln>
        </p:spPr>
      </p:sp>
      <p:sp>
        <p:nvSpPr>
          <p:cNvPr id="14" name="Text 12"/>
          <p:cNvSpPr/>
          <p:nvPr/>
        </p:nvSpPr>
        <p:spPr>
          <a:xfrm>
            <a:off x="4160520" y="2520328"/>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17 148 348</a:t>
            </a:r>
            <a:endParaRPr lang="en-US" sz="1400" dirty="0"/>
          </a:p>
        </p:txBody>
      </p:sp>
      <p:sp>
        <p:nvSpPr>
          <p:cNvPr id="15" name="Text 13"/>
          <p:cNvSpPr/>
          <p:nvPr/>
        </p:nvSpPr>
        <p:spPr>
          <a:xfrm>
            <a:off x="425196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2050</a:t>
            </a:r>
            <a:endParaRPr lang="en-US" sz="1300" dirty="0"/>
          </a:p>
        </p:txBody>
      </p:sp>
      <p:sp>
        <p:nvSpPr>
          <p:cNvPr id="16" name="Shape 14"/>
          <p:cNvSpPr/>
          <p:nvPr/>
        </p:nvSpPr>
        <p:spPr>
          <a:xfrm>
            <a:off x="5623560" y="3005300"/>
            <a:ext cx="868680" cy="2389660"/>
          </a:xfrm>
          <a:prstGeom prst="rect">
            <a:avLst/>
          </a:prstGeom>
          <a:solidFill>
            <a:srgbClr val="27D3BE"/>
          </a:solidFill>
          <a:ln w="12700">
            <a:solidFill>
              <a:srgbClr val="27D3BE"/>
            </a:solidFill>
            <a:prstDash val="solid"/>
          </a:ln>
        </p:spPr>
      </p:sp>
      <p:sp>
        <p:nvSpPr>
          <p:cNvPr id="17" name="Text 15"/>
          <p:cNvSpPr/>
          <p:nvPr/>
        </p:nvSpPr>
        <p:spPr>
          <a:xfrm>
            <a:off x="5349240" y="2639540"/>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16 333 523</a:t>
            </a:r>
            <a:endParaRPr lang="en-US" sz="1400" dirty="0"/>
          </a:p>
        </p:txBody>
      </p:sp>
      <p:sp>
        <p:nvSpPr>
          <p:cNvPr id="18" name="Text 16"/>
          <p:cNvSpPr/>
          <p:nvPr/>
        </p:nvSpPr>
        <p:spPr>
          <a:xfrm>
            <a:off x="544068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2060</a:t>
            </a:r>
            <a:endParaRPr lang="en-US" sz="1300" dirty="0"/>
          </a:p>
        </p:txBody>
      </p:sp>
      <p:sp>
        <p:nvSpPr>
          <p:cNvPr id="19" name="Shape 17"/>
          <p:cNvSpPr/>
          <p:nvPr/>
        </p:nvSpPr>
        <p:spPr>
          <a:xfrm>
            <a:off x="6812280" y="3287074"/>
            <a:ext cx="868680" cy="2107886"/>
          </a:xfrm>
          <a:prstGeom prst="rect">
            <a:avLst/>
          </a:prstGeom>
          <a:solidFill>
            <a:srgbClr val="27D3BE"/>
          </a:solidFill>
          <a:ln w="12700">
            <a:solidFill>
              <a:srgbClr val="27D3BE"/>
            </a:solidFill>
            <a:prstDash val="solid"/>
          </a:ln>
        </p:spPr>
      </p:sp>
      <p:sp>
        <p:nvSpPr>
          <p:cNvPr id="20" name="Text 18"/>
          <p:cNvSpPr/>
          <p:nvPr/>
        </p:nvSpPr>
        <p:spPr>
          <a:xfrm>
            <a:off x="6537960" y="2921314"/>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14 407 573</a:t>
            </a:r>
            <a:endParaRPr lang="en-US" sz="1400" dirty="0"/>
          </a:p>
        </p:txBody>
      </p:sp>
      <p:sp>
        <p:nvSpPr>
          <p:cNvPr id="21" name="Text 19"/>
          <p:cNvSpPr/>
          <p:nvPr/>
        </p:nvSpPr>
        <p:spPr>
          <a:xfrm>
            <a:off x="662940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2100</a:t>
            </a:r>
            <a:endParaRPr lang="en-US" sz="1300" dirty="0"/>
          </a:p>
        </p:txBody>
      </p:sp>
      <p:sp>
        <p:nvSpPr>
          <p:cNvPr id="22" name="Shape 20"/>
          <p:cNvSpPr/>
          <p:nvPr/>
        </p:nvSpPr>
        <p:spPr>
          <a:xfrm>
            <a:off x="685800" y="5394960"/>
            <a:ext cx="7178040" cy="22860"/>
          </a:xfrm>
          <a:prstGeom prst="rect">
            <a:avLst/>
          </a:prstGeom>
          <a:solidFill>
            <a:srgbClr val="6A6F85"/>
          </a:solidFill>
          <a:ln w="12700">
            <a:solidFill>
              <a:srgbClr val="6A6F85"/>
            </a:solidFill>
            <a:prstDash val="solid"/>
          </a:ln>
        </p:spPr>
      </p:sp>
      <p:sp>
        <p:nvSpPr>
          <p:cNvPr id="23" name="Shape 21"/>
          <p:cNvSpPr/>
          <p:nvPr/>
        </p:nvSpPr>
        <p:spPr>
          <a:xfrm>
            <a:off x="8092440" y="1783080"/>
            <a:ext cx="3474720" cy="4251960"/>
          </a:xfrm>
          <a:prstGeom prst="roundRect">
            <a:avLst>
              <a:gd name="adj" fmla="val 2368"/>
            </a:avLst>
          </a:prstGeom>
          <a:solidFill>
            <a:srgbClr val="1D1F2B"/>
          </a:solidFill>
          <a:ln w="12700">
            <a:solidFill>
              <a:srgbClr val="1D1F2B"/>
            </a:solidFill>
            <a:prstDash val="solid"/>
          </a:ln>
        </p:spPr>
      </p:sp>
      <p:sp>
        <p:nvSpPr>
          <p:cNvPr id="24" name="Text 22"/>
          <p:cNvSpPr/>
          <p:nvPr/>
        </p:nvSpPr>
        <p:spPr>
          <a:xfrm>
            <a:off x="8321040" y="1920240"/>
            <a:ext cx="3017520" cy="17373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En 2050 : baisse de 10,0 % par rapport à 2025 ; personnes de 65+ : 27,4 % ; rapport de dépendance des personnes âgées : 46,4.</a:t>
            </a:r>
            <a:endParaRPr lang="en-US" sz="1400" dirty="0"/>
          </a:p>
        </p:txBody>
      </p:sp>
      <p:sp>
        <p:nvSpPr>
          <p:cNvPr id="25" name="Text 23"/>
          <p:cNvSpPr/>
          <p:nvPr/>
        </p:nvSpPr>
        <p:spPr>
          <a:xfrm>
            <a:off x="8321040" y="3749040"/>
            <a:ext cx="3017520" cy="2194560"/>
          </a:xfrm>
          <a:prstGeom prst="rect">
            <a:avLst/>
          </a:prstGeom>
          <a:noFill/>
          <a:ln/>
        </p:spPr>
        <p:txBody>
          <a:bodyPr wrap="square" lIns="0" tIns="0" rIns="0" bIns="0" rtlCol="0" anchor="t"/>
          <a:lstStyle/>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Une projection n’est pas une prévision : elle montre ce qui se passerait si les hypothèses se vérifiaient. Les tests de sensibilité modifient une hypothèse à la fois (migration nulle, fécondité plus faible). La migration : une hypothèse à surveiller.</a:t>
            </a:r>
            <a:endParaRPr lang="en-US" sz="13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EUROPOP2025.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RETOUR À L’ESTIMATION DES PREMIÈRES MINUTES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Qu’a estimé la salle pour 2050 ?</a:t>
            </a:r>
            <a:endParaRPr lang="en-US" sz="3400" dirty="0"/>
          </a:p>
        </p:txBody>
      </p:sp>
      <p:sp>
        <p:nvSpPr>
          <p:cNvPr id="6" name="Shape 4"/>
          <p:cNvSpPr/>
          <p:nvPr/>
        </p:nvSpPr>
        <p:spPr>
          <a:xfrm>
            <a:off x="594360" y="1920240"/>
            <a:ext cx="5349240" cy="3108960"/>
          </a:xfrm>
          <a:prstGeom prst="roundRect">
            <a:avLst>
              <a:gd name="adj" fmla="val 2647"/>
            </a:avLst>
          </a:prstGeom>
          <a:solidFill>
            <a:srgbClr val="1D1F2B"/>
          </a:solidFill>
          <a:ln w="12700">
            <a:solidFill>
              <a:srgbClr val="1D1F2B"/>
            </a:solidFill>
            <a:prstDash val="solid"/>
          </a:ln>
        </p:spPr>
      </p:sp>
      <p:sp>
        <p:nvSpPr>
          <p:cNvPr id="7" name="Text 5"/>
          <p:cNvSpPr/>
          <p:nvPr/>
        </p:nvSpPr>
        <p:spPr>
          <a:xfrm>
            <a:off x="868680" y="2057400"/>
            <a:ext cx="4754880" cy="36576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L’ESTIMATION DE LA SALLE</a:t>
            </a:r>
            <a:endParaRPr lang="en-US" sz="1300" dirty="0"/>
          </a:p>
        </p:txBody>
      </p:sp>
      <p:sp>
        <p:nvSpPr>
          <p:cNvPr id="8" name="Text 6"/>
          <p:cNvSpPr/>
          <p:nvPr/>
        </p:nvSpPr>
        <p:spPr>
          <a:xfrm>
            <a:off x="868680" y="2560320"/>
            <a:ext cx="4754880" cy="2194560"/>
          </a:xfrm>
          <a:prstGeom prst="rect">
            <a:avLst/>
          </a:prstGeom>
          <a:noFill/>
          <a:ln/>
        </p:spPr>
        <p:txBody>
          <a:bodyPr wrap="square" lIns="0" tIns="0" rIns="0" bIns="0" rtlCol="0" anchor="t"/>
          <a:lstStyle/>
          <a:p>
            <a:pPr indent="0" marL="0">
              <a:buNone/>
            </a:pPr>
            <a:r>
              <a:rPr lang="en-US" sz="2400" i="1" dirty="0">
                <a:solidFill>
                  <a:srgbClr val="959BB0"/>
                </a:solidFill>
                <a:latin typeface="Palatino Linotype" pitchFamily="34" charset="0"/>
                <a:ea typeface="Palatino Linotype" pitchFamily="34" charset="-122"/>
                <a:cs typeface="Palatino Linotype" pitchFamily="34" charset="-120"/>
              </a:rPr>
              <a:t>Les résultats du début du cours</a:t>
            </a:r>
            <a:endParaRPr lang="en-US" sz="2400" dirty="0"/>
          </a:p>
        </p:txBody>
      </p:sp>
      <p:sp>
        <p:nvSpPr>
          <p:cNvPr id="9" name="Shape 7"/>
          <p:cNvSpPr/>
          <p:nvPr/>
        </p:nvSpPr>
        <p:spPr>
          <a:xfrm>
            <a:off x="6217920" y="1920240"/>
            <a:ext cx="5349240" cy="3108960"/>
          </a:xfrm>
          <a:prstGeom prst="roundRect">
            <a:avLst>
              <a:gd name="adj" fmla="val 2647"/>
            </a:avLst>
          </a:prstGeom>
          <a:solidFill>
            <a:srgbClr val="272A38"/>
          </a:solidFill>
          <a:ln w="12700">
            <a:solidFill>
              <a:srgbClr val="272A38"/>
            </a:solidFill>
            <a:prstDash val="solid"/>
          </a:ln>
        </p:spPr>
      </p:sp>
      <p:sp>
        <p:nvSpPr>
          <p:cNvPr id="10" name="Text 8"/>
          <p:cNvSpPr/>
          <p:nvPr/>
        </p:nvSpPr>
        <p:spPr>
          <a:xfrm>
            <a:off x="6492240" y="2057400"/>
            <a:ext cx="4754880" cy="36576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SCÉNARIO DE RÉFÉRENCE, 2050</a:t>
            </a:r>
            <a:endParaRPr lang="en-US" sz="1300" dirty="0"/>
          </a:p>
        </p:txBody>
      </p:sp>
      <p:sp>
        <p:nvSpPr>
          <p:cNvPr id="11" name="Text 9"/>
          <p:cNvSpPr/>
          <p:nvPr/>
        </p:nvSpPr>
        <p:spPr>
          <a:xfrm>
            <a:off x="6492240" y="2560320"/>
            <a:ext cx="4754880" cy="1097280"/>
          </a:xfrm>
          <a:prstGeom prst="rect">
            <a:avLst/>
          </a:prstGeom>
          <a:noFill/>
          <a:ln/>
        </p:spPr>
        <p:txBody>
          <a:bodyPr wrap="square" lIns="0" tIns="0" rIns="0" bIns="0" rtlCol="0" anchor="ctr"/>
          <a:lstStyle/>
          <a:p>
            <a:pPr indent="0" marL="0">
              <a:buNone/>
            </a:pPr>
            <a:r>
              <a:rPr lang="en-US" sz="5200" b="1" dirty="0">
                <a:solidFill>
                  <a:srgbClr val="FFFFFF"/>
                </a:solidFill>
                <a:latin typeface="Palatino Linotype" pitchFamily="34" charset="0"/>
                <a:ea typeface="Palatino Linotype" pitchFamily="34" charset="-122"/>
                <a:cs typeface="Palatino Linotype" pitchFamily="34" charset="-120"/>
              </a:rPr>
              <a:t>17 148 348</a:t>
            </a:r>
            <a:endParaRPr lang="en-US" sz="5200" dirty="0"/>
          </a:p>
        </p:txBody>
      </p:sp>
      <p:sp>
        <p:nvSpPr>
          <p:cNvPr id="12" name="Text 10"/>
          <p:cNvSpPr/>
          <p:nvPr/>
        </p:nvSpPr>
        <p:spPr>
          <a:xfrm>
            <a:off x="6492240" y="3749040"/>
            <a:ext cx="4754880" cy="45720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habitants (EUROPOP2025)</a:t>
            </a:r>
            <a:endParaRPr lang="en-US" sz="1700" dirty="0"/>
          </a:p>
        </p:txBody>
      </p:sp>
      <p:sp>
        <p:nvSpPr>
          <p:cNvPr id="13" name="Text 11"/>
          <p:cNvSpPr/>
          <p:nvPr/>
        </p:nvSpPr>
        <p:spPr>
          <a:xfrm>
            <a:off x="594360" y="5303520"/>
            <a:ext cx="10972800" cy="73152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Quelle hypothèse faudrait-il modifier pour que la population cesse de diminuer ? Est-ce réaliste ?</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NOUVEAU TERME 3</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La mortalité infantile</a:t>
            </a:r>
            <a:endParaRPr lang="en-US" sz="3600" dirty="0"/>
          </a:p>
        </p:txBody>
      </p:sp>
      <p:sp>
        <p:nvSpPr>
          <p:cNvPr id="4" name="Text 2"/>
          <p:cNvSpPr/>
          <p:nvPr/>
        </p:nvSpPr>
        <p:spPr>
          <a:xfrm>
            <a:off x="594360" y="1554480"/>
            <a:ext cx="10972800" cy="50292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Combien d’enfants, sur mille nés vivants, meurent avant d’avoir un an.</a:t>
            </a:r>
            <a:endParaRPr lang="en-US" sz="2000" dirty="0"/>
          </a:p>
        </p:txBody>
      </p:sp>
      <p:sp>
        <p:nvSpPr>
          <p:cNvPr id="5" name="Shape 3"/>
          <p:cNvSpPr/>
          <p:nvPr/>
        </p:nvSpPr>
        <p:spPr>
          <a:xfrm>
            <a:off x="594360" y="2331720"/>
            <a:ext cx="2743200" cy="685800"/>
          </a:xfrm>
          <a:prstGeom prst="roundRect">
            <a:avLst>
              <a:gd name="adj" fmla="val 10667"/>
            </a:avLst>
          </a:prstGeom>
          <a:solidFill>
            <a:srgbClr val="FF4757"/>
          </a:solidFill>
          <a:ln w="12700">
            <a:solidFill>
              <a:srgbClr val="FF4757"/>
            </a:solidFill>
            <a:prstDash val="solid"/>
          </a:ln>
        </p:spPr>
      </p:sp>
      <p:sp>
        <p:nvSpPr>
          <p:cNvPr id="6" name="Text 4"/>
          <p:cNvSpPr/>
          <p:nvPr/>
        </p:nvSpPr>
        <p:spPr>
          <a:xfrm>
            <a:off x="594360" y="2331720"/>
            <a:ext cx="2743200" cy="68580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néonatale · les 28 premiers jours</a:t>
            </a:r>
            <a:endParaRPr lang="en-US" sz="1400" dirty="0"/>
          </a:p>
        </p:txBody>
      </p:sp>
      <p:sp>
        <p:nvSpPr>
          <p:cNvPr id="7" name="Shape 5"/>
          <p:cNvSpPr/>
          <p:nvPr/>
        </p:nvSpPr>
        <p:spPr>
          <a:xfrm>
            <a:off x="3337560" y="2331720"/>
            <a:ext cx="8229600" cy="685800"/>
          </a:xfrm>
          <a:prstGeom prst="roundRect">
            <a:avLst>
              <a:gd name="adj" fmla="val 10667"/>
            </a:avLst>
          </a:prstGeom>
          <a:solidFill>
            <a:srgbClr val="0E7C6B"/>
          </a:solidFill>
          <a:ln w="12700">
            <a:solidFill>
              <a:srgbClr val="0E7C6B"/>
            </a:solidFill>
            <a:prstDash val="solid"/>
          </a:ln>
        </p:spPr>
      </p:sp>
      <p:sp>
        <p:nvSpPr>
          <p:cNvPr id="8" name="Text 6"/>
          <p:cNvSpPr/>
          <p:nvPr/>
        </p:nvSpPr>
        <p:spPr>
          <a:xfrm>
            <a:off x="3337560" y="2331720"/>
            <a:ext cx="82296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post-néonatale · de 28 jours à un an</a:t>
            </a:r>
            <a:endParaRPr lang="en-US" sz="1400" dirty="0"/>
          </a:p>
        </p:txBody>
      </p:sp>
      <p:sp>
        <p:nvSpPr>
          <p:cNvPr id="9" name="Text 7"/>
          <p:cNvSpPr/>
          <p:nvPr/>
        </p:nvSpPr>
        <p:spPr>
          <a:xfrm>
            <a:off x="594360" y="3063240"/>
            <a:ext cx="1371600" cy="274320"/>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naissance</a:t>
            </a:r>
            <a:endParaRPr lang="en-US" sz="1200" dirty="0"/>
          </a:p>
        </p:txBody>
      </p:sp>
      <p:sp>
        <p:nvSpPr>
          <p:cNvPr id="10" name="Text 8"/>
          <p:cNvSpPr/>
          <p:nvPr/>
        </p:nvSpPr>
        <p:spPr>
          <a:xfrm>
            <a:off x="10195560" y="3063240"/>
            <a:ext cx="1371600" cy="274320"/>
          </a:xfrm>
          <a:prstGeom prst="rect">
            <a:avLst/>
          </a:prstGeom>
          <a:noFill/>
          <a:ln/>
        </p:spPr>
        <p:txBody>
          <a:bodyPr wrap="square" lIns="0" tIns="0" rIns="0" bIns="0" rtlCol="0" anchor="t"/>
          <a:lstStyle/>
          <a:p>
            <a:pPr algn="r" indent="0" marL="0">
              <a:buNone/>
            </a:pPr>
            <a:r>
              <a:rPr lang="en-US" sz="1200" dirty="0">
                <a:solidFill>
                  <a:srgbClr val="585A64"/>
                </a:solidFill>
                <a:latin typeface="Palatino Linotype" pitchFamily="34" charset="0"/>
                <a:ea typeface="Palatino Linotype" pitchFamily="34" charset="-122"/>
                <a:cs typeface="Palatino Linotype" pitchFamily="34" charset="-120"/>
              </a:rPr>
              <a:t>un an</a:t>
            </a:r>
            <a:endParaRPr lang="en-US" sz="1200" dirty="0"/>
          </a:p>
        </p:txBody>
      </p:sp>
      <p:sp>
        <p:nvSpPr>
          <p:cNvPr id="11" name="Shape 9"/>
          <p:cNvSpPr/>
          <p:nvPr/>
        </p:nvSpPr>
        <p:spPr>
          <a:xfrm>
            <a:off x="594360" y="3566160"/>
            <a:ext cx="5349240" cy="2468880"/>
          </a:xfrm>
          <a:prstGeom prst="roundRect">
            <a:avLst>
              <a:gd name="adj" fmla="val 3333"/>
            </a:avLst>
          </a:prstGeom>
          <a:solidFill>
            <a:srgbClr val="ECEAE4"/>
          </a:solidFill>
          <a:ln w="12700">
            <a:solidFill>
              <a:srgbClr val="ECEAE4"/>
            </a:solidFill>
            <a:prstDash val="solid"/>
          </a:ln>
        </p:spPr>
      </p:sp>
      <p:sp>
        <p:nvSpPr>
          <p:cNvPr id="12" name="Text 10"/>
          <p:cNvSpPr/>
          <p:nvPr/>
        </p:nvSpPr>
        <p:spPr>
          <a:xfrm>
            <a:off x="868680" y="3566160"/>
            <a:ext cx="4846320" cy="24688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Causes des décès néonatals, selon l’OMS (à l’échelle mondiale) : la naissance prématurée, les complications de l’accouchement (l’asphyxie et le traumatisme obstétrical), les infections néonatales, les anomalies congénitales.</a:t>
            </a:r>
            <a:endParaRPr lang="en-US" sz="1600" dirty="0"/>
          </a:p>
        </p:txBody>
      </p:sp>
      <p:sp>
        <p:nvSpPr>
          <p:cNvPr id="13" name="Shape 11"/>
          <p:cNvSpPr/>
          <p:nvPr/>
        </p:nvSpPr>
        <p:spPr>
          <a:xfrm>
            <a:off x="6217920" y="3566160"/>
            <a:ext cx="5349240" cy="2468880"/>
          </a:xfrm>
          <a:prstGeom prst="roundRect">
            <a:avLst>
              <a:gd name="adj" fmla="val 3333"/>
            </a:avLst>
          </a:prstGeom>
          <a:solidFill>
            <a:srgbClr val="ECEAE4"/>
          </a:solidFill>
          <a:ln w="12700">
            <a:solidFill>
              <a:srgbClr val="ECEAE4"/>
            </a:solidFill>
            <a:prstDash val="solid"/>
          </a:ln>
        </p:spPr>
      </p:sp>
      <p:sp>
        <p:nvSpPr>
          <p:cNvPr id="14" name="Text 12"/>
          <p:cNvSpPr/>
          <p:nvPr/>
        </p:nvSpPr>
        <p:spPr>
          <a:xfrm>
            <a:off x="6492240" y="3566160"/>
            <a:ext cx="4846320" cy="24688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Causes des décès post-néonatals : ces notes n’ont pas de source qui les donne. La répartition des décès infantiles par cause, pour la Roumanie, n’a pas été extraite d’une source officielle.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VOTE SUR TÉLÉPHONE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Quelle part des décès néonatals survient, selon l’OMS, au cours de la première semaine de vie ?</a:t>
            </a:r>
            <a:endParaRPr lang="en-US" sz="2400" dirty="0"/>
          </a:p>
        </p:txBody>
      </p:sp>
      <p:sp>
        <p:nvSpPr>
          <p:cNvPr id="6" name="Shape 4"/>
          <p:cNvSpPr/>
          <p:nvPr/>
        </p:nvSpPr>
        <p:spPr>
          <a:xfrm>
            <a:off x="594360" y="2286000"/>
            <a:ext cx="5349240" cy="1097280"/>
          </a:xfrm>
          <a:prstGeom prst="roundRect">
            <a:avLst>
              <a:gd name="adj" fmla="val 7500"/>
            </a:avLst>
          </a:prstGeom>
          <a:solidFill>
            <a:srgbClr val="1D1F2B"/>
          </a:solidFill>
          <a:ln w="12700">
            <a:solidFill>
              <a:srgbClr val="1D1F2B"/>
            </a:solidFill>
            <a:prstDash val="solid"/>
          </a:ln>
        </p:spPr>
      </p:sp>
      <p:sp>
        <p:nvSpPr>
          <p:cNvPr id="7" name="Text 5"/>
          <p:cNvSpPr/>
          <p:nvPr/>
        </p:nvSpPr>
        <p:spPr>
          <a:xfrm>
            <a:off x="731520" y="2286000"/>
            <a:ext cx="507492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A  ·  environ un quart</a:t>
            </a:r>
            <a:endParaRPr lang="en-US" sz="2200" dirty="0"/>
          </a:p>
        </p:txBody>
      </p:sp>
      <p:sp>
        <p:nvSpPr>
          <p:cNvPr id="8" name="Shape 6"/>
          <p:cNvSpPr/>
          <p:nvPr/>
        </p:nvSpPr>
        <p:spPr>
          <a:xfrm>
            <a:off x="6217920" y="2286000"/>
            <a:ext cx="5349240" cy="1097280"/>
          </a:xfrm>
          <a:prstGeom prst="roundRect">
            <a:avLst>
              <a:gd name="adj" fmla="val 7500"/>
            </a:avLst>
          </a:prstGeom>
          <a:solidFill>
            <a:srgbClr val="1D1F2B"/>
          </a:solidFill>
          <a:ln w="12700">
            <a:solidFill>
              <a:srgbClr val="1D1F2B"/>
            </a:solidFill>
            <a:prstDash val="solid"/>
          </a:ln>
        </p:spPr>
      </p:sp>
      <p:sp>
        <p:nvSpPr>
          <p:cNvPr id="9" name="Text 7"/>
          <p:cNvSpPr/>
          <p:nvPr/>
        </p:nvSpPr>
        <p:spPr>
          <a:xfrm>
            <a:off x="6355080" y="2286000"/>
            <a:ext cx="507492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B  ·  environ la moitié</a:t>
            </a:r>
            <a:endParaRPr lang="en-US" sz="2200" dirty="0"/>
          </a:p>
        </p:txBody>
      </p:sp>
      <p:sp>
        <p:nvSpPr>
          <p:cNvPr id="10" name="Shape 8"/>
          <p:cNvSpPr/>
          <p:nvPr/>
        </p:nvSpPr>
        <p:spPr>
          <a:xfrm>
            <a:off x="594360" y="3657600"/>
            <a:ext cx="5349240" cy="1097280"/>
          </a:xfrm>
          <a:prstGeom prst="roundRect">
            <a:avLst>
              <a:gd name="adj" fmla="val 7500"/>
            </a:avLst>
          </a:prstGeom>
          <a:solidFill>
            <a:srgbClr val="1D1F2B"/>
          </a:solidFill>
          <a:ln w="12700">
            <a:solidFill>
              <a:srgbClr val="1D1F2B"/>
            </a:solidFill>
            <a:prstDash val="solid"/>
          </a:ln>
        </p:spPr>
      </p:sp>
      <p:sp>
        <p:nvSpPr>
          <p:cNvPr id="11" name="Text 9"/>
          <p:cNvSpPr/>
          <p:nvPr/>
        </p:nvSpPr>
        <p:spPr>
          <a:xfrm>
            <a:off x="731520" y="3657600"/>
            <a:ext cx="507492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C  ·  environ les trois quarts</a:t>
            </a:r>
            <a:endParaRPr lang="en-US" sz="2200" dirty="0"/>
          </a:p>
        </p:txBody>
      </p:sp>
      <p:sp>
        <p:nvSpPr>
          <p:cNvPr id="12" name="Shape 10"/>
          <p:cNvSpPr/>
          <p:nvPr/>
        </p:nvSpPr>
        <p:spPr>
          <a:xfrm>
            <a:off x="6217920" y="3657600"/>
            <a:ext cx="5349240" cy="1097280"/>
          </a:xfrm>
          <a:prstGeom prst="roundRect">
            <a:avLst>
              <a:gd name="adj" fmla="val 7500"/>
            </a:avLst>
          </a:prstGeom>
          <a:solidFill>
            <a:srgbClr val="1D1F2B"/>
          </a:solidFill>
          <a:ln w="12700">
            <a:solidFill>
              <a:srgbClr val="1D1F2B"/>
            </a:solidFill>
            <a:prstDash val="solid"/>
          </a:ln>
        </p:spPr>
      </p:sp>
      <p:sp>
        <p:nvSpPr>
          <p:cNvPr id="13" name="Text 11"/>
          <p:cNvSpPr/>
          <p:nvPr/>
        </p:nvSpPr>
        <p:spPr>
          <a:xfrm>
            <a:off x="6355080" y="3657600"/>
            <a:ext cx="507492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D  ·  presque tous</a:t>
            </a:r>
            <a:endParaRPr lang="en-US" sz="2200" dirty="0"/>
          </a:p>
        </p:txBody>
      </p:sp>
      <p:sp>
        <p:nvSpPr>
          <p:cNvPr id="14" name="Text 12"/>
          <p:cNvSpPr/>
          <p:nvPr/>
        </p:nvSpPr>
        <p:spPr>
          <a:xfrm>
            <a:off x="594360" y="521208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Une seule réponse. Répondez sur votre téléphone, au code affiché.</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ROUMANIE ET L’UNION EUROPÉENNE · 2024</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La mortalité infantile : 1,9 fois la moyenne européenne</a:t>
            </a:r>
            <a:endParaRPr lang="en-US" sz="3000" dirty="0"/>
          </a:p>
        </p:txBody>
      </p:sp>
      <p:sp>
        <p:nvSpPr>
          <p:cNvPr id="4" name="Text 2"/>
          <p:cNvSpPr/>
          <p:nvPr/>
        </p:nvSpPr>
        <p:spPr>
          <a:xfrm>
            <a:off x="594360" y="1828800"/>
            <a:ext cx="1645920" cy="4572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Roumanie</a:t>
            </a:r>
            <a:endParaRPr lang="en-US" sz="1800" dirty="0"/>
          </a:p>
        </p:txBody>
      </p:sp>
      <p:sp>
        <p:nvSpPr>
          <p:cNvPr id="5" name="Shape 3"/>
          <p:cNvSpPr/>
          <p:nvPr/>
        </p:nvSpPr>
        <p:spPr>
          <a:xfrm>
            <a:off x="2331720" y="1892808"/>
            <a:ext cx="3922776" cy="329184"/>
          </a:xfrm>
          <a:prstGeom prst="roundRect">
            <a:avLst>
              <a:gd name="adj" fmla="val 13889"/>
            </a:avLst>
          </a:prstGeom>
          <a:solidFill>
            <a:srgbClr val="FF4757"/>
          </a:solidFill>
          <a:ln w="12700">
            <a:solidFill>
              <a:srgbClr val="FF4757"/>
            </a:solidFill>
            <a:prstDash val="solid"/>
          </a:ln>
        </p:spPr>
      </p:sp>
      <p:sp>
        <p:nvSpPr>
          <p:cNvPr id="6" name="Text 4"/>
          <p:cNvSpPr/>
          <p:nvPr/>
        </p:nvSpPr>
        <p:spPr>
          <a:xfrm>
            <a:off x="6345936" y="182880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6,6</a:t>
            </a:r>
            <a:endParaRPr lang="en-US" sz="1600" dirty="0"/>
          </a:p>
        </p:txBody>
      </p:sp>
      <p:sp>
        <p:nvSpPr>
          <p:cNvPr id="7" name="Text 5"/>
          <p:cNvSpPr/>
          <p:nvPr/>
        </p:nvSpPr>
        <p:spPr>
          <a:xfrm>
            <a:off x="594360" y="2423160"/>
            <a:ext cx="1645920" cy="4572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Union européenne</a:t>
            </a:r>
            <a:endParaRPr lang="en-US" sz="1800" dirty="0"/>
          </a:p>
        </p:txBody>
      </p:sp>
      <p:sp>
        <p:nvSpPr>
          <p:cNvPr id="8" name="Shape 6"/>
          <p:cNvSpPr/>
          <p:nvPr/>
        </p:nvSpPr>
        <p:spPr>
          <a:xfrm>
            <a:off x="2331720" y="2487168"/>
            <a:ext cx="2080260" cy="329184"/>
          </a:xfrm>
          <a:prstGeom prst="roundRect">
            <a:avLst>
              <a:gd name="adj" fmla="val 13889"/>
            </a:avLst>
          </a:prstGeom>
          <a:solidFill>
            <a:srgbClr val="27D3BE"/>
          </a:solidFill>
          <a:ln w="12700">
            <a:solidFill>
              <a:srgbClr val="27D3BE"/>
            </a:solidFill>
            <a:prstDash val="solid"/>
          </a:ln>
        </p:spPr>
      </p:sp>
      <p:sp>
        <p:nvSpPr>
          <p:cNvPr id="9" name="Text 7"/>
          <p:cNvSpPr/>
          <p:nvPr/>
        </p:nvSpPr>
        <p:spPr>
          <a:xfrm>
            <a:off x="4503420" y="242316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3,5</a:t>
            </a:r>
            <a:endParaRPr lang="en-US" sz="1600" dirty="0"/>
          </a:p>
        </p:txBody>
      </p:sp>
      <p:sp>
        <p:nvSpPr>
          <p:cNvPr id="10" name="Text 8"/>
          <p:cNvSpPr/>
          <p:nvPr/>
        </p:nvSpPr>
        <p:spPr>
          <a:xfrm>
            <a:off x="594360" y="3246120"/>
            <a:ext cx="731520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SUR LES 6,6 DE LA ROUMANIE</a:t>
            </a:r>
            <a:endParaRPr lang="en-US" sz="1200" dirty="0"/>
          </a:p>
        </p:txBody>
      </p:sp>
      <p:sp>
        <p:nvSpPr>
          <p:cNvPr id="11" name="Shape 9"/>
          <p:cNvSpPr/>
          <p:nvPr/>
        </p:nvSpPr>
        <p:spPr>
          <a:xfrm>
            <a:off x="594360" y="3657600"/>
            <a:ext cx="4049684" cy="731520"/>
          </a:xfrm>
          <a:prstGeom prst="rect">
            <a:avLst/>
          </a:prstGeom>
          <a:solidFill>
            <a:srgbClr val="FF4757"/>
          </a:solidFill>
          <a:ln w="12700">
            <a:solidFill>
              <a:srgbClr val="FF4757"/>
            </a:solidFill>
            <a:prstDash val="solid"/>
          </a:ln>
        </p:spPr>
      </p:sp>
      <p:sp>
        <p:nvSpPr>
          <p:cNvPr id="12" name="Text 10"/>
          <p:cNvSpPr/>
          <p:nvPr/>
        </p:nvSpPr>
        <p:spPr>
          <a:xfrm>
            <a:off x="594360" y="3657600"/>
            <a:ext cx="4049684" cy="731520"/>
          </a:xfrm>
          <a:prstGeom prst="rect">
            <a:avLst/>
          </a:prstGeom>
          <a:noFill/>
          <a:ln/>
        </p:spPr>
        <p:txBody>
          <a:bodyPr wrap="square" lIns="0" tIns="0" rIns="0" bIns="0" rtlCol="0" anchor="ctr"/>
          <a:lstStyle/>
          <a:p>
            <a:pPr algn="ctr" indent="0" marL="0">
              <a:buNone/>
            </a:pPr>
            <a:r>
              <a:rPr lang="en-US" sz="1700" b="1" dirty="0">
                <a:solidFill>
                  <a:srgbClr val="2E060B"/>
                </a:solidFill>
                <a:latin typeface="Palatino Linotype" pitchFamily="34" charset="0"/>
                <a:ea typeface="Palatino Linotype" pitchFamily="34" charset="-122"/>
                <a:cs typeface="Palatino Linotype" pitchFamily="34" charset="-120"/>
              </a:rPr>
              <a:t>néonatale 3,7</a:t>
            </a:r>
            <a:endParaRPr lang="en-US" sz="1700" dirty="0"/>
          </a:p>
        </p:txBody>
      </p:sp>
      <p:sp>
        <p:nvSpPr>
          <p:cNvPr id="13" name="Shape 11"/>
          <p:cNvSpPr/>
          <p:nvPr/>
        </p:nvSpPr>
        <p:spPr>
          <a:xfrm>
            <a:off x="4644044" y="3657600"/>
            <a:ext cx="3174076" cy="731520"/>
          </a:xfrm>
          <a:prstGeom prst="rect">
            <a:avLst/>
          </a:prstGeom>
          <a:solidFill>
            <a:srgbClr val="27D3BE"/>
          </a:solidFill>
          <a:ln w="12700">
            <a:solidFill>
              <a:srgbClr val="27D3BE"/>
            </a:solidFill>
            <a:prstDash val="solid"/>
          </a:ln>
        </p:spPr>
      </p:sp>
      <p:sp>
        <p:nvSpPr>
          <p:cNvPr id="14" name="Text 12"/>
          <p:cNvSpPr/>
          <p:nvPr/>
        </p:nvSpPr>
        <p:spPr>
          <a:xfrm>
            <a:off x="4644044" y="3657600"/>
            <a:ext cx="3174076" cy="731520"/>
          </a:xfrm>
          <a:prstGeom prst="rect">
            <a:avLst/>
          </a:prstGeom>
          <a:noFill/>
          <a:ln/>
        </p:spPr>
        <p:txBody>
          <a:bodyPr wrap="square" lIns="0" tIns="0" rIns="0" bIns="0" rtlCol="0" anchor="ctr"/>
          <a:lstStyle/>
          <a:p>
            <a:pPr algn="ctr" indent="0" marL="0">
              <a:buNone/>
            </a:pPr>
            <a:r>
              <a:rPr lang="en-US" sz="1700" b="1" dirty="0">
                <a:solidFill>
                  <a:srgbClr val="073B34"/>
                </a:solidFill>
                <a:latin typeface="Palatino Linotype" pitchFamily="34" charset="0"/>
                <a:ea typeface="Palatino Linotype" pitchFamily="34" charset="-122"/>
                <a:cs typeface="Palatino Linotype" pitchFamily="34" charset="-120"/>
              </a:rPr>
              <a:t>post-néonatale 2,9</a:t>
            </a:r>
            <a:endParaRPr lang="en-US" sz="1700" dirty="0"/>
          </a:p>
        </p:txBody>
      </p:sp>
      <p:sp>
        <p:nvSpPr>
          <p:cNvPr id="15" name="Text 13"/>
          <p:cNvSpPr/>
          <p:nvPr/>
        </p:nvSpPr>
        <p:spPr>
          <a:xfrm>
            <a:off x="594360" y="4617720"/>
            <a:ext cx="7589520" cy="12801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composante post-néonatale représente près de la moitié du total. Qu’est-ce qui l’explique ? Les chiffres ne le disent pas : il faudrait la répartition des décès par cause et par lieu de survenue.</a:t>
            </a:r>
            <a:endParaRPr lang="en-US" sz="1700" dirty="0"/>
          </a:p>
        </p:txBody>
      </p:sp>
      <p:sp>
        <p:nvSpPr>
          <p:cNvPr id="16" name="Shape 14"/>
          <p:cNvSpPr/>
          <p:nvPr/>
        </p:nvSpPr>
        <p:spPr>
          <a:xfrm>
            <a:off x="8503920" y="1783080"/>
            <a:ext cx="3063240" cy="4251960"/>
          </a:xfrm>
          <a:prstGeom prst="roundRect">
            <a:avLst>
              <a:gd name="adj" fmla="val 2687"/>
            </a:avLst>
          </a:prstGeom>
          <a:solidFill>
            <a:srgbClr val="1D1F2B"/>
          </a:solidFill>
          <a:ln w="12700">
            <a:solidFill>
              <a:srgbClr val="1D1F2B"/>
            </a:solidFill>
            <a:prstDash val="solid"/>
          </a:ln>
        </p:spPr>
      </p:sp>
      <p:sp>
        <p:nvSpPr>
          <p:cNvPr id="17" name="Text 15"/>
          <p:cNvSpPr/>
          <p:nvPr/>
        </p:nvSpPr>
        <p:spPr>
          <a:xfrm>
            <a:off x="8732520" y="1920240"/>
            <a:ext cx="2651760" cy="146304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En 2000 : 18,6. Baisse de 64,5 % jusqu’en 2024.</a:t>
            </a:r>
            <a:endParaRPr lang="en-US" sz="1600" dirty="0"/>
          </a:p>
        </p:txBody>
      </p:sp>
      <p:sp>
        <p:nvSpPr>
          <p:cNvPr id="18" name="Text 16"/>
          <p:cNvSpPr/>
          <p:nvPr/>
        </p:nvSpPr>
        <p:spPr>
          <a:xfrm>
            <a:off x="8732520" y="3291840"/>
            <a:ext cx="2651760" cy="2651760"/>
          </a:xfrm>
          <a:prstGeom prst="rect">
            <a:avLst/>
          </a:prstGeom>
          <a:noFill/>
          <a:ln/>
        </p:spPr>
        <p:txBody>
          <a:bodyPr wrap="square" lIns="0" tIns="0" rIns="0" bIns="0" rtlCol="0" anchor="t"/>
          <a:lstStyle/>
          <a:p>
            <a:pPr indent="0" marL="0">
              <a:buNone/>
            </a:pPr>
            <a:r>
              <a:rPr lang="en-US" sz="1300" dirty="0">
                <a:solidFill>
                  <a:srgbClr val="D5D8E2"/>
                </a:solidFill>
                <a:latin typeface="Palatino Linotype" pitchFamily="34" charset="0"/>
                <a:ea typeface="Palatino Linotype" pitchFamily="34" charset="-122"/>
                <a:cs typeface="Palatino Linotype" pitchFamily="34" charset="-120"/>
              </a:rPr>
              <a:t>Estimation de l’UN IGME (UNICEF, OMS) pour 2024 : 6,0, avec un intervalle d’incertitude de 5,7–6,3. Autre définition (probabilité de décès) et autre méthode (modèle statistique) : les deux valeurs ne s’utilisent pas ensemble dans une même comparaison.</a:t>
            </a:r>
            <a:endParaRPr lang="en-US" sz="13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mortalité infantile pour mille naissances vivantes (demo_minfind) ; UN IGME.</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MOINS DE CINQ ANS · LA MÈRE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L’enfant et la mère : deux fortes baisses</a:t>
            </a:r>
            <a:endParaRPr lang="en-US" sz="3200" dirty="0"/>
          </a:p>
        </p:txBody>
      </p:sp>
      <p:sp>
        <p:nvSpPr>
          <p:cNvPr id="4" name="Shape 2"/>
          <p:cNvSpPr/>
          <p:nvPr/>
        </p:nvSpPr>
        <p:spPr>
          <a:xfrm>
            <a:off x="594360" y="1783080"/>
            <a:ext cx="4754880" cy="4251960"/>
          </a:xfrm>
          <a:prstGeom prst="roundRect">
            <a:avLst>
              <a:gd name="adj" fmla="val 1935"/>
            </a:avLst>
          </a:prstGeom>
          <a:solidFill>
            <a:srgbClr val="11121A"/>
          </a:solidFill>
          <a:ln w="12700">
            <a:solidFill>
              <a:srgbClr val="11121A"/>
            </a:solidFill>
            <a:prstDash val="solid"/>
          </a:ln>
        </p:spPr>
      </p:sp>
      <p:sp>
        <p:nvSpPr>
          <p:cNvPr id="5" name="Text 3"/>
          <p:cNvSpPr/>
          <p:nvPr/>
        </p:nvSpPr>
        <p:spPr>
          <a:xfrm>
            <a:off x="868680" y="1920240"/>
            <a:ext cx="4206240" cy="3657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Moins de cinq ans</a:t>
            </a:r>
            <a:endParaRPr lang="en-US" sz="1400" dirty="0"/>
          </a:p>
        </p:txBody>
      </p:sp>
      <p:sp>
        <p:nvSpPr>
          <p:cNvPr id="6" name="Text 4"/>
          <p:cNvSpPr/>
          <p:nvPr/>
        </p:nvSpPr>
        <p:spPr>
          <a:xfrm>
            <a:off x="868680" y="2286000"/>
            <a:ext cx="4206240" cy="1371600"/>
          </a:xfrm>
          <a:prstGeom prst="rect">
            <a:avLst/>
          </a:prstGeom>
          <a:noFill/>
          <a:ln/>
        </p:spPr>
        <p:txBody>
          <a:bodyPr wrap="square" lIns="0" tIns="0" rIns="0" bIns="0" rtlCol="0" anchor="ctr"/>
          <a:lstStyle/>
          <a:p>
            <a:pPr indent="0" marL="0">
              <a:buNone/>
            </a:pPr>
            <a:r>
              <a:rPr lang="en-US" sz="8000" b="1" dirty="0">
                <a:solidFill>
                  <a:srgbClr val="FFFFFF"/>
                </a:solidFill>
                <a:latin typeface="Palatino Linotype" pitchFamily="34" charset="0"/>
                <a:ea typeface="Palatino Linotype" pitchFamily="34" charset="-122"/>
                <a:cs typeface="Palatino Linotype" pitchFamily="34" charset="-120"/>
              </a:rPr>
              <a:t>7,3</a:t>
            </a:r>
            <a:endParaRPr lang="en-US" sz="8000" dirty="0"/>
          </a:p>
        </p:txBody>
      </p:sp>
      <p:sp>
        <p:nvSpPr>
          <p:cNvPr id="7" name="Text 5"/>
          <p:cNvSpPr/>
          <p:nvPr/>
        </p:nvSpPr>
        <p:spPr>
          <a:xfrm>
            <a:off x="868680" y="3749040"/>
            <a:ext cx="4206240" cy="10972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pour mille naissances vivantes, 2024 (estimation internationale), contre 30,9 en 1990</a:t>
            </a:r>
            <a:endParaRPr lang="en-US" sz="1600" dirty="0"/>
          </a:p>
        </p:txBody>
      </p:sp>
      <p:sp>
        <p:nvSpPr>
          <p:cNvPr id="8" name="Shape 6"/>
          <p:cNvSpPr/>
          <p:nvPr/>
        </p:nvSpPr>
        <p:spPr>
          <a:xfrm>
            <a:off x="5623560" y="1783080"/>
            <a:ext cx="5943600" cy="4251960"/>
          </a:xfrm>
          <a:prstGeom prst="roundRect">
            <a:avLst>
              <a:gd name="adj" fmla="val 1935"/>
            </a:avLst>
          </a:prstGeom>
          <a:solidFill>
            <a:srgbClr val="ECEAE4"/>
          </a:solidFill>
          <a:ln w="12700">
            <a:solidFill>
              <a:srgbClr val="ECEAE4"/>
            </a:solidFill>
            <a:prstDash val="solid"/>
          </a:ln>
        </p:spPr>
      </p:sp>
      <p:sp>
        <p:nvSpPr>
          <p:cNvPr id="9" name="Text 7"/>
          <p:cNvSpPr/>
          <p:nvPr/>
        </p:nvSpPr>
        <p:spPr>
          <a:xfrm>
            <a:off x="5852160" y="1874520"/>
            <a:ext cx="5486400" cy="91440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Le décès maternel : au cours de la grossesse ou dans les 42 jours suivant sa terminaison, pour une cause déterminée ou aggravée par la grossesse.</a:t>
            </a:r>
            <a:endParaRPr lang="en-US" sz="1400" dirty="0"/>
          </a:p>
        </p:txBody>
      </p:sp>
      <p:sp>
        <p:nvSpPr>
          <p:cNvPr id="10" name="Shape 8"/>
          <p:cNvSpPr/>
          <p:nvPr/>
        </p:nvSpPr>
        <p:spPr>
          <a:xfrm>
            <a:off x="6675120" y="3337560"/>
            <a:ext cx="1005840" cy="1920240"/>
          </a:xfrm>
          <a:prstGeom prst="rect">
            <a:avLst/>
          </a:prstGeom>
          <a:solidFill>
            <a:srgbClr val="FF4757"/>
          </a:solidFill>
          <a:ln w="12700">
            <a:solidFill>
              <a:srgbClr val="FF4757"/>
            </a:solidFill>
            <a:prstDash val="solid"/>
          </a:ln>
        </p:spPr>
      </p:sp>
      <p:sp>
        <p:nvSpPr>
          <p:cNvPr id="11" name="Text 9"/>
          <p:cNvSpPr/>
          <p:nvPr/>
        </p:nvSpPr>
        <p:spPr>
          <a:xfrm>
            <a:off x="6400800" y="2880360"/>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118</a:t>
            </a:r>
            <a:endParaRPr lang="en-US" sz="2000" dirty="0"/>
          </a:p>
        </p:txBody>
      </p:sp>
      <p:sp>
        <p:nvSpPr>
          <p:cNvPr id="12" name="Text 10"/>
          <p:cNvSpPr/>
          <p:nvPr/>
        </p:nvSpPr>
        <p:spPr>
          <a:xfrm>
            <a:off x="6400800" y="533095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1990</a:t>
            </a:r>
            <a:endParaRPr lang="en-US" sz="1400" dirty="0"/>
          </a:p>
        </p:txBody>
      </p:sp>
      <p:sp>
        <p:nvSpPr>
          <p:cNvPr id="13" name="Shape 11"/>
          <p:cNvSpPr/>
          <p:nvPr/>
        </p:nvSpPr>
        <p:spPr>
          <a:xfrm>
            <a:off x="8321040" y="4525505"/>
            <a:ext cx="1005840" cy="732295"/>
          </a:xfrm>
          <a:prstGeom prst="rect">
            <a:avLst/>
          </a:prstGeom>
          <a:solidFill>
            <a:srgbClr val="FFC24B"/>
          </a:solidFill>
          <a:ln w="12700">
            <a:solidFill>
              <a:srgbClr val="FFC24B"/>
            </a:solidFill>
            <a:prstDash val="solid"/>
          </a:ln>
        </p:spPr>
      </p:sp>
      <p:sp>
        <p:nvSpPr>
          <p:cNvPr id="14" name="Text 12"/>
          <p:cNvSpPr/>
          <p:nvPr/>
        </p:nvSpPr>
        <p:spPr>
          <a:xfrm>
            <a:off x="8046720" y="4068305"/>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45</a:t>
            </a:r>
            <a:endParaRPr lang="en-US" sz="2000" dirty="0"/>
          </a:p>
        </p:txBody>
      </p:sp>
      <p:sp>
        <p:nvSpPr>
          <p:cNvPr id="15" name="Text 13"/>
          <p:cNvSpPr/>
          <p:nvPr/>
        </p:nvSpPr>
        <p:spPr>
          <a:xfrm>
            <a:off x="8046720" y="533095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2000</a:t>
            </a:r>
            <a:endParaRPr lang="en-US" sz="1400" dirty="0"/>
          </a:p>
        </p:txBody>
      </p:sp>
      <p:sp>
        <p:nvSpPr>
          <p:cNvPr id="16" name="Shape 14"/>
          <p:cNvSpPr/>
          <p:nvPr/>
        </p:nvSpPr>
        <p:spPr>
          <a:xfrm>
            <a:off x="9966960" y="5062521"/>
            <a:ext cx="1005840" cy="195279"/>
          </a:xfrm>
          <a:prstGeom prst="rect">
            <a:avLst/>
          </a:prstGeom>
          <a:solidFill>
            <a:srgbClr val="0E7C6B"/>
          </a:solidFill>
          <a:ln w="12700">
            <a:solidFill>
              <a:srgbClr val="0E7C6B"/>
            </a:solidFill>
            <a:prstDash val="solid"/>
          </a:ln>
        </p:spPr>
      </p:sp>
      <p:sp>
        <p:nvSpPr>
          <p:cNvPr id="17" name="Text 15"/>
          <p:cNvSpPr/>
          <p:nvPr/>
        </p:nvSpPr>
        <p:spPr>
          <a:xfrm>
            <a:off x="9692640" y="4605321"/>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12</a:t>
            </a:r>
            <a:endParaRPr lang="en-US" sz="2000" dirty="0"/>
          </a:p>
        </p:txBody>
      </p:sp>
      <p:sp>
        <p:nvSpPr>
          <p:cNvPr id="18" name="Text 16"/>
          <p:cNvSpPr/>
          <p:nvPr/>
        </p:nvSpPr>
        <p:spPr>
          <a:xfrm>
            <a:off x="9692640" y="533095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2023</a:t>
            </a:r>
            <a:endParaRPr lang="en-US" sz="1400" dirty="0"/>
          </a:p>
        </p:txBody>
      </p:sp>
      <p:sp>
        <p:nvSpPr>
          <p:cNvPr id="19" name="Shape 17"/>
          <p:cNvSpPr/>
          <p:nvPr/>
        </p:nvSpPr>
        <p:spPr>
          <a:xfrm>
            <a:off x="6492240" y="5257800"/>
            <a:ext cx="4663440" cy="22860"/>
          </a:xfrm>
          <a:prstGeom prst="rect">
            <a:avLst/>
          </a:prstGeom>
          <a:solidFill>
            <a:srgbClr val="C9C6BE"/>
          </a:solidFill>
          <a:ln w="12700">
            <a:solidFill>
              <a:srgbClr val="C9C6BE"/>
            </a:solidFill>
            <a:prstDash val="solid"/>
          </a:ln>
        </p:spPr>
      </p:sp>
      <p:sp>
        <p:nvSpPr>
          <p:cNvPr id="20" name="Text 18"/>
          <p:cNvSpPr/>
          <p:nvPr/>
        </p:nvSpPr>
        <p:spPr>
          <a:xfrm>
            <a:off x="5852160" y="5650992"/>
            <a:ext cx="5486400" cy="27432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décès maternels pour 100 000 naissances vivantes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L’AVORTEMENT · LE RAPPORT AUX NAISSANCES VIVANTES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L’avortement : 458,3 en 2013, 206,8 en 2024</a:t>
            </a:r>
            <a:endParaRPr lang="en-US" sz="3200" dirty="0"/>
          </a:p>
        </p:txBody>
      </p:sp>
      <p:sp>
        <p:nvSpPr>
          <p:cNvPr id="4" name="Text 2"/>
          <p:cNvSpPr/>
          <p:nvPr/>
        </p:nvSpPr>
        <p:spPr>
          <a:xfrm>
            <a:off x="594360" y="1828800"/>
            <a:ext cx="9144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2013</a:t>
            </a:r>
            <a:endParaRPr lang="en-US" sz="1700" dirty="0"/>
          </a:p>
        </p:txBody>
      </p:sp>
      <p:sp>
        <p:nvSpPr>
          <p:cNvPr id="5" name="Shape 3"/>
          <p:cNvSpPr/>
          <p:nvPr/>
        </p:nvSpPr>
        <p:spPr>
          <a:xfrm>
            <a:off x="1600200" y="1892808"/>
            <a:ext cx="3855440" cy="329184"/>
          </a:xfrm>
          <a:prstGeom prst="roundRect">
            <a:avLst>
              <a:gd name="adj" fmla="val 13889"/>
            </a:avLst>
          </a:prstGeom>
          <a:solidFill>
            <a:srgbClr val="4B5068"/>
          </a:solidFill>
          <a:ln w="12700">
            <a:solidFill>
              <a:srgbClr val="4B5068"/>
            </a:solidFill>
            <a:prstDash val="solid"/>
          </a:ln>
        </p:spPr>
      </p:sp>
      <p:sp>
        <p:nvSpPr>
          <p:cNvPr id="6" name="Text 4"/>
          <p:cNvSpPr/>
          <p:nvPr/>
        </p:nvSpPr>
        <p:spPr>
          <a:xfrm>
            <a:off x="5547080" y="182880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458,3</a:t>
            </a:r>
            <a:endParaRPr lang="en-US" sz="1600" dirty="0"/>
          </a:p>
        </p:txBody>
      </p:sp>
      <p:sp>
        <p:nvSpPr>
          <p:cNvPr id="7" name="Text 5"/>
          <p:cNvSpPr/>
          <p:nvPr/>
        </p:nvSpPr>
        <p:spPr>
          <a:xfrm>
            <a:off x="594360" y="2423160"/>
            <a:ext cx="9144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2021</a:t>
            </a:r>
            <a:endParaRPr lang="en-US" sz="1700" dirty="0"/>
          </a:p>
        </p:txBody>
      </p:sp>
      <p:sp>
        <p:nvSpPr>
          <p:cNvPr id="8" name="Shape 6"/>
          <p:cNvSpPr/>
          <p:nvPr/>
        </p:nvSpPr>
        <p:spPr>
          <a:xfrm>
            <a:off x="1600200" y="2487168"/>
            <a:ext cx="1274491" cy="329184"/>
          </a:xfrm>
          <a:prstGeom prst="roundRect">
            <a:avLst>
              <a:gd name="adj" fmla="val 13889"/>
            </a:avLst>
          </a:prstGeom>
          <a:solidFill>
            <a:srgbClr val="4B5068"/>
          </a:solidFill>
          <a:ln w="12700">
            <a:solidFill>
              <a:srgbClr val="4B5068"/>
            </a:solidFill>
            <a:prstDash val="solid"/>
          </a:ln>
        </p:spPr>
      </p:sp>
      <p:sp>
        <p:nvSpPr>
          <p:cNvPr id="9" name="Text 7"/>
          <p:cNvSpPr/>
          <p:nvPr/>
        </p:nvSpPr>
        <p:spPr>
          <a:xfrm>
            <a:off x="2966131" y="242316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151,5</a:t>
            </a:r>
            <a:endParaRPr lang="en-US" sz="1600" dirty="0"/>
          </a:p>
        </p:txBody>
      </p:sp>
      <p:sp>
        <p:nvSpPr>
          <p:cNvPr id="10" name="Text 8"/>
          <p:cNvSpPr/>
          <p:nvPr/>
        </p:nvSpPr>
        <p:spPr>
          <a:xfrm>
            <a:off x="594360" y="3017520"/>
            <a:ext cx="9144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2024</a:t>
            </a:r>
            <a:endParaRPr lang="en-US" sz="1700" dirty="0"/>
          </a:p>
        </p:txBody>
      </p:sp>
      <p:sp>
        <p:nvSpPr>
          <p:cNvPr id="11" name="Shape 9"/>
          <p:cNvSpPr/>
          <p:nvPr/>
        </p:nvSpPr>
        <p:spPr>
          <a:xfrm>
            <a:off x="1600200" y="3081528"/>
            <a:ext cx="1739701" cy="329184"/>
          </a:xfrm>
          <a:prstGeom prst="roundRect">
            <a:avLst>
              <a:gd name="adj" fmla="val 13889"/>
            </a:avLst>
          </a:prstGeom>
          <a:solidFill>
            <a:srgbClr val="FF4757"/>
          </a:solidFill>
          <a:ln w="12700">
            <a:solidFill>
              <a:srgbClr val="FF4757"/>
            </a:solidFill>
            <a:prstDash val="solid"/>
          </a:ln>
        </p:spPr>
      </p:sp>
      <p:sp>
        <p:nvSpPr>
          <p:cNvPr id="12" name="Text 10"/>
          <p:cNvSpPr/>
          <p:nvPr/>
        </p:nvSpPr>
        <p:spPr>
          <a:xfrm>
            <a:off x="3431341" y="301752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206,8</a:t>
            </a:r>
            <a:endParaRPr lang="en-US" sz="1600" dirty="0"/>
          </a:p>
        </p:txBody>
      </p:sp>
      <p:sp>
        <p:nvSpPr>
          <p:cNvPr id="13" name="Text 11"/>
          <p:cNvSpPr/>
          <p:nvPr/>
        </p:nvSpPr>
        <p:spPr>
          <a:xfrm>
            <a:off x="594360" y="3703320"/>
            <a:ext cx="6400800" cy="274320"/>
          </a:xfrm>
          <a:prstGeom prst="rect">
            <a:avLst/>
          </a:prstGeom>
          <a:noFill/>
          <a:ln/>
        </p:spPr>
        <p:txBody>
          <a:bodyPr wrap="square" lIns="0" tIns="0" rIns="0" bIns="0" rtlCol="0" anchor="t"/>
          <a:lstStyle/>
          <a:p>
            <a:pPr indent="0" marL="0">
              <a:buNone/>
            </a:pPr>
            <a:r>
              <a:rPr lang="en-US" sz="1200" i="1" dirty="0">
                <a:solidFill>
                  <a:srgbClr val="959BB0"/>
                </a:solidFill>
                <a:latin typeface="Palatino Linotype" pitchFamily="34" charset="0"/>
                <a:ea typeface="Palatino Linotype" pitchFamily="34" charset="-122"/>
                <a:cs typeface="Palatino Linotype" pitchFamily="34" charset="-120"/>
              </a:rPr>
              <a:t>avortements pour mille naissances vivantes</a:t>
            </a:r>
            <a:endParaRPr lang="en-US" sz="1200" dirty="0"/>
          </a:p>
        </p:txBody>
      </p:sp>
      <p:sp>
        <p:nvSpPr>
          <p:cNvPr id="14" name="Shape 12"/>
          <p:cNvSpPr/>
          <p:nvPr/>
        </p:nvSpPr>
        <p:spPr>
          <a:xfrm>
            <a:off x="594360" y="4206240"/>
            <a:ext cx="6766560" cy="1828800"/>
          </a:xfrm>
          <a:prstGeom prst="roundRect">
            <a:avLst>
              <a:gd name="adj" fmla="val 4500"/>
            </a:avLst>
          </a:prstGeom>
          <a:solidFill>
            <a:srgbClr val="1D1F2B"/>
          </a:solidFill>
          <a:ln w="12700">
            <a:solidFill>
              <a:srgbClr val="1D1F2B"/>
            </a:solidFill>
            <a:prstDash val="solid"/>
          </a:ln>
        </p:spPr>
      </p:sp>
      <p:sp>
        <p:nvSpPr>
          <p:cNvPr id="15" name="Text 13"/>
          <p:cNvSpPr/>
          <p:nvPr/>
        </p:nvSpPr>
        <p:spPr>
          <a:xfrm>
            <a:off x="868680" y="4206240"/>
            <a:ext cx="6217920" cy="182880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Taux d’avortement, 2024 : 5,6 pour mille femmes de 10⁠–⁠54 ans.</a:t>
            </a:r>
            <a:endParaRPr lang="en-US" sz="1900" dirty="0"/>
          </a:p>
        </p:txBody>
      </p:sp>
      <p:sp>
        <p:nvSpPr>
          <p:cNvPr id="16" name="Shape 14"/>
          <p:cNvSpPr/>
          <p:nvPr/>
        </p:nvSpPr>
        <p:spPr>
          <a:xfrm>
            <a:off x="7635240" y="1783080"/>
            <a:ext cx="3931920" cy="4251960"/>
          </a:xfrm>
          <a:prstGeom prst="roundRect">
            <a:avLst>
              <a:gd name="adj" fmla="val 2093"/>
            </a:avLst>
          </a:prstGeom>
          <a:solidFill>
            <a:srgbClr val="272A38"/>
          </a:solidFill>
          <a:ln w="12700">
            <a:solidFill>
              <a:srgbClr val="272A38"/>
            </a:solidFill>
            <a:prstDash val="solid"/>
          </a:ln>
        </p:spPr>
      </p:sp>
      <p:sp>
        <p:nvSpPr>
          <p:cNvPr id="17" name="Text 15"/>
          <p:cNvSpPr/>
          <p:nvPr/>
        </p:nvSpPr>
        <p:spPr>
          <a:xfrm>
            <a:off x="7863840" y="1920240"/>
            <a:ext cx="3474720" cy="39319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chiffres ne disent pas à eux seuls pourquoi le rapport a baissé puis augmenté de nouveau. La tendance se lit avec prudence.</a:t>
            </a:r>
            <a:endParaRPr lang="en-US" sz="18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indicateurs de l’avortement (demo_fabortind).</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VOTE SUR TÉLÉPHONE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Quelle part des naissances ont une mère de moins de 20 ans, en 2024 ?</a:t>
            </a:r>
            <a:endParaRPr lang="en-US" sz="3200" dirty="0"/>
          </a:p>
        </p:txBody>
      </p:sp>
      <p:sp>
        <p:nvSpPr>
          <p:cNvPr id="6" name="Shape 4"/>
          <p:cNvSpPr/>
          <p:nvPr/>
        </p:nvSpPr>
        <p:spPr>
          <a:xfrm>
            <a:off x="594360" y="2103120"/>
            <a:ext cx="5349240" cy="1097280"/>
          </a:xfrm>
          <a:prstGeom prst="roundRect">
            <a:avLst>
              <a:gd name="adj" fmla="val 7500"/>
            </a:avLst>
          </a:prstGeom>
          <a:solidFill>
            <a:srgbClr val="1D1F2B"/>
          </a:solidFill>
          <a:ln w="12700">
            <a:solidFill>
              <a:srgbClr val="1D1F2B"/>
            </a:solidFill>
            <a:prstDash val="solid"/>
          </a:ln>
        </p:spPr>
      </p:sp>
      <p:sp>
        <p:nvSpPr>
          <p:cNvPr id="7" name="Text 5"/>
          <p:cNvSpPr/>
          <p:nvPr/>
        </p:nvSpPr>
        <p:spPr>
          <a:xfrm>
            <a:off x="731520" y="2103120"/>
            <a:ext cx="507492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A  ·  environ 2 %</a:t>
            </a:r>
            <a:endParaRPr lang="en-US" sz="2400" dirty="0"/>
          </a:p>
        </p:txBody>
      </p:sp>
      <p:sp>
        <p:nvSpPr>
          <p:cNvPr id="8" name="Shape 6"/>
          <p:cNvSpPr/>
          <p:nvPr/>
        </p:nvSpPr>
        <p:spPr>
          <a:xfrm>
            <a:off x="6217920" y="2103120"/>
            <a:ext cx="5349240" cy="1097280"/>
          </a:xfrm>
          <a:prstGeom prst="roundRect">
            <a:avLst>
              <a:gd name="adj" fmla="val 7500"/>
            </a:avLst>
          </a:prstGeom>
          <a:solidFill>
            <a:srgbClr val="1D1F2B"/>
          </a:solidFill>
          <a:ln w="12700">
            <a:solidFill>
              <a:srgbClr val="1D1F2B"/>
            </a:solidFill>
            <a:prstDash val="solid"/>
          </a:ln>
        </p:spPr>
      </p:sp>
      <p:sp>
        <p:nvSpPr>
          <p:cNvPr id="9" name="Text 7"/>
          <p:cNvSpPr/>
          <p:nvPr/>
        </p:nvSpPr>
        <p:spPr>
          <a:xfrm>
            <a:off x="6355080" y="2103120"/>
            <a:ext cx="507492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B  ·  environ 5 %</a:t>
            </a:r>
            <a:endParaRPr lang="en-US" sz="2400" dirty="0"/>
          </a:p>
        </p:txBody>
      </p:sp>
      <p:sp>
        <p:nvSpPr>
          <p:cNvPr id="10" name="Shape 8"/>
          <p:cNvSpPr/>
          <p:nvPr/>
        </p:nvSpPr>
        <p:spPr>
          <a:xfrm>
            <a:off x="594360" y="3474720"/>
            <a:ext cx="5349240" cy="1097280"/>
          </a:xfrm>
          <a:prstGeom prst="roundRect">
            <a:avLst>
              <a:gd name="adj" fmla="val 7500"/>
            </a:avLst>
          </a:prstGeom>
          <a:solidFill>
            <a:srgbClr val="1D1F2B"/>
          </a:solidFill>
          <a:ln w="12700">
            <a:solidFill>
              <a:srgbClr val="1D1F2B"/>
            </a:solidFill>
            <a:prstDash val="solid"/>
          </a:ln>
        </p:spPr>
      </p:sp>
      <p:sp>
        <p:nvSpPr>
          <p:cNvPr id="11" name="Text 9"/>
          <p:cNvSpPr/>
          <p:nvPr/>
        </p:nvSpPr>
        <p:spPr>
          <a:xfrm>
            <a:off x="731520" y="3474720"/>
            <a:ext cx="507492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C  ·  environ 10 %</a:t>
            </a:r>
            <a:endParaRPr lang="en-US" sz="2400" dirty="0"/>
          </a:p>
        </p:txBody>
      </p:sp>
      <p:sp>
        <p:nvSpPr>
          <p:cNvPr id="12" name="Shape 10"/>
          <p:cNvSpPr/>
          <p:nvPr/>
        </p:nvSpPr>
        <p:spPr>
          <a:xfrm>
            <a:off x="6217920" y="3474720"/>
            <a:ext cx="5349240" cy="1097280"/>
          </a:xfrm>
          <a:prstGeom prst="roundRect">
            <a:avLst>
              <a:gd name="adj" fmla="val 7500"/>
            </a:avLst>
          </a:prstGeom>
          <a:solidFill>
            <a:srgbClr val="1D1F2B"/>
          </a:solidFill>
          <a:ln w="12700">
            <a:solidFill>
              <a:srgbClr val="1D1F2B"/>
            </a:solidFill>
            <a:prstDash val="solid"/>
          </a:ln>
        </p:spPr>
      </p:sp>
      <p:sp>
        <p:nvSpPr>
          <p:cNvPr id="13" name="Text 11"/>
          <p:cNvSpPr/>
          <p:nvPr/>
        </p:nvSpPr>
        <p:spPr>
          <a:xfrm>
            <a:off x="6355080" y="3474720"/>
            <a:ext cx="507492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D  ·  environ 20 %</a:t>
            </a:r>
            <a:endParaRPr lang="en-US" sz="2400" dirty="0"/>
          </a:p>
        </p:txBody>
      </p:sp>
      <p:sp>
        <p:nvSpPr>
          <p:cNvPr id="14" name="Text 12"/>
          <p:cNvSpPr/>
          <p:nvPr/>
        </p:nvSpPr>
        <p:spPr>
          <a:xfrm>
            <a:off x="594360" y="502920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Une seule réponse. Répondez sur votre téléphone, au code affiché.</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Environ 10 % : plus de quatre fois la moyenne européenne</a:t>
            </a:r>
            <a:endParaRPr lang="en-US" sz="3200" dirty="0"/>
          </a:p>
        </p:txBody>
      </p:sp>
      <p:sp>
        <p:nvSpPr>
          <p:cNvPr id="4" name="Shape 2"/>
          <p:cNvSpPr/>
          <p:nvPr/>
        </p:nvSpPr>
        <p:spPr>
          <a:xfrm>
            <a:off x="594360" y="1783080"/>
            <a:ext cx="5349240" cy="2834640"/>
          </a:xfrm>
          <a:prstGeom prst="roundRect">
            <a:avLst>
              <a:gd name="adj" fmla="val 2903"/>
            </a:avLst>
          </a:prstGeom>
          <a:solidFill>
            <a:srgbClr val="11121A"/>
          </a:solidFill>
          <a:ln w="12700">
            <a:solidFill>
              <a:srgbClr val="11121A"/>
            </a:solidFill>
            <a:prstDash val="solid"/>
          </a:ln>
        </p:spPr>
      </p:sp>
      <p:sp>
        <p:nvSpPr>
          <p:cNvPr id="5" name="Text 3"/>
          <p:cNvSpPr/>
          <p:nvPr/>
        </p:nvSpPr>
        <p:spPr>
          <a:xfrm>
            <a:off x="868680" y="1874520"/>
            <a:ext cx="4846320" cy="1554480"/>
          </a:xfrm>
          <a:prstGeom prst="rect">
            <a:avLst/>
          </a:prstGeom>
          <a:noFill/>
          <a:ln/>
        </p:spPr>
        <p:txBody>
          <a:bodyPr wrap="square" lIns="0" tIns="0" rIns="0" bIns="0" rtlCol="0" anchor="ctr"/>
          <a:lstStyle/>
          <a:p>
            <a:pPr indent="0" marL="0">
              <a:buNone/>
            </a:pPr>
            <a:r>
              <a:rPr lang="en-US" sz="8800" b="1" dirty="0">
                <a:solidFill>
                  <a:srgbClr val="FF4757"/>
                </a:solidFill>
                <a:latin typeface="Palatino Linotype" pitchFamily="34" charset="0"/>
                <a:ea typeface="Palatino Linotype" pitchFamily="34" charset="-122"/>
                <a:cs typeface="Palatino Linotype" pitchFamily="34" charset="-120"/>
              </a:rPr>
              <a:t>9,5 %</a:t>
            </a:r>
            <a:endParaRPr lang="en-US" sz="8800" dirty="0"/>
          </a:p>
        </p:txBody>
      </p:sp>
      <p:sp>
        <p:nvSpPr>
          <p:cNvPr id="6" name="Text 4"/>
          <p:cNvSpPr/>
          <p:nvPr/>
        </p:nvSpPr>
        <p:spPr>
          <a:xfrm>
            <a:off x="868680" y="3474720"/>
            <a:ext cx="4846320" cy="45720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Roumanie, 2024</a:t>
            </a:r>
            <a:endParaRPr lang="en-US" sz="1800" dirty="0"/>
          </a:p>
        </p:txBody>
      </p:sp>
      <p:sp>
        <p:nvSpPr>
          <p:cNvPr id="7" name="Shape 5"/>
          <p:cNvSpPr/>
          <p:nvPr/>
        </p:nvSpPr>
        <p:spPr>
          <a:xfrm>
            <a:off x="6217920" y="1783080"/>
            <a:ext cx="5349240" cy="2834640"/>
          </a:xfrm>
          <a:prstGeom prst="roundRect">
            <a:avLst>
              <a:gd name="adj" fmla="val 2903"/>
            </a:avLst>
          </a:prstGeom>
          <a:solidFill>
            <a:srgbClr val="ECEAE4"/>
          </a:solidFill>
          <a:ln w="12700">
            <a:solidFill>
              <a:srgbClr val="ECEAE4"/>
            </a:solidFill>
            <a:prstDash val="solid"/>
          </a:ln>
        </p:spPr>
      </p:sp>
      <p:sp>
        <p:nvSpPr>
          <p:cNvPr id="8" name="Text 6"/>
          <p:cNvSpPr/>
          <p:nvPr/>
        </p:nvSpPr>
        <p:spPr>
          <a:xfrm>
            <a:off x="6492240" y="1874520"/>
            <a:ext cx="4846320" cy="1554480"/>
          </a:xfrm>
          <a:prstGeom prst="rect">
            <a:avLst/>
          </a:prstGeom>
          <a:noFill/>
          <a:ln/>
        </p:spPr>
        <p:txBody>
          <a:bodyPr wrap="square" lIns="0" tIns="0" rIns="0" bIns="0" rtlCol="0" anchor="ctr"/>
          <a:lstStyle/>
          <a:p>
            <a:pPr indent="0" marL="0">
              <a:buNone/>
            </a:pPr>
            <a:r>
              <a:rPr lang="en-US" sz="8800" b="1" dirty="0">
                <a:solidFill>
                  <a:srgbClr val="0E7C6B"/>
                </a:solidFill>
                <a:latin typeface="Palatino Linotype" pitchFamily="34" charset="0"/>
                <a:ea typeface="Palatino Linotype" pitchFamily="34" charset="-122"/>
                <a:cs typeface="Palatino Linotype" pitchFamily="34" charset="-120"/>
              </a:rPr>
              <a:t>2,1 %</a:t>
            </a:r>
            <a:endParaRPr lang="en-US" sz="8800" dirty="0"/>
          </a:p>
        </p:txBody>
      </p:sp>
      <p:sp>
        <p:nvSpPr>
          <p:cNvPr id="9" name="Text 7"/>
          <p:cNvSpPr/>
          <p:nvPr/>
        </p:nvSpPr>
        <p:spPr>
          <a:xfrm>
            <a:off x="6492240" y="3474720"/>
            <a:ext cx="4846320" cy="457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Union européenne, 2024</a:t>
            </a:r>
            <a:endParaRPr lang="en-US" sz="1800" dirty="0"/>
          </a:p>
        </p:txBody>
      </p:sp>
      <p:sp>
        <p:nvSpPr>
          <p:cNvPr id="10" name="Text 8"/>
          <p:cNvSpPr/>
          <p:nvPr/>
        </p:nvSpPr>
        <p:spPr>
          <a:xfrm>
            <a:off x="594360" y="4846320"/>
            <a:ext cx="10972800" cy="6400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13 619 naissances de mères de moins de 20 ans, sur 143 637 : 601 à 10–14 ans et 13 018 à 15–19 ans.</a:t>
            </a:r>
            <a:endParaRPr lang="en-US" sz="1800" dirty="0"/>
          </a:p>
        </p:txBody>
      </p:sp>
      <p:sp>
        <p:nvSpPr>
          <p:cNvPr id="11" name="Text 9"/>
          <p:cNvSpPr/>
          <p:nvPr/>
        </p:nvSpPr>
        <p:spPr>
          <a:xfrm>
            <a:off x="594360" y="5577840"/>
            <a:ext cx="1097280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Le taux pour mille femmes de 15–19 ans n’a pas été trouvé pour la Roumanie dans la base de l’OMS.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LA NAISSANCE AU CABINET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La vaccination est descendue sous son niveau d’avant la pandémie</a:t>
            </a:r>
            <a:endParaRPr lang="en-US" sz="3000" dirty="0"/>
          </a:p>
        </p:txBody>
      </p:sp>
      <p:sp>
        <p:nvSpPr>
          <p:cNvPr id="4" name="Text 2"/>
          <p:cNvSpPr/>
          <p:nvPr/>
        </p:nvSpPr>
        <p:spPr>
          <a:xfrm>
            <a:off x="594360" y="1783080"/>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DTC3, 2019</a:t>
            </a:r>
            <a:endParaRPr lang="en-US" sz="1500" dirty="0"/>
          </a:p>
        </p:txBody>
      </p:sp>
      <p:sp>
        <p:nvSpPr>
          <p:cNvPr id="5" name="Shape 3"/>
          <p:cNvSpPr/>
          <p:nvPr/>
        </p:nvSpPr>
        <p:spPr>
          <a:xfrm>
            <a:off x="3429000" y="1847088"/>
            <a:ext cx="2735885" cy="329184"/>
          </a:xfrm>
          <a:prstGeom prst="roundRect">
            <a:avLst>
              <a:gd name="adj" fmla="val 13889"/>
            </a:avLst>
          </a:prstGeom>
          <a:solidFill>
            <a:srgbClr val="4B5068"/>
          </a:solidFill>
          <a:ln w="12700">
            <a:solidFill>
              <a:srgbClr val="4B5068"/>
            </a:solidFill>
            <a:prstDash val="solid"/>
          </a:ln>
        </p:spPr>
      </p:sp>
      <p:sp>
        <p:nvSpPr>
          <p:cNvPr id="6" name="Text 4"/>
          <p:cNvSpPr/>
          <p:nvPr/>
        </p:nvSpPr>
        <p:spPr>
          <a:xfrm>
            <a:off x="6256325" y="178308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88 %</a:t>
            </a:r>
            <a:endParaRPr lang="en-US" sz="1600" dirty="0"/>
          </a:p>
        </p:txBody>
      </p:sp>
      <p:sp>
        <p:nvSpPr>
          <p:cNvPr id="7" name="Text 5"/>
          <p:cNvSpPr/>
          <p:nvPr/>
        </p:nvSpPr>
        <p:spPr>
          <a:xfrm>
            <a:off x="594360" y="2313432"/>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DTC3, 2025</a:t>
            </a:r>
            <a:endParaRPr lang="en-US" sz="1500" dirty="0"/>
          </a:p>
        </p:txBody>
      </p:sp>
      <p:sp>
        <p:nvSpPr>
          <p:cNvPr id="8" name="Shape 6"/>
          <p:cNvSpPr/>
          <p:nvPr/>
        </p:nvSpPr>
        <p:spPr>
          <a:xfrm>
            <a:off x="3429000" y="2377440"/>
            <a:ext cx="2051914" cy="329184"/>
          </a:xfrm>
          <a:prstGeom prst="roundRect">
            <a:avLst>
              <a:gd name="adj" fmla="val 13889"/>
            </a:avLst>
          </a:prstGeom>
          <a:solidFill>
            <a:srgbClr val="FF4757"/>
          </a:solidFill>
          <a:ln w="12700">
            <a:solidFill>
              <a:srgbClr val="FF4757"/>
            </a:solidFill>
            <a:prstDash val="solid"/>
          </a:ln>
        </p:spPr>
      </p:sp>
      <p:sp>
        <p:nvSpPr>
          <p:cNvPr id="9" name="Text 7"/>
          <p:cNvSpPr/>
          <p:nvPr/>
        </p:nvSpPr>
        <p:spPr>
          <a:xfrm>
            <a:off x="5572354" y="2313432"/>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66 %</a:t>
            </a:r>
            <a:endParaRPr lang="en-US" sz="1600" dirty="0"/>
          </a:p>
        </p:txBody>
      </p:sp>
      <p:sp>
        <p:nvSpPr>
          <p:cNvPr id="10" name="Text 8"/>
          <p:cNvSpPr/>
          <p:nvPr/>
        </p:nvSpPr>
        <p:spPr>
          <a:xfrm>
            <a:off x="594360" y="2843784"/>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Rougeole 1, 2019</a:t>
            </a:r>
            <a:endParaRPr lang="en-US" sz="1500" dirty="0"/>
          </a:p>
        </p:txBody>
      </p:sp>
      <p:sp>
        <p:nvSpPr>
          <p:cNvPr id="11" name="Shape 9"/>
          <p:cNvSpPr/>
          <p:nvPr/>
        </p:nvSpPr>
        <p:spPr>
          <a:xfrm>
            <a:off x="3429000" y="2907792"/>
            <a:ext cx="2798064" cy="329184"/>
          </a:xfrm>
          <a:prstGeom prst="roundRect">
            <a:avLst>
              <a:gd name="adj" fmla="val 13889"/>
            </a:avLst>
          </a:prstGeom>
          <a:solidFill>
            <a:srgbClr val="4B5068"/>
          </a:solidFill>
          <a:ln w="12700">
            <a:solidFill>
              <a:srgbClr val="4B5068"/>
            </a:solidFill>
            <a:prstDash val="solid"/>
          </a:ln>
        </p:spPr>
      </p:sp>
      <p:sp>
        <p:nvSpPr>
          <p:cNvPr id="12" name="Text 10"/>
          <p:cNvSpPr/>
          <p:nvPr/>
        </p:nvSpPr>
        <p:spPr>
          <a:xfrm>
            <a:off x="6318504" y="2843784"/>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90 %</a:t>
            </a:r>
            <a:endParaRPr lang="en-US" sz="1600" dirty="0"/>
          </a:p>
        </p:txBody>
      </p:sp>
      <p:sp>
        <p:nvSpPr>
          <p:cNvPr id="13" name="Text 11"/>
          <p:cNvSpPr/>
          <p:nvPr/>
        </p:nvSpPr>
        <p:spPr>
          <a:xfrm>
            <a:off x="594360" y="3374136"/>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Rougeole 1, 2025</a:t>
            </a:r>
            <a:endParaRPr lang="en-US" sz="1500" dirty="0"/>
          </a:p>
        </p:txBody>
      </p:sp>
      <p:sp>
        <p:nvSpPr>
          <p:cNvPr id="14" name="Shape 12"/>
          <p:cNvSpPr/>
          <p:nvPr/>
        </p:nvSpPr>
        <p:spPr>
          <a:xfrm>
            <a:off x="3429000" y="3438144"/>
            <a:ext cx="2051914" cy="329184"/>
          </a:xfrm>
          <a:prstGeom prst="roundRect">
            <a:avLst>
              <a:gd name="adj" fmla="val 13889"/>
            </a:avLst>
          </a:prstGeom>
          <a:solidFill>
            <a:srgbClr val="FF4757"/>
          </a:solidFill>
          <a:ln w="12700">
            <a:solidFill>
              <a:srgbClr val="FF4757"/>
            </a:solidFill>
            <a:prstDash val="solid"/>
          </a:ln>
        </p:spPr>
      </p:sp>
      <p:sp>
        <p:nvSpPr>
          <p:cNvPr id="15" name="Text 13"/>
          <p:cNvSpPr/>
          <p:nvPr/>
        </p:nvSpPr>
        <p:spPr>
          <a:xfrm>
            <a:off x="5572354" y="3374136"/>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66 %</a:t>
            </a:r>
            <a:endParaRPr lang="en-US" sz="1600" dirty="0"/>
          </a:p>
        </p:txBody>
      </p:sp>
      <p:sp>
        <p:nvSpPr>
          <p:cNvPr id="16" name="Text 14"/>
          <p:cNvSpPr/>
          <p:nvPr/>
        </p:nvSpPr>
        <p:spPr>
          <a:xfrm>
            <a:off x="594360" y="3904488"/>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Rougeole 2, 2025</a:t>
            </a:r>
            <a:endParaRPr lang="en-US" sz="1500" dirty="0"/>
          </a:p>
        </p:txBody>
      </p:sp>
      <p:sp>
        <p:nvSpPr>
          <p:cNvPr id="17" name="Shape 15"/>
          <p:cNvSpPr/>
          <p:nvPr/>
        </p:nvSpPr>
        <p:spPr>
          <a:xfrm>
            <a:off x="3429000" y="3968496"/>
            <a:ext cx="2114093" cy="329184"/>
          </a:xfrm>
          <a:prstGeom prst="roundRect">
            <a:avLst>
              <a:gd name="adj" fmla="val 13889"/>
            </a:avLst>
          </a:prstGeom>
          <a:solidFill>
            <a:srgbClr val="FF4757"/>
          </a:solidFill>
          <a:ln w="12700">
            <a:solidFill>
              <a:srgbClr val="FF4757"/>
            </a:solidFill>
            <a:prstDash val="solid"/>
          </a:ln>
        </p:spPr>
      </p:sp>
      <p:sp>
        <p:nvSpPr>
          <p:cNvPr id="18" name="Text 16"/>
          <p:cNvSpPr/>
          <p:nvPr/>
        </p:nvSpPr>
        <p:spPr>
          <a:xfrm>
            <a:off x="5634533" y="3904488"/>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68 %</a:t>
            </a:r>
            <a:endParaRPr lang="en-US" sz="1600" dirty="0"/>
          </a:p>
        </p:txBody>
      </p:sp>
      <p:sp>
        <p:nvSpPr>
          <p:cNvPr id="19" name="Text 17"/>
          <p:cNvSpPr/>
          <p:nvPr/>
        </p:nvSpPr>
        <p:spPr>
          <a:xfrm>
            <a:off x="594360" y="4526280"/>
            <a:ext cx="6766560" cy="146304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La Roumanie est loin du niveau qu’elle avait avant la pandémie.</a:t>
            </a:r>
            <a:endParaRPr lang="en-US" sz="1800" dirty="0"/>
          </a:p>
        </p:txBody>
      </p:sp>
      <p:sp>
        <p:nvSpPr>
          <p:cNvPr id="20" name="Shape 18"/>
          <p:cNvSpPr/>
          <p:nvPr/>
        </p:nvSpPr>
        <p:spPr>
          <a:xfrm>
            <a:off x="7635240" y="1783080"/>
            <a:ext cx="3931920" cy="2011680"/>
          </a:xfrm>
          <a:prstGeom prst="roundRect">
            <a:avLst>
              <a:gd name="adj" fmla="val 4091"/>
            </a:avLst>
          </a:prstGeom>
          <a:solidFill>
            <a:srgbClr val="1D1F2B"/>
          </a:solidFill>
          <a:ln w="12700">
            <a:solidFill>
              <a:srgbClr val="1D1F2B"/>
            </a:solidFill>
            <a:prstDash val="solid"/>
          </a:ln>
        </p:spPr>
      </p:sp>
      <p:sp>
        <p:nvSpPr>
          <p:cNvPr id="21" name="Text 19"/>
          <p:cNvSpPr/>
          <p:nvPr/>
        </p:nvSpPr>
        <p:spPr>
          <a:xfrm>
            <a:off x="7863840" y="1783080"/>
            <a:ext cx="3474720" cy="2011680"/>
          </a:xfrm>
          <a:prstGeom prst="rect">
            <a:avLst/>
          </a:prstGeom>
          <a:noFill/>
          <a:ln/>
        </p:spPr>
        <p:txBody>
          <a:bodyPr wrap="square" lIns="0" tIns="0" rIns="0" bIns="0" rtlCol="0" anchor="ctr"/>
          <a:lstStyle/>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La prématurité (OMS) : naissance avant 37 semaines complètes. À l’échelle mondiale, ses complications sont la principale cause de décès avant 5 ans ; les trois quarts de ces décès pourraient être évités.</a:t>
            </a:r>
            <a:endParaRPr lang="en-US" sz="1300" dirty="0"/>
          </a:p>
        </p:txBody>
      </p:sp>
      <p:sp>
        <p:nvSpPr>
          <p:cNvPr id="22" name="Shape 20"/>
          <p:cNvSpPr/>
          <p:nvPr/>
        </p:nvSpPr>
        <p:spPr>
          <a:xfrm>
            <a:off x="7635240" y="3977640"/>
            <a:ext cx="3931920" cy="2011680"/>
          </a:xfrm>
          <a:prstGeom prst="roundRect">
            <a:avLst>
              <a:gd name="adj" fmla="val 4091"/>
            </a:avLst>
          </a:prstGeom>
          <a:solidFill>
            <a:srgbClr val="272A38"/>
          </a:solidFill>
          <a:ln w="12700">
            <a:solidFill>
              <a:srgbClr val="272A38"/>
            </a:solidFill>
            <a:prstDash val="solid"/>
          </a:ln>
        </p:spPr>
      </p:sp>
      <p:sp>
        <p:nvSpPr>
          <p:cNvPr id="23" name="Text 21"/>
          <p:cNvSpPr/>
          <p:nvPr/>
        </p:nvSpPr>
        <p:spPr>
          <a:xfrm>
            <a:off x="7863840" y="3977640"/>
            <a:ext cx="3474720" cy="201168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Les 1 000 premiers jours, de la conception à deux ans : leurs effets à long terme ne sont pas développés ici. Le lien avec les maladies chroniques de l’adulte : cours 4.</a:t>
            </a:r>
            <a:endParaRPr lang="en-US" sz="14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et UNICEF.</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BINÔMES · 3 MINUTES</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L’INDICATEUR À L’INTERVENTION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 indicateur, une intervention au cabinet et une du système</a:t>
            </a:r>
            <a:endParaRPr lang="en-US" sz="3200" dirty="0"/>
          </a:p>
        </p:txBody>
      </p:sp>
      <p:sp>
        <p:nvSpPr>
          <p:cNvPr id="6" name="Text 4"/>
          <p:cNvSpPr/>
          <p:nvPr/>
        </p:nvSpPr>
        <p:spPr>
          <a:xfrm>
            <a:off x="594360" y="1828800"/>
            <a:ext cx="10972800" cy="4572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Choisissez-en un :</a:t>
            </a:r>
            <a:endParaRPr lang="en-US" sz="2000" dirty="0"/>
          </a:p>
        </p:txBody>
      </p:sp>
      <p:sp>
        <p:nvSpPr>
          <p:cNvPr id="7" name="Shape 5"/>
          <p:cNvSpPr/>
          <p:nvPr/>
        </p:nvSpPr>
        <p:spPr>
          <a:xfrm>
            <a:off x="594360" y="2377440"/>
            <a:ext cx="3520440" cy="914400"/>
          </a:xfrm>
          <a:prstGeom prst="roundRect">
            <a:avLst>
              <a:gd name="adj" fmla="val 9000"/>
            </a:avLst>
          </a:prstGeom>
          <a:solidFill>
            <a:srgbClr val="1D1F2B"/>
          </a:solidFill>
          <a:ln w="12700">
            <a:solidFill>
              <a:srgbClr val="1D1F2B"/>
            </a:solidFill>
            <a:prstDash val="solid"/>
          </a:ln>
        </p:spPr>
      </p:sp>
      <p:sp>
        <p:nvSpPr>
          <p:cNvPr id="8" name="Text 6"/>
          <p:cNvSpPr/>
          <p:nvPr/>
        </p:nvSpPr>
        <p:spPr>
          <a:xfrm>
            <a:off x="731520" y="2377440"/>
            <a:ext cx="3246120" cy="91440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la mortalité post-néonatale</a:t>
            </a:r>
            <a:endParaRPr lang="en-US" sz="1900" dirty="0"/>
          </a:p>
        </p:txBody>
      </p:sp>
      <p:sp>
        <p:nvSpPr>
          <p:cNvPr id="9" name="Shape 7"/>
          <p:cNvSpPr/>
          <p:nvPr/>
        </p:nvSpPr>
        <p:spPr>
          <a:xfrm>
            <a:off x="4389120" y="2377440"/>
            <a:ext cx="3520440" cy="914400"/>
          </a:xfrm>
          <a:prstGeom prst="roundRect">
            <a:avLst>
              <a:gd name="adj" fmla="val 9000"/>
            </a:avLst>
          </a:prstGeom>
          <a:solidFill>
            <a:srgbClr val="1D1F2B"/>
          </a:solidFill>
          <a:ln w="12700">
            <a:solidFill>
              <a:srgbClr val="1D1F2B"/>
            </a:solidFill>
            <a:prstDash val="solid"/>
          </a:ln>
        </p:spPr>
      </p:sp>
      <p:sp>
        <p:nvSpPr>
          <p:cNvPr id="10" name="Text 8"/>
          <p:cNvSpPr/>
          <p:nvPr/>
        </p:nvSpPr>
        <p:spPr>
          <a:xfrm>
            <a:off x="4526280" y="2377440"/>
            <a:ext cx="3246120" cy="91440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les naissances chez les adolescentes</a:t>
            </a:r>
            <a:endParaRPr lang="en-US" sz="1900" dirty="0"/>
          </a:p>
        </p:txBody>
      </p:sp>
      <p:sp>
        <p:nvSpPr>
          <p:cNvPr id="11" name="Shape 9"/>
          <p:cNvSpPr/>
          <p:nvPr/>
        </p:nvSpPr>
        <p:spPr>
          <a:xfrm>
            <a:off x="8183880" y="2377440"/>
            <a:ext cx="3520440" cy="914400"/>
          </a:xfrm>
          <a:prstGeom prst="roundRect">
            <a:avLst>
              <a:gd name="adj" fmla="val 9000"/>
            </a:avLst>
          </a:prstGeom>
          <a:solidFill>
            <a:srgbClr val="1D1F2B"/>
          </a:solidFill>
          <a:ln w="12700">
            <a:solidFill>
              <a:srgbClr val="1D1F2B"/>
            </a:solidFill>
            <a:prstDash val="solid"/>
          </a:ln>
        </p:spPr>
      </p:sp>
      <p:sp>
        <p:nvSpPr>
          <p:cNvPr id="12" name="Text 10"/>
          <p:cNvSpPr/>
          <p:nvPr/>
        </p:nvSpPr>
        <p:spPr>
          <a:xfrm>
            <a:off x="8321040" y="2377440"/>
            <a:ext cx="3246120" cy="91440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la couverture vaccinale</a:t>
            </a:r>
            <a:endParaRPr lang="en-US" sz="1900" dirty="0"/>
          </a:p>
        </p:txBody>
      </p:sp>
      <p:sp>
        <p:nvSpPr>
          <p:cNvPr id="13" name="Shape 11"/>
          <p:cNvSpPr/>
          <p:nvPr/>
        </p:nvSpPr>
        <p:spPr>
          <a:xfrm>
            <a:off x="594360" y="3657600"/>
            <a:ext cx="5349240" cy="1737360"/>
          </a:xfrm>
          <a:prstGeom prst="roundRect">
            <a:avLst>
              <a:gd name="adj" fmla="val 4737"/>
            </a:avLst>
          </a:prstGeom>
          <a:solidFill>
            <a:srgbClr val="272A38"/>
          </a:solidFill>
          <a:ln w="12700">
            <a:solidFill>
              <a:srgbClr val="272A38"/>
            </a:solidFill>
            <a:prstDash val="solid"/>
          </a:ln>
        </p:spPr>
      </p:sp>
      <p:sp>
        <p:nvSpPr>
          <p:cNvPr id="14" name="Text 12"/>
          <p:cNvSpPr/>
          <p:nvPr/>
        </p:nvSpPr>
        <p:spPr>
          <a:xfrm>
            <a:off x="868680" y="3657600"/>
            <a:ext cx="4846320" cy="173736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Une intervention qu’un médecin de famille peut mener dans son cabinet.</a:t>
            </a:r>
            <a:endParaRPr lang="en-US" sz="1900" dirty="0"/>
          </a:p>
        </p:txBody>
      </p:sp>
      <p:sp>
        <p:nvSpPr>
          <p:cNvPr id="15" name="Shape 13"/>
          <p:cNvSpPr/>
          <p:nvPr/>
        </p:nvSpPr>
        <p:spPr>
          <a:xfrm>
            <a:off x="6217920" y="3657600"/>
            <a:ext cx="5349240" cy="1737360"/>
          </a:xfrm>
          <a:prstGeom prst="roundRect">
            <a:avLst>
              <a:gd name="adj" fmla="val 4737"/>
            </a:avLst>
          </a:prstGeom>
          <a:solidFill>
            <a:srgbClr val="272A38"/>
          </a:solidFill>
          <a:ln w="12700">
            <a:solidFill>
              <a:srgbClr val="272A38"/>
            </a:solidFill>
            <a:prstDash val="solid"/>
          </a:ln>
        </p:spPr>
      </p:sp>
      <p:sp>
        <p:nvSpPr>
          <p:cNvPr id="16" name="Text 14"/>
          <p:cNvSpPr/>
          <p:nvPr/>
        </p:nvSpPr>
        <p:spPr>
          <a:xfrm>
            <a:off x="6492240" y="3657600"/>
            <a:ext cx="4846320" cy="173736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Une intervention qui dépend du système de santé.</a:t>
            </a:r>
            <a:endParaRPr lang="en-US" sz="1900" dirty="0"/>
          </a:p>
        </p:txBody>
      </p:sp>
      <p:sp>
        <p:nvSpPr>
          <p:cNvPr id="17" name="Text 15"/>
          <p:cNvSpPr/>
          <p:nvPr/>
        </p:nvSpPr>
        <p:spPr>
          <a:xfrm>
            <a:off x="594360" y="562356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Trois minutes en binômes, puis deux binômes présentent leurs propositions.</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RÉCAPITULATION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Vrai ou faux ? Dix affirmations</a:t>
            </a:r>
            <a:endParaRPr lang="en-US" sz="3400" dirty="0"/>
          </a:p>
        </p:txBody>
      </p:sp>
      <p:sp>
        <p:nvSpPr>
          <p:cNvPr id="6" name="Shape 4"/>
          <p:cNvSpPr/>
          <p:nvPr/>
        </p:nvSpPr>
        <p:spPr>
          <a:xfrm>
            <a:off x="594360" y="2011680"/>
            <a:ext cx="5349240" cy="2011680"/>
          </a:xfrm>
          <a:prstGeom prst="roundRect">
            <a:avLst>
              <a:gd name="adj" fmla="val 4091"/>
            </a:avLst>
          </a:prstGeom>
          <a:solidFill>
            <a:srgbClr val="27D3BE"/>
          </a:solidFill>
          <a:ln w="12700">
            <a:solidFill>
              <a:srgbClr val="27D3BE"/>
            </a:solidFill>
            <a:prstDash val="solid"/>
          </a:ln>
        </p:spPr>
      </p:sp>
      <p:sp>
        <p:nvSpPr>
          <p:cNvPr id="7" name="Text 5"/>
          <p:cNvSpPr/>
          <p:nvPr/>
        </p:nvSpPr>
        <p:spPr>
          <a:xfrm>
            <a:off x="731520" y="2011680"/>
            <a:ext cx="5074920" cy="2011680"/>
          </a:xfrm>
          <a:prstGeom prst="rect">
            <a:avLst/>
          </a:prstGeom>
          <a:noFill/>
          <a:ln/>
        </p:spPr>
        <p:txBody>
          <a:bodyPr wrap="square" lIns="0" tIns="0" rIns="0" bIns="0" rtlCol="0" anchor="ctr"/>
          <a:lstStyle/>
          <a:p>
            <a:pPr algn="ctr" indent="0" marL="0">
              <a:buNone/>
            </a:pPr>
            <a:r>
              <a:rPr lang="en-US" sz="4000" b="1" dirty="0">
                <a:solidFill>
                  <a:srgbClr val="073B34"/>
                </a:solidFill>
                <a:latin typeface="Palatino Linotype" pitchFamily="34" charset="0"/>
                <a:ea typeface="Palatino Linotype" pitchFamily="34" charset="-122"/>
                <a:cs typeface="Palatino Linotype" pitchFamily="34" charset="-120"/>
              </a:rPr>
              <a:t>VRAI</a:t>
            </a:r>
            <a:endParaRPr lang="en-US" sz="4000" dirty="0"/>
          </a:p>
        </p:txBody>
      </p:sp>
      <p:sp>
        <p:nvSpPr>
          <p:cNvPr id="8" name="Shape 6"/>
          <p:cNvSpPr/>
          <p:nvPr/>
        </p:nvSpPr>
        <p:spPr>
          <a:xfrm>
            <a:off x="6217920" y="2011680"/>
            <a:ext cx="5349240" cy="2011680"/>
          </a:xfrm>
          <a:prstGeom prst="roundRect">
            <a:avLst>
              <a:gd name="adj" fmla="val 4091"/>
            </a:avLst>
          </a:prstGeom>
          <a:solidFill>
            <a:srgbClr val="FF4757"/>
          </a:solidFill>
          <a:ln w="12700">
            <a:solidFill>
              <a:srgbClr val="FF4757"/>
            </a:solidFill>
            <a:prstDash val="solid"/>
          </a:ln>
        </p:spPr>
      </p:sp>
      <p:sp>
        <p:nvSpPr>
          <p:cNvPr id="9" name="Text 7"/>
          <p:cNvSpPr/>
          <p:nvPr/>
        </p:nvSpPr>
        <p:spPr>
          <a:xfrm>
            <a:off x="6355080" y="2011680"/>
            <a:ext cx="5074920" cy="2011680"/>
          </a:xfrm>
          <a:prstGeom prst="rect">
            <a:avLst/>
          </a:prstGeom>
          <a:noFill/>
          <a:ln/>
        </p:spPr>
        <p:txBody>
          <a:bodyPr wrap="square" lIns="0" tIns="0" rIns="0" bIns="0" rtlCol="0" anchor="ctr"/>
          <a:lstStyle/>
          <a:p>
            <a:pPr algn="ctr" indent="0" marL="0">
              <a:buNone/>
            </a:pPr>
            <a:r>
              <a:rPr lang="en-US" sz="4000" b="1" dirty="0">
                <a:solidFill>
                  <a:srgbClr val="2E060B"/>
                </a:solidFill>
                <a:latin typeface="Palatino Linotype" pitchFamily="34" charset="0"/>
                <a:ea typeface="Palatino Linotype" pitchFamily="34" charset="-122"/>
                <a:cs typeface="Palatino Linotype" pitchFamily="34" charset="-120"/>
              </a:rPr>
              <a:t>FAUX</a:t>
            </a:r>
            <a:endParaRPr lang="en-US" sz="4000" dirty="0"/>
          </a:p>
        </p:txBody>
      </p:sp>
      <p:sp>
        <p:nvSpPr>
          <p:cNvPr id="10" name="Text 8"/>
          <p:cNvSpPr/>
          <p:nvPr/>
        </p:nvSpPr>
        <p:spPr>
          <a:xfrm>
            <a:off x="594360" y="438912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Sur téléphone, au code affiché. Vingt secondes pour chaque affirmation.</a:t>
            </a:r>
            <a:endParaRPr lang="en-US" sz="2000" dirty="0"/>
          </a:p>
        </p:txBody>
      </p:sp>
      <p:sp>
        <p:nvSpPr>
          <p:cNvPr id="11" name="Text 9"/>
          <p:cNvSpPr/>
          <p:nvPr/>
        </p:nvSpPr>
        <p:spPr>
          <a:xfrm>
            <a:off x="594360" y="502920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Les affirmations portent sur tout le cours d’aujourd’hui.</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CORRIGÉ DU JEU</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Vrai ou faux : les réponses</a:t>
            </a:r>
            <a:endParaRPr lang="en-US" sz="3200" dirty="0"/>
          </a:p>
        </p:txBody>
      </p:sp>
      <p:sp>
        <p:nvSpPr>
          <p:cNvPr id="4" name="Shape 2"/>
          <p:cNvSpPr/>
          <p:nvPr/>
        </p:nvSpPr>
        <p:spPr>
          <a:xfrm>
            <a:off x="594360" y="1783080"/>
            <a:ext cx="5349240" cy="731520"/>
          </a:xfrm>
          <a:prstGeom prst="roundRect">
            <a:avLst>
              <a:gd name="adj" fmla="val 11250"/>
            </a:avLst>
          </a:prstGeom>
          <a:solidFill>
            <a:srgbClr val="ECEAE4"/>
          </a:solidFill>
          <a:ln w="12700">
            <a:solidFill>
              <a:srgbClr val="ECEAE4"/>
            </a:solidFill>
            <a:prstDash val="solid"/>
          </a:ln>
        </p:spPr>
      </p:sp>
      <p:sp>
        <p:nvSpPr>
          <p:cNvPr id="5" name="Shape 3"/>
          <p:cNvSpPr/>
          <p:nvPr/>
        </p:nvSpPr>
        <p:spPr>
          <a:xfrm>
            <a:off x="777240" y="1938528"/>
            <a:ext cx="420624" cy="420624"/>
          </a:xfrm>
          <a:prstGeom prst="ellipse">
            <a:avLst/>
          </a:prstGeom>
          <a:solidFill>
            <a:srgbClr val="FFC24B"/>
          </a:solidFill>
          <a:ln/>
        </p:spPr>
      </p:sp>
      <p:sp>
        <p:nvSpPr>
          <p:cNvPr id="6" name="Text 4"/>
          <p:cNvSpPr/>
          <p:nvPr/>
        </p:nvSpPr>
        <p:spPr>
          <a:xfrm>
            <a:off x="777240" y="1938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783080"/>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8" name="Text 6"/>
          <p:cNvSpPr/>
          <p:nvPr/>
        </p:nvSpPr>
        <p:spPr>
          <a:xfrm>
            <a:off x="1965960" y="1783080"/>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la mortalité baisse la première</a:t>
            </a:r>
            <a:endParaRPr lang="en-US" sz="1400" dirty="0"/>
          </a:p>
        </p:txBody>
      </p:sp>
      <p:sp>
        <p:nvSpPr>
          <p:cNvPr id="9" name="Shape 7"/>
          <p:cNvSpPr/>
          <p:nvPr/>
        </p:nvSpPr>
        <p:spPr>
          <a:xfrm>
            <a:off x="594360" y="2633472"/>
            <a:ext cx="5349240" cy="731520"/>
          </a:xfrm>
          <a:prstGeom prst="roundRect">
            <a:avLst>
              <a:gd name="adj" fmla="val 11250"/>
            </a:avLst>
          </a:prstGeom>
          <a:solidFill>
            <a:srgbClr val="ECEAE4"/>
          </a:solidFill>
          <a:ln w="12700">
            <a:solidFill>
              <a:srgbClr val="ECEAE4"/>
            </a:solidFill>
            <a:prstDash val="solid"/>
          </a:ln>
        </p:spPr>
      </p:sp>
      <p:sp>
        <p:nvSpPr>
          <p:cNvPr id="10" name="Shape 8"/>
          <p:cNvSpPr/>
          <p:nvPr/>
        </p:nvSpPr>
        <p:spPr>
          <a:xfrm>
            <a:off x="777240" y="2788920"/>
            <a:ext cx="420624" cy="420624"/>
          </a:xfrm>
          <a:prstGeom prst="ellipse">
            <a:avLst/>
          </a:prstGeom>
          <a:solidFill>
            <a:srgbClr val="FFC24B"/>
          </a:solidFill>
          <a:ln/>
        </p:spPr>
      </p:sp>
      <p:sp>
        <p:nvSpPr>
          <p:cNvPr id="11" name="Text 9"/>
          <p:cNvSpPr/>
          <p:nvPr/>
        </p:nvSpPr>
        <p:spPr>
          <a:xfrm>
            <a:off x="777240" y="27889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371600" y="2633472"/>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13" name="Text 11"/>
          <p:cNvSpPr/>
          <p:nvPr/>
        </p:nvSpPr>
        <p:spPr>
          <a:xfrm>
            <a:off x="1965960" y="2633472"/>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dépend de la structure par âge</a:t>
            </a:r>
            <a:endParaRPr lang="en-US" sz="1400" dirty="0"/>
          </a:p>
        </p:txBody>
      </p:sp>
      <p:sp>
        <p:nvSpPr>
          <p:cNvPr id="14" name="Shape 12"/>
          <p:cNvSpPr/>
          <p:nvPr/>
        </p:nvSpPr>
        <p:spPr>
          <a:xfrm>
            <a:off x="594360" y="3483864"/>
            <a:ext cx="5349240" cy="731520"/>
          </a:xfrm>
          <a:prstGeom prst="roundRect">
            <a:avLst>
              <a:gd name="adj" fmla="val 11250"/>
            </a:avLst>
          </a:prstGeom>
          <a:solidFill>
            <a:srgbClr val="ECEAE4"/>
          </a:solidFill>
          <a:ln w="12700">
            <a:solidFill>
              <a:srgbClr val="ECEAE4"/>
            </a:solidFill>
            <a:prstDash val="solid"/>
          </a:ln>
        </p:spPr>
      </p:sp>
      <p:sp>
        <p:nvSpPr>
          <p:cNvPr id="15" name="Shape 13"/>
          <p:cNvSpPr/>
          <p:nvPr/>
        </p:nvSpPr>
        <p:spPr>
          <a:xfrm>
            <a:off x="777240" y="3639312"/>
            <a:ext cx="420624" cy="420624"/>
          </a:xfrm>
          <a:prstGeom prst="ellipse">
            <a:avLst/>
          </a:prstGeom>
          <a:solidFill>
            <a:srgbClr val="FFC24B"/>
          </a:solidFill>
          <a:ln/>
        </p:spPr>
      </p:sp>
      <p:sp>
        <p:nvSpPr>
          <p:cNvPr id="16" name="Text 14"/>
          <p:cNvSpPr/>
          <p:nvPr/>
        </p:nvSpPr>
        <p:spPr>
          <a:xfrm>
            <a:off x="777240" y="36393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371600" y="3483864"/>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18" name="Text 16"/>
          <p:cNvSpPr/>
          <p:nvPr/>
        </p:nvSpPr>
        <p:spPr>
          <a:xfrm>
            <a:off x="1965960" y="3483864"/>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mortalité brute : 12,8 contre 10,7</a:t>
            </a:r>
            <a:endParaRPr lang="en-US" sz="1400" dirty="0"/>
          </a:p>
        </p:txBody>
      </p:sp>
      <p:sp>
        <p:nvSpPr>
          <p:cNvPr id="19" name="Shape 17"/>
          <p:cNvSpPr/>
          <p:nvPr/>
        </p:nvSpPr>
        <p:spPr>
          <a:xfrm>
            <a:off x="594360" y="4334256"/>
            <a:ext cx="5349240" cy="731520"/>
          </a:xfrm>
          <a:prstGeom prst="roundRect">
            <a:avLst>
              <a:gd name="adj" fmla="val 11250"/>
            </a:avLst>
          </a:prstGeom>
          <a:solidFill>
            <a:srgbClr val="ECEAE4"/>
          </a:solidFill>
          <a:ln w="12700">
            <a:solidFill>
              <a:srgbClr val="ECEAE4"/>
            </a:solidFill>
            <a:prstDash val="solid"/>
          </a:ln>
        </p:spPr>
      </p:sp>
      <p:sp>
        <p:nvSpPr>
          <p:cNvPr id="20" name="Shape 18"/>
          <p:cNvSpPr/>
          <p:nvPr/>
        </p:nvSpPr>
        <p:spPr>
          <a:xfrm>
            <a:off x="777240" y="4489704"/>
            <a:ext cx="420624" cy="420624"/>
          </a:xfrm>
          <a:prstGeom prst="ellipse">
            <a:avLst/>
          </a:prstGeom>
          <a:solidFill>
            <a:srgbClr val="FFC24B"/>
          </a:solidFill>
          <a:ln/>
        </p:spPr>
      </p:sp>
      <p:sp>
        <p:nvSpPr>
          <p:cNvPr id="21" name="Text 19"/>
          <p:cNvSpPr/>
          <p:nvPr/>
        </p:nvSpPr>
        <p:spPr>
          <a:xfrm>
            <a:off x="777240" y="4489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371600" y="4334256"/>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23" name="Text 21"/>
          <p:cNvSpPr/>
          <p:nvPr/>
        </p:nvSpPr>
        <p:spPr>
          <a:xfrm>
            <a:off x="1965960" y="4334256"/>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les enfants et les jeunes femmes</a:t>
            </a:r>
            <a:endParaRPr lang="en-US" sz="1400" dirty="0"/>
          </a:p>
        </p:txBody>
      </p:sp>
      <p:sp>
        <p:nvSpPr>
          <p:cNvPr id="24" name="Shape 22"/>
          <p:cNvSpPr/>
          <p:nvPr/>
        </p:nvSpPr>
        <p:spPr>
          <a:xfrm>
            <a:off x="594360" y="5184648"/>
            <a:ext cx="5349240" cy="731520"/>
          </a:xfrm>
          <a:prstGeom prst="roundRect">
            <a:avLst>
              <a:gd name="adj" fmla="val 11250"/>
            </a:avLst>
          </a:prstGeom>
          <a:solidFill>
            <a:srgbClr val="ECEAE4"/>
          </a:solidFill>
          <a:ln w="12700">
            <a:solidFill>
              <a:srgbClr val="ECEAE4"/>
            </a:solidFill>
            <a:prstDash val="solid"/>
          </a:ln>
        </p:spPr>
      </p:sp>
      <p:sp>
        <p:nvSpPr>
          <p:cNvPr id="25" name="Shape 23"/>
          <p:cNvSpPr/>
          <p:nvPr/>
        </p:nvSpPr>
        <p:spPr>
          <a:xfrm>
            <a:off x="777240" y="5340096"/>
            <a:ext cx="420624" cy="420624"/>
          </a:xfrm>
          <a:prstGeom prst="ellipse">
            <a:avLst/>
          </a:prstGeom>
          <a:solidFill>
            <a:srgbClr val="FFC24B"/>
          </a:solidFill>
          <a:ln/>
        </p:spPr>
      </p:sp>
      <p:sp>
        <p:nvSpPr>
          <p:cNvPr id="26" name="Text 24"/>
          <p:cNvSpPr/>
          <p:nvPr/>
        </p:nvSpPr>
        <p:spPr>
          <a:xfrm>
            <a:off x="777240" y="5340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7" name="Text 25"/>
          <p:cNvSpPr/>
          <p:nvPr/>
        </p:nvSpPr>
        <p:spPr>
          <a:xfrm>
            <a:off x="1371600" y="5184648"/>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28" name="Text 26"/>
          <p:cNvSpPr/>
          <p:nvPr/>
        </p:nvSpPr>
        <p:spPr>
          <a:xfrm>
            <a:off x="1965960" y="5184648"/>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1,93 fois plus</a:t>
            </a:r>
            <a:endParaRPr lang="en-US" sz="1400" dirty="0"/>
          </a:p>
        </p:txBody>
      </p:sp>
      <p:sp>
        <p:nvSpPr>
          <p:cNvPr id="29" name="Shape 27"/>
          <p:cNvSpPr/>
          <p:nvPr/>
        </p:nvSpPr>
        <p:spPr>
          <a:xfrm>
            <a:off x="6217920" y="1783080"/>
            <a:ext cx="5349240" cy="731520"/>
          </a:xfrm>
          <a:prstGeom prst="roundRect">
            <a:avLst>
              <a:gd name="adj" fmla="val 11250"/>
            </a:avLst>
          </a:prstGeom>
          <a:solidFill>
            <a:srgbClr val="ECEAE4"/>
          </a:solidFill>
          <a:ln w="12700">
            <a:solidFill>
              <a:srgbClr val="ECEAE4"/>
            </a:solidFill>
            <a:prstDash val="solid"/>
          </a:ln>
        </p:spPr>
      </p:sp>
      <p:sp>
        <p:nvSpPr>
          <p:cNvPr id="30" name="Shape 28"/>
          <p:cNvSpPr/>
          <p:nvPr/>
        </p:nvSpPr>
        <p:spPr>
          <a:xfrm>
            <a:off x="6400800" y="1938528"/>
            <a:ext cx="420624" cy="420624"/>
          </a:xfrm>
          <a:prstGeom prst="ellipse">
            <a:avLst/>
          </a:prstGeom>
          <a:solidFill>
            <a:srgbClr val="FFC24B"/>
          </a:solidFill>
          <a:ln/>
        </p:spPr>
      </p:sp>
      <p:sp>
        <p:nvSpPr>
          <p:cNvPr id="31" name="Text 29"/>
          <p:cNvSpPr/>
          <p:nvPr/>
        </p:nvSpPr>
        <p:spPr>
          <a:xfrm>
            <a:off x="6400800" y="1938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32" name="Text 30"/>
          <p:cNvSpPr/>
          <p:nvPr/>
        </p:nvSpPr>
        <p:spPr>
          <a:xfrm>
            <a:off x="6995160" y="1783080"/>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33" name="Text 31"/>
          <p:cNvSpPr/>
          <p:nvPr/>
        </p:nvSpPr>
        <p:spPr>
          <a:xfrm>
            <a:off x="7589520" y="1783080"/>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20,3 % contre 22,0 %</a:t>
            </a:r>
            <a:endParaRPr lang="en-US" sz="1400" dirty="0"/>
          </a:p>
        </p:txBody>
      </p:sp>
      <p:sp>
        <p:nvSpPr>
          <p:cNvPr id="34" name="Shape 32"/>
          <p:cNvSpPr/>
          <p:nvPr/>
        </p:nvSpPr>
        <p:spPr>
          <a:xfrm>
            <a:off x="6217920" y="2633472"/>
            <a:ext cx="5349240" cy="731520"/>
          </a:xfrm>
          <a:prstGeom prst="roundRect">
            <a:avLst>
              <a:gd name="adj" fmla="val 11250"/>
            </a:avLst>
          </a:prstGeom>
          <a:solidFill>
            <a:srgbClr val="ECEAE4"/>
          </a:solidFill>
          <a:ln w="12700">
            <a:solidFill>
              <a:srgbClr val="ECEAE4"/>
            </a:solidFill>
            <a:prstDash val="solid"/>
          </a:ln>
        </p:spPr>
      </p:sp>
      <p:sp>
        <p:nvSpPr>
          <p:cNvPr id="35" name="Shape 33"/>
          <p:cNvSpPr/>
          <p:nvPr/>
        </p:nvSpPr>
        <p:spPr>
          <a:xfrm>
            <a:off x="6400800" y="2788920"/>
            <a:ext cx="420624" cy="420624"/>
          </a:xfrm>
          <a:prstGeom prst="ellipse">
            <a:avLst/>
          </a:prstGeom>
          <a:solidFill>
            <a:srgbClr val="FFC24B"/>
          </a:solidFill>
          <a:ln/>
        </p:spPr>
      </p:sp>
      <p:sp>
        <p:nvSpPr>
          <p:cNvPr id="36" name="Text 34"/>
          <p:cNvSpPr/>
          <p:nvPr/>
        </p:nvSpPr>
        <p:spPr>
          <a:xfrm>
            <a:off x="6400800" y="27889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6995160" y="2633472"/>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38" name="Text 36"/>
          <p:cNvSpPr/>
          <p:nvPr/>
        </p:nvSpPr>
        <p:spPr>
          <a:xfrm>
            <a:off x="7589520" y="2633472"/>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montre ce qui suivrait si les hypothèses se vérifiaient</a:t>
            </a:r>
            <a:endParaRPr lang="en-US" sz="1400" dirty="0"/>
          </a:p>
        </p:txBody>
      </p:sp>
      <p:sp>
        <p:nvSpPr>
          <p:cNvPr id="39" name="Shape 37"/>
          <p:cNvSpPr/>
          <p:nvPr/>
        </p:nvSpPr>
        <p:spPr>
          <a:xfrm>
            <a:off x="6217920" y="3483864"/>
            <a:ext cx="5349240" cy="731520"/>
          </a:xfrm>
          <a:prstGeom prst="roundRect">
            <a:avLst>
              <a:gd name="adj" fmla="val 11250"/>
            </a:avLst>
          </a:prstGeom>
          <a:solidFill>
            <a:srgbClr val="ECEAE4"/>
          </a:solidFill>
          <a:ln w="12700">
            <a:solidFill>
              <a:srgbClr val="ECEAE4"/>
            </a:solidFill>
            <a:prstDash val="solid"/>
          </a:ln>
        </p:spPr>
      </p:sp>
      <p:sp>
        <p:nvSpPr>
          <p:cNvPr id="40" name="Shape 38"/>
          <p:cNvSpPr/>
          <p:nvPr/>
        </p:nvSpPr>
        <p:spPr>
          <a:xfrm>
            <a:off x="6400800" y="3639312"/>
            <a:ext cx="420624" cy="420624"/>
          </a:xfrm>
          <a:prstGeom prst="ellipse">
            <a:avLst/>
          </a:prstGeom>
          <a:solidFill>
            <a:srgbClr val="FFC24B"/>
          </a:solidFill>
          <a:ln/>
        </p:spPr>
      </p:sp>
      <p:sp>
        <p:nvSpPr>
          <p:cNvPr id="41" name="Text 39"/>
          <p:cNvSpPr/>
          <p:nvPr/>
        </p:nvSpPr>
        <p:spPr>
          <a:xfrm>
            <a:off x="6400800" y="36393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8</a:t>
            </a:r>
            <a:endParaRPr lang="en-US" sz="1400" dirty="0"/>
          </a:p>
        </p:txBody>
      </p:sp>
      <p:sp>
        <p:nvSpPr>
          <p:cNvPr id="42" name="Text 40"/>
          <p:cNvSpPr/>
          <p:nvPr/>
        </p:nvSpPr>
        <p:spPr>
          <a:xfrm>
            <a:off x="6995160" y="3483864"/>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43" name="Text 41"/>
          <p:cNvSpPr/>
          <p:nvPr/>
        </p:nvSpPr>
        <p:spPr>
          <a:xfrm>
            <a:off x="7589520" y="3483864"/>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de 28 jours à un an</a:t>
            </a:r>
            <a:endParaRPr lang="en-US" sz="1400" dirty="0"/>
          </a:p>
        </p:txBody>
      </p:sp>
      <p:sp>
        <p:nvSpPr>
          <p:cNvPr id="44" name="Shape 42"/>
          <p:cNvSpPr/>
          <p:nvPr/>
        </p:nvSpPr>
        <p:spPr>
          <a:xfrm>
            <a:off x="6217920" y="4334256"/>
            <a:ext cx="5349240" cy="731520"/>
          </a:xfrm>
          <a:prstGeom prst="roundRect">
            <a:avLst>
              <a:gd name="adj" fmla="val 11250"/>
            </a:avLst>
          </a:prstGeom>
          <a:solidFill>
            <a:srgbClr val="ECEAE4"/>
          </a:solidFill>
          <a:ln w="12700">
            <a:solidFill>
              <a:srgbClr val="ECEAE4"/>
            </a:solidFill>
            <a:prstDash val="solid"/>
          </a:ln>
        </p:spPr>
      </p:sp>
      <p:sp>
        <p:nvSpPr>
          <p:cNvPr id="45" name="Shape 43"/>
          <p:cNvSpPr/>
          <p:nvPr/>
        </p:nvSpPr>
        <p:spPr>
          <a:xfrm>
            <a:off x="6400800" y="4489704"/>
            <a:ext cx="420624" cy="420624"/>
          </a:xfrm>
          <a:prstGeom prst="ellipse">
            <a:avLst/>
          </a:prstGeom>
          <a:solidFill>
            <a:srgbClr val="FFC24B"/>
          </a:solidFill>
          <a:ln/>
        </p:spPr>
      </p:sp>
      <p:sp>
        <p:nvSpPr>
          <p:cNvPr id="46" name="Text 44"/>
          <p:cNvSpPr/>
          <p:nvPr/>
        </p:nvSpPr>
        <p:spPr>
          <a:xfrm>
            <a:off x="6400800" y="4489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9</a:t>
            </a:r>
            <a:endParaRPr lang="en-US" sz="1400" dirty="0"/>
          </a:p>
        </p:txBody>
      </p:sp>
      <p:sp>
        <p:nvSpPr>
          <p:cNvPr id="47" name="Text 45"/>
          <p:cNvSpPr/>
          <p:nvPr/>
        </p:nvSpPr>
        <p:spPr>
          <a:xfrm>
            <a:off x="6995160" y="4334256"/>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48" name="Text 46"/>
          <p:cNvSpPr/>
          <p:nvPr/>
        </p:nvSpPr>
        <p:spPr>
          <a:xfrm>
            <a:off x="7589520" y="4334256"/>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les causes accidentelles sont exclues</a:t>
            </a:r>
            <a:endParaRPr lang="en-US" sz="1400" dirty="0"/>
          </a:p>
        </p:txBody>
      </p:sp>
      <p:sp>
        <p:nvSpPr>
          <p:cNvPr id="49" name="Shape 47"/>
          <p:cNvSpPr/>
          <p:nvPr/>
        </p:nvSpPr>
        <p:spPr>
          <a:xfrm>
            <a:off x="6217920" y="5184648"/>
            <a:ext cx="5349240" cy="731520"/>
          </a:xfrm>
          <a:prstGeom prst="roundRect">
            <a:avLst>
              <a:gd name="adj" fmla="val 11250"/>
            </a:avLst>
          </a:prstGeom>
          <a:solidFill>
            <a:srgbClr val="ECEAE4"/>
          </a:solidFill>
          <a:ln w="12700">
            <a:solidFill>
              <a:srgbClr val="ECEAE4"/>
            </a:solidFill>
            <a:prstDash val="solid"/>
          </a:ln>
        </p:spPr>
      </p:sp>
      <p:sp>
        <p:nvSpPr>
          <p:cNvPr id="50" name="Shape 48"/>
          <p:cNvSpPr/>
          <p:nvPr/>
        </p:nvSpPr>
        <p:spPr>
          <a:xfrm>
            <a:off x="6400800" y="5340096"/>
            <a:ext cx="420624" cy="420624"/>
          </a:xfrm>
          <a:prstGeom prst="ellipse">
            <a:avLst/>
          </a:prstGeom>
          <a:solidFill>
            <a:srgbClr val="FFC24B"/>
          </a:solidFill>
          <a:ln/>
        </p:spPr>
      </p:sp>
      <p:sp>
        <p:nvSpPr>
          <p:cNvPr id="51" name="Text 49"/>
          <p:cNvSpPr/>
          <p:nvPr/>
        </p:nvSpPr>
        <p:spPr>
          <a:xfrm>
            <a:off x="6400800" y="5340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10</a:t>
            </a:r>
            <a:endParaRPr lang="en-US" sz="1400" dirty="0"/>
          </a:p>
        </p:txBody>
      </p:sp>
      <p:sp>
        <p:nvSpPr>
          <p:cNvPr id="52" name="Text 50"/>
          <p:cNvSpPr/>
          <p:nvPr/>
        </p:nvSpPr>
        <p:spPr>
          <a:xfrm>
            <a:off x="6995160" y="5184648"/>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53" name="Text 51"/>
          <p:cNvSpPr/>
          <p:nvPr/>
        </p:nvSpPr>
        <p:spPr>
          <a:xfrm>
            <a:off x="7589520" y="5184648"/>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DTC3 : 66 % contre 88 %</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EN UN SEUL ENDROIT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 Roumanie et l’Union européenne, en bref</a:t>
            </a:r>
            <a:endParaRPr lang="en-US" sz="3200" dirty="0"/>
          </a:p>
        </p:txBody>
      </p:sp>
      <p:sp>
        <p:nvSpPr>
          <p:cNvPr id="4" name="Shape 2"/>
          <p:cNvSpPr/>
          <p:nvPr/>
        </p:nvSpPr>
        <p:spPr>
          <a:xfrm>
            <a:off x="594360" y="1783080"/>
            <a:ext cx="10972800" cy="3657600"/>
          </a:xfrm>
          <a:prstGeom prst="roundRect">
            <a:avLst>
              <a:gd name="adj" fmla="val 2250"/>
            </a:avLst>
          </a:prstGeom>
          <a:solidFill>
            <a:srgbClr val="1D1F2B"/>
          </a:solidFill>
          <a:ln w="12700">
            <a:solidFill>
              <a:srgbClr val="1D1F2B"/>
            </a:solidFill>
            <a:prstDash val="solid"/>
          </a:ln>
        </p:spPr>
      </p:sp>
      <p:sp>
        <p:nvSpPr>
          <p:cNvPr id="5" name="Text 3"/>
          <p:cNvSpPr/>
          <p:nvPr/>
        </p:nvSpPr>
        <p:spPr>
          <a:xfrm>
            <a:off x="7680960" y="1828800"/>
            <a:ext cx="1737360" cy="320040"/>
          </a:xfrm>
          <a:prstGeom prst="rect">
            <a:avLst/>
          </a:prstGeom>
          <a:noFill/>
          <a:ln/>
        </p:spPr>
        <p:txBody>
          <a:bodyPr wrap="square" lIns="0" tIns="0" rIns="0" bIns="0" rtlCol="0" anchor="t"/>
          <a:lstStyle/>
          <a:p>
            <a:pPr algn="ctr" indent="0" marL="0">
              <a:buNone/>
            </a:pPr>
            <a:r>
              <a:rPr lang="en-US" sz="1300" b="1" dirty="0">
                <a:solidFill>
                  <a:srgbClr val="FF4757"/>
                </a:solidFill>
                <a:latin typeface="Palatino Linotype" pitchFamily="34" charset="0"/>
                <a:ea typeface="Palatino Linotype" pitchFamily="34" charset="-122"/>
                <a:cs typeface="Palatino Linotype" pitchFamily="34" charset="-120"/>
              </a:rPr>
              <a:t>Roumanie</a:t>
            </a:r>
            <a:endParaRPr lang="en-US" sz="1300" dirty="0"/>
          </a:p>
        </p:txBody>
      </p:sp>
      <p:sp>
        <p:nvSpPr>
          <p:cNvPr id="6" name="Text 4"/>
          <p:cNvSpPr/>
          <p:nvPr/>
        </p:nvSpPr>
        <p:spPr>
          <a:xfrm>
            <a:off x="9601200" y="1828800"/>
            <a:ext cx="1737360" cy="320040"/>
          </a:xfrm>
          <a:prstGeom prst="rect">
            <a:avLst/>
          </a:prstGeom>
          <a:noFill/>
          <a:ln/>
        </p:spPr>
        <p:txBody>
          <a:bodyPr wrap="square" lIns="0" tIns="0" rIns="0" bIns="0" rtlCol="0" anchor="t"/>
          <a:lstStyle/>
          <a:p>
            <a:pPr algn="ctr" indent="0" marL="0">
              <a:buNone/>
            </a:pPr>
            <a:r>
              <a:rPr lang="en-US" sz="1300" b="1" dirty="0">
                <a:solidFill>
                  <a:srgbClr val="27D3BE"/>
                </a:solidFill>
                <a:latin typeface="Palatino Linotype" pitchFamily="34" charset="0"/>
                <a:ea typeface="Palatino Linotype" pitchFamily="34" charset="-122"/>
                <a:cs typeface="Palatino Linotype" pitchFamily="34" charset="-120"/>
              </a:rPr>
              <a:t>UE</a:t>
            </a:r>
            <a:endParaRPr lang="en-US" sz="1300" dirty="0"/>
          </a:p>
        </p:txBody>
      </p:sp>
      <p:sp>
        <p:nvSpPr>
          <p:cNvPr id="7" name="Shape 5"/>
          <p:cNvSpPr/>
          <p:nvPr/>
        </p:nvSpPr>
        <p:spPr>
          <a:xfrm>
            <a:off x="822960" y="2194560"/>
            <a:ext cx="10515600" cy="13716"/>
          </a:xfrm>
          <a:prstGeom prst="rect">
            <a:avLst/>
          </a:prstGeom>
          <a:solidFill>
            <a:srgbClr val="4B5068"/>
          </a:solidFill>
          <a:ln w="12700">
            <a:solidFill>
              <a:srgbClr val="4B5068"/>
            </a:solidFill>
            <a:prstDash val="solid"/>
          </a:ln>
        </p:spPr>
      </p:sp>
      <p:sp>
        <p:nvSpPr>
          <p:cNvPr id="8" name="Text 6"/>
          <p:cNvSpPr/>
          <p:nvPr/>
        </p:nvSpPr>
        <p:spPr>
          <a:xfrm>
            <a:off x="822960" y="2212848"/>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Indice synthétique de fécondité, 2024</a:t>
            </a:r>
            <a:endParaRPr lang="en-US" sz="1500" dirty="0"/>
          </a:p>
        </p:txBody>
      </p:sp>
      <p:sp>
        <p:nvSpPr>
          <p:cNvPr id="9" name="Text 7"/>
          <p:cNvSpPr/>
          <p:nvPr/>
        </p:nvSpPr>
        <p:spPr>
          <a:xfrm>
            <a:off x="7680960" y="2212848"/>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1,39</a:t>
            </a:r>
            <a:endParaRPr lang="en-US" sz="1700" dirty="0"/>
          </a:p>
        </p:txBody>
      </p:sp>
      <p:sp>
        <p:nvSpPr>
          <p:cNvPr id="10" name="Text 8"/>
          <p:cNvSpPr/>
          <p:nvPr/>
        </p:nvSpPr>
        <p:spPr>
          <a:xfrm>
            <a:off x="9601200" y="2212848"/>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1,34</a:t>
            </a:r>
            <a:endParaRPr lang="en-US" sz="1700" dirty="0"/>
          </a:p>
        </p:txBody>
      </p:sp>
      <p:sp>
        <p:nvSpPr>
          <p:cNvPr id="11" name="Shape 9"/>
          <p:cNvSpPr/>
          <p:nvPr/>
        </p:nvSpPr>
        <p:spPr>
          <a:xfrm>
            <a:off x="822960" y="2596896"/>
            <a:ext cx="10515600" cy="13716"/>
          </a:xfrm>
          <a:prstGeom prst="rect">
            <a:avLst/>
          </a:prstGeom>
          <a:solidFill>
            <a:srgbClr val="4B5068"/>
          </a:solidFill>
          <a:ln w="12700">
            <a:solidFill>
              <a:srgbClr val="4B5068"/>
            </a:solidFill>
            <a:prstDash val="solid"/>
          </a:ln>
        </p:spPr>
      </p:sp>
      <p:sp>
        <p:nvSpPr>
          <p:cNvPr id="12" name="Text 10"/>
          <p:cNvSpPr/>
          <p:nvPr/>
        </p:nvSpPr>
        <p:spPr>
          <a:xfrm>
            <a:off x="822960" y="2615184"/>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Taux brut de natalité, 2024</a:t>
            </a:r>
            <a:endParaRPr lang="en-US" sz="1500" dirty="0"/>
          </a:p>
        </p:txBody>
      </p:sp>
      <p:sp>
        <p:nvSpPr>
          <p:cNvPr id="13" name="Text 11"/>
          <p:cNvSpPr/>
          <p:nvPr/>
        </p:nvSpPr>
        <p:spPr>
          <a:xfrm>
            <a:off x="7680960" y="2615184"/>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7,5</a:t>
            </a:r>
            <a:endParaRPr lang="en-US" sz="1700" dirty="0"/>
          </a:p>
        </p:txBody>
      </p:sp>
      <p:sp>
        <p:nvSpPr>
          <p:cNvPr id="14" name="Text 12"/>
          <p:cNvSpPr/>
          <p:nvPr/>
        </p:nvSpPr>
        <p:spPr>
          <a:xfrm>
            <a:off x="9601200" y="2615184"/>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7,9</a:t>
            </a:r>
            <a:endParaRPr lang="en-US" sz="1700" dirty="0"/>
          </a:p>
        </p:txBody>
      </p:sp>
      <p:sp>
        <p:nvSpPr>
          <p:cNvPr id="15" name="Shape 13"/>
          <p:cNvSpPr/>
          <p:nvPr/>
        </p:nvSpPr>
        <p:spPr>
          <a:xfrm>
            <a:off x="822960" y="2999232"/>
            <a:ext cx="10515600" cy="13716"/>
          </a:xfrm>
          <a:prstGeom prst="rect">
            <a:avLst/>
          </a:prstGeom>
          <a:solidFill>
            <a:srgbClr val="4B5068"/>
          </a:solidFill>
          <a:ln w="12700">
            <a:solidFill>
              <a:srgbClr val="4B5068"/>
            </a:solidFill>
            <a:prstDash val="solid"/>
          </a:ln>
        </p:spPr>
      </p:sp>
      <p:sp>
        <p:nvSpPr>
          <p:cNvPr id="16" name="Text 14"/>
          <p:cNvSpPr/>
          <p:nvPr/>
        </p:nvSpPr>
        <p:spPr>
          <a:xfrm>
            <a:off x="822960" y="3017520"/>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Taux brut de mortalité, 2024</a:t>
            </a:r>
            <a:endParaRPr lang="en-US" sz="1500" dirty="0"/>
          </a:p>
        </p:txBody>
      </p:sp>
      <p:sp>
        <p:nvSpPr>
          <p:cNvPr id="17" name="Text 15"/>
          <p:cNvSpPr/>
          <p:nvPr/>
        </p:nvSpPr>
        <p:spPr>
          <a:xfrm>
            <a:off x="7680960" y="3017520"/>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12,8</a:t>
            </a:r>
            <a:endParaRPr lang="en-US" sz="1700" dirty="0"/>
          </a:p>
        </p:txBody>
      </p:sp>
      <p:sp>
        <p:nvSpPr>
          <p:cNvPr id="18" name="Text 16"/>
          <p:cNvSpPr/>
          <p:nvPr/>
        </p:nvSpPr>
        <p:spPr>
          <a:xfrm>
            <a:off x="9601200" y="3017520"/>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10,7</a:t>
            </a:r>
            <a:endParaRPr lang="en-US" sz="1700" dirty="0"/>
          </a:p>
        </p:txBody>
      </p:sp>
      <p:sp>
        <p:nvSpPr>
          <p:cNvPr id="19" name="Shape 17"/>
          <p:cNvSpPr/>
          <p:nvPr/>
        </p:nvSpPr>
        <p:spPr>
          <a:xfrm>
            <a:off x="822960" y="3401568"/>
            <a:ext cx="10515600" cy="13716"/>
          </a:xfrm>
          <a:prstGeom prst="rect">
            <a:avLst/>
          </a:prstGeom>
          <a:solidFill>
            <a:srgbClr val="4B5068"/>
          </a:solidFill>
          <a:ln w="12700">
            <a:solidFill>
              <a:srgbClr val="4B5068"/>
            </a:solidFill>
            <a:prstDash val="solid"/>
          </a:ln>
        </p:spPr>
      </p:sp>
      <p:sp>
        <p:nvSpPr>
          <p:cNvPr id="20" name="Text 18"/>
          <p:cNvSpPr/>
          <p:nvPr/>
        </p:nvSpPr>
        <p:spPr>
          <a:xfrm>
            <a:off x="822960" y="3419856"/>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Personnes de 65+ (%), 2025</a:t>
            </a:r>
            <a:endParaRPr lang="en-US" sz="1500" dirty="0"/>
          </a:p>
        </p:txBody>
      </p:sp>
      <p:sp>
        <p:nvSpPr>
          <p:cNvPr id="21" name="Text 19"/>
          <p:cNvSpPr/>
          <p:nvPr/>
        </p:nvSpPr>
        <p:spPr>
          <a:xfrm>
            <a:off x="7680960" y="3419856"/>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20,3</a:t>
            </a:r>
            <a:endParaRPr lang="en-US" sz="1700" dirty="0"/>
          </a:p>
        </p:txBody>
      </p:sp>
      <p:sp>
        <p:nvSpPr>
          <p:cNvPr id="22" name="Text 20"/>
          <p:cNvSpPr/>
          <p:nvPr/>
        </p:nvSpPr>
        <p:spPr>
          <a:xfrm>
            <a:off x="9601200" y="3419856"/>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22,0</a:t>
            </a:r>
            <a:endParaRPr lang="en-US" sz="1700" dirty="0"/>
          </a:p>
        </p:txBody>
      </p:sp>
      <p:sp>
        <p:nvSpPr>
          <p:cNvPr id="23" name="Shape 21"/>
          <p:cNvSpPr/>
          <p:nvPr/>
        </p:nvSpPr>
        <p:spPr>
          <a:xfrm>
            <a:off x="822960" y="3803904"/>
            <a:ext cx="10515600" cy="13716"/>
          </a:xfrm>
          <a:prstGeom prst="rect">
            <a:avLst/>
          </a:prstGeom>
          <a:solidFill>
            <a:srgbClr val="4B5068"/>
          </a:solidFill>
          <a:ln w="12700">
            <a:solidFill>
              <a:srgbClr val="4B5068"/>
            </a:solidFill>
            <a:prstDash val="solid"/>
          </a:ln>
        </p:spPr>
      </p:sp>
      <p:sp>
        <p:nvSpPr>
          <p:cNvPr id="24" name="Text 22"/>
          <p:cNvSpPr/>
          <p:nvPr/>
        </p:nvSpPr>
        <p:spPr>
          <a:xfrm>
            <a:off x="822960" y="3822192"/>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Rapport de dépendance des personnes âgées, 2025</a:t>
            </a:r>
            <a:endParaRPr lang="en-US" sz="1500" dirty="0"/>
          </a:p>
        </p:txBody>
      </p:sp>
      <p:sp>
        <p:nvSpPr>
          <p:cNvPr id="25" name="Text 23"/>
          <p:cNvSpPr/>
          <p:nvPr/>
        </p:nvSpPr>
        <p:spPr>
          <a:xfrm>
            <a:off x="7680960" y="3822192"/>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31,6</a:t>
            </a:r>
            <a:endParaRPr lang="en-US" sz="1700" dirty="0"/>
          </a:p>
        </p:txBody>
      </p:sp>
      <p:sp>
        <p:nvSpPr>
          <p:cNvPr id="26" name="Text 24"/>
          <p:cNvSpPr/>
          <p:nvPr/>
        </p:nvSpPr>
        <p:spPr>
          <a:xfrm>
            <a:off x="9601200" y="3822192"/>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34,5</a:t>
            </a:r>
            <a:endParaRPr lang="en-US" sz="1700" dirty="0"/>
          </a:p>
        </p:txBody>
      </p:sp>
      <p:sp>
        <p:nvSpPr>
          <p:cNvPr id="27" name="Shape 25"/>
          <p:cNvSpPr/>
          <p:nvPr/>
        </p:nvSpPr>
        <p:spPr>
          <a:xfrm>
            <a:off x="822960" y="4206240"/>
            <a:ext cx="10515600" cy="13716"/>
          </a:xfrm>
          <a:prstGeom prst="rect">
            <a:avLst/>
          </a:prstGeom>
          <a:solidFill>
            <a:srgbClr val="4B5068"/>
          </a:solidFill>
          <a:ln w="12700">
            <a:solidFill>
              <a:srgbClr val="4B5068"/>
            </a:solidFill>
            <a:prstDash val="solid"/>
          </a:ln>
        </p:spPr>
      </p:sp>
      <p:sp>
        <p:nvSpPr>
          <p:cNvPr id="28" name="Text 26"/>
          <p:cNvSpPr/>
          <p:nvPr/>
        </p:nvSpPr>
        <p:spPr>
          <a:xfrm>
            <a:off x="822960" y="4224528"/>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Espérance de vie (ans), 2024</a:t>
            </a:r>
            <a:endParaRPr lang="en-US" sz="1500" dirty="0"/>
          </a:p>
        </p:txBody>
      </p:sp>
      <p:sp>
        <p:nvSpPr>
          <p:cNvPr id="29" name="Text 27"/>
          <p:cNvSpPr/>
          <p:nvPr/>
        </p:nvSpPr>
        <p:spPr>
          <a:xfrm>
            <a:off x="7680960" y="4224528"/>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76,5</a:t>
            </a:r>
            <a:endParaRPr lang="en-US" sz="1700" dirty="0"/>
          </a:p>
        </p:txBody>
      </p:sp>
      <p:sp>
        <p:nvSpPr>
          <p:cNvPr id="30" name="Text 28"/>
          <p:cNvSpPr/>
          <p:nvPr/>
        </p:nvSpPr>
        <p:spPr>
          <a:xfrm>
            <a:off x="9601200" y="4224528"/>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81,5</a:t>
            </a:r>
            <a:endParaRPr lang="en-US" sz="1700" dirty="0"/>
          </a:p>
        </p:txBody>
      </p:sp>
      <p:sp>
        <p:nvSpPr>
          <p:cNvPr id="31" name="Shape 29"/>
          <p:cNvSpPr/>
          <p:nvPr/>
        </p:nvSpPr>
        <p:spPr>
          <a:xfrm>
            <a:off x="822960" y="4608576"/>
            <a:ext cx="10515600" cy="13716"/>
          </a:xfrm>
          <a:prstGeom prst="rect">
            <a:avLst/>
          </a:prstGeom>
          <a:solidFill>
            <a:srgbClr val="4B5068"/>
          </a:solidFill>
          <a:ln w="12700">
            <a:solidFill>
              <a:srgbClr val="4B5068"/>
            </a:solidFill>
            <a:prstDash val="solid"/>
          </a:ln>
        </p:spPr>
      </p:sp>
      <p:sp>
        <p:nvSpPr>
          <p:cNvPr id="32" name="Text 30"/>
          <p:cNvSpPr/>
          <p:nvPr/>
        </p:nvSpPr>
        <p:spPr>
          <a:xfrm>
            <a:off x="822960" y="4626864"/>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Mortalité infantile, 2024</a:t>
            </a:r>
            <a:endParaRPr lang="en-US" sz="1500" dirty="0"/>
          </a:p>
        </p:txBody>
      </p:sp>
      <p:sp>
        <p:nvSpPr>
          <p:cNvPr id="33" name="Text 31"/>
          <p:cNvSpPr/>
          <p:nvPr/>
        </p:nvSpPr>
        <p:spPr>
          <a:xfrm>
            <a:off x="7680960" y="4626864"/>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6,6</a:t>
            </a:r>
            <a:endParaRPr lang="en-US" sz="1700" dirty="0"/>
          </a:p>
        </p:txBody>
      </p:sp>
      <p:sp>
        <p:nvSpPr>
          <p:cNvPr id="34" name="Text 32"/>
          <p:cNvSpPr/>
          <p:nvPr/>
        </p:nvSpPr>
        <p:spPr>
          <a:xfrm>
            <a:off x="9601200" y="4626864"/>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3,5</a:t>
            </a:r>
            <a:endParaRPr lang="en-US" sz="1700" dirty="0"/>
          </a:p>
        </p:txBody>
      </p:sp>
      <p:sp>
        <p:nvSpPr>
          <p:cNvPr id="35" name="Shape 33"/>
          <p:cNvSpPr/>
          <p:nvPr/>
        </p:nvSpPr>
        <p:spPr>
          <a:xfrm>
            <a:off x="822960" y="5010912"/>
            <a:ext cx="10515600" cy="13716"/>
          </a:xfrm>
          <a:prstGeom prst="rect">
            <a:avLst/>
          </a:prstGeom>
          <a:solidFill>
            <a:srgbClr val="4B5068"/>
          </a:solidFill>
          <a:ln w="12700">
            <a:solidFill>
              <a:srgbClr val="4B5068"/>
            </a:solidFill>
            <a:prstDash val="solid"/>
          </a:ln>
        </p:spPr>
      </p:sp>
      <p:sp>
        <p:nvSpPr>
          <p:cNvPr id="36" name="Text 34"/>
          <p:cNvSpPr/>
          <p:nvPr/>
        </p:nvSpPr>
        <p:spPr>
          <a:xfrm>
            <a:off x="822960" y="5029200"/>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Mères de moins de 20 ans (%), 2024</a:t>
            </a:r>
            <a:endParaRPr lang="en-US" sz="1500" dirty="0"/>
          </a:p>
        </p:txBody>
      </p:sp>
      <p:sp>
        <p:nvSpPr>
          <p:cNvPr id="37" name="Text 35"/>
          <p:cNvSpPr/>
          <p:nvPr/>
        </p:nvSpPr>
        <p:spPr>
          <a:xfrm>
            <a:off x="7680960" y="5029200"/>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9,5</a:t>
            </a:r>
            <a:endParaRPr lang="en-US" sz="1700" dirty="0"/>
          </a:p>
        </p:txBody>
      </p:sp>
      <p:sp>
        <p:nvSpPr>
          <p:cNvPr id="38" name="Text 36"/>
          <p:cNvSpPr/>
          <p:nvPr/>
        </p:nvSpPr>
        <p:spPr>
          <a:xfrm>
            <a:off x="9601200" y="5029200"/>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2,1</a:t>
            </a:r>
            <a:endParaRPr lang="en-US" sz="1700" dirty="0"/>
          </a:p>
        </p:txBody>
      </p:sp>
      <p:sp>
        <p:nvSpPr>
          <p:cNvPr id="39" name="Text 37"/>
          <p:cNvSpPr/>
          <p:nvPr/>
        </p:nvSpPr>
        <p:spPr>
          <a:xfrm>
            <a:off x="594360" y="566928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Lien avec le cours 2 : la charge de morbidité (DALY) confirme le stade des maladies chroniques.</a:t>
            </a:r>
            <a:endParaRPr lang="en-US" sz="180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DÈS DEMAIN, EN TANT QUE MÉDECINS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que vous ferez différemment, dès demain</a:t>
            </a:r>
            <a:endParaRPr lang="en-US" sz="3400" dirty="0"/>
          </a:p>
        </p:txBody>
      </p:sp>
      <p:sp>
        <p:nvSpPr>
          <p:cNvPr id="4" name="Shape 2"/>
          <p:cNvSpPr/>
          <p:nvPr/>
        </p:nvSpPr>
        <p:spPr>
          <a:xfrm>
            <a:off x="594360" y="1783080"/>
            <a:ext cx="5349240" cy="2011680"/>
          </a:xfrm>
          <a:prstGeom prst="roundRect">
            <a:avLst>
              <a:gd name="adj" fmla="val 4091"/>
            </a:avLst>
          </a:prstGeom>
          <a:solidFill>
            <a:srgbClr val="1D1F2B"/>
          </a:solidFill>
          <a:ln w="12700">
            <a:solidFill>
              <a:srgbClr val="1D1F2B"/>
            </a:solidFill>
            <a:prstDash val="solid"/>
          </a:ln>
        </p:spPr>
      </p:sp>
      <p:sp>
        <p:nvSpPr>
          <p:cNvPr id="5" name="Shape 3"/>
          <p:cNvSpPr/>
          <p:nvPr/>
        </p:nvSpPr>
        <p:spPr>
          <a:xfrm>
            <a:off x="822960" y="2011680"/>
            <a:ext cx="420624" cy="420624"/>
          </a:xfrm>
          <a:prstGeom prst="ellipse">
            <a:avLst/>
          </a:prstGeom>
          <a:solidFill>
            <a:srgbClr val="FFC24B"/>
          </a:solidFill>
          <a:ln/>
        </p:spPr>
      </p:sp>
      <p:sp>
        <p:nvSpPr>
          <p:cNvPr id="6" name="Text 4"/>
          <p:cNvSpPr/>
          <p:nvPr/>
        </p:nvSpPr>
        <p:spPr>
          <a:xfrm>
            <a:off x="822960" y="2011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783080"/>
            <a:ext cx="429768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Lisez tout chiffre démographique avec son année, sa source et, pour les projections, le scénario.</a:t>
            </a:r>
            <a:endParaRPr lang="en-US" sz="1700" dirty="0"/>
          </a:p>
        </p:txBody>
      </p:sp>
      <p:sp>
        <p:nvSpPr>
          <p:cNvPr id="8" name="Shape 6"/>
          <p:cNvSpPr/>
          <p:nvPr/>
        </p:nvSpPr>
        <p:spPr>
          <a:xfrm>
            <a:off x="6217920" y="1783080"/>
            <a:ext cx="5349240" cy="2011680"/>
          </a:xfrm>
          <a:prstGeom prst="roundRect">
            <a:avLst>
              <a:gd name="adj" fmla="val 4091"/>
            </a:avLst>
          </a:prstGeom>
          <a:solidFill>
            <a:srgbClr val="1D1F2B"/>
          </a:solidFill>
          <a:ln w="12700">
            <a:solidFill>
              <a:srgbClr val="1D1F2B"/>
            </a:solidFill>
            <a:prstDash val="solid"/>
          </a:ln>
        </p:spPr>
      </p:sp>
      <p:sp>
        <p:nvSpPr>
          <p:cNvPr id="9" name="Shape 7"/>
          <p:cNvSpPr/>
          <p:nvPr/>
        </p:nvSpPr>
        <p:spPr>
          <a:xfrm>
            <a:off x="6446520" y="2011680"/>
            <a:ext cx="420624" cy="420624"/>
          </a:xfrm>
          <a:prstGeom prst="ellipse">
            <a:avLst/>
          </a:prstGeom>
          <a:solidFill>
            <a:srgbClr val="FFC24B"/>
          </a:solidFill>
          <a:ln/>
        </p:spPr>
      </p:sp>
      <p:sp>
        <p:nvSpPr>
          <p:cNvPr id="10" name="Text 8"/>
          <p:cNvSpPr/>
          <p:nvPr/>
        </p:nvSpPr>
        <p:spPr>
          <a:xfrm>
            <a:off x="6446520" y="2011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7132320" y="1783080"/>
            <a:ext cx="429768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Devant une mortalité infantile élevée, demandez quelle composante est élevée et quelles données par cause existent ; ensuite seulement, où les soins doivent être améliorés.</a:t>
            </a:r>
            <a:endParaRPr lang="en-US" sz="1700" dirty="0"/>
          </a:p>
        </p:txBody>
      </p:sp>
      <p:sp>
        <p:nvSpPr>
          <p:cNvPr id="12" name="Shape 10"/>
          <p:cNvSpPr/>
          <p:nvPr/>
        </p:nvSpPr>
        <p:spPr>
          <a:xfrm>
            <a:off x="594360" y="3977640"/>
            <a:ext cx="5349240" cy="2011680"/>
          </a:xfrm>
          <a:prstGeom prst="roundRect">
            <a:avLst>
              <a:gd name="adj" fmla="val 4091"/>
            </a:avLst>
          </a:prstGeom>
          <a:solidFill>
            <a:srgbClr val="1D1F2B"/>
          </a:solidFill>
          <a:ln w="12700">
            <a:solidFill>
              <a:srgbClr val="1D1F2B"/>
            </a:solidFill>
            <a:prstDash val="solid"/>
          </a:ln>
        </p:spPr>
      </p:sp>
      <p:sp>
        <p:nvSpPr>
          <p:cNvPr id="13" name="Shape 11"/>
          <p:cNvSpPr/>
          <p:nvPr/>
        </p:nvSpPr>
        <p:spPr>
          <a:xfrm>
            <a:off x="822960" y="4206240"/>
            <a:ext cx="420624" cy="420624"/>
          </a:xfrm>
          <a:prstGeom prst="ellipse">
            <a:avLst/>
          </a:prstGeom>
          <a:solidFill>
            <a:srgbClr val="FFC24B"/>
          </a:solidFill>
          <a:ln/>
        </p:spPr>
      </p:sp>
      <p:sp>
        <p:nvSpPr>
          <p:cNvPr id="14" name="Text 12"/>
          <p:cNvSpPr/>
          <p:nvPr/>
        </p:nvSpPr>
        <p:spPr>
          <a:xfrm>
            <a:off x="822960" y="4206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977640"/>
            <a:ext cx="429768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Chez chaque enfant, vérifiez le carnet de vaccination ; chez une adolescente enceinte, pensez à ses risques médicaux, à la contraception, à l’école et à sa sécurité.</a:t>
            </a:r>
            <a:endParaRPr lang="en-US" sz="1700" dirty="0"/>
          </a:p>
        </p:txBody>
      </p:sp>
      <p:sp>
        <p:nvSpPr>
          <p:cNvPr id="16" name="Shape 14"/>
          <p:cNvSpPr/>
          <p:nvPr/>
        </p:nvSpPr>
        <p:spPr>
          <a:xfrm>
            <a:off x="6217920" y="3977640"/>
            <a:ext cx="5349240" cy="2011680"/>
          </a:xfrm>
          <a:prstGeom prst="roundRect">
            <a:avLst>
              <a:gd name="adj" fmla="val 4091"/>
            </a:avLst>
          </a:prstGeom>
          <a:solidFill>
            <a:srgbClr val="1D1F2B"/>
          </a:solidFill>
          <a:ln w="12700">
            <a:solidFill>
              <a:srgbClr val="1D1F2B"/>
            </a:solidFill>
            <a:prstDash val="solid"/>
          </a:ln>
        </p:spPr>
      </p:sp>
      <p:sp>
        <p:nvSpPr>
          <p:cNvPr id="17" name="Shape 15"/>
          <p:cNvSpPr/>
          <p:nvPr/>
        </p:nvSpPr>
        <p:spPr>
          <a:xfrm>
            <a:off x="6446520" y="4206240"/>
            <a:ext cx="420624" cy="420624"/>
          </a:xfrm>
          <a:prstGeom prst="ellipse">
            <a:avLst/>
          </a:prstGeom>
          <a:solidFill>
            <a:srgbClr val="FFC24B"/>
          </a:solidFill>
          <a:ln/>
        </p:spPr>
      </p:sp>
      <p:sp>
        <p:nvSpPr>
          <p:cNvPr id="18" name="Text 16"/>
          <p:cNvSpPr/>
          <p:nvPr/>
        </p:nvSpPr>
        <p:spPr>
          <a:xfrm>
            <a:off x="6446520" y="4206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7132320" y="3977640"/>
            <a:ext cx="429768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Vos patients seront, dans vingt ans, plus âgés, moins nombreux et atteints de plus de maladies à la fois.</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À RETENIR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Cinq idées du cours d’aujourd’hui</a:t>
            </a:r>
            <a:endParaRPr lang="en-US" sz="3200" dirty="0"/>
          </a:p>
        </p:txBody>
      </p:sp>
      <p:sp>
        <p:nvSpPr>
          <p:cNvPr id="4" name="Shape 2"/>
          <p:cNvSpPr/>
          <p:nvPr/>
        </p:nvSpPr>
        <p:spPr>
          <a:xfrm>
            <a:off x="594360" y="1554480"/>
            <a:ext cx="10972800" cy="658368"/>
          </a:xfrm>
          <a:prstGeom prst="roundRect">
            <a:avLst>
              <a:gd name="adj" fmla="val 12500"/>
            </a:avLst>
          </a:prstGeom>
          <a:solidFill>
            <a:srgbClr val="ECEAE4"/>
          </a:solidFill>
          <a:ln w="12700">
            <a:solidFill>
              <a:srgbClr val="ECEAE4"/>
            </a:solidFill>
            <a:prstDash val="solid"/>
          </a:ln>
        </p:spPr>
      </p:sp>
      <p:sp>
        <p:nvSpPr>
          <p:cNvPr id="5" name="Shape 3"/>
          <p:cNvSpPr/>
          <p:nvPr/>
        </p:nvSpPr>
        <p:spPr>
          <a:xfrm>
            <a:off x="868680" y="1673352"/>
            <a:ext cx="420624" cy="420624"/>
          </a:xfrm>
          <a:prstGeom prst="ellipse">
            <a:avLst/>
          </a:prstGeom>
          <a:solidFill>
            <a:srgbClr val="FF4757"/>
          </a:solidFill>
          <a:ln/>
        </p:spPr>
      </p:sp>
      <p:sp>
        <p:nvSpPr>
          <p:cNvPr id="6" name="Text 4"/>
          <p:cNvSpPr/>
          <p:nvPr/>
        </p:nvSpPr>
        <p:spPr>
          <a:xfrm>
            <a:off x="868680" y="167335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554480"/>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transition démographique : d’une natalité et d’une mortalité élevées à faibles.</a:t>
            </a:r>
            <a:endParaRPr lang="en-US" sz="1500" dirty="0"/>
          </a:p>
        </p:txBody>
      </p:sp>
      <p:sp>
        <p:nvSpPr>
          <p:cNvPr id="8" name="Shape 6"/>
          <p:cNvSpPr/>
          <p:nvPr/>
        </p:nvSpPr>
        <p:spPr>
          <a:xfrm>
            <a:off x="594360" y="2304288"/>
            <a:ext cx="10972800" cy="658368"/>
          </a:xfrm>
          <a:prstGeom prst="roundRect">
            <a:avLst>
              <a:gd name="adj" fmla="val 12500"/>
            </a:avLst>
          </a:prstGeom>
          <a:solidFill>
            <a:srgbClr val="ECEAE4"/>
          </a:solidFill>
          <a:ln w="12700">
            <a:solidFill>
              <a:srgbClr val="ECEAE4"/>
            </a:solidFill>
            <a:prstDash val="solid"/>
          </a:ln>
        </p:spPr>
      </p:sp>
      <p:sp>
        <p:nvSpPr>
          <p:cNvPr id="9" name="Shape 7"/>
          <p:cNvSpPr/>
          <p:nvPr/>
        </p:nvSpPr>
        <p:spPr>
          <a:xfrm>
            <a:off x="868680" y="2423160"/>
            <a:ext cx="420624" cy="420624"/>
          </a:xfrm>
          <a:prstGeom prst="ellipse">
            <a:avLst/>
          </a:prstGeom>
          <a:solidFill>
            <a:srgbClr val="FF4757"/>
          </a:solidFill>
          <a:ln/>
        </p:spPr>
      </p:sp>
      <p:sp>
        <p:nvSpPr>
          <p:cNvPr id="10" name="Text 8"/>
          <p:cNvSpPr/>
          <p:nvPr/>
        </p:nvSpPr>
        <p:spPr>
          <a:xfrm>
            <a:off x="868680" y="24231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04288"/>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transition épidémiologique : des infections aux maladies chroniques, aux âges avancés.</a:t>
            </a:r>
            <a:endParaRPr lang="en-US" sz="1500" dirty="0"/>
          </a:p>
        </p:txBody>
      </p:sp>
      <p:sp>
        <p:nvSpPr>
          <p:cNvPr id="12" name="Shape 10"/>
          <p:cNvSpPr/>
          <p:nvPr/>
        </p:nvSpPr>
        <p:spPr>
          <a:xfrm>
            <a:off x="594360" y="3054096"/>
            <a:ext cx="10972800" cy="658368"/>
          </a:xfrm>
          <a:prstGeom prst="roundRect">
            <a:avLst>
              <a:gd name="adj" fmla="val 12500"/>
            </a:avLst>
          </a:prstGeom>
          <a:solidFill>
            <a:srgbClr val="ECEAE4"/>
          </a:solidFill>
          <a:ln w="12700">
            <a:solidFill>
              <a:srgbClr val="ECEAE4"/>
            </a:solidFill>
            <a:prstDash val="solid"/>
          </a:ln>
        </p:spPr>
      </p:sp>
      <p:sp>
        <p:nvSpPr>
          <p:cNvPr id="13" name="Shape 11"/>
          <p:cNvSpPr/>
          <p:nvPr/>
        </p:nvSpPr>
        <p:spPr>
          <a:xfrm>
            <a:off x="868680" y="3172968"/>
            <a:ext cx="420624" cy="420624"/>
          </a:xfrm>
          <a:prstGeom prst="ellipse">
            <a:avLst/>
          </a:prstGeom>
          <a:solidFill>
            <a:srgbClr val="FF4757"/>
          </a:solidFill>
          <a:ln/>
        </p:spPr>
      </p:sp>
      <p:sp>
        <p:nvSpPr>
          <p:cNvPr id="14" name="Text 12"/>
          <p:cNvSpPr/>
          <p:nvPr/>
        </p:nvSpPr>
        <p:spPr>
          <a:xfrm>
            <a:off x="868680" y="31729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054096"/>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Roumanie perd de la population : plus de décès que de naissances, et l’émigration.</a:t>
            </a:r>
            <a:endParaRPr lang="en-US" sz="1500" dirty="0"/>
          </a:p>
        </p:txBody>
      </p:sp>
      <p:sp>
        <p:nvSpPr>
          <p:cNvPr id="16" name="Shape 14"/>
          <p:cNvSpPr/>
          <p:nvPr/>
        </p:nvSpPr>
        <p:spPr>
          <a:xfrm>
            <a:off x="594360" y="3803904"/>
            <a:ext cx="10972800" cy="658368"/>
          </a:xfrm>
          <a:prstGeom prst="roundRect">
            <a:avLst>
              <a:gd name="adj" fmla="val 12500"/>
            </a:avLst>
          </a:prstGeom>
          <a:solidFill>
            <a:srgbClr val="ECEAE4"/>
          </a:solidFill>
          <a:ln w="12700">
            <a:solidFill>
              <a:srgbClr val="ECEAE4"/>
            </a:solidFill>
            <a:prstDash val="solid"/>
          </a:ln>
        </p:spPr>
      </p:sp>
      <p:sp>
        <p:nvSpPr>
          <p:cNvPr id="17" name="Shape 15"/>
          <p:cNvSpPr/>
          <p:nvPr/>
        </p:nvSpPr>
        <p:spPr>
          <a:xfrm>
            <a:off x="868680" y="3922776"/>
            <a:ext cx="420624" cy="420624"/>
          </a:xfrm>
          <a:prstGeom prst="ellipse">
            <a:avLst/>
          </a:prstGeom>
          <a:solidFill>
            <a:srgbClr val="FF4757"/>
          </a:solidFill>
          <a:ln/>
        </p:spPr>
      </p:sp>
      <p:sp>
        <p:nvSpPr>
          <p:cNvPr id="18" name="Text 16"/>
          <p:cNvSpPr/>
          <p:nvPr/>
        </p:nvSpPr>
        <p:spPr>
          <a:xfrm>
            <a:off x="868680" y="392277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803904"/>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vieillissement : plus de maladies chroniques, moins de personnes d’âge actif.</a:t>
            </a:r>
            <a:endParaRPr lang="en-US" sz="1500" dirty="0"/>
          </a:p>
        </p:txBody>
      </p:sp>
      <p:sp>
        <p:nvSpPr>
          <p:cNvPr id="20" name="Shape 18"/>
          <p:cNvSpPr/>
          <p:nvPr/>
        </p:nvSpPr>
        <p:spPr>
          <a:xfrm>
            <a:off x="594360" y="4553712"/>
            <a:ext cx="10972800" cy="658368"/>
          </a:xfrm>
          <a:prstGeom prst="roundRect">
            <a:avLst>
              <a:gd name="adj" fmla="val 12500"/>
            </a:avLst>
          </a:prstGeom>
          <a:solidFill>
            <a:srgbClr val="ECEAE4"/>
          </a:solidFill>
          <a:ln w="12700">
            <a:solidFill>
              <a:srgbClr val="ECEAE4"/>
            </a:solidFill>
            <a:prstDash val="solid"/>
          </a:ln>
        </p:spPr>
      </p:sp>
      <p:sp>
        <p:nvSpPr>
          <p:cNvPr id="21" name="Shape 19"/>
          <p:cNvSpPr/>
          <p:nvPr/>
        </p:nvSpPr>
        <p:spPr>
          <a:xfrm>
            <a:off x="868680" y="4672584"/>
            <a:ext cx="420624" cy="420624"/>
          </a:xfrm>
          <a:prstGeom prst="ellipse">
            <a:avLst/>
          </a:prstGeom>
          <a:solidFill>
            <a:srgbClr val="FF4757"/>
          </a:solidFill>
          <a:ln/>
        </p:spPr>
      </p:sp>
      <p:sp>
        <p:nvSpPr>
          <p:cNvPr id="22" name="Text 20"/>
          <p:cNvSpPr/>
          <p:nvPr/>
        </p:nvSpPr>
        <p:spPr>
          <a:xfrm>
            <a:off x="868680" y="46725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553712"/>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Les mortalités infantile et maternelle ont beaucoup baissé ; l’infantile reste près de deux fois supérieure à la moyenne de l’UE.</a:t>
            </a:r>
            <a:endParaRPr lang="en-US" sz="1500" dirty="0"/>
          </a:p>
        </p:txBody>
      </p:sp>
      <p:sp>
        <p:nvSpPr>
          <p:cNvPr id="24" name="Shape 22"/>
          <p:cNvSpPr/>
          <p:nvPr/>
        </p:nvSpPr>
        <p:spPr>
          <a:xfrm>
            <a:off x="594360" y="5440680"/>
            <a:ext cx="10972800" cy="868680"/>
          </a:xfrm>
          <a:prstGeom prst="roundRect">
            <a:avLst>
              <a:gd name="adj" fmla="val 9474"/>
            </a:avLst>
          </a:prstGeom>
          <a:solidFill>
            <a:srgbClr val="11121A"/>
          </a:solidFill>
          <a:ln w="12700">
            <a:solidFill>
              <a:srgbClr val="11121A"/>
            </a:solidFill>
            <a:prstDash val="solid"/>
          </a:ln>
        </p:spPr>
      </p:sp>
      <p:sp>
        <p:nvSpPr>
          <p:cNvPr id="25" name="Text 23"/>
          <p:cNvSpPr/>
          <p:nvPr/>
        </p:nvSpPr>
        <p:spPr>
          <a:xfrm>
            <a:off x="868680" y="5440680"/>
            <a:ext cx="10424160" cy="8686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La réponse au titre : une population plus petite et plus âgée a besoin d’un autre système de santé.</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LES CINQ DERNIÈRES MINUTES · ANONYME</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Trois questions pour finir</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Qu’est-ce qui a été utile aujourd’hui ?</a:t>
            </a:r>
            <a:endParaRPr lang="en-US" sz="20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Où vous ai-je perdus ?</a:t>
            </a:r>
            <a:endParaRPr lang="en-US" sz="20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 pourriez-vous utiliser demain ?</a:t>
            </a:r>
            <a:endParaRPr lang="en-US" sz="2000" dirty="0"/>
          </a:p>
        </p:txBody>
      </p:sp>
      <p:sp>
        <p:nvSpPr>
          <p:cNvPr id="14" name="Shape 12"/>
          <p:cNvSpPr/>
          <p:nvPr/>
        </p:nvSpPr>
        <p:spPr>
          <a:xfrm>
            <a:off x="8321040" y="2514600"/>
            <a:ext cx="3246120" cy="2468880"/>
          </a:xfrm>
          <a:prstGeom prst="roundRect">
            <a:avLst>
              <a:gd name="adj" fmla="val 3333"/>
            </a:avLst>
          </a:prstGeom>
          <a:solidFill>
            <a:srgbClr val="1D1F2B"/>
          </a:solidFill>
          <a:ln w="12700">
            <a:solidFill>
              <a:srgbClr val="1D1F2B"/>
            </a:solidFill>
            <a:prstDash val="solid"/>
          </a:ln>
        </p:spPr>
      </p:sp>
      <p:sp>
        <p:nvSpPr>
          <p:cNvPr id="15" name="Text 13"/>
          <p:cNvSpPr/>
          <p:nvPr/>
        </p:nvSpPr>
        <p:spPr>
          <a:xfrm>
            <a:off x="8549640" y="2514600"/>
            <a:ext cx="2788920" cy="2468880"/>
          </a:xfrm>
          <a:prstGeom prst="rect">
            <a:avLst/>
          </a:prstGeom>
          <a:noFill/>
          <a:ln/>
        </p:spPr>
        <p:txBody>
          <a:bodyPr wrap="square" lIns="0" tIns="0" rIns="0" bIns="0" rtlCol="0" anchor="ctr"/>
          <a:lstStyle/>
          <a:p>
            <a:pPr algn="ctr" indent="0" marL="0">
              <a:buNone/>
            </a:pPr>
            <a:r>
              <a:rPr lang="en-US" sz="19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19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Début du prochain cours : deux modifications, faites à partir de vos réponses.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3 - Où sont passés quatre millions de personnes ?</dc:title>
  <dc:subject>PptxGenJS Presentation</dc:subject>
  <dc:creator>Conf. Univ. Dr. Adrian Pana</dc:creator>
  <cp:lastModifiedBy>Conf. Univ. Dr. Adrian Pana</cp:lastModifiedBy>
  <cp:revision>1</cp:revision>
  <dcterms:created xsi:type="dcterms:W3CDTF">2026-10-11T09:39:30Z</dcterms:created>
  <dcterms:modified xsi:type="dcterms:W3CDTF">2026-10-11T09:39:30Z</dcterms:modified>
  <cp:keywords>sursa_amprenta=3b4e3b73f5a54346; proiectie</cp:keywords>
</cp:coreProperties>
</file>