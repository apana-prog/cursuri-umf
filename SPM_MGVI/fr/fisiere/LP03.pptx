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taux brut montre combien d’années perd, en moyenne, un habitant, mais il ne tient pas compte de l’âge de la population. Le nombre absolu montre le volume de la charge et combien de services il faut payer. Pour les deux comtés, la correction pour l’âge est faite à la quatrième étape de l’exercice, par le rapport entre les années perdues par décès calculées et celles qui étaient attendues.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DALY représente la perte de l’équivalent d’une année en pleine santé. Pour une maladie, le DALY est la somme de deux termes : les années de vie perdues par décès prématuré et les années de vie en bonne santé perdues du fait de l’incapacité.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L’ordre en bas de liste est fragile : à la 10e place, la perte auditive (176 000) devance de peu la cardiomyopathie (175 000), et en 2000 la bronchopneumopathie chronique obstructive et le cancer du poumon avaient, après arrondi, le même nombre de DALY (252 000).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valeur GBD est une estimation tirée d’un modèle et possède un intervalle d’incertitude. Du chevauchement de deux intervalles, on ne peut conclure ni que la différence est réelle, ni que les valeurs sont égales.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liste dépend aussi du sexe. En 2023, chez les hommes, la cardiopathie ischémique et l’accident vasculaire cérébral sont suivis de la cirrhose et du cancer du poumon ; chez les femmes, ils sont suivis de la lombalgie, de la cardiopathie hypertensive et de la maladie d’Alzheimer.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Teleorman avait les taux de mortalité par âge du pays, ses YLL seraient de 98 695, contre 100 692 calculées par groupes quinquennaux ; pour Ilfov, 115 589 contre 92 164.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40080" y="777240"/>
            <a:ext cx="356616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40080" y="777240"/>
            <a:ext cx="356616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TRAVAUX PRATIQUES 3</a:t>
            </a:r>
            <a:endParaRPr lang="en-US" sz="1300" dirty="0"/>
          </a:p>
        </p:txBody>
      </p:sp>
      <p:sp>
        <p:nvSpPr>
          <p:cNvPr id="4" name="Text 2"/>
          <p:cNvSpPr/>
          <p:nvPr/>
        </p:nvSpPr>
        <p:spPr>
          <a:xfrm>
            <a:off x="640080" y="1417320"/>
            <a:ext cx="5394960" cy="2286000"/>
          </a:xfrm>
          <a:prstGeom prst="rect">
            <a:avLst/>
          </a:prstGeom>
          <a:noFill/>
          <a:ln/>
        </p:spPr>
        <p:txBody>
          <a:bodyPr wrap="square" lIns="0" tIns="0" rIns="0" bIns="0" rtlCol="0" anchor="t"/>
          <a:lstStyle/>
          <a:p>
            <a:pPr indent="0" marL="0">
              <a:buNone/>
            </a:pPr>
            <a:r>
              <a:rPr lang="en-US" sz="3600" b="1" dirty="0">
                <a:solidFill>
                  <a:srgbClr val="FFFFFF"/>
                </a:solidFill>
                <a:latin typeface="Palatino Linotype" pitchFamily="34" charset="0"/>
                <a:ea typeface="Palatino Linotype" pitchFamily="34" charset="-122"/>
                <a:cs typeface="Palatino Linotype" pitchFamily="34" charset="-120"/>
              </a:rPr>
              <a:t>Combien d’années de vie en bonne santé un comté perd-il ?</a:t>
            </a:r>
            <a:endParaRPr lang="en-US" sz="3600" dirty="0"/>
          </a:p>
        </p:txBody>
      </p:sp>
      <p:sp>
        <p:nvSpPr>
          <p:cNvPr id="5" name="Shape 3"/>
          <p:cNvSpPr/>
          <p:nvPr/>
        </p:nvSpPr>
        <p:spPr>
          <a:xfrm>
            <a:off x="667512" y="3886200"/>
            <a:ext cx="1280160" cy="27432"/>
          </a:xfrm>
          <a:prstGeom prst="rect">
            <a:avLst/>
          </a:prstGeom>
          <a:solidFill>
            <a:srgbClr val="FF4757"/>
          </a:solidFill>
          <a:ln/>
        </p:spPr>
        <p:txBody>
          <a:bodyPr/>
          <a:p/>
        </p:txBody>
      </p:sp>
      <p:sp>
        <p:nvSpPr>
          <p:cNvPr id="6" name="Text 4"/>
          <p:cNvSpPr/>
          <p:nvPr/>
        </p:nvSpPr>
        <p:spPr>
          <a:xfrm>
            <a:off x="640080" y="4114800"/>
            <a:ext cx="5303520" cy="822960"/>
          </a:xfrm>
          <a:prstGeom prst="rect">
            <a:avLst/>
          </a:prstGeom>
          <a:noFill/>
          <a:ln/>
        </p:spPr>
        <p:txBody>
          <a:bodyPr wrap="square" lIns="0" tIns="0" rIns="0" bIns="0" rtlCol="0" anchor="t"/>
          <a:lstStyle/>
          <a:p>
            <a:pPr indent="0" marL="0">
              <a:buNone/>
            </a:pPr>
            <a:r>
              <a:rPr lang="en-US" sz="1600" b="1" dirty="0">
                <a:solidFill>
                  <a:srgbClr val="27D3BE"/>
                </a:solidFill>
                <a:latin typeface="Palatino Linotype" pitchFamily="34" charset="0"/>
                <a:ea typeface="Palatino Linotype" pitchFamily="34" charset="-122"/>
                <a:cs typeface="Palatino Linotype" pitchFamily="34" charset="-120"/>
              </a:rPr>
              <a:t>Profil sanitaire du comté attribué (III)</a:t>
            </a:r>
            <a:endParaRPr lang="en-US" sz="1600" dirty="0"/>
          </a:p>
          <a:p>
            <a:pPr indent="0" marL="0">
              <a:buNone/>
            </a:pPr>
            <a:r>
              <a:rPr lang="en-US" sz="1600" dirty="0">
                <a:solidFill>
                  <a:srgbClr val="959BB0"/>
                </a:solidFill>
                <a:latin typeface="Palatino Linotype" pitchFamily="34" charset="0"/>
                <a:ea typeface="Palatino Linotype" pitchFamily="34" charset="-122"/>
                <a:cs typeface="Palatino Linotype" pitchFamily="34" charset="-120"/>
              </a:rPr>
              <a:t>Charge de morbidité et DALY</a:t>
            </a:r>
            <a:endParaRPr lang="en-US" sz="1600" dirty="0"/>
          </a:p>
        </p:txBody>
      </p:sp>
      <p:sp>
        <p:nvSpPr>
          <p:cNvPr id="7" name="Shape 5"/>
          <p:cNvSpPr/>
          <p:nvPr/>
        </p:nvSpPr>
        <p:spPr>
          <a:xfrm>
            <a:off x="6675120" y="868680"/>
            <a:ext cx="4846320" cy="347472"/>
          </a:xfrm>
          <a:prstGeom prst="rect">
            <a:avLst/>
          </a:prstGeom>
          <a:solidFill>
            <a:srgbClr val="FF4757"/>
          </a:solidFill>
          <a:ln w="12700">
            <a:solidFill>
              <a:srgbClr val="FF4757"/>
            </a:solidFill>
            <a:prstDash val="solid"/>
          </a:ln>
        </p:spPr>
        <p:txBody>
          <a:bodyPr/>
          <a:p/>
        </p:txBody>
      </p:sp>
      <p:sp>
        <p:nvSpPr>
          <p:cNvPr id="8" name="Shape 6"/>
          <p:cNvSpPr/>
          <p:nvPr/>
        </p:nvSpPr>
        <p:spPr>
          <a:xfrm>
            <a:off x="6675120" y="1325880"/>
            <a:ext cx="3713223" cy="347472"/>
          </a:xfrm>
          <a:prstGeom prst="rect">
            <a:avLst/>
          </a:prstGeom>
          <a:solidFill>
            <a:srgbClr val="272A38"/>
          </a:solidFill>
          <a:ln w="12700">
            <a:solidFill>
              <a:srgbClr val="272A38"/>
            </a:solidFill>
            <a:prstDash val="solid"/>
          </a:ln>
        </p:spPr>
        <p:txBody>
          <a:bodyPr/>
          <a:p/>
        </p:txBody>
      </p:sp>
      <p:sp>
        <p:nvSpPr>
          <p:cNvPr id="9" name="Shape 7"/>
          <p:cNvSpPr/>
          <p:nvPr/>
        </p:nvSpPr>
        <p:spPr>
          <a:xfrm>
            <a:off x="6675120" y="1783080"/>
            <a:ext cx="1883590" cy="347472"/>
          </a:xfrm>
          <a:prstGeom prst="rect">
            <a:avLst/>
          </a:prstGeom>
          <a:solidFill>
            <a:srgbClr val="27D3BE"/>
          </a:solidFill>
          <a:ln w="12700">
            <a:solidFill>
              <a:srgbClr val="27D3BE"/>
            </a:solidFill>
            <a:prstDash val="solid"/>
          </a:ln>
        </p:spPr>
        <p:txBody>
          <a:bodyPr/>
          <a:p/>
        </p:txBody>
      </p:sp>
      <p:sp>
        <p:nvSpPr>
          <p:cNvPr id="10" name="Shape 8"/>
          <p:cNvSpPr/>
          <p:nvPr/>
        </p:nvSpPr>
        <p:spPr>
          <a:xfrm>
            <a:off x="6675120" y="2240280"/>
            <a:ext cx="1437218" cy="347472"/>
          </a:xfrm>
          <a:prstGeom prst="rect">
            <a:avLst/>
          </a:prstGeom>
          <a:solidFill>
            <a:srgbClr val="272A38"/>
          </a:solidFill>
          <a:ln w="12700">
            <a:solidFill>
              <a:srgbClr val="272A38"/>
            </a:solidFill>
            <a:prstDash val="solid"/>
          </a:ln>
        </p:spPr>
        <p:txBody>
          <a:bodyPr/>
          <a:p/>
        </p:txBody>
      </p:sp>
      <p:sp>
        <p:nvSpPr>
          <p:cNvPr id="11" name="Shape 9"/>
          <p:cNvSpPr/>
          <p:nvPr/>
        </p:nvSpPr>
        <p:spPr>
          <a:xfrm>
            <a:off x="6675120" y="2697480"/>
            <a:ext cx="1270442" cy="347472"/>
          </a:xfrm>
          <a:prstGeom prst="rect">
            <a:avLst/>
          </a:prstGeom>
          <a:solidFill>
            <a:srgbClr val="272A38"/>
          </a:solidFill>
          <a:ln w="12700">
            <a:solidFill>
              <a:srgbClr val="272A38"/>
            </a:solidFill>
            <a:prstDash val="solid"/>
          </a:ln>
        </p:spPr>
        <p:txBody>
          <a:bodyPr/>
          <a:p/>
        </p:txBody>
      </p:sp>
      <p:sp>
        <p:nvSpPr>
          <p:cNvPr id="12" name="Shape 10"/>
          <p:cNvSpPr/>
          <p:nvPr/>
        </p:nvSpPr>
        <p:spPr>
          <a:xfrm>
            <a:off x="6675120" y="3154680"/>
            <a:ext cx="1093856" cy="347472"/>
          </a:xfrm>
          <a:prstGeom prst="rect">
            <a:avLst/>
          </a:prstGeom>
          <a:solidFill>
            <a:srgbClr val="272A38"/>
          </a:solidFill>
          <a:ln w="12700">
            <a:solidFill>
              <a:srgbClr val="272A38"/>
            </a:solidFill>
            <a:prstDash val="solid"/>
          </a:ln>
        </p:spPr>
        <p:txBody>
          <a:bodyPr/>
          <a:p/>
        </p:txBody>
      </p:sp>
      <p:sp>
        <p:nvSpPr>
          <p:cNvPr id="13" name="Shape 11"/>
          <p:cNvSpPr/>
          <p:nvPr/>
        </p:nvSpPr>
        <p:spPr>
          <a:xfrm>
            <a:off x="6675120" y="3611880"/>
            <a:ext cx="1034993" cy="347472"/>
          </a:xfrm>
          <a:prstGeom prst="rect">
            <a:avLst/>
          </a:prstGeom>
          <a:solidFill>
            <a:srgbClr val="272A38"/>
          </a:solidFill>
          <a:ln w="12700">
            <a:solidFill>
              <a:srgbClr val="272A38"/>
            </a:solidFill>
            <a:prstDash val="solid"/>
          </a:ln>
        </p:spPr>
        <p:txBody>
          <a:bodyPr/>
          <a:p/>
        </p:txBody>
      </p:sp>
      <p:sp>
        <p:nvSpPr>
          <p:cNvPr id="14" name="Shape 12"/>
          <p:cNvSpPr/>
          <p:nvPr/>
        </p:nvSpPr>
        <p:spPr>
          <a:xfrm>
            <a:off x="6675120" y="4069080"/>
            <a:ext cx="976131" cy="347472"/>
          </a:xfrm>
          <a:prstGeom prst="rect">
            <a:avLst/>
          </a:prstGeom>
          <a:solidFill>
            <a:srgbClr val="272A38"/>
          </a:solidFill>
          <a:ln w="12700">
            <a:solidFill>
              <a:srgbClr val="272A38"/>
            </a:solidFill>
            <a:prstDash val="solid"/>
          </a:ln>
        </p:spPr>
        <p:txBody>
          <a:bodyPr/>
          <a:p/>
        </p:txBody>
      </p:sp>
      <p:sp>
        <p:nvSpPr>
          <p:cNvPr id="15" name="Shape 13"/>
          <p:cNvSpPr/>
          <p:nvPr/>
        </p:nvSpPr>
        <p:spPr>
          <a:xfrm>
            <a:off x="6675120" y="4526280"/>
            <a:ext cx="922174" cy="347472"/>
          </a:xfrm>
          <a:prstGeom prst="rect">
            <a:avLst/>
          </a:prstGeom>
          <a:solidFill>
            <a:srgbClr val="272A38"/>
          </a:solidFill>
          <a:ln w="12700">
            <a:solidFill>
              <a:srgbClr val="272A38"/>
            </a:solidFill>
            <a:prstDash val="solid"/>
          </a:ln>
        </p:spPr>
        <p:txBody>
          <a:bodyPr/>
          <a:p/>
        </p:txBody>
      </p:sp>
      <p:sp>
        <p:nvSpPr>
          <p:cNvPr id="16" name="Shape 14"/>
          <p:cNvSpPr/>
          <p:nvPr/>
        </p:nvSpPr>
        <p:spPr>
          <a:xfrm>
            <a:off x="6675120" y="4983480"/>
            <a:ext cx="863312" cy="347472"/>
          </a:xfrm>
          <a:prstGeom prst="rect">
            <a:avLst/>
          </a:prstGeom>
          <a:solidFill>
            <a:srgbClr val="272A38"/>
          </a:solidFill>
          <a:ln w="12700">
            <a:solidFill>
              <a:srgbClr val="272A38"/>
            </a:solidFill>
            <a:prstDash val="solid"/>
          </a:ln>
        </p:spPr>
        <p:txBody>
          <a:bodyPr/>
          <a:p/>
        </p:txBody>
      </p:sp>
      <p:sp>
        <p:nvSpPr>
          <p:cNvPr id="17" name="Text 15"/>
          <p:cNvSpPr/>
          <p:nvPr/>
        </p:nvSpPr>
        <p:spPr>
          <a:xfrm>
            <a:off x="6675120" y="5577840"/>
            <a:ext cx="4846320" cy="274320"/>
          </a:xfrm>
          <a:prstGeom prst="rect">
            <a:avLst/>
          </a:prstGeom>
          <a:noFill/>
          <a:ln/>
        </p:spPr>
        <p:txBody>
          <a:bodyPr wrap="square" lIns="0" tIns="0" rIns="0" bIns="0" rtlCol="0" anchor="t"/>
          <a:lstStyle/>
          <a:p>
            <a:pPr indent="0" marL="0">
              <a:buNone/>
            </a:pPr>
            <a:r>
              <a:rPr lang="en-US" sz="1300" dirty="0">
                <a:solidFill>
                  <a:srgbClr val="959BB0"/>
                </a:solidFill>
                <a:latin typeface="Palatino Linotype" pitchFamily="34" charset="0"/>
                <a:ea typeface="Palatino Linotype" pitchFamily="34" charset="-122"/>
                <a:cs typeface="Palatino Linotype" pitchFamily="34" charset="-120"/>
              </a:rPr>
              <a:t>Roumanie, 10 premières causes de DALY, 2023</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 CAS</a:t>
            </a:r>
            <a:endParaRPr lang="en-US" sz="1300" dirty="0"/>
          </a:p>
        </p:txBody>
      </p:sp>
      <p:sp>
        <p:nvSpPr>
          <p:cNvPr id="3" name="Shape 1"/>
          <p:cNvSpPr/>
          <p:nvPr/>
        </p:nvSpPr>
        <p:spPr>
          <a:xfrm>
            <a:off x="8092440" y="292608"/>
            <a:ext cx="3474720" cy="420624"/>
          </a:xfrm>
          <a:prstGeom prst="roundRect">
            <a:avLst>
              <a:gd name="adj" fmla="val 50000"/>
            </a:avLst>
          </a:prstGeom>
          <a:solidFill>
            <a:srgbClr val="FFC24B"/>
          </a:solidFill>
          <a:ln w="12700">
            <a:solidFill>
              <a:srgbClr val="FFC24B"/>
            </a:solidFill>
            <a:prstDash val="solid"/>
          </a:ln>
        </p:spPr>
        <p:txBody>
          <a:bodyPr/>
          <a:p/>
        </p:txBody>
      </p:sp>
      <p:sp>
        <p:nvSpPr>
          <p:cNvPr id="4" name="Text 2"/>
          <p:cNvSpPr/>
          <p:nvPr/>
        </p:nvSpPr>
        <p:spPr>
          <a:xfrm>
            <a:off x="8092440" y="292608"/>
            <a:ext cx="34747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POUR TOUT LE GROUPE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Deux comtés, deux chiffres, une seule somme d’argent</a:t>
            </a:r>
            <a:endParaRPr lang="en-US" sz="3000" dirty="0"/>
          </a:p>
        </p:txBody>
      </p:sp>
      <p:sp>
        <p:nvSpPr>
          <p:cNvPr id="6" name="Shape 4"/>
          <p:cNvSpPr/>
          <p:nvPr/>
        </p:nvSpPr>
        <p:spPr>
          <a:xfrm>
            <a:off x="594360" y="1600200"/>
            <a:ext cx="5349240" cy="2606040"/>
          </a:xfrm>
          <a:prstGeom prst="roundRect">
            <a:avLst>
              <a:gd name="adj" fmla="val 3158"/>
            </a:avLst>
          </a:prstGeom>
          <a:solidFill>
            <a:srgbClr val="ECEAE4"/>
          </a:solidFill>
          <a:ln w="12700">
            <a:solidFill>
              <a:srgbClr val="ECEAE4"/>
            </a:solidFill>
            <a:prstDash val="solid"/>
          </a:ln>
        </p:spPr>
        <p:txBody>
          <a:bodyPr/>
          <a:p/>
        </p:txBody>
      </p:sp>
      <p:sp>
        <p:nvSpPr>
          <p:cNvPr id="7" name="Shape 5"/>
          <p:cNvSpPr/>
          <p:nvPr/>
        </p:nvSpPr>
        <p:spPr>
          <a:xfrm>
            <a:off x="594360" y="1600200"/>
            <a:ext cx="82296" cy="2606040"/>
          </a:xfrm>
          <a:prstGeom prst="rect">
            <a:avLst/>
          </a:prstGeom>
          <a:solidFill>
            <a:srgbClr val="B02532"/>
          </a:solidFill>
          <a:ln w="12700">
            <a:solidFill>
              <a:srgbClr val="B02532"/>
            </a:solidFill>
            <a:prstDash val="solid"/>
          </a:ln>
        </p:spPr>
        <p:txBody>
          <a:bodyPr/>
          <a:p/>
        </p:txBody>
      </p:sp>
      <p:sp>
        <p:nvSpPr>
          <p:cNvPr id="8" name="Text 6"/>
          <p:cNvSpPr/>
          <p:nvPr/>
        </p:nvSpPr>
        <p:spPr>
          <a:xfrm>
            <a:off x="914400" y="1719072"/>
            <a:ext cx="4572000" cy="411480"/>
          </a:xfrm>
          <a:prstGeom prst="rect">
            <a:avLst/>
          </a:prstGeom>
          <a:noFill/>
          <a:ln/>
        </p:spPr>
        <p:txBody>
          <a:bodyPr wrap="square" lIns="0" tIns="0" rIns="0" bIns="0" rtlCol="0" anchor="t"/>
          <a:lstStyle/>
          <a:p>
            <a:pPr indent="0" marL="0">
              <a:buNone/>
            </a:pPr>
            <a:r>
              <a:rPr lang="en-US" sz="2200" b="1" dirty="0">
                <a:solidFill>
                  <a:srgbClr val="B02532"/>
                </a:solidFill>
                <a:latin typeface="Palatino Linotype" pitchFamily="34" charset="0"/>
                <a:ea typeface="Palatino Linotype" pitchFamily="34" charset="-122"/>
                <a:cs typeface="Palatino Linotype" pitchFamily="34" charset="-120"/>
              </a:rPr>
              <a:t>Teleorman</a:t>
            </a:r>
            <a:endParaRPr lang="en-US" sz="2200" dirty="0"/>
          </a:p>
        </p:txBody>
      </p:sp>
      <p:sp>
        <p:nvSpPr>
          <p:cNvPr id="9" name="Text 7"/>
          <p:cNvSpPr/>
          <p:nvPr/>
        </p:nvSpPr>
        <p:spPr>
          <a:xfrm>
            <a:off x="914400" y="2148840"/>
            <a:ext cx="4754880" cy="1097280"/>
          </a:xfrm>
          <a:prstGeom prst="rect">
            <a:avLst/>
          </a:prstGeom>
          <a:noFill/>
          <a:ln/>
        </p:spPr>
        <p:txBody>
          <a:bodyPr wrap="square" lIns="0" tIns="0" rIns="0" bIns="0" rtlCol="0" anchor="ctr"/>
          <a:lstStyle/>
          <a:p>
            <a:pPr indent="0" marL="0">
              <a:buNone/>
            </a:pPr>
            <a:r>
              <a:rPr lang="en-US" sz="6600" b="1" dirty="0">
                <a:solidFill>
                  <a:srgbClr val="B02532"/>
                </a:solidFill>
                <a:latin typeface="Palatino Linotype" pitchFamily="34" charset="0"/>
                <a:ea typeface="Palatino Linotype" pitchFamily="34" charset="-122"/>
                <a:cs typeface="Palatino Linotype" pitchFamily="34" charset="-120"/>
              </a:rPr>
              <a:t>473,5</a:t>
            </a:r>
            <a:endParaRPr lang="en-US" sz="6600" dirty="0"/>
          </a:p>
        </p:txBody>
      </p:sp>
      <p:sp>
        <p:nvSpPr>
          <p:cNvPr id="10" name="Text 8"/>
          <p:cNvSpPr/>
          <p:nvPr/>
        </p:nvSpPr>
        <p:spPr>
          <a:xfrm>
            <a:off x="914400" y="3310128"/>
            <a:ext cx="4846320" cy="82296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années de vie en bonne santé perdues pour 1 000 habitants, 2023</a:t>
            </a:r>
            <a:endParaRPr lang="en-US" sz="1500" dirty="0"/>
          </a:p>
        </p:txBody>
      </p:sp>
      <p:sp>
        <p:nvSpPr>
          <p:cNvPr id="11" name="Shape 9"/>
          <p:cNvSpPr/>
          <p:nvPr/>
        </p:nvSpPr>
        <p:spPr>
          <a:xfrm>
            <a:off x="6217920" y="1600200"/>
            <a:ext cx="5349240" cy="2606040"/>
          </a:xfrm>
          <a:prstGeom prst="roundRect">
            <a:avLst>
              <a:gd name="adj" fmla="val 3158"/>
            </a:avLst>
          </a:prstGeom>
          <a:solidFill>
            <a:srgbClr val="ECEAE4"/>
          </a:solidFill>
          <a:ln w="12700">
            <a:solidFill>
              <a:srgbClr val="ECEAE4"/>
            </a:solidFill>
            <a:prstDash val="solid"/>
          </a:ln>
        </p:spPr>
        <p:txBody>
          <a:bodyPr/>
          <a:p/>
        </p:txBody>
      </p:sp>
      <p:sp>
        <p:nvSpPr>
          <p:cNvPr id="12" name="Shape 10"/>
          <p:cNvSpPr/>
          <p:nvPr/>
        </p:nvSpPr>
        <p:spPr>
          <a:xfrm>
            <a:off x="6217920" y="1600200"/>
            <a:ext cx="82296" cy="2606040"/>
          </a:xfrm>
          <a:prstGeom prst="rect">
            <a:avLst/>
          </a:prstGeom>
          <a:solidFill>
            <a:srgbClr val="0E7C6B"/>
          </a:solidFill>
          <a:ln w="12700">
            <a:solidFill>
              <a:srgbClr val="0E7C6B"/>
            </a:solidFill>
            <a:prstDash val="solid"/>
          </a:ln>
        </p:spPr>
        <p:txBody>
          <a:bodyPr/>
          <a:p/>
        </p:txBody>
      </p:sp>
      <p:sp>
        <p:nvSpPr>
          <p:cNvPr id="13" name="Text 11"/>
          <p:cNvSpPr/>
          <p:nvPr/>
        </p:nvSpPr>
        <p:spPr>
          <a:xfrm>
            <a:off x="6537960" y="1719072"/>
            <a:ext cx="4572000" cy="411480"/>
          </a:xfrm>
          <a:prstGeom prst="rect">
            <a:avLst/>
          </a:prstGeom>
          <a:noFill/>
          <a:ln/>
        </p:spPr>
        <p:txBody>
          <a:bodyPr wrap="square" lIns="0" tIns="0" rIns="0" bIns="0" rtlCol="0" anchor="t"/>
          <a:lstStyle/>
          <a:p>
            <a:pPr indent="0" marL="0">
              <a:buNone/>
            </a:pPr>
            <a:r>
              <a:rPr lang="en-US" sz="2200" b="1" dirty="0">
                <a:solidFill>
                  <a:srgbClr val="0E7C6B"/>
                </a:solidFill>
                <a:latin typeface="Palatino Linotype" pitchFamily="34" charset="0"/>
                <a:ea typeface="Palatino Linotype" pitchFamily="34" charset="-122"/>
                <a:cs typeface="Palatino Linotype" pitchFamily="34" charset="-120"/>
              </a:rPr>
              <a:t>Ilfov</a:t>
            </a:r>
            <a:endParaRPr lang="en-US" sz="2200" dirty="0"/>
          </a:p>
        </p:txBody>
      </p:sp>
      <p:sp>
        <p:nvSpPr>
          <p:cNvPr id="14" name="Text 12"/>
          <p:cNvSpPr/>
          <p:nvPr/>
        </p:nvSpPr>
        <p:spPr>
          <a:xfrm>
            <a:off x="6537960" y="2148840"/>
            <a:ext cx="4754880" cy="1097280"/>
          </a:xfrm>
          <a:prstGeom prst="rect">
            <a:avLst/>
          </a:prstGeom>
          <a:noFill/>
          <a:ln/>
        </p:spPr>
        <p:txBody>
          <a:bodyPr wrap="square" lIns="0" tIns="0" rIns="0" bIns="0" rtlCol="0" anchor="ctr"/>
          <a:lstStyle/>
          <a:p>
            <a:pPr indent="0" marL="0">
              <a:buNone/>
            </a:pPr>
            <a:r>
              <a:rPr lang="en-US" sz="6600" b="1" dirty="0">
                <a:solidFill>
                  <a:srgbClr val="0E7C6B"/>
                </a:solidFill>
                <a:latin typeface="Palatino Linotype" pitchFamily="34" charset="0"/>
                <a:ea typeface="Palatino Linotype" pitchFamily="34" charset="-122"/>
                <a:cs typeface="Palatino Linotype" pitchFamily="34" charset="-120"/>
              </a:rPr>
              <a:t>287,0</a:t>
            </a:r>
            <a:endParaRPr lang="en-US" sz="6600" dirty="0"/>
          </a:p>
        </p:txBody>
      </p:sp>
      <p:sp>
        <p:nvSpPr>
          <p:cNvPr id="15" name="Text 13"/>
          <p:cNvSpPr/>
          <p:nvPr/>
        </p:nvSpPr>
        <p:spPr>
          <a:xfrm>
            <a:off x="6537960" y="3310128"/>
            <a:ext cx="4846320" cy="82296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années de vie en bonne santé perdues pour 1 000 habitants, 2023</a:t>
            </a:r>
            <a:endParaRPr lang="en-US" sz="1500" dirty="0"/>
          </a:p>
        </p:txBody>
      </p:sp>
      <p:sp>
        <p:nvSpPr>
          <p:cNvPr id="16" name="Text 14"/>
          <p:cNvSpPr/>
          <p:nvPr/>
        </p:nvSpPr>
        <p:spPr>
          <a:xfrm>
            <a:off x="594360" y="4343400"/>
            <a:ext cx="10972800" cy="320040"/>
          </a:xfrm>
          <a:prstGeom prst="rect">
            <a:avLst/>
          </a:prstGeom>
          <a:noFill/>
          <a:ln/>
        </p:spPr>
        <p:txBody>
          <a:bodyPr wrap="square" lIns="0" tIns="0" rIns="0" bIns="0" rtlCol="0" anchor="t"/>
          <a:lstStyle/>
          <a:p>
            <a:pPr indent="0" marL="0">
              <a:buNone/>
            </a:pPr>
            <a:r>
              <a:rPr lang="en-US" sz="1400" b="1" dirty="0">
                <a:solidFill>
                  <a:srgbClr val="8A6100"/>
                </a:solidFill>
                <a:latin typeface="Palatino Linotype" pitchFamily="34" charset="0"/>
                <a:ea typeface="Palatino Linotype" pitchFamily="34" charset="-122"/>
                <a:cs typeface="Palatino Linotype" pitchFamily="34" charset="-120"/>
              </a:rPr>
              <a:t>Estimations propres, calculées à partir des taux GBD du pays ; taux bruts.</a:t>
            </a:r>
            <a:endParaRPr lang="en-US" sz="1400" dirty="0"/>
          </a:p>
        </p:txBody>
      </p:sp>
      <p:sp>
        <p:nvSpPr>
          <p:cNvPr id="17" name="Shape 15"/>
          <p:cNvSpPr/>
          <p:nvPr/>
        </p:nvSpPr>
        <p:spPr>
          <a:xfrm>
            <a:off x="594360" y="4846320"/>
            <a:ext cx="10972800" cy="1280160"/>
          </a:xfrm>
          <a:prstGeom prst="roundRect">
            <a:avLst>
              <a:gd name="adj" fmla="val 6429"/>
            </a:avLst>
          </a:prstGeom>
          <a:solidFill>
            <a:srgbClr val="1D1F2B"/>
          </a:solidFill>
          <a:ln w="12700">
            <a:solidFill>
              <a:srgbClr val="1D1F2B"/>
            </a:solidFill>
            <a:prstDash val="solid"/>
          </a:ln>
        </p:spPr>
        <p:txBody>
          <a:bodyPr/>
          <a:p/>
        </p:txBody>
      </p:sp>
      <p:sp>
        <p:nvSpPr>
          <p:cNvPr id="18" name="Text 16"/>
          <p:cNvSpPr/>
          <p:nvPr/>
        </p:nvSpPr>
        <p:spPr>
          <a:xfrm>
            <a:off x="868680" y="4846320"/>
            <a:ext cx="10424160" cy="1280160"/>
          </a:xfrm>
          <a:prstGeom prst="rect">
            <a:avLst/>
          </a:prstGeom>
          <a:noFill/>
          <a:ln/>
        </p:spPr>
        <p:txBody>
          <a:bodyPr wrap="square" lIns="0" tIns="0" rIns="0" bIns="0" rtlCol="0" anchor="ctr"/>
          <a:lstStyle/>
          <a:p>
            <a:pPr indent="0" marL="0">
              <a:buNone/>
            </a:pPr>
            <a:r>
              <a:rPr lang="en-US" sz="2400" b="1" dirty="0">
                <a:solidFill>
                  <a:srgbClr val="FFFFFF"/>
                </a:solidFill>
                <a:latin typeface="Palatino Linotype" pitchFamily="34" charset="0"/>
                <a:ea typeface="Palatino Linotype" pitchFamily="34" charset="-122"/>
                <a:cs typeface="Palatino Linotype" pitchFamily="34" charset="-120"/>
              </a:rPr>
              <a:t>Où va l’argent, et que voudriez-vous savoir de plus avant de décider ?</a:t>
            </a:r>
            <a:endParaRPr lang="en-US" sz="2400" dirty="0"/>
          </a:p>
        </p:txBody>
      </p:sp>
      <p:sp>
        <p:nvSpPr>
          <p:cNvPr id="19" name="Text 17"/>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Eurostat (décès et population) et GBD 2023, IHME ; méthode du TP 3. Le GBD ne publie pas de chiffres pour les comtés de la Roumanie.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DEUX CHIFFRES, TROIS MESURES</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Ce que mesure chacun</a:t>
            </a:r>
            <a:endParaRPr lang="en-US" sz="3000" dirty="0"/>
          </a:p>
        </p:txBody>
      </p:sp>
      <p:sp>
        <p:nvSpPr>
          <p:cNvPr id="4" name="Shape 2"/>
          <p:cNvSpPr/>
          <p:nvPr/>
        </p:nvSpPr>
        <p:spPr>
          <a:xfrm>
            <a:off x="594360" y="1554480"/>
            <a:ext cx="3474720" cy="3063240"/>
          </a:xfrm>
          <a:prstGeom prst="roundRect">
            <a:avLst>
              <a:gd name="adj" fmla="val 2687"/>
            </a:avLst>
          </a:prstGeom>
          <a:solidFill>
            <a:srgbClr val="ECEAE4"/>
          </a:solidFill>
          <a:ln w="12700">
            <a:solidFill>
              <a:srgbClr val="ECEAE4"/>
            </a:solidFill>
            <a:prstDash val="solid"/>
          </a:ln>
        </p:spPr>
        <p:txBody>
          <a:bodyPr/>
          <a:p/>
        </p:txBody>
      </p:sp>
      <p:sp>
        <p:nvSpPr>
          <p:cNvPr id="5" name="Shape 3"/>
          <p:cNvSpPr/>
          <p:nvPr/>
        </p:nvSpPr>
        <p:spPr>
          <a:xfrm>
            <a:off x="594360" y="1554480"/>
            <a:ext cx="3474720" cy="82296"/>
          </a:xfrm>
          <a:prstGeom prst="rect">
            <a:avLst/>
          </a:prstGeom>
          <a:solidFill>
            <a:srgbClr val="B02532"/>
          </a:solidFill>
          <a:ln w="12700">
            <a:solidFill>
              <a:srgbClr val="B02532"/>
            </a:solidFill>
            <a:prstDash val="solid"/>
          </a:ln>
        </p:spPr>
        <p:txBody>
          <a:bodyPr/>
          <a:p/>
        </p:txBody>
      </p:sp>
      <p:sp>
        <p:nvSpPr>
          <p:cNvPr id="6" name="Text 4"/>
          <p:cNvSpPr/>
          <p:nvPr/>
        </p:nvSpPr>
        <p:spPr>
          <a:xfrm>
            <a:off x="868680" y="1783080"/>
            <a:ext cx="3017520" cy="731520"/>
          </a:xfrm>
          <a:prstGeom prst="rect">
            <a:avLst/>
          </a:prstGeom>
          <a:noFill/>
          <a:ln/>
        </p:spPr>
        <p:txBody>
          <a:bodyPr wrap="square" lIns="0" tIns="0" rIns="0" bIns="0" rtlCol="0" anchor="t"/>
          <a:lstStyle/>
          <a:p>
            <a:pPr indent="0" marL="0">
              <a:buNone/>
            </a:pPr>
            <a:r>
              <a:rPr lang="en-US" sz="2100" b="1" dirty="0">
                <a:solidFill>
                  <a:srgbClr val="B02532"/>
                </a:solidFill>
                <a:latin typeface="Palatino Linotype" pitchFamily="34" charset="0"/>
                <a:ea typeface="Palatino Linotype" pitchFamily="34" charset="-122"/>
                <a:cs typeface="Palatino Linotype" pitchFamily="34" charset="-120"/>
              </a:rPr>
              <a:t>Taux brut</a:t>
            </a:r>
            <a:endParaRPr lang="en-US" sz="2100" dirty="0"/>
          </a:p>
        </p:txBody>
      </p:sp>
      <p:sp>
        <p:nvSpPr>
          <p:cNvPr id="7" name="Text 5"/>
          <p:cNvSpPr/>
          <p:nvPr/>
        </p:nvSpPr>
        <p:spPr>
          <a:xfrm>
            <a:off x="868680" y="2560320"/>
            <a:ext cx="2971800" cy="20116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Années perdues pour 1 000 habitants. Il ne tient pas compte de l’âge de la population. Roumanie, de même : 396,4.</a:t>
            </a:r>
            <a:endParaRPr lang="en-US" sz="1500" dirty="0"/>
          </a:p>
        </p:txBody>
      </p:sp>
      <p:sp>
        <p:nvSpPr>
          <p:cNvPr id="8" name="Shape 6"/>
          <p:cNvSpPr/>
          <p:nvPr/>
        </p:nvSpPr>
        <p:spPr>
          <a:xfrm>
            <a:off x="4343400" y="1554480"/>
            <a:ext cx="3474720" cy="3063240"/>
          </a:xfrm>
          <a:prstGeom prst="roundRect">
            <a:avLst>
              <a:gd name="adj" fmla="val 2687"/>
            </a:avLst>
          </a:prstGeom>
          <a:solidFill>
            <a:srgbClr val="ECEAE4"/>
          </a:solidFill>
          <a:ln w="12700">
            <a:solidFill>
              <a:srgbClr val="ECEAE4"/>
            </a:solidFill>
            <a:prstDash val="solid"/>
          </a:ln>
        </p:spPr>
        <p:txBody>
          <a:bodyPr/>
          <a:p/>
        </p:txBody>
      </p:sp>
      <p:sp>
        <p:nvSpPr>
          <p:cNvPr id="9" name="Shape 7"/>
          <p:cNvSpPr/>
          <p:nvPr/>
        </p:nvSpPr>
        <p:spPr>
          <a:xfrm>
            <a:off x="4343400" y="1554480"/>
            <a:ext cx="3474720" cy="82296"/>
          </a:xfrm>
          <a:prstGeom prst="rect">
            <a:avLst/>
          </a:prstGeom>
          <a:solidFill>
            <a:srgbClr val="4A2D8C"/>
          </a:solidFill>
          <a:ln w="12700">
            <a:solidFill>
              <a:srgbClr val="4A2D8C"/>
            </a:solidFill>
            <a:prstDash val="solid"/>
          </a:ln>
        </p:spPr>
        <p:txBody>
          <a:bodyPr/>
          <a:p/>
        </p:txBody>
      </p:sp>
      <p:sp>
        <p:nvSpPr>
          <p:cNvPr id="10" name="Text 8"/>
          <p:cNvSpPr/>
          <p:nvPr/>
        </p:nvSpPr>
        <p:spPr>
          <a:xfrm>
            <a:off x="4617720" y="1783080"/>
            <a:ext cx="3017520" cy="731520"/>
          </a:xfrm>
          <a:prstGeom prst="rect">
            <a:avLst/>
          </a:prstGeom>
          <a:noFill/>
          <a:ln/>
        </p:spPr>
        <p:txBody>
          <a:bodyPr wrap="square" lIns="0" tIns="0" rIns="0" bIns="0" rtlCol="0" anchor="t"/>
          <a:lstStyle/>
          <a:p>
            <a:pPr indent="0" marL="0">
              <a:buNone/>
            </a:pPr>
            <a:r>
              <a:rPr lang="en-US" sz="2100" b="1" dirty="0">
                <a:solidFill>
                  <a:srgbClr val="4A2D8C"/>
                </a:solidFill>
                <a:latin typeface="Palatino Linotype" pitchFamily="34" charset="0"/>
                <a:ea typeface="Palatino Linotype" pitchFamily="34" charset="-122"/>
                <a:cs typeface="Palatino Linotype" pitchFamily="34" charset="-120"/>
              </a:rPr>
              <a:t>Nombre absolu</a:t>
            </a:r>
            <a:endParaRPr lang="en-US" sz="2100" dirty="0"/>
          </a:p>
        </p:txBody>
      </p:sp>
      <p:sp>
        <p:nvSpPr>
          <p:cNvPr id="11" name="Text 9"/>
          <p:cNvSpPr/>
          <p:nvPr/>
        </p:nvSpPr>
        <p:spPr>
          <a:xfrm>
            <a:off x="4617720" y="2560320"/>
            <a:ext cx="2971800" cy="20116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Le volume de la charge. Ilfov, avec une population presque double, perd davantage d’années au total.</a:t>
            </a:r>
            <a:endParaRPr lang="en-US" sz="1500" dirty="0"/>
          </a:p>
        </p:txBody>
      </p:sp>
      <p:sp>
        <p:nvSpPr>
          <p:cNvPr id="12" name="Shape 10"/>
          <p:cNvSpPr/>
          <p:nvPr/>
        </p:nvSpPr>
        <p:spPr>
          <a:xfrm>
            <a:off x="8092440" y="1554480"/>
            <a:ext cx="3474720" cy="3063240"/>
          </a:xfrm>
          <a:prstGeom prst="roundRect">
            <a:avLst>
              <a:gd name="adj" fmla="val 2687"/>
            </a:avLst>
          </a:prstGeom>
          <a:solidFill>
            <a:srgbClr val="ECEAE4"/>
          </a:solidFill>
          <a:ln w="12700">
            <a:solidFill>
              <a:srgbClr val="ECEAE4"/>
            </a:solidFill>
            <a:prstDash val="solid"/>
          </a:ln>
        </p:spPr>
        <p:txBody>
          <a:bodyPr/>
          <a:p/>
        </p:txBody>
      </p:sp>
      <p:sp>
        <p:nvSpPr>
          <p:cNvPr id="13" name="Shape 11"/>
          <p:cNvSpPr/>
          <p:nvPr/>
        </p:nvSpPr>
        <p:spPr>
          <a:xfrm>
            <a:off x="8092440" y="1554480"/>
            <a:ext cx="3474720" cy="82296"/>
          </a:xfrm>
          <a:prstGeom prst="rect">
            <a:avLst/>
          </a:prstGeom>
          <a:solidFill>
            <a:srgbClr val="0E7C6B"/>
          </a:solidFill>
          <a:ln w="12700">
            <a:solidFill>
              <a:srgbClr val="0E7C6B"/>
            </a:solidFill>
            <a:prstDash val="solid"/>
          </a:ln>
        </p:spPr>
        <p:txBody>
          <a:bodyPr/>
          <a:p/>
        </p:txBody>
      </p:sp>
      <p:sp>
        <p:nvSpPr>
          <p:cNvPr id="14" name="Text 12"/>
          <p:cNvSpPr/>
          <p:nvPr/>
        </p:nvSpPr>
        <p:spPr>
          <a:xfrm>
            <a:off x="8366760" y="1783080"/>
            <a:ext cx="3017520" cy="731520"/>
          </a:xfrm>
          <a:prstGeom prst="rect">
            <a:avLst/>
          </a:prstGeom>
          <a:noFill/>
          <a:ln/>
        </p:spPr>
        <p:txBody>
          <a:bodyPr wrap="square" lIns="0" tIns="0" rIns="0" bIns="0" rtlCol="0" anchor="t"/>
          <a:lstStyle/>
          <a:p>
            <a:pPr indent="0" marL="0">
              <a:buNone/>
            </a:pPr>
            <a:r>
              <a:rPr lang="en-US" sz="2100" b="1" dirty="0">
                <a:solidFill>
                  <a:srgbClr val="0E7C6B"/>
                </a:solidFill>
                <a:latin typeface="Palatino Linotype" pitchFamily="34" charset="0"/>
                <a:ea typeface="Palatino Linotype" pitchFamily="34" charset="-122"/>
                <a:cs typeface="Palatino Linotype" pitchFamily="34" charset="-120"/>
              </a:rPr>
              <a:t>Taux standardisé selon l’âge</a:t>
            </a:r>
            <a:endParaRPr lang="en-US" sz="2100" dirty="0"/>
          </a:p>
        </p:txBody>
      </p:sp>
      <p:sp>
        <p:nvSpPr>
          <p:cNvPr id="15" name="Text 13"/>
          <p:cNvSpPr/>
          <p:nvPr/>
        </p:nvSpPr>
        <p:spPr>
          <a:xfrm>
            <a:off x="8366760" y="2560320"/>
            <a:ext cx="2971800" cy="20116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Il élimine l’effet de l’âge ; c’est sur lui que se comparent les territoires.</a:t>
            </a:r>
            <a:endParaRPr lang="en-US" sz="1500" dirty="0"/>
          </a:p>
        </p:txBody>
      </p:sp>
      <p:sp>
        <p:nvSpPr>
          <p:cNvPr id="16" name="Shape 14"/>
          <p:cNvSpPr/>
          <p:nvPr/>
        </p:nvSpPr>
        <p:spPr>
          <a:xfrm>
            <a:off x="594360" y="4846320"/>
            <a:ext cx="10972800" cy="1234440"/>
          </a:xfrm>
          <a:prstGeom prst="roundRect">
            <a:avLst>
              <a:gd name="adj" fmla="val 6667"/>
            </a:avLst>
          </a:prstGeom>
          <a:solidFill>
            <a:srgbClr val="1D1F2B"/>
          </a:solidFill>
          <a:ln w="12700">
            <a:solidFill>
              <a:srgbClr val="1D1F2B"/>
            </a:solidFill>
            <a:prstDash val="solid"/>
          </a:ln>
        </p:spPr>
        <p:txBody>
          <a:bodyPr/>
          <a:p/>
        </p:txBody>
      </p:sp>
      <p:sp>
        <p:nvSpPr>
          <p:cNvPr id="17" name="Text 15"/>
          <p:cNvSpPr/>
          <p:nvPr/>
        </p:nvSpPr>
        <p:spPr>
          <a:xfrm>
            <a:off x="868680" y="4846320"/>
            <a:ext cx="10424160" cy="1234440"/>
          </a:xfrm>
          <a:prstGeom prst="rect">
            <a:avLst/>
          </a:prstGeom>
          <a:noFill/>
          <a:ln/>
        </p:spPr>
        <p:txBody>
          <a:bodyPr wrap="square" lIns="0" tIns="0" rIns="0" bIns="0" rtlCol="0" anchor="ctr"/>
          <a:lstStyle/>
          <a:p>
            <a:pPr indent="0" marL="0">
              <a:buNone/>
            </a:pPr>
            <a:r>
              <a:rPr lang="en-US" sz="1900" b="1" dirty="0">
                <a:solidFill>
                  <a:srgbClr val="27D3BE"/>
                </a:solidFill>
                <a:latin typeface="Palatino Linotype" pitchFamily="34" charset="0"/>
                <a:ea typeface="Palatino Linotype" pitchFamily="34" charset="-122"/>
                <a:cs typeface="Palatino Linotype" pitchFamily="34" charset="-120"/>
              </a:rPr>
              <a:t>Taux brut ≠ taux standardisé. </a:t>
            </a:r>
            <a:pPr indent="0" marL="0">
              <a:buNone/>
            </a:pPr>
            <a:r>
              <a:rPr lang="en-US" sz="1900" dirty="0">
                <a:solidFill>
                  <a:srgbClr val="FFFFFF"/>
                </a:solidFill>
                <a:latin typeface="Palatino Linotype" pitchFamily="34" charset="0"/>
                <a:ea typeface="Palatino Linotype" pitchFamily="34" charset="-122"/>
                <a:cs typeface="Palatino Linotype" pitchFamily="34" charset="-120"/>
              </a:rPr>
              <a:t>La correction pour l’âge : le rapport entre les années perdues par décès calculées et celles qui étaient attendues (étape 4).</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DALY : ANNÉES DE VIE AJUSTÉES SUR L’INCAPACITÉ (AVCI)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600" b="1" dirty="0">
                <a:solidFill>
                  <a:srgbClr val="FFFFFF"/>
                </a:solidFill>
                <a:latin typeface="Palatino Linotype" pitchFamily="34" charset="0"/>
                <a:ea typeface="Palatino Linotype" pitchFamily="34" charset="-122"/>
                <a:cs typeface="Palatino Linotype" pitchFamily="34" charset="-120"/>
              </a:rPr>
              <a:t>DALY = YLL + YLD</a:t>
            </a:r>
            <a:endParaRPr lang="en-US" sz="3600" dirty="0"/>
          </a:p>
        </p:txBody>
      </p:sp>
      <p:sp>
        <p:nvSpPr>
          <p:cNvPr id="4" name="Shape 2"/>
          <p:cNvSpPr/>
          <p:nvPr/>
        </p:nvSpPr>
        <p:spPr>
          <a:xfrm>
            <a:off x="594360" y="1600200"/>
            <a:ext cx="5349240" cy="3017520"/>
          </a:xfrm>
          <a:prstGeom prst="roundRect">
            <a:avLst>
              <a:gd name="adj" fmla="val 2727"/>
            </a:avLst>
          </a:prstGeom>
          <a:solidFill>
            <a:srgbClr val="1D1F2B"/>
          </a:solidFill>
          <a:ln w="12700">
            <a:solidFill>
              <a:srgbClr val="1D1F2B"/>
            </a:solidFill>
            <a:prstDash val="solid"/>
          </a:ln>
        </p:spPr>
        <p:txBody>
          <a:bodyPr/>
          <a:p/>
        </p:txBody>
      </p:sp>
      <p:sp>
        <p:nvSpPr>
          <p:cNvPr id="5" name="Shape 3"/>
          <p:cNvSpPr/>
          <p:nvPr/>
        </p:nvSpPr>
        <p:spPr>
          <a:xfrm>
            <a:off x="594360" y="1600200"/>
            <a:ext cx="5349240" cy="82296"/>
          </a:xfrm>
          <a:prstGeom prst="rect">
            <a:avLst/>
          </a:prstGeom>
          <a:solidFill>
            <a:srgbClr val="FF4757"/>
          </a:solidFill>
          <a:ln w="12700">
            <a:solidFill>
              <a:srgbClr val="FF4757"/>
            </a:solidFill>
            <a:prstDash val="solid"/>
          </a:ln>
        </p:spPr>
        <p:txBody>
          <a:bodyPr/>
          <a:p/>
        </p:txBody>
      </p:sp>
      <p:sp>
        <p:nvSpPr>
          <p:cNvPr id="6" name="Text 4"/>
          <p:cNvSpPr/>
          <p:nvPr/>
        </p:nvSpPr>
        <p:spPr>
          <a:xfrm>
            <a:off x="914400" y="1828800"/>
            <a:ext cx="4572000" cy="822960"/>
          </a:xfrm>
          <a:prstGeom prst="rect">
            <a:avLst/>
          </a:prstGeom>
          <a:noFill/>
          <a:ln/>
        </p:spPr>
        <p:txBody>
          <a:bodyPr wrap="square" lIns="0" tIns="0" rIns="0" bIns="0" rtlCol="0" anchor="t"/>
          <a:lstStyle/>
          <a:p>
            <a:pPr indent="0" marL="0">
              <a:buNone/>
            </a:pPr>
            <a:r>
              <a:rPr lang="en-US" sz="4400" b="1" dirty="0">
                <a:solidFill>
                  <a:srgbClr val="FF4757"/>
                </a:solidFill>
                <a:latin typeface="Palatino Linotype" pitchFamily="34" charset="0"/>
                <a:ea typeface="Palatino Linotype" pitchFamily="34" charset="-122"/>
                <a:cs typeface="Palatino Linotype" pitchFamily="34" charset="-120"/>
              </a:rPr>
              <a:t>YLL</a:t>
            </a:r>
            <a:endParaRPr lang="en-US" sz="4400" dirty="0"/>
          </a:p>
        </p:txBody>
      </p:sp>
      <p:sp>
        <p:nvSpPr>
          <p:cNvPr id="7" name="Text 5"/>
          <p:cNvSpPr/>
          <p:nvPr/>
        </p:nvSpPr>
        <p:spPr>
          <a:xfrm>
            <a:off x="914400" y="2743200"/>
            <a:ext cx="4754880" cy="178308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Années de vie perdues par décès prématuré. Chaque décès est multiplié par l’espérance de vie prédite à l’âge du décès, à partir d’une espérance de vie théorique « la meilleure », mondiale, identique pour les deux sexes.</a:t>
            </a:r>
            <a:endParaRPr lang="en-US" sz="1600" dirty="0"/>
          </a:p>
        </p:txBody>
      </p:sp>
      <p:sp>
        <p:nvSpPr>
          <p:cNvPr id="8" name="Shape 6"/>
          <p:cNvSpPr/>
          <p:nvPr/>
        </p:nvSpPr>
        <p:spPr>
          <a:xfrm>
            <a:off x="6217920" y="1600200"/>
            <a:ext cx="5349240" cy="3017520"/>
          </a:xfrm>
          <a:prstGeom prst="roundRect">
            <a:avLst>
              <a:gd name="adj" fmla="val 2727"/>
            </a:avLst>
          </a:prstGeom>
          <a:solidFill>
            <a:srgbClr val="1D1F2B"/>
          </a:solidFill>
          <a:ln w="12700">
            <a:solidFill>
              <a:srgbClr val="1D1F2B"/>
            </a:solidFill>
            <a:prstDash val="solid"/>
          </a:ln>
        </p:spPr>
        <p:txBody>
          <a:bodyPr/>
          <a:p/>
        </p:txBody>
      </p:sp>
      <p:sp>
        <p:nvSpPr>
          <p:cNvPr id="9" name="Shape 7"/>
          <p:cNvSpPr/>
          <p:nvPr/>
        </p:nvSpPr>
        <p:spPr>
          <a:xfrm>
            <a:off x="6217920" y="1600200"/>
            <a:ext cx="5349240" cy="82296"/>
          </a:xfrm>
          <a:prstGeom prst="rect">
            <a:avLst/>
          </a:prstGeom>
          <a:solidFill>
            <a:srgbClr val="27D3BE"/>
          </a:solidFill>
          <a:ln w="12700">
            <a:solidFill>
              <a:srgbClr val="27D3BE"/>
            </a:solidFill>
            <a:prstDash val="solid"/>
          </a:ln>
        </p:spPr>
        <p:txBody>
          <a:bodyPr/>
          <a:p/>
        </p:txBody>
      </p:sp>
      <p:sp>
        <p:nvSpPr>
          <p:cNvPr id="10" name="Text 8"/>
          <p:cNvSpPr/>
          <p:nvPr/>
        </p:nvSpPr>
        <p:spPr>
          <a:xfrm>
            <a:off x="6537960" y="1828800"/>
            <a:ext cx="4572000" cy="822960"/>
          </a:xfrm>
          <a:prstGeom prst="rect">
            <a:avLst/>
          </a:prstGeom>
          <a:noFill/>
          <a:ln/>
        </p:spPr>
        <p:txBody>
          <a:bodyPr wrap="square" lIns="0" tIns="0" rIns="0" bIns="0" rtlCol="0" anchor="t"/>
          <a:lstStyle/>
          <a:p>
            <a:pPr indent="0" marL="0">
              <a:buNone/>
            </a:pPr>
            <a:r>
              <a:rPr lang="en-US" sz="4400" b="1" dirty="0">
                <a:solidFill>
                  <a:srgbClr val="27D3BE"/>
                </a:solidFill>
                <a:latin typeface="Palatino Linotype" pitchFamily="34" charset="0"/>
                <a:ea typeface="Palatino Linotype" pitchFamily="34" charset="-122"/>
                <a:cs typeface="Palatino Linotype" pitchFamily="34" charset="-120"/>
              </a:rPr>
              <a:t>YLD</a:t>
            </a:r>
            <a:endParaRPr lang="en-US" sz="4400" dirty="0"/>
          </a:p>
        </p:txBody>
      </p:sp>
      <p:sp>
        <p:nvSpPr>
          <p:cNvPr id="11" name="Text 9"/>
          <p:cNvSpPr/>
          <p:nvPr/>
        </p:nvSpPr>
        <p:spPr>
          <a:xfrm>
            <a:off x="6537960" y="2743200"/>
            <a:ext cx="4754880" cy="178308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Années vécues avec une incapacité (AVI), pondérées selon la gravité de la maladie. La prévalence de chaque conséquence de la maladie est multipliée par son poids d’incapacité.</a:t>
            </a:r>
            <a:endParaRPr lang="en-US" sz="1600" dirty="0"/>
          </a:p>
        </p:txBody>
      </p:sp>
      <p:sp>
        <p:nvSpPr>
          <p:cNvPr id="12" name="Shape 10"/>
          <p:cNvSpPr/>
          <p:nvPr/>
        </p:nvSpPr>
        <p:spPr>
          <a:xfrm>
            <a:off x="594360" y="4846320"/>
            <a:ext cx="10972800" cy="1234440"/>
          </a:xfrm>
          <a:prstGeom prst="roundRect">
            <a:avLst>
              <a:gd name="adj" fmla="val 6667"/>
            </a:avLst>
          </a:prstGeom>
          <a:solidFill>
            <a:srgbClr val="272A38"/>
          </a:solidFill>
          <a:ln w="12700">
            <a:solidFill>
              <a:srgbClr val="272A38"/>
            </a:solidFill>
            <a:prstDash val="solid"/>
          </a:ln>
        </p:spPr>
        <p:txBody>
          <a:bodyPr/>
          <a:p/>
        </p:txBody>
      </p:sp>
      <p:sp>
        <p:nvSpPr>
          <p:cNvPr id="13" name="Text 11"/>
          <p:cNvSpPr/>
          <p:nvPr/>
        </p:nvSpPr>
        <p:spPr>
          <a:xfrm>
            <a:off x="868680" y="4846320"/>
            <a:ext cx="10424160" cy="1234440"/>
          </a:xfrm>
          <a:prstGeom prst="rect">
            <a:avLst/>
          </a:prstGeom>
          <a:noFill/>
          <a:ln/>
        </p:spPr>
        <p:txBody>
          <a:bodyPr wrap="square" lIns="0" tIns="0" rIns="0" bIns="0" rtlCol="0" anchor="ctr"/>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Un DALY est une année en pleine santé perdue. </a:t>
            </a:r>
            <a:pPr indent="0" marL="0">
              <a:buNone/>
            </a:pPr>
            <a:r>
              <a:rPr lang="en-US" sz="1900" dirty="0">
                <a:solidFill>
                  <a:srgbClr val="FFFFFF"/>
                </a:solidFill>
                <a:latin typeface="Palatino Linotype" pitchFamily="34" charset="0"/>
                <a:ea typeface="Palatino Linotype" pitchFamily="34" charset="-122"/>
                <a:cs typeface="Palatino Linotype" pitchFamily="34" charset="-120"/>
              </a:rPr>
              <a:t>Un décès à un âge jeune pèse davantage qu’un décès à un âge avancé.</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UN EXEMPLE AVEC DES DONNÉES RÉELLES</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Les personnes âgées d’un comté, en une seule année</a:t>
            </a:r>
            <a:endParaRPr lang="en-US" sz="3000" dirty="0"/>
          </a:p>
        </p:txBody>
      </p:sp>
      <p:sp>
        <p:nvSpPr>
          <p:cNvPr id="4" name="Text 2"/>
          <p:cNvSpPr/>
          <p:nvPr/>
        </p:nvSpPr>
        <p:spPr>
          <a:xfrm>
            <a:off x="594360" y="1417320"/>
            <a:ext cx="10972800" cy="7315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Teleorman, 70 ans et plus, 2023 : décès et population réels (Eurostat) ; résultat : estimation propre, calculée à partir des taux GBD du pays.</a:t>
            </a:r>
            <a:endParaRPr lang="en-US" sz="1600" dirty="0"/>
          </a:p>
        </p:txBody>
      </p:sp>
      <p:sp>
        <p:nvSpPr>
          <p:cNvPr id="5" name="Shape 3"/>
          <p:cNvSpPr/>
          <p:nvPr/>
        </p:nvSpPr>
        <p:spPr>
          <a:xfrm>
            <a:off x="594360" y="2377440"/>
            <a:ext cx="10972800" cy="1097280"/>
          </a:xfrm>
          <a:prstGeom prst="roundRect">
            <a:avLst>
              <a:gd name="adj" fmla="val 7500"/>
            </a:avLst>
          </a:prstGeom>
          <a:solidFill>
            <a:srgbClr val="ECEAE4"/>
          </a:solidFill>
          <a:ln w="12700">
            <a:solidFill>
              <a:srgbClr val="ECEAE4"/>
            </a:solidFill>
            <a:prstDash val="solid"/>
          </a:ln>
        </p:spPr>
        <p:txBody>
          <a:bodyPr/>
          <a:p/>
        </p:txBody>
      </p:sp>
      <p:sp>
        <p:nvSpPr>
          <p:cNvPr id="6" name="Text 4"/>
          <p:cNvSpPr/>
          <p:nvPr/>
        </p:nvSpPr>
        <p:spPr>
          <a:xfrm>
            <a:off x="868680" y="2377440"/>
            <a:ext cx="1737360" cy="1097280"/>
          </a:xfrm>
          <a:prstGeom prst="rect">
            <a:avLst/>
          </a:prstGeom>
          <a:noFill/>
          <a:ln/>
        </p:spPr>
        <p:txBody>
          <a:bodyPr wrap="square" lIns="0" tIns="0" rIns="0" bIns="0" rtlCol="0" anchor="ctr"/>
          <a:lstStyle/>
          <a:p>
            <a:pPr indent="0" marL="0">
              <a:buNone/>
            </a:pPr>
            <a:r>
              <a:rPr lang="en-US" sz="3000" b="1" dirty="0">
                <a:solidFill>
                  <a:srgbClr val="B02532"/>
                </a:solidFill>
                <a:latin typeface="Palatino Linotype" pitchFamily="34" charset="0"/>
                <a:ea typeface="Palatino Linotype" pitchFamily="34" charset="-122"/>
                <a:cs typeface="Palatino Linotype" pitchFamily="34" charset="-120"/>
              </a:rPr>
              <a:t>YLL</a:t>
            </a:r>
            <a:endParaRPr lang="en-US" sz="3000" dirty="0"/>
          </a:p>
        </p:txBody>
      </p:sp>
      <p:sp>
        <p:nvSpPr>
          <p:cNvPr id="7" name="Text 5"/>
          <p:cNvSpPr/>
          <p:nvPr/>
        </p:nvSpPr>
        <p:spPr>
          <a:xfrm>
            <a:off x="2651760" y="2377440"/>
            <a:ext cx="8686800" cy="1097280"/>
          </a:xfrm>
          <a:prstGeom prst="rect">
            <a:avLst/>
          </a:prstGeom>
          <a:noFill/>
          <a:ln/>
        </p:spPr>
        <p:txBody>
          <a:bodyPr wrap="square" lIns="0" tIns="0" rIns="0" bIns="0" rtlCol="0" anchor="ctr"/>
          <a:lstStyle/>
          <a:p>
            <a:pPr indent="0" marL="0">
              <a:buNone/>
            </a:pPr>
            <a:r>
              <a:rPr lang="en-US" sz="2000" b="1" dirty="0">
                <a:solidFill>
                  <a:srgbClr val="11121A"/>
                </a:solidFill>
                <a:latin typeface="Palatino Linotype" pitchFamily="34" charset="0"/>
                <a:ea typeface="Palatino Linotype" pitchFamily="34" charset="-122"/>
                <a:cs typeface="Palatino Linotype" pitchFamily="34" charset="-120"/>
              </a:rPr>
              <a:t>3 917 décès × 13,3 années perdues par décès = 52 096,1</a:t>
            </a:r>
            <a:endParaRPr lang="en-US" sz="2000" dirty="0"/>
          </a:p>
          <a:p>
            <a:pPr indent="0" marL="0">
              <a:buNone/>
            </a:pPr>
            <a:r>
              <a:rPr lang="en-US" sz="1400" dirty="0">
                <a:solidFill>
                  <a:srgbClr val="585A64"/>
                </a:solidFill>
                <a:latin typeface="Palatino Linotype" pitchFamily="34" charset="0"/>
                <a:ea typeface="Palatino Linotype" pitchFamily="34" charset="-122"/>
                <a:cs typeface="Palatino Linotype" pitchFamily="34" charset="-120"/>
              </a:rPr>
              <a:t>décès × années perdues par décès</a:t>
            </a:r>
            <a:endParaRPr lang="en-US" sz="2000" dirty="0"/>
          </a:p>
        </p:txBody>
      </p:sp>
      <p:sp>
        <p:nvSpPr>
          <p:cNvPr id="8" name="Shape 6"/>
          <p:cNvSpPr/>
          <p:nvPr/>
        </p:nvSpPr>
        <p:spPr>
          <a:xfrm>
            <a:off x="594360" y="3639312"/>
            <a:ext cx="10972800" cy="1097280"/>
          </a:xfrm>
          <a:prstGeom prst="roundRect">
            <a:avLst>
              <a:gd name="adj" fmla="val 7500"/>
            </a:avLst>
          </a:prstGeom>
          <a:solidFill>
            <a:srgbClr val="ECEAE4"/>
          </a:solidFill>
          <a:ln w="12700">
            <a:solidFill>
              <a:srgbClr val="ECEAE4"/>
            </a:solidFill>
            <a:prstDash val="solid"/>
          </a:ln>
        </p:spPr>
        <p:txBody>
          <a:bodyPr/>
          <a:p/>
        </p:txBody>
      </p:sp>
      <p:sp>
        <p:nvSpPr>
          <p:cNvPr id="9" name="Text 7"/>
          <p:cNvSpPr/>
          <p:nvPr/>
        </p:nvSpPr>
        <p:spPr>
          <a:xfrm>
            <a:off x="868680" y="3639312"/>
            <a:ext cx="1737360" cy="1097280"/>
          </a:xfrm>
          <a:prstGeom prst="rect">
            <a:avLst/>
          </a:prstGeom>
          <a:noFill/>
          <a:ln/>
        </p:spPr>
        <p:txBody>
          <a:bodyPr wrap="square" lIns="0" tIns="0" rIns="0" bIns="0" rtlCol="0" anchor="ctr"/>
          <a:lstStyle/>
          <a:p>
            <a:pPr indent="0" marL="0">
              <a:buNone/>
            </a:pPr>
            <a:r>
              <a:rPr lang="en-US" sz="3000" b="1" dirty="0">
                <a:solidFill>
                  <a:srgbClr val="0E7C6B"/>
                </a:solidFill>
                <a:latin typeface="Palatino Linotype" pitchFamily="34" charset="0"/>
                <a:ea typeface="Palatino Linotype" pitchFamily="34" charset="-122"/>
                <a:cs typeface="Palatino Linotype" pitchFamily="34" charset="-120"/>
              </a:rPr>
              <a:t>YLD</a:t>
            </a:r>
            <a:endParaRPr lang="en-US" sz="3000" dirty="0"/>
          </a:p>
        </p:txBody>
      </p:sp>
      <p:sp>
        <p:nvSpPr>
          <p:cNvPr id="10" name="Text 8"/>
          <p:cNvSpPr/>
          <p:nvPr/>
        </p:nvSpPr>
        <p:spPr>
          <a:xfrm>
            <a:off x="2651760" y="3639312"/>
            <a:ext cx="8686800" cy="1097280"/>
          </a:xfrm>
          <a:prstGeom prst="rect">
            <a:avLst/>
          </a:prstGeom>
          <a:noFill/>
          <a:ln/>
        </p:spPr>
        <p:txBody>
          <a:bodyPr wrap="square" lIns="0" tIns="0" rIns="0" bIns="0" rtlCol="0" anchor="ctr"/>
          <a:lstStyle/>
          <a:p>
            <a:pPr indent="0" marL="0">
              <a:buNone/>
            </a:pPr>
            <a:r>
              <a:rPr lang="en-US" sz="2000" b="1" dirty="0">
                <a:solidFill>
                  <a:srgbClr val="11121A"/>
                </a:solidFill>
                <a:latin typeface="Palatino Linotype" pitchFamily="34" charset="0"/>
                <a:ea typeface="Palatino Linotype" pitchFamily="34" charset="-122"/>
                <a:cs typeface="Palatino Linotype" pitchFamily="34" charset="-120"/>
              </a:rPr>
              <a:t>59 730 personnes × 281,7 ÷ 1 000 = 16 825,9</a:t>
            </a:r>
            <a:endParaRPr lang="en-US" sz="2000" dirty="0"/>
          </a:p>
          <a:p>
            <a:pPr indent="0" marL="0">
              <a:buNone/>
            </a:pPr>
            <a:r>
              <a:rPr lang="en-US" sz="1400" dirty="0">
                <a:solidFill>
                  <a:srgbClr val="585A64"/>
                </a:solidFill>
                <a:latin typeface="Palatino Linotype" pitchFamily="34" charset="0"/>
                <a:ea typeface="Palatino Linotype" pitchFamily="34" charset="-122"/>
                <a:cs typeface="Palatino Linotype" pitchFamily="34" charset="-120"/>
              </a:rPr>
              <a:t>population × YLD pour 1 000 ÷ 1 000</a:t>
            </a:r>
            <a:endParaRPr lang="en-US" sz="2000" dirty="0"/>
          </a:p>
        </p:txBody>
      </p:sp>
      <p:sp>
        <p:nvSpPr>
          <p:cNvPr id="11" name="Shape 9"/>
          <p:cNvSpPr/>
          <p:nvPr/>
        </p:nvSpPr>
        <p:spPr>
          <a:xfrm>
            <a:off x="594360" y="4901184"/>
            <a:ext cx="10972800" cy="1097280"/>
          </a:xfrm>
          <a:prstGeom prst="roundRect">
            <a:avLst>
              <a:gd name="adj" fmla="val 7500"/>
            </a:avLst>
          </a:prstGeom>
          <a:solidFill>
            <a:srgbClr val="1D1F2B"/>
          </a:solidFill>
          <a:ln w="12700">
            <a:solidFill>
              <a:srgbClr val="1D1F2B"/>
            </a:solidFill>
            <a:prstDash val="solid"/>
          </a:ln>
        </p:spPr>
        <p:txBody>
          <a:bodyPr/>
          <a:p/>
        </p:txBody>
      </p:sp>
      <p:sp>
        <p:nvSpPr>
          <p:cNvPr id="12" name="Text 10"/>
          <p:cNvSpPr/>
          <p:nvPr/>
        </p:nvSpPr>
        <p:spPr>
          <a:xfrm>
            <a:off x="868680" y="4901184"/>
            <a:ext cx="1737360" cy="1097280"/>
          </a:xfrm>
          <a:prstGeom prst="rect">
            <a:avLst/>
          </a:prstGeom>
          <a:noFill/>
          <a:ln/>
        </p:spPr>
        <p:txBody>
          <a:bodyPr wrap="square" lIns="0" tIns="0" rIns="0" bIns="0" rtlCol="0" anchor="ctr"/>
          <a:lstStyle/>
          <a:p>
            <a:pPr indent="0" marL="0">
              <a:buNone/>
            </a:pPr>
            <a:r>
              <a:rPr lang="en-US" sz="3000" b="1" dirty="0">
                <a:solidFill>
                  <a:srgbClr val="FFC24B"/>
                </a:solidFill>
                <a:latin typeface="Palatino Linotype" pitchFamily="34" charset="0"/>
                <a:ea typeface="Palatino Linotype" pitchFamily="34" charset="-122"/>
                <a:cs typeface="Palatino Linotype" pitchFamily="34" charset="-120"/>
              </a:rPr>
              <a:t>DALY</a:t>
            </a:r>
            <a:endParaRPr lang="en-US" sz="3000" dirty="0"/>
          </a:p>
        </p:txBody>
      </p:sp>
      <p:sp>
        <p:nvSpPr>
          <p:cNvPr id="13" name="Text 11"/>
          <p:cNvSpPr/>
          <p:nvPr/>
        </p:nvSpPr>
        <p:spPr>
          <a:xfrm>
            <a:off x="2651760" y="4901184"/>
            <a:ext cx="8686800" cy="1097280"/>
          </a:xfrm>
          <a:prstGeom prst="rect">
            <a:avLst/>
          </a:prstGeom>
          <a:noFill/>
          <a:ln/>
        </p:spPr>
        <p:txBody>
          <a:bodyPr wrap="square" lIns="0" tIns="0" rIns="0" bIns="0" rtlCol="0" anchor="ctr"/>
          <a:lstStyle/>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52 096,1 + 16 825,9 = 68 922,0 années de vie en bonne santé perdues</a:t>
            </a:r>
            <a:endParaRPr lang="en-US" sz="2000" dirty="0"/>
          </a:p>
          <a:p>
            <a:pPr indent="0" marL="0">
              <a:buNone/>
            </a:pPr>
            <a:r>
              <a:rPr lang="en-US" sz="1400" dirty="0">
                <a:solidFill>
                  <a:srgbClr val="959BB0"/>
                </a:solidFill>
                <a:latin typeface="Palatino Linotype" pitchFamily="34" charset="0"/>
                <a:ea typeface="Palatino Linotype" pitchFamily="34" charset="-122"/>
                <a:cs typeface="Palatino Linotype" pitchFamily="34" charset="-120"/>
              </a:rPr>
              <a:t>YLL + YLD</a:t>
            </a:r>
            <a:endParaRPr lang="en-US" sz="2000" dirty="0"/>
          </a:p>
        </p:txBody>
      </p:sp>
      <p:sp>
        <p:nvSpPr>
          <p:cNvPr id="14" name="Text 12"/>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Sources : Eurostat ; GBD 2023, IHME ; méthode du TP 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DANS L’OUTIL</a:t>
            </a:r>
            <a:endParaRPr lang="en-US" sz="1300" dirty="0"/>
          </a:p>
        </p:txBody>
      </p:sp>
      <p:sp>
        <p:nvSpPr>
          <p:cNvPr id="3" name="Shape 1"/>
          <p:cNvSpPr/>
          <p:nvPr/>
        </p:nvSpPr>
        <p:spPr>
          <a:xfrm>
            <a:off x="8092440" y="292608"/>
            <a:ext cx="3474720" cy="420624"/>
          </a:xfrm>
          <a:prstGeom prst="roundRect">
            <a:avLst>
              <a:gd name="adj" fmla="val 50000"/>
            </a:avLst>
          </a:prstGeom>
          <a:solidFill>
            <a:srgbClr val="FFC24B"/>
          </a:solidFill>
          <a:ln w="12700">
            <a:solidFill>
              <a:srgbClr val="FFC24B"/>
            </a:solidFill>
            <a:prstDash val="solid"/>
          </a:ln>
        </p:spPr>
        <p:txBody>
          <a:bodyPr/>
          <a:p/>
        </p:txBody>
      </p:sp>
      <p:sp>
        <p:nvSpPr>
          <p:cNvPr id="4" name="Text 2"/>
          <p:cNvSpPr/>
          <p:nvPr/>
        </p:nvSpPr>
        <p:spPr>
          <a:xfrm>
            <a:off x="8092440" y="292608"/>
            <a:ext cx="34747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DÉMONSTRATION · GBD COMPARE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La Roumanie dans GBD Compare</a:t>
            </a:r>
            <a:endParaRPr lang="en-US" sz="3200" dirty="0"/>
          </a:p>
        </p:txBody>
      </p:sp>
      <p:sp>
        <p:nvSpPr>
          <p:cNvPr id="6" name="Shape 4"/>
          <p:cNvSpPr/>
          <p:nvPr/>
        </p:nvSpPr>
        <p:spPr>
          <a:xfrm>
            <a:off x="594360" y="1600200"/>
            <a:ext cx="10972800" cy="749808"/>
          </a:xfrm>
          <a:prstGeom prst="roundRect">
            <a:avLst>
              <a:gd name="adj" fmla="val 10976"/>
            </a:avLst>
          </a:prstGeom>
          <a:solidFill>
            <a:srgbClr val="1D1F2B"/>
          </a:solidFill>
          <a:ln w="12700">
            <a:solidFill>
              <a:srgbClr val="1D1F2B"/>
            </a:solidFill>
            <a:prstDash val="solid"/>
          </a:ln>
        </p:spPr>
        <p:txBody>
          <a:bodyPr/>
          <a:p/>
        </p:txBody>
      </p:sp>
      <p:sp>
        <p:nvSpPr>
          <p:cNvPr id="7" name="Shape 5"/>
          <p:cNvSpPr/>
          <p:nvPr/>
        </p:nvSpPr>
        <p:spPr>
          <a:xfrm>
            <a:off x="914400" y="1764792"/>
            <a:ext cx="420624" cy="420624"/>
          </a:xfrm>
          <a:prstGeom prst="ellipse">
            <a:avLst/>
          </a:prstGeom>
          <a:solidFill>
            <a:srgbClr val="FFC24B"/>
          </a:solidFill>
          <a:ln/>
        </p:spPr>
        <p:txBody>
          <a:bodyPr/>
          <a:p/>
        </p:txBody>
      </p:sp>
      <p:sp>
        <p:nvSpPr>
          <p:cNvPr id="8" name="Text 6"/>
          <p:cNvSpPr/>
          <p:nvPr/>
        </p:nvSpPr>
        <p:spPr>
          <a:xfrm>
            <a:off x="914400" y="17647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600200" y="1600200"/>
            <a:ext cx="9692640" cy="749808"/>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Le lieu : la Roumanie. L’année : 2023 ou 2000.</a:t>
            </a:r>
            <a:endParaRPr lang="en-US" sz="1700" dirty="0"/>
          </a:p>
        </p:txBody>
      </p:sp>
      <p:sp>
        <p:nvSpPr>
          <p:cNvPr id="10" name="Shape 8"/>
          <p:cNvSpPr/>
          <p:nvPr/>
        </p:nvSpPr>
        <p:spPr>
          <a:xfrm>
            <a:off x="594360" y="2478024"/>
            <a:ext cx="10972800" cy="749808"/>
          </a:xfrm>
          <a:prstGeom prst="roundRect">
            <a:avLst>
              <a:gd name="adj" fmla="val 10976"/>
            </a:avLst>
          </a:prstGeom>
          <a:solidFill>
            <a:srgbClr val="1D1F2B"/>
          </a:solidFill>
          <a:ln w="12700">
            <a:solidFill>
              <a:srgbClr val="1D1F2B"/>
            </a:solidFill>
            <a:prstDash val="solid"/>
          </a:ln>
        </p:spPr>
        <p:txBody>
          <a:bodyPr/>
          <a:p/>
        </p:txBody>
      </p:sp>
      <p:sp>
        <p:nvSpPr>
          <p:cNvPr id="11" name="Shape 9"/>
          <p:cNvSpPr/>
          <p:nvPr/>
        </p:nvSpPr>
        <p:spPr>
          <a:xfrm>
            <a:off x="914400" y="2642616"/>
            <a:ext cx="420624" cy="420624"/>
          </a:xfrm>
          <a:prstGeom prst="ellipse">
            <a:avLst/>
          </a:prstGeom>
          <a:solidFill>
            <a:srgbClr val="FFC24B"/>
          </a:solidFill>
          <a:ln/>
        </p:spPr>
        <p:txBody>
          <a:bodyPr/>
          <a:p/>
        </p:txBody>
      </p:sp>
      <p:sp>
        <p:nvSpPr>
          <p:cNvPr id="12" name="Text 10"/>
          <p:cNvSpPr/>
          <p:nvPr/>
        </p:nvSpPr>
        <p:spPr>
          <a:xfrm>
            <a:off x="914400" y="264261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600200" y="2478024"/>
            <a:ext cx="9692640" cy="749808"/>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La mesure : DALY. L’unité : nombre, pourcentage du total ou taux pour 100 000 habitants.</a:t>
            </a:r>
            <a:endParaRPr lang="en-US" sz="1700" dirty="0"/>
          </a:p>
        </p:txBody>
      </p:sp>
      <p:sp>
        <p:nvSpPr>
          <p:cNvPr id="14" name="Shape 12"/>
          <p:cNvSpPr/>
          <p:nvPr/>
        </p:nvSpPr>
        <p:spPr>
          <a:xfrm>
            <a:off x="594360" y="3355848"/>
            <a:ext cx="10972800" cy="749808"/>
          </a:xfrm>
          <a:prstGeom prst="roundRect">
            <a:avLst>
              <a:gd name="adj" fmla="val 10976"/>
            </a:avLst>
          </a:prstGeom>
          <a:solidFill>
            <a:srgbClr val="1D1F2B"/>
          </a:solidFill>
          <a:ln w="12700">
            <a:solidFill>
              <a:srgbClr val="1D1F2B"/>
            </a:solidFill>
            <a:prstDash val="solid"/>
          </a:ln>
        </p:spPr>
        <p:txBody>
          <a:bodyPr/>
          <a:p/>
        </p:txBody>
      </p:sp>
      <p:sp>
        <p:nvSpPr>
          <p:cNvPr id="15" name="Shape 13"/>
          <p:cNvSpPr/>
          <p:nvPr/>
        </p:nvSpPr>
        <p:spPr>
          <a:xfrm>
            <a:off x="914400" y="3520440"/>
            <a:ext cx="420624" cy="420624"/>
          </a:xfrm>
          <a:prstGeom prst="ellipse">
            <a:avLst/>
          </a:prstGeom>
          <a:solidFill>
            <a:srgbClr val="FFC24B"/>
          </a:solidFill>
          <a:ln/>
        </p:spPr>
        <p:txBody>
          <a:bodyPr/>
          <a:p/>
        </p:txBody>
      </p:sp>
      <p:sp>
        <p:nvSpPr>
          <p:cNvPr id="16" name="Text 14"/>
          <p:cNvSpPr/>
          <p:nvPr/>
        </p:nvSpPr>
        <p:spPr>
          <a:xfrm>
            <a:off x="914400" y="35204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600200" y="3355848"/>
            <a:ext cx="9692640" cy="749808"/>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L’âge et le sexe : tous les âges et les deux sexes, puis tour à tour des groupes d’âge et chaque sexe.</a:t>
            </a:r>
            <a:endParaRPr lang="en-US" sz="1700" dirty="0"/>
          </a:p>
        </p:txBody>
      </p:sp>
      <p:sp>
        <p:nvSpPr>
          <p:cNvPr id="18" name="Shape 16"/>
          <p:cNvSpPr/>
          <p:nvPr/>
        </p:nvSpPr>
        <p:spPr>
          <a:xfrm>
            <a:off x="594360" y="4233672"/>
            <a:ext cx="10972800" cy="749808"/>
          </a:xfrm>
          <a:prstGeom prst="roundRect">
            <a:avLst>
              <a:gd name="adj" fmla="val 10976"/>
            </a:avLst>
          </a:prstGeom>
          <a:solidFill>
            <a:srgbClr val="1D1F2B"/>
          </a:solidFill>
          <a:ln w="12700">
            <a:solidFill>
              <a:srgbClr val="1D1F2B"/>
            </a:solidFill>
            <a:prstDash val="solid"/>
          </a:ln>
        </p:spPr>
        <p:txBody>
          <a:bodyPr/>
          <a:p/>
        </p:txBody>
      </p:sp>
      <p:sp>
        <p:nvSpPr>
          <p:cNvPr id="19" name="Shape 17"/>
          <p:cNvSpPr/>
          <p:nvPr/>
        </p:nvSpPr>
        <p:spPr>
          <a:xfrm>
            <a:off x="914400" y="4398264"/>
            <a:ext cx="420624" cy="420624"/>
          </a:xfrm>
          <a:prstGeom prst="ellipse">
            <a:avLst/>
          </a:prstGeom>
          <a:solidFill>
            <a:srgbClr val="FFC24B"/>
          </a:solidFill>
          <a:ln/>
        </p:spPr>
        <p:txBody>
          <a:bodyPr/>
          <a:p/>
        </p:txBody>
      </p:sp>
      <p:sp>
        <p:nvSpPr>
          <p:cNvPr id="20" name="Text 18"/>
          <p:cNvSpPr/>
          <p:nvPr/>
        </p:nvSpPr>
        <p:spPr>
          <a:xfrm>
            <a:off x="914400" y="439826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1" name="Text 19"/>
          <p:cNvSpPr/>
          <p:nvPr/>
        </p:nvSpPr>
        <p:spPr>
          <a:xfrm>
            <a:off x="1600200" y="4233672"/>
            <a:ext cx="9692640" cy="749808"/>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Trois visualisations : le diagramme en mosaïque, le diagramme en barres, l’évolution dans le temps.</a:t>
            </a:r>
            <a:endParaRPr lang="en-US" sz="1700" dirty="0"/>
          </a:p>
        </p:txBody>
      </p:sp>
      <p:sp>
        <p:nvSpPr>
          <p:cNvPr id="22" name="Shape 20"/>
          <p:cNvSpPr/>
          <p:nvPr/>
        </p:nvSpPr>
        <p:spPr>
          <a:xfrm>
            <a:off x="594360" y="5111496"/>
            <a:ext cx="10972800" cy="749808"/>
          </a:xfrm>
          <a:prstGeom prst="roundRect">
            <a:avLst>
              <a:gd name="adj" fmla="val 10976"/>
            </a:avLst>
          </a:prstGeom>
          <a:solidFill>
            <a:srgbClr val="1D1F2B"/>
          </a:solidFill>
          <a:ln w="12700">
            <a:solidFill>
              <a:srgbClr val="1D1F2B"/>
            </a:solidFill>
            <a:prstDash val="solid"/>
          </a:ln>
        </p:spPr>
        <p:txBody>
          <a:bodyPr/>
          <a:p/>
        </p:txBody>
      </p:sp>
      <p:sp>
        <p:nvSpPr>
          <p:cNvPr id="23" name="Shape 21"/>
          <p:cNvSpPr/>
          <p:nvPr/>
        </p:nvSpPr>
        <p:spPr>
          <a:xfrm>
            <a:off x="914400" y="5276088"/>
            <a:ext cx="420624" cy="420624"/>
          </a:xfrm>
          <a:prstGeom prst="ellipse">
            <a:avLst/>
          </a:prstGeom>
          <a:solidFill>
            <a:srgbClr val="FFC24B"/>
          </a:solidFill>
          <a:ln/>
        </p:spPr>
        <p:txBody>
          <a:bodyPr/>
          <a:p/>
        </p:txBody>
      </p:sp>
      <p:sp>
        <p:nvSpPr>
          <p:cNvPr id="24" name="Text 22"/>
          <p:cNvSpPr/>
          <p:nvPr/>
        </p:nvSpPr>
        <p:spPr>
          <a:xfrm>
            <a:off x="914400" y="52760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5</a:t>
            </a:r>
            <a:endParaRPr lang="en-US" sz="1400" dirty="0"/>
          </a:p>
        </p:txBody>
      </p:sp>
      <p:sp>
        <p:nvSpPr>
          <p:cNvPr id="25" name="Text 23"/>
          <p:cNvSpPr/>
          <p:nvPr/>
        </p:nvSpPr>
        <p:spPr>
          <a:xfrm>
            <a:off x="1600200" y="5111496"/>
            <a:ext cx="9692640" cy="749808"/>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L’export : les données affichées se téléchargent au format CSV et s’ouvrent dans Excel.</a:t>
            </a:r>
            <a:endParaRPr lang="en-US" sz="1700" dirty="0"/>
          </a:p>
        </p:txBody>
      </p:sp>
      <p:sp>
        <p:nvSpPr>
          <p:cNvPr id="26" name="Text 24"/>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Sans compte IHME, la même démonstration se fait sur les tableaux des notes de la séance.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ROUMANIE · TOUS ÂGES · LES DEUX SEXES</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10 premières causes de DALY : 2000 et 2023</a:t>
            </a:r>
            <a:endParaRPr lang="en-US" sz="3000" dirty="0"/>
          </a:p>
        </p:txBody>
      </p:sp>
      <p:sp>
        <p:nvSpPr>
          <p:cNvPr id="4" name="Text 2"/>
          <p:cNvSpPr/>
          <p:nvPr/>
        </p:nvSpPr>
        <p:spPr>
          <a:xfrm>
            <a:off x="594360" y="1371600"/>
            <a:ext cx="3611880" cy="320040"/>
          </a:xfrm>
          <a:prstGeom prst="rect">
            <a:avLst/>
          </a:prstGeom>
          <a:noFill/>
          <a:ln/>
        </p:spPr>
        <p:txBody>
          <a:bodyPr wrap="square" lIns="0" tIns="0" rIns="0" bIns="0" rtlCol="0" anchor="t"/>
          <a:lstStyle/>
          <a:p>
            <a:pPr algn="r" indent="0" marL="0">
              <a:buNone/>
            </a:pPr>
            <a:r>
              <a:rPr lang="en-US" sz="1600" b="1" dirty="0">
                <a:solidFill>
                  <a:srgbClr val="11121A"/>
                </a:solidFill>
                <a:latin typeface="Palatino Linotype" pitchFamily="34" charset="0"/>
                <a:ea typeface="Palatino Linotype" pitchFamily="34" charset="-122"/>
                <a:cs typeface="Palatino Linotype" pitchFamily="34" charset="-120"/>
              </a:rPr>
              <a:t>2000</a:t>
            </a:r>
            <a:endParaRPr lang="en-US" sz="1600" dirty="0"/>
          </a:p>
        </p:txBody>
      </p:sp>
      <p:sp>
        <p:nvSpPr>
          <p:cNvPr id="5" name="Text 3"/>
          <p:cNvSpPr/>
          <p:nvPr/>
        </p:nvSpPr>
        <p:spPr>
          <a:xfrm>
            <a:off x="7955280" y="1371600"/>
            <a:ext cx="1828800" cy="32004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2023</a:t>
            </a:r>
            <a:endParaRPr lang="en-US" sz="1600" dirty="0"/>
          </a:p>
        </p:txBody>
      </p:sp>
      <p:sp>
        <p:nvSpPr>
          <p:cNvPr id="6" name="Text 4"/>
          <p:cNvSpPr/>
          <p:nvPr/>
        </p:nvSpPr>
        <p:spPr>
          <a:xfrm>
            <a:off x="7315200" y="1371600"/>
            <a:ext cx="4251960" cy="320040"/>
          </a:xfrm>
          <a:prstGeom prst="rect">
            <a:avLst/>
          </a:prstGeom>
          <a:noFill/>
          <a:ln/>
        </p:spPr>
        <p:txBody>
          <a:bodyPr wrap="square" lIns="0" tIns="0" rIns="0" bIns="0" rtlCol="0" anchor="t"/>
          <a:lstStyle/>
          <a:p>
            <a:pPr algn="r" indent="0" marL="0">
              <a:buNone/>
            </a:pPr>
            <a:r>
              <a:rPr lang="en-US" sz="1300" b="1" dirty="0">
                <a:solidFill>
                  <a:srgbClr val="B02532"/>
                </a:solidFill>
                <a:latin typeface="Palatino Linotype" pitchFamily="34" charset="0"/>
                <a:ea typeface="Palatino Linotype" pitchFamily="34" charset="-122"/>
                <a:cs typeface="Palatino Linotype" pitchFamily="34" charset="-120"/>
              </a:rPr>
              <a:t>■ sorties   </a:t>
            </a:r>
            <a:pPr algn="r" indent="0" marL="0">
              <a:buNone/>
            </a:pPr>
            <a:r>
              <a:rPr lang="en-US" sz="1300" b="1" dirty="0">
                <a:solidFill>
                  <a:srgbClr val="0E7C6B"/>
                </a:solidFill>
                <a:latin typeface="Palatino Linotype" pitchFamily="34" charset="0"/>
                <a:ea typeface="Palatino Linotype" pitchFamily="34" charset="-122"/>
                <a:cs typeface="Palatino Linotype" pitchFamily="34" charset="-120"/>
              </a:rPr>
              <a:t>■ entrées</a:t>
            </a:r>
            <a:endParaRPr lang="en-US" sz="1300" dirty="0"/>
          </a:p>
        </p:txBody>
      </p:sp>
      <p:sp>
        <p:nvSpPr>
          <p:cNvPr id="7" name="Text 5"/>
          <p:cNvSpPr/>
          <p:nvPr/>
        </p:nvSpPr>
        <p:spPr>
          <a:xfrm>
            <a:off x="594360" y="1801368"/>
            <a:ext cx="3611880" cy="365760"/>
          </a:xfrm>
          <a:prstGeom prst="rect">
            <a:avLst/>
          </a:prstGeom>
          <a:noFill/>
          <a:ln/>
        </p:spPr>
        <p:txBody>
          <a:bodyPr wrap="square" lIns="0" tIns="0" rIns="0" bIns="0" rtlCol="0" anchor="ctr"/>
          <a:lstStyle/>
          <a:p>
            <a:pPr algn="r" indent="0" marL="0">
              <a:buNone/>
            </a:pPr>
            <a:r>
              <a:rPr lang="en-US" sz="1300" dirty="0">
                <a:solidFill>
                  <a:srgbClr val="11121A"/>
                </a:solidFill>
                <a:latin typeface="Palatino Linotype" pitchFamily="34" charset="0"/>
                <a:ea typeface="Palatino Linotype" pitchFamily="34" charset="-122"/>
                <a:cs typeface="Palatino Linotype" pitchFamily="34" charset="-120"/>
              </a:rPr>
              <a:t>Cardiopathie ischémique  </a:t>
            </a:r>
            <a:pPr algn="r" indent="0" marL="0">
              <a:buNone/>
            </a:pPr>
            <a:r>
              <a:rPr lang="en-US" sz="1300" b="1" dirty="0">
                <a:solidFill>
                  <a:srgbClr val="11121A"/>
                </a:solidFill>
                <a:latin typeface="Palatino Linotype" pitchFamily="34" charset="0"/>
                <a:ea typeface="Palatino Linotype" pitchFamily="34" charset="-122"/>
                <a:cs typeface="Palatino Linotype" pitchFamily="34" charset="-120"/>
              </a:rPr>
              <a:t>1</a:t>
            </a:r>
            <a:endParaRPr lang="en-US" sz="1300" dirty="0"/>
          </a:p>
        </p:txBody>
      </p:sp>
      <p:sp>
        <p:nvSpPr>
          <p:cNvPr id="8" name="Text 6"/>
          <p:cNvSpPr/>
          <p:nvPr/>
        </p:nvSpPr>
        <p:spPr>
          <a:xfrm>
            <a:off x="7955280" y="1801368"/>
            <a:ext cx="3611880" cy="365760"/>
          </a:xfrm>
          <a:prstGeom prst="rect">
            <a:avLst/>
          </a:prstGeom>
          <a:noFill/>
          <a:ln/>
        </p:spPr>
        <p:txBody>
          <a:bodyPr wrap="square" lIns="0" tIns="0" rIns="0" bIns="0" rtlCol="0" anchor="ctr"/>
          <a:lstStyle/>
          <a:p>
            <a:pPr indent="0" marL="0">
              <a:buNone/>
            </a:pPr>
            <a:r>
              <a:rPr lang="en-US" sz="1300" b="1" dirty="0">
                <a:solidFill>
                  <a:srgbClr val="11121A"/>
                </a:solidFill>
                <a:latin typeface="Palatino Linotype" pitchFamily="34" charset="0"/>
                <a:ea typeface="Palatino Linotype" pitchFamily="34" charset="-122"/>
                <a:cs typeface="Palatino Linotype" pitchFamily="34" charset="-120"/>
              </a:rPr>
              <a:t>1  </a:t>
            </a:r>
            <a:pPr indent="0" marL="0">
              <a:buNone/>
            </a:pPr>
            <a:r>
              <a:rPr lang="en-US" sz="1300" dirty="0">
                <a:solidFill>
                  <a:srgbClr val="11121A"/>
                </a:solidFill>
                <a:latin typeface="Palatino Linotype" pitchFamily="34" charset="0"/>
                <a:ea typeface="Palatino Linotype" pitchFamily="34" charset="-122"/>
                <a:cs typeface="Palatino Linotype" pitchFamily="34" charset="-120"/>
              </a:rPr>
              <a:t>Cardiopathie ischémique</a:t>
            </a:r>
            <a:endParaRPr lang="en-US" sz="1300" dirty="0"/>
          </a:p>
        </p:txBody>
      </p:sp>
      <p:sp>
        <p:nvSpPr>
          <p:cNvPr id="9" name="Shape 7"/>
          <p:cNvSpPr/>
          <p:nvPr/>
        </p:nvSpPr>
        <p:spPr>
          <a:xfrm>
            <a:off x="4206240" y="1984248"/>
            <a:ext cx="3657600" cy="0"/>
          </a:xfrm>
          <a:prstGeom prst="line">
            <a:avLst/>
          </a:prstGeom>
          <a:noFill/>
          <a:ln w="19050">
            <a:solidFill>
              <a:srgbClr val="A6A39B"/>
            </a:solidFill>
            <a:prstDash val="solid"/>
          </a:ln>
        </p:spPr>
        <p:txBody>
          <a:bodyPr/>
          <a:p/>
        </p:txBody>
      </p:sp>
      <p:sp>
        <p:nvSpPr>
          <p:cNvPr id="10" name="Text 8"/>
          <p:cNvSpPr/>
          <p:nvPr/>
        </p:nvSpPr>
        <p:spPr>
          <a:xfrm>
            <a:off x="594360" y="2203704"/>
            <a:ext cx="3611880" cy="365760"/>
          </a:xfrm>
          <a:prstGeom prst="rect">
            <a:avLst/>
          </a:prstGeom>
          <a:noFill/>
          <a:ln/>
        </p:spPr>
        <p:txBody>
          <a:bodyPr wrap="square" lIns="0" tIns="0" rIns="0" bIns="0" rtlCol="0" anchor="ctr"/>
          <a:lstStyle/>
          <a:p>
            <a:pPr algn="r" indent="0" marL="0">
              <a:buNone/>
            </a:pPr>
            <a:r>
              <a:rPr lang="en-US" sz="1300" dirty="0">
                <a:solidFill>
                  <a:srgbClr val="11121A"/>
                </a:solidFill>
                <a:latin typeface="Palatino Linotype" pitchFamily="34" charset="0"/>
                <a:ea typeface="Palatino Linotype" pitchFamily="34" charset="-122"/>
                <a:cs typeface="Palatino Linotype" pitchFamily="34" charset="-120"/>
              </a:rPr>
              <a:t>Accident vasculaire cérébral  </a:t>
            </a:r>
            <a:pPr algn="r" indent="0" marL="0">
              <a:buNone/>
            </a:pPr>
            <a:r>
              <a:rPr lang="en-US" sz="1300" b="1" dirty="0">
                <a:solidFill>
                  <a:srgbClr val="11121A"/>
                </a:solidFill>
                <a:latin typeface="Palatino Linotype" pitchFamily="34" charset="0"/>
                <a:ea typeface="Palatino Linotype" pitchFamily="34" charset="-122"/>
                <a:cs typeface="Palatino Linotype" pitchFamily="34" charset="-120"/>
              </a:rPr>
              <a:t>2</a:t>
            </a:r>
            <a:endParaRPr lang="en-US" sz="1300" dirty="0"/>
          </a:p>
        </p:txBody>
      </p:sp>
      <p:sp>
        <p:nvSpPr>
          <p:cNvPr id="11" name="Text 9"/>
          <p:cNvSpPr/>
          <p:nvPr/>
        </p:nvSpPr>
        <p:spPr>
          <a:xfrm>
            <a:off x="7955280" y="2203704"/>
            <a:ext cx="3611880" cy="365760"/>
          </a:xfrm>
          <a:prstGeom prst="rect">
            <a:avLst/>
          </a:prstGeom>
          <a:noFill/>
          <a:ln/>
        </p:spPr>
        <p:txBody>
          <a:bodyPr wrap="square" lIns="0" tIns="0" rIns="0" bIns="0" rtlCol="0" anchor="ctr"/>
          <a:lstStyle/>
          <a:p>
            <a:pPr indent="0" marL="0">
              <a:buNone/>
            </a:pPr>
            <a:r>
              <a:rPr lang="en-US" sz="1300" b="1" dirty="0">
                <a:solidFill>
                  <a:srgbClr val="11121A"/>
                </a:solidFill>
                <a:latin typeface="Palatino Linotype" pitchFamily="34" charset="0"/>
                <a:ea typeface="Palatino Linotype" pitchFamily="34" charset="-122"/>
                <a:cs typeface="Palatino Linotype" pitchFamily="34" charset="-120"/>
              </a:rPr>
              <a:t>2  </a:t>
            </a:r>
            <a:pPr indent="0" marL="0">
              <a:buNone/>
            </a:pPr>
            <a:r>
              <a:rPr lang="en-US" sz="1300" dirty="0">
                <a:solidFill>
                  <a:srgbClr val="11121A"/>
                </a:solidFill>
                <a:latin typeface="Palatino Linotype" pitchFamily="34" charset="0"/>
                <a:ea typeface="Palatino Linotype" pitchFamily="34" charset="-122"/>
                <a:cs typeface="Palatino Linotype" pitchFamily="34" charset="-120"/>
              </a:rPr>
              <a:t>Accident vasculaire cérébral</a:t>
            </a:r>
            <a:endParaRPr lang="en-US" sz="1300" dirty="0"/>
          </a:p>
        </p:txBody>
      </p:sp>
      <p:sp>
        <p:nvSpPr>
          <p:cNvPr id="12" name="Shape 10"/>
          <p:cNvSpPr/>
          <p:nvPr/>
        </p:nvSpPr>
        <p:spPr>
          <a:xfrm>
            <a:off x="4206240" y="2386584"/>
            <a:ext cx="3657600" cy="0"/>
          </a:xfrm>
          <a:prstGeom prst="line">
            <a:avLst/>
          </a:prstGeom>
          <a:noFill/>
          <a:ln w="19050">
            <a:solidFill>
              <a:srgbClr val="A6A39B"/>
            </a:solidFill>
            <a:prstDash val="solid"/>
          </a:ln>
        </p:spPr>
        <p:txBody>
          <a:bodyPr/>
          <a:p/>
        </p:txBody>
      </p:sp>
      <p:sp>
        <p:nvSpPr>
          <p:cNvPr id="13" name="Text 11"/>
          <p:cNvSpPr/>
          <p:nvPr/>
        </p:nvSpPr>
        <p:spPr>
          <a:xfrm>
            <a:off x="594360" y="2606040"/>
            <a:ext cx="3611880" cy="365760"/>
          </a:xfrm>
          <a:prstGeom prst="rect">
            <a:avLst/>
          </a:prstGeom>
          <a:noFill/>
          <a:ln/>
        </p:spPr>
        <p:txBody>
          <a:bodyPr wrap="square" lIns="0" tIns="0" rIns="0" bIns="0" rtlCol="0" anchor="ctr"/>
          <a:lstStyle/>
          <a:p>
            <a:pPr algn="r" indent="0" marL="0">
              <a:buNone/>
            </a:pPr>
            <a:r>
              <a:rPr lang="en-US" sz="1300" dirty="0">
                <a:solidFill>
                  <a:srgbClr val="11121A"/>
                </a:solidFill>
                <a:latin typeface="Palatino Linotype" pitchFamily="34" charset="0"/>
                <a:ea typeface="Palatino Linotype" pitchFamily="34" charset="-122"/>
                <a:cs typeface="Palatino Linotype" pitchFamily="34" charset="-120"/>
              </a:rPr>
              <a:t>Lombalgie  </a:t>
            </a:r>
            <a:pPr algn="r" indent="0" marL="0">
              <a:buNone/>
            </a:pPr>
            <a:r>
              <a:rPr lang="en-US" sz="1300" b="1" dirty="0">
                <a:solidFill>
                  <a:srgbClr val="11121A"/>
                </a:solidFill>
                <a:latin typeface="Palatino Linotype" pitchFamily="34" charset="0"/>
                <a:ea typeface="Palatino Linotype" pitchFamily="34" charset="-122"/>
                <a:cs typeface="Palatino Linotype" pitchFamily="34" charset="-120"/>
              </a:rPr>
              <a:t>3</a:t>
            </a:r>
            <a:endParaRPr lang="en-US" sz="1300" dirty="0"/>
          </a:p>
        </p:txBody>
      </p:sp>
      <p:sp>
        <p:nvSpPr>
          <p:cNvPr id="14" name="Text 12"/>
          <p:cNvSpPr/>
          <p:nvPr/>
        </p:nvSpPr>
        <p:spPr>
          <a:xfrm>
            <a:off x="7955280" y="2606040"/>
            <a:ext cx="3611880" cy="365760"/>
          </a:xfrm>
          <a:prstGeom prst="rect">
            <a:avLst/>
          </a:prstGeom>
          <a:noFill/>
          <a:ln/>
        </p:spPr>
        <p:txBody>
          <a:bodyPr wrap="square" lIns="0" tIns="0" rIns="0" bIns="0" rtlCol="0" anchor="ctr"/>
          <a:lstStyle/>
          <a:p>
            <a:pPr indent="0" marL="0">
              <a:buNone/>
            </a:pPr>
            <a:r>
              <a:rPr lang="en-US" sz="1300" b="1" dirty="0">
                <a:solidFill>
                  <a:srgbClr val="11121A"/>
                </a:solidFill>
                <a:latin typeface="Palatino Linotype" pitchFamily="34" charset="0"/>
                <a:ea typeface="Palatino Linotype" pitchFamily="34" charset="-122"/>
                <a:cs typeface="Palatino Linotype" pitchFamily="34" charset="-120"/>
              </a:rPr>
              <a:t>3  </a:t>
            </a:r>
            <a:pPr indent="0" marL="0">
              <a:buNone/>
            </a:pPr>
            <a:r>
              <a:rPr lang="en-US" sz="1300" dirty="0">
                <a:solidFill>
                  <a:srgbClr val="11121A"/>
                </a:solidFill>
                <a:latin typeface="Palatino Linotype" pitchFamily="34" charset="0"/>
                <a:ea typeface="Palatino Linotype" pitchFamily="34" charset="-122"/>
                <a:cs typeface="Palatino Linotype" pitchFamily="34" charset="-120"/>
              </a:rPr>
              <a:t>Lombalgie</a:t>
            </a:r>
            <a:endParaRPr lang="en-US" sz="1300" dirty="0"/>
          </a:p>
        </p:txBody>
      </p:sp>
      <p:sp>
        <p:nvSpPr>
          <p:cNvPr id="15" name="Shape 13"/>
          <p:cNvSpPr/>
          <p:nvPr/>
        </p:nvSpPr>
        <p:spPr>
          <a:xfrm>
            <a:off x="4206240" y="2788920"/>
            <a:ext cx="3657600" cy="0"/>
          </a:xfrm>
          <a:prstGeom prst="line">
            <a:avLst/>
          </a:prstGeom>
          <a:noFill/>
          <a:ln w="19050">
            <a:solidFill>
              <a:srgbClr val="A6A39B"/>
            </a:solidFill>
            <a:prstDash val="solid"/>
          </a:ln>
        </p:spPr>
        <p:txBody>
          <a:bodyPr/>
          <a:p/>
        </p:txBody>
      </p:sp>
      <p:sp>
        <p:nvSpPr>
          <p:cNvPr id="16" name="Text 14"/>
          <p:cNvSpPr/>
          <p:nvPr/>
        </p:nvSpPr>
        <p:spPr>
          <a:xfrm>
            <a:off x="594360" y="3008376"/>
            <a:ext cx="3611880" cy="365760"/>
          </a:xfrm>
          <a:prstGeom prst="rect">
            <a:avLst/>
          </a:prstGeom>
          <a:noFill/>
          <a:ln/>
        </p:spPr>
        <p:txBody>
          <a:bodyPr wrap="square" lIns="0" tIns="0" rIns="0" bIns="0" rtlCol="0" anchor="ctr"/>
          <a:lstStyle/>
          <a:p>
            <a:pPr algn="r" indent="0" marL="0">
              <a:buNone/>
            </a:pPr>
            <a:r>
              <a:rPr lang="en-US" sz="1300" dirty="0">
                <a:solidFill>
                  <a:srgbClr val="11121A"/>
                </a:solidFill>
                <a:latin typeface="Palatino Linotype" pitchFamily="34" charset="0"/>
                <a:ea typeface="Palatino Linotype" pitchFamily="34" charset="-122"/>
                <a:cs typeface="Palatino Linotype" pitchFamily="34" charset="-120"/>
              </a:rPr>
              <a:t>Cirrhose  </a:t>
            </a:r>
            <a:pPr algn="r" indent="0" marL="0">
              <a:buNone/>
            </a:pPr>
            <a:r>
              <a:rPr lang="en-US" sz="1300" b="1" dirty="0">
                <a:solidFill>
                  <a:srgbClr val="11121A"/>
                </a:solidFill>
                <a:latin typeface="Palatino Linotype" pitchFamily="34" charset="0"/>
                <a:ea typeface="Palatino Linotype" pitchFamily="34" charset="-122"/>
                <a:cs typeface="Palatino Linotype" pitchFamily="34" charset="-120"/>
              </a:rPr>
              <a:t>4</a:t>
            </a:r>
            <a:endParaRPr lang="en-US" sz="1300" dirty="0"/>
          </a:p>
        </p:txBody>
      </p:sp>
      <p:sp>
        <p:nvSpPr>
          <p:cNvPr id="17" name="Text 15"/>
          <p:cNvSpPr/>
          <p:nvPr/>
        </p:nvSpPr>
        <p:spPr>
          <a:xfrm>
            <a:off x="7955280" y="3008376"/>
            <a:ext cx="3611880" cy="365760"/>
          </a:xfrm>
          <a:prstGeom prst="rect">
            <a:avLst/>
          </a:prstGeom>
          <a:noFill/>
          <a:ln/>
        </p:spPr>
        <p:txBody>
          <a:bodyPr wrap="square" lIns="0" tIns="0" rIns="0" bIns="0" rtlCol="0" anchor="ctr"/>
          <a:lstStyle/>
          <a:p>
            <a:pPr indent="0" marL="0">
              <a:buNone/>
            </a:pPr>
            <a:r>
              <a:rPr lang="en-US" sz="1300" b="1" dirty="0">
                <a:solidFill>
                  <a:srgbClr val="11121A"/>
                </a:solidFill>
                <a:latin typeface="Palatino Linotype" pitchFamily="34" charset="0"/>
                <a:ea typeface="Palatino Linotype" pitchFamily="34" charset="-122"/>
                <a:cs typeface="Palatino Linotype" pitchFamily="34" charset="-120"/>
              </a:rPr>
              <a:t>4  </a:t>
            </a:r>
            <a:pPr indent="0" marL="0">
              <a:buNone/>
            </a:pPr>
            <a:r>
              <a:rPr lang="en-US" sz="1300" dirty="0">
                <a:solidFill>
                  <a:srgbClr val="11121A"/>
                </a:solidFill>
                <a:latin typeface="Palatino Linotype" pitchFamily="34" charset="0"/>
                <a:ea typeface="Palatino Linotype" pitchFamily="34" charset="-122"/>
                <a:cs typeface="Palatino Linotype" pitchFamily="34" charset="-120"/>
              </a:rPr>
              <a:t>Cirrhose</a:t>
            </a:r>
            <a:endParaRPr lang="en-US" sz="1300" dirty="0"/>
          </a:p>
        </p:txBody>
      </p:sp>
      <p:sp>
        <p:nvSpPr>
          <p:cNvPr id="18" name="Shape 16"/>
          <p:cNvSpPr/>
          <p:nvPr/>
        </p:nvSpPr>
        <p:spPr>
          <a:xfrm>
            <a:off x="4206240" y="3191256"/>
            <a:ext cx="3657600" cy="0"/>
          </a:xfrm>
          <a:prstGeom prst="line">
            <a:avLst/>
          </a:prstGeom>
          <a:noFill/>
          <a:ln w="19050">
            <a:solidFill>
              <a:srgbClr val="A6A39B"/>
            </a:solidFill>
            <a:prstDash val="solid"/>
          </a:ln>
        </p:spPr>
        <p:txBody>
          <a:bodyPr/>
          <a:p/>
        </p:txBody>
      </p:sp>
      <p:sp>
        <p:nvSpPr>
          <p:cNvPr id="19" name="Text 17"/>
          <p:cNvSpPr/>
          <p:nvPr/>
        </p:nvSpPr>
        <p:spPr>
          <a:xfrm>
            <a:off x="594360" y="4215384"/>
            <a:ext cx="3611880" cy="365760"/>
          </a:xfrm>
          <a:prstGeom prst="rect">
            <a:avLst/>
          </a:prstGeom>
          <a:noFill/>
          <a:ln/>
        </p:spPr>
        <p:txBody>
          <a:bodyPr wrap="square" lIns="0" tIns="0" rIns="0" bIns="0" rtlCol="0" anchor="ctr"/>
          <a:lstStyle/>
          <a:p>
            <a:pPr algn="r" indent="0" marL="0">
              <a:buNone/>
            </a:pPr>
            <a:r>
              <a:rPr lang="en-US" sz="1300" dirty="0">
                <a:solidFill>
                  <a:srgbClr val="11121A"/>
                </a:solidFill>
                <a:latin typeface="Palatino Linotype" pitchFamily="34" charset="0"/>
                <a:ea typeface="Palatino Linotype" pitchFamily="34" charset="-122"/>
                <a:cs typeface="Palatino Linotype" pitchFamily="34" charset="-120"/>
              </a:rPr>
              <a:t>Cancer du poumon  </a:t>
            </a:r>
            <a:pPr algn="r" indent="0" marL="0">
              <a:buNone/>
            </a:pPr>
            <a:r>
              <a:rPr lang="en-US" sz="1300" b="1" dirty="0">
                <a:solidFill>
                  <a:srgbClr val="11121A"/>
                </a:solidFill>
                <a:latin typeface="Palatino Linotype" pitchFamily="34" charset="0"/>
                <a:ea typeface="Palatino Linotype" pitchFamily="34" charset="-122"/>
                <a:cs typeface="Palatino Linotype" pitchFamily="34" charset="-120"/>
              </a:rPr>
              <a:t>7</a:t>
            </a:r>
            <a:endParaRPr lang="en-US" sz="1300" dirty="0"/>
          </a:p>
        </p:txBody>
      </p:sp>
      <p:sp>
        <p:nvSpPr>
          <p:cNvPr id="20" name="Text 18"/>
          <p:cNvSpPr/>
          <p:nvPr/>
        </p:nvSpPr>
        <p:spPr>
          <a:xfrm>
            <a:off x="7955280" y="3410712"/>
            <a:ext cx="3611880" cy="365760"/>
          </a:xfrm>
          <a:prstGeom prst="rect">
            <a:avLst/>
          </a:prstGeom>
          <a:noFill/>
          <a:ln/>
        </p:spPr>
        <p:txBody>
          <a:bodyPr wrap="square" lIns="0" tIns="0" rIns="0" bIns="0" rtlCol="0" anchor="ctr"/>
          <a:lstStyle/>
          <a:p>
            <a:pPr indent="0" marL="0">
              <a:buNone/>
            </a:pPr>
            <a:r>
              <a:rPr lang="en-US" sz="1300" b="1" dirty="0">
                <a:solidFill>
                  <a:srgbClr val="11121A"/>
                </a:solidFill>
                <a:latin typeface="Palatino Linotype" pitchFamily="34" charset="0"/>
                <a:ea typeface="Palatino Linotype" pitchFamily="34" charset="-122"/>
                <a:cs typeface="Palatino Linotype" pitchFamily="34" charset="-120"/>
              </a:rPr>
              <a:t>5  </a:t>
            </a:r>
            <a:pPr indent="0" marL="0">
              <a:buNone/>
            </a:pPr>
            <a:r>
              <a:rPr lang="en-US" sz="1300" dirty="0">
                <a:solidFill>
                  <a:srgbClr val="11121A"/>
                </a:solidFill>
                <a:latin typeface="Palatino Linotype" pitchFamily="34" charset="0"/>
                <a:ea typeface="Palatino Linotype" pitchFamily="34" charset="-122"/>
                <a:cs typeface="Palatino Linotype" pitchFamily="34" charset="-120"/>
              </a:rPr>
              <a:t>Cancer du poumon</a:t>
            </a:r>
            <a:endParaRPr lang="en-US" sz="1300" dirty="0"/>
          </a:p>
        </p:txBody>
      </p:sp>
      <p:sp>
        <p:nvSpPr>
          <p:cNvPr id="21" name="Shape 19"/>
          <p:cNvSpPr/>
          <p:nvPr/>
        </p:nvSpPr>
        <p:spPr>
          <a:xfrm flipV="1">
            <a:off x="4206240" y="3593592"/>
            <a:ext cx="3657600" cy="804672"/>
          </a:xfrm>
          <a:prstGeom prst="line">
            <a:avLst/>
          </a:prstGeom>
          <a:noFill/>
          <a:ln w="19050">
            <a:solidFill>
              <a:srgbClr val="A6A39B"/>
            </a:solidFill>
            <a:prstDash val="solid"/>
          </a:ln>
        </p:spPr>
        <p:txBody>
          <a:bodyPr/>
          <a:p/>
        </p:txBody>
      </p:sp>
      <p:sp>
        <p:nvSpPr>
          <p:cNvPr id="22" name="Text 20"/>
          <p:cNvSpPr/>
          <p:nvPr/>
        </p:nvSpPr>
        <p:spPr>
          <a:xfrm>
            <a:off x="594360" y="4617720"/>
            <a:ext cx="3611880" cy="365760"/>
          </a:xfrm>
          <a:prstGeom prst="rect">
            <a:avLst/>
          </a:prstGeom>
          <a:noFill/>
          <a:ln/>
        </p:spPr>
        <p:txBody>
          <a:bodyPr wrap="square" lIns="0" tIns="0" rIns="0" bIns="0" rtlCol="0" anchor="ctr"/>
          <a:lstStyle/>
          <a:p>
            <a:pPr algn="r" indent="0" marL="0">
              <a:buNone/>
            </a:pPr>
            <a:r>
              <a:rPr lang="en-US" sz="1300" dirty="0">
                <a:solidFill>
                  <a:srgbClr val="11121A"/>
                </a:solidFill>
                <a:latin typeface="Palatino Linotype" pitchFamily="34" charset="0"/>
                <a:ea typeface="Palatino Linotype" pitchFamily="34" charset="-122"/>
                <a:cs typeface="Palatino Linotype" pitchFamily="34" charset="-120"/>
              </a:rPr>
              <a:t>Chutes  </a:t>
            </a:r>
            <a:pPr algn="r" indent="0" marL="0">
              <a:buNone/>
            </a:pPr>
            <a:r>
              <a:rPr lang="en-US" sz="1300" b="1" dirty="0">
                <a:solidFill>
                  <a:srgbClr val="11121A"/>
                </a:solidFill>
                <a:latin typeface="Palatino Linotype" pitchFamily="34" charset="0"/>
                <a:ea typeface="Palatino Linotype" pitchFamily="34" charset="-122"/>
                <a:cs typeface="Palatino Linotype" pitchFamily="34" charset="-120"/>
              </a:rPr>
              <a:t>8</a:t>
            </a:r>
            <a:endParaRPr lang="en-US" sz="1300" dirty="0"/>
          </a:p>
        </p:txBody>
      </p:sp>
      <p:sp>
        <p:nvSpPr>
          <p:cNvPr id="23" name="Text 21"/>
          <p:cNvSpPr/>
          <p:nvPr/>
        </p:nvSpPr>
        <p:spPr>
          <a:xfrm>
            <a:off x="7955280" y="3813048"/>
            <a:ext cx="3611880" cy="365760"/>
          </a:xfrm>
          <a:prstGeom prst="rect">
            <a:avLst/>
          </a:prstGeom>
          <a:noFill/>
          <a:ln/>
        </p:spPr>
        <p:txBody>
          <a:bodyPr wrap="square" lIns="0" tIns="0" rIns="0" bIns="0" rtlCol="0" anchor="ctr"/>
          <a:lstStyle/>
          <a:p>
            <a:pPr indent="0" marL="0">
              <a:buNone/>
            </a:pPr>
            <a:r>
              <a:rPr lang="en-US" sz="1300" b="1" dirty="0">
                <a:solidFill>
                  <a:srgbClr val="11121A"/>
                </a:solidFill>
                <a:latin typeface="Palatino Linotype" pitchFamily="34" charset="0"/>
                <a:ea typeface="Palatino Linotype" pitchFamily="34" charset="-122"/>
                <a:cs typeface="Palatino Linotype" pitchFamily="34" charset="-120"/>
              </a:rPr>
              <a:t>6  </a:t>
            </a:r>
            <a:pPr indent="0" marL="0">
              <a:buNone/>
            </a:pPr>
            <a:r>
              <a:rPr lang="en-US" sz="1300" dirty="0">
                <a:solidFill>
                  <a:srgbClr val="11121A"/>
                </a:solidFill>
                <a:latin typeface="Palatino Linotype" pitchFamily="34" charset="0"/>
                <a:ea typeface="Palatino Linotype" pitchFamily="34" charset="-122"/>
                <a:cs typeface="Palatino Linotype" pitchFamily="34" charset="-120"/>
              </a:rPr>
              <a:t>Chutes</a:t>
            </a:r>
            <a:endParaRPr lang="en-US" sz="1300" dirty="0"/>
          </a:p>
        </p:txBody>
      </p:sp>
      <p:sp>
        <p:nvSpPr>
          <p:cNvPr id="24" name="Shape 22"/>
          <p:cNvSpPr/>
          <p:nvPr/>
        </p:nvSpPr>
        <p:spPr>
          <a:xfrm flipV="1">
            <a:off x="4206240" y="3995928"/>
            <a:ext cx="3657600" cy="804672"/>
          </a:xfrm>
          <a:prstGeom prst="line">
            <a:avLst/>
          </a:prstGeom>
          <a:noFill/>
          <a:ln w="19050">
            <a:solidFill>
              <a:srgbClr val="A6A39B"/>
            </a:solidFill>
            <a:prstDash val="solid"/>
          </a:ln>
        </p:spPr>
        <p:txBody>
          <a:bodyPr/>
          <a:p/>
        </p:txBody>
      </p:sp>
      <p:sp>
        <p:nvSpPr>
          <p:cNvPr id="25" name="Text 23"/>
          <p:cNvSpPr/>
          <p:nvPr/>
        </p:nvSpPr>
        <p:spPr>
          <a:xfrm>
            <a:off x="7955280" y="4215384"/>
            <a:ext cx="3611880" cy="365760"/>
          </a:xfrm>
          <a:prstGeom prst="rect">
            <a:avLst/>
          </a:prstGeom>
          <a:noFill/>
          <a:ln/>
        </p:spPr>
        <p:txBody>
          <a:bodyPr wrap="square" lIns="0" tIns="0" rIns="0" bIns="0" rtlCol="0" anchor="ctr"/>
          <a:lstStyle/>
          <a:p>
            <a:pPr indent="0" marL="0">
              <a:buNone/>
            </a:pPr>
            <a:r>
              <a:rPr lang="en-US" sz="1300" b="1" dirty="0">
                <a:solidFill>
                  <a:srgbClr val="0E7C6B"/>
                </a:solidFill>
                <a:latin typeface="Palatino Linotype" pitchFamily="34" charset="0"/>
                <a:ea typeface="Palatino Linotype" pitchFamily="34" charset="-122"/>
                <a:cs typeface="Palatino Linotype" pitchFamily="34" charset="-120"/>
              </a:rPr>
              <a:t>7  </a:t>
            </a:r>
            <a:pPr indent="0" marL="0">
              <a:buNone/>
            </a:pPr>
            <a:r>
              <a:rPr lang="en-US" sz="1300" b="1" dirty="0">
                <a:solidFill>
                  <a:srgbClr val="0E7C6B"/>
                </a:solidFill>
                <a:latin typeface="Palatino Linotype" pitchFamily="34" charset="0"/>
                <a:ea typeface="Palatino Linotype" pitchFamily="34" charset="-122"/>
                <a:cs typeface="Palatino Linotype" pitchFamily="34" charset="-120"/>
              </a:rPr>
              <a:t>Cardiopathie hypertensive</a:t>
            </a:r>
            <a:endParaRPr lang="en-US" sz="1300" dirty="0"/>
          </a:p>
        </p:txBody>
      </p:sp>
      <p:sp>
        <p:nvSpPr>
          <p:cNvPr id="26" name="Shape 24"/>
          <p:cNvSpPr/>
          <p:nvPr/>
        </p:nvSpPr>
        <p:spPr>
          <a:xfrm>
            <a:off x="7223760" y="4398264"/>
            <a:ext cx="640080" cy="0"/>
          </a:xfrm>
          <a:prstGeom prst="line">
            <a:avLst/>
          </a:prstGeom>
          <a:noFill/>
          <a:ln w="31750">
            <a:solidFill>
              <a:srgbClr val="27D3BE"/>
            </a:solidFill>
            <a:prstDash val="solid"/>
          </a:ln>
        </p:spPr>
        <p:txBody>
          <a:bodyPr/>
          <a:p/>
        </p:txBody>
      </p:sp>
      <p:sp>
        <p:nvSpPr>
          <p:cNvPr id="27" name="Text 25"/>
          <p:cNvSpPr/>
          <p:nvPr/>
        </p:nvSpPr>
        <p:spPr>
          <a:xfrm>
            <a:off x="594360" y="3410712"/>
            <a:ext cx="3611880" cy="365760"/>
          </a:xfrm>
          <a:prstGeom prst="rect">
            <a:avLst/>
          </a:prstGeom>
          <a:noFill/>
          <a:ln/>
        </p:spPr>
        <p:txBody>
          <a:bodyPr wrap="square" lIns="0" tIns="0" rIns="0" bIns="0" rtlCol="0" anchor="ctr"/>
          <a:lstStyle/>
          <a:p>
            <a:pPr algn="r" indent="0" marL="0">
              <a:buNone/>
            </a:pPr>
            <a:r>
              <a:rPr lang="en-US" sz="1300" dirty="0">
                <a:solidFill>
                  <a:srgbClr val="11121A"/>
                </a:solidFill>
                <a:latin typeface="Palatino Linotype" pitchFamily="34" charset="0"/>
                <a:ea typeface="Palatino Linotype" pitchFamily="34" charset="-122"/>
                <a:cs typeface="Palatino Linotype" pitchFamily="34" charset="-120"/>
              </a:rPr>
              <a:t>Infections respiratoires inférieures  </a:t>
            </a:r>
            <a:pPr algn="r" indent="0" marL="0">
              <a:buNone/>
            </a:pPr>
            <a:r>
              <a:rPr lang="en-US" sz="1300" b="1" dirty="0">
                <a:solidFill>
                  <a:srgbClr val="11121A"/>
                </a:solidFill>
                <a:latin typeface="Palatino Linotype" pitchFamily="34" charset="0"/>
                <a:ea typeface="Palatino Linotype" pitchFamily="34" charset="-122"/>
                <a:cs typeface="Palatino Linotype" pitchFamily="34" charset="-120"/>
              </a:rPr>
              <a:t>5</a:t>
            </a:r>
            <a:endParaRPr lang="en-US" sz="1300" dirty="0"/>
          </a:p>
        </p:txBody>
      </p:sp>
      <p:sp>
        <p:nvSpPr>
          <p:cNvPr id="28" name="Text 26"/>
          <p:cNvSpPr/>
          <p:nvPr/>
        </p:nvSpPr>
        <p:spPr>
          <a:xfrm>
            <a:off x="7955280" y="4617720"/>
            <a:ext cx="3611880" cy="365760"/>
          </a:xfrm>
          <a:prstGeom prst="rect">
            <a:avLst/>
          </a:prstGeom>
          <a:noFill/>
          <a:ln/>
        </p:spPr>
        <p:txBody>
          <a:bodyPr wrap="square" lIns="0" tIns="0" rIns="0" bIns="0" rtlCol="0" anchor="ctr"/>
          <a:lstStyle/>
          <a:p>
            <a:pPr indent="0" marL="0">
              <a:buNone/>
            </a:pPr>
            <a:r>
              <a:rPr lang="en-US" sz="1300" b="1" dirty="0">
                <a:solidFill>
                  <a:srgbClr val="11121A"/>
                </a:solidFill>
                <a:latin typeface="Palatino Linotype" pitchFamily="34" charset="0"/>
                <a:ea typeface="Palatino Linotype" pitchFamily="34" charset="-122"/>
                <a:cs typeface="Palatino Linotype" pitchFamily="34" charset="-120"/>
              </a:rPr>
              <a:t>8  </a:t>
            </a:r>
            <a:pPr indent="0" marL="0">
              <a:buNone/>
            </a:pPr>
            <a:r>
              <a:rPr lang="en-US" sz="1300" dirty="0">
                <a:solidFill>
                  <a:srgbClr val="11121A"/>
                </a:solidFill>
                <a:latin typeface="Palatino Linotype" pitchFamily="34" charset="0"/>
                <a:ea typeface="Palatino Linotype" pitchFamily="34" charset="-122"/>
                <a:cs typeface="Palatino Linotype" pitchFamily="34" charset="-120"/>
              </a:rPr>
              <a:t>Infections respiratoires inférieures</a:t>
            </a:r>
            <a:endParaRPr lang="en-US" sz="1300" dirty="0"/>
          </a:p>
        </p:txBody>
      </p:sp>
      <p:sp>
        <p:nvSpPr>
          <p:cNvPr id="29" name="Shape 27"/>
          <p:cNvSpPr/>
          <p:nvPr/>
        </p:nvSpPr>
        <p:spPr>
          <a:xfrm>
            <a:off x="4206240" y="3593592"/>
            <a:ext cx="3657600" cy="1207008"/>
          </a:xfrm>
          <a:prstGeom prst="line">
            <a:avLst/>
          </a:prstGeom>
          <a:noFill/>
          <a:ln w="19050">
            <a:solidFill>
              <a:srgbClr val="A6A39B"/>
            </a:solidFill>
            <a:prstDash val="solid"/>
          </a:ln>
        </p:spPr>
        <p:txBody>
          <a:bodyPr/>
          <a:p/>
        </p:txBody>
      </p:sp>
      <p:sp>
        <p:nvSpPr>
          <p:cNvPr id="30" name="Text 28"/>
          <p:cNvSpPr/>
          <p:nvPr/>
        </p:nvSpPr>
        <p:spPr>
          <a:xfrm>
            <a:off x="594360" y="3813048"/>
            <a:ext cx="3611880" cy="365760"/>
          </a:xfrm>
          <a:prstGeom prst="rect">
            <a:avLst/>
          </a:prstGeom>
          <a:noFill/>
          <a:ln/>
        </p:spPr>
        <p:txBody>
          <a:bodyPr wrap="square" lIns="0" tIns="0" rIns="0" bIns="0" rtlCol="0" anchor="ctr"/>
          <a:lstStyle/>
          <a:p>
            <a:pPr algn="r" indent="0" marL="0">
              <a:buNone/>
            </a:pPr>
            <a:r>
              <a:rPr lang="en-US" sz="1300" dirty="0">
                <a:solidFill>
                  <a:srgbClr val="11121A"/>
                </a:solidFill>
                <a:latin typeface="Palatino Linotype" pitchFamily="34" charset="0"/>
                <a:ea typeface="Palatino Linotype" pitchFamily="34" charset="-122"/>
                <a:cs typeface="Palatino Linotype" pitchFamily="34" charset="-120"/>
              </a:rPr>
              <a:t>Bronchopneumopathie chronique obstructive  </a:t>
            </a:r>
            <a:pPr algn="r" indent="0" marL="0">
              <a:buNone/>
            </a:pPr>
            <a:r>
              <a:rPr lang="en-US" sz="1300" b="1" dirty="0">
                <a:solidFill>
                  <a:srgbClr val="11121A"/>
                </a:solidFill>
                <a:latin typeface="Palatino Linotype" pitchFamily="34" charset="0"/>
                <a:ea typeface="Palatino Linotype" pitchFamily="34" charset="-122"/>
                <a:cs typeface="Palatino Linotype" pitchFamily="34" charset="-120"/>
              </a:rPr>
              <a:t>6</a:t>
            </a:r>
            <a:endParaRPr lang="en-US" sz="1300" dirty="0"/>
          </a:p>
        </p:txBody>
      </p:sp>
      <p:sp>
        <p:nvSpPr>
          <p:cNvPr id="31" name="Text 29"/>
          <p:cNvSpPr/>
          <p:nvPr/>
        </p:nvSpPr>
        <p:spPr>
          <a:xfrm>
            <a:off x="7955280" y="5020056"/>
            <a:ext cx="3611880" cy="365760"/>
          </a:xfrm>
          <a:prstGeom prst="rect">
            <a:avLst/>
          </a:prstGeom>
          <a:noFill/>
          <a:ln/>
        </p:spPr>
        <p:txBody>
          <a:bodyPr wrap="square" lIns="0" tIns="0" rIns="0" bIns="0" rtlCol="0" anchor="ctr"/>
          <a:lstStyle/>
          <a:p>
            <a:pPr indent="0" marL="0">
              <a:buNone/>
            </a:pPr>
            <a:r>
              <a:rPr lang="en-US" sz="1300" b="1" dirty="0">
                <a:solidFill>
                  <a:srgbClr val="11121A"/>
                </a:solidFill>
                <a:latin typeface="Palatino Linotype" pitchFamily="34" charset="0"/>
                <a:ea typeface="Palatino Linotype" pitchFamily="34" charset="-122"/>
                <a:cs typeface="Palatino Linotype" pitchFamily="34" charset="-120"/>
              </a:rPr>
              <a:t>9  </a:t>
            </a:r>
            <a:pPr indent="0" marL="0">
              <a:buNone/>
            </a:pPr>
            <a:r>
              <a:rPr lang="en-US" sz="1300" dirty="0">
                <a:solidFill>
                  <a:srgbClr val="11121A"/>
                </a:solidFill>
                <a:latin typeface="Palatino Linotype" pitchFamily="34" charset="0"/>
                <a:ea typeface="Palatino Linotype" pitchFamily="34" charset="-122"/>
                <a:cs typeface="Palatino Linotype" pitchFamily="34" charset="-120"/>
              </a:rPr>
              <a:t>Bronchopneumopathie chronique obstructive</a:t>
            </a:r>
            <a:endParaRPr lang="en-US" sz="1300" dirty="0"/>
          </a:p>
        </p:txBody>
      </p:sp>
      <p:sp>
        <p:nvSpPr>
          <p:cNvPr id="32" name="Shape 30"/>
          <p:cNvSpPr/>
          <p:nvPr/>
        </p:nvSpPr>
        <p:spPr>
          <a:xfrm>
            <a:off x="4206240" y="3995928"/>
            <a:ext cx="3657600" cy="1207008"/>
          </a:xfrm>
          <a:prstGeom prst="line">
            <a:avLst/>
          </a:prstGeom>
          <a:noFill/>
          <a:ln w="19050">
            <a:solidFill>
              <a:srgbClr val="A6A39B"/>
            </a:solidFill>
            <a:prstDash val="solid"/>
          </a:ln>
        </p:spPr>
        <p:txBody>
          <a:bodyPr/>
          <a:p/>
        </p:txBody>
      </p:sp>
      <p:sp>
        <p:nvSpPr>
          <p:cNvPr id="33" name="Text 31"/>
          <p:cNvSpPr/>
          <p:nvPr/>
        </p:nvSpPr>
        <p:spPr>
          <a:xfrm>
            <a:off x="7955280" y="5422392"/>
            <a:ext cx="3611880" cy="365760"/>
          </a:xfrm>
          <a:prstGeom prst="rect">
            <a:avLst/>
          </a:prstGeom>
          <a:noFill/>
          <a:ln/>
        </p:spPr>
        <p:txBody>
          <a:bodyPr wrap="square" lIns="0" tIns="0" rIns="0" bIns="0" rtlCol="0" anchor="ctr"/>
          <a:lstStyle/>
          <a:p>
            <a:pPr indent="0" marL="0">
              <a:buNone/>
            </a:pPr>
            <a:r>
              <a:rPr lang="en-US" sz="1300" b="1" dirty="0">
                <a:solidFill>
                  <a:srgbClr val="0E7C6B"/>
                </a:solidFill>
                <a:latin typeface="Palatino Linotype" pitchFamily="34" charset="0"/>
                <a:ea typeface="Palatino Linotype" pitchFamily="34" charset="-122"/>
                <a:cs typeface="Palatino Linotype" pitchFamily="34" charset="-120"/>
              </a:rPr>
              <a:t>10  </a:t>
            </a:r>
            <a:pPr indent="0" marL="0">
              <a:buNone/>
            </a:pPr>
            <a:r>
              <a:rPr lang="en-US" sz="1300" b="1" dirty="0">
                <a:solidFill>
                  <a:srgbClr val="0E7C6B"/>
                </a:solidFill>
                <a:latin typeface="Palatino Linotype" pitchFamily="34" charset="0"/>
                <a:ea typeface="Palatino Linotype" pitchFamily="34" charset="-122"/>
                <a:cs typeface="Palatino Linotype" pitchFamily="34" charset="-120"/>
              </a:rPr>
              <a:t>Perte auditive</a:t>
            </a:r>
            <a:endParaRPr lang="en-US" sz="1300" dirty="0"/>
          </a:p>
        </p:txBody>
      </p:sp>
      <p:sp>
        <p:nvSpPr>
          <p:cNvPr id="34" name="Shape 32"/>
          <p:cNvSpPr/>
          <p:nvPr/>
        </p:nvSpPr>
        <p:spPr>
          <a:xfrm>
            <a:off x="7223760" y="5605272"/>
            <a:ext cx="640080" cy="0"/>
          </a:xfrm>
          <a:prstGeom prst="line">
            <a:avLst/>
          </a:prstGeom>
          <a:noFill/>
          <a:ln w="31750">
            <a:solidFill>
              <a:srgbClr val="27D3BE"/>
            </a:solidFill>
            <a:prstDash val="solid"/>
          </a:ln>
        </p:spPr>
        <p:txBody>
          <a:bodyPr/>
          <a:p/>
        </p:txBody>
      </p:sp>
      <p:sp>
        <p:nvSpPr>
          <p:cNvPr id="35" name="Text 33"/>
          <p:cNvSpPr/>
          <p:nvPr/>
        </p:nvSpPr>
        <p:spPr>
          <a:xfrm>
            <a:off x="594360" y="5020056"/>
            <a:ext cx="3611880" cy="365760"/>
          </a:xfrm>
          <a:prstGeom prst="rect">
            <a:avLst/>
          </a:prstGeom>
          <a:noFill/>
          <a:ln/>
        </p:spPr>
        <p:txBody>
          <a:bodyPr wrap="square" lIns="0" tIns="0" rIns="0" bIns="0" rtlCol="0" anchor="ctr"/>
          <a:lstStyle/>
          <a:p>
            <a:pPr algn="r" indent="0" marL="0">
              <a:buNone/>
            </a:pPr>
            <a:r>
              <a:rPr lang="en-US" sz="1300" b="1" dirty="0">
                <a:solidFill>
                  <a:srgbClr val="B02532"/>
                </a:solidFill>
                <a:latin typeface="Palatino Linotype" pitchFamily="34" charset="0"/>
                <a:ea typeface="Palatino Linotype" pitchFamily="34" charset="-122"/>
                <a:cs typeface="Palatino Linotype" pitchFamily="34" charset="-120"/>
              </a:rPr>
              <a:t>Affections néonatales  </a:t>
            </a:r>
            <a:pPr algn="r" indent="0" marL="0">
              <a:buNone/>
            </a:pPr>
            <a:r>
              <a:rPr lang="en-US" sz="1300" b="1" dirty="0">
                <a:solidFill>
                  <a:srgbClr val="B02532"/>
                </a:solidFill>
                <a:latin typeface="Palatino Linotype" pitchFamily="34" charset="0"/>
                <a:ea typeface="Palatino Linotype" pitchFamily="34" charset="-122"/>
                <a:cs typeface="Palatino Linotype" pitchFamily="34" charset="-120"/>
              </a:rPr>
              <a:t>9</a:t>
            </a:r>
            <a:endParaRPr lang="en-US" sz="1300" dirty="0"/>
          </a:p>
        </p:txBody>
      </p:sp>
      <p:sp>
        <p:nvSpPr>
          <p:cNvPr id="36" name="Shape 34"/>
          <p:cNvSpPr/>
          <p:nvPr/>
        </p:nvSpPr>
        <p:spPr>
          <a:xfrm>
            <a:off x="4206240" y="5202936"/>
            <a:ext cx="640080" cy="0"/>
          </a:xfrm>
          <a:prstGeom prst="line">
            <a:avLst/>
          </a:prstGeom>
          <a:noFill/>
          <a:ln w="31750">
            <a:solidFill>
              <a:srgbClr val="FF4757"/>
            </a:solidFill>
            <a:prstDash val="solid"/>
          </a:ln>
        </p:spPr>
        <p:txBody>
          <a:bodyPr/>
          <a:p/>
        </p:txBody>
      </p:sp>
      <p:sp>
        <p:nvSpPr>
          <p:cNvPr id="37" name="Text 35"/>
          <p:cNvSpPr/>
          <p:nvPr/>
        </p:nvSpPr>
        <p:spPr>
          <a:xfrm>
            <a:off x="594360" y="5422392"/>
            <a:ext cx="3611880" cy="365760"/>
          </a:xfrm>
          <a:prstGeom prst="rect">
            <a:avLst/>
          </a:prstGeom>
          <a:noFill/>
          <a:ln/>
        </p:spPr>
        <p:txBody>
          <a:bodyPr wrap="square" lIns="0" tIns="0" rIns="0" bIns="0" rtlCol="0" anchor="ctr"/>
          <a:lstStyle/>
          <a:p>
            <a:pPr algn="r" indent="0" marL="0">
              <a:buNone/>
            </a:pPr>
            <a:r>
              <a:rPr lang="en-US" sz="1300" b="1" dirty="0">
                <a:solidFill>
                  <a:srgbClr val="B02532"/>
                </a:solidFill>
                <a:latin typeface="Palatino Linotype" pitchFamily="34" charset="0"/>
                <a:ea typeface="Palatino Linotype" pitchFamily="34" charset="-122"/>
                <a:cs typeface="Palatino Linotype" pitchFamily="34" charset="-120"/>
              </a:rPr>
              <a:t>Accidents de la route  </a:t>
            </a:r>
            <a:pPr algn="r" indent="0" marL="0">
              <a:buNone/>
            </a:pPr>
            <a:r>
              <a:rPr lang="en-US" sz="1300" b="1" dirty="0">
                <a:solidFill>
                  <a:srgbClr val="B02532"/>
                </a:solidFill>
                <a:latin typeface="Palatino Linotype" pitchFamily="34" charset="0"/>
                <a:ea typeface="Palatino Linotype" pitchFamily="34" charset="-122"/>
                <a:cs typeface="Palatino Linotype" pitchFamily="34" charset="-120"/>
              </a:rPr>
              <a:t>10</a:t>
            </a:r>
            <a:endParaRPr lang="en-US" sz="1300" dirty="0"/>
          </a:p>
        </p:txBody>
      </p:sp>
      <p:sp>
        <p:nvSpPr>
          <p:cNvPr id="38" name="Shape 36"/>
          <p:cNvSpPr/>
          <p:nvPr/>
        </p:nvSpPr>
        <p:spPr>
          <a:xfrm>
            <a:off x="4206240" y="5605272"/>
            <a:ext cx="640080" cy="0"/>
          </a:xfrm>
          <a:prstGeom prst="line">
            <a:avLst/>
          </a:prstGeom>
          <a:noFill/>
          <a:ln w="31750">
            <a:solidFill>
              <a:srgbClr val="FF4757"/>
            </a:solidFill>
            <a:prstDash val="solid"/>
          </a:ln>
        </p:spPr>
        <p:txBody>
          <a:bodyPr/>
          <a:p/>
        </p:txBody>
      </p:sp>
      <p:sp>
        <p:nvSpPr>
          <p:cNvPr id="39" name="Text 37"/>
          <p:cNvSpPr/>
          <p:nvPr/>
        </p:nvSpPr>
        <p:spPr>
          <a:xfrm>
            <a:off x="594360" y="5870448"/>
            <a:ext cx="10972800" cy="457200"/>
          </a:xfrm>
          <a:prstGeom prst="rect">
            <a:avLst/>
          </a:prstGeom>
          <a:noFill/>
          <a:ln/>
        </p:spPr>
        <p:txBody>
          <a:bodyPr wrap="square" lIns="0" tIns="0" rIns="0" bIns="0" rtlCol="0" anchor="t"/>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La 10e place est fragile : la perte auditive (176 000) devance de peu la cardiomyopathie (175 000).</a:t>
            </a:r>
            <a:endParaRPr lang="en-US" sz="1400" dirty="0"/>
          </a:p>
        </p:txBody>
      </p:sp>
      <p:sp>
        <p:nvSpPr>
          <p:cNvPr id="40" name="Text 38"/>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DALY en chiffres absolus, trois chiffres significatifs. Source : GBD 2023, IHME, 17.10.2026.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CHIFFRES ABSOLUS ET TAUX STANDARDISÉS</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La même cause, deux histoires</a:t>
            </a:r>
            <a:endParaRPr lang="en-US" sz="3000" dirty="0"/>
          </a:p>
        </p:txBody>
      </p:sp>
      <p:sp>
        <p:nvSpPr>
          <p:cNvPr id="4" name="Shape 2"/>
          <p:cNvSpPr/>
          <p:nvPr/>
        </p:nvSpPr>
        <p:spPr>
          <a:xfrm>
            <a:off x="594360" y="1554480"/>
            <a:ext cx="5349240" cy="3794760"/>
          </a:xfrm>
          <a:prstGeom prst="roundRect">
            <a:avLst>
              <a:gd name="adj" fmla="val 2169"/>
            </a:avLst>
          </a:prstGeom>
          <a:solidFill>
            <a:srgbClr val="ECEAE4"/>
          </a:solidFill>
          <a:ln w="12700">
            <a:solidFill>
              <a:srgbClr val="ECEAE4"/>
            </a:solidFill>
            <a:prstDash val="solid"/>
          </a:ln>
        </p:spPr>
        <p:txBody>
          <a:bodyPr/>
          <a:p/>
        </p:txBody>
      </p:sp>
      <p:sp>
        <p:nvSpPr>
          <p:cNvPr id="5" name="Text 3"/>
          <p:cNvSpPr/>
          <p:nvPr/>
        </p:nvSpPr>
        <p:spPr>
          <a:xfrm>
            <a:off x="868680" y="1664208"/>
            <a:ext cx="4846320" cy="411480"/>
          </a:xfrm>
          <a:prstGeom prst="rect">
            <a:avLst/>
          </a:prstGeom>
          <a:noFill/>
          <a:ln/>
        </p:spPr>
        <p:txBody>
          <a:bodyPr wrap="square" lIns="0" tIns="0" rIns="0" bIns="0" rtlCol="0" anchor="t"/>
          <a:lstStyle/>
          <a:p>
            <a:pPr indent="0" marL="0">
              <a:buNone/>
            </a:pPr>
            <a:r>
              <a:rPr lang="en-US" sz="2100" b="1" dirty="0">
                <a:solidFill>
                  <a:srgbClr val="0E7C6B"/>
                </a:solidFill>
                <a:latin typeface="Palatino Linotype" pitchFamily="34" charset="0"/>
                <a:ea typeface="Palatino Linotype" pitchFamily="34" charset="-122"/>
                <a:cs typeface="Palatino Linotype" pitchFamily="34" charset="-120"/>
              </a:rPr>
              <a:t>Perte auditive</a:t>
            </a:r>
            <a:endParaRPr lang="en-US" sz="2100" dirty="0"/>
          </a:p>
        </p:txBody>
      </p:sp>
      <p:sp>
        <p:nvSpPr>
          <p:cNvPr id="6" name="Shape 4"/>
          <p:cNvSpPr/>
          <p:nvPr/>
        </p:nvSpPr>
        <p:spPr>
          <a:xfrm>
            <a:off x="1097280" y="2712027"/>
            <a:ext cx="822960" cy="1631373"/>
          </a:xfrm>
          <a:prstGeom prst="rect">
            <a:avLst/>
          </a:prstGeom>
          <a:solidFill>
            <a:srgbClr val="B9B6AE"/>
          </a:solidFill>
          <a:ln w="12700">
            <a:solidFill>
              <a:srgbClr val="B9B6AE"/>
            </a:solidFill>
            <a:prstDash val="solid"/>
          </a:ln>
        </p:spPr>
        <p:txBody>
          <a:bodyPr/>
          <a:p/>
        </p:txBody>
      </p:sp>
      <p:sp>
        <p:nvSpPr>
          <p:cNvPr id="7" name="Text 5"/>
          <p:cNvSpPr/>
          <p:nvPr/>
        </p:nvSpPr>
        <p:spPr>
          <a:xfrm>
            <a:off x="777240" y="2346267"/>
            <a:ext cx="1463040" cy="329184"/>
          </a:xfrm>
          <a:prstGeom prst="rect">
            <a:avLst/>
          </a:prstGeom>
          <a:noFill/>
          <a:ln/>
        </p:spPr>
        <p:txBody>
          <a:bodyPr wrap="square" lIns="0" tIns="0" rIns="0" bIns="0" rtlCol="0" anchor="t"/>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157 000</a:t>
            </a:r>
            <a:endParaRPr lang="en-US" sz="1500" dirty="0"/>
          </a:p>
        </p:txBody>
      </p:sp>
      <p:sp>
        <p:nvSpPr>
          <p:cNvPr id="8" name="Text 6"/>
          <p:cNvSpPr/>
          <p:nvPr/>
        </p:nvSpPr>
        <p:spPr>
          <a:xfrm>
            <a:off x="914400" y="4398264"/>
            <a:ext cx="1188720" cy="274320"/>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2000</a:t>
            </a:r>
            <a:endParaRPr lang="en-US" sz="1300" dirty="0"/>
          </a:p>
        </p:txBody>
      </p:sp>
      <p:sp>
        <p:nvSpPr>
          <p:cNvPr id="9" name="Shape 7"/>
          <p:cNvSpPr/>
          <p:nvPr/>
        </p:nvSpPr>
        <p:spPr>
          <a:xfrm>
            <a:off x="2103120" y="2514600"/>
            <a:ext cx="822960" cy="1828800"/>
          </a:xfrm>
          <a:prstGeom prst="rect">
            <a:avLst/>
          </a:prstGeom>
          <a:solidFill>
            <a:srgbClr val="0E7C6B"/>
          </a:solidFill>
          <a:ln w="12700">
            <a:solidFill>
              <a:srgbClr val="0E7C6B"/>
            </a:solidFill>
            <a:prstDash val="solid"/>
          </a:ln>
        </p:spPr>
        <p:txBody>
          <a:bodyPr/>
          <a:p/>
        </p:txBody>
      </p:sp>
      <p:sp>
        <p:nvSpPr>
          <p:cNvPr id="10" name="Text 8"/>
          <p:cNvSpPr/>
          <p:nvPr/>
        </p:nvSpPr>
        <p:spPr>
          <a:xfrm>
            <a:off x="1783080" y="2148840"/>
            <a:ext cx="1463040" cy="329184"/>
          </a:xfrm>
          <a:prstGeom prst="rect">
            <a:avLst/>
          </a:prstGeom>
          <a:noFill/>
          <a:ln/>
        </p:spPr>
        <p:txBody>
          <a:bodyPr wrap="square" lIns="0" tIns="0" rIns="0" bIns="0" rtlCol="0" anchor="t"/>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176 000</a:t>
            </a:r>
            <a:endParaRPr lang="en-US" sz="1500" dirty="0"/>
          </a:p>
        </p:txBody>
      </p:sp>
      <p:sp>
        <p:nvSpPr>
          <p:cNvPr id="11" name="Text 9"/>
          <p:cNvSpPr/>
          <p:nvPr/>
        </p:nvSpPr>
        <p:spPr>
          <a:xfrm>
            <a:off x="1920240" y="4398264"/>
            <a:ext cx="1188720" cy="274320"/>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2023</a:t>
            </a:r>
            <a:endParaRPr lang="en-US" sz="1300" dirty="0"/>
          </a:p>
        </p:txBody>
      </p:sp>
      <p:sp>
        <p:nvSpPr>
          <p:cNvPr id="12" name="Text 10"/>
          <p:cNvSpPr/>
          <p:nvPr/>
        </p:nvSpPr>
        <p:spPr>
          <a:xfrm>
            <a:off x="731520" y="4709160"/>
            <a:ext cx="2377440" cy="457200"/>
          </a:xfrm>
          <a:prstGeom prst="rect">
            <a:avLst/>
          </a:prstGeom>
          <a:noFill/>
          <a:ln/>
        </p:spPr>
        <p:txBody>
          <a:bodyPr wrap="square" lIns="0" tIns="0" rIns="0" bIns="0" rtlCol="0" anchor="t"/>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DALY, nombre</a:t>
            </a:r>
            <a:endParaRPr lang="en-US" sz="1300" dirty="0"/>
          </a:p>
        </p:txBody>
      </p:sp>
      <p:sp>
        <p:nvSpPr>
          <p:cNvPr id="13" name="Shape 11"/>
          <p:cNvSpPr/>
          <p:nvPr/>
        </p:nvSpPr>
        <p:spPr>
          <a:xfrm>
            <a:off x="3520440" y="2514600"/>
            <a:ext cx="822960" cy="1828800"/>
          </a:xfrm>
          <a:prstGeom prst="rect">
            <a:avLst/>
          </a:prstGeom>
          <a:solidFill>
            <a:srgbClr val="B9B6AE"/>
          </a:solidFill>
          <a:ln w="12700">
            <a:solidFill>
              <a:srgbClr val="B9B6AE"/>
            </a:solidFill>
            <a:prstDash val="solid"/>
          </a:ln>
        </p:spPr>
        <p:txBody>
          <a:bodyPr/>
          <a:p/>
        </p:txBody>
      </p:sp>
      <p:sp>
        <p:nvSpPr>
          <p:cNvPr id="14" name="Text 12"/>
          <p:cNvSpPr/>
          <p:nvPr/>
        </p:nvSpPr>
        <p:spPr>
          <a:xfrm>
            <a:off x="3200400" y="2148840"/>
            <a:ext cx="1463040" cy="329184"/>
          </a:xfrm>
          <a:prstGeom prst="rect">
            <a:avLst/>
          </a:prstGeom>
          <a:noFill/>
          <a:ln/>
        </p:spPr>
        <p:txBody>
          <a:bodyPr wrap="square" lIns="0" tIns="0" rIns="0" bIns="0" rtlCol="0" anchor="t"/>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551,0</a:t>
            </a:r>
            <a:endParaRPr lang="en-US" sz="1500" dirty="0"/>
          </a:p>
        </p:txBody>
      </p:sp>
      <p:sp>
        <p:nvSpPr>
          <p:cNvPr id="15" name="Text 13"/>
          <p:cNvSpPr/>
          <p:nvPr/>
        </p:nvSpPr>
        <p:spPr>
          <a:xfrm>
            <a:off x="3337560" y="4398264"/>
            <a:ext cx="1188720" cy="274320"/>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2000</a:t>
            </a:r>
            <a:endParaRPr lang="en-US" sz="1300" dirty="0"/>
          </a:p>
        </p:txBody>
      </p:sp>
      <p:sp>
        <p:nvSpPr>
          <p:cNvPr id="16" name="Shape 14"/>
          <p:cNvSpPr/>
          <p:nvPr/>
        </p:nvSpPr>
        <p:spPr>
          <a:xfrm>
            <a:off x="4526280" y="2514600"/>
            <a:ext cx="822960" cy="1828800"/>
          </a:xfrm>
          <a:prstGeom prst="rect">
            <a:avLst/>
          </a:prstGeom>
          <a:solidFill>
            <a:srgbClr val="0E7C6B"/>
          </a:solidFill>
          <a:ln w="12700">
            <a:solidFill>
              <a:srgbClr val="0E7C6B"/>
            </a:solidFill>
            <a:prstDash val="solid"/>
          </a:ln>
        </p:spPr>
        <p:txBody>
          <a:bodyPr/>
          <a:p/>
        </p:txBody>
      </p:sp>
      <p:sp>
        <p:nvSpPr>
          <p:cNvPr id="17" name="Text 15"/>
          <p:cNvSpPr/>
          <p:nvPr/>
        </p:nvSpPr>
        <p:spPr>
          <a:xfrm>
            <a:off x="4206240" y="2148840"/>
            <a:ext cx="1463040" cy="329184"/>
          </a:xfrm>
          <a:prstGeom prst="rect">
            <a:avLst/>
          </a:prstGeom>
          <a:noFill/>
          <a:ln/>
        </p:spPr>
        <p:txBody>
          <a:bodyPr wrap="square" lIns="0" tIns="0" rIns="0" bIns="0" rtlCol="0" anchor="t"/>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551,0</a:t>
            </a:r>
            <a:endParaRPr lang="en-US" sz="1500" dirty="0"/>
          </a:p>
        </p:txBody>
      </p:sp>
      <p:sp>
        <p:nvSpPr>
          <p:cNvPr id="18" name="Text 16"/>
          <p:cNvSpPr/>
          <p:nvPr/>
        </p:nvSpPr>
        <p:spPr>
          <a:xfrm>
            <a:off x="4343400" y="4398264"/>
            <a:ext cx="1188720" cy="274320"/>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2023</a:t>
            </a:r>
            <a:endParaRPr lang="en-US" sz="1300" dirty="0"/>
          </a:p>
        </p:txBody>
      </p:sp>
      <p:sp>
        <p:nvSpPr>
          <p:cNvPr id="19" name="Text 17"/>
          <p:cNvSpPr/>
          <p:nvPr/>
        </p:nvSpPr>
        <p:spPr>
          <a:xfrm>
            <a:off x="3154680" y="4709160"/>
            <a:ext cx="2377440" cy="457200"/>
          </a:xfrm>
          <a:prstGeom prst="rect">
            <a:avLst/>
          </a:prstGeom>
          <a:noFill/>
          <a:ln/>
        </p:spPr>
        <p:txBody>
          <a:bodyPr wrap="square" lIns="0" tIns="0" rIns="0" bIns="0" rtlCol="0" anchor="t"/>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Taux standardisé pour 100 000</a:t>
            </a:r>
            <a:endParaRPr lang="en-US" sz="1300" dirty="0"/>
          </a:p>
        </p:txBody>
      </p:sp>
      <p:sp>
        <p:nvSpPr>
          <p:cNvPr id="20" name="Shape 18"/>
          <p:cNvSpPr/>
          <p:nvPr/>
        </p:nvSpPr>
        <p:spPr>
          <a:xfrm>
            <a:off x="6217920" y="1554480"/>
            <a:ext cx="5349240" cy="3794760"/>
          </a:xfrm>
          <a:prstGeom prst="roundRect">
            <a:avLst>
              <a:gd name="adj" fmla="val 2169"/>
            </a:avLst>
          </a:prstGeom>
          <a:solidFill>
            <a:srgbClr val="ECEAE4"/>
          </a:solidFill>
          <a:ln w="12700">
            <a:solidFill>
              <a:srgbClr val="ECEAE4"/>
            </a:solidFill>
            <a:prstDash val="solid"/>
          </a:ln>
        </p:spPr>
        <p:txBody>
          <a:bodyPr/>
          <a:p/>
        </p:txBody>
      </p:sp>
      <p:sp>
        <p:nvSpPr>
          <p:cNvPr id="21" name="Text 19"/>
          <p:cNvSpPr/>
          <p:nvPr/>
        </p:nvSpPr>
        <p:spPr>
          <a:xfrm>
            <a:off x="6492240" y="1664208"/>
            <a:ext cx="4846320" cy="411480"/>
          </a:xfrm>
          <a:prstGeom prst="rect">
            <a:avLst/>
          </a:prstGeom>
          <a:noFill/>
          <a:ln/>
        </p:spPr>
        <p:txBody>
          <a:bodyPr wrap="square" lIns="0" tIns="0" rIns="0" bIns="0" rtlCol="0" anchor="t"/>
          <a:lstStyle/>
          <a:p>
            <a:pPr indent="0" marL="0">
              <a:buNone/>
            </a:pPr>
            <a:r>
              <a:rPr lang="en-US" sz="2100" b="1" dirty="0">
                <a:solidFill>
                  <a:srgbClr val="B02532"/>
                </a:solidFill>
                <a:latin typeface="Palatino Linotype" pitchFamily="34" charset="0"/>
                <a:ea typeface="Palatino Linotype" pitchFamily="34" charset="-122"/>
                <a:cs typeface="Palatino Linotype" pitchFamily="34" charset="-120"/>
              </a:rPr>
              <a:t>Cancer du poumon</a:t>
            </a:r>
            <a:endParaRPr lang="en-US" sz="2100" dirty="0"/>
          </a:p>
        </p:txBody>
      </p:sp>
      <p:sp>
        <p:nvSpPr>
          <p:cNvPr id="22" name="Shape 20"/>
          <p:cNvSpPr/>
          <p:nvPr/>
        </p:nvSpPr>
        <p:spPr>
          <a:xfrm>
            <a:off x="6720840" y="2564027"/>
            <a:ext cx="822960" cy="1779373"/>
          </a:xfrm>
          <a:prstGeom prst="rect">
            <a:avLst/>
          </a:prstGeom>
          <a:solidFill>
            <a:srgbClr val="B9B6AE"/>
          </a:solidFill>
          <a:ln w="12700">
            <a:solidFill>
              <a:srgbClr val="B9B6AE"/>
            </a:solidFill>
            <a:prstDash val="solid"/>
          </a:ln>
        </p:spPr>
        <p:txBody>
          <a:bodyPr/>
          <a:p/>
        </p:txBody>
      </p:sp>
      <p:sp>
        <p:nvSpPr>
          <p:cNvPr id="23" name="Text 21"/>
          <p:cNvSpPr/>
          <p:nvPr/>
        </p:nvSpPr>
        <p:spPr>
          <a:xfrm>
            <a:off x="6400800" y="2198267"/>
            <a:ext cx="1463040" cy="329184"/>
          </a:xfrm>
          <a:prstGeom prst="rect">
            <a:avLst/>
          </a:prstGeom>
          <a:noFill/>
          <a:ln/>
        </p:spPr>
        <p:txBody>
          <a:bodyPr wrap="square" lIns="0" tIns="0" rIns="0" bIns="0" rtlCol="0" anchor="t"/>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252 000</a:t>
            </a:r>
            <a:endParaRPr lang="en-US" sz="1500" dirty="0"/>
          </a:p>
        </p:txBody>
      </p:sp>
      <p:sp>
        <p:nvSpPr>
          <p:cNvPr id="24" name="Text 22"/>
          <p:cNvSpPr/>
          <p:nvPr/>
        </p:nvSpPr>
        <p:spPr>
          <a:xfrm>
            <a:off x="6537960" y="4398264"/>
            <a:ext cx="1188720" cy="274320"/>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2000</a:t>
            </a:r>
            <a:endParaRPr lang="en-US" sz="1300" dirty="0"/>
          </a:p>
        </p:txBody>
      </p:sp>
      <p:sp>
        <p:nvSpPr>
          <p:cNvPr id="25" name="Shape 23"/>
          <p:cNvSpPr/>
          <p:nvPr/>
        </p:nvSpPr>
        <p:spPr>
          <a:xfrm>
            <a:off x="7726680" y="2514600"/>
            <a:ext cx="822960" cy="1828800"/>
          </a:xfrm>
          <a:prstGeom prst="rect">
            <a:avLst/>
          </a:prstGeom>
          <a:solidFill>
            <a:srgbClr val="B02532"/>
          </a:solidFill>
          <a:ln w="12700">
            <a:solidFill>
              <a:srgbClr val="B02532"/>
            </a:solidFill>
            <a:prstDash val="solid"/>
          </a:ln>
        </p:spPr>
        <p:txBody>
          <a:bodyPr/>
          <a:p/>
        </p:txBody>
      </p:sp>
      <p:sp>
        <p:nvSpPr>
          <p:cNvPr id="26" name="Text 24"/>
          <p:cNvSpPr/>
          <p:nvPr/>
        </p:nvSpPr>
        <p:spPr>
          <a:xfrm>
            <a:off x="7406640" y="2148840"/>
            <a:ext cx="1463040" cy="329184"/>
          </a:xfrm>
          <a:prstGeom prst="rect">
            <a:avLst/>
          </a:prstGeom>
          <a:noFill/>
          <a:ln/>
        </p:spPr>
        <p:txBody>
          <a:bodyPr wrap="square" lIns="0" tIns="0" rIns="0" bIns="0" rtlCol="0" anchor="t"/>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259 000</a:t>
            </a:r>
            <a:endParaRPr lang="en-US" sz="1500" dirty="0"/>
          </a:p>
        </p:txBody>
      </p:sp>
      <p:sp>
        <p:nvSpPr>
          <p:cNvPr id="27" name="Text 25"/>
          <p:cNvSpPr/>
          <p:nvPr/>
        </p:nvSpPr>
        <p:spPr>
          <a:xfrm>
            <a:off x="7543800" y="4398264"/>
            <a:ext cx="1188720" cy="274320"/>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2023</a:t>
            </a:r>
            <a:endParaRPr lang="en-US" sz="1300" dirty="0"/>
          </a:p>
        </p:txBody>
      </p:sp>
      <p:sp>
        <p:nvSpPr>
          <p:cNvPr id="28" name="Text 26"/>
          <p:cNvSpPr/>
          <p:nvPr/>
        </p:nvSpPr>
        <p:spPr>
          <a:xfrm>
            <a:off x="6355080" y="4709160"/>
            <a:ext cx="2377440" cy="457200"/>
          </a:xfrm>
          <a:prstGeom prst="rect">
            <a:avLst/>
          </a:prstGeom>
          <a:noFill/>
          <a:ln/>
        </p:spPr>
        <p:txBody>
          <a:bodyPr wrap="square" lIns="0" tIns="0" rIns="0" bIns="0" rtlCol="0" anchor="t"/>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DALY, nombre</a:t>
            </a:r>
            <a:endParaRPr lang="en-US" sz="1300" dirty="0"/>
          </a:p>
        </p:txBody>
      </p:sp>
      <p:sp>
        <p:nvSpPr>
          <p:cNvPr id="29" name="Shape 27"/>
          <p:cNvSpPr/>
          <p:nvPr/>
        </p:nvSpPr>
        <p:spPr>
          <a:xfrm>
            <a:off x="9144000" y="2514600"/>
            <a:ext cx="822960" cy="1828800"/>
          </a:xfrm>
          <a:prstGeom prst="rect">
            <a:avLst/>
          </a:prstGeom>
          <a:solidFill>
            <a:srgbClr val="B9B6AE"/>
          </a:solidFill>
          <a:ln w="12700">
            <a:solidFill>
              <a:srgbClr val="B9B6AE"/>
            </a:solidFill>
            <a:prstDash val="solid"/>
          </a:ln>
        </p:spPr>
        <p:txBody>
          <a:bodyPr/>
          <a:p/>
        </p:txBody>
      </p:sp>
      <p:sp>
        <p:nvSpPr>
          <p:cNvPr id="30" name="Text 28"/>
          <p:cNvSpPr/>
          <p:nvPr/>
        </p:nvSpPr>
        <p:spPr>
          <a:xfrm>
            <a:off x="8823960" y="2148840"/>
            <a:ext cx="1463040" cy="329184"/>
          </a:xfrm>
          <a:prstGeom prst="rect">
            <a:avLst/>
          </a:prstGeom>
          <a:noFill/>
          <a:ln/>
        </p:spPr>
        <p:txBody>
          <a:bodyPr wrap="square" lIns="0" tIns="0" rIns="0" bIns="0" rtlCol="0" anchor="t"/>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825,4</a:t>
            </a:r>
            <a:endParaRPr lang="en-US" sz="1500" dirty="0"/>
          </a:p>
        </p:txBody>
      </p:sp>
      <p:sp>
        <p:nvSpPr>
          <p:cNvPr id="31" name="Text 29"/>
          <p:cNvSpPr/>
          <p:nvPr/>
        </p:nvSpPr>
        <p:spPr>
          <a:xfrm>
            <a:off x="8961120" y="4398264"/>
            <a:ext cx="1188720" cy="274320"/>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2000</a:t>
            </a:r>
            <a:endParaRPr lang="en-US" sz="1300" dirty="0"/>
          </a:p>
        </p:txBody>
      </p:sp>
      <p:sp>
        <p:nvSpPr>
          <p:cNvPr id="32" name="Shape 30"/>
          <p:cNvSpPr/>
          <p:nvPr/>
        </p:nvSpPr>
        <p:spPr>
          <a:xfrm>
            <a:off x="10149840" y="2688529"/>
            <a:ext cx="822960" cy="1654871"/>
          </a:xfrm>
          <a:prstGeom prst="rect">
            <a:avLst/>
          </a:prstGeom>
          <a:solidFill>
            <a:srgbClr val="B02532"/>
          </a:solidFill>
          <a:ln w="12700">
            <a:solidFill>
              <a:srgbClr val="B02532"/>
            </a:solidFill>
            <a:prstDash val="solid"/>
          </a:ln>
        </p:spPr>
        <p:txBody>
          <a:bodyPr/>
          <a:p/>
        </p:txBody>
      </p:sp>
      <p:sp>
        <p:nvSpPr>
          <p:cNvPr id="33" name="Text 31"/>
          <p:cNvSpPr/>
          <p:nvPr/>
        </p:nvSpPr>
        <p:spPr>
          <a:xfrm>
            <a:off x="9829800" y="2322769"/>
            <a:ext cx="1463040" cy="329184"/>
          </a:xfrm>
          <a:prstGeom prst="rect">
            <a:avLst/>
          </a:prstGeom>
          <a:noFill/>
          <a:ln/>
        </p:spPr>
        <p:txBody>
          <a:bodyPr wrap="square" lIns="0" tIns="0" rIns="0" bIns="0" rtlCol="0" anchor="t"/>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746,9</a:t>
            </a:r>
            <a:endParaRPr lang="en-US" sz="1500" dirty="0"/>
          </a:p>
        </p:txBody>
      </p:sp>
      <p:sp>
        <p:nvSpPr>
          <p:cNvPr id="34" name="Text 32"/>
          <p:cNvSpPr/>
          <p:nvPr/>
        </p:nvSpPr>
        <p:spPr>
          <a:xfrm>
            <a:off x="9966960" y="4398264"/>
            <a:ext cx="1188720" cy="274320"/>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2023</a:t>
            </a:r>
            <a:endParaRPr lang="en-US" sz="1300" dirty="0"/>
          </a:p>
        </p:txBody>
      </p:sp>
      <p:sp>
        <p:nvSpPr>
          <p:cNvPr id="35" name="Text 33"/>
          <p:cNvSpPr/>
          <p:nvPr/>
        </p:nvSpPr>
        <p:spPr>
          <a:xfrm>
            <a:off x="8778240" y="4709160"/>
            <a:ext cx="2377440" cy="457200"/>
          </a:xfrm>
          <a:prstGeom prst="rect">
            <a:avLst/>
          </a:prstGeom>
          <a:noFill/>
          <a:ln/>
        </p:spPr>
        <p:txBody>
          <a:bodyPr wrap="square" lIns="0" tIns="0" rIns="0" bIns="0" rtlCol="0" anchor="t"/>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Taux standardisé pour 100 000</a:t>
            </a:r>
            <a:endParaRPr lang="en-US" sz="1300" dirty="0"/>
          </a:p>
        </p:txBody>
      </p:sp>
      <p:sp>
        <p:nvSpPr>
          <p:cNvPr id="36" name="Text 34"/>
          <p:cNvSpPr/>
          <p:nvPr/>
        </p:nvSpPr>
        <p:spPr>
          <a:xfrm>
            <a:off x="594360" y="5532120"/>
            <a:ext cx="10972800" cy="54864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Le taux standardisé élimine l’effet de l’âge ; c’est pourquoi les comparaisons dans le temps et entre pays se font sur lui.</a:t>
            </a:r>
            <a:endParaRPr lang="en-US" sz="1700" dirty="0"/>
          </a:p>
        </p:txBody>
      </p:sp>
      <p:sp>
        <p:nvSpPr>
          <p:cNvPr id="37" name="Text 35"/>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Roumanie, les deux sexes, tous les âges. Source : GBD 2023, IHME, interrogé le 17.10.2026.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DALY STANDARDISÉS SELON L’ÂGE, POUR 100 000 HABITANTS, 2023</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Quatre territoires, avec les intervalles d’incertitude</a:t>
            </a:r>
            <a:endParaRPr lang="en-US" sz="3000" dirty="0"/>
          </a:p>
        </p:txBody>
      </p:sp>
      <p:sp>
        <p:nvSpPr>
          <p:cNvPr id="4" name="Shape 2"/>
          <p:cNvSpPr/>
          <p:nvPr/>
        </p:nvSpPr>
        <p:spPr>
          <a:xfrm>
            <a:off x="594360" y="1554480"/>
            <a:ext cx="10972800" cy="795528"/>
          </a:xfrm>
          <a:prstGeom prst="roundRect">
            <a:avLst>
              <a:gd name="adj" fmla="val 10345"/>
            </a:avLst>
          </a:prstGeom>
          <a:solidFill>
            <a:srgbClr val="ECEAE4"/>
          </a:solidFill>
          <a:ln w="12700">
            <a:solidFill>
              <a:srgbClr val="ECEAE4"/>
            </a:solidFill>
            <a:prstDash val="solid"/>
          </a:ln>
        </p:spPr>
        <p:txBody>
          <a:bodyPr/>
          <a:p/>
        </p:txBody>
      </p:sp>
      <p:sp>
        <p:nvSpPr>
          <p:cNvPr id="5" name="Text 3"/>
          <p:cNvSpPr/>
          <p:nvPr/>
        </p:nvSpPr>
        <p:spPr>
          <a:xfrm>
            <a:off x="822960" y="1554480"/>
            <a:ext cx="3291840" cy="795528"/>
          </a:xfrm>
          <a:prstGeom prst="rect">
            <a:avLst/>
          </a:prstGeom>
          <a:noFill/>
          <a:ln/>
        </p:spPr>
        <p:txBody>
          <a:bodyPr wrap="square" lIns="0" tIns="0" rIns="0" bIns="0" rtlCol="0" anchor="ctr"/>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Roumanie  </a:t>
            </a:r>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26 531,7</a:t>
            </a:r>
            <a:endParaRPr lang="en-US" sz="1800" dirty="0"/>
          </a:p>
          <a:p>
            <a:pPr indent="0" marL="0">
              <a:buNone/>
            </a:pPr>
            <a:r>
              <a:rPr lang="en-US" sz="800" dirty="0">
                <a:solidFill>
                  <a:srgbClr val="000000"/>
                </a:solidFill>
                <a:latin typeface="Palatino Linotype" pitchFamily="34" charset="0"/>
                <a:ea typeface="Palatino Linotype" pitchFamily="34" charset="-122"/>
                <a:cs typeface="Palatino Linotype" pitchFamily="34" charset="-120"/>
              </a:rPr>
              <a:t> </a:t>
            </a:r>
            <a:endParaRPr lang="en-US" sz="1800" dirty="0"/>
          </a:p>
        </p:txBody>
      </p:sp>
      <p:sp>
        <p:nvSpPr>
          <p:cNvPr id="6" name="Shape 4"/>
          <p:cNvSpPr/>
          <p:nvPr/>
        </p:nvSpPr>
        <p:spPr>
          <a:xfrm>
            <a:off x="6417833" y="1737360"/>
            <a:ext cx="1903165" cy="164592"/>
          </a:xfrm>
          <a:prstGeom prst="rect">
            <a:avLst/>
          </a:prstGeom>
          <a:solidFill>
            <a:srgbClr val="B02532"/>
          </a:solidFill>
          <a:ln w="12700">
            <a:solidFill>
              <a:srgbClr val="B02532"/>
            </a:solidFill>
            <a:prstDash val="solid"/>
          </a:ln>
        </p:spPr>
        <p:txBody>
          <a:bodyPr/>
          <a:p/>
        </p:txBody>
      </p:sp>
      <p:sp>
        <p:nvSpPr>
          <p:cNvPr id="7" name="Shape 5"/>
          <p:cNvSpPr/>
          <p:nvPr/>
        </p:nvSpPr>
        <p:spPr>
          <a:xfrm>
            <a:off x="7107400" y="1682496"/>
            <a:ext cx="274320" cy="274320"/>
          </a:xfrm>
          <a:prstGeom prst="ellipse">
            <a:avLst/>
          </a:prstGeom>
          <a:solidFill>
            <a:srgbClr val="11121A"/>
          </a:solidFill>
          <a:ln w="12700">
            <a:solidFill>
              <a:srgbClr val="F6F5F2"/>
            </a:solidFill>
            <a:prstDash val="solid"/>
          </a:ln>
        </p:spPr>
        <p:txBody>
          <a:bodyPr/>
          <a:p/>
        </p:txBody>
      </p:sp>
      <p:sp>
        <p:nvSpPr>
          <p:cNvPr id="8" name="Text 6"/>
          <p:cNvSpPr/>
          <p:nvPr/>
        </p:nvSpPr>
        <p:spPr>
          <a:xfrm>
            <a:off x="6417833" y="1984248"/>
            <a:ext cx="2926080" cy="274320"/>
          </a:xfrm>
          <a:prstGeom prst="rect">
            <a:avLst/>
          </a:prstGeom>
          <a:noFill/>
          <a:ln/>
        </p:spPr>
        <p:txBody>
          <a:bodyPr wrap="square" lIns="0" tIns="0" rIns="0" bIns="0" rtlCol="0" anchor="t"/>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24 013,9–29 810,0</a:t>
            </a:r>
            <a:endParaRPr lang="en-US" sz="1300" dirty="0"/>
          </a:p>
        </p:txBody>
      </p:sp>
      <p:sp>
        <p:nvSpPr>
          <p:cNvPr id="9" name="Shape 7"/>
          <p:cNvSpPr/>
          <p:nvPr/>
        </p:nvSpPr>
        <p:spPr>
          <a:xfrm>
            <a:off x="594360" y="2441448"/>
            <a:ext cx="10972800" cy="795528"/>
          </a:xfrm>
          <a:prstGeom prst="roundRect">
            <a:avLst>
              <a:gd name="adj" fmla="val 10345"/>
            </a:avLst>
          </a:prstGeom>
          <a:solidFill>
            <a:srgbClr val="ECEAE4"/>
          </a:solidFill>
          <a:ln w="12700">
            <a:solidFill>
              <a:srgbClr val="ECEAE4"/>
            </a:solidFill>
            <a:prstDash val="solid"/>
          </a:ln>
        </p:spPr>
        <p:txBody>
          <a:bodyPr/>
          <a:p/>
        </p:txBody>
      </p:sp>
      <p:sp>
        <p:nvSpPr>
          <p:cNvPr id="10" name="Text 8"/>
          <p:cNvSpPr/>
          <p:nvPr/>
        </p:nvSpPr>
        <p:spPr>
          <a:xfrm>
            <a:off x="822960" y="2441448"/>
            <a:ext cx="3291840" cy="795528"/>
          </a:xfrm>
          <a:prstGeom prst="rect">
            <a:avLst/>
          </a:prstGeom>
          <a:noFill/>
          <a:ln/>
        </p:spPr>
        <p:txBody>
          <a:bodyPr wrap="square" lIns="0" tIns="0" rIns="0" bIns="0" rtlCol="0" anchor="ctr"/>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Allemagne  </a:t>
            </a:r>
            <a:pPr indent="0" marL="0">
              <a:buNone/>
            </a:pPr>
            <a:r>
              <a:rPr lang="en-US" sz="1900" b="1" dirty="0">
                <a:solidFill>
                  <a:srgbClr val="4A2D8C"/>
                </a:solidFill>
                <a:latin typeface="Palatino Linotype" pitchFamily="34" charset="0"/>
                <a:ea typeface="Palatino Linotype" pitchFamily="34" charset="-122"/>
                <a:cs typeface="Palatino Linotype" pitchFamily="34" charset="-120"/>
              </a:rPr>
              <a:t>21 185,4</a:t>
            </a:r>
            <a:endParaRPr lang="en-US" sz="1800" dirty="0"/>
          </a:p>
          <a:p>
            <a:pPr indent="0" marL="0">
              <a:buNone/>
            </a:pPr>
            <a:r>
              <a:rPr lang="en-US" sz="800" dirty="0">
                <a:solidFill>
                  <a:srgbClr val="000000"/>
                </a:solidFill>
                <a:latin typeface="Palatino Linotype" pitchFamily="34" charset="0"/>
                <a:ea typeface="Palatino Linotype" pitchFamily="34" charset="-122"/>
                <a:cs typeface="Palatino Linotype" pitchFamily="34" charset="-120"/>
              </a:rPr>
              <a:t> </a:t>
            </a:r>
            <a:endParaRPr lang="en-US" sz="1800" dirty="0"/>
          </a:p>
        </p:txBody>
      </p:sp>
      <p:sp>
        <p:nvSpPr>
          <p:cNvPr id="11" name="Shape 9"/>
          <p:cNvSpPr/>
          <p:nvPr/>
        </p:nvSpPr>
        <p:spPr>
          <a:xfrm>
            <a:off x="4614684" y="2624328"/>
            <a:ext cx="1934392" cy="164592"/>
          </a:xfrm>
          <a:prstGeom prst="rect">
            <a:avLst/>
          </a:prstGeom>
          <a:solidFill>
            <a:srgbClr val="4A2D8C"/>
          </a:solidFill>
          <a:ln w="12700">
            <a:solidFill>
              <a:srgbClr val="4A2D8C"/>
            </a:solidFill>
            <a:prstDash val="solid"/>
          </a:ln>
        </p:spPr>
        <p:txBody>
          <a:bodyPr/>
          <a:p/>
        </p:txBody>
      </p:sp>
      <p:sp>
        <p:nvSpPr>
          <p:cNvPr id="12" name="Shape 10"/>
          <p:cNvSpPr/>
          <p:nvPr/>
        </p:nvSpPr>
        <p:spPr>
          <a:xfrm>
            <a:off x="5351928" y="2569464"/>
            <a:ext cx="274320" cy="274320"/>
          </a:xfrm>
          <a:prstGeom prst="ellipse">
            <a:avLst/>
          </a:prstGeom>
          <a:solidFill>
            <a:srgbClr val="11121A"/>
          </a:solidFill>
          <a:ln w="12700">
            <a:solidFill>
              <a:srgbClr val="F6F5F2"/>
            </a:solidFill>
            <a:prstDash val="solid"/>
          </a:ln>
        </p:spPr>
        <p:txBody>
          <a:bodyPr/>
          <a:p/>
        </p:txBody>
      </p:sp>
      <p:sp>
        <p:nvSpPr>
          <p:cNvPr id="13" name="Text 11"/>
          <p:cNvSpPr/>
          <p:nvPr/>
        </p:nvSpPr>
        <p:spPr>
          <a:xfrm>
            <a:off x="4614684" y="2871216"/>
            <a:ext cx="2926080" cy="274320"/>
          </a:xfrm>
          <a:prstGeom prst="rect">
            <a:avLst/>
          </a:prstGeom>
          <a:noFill/>
          <a:ln/>
        </p:spPr>
        <p:txBody>
          <a:bodyPr wrap="square" lIns="0" tIns="0" rIns="0" bIns="0" rtlCol="0" anchor="t"/>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18 522,4–24 413,6</a:t>
            </a:r>
            <a:endParaRPr lang="en-US" sz="1300" dirty="0"/>
          </a:p>
        </p:txBody>
      </p:sp>
      <p:sp>
        <p:nvSpPr>
          <p:cNvPr id="14" name="Shape 12"/>
          <p:cNvSpPr/>
          <p:nvPr/>
        </p:nvSpPr>
        <p:spPr>
          <a:xfrm>
            <a:off x="594360" y="3328416"/>
            <a:ext cx="10972800" cy="795528"/>
          </a:xfrm>
          <a:prstGeom prst="roundRect">
            <a:avLst>
              <a:gd name="adj" fmla="val 10345"/>
            </a:avLst>
          </a:prstGeom>
          <a:solidFill>
            <a:srgbClr val="ECEAE4"/>
          </a:solidFill>
          <a:ln w="12700">
            <a:solidFill>
              <a:srgbClr val="ECEAE4"/>
            </a:solidFill>
            <a:prstDash val="solid"/>
          </a:ln>
        </p:spPr>
        <p:txBody>
          <a:bodyPr/>
          <a:p/>
        </p:txBody>
      </p:sp>
      <p:sp>
        <p:nvSpPr>
          <p:cNvPr id="15" name="Text 13"/>
          <p:cNvSpPr/>
          <p:nvPr/>
        </p:nvSpPr>
        <p:spPr>
          <a:xfrm>
            <a:off x="822960" y="3328416"/>
            <a:ext cx="3291840" cy="795528"/>
          </a:xfrm>
          <a:prstGeom prst="rect">
            <a:avLst/>
          </a:prstGeom>
          <a:noFill/>
          <a:ln/>
        </p:spPr>
        <p:txBody>
          <a:bodyPr wrap="square" lIns="0" tIns="0" rIns="0" bIns="0" rtlCol="0" anchor="ctr"/>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Union européenne  </a:t>
            </a:r>
            <a:pPr indent="0" marL="0">
              <a:buNone/>
            </a:pPr>
            <a:r>
              <a:rPr lang="en-US" sz="1900" b="1" dirty="0">
                <a:solidFill>
                  <a:srgbClr val="0E7C6B"/>
                </a:solidFill>
                <a:latin typeface="Palatino Linotype" pitchFamily="34" charset="0"/>
                <a:ea typeface="Palatino Linotype" pitchFamily="34" charset="-122"/>
                <a:cs typeface="Palatino Linotype" pitchFamily="34" charset="-120"/>
              </a:rPr>
              <a:t>21 110,4</a:t>
            </a:r>
            <a:endParaRPr lang="en-US" sz="1800" dirty="0"/>
          </a:p>
          <a:p>
            <a:pPr indent="0" marL="0">
              <a:buNone/>
            </a:pPr>
            <a:r>
              <a:rPr lang="en-US" sz="800" dirty="0">
                <a:solidFill>
                  <a:srgbClr val="000000"/>
                </a:solidFill>
                <a:latin typeface="Palatino Linotype" pitchFamily="34" charset="0"/>
                <a:ea typeface="Palatino Linotype" pitchFamily="34" charset="-122"/>
                <a:cs typeface="Palatino Linotype" pitchFamily="34" charset="-120"/>
              </a:rPr>
              <a:t> </a:t>
            </a:r>
            <a:endParaRPr lang="en-US" sz="1800" dirty="0"/>
          </a:p>
        </p:txBody>
      </p:sp>
      <p:sp>
        <p:nvSpPr>
          <p:cNvPr id="16" name="Shape 14"/>
          <p:cNvSpPr/>
          <p:nvPr/>
        </p:nvSpPr>
        <p:spPr>
          <a:xfrm>
            <a:off x="4578631" y="3511296"/>
            <a:ext cx="1960922" cy="164592"/>
          </a:xfrm>
          <a:prstGeom prst="rect">
            <a:avLst/>
          </a:prstGeom>
          <a:solidFill>
            <a:srgbClr val="0E7C6B"/>
          </a:solidFill>
          <a:ln w="12700">
            <a:solidFill>
              <a:srgbClr val="0E7C6B"/>
            </a:solidFill>
            <a:prstDash val="solid"/>
          </a:ln>
        </p:spPr>
        <p:txBody>
          <a:bodyPr/>
          <a:p/>
        </p:txBody>
      </p:sp>
      <p:sp>
        <p:nvSpPr>
          <p:cNvPr id="17" name="Shape 15"/>
          <p:cNvSpPr/>
          <p:nvPr/>
        </p:nvSpPr>
        <p:spPr>
          <a:xfrm>
            <a:off x="5327301" y="3456432"/>
            <a:ext cx="274320" cy="274320"/>
          </a:xfrm>
          <a:prstGeom prst="ellipse">
            <a:avLst/>
          </a:prstGeom>
          <a:solidFill>
            <a:srgbClr val="11121A"/>
          </a:solidFill>
          <a:ln w="12700">
            <a:solidFill>
              <a:srgbClr val="F6F5F2"/>
            </a:solidFill>
            <a:prstDash val="solid"/>
          </a:ln>
        </p:spPr>
        <p:txBody>
          <a:bodyPr/>
          <a:p/>
        </p:txBody>
      </p:sp>
      <p:sp>
        <p:nvSpPr>
          <p:cNvPr id="18" name="Text 16"/>
          <p:cNvSpPr/>
          <p:nvPr/>
        </p:nvSpPr>
        <p:spPr>
          <a:xfrm>
            <a:off x="4578631" y="3758184"/>
            <a:ext cx="2926080" cy="274320"/>
          </a:xfrm>
          <a:prstGeom prst="rect">
            <a:avLst/>
          </a:prstGeom>
          <a:noFill/>
          <a:ln/>
        </p:spPr>
        <p:txBody>
          <a:bodyPr wrap="square" lIns="0" tIns="0" rIns="0" bIns="0" rtlCol="0" anchor="t"/>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18 412,6–24 384,6</a:t>
            </a:r>
            <a:endParaRPr lang="en-US" sz="1300" dirty="0"/>
          </a:p>
        </p:txBody>
      </p:sp>
      <p:sp>
        <p:nvSpPr>
          <p:cNvPr id="19" name="Shape 17"/>
          <p:cNvSpPr/>
          <p:nvPr/>
        </p:nvSpPr>
        <p:spPr>
          <a:xfrm>
            <a:off x="594360" y="4215384"/>
            <a:ext cx="10972800" cy="795528"/>
          </a:xfrm>
          <a:prstGeom prst="roundRect">
            <a:avLst>
              <a:gd name="adj" fmla="val 10345"/>
            </a:avLst>
          </a:prstGeom>
          <a:solidFill>
            <a:srgbClr val="ECEAE4"/>
          </a:solidFill>
          <a:ln w="12700">
            <a:solidFill>
              <a:srgbClr val="ECEAE4"/>
            </a:solidFill>
            <a:prstDash val="solid"/>
          </a:ln>
        </p:spPr>
        <p:txBody>
          <a:bodyPr/>
          <a:p/>
        </p:txBody>
      </p:sp>
      <p:sp>
        <p:nvSpPr>
          <p:cNvPr id="20" name="Text 18"/>
          <p:cNvSpPr/>
          <p:nvPr/>
        </p:nvSpPr>
        <p:spPr>
          <a:xfrm>
            <a:off x="822960" y="4215384"/>
            <a:ext cx="3291840" cy="795528"/>
          </a:xfrm>
          <a:prstGeom prst="rect">
            <a:avLst/>
          </a:prstGeom>
          <a:noFill/>
          <a:ln/>
        </p:spPr>
        <p:txBody>
          <a:bodyPr wrap="square" lIns="0" tIns="0" rIns="0" bIns="0" rtlCol="0" anchor="ctr"/>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Monde  </a:t>
            </a:r>
            <a:pPr indent="0" marL="0">
              <a:buNone/>
            </a:pPr>
            <a:r>
              <a:rPr lang="en-US" sz="1900" b="1" dirty="0">
                <a:solidFill>
                  <a:srgbClr val="6C6F7E"/>
                </a:solidFill>
                <a:latin typeface="Palatino Linotype" pitchFamily="34" charset="0"/>
                <a:ea typeface="Palatino Linotype" pitchFamily="34" charset="-122"/>
                <a:cs typeface="Palatino Linotype" pitchFamily="34" charset="-120"/>
              </a:rPr>
              <a:t>34 326,6</a:t>
            </a:r>
            <a:endParaRPr lang="en-US" sz="1800" dirty="0"/>
          </a:p>
          <a:p>
            <a:pPr indent="0" marL="0">
              <a:buNone/>
            </a:pPr>
            <a:r>
              <a:rPr lang="en-US" sz="800" dirty="0">
                <a:solidFill>
                  <a:srgbClr val="000000"/>
                </a:solidFill>
                <a:latin typeface="Palatino Linotype" pitchFamily="34" charset="0"/>
                <a:ea typeface="Palatino Linotype" pitchFamily="34" charset="-122"/>
                <a:cs typeface="Palatino Linotype" pitchFamily="34" charset="-120"/>
              </a:rPr>
              <a:t> </a:t>
            </a:r>
            <a:endParaRPr lang="en-US" sz="1800" dirty="0"/>
          </a:p>
        </p:txBody>
      </p:sp>
      <p:sp>
        <p:nvSpPr>
          <p:cNvPr id="21" name="Shape 19"/>
          <p:cNvSpPr/>
          <p:nvPr/>
        </p:nvSpPr>
        <p:spPr>
          <a:xfrm>
            <a:off x="8905762" y="4398264"/>
            <a:ext cx="2004462" cy="164592"/>
          </a:xfrm>
          <a:prstGeom prst="rect">
            <a:avLst/>
          </a:prstGeom>
          <a:solidFill>
            <a:srgbClr val="6C6F7E"/>
          </a:solidFill>
          <a:ln w="12700">
            <a:solidFill>
              <a:srgbClr val="6C6F7E"/>
            </a:solidFill>
            <a:prstDash val="solid"/>
          </a:ln>
        </p:spPr>
        <p:txBody>
          <a:bodyPr/>
          <a:p/>
        </p:txBody>
      </p:sp>
      <p:sp>
        <p:nvSpPr>
          <p:cNvPr id="22" name="Shape 20"/>
          <p:cNvSpPr/>
          <p:nvPr/>
        </p:nvSpPr>
        <p:spPr>
          <a:xfrm>
            <a:off x="9666876" y="4343400"/>
            <a:ext cx="274320" cy="274320"/>
          </a:xfrm>
          <a:prstGeom prst="ellipse">
            <a:avLst/>
          </a:prstGeom>
          <a:solidFill>
            <a:srgbClr val="11121A"/>
          </a:solidFill>
          <a:ln w="12700">
            <a:solidFill>
              <a:srgbClr val="F6F5F2"/>
            </a:solidFill>
            <a:prstDash val="solid"/>
          </a:ln>
        </p:spPr>
        <p:txBody>
          <a:bodyPr/>
          <a:p/>
        </p:txBody>
      </p:sp>
      <p:sp>
        <p:nvSpPr>
          <p:cNvPr id="23" name="Text 21"/>
          <p:cNvSpPr/>
          <p:nvPr/>
        </p:nvSpPr>
        <p:spPr>
          <a:xfrm>
            <a:off x="8905762" y="4645152"/>
            <a:ext cx="2926080" cy="274320"/>
          </a:xfrm>
          <a:prstGeom prst="rect">
            <a:avLst/>
          </a:prstGeom>
          <a:noFill/>
          <a:ln/>
        </p:spPr>
        <p:txBody>
          <a:bodyPr wrap="square" lIns="0" tIns="0" rIns="0" bIns="0" rtlCol="0" anchor="t"/>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31 590,9–37 695,5</a:t>
            </a:r>
            <a:endParaRPr lang="en-US" sz="1300" dirty="0"/>
          </a:p>
        </p:txBody>
      </p:sp>
      <p:sp>
        <p:nvSpPr>
          <p:cNvPr id="24" name="Shape 22"/>
          <p:cNvSpPr/>
          <p:nvPr/>
        </p:nvSpPr>
        <p:spPr>
          <a:xfrm>
            <a:off x="594360" y="5212080"/>
            <a:ext cx="10972800" cy="868680"/>
          </a:xfrm>
          <a:prstGeom prst="roundRect">
            <a:avLst>
              <a:gd name="adj" fmla="val 9474"/>
            </a:avLst>
          </a:prstGeom>
          <a:solidFill>
            <a:srgbClr val="1D1F2B"/>
          </a:solidFill>
          <a:ln w="12700">
            <a:solidFill>
              <a:srgbClr val="1D1F2B"/>
            </a:solidFill>
            <a:prstDash val="solid"/>
          </a:ln>
        </p:spPr>
        <p:txBody>
          <a:bodyPr/>
          <a:p/>
        </p:txBody>
      </p:sp>
      <p:sp>
        <p:nvSpPr>
          <p:cNvPr id="25" name="Text 23"/>
          <p:cNvSpPr/>
          <p:nvPr/>
        </p:nvSpPr>
        <p:spPr>
          <a:xfrm>
            <a:off x="868680" y="5212080"/>
            <a:ext cx="10424160" cy="86868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Du chevauchement de deux intervalles, on ne peut conclure ni que la différence est réelle, ni que les valeurs sont égales.</a:t>
            </a:r>
            <a:endParaRPr lang="en-US" sz="1800" dirty="0"/>
          </a:p>
        </p:txBody>
      </p:sp>
      <p:sp>
        <p:nvSpPr>
          <p:cNvPr id="26" name="Text 24"/>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Barre : intervalle d’incertitude ; point : estimation centrale. Source : GBD 2023, IHME, 17.10.2026.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ROUMANIE · 2023</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La liste des causes dépend de l’âge</a:t>
            </a:r>
            <a:endParaRPr lang="en-US" sz="3000" dirty="0"/>
          </a:p>
        </p:txBody>
      </p:sp>
      <p:sp>
        <p:nvSpPr>
          <p:cNvPr id="4" name="Text 2"/>
          <p:cNvSpPr/>
          <p:nvPr/>
        </p:nvSpPr>
        <p:spPr>
          <a:xfrm>
            <a:off x="594360" y="1371600"/>
            <a:ext cx="10972800" cy="320040"/>
          </a:xfrm>
          <a:prstGeom prst="rect">
            <a:avLst/>
          </a:prstGeom>
          <a:noFill/>
          <a:ln/>
        </p:spPr>
        <p:txBody>
          <a:bodyPr wrap="square" lIns="0" tIns="0" rIns="0" bIns="0" rtlCol="0" anchor="t"/>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 années perdues par décès (YLL)   </a:t>
            </a:r>
            <a:pPr indent="0" marL="0">
              <a:buNone/>
            </a:pPr>
            <a:r>
              <a:rPr lang="en-US" sz="1400" b="1" dirty="0">
                <a:solidFill>
                  <a:srgbClr val="0E7C6B"/>
                </a:solidFill>
                <a:latin typeface="Palatino Linotype" pitchFamily="34" charset="0"/>
                <a:ea typeface="Palatino Linotype" pitchFamily="34" charset="-122"/>
                <a:cs typeface="Palatino Linotype" pitchFamily="34" charset="-120"/>
              </a:rPr>
              <a:t>■ années vécues avec une incapacité (YLD)</a:t>
            </a:r>
            <a:endParaRPr lang="en-US" sz="1400" dirty="0"/>
          </a:p>
        </p:txBody>
      </p:sp>
      <p:sp>
        <p:nvSpPr>
          <p:cNvPr id="5" name="Shape 3"/>
          <p:cNvSpPr/>
          <p:nvPr/>
        </p:nvSpPr>
        <p:spPr>
          <a:xfrm>
            <a:off x="594360" y="1828800"/>
            <a:ext cx="5349240" cy="3108960"/>
          </a:xfrm>
          <a:prstGeom prst="roundRect">
            <a:avLst>
              <a:gd name="adj" fmla="val 2647"/>
            </a:avLst>
          </a:prstGeom>
          <a:solidFill>
            <a:srgbClr val="ECEAE4"/>
          </a:solidFill>
          <a:ln w="12700">
            <a:solidFill>
              <a:srgbClr val="ECEAE4"/>
            </a:solidFill>
            <a:prstDash val="solid"/>
          </a:ln>
        </p:spPr>
        <p:txBody>
          <a:bodyPr/>
          <a:p/>
        </p:txBody>
      </p:sp>
      <p:sp>
        <p:nvSpPr>
          <p:cNvPr id="6" name="Text 4"/>
          <p:cNvSpPr/>
          <p:nvPr/>
        </p:nvSpPr>
        <p:spPr>
          <a:xfrm>
            <a:off x="868680" y="1938528"/>
            <a:ext cx="4846320" cy="411480"/>
          </a:xfrm>
          <a:prstGeom prst="rect">
            <a:avLst/>
          </a:prstGeom>
          <a:noFill/>
          <a:ln/>
        </p:spPr>
        <p:txBody>
          <a:bodyPr wrap="square" lIns="0" tIns="0" rIns="0" bIns="0" rtlCol="0" anchor="t"/>
          <a:lstStyle/>
          <a:p>
            <a:pPr indent="0" marL="0">
              <a:buNone/>
            </a:pPr>
            <a:r>
              <a:rPr lang="en-US" sz="2100" b="1" dirty="0">
                <a:solidFill>
                  <a:srgbClr val="11121A"/>
                </a:solidFill>
                <a:latin typeface="Palatino Linotype" pitchFamily="34" charset="0"/>
                <a:ea typeface="Palatino Linotype" pitchFamily="34" charset="-122"/>
                <a:cs typeface="Palatino Linotype" pitchFamily="34" charset="-120"/>
              </a:rPr>
              <a:t>À 15–49 ans</a:t>
            </a:r>
            <a:endParaRPr lang="en-US" sz="2100" dirty="0"/>
          </a:p>
        </p:txBody>
      </p:sp>
      <p:sp>
        <p:nvSpPr>
          <p:cNvPr id="7" name="Shape 5"/>
          <p:cNvSpPr/>
          <p:nvPr/>
        </p:nvSpPr>
        <p:spPr>
          <a:xfrm>
            <a:off x="868680" y="2514600"/>
            <a:ext cx="2107580" cy="640080"/>
          </a:xfrm>
          <a:prstGeom prst="rect">
            <a:avLst/>
          </a:prstGeom>
          <a:solidFill>
            <a:srgbClr val="FF4757"/>
          </a:solidFill>
          <a:ln w="12700">
            <a:solidFill>
              <a:srgbClr val="FF4757"/>
            </a:solidFill>
            <a:prstDash val="solid"/>
          </a:ln>
        </p:spPr>
        <p:txBody>
          <a:bodyPr/>
          <a:p/>
        </p:txBody>
      </p:sp>
      <p:sp>
        <p:nvSpPr>
          <p:cNvPr id="8" name="Shape 6"/>
          <p:cNvSpPr/>
          <p:nvPr/>
        </p:nvSpPr>
        <p:spPr>
          <a:xfrm>
            <a:off x="2976260" y="2514600"/>
            <a:ext cx="2693020" cy="640080"/>
          </a:xfrm>
          <a:prstGeom prst="rect">
            <a:avLst/>
          </a:prstGeom>
          <a:solidFill>
            <a:srgbClr val="07564B"/>
          </a:solidFill>
          <a:ln w="12700">
            <a:solidFill>
              <a:srgbClr val="07564B"/>
            </a:solidFill>
            <a:prstDash val="solid"/>
          </a:ln>
        </p:spPr>
        <p:txBody>
          <a:bodyPr/>
          <a:p/>
        </p:txBody>
      </p:sp>
      <p:sp>
        <p:nvSpPr>
          <p:cNvPr id="9" name="Text 7"/>
          <p:cNvSpPr/>
          <p:nvPr/>
        </p:nvSpPr>
        <p:spPr>
          <a:xfrm>
            <a:off x="868680" y="2514600"/>
            <a:ext cx="2107580" cy="640080"/>
          </a:xfrm>
          <a:prstGeom prst="rect">
            <a:avLst/>
          </a:prstGeom>
          <a:noFill/>
          <a:ln/>
        </p:spPr>
        <p:txBody>
          <a:bodyPr wrap="square" lIns="0" tIns="0" rIns="0" bIns="0" rtlCol="0" anchor="ctr"/>
          <a:lstStyle/>
          <a:p>
            <a:pPr algn="ctr" indent="0" marL="0">
              <a:buNone/>
            </a:pPr>
            <a:r>
              <a:rPr lang="en-US" sz="1500" b="1" dirty="0">
                <a:solidFill>
                  <a:srgbClr val="2E060B"/>
                </a:solidFill>
                <a:latin typeface="Palatino Linotype" pitchFamily="34" charset="0"/>
                <a:ea typeface="Palatino Linotype" pitchFamily="34" charset="-122"/>
                <a:cs typeface="Palatino Linotype" pitchFamily="34" charset="-120"/>
              </a:rPr>
              <a:t>684 000</a:t>
            </a:r>
            <a:endParaRPr lang="en-US" sz="1500" dirty="0"/>
          </a:p>
        </p:txBody>
      </p:sp>
      <p:sp>
        <p:nvSpPr>
          <p:cNvPr id="10" name="Text 8"/>
          <p:cNvSpPr/>
          <p:nvPr/>
        </p:nvSpPr>
        <p:spPr>
          <a:xfrm>
            <a:off x="2976260" y="2514600"/>
            <a:ext cx="269302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874 000</a:t>
            </a:r>
            <a:endParaRPr lang="en-US" sz="1500" dirty="0"/>
          </a:p>
        </p:txBody>
      </p:sp>
      <p:sp>
        <p:nvSpPr>
          <p:cNvPr id="11" name="Text 9"/>
          <p:cNvSpPr/>
          <p:nvPr/>
        </p:nvSpPr>
        <p:spPr>
          <a:xfrm>
            <a:off x="868680" y="3429000"/>
            <a:ext cx="4846320" cy="13716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1. Lombalgie · 8,7 %</a:t>
            </a:r>
            <a:endParaRPr lang="en-US" sz="1600" dirty="0"/>
          </a:p>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2. Cardiopathie ischémique · 4,5 %</a:t>
            </a:r>
            <a:endParaRPr lang="en-US" sz="1600" dirty="0"/>
          </a:p>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3. Chutes · 4,4 %</a:t>
            </a:r>
            <a:endParaRPr lang="en-US" sz="1600" dirty="0"/>
          </a:p>
        </p:txBody>
      </p:sp>
      <p:sp>
        <p:nvSpPr>
          <p:cNvPr id="12" name="Shape 10"/>
          <p:cNvSpPr/>
          <p:nvPr/>
        </p:nvSpPr>
        <p:spPr>
          <a:xfrm>
            <a:off x="6217920" y="1828800"/>
            <a:ext cx="5349240" cy="3108960"/>
          </a:xfrm>
          <a:prstGeom prst="roundRect">
            <a:avLst>
              <a:gd name="adj" fmla="val 2647"/>
            </a:avLst>
          </a:prstGeom>
          <a:solidFill>
            <a:srgbClr val="ECEAE4"/>
          </a:solidFill>
          <a:ln w="12700">
            <a:solidFill>
              <a:srgbClr val="ECEAE4"/>
            </a:solidFill>
            <a:prstDash val="solid"/>
          </a:ln>
        </p:spPr>
        <p:txBody>
          <a:bodyPr/>
          <a:p/>
        </p:txBody>
      </p:sp>
      <p:sp>
        <p:nvSpPr>
          <p:cNvPr id="13" name="Text 11"/>
          <p:cNvSpPr/>
          <p:nvPr/>
        </p:nvSpPr>
        <p:spPr>
          <a:xfrm>
            <a:off x="6492240" y="1938528"/>
            <a:ext cx="4846320" cy="411480"/>
          </a:xfrm>
          <a:prstGeom prst="rect">
            <a:avLst/>
          </a:prstGeom>
          <a:noFill/>
          <a:ln/>
        </p:spPr>
        <p:txBody>
          <a:bodyPr wrap="square" lIns="0" tIns="0" rIns="0" bIns="0" rtlCol="0" anchor="t"/>
          <a:lstStyle/>
          <a:p>
            <a:pPr indent="0" marL="0">
              <a:buNone/>
            </a:pPr>
            <a:r>
              <a:rPr lang="en-US" sz="2100" b="1" dirty="0">
                <a:solidFill>
                  <a:srgbClr val="11121A"/>
                </a:solidFill>
                <a:latin typeface="Palatino Linotype" pitchFamily="34" charset="0"/>
                <a:ea typeface="Palatino Linotype" pitchFamily="34" charset="-122"/>
                <a:cs typeface="Palatino Linotype" pitchFamily="34" charset="-120"/>
              </a:rPr>
              <a:t>À 70 ans et plus</a:t>
            </a:r>
            <a:endParaRPr lang="en-US" sz="2100" dirty="0"/>
          </a:p>
        </p:txBody>
      </p:sp>
      <p:sp>
        <p:nvSpPr>
          <p:cNvPr id="14" name="Shape 12"/>
          <p:cNvSpPr/>
          <p:nvPr/>
        </p:nvSpPr>
        <p:spPr>
          <a:xfrm>
            <a:off x="6492240" y="2514600"/>
            <a:ext cx="3606626" cy="640080"/>
          </a:xfrm>
          <a:prstGeom prst="rect">
            <a:avLst/>
          </a:prstGeom>
          <a:solidFill>
            <a:srgbClr val="FF4757"/>
          </a:solidFill>
          <a:ln w="12700">
            <a:solidFill>
              <a:srgbClr val="FF4757"/>
            </a:solidFill>
            <a:prstDash val="solid"/>
          </a:ln>
        </p:spPr>
        <p:txBody>
          <a:bodyPr/>
          <a:p/>
        </p:txBody>
      </p:sp>
      <p:sp>
        <p:nvSpPr>
          <p:cNvPr id="15" name="Shape 13"/>
          <p:cNvSpPr/>
          <p:nvPr/>
        </p:nvSpPr>
        <p:spPr>
          <a:xfrm>
            <a:off x="10098866" y="2514600"/>
            <a:ext cx="1193974" cy="640080"/>
          </a:xfrm>
          <a:prstGeom prst="rect">
            <a:avLst/>
          </a:prstGeom>
          <a:solidFill>
            <a:srgbClr val="07564B"/>
          </a:solidFill>
          <a:ln w="12700">
            <a:solidFill>
              <a:srgbClr val="07564B"/>
            </a:solidFill>
            <a:prstDash val="solid"/>
          </a:ln>
        </p:spPr>
        <p:txBody>
          <a:bodyPr/>
          <a:p/>
        </p:txBody>
      </p:sp>
      <p:sp>
        <p:nvSpPr>
          <p:cNvPr id="16" name="Text 14"/>
          <p:cNvSpPr/>
          <p:nvPr/>
        </p:nvSpPr>
        <p:spPr>
          <a:xfrm>
            <a:off x="6492240" y="2514600"/>
            <a:ext cx="3606626" cy="640080"/>
          </a:xfrm>
          <a:prstGeom prst="rect">
            <a:avLst/>
          </a:prstGeom>
          <a:noFill/>
          <a:ln/>
        </p:spPr>
        <p:txBody>
          <a:bodyPr wrap="square" lIns="0" tIns="0" rIns="0" bIns="0" rtlCol="0" anchor="ctr"/>
          <a:lstStyle/>
          <a:p>
            <a:pPr algn="ctr" indent="0" marL="0">
              <a:buNone/>
            </a:pPr>
            <a:r>
              <a:rPr lang="en-US" sz="1500" b="1" dirty="0">
                <a:solidFill>
                  <a:srgbClr val="2E060B"/>
                </a:solidFill>
                <a:latin typeface="Palatino Linotype" pitchFamily="34" charset="0"/>
                <a:ea typeface="Palatino Linotype" pitchFamily="34" charset="-122"/>
                <a:cs typeface="Palatino Linotype" pitchFamily="34" charset="-120"/>
              </a:rPr>
              <a:t>2 190 000</a:t>
            </a:r>
            <a:endParaRPr lang="en-US" sz="1500" dirty="0"/>
          </a:p>
        </p:txBody>
      </p:sp>
      <p:sp>
        <p:nvSpPr>
          <p:cNvPr id="17" name="Text 15"/>
          <p:cNvSpPr/>
          <p:nvPr/>
        </p:nvSpPr>
        <p:spPr>
          <a:xfrm>
            <a:off x="10098866" y="2514600"/>
            <a:ext cx="1193974"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725 000</a:t>
            </a:r>
            <a:endParaRPr lang="en-US" sz="1500" dirty="0"/>
          </a:p>
        </p:txBody>
      </p:sp>
      <p:sp>
        <p:nvSpPr>
          <p:cNvPr id="18" name="Text 16"/>
          <p:cNvSpPr/>
          <p:nvPr/>
        </p:nvSpPr>
        <p:spPr>
          <a:xfrm>
            <a:off x="6492240" y="3429000"/>
            <a:ext cx="4846320" cy="13716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1. Cardiopathie ischémique · 19,6 %</a:t>
            </a:r>
            <a:endParaRPr lang="en-US" sz="1600" dirty="0"/>
          </a:p>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2. Accident vasculaire cérébral · 17,1 %</a:t>
            </a:r>
            <a:endParaRPr lang="en-US" sz="1600" dirty="0"/>
          </a:p>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3. Cardiopathie hypertensive · 5,2 %</a:t>
            </a:r>
            <a:endParaRPr lang="en-US" sz="1600" dirty="0"/>
          </a:p>
        </p:txBody>
      </p:sp>
      <p:sp>
        <p:nvSpPr>
          <p:cNvPr id="19" name="Shape 17"/>
          <p:cNvSpPr/>
          <p:nvPr/>
        </p:nvSpPr>
        <p:spPr>
          <a:xfrm>
            <a:off x="594360" y="5166360"/>
            <a:ext cx="10972800" cy="914400"/>
          </a:xfrm>
          <a:prstGeom prst="roundRect">
            <a:avLst>
              <a:gd name="adj" fmla="val 9000"/>
            </a:avLst>
          </a:prstGeom>
          <a:solidFill>
            <a:srgbClr val="1D1F2B"/>
          </a:solidFill>
          <a:ln w="12700">
            <a:solidFill>
              <a:srgbClr val="1D1F2B"/>
            </a:solidFill>
            <a:prstDash val="solid"/>
          </a:ln>
        </p:spPr>
        <p:txBody>
          <a:bodyPr/>
          <a:p/>
        </p:txBody>
      </p:sp>
      <p:sp>
        <p:nvSpPr>
          <p:cNvPr id="20" name="Text 18"/>
          <p:cNvSpPr/>
          <p:nvPr/>
        </p:nvSpPr>
        <p:spPr>
          <a:xfrm>
            <a:off x="868680" y="5166360"/>
            <a:ext cx="10424160" cy="91440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Chez les jeunes, la charge vient surtout de maladies avec lesquelles on vit, chez les personnes âgées de maladies qui tuent.</a:t>
            </a:r>
            <a:endParaRPr lang="en-US" sz="1900" dirty="0"/>
          </a:p>
        </p:txBody>
      </p:sp>
      <p:sp>
        <p:nvSpPr>
          <p:cNvPr id="21" name="Text 19"/>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DALY en chiffres absolus ; pourcentage : part de la cause dans le groupe. Source : GBD 2023, IHME, 17.10.2026.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LA CHARGE DE MORBIDITÉ DANS UN COMTÉ</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Quatre étapes, à partir de deux séries</a:t>
            </a:r>
            <a:endParaRPr lang="en-US" sz="3200" dirty="0"/>
          </a:p>
        </p:txBody>
      </p:sp>
      <p:sp>
        <p:nvSpPr>
          <p:cNvPr id="4" name="Text 2"/>
          <p:cNvSpPr/>
          <p:nvPr/>
        </p:nvSpPr>
        <p:spPr>
          <a:xfrm>
            <a:off x="594360" y="1371600"/>
            <a:ext cx="10972800" cy="365760"/>
          </a:xfrm>
          <a:prstGeom prst="rect">
            <a:avLst/>
          </a:prstGeom>
          <a:noFill/>
          <a:ln/>
        </p:spPr>
        <p:txBody>
          <a:bodyPr wrap="square" lIns="0" tIns="0" rIns="0" bIns="0" rtlCol="0" anchor="t"/>
          <a:lstStyle/>
          <a:p>
            <a:pPr indent="0" marL="0">
              <a:buNone/>
            </a:pPr>
            <a:r>
              <a:rPr lang="en-US" sz="1600" dirty="0">
                <a:solidFill>
                  <a:srgbClr val="959BB0"/>
                </a:solidFill>
                <a:latin typeface="Palatino Linotype" pitchFamily="34" charset="0"/>
                <a:ea typeface="Palatino Linotype" pitchFamily="34" charset="-122"/>
                <a:cs typeface="Palatino Linotype" pitchFamily="34" charset="-120"/>
              </a:rPr>
              <a:t>Le GBD ne publie pas les comtés de la Roumanie. La méthode utilise les décès et la population du comté par âge.</a:t>
            </a:r>
            <a:endParaRPr lang="en-US" sz="1600" dirty="0"/>
          </a:p>
        </p:txBody>
      </p:sp>
      <p:sp>
        <p:nvSpPr>
          <p:cNvPr id="5" name="Shape 3"/>
          <p:cNvSpPr/>
          <p:nvPr/>
        </p:nvSpPr>
        <p:spPr>
          <a:xfrm>
            <a:off x="594360" y="1920240"/>
            <a:ext cx="10972800" cy="804672"/>
          </a:xfrm>
          <a:prstGeom prst="roundRect">
            <a:avLst>
              <a:gd name="adj" fmla="val 10227"/>
            </a:avLst>
          </a:prstGeom>
          <a:solidFill>
            <a:srgbClr val="1D1F2B"/>
          </a:solidFill>
          <a:ln w="12700">
            <a:solidFill>
              <a:srgbClr val="1D1F2B"/>
            </a:solidFill>
            <a:prstDash val="solid"/>
          </a:ln>
        </p:spPr>
        <p:txBody>
          <a:bodyPr/>
          <a:p/>
        </p:txBody>
      </p:sp>
      <p:sp>
        <p:nvSpPr>
          <p:cNvPr id="6" name="Shape 4"/>
          <p:cNvSpPr/>
          <p:nvPr/>
        </p:nvSpPr>
        <p:spPr>
          <a:xfrm>
            <a:off x="914400" y="2112264"/>
            <a:ext cx="420624" cy="420624"/>
          </a:xfrm>
          <a:prstGeom prst="ellipse">
            <a:avLst/>
          </a:prstGeom>
          <a:solidFill>
            <a:srgbClr val="FFC24B"/>
          </a:solidFill>
          <a:ln/>
        </p:spPr>
        <p:txBody>
          <a:bodyPr/>
          <a:p/>
        </p:txBody>
      </p:sp>
      <p:sp>
        <p:nvSpPr>
          <p:cNvPr id="7" name="Text 5"/>
          <p:cNvSpPr/>
          <p:nvPr/>
        </p:nvSpPr>
        <p:spPr>
          <a:xfrm>
            <a:off x="914400" y="211226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8" name="Text 6"/>
          <p:cNvSpPr/>
          <p:nvPr/>
        </p:nvSpPr>
        <p:spPr>
          <a:xfrm>
            <a:off x="1600200" y="1920240"/>
            <a:ext cx="9692640" cy="80467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YLL : les décès du groupe × les années perdues par décès.</a:t>
            </a:r>
            <a:endParaRPr lang="en-US" sz="1900" dirty="0"/>
          </a:p>
        </p:txBody>
      </p:sp>
      <p:sp>
        <p:nvSpPr>
          <p:cNvPr id="9" name="Shape 7"/>
          <p:cNvSpPr/>
          <p:nvPr/>
        </p:nvSpPr>
        <p:spPr>
          <a:xfrm>
            <a:off x="594360" y="2862072"/>
            <a:ext cx="10972800" cy="804672"/>
          </a:xfrm>
          <a:prstGeom prst="roundRect">
            <a:avLst>
              <a:gd name="adj" fmla="val 10227"/>
            </a:avLst>
          </a:prstGeom>
          <a:solidFill>
            <a:srgbClr val="1D1F2B"/>
          </a:solidFill>
          <a:ln w="12700">
            <a:solidFill>
              <a:srgbClr val="1D1F2B"/>
            </a:solidFill>
            <a:prstDash val="solid"/>
          </a:ln>
        </p:spPr>
        <p:txBody>
          <a:bodyPr/>
          <a:p/>
        </p:txBody>
      </p:sp>
      <p:sp>
        <p:nvSpPr>
          <p:cNvPr id="10" name="Shape 8"/>
          <p:cNvSpPr/>
          <p:nvPr/>
        </p:nvSpPr>
        <p:spPr>
          <a:xfrm>
            <a:off x="914400" y="3054096"/>
            <a:ext cx="420624" cy="420624"/>
          </a:xfrm>
          <a:prstGeom prst="ellipse">
            <a:avLst/>
          </a:prstGeom>
          <a:solidFill>
            <a:srgbClr val="FFC24B"/>
          </a:solidFill>
          <a:ln/>
        </p:spPr>
        <p:txBody>
          <a:bodyPr/>
          <a:p/>
        </p:txBody>
      </p:sp>
      <p:sp>
        <p:nvSpPr>
          <p:cNvPr id="11" name="Text 9"/>
          <p:cNvSpPr/>
          <p:nvPr/>
        </p:nvSpPr>
        <p:spPr>
          <a:xfrm>
            <a:off x="914400" y="305409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2" name="Text 10"/>
          <p:cNvSpPr/>
          <p:nvPr/>
        </p:nvSpPr>
        <p:spPr>
          <a:xfrm>
            <a:off x="1600200" y="2862072"/>
            <a:ext cx="9692640" cy="80467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YLD : la population moyenne du groupe × YLD pour 1 000 habitants ÷ 1 000.</a:t>
            </a:r>
            <a:endParaRPr lang="en-US" sz="1900" dirty="0"/>
          </a:p>
        </p:txBody>
      </p:sp>
      <p:sp>
        <p:nvSpPr>
          <p:cNvPr id="13" name="Shape 11"/>
          <p:cNvSpPr/>
          <p:nvPr/>
        </p:nvSpPr>
        <p:spPr>
          <a:xfrm>
            <a:off x="594360" y="3803904"/>
            <a:ext cx="10972800" cy="804672"/>
          </a:xfrm>
          <a:prstGeom prst="roundRect">
            <a:avLst>
              <a:gd name="adj" fmla="val 10227"/>
            </a:avLst>
          </a:prstGeom>
          <a:solidFill>
            <a:srgbClr val="1D1F2B"/>
          </a:solidFill>
          <a:ln w="12700">
            <a:solidFill>
              <a:srgbClr val="1D1F2B"/>
            </a:solidFill>
            <a:prstDash val="solid"/>
          </a:ln>
        </p:spPr>
        <p:txBody>
          <a:bodyPr/>
          <a:p/>
        </p:txBody>
      </p:sp>
      <p:sp>
        <p:nvSpPr>
          <p:cNvPr id="14" name="Shape 12"/>
          <p:cNvSpPr/>
          <p:nvPr/>
        </p:nvSpPr>
        <p:spPr>
          <a:xfrm>
            <a:off x="914400" y="3995928"/>
            <a:ext cx="420624" cy="420624"/>
          </a:xfrm>
          <a:prstGeom prst="ellipse">
            <a:avLst/>
          </a:prstGeom>
          <a:solidFill>
            <a:srgbClr val="FFC24B"/>
          </a:solidFill>
          <a:ln/>
        </p:spPr>
        <p:txBody>
          <a:bodyPr/>
          <a:p/>
        </p:txBody>
      </p:sp>
      <p:sp>
        <p:nvSpPr>
          <p:cNvPr id="15" name="Text 13"/>
          <p:cNvSpPr/>
          <p:nvPr/>
        </p:nvSpPr>
        <p:spPr>
          <a:xfrm>
            <a:off x="914400" y="39959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6" name="Text 14"/>
          <p:cNvSpPr/>
          <p:nvPr/>
        </p:nvSpPr>
        <p:spPr>
          <a:xfrm>
            <a:off x="1600200" y="3803904"/>
            <a:ext cx="9692640" cy="80467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DALY du comté : la somme des YLL et des YLD sur tous les groupes.</a:t>
            </a:r>
            <a:endParaRPr lang="en-US" sz="1900" dirty="0"/>
          </a:p>
        </p:txBody>
      </p:sp>
      <p:sp>
        <p:nvSpPr>
          <p:cNvPr id="17" name="Shape 15"/>
          <p:cNvSpPr/>
          <p:nvPr/>
        </p:nvSpPr>
        <p:spPr>
          <a:xfrm>
            <a:off x="594360" y="4745736"/>
            <a:ext cx="10972800" cy="804672"/>
          </a:xfrm>
          <a:prstGeom prst="roundRect">
            <a:avLst>
              <a:gd name="adj" fmla="val 10227"/>
            </a:avLst>
          </a:prstGeom>
          <a:solidFill>
            <a:srgbClr val="1D1F2B"/>
          </a:solidFill>
          <a:ln w="12700">
            <a:solidFill>
              <a:srgbClr val="1D1F2B"/>
            </a:solidFill>
            <a:prstDash val="solid"/>
          </a:ln>
        </p:spPr>
        <p:txBody>
          <a:bodyPr/>
          <a:p/>
        </p:txBody>
      </p:sp>
      <p:sp>
        <p:nvSpPr>
          <p:cNvPr id="18" name="Shape 16"/>
          <p:cNvSpPr/>
          <p:nvPr/>
        </p:nvSpPr>
        <p:spPr>
          <a:xfrm>
            <a:off x="914400" y="4937760"/>
            <a:ext cx="420624" cy="420624"/>
          </a:xfrm>
          <a:prstGeom prst="ellipse">
            <a:avLst/>
          </a:prstGeom>
          <a:solidFill>
            <a:srgbClr val="FFC24B"/>
          </a:solidFill>
          <a:ln/>
        </p:spPr>
        <p:txBody>
          <a:bodyPr/>
          <a:p/>
        </p:txBody>
      </p:sp>
      <p:sp>
        <p:nvSpPr>
          <p:cNvPr id="19" name="Text 17"/>
          <p:cNvSpPr/>
          <p:nvPr/>
        </p:nvSpPr>
        <p:spPr>
          <a:xfrm>
            <a:off x="914400" y="49377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0" name="Text 18"/>
          <p:cNvSpPr/>
          <p:nvPr/>
        </p:nvSpPr>
        <p:spPr>
          <a:xfrm>
            <a:off x="1600200" y="4745736"/>
            <a:ext cx="9692640" cy="80467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DALY ÷ population moyenne totale × 1 000.</a:t>
            </a:r>
            <a:endParaRPr lang="en-US" sz="1900" dirty="0"/>
          </a:p>
        </p:txBody>
      </p:sp>
      <p:sp>
        <p:nvSpPr>
          <p:cNvPr id="21" name="Text 19"/>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Année 2023 pour les deux séries. Population moyenne : moyenne entre le 1er janvier 2023 et le 1er janvier 2024.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092440" y="292608"/>
            <a:ext cx="34747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092440" y="292608"/>
            <a:ext cx="34747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MICROSOFT FORMS · COMPTE UMF</a:t>
            </a:r>
            <a:endParaRPr lang="en-US" sz="1300" dirty="0"/>
          </a:p>
        </p:txBody>
      </p:sp>
      <p:sp>
        <p:nvSpPr>
          <p:cNvPr id="4" name="Text 2"/>
          <p:cNvSpPr/>
          <p:nvPr/>
        </p:nvSpPr>
        <p:spPr>
          <a:xfrm>
            <a:off x="594360" y="347472"/>
            <a:ext cx="68580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EN ÉQUIPE</a:t>
            </a:r>
            <a:endParaRPr lang="en-US" sz="1300" dirty="0"/>
          </a:p>
        </p:txBody>
      </p:sp>
      <p:sp>
        <p:nvSpPr>
          <p:cNvPr id="5" name="Text 3"/>
          <p:cNvSpPr/>
          <p:nvPr/>
        </p:nvSpPr>
        <p:spPr>
          <a:xfrm>
            <a:off x="594360" y="777240"/>
            <a:ext cx="7498080" cy="82296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L’exercice commun, en quatre étapes</a:t>
            </a:r>
            <a:endParaRPr lang="en-US" sz="3200" dirty="0"/>
          </a:p>
        </p:txBody>
      </p:sp>
      <p:sp>
        <p:nvSpPr>
          <p:cNvPr id="6" name="Shape 4"/>
          <p:cNvSpPr/>
          <p:nvPr/>
        </p:nvSpPr>
        <p:spPr>
          <a:xfrm>
            <a:off x="594360" y="1828800"/>
            <a:ext cx="7223760" cy="694944"/>
          </a:xfrm>
          <a:prstGeom prst="roundRect">
            <a:avLst>
              <a:gd name="adj" fmla="val 11842"/>
            </a:avLst>
          </a:prstGeom>
          <a:solidFill>
            <a:srgbClr val="1D1F2B"/>
          </a:solidFill>
          <a:ln w="12700">
            <a:solidFill>
              <a:srgbClr val="1D1F2B"/>
            </a:solidFill>
            <a:prstDash val="solid"/>
          </a:ln>
        </p:spPr>
        <p:txBody>
          <a:bodyPr/>
          <a:p/>
        </p:txBody>
      </p:sp>
      <p:sp>
        <p:nvSpPr>
          <p:cNvPr id="7" name="Shape 5"/>
          <p:cNvSpPr/>
          <p:nvPr/>
        </p:nvSpPr>
        <p:spPr>
          <a:xfrm>
            <a:off x="914400" y="1965960"/>
            <a:ext cx="420624" cy="420624"/>
          </a:xfrm>
          <a:prstGeom prst="ellipse">
            <a:avLst/>
          </a:prstGeom>
          <a:solidFill>
            <a:srgbClr val="FFC24B"/>
          </a:solidFill>
          <a:ln/>
        </p:spPr>
        <p:txBody>
          <a:bodyPr/>
          <a:p/>
        </p:txBody>
      </p:sp>
      <p:sp>
        <p:nvSpPr>
          <p:cNvPr id="8" name="Text 6"/>
          <p:cNvSpPr/>
          <p:nvPr/>
        </p:nvSpPr>
        <p:spPr>
          <a:xfrm>
            <a:off x="914400" y="19659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600200" y="1828800"/>
            <a:ext cx="5943600" cy="694944"/>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Les causes dans le temps</a:t>
            </a:r>
            <a:endParaRPr lang="en-US" sz="1900" dirty="0"/>
          </a:p>
        </p:txBody>
      </p:sp>
      <p:sp>
        <p:nvSpPr>
          <p:cNvPr id="10" name="Shape 8"/>
          <p:cNvSpPr/>
          <p:nvPr/>
        </p:nvSpPr>
        <p:spPr>
          <a:xfrm>
            <a:off x="594360" y="2670048"/>
            <a:ext cx="7223760" cy="694944"/>
          </a:xfrm>
          <a:prstGeom prst="roundRect">
            <a:avLst>
              <a:gd name="adj" fmla="val 11842"/>
            </a:avLst>
          </a:prstGeom>
          <a:solidFill>
            <a:srgbClr val="1D1F2B"/>
          </a:solidFill>
          <a:ln w="12700">
            <a:solidFill>
              <a:srgbClr val="1D1F2B"/>
            </a:solidFill>
            <a:prstDash val="solid"/>
          </a:ln>
        </p:spPr>
        <p:txBody>
          <a:bodyPr/>
          <a:p/>
        </p:txBody>
      </p:sp>
      <p:sp>
        <p:nvSpPr>
          <p:cNvPr id="11" name="Shape 9"/>
          <p:cNvSpPr/>
          <p:nvPr/>
        </p:nvSpPr>
        <p:spPr>
          <a:xfrm>
            <a:off x="914400" y="2807208"/>
            <a:ext cx="420624" cy="420624"/>
          </a:xfrm>
          <a:prstGeom prst="ellipse">
            <a:avLst/>
          </a:prstGeom>
          <a:solidFill>
            <a:srgbClr val="FFC24B"/>
          </a:solidFill>
          <a:ln/>
        </p:spPr>
        <p:txBody>
          <a:bodyPr/>
          <a:p/>
        </p:txBody>
      </p:sp>
      <p:sp>
        <p:nvSpPr>
          <p:cNvPr id="12" name="Text 10"/>
          <p:cNvSpPr/>
          <p:nvPr/>
        </p:nvSpPr>
        <p:spPr>
          <a:xfrm>
            <a:off x="914400" y="28072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600200" y="2670048"/>
            <a:ext cx="5943600" cy="694944"/>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La comparaison avec l’Europe</a:t>
            </a:r>
            <a:endParaRPr lang="en-US" sz="1900" dirty="0"/>
          </a:p>
        </p:txBody>
      </p:sp>
      <p:sp>
        <p:nvSpPr>
          <p:cNvPr id="14" name="Shape 12"/>
          <p:cNvSpPr/>
          <p:nvPr/>
        </p:nvSpPr>
        <p:spPr>
          <a:xfrm>
            <a:off x="594360" y="3511296"/>
            <a:ext cx="7223760" cy="694944"/>
          </a:xfrm>
          <a:prstGeom prst="roundRect">
            <a:avLst>
              <a:gd name="adj" fmla="val 11842"/>
            </a:avLst>
          </a:prstGeom>
          <a:solidFill>
            <a:srgbClr val="1D1F2B"/>
          </a:solidFill>
          <a:ln w="12700">
            <a:solidFill>
              <a:srgbClr val="1D1F2B"/>
            </a:solidFill>
            <a:prstDash val="solid"/>
          </a:ln>
        </p:spPr>
        <p:txBody>
          <a:bodyPr/>
          <a:p/>
        </p:txBody>
      </p:sp>
      <p:sp>
        <p:nvSpPr>
          <p:cNvPr id="15" name="Shape 13"/>
          <p:cNvSpPr/>
          <p:nvPr/>
        </p:nvSpPr>
        <p:spPr>
          <a:xfrm>
            <a:off x="914400" y="3648456"/>
            <a:ext cx="420624" cy="420624"/>
          </a:xfrm>
          <a:prstGeom prst="ellipse">
            <a:avLst/>
          </a:prstGeom>
          <a:solidFill>
            <a:srgbClr val="FFC24B"/>
          </a:solidFill>
          <a:ln/>
        </p:spPr>
        <p:txBody>
          <a:bodyPr/>
          <a:p/>
        </p:txBody>
      </p:sp>
      <p:sp>
        <p:nvSpPr>
          <p:cNvPr id="16" name="Text 14"/>
          <p:cNvSpPr/>
          <p:nvPr/>
        </p:nvSpPr>
        <p:spPr>
          <a:xfrm>
            <a:off x="914400" y="364845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600200" y="3511296"/>
            <a:ext cx="5943600" cy="694944"/>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La charge de morbidité à Teleorman et à Ilfov</a:t>
            </a:r>
            <a:endParaRPr lang="en-US" sz="1900" dirty="0"/>
          </a:p>
        </p:txBody>
      </p:sp>
      <p:sp>
        <p:nvSpPr>
          <p:cNvPr id="18" name="Shape 16"/>
          <p:cNvSpPr/>
          <p:nvPr/>
        </p:nvSpPr>
        <p:spPr>
          <a:xfrm>
            <a:off x="594360" y="4352544"/>
            <a:ext cx="7223760" cy="694944"/>
          </a:xfrm>
          <a:prstGeom prst="roundRect">
            <a:avLst>
              <a:gd name="adj" fmla="val 11842"/>
            </a:avLst>
          </a:prstGeom>
          <a:solidFill>
            <a:srgbClr val="1D1F2B"/>
          </a:solidFill>
          <a:ln w="12700">
            <a:solidFill>
              <a:srgbClr val="1D1F2B"/>
            </a:solidFill>
            <a:prstDash val="solid"/>
          </a:ln>
        </p:spPr>
        <p:txBody>
          <a:bodyPr/>
          <a:p/>
        </p:txBody>
      </p:sp>
      <p:sp>
        <p:nvSpPr>
          <p:cNvPr id="19" name="Shape 17"/>
          <p:cNvSpPr/>
          <p:nvPr/>
        </p:nvSpPr>
        <p:spPr>
          <a:xfrm>
            <a:off x="914400" y="4489704"/>
            <a:ext cx="420624" cy="420624"/>
          </a:xfrm>
          <a:prstGeom prst="ellipse">
            <a:avLst/>
          </a:prstGeom>
          <a:solidFill>
            <a:srgbClr val="FFC24B"/>
          </a:solidFill>
          <a:ln/>
        </p:spPr>
        <p:txBody>
          <a:bodyPr/>
          <a:p/>
        </p:txBody>
      </p:sp>
      <p:sp>
        <p:nvSpPr>
          <p:cNvPr id="20" name="Text 18"/>
          <p:cNvSpPr/>
          <p:nvPr/>
        </p:nvSpPr>
        <p:spPr>
          <a:xfrm>
            <a:off x="914400" y="44897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1" name="Text 19"/>
          <p:cNvSpPr/>
          <p:nvPr/>
        </p:nvSpPr>
        <p:spPr>
          <a:xfrm>
            <a:off x="1600200" y="4352544"/>
            <a:ext cx="5943600" cy="694944"/>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L’interprétation</a:t>
            </a:r>
            <a:endParaRPr lang="en-US" sz="1900" dirty="0"/>
          </a:p>
        </p:txBody>
      </p:sp>
      <p:sp>
        <p:nvSpPr>
          <p:cNvPr id="22" name="Shape 20"/>
          <p:cNvSpPr/>
          <p:nvPr/>
        </p:nvSpPr>
        <p:spPr>
          <a:xfrm>
            <a:off x="8321040" y="1783080"/>
            <a:ext cx="3246120" cy="3246120"/>
          </a:xfrm>
          <a:prstGeom prst="roundRect">
            <a:avLst>
              <a:gd name="adj" fmla="val 2535"/>
            </a:avLst>
          </a:prstGeom>
          <a:solidFill>
            <a:srgbClr val="FFFFFF"/>
          </a:solidFill>
          <a:ln w="12700">
            <a:solidFill>
              <a:srgbClr val="FFFFFF"/>
            </a:solidFill>
            <a:prstDash val="solid"/>
          </a:ln>
        </p:spPr>
        <p:txBody>
          <a:bodyPr/>
          <a:p/>
        </p:txBody>
      </p:sp>
      <p:sp>
        <p:nvSpPr>
          <p:cNvPr id="23" name="Text 21"/>
          <p:cNvSpPr/>
          <p:nvPr/>
        </p:nvSpPr>
        <p:spPr>
          <a:xfrm>
            <a:off x="8321040" y="1783080"/>
            <a:ext cx="3246120" cy="3246120"/>
          </a:xfrm>
          <a:prstGeom prst="rect">
            <a:avLst/>
          </a:prstGeom>
          <a:noFill/>
          <a:ln/>
        </p:spPr>
        <p:txBody>
          <a:bodyPr wrap="square" lIns="228600" tIns="0" rIns="228600" bIns="0" rtlCol="0" anchor="ctr"/>
          <a:lstStyle/>
          <a:p>
            <a:pPr algn="ctr" indent="0" marL="0">
              <a:buNone/>
            </a:pPr>
            <a:r>
              <a:rPr lang="en-US" sz="1800" dirty="0" i="1">
                <a:solidFill>
                  <a:srgbClr val="585A64"/>
                </a:solidFill>
                <a:latin typeface="Palatino Linotype" pitchFamily="34" charset="0"/>
                <a:ea typeface="Palatino Linotype" pitchFamily="34" charset="-122"/>
                <a:cs typeface="Palatino Linotype" pitchFamily="34" charset="-120"/>
              </a:rPr>
              <a:t>Le code QR du formulaire de votre groupe s’affiche à l’écran, en salle.</a:t>
            </a:r>
            <a:endParaRPr lang="en-US" sz="1400" dirty="0"/>
          </a:p>
        </p:txBody>
      </p:sp>
      <p:sp>
        <p:nvSpPr>
          <p:cNvPr id="24" name="Text 22"/>
          <p:cNvSpPr/>
          <p:nvPr/>
        </p:nvSpPr>
        <p:spPr>
          <a:xfrm>
            <a:off x="8321040" y="5120640"/>
            <a:ext cx="3246120" cy="365760"/>
          </a:xfrm>
          <a:prstGeom prst="rect">
            <a:avLst/>
          </a:prstGeom>
          <a:noFill/>
          <a:ln/>
        </p:spPr>
        <p:txBody>
          <a:bodyPr wrap="square" lIns="0" tIns="0" rIns="0" bIns="0" rtlCol="0" anchor="t"/>
          <a:lstStyle/>
          <a:p>
            <a:pPr algn="ctr" indent="0" marL="0">
              <a:buNone/>
            </a:pPr>
            <a:r>
              <a:rPr lang="en-US" sz="1500" dirty="0">
                <a:solidFill>
                  <a:srgbClr val="959BB0"/>
                </a:solidFill>
                <a:latin typeface="Palatino Linotype" pitchFamily="34" charset="0"/>
                <a:ea typeface="Palatino Linotype" pitchFamily="34" charset="-122"/>
                <a:cs typeface="Palatino Linotype" pitchFamily="34" charset="-120"/>
              </a:rPr>
              <a:t/>
            </a:r>
            <a:endParaRPr lang="en-US" sz="1500" dirty="0"/>
          </a:p>
        </p:txBody>
      </p:sp>
      <p:sp>
        <p:nvSpPr>
          <p:cNvPr id="25" name="Text 23"/>
          <p:cNvSpPr/>
          <p:nvPr/>
        </p:nvSpPr>
        <p:spPr>
          <a:xfrm>
            <a:off x="594360" y="5349240"/>
            <a:ext cx="7498080" cy="73152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Un collègue calcule, un autre refait le calcul de façon indépendante. Répondez sur le téléphone, au code affiché.</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DONNÉES DE L’ÉTAPE 3</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Teleorman et Ilfov, 2023</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94360" y="1600200"/>
          <a:ext cx="10972800" cy="914400"/>
        </p:xfrm>
        <a:graphic>
          <a:graphicData uri="http://schemas.openxmlformats.org/drawingml/2006/table">
            <a:tbl>
              <a:tblPr/>
              <a:tblGrid>
                <a:gridCol w="2377440"/>
                <a:gridCol w="1737360"/>
                <a:gridCol w="2834640"/>
                <a:gridCol w="1737360"/>
                <a:gridCol w="2286000"/>
              </a:tblGrid>
              <a:tr h="713232">
                <a:tc>
                  <a:txBody>
                    <a:bodyPr/>
                    <a:lstStyle/>
                    <a:p>
                      <a:pPr algn="l" indent="0" marL="0">
                        <a:buNone/>
                      </a:pPr>
                      <a:r>
                        <a:rPr lang="en-US" sz="1500" b="1" dirty="0">
                          <a:solidFill>
                            <a:srgbClr val="FFFFFF"/>
                          </a:solidFill>
                          <a:latin typeface="Palatino Linotype" pitchFamily="34" charset="0"/>
                          <a:ea typeface="Palatino Linotype" pitchFamily="34" charset="-122"/>
                          <a:cs typeface="Palatino Linotype" pitchFamily="34" charset="-120"/>
                        </a:rPr>
                        <a:t>Groupe d’âge</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11121A"/>
                    </a:solidFill>
                  </a:tcPr>
                </a:tc>
                <a:tc>
                  <a:txBody>
                    <a:bodyP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Teleorman : décès</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B02532"/>
                    </a:solidFill>
                  </a:tcPr>
                </a:tc>
                <a:tc>
                  <a:txBody>
                    <a:bodyP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Teleorman : population moyenne</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B02532"/>
                    </a:solidFill>
                  </a:tcPr>
                </a:tc>
                <a:tc>
                  <a:txBody>
                    <a:bodyP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Ilfov : décès</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0E7C6B"/>
                    </a:solidFill>
                  </a:tcPr>
                </a:tc>
                <a:tc>
                  <a:txBody>
                    <a:bodyP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Ilfov : population moyenne</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0E7C6B"/>
                    </a:solidFill>
                  </a:tcPr>
                </a:tc>
              </a:tr>
              <a:tr h="713232">
                <a:tc>
                  <a:txBody>
                    <a:bodyPr/>
                    <a:lstStyle/>
                    <a:p>
                      <a:pPr algn="l" indent="0" marL="0">
                        <a:buNone/>
                      </a:pPr>
                      <a:r>
                        <a:rPr lang="en-US" sz="1500" b="1" dirty="0">
                          <a:solidFill>
                            <a:srgbClr val="11121A"/>
                          </a:solidFill>
                          <a:latin typeface="Palatino Linotype" pitchFamily="34" charset="0"/>
                          <a:ea typeface="Palatino Linotype" pitchFamily="34" charset="-122"/>
                          <a:cs typeface="Palatino Linotype" pitchFamily="34" charset="-120"/>
                        </a:rPr>
                        <a:t>0–14 ans</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17</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41 821</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26</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103 936,5</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r>
              <a:tr h="713232">
                <a:tc>
                  <a:txBody>
                    <a:bodyPr/>
                    <a:lstStyle/>
                    <a:p>
                      <a:pPr algn="l" indent="0" marL="0">
                        <a:buNone/>
                      </a:pPr>
                      <a:r>
                        <a:rPr lang="en-US" sz="1500" b="1" dirty="0">
                          <a:solidFill>
                            <a:srgbClr val="11121A"/>
                          </a:solidFill>
                          <a:latin typeface="Palatino Linotype" pitchFamily="34" charset="0"/>
                          <a:ea typeface="Palatino Linotype" pitchFamily="34" charset="-122"/>
                          <a:cs typeface="Palatino Linotype" pitchFamily="34" charset="-120"/>
                        </a:rPr>
                        <a:t>15–49 ans</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9F8F5"/>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226</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9F8F5"/>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122 416</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9F8F5"/>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294</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9F8F5"/>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294 901</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9F8F5"/>
                    </a:solidFill>
                  </a:tcPr>
                </a:tc>
              </a:tr>
              <a:tr h="713232">
                <a:tc>
                  <a:txBody>
                    <a:bodyPr/>
                    <a:lstStyle/>
                    <a:p>
                      <a:pPr algn="l" indent="0" marL="0">
                        <a:buNone/>
                      </a:pPr>
                      <a:r>
                        <a:rPr lang="en-US" sz="1500" b="1" dirty="0">
                          <a:solidFill>
                            <a:srgbClr val="11121A"/>
                          </a:solidFill>
                          <a:latin typeface="Palatino Linotype" pitchFamily="34" charset="0"/>
                          <a:ea typeface="Palatino Linotype" pitchFamily="34" charset="-122"/>
                          <a:cs typeface="Palatino Linotype" pitchFamily="34" charset="-120"/>
                        </a:rPr>
                        <a:t>50–69 ans</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1 244</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92 795,5</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1 286</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126 620,5</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r>
              <a:tr h="713232">
                <a:tc>
                  <a:txBody>
                    <a:bodyPr/>
                    <a:lstStyle/>
                    <a:p>
                      <a:pPr algn="l" indent="0" marL="0">
                        <a:buNone/>
                      </a:pPr>
                      <a:r>
                        <a:rPr lang="en-US" sz="1500" b="1" dirty="0">
                          <a:solidFill>
                            <a:srgbClr val="11121A"/>
                          </a:solidFill>
                          <a:latin typeface="Palatino Linotype" pitchFamily="34" charset="0"/>
                          <a:ea typeface="Palatino Linotype" pitchFamily="34" charset="-122"/>
                          <a:cs typeface="Palatino Linotype" pitchFamily="34" charset="-120"/>
                        </a:rPr>
                        <a:t>70 ans et plus</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9F8F5"/>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3 917</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9F8F5"/>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59 730</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9F8F5"/>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2 826</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9F8F5"/>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48 790</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9F8F5"/>
                    </a:solidFill>
                  </a:tcPr>
                </a:tc>
              </a:tr>
              <a:tr h="713232">
                <a:tc>
                  <a:txBody>
                    <a:bodyPr/>
                    <a:lstStyle/>
                    <a:p>
                      <a:pPr algn="l" indent="0" marL="0">
                        <a:buNone/>
                      </a:pPr>
                      <a:r>
                        <a:rPr lang="en-US" sz="1500" b="1" dirty="0">
                          <a:solidFill>
                            <a:srgbClr val="11121A"/>
                          </a:solidFill>
                          <a:latin typeface="Palatino Linotype" pitchFamily="34" charset="0"/>
                          <a:ea typeface="Palatino Linotype" pitchFamily="34" charset="-122"/>
                          <a:cs typeface="Palatino Linotype" pitchFamily="34" charset="-120"/>
                        </a:rPr>
                        <a:t>Total</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5 404</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316 762,5</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4 432</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574 248</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r>
            </a:tbl>
          </a:graphicData>
        </a:graphic>
      </p:graphicFrame>
      <p:sp>
        <p:nvSpPr>
          <p:cNvPr id="5" name="Text 2"/>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Population moyenne de l’année 2023 : moyenne entre le 1er janvier 2023 et le 1er janvier 2024. Source : Eurostat, demo_r_magec3 et demo_r_pjangrp3.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PARAMÈTRES DU GBD 2023, POUR LA ROUMANIE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Ce qui se multiplie par quoi</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94360" y="1600200"/>
          <a:ext cx="6309360" cy="914400"/>
        </p:xfrm>
        <a:graphic>
          <a:graphicData uri="http://schemas.openxmlformats.org/drawingml/2006/table">
            <a:tbl>
              <a:tblPr/>
              <a:tblGrid>
                <a:gridCol w="2194560"/>
                <a:gridCol w="2103120"/>
                <a:gridCol w="2011680"/>
              </a:tblGrid>
              <a:tr h="713232">
                <a:tc>
                  <a:txBody>
                    <a:bodyPr/>
                    <a:lstStyle/>
                    <a:p>
                      <a:pPr algn="l" indent="0" marL="0">
                        <a:buNone/>
                      </a:pPr>
                      <a:r>
                        <a:rPr lang="en-US" sz="1500" b="1" dirty="0">
                          <a:solidFill>
                            <a:srgbClr val="FFFFFF"/>
                          </a:solidFill>
                          <a:latin typeface="Palatino Linotype" pitchFamily="34" charset="0"/>
                          <a:ea typeface="Palatino Linotype" pitchFamily="34" charset="-122"/>
                          <a:cs typeface="Palatino Linotype" pitchFamily="34" charset="-120"/>
                        </a:rPr>
                        <a:t>Groupe d’âge</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11121A"/>
                    </a:solidFill>
                  </a:tcPr>
                </a:tc>
                <a:tc>
                  <a:txBody>
                    <a:bodyP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Années perdues par décès</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B02532"/>
                    </a:solidFill>
                  </a:tcPr>
                </a:tc>
                <a:tc>
                  <a:txBody>
                    <a:bodyP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YLD pour 1 000 habitants</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0E7C6B"/>
                    </a:solidFill>
                  </a:tcPr>
                </a:tc>
              </a:tr>
              <a:tr h="713232">
                <a:tc>
                  <a:txBody>
                    <a:bodyPr/>
                    <a:lstStyle/>
                    <a:p>
                      <a:pPr algn="l" indent="0" marL="0">
                        <a:buNone/>
                      </a:pPr>
                      <a:r>
                        <a:rPr lang="en-US" sz="1500" b="1" dirty="0">
                          <a:solidFill>
                            <a:srgbClr val="11121A"/>
                          </a:solidFill>
                          <a:latin typeface="Palatino Linotype" pitchFamily="34" charset="0"/>
                          <a:ea typeface="Palatino Linotype" pitchFamily="34" charset="-122"/>
                          <a:cs typeface="Palatino Linotype" pitchFamily="34" charset="-120"/>
                        </a:rPr>
                        <a:t>0–14 ans</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87,2</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44,8</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r>
              <a:tr h="713232">
                <a:tc>
                  <a:txBody>
                    <a:bodyPr/>
                    <a:lstStyle/>
                    <a:p>
                      <a:pPr algn="l" indent="0" marL="0">
                        <a:buNone/>
                      </a:pPr>
                      <a:r>
                        <a:rPr lang="en-US" sz="1500" b="1" dirty="0">
                          <a:solidFill>
                            <a:srgbClr val="11121A"/>
                          </a:solidFill>
                          <a:latin typeface="Palatino Linotype" pitchFamily="34" charset="0"/>
                          <a:ea typeface="Palatino Linotype" pitchFamily="34" charset="-122"/>
                          <a:cs typeface="Palatino Linotype" pitchFamily="34" charset="-120"/>
                        </a:rPr>
                        <a:t>15–49 ans</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9F8F5"/>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49,2</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9F8F5"/>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103,6</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9F8F5"/>
                    </a:solidFill>
                  </a:tcPr>
                </a:tc>
              </a:tr>
              <a:tr h="713232">
                <a:tc>
                  <a:txBody>
                    <a:bodyPr/>
                    <a:lstStyle/>
                    <a:p>
                      <a:pPr algn="l" indent="0" marL="0">
                        <a:buNone/>
                      </a:pPr>
                      <a:r>
                        <a:rPr lang="en-US" sz="1500" b="1" dirty="0">
                          <a:solidFill>
                            <a:srgbClr val="11121A"/>
                          </a:solidFill>
                          <a:latin typeface="Palatino Linotype" pitchFamily="34" charset="0"/>
                          <a:ea typeface="Palatino Linotype" pitchFamily="34" charset="-122"/>
                          <a:cs typeface="Palatino Linotype" pitchFamily="34" charset="-120"/>
                        </a:rPr>
                        <a:t>50–69 ans</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29,2</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189,5</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ECEAE4"/>
                    </a:solidFill>
                  </a:tcPr>
                </a:tc>
              </a:tr>
              <a:tr h="713232">
                <a:tc>
                  <a:txBody>
                    <a:bodyPr/>
                    <a:lstStyle/>
                    <a:p>
                      <a:pPr algn="l" indent="0" marL="0">
                        <a:buNone/>
                      </a:pPr>
                      <a:r>
                        <a:rPr lang="en-US" sz="1500" b="1" dirty="0">
                          <a:solidFill>
                            <a:srgbClr val="11121A"/>
                          </a:solidFill>
                          <a:latin typeface="Palatino Linotype" pitchFamily="34" charset="0"/>
                          <a:ea typeface="Palatino Linotype" pitchFamily="34" charset="-122"/>
                          <a:cs typeface="Palatino Linotype" pitchFamily="34" charset="-120"/>
                        </a:rPr>
                        <a:t>70 ans et plus</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9F8F5"/>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13,3</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9F8F5"/>
                    </a:solidFill>
                  </a:tcPr>
                </a:tc>
                <a:tc>
                  <a:txBody>
                    <a:bodyP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281,7</a:t>
                      </a:r>
                      <a:endParaRPr lang="en-US" sz="1500" dirty="0">
                        <a:latin typeface="Palatino Linotype" charset="0"/>
                        <a:ea typeface="Palatino Linotype" charset="0"/>
                        <a:cs typeface="Palatino Linotype" charset="0"/>
                      </a:endParaRPr>
                    </a:p>
                  </a:txBody>
                  <a:tcPr marL="91440" marR="91440" marT="0" marB="0" anchor="ctr">
                    <a:lnL w="12700" cap="flat" cmpd="sng" algn="ctr">
                      <a:solidFill>
                        <a:srgbClr val="F6F5F2"/>
                      </a:solidFill>
                      <a:prstDash val="solid"/>
                      <a:round/>
                      <a:headEnd type="none" w="med" len="med"/>
                      <a:tailEnd type="none" w="med" len="med"/>
                    </a:lnL>
                    <a:lnR w="12700" cap="flat" cmpd="sng" algn="ctr">
                      <a:solidFill>
                        <a:srgbClr val="F6F5F2"/>
                      </a:solidFill>
                      <a:prstDash val="solid"/>
                      <a:round/>
                      <a:headEnd type="none" w="med" len="med"/>
                      <a:tailEnd type="none" w="med" len="med"/>
                    </a:lnR>
                    <a:lnT w="12700" cap="flat" cmpd="sng" algn="ctr">
                      <a:solidFill>
                        <a:srgbClr val="F6F5F2"/>
                      </a:solidFill>
                      <a:prstDash val="solid"/>
                      <a:round/>
                      <a:headEnd type="none" w="med" len="med"/>
                      <a:tailEnd type="none" w="med" len="med"/>
                    </a:lnT>
                    <a:lnB w="12700" cap="flat" cmpd="sng" algn="ctr">
                      <a:solidFill>
                        <a:srgbClr val="F6F5F2"/>
                      </a:solidFill>
                      <a:prstDash val="solid"/>
                      <a:round/>
                      <a:headEnd type="none" w="med" len="med"/>
                      <a:tailEnd type="none" w="med" len="med"/>
                    </a:lnB>
                    <a:solidFill>
                      <a:srgbClr val="F9F8F5"/>
                    </a:solidFill>
                  </a:tcPr>
                </a:tc>
              </a:tr>
            </a:tbl>
          </a:graphicData>
        </a:graphic>
      </p:graphicFrame>
      <p:sp>
        <p:nvSpPr>
          <p:cNvPr id="5" name="Shape 2"/>
          <p:cNvSpPr/>
          <p:nvPr/>
        </p:nvSpPr>
        <p:spPr>
          <a:xfrm>
            <a:off x="7223760" y="1600200"/>
            <a:ext cx="4343400" cy="4160520"/>
          </a:xfrm>
          <a:prstGeom prst="roundRect">
            <a:avLst>
              <a:gd name="adj" fmla="val 1978"/>
            </a:avLst>
          </a:prstGeom>
          <a:solidFill>
            <a:srgbClr val="1D1F2B"/>
          </a:solidFill>
          <a:ln w="12700">
            <a:solidFill>
              <a:srgbClr val="1D1F2B"/>
            </a:solidFill>
            <a:prstDash val="solid"/>
          </a:ln>
        </p:spPr>
        <p:txBody>
          <a:bodyPr/>
          <a:p/>
        </p:txBody>
      </p:sp>
      <p:sp>
        <p:nvSpPr>
          <p:cNvPr id="6" name="Text 3"/>
          <p:cNvSpPr/>
          <p:nvPr/>
        </p:nvSpPr>
        <p:spPr>
          <a:xfrm>
            <a:off x="7498080" y="1737360"/>
            <a:ext cx="3840480" cy="411480"/>
          </a:xfrm>
          <a:prstGeom prst="rect">
            <a:avLst/>
          </a:prstGeom>
          <a:noFill/>
          <a:ln/>
        </p:spPr>
        <p:txBody>
          <a:bodyPr wrap="square" lIns="0" tIns="0" rIns="0" bIns="0" rtlCol="0" anchor="t"/>
          <a:lstStyle/>
          <a:p>
            <a:pPr indent="0" marL="0">
              <a:buNone/>
            </a:pPr>
            <a:r>
              <a:rPr lang="en-US" sz="1900" b="1" dirty="0">
                <a:solidFill>
                  <a:srgbClr val="27D3BE"/>
                </a:solidFill>
                <a:latin typeface="Palatino Linotype" pitchFamily="34" charset="0"/>
                <a:ea typeface="Palatino Linotype" pitchFamily="34" charset="-122"/>
                <a:cs typeface="Palatino Linotype" pitchFamily="34" charset="-120"/>
              </a:rPr>
              <a:t>Contrôle de la méthode sur le pays</a:t>
            </a:r>
            <a:endParaRPr lang="en-US" sz="1900" dirty="0"/>
          </a:p>
        </p:txBody>
      </p:sp>
      <p:sp>
        <p:nvSpPr>
          <p:cNvPr id="7" name="Text 4"/>
          <p:cNvSpPr/>
          <p:nvPr/>
        </p:nvSpPr>
        <p:spPr>
          <a:xfrm>
            <a:off x="7498080" y="2286000"/>
            <a:ext cx="3840480" cy="329184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Pour la Roumanie : 7 556 558 DALY en 2023, soit 396,4 pour 1 000 habitants. Le GBD publie 7 680 000 ; l’écart vient des données d’entrée.</a:t>
            </a:r>
            <a:endParaRPr lang="en-US" sz="1600" dirty="0"/>
          </a:p>
        </p:txBody>
      </p:sp>
      <p:sp>
        <p:nvSpPr>
          <p:cNvPr id="8" name="Text 5"/>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Roumanie, toutes causes, les deux sexes. Source : GBD 2023, IHME, 17.10.2026.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ÉTAPE 4 · INTERPRÉTATION</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YLL attendues et YLL calculées</a:t>
            </a:r>
            <a:endParaRPr lang="en-US" sz="3000" dirty="0"/>
          </a:p>
        </p:txBody>
      </p:sp>
      <p:sp>
        <p:nvSpPr>
          <p:cNvPr id="4" name="Shape 2"/>
          <p:cNvSpPr/>
          <p:nvPr/>
        </p:nvSpPr>
        <p:spPr>
          <a:xfrm>
            <a:off x="822960" y="2778375"/>
            <a:ext cx="1188720" cy="2342265"/>
          </a:xfrm>
          <a:prstGeom prst="rect">
            <a:avLst/>
          </a:prstGeom>
          <a:solidFill>
            <a:srgbClr val="B9B6AE"/>
          </a:solidFill>
          <a:ln w="12700">
            <a:solidFill>
              <a:srgbClr val="B9B6AE"/>
            </a:solidFill>
            <a:prstDash val="solid"/>
          </a:ln>
        </p:spPr>
        <p:txBody>
          <a:bodyPr/>
          <a:p/>
        </p:txBody>
      </p:sp>
      <p:sp>
        <p:nvSpPr>
          <p:cNvPr id="5" name="Text 3"/>
          <p:cNvSpPr/>
          <p:nvPr/>
        </p:nvSpPr>
        <p:spPr>
          <a:xfrm>
            <a:off x="640080" y="2412615"/>
            <a:ext cx="1554480" cy="329184"/>
          </a:xfrm>
          <a:prstGeom prst="rect">
            <a:avLst/>
          </a:prstGeom>
          <a:noFill/>
          <a:ln/>
        </p:spPr>
        <p:txBody>
          <a:bodyPr wrap="square" lIns="0" tIns="0" rIns="0" bIns="0" rtlCol="0" anchor="t"/>
          <a:lstStyle/>
          <a:p>
            <a:pPr algn="ctr" indent="0" marL="0">
              <a:buNone/>
            </a:pPr>
            <a:r>
              <a:rPr lang="en-US" sz="1600" b="1" dirty="0">
                <a:solidFill>
                  <a:srgbClr val="11121A"/>
                </a:solidFill>
                <a:latin typeface="Palatino Linotype" pitchFamily="34" charset="0"/>
                <a:ea typeface="Palatino Linotype" pitchFamily="34" charset="-122"/>
                <a:cs typeface="Palatino Linotype" pitchFamily="34" charset="-120"/>
              </a:rPr>
              <a:t>98 695</a:t>
            </a:r>
            <a:endParaRPr lang="en-US" sz="1600" dirty="0"/>
          </a:p>
        </p:txBody>
      </p:sp>
      <p:sp>
        <p:nvSpPr>
          <p:cNvPr id="6" name="Text 4"/>
          <p:cNvSpPr/>
          <p:nvPr/>
        </p:nvSpPr>
        <p:spPr>
          <a:xfrm>
            <a:off x="640080" y="5175504"/>
            <a:ext cx="1554480" cy="274320"/>
          </a:xfrm>
          <a:prstGeom prst="rect">
            <a:avLst/>
          </a:prstGeom>
          <a:noFill/>
          <a:ln/>
        </p:spPr>
        <p:txBody>
          <a:bodyPr wrap="square" lIns="0" tIns="0" rIns="0" bIns="0" rtlCol="0" anchor="t"/>
          <a:lstStyle/>
          <a:p>
            <a:pPr algn="ctr" indent="0" marL="0">
              <a:buNone/>
            </a:pPr>
            <a:r>
              <a:rPr lang="en-US" sz="1400" dirty="0">
                <a:solidFill>
                  <a:srgbClr val="585A64"/>
                </a:solidFill>
                <a:latin typeface="Palatino Linotype" pitchFamily="34" charset="0"/>
                <a:ea typeface="Palatino Linotype" pitchFamily="34" charset="-122"/>
                <a:cs typeface="Palatino Linotype" pitchFamily="34" charset="-120"/>
              </a:rPr>
              <a:t>attendues</a:t>
            </a:r>
            <a:endParaRPr lang="en-US" sz="1400" dirty="0"/>
          </a:p>
        </p:txBody>
      </p:sp>
      <p:sp>
        <p:nvSpPr>
          <p:cNvPr id="7" name="Shape 5"/>
          <p:cNvSpPr/>
          <p:nvPr/>
        </p:nvSpPr>
        <p:spPr>
          <a:xfrm>
            <a:off x="2194560" y="2730981"/>
            <a:ext cx="1188720" cy="2389659"/>
          </a:xfrm>
          <a:prstGeom prst="rect">
            <a:avLst/>
          </a:prstGeom>
          <a:solidFill>
            <a:srgbClr val="B02532"/>
          </a:solidFill>
          <a:ln w="12700">
            <a:solidFill>
              <a:srgbClr val="B02532"/>
            </a:solidFill>
            <a:prstDash val="solid"/>
          </a:ln>
        </p:spPr>
        <p:txBody>
          <a:bodyPr/>
          <a:p/>
        </p:txBody>
      </p:sp>
      <p:sp>
        <p:nvSpPr>
          <p:cNvPr id="8" name="Text 6"/>
          <p:cNvSpPr/>
          <p:nvPr/>
        </p:nvSpPr>
        <p:spPr>
          <a:xfrm>
            <a:off x="2011680" y="2365221"/>
            <a:ext cx="1554480" cy="329184"/>
          </a:xfrm>
          <a:prstGeom prst="rect">
            <a:avLst/>
          </a:prstGeom>
          <a:noFill/>
          <a:ln/>
        </p:spPr>
        <p:txBody>
          <a:bodyPr wrap="square" lIns="0" tIns="0" rIns="0" bIns="0" rtlCol="0" anchor="t"/>
          <a:lstStyle/>
          <a:p>
            <a:pPr algn="ctr" indent="0" marL="0">
              <a:buNone/>
            </a:pPr>
            <a:r>
              <a:rPr lang="en-US" sz="1600" b="1" dirty="0">
                <a:solidFill>
                  <a:srgbClr val="11121A"/>
                </a:solidFill>
                <a:latin typeface="Palatino Linotype" pitchFamily="34" charset="0"/>
                <a:ea typeface="Palatino Linotype" pitchFamily="34" charset="-122"/>
                <a:cs typeface="Palatino Linotype" pitchFamily="34" charset="-120"/>
              </a:rPr>
              <a:t>100 692</a:t>
            </a:r>
            <a:endParaRPr lang="en-US" sz="1600" dirty="0"/>
          </a:p>
        </p:txBody>
      </p:sp>
      <p:sp>
        <p:nvSpPr>
          <p:cNvPr id="9" name="Text 7"/>
          <p:cNvSpPr/>
          <p:nvPr/>
        </p:nvSpPr>
        <p:spPr>
          <a:xfrm>
            <a:off x="2011680" y="5175504"/>
            <a:ext cx="1554480" cy="274320"/>
          </a:xfrm>
          <a:prstGeom prst="rect">
            <a:avLst/>
          </a:prstGeom>
          <a:noFill/>
          <a:ln/>
        </p:spPr>
        <p:txBody>
          <a:bodyPr wrap="square" lIns="0" tIns="0" rIns="0" bIns="0" rtlCol="0" anchor="t"/>
          <a:lstStyle/>
          <a:p>
            <a:pPr algn="ctr" indent="0" marL="0">
              <a:buNone/>
            </a:pPr>
            <a:r>
              <a:rPr lang="en-US" sz="1400" dirty="0">
                <a:solidFill>
                  <a:srgbClr val="585A64"/>
                </a:solidFill>
                <a:latin typeface="Palatino Linotype" pitchFamily="34" charset="0"/>
                <a:ea typeface="Palatino Linotype" pitchFamily="34" charset="-122"/>
                <a:cs typeface="Palatino Linotype" pitchFamily="34" charset="-120"/>
              </a:rPr>
              <a:t>calculées</a:t>
            </a:r>
            <a:endParaRPr lang="en-US" sz="1400" dirty="0"/>
          </a:p>
        </p:txBody>
      </p:sp>
      <p:sp>
        <p:nvSpPr>
          <p:cNvPr id="10" name="Text 8"/>
          <p:cNvSpPr/>
          <p:nvPr/>
        </p:nvSpPr>
        <p:spPr>
          <a:xfrm>
            <a:off x="822960" y="5504688"/>
            <a:ext cx="2560320" cy="36576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Teleorman</a:t>
            </a:r>
            <a:endParaRPr lang="en-US" sz="1900" dirty="0"/>
          </a:p>
        </p:txBody>
      </p:sp>
      <p:sp>
        <p:nvSpPr>
          <p:cNvPr id="11" name="Shape 9"/>
          <p:cNvSpPr/>
          <p:nvPr/>
        </p:nvSpPr>
        <p:spPr>
          <a:xfrm>
            <a:off x="3840480" y="2377440"/>
            <a:ext cx="1188720" cy="2743200"/>
          </a:xfrm>
          <a:prstGeom prst="rect">
            <a:avLst/>
          </a:prstGeom>
          <a:solidFill>
            <a:srgbClr val="B9B6AE"/>
          </a:solidFill>
          <a:ln w="12700">
            <a:solidFill>
              <a:srgbClr val="B9B6AE"/>
            </a:solidFill>
            <a:prstDash val="solid"/>
          </a:ln>
        </p:spPr>
        <p:txBody>
          <a:bodyPr/>
          <a:p/>
        </p:txBody>
      </p:sp>
      <p:sp>
        <p:nvSpPr>
          <p:cNvPr id="12" name="Text 10"/>
          <p:cNvSpPr/>
          <p:nvPr/>
        </p:nvSpPr>
        <p:spPr>
          <a:xfrm>
            <a:off x="3657600" y="2011680"/>
            <a:ext cx="1554480" cy="329184"/>
          </a:xfrm>
          <a:prstGeom prst="rect">
            <a:avLst/>
          </a:prstGeom>
          <a:noFill/>
          <a:ln/>
        </p:spPr>
        <p:txBody>
          <a:bodyPr wrap="square" lIns="0" tIns="0" rIns="0" bIns="0" rtlCol="0" anchor="t"/>
          <a:lstStyle/>
          <a:p>
            <a:pPr algn="ctr" indent="0" marL="0">
              <a:buNone/>
            </a:pPr>
            <a:r>
              <a:rPr lang="en-US" sz="1600" b="1" dirty="0">
                <a:solidFill>
                  <a:srgbClr val="11121A"/>
                </a:solidFill>
                <a:latin typeface="Palatino Linotype" pitchFamily="34" charset="0"/>
                <a:ea typeface="Palatino Linotype" pitchFamily="34" charset="-122"/>
                <a:cs typeface="Palatino Linotype" pitchFamily="34" charset="-120"/>
              </a:rPr>
              <a:t>115 589</a:t>
            </a:r>
            <a:endParaRPr lang="en-US" sz="1600" dirty="0"/>
          </a:p>
        </p:txBody>
      </p:sp>
      <p:sp>
        <p:nvSpPr>
          <p:cNvPr id="13" name="Text 11"/>
          <p:cNvSpPr/>
          <p:nvPr/>
        </p:nvSpPr>
        <p:spPr>
          <a:xfrm>
            <a:off x="3657600" y="5175504"/>
            <a:ext cx="1554480" cy="274320"/>
          </a:xfrm>
          <a:prstGeom prst="rect">
            <a:avLst/>
          </a:prstGeom>
          <a:noFill/>
          <a:ln/>
        </p:spPr>
        <p:txBody>
          <a:bodyPr wrap="square" lIns="0" tIns="0" rIns="0" bIns="0" rtlCol="0" anchor="t"/>
          <a:lstStyle/>
          <a:p>
            <a:pPr algn="ctr" indent="0" marL="0">
              <a:buNone/>
            </a:pPr>
            <a:r>
              <a:rPr lang="en-US" sz="1400" dirty="0">
                <a:solidFill>
                  <a:srgbClr val="585A64"/>
                </a:solidFill>
                <a:latin typeface="Palatino Linotype" pitchFamily="34" charset="0"/>
                <a:ea typeface="Palatino Linotype" pitchFamily="34" charset="-122"/>
                <a:cs typeface="Palatino Linotype" pitchFamily="34" charset="-120"/>
              </a:rPr>
              <a:t>attendues</a:t>
            </a:r>
            <a:endParaRPr lang="en-US" sz="1400" dirty="0"/>
          </a:p>
        </p:txBody>
      </p:sp>
      <p:sp>
        <p:nvSpPr>
          <p:cNvPr id="14" name="Shape 12"/>
          <p:cNvSpPr/>
          <p:nvPr/>
        </p:nvSpPr>
        <p:spPr>
          <a:xfrm>
            <a:off x="5212080" y="2933371"/>
            <a:ext cx="1188720" cy="2187269"/>
          </a:xfrm>
          <a:prstGeom prst="rect">
            <a:avLst/>
          </a:prstGeom>
          <a:solidFill>
            <a:srgbClr val="0E7C6B"/>
          </a:solidFill>
          <a:ln w="12700">
            <a:solidFill>
              <a:srgbClr val="0E7C6B"/>
            </a:solidFill>
            <a:prstDash val="solid"/>
          </a:ln>
        </p:spPr>
        <p:txBody>
          <a:bodyPr/>
          <a:p/>
        </p:txBody>
      </p:sp>
      <p:sp>
        <p:nvSpPr>
          <p:cNvPr id="15" name="Text 13"/>
          <p:cNvSpPr/>
          <p:nvPr/>
        </p:nvSpPr>
        <p:spPr>
          <a:xfrm>
            <a:off x="5029200" y="2567611"/>
            <a:ext cx="1554480" cy="329184"/>
          </a:xfrm>
          <a:prstGeom prst="rect">
            <a:avLst/>
          </a:prstGeom>
          <a:noFill/>
          <a:ln/>
        </p:spPr>
        <p:txBody>
          <a:bodyPr wrap="square" lIns="0" tIns="0" rIns="0" bIns="0" rtlCol="0" anchor="t"/>
          <a:lstStyle/>
          <a:p>
            <a:pPr algn="ctr" indent="0" marL="0">
              <a:buNone/>
            </a:pPr>
            <a:r>
              <a:rPr lang="en-US" sz="1600" b="1" dirty="0">
                <a:solidFill>
                  <a:srgbClr val="11121A"/>
                </a:solidFill>
                <a:latin typeface="Palatino Linotype" pitchFamily="34" charset="0"/>
                <a:ea typeface="Palatino Linotype" pitchFamily="34" charset="-122"/>
                <a:cs typeface="Palatino Linotype" pitchFamily="34" charset="-120"/>
              </a:rPr>
              <a:t>92 164</a:t>
            </a:r>
            <a:endParaRPr lang="en-US" sz="1600" dirty="0"/>
          </a:p>
        </p:txBody>
      </p:sp>
      <p:sp>
        <p:nvSpPr>
          <p:cNvPr id="16" name="Text 14"/>
          <p:cNvSpPr/>
          <p:nvPr/>
        </p:nvSpPr>
        <p:spPr>
          <a:xfrm>
            <a:off x="5029200" y="5175504"/>
            <a:ext cx="1554480" cy="274320"/>
          </a:xfrm>
          <a:prstGeom prst="rect">
            <a:avLst/>
          </a:prstGeom>
          <a:noFill/>
          <a:ln/>
        </p:spPr>
        <p:txBody>
          <a:bodyPr wrap="square" lIns="0" tIns="0" rIns="0" bIns="0" rtlCol="0" anchor="t"/>
          <a:lstStyle/>
          <a:p>
            <a:pPr algn="ctr" indent="0" marL="0">
              <a:buNone/>
            </a:pPr>
            <a:r>
              <a:rPr lang="en-US" sz="1400" dirty="0">
                <a:solidFill>
                  <a:srgbClr val="585A64"/>
                </a:solidFill>
                <a:latin typeface="Palatino Linotype" pitchFamily="34" charset="0"/>
                <a:ea typeface="Palatino Linotype" pitchFamily="34" charset="-122"/>
                <a:cs typeface="Palatino Linotype" pitchFamily="34" charset="-120"/>
              </a:rPr>
              <a:t>calculées</a:t>
            </a:r>
            <a:endParaRPr lang="en-US" sz="1400" dirty="0"/>
          </a:p>
        </p:txBody>
      </p:sp>
      <p:sp>
        <p:nvSpPr>
          <p:cNvPr id="17" name="Text 15"/>
          <p:cNvSpPr/>
          <p:nvPr/>
        </p:nvSpPr>
        <p:spPr>
          <a:xfrm>
            <a:off x="3840480" y="5504688"/>
            <a:ext cx="2560320" cy="365760"/>
          </a:xfrm>
          <a:prstGeom prst="rect">
            <a:avLst/>
          </a:prstGeom>
          <a:noFill/>
          <a:ln/>
        </p:spPr>
        <p:txBody>
          <a:bodyPr wrap="square" lIns="0" tIns="0" rIns="0" bIns="0" rtlCol="0" anchor="t"/>
          <a:lstStyle/>
          <a:p>
            <a:pPr indent="0" marL="0">
              <a:buNone/>
            </a:pPr>
            <a:r>
              <a:rPr lang="en-US" sz="1900" b="1" dirty="0">
                <a:solidFill>
                  <a:srgbClr val="0E7C6B"/>
                </a:solidFill>
                <a:latin typeface="Palatino Linotype" pitchFamily="34" charset="0"/>
                <a:ea typeface="Palatino Linotype" pitchFamily="34" charset="-122"/>
                <a:cs typeface="Palatino Linotype" pitchFamily="34" charset="-120"/>
              </a:rPr>
              <a:t>Ilfov</a:t>
            </a:r>
            <a:endParaRPr lang="en-US" sz="1900" dirty="0"/>
          </a:p>
        </p:txBody>
      </p:sp>
      <p:sp>
        <p:nvSpPr>
          <p:cNvPr id="18" name="Text 16"/>
          <p:cNvSpPr/>
          <p:nvPr/>
        </p:nvSpPr>
        <p:spPr>
          <a:xfrm>
            <a:off x="594360" y="5943600"/>
            <a:ext cx="6400800" cy="411480"/>
          </a:xfrm>
          <a:prstGeom prst="rect">
            <a:avLst/>
          </a:prstGeom>
          <a:noFill/>
          <a:ln/>
        </p:spPr>
        <p:txBody>
          <a:bodyPr wrap="square" lIns="0" tIns="0" rIns="0" bIns="0" rtlCol="0" anchor="t"/>
          <a:lstStyle/>
          <a:p>
            <a:pPr indent="0" marL="0">
              <a:buNone/>
            </a:pPr>
            <a:r>
              <a:rPr lang="en-US" sz="1300" dirty="0">
                <a:solidFill>
                  <a:srgbClr val="585A64"/>
                </a:solidFill>
                <a:latin typeface="Palatino Linotype" pitchFamily="34" charset="0"/>
                <a:ea typeface="Palatino Linotype" pitchFamily="34" charset="-122"/>
                <a:cs typeface="Palatino Linotype" pitchFamily="34" charset="-120"/>
              </a:rPr>
              <a:t>Attendues : avec les taux de mortalité par âge du pays. Calculées : par groupes quinquennaux.</a:t>
            </a:r>
            <a:endParaRPr lang="en-US" sz="1300" dirty="0"/>
          </a:p>
        </p:txBody>
      </p:sp>
      <p:sp>
        <p:nvSpPr>
          <p:cNvPr id="19" name="Shape 17"/>
          <p:cNvSpPr/>
          <p:nvPr/>
        </p:nvSpPr>
        <p:spPr>
          <a:xfrm>
            <a:off x="7223760" y="1600200"/>
            <a:ext cx="4343400" cy="4434840"/>
          </a:xfrm>
          <a:prstGeom prst="roundRect">
            <a:avLst>
              <a:gd name="adj" fmla="val 1895"/>
            </a:avLst>
          </a:prstGeom>
          <a:solidFill>
            <a:srgbClr val="1D1F2B"/>
          </a:solidFill>
          <a:ln w="12700">
            <a:solidFill>
              <a:srgbClr val="1D1F2B"/>
            </a:solidFill>
            <a:prstDash val="solid"/>
          </a:ln>
        </p:spPr>
        <p:txBody>
          <a:bodyPr/>
          <a:p/>
        </p:txBody>
      </p:sp>
      <p:sp>
        <p:nvSpPr>
          <p:cNvPr id="20" name="Text 18"/>
          <p:cNvSpPr/>
          <p:nvPr/>
        </p:nvSpPr>
        <p:spPr>
          <a:xfrm>
            <a:off x="7498080" y="1737360"/>
            <a:ext cx="3840480" cy="365760"/>
          </a:xfrm>
          <a:prstGeom prst="rect">
            <a:avLst/>
          </a:prstGeom>
          <a:noFill/>
          <a:ln/>
        </p:spPr>
        <p:txBody>
          <a:bodyPr wrap="square" lIns="0" tIns="0" rIns="0" bIns="0" rtlCol="0" anchor="t"/>
          <a:lstStyle/>
          <a:p>
            <a:pPr indent="0" marL="0">
              <a:buNone/>
            </a:pPr>
            <a:r>
              <a:rPr lang="en-US" sz="1500" b="1" dirty="0">
                <a:solidFill>
                  <a:srgbClr val="27D3BE"/>
                </a:solidFill>
                <a:latin typeface="Palatino Linotype" pitchFamily="34" charset="0"/>
                <a:ea typeface="Palatino Linotype" pitchFamily="34" charset="-122"/>
                <a:cs typeface="Palatino Linotype" pitchFamily="34" charset="-120"/>
              </a:rPr>
              <a:t>Taux bruts pour 1 000 habitants</a:t>
            </a:r>
            <a:endParaRPr lang="en-US" sz="1500" dirty="0"/>
          </a:p>
        </p:txBody>
      </p:sp>
      <p:sp>
        <p:nvSpPr>
          <p:cNvPr id="21" name="Text 19"/>
          <p:cNvSpPr/>
          <p:nvPr/>
        </p:nvSpPr>
        <p:spPr>
          <a:xfrm>
            <a:off x="7498080" y="2148840"/>
            <a:ext cx="3840480" cy="640080"/>
          </a:xfrm>
          <a:prstGeom prst="rect">
            <a:avLst/>
          </a:prstGeom>
          <a:noFill/>
          <a:ln/>
        </p:spPr>
        <p:txBody>
          <a:bodyPr wrap="square" lIns="0" tIns="0" rIns="0" bIns="0" rtlCol="0" anchor="t"/>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Teleorman 473,5 · Ilfov 287,0 · pays 396,4</a:t>
            </a:r>
            <a:endParaRPr lang="en-US" sz="1700" dirty="0"/>
          </a:p>
        </p:txBody>
      </p:sp>
      <p:sp>
        <p:nvSpPr>
          <p:cNvPr id="22" name="Text 20"/>
          <p:cNvSpPr/>
          <p:nvPr/>
        </p:nvSpPr>
        <p:spPr>
          <a:xfrm>
            <a:off x="7498080" y="2788920"/>
            <a:ext cx="3840480" cy="502920"/>
          </a:xfrm>
          <a:prstGeom prst="rect">
            <a:avLst/>
          </a:prstGeom>
          <a:noFill/>
          <a:ln/>
        </p:spPr>
        <p:txBody>
          <a:bodyPr wrap="square" lIns="0" tIns="0" rIns="0" bIns="0" rtlCol="0" anchor="t"/>
          <a:lstStyle/>
          <a:p>
            <a:pPr indent="0" marL="0">
              <a:buNone/>
            </a:pPr>
            <a:r>
              <a:rPr lang="en-US" sz="1300" dirty="0">
                <a:solidFill>
                  <a:srgbClr val="959BB0"/>
                </a:solidFill>
                <a:latin typeface="Palatino Linotype" pitchFamily="34" charset="0"/>
                <a:ea typeface="Palatino Linotype" pitchFamily="34" charset="-122"/>
                <a:cs typeface="Palatino Linotype" pitchFamily="34" charset="-120"/>
              </a:rPr>
              <a:t>Estimations propres, calculées à partir des taux GBD du pays.</a:t>
            </a:r>
            <a:endParaRPr lang="en-US" sz="1300" dirty="0"/>
          </a:p>
        </p:txBody>
      </p:sp>
      <p:sp>
        <p:nvSpPr>
          <p:cNvPr id="23" name="Text 21"/>
          <p:cNvSpPr/>
          <p:nvPr/>
        </p:nvSpPr>
        <p:spPr>
          <a:xfrm>
            <a:off x="7498080" y="3429000"/>
            <a:ext cx="3840480" cy="2468880"/>
          </a:xfrm>
          <a:prstGeom prst="rect">
            <a:avLst/>
          </a:prstGeom>
          <a:noFill/>
          <a:ln/>
        </p:spPr>
        <p:txBody>
          <a:bodyPr wrap="square" lIns="0" tIns="0" rIns="0" bIns="0" rtlCol="0" anchor="t"/>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Qu’est-ce qui explique le mieux la charge plus lourde de Teleorman ? Où irait l’argent de la prévention, et pourquoi ?</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092440" y="292608"/>
            <a:ext cx="34747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092440" y="292608"/>
            <a:ext cx="34747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EN ÉQUIPE · EXCEL</a:t>
            </a:r>
            <a:endParaRPr lang="en-US" sz="1300" dirty="0"/>
          </a:p>
        </p:txBody>
      </p:sp>
      <p:sp>
        <p:nvSpPr>
          <p:cNvPr id="4" name="Text 2"/>
          <p:cNvSpPr/>
          <p:nvPr/>
        </p:nvSpPr>
        <p:spPr>
          <a:xfrm>
            <a:off x="594360" y="347472"/>
            <a:ext cx="68580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LA CHARGE DE MORBIDITÉ DANS VOTRE COMTÉ</a:t>
            </a:r>
            <a:endParaRPr lang="en-US" sz="1300" dirty="0"/>
          </a:p>
        </p:txBody>
      </p:sp>
      <p:sp>
        <p:nvSpPr>
          <p:cNvPr id="5" name="Text 3"/>
          <p:cNvSpPr/>
          <p:nvPr/>
        </p:nvSpPr>
        <p:spPr>
          <a:xfrm>
            <a:off x="594360" y="777240"/>
            <a:ext cx="7498080" cy="82296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Même démarche, avec votre fichier</a:t>
            </a:r>
            <a:endParaRPr lang="en-US" sz="3200" dirty="0"/>
          </a:p>
        </p:txBody>
      </p:sp>
      <p:sp>
        <p:nvSpPr>
          <p:cNvPr id="6" name="Shape 4"/>
          <p:cNvSpPr/>
          <p:nvPr/>
        </p:nvSpPr>
        <p:spPr>
          <a:xfrm>
            <a:off x="594360" y="1828800"/>
            <a:ext cx="10972800" cy="749808"/>
          </a:xfrm>
          <a:prstGeom prst="roundRect">
            <a:avLst>
              <a:gd name="adj" fmla="val 10976"/>
            </a:avLst>
          </a:prstGeom>
          <a:solidFill>
            <a:srgbClr val="1D1F2B"/>
          </a:solidFill>
          <a:ln w="12700">
            <a:solidFill>
              <a:srgbClr val="1D1F2B"/>
            </a:solidFill>
            <a:prstDash val="solid"/>
          </a:ln>
        </p:spPr>
        <p:txBody>
          <a:bodyPr/>
          <a:p/>
        </p:txBody>
      </p:sp>
      <p:sp>
        <p:nvSpPr>
          <p:cNvPr id="7" name="Shape 5"/>
          <p:cNvSpPr/>
          <p:nvPr/>
        </p:nvSpPr>
        <p:spPr>
          <a:xfrm>
            <a:off x="914400" y="1993392"/>
            <a:ext cx="420624" cy="420624"/>
          </a:xfrm>
          <a:prstGeom prst="ellipse">
            <a:avLst/>
          </a:prstGeom>
          <a:solidFill>
            <a:srgbClr val="FFC24B"/>
          </a:solidFill>
          <a:ln/>
        </p:spPr>
        <p:txBody>
          <a:bodyPr/>
          <a:p/>
        </p:txBody>
      </p:sp>
      <p:sp>
        <p:nvSpPr>
          <p:cNvPr id="8" name="Text 6"/>
          <p:cNvSpPr/>
          <p:nvPr/>
        </p:nvSpPr>
        <p:spPr>
          <a:xfrm>
            <a:off x="914400" y="19933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600200" y="1828800"/>
            <a:ext cx="9692640" cy="749808"/>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Feuilles « Décès » et « Population » : l’année 2023, groupes quinquennaux.</a:t>
            </a:r>
            <a:endParaRPr lang="en-US" sz="1900" dirty="0"/>
          </a:p>
        </p:txBody>
      </p:sp>
      <p:sp>
        <p:nvSpPr>
          <p:cNvPr id="10" name="Shape 8"/>
          <p:cNvSpPr/>
          <p:nvPr/>
        </p:nvSpPr>
        <p:spPr>
          <a:xfrm>
            <a:off x="594360" y="2724912"/>
            <a:ext cx="10972800" cy="749808"/>
          </a:xfrm>
          <a:prstGeom prst="roundRect">
            <a:avLst>
              <a:gd name="adj" fmla="val 10976"/>
            </a:avLst>
          </a:prstGeom>
          <a:solidFill>
            <a:srgbClr val="1D1F2B"/>
          </a:solidFill>
          <a:ln w="12700">
            <a:solidFill>
              <a:srgbClr val="1D1F2B"/>
            </a:solidFill>
            <a:prstDash val="solid"/>
          </a:ln>
        </p:spPr>
        <p:txBody>
          <a:bodyPr/>
          <a:p/>
        </p:txBody>
      </p:sp>
      <p:sp>
        <p:nvSpPr>
          <p:cNvPr id="11" name="Shape 9"/>
          <p:cNvSpPr/>
          <p:nvPr/>
        </p:nvSpPr>
        <p:spPr>
          <a:xfrm>
            <a:off x="914400" y="2889504"/>
            <a:ext cx="420624" cy="420624"/>
          </a:xfrm>
          <a:prstGeom prst="ellipse">
            <a:avLst/>
          </a:prstGeom>
          <a:solidFill>
            <a:srgbClr val="FFC24B"/>
          </a:solidFill>
          <a:ln/>
        </p:spPr>
        <p:txBody>
          <a:bodyPr/>
          <a:p/>
        </p:txBody>
      </p:sp>
      <p:sp>
        <p:nvSpPr>
          <p:cNvPr id="12" name="Text 10"/>
          <p:cNvSpPr/>
          <p:nvPr/>
        </p:nvSpPr>
        <p:spPr>
          <a:xfrm>
            <a:off x="914400" y="28895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600200" y="2724912"/>
            <a:ext cx="9692640" cy="749808"/>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YLL, YLD et DALY, avec les paramètres par groupes quinquennaux.</a:t>
            </a:r>
            <a:endParaRPr lang="en-US" sz="1900" dirty="0"/>
          </a:p>
        </p:txBody>
      </p:sp>
      <p:sp>
        <p:nvSpPr>
          <p:cNvPr id="14" name="Shape 12"/>
          <p:cNvSpPr/>
          <p:nvPr/>
        </p:nvSpPr>
        <p:spPr>
          <a:xfrm>
            <a:off x="594360" y="3621024"/>
            <a:ext cx="10972800" cy="749808"/>
          </a:xfrm>
          <a:prstGeom prst="roundRect">
            <a:avLst>
              <a:gd name="adj" fmla="val 10976"/>
            </a:avLst>
          </a:prstGeom>
          <a:solidFill>
            <a:srgbClr val="1D1F2B"/>
          </a:solidFill>
          <a:ln w="12700">
            <a:solidFill>
              <a:srgbClr val="1D1F2B"/>
            </a:solidFill>
            <a:prstDash val="solid"/>
          </a:ln>
        </p:spPr>
        <p:txBody>
          <a:bodyPr/>
          <a:p/>
        </p:txBody>
      </p:sp>
      <p:sp>
        <p:nvSpPr>
          <p:cNvPr id="15" name="Shape 13"/>
          <p:cNvSpPr/>
          <p:nvPr/>
        </p:nvSpPr>
        <p:spPr>
          <a:xfrm>
            <a:off x="914400" y="3785616"/>
            <a:ext cx="420624" cy="420624"/>
          </a:xfrm>
          <a:prstGeom prst="ellipse">
            <a:avLst/>
          </a:prstGeom>
          <a:solidFill>
            <a:srgbClr val="FFC24B"/>
          </a:solidFill>
          <a:ln/>
        </p:spPr>
        <p:txBody>
          <a:bodyPr/>
          <a:p/>
        </p:txBody>
      </p:sp>
      <p:sp>
        <p:nvSpPr>
          <p:cNvPr id="16" name="Text 14"/>
          <p:cNvSpPr/>
          <p:nvPr/>
        </p:nvSpPr>
        <p:spPr>
          <a:xfrm>
            <a:off x="914400" y="378561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600200" y="3621024"/>
            <a:ext cx="9692640" cy="749808"/>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DALY pour 1 000 habitants et part des YLL dans les DALY.</a:t>
            </a:r>
            <a:endParaRPr lang="en-US" sz="1900" dirty="0"/>
          </a:p>
        </p:txBody>
      </p:sp>
      <p:sp>
        <p:nvSpPr>
          <p:cNvPr id="18" name="Shape 16"/>
          <p:cNvSpPr/>
          <p:nvPr/>
        </p:nvSpPr>
        <p:spPr>
          <a:xfrm>
            <a:off x="594360" y="4517136"/>
            <a:ext cx="10972800" cy="749808"/>
          </a:xfrm>
          <a:prstGeom prst="roundRect">
            <a:avLst>
              <a:gd name="adj" fmla="val 10976"/>
            </a:avLst>
          </a:prstGeom>
          <a:solidFill>
            <a:srgbClr val="1D1F2B"/>
          </a:solidFill>
          <a:ln w="12700">
            <a:solidFill>
              <a:srgbClr val="1D1F2B"/>
            </a:solidFill>
            <a:prstDash val="solid"/>
          </a:ln>
        </p:spPr>
        <p:txBody>
          <a:bodyPr/>
          <a:p/>
        </p:txBody>
      </p:sp>
      <p:sp>
        <p:nvSpPr>
          <p:cNvPr id="19" name="Shape 17"/>
          <p:cNvSpPr/>
          <p:nvPr/>
        </p:nvSpPr>
        <p:spPr>
          <a:xfrm>
            <a:off x="914400" y="4681728"/>
            <a:ext cx="420624" cy="420624"/>
          </a:xfrm>
          <a:prstGeom prst="ellipse">
            <a:avLst/>
          </a:prstGeom>
          <a:solidFill>
            <a:srgbClr val="FFC24B"/>
          </a:solidFill>
          <a:ln/>
        </p:spPr>
        <p:txBody>
          <a:bodyPr/>
          <a:p/>
        </p:txBody>
      </p:sp>
      <p:sp>
        <p:nvSpPr>
          <p:cNvPr id="20" name="Text 18"/>
          <p:cNvSpPr/>
          <p:nvPr/>
        </p:nvSpPr>
        <p:spPr>
          <a:xfrm>
            <a:off x="914400" y="4681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1" name="Text 19"/>
          <p:cNvSpPr/>
          <p:nvPr/>
        </p:nvSpPr>
        <p:spPr>
          <a:xfrm>
            <a:off x="1600200" y="4517136"/>
            <a:ext cx="9692640" cy="749808"/>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Contrôle de la méthode : appliquez d’abord la feuille à Teleorman et comparez avec la valeur de la page de travail.</a:t>
            </a:r>
            <a:endParaRPr lang="en-US" sz="1900" dirty="0"/>
          </a:p>
        </p:txBody>
      </p:sp>
      <p:sp>
        <p:nvSpPr>
          <p:cNvPr id="22" name="Text 20"/>
          <p:cNvSpPr/>
          <p:nvPr/>
        </p:nvSpPr>
        <p:spPr>
          <a:xfrm>
            <a:off x="594360" y="5577840"/>
            <a:ext cx="10972800" cy="457200"/>
          </a:xfrm>
          <a:prstGeom prst="rect">
            <a:avLst/>
          </a:prstGeom>
          <a:noFill/>
          <a:ln/>
        </p:spPr>
        <p:txBody>
          <a:bodyPr wrap="square" lIns="0" tIns="0" rIns="0" bIns="0" rtlCol="0" anchor="t"/>
          <a:lstStyle/>
          <a:p>
            <a:pPr indent="0" marL="0">
              <a:buNone/>
            </a:pPr>
            <a:r>
              <a:rPr lang="en-US" sz="1600" b="1" dirty="0">
                <a:solidFill>
                  <a:srgbClr val="27D3BE"/>
                </a:solidFill>
                <a:latin typeface="Palatino Linotype" pitchFamily="34" charset="0"/>
                <a:ea typeface="Palatino Linotype" pitchFamily="34" charset="-122"/>
                <a:cs typeface="Palatino Linotype" pitchFamily="34" charset="-120"/>
              </a:rPr>
              <a:t>Le chiffre du comté est une estimation propre, calculée à partir des taux GBD du pays.</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2"/>
        </a:solidFill>
      </p:bgPr>
    </p:bg>
    <p:spTree>
      <p:nvGrpSpPr>
        <p:cNvPr id="1" name=""/>
        <p:cNvGrpSpPr/>
        <p:nvPr/>
      </p:nvGrpSpPr>
      <p:grpSpPr>
        <a:xfrm>
          <a:off x="0" y="0"/>
          <a:ext cx="0" cy="0"/>
          <a:chOff x="0" y="0"/>
          <a:chExt cx="0" cy="0"/>
        </a:xfrm>
      </p:grpSpPr>
      <p:sp>
        <p:nvSpPr>
          <p:cNvPr id="2" name="Shape 0"/>
          <p:cNvSpPr/>
          <p:nvPr/>
        </p:nvSpPr>
        <p:spPr>
          <a:xfrm>
            <a:off x="8092440" y="292608"/>
            <a:ext cx="34747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092440" y="292608"/>
            <a:ext cx="34747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EN ÉQUIPE · VOTE</a:t>
            </a:r>
            <a:endParaRPr lang="en-US" sz="1300" dirty="0"/>
          </a:p>
        </p:txBody>
      </p:sp>
      <p:sp>
        <p:nvSpPr>
          <p:cNvPr id="4" name="Text 2"/>
          <p:cNvSpPr/>
          <p:nvPr/>
        </p:nvSpPr>
        <p:spPr>
          <a:xfrm>
            <a:off x="594360" y="347472"/>
            <a:ext cx="68580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ESQUISSE DE L’INFOGRAPHIE</a:t>
            </a:r>
            <a:endParaRPr lang="en-US" sz="1300" dirty="0"/>
          </a:p>
        </p:txBody>
      </p:sp>
      <p:sp>
        <p:nvSpPr>
          <p:cNvPr id="5" name="Text 3"/>
          <p:cNvSpPr/>
          <p:nvPr/>
        </p:nvSpPr>
        <p:spPr>
          <a:xfrm>
            <a:off x="594360" y="731520"/>
            <a:ext cx="7315200" cy="7315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Une page, cinq éléments</a:t>
            </a:r>
            <a:endParaRPr lang="en-US" sz="3000" dirty="0"/>
          </a:p>
        </p:txBody>
      </p:sp>
      <p:sp>
        <p:nvSpPr>
          <p:cNvPr id="6" name="Shape 4"/>
          <p:cNvSpPr/>
          <p:nvPr/>
        </p:nvSpPr>
        <p:spPr>
          <a:xfrm>
            <a:off x="594360" y="1600200"/>
            <a:ext cx="5486400" cy="4480560"/>
          </a:xfrm>
          <a:prstGeom prst="roundRect">
            <a:avLst>
              <a:gd name="adj" fmla="val 1837"/>
            </a:avLst>
          </a:prstGeom>
          <a:solidFill>
            <a:srgbClr val="FFFFFF"/>
          </a:solidFill>
          <a:ln w="19050">
            <a:solidFill>
              <a:srgbClr val="C9C6BE"/>
            </a:solidFill>
            <a:prstDash val="solid"/>
          </a:ln>
        </p:spPr>
        <p:txBody>
          <a:bodyPr/>
          <a:p/>
        </p:txBody>
      </p:sp>
      <p:sp>
        <p:nvSpPr>
          <p:cNvPr id="7" name="Shape 5"/>
          <p:cNvSpPr/>
          <p:nvPr/>
        </p:nvSpPr>
        <p:spPr>
          <a:xfrm>
            <a:off x="594360" y="1600200"/>
            <a:ext cx="5486400" cy="548640"/>
          </a:xfrm>
          <a:prstGeom prst="rect">
            <a:avLst/>
          </a:prstGeom>
          <a:solidFill>
            <a:srgbClr val="11121A"/>
          </a:solidFill>
          <a:ln w="12700">
            <a:solidFill>
              <a:srgbClr val="11121A"/>
            </a:solidFill>
            <a:prstDash val="solid"/>
          </a:ln>
        </p:spPr>
        <p:txBody>
          <a:bodyPr/>
          <a:p/>
        </p:txBody>
      </p:sp>
      <p:sp>
        <p:nvSpPr>
          <p:cNvPr id="8" name="Text 6"/>
          <p:cNvSpPr/>
          <p:nvPr/>
        </p:nvSpPr>
        <p:spPr>
          <a:xfrm>
            <a:off x="822960" y="1600200"/>
            <a:ext cx="5029200" cy="54864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La charge de morbidité dans le comté de ..., 2023</a:t>
            </a:r>
            <a:endParaRPr lang="en-US" sz="1600" dirty="0"/>
          </a:p>
        </p:txBody>
      </p:sp>
      <p:sp>
        <p:nvSpPr>
          <p:cNvPr id="9" name="Text 7"/>
          <p:cNvSpPr/>
          <p:nvPr/>
        </p:nvSpPr>
        <p:spPr>
          <a:xfrm>
            <a:off x="822960" y="2286000"/>
            <a:ext cx="5029200" cy="640080"/>
          </a:xfrm>
          <a:prstGeom prst="rect">
            <a:avLst/>
          </a:prstGeom>
          <a:noFill/>
          <a:ln/>
        </p:spPr>
        <p:txBody>
          <a:bodyPr wrap="square" lIns="0" tIns="0" rIns="0" bIns="0" rtlCol="0" anchor="ctr"/>
          <a:lstStyle/>
          <a:p>
            <a:pPr indent="0" marL="0">
              <a:buNone/>
            </a:pPr>
            <a:r>
              <a:rPr lang="en-US" sz="3000" b="1" dirty="0">
                <a:solidFill>
                  <a:srgbClr val="B02532"/>
                </a:solidFill>
                <a:latin typeface="Palatino Linotype" pitchFamily="34" charset="0"/>
                <a:ea typeface="Palatino Linotype" pitchFamily="34" charset="-122"/>
                <a:cs typeface="Palatino Linotype" pitchFamily="34" charset="-120"/>
              </a:rPr>
              <a:t>[chiffre du comté]</a:t>
            </a:r>
            <a:endParaRPr lang="en-US" sz="3000" dirty="0"/>
          </a:p>
        </p:txBody>
      </p:sp>
      <p:sp>
        <p:nvSpPr>
          <p:cNvPr id="10" name="Text 8"/>
          <p:cNvSpPr/>
          <p:nvPr/>
        </p:nvSpPr>
        <p:spPr>
          <a:xfrm>
            <a:off x="822960" y="2926080"/>
            <a:ext cx="5029200" cy="320040"/>
          </a:xfrm>
          <a:prstGeom prst="rect">
            <a:avLst/>
          </a:prstGeom>
          <a:noFill/>
          <a:ln/>
        </p:spPr>
        <p:txBody>
          <a:bodyPr wrap="square" lIns="0" tIns="0" rIns="0" bIns="0" rtlCol="0" anchor="t"/>
          <a:lstStyle/>
          <a:p>
            <a:pPr indent="0" marL="0">
              <a:buNone/>
            </a:pPr>
            <a:r>
              <a:rPr lang="en-US" sz="1300" b="1" dirty="0">
                <a:solidFill>
                  <a:srgbClr val="8A6100"/>
                </a:solidFill>
                <a:latin typeface="Palatino Linotype" pitchFamily="34" charset="0"/>
                <a:ea typeface="Palatino Linotype" pitchFamily="34" charset="-122"/>
                <a:cs typeface="Palatino Linotype" pitchFamily="34" charset="-120"/>
              </a:rPr>
              <a:t>estimation propre, calculée à partir des taux GBD du pays</a:t>
            </a:r>
            <a:endParaRPr lang="en-US" sz="1300" dirty="0"/>
          </a:p>
        </p:txBody>
      </p:sp>
      <p:sp>
        <p:nvSpPr>
          <p:cNvPr id="11" name="Shape 9"/>
          <p:cNvSpPr/>
          <p:nvPr/>
        </p:nvSpPr>
        <p:spPr>
          <a:xfrm>
            <a:off x="822960" y="3383280"/>
            <a:ext cx="5029200" cy="13716"/>
          </a:xfrm>
          <a:prstGeom prst="rect">
            <a:avLst/>
          </a:prstGeom>
          <a:solidFill>
            <a:srgbClr val="C9C6BE"/>
          </a:solidFill>
          <a:ln w="12700">
            <a:solidFill>
              <a:srgbClr val="C9C6BE"/>
            </a:solidFill>
            <a:prstDash val="solid"/>
          </a:ln>
        </p:spPr>
        <p:txBody>
          <a:bodyPr/>
          <a:p/>
        </p:txBody>
      </p:sp>
      <p:sp>
        <p:nvSpPr>
          <p:cNvPr id="12" name="Text 10"/>
          <p:cNvSpPr/>
          <p:nvPr/>
        </p:nvSpPr>
        <p:spPr>
          <a:xfrm>
            <a:off x="822960" y="3474720"/>
            <a:ext cx="5029200" cy="41148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Comparaison avec le pays et avec l’Union européenne</a:t>
            </a:r>
            <a:endParaRPr lang="en-US" sz="1400" dirty="0"/>
          </a:p>
        </p:txBody>
      </p:sp>
      <p:sp>
        <p:nvSpPr>
          <p:cNvPr id="13" name="Shape 11"/>
          <p:cNvSpPr/>
          <p:nvPr/>
        </p:nvSpPr>
        <p:spPr>
          <a:xfrm>
            <a:off x="822960" y="3977640"/>
            <a:ext cx="5029200" cy="13716"/>
          </a:xfrm>
          <a:prstGeom prst="rect">
            <a:avLst/>
          </a:prstGeom>
          <a:solidFill>
            <a:srgbClr val="C9C6BE"/>
          </a:solidFill>
          <a:ln w="12700">
            <a:solidFill>
              <a:srgbClr val="C9C6BE"/>
            </a:solidFill>
            <a:prstDash val="solid"/>
          </a:ln>
        </p:spPr>
        <p:txBody>
          <a:bodyPr/>
          <a:p/>
        </p:txBody>
      </p:sp>
      <p:sp>
        <p:nvSpPr>
          <p:cNvPr id="14" name="Text 12"/>
          <p:cNvSpPr/>
          <p:nvPr/>
        </p:nvSpPr>
        <p:spPr>
          <a:xfrm>
            <a:off x="822960" y="4069080"/>
            <a:ext cx="5029200" cy="41148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Cinq premières causes : données nationales</a:t>
            </a:r>
            <a:endParaRPr lang="en-US" sz="1400" dirty="0"/>
          </a:p>
        </p:txBody>
      </p:sp>
      <p:sp>
        <p:nvSpPr>
          <p:cNvPr id="15" name="Shape 13"/>
          <p:cNvSpPr/>
          <p:nvPr/>
        </p:nvSpPr>
        <p:spPr>
          <a:xfrm>
            <a:off x="822960" y="4572000"/>
            <a:ext cx="5029200" cy="13716"/>
          </a:xfrm>
          <a:prstGeom prst="rect">
            <a:avLst/>
          </a:prstGeom>
          <a:solidFill>
            <a:srgbClr val="C9C6BE"/>
          </a:solidFill>
          <a:ln w="12700">
            <a:solidFill>
              <a:srgbClr val="C9C6BE"/>
            </a:solidFill>
            <a:prstDash val="solid"/>
          </a:ln>
        </p:spPr>
        <p:txBody>
          <a:bodyPr/>
          <a:p/>
        </p:txBody>
      </p:sp>
      <p:sp>
        <p:nvSpPr>
          <p:cNvPr id="16" name="Text 14"/>
          <p:cNvSpPr/>
          <p:nvPr/>
        </p:nvSpPr>
        <p:spPr>
          <a:xfrm>
            <a:off x="822960" y="4663440"/>
            <a:ext cx="5029200" cy="411480"/>
          </a:xfrm>
          <a:prstGeom prst="rect">
            <a:avLst/>
          </a:prstGeom>
          <a:noFill/>
          <a:ln/>
        </p:spPr>
        <p:txBody>
          <a:bodyPr wrap="square" lIns="0" tIns="0" rIns="0" bIns="0" rtlCol="0" anchor="ctr"/>
          <a:lstStyle/>
          <a:p>
            <a:pPr indent="0" marL="0">
              <a:buNone/>
            </a:pPr>
            <a:r>
              <a:rPr lang="en-US" sz="1300" i="1" dirty="0">
                <a:solidFill>
                  <a:srgbClr val="585A64"/>
                </a:solidFill>
                <a:latin typeface="Palatino Linotype" pitchFamily="34" charset="0"/>
                <a:ea typeface="Palatino Linotype" pitchFamily="34" charset="-122"/>
                <a:cs typeface="Palatino Linotype" pitchFamily="34" charset="-120"/>
              </a:rPr>
              <a:t>Sources : GBD 2023, IHME ; Eurostat</a:t>
            </a:r>
            <a:endParaRPr lang="en-US" sz="1300" dirty="0"/>
          </a:p>
        </p:txBody>
      </p:sp>
      <p:sp>
        <p:nvSpPr>
          <p:cNvPr id="17" name="Shape 15"/>
          <p:cNvSpPr/>
          <p:nvPr/>
        </p:nvSpPr>
        <p:spPr>
          <a:xfrm>
            <a:off x="6400800" y="1600200"/>
            <a:ext cx="5166360" cy="804672"/>
          </a:xfrm>
          <a:prstGeom prst="roundRect">
            <a:avLst>
              <a:gd name="adj" fmla="val 10227"/>
            </a:avLst>
          </a:prstGeom>
          <a:solidFill>
            <a:srgbClr val="ECEAE4"/>
          </a:solidFill>
          <a:ln w="12700">
            <a:solidFill>
              <a:srgbClr val="ECEAE4"/>
            </a:solidFill>
            <a:prstDash val="solid"/>
          </a:ln>
        </p:spPr>
        <p:txBody>
          <a:bodyPr/>
          <a:p/>
        </p:txBody>
      </p:sp>
      <p:sp>
        <p:nvSpPr>
          <p:cNvPr id="18" name="Text 16"/>
          <p:cNvSpPr/>
          <p:nvPr/>
        </p:nvSpPr>
        <p:spPr>
          <a:xfrm>
            <a:off x="6629400" y="1600200"/>
            <a:ext cx="640080" cy="804672"/>
          </a:xfrm>
          <a:prstGeom prst="rect">
            <a:avLst/>
          </a:prstGeom>
          <a:noFill/>
          <a:ln/>
        </p:spPr>
        <p:txBody>
          <a:bodyPr wrap="square" lIns="0" tIns="0" rIns="0" bIns="0" rtlCol="0" anchor="ctr"/>
          <a:lstStyle/>
          <a:p>
            <a:pPr indent="0" marL="0">
              <a:buNone/>
            </a:pPr>
            <a:r>
              <a:rPr lang="en-US" sz="3400" b="1" dirty="0">
                <a:solidFill>
                  <a:srgbClr val="B02532"/>
                </a:solidFill>
                <a:latin typeface="Palatino Linotype" pitchFamily="34" charset="0"/>
                <a:ea typeface="Palatino Linotype" pitchFamily="34" charset="-122"/>
                <a:cs typeface="Palatino Linotype" pitchFamily="34" charset="-120"/>
              </a:rPr>
              <a:t>4</a:t>
            </a:r>
            <a:endParaRPr lang="en-US" sz="3400" dirty="0"/>
          </a:p>
        </p:txBody>
      </p:sp>
      <p:sp>
        <p:nvSpPr>
          <p:cNvPr id="19" name="Text 17"/>
          <p:cNvSpPr/>
          <p:nvPr/>
        </p:nvSpPr>
        <p:spPr>
          <a:xfrm>
            <a:off x="7360920" y="1600200"/>
            <a:ext cx="4114800" cy="804672"/>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exactitude des données, y compris le marquage du chiffre du comté</a:t>
            </a:r>
            <a:endParaRPr lang="en-US" sz="1600" dirty="0"/>
          </a:p>
        </p:txBody>
      </p:sp>
      <p:sp>
        <p:nvSpPr>
          <p:cNvPr id="20" name="Shape 18"/>
          <p:cNvSpPr/>
          <p:nvPr/>
        </p:nvSpPr>
        <p:spPr>
          <a:xfrm>
            <a:off x="6400800" y="2514600"/>
            <a:ext cx="5166360" cy="804672"/>
          </a:xfrm>
          <a:prstGeom prst="roundRect">
            <a:avLst>
              <a:gd name="adj" fmla="val 10227"/>
            </a:avLst>
          </a:prstGeom>
          <a:solidFill>
            <a:srgbClr val="ECEAE4"/>
          </a:solidFill>
          <a:ln w="12700">
            <a:solidFill>
              <a:srgbClr val="ECEAE4"/>
            </a:solidFill>
            <a:prstDash val="solid"/>
          </a:ln>
        </p:spPr>
        <p:txBody>
          <a:bodyPr/>
          <a:p/>
        </p:txBody>
      </p:sp>
      <p:sp>
        <p:nvSpPr>
          <p:cNvPr id="21" name="Text 19"/>
          <p:cNvSpPr/>
          <p:nvPr/>
        </p:nvSpPr>
        <p:spPr>
          <a:xfrm>
            <a:off x="6629400" y="2514600"/>
            <a:ext cx="640080" cy="804672"/>
          </a:xfrm>
          <a:prstGeom prst="rect">
            <a:avLst/>
          </a:prstGeom>
          <a:noFill/>
          <a:ln/>
        </p:spPr>
        <p:txBody>
          <a:bodyPr wrap="square" lIns="0" tIns="0" rIns="0" bIns="0" rtlCol="0" anchor="ctr"/>
          <a:lstStyle/>
          <a:p>
            <a:pPr indent="0" marL="0">
              <a:buNone/>
            </a:pPr>
            <a:r>
              <a:rPr lang="en-US" sz="3400" b="1" dirty="0">
                <a:solidFill>
                  <a:srgbClr val="0E7C6B"/>
                </a:solidFill>
                <a:latin typeface="Palatino Linotype" pitchFamily="34" charset="0"/>
                <a:ea typeface="Palatino Linotype" pitchFamily="34" charset="-122"/>
                <a:cs typeface="Palatino Linotype" pitchFamily="34" charset="-120"/>
              </a:rPr>
              <a:t>4</a:t>
            </a:r>
            <a:endParaRPr lang="en-US" sz="3400" dirty="0"/>
          </a:p>
        </p:txBody>
      </p:sp>
      <p:sp>
        <p:nvSpPr>
          <p:cNvPr id="22" name="Text 20"/>
          <p:cNvSpPr/>
          <p:nvPr/>
        </p:nvSpPr>
        <p:spPr>
          <a:xfrm>
            <a:off x="7360920" y="2514600"/>
            <a:ext cx="4114800" cy="804672"/>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clarté visuelle</a:t>
            </a:r>
            <a:endParaRPr lang="en-US" sz="1600" dirty="0"/>
          </a:p>
        </p:txBody>
      </p:sp>
      <p:sp>
        <p:nvSpPr>
          <p:cNvPr id="23" name="Shape 21"/>
          <p:cNvSpPr/>
          <p:nvPr/>
        </p:nvSpPr>
        <p:spPr>
          <a:xfrm>
            <a:off x="6400800" y="3429000"/>
            <a:ext cx="5166360" cy="804672"/>
          </a:xfrm>
          <a:prstGeom prst="roundRect">
            <a:avLst>
              <a:gd name="adj" fmla="val 10227"/>
            </a:avLst>
          </a:prstGeom>
          <a:solidFill>
            <a:srgbClr val="ECEAE4"/>
          </a:solidFill>
          <a:ln w="12700">
            <a:solidFill>
              <a:srgbClr val="ECEAE4"/>
            </a:solidFill>
            <a:prstDash val="solid"/>
          </a:ln>
        </p:spPr>
        <p:txBody>
          <a:bodyPr/>
          <a:p/>
        </p:txBody>
      </p:sp>
      <p:sp>
        <p:nvSpPr>
          <p:cNvPr id="24" name="Text 22"/>
          <p:cNvSpPr/>
          <p:nvPr/>
        </p:nvSpPr>
        <p:spPr>
          <a:xfrm>
            <a:off x="6629400" y="3429000"/>
            <a:ext cx="640080" cy="804672"/>
          </a:xfrm>
          <a:prstGeom prst="rect">
            <a:avLst/>
          </a:prstGeom>
          <a:noFill/>
          <a:ln/>
        </p:spPr>
        <p:txBody>
          <a:bodyPr wrap="square" lIns="0" tIns="0" rIns="0" bIns="0" rtlCol="0" anchor="ctr"/>
          <a:lstStyle/>
          <a:p>
            <a:pPr indent="0" marL="0">
              <a:buNone/>
            </a:pPr>
            <a:r>
              <a:rPr lang="en-US" sz="3400" b="1" dirty="0">
                <a:solidFill>
                  <a:srgbClr val="4A2D8C"/>
                </a:solidFill>
                <a:latin typeface="Palatino Linotype" pitchFamily="34" charset="0"/>
                <a:ea typeface="Palatino Linotype" pitchFamily="34" charset="-122"/>
                <a:cs typeface="Palatino Linotype" pitchFamily="34" charset="-120"/>
              </a:rPr>
              <a:t>2</a:t>
            </a:r>
            <a:endParaRPr lang="en-US" sz="3400" dirty="0"/>
          </a:p>
        </p:txBody>
      </p:sp>
      <p:sp>
        <p:nvSpPr>
          <p:cNvPr id="25" name="Text 23"/>
          <p:cNvSpPr/>
          <p:nvPr/>
        </p:nvSpPr>
        <p:spPr>
          <a:xfrm>
            <a:off x="7360920" y="3429000"/>
            <a:ext cx="4114800" cy="804672"/>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sources citées</a:t>
            </a:r>
            <a:endParaRPr lang="en-US" sz="1600" dirty="0"/>
          </a:p>
        </p:txBody>
      </p:sp>
      <p:sp>
        <p:nvSpPr>
          <p:cNvPr id="26" name="Shape 24"/>
          <p:cNvSpPr/>
          <p:nvPr/>
        </p:nvSpPr>
        <p:spPr>
          <a:xfrm>
            <a:off x="6400800" y="4434840"/>
            <a:ext cx="5166360" cy="1645920"/>
          </a:xfrm>
          <a:prstGeom prst="roundRect">
            <a:avLst>
              <a:gd name="adj" fmla="val 5000"/>
            </a:avLst>
          </a:prstGeom>
          <a:solidFill>
            <a:srgbClr val="1D1F2B"/>
          </a:solidFill>
          <a:ln w="12700">
            <a:solidFill>
              <a:srgbClr val="1D1F2B"/>
            </a:solidFill>
            <a:prstDash val="solid"/>
          </a:ln>
        </p:spPr>
        <p:txBody>
          <a:bodyPr/>
          <a:p/>
        </p:txBody>
      </p:sp>
      <p:sp>
        <p:nvSpPr>
          <p:cNvPr id="27" name="Text 25"/>
          <p:cNvSpPr/>
          <p:nvPr/>
        </p:nvSpPr>
        <p:spPr>
          <a:xfrm>
            <a:off x="6629400" y="4434840"/>
            <a:ext cx="4709160" cy="164592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Deux ou trois équipes montrent leur esquisse. Le groupe vote, à main levée, pour l’esquisse qui se comprend le plus vite.</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À LA MAISON, DANS LES DEUX JOURS</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La charge de morbidité dans votre comté</a:t>
            </a:r>
            <a:endParaRPr lang="en-US" sz="3000" dirty="0"/>
          </a:p>
        </p:txBody>
      </p:sp>
      <p:sp>
        <p:nvSpPr>
          <p:cNvPr id="4" name="Shape 2"/>
          <p:cNvSpPr/>
          <p:nvPr/>
        </p:nvSpPr>
        <p:spPr>
          <a:xfrm>
            <a:off x="594360" y="1554480"/>
            <a:ext cx="10972800" cy="868680"/>
          </a:xfrm>
          <a:prstGeom prst="roundRect">
            <a:avLst>
              <a:gd name="adj" fmla="val 9474"/>
            </a:avLst>
          </a:prstGeom>
          <a:solidFill>
            <a:srgbClr val="1D1F2B"/>
          </a:solidFill>
          <a:ln w="12700">
            <a:solidFill>
              <a:srgbClr val="1D1F2B"/>
            </a:solidFill>
            <a:prstDash val="solid"/>
          </a:ln>
        </p:spPr>
        <p:txBody>
          <a:bodyPr/>
          <a:p/>
        </p:txBody>
      </p:sp>
      <p:sp>
        <p:nvSpPr>
          <p:cNvPr id="5" name="Text 3"/>
          <p:cNvSpPr/>
          <p:nvPr/>
        </p:nvSpPr>
        <p:spPr>
          <a:xfrm>
            <a:off x="868680" y="1554480"/>
            <a:ext cx="10424160" cy="868680"/>
          </a:xfrm>
          <a:prstGeom prst="rect">
            <a:avLst/>
          </a:prstGeom>
          <a:noFill/>
          <a:ln/>
        </p:spPr>
        <p:txBody>
          <a:bodyPr wrap="square" lIns="0" tIns="0" rIns="0" bIns="0" rtlCol="0" anchor="ctr"/>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Synthèse, à tour de rôle : </a:t>
            </a:r>
            <a:pPr indent="0" marL="0">
              <a:buNone/>
            </a:pPr>
            <a:r>
              <a:rPr lang="en-US" sz="1800" dirty="0">
                <a:solidFill>
                  <a:srgbClr val="FFFFFF"/>
                </a:solidFill>
                <a:latin typeface="Palatino Linotype" pitchFamily="34" charset="0"/>
                <a:ea typeface="Palatino Linotype" pitchFamily="34" charset="-122"/>
                <a:cs typeface="Palatino Linotype" pitchFamily="34" charset="-120"/>
              </a:rPr>
              <a:t>quel chiffre mettriez-vous en première page, et quelle priorité en découle ?</a:t>
            </a:r>
            <a:endParaRPr lang="en-US" sz="1800" dirty="0"/>
          </a:p>
        </p:txBody>
      </p:sp>
      <p:sp>
        <p:nvSpPr>
          <p:cNvPr id="6" name="Shape 4"/>
          <p:cNvSpPr/>
          <p:nvPr/>
        </p:nvSpPr>
        <p:spPr>
          <a:xfrm>
            <a:off x="594360" y="2606040"/>
            <a:ext cx="10972800" cy="640080"/>
          </a:xfrm>
          <a:prstGeom prst="roundRect">
            <a:avLst>
              <a:gd name="adj" fmla="val 12857"/>
            </a:avLst>
          </a:prstGeom>
          <a:solidFill>
            <a:srgbClr val="ECEAE4"/>
          </a:solidFill>
          <a:ln w="12700">
            <a:solidFill>
              <a:srgbClr val="ECEAE4"/>
            </a:solidFill>
            <a:prstDash val="solid"/>
          </a:ln>
        </p:spPr>
        <p:txBody>
          <a:bodyPr/>
          <a:p/>
        </p:txBody>
      </p:sp>
      <p:sp>
        <p:nvSpPr>
          <p:cNvPr id="7" name="Shape 5"/>
          <p:cNvSpPr/>
          <p:nvPr/>
        </p:nvSpPr>
        <p:spPr>
          <a:xfrm>
            <a:off x="868680" y="2715768"/>
            <a:ext cx="420624" cy="420624"/>
          </a:xfrm>
          <a:prstGeom prst="ellipse">
            <a:avLst/>
          </a:prstGeom>
          <a:solidFill>
            <a:srgbClr val="FF4757"/>
          </a:solidFill>
          <a:ln/>
        </p:spPr>
        <p:txBody>
          <a:bodyPr/>
          <a:p/>
        </p:txBody>
      </p:sp>
      <p:sp>
        <p:nvSpPr>
          <p:cNvPr id="8" name="Text 6"/>
          <p:cNvSpPr/>
          <p:nvPr/>
        </p:nvSpPr>
        <p:spPr>
          <a:xfrm>
            <a:off x="868680" y="271576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508760" y="2606040"/>
            <a:ext cx="9875520" cy="6400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YLL, YLD et DALY du comté, par groupes quinquennaux, pour 2023.</a:t>
            </a:r>
            <a:endParaRPr lang="en-US" sz="1600" dirty="0"/>
          </a:p>
        </p:txBody>
      </p:sp>
      <p:sp>
        <p:nvSpPr>
          <p:cNvPr id="10" name="Shape 8"/>
          <p:cNvSpPr/>
          <p:nvPr/>
        </p:nvSpPr>
        <p:spPr>
          <a:xfrm>
            <a:off x="594360" y="3337560"/>
            <a:ext cx="10972800" cy="640080"/>
          </a:xfrm>
          <a:prstGeom prst="roundRect">
            <a:avLst>
              <a:gd name="adj" fmla="val 12857"/>
            </a:avLst>
          </a:prstGeom>
          <a:solidFill>
            <a:srgbClr val="F9F8F5"/>
          </a:solidFill>
          <a:ln w="12700">
            <a:solidFill>
              <a:srgbClr val="F9F8F5"/>
            </a:solidFill>
            <a:prstDash val="solid"/>
          </a:ln>
        </p:spPr>
        <p:txBody>
          <a:bodyPr/>
          <a:p/>
        </p:txBody>
      </p:sp>
      <p:sp>
        <p:nvSpPr>
          <p:cNvPr id="11" name="Shape 9"/>
          <p:cNvSpPr/>
          <p:nvPr/>
        </p:nvSpPr>
        <p:spPr>
          <a:xfrm>
            <a:off x="868680" y="3447288"/>
            <a:ext cx="420624" cy="420624"/>
          </a:xfrm>
          <a:prstGeom prst="ellipse">
            <a:avLst/>
          </a:prstGeom>
          <a:solidFill>
            <a:srgbClr val="FF4757"/>
          </a:solidFill>
          <a:ln/>
        </p:spPr>
        <p:txBody>
          <a:bodyPr/>
          <a:p/>
        </p:txBody>
      </p:sp>
      <p:sp>
        <p:nvSpPr>
          <p:cNvPr id="12" name="Text 10"/>
          <p:cNvSpPr/>
          <p:nvPr/>
        </p:nvSpPr>
        <p:spPr>
          <a:xfrm>
            <a:off x="868680" y="344728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508760" y="3337560"/>
            <a:ext cx="9875520" cy="6400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DALY pour 1 000 habitants et part des YLL, comparés à Teleorman (473,2), Ilfov (287,8) et au pays (397,0).</a:t>
            </a:r>
            <a:endParaRPr lang="en-US" sz="1600" dirty="0"/>
          </a:p>
        </p:txBody>
      </p:sp>
      <p:sp>
        <p:nvSpPr>
          <p:cNvPr id="14" name="Shape 12"/>
          <p:cNvSpPr/>
          <p:nvPr/>
        </p:nvSpPr>
        <p:spPr>
          <a:xfrm>
            <a:off x="594360" y="4069080"/>
            <a:ext cx="10972800" cy="640080"/>
          </a:xfrm>
          <a:prstGeom prst="roundRect">
            <a:avLst>
              <a:gd name="adj" fmla="val 12857"/>
            </a:avLst>
          </a:prstGeom>
          <a:solidFill>
            <a:srgbClr val="ECEAE4"/>
          </a:solidFill>
          <a:ln w="12700">
            <a:solidFill>
              <a:srgbClr val="ECEAE4"/>
            </a:solidFill>
            <a:prstDash val="solid"/>
          </a:ln>
        </p:spPr>
        <p:txBody>
          <a:bodyPr/>
          <a:p/>
        </p:txBody>
      </p:sp>
      <p:sp>
        <p:nvSpPr>
          <p:cNvPr id="15" name="Shape 13"/>
          <p:cNvSpPr/>
          <p:nvPr/>
        </p:nvSpPr>
        <p:spPr>
          <a:xfrm>
            <a:off x="868680" y="4178808"/>
            <a:ext cx="420624" cy="420624"/>
          </a:xfrm>
          <a:prstGeom prst="ellipse">
            <a:avLst/>
          </a:prstGeom>
          <a:solidFill>
            <a:srgbClr val="FF4757"/>
          </a:solidFill>
          <a:ln/>
        </p:spPr>
        <p:txBody>
          <a:bodyPr/>
          <a:p/>
        </p:txBody>
      </p:sp>
      <p:sp>
        <p:nvSpPr>
          <p:cNvPr id="16" name="Text 14"/>
          <p:cNvSpPr/>
          <p:nvPr/>
        </p:nvSpPr>
        <p:spPr>
          <a:xfrm>
            <a:off x="868680" y="417880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508760" y="4069080"/>
            <a:ext cx="9875520" cy="6400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L’infographie, PDF ou PNG : chiffre du comté marqué comme estimation propre, cinq premières causes marquées comme nationales.</a:t>
            </a:r>
            <a:endParaRPr lang="en-US" sz="1600" dirty="0"/>
          </a:p>
        </p:txBody>
      </p:sp>
      <p:sp>
        <p:nvSpPr>
          <p:cNvPr id="18" name="Shape 16"/>
          <p:cNvSpPr/>
          <p:nvPr/>
        </p:nvSpPr>
        <p:spPr>
          <a:xfrm>
            <a:off x="594360" y="4800600"/>
            <a:ext cx="10972800" cy="640080"/>
          </a:xfrm>
          <a:prstGeom prst="roundRect">
            <a:avLst>
              <a:gd name="adj" fmla="val 12857"/>
            </a:avLst>
          </a:prstGeom>
          <a:solidFill>
            <a:srgbClr val="F9F8F5"/>
          </a:solidFill>
          <a:ln w="12700">
            <a:solidFill>
              <a:srgbClr val="F9F8F5"/>
            </a:solidFill>
            <a:prstDash val="solid"/>
          </a:ln>
        </p:spPr>
        <p:txBody>
          <a:bodyPr/>
          <a:p/>
        </p:txBody>
      </p:sp>
      <p:sp>
        <p:nvSpPr>
          <p:cNvPr id="19" name="Shape 17"/>
          <p:cNvSpPr/>
          <p:nvPr/>
        </p:nvSpPr>
        <p:spPr>
          <a:xfrm>
            <a:off x="868680" y="4910328"/>
            <a:ext cx="420624" cy="420624"/>
          </a:xfrm>
          <a:prstGeom prst="ellipse">
            <a:avLst/>
          </a:prstGeom>
          <a:solidFill>
            <a:srgbClr val="FF4757"/>
          </a:solidFill>
          <a:ln/>
        </p:spPr>
        <p:txBody>
          <a:bodyPr/>
          <a:p/>
        </p:txBody>
      </p:sp>
      <p:sp>
        <p:nvSpPr>
          <p:cNvPr id="20" name="Text 18"/>
          <p:cNvSpPr/>
          <p:nvPr/>
        </p:nvSpPr>
        <p:spPr>
          <a:xfrm>
            <a:off x="868680" y="491032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21" name="Text 19"/>
          <p:cNvSpPr/>
          <p:nvPr/>
        </p:nvSpPr>
        <p:spPr>
          <a:xfrm>
            <a:off x="1508760" y="4800600"/>
            <a:ext cx="9875520" cy="6400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La priorité de santé publique, en deux phrases.</a:t>
            </a:r>
            <a:endParaRPr lang="en-US" sz="1600" dirty="0"/>
          </a:p>
        </p:txBody>
      </p:sp>
      <p:sp>
        <p:nvSpPr>
          <p:cNvPr id="22" name="Text 20"/>
          <p:cNvSpPr/>
          <p:nvPr/>
        </p:nvSpPr>
        <p:spPr>
          <a:xfrm>
            <a:off x="594360" y="5532120"/>
            <a:ext cx="10972800" cy="640080"/>
          </a:xfrm>
          <a:prstGeom prst="rect">
            <a:avLst/>
          </a:prstGeom>
          <a:noFill/>
          <a:ln/>
        </p:spPr>
        <p:txBody>
          <a:bodyPr wrap="square" lIns="0" tIns="0" rIns="0" bIns="0" rtlCol="0" anchor="t"/>
          <a:lstStyle/>
          <a:p>
            <a:pPr indent="0" marL="0">
              <a:buNone/>
            </a:pPr>
            <a:r>
              <a:rPr lang="en-US" sz="1500" b="1" dirty="0">
                <a:solidFill>
                  <a:srgbClr val="0E7C6B"/>
                </a:solidFill>
                <a:latin typeface="Palatino Linotype" pitchFamily="34" charset="0"/>
                <a:ea typeface="Palatino Linotype" pitchFamily="34" charset="-122"/>
                <a:cs typeface="Palatino Linotype" pitchFamily="34" charset="-120"/>
              </a:rPr>
              <a:t>Individuellement, dans le formulaire à la maison. Comtés : estimations propres, calculées à partir des taux GBD du pays.</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384048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85800" y="822960"/>
            <a:ext cx="384048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LES CINQ DERNIÈRES MINUTES · ANONYME</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Trois questions pour finir</a:t>
            </a:r>
            <a:endParaRPr lang="en-US" sz="4000" dirty="0"/>
          </a:p>
        </p:txBody>
      </p:sp>
      <p:sp>
        <p:nvSpPr>
          <p:cNvPr id="5" name="Shape 3"/>
          <p:cNvSpPr/>
          <p:nvPr/>
        </p:nvSpPr>
        <p:spPr>
          <a:xfrm>
            <a:off x="914400" y="2670048"/>
            <a:ext cx="420624" cy="420624"/>
          </a:xfrm>
          <a:prstGeom prst="ellipse">
            <a:avLst/>
          </a:prstGeom>
          <a:solidFill>
            <a:srgbClr val="FFC24B"/>
          </a:solidFill>
          <a:ln/>
        </p:spPr>
        <p:txBody>
          <a:bodyPr/>
          <a:p/>
        </p:txBody>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51460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Qu’est-ce qui a été utile ?</a:t>
            </a:r>
            <a:endParaRPr lang="en-US" sz="2000" dirty="0"/>
          </a:p>
        </p:txBody>
      </p:sp>
      <p:sp>
        <p:nvSpPr>
          <p:cNvPr id="8" name="Shape 6"/>
          <p:cNvSpPr/>
          <p:nvPr/>
        </p:nvSpPr>
        <p:spPr>
          <a:xfrm>
            <a:off x="914400" y="3538728"/>
            <a:ext cx="420624" cy="420624"/>
          </a:xfrm>
          <a:prstGeom prst="ellipse">
            <a:avLst/>
          </a:prstGeom>
          <a:solidFill>
            <a:srgbClr val="FFC24B"/>
          </a:solidFill>
          <a:ln/>
        </p:spPr>
        <p:txBody>
          <a:bodyPr/>
          <a:p/>
        </p:txBody>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600200" y="338328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Où vous ai-je perdu ?</a:t>
            </a:r>
            <a:endParaRPr lang="en-US" sz="2000" dirty="0"/>
          </a:p>
        </p:txBody>
      </p:sp>
      <p:sp>
        <p:nvSpPr>
          <p:cNvPr id="11" name="Shape 9"/>
          <p:cNvSpPr/>
          <p:nvPr/>
        </p:nvSpPr>
        <p:spPr>
          <a:xfrm>
            <a:off x="914400" y="4407408"/>
            <a:ext cx="420624" cy="420624"/>
          </a:xfrm>
          <a:prstGeom prst="ellipse">
            <a:avLst/>
          </a:prstGeom>
          <a:solidFill>
            <a:srgbClr val="FFC24B"/>
          </a:solidFill>
          <a:ln/>
        </p:spPr>
        <p:txBody>
          <a:bodyPr/>
          <a:p/>
        </p:txBody>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600200" y="425196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Que pourriez-vous utiliser demain ?</a:t>
            </a:r>
            <a:endParaRPr lang="en-US" sz="2000" dirty="0"/>
          </a:p>
        </p:txBody>
      </p:sp>
      <p:sp>
        <p:nvSpPr>
          <p:cNvPr id="14" name="Shape 12"/>
          <p:cNvSpPr/>
          <p:nvPr/>
        </p:nvSpPr>
        <p:spPr>
          <a:xfrm>
            <a:off x="8549640" y="2514600"/>
            <a:ext cx="3017520" cy="2468880"/>
          </a:xfrm>
          <a:prstGeom prst="roundRect">
            <a:avLst>
              <a:gd name="adj" fmla="val 3333"/>
            </a:avLst>
          </a:prstGeom>
          <a:solidFill>
            <a:srgbClr val="FFFFFF"/>
          </a:solidFill>
          <a:ln w="12700">
            <a:solidFill>
              <a:srgbClr val="FFFFFF"/>
            </a:solidFill>
            <a:prstDash val="solid"/>
          </a:ln>
        </p:spPr>
        <p:txBody>
          <a:bodyPr/>
          <a:p/>
        </p:txBody>
      </p:sp>
      <p:sp>
        <p:nvSpPr>
          <p:cNvPr id="15" name="Text 13"/>
          <p:cNvSpPr/>
          <p:nvPr/>
        </p:nvSpPr>
        <p:spPr>
          <a:xfrm>
            <a:off x="8549640" y="2514600"/>
            <a:ext cx="3017520" cy="2468880"/>
          </a:xfrm>
          <a:prstGeom prst="rect">
            <a:avLst/>
          </a:prstGeom>
          <a:noFill/>
          <a:ln/>
        </p:spPr>
        <p:txBody>
          <a:bodyPr wrap="square" lIns="228600" tIns="0" rIns="228600" bIns="0" rtlCol="0" anchor="ctr"/>
          <a:lstStyle/>
          <a:p>
            <a:pPr algn="ctr" indent="0" marL="0">
              <a:buNone/>
            </a:pPr>
            <a:r>
              <a:rPr lang="en-US" sz="1800" dirty="0" i="1">
                <a:solidFill>
                  <a:srgbClr val="585A64"/>
                </a:solidFill>
                <a:latin typeface="Palatino Linotype" pitchFamily="34" charset="0"/>
                <a:ea typeface="Palatino Linotype" pitchFamily="34" charset="-122"/>
                <a:cs typeface="Palatino Linotype" pitchFamily="34" charset="-120"/>
              </a:rPr>
              <a:t>Mentimeter : entrez sur menti.com avec le code affiché à l’écran.</a:t>
            </a:r>
            <a:endParaRPr lang="en-US" sz="1400" dirty="0"/>
          </a:p>
        </p:txBody>
      </p:sp>
      <p:sp>
        <p:nvSpPr>
          <p:cNvPr id="16" name="Text 14"/>
          <p:cNvSpPr/>
          <p:nvPr/>
        </p:nvSpPr>
        <p:spPr>
          <a:xfrm>
            <a:off x="594360" y="5349240"/>
            <a:ext cx="10972800" cy="73152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Répondez sur le téléphone, au code affiché. À la prochaine séance, sur la page de la discipline, vous trouverez deux modifications faites d’après les réponses.</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TP 3 - Combien d’années de vie en bonne santé un comté perd-il ?</dc:title>
  <dc:subject>PptxGenJS Presentation</dc:subject>
  <dc:creator>Conf. Univ. Dr. Adrian Pana</dc:creator>
  <cp:lastModifiedBy>Conf. Univ. Dr. Adrian Pana</cp:lastModifiedBy>
  <cp:revision>1</cp:revision>
  <dcterms:created xsi:type="dcterms:W3CDTF">2026-10-17T11:02:40Z</dcterms:created>
  <dcterms:modified xsi:type="dcterms:W3CDTF">2026-10-17T11:02:40Z</dcterms:modified>
  <cp:keywords>sursa_amprenta=9d7fa19359ac20d7; proiectie</cp:keywords>
</cp:coreProperties>
</file>