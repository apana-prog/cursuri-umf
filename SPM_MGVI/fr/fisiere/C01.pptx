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5-1.jpg" ContentType="image/jpg"/>
  <Override PartName="/ppt/media/image-2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77240"/>
            <a:ext cx="585216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40080" y="777240"/>
            <a:ext cx="585216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COURS 1  ·  SANTÉ PUBLIQUE ET MANAGEMENT</a:t>
            </a:r>
            <a:endParaRPr lang="en-US" sz="1300" dirty="0"/>
          </a:p>
        </p:txBody>
      </p:sp>
      <p:sp>
        <p:nvSpPr>
          <p:cNvPr id="4" name="Text 2"/>
          <p:cNvSpPr/>
          <p:nvPr/>
        </p:nvSpPr>
        <p:spPr>
          <a:xfrm>
            <a:off x="640080" y="1463040"/>
            <a:ext cx="10789920" cy="1005840"/>
          </a:xfrm>
          <a:prstGeom prst="rect">
            <a:avLst/>
          </a:prstGeom>
          <a:noFill/>
          <a:ln/>
        </p:spPr>
        <p:txBody>
          <a:bodyPr wrap="square" lIns="0" tIns="0" rIns="0" bIns="0" rtlCol="0" anchor="t"/>
          <a:lstStyle/>
          <a:p>
            <a:pPr indent="0" marL="0">
              <a:buNone/>
            </a:pPr>
            <a:r>
              <a:rPr lang="en-US" sz="4600" b="1" dirty="0">
                <a:solidFill>
                  <a:srgbClr val="FFFFFF"/>
                </a:solidFill>
                <a:latin typeface="Palatino Linotype" pitchFamily="34" charset="0"/>
                <a:ea typeface="Palatino Linotype" pitchFamily="34" charset="-122"/>
                <a:cs typeface="Palatino Linotype" pitchFamily="34" charset="-120"/>
              </a:rPr>
              <a:t>Le même patient, pour la troisième fois</a:t>
            </a:r>
            <a:endParaRPr lang="en-US" sz="4600" dirty="0"/>
          </a:p>
        </p:txBody>
      </p:sp>
      <p:sp>
        <p:nvSpPr>
          <p:cNvPr id="5" name="Text 3"/>
          <p:cNvSpPr/>
          <p:nvPr/>
        </p:nvSpPr>
        <p:spPr>
          <a:xfrm>
            <a:off x="640080" y="2560320"/>
            <a:ext cx="10241280" cy="1280160"/>
          </a:xfrm>
          <a:prstGeom prst="rect">
            <a:avLst/>
          </a:prstGeom>
          <a:noFill/>
          <a:ln/>
        </p:spPr>
        <p:txBody>
          <a:bodyPr wrap="square" lIns="0" tIns="0" rIns="0" bIns="0" rtlCol="0" anchor="t"/>
          <a:lstStyle/>
          <a:p>
            <a:pPr indent="0" marL="0">
              <a:buNone/>
            </a:pPr>
            <a:r>
              <a:rPr lang="en-US" sz="3000" b="1" dirty="0">
                <a:solidFill>
                  <a:srgbClr val="27D3BE"/>
                </a:solidFill>
                <a:latin typeface="Palatino Linotype" pitchFamily="34" charset="0"/>
                <a:ea typeface="Palatino Linotype" pitchFamily="34" charset="-122"/>
                <a:cs typeface="Palatino Linotype" pitchFamily="34" charset="-120"/>
              </a:rPr>
              <a:t>Que signifie la santé publique pour le médecin qui a fait tout ce qu’il fallait ?</a:t>
            </a:r>
            <a:endParaRPr lang="en-US" sz="3000" dirty="0"/>
          </a:p>
        </p:txBody>
      </p:sp>
      <p:sp>
        <p:nvSpPr>
          <p:cNvPr id="6" name="Shape 4"/>
          <p:cNvSpPr/>
          <p:nvPr/>
        </p:nvSpPr>
        <p:spPr>
          <a:xfrm>
            <a:off x="667512" y="4206240"/>
            <a:ext cx="1280160" cy="27432"/>
          </a:xfrm>
          <a:prstGeom prst="rect">
            <a:avLst/>
          </a:prstGeom>
          <a:solidFill>
            <a:srgbClr val="FF4757"/>
          </a:solidFill>
          <a:ln w="12700">
            <a:solidFill>
              <a:srgbClr val="FF4757"/>
            </a:solidFill>
            <a:prstDash val="solid"/>
          </a:ln>
        </p:spPr>
      </p:sp>
      <p:sp>
        <p:nvSpPr>
          <p:cNvPr id="7" name="Text 5"/>
          <p:cNvSpPr/>
          <p:nvPr/>
        </p:nvSpPr>
        <p:spPr>
          <a:xfrm>
            <a:off x="640080" y="4434840"/>
            <a:ext cx="10515600" cy="73152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Le concept moderne de santé publique. Fonctions essentielles de santé publique (EPHO). Déterminants de la santé. Cadre institutionnel</a:t>
            </a:r>
            <a:endParaRPr lang="en-US" sz="1600" dirty="0"/>
          </a:p>
        </p:txBody>
      </p:sp>
      <p:sp>
        <p:nvSpPr>
          <p:cNvPr id="8" name="Text 6"/>
          <p:cNvSpPr/>
          <p:nvPr/>
        </p:nvSpPr>
        <p:spPr>
          <a:xfrm>
            <a:off x="640080" y="5303520"/>
            <a:ext cx="10515600" cy="36576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Discipline de Santé publique et management · UMF « Iuliu Hațieganu » Cluj-Napoca · Médecine, 6e année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 PLAN DE LA SÉANCE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Trois cas en deux heures</a:t>
            </a:r>
            <a:endParaRPr lang="en-US" sz="3100" dirty="0"/>
          </a:p>
        </p:txBody>
      </p:sp>
      <p:sp>
        <p:nvSpPr>
          <p:cNvPr id="4" name="Shape 2"/>
          <p:cNvSpPr/>
          <p:nvPr/>
        </p:nvSpPr>
        <p:spPr>
          <a:xfrm>
            <a:off x="594360" y="2103120"/>
            <a:ext cx="548640" cy="868680"/>
          </a:xfrm>
          <a:prstGeom prst="rect">
            <a:avLst/>
          </a:prstGeom>
          <a:solidFill>
            <a:srgbClr val="585A64"/>
          </a:solidFill>
          <a:ln w="19050">
            <a:solidFill>
              <a:srgbClr val="F6F5F2"/>
            </a:solidFill>
            <a:prstDash val="solid"/>
          </a:ln>
        </p:spPr>
      </p:sp>
      <p:sp>
        <p:nvSpPr>
          <p:cNvPr id="5" name="Shape 3"/>
          <p:cNvSpPr/>
          <p:nvPr/>
        </p:nvSpPr>
        <p:spPr>
          <a:xfrm>
            <a:off x="1143000" y="2103120"/>
            <a:ext cx="2560320" cy="868680"/>
          </a:xfrm>
          <a:prstGeom prst="rect">
            <a:avLst/>
          </a:prstGeom>
          <a:solidFill>
            <a:srgbClr val="FF4757"/>
          </a:solidFill>
          <a:ln w="19050">
            <a:solidFill>
              <a:srgbClr val="F6F5F2"/>
            </a:solidFill>
            <a:prstDash val="solid"/>
          </a:ln>
        </p:spPr>
      </p:sp>
      <p:sp>
        <p:nvSpPr>
          <p:cNvPr id="6" name="Text 4"/>
          <p:cNvSpPr/>
          <p:nvPr/>
        </p:nvSpPr>
        <p:spPr>
          <a:xfrm>
            <a:off x="1143000" y="2103120"/>
            <a:ext cx="2560320" cy="868680"/>
          </a:xfrm>
          <a:prstGeom prst="rect">
            <a:avLst/>
          </a:prstGeom>
          <a:noFill/>
          <a:ln/>
        </p:spPr>
        <p:txBody>
          <a:bodyPr wrap="square" lIns="0" tIns="0" rIns="0" bIns="0" rtlCol="0" anchor="ctr"/>
          <a:lstStyle/>
          <a:p>
            <a:pPr algn="ctr" indent="0" marL="0">
              <a:buNone/>
            </a:pPr>
            <a:r>
              <a:rPr lang="en-US" sz="1900" b="1" dirty="0">
                <a:solidFill>
                  <a:srgbClr val="2E060B"/>
                </a:solidFill>
                <a:latin typeface="Palatino Linotype" pitchFamily="34" charset="0"/>
                <a:ea typeface="Palatino Linotype" pitchFamily="34" charset="-122"/>
                <a:cs typeface="Palatino Linotype" pitchFamily="34" charset="-120"/>
              </a:rPr>
              <a:t>La garde</a:t>
            </a:r>
            <a:endParaRPr lang="en-US" sz="1900" dirty="0"/>
          </a:p>
        </p:txBody>
      </p:sp>
      <p:sp>
        <p:nvSpPr>
          <p:cNvPr id="7" name="Shape 5"/>
          <p:cNvSpPr/>
          <p:nvPr/>
        </p:nvSpPr>
        <p:spPr>
          <a:xfrm>
            <a:off x="3703320" y="2103120"/>
            <a:ext cx="2926080" cy="868680"/>
          </a:xfrm>
          <a:prstGeom prst="rect">
            <a:avLst/>
          </a:prstGeom>
          <a:solidFill>
            <a:srgbClr val="9B7EF7"/>
          </a:solidFill>
          <a:ln w="19050">
            <a:solidFill>
              <a:srgbClr val="F6F5F2"/>
            </a:solidFill>
            <a:prstDash val="solid"/>
          </a:ln>
        </p:spPr>
      </p:sp>
      <p:sp>
        <p:nvSpPr>
          <p:cNvPr id="8" name="Text 6"/>
          <p:cNvSpPr/>
          <p:nvPr/>
        </p:nvSpPr>
        <p:spPr>
          <a:xfrm>
            <a:off x="3703320" y="2103120"/>
            <a:ext cx="2926080" cy="868680"/>
          </a:xfrm>
          <a:prstGeom prst="rect">
            <a:avLst/>
          </a:prstGeom>
          <a:noFill/>
          <a:ln/>
        </p:spPr>
        <p:txBody>
          <a:bodyPr wrap="square" lIns="0" tIns="0" rIns="0" bIns="0" rtlCol="0" anchor="ctr"/>
          <a:lstStyle/>
          <a:p>
            <a:pPr algn="ctr" indent="0" marL="0">
              <a:buNone/>
            </a:pPr>
            <a:r>
              <a:rPr lang="en-US" sz="1900" b="1" dirty="0">
                <a:solidFill>
                  <a:srgbClr val="1F1040"/>
                </a:solidFill>
                <a:latin typeface="Palatino Linotype" pitchFamily="34" charset="0"/>
                <a:ea typeface="Palatino Linotype" pitchFamily="34" charset="-122"/>
                <a:cs typeface="Palatino Linotype" pitchFamily="34" charset="-120"/>
              </a:rPr>
              <a:t>Le cabinet</a:t>
            </a:r>
            <a:endParaRPr lang="en-US" sz="1900" dirty="0"/>
          </a:p>
        </p:txBody>
      </p:sp>
      <p:sp>
        <p:nvSpPr>
          <p:cNvPr id="9" name="Shape 7"/>
          <p:cNvSpPr/>
          <p:nvPr/>
        </p:nvSpPr>
        <p:spPr>
          <a:xfrm>
            <a:off x="6629400" y="2103120"/>
            <a:ext cx="914400" cy="868680"/>
          </a:xfrm>
          <a:prstGeom prst="rect">
            <a:avLst/>
          </a:prstGeom>
          <a:solidFill>
            <a:srgbClr val="ECEAE4"/>
          </a:solidFill>
          <a:ln w="19050">
            <a:solidFill>
              <a:srgbClr val="F6F5F2"/>
            </a:solidFill>
            <a:prstDash val="solid"/>
          </a:ln>
        </p:spPr>
      </p:sp>
      <p:sp>
        <p:nvSpPr>
          <p:cNvPr id="10" name="Shape 8"/>
          <p:cNvSpPr/>
          <p:nvPr/>
        </p:nvSpPr>
        <p:spPr>
          <a:xfrm>
            <a:off x="7543800" y="2103120"/>
            <a:ext cx="2011680" cy="868680"/>
          </a:xfrm>
          <a:prstGeom prst="rect">
            <a:avLst/>
          </a:prstGeom>
          <a:solidFill>
            <a:srgbClr val="FFC24B"/>
          </a:solidFill>
          <a:ln w="19050">
            <a:solidFill>
              <a:srgbClr val="F6F5F2"/>
            </a:solidFill>
            <a:prstDash val="solid"/>
          </a:ln>
        </p:spPr>
      </p:sp>
      <p:sp>
        <p:nvSpPr>
          <p:cNvPr id="11" name="Text 9"/>
          <p:cNvSpPr/>
          <p:nvPr/>
        </p:nvSpPr>
        <p:spPr>
          <a:xfrm>
            <a:off x="7543800" y="2103120"/>
            <a:ext cx="2011680" cy="868680"/>
          </a:xfrm>
          <a:prstGeom prst="rect">
            <a:avLst/>
          </a:prstGeom>
          <a:noFill/>
          <a:ln/>
        </p:spPr>
        <p:txBody>
          <a:bodyPr wrap="square" lIns="0" tIns="0" rIns="0" bIns="0" rtlCol="0" anchor="ctr"/>
          <a:lstStyle/>
          <a:p>
            <a:pPr algn="ctr" indent="0" marL="0">
              <a:buNone/>
            </a:pPr>
            <a:r>
              <a:rPr lang="en-US" sz="1900" b="1" dirty="0">
                <a:solidFill>
                  <a:srgbClr val="3D2A00"/>
                </a:solidFill>
                <a:latin typeface="Palatino Linotype" pitchFamily="34" charset="0"/>
                <a:ea typeface="Palatino Linotype" pitchFamily="34" charset="-122"/>
                <a:cs typeface="Palatino Linotype" pitchFamily="34" charset="-120"/>
              </a:rPr>
              <a:t>Le service</a:t>
            </a:r>
            <a:endParaRPr lang="en-US" sz="1900" dirty="0"/>
          </a:p>
        </p:txBody>
      </p:sp>
      <p:sp>
        <p:nvSpPr>
          <p:cNvPr id="12" name="Shape 10"/>
          <p:cNvSpPr/>
          <p:nvPr/>
        </p:nvSpPr>
        <p:spPr>
          <a:xfrm>
            <a:off x="9555480" y="2103120"/>
            <a:ext cx="1097280" cy="868680"/>
          </a:xfrm>
          <a:prstGeom prst="rect">
            <a:avLst/>
          </a:prstGeom>
          <a:solidFill>
            <a:srgbClr val="27D3BE"/>
          </a:solidFill>
          <a:ln w="19050">
            <a:solidFill>
              <a:srgbClr val="F6F5F2"/>
            </a:solidFill>
            <a:prstDash val="solid"/>
          </a:ln>
        </p:spPr>
      </p:sp>
      <p:sp>
        <p:nvSpPr>
          <p:cNvPr id="13" name="Text 11"/>
          <p:cNvSpPr/>
          <p:nvPr/>
        </p:nvSpPr>
        <p:spPr>
          <a:xfrm>
            <a:off x="9555480" y="2103120"/>
            <a:ext cx="1097280" cy="868680"/>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Kahoot</a:t>
            </a:r>
            <a:endParaRPr lang="en-US" sz="1400" dirty="0"/>
          </a:p>
        </p:txBody>
      </p:sp>
      <p:sp>
        <p:nvSpPr>
          <p:cNvPr id="14" name="Shape 12"/>
          <p:cNvSpPr/>
          <p:nvPr/>
        </p:nvSpPr>
        <p:spPr>
          <a:xfrm>
            <a:off x="10652760" y="2103120"/>
            <a:ext cx="914400" cy="868680"/>
          </a:xfrm>
          <a:prstGeom prst="rect">
            <a:avLst/>
          </a:prstGeom>
          <a:solidFill>
            <a:srgbClr val="FF8A3D"/>
          </a:solidFill>
          <a:ln w="19050">
            <a:solidFill>
              <a:srgbClr val="F6F5F2"/>
            </a:solidFill>
            <a:prstDash val="solid"/>
          </a:ln>
        </p:spPr>
      </p:sp>
      <p:sp>
        <p:nvSpPr>
          <p:cNvPr id="15" name="Text 13"/>
          <p:cNvSpPr/>
          <p:nvPr/>
        </p:nvSpPr>
        <p:spPr>
          <a:xfrm>
            <a:off x="228600" y="177393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0′</a:t>
            </a:r>
            <a:endParaRPr lang="en-US" sz="1300" dirty="0"/>
          </a:p>
        </p:txBody>
      </p:sp>
      <p:sp>
        <p:nvSpPr>
          <p:cNvPr id="16" name="Text 14"/>
          <p:cNvSpPr/>
          <p:nvPr/>
        </p:nvSpPr>
        <p:spPr>
          <a:xfrm>
            <a:off x="777240" y="177393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6′</a:t>
            </a:r>
            <a:endParaRPr lang="en-US" sz="1300" dirty="0"/>
          </a:p>
        </p:txBody>
      </p:sp>
      <p:sp>
        <p:nvSpPr>
          <p:cNvPr id="17" name="Text 15"/>
          <p:cNvSpPr/>
          <p:nvPr/>
        </p:nvSpPr>
        <p:spPr>
          <a:xfrm>
            <a:off x="3337560" y="177393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34′</a:t>
            </a:r>
            <a:endParaRPr lang="en-US" sz="1300" dirty="0"/>
          </a:p>
        </p:txBody>
      </p:sp>
      <p:sp>
        <p:nvSpPr>
          <p:cNvPr id="18" name="Text 16"/>
          <p:cNvSpPr/>
          <p:nvPr/>
        </p:nvSpPr>
        <p:spPr>
          <a:xfrm>
            <a:off x="6263640" y="177393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66′</a:t>
            </a:r>
            <a:endParaRPr lang="en-US" sz="1300" dirty="0"/>
          </a:p>
        </p:txBody>
      </p:sp>
      <p:sp>
        <p:nvSpPr>
          <p:cNvPr id="19" name="Text 17"/>
          <p:cNvSpPr/>
          <p:nvPr/>
        </p:nvSpPr>
        <p:spPr>
          <a:xfrm>
            <a:off x="7178040" y="177393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76′</a:t>
            </a:r>
            <a:endParaRPr lang="en-US" sz="1300" dirty="0"/>
          </a:p>
        </p:txBody>
      </p:sp>
      <p:sp>
        <p:nvSpPr>
          <p:cNvPr id="20" name="Text 18"/>
          <p:cNvSpPr/>
          <p:nvPr/>
        </p:nvSpPr>
        <p:spPr>
          <a:xfrm>
            <a:off x="9189720" y="177393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98′</a:t>
            </a:r>
            <a:endParaRPr lang="en-US" sz="1300" dirty="0"/>
          </a:p>
        </p:txBody>
      </p:sp>
      <p:sp>
        <p:nvSpPr>
          <p:cNvPr id="21" name="Text 19"/>
          <p:cNvSpPr/>
          <p:nvPr/>
        </p:nvSpPr>
        <p:spPr>
          <a:xfrm>
            <a:off x="10287000" y="177393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110′</a:t>
            </a:r>
            <a:endParaRPr lang="en-US" sz="1300" dirty="0"/>
          </a:p>
        </p:txBody>
      </p:sp>
      <p:sp>
        <p:nvSpPr>
          <p:cNvPr id="22" name="Text 20"/>
          <p:cNvSpPr/>
          <p:nvPr/>
        </p:nvSpPr>
        <p:spPr>
          <a:xfrm>
            <a:off x="11201400" y="177393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120′</a:t>
            </a:r>
            <a:endParaRPr lang="en-US" sz="1300" dirty="0"/>
          </a:p>
        </p:txBody>
      </p:sp>
      <p:sp>
        <p:nvSpPr>
          <p:cNvPr id="23" name="Text 21"/>
          <p:cNvSpPr/>
          <p:nvPr/>
        </p:nvSpPr>
        <p:spPr>
          <a:xfrm>
            <a:off x="6629400" y="3044952"/>
            <a:ext cx="914400"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Pause</a:t>
            </a:r>
            <a:endParaRPr lang="en-US" sz="1300" dirty="0"/>
          </a:p>
        </p:txBody>
      </p:sp>
      <p:sp>
        <p:nvSpPr>
          <p:cNvPr id="24" name="Text 22"/>
          <p:cNvSpPr/>
          <p:nvPr/>
        </p:nvSpPr>
        <p:spPr>
          <a:xfrm>
            <a:off x="10652760" y="3044952"/>
            <a:ext cx="914400" cy="274320"/>
          </a:xfrm>
          <a:prstGeom prst="rect">
            <a:avLst/>
          </a:prstGeom>
          <a:noFill/>
          <a:ln/>
        </p:spPr>
        <p:txBody>
          <a:bodyPr wrap="square" lIns="0" tIns="0" rIns="0" bIns="0" rtlCol="0" anchor="t"/>
          <a:lstStyle/>
          <a:p>
            <a:pPr algn="ctr" indent="0" marL="0">
              <a:buNone/>
            </a:pPr>
            <a:r>
              <a:rPr lang="en-US" sz="1300" b="1" dirty="0">
                <a:solidFill>
                  <a:srgbClr val="9C4A0A"/>
                </a:solidFill>
                <a:latin typeface="Palatino Linotype" pitchFamily="34" charset="0"/>
                <a:ea typeface="Palatino Linotype" pitchFamily="34" charset="-122"/>
                <a:cs typeface="Palatino Linotype" pitchFamily="34" charset="-120"/>
              </a:rPr>
              <a:t>Fin</a:t>
            </a:r>
            <a:endParaRPr lang="en-US" sz="1300" dirty="0"/>
          </a:p>
        </p:txBody>
      </p:sp>
      <p:sp>
        <p:nvSpPr>
          <p:cNvPr id="25" name="Shape 23"/>
          <p:cNvSpPr/>
          <p:nvPr/>
        </p:nvSpPr>
        <p:spPr>
          <a:xfrm>
            <a:off x="1143000" y="3429000"/>
            <a:ext cx="45720" cy="658368"/>
          </a:xfrm>
          <a:prstGeom prst="rect">
            <a:avLst/>
          </a:prstGeom>
          <a:solidFill>
            <a:srgbClr val="B02532"/>
          </a:solidFill>
          <a:ln w="12700">
            <a:solidFill>
              <a:srgbClr val="B02532"/>
            </a:solidFill>
            <a:prstDash val="solid"/>
          </a:ln>
        </p:spPr>
      </p:sp>
      <p:sp>
        <p:nvSpPr>
          <p:cNvPr id="26" name="Text 24"/>
          <p:cNvSpPr/>
          <p:nvPr/>
        </p:nvSpPr>
        <p:spPr>
          <a:xfrm>
            <a:off x="1307592" y="3429000"/>
            <a:ext cx="2286000" cy="9144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 même patient, pour la troisième fois : ce qu’est la santé publique</a:t>
            </a:r>
            <a:endParaRPr lang="en-US" sz="1500" dirty="0"/>
          </a:p>
        </p:txBody>
      </p:sp>
      <p:sp>
        <p:nvSpPr>
          <p:cNvPr id="27" name="Shape 25"/>
          <p:cNvSpPr/>
          <p:nvPr/>
        </p:nvSpPr>
        <p:spPr>
          <a:xfrm>
            <a:off x="3703320" y="3429000"/>
            <a:ext cx="45720" cy="658368"/>
          </a:xfrm>
          <a:prstGeom prst="rect">
            <a:avLst/>
          </a:prstGeom>
          <a:solidFill>
            <a:srgbClr val="4A2D8C"/>
          </a:solidFill>
          <a:ln w="12700">
            <a:solidFill>
              <a:srgbClr val="4A2D8C"/>
            </a:solidFill>
            <a:prstDash val="solid"/>
          </a:ln>
        </p:spPr>
      </p:sp>
      <p:sp>
        <p:nvSpPr>
          <p:cNvPr id="28" name="Text 26"/>
          <p:cNvSpPr/>
          <p:nvPr/>
        </p:nvSpPr>
        <p:spPr>
          <a:xfrm>
            <a:off x="3867912" y="3429000"/>
            <a:ext cx="2651760" cy="9144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 cas de rougeole : qui fait la santé publique</a:t>
            </a:r>
            <a:endParaRPr lang="en-US" sz="1500" dirty="0"/>
          </a:p>
        </p:txBody>
      </p:sp>
      <p:sp>
        <p:nvSpPr>
          <p:cNvPr id="29" name="Shape 27"/>
          <p:cNvSpPr/>
          <p:nvPr/>
        </p:nvSpPr>
        <p:spPr>
          <a:xfrm>
            <a:off x="7543800" y="3429000"/>
            <a:ext cx="45720" cy="658368"/>
          </a:xfrm>
          <a:prstGeom prst="rect">
            <a:avLst/>
          </a:prstGeom>
          <a:solidFill>
            <a:srgbClr val="8A6100"/>
          </a:solidFill>
          <a:ln w="12700">
            <a:solidFill>
              <a:srgbClr val="8A6100"/>
            </a:solidFill>
            <a:prstDash val="solid"/>
          </a:ln>
        </p:spPr>
      </p:sp>
      <p:sp>
        <p:nvSpPr>
          <p:cNvPr id="30" name="Text 28"/>
          <p:cNvSpPr/>
          <p:nvPr/>
        </p:nvSpPr>
        <p:spPr>
          <a:xfrm>
            <a:off x="7708392" y="3429000"/>
            <a:ext cx="1737360" cy="91440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La patiente réhospitalisée : les déterminants</a:t>
            </a:r>
            <a:endParaRPr lang="en-US" sz="1500" dirty="0"/>
          </a:p>
        </p:txBody>
      </p:sp>
      <p:sp>
        <p:nvSpPr>
          <p:cNvPr id="31" name="Text 29"/>
          <p:cNvSpPr/>
          <p:nvPr/>
        </p:nvSpPr>
        <p:spPr>
          <a:xfrm>
            <a:off x="594360" y="4846320"/>
            <a:ext cx="10972800" cy="411480"/>
          </a:xfrm>
          <a:prstGeom prst="rect">
            <a:avLst/>
          </a:prstGeom>
          <a:noFill/>
          <a:ln/>
        </p:spPr>
        <p:txBody>
          <a:bodyPr wrap="square" lIns="0" tIns="0" rIns="0" bIns="0" rtlCol="0" anchor="t"/>
          <a:lstStyle/>
          <a:p>
            <a:pPr indent="0" marL="0">
              <a:buNone/>
            </a:pPr>
            <a:r>
              <a:rPr lang="en-US" sz="1400" b="1" i="1" dirty="0">
                <a:solidFill>
                  <a:srgbClr val="B02532"/>
                </a:solidFill>
                <a:latin typeface="Palatino Linotype" pitchFamily="34" charset="0"/>
                <a:ea typeface="Palatino Linotype" pitchFamily="34" charset="-122"/>
                <a:cs typeface="Palatino Linotype" pitchFamily="34" charset="-120"/>
              </a:rPr>
              <a:t>Trois termes nouveaux : les opérations essentielles de santé publique (OESP) · les déterminants sociaux · le gradient social.</a:t>
            </a:r>
            <a:endParaRPr lang="en-US" sz="1400" dirty="0"/>
          </a:p>
        </p:txBody>
      </p:sp>
      <p:sp>
        <p:nvSpPr>
          <p:cNvPr id="32" name="Text 30"/>
          <p:cNvSpPr/>
          <p:nvPr/>
        </p:nvSpPr>
        <p:spPr>
          <a:xfrm>
            <a:off x="594360" y="5349240"/>
            <a:ext cx="10972800" cy="6400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 moitié du temps, c’est vous qui travaillez : vote sur téléphone, discussions avec votre voisin, camps, un jeu de rôle. Il vous faut un téléphone avec accès à Internet.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7D3BE"/>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073B34"/>
                </a:solidFill>
                <a:latin typeface="Palatino Linotype" pitchFamily="34" charset="0"/>
                <a:ea typeface="Palatino Linotype" pitchFamily="34" charset="-122"/>
                <a:cs typeface="Palatino Linotype" pitchFamily="34" charset="-120"/>
              </a:rPr>
              <a:t>COMMENT VOUS ÊTES ÉVALUÉS</a:t>
            </a:r>
            <a:endParaRPr lang="en-US" sz="1300" dirty="0"/>
          </a:p>
        </p:txBody>
      </p:sp>
      <p:sp>
        <p:nvSpPr>
          <p:cNvPr id="3" name="Text 1"/>
          <p:cNvSpPr/>
          <p:nvPr/>
        </p:nvSpPr>
        <p:spPr>
          <a:xfrm>
            <a:off x="594360" y="777240"/>
            <a:ext cx="10972800" cy="731520"/>
          </a:xfrm>
          <a:prstGeom prst="rect">
            <a:avLst/>
          </a:prstGeom>
          <a:noFill/>
          <a:ln/>
        </p:spPr>
        <p:txBody>
          <a:bodyPr wrap="square" lIns="0" tIns="0" rIns="0" bIns="0" rtlCol="0" anchor="t"/>
          <a:lstStyle/>
          <a:p>
            <a:pPr indent="0" marL="0">
              <a:buNone/>
            </a:pPr>
            <a:r>
              <a:rPr lang="en-US" sz="3400" b="1" dirty="0">
                <a:solidFill>
                  <a:srgbClr val="073B34"/>
                </a:solidFill>
                <a:latin typeface="Palatino Linotype" pitchFamily="34" charset="0"/>
                <a:ea typeface="Palatino Linotype" pitchFamily="34" charset="-122"/>
                <a:cs typeface="Palatino Linotype" pitchFamily="34" charset="-120"/>
              </a:rPr>
              <a:t>La note finale, sur une seule ligne</a:t>
            </a:r>
            <a:endParaRPr lang="en-US" sz="3400" dirty="0"/>
          </a:p>
        </p:txBody>
      </p:sp>
      <p:sp>
        <p:nvSpPr>
          <p:cNvPr id="4" name="Shape 2"/>
          <p:cNvSpPr/>
          <p:nvPr/>
        </p:nvSpPr>
        <p:spPr>
          <a:xfrm>
            <a:off x="594360" y="1783080"/>
            <a:ext cx="6583680" cy="1234440"/>
          </a:xfrm>
          <a:prstGeom prst="rect">
            <a:avLst/>
          </a:prstGeom>
          <a:solidFill>
            <a:srgbClr val="07564B"/>
          </a:solidFill>
          <a:ln w="12700">
            <a:solidFill>
              <a:srgbClr val="07564B"/>
            </a:solidFill>
            <a:prstDash val="solid"/>
          </a:ln>
        </p:spPr>
      </p:sp>
      <p:sp>
        <p:nvSpPr>
          <p:cNvPr id="5" name="Shape 3"/>
          <p:cNvSpPr/>
          <p:nvPr/>
        </p:nvSpPr>
        <p:spPr>
          <a:xfrm>
            <a:off x="7178040" y="1783080"/>
            <a:ext cx="3291840" cy="1234440"/>
          </a:xfrm>
          <a:prstGeom prst="rect">
            <a:avLst/>
          </a:prstGeom>
          <a:solidFill>
            <a:srgbClr val="FFFFFF"/>
          </a:solidFill>
          <a:ln w="12700">
            <a:solidFill>
              <a:srgbClr val="FFFFFF"/>
            </a:solidFill>
            <a:prstDash val="solid"/>
          </a:ln>
        </p:spPr>
      </p:sp>
      <p:sp>
        <p:nvSpPr>
          <p:cNvPr id="6" name="Shape 4"/>
          <p:cNvSpPr/>
          <p:nvPr/>
        </p:nvSpPr>
        <p:spPr>
          <a:xfrm>
            <a:off x="10469880" y="1783080"/>
            <a:ext cx="1097280" cy="1234440"/>
          </a:xfrm>
          <a:prstGeom prst="rect">
            <a:avLst/>
          </a:prstGeom>
          <a:solidFill>
            <a:srgbClr val="073B34"/>
          </a:solidFill>
          <a:ln w="12700">
            <a:solidFill>
              <a:srgbClr val="073B34"/>
            </a:solidFill>
            <a:prstDash val="solid"/>
          </a:ln>
        </p:spPr>
      </p:sp>
      <p:sp>
        <p:nvSpPr>
          <p:cNvPr id="7" name="Text 5"/>
          <p:cNvSpPr/>
          <p:nvPr/>
        </p:nvSpPr>
        <p:spPr>
          <a:xfrm>
            <a:off x="822960" y="1783080"/>
            <a:ext cx="2103120" cy="1234440"/>
          </a:xfrm>
          <a:prstGeom prst="rect">
            <a:avLst/>
          </a:prstGeom>
          <a:noFill/>
          <a:ln/>
        </p:spPr>
        <p:txBody>
          <a:bodyPr wrap="square" lIns="0" tIns="0" rIns="0" bIns="0" rtlCol="0" anchor="ctr"/>
          <a:lstStyle/>
          <a:p>
            <a:pPr indent="0" marL="0">
              <a:buNone/>
            </a:pPr>
            <a:r>
              <a:rPr lang="en-US" sz="5200" b="1" dirty="0">
                <a:solidFill>
                  <a:srgbClr val="FFC24B"/>
                </a:solidFill>
                <a:latin typeface="Palatino Linotype" pitchFamily="34" charset="0"/>
                <a:ea typeface="Palatino Linotype" pitchFamily="34" charset="-122"/>
                <a:cs typeface="Palatino Linotype" pitchFamily="34" charset="-120"/>
              </a:rPr>
              <a:t>60 %</a:t>
            </a:r>
            <a:endParaRPr lang="en-US" sz="5200" dirty="0"/>
          </a:p>
        </p:txBody>
      </p:sp>
      <p:sp>
        <p:nvSpPr>
          <p:cNvPr id="8" name="Text 6"/>
          <p:cNvSpPr/>
          <p:nvPr/>
        </p:nvSpPr>
        <p:spPr>
          <a:xfrm>
            <a:off x="2926080" y="1783080"/>
            <a:ext cx="4114800" cy="1234440"/>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Examen écrit</a:t>
            </a:r>
            <a:endParaRPr lang="en-US" sz="2200" dirty="0"/>
          </a:p>
        </p:txBody>
      </p:sp>
      <p:sp>
        <p:nvSpPr>
          <p:cNvPr id="9" name="Text 7"/>
          <p:cNvSpPr/>
          <p:nvPr/>
        </p:nvSpPr>
        <p:spPr>
          <a:xfrm>
            <a:off x="7360920" y="1783080"/>
            <a:ext cx="1463040" cy="1234440"/>
          </a:xfrm>
          <a:prstGeom prst="rect">
            <a:avLst/>
          </a:prstGeom>
          <a:noFill/>
          <a:ln/>
        </p:spPr>
        <p:txBody>
          <a:bodyPr wrap="square" lIns="0" tIns="0" rIns="0" bIns="0" rtlCol="0" anchor="ctr"/>
          <a:lstStyle/>
          <a:p>
            <a:pPr indent="0" marL="0">
              <a:buNone/>
            </a:pPr>
            <a:r>
              <a:rPr lang="en-US" sz="4000" b="1" dirty="0">
                <a:solidFill>
                  <a:srgbClr val="0E7C6B"/>
                </a:solidFill>
                <a:latin typeface="Palatino Linotype" pitchFamily="34" charset="0"/>
                <a:ea typeface="Palatino Linotype" pitchFamily="34" charset="-122"/>
                <a:cs typeface="Palatino Linotype" pitchFamily="34" charset="-120"/>
              </a:rPr>
              <a:t>30 %</a:t>
            </a:r>
            <a:endParaRPr lang="en-US" sz="4000" dirty="0"/>
          </a:p>
        </p:txBody>
      </p:sp>
      <p:sp>
        <p:nvSpPr>
          <p:cNvPr id="10" name="Text 8"/>
          <p:cNvSpPr/>
          <p:nvPr/>
        </p:nvSpPr>
        <p:spPr>
          <a:xfrm>
            <a:off x="8778240" y="1783080"/>
            <a:ext cx="1645920" cy="12344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Projet RENS</a:t>
            </a:r>
            <a:endParaRPr lang="en-US" sz="1700" dirty="0"/>
          </a:p>
        </p:txBody>
      </p:sp>
      <p:sp>
        <p:nvSpPr>
          <p:cNvPr id="11" name="Text 9"/>
          <p:cNvSpPr/>
          <p:nvPr/>
        </p:nvSpPr>
        <p:spPr>
          <a:xfrm>
            <a:off x="10469880" y="1783080"/>
            <a:ext cx="1097280" cy="1234440"/>
          </a:xfrm>
          <a:prstGeom prst="rect">
            <a:avLst/>
          </a:prstGeom>
          <a:noFill/>
          <a:ln/>
        </p:spPr>
        <p:txBody>
          <a:bodyPr wrap="square" lIns="0" tIns="0" rIns="0" bIns="0" rtlCol="0" anchor="ctr"/>
          <a:lstStyle/>
          <a:p>
            <a:pPr algn="ctr" indent="0" marL="0">
              <a:buNone/>
            </a:pPr>
            <a:r>
              <a:rPr lang="en-US" sz="2400" b="1" dirty="0">
                <a:solidFill>
                  <a:srgbClr val="FFFFFF"/>
                </a:solidFill>
                <a:latin typeface="Palatino Linotype" pitchFamily="34" charset="0"/>
                <a:ea typeface="Palatino Linotype" pitchFamily="34" charset="-122"/>
                <a:cs typeface="Palatino Linotype" pitchFamily="34" charset="-120"/>
              </a:rPr>
              <a:t>10 %</a:t>
            </a:r>
            <a:endParaRPr lang="en-US" sz="2400" dirty="0"/>
          </a:p>
        </p:txBody>
      </p:sp>
      <p:sp>
        <p:nvSpPr>
          <p:cNvPr id="12" name="Text 10"/>
          <p:cNvSpPr/>
          <p:nvPr/>
        </p:nvSpPr>
        <p:spPr>
          <a:xfrm>
            <a:off x="594360" y="3246120"/>
            <a:ext cx="6309360" cy="1280160"/>
          </a:xfrm>
          <a:prstGeom prst="rect">
            <a:avLst/>
          </a:prstGeom>
          <a:noFill/>
          <a:ln/>
        </p:spPr>
        <p:txBody>
          <a:bodyPr wrap="square" lIns="0" tIns="0" rIns="0" bIns="0" rtlCol="0" anchor="t"/>
          <a:lstStyle/>
          <a:p>
            <a:pPr indent="0" marL="0">
              <a:buNone/>
            </a:pPr>
            <a:r>
              <a:rPr lang="en-US" sz="1700" dirty="0">
                <a:solidFill>
                  <a:srgbClr val="073B34"/>
                </a:solidFill>
                <a:latin typeface="Palatino Linotype" pitchFamily="34" charset="0"/>
                <a:ea typeface="Palatino Linotype" pitchFamily="34" charset="-122"/>
                <a:cs typeface="Palatino Linotype" pitchFamily="34" charset="-120"/>
              </a:rPr>
              <a:t>40 questions à choix multiple, avec une seule réponse correcte, portant sur les 14 cours, et 2 sujets courts, de 15 lignes au plus.</a:t>
            </a:r>
            <a:endParaRPr lang="en-US" sz="1700" dirty="0"/>
          </a:p>
        </p:txBody>
      </p:sp>
      <p:sp>
        <p:nvSpPr>
          <p:cNvPr id="13" name="Text 11"/>
          <p:cNvSpPr/>
          <p:nvPr/>
        </p:nvSpPr>
        <p:spPr>
          <a:xfrm>
            <a:off x="7178040" y="3246120"/>
            <a:ext cx="3154680" cy="1463040"/>
          </a:xfrm>
          <a:prstGeom prst="rect">
            <a:avLst/>
          </a:prstGeom>
          <a:noFill/>
          <a:ln/>
        </p:spPr>
        <p:txBody>
          <a:bodyPr wrap="square" lIns="0" tIns="0" rIns="0" bIns="0" rtlCol="0" anchor="t"/>
          <a:lstStyle/>
          <a:p>
            <a:pPr indent="0" marL="0">
              <a:buNone/>
            </a:pPr>
            <a:r>
              <a:rPr lang="en-US" sz="1600" dirty="0">
                <a:solidFill>
                  <a:srgbClr val="073B34"/>
                </a:solidFill>
                <a:latin typeface="Palatino Linotype" pitchFamily="34" charset="0"/>
                <a:ea typeface="Palatino Linotype" pitchFamily="34" charset="-122"/>
                <a:cs typeface="Palatino Linotype" pitchFamily="34" charset="-120"/>
              </a:rPr>
              <a:t>Le profil de santé du comté attribué à l’équipe, construit pendant les travaux pratiques.</a:t>
            </a:r>
            <a:endParaRPr lang="en-US" sz="1600" dirty="0"/>
          </a:p>
        </p:txBody>
      </p:sp>
      <p:sp>
        <p:nvSpPr>
          <p:cNvPr id="14" name="Text 12"/>
          <p:cNvSpPr/>
          <p:nvPr/>
        </p:nvSpPr>
        <p:spPr>
          <a:xfrm>
            <a:off x="10469880" y="3246120"/>
            <a:ext cx="1143000" cy="1280160"/>
          </a:xfrm>
          <a:prstGeom prst="rect">
            <a:avLst/>
          </a:prstGeom>
          <a:noFill/>
          <a:ln/>
        </p:spPr>
        <p:txBody>
          <a:bodyPr wrap="square" lIns="0" tIns="0" rIns="0" bIns="0" rtlCol="0" anchor="t"/>
          <a:lstStyle/>
          <a:p>
            <a:pPr indent="0" marL="0">
              <a:buNone/>
            </a:pPr>
            <a:r>
              <a:rPr lang="en-US" sz="1400" b="1" dirty="0">
                <a:solidFill>
                  <a:srgbClr val="073B34"/>
                </a:solidFill>
                <a:latin typeface="Palatino Linotype" pitchFamily="34" charset="0"/>
                <a:ea typeface="Palatino Linotype" pitchFamily="34" charset="-122"/>
                <a:cs typeface="Palatino Linotype" pitchFamily="34" charset="-120"/>
              </a:rPr>
              <a:t>Portfolio des fiches de TP</a:t>
            </a:r>
            <a:endParaRPr lang="en-US" sz="1400" dirty="0"/>
          </a:p>
        </p:txBody>
      </p:sp>
      <p:sp>
        <p:nvSpPr>
          <p:cNvPr id="15" name="Shape 13"/>
          <p:cNvSpPr/>
          <p:nvPr/>
        </p:nvSpPr>
        <p:spPr>
          <a:xfrm>
            <a:off x="594360" y="4846320"/>
            <a:ext cx="10972800" cy="18288"/>
          </a:xfrm>
          <a:prstGeom prst="rect">
            <a:avLst/>
          </a:prstGeom>
          <a:solidFill>
            <a:srgbClr val="073B34"/>
          </a:solidFill>
          <a:ln w="12700">
            <a:solidFill>
              <a:srgbClr val="073B34"/>
            </a:solidFill>
            <a:prstDash val="solid"/>
          </a:ln>
        </p:spPr>
      </p:sp>
      <p:sp>
        <p:nvSpPr>
          <p:cNvPr id="16" name="Text 14"/>
          <p:cNvSpPr/>
          <p:nvPr/>
        </p:nvSpPr>
        <p:spPr>
          <a:xfrm>
            <a:off x="594360" y="5029200"/>
            <a:ext cx="10972800" cy="822960"/>
          </a:xfrm>
          <a:prstGeom prst="rect">
            <a:avLst/>
          </a:prstGeom>
          <a:noFill/>
          <a:ln/>
        </p:spPr>
        <p:txBody>
          <a:bodyPr wrap="square" lIns="0" tIns="0" rIns="0" bIns="0" rtlCol="0" anchor="t"/>
          <a:lstStyle/>
          <a:p>
            <a:pPr indent="0" marL="0">
              <a:buNone/>
            </a:pPr>
            <a:r>
              <a:rPr lang="en-US" sz="1800" b="1" dirty="0">
                <a:solidFill>
                  <a:srgbClr val="073B34"/>
                </a:solidFill>
                <a:latin typeface="Palatino Linotype" pitchFamily="34" charset="0"/>
                <a:ea typeface="Palatino Linotype" pitchFamily="34" charset="-122"/>
                <a:cs typeface="Palatino Linotype" pitchFamily="34" charset="-120"/>
              </a:rPr>
              <a:t>Note minimale de 5 à l’examen et au projet RENS. Support d’examen : les notes de cours. Les votes et les discussions en salle ne sont pas notés.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GARDE · CARDIOLOGIE, DEUXIÈME NUIT</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Le même patient, pour la troisième fois</a:t>
            </a:r>
            <a:endParaRPr lang="en-US" sz="3200" dirty="0"/>
          </a:p>
        </p:txBody>
      </p:sp>
      <p:sp>
        <p:nvSpPr>
          <p:cNvPr id="4" name="Shape 2"/>
          <p:cNvSpPr/>
          <p:nvPr/>
        </p:nvSpPr>
        <p:spPr>
          <a:xfrm rot="-90000">
            <a:off x="822960" y="1691640"/>
            <a:ext cx="5120640" cy="4114800"/>
          </a:xfrm>
          <a:prstGeom prst="rect">
            <a:avLst/>
          </a:prstGeom>
          <a:solidFill>
            <a:srgbClr val="FBF8F1"/>
          </a:solidFill>
          <a:ln w="9525">
            <a:solidFill>
              <a:srgbClr val="E4DFD2"/>
            </a:solidFill>
            <a:prstDash val="solid"/>
          </a:ln>
          <a:effectLst>
            <a:outerShdw sx="100000" sy="100000" kx="0" ky="0" algn="bl" rotWithShape="0" blurRad="127000" dist="63500" dir="3600000">
              <a:srgbClr val="000000">
                <a:alpha val="45000"/>
              </a:srgbClr>
            </a:outerShdw>
          </a:effectLst>
        </p:spPr>
      </p:sp>
      <p:sp>
        <p:nvSpPr>
          <p:cNvPr id="5" name="Text 3"/>
          <p:cNvSpPr/>
          <p:nvPr/>
        </p:nvSpPr>
        <p:spPr>
          <a:xfrm rot="-90000">
            <a:off x="1143000" y="1965960"/>
            <a:ext cx="4480560" cy="27432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FEUILLE D’OBSERVATION · EXTRAIT</a:t>
            </a:r>
            <a:endParaRPr lang="en-US" sz="1300" dirty="0"/>
          </a:p>
        </p:txBody>
      </p:sp>
      <p:sp>
        <p:nvSpPr>
          <p:cNvPr id="6" name="Shape 4"/>
          <p:cNvSpPr/>
          <p:nvPr/>
        </p:nvSpPr>
        <p:spPr>
          <a:xfrm rot="-90000">
            <a:off x="1143000" y="2331720"/>
            <a:ext cx="4480560" cy="18288"/>
          </a:xfrm>
          <a:prstGeom prst="rect">
            <a:avLst/>
          </a:prstGeom>
          <a:solidFill>
            <a:srgbClr val="11121A"/>
          </a:solidFill>
          <a:ln w="12700">
            <a:solidFill>
              <a:srgbClr val="11121A"/>
            </a:solidFill>
            <a:prstDash val="solid"/>
          </a:ln>
        </p:spPr>
      </p:sp>
      <p:sp>
        <p:nvSpPr>
          <p:cNvPr id="7" name="Text 5"/>
          <p:cNvSpPr/>
          <p:nvPr/>
        </p:nvSpPr>
        <p:spPr>
          <a:xfrm rot="-90000">
            <a:off x="1143000" y="2514600"/>
            <a:ext cx="4480560" cy="1737360"/>
          </a:xfrm>
          <a:prstGeom prst="rect">
            <a:avLst/>
          </a:prstGeom>
          <a:noFill/>
          <a:ln/>
        </p:spPr>
        <p:txBody>
          <a:bodyPr wrap="square" lIns="0" tIns="0" rIns="0" bIns="0" rtlCol="0" anchor="t"/>
          <a:lstStyle/>
          <a:p>
            <a:pPr indent="0" marL="0">
              <a:spcAft>
                <a:spcPts val="600"/>
              </a:spcAft>
              <a:buNone/>
            </a:pPr>
            <a:r>
              <a:rPr lang="en-US" sz="1800" b="1" dirty="0">
                <a:solidFill>
                  <a:srgbClr val="11121A"/>
                </a:solidFill>
                <a:latin typeface="Palatino Linotype" pitchFamily="34" charset="0"/>
                <a:ea typeface="Palatino Linotype" pitchFamily="34" charset="-122"/>
                <a:cs typeface="Palatino Linotype" pitchFamily="34" charset="-120"/>
              </a:rPr>
              <a:t>Homme, cinquante-cinq ans</a:t>
            </a:r>
            <a:endParaRPr lang="en-US" sz="1800" dirty="0"/>
          </a:p>
          <a:p>
            <a:pPr indent="0" marL="0">
              <a:spcAft>
                <a:spcPts val="600"/>
              </a:spcAft>
              <a:buNone/>
            </a:pPr>
            <a:r>
              <a:rPr lang="en-US" sz="1800" dirty="0">
                <a:solidFill>
                  <a:srgbClr val="11121A"/>
                </a:solidFill>
                <a:latin typeface="Palatino Linotype" pitchFamily="34" charset="0"/>
                <a:ea typeface="Palatino Linotype" pitchFamily="34" charset="-122"/>
                <a:cs typeface="Palatino Linotype" pitchFamily="34" charset="-120"/>
              </a:rPr>
              <a:t>Fumeur depuis trente ans</a:t>
            </a:r>
            <a:endParaRPr lang="en-US" sz="1800" dirty="0"/>
          </a:p>
          <a:p>
            <a:pPr indent="0" marL="0">
              <a:spcAft>
                <a:spcPts val="600"/>
              </a:spcAft>
              <a:buNone/>
            </a:pPr>
            <a:r>
              <a:rPr lang="en-US" sz="1800" dirty="0">
                <a:solidFill>
                  <a:srgbClr val="11121A"/>
                </a:solidFill>
                <a:latin typeface="Palatino Linotype" pitchFamily="34" charset="0"/>
                <a:ea typeface="Palatino Linotype" pitchFamily="34" charset="-122"/>
                <a:cs typeface="Palatino Linotype" pitchFamily="34" charset="-120"/>
              </a:rPr>
              <a:t>Hypertendu · obésité</a:t>
            </a:r>
            <a:endParaRPr lang="en-US" sz="1800" dirty="0"/>
          </a:p>
          <a:p>
            <a:pPr indent="0" marL="0">
              <a:spcAft>
                <a:spcPts val="600"/>
              </a:spcAft>
              <a:buNone/>
            </a:pPr>
            <a:r>
              <a:rPr lang="en-US" sz="1800" dirty="0">
                <a:solidFill>
                  <a:srgbClr val="11121A"/>
                </a:solidFill>
                <a:latin typeface="Palatino Linotype" pitchFamily="34" charset="0"/>
                <a:ea typeface="Palatino Linotype" pitchFamily="34" charset="-122"/>
                <a:cs typeface="Palatino Linotype" pitchFamily="34" charset="-120"/>
              </a:rPr>
              <a:t>Motif d’admission : douleur thoracique</a:t>
            </a:r>
            <a:endParaRPr lang="en-US" sz="1800" dirty="0"/>
          </a:p>
        </p:txBody>
      </p:sp>
      <p:sp>
        <p:nvSpPr>
          <p:cNvPr id="8" name="Shape 6"/>
          <p:cNvSpPr/>
          <p:nvPr/>
        </p:nvSpPr>
        <p:spPr>
          <a:xfrm rot="-90000">
            <a:off x="1143000" y="4434840"/>
            <a:ext cx="4480560" cy="960120"/>
          </a:xfrm>
          <a:prstGeom prst="roundRect">
            <a:avLst>
              <a:gd name="adj" fmla="val 5714"/>
            </a:avLst>
          </a:prstGeom>
          <a:solidFill>
            <a:srgbClr val="FFFFFF"/>
          </a:solidFill>
          <a:ln w="19050">
            <a:solidFill>
              <a:srgbClr val="B02532"/>
            </a:solidFill>
            <a:prstDash val="solid"/>
          </a:ln>
        </p:spPr>
      </p:sp>
      <p:sp>
        <p:nvSpPr>
          <p:cNvPr id="9" name="Text 7"/>
          <p:cNvSpPr/>
          <p:nvPr/>
        </p:nvSpPr>
        <p:spPr>
          <a:xfrm rot="-90000">
            <a:off x="1143000" y="4434840"/>
            <a:ext cx="4480560" cy="960120"/>
          </a:xfrm>
          <a:prstGeom prst="rect">
            <a:avLst/>
          </a:prstGeom>
          <a:noFill/>
          <a:ln/>
        </p:spPr>
        <p:txBody>
          <a:bodyPr wrap="square" lIns="0" tIns="0" rIns="0" bIns="0" rtlCol="0" anchor="ctr"/>
          <a:lstStyle/>
          <a:p>
            <a:pPr algn="ctr" indent="0" marL="0">
              <a:buNone/>
            </a:pPr>
            <a:r>
              <a:rPr lang="en-US" sz="2200" b="1" dirty="0">
                <a:solidFill>
                  <a:srgbClr val="B02532"/>
                </a:solidFill>
                <a:latin typeface="Palatino Linotype" pitchFamily="34" charset="0"/>
                <a:ea typeface="Palatino Linotype" pitchFamily="34" charset="-122"/>
                <a:cs typeface="Palatino Linotype" pitchFamily="34" charset="-120"/>
              </a:rPr>
              <a:t>Troisième hospitalisation en deux ans</a:t>
            </a:r>
            <a:endParaRPr lang="en-US" sz="2200" dirty="0"/>
          </a:p>
        </p:txBody>
      </p:sp>
      <p:sp>
        <p:nvSpPr>
          <p:cNvPr id="10" name="Text 8"/>
          <p:cNvSpPr/>
          <p:nvPr/>
        </p:nvSpPr>
        <p:spPr>
          <a:xfrm>
            <a:off x="6492240" y="1828800"/>
            <a:ext cx="5120640" cy="192024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L’électrocardiogramme, la troponine, la coronarographie et le traitement suivent le protocole. Après quelques jours, le patient rentre chez lui avec une ordonnance et le conseil d’arrêter de fumer. La décision clinique était correcte.</a:t>
            </a:r>
            <a:endParaRPr lang="en-US" sz="1700" dirty="0"/>
          </a:p>
        </p:txBody>
      </p:sp>
      <p:sp>
        <p:nvSpPr>
          <p:cNvPr id="11" name="Text 9"/>
          <p:cNvSpPr/>
          <p:nvPr/>
        </p:nvSpPr>
        <p:spPr>
          <a:xfrm>
            <a:off x="6492240" y="3931920"/>
            <a:ext cx="5120640" cy="137160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Que signifie la santé publique pour le médecin qui a fait tout ce qu’il fallait au chevet de ce patient ?</a:t>
            </a:r>
            <a:endParaRPr lang="en-US" sz="2100" dirty="0"/>
          </a:p>
        </p:txBody>
      </p:sp>
      <p:sp>
        <p:nvSpPr>
          <p:cNvPr id="12" name="Text 10"/>
          <p:cNvSpPr/>
          <p:nvPr/>
        </p:nvSpPr>
        <p:spPr>
          <a:xfrm>
            <a:off x="822960" y="6172200"/>
            <a:ext cx="5486400" cy="256032"/>
          </a:xfrm>
          <a:prstGeom prst="rect">
            <a:avLst/>
          </a:prstGeom>
          <a:noFill/>
          <a:ln/>
        </p:spPr>
        <p:txBody>
          <a:bodyPr wrap="square" lIns="0" tIns="0" rIns="0" bIns="0" rtlCol="0" anchor="t"/>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Scène reconstituée ; le patient est fictif.</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AVEC VOTRE VOISIN</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LA PRÉPARATION AU COURS</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La phrase que vous avez apportée</a:t>
            </a:r>
            <a:endParaRPr lang="en-US" sz="3400" dirty="0"/>
          </a:p>
        </p:txBody>
      </p:sp>
      <p:sp>
        <p:nvSpPr>
          <p:cNvPr id="6" name="Text 4"/>
          <p:cNvSpPr/>
          <p:nvPr/>
        </p:nvSpPr>
        <p:spPr>
          <a:xfrm>
            <a:off x="594360" y="1691640"/>
            <a:ext cx="10972800" cy="100584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Avant le cours, vous avez noté ce qui aurait pu être fait pour un patient vu plusieurs fois pour le même problème, et par qui.</a:t>
            </a:r>
            <a:endParaRPr lang="en-US" sz="1900" dirty="0"/>
          </a:p>
        </p:txBody>
      </p:sp>
      <p:sp>
        <p:nvSpPr>
          <p:cNvPr id="7" name="Shape 5"/>
          <p:cNvSpPr/>
          <p:nvPr/>
        </p:nvSpPr>
        <p:spPr>
          <a:xfrm>
            <a:off x="594360" y="2926080"/>
            <a:ext cx="10972800" cy="822960"/>
          </a:xfrm>
          <a:prstGeom prst="roundRect">
            <a:avLst>
              <a:gd name="adj" fmla="val 10000"/>
            </a:avLst>
          </a:prstGeom>
          <a:solidFill>
            <a:srgbClr val="1D1F2B"/>
          </a:solidFill>
          <a:ln w="12700">
            <a:solidFill>
              <a:srgbClr val="1D1F2B"/>
            </a:solidFill>
            <a:prstDash val="solid"/>
          </a:ln>
        </p:spPr>
      </p:sp>
      <p:sp>
        <p:nvSpPr>
          <p:cNvPr id="8" name="Shape 6"/>
          <p:cNvSpPr/>
          <p:nvPr/>
        </p:nvSpPr>
        <p:spPr>
          <a:xfrm>
            <a:off x="868680" y="3127248"/>
            <a:ext cx="420624" cy="420624"/>
          </a:xfrm>
          <a:prstGeom prst="ellipse">
            <a:avLst/>
          </a:prstGeom>
          <a:solidFill>
            <a:srgbClr val="FFC24B"/>
          </a:solidFill>
          <a:ln/>
        </p:spPr>
      </p:sp>
      <p:sp>
        <p:nvSpPr>
          <p:cNvPr id="9" name="Text 7"/>
          <p:cNvSpPr/>
          <p:nvPr/>
        </p:nvSpPr>
        <p:spPr>
          <a:xfrm>
            <a:off x="868680" y="31272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1508760" y="2926080"/>
            <a:ext cx="9829800" cy="82296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Lisez votre phrase à votre voisin.</a:t>
            </a:r>
            <a:endParaRPr lang="en-US" sz="2000" dirty="0"/>
          </a:p>
        </p:txBody>
      </p:sp>
      <p:sp>
        <p:nvSpPr>
          <p:cNvPr id="11" name="Shape 9"/>
          <p:cNvSpPr/>
          <p:nvPr/>
        </p:nvSpPr>
        <p:spPr>
          <a:xfrm>
            <a:off x="594360" y="3931920"/>
            <a:ext cx="10972800" cy="822960"/>
          </a:xfrm>
          <a:prstGeom prst="roundRect">
            <a:avLst>
              <a:gd name="adj" fmla="val 10000"/>
            </a:avLst>
          </a:prstGeom>
          <a:solidFill>
            <a:srgbClr val="1D1F2B"/>
          </a:solidFill>
          <a:ln w="12700">
            <a:solidFill>
              <a:srgbClr val="1D1F2B"/>
            </a:solidFill>
            <a:prstDash val="solid"/>
          </a:ln>
        </p:spPr>
      </p:sp>
      <p:sp>
        <p:nvSpPr>
          <p:cNvPr id="12" name="Shape 10"/>
          <p:cNvSpPr/>
          <p:nvPr/>
        </p:nvSpPr>
        <p:spPr>
          <a:xfrm>
            <a:off x="868680" y="4133088"/>
            <a:ext cx="420624" cy="420624"/>
          </a:xfrm>
          <a:prstGeom prst="ellipse">
            <a:avLst/>
          </a:prstGeom>
          <a:solidFill>
            <a:srgbClr val="FFC24B"/>
          </a:solidFill>
          <a:ln/>
        </p:spPr>
      </p:sp>
      <p:sp>
        <p:nvSpPr>
          <p:cNvPr id="13" name="Text 11"/>
          <p:cNvSpPr/>
          <p:nvPr/>
        </p:nvSpPr>
        <p:spPr>
          <a:xfrm>
            <a:off x="868680" y="41330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1508760" y="3931920"/>
            <a:ext cx="9829800" cy="82296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Qu’aurait pu faire quelqu’un d’autre que le médecin qui l’a soigné ?</a:t>
            </a:r>
            <a:endParaRPr lang="en-US" sz="2000" dirty="0"/>
          </a:p>
        </p:txBody>
      </p:sp>
      <p:sp>
        <p:nvSpPr>
          <p:cNvPr id="15" name="Text 13"/>
          <p:cNvSpPr/>
          <p:nvPr/>
        </p:nvSpPr>
        <p:spPr>
          <a:xfrm>
            <a:off x="594360" y="5120640"/>
            <a:ext cx="10972800" cy="45720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Sans phrase préparée : écrivez-la maintenant, pour le patient de la garde.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UNE RÉPONSE PROVISOIRE AU TITRE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La santé publique commence par la seconde question</a:t>
            </a:r>
            <a:endParaRPr lang="en-US" sz="3200" dirty="0"/>
          </a:p>
        </p:txBody>
      </p:sp>
      <p:sp>
        <p:nvSpPr>
          <p:cNvPr id="4" name="Shape 2"/>
          <p:cNvSpPr/>
          <p:nvPr/>
        </p:nvSpPr>
        <p:spPr>
          <a:xfrm>
            <a:off x="594360" y="1828800"/>
            <a:ext cx="3931920" cy="2651760"/>
          </a:xfrm>
          <a:prstGeom prst="roundRect">
            <a:avLst>
              <a:gd name="adj" fmla="val 3103"/>
            </a:avLst>
          </a:prstGeom>
          <a:solidFill>
            <a:srgbClr val="ECEAE4"/>
          </a:solidFill>
          <a:ln w="12700">
            <a:solidFill>
              <a:srgbClr val="ECEAE4"/>
            </a:solidFill>
            <a:prstDash val="solid"/>
          </a:ln>
        </p:spPr>
      </p:sp>
      <p:sp>
        <p:nvSpPr>
          <p:cNvPr id="5" name="Text 3"/>
          <p:cNvSpPr/>
          <p:nvPr/>
        </p:nvSpPr>
        <p:spPr>
          <a:xfrm>
            <a:off x="868680" y="2011680"/>
            <a:ext cx="3474720" cy="274320"/>
          </a:xfrm>
          <a:prstGeom prst="rect">
            <a:avLst/>
          </a:prstGeom>
          <a:noFill/>
          <a:ln/>
        </p:spPr>
        <p:txBody>
          <a:bodyPr wrap="square" lIns="0" tIns="0" rIns="0" bIns="0" rtlCol="0" anchor="t"/>
          <a:lstStyle/>
          <a:p>
            <a:pPr indent="0" marL="0">
              <a:buNone/>
            </a:pPr>
            <a:r>
              <a:rPr lang="en-US" sz="1300" b="1" spc="200" kern="0" dirty="0">
                <a:solidFill>
                  <a:srgbClr val="585A64"/>
                </a:solidFill>
                <a:latin typeface="Palatino Linotype" pitchFamily="34" charset="0"/>
                <a:ea typeface="Palatino Linotype" pitchFamily="34" charset="-122"/>
                <a:cs typeface="Palatino Linotype" pitchFamily="34" charset="-120"/>
              </a:rPr>
              <a:t>LA QUESTION CLINIQUE</a:t>
            </a:r>
            <a:endParaRPr lang="en-US" sz="1300" dirty="0"/>
          </a:p>
        </p:txBody>
      </p:sp>
      <p:sp>
        <p:nvSpPr>
          <p:cNvPr id="6" name="Text 4"/>
          <p:cNvSpPr/>
          <p:nvPr/>
        </p:nvSpPr>
        <p:spPr>
          <a:xfrm>
            <a:off x="868680" y="2514600"/>
            <a:ext cx="3474720" cy="1463040"/>
          </a:xfrm>
          <a:prstGeom prst="rect">
            <a:avLst/>
          </a:prstGeom>
          <a:noFill/>
          <a:ln/>
        </p:spPr>
        <p:txBody>
          <a:bodyPr wrap="square" lIns="0" tIns="0" rIns="0" bIns="0" rtlCol="0" anchor="ctr"/>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 Qu’a ce patient ? »</a:t>
            </a:r>
            <a:endParaRPr lang="en-US" sz="2800" dirty="0"/>
          </a:p>
        </p:txBody>
      </p:sp>
      <p:sp>
        <p:nvSpPr>
          <p:cNvPr id="7" name="Shape 5"/>
          <p:cNvSpPr/>
          <p:nvPr/>
        </p:nvSpPr>
        <p:spPr>
          <a:xfrm>
            <a:off x="4709160" y="2971800"/>
            <a:ext cx="548640" cy="329184"/>
          </a:xfrm>
          <a:prstGeom prst="rightArrow">
            <a:avLst/>
          </a:prstGeom>
          <a:solidFill>
            <a:srgbClr val="B02532"/>
          </a:solidFill>
          <a:ln w="12700">
            <a:solidFill>
              <a:srgbClr val="B02532"/>
            </a:solidFill>
            <a:prstDash val="solid"/>
          </a:ln>
        </p:spPr>
      </p:sp>
      <p:sp>
        <p:nvSpPr>
          <p:cNvPr id="8" name="Shape 6"/>
          <p:cNvSpPr/>
          <p:nvPr/>
        </p:nvSpPr>
        <p:spPr>
          <a:xfrm>
            <a:off x="5486400" y="1828800"/>
            <a:ext cx="6080760" cy="2651760"/>
          </a:xfrm>
          <a:prstGeom prst="roundRect">
            <a:avLst>
              <a:gd name="adj" fmla="val 3103"/>
            </a:avLst>
          </a:prstGeom>
          <a:solidFill>
            <a:srgbClr val="B02532"/>
          </a:solidFill>
          <a:ln w="12700">
            <a:solidFill>
              <a:srgbClr val="B02532"/>
            </a:solidFill>
            <a:prstDash val="solid"/>
          </a:ln>
        </p:spPr>
      </p:sp>
      <p:sp>
        <p:nvSpPr>
          <p:cNvPr id="9" name="Text 7"/>
          <p:cNvSpPr/>
          <p:nvPr/>
        </p:nvSpPr>
        <p:spPr>
          <a:xfrm>
            <a:off x="5760720" y="2011680"/>
            <a:ext cx="5577840" cy="274320"/>
          </a:xfrm>
          <a:prstGeom prst="rect">
            <a:avLst/>
          </a:prstGeom>
          <a:noFill/>
          <a:ln/>
        </p:spPr>
        <p:txBody>
          <a:bodyPr wrap="square" lIns="0" tIns="0" rIns="0" bIns="0" rtlCol="0" anchor="t"/>
          <a:lstStyle/>
          <a:p>
            <a:pPr indent="0" marL="0">
              <a:buNone/>
            </a:pPr>
            <a:r>
              <a:rPr lang="en-US" sz="1300" b="1" spc="200" kern="0" dirty="0">
                <a:solidFill>
                  <a:srgbClr val="FFD6DA"/>
                </a:solidFill>
                <a:latin typeface="Palatino Linotype" pitchFamily="34" charset="0"/>
                <a:ea typeface="Palatino Linotype" pitchFamily="34" charset="-122"/>
                <a:cs typeface="Palatino Linotype" pitchFamily="34" charset="-120"/>
              </a:rPr>
              <a:t>LA QUESTION DE SANTÉ PUBLIQUE</a:t>
            </a:r>
            <a:endParaRPr lang="en-US" sz="1300" dirty="0"/>
          </a:p>
        </p:txBody>
      </p:sp>
      <p:sp>
        <p:nvSpPr>
          <p:cNvPr id="10" name="Text 8"/>
          <p:cNvSpPr/>
          <p:nvPr/>
        </p:nvSpPr>
        <p:spPr>
          <a:xfrm>
            <a:off x="5760720" y="2377440"/>
            <a:ext cx="5577840" cy="1965960"/>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 Combien de patients comme lui existe-t-il, pourquoi sont-ils si nombreux et qu’aurait-on pu faire avant que l’un d’eux n’arrive aux urgences ? »</a:t>
            </a:r>
            <a:endParaRPr lang="en-US" sz="2200" dirty="0"/>
          </a:p>
        </p:txBody>
      </p:sp>
      <p:sp>
        <p:nvSpPr>
          <p:cNvPr id="11" name="Text 9"/>
          <p:cNvSpPr/>
          <p:nvPr/>
        </p:nvSpPr>
        <p:spPr>
          <a:xfrm>
            <a:off x="594360" y="4800600"/>
            <a:ext cx="10972800" cy="9144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Le médecin de garde ne peut pas répondre seul à la seconde question, mais il peut la poser. Ses données, ses déclarations et le conseil donné au patient font partie de la réponse.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APRÈS LA GARDE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900" b="1" dirty="0">
                <a:solidFill>
                  <a:srgbClr val="FFFFFF"/>
                </a:solidFill>
                <a:latin typeface="Palatino Linotype" pitchFamily="34" charset="0"/>
                <a:ea typeface="Palatino Linotype" pitchFamily="34" charset="-122"/>
                <a:cs typeface="Palatino Linotype" pitchFamily="34" charset="-120"/>
              </a:rPr>
              <a:t>Laquelle de ces décisions relève de la santé publique ?</a:t>
            </a:r>
            <a:endParaRPr lang="en-US" sz="2900" dirty="0"/>
          </a:p>
        </p:txBody>
      </p:sp>
      <p:sp>
        <p:nvSpPr>
          <p:cNvPr id="6" name="Shape 4"/>
          <p:cNvSpPr/>
          <p:nvPr/>
        </p:nvSpPr>
        <p:spPr>
          <a:xfrm>
            <a:off x="594360" y="1783080"/>
            <a:ext cx="10972800" cy="804672"/>
          </a:xfrm>
          <a:prstGeom prst="roundRect">
            <a:avLst>
              <a:gd name="adj" fmla="val 10227"/>
            </a:avLst>
          </a:prstGeom>
          <a:solidFill>
            <a:srgbClr val="1D1F2B"/>
          </a:solidFill>
          <a:ln w="12700">
            <a:solidFill>
              <a:srgbClr val="1D1F2B"/>
            </a:solidFill>
            <a:prstDash val="solid"/>
          </a:ln>
        </p:spPr>
      </p:sp>
      <p:sp>
        <p:nvSpPr>
          <p:cNvPr id="7" name="Shape 5"/>
          <p:cNvSpPr/>
          <p:nvPr/>
        </p:nvSpPr>
        <p:spPr>
          <a:xfrm>
            <a:off x="868680" y="1975104"/>
            <a:ext cx="420624" cy="420624"/>
          </a:xfrm>
          <a:prstGeom prst="ellipse">
            <a:avLst/>
          </a:prstGeom>
          <a:solidFill>
            <a:srgbClr val="FFC24B"/>
          </a:solidFill>
          <a:ln/>
        </p:spPr>
      </p:sp>
      <p:sp>
        <p:nvSpPr>
          <p:cNvPr id="8" name="Text 6"/>
          <p:cNvSpPr/>
          <p:nvPr/>
        </p:nvSpPr>
        <p:spPr>
          <a:xfrm>
            <a:off x="868680" y="19751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783080"/>
            <a:ext cx="9829800" cy="80467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Prescrire au patient le traitement de prévention secondaire.</a:t>
            </a:r>
            <a:endParaRPr lang="en-US" sz="1700" dirty="0"/>
          </a:p>
        </p:txBody>
      </p:sp>
      <p:sp>
        <p:nvSpPr>
          <p:cNvPr id="10" name="Shape 8"/>
          <p:cNvSpPr/>
          <p:nvPr/>
        </p:nvSpPr>
        <p:spPr>
          <a:xfrm>
            <a:off x="594360" y="2715768"/>
            <a:ext cx="10972800" cy="804672"/>
          </a:xfrm>
          <a:prstGeom prst="roundRect">
            <a:avLst>
              <a:gd name="adj" fmla="val 10227"/>
            </a:avLst>
          </a:prstGeom>
          <a:solidFill>
            <a:srgbClr val="1D1F2B"/>
          </a:solidFill>
          <a:ln w="12700">
            <a:solidFill>
              <a:srgbClr val="1D1F2B"/>
            </a:solidFill>
            <a:prstDash val="solid"/>
          </a:ln>
        </p:spPr>
      </p:sp>
      <p:sp>
        <p:nvSpPr>
          <p:cNvPr id="11" name="Shape 9"/>
          <p:cNvSpPr/>
          <p:nvPr/>
        </p:nvSpPr>
        <p:spPr>
          <a:xfrm>
            <a:off x="868680" y="2907792"/>
            <a:ext cx="420624" cy="420624"/>
          </a:xfrm>
          <a:prstGeom prst="ellipse">
            <a:avLst/>
          </a:prstGeom>
          <a:solidFill>
            <a:srgbClr val="FFC24B"/>
          </a:solidFill>
          <a:ln/>
        </p:spPr>
      </p:sp>
      <p:sp>
        <p:nvSpPr>
          <p:cNvPr id="12" name="Text 10"/>
          <p:cNvSpPr/>
          <p:nvPr/>
        </p:nvSpPr>
        <p:spPr>
          <a:xfrm>
            <a:off x="868680" y="29077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715768"/>
            <a:ext cx="9829800" cy="80467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Demander un examen complémentaire pour ce patient.</a:t>
            </a:r>
            <a:endParaRPr lang="en-US" sz="1700" dirty="0"/>
          </a:p>
        </p:txBody>
      </p:sp>
      <p:sp>
        <p:nvSpPr>
          <p:cNvPr id="14" name="Shape 12"/>
          <p:cNvSpPr/>
          <p:nvPr/>
        </p:nvSpPr>
        <p:spPr>
          <a:xfrm>
            <a:off x="594360" y="3648456"/>
            <a:ext cx="10972800" cy="804672"/>
          </a:xfrm>
          <a:prstGeom prst="roundRect">
            <a:avLst>
              <a:gd name="adj" fmla="val 10227"/>
            </a:avLst>
          </a:prstGeom>
          <a:solidFill>
            <a:srgbClr val="1D1F2B"/>
          </a:solidFill>
          <a:ln w="12700">
            <a:solidFill>
              <a:srgbClr val="1D1F2B"/>
            </a:solidFill>
            <a:prstDash val="solid"/>
          </a:ln>
        </p:spPr>
      </p:sp>
      <p:sp>
        <p:nvSpPr>
          <p:cNvPr id="15" name="Shape 13"/>
          <p:cNvSpPr/>
          <p:nvPr/>
        </p:nvSpPr>
        <p:spPr>
          <a:xfrm>
            <a:off x="868680" y="3840480"/>
            <a:ext cx="420624" cy="420624"/>
          </a:xfrm>
          <a:prstGeom prst="ellipse">
            <a:avLst/>
          </a:prstGeom>
          <a:solidFill>
            <a:srgbClr val="FFC24B"/>
          </a:solidFill>
          <a:ln/>
        </p:spPr>
      </p:sp>
      <p:sp>
        <p:nvSpPr>
          <p:cNvPr id="16" name="Text 14"/>
          <p:cNvSpPr/>
          <p:nvPr/>
        </p:nvSpPr>
        <p:spPr>
          <a:xfrm>
            <a:off x="868680" y="3840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648456"/>
            <a:ext cx="9829800" cy="80467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Analyser, avec les médecins de famille de la zone, combien de patients à facteurs de risque cardiovasculaire non dépistés vivent dans le comté, et proposer un programme de dépistage.</a:t>
            </a:r>
            <a:endParaRPr lang="en-US" sz="1700" dirty="0"/>
          </a:p>
        </p:txBody>
      </p:sp>
      <p:sp>
        <p:nvSpPr>
          <p:cNvPr id="18" name="Shape 16"/>
          <p:cNvSpPr/>
          <p:nvPr/>
        </p:nvSpPr>
        <p:spPr>
          <a:xfrm>
            <a:off x="594360" y="4581144"/>
            <a:ext cx="10972800" cy="804672"/>
          </a:xfrm>
          <a:prstGeom prst="roundRect">
            <a:avLst>
              <a:gd name="adj" fmla="val 10227"/>
            </a:avLst>
          </a:prstGeom>
          <a:solidFill>
            <a:srgbClr val="1D1F2B"/>
          </a:solidFill>
          <a:ln w="12700">
            <a:solidFill>
              <a:srgbClr val="1D1F2B"/>
            </a:solidFill>
            <a:prstDash val="solid"/>
          </a:ln>
        </p:spPr>
      </p:sp>
      <p:sp>
        <p:nvSpPr>
          <p:cNvPr id="19" name="Shape 17"/>
          <p:cNvSpPr/>
          <p:nvPr/>
        </p:nvSpPr>
        <p:spPr>
          <a:xfrm>
            <a:off x="868680" y="4773168"/>
            <a:ext cx="420624" cy="420624"/>
          </a:xfrm>
          <a:prstGeom prst="ellipse">
            <a:avLst/>
          </a:prstGeom>
          <a:solidFill>
            <a:srgbClr val="FFC24B"/>
          </a:solidFill>
          <a:ln/>
        </p:spPr>
      </p:sp>
      <p:sp>
        <p:nvSpPr>
          <p:cNvPr id="20" name="Text 18"/>
          <p:cNvSpPr/>
          <p:nvPr/>
        </p:nvSpPr>
        <p:spPr>
          <a:xfrm>
            <a:off x="868680" y="47731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508760" y="4581144"/>
            <a:ext cx="9829800" cy="80467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Adresser le patient à un autre spécialiste.</a:t>
            </a:r>
            <a:endParaRPr lang="en-US" sz="1700" dirty="0"/>
          </a:p>
        </p:txBody>
      </p:sp>
      <p:sp>
        <p:nvSpPr>
          <p:cNvPr id="22" name="Text 20"/>
          <p:cNvSpPr/>
          <p:nvPr/>
        </p:nvSpPr>
        <p:spPr>
          <a:xfrm>
            <a:off x="594360" y="5623560"/>
            <a:ext cx="10972800" cy="3657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Votez sur téléphone ; puis deux minutes de discussion avec votre voisin.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 : l’unité d’analyse est la population</a:t>
            </a:r>
            <a:endParaRPr lang="en-US" sz="3200" dirty="0"/>
          </a:p>
        </p:txBody>
      </p:sp>
      <p:sp>
        <p:nvSpPr>
          <p:cNvPr id="4" name="Shape 2"/>
          <p:cNvSpPr/>
          <p:nvPr/>
        </p:nvSpPr>
        <p:spPr>
          <a:xfrm>
            <a:off x="594360" y="1783080"/>
            <a:ext cx="5349240" cy="2377440"/>
          </a:xfrm>
          <a:prstGeom prst="roundRect">
            <a:avLst>
              <a:gd name="adj" fmla="val 3462"/>
            </a:avLst>
          </a:prstGeom>
          <a:solidFill>
            <a:srgbClr val="ECEAE4"/>
          </a:solidFill>
          <a:ln w="12700">
            <a:solidFill>
              <a:srgbClr val="ECEAE4"/>
            </a:solidFill>
            <a:prstDash val="solid"/>
          </a:ln>
        </p:spPr>
      </p:sp>
      <p:sp>
        <p:nvSpPr>
          <p:cNvPr id="5" name="Text 3"/>
          <p:cNvSpPr/>
          <p:nvPr/>
        </p:nvSpPr>
        <p:spPr>
          <a:xfrm>
            <a:off x="868680" y="1920240"/>
            <a:ext cx="4846320" cy="320040"/>
          </a:xfrm>
          <a:prstGeom prst="rect">
            <a:avLst/>
          </a:prstGeom>
          <a:noFill/>
          <a:ln/>
        </p:spPr>
        <p:txBody>
          <a:bodyPr wrap="square" lIns="0" tIns="0" rIns="0" bIns="0" rtlCol="0" anchor="t"/>
          <a:lstStyle/>
          <a:p>
            <a:pPr indent="0" marL="0">
              <a:buNone/>
            </a:pPr>
            <a:r>
              <a:rPr lang="en-US" sz="1400" b="1" spc="200" kern="0" dirty="0">
                <a:solidFill>
                  <a:srgbClr val="585A64"/>
                </a:solidFill>
                <a:latin typeface="Palatino Linotype" pitchFamily="34" charset="0"/>
                <a:ea typeface="Palatino Linotype" pitchFamily="34" charset="-122"/>
                <a:cs typeface="Palatino Linotype" pitchFamily="34" charset="-120"/>
              </a:rPr>
              <a:t>A, B, D · ACTE CLINIQUE</a:t>
            </a:r>
            <a:endParaRPr lang="en-US" sz="1400" dirty="0"/>
          </a:p>
        </p:txBody>
      </p:sp>
      <p:sp>
        <p:nvSpPr>
          <p:cNvPr id="6" name="Text 4"/>
          <p:cNvSpPr/>
          <p:nvPr/>
        </p:nvSpPr>
        <p:spPr>
          <a:xfrm>
            <a:off x="868680" y="2377440"/>
            <a:ext cx="4846320" cy="164592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Elles concernent le patient qui se trouve devant le médecin : son traitement, ses examens, son adressage.</a:t>
            </a:r>
            <a:endParaRPr lang="en-US" sz="1900" dirty="0"/>
          </a:p>
        </p:txBody>
      </p:sp>
      <p:sp>
        <p:nvSpPr>
          <p:cNvPr id="7" name="Shape 5"/>
          <p:cNvSpPr/>
          <p:nvPr/>
        </p:nvSpPr>
        <p:spPr>
          <a:xfrm>
            <a:off x="6217920" y="1783080"/>
            <a:ext cx="5349240" cy="2377440"/>
          </a:xfrm>
          <a:prstGeom prst="roundRect">
            <a:avLst>
              <a:gd name="adj" fmla="val 3462"/>
            </a:avLst>
          </a:prstGeom>
          <a:solidFill>
            <a:srgbClr val="0E7C6B"/>
          </a:solidFill>
          <a:ln w="12700">
            <a:solidFill>
              <a:srgbClr val="0E7C6B"/>
            </a:solidFill>
            <a:prstDash val="solid"/>
          </a:ln>
        </p:spPr>
      </p:sp>
      <p:sp>
        <p:nvSpPr>
          <p:cNvPr id="8" name="Text 6"/>
          <p:cNvSpPr/>
          <p:nvPr/>
        </p:nvSpPr>
        <p:spPr>
          <a:xfrm>
            <a:off x="6492240" y="1920240"/>
            <a:ext cx="4846320" cy="320040"/>
          </a:xfrm>
          <a:prstGeom prst="rect">
            <a:avLst/>
          </a:prstGeom>
          <a:noFill/>
          <a:ln/>
        </p:spPr>
        <p:txBody>
          <a:bodyPr wrap="square" lIns="0" tIns="0" rIns="0" bIns="0" rtlCol="0" anchor="t"/>
          <a:lstStyle/>
          <a:p>
            <a:pPr indent="0" marL="0">
              <a:buNone/>
            </a:pPr>
            <a:r>
              <a:rPr lang="en-US" sz="1400" b="1" spc="200" kern="0" dirty="0">
                <a:solidFill>
                  <a:srgbClr val="BFF3EA"/>
                </a:solidFill>
                <a:latin typeface="Palatino Linotype" pitchFamily="34" charset="0"/>
                <a:ea typeface="Palatino Linotype" pitchFamily="34" charset="-122"/>
                <a:cs typeface="Palatino Linotype" pitchFamily="34" charset="-120"/>
              </a:rPr>
              <a:t>C · SANTÉ PUBLIQUE</a:t>
            </a:r>
            <a:endParaRPr lang="en-US" sz="1400" dirty="0"/>
          </a:p>
        </p:txBody>
      </p:sp>
      <p:sp>
        <p:nvSpPr>
          <p:cNvPr id="9" name="Text 7"/>
          <p:cNvSpPr/>
          <p:nvPr/>
        </p:nvSpPr>
        <p:spPr>
          <a:xfrm>
            <a:off x="6492240" y="2377440"/>
            <a:ext cx="4846320" cy="164592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Les données d’une population, les groupes à risque et un programme pour tous.</a:t>
            </a:r>
            <a:endParaRPr lang="en-US" sz="1900" dirty="0"/>
          </a:p>
        </p:txBody>
      </p:sp>
      <p:sp>
        <p:nvSpPr>
          <p:cNvPr id="10" name="Text 8"/>
          <p:cNvSpPr/>
          <p:nvPr/>
        </p:nvSpPr>
        <p:spPr>
          <a:xfrm>
            <a:off x="594360" y="4389120"/>
            <a:ext cx="10972800" cy="14630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 test prescrit à un patient symptomatique reste un acte clinique, même si le même test sert dans les programmes de dépistage. Les deux activités ne sont pas en concurrence : le programme amène au médecin des patients dépistés plus tôt, et les médecins signalent les problèmes que le programme doit suivre.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MÉDECINE CLINIQUE ET SANTÉ PUBLIQUE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 même médecin, deux unités d’analyse</a:t>
            </a:r>
            <a:endParaRPr lang="en-US" sz="3200" dirty="0"/>
          </a:p>
        </p:txBody>
      </p:sp>
      <p:sp>
        <p:nvSpPr>
          <p:cNvPr id="4" name="Text 2"/>
          <p:cNvSpPr/>
          <p:nvPr/>
        </p:nvSpPr>
        <p:spPr>
          <a:xfrm>
            <a:off x="3611880" y="1600200"/>
            <a:ext cx="3657600" cy="320040"/>
          </a:xfrm>
          <a:prstGeom prst="rect">
            <a:avLst/>
          </a:prstGeom>
          <a:noFill/>
          <a:ln/>
        </p:spPr>
        <p:txBody>
          <a:bodyPr wrap="square" lIns="0" tIns="0" rIns="0" bIns="0" rtlCol="0" anchor="t"/>
          <a:lstStyle/>
          <a:p>
            <a:pPr indent="0" marL="0">
              <a:buNone/>
            </a:pPr>
            <a:r>
              <a:rPr lang="en-US" sz="1500" b="1" dirty="0">
                <a:solidFill>
                  <a:srgbClr val="585A64"/>
                </a:solidFill>
                <a:latin typeface="Palatino Linotype" pitchFamily="34" charset="0"/>
                <a:ea typeface="Palatino Linotype" pitchFamily="34" charset="-122"/>
                <a:cs typeface="Palatino Linotype" pitchFamily="34" charset="-120"/>
              </a:rPr>
              <a:t>Médecine clinique</a:t>
            </a:r>
            <a:endParaRPr lang="en-US" sz="1500" dirty="0"/>
          </a:p>
        </p:txBody>
      </p:sp>
      <p:sp>
        <p:nvSpPr>
          <p:cNvPr id="5" name="Text 3"/>
          <p:cNvSpPr/>
          <p:nvPr/>
        </p:nvSpPr>
        <p:spPr>
          <a:xfrm>
            <a:off x="7452360" y="1600200"/>
            <a:ext cx="4023360" cy="320040"/>
          </a:xfrm>
          <a:prstGeom prst="rect">
            <a:avLst/>
          </a:prstGeom>
          <a:noFill/>
          <a:ln/>
        </p:spPr>
        <p:txBody>
          <a:bodyPr wrap="square" lIns="0" tIns="0" rIns="0" bIns="0" rtlCol="0" anchor="t"/>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Santé publique</a:t>
            </a:r>
            <a:endParaRPr lang="en-US" sz="1500" dirty="0"/>
          </a:p>
        </p:txBody>
      </p:sp>
      <p:sp>
        <p:nvSpPr>
          <p:cNvPr id="6" name="Shape 4"/>
          <p:cNvSpPr/>
          <p:nvPr/>
        </p:nvSpPr>
        <p:spPr>
          <a:xfrm>
            <a:off x="594360" y="1965960"/>
            <a:ext cx="10972800" cy="658368"/>
          </a:xfrm>
          <a:prstGeom prst="roundRect">
            <a:avLst>
              <a:gd name="adj" fmla="val 12500"/>
            </a:avLst>
          </a:prstGeom>
          <a:solidFill>
            <a:srgbClr val="ECEAE4"/>
          </a:solidFill>
          <a:ln w="12700">
            <a:solidFill>
              <a:srgbClr val="ECEAE4"/>
            </a:solidFill>
            <a:prstDash val="solid"/>
          </a:ln>
        </p:spPr>
      </p:sp>
      <p:sp>
        <p:nvSpPr>
          <p:cNvPr id="7" name="Text 5"/>
          <p:cNvSpPr/>
          <p:nvPr/>
        </p:nvSpPr>
        <p:spPr>
          <a:xfrm>
            <a:off x="822960" y="1965960"/>
            <a:ext cx="2651760" cy="658368"/>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Unité d’analyse</a:t>
            </a:r>
            <a:endParaRPr lang="en-US" sz="1500" dirty="0"/>
          </a:p>
        </p:txBody>
      </p:sp>
      <p:sp>
        <p:nvSpPr>
          <p:cNvPr id="8" name="Text 6"/>
          <p:cNvSpPr/>
          <p:nvPr/>
        </p:nvSpPr>
        <p:spPr>
          <a:xfrm>
            <a:off x="3611880" y="1965960"/>
            <a:ext cx="36576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 patient</a:t>
            </a:r>
            <a:endParaRPr lang="en-US" sz="1500" dirty="0"/>
          </a:p>
        </p:txBody>
      </p:sp>
      <p:sp>
        <p:nvSpPr>
          <p:cNvPr id="9" name="Text 7"/>
          <p:cNvSpPr/>
          <p:nvPr/>
        </p:nvSpPr>
        <p:spPr>
          <a:xfrm>
            <a:off x="7452360" y="1965960"/>
            <a:ext cx="402336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la population ou la communauté</a:t>
            </a:r>
            <a:endParaRPr lang="en-US" sz="1500" dirty="0"/>
          </a:p>
        </p:txBody>
      </p:sp>
      <p:sp>
        <p:nvSpPr>
          <p:cNvPr id="10" name="Shape 8"/>
          <p:cNvSpPr/>
          <p:nvPr/>
        </p:nvSpPr>
        <p:spPr>
          <a:xfrm>
            <a:off x="594360" y="2715768"/>
            <a:ext cx="10972800" cy="658368"/>
          </a:xfrm>
          <a:prstGeom prst="roundRect">
            <a:avLst>
              <a:gd name="adj" fmla="val 12500"/>
            </a:avLst>
          </a:prstGeom>
          <a:solidFill>
            <a:srgbClr val="F9F8F5"/>
          </a:solidFill>
          <a:ln w="12700">
            <a:solidFill>
              <a:srgbClr val="F9F8F5"/>
            </a:solidFill>
            <a:prstDash val="solid"/>
          </a:ln>
        </p:spPr>
      </p:sp>
      <p:sp>
        <p:nvSpPr>
          <p:cNvPr id="11" name="Text 9"/>
          <p:cNvSpPr/>
          <p:nvPr/>
        </p:nvSpPr>
        <p:spPr>
          <a:xfrm>
            <a:off x="822960" y="2715768"/>
            <a:ext cx="2651760" cy="658368"/>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Objectif principal</a:t>
            </a:r>
            <a:endParaRPr lang="en-US" sz="1500" dirty="0"/>
          </a:p>
        </p:txBody>
      </p:sp>
      <p:sp>
        <p:nvSpPr>
          <p:cNvPr id="12" name="Text 10"/>
          <p:cNvSpPr/>
          <p:nvPr/>
        </p:nvSpPr>
        <p:spPr>
          <a:xfrm>
            <a:off x="3611880" y="2715768"/>
            <a:ext cx="36576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 diagnostic et le traitement de la maladie</a:t>
            </a:r>
            <a:endParaRPr lang="en-US" sz="1500" dirty="0"/>
          </a:p>
        </p:txBody>
      </p:sp>
      <p:sp>
        <p:nvSpPr>
          <p:cNvPr id="13" name="Text 11"/>
          <p:cNvSpPr/>
          <p:nvPr/>
        </p:nvSpPr>
        <p:spPr>
          <a:xfrm>
            <a:off x="7452360" y="2715768"/>
            <a:ext cx="402336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la prévention de la maladie, la promotion de la santé, la protection de la population</a:t>
            </a:r>
            <a:endParaRPr lang="en-US" sz="1500" dirty="0"/>
          </a:p>
        </p:txBody>
      </p:sp>
      <p:sp>
        <p:nvSpPr>
          <p:cNvPr id="14" name="Shape 12"/>
          <p:cNvSpPr/>
          <p:nvPr/>
        </p:nvSpPr>
        <p:spPr>
          <a:xfrm>
            <a:off x="594360" y="3465576"/>
            <a:ext cx="10972800" cy="658368"/>
          </a:xfrm>
          <a:prstGeom prst="roundRect">
            <a:avLst>
              <a:gd name="adj" fmla="val 12500"/>
            </a:avLst>
          </a:prstGeom>
          <a:solidFill>
            <a:srgbClr val="ECEAE4"/>
          </a:solidFill>
          <a:ln w="12700">
            <a:solidFill>
              <a:srgbClr val="ECEAE4"/>
            </a:solidFill>
            <a:prstDash val="solid"/>
          </a:ln>
        </p:spPr>
      </p:sp>
      <p:sp>
        <p:nvSpPr>
          <p:cNvPr id="15" name="Text 13"/>
          <p:cNvSpPr/>
          <p:nvPr/>
        </p:nvSpPr>
        <p:spPr>
          <a:xfrm>
            <a:off x="822960" y="3465576"/>
            <a:ext cx="2651760" cy="658368"/>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Moment de l’intervention</a:t>
            </a:r>
            <a:endParaRPr lang="en-US" sz="1500" dirty="0"/>
          </a:p>
        </p:txBody>
      </p:sp>
      <p:sp>
        <p:nvSpPr>
          <p:cNvPr id="16" name="Text 14"/>
          <p:cNvSpPr/>
          <p:nvPr/>
        </p:nvSpPr>
        <p:spPr>
          <a:xfrm>
            <a:off x="3611880" y="3465576"/>
            <a:ext cx="36576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en général, après l’apparition des symptômes</a:t>
            </a:r>
            <a:endParaRPr lang="en-US" sz="1500" dirty="0"/>
          </a:p>
        </p:txBody>
      </p:sp>
      <p:sp>
        <p:nvSpPr>
          <p:cNvPr id="17" name="Text 15"/>
          <p:cNvSpPr/>
          <p:nvPr/>
        </p:nvSpPr>
        <p:spPr>
          <a:xfrm>
            <a:off x="7452360" y="3465576"/>
            <a:ext cx="402336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en général, avant l’apparition de la maladie</a:t>
            </a:r>
            <a:endParaRPr lang="en-US" sz="1500" dirty="0"/>
          </a:p>
        </p:txBody>
      </p:sp>
      <p:sp>
        <p:nvSpPr>
          <p:cNvPr id="18" name="Shape 16"/>
          <p:cNvSpPr/>
          <p:nvPr/>
        </p:nvSpPr>
        <p:spPr>
          <a:xfrm>
            <a:off x="594360" y="4215384"/>
            <a:ext cx="10972800" cy="658368"/>
          </a:xfrm>
          <a:prstGeom prst="roundRect">
            <a:avLst>
              <a:gd name="adj" fmla="val 12500"/>
            </a:avLst>
          </a:prstGeom>
          <a:solidFill>
            <a:srgbClr val="F9F8F5"/>
          </a:solidFill>
          <a:ln w="12700">
            <a:solidFill>
              <a:srgbClr val="F9F8F5"/>
            </a:solidFill>
            <a:prstDash val="solid"/>
          </a:ln>
        </p:spPr>
      </p:sp>
      <p:sp>
        <p:nvSpPr>
          <p:cNvPr id="19" name="Text 17"/>
          <p:cNvSpPr/>
          <p:nvPr/>
        </p:nvSpPr>
        <p:spPr>
          <a:xfrm>
            <a:off x="822960" y="4215384"/>
            <a:ext cx="2651760" cy="658368"/>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Instruments</a:t>
            </a:r>
            <a:endParaRPr lang="en-US" sz="1500" dirty="0"/>
          </a:p>
        </p:txBody>
      </p:sp>
      <p:sp>
        <p:nvSpPr>
          <p:cNvPr id="20" name="Text 18"/>
          <p:cNvSpPr/>
          <p:nvPr/>
        </p:nvSpPr>
        <p:spPr>
          <a:xfrm>
            <a:off x="3611880" y="4215384"/>
            <a:ext cx="36576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l’examen clinique, les investigations, le traitement</a:t>
            </a:r>
            <a:endParaRPr lang="en-US" sz="1500" dirty="0"/>
          </a:p>
        </p:txBody>
      </p:sp>
      <p:sp>
        <p:nvSpPr>
          <p:cNvPr id="21" name="Text 19"/>
          <p:cNvSpPr/>
          <p:nvPr/>
        </p:nvSpPr>
        <p:spPr>
          <a:xfrm>
            <a:off x="7452360" y="4215384"/>
            <a:ext cx="402336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la surveillance, l’épidémiologie, les politiques, la législation, les programmes</a:t>
            </a:r>
            <a:endParaRPr lang="en-US" sz="1500" dirty="0"/>
          </a:p>
        </p:txBody>
      </p:sp>
      <p:sp>
        <p:nvSpPr>
          <p:cNvPr id="22" name="Shape 20"/>
          <p:cNvSpPr/>
          <p:nvPr/>
        </p:nvSpPr>
        <p:spPr>
          <a:xfrm>
            <a:off x="594360" y="4965192"/>
            <a:ext cx="10972800" cy="658368"/>
          </a:xfrm>
          <a:prstGeom prst="roundRect">
            <a:avLst>
              <a:gd name="adj" fmla="val 12500"/>
            </a:avLst>
          </a:prstGeom>
          <a:solidFill>
            <a:srgbClr val="ECEAE4"/>
          </a:solidFill>
          <a:ln w="12700">
            <a:solidFill>
              <a:srgbClr val="ECEAE4"/>
            </a:solidFill>
            <a:prstDash val="solid"/>
          </a:ln>
        </p:spPr>
      </p:sp>
      <p:sp>
        <p:nvSpPr>
          <p:cNvPr id="23" name="Text 21"/>
          <p:cNvSpPr/>
          <p:nvPr/>
        </p:nvSpPr>
        <p:spPr>
          <a:xfrm>
            <a:off x="822960" y="4965192"/>
            <a:ext cx="2651760" cy="658368"/>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Mesure du succès</a:t>
            </a:r>
            <a:endParaRPr lang="en-US" sz="1500" dirty="0"/>
          </a:p>
        </p:txBody>
      </p:sp>
      <p:sp>
        <p:nvSpPr>
          <p:cNvPr id="24" name="Text 22"/>
          <p:cNvSpPr/>
          <p:nvPr/>
        </p:nvSpPr>
        <p:spPr>
          <a:xfrm>
            <a:off x="3611880" y="4965192"/>
            <a:ext cx="365760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 patient guéri ou amélioré</a:t>
            </a:r>
            <a:endParaRPr lang="en-US" sz="1500" dirty="0"/>
          </a:p>
        </p:txBody>
      </p:sp>
      <p:sp>
        <p:nvSpPr>
          <p:cNvPr id="25" name="Text 23"/>
          <p:cNvSpPr/>
          <p:nvPr/>
        </p:nvSpPr>
        <p:spPr>
          <a:xfrm>
            <a:off x="7452360" y="4965192"/>
            <a:ext cx="4023360" cy="658368"/>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une maladie moins fréquente et des écarts plus faibles entre groupes</a:t>
            </a:r>
            <a:endParaRPr lang="en-US" sz="1500" dirty="0"/>
          </a:p>
        </p:txBody>
      </p:sp>
      <p:sp>
        <p:nvSpPr>
          <p:cNvPr id="26" name="Text 24"/>
          <p:cNvSpPr/>
          <p:nvPr/>
        </p:nvSpPr>
        <p:spPr>
          <a:xfrm>
            <a:off x="594360" y="5852160"/>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Comparaison didactique, construite pour ce cours : elle décrit des accents, non des frontières rigides ; le même médecin travaille souvent dans les deux registres.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QU’EST-CE QUE LA SANTÉ PUBLIQUE</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Une définition centenaire, élargie en chemin</a:t>
            </a:r>
            <a:endParaRPr lang="en-US" sz="3000" dirty="0"/>
          </a:p>
        </p:txBody>
      </p:sp>
      <p:sp>
        <p:nvSpPr>
          <p:cNvPr id="4" name="Shape 2"/>
          <p:cNvSpPr/>
          <p:nvPr/>
        </p:nvSpPr>
        <p:spPr>
          <a:xfrm>
            <a:off x="594360" y="2148840"/>
            <a:ext cx="10972800" cy="27432"/>
          </a:xfrm>
          <a:prstGeom prst="rect">
            <a:avLst/>
          </a:prstGeom>
          <a:solidFill>
            <a:srgbClr val="3A3E52"/>
          </a:solidFill>
          <a:ln w="12700">
            <a:solidFill>
              <a:srgbClr val="3A3E52"/>
            </a:solidFill>
            <a:prstDash val="solid"/>
          </a:ln>
        </p:spPr>
      </p:sp>
      <p:sp>
        <p:nvSpPr>
          <p:cNvPr id="5" name="Shape 3"/>
          <p:cNvSpPr/>
          <p:nvPr/>
        </p:nvSpPr>
        <p:spPr>
          <a:xfrm>
            <a:off x="612648" y="2057400"/>
            <a:ext cx="219456" cy="219456"/>
          </a:xfrm>
          <a:prstGeom prst="ellipse">
            <a:avLst/>
          </a:prstGeom>
          <a:solidFill>
            <a:srgbClr val="FFC24B"/>
          </a:solidFill>
          <a:ln w="12700">
            <a:solidFill>
              <a:srgbClr val="FFC24B"/>
            </a:solidFill>
            <a:prstDash val="solid"/>
          </a:ln>
        </p:spPr>
      </p:sp>
      <p:sp>
        <p:nvSpPr>
          <p:cNvPr id="6" name="Text 4"/>
          <p:cNvSpPr/>
          <p:nvPr/>
        </p:nvSpPr>
        <p:spPr>
          <a:xfrm>
            <a:off x="594360" y="1600200"/>
            <a:ext cx="1691640" cy="384048"/>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1920</a:t>
            </a:r>
            <a:endParaRPr lang="en-US" sz="2200" dirty="0"/>
          </a:p>
        </p:txBody>
      </p:sp>
      <p:sp>
        <p:nvSpPr>
          <p:cNvPr id="7" name="Text 5"/>
          <p:cNvSpPr/>
          <p:nvPr/>
        </p:nvSpPr>
        <p:spPr>
          <a:xfrm>
            <a:off x="594360" y="2423160"/>
            <a:ext cx="1664208" cy="566928"/>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Winslow, Science</a:t>
            </a:r>
            <a:endParaRPr lang="en-US" sz="1400" dirty="0"/>
          </a:p>
        </p:txBody>
      </p:sp>
      <p:sp>
        <p:nvSpPr>
          <p:cNvPr id="8" name="Text 6"/>
          <p:cNvSpPr/>
          <p:nvPr/>
        </p:nvSpPr>
        <p:spPr>
          <a:xfrm>
            <a:off x="594360" y="2990088"/>
            <a:ext cx="1664208" cy="1920240"/>
          </a:xfrm>
          <a:prstGeom prst="rect">
            <a:avLst/>
          </a:prstGeom>
          <a:noFill/>
          <a:ln/>
        </p:spPr>
        <p:txBody>
          <a:bodyPr wrap="square" lIns="0" tIns="0" rIns="0" bIns="0" rtlCol="0" anchor="t"/>
          <a:lstStyle/>
          <a:p>
            <a:pPr indent="0" marL="0">
              <a:buNone/>
            </a:pPr>
            <a:r>
              <a:rPr lang="en-US" sz="1350" dirty="0">
                <a:solidFill>
                  <a:srgbClr val="D5D8E2"/>
                </a:solidFill>
                <a:latin typeface="Palatino Linotype" pitchFamily="34" charset="0"/>
                <a:ea typeface="Palatino Linotype" pitchFamily="34" charset="-122"/>
                <a:cs typeface="Palatino Linotype" pitchFamily="34" charset="-120"/>
              </a:rPr>
              <a:t>La science et l’art de prévenir la maladie et de prolonger la vie par les efforts organisés de la communauté.</a:t>
            </a:r>
            <a:endParaRPr lang="en-US" sz="1350" dirty="0"/>
          </a:p>
        </p:txBody>
      </p:sp>
      <p:sp>
        <p:nvSpPr>
          <p:cNvPr id="9" name="Shape 7"/>
          <p:cNvSpPr/>
          <p:nvPr/>
        </p:nvSpPr>
        <p:spPr>
          <a:xfrm>
            <a:off x="2441448" y="2057400"/>
            <a:ext cx="219456" cy="219456"/>
          </a:xfrm>
          <a:prstGeom prst="ellipse">
            <a:avLst/>
          </a:prstGeom>
          <a:solidFill>
            <a:srgbClr val="FFC24B"/>
          </a:solidFill>
          <a:ln w="12700">
            <a:solidFill>
              <a:srgbClr val="FFC24B"/>
            </a:solidFill>
            <a:prstDash val="solid"/>
          </a:ln>
        </p:spPr>
      </p:sp>
      <p:sp>
        <p:nvSpPr>
          <p:cNvPr id="10" name="Text 8"/>
          <p:cNvSpPr/>
          <p:nvPr/>
        </p:nvSpPr>
        <p:spPr>
          <a:xfrm>
            <a:off x="2423160" y="1600200"/>
            <a:ext cx="1691640" cy="384048"/>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1946</a:t>
            </a:r>
            <a:endParaRPr lang="en-US" sz="2200" dirty="0"/>
          </a:p>
        </p:txBody>
      </p:sp>
      <p:sp>
        <p:nvSpPr>
          <p:cNvPr id="11" name="Text 9"/>
          <p:cNvSpPr/>
          <p:nvPr/>
        </p:nvSpPr>
        <p:spPr>
          <a:xfrm>
            <a:off x="2423160" y="2423160"/>
            <a:ext cx="1664208" cy="566928"/>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Constitution de l’OMS</a:t>
            </a:r>
            <a:endParaRPr lang="en-US" sz="1400" dirty="0"/>
          </a:p>
        </p:txBody>
      </p:sp>
      <p:sp>
        <p:nvSpPr>
          <p:cNvPr id="12" name="Text 10"/>
          <p:cNvSpPr/>
          <p:nvPr/>
        </p:nvSpPr>
        <p:spPr>
          <a:xfrm>
            <a:off x="2423160" y="2990088"/>
            <a:ext cx="1664208" cy="1920240"/>
          </a:xfrm>
          <a:prstGeom prst="rect">
            <a:avLst/>
          </a:prstGeom>
          <a:noFill/>
          <a:ln/>
        </p:spPr>
        <p:txBody>
          <a:bodyPr wrap="square" lIns="0" tIns="0" rIns="0" bIns="0" rtlCol="0" anchor="t"/>
          <a:lstStyle/>
          <a:p>
            <a:pPr indent="0" marL="0">
              <a:buNone/>
            </a:pPr>
            <a:r>
              <a:rPr lang="en-US" sz="1350" dirty="0">
                <a:solidFill>
                  <a:srgbClr val="D5D8E2"/>
                </a:solidFill>
                <a:latin typeface="Palatino Linotype" pitchFamily="34" charset="0"/>
                <a:ea typeface="Palatino Linotype" pitchFamily="34" charset="-122"/>
                <a:cs typeface="Palatino Linotype" pitchFamily="34" charset="-120"/>
              </a:rPr>
              <a:t>La santé : un état de complet bien-être physique, mental et social, et non la simple absence de maladie.</a:t>
            </a:r>
            <a:endParaRPr lang="en-US" sz="1350" dirty="0"/>
          </a:p>
        </p:txBody>
      </p:sp>
      <p:sp>
        <p:nvSpPr>
          <p:cNvPr id="13" name="Shape 11"/>
          <p:cNvSpPr/>
          <p:nvPr/>
        </p:nvSpPr>
        <p:spPr>
          <a:xfrm>
            <a:off x="4270248" y="2057400"/>
            <a:ext cx="219456" cy="219456"/>
          </a:xfrm>
          <a:prstGeom prst="ellipse">
            <a:avLst/>
          </a:prstGeom>
          <a:solidFill>
            <a:srgbClr val="FFC24B"/>
          </a:solidFill>
          <a:ln w="12700">
            <a:solidFill>
              <a:srgbClr val="FFC24B"/>
            </a:solidFill>
            <a:prstDash val="solid"/>
          </a:ln>
        </p:spPr>
      </p:sp>
      <p:sp>
        <p:nvSpPr>
          <p:cNvPr id="14" name="Text 12"/>
          <p:cNvSpPr/>
          <p:nvPr/>
        </p:nvSpPr>
        <p:spPr>
          <a:xfrm>
            <a:off x="4251960" y="1600200"/>
            <a:ext cx="1691640" cy="384048"/>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1988</a:t>
            </a:r>
            <a:endParaRPr lang="en-US" sz="2200" dirty="0"/>
          </a:p>
        </p:txBody>
      </p:sp>
      <p:sp>
        <p:nvSpPr>
          <p:cNvPr id="15" name="Text 13"/>
          <p:cNvSpPr/>
          <p:nvPr/>
        </p:nvSpPr>
        <p:spPr>
          <a:xfrm>
            <a:off x="4251960" y="2423160"/>
            <a:ext cx="1664208" cy="566928"/>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Rapport Acheson</a:t>
            </a:r>
            <a:endParaRPr lang="en-US" sz="1400" dirty="0"/>
          </a:p>
        </p:txBody>
      </p:sp>
      <p:sp>
        <p:nvSpPr>
          <p:cNvPr id="16" name="Text 14"/>
          <p:cNvSpPr/>
          <p:nvPr/>
        </p:nvSpPr>
        <p:spPr>
          <a:xfrm>
            <a:off x="4251960" y="2990088"/>
            <a:ext cx="1664208" cy="1920240"/>
          </a:xfrm>
          <a:prstGeom prst="rect">
            <a:avLst/>
          </a:prstGeom>
          <a:noFill/>
          <a:ln/>
        </p:spPr>
        <p:txBody>
          <a:bodyPr wrap="square" lIns="0" tIns="0" rIns="0" bIns="0" rtlCol="0" anchor="t"/>
          <a:lstStyle/>
          <a:p>
            <a:pPr indent="0" marL="0">
              <a:buNone/>
            </a:pPr>
            <a:r>
              <a:rPr lang="en-US" sz="1350" dirty="0">
                <a:solidFill>
                  <a:srgbClr val="D5D8E2"/>
                </a:solidFill>
                <a:latin typeface="Palatino Linotype" pitchFamily="34" charset="0"/>
                <a:ea typeface="Palatino Linotype" pitchFamily="34" charset="-122"/>
                <a:cs typeface="Palatino Linotype" pitchFamily="34" charset="-120"/>
              </a:rPr>
              <a:t>Une définition concise, proche de celle de Winslow.</a:t>
            </a:r>
            <a:endParaRPr lang="en-US" sz="1350" dirty="0"/>
          </a:p>
        </p:txBody>
      </p:sp>
      <p:sp>
        <p:nvSpPr>
          <p:cNvPr id="17" name="Shape 15"/>
          <p:cNvSpPr/>
          <p:nvPr/>
        </p:nvSpPr>
        <p:spPr>
          <a:xfrm>
            <a:off x="6099048" y="2057400"/>
            <a:ext cx="219456" cy="219456"/>
          </a:xfrm>
          <a:prstGeom prst="ellipse">
            <a:avLst/>
          </a:prstGeom>
          <a:solidFill>
            <a:srgbClr val="FFC24B"/>
          </a:solidFill>
          <a:ln w="12700">
            <a:solidFill>
              <a:srgbClr val="FFC24B"/>
            </a:solidFill>
            <a:prstDash val="solid"/>
          </a:ln>
        </p:spPr>
      </p:sp>
      <p:sp>
        <p:nvSpPr>
          <p:cNvPr id="18" name="Text 16"/>
          <p:cNvSpPr/>
          <p:nvPr/>
        </p:nvSpPr>
        <p:spPr>
          <a:xfrm>
            <a:off x="6080760" y="1600200"/>
            <a:ext cx="1691640" cy="384048"/>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1998</a:t>
            </a:r>
            <a:endParaRPr lang="en-US" sz="2200" dirty="0"/>
          </a:p>
        </p:txBody>
      </p:sp>
      <p:sp>
        <p:nvSpPr>
          <p:cNvPr id="19" name="Text 17"/>
          <p:cNvSpPr/>
          <p:nvPr/>
        </p:nvSpPr>
        <p:spPr>
          <a:xfrm>
            <a:off x="6080760" y="2423160"/>
            <a:ext cx="1664208" cy="566928"/>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Glossaire de l’OMS</a:t>
            </a:r>
            <a:endParaRPr lang="en-US" sz="1400" dirty="0"/>
          </a:p>
        </p:txBody>
      </p:sp>
      <p:sp>
        <p:nvSpPr>
          <p:cNvPr id="20" name="Text 18"/>
          <p:cNvSpPr/>
          <p:nvPr/>
        </p:nvSpPr>
        <p:spPr>
          <a:xfrm>
            <a:off x="6080760" y="2990088"/>
            <a:ext cx="1664208" cy="1920240"/>
          </a:xfrm>
          <a:prstGeom prst="rect">
            <a:avLst/>
          </a:prstGeom>
          <a:noFill/>
          <a:ln/>
        </p:spPr>
        <p:txBody>
          <a:bodyPr wrap="square" lIns="0" tIns="0" rIns="0" bIns="0" rtlCol="0" anchor="t"/>
          <a:lstStyle/>
          <a:p>
            <a:pPr indent="0" marL="0">
              <a:buNone/>
            </a:pPr>
            <a:r>
              <a:rPr lang="en-US" sz="1350" dirty="0">
                <a:solidFill>
                  <a:srgbClr val="D5D8E2"/>
                </a:solidFill>
                <a:latin typeface="Palatino Linotype" pitchFamily="34" charset="0"/>
                <a:ea typeface="Palatino Linotype" pitchFamily="34" charset="-122"/>
                <a:cs typeface="Palatino Linotype" pitchFamily="34" charset="-120"/>
              </a:rPr>
              <a:t>« La communauté » devient « la société » : un concept social et politique.</a:t>
            </a:r>
            <a:endParaRPr lang="en-US" sz="1350" dirty="0"/>
          </a:p>
        </p:txBody>
      </p:sp>
      <p:sp>
        <p:nvSpPr>
          <p:cNvPr id="21" name="Shape 19"/>
          <p:cNvSpPr/>
          <p:nvPr/>
        </p:nvSpPr>
        <p:spPr>
          <a:xfrm>
            <a:off x="7927848" y="2057400"/>
            <a:ext cx="219456" cy="219456"/>
          </a:xfrm>
          <a:prstGeom prst="ellipse">
            <a:avLst/>
          </a:prstGeom>
          <a:solidFill>
            <a:srgbClr val="FFC24B"/>
          </a:solidFill>
          <a:ln w="12700">
            <a:solidFill>
              <a:srgbClr val="FFC24B"/>
            </a:solidFill>
            <a:prstDash val="solid"/>
          </a:ln>
        </p:spPr>
      </p:sp>
      <p:sp>
        <p:nvSpPr>
          <p:cNvPr id="22" name="Text 20"/>
          <p:cNvSpPr/>
          <p:nvPr/>
        </p:nvSpPr>
        <p:spPr>
          <a:xfrm>
            <a:off x="7909560" y="1600200"/>
            <a:ext cx="1691640" cy="384048"/>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95/2006</a:t>
            </a:r>
            <a:endParaRPr lang="en-US" sz="2200" dirty="0"/>
          </a:p>
        </p:txBody>
      </p:sp>
      <p:sp>
        <p:nvSpPr>
          <p:cNvPr id="23" name="Text 21"/>
          <p:cNvSpPr/>
          <p:nvPr/>
        </p:nvSpPr>
        <p:spPr>
          <a:xfrm>
            <a:off x="7909560" y="2423160"/>
            <a:ext cx="1664208" cy="566928"/>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Loi sur la santé</a:t>
            </a:r>
            <a:endParaRPr lang="en-US" sz="1400" dirty="0"/>
          </a:p>
        </p:txBody>
      </p:sp>
      <p:sp>
        <p:nvSpPr>
          <p:cNvPr id="24" name="Text 22"/>
          <p:cNvSpPr/>
          <p:nvPr/>
        </p:nvSpPr>
        <p:spPr>
          <a:xfrm>
            <a:off x="7909560" y="2990088"/>
            <a:ext cx="1664208" cy="1920240"/>
          </a:xfrm>
          <a:prstGeom prst="rect">
            <a:avLst/>
          </a:prstGeom>
          <a:noFill/>
          <a:ln/>
        </p:spPr>
        <p:txBody>
          <a:bodyPr wrap="square" lIns="0" tIns="0" rIns="0" bIns="0" rtlCol="0" anchor="t"/>
          <a:lstStyle/>
          <a:p>
            <a:pPr indent="0" marL="0">
              <a:buNone/>
            </a:pPr>
            <a:r>
              <a:rPr lang="en-US" sz="1350" dirty="0">
                <a:solidFill>
                  <a:srgbClr val="D5D8E2"/>
                </a:solidFill>
                <a:latin typeface="Palatino Linotype" pitchFamily="34" charset="0"/>
                <a:ea typeface="Palatino Linotype" pitchFamily="34" charset="-122"/>
                <a:cs typeface="Palatino Linotype" pitchFamily="34" charset="-120"/>
              </a:rPr>
              <a:t>Sépare l’état de santé de la population de l’effort qui la protège.</a:t>
            </a:r>
            <a:endParaRPr lang="en-US" sz="1350" dirty="0"/>
          </a:p>
        </p:txBody>
      </p:sp>
      <p:sp>
        <p:nvSpPr>
          <p:cNvPr id="25" name="Shape 23"/>
          <p:cNvSpPr/>
          <p:nvPr/>
        </p:nvSpPr>
        <p:spPr>
          <a:xfrm>
            <a:off x="9756648" y="2057400"/>
            <a:ext cx="219456" cy="219456"/>
          </a:xfrm>
          <a:prstGeom prst="ellipse">
            <a:avLst/>
          </a:prstGeom>
          <a:solidFill>
            <a:srgbClr val="FFC24B"/>
          </a:solidFill>
          <a:ln w="12700">
            <a:solidFill>
              <a:srgbClr val="FFC24B"/>
            </a:solidFill>
            <a:prstDash val="solid"/>
          </a:ln>
        </p:spPr>
      </p:sp>
      <p:sp>
        <p:nvSpPr>
          <p:cNvPr id="26" name="Text 24"/>
          <p:cNvSpPr/>
          <p:nvPr/>
        </p:nvSpPr>
        <p:spPr>
          <a:xfrm>
            <a:off x="9738360" y="1600200"/>
            <a:ext cx="1691640" cy="384048"/>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2012</a:t>
            </a:r>
            <a:endParaRPr lang="en-US" sz="2200" dirty="0"/>
          </a:p>
        </p:txBody>
      </p:sp>
      <p:sp>
        <p:nvSpPr>
          <p:cNvPr id="27" name="Text 25"/>
          <p:cNvSpPr/>
          <p:nvPr/>
        </p:nvSpPr>
        <p:spPr>
          <a:xfrm>
            <a:off x="9738360" y="2423160"/>
            <a:ext cx="1664208" cy="566928"/>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Plan européen de l’OMS</a:t>
            </a:r>
            <a:endParaRPr lang="en-US" sz="1400" dirty="0"/>
          </a:p>
        </p:txBody>
      </p:sp>
      <p:sp>
        <p:nvSpPr>
          <p:cNvPr id="28" name="Text 26"/>
          <p:cNvSpPr/>
          <p:nvPr/>
        </p:nvSpPr>
        <p:spPr>
          <a:xfrm>
            <a:off x="9738360" y="2990088"/>
            <a:ext cx="1664208" cy="1920240"/>
          </a:xfrm>
          <a:prstGeom prst="rect">
            <a:avLst/>
          </a:prstGeom>
          <a:noFill/>
          <a:ln/>
        </p:spPr>
        <p:txBody>
          <a:bodyPr wrap="square" lIns="0" tIns="0" rIns="0" bIns="0" rtlCol="0" anchor="t"/>
          <a:lstStyle/>
          <a:p>
            <a:pPr indent="0" marL="0">
              <a:buNone/>
            </a:pPr>
            <a:r>
              <a:rPr lang="en-US" sz="1350" dirty="0">
                <a:solidFill>
                  <a:srgbClr val="D5D8E2"/>
                </a:solidFill>
                <a:latin typeface="Palatino Linotype" pitchFamily="34" charset="0"/>
                <a:ea typeface="Palatino Linotype" pitchFamily="34" charset="-122"/>
                <a:cs typeface="Palatino Linotype" pitchFamily="34" charset="-120"/>
              </a:rPr>
              <a:t>La même définition, avec renvoi au rapport Acheson.</a:t>
            </a:r>
            <a:endParaRPr lang="en-US" sz="1350" dirty="0"/>
          </a:p>
        </p:txBody>
      </p:sp>
      <p:sp>
        <p:nvSpPr>
          <p:cNvPr id="29" name="Shape 27"/>
          <p:cNvSpPr/>
          <p:nvPr/>
        </p:nvSpPr>
        <p:spPr>
          <a:xfrm>
            <a:off x="594360" y="4846320"/>
            <a:ext cx="10972800" cy="1051560"/>
          </a:xfrm>
          <a:prstGeom prst="roundRect">
            <a:avLst>
              <a:gd name="adj" fmla="val 7826"/>
            </a:avLst>
          </a:prstGeom>
          <a:solidFill>
            <a:srgbClr val="1D1F2B"/>
          </a:solidFill>
          <a:ln w="12700">
            <a:solidFill>
              <a:srgbClr val="1D1F2B"/>
            </a:solidFill>
            <a:prstDash val="solid"/>
          </a:ln>
        </p:spPr>
      </p:sp>
      <p:sp>
        <p:nvSpPr>
          <p:cNvPr id="30" name="Text 28"/>
          <p:cNvSpPr/>
          <p:nvPr/>
        </p:nvSpPr>
        <p:spPr>
          <a:xfrm>
            <a:off x="868680" y="4846320"/>
            <a:ext cx="10424160" cy="1051560"/>
          </a:xfrm>
          <a:prstGeom prst="rect">
            <a:avLst/>
          </a:prstGeom>
          <a:noFill/>
          <a:ln/>
        </p:spPr>
        <p:txBody>
          <a:bodyPr wrap="square" lIns="0" tIns="0" rIns="0" bIns="0" rtlCol="0" anchor="ctr"/>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La santé publique : la science et l’art de promouvoir la santé, de prévenir la maladie et de prolonger la vie grâce aux efforts organisés de la société.</a:t>
            </a:r>
            <a:endParaRPr lang="en-US" sz="1800" dirty="0"/>
          </a:p>
        </p:txBody>
      </p:sp>
      <p:sp>
        <p:nvSpPr>
          <p:cNvPr id="31" name="Text 2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Définition : glossaire de l’OMS de la promotion de la santé (1998), adaptée du rapport Acheson (1988).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WINSLOW, 1920 · LE TEXTE COMPLET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Une seule des cinq directions concerne les services médicaux</a:t>
            </a:r>
            <a:endParaRPr lang="en-US" sz="2900" dirty="0"/>
          </a:p>
        </p:txBody>
      </p:sp>
      <p:sp>
        <p:nvSpPr>
          <p:cNvPr id="4" name="Shape 2"/>
          <p:cNvSpPr/>
          <p:nvPr/>
        </p:nvSpPr>
        <p:spPr>
          <a:xfrm>
            <a:off x="594360" y="1737360"/>
            <a:ext cx="10972800" cy="621792"/>
          </a:xfrm>
          <a:prstGeom prst="roundRect">
            <a:avLst>
              <a:gd name="adj" fmla="val 13235"/>
            </a:avLst>
          </a:prstGeom>
          <a:solidFill>
            <a:srgbClr val="ECEAE4"/>
          </a:solidFill>
          <a:ln w="12700">
            <a:solidFill>
              <a:srgbClr val="ECEAE4"/>
            </a:solidFill>
            <a:prstDash val="solid"/>
          </a:ln>
        </p:spPr>
      </p:sp>
      <p:sp>
        <p:nvSpPr>
          <p:cNvPr id="5" name="Shape 3"/>
          <p:cNvSpPr/>
          <p:nvPr/>
        </p:nvSpPr>
        <p:spPr>
          <a:xfrm>
            <a:off x="822960" y="1837944"/>
            <a:ext cx="420624" cy="420624"/>
          </a:xfrm>
          <a:prstGeom prst="ellipse">
            <a:avLst/>
          </a:prstGeom>
          <a:solidFill>
            <a:srgbClr val="585A64"/>
          </a:solidFill>
          <a:ln/>
        </p:spPr>
      </p:sp>
      <p:sp>
        <p:nvSpPr>
          <p:cNvPr id="6" name="Text 4"/>
          <p:cNvSpPr/>
          <p:nvPr/>
        </p:nvSpPr>
        <p:spPr>
          <a:xfrm>
            <a:off x="822960" y="1837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737360"/>
            <a:ext cx="9875520" cy="62179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l’assainissement du milieu</a:t>
            </a:r>
            <a:endParaRPr lang="en-US" sz="1700" dirty="0"/>
          </a:p>
        </p:txBody>
      </p:sp>
      <p:sp>
        <p:nvSpPr>
          <p:cNvPr id="8" name="Shape 6"/>
          <p:cNvSpPr/>
          <p:nvPr/>
        </p:nvSpPr>
        <p:spPr>
          <a:xfrm>
            <a:off x="594360" y="2468880"/>
            <a:ext cx="10972800" cy="621792"/>
          </a:xfrm>
          <a:prstGeom prst="roundRect">
            <a:avLst>
              <a:gd name="adj" fmla="val 13235"/>
            </a:avLst>
          </a:prstGeom>
          <a:solidFill>
            <a:srgbClr val="ECEAE4"/>
          </a:solidFill>
          <a:ln w="12700">
            <a:solidFill>
              <a:srgbClr val="ECEAE4"/>
            </a:solidFill>
            <a:prstDash val="solid"/>
          </a:ln>
        </p:spPr>
      </p:sp>
      <p:sp>
        <p:nvSpPr>
          <p:cNvPr id="9" name="Shape 7"/>
          <p:cNvSpPr/>
          <p:nvPr/>
        </p:nvSpPr>
        <p:spPr>
          <a:xfrm>
            <a:off x="822960" y="2569464"/>
            <a:ext cx="420624" cy="420624"/>
          </a:xfrm>
          <a:prstGeom prst="ellipse">
            <a:avLst/>
          </a:prstGeom>
          <a:solidFill>
            <a:srgbClr val="585A64"/>
          </a:solidFill>
          <a:ln/>
        </p:spPr>
      </p:sp>
      <p:sp>
        <p:nvSpPr>
          <p:cNvPr id="10" name="Text 8"/>
          <p:cNvSpPr/>
          <p:nvPr/>
        </p:nvSpPr>
        <p:spPr>
          <a:xfrm>
            <a:off x="822960" y="25694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63040" y="2468880"/>
            <a:ext cx="9875520" cy="62179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la lutte contre les infections dans la communauté</a:t>
            </a:r>
            <a:endParaRPr lang="en-US" sz="1700" dirty="0"/>
          </a:p>
        </p:txBody>
      </p:sp>
      <p:sp>
        <p:nvSpPr>
          <p:cNvPr id="12" name="Shape 10"/>
          <p:cNvSpPr/>
          <p:nvPr/>
        </p:nvSpPr>
        <p:spPr>
          <a:xfrm>
            <a:off x="594360" y="3200400"/>
            <a:ext cx="10972800" cy="621792"/>
          </a:xfrm>
          <a:prstGeom prst="roundRect">
            <a:avLst>
              <a:gd name="adj" fmla="val 13235"/>
            </a:avLst>
          </a:prstGeom>
          <a:solidFill>
            <a:srgbClr val="ECEAE4"/>
          </a:solidFill>
          <a:ln w="12700">
            <a:solidFill>
              <a:srgbClr val="ECEAE4"/>
            </a:solidFill>
            <a:prstDash val="solid"/>
          </a:ln>
        </p:spPr>
      </p:sp>
      <p:sp>
        <p:nvSpPr>
          <p:cNvPr id="13" name="Shape 11"/>
          <p:cNvSpPr/>
          <p:nvPr/>
        </p:nvSpPr>
        <p:spPr>
          <a:xfrm>
            <a:off x="822960" y="3300984"/>
            <a:ext cx="420624" cy="420624"/>
          </a:xfrm>
          <a:prstGeom prst="ellipse">
            <a:avLst/>
          </a:prstGeom>
          <a:solidFill>
            <a:srgbClr val="585A64"/>
          </a:solidFill>
          <a:ln/>
        </p:spPr>
      </p:sp>
      <p:sp>
        <p:nvSpPr>
          <p:cNvPr id="14" name="Text 12"/>
          <p:cNvSpPr/>
          <p:nvPr/>
        </p:nvSpPr>
        <p:spPr>
          <a:xfrm>
            <a:off x="822960" y="33009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63040" y="3200400"/>
            <a:ext cx="9875520" cy="62179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l’éducation de chaque personne à l’hygiène personnelle</a:t>
            </a:r>
            <a:endParaRPr lang="en-US" sz="1700" dirty="0"/>
          </a:p>
        </p:txBody>
      </p:sp>
      <p:sp>
        <p:nvSpPr>
          <p:cNvPr id="16" name="Shape 14"/>
          <p:cNvSpPr/>
          <p:nvPr/>
        </p:nvSpPr>
        <p:spPr>
          <a:xfrm>
            <a:off x="594360" y="3931920"/>
            <a:ext cx="10972800" cy="621792"/>
          </a:xfrm>
          <a:prstGeom prst="roundRect">
            <a:avLst>
              <a:gd name="adj" fmla="val 13235"/>
            </a:avLst>
          </a:prstGeom>
          <a:solidFill>
            <a:srgbClr val="DDF3EF"/>
          </a:solidFill>
          <a:ln w="12700">
            <a:solidFill>
              <a:srgbClr val="DDF3EF"/>
            </a:solidFill>
            <a:prstDash val="solid"/>
          </a:ln>
        </p:spPr>
      </p:sp>
      <p:sp>
        <p:nvSpPr>
          <p:cNvPr id="17" name="Shape 15"/>
          <p:cNvSpPr/>
          <p:nvPr/>
        </p:nvSpPr>
        <p:spPr>
          <a:xfrm>
            <a:off x="822960" y="4032504"/>
            <a:ext cx="420624" cy="420624"/>
          </a:xfrm>
          <a:prstGeom prst="ellipse">
            <a:avLst/>
          </a:prstGeom>
          <a:solidFill>
            <a:srgbClr val="0E7C6B"/>
          </a:solidFill>
          <a:ln/>
        </p:spPr>
      </p:sp>
      <p:sp>
        <p:nvSpPr>
          <p:cNvPr id="18" name="Text 16"/>
          <p:cNvSpPr/>
          <p:nvPr/>
        </p:nvSpPr>
        <p:spPr>
          <a:xfrm>
            <a:off x="822960" y="40325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463040" y="3931920"/>
            <a:ext cx="9875520" cy="621792"/>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l’organisation des services médicaux et infirmiers pour le diagnostic précoce et le traitement préventif</a:t>
            </a:r>
            <a:endParaRPr lang="en-US" sz="1700" dirty="0"/>
          </a:p>
        </p:txBody>
      </p:sp>
      <p:sp>
        <p:nvSpPr>
          <p:cNvPr id="20" name="Shape 18"/>
          <p:cNvSpPr/>
          <p:nvPr/>
        </p:nvSpPr>
        <p:spPr>
          <a:xfrm>
            <a:off x="594360" y="4663440"/>
            <a:ext cx="10972800" cy="621792"/>
          </a:xfrm>
          <a:prstGeom prst="roundRect">
            <a:avLst>
              <a:gd name="adj" fmla="val 13235"/>
            </a:avLst>
          </a:prstGeom>
          <a:solidFill>
            <a:srgbClr val="FFE3E6"/>
          </a:solidFill>
          <a:ln w="12700">
            <a:solidFill>
              <a:srgbClr val="FFE3E6"/>
            </a:solidFill>
            <a:prstDash val="solid"/>
          </a:ln>
        </p:spPr>
      </p:sp>
      <p:sp>
        <p:nvSpPr>
          <p:cNvPr id="21" name="Shape 19"/>
          <p:cNvSpPr/>
          <p:nvPr/>
        </p:nvSpPr>
        <p:spPr>
          <a:xfrm>
            <a:off x="822960" y="4764024"/>
            <a:ext cx="420624" cy="420624"/>
          </a:xfrm>
          <a:prstGeom prst="ellipse">
            <a:avLst/>
          </a:prstGeom>
          <a:solidFill>
            <a:srgbClr val="B02532"/>
          </a:solidFill>
          <a:ln/>
        </p:spPr>
      </p:sp>
      <p:sp>
        <p:nvSpPr>
          <p:cNvPr id="22" name="Text 20"/>
          <p:cNvSpPr/>
          <p:nvPr/>
        </p:nvSpPr>
        <p:spPr>
          <a:xfrm>
            <a:off x="822960" y="47640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463040" y="4663440"/>
            <a:ext cx="9875520" cy="621792"/>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un mécanisme social qui assure à chacun un niveau de vie adéquat au maintien de la santé</a:t>
            </a:r>
            <a:endParaRPr lang="en-US" sz="1700" dirty="0"/>
          </a:p>
        </p:txBody>
      </p:sp>
      <p:sp>
        <p:nvSpPr>
          <p:cNvPr id="24" name="Text 22"/>
          <p:cNvSpPr/>
          <p:nvPr/>
        </p:nvSpPr>
        <p:spPr>
          <a:xfrm>
            <a:off x="594360" y="5486400"/>
            <a:ext cx="10972800" cy="6858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L’énumération se termine par le niveau de vie, une condition sociale : l’ouverture vers ce que l’on appelle aujourd’hui les déterminants sociaux de la santé.</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LOI N° 95/2006 · UNE DISTINCTION D’EXAMEN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L’effort et l’état : deux notions, deux noms</a:t>
            </a:r>
            <a:endParaRPr lang="en-US" sz="3200" dirty="0"/>
          </a:p>
        </p:txBody>
      </p:sp>
      <p:sp>
        <p:nvSpPr>
          <p:cNvPr id="4" name="Shape 2"/>
          <p:cNvSpPr/>
          <p:nvPr/>
        </p:nvSpPr>
        <p:spPr>
          <a:xfrm>
            <a:off x="594360" y="1737360"/>
            <a:ext cx="5303520" cy="3429000"/>
          </a:xfrm>
          <a:prstGeom prst="rect">
            <a:avLst/>
          </a:prstGeom>
          <a:solidFill>
            <a:srgbClr val="FBF8F1"/>
          </a:solidFill>
          <a:ln w="9525">
            <a:solidFill>
              <a:srgbClr val="E4DFD2"/>
            </a:solidFill>
            <a:prstDash val="solid"/>
          </a:ln>
          <a:effectLst>
            <a:outerShdw sx="100000" sy="100000" kx="0" ky="0" algn="bl" rotWithShape="0" blurRad="76200" dist="38100" dir="3600000">
              <a:srgbClr val="000000">
                <a:alpha val="18000"/>
              </a:srgbClr>
            </a:outerShdw>
          </a:effectLst>
        </p:spPr>
      </p:sp>
      <p:sp>
        <p:nvSpPr>
          <p:cNvPr id="5" name="Text 3"/>
          <p:cNvSpPr/>
          <p:nvPr/>
        </p:nvSpPr>
        <p:spPr>
          <a:xfrm>
            <a:off x="868680" y="1920240"/>
            <a:ext cx="4754880" cy="320040"/>
          </a:xfrm>
          <a:prstGeom prst="rect">
            <a:avLst/>
          </a:prstGeom>
          <a:noFill/>
          <a:ln/>
        </p:spPr>
        <p:txBody>
          <a:bodyPr wrap="square" lIns="0" tIns="0" rIns="0" bIns="0" rtlCol="0" anchor="t"/>
          <a:lstStyle/>
          <a:p>
            <a:pPr indent="0" marL="0">
              <a:buNone/>
            </a:pPr>
            <a:r>
              <a:rPr lang="en-US" sz="1400" b="1" spc="200" kern="0" dirty="0">
                <a:solidFill>
                  <a:srgbClr val="0E7C6B"/>
                </a:solidFill>
                <a:latin typeface="Palatino Linotype" pitchFamily="34" charset="0"/>
                <a:ea typeface="Palatino Linotype" pitchFamily="34" charset="-122"/>
                <a:cs typeface="Palatino Linotype" pitchFamily="34" charset="-120"/>
              </a:rPr>
              <a:t>ASSISTANCE DE SANTÉ PUBLIQUE</a:t>
            </a:r>
            <a:endParaRPr lang="en-US" sz="1400" dirty="0"/>
          </a:p>
        </p:txBody>
      </p:sp>
      <p:sp>
        <p:nvSpPr>
          <p:cNvPr id="6" name="Shape 4"/>
          <p:cNvSpPr/>
          <p:nvPr/>
        </p:nvSpPr>
        <p:spPr>
          <a:xfrm>
            <a:off x="868680" y="2304288"/>
            <a:ext cx="4754880" cy="18288"/>
          </a:xfrm>
          <a:prstGeom prst="rect">
            <a:avLst/>
          </a:prstGeom>
          <a:solidFill>
            <a:srgbClr val="11121A"/>
          </a:solidFill>
          <a:ln w="12700">
            <a:solidFill>
              <a:srgbClr val="11121A"/>
            </a:solidFill>
            <a:prstDash val="solid"/>
          </a:ln>
        </p:spPr>
      </p:sp>
      <p:sp>
        <p:nvSpPr>
          <p:cNvPr id="7" name="Text 5"/>
          <p:cNvSpPr/>
          <p:nvPr/>
        </p:nvSpPr>
        <p:spPr>
          <a:xfrm>
            <a:off x="868680" y="2468880"/>
            <a:ext cx="4754880" cy="1143000"/>
          </a:xfrm>
          <a:prstGeom prst="rect">
            <a:avLst/>
          </a:prstGeom>
          <a:noFill/>
          <a:ln/>
        </p:spPr>
        <p:txBody>
          <a:bodyPr wrap="square" lIns="0" tIns="0" rIns="0" bIns="0" rtlCol="0" anchor="t"/>
          <a:lstStyle/>
          <a:p>
            <a:pPr indent="0" marL="0">
              <a:buNone/>
            </a:pPr>
            <a:r>
              <a:rPr lang="en-US" sz="1800" i="1" dirty="0">
                <a:solidFill>
                  <a:srgbClr val="11121A"/>
                </a:solidFill>
                <a:highlight>
                  <a:srgbClr val="FFE7A3"/>
                </a:highlight>
                <a:latin typeface="Palatino Linotype" pitchFamily="34" charset="0"/>
                <a:ea typeface="Palatino Linotype" pitchFamily="34" charset="-122"/>
                <a:cs typeface="Palatino Linotype" pitchFamily="34" charset="-120"/>
              </a:rPr>
              <a:t>« l’effort organisé de la société en vue de protéger et de promouvoir la santé de la population »</a:t>
            </a:r>
            <a:endParaRPr lang="en-US" sz="1800" dirty="0"/>
          </a:p>
        </p:txBody>
      </p:sp>
      <p:sp>
        <p:nvSpPr>
          <p:cNvPr id="8" name="Text 6"/>
          <p:cNvSpPr/>
          <p:nvPr/>
        </p:nvSpPr>
        <p:spPr>
          <a:xfrm>
            <a:off x="868680" y="3657600"/>
            <a:ext cx="4754880" cy="914400"/>
          </a:xfrm>
          <a:prstGeom prst="rect">
            <a:avLst/>
          </a:prstGeom>
          <a:noFill/>
          <a:ln/>
        </p:spPr>
        <p:txBody>
          <a:bodyPr wrap="square" lIns="0" tIns="0" rIns="0" bIns="0" rtlCol="0" anchor="t"/>
          <a:lstStyle/>
          <a:p>
            <a:pPr indent="0" marL="0">
              <a:buNone/>
            </a:pPr>
            <a:r>
              <a:rPr lang="en-US" sz="1500" dirty="0">
                <a:solidFill>
                  <a:srgbClr val="3A3C44"/>
                </a:solidFill>
                <a:latin typeface="Palatino Linotype" pitchFamily="34" charset="0"/>
                <a:ea typeface="Palatino Linotype" pitchFamily="34" charset="-122"/>
                <a:cs typeface="Palatino Linotype" pitchFamily="34" charset="-120"/>
              </a:rPr>
              <a:t>par des mesures politiques et législatives, par des programmes visant les déterminants et par les institutions qui fournissent les services</a:t>
            </a:r>
            <a:endParaRPr lang="en-US" sz="1500" dirty="0"/>
          </a:p>
        </p:txBody>
      </p:sp>
      <p:sp>
        <p:nvSpPr>
          <p:cNvPr id="9" name="Text 7"/>
          <p:cNvSpPr/>
          <p:nvPr/>
        </p:nvSpPr>
        <p:spPr>
          <a:xfrm>
            <a:off x="868680" y="4572000"/>
            <a:ext cx="4754880" cy="45720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 l’activité</a:t>
            </a:r>
            <a:endParaRPr lang="en-US" sz="2000" dirty="0"/>
          </a:p>
        </p:txBody>
      </p:sp>
      <p:sp>
        <p:nvSpPr>
          <p:cNvPr id="10" name="Shape 8"/>
          <p:cNvSpPr/>
          <p:nvPr/>
        </p:nvSpPr>
        <p:spPr>
          <a:xfrm>
            <a:off x="6263640" y="1737360"/>
            <a:ext cx="5303520" cy="3429000"/>
          </a:xfrm>
          <a:prstGeom prst="rect">
            <a:avLst/>
          </a:prstGeom>
          <a:solidFill>
            <a:srgbClr val="FBF8F1"/>
          </a:solidFill>
          <a:ln w="9525">
            <a:solidFill>
              <a:srgbClr val="E4DFD2"/>
            </a:solidFill>
            <a:prstDash val="solid"/>
          </a:ln>
          <a:effectLst>
            <a:outerShdw sx="100000" sy="100000" kx="0" ky="0" algn="bl" rotWithShape="0" blurRad="76200" dist="38100" dir="3600000">
              <a:srgbClr val="000000">
                <a:alpha val="18000"/>
              </a:srgbClr>
            </a:outerShdw>
          </a:effectLst>
        </p:spPr>
      </p:sp>
      <p:sp>
        <p:nvSpPr>
          <p:cNvPr id="11" name="Text 9"/>
          <p:cNvSpPr/>
          <p:nvPr/>
        </p:nvSpPr>
        <p:spPr>
          <a:xfrm>
            <a:off x="6537960" y="1920240"/>
            <a:ext cx="4754880" cy="320040"/>
          </a:xfrm>
          <a:prstGeom prst="rect">
            <a:avLst/>
          </a:prstGeom>
          <a:noFill/>
          <a:ln/>
        </p:spPr>
        <p:txBody>
          <a:bodyPr wrap="square" lIns="0" tIns="0" rIns="0" bIns="0" rtlCol="0" anchor="t"/>
          <a:lstStyle/>
          <a:p>
            <a:pPr indent="0" marL="0">
              <a:buNone/>
            </a:pPr>
            <a:r>
              <a:rPr lang="en-US" sz="1400" b="1" spc="200" kern="0" dirty="0">
                <a:solidFill>
                  <a:srgbClr val="B02532"/>
                </a:solidFill>
                <a:latin typeface="Palatino Linotype" pitchFamily="34" charset="0"/>
                <a:ea typeface="Palatino Linotype" pitchFamily="34" charset="-122"/>
                <a:cs typeface="Palatino Linotype" pitchFamily="34" charset="-120"/>
              </a:rPr>
              <a:t>SANTÉ PUBLIQUE</a:t>
            </a:r>
            <a:endParaRPr lang="en-US" sz="1400" dirty="0"/>
          </a:p>
        </p:txBody>
      </p:sp>
      <p:sp>
        <p:nvSpPr>
          <p:cNvPr id="12" name="Shape 10"/>
          <p:cNvSpPr/>
          <p:nvPr/>
        </p:nvSpPr>
        <p:spPr>
          <a:xfrm>
            <a:off x="6537960" y="2304288"/>
            <a:ext cx="4754880" cy="18288"/>
          </a:xfrm>
          <a:prstGeom prst="rect">
            <a:avLst/>
          </a:prstGeom>
          <a:solidFill>
            <a:srgbClr val="11121A"/>
          </a:solidFill>
          <a:ln w="12700">
            <a:solidFill>
              <a:srgbClr val="11121A"/>
            </a:solidFill>
            <a:prstDash val="solid"/>
          </a:ln>
        </p:spPr>
      </p:sp>
      <p:sp>
        <p:nvSpPr>
          <p:cNvPr id="13" name="Text 11"/>
          <p:cNvSpPr/>
          <p:nvPr/>
        </p:nvSpPr>
        <p:spPr>
          <a:xfrm>
            <a:off x="6537960" y="2468880"/>
            <a:ext cx="4754880" cy="1143000"/>
          </a:xfrm>
          <a:prstGeom prst="rect">
            <a:avLst/>
          </a:prstGeom>
          <a:noFill/>
          <a:ln/>
        </p:spPr>
        <p:txBody>
          <a:bodyPr wrap="square" lIns="0" tIns="0" rIns="0" bIns="0" rtlCol="0" anchor="t"/>
          <a:lstStyle/>
          <a:p>
            <a:pPr indent="0" marL="0">
              <a:buNone/>
            </a:pPr>
            <a:r>
              <a:rPr lang="en-US" sz="1800" i="1" dirty="0">
                <a:solidFill>
                  <a:srgbClr val="11121A"/>
                </a:solidFill>
                <a:highlight>
                  <a:srgbClr val="FFE7A3"/>
                </a:highlight>
                <a:latin typeface="Palatino Linotype" pitchFamily="34" charset="0"/>
                <a:ea typeface="Palatino Linotype" pitchFamily="34" charset="-122"/>
                <a:cs typeface="Palatino Linotype" pitchFamily="34" charset="-120"/>
              </a:rPr>
              <a:t>« l’état de santé de la population par rapport aux déterminants de l’état de santé »</a:t>
            </a:r>
            <a:endParaRPr lang="en-US" sz="1800" dirty="0"/>
          </a:p>
        </p:txBody>
      </p:sp>
      <p:sp>
        <p:nvSpPr>
          <p:cNvPr id="14" name="Text 12"/>
          <p:cNvSpPr/>
          <p:nvPr/>
        </p:nvSpPr>
        <p:spPr>
          <a:xfrm>
            <a:off x="6537960" y="3657600"/>
            <a:ext cx="4754880" cy="914400"/>
          </a:xfrm>
          <a:prstGeom prst="rect">
            <a:avLst/>
          </a:prstGeom>
          <a:noFill/>
          <a:ln/>
        </p:spPr>
        <p:txBody>
          <a:bodyPr wrap="square" lIns="0" tIns="0" rIns="0" bIns="0" rtlCol="0" anchor="t"/>
          <a:lstStyle/>
          <a:p>
            <a:pPr indent="0" marL="0">
              <a:buNone/>
            </a:pPr>
            <a:r>
              <a:rPr lang="en-US" sz="1500" dirty="0">
                <a:solidFill>
                  <a:srgbClr val="3A3C44"/>
                </a:solidFill>
                <a:latin typeface="Palatino Linotype" pitchFamily="34" charset="0"/>
                <a:ea typeface="Palatino Linotype" pitchFamily="34" charset="-122"/>
                <a:cs typeface="Palatino Linotype" pitchFamily="34" charset="-120"/>
              </a:rPr>
              <a:t>socio-économiques, biologiques, environnementaux, mode de vie, services de santé, leur qualité et leur accessibilité</a:t>
            </a:r>
            <a:endParaRPr lang="en-US" sz="1500" dirty="0"/>
          </a:p>
        </p:txBody>
      </p:sp>
      <p:sp>
        <p:nvSpPr>
          <p:cNvPr id="15" name="Text 13"/>
          <p:cNvSpPr/>
          <p:nvPr/>
        </p:nvSpPr>
        <p:spPr>
          <a:xfrm>
            <a:off x="6537960" y="4572000"/>
            <a:ext cx="4754880" cy="4572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 l’état</a:t>
            </a:r>
            <a:endParaRPr lang="en-US" sz="2000" dirty="0"/>
          </a:p>
        </p:txBody>
      </p:sp>
      <p:sp>
        <p:nvSpPr>
          <p:cNvPr id="16" name="Text 14"/>
          <p:cNvSpPr/>
          <p:nvPr/>
        </p:nvSpPr>
        <p:spPr>
          <a:xfrm>
            <a:off x="594360" y="5394960"/>
            <a:ext cx="10972800" cy="45720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Winslow et le glossaire de l’OMS les réunissent sous un même nom ; la loi les sépare.</a:t>
            </a:r>
            <a:endParaRPr lang="en-US" sz="17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loi n° 95/2006 relative à la réforme du système de santé, version consolidée ; extraits.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À QUELLE DISTANCE SE SITUE LA ROUMANIE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Décès avant 75 ans qui auraient pu être évités</a:t>
            </a:r>
            <a:endParaRPr lang="en-US" sz="3000" dirty="0"/>
          </a:p>
        </p:txBody>
      </p:sp>
      <p:sp>
        <p:nvSpPr>
          <p:cNvPr id="4" name="Text 2"/>
          <p:cNvSpPr/>
          <p:nvPr/>
        </p:nvSpPr>
        <p:spPr>
          <a:xfrm>
            <a:off x="594360" y="1691640"/>
            <a:ext cx="7315200" cy="32004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Évitables par la prévention et la santé publique</a:t>
            </a:r>
            <a:endParaRPr lang="en-US" sz="1600" dirty="0"/>
          </a:p>
        </p:txBody>
      </p:sp>
      <p:sp>
        <p:nvSpPr>
          <p:cNvPr id="5" name="Text 3"/>
          <p:cNvSpPr/>
          <p:nvPr/>
        </p:nvSpPr>
        <p:spPr>
          <a:xfrm>
            <a:off x="594360" y="2103120"/>
            <a:ext cx="1143000" cy="438912"/>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Roumanie</a:t>
            </a:r>
            <a:endParaRPr lang="en-US" sz="1400" dirty="0"/>
          </a:p>
        </p:txBody>
      </p:sp>
      <p:sp>
        <p:nvSpPr>
          <p:cNvPr id="6" name="Shape 4"/>
          <p:cNvSpPr/>
          <p:nvPr/>
        </p:nvSpPr>
        <p:spPr>
          <a:xfrm>
            <a:off x="1783080" y="2103120"/>
            <a:ext cx="5852160" cy="438912"/>
          </a:xfrm>
          <a:prstGeom prst="rect">
            <a:avLst/>
          </a:prstGeom>
          <a:solidFill>
            <a:srgbClr val="B02532"/>
          </a:solidFill>
          <a:ln w="12700">
            <a:solidFill>
              <a:srgbClr val="B02532"/>
            </a:solidFill>
            <a:prstDash val="solid"/>
          </a:ln>
        </p:spPr>
      </p:sp>
      <p:sp>
        <p:nvSpPr>
          <p:cNvPr id="7" name="Text 5"/>
          <p:cNvSpPr/>
          <p:nvPr/>
        </p:nvSpPr>
        <p:spPr>
          <a:xfrm>
            <a:off x="7726680" y="2103120"/>
            <a:ext cx="914400" cy="438912"/>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264,0</a:t>
            </a:r>
            <a:endParaRPr lang="en-US" sz="1600" dirty="0"/>
          </a:p>
        </p:txBody>
      </p:sp>
      <p:sp>
        <p:nvSpPr>
          <p:cNvPr id="8" name="Text 6"/>
          <p:cNvSpPr/>
          <p:nvPr/>
        </p:nvSpPr>
        <p:spPr>
          <a:xfrm>
            <a:off x="594360" y="2651760"/>
            <a:ext cx="1143000" cy="438912"/>
          </a:xfrm>
          <a:prstGeom prst="rect">
            <a:avLst/>
          </a:prstGeom>
          <a:noFill/>
          <a:ln/>
        </p:spPr>
        <p:txBody>
          <a:bodyPr wrap="square" lIns="0" tIns="0" rIns="0" bIns="0" rtlCol="0" anchor="ctr"/>
          <a:lstStyle/>
          <a:p>
            <a:pPr indent="0" marL="0">
              <a:buNone/>
            </a:pPr>
            <a:r>
              <a:rPr lang="en-US" sz="1400" b="1" dirty="0">
                <a:solidFill>
                  <a:srgbClr val="585A64"/>
                </a:solidFill>
                <a:latin typeface="Palatino Linotype" pitchFamily="34" charset="0"/>
                <a:ea typeface="Palatino Linotype" pitchFamily="34" charset="-122"/>
                <a:cs typeface="Palatino Linotype" pitchFamily="34" charset="-120"/>
              </a:rPr>
              <a:t>UE</a:t>
            </a:r>
            <a:endParaRPr lang="en-US" sz="1400" dirty="0"/>
          </a:p>
        </p:txBody>
      </p:sp>
      <p:sp>
        <p:nvSpPr>
          <p:cNvPr id="9" name="Shape 7"/>
          <p:cNvSpPr/>
          <p:nvPr/>
        </p:nvSpPr>
        <p:spPr>
          <a:xfrm>
            <a:off x="1783080" y="2651760"/>
            <a:ext cx="3345041" cy="438912"/>
          </a:xfrm>
          <a:prstGeom prst="rect">
            <a:avLst/>
          </a:prstGeom>
          <a:solidFill>
            <a:srgbClr val="585A64"/>
          </a:solidFill>
          <a:ln w="12700">
            <a:solidFill>
              <a:srgbClr val="585A64"/>
            </a:solidFill>
            <a:prstDash val="solid"/>
          </a:ln>
        </p:spPr>
      </p:sp>
      <p:sp>
        <p:nvSpPr>
          <p:cNvPr id="10" name="Text 8"/>
          <p:cNvSpPr/>
          <p:nvPr/>
        </p:nvSpPr>
        <p:spPr>
          <a:xfrm>
            <a:off x="5219561" y="2651760"/>
            <a:ext cx="914400" cy="438912"/>
          </a:xfrm>
          <a:prstGeom prst="rect">
            <a:avLst/>
          </a:prstGeom>
          <a:noFill/>
          <a:ln/>
        </p:spPr>
        <p:txBody>
          <a:bodyPr wrap="square" lIns="0" tIns="0" rIns="0" bIns="0" rtlCol="0" anchor="ctr"/>
          <a:lstStyle/>
          <a:p>
            <a:pPr indent="0" marL="0">
              <a:buNone/>
            </a:pPr>
            <a:r>
              <a:rPr lang="en-US" sz="1600" b="1" dirty="0">
                <a:solidFill>
                  <a:srgbClr val="585A64"/>
                </a:solidFill>
                <a:latin typeface="Palatino Linotype" pitchFamily="34" charset="0"/>
                <a:ea typeface="Palatino Linotype" pitchFamily="34" charset="-122"/>
                <a:cs typeface="Palatino Linotype" pitchFamily="34" charset="-120"/>
              </a:rPr>
              <a:t>150,9</a:t>
            </a:r>
            <a:endParaRPr lang="en-US" sz="1600" dirty="0"/>
          </a:p>
        </p:txBody>
      </p:sp>
      <p:sp>
        <p:nvSpPr>
          <p:cNvPr id="11" name="Text 9"/>
          <p:cNvSpPr/>
          <p:nvPr/>
        </p:nvSpPr>
        <p:spPr>
          <a:xfrm>
            <a:off x="1783080" y="3227832"/>
            <a:ext cx="5943600" cy="320040"/>
          </a:xfrm>
          <a:prstGeom prst="rect">
            <a:avLst/>
          </a:prstGeom>
          <a:noFill/>
          <a:ln/>
        </p:spPr>
        <p:txBody>
          <a:bodyPr wrap="square" lIns="0" tIns="0" rIns="0" bIns="0" rtlCol="0" anchor="t"/>
          <a:lstStyle/>
          <a:p>
            <a:pPr indent="0" marL="0">
              <a:buNone/>
            </a:pPr>
            <a:r>
              <a:rPr lang="en-US" sz="1400" i="1" dirty="0">
                <a:solidFill>
                  <a:srgbClr val="B02532"/>
                </a:solidFill>
                <a:latin typeface="Palatino Linotype" pitchFamily="34" charset="0"/>
                <a:ea typeface="Palatino Linotype" pitchFamily="34" charset="-122"/>
                <a:cs typeface="Palatino Linotype" pitchFamily="34" charset="-120"/>
              </a:rPr>
              <a:t>environ trois quarts de plus</a:t>
            </a:r>
            <a:endParaRPr lang="en-US" sz="1400" dirty="0"/>
          </a:p>
        </p:txBody>
      </p:sp>
      <p:sp>
        <p:nvSpPr>
          <p:cNvPr id="12" name="Text 10"/>
          <p:cNvSpPr/>
          <p:nvPr/>
        </p:nvSpPr>
        <p:spPr>
          <a:xfrm>
            <a:off x="594360" y="3657600"/>
            <a:ext cx="7315200" cy="32004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Évitables par les traitements : soins à temps et efficaces</a:t>
            </a:r>
            <a:endParaRPr lang="en-US" sz="1600" dirty="0"/>
          </a:p>
        </p:txBody>
      </p:sp>
      <p:sp>
        <p:nvSpPr>
          <p:cNvPr id="13" name="Text 11"/>
          <p:cNvSpPr/>
          <p:nvPr/>
        </p:nvSpPr>
        <p:spPr>
          <a:xfrm>
            <a:off x="594360" y="4069080"/>
            <a:ext cx="1143000" cy="438912"/>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Roumanie</a:t>
            </a:r>
            <a:endParaRPr lang="en-US" sz="1400" dirty="0"/>
          </a:p>
        </p:txBody>
      </p:sp>
      <p:sp>
        <p:nvSpPr>
          <p:cNvPr id="14" name="Shape 12"/>
          <p:cNvSpPr/>
          <p:nvPr/>
        </p:nvSpPr>
        <p:spPr>
          <a:xfrm>
            <a:off x="1783080" y="4069080"/>
            <a:ext cx="4426804" cy="438912"/>
          </a:xfrm>
          <a:prstGeom prst="rect">
            <a:avLst/>
          </a:prstGeom>
          <a:solidFill>
            <a:srgbClr val="B02532"/>
          </a:solidFill>
          <a:ln w="12700">
            <a:solidFill>
              <a:srgbClr val="B02532"/>
            </a:solidFill>
            <a:prstDash val="solid"/>
          </a:ln>
        </p:spPr>
      </p:sp>
      <p:sp>
        <p:nvSpPr>
          <p:cNvPr id="15" name="Text 13"/>
          <p:cNvSpPr/>
          <p:nvPr/>
        </p:nvSpPr>
        <p:spPr>
          <a:xfrm>
            <a:off x="6301324" y="4069080"/>
            <a:ext cx="914400" cy="438912"/>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199,7</a:t>
            </a:r>
            <a:endParaRPr lang="en-US" sz="1600" dirty="0"/>
          </a:p>
        </p:txBody>
      </p:sp>
      <p:sp>
        <p:nvSpPr>
          <p:cNvPr id="16" name="Text 14"/>
          <p:cNvSpPr/>
          <p:nvPr/>
        </p:nvSpPr>
        <p:spPr>
          <a:xfrm>
            <a:off x="594360" y="4617720"/>
            <a:ext cx="1143000" cy="438912"/>
          </a:xfrm>
          <a:prstGeom prst="rect">
            <a:avLst/>
          </a:prstGeom>
          <a:noFill/>
          <a:ln/>
        </p:spPr>
        <p:txBody>
          <a:bodyPr wrap="square" lIns="0" tIns="0" rIns="0" bIns="0" rtlCol="0" anchor="ctr"/>
          <a:lstStyle/>
          <a:p>
            <a:pPr indent="0" marL="0">
              <a:buNone/>
            </a:pPr>
            <a:r>
              <a:rPr lang="en-US" sz="1400" b="1" dirty="0">
                <a:solidFill>
                  <a:srgbClr val="585A64"/>
                </a:solidFill>
                <a:latin typeface="Palatino Linotype" pitchFamily="34" charset="0"/>
                <a:ea typeface="Palatino Linotype" pitchFamily="34" charset="-122"/>
                <a:cs typeface="Palatino Linotype" pitchFamily="34" charset="-120"/>
              </a:rPr>
              <a:t>UE</a:t>
            </a:r>
            <a:endParaRPr lang="en-US" sz="1400" dirty="0"/>
          </a:p>
        </p:txBody>
      </p:sp>
      <p:sp>
        <p:nvSpPr>
          <p:cNvPr id="17" name="Shape 15"/>
          <p:cNvSpPr/>
          <p:nvPr/>
        </p:nvSpPr>
        <p:spPr>
          <a:xfrm>
            <a:off x="1783080" y="4617720"/>
            <a:ext cx="1924119" cy="438912"/>
          </a:xfrm>
          <a:prstGeom prst="rect">
            <a:avLst/>
          </a:prstGeom>
          <a:solidFill>
            <a:srgbClr val="585A64"/>
          </a:solidFill>
          <a:ln w="12700">
            <a:solidFill>
              <a:srgbClr val="585A64"/>
            </a:solidFill>
            <a:prstDash val="solid"/>
          </a:ln>
        </p:spPr>
      </p:sp>
      <p:sp>
        <p:nvSpPr>
          <p:cNvPr id="18" name="Text 16"/>
          <p:cNvSpPr/>
          <p:nvPr/>
        </p:nvSpPr>
        <p:spPr>
          <a:xfrm>
            <a:off x="3798639" y="4617720"/>
            <a:ext cx="914400" cy="438912"/>
          </a:xfrm>
          <a:prstGeom prst="rect">
            <a:avLst/>
          </a:prstGeom>
          <a:noFill/>
          <a:ln/>
        </p:spPr>
        <p:txBody>
          <a:bodyPr wrap="square" lIns="0" tIns="0" rIns="0" bIns="0" rtlCol="0" anchor="ctr"/>
          <a:lstStyle/>
          <a:p>
            <a:pPr indent="0" marL="0">
              <a:buNone/>
            </a:pPr>
            <a:r>
              <a:rPr lang="en-US" sz="1600" b="1" dirty="0">
                <a:solidFill>
                  <a:srgbClr val="585A64"/>
                </a:solidFill>
                <a:latin typeface="Palatino Linotype" pitchFamily="34" charset="0"/>
                <a:ea typeface="Palatino Linotype" pitchFamily="34" charset="-122"/>
                <a:cs typeface="Palatino Linotype" pitchFamily="34" charset="-120"/>
              </a:rPr>
              <a:t>86,8</a:t>
            </a:r>
            <a:endParaRPr lang="en-US" sz="1600" dirty="0"/>
          </a:p>
        </p:txBody>
      </p:sp>
      <p:sp>
        <p:nvSpPr>
          <p:cNvPr id="19" name="Text 17"/>
          <p:cNvSpPr/>
          <p:nvPr/>
        </p:nvSpPr>
        <p:spPr>
          <a:xfrm>
            <a:off x="1783080" y="5193792"/>
            <a:ext cx="5943600" cy="320040"/>
          </a:xfrm>
          <a:prstGeom prst="rect">
            <a:avLst/>
          </a:prstGeom>
          <a:noFill/>
          <a:ln/>
        </p:spPr>
        <p:txBody>
          <a:bodyPr wrap="square" lIns="0" tIns="0" rIns="0" bIns="0" rtlCol="0" anchor="t"/>
          <a:lstStyle/>
          <a:p>
            <a:pPr indent="0" marL="0">
              <a:buNone/>
            </a:pPr>
            <a:r>
              <a:rPr lang="en-US" sz="1400" i="1" dirty="0">
                <a:solidFill>
                  <a:srgbClr val="B02532"/>
                </a:solidFill>
                <a:latin typeface="Palatino Linotype" pitchFamily="34" charset="0"/>
                <a:ea typeface="Palatino Linotype" pitchFamily="34" charset="-122"/>
                <a:cs typeface="Palatino Linotype" pitchFamily="34" charset="-120"/>
              </a:rPr>
              <a:t>plus de deux fois plus</a:t>
            </a:r>
            <a:endParaRPr lang="en-US" sz="1400" dirty="0"/>
          </a:p>
        </p:txBody>
      </p:sp>
      <p:sp>
        <p:nvSpPr>
          <p:cNvPr id="20" name="Text 18"/>
          <p:cNvSpPr/>
          <p:nvPr/>
        </p:nvSpPr>
        <p:spPr>
          <a:xfrm>
            <a:off x="594360" y="5623560"/>
            <a:ext cx="6949440" cy="274320"/>
          </a:xfrm>
          <a:prstGeom prst="rect">
            <a:avLst/>
          </a:prstGeom>
          <a:noFill/>
          <a:ln/>
        </p:spPr>
        <p:txBody>
          <a:bodyPr wrap="square" lIns="0" tIns="0" rIns="0" bIns="0" rtlCol="0" anchor="t"/>
          <a:lstStyle/>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Taux standardisés pour 100 000 habitants, 2023</a:t>
            </a:r>
            <a:endParaRPr lang="en-US" sz="1300" dirty="0"/>
          </a:p>
        </p:txBody>
      </p:sp>
      <p:sp>
        <p:nvSpPr>
          <p:cNvPr id="21" name="Shape 19"/>
          <p:cNvSpPr/>
          <p:nvPr/>
        </p:nvSpPr>
        <p:spPr>
          <a:xfrm>
            <a:off x="8229600" y="1691640"/>
            <a:ext cx="27432" cy="4114800"/>
          </a:xfrm>
          <a:prstGeom prst="rect">
            <a:avLst/>
          </a:prstGeom>
          <a:solidFill>
            <a:srgbClr val="C9C6BE"/>
          </a:solidFill>
          <a:ln w="12700">
            <a:solidFill>
              <a:srgbClr val="C9C6BE"/>
            </a:solidFill>
            <a:prstDash val="solid"/>
          </a:ln>
        </p:spPr>
      </p:sp>
      <p:sp>
        <p:nvSpPr>
          <p:cNvPr id="22" name="Text 20"/>
          <p:cNvSpPr/>
          <p:nvPr/>
        </p:nvSpPr>
        <p:spPr>
          <a:xfrm>
            <a:off x="8503920" y="1645920"/>
            <a:ext cx="3200400" cy="685800"/>
          </a:xfrm>
          <a:prstGeom prst="rect">
            <a:avLst/>
          </a:prstGeom>
          <a:noFill/>
          <a:ln/>
        </p:spPr>
        <p:txBody>
          <a:bodyPr wrap="square" lIns="0" tIns="0" rIns="0" bIns="0" rtlCol="0" anchor="ctr"/>
          <a:lstStyle/>
          <a:p>
            <a:pPr indent="0" marL="0">
              <a:buNone/>
            </a:pPr>
            <a:r>
              <a:rPr lang="en-US" sz="3400" b="1" dirty="0">
                <a:solidFill>
                  <a:srgbClr val="B02532"/>
                </a:solidFill>
                <a:latin typeface="Palatino Linotype" pitchFamily="34" charset="0"/>
                <a:ea typeface="Palatino Linotype" pitchFamily="34" charset="-122"/>
                <a:cs typeface="Palatino Linotype" pitchFamily="34" charset="-120"/>
              </a:rPr>
              <a:t>76,5 · 81,5</a:t>
            </a:r>
            <a:endParaRPr lang="en-US" sz="3400" dirty="0"/>
          </a:p>
        </p:txBody>
      </p:sp>
      <p:sp>
        <p:nvSpPr>
          <p:cNvPr id="23" name="Text 21"/>
          <p:cNvSpPr/>
          <p:nvPr/>
        </p:nvSpPr>
        <p:spPr>
          <a:xfrm>
            <a:off x="8503920" y="2377440"/>
            <a:ext cx="3108960" cy="109728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ans d’espérance de vie à la naissance, Roumanie et UE, 2024 : un écart de 5,0 ans (estimations)</a:t>
            </a:r>
            <a:endParaRPr lang="en-US" sz="1400" dirty="0"/>
          </a:p>
        </p:txBody>
      </p:sp>
      <p:sp>
        <p:nvSpPr>
          <p:cNvPr id="24" name="Text 22"/>
          <p:cNvSpPr/>
          <p:nvPr/>
        </p:nvSpPr>
        <p:spPr>
          <a:xfrm>
            <a:off x="8503920" y="3657600"/>
            <a:ext cx="3200400" cy="685800"/>
          </a:xfrm>
          <a:prstGeom prst="rect">
            <a:avLst/>
          </a:prstGeom>
          <a:noFill/>
          <a:ln/>
        </p:spPr>
        <p:txBody>
          <a:bodyPr wrap="square" lIns="0" tIns="0" rIns="0" bIns="0" rtlCol="0" anchor="ctr"/>
          <a:lstStyle/>
          <a:p>
            <a:pPr indent="0" marL="0">
              <a:buNone/>
            </a:pPr>
            <a:r>
              <a:rPr lang="en-US" sz="3400" b="1" dirty="0">
                <a:solidFill>
                  <a:srgbClr val="0E7C6B"/>
                </a:solidFill>
                <a:latin typeface="Palatino Linotype" pitchFamily="34" charset="0"/>
                <a:ea typeface="Palatino Linotype" pitchFamily="34" charset="-122"/>
                <a:cs typeface="Palatino Linotype" pitchFamily="34" charset="-120"/>
              </a:rPr>
              <a:t>5,8 % · 9,9 %</a:t>
            </a:r>
            <a:endParaRPr lang="en-US" sz="3400" dirty="0"/>
          </a:p>
        </p:txBody>
      </p:sp>
      <p:sp>
        <p:nvSpPr>
          <p:cNvPr id="25" name="Text 23"/>
          <p:cNvSpPr/>
          <p:nvPr/>
        </p:nvSpPr>
        <p:spPr>
          <a:xfrm>
            <a:off x="8503920" y="4389120"/>
            <a:ext cx="3108960" cy="91440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du PIB, dépenses courantes de santé, Roumanie et UE, 2023</a:t>
            </a:r>
            <a:endParaRPr lang="en-US" sz="140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Eurostat (liste commune OCDE-Eurostat des décès évitables ; espérance de vie 2024, valeurs estimées, UE et provisoire ; dépenses de santé).</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AVEC VOTRE VOISIN</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AVANT LA PREMIÈRE HOSPITALISATION</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Deux interventions sans aucune ordonnance</a:t>
            </a:r>
            <a:endParaRPr lang="en-US" sz="3400" dirty="0"/>
          </a:p>
        </p:txBody>
      </p:sp>
      <p:sp>
        <p:nvSpPr>
          <p:cNvPr id="6" name="Text 4"/>
          <p:cNvSpPr/>
          <p:nvPr/>
        </p:nvSpPr>
        <p:spPr>
          <a:xfrm>
            <a:off x="594360" y="1691640"/>
            <a:ext cx="10972800" cy="91440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Pensez au patient de la garde. Qu’aurait-on pu faire pour lui avant la première hospitalisation, par qui et à quel niveau ?</a:t>
            </a:r>
            <a:endParaRPr lang="en-US" sz="1900" dirty="0"/>
          </a:p>
        </p:txBody>
      </p:sp>
      <p:sp>
        <p:nvSpPr>
          <p:cNvPr id="7" name="Shape 5"/>
          <p:cNvSpPr/>
          <p:nvPr/>
        </p:nvSpPr>
        <p:spPr>
          <a:xfrm>
            <a:off x="594360" y="2880360"/>
            <a:ext cx="2606040" cy="329184"/>
          </a:xfrm>
          <a:prstGeom prst="roundRect">
            <a:avLst>
              <a:gd name="adj" fmla="val 50000"/>
            </a:avLst>
          </a:prstGeom>
          <a:solidFill>
            <a:srgbClr val="FF4757"/>
          </a:solidFill>
          <a:ln w="12700">
            <a:solidFill>
              <a:srgbClr val="FF4757"/>
            </a:solidFill>
            <a:prstDash val="solid"/>
          </a:ln>
        </p:spPr>
      </p:sp>
      <p:sp>
        <p:nvSpPr>
          <p:cNvPr id="8" name="Text 6"/>
          <p:cNvSpPr/>
          <p:nvPr/>
        </p:nvSpPr>
        <p:spPr>
          <a:xfrm>
            <a:off x="594360" y="2880360"/>
            <a:ext cx="2606040" cy="329184"/>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le patient lui-même</a:t>
            </a:r>
            <a:endParaRPr lang="en-US" sz="1500" dirty="0"/>
          </a:p>
        </p:txBody>
      </p:sp>
      <p:sp>
        <p:nvSpPr>
          <p:cNvPr id="9" name="Shape 7"/>
          <p:cNvSpPr/>
          <p:nvPr/>
        </p:nvSpPr>
        <p:spPr>
          <a:xfrm>
            <a:off x="3383280" y="2880360"/>
            <a:ext cx="2606040" cy="329184"/>
          </a:xfrm>
          <a:prstGeom prst="roundRect">
            <a:avLst>
              <a:gd name="adj" fmla="val 50000"/>
            </a:avLst>
          </a:prstGeom>
          <a:solidFill>
            <a:srgbClr val="FFC24B"/>
          </a:solidFill>
          <a:ln w="12700">
            <a:solidFill>
              <a:srgbClr val="FFC24B"/>
            </a:solidFill>
            <a:prstDash val="solid"/>
          </a:ln>
        </p:spPr>
      </p:sp>
      <p:sp>
        <p:nvSpPr>
          <p:cNvPr id="10" name="Text 8"/>
          <p:cNvSpPr/>
          <p:nvPr/>
        </p:nvSpPr>
        <p:spPr>
          <a:xfrm>
            <a:off x="3383280" y="2880360"/>
            <a:ext cx="2606040" cy="329184"/>
          </a:xfrm>
          <a:prstGeom prst="rect">
            <a:avLst/>
          </a:prstGeom>
          <a:noFill/>
          <a:ln/>
        </p:spPr>
        <p:txBody>
          <a:bodyPr wrap="square" lIns="0" tIns="0" rIns="0" bIns="0" rtlCol="0" anchor="ctr"/>
          <a:lstStyle/>
          <a:p>
            <a:pPr algn="ctr" indent="0" marL="0">
              <a:buNone/>
            </a:pPr>
            <a:r>
              <a:rPr lang="en-US" sz="1500" b="1" dirty="0">
                <a:solidFill>
                  <a:srgbClr val="3D2A00"/>
                </a:solidFill>
                <a:latin typeface="Palatino Linotype" pitchFamily="34" charset="0"/>
                <a:ea typeface="Palatino Linotype" pitchFamily="34" charset="-122"/>
                <a:cs typeface="Palatino Linotype" pitchFamily="34" charset="-120"/>
              </a:rPr>
              <a:t>le médecin de famille</a:t>
            </a:r>
            <a:endParaRPr lang="en-US" sz="1500" dirty="0"/>
          </a:p>
        </p:txBody>
      </p:sp>
      <p:sp>
        <p:nvSpPr>
          <p:cNvPr id="11" name="Shape 9"/>
          <p:cNvSpPr/>
          <p:nvPr/>
        </p:nvSpPr>
        <p:spPr>
          <a:xfrm>
            <a:off x="6172200" y="2880360"/>
            <a:ext cx="2606040" cy="329184"/>
          </a:xfrm>
          <a:prstGeom prst="roundRect">
            <a:avLst>
              <a:gd name="adj" fmla="val 50000"/>
            </a:avLst>
          </a:prstGeom>
          <a:solidFill>
            <a:srgbClr val="9B7EF7"/>
          </a:solidFill>
          <a:ln w="12700">
            <a:solidFill>
              <a:srgbClr val="9B7EF7"/>
            </a:solidFill>
            <a:prstDash val="solid"/>
          </a:ln>
        </p:spPr>
      </p:sp>
      <p:sp>
        <p:nvSpPr>
          <p:cNvPr id="12" name="Text 10"/>
          <p:cNvSpPr/>
          <p:nvPr/>
        </p:nvSpPr>
        <p:spPr>
          <a:xfrm>
            <a:off x="6172200" y="2880360"/>
            <a:ext cx="2606040" cy="329184"/>
          </a:xfrm>
          <a:prstGeom prst="rect">
            <a:avLst/>
          </a:prstGeom>
          <a:noFill/>
          <a:ln/>
        </p:spPr>
        <p:txBody>
          <a:bodyPr wrap="square" lIns="0" tIns="0" rIns="0" bIns="0" rtlCol="0" anchor="ctr"/>
          <a:lstStyle/>
          <a:p>
            <a:pPr algn="ctr" indent="0" marL="0">
              <a:buNone/>
            </a:pPr>
            <a:r>
              <a:rPr lang="en-US" sz="1500" b="1" dirty="0">
                <a:solidFill>
                  <a:srgbClr val="1F1040"/>
                </a:solidFill>
                <a:latin typeface="Palatino Linotype" pitchFamily="34" charset="0"/>
                <a:ea typeface="Palatino Linotype" pitchFamily="34" charset="-122"/>
                <a:cs typeface="Palatino Linotype" pitchFamily="34" charset="-120"/>
              </a:rPr>
              <a:t>la communauté</a:t>
            </a:r>
            <a:endParaRPr lang="en-US" sz="1500" dirty="0"/>
          </a:p>
        </p:txBody>
      </p:sp>
      <p:sp>
        <p:nvSpPr>
          <p:cNvPr id="13" name="Shape 11"/>
          <p:cNvSpPr/>
          <p:nvPr/>
        </p:nvSpPr>
        <p:spPr>
          <a:xfrm>
            <a:off x="8961120" y="2880360"/>
            <a:ext cx="2606040" cy="329184"/>
          </a:xfrm>
          <a:prstGeom prst="roundRect">
            <a:avLst>
              <a:gd name="adj" fmla="val 50000"/>
            </a:avLst>
          </a:prstGeom>
          <a:solidFill>
            <a:srgbClr val="27D3BE"/>
          </a:solidFill>
          <a:ln w="12700">
            <a:solidFill>
              <a:srgbClr val="27D3BE"/>
            </a:solidFill>
            <a:prstDash val="solid"/>
          </a:ln>
        </p:spPr>
      </p:sp>
      <p:sp>
        <p:nvSpPr>
          <p:cNvPr id="14" name="Text 12"/>
          <p:cNvSpPr/>
          <p:nvPr/>
        </p:nvSpPr>
        <p:spPr>
          <a:xfrm>
            <a:off x="8961120" y="2880360"/>
            <a:ext cx="2606040" cy="329184"/>
          </a:xfrm>
          <a:prstGeom prst="rect">
            <a:avLst/>
          </a:prstGeom>
          <a:noFill/>
          <a:ln/>
        </p:spPr>
        <p:txBody>
          <a:bodyPr wrap="square" lIns="0" tIns="0" rIns="0" bIns="0" rtlCol="0" anchor="ctr"/>
          <a:lstStyle/>
          <a:p>
            <a:pPr algn="ctr" indent="0" marL="0">
              <a:buNone/>
            </a:pPr>
            <a:r>
              <a:rPr lang="en-US" sz="1500" b="1" dirty="0">
                <a:solidFill>
                  <a:srgbClr val="073B34"/>
                </a:solidFill>
                <a:latin typeface="Palatino Linotype" pitchFamily="34" charset="0"/>
                <a:ea typeface="Palatino Linotype" pitchFamily="34" charset="-122"/>
                <a:cs typeface="Palatino Linotype" pitchFamily="34" charset="-120"/>
              </a:rPr>
              <a:t>l’État</a:t>
            </a:r>
            <a:endParaRPr lang="en-US" sz="1500" dirty="0"/>
          </a:p>
        </p:txBody>
      </p:sp>
      <p:sp>
        <p:nvSpPr>
          <p:cNvPr id="15" name="Shape 13"/>
          <p:cNvSpPr/>
          <p:nvPr/>
        </p:nvSpPr>
        <p:spPr>
          <a:xfrm>
            <a:off x="594360" y="3566160"/>
            <a:ext cx="10972800" cy="1188720"/>
          </a:xfrm>
          <a:prstGeom prst="roundRect">
            <a:avLst>
              <a:gd name="adj" fmla="val 6923"/>
            </a:avLst>
          </a:prstGeom>
          <a:solidFill>
            <a:srgbClr val="1D1F2B"/>
          </a:solidFill>
          <a:ln w="12700">
            <a:solidFill>
              <a:srgbClr val="1D1F2B"/>
            </a:solidFill>
            <a:prstDash val="solid"/>
          </a:ln>
        </p:spPr>
      </p:sp>
      <p:sp>
        <p:nvSpPr>
          <p:cNvPr id="16" name="Text 14"/>
          <p:cNvSpPr/>
          <p:nvPr/>
        </p:nvSpPr>
        <p:spPr>
          <a:xfrm>
            <a:off x="868680" y="3566160"/>
            <a:ext cx="10424160" cy="1188720"/>
          </a:xfrm>
          <a:prstGeom prst="rect">
            <a:avLst/>
          </a:prstGeom>
          <a:noFill/>
          <a:ln/>
        </p:spPr>
        <p:txBody>
          <a:bodyPr wrap="square" lIns="0" tIns="0" rIns="0" bIns="0" rtlCol="0" anchor="ctr"/>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Écrivez deux interventions qui ne supposent aucune prescription de médicament.</a:t>
            </a:r>
            <a:endParaRPr lang="en-US" sz="2200" dirty="0"/>
          </a:p>
        </p:txBody>
      </p:sp>
      <p:sp>
        <p:nvSpPr>
          <p:cNvPr id="17" name="Text 15"/>
          <p:cNvSpPr/>
          <p:nvPr/>
        </p:nvSpPr>
        <p:spPr>
          <a:xfrm>
            <a:off x="594360" y="5074920"/>
            <a:ext cx="10972800" cy="36576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Quatre minutes, avec votre voisin.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MGVI/active/img/rujeola_copil_cdc.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705295" y="6053328"/>
            <a:ext cx="5486400" cy="804672"/>
          </a:xfrm>
          <a:prstGeom prst="rect">
            <a:avLst/>
          </a:prstGeom>
          <a:solidFill>
            <a:srgbClr val="11121A">
              <a:alpha val="75000"/>
            </a:srgbClr>
          </a:solidFill>
          <a:ln w="12700">
            <a:solidFill>
              <a:srgbClr val="11121A"/>
            </a:solidFill>
            <a:prstDash val="solid"/>
          </a:ln>
        </p:spPr>
      </p:sp>
      <p:sp>
        <p:nvSpPr>
          <p:cNvPr id="4" name="Text 1"/>
          <p:cNvSpPr/>
          <p:nvPr/>
        </p:nvSpPr>
        <p:spPr>
          <a:xfrm>
            <a:off x="6979615"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Éruption de la rougeole, au quatrième jour (photographie d’archives)</a:t>
            </a:r>
            <a:endParaRPr lang="en-US" sz="1100" dirty="0"/>
          </a:p>
        </p:txBody>
      </p:sp>
      <p:sp>
        <p:nvSpPr>
          <p:cNvPr id="5" name="Text 2"/>
          <p:cNvSpPr/>
          <p:nvPr/>
        </p:nvSpPr>
        <p:spPr>
          <a:xfrm>
            <a:off x="6979615"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Photo : CDC/NIP/Barbara Rice · domaine public · CDC PHIL, via Wikimedia Commons</a:t>
            </a:r>
            <a:endParaRPr lang="en-US" sz="850" dirty="0"/>
          </a:p>
        </p:txBody>
      </p:sp>
      <p:sp>
        <p:nvSpPr>
          <p:cNvPr id="6" name="Text 3"/>
          <p:cNvSpPr/>
          <p:nvPr/>
        </p:nvSpPr>
        <p:spPr>
          <a:xfrm>
            <a:off x="594360" y="411480"/>
            <a:ext cx="585216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LE CABINET DE MÉDECINE DE FAMILLE</a:t>
            </a:r>
            <a:endParaRPr lang="en-US" sz="1300" dirty="0"/>
          </a:p>
        </p:txBody>
      </p:sp>
      <p:sp>
        <p:nvSpPr>
          <p:cNvPr id="7" name="Text 4"/>
          <p:cNvSpPr/>
          <p:nvPr/>
        </p:nvSpPr>
        <p:spPr>
          <a:xfrm>
            <a:off x="594360" y="822960"/>
            <a:ext cx="585216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Le cas de rougeole au cabinet</a:t>
            </a:r>
            <a:endParaRPr lang="en-US" sz="3000" dirty="0"/>
          </a:p>
        </p:txBody>
      </p:sp>
      <p:sp>
        <p:nvSpPr>
          <p:cNvPr id="8" name="Text 5"/>
          <p:cNvSpPr/>
          <p:nvPr/>
        </p:nvSpPr>
        <p:spPr>
          <a:xfrm>
            <a:off x="594360" y="1828800"/>
            <a:ext cx="5760720" cy="2011680"/>
          </a:xfrm>
          <a:prstGeom prst="rect">
            <a:avLst/>
          </a:prstGeom>
          <a:noFill/>
          <a:ln/>
        </p:spPr>
        <p:txBody>
          <a:bodyPr wrap="square" lIns="0" tIns="0" rIns="0" bIns="0" rtlCol="0" anchor="t"/>
          <a:lstStyle/>
          <a:p>
            <a:pPr indent="0" marL="0">
              <a:buNone/>
            </a:pPr>
            <a:r>
              <a:rPr lang="en-US" sz="1750" dirty="0">
                <a:solidFill>
                  <a:srgbClr val="E6E8EF"/>
                </a:solidFill>
                <a:latin typeface="Palatino Linotype" pitchFamily="34" charset="0"/>
                <a:ea typeface="Palatino Linotype" pitchFamily="34" charset="-122"/>
                <a:cs typeface="Palatino Linotype" pitchFamily="34" charset="-120"/>
              </a:rPr>
              <a:t>Vous êtes résident en médecine de famille. Une mère arrive avec un enfant de deux ans : fièvre, conjonctivite et une éruption qui a commencé derrière les oreilles. L’enfant n’est pas vacciné. Son traitement est simple et symptomatique.</a:t>
            </a:r>
            <a:endParaRPr lang="en-US" sz="1750" dirty="0"/>
          </a:p>
        </p:txBody>
      </p:sp>
      <p:sp>
        <p:nvSpPr>
          <p:cNvPr id="9" name="Text 6"/>
          <p:cNvSpPr/>
          <p:nvPr/>
        </p:nvSpPr>
        <p:spPr>
          <a:xfrm>
            <a:off x="594360" y="3977640"/>
            <a:ext cx="5760720" cy="82296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Que se passe-t-il quand la mère quitte le cabinet ?</a:t>
            </a:r>
            <a:endParaRPr lang="en-US" sz="2200" dirty="0"/>
          </a:p>
        </p:txBody>
      </p:sp>
      <p:sp>
        <p:nvSpPr>
          <p:cNvPr id="10" name="Text 7"/>
          <p:cNvSpPr/>
          <p:nvPr/>
        </p:nvSpPr>
        <p:spPr>
          <a:xfrm>
            <a:off x="594360" y="4937760"/>
            <a:ext cx="5760720" cy="91440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Chaque étape qui suit correspond à une fonction qu’un système de santé publique doit remplir.</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790956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790956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NUAGE DE MOTS</a:t>
            </a:r>
            <a:endParaRPr lang="en-US" sz="1300" dirty="0"/>
          </a:p>
        </p:txBody>
      </p:sp>
      <p:sp>
        <p:nvSpPr>
          <p:cNvPr id="4" name="Text 2"/>
          <p:cNvSpPr/>
          <p:nvPr/>
        </p:nvSpPr>
        <p:spPr>
          <a:xfrm>
            <a:off x="594360" y="347472"/>
            <a:ext cx="694944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APRÈS LA CONFIRMATION DU CAS</a:t>
            </a:r>
            <a:endParaRPr lang="en-US" sz="1300" dirty="0"/>
          </a:p>
        </p:txBody>
      </p:sp>
      <p:sp>
        <p:nvSpPr>
          <p:cNvPr id="5" name="Text 3"/>
          <p:cNvSpPr/>
          <p:nvPr/>
        </p:nvSpPr>
        <p:spPr>
          <a:xfrm>
            <a:off x="594360" y="1188720"/>
            <a:ext cx="10972800" cy="914400"/>
          </a:xfrm>
          <a:prstGeom prst="rect">
            <a:avLst/>
          </a:prstGeom>
          <a:noFill/>
          <a:ln/>
        </p:spPr>
        <p:txBody>
          <a:bodyPr wrap="square" lIns="0" tIns="0" rIns="0" bIns="0" rtlCol="0" anchor="t"/>
          <a:lstStyle/>
          <a:p>
            <a:pPr indent="0" marL="0">
              <a:buNone/>
            </a:pPr>
            <a:r>
              <a:rPr lang="en-US" sz="4400" b="1" dirty="0">
                <a:solidFill>
                  <a:srgbClr val="FFFFFF"/>
                </a:solidFill>
                <a:latin typeface="Palatino Linotype" pitchFamily="34" charset="0"/>
                <a:ea typeface="Palatino Linotype" pitchFamily="34" charset="-122"/>
                <a:cs typeface="Palatino Linotype" pitchFamily="34" charset="-120"/>
              </a:rPr>
              <a:t>Un seul mot</a:t>
            </a:r>
            <a:endParaRPr lang="en-US" sz="4400" dirty="0"/>
          </a:p>
        </p:txBody>
      </p:sp>
      <p:sp>
        <p:nvSpPr>
          <p:cNvPr id="6" name="Text 4"/>
          <p:cNvSpPr/>
          <p:nvPr/>
        </p:nvSpPr>
        <p:spPr>
          <a:xfrm>
            <a:off x="594360" y="2377440"/>
            <a:ext cx="10515600" cy="1645920"/>
          </a:xfrm>
          <a:prstGeom prst="rect">
            <a:avLst/>
          </a:prstGeom>
          <a:noFill/>
          <a:ln/>
        </p:spPr>
        <p:txBody>
          <a:bodyPr wrap="square" lIns="0" tIns="0" rIns="0" bIns="0" rtlCol="0" anchor="t"/>
          <a:lstStyle/>
          <a:p>
            <a:pPr indent="0" marL="0">
              <a:buNone/>
            </a:pPr>
            <a:r>
              <a:rPr lang="en-US" sz="3000" b="1" dirty="0">
                <a:solidFill>
                  <a:srgbClr val="FFC24B"/>
                </a:solidFill>
                <a:latin typeface="Palatino Linotype" pitchFamily="34" charset="0"/>
                <a:ea typeface="Palatino Linotype" pitchFamily="34" charset="-122"/>
                <a:cs typeface="Palatino Linotype" pitchFamily="34" charset="-120"/>
              </a:rPr>
              <a:t>Que doit-il se passer, en dehors du cabinet, durant les deux premiers jours après la confirmation du cas ?</a:t>
            </a:r>
            <a:endParaRPr lang="en-US" sz="3000" dirty="0"/>
          </a:p>
        </p:txBody>
      </p:sp>
      <p:sp>
        <p:nvSpPr>
          <p:cNvPr id="7" name="Text 5"/>
          <p:cNvSpPr/>
          <p:nvPr/>
        </p:nvSpPr>
        <p:spPr>
          <a:xfrm>
            <a:off x="594360" y="4480560"/>
            <a:ext cx="10972800" cy="54864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Les mots de la salle sont ensuite comparés à la liste des opérations essentielles de santé publique (OESP).</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CROIRIEZ-VOUS CE TITRE ?</a:t>
            </a:r>
            <a:endParaRPr lang="en-US" sz="1300" dirty="0"/>
          </a:p>
        </p:txBody>
      </p:sp>
      <p:sp>
        <p:nvSpPr>
          <p:cNvPr id="5" name="Shape 3"/>
          <p:cNvSpPr/>
          <p:nvPr/>
        </p:nvSpPr>
        <p:spPr>
          <a:xfrm rot="-120000">
            <a:off x="822960" y="1234440"/>
            <a:ext cx="6400800" cy="4206240"/>
          </a:xfrm>
          <a:prstGeom prst="rect">
            <a:avLst/>
          </a:prstGeom>
          <a:solidFill>
            <a:srgbClr val="FBF8F1"/>
          </a:solidFill>
          <a:ln w="9525">
            <a:solidFill>
              <a:srgbClr val="E4DFD2"/>
            </a:solidFill>
            <a:prstDash val="solid"/>
          </a:ln>
          <a:effectLst>
            <a:outerShdw sx="100000" sy="100000" kx="0" ky="0" algn="bl" rotWithShape="0" blurRad="127000" dist="63500" dir="3600000">
              <a:srgbClr val="000000">
                <a:alpha val="45000"/>
              </a:srgbClr>
            </a:outerShdw>
          </a:effectLst>
        </p:spPr>
      </p:sp>
      <p:sp>
        <p:nvSpPr>
          <p:cNvPr id="6" name="Text 4"/>
          <p:cNvSpPr/>
          <p:nvPr/>
        </p:nvSpPr>
        <p:spPr>
          <a:xfrm rot="-120000">
            <a:off x="1234440" y="1554480"/>
            <a:ext cx="5577840" cy="292608"/>
          </a:xfrm>
          <a:prstGeom prst="rect">
            <a:avLst/>
          </a:prstGeom>
          <a:noFill/>
          <a:ln/>
        </p:spPr>
        <p:txBody>
          <a:bodyPr wrap="square" lIns="0" tIns="0" rIns="0" bIns="0" rtlCol="0" anchor="t"/>
          <a:lstStyle/>
          <a:p>
            <a:pPr indent="0" marL="0">
              <a:buNone/>
            </a:pPr>
            <a:r>
              <a:rPr lang="en-US" sz="1300" b="1" spc="300" kern="0" dirty="0">
                <a:solidFill>
                  <a:srgbClr val="B02532"/>
                </a:solidFill>
                <a:latin typeface="Palatino Linotype" pitchFamily="34" charset="0"/>
                <a:ea typeface="Palatino Linotype" pitchFamily="34" charset="-122"/>
                <a:cs typeface="Palatino Linotype" pitchFamily="34" charset="-120"/>
              </a:rPr>
              <a:t>SPOTMEDIA · 14 AVRIL 2025</a:t>
            </a:r>
            <a:endParaRPr lang="en-US" sz="1300" dirty="0"/>
          </a:p>
        </p:txBody>
      </p:sp>
      <p:sp>
        <p:nvSpPr>
          <p:cNvPr id="7" name="Shape 5"/>
          <p:cNvSpPr/>
          <p:nvPr/>
        </p:nvSpPr>
        <p:spPr>
          <a:xfrm rot="-120000">
            <a:off x="1234440" y="1947672"/>
            <a:ext cx="5577840" cy="18288"/>
          </a:xfrm>
          <a:prstGeom prst="rect">
            <a:avLst/>
          </a:prstGeom>
          <a:solidFill>
            <a:srgbClr val="11121A"/>
          </a:solidFill>
          <a:ln w="12700">
            <a:solidFill>
              <a:srgbClr val="11121A"/>
            </a:solidFill>
            <a:prstDash val="solid"/>
          </a:ln>
        </p:spPr>
      </p:sp>
      <p:sp>
        <p:nvSpPr>
          <p:cNvPr id="8" name="Text 6"/>
          <p:cNvSpPr/>
          <p:nvPr/>
        </p:nvSpPr>
        <p:spPr>
          <a:xfrm rot="-120000">
            <a:off x="1234440" y="2103120"/>
            <a:ext cx="5577840" cy="2926080"/>
          </a:xfrm>
          <a:prstGeom prst="rect">
            <a:avLst/>
          </a:prstGeom>
          <a:noFill/>
          <a:ln/>
        </p:spPr>
        <p:txBody>
          <a:bodyPr wrap="square" lIns="0" tIns="0" rIns="0" bIns="0" rtlCol="0" anchor="ctr"/>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Explozie de cazuri de rujeolă în România: doar 1 din 4 copii e vaccinat</a:t>
            </a:r>
            <a:endParaRPr lang="en-US" sz="3400" dirty="0"/>
          </a:p>
        </p:txBody>
      </p:sp>
      <p:sp>
        <p:nvSpPr>
          <p:cNvPr id="9" name="Text 7"/>
          <p:cNvSpPr/>
          <p:nvPr/>
        </p:nvSpPr>
        <p:spPr>
          <a:xfrm>
            <a:off x="822960" y="5532120"/>
            <a:ext cx="6583680" cy="548640"/>
          </a:xfrm>
          <a:prstGeom prst="rect">
            <a:avLst/>
          </a:prstGeom>
          <a:noFill/>
          <a:ln/>
        </p:spPr>
        <p:txBody>
          <a:bodyPr wrap="square" lIns="0" tIns="0" rIns="0" bIns="0" rtlCol="0" anchor="t"/>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Titre reproduit en caractères d’imprimerie ; source : Spotmedia, 14 avril 2025. Traduction : « Explosion des cas de rougeole en Roumanie : seulement un enfant sur quatre est vacciné ».</a:t>
            </a:r>
            <a:endParaRPr lang="en-US" sz="1000" dirty="0"/>
          </a:p>
        </p:txBody>
      </p:sp>
      <p:sp>
        <p:nvSpPr>
          <p:cNvPr id="10" name="Shape 8"/>
          <p:cNvSpPr/>
          <p:nvPr/>
        </p:nvSpPr>
        <p:spPr>
          <a:xfrm>
            <a:off x="7818120" y="1737360"/>
            <a:ext cx="3749040" cy="777240"/>
          </a:xfrm>
          <a:prstGeom prst="roundRect">
            <a:avLst>
              <a:gd name="adj" fmla="val 10588"/>
            </a:avLst>
          </a:prstGeom>
          <a:solidFill>
            <a:srgbClr val="1D1F2B"/>
          </a:solidFill>
          <a:ln w="12700">
            <a:solidFill>
              <a:srgbClr val="1D1F2B"/>
            </a:solidFill>
            <a:prstDash val="solid"/>
          </a:ln>
        </p:spPr>
      </p:sp>
      <p:sp>
        <p:nvSpPr>
          <p:cNvPr id="11" name="Shape 9"/>
          <p:cNvSpPr/>
          <p:nvPr/>
        </p:nvSpPr>
        <p:spPr>
          <a:xfrm>
            <a:off x="8046720" y="1920240"/>
            <a:ext cx="420624" cy="420624"/>
          </a:xfrm>
          <a:prstGeom prst="ellipse">
            <a:avLst/>
          </a:prstGeom>
          <a:solidFill>
            <a:srgbClr val="FFC24B"/>
          </a:solidFill>
          <a:ln/>
        </p:spPr>
      </p:sp>
      <p:sp>
        <p:nvSpPr>
          <p:cNvPr id="12" name="Text 10"/>
          <p:cNvSpPr/>
          <p:nvPr/>
        </p:nvSpPr>
        <p:spPr>
          <a:xfrm>
            <a:off x="8046720" y="1920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3" name="Text 11"/>
          <p:cNvSpPr/>
          <p:nvPr/>
        </p:nvSpPr>
        <p:spPr>
          <a:xfrm>
            <a:off x="8641080" y="1737360"/>
            <a:ext cx="2834640" cy="777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Vrai</a:t>
            </a:r>
            <a:endParaRPr lang="en-US" sz="1800" dirty="0"/>
          </a:p>
        </p:txBody>
      </p:sp>
      <p:sp>
        <p:nvSpPr>
          <p:cNvPr id="14" name="Shape 12"/>
          <p:cNvSpPr/>
          <p:nvPr/>
        </p:nvSpPr>
        <p:spPr>
          <a:xfrm>
            <a:off x="7818120" y="2697480"/>
            <a:ext cx="3749040" cy="777240"/>
          </a:xfrm>
          <a:prstGeom prst="roundRect">
            <a:avLst>
              <a:gd name="adj" fmla="val 10588"/>
            </a:avLst>
          </a:prstGeom>
          <a:solidFill>
            <a:srgbClr val="1D1F2B"/>
          </a:solidFill>
          <a:ln w="12700">
            <a:solidFill>
              <a:srgbClr val="1D1F2B"/>
            </a:solidFill>
            <a:prstDash val="solid"/>
          </a:ln>
        </p:spPr>
      </p:sp>
      <p:sp>
        <p:nvSpPr>
          <p:cNvPr id="15" name="Shape 13"/>
          <p:cNvSpPr/>
          <p:nvPr/>
        </p:nvSpPr>
        <p:spPr>
          <a:xfrm>
            <a:off x="8046720" y="2880360"/>
            <a:ext cx="420624" cy="420624"/>
          </a:xfrm>
          <a:prstGeom prst="ellipse">
            <a:avLst/>
          </a:prstGeom>
          <a:solidFill>
            <a:srgbClr val="FFC24B"/>
          </a:solidFill>
          <a:ln/>
        </p:spPr>
      </p:sp>
      <p:sp>
        <p:nvSpPr>
          <p:cNvPr id="16" name="Text 14"/>
          <p:cNvSpPr/>
          <p:nvPr/>
        </p:nvSpPr>
        <p:spPr>
          <a:xfrm>
            <a:off x="8046720" y="28803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7" name="Text 15"/>
          <p:cNvSpPr/>
          <p:nvPr/>
        </p:nvSpPr>
        <p:spPr>
          <a:xfrm>
            <a:off x="8641080" y="2697480"/>
            <a:ext cx="2834640" cy="777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Faux</a:t>
            </a:r>
            <a:endParaRPr lang="en-US" sz="1800" dirty="0"/>
          </a:p>
        </p:txBody>
      </p:sp>
      <p:sp>
        <p:nvSpPr>
          <p:cNvPr id="18" name="Shape 16"/>
          <p:cNvSpPr/>
          <p:nvPr/>
        </p:nvSpPr>
        <p:spPr>
          <a:xfrm>
            <a:off x="7818120" y="3657600"/>
            <a:ext cx="3749040" cy="777240"/>
          </a:xfrm>
          <a:prstGeom prst="roundRect">
            <a:avLst>
              <a:gd name="adj" fmla="val 10588"/>
            </a:avLst>
          </a:prstGeom>
          <a:solidFill>
            <a:srgbClr val="1D1F2B"/>
          </a:solidFill>
          <a:ln w="12700">
            <a:solidFill>
              <a:srgbClr val="1D1F2B"/>
            </a:solidFill>
            <a:prstDash val="solid"/>
          </a:ln>
        </p:spPr>
      </p:sp>
      <p:sp>
        <p:nvSpPr>
          <p:cNvPr id="19" name="Shape 17"/>
          <p:cNvSpPr/>
          <p:nvPr/>
        </p:nvSpPr>
        <p:spPr>
          <a:xfrm>
            <a:off x="8046720" y="3840480"/>
            <a:ext cx="420624" cy="420624"/>
          </a:xfrm>
          <a:prstGeom prst="ellipse">
            <a:avLst/>
          </a:prstGeom>
          <a:solidFill>
            <a:srgbClr val="FFC24B"/>
          </a:solidFill>
          <a:ln/>
        </p:spPr>
      </p:sp>
      <p:sp>
        <p:nvSpPr>
          <p:cNvPr id="20" name="Text 18"/>
          <p:cNvSpPr/>
          <p:nvPr/>
        </p:nvSpPr>
        <p:spPr>
          <a:xfrm>
            <a:off x="8046720" y="3840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21" name="Text 19"/>
          <p:cNvSpPr/>
          <p:nvPr/>
        </p:nvSpPr>
        <p:spPr>
          <a:xfrm>
            <a:off x="8641080" y="3657600"/>
            <a:ext cx="2834640" cy="777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Vrai, mais trompeur</a:t>
            </a:r>
            <a:endParaRPr lang="en-US" sz="1800" dirty="0"/>
          </a:p>
        </p:txBody>
      </p:sp>
      <p:sp>
        <p:nvSpPr>
          <p:cNvPr id="22" name="Text 20"/>
          <p:cNvSpPr/>
          <p:nvPr/>
        </p:nvSpPr>
        <p:spPr>
          <a:xfrm>
            <a:off x="7818120" y="4709160"/>
            <a:ext cx="3749040" cy="73152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Votez ; puis deux minutes avec votre voisin.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QUE MESURE CHAQUE CHIFFRE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Le titre, l’article et l’INSP répondent à des questions différentes</a:t>
            </a:r>
            <a:endParaRPr lang="en-US" sz="2800" dirty="0"/>
          </a:p>
        </p:txBody>
      </p:sp>
      <p:sp>
        <p:nvSpPr>
          <p:cNvPr id="4" name="Shape 2"/>
          <p:cNvSpPr/>
          <p:nvPr/>
        </p:nvSpPr>
        <p:spPr>
          <a:xfrm>
            <a:off x="594360" y="1645920"/>
            <a:ext cx="6309360" cy="896112"/>
          </a:xfrm>
          <a:prstGeom prst="roundRect">
            <a:avLst>
              <a:gd name="adj" fmla="val 9184"/>
            </a:avLst>
          </a:prstGeom>
          <a:solidFill>
            <a:srgbClr val="ECEAE4"/>
          </a:solidFill>
          <a:ln w="12700">
            <a:solidFill>
              <a:srgbClr val="ECEAE4"/>
            </a:solidFill>
            <a:prstDash val="solid"/>
          </a:ln>
        </p:spPr>
      </p:sp>
      <p:sp>
        <p:nvSpPr>
          <p:cNvPr id="5" name="Text 3"/>
          <p:cNvSpPr/>
          <p:nvPr/>
        </p:nvSpPr>
        <p:spPr>
          <a:xfrm>
            <a:off x="822960" y="1719072"/>
            <a:ext cx="5852160" cy="292608"/>
          </a:xfrm>
          <a:prstGeom prst="rect">
            <a:avLst/>
          </a:prstGeom>
          <a:noFill/>
          <a:ln/>
        </p:spPr>
        <p:txBody>
          <a:bodyPr wrap="square" lIns="0" tIns="0" rIns="0" bIns="0" rtlCol="0" anchor="t"/>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Le titre, lu littéralement</a:t>
            </a:r>
            <a:endParaRPr lang="en-US" sz="1400" dirty="0"/>
          </a:p>
        </p:txBody>
      </p:sp>
      <p:sp>
        <p:nvSpPr>
          <p:cNvPr id="6" name="Text 4"/>
          <p:cNvSpPr/>
          <p:nvPr/>
        </p:nvSpPr>
        <p:spPr>
          <a:xfrm>
            <a:off x="822960" y="2011680"/>
            <a:ext cx="5852160" cy="512064"/>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 enfant sur quatre seulement est vacciné</a:t>
            </a:r>
            <a:endParaRPr lang="en-US" sz="1500" dirty="0"/>
          </a:p>
        </p:txBody>
      </p:sp>
      <p:sp>
        <p:nvSpPr>
          <p:cNvPr id="7" name="Shape 5"/>
          <p:cNvSpPr/>
          <p:nvPr/>
        </p:nvSpPr>
        <p:spPr>
          <a:xfrm>
            <a:off x="594360" y="2670048"/>
            <a:ext cx="6309360" cy="896112"/>
          </a:xfrm>
          <a:prstGeom prst="roundRect">
            <a:avLst>
              <a:gd name="adj" fmla="val 9184"/>
            </a:avLst>
          </a:prstGeom>
          <a:solidFill>
            <a:srgbClr val="F9F8F5"/>
          </a:solidFill>
          <a:ln w="12700">
            <a:solidFill>
              <a:srgbClr val="F9F8F5"/>
            </a:solidFill>
            <a:prstDash val="solid"/>
          </a:ln>
        </p:spPr>
      </p:sp>
      <p:sp>
        <p:nvSpPr>
          <p:cNvPr id="8" name="Text 6"/>
          <p:cNvSpPr/>
          <p:nvPr/>
        </p:nvSpPr>
        <p:spPr>
          <a:xfrm>
            <a:off x="822960" y="2743200"/>
            <a:ext cx="5852160" cy="292608"/>
          </a:xfrm>
          <a:prstGeom prst="rect">
            <a:avLst/>
          </a:prstGeom>
          <a:noFill/>
          <a:ln/>
        </p:spPr>
        <p:txBody>
          <a:bodyPr wrap="square" lIns="0" tIns="0" rIns="0" bIns="0" rtlCol="0" anchor="t"/>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Le texte de l’article</a:t>
            </a:r>
            <a:endParaRPr lang="en-US" sz="1400" dirty="0"/>
          </a:p>
        </p:txBody>
      </p:sp>
      <p:sp>
        <p:nvSpPr>
          <p:cNvPr id="9" name="Text 7"/>
          <p:cNvSpPr/>
          <p:nvPr/>
        </p:nvSpPr>
        <p:spPr>
          <a:xfrm>
            <a:off x="822960" y="3035808"/>
            <a:ext cx="5852160" cy="512064"/>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environ 1 enfant sur 4 N’est PAS vacciné ; première dose ROR 78 %, deuxième 62 %</a:t>
            </a:r>
            <a:endParaRPr lang="en-US" sz="1500" dirty="0"/>
          </a:p>
        </p:txBody>
      </p:sp>
      <p:sp>
        <p:nvSpPr>
          <p:cNvPr id="10" name="Shape 8"/>
          <p:cNvSpPr/>
          <p:nvPr/>
        </p:nvSpPr>
        <p:spPr>
          <a:xfrm>
            <a:off x="594360" y="3694176"/>
            <a:ext cx="6309360" cy="896112"/>
          </a:xfrm>
          <a:prstGeom prst="roundRect">
            <a:avLst>
              <a:gd name="adj" fmla="val 9184"/>
            </a:avLst>
          </a:prstGeom>
          <a:solidFill>
            <a:srgbClr val="ECEAE4"/>
          </a:solidFill>
          <a:ln w="12700">
            <a:solidFill>
              <a:srgbClr val="ECEAE4"/>
            </a:solidFill>
            <a:prstDash val="solid"/>
          </a:ln>
        </p:spPr>
      </p:sp>
      <p:sp>
        <p:nvSpPr>
          <p:cNvPr id="11" name="Text 9"/>
          <p:cNvSpPr/>
          <p:nvPr/>
        </p:nvSpPr>
        <p:spPr>
          <a:xfrm>
            <a:off x="822960" y="3767328"/>
            <a:ext cx="5852160" cy="292608"/>
          </a:xfrm>
          <a:prstGeom prst="rect">
            <a:avLst/>
          </a:prstGeom>
          <a:noFill/>
          <a:ln/>
        </p:spPr>
        <p:txBody>
          <a:bodyPr wrap="square" lIns="0" tIns="0" rIns="0" bIns="0" rtlCol="0" anchor="t"/>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INSP, 3 mars 2026</a:t>
            </a:r>
            <a:endParaRPr lang="en-US" sz="1400" dirty="0"/>
          </a:p>
        </p:txBody>
      </p:sp>
      <p:sp>
        <p:nvSpPr>
          <p:cNvPr id="12" name="Text 10"/>
          <p:cNvSpPr/>
          <p:nvPr/>
        </p:nvSpPr>
        <p:spPr>
          <a:xfrm>
            <a:off x="822960" y="4059936"/>
            <a:ext cx="5852160" cy="512064"/>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couverture en 2024 : première dose 80,8 %, deuxième 69,4 %</a:t>
            </a:r>
            <a:endParaRPr lang="en-US" sz="1500" dirty="0"/>
          </a:p>
        </p:txBody>
      </p:sp>
      <p:sp>
        <p:nvSpPr>
          <p:cNvPr id="13" name="Shape 11"/>
          <p:cNvSpPr/>
          <p:nvPr/>
        </p:nvSpPr>
        <p:spPr>
          <a:xfrm>
            <a:off x="7360920" y="2503627"/>
            <a:ext cx="731520" cy="2068373"/>
          </a:xfrm>
          <a:prstGeom prst="rect">
            <a:avLst/>
          </a:prstGeom>
          <a:solidFill>
            <a:srgbClr val="585A64"/>
          </a:solidFill>
          <a:ln w="12700">
            <a:solidFill>
              <a:srgbClr val="585A64"/>
            </a:solidFill>
            <a:prstDash val="solid"/>
          </a:ln>
        </p:spPr>
      </p:sp>
      <p:sp>
        <p:nvSpPr>
          <p:cNvPr id="14" name="Text 12"/>
          <p:cNvSpPr/>
          <p:nvPr/>
        </p:nvSpPr>
        <p:spPr>
          <a:xfrm>
            <a:off x="7223760" y="2156155"/>
            <a:ext cx="1005840" cy="310896"/>
          </a:xfrm>
          <a:prstGeom prst="rect">
            <a:avLst/>
          </a:prstGeom>
          <a:noFill/>
          <a:ln/>
        </p:spPr>
        <p:txBody>
          <a:bodyPr wrap="square" lIns="0" tIns="0" rIns="0" bIns="0" rtlCol="0" anchor="t"/>
          <a:lstStyle/>
          <a:p>
            <a:pPr algn="ctr" indent="0" marL="0">
              <a:buNone/>
            </a:pPr>
            <a:r>
              <a:rPr lang="en-US" sz="1400" b="1" dirty="0">
                <a:solidFill>
                  <a:srgbClr val="585A64"/>
                </a:solidFill>
                <a:latin typeface="Palatino Linotype" pitchFamily="34" charset="0"/>
                <a:ea typeface="Palatino Linotype" pitchFamily="34" charset="-122"/>
                <a:cs typeface="Palatino Linotype" pitchFamily="34" charset="-120"/>
              </a:rPr>
              <a:t>78 %</a:t>
            </a:r>
            <a:endParaRPr lang="en-US" sz="1400" dirty="0"/>
          </a:p>
        </p:txBody>
      </p:sp>
      <p:sp>
        <p:nvSpPr>
          <p:cNvPr id="15" name="Text 13"/>
          <p:cNvSpPr/>
          <p:nvPr/>
        </p:nvSpPr>
        <p:spPr>
          <a:xfrm>
            <a:off x="7223760" y="4617720"/>
            <a:ext cx="100584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article</a:t>
            </a:r>
            <a:endParaRPr lang="en-US" sz="1300" dirty="0"/>
          </a:p>
        </p:txBody>
      </p:sp>
      <p:sp>
        <p:nvSpPr>
          <p:cNvPr id="16" name="Shape 14"/>
          <p:cNvSpPr/>
          <p:nvPr/>
        </p:nvSpPr>
        <p:spPr>
          <a:xfrm>
            <a:off x="8229600" y="2429378"/>
            <a:ext cx="731520" cy="2142622"/>
          </a:xfrm>
          <a:prstGeom prst="rect">
            <a:avLst/>
          </a:prstGeom>
          <a:solidFill>
            <a:srgbClr val="0E7C6B"/>
          </a:solidFill>
          <a:ln w="12700">
            <a:solidFill>
              <a:srgbClr val="0E7C6B"/>
            </a:solidFill>
            <a:prstDash val="solid"/>
          </a:ln>
        </p:spPr>
      </p:sp>
      <p:sp>
        <p:nvSpPr>
          <p:cNvPr id="17" name="Text 15"/>
          <p:cNvSpPr/>
          <p:nvPr/>
        </p:nvSpPr>
        <p:spPr>
          <a:xfrm>
            <a:off x="8092440" y="2081906"/>
            <a:ext cx="1005840" cy="310896"/>
          </a:xfrm>
          <a:prstGeom prst="rect">
            <a:avLst/>
          </a:prstGeom>
          <a:noFill/>
          <a:ln/>
        </p:spPr>
        <p:txBody>
          <a:bodyPr wrap="square" lIns="0" tIns="0" rIns="0" bIns="0" rtlCol="0" anchor="t"/>
          <a:lstStyle/>
          <a:p>
            <a:pPr algn="ctr" indent="0" marL="0">
              <a:buNone/>
            </a:pPr>
            <a:r>
              <a:rPr lang="en-US" sz="1400" b="1" dirty="0">
                <a:solidFill>
                  <a:srgbClr val="0E7C6B"/>
                </a:solidFill>
                <a:latin typeface="Palatino Linotype" pitchFamily="34" charset="0"/>
                <a:ea typeface="Palatino Linotype" pitchFamily="34" charset="-122"/>
                <a:cs typeface="Palatino Linotype" pitchFamily="34" charset="-120"/>
              </a:rPr>
              <a:t>80,8 %</a:t>
            </a:r>
            <a:endParaRPr lang="en-US" sz="1400" dirty="0"/>
          </a:p>
        </p:txBody>
      </p:sp>
      <p:sp>
        <p:nvSpPr>
          <p:cNvPr id="18" name="Text 16"/>
          <p:cNvSpPr/>
          <p:nvPr/>
        </p:nvSpPr>
        <p:spPr>
          <a:xfrm>
            <a:off x="8092440" y="4617720"/>
            <a:ext cx="1005840" cy="274320"/>
          </a:xfrm>
          <a:prstGeom prst="rect">
            <a:avLst/>
          </a:prstGeom>
          <a:noFill/>
          <a:ln/>
        </p:spPr>
        <p:txBody>
          <a:bodyPr wrap="square" lIns="0" tIns="0" rIns="0" bIns="0" rtlCol="0" anchor="t"/>
          <a:lstStyle/>
          <a:p>
            <a:pPr algn="ctr" indent="0" marL="0">
              <a:buNone/>
            </a:pPr>
            <a:r>
              <a:rPr lang="en-US" sz="1300" dirty="0">
                <a:solidFill>
                  <a:srgbClr val="0E7C6B"/>
                </a:solidFill>
                <a:latin typeface="Palatino Linotype" pitchFamily="34" charset="0"/>
                <a:ea typeface="Palatino Linotype" pitchFamily="34" charset="-122"/>
                <a:cs typeface="Palatino Linotype" pitchFamily="34" charset="-120"/>
              </a:rPr>
              <a:t>INSP 2024</a:t>
            </a:r>
            <a:endParaRPr lang="en-US" sz="1300" dirty="0"/>
          </a:p>
        </p:txBody>
      </p:sp>
      <p:sp>
        <p:nvSpPr>
          <p:cNvPr id="19" name="Text 17"/>
          <p:cNvSpPr/>
          <p:nvPr/>
        </p:nvSpPr>
        <p:spPr>
          <a:xfrm>
            <a:off x="7360920" y="4919472"/>
            <a:ext cx="1600200" cy="292608"/>
          </a:xfrm>
          <a:prstGeom prst="rect">
            <a:avLst/>
          </a:prstGeom>
          <a:noFill/>
          <a:ln/>
        </p:spPr>
        <p:txBody>
          <a:bodyPr wrap="square" lIns="0" tIns="0" rIns="0" bIns="0" rtlCol="0" anchor="t"/>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Dose 1</a:t>
            </a:r>
            <a:endParaRPr lang="en-US" sz="1400" dirty="0"/>
          </a:p>
        </p:txBody>
      </p:sp>
      <p:sp>
        <p:nvSpPr>
          <p:cNvPr id="20" name="Shape 18"/>
          <p:cNvSpPr/>
          <p:nvPr/>
        </p:nvSpPr>
        <p:spPr>
          <a:xfrm>
            <a:off x="9555480" y="2927909"/>
            <a:ext cx="731520" cy="1644091"/>
          </a:xfrm>
          <a:prstGeom prst="rect">
            <a:avLst/>
          </a:prstGeom>
          <a:solidFill>
            <a:srgbClr val="585A64"/>
          </a:solidFill>
          <a:ln w="12700">
            <a:solidFill>
              <a:srgbClr val="585A64"/>
            </a:solidFill>
            <a:prstDash val="solid"/>
          </a:ln>
        </p:spPr>
      </p:sp>
      <p:sp>
        <p:nvSpPr>
          <p:cNvPr id="21" name="Text 19"/>
          <p:cNvSpPr/>
          <p:nvPr/>
        </p:nvSpPr>
        <p:spPr>
          <a:xfrm>
            <a:off x="9418320" y="2580437"/>
            <a:ext cx="1005840" cy="310896"/>
          </a:xfrm>
          <a:prstGeom prst="rect">
            <a:avLst/>
          </a:prstGeom>
          <a:noFill/>
          <a:ln/>
        </p:spPr>
        <p:txBody>
          <a:bodyPr wrap="square" lIns="0" tIns="0" rIns="0" bIns="0" rtlCol="0" anchor="t"/>
          <a:lstStyle/>
          <a:p>
            <a:pPr algn="ctr" indent="0" marL="0">
              <a:buNone/>
            </a:pPr>
            <a:r>
              <a:rPr lang="en-US" sz="1400" b="1" dirty="0">
                <a:solidFill>
                  <a:srgbClr val="585A64"/>
                </a:solidFill>
                <a:latin typeface="Palatino Linotype" pitchFamily="34" charset="0"/>
                <a:ea typeface="Palatino Linotype" pitchFamily="34" charset="-122"/>
                <a:cs typeface="Palatino Linotype" pitchFamily="34" charset="-120"/>
              </a:rPr>
              <a:t>62 %</a:t>
            </a:r>
            <a:endParaRPr lang="en-US" sz="1400" dirty="0"/>
          </a:p>
        </p:txBody>
      </p:sp>
      <p:sp>
        <p:nvSpPr>
          <p:cNvPr id="22" name="Text 20"/>
          <p:cNvSpPr/>
          <p:nvPr/>
        </p:nvSpPr>
        <p:spPr>
          <a:xfrm>
            <a:off x="9418320" y="4617720"/>
            <a:ext cx="1005840" cy="274320"/>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article</a:t>
            </a:r>
            <a:endParaRPr lang="en-US" sz="1300" dirty="0"/>
          </a:p>
        </p:txBody>
      </p:sp>
      <p:sp>
        <p:nvSpPr>
          <p:cNvPr id="23" name="Shape 21"/>
          <p:cNvSpPr/>
          <p:nvPr/>
        </p:nvSpPr>
        <p:spPr>
          <a:xfrm>
            <a:off x="10424160" y="2731679"/>
            <a:ext cx="731520" cy="1840321"/>
          </a:xfrm>
          <a:prstGeom prst="rect">
            <a:avLst/>
          </a:prstGeom>
          <a:solidFill>
            <a:srgbClr val="0E7C6B"/>
          </a:solidFill>
          <a:ln w="12700">
            <a:solidFill>
              <a:srgbClr val="0E7C6B"/>
            </a:solidFill>
            <a:prstDash val="solid"/>
          </a:ln>
        </p:spPr>
      </p:sp>
      <p:sp>
        <p:nvSpPr>
          <p:cNvPr id="24" name="Text 22"/>
          <p:cNvSpPr/>
          <p:nvPr/>
        </p:nvSpPr>
        <p:spPr>
          <a:xfrm>
            <a:off x="10287000" y="2384207"/>
            <a:ext cx="1005840" cy="310896"/>
          </a:xfrm>
          <a:prstGeom prst="rect">
            <a:avLst/>
          </a:prstGeom>
          <a:noFill/>
          <a:ln/>
        </p:spPr>
        <p:txBody>
          <a:bodyPr wrap="square" lIns="0" tIns="0" rIns="0" bIns="0" rtlCol="0" anchor="t"/>
          <a:lstStyle/>
          <a:p>
            <a:pPr algn="ctr" indent="0" marL="0">
              <a:buNone/>
            </a:pPr>
            <a:r>
              <a:rPr lang="en-US" sz="1400" b="1" dirty="0">
                <a:solidFill>
                  <a:srgbClr val="0E7C6B"/>
                </a:solidFill>
                <a:latin typeface="Palatino Linotype" pitchFamily="34" charset="0"/>
                <a:ea typeface="Palatino Linotype" pitchFamily="34" charset="-122"/>
                <a:cs typeface="Palatino Linotype" pitchFamily="34" charset="-120"/>
              </a:rPr>
              <a:t>69,4 %</a:t>
            </a:r>
            <a:endParaRPr lang="en-US" sz="1400" dirty="0"/>
          </a:p>
        </p:txBody>
      </p:sp>
      <p:sp>
        <p:nvSpPr>
          <p:cNvPr id="25" name="Text 23"/>
          <p:cNvSpPr/>
          <p:nvPr/>
        </p:nvSpPr>
        <p:spPr>
          <a:xfrm>
            <a:off x="10287000" y="4617720"/>
            <a:ext cx="1005840" cy="274320"/>
          </a:xfrm>
          <a:prstGeom prst="rect">
            <a:avLst/>
          </a:prstGeom>
          <a:noFill/>
          <a:ln/>
        </p:spPr>
        <p:txBody>
          <a:bodyPr wrap="square" lIns="0" tIns="0" rIns="0" bIns="0" rtlCol="0" anchor="t"/>
          <a:lstStyle/>
          <a:p>
            <a:pPr algn="ctr" indent="0" marL="0">
              <a:buNone/>
            </a:pPr>
            <a:r>
              <a:rPr lang="en-US" sz="1300" dirty="0">
                <a:solidFill>
                  <a:srgbClr val="0E7C6B"/>
                </a:solidFill>
                <a:latin typeface="Palatino Linotype" pitchFamily="34" charset="0"/>
                <a:ea typeface="Palatino Linotype" pitchFamily="34" charset="-122"/>
                <a:cs typeface="Palatino Linotype" pitchFamily="34" charset="-120"/>
              </a:rPr>
              <a:t>INSP 2024</a:t>
            </a:r>
            <a:endParaRPr lang="en-US" sz="1300" dirty="0"/>
          </a:p>
        </p:txBody>
      </p:sp>
      <p:sp>
        <p:nvSpPr>
          <p:cNvPr id="26" name="Text 24"/>
          <p:cNvSpPr/>
          <p:nvPr/>
        </p:nvSpPr>
        <p:spPr>
          <a:xfrm>
            <a:off x="9555480" y="4919472"/>
            <a:ext cx="1600200" cy="292608"/>
          </a:xfrm>
          <a:prstGeom prst="rect">
            <a:avLst/>
          </a:prstGeom>
          <a:noFill/>
          <a:ln/>
        </p:spPr>
        <p:txBody>
          <a:bodyPr wrap="square" lIns="0" tIns="0" rIns="0" bIns="0" rtlCol="0" anchor="t"/>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Dose 2</a:t>
            </a:r>
            <a:endParaRPr lang="en-US" sz="1400" dirty="0"/>
          </a:p>
        </p:txBody>
      </p:sp>
      <p:sp>
        <p:nvSpPr>
          <p:cNvPr id="27" name="Shape 25"/>
          <p:cNvSpPr/>
          <p:nvPr/>
        </p:nvSpPr>
        <p:spPr>
          <a:xfrm>
            <a:off x="7269480" y="4572000"/>
            <a:ext cx="4343400" cy="18288"/>
          </a:xfrm>
          <a:prstGeom prst="rect">
            <a:avLst/>
          </a:prstGeom>
          <a:solidFill>
            <a:srgbClr val="C9C6BE"/>
          </a:solidFill>
          <a:ln w="12700">
            <a:solidFill>
              <a:srgbClr val="C9C6BE"/>
            </a:solidFill>
            <a:prstDash val="solid"/>
          </a:ln>
        </p:spPr>
      </p:sp>
      <p:sp>
        <p:nvSpPr>
          <p:cNvPr id="28" name="Text 26"/>
          <p:cNvSpPr/>
          <p:nvPr/>
        </p:nvSpPr>
        <p:spPr>
          <a:xfrm>
            <a:off x="594360" y="4846320"/>
            <a:ext cx="6400800" cy="32004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Avant de croire ou de rejeter un chiffre :</a:t>
            </a:r>
            <a:endParaRPr lang="en-US" sz="1500" dirty="0"/>
          </a:p>
        </p:txBody>
      </p:sp>
      <p:sp>
        <p:nvSpPr>
          <p:cNvPr id="29" name="Shape 27"/>
          <p:cNvSpPr/>
          <p:nvPr/>
        </p:nvSpPr>
        <p:spPr>
          <a:xfrm>
            <a:off x="594360" y="5257800"/>
            <a:ext cx="1536192" cy="329184"/>
          </a:xfrm>
          <a:prstGeom prst="roundRect">
            <a:avLst>
              <a:gd name="adj" fmla="val 50000"/>
            </a:avLst>
          </a:prstGeom>
          <a:solidFill>
            <a:srgbClr val="B02532"/>
          </a:solidFill>
          <a:ln w="12700">
            <a:solidFill>
              <a:srgbClr val="B02532"/>
            </a:solidFill>
            <a:prstDash val="solid"/>
          </a:ln>
        </p:spPr>
      </p:sp>
      <p:sp>
        <p:nvSpPr>
          <p:cNvPr id="30" name="Text 28"/>
          <p:cNvSpPr/>
          <p:nvPr/>
        </p:nvSpPr>
        <p:spPr>
          <a:xfrm>
            <a:off x="594360" y="5257800"/>
            <a:ext cx="1536192"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quelle mesure ?</a:t>
            </a:r>
            <a:endParaRPr lang="en-US" sz="1300" dirty="0"/>
          </a:p>
        </p:txBody>
      </p:sp>
      <p:sp>
        <p:nvSpPr>
          <p:cNvPr id="31" name="Shape 29"/>
          <p:cNvSpPr/>
          <p:nvPr/>
        </p:nvSpPr>
        <p:spPr>
          <a:xfrm>
            <a:off x="2221992" y="5257800"/>
            <a:ext cx="1536192" cy="329184"/>
          </a:xfrm>
          <a:prstGeom prst="roundRect">
            <a:avLst>
              <a:gd name="adj" fmla="val 50000"/>
            </a:avLst>
          </a:prstGeom>
          <a:solidFill>
            <a:srgbClr val="B02532"/>
          </a:solidFill>
          <a:ln w="12700">
            <a:solidFill>
              <a:srgbClr val="B02532"/>
            </a:solidFill>
            <a:prstDash val="solid"/>
          </a:ln>
        </p:spPr>
      </p:sp>
      <p:sp>
        <p:nvSpPr>
          <p:cNvPr id="32" name="Text 30"/>
          <p:cNvSpPr/>
          <p:nvPr/>
        </p:nvSpPr>
        <p:spPr>
          <a:xfrm>
            <a:off x="2221992" y="5257800"/>
            <a:ext cx="1536192"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à quel âge ?</a:t>
            </a:r>
            <a:endParaRPr lang="en-US" sz="1300" dirty="0"/>
          </a:p>
        </p:txBody>
      </p:sp>
      <p:sp>
        <p:nvSpPr>
          <p:cNvPr id="33" name="Shape 31"/>
          <p:cNvSpPr/>
          <p:nvPr/>
        </p:nvSpPr>
        <p:spPr>
          <a:xfrm>
            <a:off x="3849624" y="5257800"/>
            <a:ext cx="1536192" cy="329184"/>
          </a:xfrm>
          <a:prstGeom prst="roundRect">
            <a:avLst>
              <a:gd name="adj" fmla="val 50000"/>
            </a:avLst>
          </a:prstGeom>
          <a:solidFill>
            <a:srgbClr val="B02532"/>
          </a:solidFill>
          <a:ln w="12700">
            <a:solidFill>
              <a:srgbClr val="B02532"/>
            </a:solidFill>
            <a:prstDash val="solid"/>
          </a:ln>
        </p:spPr>
      </p:sp>
      <p:sp>
        <p:nvSpPr>
          <p:cNvPr id="34" name="Text 32"/>
          <p:cNvSpPr/>
          <p:nvPr/>
        </p:nvSpPr>
        <p:spPr>
          <a:xfrm>
            <a:off x="3849624" y="5257800"/>
            <a:ext cx="1536192"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quelle année ?</a:t>
            </a:r>
            <a:endParaRPr lang="en-US" sz="1300" dirty="0"/>
          </a:p>
        </p:txBody>
      </p:sp>
      <p:sp>
        <p:nvSpPr>
          <p:cNvPr id="35" name="Shape 33"/>
          <p:cNvSpPr/>
          <p:nvPr/>
        </p:nvSpPr>
        <p:spPr>
          <a:xfrm>
            <a:off x="5477256" y="5257800"/>
            <a:ext cx="1536192" cy="329184"/>
          </a:xfrm>
          <a:prstGeom prst="roundRect">
            <a:avLst>
              <a:gd name="adj" fmla="val 50000"/>
            </a:avLst>
          </a:prstGeom>
          <a:solidFill>
            <a:srgbClr val="B02532"/>
          </a:solidFill>
          <a:ln w="12700">
            <a:solidFill>
              <a:srgbClr val="B02532"/>
            </a:solidFill>
            <a:prstDash val="solid"/>
          </a:ln>
        </p:spPr>
      </p:sp>
      <p:sp>
        <p:nvSpPr>
          <p:cNvPr id="36" name="Text 34"/>
          <p:cNvSpPr/>
          <p:nvPr/>
        </p:nvSpPr>
        <p:spPr>
          <a:xfrm>
            <a:off x="5477256" y="5257800"/>
            <a:ext cx="1536192"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quelle source ?</a:t>
            </a:r>
            <a:endParaRPr lang="en-US" sz="1300" dirty="0"/>
          </a:p>
        </p:txBody>
      </p:sp>
      <p:sp>
        <p:nvSpPr>
          <p:cNvPr id="37" name="Text 35"/>
          <p:cNvSpPr/>
          <p:nvPr/>
        </p:nvSpPr>
        <p:spPr>
          <a:xfrm>
            <a:off x="594360" y="5715000"/>
            <a:ext cx="10972800" cy="45720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 Vacciné » peut signifier une dose ou le schéma complet ; la proportion de non-vaccinés n’est pas la proportion de vaccinés.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9B7EF7"/>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1F1040"/>
                </a:solidFill>
                <a:latin typeface="Palatino Linotype" pitchFamily="34" charset="0"/>
                <a:ea typeface="Palatino Linotype" pitchFamily="34" charset="-122"/>
                <a:cs typeface="Palatino Linotype" pitchFamily="34" charset="-120"/>
              </a:rPr>
              <a:t>TERME NOUVEAU 1 SUR 3</a:t>
            </a:r>
            <a:endParaRPr lang="en-US" sz="1300" dirty="0"/>
          </a:p>
        </p:txBody>
      </p:sp>
      <p:sp>
        <p:nvSpPr>
          <p:cNvPr id="3" name="Text 1"/>
          <p:cNvSpPr/>
          <p:nvPr/>
        </p:nvSpPr>
        <p:spPr>
          <a:xfrm>
            <a:off x="594360" y="777240"/>
            <a:ext cx="10972800" cy="914400"/>
          </a:xfrm>
          <a:prstGeom prst="rect">
            <a:avLst/>
          </a:prstGeom>
          <a:noFill/>
          <a:ln/>
        </p:spPr>
        <p:txBody>
          <a:bodyPr wrap="square" lIns="0" tIns="0" rIns="0" bIns="0" rtlCol="0" anchor="t"/>
          <a:lstStyle/>
          <a:p>
            <a:pPr indent="0" marL="0">
              <a:buNone/>
            </a:pPr>
            <a:r>
              <a:rPr lang="en-US" sz="3200" b="1" dirty="0">
                <a:solidFill>
                  <a:srgbClr val="1F1040"/>
                </a:solidFill>
                <a:latin typeface="Palatino Linotype" pitchFamily="34" charset="0"/>
                <a:ea typeface="Palatino Linotype" pitchFamily="34" charset="-122"/>
                <a:cs typeface="Palatino Linotype" pitchFamily="34" charset="-120"/>
              </a:rPr>
              <a:t>Les opérations essentielles de santé publique (OESP)</a:t>
            </a:r>
            <a:endParaRPr lang="en-US" sz="3200" dirty="0"/>
          </a:p>
        </p:txBody>
      </p:sp>
      <p:sp>
        <p:nvSpPr>
          <p:cNvPr id="4" name="Shape 2"/>
          <p:cNvSpPr/>
          <p:nvPr/>
        </p:nvSpPr>
        <p:spPr>
          <a:xfrm>
            <a:off x="594360" y="1874520"/>
            <a:ext cx="10972800" cy="1600200"/>
          </a:xfrm>
          <a:prstGeom prst="roundRect">
            <a:avLst>
              <a:gd name="adj" fmla="val 5143"/>
            </a:avLst>
          </a:prstGeom>
          <a:solidFill>
            <a:srgbClr val="FFFFFF"/>
          </a:solidFill>
          <a:ln w="12700">
            <a:solidFill>
              <a:srgbClr val="FFFFFF"/>
            </a:solidFill>
            <a:prstDash val="solid"/>
          </a:ln>
        </p:spPr>
      </p:sp>
      <p:sp>
        <p:nvSpPr>
          <p:cNvPr id="5" name="Text 3"/>
          <p:cNvSpPr/>
          <p:nvPr/>
        </p:nvSpPr>
        <p:spPr>
          <a:xfrm>
            <a:off x="914400" y="1874520"/>
            <a:ext cx="10332720" cy="1600200"/>
          </a:xfrm>
          <a:prstGeom prst="rect">
            <a:avLst/>
          </a:prstGeom>
          <a:noFill/>
          <a:ln/>
        </p:spPr>
        <p:txBody>
          <a:bodyPr wrap="square" lIns="0" tIns="0" rIns="0" bIns="0" rtlCol="0" anchor="ctr"/>
          <a:lstStyle/>
          <a:p>
            <a:pPr indent="0" marL="0">
              <a:buNone/>
            </a:pPr>
            <a:r>
              <a:rPr lang="en-US" sz="2400" b="1" i="1" dirty="0">
                <a:solidFill>
                  <a:srgbClr val="4A2D8C"/>
                </a:solidFill>
                <a:latin typeface="Palatino Linotype" pitchFamily="34" charset="0"/>
                <a:ea typeface="Palatino Linotype" pitchFamily="34" charset="-122"/>
                <a:cs typeface="Palatino Linotype" pitchFamily="34" charset="-120"/>
              </a:rPr>
              <a:t>La liste de ce qu’un système doit faire pour la santé de tous, et pas seulement pour le patient qui arrive chez le médecin.</a:t>
            </a:r>
            <a:endParaRPr lang="en-US" sz="2400" dirty="0"/>
          </a:p>
        </p:txBody>
      </p:sp>
      <p:sp>
        <p:nvSpPr>
          <p:cNvPr id="6" name="Text 4"/>
          <p:cNvSpPr/>
          <p:nvPr/>
        </p:nvSpPr>
        <p:spPr>
          <a:xfrm>
            <a:off x="594360" y="3749040"/>
            <a:ext cx="10972800" cy="914400"/>
          </a:xfrm>
          <a:prstGeom prst="rect">
            <a:avLst/>
          </a:prstGeom>
          <a:noFill/>
          <a:ln/>
        </p:spPr>
        <p:txBody>
          <a:bodyPr wrap="square" lIns="0" tIns="0" rIns="0" bIns="0" rtlCol="0" anchor="t"/>
          <a:lstStyle/>
          <a:p>
            <a:pPr indent="0" marL="0">
              <a:buNone/>
            </a:pPr>
            <a:r>
              <a:rPr lang="en-US" sz="1800" dirty="0">
                <a:solidFill>
                  <a:srgbClr val="1F1040"/>
                </a:solidFill>
                <a:latin typeface="Palatino Linotype" pitchFamily="34" charset="0"/>
                <a:ea typeface="Palatino Linotype" pitchFamily="34" charset="-122"/>
                <a:cs typeface="Palatino Linotype" pitchFamily="34" charset="-120"/>
              </a:rPr>
              <a:t>Dix opérations, formulées en 2012 par le Bureau régional de l’OMS pour l’Europe ; les pays les utilisent pour évaluer et planifier leurs services de santé publique.</a:t>
            </a:r>
            <a:endParaRPr lang="en-US" sz="1800" dirty="0"/>
          </a:p>
        </p:txBody>
      </p:sp>
      <p:sp>
        <p:nvSpPr>
          <p:cNvPr id="7" name="Text 5"/>
          <p:cNvSpPr/>
          <p:nvPr/>
        </p:nvSpPr>
        <p:spPr>
          <a:xfrm>
            <a:off x="594360" y="4846320"/>
            <a:ext cx="10972800" cy="822960"/>
          </a:xfrm>
          <a:prstGeom prst="rect">
            <a:avLst/>
          </a:prstGeom>
          <a:noFill/>
          <a:ln/>
        </p:spPr>
        <p:txBody>
          <a:bodyPr wrap="square" lIns="0" tIns="0" rIns="0" bIns="0" rtlCol="0" anchor="t"/>
          <a:lstStyle/>
          <a:p>
            <a:pPr indent="0" marL="0">
              <a:buNone/>
            </a:pPr>
            <a:r>
              <a:rPr lang="en-US" sz="1800" b="1" dirty="0">
                <a:solidFill>
                  <a:srgbClr val="1F1040"/>
                </a:solidFill>
                <a:latin typeface="Palatino Linotype" pitchFamily="34" charset="0"/>
                <a:ea typeface="Palatino Linotype" pitchFamily="34" charset="-122"/>
                <a:cs typeface="Palatino Linotype" pitchFamily="34" charset="-120"/>
              </a:rPr>
              <a:t>Dans le cas de rougeole : la surveillance, la réponse au foyer, la vaccination des contacts, la communication avec la famille.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PLAN EUROPÉEN DE L’OMS, 2012</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Dix opérations, en deux groupes de cinq</a:t>
            </a:r>
            <a:endParaRPr lang="en-US" sz="3000" dirty="0"/>
          </a:p>
        </p:txBody>
      </p:sp>
      <p:sp>
        <p:nvSpPr>
          <p:cNvPr id="4" name="Text 2"/>
          <p:cNvSpPr/>
          <p:nvPr/>
        </p:nvSpPr>
        <p:spPr>
          <a:xfrm>
            <a:off x="594360" y="1600200"/>
            <a:ext cx="5303520" cy="320040"/>
          </a:xfrm>
          <a:prstGeom prst="rect">
            <a:avLst/>
          </a:prstGeom>
          <a:noFill/>
          <a:ln/>
        </p:spPr>
        <p:txBody>
          <a:bodyPr wrap="square" lIns="0" tIns="0" rIns="0" bIns="0" rtlCol="0" anchor="t"/>
          <a:lstStyle/>
          <a:p>
            <a:pPr indent="0" marL="0">
              <a:buNone/>
            </a:pPr>
            <a:r>
              <a:rPr lang="en-US" sz="1400" b="1" spc="100" kern="0" dirty="0">
                <a:solidFill>
                  <a:srgbClr val="4A2D8C"/>
                </a:solidFill>
                <a:latin typeface="Palatino Linotype" pitchFamily="34" charset="0"/>
                <a:ea typeface="Palatino Linotype" pitchFamily="34" charset="-122"/>
                <a:cs typeface="Palatino Linotype" pitchFamily="34" charset="-120"/>
              </a:rPr>
              <a:t>OPÉRATIONS DE BASE · EPHO 1–5</a:t>
            </a:r>
            <a:endParaRPr lang="en-US" sz="1400" dirty="0"/>
          </a:p>
        </p:txBody>
      </p:sp>
      <p:sp>
        <p:nvSpPr>
          <p:cNvPr id="5" name="Shape 3"/>
          <p:cNvSpPr/>
          <p:nvPr/>
        </p:nvSpPr>
        <p:spPr>
          <a:xfrm>
            <a:off x="594360" y="2011680"/>
            <a:ext cx="5303520" cy="585216"/>
          </a:xfrm>
          <a:prstGeom prst="roundRect">
            <a:avLst>
              <a:gd name="adj" fmla="val 14063"/>
            </a:avLst>
          </a:prstGeom>
          <a:solidFill>
            <a:srgbClr val="ECEAE4"/>
          </a:solidFill>
          <a:ln w="12700">
            <a:solidFill>
              <a:srgbClr val="ECEAE4"/>
            </a:solidFill>
            <a:prstDash val="solid"/>
          </a:ln>
        </p:spPr>
      </p:sp>
      <p:sp>
        <p:nvSpPr>
          <p:cNvPr id="6" name="Shape 4"/>
          <p:cNvSpPr/>
          <p:nvPr/>
        </p:nvSpPr>
        <p:spPr>
          <a:xfrm>
            <a:off x="731520" y="2093976"/>
            <a:ext cx="420624" cy="420624"/>
          </a:xfrm>
          <a:prstGeom prst="ellipse">
            <a:avLst/>
          </a:prstGeom>
          <a:solidFill>
            <a:srgbClr val="4A2D8C"/>
          </a:solidFill>
          <a:ln/>
        </p:spPr>
      </p:sp>
      <p:sp>
        <p:nvSpPr>
          <p:cNvPr id="7" name="Text 5"/>
          <p:cNvSpPr/>
          <p:nvPr/>
        </p:nvSpPr>
        <p:spPr>
          <a:xfrm>
            <a:off x="731520" y="20939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325880" y="2011680"/>
            <a:ext cx="342900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Surveillance de la santé et du bien-être</a:t>
            </a:r>
            <a:endParaRPr lang="en-US" sz="1500" dirty="0"/>
          </a:p>
        </p:txBody>
      </p:sp>
      <p:sp>
        <p:nvSpPr>
          <p:cNvPr id="9" name="Shape 7"/>
          <p:cNvSpPr/>
          <p:nvPr/>
        </p:nvSpPr>
        <p:spPr>
          <a:xfrm>
            <a:off x="4800600" y="2139696"/>
            <a:ext cx="1005840" cy="329184"/>
          </a:xfrm>
          <a:prstGeom prst="roundRect">
            <a:avLst>
              <a:gd name="adj" fmla="val 50000"/>
            </a:avLst>
          </a:prstGeom>
          <a:solidFill>
            <a:srgbClr val="27D3BE"/>
          </a:solidFill>
          <a:ln w="12700">
            <a:solidFill>
              <a:srgbClr val="27D3BE"/>
            </a:solidFill>
            <a:prstDash val="solid"/>
          </a:ln>
        </p:spPr>
      </p:sp>
      <p:sp>
        <p:nvSpPr>
          <p:cNvPr id="10" name="Text 8"/>
          <p:cNvSpPr/>
          <p:nvPr/>
        </p:nvSpPr>
        <p:spPr>
          <a:xfrm>
            <a:off x="4800600" y="2139696"/>
            <a:ext cx="1005840" cy="329184"/>
          </a:xfrm>
          <a:prstGeom prst="rect">
            <a:avLst/>
          </a:prstGeom>
          <a:noFill/>
          <a:ln/>
        </p:spPr>
        <p:txBody>
          <a:bodyPr wrap="square" lIns="0" tIns="0" rIns="0" bIns="0" rtlCol="0" anchor="ctr"/>
          <a:lstStyle/>
          <a:p>
            <a:pPr algn="ctr" indent="0" marL="0">
              <a:buNone/>
            </a:pPr>
            <a:r>
              <a:rPr lang="en-US" sz="1200" b="1" dirty="0">
                <a:solidFill>
                  <a:srgbClr val="073B34"/>
                </a:solidFill>
                <a:latin typeface="Palatino Linotype" pitchFamily="34" charset="0"/>
                <a:ea typeface="Palatino Linotype" pitchFamily="34" charset="-122"/>
                <a:cs typeface="Palatino Linotype" pitchFamily="34" charset="-120"/>
              </a:rPr>
              <a:t>information</a:t>
            </a:r>
            <a:endParaRPr lang="en-US" sz="1200" dirty="0"/>
          </a:p>
        </p:txBody>
      </p:sp>
      <p:sp>
        <p:nvSpPr>
          <p:cNvPr id="11" name="Shape 9"/>
          <p:cNvSpPr/>
          <p:nvPr/>
        </p:nvSpPr>
        <p:spPr>
          <a:xfrm>
            <a:off x="594360" y="2688336"/>
            <a:ext cx="5303520" cy="585216"/>
          </a:xfrm>
          <a:prstGeom prst="roundRect">
            <a:avLst>
              <a:gd name="adj" fmla="val 14063"/>
            </a:avLst>
          </a:prstGeom>
          <a:solidFill>
            <a:srgbClr val="ECEAE4"/>
          </a:solidFill>
          <a:ln w="12700">
            <a:solidFill>
              <a:srgbClr val="ECEAE4"/>
            </a:solidFill>
            <a:prstDash val="solid"/>
          </a:ln>
        </p:spPr>
      </p:sp>
      <p:sp>
        <p:nvSpPr>
          <p:cNvPr id="12" name="Shape 10"/>
          <p:cNvSpPr/>
          <p:nvPr/>
        </p:nvSpPr>
        <p:spPr>
          <a:xfrm>
            <a:off x="731520" y="2770632"/>
            <a:ext cx="420624" cy="420624"/>
          </a:xfrm>
          <a:prstGeom prst="ellipse">
            <a:avLst/>
          </a:prstGeom>
          <a:solidFill>
            <a:srgbClr val="4A2D8C"/>
          </a:solidFill>
          <a:ln/>
        </p:spPr>
      </p:sp>
      <p:sp>
        <p:nvSpPr>
          <p:cNvPr id="13" name="Text 11"/>
          <p:cNvSpPr/>
          <p:nvPr/>
        </p:nvSpPr>
        <p:spPr>
          <a:xfrm>
            <a:off x="731520" y="2770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1325880" y="2688336"/>
            <a:ext cx="342900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Dangers et urgences : suivi et réponse</a:t>
            </a:r>
            <a:endParaRPr lang="en-US" sz="1500" dirty="0"/>
          </a:p>
        </p:txBody>
      </p:sp>
      <p:sp>
        <p:nvSpPr>
          <p:cNvPr id="15" name="Shape 13"/>
          <p:cNvSpPr/>
          <p:nvPr/>
        </p:nvSpPr>
        <p:spPr>
          <a:xfrm>
            <a:off x="4800600" y="2816352"/>
            <a:ext cx="1005840" cy="329184"/>
          </a:xfrm>
          <a:prstGeom prst="roundRect">
            <a:avLst>
              <a:gd name="adj" fmla="val 50000"/>
            </a:avLst>
          </a:prstGeom>
          <a:solidFill>
            <a:srgbClr val="27D3BE"/>
          </a:solidFill>
          <a:ln w="12700">
            <a:solidFill>
              <a:srgbClr val="27D3BE"/>
            </a:solidFill>
            <a:prstDash val="solid"/>
          </a:ln>
        </p:spPr>
      </p:sp>
      <p:sp>
        <p:nvSpPr>
          <p:cNvPr id="16" name="Text 14"/>
          <p:cNvSpPr/>
          <p:nvPr/>
        </p:nvSpPr>
        <p:spPr>
          <a:xfrm>
            <a:off x="4800600" y="2816352"/>
            <a:ext cx="1005840" cy="329184"/>
          </a:xfrm>
          <a:prstGeom prst="rect">
            <a:avLst/>
          </a:prstGeom>
          <a:noFill/>
          <a:ln/>
        </p:spPr>
        <p:txBody>
          <a:bodyPr wrap="square" lIns="0" tIns="0" rIns="0" bIns="0" rtlCol="0" anchor="ctr"/>
          <a:lstStyle/>
          <a:p>
            <a:pPr algn="ctr" indent="0" marL="0">
              <a:buNone/>
            </a:pPr>
            <a:r>
              <a:rPr lang="en-US" sz="1200" b="1" dirty="0">
                <a:solidFill>
                  <a:srgbClr val="073B34"/>
                </a:solidFill>
                <a:latin typeface="Palatino Linotype" pitchFamily="34" charset="0"/>
                <a:ea typeface="Palatino Linotype" pitchFamily="34" charset="-122"/>
                <a:cs typeface="Palatino Linotype" pitchFamily="34" charset="-120"/>
              </a:rPr>
              <a:t>information</a:t>
            </a:r>
            <a:endParaRPr lang="en-US" sz="1200" dirty="0"/>
          </a:p>
        </p:txBody>
      </p:sp>
      <p:sp>
        <p:nvSpPr>
          <p:cNvPr id="17" name="Shape 15"/>
          <p:cNvSpPr/>
          <p:nvPr/>
        </p:nvSpPr>
        <p:spPr>
          <a:xfrm>
            <a:off x="594360" y="3364992"/>
            <a:ext cx="5303520" cy="585216"/>
          </a:xfrm>
          <a:prstGeom prst="roundRect">
            <a:avLst>
              <a:gd name="adj" fmla="val 14063"/>
            </a:avLst>
          </a:prstGeom>
          <a:solidFill>
            <a:srgbClr val="ECEAE4"/>
          </a:solidFill>
          <a:ln w="12700">
            <a:solidFill>
              <a:srgbClr val="ECEAE4"/>
            </a:solidFill>
            <a:prstDash val="solid"/>
          </a:ln>
        </p:spPr>
      </p:sp>
      <p:sp>
        <p:nvSpPr>
          <p:cNvPr id="18" name="Shape 16"/>
          <p:cNvSpPr/>
          <p:nvPr/>
        </p:nvSpPr>
        <p:spPr>
          <a:xfrm>
            <a:off x="731520" y="3447288"/>
            <a:ext cx="420624" cy="420624"/>
          </a:xfrm>
          <a:prstGeom prst="ellipse">
            <a:avLst/>
          </a:prstGeom>
          <a:solidFill>
            <a:srgbClr val="4A2D8C"/>
          </a:solidFill>
          <a:ln/>
        </p:spPr>
      </p:sp>
      <p:sp>
        <p:nvSpPr>
          <p:cNvPr id="19" name="Text 17"/>
          <p:cNvSpPr/>
          <p:nvPr/>
        </p:nvSpPr>
        <p:spPr>
          <a:xfrm>
            <a:off x="731520" y="34472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0" name="Text 18"/>
          <p:cNvSpPr/>
          <p:nvPr/>
        </p:nvSpPr>
        <p:spPr>
          <a:xfrm>
            <a:off x="1325880" y="3364992"/>
            <a:ext cx="443484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Protection de la santé</a:t>
            </a:r>
            <a:endParaRPr lang="en-US" sz="1500" dirty="0"/>
          </a:p>
        </p:txBody>
      </p:sp>
      <p:sp>
        <p:nvSpPr>
          <p:cNvPr id="21" name="Shape 19"/>
          <p:cNvSpPr/>
          <p:nvPr/>
        </p:nvSpPr>
        <p:spPr>
          <a:xfrm>
            <a:off x="594360" y="4041648"/>
            <a:ext cx="5303520" cy="585216"/>
          </a:xfrm>
          <a:prstGeom prst="roundRect">
            <a:avLst>
              <a:gd name="adj" fmla="val 14063"/>
            </a:avLst>
          </a:prstGeom>
          <a:solidFill>
            <a:srgbClr val="ECEAE4"/>
          </a:solidFill>
          <a:ln w="12700">
            <a:solidFill>
              <a:srgbClr val="ECEAE4"/>
            </a:solidFill>
            <a:prstDash val="solid"/>
          </a:ln>
        </p:spPr>
      </p:sp>
      <p:sp>
        <p:nvSpPr>
          <p:cNvPr id="22" name="Shape 20"/>
          <p:cNvSpPr/>
          <p:nvPr/>
        </p:nvSpPr>
        <p:spPr>
          <a:xfrm>
            <a:off x="731520" y="4123944"/>
            <a:ext cx="420624" cy="420624"/>
          </a:xfrm>
          <a:prstGeom prst="ellipse">
            <a:avLst/>
          </a:prstGeom>
          <a:solidFill>
            <a:srgbClr val="4A2D8C"/>
          </a:solidFill>
          <a:ln/>
        </p:spPr>
      </p:sp>
      <p:sp>
        <p:nvSpPr>
          <p:cNvPr id="23" name="Text 21"/>
          <p:cNvSpPr/>
          <p:nvPr/>
        </p:nvSpPr>
        <p:spPr>
          <a:xfrm>
            <a:off x="731520" y="4123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4" name="Text 22"/>
          <p:cNvSpPr/>
          <p:nvPr/>
        </p:nvSpPr>
        <p:spPr>
          <a:xfrm>
            <a:off x="1325880" y="4041648"/>
            <a:ext cx="443484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Promotion de la santé</a:t>
            </a:r>
            <a:endParaRPr lang="en-US" sz="1500" dirty="0"/>
          </a:p>
        </p:txBody>
      </p:sp>
      <p:sp>
        <p:nvSpPr>
          <p:cNvPr id="25" name="Shape 23"/>
          <p:cNvSpPr/>
          <p:nvPr/>
        </p:nvSpPr>
        <p:spPr>
          <a:xfrm>
            <a:off x="594360" y="4718304"/>
            <a:ext cx="5303520" cy="585216"/>
          </a:xfrm>
          <a:prstGeom prst="roundRect">
            <a:avLst>
              <a:gd name="adj" fmla="val 14063"/>
            </a:avLst>
          </a:prstGeom>
          <a:solidFill>
            <a:srgbClr val="ECEAE4"/>
          </a:solidFill>
          <a:ln w="12700">
            <a:solidFill>
              <a:srgbClr val="ECEAE4"/>
            </a:solidFill>
            <a:prstDash val="solid"/>
          </a:ln>
        </p:spPr>
      </p:sp>
      <p:sp>
        <p:nvSpPr>
          <p:cNvPr id="26" name="Shape 24"/>
          <p:cNvSpPr/>
          <p:nvPr/>
        </p:nvSpPr>
        <p:spPr>
          <a:xfrm>
            <a:off x="731520" y="4800600"/>
            <a:ext cx="420624" cy="420624"/>
          </a:xfrm>
          <a:prstGeom prst="ellipse">
            <a:avLst/>
          </a:prstGeom>
          <a:solidFill>
            <a:srgbClr val="4A2D8C"/>
          </a:solidFill>
          <a:ln/>
        </p:spPr>
      </p:sp>
      <p:sp>
        <p:nvSpPr>
          <p:cNvPr id="27" name="Text 25"/>
          <p:cNvSpPr/>
          <p:nvPr/>
        </p:nvSpPr>
        <p:spPr>
          <a:xfrm>
            <a:off x="731520" y="48006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8" name="Text 26"/>
          <p:cNvSpPr/>
          <p:nvPr/>
        </p:nvSpPr>
        <p:spPr>
          <a:xfrm>
            <a:off x="1325880" y="4718304"/>
            <a:ext cx="443484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Prévention des maladies, dépistage précoce</a:t>
            </a:r>
            <a:endParaRPr lang="en-US" sz="1500" dirty="0"/>
          </a:p>
        </p:txBody>
      </p:sp>
      <p:sp>
        <p:nvSpPr>
          <p:cNvPr id="29" name="Text 27"/>
          <p:cNvSpPr/>
          <p:nvPr/>
        </p:nvSpPr>
        <p:spPr>
          <a:xfrm>
            <a:off x="6263640" y="1600200"/>
            <a:ext cx="5303520" cy="320040"/>
          </a:xfrm>
          <a:prstGeom prst="rect">
            <a:avLst/>
          </a:prstGeom>
          <a:noFill/>
          <a:ln/>
        </p:spPr>
        <p:txBody>
          <a:bodyPr wrap="square" lIns="0" tIns="0" rIns="0" bIns="0" rtlCol="0" anchor="t"/>
          <a:lstStyle/>
          <a:p>
            <a:pPr indent="0" marL="0">
              <a:buNone/>
            </a:pPr>
            <a:r>
              <a:rPr lang="en-US" sz="1400" b="1" spc="100" kern="0" dirty="0">
                <a:solidFill>
                  <a:srgbClr val="B02532"/>
                </a:solidFill>
                <a:latin typeface="Palatino Linotype" pitchFamily="34" charset="0"/>
                <a:ea typeface="Palatino Linotype" pitchFamily="34" charset="-122"/>
                <a:cs typeface="Palatino Linotype" pitchFamily="34" charset="-120"/>
              </a:rPr>
              <a:t>QUI LES RENDENT POSSIBLES · EPHO 6–10</a:t>
            </a:r>
            <a:endParaRPr lang="en-US" sz="1400" dirty="0"/>
          </a:p>
        </p:txBody>
      </p:sp>
      <p:sp>
        <p:nvSpPr>
          <p:cNvPr id="30" name="Shape 28"/>
          <p:cNvSpPr/>
          <p:nvPr/>
        </p:nvSpPr>
        <p:spPr>
          <a:xfrm>
            <a:off x="6263640" y="2011680"/>
            <a:ext cx="5303520" cy="585216"/>
          </a:xfrm>
          <a:prstGeom prst="roundRect">
            <a:avLst>
              <a:gd name="adj" fmla="val 14063"/>
            </a:avLst>
          </a:prstGeom>
          <a:solidFill>
            <a:srgbClr val="ECEAE4"/>
          </a:solidFill>
          <a:ln w="12700">
            <a:solidFill>
              <a:srgbClr val="ECEAE4"/>
            </a:solidFill>
            <a:prstDash val="solid"/>
          </a:ln>
        </p:spPr>
      </p:sp>
      <p:sp>
        <p:nvSpPr>
          <p:cNvPr id="31" name="Shape 29"/>
          <p:cNvSpPr/>
          <p:nvPr/>
        </p:nvSpPr>
        <p:spPr>
          <a:xfrm>
            <a:off x="6400800" y="2093976"/>
            <a:ext cx="420624" cy="420624"/>
          </a:xfrm>
          <a:prstGeom prst="ellipse">
            <a:avLst/>
          </a:prstGeom>
          <a:solidFill>
            <a:srgbClr val="B02532"/>
          </a:solidFill>
          <a:ln/>
        </p:spPr>
      </p:sp>
      <p:sp>
        <p:nvSpPr>
          <p:cNvPr id="32" name="Text 30"/>
          <p:cNvSpPr/>
          <p:nvPr/>
        </p:nvSpPr>
        <p:spPr>
          <a:xfrm>
            <a:off x="6400800" y="20939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6</a:t>
            </a:r>
            <a:endParaRPr lang="en-US" sz="1400" dirty="0"/>
          </a:p>
        </p:txBody>
      </p:sp>
      <p:sp>
        <p:nvSpPr>
          <p:cNvPr id="33" name="Text 31"/>
          <p:cNvSpPr/>
          <p:nvPr/>
        </p:nvSpPr>
        <p:spPr>
          <a:xfrm>
            <a:off x="6995160" y="2011680"/>
            <a:ext cx="443484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Gouvernance pour la santé</a:t>
            </a:r>
            <a:endParaRPr lang="en-US" sz="1500" dirty="0"/>
          </a:p>
        </p:txBody>
      </p:sp>
      <p:sp>
        <p:nvSpPr>
          <p:cNvPr id="34" name="Shape 32"/>
          <p:cNvSpPr/>
          <p:nvPr/>
        </p:nvSpPr>
        <p:spPr>
          <a:xfrm>
            <a:off x="6263640" y="2688336"/>
            <a:ext cx="5303520" cy="585216"/>
          </a:xfrm>
          <a:prstGeom prst="roundRect">
            <a:avLst>
              <a:gd name="adj" fmla="val 14063"/>
            </a:avLst>
          </a:prstGeom>
          <a:solidFill>
            <a:srgbClr val="ECEAE4"/>
          </a:solidFill>
          <a:ln w="12700">
            <a:solidFill>
              <a:srgbClr val="ECEAE4"/>
            </a:solidFill>
            <a:prstDash val="solid"/>
          </a:ln>
        </p:spPr>
      </p:sp>
      <p:sp>
        <p:nvSpPr>
          <p:cNvPr id="35" name="Shape 33"/>
          <p:cNvSpPr/>
          <p:nvPr/>
        </p:nvSpPr>
        <p:spPr>
          <a:xfrm>
            <a:off x="6400800" y="2770632"/>
            <a:ext cx="420624" cy="420624"/>
          </a:xfrm>
          <a:prstGeom prst="ellipse">
            <a:avLst/>
          </a:prstGeom>
          <a:solidFill>
            <a:srgbClr val="B02532"/>
          </a:solidFill>
          <a:ln/>
        </p:spPr>
      </p:sp>
      <p:sp>
        <p:nvSpPr>
          <p:cNvPr id="36" name="Text 34"/>
          <p:cNvSpPr/>
          <p:nvPr/>
        </p:nvSpPr>
        <p:spPr>
          <a:xfrm>
            <a:off x="6400800" y="27706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7</a:t>
            </a:r>
            <a:endParaRPr lang="en-US" sz="1400" dirty="0"/>
          </a:p>
        </p:txBody>
      </p:sp>
      <p:sp>
        <p:nvSpPr>
          <p:cNvPr id="37" name="Text 35"/>
          <p:cNvSpPr/>
          <p:nvPr/>
        </p:nvSpPr>
        <p:spPr>
          <a:xfrm>
            <a:off x="6995160" y="2688336"/>
            <a:ext cx="443484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Personnel de santé publique</a:t>
            </a:r>
            <a:endParaRPr lang="en-US" sz="1500" dirty="0"/>
          </a:p>
        </p:txBody>
      </p:sp>
      <p:sp>
        <p:nvSpPr>
          <p:cNvPr id="38" name="Shape 36"/>
          <p:cNvSpPr/>
          <p:nvPr/>
        </p:nvSpPr>
        <p:spPr>
          <a:xfrm>
            <a:off x="6263640" y="3364992"/>
            <a:ext cx="5303520" cy="585216"/>
          </a:xfrm>
          <a:prstGeom prst="roundRect">
            <a:avLst>
              <a:gd name="adj" fmla="val 14063"/>
            </a:avLst>
          </a:prstGeom>
          <a:solidFill>
            <a:srgbClr val="ECEAE4"/>
          </a:solidFill>
          <a:ln w="12700">
            <a:solidFill>
              <a:srgbClr val="ECEAE4"/>
            </a:solidFill>
            <a:prstDash val="solid"/>
          </a:ln>
        </p:spPr>
      </p:sp>
      <p:sp>
        <p:nvSpPr>
          <p:cNvPr id="39" name="Shape 37"/>
          <p:cNvSpPr/>
          <p:nvPr/>
        </p:nvSpPr>
        <p:spPr>
          <a:xfrm>
            <a:off x="6400800" y="3447288"/>
            <a:ext cx="420624" cy="420624"/>
          </a:xfrm>
          <a:prstGeom prst="ellipse">
            <a:avLst/>
          </a:prstGeom>
          <a:solidFill>
            <a:srgbClr val="B02532"/>
          </a:solidFill>
          <a:ln/>
        </p:spPr>
      </p:sp>
      <p:sp>
        <p:nvSpPr>
          <p:cNvPr id="40" name="Text 38"/>
          <p:cNvSpPr/>
          <p:nvPr/>
        </p:nvSpPr>
        <p:spPr>
          <a:xfrm>
            <a:off x="6400800" y="34472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8</a:t>
            </a:r>
            <a:endParaRPr lang="en-US" sz="1400" dirty="0"/>
          </a:p>
        </p:txBody>
      </p:sp>
      <p:sp>
        <p:nvSpPr>
          <p:cNvPr id="41" name="Text 39"/>
          <p:cNvSpPr/>
          <p:nvPr/>
        </p:nvSpPr>
        <p:spPr>
          <a:xfrm>
            <a:off x="6995160" y="3364992"/>
            <a:ext cx="443484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Structures organisationnelles et financement</a:t>
            </a:r>
            <a:endParaRPr lang="en-US" sz="1500" dirty="0"/>
          </a:p>
        </p:txBody>
      </p:sp>
      <p:sp>
        <p:nvSpPr>
          <p:cNvPr id="42" name="Shape 40"/>
          <p:cNvSpPr/>
          <p:nvPr/>
        </p:nvSpPr>
        <p:spPr>
          <a:xfrm>
            <a:off x="6263640" y="4041648"/>
            <a:ext cx="5303520" cy="585216"/>
          </a:xfrm>
          <a:prstGeom prst="roundRect">
            <a:avLst>
              <a:gd name="adj" fmla="val 14063"/>
            </a:avLst>
          </a:prstGeom>
          <a:solidFill>
            <a:srgbClr val="ECEAE4"/>
          </a:solidFill>
          <a:ln w="12700">
            <a:solidFill>
              <a:srgbClr val="ECEAE4"/>
            </a:solidFill>
            <a:prstDash val="solid"/>
          </a:ln>
        </p:spPr>
      </p:sp>
      <p:sp>
        <p:nvSpPr>
          <p:cNvPr id="43" name="Shape 41"/>
          <p:cNvSpPr/>
          <p:nvPr/>
        </p:nvSpPr>
        <p:spPr>
          <a:xfrm>
            <a:off x="6400800" y="4123944"/>
            <a:ext cx="420624" cy="420624"/>
          </a:xfrm>
          <a:prstGeom prst="ellipse">
            <a:avLst/>
          </a:prstGeom>
          <a:solidFill>
            <a:srgbClr val="B02532"/>
          </a:solidFill>
          <a:ln/>
        </p:spPr>
      </p:sp>
      <p:sp>
        <p:nvSpPr>
          <p:cNvPr id="44" name="Text 42"/>
          <p:cNvSpPr/>
          <p:nvPr/>
        </p:nvSpPr>
        <p:spPr>
          <a:xfrm>
            <a:off x="6400800" y="41239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9</a:t>
            </a:r>
            <a:endParaRPr lang="en-US" sz="1400" dirty="0"/>
          </a:p>
        </p:txBody>
      </p:sp>
      <p:sp>
        <p:nvSpPr>
          <p:cNvPr id="45" name="Text 43"/>
          <p:cNvSpPr/>
          <p:nvPr/>
        </p:nvSpPr>
        <p:spPr>
          <a:xfrm>
            <a:off x="6995160" y="4041648"/>
            <a:ext cx="443484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Sensibilisation, communication, mobilisation sociale</a:t>
            </a:r>
            <a:endParaRPr lang="en-US" sz="1500" dirty="0"/>
          </a:p>
        </p:txBody>
      </p:sp>
      <p:sp>
        <p:nvSpPr>
          <p:cNvPr id="46" name="Shape 44"/>
          <p:cNvSpPr/>
          <p:nvPr/>
        </p:nvSpPr>
        <p:spPr>
          <a:xfrm>
            <a:off x="6263640" y="4718304"/>
            <a:ext cx="5303520" cy="585216"/>
          </a:xfrm>
          <a:prstGeom prst="roundRect">
            <a:avLst>
              <a:gd name="adj" fmla="val 14063"/>
            </a:avLst>
          </a:prstGeom>
          <a:solidFill>
            <a:srgbClr val="ECEAE4"/>
          </a:solidFill>
          <a:ln w="12700">
            <a:solidFill>
              <a:srgbClr val="ECEAE4"/>
            </a:solidFill>
            <a:prstDash val="solid"/>
          </a:ln>
        </p:spPr>
      </p:sp>
      <p:sp>
        <p:nvSpPr>
          <p:cNvPr id="47" name="Shape 45"/>
          <p:cNvSpPr/>
          <p:nvPr/>
        </p:nvSpPr>
        <p:spPr>
          <a:xfrm>
            <a:off x="6400800" y="4800600"/>
            <a:ext cx="420624" cy="420624"/>
          </a:xfrm>
          <a:prstGeom prst="ellipse">
            <a:avLst/>
          </a:prstGeom>
          <a:solidFill>
            <a:srgbClr val="B02532"/>
          </a:solidFill>
          <a:ln/>
        </p:spPr>
      </p:sp>
      <p:sp>
        <p:nvSpPr>
          <p:cNvPr id="48" name="Text 46"/>
          <p:cNvSpPr/>
          <p:nvPr/>
        </p:nvSpPr>
        <p:spPr>
          <a:xfrm>
            <a:off x="6400800" y="48006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10</a:t>
            </a:r>
            <a:endParaRPr lang="en-US" sz="1400" dirty="0"/>
          </a:p>
        </p:txBody>
      </p:sp>
      <p:sp>
        <p:nvSpPr>
          <p:cNvPr id="49" name="Text 47"/>
          <p:cNvSpPr/>
          <p:nvPr/>
        </p:nvSpPr>
        <p:spPr>
          <a:xfrm>
            <a:off x="6995160" y="4718304"/>
            <a:ext cx="3429000" cy="585216"/>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Recherche en santé publique</a:t>
            </a:r>
            <a:endParaRPr lang="en-US" sz="1500" dirty="0"/>
          </a:p>
        </p:txBody>
      </p:sp>
      <p:sp>
        <p:nvSpPr>
          <p:cNvPr id="50" name="Shape 48"/>
          <p:cNvSpPr/>
          <p:nvPr/>
        </p:nvSpPr>
        <p:spPr>
          <a:xfrm>
            <a:off x="10469880" y="4846320"/>
            <a:ext cx="1005840" cy="329184"/>
          </a:xfrm>
          <a:prstGeom prst="roundRect">
            <a:avLst>
              <a:gd name="adj" fmla="val 50000"/>
            </a:avLst>
          </a:prstGeom>
          <a:solidFill>
            <a:srgbClr val="27D3BE"/>
          </a:solidFill>
          <a:ln w="12700">
            <a:solidFill>
              <a:srgbClr val="27D3BE"/>
            </a:solidFill>
            <a:prstDash val="solid"/>
          </a:ln>
        </p:spPr>
      </p:sp>
      <p:sp>
        <p:nvSpPr>
          <p:cNvPr id="51" name="Text 49"/>
          <p:cNvSpPr/>
          <p:nvPr/>
        </p:nvSpPr>
        <p:spPr>
          <a:xfrm>
            <a:off x="10469880" y="4846320"/>
            <a:ext cx="1005840" cy="329184"/>
          </a:xfrm>
          <a:prstGeom prst="rect">
            <a:avLst/>
          </a:prstGeom>
          <a:noFill/>
          <a:ln/>
        </p:spPr>
        <p:txBody>
          <a:bodyPr wrap="square" lIns="0" tIns="0" rIns="0" bIns="0" rtlCol="0" anchor="ctr"/>
          <a:lstStyle/>
          <a:p>
            <a:pPr algn="ctr" indent="0" marL="0">
              <a:buNone/>
            </a:pPr>
            <a:r>
              <a:rPr lang="en-US" sz="1200" b="1" dirty="0">
                <a:solidFill>
                  <a:srgbClr val="073B34"/>
                </a:solidFill>
                <a:latin typeface="Palatino Linotype" pitchFamily="34" charset="0"/>
                <a:ea typeface="Palatino Linotype" pitchFamily="34" charset="-122"/>
                <a:cs typeface="Palatino Linotype" pitchFamily="34" charset="-120"/>
              </a:rPr>
              <a:t>information</a:t>
            </a:r>
            <a:endParaRPr lang="en-US" sz="1200" dirty="0"/>
          </a:p>
        </p:txBody>
      </p:sp>
      <p:sp>
        <p:nvSpPr>
          <p:cNvPr id="52" name="Shape 50"/>
          <p:cNvSpPr/>
          <p:nvPr/>
        </p:nvSpPr>
        <p:spPr>
          <a:xfrm>
            <a:off x="411480" y="3364992"/>
            <a:ext cx="54864" cy="1828800"/>
          </a:xfrm>
          <a:prstGeom prst="rect">
            <a:avLst/>
          </a:prstGeom>
          <a:solidFill>
            <a:srgbClr val="FFC24B"/>
          </a:solidFill>
          <a:ln w="12700">
            <a:solidFill>
              <a:srgbClr val="FFC24B"/>
            </a:solidFill>
            <a:prstDash val="solid"/>
          </a:ln>
        </p:spPr>
      </p:sp>
      <p:sp>
        <p:nvSpPr>
          <p:cNvPr id="53" name="Text 51"/>
          <p:cNvSpPr/>
          <p:nvPr/>
        </p:nvSpPr>
        <p:spPr>
          <a:xfrm>
            <a:off x="594360" y="5440680"/>
            <a:ext cx="5394960" cy="365760"/>
          </a:xfrm>
          <a:prstGeom prst="rect">
            <a:avLst/>
          </a:prstGeom>
          <a:noFill/>
          <a:ln/>
        </p:spPr>
        <p:txBody>
          <a:bodyPr wrap="square" lIns="0" tIns="0" rIns="0" bIns="0" rtlCol="0" anchor="t"/>
          <a:lstStyle/>
          <a:p>
            <a:pPr indent="0" marL="0">
              <a:buNone/>
            </a:pPr>
            <a:r>
              <a:rPr lang="en-US" sz="1500" b="1" dirty="0">
                <a:solidFill>
                  <a:srgbClr val="8A6100"/>
                </a:solidFill>
                <a:latin typeface="Palatino Linotype" pitchFamily="34" charset="0"/>
                <a:ea typeface="Palatino Linotype" pitchFamily="34" charset="-122"/>
                <a:cs typeface="Palatino Linotype" pitchFamily="34" charset="-120"/>
              </a:rPr>
              <a:t>EPHO 3, 4 et 5 : les services proprement dits.</a:t>
            </a:r>
            <a:endParaRPr lang="en-US" sz="1500" dirty="0"/>
          </a:p>
        </p:txBody>
      </p:sp>
      <p:sp>
        <p:nvSpPr>
          <p:cNvPr id="54" name="Text 52"/>
          <p:cNvSpPr/>
          <p:nvPr/>
        </p:nvSpPr>
        <p:spPr>
          <a:xfrm>
            <a:off x="6263640" y="5440680"/>
            <a:ext cx="5394960" cy="548640"/>
          </a:xfrm>
          <a:prstGeom prst="rect">
            <a:avLst/>
          </a:prstGeom>
          <a:noFill/>
          <a:ln/>
        </p:spPr>
        <p:txBody>
          <a:bodyPr wrap="square" lIns="0" tIns="0" rIns="0" bIns="0" rtlCol="0" anchor="t"/>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Les opérations d’information (1, 2 et 10) chevauchent les deux groupes.</a:t>
            </a:r>
            <a:endParaRPr lang="en-US" sz="1500" dirty="0"/>
          </a:p>
        </p:txBody>
      </p:sp>
      <p:sp>
        <p:nvSpPr>
          <p:cNvPr id="55" name="Text 5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Bureau régional de l’OMS pour l’Europe, Plan d’action européen (2012). Pour l’examen, on utilise le regroupement de 2012.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LE CAS DE ROUGEOLE, EN OPÉRATIONS</a:t>
            </a:r>
            <a:endParaRPr lang="en-US" sz="1300" dirty="0"/>
          </a:p>
        </p:txBody>
      </p:sp>
      <p:sp>
        <p:nvSpPr>
          <p:cNvPr id="3" name="Text 1"/>
          <p:cNvSpPr/>
          <p:nvPr/>
        </p:nvSpPr>
        <p:spPr>
          <a:xfrm>
            <a:off x="594360" y="713232"/>
            <a:ext cx="10972800" cy="91440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Un service sans les opérations qui le rendent possible reste un bâtiment vide</a:t>
            </a:r>
            <a:endParaRPr lang="en-US" sz="2800" dirty="0"/>
          </a:p>
        </p:txBody>
      </p:sp>
      <p:sp>
        <p:nvSpPr>
          <p:cNvPr id="4" name="Shape 2"/>
          <p:cNvSpPr/>
          <p:nvPr/>
        </p:nvSpPr>
        <p:spPr>
          <a:xfrm>
            <a:off x="2148840" y="2423160"/>
            <a:ext cx="3931920" cy="1371600"/>
          </a:xfrm>
          <a:prstGeom prst="line">
            <a:avLst/>
          </a:prstGeom>
          <a:noFill/>
          <a:ln w="19050">
            <a:solidFill>
              <a:srgbClr val="4A4F66"/>
            </a:solidFill>
            <a:prstDash val="solid"/>
          </a:ln>
        </p:spPr>
      </p:sp>
      <p:sp>
        <p:nvSpPr>
          <p:cNvPr id="5" name="Shape 3"/>
          <p:cNvSpPr/>
          <p:nvPr/>
        </p:nvSpPr>
        <p:spPr>
          <a:xfrm flipV="1">
            <a:off x="2148840" y="3794760"/>
            <a:ext cx="3931920" cy="868680"/>
          </a:xfrm>
          <a:prstGeom prst="line">
            <a:avLst/>
          </a:prstGeom>
          <a:noFill/>
          <a:ln w="19050">
            <a:solidFill>
              <a:srgbClr val="4A4F66"/>
            </a:solidFill>
            <a:prstDash val="solid"/>
          </a:ln>
        </p:spPr>
      </p:sp>
      <p:sp>
        <p:nvSpPr>
          <p:cNvPr id="6" name="Shape 4"/>
          <p:cNvSpPr/>
          <p:nvPr/>
        </p:nvSpPr>
        <p:spPr>
          <a:xfrm flipV="1">
            <a:off x="6080760" y="2286000"/>
            <a:ext cx="3931920" cy="1508760"/>
          </a:xfrm>
          <a:prstGeom prst="line">
            <a:avLst/>
          </a:prstGeom>
          <a:noFill/>
          <a:ln w="19050">
            <a:solidFill>
              <a:srgbClr val="4A4F66"/>
            </a:solidFill>
            <a:prstDash val="solid"/>
          </a:ln>
        </p:spPr>
      </p:sp>
      <p:sp>
        <p:nvSpPr>
          <p:cNvPr id="7" name="Shape 5"/>
          <p:cNvSpPr/>
          <p:nvPr/>
        </p:nvSpPr>
        <p:spPr>
          <a:xfrm flipV="1">
            <a:off x="6080760" y="3749040"/>
            <a:ext cx="3931920" cy="45720"/>
          </a:xfrm>
          <a:prstGeom prst="line">
            <a:avLst/>
          </a:prstGeom>
          <a:noFill/>
          <a:ln w="19050">
            <a:solidFill>
              <a:srgbClr val="4A4F66"/>
            </a:solidFill>
            <a:prstDash val="solid"/>
          </a:ln>
        </p:spPr>
      </p:sp>
      <p:sp>
        <p:nvSpPr>
          <p:cNvPr id="8" name="Shape 6"/>
          <p:cNvSpPr/>
          <p:nvPr/>
        </p:nvSpPr>
        <p:spPr>
          <a:xfrm>
            <a:off x="6080760" y="3794760"/>
            <a:ext cx="3931920" cy="1417320"/>
          </a:xfrm>
          <a:prstGeom prst="line">
            <a:avLst/>
          </a:prstGeom>
          <a:noFill/>
          <a:ln w="19050">
            <a:solidFill>
              <a:srgbClr val="4A4F66"/>
            </a:solidFill>
            <a:prstDash val="solid"/>
          </a:ln>
        </p:spPr>
      </p:sp>
      <p:sp>
        <p:nvSpPr>
          <p:cNvPr id="9" name="Shape 7"/>
          <p:cNvSpPr/>
          <p:nvPr/>
        </p:nvSpPr>
        <p:spPr>
          <a:xfrm>
            <a:off x="4617720" y="3017520"/>
            <a:ext cx="2926080" cy="1554480"/>
          </a:xfrm>
          <a:prstGeom prst="roundRect">
            <a:avLst>
              <a:gd name="adj" fmla="val 5294"/>
            </a:avLst>
          </a:prstGeom>
          <a:solidFill>
            <a:srgbClr val="9B7EF7"/>
          </a:solidFill>
          <a:ln w="12700">
            <a:solidFill>
              <a:srgbClr val="9B7EF7"/>
            </a:solidFill>
            <a:prstDash val="solid"/>
          </a:ln>
        </p:spPr>
      </p:sp>
      <p:sp>
        <p:nvSpPr>
          <p:cNvPr id="10" name="Text 8"/>
          <p:cNvSpPr/>
          <p:nvPr/>
        </p:nvSpPr>
        <p:spPr>
          <a:xfrm>
            <a:off x="4800600" y="3017520"/>
            <a:ext cx="2560320" cy="1554480"/>
          </a:xfrm>
          <a:prstGeom prst="rect">
            <a:avLst/>
          </a:prstGeom>
          <a:noFill/>
          <a:ln/>
        </p:spPr>
        <p:txBody>
          <a:bodyPr wrap="square" lIns="0" tIns="0" rIns="0" bIns="0" rtlCol="0" anchor="ctr"/>
          <a:lstStyle/>
          <a:p>
            <a:pPr algn="ctr" indent="0" marL="0">
              <a:buNone/>
            </a:pPr>
            <a:r>
              <a:rPr lang="en-US" sz="1500" b="1" dirty="0">
                <a:solidFill>
                  <a:srgbClr val="1F1040"/>
                </a:solidFill>
                <a:latin typeface="Palatino Linotype" pitchFamily="34" charset="0"/>
                <a:ea typeface="Palatino Linotype" pitchFamily="34" charset="-122"/>
                <a:cs typeface="Palatino Linotype" pitchFamily="34" charset="-120"/>
              </a:rPr>
              <a:t>EPHO 5</a:t>
            </a:r>
            <a:endParaRPr lang="en-US" sz="1500" dirty="0"/>
          </a:p>
          <a:p>
            <a:pPr algn="ctr" indent="0" marL="0">
              <a:buNone/>
            </a:pPr>
            <a:r>
              <a:rPr lang="en-US" sz="2100" b="1" dirty="0">
                <a:solidFill>
                  <a:srgbClr val="1F1040"/>
                </a:solidFill>
                <a:latin typeface="Palatino Linotype" pitchFamily="34" charset="0"/>
                <a:ea typeface="Palatino Linotype" pitchFamily="34" charset="-122"/>
                <a:cs typeface="Palatino Linotype" pitchFamily="34" charset="-120"/>
              </a:rPr>
              <a:t>Vaccination des contacts</a:t>
            </a:r>
            <a:endParaRPr lang="en-US" sz="1500" dirty="0"/>
          </a:p>
        </p:txBody>
      </p:sp>
      <p:sp>
        <p:nvSpPr>
          <p:cNvPr id="11" name="Shape 9"/>
          <p:cNvSpPr/>
          <p:nvPr/>
        </p:nvSpPr>
        <p:spPr>
          <a:xfrm>
            <a:off x="594360" y="1920240"/>
            <a:ext cx="3108960" cy="1005840"/>
          </a:xfrm>
          <a:prstGeom prst="roundRect">
            <a:avLst>
              <a:gd name="adj" fmla="val 8182"/>
            </a:avLst>
          </a:prstGeom>
          <a:solidFill>
            <a:srgbClr val="272A38"/>
          </a:solidFill>
          <a:ln w="12700">
            <a:solidFill>
              <a:srgbClr val="272A38"/>
            </a:solidFill>
            <a:prstDash val="solid"/>
          </a:ln>
        </p:spPr>
      </p:sp>
      <p:sp>
        <p:nvSpPr>
          <p:cNvPr id="12" name="Text 10"/>
          <p:cNvSpPr/>
          <p:nvPr/>
        </p:nvSpPr>
        <p:spPr>
          <a:xfrm>
            <a:off x="777240" y="1920240"/>
            <a:ext cx="2743200" cy="1005840"/>
          </a:xfrm>
          <a:prstGeom prst="rect">
            <a:avLst/>
          </a:prstGeom>
          <a:noFill/>
          <a:ln/>
        </p:spPr>
        <p:txBody>
          <a:bodyPr wrap="square" lIns="0" tIns="0" rIns="0" bIns="0" rtlCol="0" anchor="ctr"/>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EPHO 1</a:t>
            </a:r>
            <a:endParaRPr lang="en-US" sz="1500" dirty="0"/>
          </a:p>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la surveillance</a:t>
            </a:r>
            <a:endParaRPr lang="en-US" sz="1500" dirty="0"/>
          </a:p>
        </p:txBody>
      </p:sp>
      <p:sp>
        <p:nvSpPr>
          <p:cNvPr id="13" name="Shape 11"/>
          <p:cNvSpPr/>
          <p:nvPr/>
        </p:nvSpPr>
        <p:spPr>
          <a:xfrm>
            <a:off x="594360" y="4160520"/>
            <a:ext cx="3108960" cy="1005840"/>
          </a:xfrm>
          <a:prstGeom prst="roundRect">
            <a:avLst>
              <a:gd name="adj" fmla="val 8182"/>
            </a:avLst>
          </a:prstGeom>
          <a:solidFill>
            <a:srgbClr val="272A38"/>
          </a:solidFill>
          <a:ln w="12700">
            <a:solidFill>
              <a:srgbClr val="272A38"/>
            </a:solidFill>
            <a:prstDash val="solid"/>
          </a:ln>
        </p:spPr>
      </p:sp>
      <p:sp>
        <p:nvSpPr>
          <p:cNvPr id="14" name="Text 12"/>
          <p:cNvSpPr/>
          <p:nvPr/>
        </p:nvSpPr>
        <p:spPr>
          <a:xfrm>
            <a:off x="777240" y="4160520"/>
            <a:ext cx="2743200" cy="1005840"/>
          </a:xfrm>
          <a:prstGeom prst="rect">
            <a:avLst/>
          </a:prstGeom>
          <a:noFill/>
          <a:ln/>
        </p:spPr>
        <p:txBody>
          <a:bodyPr wrap="square" lIns="0" tIns="0" rIns="0" bIns="0" rtlCol="0" anchor="ctr"/>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EPHO 2</a:t>
            </a:r>
            <a:endParaRPr lang="en-US" sz="1500" dirty="0"/>
          </a:p>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la réponse au foyer</a:t>
            </a:r>
            <a:endParaRPr lang="en-US" sz="1500" dirty="0"/>
          </a:p>
        </p:txBody>
      </p:sp>
      <p:sp>
        <p:nvSpPr>
          <p:cNvPr id="15" name="Shape 13"/>
          <p:cNvSpPr/>
          <p:nvPr/>
        </p:nvSpPr>
        <p:spPr>
          <a:xfrm>
            <a:off x="8458200" y="1783080"/>
            <a:ext cx="3108960" cy="1005840"/>
          </a:xfrm>
          <a:prstGeom prst="roundRect">
            <a:avLst>
              <a:gd name="adj" fmla="val 8182"/>
            </a:avLst>
          </a:prstGeom>
          <a:solidFill>
            <a:srgbClr val="272A38"/>
          </a:solidFill>
          <a:ln w="12700">
            <a:solidFill>
              <a:srgbClr val="272A38"/>
            </a:solidFill>
            <a:prstDash val="solid"/>
          </a:ln>
        </p:spPr>
      </p:sp>
      <p:sp>
        <p:nvSpPr>
          <p:cNvPr id="16" name="Text 14"/>
          <p:cNvSpPr/>
          <p:nvPr/>
        </p:nvSpPr>
        <p:spPr>
          <a:xfrm>
            <a:off x="8641080" y="1783080"/>
            <a:ext cx="2743200" cy="1005840"/>
          </a:xfrm>
          <a:prstGeom prst="rect">
            <a:avLst/>
          </a:prstGeom>
          <a:noFill/>
          <a:ln/>
        </p:spPr>
        <p:txBody>
          <a:bodyPr wrap="square" lIns="0" tIns="0" rIns="0" bIns="0" rtlCol="0" anchor="ctr"/>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EPHO 7</a:t>
            </a:r>
            <a:endParaRPr lang="en-US" sz="1500" dirty="0"/>
          </a:p>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du personnel formé dans les DSP</a:t>
            </a:r>
            <a:endParaRPr lang="en-US" sz="1500" dirty="0"/>
          </a:p>
        </p:txBody>
      </p:sp>
      <p:sp>
        <p:nvSpPr>
          <p:cNvPr id="17" name="Shape 15"/>
          <p:cNvSpPr/>
          <p:nvPr/>
        </p:nvSpPr>
        <p:spPr>
          <a:xfrm>
            <a:off x="8458200" y="3246120"/>
            <a:ext cx="3108960" cy="1005840"/>
          </a:xfrm>
          <a:prstGeom prst="roundRect">
            <a:avLst>
              <a:gd name="adj" fmla="val 8182"/>
            </a:avLst>
          </a:prstGeom>
          <a:solidFill>
            <a:srgbClr val="272A38"/>
          </a:solidFill>
          <a:ln w="12700">
            <a:solidFill>
              <a:srgbClr val="272A38"/>
            </a:solidFill>
            <a:prstDash val="solid"/>
          </a:ln>
        </p:spPr>
      </p:sp>
      <p:sp>
        <p:nvSpPr>
          <p:cNvPr id="18" name="Text 16"/>
          <p:cNvSpPr/>
          <p:nvPr/>
        </p:nvSpPr>
        <p:spPr>
          <a:xfrm>
            <a:off x="8641080" y="3246120"/>
            <a:ext cx="2743200" cy="1005840"/>
          </a:xfrm>
          <a:prstGeom prst="rect">
            <a:avLst/>
          </a:prstGeom>
          <a:noFill/>
          <a:ln/>
        </p:spPr>
        <p:txBody>
          <a:bodyPr wrap="square" lIns="0" tIns="0" rIns="0" bIns="0" rtlCol="0" anchor="ctr"/>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EPHO 8</a:t>
            </a:r>
            <a:endParaRPr lang="en-US" sz="1500" dirty="0"/>
          </a:p>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des fonds pour le vaccin et les équipes</a:t>
            </a:r>
            <a:endParaRPr lang="en-US" sz="1500" dirty="0"/>
          </a:p>
        </p:txBody>
      </p:sp>
      <p:sp>
        <p:nvSpPr>
          <p:cNvPr id="19" name="Shape 17"/>
          <p:cNvSpPr/>
          <p:nvPr/>
        </p:nvSpPr>
        <p:spPr>
          <a:xfrm>
            <a:off x="8458200" y="4709160"/>
            <a:ext cx="3108960" cy="1005840"/>
          </a:xfrm>
          <a:prstGeom prst="roundRect">
            <a:avLst>
              <a:gd name="adj" fmla="val 8182"/>
            </a:avLst>
          </a:prstGeom>
          <a:solidFill>
            <a:srgbClr val="272A38"/>
          </a:solidFill>
          <a:ln w="12700">
            <a:solidFill>
              <a:srgbClr val="272A38"/>
            </a:solidFill>
            <a:prstDash val="solid"/>
          </a:ln>
        </p:spPr>
      </p:sp>
      <p:sp>
        <p:nvSpPr>
          <p:cNvPr id="20" name="Text 18"/>
          <p:cNvSpPr/>
          <p:nvPr/>
        </p:nvSpPr>
        <p:spPr>
          <a:xfrm>
            <a:off x="8641080" y="4709160"/>
            <a:ext cx="2743200" cy="1005840"/>
          </a:xfrm>
          <a:prstGeom prst="rect">
            <a:avLst/>
          </a:prstGeom>
          <a:noFill/>
          <a:ln/>
        </p:spPr>
        <p:txBody>
          <a:bodyPr wrap="square" lIns="0" tIns="0" rIns="0" bIns="0" rtlCol="0" anchor="ctr"/>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EPHO 9</a:t>
            </a:r>
            <a:endParaRPr lang="en-US" sz="1500" dirty="0"/>
          </a:p>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la communication avec une famille qui peut manquer de confiance</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CLASSEMENT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RESSOURCES LIMITÉES</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Dans quel ordre investiriez-vous ?</a:t>
            </a:r>
            <a:endParaRPr lang="en-US" sz="3400" dirty="0"/>
          </a:p>
        </p:txBody>
      </p:sp>
      <p:sp>
        <p:nvSpPr>
          <p:cNvPr id="6" name="Shape 4"/>
          <p:cNvSpPr/>
          <p:nvPr/>
        </p:nvSpPr>
        <p:spPr>
          <a:xfrm>
            <a:off x="594360" y="1783080"/>
            <a:ext cx="10972800" cy="932688"/>
          </a:xfrm>
          <a:prstGeom prst="roundRect">
            <a:avLst>
              <a:gd name="adj" fmla="val 8824"/>
            </a:avLst>
          </a:prstGeom>
          <a:solidFill>
            <a:srgbClr val="1D1F2B"/>
          </a:solidFill>
          <a:ln w="12700">
            <a:solidFill>
              <a:srgbClr val="1D1F2B"/>
            </a:solidFill>
            <a:prstDash val="solid"/>
          </a:ln>
        </p:spPr>
      </p:sp>
      <p:sp>
        <p:nvSpPr>
          <p:cNvPr id="7" name="Shape 5"/>
          <p:cNvSpPr/>
          <p:nvPr/>
        </p:nvSpPr>
        <p:spPr>
          <a:xfrm>
            <a:off x="868680" y="2039112"/>
            <a:ext cx="420624" cy="420624"/>
          </a:xfrm>
          <a:prstGeom prst="ellipse">
            <a:avLst/>
          </a:prstGeom>
          <a:solidFill>
            <a:srgbClr val="FFC24B"/>
          </a:solidFill>
          <a:ln/>
        </p:spPr>
      </p:sp>
      <p:sp>
        <p:nvSpPr>
          <p:cNvPr id="8" name="Text 6"/>
          <p:cNvSpPr/>
          <p:nvPr/>
        </p:nvSpPr>
        <p:spPr>
          <a:xfrm>
            <a:off x="868680" y="20391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508760" y="1783080"/>
            <a:ext cx="9829800" cy="9326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Les services : la protection, la promotion et la prévention</a:t>
            </a:r>
            <a:endParaRPr lang="en-US" sz="1800" dirty="0"/>
          </a:p>
        </p:txBody>
      </p:sp>
      <p:sp>
        <p:nvSpPr>
          <p:cNvPr id="10" name="Shape 8"/>
          <p:cNvSpPr/>
          <p:nvPr/>
        </p:nvSpPr>
        <p:spPr>
          <a:xfrm>
            <a:off x="594360" y="2880360"/>
            <a:ext cx="10972800" cy="932688"/>
          </a:xfrm>
          <a:prstGeom prst="roundRect">
            <a:avLst>
              <a:gd name="adj" fmla="val 8824"/>
            </a:avLst>
          </a:prstGeom>
          <a:solidFill>
            <a:srgbClr val="1D1F2B"/>
          </a:solidFill>
          <a:ln w="12700">
            <a:solidFill>
              <a:srgbClr val="1D1F2B"/>
            </a:solidFill>
            <a:prstDash val="solid"/>
          </a:ln>
        </p:spPr>
      </p:sp>
      <p:sp>
        <p:nvSpPr>
          <p:cNvPr id="11" name="Shape 9"/>
          <p:cNvSpPr/>
          <p:nvPr/>
        </p:nvSpPr>
        <p:spPr>
          <a:xfrm>
            <a:off x="868680" y="3136392"/>
            <a:ext cx="420624" cy="420624"/>
          </a:xfrm>
          <a:prstGeom prst="ellipse">
            <a:avLst/>
          </a:prstGeom>
          <a:solidFill>
            <a:srgbClr val="FFC24B"/>
          </a:solidFill>
          <a:ln/>
        </p:spPr>
      </p:sp>
      <p:sp>
        <p:nvSpPr>
          <p:cNvPr id="12" name="Text 10"/>
          <p:cNvSpPr/>
          <p:nvPr/>
        </p:nvSpPr>
        <p:spPr>
          <a:xfrm>
            <a:off x="868680" y="31363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508760" y="2880360"/>
            <a:ext cx="9829800" cy="9326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Les opérations d’information : la surveillance, la réponse aux urgences et la recherche</a:t>
            </a:r>
            <a:endParaRPr lang="en-US" sz="1800" dirty="0"/>
          </a:p>
        </p:txBody>
      </p:sp>
      <p:sp>
        <p:nvSpPr>
          <p:cNvPr id="14" name="Shape 12"/>
          <p:cNvSpPr/>
          <p:nvPr/>
        </p:nvSpPr>
        <p:spPr>
          <a:xfrm>
            <a:off x="594360" y="3977640"/>
            <a:ext cx="10972800" cy="932688"/>
          </a:xfrm>
          <a:prstGeom prst="roundRect">
            <a:avLst>
              <a:gd name="adj" fmla="val 8824"/>
            </a:avLst>
          </a:prstGeom>
          <a:solidFill>
            <a:srgbClr val="1D1F2B"/>
          </a:solidFill>
          <a:ln w="12700">
            <a:solidFill>
              <a:srgbClr val="1D1F2B"/>
            </a:solidFill>
            <a:prstDash val="solid"/>
          </a:ln>
        </p:spPr>
      </p:sp>
      <p:sp>
        <p:nvSpPr>
          <p:cNvPr id="15" name="Shape 13"/>
          <p:cNvSpPr/>
          <p:nvPr/>
        </p:nvSpPr>
        <p:spPr>
          <a:xfrm>
            <a:off x="868680" y="4233672"/>
            <a:ext cx="420624" cy="420624"/>
          </a:xfrm>
          <a:prstGeom prst="ellipse">
            <a:avLst/>
          </a:prstGeom>
          <a:solidFill>
            <a:srgbClr val="FFC24B"/>
          </a:solidFill>
          <a:ln/>
        </p:spPr>
      </p:sp>
      <p:sp>
        <p:nvSpPr>
          <p:cNvPr id="16" name="Text 14"/>
          <p:cNvSpPr/>
          <p:nvPr/>
        </p:nvSpPr>
        <p:spPr>
          <a:xfrm>
            <a:off x="868680" y="42336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508760" y="3977640"/>
            <a:ext cx="9829800" cy="93268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Les opérations qui rendent les services possibles : la gouvernance, le personnel, les structures et le financement, la communication et la recherche</a:t>
            </a:r>
            <a:endParaRPr lang="en-US" sz="1800" dirty="0"/>
          </a:p>
        </p:txBody>
      </p:sp>
      <p:sp>
        <p:nvSpPr>
          <p:cNvPr id="18" name="Text 16"/>
          <p:cNvSpPr/>
          <p:nvPr/>
        </p:nvSpPr>
        <p:spPr>
          <a:xfrm>
            <a:off x="594360" y="5257800"/>
            <a:ext cx="10972800" cy="45720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Il n’existe pas d’ordre correct unique. La discussion porte sur la dépendance entre les groupes.</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D’OÙ ELLES VIENNENT ET CE QUI A SUIVI</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La même idée, plusieurs listes</a:t>
            </a:r>
            <a:endParaRPr lang="en-US" sz="3200" dirty="0"/>
          </a:p>
        </p:txBody>
      </p:sp>
      <p:sp>
        <p:nvSpPr>
          <p:cNvPr id="4" name="Shape 2"/>
          <p:cNvSpPr/>
          <p:nvPr/>
        </p:nvSpPr>
        <p:spPr>
          <a:xfrm>
            <a:off x="594360" y="2148840"/>
            <a:ext cx="10972800" cy="27432"/>
          </a:xfrm>
          <a:prstGeom prst="rect">
            <a:avLst/>
          </a:prstGeom>
          <a:solidFill>
            <a:srgbClr val="C9C6BE"/>
          </a:solidFill>
          <a:ln w="12700">
            <a:solidFill>
              <a:srgbClr val="C9C6BE"/>
            </a:solidFill>
            <a:prstDash val="solid"/>
          </a:ln>
        </p:spPr>
      </p:sp>
      <p:sp>
        <p:nvSpPr>
          <p:cNvPr id="5" name="Shape 3"/>
          <p:cNvSpPr/>
          <p:nvPr/>
        </p:nvSpPr>
        <p:spPr>
          <a:xfrm>
            <a:off x="612648" y="2057400"/>
            <a:ext cx="219456" cy="219456"/>
          </a:xfrm>
          <a:prstGeom prst="ellipse">
            <a:avLst/>
          </a:prstGeom>
          <a:solidFill>
            <a:srgbClr val="4A2D8C"/>
          </a:solidFill>
          <a:ln w="12700">
            <a:solidFill>
              <a:srgbClr val="4A2D8C"/>
            </a:solidFill>
            <a:prstDash val="solid"/>
          </a:ln>
        </p:spPr>
      </p:sp>
      <p:sp>
        <p:nvSpPr>
          <p:cNvPr id="6" name="Text 4"/>
          <p:cNvSpPr/>
          <p:nvPr/>
        </p:nvSpPr>
        <p:spPr>
          <a:xfrm>
            <a:off x="594360" y="1600200"/>
            <a:ext cx="1691640" cy="384048"/>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1988</a:t>
            </a:r>
            <a:endParaRPr lang="en-US" sz="2200" dirty="0"/>
          </a:p>
        </p:txBody>
      </p:sp>
      <p:sp>
        <p:nvSpPr>
          <p:cNvPr id="7" name="Text 5"/>
          <p:cNvSpPr/>
          <p:nvPr/>
        </p:nvSpPr>
        <p:spPr>
          <a:xfrm>
            <a:off x="594360" y="2423160"/>
            <a:ext cx="1664208" cy="566928"/>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IOM, États-Unis</a:t>
            </a:r>
            <a:endParaRPr lang="en-US" sz="1400" dirty="0"/>
          </a:p>
        </p:txBody>
      </p:sp>
      <p:sp>
        <p:nvSpPr>
          <p:cNvPr id="8" name="Text 6"/>
          <p:cNvSpPr/>
          <p:nvPr/>
        </p:nvSpPr>
        <p:spPr>
          <a:xfrm>
            <a:off x="594360" y="2990088"/>
            <a:ext cx="1664208" cy="1920240"/>
          </a:xfrm>
          <a:prstGeom prst="rect">
            <a:avLst/>
          </a:prstGeom>
          <a:noFill/>
          <a:ln/>
        </p:spPr>
        <p:txBody>
          <a:bodyPr wrap="square" lIns="0" tIns="0" rIns="0" bIns="0" rtlCol="0" anchor="t"/>
          <a:lstStyle/>
          <a:p>
            <a:pPr indent="0" marL="0">
              <a:buNone/>
            </a:pPr>
            <a:r>
              <a:rPr lang="en-US" sz="1350" dirty="0">
                <a:solidFill>
                  <a:srgbClr val="3A3C44"/>
                </a:solidFill>
                <a:latin typeface="Palatino Linotype" pitchFamily="34" charset="0"/>
                <a:ea typeface="Palatino Linotype" pitchFamily="34" charset="-122"/>
                <a:cs typeface="Palatino Linotype" pitchFamily="34" charset="-120"/>
              </a:rPr>
              <a:t>Trois fonctions de base : évaluation, élaboration des politiques, assurance.</a:t>
            </a:r>
            <a:endParaRPr lang="en-US" sz="1350" dirty="0"/>
          </a:p>
        </p:txBody>
      </p:sp>
      <p:sp>
        <p:nvSpPr>
          <p:cNvPr id="9" name="Shape 7"/>
          <p:cNvSpPr/>
          <p:nvPr/>
        </p:nvSpPr>
        <p:spPr>
          <a:xfrm>
            <a:off x="2441448" y="2057400"/>
            <a:ext cx="219456" cy="219456"/>
          </a:xfrm>
          <a:prstGeom prst="ellipse">
            <a:avLst/>
          </a:prstGeom>
          <a:solidFill>
            <a:srgbClr val="4A2D8C"/>
          </a:solidFill>
          <a:ln w="12700">
            <a:solidFill>
              <a:srgbClr val="4A2D8C"/>
            </a:solidFill>
            <a:prstDash val="solid"/>
          </a:ln>
        </p:spPr>
      </p:sp>
      <p:sp>
        <p:nvSpPr>
          <p:cNvPr id="10" name="Text 8"/>
          <p:cNvSpPr/>
          <p:nvPr/>
        </p:nvSpPr>
        <p:spPr>
          <a:xfrm>
            <a:off x="2423160" y="1600200"/>
            <a:ext cx="1691640" cy="384048"/>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1994</a:t>
            </a:r>
            <a:endParaRPr lang="en-US" sz="2200" dirty="0"/>
          </a:p>
        </p:txBody>
      </p:sp>
      <p:sp>
        <p:nvSpPr>
          <p:cNvPr id="11" name="Text 9"/>
          <p:cNvSpPr/>
          <p:nvPr/>
        </p:nvSpPr>
        <p:spPr>
          <a:xfrm>
            <a:off x="2423160" y="2423160"/>
            <a:ext cx="1664208" cy="566928"/>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Dix services, États-Unis</a:t>
            </a:r>
            <a:endParaRPr lang="en-US" sz="1400" dirty="0"/>
          </a:p>
        </p:txBody>
      </p:sp>
      <p:sp>
        <p:nvSpPr>
          <p:cNvPr id="12" name="Text 10"/>
          <p:cNvSpPr/>
          <p:nvPr/>
        </p:nvSpPr>
        <p:spPr>
          <a:xfrm>
            <a:off x="2423160" y="2990088"/>
            <a:ext cx="1664208" cy="1920240"/>
          </a:xfrm>
          <a:prstGeom prst="rect">
            <a:avLst/>
          </a:prstGeom>
          <a:noFill/>
          <a:ln/>
        </p:spPr>
        <p:txBody>
          <a:bodyPr wrap="square" lIns="0" tIns="0" rIns="0" bIns="0" rtlCol="0" anchor="t"/>
          <a:lstStyle/>
          <a:p>
            <a:pPr indent="0" marL="0">
              <a:buNone/>
            </a:pPr>
            <a:r>
              <a:rPr lang="en-US" sz="1350" dirty="0">
                <a:solidFill>
                  <a:srgbClr val="3A3C44"/>
                </a:solidFill>
                <a:latin typeface="Palatino Linotype" pitchFamily="34" charset="0"/>
                <a:ea typeface="Palatino Linotype" pitchFamily="34" charset="-122"/>
                <a:cs typeface="Palatino Linotype" pitchFamily="34" charset="-120"/>
              </a:rPr>
              <a:t>Révisés en 2020, avec l’équité au centre.</a:t>
            </a:r>
            <a:endParaRPr lang="en-US" sz="1350" dirty="0"/>
          </a:p>
        </p:txBody>
      </p:sp>
      <p:sp>
        <p:nvSpPr>
          <p:cNvPr id="13" name="Shape 11"/>
          <p:cNvSpPr/>
          <p:nvPr/>
        </p:nvSpPr>
        <p:spPr>
          <a:xfrm>
            <a:off x="4270248" y="2057400"/>
            <a:ext cx="219456" cy="219456"/>
          </a:xfrm>
          <a:prstGeom prst="ellipse">
            <a:avLst/>
          </a:prstGeom>
          <a:solidFill>
            <a:srgbClr val="4A2D8C"/>
          </a:solidFill>
          <a:ln w="12700">
            <a:solidFill>
              <a:srgbClr val="4A2D8C"/>
            </a:solidFill>
            <a:prstDash val="solid"/>
          </a:ln>
        </p:spPr>
      </p:sp>
      <p:sp>
        <p:nvSpPr>
          <p:cNvPr id="14" name="Text 12"/>
          <p:cNvSpPr/>
          <p:nvPr/>
        </p:nvSpPr>
        <p:spPr>
          <a:xfrm>
            <a:off x="4251960" y="1600200"/>
            <a:ext cx="1691640" cy="384048"/>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2012</a:t>
            </a:r>
            <a:endParaRPr lang="en-US" sz="2200" dirty="0"/>
          </a:p>
        </p:txBody>
      </p:sp>
      <p:sp>
        <p:nvSpPr>
          <p:cNvPr id="15" name="Text 13"/>
          <p:cNvSpPr/>
          <p:nvPr/>
        </p:nvSpPr>
        <p:spPr>
          <a:xfrm>
            <a:off x="4251960" y="2423160"/>
            <a:ext cx="1664208" cy="566928"/>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Dix OESP</a:t>
            </a:r>
            <a:endParaRPr lang="en-US" sz="1400" dirty="0"/>
          </a:p>
        </p:txBody>
      </p:sp>
      <p:sp>
        <p:nvSpPr>
          <p:cNvPr id="16" name="Text 14"/>
          <p:cNvSpPr/>
          <p:nvPr/>
        </p:nvSpPr>
        <p:spPr>
          <a:xfrm>
            <a:off x="4251960" y="2990088"/>
            <a:ext cx="1664208" cy="1920240"/>
          </a:xfrm>
          <a:prstGeom prst="rect">
            <a:avLst/>
          </a:prstGeom>
          <a:noFill/>
          <a:ln/>
        </p:spPr>
        <p:txBody>
          <a:bodyPr wrap="square" lIns="0" tIns="0" rIns="0" bIns="0" rtlCol="0" anchor="t"/>
          <a:lstStyle/>
          <a:p>
            <a:pPr indent="0" marL="0">
              <a:buNone/>
            </a:pPr>
            <a:r>
              <a:rPr lang="en-US" sz="1350" dirty="0">
                <a:solidFill>
                  <a:srgbClr val="3A3C44"/>
                </a:solidFill>
                <a:latin typeface="Palatino Linotype" pitchFamily="34" charset="0"/>
                <a:ea typeface="Palatino Linotype" pitchFamily="34" charset="-122"/>
                <a:cs typeface="Palatino Linotype" pitchFamily="34" charset="-120"/>
              </a:rPr>
              <a:t>Bureau régional de l’OMS pour l’Europe.</a:t>
            </a:r>
            <a:endParaRPr lang="en-US" sz="1350" dirty="0"/>
          </a:p>
        </p:txBody>
      </p:sp>
      <p:sp>
        <p:nvSpPr>
          <p:cNvPr id="17" name="Shape 15"/>
          <p:cNvSpPr/>
          <p:nvPr/>
        </p:nvSpPr>
        <p:spPr>
          <a:xfrm>
            <a:off x="6099048" y="2057400"/>
            <a:ext cx="219456" cy="219456"/>
          </a:xfrm>
          <a:prstGeom prst="ellipse">
            <a:avLst/>
          </a:prstGeom>
          <a:solidFill>
            <a:srgbClr val="4A2D8C"/>
          </a:solidFill>
          <a:ln w="12700">
            <a:solidFill>
              <a:srgbClr val="4A2D8C"/>
            </a:solidFill>
            <a:prstDash val="solid"/>
          </a:ln>
        </p:spPr>
      </p:sp>
      <p:sp>
        <p:nvSpPr>
          <p:cNvPr id="18" name="Text 16"/>
          <p:cNvSpPr/>
          <p:nvPr/>
        </p:nvSpPr>
        <p:spPr>
          <a:xfrm>
            <a:off x="6080760" y="1600200"/>
            <a:ext cx="1691640" cy="384048"/>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2015</a:t>
            </a:r>
            <a:endParaRPr lang="en-US" sz="2200" dirty="0"/>
          </a:p>
        </p:txBody>
      </p:sp>
      <p:sp>
        <p:nvSpPr>
          <p:cNvPr id="19" name="Text 17"/>
          <p:cNvSpPr/>
          <p:nvPr/>
        </p:nvSpPr>
        <p:spPr>
          <a:xfrm>
            <a:off x="6080760" y="2423160"/>
            <a:ext cx="1664208" cy="566928"/>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Autoévaluation</a:t>
            </a:r>
            <a:endParaRPr lang="en-US" sz="1400" dirty="0"/>
          </a:p>
        </p:txBody>
      </p:sp>
      <p:sp>
        <p:nvSpPr>
          <p:cNvPr id="20" name="Text 18"/>
          <p:cNvSpPr/>
          <p:nvPr/>
        </p:nvSpPr>
        <p:spPr>
          <a:xfrm>
            <a:off x="6080760" y="2990088"/>
            <a:ext cx="1664208" cy="1920240"/>
          </a:xfrm>
          <a:prstGeom prst="rect">
            <a:avLst/>
          </a:prstGeom>
          <a:noFill/>
          <a:ln/>
        </p:spPr>
        <p:txBody>
          <a:bodyPr wrap="square" lIns="0" tIns="0" rIns="0" bIns="0" rtlCol="0" anchor="t"/>
          <a:lstStyle/>
          <a:p>
            <a:pPr indent="0" marL="0">
              <a:buNone/>
            </a:pPr>
            <a:r>
              <a:rPr lang="en-US" sz="1350" dirty="0">
                <a:solidFill>
                  <a:srgbClr val="3A3C44"/>
                </a:solidFill>
                <a:latin typeface="Palatino Linotype" pitchFamily="34" charset="0"/>
                <a:ea typeface="Palatino Linotype" pitchFamily="34" charset="-122"/>
                <a:cs typeface="Palatino Linotype" pitchFamily="34" charset="-120"/>
              </a:rPr>
              <a:t>L’instrument européen : des critères vérifiables pour chaque opération.</a:t>
            </a:r>
            <a:endParaRPr lang="en-US" sz="1350" dirty="0"/>
          </a:p>
        </p:txBody>
      </p:sp>
      <p:sp>
        <p:nvSpPr>
          <p:cNvPr id="21" name="Shape 19"/>
          <p:cNvSpPr/>
          <p:nvPr/>
        </p:nvSpPr>
        <p:spPr>
          <a:xfrm>
            <a:off x="7927848" y="2057400"/>
            <a:ext cx="219456" cy="219456"/>
          </a:xfrm>
          <a:prstGeom prst="ellipse">
            <a:avLst/>
          </a:prstGeom>
          <a:solidFill>
            <a:srgbClr val="4A2D8C"/>
          </a:solidFill>
          <a:ln w="12700">
            <a:solidFill>
              <a:srgbClr val="4A2D8C"/>
            </a:solidFill>
            <a:prstDash val="solid"/>
          </a:ln>
        </p:spPr>
      </p:sp>
      <p:sp>
        <p:nvSpPr>
          <p:cNvPr id="22" name="Text 20"/>
          <p:cNvSpPr/>
          <p:nvPr/>
        </p:nvSpPr>
        <p:spPr>
          <a:xfrm>
            <a:off x="7909560" y="1600200"/>
            <a:ext cx="1691640" cy="384048"/>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2021</a:t>
            </a:r>
            <a:endParaRPr lang="en-US" sz="2200" dirty="0"/>
          </a:p>
        </p:txBody>
      </p:sp>
      <p:sp>
        <p:nvSpPr>
          <p:cNvPr id="23" name="Text 21"/>
          <p:cNvSpPr/>
          <p:nvPr/>
        </p:nvSpPr>
        <p:spPr>
          <a:xfrm>
            <a:off x="7909560" y="2423160"/>
            <a:ext cx="1664208" cy="566928"/>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12 fonctions, OMS</a:t>
            </a:r>
            <a:endParaRPr lang="en-US" sz="1400" dirty="0"/>
          </a:p>
        </p:txBody>
      </p:sp>
      <p:sp>
        <p:nvSpPr>
          <p:cNvPr id="24" name="Text 22"/>
          <p:cNvSpPr/>
          <p:nvPr/>
        </p:nvSpPr>
        <p:spPr>
          <a:xfrm>
            <a:off x="7909560" y="2990088"/>
            <a:ext cx="1664208" cy="1920240"/>
          </a:xfrm>
          <a:prstGeom prst="rect">
            <a:avLst/>
          </a:prstGeom>
          <a:noFill/>
          <a:ln/>
        </p:spPr>
        <p:txBody>
          <a:bodyPr wrap="square" lIns="0" tIns="0" rIns="0" bIns="0" rtlCol="0" anchor="t"/>
          <a:lstStyle/>
          <a:p>
            <a:pPr indent="0" marL="0">
              <a:buNone/>
            </a:pPr>
            <a:r>
              <a:rPr lang="en-US" sz="1350" dirty="0">
                <a:solidFill>
                  <a:srgbClr val="3A3C44"/>
                </a:solidFill>
                <a:latin typeface="Palatino Linotype" pitchFamily="34" charset="0"/>
                <a:ea typeface="Palatino Linotype" pitchFamily="34" charset="-122"/>
                <a:cs typeface="Palatino Linotype" pitchFamily="34" charset="-120"/>
              </a:rPr>
              <a:t>Liste mondiale unifiée (EPHF).</a:t>
            </a:r>
            <a:endParaRPr lang="en-US" sz="1350" dirty="0"/>
          </a:p>
        </p:txBody>
      </p:sp>
      <p:sp>
        <p:nvSpPr>
          <p:cNvPr id="25" name="Shape 23"/>
          <p:cNvSpPr/>
          <p:nvPr/>
        </p:nvSpPr>
        <p:spPr>
          <a:xfrm>
            <a:off x="9756648" y="2057400"/>
            <a:ext cx="219456" cy="219456"/>
          </a:xfrm>
          <a:prstGeom prst="ellipse">
            <a:avLst/>
          </a:prstGeom>
          <a:solidFill>
            <a:srgbClr val="4A2D8C"/>
          </a:solidFill>
          <a:ln w="12700">
            <a:solidFill>
              <a:srgbClr val="4A2D8C"/>
            </a:solidFill>
            <a:prstDash val="solid"/>
          </a:ln>
        </p:spPr>
      </p:sp>
      <p:sp>
        <p:nvSpPr>
          <p:cNvPr id="26" name="Text 24"/>
          <p:cNvSpPr/>
          <p:nvPr/>
        </p:nvSpPr>
        <p:spPr>
          <a:xfrm>
            <a:off x="9738360" y="1600200"/>
            <a:ext cx="1691640" cy="384048"/>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2024</a:t>
            </a:r>
            <a:endParaRPr lang="en-US" sz="2200" dirty="0"/>
          </a:p>
        </p:txBody>
      </p:sp>
      <p:sp>
        <p:nvSpPr>
          <p:cNvPr id="27" name="Text 25"/>
          <p:cNvSpPr/>
          <p:nvPr/>
        </p:nvSpPr>
        <p:spPr>
          <a:xfrm>
            <a:off x="9738360" y="2423160"/>
            <a:ext cx="1664208" cy="566928"/>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Guide de l’OMS</a:t>
            </a:r>
            <a:endParaRPr lang="en-US" sz="1400" dirty="0"/>
          </a:p>
        </p:txBody>
      </p:sp>
      <p:sp>
        <p:nvSpPr>
          <p:cNvPr id="28" name="Text 26"/>
          <p:cNvSpPr/>
          <p:nvPr/>
        </p:nvSpPr>
        <p:spPr>
          <a:xfrm>
            <a:off x="9738360" y="2990088"/>
            <a:ext cx="1664208" cy="1920240"/>
          </a:xfrm>
          <a:prstGeom prst="rect">
            <a:avLst/>
          </a:prstGeom>
          <a:noFill/>
          <a:ln/>
        </p:spPr>
        <p:txBody>
          <a:bodyPr wrap="square" lIns="0" tIns="0" rIns="0" bIns="0" rtlCol="0" anchor="t"/>
          <a:lstStyle/>
          <a:p>
            <a:pPr indent="0" marL="0">
              <a:buNone/>
            </a:pPr>
            <a:r>
              <a:rPr lang="en-US" sz="1350" dirty="0">
                <a:solidFill>
                  <a:srgbClr val="3A3C44"/>
                </a:solidFill>
                <a:latin typeface="Palatino Linotype" pitchFamily="34" charset="0"/>
                <a:ea typeface="Palatino Linotype" pitchFamily="34" charset="-122"/>
                <a:cs typeface="Palatino Linotype" pitchFamily="34" charset="-120"/>
              </a:rPr>
              <a:t>Application des 12 fonctions ; l’ordre de la liste n’a pas de signification.</a:t>
            </a:r>
            <a:endParaRPr lang="en-US" sz="1350" dirty="0"/>
          </a:p>
        </p:txBody>
      </p:sp>
      <p:sp>
        <p:nvSpPr>
          <p:cNvPr id="29" name="Shape 27"/>
          <p:cNvSpPr/>
          <p:nvPr/>
        </p:nvSpPr>
        <p:spPr>
          <a:xfrm>
            <a:off x="594360" y="4892040"/>
            <a:ext cx="10972800" cy="960120"/>
          </a:xfrm>
          <a:prstGeom prst="roundRect">
            <a:avLst>
              <a:gd name="adj" fmla="val 8571"/>
            </a:avLst>
          </a:prstGeom>
          <a:solidFill>
            <a:srgbClr val="ECEAE4"/>
          </a:solidFill>
          <a:ln w="12700">
            <a:solidFill>
              <a:srgbClr val="ECEAE4"/>
            </a:solidFill>
            <a:prstDash val="solid"/>
          </a:ln>
        </p:spPr>
      </p:sp>
      <p:sp>
        <p:nvSpPr>
          <p:cNvPr id="30" name="Text 28"/>
          <p:cNvSpPr/>
          <p:nvPr/>
        </p:nvSpPr>
        <p:spPr>
          <a:xfrm>
            <a:off x="868680" y="4892040"/>
            <a:ext cx="10424160" cy="96012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 liste mondiale désigne distinctement l’engagement communautaire, la qualité et l’équité des services et l’accès aux produits et technologies de santé.</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LES SOINS DE SANTÉ PRIMAIRES</a:t>
            </a:r>
            <a:endParaRPr lang="en-US" sz="13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Le cas a commencé dans un cabinet de médecine de famille</a:t>
            </a:r>
            <a:endParaRPr lang="en-US" sz="3000" dirty="0"/>
          </a:p>
        </p:txBody>
      </p:sp>
      <p:sp>
        <p:nvSpPr>
          <p:cNvPr id="4" name="Shape 2"/>
          <p:cNvSpPr/>
          <p:nvPr/>
        </p:nvSpPr>
        <p:spPr>
          <a:xfrm>
            <a:off x="594360" y="1737360"/>
            <a:ext cx="5303520" cy="3017520"/>
          </a:xfrm>
          <a:prstGeom prst="roundRect">
            <a:avLst>
              <a:gd name="adj" fmla="val 2727"/>
            </a:avLst>
          </a:prstGeom>
          <a:solidFill>
            <a:srgbClr val="1D1F2B"/>
          </a:solidFill>
          <a:ln w="12700">
            <a:solidFill>
              <a:srgbClr val="1D1F2B"/>
            </a:solidFill>
            <a:prstDash val="solid"/>
          </a:ln>
        </p:spPr>
      </p:sp>
      <p:sp>
        <p:nvSpPr>
          <p:cNvPr id="5" name="Text 3"/>
          <p:cNvSpPr/>
          <p:nvPr/>
        </p:nvSpPr>
        <p:spPr>
          <a:xfrm>
            <a:off x="868680" y="1828800"/>
            <a:ext cx="2377440" cy="914400"/>
          </a:xfrm>
          <a:prstGeom prst="rect">
            <a:avLst/>
          </a:prstGeom>
          <a:noFill/>
          <a:ln/>
        </p:spPr>
        <p:txBody>
          <a:bodyPr wrap="square" lIns="0" tIns="0" rIns="0" bIns="0" rtlCol="0" anchor="ctr"/>
          <a:lstStyle/>
          <a:p>
            <a:pPr indent="0" marL="0">
              <a:buNone/>
            </a:pPr>
            <a:r>
              <a:rPr lang="en-US" sz="5400" b="1" dirty="0">
                <a:solidFill>
                  <a:srgbClr val="FFC24B"/>
                </a:solidFill>
                <a:latin typeface="Palatino Linotype" pitchFamily="34" charset="0"/>
                <a:ea typeface="Palatino Linotype" pitchFamily="34" charset="-122"/>
                <a:cs typeface="Palatino Linotype" pitchFamily="34" charset="-120"/>
              </a:rPr>
              <a:t>1978</a:t>
            </a:r>
            <a:endParaRPr lang="en-US" sz="5400" dirty="0"/>
          </a:p>
        </p:txBody>
      </p:sp>
      <p:sp>
        <p:nvSpPr>
          <p:cNvPr id="6" name="Text 4"/>
          <p:cNvSpPr/>
          <p:nvPr/>
        </p:nvSpPr>
        <p:spPr>
          <a:xfrm>
            <a:off x="3337560" y="1828800"/>
            <a:ext cx="2377440" cy="914400"/>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Alma-Ata</a:t>
            </a:r>
            <a:endParaRPr lang="en-US" sz="2200" dirty="0"/>
          </a:p>
        </p:txBody>
      </p:sp>
      <p:sp>
        <p:nvSpPr>
          <p:cNvPr id="7" name="Text 5"/>
          <p:cNvSpPr/>
          <p:nvPr/>
        </p:nvSpPr>
        <p:spPr>
          <a:xfrm>
            <a:off x="868680" y="2788920"/>
            <a:ext cx="4754880" cy="187452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Les soins de santé primaires, clé de l’objectif « La santé pour tous » : des soins essentiels, accessibles à tous, avec la participation de la communauté, à un coût que le pays peut supporter.</a:t>
            </a:r>
            <a:endParaRPr lang="en-US" sz="1600" dirty="0"/>
          </a:p>
        </p:txBody>
      </p:sp>
      <p:sp>
        <p:nvSpPr>
          <p:cNvPr id="8" name="Shape 6"/>
          <p:cNvSpPr/>
          <p:nvPr/>
        </p:nvSpPr>
        <p:spPr>
          <a:xfrm>
            <a:off x="6263640" y="1737360"/>
            <a:ext cx="5303520" cy="3017520"/>
          </a:xfrm>
          <a:prstGeom prst="roundRect">
            <a:avLst>
              <a:gd name="adj" fmla="val 2727"/>
            </a:avLst>
          </a:prstGeom>
          <a:solidFill>
            <a:srgbClr val="1D1F2B"/>
          </a:solidFill>
          <a:ln w="12700">
            <a:solidFill>
              <a:srgbClr val="1D1F2B"/>
            </a:solidFill>
            <a:prstDash val="solid"/>
          </a:ln>
        </p:spPr>
      </p:sp>
      <p:sp>
        <p:nvSpPr>
          <p:cNvPr id="9" name="Text 7"/>
          <p:cNvSpPr/>
          <p:nvPr/>
        </p:nvSpPr>
        <p:spPr>
          <a:xfrm>
            <a:off x="6537960" y="1828800"/>
            <a:ext cx="2377440" cy="914400"/>
          </a:xfrm>
          <a:prstGeom prst="rect">
            <a:avLst/>
          </a:prstGeom>
          <a:noFill/>
          <a:ln/>
        </p:spPr>
        <p:txBody>
          <a:bodyPr wrap="square" lIns="0" tIns="0" rIns="0" bIns="0" rtlCol="0" anchor="ctr"/>
          <a:lstStyle/>
          <a:p>
            <a:pPr indent="0" marL="0">
              <a:buNone/>
            </a:pPr>
            <a:r>
              <a:rPr lang="en-US" sz="5400" b="1" dirty="0">
                <a:solidFill>
                  <a:srgbClr val="27D3BE"/>
                </a:solidFill>
                <a:latin typeface="Palatino Linotype" pitchFamily="34" charset="0"/>
                <a:ea typeface="Palatino Linotype" pitchFamily="34" charset="-122"/>
                <a:cs typeface="Palatino Linotype" pitchFamily="34" charset="-120"/>
              </a:rPr>
              <a:t>2018</a:t>
            </a:r>
            <a:endParaRPr lang="en-US" sz="5400" dirty="0"/>
          </a:p>
        </p:txBody>
      </p:sp>
      <p:sp>
        <p:nvSpPr>
          <p:cNvPr id="10" name="Text 8"/>
          <p:cNvSpPr/>
          <p:nvPr/>
        </p:nvSpPr>
        <p:spPr>
          <a:xfrm>
            <a:off x="9006840" y="1828800"/>
            <a:ext cx="2377440" cy="914400"/>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Astana</a:t>
            </a:r>
            <a:endParaRPr lang="en-US" sz="2200" dirty="0"/>
          </a:p>
        </p:txBody>
      </p:sp>
      <p:sp>
        <p:nvSpPr>
          <p:cNvPr id="11" name="Text 9"/>
          <p:cNvSpPr/>
          <p:nvPr/>
        </p:nvSpPr>
        <p:spPr>
          <a:xfrm>
            <a:off x="6537960" y="2788920"/>
            <a:ext cx="4754880" cy="187452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Une nouvelle déclaration réaffirme le rôle central des soins primaires et renouvelle l’engagement politique des gouvernements.</a:t>
            </a:r>
            <a:endParaRPr lang="en-US" sz="1600" dirty="0"/>
          </a:p>
        </p:txBody>
      </p:sp>
      <p:sp>
        <p:nvSpPr>
          <p:cNvPr id="12" name="Text 10"/>
          <p:cNvSpPr/>
          <p:nvPr/>
        </p:nvSpPr>
        <p:spPr>
          <a:xfrm>
            <a:off x="594360" y="5029200"/>
            <a:ext cx="10972800" cy="86868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Niveau de soins (le cabinet) et approche du système (accès universel, participation, action intersectorielle) : le médecin de famille du cas travaille dans les deux sens.</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LOI N° 95/2006 · QUI FAIT LA SANTÉ PUBLIQUE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Les institutions derrière le cas</a:t>
            </a:r>
            <a:endParaRPr lang="en-US" sz="3200" dirty="0"/>
          </a:p>
        </p:txBody>
      </p:sp>
      <p:sp>
        <p:nvSpPr>
          <p:cNvPr id="4" name="Shape 2"/>
          <p:cNvSpPr/>
          <p:nvPr/>
        </p:nvSpPr>
        <p:spPr>
          <a:xfrm>
            <a:off x="2377440" y="1600200"/>
            <a:ext cx="4846320" cy="777240"/>
          </a:xfrm>
          <a:prstGeom prst="roundRect">
            <a:avLst>
              <a:gd name="adj" fmla="val 10588"/>
            </a:avLst>
          </a:prstGeom>
          <a:solidFill>
            <a:srgbClr val="11121A"/>
          </a:solidFill>
          <a:ln w="12700">
            <a:solidFill>
              <a:srgbClr val="11121A"/>
            </a:solidFill>
            <a:prstDash val="solid"/>
          </a:ln>
        </p:spPr>
      </p:sp>
      <p:sp>
        <p:nvSpPr>
          <p:cNvPr id="5" name="Text 3"/>
          <p:cNvSpPr/>
          <p:nvPr/>
        </p:nvSpPr>
        <p:spPr>
          <a:xfrm>
            <a:off x="2560320" y="1600200"/>
            <a:ext cx="448056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Ministère de la Santé</a:t>
            </a:r>
            <a:endParaRPr lang="en-US" sz="1700" dirty="0"/>
          </a:p>
          <a:p>
            <a:pPr algn="ctr" indent="0" marL="0">
              <a:buNone/>
            </a:pPr>
            <a:r>
              <a:rPr lang="en-US" sz="1300" dirty="0">
                <a:solidFill>
                  <a:srgbClr val="C9CCD8"/>
                </a:solidFill>
                <a:latin typeface="Palatino Linotype" pitchFamily="34" charset="0"/>
                <a:ea typeface="Palatino Linotype" pitchFamily="34" charset="-122"/>
                <a:cs typeface="Palatino Linotype" pitchFamily="34" charset="-120"/>
              </a:rPr>
              <a:t>autorité centrale</a:t>
            </a:r>
            <a:endParaRPr lang="en-US" sz="1700" dirty="0"/>
          </a:p>
        </p:txBody>
      </p:sp>
      <p:sp>
        <p:nvSpPr>
          <p:cNvPr id="6" name="Shape 4"/>
          <p:cNvSpPr/>
          <p:nvPr/>
        </p:nvSpPr>
        <p:spPr>
          <a:xfrm>
            <a:off x="3291840" y="2468880"/>
            <a:ext cx="310896" cy="329184"/>
          </a:xfrm>
          <a:prstGeom prst="downArrow">
            <a:avLst/>
          </a:prstGeom>
          <a:solidFill>
            <a:srgbClr val="C9C6BE"/>
          </a:solidFill>
          <a:ln w="12700">
            <a:solidFill>
              <a:srgbClr val="C9C6BE"/>
            </a:solidFill>
            <a:prstDash val="solid"/>
          </a:ln>
        </p:spPr>
      </p:sp>
      <p:sp>
        <p:nvSpPr>
          <p:cNvPr id="7" name="Shape 5"/>
          <p:cNvSpPr/>
          <p:nvPr/>
        </p:nvSpPr>
        <p:spPr>
          <a:xfrm>
            <a:off x="5989320" y="2468880"/>
            <a:ext cx="310896" cy="329184"/>
          </a:xfrm>
          <a:prstGeom prst="downArrow">
            <a:avLst/>
          </a:prstGeom>
          <a:solidFill>
            <a:srgbClr val="C9C6BE"/>
          </a:solidFill>
          <a:ln w="12700">
            <a:solidFill>
              <a:srgbClr val="C9C6BE"/>
            </a:solidFill>
            <a:prstDash val="solid"/>
          </a:ln>
        </p:spPr>
      </p:sp>
      <p:sp>
        <p:nvSpPr>
          <p:cNvPr id="8" name="Shape 6"/>
          <p:cNvSpPr/>
          <p:nvPr/>
        </p:nvSpPr>
        <p:spPr>
          <a:xfrm>
            <a:off x="594360" y="2880360"/>
            <a:ext cx="3931920" cy="1234440"/>
          </a:xfrm>
          <a:prstGeom prst="roundRect">
            <a:avLst>
              <a:gd name="adj" fmla="val 6667"/>
            </a:avLst>
          </a:prstGeom>
          <a:solidFill>
            <a:srgbClr val="ECEAE4"/>
          </a:solidFill>
          <a:ln w="12700">
            <a:solidFill>
              <a:srgbClr val="ECEAE4"/>
            </a:solidFill>
            <a:prstDash val="solid"/>
          </a:ln>
        </p:spPr>
      </p:sp>
      <p:sp>
        <p:nvSpPr>
          <p:cNvPr id="9" name="Text 7"/>
          <p:cNvSpPr/>
          <p:nvPr/>
        </p:nvSpPr>
        <p:spPr>
          <a:xfrm>
            <a:off x="777240" y="2880360"/>
            <a:ext cx="3566160" cy="1234440"/>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DSP des comtés et de la municipalité de Bucarest</a:t>
            </a:r>
            <a:endParaRPr lang="en-US" sz="1500" dirty="0"/>
          </a:p>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services déconcentrés, dotés de la personnalité juridique</a:t>
            </a:r>
            <a:endParaRPr lang="en-US" sz="1500" dirty="0"/>
          </a:p>
        </p:txBody>
      </p:sp>
      <p:sp>
        <p:nvSpPr>
          <p:cNvPr id="10" name="Shape 8"/>
          <p:cNvSpPr/>
          <p:nvPr/>
        </p:nvSpPr>
        <p:spPr>
          <a:xfrm>
            <a:off x="4754880" y="2880360"/>
            <a:ext cx="3931920" cy="1234440"/>
          </a:xfrm>
          <a:prstGeom prst="roundRect">
            <a:avLst>
              <a:gd name="adj" fmla="val 6667"/>
            </a:avLst>
          </a:prstGeom>
          <a:solidFill>
            <a:srgbClr val="ECEAE4"/>
          </a:solidFill>
          <a:ln w="12700">
            <a:solidFill>
              <a:srgbClr val="ECEAE4"/>
            </a:solidFill>
            <a:prstDash val="solid"/>
          </a:ln>
        </p:spPr>
      </p:sp>
      <p:sp>
        <p:nvSpPr>
          <p:cNvPr id="11" name="Text 9"/>
          <p:cNvSpPr/>
          <p:nvPr/>
        </p:nvSpPr>
        <p:spPr>
          <a:xfrm>
            <a:off x="4937760" y="2880360"/>
            <a:ext cx="3566160" cy="1234440"/>
          </a:xfrm>
          <a:prstGeom prst="rect">
            <a:avLst/>
          </a:prstGeom>
          <a:noFill/>
          <a:ln/>
        </p:spPr>
        <p:txBody>
          <a:bodyPr wrap="square" lIns="0" tIns="0" rIns="0" bIns="0" rtlCol="0" anchor="ctr"/>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INSP</a:t>
            </a:r>
            <a:endParaRPr lang="en-US" sz="1500" dirty="0"/>
          </a:p>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sous la tutelle du MS : guide techniquement le réseau, surveille l’état de santé</a:t>
            </a:r>
            <a:endParaRPr lang="en-US" sz="1500" dirty="0"/>
          </a:p>
        </p:txBody>
      </p:sp>
      <p:sp>
        <p:nvSpPr>
          <p:cNvPr id="12" name="Shape 10"/>
          <p:cNvSpPr/>
          <p:nvPr/>
        </p:nvSpPr>
        <p:spPr>
          <a:xfrm>
            <a:off x="6565392" y="4206240"/>
            <a:ext cx="310896" cy="329184"/>
          </a:xfrm>
          <a:prstGeom prst="downArrow">
            <a:avLst/>
          </a:prstGeom>
          <a:solidFill>
            <a:srgbClr val="C9C6BE"/>
          </a:solidFill>
          <a:ln w="12700">
            <a:solidFill>
              <a:srgbClr val="C9C6BE"/>
            </a:solidFill>
            <a:prstDash val="solid"/>
          </a:ln>
        </p:spPr>
      </p:sp>
      <p:sp>
        <p:nvSpPr>
          <p:cNvPr id="13" name="Shape 11"/>
          <p:cNvSpPr/>
          <p:nvPr/>
        </p:nvSpPr>
        <p:spPr>
          <a:xfrm>
            <a:off x="4754880" y="4617720"/>
            <a:ext cx="3931920" cy="1188720"/>
          </a:xfrm>
          <a:prstGeom prst="roundRect">
            <a:avLst>
              <a:gd name="adj" fmla="val 6923"/>
            </a:avLst>
          </a:prstGeom>
          <a:solidFill>
            <a:srgbClr val="DDF3EF"/>
          </a:solidFill>
          <a:ln w="12700">
            <a:solidFill>
              <a:srgbClr val="DDF3EF"/>
            </a:solidFill>
            <a:prstDash val="solid"/>
          </a:ln>
        </p:spPr>
      </p:sp>
      <p:sp>
        <p:nvSpPr>
          <p:cNvPr id="14" name="Text 12"/>
          <p:cNvSpPr/>
          <p:nvPr/>
        </p:nvSpPr>
        <p:spPr>
          <a:xfrm>
            <a:off x="4937760" y="4617720"/>
            <a:ext cx="3566160" cy="1188720"/>
          </a:xfrm>
          <a:prstGeom prst="rect">
            <a:avLst/>
          </a:prstGeom>
          <a:noFill/>
          <a:ln/>
        </p:spPr>
        <p:txBody>
          <a:bodyPr wrap="square" lIns="0" tIns="0" rIns="0" bIns="0" rtlCol="0" anchor="ctr"/>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CNSCBT</a:t>
            </a:r>
            <a:endParaRPr lang="en-US" sz="1500" dirty="0"/>
          </a:p>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Registre unique des maladies transmissibles (HG n° 657/2022)</a:t>
            </a:r>
            <a:endParaRPr lang="en-US" sz="1500" dirty="0"/>
          </a:p>
        </p:txBody>
      </p:sp>
      <p:sp>
        <p:nvSpPr>
          <p:cNvPr id="15" name="Shape 13"/>
          <p:cNvSpPr/>
          <p:nvPr/>
        </p:nvSpPr>
        <p:spPr>
          <a:xfrm>
            <a:off x="8961120" y="1600200"/>
            <a:ext cx="2606040" cy="1280160"/>
          </a:xfrm>
          <a:prstGeom prst="roundRect">
            <a:avLst>
              <a:gd name="adj" fmla="val 6429"/>
            </a:avLst>
          </a:prstGeom>
          <a:solidFill>
            <a:srgbClr val="ECEAE4"/>
          </a:solidFill>
          <a:ln w="12700">
            <a:solidFill>
              <a:srgbClr val="ECEAE4"/>
            </a:solidFill>
            <a:prstDash val="solid"/>
          </a:ln>
        </p:spPr>
      </p:sp>
      <p:sp>
        <p:nvSpPr>
          <p:cNvPr id="16" name="Text 14"/>
          <p:cNvSpPr/>
          <p:nvPr/>
        </p:nvSpPr>
        <p:spPr>
          <a:xfrm>
            <a:off x="9098280" y="1600200"/>
            <a:ext cx="2377440" cy="1280160"/>
          </a:xfrm>
          <a:prstGeom prst="rect">
            <a:avLst/>
          </a:prstGeom>
          <a:noFill/>
          <a:ln/>
        </p:spPr>
        <p:txBody>
          <a:bodyPr wrap="square" lIns="0" tIns="0" rIns="0" bIns="0" rtlCol="0" anchor="ctr"/>
          <a:lstStyle/>
          <a:p>
            <a:pPr indent="0" marL="0">
              <a:buNone/>
            </a:pPr>
            <a:r>
              <a:rPr lang="en-US" sz="1300" b="1" dirty="0">
                <a:solidFill>
                  <a:srgbClr val="4A2D8C"/>
                </a:solidFill>
                <a:latin typeface="Palatino Linotype" pitchFamily="34" charset="0"/>
                <a:ea typeface="Palatino Linotype" pitchFamily="34" charset="-122"/>
                <a:cs typeface="Palatino Linotype" pitchFamily="34" charset="-120"/>
              </a:rPr>
              <a:t>CNAS</a:t>
            </a:r>
            <a:endParaRPr lang="en-US" sz="1300" dirty="0"/>
          </a:p>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assurance maladie sociale ; caisses des comtés subordonnées</a:t>
            </a:r>
            <a:endParaRPr lang="en-US" sz="1300" dirty="0"/>
          </a:p>
        </p:txBody>
      </p:sp>
      <p:sp>
        <p:nvSpPr>
          <p:cNvPr id="17" name="Shape 15"/>
          <p:cNvSpPr/>
          <p:nvPr/>
        </p:nvSpPr>
        <p:spPr>
          <a:xfrm>
            <a:off x="8961120" y="3108960"/>
            <a:ext cx="2606040" cy="1280160"/>
          </a:xfrm>
          <a:prstGeom prst="roundRect">
            <a:avLst>
              <a:gd name="adj" fmla="val 6429"/>
            </a:avLst>
          </a:prstGeom>
          <a:solidFill>
            <a:srgbClr val="ECEAE4"/>
          </a:solidFill>
          <a:ln w="12700">
            <a:solidFill>
              <a:srgbClr val="ECEAE4"/>
            </a:solidFill>
            <a:prstDash val="solid"/>
          </a:ln>
        </p:spPr>
      </p:sp>
      <p:sp>
        <p:nvSpPr>
          <p:cNvPr id="18" name="Text 16"/>
          <p:cNvSpPr/>
          <p:nvPr/>
        </p:nvSpPr>
        <p:spPr>
          <a:xfrm>
            <a:off x="9098280" y="3108960"/>
            <a:ext cx="2377440" cy="1280160"/>
          </a:xfrm>
          <a:prstGeom prst="rect">
            <a:avLst/>
          </a:prstGeom>
          <a:noFill/>
          <a:ln/>
        </p:spPr>
        <p:txBody>
          <a:bodyPr wrap="square" lIns="0" tIns="0" rIns="0" bIns="0" rtlCol="0" anchor="ctr"/>
          <a:lstStyle/>
          <a:p>
            <a:pPr indent="0" marL="0">
              <a:buNone/>
            </a:pPr>
            <a:r>
              <a:rPr lang="en-US" sz="1300" b="1" dirty="0">
                <a:solidFill>
                  <a:srgbClr val="4A2D8C"/>
                </a:solidFill>
                <a:latin typeface="Palatino Linotype" pitchFamily="34" charset="0"/>
                <a:ea typeface="Palatino Linotype" pitchFamily="34" charset="-122"/>
                <a:cs typeface="Palatino Linotype" pitchFamily="34" charset="-120"/>
              </a:rPr>
              <a:t>ANMCS</a:t>
            </a:r>
            <a:endParaRPr lang="en-US" sz="1300" dirty="0"/>
          </a:p>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sous l’autorité du Gouvernement : standardise, évalue, accrédite (loi n° 185/2017)</a:t>
            </a:r>
            <a:endParaRPr lang="en-US" sz="1300" dirty="0"/>
          </a:p>
        </p:txBody>
      </p:sp>
      <p:sp>
        <p:nvSpPr>
          <p:cNvPr id="19" name="Shape 17"/>
          <p:cNvSpPr/>
          <p:nvPr/>
        </p:nvSpPr>
        <p:spPr>
          <a:xfrm>
            <a:off x="8961120" y="4617720"/>
            <a:ext cx="2606040" cy="1280160"/>
          </a:xfrm>
          <a:prstGeom prst="roundRect">
            <a:avLst>
              <a:gd name="adj" fmla="val 6429"/>
            </a:avLst>
          </a:prstGeom>
          <a:solidFill>
            <a:srgbClr val="ECEAE4"/>
          </a:solidFill>
          <a:ln w="12700">
            <a:solidFill>
              <a:srgbClr val="ECEAE4"/>
            </a:solidFill>
            <a:prstDash val="solid"/>
          </a:ln>
        </p:spPr>
      </p:sp>
      <p:sp>
        <p:nvSpPr>
          <p:cNvPr id="20" name="Text 18"/>
          <p:cNvSpPr/>
          <p:nvPr/>
        </p:nvSpPr>
        <p:spPr>
          <a:xfrm>
            <a:off x="9098280" y="4617720"/>
            <a:ext cx="2377440" cy="1280160"/>
          </a:xfrm>
          <a:prstGeom prst="rect">
            <a:avLst/>
          </a:prstGeom>
          <a:noFill/>
          <a:ln/>
        </p:spPr>
        <p:txBody>
          <a:bodyPr wrap="square" lIns="0" tIns="0" rIns="0" bIns="0" rtlCol="0" anchor="ctr"/>
          <a:lstStyle/>
          <a:p>
            <a:pPr indent="0" marL="0">
              <a:buNone/>
            </a:pPr>
            <a:r>
              <a:rPr lang="en-US" sz="1300" b="1" dirty="0">
                <a:solidFill>
                  <a:srgbClr val="4A2D8C"/>
                </a:solidFill>
                <a:latin typeface="Palatino Linotype" pitchFamily="34" charset="0"/>
                <a:ea typeface="Palatino Linotype" pitchFamily="34" charset="-122"/>
                <a:cs typeface="Palatino Linotype" pitchFamily="34" charset="-120"/>
              </a:rPr>
              <a:t>INS</a:t>
            </a:r>
            <a:endParaRPr lang="en-US" sz="1300" dirty="0"/>
          </a:p>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hors du réseau du MS ; publie les dénominateurs des indicateurs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LE CIRCUIT DE L’INFORMATION · ILLUSTRATION SIMPLIFIÉE</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Du cabinet au niveau européen et mondial</a:t>
            </a:r>
            <a:endParaRPr lang="en-US" sz="3000" dirty="0"/>
          </a:p>
        </p:txBody>
      </p:sp>
      <p:sp>
        <p:nvSpPr>
          <p:cNvPr id="4" name="Shape 2"/>
          <p:cNvSpPr/>
          <p:nvPr/>
        </p:nvSpPr>
        <p:spPr>
          <a:xfrm>
            <a:off x="594360" y="1828800"/>
            <a:ext cx="1874520" cy="2103120"/>
          </a:xfrm>
          <a:prstGeom prst="roundRect">
            <a:avLst>
              <a:gd name="adj" fmla="val 4390"/>
            </a:avLst>
          </a:prstGeom>
          <a:solidFill>
            <a:srgbClr val="272A38"/>
          </a:solidFill>
          <a:ln w="12700">
            <a:solidFill>
              <a:srgbClr val="272A38"/>
            </a:solidFill>
            <a:prstDash val="solid"/>
          </a:ln>
        </p:spPr>
      </p:sp>
      <p:sp>
        <p:nvSpPr>
          <p:cNvPr id="5" name="Shape 3"/>
          <p:cNvSpPr/>
          <p:nvPr/>
        </p:nvSpPr>
        <p:spPr>
          <a:xfrm>
            <a:off x="594360" y="1828800"/>
            <a:ext cx="1874520" cy="82296"/>
          </a:xfrm>
          <a:prstGeom prst="rect">
            <a:avLst/>
          </a:prstGeom>
          <a:solidFill>
            <a:srgbClr val="FF4757"/>
          </a:solidFill>
          <a:ln w="12700">
            <a:solidFill>
              <a:srgbClr val="FF4757"/>
            </a:solidFill>
            <a:prstDash val="solid"/>
          </a:ln>
        </p:spPr>
      </p:sp>
      <p:sp>
        <p:nvSpPr>
          <p:cNvPr id="6" name="Text 4"/>
          <p:cNvSpPr/>
          <p:nvPr/>
        </p:nvSpPr>
        <p:spPr>
          <a:xfrm>
            <a:off x="731520" y="2011680"/>
            <a:ext cx="1600200" cy="685800"/>
          </a:xfrm>
          <a:prstGeom prst="rect">
            <a:avLst/>
          </a:prstGeom>
          <a:noFill/>
          <a:ln/>
        </p:spPr>
        <p:txBody>
          <a:bodyPr wrap="square" lIns="0" tIns="0" rIns="0" bIns="0" rtlCol="0" anchor="t"/>
          <a:lstStyle/>
          <a:p>
            <a:pPr indent="0" marL="0">
              <a:buNone/>
            </a:pPr>
            <a:r>
              <a:rPr lang="en-US" sz="1600" b="1" dirty="0">
                <a:solidFill>
                  <a:srgbClr val="FF4757"/>
                </a:solidFill>
                <a:latin typeface="Palatino Linotype" pitchFamily="34" charset="0"/>
                <a:ea typeface="Palatino Linotype" pitchFamily="34" charset="-122"/>
                <a:cs typeface="Palatino Linotype" pitchFamily="34" charset="-120"/>
              </a:rPr>
              <a:t>Le médecin de famille</a:t>
            </a:r>
            <a:endParaRPr lang="en-US" sz="1600" dirty="0"/>
          </a:p>
        </p:txBody>
      </p:sp>
      <p:sp>
        <p:nvSpPr>
          <p:cNvPr id="7" name="Text 5"/>
          <p:cNvSpPr/>
          <p:nvPr/>
        </p:nvSpPr>
        <p:spPr>
          <a:xfrm>
            <a:off x="731520" y="2697480"/>
            <a:ext cx="1600200" cy="118872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déclare le cas</a:t>
            </a:r>
            <a:endParaRPr lang="en-US" sz="1400" dirty="0"/>
          </a:p>
        </p:txBody>
      </p:sp>
      <p:sp>
        <p:nvSpPr>
          <p:cNvPr id="8" name="Shape 6"/>
          <p:cNvSpPr/>
          <p:nvPr/>
        </p:nvSpPr>
        <p:spPr>
          <a:xfrm>
            <a:off x="2496312" y="2743200"/>
            <a:ext cx="347472" cy="329184"/>
          </a:xfrm>
          <a:prstGeom prst="rightArrow">
            <a:avLst/>
          </a:prstGeom>
          <a:solidFill>
            <a:srgbClr val="5A5F76"/>
          </a:solidFill>
          <a:ln w="12700">
            <a:solidFill>
              <a:srgbClr val="5A5F76"/>
            </a:solidFill>
            <a:prstDash val="solid"/>
          </a:ln>
        </p:spPr>
      </p:sp>
      <p:sp>
        <p:nvSpPr>
          <p:cNvPr id="9" name="Shape 7"/>
          <p:cNvSpPr/>
          <p:nvPr/>
        </p:nvSpPr>
        <p:spPr>
          <a:xfrm>
            <a:off x="2880360" y="1828800"/>
            <a:ext cx="1874520" cy="2103120"/>
          </a:xfrm>
          <a:prstGeom prst="roundRect">
            <a:avLst>
              <a:gd name="adj" fmla="val 4390"/>
            </a:avLst>
          </a:prstGeom>
          <a:solidFill>
            <a:srgbClr val="272A38"/>
          </a:solidFill>
          <a:ln w="12700">
            <a:solidFill>
              <a:srgbClr val="272A38"/>
            </a:solidFill>
            <a:prstDash val="solid"/>
          </a:ln>
        </p:spPr>
      </p:sp>
      <p:sp>
        <p:nvSpPr>
          <p:cNvPr id="10" name="Shape 8"/>
          <p:cNvSpPr/>
          <p:nvPr/>
        </p:nvSpPr>
        <p:spPr>
          <a:xfrm>
            <a:off x="2880360" y="1828800"/>
            <a:ext cx="1874520" cy="82296"/>
          </a:xfrm>
          <a:prstGeom prst="rect">
            <a:avLst/>
          </a:prstGeom>
          <a:solidFill>
            <a:srgbClr val="FFC24B"/>
          </a:solidFill>
          <a:ln w="12700">
            <a:solidFill>
              <a:srgbClr val="FFC24B"/>
            </a:solidFill>
            <a:prstDash val="solid"/>
          </a:ln>
        </p:spPr>
      </p:sp>
      <p:sp>
        <p:nvSpPr>
          <p:cNvPr id="11" name="Text 9"/>
          <p:cNvSpPr/>
          <p:nvPr/>
        </p:nvSpPr>
        <p:spPr>
          <a:xfrm>
            <a:off x="3017520" y="2011680"/>
            <a:ext cx="1600200" cy="68580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DSP</a:t>
            </a:r>
            <a:endParaRPr lang="en-US" sz="1600" dirty="0"/>
          </a:p>
        </p:txBody>
      </p:sp>
      <p:sp>
        <p:nvSpPr>
          <p:cNvPr id="12" name="Text 10"/>
          <p:cNvSpPr/>
          <p:nvPr/>
        </p:nvSpPr>
        <p:spPr>
          <a:xfrm>
            <a:off x="3017520" y="2697480"/>
            <a:ext cx="1600200" cy="118872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enquête sur le foyer, vaccine les contacts</a:t>
            </a:r>
            <a:endParaRPr lang="en-US" sz="1400" dirty="0"/>
          </a:p>
        </p:txBody>
      </p:sp>
      <p:sp>
        <p:nvSpPr>
          <p:cNvPr id="13" name="Shape 11"/>
          <p:cNvSpPr/>
          <p:nvPr/>
        </p:nvSpPr>
        <p:spPr>
          <a:xfrm>
            <a:off x="4782312" y="2743200"/>
            <a:ext cx="347472" cy="329184"/>
          </a:xfrm>
          <a:prstGeom prst="rightArrow">
            <a:avLst/>
          </a:prstGeom>
          <a:solidFill>
            <a:srgbClr val="5A5F76"/>
          </a:solidFill>
          <a:ln w="12700">
            <a:solidFill>
              <a:srgbClr val="5A5F76"/>
            </a:solidFill>
            <a:prstDash val="solid"/>
          </a:ln>
        </p:spPr>
      </p:sp>
      <p:sp>
        <p:nvSpPr>
          <p:cNvPr id="14" name="Shape 12"/>
          <p:cNvSpPr/>
          <p:nvPr/>
        </p:nvSpPr>
        <p:spPr>
          <a:xfrm>
            <a:off x="5166360" y="1828800"/>
            <a:ext cx="1874520" cy="2103120"/>
          </a:xfrm>
          <a:prstGeom prst="roundRect">
            <a:avLst>
              <a:gd name="adj" fmla="val 4390"/>
            </a:avLst>
          </a:prstGeom>
          <a:solidFill>
            <a:srgbClr val="272A38"/>
          </a:solidFill>
          <a:ln w="12700">
            <a:solidFill>
              <a:srgbClr val="272A38"/>
            </a:solidFill>
            <a:prstDash val="solid"/>
          </a:ln>
        </p:spPr>
      </p:sp>
      <p:sp>
        <p:nvSpPr>
          <p:cNvPr id="15" name="Shape 13"/>
          <p:cNvSpPr/>
          <p:nvPr/>
        </p:nvSpPr>
        <p:spPr>
          <a:xfrm>
            <a:off x="5166360" y="1828800"/>
            <a:ext cx="1874520" cy="82296"/>
          </a:xfrm>
          <a:prstGeom prst="rect">
            <a:avLst/>
          </a:prstGeom>
          <a:solidFill>
            <a:srgbClr val="27D3BE"/>
          </a:solidFill>
          <a:ln w="12700">
            <a:solidFill>
              <a:srgbClr val="27D3BE"/>
            </a:solidFill>
            <a:prstDash val="solid"/>
          </a:ln>
        </p:spPr>
      </p:sp>
      <p:sp>
        <p:nvSpPr>
          <p:cNvPr id="16" name="Text 14"/>
          <p:cNvSpPr/>
          <p:nvPr/>
        </p:nvSpPr>
        <p:spPr>
          <a:xfrm>
            <a:off x="5303520" y="2011680"/>
            <a:ext cx="1600200" cy="68580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INSP, par le CNSCBT</a:t>
            </a:r>
            <a:endParaRPr lang="en-US" sz="1600" dirty="0"/>
          </a:p>
        </p:txBody>
      </p:sp>
      <p:sp>
        <p:nvSpPr>
          <p:cNvPr id="17" name="Text 15"/>
          <p:cNvSpPr/>
          <p:nvPr/>
        </p:nvSpPr>
        <p:spPr>
          <a:xfrm>
            <a:off x="5303520" y="2697480"/>
            <a:ext cx="1600200" cy="118872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registre unique, analyse nationale</a:t>
            </a:r>
            <a:endParaRPr lang="en-US" sz="1400" dirty="0"/>
          </a:p>
        </p:txBody>
      </p:sp>
      <p:sp>
        <p:nvSpPr>
          <p:cNvPr id="18" name="Shape 16"/>
          <p:cNvSpPr/>
          <p:nvPr/>
        </p:nvSpPr>
        <p:spPr>
          <a:xfrm>
            <a:off x="7068312" y="2743200"/>
            <a:ext cx="347472" cy="329184"/>
          </a:xfrm>
          <a:prstGeom prst="rightArrow">
            <a:avLst/>
          </a:prstGeom>
          <a:solidFill>
            <a:srgbClr val="5A5F76"/>
          </a:solidFill>
          <a:ln w="12700">
            <a:solidFill>
              <a:srgbClr val="5A5F76"/>
            </a:solidFill>
            <a:prstDash val="solid"/>
          </a:ln>
        </p:spPr>
      </p:sp>
      <p:sp>
        <p:nvSpPr>
          <p:cNvPr id="19" name="Shape 17"/>
          <p:cNvSpPr/>
          <p:nvPr/>
        </p:nvSpPr>
        <p:spPr>
          <a:xfrm>
            <a:off x="7452360" y="1828800"/>
            <a:ext cx="1874520" cy="2103120"/>
          </a:xfrm>
          <a:prstGeom prst="roundRect">
            <a:avLst>
              <a:gd name="adj" fmla="val 4390"/>
            </a:avLst>
          </a:prstGeom>
          <a:solidFill>
            <a:srgbClr val="272A38"/>
          </a:solidFill>
          <a:ln w="12700">
            <a:solidFill>
              <a:srgbClr val="272A38"/>
            </a:solidFill>
            <a:prstDash val="solid"/>
          </a:ln>
        </p:spPr>
      </p:sp>
      <p:sp>
        <p:nvSpPr>
          <p:cNvPr id="20" name="Shape 18"/>
          <p:cNvSpPr/>
          <p:nvPr/>
        </p:nvSpPr>
        <p:spPr>
          <a:xfrm>
            <a:off x="7452360" y="1828800"/>
            <a:ext cx="1874520" cy="82296"/>
          </a:xfrm>
          <a:prstGeom prst="rect">
            <a:avLst/>
          </a:prstGeom>
          <a:solidFill>
            <a:srgbClr val="9B7EF7"/>
          </a:solidFill>
          <a:ln w="12700">
            <a:solidFill>
              <a:srgbClr val="9B7EF7"/>
            </a:solidFill>
            <a:prstDash val="solid"/>
          </a:ln>
        </p:spPr>
      </p:sp>
      <p:sp>
        <p:nvSpPr>
          <p:cNvPr id="21" name="Text 19"/>
          <p:cNvSpPr/>
          <p:nvPr/>
        </p:nvSpPr>
        <p:spPr>
          <a:xfrm>
            <a:off x="7589520" y="2011680"/>
            <a:ext cx="1600200" cy="685800"/>
          </a:xfrm>
          <a:prstGeom prst="rect">
            <a:avLst/>
          </a:prstGeom>
          <a:noFill/>
          <a:ln/>
        </p:spPr>
        <p:txBody>
          <a:bodyPr wrap="square" lIns="0" tIns="0" rIns="0" bIns="0" rtlCol="0" anchor="t"/>
          <a:lstStyle/>
          <a:p>
            <a:pPr indent="0" marL="0">
              <a:buNone/>
            </a:pPr>
            <a:r>
              <a:rPr lang="en-US" sz="1600" b="1" dirty="0">
                <a:solidFill>
                  <a:srgbClr val="9B7EF7"/>
                </a:solidFill>
                <a:latin typeface="Palatino Linotype" pitchFamily="34" charset="0"/>
                <a:ea typeface="Palatino Linotype" pitchFamily="34" charset="-122"/>
                <a:cs typeface="Palatino Linotype" pitchFamily="34" charset="-120"/>
              </a:rPr>
              <a:t>ECDC</a:t>
            </a:r>
            <a:endParaRPr lang="en-US" sz="1600" dirty="0"/>
          </a:p>
        </p:txBody>
      </p:sp>
      <p:sp>
        <p:nvSpPr>
          <p:cNvPr id="22" name="Text 20"/>
          <p:cNvSpPr/>
          <p:nvPr/>
        </p:nvSpPr>
        <p:spPr>
          <a:xfrm>
            <a:off x="7589520" y="2697480"/>
            <a:ext cx="1600200" cy="118872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analyse pour l’ensemble de l’Union</a:t>
            </a:r>
            <a:endParaRPr lang="en-US" sz="1400" dirty="0"/>
          </a:p>
        </p:txBody>
      </p:sp>
      <p:sp>
        <p:nvSpPr>
          <p:cNvPr id="23" name="Shape 21"/>
          <p:cNvSpPr/>
          <p:nvPr/>
        </p:nvSpPr>
        <p:spPr>
          <a:xfrm>
            <a:off x="9354312" y="2743200"/>
            <a:ext cx="347472" cy="329184"/>
          </a:xfrm>
          <a:prstGeom prst="rightArrow">
            <a:avLst/>
          </a:prstGeom>
          <a:solidFill>
            <a:srgbClr val="5A5F76"/>
          </a:solidFill>
          <a:ln w="12700">
            <a:solidFill>
              <a:srgbClr val="5A5F76"/>
            </a:solidFill>
            <a:prstDash val="solid"/>
          </a:ln>
        </p:spPr>
      </p:sp>
      <p:sp>
        <p:nvSpPr>
          <p:cNvPr id="24" name="Shape 22"/>
          <p:cNvSpPr/>
          <p:nvPr/>
        </p:nvSpPr>
        <p:spPr>
          <a:xfrm>
            <a:off x="9738360" y="1828800"/>
            <a:ext cx="1874520" cy="2103120"/>
          </a:xfrm>
          <a:prstGeom prst="roundRect">
            <a:avLst>
              <a:gd name="adj" fmla="val 4390"/>
            </a:avLst>
          </a:prstGeom>
          <a:solidFill>
            <a:srgbClr val="272A38"/>
          </a:solidFill>
          <a:ln w="12700">
            <a:solidFill>
              <a:srgbClr val="272A38"/>
            </a:solidFill>
            <a:prstDash val="solid"/>
          </a:ln>
        </p:spPr>
      </p:sp>
      <p:sp>
        <p:nvSpPr>
          <p:cNvPr id="25" name="Shape 23"/>
          <p:cNvSpPr/>
          <p:nvPr/>
        </p:nvSpPr>
        <p:spPr>
          <a:xfrm>
            <a:off x="9738360" y="1828800"/>
            <a:ext cx="1874520" cy="82296"/>
          </a:xfrm>
          <a:prstGeom prst="rect">
            <a:avLst/>
          </a:prstGeom>
          <a:solidFill>
            <a:srgbClr val="FF8A3D"/>
          </a:solidFill>
          <a:ln w="12700">
            <a:solidFill>
              <a:srgbClr val="FF8A3D"/>
            </a:solidFill>
            <a:prstDash val="solid"/>
          </a:ln>
        </p:spPr>
      </p:sp>
      <p:sp>
        <p:nvSpPr>
          <p:cNvPr id="26" name="Text 24"/>
          <p:cNvSpPr/>
          <p:nvPr/>
        </p:nvSpPr>
        <p:spPr>
          <a:xfrm>
            <a:off x="9875520" y="2011680"/>
            <a:ext cx="1600200" cy="685800"/>
          </a:xfrm>
          <a:prstGeom prst="rect">
            <a:avLst/>
          </a:prstGeom>
          <a:noFill/>
          <a:ln/>
        </p:spPr>
        <p:txBody>
          <a:bodyPr wrap="square" lIns="0" tIns="0" rIns="0" bIns="0" rtlCol="0" anchor="t"/>
          <a:lstStyle/>
          <a:p>
            <a:pPr indent="0" marL="0">
              <a:buNone/>
            </a:pPr>
            <a:r>
              <a:rPr lang="en-US" sz="1600" b="1" dirty="0">
                <a:solidFill>
                  <a:srgbClr val="FF8A3D"/>
                </a:solidFill>
                <a:latin typeface="Palatino Linotype" pitchFamily="34" charset="0"/>
                <a:ea typeface="Palatino Linotype" pitchFamily="34" charset="-122"/>
                <a:cs typeface="Palatino Linotype" pitchFamily="34" charset="-120"/>
              </a:rPr>
              <a:t>OMS</a:t>
            </a:r>
            <a:endParaRPr lang="en-US" sz="1600" dirty="0"/>
          </a:p>
        </p:txBody>
      </p:sp>
      <p:sp>
        <p:nvSpPr>
          <p:cNvPr id="27" name="Text 25"/>
          <p:cNvSpPr/>
          <p:nvPr/>
        </p:nvSpPr>
        <p:spPr>
          <a:xfrm>
            <a:off x="9875520" y="2697480"/>
            <a:ext cx="1600200" cy="118872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Règlement sanitaire international (2005)</a:t>
            </a:r>
            <a:endParaRPr lang="en-US" sz="1400" dirty="0"/>
          </a:p>
        </p:txBody>
      </p:sp>
      <p:sp>
        <p:nvSpPr>
          <p:cNvPr id="28" name="Text 26"/>
          <p:cNvSpPr/>
          <p:nvPr/>
        </p:nvSpPr>
        <p:spPr>
          <a:xfrm>
            <a:off x="594360" y="4251960"/>
            <a:ext cx="10972800" cy="1280160"/>
          </a:xfrm>
          <a:prstGeom prst="rect">
            <a:avLst/>
          </a:prstGeom>
          <a:noFill/>
          <a:ln/>
        </p:spPr>
        <p:txBody>
          <a:bodyPr wrap="square" lIns="0" tIns="0" rIns="0" bIns="0" rtlCol="0" anchor="t"/>
          <a:lstStyle/>
          <a:p>
            <a:pPr indent="0" marL="0">
              <a:buNone/>
            </a:pPr>
            <a:r>
              <a:rPr lang="en-US" sz="1600" dirty="0">
                <a:solidFill>
                  <a:srgbClr val="D5D8E2"/>
                </a:solidFill>
                <a:latin typeface="Palatino Linotype" pitchFamily="34" charset="0"/>
                <a:ea typeface="Palatino Linotype" pitchFamily="34" charset="-122"/>
                <a:cs typeface="Palatino Linotype" pitchFamily="34" charset="-120"/>
              </a:rPr>
              <a:t>Dans l’Union, le réseau de surveillance fonctionne selon le règlement (UE) 2022/2371 ; à la Commission, la politique de santé relève de la DG SANTE. L’OMS définit l’urgence de santé publique de portée internationale : un événement extraordinaire, qui constitue un risque pour d’autres États du fait de la propagation de la maladie.</a:t>
            </a:r>
            <a:endParaRPr lang="en-US" sz="1600" dirty="0"/>
          </a:p>
        </p:txBody>
      </p:sp>
      <p:sp>
        <p:nvSpPr>
          <p:cNvPr id="29" name="Text 2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Illustration construite pour ce cours à partir des rôles fixés par la loi ; ce n’est pas la procédure pas à pas de la surveillance de la rougeole.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JEU DE RÔLE</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LE JOUR DE LA CONFIRMATION DU CAS</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Trois minutes au téléphone</a:t>
            </a:r>
            <a:endParaRPr lang="en-US" sz="3400" dirty="0"/>
          </a:p>
        </p:txBody>
      </p:sp>
      <p:sp>
        <p:nvSpPr>
          <p:cNvPr id="6" name="Text 4"/>
          <p:cNvSpPr/>
          <p:nvPr/>
        </p:nvSpPr>
        <p:spPr>
          <a:xfrm>
            <a:off x="868680" y="1554480"/>
            <a:ext cx="5486400" cy="274320"/>
          </a:xfrm>
          <a:prstGeom prst="rect">
            <a:avLst/>
          </a:prstGeom>
          <a:noFill/>
          <a:ln/>
        </p:spPr>
        <p:txBody>
          <a:bodyPr wrap="square" lIns="0" tIns="0" rIns="0" bIns="0" rtlCol="0" anchor="t"/>
          <a:lstStyle/>
          <a:p>
            <a:pPr indent="0" marL="0">
              <a:buNone/>
            </a:pPr>
            <a:r>
              <a:rPr lang="en-US" sz="1300" b="1" spc="200" kern="0" dirty="0">
                <a:solidFill>
                  <a:srgbClr val="959BB0"/>
                </a:solidFill>
                <a:latin typeface="Palatino Linotype" pitchFamily="34" charset="0"/>
                <a:ea typeface="Palatino Linotype" pitchFamily="34" charset="-122"/>
                <a:cs typeface="Palatino Linotype" pitchFamily="34" charset="-120"/>
              </a:rPr>
              <a:t>LE MÉDECIN RÉSIDENT, AU CABINET</a:t>
            </a:r>
            <a:endParaRPr lang="en-US" sz="1300" dirty="0"/>
          </a:p>
        </p:txBody>
      </p:sp>
      <p:sp>
        <p:nvSpPr>
          <p:cNvPr id="7" name="Shape 5"/>
          <p:cNvSpPr/>
          <p:nvPr/>
        </p:nvSpPr>
        <p:spPr>
          <a:xfrm>
            <a:off x="594360" y="1874520"/>
            <a:ext cx="6035040" cy="960120"/>
          </a:xfrm>
          <a:prstGeom prst="roundRect">
            <a:avLst>
              <a:gd name="adj" fmla="val 17143"/>
            </a:avLst>
          </a:prstGeom>
          <a:solidFill>
            <a:srgbClr val="30344A"/>
          </a:solidFill>
          <a:ln w="12700">
            <a:solidFill>
              <a:srgbClr val="30344A"/>
            </a:solidFill>
            <a:prstDash val="solid"/>
          </a:ln>
        </p:spPr>
      </p:sp>
      <p:sp>
        <p:nvSpPr>
          <p:cNvPr id="8" name="Shape 6"/>
          <p:cNvSpPr/>
          <p:nvPr/>
        </p:nvSpPr>
        <p:spPr>
          <a:xfrm flipV="1">
            <a:off x="1005840" y="2816352"/>
            <a:ext cx="457200" cy="292608"/>
          </a:xfrm>
          <a:prstGeom prst="triangle">
            <a:avLst/>
          </a:prstGeom>
          <a:solidFill>
            <a:srgbClr val="30344A"/>
          </a:solidFill>
          <a:ln w="12700">
            <a:solidFill>
              <a:srgbClr val="30344A"/>
            </a:solidFill>
            <a:prstDash val="solid"/>
          </a:ln>
        </p:spPr>
      </p:sp>
      <p:sp>
        <p:nvSpPr>
          <p:cNvPr id="9" name="Text 7"/>
          <p:cNvSpPr/>
          <p:nvPr/>
        </p:nvSpPr>
        <p:spPr>
          <a:xfrm>
            <a:off x="868680" y="1874520"/>
            <a:ext cx="5577840" cy="960120"/>
          </a:xfrm>
          <a:prstGeom prst="rect">
            <a:avLst/>
          </a:prstGeom>
          <a:noFill/>
          <a:ln/>
        </p:spPr>
        <p:txBody>
          <a:bodyPr wrap="square" lIns="0" tIns="0" rIns="0" bIns="0" rtlCol="0" anchor="ctr"/>
          <a:lstStyle/>
          <a:p>
            <a:pPr indent="0" marL="0">
              <a:buNone/>
            </a:pPr>
            <a:r>
              <a:rPr lang="en-US" sz="1800" i="1" dirty="0">
                <a:solidFill>
                  <a:srgbClr val="FFFFFF"/>
                </a:solidFill>
                <a:latin typeface="Palatino Linotype" pitchFamily="34" charset="0"/>
                <a:ea typeface="Palatino Linotype" pitchFamily="34" charset="-122"/>
                <a:cs typeface="Palatino Linotype" pitchFamily="34" charset="-120"/>
              </a:rPr>
              <a:t>« Je vous appelle du cabinet de médecine de famille : nous avons un cas confirmé de rougeole. »</a:t>
            </a:r>
            <a:endParaRPr lang="en-US" sz="1800" dirty="0"/>
          </a:p>
        </p:txBody>
      </p:sp>
      <p:sp>
        <p:nvSpPr>
          <p:cNvPr id="10" name="Text 8"/>
          <p:cNvSpPr/>
          <p:nvPr/>
        </p:nvSpPr>
        <p:spPr>
          <a:xfrm>
            <a:off x="5029200" y="3154680"/>
            <a:ext cx="6263640" cy="274320"/>
          </a:xfrm>
          <a:prstGeom prst="rect">
            <a:avLst/>
          </a:prstGeom>
          <a:noFill/>
          <a:ln/>
        </p:spPr>
        <p:txBody>
          <a:bodyPr wrap="square" lIns="0" tIns="0" rIns="0" bIns="0" rtlCol="0" anchor="t"/>
          <a:lstStyle/>
          <a:p>
            <a:pPr algn="r" indent="0" marL="0">
              <a:buNone/>
            </a:pPr>
            <a:r>
              <a:rPr lang="en-US" sz="1300" b="1" spc="200" kern="0" dirty="0">
                <a:solidFill>
                  <a:srgbClr val="9FE8DC"/>
                </a:solidFill>
                <a:latin typeface="Palatino Linotype" pitchFamily="34" charset="0"/>
                <a:ea typeface="Palatino Linotype" pitchFamily="34" charset="-122"/>
                <a:cs typeface="Palatino Linotype" pitchFamily="34" charset="-120"/>
              </a:rPr>
              <a:t>LE MÉDECIN ÉPIDÉMIOLOGISTE DE LA DSP</a:t>
            </a:r>
            <a:endParaRPr lang="en-US" sz="1300" dirty="0"/>
          </a:p>
        </p:txBody>
      </p:sp>
      <p:sp>
        <p:nvSpPr>
          <p:cNvPr id="11" name="Shape 9"/>
          <p:cNvSpPr/>
          <p:nvPr/>
        </p:nvSpPr>
        <p:spPr>
          <a:xfrm>
            <a:off x="4572000" y="3474720"/>
            <a:ext cx="6995160" cy="960120"/>
          </a:xfrm>
          <a:prstGeom prst="roundRect">
            <a:avLst>
              <a:gd name="adj" fmla="val 17143"/>
            </a:avLst>
          </a:prstGeom>
          <a:solidFill>
            <a:srgbClr val="0F5A4F"/>
          </a:solidFill>
          <a:ln w="12700">
            <a:solidFill>
              <a:srgbClr val="0F5A4F"/>
            </a:solidFill>
            <a:prstDash val="solid"/>
          </a:ln>
        </p:spPr>
      </p:sp>
      <p:sp>
        <p:nvSpPr>
          <p:cNvPr id="12" name="Shape 10"/>
          <p:cNvSpPr/>
          <p:nvPr/>
        </p:nvSpPr>
        <p:spPr>
          <a:xfrm flipV="1">
            <a:off x="10698480" y="4416552"/>
            <a:ext cx="457200" cy="292608"/>
          </a:xfrm>
          <a:prstGeom prst="triangle">
            <a:avLst/>
          </a:prstGeom>
          <a:solidFill>
            <a:srgbClr val="0F5A4F"/>
          </a:solidFill>
          <a:ln w="12700">
            <a:solidFill>
              <a:srgbClr val="0F5A4F"/>
            </a:solidFill>
            <a:prstDash val="solid"/>
          </a:ln>
        </p:spPr>
      </p:sp>
      <p:sp>
        <p:nvSpPr>
          <p:cNvPr id="13" name="Text 11"/>
          <p:cNvSpPr/>
          <p:nvPr/>
        </p:nvSpPr>
        <p:spPr>
          <a:xfrm>
            <a:off x="4846320" y="3474720"/>
            <a:ext cx="6492240" cy="960120"/>
          </a:xfrm>
          <a:prstGeom prst="rect">
            <a:avLst/>
          </a:prstGeom>
          <a:noFill/>
          <a:ln/>
        </p:spPr>
        <p:txBody>
          <a:bodyPr wrap="square" lIns="0" tIns="0" rIns="0" bIns="0" rtlCol="0" anchor="ctr"/>
          <a:lstStyle/>
          <a:p>
            <a:pPr indent="0" marL="0">
              <a:buNone/>
            </a:pPr>
            <a:r>
              <a:rPr lang="en-US" sz="1800" i="1" dirty="0">
                <a:solidFill>
                  <a:srgbClr val="FFFFFF"/>
                </a:solidFill>
                <a:latin typeface="Palatino Linotype" pitchFamily="34" charset="0"/>
                <a:ea typeface="Palatino Linotype" pitchFamily="34" charset="-122"/>
                <a:cs typeface="Palatino Linotype" pitchFamily="34" charset="-120"/>
              </a:rPr>
              <a:t>« Dites-moi tout ce qu’il me faut pour arrêter le foyer. »</a:t>
            </a:r>
            <a:endParaRPr lang="en-US" sz="1800" dirty="0"/>
          </a:p>
        </p:txBody>
      </p:sp>
      <p:sp>
        <p:nvSpPr>
          <p:cNvPr id="14" name="Text 12"/>
          <p:cNvSpPr/>
          <p:nvPr/>
        </p:nvSpPr>
        <p:spPr>
          <a:xfrm>
            <a:off x="594360" y="4937760"/>
            <a:ext cx="10972800" cy="45720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Deux volontaires. La salle écoute, puis vote sur l’information qui a manqué dans la conversation.</a:t>
            </a:r>
            <a:endParaRPr lang="en-US" sz="1800" dirty="0"/>
          </a:p>
        </p:txBody>
      </p:sp>
      <p:sp>
        <p:nvSpPr>
          <p:cNvPr id="15" name="Text 13"/>
          <p:cNvSpPr/>
          <p:nvPr/>
        </p:nvSpPr>
        <p:spPr>
          <a:xfrm>
            <a:off x="9692640" y="6263640"/>
            <a:ext cx="1874520" cy="274320"/>
          </a:xfrm>
          <a:prstGeom prst="rect">
            <a:avLst/>
          </a:prstGeom>
          <a:noFill/>
          <a:ln/>
        </p:spPr>
        <p:txBody>
          <a:bodyPr wrap="square" lIns="0" tIns="0" rIns="0" bIns="0" rtlCol="0" anchor="t"/>
          <a:lstStyle/>
          <a:p>
            <a:pPr algn="r" indent="0" marL="0">
              <a:buNone/>
            </a:pPr>
            <a:r>
              <a:rPr lang="en-US" sz="1000" i="1" dirty="0">
                <a:solidFill>
                  <a:srgbClr val="8E94A8"/>
                </a:solidFill>
                <a:latin typeface="Palatino Linotype" pitchFamily="34" charset="0"/>
                <a:ea typeface="Palatino Linotype" pitchFamily="34" charset="-122"/>
                <a:cs typeface="Palatino Linotype" pitchFamily="34" charset="-120"/>
              </a:rPr>
              <a:t>Scène reconstituée.</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822960" y="1371600"/>
            <a:ext cx="3108960" cy="2377440"/>
          </a:xfrm>
          <a:prstGeom prst="rect">
            <a:avLst/>
          </a:prstGeom>
          <a:noFill/>
          <a:ln/>
        </p:spPr>
        <p:txBody>
          <a:bodyPr wrap="square" lIns="0" tIns="0" rIns="0" bIns="0" rtlCol="0" anchor="ctr"/>
          <a:lstStyle/>
          <a:p>
            <a:pPr indent="0" marL="0">
              <a:buNone/>
            </a:pPr>
            <a:r>
              <a:rPr lang="en-US" sz="14000" b="1" dirty="0">
                <a:solidFill>
                  <a:srgbClr val="27D3BE"/>
                </a:solidFill>
                <a:latin typeface="Palatino Linotype" pitchFamily="34" charset="0"/>
                <a:ea typeface="Palatino Linotype" pitchFamily="34" charset="-122"/>
                <a:cs typeface="Palatino Linotype" pitchFamily="34" charset="-120"/>
              </a:rPr>
              <a:t>10′</a:t>
            </a:r>
            <a:endParaRPr lang="en-US" sz="14000" dirty="0"/>
          </a:p>
        </p:txBody>
      </p:sp>
      <p:sp>
        <p:nvSpPr>
          <p:cNvPr id="3" name="Shape 1"/>
          <p:cNvSpPr/>
          <p:nvPr/>
        </p:nvSpPr>
        <p:spPr>
          <a:xfrm>
            <a:off x="4206240" y="1737360"/>
            <a:ext cx="32004" cy="1737360"/>
          </a:xfrm>
          <a:prstGeom prst="rect">
            <a:avLst/>
          </a:prstGeom>
          <a:solidFill>
            <a:srgbClr val="27D3BE"/>
          </a:solidFill>
          <a:ln/>
        </p:spPr>
      </p:sp>
      <p:sp>
        <p:nvSpPr>
          <p:cNvPr id="4" name="Text 2"/>
          <p:cNvSpPr/>
          <p:nvPr/>
        </p:nvSpPr>
        <p:spPr>
          <a:xfrm>
            <a:off x="4709160" y="1755648"/>
            <a:ext cx="68580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Pause</a:t>
            </a:r>
            <a:endParaRPr lang="en-US" sz="3400" dirty="0"/>
          </a:p>
        </p:txBody>
      </p:sp>
      <p:sp>
        <p:nvSpPr>
          <p:cNvPr id="5" name="Text 3"/>
          <p:cNvSpPr/>
          <p:nvPr/>
        </p:nvSpPr>
        <p:spPr>
          <a:xfrm>
            <a:off x="4709160" y="2788920"/>
            <a:ext cx="6858000" cy="868680"/>
          </a:xfrm>
          <a:prstGeom prst="rect">
            <a:avLst/>
          </a:prstGeom>
          <a:noFill/>
          <a:ln/>
        </p:spPr>
        <p:txBody>
          <a:bodyPr wrap="square" lIns="0" tIns="0" rIns="0" bIns="0" rtlCol="0" anchor="t"/>
          <a:lstStyle/>
          <a:p>
            <a:pPr indent="0" marL="0">
              <a:buNone/>
            </a:pPr>
            <a:r>
              <a:rPr lang="en-US" sz="1550" dirty="0">
                <a:solidFill>
                  <a:srgbClr val="959BB0"/>
                </a:solidFill>
                <a:latin typeface="Palatino Linotype" pitchFamily="34" charset="0"/>
                <a:ea typeface="Palatino Linotype" pitchFamily="34" charset="-122"/>
                <a:cs typeface="Palatino Linotype" pitchFamily="34" charset="-120"/>
              </a:rPr>
              <a:t>Après la pause, le troisième cas : la patiente réhospitalisée.</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SPM_MGVI/active/img/sat_deal_hidiselul_commons.jpg">    </p:cNvPr>
          <p:cNvPicPr>
            <a:picLocks noChangeAspect="1"/>
          </p:cNvPicPr>
          <p:nvPr/>
        </p:nvPicPr>
        <p:blipFill>
          <a:blip r:embed="rId1"/>
          <a:stretch>
            <a:fillRect/>
          </a:stretch>
        </p:blipFill>
        <p:spPr>
          <a:xfrm>
            <a:off x="0" y="0"/>
            <a:ext cx="5486400" cy="6858000"/>
          </a:xfrm>
          <a:prstGeom prst="rect">
            <a:avLst/>
          </a:prstGeom>
        </p:spPr>
      </p:pic>
      <p:sp>
        <p:nvSpPr>
          <p:cNvPr id="3" name="Shape 0"/>
          <p:cNvSpPr/>
          <p:nvPr/>
        </p:nvSpPr>
        <p:spPr>
          <a:xfrm>
            <a:off x="0" y="6053328"/>
            <a:ext cx="5486400" cy="804672"/>
          </a:xfrm>
          <a:prstGeom prst="rect">
            <a:avLst/>
          </a:prstGeom>
          <a:solidFill>
            <a:srgbClr val="11121A">
              <a:alpha val="75000"/>
            </a:srgbClr>
          </a:solidFill>
          <a:ln w="12700">
            <a:solidFill>
              <a:srgbClr val="11121A"/>
            </a:solidFill>
            <a:prstDash val="solid"/>
          </a:ln>
        </p:spPr>
      </p:sp>
      <p:sp>
        <p:nvSpPr>
          <p:cNvPr id="4" name="Text 1"/>
          <p:cNvSpPr/>
          <p:nvPr/>
        </p:nvSpPr>
        <p:spPr>
          <a:xfrm>
            <a:off x="274320"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Un village de colline en Roumanie</a:t>
            </a:r>
            <a:endParaRPr lang="en-US" sz="1100" dirty="0"/>
          </a:p>
        </p:txBody>
      </p:sp>
      <p:sp>
        <p:nvSpPr>
          <p:cNvPr id="5" name="Text 2"/>
          <p:cNvSpPr/>
          <p:nvPr/>
        </p:nvSpPr>
        <p:spPr>
          <a:xfrm>
            <a:off x="274320"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Photo : Delia2 · CC BY-SA 4.0 · Wikimedia Commons</a:t>
            </a:r>
            <a:endParaRPr lang="en-US" sz="850" dirty="0"/>
          </a:p>
        </p:txBody>
      </p:sp>
      <p:sp>
        <p:nvSpPr>
          <p:cNvPr id="6" name="Text 3"/>
          <p:cNvSpPr/>
          <p:nvPr/>
        </p:nvSpPr>
        <p:spPr>
          <a:xfrm>
            <a:off x="5943600" y="411480"/>
            <a:ext cx="576072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 SERVICE DE MÉDECINE INTERNE</a:t>
            </a:r>
            <a:endParaRPr lang="en-US" sz="1300" dirty="0"/>
          </a:p>
        </p:txBody>
      </p:sp>
      <p:sp>
        <p:nvSpPr>
          <p:cNvPr id="7" name="Text 4"/>
          <p:cNvSpPr/>
          <p:nvPr/>
        </p:nvSpPr>
        <p:spPr>
          <a:xfrm>
            <a:off x="5943600" y="822960"/>
            <a:ext cx="5760720" cy="91440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La patiente réhospitalisée</a:t>
            </a:r>
            <a:endParaRPr lang="en-US" sz="3000" dirty="0"/>
          </a:p>
        </p:txBody>
      </p:sp>
      <p:sp>
        <p:nvSpPr>
          <p:cNvPr id="8" name="Text 5"/>
          <p:cNvSpPr/>
          <p:nvPr/>
        </p:nvSpPr>
        <p:spPr>
          <a:xfrm>
            <a:off x="5943600" y="1828800"/>
            <a:ext cx="5760720" cy="27432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Salle trois : soixante-quatorze ans, insuffisance cardiaque, quatrième hospitalisation cette année. Le traitement est correct. Ce n’est que maintenant que vous apprenez ce que la feuille d’observation ne disait pas : elle vit seule, dans un village éloigné de la ville ; sa retraite suffit mal pour les médicaments et le bois de chauffage ; le médecin de famille a son cabinet dans une autre commune.</a:t>
            </a:r>
            <a:endParaRPr lang="en-US" sz="1700" dirty="0"/>
          </a:p>
        </p:txBody>
      </p:sp>
      <p:sp>
        <p:nvSpPr>
          <p:cNvPr id="9" name="Text 6"/>
          <p:cNvSpPr/>
          <p:nvPr/>
        </p:nvSpPr>
        <p:spPr>
          <a:xfrm>
            <a:off x="5943600" y="4754880"/>
            <a:ext cx="5760720" cy="91440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Chaque hospitalisation a été traitée comme un épisode médical. Où sont les causes ?</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TROIS CAMPS</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DÉBAT</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700" b="1" dirty="0">
                <a:solidFill>
                  <a:srgbClr val="FFFFFF"/>
                </a:solidFill>
                <a:latin typeface="Palatino Linotype" pitchFamily="34" charset="0"/>
                <a:ea typeface="Palatino Linotype" pitchFamily="34" charset="-122"/>
                <a:cs typeface="Palatino Linotype" pitchFamily="34" charset="-120"/>
              </a:rPr>
              <a:t>Qu’est-ce qui explique le mieux les réhospitalisations de la patiente ?</a:t>
            </a:r>
            <a:endParaRPr lang="en-US" sz="2700" dirty="0"/>
          </a:p>
        </p:txBody>
      </p:sp>
      <p:sp>
        <p:nvSpPr>
          <p:cNvPr id="6" name="Shape 4"/>
          <p:cNvSpPr/>
          <p:nvPr/>
        </p:nvSpPr>
        <p:spPr>
          <a:xfrm>
            <a:off x="594360" y="1828800"/>
            <a:ext cx="3474720" cy="2743200"/>
          </a:xfrm>
          <a:prstGeom prst="roundRect">
            <a:avLst>
              <a:gd name="adj" fmla="val 3000"/>
            </a:avLst>
          </a:prstGeom>
          <a:solidFill>
            <a:srgbClr val="FF4757"/>
          </a:solidFill>
          <a:ln w="12700">
            <a:solidFill>
              <a:srgbClr val="FF4757"/>
            </a:solidFill>
            <a:prstDash val="solid"/>
          </a:ln>
        </p:spPr>
      </p:sp>
      <p:sp>
        <p:nvSpPr>
          <p:cNvPr id="7" name="Text 5"/>
          <p:cNvSpPr/>
          <p:nvPr/>
        </p:nvSpPr>
        <p:spPr>
          <a:xfrm>
            <a:off x="868680" y="2011680"/>
            <a:ext cx="2926080" cy="914400"/>
          </a:xfrm>
          <a:prstGeom prst="rect">
            <a:avLst/>
          </a:prstGeom>
          <a:noFill/>
          <a:ln/>
        </p:spPr>
        <p:txBody>
          <a:bodyPr wrap="square" lIns="0" tIns="0" rIns="0" bIns="0" rtlCol="0" anchor="t"/>
          <a:lstStyle/>
          <a:p>
            <a:pPr indent="0" marL="0">
              <a:buNone/>
            </a:pPr>
            <a:r>
              <a:rPr lang="en-US" sz="2400" b="1" dirty="0">
                <a:solidFill>
                  <a:srgbClr val="2E060B"/>
                </a:solidFill>
                <a:latin typeface="Palatino Linotype" pitchFamily="34" charset="0"/>
                <a:ea typeface="Palatino Linotype" pitchFamily="34" charset="-122"/>
                <a:cs typeface="Palatino Linotype" pitchFamily="34" charset="-120"/>
              </a:rPr>
              <a:t>Le revenu</a:t>
            </a:r>
            <a:endParaRPr lang="en-US" sz="2400" dirty="0"/>
          </a:p>
        </p:txBody>
      </p:sp>
      <p:sp>
        <p:nvSpPr>
          <p:cNvPr id="8" name="Text 6"/>
          <p:cNvSpPr/>
          <p:nvPr/>
        </p:nvSpPr>
        <p:spPr>
          <a:xfrm>
            <a:off x="868680" y="3017520"/>
            <a:ext cx="2926080" cy="1371600"/>
          </a:xfrm>
          <a:prstGeom prst="rect">
            <a:avLst/>
          </a:prstGeom>
          <a:noFill/>
          <a:ln/>
        </p:spPr>
        <p:txBody>
          <a:bodyPr wrap="square" lIns="0" tIns="0" rIns="0" bIns="0" rtlCol="0" anchor="t"/>
          <a:lstStyle/>
          <a:p>
            <a:pPr indent="0" marL="0">
              <a:buNone/>
            </a:pPr>
            <a:r>
              <a:rPr lang="en-US" sz="1700" dirty="0">
                <a:solidFill>
                  <a:srgbClr val="2E060B"/>
                </a:solidFill>
                <a:latin typeface="Palatino Linotype" pitchFamily="34" charset="0"/>
                <a:ea typeface="Palatino Linotype" pitchFamily="34" charset="-122"/>
                <a:cs typeface="Palatino Linotype" pitchFamily="34" charset="-120"/>
              </a:rPr>
              <a:t>sa retraite suffit mal pour les médicaments et le bois de chauffage</a:t>
            </a:r>
            <a:endParaRPr lang="en-US" sz="1700" dirty="0"/>
          </a:p>
        </p:txBody>
      </p:sp>
      <p:sp>
        <p:nvSpPr>
          <p:cNvPr id="9" name="Shape 7"/>
          <p:cNvSpPr/>
          <p:nvPr/>
        </p:nvSpPr>
        <p:spPr>
          <a:xfrm>
            <a:off x="4343400" y="1828800"/>
            <a:ext cx="3474720" cy="2743200"/>
          </a:xfrm>
          <a:prstGeom prst="roundRect">
            <a:avLst>
              <a:gd name="adj" fmla="val 3000"/>
            </a:avLst>
          </a:prstGeom>
          <a:solidFill>
            <a:srgbClr val="9B7EF7"/>
          </a:solidFill>
          <a:ln w="12700">
            <a:solidFill>
              <a:srgbClr val="9B7EF7"/>
            </a:solidFill>
            <a:prstDash val="solid"/>
          </a:ln>
        </p:spPr>
      </p:sp>
      <p:sp>
        <p:nvSpPr>
          <p:cNvPr id="10" name="Text 8"/>
          <p:cNvSpPr/>
          <p:nvPr/>
        </p:nvSpPr>
        <p:spPr>
          <a:xfrm>
            <a:off x="4617720" y="2011680"/>
            <a:ext cx="2926080" cy="914400"/>
          </a:xfrm>
          <a:prstGeom prst="rect">
            <a:avLst/>
          </a:prstGeom>
          <a:noFill/>
          <a:ln/>
        </p:spPr>
        <p:txBody>
          <a:bodyPr wrap="square" lIns="0" tIns="0" rIns="0" bIns="0" rtlCol="0" anchor="t"/>
          <a:lstStyle/>
          <a:p>
            <a:pPr indent="0" marL="0">
              <a:buNone/>
            </a:pPr>
            <a:r>
              <a:rPr lang="en-US" sz="2400" b="1" dirty="0">
                <a:solidFill>
                  <a:srgbClr val="1F1040"/>
                </a:solidFill>
                <a:latin typeface="Palatino Linotype" pitchFamily="34" charset="0"/>
                <a:ea typeface="Palatino Linotype" pitchFamily="34" charset="-122"/>
                <a:cs typeface="Palatino Linotype" pitchFamily="34" charset="-120"/>
              </a:rPr>
              <a:t>La distance aux services</a:t>
            </a:r>
            <a:endParaRPr lang="en-US" sz="2400" dirty="0"/>
          </a:p>
        </p:txBody>
      </p:sp>
      <p:sp>
        <p:nvSpPr>
          <p:cNvPr id="11" name="Text 9"/>
          <p:cNvSpPr/>
          <p:nvPr/>
        </p:nvSpPr>
        <p:spPr>
          <a:xfrm>
            <a:off x="4617720" y="3017520"/>
            <a:ext cx="2926080" cy="1371600"/>
          </a:xfrm>
          <a:prstGeom prst="rect">
            <a:avLst/>
          </a:prstGeom>
          <a:noFill/>
          <a:ln/>
        </p:spPr>
        <p:txBody>
          <a:bodyPr wrap="square" lIns="0" tIns="0" rIns="0" bIns="0" rtlCol="0" anchor="t"/>
          <a:lstStyle/>
          <a:p>
            <a:pPr indent="0" marL="0">
              <a:buNone/>
            </a:pPr>
            <a:r>
              <a:rPr lang="en-US" sz="1700" dirty="0">
                <a:solidFill>
                  <a:srgbClr val="1F1040"/>
                </a:solidFill>
                <a:latin typeface="Palatino Linotype" pitchFamily="34" charset="0"/>
                <a:ea typeface="Palatino Linotype" pitchFamily="34" charset="-122"/>
                <a:cs typeface="Palatino Linotype" pitchFamily="34" charset="-120"/>
              </a:rPr>
              <a:t>le médecin de famille a son cabinet dans une autre commune</a:t>
            </a:r>
            <a:endParaRPr lang="en-US" sz="1700" dirty="0"/>
          </a:p>
        </p:txBody>
      </p:sp>
      <p:sp>
        <p:nvSpPr>
          <p:cNvPr id="12" name="Shape 10"/>
          <p:cNvSpPr/>
          <p:nvPr/>
        </p:nvSpPr>
        <p:spPr>
          <a:xfrm>
            <a:off x="8092440" y="1828800"/>
            <a:ext cx="3474720" cy="2743200"/>
          </a:xfrm>
          <a:prstGeom prst="roundRect">
            <a:avLst>
              <a:gd name="adj" fmla="val 3000"/>
            </a:avLst>
          </a:prstGeom>
          <a:solidFill>
            <a:srgbClr val="27D3BE"/>
          </a:solidFill>
          <a:ln w="12700">
            <a:solidFill>
              <a:srgbClr val="27D3BE"/>
            </a:solidFill>
            <a:prstDash val="solid"/>
          </a:ln>
        </p:spPr>
      </p:sp>
      <p:sp>
        <p:nvSpPr>
          <p:cNvPr id="13" name="Text 11"/>
          <p:cNvSpPr/>
          <p:nvPr/>
        </p:nvSpPr>
        <p:spPr>
          <a:xfrm>
            <a:off x="8366760" y="2011680"/>
            <a:ext cx="2926080" cy="914400"/>
          </a:xfrm>
          <a:prstGeom prst="rect">
            <a:avLst/>
          </a:prstGeom>
          <a:noFill/>
          <a:ln/>
        </p:spPr>
        <p:txBody>
          <a:bodyPr wrap="square" lIns="0" tIns="0" rIns="0" bIns="0" rtlCol="0" anchor="t"/>
          <a:lstStyle/>
          <a:p>
            <a:pPr indent="0" marL="0">
              <a:buNone/>
            </a:pPr>
            <a:r>
              <a:rPr lang="en-US" sz="2400" b="1" dirty="0">
                <a:solidFill>
                  <a:srgbClr val="073B34"/>
                </a:solidFill>
                <a:latin typeface="Palatino Linotype" pitchFamily="34" charset="0"/>
                <a:ea typeface="Palatino Linotype" pitchFamily="34" charset="-122"/>
                <a:cs typeface="Palatino Linotype" pitchFamily="34" charset="-120"/>
              </a:rPr>
              <a:t>L’isolement social</a:t>
            </a:r>
            <a:endParaRPr lang="en-US" sz="2400" dirty="0"/>
          </a:p>
        </p:txBody>
      </p:sp>
      <p:sp>
        <p:nvSpPr>
          <p:cNvPr id="14" name="Text 12"/>
          <p:cNvSpPr/>
          <p:nvPr/>
        </p:nvSpPr>
        <p:spPr>
          <a:xfrm>
            <a:off x="8366760" y="3017520"/>
            <a:ext cx="2926080" cy="1371600"/>
          </a:xfrm>
          <a:prstGeom prst="rect">
            <a:avLst/>
          </a:prstGeom>
          <a:noFill/>
          <a:ln/>
        </p:spPr>
        <p:txBody>
          <a:bodyPr wrap="square" lIns="0" tIns="0" rIns="0" bIns="0" rtlCol="0" anchor="t"/>
          <a:lstStyle/>
          <a:p>
            <a:pPr indent="0" marL="0">
              <a:buNone/>
            </a:pPr>
            <a:r>
              <a:rPr lang="en-US" sz="1700" dirty="0">
                <a:solidFill>
                  <a:srgbClr val="073B34"/>
                </a:solidFill>
                <a:latin typeface="Palatino Linotype" pitchFamily="34" charset="0"/>
                <a:ea typeface="Palatino Linotype" pitchFamily="34" charset="-122"/>
                <a:cs typeface="Palatino Linotype" pitchFamily="34" charset="-120"/>
              </a:rPr>
              <a:t>elle vit seule</a:t>
            </a:r>
            <a:endParaRPr lang="en-US" sz="1700" dirty="0"/>
          </a:p>
        </p:txBody>
      </p:sp>
      <p:sp>
        <p:nvSpPr>
          <p:cNvPr id="15" name="Text 13"/>
          <p:cNvSpPr/>
          <p:nvPr/>
        </p:nvSpPr>
        <p:spPr>
          <a:xfrm>
            <a:off x="594360" y="4937760"/>
            <a:ext cx="10972800" cy="73152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Chaque camp : une minute pour ses arguments. Ensuite : quel lien existe entre les trois ?</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APRÈS LE DÉBAT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Une chaîne, pas une compétition</a:t>
            </a:r>
            <a:endParaRPr lang="en-US" sz="3400" dirty="0"/>
          </a:p>
        </p:txBody>
      </p:sp>
      <p:sp>
        <p:nvSpPr>
          <p:cNvPr id="4" name="Shape 2"/>
          <p:cNvSpPr/>
          <p:nvPr/>
        </p:nvSpPr>
        <p:spPr>
          <a:xfrm>
            <a:off x="594360" y="1828800"/>
            <a:ext cx="2468880" cy="2011680"/>
          </a:xfrm>
          <a:prstGeom prst="roundRect">
            <a:avLst>
              <a:gd name="adj" fmla="val 4091"/>
            </a:avLst>
          </a:prstGeom>
          <a:solidFill>
            <a:srgbClr val="ECEAE4"/>
          </a:solidFill>
          <a:ln w="12700">
            <a:solidFill>
              <a:srgbClr val="ECEAE4"/>
            </a:solidFill>
            <a:prstDash val="solid"/>
          </a:ln>
        </p:spPr>
      </p:sp>
      <p:sp>
        <p:nvSpPr>
          <p:cNvPr id="5" name="Shape 3"/>
          <p:cNvSpPr/>
          <p:nvPr/>
        </p:nvSpPr>
        <p:spPr>
          <a:xfrm>
            <a:off x="594360" y="1828800"/>
            <a:ext cx="2468880" cy="82296"/>
          </a:xfrm>
          <a:prstGeom prst="rect">
            <a:avLst/>
          </a:prstGeom>
          <a:solidFill>
            <a:srgbClr val="585A64"/>
          </a:solidFill>
          <a:ln w="12700">
            <a:solidFill>
              <a:srgbClr val="585A64"/>
            </a:solidFill>
            <a:prstDash val="solid"/>
          </a:ln>
        </p:spPr>
      </p:sp>
      <p:sp>
        <p:nvSpPr>
          <p:cNvPr id="6" name="Text 4"/>
          <p:cNvSpPr/>
          <p:nvPr/>
        </p:nvSpPr>
        <p:spPr>
          <a:xfrm>
            <a:off x="777240" y="2011680"/>
            <a:ext cx="2103120" cy="685800"/>
          </a:xfrm>
          <a:prstGeom prst="rect">
            <a:avLst/>
          </a:prstGeom>
          <a:noFill/>
          <a:ln/>
        </p:spPr>
        <p:txBody>
          <a:bodyPr wrap="square" lIns="0" tIns="0" rIns="0" bIns="0" rtlCol="0" anchor="t"/>
          <a:lstStyle/>
          <a:p>
            <a:pPr indent="0" marL="0">
              <a:buNone/>
            </a:pPr>
            <a:r>
              <a:rPr lang="en-US" sz="1700" b="1" dirty="0">
                <a:solidFill>
                  <a:srgbClr val="585A64"/>
                </a:solidFill>
                <a:latin typeface="Palatino Linotype" pitchFamily="34" charset="0"/>
                <a:ea typeface="Palatino Linotype" pitchFamily="34" charset="-122"/>
                <a:cs typeface="Palatino Linotype" pitchFamily="34" charset="-120"/>
              </a:rPr>
              <a:t>Le contexte social et politique</a:t>
            </a:r>
            <a:endParaRPr lang="en-US" sz="1700" dirty="0"/>
          </a:p>
        </p:txBody>
      </p:sp>
      <p:sp>
        <p:nvSpPr>
          <p:cNvPr id="7" name="Text 5"/>
          <p:cNvSpPr/>
          <p:nvPr/>
        </p:nvSpPr>
        <p:spPr>
          <a:xfrm>
            <a:off x="777240" y="2697480"/>
            <a:ext cx="210312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les politiques, l’économie, la protection sociale</a:t>
            </a:r>
            <a:endParaRPr lang="en-US" sz="1500" dirty="0"/>
          </a:p>
        </p:txBody>
      </p:sp>
      <p:sp>
        <p:nvSpPr>
          <p:cNvPr id="8" name="Shape 6"/>
          <p:cNvSpPr/>
          <p:nvPr/>
        </p:nvSpPr>
        <p:spPr>
          <a:xfrm>
            <a:off x="3081528" y="2697480"/>
            <a:ext cx="347472" cy="329184"/>
          </a:xfrm>
          <a:prstGeom prst="rightArrow">
            <a:avLst/>
          </a:prstGeom>
          <a:solidFill>
            <a:srgbClr val="585A64"/>
          </a:solidFill>
          <a:ln w="12700">
            <a:solidFill>
              <a:srgbClr val="585A64"/>
            </a:solidFill>
            <a:prstDash val="solid"/>
          </a:ln>
        </p:spPr>
      </p:sp>
      <p:sp>
        <p:nvSpPr>
          <p:cNvPr id="9" name="Shape 7"/>
          <p:cNvSpPr/>
          <p:nvPr/>
        </p:nvSpPr>
        <p:spPr>
          <a:xfrm>
            <a:off x="3456432" y="1828800"/>
            <a:ext cx="2468880" cy="2011680"/>
          </a:xfrm>
          <a:prstGeom prst="roundRect">
            <a:avLst>
              <a:gd name="adj" fmla="val 4091"/>
            </a:avLst>
          </a:prstGeom>
          <a:solidFill>
            <a:srgbClr val="ECEAE4"/>
          </a:solidFill>
          <a:ln w="12700">
            <a:solidFill>
              <a:srgbClr val="ECEAE4"/>
            </a:solidFill>
            <a:prstDash val="solid"/>
          </a:ln>
        </p:spPr>
      </p:sp>
      <p:sp>
        <p:nvSpPr>
          <p:cNvPr id="10" name="Shape 8"/>
          <p:cNvSpPr/>
          <p:nvPr/>
        </p:nvSpPr>
        <p:spPr>
          <a:xfrm>
            <a:off x="3456432" y="1828800"/>
            <a:ext cx="2468880" cy="82296"/>
          </a:xfrm>
          <a:prstGeom prst="rect">
            <a:avLst/>
          </a:prstGeom>
          <a:solidFill>
            <a:srgbClr val="B02532"/>
          </a:solidFill>
          <a:ln w="12700">
            <a:solidFill>
              <a:srgbClr val="B02532"/>
            </a:solidFill>
            <a:prstDash val="solid"/>
          </a:ln>
        </p:spPr>
      </p:sp>
      <p:sp>
        <p:nvSpPr>
          <p:cNvPr id="11" name="Text 9"/>
          <p:cNvSpPr/>
          <p:nvPr/>
        </p:nvSpPr>
        <p:spPr>
          <a:xfrm>
            <a:off x="3639312" y="2011680"/>
            <a:ext cx="2103120" cy="6858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La position sociale</a:t>
            </a:r>
            <a:endParaRPr lang="en-US" sz="1700" dirty="0"/>
          </a:p>
        </p:txBody>
      </p:sp>
      <p:sp>
        <p:nvSpPr>
          <p:cNvPr id="12" name="Text 10"/>
          <p:cNvSpPr/>
          <p:nvPr/>
        </p:nvSpPr>
        <p:spPr>
          <a:xfrm>
            <a:off x="3639312" y="2697480"/>
            <a:ext cx="210312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 revenu, l’éducation, la profession : « les causes des causes »</a:t>
            </a:r>
            <a:endParaRPr lang="en-US" sz="1500" dirty="0"/>
          </a:p>
        </p:txBody>
      </p:sp>
      <p:sp>
        <p:nvSpPr>
          <p:cNvPr id="13" name="Shape 11"/>
          <p:cNvSpPr/>
          <p:nvPr/>
        </p:nvSpPr>
        <p:spPr>
          <a:xfrm>
            <a:off x="5943600" y="2697480"/>
            <a:ext cx="347472" cy="329184"/>
          </a:xfrm>
          <a:prstGeom prst="rightArrow">
            <a:avLst/>
          </a:prstGeom>
          <a:solidFill>
            <a:srgbClr val="B02532"/>
          </a:solidFill>
          <a:ln w="12700">
            <a:solidFill>
              <a:srgbClr val="B02532"/>
            </a:solidFill>
            <a:prstDash val="solid"/>
          </a:ln>
        </p:spPr>
      </p:sp>
      <p:sp>
        <p:nvSpPr>
          <p:cNvPr id="14" name="Shape 12"/>
          <p:cNvSpPr/>
          <p:nvPr/>
        </p:nvSpPr>
        <p:spPr>
          <a:xfrm>
            <a:off x="6318504" y="1828800"/>
            <a:ext cx="2468880" cy="2011680"/>
          </a:xfrm>
          <a:prstGeom prst="roundRect">
            <a:avLst>
              <a:gd name="adj" fmla="val 4091"/>
            </a:avLst>
          </a:prstGeom>
          <a:solidFill>
            <a:srgbClr val="ECEAE4"/>
          </a:solidFill>
          <a:ln w="12700">
            <a:solidFill>
              <a:srgbClr val="ECEAE4"/>
            </a:solidFill>
            <a:prstDash val="solid"/>
          </a:ln>
        </p:spPr>
      </p:sp>
      <p:sp>
        <p:nvSpPr>
          <p:cNvPr id="15" name="Shape 13"/>
          <p:cNvSpPr/>
          <p:nvPr/>
        </p:nvSpPr>
        <p:spPr>
          <a:xfrm>
            <a:off x="6318504" y="1828800"/>
            <a:ext cx="2468880" cy="82296"/>
          </a:xfrm>
          <a:prstGeom prst="rect">
            <a:avLst/>
          </a:prstGeom>
          <a:solidFill>
            <a:srgbClr val="4A2D8C"/>
          </a:solidFill>
          <a:ln w="12700">
            <a:solidFill>
              <a:srgbClr val="4A2D8C"/>
            </a:solidFill>
            <a:prstDash val="solid"/>
          </a:ln>
        </p:spPr>
      </p:sp>
      <p:sp>
        <p:nvSpPr>
          <p:cNvPr id="16" name="Text 14"/>
          <p:cNvSpPr/>
          <p:nvPr/>
        </p:nvSpPr>
        <p:spPr>
          <a:xfrm>
            <a:off x="6501384" y="2011680"/>
            <a:ext cx="2103120" cy="685800"/>
          </a:xfrm>
          <a:prstGeom prst="rect">
            <a:avLst/>
          </a:prstGeom>
          <a:noFill/>
          <a:ln/>
        </p:spPr>
        <p:txBody>
          <a:bodyPr wrap="square" lIns="0" tIns="0" rIns="0" bIns="0" rtlCol="0" anchor="t"/>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Les conditions concrètes</a:t>
            </a:r>
            <a:endParaRPr lang="en-US" sz="1700" dirty="0"/>
          </a:p>
        </p:txBody>
      </p:sp>
      <p:sp>
        <p:nvSpPr>
          <p:cNvPr id="17" name="Text 15"/>
          <p:cNvSpPr/>
          <p:nvPr/>
        </p:nvSpPr>
        <p:spPr>
          <a:xfrm>
            <a:off x="6501384" y="2697480"/>
            <a:ext cx="210312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 logement, le stress, le soutien social, l’accès au médecin</a:t>
            </a:r>
            <a:endParaRPr lang="en-US" sz="1500" dirty="0"/>
          </a:p>
        </p:txBody>
      </p:sp>
      <p:sp>
        <p:nvSpPr>
          <p:cNvPr id="18" name="Shape 16"/>
          <p:cNvSpPr/>
          <p:nvPr/>
        </p:nvSpPr>
        <p:spPr>
          <a:xfrm>
            <a:off x="8805672" y="2697480"/>
            <a:ext cx="347472" cy="329184"/>
          </a:xfrm>
          <a:prstGeom prst="rightArrow">
            <a:avLst/>
          </a:prstGeom>
          <a:solidFill>
            <a:srgbClr val="4A2D8C"/>
          </a:solidFill>
          <a:ln w="12700">
            <a:solidFill>
              <a:srgbClr val="4A2D8C"/>
            </a:solidFill>
            <a:prstDash val="solid"/>
          </a:ln>
        </p:spPr>
      </p:sp>
      <p:sp>
        <p:nvSpPr>
          <p:cNvPr id="19" name="Shape 17"/>
          <p:cNvSpPr/>
          <p:nvPr/>
        </p:nvSpPr>
        <p:spPr>
          <a:xfrm>
            <a:off x="9180576" y="1828800"/>
            <a:ext cx="2468880" cy="2011680"/>
          </a:xfrm>
          <a:prstGeom prst="roundRect">
            <a:avLst>
              <a:gd name="adj" fmla="val 4091"/>
            </a:avLst>
          </a:prstGeom>
          <a:solidFill>
            <a:srgbClr val="ECEAE4"/>
          </a:solidFill>
          <a:ln w="12700">
            <a:solidFill>
              <a:srgbClr val="ECEAE4"/>
            </a:solidFill>
            <a:prstDash val="solid"/>
          </a:ln>
        </p:spPr>
      </p:sp>
      <p:sp>
        <p:nvSpPr>
          <p:cNvPr id="20" name="Shape 18"/>
          <p:cNvSpPr/>
          <p:nvPr/>
        </p:nvSpPr>
        <p:spPr>
          <a:xfrm>
            <a:off x="9180576" y="1828800"/>
            <a:ext cx="2468880" cy="82296"/>
          </a:xfrm>
          <a:prstGeom prst="rect">
            <a:avLst/>
          </a:prstGeom>
          <a:solidFill>
            <a:srgbClr val="0E7C6B"/>
          </a:solidFill>
          <a:ln w="12700">
            <a:solidFill>
              <a:srgbClr val="0E7C6B"/>
            </a:solidFill>
            <a:prstDash val="solid"/>
          </a:ln>
        </p:spPr>
      </p:sp>
      <p:sp>
        <p:nvSpPr>
          <p:cNvPr id="21" name="Text 19"/>
          <p:cNvSpPr/>
          <p:nvPr/>
        </p:nvSpPr>
        <p:spPr>
          <a:xfrm>
            <a:off x="9363456" y="2011680"/>
            <a:ext cx="2103120" cy="68580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La santé</a:t>
            </a:r>
            <a:endParaRPr lang="en-US" sz="1700" dirty="0"/>
          </a:p>
        </p:txBody>
      </p:sp>
      <p:sp>
        <p:nvSpPr>
          <p:cNvPr id="22" name="Text 20"/>
          <p:cNvSpPr/>
          <p:nvPr/>
        </p:nvSpPr>
        <p:spPr>
          <a:xfrm>
            <a:off x="9363456" y="2697480"/>
            <a:ext cx="2103120" cy="10972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les réhospitalisations de la patiente</a:t>
            </a:r>
            <a:endParaRPr lang="en-US" sz="1500" dirty="0"/>
          </a:p>
        </p:txBody>
      </p:sp>
      <p:sp>
        <p:nvSpPr>
          <p:cNvPr id="23" name="Text 21"/>
          <p:cNvSpPr/>
          <p:nvPr/>
        </p:nvSpPr>
        <p:spPr>
          <a:xfrm>
            <a:off x="594360" y="4114800"/>
            <a:ext cx="10972800" cy="8686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Pour la patiente : la retraite relève de la position sociale ; le bois de chauffage, la solitude et le trajet jusqu’au médecin sont les conditions concrètes par lesquelles la position sociale atteint sa santé.</a:t>
            </a:r>
            <a:endParaRPr lang="en-US" sz="1700" dirty="0"/>
          </a:p>
        </p:txBody>
      </p:sp>
      <p:sp>
        <p:nvSpPr>
          <p:cNvPr id="24" name="Text 22"/>
          <p:cNvSpPr/>
          <p:nvPr/>
        </p:nvSpPr>
        <p:spPr>
          <a:xfrm>
            <a:off x="594360" y="5074920"/>
            <a:ext cx="10972800" cy="41148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Le système de santé est lui-même l’une des conditions concrètes.</a:t>
            </a:r>
            <a:endParaRPr lang="en-US" sz="1700" dirty="0"/>
          </a:p>
        </p:txBody>
      </p:sp>
      <p:sp>
        <p:nvSpPr>
          <p:cNvPr id="25" name="Text 2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cadre conceptuel de l’OMS (Solar et Irwin, 2010), élaboré pour la Commission des déterminants sociaux de la santé de l’OMS ; dans la fiche de la discipline, « classification OMS-CSDH 2008 ».</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CANADA, 1974 · RAPPORT LALONDE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 La carte du territoire de la santé » : quatre éléments égaux</a:t>
            </a:r>
            <a:endParaRPr lang="en-US" sz="3000" dirty="0"/>
          </a:p>
        </p:txBody>
      </p:sp>
      <p:sp>
        <p:nvSpPr>
          <p:cNvPr id="4" name="Shape 2"/>
          <p:cNvSpPr/>
          <p:nvPr/>
        </p:nvSpPr>
        <p:spPr>
          <a:xfrm>
            <a:off x="594360" y="1783080"/>
            <a:ext cx="2697480" cy="1417320"/>
          </a:xfrm>
          <a:prstGeom prst="roundRect">
            <a:avLst>
              <a:gd name="adj" fmla="val 5806"/>
            </a:avLst>
          </a:prstGeom>
          <a:solidFill>
            <a:srgbClr val="B02532"/>
          </a:solidFill>
          <a:ln w="12700">
            <a:solidFill>
              <a:srgbClr val="B02532"/>
            </a:solidFill>
            <a:prstDash val="solid"/>
          </a:ln>
        </p:spPr>
      </p:sp>
      <p:sp>
        <p:nvSpPr>
          <p:cNvPr id="5" name="Text 3"/>
          <p:cNvSpPr/>
          <p:nvPr/>
        </p:nvSpPr>
        <p:spPr>
          <a:xfrm>
            <a:off x="777240" y="1783080"/>
            <a:ext cx="2331720" cy="141732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Biologie humaine</a:t>
            </a:r>
            <a:endParaRPr lang="en-US" sz="1900" dirty="0"/>
          </a:p>
        </p:txBody>
      </p:sp>
      <p:sp>
        <p:nvSpPr>
          <p:cNvPr id="6" name="Shape 4"/>
          <p:cNvSpPr/>
          <p:nvPr/>
        </p:nvSpPr>
        <p:spPr>
          <a:xfrm>
            <a:off x="3474720" y="1783080"/>
            <a:ext cx="2697480" cy="1417320"/>
          </a:xfrm>
          <a:prstGeom prst="roundRect">
            <a:avLst>
              <a:gd name="adj" fmla="val 5806"/>
            </a:avLst>
          </a:prstGeom>
          <a:solidFill>
            <a:srgbClr val="0E7C6B"/>
          </a:solidFill>
          <a:ln w="12700">
            <a:solidFill>
              <a:srgbClr val="0E7C6B"/>
            </a:solidFill>
            <a:prstDash val="solid"/>
          </a:ln>
        </p:spPr>
      </p:sp>
      <p:sp>
        <p:nvSpPr>
          <p:cNvPr id="7" name="Text 5"/>
          <p:cNvSpPr/>
          <p:nvPr/>
        </p:nvSpPr>
        <p:spPr>
          <a:xfrm>
            <a:off x="3657600" y="1783080"/>
            <a:ext cx="2331720" cy="141732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Environnement</a:t>
            </a:r>
            <a:endParaRPr lang="en-US" sz="1900" dirty="0"/>
          </a:p>
        </p:txBody>
      </p:sp>
      <p:sp>
        <p:nvSpPr>
          <p:cNvPr id="8" name="Shape 6"/>
          <p:cNvSpPr/>
          <p:nvPr/>
        </p:nvSpPr>
        <p:spPr>
          <a:xfrm>
            <a:off x="594360" y="3383280"/>
            <a:ext cx="2697480" cy="1417320"/>
          </a:xfrm>
          <a:prstGeom prst="roundRect">
            <a:avLst>
              <a:gd name="adj" fmla="val 5806"/>
            </a:avLst>
          </a:prstGeom>
          <a:solidFill>
            <a:srgbClr val="4A2D8C"/>
          </a:solidFill>
          <a:ln w="12700">
            <a:solidFill>
              <a:srgbClr val="4A2D8C"/>
            </a:solidFill>
            <a:prstDash val="solid"/>
          </a:ln>
        </p:spPr>
      </p:sp>
      <p:sp>
        <p:nvSpPr>
          <p:cNvPr id="9" name="Text 7"/>
          <p:cNvSpPr/>
          <p:nvPr/>
        </p:nvSpPr>
        <p:spPr>
          <a:xfrm>
            <a:off x="777240" y="3383280"/>
            <a:ext cx="2331720" cy="141732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Habitudes de vie</a:t>
            </a:r>
            <a:endParaRPr lang="en-US" sz="1900" dirty="0"/>
          </a:p>
        </p:txBody>
      </p:sp>
      <p:sp>
        <p:nvSpPr>
          <p:cNvPr id="10" name="Shape 8"/>
          <p:cNvSpPr/>
          <p:nvPr/>
        </p:nvSpPr>
        <p:spPr>
          <a:xfrm>
            <a:off x="3474720" y="3383280"/>
            <a:ext cx="2697480" cy="1417320"/>
          </a:xfrm>
          <a:prstGeom prst="roundRect">
            <a:avLst>
              <a:gd name="adj" fmla="val 5806"/>
            </a:avLst>
          </a:prstGeom>
          <a:solidFill>
            <a:srgbClr val="8A6100"/>
          </a:solidFill>
          <a:ln w="12700">
            <a:solidFill>
              <a:srgbClr val="8A6100"/>
            </a:solidFill>
            <a:prstDash val="solid"/>
          </a:ln>
        </p:spPr>
      </p:sp>
      <p:sp>
        <p:nvSpPr>
          <p:cNvPr id="11" name="Text 9"/>
          <p:cNvSpPr/>
          <p:nvPr/>
        </p:nvSpPr>
        <p:spPr>
          <a:xfrm>
            <a:off x="3657600" y="3383280"/>
            <a:ext cx="2331720" cy="141732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Organisation des soins</a:t>
            </a:r>
            <a:endParaRPr lang="en-US" sz="1900" dirty="0"/>
          </a:p>
        </p:txBody>
      </p:sp>
      <p:sp>
        <p:nvSpPr>
          <p:cNvPr id="12" name="Text 10"/>
          <p:cNvSpPr/>
          <p:nvPr/>
        </p:nvSpPr>
        <p:spPr>
          <a:xfrm>
            <a:off x="6583680" y="1783080"/>
            <a:ext cx="4983480" cy="19202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Les efforts et l’argent allaient surtout à l’organisation des soins, alors que de nombreuses causes de maladie et de décès se trouvaient dans les trois autres éléments.</a:t>
            </a:r>
            <a:endParaRPr lang="en-US" sz="1800" dirty="0"/>
          </a:p>
        </p:txBody>
      </p:sp>
      <p:sp>
        <p:nvSpPr>
          <p:cNvPr id="13" name="Text 11"/>
          <p:cNvSpPr/>
          <p:nvPr/>
        </p:nvSpPr>
        <p:spPr>
          <a:xfrm>
            <a:off x="6583680" y="3840480"/>
            <a:ext cx="4983480" cy="1188720"/>
          </a:xfrm>
          <a:prstGeom prst="rect">
            <a:avLst/>
          </a:prstGeom>
          <a:noFill/>
          <a:ln/>
        </p:spPr>
        <p:txBody>
          <a:bodyPr wrap="square" lIns="0" tIns="0" rIns="0" bIns="0" rtlCol="0" anchor="t"/>
          <a:lstStyle/>
          <a:p>
            <a:pPr indent="0" marL="0">
              <a:buNone/>
            </a:pPr>
            <a:r>
              <a:rPr lang="en-US" sz="1900" b="1" dirty="0">
                <a:solidFill>
                  <a:srgbClr val="8A6100"/>
                </a:solidFill>
                <a:latin typeface="Palatino Linotype" pitchFamily="34" charset="0"/>
                <a:ea typeface="Palatino Linotype" pitchFamily="34" charset="-122"/>
                <a:cs typeface="Palatino Linotype" pitchFamily="34" charset="-120"/>
              </a:rPr>
              <a:t>Le modèle a retiré les services médicaux de la position de seul déterminant de la santé.</a:t>
            </a:r>
            <a:endParaRPr lang="en-US" sz="1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AVEC VOTRE VOISIN</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DAHLGREN ET WHITEHEAD, 1991</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Des couches d’influence autour de la personne</a:t>
            </a:r>
            <a:endParaRPr lang="en-US" sz="3000" dirty="0"/>
          </a:p>
        </p:txBody>
      </p:sp>
      <p:sp>
        <p:nvSpPr>
          <p:cNvPr id="6" name="Shape 4"/>
          <p:cNvSpPr/>
          <p:nvPr/>
        </p:nvSpPr>
        <p:spPr>
          <a:xfrm>
            <a:off x="548640" y="2194560"/>
            <a:ext cx="7589520" cy="7589520"/>
          </a:xfrm>
          <a:prstGeom prst="ellipse">
            <a:avLst/>
          </a:prstGeom>
          <a:solidFill>
            <a:srgbClr val="E6DEFA"/>
          </a:solidFill>
          <a:ln w="19050">
            <a:solidFill>
              <a:srgbClr val="F6F5F2"/>
            </a:solidFill>
            <a:prstDash val="solid"/>
          </a:ln>
        </p:spPr>
      </p:sp>
      <p:sp>
        <p:nvSpPr>
          <p:cNvPr id="7" name="Shape 5"/>
          <p:cNvSpPr/>
          <p:nvPr/>
        </p:nvSpPr>
        <p:spPr>
          <a:xfrm>
            <a:off x="1371600" y="3017520"/>
            <a:ext cx="5943600" cy="5943600"/>
          </a:xfrm>
          <a:prstGeom prst="ellipse">
            <a:avLst/>
          </a:prstGeom>
          <a:solidFill>
            <a:srgbClr val="D3F1EC"/>
          </a:solidFill>
          <a:ln w="19050">
            <a:solidFill>
              <a:srgbClr val="F6F5F2"/>
            </a:solidFill>
            <a:prstDash val="solid"/>
          </a:ln>
        </p:spPr>
      </p:sp>
      <p:sp>
        <p:nvSpPr>
          <p:cNvPr id="8" name="Shape 6"/>
          <p:cNvSpPr/>
          <p:nvPr/>
        </p:nvSpPr>
        <p:spPr>
          <a:xfrm>
            <a:off x="2148840" y="3794760"/>
            <a:ext cx="4389120" cy="4389120"/>
          </a:xfrm>
          <a:prstGeom prst="ellipse">
            <a:avLst/>
          </a:prstGeom>
          <a:solidFill>
            <a:srgbClr val="FFEFC7"/>
          </a:solidFill>
          <a:ln w="19050">
            <a:solidFill>
              <a:srgbClr val="F6F5F2"/>
            </a:solidFill>
            <a:prstDash val="solid"/>
          </a:ln>
        </p:spPr>
      </p:sp>
      <p:sp>
        <p:nvSpPr>
          <p:cNvPr id="9" name="Shape 7"/>
          <p:cNvSpPr/>
          <p:nvPr/>
        </p:nvSpPr>
        <p:spPr>
          <a:xfrm>
            <a:off x="2880360" y="4526280"/>
            <a:ext cx="2926080" cy="2926080"/>
          </a:xfrm>
          <a:prstGeom prst="ellipse">
            <a:avLst/>
          </a:prstGeom>
          <a:solidFill>
            <a:srgbClr val="FFDADE"/>
          </a:solidFill>
          <a:ln w="19050">
            <a:solidFill>
              <a:srgbClr val="F6F5F2"/>
            </a:solidFill>
            <a:prstDash val="solid"/>
          </a:ln>
        </p:spPr>
      </p:sp>
      <p:sp>
        <p:nvSpPr>
          <p:cNvPr id="10" name="Shape 8"/>
          <p:cNvSpPr/>
          <p:nvPr/>
        </p:nvSpPr>
        <p:spPr>
          <a:xfrm>
            <a:off x="3593592" y="5239512"/>
            <a:ext cx="1499616" cy="1499616"/>
          </a:xfrm>
          <a:prstGeom prst="ellipse">
            <a:avLst/>
          </a:prstGeom>
          <a:solidFill>
            <a:srgbClr val="11121A"/>
          </a:solidFill>
          <a:ln w="19050">
            <a:solidFill>
              <a:srgbClr val="F6F5F2"/>
            </a:solidFill>
            <a:prstDash val="solid"/>
          </a:ln>
        </p:spPr>
      </p:sp>
      <p:sp>
        <p:nvSpPr>
          <p:cNvPr id="11" name="Shape 9"/>
          <p:cNvSpPr/>
          <p:nvPr/>
        </p:nvSpPr>
        <p:spPr>
          <a:xfrm>
            <a:off x="0" y="5989320"/>
            <a:ext cx="8686800" cy="868680"/>
          </a:xfrm>
          <a:prstGeom prst="rect">
            <a:avLst/>
          </a:prstGeom>
          <a:solidFill>
            <a:srgbClr val="F6F5F2"/>
          </a:solidFill>
          <a:ln w="12700">
            <a:solidFill>
              <a:srgbClr val="F6F5F2"/>
            </a:solidFill>
            <a:prstDash val="solid"/>
          </a:ln>
        </p:spPr>
      </p:sp>
      <p:sp>
        <p:nvSpPr>
          <p:cNvPr id="12" name="Text 10"/>
          <p:cNvSpPr/>
          <p:nvPr/>
        </p:nvSpPr>
        <p:spPr>
          <a:xfrm>
            <a:off x="2560320" y="2267712"/>
            <a:ext cx="3566160" cy="713232"/>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Conditions socio-économiques, culturelles et environnementales</a:t>
            </a:r>
            <a:endParaRPr lang="en-US" sz="1300" dirty="0"/>
          </a:p>
        </p:txBody>
      </p:sp>
      <p:sp>
        <p:nvSpPr>
          <p:cNvPr id="13" name="Text 11"/>
          <p:cNvSpPr/>
          <p:nvPr/>
        </p:nvSpPr>
        <p:spPr>
          <a:xfrm>
            <a:off x="2560320" y="3090672"/>
            <a:ext cx="3566160" cy="667512"/>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Conditions de vie et de travail, dont les services de santé</a:t>
            </a:r>
            <a:endParaRPr lang="en-US" sz="1300" dirty="0"/>
          </a:p>
        </p:txBody>
      </p:sp>
      <p:sp>
        <p:nvSpPr>
          <p:cNvPr id="14" name="Text 12"/>
          <p:cNvSpPr/>
          <p:nvPr/>
        </p:nvSpPr>
        <p:spPr>
          <a:xfrm>
            <a:off x="2788920" y="3867912"/>
            <a:ext cx="3108960" cy="621792"/>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Réseaux sociaux et communautaires</a:t>
            </a:r>
            <a:endParaRPr lang="en-US" sz="1300" dirty="0"/>
          </a:p>
        </p:txBody>
      </p:sp>
      <p:sp>
        <p:nvSpPr>
          <p:cNvPr id="15" name="Text 13"/>
          <p:cNvSpPr/>
          <p:nvPr/>
        </p:nvSpPr>
        <p:spPr>
          <a:xfrm>
            <a:off x="3337560" y="4599432"/>
            <a:ext cx="2011680" cy="60350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Mode de vie</a:t>
            </a:r>
            <a:endParaRPr lang="en-US" sz="1300" dirty="0"/>
          </a:p>
        </p:txBody>
      </p:sp>
      <p:sp>
        <p:nvSpPr>
          <p:cNvPr id="16" name="Text 14"/>
          <p:cNvSpPr/>
          <p:nvPr/>
        </p:nvSpPr>
        <p:spPr>
          <a:xfrm>
            <a:off x="3657600" y="5440680"/>
            <a:ext cx="13716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Âge, sexe</a:t>
            </a:r>
            <a:endParaRPr lang="en-US" sz="1300" dirty="0"/>
          </a:p>
        </p:txBody>
      </p:sp>
      <p:sp>
        <p:nvSpPr>
          <p:cNvPr id="17" name="Text 15"/>
          <p:cNvSpPr/>
          <p:nvPr/>
        </p:nvSpPr>
        <p:spPr>
          <a:xfrm>
            <a:off x="594360" y="6099048"/>
            <a:ext cx="7863840" cy="27432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Le centre (âge, sexe, facteurs constitutionnels) n’est pas une couche.</a:t>
            </a:r>
            <a:endParaRPr lang="en-US" sz="1300" dirty="0"/>
          </a:p>
        </p:txBody>
      </p:sp>
      <p:sp>
        <p:nvSpPr>
          <p:cNvPr id="18" name="Text 16"/>
          <p:cNvSpPr/>
          <p:nvPr/>
        </p:nvSpPr>
        <p:spPr>
          <a:xfrm>
            <a:off x="8732520" y="1691640"/>
            <a:ext cx="2926080" cy="64008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Placez sur les couches la situation de la patiente :</a:t>
            </a:r>
            <a:endParaRPr lang="en-US" sz="1600" dirty="0"/>
          </a:p>
        </p:txBody>
      </p:sp>
      <p:sp>
        <p:nvSpPr>
          <p:cNvPr id="19" name="Shape 17"/>
          <p:cNvSpPr/>
          <p:nvPr/>
        </p:nvSpPr>
        <p:spPr>
          <a:xfrm>
            <a:off x="8732520" y="2423160"/>
            <a:ext cx="2834640" cy="548640"/>
          </a:xfrm>
          <a:prstGeom prst="roundRect">
            <a:avLst>
              <a:gd name="adj" fmla="val 15000"/>
            </a:avLst>
          </a:prstGeom>
          <a:solidFill>
            <a:srgbClr val="ECEAE4"/>
          </a:solidFill>
          <a:ln w="12700">
            <a:solidFill>
              <a:srgbClr val="ECEAE4"/>
            </a:solidFill>
            <a:prstDash val="solid"/>
          </a:ln>
        </p:spPr>
      </p:sp>
      <p:sp>
        <p:nvSpPr>
          <p:cNvPr id="20" name="Text 18"/>
          <p:cNvSpPr/>
          <p:nvPr/>
        </p:nvSpPr>
        <p:spPr>
          <a:xfrm>
            <a:off x="8869680" y="2423160"/>
            <a:ext cx="2606040" cy="54864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l’alimentation et l’observance du traitement</a:t>
            </a:r>
            <a:endParaRPr lang="en-US" sz="1300" dirty="0"/>
          </a:p>
        </p:txBody>
      </p:sp>
      <p:sp>
        <p:nvSpPr>
          <p:cNvPr id="21" name="Shape 19"/>
          <p:cNvSpPr/>
          <p:nvPr/>
        </p:nvSpPr>
        <p:spPr>
          <a:xfrm>
            <a:off x="8732520" y="3081528"/>
            <a:ext cx="2834640" cy="548640"/>
          </a:xfrm>
          <a:prstGeom prst="roundRect">
            <a:avLst>
              <a:gd name="adj" fmla="val 15000"/>
            </a:avLst>
          </a:prstGeom>
          <a:solidFill>
            <a:srgbClr val="ECEAE4"/>
          </a:solidFill>
          <a:ln w="12700">
            <a:solidFill>
              <a:srgbClr val="ECEAE4"/>
            </a:solidFill>
            <a:prstDash val="solid"/>
          </a:ln>
        </p:spPr>
      </p:sp>
      <p:sp>
        <p:nvSpPr>
          <p:cNvPr id="22" name="Text 20"/>
          <p:cNvSpPr/>
          <p:nvPr/>
        </p:nvSpPr>
        <p:spPr>
          <a:xfrm>
            <a:off x="8869680" y="3081528"/>
            <a:ext cx="2606040" cy="54864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elle vit seule</a:t>
            </a:r>
            <a:endParaRPr lang="en-US" sz="1300" dirty="0"/>
          </a:p>
        </p:txBody>
      </p:sp>
      <p:sp>
        <p:nvSpPr>
          <p:cNvPr id="23" name="Shape 21"/>
          <p:cNvSpPr/>
          <p:nvPr/>
        </p:nvSpPr>
        <p:spPr>
          <a:xfrm>
            <a:off x="8732520" y="3739896"/>
            <a:ext cx="2834640" cy="548640"/>
          </a:xfrm>
          <a:prstGeom prst="roundRect">
            <a:avLst>
              <a:gd name="adj" fmla="val 15000"/>
            </a:avLst>
          </a:prstGeom>
          <a:solidFill>
            <a:srgbClr val="ECEAE4"/>
          </a:solidFill>
          <a:ln w="12700">
            <a:solidFill>
              <a:srgbClr val="ECEAE4"/>
            </a:solidFill>
            <a:prstDash val="solid"/>
          </a:ln>
        </p:spPr>
      </p:sp>
      <p:sp>
        <p:nvSpPr>
          <p:cNvPr id="24" name="Text 22"/>
          <p:cNvSpPr/>
          <p:nvPr/>
        </p:nvSpPr>
        <p:spPr>
          <a:xfrm>
            <a:off x="8869680" y="3739896"/>
            <a:ext cx="2606040" cy="54864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un logement difficile à chauffer</a:t>
            </a:r>
            <a:endParaRPr lang="en-US" sz="1300" dirty="0"/>
          </a:p>
        </p:txBody>
      </p:sp>
      <p:sp>
        <p:nvSpPr>
          <p:cNvPr id="25" name="Shape 23"/>
          <p:cNvSpPr/>
          <p:nvPr/>
        </p:nvSpPr>
        <p:spPr>
          <a:xfrm>
            <a:off x="8732520" y="4398264"/>
            <a:ext cx="2834640" cy="548640"/>
          </a:xfrm>
          <a:prstGeom prst="roundRect">
            <a:avLst>
              <a:gd name="adj" fmla="val 15000"/>
            </a:avLst>
          </a:prstGeom>
          <a:solidFill>
            <a:srgbClr val="ECEAE4"/>
          </a:solidFill>
          <a:ln w="12700">
            <a:solidFill>
              <a:srgbClr val="ECEAE4"/>
            </a:solidFill>
            <a:prstDash val="solid"/>
          </a:ln>
        </p:spPr>
      </p:sp>
      <p:sp>
        <p:nvSpPr>
          <p:cNvPr id="26" name="Text 24"/>
          <p:cNvSpPr/>
          <p:nvPr/>
        </p:nvSpPr>
        <p:spPr>
          <a:xfrm>
            <a:off x="8869680" y="4398264"/>
            <a:ext cx="2606040" cy="54864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le trajet jusqu’au médecin de famille</a:t>
            </a:r>
            <a:endParaRPr lang="en-US" sz="1300" dirty="0"/>
          </a:p>
        </p:txBody>
      </p:sp>
      <p:sp>
        <p:nvSpPr>
          <p:cNvPr id="27" name="Shape 25"/>
          <p:cNvSpPr/>
          <p:nvPr/>
        </p:nvSpPr>
        <p:spPr>
          <a:xfrm>
            <a:off x="8732520" y="5056632"/>
            <a:ext cx="2834640" cy="548640"/>
          </a:xfrm>
          <a:prstGeom prst="roundRect">
            <a:avLst>
              <a:gd name="adj" fmla="val 15000"/>
            </a:avLst>
          </a:prstGeom>
          <a:solidFill>
            <a:srgbClr val="ECEAE4"/>
          </a:solidFill>
          <a:ln w="12700">
            <a:solidFill>
              <a:srgbClr val="ECEAE4"/>
            </a:solidFill>
            <a:prstDash val="solid"/>
          </a:ln>
        </p:spPr>
      </p:sp>
      <p:sp>
        <p:nvSpPr>
          <p:cNvPr id="28" name="Text 26"/>
          <p:cNvSpPr/>
          <p:nvPr/>
        </p:nvSpPr>
        <p:spPr>
          <a:xfrm>
            <a:off x="8869680" y="5056632"/>
            <a:ext cx="2606040" cy="548640"/>
          </a:xfrm>
          <a:prstGeom prst="rect">
            <a:avLst/>
          </a:prstGeom>
          <a:noFill/>
          <a:ln/>
        </p:spPr>
        <p:txBody>
          <a:bodyPr wrap="square" lIns="0" tIns="0" rIns="0" bIns="0" rtlCol="0" anchor="ctr"/>
          <a:lstStyle/>
          <a:p>
            <a:pPr indent="0" marL="0">
              <a:buNone/>
            </a:pPr>
            <a:r>
              <a:rPr lang="en-US" sz="1300" dirty="0">
                <a:solidFill>
                  <a:srgbClr val="11121A"/>
                </a:solidFill>
                <a:latin typeface="Palatino Linotype" pitchFamily="34" charset="0"/>
                <a:ea typeface="Palatino Linotype" pitchFamily="34" charset="-122"/>
                <a:cs typeface="Palatino Linotype" pitchFamily="34" charset="-120"/>
              </a:rPr>
              <a:t>le niveau des retraites</a:t>
            </a:r>
            <a:endParaRPr lang="en-US" sz="1300" dirty="0"/>
          </a:p>
        </p:txBody>
      </p:sp>
      <p:sp>
        <p:nvSpPr>
          <p:cNvPr id="29" name="Text 27"/>
          <p:cNvSpPr/>
          <p:nvPr/>
        </p:nvSpPr>
        <p:spPr>
          <a:xfrm>
            <a:off x="8732520" y="5760720"/>
            <a:ext cx="2926080" cy="54864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Le modèle n’attribue pas de poids numériques aux couches.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LA PATIENTE, COUCHE PAR COUCHE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que la feuille d’observation ne disait pas</a:t>
            </a:r>
            <a:endParaRPr lang="en-US" sz="3200" dirty="0"/>
          </a:p>
        </p:txBody>
      </p:sp>
      <p:sp>
        <p:nvSpPr>
          <p:cNvPr id="4" name="Shape 2"/>
          <p:cNvSpPr/>
          <p:nvPr/>
        </p:nvSpPr>
        <p:spPr>
          <a:xfrm>
            <a:off x="594360" y="1737360"/>
            <a:ext cx="10972800" cy="676656"/>
          </a:xfrm>
          <a:prstGeom prst="roundRect">
            <a:avLst>
              <a:gd name="adj" fmla="val 12162"/>
            </a:avLst>
          </a:prstGeom>
          <a:solidFill>
            <a:srgbClr val="ECEAE4"/>
          </a:solidFill>
          <a:ln w="12700">
            <a:solidFill>
              <a:srgbClr val="ECEAE4"/>
            </a:solidFill>
            <a:prstDash val="solid"/>
          </a:ln>
        </p:spPr>
      </p:sp>
      <p:sp>
        <p:nvSpPr>
          <p:cNvPr id="5" name="Text 3"/>
          <p:cNvSpPr/>
          <p:nvPr/>
        </p:nvSpPr>
        <p:spPr>
          <a:xfrm>
            <a:off x="868680" y="1737360"/>
            <a:ext cx="2377440" cy="676656"/>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Le centre</a:t>
            </a:r>
            <a:endParaRPr lang="en-US" sz="1600" dirty="0"/>
          </a:p>
        </p:txBody>
      </p:sp>
      <p:sp>
        <p:nvSpPr>
          <p:cNvPr id="6" name="Text 4"/>
          <p:cNvSpPr/>
          <p:nvPr/>
        </p:nvSpPr>
        <p:spPr>
          <a:xfrm>
            <a:off x="3383280" y="1737360"/>
            <a:ext cx="7955280" cy="676656"/>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l’âge et le sexe</a:t>
            </a:r>
            <a:endParaRPr lang="en-US" sz="1700" dirty="0"/>
          </a:p>
        </p:txBody>
      </p:sp>
      <p:sp>
        <p:nvSpPr>
          <p:cNvPr id="7" name="Shape 5"/>
          <p:cNvSpPr/>
          <p:nvPr/>
        </p:nvSpPr>
        <p:spPr>
          <a:xfrm>
            <a:off x="594360" y="2523744"/>
            <a:ext cx="10972800" cy="676656"/>
          </a:xfrm>
          <a:prstGeom prst="roundRect">
            <a:avLst>
              <a:gd name="adj" fmla="val 12162"/>
            </a:avLst>
          </a:prstGeom>
          <a:solidFill>
            <a:srgbClr val="F9F8F5"/>
          </a:solidFill>
          <a:ln w="12700">
            <a:solidFill>
              <a:srgbClr val="F9F8F5"/>
            </a:solidFill>
            <a:prstDash val="solid"/>
          </a:ln>
        </p:spPr>
      </p:sp>
      <p:sp>
        <p:nvSpPr>
          <p:cNvPr id="8" name="Text 6"/>
          <p:cNvSpPr/>
          <p:nvPr/>
        </p:nvSpPr>
        <p:spPr>
          <a:xfrm>
            <a:off x="868680" y="2523744"/>
            <a:ext cx="2377440" cy="676656"/>
          </a:xfrm>
          <a:prstGeom prst="rect">
            <a:avLst/>
          </a:prstGeom>
          <a:noFill/>
          <a:ln/>
        </p:spPr>
        <p:txBody>
          <a:bodyPr wrap="square" lIns="0" tIns="0" rIns="0" bIns="0" rtlCol="0" anchor="ctr"/>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Première couche</a:t>
            </a:r>
            <a:endParaRPr lang="en-US" sz="1600" dirty="0"/>
          </a:p>
        </p:txBody>
      </p:sp>
      <p:sp>
        <p:nvSpPr>
          <p:cNvPr id="9" name="Text 7"/>
          <p:cNvSpPr/>
          <p:nvPr/>
        </p:nvSpPr>
        <p:spPr>
          <a:xfrm>
            <a:off x="3383280" y="2523744"/>
            <a:ext cx="7955280" cy="676656"/>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l’alimentation et l’observance du traitement</a:t>
            </a:r>
            <a:endParaRPr lang="en-US" sz="1700" dirty="0"/>
          </a:p>
        </p:txBody>
      </p:sp>
      <p:sp>
        <p:nvSpPr>
          <p:cNvPr id="10" name="Shape 8"/>
          <p:cNvSpPr/>
          <p:nvPr/>
        </p:nvSpPr>
        <p:spPr>
          <a:xfrm>
            <a:off x="594360" y="3310128"/>
            <a:ext cx="10972800" cy="676656"/>
          </a:xfrm>
          <a:prstGeom prst="roundRect">
            <a:avLst>
              <a:gd name="adj" fmla="val 12162"/>
            </a:avLst>
          </a:prstGeom>
          <a:solidFill>
            <a:srgbClr val="ECEAE4"/>
          </a:solidFill>
          <a:ln w="12700">
            <a:solidFill>
              <a:srgbClr val="ECEAE4"/>
            </a:solidFill>
            <a:prstDash val="solid"/>
          </a:ln>
        </p:spPr>
      </p:sp>
      <p:sp>
        <p:nvSpPr>
          <p:cNvPr id="11" name="Text 9"/>
          <p:cNvSpPr/>
          <p:nvPr/>
        </p:nvSpPr>
        <p:spPr>
          <a:xfrm>
            <a:off x="868680" y="3310128"/>
            <a:ext cx="2377440" cy="676656"/>
          </a:xfrm>
          <a:prstGeom prst="rect">
            <a:avLst/>
          </a:prstGeom>
          <a:noFill/>
          <a:ln/>
        </p:spPr>
        <p:txBody>
          <a:bodyPr wrap="square" lIns="0" tIns="0" rIns="0" bIns="0" rtlCol="0" anchor="ctr"/>
          <a:lstStyle/>
          <a:p>
            <a:pPr indent="0" marL="0">
              <a:buNone/>
            </a:pPr>
            <a:r>
              <a:rPr lang="en-US" sz="1600" b="1" dirty="0">
                <a:solidFill>
                  <a:srgbClr val="8A6100"/>
                </a:solidFill>
                <a:latin typeface="Palatino Linotype" pitchFamily="34" charset="0"/>
                <a:ea typeface="Palatino Linotype" pitchFamily="34" charset="-122"/>
                <a:cs typeface="Palatino Linotype" pitchFamily="34" charset="-120"/>
              </a:rPr>
              <a:t>Deuxième couche</a:t>
            </a:r>
            <a:endParaRPr lang="en-US" sz="1600" dirty="0"/>
          </a:p>
        </p:txBody>
      </p:sp>
      <p:sp>
        <p:nvSpPr>
          <p:cNvPr id="12" name="Text 10"/>
          <p:cNvSpPr/>
          <p:nvPr/>
        </p:nvSpPr>
        <p:spPr>
          <a:xfrm>
            <a:off x="3383280" y="3310128"/>
            <a:ext cx="7955280" cy="676656"/>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elle vit seule</a:t>
            </a:r>
            <a:endParaRPr lang="en-US" sz="1700" dirty="0"/>
          </a:p>
        </p:txBody>
      </p:sp>
      <p:sp>
        <p:nvSpPr>
          <p:cNvPr id="13" name="Shape 11"/>
          <p:cNvSpPr/>
          <p:nvPr/>
        </p:nvSpPr>
        <p:spPr>
          <a:xfrm>
            <a:off x="594360" y="4096512"/>
            <a:ext cx="10972800" cy="676656"/>
          </a:xfrm>
          <a:prstGeom prst="roundRect">
            <a:avLst>
              <a:gd name="adj" fmla="val 12162"/>
            </a:avLst>
          </a:prstGeom>
          <a:solidFill>
            <a:srgbClr val="F9F8F5"/>
          </a:solidFill>
          <a:ln w="12700">
            <a:solidFill>
              <a:srgbClr val="F9F8F5"/>
            </a:solidFill>
            <a:prstDash val="solid"/>
          </a:ln>
        </p:spPr>
      </p:sp>
      <p:sp>
        <p:nvSpPr>
          <p:cNvPr id="14" name="Text 12"/>
          <p:cNvSpPr/>
          <p:nvPr/>
        </p:nvSpPr>
        <p:spPr>
          <a:xfrm>
            <a:off x="868680" y="4096512"/>
            <a:ext cx="2377440" cy="676656"/>
          </a:xfrm>
          <a:prstGeom prst="rect">
            <a:avLst/>
          </a:prstGeom>
          <a:noFill/>
          <a:ln/>
        </p:spPr>
        <p:txBody>
          <a:bodyPr wrap="square" lIns="0" tIns="0" rIns="0" bIns="0" rtlCol="0" anchor="ctr"/>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Troisième couche</a:t>
            </a:r>
            <a:endParaRPr lang="en-US" sz="1600" dirty="0"/>
          </a:p>
        </p:txBody>
      </p:sp>
      <p:sp>
        <p:nvSpPr>
          <p:cNvPr id="15" name="Text 13"/>
          <p:cNvSpPr/>
          <p:nvPr/>
        </p:nvSpPr>
        <p:spPr>
          <a:xfrm>
            <a:off x="3383280" y="4096512"/>
            <a:ext cx="7955280" cy="676656"/>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logement difficile à chauffer, distance jusqu’au médecin de famille, accès aux médicaments</a:t>
            </a:r>
            <a:endParaRPr lang="en-US" sz="1700" dirty="0"/>
          </a:p>
        </p:txBody>
      </p:sp>
      <p:sp>
        <p:nvSpPr>
          <p:cNvPr id="16" name="Shape 14"/>
          <p:cNvSpPr/>
          <p:nvPr/>
        </p:nvSpPr>
        <p:spPr>
          <a:xfrm>
            <a:off x="594360" y="4882896"/>
            <a:ext cx="10972800" cy="676656"/>
          </a:xfrm>
          <a:prstGeom prst="roundRect">
            <a:avLst>
              <a:gd name="adj" fmla="val 12162"/>
            </a:avLst>
          </a:prstGeom>
          <a:solidFill>
            <a:srgbClr val="ECEAE4"/>
          </a:solidFill>
          <a:ln w="12700">
            <a:solidFill>
              <a:srgbClr val="ECEAE4"/>
            </a:solidFill>
            <a:prstDash val="solid"/>
          </a:ln>
        </p:spPr>
      </p:sp>
      <p:sp>
        <p:nvSpPr>
          <p:cNvPr id="17" name="Text 15"/>
          <p:cNvSpPr/>
          <p:nvPr/>
        </p:nvSpPr>
        <p:spPr>
          <a:xfrm>
            <a:off x="868680" y="4882896"/>
            <a:ext cx="2377440" cy="676656"/>
          </a:xfrm>
          <a:prstGeom prst="rect">
            <a:avLst/>
          </a:prstGeom>
          <a:noFill/>
          <a:ln/>
        </p:spPr>
        <p:txBody>
          <a:bodyPr wrap="square" lIns="0" tIns="0" rIns="0" bIns="0" rtlCol="0" anchor="ctr"/>
          <a:lstStyle/>
          <a:p>
            <a:pPr indent="0" marL="0">
              <a:buNone/>
            </a:pPr>
            <a:r>
              <a:rPr lang="en-US" sz="1600" b="1" dirty="0">
                <a:solidFill>
                  <a:srgbClr val="4A2D8C"/>
                </a:solidFill>
                <a:latin typeface="Palatino Linotype" pitchFamily="34" charset="0"/>
                <a:ea typeface="Palatino Linotype" pitchFamily="34" charset="-122"/>
                <a:cs typeface="Palatino Linotype" pitchFamily="34" charset="-120"/>
              </a:rPr>
              <a:t>Couche extérieure</a:t>
            </a:r>
            <a:endParaRPr lang="en-US" sz="1600" dirty="0"/>
          </a:p>
        </p:txBody>
      </p:sp>
      <p:sp>
        <p:nvSpPr>
          <p:cNvPr id="18" name="Text 16"/>
          <p:cNvSpPr/>
          <p:nvPr/>
        </p:nvSpPr>
        <p:spPr>
          <a:xfrm>
            <a:off x="3383280" y="4882896"/>
            <a:ext cx="7955280" cy="676656"/>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niveau des retraites et organisation des services en milieu rural</a:t>
            </a:r>
            <a:endParaRPr lang="en-US" sz="1700" dirty="0"/>
          </a:p>
        </p:txBody>
      </p:sp>
      <p:sp>
        <p:nvSpPr>
          <p:cNvPr id="19" name="Text 17"/>
          <p:cNvSpPr/>
          <p:nvPr/>
        </p:nvSpPr>
        <p:spPr>
          <a:xfrm>
            <a:off x="594360" y="5760720"/>
            <a:ext cx="10972800" cy="45720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Les services de santé se situent dans la troisième couche, avec le logement, l’éducation et l’eau, et non au centre du modèle.</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4757"/>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E060B"/>
                </a:solidFill>
                <a:latin typeface="Palatino Linotype" pitchFamily="34" charset="0"/>
                <a:ea typeface="Palatino Linotype" pitchFamily="34" charset="-122"/>
                <a:cs typeface="Palatino Linotype" pitchFamily="34" charset="-120"/>
              </a:rPr>
              <a:t>TERME NOUVEAU 2 SUR 3</a:t>
            </a:r>
            <a:endParaRPr lang="en-US" sz="1300" dirty="0"/>
          </a:p>
        </p:txBody>
      </p:sp>
      <p:sp>
        <p:nvSpPr>
          <p:cNvPr id="3" name="Text 1"/>
          <p:cNvSpPr/>
          <p:nvPr/>
        </p:nvSpPr>
        <p:spPr>
          <a:xfrm>
            <a:off x="594360" y="777240"/>
            <a:ext cx="10972800" cy="822960"/>
          </a:xfrm>
          <a:prstGeom prst="rect">
            <a:avLst/>
          </a:prstGeom>
          <a:noFill/>
          <a:ln/>
        </p:spPr>
        <p:txBody>
          <a:bodyPr wrap="square" lIns="0" tIns="0" rIns="0" bIns="0" rtlCol="0" anchor="t"/>
          <a:lstStyle/>
          <a:p>
            <a:pPr indent="0" marL="0">
              <a:buNone/>
            </a:pPr>
            <a:r>
              <a:rPr lang="en-US" sz="3400" b="1" dirty="0">
                <a:solidFill>
                  <a:srgbClr val="2E060B"/>
                </a:solidFill>
                <a:latin typeface="Palatino Linotype" pitchFamily="34" charset="0"/>
                <a:ea typeface="Palatino Linotype" pitchFamily="34" charset="-122"/>
                <a:cs typeface="Palatino Linotype" pitchFamily="34" charset="-120"/>
              </a:rPr>
              <a:t>Les déterminants sociaux de la santé</a:t>
            </a:r>
            <a:endParaRPr lang="en-US" sz="3400" dirty="0"/>
          </a:p>
        </p:txBody>
      </p:sp>
      <p:sp>
        <p:nvSpPr>
          <p:cNvPr id="4" name="Shape 2"/>
          <p:cNvSpPr/>
          <p:nvPr/>
        </p:nvSpPr>
        <p:spPr>
          <a:xfrm>
            <a:off x="594360" y="1783080"/>
            <a:ext cx="10972800" cy="1508760"/>
          </a:xfrm>
          <a:prstGeom prst="roundRect">
            <a:avLst>
              <a:gd name="adj" fmla="val 5455"/>
            </a:avLst>
          </a:prstGeom>
          <a:solidFill>
            <a:srgbClr val="FFFFFF"/>
          </a:solidFill>
          <a:ln w="12700">
            <a:solidFill>
              <a:srgbClr val="FFFFFF"/>
            </a:solidFill>
            <a:prstDash val="solid"/>
          </a:ln>
        </p:spPr>
      </p:sp>
      <p:sp>
        <p:nvSpPr>
          <p:cNvPr id="5" name="Text 3"/>
          <p:cNvSpPr/>
          <p:nvPr/>
        </p:nvSpPr>
        <p:spPr>
          <a:xfrm>
            <a:off x="914400" y="1783080"/>
            <a:ext cx="10332720" cy="1508760"/>
          </a:xfrm>
          <a:prstGeom prst="rect">
            <a:avLst/>
          </a:prstGeom>
          <a:noFill/>
          <a:ln/>
        </p:spPr>
        <p:txBody>
          <a:bodyPr wrap="square" lIns="0" tIns="0" rIns="0" bIns="0" rtlCol="0" anchor="ctr"/>
          <a:lstStyle/>
          <a:p>
            <a:pPr indent="0" marL="0">
              <a:buNone/>
            </a:pPr>
            <a:r>
              <a:rPr lang="en-US" sz="2300" b="1" i="1" dirty="0">
                <a:solidFill>
                  <a:srgbClr val="B02532"/>
                </a:solidFill>
                <a:latin typeface="Palatino Linotype" pitchFamily="34" charset="0"/>
                <a:ea typeface="Palatino Linotype" pitchFamily="34" charset="-122"/>
                <a:cs typeface="Palatino Linotype" pitchFamily="34" charset="-120"/>
              </a:rPr>
              <a:t>Tout ce qui arrive à la santé d’une personne en dehors du cabinet : là où elle naît, grandit, vit, travaille et vieillit.</a:t>
            </a:r>
            <a:endParaRPr lang="en-US" sz="2300" dirty="0"/>
          </a:p>
        </p:txBody>
      </p:sp>
      <p:sp>
        <p:nvSpPr>
          <p:cNvPr id="6" name="Text 4"/>
          <p:cNvSpPr/>
          <p:nvPr/>
        </p:nvSpPr>
        <p:spPr>
          <a:xfrm>
            <a:off x="594360" y="3520440"/>
            <a:ext cx="10972800" cy="914400"/>
          </a:xfrm>
          <a:prstGeom prst="rect">
            <a:avLst/>
          </a:prstGeom>
          <a:noFill/>
          <a:ln/>
        </p:spPr>
        <p:txBody>
          <a:bodyPr wrap="square" lIns="0" tIns="0" rIns="0" bIns="0" rtlCol="0" anchor="t"/>
          <a:lstStyle/>
          <a:p>
            <a:pPr indent="0" marL="0">
              <a:buNone/>
            </a:pPr>
            <a:r>
              <a:rPr lang="en-US" sz="1700" dirty="0">
                <a:solidFill>
                  <a:srgbClr val="2E060B"/>
                </a:solidFill>
                <a:latin typeface="Palatino Linotype" pitchFamily="34" charset="0"/>
                <a:ea typeface="Palatino Linotype" pitchFamily="34" charset="-122"/>
                <a:cs typeface="Palatino Linotype" pitchFamily="34" charset="-120"/>
              </a:rPr>
              <a:t>Commission de l’OMS sur les déterminants sociaux, 2008, « Closing the gap in a generation » : ces conditions sont façonnées par la répartition du pouvoir, de l’argent et des ressources. Trois principes d’action :</a:t>
            </a:r>
            <a:endParaRPr lang="en-US" sz="1700" dirty="0"/>
          </a:p>
        </p:txBody>
      </p:sp>
      <p:sp>
        <p:nvSpPr>
          <p:cNvPr id="7" name="Shape 5"/>
          <p:cNvSpPr/>
          <p:nvPr/>
        </p:nvSpPr>
        <p:spPr>
          <a:xfrm>
            <a:off x="594360" y="4526280"/>
            <a:ext cx="3520440" cy="777240"/>
          </a:xfrm>
          <a:prstGeom prst="roundRect">
            <a:avLst>
              <a:gd name="adj" fmla="val 10588"/>
            </a:avLst>
          </a:prstGeom>
          <a:solidFill>
            <a:srgbClr val="FFD3D8"/>
          </a:solidFill>
          <a:ln w="12700">
            <a:solidFill>
              <a:srgbClr val="FFD3D8"/>
            </a:solidFill>
            <a:prstDash val="solid"/>
          </a:ln>
        </p:spPr>
      </p:sp>
      <p:sp>
        <p:nvSpPr>
          <p:cNvPr id="8" name="Text 6"/>
          <p:cNvSpPr/>
          <p:nvPr/>
        </p:nvSpPr>
        <p:spPr>
          <a:xfrm>
            <a:off x="731520" y="4526280"/>
            <a:ext cx="3246120" cy="777240"/>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les conditions de la vie quotidienne</a:t>
            </a:r>
            <a:endParaRPr lang="en-US" sz="1500" dirty="0"/>
          </a:p>
        </p:txBody>
      </p:sp>
      <p:sp>
        <p:nvSpPr>
          <p:cNvPr id="9" name="Shape 7"/>
          <p:cNvSpPr/>
          <p:nvPr/>
        </p:nvSpPr>
        <p:spPr>
          <a:xfrm>
            <a:off x="4297680" y="4526280"/>
            <a:ext cx="3520440" cy="777240"/>
          </a:xfrm>
          <a:prstGeom prst="roundRect">
            <a:avLst>
              <a:gd name="adj" fmla="val 10588"/>
            </a:avLst>
          </a:prstGeom>
          <a:solidFill>
            <a:srgbClr val="FFD3D8"/>
          </a:solidFill>
          <a:ln w="12700">
            <a:solidFill>
              <a:srgbClr val="FFD3D8"/>
            </a:solidFill>
            <a:prstDash val="solid"/>
          </a:ln>
        </p:spPr>
      </p:sp>
      <p:sp>
        <p:nvSpPr>
          <p:cNvPr id="10" name="Text 8"/>
          <p:cNvSpPr/>
          <p:nvPr/>
        </p:nvSpPr>
        <p:spPr>
          <a:xfrm>
            <a:off x="4434840" y="4526280"/>
            <a:ext cx="3246120" cy="777240"/>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la répartition du pouvoir, de l’argent et des ressources</a:t>
            </a:r>
            <a:endParaRPr lang="en-US" sz="1500" dirty="0"/>
          </a:p>
        </p:txBody>
      </p:sp>
      <p:sp>
        <p:nvSpPr>
          <p:cNvPr id="11" name="Shape 9"/>
          <p:cNvSpPr/>
          <p:nvPr/>
        </p:nvSpPr>
        <p:spPr>
          <a:xfrm>
            <a:off x="8001000" y="4526280"/>
            <a:ext cx="3520440" cy="777240"/>
          </a:xfrm>
          <a:prstGeom prst="roundRect">
            <a:avLst>
              <a:gd name="adj" fmla="val 10588"/>
            </a:avLst>
          </a:prstGeom>
          <a:solidFill>
            <a:srgbClr val="FFD3D8"/>
          </a:solidFill>
          <a:ln w="12700">
            <a:solidFill>
              <a:srgbClr val="FFD3D8"/>
            </a:solidFill>
            <a:prstDash val="solid"/>
          </a:ln>
        </p:spPr>
      </p:sp>
      <p:sp>
        <p:nvSpPr>
          <p:cNvPr id="12" name="Text 10"/>
          <p:cNvSpPr/>
          <p:nvPr/>
        </p:nvSpPr>
        <p:spPr>
          <a:xfrm>
            <a:off x="8138160" y="4526280"/>
            <a:ext cx="3246120" cy="777240"/>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mesurer le problème et évaluer l’action</a:t>
            </a:r>
            <a:endParaRPr lang="en-US" sz="1500" dirty="0"/>
          </a:p>
        </p:txBody>
      </p:sp>
      <p:sp>
        <p:nvSpPr>
          <p:cNvPr id="13" name="Text 11"/>
          <p:cNvSpPr/>
          <p:nvPr/>
        </p:nvSpPr>
        <p:spPr>
          <a:xfrm>
            <a:off x="594360" y="5486400"/>
            <a:ext cx="10972800" cy="411480"/>
          </a:xfrm>
          <a:prstGeom prst="rect">
            <a:avLst/>
          </a:prstGeom>
          <a:noFill/>
          <a:ln/>
        </p:spPr>
        <p:txBody>
          <a:bodyPr wrap="square" lIns="0" tIns="0" rIns="0" bIns="0" rtlCol="0" anchor="t"/>
          <a:lstStyle/>
          <a:p>
            <a:pPr indent="0" marL="0">
              <a:buNone/>
            </a:pPr>
            <a:r>
              <a:rPr lang="en-US" sz="1700" b="1" dirty="0">
                <a:solidFill>
                  <a:srgbClr val="2E060B"/>
                </a:solidFill>
                <a:latin typeface="Palatino Linotype" pitchFamily="34" charset="0"/>
                <a:ea typeface="Palatino Linotype" pitchFamily="34" charset="-122"/>
                <a:cs typeface="Palatino Linotype" pitchFamily="34" charset="-120"/>
              </a:rPr>
              <a:t>Pour la patiente : la retraite, le bois de chauffage, le village, le trajet jusqu’au médecin.</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TERME NOUVEAU 3 SUR 3 · LE GRADIENT SOCIAL</a:t>
            </a:r>
            <a:endParaRPr lang="en-US" sz="1300" dirty="0"/>
          </a:p>
        </p:txBody>
      </p:sp>
      <p:sp>
        <p:nvSpPr>
          <p:cNvPr id="3" name="Text 1"/>
          <p:cNvSpPr/>
          <p:nvPr/>
        </p:nvSpPr>
        <p:spPr>
          <a:xfrm>
            <a:off x="594360" y="713232"/>
            <a:ext cx="10972800" cy="68580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Échelon par échelon : la santé par quintile de revenu</a:t>
            </a:r>
            <a:endParaRPr lang="en-US" sz="3000" dirty="0"/>
          </a:p>
        </p:txBody>
      </p:sp>
      <p:sp>
        <p:nvSpPr>
          <p:cNvPr id="4" name="Text 2"/>
          <p:cNvSpPr/>
          <p:nvPr/>
        </p:nvSpPr>
        <p:spPr>
          <a:xfrm>
            <a:off x="594360" y="1371600"/>
            <a:ext cx="10972800" cy="457200"/>
          </a:xfrm>
          <a:prstGeom prst="rect">
            <a:avLst/>
          </a:prstGeom>
          <a:noFill/>
          <a:ln/>
        </p:spPr>
        <p:txBody>
          <a:bodyPr wrap="square" lIns="0" tIns="0" rIns="0" bIns="0" rtlCol="0" anchor="t"/>
          <a:lstStyle/>
          <a:p>
            <a:pPr indent="0" marL="0">
              <a:buNone/>
            </a:pPr>
            <a:r>
              <a:rPr lang="en-US" sz="1700" b="1" i="1" dirty="0">
                <a:solidFill>
                  <a:srgbClr val="0E7C6B"/>
                </a:solidFill>
                <a:latin typeface="Palatino Linotype" pitchFamily="34" charset="0"/>
                <a:ea typeface="Palatino Linotype" pitchFamily="34" charset="-122"/>
                <a:cs typeface="Palatino Linotype" pitchFamily="34" charset="-120"/>
              </a:rPr>
              <a:t>« À chaque échelon de revenu ou d’éducation en plus, la santé est, en moyenne, un peu meilleure. »</a:t>
            </a:r>
            <a:endParaRPr lang="en-US" sz="1700" dirty="0"/>
          </a:p>
        </p:txBody>
      </p:sp>
      <p:sp>
        <p:nvSpPr>
          <p:cNvPr id="5" name="Shape 3"/>
          <p:cNvSpPr/>
          <p:nvPr/>
        </p:nvSpPr>
        <p:spPr>
          <a:xfrm>
            <a:off x="594360" y="5257800"/>
            <a:ext cx="7589520" cy="18288"/>
          </a:xfrm>
          <a:prstGeom prst="rect">
            <a:avLst/>
          </a:prstGeom>
          <a:solidFill>
            <a:srgbClr val="C9C6BE"/>
          </a:solidFill>
          <a:ln w="12700">
            <a:solidFill>
              <a:srgbClr val="C9C6BE"/>
            </a:solidFill>
            <a:prstDash val="solid"/>
          </a:ln>
        </p:spPr>
      </p:sp>
      <p:sp>
        <p:nvSpPr>
          <p:cNvPr id="6" name="Shape 4"/>
          <p:cNvSpPr/>
          <p:nvPr/>
        </p:nvSpPr>
        <p:spPr>
          <a:xfrm>
            <a:off x="777240" y="3528761"/>
            <a:ext cx="530352" cy="1729039"/>
          </a:xfrm>
          <a:prstGeom prst="rect">
            <a:avLst/>
          </a:prstGeom>
          <a:solidFill>
            <a:srgbClr val="585A64"/>
          </a:solidFill>
          <a:ln w="12700">
            <a:solidFill>
              <a:srgbClr val="585A64"/>
            </a:solidFill>
            <a:prstDash val="solid"/>
          </a:ln>
        </p:spPr>
      </p:sp>
      <p:sp>
        <p:nvSpPr>
          <p:cNvPr id="7" name="Text 5"/>
          <p:cNvSpPr/>
          <p:nvPr/>
        </p:nvSpPr>
        <p:spPr>
          <a:xfrm>
            <a:off x="667512" y="3217865"/>
            <a:ext cx="749808"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57,3</a:t>
            </a:r>
            <a:endParaRPr lang="en-US" sz="1300" dirty="0"/>
          </a:p>
        </p:txBody>
      </p:sp>
      <p:sp>
        <p:nvSpPr>
          <p:cNvPr id="8" name="Shape 6"/>
          <p:cNvSpPr/>
          <p:nvPr/>
        </p:nvSpPr>
        <p:spPr>
          <a:xfrm>
            <a:off x="1380744" y="3236062"/>
            <a:ext cx="530352" cy="2021738"/>
          </a:xfrm>
          <a:prstGeom prst="rect">
            <a:avLst/>
          </a:prstGeom>
          <a:solidFill>
            <a:srgbClr val="B02532"/>
          </a:solidFill>
          <a:ln w="12700">
            <a:solidFill>
              <a:srgbClr val="B02532"/>
            </a:solidFill>
            <a:prstDash val="solid"/>
          </a:ln>
        </p:spPr>
      </p:sp>
      <p:sp>
        <p:nvSpPr>
          <p:cNvPr id="9" name="Text 7"/>
          <p:cNvSpPr/>
          <p:nvPr/>
        </p:nvSpPr>
        <p:spPr>
          <a:xfrm>
            <a:off x="1271016" y="2925166"/>
            <a:ext cx="749808" cy="274320"/>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67,0</a:t>
            </a:r>
            <a:endParaRPr lang="en-US" sz="1300" dirty="0"/>
          </a:p>
        </p:txBody>
      </p:sp>
      <p:sp>
        <p:nvSpPr>
          <p:cNvPr id="10" name="Text 8"/>
          <p:cNvSpPr/>
          <p:nvPr/>
        </p:nvSpPr>
        <p:spPr>
          <a:xfrm>
            <a:off x="640080" y="5321808"/>
            <a:ext cx="1417320" cy="274320"/>
          </a:xfrm>
          <a:prstGeom prst="rect">
            <a:avLst/>
          </a:prstGeom>
          <a:noFill/>
          <a:ln/>
        </p:spPr>
        <p:txBody>
          <a:bodyPr wrap="square" lIns="0" tIns="0" rIns="0" bIns="0" rtlCol="0" anchor="t"/>
          <a:lstStyle/>
          <a:p>
            <a:pPr algn="ctr" indent="0" marL="0">
              <a:buNone/>
            </a:pPr>
            <a:r>
              <a:rPr lang="en-US" sz="1300" dirty="0">
                <a:solidFill>
                  <a:srgbClr val="11121A"/>
                </a:solidFill>
                <a:latin typeface="Palatino Linotype" pitchFamily="34" charset="0"/>
                <a:ea typeface="Palatino Linotype" pitchFamily="34" charset="-122"/>
                <a:cs typeface="Palatino Linotype" pitchFamily="34" charset="-120"/>
              </a:rPr>
              <a:t>la plus pauvre</a:t>
            </a:r>
            <a:endParaRPr lang="en-US" sz="1300" dirty="0"/>
          </a:p>
        </p:txBody>
      </p:sp>
      <p:sp>
        <p:nvSpPr>
          <p:cNvPr id="11" name="Shape 9"/>
          <p:cNvSpPr/>
          <p:nvPr/>
        </p:nvSpPr>
        <p:spPr>
          <a:xfrm>
            <a:off x="2240280" y="3414095"/>
            <a:ext cx="530352" cy="1843705"/>
          </a:xfrm>
          <a:prstGeom prst="rect">
            <a:avLst/>
          </a:prstGeom>
          <a:solidFill>
            <a:srgbClr val="585A64"/>
          </a:solidFill>
          <a:ln w="12700">
            <a:solidFill>
              <a:srgbClr val="585A64"/>
            </a:solidFill>
            <a:prstDash val="solid"/>
          </a:ln>
        </p:spPr>
      </p:sp>
      <p:sp>
        <p:nvSpPr>
          <p:cNvPr id="12" name="Text 10"/>
          <p:cNvSpPr/>
          <p:nvPr/>
        </p:nvSpPr>
        <p:spPr>
          <a:xfrm>
            <a:off x="2130552" y="3103199"/>
            <a:ext cx="749808"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61,1</a:t>
            </a:r>
            <a:endParaRPr lang="en-US" sz="1300" dirty="0"/>
          </a:p>
        </p:txBody>
      </p:sp>
      <p:sp>
        <p:nvSpPr>
          <p:cNvPr id="13" name="Shape 11"/>
          <p:cNvSpPr/>
          <p:nvPr/>
        </p:nvSpPr>
        <p:spPr>
          <a:xfrm>
            <a:off x="2843784" y="3314517"/>
            <a:ext cx="530352" cy="1943283"/>
          </a:xfrm>
          <a:prstGeom prst="rect">
            <a:avLst/>
          </a:prstGeom>
          <a:solidFill>
            <a:srgbClr val="B02532"/>
          </a:solidFill>
          <a:ln w="12700">
            <a:solidFill>
              <a:srgbClr val="B02532"/>
            </a:solidFill>
            <a:prstDash val="solid"/>
          </a:ln>
        </p:spPr>
      </p:sp>
      <p:sp>
        <p:nvSpPr>
          <p:cNvPr id="14" name="Text 12"/>
          <p:cNvSpPr/>
          <p:nvPr/>
        </p:nvSpPr>
        <p:spPr>
          <a:xfrm>
            <a:off x="2734056" y="3003621"/>
            <a:ext cx="749808" cy="274320"/>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64,4</a:t>
            </a:r>
            <a:endParaRPr lang="en-US" sz="1300" dirty="0"/>
          </a:p>
        </p:txBody>
      </p:sp>
      <p:sp>
        <p:nvSpPr>
          <p:cNvPr id="15" name="Text 13"/>
          <p:cNvSpPr/>
          <p:nvPr/>
        </p:nvSpPr>
        <p:spPr>
          <a:xfrm>
            <a:off x="2103120" y="5321808"/>
            <a:ext cx="1417320" cy="274320"/>
          </a:xfrm>
          <a:prstGeom prst="rect">
            <a:avLst/>
          </a:prstGeom>
          <a:noFill/>
          <a:ln/>
        </p:spPr>
        <p:txBody>
          <a:bodyPr wrap="square" lIns="0" tIns="0" rIns="0" bIns="0" rtlCol="0" anchor="t"/>
          <a:lstStyle/>
          <a:p>
            <a:pPr algn="ctr" indent="0" marL="0">
              <a:buNone/>
            </a:pPr>
            <a:r>
              <a:rPr lang="en-US" sz="1300" dirty="0">
                <a:solidFill>
                  <a:srgbClr val="11121A"/>
                </a:solidFill>
                <a:latin typeface="Palatino Linotype" pitchFamily="34" charset="0"/>
                <a:ea typeface="Palatino Linotype" pitchFamily="34" charset="-122"/>
                <a:cs typeface="Palatino Linotype" pitchFamily="34" charset="-120"/>
              </a:rPr>
              <a:t>deuxième</a:t>
            </a:r>
            <a:endParaRPr lang="en-US" sz="1300" dirty="0"/>
          </a:p>
        </p:txBody>
      </p:sp>
      <p:sp>
        <p:nvSpPr>
          <p:cNvPr id="16" name="Shape 14"/>
          <p:cNvSpPr/>
          <p:nvPr/>
        </p:nvSpPr>
        <p:spPr>
          <a:xfrm>
            <a:off x="3703320" y="3211921"/>
            <a:ext cx="530352" cy="2045879"/>
          </a:xfrm>
          <a:prstGeom prst="rect">
            <a:avLst/>
          </a:prstGeom>
          <a:solidFill>
            <a:srgbClr val="585A64"/>
          </a:solidFill>
          <a:ln w="12700">
            <a:solidFill>
              <a:srgbClr val="585A64"/>
            </a:solidFill>
            <a:prstDash val="solid"/>
          </a:ln>
        </p:spPr>
      </p:sp>
      <p:sp>
        <p:nvSpPr>
          <p:cNvPr id="17" name="Text 15"/>
          <p:cNvSpPr/>
          <p:nvPr/>
        </p:nvSpPr>
        <p:spPr>
          <a:xfrm>
            <a:off x="3593592" y="2901025"/>
            <a:ext cx="749808"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67,8</a:t>
            </a:r>
            <a:endParaRPr lang="en-US" sz="1300" dirty="0"/>
          </a:p>
        </p:txBody>
      </p:sp>
      <p:sp>
        <p:nvSpPr>
          <p:cNvPr id="18" name="Shape 16"/>
          <p:cNvSpPr/>
          <p:nvPr/>
        </p:nvSpPr>
        <p:spPr>
          <a:xfrm>
            <a:off x="4306824" y="3127431"/>
            <a:ext cx="530352" cy="2130369"/>
          </a:xfrm>
          <a:prstGeom prst="rect">
            <a:avLst/>
          </a:prstGeom>
          <a:solidFill>
            <a:srgbClr val="B02532"/>
          </a:solidFill>
          <a:ln w="12700">
            <a:solidFill>
              <a:srgbClr val="B02532"/>
            </a:solidFill>
            <a:prstDash val="solid"/>
          </a:ln>
        </p:spPr>
      </p:sp>
      <p:sp>
        <p:nvSpPr>
          <p:cNvPr id="19" name="Text 17"/>
          <p:cNvSpPr/>
          <p:nvPr/>
        </p:nvSpPr>
        <p:spPr>
          <a:xfrm>
            <a:off x="4197096" y="2816535"/>
            <a:ext cx="749808" cy="274320"/>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70,6</a:t>
            </a:r>
            <a:endParaRPr lang="en-US" sz="1300" dirty="0"/>
          </a:p>
        </p:txBody>
      </p:sp>
      <p:sp>
        <p:nvSpPr>
          <p:cNvPr id="20" name="Text 18"/>
          <p:cNvSpPr/>
          <p:nvPr/>
        </p:nvSpPr>
        <p:spPr>
          <a:xfrm>
            <a:off x="3566160" y="5321808"/>
            <a:ext cx="1417320" cy="274320"/>
          </a:xfrm>
          <a:prstGeom prst="rect">
            <a:avLst/>
          </a:prstGeom>
          <a:noFill/>
          <a:ln/>
        </p:spPr>
        <p:txBody>
          <a:bodyPr wrap="square" lIns="0" tIns="0" rIns="0" bIns="0" rtlCol="0" anchor="t"/>
          <a:lstStyle/>
          <a:p>
            <a:pPr algn="ctr" indent="0" marL="0">
              <a:buNone/>
            </a:pPr>
            <a:r>
              <a:rPr lang="en-US" sz="1300" dirty="0">
                <a:solidFill>
                  <a:srgbClr val="11121A"/>
                </a:solidFill>
                <a:latin typeface="Palatino Linotype" pitchFamily="34" charset="0"/>
                <a:ea typeface="Palatino Linotype" pitchFamily="34" charset="-122"/>
                <a:cs typeface="Palatino Linotype" pitchFamily="34" charset="-120"/>
              </a:rPr>
              <a:t>troisième</a:t>
            </a:r>
            <a:endParaRPr lang="en-US" sz="1300" dirty="0"/>
          </a:p>
        </p:txBody>
      </p:sp>
      <p:sp>
        <p:nvSpPr>
          <p:cNvPr id="21" name="Shape 19"/>
          <p:cNvSpPr/>
          <p:nvPr/>
        </p:nvSpPr>
        <p:spPr>
          <a:xfrm>
            <a:off x="5166360" y="3048975"/>
            <a:ext cx="530352" cy="2208825"/>
          </a:xfrm>
          <a:prstGeom prst="rect">
            <a:avLst/>
          </a:prstGeom>
          <a:solidFill>
            <a:srgbClr val="585A64"/>
          </a:solidFill>
          <a:ln w="12700">
            <a:solidFill>
              <a:srgbClr val="585A64"/>
            </a:solidFill>
            <a:prstDash val="solid"/>
          </a:ln>
        </p:spPr>
      </p:sp>
      <p:sp>
        <p:nvSpPr>
          <p:cNvPr id="22" name="Text 20"/>
          <p:cNvSpPr/>
          <p:nvPr/>
        </p:nvSpPr>
        <p:spPr>
          <a:xfrm>
            <a:off x="5056632" y="2738079"/>
            <a:ext cx="749808"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73,2</a:t>
            </a:r>
            <a:endParaRPr lang="en-US" sz="1300" dirty="0"/>
          </a:p>
        </p:txBody>
      </p:sp>
      <p:sp>
        <p:nvSpPr>
          <p:cNvPr id="23" name="Shape 21"/>
          <p:cNvSpPr/>
          <p:nvPr/>
        </p:nvSpPr>
        <p:spPr>
          <a:xfrm>
            <a:off x="5769864" y="2919222"/>
            <a:ext cx="530352" cy="2338578"/>
          </a:xfrm>
          <a:prstGeom prst="rect">
            <a:avLst/>
          </a:prstGeom>
          <a:solidFill>
            <a:srgbClr val="B02532"/>
          </a:solidFill>
          <a:ln w="12700">
            <a:solidFill>
              <a:srgbClr val="B02532"/>
            </a:solidFill>
            <a:prstDash val="solid"/>
          </a:ln>
        </p:spPr>
      </p:sp>
      <p:sp>
        <p:nvSpPr>
          <p:cNvPr id="24" name="Text 22"/>
          <p:cNvSpPr/>
          <p:nvPr/>
        </p:nvSpPr>
        <p:spPr>
          <a:xfrm>
            <a:off x="5660136" y="2608326"/>
            <a:ext cx="749808" cy="274320"/>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77,5</a:t>
            </a:r>
            <a:endParaRPr lang="en-US" sz="1300" dirty="0"/>
          </a:p>
        </p:txBody>
      </p:sp>
      <p:sp>
        <p:nvSpPr>
          <p:cNvPr id="25" name="Text 23"/>
          <p:cNvSpPr/>
          <p:nvPr/>
        </p:nvSpPr>
        <p:spPr>
          <a:xfrm>
            <a:off x="5029200" y="5321808"/>
            <a:ext cx="1417320" cy="274320"/>
          </a:xfrm>
          <a:prstGeom prst="rect">
            <a:avLst/>
          </a:prstGeom>
          <a:noFill/>
          <a:ln/>
        </p:spPr>
        <p:txBody>
          <a:bodyPr wrap="square" lIns="0" tIns="0" rIns="0" bIns="0" rtlCol="0" anchor="t"/>
          <a:lstStyle/>
          <a:p>
            <a:pPr algn="ctr" indent="0" marL="0">
              <a:buNone/>
            </a:pPr>
            <a:r>
              <a:rPr lang="en-US" sz="1300" dirty="0">
                <a:solidFill>
                  <a:srgbClr val="11121A"/>
                </a:solidFill>
                <a:latin typeface="Palatino Linotype" pitchFamily="34" charset="0"/>
                <a:ea typeface="Palatino Linotype" pitchFamily="34" charset="-122"/>
                <a:cs typeface="Palatino Linotype" pitchFamily="34" charset="-120"/>
              </a:rPr>
              <a:t>quatrième</a:t>
            </a:r>
            <a:endParaRPr lang="en-US" sz="1300" dirty="0"/>
          </a:p>
        </p:txBody>
      </p:sp>
      <p:sp>
        <p:nvSpPr>
          <p:cNvPr id="26" name="Shape 24"/>
          <p:cNvSpPr/>
          <p:nvPr/>
        </p:nvSpPr>
        <p:spPr>
          <a:xfrm>
            <a:off x="6629400" y="2864907"/>
            <a:ext cx="530352" cy="2392893"/>
          </a:xfrm>
          <a:prstGeom prst="rect">
            <a:avLst/>
          </a:prstGeom>
          <a:solidFill>
            <a:srgbClr val="585A64"/>
          </a:solidFill>
          <a:ln w="12700">
            <a:solidFill>
              <a:srgbClr val="585A64"/>
            </a:solidFill>
            <a:prstDash val="solid"/>
          </a:ln>
        </p:spPr>
      </p:sp>
      <p:sp>
        <p:nvSpPr>
          <p:cNvPr id="27" name="Text 25"/>
          <p:cNvSpPr/>
          <p:nvPr/>
        </p:nvSpPr>
        <p:spPr>
          <a:xfrm>
            <a:off x="6519672" y="2554011"/>
            <a:ext cx="749808"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79,3</a:t>
            </a:r>
            <a:endParaRPr lang="en-US" sz="1300" dirty="0"/>
          </a:p>
        </p:txBody>
      </p:sp>
      <p:sp>
        <p:nvSpPr>
          <p:cNvPr id="28" name="Shape 26"/>
          <p:cNvSpPr/>
          <p:nvPr/>
        </p:nvSpPr>
        <p:spPr>
          <a:xfrm>
            <a:off x="7232904" y="2659715"/>
            <a:ext cx="530352" cy="2598085"/>
          </a:xfrm>
          <a:prstGeom prst="rect">
            <a:avLst/>
          </a:prstGeom>
          <a:solidFill>
            <a:srgbClr val="B02532"/>
          </a:solidFill>
          <a:ln w="12700">
            <a:solidFill>
              <a:srgbClr val="B02532"/>
            </a:solidFill>
            <a:prstDash val="solid"/>
          </a:ln>
        </p:spPr>
      </p:sp>
      <p:sp>
        <p:nvSpPr>
          <p:cNvPr id="29" name="Text 27"/>
          <p:cNvSpPr/>
          <p:nvPr/>
        </p:nvSpPr>
        <p:spPr>
          <a:xfrm>
            <a:off x="7123176" y="2348819"/>
            <a:ext cx="749808" cy="274320"/>
          </a:xfrm>
          <a:prstGeom prst="rect">
            <a:avLst/>
          </a:prstGeom>
          <a:noFill/>
          <a:ln/>
        </p:spPr>
        <p:txBody>
          <a:bodyPr wrap="square" lIns="0" tIns="0" rIns="0" bIns="0" rtlCol="0" anchor="t"/>
          <a:lstStyle/>
          <a:p>
            <a:pPr algn="ctr" indent="0" marL="0">
              <a:buNone/>
            </a:pPr>
            <a:r>
              <a:rPr lang="en-US" sz="1300" b="1" dirty="0">
                <a:solidFill>
                  <a:srgbClr val="B02532"/>
                </a:solidFill>
                <a:latin typeface="Palatino Linotype" pitchFamily="34" charset="0"/>
                <a:ea typeface="Palatino Linotype" pitchFamily="34" charset="-122"/>
                <a:cs typeface="Palatino Linotype" pitchFamily="34" charset="-120"/>
              </a:rPr>
              <a:t>86,1</a:t>
            </a:r>
            <a:endParaRPr lang="en-US" sz="1300" dirty="0"/>
          </a:p>
        </p:txBody>
      </p:sp>
      <p:sp>
        <p:nvSpPr>
          <p:cNvPr id="30" name="Text 28"/>
          <p:cNvSpPr/>
          <p:nvPr/>
        </p:nvSpPr>
        <p:spPr>
          <a:xfrm>
            <a:off x="6492240" y="5321808"/>
            <a:ext cx="1417320" cy="274320"/>
          </a:xfrm>
          <a:prstGeom prst="rect">
            <a:avLst/>
          </a:prstGeom>
          <a:noFill/>
          <a:ln/>
        </p:spPr>
        <p:txBody>
          <a:bodyPr wrap="square" lIns="0" tIns="0" rIns="0" bIns="0" rtlCol="0" anchor="t"/>
          <a:lstStyle/>
          <a:p>
            <a:pPr algn="ctr" indent="0" marL="0">
              <a:buNone/>
            </a:pPr>
            <a:r>
              <a:rPr lang="en-US" sz="1300" dirty="0">
                <a:solidFill>
                  <a:srgbClr val="11121A"/>
                </a:solidFill>
                <a:latin typeface="Palatino Linotype" pitchFamily="34" charset="0"/>
                <a:ea typeface="Palatino Linotype" pitchFamily="34" charset="-122"/>
                <a:cs typeface="Palatino Linotype" pitchFamily="34" charset="-120"/>
              </a:rPr>
              <a:t>la plus riche</a:t>
            </a:r>
            <a:endParaRPr lang="en-US" sz="1300" dirty="0"/>
          </a:p>
        </p:txBody>
      </p:sp>
      <p:sp>
        <p:nvSpPr>
          <p:cNvPr id="31" name="Text 29"/>
          <p:cNvSpPr/>
          <p:nvPr/>
        </p:nvSpPr>
        <p:spPr>
          <a:xfrm>
            <a:off x="594360" y="5623560"/>
            <a:ext cx="7589520" cy="274320"/>
          </a:xfrm>
          <a:prstGeom prst="rect">
            <a:avLst/>
          </a:prstGeom>
          <a:noFill/>
          <a:ln/>
        </p:spPr>
        <p:txBody>
          <a:bodyPr wrap="square" lIns="0" tIns="0" rIns="0" bIns="0" rtlCol="0" anchor="t"/>
          <a:lstStyle/>
          <a:p>
            <a:pPr algn="ctr" indent="0" marL="0">
              <a:buNone/>
            </a:pPr>
            <a:r>
              <a:rPr lang="en-US" sz="1300" i="1" dirty="0">
                <a:solidFill>
                  <a:srgbClr val="585A64"/>
                </a:solidFill>
                <a:latin typeface="Palatino Linotype" pitchFamily="34" charset="0"/>
                <a:ea typeface="Palatino Linotype" pitchFamily="34" charset="-122"/>
                <a:cs typeface="Palatino Linotype" pitchFamily="34" charset="-120"/>
              </a:rPr>
              <a:t>quintile de revenu</a:t>
            </a:r>
            <a:endParaRPr lang="en-US" sz="1300" dirty="0"/>
          </a:p>
        </p:txBody>
      </p:sp>
      <p:sp>
        <p:nvSpPr>
          <p:cNvPr id="32" name="Shape 30"/>
          <p:cNvSpPr/>
          <p:nvPr/>
        </p:nvSpPr>
        <p:spPr>
          <a:xfrm>
            <a:off x="8595360" y="2103120"/>
            <a:ext cx="1280160" cy="329184"/>
          </a:xfrm>
          <a:prstGeom prst="roundRect">
            <a:avLst>
              <a:gd name="adj" fmla="val 50000"/>
            </a:avLst>
          </a:prstGeom>
          <a:solidFill>
            <a:srgbClr val="585A64"/>
          </a:solidFill>
          <a:ln w="12700">
            <a:solidFill>
              <a:srgbClr val="585A64"/>
            </a:solidFill>
            <a:prstDash val="solid"/>
          </a:ln>
        </p:spPr>
      </p:sp>
      <p:sp>
        <p:nvSpPr>
          <p:cNvPr id="33" name="Text 31"/>
          <p:cNvSpPr/>
          <p:nvPr/>
        </p:nvSpPr>
        <p:spPr>
          <a:xfrm>
            <a:off x="8595360" y="2103120"/>
            <a:ext cx="12801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UE</a:t>
            </a:r>
            <a:endParaRPr lang="en-US" sz="1300" dirty="0"/>
          </a:p>
        </p:txBody>
      </p:sp>
      <p:sp>
        <p:nvSpPr>
          <p:cNvPr id="34" name="Shape 32"/>
          <p:cNvSpPr/>
          <p:nvPr/>
        </p:nvSpPr>
        <p:spPr>
          <a:xfrm>
            <a:off x="10012680" y="2103120"/>
            <a:ext cx="1554480" cy="329184"/>
          </a:xfrm>
          <a:prstGeom prst="roundRect">
            <a:avLst>
              <a:gd name="adj" fmla="val 50000"/>
            </a:avLst>
          </a:prstGeom>
          <a:solidFill>
            <a:srgbClr val="B02532"/>
          </a:solidFill>
          <a:ln w="12700">
            <a:solidFill>
              <a:srgbClr val="B02532"/>
            </a:solidFill>
            <a:prstDash val="solid"/>
          </a:ln>
        </p:spPr>
      </p:sp>
      <p:sp>
        <p:nvSpPr>
          <p:cNvPr id="35" name="Text 33"/>
          <p:cNvSpPr/>
          <p:nvPr/>
        </p:nvSpPr>
        <p:spPr>
          <a:xfrm>
            <a:off x="10012680" y="2103120"/>
            <a:ext cx="155448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Roumanie</a:t>
            </a:r>
            <a:endParaRPr lang="en-US" sz="1300" dirty="0"/>
          </a:p>
        </p:txBody>
      </p:sp>
      <p:sp>
        <p:nvSpPr>
          <p:cNvPr id="36" name="Text 34"/>
          <p:cNvSpPr/>
          <p:nvPr/>
        </p:nvSpPr>
        <p:spPr>
          <a:xfrm>
            <a:off x="8595360" y="2606040"/>
            <a:ext cx="3017520" cy="109728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Part des personnes de 16 ans et plus qui déclarent une santé bonne ou très bonne, 2025, %.</a:t>
            </a:r>
            <a:endParaRPr lang="en-US" sz="1400" dirty="0"/>
          </a:p>
        </p:txBody>
      </p:sp>
      <p:sp>
        <p:nvSpPr>
          <p:cNvPr id="37" name="Text 35"/>
          <p:cNvSpPr/>
          <p:nvPr/>
        </p:nvSpPr>
        <p:spPr>
          <a:xfrm>
            <a:off x="8595360" y="3749040"/>
            <a:ext cx="3017520" cy="914400"/>
          </a:xfrm>
          <a:prstGeom prst="rect">
            <a:avLst/>
          </a:prstGeom>
          <a:noFill/>
          <a:ln/>
        </p:spPr>
        <p:txBody>
          <a:bodyPr wrap="square" lIns="0" tIns="0" rIns="0" bIns="0" rtlCol="0" anchor="t"/>
          <a:lstStyle/>
          <a:p>
            <a:pPr indent="0" marL="0">
              <a:buNone/>
            </a:pPr>
            <a:r>
              <a:rPr lang="en-US" sz="1400" b="1" dirty="0">
                <a:solidFill>
                  <a:srgbClr val="11121A"/>
                </a:solidFill>
                <a:latin typeface="Palatino Linotype" pitchFamily="34" charset="0"/>
                <a:ea typeface="Palatino Linotype" pitchFamily="34" charset="-122"/>
                <a:cs typeface="Palatino Linotype" pitchFamily="34" charset="-120"/>
              </a:rPr>
              <a:t>UE : augmente à chaque échelon. Roumanie : le deuxième quintile sous le premier, puis une hausse.</a:t>
            </a:r>
            <a:endParaRPr lang="en-US" sz="1400" dirty="0"/>
          </a:p>
        </p:txBody>
      </p:sp>
      <p:sp>
        <p:nvSpPr>
          <p:cNvPr id="38" name="Text 36"/>
          <p:cNvSpPr/>
          <p:nvPr/>
        </p:nvSpPr>
        <p:spPr>
          <a:xfrm>
            <a:off x="8595360" y="4709160"/>
            <a:ext cx="3017520" cy="731520"/>
          </a:xfrm>
          <a:prstGeom prst="rect">
            <a:avLst/>
          </a:prstGeom>
          <a:noFill/>
          <a:ln/>
        </p:spPr>
        <p:txBody>
          <a:bodyPr wrap="square" lIns="0" tIns="0" rIns="0" bIns="0" rtlCol="0" anchor="t"/>
          <a:lstStyle/>
          <a:p>
            <a:pPr indent="0" marL="0">
              <a:buNone/>
            </a:pPr>
            <a:r>
              <a:rPr lang="en-US" sz="1400" dirty="0">
                <a:solidFill>
                  <a:srgbClr val="0E7C6B"/>
                </a:solidFill>
                <a:latin typeface="Palatino Linotype" pitchFamily="34" charset="0"/>
                <a:ea typeface="Palatino Linotype" pitchFamily="34" charset="-122"/>
                <a:cs typeface="Palatino Linotype" pitchFamily="34" charset="-120"/>
              </a:rPr>
              <a:t>Entre les extrêmes : 19,1 points de pourcentage en Roumanie, 22,0 dans l’UE.</a:t>
            </a:r>
            <a:endParaRPr lang="en-US" sz="1400" dirty="0"/>
          </a:p>
        </p:txBody>
      </p:sp>
      <p:sp>
        <p:nvSpPr>
          <p:cNvPr id="39" name="Text 3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Eurostat, enquête de l’UE sur les revenus et les conditions de vie (hlth_silc_10), 2025.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UNE PRÉCAUTION DE LECTURE</a:t>
            </a:r>
            <a:endParaRPr lang="en-US" sz="1300" dirty="0"/>
          </a:p>
        </p:txBody>
      </p:sp>
      <p:sp>
        <p:nvSpPr>
          <p:cNvPr id="3" name="Text 1"/>
          <p:cNvSpPr/>
          <p:nvPr/>
        </p:nvSpPr>
        <p:spPr>
          <a:xfrm>
            <a:off x="594360" y="713232"/>
            <a:ext cx="10972800" cy="822960"/>
          </a:xfrm>
          <a:prstGeom prst="rect">
            <a:avLst/>
          </a:prstGeom>
          <a:noFill/>
          <a:ln/>
        </p:spPr>
        <p:txBody>
          <a:bodyPr wrap="square" lIns="0" tIns="0" rIns="0" bIns="0" rtlCol="0" anchor="t"/>
          <a:lstStyle/>
          <a:p>
            <a:pPr indent="0" marL="0">
              <a:buNone/>
            </a:pPr>
            <a:r>
              <a:rPr lang="en-US" sz="2700" b="1" dirty="0">
                <a:solidFill>
                  <a:srgbClr val="FFFFFF"/>
                </a:solidFill>
                <a:latin typeface="Palatino Linotype" pitchFamily="34" charset="0"/>
                <a:ea typeface="Palatino Linotype" pitchFamily="34" charset="-122"/>
                <a:cs typeface="Palatino Linotype" pitchFamily="34" charset="-120"/>
              </a:rPr>
              <a:t>Les Roumains se déclarent en meilleure santé, mais vivent moins longtemps</a:t>
            </a:r>
            <a:endParaRPr lang="en-US" sz="2700" dirty="0"/>
          </a:p>
        </p:txBody>
      </p:sp>
      <p:sp>
        <p:nvSpPr>
          <p:cNvPr id="4" name="Text 2"/>
          <p:cNvSpPr/>
          <p:nvPr/>
        </p:nvSpPr>
        <p:spPr>
          <a:xfrm>
            <a:off x="594360" y="1737360"/>
            <a:ext cx="5120640" cy="1371600"/>
          </a:xfrm>
          <a:prstGeom prst="rect">
            <a:avLst/>
          </a:prstGeom>
          <a:noFill/>
          <a:ln/>
        </p:spPr>
        <p:txBody>
          <a:bodyPr wrap="square" lIns="0" tIns="0" rIns="0" bIns="0" rtlCol="0" anchor="ctr"/>
          <a:lstStyle/>
          <a:p>
            <a:pPr indent="0" marL="0">
              <a:buNone/>
            </a:pPr>
            <a:r>
              <a:rPr lang="en-US" sz="9600" b="1" dirty="0">
                <a:solidFill>
                  <a:srgbClr val="27D3BE"/>
                </a:solidFill>
                <a:latin typeface="Palatino Linotype" pitchFamily="34" charset="0"/>
                <a:ea typeface="Palatino Linotype" pitchFamily="34" charset="-122"/>
                <a:cs typeface="Palatino Linotype" pitchFamily="34" charset="-120"/>
              </a:rPr>
              <a:t>73,3 %</a:t>
            </a:r>
            <a:endParaRPr lang="en-US" sz="9600" dirty="0"/>
          </a:p>
        </p:txBody>
      </p:sp>
      <p:sp>
        <p:nvSpPr>
          <p:cNvPr id="5" name="Text 3"/>
          <p:cNvSpPr/>
          <p:nvPr/>
        </p:nvSpPr>
        <p:spPr>
          <a:xfrm>
            <a:off x="594360" y="3154680"/>
            <a:ext cx="4937760" cy="9144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des Roumains déclarent une santé bonne ou très bonne, contre 67,9 % dans l’UE (2025)</a:t>
            </a:r>
            <a:endParaRPr lang="en-US" sz="1700" dirty="0"/>
          </a:p>
        </p:txBody>
      </p:sp>
      <p:sp>
        <p:nvSpPr>
          <p:cNvPr id="6" name="Shape 4"/>
          <p:cNvSpPr/>
          <p:nvPr/>
        </p:nvSpPr>
        <p:spPr>
          <a:xfrm>
            <a:off x="5989320" y="1828800"/>
            <a:ext cx="27432" cy="2286000"/>
          </a:xfrm>
          <a:prstGeom prst="rect">
            <a:avLst/>
          </a:prstGeom>
          <a:solidFill>
            <a:srgbClr val="3A3E52"/>
          </a:solidFill>
          <a:ln w="12700">
            <a:solidFill>
              <a:srgbClr val="3A3E52"/>
            </a:solidFill>
            <a:prstDash val="solid"/>
          </a:ln>
        </p:spPr>
      </p:sp>
      <p:sp>
        <p:nvSpPr>
          <p:cNvPr id="7" name="Text 5"/>
          <p:cNvSpPr/>
          <p:nvPr/>
        </p:nvSpPr>
        <p:spPr>
          <a:xfrm>
            <a:off x="6355080" y="1737360"/>
            <a:ext cx="5212080" cy="1371600"/>
          </a:xfrm>
          <a:prstGeom prst="rect">
            <a:avLst/>
          </a:prstGeom>
          <a:noFill/>
          <a:ln/>
        </p:spPr>
        <p:txBody>
          <a:bodyPr wrap="square" lIns="0" tIns="0" rIns="0" bIns="0" rtlCol="0" anchor="ctr"/>
          <a:lstStyle/>
          <a:p>
            <a:pPr indent="0" marL="0">
              <a:buNone/>
            </a:pPr>
            <a:r>
              <a:rPr lang="en-US" sz="9600" b="1" dirty="0">
                <a:solidFill>
                  <a:srgbClr val="FF4757"/>
                </a:solidFill>
                <a:latin typeface="Palatino Linotype" pitchFamily="34" charset="0"/>
                <a:ea typeface="Palatino Linotype" pitchFamily="34" charset="-122"/>
                <a:cs typeface="Palatino Linotype" pitchFamily="34" charset="-120"/>
              </a:rPr>
              <a:t>5,0</a:t>
            </a:r>
            <a:pPr indent="0" marL="0">
              <a:buNone/>
            </a:pPr>
            <a:r>
              <a:rPr lang="en-US" sz="4000" b="1" dirty="0">
                <a:solidFill>
                  <a:srgbClr val="FF4757"/>
                </a:solidFill>
                <a:latin typeface="Palatino Linotype" pitchFamily="34" charset="0"/>
                <a:ea typeface="Palatino Linotype" pitchFamily="34" charset="-122"/>
                <a:cs typeface="Palatino Linotype" pitchFamily="34" charset="-120"/>
              </a:rPr>
              <a:t> ans</a:t>
            </a:r>
            <a:endParaRPr lang="en-US" sz="9600" dirty="0"/>
          </a:p>
        </p:txBody>
      </p:sp>
      <p:sp>
        <p:nvSpPr>
          <p:cNvPr id="8" name="Text 6"/>
          <p:cNvSpPr/>
          <p:nvPr/>
        </p:nvSpPr>
        <p:spPr>
          <a:xfrm>
            <a:off x="6355080" y="3154680"/>
            <a:ext cx="5120640" cy="91440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de moins : l’espérance de vie à la naissance en Roumanie par rapport à l’UE (2024)</a:t>
            </a:r>
            <a:endParaRPr lang="en-US" sz="1700" dirty="0"/>
          </a:p>
        </p:txBody>
      </p:sp>
      <p:sp>
        <p:nvSpPr>
          <p:cNvPr id="9" name="Shape 7"/>
          <p:cNvSpPr/>
          <p:nvPr/>
        </p:nvSpPr>
        <p:spPr>
          <a:xfrm>
            <a:off x="594360" y="4389120"/>
            <a:ext cx="10972800" cy="1371600"/>
          </a:xfrm>
          <a:prstGeom prst="roundRect">
            <a:avLst>
              <a:gd name="adj" fmla="val 6000"/>
            </a:avLst>
          </a:prstGeom>
          <a:solidFill>
            <a:srgbClr val="1D1F2B"/>
          </a:solidFill>
          <a:ln w="12700">
            <a:solidFill>
              <a:srgbClr val="1D1F2B"/>
            </a:solidFill>
            <a:prstDash val="solid"/>
          </a:ln>
        </p:spPr>
      </p:sp>
      <p:sp>
        <p:nvSpPr>
          <p:cNvPr id="10" name="Text 8"/>
          <p:cNvSpPr/>
          <p:nvPr/>
        </p:nvSpPr>
        <p:spPr>
          <a:xfrm>
            <a:off x="868680" y="4389120"/>
            <a:ext cx="10424160" cy="137160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L’autoévaluation dépend des attentes, de l’âge et des normes culturelles de la réponse ; ce n’est pas une mesure de la maladie. On ne tire pas de conclusion sur la santé d’une population d’un seul indicateur.</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DES DÉTERMINANTS À L’ACTION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que peut faire le médecin du service</a:t>
            </a:r>
            <a:endParaRPr lang="en-US" sz="3200" dirty="0"/>
          </a:p>
        </p:txBody>
      </p:sp>
      <p:sp>
        <p:nvSpPr>
          <p:cNvPr id="4" name="Shape 2"/>
          <p:cNvSpPr/>
          <p:nvPr/>
        </p:nvSpPr>
        <p:spPr>
          <a:xfrm>
            <a:off x="594360" y="1691640"/>
            <a:ext cx="10972800" cy="676656"/>
          </a:xfrm>
          <a:prstGeom prst="roundRect">
            <a:avLst>
              <a:gd name="adj" fmla="val 12162"/>
            </a:avLst>
          </a:prstGeom>
          <a:solidFill>
            <a:srgbClr val="ECEAE4"/>
          </a:solidFill>
          <a:ln w="12700">
            <a:solidFill>
              <a:srgbClr val="ECEAE4"/>
            </a:solidFill>
            <a:prstDash val="solid"/>
          </a:ln>
        </p:spPr>
      </p:sp>
      <p:sp>
        <p:nvSpPr>
          <p:cNvPr id="5" name="Text 3"/>
          <p:cNvSpPr/>
          <p:nvPr/>
        </p:nvSpPr>
        <p:spPr>
          <a:xfrm>
            <a:off x="868680" y="1691640"/>
            <a:ext cx="2011680" cy="676656"/>
          </a:xfrm>
          <a:prstGeom prst="rect">
            <a:avLst/>
          </a:prstGeom>
          <a:noFill/>
          <a:ln/>
        </p:spPr>
        <p:txBody>
          <a:bodyPr wrap="square" lIns="0" tIns="0" rIns="0" bIns="0" rtlCol="0" anchor="ctr"/>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Structurel</a:t>
            </a:r>
            <a:endParaRPr lang="en-US" sz="1700" dirty="0"/>
          </a:p>
        </p:txBody>
      </p:sp>
      <p:sp>
        <p:nvSpPr>
          <p:cNvPr id="6" name="Text 4"/>
          <p:cNvSpPr/>
          <p:nvPr/>
        </p:nvSpPr>
        <p:spPr>
          <a:xfrm>
            <a:off x="2926080" y="1691640"/>
            <a:ext cx="841248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les politiques : protection sociale, éducation, logement, transports, santé dans toutes les politiques</a:t>
            </a:r>
            <a:endParaRPr lang="en-US" sz="1600" dirty="0"/>
          </a:p>
        </p:txBody>
      </p:sp>
      <p:sp>
        <p:nvSpPr>
          <p:cNvPr id="7" name="Shape 5"/>
          <p:cNvSpPr/>
          <p:nvPr/>
        </p:nvSpPr>
        <p:spPr>
          <a:xfrm>
            <a:off x="594360" y="2478024"/>
            <a:ext cx="10972800" cy="676656"/>
          </a:xfrm>
          <a:prstGeom prst="roundRect">
            <a:avLst>
              <a:gd name="adj" fmla="val 12162"/>
            </a:avLst>
          </a:prstGeom>
          <a:solidFill>
            <a:srgbClr val="F9F8F5"/>
          </a:solidFill>
          <a:ln w="12700">
            <a:solidFill>
              <a:srgbClr val="F9F8F5"/>
            </a:solidFill>
            <a:prstDash val="solid"/>
          </a:ln>
        </p:spPr>
      </p:sp>
      <p:sp>
        <p:nvSpPr>
          <p:cNvPr id="8" name="Text 6"/>
          <p:cNvSpPr/>
          <p:nvPr/>
        </p:nvSpPr>
        <p:spPr>
          <a:xfrm>
            <a:off x="868680" y="2478024"/>
            <a:ext cx="2011680" cy="676656"/>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Communautaire</a:t>
            </a:r>
            <a:endParaRPr lang="en-US" sz="1700" dirty="0"/>
          </a:p>
        </p:txBody>
      </p:sp>
      <p:sp>
        <p:nvSpPr>
          <p:cNvPr id="9" name="Text 7"/>
          <p:cNvSpPr/>
          <p:nvPr/>
        </p:nvSpPr>
        <p:spPr>
          <a:xfrm>
            <a:off x="2926080" y="2478024"/>
            <a:ext cx="841248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les programmes : assistance médicale communautaire, médiateurs sanitaires, réseaux de soutien</a:t>
            </a:r>
            <a:endParaRPr lang="en-US" sz="1600" dirty="0"/>
          </a:p>
        </p:txBody>
      </p:sp>
      <p:sp>
        <p:nvSpPr>
          <p:cNvPr id="10" name="Shape 8"/>
          <p:cNvSpPr/>
          <p:nvPr/>
        </p:nvSpPr>
        <p:spPr>
          <a:xfrm>
            <a:off x="594360" y="3264408"/>
            <a:ext cx="10972800" cy="676656"/>
          </a:xfrm>
          <a:prstGeom prst="roundRect">
            <a:avLst>
              <a:gd name="adj" fmla="val 12162"/>
            </a:avLst>
          </a:prstGeom>
          <a:solidFill>
            <a:srgbClr val="ECEAE4"/>
          </a:solidFill>
          <a:ln w="12700">
            <a:solidFill>
              <a:srgbClr val="ECEAE4"/>
            </a:solidFill>
            <a:prstDash val="solid"/>
          </a:ln>
        </p:spPr>
      </p:sp>
      <p:sp>
        <p:nvSpPr>
          <p:cNvPr id="11" name="Text 9"/>
          <p:cNvSpPr/>
          <p:nvPr/>
        </p:nvSpPr>
        <p:spPr>
          <a:xfrm>
            <a:off x="868680" y="3264408"/>
            <a:ext cx="2011680" cy="676656"/>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Individuel</a:t>
            </a:r>
            <a:endParaRPr lang="en-US" sz="1700" dirty="0"/>
          </a:p>
        </p:txBody>
      </p:sp>
      <p:sp>
        <p:nvSpPr>
          <p:cNvPr id="12" name="Text 10"/>
          <p:cNvSpPr/>
          <p:nvPr/>
        </p:nvSpPr>
        <p:spPr>
          <a:xfrm>
            <a:off x="2926080" y="3264408"/>
            <a:ext cx="841248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éducation pour la santé, soutien à l’autosoin, dépistage actif</a:t>
            </a:r>
            <a:endParaRPr lang="en-US" sz="1600" dirty="0"/>
          </a:p>
        </p:txBody>
      </p:sp>
      <p:sp>
        <p:nvSpPr>
          <p:cNvPr id="13" name="Shape 11"/>
          <p:cNvSpPr/>
          <p:nvPr/>
        </p:nvSpPr>
        <p:spPr>
          <a:xfrm>
            <a:off x="594360" y="4206240"/>
            <a:ext cx="10972800" cy="1371600"/>
          </a:xfrm>
          <a:prstGeom prst="roundRect">
            <a:avLst>
              <a:gd name="adj" fmla="val 6000"/>
            </a:avLst>
          </a:prstGeom>
          <a:solidFill>
            <a:srgbClr val="8A6100"/>
          </a:solidFill>
          <a:ln w="12700">
            <a:solidFill>
              <a:srgbClr val="8A6100"/>
            </a:solidFill>
            <a:prstDash val="solid"/>
          </a:ln>
        </p:spPr>
      </p:sp>
      <p:sp>
        <p:nvSpPr>
          <p:cNvPr id="14" name="Text 12"/>
          <p:cNvSpPr/>
          <p:nvPr/>
        </p:nvSpPr>
        <p:spPr>
          <a:xfrm>
            <a:off x="868680" y="4206240"/>
            <a:ext cx="10424160" cy="137160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Le médecin ne peut pas changer la retraite de la patiente. Il peut découvrir pourquoi elle est réhospitalisée, associer l’assistant social et l’infirmier communautaire, parler au médecin de famille et signaler le problème à ceux qui décident.</a:t>
            </a:r>
            <a:endParaRPr lang="en-US" sz="1700" dirty="0"/>
          </a:p>
        </p:txBody>
      </p:sp>
      <p:sp>
        <p:nvSpPr>
          <p:cNvPr id="15" name="Text 13"/>
          <p:cNvSpPr/>
          <p:nvPr/>
        </p:nvSpPr>
        <p:spPr>
          <a:xfrm>
            <a:off x="594360" y="5852160"/>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Les trois niveaux : synthèse didactique du cours. Rapport Marmot (Angleterre, 2010) : six objectifs de politique pour réduire les inégalités de santé.</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QU’EST ET CE QUE N’EST PAS LA SANTÉ PUBLIQUE</a:t>
            </a:r>
            <a:endParaRPr lang="en-US" sz="1300" dirty="0"/>
          </a:p>
        </p:txBody>
      </p:sp>
      <p:sp>
        <p:nvSpPr>
          <p:cNvPr id="5" name="Text 3"/>
          <p:cNvSpPr/>
          <p:nvPr/>
        </p:nvSpPr>
        <p:spPr>
          <a:xfrm>
            <a:off x="594360" y="1097280"/>
            <a:ext cx="10972800" cy="1097280"/>
          </a:xfrm>
          <a:prstGeom prst="rect">
            <a:avLst/>
          </a:prstGeom>
          <a:noFill/>
          <a:ln/>
        </p:spPr>
        <p:txBody>
          <a:bodyPr wrap="square" lIns="0" tIns="0" rIns="0" bIns="0" rtlCol="0" anchor="ctr"/>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La garde, le cabinet, le service : dix questions</a:t>
            </a:r>
            <a:endParaRPr lang="en-US" sz="3800" dirty="0"/>
          </a:p>
        </p:txBody>
      </p:sp>
      <p:sp>
        <p:nvSpPr>
          <p:cNvPr id="6" name="Text 4"/>
          <p:cNvSpPr/>
          <p:nvPr/>
        </p:nvSpPr>
        <p:spPr>
          <a:xfrm>
            <a:off x="594360" y="2331720"/>
            <a:ext cx="10972800" cy="54864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Allez sur kahoot.it et saisissez le code du jeu.</a:t>
            </a:r>
            <a:endParaRPr lang="en-US" sz="2200" dirty="0"/>
          </a:p>
        </p:txBody>
      </p:sp>
      <p:sp>
        <p:nvSpPr>
          <p:cNvPr id="7" name="Shape 5"/>
          <p:cNvSpPr/>
          <p:nvPr/>
        </p:nvSpPr>
        <p:spPr>
          <a:xfrm>
            <a:off x="594360" y="3200400"/>
            <a:ext cx="5486400" cy="2011680"/>
          </a:xfrm>
          <a:prstGeom prst="roundRect">
            <a:avLst>
              <a:gd name="adj" fmla="val 4091"/>
            </a:avLst>
          </a:prstGeom>
          <a:solidFill>
            <a:srgbClr val="272A38"/>
          </a:solidFill>
          <a:ln w="12700">
            <a:solidFill>
              <a:srgbClr val="272A38"/>
            </a:solidFill>
            <a:prstDash val="solid"/>
          </a:ln>
        </p:spPr>
      </p:sp>
      <p:sp>
        <p:nvSpPr>
          <p:cNvPr id="8" name="Text 6"/>
          <p:cNvSpPr/>
          <p:nvPr/>
        </p:nvSpPr>
        <p:spPr>
          <a:xfrm>
            <a:off x="594360" y="3200400"/>
            <a:ext cx="5486400" cy="2011680"/>
          </a:xfrm>
          <a:prstGeom prst="rect">
            <a:avLst/>
          </a:prstGeom>
          <a:noFill/>
          <a:ln/>
        </p:spPr>
        <p:txBody>
          <a:bodyPr wrap="square" lIns="0" tIns="0" rIns="0" bIns="0" rtlCol="0" anchor="ctr"/>
          <a:lstStyle/>
          <a:p>
            <a:pPr algn="ctr" indent="0" marL="0">
              <a:buNone/>
            </a:pPr>
            <a:r>
              <a:rPr lang="en-US" sz="1800" dirty="0">
                <a:solidFill>
                  <a:srgbClr val="959BB0"/>
                </a:solidFill>
                <a:latin typeface="Palatino Linotype" pitchFamily="34" charset="0"/>
                <a:ea typeface="Palatino Linotype" pitchFamily="34" charset="-122"/>
                <a:cs typeface="Palatino Linotype" pitchFamily="34" charset="-120"/>
              </a:rPr>
              <a:t>[code du jeu Kahoot]</a:t>
            </a:r>
            <a:endParaRPr lang="en-US" sz="1800" dirty="0"/>
          </a:p>
        </p:txBody>
      </p:sp>
      <p:sp>
        <p:nvSpPr>
          <p:cNvPr id="9" name="Text 7"/>
          <p:cNvSpPr/>
          <p:nvPr/>
        </p:nvSpPr>
        <p:spPr>
          <a:xfrm>
            <a:off x="6400800" y="3200400"/>
            <a:ext cx="5166360" cy="2011680"/>
          </a:xfrm>
          <a:prstGeom prst="rect">
            <a:avLst/>
          </a:prstGeom>
          <a:noFill/>
          <a:ln/>
        </p:spPr>
        <p:txBody>
          <a:bodyPr wrap="square" lIns="0" tIns="0" rIns="0" bIns="0" rtlCol="0" anchor="ctr"/>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Le résultat n’est pas noté. Après chaque question, nous discutons des mauvaises réponses.</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 QUESTIONNAIRE · LA CLÉ</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Dix affirmations : vrai ou faux</a:t>
            </a:r>
            <a:endParaRPr lang="en-US" sz="3000" dirty="0"/>
          </a:p>
        </p:txBody>
      </p:sp>
      <p:sp>
        <p:nvSpPr>
          <p:cNvPr id="4" name="Shape 2"/>
          <p:cNvSpPr/>
          <p:nvPr/>
        </p:nvSpPr>
        <p:spPr>
          <a:xfrm>
            <a:off x="594360" y="1691640"/>
            <a:ext cx="5440680" cy="731520"/>
          </a:xfrm>
          <a:prstGeom prst="roundRect">
            <a:avLst>
              <a:gd name="adj" fmla="val 11250"/>
            </a:avLst>
          </a:prstGeom>
          <a:solidFill>
            <a:srgbClr val="ECEAE4"/>
          </a:solidFill>
          <a:ln w="12700">
            <a:solidFill>
              <a:srgbClr val="ECEAE4"/>
            </a:solidFill>
            <a:prstDash val="solid"/>
          </a:ln>
        </p:spPr>
      </p:sp>
      <p:sp>
        <p:nvSpPr>
          <p:cNvPr id="5" name="Shape 3"/>
          <p:cNvSpPr/>
          <p:nvPr/>
        </p:nvSpPr>
        <p:spPr>
          <a:xfrm>
            <a:off x="731520" y="1847088"/>
            <a:ext cx="420624" cy="420624"/>
          </a:xfrm>
          <a:prstGeom prst="ellipse">
            <a:avLst/>
          </a:prstGeom>
          <a:solidFill>
            <a:srgbClr val="B02532"/>
          </a:solidFill>
          <a:ln/>
        </p:spPr>
      </p:sp>
      <p:sp>
        <p:nvSpPr>
          <p:cNvPr id="6" name="Text 4"/>
          <p:cNvSpPr/>
          <p:nvPr/>
        </p:nvSpPr>
        <p:spPr>
          <a:xfrm>
            <a:off x="731520" y="18470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F</a:t>
            </a:r>
            <a:endParaRPr lang="en-US" sz="1400" dirty="0"/>
          </a:p>
        </p:txBody>
      </p:sp>
      <p:sp>
        <p:nvSpPr>
          <p:cNvPr id="7" name="Text 5"/>
          <p:cNvSpPr/>
          <p:nvPr/>
        </p:nvSpPr>
        <p:spPr>
          <a:xfrm>
            <a:off x="1325880" y="169164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1. La santé publique s’occupe exclusivement des maladies infectieuses.</a:t>
            </a:r>
            <a:endParaRPr lang="en-US" sz="1350" dirty="0"/>
          </a:p>
        </p:txBody>
      </p:sp>
      <p:sp>
        <p:nvSpPr>
          <p:cNvPr id="8" name="Shape 6"/>
          <p:cNvSpPr/>
          <p:nvPr/>
        </p:nvSpPr>
        <p:spPr>
          <a:xfrm>
            <a:off x="594360" y="2514600"/>
            <a:ext cx="5440680" cy="731520"/>
          </a:xfrm>
          <a:prstGeom prst="roundRect">
            <a:avLst>
              <a:gd name="adj" fmla="val 11250"/>
            </a:avLst>
          </a:prstGeom>
          <a:solidFill>
            <a:srgbClr val="F9F8F5"/>
          </a:solidFill>
          <a:ln w="12700">
            <a:solidFill>
              <a:srgbClr val="F9F8F5"/>
            </a:solidFill>
            <a:prstDash val="solid"/>
          </a:ln>
        </p:spPr>
      </p:sp>
      <p:sp>
        <p:nvSpPr>
          <p:cNvPr id="9" name="Shape 7"/>
          <p:cNvSpPr/>
          <p:nvPr/>
        </p:nvSpPr>
        <p:spPr>
          <a:xfrm>
            <a:off x="731520" y="2670048"/>
            <a:ext cx="420624" cy="420624"/>
          </a:xfrm>
          <a:prstGeom prst="ellipse">
            <a:avLst/>
          </a:prstGeom>
          <a:solidFill>
            <a:srgbClr val="0E7C6B"/>
          </a:solidFill>
          <a:ln/>
        </p:spPr>
      </p:sp>
      <p:sp>
        <p:nvSpPr>
          <p:cNvPr id="10" name="Text 8"/>
          <p:cNvSpPr/>
          <p:nvPr/>
        </p:nvSpPr>
        <p:spPr>
          <a:xfrm>
            <a:off x="731520" y="26700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V</a:t>
            </a:r>
            <a:endParaRPr lang="en-US" sz="1400" dirty="0"/>
          </a:p>
        </p:txBody>
      </p:sp>
      <p:sp>
        <p:nvSpPr>
          <p:cNvPr id="11" name="Text 9"/>
          <p:cNvSpPr/>
          <p:nvPr/>
        </p:nvSpPr>
        <p:spPr>
          <a:xfrm>
            <a:off x="1325880" y="251460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2. La vaccination de la population est un acte de santé publique.</a:t>
            </a:r>
            <a:endParaRPr lang="en-US" sz="1350" dirty="0"/>
          </a:p>
        </p:txBody>
      </p:sp>
      <p:sp>
        <p:nvSpPr>
          <p:cNvPr id="12" name="Shape 10"/>
          <p:cNvSpPr/>
          <p:nvPr/>
        </p:nvSpPr>
        <p:spPr>
          <a:xfrm>
            <a:off x="594360" y="3337560"/>
            <a:ext cx="5440680" cy="731520"/>
          </a:xfrm>
          <a:prstGeom prst="roundRect">
            <a:avLst>
              <a:gd name="adj" fmla="val 11250"/>
            </a:avLst>
          </a:prstGeom>
          <a:solidFill>
            <a:srgbClr val="ECEAE4"/>
          </a:solidFill>
          <a:ln w="12700">
            <a:solidFill>
              <a:srgbClr val="ECEAE4"/>
            </a:solidFill>
            <a:prstDash val="solid"/>
          </a:ln>
        </p:spPr>
      </p:sp>
      <p:sp>
        <p:nvSpPr>
          <p:cNvPr id="13" name="Shape 11"/>
          <p:cNvSpPr/>
          <p:nvPr/>
        </p:nvSpPr>
        <p:spPr>
          <a:xfrm>
            <a:off x="731520" y="3493008"/>
            <a:ext cx="420624" cy="420624"/>
          </a:xfrm>
          <a:prstGeom prst="ellipse">
            <a:avLst/>
          </a:prstGeom>
          <a:solidFill>
            <a:srgbClr val="B02532"/>
          </a:solidFill>
          <a:ln/>
        </p:spPr>
      </p:sp>
      <p:sp>
        <p:nvSpPr>
          <p:cNvPr id="14" name="Text 12"/>
          <p:cNvSpPr/>
          <p:nvPr/>
        </p:nvSpPr>
        <p:spPr>
          <a:xfrm>
            <a:off x="731520" y="34930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F</a:t>
            </a:r>
            <a:endParaRPr lang="en-US" sz="1400" dirty="0"/>
          </a:p>
        </p:txBody>
      </p:sp>
      <p:sp>
        <p:nvSpPr>
          <p:cNvPr id="15" name="Text 13"/>
          <p:cNvSpPr/>
          <p:nvPr/>
        </p:nvSpPr>
        <p:spPr>
          <a:xfrm>
            <a:off x="1325880" y="333756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3. La santé publique n’a aucun lien avec la politique ou l’économie.</a:t>
            </a:r>
            <a:endParaRPr lang="en-US" sz="1350" dirty="0"/>
          </a:p>
        </p:txBody>
      </p:sp>
      <p:sp>
        <p:nvSpPr>
          <p:cNvPr id="16" name="Shape 14"/>
          <p:cNvSpPr/>
          <p:nvPr/>
        </p:nvSpPr>
        <p:spPr>
          <a:xfrm>
            <a:off x="594360" y="4160520"/>
            <a:ext cx="5440680" cy="731520"/>
          </a:xfrm>
          <a:prstGeom prst="roundRect">
            <a:avLst>
              <a:gd name="adj" fmla="val 11250"/>
            </a:avLst>
          </a:prstGeom>
          <a:solidFill>
            <a:srgbClr val="F9F8F5"/>
          </a:solidFill>
          <a:ln w="12700">
            <a:solidFill>
              <a:srgbClr val="F9F8F5"/>
            </a:solidFill>
            <a:prstDash val="solid"/>
          </a:ln>
        </p:spPr>
      </p:sp>
      <p:sp>
        <p:nvSpPr>
          <p:cNvPr id="17" name="Shape 15"/>
          <p:cNvSpPr/>
          <p:nvPr/>
        </p:nvSpPr>
        <p:spPr>
          <a:xfrm>
            <a:off x="731520" y="4315968"/>
            <a:ext cx="420624" cy="420624"/>
          </a:xfrm>
          <a:prstGeom prst="ellipse">
            <a:avLst/>
          </a:prstGeom>
          <a:solidFill>
            <a:srgbClr val="0E7C6B"/>
          </a:solidFill>
          <a:ln/>
        </p:spPr>
      </p:sp>
      <p:sp>
        <p:nvSpPr>
          <p:cNvPr id="18" name="Text 16"/>
          <p:cNvSpPr/>
          <p:nvPr/>
        </p:nvSpPr>
        <p:spPr>
          <a:xfrm>
            <a:off x="731520" y="43159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V</a:t>
            </a:r>
            <a:endParaRPr lang="en-US" sz="1400" dirty="0"/>
          </a:p>
        </p:txBody>
      </p:sp>
      <p:sp>
        <p:nvSpPr>
          <p:cNvPr id="19" name="Text 17"/>
          <p:cNvSpPr/>
          <p:nvPr/>
        </p:nvSpPr>
        <p:spPr>
          <a:xfrm>
            <a:off x="1325880" y="416052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4. Dans la loi n° 95/2006, « la santé publique » est l’état de santé de la population.</a:t>
            </a:r>
            <a:endParaRPr lang="en-US" sz="1350" dirty="0"/>
          </a:p>
        </p:txBody>
      </p:sp>
      <p:sp>
        <p:nvSpPr>
          <p:cNvPr id="20" name="Shape 18"/>
          <p:cNvSpPr/>
          <p:nvPr/>
        </p:nvSpPr>
        <p:spPr>
          <a:xfrm>
            <a:off x="594360" y="4983480"/>
            <a:ext cx="5440680" cy="731520"/>
          </a:xfrm>
          <a:prstGeom prst="roundRect">
            <a:avLst>
              <a:gd name="adj" fmla="val 11250"/>
            </a:avLst>
          </a:prstGeom>
          <a:solidFill>
            <a:srgbClr val="ECEAE4"/>
          </a:solidFill>
          <a:ln w="12700">
            <a:solidFill>
              <a:srgbClr val="ECEAE4"/>
            </a:solidFill>
            <a:prstDash val="solid"/>
          </a:ln>
        </p:spPr>
      </p:sp>
      <p:sp>
        <p:nvSpPr>
          <p:cNvPr id="21" name="Shape 19"/>
          <p:cNvSpPr/>
          <p:nvPr/>
        </p:nvSpPr>
        <p:spPr>
          <a:xfrm>
            <a:off x="731520" y="5138928"/>
            <a:ext cx="420624" cy="420624"/>
          </a:xfrm>
          <a:prstGeom prst="ellipse">
            <a:avLst/>
          </a:prstGeom>
          <a:solidFill>
            <a:srgbClr val="B02532"/>
          </a:solidFill>
          <a:ln/>
        </p:spPr>
      </p:sp>
      <p:sp>
        <p:nvSpPr>
          <p:cNvPr id="22" name="Text 20"/>
          <p:cNvSpPr/>
          <p:nvPr/>
        </p:nvSpPr>
        <p:spPr>
          <a:xfrm>
            <a:off x="731520" y="51389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F</a:t>
            </a:r>
            <a:endParaRPr lang="en-US" sz="1400" dirty="0"/>
          </a:p>
        </p:txBody>
      </p:sp>
      <p:sp>
        <p:nvSpPr>
          <p:cNvPr id="23" name="Text 21"/>
          <p:cNvSpPr/>
          <p:nvPr/>
        </p:nvSpPr>
        <p:spPr>
          <a:xfrm>
            <a:off x="1325880" y="498348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5. Les DSP sont placées sous l’autorité de l’INSP.</a:t>
            </a:r>
            <a:endParaRPr lang="en-US" sz="1350" dirty="0"/>
          </a:p>
        </p:txBody>
      </p:sp>
      <p:sp>
        <p:nvSpPr>
          <p:cNvPr id="24" name="Shape 22"/>
          <p:cNvSpPr/>
          <p:nvPr/>
        </p:nvSpPr>
        <p:spPr>
          <a:xfrm>
            <a:off x="6217920" y="1691640"/>
            <a:ext cx="5440680" cy="731520"/>
          </a:xfrm>
          <a:prstGeom prst="roundRect">
            <a:avLst>
              <a:gd name="adj" fmla="val 11250"/>
            </a:avLst>
          </a:prstGeom>
          <a:solidFill>
            <a:srgbClr val="ECEAE4"/>
          </a:solidFill>
          <a:ln w="12700">
            <a:solidFill>
              <a:srgbClr val="ECEAE4"/>
            </a:solidFill>
            <a:prstDash val="solid"/>
          </a:ln>
        </p:spPr>
      </p:sp>
      <p:sp>
        <p:nvSpPr>
          <p:cNvPr id="25" name="Shape 23"/>
          <p:cNvSpPr/>
          <p:nvPr/>
        </p:nvSpPr>
        <p:spPr>
          <a:xfrm>
            <a:off x="6355080" y="1847088"/>
            <a:ext cx="420624" cy="420624"/>
          </a:xfrm>
          <a:prstGeom prst="ellipse">
            <a:avLst/>
          </a:prstGeom>
          <a:solidFill>
            <a:srgbClr val="0E7C6B"/>
          </a:solidFill>
          <a:ln/>
        </p:spPr>
      </p:sp>
      <p:sp>
        <p:nvSpPr>
          <p:cNvPr id="26" name="Text 24"/>
          <p:cNvSpPr/>
          <p:nvPr/>
        </p:nvSpPr>
        <p:spPr>
          <a:xfrm>
            <a:off x="6355080" y="184708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V</a:t>
            </a:r>
            <a:endParaRPr lang="en-US" sz="1400" dirty="0"/>
          </a:p>
        </p:txBody>
      </p:sp>
      <p:sp>
        <p:nvSpPr>
          <p:cNvPr id="27" name="Text 25"/>
          <p:cNvSpPr/>
          <p:nvPr/>
        </p:nvSpPr>
        <p:spPr>
          <a:xfrm>
            <a:off x="6949440" y="169164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6. Le registre unique des maladies transmissibles est administré par l’INSP, par le CNSCBT.</a:t>
            </a:r>
            <a:endParaRPr lang="en-US" sz="1350" dirty="0"/>
          </a:p>
        </p:txBody>
      </p:sp>
      <p:sp>
        <p:nvSpPr>
          <p:cNvPr id="28" name="Shape 26"/>
          <p:cNvSpPr/>
          <p:nvPr/>
        </p:nvSpPr>
        <p:spPr>
          <a:xfrm>
            <a:off x="6217920" y="2514600"/>
            <a:ext cx="5440680" cy="731520"/>
          </a:xfrm>
          <a:prstGeom prst="roundRect">
            <a:avLst>
              <a:gd name="adj" fmla="val 11250"/>
            </a:avLst>
          </a:prstGeom>
          <a:solidFill>
            <a:srgbClr val="F9F8F5"/>
          </a:solidFill>
          <a:ln w="12700">
            <a:solidFill>
              <a:srgbClr val="F9F8F5"/>
            </a:solidFill>
            <a:prstDash val="solid"/>
          </a:ln>
        </p:spPr>
      </p:sp>
      <p:sp>
        <p:nvSpPr>
          <p:cNvPr id="29" name="Shape 27"/>
          <p:cNvSpPr/>
          <p:nvPr/>
        </p:nvSpPr>
        <p:spPr>
          <a:xfrm>
            <a:off x="6355080" y="2670048"/>
            <a:ext cx="420624" cy="420624"/>
          </a:xfrm>
          <a:prstGeom prst="ellipse">
            <a:avLst/>
          </a:prstGeom>
          <a:solidFill>
            <a:srgbClr val="0E7C6B"/>
          </a:solidFill>
          <a:ln/>
        </p:spPr>
      </p:sp>
      <p:sp>
        <p:nvSpPr>
          <p:cNvPr id="30" name="Text 28"/>
          <p:cNvSpPr/>
          <p:nvPr/>
        </p:nvSpPr>
        <p:spPr>
          <a:xfrm>
            <a:off x="6355080" y="26700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V</a:t>
            </a:r>
            <a:endParaRPr lang="en-US" sz="1400" dirty="0"/>
          </a:p>
        </p:txBody>
      </p:sp>
      <p:sp>
        <p:nvSpPr>
          <p:cNvPr id="31" name="Text 29"/>
          <p:cNvSpPr/>
          <p:nvPr/>
        </p:nvSpPr>
        <p:spPr>
          <a:xfrm>
            <a:off x="6949440" y="251460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7. Dans le plan de 2012, l’EPHO 7 (personnel) rend possibles les autres.</a:t>
            </a:r>
            <a:endParaRPr lang="en-US" sz="1350" dirty="0"/>
          </a:p>
        </p:txBody>
      </p:sp>
      <p:sp>
        <p:nvSpPr>
          <p:cNvPr id="32" name="Shape 30"/>
          <p:cNvSpPr/>
          <p:nvPr/>
        </p:nvSpPr>
        <p:spPr>
          <a:xfrm>
            <a:off x="6217920" y="3337560"/>
            <a:ext cx="5440680" cy="731520"/>
          </a:xfrm>
          <a:prstGeom prst="roundRect">
            <a:avLst>
              <a:gd name="adj" fmla="val 11250"/>
            </a:avLst>
          </a:prstGeom>
          <a:solidFill>
            <a:srgbClr val="ECEAE4"/>
          </a:solidFill>
          <a:ln w="12700">
            <a:solidFill>
              <a:srgbClr val="ECEAE4"/>
            </a:solidFill>
            <a:prstDash val="solid"/>
          </a:ln>
        </p:spPr>
      </p:sp>
      <p:sp>
        <p:nvSpPr>
          <p:cNvPr id="33" name="Shape 31"/>
          <p:cNvSpPr/>
          <p:nvPr/>
        </p:nvSpPr>
        <p:spPr>
          <a:xfrm>
            <a:off x="6355080" y="3493008"/>
            <a:ext cx="420624" cy="420624"/>
          </a:xfrm>
          <a:prstGeom prst="ellipse">
            <a:avLst/>
          </a:prstGeom>
          <a:solidFill>
            <a:srgbClr val="B02532"/>
          </a:solidFill>
          <a:ln/>
        </p:spPr>
      </p:sp>
      <p:sp>
        <p:nvSpPr>
          <p:cNvPr id="34" name="Text 32"/>
          <p:cNvSpPr/>
          <p:nvPr/>
        </p:nvSpPr>
        <p:spPr>
          <a:xfrm>
            <a:off x="6355080" y="34930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F</a:t>
            </a:r>
            <a:endParaRPr lang="en-US" sz="1400" dirty="0"/>
          </a:p>
        </p:txBody>
      </p:sp>
      <p:sp>
        <p:nvSpPr>
          <p:cNvPr id="35" name="Text 33"/>
          <p:cNvSpPr/>
          <p:nvPr/>
        </p:nvSpPr>
        <p:spPr>
          <a:xfrm>
            <a:off x="6949440" y="333756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8. Les services de santé sont au centre du modèle de Dahlgren-Whitehead.</a:t>
            </a:r>
            <a:endParaRPr lang="en-US" sz="1350" dirty="0"/>
          </a:p>
        </p:txBody>
      </p:sp>
      <p:sp>
        <p:nvSpPr>
          <p:cNvPr id="36" name="Shape 34"/>
          <p:cNvSpPr/>
          <p:nvPr/>
        </p:nvSpPr>
        <p:spPr>
          <a:xfrm>
            <a:off x="6217920" y="4160520"/>
            <a:ext cx="5440680" cy="731520"/>
          </a:xfrm>
          <a:prstGeom prst="roundRect">
            <a:avLst>
              <a:gd name="adj" fmla="val 11250"/>
            </a:avLst>
          </a:prstGeom>
          <a:solidFill>
            <a:srgbClr val="F9F8F5"/>
          </a:solidFill>
          <a:ln w="12700">
            <a:solidFill>
              <a:srgbClr val="F9F8F5"/>
            </a:solidFill>
            <a:prstDash val="solid"/>
          </a:ln>
        </p:spPr>
      </p:sp>
      <p:sp>
        <p:nvSpPr>
          <p:cNvPr id="37" name="Shape 35"/>
          <p:cNvSpPr/>
          <p:nvPr/>
        </p:nvSpPr>
        <p:spPr>
          <a:xfrm>
            <a:off x="6355080" y="4315968"/>
            <a:ext cx="420624" cy="420624"/>
          </a:xfrm>
          <a:prstGeom prst="ellipse">
            <a:avLst/>
          </a:prstGeom>
          <a:solidFill>
            <a:srgbClr val="0E7C6B"/>
          </a:solidFill>
          <a:ln/>
        </p:spPr>
      </p:sp>
      <p:sp>
        <p:nvSpPr>
          <p:cNvPr id="38" name="Text 36"/>
          <p:cNvSpPr/>
          <p:nvPr/>
        </p:nvSpPr>
        <p:spPr>
          <a:xfrm>
            <a:off x="6355080" y="43159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V</a:t>
            </a:r>
            <a:endParaRPr lang="en-US" sz="1400" dirty="0"/>
          </a:p>
        </p:txBody>
      </p:sp>
      <p:sp>
        <p:nvSpPr>
          <p:cNvPr id="39" name="Text 37"/>
          <p:cNvSpPr/>
          <p:nvPr/>
        </p:nvSpPr>
        <p:spPr>
          <a:xfrm>
            <a:off x="6949440" y="416052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9. Alma-Ata, 1978 : les soins primaires, clé de « La santé pour tous ».</a:t>
            </a:r>
            <a:endParaRPr lang="en-US" sz="1350" dirty="0"/>
          </a:p>
        </p:txBody>
      </p:sp>
      <p:sp>
        <p:nvSpPr>
          <p:cNvPr id="40" name="Shape 38"/>
          <p:cNvSpPr/>
          <p:nvPr/>
        </p:nvSpPr>
        <p:spPr>
          <a:xfrm>
            <a:off x="6217920" y="4983480"/>
            <a:ext cx="5440680" cy="731520"/>
          </a:xfrm>
          <a:prstGeom prst="roundRect">
            <a:avLst>
              <a:gd name="adj" fmla="val 11250"/>
            </a:avLst>
          </a:prstGeom>
          <a:solidFill>
            <a:srgbClr val="ECEAE4"/>
          </a:solidFill>
          <a:ln w="12700">
            <a:solidFill>
              <a:srgbClr val="ECEAE4"/>
            </a:solidFill>
            <a:prstDash val="solid"/>
          </a:ln>
        </p:spPr>
      </p:sp>
      <p:sp>
        <p:nvSpPr>
          <p:cNvPr id="41" name="Shape 39"/>
          <p:cNvSpPr/>
          <p:nvPr/>
        </p:nvSpPr>
        <p:spPr>
          <a:xfrm>
            <a:off x="6355080" y="5138928"/>
            <a:ext cx="420624" cy="420624"/>
          </a:xfrm>
          <a:prstGeom prst="ellipse">
            <a:avLst/>
          </a:prstGeom>
          <a:solidFill>
            <a:srgbClr val="0E7C6B"/>
          </a:solidFill>
          <a:ln/>
        </p:spPr>
      </p:sp>
      <p:sp>
        <p:nvSpPr>
          <p:cNvPr id="42" name="Text 40"/>
          <p:cNvSpPr/>
          <p:nvPr/>
        </p:nvSpPr>
        <p:spPr>
          <a:xfrm>
            <a:off x="6355080" y="51389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V</a:t>
            </a:r>
            <a:endParaRPr lang="en-US" sz="1400" dirty="0"/>
          </a:p>
        </p:txBody>
      </p:sp>
      <p:sp>
        <p:nvSpPr>
          <p:cNvPr id="43" name="Text 41"/>
          <p:cNvSpPr/>
          <p:nvPr/>
        </p:nvSpPr>
        <p:spPr>
          <a:xfrm>
            <a:off x="6949440" y="4983480"/>
            <a:ext cx="4572000" cy="731520"/>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10. En 2023, la mortalité évitable par les traitements en Roumanie : plus de deux fois la moyenne de l’UE.</a:t>
            </a:r>
            <a:endParaRPr lang="en-US" sz="1350" dirty="0"/>
          </a:p>
        </p:txBody>
      </p:sp>
      <p:sp>
        <p:nvSpPr>
          <p:cNvPr id="44" name="Text 42"/>
          <p:cNvSpPr/>
          <p:nvPr/>
        </p:nvSpPr>
        <p:spPr>
          <a:xfrm>
            <a:off x="594360" y="5852160"/>
            <a:ext cx="10972800" cy="36576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V = vrai · F = faux. Les DSP sont des services déconcentrés du ministère de la Santé.</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À RETENIR</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Cinq idées du cours d’aujourd’hui</a:t>
            </a:r>
            <a:endParaRPr lang="en-US" sz="3200" dirty="0"/>
          </a:p>
        </p:txBody>
      </p:sp>
      <p:sp>
        <p:nvSpPr>
          <p:cNvPr id="4" name="Shape 2"/>
          <p:cNvSpPr/>
          <p:nvPr/>
        </p:nvSpPr>
        <p:spPr>
          <a:xfrm>
            <a:off x="594360" y="1600200"/>
            <a:ext cx="10972800" cy="804672"/>
          </a:xfrm>
          <a:prstGeom prst="roundRect">
            <a:avLst>
              <a:gd name="adj" fmla="val 10227"/>
            </a:avLst>
          </a:prstGeom>
          <a:solidFill>
            <a:srgbClr val="1D1F2B"/>
          </a:solidFill>
          <a:ln w="12700">
            <a:solidFill>
              <a:srgbClr val="1D1F2B"/>
            </a:solidFill>
            <a:prstDash val="solid"/>
          </a:ln>
        </p:spPr>
      </p:sp>
      <p:sp>
        <p:nvSpPr>
          <p:cNvPr id="5" name="Shape 3"/>
          <p:cNvSpPr/>
          <p:nvPr/>
        </p:nvSpPr>
        <p:spPr>
          <a:xfrm>
            <a:off x="868680" y="1792224"/>
            <a:ext cx="420624" cy="420624"/>
          </a:xfrm>
          <a:prstGeom prst="ellipse">
            <a:avLst/>
          </a:prstGeom>
          <a:solidFill>
            <a:srgbClr val="27D3BE"/>
          </a:solidFill>
          <a:ln/>
        </p:spPr>
      </p:sp>
      <p:sp>
        <p:nvSpPr>
          <p:cNvPr id="6" name="Text 4"/>
          <p:cNvSpPr/>
          <p:nvPr/>
        </p:nvSpPr>
        <p:spPr>
          <a:xfrm>
            <a:off x="868680" y="1792224"/>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00200"/>
            <a:ext cx="9829800" cy="804672"/>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La santé publique : la science et l’art de prévenir la maladie, de prolonger la vie et de promouvoir la santé par les efforts organisés de la société.</a:t>
            </a:r>
            <a:endParaRPr lang="en-US" sz="1550" dirty="0"/>
          </a:p>
        </p:txBody>
      </p:sp>
      <p:sp>
        <p:nvSpPr>
          <p:cNvPr id="8" name="Shape 6"/>
          <p:cNvSpPr/>
          <p:nvPr/>
        </p:nvSpPr>
        <p:spPr>
          <a:xfrm>
            <a:off x="594360" y="2496312"/>
            <a:ext cx="10972800" cy="804672"/>
          </a:xfrm>
          <a:prstGeom prst="roundRect">
            <a:avLst>
              <a:gd name="adj" fmla="val 10227"/>
            </a:avLst>
          </a:prstGeom>
          <a:solidFill>
            <a:srgbClr val="1D1F2B"/>
          </a:solidFill>
          <a:ln w="12700">
            <a:solidFill>
              <a:srgbClr val="1D1F2B"/>
            </a:solidFill>
            <a:prstDash val="solid"/>
          </a:ln>
        </p:spPr>
      </p:sp>
      <p:sp>
        <p:nvSpPr>
          <p:cNvPr id="9" name="Shape 7"/>
          <p:cNvSpPr/>
          <p:nvPr/>
        </p:nvSpPr>
        <p:spPr>
          <a:xfrm>
            <a:off x="868680" y="2688336"/>
            <a:ext cx="420624" cy="420624"/>
          </a:xfrm>
          <a:prstGeom prst="ellipse">
            <a:avLst/>
          </a:prstGeom>
          <a:solidFill>
            <a:srgbClr val="27D3BE"/>
          </a:solidFill>
          <a:ln/>
        </p:spPr>
      </p:sp>
      <p:sp>
        <p:nvSpPr>
          <p:cNvPr id="10" name="Text 8"/>
          <p:cNvSpPr/>
          <p:nvPr/>
        </p:nvSpPr>
        <p:spPr>
          <a:xfrm>
            <a:off x="868680" y="2688336"/>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496312"/>
            <a:ext cx="9829800" cy="804672"/>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La loi roumaine : « l’assistance de santé publique » est l’effort ; « la santé publique », l’état de santé de la population.</a:t>
            </a:r>
            <a:endParaRPr lang="en-US" sz="1550" dirty="0"/>
          </a:p>
        </p:txBody>
      </p:sp>
      <p:sp>
        <p:nvSpPr>
          <p:cNvPr id="12" name="Shape 10"/>
          <p:cNvSpPr/>
          <p:nvPr/>
        </p:nvSpPr>
        <p:spPr>
          <a:xfrm>
            <a:off x="594360" y="3392424"/>
            <a:ext cx="10972800" cy="804672"/>
          </a:xfrm>
          <a:prstGeom prst="roundRect">
            <a:avLst>
              <a:gd name="adj" fmla="val 10227"/>
            </a:avLst>
          </a:prstGeom>
          <a:solidFill>
            <a:srgbClr val="1D1F2B"/>
          </a:solidFill>
          <a:ln w="12700">
            <a:solidFill>
              <a:srgbClr val="1D1F2B"/>
            </a:solidFill>
            <a:prstDash val="solid"/>
          </a:ln>
        </p:spPr>
      </p:sp>
      <p:sp>
        <p:nvSpPr>
          <p:cNvPr id="13" name="Shape 11"/>
          <p:cNvSpPr/>
          <p:nvPr/>
        </p:nvSpPr>
        <p:spPr>
          <a:xfrm>
            <a:off x="868680" y="3584448"/>
            <a:ext cx="420624" cy="420624"/>
          </a:xfrm>
          <a:prstGeom prst="ellipse">
            <a:avLst/>
          </a:prstGeom>
          <a:solidFill>
            <a:srgbClr val="27D3BE"/>
          </a:solidFill>
          <a:ln/>
        </p:spPr>
      </p:sp>
      <p:sp>
        <p:nvSpPr>
          <p:cNvPr id="14" name="Text 12"/>
          <p:cNvSpPr/>
          <p:nvPr/>
        </p:nvSpPr>
        <p:spPr>
          <a:xfrm>
            <a:off x="868680" y="358444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392424"/>
            <a:ext cx="9829800" cy="804672"/>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OESP, 2012 : cinq opérations de base et cinq qui les rendent possibles, plus les opérations d’information ; OMS : une liste mondiale de 12 fonctions.</a:t>
            </a:r>
            <a:endParaRPr lang="en-US" sz="1550" dirty="0"/>
          </a:p>
        </p:txBody>
      </p:sp>
      <p:sp>
        <p:nvSpPr>
          <p:cNvPr id="16" name="Shape 14"/>
          <p:cNvSpPr/>
          <p:nvPr/>
        </p:nvSpPr>
        <p:spPr>
          <a:xfrm>
            <a:off x="594360" y="4288536"/>
            <a:ext cx="10972800" cy="804672"/>
          </a:xfrm>
          <a:prstGeom prst="roundRect">
            <a:avLst>
              <a:gd name="adj" fmla="val 10227"/>
            </a:avLst>
          </a:prstGeom>
          <a:solidFill>
            <a:srgbClr val="1D1F2B"/>
          </a:solidFill>
          <a:ln w="12700">
            <a:solidFill>
              <a:srgbClr val="1D1F2B"/>
            </a:solidFill>
            <a:prstDash val="solid"/>
          </a:ln>
        </p:spPr>
      </p:sp>
      <p:sp>
        <p:nvSpPr>
          <p:cNvPr id="17" name="Shape 15"/>
          <p:cNvSpPr/>
          <p:nvPr/>
        </p:nvSpPr>
        <p:spPr>
          <a:xfrm>
            <a:off x="868680" y="4480560"/>
            <a:ext cx="420624" cy="420624"/>
          </a:xfrm>
          <a:prstGeom prst="ellipse">
            <a:avLst/>
          </a:prstGeom>
          <a:solidFill>
            <a:srgbClr val="27D3BE"/>
          </a:solidFill>
          <a:ln/>
        </p:spPr>
      </p:sp>
      <p:sp>
        <p:nvSpPr>
          <p:cNvPr id="18" name="Text 16"/>
          <p:cNvSpPr/>
          <p:nvPr/>
        </p:nvSpPr>
        <p:spPr>
          <a:xfrm>
            <a:off x="868680" y="4480560"/>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4288536"/>
            <a:ext cx="9829800" cy="804672"/>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Les soins de santé primaires, d’Alma-Ata (1978) à Astana (2018) : le lieu où la clinique et la santé publique se rencontrent chaque jour.</a:t>
            </a:r>
            <a:endParaRPr lang="en-US" sz="1550" dirty="0"/>
          </a:p>
        </p:txBody>
      </p:sp>
      <p:sp>
        <p:nvSpPr>
          <p:cNvPr id="20" name="Shape 18"/>
          <p:cNvSpPr/>
          <p:nvPr/>
        </p:nvSpPr>
        <p:spPr>
          <a:xfrm>
            <a:off x="594360" y="5184648"/>
            <a:ext cx="10972800" cy="804672"/>
          </a:xfrm>
          <a:prstGeom prst="roundRect">
            <a:avLst>
              <a:gd name="adj" fmla="val 10227"/>
            </a:avLst>
          </a:prstGeom>
          <a:solidFill>
            <a:srgbClr val="1D1F2B"/>
          </a:solidFill>
          <a:ln w="12700">
            <a:solidFill>
              <a:srgbClr val="1D1F2B"/>
            </a:solidFill>
            <a:prstDash val="solid"/>
          </a:ln>
        </p:spPr>
      </p:sp>
      <p:sp>
        <p:nvSpPr>
          <p:cNvPr id="21" name="Shape 19"/>
          <p:cNvSpPr/>
          <p:nvPr/>
        </p:nvSpPr>
        <p:spPr>
          <a:xfrm>
            <a:off x="868680" y="5376672"/>
            <a:ext cx="420624" cy="420624"/>
          </a:xfrm>
          <a:prstGeom prst="ellipse">
            <a:avLst/>
          </a:prstGeom>
          <a:solidFill>
            <a:srgbClr val="27D3BE"/>
          </a:solidFill>
          <a:ln/>
        </p:spPr>
      </p:sp>
      <p:sp>
        <p:nvSpPr>
          <p:cNvPr id="22" name="Text 20"/>
          <p:cNvSpPr/>
          <p:nvPr/>
        </p:nvSpPr>
        <p:spPr>
          <a:xfrm>
            <a:off x="868680" y="5376672"/>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5184648"/>
            <a:ext cx="9829800" cy="804672"/>
          </a:xfrm>
          <a:prstGeom prst="rect">
            <a:avLst/>
          </a:prstGeom>
          <a:noFill/>
          <a:ln/>
        </p:spPr>
        <p:txBody>
          <a:bodyPr wrap="square" lIns="0" tIns="0" rIns="0" bIns="0" rtlCol="0" anchor="ctr"/>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Les déterminants vont des comportements aux conditions de vie et à la répartition du pouvoir et des ressources ; le gradient suit l’échelle sociale.</a:t>
            </a:r>
            <a:endParaRPr lang="en-US" sz="15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DEMAIN, EN TANT QUE MÉDECINS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700" b="1" dirty="0">
                <a:solidFill>
                  <a:srgbClr val="11121A"/>
                </a:solidFill>
                <a:latin typeface="Palatino Linotype" pitchFamily="34" charset="0"/>
                <a:ea typeface="Palatino Linotype" pitchFamily="34" charset="-122"/>
                <a:cs typeface="Palatino Linotype" pitchFamily="34" charset="-120"/>
              </a:rPr>
              <a:t>Ce que vous ferez autrement à la garde, au cabinet et dans le service</a:t>
            </a:r>
            <a:endParaRPr lang="en-US" sz="2700" dirty="0"/>
          </a:p>
        </p:txBody>
      </p:sp>
      <p:sp>
        <p:nvSpPr>
          <p:cNvPr id="4" name="Shape 2"/>
          <p:cNvSpPr/>
          <p:nvPr/>
        </p:nvSpPr>
        <p:spPr>
          <a:xfrm>
            <a:off x="594360" y="1737360"/>
            <a:ext cx="10972800" cy="841248"/>
          </a:xfrm>
          <a:prstGeom prst="roundRect">
            <a:avLst>
              <a:gd name="adj" fmla="val 9783"/>
            </a:avLst>
          </a:prstGeom>
          <a:solidFill>
            <a:srgbClr val="ECEAE4"/>
          </a:solidFill>
          <a:ln w="12700">
            <a:solidFill>
              <a:srgbClr val="ECEAE4"/>
            </a:solidFill>
            <a:prstDash val="solid"/>
          </a:ln>
        </p:spPr>
      </p:sp>
      <p:sp>
        <p:nvSpPr>
          <p:cNvPr id="5" name="Shape 3"/>
          <p:cNvSpPr/>
          <p:nvPr/>
        </p:nvSpPr>
        <p:spPr>
          <a:xfrm>
            <a:off x="868680" y="1947672"/>
            <a:ext cx="420624" cy="420624"/>
          </a:xfrm>
          <a:prstGeom prst="ellipse">
            <a:avLst/>
          </a:prstGeom>
          <a:solidFill>
            <a:srgbClr val="FF4757"/>
          </a:solidFill>
          <a:ln/>
        </p:spPr>
      </p:sp>
      <p:sp>
        <p:nvSpPr>
          <p:cNvPr id="6" name="Text 4"/>
          <p:cNvSpPr/>
          <p:nvPr/>
        </p:nvSpPr>
        <p:spPr>
          <a:xfrm>
            <a:off x="868680" y="194767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737360"/>
            <a:ext cx="9875520" cy="841248"/>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Posez aussi la seconde question : combien de patients comme celui-ci existe-t-il et qu’aurait-on pu faire avant ?</a:t>
            </a:r>
            <a:endParaRPr lang="en-US" sz="1800" dirty="0"/>
          </a:p>
        </p:txBody>
      </p:sp>
      <p:sp>
        <p:nvSpPr>
          <p:cNvPr id="8" name="Shape 6"/>
          <p:cNvSpPr/>
          <p:nvPr/>
        </p:nvSpPr>
        <p:spPr>
          <a:xfrm>
            <a:off x="594360" y="2724912"/>
            <a:ext cx="10972800" cy="841248"/>
          </a:xfrm>
          <a:prstGeom prst="roundRect">
            <a:avLst>
              <a:gd name="adj" fmla="val 9783"/>
            </a:avLst>
          </a:prstGeom>
          <a:solidFill>
            <a:srgbClr val="F9F8F5"/>
          </a:solidFill>
          <a:ln w="12700">
            <a:solidFill>
              <a:srgbClr val="F9F8F5"/>
            </a:solidFill>
            <a:prstDash val="solid"/>
          </a:ln>
        </p:spPr>
      </p:sp>
      <p:sp>
        <p:nvSpPr>
          <p:cNvPr id="9" name="Shape 7"/>
          <p:cNvSpPr/>
          <p:nvPr/>
        </p:nvSpPr>
        <p:spPr>
          <a:xfrm>
            <a:off x="868680" y="2935224"/>
            <a:ext cx="420624" cy="420624"/>
          </a:xfrm>
          <a:prstGeom prst="ellipse">
            <a:avLst/>
          </a:prstGeom>
          <a:solidFill>
            <a:srgbClr val="FF4757"/>
          </a:solidFill>
          <a:ln/>
        </p:spPr>
      </p:sp>
      <p:sp>
        <p:nvSpPr>
          <p:cNvPr id="10" name="Text 8"/>
          <p:cNvSpPr/>
          <p:nvPr/>
        </p:nvSpPr>
        <p:spPr>
          <a:xfrm>
            <a:off x="868680" y="293522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724912"/>
            <a:ext cx="9875520" cy="841248"/>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Déclarez les cas à déclarer : votre déclaration est le premier maillon de la surveillance.</a:t>
            </a:r>
            <a:endParaRPr lang="en-US" sz="1800" dirty="0"/>
          </a:p>
        </p:txBody>
      </p:sp>
      <p:sp>
        <p:nvSpPr>
          <p:cNvPr id="12" name="Shape 10"/>
          <p:cNvSpPr/>
          <p:nvPr/>
        </p:nvSpPr>
        <p:spPr>
          <a:xfrm>
            <a:off x="594360" y="3712464"/>
            <a:ext cx="10972800" cy="841248"/>
          </a:xfrm>
          <a:prstGeom prst="roundRect">
            <a:avLst>
              <a:gd name="adj" fmla="val 9783"/>
            </a:avLst>
          </a:prstGeom>
          <a:solidFill>
            <a:srgbClr val="ECEAE4"/>
          </a:solidFill>
          <a:ln w="12700">
            <a:solidFill>
              <a:srgbClr val="ECEAE4"/>
            </a:solidFill>
            <a:prstDash val="solid"/>
          </a:ln>
        </p:spPr>
      </p:sp>
      <p:sp>
        <p:nvSpPr>
          <p:cNvPr id="13" name="Shape 11"/>
          <p:cNvSpPr/>
          <p:nvPr/>
        </p:nvSpPr>
        <p:spPr>
          <a:xfrm>
            <a:off x="868680" y="3922776"/>
            <a:ext cx="420624" cy="420624"/>
          </a:xfrm>
          <a:prstGeom prst="ellipse">
            <a:avLst/>
          </a:prstGeom>
          <a:solidFill>
            <a:srgbClr val="FF4757"/>
          </a:solidFill>
          <a:ln/>
        </p:spPr>
      </p:sp>
      <p:sp>
        <p:nvSpPr>
          <p:cNvPr id="14" name="Text 12"/>
          <p:cNvSpPr/>
          <p:nvPr/>
        </p:nvSpPr>
        <p:spPr>
          <a:xfrm>
            <a:off x="868680" y="392277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712464"/>
            <a:ext cx="9875520" cy="841248"/>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Demandez au patient réhospitalisé à répétition où il habite, avec qui et de quoi il vit : ce sont des informations cliniques.</a:t>
            </a:r>
            <a:endParaRPr lang="en-US" sz="1800" dirty="0"/>
          </a:p>
        </p:txBody>
      </p:sp>
      <p:sp>
        <p:nvSpPr>
          <p:cNvPr id="16" name="Shape 14"/>
          <p:cNvSpPr/>
          <p:nvPr/>
        </p:nvSpPr>
        <p:spPr>
          <a:xfrm>
            <a:off x="594360" y="4700016"/>
            <a:ext cx="10972800" cy="841248"/>
          </a:xfrm>
          <a:prstGeom prst="roundRect">
            <a:avLst>
              <a:gd name="adj" fmla="val 9783"/>
            </a:avLst>
          </a:prstGeom>
          <a:solidFill>
            <a:srgbClr val="F9F8F5"/>
          </a:solidFill>
          <a:ln w="12700">
            <a:solidFill>
              <a:srgbClr val="F9F8F5"/>
            </a:solidFill>
            <a:prstDash val="solid"/>
          </a:ln>
        </p:spPr>
      </p:sp>
      <p:sp>
        <p:nvSpPr>
          <p:cNvPr id="17" name="Shape 15"/>
          <p:cNvSpPr/>
          <p:nvPr/>
        </p:nvSpPr>
        <p:spPr>
          <a:xfrm>
            <a:off x="868680" y="4910328"/>
            <a:ext cx="420624" cy="420624"/>
          </a:xfrm>
          <a:prstGeom prst="ellipse">
            <a:avLst/>
          </a:prstGeom>
          <a:solidFill>
            <a:srgbClr val="FF4757"/>
          </a:solidFill>
          <a:ln/>
        </p:spPr>
      </p:sp>
      <p:sp>
        <p:nvSpPr>
          <p:cNvPr id="18" name="Text 16"/>
          <p:cNvSpPr/>
          <p:nvPr/>
        </p:nvSpPr>
        <p:spPr>
          <a:xfrm>
            <a:off x="868680" y="491032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4700016"/>
            <a:ext cx="9875520" cy="841248"/>
          </a:xfrm>
          <a:prstGeom prst="rect">
            <a:avLst/>
          </a:prstGeom>
          <a:noFill/>
          <a:ln/>
        </p:spPr>
        <p:txBody>
          <a:bodyPr wrap="square" lIns="0" tIns="0" rIns="0" bIns="0" rtlCol="0" anchor="ctr"/>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Quand un problème se répète, signalez-le à ceux qui peuvent décider.</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LES CINQ DERNIÈRES MINUTES · ANONYME</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Trois questions pour finir</a:t>
            </a:r>
            <a:endParaRPr lang="en-US" sz="4000" dirty="0"/>
          </a:p>
        </p:txBody>
      </p:sp>
      <p:sp>
        <p:nvSpPr>
          <p:cNvPr id="5" name="Shape 3"/>
          <p:cNvSpPr/>
          <p:nvPr/>
        </p:nvSpPr>
        <p:spPr>
          <a:xfrm>
            <a:off x="914400" y="2670048"/>
            <a:ext cx="420624" cy="420624"/>
          </a:xfrm>
          <a:prstGeom prst="ellipse">
            <a:avLst/>
          </a:prstGeom>
          <a:solidFill>
            <a:srgbClr val="FFC24B"/>
          </a:solidFill>
          <a:ln/>
        </p:spPr>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Qu’est-ce qui vous a été utile aujourd’hui ?</a:t>
            </a:r>
            <a:endParaRPr lang="en-US" sz="2000" dirty="0"/>
          </a:p>
        </p:txBody>
      </p:sp>
      <p:sp>
        <p:nvSpPr>
          <p:cNvPr id="8" name="Shape 6"/>
          <p:cNvSpPr/>
          <p:nvPr/>
        </p:nvSpPr>
        <p:spPr>
          <a:xfrm>
            <a:off x="914400" y="3538728"/>
            <a:ext cx="420624" cy="420624"/>
          </a:xfrm>
          <a:prstGeom prst="ellipse">
            <a:avLst/>
          </a:prstGeom>
          <a:solidFill>
            <a:srgbClr val="FFC24B"/>
          </a:solidFill>
          <a:ln/>
        </p:spPr>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Où vous ai-je perdus ?</a:t>
            </a:r>
            <a:endParaRPr lang="en-US" sz="2000" dirty="0"/>
          </a:p>
        </p:txBody>
      </p:sp>
      <p:sp>
        <p:nvSpPr>
          <p:cNvPr id="11" name="Shape 9"/>
          <p:cNvSpPr/>
          <p:nvPr/>
        </p:nvSpPr>
        <p:spPr>
          <a:xfrm>
            <a:off x="914400" y="4407408"/>
            <a:ext cx="420624" cy="420624"/>
          </a:xfrm>
          <a:prstGeom prst="ellipse">
            <a:avLst/>
          </a:prstGeom>
          <a:solidFill>
            <a:srgbClr val="FFC24B"/>
          </a:solidFill>
          <a:ln/>
        </p:spPr>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Qu’est-ce que vous pourriez utiliser demain ?</a:t>
            </a:r>
            <a:endParaRPr lang="en-US" sz="20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sp>
      <p:sp>
        <p:nvSpPr>
          <p:cNvPr id="15" name="Text 13"/>
          <p:cNvSpPr/>
          <p:nvPr/>
        </p:nvSpPr>
        <p:spPr>
          <a:xfrm>
            <a:off x="8549640" y="2514600"/>
            <a:ext cx="3017520" cy="2468880"/>
          </a:xfrm>
          <a:prstGeom prst="rect">
            <a:avLst/>
          </a:prstGeom>
          <a:noFill/>
          <a:ln/>
        </p:spPr>
        <p:txBody>
          <a:bodyPr wrap="square" lIns="0" tIns="0" rIns="0" bIns="0" rtlCol="0" anchor="ctr"/>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[code QR Mentimeter]</a:t>
            </a:r>
            <a:endParaRPr lang="en-US" sz="1400" dirty="0"/>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Au début de la semaine prochaine, sur la page de la discipline, vous trouverez deux modifications faites d’après vos réponses.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 1 - Le même patient, pour la troisième fois</dc:title>
  <dc:subject>PptxGenJS Presentation</dc:subject>
  <dc:creator>Conf. Univ. Dr. Adrian Pana</dc:creator>
  <cp:lastModifiedBy>Conf. Univ. Dr. Adrian Pana</cp:lastModifiedBy>
  <cp:revision>1</cp:revision>
  <dcterms:created xsi:type="dcterms:W3CDTF">2026-10-03T20:09:36Z</dcterms:created>
  <dcterms:modified xsi:type="dcterms:W3CDTF">2026-10-03T20:09:36Z</dcterms:modified>
  <cp:keywords>sursa_amprenta=453756d1b824f900; proiectie</cp:keywords>
</cp:coreProperties>
</file>