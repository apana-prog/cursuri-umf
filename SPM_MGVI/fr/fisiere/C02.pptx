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60350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7772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COURS 2  ·  SANTÉ PUBLIQUE ET MANAGEMENT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Comment savons-nous si une population est en bonne santé ?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Mortalité, morbidité, charge de morbidité : DALY, QALY, HALE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67512" y="448056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4709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Quatre situations d’un jeune médecin : deux pays, la garde de neurologie, le cabinet de médecine de famille, la commission qui décide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Cluj-Napoca · Médecine, 6e année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DEPUIS LE COURS PRÉCÉDENT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que nous faisons de vos réponses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49240" cy="3017520"/>
          </a:xfrm>
          <a:prstGeom prst="roundRect">
            <a:avLst>
              <a:gd name="adj" fmla="val 27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965960"/>
            <a:ext cx="64008" cy="29260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19456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1945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Nous lisons toutes les réponses au billet de sortie du premier cours.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49240" cy="3017520"/>
          </a:xfrm>
          <a:prstGeom prst="roundRect">
            <a:avLst>
              <a:gd name="adj" fmla="val 27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63640" y="1965960"/>
            <a:ext cx="64008" cy="2926080"/>
          </a:xfrm>
          <a:prstGeom prst="rect">
            <a:avLst/>
          </a:prstGeom>
          <a:solidFill>
            <a:srgbClr val="27D3BE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83680" y="219456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8368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1945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Nous retenons deux modifications et nous les appliquons dès le cours suivant.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deux modifications figureront aussi sur la page de la discipline.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QUESTION DU TITRE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Deux pays, la même espérance de vie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03520" cy="2834640"/>
          </a:xfrm>
          <a:prstGeom prst="roundRect">
            <a:avLst>
              <a:gd name="adj" fmla="val 29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76,5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96012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ans, à la naissance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03520" cy="2834640"/>
          </a:xfrm>
          <a:prstGeom prst="roundRect">
            <a:avLst>
              <a:gd name="adj" fmla="val 29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LETTONIE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2468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76,4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662940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ans, à la naissance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5029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Ils vivent aussi longtemps. Vivent-ils aussi bien ?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Eurostat, espérance de vie à la naissance, 2024.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DEUX QUESTIONS, SUR TÉLÉPHONE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Lequel des deux pays est en meilleure santé 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5120640" cy="3383280"/>
          </a:xfrm>
          <a:prstGeom prst="roundRect">
            <a:avLst>
              <a:gd name="adj" fmla="val 243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D’ABORD, UN MOT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 faudrait-il mesurer pour savoir si une population est en bonne santé 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35040" y="1920240"/>
            <a:ext cx="5532120" cy="3383280"/>
          </a:xfrm>
          <a:prstGeom prst="roundRect">
            <a:avLst>
              <a:gd name="adj" fmla="val 243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5508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PUIS, UN VOTE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5603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même espérance de vie, mais l’un des pays déclare beaucoup plus d’années de vie en bonne santé.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3840480"/>
            <a:ext cx="4892040" cy="402336"/>
          </a:xfrm>
          <a:prstGeom prst="roundRect">
            <a:avLst>
              <a:gd name="adj" fmla="val 2045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92240" y="3840480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premier pays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55080" y="4315968"/>
            <a:ext cx="4892040" cy="402336"/>
          </a:xfrm>
          <a:prstGeom prst="roundRect">
            <a:avLst>
              <a:gd name="adj" fmla="val 2045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240" y="4315968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second pays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55080" y="4791456"/>
            <a:ext cx="4892040" cy="402336"/>
          </a:xfrm>
          <a:prstGeom prst="roundRect">
            <a:avLst>
              <a:gd name="adj" fmla="val 2045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92240" y="4791456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 ne peut pas le dire à partir de ces chiffres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RÉPONSE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 ne peut pas le dire à partir de ces chiffres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760720" cy="3566160"/>
          </a:xfrm>
          <a:prstGeom prst="roundRect">
            <a:avLst>
              <a:gd name="adj" fmla="val 2308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828800"/>
            <a:ext cx="5760720" cy="457200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Pays et année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Années de vie en bonne santé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6636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395728"/>
            <a:ext cx="5577840" cy="7772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Roumanie, 2024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8036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65,0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166360" y="2468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  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Lettonie, 2024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8036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52,5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66360" y="33375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Roumanie, 2023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88036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59,2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166360" y="4206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4360" y="54864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 = rupture de série · e = valeur estimée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1828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série de la Roumanie présente une rupture : c’est la façon de mesurer qui change, pas la santé.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766560" y="3520440"/>
            <a:ext cx="4800600" cy="1874520"/>
          </a:xfrm>
          <a:prstGeom prst="roundRect">
            <a:avLst>
              <a:gd name="adj" fmla="val 439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040880" y="3611880"/>
            <a:ext cx="4297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L’indicateur provient d’une seule question d’autoévaluation : dans quelle mesure avez-vous été limité, à cause de votre santé, dans vos activités habituelles 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Eurostat, années de vie en bonne santé à la naissance, enquête EU-SILC.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RÉPONSE PROVISOIRE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Aucun chiffre ne dit à lui seul si une population est en bonne santé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377440"/>
            <a:ext cx="566928" cy="566928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meurt, et à quel âge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663440" y="2377440"/>
            <a:ext cx="566928" cy="566928"/>
          </a:xfrm>
          <a:prstGeom prst="ellipse">
            <a:avLst/>
          </a:prstGeom>
          <a:solidFill>
            <a:srgbClr val="9B7EF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6344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est malade, et à quel point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21031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412480" y="2377440"/>
            <a:ext cx="566928" cy="566928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Comment combiner les deux en une seule mesure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9436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Nous parcourons ces trois informations dans cet ordre. À la fin, nous revenons aux deux pays.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MEURT · LA MORTALITÉ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 rot="-120000">
            <a:off x="822960" y="1097280"/>
            <a:ext cx="6126480" cy="448056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27000" dist="63500" dir="36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 rot="-120000">
            <a:off x="1234440" y="1463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ÉDITION DU MATIN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 rot="-120000">
            <a:off x="1234440" y="1828800"/>
            <a:ext cx="5303520" cy="22860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 rot="-120000">
            <a:off x="1234440" y="20116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 meurt plus qu’en Roumanie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 rot="-120000">
            <a:off x="1234440" y="4251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Chiffre cité : le taux brut de mortalité.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0" y="21031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Croiriez-vous ce titre ?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498080" y="38404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Quelle question poseriez-vous avant d’y croire 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Titre construit pour l’exercice ; il ne provient d’aucune publication.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MEURT · LE TAUX BRUT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taux brut : une moyenne pondérée, pas un risque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475488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brut de mortalité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décès dans l’année ÷ population moyenne × 1 000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34747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 répond à « combien de décès par rapport à la taille de la population », et non à « quel est le risque d’une personne d’un âge donné ».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Population jeune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148840"/>
            <a:ext cx="2551176" cy="731520"/>
          </a:xfrm>
          <a:prstGeom prst="rect">
            <a:avLst/>
          </a:prstGeom>
          <a:solidFill>
            <a:srgbClr val="ECEAE4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852160" y="2148840"/>
            <a:ext cx="2551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jeunes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03336" y="2148840"/>
            <a:ext cx="2267712" cy="731520"/>
          </a:xfrm>
          <a:prstGeom prst="rect">
            <a:avLst/>
          </a:prstGeom>
          <a:solidFill>
            <a:srgbClr val="9B7EF7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03336" y="214884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adultes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671048" y="2148840"/>
            <a:ext cx="850392" cy="731520"/>
          </a:xfrm>
          <a:prstGeom prst="rect">
            <a:avLst/>
          </a:prstGeom>
          <a:solidFill>
            <a:srgbClr val="FF4757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85216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Population vieillie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474720"/>
            <a:ext cx="1133856" cy="731520"/>
          </a:xfrm>
          <a:prstGeom prst="rect">
            <a:avLst/>
          </a:prstGeom>
          <a:solidFill>
            <a:srgbClr val="ECEAE4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852160" y="347472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jeunes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86016" y="3474720"/>
            <a:ext cx="2551176" cy="731520"/>
          </a:xfrm>
          <a:prstGeom prst="rect">
            <a:avLst/>
          </a:prstGeom>
          <a:solidFill>
            <a:srgbClr val="9B7EF7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986016" y="3474720"/>
            <a:ext cx="2551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adultes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537192" y="3474720"/>
            <a:ext cx="1984248" cy="731520"/>
          </a:xfrm>
          <a:prstGeom prst="rect">
            <a:avLst/>
          </a:prstGeom>
          <a:solidFill>
            <a:srgbClr val="FF4757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537192" y="3474720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âgés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48920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Mêmes risques par âge, autre structure par âge : autre taux brut.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85216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Schéma : les proportions sont illustratives.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 RÉEL · ROUMANIE ET CROATIE, 2023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Croatie semble plus touchée, jusqu’à ce qu’on compare correctement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brut (pour 1 000 habitants)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2786857"/>
            <a:ext cx="1554480" cy="228806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329657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12,8 ‰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148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2697480"/>
            <a:ext cx="1554480" cy="237744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0" y="2240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13,3 ‰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5148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Croatie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5074920"/>
            <a:ext cx="4297680" cy="2286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23560" y="3566160"/>
            <a:ext cx="822960" cy="329184"/>
          </a:xfrm>
          <a:prstGeom prst="rightArrow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49240" y="3977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l’ordre s’inverse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208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standardisé (pour 100 000 habitants)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223760" y="2697480"/>
            <a:ext cx="1554480" cy="23774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49440" y="2240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1 376,1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49440" y="5148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01200" y="2854352"/>
            <a:ext cx="1554480" cy="2220568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0" y="23971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1 285,3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26880" y="5148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Croatie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40880" y="5074920"/>
            <a:ext cx="4297680" cy="2286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Personnes de 65 ans et plus : 19,7 % de la population de la Roumanie, 22,7 % de celle de la Croatie.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Eurostat, taux brut de mortalité et taux standardisé (standard européen), 2023.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standardisé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le taux qu’aurait un pays si sa population avait la même structure par âge qu’une autre 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697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 choisit un standard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81528" y="3063240"/>
            <a:ext cx="34747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429000" y="251460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0" y="2697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Poids de chaque groupe d’âge dans le standard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16168" y="3063240"/>
            <a:ext cx="34747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63640" y="251460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92240" y="2697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9224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du groupe × son poids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50808" y="3063240"/>
            <a:ext cx="34747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098280" y="251460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326880" y="2697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2688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 additionne les produits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4251960"/>
            <a:ext cx="10972800" cy="1737360"/>
          </a:xfrm>
          <a:prstGeom prst="roundRect">
            <a:avLst>
              <a:gd name="adj" fmla="val 473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868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Exemple, avec des valeurs construites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4754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Population A (jeune)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5488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brut 710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standardisé 1 200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68680" y="5303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Population B (vieillie)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754880" y="5303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brut 1 540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772400" y="5303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standardisé 1 100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STANDARDISÉS · ATTENTION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Autre standard, autre ordre, quand les taux se croisent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par âge (pour 100 000)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475488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jeunes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âgés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163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Population X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60320" y="28163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0" y="28163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5 000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34381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Population 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60320" y="34381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0" y="343814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4 000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" y="43434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 a le risque le plus élevé chez les jeunes, X chez les âgés.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852160" y="1691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standardisé, selon le standard choisi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0" y="2103120"/>
            <a:ext cx="57150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80760" y="2194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 jeune (0,9 et 0,1)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8076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X  590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50392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  670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80760" y="32004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 semble plus touchée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852160" y="3886200"/>
            <a:ext cx="5715000" cy="1600200"/>
          </a:xfrm>
          <a:prstGeom prst="roundRect">
            <a:avLst>
              <a:gd name="adj" fmla="val 514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8076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 vieilli (0,5 et 0,5)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80760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X  2 550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503920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  2 150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080760" y="4983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l’ordre s’inverse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Valeurs construites.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MEURT · SANS TAUX PAR ÂGE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Combien de décès aurait-on dû attendre 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74720" cy="3063240"/>
          </a:xfrm>
          <a:prstGeom prst="roundRect">
            <a:avLst>
              <a:gd name="adj" fmla="val 268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ville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60 000 habitants de moins de 65 ans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40 000 habitants de 65 ans et plus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1 452 décès enregistrés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60520" y="3108960"/>
            <a:ext cx="457200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09160" y="178308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Aux taux du pays (2 et 30 pour 1 000)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4231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120 chez les moins de 65 ans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1 200 chez les 65 ans et plus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total 1 320 décès attendus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66760" y="3108960"/>
            <a:ext cx="457200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915400" y="1783080"/>
            <a:ext cx="2651760" cy="3063240"/>
          </a:xfrm>
          <a:prstGeom prst="roundRect">
            <a:avLst>
              <a:gd name="adj" fmla="val 3103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915400" y="19659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1,10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9098280" y="3383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1 452 ÷ 1 320 : 10 % de décès en plus qu’aux taux du pays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Ratio standardisé de mortalité (RSM, SMR) = décès observés ÷ décès attendus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Valeurs construites.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VRAI OU FAUX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CINQ AFFIRMATIONS, SUR TÉLÉPHONE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Vrai ou faux 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18745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9829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pays X a un taux brut plus élevé que le pays Y, donc ses habitants ont un risque de décès plus élevé.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587752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27706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587752"/>
            <a:ext cx="9829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ratio standardisé de mortalité supérieur à un signifie plus de décès qu’aux taux de la population de référence.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483864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36667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483864"/>
            <a:ext cx="9829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taux de mortalité infantile rapporte les décès avant un an à la population totale.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379976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68680" y="456285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4562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379976"/>
            <a:ext cx="9829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standardisation directe exige les taux par âge des populations comparées.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" y="5276088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68680" y="54589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8680" y="5458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5276088"/>
            <a:ext cx="9829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ratios standardisés de mortalité de deux comtés se comparent directement.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RÉPONSES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Faux, vrai, faux, vrai, faux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874520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Le taux brut dépend de la structure par âge.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578608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2761488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57860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Supérieur à un : excès de décès par rapport à la référence.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465576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3648456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Les décès avant un an sont rapportés aux naissances vivantes.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4352544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68680" y="4535424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4535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4352544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 Sans les taux par âge, la méthode directe ne peut pas s’appliquer.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4360" y="5239512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" y="542239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5422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523951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 Chaque ratio a un dénominateur différent ; pour comparer, la standardisation directe.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MEURT · LES ANNÉES PERDUES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Deux patients la même nuit : combien d’années ont été perdues avant 75 ans 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Jeune homme, accident de la route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2148840"/>
            <a:ext cx="4732020" cy="548640"/>
          </a:xfrm>
          <a:prstGeom prst="rect">
            <a:avLst/>
          </a:prstGeom>
          <a:solidFill>
            <a:srgbClr val="ECEAE4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737860" y="2148840"/>
            <a:ext cx="3154680" cy="548640"/>
          </a:xfrm>
          <a:prstGeom prst="rect">
            <a:avLst/>
          </a:prstGeom>
          <a:solidFill>
            <a:srgbClr val="FF4757">
              <a:alpha val="65000"/>
            </a:srgbClr>
          </a:solidFill>
          <a:ln w="19050">
            <a:solidFill>
              <a:srgbClr val="FF4757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décès à 45 ans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7502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 ans perdus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Femme très âgée, accident vasculaire cérébral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3520440"/>
            <a:ext cx="8412480" cy="548640"/>
          </a:xfrm>
          <a:prstGeom prst="rect">
            <a:avLst/>
          </a:prstGeom>
          <a:solidFill>
            <a:srgbClr val="ECEAE4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décès à 80 ans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 an perdu : elle a dépassé l’âge limite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92540" y="1600200"/>
            <a:ext cx="27432" cy="2926080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52460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 ans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5120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décès à 25 ans représente 50 ans perdus, un décès à 70 ans, 5 : le premier pèse dix fois plus.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Valeurs construites.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MEURT · DÉCÈS ÉVITABLES, AVANT 75 ANS, 2023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que la prévention aurait évité, ce que des soins en temps utile auraient évité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Évitables par la prévention (prévention, santé publique)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21945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80360" y="2249424"/>
            <a:ext cx="5669280" cy="329184"/>
          </a:xfrm>
          <a:prstGeom prst="roundRect">
            <a:avLst>
              <a:gd name="adj" fmla="val 13889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41080" y="22494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264,0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76148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Union européenne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80360" y="2816352"/>
            <a:ext cx="3240509" cy="329184"/>
          </a:xfrm>
          <a:prstGeom prst="roundRect">
            <a:avLst>
              <a:gd name="adj" fmla="val 13889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2309" y="28163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150,9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environ trois quarts de plus que la moyenne de l’UE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794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Évitables par les traitements (soins médicaux en temps utile)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880360" y="4261104"/>
            <a:ext cx="4288467" cy="329184"/>
          </a:xfrm>
          <a:prstGeom prst="roundRect">
            <a:avLst>
              <a:gd name="adj" fmla="val 13889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260267" y="42611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199,7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477316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Union européenne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880360" y="4828032"/>
            <a:ext cx="1863991" cy="329184"/>
          </a:xfrm>
          <a:prstGeom prst="roundRect">
            <a:avLst>
              <a:gd name="adj" fmla="val 13889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35791" y="4828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86,8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0" y="4297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plus de deux fois la moyenne de l’UE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standardisés, pour 100 000 habitants, liste commune OCDE–Eurostat.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Eurostat, mortalité évitable (hlth_cd_apr), 2023.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+ VOTRE VOISIN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VOTE, UNE MINUTE DE DISCUSSION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homme de cinquante-cinq ans meurt d’un cancer du poumon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Selon la liste OCDE–Eurostat, son décès est :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7432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Évitable par la prévention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383280" y="27432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20440" y="27432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Évitable par les traitements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172200" y="27432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deux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961120" y="27432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98280" y="27432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Aucun des deux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4360" y="4663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minute de discussion avec votre voisin, puis le vote.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RÉPONSE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Évitable par la prévention : on classe selon la cause et l’âge, pas selon les antécédents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4206240" cy="3108960"/>
          </a:xfrm>
          <a:prstGeom prst="roundRect">
            <a:avLst>
              <a:gd name="adj" fmla="val 2647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21031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Évitable par la prévention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3474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cancer du poumon, codes C33–C34, âges 0–74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212080" y="196596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classification ne dit pas que le patient n’aurait pas pu être soigné : elle dit que de tels décès s’évitent surtout par la prévention primaire, d’abord par la réduction du tabagisme.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12080" y="3931920"/>
            <a:ext cx="6355080" cy="1097280"/>
          </a:xfrm>
          <a:prstGeom prst="roundRect">
            <a:avLst>
              <a:gd name="adj" fmla="val 7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40680" y="39319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 classe selon la cause du décès et l’âge au décès, pas selon les antécédents du patient.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liste commune OCDE–Eurostat de la mortalité évitable.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CLASSEMENT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CLASSEZ, SUR TÉLÉPHONE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quoi meurent les Roumains 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Classez les cinq causes selon le nombre de décès en Roumanie, de la plus fréquente à la moins fréquente.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6060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Cancer du poumon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3282696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328269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Cardiopathie ischémique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94360" y="3959352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95935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Cirrhose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94360" y="4636008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63600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Accident vasculaire cérébral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94360" y="5312664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5312664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Cardiopathie hypertensive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863840" y="31089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Cinq causes, un seul classement.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RÉPONSE · GBD 2023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quoi meurent les Roumains : deux maladies cardiovasculaires en tête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Cardiopathie ischémique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520440" y="1837944"/>
            <a:ext cx="4572000" cy="493776"/>
          </a:xfrm>
          <a:prstGeom prst="roundRect">
            <a:avLst>
              <a:gd name="adj" fmla="val 9259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83880" y="183794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56 400  (22,9 %)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Accident vasculaire cérébral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0440" y="2569464"/>
            <a:ext cx="3574915" cy="493776"/>
          </a:xfrm>
          <a:prstGeom prst="roundRect">
            <a:avLst>
              <a:gd name="adj" fmla="val 9259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86795" y="256946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44 100  (17,9 %)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Cardiopathie hypertensive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520440" y="3300984"/>
            <a:ext cx="1134894" cy="493776"/>
          </a:xfrm>
          <a:prstGeom prst="roundRect">
            <a:avLst>
              <a:gd name="adj" fmla="val 9259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46774" y="330098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14 000  (5,7 %)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977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Cancer du poumon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20440" y="4032504"/>
            <a:ext cx="843064" cy="493776"/>
          </a:xfrm>
          <a:prstGeom prst="roundRect">
            <a:avLst>
              <a:gd name="adj" fmla="val 9259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54944" y="403250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10 400  (4,2 %)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4709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Cirrhose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520440" y="4764024"/>
            <a:ext cx="818745" cy="493776"/>
          </a:xfrm>
          <a:prstGeom prst="roundRect">
            <a:avLst>
              <a:gd name="adj" fmla="val 9259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30625" y="476402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10 100  (4,1 %)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5532120"/>
            <a:ext cx="10972800" cy="640080"/>
          </a:xfrm>
          <a:prstGeom prst="roundRect">
            <a:avLst>
              <a:gd name="adj" fmla="val 128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Maladies de l’appareil circulatoire : 54,0 % des décès en Roumanie, en 2023 (Eurostat). Les valeurs du GBD sont des estimations de modèle.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IHME, Global Burden of Disease Study 2023, Roumanie, 2023 ; Eurostat, décès par cause, 2023.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SOUFFRE · LA MORBIDITÉ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nouveau médecin de famille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2240280"/>
          </a:xfrm>
          <a:prstGeom prst="roundRect">
            <a:avLst>
              <a:gd name="adj" fmla="val 367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828800"/>
            <a:ext cx="64008" cy="214884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19659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Combien de patients diabétiques avez-vous actuellement sur votre liste 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33375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33375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prévalence : les cas existants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49240" cy="2240280"/>
          </a:xfrm>
          <a:prstGeom prst="roundRect">
            <a:avLst>
              <a:gd name="adj" fmla="val 367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63640" y="1828800"/>
            <a:ext cx="64008" cy="214884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83680" y="19659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Combien de nouveaux cas apparaissent chaque année 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583680" y="33375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0" y="33375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l’incidence : les nouveaux cas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43400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434340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une communauté, 400 personnes à risque sont suivies pendant un an. 12 nouveaux cas apparaissent : 12 ÷ 400 = 3 % en un an.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Valeurs construites.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prévalence : combien de malades en ce moment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920240" y="1874520"/>
            <a:ext cx="274320" cy="822960"/>
          </a:xfrm>
          <a:prstGeom prst="rect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463040" y="1783080"/>
            <a:ext cx="1188720" cy="164592"/>
          </a:xfrm>
          <a:prstGeom prst="rect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965960" y="2697480"/>
            <a:ext cx="182880" cy="182880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2960" y="283464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272A38"/>
          </a:solidFill>
          <a:ln w="254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77824" y="3886200"/>
            <a:ext cx="5010912" cy="1581912"/>
          </a:xfrm>
          <a:prstGeom prst="rect">
            <a:avLst/>
          </a:prstGeom>
          <a:solidFill>
            <a:srgbClr val="27D3BE">
              <a:alpha val="75000"/>
            </a:srgbClr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120640" y="5577840"/>
            <a:ext cx="457200" cy="457200"/>
          </a:xfrm>
          <a:prstGeom prst="rect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46888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robinet : les nouveaux cas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6888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(l’incidence)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4160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niveau de l’eau : la prévalence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669280" y="5669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écoulement : guérison ou décès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920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combien de personnes ont la maladie en ce moment »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83680" y="30175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Proportion de personnes qui ont une maladie ou une caractéristique, à un moment donné ou sur une période.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0" y="4480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maladie rare, mais de longue durée, peut avoir une prévalence élevée.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SOUFFRE · LA PRÉVALENCE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Prévalence ≈ nouveaux cas × durée de la maladie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66928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7830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prévalence ≈ nouveaux cas par an × durée moyenne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Conditions 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429000"/>
            <a:ext cx="566928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4290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population stable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4087368"/>
            <a:ext cx="566928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4087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prévalence constante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4745736"/>
            <a:ext cx="566928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474573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faible prévalence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Nouveaux cas : 0,01 par personne-année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2651760"/>
            <a:ext cx="1737360" cy="2286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949440" y="2194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0,01 × 10 = 10 %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49440" y="5010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 10 ans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92640" y="4480560"/>
            <a:ext cx="1737360" cy="4572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418320" y="4023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0,01 × 2 = 2 %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18320" y="5010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traitement : 2 ans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40880" y="4937760"/>
            <a:ext cx="4572000" cy="2286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prévalence est divisée par cinq, sans qu’un seul nouveau cas ait été évité : seule la durée a changé.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Valeurs construites.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13816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DEUX · 2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PARADOXE DU TRAITEMENT EFFICACE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prévalence augmente. Le programme a-t-il échoué 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577840" cy="3566160"/>
          </a:xfrm>
          <a:prstGeom prst="roundRect">
            <a:avLst>
              <a:gd name="adj" fmla="val 230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920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infection chronique, traitable mais incurable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prévention réduit l’incidence de 40 % : les nouveaux cas sont multipliés par 0,6.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traitement fait vivre les malades cinq fois plus longtemps : la durée est multipliée par 5.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434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0,6 × 5 = 3 : la prévalence est trois fois plus élevée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0" y="19202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journal titre : « le programme de lutte a échoué ».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3246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Croiriez-vous ce titre ?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83680" y="41605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Avec votre voisin, en deux phrases : l’explication que vous donneriez à un journaliste.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Valeurs construites.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SOUFFRE · UN PATIENT, PLUSIEURS MALADIES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patient atteint de plusieurs maladies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patient hospitalisé pour une pneumonie a aussi un diabète et une insuffisance cardiaque.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42316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4231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COMORBIDITÉ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2971800"/>
            <a:ext cx="1417320" cy="1051560"/>
          </a:xfrm>
          <a:prstGeom prst="ellipse">
            <a:avLst/>
          </a:prstGeom>
          <a:solidFill>
            <a:srgbClr val="FF4757"/>
          </a:solidFill>
          <a:ln w="190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51560" y="29718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pneumonie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79192" y="2971800"/>
            <a:ext cx="1417320" cy="1051560"/>
          </a:xfrm>
          <a:prstGeom prst="ellipse">
            <a:avLst/>
          </a:prstGeom>
          <a:solidFill>
            <a:srgbClr val="F9F8F5"/>
          </a:solidFill>
          <a:ln w="1905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79192" y="29718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diabète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06824" y="2971800"/>
            <a:ext cx="1417320" cy="1051560"/>
          </a:xfrm>
          <a:prstGeom prst="ellipse">
            <a:avLst/>
          </a:prstGeom>
          <a:solidFill>
            <a:srgbClr val="F9F8F5"/>
          </a:solidFill>
          <a:ln w="1905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06824" y="29718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insuf. cardiaque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2062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 d’une maladie de référence (la maladie index) : toute autre maladie qui coexiste avec elle.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224028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537960" y="242316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37960" y="24231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MULTIMORBIDITÉ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971800"/>
            <a:ext cx="1417320" cy="1051560"/>
          </a:xfrm>
          <a:prstGeom prst="ellipse">
            <a:avLst/>
          </a:prstGeom>
          <a:solidFill>
            <a:srgbClr val="27D3BE"/>
          </a:solidFill>
          <a:ln w="1905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20840" y="29718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pneumonie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48472" y="2971800"/>
            <a:ext cx="1417320" cy="1051560"/>
          </a:xfrm>
          <a:prstGeom prst="ellipse">
            <a:avLst/>
          </a:prstGeom>
          <a:solidFill>
            <a:srgbClr val="27D3BE"/>
          </a:solidFill>
          <a:ln w="1905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48472" y="29718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diabète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976104" y="2971800"/>
            <a:ext cx="1417320" cy="1051560"/>
          </a:xfrm>
          <a:prstGeom prst="ellipse">
            <a:avLst/>
          </a:prstGeom>
          <a:solidFill>
            <a:srgbClr val="27D3BE"/>
          </a:solidFill>
          <a:ln w="1905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976104" y="29718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insuf. cardiaque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42062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deux affections de longue durée ou plus chez la même personne, sans maladie de référence.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SOUFFRE · CE QUE NOUS SAVONS ET CE QUE NOUS IGNORONS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ignore sa maladie ne peut pas la déclarer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03520" cy="3383280"/>
          </a:xfrm>
          <a:prstGeom prst="roundRect">
            <a:avLst>
              <a:gd name="adj" fmla="val 243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DÉCLARÉ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15,7 %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960120" y="37490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hypertension artérielle, personnes de 15 ans et plus, Roumanie, 2019 (enquête EHIS)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03520" cy="3383280"/>
          </a:xfrm>
          <a:prstGeom prst="roundRect">
            <a:avLst>
              <a:gd name="adj" fmla="val 243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MESURÉ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22860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45,1 %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6629400" y="37490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hypertension artérielle, adultes en Roumanie (étude SEPHAR III, tension mesurée)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Diabète déclaré en Roumanie : 5,0 %. Moyenne de l’UE : 7,4 % pour le diabète, 21,9 % pour l’hypertension.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Ces chiffres ne se comparent pas directement, mais l’écart a une explication simple. La même chose nous rend prudents avec les années de vie en bonne santé du début.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OÙ TROUVER LES DONNÉES · UN VOTE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Quelle source utilisez-vous 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6916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Comparez la mortalité évitable de la Roumanie avec la moyenne de l’UE. Où cherchez-vous 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30175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063240"/>
            <a:ext cx="73152" cy="128016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0120" y="3108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base TEMPO de l’Institut national de la statistique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3794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comtés, sexes, groupes d’âge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3063240"/>
            <a:ext cx="73152" cy="128016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Eurostat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794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jeux de données comparables pour les États de l’UE et de l’AELE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5720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4617720"/>
            <a:ext cx="73152" cy="128016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0120" y="4663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GBD Compare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5349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estimations de modèle, 204 pays et territoires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45720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63640" y="4617720"/>
            <a:ext cx="73152" cy="12801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83680" y="4663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Surveillance des maladies transmissibles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5349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Institut national de santé publique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QUALITÉ DES DONNÉES · QUI REMPLIT LE CERTIFICAT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ligne qui fait les statistiques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 rot="-72000">
            <a:off x="822960" y="1737360"/>
            <a:ext cx="5303520" cy="402336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27000" dist="63500" dir="36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 rot="-72000">
            <a:off x="114300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 DE DÉCÈS · EXTRAIT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72000">
            <a:off x="1143000" y="2377440"/>
            <a:ext cx="466344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 rot="-72000">
            <a:off x="1143000" y="26517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Cause directe : insuffisance cardiaque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 rot="-72000">
            <a:off x="1143000" y="3566160"/>
            <a:ext cx="4663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 rot="-72000">
            <a:off x="1325880" y="356616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Cause initiale : la maladie qui a déclenché la chaîne d’événements ________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6080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Scène reconstituée ; le certificat est fictif.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Cinq problèmes qui reviennent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2402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la sous-déclaration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le codage incorrect de la cause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des définitions différentes d’un pays à l’autre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 le retard de publication : la dernière année avec causes de décès est 2023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 les codes non spécifiques, sans la maladie qui a déclenché la chaîne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983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Toutes les statistiques sont construites à partir des certificats individuels.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ROUMANIE DANS L’UNION EUROPÉENNE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Où l’écart avec la moyenne de l’UE est le plus grand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26280" y="1600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3212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rapport Roumanie ÷ 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74429" y="1920240"/>
            <a:ext cx="27432" cy="361188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1920240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Espérance de vie à la naissance (ans), 2024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76,5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32120" y="1920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81,5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58258" y="2011680"/>
            <a:ext cx="274320" cy="27432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921240" y="1920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5,0 ans de moins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2441448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2441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Années de vie en bonne santé (Eurostat), 2024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24414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65,0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32120" y="24414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65,2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42005" y="2532888"/>
            <a:ext cx="274320" cy="274320"/>
          </a:xfrm>
          <a:prstGeom prst="ellipse">
            <a:avLst/>
          </a:prstGeom>
          <a:solidFill>
            <a:srgbClr val="585A6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921240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rupture de série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2962656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" y="29626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standardisé de mortalité, 2023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29626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1 376,1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32120" y="29626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963,4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61956" y="3054096"/>
            <a:ext cx="274320" cy="27432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921240" y="29626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3483864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31520" y="34838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Mortalité évitable par la prévention, 2023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34838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264,0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532120" y="34838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150,9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623384" y="3575304"/>
            <a:ext cx="274320" cy="27432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921240" y="34838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environ trois quarts de plus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" y="4005072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31520" y="40050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Mortalité évitable par les traitements, 2023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26280" y="40050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199,7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532120" y="40050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86,8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415394" y="4096512"/>
            <a:ext cx="274320" cy="27432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921240" y="4005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plus de deux fois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94360" y="4526280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3152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Mortalité infantile, 2024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26280" y="4526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6,6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532120" y="4526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3,5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819108" y="4617720"/>
            <a:ext cx="274320" cy="27432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9921240" y="4526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presque deux fois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94360" y="5047488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31520" y="50474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Dépenses de santé (% du PIB), 2023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26280" y="50474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5,8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532120" y="50474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9,9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951327" y="5138928"/>
            <a:ext cx="274320" cy="27432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9921240" y="50474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bien sous la moyenne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9436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années de vie en bonne santé ne servent ni pour ni contre les autres constats.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59436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Eurostat (indicateurs du tableau). Ligne verticale : moyenne de l’UE ; point rouge : Roumanie plus éloignée de la moyenne, dans le sens défavorable.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13816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GBD COMPARE · 5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TRAVAIL INDIVIDUEL, SUR TÉLÉPHONE OU ORDINATEUR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charge de morbidité entre vos mains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18928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737360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Sélectionnez la Roumanie.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578608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273405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2734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578608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L’année la plus récente, les deux sexes, tous les âges.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419856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35753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3575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419856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mesure : DALY.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" y="4261104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68680" y="441655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261104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Identifiez les cinq premières causes.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94360" y="5102352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68680" y="52578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8680" y="5257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5102352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Comparez avec l’Allemagne : quelles causes apparaissent dans un pays et pas dans l’autre ?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garde de neurologie : qu’a perdu le patient 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Homme de quarante-cinq ans, accident vasculaire cérébral. Il survit, avec une hémiparésie et une aphasie, et ne peut plus reprendre son travail. La mortalité ne le compte pas : il n’est pas mort. La morbidité le compte une seule fois, comme n’importe qui.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35040" y="1691640"/>
            <a:ext cx="5532120" cy="4206240"/>
          </a:xfrm>
          <a:prstGeom prst="roundRect">
            <a:avLst>
              <a:gd name="adj" fmla="val 19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309360" y="1783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DALY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309360" y="2651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les années de vie en bonne santé perdues, par décès prématuré ou par maladie »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09360" y="385876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09360" y="3858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640" y="3749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années perdues par décès : décès × espérance de vie de référence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481888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09360" y="48188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06640" y="47091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années vécues avec une incapacité : durée × pondération d’incapacité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5212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DALY = YLL + YLD</a:t>
            </a:r>
            <a:endParaRPr lang="en-US" sz="2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ÉCHELLE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ESTIMATION, SUR TÉLÉPHONE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Quelle est la gravité de la perte complète de l’audition 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534924" cy="50292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48740" y="3017520"/>
            <a:ext cx="534924" cy="502920"/>
          </a:xfrm>
          <a:prstGeom prst="rect">
            <a:avLst/>
          </a:prstGeom>
          <a:solidFill>
            <a:srgbClr val="32CCB9"/>
          </a:solidFill>
          <a:ln w="12700">
            <a:solidFill>
              <a:srgbClr val="32CCB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874520" y="3017520"/>
            <a:ext cx="534924" cy="502920"/>
          </a:xfrm>
          <a:prstGeom prst="rect">
            <a:avLst/>
          </a:prstGeom>
          <a:solidFill>
            <a:srgbClr val="3EC4B3"/>
          </a:solidFill>
          <a:ln w="12700">
            <a:solidFill>
              <a:srgbClr val="3EC4B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400300" y="3017520"/>
            <a:ext cx="534924" cy="502920"/>
          </a:xfrm>
          <a:prstGeom prst="rect">
            <a:avLst/>
          </a:prstGeom>
          <a:solidFill>
            <a:srgbClr val="49BDAE"/>
          </a:solidFill>
          <a:ln w="12700">
            <a:solidFill>
              <a:srgbClr val="49BDA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926080" y="3017520"/>
            <a:ext cx="534924" cy="502920"/>
          </a:xfrm>
          <a:prstGeom prst="rect">
            <a:avLst/>
          </a:prstGeom>
          <a:solidFill>
            <a:srgbClr val="54B6A8"/>
          </a:solidFill>
          <a:ln w="12700">
            <a:solidFill>
              <a:srgbClr val="54B6A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451860" y="3017520"/>
            <a:ext cx="534924" cy="502920"/>
          </a:xfrm>
          <a:prstGeom prst="rect">
            <a:avLst/>
          </a:prstGeom>
          <a:solidFill>
            <a:srgbClr val="60AEA3"/>
          </a:solidFill>
          <a:ln w="12700">
            <a:solidFill>
              <a:srgbClr val="60AEA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977640" y="3017520"/>
            <a:ext cx="534924" cy="502920"/>
          </a:xfrm>
          <a:prstGeom prst="rect">
            <a:avLst/>
          </a:prstGeom>
          <a:solidFill>
            <a:srgbClr val="6BA79D"/>
          </a:solidFill>
          <a:ln w="12700">
            <a:solidFill>
              <a:srgbClr val="6BA79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03420" y="3017520"/>
            <a:ext cx="534924" cy="502920"/>
          </a:xfrm>
          <a:prstGeom prst="rect">
            <a:avLst/>
          </a:prstGeom>
          <a:solidFill>
            <a:srgbClr val="779F98"/>
          </a:solidFill>
          <a:ln w="12700">
            <a:solidFill>
              <a:srgbClr val="779F9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29200" y="3017520"/>
            <a:ext cx="534924" cy="502920"/>
          </a:xfrm>
          <a:prstGeom prst="rect">
            <a:avLst/>
          </a:prstGeom>
          <a:solidFill>
            <a:srgbClr val="829893"/>
          </a:solidFill>
          <a:ln w="12700">
            <a:solidFill>
              <a:srgbClr val="82989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554980" y="3017520"/>
            <a:ext cx="534924" cy="502920"/>
          </a:xfrm>
          <a:prstGeom prst="rect">
            <a:avLst/>
          </a:prstGeom>
          <a:solidFill>
            <a:srgbClr val="8D918D"/>
          </a:solidFill>
          <a:ln w="12700">
            <a:solidFill>
              <a:srgbClr val="8D918D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80760" y="3017520"/>
            <a:ext cx="534924" cy="502920"/>
          </a:xfrm>
          <a:prstGeom prst="rect">
            <a:avLst/>
          </a:prstGeom>
          <a:solidFill>
            <a:srgbClr val="998988"/>
          </a:solidFill>
          <a:ln w="12700">
            <a:solidFill>
              <a:srgbClr val="99898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606540" y="3017520"/>
            <a:ext cx="534924" cy="502920"/>
          </a:xfrm>
          <a:prstGeom prst="rect">
            <a:avLst/>
          </a:prstGeom>
          <a:solidFill>
            <a:srgbClr val="A48282"/>
          </a:solidFill>
          <a:ln w="12700">
            <a:solidFill>
              <a:srgbClr val="A4828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132320" y="3017520"/>
            <a:ext cx="534924" cy="502920"/>
          </a:xfrm>
          <a:prstGeom prst="rect">
            <a:avLst/>
          </a:prstGeom>
          <a:solidFill>
            <a:srgbClr val="AF7B7D"/>
          </a:solidFill>
          <a:ln w="12700">
            <a:solidFill>
              <a:srgbClr val="AF7B7D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658100" y="3017520"/>
            <a:ext cx="534924" cy="502920"/>
          </a:xfrm>
          <a:prstGeom prst="rect">
            <a:avLst/>
          </a:prstGeom>
          <a:solidFill>
            <a:srgbClr val="BB7378"/>
          </a:solidFill>
          <a:ln w="12700">
            <a:solidFill>
              <a:srgbClr val="BB737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183880" y="3017520"/>
            <a:ext cx="534924" cy="502920"/>
          </a:xfrm>
          <a:prstGeom prst="rect">
            <a:avLst/>
          </a:prstGeom>
          <a:solidFill>
            <a:srgbClr val="C66C72"/>
          </a:solidFill>
          <a:ln w="12700">
            <a:solidFill>
              <a:srgbClr val="C66C7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709660" y="3017520"/>
            <a:ext cx="534924" cy="502920"/>
          </a:xfrm>
          <a:prstGeom prst="rect">
            <a:avLst/>
          </a:prstGeom>
          <a:solidFill>
            <a:srgbClr val="D2646D"/>
          </a:solidFill>
          <a:ln w="12700">
            <a:solidFill>
              <a:srgbClr val="D2646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235440" y="3017520"/>
            <a:ext cx="534924" cy="502920"/>
          </a:xfrm>
          <a:prstGeom prst="rect">
            <a:avLst/>
          </a:prstGeom>
          <a:solidFill>
            <a:srgbClr val="DD5D67"/>
          </a:solidFill>
          <a:ln w="12700">
            <a:solidFill>
              <a:srgbClr val="DD5D67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761220" y="3017520"/>
            <a:ext cx="534924" cy="502920"/>
          </a:xfrm>
          <a:prstGeom prst="rect">
            <a:avLst/>
          </a:prstGeom>
          <a:solidFill>
            <a:srgbClr val="E85662"/>
          </a:solidFill>
          <a:ln w="12700">
            <a:solidFill>
              <a:srgbClr val="E8566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287000" y="3017520"/>
            <a:ext cx="534924" cy="502920"/>
          </a:xfrm>
          <a:prstGeom prst="rect">
            <a:avLst/>
          </a:prstGeom>
          <a:solidFill>
            <a:srgbClr val="F44E5C"/>
          </a:solidFill>
          <a:ln w="12700">
            <a:solidFill>
              <a:srgbClr val="F44E5C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12780" y="3017520"/>
            <a:ext cx="534924" cy="5029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2296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pleine santé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3272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7863840" y="4297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équivalent au décès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Pondération d’incapacité : un nombre entre 0 et 1, qui exprime la perte de santé associée à un état.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Quel nombre donneriez-vous à la perte complète de l’audition ?</a:t>
            </a:r>
            <a:endParaRPr lang="en-US" sz="2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RÉPONSE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même état, deux pondérations : plus de six fois plus élevée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solidFill>
            <a:srgbClr val="ECEAE4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87095" y="2514600"/>
            <a:ext cx="365760" cy="365760"/>
          </a:xfrm>
          <a:prstGeom prst="ellipse">
            <a:avLst/>
          </a:prstGeom>
          <a:solidFill>
            <a:srgbClr val="27D3BE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8455" y="1691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0,033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2695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édition 2010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00934" y="2514600"/>
            <a:ext cx="365760" cy="365760"/>
          </a:xfrm>
          <a:prstGeom prst="ellipse">
            <a:avLst/>
          </a:prstGeom>
          <a:solidFill>
            <a:srgbClr val="FF4757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352294" y="1691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0,215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986534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édition 2013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Perte complète de l’audition : après la révision de la description de l’état, la pondération est passée de 0,033 à 0,215.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4709160"/>
            <a:ext cx="1051560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51560" y="47091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pondérations ne sont pas des mesures physiques, mais des jugements de valeur agrégés. Qui devrait les établir : la population générale, qui imagine l’état, ou les patients, qui l’ont vécu ?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RÉPONSE · DALY, GBD 2023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la troisième place, une maladie qui ne tue pas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Roumanie, 2023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Cardiopathie ischémique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63240" y="2066544"/>
            <a:ext cx="2743200" cy="475488"/>
          </a:xfrm>
          <a:prstGeom prst="roundRect">
            <a:avLst>
              <a:gd name="adj" fmla="val 9615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897880" y="20665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988 000 (12,9 %)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72491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Accident vasculaire cérébral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63240" y="2779776"/>
            <a:ext cx="2101824" cy="475488"/>
          </a:xfrm>
          <a:prstGeom prst="roundRect">
            <a:avLst>
              <a:gd name="adj" fmla="val 9615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56504" y="277977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757 000 (9,9 %)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43814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Lombalgie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63240" y="3493008"/>
            <a:ext cx="1066183" cy="475488"/>
          </a:xfrm>
          <a:prstGeom prst="roundRect">
            <a:avLst>
              <a:gd name="adj" fmla="val 9615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220863" y="34930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384 000 (5,0 %)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415137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Cirrhose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63240" y="4206240"/>
            <a:ext cx="813520" cy="475488"/>
          </a:xfrm>
          <a:prstGeom prst="roundRect">
            <a:avLst>
              <a:gd name="adj" fmla="val 9615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968200" y="42062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293 000 (3,8 %)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486460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Cancer du poumon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063240" y="4919472"/>
            <a:ext cx="719118" cy="475488"/>
          </a:xfrm>
          <a:prstGeom prst="roundRect">
            <a:avLst>
              <a:gd name="adj" fmla="val 9615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873798" y="49194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259 000 (3,4 %)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5623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Rangs 3 à 5 : les intervalles d’incertitude se chevauchent ; l’ordre n’est pas sûr.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55280" y="164592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8388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Allemagne, 2023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83880" y="224028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Cardiopathie ischémique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Chutes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Lombalgie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 Maladie d’Alzheimer et autres démences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 Accident vasculaire cérébral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83880" y="45720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 Roumanie dominent les maladies cardiovasculaires et la cirrhose apparaît ; en Allemagne, les chutes et la démence montent.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IHME, Global Burden of Disease Study 2023, les deux sexes, tous les âges.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8096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RÉFLÉCHIR · À DEUX · PRÉSENTER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EXERCICE · 20 MINUTES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DALY du patient de la garde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97280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78308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Accident vasculaire cérébral à 45 ans. Il vit 20 ans avec une incapacité de pondération 0,3 et meurt à 65 ans. Âge de référence, pour le calcul : 80 ans (valeur hypothétique).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374904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40233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37490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Seul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880360" y="37490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 minutes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374904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0" y="40233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37490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deux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629400" y="37490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 minutes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2440" y="374904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321040" y="40233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2104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0" y="37490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Ensemble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378440" y="37490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 minutes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5029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 change-t-il si la pondération d’incapacité est beaucoup plus élevée ? Si le patient meurt beaucoup plus tôt ?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9436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Valeurs construites.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RÉSOLUTION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DALY = 15 + 6 = 21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676656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9659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9659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57400" y="16916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80 − 65 = 15 années perdues par décès prématuré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697480"/>
            <a:ext cx="676656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29718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971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57400" y="26974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 × 0,3 = 6 années perdues par incapacité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80960" y="1691640"/>
            <a:ext cx="3886200" cy="1874520"/>
          </a:xfrm>
          <a:prstGeom prst="roundRect">
            <a:avLst>
              <a:gd name="adj" fmla="val 439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680960" y="1691640"/>
            <a:ext cx="3886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</a:t>
            </a:r>
            <a:endParaRPr lang="en-US" sz="840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 nous faisons varier les données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434340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3434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Pondération 0,8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840480" y="434340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YLD = 20 × 0,8 = 16 ; DALY = 15 + 16 = 31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516636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51663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Décès à 50 ans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840480" y="516636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YLL = 80 − 50 = 30 ; YLD = 5 × 0,3 = 1,5 ; DALY = 31,5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9436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L’âge de référence de 80 ans est hypothétique : le GBD n’utilise pas d’âge limite. Le décès prématuré déplace la charge vers les années perdues par décès.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VOTE, SUR TÉLÉPHONE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perd le plus : la fillette ou l’homme 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0352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FILLETTE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 ans. Incapacité légère, de pondération 0,1. Elle vit avec cette incapacité pendant 70 ans, jusqu’à 75 ans.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0352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L’HOMME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 ans. Incapacité grave, de pondération 0,8. Il vit avec cette incapacité pendant 10 ans, jusqu’à 70 ans.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5212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Âge de référence : 80 ans. Votez : qui a le DALY le plus élevé 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Valeurs construites.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RÉSOLUTION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L’homme : 18. La fillette : 12.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830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fillette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91840" y="17830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YLD = 70 × 0,1 = 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YLL = 80 − 75 = 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55480" y="1920240"/>
            <a:ext cx="1783080" cy="960120"/>
          </a:xfrm>
          <a:prstGeom prst="roundRect">
            <a:avLst>
              <a:gd name="adj" fmla="val 8571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555480" y="19202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2004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L’homme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32004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YLD = 10 × 0,8 = 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32004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YLL = 80 − 70 = 10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55480" y="3337560"/>
            <a:ext cx="1783080" cy="960120"/>
          </a:xfrm>
          <a:prstGeom prst="roundRect">
            <a:avLst>
              <a:gd name="adj" fmla="val 8571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555480" y="333756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94360" y="4754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cet exemple, la gravité de l’incapacité et le décès plus précoce pèsent plus que la longue durée d’une incapacité légère. Ce n’est pas une règle : avec d’autres valeurs, la conclusion peut s’inverser.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QUE L’ON GAGNE · LA COMMISSION QUI DÉCIDE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commission : un médicament nouveau, coûteux, qui change la qualité de vie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120640" cy="210312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QALY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années de vie pondérées par leur qualité, de 0 à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QALY = années × utilité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5532120" cy="2103120"/>
          </a:xfrm>
          <a:prstGeom prst="roundRect">
            <a:avLst>
              <a:gd name="adj" fmla="val 3913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18288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 vous reste 30 ans à vivre avec une maladie chronique qui limite fortement vos activités. Combien d’années échangeriez-vous pour vivre le reste en pleine santé 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4206240"/>
            <a:ext cx="10972800" cy="1508760"/>
          </a:xfrm>
          <a:prstGeom prst="roundRect">
            <a:avLst>
              <a:gd name="adj" fmla="val 5455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que signifient les réponses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6634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Celui qui cède 5 de ses 30 ans attribue à l’état de maladie l’utilité (30 − 5) ÷ 30 = 0,83. Celui qui cède 10 ans : 0,67. Les réponses diffèrent : l’utilité est un jugement de valeur.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Valeurs construites.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LIRE À LA MAISON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mesures, trois questions différentes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520440" cy="3154680"/>
          </a:xfrm>
          <a:prstGeom prst="roundRect">
            <a:avLst>
              <a:gd name="adj" fmla="val 260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9659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9659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Quelles maladies causent la plus grande perte dans une population 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compare la charge des maladies et fixe des priorités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3154680"/>
          </a:xfrm>
          <a:prstGeom prst="roundRect">
            <a:avLst>
              <a:gd name="adj" fmla="val 260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17720" y="19659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17720" y="19659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QALY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5603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nouveau médicament mérite-t-il d’être financé 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7720" y="3931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évalue le rapport coût-efficacité d’une intervention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1783080"/>
            <a:ext cx="3520440" cy="3154680"/>
          </a:xfrm>
          <a:prstGeom prst="roundRect">
            <a:avLst>
              <a:gd name="adj" fmla="val 260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66760" y="19659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5603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Comment évolue, dans l’ensemble, la santé d’une population ?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66760" y="3931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suit la santé de la population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5212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les notes, aux sections sur le QALY et l’espérance de vie en bonne santé : les seuils utilisés au Royaume-Uni et la loi américaine, les années vécues en bonne santé, la comparaison complète.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 DONNÉES À LA DÉCISION · DÈS DEMAIN, EN TANT QUE MÉDECINS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que vous ferez différemment, dès demain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916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données brutes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03704" y="1810512"/>
            <a:ext cx="25603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468880" y="1691640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06040" y="16916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indicateurs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78224" y="1810512"/>
            <a:ext cx="25603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691640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80560" y="16916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comparaisons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52744" y="1810512"/>
            <a:ext cx="25603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55080" y="16916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priorités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27264" y="1810512"/>
            <a:ext cx="25603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92440" y="1691640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0" y="16916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interventions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701784" y="1810512"/>
            <a:ext cx="25603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966960" y="1691640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104120" y="16916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évaluation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260604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22960" y="28346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26060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Lorsque vous lisez une comparaison de mortalité, demandez d’abord si les taux sont standardisés et sur quel standard.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7920" y="260604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446520" y="28346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4652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0" y="26060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Lorsque vous remplissez un certificat de décès, inscrivez la cause initiale le plus précisément possible : c’est de lui que viennent toutes les statistiques.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4360" y="425196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22960" y="44805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2960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08760" y="425196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Lorsqu’un patient vous dit qu’il « n’a rien », mesurez la tension artérielle : une maladie inconnue ne se déclare pas.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7920" y="425196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446520" y="44805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46520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32320" y="425196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Lorsque vous entendez qu’une maladie « est prioritaire », demandez quel indicateur a été utilisé et qui est resté en dehors du calcul.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Cinq idées du cours d’aujourd’hui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67335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9829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taux brut mélange le risque par âge et le vieillissement de la population.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304288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242316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304288"/>
            <a:ext cx="9829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Deux populations se comparent d’après les taux standardisés ou les taux par âge.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054096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317296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054096"/>
            <a:ext cx="9829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taux standardisé est un instrument de comparaison, et non le nombre réel de décès.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3803904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68680" y="3922776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803904"/>
            <a:ext cx="9829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prévalence dépend des nouveaux cas et de la durée de la maladie : un traitement qui prolonge la vie l’augmente.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553712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" y="4672584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4672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553712"/>
            <a:ext cx="9829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DALY, QALY et HALE répondent à des questions différentes ; aucune ne remplace les autres.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544068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8680" y="54406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Revenons aux deux pays : la différence d’années de vie en bonne santé entre la Roumanie et la Lettonie ne peut pas se lire comme une différence réelle de santé.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51206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8229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CINQ DERNIÈRES MINUTES · ANONYME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questions pour finir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Qu’est-ce qui a été utile aujourd’hui 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Où vous ai-je perdus 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 pourriez-vous utiliser demain 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30175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49640" y="2514600"/>
            <a:ext cx="3017520" cy="246888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dirty="0" i="1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: entrez sur menti.com avec le code affiché à l’écran.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Début du prochain cours : deux modifications, faites à partir de vos réponses.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2 - Comment savons-nous si une population est en bonne santé ?</dc:title>
  <dc:subject>PptxGenJS Presentation</dc:subject>
  <dc:creator>Conf. Univ. Dr. Adrian Pana</dc:creator>
  <cp:lastModifiedBy>Conf. Univ. Dr. Adrian Pana</cp:lastModifiedBy>
  <cp:revision>1</cp:revision>
  <dcterms:created xsi:type="dcterms:W3CDTF">2026-10-03T22:47:46Z</dcterms:created>
  <dcterms:modified xsi:type="dcterms:W3CDTF">2026-10-03T22:47:46Z</dcterms:modified>
  <cp:keywords>sursa_amprenta=91ea9312bf7b5a3e; proiectie</cp:keywords>
</cp:coreProperties>
</file>