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notesMasterIdLst>
    <p:notesMasterId r:id="rId4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notesMaster" Target="notesMasters/notesMaster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777240"/>
            <a:ext cx="6035040" cy="329184"/>
          </a:xfrm>
          <a:prstGeom prst="roundRect">
            <a:avLst>
              <a:gd name="adj" fmla="val 50000"/>
            </a:avLst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777240"/>
            <a:ext cx="6035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060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COURS 2  ·  SANTÉ PUBLIQUE ET MANAGEMENT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10789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Comment savons-nous si une population est en bonne santé ?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640080" y="338328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Mortalité, morbidité, charge de morbidité : DALY, QALY, HALE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67512" y="4480560"/>
            <a:ext cx="1280160" cy="27432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47091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Quatre situations d’un jeune médecin : deux pays, la garde de neurologie, le cabinet de médecine de famille, la commission qui décide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55778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UMF Cluj-Napoca · Médecine, 6e année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DEPUIS LE COURS PRÉCÉDENT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 que nous avons changé après vos réponses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920240"/>
            <a:ext cx="5349240" cy="3017520"/>
          </a:xfrm>
          <a:prstGeom prst="roundRect">
            <a:avLst>
              <a:gd name="adj" fmla="val 2727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640080" y="1965960"/>
            <a:ext cx="64008" cy="2926080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60120" y="2194560"/>
            <a:ext cx="420624" cy="420624"/>
          </a:xfrm>
          <a:prstGeom prst="ellipse">
            <a:avLst/>
          </a:prstGeom>
          <a:solidFill>
            <a:srgbClr val="FF4757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960120" y="21945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060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600200" y="2194560"/>
            <a:ext cx="4023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À compléter après l’analyse des réponses du premier cours.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217920" y="1920240"/>
            <a:ext cx="5349240" cy="3017520"/>
          </a:xfrm>
          <a:prstGeom prst="roundRect">
            <a:avLst>
              <a:gd name="adj" fmla="val 2727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263640" y="1965960"/>
            <a:ext cx="64008" cy="2926080"/>
          </a:xfrm>
          <a:prstGeom prst="rect">
            <a:avLst/>
          </a:prstGeom>
          <a:solidFill>
            <a:srgbClr val="27D3BE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583680" y="2194560"/>
            <a:ext cx="420624" cy="420624"/>
          </a:xfrm>
          <a:prstGeom prst="ellipse">
            <a:avLst/>
          </a:prstGeom>
          <a:solidFill>
            <a:srgbClr val="27D3BE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583680" y="21945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3B3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223760" y="2194560"/>
            <a:ext cx="4023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À compléter après l’analyse des réponses du premier cours.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94360" y="5303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Les deux mêmes modifications figurent aussi sur la page de la discipline.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LA QUESTION DU TITRE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Deux pays, la même espérance de vie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94360" y="1828800"/>
            <a:ext cx="5303520" cy="2834640"/>
          </a:xfrm>
          <a:prstGeom prst="roundRect">
            <a:avLst>
              <a:gd name="adj" fmla="val 2903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96012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F475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ROUMANIE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60120" y="246888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76,5</a:t>
            </a:r>
            <a:endParaRPr lang="en-US" sz="9600" dirty="0"/>
          </a:p>
        </p:txBody>
      </p:sp>
      <p:sp>
        <p:nvSpPr>
          <p:cNvPr id="7" name="Text 5"/>
          <p:cNvSpPr/>
          <p:nvPr/>
        </p:nvSpPr>
        <p:spPr>
          <a:xfrm>
            <a:off x="960120" y="39776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ans, à la naissance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263640" y="1828800"/>
            <a:ext cx="5303520" cy="2834640"/>
          </a:xfrm>
          <a:prstGeom prst="roundRect">
            <a:avLst>
              <a:gd name="adj" fmla="val 2903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62940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LETTONIE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629400" y="246888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76,4</a:t>
            </a:r>
            <a:endParaRPr lang="en-US" sz="9600" dirty="0"/>
          </a:p>
        </p:txBody>
      </p:sp>
      <p:sp>
        <p:nvSpPr>
          <p:cNvPr id="11" name="Text 9"/>
          <p:cNvSpPr/>
          <p:nvPr/>
        </p:nvSpPr>
        <p:spPr>
          <a:xfrm>
            <a:off x="6629400" y="39776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ans, à la naissance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94360" y="5029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Ils vivent aussi longtemps. Vivent-ils aussi bien ?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94360" y="638251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E94A8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Source : Eurostat, espérance de vie à la naissance, 2024.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292608"/>
            <a:ext cx="3337560" cy="420624"/>
          </a:xfrm>
          <a:prstGeom prst="roundRect">
            <a:avLst>
              <a:gd name="adj" fmla="val 50000"/>
            </a:avLst>
          </a:prstGeom>
          <a:solidFill>
            <a:srgbClr val="FFC24B"/>
          </a:solidFill>
          <a:ln w="12700">
            <a:solidFill>
              <a:srgbClr val="FFC24B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229600" y="292608"/>
            <a:ext cx="3337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MENTIMETER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" y="34747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DEUX QUESTIONS, SUR TÉLÉPHONE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94360" y="713232"/>
            <a:ext cx="7498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Lequel des deux pays est en meilleure santé ?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94360" y="1920240"/>
            <a:ext cx="5120640" cy="3383280"/>
          </a:xfrm>
          <a:prstGeom prst="roundRect">
            <a:avLst>
              <a:gd name="adj" fmla="val 2432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914400" y="21488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D’ABORD, UN MOT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2606040"/>
            <a:ext cx="44805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Que faudrait-il mesurer pour savoir si une population est en bonne santé ?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035040" y="1920240"/>
            <a:ext cx="5532120" cy="3383280"/>
          </a:xfrm>
          <a:prstGeom prst="roundRect">
            <a:avLst>
              <a:gd name="adj" fmla="val 2432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355080" y="21488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PUIS, UN VOTE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355080" y="256032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6E8E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La même espérance de vie, mais l’un des pays déclare beaucoup plus d’années de vie en bonne santé.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355080" y="3840480"/>
            <a:ext cx="4892040" cy="402336"/>
          </a:xfrm>
          <a:prstGeom prst="roundRect">
            <a:avLst>
              <a:gd name="adj" fmla="val 20455"/>
            </a:avLst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492240" y="3840480"/>
            <a:ext cx="4617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 premier pays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355080" y="4315968"/>
            <a:ext cx="4892040" cy="402336"/>
          </a:xfrm>
          <a:prstGeom prst="roundRect">
            <a:avLst>
              <a:gd name="adj" fmla="val 20455"/>
            </a:avLst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92240" y="4315968"/>
            <a:ext cx="4617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 second pays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355080" y="4791456"/>
            <a:ext cx="4892040" cy="402336"/>
          </a:xfrm>
          <a:prstGeom prst="roundRect">
            <a:avLst>
              <a:gd name="adj" fmla="val 20455"/>
            </a:avLst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492240" y="4791456"/>
            <a:ext cx="4617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On ne peut pas le dire à partir de ces chiffres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LA RÉPONSE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On ne peut pas le dire à partir de ces chiffres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828800"/>
            <a:ext cx="5760720" cy="3566160"/>
          </a:xfrm>
          <a:prstGeom prst="roundRect">
            <a:avLst>
              <a:gd name="adj" fmla="val 2308"/>
            </a:avLst>
          </a:prstGeom>
          <a:solidFill>
            <a:srgbClr val="FBF8F1"/>
          </a:solidFill>
          <a:ln w="12700">
            <a:solidFill>
              <a:srgbClr val="FBF8F1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94360" y="1828800"/>
            <a:ext cx="5760720" cy="457200"/>
          </a:xfrm>
          <a:prstGeom prst="rect">
            <a:avLst/>
          </a:prstGeom>
          <a:solidFill>
            <a:srgbClr val="11121A"/>
          </a:solidFill>
          <a:ln w="12700">
            <a:solidFill>
              <a:srgbClr val="11121A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18288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Pays et année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880360" y="18288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Années de vie en bonne santé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166360" y="18288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Mention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85800" y="2395728"/>
            <a:ext cx="5577840" cy="777240"/>
          </a:xfrm>
          <a:prstGeom prst="rect">
            <a:avLst/>
          </a:prstGeom>
          <a:solidFill>
            <a:srgbClr val="FFE7A3"/>
          </a:solidFill>
          <a:ln w="12700">
            <a:solidFill>
              <a:srgbClr val="FFE7A3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22960" y="246888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Roumanie, 2024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2880360" y="246888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65,0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5166360" y="246888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  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822960" y="33375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Lettonie, 2024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2880360" y="33375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52,5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5166360" y="333756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822960" y="420624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Roumanie, 2023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2880360" y="420624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59,2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5166360" y="420624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594360" y="548640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 = rupture de série · e = valeur estimée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766560" y="182880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La série de la Roumanie présente une rupture : c’est la façon de mesurer qui change, pas la santé.</a:t>
            </a:r>
            <a:endParaRPr lang="en-US" sz="1900" dirty="0"/>
          </a:p>
        </p:txBody>
      </p:sp>
      <p:sp>
        <p:nvSpPr>
          <p:cNvPr id="21" name="Shape 19"/>
          <p:cNvSpPr/>
          <p:nvPr/>
        </p:nvSpPr>
        <p:spPr>
          <a:xfrm>
            <a:off x="6766560" y="3520440"/>
            <a:ext cx="4800600" cy="1874520"/>
          </a:xfrm>
          <a:prstGeom prst="roundRect">
            <a:avLst>
              <a:gd name="adj" fmla="val 4390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040880" y="3611880"/>
            <a:ext cx="42976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L’indicateur provient d’une seule question d’autoévaluation : dans quelle mesure avez-vous été limité, à cause de votre santé, dans vos activités habituelles ?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94360" y="638251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Source : Eurostat, années de vie en bonne santé à la naissance, enquête EU-SILC.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LA RÉPONSE PROVISOIRE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Aucun chiffre ne dit à lui seul si une population est en bonne santé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2103120"/>
            <a:ext cx="3520440" cy="2651760"/>
          </a:xfrm>
          <a:prstGeom prst="roundRect">
            <a:avLst>
              <a:gd name="adj" fmla="val 3103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914400" y="2377440"/>
            <a:ext cx="566928" cy="566928"/>
          </a:xfrm>
          <a:prstGeom prst="ellipse">
            <a:avLst/>
          </a:prstGeom>
          <a:solidFill>
            <a:srgbClr val="FF4757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14400" y="23774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E060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14400" y="320040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Qui meurt, et à quel âge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4343400" y="2103120"/>
            <a:ext cx="3520440" cy="2651760"/>
          </a:xfrm>
          <a:prstGeom prst="roundRect">
            <a:avLst>
              <a:gd name="adj" fmla="val 3103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663440" y="2377440"/>
            <a:ext cx="566928" cy="566928"/>
          </a:xfrm>
          <a:prstGeom prst="ellipse">
            <a:avLst/>
          </a:prstGeom>
          <a:solidFill>
            <a:srgbClr val="9B7EF7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663440" y="23774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104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663440" y="320040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Qui est malade, et à quel point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092440" y="2103120"/>
            <a:ext cx="3520440" cy="2651760"/>
          </a:xfrm>
          <a:prstGeom prst="roundRect">
            <a:avLst>
              <a:gd name="adj" fmla="val 3103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412480" y="2377440"/>
            <a:ext cx="566928" cy="566928"/>
          </a:xfrm>
          <a:prstGeom prst="ellipse">
            <a:avLst/>
          </a:prstGeom>
          <a:solidFill>
            <a:srgbClr val="27D3BE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412480" y="23774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73B3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412480" y="320040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Comment combiner les deux en une seule mesure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594360" y="52120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Nous parcourons ces trois informations dans cet ordre. À la fin, nous revenons aux deux pays.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475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QUI MEURT · LA MORTALITÉ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 rot="-120000">
            <a:off x="822960" y="1097280"/>
            <a:ext cx="6126480" cy="4480560"/>
          </a:xfrm>
          <a:prstGeom prst="rect">
            <a:avLst/>
          </a:prstGeom>
          <a:solidFill>
            <a:srgbClr val="FBF8F1"/>
          </a:solidFill>
          <a:ln w="9525">
            <a:solidFill>
              <a:srgbClr val="E4DFD2"/>
            </a:solidFill>
            <a:prstDash val="solid"/>
          </a:ln>
          <a:effectLst>
            <a:outerShdw sx="100000" sy="100000" kx="0" ky="0" algn="bl" rotWithShape="0" blurRad="127000" dist="63500" dir="36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 rot="-120000">
            <a:off x="1234440" y="146304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ÉDITION DU MATIN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 rot="-120000">
            <a:off x="1234440" y="1828800"/>
            <a:ext cx="5303520" cy="22860"/>
          </a:xfrm>
          <a:prstGeom prst="rect">
            <a:avLst/>
          </a:prstGeom>
          <a:solidFill>
            <a:srgbClr val="11121A"/>
          </a:solidFill>
          <a:ln w="12700">
            <a:solidFill>
              <a:srgbClr val="11121A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 rot="-120000">
            <a:off x="1234440" y="2011680"/>
            <a:ext cx="5303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On meurt plus qu’en Roumanie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 rot="-120000">
            <a:off x="1234440" y="425196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rgbClr val="3A3C4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Chiffre cité : le taux brut de mortalité.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498080" y="2103120"/>
            <a:ext cx="4114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Croiriez-vous ce titre ?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7498080" y="3840480"/>
            <a:ext cx="411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8E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Quelle question poseriez-vous avant d’y croire ?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822960" y="5989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8E94A8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Titre construit pour l’exercice ; il ne provient d’aucune publication.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QUI MEURT · LE TAUX BRUT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 taux brut : une moyenne pondérée, pas un risque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828800"/>
            <a:ext cx="4754880" cy="1417320"/>
          </a:xfrm>
          <a:prstGeom prst="roundRect">
            <a:avLst>
              <a:gd name="adj" fmla="val 5806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68680" y="19202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Taux brut de mortalité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233172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décès dans l’année ÷ population moyenne × 1 000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347472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Il répond à « combien de décès par rapport à la taille de la population », et non à « quel est le risque d’une personne d’un âge donné ».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852160" y="1783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Population jeune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852160" y="2148840"/>
            <a:ext cx="2551176" cy="731520"/>
          </a:xfrm>
          <a:prstGeom prst="rect">
            <a:avLst/>
          </a:prstGeom>
          <a:solidFill>
            <a:srgbClr val="ECEAE4"/>
          </a:solidFill>
          <a:ln w="19050">
            <a:solidFill>
              <a:srgbClr val="F6F5F2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5852160" y="2148840"/>
            <a:ext cx="2551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jeunes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403336" y="2148840"/>
            <a:ext cx="2267712" cy="731520"/>
          </a:xfrm>
          <a:prstGeom prst="rect">
            <a:avLst/>
          </a:prstGeom>
          <a:solidFill>
            <a:srgbClr val="9B7EF7"/>
          </a:solidFill>
          <a:ln w="19050">
            <a:solidFill>
              <a:srgbClr val="F6F5F2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403336" y="2148840"/>
            <a:ext cx="22677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104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adultes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10671048" y="2148840"/>
            <a:ext cx="850392" cy="731520"/>
          </a:xfrm>
          <a:prstGeom prst="rect">
            <a:avLst/>
          </a:prstGeom>
          <a:solidFill>
            <a:srgbClr val="FF4757"/>
          </a:solidFill>
          <a:ln w="19050">
            <a:solidFill>
              <a:srgbClr val="F6F5F2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852160" y="31089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Population vieillie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852160" y="3474720"/>
            <a:ext cx="1133856" cy="731520"/>
          </a:xfrm>
          <a:prstGeom prst="rect">
            <a:avLst/>
          </a:prstGeom>
          <a:solidFill>
            <a:srgbClr val="ECEAE4"/>
          </a:solidFill>
          <a:ln w="19050">
            <a:solidFill>
              <a:srgbClr val="F6F5F2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5852160" y="3474720"/>
            <a:ext cx="11338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jeunes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986016" y="3474720"/>
            <a:ext cx="2551176" cy="731520"/>
          </a:xfrm>
          <a:prstGeom prst="rect">
            <a:avLst/>
          </a:prstGeom>
          <a:solidFill>
            <a:srgbClr val="9B7EF7"/>
          </a:solidFill>
          <a:ln w="19050">
            <a:solidFill>
              <a:srgbClr val="F6F5F2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986016" y="3474720"/>
            <a:ext cx="2551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104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adultes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9537192" y="3474720"/>
            <a:ext cx="1984248" cy="731520"/>
          </a:xfrm>
          <a:prstGeom prst="rect">
            <a:avLst/>
          </a:prstGeom>
          <a:solidFill>
            <a:srgbClr val="FF4757"/>
          </a:solidFill>
          <a:ln w="19050">
            <a:solidFill>
              <a:srgbClr val="F6F5F2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9537192" y="3474720"/>
            <a:ext cx="1984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060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âgés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52160" y="4892040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Mêmes risques par âge, autre structure par âge : autre taux brut.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5852160" y="5760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Schéma : les proportions sont illustratives.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CAS RÉEL · ROUMANIE ET CROATIE, 2023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La Croatie semble plus touchée, jusqu’à ce qu’on compare correctement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94360" y="16916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Taux brut (pour 1 000 habitants)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097280" y="2786857"/>
            <a:ext cx="1554480" cy="2288063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2329657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12,8 ‰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22960" y="514807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Roumanie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474720" y="2697480"/>
            <a:ext cx="1554480" cy="2377440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200400" y="224028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13,3 ‰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200400" y="514807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Croatie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914400" y="5074920"/>
            <a:ext cx="4297680" cy="22860"/>
          </a:xfrm>
          <a:prstGeom prst="rect">
            <a:avLst/>
          </a:prstGeom>
          <a:solidFill>
            <a:srgbClr val="C9C6BE"/>
          </a:solidFill>
          <a:ln w="12700">
            <a:solidFill>
              <a:srgbClr val="C9C6BE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5623560" y="3566160"/>
            <a:ext cx="822960" cy="329184"/>
          </a:xfrm>
          <a:prstGeom prst="rightArrow">
            <a:avLst/>
          </a:prstGeom>
          <a:solidFill>
            <a:srgbClr val="B02532"/>
          </a:solidFill>
          <a:ln w="12700">
            <a:solidFill>
              <a:srgbClr val="B02532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349240" y="39776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l’ordre s’inverse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720840" y="16916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Taux standardisé (pour 100 000 habitants)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223760" y="2697480"/>
            <a:ext cx="1554480" cy="2377440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949440" y="224028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1 376,1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949440" y="514807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Roumanie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9601200" y="2854352"/>
            <a:ext cx="1554480" cy="2220568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9326880" y="239715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1 285,3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326880" y="514807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Croatie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040880" y="5074920"/>
            <a:ext cx="4297680" cy="22860"/>
          </a:xfrm>
          <a:prstGeom prst="rect">
            <a:avLst/>
          </a:prstGeom>
          <a:solidFill>
            <a:srgbClr val="C9C6BE"/>
          </a:solidFill>
          <a:ln w="12700">
            <a:solidFill>
              <a:srgbClr val="C9C6BE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59436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Personnes de 65 ans et plus : 19,7 % de la population de la Roumanie, 22,7 % de celle de la Croatie.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94360" y="638251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Source : Eurostat, taux brut de mortalité et taux standardisé (standard européen), 2023.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310896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94360" y="310896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060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TERME 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" y="77724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Taux standardisé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94360" y="15087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i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« le taux qu’aurait un pays si sa population avait la même structure par âge qu’une autre »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94360" y="2514600"/>
            <a:ext cx="2514600" cy="1417320"/>
          </a:xfrm>
          <a:prstGeom prst="roundRect">
            <a:avLst>
              <a:gd name="adj" fmla="val 5806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822960" y="2697480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22960" y="2697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320040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On choisit un standard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081528" y="3063240"/>
            <a:ext cx="347472" cy="329184"/>
          </a:xfrm>
          <a:prstGeom prst="rightArrow">
            <a:avLst/>
          </a:prstGeom>
          <a:solidFill>
            <a:srgbClr val="959BB0"/>
          </a:solidFill>
          <a:ln w="12700">
            <a:solidFill>
              <a:srgbClr val="959BB0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3429000" y="2514600"/>
            <a:ext cx="2514600" cy="1417320"/>
          </a:xfrm>
          <a:prstGeom prst="roundRect">
            <a:avLst>
              <a:gd name="adj" fmla="val 5806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3657600" y="2697480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3657600" y="2697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657600" y="320040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Poids de chaque groupe d’âge dans le standard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916168" y="3063240"/>
            <a:ext cx="347472" cy="329184"/>
          </a:xfrm>
          <a:prstGeom prst="rightArrow">
            <a:avLst/>
          </a:prstGeom>
          <a:solidFill>
            <a:srgbClr val="959BB0"/>
          </a:solidFill>
          <a:ln w="12700">
            <a:solidFill>
              <a:srgbClr val="959BB0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6263640" y="2514600"/>
            <a:ext cx="2514600" cy="1417320"/>
          </a:xfrm>
          <a:prstGeom prst="roundRect">
            <a:avLst>
              <a:gd name="adj" fmla="val 5806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492240" y="2697480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492240" y="2697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92240" y="320040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Taux du groupe × son poids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750808" y="3063240"/>
            <a:ext cx="347472" cy="329184"/>
          </a:xfrm>
          <a:prstGeom prst="rightArrow">
            <a:avLst/>
          </a:prstGeom>
          <a:solidFill>
            <a:srgbClr val="959BB0"/>
          </a:solidFill>
          <a:ln w="12700">
            <a:solidFill>
              <a:srgbClr val="959BB0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9098280" y="2514600"/>
            <a:ext cx="2514600" cy="1417320"/>
          </a:xfrm>
          <a:prstGeom prst="roundRect">
            <a:avLst>
              <a:gd name="adj" fmla="val 5806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9326880" y="2697480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9326880" y="2697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326880" y="320040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On additionne les produits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94360" y="4251960"/>
            <a:ext cx="10972800" cy="1737360"/>
          </a:xfrm>
          <a:prstGeom prst="roundRect">
            <a:avLst>
              <a:gd name="adj" fmla="val 4737"/>
            </a:avLst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868680" y="43434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Exemple, avec des valeurs construites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68680" y="475488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Population A (jeune)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4754880" y="47548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taux brut 710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7772400" y="47548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475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standardisé 1 200</a:t>
            </a:r>
            <a:endParaRPr lang="en-US" sz="1900" dirty="0"/>
          </a:p>
        </p:txBody>
      </p:sp>
      <p:sp>
        <p:nvSpPr>
          <p:cNvPr id="30" name="Text 28"/>
          <p:cNvSpPr/>
          <p:nvPr/>
        </p:nvSpPr>
        <p:spPr>
          <a:xfrm>
            <a:off x="868680" y="530352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Population B (vieillie)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4754880" y="53035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taux brut 1 540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7772400" y="53035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standardisé 1 100</a:t>
            </a:r>
            <a:endParaRPr lang="en-US" sz="1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TAUX STANDARDISÉS · ATTENTION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Autre standard, autre ordre, quand les taux se croisent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94360" y="16916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Taux par âge (pour 100 000)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94360" y="2103120"/>
            <a:ext cx="4754880" cy="2011680"/>
          </a:xfrm>
          <a:prstGeom prst="roundRect">
            <a:avLst>
              <a:gd name="adj" fmla="val 4091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219456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560320" y="219456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jeunes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114800" y="219456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âgés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81635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Population X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2560320" y="2816352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100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4114800" y="281635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5 000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2960" y="3438144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Population Y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2560320" y="3438144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300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114800" y="3438144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4 000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594360" y="434340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Y a le risque le plus élevé chez les jeunes, X chez les âgés.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5852160" y="169164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Taux standardisé, selon le standard choisi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852160" y="2103120"/>
            <a:ext cx="5715000" cy="1600200"/>
          </a:xfrm>
          <a:prstGeom prst="roundRect">
            <a:avLst>
              <a:gd name="adj" fmla="val 5143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080760" y="219456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Standard jeune (0,9 et 0,1)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080760" y="26517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475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X  590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8503920" y="26517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Y  670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6080760" y="320040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Y semble plus touchée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852160" y="3886200"/>
            <a:ext cx="5715000" cy="1600200"/>
          </a:xfrm>
          <a:prstGeom prst="roundRect">
            <a:avLst>
              <a:gd name="adj" fmla="val 5143"/>
            </a:avLst>
          </a:prstGeom>
          <a:solidFill>
            <a:srgbClr val="F9F8F5"/>
          </a:solidFill>
          <a:ln w="12700">
            <a:solidFill>
              <a:srgbClr val="F9F8F5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080760" y="39776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Standard vieilli (0,5 et 0,5)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080760" y="44348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475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X  2 550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8503920" y="44348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Y  2 150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6080760" y="498348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l’ordre s’inverse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594360" y="5897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Valeurs construites.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475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QUI MEURT · SANS TAUX PAR ÂGE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Combien de décès aurait-on dû attendre 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3474720" cy="3063240"/>
          </a:xfrm>
          <a:prstGeom prst="roundRect">
            <a:avLst>
              <a:gd name="adj" fmla="val 2687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68680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La ville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68680" y="2331720"/>
            <a:ext cx="3017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60 000 habitants de moins de 65 ans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40 000 habitants de 65 ans et plus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1 452 décès enregistrés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160520" y="3108960"/>
            <a:ext cx="457200" cy="329184"/>
          </a:xfrm>
          <a:prstGeom prst="rightArrow">
            <a:avLst/>
          </a:prstGeom>
          <a:solidFill>
            <a:srgbClr val="959BB0"/>
          </a:solidFill>
          <a:ln w="12700">
            <a:solidFill>
              <a:srgbClr val="959BB0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4709160" y="1783080"/>
            <a:ext cx="3566160" cy="3063240"/>
          </a:xfrm>
          <a:prstGeom prst="roundRect">
            <a:avLst>
              <a:gd name="adj" fmla="val 2687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937760" y="18745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Aux taux du pays (2 et 30 pour 1 000)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937760" y="2423160"/>
            <a:ext cx="3200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120 chez les moins de 65 ans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1 200 chez les 65 ans et plus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au total 1 320 décès attendus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366760" y="3108960"/>
            <a:ext cx="457200" cy="329184"/>
          </a:xfrm>
          <a:prstGeom prst="rightArrow">
            <a:avLst/>
          </a:prstGeom>
          <a:solidFill>
            <a:srgbClr val="959BB0"/>
          </a:solidFill>
          <a:ln w="12700">
            <a:solidFill>
              <a:srgbClr val="959BB0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8915400" y="1783080"/>
            <a:ext cx="2651760" cy="3063240"/>
          </a:xfrm>
          <a:prstGeom prst="roundRect">
            <a:avLst>
              <a:gd name="adj" fmla="val 3103"/>
            </a:avLst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915400" y="1965960"/>
            <a:ext cx="2651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2E060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1,10</a:t>
            </a:r>
            <a:endParaRPr lang="en-US" sz="6400" dirty="0"/>
          </a:p>
        </p:txBody>
      </p:sp>
      <p:sp>
        <p:nvSpPr>
          <p:cNvPr id="14" name="Text 12"/>
          <p:cNvSpPr/>
          <p:nvPr/>
        </p:nvSpPr>
        <p:spPr>
          <a:xfrm>
            <a:off x="9098280" y="338328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060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1 452 ÷ 1 320 : 10 % de décès en plus qu’aux taux du pays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94360" y="51663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Ratio standardisé de mortalité (RSM, SMR) = décès observés ÷ décès attendus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594360" y="5852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Valeurs construites.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1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0" y="292608"/>
            <a:ext cx="3337560" cy="420624"/>
          </a:xfrm>
          <a:prstGeom prst="roundRect">
            <a:avLst>
              <a:gd name="adj" fmla="val 50000"/>
            </a:avLst>
          </a:prstGeom>
          <a:solidFill>
            <a:srgbClr val="FFC24B"/>
          </a:solidFill>
          <a:ln w="12700">
            <a:solidFill>
              <a:srgbClr val="FFC24B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315200" y="292608"/>
            <a:ext cx="3337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MENTIMETER · VRAI OU FAUX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" y="34747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CINQ AFFIRMATIONS, SUR TÉLÉPHONE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94360" y="713232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Vrai ou faux ?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94360" y="1691640"/>
            <a:ext cx="10972800" cy="786384"/>
          </a:xfrm>
          <a:prstGeom prst="roundRect">
            <a:avLst>
              <a:gd name="adj" fmla="val 10465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868680" y="1874520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68680" y="18745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508760" y="1691640"/>
            <a:ext cx="9829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 pays X a un taux brut plus élevé que le pays Y, donc ses habitants ont un risque de décès plus élevé.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94360" y="2587752"/>
            <a:ext cx="10972800" cy="786384"/>
          </a:xfrm>
          <a:prstGeom prst="roundRect">
            <a:avLst>
              <a:gd name="adj" fmla="val 10465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868680" y="2770632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68680" y="27706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508760" y="2587752"/>
            <a:ext cx="9829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Un ratio standardisé de mortalité supérieur à un signifie plus de décès qu’aux taux de la population de référence.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94360" y="3483864"/>
            <a:ext cx="10972800" cy="786384"/>
          </a:xfrm>
          <a:prstGeom prst="roundRect">
            <a:avLst>
              <a:gd name="adj" fmla="val 10465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68680" y="3666744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68680" y="36667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508760" y="3483864"/>
            <a:ext cx="9829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 taux de mortalité infantile rapporte les décès avant un an à la population totale.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94360" y="4379976"/>
            <a:ext cx="10972800" cy="786384"/>
          </a:xfrm>
          <a:prstGeom prst="roundRect">
            <a:avLst>
              <a:gd name="adj" fmla="val 10465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868680" y="4562856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868680" y="45628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508760" y="4379976"/>
            <a:ext cx="9829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La standardisation directe exige les taux par âge des populations comparées.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594360" y="5276088"/>
            <a:ext cx="10972800" cy="786384"/>
          </a:xfrm>
          <a:prstGeom prst="roundRect">
            <a:avLst>
              <a:gd name="adj" fmla="val 10465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868680" y="5458968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868680" y="5458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508760" y="5276088"/>
            <a:ext cx="9829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Les ratios standardisés de mortalité de deux comtés se comparent directement.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LES RÉPONSES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Faux, vrai, faux, vrai, faux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91640"/>
            <a:ext cx="10972800" cy="777240"/>
          </a:xfrm>
          <a:prstGeom prst="roundRect">
            <a:avLst>
              <a:gd name="adj" fmla="val 10588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68680" y="1874520"/>
            <a:ext cx="420624" cy="420624"/>
          </a:xfrm>
          <a:prstGeom prst="ellipse">
            <a:avLst/>
          </a:prstGeom>
          <a:solidFill>
            <a:srgbClr val="B02532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68680" y="18745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600200" y="169164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1. Le taux brut dépend de la structure par âge.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94360" y="2578608"/>
            <a:ext cx="10972800" cy="777240"/>
          </a:xfrm>
          <a:prstGeom prst="roundRect">
            <a:avLst>
              <a:gd name="adj" fmla="val 10588"/>
            </a:avLst>
          </a:prstGeom>
          <a:solidFill>
            <a:srgbClr val="F9F8F5"/>
          </a:solidFill>
          <a:ln w="12700">
            <a:solidFill>
              <a:srgbClr val="F9F8F5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68680" y="2761488"/>
            <a:ext cx="420624" cy="420624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68680" y="27614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600200" y="2578608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2. Supérieur à un : excès de décès par rapport à la référence.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94360" y="3465576"/>
            <a:ext cx="10972800" cy="777240"/>
          </a:xfrm>
          <a:prstGeom prst="roundRect">
            <a:avLst>
              <a:gd name="adj" fmla="val 10588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68680" y="3648456"/>
            <a:ext cx="420624" cy="420624"/>
          </a:xfrm>
          <a:prstGeom prst="ellipse">
            <a:avLst/>
          </a:prstGeom>
          <a:solidFill>
            <a:srgbClr val="B02532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68680" y="3648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600200" y="3465576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3. Les décès avant un an sont rapportés aux naissances vivantes.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94360" y="4352544"/>
            <a:ext cx="10972800" cy="777240"/>
          </a:xfrm>
          <a:prstGeom prst="roundRect">
            <a:avLst>
              <a:gd name="adj" fmla="val 10588"/>
            </a:avLst>
          </a:prstGeom>
          <a:solidFill>
            <a:srgbClr val="F9F8F5"/>
          </a:solidFill>
          <a:ln w="12700">
            <a:solidFill>
              <a:srgbClr val="F9F8F5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68680" y="4535424"/>
            <a:ext cx="420624" cy="420624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68680" y="45354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600200" y="4352544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4. Sans les taux par âge, la méthode directe ne peut pas s’appliquer.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594360" y="5239512"/>
            <a:ext cx="10972800" cy="777240"/>
          </a:xfrm>
          <a:prstGeom prst="roundRect">
            <a:avLst>
              <a:gd name="adj" fmla="val 10588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868680" y="5422392"/>
            <a:ext cx="420624" cy="420624"/>
          </a:xfrm>
          <a:prstGeom prst="ellipse">
            <a:avLst/>
          </a:prstGeom>
          <a:solidFill>
            <a:srgbClr val="B02532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868680" y="54223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600200" y="5239512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5. Chaque ratio a un dénominateur différent ; pour comparer, la standardisation directe.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QUI MEURT · LES ANNÉES PERDUES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Deux patients la même nuit : combien d’années ont été perdues avant 75 ans 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05840" y="17373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Jeune homme, accident de la route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005840" y="2148840"/>
            <a:ext cx="4732020" cy="548640"/>
          </a:xfrm>
          <a:prstGeom prst="rect">
            <a:avLst/>
          </a:prstGeom>
          <a:solidFill>
            <a:srgbClr val="ECEAE4"/>
          </a:solidFill>
          <a:ln w="9525">
            <a:solidFill>
              <a:srgbClr val="C9C6BE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737860" y="2148840"/>
            <a:ext cx="3154680" cy="548640"/>
          </a:xfrm>
          <a:prstGeom prst="rect">
            <a:avLst/>
          </a:prstGeom>
          <a:solidFill>
            <a:srgbClr val="FF4757">
              <a:alpha val="65000"/>
            </a:srgbClr>
          </a:solidFill>
          <a:ln w="19050">
            <a:solidFill>
              <a:srgbClr val="FF4757"/>
            </a:solidFill>
            <a:prstDash val="dash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097280" y="214884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décès à 45 ans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875020" y="2743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30 ans perdus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05840" y="31089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Femme très âgée, accident vasculaire cérébral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1005840" y="3520440"/>
            <a:ext cx="8412480" cy="548640"/>
          </a:xfrm>
          <a:prstGeom prst="rect">
            <a:avLst/>
          </a:prstGeom>
          <a:solidFill>
            <a:srgbClr val="ECEAE4"/>
          </a:solidFill>
          <a:ln w="9525">
            <a:solidFill>
              <a:srgbClr val="C9C6BE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097280" y="352044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décès à 80 ans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97280" y="4114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0 an perdu : elle a dépassé l’âge limite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892540" y="1600200"/>
            <a:ext cx="27432" cy="2926080"/>
          </a:xfrm>
          <a:prstGeom prst="rect">
            <a:avLst/>
          </a:prstGeom>
          <a:solidFill>
            <a:srgbClr val="11121A"/>
          </a:solidFill>
          <a:ln w="12700">
            <a:solidFill>
              <a:srgbClr val="11121A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252460" y="45720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75 ans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94360" y="51206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Un décès à 25 ans représente 50 ans perdus, un décès à 70 ans, 5 : le premier pèse dix fois plus.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594360" y="5989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Valeurs construites.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QUI MEURT · DÉCÈS ÉVITABLES, AVANT 75 ANS, 2023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 que la prévention aurait évité, ce que des soins en temps utile auraient évité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94360" y="1783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Évitables par la prévention (prévention, santé publique)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94360" y="2194560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Roumanie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880360" y="2249424"/>
            <a:ext cx="5669280" cy="329184"/>
          </a:xfrm>
          <a:prstGeom prst="roundRect">
            <a:avLst>
              <a:gd name="adj" fmla="val 13889"/>
            </a:avLst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641080" y="224942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264,0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2761488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Union européenne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880360" y="2816352"/>
            <a:ext cx="3240509" cy="329184"/>
          </a:xfrm>
          <a:prstGeom prst="roundRect">
            <a:avLst>
              <a:gd name="adj" fmla="val 13889"/>
            </a:avLst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212309" y="281635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150,9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144000" y="228600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environ trois quarts de plus que la moyenne de l’UE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94360" y="37947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Évitables par les traitements (soins médicaux en temps utile)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94360" y="4206240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Roumanie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2880360" y="4261104"/>
            <a:ext cx="4288467" cy="329184"/>
          </a:xfrm>
          <a:prstGeom prst="roundRect">
            <a:avLst>
              <a:gd name="adj" fmla="val 13889"/>
            </a:avLst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260267" y="426110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199,7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94360" y="4773168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Union européenne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2880360" y="4828032"/>
            <a:ext cx="1863991" cy="329184"/>
          </a:xfrm>
          <a:prstGeom prst="roundRect">
            <a:avLst>
              <a:gd name="adj" fmla="val 13889"/>
            </a:avLst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835791" y="482803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86,8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0" y="429768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plus de deux fois la moyenne de l’UE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94360" y="57607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Taux standardisés, pour 100 000 habitants, liste commune OCDE–Eurostat.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94360" y="638251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Source : Eurostat, mortalité évitable (hlth_cd_apr), 2023.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1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292608"/>
            <a:ext cx="3337560" cy="420624"/>
          </a:xfrm>
          <a:prstGeom prst="roundRect">
            <a:avLst>
              <a:gd name="adj" fmla="val 50000"/>
            </a:avLst>
          </a:prstGeom>
          <a:solidFill>
            <a:srgbClr val="FFC24B"/>
          </a:solidFill>
          <a:ln w="12700">
            <a:solidFill>
              <a:srgbClr val="FFC24B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863840" y="292608"/>
            <a:ext cx="3337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MENTIMETER + VOTRE VOISIN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" y="34747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UN VOTE, UNE MINUTE DE DISCUSSION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94360" y="713232"/>
            <a:ext cx="7680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Un homme de cinquante-cinq ans meurt d’un cancer du poumon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94360" y="1965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E6E8E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Selon la liste OCDE–Eurostat, son décès est :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94360" y="2743200"/>
            <a:ext cx="2606040" cy="1371600"/>
          </a:xfrm>
          <a:prstGeom prst="roundRect">
            <a:avLst>
              <a:gd name="adj" fmla="val 6000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2743200"/>
            <a:ext cx="2331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Évitable par la prévention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3383280" y="2743200"/>
            <a:ext cx="2606040" cy="1371600"/>
          </a:xfrm>
          <a:prstGeom prst="roundRect">
            <a:avLst>
              <a:gd name="adj" fmla="val 6000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520440" y="2743200"/>
            <a:ext cx="2331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Évitable par les traitements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6172200" y="2743200"/>
            <a:ext cx="2606040" cy="1371600"/>
          </a:xfrm>
          <a:prstGeom prst="roundRect">
            <a:avLst>
              <a:gd name="adj" fmla="val 6000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09360" y="2743200"/>
            <a:ext cx="2331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Les deux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8961120" y="2743200"/>
            <a:ext cx="2606040" cy="1371600"/>
          </a:xfrm>
          <a:prstGeom prst="roundRect">
            <a:avLst>
              <a:gd name="adj" fmla="val 6000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9098280" y="2743200"/>
            <a:ext cx="2331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Aucun des deux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594360" y="46634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Une minute de discussion avec votre voisin, puis le vote.</a:t>
            </a:r>
            <a:endParaRPr lang="en-US" sz="1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LA RÉPONSE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Évitable par la prévention : on classe selon la cause et l’âge, pas selon les antécédents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920240"/>
            <a:ext cx="4206240" cy="3108960"/>
          </a:xfrm>
          <a:prstGeom prst="roundRect">
            <a:avLst>
              <a:gd name="adj" fmla="val 2647"/>
            </a:avLst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94360" y="2103120"/>
            <a:ext cx="4206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060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Évitable par la prévention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68680" y="347472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E060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cancer du poumon, codes C33–C34, âges 0–74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212080" y="1965960"/>
            <a:ext cx="6309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La classification ne dit pas que le patient n’aurait pas pu être soigné : elle dit que de tels décès s’évitent surtout par la prévention primaire, d’abord par la réduction du tabagisme.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212080" y="3931920"/>
            <a:ext cx="6355080" cy="1097280"/>
          </a:xfrm>
          <a:prstGeom prst="roundRect">
            <a:avLst>
              <a:gd name="adj" fmla="val 7500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40680" y="3931920"/>
            <a:ext cx="5943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On classe selon la cause du décès et l’âge au décès, pas selon les antécédents du patient.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94360" y="638251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Source : liste commune OCDE–Eurostat de la mortalité évitable.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1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292608"/>
            <a:ext cx="3337560" cy="420624"/>
          </a:xfrm>
          <a:prstGeom prst="roundRect">
            <a:avLst>
              <a:gd name="adj" fmla="val 50000"/>
            </a:avLst>
          </a:prstGeom>
          <a:solidFill>
            <a:srgbClr val="FFC24B"/>
          </a:solidFill>
          <a:ln w="12700">
            <a:solidFill>
              <a:srgbClr val="FFC24B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863840" y="292608"/>
            <a:ext cx="3337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MENTIMETER · CLASSEMENT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" y="34747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CLASSEZ, SUR TÉLÉPHONE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94360" y="713232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 quoi meurent les Roumains ?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16916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E6E8E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Classez les cinq causes selon le nombre de décès en Roumanie, de la plus fréquente à la moins fréquente.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94360" y="2606040"/>
            <a:ext cx="6766560" cy="566928"/>
          </a:xfrm>
          <a:prstGeom prst="roundRect">
            <a:avLst>
              <a:gd name="adj" fmla="val 14516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68680" y="2606040"/>
            <a:ext cx="6400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Cancer du poumon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94360" y="3282696"/>
            <a:ext cx="6766560" cy="566928"/>
          </a:xfrm>
          <a:prstGeom prst="roundRect">
            <a:avLst>
              <a:gd name="adj" fmla="val 14516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68680" y="3282696"/>
            <a:ext cx="6400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Cardiopathie ischémique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594360" y="3959352"/>
            <a:ext cx="6766560" cy="566928"/>
          </a:xfrm>
          <a:prstGeom prst="roundRect">
            <a:avLst>
              <a:gd name="adj" fmla="val 14516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68680" y="3959352"/>
            <a:ext cx="6400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Cirrhose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94360" y="4636008"/>
            <a:ext cx="6766560" cy="566928"/>
          </a:xfrm>
          <a:prstGeom prst="roundRect">
            <a:avLst>
              <a:gd name="adj" fmla="val 14516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68680" y="4636008"/>
            <a:ext cx="6400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Accident vasculaire cérébral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594360" y="5312664"/>
            <a:ext cx="6766560" cy="566928"/>
          </a:xfrm>
          <a:prstGeom prst="roundRect">
            <a:avLst>
              <a:gd name="adj" fmla="val 14516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68680" y="5312664"/>
            <a:ext cx="6400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Cardiopathie hypertensive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7863840" y="310896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Cinq causes, un seul classement.</a:t>
            </a:r>
            <a:endParaRPr lang="en-US" sz="2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LA RÉPONSE · GBD 2023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 quoi meurent les Roumains : deux maladies cardiovasculaires en tête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94360" y="178308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Cardiopathie ischémique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520440" y="1837944"/>
            <a:ext cx="4572000" cy="493776"/>
          </a:xfrm>
          <a:prstGeom prst="roundRect">
            <a:avLst>
              <a:gd name="adj" fmla="val 9259"/>
            </a:avLst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183880" y="1837944"/>
            <a:ext cx="21945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56 400  (22,9 %)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94360" y="25146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Accident vasculaire cérébral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520440" y="2569464"/>
            <a:ext cx="3574915" cy="493776"/>
          </a:xfrm>
          <a:prstGeom prst="roundRect">
            <a:avLst>
              <a:gd name="adj" fmla="val 9259"/>
            </a:avLst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186795" y="2569464"/>
            <a:ext cx="21945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44 100  (17,9 %)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94360" y="324612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Cardiopathie hypertensive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520440" y="3300984"/>
            <a:ext cx="1134894" cy="493776"/>
          </a:xfrm>
          <a:prstGeom prst="roundRect">
            <a:avLst>
              <a:gd name="adj" fmla="val 9259"/>
            </a:avLst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746774" y="3300984"/>
            <a:ext cx="21945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14 000  (5,7 %)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94360" y="397764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Cancer du poumon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3520440" y="4032504"/>
            <a:ext cx="843064" cy="493776"/>
          </a:xfrm>
          <a:prstGeom prst="roundRect">
            <a:avLst>
              <a:gd name="adj" fmla="val 9259"/>
            </a:avLst>
          </a:prstGeom>
          <a:solidFill>
            <a:srgbClr val="9B7EF7"/>
          </a:solidFill>
          <a:ln w="12700">
            <a:solidFill>
              <a:srgbClr val="9B7EF7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454944" y="4032504"/>
            <a:ext cx="21945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10 400  (4,2 %)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94360" y="47091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Cirrhose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3520440" y="4764024"/>
            <a:ext cx="818745" cy="493776"/>
          </a:xfrm>
          <a:prstGeom prst="roundRect">
            <a:avLst>
              <a:gd name="adj" fmla="val 9259"/>
            </a:avLst>
          </a:prstGeom>
          <a:solidFill>
            <a:srgbClr val="9B7EF7"/>
          </a:solidFill>
          <a:ln w="12700">
            <a:solidFill>
              <a:srgbClr val="9B7EF7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430625" y="4764024"/>
            <a:ext cx="21945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10 100  (4,1 %)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94360" y="5532120"/>
            <a:ext cx="10972800" cy="640080"/>
          </a:xfrm>
          <a:prstGeom prst="roundRect">
            <a:avLst>
              <a:gd name="adj" fmla="val 12857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822960" y="55321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Maladies de l’appareil circulatoire : 54,0 % des décès en Roumanie, en 2023 (Eurostat). Les valeurs du GBD sont des estimations de modèle.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94360" y="64008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Source : IHME, Global Burden of Disease Study 2023, Roumanie, 2023 ; Eurostat, décès par cause, 2023.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QUI SOUFFRE · LA MORBIDITÉ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 nouveau médecin de famille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5349240" cy="2240280"/>
          </a:xfrm>
          <a:prstGeom prst="roundRect">
            <a:avLst>
              <a:gd name="adj" fmla="val 3673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640080" y="1828800"/>
            <a:ext cx="64008" cy="2148840"/>
          </a:xfrm>
          <a:prstGeom prst="rect">
            <a:avLst/>
          </a:prstGeom>
          <a:solidFill>
            <a:srgbClr val="9B7EF7"/>
          </a:solidFill>
          <a:ln w="12700">
            <a:solidFill>
              <a:srgbClr val="9B7EF7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60120" y="1965960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Combien de patients diabétiques avez-vous actuellement sur votre liste ?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960120" y="3337560"/>
            <a:ext cx="3840480" cy="329184"/>
          </a:xfrm>
          <a:prstGeom prst="roundRect">
            <a:avLst>
              <a:gd name="adj" fmla="val 50000"/>
            </a:avLst>
          </a:prstGeom>
          <a:solidFill>
            <a:srgbClr val="9B7EF7"/>
          </a:solidFill>
          <a:ln w="12700">
            <a:solidFill>
              <a:srgbClr val="9B7EF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960120" y="33375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04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la prévalence : les cas existants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17920" y="1783080"/>
            <a:ext cx="5349240" cy="2240280"/>
          </a:xfrm>
          <a:prstGeom prst="roundRect">
            <a:avLst>
              <a:gd name="adj" fmla="val 3673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263640" y="1828800"/>
            <a:ext cx="64008" cy="2148840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83680" y="1965960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Combien de nouveaux cas apparaissent chaque année ?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583680" y="3337560"/>
            <a:ext cx="3840480" cy="329184"/>
          </a:xfrm>
          <a:prstGeom prst="roundRect">
            <a:avLst>
              <a:gd name="adj" fmla="val 50000"/>
            </a:avLst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583680" y="33375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3B3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l’incidence : les nouveaux cas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94360" y="4343400"/>
            <a:ext cx="10972800" cy="1417320"/>
          </a:xfrm>
          <a:prstGeom prst="roundRect">
            <a:avLst>
              <a:gd name="adj" fmla="val 5806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14400" y="4343400"/>
            <a:ext cx="10332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Dans une communauté, 400 personnes à risque sont suivies pendant un an. 12 nouveaux cas apparaissent : 12 ÷ 400 = 3 % en un an.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594360" y="5897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Valeurs construites.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1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310896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94360" y="310896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060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TERME 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" y="77724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La prévalence : combien de malades en ce moment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1920240" y="1874520"/>
            <a:ext cx="274320" cy="822960"/>
          </a:xfrm>
          <a:prstGeom prst="rect">
            <a:avLst/>
          </a:prstGeom>
          <a:solidFill>
            <a:srgbClr val="959BB0"/>
          </a:solidFill>
          <a:ln w="12700">
            <a:solidFill>
              <a:srgbClr val="959BB0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463040" y="1783080"/>
            <a:ext cx="1188720" cy="164592"/>
          </a:xfrm>
          <a:prstGeom prst="rect">
            <a:avLst/>
          </a:prstGeom>
          <a:solidFill>
            <a:srgbClr val="959BB0"/>
          </a:solidFill>
          <a:ln w="12700">
            <a:solidFill>
              <a:srgbClr val="959BB0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965960" y="2697480"/>
            <a:ext cx="182880" cy="182880"/>
          </a:xfrm>
          <a:prstGeom prst="ellipse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822960" y="2834640"/>
            <a:ext cx="5120640" cy="2743200"/>
          </a:xfrm>
          <a:prstGeom prst="roundRect">
            <a:avLst>
              <a:gd name="adj" fmla="val 4000"/>
            </a:avLst>
          </a:prstGeom>
          <a:solidFill>
            <a:srgbClr val="272A38"/>
          </a:solidFill>
          <a:ln w="25400">
            <a:solidFill>
              <a:srgbClr val="959BB0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77824" y="3886200"/>
            <a:ext cx="5010912" cy="1581912"/>
          </a:xfrm>
          <a:prstGeom prst="rect">
            <a:avLst/>
          </a:prstGeom>
          <a:solidFill>
            <a:srgbClr val="27D3BE">
              <a:alpha val="75000"/>
            </a:srgbClr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5120640" y="5577840"/>
            <a:ext cx="457200" cy="457200"/>
          </a:xfrm>
          <a:prstGeom prst="rect">
            <a:avLst/>
          </a:prstGeom>
          <a:solidFill>
            <a:srgbClr val="959BB0"/>
          </a:solidFill>
          <a:ln w="12700">
            <a:solidFill>
              <a:srgbClr val="959BB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2468880" y="18288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robinet : les nouveaux cas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468880" y="21945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5D8E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(l’incidence)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97280" y="416052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niveau de l’eau : la prévalence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5669280" y="56692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5D8E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écoulement : guérison ou décès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83680" y="192024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i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« combien de personnes ont la maladie en ce moment »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6583680" y="301752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Proportion de personnes qui ont une maladie ou une caractéristique, à un moment donné ou sur une période.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583680" y="448056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Une maladie rare, mais de longue durée, peut avoir une prévalence élevée.</a:t>
            </a:r>
            <a:endParaRPr lang="en-US" sz="17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QUI SOUFFRE · LA PRÉVALENCE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Prévalence ≈ nouveaux cas × durée de la maladie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5669280" cy="1005840"/>
          </a:xfrm>
          <a:prstGeom prst="roundRect">
            <a:avLst>
              <a:gd name="adj" fmla="val 8182"/>
            </a:avLst>
          </a:prstGeom>
          <a:solidFill>
            <a:srgbClr val="11121A"/>
          </a:solidFill>
          <a:ln w="12700">
            <a:solidFill>
              <a:srgbClr val="11121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94360" y="1783080"/>
            <a:ext cx="5669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prévalence ≈ nouveaux cas par an × durée moyenne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94360" y="3017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Conditions :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94360" y="3429000"/>
            <a:ext cx="5669280" cy="548640"/>
          </a:xfrm>
          <a:prstGeom prst="roundRect">
            <a:avLst>
              <a:gd name="adj" fmla="val 15000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342900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population stable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94360" y="4087368"/>
            <a:ext cx="5669280" cy="548640"/>
          </a:xfrm>
          <a:prstGeom prst="roundRect">
            <a:avLst>
              <a:gd name="adj" fmla="val 15000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31520" y="4087368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prévalence constante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94360" y="4745736"/>
            <a:ext cx="5669280" cy="548640"/>
          </a:xfrm>
          <a:prstGeom prst="roundRect">
            <a:avLst>
              <a:gd name="adj" fmla="val 15000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31520" y="4745736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faible prévalence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766560" y="17373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Nouveaux cas : 0,01 par personne-année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223760" y="2651760"/>
            <a:ext cx="1737360" cy="2286000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949440" y="219456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0,01 × 10 = 10 %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949440" y="501091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dure 10 ans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9692640" y="4480560"/>
            <a:ext cx="1737360" cy="457200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418320" y="402336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0,01 × 2 = 2 %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9418320" y="501091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traitement : 2 ans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040880" y="4937760"/>
            <a:ext cx="4572000" cy="22860"/>
          </a:xfrm>
          <a:prstGeom prst="rect">
            <a:avLst/>
          </a:prstGeom>
          <a:solidFill>
            <a:srgbClr val="C9C6BE"/>
          </a:solidFill>
          <a:ln w="12700">
            <a:solidFill>
              <a:srgbClr val="C9C6BE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94360" y="54406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La prévalence est divisée par cinq, sans qu’un seul nouveau cas ait été évité : seule la durée a changé.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94360" y="6035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Valeurs construites.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1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38160" y="292608"/>
            <a:ext cx="3337560" cy="420624"/>
          </a:xfrm>
          <a:prstGeom prst="roundRect">
            <a:avLst>
              <a:gd name="adj" fmla="val 50000"/>
            </a:avLst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138160" y="292608"/>
            <a:ext cx="3337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À DEUX · 2 MINUTES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" y="34747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 PARADOXE DU TRAITEMENT EFFICACE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94360" y="713232"/>
            <a:ext cx="7589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La prévalence augmente. Le programme a-t-il échoué ?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94360" y="1828800"/>
            <a:ext cx="5577840" cy="3566160"/>
          </a:xfrm>
          <a:prstGeom prst="roundRect">
            <a:avLst>
              <a:gd name="adj" fmla="val 2308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68680" y="192024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Une infection chronique, traitable mais incurable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8680" y="2697480"/>
            <a:ext cx="5120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La prévention réduit l’incidence de 40 % : les nouveaux cas sont multipliés par 0,6.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 traitement fait vivre les malades cinq fois plus longtemps : la durée est multipliée par 5.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68680" y="443484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0,6 × 5 = 3 : la prévalence est trois fois plus élevée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583680" y="192024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i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Un journal titre : « le programme de lutte a échoué ».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583680" y="324612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Croiriez-vous ce titre ?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583680" y="416052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6E8E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Avec votre voisin, en deux phrases : l’explication que vous donneriez à un journaliste.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594360" y="5897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Valeurs construites.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QUI SOUFFRE · UN PATIENT, PLUSIEURS MALADIES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 patient atteint de plusieurs maladies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94360" y="15087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Un patient hospitalisé pour une pneumonie a aussi un diabète et une insuffisance cardiaque.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94360" y="2240280"/>
            <a:ext cx="5303520" cy="3611880"/>
          </a:xfrm>
          <a:prstGeom prst="roundRect">
            <a:avLst>
              <a:gd name="adj" fmla="val 2278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68680" y="2423160"/>
            <a:ext cx="2651760" cy="329184"/>
          </a:xfrm>
          <a:prstGeom prst="roundRect">
            <a:avLst>
              <a:gd name="adj" fmla="val 50000"/>
            </a:avLst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68680" y="2423160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060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COMORBIDITÉ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051560" y="2971800"/>
            <a:ext cx="1417320" cy="1051560"/>
          </a:xfrm>
          <a:prstGeom prst="ellipse">
            <a:avLst/>
          </a:prstGeom>
          <a:solidFill>
            <a:srgbClr val="FF4757"/>
          </a:solidFill>
          <a:ln w="19050">
            <a:solidFill>
              <a:srgbClr val="B0253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051560" y="2971800"/>
            <a:ext cx="1417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060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pneumonie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679192" y="2971800"/>
            <a:ext cx="1417320" cy="1051560"/>
          </a:xfrm>
          <a:prstGeom prst="ellipse">
            <a:avLst/>
          </a:prstGeom>
          <a:solidFill>
            <a:srgbClr val="F9F8F5"/>
          </a:solidFill>
          <a:ln w="19050">
            <a:solidFill>
              <a:srgbClr val="C9C6BE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2679192" y="2971800"/>
            <a:ext cx="1417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diabète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306824" y="2971800"/>
            <a:ext cx="1417320" cy="1051560"/>
          </a:xfrm>
          <a:prstGeom prst="ellipse">
            <a:avLst/>
          </a:prstGeom>
          <a:solidFill>
            <a:srgbClr val="F9F8F5"/>
          </a:solidFill>
          <a:ln w="19050">
            <a:solidFill>
              <a:srgbClr val="C9C6BE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306824" y="2971800"/>
            <a:ext cx="1417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insuf. cardiaque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68680" y="4206240"/>
            <a:ext cx="4754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part d’une maladie de référence (la maladie index) : toute autre maladie qui coexiste avec elle.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263640" y="2240280"/>
            <a:ext cx="5303520" cy="3611880"/>
          </a:xfrm>
          <a:prstGeom prst="roundRect">
            <a:avLst>
              <a:gd name="adj" fmla="val 2278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6537960" y="2423160"/>
            <a:ext cx="2651760" cy="329184"/>
          </a:xfrm>
          <a:prstGeom prst="roundRect">
            <a:avLst>
              <a:gd name="adj" fmla="val 50000"/>
            </a:avLst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537960" y="2423160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3B3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MULTIMORBIDITÉ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720840" y="2971800"/>
            <a:ext cx="1417320" cy="1051560"/>
          </a:xfrm>
          <a:prstGeom prst="ellipse">
            <a:avLst/>
          </a:prstGeom>
          <a:solidFill>
            <a:srgbClr val="27D3BE"/>
          </a:solidFill>
          <a:ln w="19050">
            <a:solidFill>
              <a:srgbClr val="C9C6BE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720840" y="2971800"/>
            <a:ext cx="1417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3B3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pneumonie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348472" y="2971800"/>
            <a:ext cx="1417320" cy="1051560"/>
          </a:xfrm>
          <a:prstGeom prst="ellipse">
            <a:avLst/>
          </a:prstGeom>
          <a:solidFill>
            <a:srgbClr val="27D3BE"/>
          </a:solidFill>
          <a:ln w="19050">
            <a:solidFill>
              <a:srgbClr val="C9C6BE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8348472" y="2971800"/>
            <a:ext cx="1417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3B3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diabète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9976104" y="2971800"/>
            <a:ext cx="1417320" cy="1051560"/>
          </a:xfrm>
          <a:prstGeom prst="ellipse">
            <a:avLst/>
          </a:prstGeom>
          <a:solidFill>
            <a:srgbClr val="27D3BE"/>
          </a:solidFill>
          <a:ln w="19050">
            <a:solidFill>
              <a:srgbClr val="C9C6BE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9976104" y="2971800"/>
            <a:ext cx="1417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3B3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insuf. cardiaque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37960" y="4206240"/>
            <a:ext cx="4754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deux affections de longue durée ou plus chez la même personne, sans maladie de référence.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1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QUI SOUFFRE · CE QUE NOUS SAVONS ET CE QUE NOUS IGNORONS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Qui ignore sa maladie ne peut pas la déclarer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5303520" cy="3383280"/>
          </a:xfrm>
          <a:prstGeom prst="roundRect">
            <a:avLst>
              <a:gd name="adj" fmla="val 2432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960120" y="19202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475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DÉCLARÉ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60120" y="228600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15,7 %</a:t>
            </a:r>
            <a:endParaRPr lang="en-US" sz="8000" dirty="0"/>
          </a:p>
        </p:txBody>
      </p:sp>
      <p:sp>
        <p:nvSpPr>
          <p:cNvPr id="7" name="Text 5"/>
          <p:cNvSpPr/>
          <p:nvPr/>
        </p:nvSpPr>
        <p:spPr>
          <a:xfrm>
            <a:off x="960120" y="3749040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5D8E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hypertension artérielle, personnes de 15 ans et plus, Roumanie, 2019 (enquête EHIS)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263640" y="1783080"/>
            <a:ext cx="5303520" cy="3383280"/>
          </a:xfrm>
          <a:prstGeom prst="roundRect">
            <a:avLst>
              <a:gd name="adj" fmla="val 2432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629400" y="19202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MESURÉ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629400" y="228600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45,1 %</a:t>
            </a:r>
            <a:endParaRPr lang="en-US" sz="8000" dirty="0"/>
          </a:p>
        </p:txBody>
      </p:sp>
      <p:sp>
        <p:nvSpPr>
          <p:cNvPr id="11" name="Text 9"/>
          <p:cNvSpPr/>
          <p:nvPr/>
        </p:nvSpPr>
        <p:spPr>
          <a:xfrm>
            <a:off x="6629400" y="3749040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5D8E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hypertension artérielle, adultes en Roumanie (étude SEPHAR III, tension mesurée)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94360" y="53492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Diabète déclaré en Roumanie : 5,0 %. Moyenne de l’UE : 7,4 % pour le diabète, 21,9 % pour l’hypertension.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94360" y="58064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Ces chiffres ne se comparent pas directement, mais l’écart a une explication simple. La même chose nous rend prudents avec les années de vie en bonne santé du début.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292608"/>
            <a:ext cx="3337560" cy="420624"/>
          </a:xfrm>
          <a:prstGeom prst="roundRect">
            <a:avLst>
              <a:gd name="adj" fmla="val 50000"/>
            </a:avLst>
          </a:prstGeom>
          <a:solidFill>
            <a:srgbClr val="FFC24B"/>
          </a:solidFill>
          <a:ln w="12700">
            <a:solidFill>
              <a:srgbClr val="FFC24B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229600" y="292608"/>
            <a:ext cx="3337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MENTIMETER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" y="34747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OÙ TROUVER LES DONNÉES · UN VOTE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94360" y="713232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Quelle source utilisez-vous ?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94360" y="1691640"/>
            <a:ext cx="10972800" cy="1051560"/>
          </a:xfrm>
          <a:prstGeom prst="roundRect">
            <a:avLst>
              <a:gd name="adj" fmla="val 7826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68680" y="1691640"/>
            <a:ext cx="10424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Comparez la mortalité évitable de la Roumanie avec la moyenne de l’UE. Où cherchez-vous ?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594360" y="3017520"/>
            <a:ext cx="5349240" cy="1371600"/>
          </a:xfrm>
          <a:prstGeom prst="roundRect">
            <a:avLst>
              <a:gd name="adj" fmla="val 6000"/>
            </a:avLst>
          </a:prstGeom>
          <a:solidFill>
            <a:srgbClr val="F9F8F5"/>
          </a:solidFill>
          <a:ln w="12700">
            <a:solidFill>
              <a:srgbClr val="F9F8F5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40080" y="3063240"/>
            <a:ext cx="73152" cy="1280160"/>
          </a:xfrm>
          <a:prstGeom prst="rect">
            <a:avLst/>
          </a:prstGeom>
          <a:solidFill>
            <a:srgbClr val="9B7EF7"/>
          </a:solidFill>
          <a:ln w="12700">
            <a:solidFill>
              <a:srgbClr val="9B7EF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960120" y="310896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La base TEMPO de l’Institut national de la statistique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60120" y="379476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comtés, sexes, groupes d’âge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217920" y="3017520"/>
            <a:ext cx="5349240" cy="1371600"/>
          </a:xfrm>
          <a:prstGeom prst="roundRect">
            <a:avLst>
              <a:gd name="adj" fmla="val 6000"/>
            </a:avLst>
          </a:prstGeom>
          <a:solidFill>
            <a:srgbClr val="F9F8F5"/>
          </a:solidFill>
          <a:ln w="12700">
            <a:solidFill>
              <a:srgbClr val="F9F8F5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263640" y="3063240"/>
            <a:ext cx="73152" cy="1280160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583680" y="310896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Eurostat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583680" y="379476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jeux de données comparables pour les États de l’UE et de l’AELE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94360" y="4572000"/>
            <a:ext cx="5349240" cy="1371600"/>
          </a:xfrm>
          <a:prstGeom prst="roundRect">
            <a:avLst>
              <a:gd name="adj" fmla="val 6000"/>
            </a:avLst>
          </a:prstGeom>
          <a:solidFill>
            <a:srgbClr val="F9F8F5"/>
          </a:solidFill>
          <a:ln w="12700">
            <a:solidFill>
              <a:srgbClr val="F9F8F5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40080" y="4617720"/>
            <a:ext cx="73152" cy="1280160"/>
          </a:xfrm>
          <a:prstGeom prst="rect">
            <a:avLst/>
          </a:prstGeom>
          <a:solidFill>
            <a:srgbClr val="FFC24B"/>
          </a:solidFill>
          <a:ln w="12700">
            <a:solidFill>
              <a:srgbClr val="FFC24B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60120" y="46634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GBD Compare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60120" y="534924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estimations de modèle, 204 pays et territoires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217920" y="4572000"/>
            <a:ext cx="5349240" cy="1371600"/>
          </a:xfrm>
          <a:prstGeom prst="roundRect">
            <a:avLst>
              <a:gd name="adj" fmla="val 6000"/>
            </a:avLst>
          </a:prstGeom>
          <a:solidFill>
            <a:srgbClr val="F9F8F5"/>
          </a:solidFill>
          <a:ln w="12700">
            <a:solidFill>
              <a:srgbClr val="F9F8F5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6263640" y="4617720"/>
            <a:ext cx="73152" cy="1280160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583680" y="46634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Surveillance des maladies transmissibles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583680" y="534924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Institut national de santé publique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1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QUALITÉ DES DONNÉES · QUI REMPLIT LE CERTIFICAT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La ligne qui fait les statistiques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 rot="-72000">
            <a:off x="822960" y="1737360"/>
            <a:ext cx="5303520" cy="4023360"/>
          </a:xfrm>
          <a:prstGeom prst="rect">
            <a:avLst/>
          </a:prstGeom>
          <a:solidFill>
            <a:srgbClr val="FBF8F1"/>
          </a:solidFill>
          <a:ln w="9525">
            <a:solidFill>
              <a:srgbClr val="E4DFD2"/>
            </a:solidFill>
            <a:prstDash val="solid"/>
          </a:ln>
          <a:effectLst>
            <a:outerShdw sx="100000" sy="100000" kx="0" ky="0" algn="bl" rotWithShape="0" blurRad="127000" dist="63500" dir="36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 rot="-72000">
            <a:off x="1143000" y="20116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CERTIFICAT DE DÉCÈS · EXTRAIT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 rot="-72000">
            <a:off x="1143000" y="2377440"/>
            <a:ext cx="4663440" cy="18288"/>
          </a:xfrm>
          <a:prstGeom prst="rect">
            <a:avLst/>
          </a:prstGeom>
          <a:solidFill>
            <a:srgbClr val="11121A"/>
          </a:solidFill>
          <a:ln w="12700">
            <a:solidFill>
              <a:srgbClr val="11121A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 rot="-72000">
            <a:off x="1143000" y="265176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Cause directe : insuffisance cardiaque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 rot="-72000">
            <a:off x="1143000" y="3566160"/>
            <a:ext cx="46634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B0253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 rot="-72000">
            <a:off x="1325880" y="3566160"/>
            <a:ext cx="4297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Cause initiale : la maladie qui a déclenché la chaîne d’événements ________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22960" y="608076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8E94A8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Scène reconstituée ; le certificat est fictif.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675120" y="17830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Cinq problèmes qui reviennent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675120" y="2240280"/>
            <a:ext cx="49377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1. la sous-déclaration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2. le codage incorrect de la cause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3. des définitions différentes d’un pays à l’autre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4. le retard de publication : la dernière année avec causes de décès est 2023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5. les codes non spécifiques, sans la maladie qui a déclenché la chaîne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675120" y="498348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Toutes les statistiques sont construites à partir des certificats individuels.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LA ROUMANIE DANS L’UNION EUROPÉENNE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Où l’écart avec la moyenne de l’UE est le plus grand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26280" y="16002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Roumanie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532120" y="160020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812280" y="16002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rapport Roumanie ÷ UE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674429" y="1920240"/>
            <a:ext cx="27432" cy="3611880"/>
          </a:xfrm>
          <a:prstGeom prst="rect">
            <a:avLst/>
          </a:prstGeom>
          <a:solidFill>
            <a:srgbClr val="0E7C6B"/>
          </a:solidFill>
          <a:ln w="12700">
            <a:solidFill>
              <a:srgbClr val="0E7C6B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94360" y="1920240"/>
            <a:ext cx="10972800" cy="457200"/>
          </a:xfrm>
          <a:prstGeom prst="roundRect">
            <a:avLst>
              <a:gd name="adj" fmla="val 18000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31520" y="192024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Espérance de vie à la naissance (ans), 2024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26280" y="19202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76,5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532120" y="19202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81,5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458258" y="2011680"/>
            <a:ext cx="274320" cy="274320"/>
          </a:xfrm>
          <a:prstGeom prst="ellipse">
            <a:avLst/>
          </a:prstGeom>
          <a:solidFill>
            <a:srgbClr val="FF4757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9921240" y="192024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5,0 ans de moins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94360" y="2441448"/>
            <a:ext cx="10972800" cy="457200"/>
          </a:xfrm>
          <a:prstGeom prst="roundRect">
            <a:avLst>
              <a:gd name="adj" fmla="val 18000"/>
            </a:avLst>
          </a:prstGeom>
          <a:solidFill>
            <a:srgbClr val="F9F8F5"/>
          </a:solidFill>
          <a:ln w="12700">
            <a:solidFill>
              <a:srgbClr val="F9F8F5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" y="244144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Années de vie en bonne santé (Eurostat), 2024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26280" y="244144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65,0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532120" y="244144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65,2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7542005" y="2532888"/>
            <a:ext cx="274320" cy="274320"/>
          </a:xfrm>
          <a:prstGeom prst="ellipse">
            <a:avLst/>
          </a:prstGeom>
          <a:solidFill>
            <a:srgbClr val="585A64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9921240" y="2441448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rupture de série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4360" y="2962656"/>
            <a:ext cx="10972800" cy="457200"/>
          </a:xfrm>
          <a:prstGeom prst="roundRect">
            <a:avLst>
              <a:gd name="adj" fmla="val 18000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731520" y="2962656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Taux standardisé de mortalité, 2023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26280" y="2962656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1 376,1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532120" y="2962656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963,4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8161956" y="3054096"/>
            <a:ext cx="274320" cy="274320"/>
          </a:xfrm>
          <a:prstGeom prst="ellipse">
            <a:avLst/>
          </a:prstGeom>
          <a:solidFill>
            <a:srgbClr val="FF4757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9921240" y="2962656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" y="3483864"/>
            <a:ext cx="10972800" cy="457200"/>
          </a:xfrm>
          <a:prstGeom prst="roundRect">
            <a:avLst>
              <a:gd name="adj" fmla="val 18000"/>
            </a:avLst>
          </a:prstGeom>
          <a:solidFill>
            <a:srgbClr val="F9F8F5"/>
          </a:solidFill>
          <a:ln w="12700">
            <a:solidFill>
              <a:srgbClr val="F9F8F5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731520" y="3483864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Mortalité évitable par la prévention, 2023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526280" y="3483864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264,0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5532120" y="3483864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150,9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8623384" y="3575304"/>
            <a:ext cx="274320" cy="274320"/>
          </a:xfrm>
          <a:prstGeom prst="ellipse">
            <a:avLst/>
          </a:prstGeom>
          <a:solidFill>
            <a:srgbClr val="FF4757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9921240" y="3483864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environ trois quarts de plus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" y="4005072"/>
            <a:ext cx="10972800" cy="457200"/>
          </a:xfrm>
          <a:prstGeom prst="roundRect">
            <a:avLst>
              <a:gd name="adj" fmla="val 18000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731520" y="4005072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Mortalité évitable par les traitements, 2023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4526280" y="4005072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199,7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5532120" y="4005072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86,8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9415394" y="4096512"/>
            <a:ext cx="274320" cy="274320"/>
          </a:xfrm>
          <a:prstGeom prst="ellipse">
            <a:avLst/>
          </a:prstGeom>
          <a:solidFill>
            <a:srgbClr val="FF4757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9921240" y="4005072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plus de deux fois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594360" y="4526280"/>
            <a:ext cx="10972800" cy="457200"/>
          </a:xfrm>
          <a:prstGeom prst="roundRect">
            <a:avLst>
              <a:gd name="adj" fmla="val 18000"/>
            </a:avLst>
          </a:prstGeom>
          <a:solidFill>
            <a:srgbClr val="F9F8F5"/>
          </a:solidFill>
          <a:ln w="12700">
            <a:solidFill>
              <a:srgbClr val="F9F8F5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731520" y="452628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Mortalité infantile, 2024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4526280" y="45262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6,6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5532120" y="452628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3,5</a:t>
            </a:r>
            <a:endParaRPr lang="en-US" sz="1500" dirty="0"/>
          </a:p>
        </p:txBody>
      </p:sp>
      <p:sp>
        <p:nvSpPr>
          <p:cNvPr id="42" name="Shape 40"/>
          <p:cNvSpPr/>
          <p:nvPr/>
        </p:nvSpPr>
        <p:spPr>
          <a:xfrm>
            <a:off x="8819108" y="4617720"/>
            <a:ext cx="274320" cy="274320"/>
          </a:xfrm>
          <a:prstGeom prst="ellipse">
            <a:avLst/>
          </a:prstGeom>
          <a:solidFill>
            <a:srgbClr val="FF4757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9921240" y="452628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presque deux fois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594360" y="5047488"/>
            <a:ext cx="10972800" cy="457200"/>
          </a:xfrm>
          <a:prstGeom prst="roundRect">
            <a:avLst>
              <a:gd name="adj" fmla="val 18000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731520" y="504748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Dépenses de santé (% du PIB), 2023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4526280" y="504748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5,8</a:t>
            </a:r>
            <a:endParaRPr lang="en-US" sz="1500" dirty="0"/>
          </a:p>
        </p:txBody>
      </p:sp>
      <p:sp>
        <p:nvSpPr>
          <p:cNvPr id="47" name="Text 45"/>
          <p:cNvSpPr/>
          <p:nvPr/>
        </p:nvSpPr>
        <p:spPr>
          <a:xfrm>
            <a:off x="5532120" y="504748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9,9</a:t>
            </a:r>
            <a:endParaRPr lang="en-US" sz="1500" dirty="0"/>
          </a:p>
        </p:txBody>
      </p:sp>
      <p:sp>
        <p:nvSpPr>
          <p:cNvPr id="48" name="Shape 46"/>
          <p:cNvSpPr/>
          <p:nvPr/>
        </p:nvSpPr>
        <p:spPr>
          <a:xfrm>
            <a:off x="6951327" y="5138928"/>
            <a:ext cx="274320" cy="274320"/>
          </a:xfrm>
          <a:prstGeom prst="ellipse">
            <a:avLst/>
          </a:prstGeom>
          <a:solidFill>
            <a:srgbClr val="FF4757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9921240" y="5047488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bien sous la moyenne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594360" y="566928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Les années de vie en bonne santé ne servent ni pour ni contre les autres constats.</a:t>
            </a:r>
            <a:endParaRPr lang="en-US" sz="1500" dirty="0"/>
          </a:p>
        </p:txBody>
      </p:sp>
      <p:sp>
        <p:nvSpPr>
          <p:cNvPr id="51" name="Text 49"/>
          <p:cNvSpPr/>
          <p:nvPr/>
        </p:nvSpPr>
        <p:spPr>
          <a:xfrm>
            <a:off x="594360" y="6172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Source : Eurostat (indicateurs du tableau). Ligne verticale : moyenne de l’UE ; point rouge : Roumanie plus éloignée de la moyenne, dans le sens défavorable.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1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38160" y="292608"/>
            <a:ext cx="3337560" cy="420624"/>
          </a:xfrm>
          <a:prstGeom prst="roundRect">
            <a:avLst>
              <a:gd name="adj" fmla="val 50000"/>
            </a:avLst>
          </a:prstGeom>
          <a:solidFill>
            <a:srgbClr val="FFC24B"/>
          </a:solidFill>
          <a:ln w="12700">
            <a:solidFill>
              <a:srgbClr val="FFC24B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138160" y="292608"/>
            <a:ext cx="3337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GBD COMPARE · 5 MINUTES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" y="34747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TRAVAIL INDIVIDUEL, SUR TÉLÉPHONE OU ORDINATEUR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94360" y="713232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La charge de morbidité entre vos mains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94360" y="173736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868680" y="1892808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68680" y="18928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508760" y="1737360"/>
            <a:ext cx="9829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Sélectionnez la Roumanie.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94360" y="2578608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868680" y="2734056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68680" y="27340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508760" y="2578608"/>
            <a:ext cx="9829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L’année la plus récente, les deux sexes, tous les âges.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94360" y="3419856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68680" y="3575304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68680" y="35753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508760" y="3419856"/>
            <a:ext cx="9829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La mesure : DALY.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94360" y="4261104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868680" y="4416552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868680" y="44165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508760" y="4261104"/>
            <a:ext cx="9829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Identifiez les cinq premières causes.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594360" y="5102352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868680" y="5257800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868680" y="5257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508760" y="5102352"/>
            <a:ext cx="9829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Comparez avec l’Allemagne : quelles causes apparaissent dans un pays et pas dans l’autre ?</a:t>
            </a:r>
            <a:endParaRPr lang="en-US" sz="1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1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310896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94360" y="310896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060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TERME 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" y="77724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La garde de neurologie : qu’a perdu le patient ?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94360" y="1691640"/>
            <a:ext cx="51206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6E8E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Homme de quarante-cinq ans, accident vasculaire cérébral. Il survit, avec une hémiparésie et une aphasie, et ne peut plus reprendre son travail. La mortalité ne le compte pas : il n’est pas mort. La morbidité le compte une seule fois, comme n’importe qui.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035040" y="1691640"/>
            <a:ext cx="5532120" cy="4206240"/>
          </a:xfrm>
          <a:prstGeom prst="roundRect">
            <a:avLst>
              <a:gd name="adj" fmla="val 1957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309360" y="178308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DALY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6309360" y="265176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« les années de vie en bonne santé perdues, par décès prématuré ou par maladie »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309360" y="3858768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309360" y="385876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060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YLL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406640" y="374904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années perdues par décès : décès × espérance de vie de référence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309360" y="4818888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309360" y="481888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3B3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YLD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406640" y="470916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années vécues avec une incapacité : durée × pondération d’incapacité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94360" y="521208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DALY = YLL + YLD</a:t>
            </a:r>
            <a:endParaRPr lang="en-US" sz="26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1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292608"/>
            <a:ext cx="3337560" cy="420624"/>
          </a:xfrm>
          <a:prstGeom prst="roundRect">
            <a:avLst>
              <a:gd name="adj" fmla="val 50000"/>
            </a:avLst>
          </a:prstGeom>
          <a:solidFill>
            <a:srgbClr val="FFC24B"/>
          </a:solidFill>
          <a:ln w="12700">
            <a:solidFill>
              <a:srgbClr val="FFC24B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229600" y="292608"/>
            <a:ext cx="3337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MENTIMETER · ÉCHELLE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" y="34747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UNE ESTIMATION, SUR TÉLÉPHONE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94360" y="713232"/>
            <a:ext cx="7680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Quelle est la gravité de la perte complète de l’audition ?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3017520"/>
            <a:ext cx="534924" cy="502920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348740" y="3017520"/>
            <a:ext cx="534924" cy="502920"/>
          </a:xfrm>
          <a:prstGeom prst="rect">
            <a:avLst/>
          </a:prstGeom>
          <a:solidFill>
            <a:srgbClr val="32CCB9"/>
          </a:solidFill>
          <a:ln w="12700">
            <a:solidFill>
              <a:srgbClr val="32CCB9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1874520" y="3017520"/>
            <a:ext cx="534924" cy="502920"/>
          </a:xfrm>
          <a:prstGeom prst="rect">
            <a:avLst/>
          </a:prstGeom>
          <a:solidFill>
            <a:srgbClr val="3EC4B3"/>
          </a:solidFill>
          <a:ln w="12700">
            <a:solidFill>
              <a:srgbClr val="3EC4B3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2400300" y="3017520"/>
            <a:ext cx="534924" cy="502920"/>
          </a:xfrm>
          <a:prstGeom prst="rect">
            <a:avLst/>
          </a:prstGeom>
          <a:solidFill>
            <a:srgbClr val="49BDAE"/>
          </a:solidFill>
          <a:ln w="12700">
            <a:solidFill>
              <a:srgbClr val="49BDAE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2926080" y="3017520"/>
            <a:ext cx="534924" cy="502920"/>
          </a:xfrm>
          <a:prstGeom prst="rect">
            <a:avLst/>
          </a:prstGeom>
          <a:solidFill>
            <a:srgbClr val="54B6A8"/>
          </a:solidFill>
          <a:ln w="12700">
            <a:solidFill>
              <a:srgbClr val="54B6A8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3451860" y="3017520"/>
            <a:ext cx="534924" cy="502920"/>
          </a:xfrm>
          <a:prstGeom prst="rect">
            <a:avLst/>
          </a:prstGeom>
          <a:solidFill>
            <a:srgbClr val="60AEA3"/>
          </a:solidFill>
          <a:ln w="12700">
            <a:solidFill>
              <a:srgbClr val="60AEA3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3977640" y="3017520"/>
            <a:ext cx="534924" cy="502920"/>
          </a:xfrm>
          <a:prstGeom prst="rect">
            <a:avLst/>
          </a:prstGeom>
          <a:solidFill>
            <a:srgbClr val="6BA79D"/>
          </a:solidFill>
          <a:ln w="12700">
            <a:solidFill>
              <a:srgbClr val="6BA79D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4503420" y="3017520"/>
            <a:ext cx="534924" cy="502920"/>
          </a:xfrm>
          <a:prstGeom prst="rect">
            <a:avLst/>
          </a:prstGeom>
          <a:solidFill>
            <a:srgbClr val="779F98"/>
          </a:solidFill>
          <a:ln w="12700">
            <a:solidFill>
              <a:srgbClr val="779F98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5029200" y="3017520"/>
            <a:ext cx="534924" cy="502920"/>
          </a:xfrm>
          <a:prstGeom prst="rect">
            <a:avLst/>
          </a:prstGeom>
          <a:solidFill>
            <a:srgbClr val="829893"/>
          </a:solidFill>
          <a:ln w="12700">
            <a:solidFill>
              <a:srgbClr val="829893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5554980" y="3017520"/>
            <a:ext cx="534924" cy="502920"/>
          </a:xfrm>
          <a:prstGeom prst="rect">
            <a:avLst/>
          </a:prstGeom>
          <a:solidFill>
            <a:srgbClr val="8D918D"/>
          </a:solidFill>
          <a:ln w="12700">
            <a:solidFill>
              <a:srgbClr val="8D918D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6080760" y="3017520"/>
            <a:ext cx="534924" cy="502920"/>
          </a:xfrm>
          <a:prstGeom prst="rect">
            <a:avLst/>
          </a:prstGeom>
          <a:solidFill>
            <a:srgbClr val="998988"/>
          </a:solidFill>
          <a:ln w="12700">
            <a:solidFill>
              <a:srgbClr val="998988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606540" y="3017520"/>
            <a:ext cx="534924" cy="502920"/>
          </a:xfrm>
          <a:prstGeom prst="rect">
            <a:avLst/>
          </a:prstGeom>
          <a:solidFill>
            <a:srgbClr val="A48282"/>
          </a:solidFill>
          <a:ln w="12700">
            <a:solidFill>
              <a:srgbClr val="A48282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7132320" y="3017520"/>
            <a:ext cx="534924" cy="502920"/>
          </a:xfrm>
          <a:prstGeom prst="rect">
            <a:avLst/>
          </a:prstGeom>
          <a:solidFill>
            <a:srgbClr val="AF7B7D"/>
          </a:solidFill>
          <a:ln w="12700">
            <a:solidFill>
              <a:srgbClr val="AF7B7D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7658100" y="3017520"/>
            <a:ext cx="534924" cy="502920"/>
          </a:xfrm>
          <a:prstGeom prst="rect">
            <a:avLst/>
          </a:prstGeom>
          <a:solidFill>
            <a:srgbClr val="BB7378"/>
          </a:solidFill>
          <a:ln w="12700">
            <a:solidFill>
              <a:srgbClr val="BB7378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8183880" y="3017520"/>
            <a:ext cx="534924" cy="502920"/>
          </a:xfrm>
          <a:prstGeom prst="rect">
            <a:avLst/>
          </a:prstGeom>
          <a:solidFill>
            <a:srgbClr val="C66C72"/>
          </a:solidFill>
          <a:ln w="12700">
            <a:solidFill>
              <a:srgbClr val="C66C72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8709660" y="3017520"/>
            <a:ext cx="534924" cy="502920"/>
          </a:xfrm>
          <a:prstGeom prst="rect">
            <a:avLst/>
          </a:prstGeom>
          <a:solidFill>
            <a:srgbClr val="D2646D"/>
          </a:solidFill>
          <a:ln w="12700">
            <a:solidFill>
              <a:srgbClr val="D2646D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9235440" y="3017520"/>
            <a:ext cx="534924" cy="502920"/>
          </a:xfrm>
          <a:prstGeom prst="rect">
            <a:avLst/>
          </a:prstGeom>
          <a:solidFill>
            <a:srgbClr val="DD5D67"/>
          </a:solidFill>
          <a:ln w="12700">
            <a:solidFill>
              <a:srgbClr val="DD5D67"/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9761220" y="3017520"/>
            <a:ext cx="534924" cy="502920"/>
          </a:xfrm>
          <a:prstGeom prst="rect">
            <a:avLst/>
          </a:prstGeom>
          <a:solidFill>
            <a:srgbClr val="E85662"/>
          </a:solidFill>
          <a:ln w="12700">
            <a:solidFill>
              <a:srgbClr val="E85662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10287000" y="3017520"/>
            <a:ext cx="534924" cy="502920"/>
          </a:xfrm>
          <a:prstGeom prst="rect">
            <a:avLst/>
          </a:prstGeom>
          <a:solidFill>
            <a:srgbClr val="F44E5C"/>
          </a:solidFill>
          <a:ln w="12700">
            <a:solidFill>
              <a:srgbClr val="F44E5C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10812780" y="3017520"/>
            <a:ext cx="534924" cy="502920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731520" y="36576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0</a:t>
            </a:r>
            <a:endParaRPr lang="en-US" sz="3400" dirty="0"/>
          </a:p>
        </p:txBody>
      </p:sp>
      <p:sp>
        <p:nvSpPr>
          <p:cNvPr id="27" name="Text 25"/>
          <p:cNvSpPr/>
          <p:nvPr/>
        </p:nvSpPr>
        <p:spPr>
          <a:xfrm>
            <a:off x="822960" y="42976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5D8E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pleine santé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0332720" y="36576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FF475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</a:t>
            </a:r>
            <a:endParaRPr lang="en-US" sz="3400" dirty="0"/>
          </a:p>
        </p:txBody>
      </p:sp>
      <p:sp>
        <p:nvSpPr>
          <p:cNvPr id="29" name="Text 27"/>
          <p:cNvSpPr/>
          <p:nvPr/>
        </p:nvSpPr>
        <p:spPr>
          <a:xfrm>
            <a:off x="7863840" y="42976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dirty="0">
                <a:solidFill>
                  <a:srgbClr val="D5D8E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équivalent au décès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822960" y="19202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E6E8E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Pondération d’incapacité : un nombre entre 0 et 1, qui exprime la perte de santé associée à un état.</a:t>
            </a:r>
            <a:endParaRPr lang="en-US" sz="1900" dirty="0"/>
          </a:p>
        </p:txBody>
      </p:sp>
      <p:sp>
        <p:nvSpPr>
          <p:cNvPr id="31" name="Text 29"/>
          <p:cNvSpPr/>
          <p:nvPr/>
        </p:nvSpPr>
        <p:spPr>
          <a:xfrm>
            <a:off x="822960" y="52578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Quel nombre donneriez-vous à la perte complète de l’audition ?</a:t>
            </a:r>
            <a:endParaRPr lang="en-US" sz="2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LA RÉPONSE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 même état, deux pondérations : plus de six fois plus élevée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2468880"/>
            <a:ext cx="10515600" cy="457200"/>
          </a:xfrm>
          <a:prstGeom prst="rect">
            <a:avLst/>
          </a:prstGeom>
          <a:solidFill>
            <a:srgbClr val="ECEAE4"/>
          </a:solidFill>
          <a:ln w="9525">
            <a:solidFill>
              <a:srgbClr val="C9C6BE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987095" y="2514600"/>
            <a:ext cx="365760" cy="365760"/>
          </a:xfrm>
          <a:prstGeom prst="ellipse">
            <a:avLst/>
          </a:prstGeom>
          <a:solidFill>
            <a:srgbClr val="27D3BE"/>
          </a:solidFill>
          <a:ln w="1905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38455" y="16916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0,033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2695" y="30632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édition 2010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900934" y="2514600"/>
            <a:ext cx="365760" cy="365760"/>
          </a:xfrm>
          <a:prstGeom prst="ellipse">
            <a:avLst/>
          </a:prstGeom>
          <a:solidFill>
            <a:srgbClr val="FF4757"/>
          </a:solidFill>
          <a:ln w="1905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352294" y="16916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0,215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986534" y="30632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édition 2013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65760" y="2514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0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1430000" y="2514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22960" y="38404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Perte complète de l’audition : après la révision de la description de l’état, la pondération est passée de 0,033 à 0,215.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822960" y="4709160"/>
            <a:ext cx="10515600" cy="1280160"/>
          </a:xfrm>
          <a:prstGeom prst="roundRect">
            <a:avLst>
              <a:gd name="adj" fmla="val 6429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051560" y="470916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Les pondérations ne sont pas des mesures physiques, mais des jugements de valeur agrégés. Qui devrait les établir : la population générale, qui imagine l’état, ou les patients, qui l’ont vécu ?</a:t>
            </a:r>
            <a:endParaRPr lang="en-US" sz="17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LA RÉPONSE · DALY, GBD 2023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À la troisième place, une maladie qui ne tue pas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16459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Roumanie, 2023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94360" y="201168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Cardiopathie ischémique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063240" y="2066544"/>
            <a:ext cx="2743200" cy="475488"/>
          </a:xfrm>
          <a:prstGeom prst="roundRect">
            <a:avLst>
              <a:gd name="adj" fmla="val 9615"/>
            </a:avLst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897880" y="2066544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988 000 (12,9 %)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2724912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Accident vasculaire cérébral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063240" y="2779776"/>
            <a:ext cx="2101824" cy="475488"/>
          </a:xfrm>
          <a:prstGeom prst="roundRect">
            <a:avLst>
              <a:gd name="adj" fmla="val 9615"/>
            </a:avLst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5256504" y="2779776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757 000 (9,9 %)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94360" y="3438144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Lombalgie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063240" y="3493008"/>
            <a:ext cx="1066183" cy="475488"/>
          </a:xfrm>
          <a:prstGeom prst="roundRect">
            <a:avLst>
              <a:gd name="adj" fmla="val 9615"/>
            </a:avLst>
          </a:prstGeom>
          <a:solidFill>
            <a:srgbClr val="FFC24B"/>
          </a:solidFill>
          <a:ln w="12700">
            <a:solidFill>
              <a:srgbClr val="FFC24B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220863" y="3493008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384 000 (5,0 %)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94360" y="4151376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Cirrhose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063240" y="4206240"/>
            <a:ext cx="813520" cy="475488"/>
          </a:xfrm>
          <a:prstGeom prst="roundRect">
            <a:avLst>
              <a:gd name="adj" fmla="val 9615"/>
            </a:avLst>
          </a:prstGeom>
          <a:solidFill>
            <a:srgbClr val="9B7EF7"/>
          </a:solidFill>
          <a:ln w="12700">
            <a:solidFill>
              <a:srgbClr val="9B7EF7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3968200" y="4206240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293 000 (3,8 %)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94360" y="4864608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Cancer du poumon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063240" y="4919472"/>
            <a:ext cx="719118" cy="475488"/>
          </a:xfrm>
          <a:prstGeom prst="roundRect">
            <a:avLst>
              <a:gd name="adj" fmla="val 9615"/>
            </a:avLst>
          </a:prstGeom>
          <a:solidFill>
            <a:srgbClr val="9B7EF7"/>
          </a:solidFill>
          <a:ln w="12700">
            <a:solidFill>
              <a:srgbClr val="9B7EF7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3873798" y="4919472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259 000 (3,4 %)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94360" y="562356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Rangs 3 à 5 : les intervalles d’incertitude se chevauchent ; l’ordre n’est pas sûr.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955280" y="1645920"/>
            <a:ext cx="3611880" cy="4297680"/>
          </a:xfrm>
          <a:prstGeom prst="roundRect">
            <a:avLst>
              <a:gd name="adj" fmla="val 2278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8183880" y="17373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Allemagne, 2023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183880" y="2240280"/>
            <a:ext cx="32004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1. Cardiopathie ischémique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2. Chutes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3. Lombalgie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4. Maladie d’Alzheimer et autres démences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5. Accident vasculaire cérébral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183880" y="4572000"/>
            <a:ext cx="3200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En Roumanie dominent les maladies cardiovasculaires et la cirrhose apparaît ; en Allemagne, les chutes et la démence montent.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94360" y="638251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Source : IHME, Global Burden of Disease Study 2023, les deux sexes, tous les âges.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1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80960" y="292608"/>
            <a:ext cx="3337560" cy="420624"/>
          </a:xfrm>
          <a:prstGeom prst="roundRect">
            <a:avLst>
              <a:gd name="adj" fmla="val 50000"/>
            </a:avLst>
          </a:prstGeom>
          <a:solidFill>
            <a:srgbClr val="FFC24B"/>
          </a:solidFill>
          <a:ln w="12700">
            <a:solidFill>
              <a:srgbClr val="FFC24B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680960" y="292608"/>
            <a:ext cx="3337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RÉFLÉCHIR · À DEUX · PRÉSENTER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" y="34747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EXERCICE · 20 MINUTES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94360" y="713232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 DALY du patient de la garde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94360" y="1783080"/>
            <a:ext cx="10972800" cy="1737360"/>
          </a:xfrm>
          <a:prstGeom prst="roundRect">
            <a:avLst>
              <a:gd name="adj" fmla="val 4737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914400" y="1783080"/>
            <a:ext cx="10332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Accident vasculaire cérébral à 45 ans. Il vit 20 ans avec une incapacité de pondération 0,3 et meurt à 65 ans. Âge de référence, pour le calcul : 80 ans (valeur hypothétique).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594360" y="3749040"/>
            <a:ext cx="3520440" cy="960120"/>
          </a:xfrm>
          <a:prstGeom prst="roundRect">
            <a:avLst>
              <a:gd name="adj" fmla="val 8571"/>
            </a:avLst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22960" y="4023360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22960" y="4023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463040" y="3749040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Seul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2880360" y="3749040"/>
            <a:ext cx="1188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 minutes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343400" y="3749040"/>
            <a:ext cx="3520440" cy="960120"/>
          </a:xfrm>
          <a:prstGeom prst="roundRect">
            <a:avLst>
              <a:gd name="adj" fmla="val 8571"/>
            </a:avLst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4572000" y="4023360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572000" y="4023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212080" y="3749040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À deux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6629400" y="3749040"/>
            <a:ext cx="1188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 minutes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8092440" y="3749040"/>
            <a:ext cx="3520440" cy="960120"/>
          </a:xfrm>
          <a:prstGeom prst="roundRect">
            <a:avLst>
              <a:gd name="adj" fmla="val 8571"/>
            </a:avLst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8321040" y="4023360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8321040" y="4023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1120" y="3749040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Ensemble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10378440" y="3749040"/>
            <a:ext cx="1188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10 minutes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94360" y="50292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Que change-t-il si la pondération d’incapacité est beaucoup plus élevée ? Si le patient meurt beaucoup plus tôt ?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594360" y="5943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Valeurs construites.</a:t>
            </a:r>
            <a:endParaRPr lang="en-US" sz="12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LA RÉSOLUTION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DALY = 15 + 6 = 21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94360" y="1691640"/>
            <a:ext cx="6766560" cy="868680"/>
          </a:xfrm>
          <a:prstGeom prst="roundRect">
            <a:avLst>
              <a:gd name="adj" fmla="val 9474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68680" y="1965960"/>
            <a:ext cx="1005840" cy="329184"/>
          </a:xfrm>
          <a:prstGeom prst="roundRect">
            <a:avLst>
              <a:gd name="adj" fmla="val 50000"/>
            </a:avLst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68680" y="196596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060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YLL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057400" y="1691640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80 − 65 = 15 années perdues par décès prématuré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94360" y="2697480"/>
            <a:ext cx="6766560" cy="868680"/>
          </a:xfrm>
          <a:prstGeom prst="roundRect">
            <a:avLst>
              <a:gd name="adj" fmla="val 9474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68680" y="2971800"/>
            <a:ext cx="1005840" cy="329184"/>
          </a:xfrm>
          <a:prstGeom prst="roundRect">
            <a:avLst>
              <a:gd name="adj" fmla="val 50000"/>
            </a:avLst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68680" y="29718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3B3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YLD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057400" y="2697480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20 × 0,3 = 6 années perdues par incapacité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680960" y="1691640"/>
            <a:ext cx="3886200" cy="1874520"/>
          </a:xfrm>
          <a:prstGeom prst="roundRect">
            <a:avLst>
              <a:gd name="adj" fmla="val 4390"/>
            </a:avLst>
          </a:prstGeom>
          <a:solidFill>
            <a:srgbClr val="11121A"/>
          </a:solidFill>
          <a:ln w="12700">
            <a:solidFill>
              <a:srgbClr val="11121A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680960" y="1691640"/>
            <a:ext cx="38862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21</a:t>
            </a:r>
            <a:endParaRPr lang="en-US" sz="8400" dirty="0"/>
          </a:p>
        </p:txBody>
      </p:sp>
      <p:sp>
        <p:nvSpPr>
          <p:cNvPr id="14" name="Text 12"/>
          <p:cNvSpPr/>
          <p:nvPr/>
        </p:nvSpPr>
        <p:spPr>
          <a:xfrm>
            <a:off x="594360" y="38862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Si nous faisons varier les données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94360" y="4343400"/>
            <a:ext cx="10972800" cy="713232"/>
          </a:xfrm>
          <a:prstGeom prst="roundRect">
            <a:avLst>
              <a:gd name="adj" fmla="val 11538"/>
            </a:avLst>
          </a:prstGeom>
          <a:solidFill>
            <a:srgbClr val="F9F8F5"/>
          </a:solidFill>
          <a:ln w="12700">
            <a:solidFill>
              <a:srgbClr val="F9F8F5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68680" y="4343400"/>
            <a:ext cx="2926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Pondération 0,8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3840480" y="4343400"/>
            <a:ext cx="7498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YLD = 20 × 0,8 = 16 ; DALY = 15 + 16 = 31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594360" y="5166360"/>
            <a:ext cx="10972800" cy="713232"/>
          </a:xfrm>
          <a:prstGeom prst="roundRect">
            <a:avLst>
              <a:gd name="adj" fmla="val 11538"/>
            </a:avLst>
          </a:prstGeom>
          <a:solidFill>
            <a:srgbClr val="F9F8F5"/>
          </a:solidFill>
          <a:ln w="12700">
            <a:solidFill>
              <a:srgbClr val="F9F8F5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868680" y="5166360"/>
            <a:ext cx="2926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Décès à 50 ans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3840480" y="5166360"/>
            <a:ext cx="7498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YLL = 80 − 50 = 30 ; YLD = 5 × 0,3 = 1,5 ; DALY = 31,5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594360" y="59893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L’âge de référence de 80 ans est hypothétique : le GBD n’utilise pas d’âge limite. Le décès prématuré déplace la charge vers les années perdues par décès.</a:t>
            </a:r>
            <a:endParaRPr lang="en-US" sz="13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1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292608"/>
            <a:ext cx="3337560" cy="420624"/>
          </a:xfrm>
          <a:prstGeom prst="roundRect">
            <a:avLst>
              <a:gd name="adj" fmla="val 50000"/>
            </a:avLst>
          </a:prstGeom>
          <a:solidFill>
            <a:srgbClr val="FFC24B"/>
          </a:solidFill>
          <a:ln w="12700">
            <a:solidFill>
              <a:srgbClr val="FFC24B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229600" y="292608"/>
            <a:ext cx="3337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MENTIMETER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" y="34747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UN VOTE, SUR TÉLÉPHONE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94360" y="713232"/>
            <a:ext cx="7680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Qui perd le plus : la fillette ou l’homme ?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94360" y="1783080"/>
            <a:ext cx="5303520" cy="3108960"/>
          </a:xfrm>
          <a:prstGeom prst="roundRect">
            <a:avLst>
              <a:gd name="adj" fmla="val 2647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960120" y="19202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F475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LA FILLETTE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60120" y="2468880"/>
            <a:ext cx="4572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 ans. Incapacité légère, de pondération 0,1. Elle vit avec cette incapacité pendant 70 ans, jusqu’à 75 ans.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6263640" y="1783080"/>
            <a:ext cx="5303520" cy="3108960"/>
          </a:xfrm>
          <a:prstGeom prst="roundRect">
            <a:avLst>
              <a:gd name="adj" fmla="val 2647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29400" y="19202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L’HOMME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629400" y="2468880"/>
            <a:ext cx="4572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60 ans. Incapacité grave, de pondération 0,8. Il vit avec cette incapacité pendant 10 ans, jusqu’à 70 ans.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52120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Âge de référence : 80 ans. Votez : qui a le DALY le plus élevé ?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94360" y="5943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Valeurs construites.</a:t>
            </a:r>
            <a:endParaRPr lang="en-US" sz="1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LA RÉSOLUTION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L’homme : 18. La fillette : 12.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68680" y="1783080"/>
            <a:ext cx="2377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La fillette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3291840" y="1783080"/>
            <a:ext cx="30175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YLD = 70 × 0,1 = 7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0" y="1783080"/>
            <a:ext cx="30175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YLL = 80 − 75 = 5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555480" y="1920240"/>
            <a:ext cx="1783080" cy="960120"/>
          </a:xfrm>
          <a:prstGeom prst="roundRect">
            <a:avLst>
              <a:gd name="adj" fmla="val 8571"/>
            </a:avLst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9555480" y="1920240"/>
            <a:ext cx="1783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E060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12</a:t>
            </a:r>
            <a:endParaRPr lang="en-US" sz="4000" dirty="0"/>
          </a:p>
        </p:txBody>
      </p:sp>
      <p:sp>
        <p:nvSpPr>
          <p:cNvPr id="10" name="Shape 8"/>
          <p:cNvSpPr/>
          <p:nvPr/>
        </p:nvSpPr>
        <p:spPr>
          <a:xfrm>
            <a:off x="594360" y="3200400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68680" y="3200400"/>
            <a:ext cx="2377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L’homme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291840" y="3200400"/>
            <a:ext cx="30175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YLD = 10 × 0,8 = 8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00800" y="3200400"/>
            <a:ext cx="30175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YLL = 80 − 70 = 10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555480" y="3337560"/>
            <a:ext cx="1783080" cy="960120"/>
          </a:xfrm>
          <a:prstGeom prst="roundRect">
            <a:avLst>
              <a:gd name="adj" fmla="val 8571"/>
            </a:avLst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555480" y="3337560"/>
            <a:ext cx="1783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73B3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18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594360" y="475488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Dans cet exemple, la gravité de l’incapacité et le décès plus précoce pèsent plus que la longue durée d’une incapacité légère. Ce n’est pas une règle : avec d’autres valeurs, la conclusion peut s’inverser.</a:t>
            </a:r>
            <a:endParaRPr lang="en-US" sz="18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292608"/>
            <a:ext cx="3337560" cy="420624"/>
          </a:xfrm>
          <a:prstGeom prst="roundRect">
            <a:avLst>
              <a:gd name="adj" fmla="val 50000"/>
            </a:avLst>
          </a:prstGeom>
          <a:solidFill>
            <a:srgbClr val="FFC24B"/>
          </a:solidFill>
          <a:ln w="12700">
            <a:solidFill>
              <a:srgbClr val="FFC24B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229600" y="292608"/>
            <a:ext cx="3337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MENTIMETER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" y="34747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 QUE L’ON GAGNE · LA COMMISSION QUI DÉCIDE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94360" y="713232"/>
            <a:ext cx="7680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La commission : un médicament nouveau, coûteux, qui change la qualité de vie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94360" y="1828800"/>
            <a:ext cx="5120640" cy="2103120"/>
          </a:xfrm>
          <a:prstGeom prst="roundRect">
            <a:avLst>
              <a:gd name="adj" fmla="val 3913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68680" y="187452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QALY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868680" y="256032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les années de vie pondérées par leur qualité, de 0 à 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68680" y="32004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QALY = années × utilité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6035040" y="1828800"/>
            <a:ext cx="5532120" cy="2103120"/>
          </a:xfrm>
          <a:prstGeom prst="roundRect">
            <a:avLst>
              <a:gd name="adj" fmla="val 3913"/>
            </a:avLst>
          </a:prstGeom>
          <a:solidFill>
            <a:srgbClr val="11121A"/>
          </a:solidFill>
          <a:ln w="12700">
            <a:solidFill>
              <a:srgbClr val="11121A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1828800"/>
            <a:ext cx="50292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Il vous reste 30 ans à vivre avec une maladie chronique qui limite fortement vos activités. Combien d’années échangeriez-vous pour vivre le reste en pleine santé ?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94360" y="4206240"/>
            <a:ext cx="10972800" cy="1508760"/>
          </a:xfrm>
          <a:prstGeom prst="roundRect">
            <a:avLst>
              <a:gd name="adj" fmla="val 5455"/>
            </a:avLst>
          </a:prstGeom>
          <a:solidFill>
            <a:srgbClr val="F9F8F5"/>
          </a:solidFill>
          <a:ln w="12700">
            <a:solidFill>
              <a:srgbClr val="F9F8F5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68680" y="42519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 que signifient les réponses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68680" y="466344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Celui qui cède 5 de ses 30 ans attribue à l’état de maladie l’utilité (30 − 5) ÷ 30 = 0,83. Celui qui cède 10 ans : 0,67. Les réponses diffèrent : l’utilité est un jugement de valeur.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594360" y="5943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Valeurs construites.</a:t>
            </a:r>
            <a:endParaRPr lang="en-US" sz="12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À LIRE À LA MAISON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Trois mesures, trois questions différentes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3520440" cy="3154680"/>
          </a:xfrm>
          <a:prstGeom prst="roundRect">
            <a:avLst>
              <a:gd name="adj" fmla="val 2609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68680" y="196596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68680" y="196596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060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DALY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256032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Quelles maladies causent la plus grande perte dans une population ?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68680" y="39319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compare la charge des maladies et fixe des priorités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343400" y="1783080"/>
            <a:ext cx="3520440" cy="3154680"/>
          </a:xfrm>
          <a:prstGeom prst="roundRect">
            <a:avLst>
              <a:gd name="adj" fmla="val 2609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4617720" y="196596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FFC24B"/>
          </a:solidFill>
          <a:ln w="12700">
            <a:solidFill>
              <a:srgbClr val="FFC24B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617720" y="196596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D2A0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QALY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617720" y="256032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Un nouveau médicament mérite-t-il d’être financé ?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4617720" y="39319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évalue le rapport coût-efficacité d’une intervention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092440" y="1783080"/>
            <a:ext cx="3520440" cy="3154680"/>
          </a:xfrm>
          <a:prstGeom prst="roundRect">
            <a:avLst>
              <a:gd name="adj" fmla="val 2609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366760" y="196596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366760" y="196596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3B3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HALE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366760" y="256032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Comment évolue, dans l’ensemble, la santé d’une population ?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8366760" y="39319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suit la santé de la population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94360" y="52120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Dans les notes, aux sections sur le QALY et l’espérance de vie en bonne santé : les seuils utilisés au Royaume-Uni et la loi américaine, les années vécues en bonne santé, la comparaison complète.</a:t>
            </a:r>
            <a:endParaRPr lang="en-US" sz="17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1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DES DONNÉES À LA DÉCISION · DÈS DEMAIN, EN TANT QUE MÉDECINS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 que vous ferez différemment, dès demain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94360" y="1691640"/>
            <a:ext cx="1600200" cy="566928"/>
          </a:xfrm>
          <a:prstGeom prst="roundRect">
            <a:avLst>
              <a:gd name="adj" fmla="val 14516"/>
            </a:avLst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691640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données brutes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03704" y="1810512"/>
            <a:ext cx="256032" cy="329184"/>
          </a:xfrm>
          <a:prstGeom prst="rightArrow">
            <a:avLst/>
          </a:prstGeom>
          <a:solidFill>
            <a:srgbClr val="959BB0"/>
          </a:solidFill>
          <a:ln w="12700">
            <a:solidFill>
              <a:srgbClr val="959BB0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2468880" y="1691640"/>
            <a:ext cx="1600200" cy="566928"/>
          </a:xfrm>
          <a:prstGeom prst="roundRect">
            <a:avLst>
              <a:gd name="adj" fmla="val 14516"/>
            </a:avLst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606040" y="1691640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indicateurs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078224" y="1810512"/>
            <a:ext cx="256032" cy="329184"/>
          </a:xfrm>
          <a:prstGeom prst="rightArrow">
            <a:avLst/>
          </a:prstGeom>
          <a:solidFill>
            <a:srgbClr val="959BB0"/>
          </a:solidFill>
          <a:ln w="12700">
            <a:solidFill>
              <a:srgbClr val="959BB0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4343400" y="1691640"/>
            <a:ext cx="1600200" cy="566928"/>
          </a:xfrm>
          <a:prstGeom prst="roundRect">
            <a:avLst>
              <a:gd name="adj" fmla="val 14516"/>
            </a:avLst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480560" y="1691640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comparaisons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952744" y="1810512"/>
            <a:ext cx="256032" cy="329184"/>
          </a:xfrm>
          <a:prstGeom prst="rightArrow">
            <a:avLst/>
          </a:prstGeom>
          <a:solidFill>
            <a:srgbClr val="959BB0"/>
          </a:solidFill>
          <a:ln w="12700">
            <a:solidFill>
              <a:srgbClr val="959BB0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217920" y="1691640"/>
            <a:ext cx="1600200" cy="566928"/>
          </a:xfrm>
          <a:prstGeom prst="roundRect">
            <a:avLst>
              <a:gd name="adj" fmla="val 14516"/>
            </a:avLst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355080" y="1691640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priorités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827264" y="1810512"/>
            <a:ext cx="256032" cy="329184"/>
          </a:xfrm>
          <a:prstGeom prst="rightArrow">
            <a:avLst/>
          </a:prstGeom>
          <a:solidFill>
            <a:srgbClr val="959BB0"/>
          </a:solidFill>
          <a:ln w="12700">
            <a:solidFill>
              <a:srgbClr val="959BB0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8092440" y="1691640"/>
            <a:ext cx="1600200" cy="566928"/>
          </a:xfrm>
          <a:prstGeom prst="roundRect">
            <a:avLst>
              <a:gd name="adj" fmla="val 14516"/>
            </a:avLst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8229600" y="1691640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interventions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9701784" y="1810512"/>
            <a:ext cx="256032" cy="329184"/>
          </a:xfrm>
          <a:prstGeom prst="rightArrow">
            <a:avLst/>
          </a:prstGeom>
          <a:solidFill>
            <a:srgbClr val="959BB0"/>
          </a:solidFill>
          <a:ln w="12700">
            <a:solidFill>
              <a:srgbClr val="959BB0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9966960" y="1691640"/>
            <a:ext cx="1600200" cy="566928"/>
          </a:xfrm>
          <a:prstGeom prst="roundRect">
            <a:avLst>
              <a:gd name="adj" fmla="val 14516"/>
            </a:avLst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10104120" y="1691640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évaluation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94360" y="2606040"/>
            <a:ext cx="5349240" cy="1463040"/>
          </a:xfrm>
          <a:prstGeom prst="roundRect">
            <a:avLst>
              <a:gd name="adj" fmla="val 5625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822960" y="2834640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822960" y="28346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508760" y="2606040"/>
            <a:ext cx="4297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Lorsque vous lisez une comparaison de mortalité, demandez d’abord si les taux sont standardisés et sur quel standard.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6217920" y="2606040"/>
            <a:ext cx="5349240" cy="1463040"/>
          </a:xfrm>
          <a:prstGeom prst="roundRect">
            <a:avLst>
              <a:gd name="adj" fmla="val 5625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6446520" y="2834640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6446520" y="28346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7132320" y="2606040"/>
            <a:ext cx="4297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Lorsque vous remplissez un certificat de décès, inscrivez la cause initiale le plus précisément possible : c’est de lui que viennent toutes les statistiques.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94360" y="4251960"/>
            <a:ext cx="5349240" cy="1463040"/>
          </a:xfrm>
          <a:prstGeom prst="roundRect">
            <a:avLst>
              <a:gd name="adj" fmla="val 5625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822960" y="4480560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822960" y="44805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508760" y="4251960"/>
            <a:ext cx="4297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Lorsqu’un patient vous dit qu’il « n’a rien », mesurez la tension artérielle : une maladie inconnue ne se déclare pas.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217920" y="4251960"/>
            <a:ext cx="5349240" cy="1463040"/>
          </a:xfrm>
          <a:prstGeom prst="roundRect">
            <a:avLst>
              <a:gd name="adj" fmla="val 5625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6446520" y="4480560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6446520" y="44805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132320" y="4251960"/>
            <a:ext cx="4297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Lorsque vous entendez qu’une maladie « est prioritaire », demandez quel indicateur a été utilisé et qui est resté en dehors du calcul.</a:t>
            </a:r>
            <a:endParaRPr lang="en-US" sz="16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À RETENIR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Cinq idées du cours d’aujourd’hui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554480"/>
            <a:ext cx="10972800" cy="658368"/>
          </a:xfrm>
          <a:prstGeom prst="roundRect">
            <a:avLst>
              <a:gd name="adj" fmla="val 12500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68680" y="1673352"/>
            <a:ext cx="420624" cy="420624"/>
          </a:xfrm>
          <a:prstGeom prst="ellipse">
            <a:avLst/>
          </a:prstGeom>
          <a:solidFill>
            <a:srgbClr val="FF4757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68680" y="16733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060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508760" y="1554480"/>
            <a:ext cx="9829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 taux brut mélange le risque par âge et le vieillissement de la population.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94360" y="2304288"/>
            <a:ext cx="10972800" cy="658368"/>
          </a:xfrm>
          <a:prstGeom prst="roundRect">
            <a:avLst>
              <a:gd name="adj" fmla="val 12500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68680" y="2423160"/>
            <a:ext cx="420624" cy="420624"/>
          </a:xfrm>
          <a:prstGeom prst="ellipse">
            <a:avLst/>
          </a:prstGeom>
          <a:solidFill>
            <a:srgbClr val="FF4757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68680" y="24231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060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508760" y="2304288"/>
            <a:ext cx="9829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Deux populations se comparent d’après les taux standardisés ou les taux par âge.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94360" y="3054096"/>
            <a:ext cx="10972800" cy="658368"/>
          </a:xfrm>
          <a:prstGeom prst="roundRect">
            <a:avLst>
              <a:gd name="adj" fmla="val 12500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68680" y="3172968"/>
            <a:ext cx="420624" cy="420624"/>
          </a:xfrm>
          <a:prstGeom prst="ellipse">
            <a:avLst/>
          </a:prstGeom>
          <a:solidFill>
            <a:srgbClr val="FF4757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68680" y="3172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060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508760" y="3054096"/>
            <a:ext cx="9829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 taux standardisé est un instrument de comparaison, et non le nombre réel de décès.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94360" y="3803904"/>
            <a:ext cx="10972800" cy="658368"/>
          </a:xfrm>
          <a:prstGeom prst="roundRect">
            <a:avLst>
              <a:gd name="adj" fmla="val 12500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68680" y="3922776"/>
            <a:ext cx="420624" cy="420624"/>
          </a:xfrm>
          <a:prstGeom prst="ellipse">
            <a:avLst/>
          </a:prstGeom>
          <a:solidFill>
            <a:srgbClr val="FF4757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68680" y="39227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060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508760" y="3803904"/>
            <a:ext cx="9829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La prévalence dépend des nouveaux cas et de la durée de la maladie : un traitement qui prolonge la vie l’augmente.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94360" y="4553712"/>
            <a:ext cx="10972800" cy="658368"/>
          </a:xfrm>
          <a:prstGeom prst="roundRect">
            <a:avLst>
              <a:gd name="adj" fmla="val 12500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868680" y="4672584"/>
            <a:ext cx="420624" cy="420624"/>
          </a:xfrm>
          <a:prstGeom prst="ellipse">
            <a:avLst/>
          </a:prstGeom>
          <a:solidFill>
            <a:srgbClr val="FF4757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868680" y="46725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060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508760" y="4553712"/>
            <a:ext cx="9829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DALY, QALY et HALE répondent à des questions différentes ; aucune ne remplace les autres.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94360" y="5440680"/>
            <a:ext cx="10972800" cy="868680"/>
          </a:xfrm>
          <a:prstGeom prst="roundRect">
            <a:avLst>
              <a:gd name="adj" fmla="val 9474"/>
            </a:avLst>
          </a:prstGeom>
          <a:solidFill>
            <a:srgbClr val="11121A"/>
          </a:solidFill>
          <a:ln w="12700">
            <a:solidFill>
              <a:srgbClr val="11121A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868680" y="5440680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Revenons aux deux pays : la différence d’années de vie en bonne santé entre la Roumanie et la Lettonie ne peut pas se lire comme une différence réelle de santé.</a:t>
            </a:r>
            <a:endParaRPr lang="en-US" sz="16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1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822960"/>
            <a:ext cx="5120640" cy="329184"/>
          </a:xfrm>
          <a:prstGeom prst="roundRect">
            <a:avLst>
              <a:gd name="adj" fmla="val 50000"/>
            </a:avLst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85800" y="82296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060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LES CINQ DERNIÈRES MINUTES · ANONYME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3716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Trois questions pour finir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914400" y="2670048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14400" y="26700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600200" y="251460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Qu’est-ce qui a été utile aujourd’hui ?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914400" y="3538728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914400" y="35387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600200" y="338328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Où vous ai-je perdus ?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914400" y="4407408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914400" y="44074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600200" y="425196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Que pourriez-vous utiliser demain ?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8549640" y="2514600"/>
            <a:ext cx="3017520" cy="24688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8549640" y="2514600"/>
            <a:ext cx="3017520" cy="2468880"/>
          </a:xfrm>
          <a:prstGeom prst="rect">
            <a:avLst/>
          </a:prstGeom>
          <a:noFill/>
          <a:ln/>
        </p:spPr>
        <p:txBody>
          <a:bodyPr wrap="square" lIns="228600" tIns="0" rIns="228600" bIns="0" rtlCol="0" anchor="ctr"/>
          <a:lstStyle/>
          <a:p>
            <a:pPr algn="ctr" indent="0" marL="0">
              <a:buNone/>
            </a:pPr>
            <a:r>
              <a:rPr lang="en-US" sz="1800" dirty="0" i="1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Mentimeter : entrez sur menti.com avec le code affiché à l’écran.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94360" y="53492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Début du prochain cours : deux modifications, faites à partir de vos réponses.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43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Cours 2 - Comment savons-nous si une population est en bonne santé ?</dc:title>
  <dc:subject>PptxGenJS Presentation</dc:subject>
  <dc:creator>Conf. Univ. Dr. Adrian Pana</dc:creator>
  <cp:lastModifiedBy>Conf. Univ. Dr. Adrian Pana</cp:lastModifiedBy>
  <cp:revision>1</cp:revision>
  <dcterms:created xsi:type="dcterms:W3CDTF">2026-10-03T22:47:46Z</dcterms:created>
  <dcterms:modified xsi:type="dcterms:W3CDTF">2026-10-03T22:47:46Z</dcterms:modified>
  <cp:keywords>sursa_amprenta=91ea9312bf7b5a3e; proiectie</cp:keywords>
</cp:coreProperties>
</file>