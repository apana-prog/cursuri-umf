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Lucrarea practică aplică noțiunile cursului pe afecțiunea-ancoră aleasă.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Lucrarea are două părți: profilul CIF al unui caz și povara afecțiunii în România.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Cele cinci idei sunt criteriile după care se judecă Fișa de lucru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Fiecare student lucrează individual, pe afecțiunea aleasă la curs.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Verificați acum accesul la instrumente.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Profilul se construiește de la problema de sănătate la contextul de viață al persoanei.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Obiectivul de la ultimul pas descrie o situație de viață, nu numai o funcție a corpului.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Diferența indică unde intervine mediul.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Citiți cazul și identificați elementele fiecărei componente CIF.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Răspundeți la întrebări pe baza textului cazului.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Citiți cazul și identificați elementele fiecărei componente CIF.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Răspundeți la întrebări pe baza textului cazului.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Citiți cazul și identificați elementele fiecărei componente CIF.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Răspundeți la întrebări pe baza textului cazului.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Completați tabelul pentru cazul afecțiunii alese.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Cele două confuzii apar cel mai des în fișe.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Aceeași afecțiune, privită la nivelul populației României.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Pentru afecțiunea aleasă se caută numărul, anii trăiți cu dizabilitate și evoluția lor în timp.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Pentru fractura de șold se folosește cauza căderilor, din categoria traumatismelor.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Instrumentul OMS este public și folosește runda GBD 2021.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Numărul și rata standardizată pot evolua diferit.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Numărul arată volumul nevoii; rata standardizată arată riscul la aceeași vârstă.</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Cadrul didactic verifică, la fiecare student, citarea completă a primei valori extrase.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Anii de viață sănătoasă numără anii trăiți fără limitări ale activităților obișnuite.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Marcajele se trec lângă fiecare valoare.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Fiecare valoare din tabelul poverii se trece împreună cu citarea completă.</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Aceeași afecțiune, privită de aproape și de departe.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Ruptura de serie arată o schimbare a metodei, deci valorile nu formează o tendință.</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Profilul CIF arată ce înseamnă afecțiunea pentru o persoană; datele GBD arată câte persoane trăiesc cu ea.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Câte un student pentru fiecare afecțiune prezintă bariera principală și cifra de povară.</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Criteriile sunt cele din fișa disciplinei pentru portofoliu.</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Aceste limite se trec și în fișă, lângă constatare.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Fișa se trimite prin e-mail titularului, la finalul întâlnirii sau în cel mult 48 de ore.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3F4B"/>
        </a:solidFill>
        <a:effectLst/>
      </p:bgPr>
    </p:bg>
    <p:spTree>
      <p:nvGrpSpPr>
        <p:cNvPr id="1" name=""/>
        <p:cNvGrpSpPr/>
        <p:nvPr/>
      </p:nvGrpSpPr>
      <p:grpSpPr/>
      <p:sp>
        <p:nvSpPr>
          <p:cNvPr id="2" name="Rectangle 1"/>
          <p:cNvSpPr/>
          <p:nvPr/>
        </p:nvSpPr>
        <p:spPr>
          <a:xfrm>
            <a:off x="0" y="6748272"/>
            <a:ext cx="9509522" cy="109728"/>
          </a:xfrm>
          <a:prstGeom prst="rect">
            <a:avLst/>
          </a:prstGeom>
          <a:solidFill>
            <a:srgbClr val="D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6748272"/>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0"/>
            <a:ext cx="10911535" cy="2011680"/>
          </a:xfrm>
          <a:prstGeom prst="rect">
            <a:avLst/>
          </a:prstGeom>
          <a:noFill/>
        </p:spPr>
        <p:txBody>
          <a:bodyPr wrap="square" lIns="0" rIns="0" tIns="0" bIns="0" anchor="ctr">
            <a:spAutoFit/>
          </a:bodyPr>
          <a:lstStyle/>
          <a:p>
            <a:pPr algn="l">
              <a:spcAft>
                <a:spcPts val="1539"/>
              </a:spcAft>
            </a:pPr>
            <a:r>
              <a:rPr sz="4400" b="1">
                <a:solidFill>
                  <a:srgbClr val="FFFFFF"/>
                </a:solidFill>
                <a:latin typeface="Cambria"/>
              </a:rPr>
              <a:t>Profilul afecțiunii-ancoră</a:t>
            </a:r>
          </a:p>
        </p:txBody>
      </p:sp>
      <p:sp>
        <p:nvSpPr>
          <p:cNvPr id="5" name="TextBox 4"/>
          <p:cNvSpPr txBox="1"/>
          <p:nvPr/>
        </p:nvSpPr>
        <p:spPr>
          <a:xfrm>
            <a:off x="640080" y="4114800"/>
            <a:ext cx="10911535" cy="731520"/>
          </a:xfrm>
          <a:prstGeom prst="rect">
            <a:avLst/>
          </a:prstGeom>
          <a:noFill/>
        </p:spPr>
        <p:txBody>
          <a:bodyPr wrap="square" lIns="0" rIns="0" tIns="0" bIns="0" anchor="t">
            <a:spAutoFit/>
          </a:bodyPr>
          <a:lstStyle/>
          <a:p>
            <a:pPr algn="l">
              <a:spcAft>
                <a:spcPts val="630"/>
              </a:spcAft>
            </a:pPr>
            <a:r>
              <a:rPr sz="1800" b="0">
                <a:solidFill>
                  <a:srgbClr val="D4E6EA"/>
                </a:solidFill>
                <a:latin typeface="Calibri"/>
              </a:rPr>
              <a:t>Prima lucrare practică · Balneofiziokinetoterapie și recuperare, anul III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D4E6EA"/>
                </a:solidFill>
                <a:latin typeface="Calibri"/>
              </a:rPr>
              <a:t>1/33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Obiectivele lucrării</a:t>
            </a:r>
          </a:p>
        </p:txBody>
      </p:sp>
      <p:sp>
        <p:nvSpPr>
          <p:cNvPr id="5" name="TextBox 4"/>
          <p:cNvSpPr txBox="1"/>
          <p:nvPr/>
        </p:nvSpPr>
        <p:spPr>
          <a:xfrm>
            <a:off x="640080" y="1600200"/>
            <a:ext cx="10911535" cy="303022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Profilul CIF al unui caz</a:t>
            </a:r>
          </a:p>
          <a:p>
            <a:pPr algn="l">
              <a:spcAft>
                <a:spcPts val="910"/>
              </a:spcAft>
            </a:pPr>
            <a:r>
              <a:rPr sz="2600" b="0">
                <a:solidFill>
                  <a:srgbClr val="15171C"/>
                </a:solidFill>
                <a:latin typeface="Calibri"/>
              </a:rPr>
              <a:t>•  Barierele, facilitatorii și obiectivul la nivelul participării</a:t>
            </a:r>
          </a:p>
          <a:p>
            <a:pPr algn="l">
              <a:spcAft>
                <a:spcPts val="910"/>
              </a:spcAft>
            </a:pPr>
            <a:r>
              <a:rPr sz="2600" b="0">
                <a:solidFill>
                  <a:srgbClr val="15171C"/>
                </a:solidFill>
                <a:latin typeface="Calibri"/>
              </a:rPr>
              <a:t>•  Prevalența, anii trăiți cu dizabilitate și tendința, dintr-un instrument GBD</a:t>
            </a:r>
          </a:p>
          <a:p>
            <a:pPr algn="l">
              <a:spcAft>
                <a:spcPts val="910"/>
              </a:spcAft>
            </a:pPr>
            <a:r>
              <a:rPr sz="2600" b="0">
                <a:solidFill>
                  <a:srgbClr val="15171C"/>
                </a:solidFill>
                <a:latin typeface="Calibri"/>
              </a:rPr>
              <a:t>•  Anii de viață sănătoasă: România și UE</a:t>
            </a:r>
          </a:p>
          <a:p>
            <a:pPr algn="l">
              <a:spcAft>
                <a:spcPts val="910"/>
              </a:spcAft>
            </a:pPr>
            <a:r>
              <a:rPr sz="2600" b="0">
                <a:solidFill>
                  <a:srgbClr val="15171C"/>
                </a:solidFill>
                <a:latin typeface="Calibri"/>
              </a:rPr>
              <a:t>•  Citarea exactă a fiecărei valori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2EFF1"/>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Idei-cheie</a:t>
            </a:r>
          </a:p>
        </p:txBody>
      </p:sp>
      <p:sp>
        <p:nvSpPr>
          <p:cNvPr id="5" name="TextBox 4"/>
          <p:cNvSpPr txBox="1"/>
          <p:nvPr/>
        </p:nvSpPr>
        <p:spPr>
          <a:xfrm>
            <a:off x="640080" y="1600200"/>
            <a:ext cx="10911535" cy="261747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Același diagnostic, profiluri diferite</a:t>
            </a:r>
          </a:p>
          <a:p>
            <a:pPr algn="l">
              <a:spcAft>
                <a:spcPts val="910"/>
              </a:spcAft>
            </a:pPr>
            <a:r>
              <a:rPr sz="2600" b="0">
                <a:solidFill>
                  <a:srgbClr val="15171C"/>
                </a:solidFill>
                <a:latin typeface="Calibri"/>
              </a:rPr>
              <a:t>•  Mediul: barieră sau facilitator</a:t>
            </a:r>
          </a:p>
          <a:p>
            <a:pPr algn="l">
              <a:spcAft>
                <a:spcPts val="910"/>
              </a:spcAft>
            </a:pPr>
            <a:r>
              <a:rPr sz="2600" b="0">
                <a:solidFill>
                  <a:srgbClr val="15171C"/>
                </a:solidFill>
                <a:latin typeface="Calibri"/>
              </a:rPr>
              <a:t>•  Trei cifre ale poverii</a:t>
            </a:r>
          </a:p>
          <a:p>
            <a:pPr algn="l">
              <a:spcAft>
                <a:spcPts val="910"/>
              </a:spcAft>
            </a:pPr>
            <a:r>
              <a:rPr sz="2600" b="0">
                <a:solidFill>
                  <a:srgbClr val="15171C"/>
                </a:solidFill>
                <a:latin typeface="Calibri"/>
              </a:rPr>
              <a:t>•  Citarea exactă</a:t>
            </a:r>
          </a:p>
          <a:p>
            <a:pPr algn="l">
              <a:spcAft>
                <a:spcPts val="910"/>
              </a:spcAft>
            </a:pPr>
            <a:r>
              <a:rPr sz="2600" b="0">
                <a:solidFill>
                  <a:srgbClr val="15171C"/>
                </a:solidFill>
                <a:latin typeface="Calibri"/>
              </a:rPr>
              <a:t>•  Ruptura de serie: întâi schimbare de metodă</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3/33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Fișa de lucru 1</a:t>
            </a:r>
          </a:p>
        </p:txBody>
      </p:sp>
      <p:sp>
        <p:nvSpPr>
          <p:cNvPr id="5" name="TextBox 4"/>
          <p:cNvSpPr txBox="1"/>
          <p:nvPr/>
        </p:nvSpPr>
        <p:spPr>
          <a:xfrm>
            <a:off x="640080" y="1600200"/>
            <a:ext cx="10911535" cy="291465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Laptop, tabletă sau telefon; GBD Compare și Eurostat [1]</a:t>
            </a:r>
          </a:p>
          <a:p>
            <a:pPr algn="l">
              <a:spcAft>
                <a:spcPts val="910"/>
              </a:spcAft>
            </a:pPr>
            <a:r>
              <a:rPr sz="2600" b="0">
                <a:solidFill>
                  <a:srgbClr val="15171C"/>
                </a:solidFill>
                <a:latin typeface="Calibri"/>
              </a:rPr>
              <a:t>•  GBD Compare cere cont [2]; varianta fără cont: WHO Rehabilitation Need Estimator [3]</a:t>
            </a:r>
          </a:p>
          <a:p>
            <a:pPr algn="l">
              <a:spcAft>
                <a:spcPts val="910"/>
              </a:spcAft>
            </a:pPr>
            <a:r>
              <a:rPr sz="2600" b="0">
                <a:solidFill>
                  <a:srgbClr val="15171C"/>
                </a:solidFill>
                <a:latin typeface="Calibri"/>
              </a:rPr>
              <a:t>•  Fișa de lucru 1, individual [4]; predare la final sau în cel mult 48 de ore, fiecare valoare cu sursa exactă [5]</a:t>
            </a:r>
          </a:p>
          <a:p>
            <a:pPr algn="l">
              <a:spcAft>
                <a:spcPts val="910"/>
              </a:spcAft>
            </a:pPr>
            <a:r>
              <a:rPr sz="2600" b="0">
                <a:solidFill>
                  <a:srgbClr val="15171C"/>
                </a:solidFill>
                <a:latin typeface="Calibri"/>
              </a:rPr>
              <a:t>•  Afecțiunea aleasă la curs [6]</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[1] Fișa disciplinei, 2026–2027; [2] IHME, GBD Compare; [3] OMS și IHME, Rehabilitation Need Estimator (GBD 2021), 2021; [4] Fișa disciplinei, 2026–2027; [5] Fișa disciplinei, 2026–2027; [6] Fișa disciplinei, 2026–2027</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4/33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Accesul la date</a:t>
            </a:r>
          </a:p>
        </p:txBody>
      </p:sp>
      <p:sp>
        <p:nvSpPr>
          <p:cNvPr id="5" name="TextBox 4"/>
          <p:cNvSpPr txBox="1"/>
          <p:nvPr/>
        </p:nvSpPr>
        <p:spPr>
          <a:xfrm>
            <a:off x="640080" y="1600200"/>
            <a:ext cx="10911535" cy="156083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GBD Compare cere înregistrare și autentificare [2]</a:t>
            </a:r>
          </a:p>
          <a:p>
            <a:pPr algn="l">
              <a:spcAft>
                <a:spcPts val="910"/>
              </a:spcAft>
            </a:pPr>
            <a:r>
              <a:rPr sz="2600" b="0">
                <a:solidFill>
                  <a:srgbClr val="15171C"/>
                </a:solidFill>
                <a:latin typeface="Calibri"/>
              </a:rPr>
              <a:t>•  Contul IHME se creează înaintea lucrării</a:t>
            </a:r>
          </a:p>
          <a:p>
            <a:pPr algn="l">
              <a:spcAft>
                <a:spcPts val="910"/>
              </a:spcAft>
            </a:pPr>
            <a:r>
              <a:rPr sz="2600" b="0">
                <a:solidFill>
                  <a:srgbClr val="15171C"/>
                </a:solidFill>
                <a:latin typeface="Calibri"/>
              </a:rPr>
              <a:t>•  Fără cont: WHO Rehabilitation Need Estimator, runda GBD 2021 [3]</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[2] IHME, GBD Compare; [3] OMS și IHME, Rehabilitation Need Estimator (GBD 2021), 2021</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5/33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3F4B"/>
        </a:solidFill>
        <a:effectLst/>
      </p:bgPr>
    </p:bg>
    <p:spTree>
      <p:nvGrpSpPr>
        <p:cNvPr id="1" name=""/>
        <p:cNvGrpSpPr/>
        <p:nvPr/>
      </p:nvGrpSpPr>
      <p:grpSpPr/>
      <p:sp>
        <p:nvSpPr>
          <p:cNvPr id="2" name="Rectangle 1"/>
          <p:cNvSpPr/>
          <p:nvPr/>
        </p:nvSpPr>
        <p:spPr>
          <a:xfrm>
            <a:off x="0" y="6748272"/>
            <a:ext cx="9509522" cy="109728"/>
          </a:xfrm>
          <a:prstGeom prst="rect">
            <a:avLst/>
          </a:prstGeom>
          <a:solidFill>
            <a:srgbClr val="D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6748272"/>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0"/>
            <a:ext cx="10911535" cy="2011680"/>
          </a:xfrm>
          <a:prstGeom prst="rect">
            <a:avLst/>
          </a:prstGeom>
          <a:noFill/>
        </p:spPr>
        <p:txBody>
          <a:bodyPr wrap="square" lIns="0" rIns="0" tIns="0" bIns="0" anchor="ctr">
            <a:spAutoFit/>
          </a:bodyPr>
          <a:lstStyle/>
          <a:p>
            <a:pPr algn="l">
              <a:spcAft>
                <a:spcPts val="1539"/>
              </a:spcAft>
            </a:pPr>
            <a:r>
              <a:rPr sz="4400" b="1">
                <a:solidFill>
                  <a:srgbClr val="FFFFFF"/>
                </a:solidFill>
                <a:latin typeface="Cambria"/>
              </a:rPr>
              <a:t>Partea I: profilul de funcționare CIF</a:t>
            </a:r>
          </a:p>
        </p:txBody>
      </p:sp>
      <p:sp>
        <p:nvSpPr>
          <p:cNvPr id="5" name="TextBox 4"/>
          <p:cNvSpPr txBox="1"/>
          <p:nvPr/>
        </p:nvSpPr>
        <p:spPr>
          <a:xfrm>
            <a:off x="640080" y="4114800"/>
            <a:ext cx="10911535" cy="731520"/>
          </a:xfrm>
          <a:prstGeom prst="rect">
            <a:avLst/>
          </a:prstGeom>
          <a:noFill/>
        </p:spPr>
        <p:txBody>
          <a:bodyPr wrap="square" lIns="0" rIns="0" tIns="0" bIns="0" anchor="t">
            <a:spAutoFit/>
          </a:bodyPr>
          <a:lstStyle/>
          <a:p>
            <a:pPr algn="l">
              <a:spcAft>
                <a:spcPts val="630"/>
              </a:spcAft>
            </a:pPr>
            <a:r>
              <a:rPr sz="1800" b="0">
                <a:solidFill>
                  <a:srgbClr val="D4E6EA"/>
                </a:solidFill>
                <a:latin typeface="Calibri"/>
              </a:rPr>
              <a:t>PARTEA I · Metoda în opt pași · Trei cazuri construite · Tabelul profilului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D4E6EA"/>
                </a:solidFill>
                <a:latin typeface="Calibri"/>
              </a:rPr>
              <a:t>6/33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Metoda în opt pași</a:t>
            </a:r>
          </a:p>
        </p:txBody>
      </p:sp>
      <p:sp>
        <p:nvSpPr>
          <p:cNvPr id="5" name="TextBox 4"/>
          <p:cNvSpPr txBox="1"/>
          <p:nvPr/>
        </p:nvSpPr>
        <p:spPr>
          <a:xfrm>
            <a:off x="640080" y="1600200"/>
            <a:ext cx="10911535" cy="420243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Problema de sănătate</a:t>
            </a:r>
          </a:p>
          <a:p>
            <a:pPr algn="l">
              <a:spcAft>
                <a:spcPts val="910"/>
              </a:spcAft>
            </a:pPr>
            <a:r>
              <a:rPr sz="2600" b="0">
                <a:solidFill>
                  <a:srgbClr val="15171C"/>
                </a:solidFill>
                <a:latin typeface="Calibri"/>
              </a:rPr>
              <a:t>•  Deficiențele</a:t>
            </a:r>
          </a:p>
          <a:p>
            <a:pPr algn="l">
              <a:spcAft>
                <a:spcPts val="910"/>
              </a:spcAft>
            </a:pPr>
            <a:r>
              <a:rPr sz="2600" b="0">
                <a:solidFill>
                  <a:srgbClr val="15171C"/>
                </a:solidFill>
                <a:latin typeface="Calibri"/>
              </a:rPr>
              <a:t>•  Limitările de activitate</a:t>
            </a:r>
          </a:p>
          <a:p>
            <a:pPr algn="l">
              <a:spcAft>
                <a:spcPts val="910"/>
              </a:spcAft>
            </a:pPr>
            <a:r>
              <a:rPr sz="2600" b="0">
                <a:solidFill>
                  <a:srgbClr val="15171C"/>
                </a:solidFill>
                <a:latin typeface="Calibri"/>
              </a:rPr>
              <a:t>•  Restricțiile de participare</a:t>
            </a:r>
          </a:p>
          <a:p>
            <a:pPr algn="l">
              <a:spcAft>
                <a:spcPts val="910"/>
              </a:spcAft>
            </a:pPr>
            <a:r>
              <a:rPr sz="2600" b="0">
                <a:solidFill>
                  <a:srgbClr val="15171C"/>
                </a:solidFill>
                <a:latin typeface="Calibri"/>
              </a:rPr>
              <a:t>•  Factorii de mediu: barieră sau facilitator</a:t>
            </a:r>
          </a:p>
          <a:p>
            <a:pPr algn="l">
              <a:spcAft>
                <a:spcPts val="910"/>
              </a:spcAft>
            </a:pPr>
            <a:r>
              <a:rPr sz="2600" b="0">
                <a:solidFill>
                  <a:srgbClr val="15171C"/>
                </a:solidFill>
                <a:latin typeface="Calibri"/>
              </a:rPr>
              <a:t>•  Factorii personali</a:t>
            </a:r>
          </a:p>
          <a:p>
            <a:pPr algn="l">
              <a:spcAft>
                <a:spcPts val="910"/>
              </a:spcAft>
            </a:pPr>
            <a:r>
              <a:rPr sz="2600" b="0">
                <a:solidFill>
                  <a:srgbClr val="15171C"/>
                </a:solidFill>
                <a:latin typeface="Calibri"/>
              </a:rPr>
              <a:t>•  Două bariere, două facilitatoare</a:t>
            </a:r>
          </a:p>
          <a:p>
            <a:pPr algn="l">
              <a:spcAft>
                <a:spcPts val="910"/>
              </a:spcAft>
            </a:pPr>
            <a:r>
              <a:rPr sz="2600" b="0">
                <a:solidFill>
                  <a:srgbClr val="15171C"/>
                </a:solidFill>
                <a:latin typeface="Calibri"/>
              </a:rPr>
              <a:t>•  Obiectivul la nivelul participării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7/33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Capacitatea și performanța</a:t>
            </a:r>
          </a:p>
        </p:txBody>
      </p:sp>
      <p:sp>
        <p:nvSpPr>
          <p:cNvPr id="5" name="TextBox 4"/>
          <p:cNvSpPr txBox="1"/>
          <p:nvPr/>
        </p:nvSpPr>
        <p:spPr>
          <a:xfrm>
            <a:off x="640080" y="1600200"/>
            <a:ext cx="10911535" cy="250190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Capacitatea: ce poate face persoana într-un mediu standard [7]</a:t>
            </a:r>
          </a:p>
          <a:p>
            <a:pPr algn="l">
              <a:spcAft>
                <a:spcPts val="910"/>
              </a:spcAft>
            </a:pPr>
            <a:r>
              <a:rPr sz="2600" b="0">
                <a:solidFill>
                  <a:srgbClr val="15171C"/>
                </a:solidFill>
                <a:latin typeface="Calibri"/>
              </a:rPr>
              <a:t>•  Performanța: ce face efectiv în mediul ei obișnuit [7]</a:t>
            </a:r>
          </a:p>
          <a:p>
            <a:pPr algn="l">
              <a:spcAft>
                <a:spcPts val="910"/>
              </a:spcAft>
            </a:pPr>
            <a:r>
              <a:rPr sz="2600" b="0">
                <a:solidFill>
                  <a:srgbClr val="15171C"/>
                </a:solidFill>
                <a:latin typeface="Calibri"/>
              </a:rPr>
              <a:t>•  Distanța dintre ele arată rolul mediului</a:t>
            </a:r>
          </a:p>
          <a:p>
            <a:pPr algn="l">
              <a:spcAft>
                <a:spcPts val="910"/>
              </a:spcAft>
            </a:pPr>
            <a:r>
              <a:rPr sz="2600" b="0">
                <a:solidFill>
                  <a:srgbClr val="15171C"/>
                </a:solidFill>
                <a:latin typeface="Calibri"/>
              </a:rPr>
              <a:t>•  Ambii calificatori se aplică listei activitate și participare (codurile d) [8]</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[7] OMS, ghidul introductiv CIF; [8] OMS, ghidul introductiv CIF</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8/33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Cazul A: lombalgie cronică</a:t>
            </a:r>
          </a:p>
        </p:txBody>
      </p:sp>
      <p:sp>
        <p:nvSpPr>
          <p:cNvPr id="5" name="TextBox 4"/>
          <p:cNvSpPr txBox="1"/>
          <p:nvPr/>
        </p:nvSpPr>
        <p:spPr>
          <a:xfrm>
            <a:off x="640080" y="1600200"/>
            <a:ext cx="10911535" cy="4107814"/>
          </a:xfrm>
          <a:prstGeom prst="rect">
            <a:avLst/>
          </a:prstGeom>
          <a:noFill/>
        </p:spPr>
        <p:txBody>
          <a:bodyPr wrap="square" lIns="0" rIns="0" tIns="0" bIns="0" anchor="t">
            <a:spAutoFit/>
          </a:bodyPr>
          <a:lstStyle/>
          <a:p>
            <a:pPr algn="l">
              <a:spcAft>
                <a:spcPts val="804"/>
              </a:spcAft>
            </a:pPr>
            <a:r>
              <a:rPr sz="2300" b="0">
                <a:solidFill>
                  <a:srgbClr val="15171C"/>
                </a:solidFill>
                <a:latin typeface="Calibri"/>
              </a:rPr>
              <a:t>•  Pacienta A are cincizeci și doi de ani și lucrează de ani buni ca operatoare de casă de marcat într-un supermarket, în ture de câte douăsprezece ore. Are dureri lombare de doi ani, fără o cauză specifică identificată. Durerea crește după statul prelungit în picioare și o trezește uneori noaptea; aplecarea și ridicarea sacoșelor îi sunt dificile. În ultimul an a avut trei concedii medicale, iar la casa de marcat nu există un scaun ajustabil. A renunțat la grupul de dansuri populare din care făcea parte și evită mersul pe jos pe distanțe lungi, pentru că se teme că mișcarea îi va agrava boala. Medicul de familie i-a recomandat un program de recuperare, dar ambulatoriul de recuperare se află în alt oraș, iar programul lui coincide cu turele ei. Fiica ei o ajută la treburile casei.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9/33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Întrebări-ghid: lombalgie cronică</a:t>
            </a:r>
          </a:p>
        </p:txBody>
      </p:sp>
      <p:sp>
        <p:nvSpPr>
          <p:cNvPr id="5" name="TextBox 4"/>
          <p:cNvSpPr txBox="1"/>
          <p:nvPr/>
        </p:nvSpPr>
        <p:spPr>
          <a:xfrm>
            <a:off x="640080" y="1600200"/>
            <a:ext cx="10911535" cy="261747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Ce sarcini concrete îi sunt dificile la muncă și acasă?</a:t>
            </a:r>
          </a:p>
          <a:p>
            <a:pPr algn="l">
              <a:spcAft>
                <a:spcPts val="910"/>
              </a:spcAft>
            </a:pPr>
            <a:r>
              <a:rPr sz="2600" b="0">
                <a:solidFill>
                  <a:srgbClr val="15171C"/>
                </a:solidFill>
                <a:latin typeface="Calibri"/>
              </a:rPr>
              <a:t>•  Ce roluri de viață a pierdut sau a restrâns?</a:t>
            </a:r>
          </a:p>
          <a:p>
            <a:pPr algn="l">
              <a:spcAft>
                <a:spcPts val="910"/>
              </a:spcAft>
            </a:pPr>
            <a:r>
              <a:rPr sz="2600" b="0">
                <a:solidFill>
                  <a:srgbClr val="15171C"/>
                </a:solidFill>
                <a:latin typeface="Calibri"/>
              </a:rPr>
              <a:t>•  Ce elemente ale locului de muncă și ale serviciilor o împiedică?</a:t>
            </a:r>
          </a:p>
          <a:p>
            <a:pPr algn="l">
              <a:spcAft>
                <a:spcPts val="910"/>
              </a:spcAft>
            </a:pPr>
            <a:r>
              <a:rPr sz="2600" b="0">
                <a:solidFill>
                  <a:srgbClr val="15171C"/>
                </a:solidFill>
                <a:latin typeface="Calibri"/>
              </a:rPr>
              <a:t>•  Cine și ce o ajută?</a:t>
            </a:r>
          </a:p>
          <a:p>
            <a:pPr algn="l">
              <a:spcAft>
                <a:spcPts val="910"/>
              </a:spcAft>
            </a:pPr>
            <a:r>
              <a:rPr sz="2600" b="0">
                <a:solidFill>
                  <a:srgbClr val="15171C"/>
                </a:solidFill>
                <a:latin typeface="Calibri"/>
              </a:rPr>
              <a:t>•  Ce convingere personală îi influențează mișcarea?</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10/33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Cazul B: accident vascular cerebral</a:t>
            </a:r>
          </a:p>
        </p:txBody>
      </p:sp>
      <p:sp>
        <p:nvSpPr>
          <p:cNvPr id="5" name="TextBox 4"/>
          <p:cNvSpPr txBox="1"/>
          <p:nvPr/>
        </p:nvSpPr>
        <p:spPr>
          <a:xfrm>
            <a:off x="640080" y="1600200"/>
            <a:ext cx="10911535" cy="4389120"/>
          </a:xfrm>
          <a:prstGeom prst="rect">
            <a:avLst/>
          </a:prstGeom>
          <a:noFill/>
        </p:spPr>
        <p:txBody>
          <a:bodyPr wrap="square" lIns="0" rIns="0" tIns="0" bIns="0" anchor="t">
            <a:spAutoFit/>
          </a:bodyPr>
          <a:lstStyle/>
          <a:p>
            <a:pPr algn="l">
              <a:spcAft>
                <a:spcPts val="875"/>
              </a:spcAft>
            </a:pPr>
            <a:r>
              <a:rPr sz="2500" b="0">
                <a:solidFill>
                  <a:srgbClr val="15171C"/>
                </a:solidFill>
                <a:latin typeface="Calibri"/>
              </a:rPr>
              <a:t>•  Pacientul B are șaizeci și șapte de ani, este profesor pensionar și a avut, în urmă cu trei luni, un accident vascular cerebral ischemic în emisferul stâng. Are o slăbiciune a membrelor din partea dreaptă și o afazie ușoară: înțelege tot, dar își găsește greu cuvintele. Merge cu un cadru pe distanțe scurte, în interiorul locuinței, și are nevoie de ajutor la îmbrăcare și la baie. Locuiește cu soția, care îl îngrijește, la etajul al treilea al unui bloc fără lift, așa că nu a mai ieșit din casă de la externare. Înainte de accident conducea mașina și ținea o dată pe săptămână un cerc de lectură la biblioteca orașului. Este motivat să își reia activitățile, dar se simte descurajat în zilele în care progresele sunt mici.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11/33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Întrebări-ghid: accident vascular cerebral</a:t>
            </a:r>
          </a:p>
        </p:txBody>
      </p:sp>
      <p:sp>
        <p:nvSpPr>
          <p:cNvPr id="5" name="TextBox 4"/>
          <p:cNvSpPr txBox="1"/>
          <p:nvPr/>
        </p:nvSpPr>
        <p:spPr>
          <a:xfrm>
            <a:off x="640080" y="1600200"/>
            <a:ext cx="10911535" cy="261747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Ce deficiențe au rămas după accident?</a:t>
            </a:r>
          </a:p>
          <a:p>
            <a:pPr algn="l">
              <a:spcAft>
                <a:spcPts val="910"/>
              </a:spcAft>
            </a:pPr>
            <a:r>
              <a:rPr sz="2600" b="0">
                <a:solidFill>
                  <a:srgbClr val="15171C"/>
                </a:solidFill>
                <a:latin typeface="Calibri"/>
              </a:rPr>
              <a:t>•  Ce activități face singur și la ce are nevoie de ajutor?</a:t>
            </a:r>
          </a:p>
          <a:p>
            <a:pPr algn="l">
              <a:spcAft>
                <a:spcPts val="910"/>
              </a:spcAft>
            </a:pPr>
            <a:r>
              <a:rPr sz="2600" b="0">
                <a:solidFill>
                  <a:srgbClr val="15171C"/>
                </a:solidFill>
                <a:latin typeface="Calibri"/>
              </a:rPr>
              <a:t>•  Ce activități de dinainte a întrerupt?</a:t>
            </a:r>
          </a:p>
          <a:p>
            <a:pPr algn="l">
              <a:spcAft>
                <a:spcPts val="910"/>
              </a:spcAft>
            </a:pPr>
            <a:r>
              <a:rPr sz="2600" b="0">
                <a:solidFill>
                  <a:srgbClr val="15171C"/>
                </a:solidFill>
                <a:latin typeface="Calibri"/>
              </a:rPr>
              <a:t>•  Ce element al locuinței îl ține în casă?</a:t>
            </a:r>
          </a:p>
          <a:p>
            <a:pPr algn="l">
              <a:spcAft>
                <a:spcPts val="910"/>
              </a:spcAft>
            </a:pPr>
            <a:r>
              <a:rPr sz="2600" b="0">
                <a:solidFill>
                  <a:srgbClr val="15171C"/>
                </a:solidFill>
                <a:latin typeface="Calibri"/>
              </a:rPr>
              <a:t>•  Ce îl motivează și ce îl descurajează?</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12/33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Cazul C: fractură de șold la vârstnic</a:t>
            </a:r>
          </a:p>
        </p:txBody>
      </p:sp>
      <p:sp>
        <p:nvSpPr>
          <p:cNvPr id="5" name="TextBox 4"/>
          <p:cNvSpPr txBox="1"/>
          <p:nvPr/>
        </p:nvSpPr>
        <p:spPr>
          <a:xfrm>
            <a:off x="640080" y="1600200"/>
            <a:ext cx="10911535" cy="421894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Pacienta C are optzeci și unu de ani, este văduvă și locuiește singură într-o casă dintr-un sat. A alunecat pe un covor în bucătărie și și-a fracturat colul femural drept, iar fractura a fost tratată chirurgical, prin artroplastie. La externare merge cu un cadru, cu pași mici, și spune că îi este frică să nu cadă din nou. Toaleta este în curte, iar în casă sunt praguri înalte între camere. Fiul ei locuiește într-un oraș aflat la două ore de mers cu mașina și o vizitează la sfârșit de săptămână; o vecină îi aduce cumpărăturile. Satul nu are farmacie și nici cabinet de recuperare, iar pensia ei acoperă greu costul transportului până la oraș.</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13/33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Întrebări-ghid: fractură de șold la vârstnic</a:t>
            </a:r>
          </a:p>
        </p:txBody>
      </p:sp>
      <p:sp>
        <p:nvSpPr>
          <p:cNvPr id="5" name="TextBox 4"/>
          <p:cNvSpPr txBox="1"/>
          <p:nvPr/>
        </p:nvSpPr>
        <p:spPr>
          <a:xfrm>
            <a:off x="640080" y="1600200"/>
            <a:ext cx="10911535" cy="261747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Ce s-a schimbat în mers și în echilibru după operație?</a:t>
            </a:r>
          </a:p>
          <a:p>
            <a:pPr algn="l">
              <a:spcAft>
                <a:spcPts val="910"/>
              </a:spcAft>
            </a:pPr>
            <a:r>
              <a:rPr sz="2600" b="0">
                <a:solidFill>
                  <a:srgbClr val="15171C"/>
                </a:solidFill>
                <a:latin typeface="Calibri"/>
              </a:rPr>
              <a:t>•  Ce deplasări din casă și din curte îi sunt dificile?</a:t>
            </a:r>
          </a:p>
          <a:p>
            <a:pPr algn="l">
              <a:spcAft>
                <a:spcPts val="910"/>
              </a:spcAft>
            </a:pPr>
            <a:r>
              <a:rPr sz="2600" b="0">
                <a:solidFill>
                  <a:srgbClr val="15171C"/>
                </a:solidFill>
                <a:latin typeface="Calibri"/>
              </a:rPr>
              <a:t>•  Pentru ce depinde de alții?</a:t>
            </a:r>
          </a:p>
          <a:p>
            <a:pPr algn="l">
              <a:spcAft>
                <a:spcPts val="910"/>
              </a:spcAft>
            </a:pPr>
            <a:r>
              <a:rPr sz="2600" b="0">
                <a:solidFill>
                  <a:srgbClr val="15171C"/>
                </a:solidFill>
                <a:latin typeface="Calibri"/>
              </a:rPr>
              <a:t>•  Ce elemente ale casei și ale satului sunt bariere?</a:t>
            </a:r>
          </a:p>
          <a:p>
            <a:pPr algn="l">
              <a:spcAft>
                <a:spcPts val="910"/>
              </a:spcAft>
            </a:pPr>
            <a:r>
              <a:rPr sz="2600" b="0">
                <a:solidFill>
                  <a:srgbClr val="15171C"/>
                </a:solidFill>
                <a:latin typeface="Calibri"/>
              </a:rPr>
              <a:t>•  Cine o sprijină și cât de des?</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14/33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Prima sarcină: profilul CIF</a:t>
            </a:r>
          </a:p>
        </p:txBody>
      </p:sp>
      <p:sp>
        <p:nvSpPr>
          <p:cNvPr id="5" name="TextBox 4"/>
          <p:cNvSpPr txBox="1"/>
          <p:nvPr/>
        </p:nvSpPr>
        <p:spPr>
          <a:xfrm>
            <a:off x="640080" y="1600200"/>
            <a:ext cx="10911535" cy="261747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Tabelul profilului din Fișa de lucru 1 [4]</a:t>
            </a:r>
          </a:p>
          <a:p>
            <a:pPr algn="l">
              <a:spcAft>
                <a:spcPts val="910"/>
              </a:spcAft>
            </a:pPr>
            <a:r>
              <a:rPr sz="2600" b="0">
                <a:solidFill>
                  <a:srgbClr val="15171C"/>
                </a:solidFill>
                <a:latin typeface="Calibri"/>
              </a:rPr>
              <a:t>•  Cel puțin două elemente pe fiecare rând</a:t>
            </a:r>
          </a:p>
          <a:p>
            <a:pPr algn="l">
              <a:spcAft>
                <a:spcPts val="910"/>
              </a:spcAft>
            </a:pPr>
            <a:r>
              <a:rPr sz="2600" b="0">
                <a:solidFill>
                  <a:srgbClr val="15171C"/>
                </a:solidFill>
                <a:latin typeface="Calibri"/>
              </a:rPr>
              <a:t>•  Factorii de mediu marcați B sau F</a:t>
            </a:r>
          </a:p>
          <a:p>
            <a:pPr algn="l">
              <a:spcAft>
                <a:spcPts val="910"/>
              </a:spcAft>
            </a:pPr>
            <a:r>
              <a:rPr sz="2600" b="0">
                <a:solidFill>
                  <a:srgbClr val="15171C"/>
                </a:solidFill>
                <a:latin typeface="Calibri"/>
              </a:rPr>
              <a:t>•  Obiectivul la nivelul participării</a:t>
            </a:r>
          </a:p>
          <a:p>
            <a:pPr algn="l">
              <a:spcAft>
                <a:spcPts val="910"/>
              </a:spcAft>
            </a:pPr>
            <a:r>
              <a:rPr sz="2600" b="0">
                <a:solidFill>
                  <a:srgbClr val="15171C"/>
                </a:solidFill>
                <a:latin typeface="Calibri"/>
              </a:rPr>
              <a:t>•  Intervenția din afara sălii de recuperare</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[4] Fișa disciplinei, 2026–2027</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15/33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Două confuzii frecvente</a:t>
            </a:r>
          </a:p>
        </p:txBody>
      </p:sp>
      <p:sp>
        <p:nvSpPr>
          <p:cNvPr id="5" name="TextBox 4"/>
          <p:cNvSpPr txBox="1"/>
          <p:nvPr/>
        </p:nvSpPr>
        <p:spPr>
          <a:xfrm>
            <a:off x="640080" y="1600200"/>
            <a:ext cx="10911535" cy="103251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Activitatea nu este o funcție a corpului: sarcina persoanei</a:t>
            </a:r>
          </a:p>
          <a:p>
            <a:pPr algn="l">
              <a:spcAft>
                <a:spcPts val="910"/>
              </a:spcAft>
            </a:pPr>
            <a:r>
              <a:rPr sz="2600" b="0">
                <a:solidFill>
                  <a:srgbClr val="15171C"/>
                </a:solidFill>
                <a:latin typeface="Calibri"/>
              </a:rPr>
              <a:t>•  Factorii personali sunt interni; factorii de mediu sunt externi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16/33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3F4B"/>
        </a:solidFill>
        <a:effectLst/>
      </p:bgPr>
    </p:bg>
    <p:spTree>
      <p:nvGrpSpPr>
        <p:cNvPr id="1" name=""/>
        <p:cNvGrpSpPr/>
        <p:nvPr/>
      </p:nvGrpSpPr>
      <p:grpSpPr/>
      <p:sp>
        <p:nvSpPr>
          <p:cNvPr id="2" name="Rectangle 1"/>
          <p:cNvSpPr/>
          <p:nvPr/>
        </p:nvSpPr>
        <p:spPr>
          <a:xfrm>
            <a:off x="0" y="6748272"/>
            <a:ext cx="9509522" cy="109728"/>
          </a:xfrm>
          <a:prstGeom prst="rect">
            <a:avLst/>
          </a:prstGeom>
          <a:solidFill>
            <a:srgbClr val="D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6748272"/>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0"/>
            <a:ext cx="10911535" cy="2011680"/>
          </a:xfrm>
          <a:prstGeom prst="rect">
            <a:avLst/>
          </a:prstGeom>
          <a:noFill/>
        </p:spPr>
        <p:txBody>
          <a:bodyPr wrap="square" lIns="0" rIns="0" tIns="0" bIns="0" anchor="ctr">
            <a:spAutoFit/>
          </a:bodyPr>
          <a:lstStyle/>
          <a:p>
            <a:pPr algn="l">
              <a:spcAft>
                <a:spcPts val="1539"/>
              </a:spcAft>
            </a:pPr>
            <a:r>
              <a:rPr sz="4400" b="1">
                <a:solidFill>
                  <a:srgbClr val="FFFFFF"/>
                </a:solidFill>
                <a:latin typeface="Cambria"/>
              </a:rPr>
              <a:t>Partea a II-a: povara afecțiunii în România</a:t>
            </a:r>
          </a:p>
        </p:txBody>
      </p:sp>
      <p:sp>
        <p:nvSpPr>
          <p:cNvPr id="5" name="TextBox 4"/>
          <p:cNvSpPr txBox="1"/>
          <p:nvPr/>
        </p:nvSpPr>
        <p:spPr>
          <a:xfrm>
            <a:off x="640080" y="4114800"/>
            <a:ext cx="10911535" cy="731520"/>
          </a:xfrm>
          <a:prstGeom prst="rect">
            <a:avLst/>
          </a:prstGeom>
          <a:noFill/>
        </p:spPr>
        <p:txBody>
          <a:bodyPr wrap="square" lIns="0" rIns="0" tIns="0" bIns="0" anchor="t">
            <a:spAutoFit/>
          </a:bodyPr>
          <a:lstStyle/>
          <a:p>
            <a:pPr algn="l">
              <a:spcAft>
                <a:spcPts val="630"/>
              </a:spcAft>
            </a:pPr>
            <a:r>
              <a:rPr sz="1800" b="0">
                <a:solidFill>
                  <a:srgbClr val="D4E6EA"/>
                </a:solidFill>
                <a:latin typeface="Calibri"/>
              </a:rPr>
              <a:t>PARTEA A II-A · GBD Compare · WHO Rehabilitation Need Estimator · Eurostat hlth_hlye</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D4E6EA"/>
                </a:solidFill>
                <a:latin typeface="Calibri"/>
              </a:rPr>
              <a:t>17/33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Ce se extrage</a:t>
            </a:r>
          </a:p>
        </p:txBody>
      </p:sp>
      <p:sp>
        <p:nvSpPr>
          <p:cNvPr id="5" name="TextBox 4"/>
          <p:cNvSpPr txBox="1"/>
          <p:nvPr/>
        </p:nvSpPr>
        <p:spPr>
          <a:xfrm>
            <a:off x="640080" y="1600200"/>
            <a:ext cx="10911535" cy="208915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Numărul: volumul nevoii de servicii</a:t>
            </a:r>
          </a:p>
          <a:p>
            <a:pPr algn="l">
              <a:spcAft>
                <a:spcPts val="910"/>
              </a:spcAft>
            </a:pPr>
            <a:r>
              <a:rPr sz="2600" b="0">
                <a:solidFill>
                  <a:srgbClr val="15171C"/>
                </a:solidFill>
                <a:latin typeface="Calibri"/>
              </a:rPr>
              <a:t>•  Rata standardizată pe vârstă: riscul la aceeași vârstă</a:t>
            </a:r>
          </a:p>
          <a:p>
            <a:pPr algn="l">
              <a:spcAft>
                <a:spcPts val="910"/>
              </a:spcAft>
            </a:pPr>
            <a:r>
              <a:rPr sz="2600" b="0">
                <a:solidFill>
                  <a:srgbClr val="15171C"/>
                </a:solidFill>
                <a:latin typeface="Calibri"/>
              </a:rPr>
              <a:t>•  Intervalul de incertitudine: precizia estimării</a:t>
            </a:r>
          </a:p>
          <a:p>
            <a:pPr algn="l">
              <a:spcAft>
                <a:spcPts val="910"/>
              </a:spcAft>
            </a:pPr>
            <a:r>
              <a:rPr sz="2600" b="0">
                <a:solidFill>
                  <a:srgbClr val="15171C"/>
                </a:solidFill>
                <a:latin typeface="Calibri"/>
              </a:rPr>
              <a:t>•  Anii de viață sănătoasă: contextul populației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18/33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Pașii în GBD Compare</a:t>
            </a:r>
          </a:p>
        </p:txBody>
      </p:sp>
      <p:sp>
        <p:nvSpPr>
          <p:cNvPr id="5" name="TextBox 4"/>
          <p:cNvSpPr txBox="1"/>
          <p:nvPr/>
        </p:nvSpPr>
        <p:spPr>
          <a:xfrm>
            <a:off x="640080" y="1600200"/>
            <a:ext cx="10911535" cy="261747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GBD Compare afișează runda GBD 2023 [2]</a:t>
            </a:r>
          </a:p>
          <a:p>
            <a:pPr algn="l">
              <a:spcAft>
                <a:spcPts val="910"/>
              </a:spcAft>
            </a:pPr>
            <a:r>
              <a:rPr sz="2600" b="0">
                <a:solidFill>
                  <a:srgbClr val="15171C"/>
                </a:solidFill>
                <a:latin typeface="Calibri"/>
              </a:rPr>
              <a:t>•  YLDs, Number, Romania, Both, All ages, ultimul an</a:t>
            </a:r>
          </a:p>
          <a:p>
            <a:pPr algn="l">
              <a:spcAft>
                <a:spcPts val="910"/>
              </a:spcAft>
            </a:pPr>
            <a:r>
              <a:rPr sz="2600" b="0">
                <a:solidFill>
                  <a:srgbClr val="15171C"/>
                </a:solidFill>
                <a:latin typeface="Calibri"/>
              </a:rPr>
              <a:t>•  Treemap: categoria afecțiunii</a:t>
            </a:r>
          </a:p>
          <a:p>
            <a:pPr algn="l">
              <a:spcAft>
                <a:spcPts val="910"/>
              </a:spcAft>
            </a:pPr>
            <a:r>
              <a:rPr sz="2600" b="0">
                <a:solidFill>
                  <a:srgbClr val="15171C"/>
                </a:solidFill>
                <a:latin typeface="Calibri"/>
              </a:rPr>
              <a:t>•  Rate și Age-standardized; apoi Prevalence</a:t>
            </a:r>
          </a:p>
          <a:p>
            <a:pPr algn="l">
              <a:spcAft>
                <a:spcPts val="910"/>
              </a:spcAft>
            </a:pPr>
            <a:r>
              <a:rPr sz="2600" b="0">
                <a:solidFill>
                  <a:srgbClr val="15171C"/>
                </a:solidFill>
                <a:latin typeface="Calibri"/>
              </a:rPr>
              <a:t>•  Evoluția în timp: primul și ultimul an</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[2] IHME, GBD Compare</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19/33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WHO Rehabilitation Need Estimator</a:t>
            </a:r>
          </a:p>
        </p:txBody>
      </p:sp>
      <p:sp>
        <p:nvSpPr>
          <p:cNvPr id="5" name="TextBox 4"/>
          <p:cNvSpPr txBox="1"/>
          <p:nvPr/>
        </p:nvSpPr>
        <p:spPr>
          <a:xfrm>
            <a:off x="640080" y="1600200"/>
            <a:ext cx="10911535" cy="197358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Prevalența și anii trăiți cu dizabilitate, 27 de afecțiuni, 1990–2021, runda GBD 2021 [3]</a:t>
            </a:r>
          </a:p>
          <a:p>
            <a:pPr algn="l">
              <a:spcAft>
                <a:spcPts val="910"/>
              </a:spcAft>
            </a:pPr>
            <a:r>
              <a:rPr sz="2600" b="0">
                <a:solidFill>
                  <a:srgbClr val="15171C"/>
                </a:solidFill>
                <a:latin typeface="Calibri"/>
              </a:rPr>
              <a:t>•  Fractura de șold nu apare separat [9]</a:t>
            </a:r>
          </a:p>
          <a:p>
            <a:pPr algn="l">
              <a:spcAft>
                <a:spcPts val="910"/>
              </a:spcAft>
            </a:pPr>
            <a:r>
              <a:rPr sz="2600" b="0">
                <a:solidFill>
                  <a:srgbClr val="15171C"/>
                </a:solidFill>
                <a:latin typeface="Calibri"/>
              </a:rPr>
              <a:t>•  Valorile din runde diferite nu se compară între ele</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[3] OMS și IHME, Rehabilitation Need Estimator (GBD 2021), 2021; [9] OMS și IHME, Rehabilitation Need Estimator (GBD 2021), 2021</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20/33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A doua sarcină: povara afecțiunii</a:t>
            </a:r>
          </a:p>
        </p:txBody>
      </p:sp>
      <p:sp>
        <p:nvSpPr>
          <p:cNvPr id="5" name="TextBox 4"/>
          <p:cNvSpPr txBox="1"/>
          <p:nvPr/>
        </p:nvSpPr>
        <p:spPr>
          <a:xfrm>
            <a:off x="640080" y="1600200"/>
            <a:ext cx="10911535" cy="250190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Prevalența și anii trăiți cu dizabilitate, număr și rată standardizată, 1990 și ultimul an [3,4]</a:t>
            </a:r>
          </a:p>
          <a:p>
            <a:pPr algn="l">
              <a:spcAft>
                <a:spcPts val="910"/>
              </a:spcAft>
            </a:pPr>
            <a:r>
              <a:rPr sz="2600" b="0">
                <a:solidFill>
                  <a:srgbClr val="15171C"/>
                </a:solidFill>
                <a:latin typeface="Calibri"/>
              </a:rPr>
              <a:t>•  Intervalul de incertitudine al ultimului an</a:t>
            </a:r>
          </a:p>
          <a:p>
            <a:pPr algn="l">
              <a:spcAft>
                <a:spcPts val="910"/>
              </a:spcAft>
            </a:pPr>
            <a:r>
              <a:rPr sz="2600" b="0">
                <a:solidFill>
                  <a:srgbClr val="15171C"/>
                </a:solidFill>
                <a:latin typeface="Calibri"/>
              </a:rPr>
              <a:t>•  Schimbarea procentuală pentru număr și pentru rată</a:t>
            </a:r>
          </a:p>
          <a:p>
            <a:pPr algn="l">
              <a:spcAft>
                <a:spcPts val="910"/>
              </a:spcAft>
            </a:pPr>
            <a:r>
              <a:rPr sz="2600" b="0">
                <a:solidFill>
                  <a:srgbClr val="15171C"/>
                </a:solidFill>
                <a:latin typeface="Calibri"/>
              </a:rPr>
              <a:t>•  De ce pot evolua diferit</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[3] OMS și IHME, Rehabilitation Need Estimator (GBD 2021), 2021; [4] Fișa disciplinei, 2026–2027</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21/33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Numărul și rata</a:t>
            </a:r>
          </a:p>
        </p:txBody>
      </p:sp>
      <p:sp>
        <p:nvSpPr>
          <p:cNvPr id="5" name="TextBox 4"/>
          <p:cNvSpPr txBox="1"/>
          <p:nvPr/>
        </p:nvSpPr>
        <p:spPr>
          <a:xfrm>
            <a:off x="640080" y="1600200"/>
            <a:ext cx="10911535" cy="208915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Schimbarea procentuală, separat pentru număr și pentru rată</a:t>
            </a:r>
          </a:p>
          <a:p>
            <a:pPr algn="l">
              <a:spcAft>
                <a:spcPts val="910"/>
              </a:spcAft>
            </a:pPr>
            <a:r>
              <a:rPr sz="2600" b="0">
                <a:solidFill>
                  <a:srgbClr val="15171C"/>
                </a:solidFill>
                <a:latin typeface="Calibri"/>
              </a:rPr>
              <a:t>•  Numărul: volumul nevoii</a:t>
            </a:r>
          </a:p>
          <a:p>
            <a:pPr algn="l">
              <a:spcAft>
                <a:spcPts val="910"/>
              </a:spcAft>
            </a:pPr>
            <a:r>
              <a:rPr sz="2600" b="0">
                <a:solidFill>
                  <a:srgbClr val="15171C"/>
                </a:solidFill>
                <a:latin typeface="Calibri"/>
              </a:rPr>
              <a:t>•  Rata standardizată: riscul la aceeași vârstă</a:t>
            </a:r>
          </a:p>
          <a:p>
            <a:pPr algn="l">
              <a:spcAft>
                <a:spcPts val="910"/>
              </a:spcAft>
            </a:pPr>
            <a:r>
              <a:rPr sz="2600" b="0">
                <a:solidFill>
                  <a:srgbClr val="15171C"/>
                </a:solidFill>
                <a:latin typeface="Calibri"/>
              </a:rPr>
              <a:t>•  Intervalul: precizia</a:t>
            </a:r>
          </a:p>
        </p:txBody>
      </p:sp>
      <p:pic>
        <p:nvPicPr>
          <p:cNvPr id="6" name="Picture 5" descr="05104e8220b860ab.png"/>
          <p:cNvPicPr>
            <a:picLocks noChangeAspect="1"/>
          </p:cNvPicPr>
          <p:nvPr/>
        </p:nvPicPr>
        <p:blipFill>
          <a:blip r:embed="rId2"/>
          <a:stretch>
            <a:fillRect/>
          </a:stretch>
        </p:blipFill>
        <p:spPr>
          <a:xfrm>
            <a:off x="914400" y="3963670"/>
            <a:ext cx="10637202" cy="659352"/>
          </a:xfrm>
          <a:prstGeom prst="rect">
            <a:avLst/>
          </a:prstGeom>
        </p:spPr>
      </p:pic>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22/33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Lucru individual: partea a doua</a:t>
            </a:r>
          </a:p>
        </p:txBody>
      </p:sp>
      <p:sp>
        <p:nvSpPr>
          <p:cNvPr id="5" name="TextBox 4"/>
          <p:cNvSpPr txBox="1"/>
          <p:nvPr/>
        </p:nvSpPr>
        <p:spPr>
          <a:xfrm>
            <a:off x="640080" y="1600200"/>
            <a:ext cx="10911535" cy="156083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Tabelul poverii și tabelul anilor de viață sănătoasă</a:t>
            </a:r>
          </a:p>
          <a:p>
            <a:pPr algn="l">
              <a:spcAft>
                <a:spcPts val="910"/>
              </a:spcAft>
            </a:pPr>
            <a:r>
              <a:rPr sz="2600" b="0">
                <a:solidFill>
                  <a:srgbClr val="15171C"/>
                </a:solidFill>
                <a:latin typeface="Calibri"/>
              </a:rPr>
              <a:t>•  Citarea completă a primei valori, verificată</a:t>
            </a:r>
          </a:p>
          <a:p>
            <a:pPr algn="l">
              <a:spcAft>
                <a:spcPts val="910"/>
              </a:spcAft>
            </a:pPr>
            <a:r>
              <a:rPr sz="2600" b="0">
                <a:solidFill>
                  <a:srgbClr val="15171C"/>
                </a:solidFill>
                <a:latin typeface="Calibri"/>
              </a:rPr>
              <a:t>•  Constatarea și limita ei</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23/33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Eurostat, hlth_hlye</a:t>
            </a:r>
          </a:p>
        </p:txBody>
      </p:sp>
      <p:sp>
        <p:nvSpPr>
          <p:cNvPr id="5" name="TextBox 4"/>
          <p:cNvSpPr txBox="1"/>
          <p:nvPr/>
        </p:nvSpPr>
        <p:spPr>
          <a:xfrm>
            <a:off x="640080" y="1600200"/>
            <a:ext cx="10911535" cy="208915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Setul hlth_hlye: la naștere, la 50 și la 65 de ani, pe sexe [10]</a:t>
            </a:r>
          </a:p>
          <a:p>
            <a:pPr algn="l">
              <a:spcAft>
                <a:spcPts val="910"/>
              </a:spcAft>
            </a:pPr>
            <a:r>
              <a:rPr sz="2600" b="0">
                <a:solidFill>
                  <a:srgbClr val="15171C"/>
                </a:solidFill>
                <a:latin typeface="Calibri"/>
              </a:rPr>
              <a:t>•  România și agregatul EU27_2020</a:t>
            </a:r>
          </a:p>
          <a:p>
            <a:pPr algn="l">
              <a:spcAft>
                <a:spcPts val="910"/>
              </a:spcAft>
            </a:pPr>
            <a:r>
              <a:rPr sz="2600" b="0">
                <a:solidFill>
                  <a:srgbClr val="15171C"/>
                </a:solidFill>
                <a:latin typeface="Calibri"/>
              </a:rPr>
              <a:t>•  Ultimul an și anul precedent, cu marcajele</a:t>
            </a:r>
          </a:p>
          <a:p>
            <a:pPr algn="l">
              <a:spcAft>
                <a:spcPts val="910"/>
              </a:spcAft>
            </a:pPr>
            <a:r>
              <a:rPr sz="2600" b="0">
                <a:solidFill>
                  <a:srgbClr val="15171C"/>
                </a:solidFill>
                <a:latin typeface="Calibri"/>
              </a:rPr>
              <a:t>•  b ruptură de serie, e estimat, p provizoriu [11]</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[10] Eurostat, hlth_hlye; [11] Eurostat, hlth_hlye</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24/33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A treia sarcină: anii de viață sănătoasă</a:t>
            </a:r>
          </a:p>
        </p:txBody>
      </p:sp>
      <p:sp>
        <p:nvSpPr>
          <p:cNvPr id="5" name="TextBox 4"/>
          <p:cNvSpPr txBox="1"/>
          <p:nvPr/>
        </p:nvSpPr>
        <p:spPr>
          <a:xfrm>
            <a:off x="640080" y="1600200"/>
            <a:ext cx="10911535" cy="156083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Tabelul din Fișa de lucru 1, cu marcajele Eurostat [4]</a:t>
            </a:r>
          </a:p>
          <a:p>
            <a:pPr algn="l">
              <a:spcAft>
                <a:spcPts val="910"/>
              </a:spcAft>
            </a:pPr>
            <a:r>
              <a:rPr sz="2600" b="0">
                <a:solidFill>
                  <a:srgbClr val="15171C"/>
                </a:solidFill>
                <a:latin typeface="Calibri"/>
              </a:rPr>
              <a:t>•  O constatare despre România față de UE</a:t>
            </a:r>
          </a:p>
          <a:p>
            <a:pPr algn="l">
              <a:spcAft>
                <a:spcPts val="910"/>
              </a:spcAft>
            </a:pPr>
            <a:r>
              <a:rPr sz="2600" b="0">
                <a:solidFill>
                  <a:srgbClr val="15171C"/>
                </a:solidFill>
                <a:latin typeface="Calibri"/>
              </a:rPr>
              <a:t>•  O limită concretă a datelor</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[4] Fișa disciplinei, 2026–2027</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25/33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Citarea completă</a:t>
            </a:r>
          </a:p>
        </p:txBody>
      </p:sp>
      <p:sp>
        <p:nvSpPr>
          <p:cNvPr id="5" name="TextBox 4"/>
          <p:cNvSpPr txBox="1"/>
          <p:nvPr/>
        </p:nvSpPr>
        <p:spPr>
          <a:xfrm>
            <a:off x="640080" y="1600200"/>
            <a:ext cx="10911535" cy="156083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Instrumentul și runda GBD</a:t>
            </a:r>
          </a:p>
          <a:p>
            <a:pPr algn="l">
              <a:spcAft>
                <a:spcPts val="910"/>
              </a:spcAft>
            </a:pPr>
            <a:r>
              <a:rPr sz="2600" b="0">
                <a:solidFill>
                  <a:srgbClr val="15171C"/>
                </a:solidFill>
                <a:latin typeface="Calibri"/>
              </a:rPr>
              <a:t>•  Măsura și metrica</a:t>
            </a:r>
          </a:p>
          <a:p>
            <a:pPr algn="l">
              <a:spcAft>
                <a:spcPts val="910"/>
              </a:spcAft>
            </a:pPr>
            <a:r>
              <a:rPr sz="2600" b="0">
                <a:solidFill>
                  <a:srgbClr val="15171C"/>
                </a:solidFill>
                <a:latin typeface="Calibri"/>
              </a:rPr>
              <a:t>•  Vârsta, sexul, locația, anul</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26/33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73F4B"/>
        </a:solidFill>
        <a:effectLst/>
      </p:bgPr>
    </p:bg>
    <p:spTree>
      <p:nvGrpSpPr>
        <p:cNvPr id="1" name=""/>
        <p:cNvGrpSpPr/>
        <p:nvPr/>
      </p:nvGrpSpPr>
      <p:grpSpPr/>
      <p:sp>
        <p:nvSpPr>
          <p:cNvPr id="2" name="Rectangle 1"/>
          <p:cNvSpPr/>
          <p:nvPr/>
        </p:nvSpPr>
        <p:spPr>
          <a:xfrm>
            <a:off x="0" y="6748272"/>
            <a:ext cx="9509522" cy="109728"/>
          </a:xfrm>
          <a:prstGeom prst="rect">
            <a:avLst/>
          </a:prstGeom>
          <a:solidFill>
            <a:srgbClr val="D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6748272"/>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0"/>
            <a:ext cx="10911535" cy="2011680"/>
          </a:xfrm>
          <a:prstGeom prst="rect">
            <a:avLst/>
          </a:prstGeom>
          <a:noFill/>
        </p:spPr>
        <p:txBody>
          <a:bodyPr wrap="square" lIns="0" rIns="0" tIns="0" bIns="0" anchor="ctr">
            <a:spAutoFit/>
          </a:bodyPr>
          <a:lstStyle/>
          <a:p>
            <a:pPr algn="l">
              <a:spcAft>
                <a:spcPts val="1539"/>
              </a:spcAft>
            </a:pPr>
            <a:r>
              <a:rPr sz="4400" b="1">
                <a:solidFill>
                  <a:srgbClr val="FFFFFF"/>
                </a:solidFill>
                <a:latin typeface="Cambria"/>
              </a:rPr>
              <a:t>Sinteza lucrării</a:t>
            </a:r>
          </a:p>
        </p:txBody>
      </p:sp>
      <p:sp>
        <p:nvSpPr>
          <p:cNvPr id="5" name="TextBox 4"/>
          <p:cNvSpPr txBox="1"/>
          <p:nvPr/>
        </p:nvSpPr>
        <p:spPr>
          <a:xfrm>
            <a:off x="640080" y="4114800"/>
            <a:ext cx="10911535" cy="731520"/>
          </a:xfrm>
          <a:prstGeom prst="rect">
            <a:avLst/>
          </a:prstGeom>
          <a:noFill/>
        </p:spPr>
        <p:txBody>
          <a:bodyPr wrap="square" lIns="0" rIns="0" tIns="0" bIns="0" anchor="t">
            <a:spAutoFit/>
          </a:bodyPr>
          <a:lstStyle/>
          <a:p>
            <a:pPr algn="l">
              <a:spcAft>
                <a:spcPts val="630"/>
              </a:spcAft>
            </a:pPr>
            <a:r>
              <a:rPr sz="1800" b="0">
                <a:solidFill>
                  <a:srgbClr val="D4E6EA"/>
                </a:solidFill>
                <a:latin typeface="Calibri"/>
              </a:rPr>
              <a:t>SINTEZĂ · Discuția comparativă · Grila de evaluare · Ce nu putem afirma</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D4E6EA"/>
                </a:solidFill>
                <a:latin typeface="Calibri"/>
              </a:rPr>
              <a:t>27/33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9EBE3"/>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Șase ani de viață sănătoasă într-un an?</a:t>
            </a:r>
          </a:p>
        </p:txBody>
      </p:sp>
      <p:sp>
        <p:nvSpPr>
          <p:cNvPr id="5" name="TextBox 4"/>
          <p:cNvSpPr txBox="1"/>
          <p:nvPr/>
        </p:nvSpPr>
        <p:spPr>
          <a:xfrm>
            <a:off x="640080" y="1600200"/>
            <a:ext cx="10911535" cy="208915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Afirmația: aproape șase ani câștigați într-un an</a:t>
            </a:r>
          </a:p>
          <a:p>
            <a:pPr algn="l">
              <a:spcAft>
                <a:spcPts val="910"/>
              </a:spcAft>
            </a:pPr>
            <a:r>
              <a:rPr sz="2600" b="0">
                <a:solidFill>
                  <a:srgbClr val="15171C"/>
                </a:solidFill>
                <a:latin typeface="Calibri"/>
              </a:rPr>
              <a:t>•  59,2 ani în 2023, 65,0 în 2024; UE 65,2 [12,13]</a:t>
            </a:r>
          </a:p>
          <a:p>
            <a:pPr algn="l">
              <a:spcAft>
                <a:spcPts val="910"/>
              </a:spcAft>
            </a:pPr>
            <a:r>
              <a:rPr sz="2600" b="0">
                <a:solidFill>
                  <a:srgbClr val="15171C"/>
                </a:solidFill>
                <a:latin typeface="Calibri"/>
              </a:rPr>
              <a:t>•  Speranța de viață: 76,4 → 76,5 ani [14]</a:t>
            </a:r>
          </a:p>
          <a:p>
            <a:pPr algn="l">
              <a:spcAft>
                <a:spcPts val="910"/>
              </a:spcAft>
            </a:pPr>
            <a:r>
              <a:rPr sz="2600" b="0">
                <a:solidFill>
                  <a:srgbClr val="15171C"/>
                </a:solidFill>
                <a:latin typeface="Calibri"/>
              </a:rPr>
              <a:t>•  Marcajul b: ruptură de serie [13,11]</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[12] Eurostat, hlth_hlye, 2023 — valori marcate de Eurostat (RO „e”, UE-27 „bep”); [13] Eurostat, hlth_hlye, 2024 — România: ruptură de serie, valoare estimată („be”); [14] Eurostat, hlth_hlye, 2023–2024 — România: valoare estimată („e”) în 2023; [11] Eurostat, hlth_hlye</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28/33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Două distanțe</a:t>
            </a:r>
          </a:p>
        </p:txBody>
      </p:sp>
      <p:sp>
        <p:nvSpPr>
          <p:cNvPr id="5" name="TextBox 4"/>
          <p:cNvSpPr txBox="1"/>
          <p:nvPr/>
        </p:nvSpPr>
        <p:spPr>
          <a:xfrm>
            <a:off x="640080" y="1600200"/>
            <a:ext cx="10911535" cy="156083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Profilul CIF: funcții, activități, roluri, mediu</a:t>
            </a:r>
          </a:p>
          <a:p>
            <a:pPr algn="l">
              <a:spcAft>
                <a:spcPts val="910"/>
              </a:spcAft>
            </a:pPr>
            <a:r>
              <a:rPr sz="2600" b="0">
                <a:solidFill>
                  <a:srgbClr val="15171C"/>
                </a:solidFill>
                <a:latin typeface="Calibri"/>
              </a:rPr>
              <a:t>•  Datele GBD: câte persoane, câți ani de viață sănătoasă pierduți</a:t>
            </a:r>
          </a:p>
          <a:p>
            <a:pPr algn="l">
              <a:spcAft>
                <a:spcPts val="910"/>
              </a:spcAft>
            </a:pPr>
            <a:r>
              <a:rPr sz="2600" b="0">
                <a:solidFill>
                  <a:srgbClr val="15171C"/>
                </a:solidFill>
                <a:latin typeface="Calibri"/>
              </a:rPr>
              <a:t>•  Serviciul se planifică pornind de la ambele</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29/33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Discuția comparativă</a:t>
            </a:r>
          </a:p>
        </p:txBody>
      </p:sp>
      <p:sp>
        <p:nvSpPr>
          <p:cNvPr id="5" name="TextBox 4"/>
          <p:cNvSpPr txBox="1"/>
          <p:nvPr/>
        </p:nvSpPr>
        <p:spPr>
          <a:xfrm>
            <a:off x="640080" y="1600200"/>
            <a:ext cx="10911535" cy="197358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Câte un student pentru fiecare afecțiune: bariera principală și cifra de povară</a:t>
            </a:r>
          </a:p>
          <a:p>
            <a:pPr algn="l">
              <a:spcAft>
                <a:spcPts val="910"/>
              </a:spcAft>
            </a:pPr>
            <a:r>
              <a:rPr sz="2600" b="0">
                <a:solidFill>
                  <a:srgbClr val="15171C"/>
                </a:solidFill>
                <a:latin typeface="Calibri"/>
              </a:rPr>
              <a:t>•  Care afecțiune produce cei mai mulți ani trăiți cu dizabilitate?</a:t>
            </a:r>
          </a:p>
          <a:p>
            <a:pPr algn="l">
              <a:spcAft>
                <a:spcPts val="910"/>
              </a:spcAft>
            </a:pPr>
            <a:r>
              <a:rPr sz="2600" b="0">
                <a:solidFill>
                  <a:srgbClr val="15171C"/>
                </a:solidFill>
                <a:latin typeface="Calibri"/>
              </a:rPr>
              <a:t>•  La care au evoluat numărul și rata în sensuri diferite?</a:t>
            </a:r>
          </a:p>
        </p:txBody>
      </p:sp>
      <p:sp>
        <p:nvSpPr>
          <p:cNvPr id="6" name="TextBox 5"/>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30/33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Grila de evaluare</a:t>
            </a:r>
          </a:p>
        </p:txBody>
      </p:sp>
      <p:sp>
        <p:nvSpPr>
          <p:cNvPr id="5" name="TextBox 4"/>
          <p:cNvSpPr txBox="1"/>
          <p:nvPr/>
        </p:nvSpPr>
        <p:spPr>
          <a:xfrm>
            <a:off x="640080" y="1600200"/>
            <a:ext cx="10911535" cy="303022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Criteriile fișei disciplinei: completitudine și corectitudine, citare, argumentare [15]</a:t>
            </a:r>
          </a:p>
          <a:p>
            <a:pPr algn="l">
              <a:spcAft>
                <a:spcPts val="910"/>
              </a:spcAft>
            </a:pPr>
            <a:r>
              <a:rPr sz="2600" b="0">
                <a:solidFill>
                  <a:srgbClr val="15171C"/>
                </a:solidFill>
                <a:latin typeface="Calibri"/>
              </a:rPr>
              <a:t>•  Profilul CIF și obiectivul</a:t>
            </a:r>
          </a:p>
          <a:p>
            <a:pPr algn="l">
              <a:spcAft>
                <a:spcPts val="910"/>
              </a:spcAft>
            </a:pPr>
            <a:r>
              <a:rPr sz="2600" b="0">
                <a:solidFill>
                  <a:srgbClr val="15171C"/>
                </a:solidFill>
                <a:latin typeface="Calibri"/>
              </a:rPr>
              <a:t>•  Datele și schimbările procentuale</a:t>
            </a:r>
          </a:p>
          <a:p>
            <a:pPr algn="l">
              <a:spcAft>
                <a:spcPts val="910"/>
              </a:spcAft>
            </a:pPr>
            <a:r>
              <a:rPr sz="2600" b="0">
                <a:solidFill>
                  <a:srgbClr val="15171C"/>
                </a:solidFill>
                <a:latin typeface="Calibri"/>
              </a:rPr>
              <a:t>•  Citarea exactă</a:t>
            </a:r>
          </a:p>
          <a:p>
            <a:pPr algn="l">
              <a:spcAft>
                <a:spcPts val="910"/>
              </a:spcAft>
            </a:pPr>
            <a:r>
              <a:rPr sz="2600" b="0">
                <a:solidFill>
                  <a:srgbClr val="15171C"/>
                </a:solidFill>
                <a:latin typeface="Calibri"/>
              </a:rPr>
              <a:t>•  Argumentarea, cu limita datelor</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[15] Fișa disciplinei, 2026–2027</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31/33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509522" cy="109728"/>
          </a:xfrm>
          <a:prstGeom prst="rect">
            <a:avLst/>
          </a:prstGeom>
          <a:solidFill>
            <a:srgbClr val="0A5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0"/>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11535" cy="914400"/>
          </a:xfrm>
          <a:prstGeom prst="rect">
            <a:avLst/>
          </a:prstGeom>
          <a:noFill/>
        </p:spPr>
        <p:txBody>
          <a:bodyPr wrap="square" lIns="0" rIns="0" tIns="0" bIns="0" anchor="b">
            <a:spAutoFit/>
          </a:bodyPr>
          <a:lstStyle/>
          <a:p>
            <a:pPr algn="l">
              <a:spcAft>
                <a:spcPts val="1120"/>
              </a:spcAft>
            </a:pPr>
            <a:r>
              <a:rPr sz="3200" b="1">
                <a:solidFill>
                  <a:srgbClr val="15171C"/>
                </a:solidFill>
                <a:latin typeface="Cambria"/>
              </a:rPr>
              <a:t>Ce nu putem afirma</a:t>
            </a:r>
          </a:p>
        </p:txBody>
      </p:sp>
      <p:sp>
        <p:nvSpPr>
          <p:cNvPr id="5" name="TextBox 4"/>
          <p:cNvSpPr txBox="1"/>
          <p:nvPr/>
        </p:nvSpPr>
        <p:spPr>
          <a:xfrm>
            <a:off x="640080" y="1600200"/>
            <a:ext cx="10911535" cy="1560830"/>
          </a:xfrm>
          <a:prstGeom prst="rect">
            <a:avLst/>
          </a:prstGeom>
          <a:noFill/>
        </p:spPr>
        <p:txBody>
          <a:bodyPr wrap="square" lIns="0" rIns="0" tIns="0" bIns="0" anchor="t">
            <a:spAutoFit/>
          </a:bodyPr>
          <a:lstStyle/>
          <a:p>
            <a:pPr algn="l">
              <a:spcAft>
                <a:spcPts val="910"/>
              </a:spcAft>
            </a:pPr>
            <a:r>
              <a:rPr sz="2600" b="0">
                <a:solidFill>
                  <a:srgbClr val="15171C"/>
                </a:solidFill>
                <a:latin typeface="Calibri"/>
              </a:rPr>
              <a:t>•  Fractura de șold separat [9,2]</a:t>
            </a:r>
          </a:p>
          <a:p>
            <a:pPr algn="l">
              <a:spcAft>
                <a:spcPts val="910"/>
              </a:spcAft>
            </a:pPr>
            <a:r>
              <a:rPr sz="2600" b="0">
                <a:solidFill>
                  <a:srgbClr val="15171C"/>
                </a:solidFill>
                <a:latin typeface="Calibri"/>
              </a:rPr>
              <a:t>•  Serviciile primite efectiv [16]</a:t>
            </a:r>
          </a:p>
          <a:p>
            <a:pPr algn="l">
              <a:spcAft>
                <a:spcPts val="910"/>
              </a:spcAft>
            </a:pPr>
            <a:r>
              <a:rPr sz="2600" b="0">
                <a:solidFill>
                  <a:srgbClr val="15171C"/>
                </a:solidFill>
                <a:latin typeface="Calibri"/>
              </a:rPr>
              <a:t>•  Tendința anilor de viață sănătoasă [13]</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[9] OMS și IHME, Rehabilitation Need Estimator (GBD 2021), 2021; [2] IHME, GBD Compare; [16] OMS și IHME, Rehabilitation Need Estimator (GBD 2021), 2021; [13] Eurostat, hlth_hlye, 2024 — România: ruptură de serie, valoare estimată („be”)</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474A52"/>
                </a:solidFill>
                <a:latin typeface="Calibri"/>
              </a:rPr>
              <a:t>32/33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73F4B"/>
        </a:solidFill>
        <a:effectLst/>
      </p:bgPr>
    </p:bg>
    <p:spTree>
      <p:nvGrpSpPr>
        <p:cNvPr id="1" name=""/>
        <p:cNvGrpSpPr/>
        <p:nvPr/>
      </p:nvGrpSpPr>
      <p:grpSpPr/>
      <p:sp>
        <p:nvSpPr>
          <p:cNvPr id="2" name="Rectangle 1"/>
          <p:cNvSpPr/>
          <p:nvPr/>
        </p:nvSpPr>
        <p:spPr>
          <a:xfrm>
            <a:off x="0" y="6748272"/>
            <a:ext cx="9509522" cy="109728"/>
          </a:xfrm>
          <a:prstGeom prst="rect">
            <a:avLst/>
          </a:prstGeom>
          <a:solidFill>
            <a:srgbClr val="D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522" y="6748272"/>
            <a:ext cx="2682172" cy="109728"/>
          </a:xfrm>
          <a:prstGeom prst="rect">
            <a:avLst/>
          </a:prstGeom>
          <a:solidFill>
            <a:srgbClr val="B94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0"/>
            <a:ext cx="10911535" cy="2011680"/>
          </a:xfrm>
          <a:prstGeom prst="rect">
            <a:avLst/>
          </a:prstGeom>
          <a:noFill/>
        </p:spPr>
        <p:txBody>
          <a:bodyPr wrap="square" lIns="0" rIns="0" tIns="0" bIns="0" anchor="ctr">
            <a:spAutoFit/>
          </a:bodyPr>
          <a:lstStyle/>
          <a:p>
            <a:pPr algn="ctr">
              <a:spcAft>
                <a:spcPts val="1539"/>
              </a:spcAft>
            </a:pPr>
            <a:r>
              <a:rPr sz="4400" b="1">
                <a:solidFill>
                  <a:srgbClr val="FFFFFF"/>
                </a:solidFill>
                <a:latin typeface="Cambria"/>
              </a:rPr>
              <a:t>Predarea și pașii următori</a:t>
            </a:r>
          </a:p>
        </p:txBody>
      </p:sp>
      <p:sp>
        <p:nvSpPr>
          <p:cNvPr id="5" name="TextBox 4"/>
          <p:cNvSpPr txBox="1"/>
          <p:nvPr/>
        </p:nvSpPr>
        <p:spPr>
          <a:xfrm>
            <a:off x="640080" y="4114800"/>
            <a:ext cx="10911535" cy="731520"/>
          </a:xfrm>
          <a:prstGeom prst="rect">
            <a:avLst/>
          </a:prstGeom>
          <a:noFill/>
        </p:spPr>
        <p:txBody>
          <a:bodyPr wrap="square" lIns="0" rIns="0" tIns="0" bIns="0" anchor="t">
            <a:spAutoFit/>
          </a:bodyPr>
          <a:lstStyle/>
          <a:p>
            <a:pPr algn="l">
              <a:spcAft>
                <a:spcPts val="630"/>
              </a:spcAft>
            </a:pPr>
            <a:r>
              <a:rPr sz="1800" b="0">
                <a:solidFill>
                  <a:srgbClr val="D4E6EA"/>
                </a:solidFill>
                <a:latin typeface="Calibri"/>
              </a:rPr>
              <a:t>Prin e-mail, la final sau în cel mult 48 de ore [5]</a:t>
            </a:r>
          </a:p>
          <a:p>
            <a:pPr algn="l">
              <a:spcAft>
                <a:spcPts val="630"/>
              </a:spcAft>
            </a:pPr>
            <a:r>
              <a:rPr sz="1800" b="0">
                <a:solidFill>
                  <a:srgbClr val="D4E6EA"/>
                </a:solidFill>
                <a:latin typeface="Calibri"/>
              </a:rPr>
              <a:t>Fiecare valoare cu sursa exactă</a:t>
            </a:r>
          </a:p>
          <a:p>
            <a:pPr algn="l">
              <a:spcAft>
                <a:spcPts val="630"/>
              </a:spcAft>
            </a:pPr>
            <a:r>
              <a:rPr sz="1800" b="0">
                <a:solidFill>
                  <a:srgbClr val="D4E6EA"/>
                </a:solidFill>
                <a:latin typeface="Calibri"/>
              </a:rPr>
              <a:t>Rezolvările-model, după termenul de predare</a:t>
            </a:r>
          </a:p>
        </p:txBody>
      </p:sp>
      <p:sp>
        <p:nvSpPr>
          <p:cNvPr id="6" name="TextBox 5"/>
          <p:cNvSpPr txBox="1"/>
          <p:nvPr/>
        </p:nvSpPr>
        <p:spPr>
          <a:xfrm>
            <a:off x="640080" y="6263640"/>
            <a:ext cx="10180015" cy="365760"/>
          </a:xfrm>
          <a:prstGeom prst="rect">
            <a:avLst/>
          </a:prstGeom>
          <a:noFill/>
        </p:spPr>
        <p:txBody>
          <a:bodyPr wrap="square" lIns="0" rIns="0" tIns="0" bIns="0" anchor="t">
            <a:spAutoFit/>
          </a:bodyPr>
          <a:lstStyle/>
          <a:p>
            <a:pPr algn="l">
              <a:spcAft>
                <a:spcPts val="350"/>
              </a:spcAft>
            </a:pPr>
            <a:r>
              <a:rPr sz="1000" b="0">
                <a:solidFill>
                  <a:srgbClr val="474A52"/>
                </a:solidFill>
                <a:latin typeface="Calibri"/>
              </a:rPr>
              <a:t>[5] Fișa disciplinei, 2026–2027</a:t>
            </a:r>
          </a:p>
        </p:txBody>
      </p:sp>
      <p:sp>
        <p:nvSpPr>
          <p:cNvPr id="7" name="TextBox 6"/>
          <p:cNvSpPr txBox="1"/>
          <p:nvPr/>
        </p:nvSpPr>
        <p:spPr>
          <a:xfrm>
            <a:off x="11094415" y="6355080"/>
            <a:ext cx="731520" cy="274320"/>
          </a:xfrm>
          <a:prstGeom prst="rect">
            <a:avLst/>
          </a:prstGeom>
          <a:noFill/>
        </p:spPr>
        <p:txBody>
          <a:bodyPr wrap="square" lIns="0" rIns="0" tIns="0" bIns="0" anchor="t">
            <a:spAutoFit/>
          </a:bodyPr>
          <a:lstStyle/>
          <a:p>
            <a:pPr algn="r">
              <a:spcAft>
                <a:spcPts val="315"/>
              </a:spcAft>
            </a:pPr>
            <a:r>
              <a:rPr sz="900" b="0">
                <a:solidFill>
                  <a:srgbClr val="D4E6EA"/>
                </a:solidFill>
                <a:latin typeface="Calibri"/>
              </a:rPr>
              <a:t>33/33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Profilul afecțiunii-ancoră: de la cazul individual la povara populațională</dc:title>
  <dc:subject>LP01 · ro</dc:subject>
  <dc:creator/>
  <cp:keywords>sursa_amprenta=e9b91c0dec240cd6; diapozitive=33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