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7-1.jpg" ContentType="image/jpg"/>
  <Override PartName="/ppt/media/image-2-1.jpg" ContentType="image/jpg"/>
  <Override PartName="/ppt/media/image-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sala_kinetoterapie_comm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5295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933895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Sală de kinetoterapie într-o clinică privată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33895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Hilahalumit, Wikimedia Commons · CC BY-SA 4.0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40080" y="73152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7315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LUCRARE PRACTICĂ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afecțiunii-ancoră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cazul individual la povara populațională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67512" y="397764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0080" y="41605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· Balneofiziokinetoterapie și recuperare, anul III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 · UMF „Iuliu Hațieganu” Cluj-Napoca · 2026–2027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577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Aveți nevoie de laptop, tabletă sau telefon, cu acces la internet.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casa_marcat_comm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5295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933895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casă de marcat. Fără scaun.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33895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Triplec85, Wikimedia Commons · CC BY-SA 4.0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347472"/>
            <a:ext cx="6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A · LOMBALGIA CRONICĂ, EXEMPLU PE ECRAN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 A: doi ani de durere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94360" y="1508760"/>
            <a:ext cx="58521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7099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Cincizeci și doi de ani · operatoare de casă de marcat, ture de douăsprezece ore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2286000"/>
            <a:ext cx="530352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68680" y="2468880"/>
            <a:ext cx="64008" cy="5212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97280" y="24231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lombară fără cauză specifică; crește după statul în picioare și o trezește uneori noaptea.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68680" y="3218688"/>
            <a:ext cx="64008" cy="5212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97280" y="317296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concedii medicale într-un an. La casa de marcat nu există scaun ajustabil.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68680" y="3968496"/>
            <a:ext cx="64008" cy="5212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97280" y="392277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renunțat la dansurile populare și evită mersul: se teme că mișcarea îi agravează boala.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718304"/>
            <a:ext cx="64008" cy="5212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97280" y="467258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Recuperarea recomandată e în alt oraș, cu programul în timpul turelor ei.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68680" y="5340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în scop didactic; persoana nu există.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5806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o oprește mai mult: durerea sau ce o înconjoară?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PARCURSUL DE AZI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afecțiune, de la două distanțe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64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 · PERSOANA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de funcționare al cazului dumneavoastră (pe ecran: pacienta A): ce poate face, ce face efectiv și ce o ajută sau o împiedică.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764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 · POPULAȚIA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persoane din România trăiesc cu afecțiunea dumneavoastră (pe ecran: lombalgia), câți ani trăiți cu dizabilitate produce și cum au evoluat valorile.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224528"/>
            <a:ext cx="1060704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4087368"/>
            <a:ext cx="292608" cy="292608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498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deschiderea, 5′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087368"/>
            <a:ext cx="292608" cy="292608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46120" y="4498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CIF, 45′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4087368"/>
            <a:ext cx="292608" cy="292608"/>
          </a:xfrm>
          <a:prstGeom prst="ellipse">
            <a:avLst/>
          </a:prstGeom>
          <a:solidFill>
            <a:srgbClr val="0E7C6B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60720" y="4498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povara, 50′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66760" y="4087368"/>
            <a:ext cx="292608" cy="292608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75320" y="4498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discuția, 10′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881360" y="4087368"/>
            <a:ext cx="292608" cy="292608"/>
          </a:xfrm>
          <a:prstGeom prst="ellipse">
            <a:avLst/>
          </a:prstGeom>
          <a:solidFill>
            <a:srgbClr val="9C4A0A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789920" y="4498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exit ticket, 5′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Produsul: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lucru 1, completată individual și predată în formularul Microsoft Forms al lucrării.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ACCESUL LA DATE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instrumente, aceeași regulă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926080"/>
          </a:xfrm>
          <a:prstGeom prst="roundRect">
            <a:avLst>
              <a:gd name="adj" fmla="val 281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0" y="1600200"/>
            <a:ext cx="5349240" cy="2926080"/>
          </a:xfrm>
          <a:prstGeom prst="roundRect">
            <a:avLst>
              <a:gd name="adj" fmla="val 2813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81051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CONT IHME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Afișează runda GBD 2023. Cere înregistrare și autentificare: contul se creează înaintea lucrării, din pagina instrumentului.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181051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CONT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WHO Rehabilitation Need Estimator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92240" y="2834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Runda GBD 2021. Prevalența și anii trăiți cu dizabilitate pentru 27 de afecțiuni, pe anii 1990–2021.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7548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4754880"/>
            <a:ext cx="82296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din cele două instrumente nu se compară și nu stau în același tabel: provin din runde diferite ale studiului GBD. Fără cont, lucrați pe instrumentul OMS.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4206240" y="1737360"/>
            <a:ext cx="32004" cy="173736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709160" y="175564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I: profilul de funcționare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709160" y="2788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Opt pași, de la problema de sănătate la viața de zi cu zi a cazului dumneavoastră (pe ecran: pacienta A). Lucrați individual, 45 de minute.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Opt pași, în această ordine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82496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de sănătate: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diagnosticul, de când există, ce tratamente.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706624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6700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și structurile corpului: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deficiențele, de exemplu durerea sau forța scăzută.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730752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69417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sarcinile concrete făcute cu dificultate.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7183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rolurile de viață afectate: munca, familia, recreerea.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645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mediu,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marcat ca barieră sau ca facilitator.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706624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6700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personali: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vârsta, profesia, convingerile despre boală.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730752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369417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Alegerea: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mai importante două bariere și două facilitatoare.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475488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7183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de recuperare,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nivelul participării: o situație de viață.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Definițiile componentelor: notele cursului 1, modelul CIF.</a:t>
            </a:r>
            <a:endParaRPr lang="en-US" sz="1300" dirty="0"/>
          </a:p>
        </p:txBody>
      </p:sp>
      <p:sp>
        <p:nvSpPr>
          <p:cNvPr id="28" name="Text 27"/>
          <p:cNvSpPr/>
          <p:nvPr/>
        </p:nvSpPr>
        <p:spPr>
          <a:xfrm>
            <a:off x="1143000" y="5440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 are o singură listă; aici, activitatea = sarcina, participarea = rolul de viață.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sala_proceduri_comm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Sală de proceduri de fizioterapie într-o clinică din Karelia, Rusia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28600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Igor Georgievskiy, Wikimedia Commons · CC BY-SA 4.0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0" y="411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 ȘI PERFORMANȚĂ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772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sală poate. Acasă face?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943600" y="173736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172200" y="173736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poate face persoana într-un mediu standard, de exemplu în sala de recuperare.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43600" y="315468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72200" y="315468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Performanța: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efectiv acasă, la muncă sau în comunitate.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43600" y="46634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 dintre cele două arată rolul mediului. Ghidul OMS prevede ambii calificatori pentru activitate și participare, adică pentru codurile 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LUCRU INDIVIDUAL · 45′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SARCINĂ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CIF al pacientei 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603504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600200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de sănătate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02996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Funcțiile și structurile corpului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59736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459736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89504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88950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19272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319272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mediu (B sau F)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749040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personali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178808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17880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bariere principale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608576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608576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facilitatoare principale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5038344"/>
            <a:ext cx="6035040" cy="2743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03834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la nivelul participării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1600200"/>
            <a:ext cx="27432" cy="3867912"/>
          </a:xfrm>
          <a:prstGeom prst="rect">
            <a:avLst/>
          </a:prstGeom>
          <a:solidFill>
            <a:srgbClr val="E2DFD7"/>
          </a:solidFill>
          <a:ln w="12700">
            <a:solidFill>
              <a:srgbClr val="E2DFD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55412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Tabelul din Fișa de lucru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691640"/>
            <a:ext cx="64008" cy="8229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78040" y="1645920"/>
            <a:ext cx="4389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două elemente pe fiecare rând.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2743200"/>
            <a:ext cx="64008" cy="82296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178040" y="2697480"/>
            <a:ext cx="4389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factor de mediu primește „B” (barieră) sau „F” (facilitator).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9440" y="3794760"/>
            <a:ext cx="64008" cy="8229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78040" y="3749040"/>
            <a:ext cx="4389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două sau trei propoziții: ce intervenție din afara sălii de recuperare i-ar schimba cel mai mult funcționarea?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49440" y="4892040"/>
            <a:ext cx="4617720" cy="1143000"/>
          </a:xfrm>
          <a:prstGeom prst="roundRect">
            <a:avLst>
              <a:gd name="adj" fmla="val 7200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78040" y="48920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confuzii frecvente: 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activitate trecută la funcțiile corpului; un factor personal trecut la factorii de mediu.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II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4206240" y="1737360"/>
            <a:ext cx="32004" cy="1737360"/>
          </a:xfrm>
          <a:prstGeom prst="rect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709160" y="175564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II-a: povara în România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709160" y="2788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persoane, câți ani trăiți cu dizabilitate, ce tendință; apoi anii de viață sănătoasă ai României și ai UE. Lucrați individual, 50 de minute.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POVARA, ÎNAINTE DE CIFRE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Lombalgia, pe primul loc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Afecțiunile care pot beneficia de recuperare, în România, ordonate după anii trăiți cu dizabilitate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30552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4754880" cy="38404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843784"/>
            <a:ext cx="402336" cy="402336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706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Fracturile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862072"/>
            <a:ext cx="1703168" cy="38404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3557016"/>
            <a:ext cx="402336" cy="402336"/>
          </a:xfrm>
          <a:prstGeom prst="ellipse">
            <a:avLst/>
          </a:prstGeom>
          <a:solidFill>
            <a:srgbClr val="D6D3C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4838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Pierderea auzului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0" y="3575304"/>
            <a:ext cx="1423857" cy="384048"/>
          </a:xfrm>
          <a:prstGeom prst="rect">
            <a:avLst/>
          </a:prstGeom>
          <a:solidFill>
            <a:srgbClr val="A9ACB6"/>
          </a:solidFill>
          <a:ln w="12700">
            <a:solidFill>
              <a:srgbClr val="A9ACB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4270248"/>
            <a:ext cx="402336" cy="402336"/>
          </a:xfrm>
          <a:prstGeom prst="ellipse">
            <a:avLst/>
          </a:prstGeom>
          <a:solidFill>
            <a:srgbClr val="D6D3C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1970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Artroza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29000" y="4288536"/>
            <a:ext cx="1004679" cy="384048"/>
          </a:xfrm>
          <a:prstGeom prst="rect">
            <a:avLst/>
          </a:prstGeom>
          <a:solidFill>
            <a:srgbClr val="A9ACB6"/>
          </a:solidFill>
          <a:ln w="12700">
            <a:solidFill>
              <a:srgbClr val="A9ACB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4983480"/>
            <a:ext cx="402336" cy="402336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10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Accidentul vascular cerebral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5001768"/>
            <a:ext cx="819316" cy="3840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458200" y="2057400"/>
            <a:ext cx="3108960" cy="3429000"/>
          </a:xfrm>
          <a:prstGeom prst="roundRect">
            <a:avLst>
              <a:gd name="adj" fmla="val 2647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0" y="219456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Lungimile barelor sunt cele din estimările OMS. Valorile exacte, cu intervalul de incertitudine și citarea completă, le extrageți dumneavoastră.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0" y="43434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cele trei afecțiuni-ancoră apar aici; fractura de șold se caută în grupul fracturilor.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WHO Rehabilitation Need Estimator (IHME, GBD 2021), România, ambele sexe, toate vârstele, ani trăiți cu dizabilitate (număr); date extrase la 27.09.2026.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EXTRAGE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cifre și o tendință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45920"/>
            <a:ext cx="352044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Volumul nevoii de servicii: câte persoane trăiesc cu afecțiunea.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6260" y="1645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66260" y="1645920"/>
            <a:ext cx="3520440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058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pe vârstă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40580" y="2743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anii ca și cum structura pe vârste ar fi aceeași.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de incertitudine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Arată cât de precisă este estimarea. Se cere pentru ratele standardizate.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Tendința: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an al seriei, 1990, și ultimul an disponibil, pentru prevalență și pentru anii trăiți cu dizabilitate.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și rata pot evolua în sensuri diferite. De ce: întrebarea sarcinii a doua.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PAȘII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cifre, două drumuri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0" y="155448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Compare, cu cont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31136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9456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Intrați în cont.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9806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Setări: măsura (întâi YLD), metrica (întâi numărul), toate vârstele, ambele sexe, România, ultimul 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438144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3215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Treemap: afecțiunea în ierarhia cauzelor (lombalgia: musculo-scheletale; AVC: cardiovasculare; fractura de șold: „Falls”, traumatisme).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041648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050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și intervalul de incertitudine.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645152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6085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Metrica rată; rata standardizată, dacă panoul o oferă; apoi prevalența.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5248656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2120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Vederea în timp: primul și ultimul an.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WHO Rehabilitation Need Estimator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92240" y="2231136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922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19456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Locația „Romania”, sexul „Both”, anul.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79806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Măsura: prevalență sau ani trăiți cu dizabilitate.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3438144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922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34015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Metrica: număr sau rată; vârsta: toate sau standardizată.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2240" y="4041648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922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40050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Afecțiunea, aleasă din categorii (AVC: „Neurological disorders”; fracturile: „Musculoskeletal disorders”, toate fracturile).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92240" y="4645152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92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6085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„Show uncertainty”: intervalul de incertitudine.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Etichetele panoului GBD Compare pot diferi ușor de cele de aici.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SARCINĂ · CALCULUL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Schimbarea procentuală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(valoarea din ultimul an − valoarea de pornire) ÷ valoarea de pornire × 100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 → 230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 de cazuri, față de anul de pornire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 → 170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−15%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189720" y="30175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 de cazuri, față de anul de pornire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Rezultatul poate diferi cu o zecime, după rotunjire.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029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schimbarea pentru număr și pentru rata standardizată, apoi explicați în două propoziții de ce pot avea sensuri sau mărimi diferite.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SARCINĂ · EUROSTAT hlth_hlye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UE, cu marcajele emitentului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82496"/>
            <a:ext cx="384048" cy="38404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Căutați codul setului: hlth_hlye.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384048" cy="38404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de viață sănătoasă la naștere, „Total”, România și EU27_2020.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384048" cy="38404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Ultimul an publicat și anul precedent, cu marcajele de lângă cifre.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de viață sănătoasă: anii trăiți fără limitări ale activităților obișnuite din cauza unei probleme de sănătate.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1645920"/>
            <a:ext cx="548640" cy="54864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ruptură de serie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949440" y="2423160"/>
            <a:ext cx="548640" cy="54864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494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 estimată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949440" y="3200400"/>
            <a:ext cx="548640" cy="54864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494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0" y="3200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 provizorie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949440" y="4069080"/>
            <a:ext cx="4617720" cy="1417320"/>
          </a:xfrm>
          <a:prstGeom prst="roundRect">
            <a:avLst>
              <a:gd name="adj" fmla="val 5806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78040" y="406908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salt brusc marcat „b” se tratează întâi ca schimbare de metodă, abia apoi ca schimbare a sănătății.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Formulați o constatare despre România față de UE și o limită a datelor pe care se sprijină.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valoare fără sursă nu poate fi verificată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valoare din fișă se trece cu citarea ei completă: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instrumentul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659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9659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runda GBD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metrica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807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23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523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sexul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239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239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locația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95560" y="224028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955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anul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474720"/>
            <a:ext cx="64008" cy="5486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3429000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Eurostat: codul setului, hlth_hlye, indicatorul, anul și marcajele de lângă cifre.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94360" y="4251960"/>
            <a:ext cx="64008" cy="5486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4206240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Notați și data extragerii: datele se revizuiesc, iar valoarea de mâine poate fi alta.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4360" y="5029200"/>
            <a:ext cx="64008" cy="5486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4983480"/>
            <a:ext cx="10744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din runde GBD diferite nu stau în același tabel.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9260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66760" y="2926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PREDAREA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se predă în formular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549640" y="146304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673352"/>
            <a:ext cx="73152" cy="6400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Individual, cu contul UMF.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73152" cy="64008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valoare, cu citarea ei, în câmpul formularului.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3502152"/>
            <a:ext cx="73152" cy="6400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finalul lucrării sau în cel mult 48 de ore: până duminică, 11 octombrie.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73152" cy="64008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Rezolvările-model se văd în formular după trimitere.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Formularul are ramuri pentru fiecare caz și pentru fiecare instrument: alegeți cazul dumneavoastră și instrumentul pe care ați lucrat.</a:t>
            </a:r>
            <a:endParaRPr lang="en-US" sz="1600" dirty="0"/>
          </a:p>
        </p:txBody>
      </p:sp>
      <p:pic>
        <p:nvPicPr>
          <p:cNvPr id="17" name="Picture 16" descr="BFK_III_LP01_Fisa_de_lucru_1_termen_1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015" y="1463040"/>
            <a:ext cx="2604770" cy="26047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56015" y="4105910"/>
            <a:ext cx="260477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Fișa de lucru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SPM_BFKIII/active/img/mers_nordic_comm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5486400" cy="71323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6181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nordic pe o stradă din Polonia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28600" y="6565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WrS.tm.pl, Wikimedia Commons · CC0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0" y="411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 · DISCUȚIE, 10′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772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imagini, un singur plan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4360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CIF arată ce înseamnă afecțiunea pentru o persoană. Datele GBD arată câte persoane din România trăiesc cu aceeași afecțiune și câți ani de viață sănătoasă se pierd. Serviciul de recuperare se planifică pornind de la ambele.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0" y="3886200"/>
            <a:ext cx="5669280" cy="2011680"/>
          </a:xfrm>
          <a:prstGeom prst="roundRect">
            <a:avLst>
              <a:gd name="adj" fmla="val 4091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402336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Câțiva dintre dumneavoastră: </a:t>
            </a:r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mai importantă barieră din profil și cifra de povară care v-a surprins, cu citarea ei completă.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de mâine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Descrieți pacientul și prin mediul lui: întrebați despre muncă, drum și program, nu numai despre durere.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Formulați obiectivul de recuperare ca situație de viață: înapoi la tură, înapoi la dans.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6576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citați o cifră, spuneți instrumentul, anul și măsura. Fără ele, cifra nu susține o concluzie.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6634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un indicator sare brusc, căutați întâi marcajul emitentului.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titular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săptămânii viitoare, pe pagina disciplinei: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1 - Profilul afecțiunii-ancoră: de la cazul individual la povara populațională</dc:title>
  <dc:subject>PptxGenJS Presentation</dc:subject>
  <dc:creator>Conf. Univ. Dr. Adrian Pana</dc:creator>
  <cp:lastModifiedBy>Conf. Univ. Dr. Adrian Pana</cp:lastModifiedBy>
  <cp:revision>1</cp:revision>
  <dcterms:created xsi:type="dcterms:W3CDTF">2026-10-03T18:35:16Z</dcterms:created>
  <dcterms:modified xsi:type="dcterms:W3CDTF">2026-10-03T18:35:16Z</dcterms:modified>
  <cp:keywords>sursa_amprenta=a3ad7a7ea9069b6c; proiectie</cp:keywords>
</cp:coreProperties>
</file>