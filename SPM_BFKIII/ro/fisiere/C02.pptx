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13-1.jpg" ContentType="image/jpg"/>
  <Override PartName="/ppt/media/image-23-1.jpg" ContentType="image/jpg"/>
  <Override PartName="/ppt/media/image-24-1.jpg" ContentType="image/jpg"/>
  <Override PartName="/ppt/media/image-31-1.jpg" ContentType="image/jpg"/>
  <Override PartName="/ppt/media/image-32-1.jpg" ContentType="image/jpg"/>
  <Override PartName="/ppt/media/image-37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rianpana/Downloads/UMF_Cluj_SP/Materiale SP/Atelier_didactic/discipline/SPM_BFKIII/active/img/casa_marcat_comm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73152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640080" y="7315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AL DOILEA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325880"/>
            <a:ext cx="5760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Prevenția și promovarea sănătății prin mișcare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40080" y="29260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Sistemul de sănătate din România și locul recuperării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67512" y="4343400"/>
            <a:ext cx="1280160" cy="2743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40080" y="452628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· Balneofiziokinetoterapie și recuperare, anul III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Conf. univ. dr. Adrian Pană · UMF „Iuliu Hațieganu” Cluj-Napoca · 2026–2027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05295" y="6144768"/>
            <a:ext cx="5486400" cy="713232"/>
          </a:xfrm>
          <a:prstGeom prst="rect">
            <a:avLst/>
          </a:prstGeom>
          <a:solidFill>
            <a:srgbClr val="11121A">
              <a:alpha val="75000"/>
            </a:srgbClr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903720" y="618134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casă de marcat. Fără scaun.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03720" y="656539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9CCD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Foto: Triplec85 · CC BY-SA 4.0 · Wikimedia Commons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E3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CAZUL ȘEDINȚEI · O REIA LUCRAREA PRACTICĂ DE DUPĂ CURS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Doi ani de durere, o casă de marcat fără scaun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731520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1874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PACIENTA A · cincizeci și doi de ani · operatoare de casă de marcat, ture lungi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88720" y="2331720"/>
            <a:ext cx="6583680" cy="27432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88720" y="2560320"/>
            <a:ext cx="64008" cy="86868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17320" y="2514600"/>
            <a:ext cx="6355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Durere lombară de doi ani, fără o cauză specifică; crește după statul prelungit în picioare.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1188720" y="3657600"/>
            <a:ext cx="64008" cy="868680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417320" y="3611880"/>
            <a:ext cx="6355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renunțat la grupul de dansuri populare și evită mersul pe jos: se teme că mișcarea îi agravează durerea.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188720" y="4754880"/>
            <a:ext cx="64008" cy="86868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17320" y="4709160"/>
            <a:ext cx="63550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Medicul de familie i-a recomandat recuperare. Ambulatoriul e în alt oraș, cu programul în timpul turelor ei.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88720" y="57150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 construit în scop didactic; persoana nu există.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0392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ați face pentru ea?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ACEEAȘI ZI, ÎN PAUZA DE MASĂ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„Firma nu are buget de scaune”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6766560" cy="822960"/>
          </a:xfrm>
          <a:prstGeom prst="roundRect">
            <a:avLst>
              <a:gd name="adj" fmla="val 15556"/>
            </a:avLst>
          </a:prstGeom>
          <a:solidFill>
            <a:srgbClr val="30344A"/>
          </a:solidFill>
          <a:ln w="12700">
            <a:solidFill>
              <a:srgbClr val="3034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746504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Pacienta A</a:t>
            </a:r>
            <a:endParaRPr lang="en-US" sz="13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Doamna doctor mi-a recomandat recuperare. Dar e în alt oraș.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06240" y="2679192"/>
            <a:ext cx="6766560" cy="822960"/>
          </a:xfrm>
          <a:prstGeom prst="roundRect">
            <a:avLst>
              <a:gd name="adj" fmla="val 15556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434840" y="2734056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E8D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colegă</a:t>
            </a:r>
            <a:endParaRPr lang="en-US" sz="13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Și pe mine mă doare spatele. Pe Mariana la fel.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06240" y="3666744"/>
            <a:ext cx="6766560" cy="822960"/>
          </a:xfrm>
          <a:prstGeom prst="roundRect">
            <a:avLst>
              <a:gd name="adj" fmla="val 15556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3721608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E8D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Altă colegă</a:t>
            </a:r>
            <a:endParaRPr lang="en-US" sz="13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Eu am fost la un fizioterapeut aici, în oraș. Am plătit singură.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4654296"/>
            <a:ext cx="6766560" cy="822960"/>
          </a:xfrm>
          <a:prstGeom prst="roundRect">
            <a:avLst>
              <a:gd name="adj" fmla="val 15556"/>
            </a:avLst>
          </a:prstGeom>
          <a:solidFill>
            <a:srgbClr val="30344A"/>
          </a:solidFill>
          <a:ln w="12700">
            <a:solidFill>
              <a:srgbClr val="30344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47091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Responsabilul magazinului</a:t>
            </a:r>
            <a:endParaRPr lang="en-US" sz="13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Firma nu are buget de scaune. Spatele ține de fiecare.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57150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colege au dureri de spate. Una a ales să plătească singură.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Scenă reconstituită; persoanele sunt fictive.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D3B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SUNTEȚI EVALUAȚI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componente, ambele obligatorii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07564B"/>
          </a:solidFill>
          <a:ln w="12700">
            <a:solidFill>
              <a:srgbClr val="07564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69164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3017520" y="18288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Test grilă: 20 de întrebări, un singur răspuns corect, 30 de minute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017520" y="2331720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a patra întâlnire de lucrări practice. Suportul pentru test sunt aceste note de curs.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329184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29184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017520" y="34290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Portofoliul de lucrări practice: Fișele 1–4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017520" y="3931920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Contează media celor mai bune trei fișe din patru. Condiție: minimum trei fișe predate. Lucrarea practică a doua produce Fișa 2.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4983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Promovarea: cel puțin 5 la test și cel puțin 5 la portofoliu. Voturile și discuțiile de azi nu se notează: vă arată ce trebuie recitit.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PARCURSUL DE AZI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întrebări, un singur caz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4E0E2"/>
          </a:solidFill>
          <a:ln w="12700">
            <a:solidFill>
              <a:srgbClr val="F4E0E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· PREVENȚIA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cine intervenim: la pacienta A, la colegele cu dureri sau la toți angajații?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66260" y="164592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6EDD5"/>
          </a:solidFill>
          <a:ln w="12700">
            <a:solidFill>
              <a:srgbClr val="F6EDD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40580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 · MIȘCAREA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40580" y="22860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Câtă mișcare îi trebuie și ce face fizioterapeutul cu teama ei?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38160" y="164592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412480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 · SISTEMUL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0" y="22860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unde intră în sistem, cine plătește și unde se oprește drumul?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4617720"/>
            <a:ext cx="10607040" cy="27432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2960" y="4480560"/>
            <a:ext cx="292608" cy="292608"/>
          </a:xfrm>
          <a:prstGeom prst="ellipse">
            <a:avLst/>
          </a:prstGeom>
          <a:solidFill>
            <a:srgbClr val="B02532"/>
          </a:solidFill>
          <a:ln w="2540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vot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30552" y="4480560"/>
            <a:ext cx="292608" cy="292608"/>
          </a:xfrm>
          <a:prstGeom prst="ellipse">
            <a:avLst/>
          </a:prstGeom>
          <a:solidFill>
            <a:srgbClr val="B02532"/>
          </a:solidFill>
          <a:ln w="2540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039112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tabere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38144" y="4480560"/>
            <a:ext cx="292608" cy="292608"/>
          </a:xfrm>
          <a:prstGeom prst="ellipse">
            <a:avLst/>
          </a:prstGeom>
          <a:solidFill>
            <a:srgbClr val="8A6100"/>
          </a:solidFill>
          <a:ln w="2540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346704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 de cuvinte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45736" y="4480560"/>
            <a:ext cx="292608" cy="292608"/>
          </a:xfrm>
          <a:prstGeom prst="ellipse">
            <a:avLst/>
          </a:prstGeom>
          <a:solidFill>
            <a:srgbClr val="8A6100"/>
          </a:solidFill>
          <a:ln w="2540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654296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joc de rol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53328" y="4480560"/>
            <a:ext cx="292608" cy="292608"/>
          </a:xfrm>
          <a:prstGeom prst="ellipse">
            <a:avLst/>
          </a:prstGeom>
          <a:solidFill>
            <a:srgbClr val="8A8F9E"/>
          </a:solidFill>
          <a:ln w="2540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61888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8F9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pauză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60920" y="4480560"/>
            <a:ext cx="292608" cy="292608"/>
          </a:xfrm>
          <a:prstGeom prst="ellipse">
            <a:avLst/>
          </a:prstGeom>
          <a:solidFill>
            <a:srgbClr val="0E7C6B"/>
          </a:solidFill>
          <a:ln w="2540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269480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traseul, în perechi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68512" y="4480560"/>
            <a:ext cx="292608" cy="292608"/>
          </a:xfrm>
          <a:prstGeom prst="ellipse">
            <a:avLst/>
          </a:prstGeom>
          <a:solidFill>
            <a:srgbClr val="0E7C6B"/>
          </a:solidFill>
          <a:ln w="2540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577072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vot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976104" y="4480560"/>
            <a:ext cx="292608" cy="292608"/>
          </a:xfrm>
          <a:prstGeom prst="ellipse">
            <a:avLst/>
          </a:prstGeom>
          <a:solidFill>
            <a:srgbClr val="4A2D8C"/>
          </a:solidFill>
          <a:ln w="2540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884664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Kahoot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1283696" y="4480560"/>
            <a:ext cx="292608" cy="292608"/>
          </a:xfrm>
          <a:prstGeom prst="ellipse">
            <a:avLst/>
          </a:prstGeom>
          <a:solidFill>
            <a:srgbClr val="9C4A0A"/>
          </a:solidFill>
          <a:ln w="2540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1192256" y="48920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C4A0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întrebări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" y="5669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Aproximativ jumătate din timp lucrați dumneavoastră. Aveți nevoie de telefon.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292608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66760" y="2926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ÎNAINTEA ORICĂREI EXPLICAȚII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 reduce cel mai mult, în următorii cinci ani, numărul angajaților magazinului care ajung în concediu medical din cauza durerii lombare?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4871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33172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program de recuperare pentru pacienta 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32004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335584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3355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320040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Consultații de fizioterapie pentru toate angajatele care au deja dureri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406908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42245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224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40690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Scaune ajustabile și pauze active pentru toți angajații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937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68680" y="50932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8680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54480" y="493776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campanie națională de informare despre durerea de spate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Rezultatul rămâne pe ecran. Revenim la el după strategiile de prevenție.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GEOFFREY ROSE · 1985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întrebări care par una singură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F4E0E2"/>
          </a:solidFill>
          <a:ln w="12700">
            <a:solidFill>
              <a:srgbClr val="F4E0E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8308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s-a îmbolnăvit această persoană și nu alta?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8803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Caută determinanții cazurilor individuale.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2011680"/>
          </a:xfrm>
          <a:prstGeom prst="roundRect">
            <a:avLst>
              <a:gd name="adj" fmla="val 4091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78308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are o populație mai multe cazuri decât alta?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8803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Caută determinanții ratei de incidență.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3886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Dacă toate casierele stau ore în șir în picioare, fără scaun, comparația dintre cele cu dureri și cele fără dureri nu arată poziția de lucru ca factor de risc: toate o au. Arată, cel mult, cine e mai vulnerabil.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9436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cauză la care sunt expuși toți nu se vede în studiile caz–martor și de cohortă.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Rose G. Sick individuals and sick populations. Int J Epidemiol, 1985 (după rezumat). Exemplul magazinului este o ilustrare construită pentru curs.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STRATEGII DE PREVENȚIE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proteja persoana sau a schimba condițiile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349240" cy="4572000"/>
          </a:xfrm>
          <a:prstGeom prst="roundRect">
            <a:avLst>
              <a:gd name="adj" fmla="val 1800"/>
            </a:avLst>
          </a:prstGeom>
          <a:solidFill>
            <a:srgbClr val="F4E0E2"/>
          </a:solidFill>
          <a:ln w="12700">
            <a:solidFill>
              <a:srgbClr val="F4E0E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6916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riscului înalt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Protejează indivizii susceptibili: evaluare și exerciții pentru angajatele care au deja dureri.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32918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 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Potrivită persoanei; subiect și medic motivați; resurse folosite eficient; raport beneficiu–risc favorabil (Rose, tabelul 1).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452628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 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Paliativă și temporară, nu radicală; depistare costisitoare; potențial limitat: mulți oameni cu risc mic dau mai multe cazuri (Rose, tabelul 2).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349240" cy="4572000"/>
          </a:xfrm>
          <a:prstGeom prst="roundRect">
            <a:avLst>
              <a:gd name="adj" fmla="val 1800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92240" y="16916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populațională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92240" y="21945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Controlează cauzele incidenței: scaune, pauze active, mișcare pentru toți.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92240" y="329184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 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Deplasează întreaga distribuție a expunerii spre valori mai mici, nu doar coada ei (Rose).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92240" y="4526280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 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Fiecare om câștigă puțin; de aceea schimbarea e greu acceptată.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 · O REȚEA CU 1 000 DE ANGAJAȚI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unde vin cazurile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 de angajați cu risc înalt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94360" y="21214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 avut deja episoade de durere · 20% pe 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2514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 × 0,20 = 20 de cazuri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" y="31089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900 de angajați cu risc moderat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35387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5% pe an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39319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900 × 0,05 = 45 de cazuri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035040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55664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876288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296912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17536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558784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979408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400032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820656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0241280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0661904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1082528" y="1828800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035040" y="2249424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455664" y="2249424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876288" y="2249424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296912" y="2249424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717536" y="2249424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8138160" y="2249424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558784" y="2249424"/>
            <a:ext cx="329184" cy="329184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979408" y="2249424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400032" y="2249424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820656" y="2249424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0241280" y="2249424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0661904" y="2249424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1082528" y="2249424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035040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455664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876288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7296912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7717536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8138160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558784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8979408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9400032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9820656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0241280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0661904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1082528" y="2670048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035040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6455664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6876288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296912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7717536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8138160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8558784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8979408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9400032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9820656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10241280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10661904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11082528" y="3090672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6035040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6455664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876288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7296912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7717536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8138160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8558784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8979408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9400032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9820656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10241280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10661904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11082528" y="3511296"/>
            <a:ext cx="329184" cy="329184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6035040" y="4023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 de cazuri pe an</a:t>
            </a:r>
            <a:endParaRPr lang="en-US" sz="1800" dirty="0"/>
          </a:p>
        </p:txBody>
      </p:sp>
      <p:sp>
        <p:nvSpPr>
          <p:cNvPr id="76" name="Shape 74"/>
          <p:cNvSpPr/>
          <p:nvPr/>
        </p:nvSpPr>
        <p:spPr>
          <a:xfrm>
            <a:off x="621792" y="4800600"/>
            <a:ext cx="1097280" cy="27432"/>
          </a:xfrm>
          <a:prstGeom prst="rect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594360" y="49377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Peste două treimi dintre cazuri apar la persoanele cu risc moderat, nu la cele cu risc înalt.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PRESUPUNERI · ACELEAȘI VALORI IPOTETICE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Beneficiu mic pentru fiecare, câștig mare pentru toți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riscului înalt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2219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presupunere: riscul celor 100 scade de la 20% la 10%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06240" y="1920240"/>
            <a:ext cx="3291840" cy="77724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680960" y="1920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 cazuri prevenite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3200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populațională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363931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presupunere: riscul tuturor scade cu o cincime: 20% → 16%, 5% → 4%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3337560"/>
            <a:ext cx="4279392" cy="77724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68512" y="33375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 cazuri prevenite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94360" y="4572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 o reducere presupusă de o cincime, cazurile așteptate devin 16 + 36 = 52, din 65.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594360" y="5074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o angajată cu risc moderat, câștigul personal e de un singur punct procentual. Rezultatul depinde de efectele presupuse.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9436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populațională câștigă numai dacă reducerea pentru toți depășește ~15% (10 din 65); cu o zecime: 6,5 &lt; 10.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292608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66760" y="2926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TABERE · 10 MINUTE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DEZBATERE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înalt sau populația?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1828800"/>
          </a:xfrm>
          <a:prstGeom prst="roundRect">
            <a:avLst>
              <a:gd name="adj" fmla="val 45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7830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STÂNGA SĂLII</a:t>
            </a:r>
            <a:endParaRPr lang="en-US" sz="14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riscului înalt pentru magazinul pacientei 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17830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DREAPTA SĂLII</a:t>
            </a:r>
            <a:endParaRPr lang="en-US" sz="1400" dirty="0"/>
          </a:p>
          <a:p>
            <a:pPr indent="0" marL="0">
              <a:buNone/>
            </a:pPr>
            <a:r>
              <a:rPr lang="en-US" sz="19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populațională pentru același magazin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84048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25880" y="3749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minute: fiecare pereche de colegi de bancă pregătește cel mai bun argument al taberei sale.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85800" y="457200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4572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44805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perechi din fiecare tabără își prezintă argumentul.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85800" y="530352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5303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521208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Revenim la votul de deschidere: ați vota altfel acum?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ÎNSEAMNĂ PENTRU FIZIOTERAPEUT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treia casieră din același magazin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0972800" cy="1143000"/>
          </a:xfrm>
          <a:prstGeom prst="roundRect">
            <a:avLst>
              <a:gd name="adj" fmla="val 72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6459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Rose: cele două abordări nu sunt, de obicei, în competiție, dar preocuparea prioritară trebuie să fie descoperirea și controlul cauzelor incidenței.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353872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Pregătirea clinică vă orientează spre riscul înalt. Perspectiva populațională adaugă o întrebare: ce condiții produc mereu pacienți noi cu aceeași problemă?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4590288"/>
            <a:ext cx="352044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94360" y="4590288"/>
            <a:ext cx="73152" cy="100584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459028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Recomandare de ergonomie către angajator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66260" y="4590288"/>
            <a:ext cx="352044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66260" y="4590288"/>
            <a:ext cx="73152" cy="1005840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0580" y="459028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Program de mișcare pentru toți angajații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38160" y="4590288"/>
            <a:ext cx="352044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138160" y="4590288"/>
            <a:ext cx="73152" cy="100584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412480" y="459028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Discuție cu medicul de medicina muncii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4360" y="58704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renunțați la tratamentul individual: îi adăugați o intervenție asupra cauzelor.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" y="285292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 b="1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Paradoxul prevenției: </a:t>
            </a:r>
            <a:r>
              <a:rPr lang="en-US" sz="1550" dirty="0" b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beneficiu mare pentru populație, mic pentru fiecare (Rose, tabelul 6). Sinteza Feigin 2020: strategiile populaționale sunt încă subutilizate.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rianpana/Downloads/UMF_Cluj_SP/Materiale SP/Atelier_didactic/discipline/SPM_BFKIII/active/img/mers_nordic_comm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144768"/>
            <a:ext cx="5486400" cy="713232"/>
          </a:xfrm>
          <a:prstGeom prst="rect">
            <a:avLst/>
          </a:prstGeom>
          <a:solidFill>
            <a:srgbClr val="11121A">
              <a:alpha val="75000"/>
            </a:srgbClr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228600" y="618134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Mers nordic pe o stradă din Polonia, 2019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28600" y="65653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9CCD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Foto: WrS.tm.pl · CC0 · Wikimedia Commons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943600" y="41148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A DOUA · MIȘCAREA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7772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Orice mișcare care consumă energie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943600" y="1783080"/>
            <a:ext cx="5806440" cy="1874520"/>
          </a:xfrm>
          <a:prstGeom prst="roundRect">
            <a:avLst>
              <a:gd name="adj" fmla="val 4390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172200" y="198424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172200" y="19842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 NOU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172200" y="2423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 fizică (OMS): </a:t>
            </a:r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orice mișcare a corpului produsă de mușchii scheletici care necesită consum de energie: în timpul liber, în deplasare, la muncă și în gospodărie.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943600" y="3840480"/>
            <a:ext cx="5806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„Exercițiu fizic”, în vorbirea obișnuită: mișcarea făcută anume pentru condiția fizică. Sedentarismul (OMS): ≤ 1,5 MET, șezând, înclinat sau culcat; se pot atinge recomandările și totuși sta multe ore jos.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5943600" y="5120640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Pacienta A stă rar jos. Dar statul prelungit în picioare nu este activitate fizică benefică pentru sănătate.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 · GHIDUL DIN 2020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recomandă OMS adulților, în fiecare săptămână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35204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1600200"/>
            <a:ext cx="3520440" cy="73152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150–300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minute de activitate aerobă de intensitate moderată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6260" y="1600200"/>
            <a:ext cx="35204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366260" y="1600200"/>
            <a:ext cx="3520440" cy="73152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4058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75–150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64058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minute de intensitate viguroasă, ori o combinație echivalentă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138160" y="1600200"/>
            <a:ext cx="352044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520440" cy="73152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2+ zile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41248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întărire musculară, toate grupele mari, intensitate cel puțin moderată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42976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„Sau” între primele două, „plus” față de a treia.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36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prima dată, ghidul se adresează explicit și persoanelor cu afecțiuni cronice sau cu dizabilitate: pacienții dumneavoastră nu mai sunt o excepție de la recomandări.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Bull FC și colab. WHO 2020 guidelines on physical activity and sedentary behaviour. Br J Sports Med, 2020.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 · GHIDUL DIN 2020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Vârstnicii, bolile cronice și statul nemișcat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64008" cy="123444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600200"/>
            <a:ext cx="107442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Vârstnicii: în 3 sau mai multe zile, activitate multicomponentă, cu accent pe echilibru și forță, pentru capacitatea funcțională și prevenirea căderilor. OMS numără fractura de șold între leziunile moderate sau grave după cădere.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3108960"/>
            <a:ext cx="64008" cy="1234440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063240"/>
            <a:ext cx="107442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Afecțiuni cronice și dizabilitate: activi pe măsura posibilităților, cu sfatul unui profesionist. Fără contraindicații, avizul medical nu e, în general, necesar dacă se începe cu puțin și se crește treptat.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4572000"/>
            <a:ext cx="64008" cy="123444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4526280"/>
            <a:ext cx="1074420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Comportamentul sedentar: de limitat. Înlocuirea statului nemișcat cu mișcare de orice intensitate, inclusiv ușoară, aduce beneficii. Primul pas nu e programul complet.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 · O SĂPTĂMÂNĂ A PACIENTEI 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315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 din 150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594360" y="2148840"/>
            <a:ext cx="9875520" cy="685800"/>
          </a:xfrm>
          <a:prstGeom prst="rect">
            <a:avLst/>
          </a:prstGeom>
          <a:solidFill>
            <a:srgbClr val="2B2E3D"/>
          </a:solidFill>
          <a:ln w="12700">
            <a:solidFill>
              <a:srgbClr val="2B2E3D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2148840"/>
            <a:ext cx="6583680" cy="68580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14884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mers spre stație: 2 × 10 × 5 = 100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96328" y="2167128"/>
            <a:ext cx="1609344" cy="649224"/>
          </a:xfrm>
          <a:prstGeom prst="rect">
            <a:avLst/>
          </a:prstGeom>
          <a:solidFill>
            <a:srgbClr val="11121A"/>
          </a:solidFill>
          <a:ln w="19050">
            <a:solidFill>
              <a:srgbClr val="FFC24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842248" y="2167128"/>
            <a:ext cx="1609344" cy="649224"/>
          </a:xfrm>
          <a:prstGeom prst="rect">
            <a:avLst/>
          </a:prstGeom>
          <a:solidFill>
            <a:srgbClr val="11121A"/>
          </a:solidFill>
          <a:ln w="19050">
            <a:solidFill>
              <a:srgbClr val="FFC24B"/>
            </a:solidFill>
            <a:prstDash val="dash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78040" y="2926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+ 25 + 25 în weekend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926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minute de activitate aerobă moderată pe săptămână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Întărire musculară: zero zile din cel puțin 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4114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ședințe pe săptămână de exerciții de forță, învățate cu fizioterapeutul și făcute acasă.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937760"/>
            <a:ext cx="1097280" cy="27432"/>
          </a:xfrm>
          <a:prstGeom prst="rect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5074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Fizioterapeutul nu pornește de la zero: pornește de la mersul pe care pacienta îl face deja.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292608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66760" y="2926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ANONIM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DESPRE DUMNEAVOASTRĂ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Câte minute de activitate aerobă moderată sau viguroasă ați făcut în ultimele șapte zile, în afara orelor de practică?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4871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33172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Zero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32004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335584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3355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320040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Sub o oră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406908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42245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224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406908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o oră la mai puțin de două ore și jumătate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937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68680" y="50932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8680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54480" y="4937760"/>
            <a:ext cx="9784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ore și jumătate (150 min) sau mai mult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9436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Apoi comparăm distribuția sălii cu cea a adulților din România și din Uniunea Europeană.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EUROSTAT · EHIS 2019 · ADULȚI DE 18 ANI ȘI PESTE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Mișcarea aleasă lipsește la majoritatea adulților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Zero minute pe săptămână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31920" y="1709928"/>
            <a:ext cx="6645402" cy="384048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931920" y="2148840"/>
            <a:ext cx="3761842" cy="384048"/>
          </a:xfrm>
          <a:prstGeom prst="rect">
            <a:avLst/>
          </a:prstGeom>
          <a:solidFill>
            <a:srgbClr val="8A8F9E"/>
          </a:solidFill>
          <a:ln w="12700">
            <a:solidFill>
              <a:srgbClr val="8A8F9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687050" y="17099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85,5%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03490" y="21488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48,4%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8803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150 de minute sau mai mult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31920" y="2898648"/>
            <a:ext cx="551840" cy="384048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931920" y="3337560"/>
            <a:ext cx="2463851" cy="384048"/>
          </a:xfrm>
          <a:prstGeom prst="rect">
            <a:avLst/>
          </a:prstGeom>
          <a:solidFill>
            <a:srgbClr val="8A8F9E"/>
          </a:solidFill>
          <a:ln w="12700">
            <a:solidFill>
              <a:srgbClr val="8A8F9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93488" y="289864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7,1%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05499" y="33375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31,7%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0690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Aerob și întărire musculară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931920" y="4087368"/>
            <a:ext cx="116586" cy="384048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931920" y="4526280"/>
            <a:ext cx="1057046" cy="384048"/>
          </a:xfrm>
          <a:prstGeom prst="rect">
            <a:avLst/>
          </a:prstGeom>
          <a:solidFill>
            <a:srgbClr val="8A8F9E"/>
          </a:solidFill>
          <a:ln w="12700">
            <a:solidFill>
              <a:srgbClr val="8A8F9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58234" y="40873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1,5%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98694" y="45262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13,6%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931920" y="5349240"/>
            <a:ext cx="274320" cy="22860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297680" y="5303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0" y="5349240"/>
            <a:ext cx="274320" cy="228600"/>
          </a:xfrm>
          <a:prstGeom prst="rect">
            <a:avLst/>
          </a:prstGeom>
          <a:solidFill>
            <a:srgbClr val="8A8F9E"/>
          </a:solidFill>
          <a:ln w="12700">
            <a:solidFill>
              <a:srgbClr val="8A8F9E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126480" y="5303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Uniunea Europeană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 aerobă benefică pentru sănătate, în afara muncii; declarată, nu măsurată.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ancheta europeană de sănătate prin interviu (EHIS), valul 2019, cel mai recent disponibil.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 · LUMEA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31%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dintre adulți (2022), adică 1,8 miliarde de oameni, nu ating 150 de minute de activitate moderată pe săptămână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+5 puncte procentuale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350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 2010 și 2022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03504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35% în 2030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35040" y="2560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dacă tendința continuă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35040" y="3108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80% dintre adolescenți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03504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ating nivelurile recomandate (fișa OMS, fără an)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" y="4572000"/>
            <a:ext cx="10972800" cy="27432"/>
          </a:xfrm>
          <a:prstGeom prst="rect">
            <a:avLst/>
          </a:prstGeom>
          <a:solidFill>
            <a:srgbClr val="3A3E52"/>
          </a:solidFill>
          <a:ln w="12700">
            <a:solidFill>
              <a:srgbClr val="3A3E5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47091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Înapoi la România: indicatorul european exclude munca. O parte dintre adulții din România pot avea munci fizice, iar mișcarea lor nu intră în cifra de 85,5%. Datele sunt din 2019; evoluția de după pandemie nu se cunoaște din această sursă.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OMS, fișa „Physical activity”; Eurostat, EHIS 2019.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292608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66760" y="2926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NOR DE CUVINTE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SINGUR CUVÂNT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vă împiedică să vă mișcați mai mult?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94360" y="3383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Răspunsurile sunt anonime. Barierele voastre seamănă, poate, cu ale pacienților: le regăsim în partea a treia.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ÎNSEAMNĂ PENTRU FIZIOTERAPEUT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Același ghid, trei traduceri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83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Adult sănătos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țintă.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Recomandările se aplică așa cum sunt scrise.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6260" y="160020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6EDD5"/>
          </a:solidFill>
          <a:ln w="12700">
            <a:solidFill>
              <a:srgbClr val="F6EDD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40580" y="1783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Pacienta A, lombalgie cronică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40580" y="2468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direcție.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640580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Drumul trece prin teama de mișcare, prin durere și prin programul de lucru.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138160" y="160020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4E0E2"/>
          </a:solidFill>
          <a:ln w="12700">
            <a:solidFill>
              <a:srgbClr val="F4E0E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12480" y="1783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Vârstnic după fractură de șold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prioritate.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412480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Echilibrul și forța vin întâi: previn următoarea cădere.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94360" y="4800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Lucrarea practică a doua cere exact această traducere: o intervenție pentru un grup populațional definit, cu obiective măsurabile, construită pe ghidul OMS din 2020.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7E3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FIZIOTERAPEUTUL ÎN PREVENȚIE · CE SPUNE LEGEA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22960" y="868680"/>
            <a:ext cx="7223760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2C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34440" y="1143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LEGEA nr. 229/2016 privind organizarea și exercitarea profesiei de fizioterapeut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34440" y="1783080"/>
            <a:ext cx="6400800" cy="27432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34440" y="196596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Art. 3 (rezumat). </a:t>
            </a: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 conexe actului medical, pentru </a:t>
            </a:r>
            <a:r>
              <a:rPr lang="en-US" sz="1550" b="1" dirty="0">
                <a:solidFill>
                  <a:srgbClr val="11121A"/>
                </a:solidFill>
                <a:highlight>
                  <a:srgbClr val="FFE7A3"/>
                </a:highlight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dezvoltarea, menținerea și restabilirea</a:t>
            </a: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capacității de mișcare și a abilității funcționale, pe toată perioada vieții.</a:t>
            </a:r>
          </a:p>
          <a:p>
            <a:pPr indent="0" marL="0">
              <a:spcBef>
                <a:spcPts val="600"/>
              </a:spcBef>
              <a:buNone/>
            </a:pPr>
            <a:r>
              <a:rPr lang="en-US" sz="15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Art. 4 și 13. </a:t>
            </a: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Activitățile se aplică sub prescripția medicului specialist, pe baza diagnosticului clinic.</a:t>
            </a:r>
          </a:p>
        </p:txBody>
      </p:sp>
      <p:sp>
        <p:nvSpPr>
          <p:cNvPr id="7" name="Text 5"/>
          <p:cNvSpPr/>
          <p:nvPr/>
        </p:nvSpPr>
        <p:spPr>
          <a:xfrm>
            <a:off x="1234440" y="35204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Art. 17. </a:t>
            </a: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a) domeniul administrativ (managementul serviciilor de fizioterapie).</a:t>
            </a:r>
          </a:p>
          <a:p>
            <a:pPr indent="0" marL="0">
              <a:spcBef>
                <a:spcPts val="600"/>
              </a:spcBef>
              <a:buNone/>
            </a:pPr>
            <a:r>
              <a:rPr lang="en-US" sz="15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b) Domeniul clinic: </a:t>
            </a: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„la nivelul îngrijirilor conexe actului medical, respectiv </a:t>
            </a:r>
            <a:r>
              <a:rPr lang="en-US" sz="1550" b="1" dirty="0">
                <a:solidFill>
                  <a:srgbClr val="11121A"/>
                </a:solidFill>
                <a:highlight>
                  <a:srgbClr val="FFE7A3"/>
                </a:highlight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primare, secundare și terțiare</a:t>
            </a: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”. Cele trei sunt niveluri de asistență, nu de prevenție.</a:t>
            </a:r>
          </a:p>
        </p:txBody>
      </p:sp>
      <p:sp>
        <p:nvSpPr>
          <p:cNvPr id="8" name="Text 6"/>
          <p:cNvSpPr/>
          <p:nvPr/>
        </p:nvSpPr>
        <p:spPr>
          <a:xfrm>
            <a:off x="1234440" y="47548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c) Sănătatea publică sau comunitară.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„cu rol direct în promovarea sănătății și formularea politicilor de promovare a activităților specifice de fizioterapie la nivel de </a:t>
            </a:r>
            <a:pPr indent="0" marL="0">
              <a:buNone/>
            </a:pPr>
            <a:r>
              <a:rPr lang="en-US" sz="1550" b="1" dirty="0">
                <a:solidFill>
                  <a:srgbClr val="11121A"/>
                </a:solidFill>
                <a:highlight>
                  <a:srgbClr val="FFE7A3"/>
                </a:highlight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individ/grupuri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”.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50392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dezvoltarea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0" y="1572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promovarea sănătății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menținerea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503920" y="2487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prevenția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503920" y="3017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restabilirea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503920" y="34015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recuperarea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03920" y="411480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Profesia nu începe la pacientul deja bolnav și include lucrul cu grupuri.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Legea nr. 229/2016, art. 3, 4, 13 și 17; ghilimelele redau textul legii, restul e rezumat.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03920" y="9144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lectura cursului (nu formulare a legii):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rianpana/Downloads/UMF_Cluj_SP/Materiale SP/Atelier_didactic/discipline/SPM_BFKIII/active/img/aparate_parc_comm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5295" y="6144768"/>
            <a:ext cx="5486400" cy="713232"/>
          </a:xfrm>
          <a:prstGeom prst="rect">
            <a:avLst/>
          </a:prstGeom>
          <a:solidFill>
            <a:srgbClr val="11121A">
              <a:alpha val="75000"/>
            </a:srgbClr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6933895" y="618134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Aparate de exerciții într-un parc public, Anglia, 2021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933895" y="65653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9CCD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Foto: Rodhullandemu · CC BY-SA 4.0 · Wikimedia Commons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PREVENȚIA PRIMARĂ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73152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Înainte de boală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94360" y="15544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Persoane fără o afecțiune, dar cu factori de risc.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94360" y="2240280"/>
            <a:ext cx="64008" cy="109728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553212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magazin: un program de mișcare și de ergonomie pentru toți angajații, adică strategia populațională a lui Rose.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594360" y="3566160"/>
            <a:ext cx="64008" cy="1097280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520440"/>
            <a:ext cx="553212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vârstnici: programe de echilibru și de forță, ca în recomandarea OMS pentru prevenirea căderilor.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594360" y="4892040"/>
            <a:ext cx="64008" cy="109728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22960" y="4846320"/>
            <a:ext cx="553212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 ai căderilor, după OMS: inactivitatea fizică, pierderea echilibrului, mediul nesigur. Primii doi se schimbă prin exercițiu, al treilea prin adaptarea locuinței.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22960" y="6144768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Asistența profilactică: sub prescripția medicului specialist (art. 13). Munca cu grupuri: domeniul de sănătate publică (art. 17 lit. c).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rianpana/Downloads/UMF_Cluj_SP/Materiale SP/Atelier_didactic/discipline/SPM_BFKIII/active/img/sala_kinetoterapie_comm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144768"/>
            <a:ext cx="5486400" cy="713232"/>
          </a:xfrm>
          <a:prstGeom prst="rect">
            <a:avLst/>
          </a:prstGeom>
          <a:solidFill>
            <a:srgbClr val="11121A">
              <a:alpha val="75000"/>
            </a:srgbClr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228600" y="618134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Sală de kinetoterapie într-o clinică privată, 2022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28600" y="65653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9CCD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Foto: Hilahalumit · CC BY-SA 4.0 · Wikimedia Commons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943600" y="41148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PREVENȚIA TERȚIARĂ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7772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boală: tratamentul care previne recăderea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943600" y="187452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OMS, pentru lombalgia nespecifică: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331720"/>
            <a:ext cx="64008" cy="59436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172200" y="228600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terapii fizice pentru forță și mobilitate, care ajută la reluarea activității fizice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5943600" y="3154680"/>
            <a:ext cx="64008" cy="594360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172200" y="310896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sprijin psihologic și social; mai puțină solicitare în munca fizică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5943600" y="3977640"/>
            <a:ext cx="64008" cy="59436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172200" y="3931920"/>
            <a:ext cx="5577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schimbarea stilului de viață, inclusiv mai multă activitate fizică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5943600" y="4846320"/>
            <a:ext cx="5806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pacienta A, tratamentul și prevenția recăderii se suprapun. Rămâne o barieră pe care niciun program de exerciții nu o rezolvă singur: teama.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292608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66760" y="2926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JOC DE ROL · 3 MINUTE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DOI VOLUNTARI, ÎN FAȚA SĂLII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„Nu vreau să-mi stric spatele de tot”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5349240" cy="3291840"/>
          </a:xfrm>
          <a:prstGeom prst="roundRect">
            <a:avLst>
              <a:gd name="adj" fmla="val 2500"/>
            </a:avLst>
          </a:prstGeom>
          <a:solidFill>
            <a:srgbClr val="07564B"/>
          </a:solidFill>
          <a:ln w="12700">
            <a:solidFill>
              <a:srgbClr val="07564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217920" y="1691640"/>
            <a:ext cx="5349240" cy="3291840"/>
          </a:xfrm>
          <a:prstGeom prst="roundRect">
            <a:avLst>
              <a:gd name="adj" fmla="val 25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874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FE8D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FIZIOTERAPEUTUL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3774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Aveți de obținut acordul pacientei pentru un prim pas concret.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92240" y="1874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PACIENTA 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37744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„Doamna doctor mi-a zis să mă mișc, dar de fiecare dată când mă aplec mă doare mai tare. Nu vreau să-mi stric spatele de tot.”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94360" y="5303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joc, votează toată sala: ce ați fi făcut în locul fizioterapeutului?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292608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66760" y="2926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JOCUL DE ROL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ați fi făcut în locul fizioterapeutului?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1214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Aș fi explicat mecanismul durerii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28803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30815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3081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2880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Aș fi demonstrat un exercițiu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84048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404164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384048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Aș fi propus mersul pe jos ca prim pas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80060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68680" y="50017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8680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54480" y="48006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Aș fi amânat exercițiul până la scăderea durerii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RĂSPUNSUL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Explicați, demonstrați, dozați. Nu amânați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6675120" cy="2377440"/>
          </a:xfrm>
          <a:prstGeom prst="roundRect">
            <a:avLst>
              <a:gd name="adj" fmla="val 3462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6916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Primele trei variante se pot combina.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6217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Mersul pe jos e un prim pas bun: pacienta îl face deja, iar OMS arată că orice înlocuire a statului nemișcat cu mișcare aduce beneficii.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98080" y="1554480"/>
            <a:ext cx="4069080" cy="2377440"/>
          </a:xfrm>
          <a:prstGeom prst="roundRect">
            <a:avLst>
              <a:gd name="adj" fmla="val 3462"/>
            </a:avLst>
          </a:prstGeom>
          <a:solidFill>
            <a:srgbClr val="F4E0E2"/>
          </a:solidFill>
          <a:ln w="12700">
            <a:solidFill>
              <a:srgbClr val="F4E0E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Amânarea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0" y="2148840"/>
            <a:ext cx="3566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lasă teama neatinsă. OMS recomandă terapii care ajută la reluarea activității.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42062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limbajul modelului CIF, teama este un factor personal. La pacienta A, teama o limitează mai mult decât durerea. Fizioterapeutul care explică, demonstrează și dozează mișcarea lucrează asupra ei; cel care doar aplică proceduri o lasă neatinsă.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Pauză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Zece minute.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94360" y="4114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pauză, pacienta A intră în sistemul de sănătate.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A TREIA · SISTEMUL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Sistemul de sănătate e mai mare decât spitalul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OMS: toate organizațiile, persoanele și acțiunile al căror scop principal este să promoveze, să restabilească sau să mențină sănătatea. Și cabinetul privat al colegei face parte din 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269748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4360" y="2697480"/>
            <a:ext cx="73152" cy="128016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807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Furnizarea serviciilor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200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ambulatorii, secții, sanatorii, domiciliu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6260" y="269748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66260" y="2697480"/>
            <a:ext cx="73152" cy="128016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40580" y="2807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Forța de muncă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0580" y="3200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fizioterapeuți, medici de recuperare, terapeuți ocupaționali, logopezi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269748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138160" y="2697480"/>
            <a:ext cx="73152" cy="128016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412480" y="2807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Informația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12480" y="3200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despre nevoia de recuperare și funcționare; rezoluția WHA76.6 îndeamnă statele să le adune cu CIF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11480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94360" y="4114800"/>
            <a:ext cx="73152" cy="128016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6868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Produse și tehnologii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4617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dispozitive de mers, orteze, echipamente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66260" y="411480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366260" y="4114800"/>
            <a:ext cx="73152" cy="128016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64058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Finanțarea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640580" y="4617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asigurări de sănătate și plăți directe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38160" y="4114800"/>
            <a:ext cx="3520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138160" y="4114800"/>
            <a:ext cx="73152" cy="128016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1248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Conducerea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legi, autorizarea furnizorilor, profesiile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94360" y="56235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Când pacienta A nu ajunge la recuperare, cauza poate sta în oricare dintre cele șase.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OMS, „Everybody’s business”, 2007: cadrul celor șase componente, și azi un reper (Sacks și colab., 2018).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CONTRACTUL-CADRU · NIVELURILE DE ASISTENȚĂ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Recuperarea traversează nivelurile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508760"/>
            <a:ext cx="10972800" cy="530352"/>
          </a:xfrm>
          <a:prstGeom prst="roundRect">
            <a:avLst>
              <a:gd name="adj" fmla="val 1551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508760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Cap. 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920240" y="150876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Asistența primară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75120" y="150876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punctul de intrare; trimiterea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112264"/>
            <a:ext cx="10972800" cy="530352"/>
          </a:xfrm>
          <a:prstGeom prst="roundRect">
            <a:avLst>
              <a:gd name="adj" fmla="val 1551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2112264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Cap. II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20240" y="211226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Ambulatoriul de specialitate clinic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75120" y="211226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evaluarea și planul de proceduri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2715768"/>
            <a:ext cx="10972800" cy="530352"/>
          </a:xfrm>
          <a:prstGeom prst="roundRect">
            <a:avLst>
              <a:gd name="adj" fmla="val 15517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2715768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Cap. III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920240" y="271576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Medicina fizică și de reabilitare în ambulatoriu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0" y="271576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seriile de proceduri, cu fizioterapeut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3319272"/>
            <a:ext cx="10972800" cy="530352"/>
          </a:xfrm>
          <a:prstGeom prst="roundRect">
            <a:avLst>
              <a:gd name="adj" fmla="val 15517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3319272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Cap. VI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920240" y="33192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Unitățile sanitare cu paturi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33192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recuperarea în internare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3922776"/>
            <a:ext cx="10972800" cy="530352"/>
          </a:xfrm>
          <a:prstGeom prst="roundRect">
            <a:avLst>
              <a:gd name="adj" fmla="val 1551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3922776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Cap. VIII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920240" y="392277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Îngrijirile la domiciliu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75120" y="392277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pacientul care nu se poate deplasa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94360" y="4526280"/>
            <a:ext cx="10972800" cy="530352"/>
          </a:xfrm>
          <a:prstGeom prst="roundRect">
            <a:avLst>
              <a:gd name="adj" fmla="val 15517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4526280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Cap. X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920240" y="452628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Sanatoriile și preventoriile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0" y="452628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inclusiv cele balneare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4360" y="5129784"/>
            <a:ext cx="10972800" cy="530352"/>
          </a:xfrm>
          <a:prstGeom prst="roundRect">
            <a:avLst>
              <a:gd name="adj" fmla="val 15517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77240" y="5129784"/>
            <a:ext cx="1097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Cap. XII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920240" y="512978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Dispozitivele medicale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675120" y="512978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recuperarea deficiențelor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94360" y="578815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Recuperarea nu e un nivel separat de asistență: le traversează pe cele existente.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Contractul-cadru, anexa la HG nr. 521/2023, modificat prin HG nr. 5/2026; forma consolidată din 16.01.2026.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TRASEUL PACIENTEI 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medicul de familie la sala de proceduri</a:t>
            </a:r>
            <a:endParaRPr lang="en-US" sz="2800" dirty="0"/>
          </a:p>
        </p:txBody>
      </p:sp>
      <p:pic>
        <p:nvPicPr>
          <p:cNvPr id="4" name="Image 0" descr="/Users/adrianpana/Downloads/UMF_Cluj_SP/Materiale SP/Atelier_didactic/discipline/SPM_BFKIII/active/img/sala_proceduri_comm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4206240" cy="392917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5532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Sală de proceduri de fizioterapie într-o clinică din Karelia, Rusia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94360" y="580644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Foto: Igor Georgievskiy · CC BY-SA 4.0 · Wikimedia Commons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120640" y="1664208"/>
            <a:ext cx="420624" cy="420624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120640" y="1664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715000" y="1554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Medicul de familie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15000" y="1938528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întocmește biletul de trimitere (art. 7 lit. t)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312664" y="2121408"/>
            <a:ext cx="36576" cy="59436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120640" y="2761488"/>
            <a:ext cx="420624" cy="420624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120640" y="2761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715000" y="26517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Medicul de medicină fizică și de reabilitare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715000" y="3035808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evaluează și face planul: cel mult 4 proceduri (art. 26 lit. y)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312664" y="3218688"/>
            <a:ext cx="36576" cy="59436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120640" y="3858768"/>
            <a:ext cx="420624" cy="420624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12064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715000" y="37490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Furnizorul în contract cu casa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715000" y="4133088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furnizor din ambulatoriu nu poate contracta fără fizioterapeut (art. 41 alin. 3)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5120640" y="4892040"/>
            <a:ext cx="6446520" cy="1188720"/>
          </a:xfrm>
          <a:prstGeom prst="roundRect">
            <a:avLst>
              <a:gd name="adj" fmla="val 6923"/>
            </a:avLst>
          </a:prstGeom>
          <a:solidFill>
            <a:srgbClr val="F4E0E2"/>
          </a:solidFill>
          <a:ln w="12700">
            <a:solidFill>
              <a:srgbClr val="F4E0E2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349240" y="4956048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se oprește: </a:t>
            </a:r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distanța, timpul (programul coincide cu turele), costul. Colega le-a ocolit la cabinetul privat, dar a plătit.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rianpana/Downloads/UMF_Cluj_SP/Materiale SP/Atelier_didactic/discipline/SPM_BFKIII/active/img/baile_felix_apollo_comm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5295" y="6144768"/>
            <a:ext cx="5486400" cy="713232"/>
          </a:xfrm>
          <a:prstGeom prst="rect">
            <a:avLst/>
          </a:prstGeom>
          <a:solidFill>
            <a:srgbClr val="11121A">
              <a:alpha val="75000"/>
            </a:srgbClr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6933895" y="618134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Băile Felix, Bihor: complexul de băi Apollo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933895" y="65653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C9CCD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Foto: ArnoldPlaton · CC BY-SA 3.0 · Wikimedia Commons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SANATORIILE ȘI TRATAMENTUL BALNEAR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7315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parte plătește casa, o parte plătește pacientul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94360" y="1965960"/>
            <a:ext cx="64008" cy="118872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1920240"/>
            <a:ext cx="55321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Art. 145 alin. (2) și (3): serviciile din sanatorii, inclusiv balneare, se plătesc prin tariful pe zi de spitalizare.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94360" y="3383280"/>
            <a:ext cx="64008" cy="1188720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22960" y="3337560"/>
            <a:ext cx="55321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sanatoriile balneare, sumele contractate de casă scad cu contribuția asiguraților, după tipul de asistență și durata tratamentului.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94360" y="49377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balneofiziokinetoterapie, acesta e unul dintre locurile de muncă tipice ale absolvenților.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94360" y="57150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Legea nr. 229/2016, art. 15: fizioterapeutul lucrează și cu bazele de tratament din sistemul balnear.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292608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66760" y="2926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PERECHI · 10 MINUTE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PREGĂTIREA PENTRU LUCRAREA PRACTICĂ A DOUA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Desenați drumul pacientului vostru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Pacientul-ancoră ales la primul curs, de la primul simptom până la ultima ședință de recuperare.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2331720"/>
            <a:ext cx="2057400" cy="1737360"/>
          </a:xfrm>
          <a:prstGeom prst="roundRect">
            <a:avLst>
              <a:gd name="adj" fmla="val 4737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77240" y="24871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77240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01752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Punctul de intrare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70048" y="3200400"/>
            <a:ext cx="182880" cy="274320"/>
          </a:xfrm>
          <a:prstGeom prst="rightArrow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852928" y="2331720"/>
            <a:ext cx="2057400" cy="1737360"/>
          </a:xfrm>
          <a:prstGeom prst="roundRect">
            <a:avLst>
              <a:gd name="adj" fmla="val 4737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035808" y="24871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03580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35808" y="301752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Trimiterile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928616" y="3200400"/>
            <a:ext cx="182880" cy="274320"/>
          </a:xfrm>
          <a:prstGeom prst="rightArrow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111496" y="2331720"/>
            <a:ext cx="2057400" cy="1737360"/>
          </a:xfrm>
          <a:prstGeom prst="roundRect">
            <a:avLst>
              <a:gd name="adj" fmla="val 4737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294376" y="24871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294376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94376" y="301752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187184" y="3200400"/>
            <a:ext cx="182880" cy="274320"/>
          </a:xfrm>
          <a:prstGeom prst="rightArrow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70064" y="2331720"/>
            <a:ext cx="2057400" cy="1737360"/>
          </a:xfrm>
          <a:prstGeom prst="roundRect">
            <a:avLst>
              <a:gd name="adj" fmla="val 4737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552944" y="24871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552944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2944" y="301752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plătește, la fiecare pas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445752" y="3200400"/>
            <a:ext cx="182880" cy="274320"/>
          </a:xfrm>
          <a:prstGeom prst="rightArrow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9628632" y="2331720"/>
            <a:ext cx="2057400" cy="1737360"/>
          </a:xfrm>
          <a:prstGeom prst="roundRect">
            <a:avLst>
              <a:gd name="adj" fmla="val 4737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811512" y="2487168"/>
            <a:ext cx="420624" cy="420624"/>
          </a:xfrm>
          <a:prstGeom prst="ellipse">
            <a:avLst/>
          </a:prstGeom>
          <a:solidFill>
            <a:srgbClr val="11121A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811512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811512" y="301752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se poate opri drumul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94360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perechi, câte una pentru fiecare afecțiune-ancoră, își prezintă traseul.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EUROSTAT · CHELTUIELILE CURENTE CU SĂNĂTATEA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Mai puțini bani, o parte mai mare din buzunar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 produsul intern brut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083357"/>
            <a:ext cx="1097280" cy="1580083"/>
          </a:xfrm>
          <a:prstGeom prst="rect">
            <a:avLst/>
          </a:prstGeom>
          <a:solidFill>
            <a:srgbClr val="C98A90"/>
          </a:solidFill>
          <a:ln w="12700">
            <a:solidFill>
              <a:srgbClr val="C98A9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2671877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5,76%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7365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2023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23160" y="2973629"/>
            <a:ext cx="1097280" cy="1689811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148840" y="2562149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6,16%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148840" y="47365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2024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23360" y="1936699"/>
            <a:ext cx="1097280" cy="2726741"/>
          </a:xfrm>
          <a:prstGeom prst="rect">
            <a:avLst/>
          </a:prstGeom>
          <a:solidFill>
            <a:srgbClr val="8A8F9E"/>
          </a:solidFill>
          <a:ln w="12700">
            <a:solidFill>
              <a:srgbClr val="8A8F9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749040" y="1525219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9,94%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49040" y="47365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 2023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663440"/>
            <a:ext cx="4846320" cy="18288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09360" y="15544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 cheltuielile curente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2093976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Asigurări (schema obligatorie)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9360" y="2423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2024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0" y="2468880"/>
            <a:ext cx="2543934" cy="36576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846686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77,28%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3081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 2023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0" y="3127248"/>
            <a:ext cx="2640714" cy="365760"/>
          </a:xfrm>
          <a:prstGeom prst="rect">
            <a:avLst/>
          </a:prstGeom>
          <a:solidFill>
            <a:srgbClr val="8A8F9E"/>
          </a:solidFill>
          <a:ln w="12700">
            <a:solidFill>
              <a:srgbClr val="8A8F9E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943466" y="30815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80,22%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373075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Plăți directe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9360" y="40599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2024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229600" y="4105656"/>
            <a:ext cx="723546" cy="36576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026298" y="405993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21,98%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47183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 2023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29600" y="4764024"/>
            <a:ext cx="500030" cy="365760"/>
          </a:xfrm>
          <a:prstGeom prst="rect">
            <a:avLst/>
          </a:prstGeom>
          <a:solidFill>
            <a:srgbClr val="8A8F9E"/>
          </a:solidFill>
          <a:ln w="12700">
            <a:solidFill>
              <a:srgbClr val="8A8F9E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802782" y="471830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15,19%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94360" y="5349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Comparația cu UE se face pe 2023: valoarea europeană pentru 2024 nu era publicată la extragere.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cheltuielile cu sănătatea după schema de finanțare.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· 2024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21,98%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 cheltuielile curente cu sănătatea au fost plătite direct de gospodării (22,96% în 2023; UE: 15,19% în 2023).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583680" y="914400"/>
            <a:ext cx="4983480" cy="2377440"/>
          </a:xfrm>
          <a:prstGeom prst="roundRect">
            <a:avLst>
              <a:gd name="adj" fmla="val 3462"/>
            </a:avLst>
          </a:prstGeom>
          <a:solidFill>
            <a:srgbClr val="07564B"/>
          </a:solidFill>
          <a:ln w="12700">
            <a:solidFill>
              <a:srgbClr val="07564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12280" y="111556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12280" y="111556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 NOU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55448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Plăți directe: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sumele plătite de gospodării din resursele proprii pentru servicii și produse de sănătate.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" y="4206240"/>
            <a:ext cx="10972800" cy="27432"/>
          </a:xfrm>
          <a:prstGeom prst="rect">
            <a:avLst/>
          </a:prstGeom>
          <a:solidFill>
            <a:srgbClr val="3A3E52"/>
          </a:solidFill>
          <a:ln w="12700">
            <a:solidFill>
              <a:srgbClr val="3A3E5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43891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plată directă cântărește mai greu într-o gospodărie cu venit mic. Cu cât se plătește mai mult direct, cu atât accesul depinde mai mult de venit.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" y="53492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Datele nu arată cât din această sumă merge la recuperare.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schema de finanțare HF3, plățile directe ale gospodăriilor.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CONTRACTUL-CADRU, ART. 51 · EXEMPLUL: VALORI IPOTETICE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Coplata e mică. Drumul costă mai mult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Coplata pe serie de proceduri în ambulatoriu: între 5 și 10 lei, stabilită de furnizor; scutirile, după art. 225 din Legea nr. 95/2006.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4360" y="2651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Pacienta A, o serie de zece ședințe, în alt oraș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3108960"/>
            <a:ext cx="309716" cy="82296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31508" y="3108960"/>
            <a:ext cx="9291484" cy="822960"/>
          </a:xfrm>
          <a:prstGeom prst="rect">
            <a:avLst/>
          </a:prstGeom>
          <a:solidFill>
            <a:srgbClr val="8A8F9E"/>
          </a:solidFill>
          <a:ln w="12700">
            <a:solidFill>
              <a:srgbClr val="8A8F9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3108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transport: 30 de lei pe zi × 10 zile = 300 de lei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287000" y="3108960"/>
            <a:ext cx="1280160" cy="822960"/>
          </a:xfrm>
          <a:prstGeom prst="rect">
            <a:avLst/>
          </a:prstGeom>
          <a:solidFill>
            <a:srgbClr val="F6F5F2"/>
          </a:solidFill>
          <a:ln w="19050">
            <a:solidFill>
              <a:srgbClr val="8A6100"/>
            </a:solidFill>
            <a:prstDash val="dash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0" y="39776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 ture schimbate sau zile neplătite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4023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coplata: 10 din 310 lei, aproximativ 3%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9436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Colega a plătit mai mult pe ședință la cabinetul privat, dar fără drum și fără zile pierdute: o alegere economică, nu numai medicală.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rianpana/Downloads/UMF_Cluj_SP/Materiale SP/Atelier_didactic/discipline/SPM_BFKIII/active/img/sat_roades_comm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480560" cy="4180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4251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sat din județul Brașov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228600" y="452628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Foto: Whitepixels · CC0 · Wikimedia Commons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846320" y="36576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ECHITATEA ACCESULUI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846320" y="731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pacienți, trei bariere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4846320" y="1600200"/>
            <a:ext cx="64008" cy="777240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074920" y="155448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Pacienta A: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timpul și distanța: serviciul e în alt oraș, în timpul turelor.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846320" y="2560320"/>
            <a:ext cx="64008" cy="777240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74920" y="25146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Pacientul B: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un accident vascular cerebral, la etajul al treilea, fără lift: mediul fizic.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4846320" y="3520440"/>
            <a:ext cx="64008" cy="77724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074920" y="347472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Pacienta C: </a:t>
            </a:r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o fractură de șold, singură într-un sat fără cabinet; pensia acoperă greu drumul: geografia, banii, vârsta.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594360" y="4892040"/>
            <a:ext cx="10972800" cy="1325880"/>
          </a:xfrm>
          <a:prstGeom prst="roundRect">
            <a:avLst>
              <a:gd name="adj" fmla="val 6207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822960" y="509320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22960" y="509320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 NOU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Echitate în sănătate (OMS, 2021): </a:t>
            </a:r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absența diferențelor nedrepte, evitabile sau remediabile în starea de sănătate dintre grupuri de populație.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EUROSTAT · EU-SILC 2025 · 16 ANI ȘI PESTE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Persoanele cu limitări severe, cu nevoie mai mare de recuperare, declară cel mai des examinări nefăcute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645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România, limitări severe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206240" y="1709928"/>
            <a:ext cx="5669280" cy="384048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985248" y="16459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15,5%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226771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UE, limitări severe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06240" y="2331720"/>
            <a:ext cx="2267712" cy="384048"/>
          </a:xfrm>
          <a:prstGeom prst="rect">
            <a:avLst/>
          </a:prstGeom>
          <a:solidFill>
            <a:srgbClr val="8E94A8"/>
          </a:solidFill>
          <a:ln w="12700">
            <a:solidFill>
              <a:srgbClr val="8E94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0" y="226771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6,2%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88950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România, total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06240" y="2953512"/>
            <a:ext cx="1060704" cy="384048"/>
          </a:xfrm>
          <a:prstGeom prst="rect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76672" y="288950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2,9%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351129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UE, total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06240" y="3575304"/>
            <a:ext cx="841248" cy="384048"/>
          </a:xfrm>
          <a:prstGeom prst="rect">
            <a:avLst/>
          </a:prstGeom>
          <a:solidFill>
            <a:srgbClr val="8E94A8"/>
          </a:solidFill>
          <a:ln w="12700">
            <a:solidFill>
              <a:srgbClr val="8E94A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57216" y="351129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2,3%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4360" y="413308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România, fără limitări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206240" y="4197096"/>
            <a:ext cx="475488" cy="384048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791456" y="41330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1,3%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Rural 3,4% · orașe mari 2,3% (UE: 2,7% și 2,4%)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4360" y="5303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Nevoie de examinare medicală nesatisfăcută din cauza costului, a distanței sau a listei de așteptare. Privește examinarea medicală, nu recuperarea; e declarată.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EU-SILC 2025; valorile României din 2024 au ruptură de serie și nu se folosesc.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292608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66760" y="2926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PACIENTA 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barieră a pacientei C poate fi redusă cel mai direct de un fizioterapeut, fără schimbarea regulilor de finanțare?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10972800" cy="685800"/>
          </a:xfrm>
          <a:prstGeom prst="roundRect">
            <a:avLst>
              <a:gd name="adj" fmla="val 12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24643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4643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331720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Distanța până la cabinetul de recuperare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10972800" cy="685800"/>
          </a:xfrm>
          <a:prstGeom prst="roundRect">
            <a:avLst>
              <a:gd name="adj" fmla="val 12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32872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32872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3154680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Costul transportului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977640"/>
            <a:ext cx="10972800" cy="685800"/>
          </a:xfrm>
          <a:prstGeom prst="roundRect">
            <a:avLst>
              <a:gd name="adj" fmla="val 12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41102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1102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3977640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Teama de o nouă cădere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800600"/>
            <a:ext cx="10972800" cy="685800"/>
          </a:xfrm>
          <a:prstGeom prst="roundRect">
            <a:avLst>
              <a:gd name="adj" fmla="val 12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68680" y="493318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8680" y="49331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54480" y="4800600"/>
            <a:ext cx="978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Pragurile înalte din casă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9436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Apoi două minute cu colegul de bancă: ce ar trebui schimbat în sistem pentru celelalte bariere?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RĂSPUNSUL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Teama și pragurile țin de fizioterapeut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E1F0EC"/>
          </a:solidFill>
          <a:ln w="12700">
            <a:solidFill>
              <a:srgbClr val="E1F0EC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217920" y="155448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Fizioterapeutul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explică și dozează mișcarea, ca teama să nu o oprească; evaluează locuința și o adaptează, ca riscul de cădere să scadă.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Sistemul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Distanța și costul transportului cer schimbări de organizare și de finanțare: discuția din perechi.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40233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Și deciziile mici țin de echitate: programul cabinetului, ședințele la domiciliu, un program de exerciții pe care pacientul îl face singur acasă. Pentru pacientul B, o ședință la domiciliu poate conta mai mult decât zece ședințe la sediu, la care nu poate ajunge.</a:t>
            </a:r>
            <a:endParaRPr lang="en-US" sz="1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PRACTICĂ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faceți diferit, de luni dimineață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60020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 treilea pacient cu aceeași problemă, din același loc de muncă: ce condiție comună produce cazurile și cine o poate schimba?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60604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Recomandați mișcare pornind de la ce face deja pacientul și de la teama lui. Ghidul e direcția, nu primul pas.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25880" y="361188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pacient întrerupe programul: întrebați-l despre drum, program și cost înainte să presupuneți lipsa de motivație.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85800" y="4800600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461772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Păstrați același pacient-ancoră: la lucrarea practică de azi îl descrieți, la a doua îi desenați drumul prin sistem.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292608"/>
            <a:ext cx="320040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66760" y="29260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KAHOOT · 10 ÎNTREBĂRI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FINALĂ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Prevenție, mișcare, sistem: ce a rămas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Accesați kahoot.it și introduceți codul jocului.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3200400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3200400"/>
            <a:ext cx="5486400" cy="2011680"/>
          </a:xfrm>
          <a:prstGeom prst="rect">
            <a:avLst/>
          </a:prstGeom>
          <a:noFill/>
          <a:ln/>
        </p:spPr>
        <p:txBody>
          <a:bodyPr wrap="square" lIns="228600" tIns="0" rIns="228600" bIns="0" rtlCol="0" anchor="ctr"/>
          <a:lstStyle/>
          <a:p>
            <a:pPr algn="ctr" indent="0" marL="0">
              <a:buNone/>
            </a:pPr>
            <a:r>
              <a:rPr lang="en-US" sz="1800" dirty="0" i="1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Kahoot: intrați pe kahoot.it cu PIN-ul afișat pe ecran.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5166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Rezultatul nu se notează. După fiecare întrebare: răspunsul corect și paragraful din note care îl decide.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822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ULTIMELE CINCI MINUTE · ANONIM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întrebări pentru titular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267004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514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 fost util azi?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14400" y="35387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33832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v-am pierdut?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44074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42519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ați putea folosi mâine?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549640" y="2514600"/>
            <a:ext cx="301752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9436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începutul săptămânii viitoare, pe pagina disciplinei: două modificări făcute pe baza răspunsurilor.</a:t>
            </a:r>
            <a:endParaRPr lang="en-US" sz="1700" dirty="0"/>
          </a:p>
        </p:txBody>
      </p:sp>
      <p:pic>
        <p:nvPicPr>
          <p:cNvPr id="17" name="Picture 16" descr="Mentimeter_SPM_BFKIII_C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650" y="2514600"/>
            <a:ext cx="1841500" cy="1841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37650" y="4394200"/>
            <a:ext cx="1841500" cy="627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B02532"/>
                </a:solidFill>
                <a:latin typeface="Palatino Linotype"/>
              </a:rPr>
              <a:t>menti.com</a:t>
            </a:r>
          </a:p>
          <a:p>
            <a:pPr algn="ctr"/>
            <a:r>
              <a:rPr sz="1300" b="1">
                <a:solidFill>
                  <a:srgbClr val="B02532"/>
                </a:solidFill>
                <a:latin typeface="Palatino Linotype"/>
              </a:rPr>
              <a:t>anonim, fără cont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 2 - Prevenția și promovarea sănătății prin mișcare. Sistemul de sănătate din România și locul recuperării</dc:title>
  <dc:subject>PptxGenJS Presentation</dc:subject>
  <dc:creator>Conf. Univ. Dr. Adrian Pana</dc:creator>
  <cp:lastModifiedBy>Conf. Univ. Dr. Adrian Pana</cp:lastModifiedBy>
  <cp:revision>1</cp:revision>
  <dcterms:created xsi:type="dcterms:W3CDTF">2026-10-03T18:35:12Z</dcterms:created>
  <dcterms:modified xsi:type="dcterms:W3CDTF">2026-10-03T18:35:12Z</dcterms:modified>
  <cp:keywords>sursa_amprenta=6aae0d3e3d025343; proiectie</cp:keywords>
</cp:coreProperties>
</file>