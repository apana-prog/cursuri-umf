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1.xml"/><Relationship Id="rId73" Type="http://schemas.openxmlformats.org/officeDocument/2006/relationships/slide" Target="slides/slide2.xml"/><Relationship Id="rId74" Type="http://schemas.openxmlformats.org/officeDocument/2006/relationships/slide" Target="slides/slide3.xml"/><Relationship Id="rId75" Type="http://schemas.openxmlformats.org/officeDocument/2006/relationships/slide" Target="slides/slide4.xml"/><Relationship Id="rId76" Type="http://schemas.openxmlformats.org/officeDocument/2006/relationships/slide" Target="slides/slide5.xml"/><Relationship Id="rId77" Type="http://schemas.openxmlformats.org/officeDocument/2006/relationships/slide" Target="slides/slide6.xml"/><Relationship Id="rId78" Type="http://schemas.openxmlformats.org/officeDocument/2006/relationships/slide" Target="slides/slide7.xml"/><Relationship Id="rId79" Type="http://schemas.openxmlformats.org/officeDocument/2006/relationships/slide" Target="slides/slide8.xml"/><Relationship Id="rId80" Type="http://schemas.openxmlformats.org/officeDocument/2006/relationships/slide" Target="slides/slide9.xml"/><Relationship Id="rId81" Type="http://schemas.openxmlformats.org/officeDocument/2006/relationships/slide" Target="slides/slide10.xml"/><Relationship Id="rId82" Type="http://schemas.openxmlformats.org/officeDocument/2006/relationships/slide" Target="slides/slide11.xml"/><Relationship Id="rId83" Type="http://schemas.openxmlformats.org/officeDocument/2006/relationships/slide" Target="slides/slide12.xml"/><Relationship Id="rId84" Type="http://schemas.openxmlformats.org/officeDocument/2006/relationships/slide" Target="slides/slide13.xml"/><Relationship Id="rId85" Type="http://schemas.openxmlformats.org/officeDocument/2006/relationships/slide" Target="slides/slide14.xml"/><Relationship Id="rId86" Type="http://schemas.openxmlformats.org/officeDocument/2006/relationships/slide" Target="slides/slide15.xml"/><Relationship Id="rId87" Type="http://schemas.openxmlformats.org/officeDocument/2006/relationships/slide" Target="slides/slide16.xml"/><Relationship Id="rId88" Type="http://schemas.openxmlformats.org/officeDocument/2006/relationships/slide" Target="slides/slide17.xml"/><Relationship Id="rId89" Type="http://schemas.openxmlformats.org/officeDocument/2006/relationships/slide" Target="slides/slide18.xml"/><Relationship Id="rId90" Type="http://schemas.openxmlformats.org/officeDocument/2006/relationships/slide" Target="slides/slide19.xml"/><Relationship Id="rId91" Type="http://schemas.openxmlformats.org/officeDocument/2006/relationships/slide" Target="slides/slide20.xml"/><Relationship Id="rId92" Type="http://schemas.openxmlformats.org/officeDocument/2006/relationships/slide" Target="slides/slide21.xml"/><Relationship Id="rId93" Type="http://schemas.openxmlformats.org/officeDocument/2006/relationships/slide" Target="slides/slide22.xml"/><Relationship Id="rId94" Type="http://schemas.openxmlformats.org/officeDocument/2006/relationships/slide" Target="slides/slide23.xml"/><Relationship Id="rId95" Type="http://schemas.openxmlformats.org/officeDocument/2006/relationships/slide" Target="slides/slide24.xml"/><Relationship Id="rId96" Type="http://schemas.openxmlformats.org/officeDocument/2006/relationships/slide" Target="slides/slide25.xml"/><Relationship Id="rId97" Type="http://schemas.openxmlformats.org/officeDocument/2006/relationships/slide" Target="slides/slide26.xml"/><Relationship Id="rId98" Type="http://schemas.openxmlformats.org/officeDocument/2006/relationships/slide" Target="slides/slide27.xml"/><Relationship Id="rId99" Type="http://schemas.openxmlformats.org/officeDocument/2006/relationships/slide" Target="slides/slide28.xml"/><Relationship Id="rId100" Type="http://schemas.openxmlformats.org/officeDocument/2006/relationships/slide" Target="slides/slide29.xml"/><Relationship Id="rId101" Type="http://schemas.openxmlformats.org/officeDocument/2006/relationships/slide" Target="slides/slide30.xml"/><Relationship Id="rId102" Type="http://schemas.openxmlformats.org/officeDocument/2006/relationships/slide" Target="slides/slide31.xml"/><Relationship Id="rId103" Type="http://schemas.openxmlformats.org/officeDocument/2006/relationships/slide" Target="slides/slide32.xml"/><Relationship Id="rId104" Type="http://schemas.openxmlformats.org/officeDocument/2006/relationships/slide" Target="slides/slide33.xml"/><Relationship Id="rId105" Type="http://schemas.openxmlformats.org/officeDocument/2006/relationships/slide" Target="slides/slide34.xml"/><Relationship Id="rId106" Type="http://schemas.openxmlformats.org/officeDocument/2006/relationships/slide" Target="slides/slide35.xml"/><Relationship Id="rId107" Type="http://schemas.openxmlformats.org/officeDocument/2006/relationships/slide" Target="slides/slide36.xml"/><Relationship Id="rId108" Type="http://schemas.openxmlformats.org/officeDocument/2006/relationships/slide" Target="slides/slide37.xml"/><Relationship Id="rId109" Type="http://schemas.openxmlformats.org/officeDocument/2006/relationships/slide" Target="slides/slide38.xml"/><Relationship Id="rId110" Type="http://schemas.openxmlformats.org/officeDocument/2006/relationships/slide" Target="slides/slide39.xml"/><Relationship Id="rId111" Type="http://schemas.openxmlformats.org/officeDocument/2006/relationships/slide" Target="slides/slide40.xml"/><Relationship Id="rId112" Type="http://schemas.openxmlformats.org/officeDocument/2006/relationships/slide" Target="slides/slide41.xml"/><Relationship Id="rId113" Type="http://schemas.openxmlformats.org/officeDocument/2006/relationships/slide" Target="slides/slide42.xml"/><Relationship Id="rId114" Type="http://schemas.openxmlformats.org/officeDocument/2006/relationships/slide" Target="slides/slide43.xml"/><Relationship Id="rId115" Type="http://schemas.openxmlformats.org/officeDocument/2006/relationships/slide" Target="slides/slide44.xml"/><Relationship Id="rId116" Type="http://schemas.openxmlformats.org/officeDocument/2006/relationships/slide" Target="slides/slide45.xml"/><Relationship Id="rId117" Type="http://schemas.openxmlformats.org/officeDocument/2006/relationships/slide" Target="slides/slide46.xml"/><Relationship Id="rId118" Type="http://schemas.openxmlformats.org/officeDocument/2006/relationships/slide" Target="slides/slide47.xml"/><Relationship Id="rId119" Type="http://schemas.openxmlformats.org/officeDocument/2006/relationships/slide" Target="slides/slide48.xml"/><Relationship Id="rId120" Type="http://schemas.openxmlformats.org/officeDocument/2006/relationships/slide" Target="slides/slide49.xml"/><Relationship Id="rId121" Type="http://schemas.openxmlformats.org/officeDocument/2006/relationships/slide" Target="slides/slide50.xml"/><Relationship Id="rId122" Type="http://schemas.openxmlformats.org/officeDocument/2006/relationships/slide" Target="slides/slide51.xml"/><Relationship Id="rId123" Type="http://schemas.openxmlformats.org/officeDocument/2006/relationships/slide" Target="slides/slide52.xml"/><Relationship Id="rId124" Type="http://schemas.openxmlformats.org/officeDocument/2006/relationships/slide" Target="slides/slide53.xml"/><Relationship Id="rId125" Type="http://schemas.openxmlformats.org/officeDocument/2006/relationships/slide" Target="slides/slide54.xml"/><Relationship Id="rId126" Type="http://schemas.openxmlformats.org/officeDocument/2006/relationships/slide" Target="slides/slide55.xml"/><Relationship Id="rId127" Type="http://schemas.openxmlformats.org/officeDocument/2006/relationships/slide" Target="slides/slide56.xml"/><Relationship Id="rId128" Type="http://schemas.openxmlformats.org/officeDocument/2006/relationships/slide" Target="slides/slide57.xml"/><Relationship Id="rId129" Type="http://schemas.openxmlformats.org/officeDocument/2006/relationships/slide" Target="slides/slide58.xml"/><Relationship Id="rId130" Type="http://schemas.openxmlformats.org/officeDocument/2006/relationships/slide" Target="slides/slide59.xml"/><Relationship Id="rId131"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9785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Primul curs al disciplinei leagă recuperarea de sănătatea publică: cum se măsoară starea de sănătate a unei populații și cât de mare este nevoia ei de recuperare.</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Cursul are cinci părți. Începe cu alegerea afecțiunii-ancoră, continuă cu trecerea de la supraviețuire la funcționare, cu sănătatea publică și prevenția, apoi cu modelul CIF, cu indicatorii și cu nevoia de recuperare, și se încheie cu sursele de date, o demonstrație pe date reale și o verificare prin vot.</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Cele cinci idei rezumă cursul și sunt reluate la recapitulare.</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Cele trei afecțiuni sunt trei drumuri diferite spre recuperare: o afecțiune cronică foarte frecventă, un eveniment acut cu urmări de lungă durată și o leziune a vârstnicului legată de căderi. Afecțiunea aleasă azi revine în toate fișele de lucru.</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Fiecare student își alege afecțiunea-ancoră prin vot. După vot, distribuția alegerilor se vede pe ecran, iar câțiva studenți formulează o întrebare la care vor să afle răspunsul până la ultima întâlnire: câți oameni trăiesc cu afecțiunea, cine plătește recuperarea, cum se măsoară dacă recuperarea a reușit.</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Fișele de lucru formează portofoliul. Fiecare valoare numerică dintr-o fișă se scrie împreună cu sursa exactă: instituția, anul, măsura și codul indicatorului.</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Indicatorii clasici măsoară cât trăiesc oamenii; recuperarea privește cum trăiesc.</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Definiția OMS privește persoana întreagă, nu diagnosticul. Pe măsură ce oamenii trăiesc mai mult, contează câți dintre anii câștigați sunt trăiți fără limitări. Declarația de la Alma-Ata din 1978 număra deja recuperarea printre serviciile asistenței medicale primare.</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Votați înainte de a vedea răspunsul. Variantele sunt valori reale din același tabel Eurostat; după vot vedem ce reprezintă fiecare.</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Speranța de viață la naștere a fost de 76,5 ani în România și de 81,5 ani în UE. Celelalte două valori sunt anii de viață sănătoasă, un alt indicator, la care revenim în secțiunea despre indicatori: ei nu se compară între 2023 și 2024, din cauza rupturii de serie.</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Definițiile clasice și funcțiile sănătății publice, apoi legislația românească.</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Winslow enumeră cinci direcții ale efortului organizat al comunității. Raportul Acheson păstrează ideea într-o definiție de lucru mai scurtă, despre sănătate în general și despre societate. Legea nr. 95/2006 numește efortul organizat asistență de sănătate publică, iar sănătatea publică însăși este starea de sănătate a populației în raport cu determinanții ei.</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Sănătatea publică este o acțiune organizată a întregii comunități, care depășește serviciile medicale. Recuperarea ține de a patra direcție, organizarea serviciilor, dar și de celelalte: mediul, educația și nivelul de trai influențează funcționarea.</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Cadrul din 1994 este organizat în jurul celor trei funcții de bază: evaluarea, dezvoltarea politicilor și asigurarea. Versiunea revizuită din 2020 pune echitatea în centru. Pentru recuperare contează direct primul serviciu, măsurarea nevoii, al șaptelea, accesul echitabil, și al nouălea, calitatea.</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Legea profesiei așază sănătatea publică printre domeniile de practică ale fizioterapeutului: promovarea sănătății la nivel de individ și de grup și minimalizarea riscurilor care decurg din afectarea capacității de mișcare și a funcției.</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Cele două perspective nu se exclud: datele populaționale arată unde și pentru cine trebuie organizate serviciile, iar rezultatele pacienților, adunate și analizate, devin date despre calitatea serviciilor.</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Recuperarea nu vine după prevenție: în logica nivelurilor, ține de prevenția terțiară, aplicată când boala există deja.</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În ambele glosare ale OMS, recuperarea ține de prevenția terțiară: limitează deteriorarea, complicațiile și dizabilitatea unei boli deja instalate. Când enumeră serviciile acoperirii universale, OMS o numește separat.</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Tabelul arată tipuri de intervenții, nu recomandări clinice. Pe fiecare coloană, fizioterapeutul lucrează cel mai des pe rândul terțiar, dar poate contribui și la celelalte două, de exemplu la programele de exerciții de echilibru pentru prevenirea căderilor.</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Textul legii folosește chiar vocabularul modelului CIF: limitări de activitate și restricții de participare. OMS cere ca recuperarea să înceapă, în multe cazuri, imediat ce problema de sănătate este identificată și să continue în paralel cu celelalte intervenții.</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Clasificarea bolilor întreabă ce boală are persoana; CIF întreabă ce poate face și ce face efectiv.</a:t>
            </a:r>
          </a:p>
        </p:txBody>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CIF a fost aprobată de Adunarea Mondială a Sănătății la 22 mai 2001, prin rezoluția WHA54.21. Funcționarea cuprinde funcțiile corpului, activitățile și participarea; dizabilitatea cuprinde, simetric, deficiențele, limitările de activitate și restricțiile de participare. Ambele rezultă din interacțiunea dintre problema de sănătate și factorii de context.</a:t>
            </a:r>
          </a:p>
        </p:txBody>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Definițiile formale ale ghidului OMS. Diferența care contează cel mai des în practică este cea dintre activitate, adică executarea unei sarcini, și participare, adică implicarea într-o situație de viață.</a:t>
            </a:r>
          </a:p>
        </p:txBody>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Diferența dintre capacitate și performanță arată rolul mediului. Problema de participare se rezolvă și prin mediu: un dispozitiv de mers, sprijinul familiei, adaptarea locuinței. Un pacient după fractură de șold poate avea capacitatea de a urca trepte în sală, dar să nu iasă din casă dacă blocul nu are lift și nimeni nu îl însoțește.</a:t>
            </a:r>
          </a:p>
        </p:txBody>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Cazul este construit în scop didactic. Obiectivul formulat la nivelul participării cere, pe lângă exerciții, educație despre durere și o discuție cu angajatorul despre postul de lucru. Același tip de profil se construiește la lucrarea practică pentru afecțiunea aleasă.</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CIF face legătura dintre cazul individual și populație: aceleași categorii descriu pacientul din sală și permit agregarea datelor pentru planificarea serviciilor.</a:t>
            </a:r>
          </a:p>
        </p:txBody>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OMS tratează recuperarea ca serviciu esențial pentru întreaga populație, nu ca serviciu pentru puțini.</a:t>
            </a:r>
          </a:p>
        </p:txBody>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Definiția OMS a recuperării folosește exact termenii modelului CIF: funcționare, dizabilitate, mediu. Recuperarea lucrează cu persoana și cu familia ei, modifică mediul, folosește produse asistive și educă pentru autogestionare.</a:t>
            </a:r>
          </a:p>
        </p:txBody>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Inițiativa pornește de la ideea că recuperarea trebuie să fie disponibilă pentru întreaga populație, în toate etapele vieții, integrată la toate nivelurile de îngrijire. Aria a opta, informațiile despre funcționare cu ajutorul CIF, leagă inițiativa de modelul prezentat mai devreme.</a:t>
            </a:r>
          </a:p>
        </p:txBody>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Rezoluția reamintește că acoperirea universală înseamnă acces la servicii de tratament, promovare, prevenție, recuperare și îngrijiri paliative. Pentru fizioterapeut, cererea de a extinde recuperarea la toate nivelurile sistemului, de la asistența primară la cea terțiară, este directă.</a:t>
            </a:r>
          </a:p>
        </p:txBody>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Afecțiunea-trasor este afecțiunea după care se judecă dacă nevoia de recuperare a populației este satisfăcută. Faptul că OMS a ales lombalgia cronică arată cât de centrală este această afecțiune pentru recuperare.</a:t>
            </a:r>
          </a:p>
        </p:txBody>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Două familii de indicatori: cei care numără persoanele afectate și cei care măsoară sănătatea pierdută.</a:t>
            </a:r>
          </a:p>
        </p:txBody>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Un indicator rezumă un aspect al sănătății unei populații într-o singură cifră, comparabilă în timp și între populații. Primii doi numără persoane; ultimii doi măsoară sănătatea pierdută.</a:t>
            </a:r>
          </a:p>
        </p:txBody>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Diferența principală se află la numărător: incidența numără numai cazurile noi, prevalența le numără pe toate cele prezente. Pentru bolile cronice de lungă durată, cum este artroza, se măsoară de obicei prevalența.</a:t>
            </a:r>
          </a:p>
        </p:txBody>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Calculul arată de ce numitorul incidenței este populația la risc: persoanele care au deja afecțiunea nu mai pot deveni cazuri noi.</a:t>
            </a:r>
          </a:p>
        </p:txBody>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Formulele sunt în forma cea mai simplă, pentru o singură afecțiune cu o singură stare de gravitate. În studiul GBD, anii trăiți cu dizabilitate se calculează pe fiecare consecință a bolii și se corectează pentru persoanele care au mai multe afecțiuni simultan.</a:t>
            </a:r>
          </a:p>
        </p:txBody>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Pentru afecțiunea X, întreaga povară vine din anii trăiți cu dizabilitate; pentru Y, cea mai mare parte vine din decese premature, 300 din 340.</a:t>
            </a:r>
          </a:p>
        </p:txBody>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Întrebarea anchetei EU-SILC este: de cel puțin șase luni, în ce măsură ați fost limitat, din cauza unei probleme de sănătate, în activitățile pe care oamenii le fac de obicei. Indicatorul măsoară exact tipul de problemă de care se ocupă recuperarea. Marcajul b înseamnă ruptură de serie, iar marcajul e, valoare estimată.</a:t>
            </a:r>
          </a:p>
        </p:txBody>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În lume, numărul fracturilor a crescut, deși rata standardizată a incidenței a scăzut. În România, proporția brută a persoanelor care ar putea beneficia de recuperare a crescut, deși rata standardizată a scăzut: diferența vine din structura pe vârste.</a:t>
            </a:r>
          </a:p>
        </p:txBody>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Creșterea se datorează numai îmbătrânirii populației. O rată standardizată pe vârstă, calculată pe aceeași populație standard în ambii ani, ar rămâne neschimbată.</a:t>
            </a:r>
          </a:p>
        </p:txBody>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Estimările numără persoanele care ar putea beneficia de recuperare, nu pacienții care o primesc.</a:t>
            </a:r>
          </a:p>
        </p:txBody>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Estimarea numără persoanele care ar beneficia de recuperare cel puțin o dată în cursul bolii sau al traumatismului lor. Cel puțin o persoană din trei are nevoie de recuperare la un moment dat. Raportul OMS din decembrie 2025 rotunjește aceleași rezultate la 2,6 miliarde de persoane.</a:t>
            </a:r>
          </a:p>
        </p:txBody>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Pentru România, instrumentul OMS estimează 9,61 milioane de persoane, adică 50,7% din populație, și 1,32 milioane de ani trăiți cu dizabilitate. Accidentul vascular cerebral este mai rar, dar produce al cincilea rezultat, între 27 de afecțiuni, după anii trăiți cu dizabilitate. Fractura de șold nu apare separat: instrumentul grupează toate fracturile.</a:t>
            </a:r>
          </a:p>
        </p:txBody>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Autorii primei estimări pornesc chiar de la această imagine a recuperării ca serviciu specific dizabilității. Datele arată contrariul: afecțiunea cea mai frecventă este o problemă de sănătate obișnuită.</a:t>
            </a:r>
          </a:p>
        </p:txBody>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Numărul persoanelor de 65 de ani și peste a crescut, deși populația totală a scăzut. O proiecție nu este o observație: ea arată ce s-ar întâmpla dacă ipotezele despre natalitate, mortalitate și migrație s-ar confirma.</a:t>
            </a:r>
          </a:p>
        </p:txBody>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Pentru lombalgie, ratele standardizate pe vârstă au scăzut ușor între 1990 și 2020, dar numărul persoanelor afectate crește. Accidentul vascular cerebral era, în 2021, a treia cauză de deces în lume, după cardiopatia ischemică și COVID-19. Căderile sunt a doua cauză de deces prin traumatisme neintenționate.</a:t>
            </a:r>
          </a:p>
        </p:txBody>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Profilul compară ratele standardizate pe vârstă ale României cu media țărilor cu indice sociodemografic ridicat. Pentru căderi, rata României este sub această medie.</a:t>
            </a:r>
          </a:p>
        </p:txBody>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Aceeași mărime poate avea valori diferite în surse diferite; sursa se citează împreună cu definiția ei.</a:t>
            </a:r>
          </a:p>
        </p:txBody>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Ancheta EHIS numără ce declară respondenții; studiul GBD definește lombalgia ca durere între marginea coastelor a douăsprezecea și pliurile fesiere, care a durat cel puțin o zi. Cele două cifre nu se scad una din cealaltă.</a:t>
            </a:r>
          </a:p>
        </p:txBody>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O citare completă permite oricui să regăsească valoarea. La valorile GBD se adaugă runda, cauza, măsura, metrica, vârsta, sexul, locația și anul.</a:t>
            </a:r>
          </a:p>
        </p:txBody>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Pentru fiecare valoare arătată, citarea completă cuprinde instrumentul, runda GBD, măsura, metrica, cauza, vârsta, sexul, locația, anul și intervalul de incertitudine. Instrumentul WHO Rehabilitation Need Estimator este public și poate înlocui GBD Compare.</a:t>
            </a:r>
          </a:p>
        </p:txBody>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Fiecare limită are o cauză precisă: date nepublicate, grupări ale estimărilor, rupturi de serie sau diferențe între produse. O cifră lipsă, adusă cu sursa ei primară, completează aceste note.</a:t>
            </a:r>
          </a:p>
        </p:txBody>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Cele cinci concepte se leagă de recuperarea privită la nivelul populației: definiția, prevenția, modelul funcționării, indicatorii și nevoia estimată.</a:t>
            </a:r>
          </a:p>
        </p:txBody>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Votați individual, fără a discuta. După vot, discutăm variantele alese și paragraful din note care decide întrebarea.</a:t>
            </a:r>
          </a:p>
        </p:txBody>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Votați individual, fără a discuta. După vot, discutăm variantele alese și paragraful din note care decide întrebarea.</a:t>
            </a:r>
          </a:p>
        </p:txBody>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Votați individual, fără a discuta. După vot, discutăm variantele alese și paragraful din note care decide întrebarea.</a:t>
            </a:r>
          </a:p>
        </p:txBody>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Votați individual, fără a discuta. După vot, discutăm variantele alese și paragraful din note care decide întrebarea.</a:t>
            </a:r>
          </a:p>
        </p:txBody>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Votați individual, fără a discuta. După vot, discutăm variantele alese și paragraful din note care decide întrebarea.</a:t>
            </a:r>
          </a:p>
        </p:txBody>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Explicațiile complete, pentru fiecare variantă, se află în exercițiile de autoevaluare ale cursului.</a:t>
            </a:r>
          </a:p>
        </p:txBody>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Bibliografia obligatorie completă este în fișa disciplinei; lista de alături cuprinde sursele folosite la acest curs, citate în note cu data extragerii.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7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notesSlide" Target="../notesSlides/notesSlide7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notesSlide" Target="../notesSlides/notesSlide9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0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10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10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0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1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2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2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3" name="Text 1"/>
          <p:cNvSpPr/>
          <p:nvPr/>
        </p:nvSpPr>
        <p:spPr>
          <a:xfrm>
            <a:off x="914400" y="731520"/>
            <a:ext cx="7315200" cy="182880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Palatino Linotype" pitchFamily="34" charset="0"/>
                <a:ea typeface="Palatino Linotype" pitchFamily="34" charset="-122"/>
                <a:cs typeface="Palatino Linotype" pitchFamily="34" charset="-120"/>
              </a:rPr>
              <a:t>SĂNĂTATEA PUBLICĂ</a:t>
            </a:r>
            <a:endParaRPr lang="en-US" sz="4000" dirty="0"/>
          </a:p>
          <a:p>
            <a:pPr marL="0" indent="0">
              <a:lnSpc>
                <a:spcPct val="110000"/>
              </a:lnSpc>
              <a:buNone/>
            </a:pPr>
            <a:r>
              <a:rPr lang="en-US" sz="4000" b="1" dirty="0">
                <a:solidFill>
                  <a:srgbClr val="FF4757"/>
                </a:solidFill>
                <a:latin typeface="Palatino Linotype" pitchFamily="34" charset="0"/>
                <a:ea typeface="Palatino Linotype" pitchFamily="34" charset="-122"/>
                <a:cs typeface="Palatino Linotype" pitchFamily="34" charset="-120"/>
              </a:rPr>
              <a:t>ȘI RECUPERAREA</a:t>
            </a:r>
            <a:endParaRPr lang="en-US" sz="4000" dirty="0"/>
          </a:p>
        </p:txBody>
      </p:sp>
      <p:sp>
        <p:nvSpPr>
          <p:cNvPr id="4" name="Text 2"/>
          <p:cNvSpPr/>
          <p:nvPr/>
        </p:nvSpPr>
        <p:spPr>
          <a:xfrm>
            <a:off x="914400" y="2651760"/>
            <a:ext cx="7315200" cy="548640"/>
          </a:xfrm>
          <a:prstGeom prst="rect">
            <a:avLst/>
          </a:prstGeom>
          <a:noFill/>
          <a:ln/>
        </p:spPr>
        <p:txBody>
          <a:bodyPr wrap="square" lIns="0" tIns="0" rIns="0" bIns="0" rtlCol="0" anchor="ctr"/>
          <a:lstStyle/>
          <a:p>
            <a:pPr marL="0" indent="0">
              <a:buNone/>
            </a:pPr>
            <a:r>
              <a:rPr lang="en-US" sz="1600" i="1" dirty="0">
                <a:solidFill>
                  <a:srgbClr val="27D3BE"/>
                </a:solidFill>
                <a:latin typeface="Palatino Linotype" pitchFamily="34" charset="0"/>
                <a:ea typeface="Palatino Linotype" pitchFamily="34" charset="-122"/>
                <a:cs typeface="Palatino Linotype" pitchFamily="34" charset="-120"/>
              </a:rPr>
              <a:t>De la supraviețuire la funcționare</a:t>
            </a:r>
            <a:endParaRPr lang="en-US" sz="1800" dirty="0"/>
          </a:p>
        </p:txBody>
      </p:sp>
      <p:sp>
        <p:nvSpPr>
          <p:cNvPr id="9004" name="Linie editoriala"/>
          <p:cNvSpPr/>
          <p:nvPr/>
        </p:nvSpPr>
        <p:spPr>
          <a:xfrm>
            <a:off x="914400" y="3320415"/>
            <a:ext cx="822960" cy="30861"/>
          </a:xfrm>
          <a:prstGeom prst="rect">
            <a:avLst/>
          </a:prstGeom>
          <a:solidFill>
            <a:srgbClr val="27D3BE"/>
          </a:solidFill>
          <a:ln>
            <a:noFill/>
          </a:ln>
        </p:spPr>
      </p:sp>
      <p:sp>
        <p:nvSpPr>
          <p:cNvPr id="6" name="Shape 3"/>
          <p:cNvSpPr/>
          <p:nvPr/>
        </p:nvSpPr>
        <p:spPr>
          <a:xfrm>
            <a:off x="914400" y="3474720"/>
            <a:ext cx="7315200" cy="914400"/>
          </a:xfrm>
          <a:prstGeom prst="rect">
            <a:avLst/>
          </a:prstGeom>
          <a:noFill/>
          <a:ln/>
        </p:spPr>
        <p:txBody>
          <a:bodyPr/>
          <a:lstStyle/>
          <a:p>
            <a:endParaRPr lang="ro-RO"/>
          </a:p>
        </p:txBody>
      </p:sp>
      <p:sp>
        <p:nvSpPr>
          <p:cNvPr id="7" name="Text 4"/>
          <p:cNvSpPr/>
          <p:nvPr/>
        </p:nvSpPr>
        <p:spPr>
          <a:xfrm>
            <a:off x="1097280" y="3474720"/>
            <a:ext cx="6949440" cy="914400"/>
          </a:xfrm>
          <a:prstGeom prst="rect">
            <a:avLst/>
          </a:prstGeom>
          <a:noFill/>
          <a:ln/>
        </p:spPr>
        <p:txBody>
          <a:bodyPr wrap="square" lIns="0" tIns="0" rIns="0" bIns="0" rtlCol="0" anchor="ctr"/>
          <a:lstStyle/>
          <a:p>
            <a:pPr marL="0" indent="0">
              <a:buNone/>
            </a:pPr>
            <a:r>
              <a:rPr lang="en-US" sz="1150" b="1" dirty="0">
                <a:solidFill>
                  <a:srgbClr val="FFFFFF"/>
                </a:solidFill>
                <a:latin typeface="Palatino Linotype" pitchFamily="34" charset="0"/>
                <a:ea typeface="Palatino Linotype" pitchFamily="34" charset="-122"/>
                <a:cs typeface="Palatino Linotype" pitchFamily="34" charset="-120"/>
              </a:rPr>
              <a:t>Cursul 1 — Sănătate publică și management</a:t>
            </a:r>
            <a:endParaRPr lang="en-US" sz="1300" dirty="0"/>
          </a:p>
          <a:p>
            <a:pPr marL="0" indent="0">
              <a:buNone/>
            </a:pPr>
            <a:r>
              <a:rPr lang="en-US" sz="1000" dirty="0">
                <a:solidFill>
                  <a:srgbClr val="FFFFFF"/>
                </a:solidFill>
                <a:latin typeface="Palatino Linotype" pitchFamily="34" charset="0"/>
                <a:ea typeface="Palatino Linotype" pitchFamily="34" charset="-122"/>
                <a:cs typeface="Palatino Linotype" pitchFamily="34" charset="-120"/>
              </a:rPr>
              <a:t>Balneofiziokinetoterapie și recuperare · Anul III · Semestrul 5</a:t>
            </a:r>
            <a:endParaRPr lang="en-US" sz="1300" dirty="0"/>
          </a:p>
          <a:p>
            <a:pPr marL="0" indent="0">
              <a:buNone/>
            </a:pPr>
            <a:r>
              <a:rPr lang="en-US" sz="1000" dirty="0">
                <a:solidFill>
                  <a:srgbClr val="FFFFFF"/>
                </a:solidFill>
                <a:latin typeface="Palatino Linotype" pitchFamily="34" charset="0"/>
                <a:ea typeface="Palatino Linotype" pitchFamily="34" charset="-122"/>
                <a:cs typeface="Palatino Linotype" pitchFamily="34" charset="-120"/>
              </a:rPr>
              <a:t>UMF „Iuliu Hațieganu” Cluj-Napoca · 2026–2027</a:t>
            </a:r>
            <a:endParaRPr lang="en-US" sz="13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Ce veți ști la finalul acestui curs?</a:t>
            </a:r>
            <a:endParaRPr lang="en-US" sz="2400" dirty="0"/>
          </a:p>
        </p:txBody>
      </p:sp>
      <p:pic>
        <p:nvPicPr>
          <p:cNvPr id="3" name="Image 0" descr="preencoded.png"/>
          <p:cNvPicPr>
            <a:picLocks noChangeAspect="1"/>
          </p:cNvPicPr>
          <p:nvPr/>
        </p:nvPicPr>
        <p:blipFill>
          <a:blip r:embed="rId2"/>
          <a:stretch>
            <a:fillRect/>
          </a:stretch>
        </p:blipFill>
        <p:spPr>
          <a:xfrm>
            <a:off x="457200" y="1005840"/>
            <a:ext cx="320040" cy="320040"/>
          </a:xfrm>
          <a:prstGeom prst="rect">
            <a:avLst/>
          </a:prstGeom>
        </p:spPr>
      </p:pic>
      <p:sp>
        <p:nvSpPr>
          <p:cNvPr id="4" name="Text 1"/>
          <p:cNvSpPr/>
          <p:nvPr/>
        </p:nvSpPr>
        <p:spPr>
          <a:xfrm>
            <a:off x="914400" y="1005840"/>
            <a:ext cx="3657600" cy="320040"/>
          </a:xfrm>
          <a:prstGeom prst="rect">
            <a:avLst/>
          </a:prstGeom>
          <a:noFill/>
          <a:ln/>
        </p:spPr>
        <p:txBody>
          <a:bodyPr wrap="square" lIns="0" tIns="0" rIns="0" bIns="0" rtlCol="0" anchor="ctr"/>
          <a:lstStyle/>
          <a:p>
            <a:pPr marL="0" indent="0">
              <a:buNone/>
            </a:pPr>
            <a:r>
              <a:rPr lang="en-US" sz="1150" b="1" dirty="0">
                <a:solidFill>
                  <a:srgbClr val="11121A"/>
                </a:solidFill>
                <a:latin typeface="Palatino Linotype" pitchFamily="34" charset="0"/>
                <a:ea typeface="Palatino Linotype" pitchFamily="34" charset="-122"/>
                <a:cs typeface="Palatino Linotype" pitchFamily="34" charset="-120"/>
              </a:rPr>
              <a:t>Obiectivele cursului</a:t>
            </a:r>
            <a:endParaRPr lang="en-US" sz="1300" dirty="0"/>
          </a:p>
        </p:txBody>
      </p:sp>
      <p:sp>
        <p:nvSpPr>
          <p:cNvPr id="5" name="Shape 2"/>
          <p:cNvSpPr/>
          <p:nvPr/>
        </p:nvSpPr>
        <p:spPr>
          <a:xfrm>
            <a:off x="457200" y="1463040"/>
            <a:ext cx="4114800" cy="384048"/>
          </a:xfrm>
          <a:prstGeom prst="rect">
            <a:avLst/>
          </a:prstGeom>
          <a:solidFill>
            <a:srgbClr val="ECEAE4"/>
          </a:solidFill>
          <a:ln/>
          <a:effectLst/>
        </p:spPr>
        <p:txBody>
          <a:bodyPr/>
          <a:lstStyle/>
          <a:p>
            <a:endParaRPr lang="ro-RO"/>
          </a:p>
        </p:txBody>
      </p:sp>
      <p:sp>
        <p:nvSpPr>
          <p:cNvPr id="6" name="Shape 3"/>
          <p:cNvSpPr/>
          <p:nvPr/>
        </p:nvSpPr>
        <p:spPr>
          <a:xfrm>
            <a:off x="457200" y="1463040"/>
            <a:ext cx="54864" cy="384048"/>
          </a:xfrm>
          <a:prstGeom prst="rect">
            <a:avLst/>
          </a:prstGeom>
          <a:solidFill>
            <a:srgbClr val="0E7C6B"/>
          </a:solidFill>
          <a:ln/>
        </p:spPr>
        <p:txBody>
          <a:bodyPr/>
          <a:lstStyle/>
          <a:p>
            <a:endParaRPr lang="ro-RO"/>
          </a:p>
        </p:txBody>
      </p:sp>
      <p:sp>
        <p:nvSpPr>
          <p:cNvPr id="7" name="Text 4"/>
          <p:cNvSpPr/>
          <p:nvPr/>
        </p:nvSpPr>
        <p:spPr>
          <a:xfrm>
            <a:off x="640080" y="1463040"/>
            <a:ext cx="3749040" cy="384048"/>
          </a:xfrm>
          <a:prstGeom prst="rect">
            <a:avLst/>
          </a:prstGeom>
          <a:noFill/>
          <a:ln/>
        </p:spPr>
        <p:txBody>
          <a:bodyPr wrap="square" lIns="0" tIns="0" rIns="0" bIns="0" rtlCol="0" anchor="ctr"/>
          <a:lstStyle/>
          <a:p>
            <a:pPr marL="0" indent="0">
              <a:buNone/>
            </a:pPr>
            <a:r>
              <a:rPr lang="en-US" sz="900" dirty="0">
                <a:solidFill>
                  <a:srgbClr val="11121A"/>
                </a:solidFill>
                <a:latin typeface="Palatino Linotype" pitchFamily="34" charset="0"/>
                <a:ea typeface="Palatino Linotype" pitchFamily="34" charset="-122"/>
                <a:cs typeface="Palatino Linotype" pitchFamily="34" charset="-120"/>
              </a:rPr>
              <a:t>Explică definiția și funcțiile sănătății publice</a:t>
            </a:r>
            <a:endParaRPr lang="en-US" sz="1000" dirty="0"/>
          </a:p>
        </p:txBody>
      </p:sp>
      <p:sp>
        <p:nvSpPr>
          <p:cNvPr id="8" name="Shape 5"/>
          <p:cNvSpPr/>
          <p:nvPr/>
        </p:nvSpPr>
        <p:spPr>
          <a:xfrm>
            <a:off x="457200" y="1920240"/>
            <a:ext cx="4114800" cy="384048"/>
          </a:xfrm>
          <a:prstGeom prst="rect">
            <a:avLst/>
          </a:prstGeom>
          <a:solidFill>
            <a:srgbClr val="ECEAE4"/>
          </a:solidFill>
          <a:ln/>
          <a:effectLst/>
        </p:spPr>
        <p:txBody>
          <a:bodyPr/>
          <a:lstStyle/>
          <a:p>
            <a:endParaRPr lang="ro-RO"/>
          </a:p>
        </p:txBody>
      </p:sp>
      <p:sp>
        <p:nvSpPr>
          <p:cNvPr id="9" name="Shape 6"/>
          <p:cNvSpPr/>
          <p:nvPr/>
        </p:nvSpPr>
        <p:spPr>
          <a:xfrm>
            <a:off x="457200" y="1920240"/>
            <a:ext cx="54864" cy="384048"/>
          </a:xfrm>
          <a:prstGeom prst="rect">
            <a:avLst/>
          </a:prstGeom>
          <a:solidFill>
            <a:srgbClr val="0E7C6B"/>
          </a:solidFill>
          <a:ln/>
        </p:spPr>
        <p:txBody>
          <a:bodyPr/>
          <a:lstStyle/>
          <a:p>
            <a:endParaRPr lang="ro-RO"/>
          </a:p>
        </p:txBody>
      </p:sp>
      <p:sp>
        <p:nvSpPr>
          <p:cNvPr id="10" name="Text 7"/>
          <p:cNvSpPr/>
          <p:nvPr/>
        </p:nvSpPr>
        <p:spPr>
          <a:xfrm>
            <a:off x="640080" y="1920240"/>
            <a:ext cx="3749040" cy="384048"/>
          </a:xfrm>
          <a:prstGeom prst="rect">
            <a:avLst/>
          </a:prstGeom>
          <a:noFill/>
          <a:ln/>
        </p:spPr>
        <p:txBody>
          <a:bodyPr wrap="square" lIns="0" tIns="0" rIns="0" bIns="0" rtlCol="0" anchor="ctr"/>
          <a:lstStyle/>
          <a:p>
            <a:pPr marL="0" indent="0">
              <a:buNone/>
            </a:pPr>
            <a:r>
              <a:rPr lang="en-US" sz="900" dirty="0">
                <a:solidFill>
                  <a:srgbClr val="11121A"/>
                </a:solidFill>
                <a:latin typeface="Palatino Linotype" pitchFamily="34" charset="0"/>
                <a:ea typeface="Palatino Linotype" pitchFamily="34" charset="-122"/>
                <a:cs typeface="Palatino Linotype" pitchFamily="34" charset="-120"/>
              </a:rPr>
              <a:t>Descrie nivelurile de prevenție și modelul CIF</a:t>
            </a:r>
            <a:endParaRPr lang="en-US" sz="1000" dirty="0"/>
          </a:p>
        </p:txBody>
      </p:sp>
      <p:sp>
        <p:nvSpPr>
          <p:cNvPr id="11" name="Shape 8"/>
          <p:cNvSpPr/>
          <p:nvPr/>
        </p:nvSpPr>
        <p:spPr>
          <a:xfrm>
            <a:off x="457200" y="2377440"/>
            <a:ext cx="4114800" cy="384048"/>
          </a:xfrm>
          <a:prstGeom prst="rect">
            <a:avLst/>
          </a:prstGeom>
          <a:solidFill>
            <a:srgbClr val="ECEAE4"/>
          </a:solidFill>
          <a:ln/>
          <a:effectLst/>
        </p:spPr>
        <p:txBody>
          <a:bodyPr/>
          <a:lstStyle/>
          <a:p>
            <a:endParaRPr lang="ro-RO"/>
          </a:p>
        </p:txBody>
      </p:sp>
      <p:sp>
        <p:nvSpPr>
          <p:cNvPr id="12" name="Shape 9"/>
          <p:cNvSpPr/>
          <p:nvPr/>
        </p:nvSpPr>
        <p:spPr>
          <a:xfrm>
            <a:off x="457200" y="2377440"/>
            <a:ext cx="54864" cy="384048"/>
          </a:xfrm>
          <a:prstGeom prst="rect">
            <a:avLst/>
          </a:prstGeom>
          <a:solidFill>
            <a:srgbClr val="0E7C6B"/>
          </a:solidFill>
          <a:ln/>
        </p:spPr>
        <p:txBody>
          <a:bodyPr/>
          <a:lstStyle/>
          <a:p>
            <a:endParaRPr lang="ro-RO"/>
          </a:p>
        </p:txBody>
      </p:sp>
      <p:sp>
        <p:nvSpPr>
          <p:cNvPr id="13" name="Text 10"/>
          <p:cNvSpPr/>
          <p:nvPr/>
        </p:nvSpPr>
        <p:spPr>
          <a:xfrm>
            <a:off x="640080" y="2377440"/>
            <a:ext cx="3749040" cy="384048"/>
          </a:xfrm>
          <a:prstGeom prst="rect">
            <a:avLst/>
          </a:prstGeom>
          <a:noFill/>
          <a:ln/>
        </p:spPr>
        <p:txBody>
          <a:bodyPr wrap="square" lIns="0" tIns="0" rIns="0" bIns="0" rtlCol="0" anchor="ctr"/>
          <a:lstStyle/>
          <a:p>
            <a:pPr marL="0" indent="0">
              <a:buNone/>
            </a:pPr>
            <a:r>
              <a:rPr lang="en-US" sz="900" dirty="0">
                <a:solidFill>
                  <a:srgbClr val="11121A"/>
                </a:solidFill>
                <a:latin typeface="Palatino Linotype" pitchFamily="34" charset="0"/>
                <a:ea typeface="Palatino Linotype" pitchFamily="34" charset="-122"/>
                <a:cs typeface="Palatino Linotype" pitchFamily="34" charset="-120"/>
              </a:rPr>
              <a:t>Calculează și interpretează prevalența, incidența, YLD, DALY</a:t>
            </a:r>
            <a:endParaRPr lang="en-US" sz="1000" dirty="0"/>
          </a:p>
        </p:txBody>
      </p:sp>
      <p:sp>
        <p:nvSpPr>
          <p:cNvPr id="14" name="Shape 11"/>
          <p:cNvSpPr/>
          <p:nvPr/>
        </p:nvSpPr>
        <p:spPr>
          <a:xfrm>
            <a:off x="457200" y="2834640"/>
            <a:ext cx="4114800" cy="384048"/>
          </a:xfrm>
          <a:prstGeom prst="rect">
            <a:avLst/>
          </a:prstGeom>
          <a:solidFill>
            <a:srgbClr val="ECEAE4"/>
          </a:solidFill>
          <a:ln/>
          <a:effectLst/>
        </p:spPr>
        <p:txBody>
          <a:bodyPr/>
          <a:lstStyle/>
          <a:p>
            <a:endParaRPr lang="ro-RO"/>
          </a:p>
        </p:txBody>
      </p:sp>
      <p:sp>
        <p:nvSpPr>
          <p:cNvPr id="15" name="Shape 12"/>
          <p:cNvSpPr/>
          <p:nvPr/>
        </p:nvSpPr>
        <p:spPr>
          <a:xfrm>
            <a:off x="457200" y="2834640"/>
            <a:ext cx="54864" cy="384048"/>
          </a:xfrm>
          <a:prstGeom prst="rect">
            <a:avLst/>
          </a:prstGeom>
          <a:solidFill>
            <a:srgbClr val="0E7C6B"/>
          </a:solidFill>
          <a:ln/>
        </p:spPr>
        <p:txBody>
          <a:bodyPr/>
          <a:lstStyle/>
          <a:p>
            <a:endParaRPr lang="ro-RO"/>
          </a:p>
        </p:txBody>
      </p:sp>
      <p:sp>
        <p:nvSpPr>
          <p:cNvPr id="16" name="Text 13"/>
          <p:cNvSpPr/>
          <p:nvPr/>
        </p:nvSpPr>
        <p:spPr>
          <a:xfrm>
            <a:off x="640080" y="2834640"/>
            <a:ext cx="3749040" cy="384048"/>
          </a:xfrm>
          <a:prstGeom prst="rect">
            <a:avLst/>
          </a:prstGeom>
          <a:noFill/>
          <a:ln/>
        </p:spPr>
        <p:txBody>
          <a:bodyPr wrap="square" lIns="0" tIns="0" rIns="0" bIns="0" rtlCol="0" anchor="ctr"/>
          <a:lstStyle/>
          <a:p>
            <a:pPr marL="0" indent="0">
              <a:buNone/>
            </a:pPr>
            <a:r>
              <a:rPr lang="en-US" sz="900" dirty="0">
                <a:solidFill>
                  <a:srgbClr val="11121A"/>
                </a:solidFill>
                <a:latin typeface="Palatino Linotype" pitchFamily="34" charset="0"/>
                <a:ea typeface="Palatino Linotype" pitchFamily="34" charset="-122"/>
                <a:cs typeface="Palatino Linotype" pitchFamily="34" charset="-120"/>
              </a:rPr>
              <a:t>Interpretează nevoia de recuperare și citează exact o sursă</a:t>
            </a:r>
            <a:endParaRPr lang="en-US" sz="1000" dirty="0"/>
          </a:p>
        </p:txBody>
      </p:sp>
      <p:pic>
        <p:nvPicPr>
          <p:cNvPr id="17" name="Image 1" descr="preencoded.png"/>
          <p:cNvPicPr>
            <a:picLocks noChangeAspect="1"/>
          </p:cNvPicPr>
          <p:nvPr/>
        </p:nvPicPr>
        <p:blipFill>
          <a:blip r:embed="rId3"/>
          <a:stretch>
            <a:fillRect/>
          </a:stretch>
        </p:blipFill>
        <p:spPr>
          <a:xfrm>
            <a:off x="5029200" y="1005840"/>
            <a:ext cx="320040" cy="320040"/>
          </a:xfrm>
          <a:prstGeom prst="rect">
            <a:avLst/>
          </a:prstGeom>
        </p:spPr>
      </p:pic>
      <p:sp>
        <p:nvSpPr>
          <p:cNvPr id="18" name="Text 14"/>
          <p:cNvSpPr/>
          <p:nvPr/>
        </p:nvSpPr>
        <p:spPr>
          <a:xfrm>
            <a:off x="5394960" y="1005840"/>
            <a:ext cx="3200400" cy="320040"/>
          </a:xfrm>
          <a:prstGeom prst="rect">
            <a:avLst/>
          </a:prstGeom>
          <a:noFill/>
          <a:ln/>
        </p:spPr>
        <p:txBody>
          <a:bodyPr wrap="square" lIns="0" tIns="0" rIns="0" bIns="0" rtlCol="0" anchor="ctr"/>
          <a:lstStyle/>
          <a:p>
            <a:pPr marL="0" indent="0">
              <a:buNone/>
            </a:pPr>
            <a:r>
              <a:rPr lang="en-US" sz="1150" b="1" dirty="0">
                <a:solidFill>
                  <a:srgbClr val="11121A"/>
                </a:solidFill>
                <a:latin typeface="Palatino Linotype" pitchFamily="34" charset="0"/>
                <a:ea typeface="Palatino Linotype" pitchFamily="34" charset="-122"/>
                <a:cs typeface="Palatino Linotype" pitchFamily="34" charset="-120"/>
              </a:rPr>
              <a:t>Agenda cursului</a:t>
            </a:r>
            <a:endParaRPr lang="en-US" sz="1300" dirty="0"/>
          </a:p>
        </p:txBody>
      </p:sp>
      <p:sp>
        <p:nvSpPr>
          <p:cNvPr id="19" name="Shape 15"/>
          <p:cNvSpPr/>
          <p:nvPr/>
        </p:nvSpPr>
        <p:spPr>
          <a:xfrm>
            <a:off x="5029200" y="1463040"/>
            <a:ext cx="320040" cy="384048"/>
          </a:xfrm>
          <a:prstGeom prst="rect">
            <a:avLst/>
          </a:prstGeom>
          <a:solidFill>
            <a:srgbClr val="FF4757"/>
          </a:solidFill>
          <a:ln/>
        </p:spPr>
        <p:txBody>
          <a:bodyPr/>
          <a:lstStyle/>
          <a:p>
            <a:endParaRPr lang="ro-RO"/>
          </a:p>
        </p:txBody>
      </p:sp>
      <p:sp>
        <p:nvSpPr>
          <p:cNvPr id="20" name="Text 16"/>
          <p:cNvSpPr/>
          <p:nvPr/>
        </p:nvSpPr>
        <p:spPr>
          <a:xfrm>
            <a:off x="5029200" y="1463040"/>
            <a:ext cx="3200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Palatino Linotype" pitchFamily="34" charset="0"/>
                <a:ea typeface="Palatino Linotype" pitchFamily="34" charset="-122"/>
                <a:cs typeface="Palatino Linotype" pitchFamily="34" charset="-120"/>
              </a:rPr>
              <a:t>A</a:t>
            </a:r>
            <a:endParaRPr lang="en-US" sz="1200" dirty="0"/>
          </a:p>
        </p:txBody>
      </p:sp>
      <p:sp>
        <p:nvSpPr>
          <p:cNvPr id="21" name="Text 17"/>
          <p:cNvSpPr/>
          <p:nvPr/>
        </p:nvSpPr>
        <p:spPr>
          <a:xfrm>
            <a:off x="5440680" y="1463040"/>
            <a:ext cx="2286000" cy="228600"/>
          </a:xfrm>
          <a:prstGeom prst="rect">
            <a:avLst/>
          </a:prstGeom>
          <a:noFill/>
          <a:ln/>
        </p:spPr>
        <p:txBody>
          <a:bodyPr wrap="square" lIns="0" tIns="0" rIns="0" bIns="0" rtlCol="0" anchor="ctr"/>
          <a:lstStyle/>
          <a:p>
            <a:pPr marL="0" indent="0">
              <a:buNone/>
            </a:pPr>
            <a:r>
              <a:rPr lang="en-US" sz="900" b="1" dirty="0">
                <a:solidFill>
                  <a:srgbClr val="11121A"/>
                </a:solidFill>
                <a:latin typeface="Palatino Linotype" pitchFamily="34" charset="0"/>
                <a:ea typeface="Palatino Linotype" pitchFamily="34" charset="-122"/>
                <a:cs typeface="Palatino Linotype" pitchFamily="34" charset="-120"/>
              </a:rPr>
              <a:t>Deschidere: afecțiunea-ancoră</a:t>
            </a:r>
            <a:endParaRPr lang="en-US" sz="1000" dirty="0"/>
          </a:p>
        </p:txBody>
      </p:sp>
      <p:sp>
        <p:nvSpPr>
          <p:cNvPr id="22" name="Text 18"/>
          <p:cNvSpPr/>
          <p:nvPr/>
        </p:nvSpPr>
        <p:spPr>
          <a:xfrm>
            <a:off x="5440680" y="1664208"/>
            <a:ext cx="2286000" cy="182880"/>
          </a:xfrm>
          <a:prstGeom prst="rect">
            <a:avLst/>
          </a:prstGeom>
          <a:noFill/>
          <a:ln/>
        </p:spPr>
        <p:txBody>
          <a:bodyPr wrap="square" lIns="0" tIns="0" rIns="0" bIns="0" rtlCol="0" anchor="ctr"/>
          <a:lstStyle/>
          <a:p>
            <a:pPr marL="0" indent="0">
              <a:buNone/>
            </a:pPr>
            <a:r>
              <a:rPr lang="en-US" sz="700" dirty="0">
                <a:solidFill>
                  <a:srgbClr val="585A64"/>
                </a:solidFill>
                <a:latin typeface="Palatino Linotype" pitchFamily="34" charset="0"/>
                <a:ea typeface="Palatino Linotype" pitchFamily="34" charset="-122"/>
                <a:cs typeface="Palatino Linotype" pitchFamily="34" charset="-120"/>
              </a:rPr>
              <a:t>~10 min</a:t>
            </a:r>
            <a:endParaRPr lang="en-US" sz="800" dirty="0"/>
          </a:p>
        </p:txBody>
      </p:sp>
      <p:sp>
        <p:nvSpPr>
          <p:cNvPr id="23" name="Shape 19"/>
          <p:cNvSpPr/>
          <p:nvPr/>
        </p:nvSpPr>
        <p:spPr>
          <a:xfrm>
            <a:off x="5029200" y="1920240"/>
            <a:ext cx="320040" cy="384048"/>
          </a:xfrm>
          <a:prstGeom prst="rect">
            <a:avLst/>
          </a:prstGeom>
          <a:solidFill>
            <a:srgbClr val="0E7C6B"/>
          </a:solidFill>
          <a:ln/>
        </p:spPr>
        <p:txBody>
          <a:bodyPr/>
          <a:lstStyle/>
          <a:p>
            <a:endParaRPr lang="ro-RO"/>
          </a:p>
        </p:txBody>
      </p:sp>
      <p:sp>
        <p:nvSpPr>
          <p:cNvPr id="24" name="Text 20"/>
          <p:cNvSpPr/>
          <p:nvPr/>
        </p:nvSpPr>
        <p:spPr>
          <a:xfrm>
            <a:off x="5029200" y="1920240"/>
            <a:ext cx="3200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Palatino Linotype" pitchFamily="34" charset="0"/>
                <a:ea typeface="Palatino Linotype" pitchFamily="34" charset="-122"/>
                <a:cs typeface="Palatino Linotype" pitchFamily="34" charset="-120"/>
              </a:rPr>
              <a:t>B</a:t>
            </a:r>
            <a:endParaRPr lang="en-US" sz="1200" dirty="0"/>
          </a:p>
        </p:txBody>
      </p:sp>
      <p:sp>
        <p:nvSpPr>
          <p:cNvPr id="25" name="Text 21"/>
          <p:cNvSpPr/>
          <p:nvPr/>
        </p:nvSpPr>
        <p:spPr>
          <a:xfrm>
            <a:off x="5440680" y="1920240"/>
            <a:ext cx="2286000" cy="228600"/>
          </a:xfrm>
          <a:prstGeom prst="rect">
            <a:avLst/>
          </a:prstGeom>
          <a:noFill/>
          <a:ln/>
        </p:spPr>
        <p:txBody>
          <a:bodyPr wrap="square" lIns="0" tIns="0" rIns="0" bIns="0" rtlCol="0" anchor="ctr"/>
          <a:lstStyle/>
          <a:p>
            <a:pPr marL="0" indent="0">
              <a:buNone/>
            </a:pPr>
            <a:r>
              <a:rPr lang="en-US" sz="900" b="1" dirty="0">
                <a:solidFill>
                  <a:srgbClr val="11121A"/>
                </a:solidFill>
                <a:latin typeface="Palatino Linotype" pitchFamily="34" charset="0"/>
                <a:ea typeface="Palatino Linotype" pitchFamily="34" charset="-122"/>
                <a:cs typeface="Palatino Linotype" pitchFamily="34" charset="-120"/>
              </a:rPr>
              <a:t>Funcționare, sănătate publică, prevenție</a:t>
            </a:r>
            <a:endParaRPr lang="en-US" sz="1000" dirty="0"/>
          </a:p>
        </p:txBody>
      </p:sp>
      <p:sp>
        <p:nvSpPr>
          <p:cNvPr id="26" name="Text 22"/>
          <p:cNvSpPr/>
          <p:nvPr/>
        </p:nvSpPr>
        <p:spPr>
          <a:xfrm>
            <a:off x="5440680" y="2121408"/>
            <a:ext cx="2286000" cy="182880"/>
          </a:xfrm>
          <a:prstGeom prst="rect">
            <a:avLst/>
          </a:prstGeom>
          <a:noFill/>
          <a:ln/>
        </p:spPr>
        <p:txBody>
          <a:bodyPr wrap="square" lIns="0" tIns="0" rIns="0" bIns="0" rtlCol="0" anchor="ctr"/>
          <a:lstStyle/>
          <a:p>
            <a:pPr marL="0" indent="0">
              <a:buNone/>
            </a:pPr>
            <a:r>
              <a:rPr lang="en-US" sz="700" dirty="0">
                <a:solidFill>
                  <a:srgbClr val="585A64"/>
                </a:solidFill>
                <a:latin typeface="Palatino Linotype" pitchFamily="34" charset="0"/>
                <a:ea typeface="Palatino Linotype" pitchFamily="34" charset="-122"/>
                <a:cs typeface="Palatino Linotype" pitchFamily="34" charset="-120"/>
              </a:rPr>
              <a:t>~20 min</a:t>
            </a:r>
            <a:endParaRPr lang="en-US" sz="800" dirty="0"/>
          </a:p>
        </p:txBody>
      </p:sp>
      <p:sp>
        <p:nvSpPr>
          <p:cNvPr id="27" name="Shape 23"/>
          <p:cNvSpPr/>
          <p:nvPr/>
        </p:nvSpPr>
        <p:spPr>
          <a:xfrm>
            <a:off x="5029200" y="2377440"/>
            <a:ext cx="320040" cy="384048"/>
          </a:xfrm>
          <a:prstGeom prst="rect">
            <a:avLst/>
          </a:prstGeom>
          <a:solidFill>
            <a:srgbClr val="0E7C6B"/>
          </a:solidFill>
          <a:ln/>
        </p:spPr>
        <p:txBody>
          <a:bodyPr/>
          <a:lstStyle/>
          <a:p>
            <a:endParaRPr lang="ro-RO"/>
          </a:p>
        </p:txBody>
      </p:sp>
      <p:sp>
        <p:nvSpPr>
          <p:cNvPr id="28" name="Text 24"/>
          <p:cNvSpPr/>
          <p:nvPr/>
        </p:nvSpPr>
        <p:spPr>
          <a:xfrm>
            <a:off x="5029200" y="2377440"/>
            <a:ext cx="3200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Palatino Linotype" pitchFamily="34" charset="0"/>
                <a:ea typeface="Palatino Linotype" pitchFamily="34" charset="-122"/>
                <a:cs typeface="Palatino Linotype" pitchFamily="34" charset="-120"/>
              </a:rPr>
              <a:t>C</a:t>
            </a:r>
            <a:endParaRPr lang="en-US" sz="1200" dirty="0"/>
          </a:p>
        </p:txBody>
      </p:sp>
      <p:sp>
        <p:nvSpPr>
          <p:cNvPr id="29" name="Text 25"/>
          <p:cNvSpPr/>
          <p:nvPr/>
        </p:nvSpPr>
        <p:spPr>
          <a:xfrm>
            <a:off x="5440680" y="2377440"/>
            <a:ext cx="2286000" cy="228600"/>
          </a:xfrm>
          <a:prstGeom prst="rect">
            <a:avLst/>
          </a:prstGeom>
          <a:noFill/>
          <a:ln/>
        </p:spPr>
        <p:txBody>
          <a:bodyPr wrap="square" lIns="0" tIns="0" rIns="0" bIns="0" rtlCol="0" anchor="ctr"/>
          <a:lstStyle/>
          <a:p>
            <a:pPr marL="0" indent="0">
              <a:buNone/>
            </a:pPr>
            <a:r>
              <a:rPr lang="en-US" sz="900" b="1" dirty="0">
                <a:solidFill>
                  <a:srgbClr val="11121A"/>
                </a:solidFill>
                <a:latin typeface="Palatino Linotype" pitchFamily="34" charset="0"/>
                <a:ea typeface="Palatino Linotype" pitchFamily="34" charset="-122"/>
                <a:cs typeface="Palatino Linotype" pitchFamily="34" charset="-120"/>
              </a:rPr>
              <a:t>CIF și recuperarea ca strategie</a:t>
            </a:r>
            <a:endParaRPr lang="en-US" sz="1000" dirty="0"/>
          </a:p>
        </p:txBody>
      </p:sp>
      <p:sp>
        <p:nvSpPr>
          <p:cNvPr id="30" name="Text 26"/>
          <p:cNvSpPr/>
          <p:nvPr/>
        </p:nvSpPr>
        <p:spPr>
          <a:xfrm>
            <a:off x="5440680" y="2578608"/>
            <a:ext cx="2286000" cy="182880"/>
          </a:xfrm>
          <a:prstGeom prst="rect">
            <a:avLst/>
          </a:prstGeom>
          <a:noFill/>
          <a:ln/>
        </p:spPr>
        <p:txBody>
          <a:bodyPr wrap="square" lIns="0" tIns="0" rIns="0" bIns="0" rtlCol="0" anchor="ctr"/>
          <a:lstStyle/>
          <a:p>
            <a:pPr marL="0" indent="0">
              <a:buNone/>
            </a:pPr>
            <a:r>
              <a:rPr lang="en-US" sz="700" dirty="0">
                <a:solidFill>
                  <a:srgbClr val="585A64"/>
                </a:solidFill>
                <a:latin typeface="Palatino Linotype" pitchFamily="34" charset="0"/>
                <a:ea typeface="Palatino Linotype" pitchFamily="34" charset="-122"/>
                <a:cs typeface="Palatino Linotype" pitchFamily="34" charset="-120"/>
              </a:rPr>
              <a:t>~20 min</a:t>
            </a:r>
            <a:endParaRPr lang="en-US" sz="800" dirty="0"/>
          </a:p>
        </p:txBody>
      </p:sp>
      <p:sp>
        <p:nvSpPr>
          <p:cNvPr id="31" name="Shape 27"/>
          <p:cNvSpPr/>
          <p:nvPr/>
        </p:nvSpPr>
        <p:spPr>
          <a:xfrm>
            <a:off x="5029200" y="2834640"/>
            <a:ext cx="320040" cy="384048"/>
          </a:xfrm>
          <a:prstGeom prst="rect">
            <a:avLst/>
          </a:prstGeom>
          <a:solidFill>
            <a:srgbClr val="0E7C6B"/>
          </a:solidFill>
          <a:ln/>
        </p:spPr>
        <p:txBody>
          <a:bodyPr/>
          <a:lstStyle/>
          <a:p>
            <a:endParaRPr lang="ro-RO"/>
          </a:p>
        </p:txBody>
      </p:sp>
      <p:sp>
        <p:nvSpPr>
          <p:cNvPr id="32" name="Text 28"/>
          <p:cNvSpPr/>
          <p:nvPr/>
        </p:nvSpPr>
        <p:spPr>
          <a:xfrm>
            <a:off x="5029200" y="2834640"/>
            <a:ext cx="3200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Palatino Linotype" pitchFamily="34" charset="0"/>
                <a:ea typeface="Palatino Linotype" pitchFamily="34" charset="-122"/>
                <a:cs typeface="Palatino Linotype" pitchFamily="34" charset="-120"/>
              </a:rPr>
              <a:t>D</a:t>
            </a:r>
            <a:endParaRPr lang="en-US" sz="1200" dirty="0"/>
          </a:p>
        </p:txBody>
      </p:sp>
      <p:sp>
        <p:nvSpPr>
          <p:cNvPr id="33" name="Text 29"/>
          <p:cNvSpPr/>
          <p:nvPr/>
        </p:nvSpPr>
        <p:spPr>
          <a:xfrm>
            <a:off x="5440680" y="2834640"/>
            <a:ext cx="2286000" cy="228600"/>
          </a:xfrm>
          <a:prstGeom prst="rect">
            <a:avLst/>
          </a:prstGeom>
          <a:noFill/>
          <a:ln/>
        </p:spPr>
        <p:txBody>
          <a:bodyPr wrap="square" lIns="0" tIns="0" rIns="0" bIns="0" rtlCol="0" anchor="ctr"/>
          <a:lstStyle/>
          <a:p>
            <a:pPr marL="0" indent="0">
              <a:buNone/>
            </a:pPr>
            <a:r>
              <a:rPr lang="en-US" sz="900" b="1" dirty="0">
                <a:solidFill>
                  <a:srgbClr val="11121A"/>
                </a:solidFill>
                <a:latin typeface="Palatino Linotype" pitchFamily="34" charset="0"/>
                <a:ea typeface="Palatino Linotype" pitchFamily="34" charset="-122"/>
                <a:cs typeface="Palatino Linotype" pitchFamily="34" charset="-120"/>
              </a:rPr>
              <a:t>Indicatori și nevoia de recuperare</a:t>
            </a:r>
            <a:endParaRPr lang="en-US" sz="1000" dirty="0"/>
          </a:p>
        </p:txBody>
      </p:sp>
      <p:sp>
        <p:nvSpPr>
          <p:cNvPr id="34" name="Text 30"/>
          <p:cNvSpPr/>
          <p:nvPr/>
        </p:nvSpPr>
        <p:spPr>
          <a:xfrm>
            <a:off x="5440680" y="3035808"/>
            <a:ext cx="2286000" cy="182880"/>
          </a:xfrm>
          <a:prstGeom prst="rect">
            <a:avLst/>
          </a:prstGeom>
          <a:noFill/>
          <a:ln/>
        </p:spPr>
        <p:txBody>
          <a:bodyPr wrap="square" lIns="0" tIns="0" rIns="0" bIns="0" rtlCol="0" anchor="ctr"/>
          <a:lstStyle/>
          <a:p>
            <a:pPr marL="0" indent="0">
              <a:buNone/>
            </a:pPr>
            <a:r>
              <a:rPr lang="en-US" sz="700" dirty="0">
                <a:solidFill>
                  <a:srgbClr val="585A64"/>
                </a:solidFill>
                <a:latin typeface="Palatino Linotype" pitchFamily="34" charset="0"/>
                <a:ea typeface="Palatino Linotype" pitchFamily="34" charset="-122"/>
                <a:cs typeface="Palatino Linotype" pitchFamily="34" charset="-120"/>
              </a:rPr>
              <a:t>~25 min</a:t>
            </a:r>
            <a:endParaRPr lang="en-US" sz="800" dirty="0"/>
          </a:p>
        </p:txBody>
      </p:sp>
      <p:sp>
        <p:nvSpPr>
          <p:cNvPr id="35" name="Shape 31"/>
          <p:cNvSpPr/>
          <p:nvPr/>
        </p:nvSpPr>
        <p:spPr>
          <a:xfrm>
            <a:off x="5029200" y="3291840"/>
            <a:ext cx="320040" cy="384048"/>
          </a:xfrm>
          <a:prstGeom prst="rect">
            <a:avLst/>
          </a:prstGeom>
          <a:solidFill>
            <a:srgbClr val="FF4757"/>
          </a:solidFill>
          <a:ln/>
        </p:spPr>
        <p:txBody>
          <a:bodyPr/>
          <a:lstStyle/>
          <a:p>
            <a:endParaRPr lang="ro-RO"/>
          </a:p>
        </p:txBody>
      </p:sp>
      <p:sp>
        <p:nvSpPr>
          <p:cNvPr id="36" name="Text 32"/>
          <p:cNvSpPr/>
          <p:nvPr/>
        </p:nvSpPr>
        <p:spPr>
          <a:xfrm>
            <a:off x="5029200" y="3291840"/>
            <a:ext cx="3200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Palatino Linotype" pitchFamily="34" charset="0"/>
                <a:ea typeface="Palatino Linotype" pitchFamily="34" charset="-122"/>
                <a:cs typeface="Palatino Linotype" pitchFamily="34" charset="-120"/>
              </a:rPr>
              <a:t>E</a:t>
            </a:r>
            <a:endParaRPr lang="en-US" sz="1200" dirty="0"/>
          </a:p>
        </p:txBody>
      </p:sp>
      <p:sp>
        <p:nvSpPr>
          <p:cNvPr id="37" name="Text 33"/>
          <p:cNvSpPr/>
          <p:nvPr/>
        </p:nvSpPr>
        <p:spPr>
          <a:xfrm>
            <a:off x="5440680" y="3291840"/>
            <a:ext cx="2286000" cy="228600"/>
          </a:xfrm>
          <a:prstGeom prst="rect">
            <a:avLst/>
          </a:prstGeom>
          <a:noFill/>
          <a:ln/>
        </p:spPr>
        <p:txBody>
          <a:bodyPr wrap="square" lIns="0" tIns="0" rIns="0" bIns="0" rtlCol="0" anchor="ctr"/>
          <a:lstStyle/>
          <a:p>
            <a:pPr marL="0" indent="0">
              <a:buNone/>
            </a:pPr>
            <a:r>
              <a:rPr lang="en-US" sz="900" b="1" dirty="0">
                <a:solidFill>
                  <a:srgbClr val="11121A"/>
                </a:solidFill>
                <a:latin typeface="Palatino Linotype" pitchFamily="34" charset="0"/>
                <a:ea typeface="Palatino Linotype" pitchFamily="34" charset="-122"/>
                <a:cs typeface="Palatino Linotype" pitchFamily="34" charset="-120"/>
              </a:rPr>
              <a:t>Surse, demonstrație, verificare</a:t>
            </a:r>
            <a:endParaRPr lang="en-US" sz="1000" dirty="0"/>
          </a:p>
        </p:txBody>
      </p:sp>
      <p:sp>
        <p:nvSpPr>
          <p:cNvPr id="38" name="Text 34"/>
          <p:cNvSpPr/>
          <p:nvPr/>
        </p:nvSpPr>
        <p:spPr>
          <a:xfrm>
            <a:off x="5440680" y="3493008"/>
            <a:ext cx="2286000" cy="182880"/>
          </a:xfrm>
          <a:prstGeom prst="rect">
            <a:avLst/>
          </a:prstGeom>
          <a:noFill/>
          <a:ln/>
        </p:spPr>
        <p:txBody>
          <a:bodyPr wrap="square" lIns="0" tIns="0" rIns="0" bIns="0" rtlCol="0" anchor="ctr"/>
          <a:lstStyle/>
          <a:p>
            <a:pPr marL="0" indent="0">
              <a:buNone/>
            </a:pPr>
            <a:r>
              <a:rPr lang="en-US" sz="700" dirty="0">
                <a:solidFill>
                  <a:srgbClr val="585A64"/>
                </a:solidFill>
                <a:latin typeface="Palatino Linotype" pitchFamily="34" charset="0"/>
                <a:ea typeface="Palatino Linotype" pitchFamily="34" charset="-122"/>
                <a:cs typeface="Palatino Linotype" pitchFamily="34" charset="-120"/>
              </a:rPr>
              <a:t>~25 min</a:t>
            </a:r>
            <a:endParaRPr lang="en-US" sz="800" dirty="0"/>
          </a:p>
        </p:txBody>
      </p:sp>
      <p:sp>
        <p:nvSpPr>
          <p:cNvPr id="39" name="Shape 35"/>
          <p:cNvSpPr/>
          <p:nvPr/>
        </p:nvSpPr>
        <p:spPr>
          <a:xfrm>
            <a:off x="457200" y="3931920"/>
            <a:ext cx="8229600" cy="502920"/>
          </a:xfrm>
          <a:prstGeom prst="rect">
            <a:avLst/>
          </a:prstGeom>
          <a:solidFill>
            <a:srgbClr val="ECEAE4"/>
          </a:solidFill>
          <a:ln/>
        </p:spPr>
        <p:txBody>
          <a:bodyPr/>
          <a:lstStyle/>
          <a:p>
            <a:endParaRPr lang="ro-RO"/>
          </a:p>
        </p:txBody>
      </p:sp>
      <p:sp>
        <p:nvSpPr>
          <p:cNvPr id="40" name="Text 36"/>
          <p:cNvSpPr/>
          <p:nvPr/>
        </p:nvSpPr>
        <p:spPr>
          <a:xfrm>
            <a:off x="640080" y="3931920"/>
            <a:ext cx="7863840" cy="502920"/>
          </a:xfrm>
          <a:prstGeom prst="rect">
            <a:avLst/>
          </a:prstGeom>
          <a:noFill/>
          <a:ln/>
        </p:spPr>
        <p:txBody>
          <a:bodyPr wrap="square" lIns="0" tIns="0" rIns="0" bIns="0" rtlCol="0" anchor="ctr"/>
          <a:lstStyle/>
          <a:p>
            <a:pPr marL="0" indent="0">
              <a:buNone/>
            </a:pPr>
            <a:r>
              <a:rPr lang="en-US" sz="700" dirty="0">
                <a:solidFill>
                  <a:srgbClr val="0E7C6B"/>
                </a:solidFill>
                <a:latin typeface="Palatino Linotype" pitchFamily="34" charset="0"/>
                <a:ea typeface="Palatino Linotype" pitchFamily="34" charset="-122"/>
                <a:cs typeface="Palatino Linotype" pitchFamily="34" charset="-120"/>
              </a:rPr>
              <a:t>Obiectivele complete și ideile-cheie se află la începutul notelor de curs · Bibliografia obligatorie: fișa disciplinei, 8.1; suportul de curs este primul titlu</a:t>
            </a:r>
            <a:endParaRPr lang="en-US" sz="800" dirty="0"/>
          </a:p>
        </p:txBody>
      </p:sp>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 / 60</a:t>
            </a:r>
            <a:endParaRPr lang="en-US" sz="8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Idei-cheie ale cursului</a:t>
            </a:r>
          </a:p>
        </p:txBody>
      </p:sp>
      <p:sp>
        <p:nvSpPr>
          <p:cNvPr id="45" name="Rectangle 44"/>
          <p:cNvSpPr/>
          <p:nvPr/>
        </p:nvSpPr>
        <p:spPr>
          <a:xfrm>
            <a:off x="457200" y="960120"/>
            <a:ext cx="8229600" cy="56692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60120"/>
            <a:ext cx="54864" cy="56692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1033272"/>
            <a:ext cx="7955279" cy="438912"/>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Sănătatea publică: </a:t>
            </a:r>
            <a:r>
              <a:rPr sz="1100" b="0" i="0">
                <a:solidFill>
                  <a:srgbClr val="11121A"/>
                </a:solidFill>
                <a:latin typeface="Palatino Linotype"/>
              </a:rPr>
              <a:t>previne boala, prelungește viața și promovează sănătatea prin eforturile organizate ale societății; recuperarea îi aparține: nevoia, accesul și rezultatele se măsoară la nivelul populației</a:t>
            </a:r>
          </a:p>
        </p:txBody>
      </p:sp>
      <p:sp>
        <p:nvSpPr>
          <p:cNvPr id="48" name="Rectangle 47"/>
          <p:cNvSpPr/>
          <p:nvPr/>
        </p:nvSpPr>
        <p:spPr>
          <a:xfrm>
            <a:off x="457200" y="1618488"/>
            <a:ext cx="8229600" cy="56692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1618488"/>
            <a:ext cx="54864" cy="56692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1691640"/>
            <a:ext cx="7955279" cy="438912"/>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Prevenția terțiară: </a:t>
            </a:r>
            <a:r>
              <a:rPr sz="1100" b="0" i="0">
                <a:solidFill>
                  <a:srgbClr val="11121A"/>
                </a:solidFill>
                <a:latin typeface="Palatino Linotype"/>
              </a:rPr>
              <a:t>cuprinde managementul bolii și recuperarea; OMS dă ca exemplu educația pacientului și fizioterapia</a:t>
            </a:r>
          </a:p>
        </p:txBody>
      </p:sp>
      <p:sp>
        <p:nvSpPr>
          <p:cNvPr id="51" name="Rectangle 50"/>
          <p:cNvSpPr/>
          <p:nvPr/>
        </p:nvSpPr>
        <p:spPr>
          <a:xfrm>
            <a:off x="457200" y="2276856"/>
            <a:ext cx="8229600" cy="56692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2276856"/>
            <a:ext cx="54864" cy="56692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2350008"/>
            <a:ext cx="7955279" cy="438912"/>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Modelul CIF: </a:t>
            </a:r>
            <a:r>
              <a:rPr sz="1100" b="0" i="0">
                <a:solidFill>
                  <a:srgbClr val="11121A"/>
                </a:solidFill>
                <a:latin typeface="Palatino Linotype"/>
              </a:rPr>
              <a:t>descrie sănătatea prin funcționare: corp, activitate, participare, în interacțiune cu mediul și cu factorii personali</a:t>
            </a:r>
          </a:p>
        </p:txBody>
      </p:sp>
      <p:sp>
        <p:nvSpPr>
          <p:cNvPr id="54" name="Rectangle 53"/>
          <p:cNvSpPr/>
          <p:nvPr/>
        </p:nvSpPr>
        <p:spPr>
          <a:xfrm>
            <a:off x="457200" y="2935224"/>
            <a:ext cx="8229600" cy="56692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2935224"/>
            <a:ext cx="54864" cy="56692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3008376"/>
            <a:ext cx="7955279" cy="438912"/>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Povara invizibilă: </a:t>
            </a:r>
            <a:r>
              <a:rPr sz="1100" b="0" i="0">
                <a:solidFill>
                  <a:srgbClr val="11121A"/>
                </a:solidFill>
                <a:latin typeface="Palatino Linotype"/>
              </a:rPr>
              <a:t>anii trăiți cu dizabilitate văd afecțiunile care nu ucid; lombalgia este prima lor cauză în lume</a:t>
            </a:r>
          </a:p>
        </p:txBody>
      </p:sp>
      <p:sp>
        <p:nvSpPr>
          <p:cNvPr id="57" name="Rectangle 56"/>
          <p:cNvSpPr/>
          <p:nvPr/>
        </p:nvSpPr>
        <p:spPr>
          <a:xfrm>
            <a:off x="457200" y="3593591"/>
            <a:ext cx="8229600" cy="56692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3593591"/>
            <a:ext cx="54864" cy="56692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3666744"/>
            <a:ext cx="7955279" cy="438912"/>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Număr și rată: </a:t>
            </a:r>
            <a:r>
              <a:rPr sz="1100" b="0" i="0">
                <a:solidFill>
                  <a:srgbClr val="11121A"/>
                </a:solidFill>
                <a:latin typeface="Palatino Linotype"/>
              </a:rPr>
              <a:t>îmbătrânirea împinge în sus numărul cazurilor chiar când rata standardizată pe vârstă scade; contează și mărimea populației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Palatino Linotype" pitchFamily="34" charset="0"/>
                <a:ea typeface="Palatino Linotype" pitchFamily="34" charset="-122"/>
                <a:cs typeface="Palatino Linotype" pitchFamily="34" charset="-120"/>
              </a:rPr>
              <a:t>Firul roșu: afecțiunea-ancoră</a:t>
            </a:r>
            <a:endParaRPr lang="en-US" sz="2200" dirty="0"/>
          </a:p>
        </p:txBody>
      </p:sp>
      <p:sp>
        <p:nvSpPr>
          <p:cNvPr id="3" name="Shape 1"/>
          <p:cNvSpPr/>
          <p:nvPr/>
        </p:nvSpPr>
        <p:spPr>
          <a:xfrm>
            <a:off x="457200" y="1097280"/>
            <a:ext cx="2651760" cy="2011680"/>
          </a:xfrm>
          <a:prstGeom prst="rect">
            <a:avLst/>
          </a:prstGeom>
          <a:solidFill>
            <a:srgbClr val="0E7C6B">
              <a:alpha val="20000"/>
            </a:srgbClr>
          </a:solidFill>
          <a:ln/>
        </p:spPr>
        <p:txBody>
          <a:bodyPr/>
          <a:lstStyle/>
          <a:p>
            <a:endParaRPr lang="ro-RO"/>
          </a:p>
        </p:txBody>
      </p:sp>
      <p:sp>
        <p:nvSpPr>
          <p:cNvPr id="4" name="Shape 2"/>
          <p:cNvSpPr/>
          <p:nvPr/>
        </p:nvSpPr>
        <p:spPr>
          <a:xfrm>
            <a:off x="457200" y="1097280"/>
            <a:ext cx="2651760" cy="411480"/>
          </a:xfrm>
          <a:prstGeom prst="rect">
            <a:avLst/>
          </a:prstGeom>
          <a:solidFill>
            <a:srgbClr val="0E7C6B"/>
          </a:solidFill>
          <a:ln/>
        </p:spPr>
        <p:txBody>
          <a:bodyPr/>
          <a:lstStyle/>
          <a:p>
            <a:endParaRPr lang="ro-RO"/>
          </a:p>
        </p:txBody>
      </p:sp>
      <p:sp>
        <p:nvSpPr>
          <p:cNvPr id="5" name="Text 3"/>
          <p:cNvSpPr/>
          <p:nvPr/>
        </p:nvSpPr>
        <p:spPr>
          <a:xfrm>
            <a:off x="457200" y="1097280"/>
            <a:ext cx="2651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Lombalgia cronică</a:t>
            </a:r>
            <a:endParaRPr lang="en-US" sz="1200" dirty="0"/>
          </a:p>
        </p:txBody>
      </p:sp>
      <p:sp>
        <p:nvSpPr>
          <p:cNvPr id="6" name="Text 4"/>
          <p:cNvSpPr/>
          <p:nvPr/>
        </p:nvSpPr>
        <p:spPr>
          <a:xfrm>
            <a:off x="594360" y="1645920"/>
            <a:ext cx="2377440" cy="1280160"/>
          </a:xfrm>
          <a:prstGeom prst="rect">
            <a:avLst/>
          </a:prstGeom>
          <a:noFill/>
          <a:ln/>
        </p:spPr>
        <p:txBody>
          <a:bodyPr wrap="square" lIns="0" tIns="0" rIns="0" bIns="0" rtlCol="0" anchor="t"/>
          <a:lstStyle/>
          <a:p>
            <a:pPr marL="0" indent="0">
              <a:buNone/>
            </a:pPr>
            <a:r>
              <a:rPr lang="en-US" sz="1100" dirty="0">
                <a:solidFill>
                  <a:srgbClr val="FFFFFF"/>
                </a:solidFill>
                <a:latin typeface="Palatino Linotype" pitchFamily="34" charset="0"/>
                <a:ea typeface="Palatino Linotype" pitchFamily="34" charset="-122"/>
                <a:cs typeface="Palatino Linotype" pitchFamily="34" charset="-120"/>
              </a:rPr>
              <a:t>Frecventă, rareori mortală; limitează munca, mișcarea și viața de zi cu zi. Prima cauză a nevoii de recuperare a României, după persoane și după anii trăiți cu dizabilitate.</a:t>
            </a:r>
            <a:endParaRPr lang="en-US" sz="1200" dirty="0"/>
          </a:p>
        </p:txBody>
      </p:sp>
      <p:sp>
        <p:nvSpPr>
          <p:cNvPr id="7" name="Shape 5"/>
          <p:cNvSpPr/>
          <p:nvPr/>
        </p:nvSpPr>
        <p:spPr>
          <a:xfrm>
            <a:off x="3291840" y="1097280"/>
            <a:ext cx="2651760" cy="2011680"/>
          </a:xfrm>
          <a:prstGeom prst="rect">
            <a:avLst/>
          </a:prstGeom>
          <a:solidFill>
            <a:srgbClr val="FF4757">
              <a:alpha val="20000"/>
            </a:srgbClr>
          </a:solidFill>
          <a:ln/>
        </p:spPr>
        <p:txBody>
          <a:bodyPr/>
          <a:lstStyle/>
          <a:p>
            <a:endParaRPr lang="ro-RO"/>
          </a:p>
        </p:txBody>
      </p:sp>
      <p:sp>
        <p:nvSpPr>
          <p:cNvPr id="8" name="Shape 6"/>
          <p:cNvSpPr/>
          <p:nvPr/>
        </p:nvSpPr>
        <p:spPr>
          <a:xfrm>
            <a:off x="3291840" y="1097280"/>
            <a:ext cx="2651760" cy="411480"/>
          </a:xfrm>
          <a:prstGeom prst="rect">
            <a:avLst/>
          </a:prstGeom>
          <a:solidFill>
            <a:srgbClr val="FF4757"/>
          </a:solidFill>
          <a:ln/>
        </p:spPr>
        <p:txBody>
          <a:bodyPr/>
          <a:lstStyle/>
          <a:p>
            <a:endParaRPr lang="ro-RO"/>
          </a:p>
        </p:txBody>
      </p:sp>
      <p:sp>
        <p:nvSpPr>
          <p:cNvPr id="9" name="Text 7"/>
          <p:cNvSpPr/>
          <p:nvPr/>
        </p:nvSpPr>
        <p:spPr>
          <a:xfrm>
            <a:off x="3291840" y="1097280"/>
            <a:ext cx="2651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Accidentul vascular cerebral</a:t>
            </a:r>
            <a:endParaRPr lang="en-US" sz="1200" dirty="0"/>
          </a:p>
        </p:txBody>
      </p:sp>
      <p:sp>
        <p:nvSpPr>
          <p:cNvPr id="10" name="Text 8"/>
          <p:cNvSpPr/>
          <p:nvPr/>
        </p:nvSpPr>
        <p:spPr>
          <a:xfrm>
            <a:off x="3429000" y="1645920"/>
            <a:ext cx="2377440" cy="1280160"/>
          </a:xfrm>
          <a:prstGeom prst="rect">
            <a:avLst/>
          </a:prstGeom>
          <a:noFill/>
          <a:ln/>
        </p:spPr>
        <p:txBody>
          <a:bodyPr wrap="square" lIns="0" tIns="0" rIns="0" bIns="0" rtlCol="0" anchor="t"/>
          <a:lstStyle/>
          <a:p>
            <a:pPr marL="0" indent="0">
              <a:buNone/>
            </a:pPr>
            <a:r>
              <a:rPr lang="en-US" sz="1100" dirty="0">
                <a:solidFill>
                  <a:srgbClr val="FFFFFF"/>
                </a:solidFill>
                <a:latin typeface="Palatino Linotype" pitchFamily="34" charset="0"/>
                <a:ea typeface="Palatino Linotype" pitchFamily="34" charset="-122"/>
                <a:cs typeface="Palatino Linotype" pitchFamily="34" charset="-120"/>
              </a:rPr>
              <a:t>Eveniment acut; supraviețuitorul poate rămâne cu deficiențe motorii, de limbaj sau cognitive. Mai rar, dar cu o povară mare.</a:t>
            </a:r>
            <a:endParaRPr lang="en-US" sz="1200" dirty="0"/>
          </a:p>
        </p:txBody>
      </p:sp>
      <p:sp>
        <p:nvSpPr>
          <p:cNvPr id="11" name="Shape 9"/>
          <p:cNvSpPr/>
          <p:nvPr/>
        </p:nvSpPr>
        <p:spPr>
          <a:xfrm>
            <a:off x="6126480" y="1097280"/>
            <a:ext cx="2651760" cy="2011680"/>
          </a:xfrm>
          <a:prstGeom prst="rect">
            <a:avLst/>
          </a:prstGeom>
          <a:solidFill>
            <a:srgbClr val="0E7C6B">
              <a:alpha val="20000"/>
            </a:srgbClr>
          </a:solidFill>
          <a:ln/>
        </p:spPr>
        <p:txBody>
          <a:bodyPr/>
          <a:lstStyle/>
          <a:p>
            <a:endParaRPr lang="ro-RO"/>
          </a:p>
        </p:txBody>
      </p:sp>
      <p:sp>
        <p:nvSpPr>
          <p:cNvPr id="12" name="Shape 10"/>
          <p:cNvSpPr/>
          <p:nvPr/>
        </p:nvSpPr>
        <p:spPr>
          <a:xfrm>
            <a:off x="6126480" y="1097280"/>
            <a:ext cx="2651760" cy="411480"/>
          </a:xfrm>
          <a:prstGeom prst="rect">
            <a:avLst/>
          </a:prstGeom>
          <a:solidFill>
            <a:srgbClr val="0E7C6B"/>
          </a:solidFill>
          <a:ln/>
        </p:spPr>
        <p:txBody>
          <a:bodyPr/>
          <a:lstStyle/>
          <a:p>
            <a:endParaRPr lang="ro-RO"/>
          </a:p>
        </p:txBody>
      </p:sp>
      <p:sp>
        <p:nvSpPr>
          <p:cNvPr id="13" name="Text 11"/>
          <p:cNvSpPr/>
          <p:nvPr/>
        </p:nvSpPr>
        <p:spPr>
          <a:xfrm>
            <a:off x="6126480" y="1097280"/>
            <a:ext cx="26517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Fractura de șold la vârstnic</a:t>
            </a:r>
            <a:endParaRPr lang="en-US" sz="1200" dirty="0"/>
          </a:p>
        </p:txBody>
      </p:sp>
      <p:sp>
        <p:nvSpPr>
          <p:cNvPr id="14" name="Text 12"/>
          <p:cNvSpPr/>
          <p:nvPr/>
        </p:nvSpPr>
        <p:spPr>
          <a:xfrm>
            <a:off x="6263640" y="1645920"/>
            <a:ext cx="2377440" cy="1280160"/>
          </a:xfrm>
          <a:prstGeom prst="rect">
            <a:avLst/>
          </a:prstGeom>
          <a:noFill/>
          <a:ln/>
        </p:spPr>
        <p:txBody>
          <a:bodyPr wrap="square" lIns="0" tIns="0" rIns="0" bIns="0" rtlCol="0" anchor="t"/>
          <a:lstStyle/>
          <a:p>
            <a:pPr marL="0" indent="0">
              <a:buNone/>
            </a:pPr>
            <a:r>
              <a:rPr lang="en-US" sz="1100" dirty="0">
                <a:solidFill>
                  <a:srgbClr val="FFFFFF"/>
                </a:solidFill>
                <a:latin typeface="Palatino Linotype" pitchFamily="34" charset="0"/>
                <a:ea typeface="Palatino Linotype" pitchFamily="34" charset="-122"/>
                <a:cs typeface="Palatino Linotype" pitchFamily="34" charset="-120"/>
              </a:rPr>
              <a:t>Leziune gravă produsă de căderi; vârstnicii care rămân cu dizabilitate după o cădere au un risc mare de îngrijire pe termen lung.</a:t>
            </a:r>
            <a:endParaRPr lang="en-US" sz="1200" dirty="0"/>
          </a:p>
        </p:txBody>
      </p:sp>
      <p:sp>
        <p:nvSpPr>
          <p:cNvPr id="15" name="Text 13"/>
          <p:cNvSpPr/>
          <p:nvPr/>
        </p:nvSpPr>
        <p:spPr>
          <a:xfrm>
            <a:off x="457200" y="3474720"/>
            <a:ext cx="8229600" cy="457200"/>
          </a:xfrm>
          <a:prstGeom prst="rect">
            <a:avLst/>
          </a:prstGeom>
          <a:noFill/>
          <a:ln/>
        </p:spPr>
        <p:txBody>
          <a:bodyPr wrap="square" lIns="0" tIns="0" rIns="0" bIns="0" rtlCol="0" anchor="ctr"/>
          <a:lstStyle/>
          <a:p>
            <a:pPr marL="0" indent="0" algn="ctr">
              <a:buNone/>
            </a:pPr>
            <a:r>
              <a:rPr lang="en-US" sz="1100" i="1" dirty="0">
                <a:solidFill>
                  <a:srgbClr val="FF4757"/>
                </a:solidFill>
                <a:latin typeface="Palatino Linotype" pitchFamily="34" charset="0"/>
                <a:ea typeface="Palatino Linotype" pitchFamily="34" charset="-122"/>
                <a:cs typeface="Palatino Linotype" pitchFamily="34" charset="-120"/>
              </a:rPr>
              <a:t>Fiecare student alege o afecțiune pe care o urmărește în toate cele patru fișe de lucru (fișa disciplinei, 2026–2027)</a:t>
            </a:r>
            <a:endParaRPr lang="en-US" sz="1200" dirty="0"/>
          </a:p>
        </p:txBody>
      </p:sp>
      <p:sp>
        <p:nvSpPr>
          <p:cNvPr id="16" name="Shape 14"/>
          <p:cNvSpPr/>
          <p:nvPr/>
        </p:nvSpPr>
        <p:spPr>
          <a:xfrm>
            <a:off x="0" y="4709160"/>
            <a:ext cx="9144000" cy="434340"/>
          </a:xfrm>
          <a:prstGeom prst="rect">
            <a:avLst/>
          </a:prstGeom>
          <a:noFill/>
          <a:ln/>
        </p:spPr>
        <p:txBody>
          <a:bodyPr/>
          <a:lstStyle/>
          <a:p>
            <a:endParaRPr lang="ro-RO"/>
          </a:p>
        </p:txBody>
      </p:sp>
      <p:sp>
        <p:nvSpPr>
          <p:cNvPr id="17" name="Text 15"/>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18" name="Text 16"/>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 / 60</a:t>
            </a:r>
            <a:endParaRPr lang="en-US" sz="8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pic>
        <p:nvPicPr>
          <p:cNvPr id="2" name="Image 0" descr="preencoded.png"/>
          <p:cNvPicPr>
            <a:picLocks noChangeAspect="1"/>
          </p:cNvPicPr>
          <p:nvPr/>
        </p:nvPicPr>
        <p:blipFill>
          <a:blip r:embed="rId2"/>
          <a:stretch>
            <a:fillRect/>
          </a:stretch>
        </p:blipFill>
        <p:spPr>
          <a:xfrm>
            <a:off x="4114800" y="548640"/>
            <a:ext cx="914400" cy="914400"/>
          </a:xfrm>
          <a:prstGeom prst="rect">
            <a:avLst/>
          </a:prstGeom>
        </p:spPr>
      </p:pic>
      <p:sp>
        <p:nvSpPr>
          <p:cNvPr id="3" name="Text 0"/>
          <p:cNvSpPr/>
          <p:nvPr/>
        </p:nvSpPr>
        <p:spPr>
          <a:xfrm>
            <a:off x="914400" y="1554480"/>
            <a:ext cx="7315200" cy="1097280"/>
          </a:xfrm>
          <a:prstGeom prst="rect">
            <a:avLst/>
          </a:prstGeom>
          <a:noFill/>
          <a:ln/>
        </p:spPr>
        <p:txBody>
          <a:bodyPr wrap="square" lIns="0" tIns="0" rIns="0" bIns="0" rtlCol="0" anchor="ctr"/>
          <a:lstStyle/>
          <a:p>
            <a:pPr marL="0" indent="0" algn="ctr">
              <a:lnSpc>
                <a:spcPct val="110000"/>
              </a:lnSpc>
              <a:buNone/>
            </a:pPr>
            <a:r>
              <a:rPr lang="en-US" sz="2800" b="1" dirty="0">
                <a:solidFill>
                  <a:srgbClr val="FFFFFF"/>
                </a:solidFill>
                <a:latin typeface="Palatino Linotype" pitchFamily="34" charset="0"/>
                <a:ea typeface="Palatino Linotype" pitchFamily="34" charset="-122"/>
                <a:cs typeface="Palatino Linotype" pitchFamily="34" charset="-120"/>
              </a:rPr>
              <a:t>Ce afecțiune-ancoră alegeți?</a:t>
            </a:r>
            <a:endParaRPr lang="en-US" sz="2800" dirty="0"/>
          </a:p>
        </p:txBody>
      </p:sp>
      <p:sp>
        <p:nvSpPr>
          <p:cNvPr id="4" name="Shape 1"/>
          <p:cNvSpPr/>
          <p:nvPr/>
        </p:nvSpPr>
        <p:spPr>
          <a:xfrm>
            <a:off x="1371600" y="2926080"/>
            <a:ext cx="6400800" cy="1097280"/>
          </a:xfrm>
          <a:prstGeom prst="rect">
            <a:avLst/>
          </a:prstGeom>
          <a:solidFill>
            <a:srgbClr val="0E7C6B">
              <a:alpha val="30000"/>
            </a:srgbClr>
          </a:solidFill>
          <a:ln/>
        </p:spPr>
        <p:txBody>
          <a:bodyPr/>
          <a:lstStyle/>
          <a:p>
            <a:endParaRPr lang="ro-RO"/>
          </a:p>
        </p:txBody>
      </p:sp>
      <p:sp>
        <p:nvSpPr>
          <p:cNvPr id="5" name="Text 2"/>
          <p:cNvSpPr/>
          <p:nvPr/>
        </p:nvSpPr>
        <p:spPr>
          <a:xfrm>
            <a:off x="1371600" y="2926080"/>
            <a:ext cx="6400800" cy="1097280"/>
          </a:xfrm>
          <a:prstGeom prst="rect">
            <a:avLst/>
          </a:prstGeom>
          <a:noFill/>
          <a:ln/>
        </p:spPr>
        <p:txBody>
          <a:bodyPr wrap="square" lIns="0" tIns="0" rIns="0" bIns="0" rtlCol="0" anchor="ctr"/>
          <a:lstStyle/>
          <a:p>
            <a:pPr marL="0" indent="0" algn="ctr">
              <a:buNone/>
            </a:pPr>
            <a:r>
              <a:rPr lang="en-US" sz="1150" b="1" dirty="0">
                <a:solidFill>
                  <a:srgbClr val="FFFFFF"/>
                </a:solidFill>
                <a:latin typeface="Palatino Linotype" pitchFamily="34" charset="0"/>
                <a:ea typeface="Palatino Linotype" pitchFamily="34" charset="-122"/>
                <a:cs typeface="Palatino Linotype" pitchFamily="34" charset="-120"/>
              </a:rPr>
              <a:t>Vot pe telefon · codul de acces este afișat de cadrul didactic</a:t>
            </a:r>
            <a:endParaRPr lang="en-US" sz="1400" dirty="0"/>
          </a:p>
          <a:p>
            <a:pPr marL="0" indent="0" algn="ctr">
              <a:buNone/>
            </a:pPr>
            <a:r>
              <a:rPr lang="en-US" sz="1150" dirty="0">
                <a:solidFill>
                  <a:srgbClr val="FFFFFF"/>
                </a:solidFill>
                <a:latin typeface="Palatino Linotype" pitchFamily="34" charset="0"/>
                <a:ea typeface="Palatino Linotype" pitchFamily="34" charset="-122"/>
                <a:cs typeface="Palatino Linotype" pitchFamily="34" charset="-120"/>
              </a:rPr>
              <a:t>A · lombalgie cronică   B · accident vascular cerebral   C · fractură de șold la vârstnic</a:t>
            </a:r>
            <a:endParaRPr lang="en-US" sz="1400" dirty="0"/>
          </a:p>
        </p:txBody>
      </p:sp>
      <p:sp>
        <p:nvSpPr>
          <p:cNvPr id="6" name="Shape 3"/>
          <p:cNvSpPr/>
          <p:nvPr/>
        </p:nvSpPr>
        <p:spPr>
          <a:xfrm>
            <a:off x="0" y="4709160"/>
            <a:ext cx="9144000" cy="434340"/>
          </a:xfrm>
          <a:prstGeom prst="rect">
            <a:avLst/>
          </a:prstGeom>
          <a:noFill/>
          <a:ln/>
        </p:spPr>
        <p:txBody>
          <a:bodyPr/>
          <a:lstStyle/>
          <a:p>
            <a:endParaRPr lang="ro-RO"/>
          </a:p>
        </p:txBody>
      </p:sp>
      <p:sp>
        <p:nvSpPr>
          <p:cNvPr id="7" name="Text 4"/>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8" name="Text 5"/>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 / 60</a:t>
            </a:r>
            <a:endParaRPr lang="en-US" sz="8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Fișele de lucru, portofoliul și evaluarea</a:t>
            </a:r>
            <a:endParaRPr lang="en-US" sz="2400" dirty="0"/>
          </a:p>
        </p:txBody>
      </p:sp>
      <p:sp>
        <p:nvSpPr>
          <p:cNvPr id="3" name="Shape 1"/>
          <p:cNvSpPr/>
          <p:nvPr/>
        </p:nvSpPr>
        <p:spPr>
          <a:xfrm>
            <a:off x="457200" y="1005840"/>
            <a:ext cx="2697480" cy="548640"/>
          </a:xfrm>
          <a:prstGeom prst="rect">
            <a:avLst/>
          </a:prstGeom>
          <a:solidFill>
            <a:srgbClr val="0E7C6B"/>
          </a:solidFill>
          <a:ln/>
        </p:spPr>
        <p:txBody>
          <a:bodyPr/>
          <a:lstStyle/>
          <a:p>
            <a:endParaRPr lang="ro-RO" sz="1200"/>
          </a:p>
        </p:txBody>
      </p:sp>
      <p:sp>
        <p:nvSpPr>
          <p:cNvPr id="4" name="Text 2"/>
          <p:cNvSpPr/>
          <p:nvPr/>
        </p:nvSpPr>
        <p:spPr>
          <a:xfrm>
            <a:off x="457200" y="1005840"/>
            <a:ext cx="26974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FIȘELE DE LUCRU</a:t>
            </a:r>
            <a:endParaRPr lang="en-US" sz="1200" dirty="0"/>
          </a:p>
        </p:txBody>
      </p:sp>
      <p:sp>
        <p:nvSpPr>
          <p:cNvPr id="5" name="Shape 3"/>
          <p:cNvSpPr/>
          <p:nvPr/>
        </p:nvSpPr>
        <p:spPr>
          <a:xfrm>
            <a:off x="457200" y="1691640"/>
            <a:ext cx="2697480" cy="457200"/>
          </a:xfrm>
          <a:prstGeom prst="rect">
            <a:avLst/>
          </a:prstGeom>
          <a:solidFill>
            <a:srgbClr val="ECEAE4"/>
          </a:solidFill>
          <a:ln/>
          <a:effectLst/>
        </p:spPr>
        <p:txBody>
          <a:bodyPr/>
          <a:lstStyle/>
          <a:p>
            <a:endParaRPr lang="ro-RO" sz="1200"/>
          </a:p>
        </p:txBody>
      </p:sp>
      <p:sp>
        <p:nvSpPr>
          <p:cNvPr id="6" name="Shape 4"/>
          <p:cNvSpPr/>
          <p:nvPr/>
        </p:nvSpPr>
        <p:spPr>
          <a:xfrm>
            <a:off x="457200" y="1691640"/>
            <a:ext cx="54864" cy="457200"/>
          </a:xfrm>
          <a:prstGeom prst="rect">
            <a:avLst/>
          </a:prstGeom>
          <a:solidFill>
            <a:srgbClr val="0E7C6B"/>
          </a:solidFill>
          <a:ln/>
        </p:spPr>
        <p:txBody>
          <a:bodyPr/>
          <a:lstStyle/>
          <a:p>
            <a:endParaRPr lang="ro-RO" sz="1200"/>
          </a:p>
        </p:txBody>
      </p:sp>
      <p:sp>
        <p:nvSpPr>
          <p:cNvPr id="7" name="Text 5"/>
          <p:cNvSpPr/>
          <p:nvPr/>
        </p:nvSpPr>
        <p:spPr>
          <a:xfrm>
            <a:off x="594360" y="1691640"/>
            <a:ext cx="2423160" cy="45720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Câte o fișă la fiecare lucrare practică</a:t>
            </a:r>
            <a:endParaRPr lang="en-US" sz="1200" dirty="0"/>
          </a:p>
        </p:txBody>
      </p:sp>
      <p:sp>
        <p:nvSpPr>
          <p:cNvPr id="8" name="Shape 6"/>
          <p:cNvSpPr/>
          <p:nvPr/>
        </p:nvSpPr>
        <p:spPr>
          <a:xfrm>
            <a:off x="457200" y="2240280"/>
            <a:ext cx="2697480" cy="457200"/>
          </a:xfrm>
          <a:prstGeom prst="rect">
            <a:avLst/>
          </a:prstGeom>
          <a:solidFill>
            <a:srgbClr val="ECEAE4"/>
          </a:solidFill>
          <a:ln/>
          <a:effectLst/>
        </p:spPr>
        <p:txBody>
          <a:bodyPr/>
          <a:lstStyle/>
          <a:p>
            <a:endParaRPr lang="ro-RO" sz="1200"/>
          </a:p>
        </p:txBody>
      </p:sp>
      <p:sp>
        <p:nvSpPr>
          <p:cNvPr id="9" name="Shape 7"/>
          <p:cNvSpPr/>
          <p:nvPr/>
        </p:nvSpPr>
        <p:spPr>
          <a:xfrm>
            <a:off x="457200" y="2240280"/>
            <a:ext cx="54864" cy="457200"/>
          </a:xfrm>
          <a:prstGeom prst="rect">
            <a:avLst/>
          </a:prstGeom>
          <a:solidFill>
            <a:srgbClr val="0E7C6B"/>
          </a:solidFill>
          <a:ln/>
        </p:spPr>
        <p:txBody>
          <a:bodyPr/>
          <a:lstStyle/>
          <a:p>
            <a:endParaRPr lang="ro-RO" sz="1200"/>
          </a:p>
        </p:txBody>
      </p:sp>
      <p:sp>
        <p:nvSpPr>
          <p:cNvPr id="10" name="Text 8"/>
          <p:cNvSpPr/>
          <p:nvPr/>
        </p:nvSpPr>
        <p:spPr>
          <a:xfrm>
            <a:off x="594360" y="2240280"/>
            <a:ext cx="2423160" cy="45720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Predată în Forms (cont UMF), în cel mult 48 de ore</a:t>
            </a:r>
            <a:endParaRPr lang="en-US" sz="1200" dirty="0"/>
          </a:p>
        </p:txBody>
      </p:sp>
      <p:sp>
        <p:nvSpPr>
          <p:cNvPr id="11" name="Shape 9"/>
          <p:cNvSpPr/>
          <p:nvPr/>
        </p:nvSpPr>
        <p:spPr>
          <a:xfrm>
            <a:off x="457200" y="2788920"/>
            <a:ext cx="2697480" cy="457200"/>
          </a:xfrm>
          <a:prstGeom prst="rect">
            <a:avLst/>
          </a:prstGeom>
          <a:solidFill>
            <a:srgbClr val="ECEAE4"/>
          </a:solidFill>
          <a:ln/>
          <a:effectLst/>
        </p:spPr>
        <p:txBody>
          <a:bodyPr/>
          <a:lstStyle/>
          <a:p>
            <a:endParaRPr lang="ro-RO" sz="1200"/>
          </a:p>
        </p:txBody>
      </p:sp>
      <p:sp>
        <p:nvSpPr>
          <p:cNvPr id="12" name="Shape 10"/>
          <p:cNvSpPr/>
          <p:nvPr/>
        </p:nvSpPr>
        <p:spPr>
          <a:xfrm>
            <a:off x="457200" y="2788920"/>
            <a:ext cx="54864" cy="457200"/>
          </a:xfrm>
          <a:prstGeom prst="rect">
            <a:avLst/>
          </a:prstGeom>
          <a:solidFill>
            <a:srgbClr val="0E7C6B"/>
          </a:solidFill>
          <a:ln/>
        </p:spPr>
        <p:txBody>
          <a:bodyPr/>
          <a:lstStyle/>
          <a:p>
            <a:endParaRPr lang="ro-RO" sz="1200"/>
          </a:p>
        </p:txBody>
      </p:sp>
      <p:sp>
        <p:nvSpPr>
          <p:cNvPr id="13" name="Text 11"/>
          <p:cNvSpPr/>
          <p:nvPr/>
        </p:nvSpPr>
        <p:spPr>
          <a:xfrm>
            <a:off x="594360" y="2788920"/>
            <a:ext cx="2423160" cy="45720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Fiecare valoare: instituție, an, măsură, cod indicator</a:t>
            </a:r>
            <a:endParaRPr lang="en-US" sz="1200" dirty="0"/>
          </a:p>
        </p:txBody>
      </p:sp>
      <p:sp>
        <p:nvSpPr>
          <p:cNvPr id="14" name="Shape 12"/>
          <p:cNvSpPr/>
          <p:nvPr/>
        </p:nvSpPr>
        <p:spPr>
          <a:xfrm>
            <a:off x="3337560" y="1005840"/>
            <a:ext cx="2697480" cy="548640"/>
          </a:xfrm>
          <a:prstGeom prst="rect">
            <a:avLst/>
          </a:prstGeom>
          <a:solidFill>
            <a:srgbClr val="FF4757"/>
          </a:solidFill>
          <a:ln/>
        </p:spPr>
        <p:txBody>
          <a:bodyPr/>
          <a:lstStyle/>
          <a:p>
            <a:endParaRPr lang="ro-RO" sz="1200"/>
          </a:p>
        </p:txBody>
      </p:sp>
      <p:sp>
        <p:nvSpPr>
          <p:cNvPr id="15" name="Text 13"/>
          <p:cNvSpPr/>
          <p:nvPr/>
        </p:nvSpPr>
        <p:spPr>
          <a:xfrm>
            <a:off x="3337560" y="1005840"/>
            <a:ext cx="26974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EVALUAREA FINALĂ</a:t>
            </a:r>
            <a:endParaRPr lang="en-US" sz="1200" dirty="0"/>
          </a:p>
        </p:txBody>
      </p:sp>
      <p:sp>
        <p:nvSpPr>
          <p:cNvPr id="16" name="Shape 14"/>
          <p:cNvSpPr/>
          <p:nvPr/>
        </p:nvSpPr>
        <p:spPr>
          <a:xfrm>
            <a:off x="3337560" y="1691640"/>
            <a:ext cx="2697480" cy="457200"/>
          </a:xfrm>
          <a:prstGeom prst="rect">
            <a:avLst/>
          </a:prstGeom>
          <a:solidFill>
            <a:srgbClr val="ECEAE4"/>
          </a:solidFill>
          <a:ln/>
          <a:effectLst/>
        </p:spPr>
        <p:txBody>
          <a:bodyPr/>
          <a:lstStyle/>
          <a:p>
            <a:endParaRPr lang="ro-RO" sz="1200"/>
          </a:p>
        </p:txBody>
      </p:sp>
      <p:sp>
        <p:nvSpPr>
          <p:cNvPr id="17" name="Shape 15"/>
          <p:cNvSpPr/>
          <p:nvPr/>
        </p:nvSpPr>
        <p:spPr>
          <a:xfrm>
            <a:off x="3337560" y="1691640"/>
            <a:ext cx="54864" cy="457200"/>
          </a:xfrm>
          <a:prstGeom prst="rect">
            <a:avLst/>
          </a:prstGeom>
          <a:solidFill>
            <a:srgbClr val="FF4757"/>
          </a:solidFill>
          <a:ln/>
        </p:spPr>
        <p:txBody>
          <a:bodyPr/>
          <a:lstStyle/>
          <a:p>
            <a:endParaRPr lang="ro-RO" sz="1200"/>
          </a:p>
        </p:txBody>
      </p:sp>
      <p:sp>
        <p:nvSpPr>
          <p:cNvPr id="18" name="Text 16"/>
          <p:cNvSpPr/>
          <p:nvPr/>
        </p:nvSpPr>
        <p:spPr>
          <a:xfrm>
            <a:off x="3474720" y="1691640"/>
            <a:ext cx="2423160" cy="45720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Test grilă: 20 de întrebări, 30 de minute, la a patra lucrare practică</a:t>
            </a:r>
            <a:endParaRPr lang="en-US" sz="1200" dirty="0"/>
          </a:p>
        </p:txBody>
      </p:sp>
      <p:sp>
        <p:nvSpPr>
          <p:cNvPr id="19" name="Shape 17"/>
          <p:cNvSpPr/>
          <p:nvPr/>
        </p:nvSpPr>
        <p:spPr>
          <a:xfrm>
            <a:off x="3337560" y="2240280"/>
            <a:ext cx="2697480" cy="457200"/>
          </a:xfrm>
          <a:prstGeom prst="rect">
            <a:avLst/>
          </a:prstGeom>
          <a:solidFill>
            <a:srgbClr val="ECEAE4"/>
          </a:solidFill>
          <a:ln/>
          <a:effectLst/>
        </p:spPr>
        <p:txBody>
          <a:bodyPr/>
          <a:lstStyle/>
          <a:p>
            <a:endParaRPr lang="ro-RO" sz="1200"/>
          </a:p>
        </p:txBody>
      </p:sp>
      <p:sp>
        <p:nvSpPr>
          <p:cNvPr id="20" name="Shape 18"/>
          <p:cNvSpPr/>
          <p:nvPr/>
        </p:nvSpPr>
        <p:spPr>
          <a:xfrm>
            <a:off x="3337560" y="2240280"/>
            <a:ext cx="54864" cy="457200"/>
          </a:xfrm>
          <a:prstGeom prst="rect">
            <a:avLst/>
          </a:prstGeom>
          <a:solidFill>
            <a:srgbClr val="FF4757"/>
          </a:solidFill>
          <a:ln/>
        </p:spPr>
        <p:txBody>
          <a:bodyPr/>
          <a:lstStyle/>
          <a:p>
            <a:endParaRPr lang="ro-RO" sz="1200"/>
          </a:p>
        </p:txBody>
      </p:sp>
      <p:sp>
        <p:nvSpPr>
          <p:cNvPr id="21" name="Text 19"/>
          <p:cNvSpPr/>
          <p:nvPr/>
        </p:nvSpPr>
        <p:spPr>
          <a:xfrm>
            <a:off x="3474720" y="2240280"/>
            <a:ext cx="2423160" cy="45720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Test 60% · portofoliu 40% · activitatea pe parcurs 0%</a:t>
            </a:r>
            <a:endParaRPr lang="en-US" sz="1200" dirty="0"/>
          </a:p>
        </p:txBody>
      </p:sp>
      <p:sp>
        <p:nvSpPr>
          <p:cNvPr id="22" name="Shape 20"/>
          <p:cNvSpPr/>
          <p:nvPr/>
        </p:nvSpPr>
        <p:spPr>
          <a:xfrm>
            <a:off x="3337560" y="2788920"/>
            <a:ext cx="2697480" cy="457200"/>
          </a:xfrm>
          <a:prstGeom prst="rect">
            <a:avLst/>
          </a:prstGeom>
          <a:solidFill>
            <a:srgbClr val="ECEAE4"/>
          </a:solidFill>
          <a:ln/>
          <a:effectLst/>
        </p:spPr>
        <p:txBody>
          <a:bodyPr/>
          <a:lstStyle/>
          <a:p>
            <a:endParaRPr lang="ro-RO" sz="1200"/>
          </a:p>
        </p:txBody>
      </p:sp>
      <p:sp>
        <p:nvSpPr>
          <p:cNvPr id="23" name="Shape 21"/>
          <p:cNvSpPr/>
          <p:nvPr/>
        </p:nvSpPr>
        <p:spPr>
          <a:xfrm>
            <a:off x="3337560" y="2788920"/>
            <a:ext cx="54864" cy="457200"/>
          </a:xfrm>
          <a:prstGeom prst="rect">
            <a:avLst/>
          </a:prstGeom>
          <a:solidFill>
            <a:srgbClr val="FF4757"/>
          </a:solidFill>
          <a:ln/>
        </p:spPr>
        <p:txBody>
          <a:bodyPr/>
          <a:lstStyle/>
          <a:p>
            <a:endParaRPr lang="ro-RO" sz="1200"/>
          </a:p>
        </p:txBody>
      </p:sp>
      <p:sp>
        <p:nvSpPr>
          <p:cNvPr id="24" name="Text 22"/>
          <p:cNvSpPr/>
          <p:nvPr/>
        </p:nvSpPr>
        <p:spPr>
          <a:xfrm>
            <a:off x="3474720" y="2788920"/>
            <a:ext cx="2423160" cy="45720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Portofoliul: media celor mai bune trei fișe din patru</a:t>
            </a:r>
            <a:endParaRPr lang="en-US" sz="1200" dirty="0"/>
          </a:p>
        </p:txBody>
      </p:sp>
      <p:sp>
        <p:nvSpPr>
          <p:cNvPr id="25" name="Shape 23"/>
          <p:cNvSpPr/>
          <p:nvPr/>
        </p:nvSpPr>
        <p:spPr>
          <a:xfrm>
            <a:off x="6217920" y="1005840"/>
            <a:ext cx="2697480" cy="548640"/>
          </a:xfrm>
          <a:prstGeom prst="rect">
            <a:avLst/>
          </a:prstGeom>
          <a:solidFill>
            <a:srgbClr val="0E7C6B"/>
          </a:solidFill>
          <a:ln/>
        </p:spPr>
        <p:txBody>
          <a:bodyPr/>
          <a:lstStyle/>
          <a:p>
            <a:endParaRPr lang="ro-RO" sz="1200"/>
          </a:p>
        </p:txBody>
      </p:sp>
      <p:sp>
        <p:nvSpPr>
          <p:cNvPr id="26" name="Text 24"/>
          <p:cNvSpPr/>
          <p:nvPr/>
        </p:nvSpPr>
        <p:spPr>
          <a:xfrm>
            <a:off x="6217920" y="1005840"/>
            <a:ext cx="26974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PROMOVAREA</a:t>
            </a:r>
            <a:endParaRPr lang="en-US" sz="1200" dirty="0"/>
          </a:p>
        </p:txBody>
      </p:sp>
      <p:sp>
        <p:nvSpPr>
          <p:cNvPr id="27" name="Shape 25"/>
          <p:cNvSpPr/>
          <p:nvPr/>
        </p:nvSpPr>
        <p:spPr>
          <a:xfrm>
            <a:off x="6217920" y="1691640"/>
            <a:ext cx="2697480" cy="457200"/>
          </a:xfrm>
          <a:prstGeom prst="rect">
            <a:avLst/>
          </a:prstGeom>
          <a:solidFill>
            <a:srgbClr val="ECEAE4"/>
          </a:solidFill>
          <a:ln/>
          <a:effectLst/>
        </p:spPr>
        <p:txBody>
          <a:bodyPr/>
          <a:lstStyle/>
          <a:p>
            <a:endParaRPr lang="ro-RO" sz="1200"/>
          </a:p>
        </p:txBody>
      </p:sp>
      <p:sp>
        <p:nvSpPr>
          <p:cNvPr id="28" name="Shape 26"/>
          <p:cNvSpPr/>
          <p:nvPr/>
        </p:nvSpPr>
        <p:spPr>
          <a:xfrm>
            <a:off x="6217920" y="1691640"/>
            <a:ext cx="54864" cy="457200"/>
          </a:xfrm>
          <a:prstGeom prst="rect">
            <a:avLst/>
          </a:prstGeom>
          <a:solidFill>
            <a:srgbClr val="0E7C6B"/>
          </a:solidFill>
          <a:ln/>
        </p:spPr>
        <p:txBody>
          <a:bodyPr/>
          <a:lstStyle/>
          <a:p>
            <a:endParaRPr lang="ro-RO" sz="1200"/>
          </a:p>
        </p:txBody>
      </p:sp>
      <p:sp>
        <p:nvSpPr>
          <p:cNvPr id="29" name="Text 27"/>
          <p:cNvSpPr/>
          <p:nvPr/>
        </p:nvSpPr>
        <p:spPr>
          <a:xfrm>
            <a:off x="6355080" y="1691640"/>
            <a:ext cx="2423160" cy="45720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Nota minimă 5 la test și la portofoliu</a:t>
            </a:r>
            <a:endParaRPr lang="en-US" sz="1200" dirty="0"/>
          </a:p>
        </p:txBody>
      </p:sp>
      <p:sp>
        <p:nvSpPr>
          <p:cNvPr id="30" name="Shape 28"/>
          <p:cNvSpPr/>
          <p:nvPr/>
        </p:nvSpPr>
        <p:spPr>
          <a:xfrm>
            <a:off x="6217920" y="2240280"/>
            <a:ext cx="2697480" cy="457200"/>
          </a:xfrm>
          <a:prstGeom prst="rect">
            <a:avLst/>
          </a:prstGeom>
          <a:solidFill>
            <a:srgbClr val="ECEAE4"/>
          </a:solidFill>
          <a:ln/>
          <a:effectLst/>
        </p:spPr>
        <p:txBody>
          <a:bodyPr/>
          <a:lstStyle/>
          <a:p>
            <a:endParaRPr lang="ro-RO" sz="1200"/>
          </a:p>
        </p:txBody>
      </p:sp>
      <p:sp>
        <p:nvSpPr>
          <p:cNvPr id="31" name="Shape 29"/>
          <p:cNvSpPr/>
          <p:nvPr/>
        </p:nvSpPr>
        <p:spPr>
          <a:xfrm>
            <a:off x="6217920" y="2240280"/>
            <a:ext cx="54864" cy="457200"/>
          </a:xfrm>
          <a:prstGeom prst="rect">
            <a:avLst/>
          </a:prstGeom>
          <a:solidFill>
            <a:srgbClr val="0E7C6B"/>
          </a:solidFill>
          <a:ln/>
        </p:spPr>
        <p:txBody>
          <a:bodyPr/>
          <a:lstStyle/>
          <a:p>
            <a:endParaRPr lang="ro-RO" sz="1200"/>
          </a:p>
        </p:txBody>
      </p:sp>
      <p:sp>
        <p:nvSpPr>
          <p:cNvPr id="32" name="Text 30"/>
          <p:cNvSpPr/>
          <p:nvPr/>
        </p:nvSpPr>
        <p:spPr>
          <a:xfrm>
            <a:off x="6355080" y="2240280"/>
            <a:ext cx="2423160" cy="45720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Minimum 50% din punctajul fiecărei componente</a:t>
            </a:r>
            <a:endParaRPr lang="en-US" sz="1200" dirty="0"/>
          </a:p>
        </p:txBody>
      </p:sp>
      <p:sp>
        <p:nvSpPr>
          <p:cNvPr id="33" name="Shape 31"/>
          <p:cNvSpPr/>
          <p:nvPr/>
        </p:nvSpPr>
        <p:spPr>
          <a:xfrm>
            <a:off x="6217920" y="2788920"/>
            <a:ext cx="2697480" cy="457200"/>
          </a:xfrm>
          <a:prstGeom prst="rect">
            <a:avLst/>
          </a:prstGeom>
          <a:solidFill>
            <a:srgbClr val="ECEAE4"/>
          </a:solidFill>
          <a:ln/>
          <a:effectLst/>
        </p:spPr>
        <p:txBody>
          <a:bodyPr/>
          <a:lstStyle/>
          <a:p>
            <a:endParaRPr lang="ro-RO" sz="1200"/>
          </a:p>
        </p:txBody>
      </p:sp>
      <p:sp>
        <p:nvSpPr>
          <p:cNvPr id="34" name="Shape 32"/>
          <p:cNvSpPr/>
          <p:nvPr/>
        </p:nvSpPr>
        <p:spPr>
          <a:xfrm>
            <a:off x="6217920" y="2788920"/>
            <a:ext cx="54864" cy="457200"/>
          </a:xfrm>
          <a:prstGeom prst="rect">
            <a:avLst/>
          </a:prstGeom>
          <a:solidFill>
            <a:srgbClr val="0E7C6B"/>
          </a:solidFill>
          <a:ln/>
        </p:spPr>
        <p:txBody>
          <a:bodyPr/>
          <a:lstStyle/>
          <a:p>
            <a:endParaRPr lang="ro-RO" sz="1200"/>
          </a:p>
        </p:txBody>
      </p:sp>
      <p:sp>
        <p:nvSpPr>
          <p:cNvPr id="35" name="Text 33"/>
          <p:cNvSpPr/>
          <p:nvPr/>
        </p:nvSpPr>
        <p:spPr>
          <a:xfrm>
            <a:off x="6355080" y="2788920"/>
            <a:ext cx="2423160" cy="45720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Trei fișe din patru; prezența, conduita, fără fraude</a:t>
            </a:r>
            <a:endParaRPr lang="en-US" sz="1200" dirty="0"/>
          </a:p>
        </p:txBody>
      </p:sp>
      <p:sp>
        <p:nvSpPr>
          <p:cNvPr id="36" name="Shape 34"/>
          <p:cNvSpPr/>
          <p:nvPr/>
        </p:nvSpPr>
        <p:spPr>
          <a:xfrm>
            <a:off x="457200" y="3383280"/>
            <a:ext cx="8229600" cy="411480"/>
          </a:xfrm>
          <a:prstGeom prst="rect">
            <a:avLst/>
          </a:prstGeom>
          <a:solidFill>
            <a:srgbClr val="11121A"/>
          </a:solidFill>
          <a:ln/>
          <a:effectLst/>
        </p:spPr>
        <p:txBody>
          <a:bodyPr/>
          <a:lstStyle/>
          <a:p>
            <a:endParaRPr lang="ro-RO" sz="1200"/>
          </a:p>
        </p:txBody>
      </p:sp>
      <p:sp>
        <p:nvSpPr>
          <p:cNvPr id="37" name="Text 35"/>
          <p:cNvSpPr/>
          <p:nvPr/>
        </p:nvSpPr>
        <p:spPr>
          <a:xfrm>
            <a:off x="457200" y="3383280"/>
            <a:ext cx="82296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Nota finală = 60% test grilă + 40% portofoliu, rotunjită conform regulamentului UMFIH</a:t>
            </a:r>
            <a:endParaRPr lang="en-US" sz="1200" dirty="0"/>
          </a:p>
        </p:txBody>
      </p:sp>
      <p:sp>
        <p:nvSpPr>
          <p:cNvPr id="38" name="Text 36"/>
          <p:cNvSpPr/>
          <p:nvPr/>
        </p:nvSpPr>
        <p:spPr>
          <a:xfrm>
            <a:off x="457200" y="4114800"/>
            <a:ext cx="8229600" cy="274320"/>
          </a:xfrm>
          <a:prstGeom prst="rect">
            <a:avLst/>
          </a:prstGeom>
          <a:noFill/>
          <a:ln/>
        </p:spPr>
        <p:txBody>
          <a:bodyPr wrap="square" lIns="0" tIns="0" rIns="0" bIns="0" rtlCol="0" anchor="ctr"/>
          <a:lstStyle/>
          <a:p>
            <a:pPr marL="0" indent="0">
              <a:buNone/>
            </a:pPr>
            <a:r>
              <a:rPr lang="en-US" sz="700" i="1" dirty="0">
                <a:solidFill>
                  <a:srgbClr val="585A64"/>
                </a:solidFill>
                <a:latin typeface="Palatino Linotype" pitchFamily="34" charset="0"/>
                <a:ea typeface="Palatino Linotype" pitchFamily="34" charset="-122"/>
                <a:cs typeface="Palatino Linotype" pitchFamily="34" charset="-120"/>
              </a:rPr>
              <a:t>Sursa: fișa disciplinei, secțiunile 10.5–10.9</a:t>
            </a:r>
            <a:endParaRPr lang="en-US" sz="800" i="1" dirty="0"/>
          </a:p>
        </p:txBody>
      </p:sp>
      <p:sp>
        <p:nvSpPr>
          <p:cNvPr id="39" name="Shape 37"/>
          <p:cNvSpPr/>
          <p:nvPr/>
        </p:nvSpPr>
        <p:spPr>
          <a:xfrm>
            <a:off x="0" y="4709160"/>
            <a:ext cx="9144000" cy="434340"/>
          </a:xfrm>
          <a:prstGeom prst="rect">
            <a:avLst/>
          </a:prstGeom>
          <a:noFill/>
          <a:ln/>
        </p:spPr>
        <p:txBody>
          <a:bodyPr/>
          <a:lstStyle/>
          <a:p>
            <a:endParaRPr lang="ro-RO" sz="1200"/>
          </a:p>
        </p:txBody>
      </p:sp>
      <p:sp>
        <p:nvSpPr>
          <p:cNvPr id="40"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1"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6 / 60</a:t>
            </a:r>
            <a:endParaRPr lang="en-US" sz="1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914400" y="1371600"/>
            <a:ext cx="731520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Palatino Linotype" pitchFamily="34" charset="0"/>
                <a:ea typeface="Palatino Linotype" pitchFamily="34" charset="-122"/>
                <a:cs typeface="Palatino Linotype" pitchFamily="34" charset="-120"/>
              </a:rPr>
              <a:t>De la supraviețuire la funcționare</a:t>
            </a:r>
            <a:endParaRPr lang="en-US" sz="3600" dirty="0"/>
          </a:p>
        </p:txBody>
      </p:sp>
      <p:sp>
        <p:nvSpPr>
          <p:cNvPr id="3" name="Text 1"/>
          <p:cNvSpPr/>
          <p:nvPr/>
        </p:nvSpPr>
        <p:spPr>
          <a:xfrm>
            <a:off x="914400" y="2926080"/>
            <a:ext cx="7315200" cy="731520"/>
          </a:xfrm>
          <a:prstGeom prst="rect">
            <a:avLst/>
          </a:prstGeom>
          <a:noFill/>
          <a:ln/>
        </p:spPr>
        <p:txBody>
          <a:bodyPr wrap="square" lIns="0" tIns="0" rIns="0" bIns="0" rtlCol="0" anchor="ctr"/>
          <a:lstStyle/>
          <a:p>
            <a:pPr marL="0" indent="0" algn="ctr">
              <a:buNone/>
            </a:pPr>
            <a:r>
              <a:rPr lang="en-US" sz="1250" dirty="0">
                <a:solidFill>
                  <a:srgbClr val="FF4757"/>
                </a:solidFill>
                <a:latin typeface="Palatino Linotype" pitchFamily="34" charset="0"/>
                <a:ea typeface="Palatino Linotype" pitchFamily="34" charset="-122"/>
                <a:cs typeface="Palatino Linotype" pitchFamily="34" charset="-120"/>
              </a:rPr>
              <a:t>SECȚIUNEA B · Definiția sănătății · Indicatorii supraviețuirii și ai funcționării</a:t>
            </a:r>
            <a:endParaRPr lang="en-US" sz="1400" dirty="0"/>
          </a:p>
        </p:txBody>
      </p:sp>
      <p:sp>
        <p:nvSpPr>
          <p:cNvPr id="4" name="Shape 2"/>
          <p:cNvSpPr/>
          <p:nvPr/>
        </p:nvSpPr>
        <p:spPr>
          <a:xfrm>
            <a:off x="0" y="4709160"/>
            <a:ext cx="9144000" cy="434340"/>
          </a:xfrm>
          <a:prstGeom prst="rect">
            <a:avLst/>
          </a:prstGeom>
          <a:noFill/>
          <a:ln/>
        </p:spPr>
        <p:txBody>
          <a:bodyPr/>
          <a:lstStyle/>
          <a:p>
            <a:endParaRPr lang="ro-RO"/>
          </a:p>
        </p:txBody>
      </p:sp>
      <p:sp>
        <p:nvSpPr>
          <p:cNvPr id="5" name="Text 3"/>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6" name="Text 4"/>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7 / 60</a:t>
            </a:r>
            <a:endParaRPr lang="en-US" sz="8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Cât trăim și cum trăim</a:t>
            </a:r>
            <a:endParaRPr lang="en-US" sz="2400" dirty="0"/>
          </a:p>
        </p:txBody>
      </p:sp>
      <p:sp>
        <p:nvSpPr>
          <p:cNvPr id="3" name="Shape 1"/>
          <p:cNvSpPr/>
          <p:nvPr/>
        </p:nvSpPr>
        <p:spPr>
          <a:xfrm>
            <a:off x="457200" y="1005840"/>
            <a:ext cx="4023360" cy="2011680"/>
          </a:xfrm>
          <a:prstGeom prst="rect">
            <a:avLst/>
          </a:prstGeom>
          <a:solidFill>
            <a:srgbClr val="ECEAE4"/>
          </a:solidFill>
          <a:ln/>
          <a:effectLst/>
        </p:spPr>
        <p:txBody>
          <a:bodyPr/>
          <a:lstStyle/>
          <a:p>
            <a:endParaRPr lang="ro-RO" sz="1200"/>
          </a:p>
        </p:txBody>
      </p:sp>
      <p:sp>
        <p:nvSpPr>
          <p:cNvPr id="4" name="Shape 2"/>
          <p:cNvSpPr/>
          <p:nvPr/>
        </p:nvSpPr>
        <p:spPr>
          <a:xfrm>
            <a:off x="457200" y="1005840"/>
            <a:ext cx="4023360" cy="411480"/>
          </a:xfrm>
          <a:prstGeom prst="rect">
            <a:avLst/>
          </a:prstGeom>
          <a:solidFill>
            <a:srgbClr val="585A64"/>
          </a:solidFill>
          <a:ln/>
        </p:spPr>
        <p:txBody>
          <a:bodyPr/>
          <a:lstStyle/>
          <a:p>
            <a:endParaRPr lang="ro-RO" sz="1200"/>
          </a:p>
        </p:txBody>
      </p:sp>
      <p:sp>
        <p:nvSpPr>
          <p:cNvPr id="5" name="Text 3"/>
          <p:cNvSpPr/>
          <p:nvPr/>
        </p:nvSpPr>
        <p:spPr>
          <a:xfrm>
            <a:off x="45720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Indicatorii supraviețuirii</a:t>
            </a:r>
            <a:endParaRPr lang="en-US" sz="1600" dirty="0"/>
          </a:p>
        </p:txBody>
      </p:sp>
      <p:sp>
        <p:nvSpPr>
          <p:cNvPr id="6" name="Text 4"/>
          <p:cNvSpPr/>
          <p:nvPr/>
        </p:nvSpPr>
        <p:spPr>
          <a:xfrm>
            <a:off x="640080" y="1508760"/>
            <a:ext cx="3657600" cy="32004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Mortalitatea</a:t>
            </a:r>
            <a:endParaRPr lang="en-US" sz="1200" dirty="0"/>
          </a:p>
        </p:txBody>
      </p:sp>
      <p:sp>
        <p:nvSpPr>
          <p:cNvPr id="7" name="Text 5"/>
          <p:cNvSpPr/>
          <p:nvPr/>
        </p:nvSpPr>
        <p:spPr>
          <a:xfrm>
            <a:off x="640080" y="1874520"/>
            <a:ext cx="3657600" cy="32004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Speranța de viață</a:t>
            </a:r>
            <a:endParaRPr lang="en-US" sz="1200" dirty="0"/>
          </a:p>
        </p:txBody>
      </p:sp>
      <p:sp>
        <p:nvSpPr>
          <p:cNvPr id="8" name="Text 6"/>
          <p:cNvSpPr/>
          <p:nvPr/>
        </p:nvSpPr>
        <p:spPr>
          <a:xfrm>
            <a:off x="640080" y="2240280"/>
            <a:ext cx="3657600" cy="32004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Întrebarea: câți oameni mor și când?</a:t>
            </a:r>
            <a:endParaRPr lang="en-US" sz="1200" dirty="0"/>
          </a:p>
        </p:txBody>
      </p:sp>
      <p:sp>
        <p:nvSpPr>
          <p:cNvPr id="9" name="Text 7"/>
          <p:cNvSpPr/>
          <p:nvPr/>
        </p:nvSpPr>
        <p:spPr>
          <a:xfrm>
            <a:off x="640080" y="2606040"/>
            <a:ext cx="3657600" cy="32004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Tradiția statisticii de sănătate</a:t>
            </a:r>
            <a:endParaRPr lang="en-US" sz="1200" dirty="0"/>
          </a:p>
        </p:txBody>
      </p:sp>
      <p:sp>
        <p:nvSpPr>
          <p:cNvPr id="10" name="Shape 8"/>
          <p:cNvSpPr/>
          <p:nvPr/>
        </p:nvSpPr>
        <p:spPr>
          <a:xfrm>
            <a:off x="4754880" y="1005840"/>
            <a:ext cx="4023360" cy="2011680"/>
          </a:xfrm>
          <a:prstGeom prst="rect">
            <a:avLst/>
          </a:prstGeom>
          <a:solidFill>
            <a:srgbClr val="ECEAE4"/>
          </a:solidFill>
          <a:ln/>
          <a:effectLst/>
        </p:spPr>
        <p:txBody>
          <a:bodyPr/>
          <a:lstStyle/>
          <a:p>
            <a:endParaRPr lang="ro-RO" sz="1200"/>
          </a:p>
        </p:txBody>
      </p:sp>
      <p:sp>
        <p:nvSpPr>
          <p:cNvPr id="11" name="Shape 9"/>
          <p:cNvSpPr/>
          <p:nvPr/>
        </p:nvSpPr>
        <p:spPr>
          <a:xfrm>
            <a:off x="4754880" y="1005840"/>
            <a:ext cx="4023360" cy="411480"/>
          </a:xfrm>
          <a:prstGeom prst="rect">
            <a:avLst/>
          </a:prstGeom>
          <a:solidFill>
            <a:srgbClr val="0E7C6B"/>
          </a:solidFill>
          <a:ln/>
        </p:spPr>
        <p:txBody>
          <a:bodyPr/>
          <a:lstStyle/>
          <a:p>
            <a:endParaRPr lang="ro-RO" sz="1200"/>
          </a:p>
        </p:txBody>
      </p:sp>
      <p:sp>
        <p:nvSpPr>
          <p:cNvPr id="12" name="Text 10"/>
          <p:cNvSpPr/>
          <p:nvPr/>
        </p:nvSpPr>
        <p:spPr>
          <a:xfrm>
            <a:off x="475488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Indicatorii funcționării</a:t>
            </a:r>
            <a:endParaRPr lang="en-US" sz="1600" dirty="0"/>
          </a:p>
        </p:txBody>
      </p:sp>
      <p:sp>
        <p:nvSpPr>
          <p:cNvPr id="13" name="Text 11"/>
          <p:cNvSpPr/>
          <p:nvPr/>
        </p:nvSpPr>
        <p:spPr>
          <a:xfrm>
            <a:off x="4937760" y="1508760"/>
            <a:ext cx="3657600" cy="32004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Anii trăiți fără limitări de activitate</a:t>
            </a:r>
            <a:endParaRPr lang="en-US" sz="1200" dirty="0"/>
          </a:p>
        </p:txBody>
      </p:sp>
      <p:sp>
        <p:nvSpPr>
          <p:cNvPr id="14" name="Text 12"/>
          <p:cNvSpPr/>
          <p:nvPr/>
        </p:nvSpPr>
        <p:spPr>
          <a:xfrm>
            <a:off x="4937760" y="1874520"/>
            <a:ext cx="3657600" cy="32004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Anii trăiți cu dizabilitate</a:t>
            </a:r>
            <a:endParaRPr lang="en-US" sz="1200" dirty="0"/>
          </a:p>
        </p:txBody>
      </p:sp>
      <p:sp>
        <p:nvSpPr>
          <p:cNvPr id="15" name="Text 13"/>
          <p:cNvSpPr/>
          <p:nvPr/>
        </p:nvSpPr>
        <p:spPr>
          <a:xfrm>
            <a:off x="4937760" y="2240280"/>
            <a:ext cx="3657600" cy="32004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Întrebarea: cum trăiesc anii câștigați?</a:t>
            </a:r>
            <a:endParaRPr lang="en-US" sz="1200" dirty="0"/>
          </a:p>
        </p:txBody>
      </p:sp>
      <p:sp>
        <p:nvSpPr>
          <p:cNvPr id="16" name="Text 14"/>
          <p:cNvSpPr/>
          <p:nvPr/>
        </p:nvSpPr>
        <p:spPr>
          <a:xfrm>
            <a:off x="4937760" y="2606040"/>
            <a:ext cx="3657600" cy="32004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Obiectul recuperării</a:t>
            </a:r>
            <a:endParaRPr lang="en-US" sz="1200" dirty="0"/>
          </a:p>
        </p:txBody>
      </p:sp>
      <p:sp>
        <p:nvSpPr>
          <p:cNvPr id="17" name="Shape 15"/>
          <p:cNvSpPr/>
          <p:nvPr/>
        </p:nvSpPr>
        <p:spPr>
          <a:xfrm>
            <a:off x="457200" y="3200400"/>
            <a:ext cx="8229600" cy="1005840"/>
          </a:xfrm>
          <a:prstGeom prst="rect">
            <a:avLst/>
          </a:prstGeom>
          <a:solidFill>
            <a:srgbClr val="FF4757">
              <a:alpha val="15000"/>
            </a:srgbClr>
          </a:solidFill>
          <a:ln/>
        </p:spPr>
        <p:txBody>
          <a:bodyPr/>
          <a:lstStyle/>
          <a:p>
            <a:endParaRPr lang="ro-RO" sz="1200"/>
          </a:p>
        </p:txBody>
      </p:sp>
      <p:sp>
        <p:nvSpPr>
          <p:cNvPr id="18" name="Shape 16"/>
          <p:cNvSpPr/>
          <p:nvPr/>
        </p:nvSpPr>
        <p:spPr>
          <a:xfrm>
            <a:off x="457200" y="3200400"/>
            <a:ext cx="54864" cy="1005840"/>
          </a:xfrm>
          <a:prstGeom prst="rect">
            <a:avLst/>
          </a:prstGeom>
          <a:solidFill>
            <a:srgbClr val="FF4757"/>
          </a:solidFill>
          <a:ln/>
        </p:spPr>
        <p:txBody>
          <a:bodyPr/>
          <a:lstStyle/>
          <a:p>
            <a:endParaRPr lang="ro-RO" sz="1200"/>
          </a:p>
        </p:txBody>
      </p:sp>
      <p:sp>
        <p:nvSpPr>
          <p:cNvPr id="19" name="Text 17"/>
          <p:cNvSpPr/>
          <p:nvPr/>
        </p:nvSpPr>
        <p:spPr>
          <a:xfrm>
            <a:off x="685800" y="3200400"/>
            <a:ext cx="914400" cy="320040"/>
          </a:xfrm>
          <a:prstGeom prst="rect">
            <a:avLst/>
          </a:prstGeom>
          <a:noFill/>
          <a:ln/>
        </p:spPr>
        <p:txBody>
          <a:bodyPr wrap="square" lIns="0" tIns="0" rIns="0" bIns="0" rtlCol="0" anchor="ctr"/>
          <a:lstStyle/>
          <a:p>
            <a:pPr marL="0" indent="0">
              <a:buNone/>
            </a:pPr>
            <a:r>
              <a:rPr lang="en-US" sz="1100" b="1" dirty="0">
                <a:solidFill>
                  <a:srgbClr val="B02532"/>
                </a:solidFill>
                <a:latin typeface="Palatino Linotype" pitchFamily="34" charset="0"/>
                <a:ea typeface="Palatino Linotype" pitchFamily="34" charset="-122"/>
                <a:cs typeface="Palatino Linotype" pitchFamily="34" charset="-120"/>
              </a:rPr>
              <a:t>Definiție:</a:t>
            </a:r>
            <a:endParaRPr lang="en-US" sz="1200" dirty="0"/>
          </a:p>
        </p:txBody>
      </p:sp>
      <p:sp>
        <p:nvSpPr>
          <p:cNvPr id="20" name="Text 18"/>
          <p:cNvSpPr/>
          <p:nvPr/>
        </p:nvSpPr>
        <p:spPr>
          <a:xfrm>
            <a:off x="685800" y="3520440"/>
            <a:ext cx="7772400" cy="640080"/>
          </a:xfrm>
          <a:prstGeom prst="rect">
            <a:avLst/>
          </a:prstGeom>
          <a:noFill/>
          <a:ln/>
        </p:spPr>
        <p:txBody>
          <a:bodyPr wrap="square" lIns="0" tIns="0" rIns="0" bIns="0" rtlCol="0" anchor="t"/>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Constituția OMS (adoptată în 1946, în vigoare din 1948): sănătatea este „o stare de complet bine fizic, mintal și social, și nu doar absența bolii sau a infirmității”. Stucki și colaboratorii (2018): tendințele sugerează că indicatorii-cheie vor include, pe lângă mortalitate și morbiditate, funcționarea; recuperarea va deveni strategia-cheie a secolului XXI.</a:t>
            </a:r>
            <a:endParaRPr lang="en-US" sz="1200" dirty="0"/>
          </a:p>
        </p:txBody>
      </p:sp>
      <p:sp>
        <p:nvSpPr>
          <p:cNvPr id="21" name="Shape 19"/>
          <p:cNvSpPr/>
          <p:nvPr/>
        </p:nvSpPr>
        <p:spPr>
          <a:xfrm>
            <a:off x="0" y="4709160"/>
            <a:ext cx="9144000" cy="434340"/>
          </a:xfrm>
          <a:prstGeom prst="rect">
            <a:avLst/>
          </a:prstGeom>
          <a:noFill/>
          <a:ln/>
        </p:spPr>
        <p:txBody>
          <a:bodyPr/>
          <a:lstStyle/>
          <a:p>
            <a:endParaRPr lang="ro-RO" sz="1200"/>
          </a:p>
        </p:txBody>
      </p:sp>
      <p:sp>
        <p:nvSpPr>
          <p:cNvPr id="22"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3"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8 / 60</a:t>
            </a:r>
            <a:endParaRPr lang="en-US" sz="12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Cât credeți că este?</a:t>
            </a:r>
            <a:endParaRPr lang="en-US" sz="2400" dirty="0"/>
          </a:p>
        </p:txBody>
      </p:sp>
      <p:pic>
        <p:nvPicPr>
          <p:cNvPr id="3" name="Image 0" descr="preencoded.png"/>
          <p:cNvPicPr>
            <a:picLocks noChangeAspect="1"/>
          </p:cNvPicPr>
          <p:nvPr/>
        </p:nvPicPr>
        <p:blipFill>
          <a:blip r:embed="rId2"/>
          <a:stretch>
            <a:fillRect/>
          </a:stretch>
        </p:blipFill>
        <p:spPr>
          <a:xfrm>
            <a:off x="457200" y="1005840"/>
            <a:ext cx="365760" cy="365760"/>
          </a:xfrm>
          <a:prstGeom prst="rect">
            <a:avLst/>
          </a:prstGeom>
        </p:spPr>
      </p:pic>
      <p:sp>
        <p:nvSpPr>
          <p:cNvPr id="4" name="Text 1"/>
          <p:cNvSpPr/>
          <p:nvPr/>
        </p:nvSpPr>
        <p:spPr>
          <a:xfrm>
            <a:off x="914400" y="1005840"/>
            <a:ext cx="7315200" cy="365760"/>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Câți ani a fost speranța de viață la naștere în România în 2024?</a:t>
            </a:r>
            <a:endParaRPr lang="en-US" sz="1400" dirty="0"/>
          </a:p>
        </p:txBody>
      </p:sp>
      <p:sp>
        <p:nvSpPr>
          <p:cNvPr id="5" name="Shape 2"/>
          <p:cNvSpPr/>
          <p:nvPr/>
        </p:nvSpPr>
        <p:spPr>
          <a:xfrm>
            <a:off x="457200" y="1737360"/>
            <a:ext cx="3931920" cy="822960"/>
          </a:xfrm>
          <a:prstGeom prst="rect">
            <a:avLst/>
          </a:prstGeom>
          <a:solidFill>
            <a:srgbClr val="ECEAE4"/>
          </a:solidFill>
          <a:ln/>
          <a:effectLst/>
        </p:spPr>
        <p:txBody>
          <a:bodyPr/>
          <a:lstStyle/>
          <a:p>
            <a:endParaRPr lang="ro-RO"/>
          </a:p>
        </p:txBody>
      </p:sp>
      <p:sp>
        <p:nvSpPr>
          <p:cNvPr id="6" name="Shape 3"/>
          <p:cNvSpPr/>
          <p:nvPr/>
        </p:nvSpPr>
        <p:spPr>
          <a:xfrm>
            <a:off x="457200" y="1737360"/>
            <a:ext cx="457200" cy="822960"/>
          </a:xfrm>
          <a:prstGeom prst="rect">
            <a:avLst/>
          </a:prstGeom>
          <a:solidFill>
            <a:srgbClr val="0E7C6B"/>
          </a:solidFill>
          <a:ln/>
        </p:spPr>
        <p:txBody>
          <a:bodyPr/>
          <a:lstStyle/>
          <a:p>
            <a:endParaRPr lang="ro-RO"/>
          </a:p>
        </p:txBody>
      </p:sp>
      <p:sp>
        <p:nvSpPr>
          <p:cNvPr id="7" name="Text 4"/>
          <p:cNvSpPr/>
          <p:nvPr/>
        </p:nvSpPr>
        <p:spPr>
          <a:xfrm>
            <a:off x="457200" y="1737360"/>
            <a:ext cx="45720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A</a:t>
            </a:r>
            <a:endParaRPr lang="en-US" sz="1800" dirty="0"/>
          </a:p>
        </p:txBody>
      </p:sp>
      <p:sp>
        <p:nvSpPr>
          <p:cNvPr id="8" name="Text 5"/>
          <p:cNvSpPr/>
          <p:nvPr/>
        </p:nvSpPr>
        <p:spPr>
          <a:xfrm>
            <a:off x="1005840" y="1737360"/>
            <a:ext cx="3200400" cy="822960"/>
          </a:xfrm>
          <a:prstGeom prst="rect">
            <a:avLst/>
          </a:prstGeom>
          <a:noFill/>
          <a:ln/>
        </p:spPr>
        <p:txBody>
          <a:bodyPr wrap="square" lIns="0" tIns="0" rIns="0" bIns="0" rtlCol="0" anchor="ctr"/>
          <a:lstStyle/>
          <a:p>
            <a:pPr marL="0" indent="0">
              <a:buNone/>
            </a:pPr>
            <a:r>
              <a:rPr lang="en-US" sz="2000" b="1" dirty="0">
                <a:solidFill>
                  <a:srgbClr val="11121A"/>
                </a:solidFill>
                <a:latin typeface="Palatino Linotype" pitchFamily="34" charset="0"/>
                <a:ea typeface="Palatino Linotype" pitchFamily="34" charset="-122"/>
                <a:cs typeface="Palatino Linotype" pitchFamily="34" charset="-120"/>
              </a:rPr>
              <a:t>59,2 ani</a:t>
            </a:r>
            <a:endParaRPr lang="en-US" sz="2000" dirty="0"/>
          </a:p>
        </p:txBody>
      </p:sp>
      <p:sp>
        <p:nvSpPr>
          <p:cNvPr id="9" name="Shape 6"/>
          <p:cNvSpPr/>
          <p:nvPr/>
        </p:nvSpPr>
        <p:spPr>
          <a:xfrm>
            <a:off x="4663440" y="1737360"/>
            <a:ext cx="3931920" cy="822960"/>
          </a:xfrm>
          <a:prstGeom prst="rect">
            <a:avLst/>
          </a:prstGeom>
          <a:solidFill>
            <a:srgbClr val="ECEAE4"/>
          </a:solidFill>
          <a:ln/>
          <a:effectLst/>
        </p:spPr>
        <p:txBody>
          <a:bodyPr/>
          <a:lstStyle/>
          <a:p>
            <a:endParaRPr lang="ro-RO"/>
          </a:p>
        </p:txBody>
      </p:sp>
      <p:sp>
        <p:nvSpPr>
          <p:cNvPr id="10" name="Shape 7"/>
          <p:cNvSpPr/>
          <p:nvPr/>
        </p:nvSpPr>
        <p:spPr>
          <a:xfrm>
            <a:off x="4663440" y="1737360"/>
            <a:ext cx="457200" cy="822960"/>
          </a:xfrm>
          <a:prstGeom prst="rect">
            <a:avLst/>
          </a:prstGeom>
          <a:solidFill>
            <a:srgbClr val="0E7C6B"/>
          </a:solidFill>
          <a:ln/>
        </p:spPr>
        <p:txBody>
          <a:bodyPr/>
          <a:lstStyle/>
          <a:p>
            <a:endParaRPr lang="ro-RO"/>
          </a:p>
        </p:txBody>
      </p:sp>
      <p:sp>
        <p:nvSpPr>
          <p:cNvPr id="11" name="Text 8"/>
          <p:cNvSpPr/>
          <p:nvPr/>
        </p:nvSpPr>
        <p:spPr>
          <a:xfrm>
            <a:off x="4663440" y="1737360"/>
            <a:ext cx="45720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B</a:t>
            </a:r>
            <a:endParaRPr lang="en-US" sz="1800" dirty="0"/>
          </a:p>
        </p:txBody>
      </p:sp>
      <p:sp>
        <p:nvSpPr>
          <p:cNvPr id="12" name="Text 9"/>
          <p:cNvSpPr/>
          <p:nvPr/>
        </p:nvSpPr>
        <p:spPr>
          <a:xfrm>
            <a:off x="5212080" y="1737360"/>
            <a:ext cx="3200400" cy="822960"/>
          </a:xfrm>
          <a:prstGeom prst="rect">
            <a:avLst/>
          </a:prstGeom>
          <a:noFill/>
          <a:ln/>
        </p:spPr>
        <p:txBody>
          <a:bodyPr wrap="square" lIns="0" tIns="0" rIns="0" bIns="0" rtlCol="0" anchor="ctr"/>
          <a:lstStyle/>
          <a:p>
            <a:pPr marL="0" indent="0">
              <a:buNone/>
            </a:pPr>
            <a:r>
              <a:rPr lang="en-US" sz="2000" b="1" dirty="0">
                <a:solidFill>
                  <a:srgbClr val="11121A"/>
                </a:solidFill>
                <a:latin typeface="Palatino Linotype" pitchFamily="34" charset="0"/>
                <a:ea typeface="Palatino Linotype" pitchFamily="34" charset="-122"/>
                <a:cs typeface="Palatino Linotype" pitchFamily="34" charset="-120"/>
              </a:rPr>
              <a:t>65,0 ani</a:t>
            </a:r>
            <a:endParaRPr lang="en-US" sz="2000" dirty="0"/>
          </a:p>
        </p:txBody>
      </p:sp>
      <p:sp>
        <p:nvSpPr>
          <p:cNvPr id="13" name="Shape 10"/>
          <p:cNvSpPr/>
          <p:nvPr/>
        </p:nvSpPr>
        <p:spPr>
          <a:xfrm>
            <a:off x="457200" y="2743200"/>
            <a:ext cx="3931920" cy="822960"/>
          </a:xfrm>
          <a:prstGeom prst="rect">
            <a:avLst/>
          </a:prstGeom>
          <a:solidFill>
            <a:srgbClr val="ECEAE4"/>
          </a:solidFill>
          <a:ln/>
          <a:effectLst/>
        </p:spPr>
        <p:txBody>
          <a:bodyPr/>
          <a:lstStyle/>
          <a:p>
            <a:endParaRPr lang="ro-RO"/>
          </a:p>
        </p:txBody>
      </p:sp>
      <p:sp>
        <p:nvSpPr>
          <p:cNvPr id="14" name="Shape 11"/>
          <p:cNvSpPr/>
          <p:nvPr/>
        </p:nvSpPr>
        <p:spPr>
          <a:xfrm>
            <a:off x="457200" y="2743200"/>
            <a:ext cx="457200" cy="822960"/>
          </a:xfrm>
          <a:prstGeom prst="rect">
            <a:avLst/>
          </a:prstGeom>
          <a:solidFill>
            <a:srgbClr val="0E7C6B"/>
          </a:solidFill>
          <a:ln/>
        </p:spPr>
        <p:txBody>
          <a:bodyPr/>
          <a:lstStyle/>
          <a:p>
            <a:endParaRPr lang="ro-RO"/>
          </a:p>
        </p:txBody>
      </p:sp>
      <p:sp>
        <p:nvSpPr>
          <p:cNvPr id="15" name="Text 12"/>
          <p:cNvSpPr/>
          <p:nvPr/>
        </p:nvSpPr>
        <p:spPr>
          <a:xfrm>
            <a:off x="457200" y="2743200"/>
            <a:ext cx="45720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C</a:t>
            </a:r>
            <a:endParaRPr lang="en-US" sz="1800" dirty="0"/>
          </a:p>
        </p:txBody>
      </p:sp>
      <p:sp>
        <p:nvSpPr>
          <p:cNvPr id="16" name="Text 13"/>
          <p:cNvSpPr/>
          <p:nvPr/>
        </p:nvSpPr>
        <p:spPr>
          <a:xfrm>
            <a:off x="1005840" y="2743200"/>
            <a:ext cx="3200400" cy="822960"/>
          </a:xfrm>
          <a:prstGeom prst="rect">
            <a:avLst/>
          </a:prstGeom>
          <a:noFill/>
          <a:ln/>
        </p:spPr>
        <p:txBody>
          <a:bodyPr wrap="square" lIns="0" tIns="0" rIns="0" bIns="0" rtlCol="0" anchor="ctr"/>
          <a:lstStyle/>
          <a:p>
            <a:pPr marL="0" indent="0">
              <a:buNone/>
            </a:pPr>
            <a:r>
              <a:rPr lang="en-US" sz="2000" b="1" dirty="0">
                <a:solidFill>
                  <a:srgbClr val="11121A"/>
                </a:solidFill>
                <a:latin typeface="Palatino Linotype" pitchFamily="34" charset="0"/>
                <a:ea typeface="Palatino Linotype" pitchFamily="34" charset="-122"/>
                <a:cs typeface="Palatino Linotype" pitchFamily="34" charset="-120"/>
              </a:rPr>
              <a:t>76,5 ani</a:t>
            </a:r>
            <a:endParaRPr lang="en-US" sz="2000" dirty="0"/>
          </a:p>
        </p:txBody>
      </p:sp>
      <p:sp>
        <p:nvSpPr>
          <p:cNvPr id="17" name="Shape 14"/>
          <p:cNvSpPr/>
          <p:nvPr/>
        </p:nvSpPr>
        <p:spPr>
          <a:xfrm>
            <a:off x="4663440" y="2743200"/>
            <a:ext cx="3931920" cy="822960"/>
          </a:xfrm>
          <a:prstGeom prst="rect">
            <a:avLst/>
          </a:prstGeom>
          <a:solidFill>
            <a:srgbClr val="ECEAE4"/>
          </a:solidFill>
          <a:ln/>
          <a:effectLst/>
        </p:spPr>
        <p:txBody>
          <a:bodyPr/>
          <a:lstStyle/>
          <a:p>
            <a:endParaRPr lang="ro-RO"/>
          </a:p>
        </p:txBody>
      </p:sp>
      <p:sp>
        <p:nvSpPr>
          <p:cNvPr id="18" name="Shape 15"/>
          <p:cNvSpPr/>
          <p:nvPr/>
        </p:nvSpPr>
        <p:spPr>
          <a:xfrm>
            <a:off x="4663440" y="2743200"/>
            <a:ext cx="457200" cy="822960"/>
          </a:xfrm>
          <a:prstGeom prst="rect">
            <a:avLst/>
          </a:prstGeom>
          <a:solidFill>
            <a:srgbClr val="0E7C6B"/>
          </a:solidFill>
          <a:ln/>
        </p:spPr>
        <p:txBody>
          <a:bodyPr/>
          <a:lstStyle/>
          <a:p>
            <a:endParaRPr lang="ro-RO"/>
          </a:p>
        </p:txBody>
      </p:sp>
      <p:sp>
        <p:nvSpPr>
          <p:cNvPr id="19" name="Text 16"/>
          <p:cNvSpPr/>
          <p:nvPr/>
        </p:nvSpPr>
        <p:spPr>
          <a:xfrm>
            <a:off x="4663440" y="2743200"/>
            <a:ext cx="45720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D</a:t>
            </a:r>
            <a:endParaRPr lang="en-US" sz="1800" dirty="0"/>
          </a:p>
        </p:txBody>
      </p:sp>
      <p:sp>
        <p:nvSpPr>
          <p:cNvPr id="20" name="Text 17"/>
          <p:cNvSpPr/>
          <p:nvPr/>
        </p:nvSpPr>
        <p:spPr>
          <a:xfrm>
            <a:off x="5212080" y="2743200"/>
            <a:ext cx="3200400" cy="822960"/>
          </a:xfrm>
          <a:prstGeom prst="rect">
            <a:avLst/>
          </a:prstGeom>
          <a:noFill/>
          <a:ln/>
        </p:spPr>
        <p:txBody>
          <a:bodyPr wrap="square" lIns="0" tIns="0" rIns="0" bIns="0" rtlCol="0" anchor="ctr"/>
          <a:lstStyle/>
          <a:p>
            <a:pPr marL="0" indent="0">
              <a:buNone/>
            </a:pPr>
            <a:r>
              <a:rPr lang="en-US" sz="2000" b="1" dirty="0">
                <a:solidFill>
                  <a:srgbClr val="11121A"/>
                </a:solidFill>
                <a:latin typeface="Palatino Linotype" pitchFamily="34" charset="0"/>
                <a:ea typeface="Palatino Linotype" pitchFamily="34" charset="-122"/>
                <a:cs typeface="Palatino Linotype" pitchFamily="34" charset="-120"/>
              </a:rPr>
              <a:t>81,5 ani</a:t>
            </a:r>
            <a:endParaRPr lang="en-US" sz="2000" dirty="0"/>
          </a:p>
        </p:txBody>
      </p:sp>
      <p:sp>
        <p:nvSpPr>
          <p:cNvPr id="21" name="Text 18"/>
          <p:cNvSpPr/>
          <p:nvPr/>
        </p:nvSpPr>
        <p:spPr>
          <a:xfrm>
            <a:off x="457200" y="4114800"/>
            <a:ext cx="8229600" cy="274320"/>
          </a:xfrm>
          <a:prstGeom prst="rect">
            <a:avLst/>
          </a:prstGeom>
          <a:noFill/>
          <a:ln/>
        </p:spPr>
        <p:txBody>
          <a:bodyPr wrap="square" lIns="0" tIns="0" rIns="0" bIns="0" rtlCol="0" anchor="ctr"/>
          <a:lstStyle/>
          <a:p>
            <a:pPr marL="0" indent="0">
              <a:buNone/>
            </a:pPr>
            <a:r>
              <a:rPr lang="en-US" sz="700" dirty="0">
                <a:solidFill>
                  <a:srgbClr val="585A64"/>
                </a:solidFill>
                <a:latin typeface="Palatino Linotype" pitchFamily="34" charset="0"/>
                <a:ea typeface="Palatino Linotype" pitchFamily="34" charset="-122"/>
                <a:cs typeface="Palatino Linotype" pitchFamily="34" charset="-120"/>
              </a:rPr>
              <a:t>Sursa: Eurostat, setul hlth_hlye (speranța de viață și anii de viață sănătoasă). Răspunsul se discută după vot.</a:t>
            </a:r>
            <a:endParaRPr lang="en-US" sz="800" dirty="0"/>
          </a:p>
        </p:txBody>
      </p:sp>
      <p:sp>
        <p:nvSpPr>
          <p:cNvPr id="22" name="Shape 19"/>
          <p:cNvSpPr/>
          <p:nvPr/>
        </p:nvSpPr>
        <p:spPr>
          <a:xfrm>
            <a:off x="0" y="4709160"/>
            <a:ext cx="9144000" cy="434340"/>
          </a:xfrm>
          <a:prstGeom prst="rect">
            <a:avLst/>
          </a:prstGeom>
          <a:noFill/>
          <a:ln/>
        </p:spPr>
        <p:txBody>
          <a:bodyPr/>
          <a:lstStyle/>
          <a:p>
            <a:endParaRPr lang="ro-RO"/>
          </a:p>
        </p:txBody>
      </p:sp>
      <p:sp>
        <p:nvSpPr>
          <p:cNvPr id="23"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4"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9 / 60</a:t>
            </a:r>
            <a:endParaRPr lang="en-US" sz="8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10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Răspunsul: patru valori, trei indicatori</a:t>
            </a:r>
          </a:p>
        </p:txBody>
      </p:sp>
      <p:sp>
        <p:nvSpPr>
          <p:cNvPr id="45" name="Rectangle 44"/>
          <p:cNvSpPr/>
          <p:nvPr/>
        </p:nvSpPr>
        <p:spPr>
          <a:xfrm>
            <a:off x="457200" y="1005840"/>
            <a:ext cx="8229600" cy="640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1005840"/>
            <a:ext cx="1737360" cy="640080"/>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1005840"/>
            <a:ext cx="1737360" cy="640080"/>
          </a:xfrm>
          <a:prstGeom prst="rect">
            <a:avLst/>
          </a:prstGeom>
          <a:noFill/>
        </p:spPr>
        <p:txBody>
          <a:bodyPr wrap="square" lIns="0" rIns="0" tIns="0" bIns="0" anchor="ctr">
            <a:spAutoFit/>
          </a:bodyPr>
          <a:lstStyle/>
          <a:p>
            <a:pPr algn="ctr"/>
            <a:r>
              <a:rPr sz="2000" b="1" i="0">
                <a:solidFill>
                  <a:srgbClr val="FFFFFF"/>
                </a:solidFill>
                <a:latin typeface="Palatino Linotype"/>
              </a:rPr>
              <a:t>76,5 ani</a:t>
            </a:r>
          </a:p>
        </p:txBody>
      </p:sp>
      <p:sp>
        <p:nvSpPr>
          <p:cNvPr id="48" name="TextBox 47"/>
          <p:cNvSpPr txBox="1"/>
          <p:nvPr/>
        </p:nvSpPr>
        <p:spPr>
          <a:xfrm>
            <a:off x="2377440" y="1005840"/>
            <a:ext cx="6126480" cy="640080"/>
          </a:xfrm>
          <a:prstGeom prst="rect">
            <a:avLst/>
          </a:prstGeom>
          <a:noFill/>
        </p:spPr>
        <p:txBody>
          <a:bodyPr wrap="square" lIns="0" rIns="0" tIns="0" bIns="0" anchor="ctr">
            <a:spAutoFit/>
          </a:bodyPr>
          <a:lstStyle/>
          <a:p>
            <a:pPr algn="l"/>
            <a:r>
              <a:rPr sz="1150" b="0" i="0">
                <a:solidFill>
                  <a:srgbClr val="11121A"/>
                </a:solidFill>
                <a:latin typeface="Palatino Linotype"/>
              </a:rPr>
              <a:t>speranța de viață la naștere, România, 2024</a:t>
            </a:r>
          </a:p>
        </p:txBody>
      </p:sp>
      <p:sp>
        <p:nvSpPr>
          <p:cNvPr id="49" name="Rectangle 48"/>
          <p:cNvSpPr/>
          <p:nvPr/>
        </p:nvSpPr>
        <p:spPr>
          <a:xfrm>
            <a:off x="457200" y="1755648"/>
            <a:ext cx="8229600" cy="640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1755648"/>
            <a:ext cx="1737360" cy="640080"/>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1755648"/>
            <a:ext cx="1737360" cy="640080"/>
          </a:xfrm>
          <a:prstGeom prst="rect">
            <a:avLst/>
          </a:prstGeom>
          <a:noFill/>
        </p:spPr>
        <p:txBody>
          <a:bodyPr wrap="square" lIns="0" rIns="0" tIns="0" bIns="0" anchor="ctr">
            <a:spAutoFit/>
          </a:bodyPr>
          <a:lstStyle/>
          <a:p>
            <a:pPr algn="ctr"/>
            <a:r>
              <a:rPr sz="2000" b="1" i="0">
                <a:solidFill>
                  <a:srgbClr val="FFFFFF"/>
                </a:solidFill>
                <a:latin typeface="Palatino Linotype"/>
              </a:rPr>
              <a:t>81,5 ani</a:t>
            </a:r>
          </a:p>
        </p:txBody>
      </p:sp>
      <p:sp>
        <p:nvSpPr>
          <p:cNvPr id="52" name="TextBox 51"/>
          <p:cNvSpPr txBox="1"/>
          <p:nvPr/>
        </p:nvSpPr>
        <p:spPr>
          <a:xfrm>
            <a:off x="2377440" y="1755648"/>
            <a:ext cx="6126480" cy="640080"/>
          </a:xfrm>
          <a:prstGeom prst="rect">
            <a:avLst/>
          </a:prstGeom>
          <a:noFill/>
        </p:spPr>
        <p:txBody>
          <a:bodyPr wrap="square" lIns="0" rIns="0" tIns="0" bIns="0" anchor="ctr">
            <a:spAutoFit/>
          </a:bodyPr>
          <a:lstStyle/>
          <a:p>
            <a:pPr algn="l"/>
            <a:r>
              <a:rPr sz="1150" b="0" i="0">
                <a:solidFill>
                  <a:srgbClr val="11121A"/>
                </a:solidFill>
                <a:latin typeface="Palatino Linotype"/>
              </a:rPr>
              <a:t>speranța de viață la naștere, UE, 2024</a:t>
            </a:r>
          </a:p>
        </p:txBody>
      </p:sp>
      <p:sp>
        <p:nvSpPr>
          <p:cNvPr id="53" name="Rectangle 52"/>
          <p:cNvSpPr/>
          <p:nvPr/>
        </p:nvSpPr>
        <p:spPr>
          <a:xfrm>
            <a:off x="457200" y="2505456"/>
            <a:ext cx="8229600" cy="640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 y="2505456"/>
            <a:ext cx="1737360" cy="64008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2505456"/>
            <a:ext cx="1737360" cy="640080"/>
          </a:xfrm>
          <a:prstGeom prst="rect">
            <a:avLst/>
          </a:prstGeom>
          <a:noFill/>
        </p:spPr>
        <p:txBody>
          <a:bodyPr wrap="square" lIns="0" rIns="0" tIns="0" bIns="0" anchor="ctr">
            <a:spAutoFit/>
          </a:bodyPr>
          <a:lstStyle/>
          <a:p>
            <a:pPr algn="ctr"/>
            <a:r>
              <a:rPr sz="2000" b="1" i="0">
                <a:solidFill>
                  <a:srgbClr val="FFFFFF"/>
                </a:solidFill>
                <a:latin typeface="Palatino Linotype"/>
              </a:rPr>
              <a:t>65,0 ani</a:t>
            </a:r>
          </a:p>
        </p:txBody>
      </p:sp>
      <p:sp>
        <p:nvSpPr>
          <p:cNvPr id="56" name="TextBox 55"/>
          <p:cNvSpPr txBox="1"/>
          <p:nvPr/>
        </p:nvSpPr>
        <p:spPr>
          <a:xfrm>
            <a:off x="2377440" y="2505456"/>
            <a:ext cx="6126480" cy="640080"/>
          </a:xfrm>
          <a:prstGeom prst="rect">
            <a:avLst/>
          </a:prstGeom>
          <a:noFill/>
        </p:spPr>
        <p:txBody>
          <a:bodyPr wrap="square" lIns="0" rIns="0" tIns="0" bIns="0" anchor="ctr">
            <a:spAutoFit/>
          </a:bodyPr>
          <a:lstStyle/>
          <a:p>
            <a:pPr algn="l"/>
            <a:r>
              <a:rPr sz="1150" b="0" i="0">
                <a:solidFill>
                  <a:srgbClr val="11121A"/>
                </a:solidFill>
                <a:latin typeface="Palatino Linotype"/>
              </a:rPr>
              <a:t>anii de viață sănătoasă la naștere, România, 2024 (b, e)</a:t>
            </a:r>
          </a:p>
        </p:txBody>
      </p:sp>
      <p:sp>
        <p:nvSpPr>
          <p:cNvPr id="57" name="Rectangle 56"/>
          <p:cNvSpPr/>
          <p:nvPr/>
        </p:nvSpPr>
        <p:spPr>
          <a:xfrm>
            <a:off x="457200" y="3255264"/>
            <a:ext cx="8229600" cy="640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3255264"/>
            <a:ext cx="1737360" cy="64008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255264"/>
            <a:ext cx="1737360" cy="640080"/>
          </a:xfrm>
          <a:prstGeom prst="rect">
            <a:avLst/>
          </a:prstGeom>
          <a:noFill/>
        </p:spPr>
        <p:txBody>
          <a:bodyPr wrap="square" lIns="0" rIns="0" tIns="0" bIns="0" anchor="ctr">
            <a:spAutoFit/>
          </a:bodyPr>
          <a:lstStyle/>
          <a:p>
            <a:pPr algn="ctr"/>
            <a:r>
              <a:rPr sz="2000" b="1" i="0">
                <a:solidFill>
                  <a:srgbClr val="FFFFFF"/>
                </a:solidFill>
                <a:latin typeface="Palatino Linotype"/>
              </a:rPr>
              <a:t>59,2 ani</a:t>
            </a:r>
          </a:p>
        </p:txBody>
      </p:sp>
      <p:sp>
        <p:nvSpPr>
          <p:cNvPr id="60" name="TextBox 59"/>
          <p:cNvSpPr txBox="1"/>
          <p:nvPr/>
        </p:nvSpPr>
        <p:spPr>
          <a:xfrm>
            <a:off x="2377440" y="3255264"/>
            <a:ext cx="6126480" cy="640080"/>
          </a:xfrm>
          <a:prstGeom prst="rect">
            <a:avLst/>
          </a:prstGeom>
          <a:noFill/>
        </p:spPr>
        <p:txBody>
          <a:bodyPr wrap="square" lIns="0" rIns="0" tIns="0" bIns="0" anchor="ctr">
            <a:spAutoFit/>
          </a:bodyPr>
          <a:lstStyle/>
          <a:p>
            <a:pPr algn="l"/>
            <a:r>
              <a:rPr sz="1150" b="0" i="0">
                <a:solidFill>
                  <a:srgbClr val="11121A"/>
                </a:solidFill>
                <a:latin typeface="Palatino Linotype"/>
              </a:rPr>
              <a:t>anii de viață sănătoasă la naștere, România, 2023 (e), înaintea rupturii de serie</a:t>
            </a:r>
          </a:p>
        </p:txBody>
      </p:sp>
      <p:sp>
        <p:nvSpPr>
          <p:cNvPr id="61" name="TextBox 60"/>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Sursa: Eurostat, hlth_hlye, extras la 27.09.2026; b = ruptură de serie, e = valoare estimată</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914400" y="1371600"/>
            <a:ext cx="731520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Palatino Linotype" pitchFamily="34" charset="0"/>
                <a:ea typeface="Palatino Linotype" pitchFamily="34" charset="-122"/>
                <a:cs typeface="Palatino Linotype" pitchFamily="34" charset="-120"/>
              </a:rPr>
              <a:t>Sănătatea publică: definiție și funcții</a:t>
            </a:r>
            <a:endParaRPr lang="en-US" sz="3600" dirty="0"/>
          </a:p>
        </p:txBody>
      </p:sp>
      <p:sp>
        <p:nvSpPr>
          <p:cNvPr id="3" name="Text 1"/>
          <p:cNvSpPr/>
          <p:nvPr/>
        </p:nvSpPr>
        <p:spPr>
          <a:xfrm>
            <a:off x="914400" y="2926080"/>
            <a:ext cx="7315200" cy="731520"/>
          </a:xfrm>
          <a:prstGeom prst="rect">
            <a:avLst/>
          </a:prstGeom>
          <a:noFill/>
          <a:ln/>
        </p:spPr>
        <p:txBody>
          <a:bodyPr wrap="square" lIns="0" tIns="0" rIns="0" bIns="0" rtlCol="0" anchor="ctr"/>
          <a:lstStyle/>
          <a:p>
            <a:pPr marL="0" indent="0" algn="ctr">
              <a:buNone/>
            </a:pPr>
            <a:r>
              <a:rPr lang="en-US" sz="1250" dirty="0">
                <a:solidFill>
                  <a:srgbClr val="FF4757"/>
                </a:solidFill>
                <a:latin typeface="Palatino Linotype" pitchFamily="34" charset="0"/>
                <a:ea typeface="Palatino Linotype" pitchFamily="34" charset="-122"/>
                <a:cs typeface="Palatino Linotype" pitchFamily="34" charset="-120"/>
              </a:rPr>
              <a:t>SECȚIUNEA B · Winslow · Acheson · Legea nr. 95/2006 · Serviciile esențiale</a:t>
            </a:r>
            <a:endParaRPr lang="en-US" sz="1400" dirty="0"/>
          </a:p>
        </p:txBody>
      </p:sp>
      <p:sp>
        <p:nvSpPr>
          <p:cNvPr id="4" name="Shape 2"/>
          <p:cNvSpPr/>
          <p:nvPr/>
        </p:nvSpPr>
        <p:spPr>
          <a:xfrm>
            <a:off x="0" y="4709160"/>
            <a:ext cx="9144000" cy="434340"/>
          </a:xfrm>
          <a:prstGeom prst="rect">
            <a:avLst/>
          </a:prstGeom>
          <a:noFill/>
          <a:ln/>
        </p:spPr>
        <p:txBody>
          <a:bodyPr/>
          <a:lstStyle/>
          <a:p>
            <a:endParaRPr lang="ro-RO"/>
          </a:p>
        </p:txBody>
      </p:sp>
      <p:sp>
        <p:nvSpPr>
          <p:cNvPr id="5" name="Text 3"/>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6" name="Text 4"/>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11 / 60</a:t>
            </a:r>
            <a:endParaRPr lang="en-US" sz="8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1800" b="1" dirty="0">
                <a:solidFill>
                  <a:srgbClr val="11121A"/>
                </a:solidFill>
                <a:latin typeface="Palatino Linotype" pitchFamily="34" charset="0"/>
                <a:ea typeface="Palatino Linotype" pitchFamily="34" charset="-122"/>
                <a:cs typeface="Palatino Linotype" pitchFamily="34" charset="-120"/>
              </a:rPr>
              <a:t>De la Winslow la legea română: definițiile sănătății publice</a:t>
            </a:r>
            <a:endParaRPr lang="en-US" sz="1800" dirty="0"/>
          </a:p>
        </p:txBody>
      </p:sp>
      <p:sp>
        <p:nvSpPr>
          <p:cNvPr id="3" name="Shape 1"/>
          <p:cNvSpPr/>
          <p:nvPr/>
        </p:nvSpPr>
        <p:spPr>
          <a:xfrm>
            <a:off x="1097280" y="2286000"/>
            <a:ext cx="6949440" cy="36576"/>
          </a:xfrm>
          <a:prstGeom prst="rect">
            <a:avLst/>
          </a:prstGeom>
          <a:solidFill>
            <a:srgbClr val="0E7C6B"/>
          </a:solidFill>
          <a:ln/>
        </p:spPr>
        <p:txBody>
          <a:bodyPr/>
          <a:lstStyle/>
          <a:p>
            <a:endParaRPr lang="ro-RO"/>
          </a:p>
        </p:txBody>
      </p:sp>
      <p:sp>
        <p:nvSpPr>
          <p:cNvPr id="4" name="Shape 2"/>
          <p:cNvSpPr/>
          <p:nvPr/>
        </p:nvSpPr>
        <p:spPr>
          <a:xfrm>
            <a:off x="1554480" y="2148840"/>
            <a:ext cx="274320" cy="274320"/>
          </a:xfrm>
          <a:prstGeom prst="ellipse">
            <a:avLst/>
          </a:prstGeom>
          <a:solidFill>
            <a:srgbClr val="0E7C6B"/>
          </a:solidFill>
          <a:ln/>
        </p:spPr>
        <p:txBody>
          <a:bodyPr/>
          <a:lstStyle/>
          <a:p>
            <a:endParaRPr lang="ro-RO"/>
          </a:p>
        </p:txBody>
      </p:sp>
      <p:sp>
        <p:nvSpPr>
          <p:cNvPr id="5" name="Text 3"/>
          <p:cNvSpPr/>
          <p:nvPr/>
        </p:nvSpPr>
        <p:spPr>
          <a:xfrm>
            <a:off x="1097280" y="1097280"/>
            <a:ext cx="1371600" cy="457200"/>
          </a:xfrm>
          <a:prstGeom prst="rect">
            <a:avLst/>
          </a:prstGeom>
          <a:noFill/>
          <a:ln/>
        </p:spPr>
        <p:txBody>
          <a:bodyPr wrap="square" lIns="0" tIns="0" rIns="0" bIns="0" rtlCol="0" anchor="ctr"/>
          <a:lstStyle/>
          <a:p>
            <a:pPr marL="0" indent="0" algn="ctr">
              <a:buNone/>
            </a:pPr>
            <a:r>
              <a:rPr lang="en-US" sz="1600" b="1" dirty="0">
                <a:solidFill>
                  <a:srgbClr val="B02532"/>
                </a:solidFill>
                <a:latin typeface="Palatino Linotype" pitchFamily="34" charset="0"/>
                <a:ea typeface="Palatino Linotype" pitchFamily="34" charset="-122"/>
                <a:cs typeface="Palatino Linotype" pitchFamily="34" charset="-120"/>
              </a:rPr>
              <a:t>1920</a:t>
            </a:r>
            <a:endParaRPr lang="en-US" sz="1600" dirty="0"/>
          </a:p>
        </p:txBody>
      </p:sp>
      <p:sp>
        <p:nvSpPr>
          <p:cNvPr id="6" name="Text 4"/>
          <p:cNvSpPr/>
          <p:nvPr/>
        </p:nvSpPr>
        <p:spPr>
          <a:xfrm>
            <a:off x="1005840" y="1554480"/>
            <a:ext cx="155448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Winslow, Science</a:t>
            </a:r>
            <a:endParaRPr lang="en-US" sz="1200" dirty="0"/>
          </a:p>
        </p:txBody>
      </p:sp>
      <p:sp>
        <p:nvSpPr>
          <p:cNvPr id="7" name="Text 5"/>
          <p:cNvSpPr/>
          <p:nvPr/>
        </p:nvSpPr>
        <p:spPr>
          <a:xfrm>
            <a:off x="960120" y="2560320"/>
            <a:ext cx="1645920" cy="1005840"/>
          </a:xfrm>
          <a:prstGeom prst="rect">
            <a:avLst/>
          </a:prstGeom>
          <a:noFill/>
          <a:ln/>
        </p:spPr>
        <p:txBody>
          <a:bodyPr wrap="square" lIns="0" tIns="0" rIns="0" bIns="0" rtlCol="0" anchor="t"/>
          <a:lstStyle/>
          <a:p>
            <a:pPr marL="0" indent="0" algn="ctr">
              <a:buNone/>
            </a:pPr>
            <a:r>
              <a:rPr lang="en-US" sz="900" dirty="0">
                <a:solidFill>
                  <a:srgbClr val="11121A"/>
                </a:solidFill>
                <a:latin typeface="Palatino Linotype" pitchFamily="34" charset="0"/>
                <a:ea typeface="Palatino Linotype" pitchFamily="34" charset="-122"/>
                <a:cs typeface="Palatino Linotype" pitchFamily="34" charset="-120"/>
              </a:rPr>
              <a:t>Știința și arta de a preveni boala, de a prelungi viața și de a promova sănătatea fizică și eficiența prin eforturile organizate ale comunității</a:t>
            </a:r>
            <a:endParaRPr lang="en-US" sz="1200" dirty="0"/>
          </a:p>
        </p:txBody>
      </p:sp>
      <p:sp>
        <p:nvSpPr>
          <p:cNvPr id="8" name="Shape 6"/>
          <p:cNvSpPr/>
          <p:nvPr/>
        </p:nvSpPr>
        <p:spPr>
          <a:xfrm>
            <a:off x="3566160" y="2148840"/>
            <a:ext cx="274320" cy="274320"/>
          </a:xfrm>
          <a:prstGeom prst="ellipse">
            <a:avLst/>
          </a:prstGeom>
          <a:solidFill>
            <a:srgbClr val="0E7C6B"/>
          </a:solidFill>
          <a:ln/>
        </p:spPr>
        <p:txBody>
          <a:bodyPr/>
          <a:lstStyle/>
          <a:p>
            <a:endParaRPr lang="ro-RO"/>
          </a:p>
        </p:txBody>
      </p:sp>
      <p:sp>
        <p:nvSpPr>
          <p:cNvPr id="9" name="Text 7"/>
          <p:cNvSpPr/>
          <p:nvPr/>
        </p:nvSpPr>
        <p:spPr>
          <a:xfrm>
            <a:off x="3108960" y="1097280"/>
            <a:ext cx="1371600" cy="457200"/>
          </a:xfrm>
          <a:prstGeom prst="rect">
            <a:avLst/>
          </a:prstGeom>
          <a:noFill/>
          <a:ln/>
        </p:spPr>
        <p:txBody>
          <a:bodyPr wrap="square" lIns="0" tIns="0" rIns="0" bIns="0" rtlCol="0" anchor="ctr"/>
          <a:lstStyle/>
          <a:p>
            <a:pPr marL="0" indent="0" algn="ctr">
              <a:buNone/>
            </a:pPr>
            <a:r>
              <a:rPr lang="en-US" sz="1600" b="1" dirty="0">
                <a:solidFill>
                  <a:srgbClr val="B02532"/>
                </a:solidFill>
                <a:latin typeface="Palatino Linotype" pitchFamily="34" charset="0"/>
                <a:ea typeface="Palatino Linotype" pitchFamily="34" charset="-122"/>
                <a:cs typeface="Palatino Linotype" pitchFamily="34" charset="-120"/>
              </a:rPr>
              <a:t>1946</a:t>
            </a:r>
            <a:endParaRPr lang="en-US" sz="1600" dirty="0"/>
          </a:p>
        </p:txBody>
      </p:sp>
      <p:sp>
        <p:nvSpPr>
          <p:cNvPr id="10" name="Text 8"/>
          <p:cNvSpPr/>
          <p:nvPr/>
        </p:nvSpPr>
        <p:spPr>
          <a:xfrm>
            <a:off x="3017520" y="1554480"/>
            <a:ext cx="155448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Constituția OMS</a:t>
            </a:r>
            <a:endParaRPr lang="en-US" sz="1200" dirty="0"/>
          </a:p>
        </p:txBody>
      </p:sp>
      <p:sp>
        <p:nvSpPr>
          <p:cNvPr id="11" name="Text 9"/>
          <p:cNvSpPr/>
          <p:nvPr/>
        </p:nvSpPr>
        <p:spPr>
          <a:xfrm>
            <a:off x="2971800" y="2560320"/>
            <a:ext cx="1645920" cy="1005840"/>
          </a:xfrm>
          <a:prstGeom prst="rect">
            <a:avLst/>
          </a:prstGeom>
          <a:noFill/>
          <a:ln/>
        </p:spPr>
        <p:txBody>
          <a:bodyPr wrap="square" lIns="0" tIns="0" rIns="0" bIns="0" rtlCol="0" anchor="t"/>
          <a:lstStyle/>
          <a:p>
            <a:pPr marL="0" indent="0" algn="ctr">
              <a:buNone/>
            </a:pPr>
            <a:r>
              <a:rPr lang="en-US" sz="900" dirty="0">
                <a:solidFill>
                  <a:srgbClr val="11121A"/>
                </a:solidFill>
                <a:latin typeface="Palatino Linotype" pitchFamily="34" charset="0"/>
                <a:ea typeface="Palatino Linotype" pitchFamily="34" charset="-122"/>
                <a:cs typeface="Palatino Linotype" pitchFamily="34" charset="-120"/>
              </a:rPr>
              <a:t>Sănătatea: stare de complet bine fizic, mintal și social, nu doar absența bolii</a:t>
            </a:r>
            <a:endParaRPr lang="en-US" sz="1200" dirty="0"/>
          </a:p>
        </p:txBody>
      </p:sp>
      <p:sp>
        <p:nvSpPr>
          <p:cNvPr id="12" name="Shape 10"/>
          <p:cNvSpPr/>
          <p:nvPr/>
        </p:nvSpPr>
        <p:spPr>
          <a:xfrm>
            <a:off x="5577840" y="2148840"/>
            <a:ext cx="274320" cy="274320"/>
          </a:xfrm>
          <a:prstGeom prst="ellipse">
            <a:avLst/>
          </a:prstGeom>
          <a:solidFill>
            <a:srgbClr val="0E7C6B"/>
          </a:solidFill>
          <a:ln/>
        </p:spPr>
        <p:txBody>
          <a:bodyPr/>
          <a:lstStyle/>
          <a:p>
            <a:endParaRPr lang="ro-RO"/>
          </a:p>
        </p:txBody>
      </p:sp>
      <p:sp>
        <p:nvSpPr>
          <p:cNvPr id="13" name="Text 11"/>
          <p:cNvSpPr/>
          <p:nvPr/>
        </p:nvSpPr>
        <p:spPr>
          <a:xfrm>
            <a:off x="5120640" y="1097280"/>
            <a:ext cx="1371600" cy="457200"/>
          </a:xfrm>
          <a:prstGeom prst="rect">
            <a:avLst/>
          </a:prstGeom>
          <a:noFill/>
          <a:ln/>
        </p:spPr>
        <p:txBody>
          <a:bodyPr wrap="square" lIns="0" tIns="0" rIns="0" bIns="0" rtlCol="0" anchor="ctr"/>
          <a:lstStyle/>
          <a:p>
            <a:pPr marL="0" indent="0" algn="ctr">
              <a:buNone/>
            </a:pPr>
            <a:r>
              <a:rPr lang="en-US" sz="1600" b="1" dirty="0">
                <a:solidFill>
                  <a:srgbClr val="B02532"/>
                </a:solidFill>
                <a:latin typeface="Palatino Linotype" pitchFamily="34" charset="0"/>
                <a:ea typeface="Palatino Linotype" pitchFamily="34" charset="-122"/>
                <a:cs typeface="Palatino Linotype" pitchFamily="34" charset="-120"/>
              </a:rPr>
              <a:t>1988</a:t>
            </a:r>
            <a:endParaRPr lang="en-US" sz="1600" dirty="0"/>
          </a:p>
        </p:txBody>
      </p:sp>
      <p:sp>
        <p:nvSpPr>
          <p:cNvPr id="14" name="Text 12"/>
          <p:cNvSpPr/>
          <p:nvPr/>
        </p:nvSpPr>
        <p:spPr>
          <a:xfrm>
            <a:off x="5029200" y="1554480"/>
            <a:ext cx="155448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Raportul Acheson</a:t>
            </a:r>
            <a:endParaRPr lang="en-US" sz="1200" dirty="0"/>
          </a:p>
        </p:txBody>
      </p:sp>
      <p:sp>
        <p:nvSpPr>
          <p:cNvPr id="15" name="Text 13"/>
          <p:cNvSpPr/>
          <p:nvPr/>
        </p:nvSpPr>
        <p:spPr>
          <a:xfrm>
            <a:off x="4983480" y="2560320"/>
            <a:ext cx="1645920" cy="1005840"/>
          </a:xfrm>
          <a:prstGeom prst="rect">
            <a:avLst/>
          </a:prstGeom>
          <a:noFill/>
          <a:ln/>
        </p:spPr>
        <p:txBody>
          <a:bodyPr wrap="square" lIns="0" tIns="0" rIns="0" bIns="0" rtlCol="0" anchor="t"/>
          <a:lstStyle/>
          <a:p>
            <a:pPr marL="0" indent="0" algn="ctr">
              <a:buNone/>
            </a:pPr>
            <a:r>
              <a:rPr lang="en-US" sz="900" dirty="0">
                <a:solidFill>
                  <a:srgbClr val="11121A"/>
                </a:solidFill>
                <a:latin typeface="Palatino Linotype" pitchFamily="34" charset="0"/>
                <a:ea typeface="Palatino Linotype" pitchFamily="34" charset="-122"/>
                <a:cs typeface="Palatino Linotype" pitchFamily="34" charset="-120"/>
              </a:rPr>
              <a:t>Știința și arta de a preveni boala, de a prelungi viața și de a promova sănătatea prin eforturile organizate ale societății</a:t>
            </a:r>
            <a:endParaRPr lang="en-US" sz="1200" dirty="0"/>
          </a:p>
        </p:txBody>
      </p:sp>
      <p:sp>
        <p:nvSpPr>
          <p:cNvPr id="16" name="Shape 14"/>
          <p:cNvSpPr/>
          <p:nvPr/>
        </p:nvSpPr>
        <p:spPr>
          <a:xfrm>
            <a:off x="7223760" y="2148840"/>
            <a:ext cx="274320" cy="274320"/>
          </a:xfrm>
          <a:prstGeom prst="ellipse">
            <a:avLst/>
          </a:prstGeom>
          <a:solidFill>
            <a:srgbClr val="0E7C6B"/>
          </a:solidFill>
          <a:ln/>
        </p:spPr>
        <p:txBody>
          <a:bodyPr/>
          <a:lstStyle/>
          <a:p>
            <a:endParaRPr lang="ro-RO"/>
          </a:p>
        </p:txBody>
      </p:sp>
      <p:sp>
        <p:nvSpPr>
          <p:cNvPr id="17" name="Text 15"/>
          <p:cNvSpPr/>
          <p:nvPr/>
        </p:nvSpPr>
        <p:spPr>
          <a:xfrm>
            <a:off x="6766560" y="1097280"/>
            <a:ext cx="1371600" cy="457200"/>
          </a:xfrm>
          <a:prstGeom prst="rect">
            <a:avLst/>
          </a:prstGeom>
          <a:noFill/>
          <a:ln/>
        </p:spPr>
        <p:txBody>
          <a:bodyPr wrap="square" lIns="0" tIns="0" rIns="0" bIns="0" rtlCol="0" anchor="ctr"/>
          <a:lstStyle/>
          <a:p>
            <a:pPr marL="0" indent="0" algn="ctr">
              <a:buNone/>
            </a:pPr>
            <a:r>
              <a:rPr lang="en-US" sz="1600" b="1" dirty="0">
                <a:solidFill>
                  <a:srgbClr val="B02532"/>
                </a:solidFill>
                <a:latin typeface="Palatino Linotype" pitchFamily="34" charset="0"/>
                <a:ea typeface="Palatino Linotype" pitchFamily="34" charset="-122"/>
                <a:cs typeface="Palatino Linotype" pitchFamily="34" charset="-120"/>
              </a:rPr>
              <a:t>România</a:t>
            </a:r>
            <a:endParaRPr lang="en-US" sz="1600" dirty="0"/>
          </a:p>
        </p:txBody>
      </p:sp>
      <p:sp>
        <p:nvSpPr>
          <p:cNvPr id="18" name="Text 16"/>
          <p:cNvSpPr/>
          <p:nvPr/>
        </p:nvSpPr>
        <p:spPr>
          <a:xfrm>
            <a:off x="6675120" y="1554480"/>
            <a:ext cx="155448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Legea nr. 95/2006</a:t>
            </a:r>
            <a:endParaRPr lang="en-US" sz="1200" dirty="0"/>
          </a:p>
        </p:txBody>
      </p:sp>
      <p:sp>
        <p:nvSpPr>
          <p:cNvPr id="19" name="Text 17"/>
          <p:cNvSpPr/>
          <p:nvPr/>
        </p:nvSpPr>
        <p:spPr>
          <a:xfrm>
            <a:off x="6629400" y="2560320"/>
            <a:ext cx="1645920" cy="1005840"/>
          </a:xfrm>
          <a:prstGeom prst="rect">
            <a:avLst/>
          </a:prstGeom>
          <a:noFill/>
          <a:ln/>
        </p:spPr>
        <p:txBody>
          <a:bodyPr wrap="square" lIns="0" tIns="0" rIns="0" bIns="0" rtlCol="0" anchor="t"/>
          <a:lstStyle/>
          <a:p>
            <a:pPr marL="0" indent="0" algn="ctr">
              <a:buNone/>
            </a:pPr>
            <a:r>
              <a:rPr lang="en-US" sz="900" dirty="0">
                <a:solidFill>
                  <a:srgbClr val="11121A"/>
                </a:solidFill>
                <a:latin typeface="Palatino Linotype" pitchFamily="34" charset="0"/>
                <a:ea typeface="Palatino Linotype" pitchFamily="34" charset="-122"/>
                <a:cs typeface="Palatino Linotype" pitchFamily="34" charset="-120"/>
              </a:rPr>
              <a:t>Asistența de sănătate publică: efortul organizat al societății pentru protejarea și promovarea sănătății populației</a:t>
            </a:r>
            <a:endParaRPr lang="en-US" sz="1200" dirty="0"/>
          </a:p>
        </p:txBody>
      </p:sp>
      <p:sp>
        <p:nvSpPr>
          <p:cNvPr id="20" name="Text 18"/>
          <p:cNvSpPr/>
          <p:nvPr/>
        </p:nvSpPr>
        <p:spPr>
          <a:xfrm>
            <a:off x="457200" y="4114800"/>
            <a:ext cx="8229600" cy="274320"/>
          </a:xfrm>
          <a:prstGeom prst="rect">
            <a:avLst/>
          </a:prstGeom>
          <a:noFill/>
          <a:ln/>
        </p:spPr>
        <p:txBody>
          <a:bodyPr wrap="square" lIns="0" tIns="0" rIns="0" bIns="0" rtlCol="0" anchor="ctr"/>
          <a:lstStyle/>
          <a:p>
            <a:pPr marL="0" indent="0">
              <a:buNone/>
            </a:pPr>
            <a:r>
              <a:rPr lang="en-US" sz="650" dirty="0">
                <a:solidFill>
                  <a:srgbClr val="585A64"/>
                </a:solidFill>
                <a:latin typeface="Palatino Linotype" pitchFamily="34" charset="0"/>
                <a:ea typeface="Palatino Linotype" pitchFamily="34" charset="-122"/>
                <a:cs typeface="Palatino Linotype" pitchFamily="34" charset="-120"/>
              </a:rPr>
              <a:t>Surse: Winslow, Science, 1920, p. 30; Constituția OMS, 1946; raportul Acheson, 1988, paragraful 1.3; Legea nr. 95/2006, art. 2 alin. (1)</a:t>
            </a:r>
            <a:endParaRPr lang="en-US" sz="700" dirty="0"/>
          </a:p>
        </p:txBody>
      </p:sp>
      <p:sp>
        <p:nvSpPr>
          <p:cNvPr id="21" name="Shape 19"/>
          <p:cNvSpPr/>
          <p:nvPr/>
        </p:nvSpPr>
        <p:spPr>
          <a:xfrm>
            <a:off x="0" y="4709160"/>
            <a:ext cx="9144000" cy="434340"/>
          </a:xfrm>
          <a:prstGeom prst="rect">
            <a:avLst/>
          </a:prstGeom>
          <a:noFill/>
          <a:ln/>
        </p:spPr>
        <p:txBody>
          <a:bodyPr/>
          <a:lstStyle/>
          <a:p>
            <a:endParaRPr lang="ro-RO"/>
          </a:p>
        </p:txBody>
      </p:sp>
      <p:sp>
        <p:nvSpPr>
          <p:cNvPr id="22"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3"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12 / 60</a:t>
            </a:r>
            <a:endParaRPr lang="en-US" sz="8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Cele cinci direcții ale lui Winslow</a:t>
            </a:r>
            <a:endParaRPr lang="en-US" sz="2400" dirty="0"/>
          </a:p>
        </p:txBody>
      </p:sp>
      <p:sp>
        <p:nvSpPr>
          <p:cNvPr id="3" name="Shape 1"/>
          <p:cNvSpPr/>
          <p:nvPr/>
        </p:nvSpPr>
        <p:spPr>
          <a:xfrm>
            <a:off x="274320" y="1005840"/>
            <a:ext cx="1554480" cy="2560320"/>
          </a:xfrm>
          <a:prstGeom prst="rect">
            <a:avLst/>
          </a:prstGeom>
          <a:solidFill>
            <a:srgbClr val="ECEAE4"/>
          </a:solidFill>
          <a:ln/>
          <a:effectLst/>
        </p:spPr>
        <p:txBody>
          <a:bodyPr/>
          <a:lstStyle/>
          <a:p>
            <a:endParaRPr lang="ro-RO" sz="1200"/>
          </a:p>
        </p:txBody>
      </p:sp>
      <p:sp>
        <p:nvSpPr>
          <p:cNvPr id="4" name="Shape 2"/>
          <p:cNvSpPr/>
          <p:nvPr/>
        </p:nvSpPr>
        <p:spPr>
          <a:xfrm>
            <a:off x="777240" y="1143000"/>
            <a:ext cx="548640" cy="548640"/>
          </a:xfrm>
          <a:prstGeom prst="ellipse">
            <a:avLst/>
          </a:prstGeom>
          <a:solidFill>
            <a:srgbClr val="0E7C6B">
              <a:alpha val="15000"/>
            </a:srgbClr>
          </a:solidFill>
          <a:ln/>
        </p:spPr>
        <p:txBody>
          <a:bodyPr/>
          <a:lstStyle/>
          <a:p>
            <a:endParaRPr lang="ro-RO" sz="1200"/>
          </a:p>
        </p:txBody>
      </p:sp>
      <p:pic>
        <p:nvPicPr>
          <p:cNvPr id="5" name="Image 0" descr="preencoded.png"/>
          <p:cNvPicPr>
            <a:picLocks noChangeAspect="1"/>
          </p:cNvPicPr>
          <p:nvPr/>
        </p:nvPicPr>
        <p:blipFill>
          <a:blip r:embed="rId2"/>
          <a:stretch>
            <a:fillRect/>
          </a:stretch>
        </p:blipFill>
        <p:spPr>
          <a:xfrm>
            <a:off x="868680" y="1234440"/>
            <a:ext cx="365760" cy="365760"/>
          </a:xfrm>
          <a:prstGeom prst="rect">
            <a:avLst/>
          </a:prstGeom>
        </p:spPr>
      </p:pic>
      <p:sp>
        <p:nvSpPr>
          <p:cNvPr id="6" name="Text 3"/>
          <p:cNvSpPr/>
          <p:nvPr/>
        </p:nvSpPr>
        <p:spPr>
          <a:xfrm>
            <a:off x="365760" y="1828800"/>
            <a:ext cx="1371600" cy="731520"/>
          </a:xfrm>
          <a:prstGeom prst="rect">
            <a:avLst/>
          </a:prstGeom>
          <a:noFill/>
          <a:ln/>
        </p:spPr>
        <p:txBody>
          <a:bodyPr wrap="square" lIns="0" tIns="0" rIns="0" bIns="0" rtlCol="0" anchor="t"/>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Controlul</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infecțiilor</a:t>
            </a:r>
            <a:endParaRPr lang="en-US" sz="1200" dirty="0"/>
          </a:p>
        </p:txBody>
      </p:sp>
      <p:sp>
        <p:nvSpPr>
          <p:cNvPr id="7" name="Text 4"/>
          <p:cNvSpPr/>
          <p:nvPr/>
        </p:nvSpPr>
        <p:spPr>
          <a:xfrm>
            <a:off x="365760" y="2651760"/>
            <a:ext cx="1371600" cy="640080"/>
          </a:xfrm>
          <a:prstGeom prst="rect">
            <a:avLst/>
          </a:prstGeom>
          <a:noFill/>
          <a:ln/>
        </p:spPr>
        <p:txBody>
          <a:bodyPr wrap="square" lIns="0" tIns="0" rIns="0" bIns="0" rtlCol="0" anchor="t"/>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din comunitate</a:t>
            </a:r>
            <a:endParaRPr lang="en-US" sz="1200" dirty="0"/>
          </a:p>
        </p:txBody>
      </p:sp>
      <p:sp>
        <p:nvSpPr>
          <p:cNvPr id="8" name="Shape 5"/>
          <p:cNvSpPr/>
          <p:nvPr/>
        </p:nvSpPr>
        <p:spPr>
          <a:xfrm>
            <a:off x="2011680" y="1005840"/>
            <a:ext cx="1554480" cy="2560320"/>
          </a:xfrm>
          <a:prstGeom prst="rect">
            <a:avLst/>
          </a:prstGeom>
          <a:solidFill>
            <a:srgbClr val="ECEAE4"/>
          </a:solidFill>
          <a:ln/>
          <a:effectLst/>
        </p:spPr>
        <p:txBody>
          <a:bodyPr/>
          <a:lstStyle/>
          <a:p>
            <a:endParaRPr lang="ro-RO" sz="1200"/>
          </a:p>
        </p:txBody>
      </p:sp>
      <p:sp>
        <p:nvSpPr>
          <p:cNvPr id="9" name="Shape 6"/>
          <p:cNvSpPr/>
          <p:nvPr/>
        </p:nvSpPr>
        <p:spPr>
          <a:xfrm>
            <a:off x="2514600" y="1143000"/>
            <a:ext cx="548640" cy="548640"/>
          </a:xfrm>
          <a:prstGeom prst="ellipse">
            <a:avLst/>
          </a:prstGeom>
          <a:solidFill>
            <a:srgbClr val="0E7C6B">
              <a:alpha val="15000"/>
            </a:srgbClr>
          </a:solidFill>
          <a:ln/>
        </p:spPr>
        <p:txBody>
          <a:bodyPr/>
          <a:lstStyle/>
          <a:p>
            <a:endParaRPr lang="ro-RO" sz="1200"/>
          </a:p>
        </p:txBody>
      </p:sp>
      <p:pic>
        <p:nvPicPr>
          <p:cNvPr id="10" name="Image 1" descr="preencoded.png"/>
          <p:cNvPicPr>
            <a:picLocks noChangeAspect="1"/>
          </p:cNvPicPr>
          <p:nvPr/>
        </p:nvPicPr>
        <p:blipFill>
          <a:blip r:embed="rId3"/>
          <a:stretch>
            <a:fillRect/>
          </a:stretch>
        </p:blipFill>
        <p:spPr>
          <a:xfrm>
            <a:off x="2606040" y="1234440"/>
            <a:ext cx="365760" cy="365760"/>
          </a:xfrm>
          <a:prstGeom prst="rect">
            <a:avLst/>
          </a:prstGeom>
        </p:spPr>
      </p:pic>
      <p:sp>
        <p:nvSpPr>
          <p:cNvPr id="11" name="Text 7"/>
          <p:cNvSpPr/>
          <p:nvPr/>
        </p:nvSpPr>
        <p:spPr>
          <a:xfrm>
            <a:off x="2103120" y="1828800"/>
            <a:ext cx="1371600" cy="731520"/>
          </a:xfrm>
          <a:prstGeom prst="rect">
            <a:avLst/>
          </a:prstGeom>
          <a:noFill/>
          <a:ln/>
        </p:spPr>
        <p:txBody>
          <a:bodyPr wrap="square" lIns="0" tIns="0" rIns="0" bIns="0" rtlCol="0" anchor="t"/>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Educația</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pentru igienă</a:t>
            </a:r>
            <a:endParaRPr lang="en-US" sz="1200" dirty="0"/>
          </a:p>
        </p:txBody>
      </p:sp>
      <p:sp>
        <p:nvSpPr>
          <p:cNvPr id="12" name="Text 8"/>
          <p:cNvSpPr/>
          <p:nvPr/>
        </p:nvSpPr>
        <p:spPr>
          <a:xfrm>
            <a:off x="2103120" y="2651760"/>
            <a:ext cx="1371600" cy="640080"/>
          </a:xfrm>
          <a:prstGeom prst="rect">
            <a:avLst/>
          </a:prstGeom>
          <a:noFill/>
          <a:ln/>
        </p:spPr>
        <p:txBody>
          <a:bodyPr wrap="square" lIns="0" tIns="0" rIns="0" bIns="0" rtlCol="0" anchor="t"/>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a fiecărei persoane</a:t>
            </a:r>
            <a:endParaRPr lang="en-US" sz="1200" dirty="0"/>
          </a:p>
        </p:txBody>
      </p:sp>
      <p:sp>
        <p:nvSpPr>
          <p:cNvPr id="13" name="Shape 9"/>
          <p:cNvSpPr/>
          <p:nvPr/>
        </p:nvSpPr>
        <p:spPr>
          <a:xfrm>
            <a:off x="3749040" y="1005840"/>
            <a:ext cx="1554480" cy="2560320"/>
          </a:xfrm>
          <a:prstGeom prst="rect">
            <a:avLst/>
          </a:prstGeom>
          <a:solidFill>
            <a:srgbClr val="ECEAE4"/>
          </a:solidFill>
          <a:ln/>
          <a:effectLst/>
        </p:spPr>
        <p:txBody>
          <a:bodyPr/>
          <a:lstStyle/>
          <a:p>
            <a:endParaRPr lang="ro-RO" sz="1200"/>
          </a:p>
        </p:txBody>
      </p:sp>
      <p:sp>
        <p:nvSpPr>
          <p:cNvPr id="14" name="Shape 10"/>
          <p:cNvSpPr/>
          <p:nvPr/>
        </p:nvSpPr>
        <p:spPr>
          <a:xfrm>
            <a:off x="4251960" y="1143000"/>
            <a:ext cx="548640" cy="548640"/>
          </a:xfrm>
          <a:prstGeom prst="ellipse">
            <a:avLst/>
          </a:prstGeom>
          <a:solidFill>
            <a:srgbClr val="0E7C6B">
              <a:alpha val="15000"/>
            </a:srgbClr>
          </a:solidFill>
          <a:ln/>
        </p:spPr>
        <p:txBody>
          <a:bodyPr/>
          <a:lstStyle/>
          <a:p>
            <a:endParaRPr lang="ro-RO" sz="1200"/>
          </a:p>
        </p:txBody>
      </p:sp>
      <p:pic>
        <p:nvPicPr>
          <p:cNvPr id="15" name="Image 2" descr="preencoded.png"/>
          <p:cNvPicPr>
            <a:picLocks noChangeAspect="1"/>
          </p:cNvPicPr>
          <p:nvPr/>
        </p:nvPicPr>
        <p:blipFill>
          <a:blip r:embed="rId4"/>
          <a:stretch>
            <a:fillRect/>
          </a:stretch>
        </p:blipFill>
        <p:spPr>
          <a:xfrm>
            <a:off x="4343400" y="1234440"/>
            <a:ext cx="365760" cy="365760"/>
          </a:xfrm>
          <a:prstGeom prst="rect">
            <a:avLst/>
          </a:prstGeom>
        </p:spPr>
      </p:pic>
      <p:sp>
        <p:nvSpPr>
          <p:cNvPr id="16" name="Text 11"/>
          <p:cNvSpPr/>
          <p:nvPr/>
        </p:nvSpPr>
        <p:spPr>
          <a:xfrm>
            <a:off x="3840480" y="1828800"/>
            <a:ext cx="1371600" cy="731520"/>
          </a:xfrm>
          <a:prstGeom prst="rect">
            <a:avLst/>
          </a:prstGeom>
          <a:noFill/>
          <a:ln/>
        </p:spPr>
        <p:txBody>
          <a:bodyPr wrap="square" lIns="0" tIns="0" rIns="0" bIns="0" rtlCol="0" anchor="t"/>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Serviciile</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medicale</a:t>
            </a:r>
            <a:endParaRPr lang="en-US" sz="1200" dirty="0"/>
          </a:p>
        </p:txBody>
      </p:sp>
      <p:sp>
        <p:nvSpPr>
          <p:cNvPr id="17" name="Text 12"/>
          <p:cNvSpPr/>
          <p:nvPr/>
        </p:nvSpPr>
        <p:spPr>
          <a:xfrm>
            <a:off x="3840480" y="2651760"/>
            <a:ext cx="1371600" cy="640080"/>
          </a:xfrm>
          <a:prstGeom prst="rect">
            <a:avLst/>
          </a:prstGeom>
          <a:noFill/>
          <a:ln/>
        </p:spPr>
        <p:txBody>
          <a:bodyPr wrap="square" lIns="0" tIns="0" rIns="0" bIns="0" rtlCol="0" anchor="t"/>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diagnostic precoce, tratament preventiv</a:t>
            </a:r>
            <a:endParaRPr lang="en-US" sz="1200" dirty="0"/>
          </a:p>
        </p:txBody>
      </p:sp>
      <p:sp>
        <p:nvSpPr>
          <p:cNvPr id="18" name="Shape 13"/>
          <p:cNvSpPr/>
          <p:nvPr/>
        </p:nvSpPr>
        <p:spPr>
          <a:xfrm>
            <a:off x="5486400" y="1005840"/>
            <a:ext cx="1554480" cy="2560320"/>
          </a:xfrm>
          <a:prstGeom prst="rect">
            <a:avLst/>
          </a:prstGeom>
          <a:solidFill>
            <a:srgbClr val="ECEAE4"/>
          </a:solidFill>
          <a:ln/>
          <a:effectLst/>
        </p:spPr>
        <p:txBody>
          <a:bodyPr/>
          <a:lstStyle/>
          <a:p>
            <a:endParaRPr lang="ro-RO" sz="1200"/>
          </a:p>
        </p:txBody>
      </p:sp>
      <p:sp>
        <p:nvSpPr>
          <p:cNvPr id="19" name="Shape 14"/>
          <p:cNvSpPr/>
          <p:nvPr/>
        </p:nvSpPr>
        <p:spPr>
          <a:xfrm>
            <a:off x="5989320" y="1143000"/>
            <a:ext cx="548640" cy="548640"/>
          </a:xfrm>
          <a:prstGeom prst="ellipse">
            <a:avLst/>
          </a:prstGeom>
          <a:solidFill>
            <a:srgbClr val="0E7C6B">
              <a:alpha val="15000"/>
            </a:srgbClr>
          </a:solidFill>
          <a:ln/>
        </p:spPr>
        <p:txBody>
          <a:bodyPr/>
          <a:lstStyle/>
          <a:p>
            <a:endParaRPr lang="ro-RO" sz="1200"/>
          </a:p>
        </p:txBody>
      </p:sp>
      <p:pic>
        <p:nvPicPr>
          <p:cNvPr id="20" name="Image 3" descr="preencoded.png"/>
          <p:cNvPicPr>
            <a:picLocks noChangeAspect="1"/>
          </p:cNvPicPr>
          <p:nvPr/>
        </p:nvPicPr>
        <p:blipFill>
          <a:blip r:embed="rId5"/>
          <a:stretch>
            <a:fillRect/>
          </a:stretch>
        </p:blipFill>
        <p:spPr>
          <a:xfrm>
            <a:off x="6080760" y="1234440"/>
            <a:ext cx="365760" cy="365760"/>
          </a:xfrm>
          <a:prstGeom prst="rect">
            <a:avLst/>
          </a:prstGeom>
        </p:spPr>
      </p:pic>
      <p:sp>
        <p:nvSpPr>
          <p:cNvPr id="21" name="Text 15"/>
          <p:cNvSpPr/>
          <p:nvPr/>
        </p:nvSpPr>
        <p:spPr>
          <a:xfrm>
            <a:off x="5577840" y="1828800"/>
            <a:ext cx="1371600" cy="731520"/>
          </a:xfrm>
          <a:prstGeom prst="rect">
            <a:avLst/>
          </a:prstGeom>
          <a:noFill/>
          <a:ln/>
        </p:spPr>
        <p:txBody>
          <a:bodyPr wrap="square" lIns="0" tIns="0" rIns="0" bIns="0" rtlCol="0" anchor="t"/>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Nivelul</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de trai</a:t>
            </a:r>
            <a:endParaRPr lang="en-US" sz="1200" dirty="0"/>
          </a:p>
        </p:txBody>
      </p:sp>
      <p:sp>
        <p:nvSpPr>
          <p:cNvPr id="22" name="Text 16"/>
          <p:cNvSpPr/>
          <p:nvPr/>
        </p:nvSpPr>
        <p:spPr>
          <a:xfrm>
            <a:off x="5577840" y="2651760"/>
            <a:ext cx="1371600" cy="640080"/>
          </a:xfrm>
          <a:prstGeom prst="rect">
            <a:avLst/>
          </a:prstGeom>
          <a:noFill/>
          <a:ln/>
        </p:spPr>
        <p:txBody>
          <a:bodyPr wrap="square" lIns="0" tIns="0" rIns="0" bIns="0" rtlCol="0" anchor="t"/>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mecanismul social al sănătății</a:t>
            </a:r>
            <a:endParaRPr lang="en-US" sz="1200" dirty="0"/>
          </a:p>
        </p:txBody>
      </p:sp>
      <p:sp>
        <p:nvSpPr>
          <p:cNvPr id="23" name="Shape 17"/>
          <p:cNvSpPr/>
          <p:nvPr/>
        </p:nvSpPr>
        <p:spPr>
          <a:xfrm>
            <a:off x="7223760" y="1005840"/>
            <a:ext cx="1554480" cy="2560320"/>
          </a:xfrm>
          <a:prstGeom prst="rect">
            <a:avLst/>
          </a:prstGeom>
          <a:solidFill>
            <a:srgbClr val="ECEAE4"/>
          </a:solidFill>
          <a:ln/>
          <a:effectLst/>
        </p:spPr>
        <p:txBody>
          <a:bodyPr/>
          <a:lstStyle/>
          <a:p>
            <a:endParaRPr lang="ro-RO" sz="1200"/>
          </a:p>
        </p:txBody>
      </p:sp>
      <p:sp>
        <p:nvSpPr>
          <p:cNvPr id="24" name="Shape 18"/>
          <p:cNvSpPr/>
          <p:nvPr/>
        </p:nvSpPr>
        <p:spPr>
          <a:xfrm>
            <a:off x="7726680" y="1143000"/>
            <a:ext cx="548640" cy="548640"/>
          </a:xfrm>
          <a:prstGeom prst="ellipse">
            <a:avLst/>
          </a:prstGeom>
          <a:solidFill>
            <a:srgbClr val="0E7C6B">
              <a:alpha val="15000"/>
            </a:srgbClr>
          </a:solidFill>
          <a:ln/>
        </p:spPr>
        <p:txBody>
          <a:bodyPr/>
          <a:lstStyle/>
          <a:p>
            <a:endParaRPr lang="ro-RO" sz="1200"/>
          </a:p>
        </p:txBody>
      </p:sp>
      <p:pic>
        <p:nvPicPr>
          <p:cNvPr id="25" name="Image 4" descr="preencoded.png"/>
          <p:cNvPicPr>
            <a:picLocks noChangeAspect="1"/>
          </p:cNvPicPr>
          <p:nvPr/>
        </p:nvPicPr>
        <p:blipFill>
          <a:blip r:embed="rId6"/>
          <a:stretch>
            <a:fillRect/>
          </a:stretch>
        </p:blipFill>
        <p:spPr>
          <a:xfrm>
            <a:off x="7818120" y="1234440"/>
            <a:ext cx="365760" cy="365760"/>
          </a:xfrm>
          <a:prstGeom prst="rect">
            <a:avLst/>
          </a:prstGeom>
        </p:spPr>
      </p:pic>
      <p:sp>
        <p:nvSpPr>
          <p:cNvPr id="26" name="Text 19"/>
          <p:cNvSpPr/>
          <p:nvPr/>
        </p:nvSpPr>
        <p:spPr>
          <a:xfrm>
            <a:off x="7315200" y="1828800"/>
            <a:ext cx="1371600" cy="731520"/>
          </a:xfrm>
          <a:prstGeom prst="rect">
            <a:avLst/>
          </a:prstGeom>
          <a:noFill/>
          <a:ln/>
        </p:spPr>
        <p:txBody>
          <a:bodyPr wrap="square" lIns="0" tIns="0" rIns="0" bIns="0" rtlCol="0" anchor="t"/>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Salubrizarea</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mediului</a:t>
            </a:r>
            <a:endParaRPr lang="en-US" sz="1200" dirty="0"/>
          </a:p>
        </p:txBody>
      </p:sp>
      <p:sp>
        <p:nvSpPr>
          <p:cNvPr id="27" name="Text 20"/>
          <p:cNvSpPr/>
          <p:nvPr/>
        </p:nvSpPr>
        <p:spPr>
          <a:xfrm>
            <a:off x="7315200" y="2651760"/>
            <a:ext cx="1371600" cy="640080"/>
          </a:xfrm>
          <a:prstGeom prst="rect">
            <a:avLst/>
          </a:prstGeom>
          <a:noFill/>
          <a:ln/>
        </p:spPr>
        <p:txBody>
          <a:bodyPr wrap="square" lIns="0" tIns="0" rIns="0" bIns="0" rtlCol="0" anchor="t"/>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mediul de viață</a:t>
            </a:r>
            <a:endParaRPr lang="en-US" sz="1200" dirty="0"/>
          </a:p>
        </p:txBody>
      </p:sp>
      <p:sp>
        <p:nvSpPr>
          <p:cNvPr id="28" name="Text 21"/>
          <p:cNvSpPr/>
          <p:nvPr/>
        </p:nvSpPr>
        <p:spPr>
          <a:xfrm>
            <a:off x="457200" y="3840480"/>
            <a:ext cx="8229600" cy="365760"/>
          </a:xfrm>
          <a:prstGeom prst="rect">
            <a:avLst/>
          </a:prstGeom>
          <a:noFill/>
          <a:ln/>
        </p:spPr>
        <p:txBody>
          <a:bodyPr wrap="square" lIns="0" tIns="0" rIns="0" bIns="0" rtlCol="0" anchor="ctr"/>
          <a:lstStyle/>
          <a:p>
            <a:pPr marL="0" indent="0">
              <a:buNone/>
            </a:pPr>
            <a:r>
              <a:rPr lang="en-US" sz="1100" i="1" dirty="0">
                <a:solidFill>
                  <a:srgbClr val="11121A"/>
                </a:solidFill>
                <a:latin typeface="Palatino Linotype" pitchFamily="34" charset="0"/>
                <a:ea typeface="Palatino Linotype" pitchFamily="34" charset="-122"/>
                <a:cs typeface="Palatino Linotype" pitchFamily="34" charset="-120"/>
              </a:rPr>
              <a:t>Numai una dintre cele cinci direcții privește serviciile medicale; ultima este o condiție socială (Winslow, 1920).</a:t>
            </a:r>
            <a:endParaRPr lang="en-US" sz="1200" dirty="0"/>
          </a:p>
        </p:txBody>
      </p:sp>
      <p:sp>
        <p:nvSpPr>
          <p:cNvPr id="29" name="Shape 22"/>
          <p:cNvSpPr/>
          <p:nvPr/>
        </p:nvSpPr>
        <p:spPr>
          <a:xfrm>
            <a:off x="0" y="4709160"/>
            <a:ext cx="9144000" cy="434340"/>
          </a:xfrm>
          <a:prstGeom prst="rect">
            <a:avLst/>
          </a:prstGeom>
          <a:noFill/>
          <a:ln/>
        </p:spPr>
        <p:txBody>
          <a:bodyPr/>
          <a:lstStyle/>
          <a:p>
            <a:endParaRPr lang="ro-RO" sz="1200"/>
          </a:p>
        </p:txBody>
      </p:sp>
      <p:sp>
        <p:nvSpPr>
          <p:cNvPr id="30" name="Text 23"/>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31" name="Text 24"/>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13 / 60</a:t>
            </a:r>
            <a:endParaRPr lang="en-US" sz="12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Cele zece servicii esențiale (versiunea 2020)</a:t>
            </a:r>
            <a:endParaRPr lang="en-US" sz="2400" dirty="0"/>
          </a:p>
        </p:txBody>
      </p:sp>
      <p:sp>
        <p:nvSpPr>
          <p:cNvPr id="3" name="Shape 1"/>
          <p:cNvSpPr/>
          <p:nvPr/>
        </p:nvSpPr>
        <p:spPr>
          <a:xfrm>
            <a:off x="457200" y="1005840"/>
            <a:ext cx="2697480" cy="548640"/>
          </a:xfrm>
          <a:prstGeom prst="rect">
            <a:avLst/>
          </a:prstGeom>
          <a:solidFill>
            <a:srgbClr val="0E7C6B"/>
          </a:solidFill>
          <a:ln/>
        </p:spPr>
        <p:txBody>
          <a:bodyPr/>
          <a:lstStyle/>
          <a:p>
            <a:endParaRPr lang="ro-RO" sz="1200"/>
          </a:p>
        </p:txBody>
      </p:sp>
      <p:sp>
        <p:nvSpPr>
          <p:cNvPr id="4" name="Text 2"/>
          <p:cNvSpPr/>
          <p:nvPr/>
        </p:nvSpPr>
        <p:spPr>
          <a:xfrm>
            <a:off x="457200" y="1005840"/>
            <a:ext cx="26974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CUNOAȘTERE ȘI</a:t>
            </a:r>
            <a:endParaRPr lang="en-US" sz="1200" dirty="0"/>
          </a:p>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COMUNICARE</a:t>
            </a:r>
            <a:endParaRPr lang="en-US" sz="1200" dirty="0"/>
          </a:p>
        </p:txBody>
      </p:sp>
      <p:sp>
        <p:nvSpPr>
          <p:cNvPr id="5" name="Shape 3"/>
          <p:cNvSpPr/>
          <p:nvPr/>
        </p:nvSpPr>
        <p:spPr>
          <a:xfrm>
            <a:off x="457200" y="1691640"/>
            <a:ext cx="2697480" cy="457200"/>
          </a:xfrm>
          <a:prstGeom prst="rect">
            <a:avLst/>
          </a:prstGeom>
          <a:solidFill>
            <a:srgbClr val="ECEAE4"/>
          </a:solidFill>
          <a:ln/>
          <a:effectLst/>
        </p:spPr>
        <p:txBody>
          <a:bodyPr/>
          <a:lstStyle/>
          <a:p>
            <a:endParaRPr lang="ro-RO" sz="1200"/>
          </a:p>
        </p:txBody>
      </p:sp>
      <p:sp>
        <p:nvSpPr>
          <p:cNvPr id="6" name="Shape 4"/>
          <p:cNvSpPr/>
          <p:nvPr/>
        </p:nvSpPr>
        <p:spPr>
          <a:xfrm>
            <a:off x="457200" y="1691640"/>
            <a:ext cx="54864" cy="457200"/>
          </a:xfrm>
          <a:prstGeom prst="rect">
            <a:avLst/>
          </a:prstGeom>
          <a:solidFill>
            <a:srgbClr val="0E7C6B"/>
          </a:solidFill>
          <a:ln/>
        </p:spPr>
        <p:txBody>
          <a:bodyPr/>
          <a:lstStyle/>
          <a:p>
            <a:endParaRPr lang="ro-RO" sz="1200"/>
          </a:p>
        </p:txBody>
      </p:sp>
      <p:sp>
        <p:nvSpPr>
          <p:cNvPr id="7" name="Text 5"/>
          <p:cNvSpPr/>
          <p:nvPr/>
        </p:nvSpPr>
        <p:spPr>
          <a:xfrm>
            <a:off x="594360" y="1691640"/>
            <a:ext cx="2423160" cy="457200"/>
          </a:xfrm>
          <a:prstGeom prst="rect">
            <a:avLst/>
          </a:prstGeom>
          <a:noFill/>
          <a:ln/>
        </p:spPr>
        <p:txBody>
          <a:bodyPr wrap="square" lIns="0" tIns="0" rIns="0" bIns="0" rtlCol="0" anchor="ctr"/>
          <a:lstStyle/>
          <a:p>
            <a:pPr marL="0" indent="0">
              <a:buNone/>
            </a:pPr>
            <a:r>
              <a:rPr lang="en-US" sz="950" dirty="0">
                <a:solidFill>
                  <a:srgbClr val="11121A"/>
                </a:solidFill>
                <a:latin typeface="Palatino Linotype" pitchFamily="34" charset="0"/>
                <a:ea typeface="Palatino Linotype" pitchFamily="34" charset="-122"/>
                <a:cs typeface="Palatino Linotype" pitchFamily="34" charset="-120"/>
              </a:rPr>
              <a:t>1. Evaluarea și monitorizarea stării de sănătate</a:t>
            </a:r>
            <a:endParaRPr lang="en-US" sz="1200" dirty="0"/>
          </a:p>
        </p:txBody>
      </p:sp>
      <p:sp>
        <p:nvSpPr>
          <p:cNvPr id="8" name="Shape 6"/>
          <p:cNvSpPr/>
          <p:nvPr/>
        </p:nvSpPr>
        <p:spPr>
          <a:xfrm>
            <a:off x="457200" y="2240280"/>
            <a:ext cx="2697480" cy="457200"/>
          </a:xfrm>
          <a:prstGeom prst="rect">
            <a:avLst/>
          </a:prstGeom>
          <a:solidFill>
            <a:srgbClr val="ECEAE4"/>
          </a:solidFill>
          <a:ln/>
          <a:effectLst/>
        </p:spPr>
        <p:txBody>
          <a:bodyPr/>
          <a:lstStyle/>
          <a:p>
            <a:endParaRPr lang="ro-RO" sz="1200"/>
          </a:p>
        </p:txBody>
      </p:sp>
      <p:sp>
        <p:nvSpPr>
          <p:cNvPr id="9" name="Shape 7"/>
          <p:cNvSpPr/>
          <p:nvPr/>
        </p:nvSpPr>
        <p:spPr>
          <a:xfrm>
            <a:off x="457200" y="2240280"/>
            <a:ext cx="54864" cy="457200"/>
          </a:xfrm>
          <a:prstGeom prst="rect">
            <a:avLst/>
          </a:prstGeom>
          <a:solidFill>
            <a:srgbClr val="0E7C6B"/>
          </a:solidFill>
          <a:ln/>
        </p:spPr>
        <p:txBody>
          <a:bodyPr/>
          <a:lstStyle/>
          <a:p>
            <a:endParaRPr lang="ro-RO" sz="1200"/>
          </a:p>
        </p:txBody>
      </p:sp>
      <p:sp>
        <p:nvSpPr>
          <p:cNvPr id="10" name="Text 8"/>
          <p:cNvSpPr/>
          <p:nvPr/>
        </p:nvSpPr>
        <p:spPr>
          <a:xfrm>
            <a:off x="594360" y="2240280"/>
            <a:ext cx="2423160" cy="457200"/>
          </a:xfrm>
          <a:prstGeom prst="rect">
            <a:avLst/>
          </a:prstGeom>
          <a:noFill/>
          <a:ln/>
        </p:spPr>
        <p:txBody>
          <a:bodyPr wrap="square" lIns="0" tIns="0" rIns="0" bIns="0" rtlCol="0" anchor="ctr"/>
          <a:lstStyle/>
          <a:p>
            <a:pPr marL="0" indent="0">
              <a:buNone/>
            </a:pPr>
            <a:r>
              <a:rPr lang="en-US" sz="950" dirty="0">
                <a:solidFill>
                  <a:srgbClr val="11121A"/>
                </a:solidFill>
                <a:latin typeface="Palatino Linotype" pitchFamily="34" charset="0"/>
                <a:ea typeface="Palatino Linotype" pitchFamily="34" charset="-122"/>
                <a:cs typeface="Palatino Linotype" pitchFamily="34" charset="-120"/>
              </a:rPr>
              <a:t>2. Investigarea problemelor și a pericolelor</a:t>
            </a:r>
            <a:endParaRPr lang="en-US" sz="1200" dirty="0"/>
          </a:p>
        </p:txBody>
      </p:sp>
      <p:sp>
        <p:nvSpPr>
          <p:cNvPr id="11" name="Shape 9"/>
          <p:cNvSpPr/>
          <p:nvPr/>
        </p:nvSpPr>
        <p:spPr>
          <a:xfrm>
            <a:off x="457200" y="2788920"/>
            <a:ext cx="2697480" cy="457200"/>
          </a:xfrm>
          <a:prstGeom prst="rect">
            <a:avLst/>
          </a:prstGeom>
          <a:solidFill>
            <a:srgbClr val="ECEAE4"/>
          </a:solidFill>
          <a:ln/>
          <a:effectLst/>
        </p:spPr>
        <p:txBody>
          <a:bodyPr/>
          <a:lstStyle/>
          <a:p>
            <a:endParaRPr lang="ro-RO" sz="1200"/>
          </a:p>
        </p:txBody>
      </p:sp>
      <p:sp>
        <p:nvSpPr>
          <p:cNvPr id="12" name="Shape 10"/>
          <p:cNvSpPr/>
          <p:nvPr/>
        </p:nvSpPr>
        <p:spPr>
          <a:xfrm>
            <a:off x="457200" y="2788920"/>
            <a:ext cx="54864" cy="457200"/>
          </a:xfrm>
          <a:prstGeom prst="rect">
            <a:avLst/>
          </a:prstGeom>
          <a:solidFill>
            <a:srgbClr val="0E7C6B"/>
          </a:solidFill>
          <a:ln/>
        </p:spPr>
        <p:txBody>
          <a:bodyPr/>
          <a:lstStyle/>
          <a:p>
            <a:endParaRPr lang="ro-RO" sz="1200"/>
          </a:p>
        </p:txBody>
      </p:sp>
      <p:sp>
        <p:nvSpPr>
          <p:cNvPr id="13" name="Text 11"/>
          <p:cNvSpPr/>
          <p:nvPr/>
        </p:nvSpPr>
        <p:spPr>
          <a:xfrm>
            <a:off x="594360" y="2788920"/>
            <a:ext cx="2423160" cy="457200"/>
          </a:xfrm>
          <a:prstGeom prst="rect">
            <a:avLst/>
          </a:prstGeom>
          <a:noFill/>
          <a:ln/>
        </p:spPr>
        <p:txBody>
          <a:bodyPr wrap="square" lIns="0" tIns="0" rIns="0" bIns="0" rtlCol="0" anchor="ctr"/>
          <a:lstStyle/>
          <a:p>
            <a:pPr marL="0" indent="0">
              <a:buNone/>
            </a:pPr>
            <a:r>
              <a:rPr lang="en-US" sz="950" dirty="0">
                <a:solidFill>
                  <a:srgbClr val="11121A"/>
                </a:solidFill>
                <a:latin typeface="Palatino Linotype" pitchFamily="34" charset="0"/>
                <a:ea typeface="Palatino Linotype" pitchFamily="34" charset="-122"/>
                <a:cs typeface="Palatino Linotype" pitchFamily="34" charset="-120"/>
              </a:rPr>
              <a:t>3. Comunicarea: informare și educare</a:t>
            </a:r>
            <a:endParaRPr lang="en-US" sz="1200" dirty="0"/>
          </a:p>
        </p:txBody>
      </p:sp>
      <p:sp>
        <p:nvSpPr>
          <p:cNvPr id="14" name="Shape 12"/>
          <p:cNvSpPr/>
          <p:nvPr/>
        </p:nvSpPr>
        <p:spPr>
          <a:xfrm>
            <a:off x="3337560" y="1005840"/>
            <a:ext cx="2697480" cy="548640"/>
          </a:xfrm>
          <a:prstGeom prst="rect">
            <a:avLst/>
          </a:prstGeom>
          <a:solidFill>
            <a:srgbClr val="FF4757"/>
          </a:solidFill>
          <a:ln/>
        </p:spPr>
        <p:txBody>
          <a:bodyPr/>
          <a:lstStyle/>
          <a:p>
            <a:endParaRPr lang="ro-RO" sz="1200"/>
          </a:p>
        </p:txBody>
      </p:sp>
      <p:sp>
        <p:nvSpPr>
          <p:cNvPr id="15" name="Text 13"/>
          <p:cNvSpPr/>
          <p:nvPr/>
        </p:nvSpPr>
        <p:spPr>
          <a:xfrm>
            <a:off x="3337560" y="1005840"/>
            <a:ext cx="26974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POLITICI ȘI</a:t>
            </a:r>
            <a:endParaRPr lang="en-US" sz="1200" dirty="0"/>
          </a:p>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REGLEMENTARE</a:t>
            </a:r>
            <a:endParaRPr lang="en-US" sz="1200" dirty="0"/>
          </a:p>
        </p:txBody>
      </p:sp>
      <p:sp>
        <p:nvSpPr>
          <p:cNvPr id="16" name="Shape 14"/>
          <p:cNvSpPr/>
          <p:nvPr/>
        </p:nvSpPr>
        <p:spPr>
          <a:xfrm>
            <a:off x="3337560" y="1691640"/>
            <a:ext cx="2697480" cy="457200"/>
          </a:xfrm>
          <a:prstGeom prst="rect">
            <a:avLst/>
          </a:prstGeom>
          <a:solidFill>
            <a:srgbClr val="ECEAE4"/>
          </a:solidFill>
          <a:ln/>
          <a:effectLst/>
        </p:spPr>
        <p:txBody>
          <a:bodyPr/>
          <a:lstStyle/>
          <a:p>
            <a:endParaRPr lang="ro-RO" sz="1200"/>
          </a:p>
        </p:txBody>
      </p:sp>
      <p:sp>
        <p:nvSpPr>
          <p:cNvPr id="17" name="Shape 15"/>
          <p:cNvSpPr/>
          <p:nvPr/>
        </p:nvSpPr>
        <p:spPr>
          <a:xfrm>
            <a:off x="3337560" y="1691640"/>
            <a:ext cx="54864" cy="457200"/>
          </a:xfrm>
          <a:prstGeom prst="rect">
            <a:avLst/>
          </a:prstGeom>
          <a:solidFill>
            <a:srgbClr val="FF4757"/>
          </a:solidFill>
          <a:ln/>
        </p:spPr>
        <p:txBody>
          <a:bodyPr/>
          <a:lstStyle/>
          <a:p>
            <a:endParaRPr lang="ro-RO" sz="1200"/>
          </a:p>
        </p:txBody>
      </p:sp>
      <p:sp>
        <p:nvSpPr>
          <p:cNvPr id="18" name="Text 16"/>
          <p:cNvSpPr/>
          <p:nvPr/>
        </p:nvSpPr>
        <p:spPr>
          <a:xfrm>
            <a:off x="3474720" y="1691640"/>
            <a:ext cx="2423160" cy="457200"/>
          </a:xfrm>
          <a:prstGeom prst="rect">
            <a:avLst/>
          </a:prstGeom>
          <a:noFill/>
          <a:ln/>
        </p:spPr>
        <p:txBody>
          <a:bodyPr wrap="square" lIns="0" tIns="0" rIns="0" bIns="0" rtlCol="0" anchor="ctr"/>
          <a:lstStyle/>
          <a:p>
            <a:pPr marL="0" indent="0">
              <a:buNone/>
            </a:pPr>
            <a:r>
              <a:rPr lang="en-US" sz="950" dirty="0">
                <a:solidFill>
                  <a:srgbClr val="11121A"/>
                </a:solidFill>
                <a:latin typeface="Palatino Linotype" pitchFamily="34" charset="0"/>
                <a:ea typeface="Palatino Linotype" pitchFamily="34" charset="-122"/>
                <a:cs typeface="Palatino Linotype" pitchFamily="34" charset="-120"/>
              </a:rPr>
              <a:t>4. Mobilizarea comunităților și a parteneriatelor</a:t>
            </a:r>
            <a:endParaRPr lang="en-US" sz="1200" dirty="0"/>
          </a:p>
        </p:txBody>
      </p:sp>
      <p:sp>
        <p:nvSpPr>
          <p:cNvPr id="19" name="Shape 17"/>
          <p:cNvSpPr/>
          <p:nvPr/>
        </p:nvSpPr>
        <p:spPr>
          <a:xfrm>
            <a:off x="3337560" y="2240280"/>
            <a:ext cx="2697480" cy="457200"/>
          </a:xfrm>
          <a:prstGeom prst="rect">
            <a:avLst/>
          </a:prstGeom>
          <a:solidFill>
            <a:srgbClr val="ECEAE4"/>
          </a:solidFill>
          <a:ln/>
          <a:effectLst/>
        </p:spPr>
        <p:txBody>
          <a:bodyPr/>
          <a:lstStyle/>
          <a:p>
            <a:endParaRPr lang="ro-RO" sz="1200"/>
          </a:p>
        </p:txBody>
      </p:sp>
      <p:sp>
        <p:nvSpPr>
          <p:cNvPr id="20" name="Shape 18"/>
          <p:cNvSpPr/>
          <p:nvPr/>
        </p:nvSpPr>
        <p:spPr>
          <a:xfrm>
            <a:off x="3337560" y="2240280"/>
            <a:ext cx="54864" cy="457200"/>
          </a:xfrm>
          <a:prstGeom prst="rect">
            <a:avLst/>
          </a:prstGeom>
          <a:solidFill>
            <a:srgbClr val="FF4757"/>
          </a:solidFill>
          <a:ln/>
        </p:spPr>
        <p:txBody>
          <a:bodyPr/>
          <a:lstStyle/>
          <a:p>
            <a:endParaRPr lang="ro-RO" sz="1200"/>
          </a:p>
        </p:txBody>
      </p:sp>
      <p:sp>
        <p:nvSpPr>
          <p:cNvPr id="21" name="Text 19"/>
          <p:cNvSpPr/>
          <p:nvPr/>
        </p:nvSpPr>
        <p:spPr>
          <a:xfrm>
            <a:off x="3474720" y="2240280"/>
            <a:ext cx="2423160" cy="457200"/>
          </a:xfrm>
          <a:prstGeom prst="rect">
            <a:avLst/>
          </a:prstGeom>
          <a:noFill/>
          <a:ln/>
        </p:spPr>
        <p:txBody>
          <a:bodyPr wrap="square" lIns="0" tIns="0" rIns="0" bIns="0" rtlCol="0" anchor="ctr"/>
          <a:lstStyle/>
          <a:p>
            <a:pPr marL="0" indent="0">
              <a:buNone/>
            </a:pPr>
            <a:r>
              <a:rPr lang="en-US" sz="950" dirty="0">
                <a:solidFill>
                  <a:srgbClr val="11121A"/>
                </a:solidFill>
                <a:latin typeface="Palatino Linotype" pitchFamily="34" charset="0"/>
                <a:ea typeface="Palatino Linotype" pitchFamily="34" charset="-122"/>
                <a:cs typeface="Palatino Linotype" pitchFamily="34" charset="-120"/>
              </a:rPr>
              <a:t>5. Politici, planuri și legi pentru sănătate</a:t>
            </a:r>
            <a:endParaRPr lang="en-US" sz="1200" dirty="0"/>
          </a:p>
        </p:txBody>
      </p:sp>
      <p:sp>
        <p:nvSpPr>
          <p:cNvPr id="22" name="Shape 20"/>
          <p:cNvSpPr/>
          <p:nvPr/>
        </p:nvSpPr>
        <p:spPr>
          <a:xfrm>
            <a:off x="3337560" y="2788920"/>
            <a:ext cx="2697480" cy="457200"/>
          </a:xfrm>
          <a:prstGeom prst="rect">
            <a:avLst/>
          </a:prstGeom>
          <a:solidFill>
            <a:srgbClr val="ECEAE4"/>
          </a:solidFill>
          <a:ln/>
          <a:effectLst/>
        </p:spPr>
        <p:txBody>
          <a:bodyPr/>
          <a:lstStyle/>
          <a:p>
            <a:endParaRPr lang="ro-RO" sz="1200"/>
          </a:p>
        </p:txBody>
      </p:sp>
      <p:sp>
        <p:nvSpPr>
          <p:cNvPr id="23" name="Shape 21"/>
          <p:cNvSpPr/>
          <p:nvPr/>
        </p:nvSpPr>
        <p:spPr>
          <a:xfrm>
            <a:off x="3337560" y="2788920"/>
            <a:ext cx="54864" cy="457200"/>
          </a:xfrm>
          <a:prstGeom prst="rect">
            <a:avLst/>
          </a:prstGeom>
          <a:solidFill>
            <a:srgbClr val="FF4757"/>
          </a:solidFill>
          <a:ln/>
        </p:spPr>
        <p:txBody>
          <a:bodyPr/>
          <a:lstStyle/>
          <a:p>
            <a:endParaRPr lang="ro-RO" sz="1200"/>
          </a:p>
        </p:txBody>
      </p:sp>
      <p:sp>
        <p:nvSpPr>
          <p:cNvPr id="24" name="Text 22"/>
          <p:cNvSpPr/>
          <p:nvPr/>
        </p:nvSpPr>
        <p:spPr>
          <a:xfrm>
            <a:off x="3474720" y="2788920"/>
            <a:ext cx="2423160" cy="457200"/>
          </a:xfrm>
          <a:prstGeom prst="rect">
            <a:avLst/>
          </a:prstGeom>
          <a:noFill/>
          <a:ln/>
        </p:spPr>
        <p:txBody>
          <a:bodyPr wrap="square" lIns="0" tIns="0" rIns="0" bIns="0" rtlCol="0" anchor="ctr"/>
          <a:lstStyle/>
          <a:p>
            <a:pPr marL="0" indent="0">
              <a:buNone/>
            </a:pPr>
            <a:r>
              <a:rPr lang="en-US" sz="950" dirty="0">
                <a:solidFill>
                  <a:srgbClr val="11121A"/>
                </a:solidFill>
                <a:latin typeface="Palatino Linotype" pitchFamily="34" charset="0"/>
                <a:ea typeface="Palatino Linotype" pitchFamily="34" charset="-122"/>
                <a:cs typeface="Palatino Linotype" pitchFamily="34" charset="-120"/>
              </a:rPr>
              <a:t>6. Acțiuni legale și de reglementare</a:t>
            </a:r>
            <a:endParaRPr lang="en-US" sz="1200" dirty="0"/>
          </a:p>
        </p:txBody>
      </p:sp>
      <p:sp>
        <p:nvSpPr>
          <p:cNvPr id="25" name="Shape 23"/>
          <p:cNvSpPr/>
          <p:nvPr/>
        </p:nvSpPr>
        <p:spPr>
          <a:xfrm>
            <a:off x="6217920" y="1005840"/>
            <a:ext cx="2697480" cy="548640"/>
          </a:xfrm>
          <a:prstGeom prst="rect">
            <a:avLst/>
          </a:prstGeom>
          <a:solidFill>
            <a:srgbClr val="0E7C6B"/>
          </a:solidFill>
          <a:ln/>
        </p:spPr>
        <p:txBody>
          <a:bodyPr/>
          <a:lstStyle/>
          <a:p>
            <a:endParaRPr lang="ro-RO" sz="1200"/>
          </a:p>
        </p:txBody>
      </p:sp>
      <p:sp>
        <p:nvSpPr>
          <p:cNvPr id="26" name="Text 24"/>
          <p:cNvSpPr/>
          <p:nvPr/>
        </p:nvSpPr>
        <p:spPr>
          <a:xfrm>
            <a:off x="6217920" y="1005840"/>
            <a:ext cx="269748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ACCES, OAMENI,</a:t>
            </a:r>
            <a:endParaRPr lang="en-US" sz="1200" dirty="0"/>
          </a:p>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CALITATE</a:t>
            </a:r>
            <a:endParaRPr lang="en-US" sz="1200" dirty="0"/>
          </a:p>
        </p:txBody>
      </p:sp>
      <p:sp>
        <p:nvSpPr>
          <p:cNvPr id="27" name="Shape 25"/>
          <p:cNvSpPr/>
          <p:nvPr/>
        </p:nvSpPr>
        <p:spPr>
          <a:xfrm>
            <a:off x="6217920" y="1691640"/>
            <a:ext cx="2697480" cy="457200"/>
          </a:xfrm>
          <a:prstGeom prst="rect">
            <a:avLst/>
          </a:prstGeom>
          <a:solidFill>
            <a:srgbClr val="ECEAE4"/>
          </a:solidFill>
          <a:ln/>
          <a:effectLst/>
        </p:spPr>
        <p:txBody>
          <a:bodyPr/>
          <a:lstStyle/>
          <a:p>
            <a:endParaRPr lang="ro-RO" sz="1200"/>
          </a:p>
        </p:txBody>
      </p:sp>
      <p:sp>
        <p:nvSpPr>
          <p:cNvPr id="28" name="Shape 26"/>
          <p:cNvSpPr/>
          <p:nvPr/>
        </p:nvSpPr>
        <p:spPr>
          <a:xfrm>
            <a:off x="6217920" y="1691640"/>
            <a:ext cx="54864" cy="457200"/>
          </a:xfrm>
          <a:prstGeom prst="rect">
            <a:avLst/>
          </a:prstGeom>
          <a:solidFill>
            <a:srgbClr val="0E7C6B"/>
          </a:solidFill>
          <a:ln/>
        </p:spPr>
        <p:txBody>
          <a:bodyPr/>
          <a:lstStyle/>
          <a:p>
            <a:endParaRPr lang="ro-RO" sz="1200"/>
          </a:p>
        </p:txBody>
      </p:sp>
      <p:sp>
        <p:nvSpPr>
          <p:cNvPr id="29" name="Text 27"/>
          <p:cNvSpPr/>
          <p:nvPr/>
        </p:nvSpPr>
        <p:spPr>
          <a:xfrm>
            <a:off x="6355080" y="1691640"/>
            <a:ext cx="2423160" cy="457200"/>
          </a:xfrm>
          <a:prstGeom prst="rect">
            <a:avLst/>
          </a:prstGeom>
          <a:noFill/>
          <a:ln/>
        </p:spPr>
        <p:txBody>
          <a:bodyPr wrap="square" lIns="0" tIns="0" rIns="0" bIns="0" rtlCol="0" anchor="ctr"/>
          <a:lstStyle/>
          <a:p>
            <a:pPr marL="0" indent="0">
              <a:buNone/>
            </a:pPr>
            <a:r>
              <a:rPr lang="en-US" sz="950" dirty="0">
                <a:solidFill>
                  <a:srgbClr val="11121A"/>
                </a:solidFill>
                <a:latin typeface="Palatino Linotype" pitchFamily="34" charset="0"/>
                <a:ea typeface="Palatino Linotype" pitchFamily="34" charset="-122"/>
                <a:cs typeface="Palatino Linotype" pitchFamily="34" charset="-120"/>
              </a:rPr>
              <a:t>7. Acces echitabil la îngrijiri</a:t>
            </a:r>
            <a:endParaRPr lang="en-US" sz="1200" dirty="0"/>
          </a:p>
        </p:txBody>
      </p:sp>
      <p:sp>
        <p:nvSpPr>
          <p:cNvPr id="30" name="Shape 28"/>
          <p:cNvSpPr/>
          <p:nvPr/>
        </p:nvSpPr>
        <p:spPr>
          <a:xfrm>
            <a:off x="6217920" y="2240280"/>
            <a:ext cx="2697480" cy="457200"/>
          </a:xfrm>
          <a:prstGeom prst="rect">
            <a:avLst/>
          </a:prstGeom>
          <a:solidFill>
            <a:srgbClr val="ECEAE4"/>
          </a:solidFill>
          <a:ln/>
          <a:effectLst/>
        </p:spPr>
        <p:txBody>
          <a:bodyPr/>
          <a:lstStyle/>
          <a:p>
            <a:endParaRPr lang="ro-RO" sz="1200"/>
          </a:p>
        </p:txBody>
      </p:sp>
      <p:sp>
        <p:nvSpPr>
          <p:cNvPr id="31" name="Shape 29"/>
          <p:cNvSpPr/>
          <p:nvPr/>
        </p:nvSpPr>
        <p:spPr>
          <a:xfrm>
            <a:off x="6217920" y="2240280"/>
            <a:ext cx="54864" cy="457200"/>
          </a:xfrm>
          <a:prstGeom prst="rect">
            <a:avLst/>
          </a:prstGeom>
          <a:solidFill>
            <a:srgbClr val="0E7C6B"/>
          </a:solidFill>
          <a:ln/>
        </p:spPr>
        <p:txBody>
          <a:bodyPr/>
          <a:lstStyle/>
          <a:p>
            <a:endParaRPr lang="ro-RO" sz="1200"/>
          </a:p>
        </p:txBody>
      </p:sp>
      <p:sp>
        <p:nvSpPr>
          <p:cNvPr id="32" name="Text 30"/>
          <p:cNvSpPr/>
          <p:nvPr/>
        </p:nvSpPr>
        <p:spPr>
          <a:xfrm>
            <a:off x="6355080" y="2240280"/>
            <a:ext cx="2423160" cy="457200"/>
          </a:xfrm>
          <a:prstGeom prst="rect">
            <a:avLst/>
          </a:prstGeom>
          <a:noFill/>
          <a:ln/>
        </p:spPr>
        <p:txBody>
          <a:bodyPr wrap="square" lIns="0" tIns="0" rIns="0" bIns="0" rtlCol="0" anchor="ctr"/>
          <a:lstStyle/>
          <a:p>
            <a:pPr marL="0" indent="0">
              <a:buNone/>
            </a:pPr>
            <a:r>
              <a:rPr lang="en-US" sz="950" dirty="0">
                <a:solidFill>
                  <a:srgbClr val="11121A"/>
                </a:solidFill>
                <a:latin typeface="Palatino Linotype" pitchFamily="34" charset="0"/>
                <a:ea typeface="Palatino Linotype" pitchFamily="34" charset="-122"/>
                <a:cs typeface="Palatino Linotype" pitchFamily="34" charset="-120"/>
              </a:rPr>
              <a:t>8. Forță de muncă diversă și calificată</a:t>
            </a:r>
            <a:endParaRPr lang="en-US" sz="1200" dirty="0"/>
          </a:p>
        </p:txBody>
      </p:sp>
      <p:sp>
        <p:nvSpPr>
          <p:cNvPr id="33" name="Shape 31"/>
          <p:cNvSpPr/>
          <p:nvPr/>
        </p:nvSpPr>
        <p:spPr>
          <a:xfrm>
            <a:off x="6217920" y="2788920"/>
            <a:ext cx="2697480" cy="457200"/>
          </a:xfrm>
          <a:prstGeom prst="rect">
            <a:avLst/>
          </a:prstGeom>
          <a:solidFill>
            <a:srgbClr val="ECEAE4"/>
          </a:solidFill>
          <a:ln/>
          <a:effectLst/>
        </p:spPr>
        <p:txBody>
          <a:bodyPr/>
          <a:lstStyle/>
          <a:p>
            <a:endParaRPr lang="ro-RO" sz="1200"/>
          </a:p>
        </p:txBody>
      </p:sp>
      <p:sp>
        <p:nvSpPr>
          <p:cNvPr id="34" name="Shape 32"/>
          <p:cNvSpPr/>
          <p:nvPr/>
        </p:nvSpPr>
        <p:spPr>
          <a:xfrm>
            <a:off x="6217920" y="2788920"/>
            <a:ext cx="54864" cy="457200"/>
          </a:xfrm>
          <a:prstGeom prst="rect">
            <a:avLst/>
          </a:prstGeom>
          <a:solidFill>
            <a:srgbClr val="0E7C6B"/>
          </a:solidFill>
          <a:ln/>
        </p:spPr>
        <p:txBody>
          <a:bodyPr/>
          <a:lstStyle/>
          <a:p>
            <a:endParaRPr lang="ro-RO" sz="1200"/>
          </a:p>
        </p:txBody>
      </p:sp>
      <p:sp>
        <p:nvSpPr>
          <p:cNvPr id="35" name="Text 33"/>
          <p:cNvSpPr/>
          <p:nvPr/>
        </p:nvSpPr>
        <p:spPr>
          <a:xfrm>
            <a:off x="6355080" y="2788920"/>
            <a:ext cx="2423160" cy="457200"/>
          </a:xfrm>
          <a:prstGeom prst="rect">
            <a:avLst/>
          </a:prstGeom>
          <a:noFill/>
          <a:ln/>
        </p:spPr>
        <p:txBody>
          <a:bodyPr wrap="square" lIns="0" tIns="0" rIns="0" bIns="0" rtlCol="0" anchor="ctr"/>
          <a:lstStyle/>
          <a:p>
            <a:pPr marL="0" indent="0">
              <a:buNone/>
            </a:pPr>
            <a:r>
              <a:rPr lang="en-US" sz="950" dirty="0">
                <a:solidFill>
                  <a:srgbClr val="11121A"/>
                </a:solidFill>
                <a:latin typeface="Palatino Linotype" pitchFamily="34" charset="0"/>
                <a:ea typeface="Palatino Linotype" pitchFamily="34" charset="-122"/>
                <a:cs typeface="Palatino Linotype" pitchFamily="34" charset="-120"/>
              </a:rPr>
              <a:t>9. Evaluare, cercetare, îmbunătățirea calității</a:t>
            </a:r>
            <a:endParaRPr lang="en-US" sz="1200" dirty="0"/>
          </a:p>
        </p:txBody>
      </p:sp>
      <p:sp>
        <p:nvSpPr>
          <p:cNvPr id="36" name="Shape 34"/>
          <p:cNvSpPr/>
          <p:nvPr/>
        </p:nvSpPr>
        <p:spPr>
          <a:xfrm>
            <a:off x="457200" y="3383280"/>
            <a:ext cx="8229600" cy="411480"/>
          </a:xfrm>
          <a:prstGeom prst="rect">
            <a:avLst/>
          </a:prstGeom>
          <a:solidFill>
            <a:srgbClr val="11121A"/>
          </a:solidFill>
          <a:ln/>
          <a:effectLst/>
        </p:spPr>
        <p:txBody>
          <a:bodyPr/>
          <a:lstStyle/>
          <a:p>
            <a:endParaRPr lang="ro-RO" sz="1200"/>
          </a:p>
        </p:txBody>
      </p:sp>
      <p:sp>
        <p:nvSpPr>
          <p:cNvPr id="37" name="Text 35"/>
          <p:cNvSpPr/>
          <p:nvPr/>
        </p:nvSpPr>
        <p:spPr>
          <a:xfrm>
            <a:off x="457200" y="3383280"/>
            <a:ext cx="82296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10. Infrastructură organizațională solidă pentru sănătatea publică</a:t>
            </a:r>
            <a:endParaRPr lang="en-US" sz="1200" dirty="0"/>
          </a:p>
        </p:txBody>
      </p:sp>
      <p:sp>
        <p:nvSpPr>
          <p:cNvPr id="38" name="Text 36"/>
          <p:cNvSpPr/>
          <p:nvPr/>
        </p:nvSpPr>
        <p:spPr>
          <a:xfrm>
            <a:off x="457200" y="4114800"/>
            <a:ext cx="8229600" cy="274320"/>
          </a:xfrm>
          <a:prstGeom prst="rect">
            <a:avLst/>
          </a:prstGeom>
          <a:noFill/>
          <a:ln/>
        </p:spPr>
        <p:txBody>
          <a:bodyPr wrap="square" lIns="0" tIns="0" rIns="0" bIns="0" rtlCol="0" anchor="ctr"/>
          <a:lstStyle/>
          <a:p>
            <a:pPr marL="0" indent="0">
              <a:buNone/>
            </a:pPr>
            <a:r>
              <a:rPr lang="en-US" sz="700" i="1" dirty="0">
                <a:solidFill>
                  <a:srgbClr val="585A64"/>
                </a:solidFill>
                <a:latin typeface="Palatino Linotype" pitchFamily="34" charset="0"/>
                <a:ea typeface="Palatino Linotype" pitchFamily="34" charset="-122"/>
                <a:cs typeface="Palatino Linotype" pitchFamily="34" charset="-120"/>
              </a:rPr>
              <a:t>Sursa: 10 Essential Public Health Services, versiunea revizuită din 2020 (de Beaumont Foundation, PHAB). Gruparea pe coloane este didactică.</a:t>
            </a:r>
            <a:endParaRPr lang="en-US" sz="800" i="1" dirty="0"/>
          </a:p>
        </p:txBody>
      </p:sp>
      <p:sp>
        <p:nvSpPr>
          <p:cNvPr id="39" name="Shape 37"/>
          <p:cNvSpPr/>
          <p:nvPr/>
        </p:nvSpPr>
        <p:spPr>
          <a:xfrm>
            <a:off x="0" y="4709160"/>
            <a:ext cx="9144000" cy="434340"/>
          </a:xfrm>
          <a:prstGeom prst="rect">
            <a:avLst/>
          </a:prstGeom>
          <a:noFill/>
          <a:ln/>
        </p:spPr>
        <p:txBody>
          <a:bodyPr/>
          <a:lstStyle/>
          <a:p>
            <a:endParaRPr lang="ro-RO" sz="1200"/>
          </a:p>
        </p:txBody>
      </p:sp>
      <p:sp>
        <p:nvSpPr>
          <p:cNvPr id="40"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1"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14 / 60</a:t>
            </a:r>
            <a:endParaRPr lang="en-US"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Sănătatea publică în legislația română</a:t>
            </a:r>
            <a:endParaRPr lang="en-US" sz="2400" dirty="0"/>
          </a:p>
        </p:txBody>
      </p:sp>
      <p:sp>
        <p:nvSpPr>
          <p:cNvPr id="3" name="Shape 1"/>
          <p:cNvSpPr/>
          <p:nvPr/>
        </p:nvSpPr>
        <p:spPr>
          <a:xfrm>
            <a:off x="457200" y="1005840"/>
            <a:ext cx="4023360" cy="2011680"/>
          </a:xfrm>
          <a:prstGeom prst="rect">
            <a:avLst/>
          </a:prstGeom>
          <a:solidFill>
            <a:srgbClr val="ECEAE4"/>
          </a:solidFill>
          <a:ln/>
          <a:effectLst/>
        </p:spPr>
        <p:txBody>
          <a:bodyPr/>
          <a:lstStyle/>
          <a:p>
            <a:endParaRPr lang="ro-RO" sz="1200"/>
          </a:p>
        </p:txBody>
      </p:sp>
      <p:sp>
        <p:nvSpPr>
          <p:cNvPr id="4" name="Shape 2"/>
          <p:cNvSpPr/>
          <p:nvPr/>
        </p:nvSpPr>
        <p:spPr>
          <a:xfrm>
            <a:off x="457200" y="1005840"/>
            <a:ext cx="4023360" cy="411480"/>
          </a:xfrm>
          <a:prstGeom prst="rect">
            <a:avLst/>
          </a:prstGeom>
          <a:solidFill>
            <a:srgbClr val="585A64"/>
          </a:solidFill>
          <a:ln/>
        </p:spPr>
        <p:txBody>
          <a:bodyPr/>
          <a:lstStyle/>
          <a:p>
            <a:endParaRPr lang="ro-RO" sz="1200"/>
          </a:p>
        </p:txBody>
      </p:sp>
      <p:sp>
        <p:nvSpPr>
          <p:cNvPr id="5" name="Text 3"/>
          <p:cNvSpPr/>
          <p:nvPr/>
        </p:nvSpPr>
        <p:spPr>
          <a:xfrm>
            <a:off x="45720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Legea nr. 95/2006, art. 5</a:t>
            </a:r>
            <a:endParaRPr lang="en-US" sz="1600" dirty="0"/>
          </a:p>
        </p:txBody>
      </p:sp>
      <p:sp>
        <p:nvSpPr>
          <p:cNvPr id="6" name="Text 4"/>
          <p:cNvSpPr/>
          <p:nvPr/>
        </p:nvSpPr>
        <p:spPr>
          <a:xfrm>
            <a:off x="640080" y="150876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Funcțiile asistenței de sănătate publică, între care:</a:t>
            </a:r>
            <a:endParaRPr lang="en-US" sz="1200" dirty="0"/>
          </a:p>
        </p:txBody>
      </p:sp>
      <p:sp>
        <p:nvSpPr>
          <p:cNvPr id="7" name="Text 5"/>
          <p:cNvSpPr/>
          <p:nvPr/>
        </p:nvSpPr>
        <p:spPr>
          <a:xfrm>
            <a:off x="640080" y="187452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lit. b) monitorizarea și analiza stării de sănătate</a:t>
            </a:r>
            <a:endParaRPr lang="en-US" sz="1200" dirty="0"/>
          </a:p>
        </p:txBody>
      </p:sp>
      <p:sp>
        <p:nvSpPr>
          <p:cNvPr id="8" name="Text 6"/>
          <p:cNvSpPr/>
          <p:nvPr/>
        </p:nvSpPr>
        <p:spPr>
          <a:xfrm>
            <a:off x="640080" y="224028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lit. k) informarea, educarea și comunicarea</a:t>
            </a:r>
            <a:endParaRPr lang="en-US" sz="1200" dirty="0"/>
          </a:p>
        </p:txBody>
      </p:sp>
      <p:sp>
        <p:nvSpPr>
          <p:cNvPr id="9" name="Text 7"/>
          <p:cNvSpPr/>
          <p:nvPr/>
        </p:nvSpPr>
        <p:spPr>
          <a:xfrm>
            <a:off x="640080" y="260604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lit. m) evaluarea calității, eficacității, eficienței și accesului</a:t>
            </a:r>
            <a:endParaRPr lang="en-US" sz="1200" dirty="0"/>
          </a:p>
        </p:txBody>
      </p:sp>
      <p:sp>
        <p:nvSpPr>
          <p:cNvPr id="10" name="Shape 8"/>
          <p:cNvSpPr/>
          <p:nvPr/>
        </p:nvSpPr>
        <p:spPr>
          <a:xfrm>
            <a:off x="4754880" y="1005840"/>
            <a:ext cx="4023360" cy="2011680"/>
          </a:xfrm>
          <a:prstGeom prst="rect">
            <a:avLst/>
          </a:prstGeom>
          <a:solidFill>
            <a:srgbClr val="ECEAE4"/>
          </a:solidFill>
          <a:ln/>
          <a:effectLst/>
        </p:spPr>
        <p:txBody>
          <a:bodyPr/>
          <a:lstStyle/>
          <a:p>
            <a:endParaRPr lang="ro-RO" sz="1200"/>
          </a:p>
        </p:txBody>
      </p:sp>
      <p:sp>
        <p:nvSpPr>
          <p:cNvPr id="11" name="Shape 9"/>
          <p:cNvSpPr/>
          <p:nvPr/>
        </p:nvSpPr>
        <p:spPr>
          <a:xfrm>
            <a:off x="4754880" y="1005840"/>
            <a:ext cx="4023360" cy="411480"/>
          </a:xfrm>
          <a:prstGeom prst="rect">
            <a:avLst/>
          </a:prstGeom>
          <a:solidFill>
            <a:srgbClr val="0E7C6B"/>
          </a:solidFill>
          <a:ln/>
        </p:spPr>
        <p:txBody>
          <a:bodyPr/>
          <a:lstStyle/>
          <a:p>
            <a:endParaRPr lang="ro-RO" sz="1200"/>
          </a:p>
        </p:txBody>
      </p:sp>
      <p:sp>
        <p:nvSpPr>
          <p:cNvPr id="12" name="Text 10"/>
          <p:cNvSpPr/>
          <p:nvPr/>
        </p:nvSpPr>
        <p:spPr>
          <a:xfrm>
            <a:off x="475488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Legea nr. 229/2016, art. 17</a:t>
            </a:r>
            <a:endParaRPr lang="en-US" sz="1600" dirty="0"/>
          </a:p>
        </p:txBody>
      </p:sp>
      <p:sp>
        <p:nvSpPr>
          <p:cNvPr id="13" name="Text 11"/>
          <p:cNvSpPr/>
          <p:nvPr/>
        </p:nvSpPr>
        <p:spPr>
          <a:xfrm>
            <a:off x="4937760" y="150876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Domeniile principale ale fizioterapeutului, între care:</a:t>
            </a:r>
            <a:endParaRPr lang="en-US" sz="1200" dirty="0"/>
          </a:p>
        </p:txBody>
      </p:sp>
      <p:sp>
        <p:nvSpPr>
          <p:cNvPr id="14" name="Text 12"/>
          <p:cNvSpPr/>
          <p:nvPr/>
        </p:nvSpPr>
        <p:spPr>
          <a:xfrm>
            <a:off x="4937760" y="187452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lit. c) sănătate publică sau comunitară</a:t>
            </a:r>
            <a:endParaRPr lang="en-US" sz="1200" dirty="0"/>
          </a:p>
        </p:txBody>
      </p:sp>
      <p:sp>
        <p:nvSpPr>
          <p:cNvPr id="15" name="Text 13"/>
          <p:cNvSpPr/>
          <p:nvPr/>
        </p:nvSpPr>
        <p:spPr>
          <a:xfrm>
            <a:off x="4937760" y="224028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promovarea sănătății și a activităților de fizioterapie</a:t>
            </a:r>
            <a:endParaRPr lang="en-US" sz="1200" dirty="0"/>
          </a:p>
        </p:txBody>
      </p:sp>
      <p:sp>
        <p:nvSpPr>
          <p:cNvPr id="16" name="Text 14"/>
          <p:cNvSpPr/>
          <p:nvPr/>
        </p:nvSpPr>
        <p:spPr>
          <a:xfrm>
            <a:off x="4937760" y="260604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minimalizarea riscurilor legate de mișcare și funcție</a:t>
            </a:r>
            <a:endParaRPr lang="en-US" sz="1200" dirty="0"/>
          </a:p>
        </p:txBody>
      </p:sp>
      <p:sp>
        <p:nvSpPr>
          <p:cNvPr id="17" name="Shape 15"/>
          <p:cNvSpPr/>
          <p:nvPr/>
        </p:nvSpPr>
        <p:spPr>
          <a:xfrm>
            <a:off x="457200" y="3200400"/>
            <a:ext cx="8229600" cy="1005840"/>
          </a:xfrm>
          <a:prstGeom prst="rect">
            <a:avLst/>
          </a:prstGeom>
          <a:solidFill>
            <a:srgbClr val="FF4757">
              <a:alpha val="15000"/>
            </a:srgbClr>
          </a:solidFill>
          <a:ln/>
        </p:spPr>
        <p:txBody>
          <a:bodyPr/>
          <a:lstStyle/>
          <a:p>
            <a:endParaRPr lang="ro-RO" sz="1200"/>
          </a:p>
        </p:txBody>
      </p:sp>
      <p:sp>
        <p:nvSpPr>
          <p:cNvPr id="18" name="Shape 16"/>
          <p:cNvSpPr/>
          <p:nvPr/>
        </p:nvSpPr>
        <p:spPr>
          <a:xfrm>
            <a:off x="457200" y="3200400"/>
            <a:ext cx="54864" cy="1005840"/>
          </a:xfrm>
          <a:prstGeom prst="rect">
            <a:avLst/>
          </a:prstGeom>
          <a:solidFill>
            <a:srgbClr val="FF4757"/>
          </a:solidFill>
          <a:ln/>
        </p:spPr>
        <p:txBody>
          <a:bodyPr/>
          <a:lstStyle/>
          <a:p>
            <a:endParaRPr lang="ro-RO" sz="1200"/>
          </a:p>
        </p:txBody>
      </p:sp>
      <p:sp>
        <p:nvSpPr>
          <p:cNvPr id="19" name="Text 17"/>
          <p:cNvSpPr/>
          <p:nvPr/>
        </p:nvSpPr>
        <p:spPr>
          <a:xfrm>
            <a:off x="685800" y="3200400"/>
            <a:ext cx="914400" cy="320040"/>
          </a:xfrm>
          <a:prstGeom prst="rect">
            <a:avLst/>
          </a:prstGeom>
          <a:noFill/>
          <a:ln/>
        </p:spPr>
        <p:txBody>
          <a:bodyPr wrap="square" lIns="0" tIns="0" rIns="0" bIns="0" rtlCol="0" anchor="ctr"/>
          <a:lstStyle/>
          <a:p>
            <a:pPr marL="0" indent="0">
              <a:buNone/>
            </a:pPr>
            <a:r>
              <a:rPr lang="en-US" sz="1100" b="1" dirty="0">
                <a:solidFill>
                  <a:srgbClr val="B02532"/>
                </a:solidFill>
                <a:latin typeface="Palatino Linotype" pitchFamily="34" charset="0"/>
                <a:ea typeface="Palatino Linotype" pitchFamily="34" charset="-122"/>
                <a:cs typeface="Palatino Linotype" pitchFamily="34" charset="-120"/>
              </a:rPr>
              <a:t>Perspectiva:</a:t>
            </a:r>
            <a:endParaRPr lang="en-US" sz="1200" dirty="0"/>
          </a:p>
        </p:txBody>
      </p:sp>
      <p:sp>
        <p:nvSpPr>
          <p:cNvPr id="20" name="Text 18"/>
          <p:cNvSpPr/>
          <p:nvPr/>
        </p:nvSpPr>
        <p:spPr>
          <a:xfrm>
            <a:off x="685800" y="3520440"/>
            <a:ext cx="7772400" cy="640080"/>
          </a:xfrm>
          <a:prstGeom prst="rect">
            <a:avLst/>
          </a:prstGeom>
          <a:noFill/>
          <a:ln/>
        </p:spPr>
        <p:txBody>
          <a:bodyPr wrap="square" lIns="0" tIns="0" rIns="0" bIns="0" rtlCol="0" anchor="t"/>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Aceeași lombalgie cronică: fizioterapeutul întreabă ce program îi redă funcția acestui pacient; perspectiva de sănătate publică întreabă câte persoane au nevoie de recuperare și câte o primesc.</a:t>
            </a:r>
            <a:endParaRPr lang="en-US" sz="1200" dirty="0"/>
          </a:p>
        </p:txBody>
      </p:sp>
      <p:sp>
        <p:nvSpPr>
          <p:cNvPr id="21" name="Shape 19"/>
          <p:cNvSpPr/>
          <p:nvPr/>
        </p:nvSpPr>
        <p:spPr>
          <a:xfrm>
            <a:off x="0" y="4709160"/>
            <a:ext cx="9144000" cy="434340"/>
          </a:xfrm>
          <a:prstGeom prst="rect">
            <a:avLst/>
          </a:prstGeom>
          <a:noFill/>
          <a:ln/>
        </p:spPr>
        <p:txBody>
          <a:bodyPr/>
          <a:lstStyle/>
          <a:p>
            <a:endParaRPr lang="ro-RO" sz="1200"/>
          </a:p>
        </p:txBody>
      </p:sp>
      <p:sp>
        <p:nvSpPr>
          <p:cNvPr id="22"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3"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15 / 60</a:t>
            </a:r>
            <a:endParaRPr lang="en-US" sz="12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16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Pacientul și populația: două perspective</a:t>
            </a:r>
          </a:p>
        </p:txBody>
      </p:sp>
      <p:graphicFrame>
        <p:nvGraphicFramePr>
          <p:cNvPr id="45" name="Table 44"/>
          <p:cNvGraphicFramePr>
            <a:graphicFrameLocks noGrp="1"/>
          </p:cNvGraphicFramePr>
          <p:nvPr/>
        </p:nvGraphicFramePr>
        <p:xfrm>
          <a:off x="457200" y="960120"/>
          <a:ext cx="8229600" cy="2834640"/>
        </p:xfrm>
        <a:graphic>
          <a:graphicData uri="http://schemas.openxmlformats.org/drawingml/2006/table">
            <a:tbl>
              <a:tblPr firstRow="1" bandRow="1"/>
              <a:tblGrid>
                <a:gridCol w="1280160"/>
                <a:gridCol w="3474720"/>
                <a:gridCol w="3474720"/>
              </a:tblGrid>
              <a:tr h="566928">
                <a:tc>
                  <a:txBody>
                    <a:bodyPr wrap="square"/>
                    <a:lstStyle/>
                    <a:p>
                      <a:r>
                        <a:rPr sz="1000" b="1">
                          <a:solidFill>
                            <a:srgbClr val="FFFFFF"/>
                          </a:solidFill>
                          <a:latin typeface="Palatino Linotype"/>
                        </a:rPr>
                        <a:t>Criteriul</a:t>
                      </a:r>
                    </a:p>
                  </a:txBody>
                  <a:tcPr marL="54864" marR="54864" marT="27432" marB="27432" anchor="ctr">
                    <a:solidFill>
                      <a:srgbClr val="11121A"/>
                    </a:solidFill>
                  </a:tcPr>
                </a:tc>
                <a:tc>
                  <a:txBody>
                    <a:bodyPr wrap="square"/>
                    <a:lstStyle/>
                    <a:p>
                      <a:r>
                        <a:rPr sz="1000" b="1">
                          <a:solidFill>
                            <a:srgbClr val="FFFFFF"/>
                          </a:solidFill>
                          <a:latin typeface="Palatino Linotype"/>
                        </a:rPr>
                        <a:t>Recuperarea pacientului individual</a:t>
                      </a:r>
                    </a:p>
                  </a:txBody>
                  <a:tcPr marL="54864" marR="54864" marT="27432" marB="27432" anchor="ctr">
                    <a:solidFill>
                      <a:srgbClr val="11121A"/>
                    </a:solidFill>
                  </a:tcPr>
                </a:tc>
                <a:tc>
                  <a:txBody>
                    <a:bodyPr wrap="square"/>
                    <a:lstStyle/>
                    <a:p>
                      <a:r>
                        <a:rPr sz="1000" b="1">
                          <a:solidFill>
                            <a:srgbClr val="FFFFFF"/>
                          </a:solidFill>
                          <a:latin typeface="Palatino Linotype"/>
                        </a:rPr>
                        <a:t>Perspectiva de sănătate publică</a:t>
                      </a:r>
                    </a:p>
                  </a:txBody>
                  <a:tcPr marL="54864" marR="54864" marT="27432" marB="27432" anchor="ctr">
                    <a:solidFill>
                      <a:srgbClr val="11121A"/>
                    </a:solidFill>
                  </a:tcPr>
                </a:tc>
              </a:tr>
              <a:tr h="566928">
                <a:tc>
                  <a:txBody>
                    <a:bodyPr wrap="square"/>
                    <a:lstStyle/>
                    <a:p>
                      <a:r>
                        <a:rPr sz="1000" b="1">
                          <a:solidFill>
                            <a:srgbClr val="11121A"/>
                          </a:solidFill>
                          <a:latin typeface="Palatino Linotype"/>
                        </a:rPr>
                        <a:t>Obiectul</a:t>
                      </a:r>
                    </a:p>
                  </a:txBody>
                  <a:tcPr marL="54864" marR="54864" marT="27432" marB="27432" anchor="ctr">
                    <a:solidFill>
                      <a:srgbClr val="ECEAE4"/>
                    </a:solidFill>
                  </a:tcPr>
                </a:tc>
                <a:tc>
                  <a:txBody>
                    <a:bodyPr wrap="square"/>
                    <a:lstStyle/>
                    <a:p>
                      <a:r>
                        <a:rPr sz="1000" b="0">
                          <a:solidFill>
                            <a:srgbClr val="11121A"/>
                          </a:solidFill>
                          <a:latin typeface="Palatino Linotype"/>
                        </a:rPr>
                        <a:t>persoana cu lombalgie cronică</a:t>
                      </a:r>
                    </a:p>
                  </a:txBody>
                  <a:tcPr marL="54864" marR="54864" marT="27432" marB="27432" anchor="ctr">
                    <a:solidFill>
                      <a:srgbClr val="ECEAE4"/>
                    </a:solidFill>
                  </a:tcPr>
                </a:tc>
                <a:tc>
                  <a:txBody>
                    <a:bodyPr wrap="square"/>
                    <a:lstStyle/>
                    <a:p>
                      <a:r>
                        <a:rPr sz="1000" b="0">
                          <a:solidFill>
                            <a:srgbClr val="11121A"/>
                          </a:solidFill>
                          <a:latin typeface="Palatino Linotype"/>
                        </a:rPr>
                        <a:t>toate persoanele cu lombalgie și cele expuse riscului</a:t>
                      </a:r>
                    </a:p>
                  </a:txBody>
                  <a:tcPr marL="54864" marR="54864" marT="27432" marB="27432" anchor="ctr">
                    <a:solidFill>
                      <a:srgbClr val="ECEAE4"/>
                    </a:solidFill>
                  </a:tcPr>
                </a:tc>
              </a:tr>
              <a:tr h="566928">
                <a:tc>
                  <a:txBody>
                    <a:bodyPr wrap="square"/>
                    <a:lstStyle/>
                    <a:p>
                      <a:r>
                        <a:rPr sz="1000" b="1">
                          <a:solidFill>
                            <a:srgbClr val="11121A"/>
                          </a:solidFill>
                          <a:latin typeface="Palatino Linotype"/>
                        </a:rPr>
                        <a:t>Întrebarea</a:t>
                      </a:r>
                    </a:p>
                  </a:txBody>
                  <a:tcPr marL="54864" marR="54864" marT="27432" marB="27432" anchor="ctr">
                    <a:solidFill>
                      <a:srgbClr val="ECEAE4"/>
                    </a:solidFill>
                  </a:tcPr>
                </a:tc>
                <a:tc>
                  <a:txBody>
                    <a:bodyPr wrap="square"/>
                    <a:lstStyle/>
                    <a:p>
                      <a:r>
                        <a:rPr sz="1000" b="0">
                          <a:solidFill>
                            <a:srgbClr val="11121A"/>
                          </a:solidFill>
                          <a:latin typeface="Palatino Linotype"/>
                        </a:rPr>
                        <a:t>ce program îi redă acestei persoane funcția?</a:t>
                      </a:r>
                    </a:p>
                  </a:txBody>
                  <a:tcPr marL="54864" marR="54864" marT="27432" marB="27432" anchor="ctr">
                    <a:solidFill>
                      <a:srgbClr val="ECEAE4"/>
                    </a:solidFill>
                  </a:tcPr>
                </a:tc>
                <a:tc>
                  <a:txBody>
                    <a:bodyPr wrap="square"/>
                    <a:lstStyle/>
                    <a:p>
                      <a:r>
                        <a:rPr sz="1000" b="0">
                          <a:solidFill>
                            <a:srgbClr val="11121A"/>
                          </a:solidFill>
                          <a:latin typeface="Palatino Linotype"/>
                        </a:rPr>
                        <a:t>câte persoane au nevoie de recuperare și câte o primesc?</a:t>
                      </a:r>
                    </a:p>
                  </a:txBody>
                  <a:tcPr marL="54864" marR="54864" marT="27432" marB="27432" anchor="ctr">
                    <a:solidFill>
                      <a:srgbClr val="ECEAE4"/>
                    </a:solidFill>
                  </a:tcPr>
                </a:tc>
              </a:tr>
              <a:tr h="566928">
                <a:tc>
                  <a:txBody>
                    <a:bodyPr wrap="square"/>
                    <a:lstStyle/>
                    <a:p>
                      <a:r>
                        <a:rPr sz="1000" b="1">
                          <a:solidFill>
                            <a:srgbClr val="11121A"/>
                          </a:solidFill>
                          <a:latin typeface="Palatino Linotype"/>
                        </a:rPr>
                        <a:t>Indicatorii</a:t>
                      </a:r>
                    </a:p>
                  </a:txBody>
                  <a:tcPr marL="54864" marR="54864" marT="27432" marB="27432" anchor="ctr">
                    <a:solidFill>
                      <a:srgbClr val="ECEAE4"/>
                    </a:solidFill>
                  </a:tcPr>
                </a:tc>
                <a:tc>
                  <a:txBody>
                    <a:bodyPr wrap="square"/>
                    <a:lstStyle/>
                    <a:p>
                      <a:r>
                        <a:rPr sz="1000" b="0">
                          <a:solidFill>
                            <a:srgbClr val="11121A"/>
                          </a:solidFill>
                          <a:latin typeface="Palatino Linotype"/>
                        </a:rPr>
                        <a:t>durerea, mobilitatea, activitățile zilnice, revenirea la muncă</a:t>
                      </a:r>
                    </a:p>
                  </a:txBody>
                  <a:tcPr marL="54864" marR="54864" marT="27432" marB="27432" anchor="ctr">
                    <a:solidFill>
                      <a:srgbClr val="ECEAE4"/>
                    </a:solidFill>
                  </a:tcPr>
                </a:tc>
                <a:tc>
                  <a:txBody>
                    <a:bodyPr wrap="square"/>
                    <a:lstStyle/>
                    <a:p>
                      <a:r>
                        <a:rPr sz="1000" b="0">
                          <a:solidFill>
                            <a:srgbClr val="11121A"/>
                          </a:solidFill>
                          <a:latin typeface="Palatino Linotype"/>
                        </a:rPr>
                        <a:t>prevalența, anii trăiți cu dizabilitate, acoperirea, timpii de așteptare</a:t>
                      </a:r>
                    </a:p>
                  </a:txBody>
                  <a:tcPr marL="54864" marR="54864" marT="27432" marB="27432" anchor="ctr">
                    <a:solidFill>
                      <a:srgbClr val="ECEAE4"/>
                    </a:solidFill>
                  </a:tcPr>
                </a:tc>
              </a:tr>
              <a:tr h="566928">
                <a:tc>
                  <a:txBody>
                    <a:bodyPr wrap="square"/>
                    <a:lstStyle/>
                    <a:p>
                      <a:r>
                        <a:rPr sz="1000" b="1">
                          <a:solidFill>
                            <a:srgbClr val="11121A"/>
                          </a:solidFill>
                          <a:latin typeface="Palatino Linotype"/>
                        </a:rPr>
                        <a:t>Decizia</a:t>
                      </a:r>
                    </a:p>
                  </a:txBody>
                  <a:tcPr marL="54864" marR="54864" marT="27432" marB="27432" anchor="ctr">
                    <a:solidFill>
                      <a:srgbClr val="ECEAE4"/>
                    </a:solidFill>
                  </a:tcPr>
                </a:tc>
                <a:tc>
                  <a:txBody>
                    <a:bodyPr wrap="square"/>
                    <a:lstStyle/>
                    <a:p>
                      <a:r>
                        <a:rPr sz="1000" b="0">
                          <a:solidFill>
                            <a:srgbClr val="11121A"/>
                          </a:solidFill>
                          <a:latin typeface="Palatino Linotype"/>
                        </a:rPr>
                        <a:t>planul fizioterapeutic, stabilit împreună cu pacientul</a:t>
                      </a:r>
                    </a:p>
                  </a:txBody>
                  <a:tcPr marL="54864" marR="54864" marT="27432" marB="27432" anchor="ctr">
                    <a:solidFill>
                      <a:srgbClr val="ECEAE4"/>
                    </a:solidFill>
                  </a:tcPr>
                </a:tc>
                <a:tc>
                  <a:txBody>
                    <a:bodyPr wrap="square"/>
                    <a:lstStyle/>
                    <a:p>
                      <a:r>
                        <a:rPr sz="1000" b="0">
                          <a:solidFill>
                            <a:srgbClr val="11121A"/>
                          </a:solidFill>
                          <a:latin typeface="Palatino Linotype"/>
                        </a:rPr>
                        <a:t>organizarea, finanțarea și distribuția serviciilor</a:t>
                      </a:r>
                    </a:p>
                  </a:txBody>
                  <a:tcPr marL="54864" marR="54864" marT="27432" marB="27432" anchor="ctr">
                    <a:solidFill>
                      <a:srgbClr val="ECEAE4"/>
                    </a:solidFill>
                  </a:tcPr>
                </a:tc>
              </a:tr>
            </a:tbl>
          </a:graphicData>
        </a:graphic>
      </p:graphicFrame>
      <p:sp>
        <p:nvSpPr>
          <p:cNvPr id="46" name="TextBox 45"/>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Sinteza secțiunii 1.3 a notelor de curs; tabelul nu conține date.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914400" y="1371600"/>
            <a:ext cx="731520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Palatino Linotype" pitchFamily="34" charset="0"/>
                <a:ea typeface="Palatino Linotype" pitchFamily="34" charset="-122"/>
                <a:cs typeface="Palatino Linotype" pitchFamily="34" charset="-120"/>
              </a:rPr>
              <a:t>Nivelurile de prevenție și locul recuperării</a:t>
            </a:r>
            <a:endParaRPr lang="en-US" sz="3600" dirty="0"/>
          </a:p>
        </p:txBody>
      </p:sp>
      <p:sp>
        <p:nvSpPr>
          <p:cNvPr id="3" name="Text 1"/>
          <p:cNvSpPr/>
          <p:nvPr/>
        </p:nvSpPr>
        <p:spPr>
          <a:xfrm>
            <a:off x="914400" y="2926080"/>
            <a:ext cx="7315200" cy="731520"/>
          </a:xfrm>
          <a:prstGeom prst="rect">
            <a:avLst/>
          </a:prstGeom>
          <a:noFill/>
          <a:ln/>
        </p:spPr>
        <p:txBody>
          <a:bodyPr wrap="square" lIns="0" tIns="0" rIns="0" bIns="0" rtlCol="0" anchor="ctr"/>
          <a:lstStyle/>
          <a:p>
            <a:pPr marL="0" indent="0" algn="ctr">
              <a:buNone/>
            </a:pPr>
            <a:r>
              <a:rPr lang="en-US" sz="1250" dirty="0">
                <a:solidFill>
                  <a:srgbClr val="FF4757"/>
                </a:solidFill>
                <a:latin typeface="Palatino Linotype" pitchFamily="34" charset="0"/>
                <a:ea typeface="Palatino Linotype" pitchFamily="34" charset="-122"/>
                <a:cs typeface="Palatino Linotype" pitchFamily="34" charset="-120"/>
              </a:rPr>
              <a:t>SECȚIUNEA B · Glosarul OMS · Legea nr. 229/2016 · Afecțiunile-ancoră</a:t>
            </a:r>
            <a:endParaRPr lang="en-US" sz="1400" dirty="0"/>
          </a:p>
        </p:txBody>
      </p:sp>
      <p:sp>
        <p:nvSpPr>
          <p:cNvPr id="4" name="Shape 2"/>
          <p:cNvSpPr/>
          <p:nvPr/>
        </p:nvSpPr>
        <p:spPr>
          <a:xfrm>
            <a:off x="0" y="4709160"/>
            <a:ext cx="9144000" cy="434340"/>
          </a:xfrm>
          <a:prstGeom prst="rect">
            <a:avLst/>
          </a:prstGeom>
          <a:noFill/>
          <a:ln/>
        </p:spPr>
        <p:txBody>
          <a:bodyPr/>
          <a:lstStyle/>
          <a:p>
            <a:endParaRPr lang="ro-RO"/>
          </a:p>
        </p:txBody>
      </p:sp>
      <p:sp>
        <p:nvSpPr>
          <p:cNvPr id="5" name="Text 3"/>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6" name="Text 4"/>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17 / 60</a:t>
            </a:r>
            <a:endParaRPr lang="en-US" sz="8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18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Trei niveluri de prevenție (glosarul OMS, 2021)</a:t>
            </a:r>
          </a:p>
        </p:txBody>
      </p:sp>
      <p:sp>
        <p:nvSpPr>
          <p:cNvPr id="45" name="Rectangle 44"/>
          <p:cNvSpPr/>
          <p:nvPr/>
        </p:nvSpPr>
        <p:spPr>
          <a:xfrm>
            <a:off x="457200" y="960120"/>
            <a:ext cx="2615184" cy="251460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60120"/>
            <a:ext cx="2615184"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960120"/>
            <a:ext cx="2432303" cy="384048"/>
          </a:xfrm>
          <a:prstGeom prst="rect">
            <a:avLst/>
          </a:prstGeom>
          <a:noFill/>
        </p:spPr>
        <p:txBody>
          <a:bodyPr wrap="square" lIns="0" rIns="0" tIns="0" bIns="0" anchor="ctr">
            <a:spAutoFit/>
          </a:bodyPr>
          <a:lstStyle/>
          <a:p>
            <a:pPr algn="ctr"/>
            <a:r>
              <a:rPr sz="1150" b="1" i="0">
                <a:solidFill>
                  <a:srgbClr val="FFFFFF"/>
                </a:solidFill>
                <a:latin typeface="Palatino Linotype"/>
              </a:rPr>
              <a:t>PRIMARĂ</a:t>
            </a:r>
          </a:p>
        </p:txBody>
      </p:sp>
      <p:sp>
        <p:nvSpPr>
          <p:cNvPr id="48" name="TextBox 47"/>
          <p:cNvSpPr txBox="1"/>
          <p:nvPr/>
        </p:nvSpPr>
        <p:spPr>
          <a:xfrm>
            <a:off x="621792" y="1435608"/>
            <a:ext cx="2304288" cy="1965960"/>
          </a:xfrm>
          <a:prstGeom prst="rect">
            <a:avLst/>
          </a:prstGeom>
          <a:noFill/>
        </p:spPr>
        <p:txBody>
          <a:bodyPr wrap="square" lIns="0" rIns="0" tIns="0" bIns="0" anchor="t">
            <a:spAutoFit/>
          </a:bodyPr>
          <a:lstStyle/>
          <a:p>
            <a:pPr algn="l">
              <a:spcAft>
                <a:spcPts val="500"/>
              </a:spcAft>
            </a:pPr>
            <a:r>
              <a:rPr sz="1050" b="0" i="0">
                <a:solidFill>
                  <a:srgbClr val="11121A"/>
                </a:solidFill>
                <a:latin typeface="Palatino Linotype"/>
              </a:rPr>
              <a:t>Previne apariția inițială a unei tulburări, prin scăderea factorilor de risc comuni: fumatul, alcoolul, obezitatea, hipertensiunea; include condițiile de mediu, economice și sociale.</a:t>
            </a:r>
          </a:p>
        </p:txBody>
      </p:sp>
      <p:sp>
        <p:nvSpPr>
          <p:cNvPr id="49" name="Rectangle 48"/>
          <p:cNvSpPr/>
          <p:nvPr/>
        </p:nvSpPr>
        <p:spPr>
          <a:xfrm>
            <a:off x="3264408" y="960120"/>
            <a:ext cx="2615184" cy="251460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64408" y="960120"/>
            <a:ext cx="2615184" cy="38404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55848" y="960120"/>
            <a:ext cx="2432303" cy="384048"/>
          </a:xfrm>
          <a:prstGeom prst="rect">
            <a:avLst/>
          </a:prstGeom>
          <a:noFill/>
        </p:spPr>
        <p:txBody>
          <a:bodyPr wrap="square" lIns="0" rIns="0" tIns="0" bIns="0" anchor="ctr">
            <a:spAutoFit/>
          </a:bodyPr>
          <a:lstStyle/>
          <a:p>
            <a:pPr algn="ctr"/>
            <a:r>
              <a:rPr sz="1150" b="1" i="0">
                <a:solidFill>
                  <a:srgbClr val="FFFFFF"/>
                </a:solidFill>
                <a:latin typeface="Palatino Linotype"/>
              </a:rPr>
              <a:t>SECUNDARĂ</a:t>
            </a:r>
          </a:p>
        </p:txBody>
      </p:sp>
      <p:sp>
        <p:nvSpPr>
          <p:cNvPr id="52" name="TextBox 51"/>
          <p:cNvSpPr txBox="1"/>
          <p:nvPr/>
        </p:nvSpPr>
        <p:spPr>
          <a:xfrm>
            <a:off x="3429000" y="1435608"/>
            <a:ext cx="2304288" cy="1965960"/>
          </a:xfrm>
          <a:prstGeom prst="rect">
            <a:avLst/>
          </a:prstGeom>
          <a:noFill/>
        </p:spPr>
        <p:txBody>
          <a:bodyPr wrap="square" lIns="0" rIns="0" tIns="0" bIns="0" anchor="t">
            <a:spAutoFit/>
          </a:bodyPr>
          <a:lstStyle/>
          <a:p>
            <a:pPr algn="l">
              <a:spcAft>
                <a:spcPts val="500"/>
              </a:spcAft>
            </a:pPr>
            <a:r>
              <a:rPr sz="1050" b="0" i="0">
                <a:solidFill>
                  <a:srgbClr val="11121A"/>
                </a:solidFill>
                <a:latin typeface="Palatino Linotype"/>
              </a:rPr>
              <a:t>Depistează precoce o boală deja existentă, pentru a-i opri sau a-i întârzia evoluția și efectele: screening, controale medicale periodice.</a:t>
            </a:r>
          </a:p>
        </p:txBody>
      </p:sp>
      <p:sp>
        <p:nvSpPr>
          <p:cNvPr id="53" name="Rectangle 52"/>
          <p:cNvSpPr/>
          <p:nvPr/>
        </p:nvSpPr>
        <p:spPr>
          <a:xfrm>
            <a:off x="6071616" y="960120"/>
            <a:ext cx="2615184" cy="251460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071616" y="960120"/>
            <a:ext cx="2615184"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63055" y="960120"/>
            <a:ext cx="2432303" cy="384048"/>
          </a:xfrm>
          <a:prstGeom prst="rect">
            <a:avLst/>
          </a:prstGeom>
          <a:noFill/>
        </p:spPr>
        <p:txBody>
          <a:bodyPr wrap="square" lIns="0" rIns="0" tIns="0" bIns="0" anchor="ctr">
            <a:spAutoFit/>
          </a:bodyPr>
          <a:lstStyle/>
          <a:p>
            <a:pPr algn="ctr"/>
            <a:r>
              <a:rPr sz="1150" b="1" i="0">
                <a:solidFill>
                  <a:srgbClr val="FFFFFF"/>
                </a:solidFill>
                <a:latin typeface="Palatino Linotype"/>
              </a:rPr>
              <a:t>TERȚIARĂ</a:t>
            </a:r>
          </a:p>
        </p:txBody>
      </p:sp>
      <p:sp>
        <p:nvSpPr>
          <p:cNvPr id="56" name="TextBox 55"/>
          <p:cNvSpPr txBox="1"/>
          <p:nvPr/>
        </p:nvSpPr>
        <p:spPr>
          <a:xfrm>
            <a:off x="6236207" y="1435608"/>
            <a:ext cx="2304288" cy="1965960"/>
          </a:xfrm>
          <a:prstGeom prst="rect">
            <a:avLst/>
          </a:prstGeom>
          <a:noFill/>
        </p:spPr>
        <p:txBody>
          <a:bodyPr wrap="square" lIns="0" rIns="0" tIns="0" bIns="0" anchor="t">
            <a:spAutoFit/>
          </a:bodyPr>
          <a:lstStyle/>
          <a:p>
            <a:pPr algn="l">
              <a:spcAft>
                <a:spcPts val="500"/>
              </a:spcAft>
            </a:pPr>
            <a:r>
              <a:rPr sz="1050" b="0" i="0">
                <a:solidFill>
                  <a:srgbClr val="11121A"/>
                </a:solidFill>
                <a:latin typeface="Palatino Linotype"/>
              </a:rPr>
              <a:t>Managementul bolii și recuperarea, pentru a evita deteriorarea și complicațiile unei boli deja instalate, „de exemplu prin educația pacientului și fizioterapie”.</a:t>
            </a:r>
          </a:p>
        </p:txBody>
      </p:sp>
      <p:sp>
        <p:nvSpPr>
          <p:cNvPr id="57" name="Rectangle 56"/>
          <p:cNvSpPr/>
          <p:nvPr/>
        </p:nvSpPr>
        <p:spPr>
          <a:xfrm>
            <a:off x="457200" y="3611880"/>
            <a:ext cx="8229600" cy="640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3611880"/>
            <a:ext cx="54864" cy="64008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8" y="3685032"/>
            <a:ext cx="7863840" cy="530352"/>
          </a:xfrm>
          <a:prstGeom prst="rect">
            <a:avLst/>
          </a:prstGeom>
          <a:noFill/>
        </p:spPr>
        <p:txBody>
          <a:bodyPr wrap="square" lIns="0" rIns="0" tIns="0" bIns="0" anchor="t">
            <a:spAutoFit/>
          </a:bodyPr>
          <a:lstStyle/>
          <a:p>
            <a:pPr algn="l"/>
            <a:r>
              <a:rPr sz="1000" b="1" i="0">
                <a:solidFill>
                  <a:srgbClr val="B02532"/>
                </a:solidFill>
                <a:latin typeface="Palatino Linotype"/>
              </a:rPr>
              <a:t>Glosarul OMS din 1998: </a:t>
            </a:r>
            <a:r>
              <a:rPr sz="1000" b="0" i="0">
                <a:solidFill>
                  <a:srgbClr val="11121A"/>
                </a:solidFill>
                <a:latin typeface="Palatino Linotype"/>
              </a:rPr>
              <a:t>prevenția secundară și terțiară opresc sau încetinesc boala existentă, de exemplu printr-o recuperare eficace.</a:t>
            </a:r>
          </a:p>
        </p:txBody>
      </p:sp>
      <p:sp>
        <p:nvSpPr>
          <p:cNvPr id="60" name="TextBox 59"/>
          <p:cNvSpPr txBox="1"/>
          <p:nvPr/>
        </p:nvSpPr>
        <p:spPr>
          <a:xfrm>
            <a:off x="457200" y="4343400"/>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OMS, Health Promotion Glossary of Terms, 2021; OMS, Health Promotion Glossary, 1998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19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Prevenția pe cele trei afecțiuni-ancoră</a:t>
            </a:r>
          </a:p>
        </p:txBody>
      </p:sp>
      <p:graphicFrame>
        <p:nvGraphicFramePr>
          <p:cNvPr id="45" name="Table 44"/>
          <p:cNvGraphicFramePr>
            <a:graphicFrameLocks noGrp="1"/>
          </p:cNvGraphicFramePr>
          <p:nvPr/>
        </p:nvGraphicFramePr>
        <p:xfrm>
          <a:off x="457200" y="914400"/>
          <a:ext cx="8229600" cy="3108960"/>
        </p:xfrm>
        <a:graphic>
          <a:graphicData uri="http://schemas.openxmlformats.org/drawingml/2006/table">
            <a:tbl>
              <a:tblPr firstRow="1" bandRow="1"/>
              <a:tblGrid>
                <a:gridCol w="914400"/>
                <a:gridCol w="2377440"/>
                <a:gridCol w="2468880"/>
                <a:gridCol w="2468880"/>
              </a:tblGrid>
              <a:tr h="777240">
                <a:tc>
                  <a:txBody>
                    <a:bodyPr wrap="square"/>
                    <a:lstStyle/>
                    <a:p>
                      <a:r>
                        <a:rPr sz="950" b="1">
                          <a:solidFill>
                            <a:srgbClr val="FFFFFF"/>
                          </a:solidFill>
                          <a:latin typeface="Palatino Linotype"/>
                        </a:rPr>
                        <a:t>Nivelul</a:t>
                      </a:r>
                    </a:p>
                  </a:txBody>
                  <a:tcPr marL="54864" marR="54864" marT="27432" marB="27432" anchor="ctr">
                    <a:solidFill>
                      <a:srgbClr val="11121A"/>
                    </a:solidFill>
                  </a:tcPr>
                </a:tc>
                <a:tc>
                  <a:txBody>
                    <a:bodyPr wrap="square"/>
                    <a:lstStyle/>
                    <a:p>
                      <a:r>
                        <a:rPr sz="950" b="1">
                          <a:solidFill>
                            <a:srgbClr val="FFFFFF"/>
                          </a:solidFill>
                          <a:latin typeface="Palatino Linotype"/>
                        </a:rPr>
                        <a:t>Lombalgia cronică</a:t>
                      </a:r>
                    </a:p>
                  </a:txBody>
                  <a:tcPr marL="54864" marR="54864" marT="27432" marB="27432" anchor="ctr">
                    <a:solidFill>
                      <a:srgbClr val="11121A"/>
                    </a:solidFill>
                  </a:tcPr>
                </a:tc>
                <a:tc>
                  <a:txBody>
                    <a:bodyPr wrap="square"/>
                    <a:lstStyle/>
                    <a:p>
                      <a:r>
                        <a:rPr sz="950" b="1">
                          <a:solidFill>
                            <a:srgbClr val="FFFFFF"/>
                          </a:solidFill>
                          <a:latin typeface="Palatino Linotype"/>
                        </a:rPr>
                        <a:t>Accidentul vascular cerebral</a:t>
                      </a:r>
                    </a:p>
                  </a:txBody>
                  <a:tcPr marL="54864" marR="54864" marT="27432" marB="27432" anchor="ctr">
                    <a:solidFill>
                      <a:srgbClr val="11121A"/>
                    </a:solidFill>
                  </a:tcPr>
                </a:tc>
                <a:tc>
                  <a:txBody>
                    <a:bodyPr wrap="square"/>
                    <a:lstStyle/>
                    <a:p>
                      <a:r>
                        <a:rPr sz="950" b="1">
                          <a:solidFill>
                            <a:srgbClr val="FFFFFF"/>
                          </a:solidFill>
                          <a:latin typeface="Palatino Linotype"/>
                        </a:rPr>
                        <a:t>Fractura de șold la vârstnic</a:t>
                      </a:r>
                    </a:p>
                  </a:txBody>
                  <a:tcPr marL="54864" marR="54864" marT="27432" marB="27432" anchor="ctr">
                    <a:solidFill>
                      <a:srgbClr val="11121A"/>
                    </a:solidFill>
                  </a:tcPr>
                </a:tc>
              </a:tr>
              <a:tr h="777240">
                <a:tc>
                  <a:txBody>
                    <a:bodyPr wrap="square"/>
                    <a:lstStyle/>
                    <a:p>
                      <a:r>
                        <a:rPr sz="950" b="1">
                          <a:solidFill>
                            <a:srgbClr val="11121A"/>
                          </a:solidFill>
                          <a:latin typeface="Palatino Linotype"/>
                        </a:rPr>
                        <a:t>Primar</a:t>
                      </a:r>
                    </a:p>
                  </a:txBody>
                  <a:tcPr marL="54864" marR="54864" marT="27432" marB="27432" anchor="ctr">
                    <a:solidFill>
                      <a:srgbClr val="ECEAE4"/>
                    </a:solidFill>
                  </a:tcPr>
                </a:tc>
                <a:tc>
                  <a:txBody>
                    <a:bodyPr wrap="square"/>
                    <a:lstStyle/>
                    <a:p>
                      <a:r>
                        <a:rPr sz="950" b="0">
                          <a:solidFill>
                            <a:srgbClr val="11121A"/>
                          </a:solidFill>
                          <a:latin typeface="Palatino Linotype"/>
                        </a:rPr>
                        <a:t>activitate fizică regulată, condiții de muncă ergonomice</a:t>
                      </a:r>
                    </a:p>
                  </a:txBody>
                  <a:tcPr marL="54864" marR="54864" marT="27432" marB="27432" anchor="ctr">
                    <a:solidFill>
                      <a:srgbClr val="ECEAE4"/>
                    </a:solidFill>
                  </a:tcPr>
                </a:tc>
                <a:tc>
                  <a:txBody>
                    <a:bodyPr wrap="square"/>
                    <a:lstStyle/>
                    <a:p>
                      <a:r>
                        <a:rPr sz="950" b="0">
                          <a:solidFill>
                            <a:srgbClr val="11121A"/>
                          </a:solidFill>
                          <a:latin typeface="Palatino Linotype"/>
                        </a:rPr>
                        <a:t>controlul tensiunii arteriale, renunțarea la fumat</a:t>
                      </a:r>
                    </a:p>
                  </a:txBody>
                  <a:tcPr marL="54864" marR="54864" marT="27432" marB="27432" anchor="ctr">
                    <a:solidFill>
                      <a:srgbClr val="ECEAE4"/>
                    </a:solidFill>
                  </a:tcPr>
                </a:tc>
                <a:tc>
                  <a:txBody>
                    <a:bodyPr wrap="square"/>
                    <a:lstStyle/>
                    <a:p>
                      <a:r>
                        <a:rPr sz="950" b="0">
                          <a:solidFill>
                            <a:srgbClr val="11121A"/>
                          </a:solidFill>
                          <a:latin typeface="Palatino Linotype"/>
                        </a:rPr>
                        <a:t>prevenirea căderilor: exerciții de echilibru, locuință fără obstacole</a:t>
                      </a:r>
                    </a:p>
                  </a:txBody>
                  <a:tcPr marL="54864" marR="54864" marT="27432" marB="27432" anchor="ctr">
                    <a:solidFill>
                      <a:srgbClr val="ECEAE4"/>
                    </a:solidFill>
                  </a:tcPr>
                </a:tc>
              </a:tr>
              <a:tr h="777240">
                <a:tc>
                  <a:txBody>
                    <a:bodyPr wrap="square"/>
                    <a:lstStyle/>
                    <a:p>
                      <a:r>
                        <a:rPr sz="950" b="1">
                          <a:solidFill>
                            <a:srgbClr val="11121A"/>
                          </a:solidFill>
                          <a:latin typeface="Palatino Linotype"/>
                        </a:rPr>
                        <a:t>Secundar</a:t>
                      </a:r>
                    </a:p>
                  </a:txBody>
                  <a:tcPr marL="54864" marR="54864" marT="27432" marB="27432" anchor="ctr">
                    <a:solidFill>
                      <a:srgbClr val="ECEAE4"/>
                    </a:solidFill>
                  </a:tcPr>
                </a:tc>
                <a:tc>
                  <a:txBody>
                    <a:bodyPr wrap="square"/>
                    <a:lstStyle/>
                    <a:p>
                      <a:r>
                        <a:rPr sz="950" b="0">
                          <a:solidFill>
                            <a:srgbClr val="11121A"/>
                          </a:solidFill>
                          <a:latin typeface="Palatino Linotype"/>
                        </a:rPr>
                        <a:t>recunoașterea timpurie a durerii care persistă, evaluarea factorilor care o întrețin</a:t>
                      </a:r>
                    </a:p>
                  </a:txBody>
                  <a:tcPr marL="54864" marR="54864" marT="27432" marB="27432" anchor="ctr">
                    <a:solidFill>
                      <a:srgbClr val="ECEAE4"/>
                    </a:solidFill>
                  </a:tcPr>
                </a:tc>
                <a:tc>
                  <a:txBody>
                    <a:bodyPr wrap="square"/>
                    <a:lstStyle/>
                    <a:p>
                      <a:r>
                        <a:rPr sz="950" b="0">
                          <a:solidFill>
                            <a:srgbClr val="11121A"/>
                          </a:solidFill>
                          <a:latin typeface="Palatino Linotype"/>
                        </a:rPr>
                        <a:t>evaluarea și tratarea promptă a atacului ischemic tranzitoriu, care poate anunța un accident vascular constituit</a:t>
                      </a:r>
                    </a:p>
                  </a:txBody>
                  <a:tcPr marL="54864" marR="54864" marT="27432" marB="27432" anchor="ctr">
                    <a:solidFill>
                      <a:srgbClr val="ECEAE4"/>
                    </a:solidFill>
                  </a:tcPr>
                </a:tc>
                <a:tc>
                  <a:txBody>
                    <a:bodyPr wrap="square"/>
                    <a:lstStyle/>
                    <a:p>
                      <a:r>
                        <a:rPr sz="950" b="0">
                          <a:solidFill>
                            <a:srgbClr val="11121A"/>
                          </a:solidFill>
                          <a:latin typeface="Palatino Linotype"/>
                        </a:rPr>
                        <a:t>depistarea și tratarea osteoporozei la persoanele cu risc</a:t>
                      </a:r>
                    </a:p>
                  </a:txBody>
                  <a:tcPr marL="54864" marR="54864" marT="27432" marB="27432" anchor="ctr">
                    <a:solidFill>
                      <a:srgbClr val="ECEAE4"/>
                    </a:solidFill>
                  </a:tcPr>
                </a:tc>
              </a:tr>
              <a:tr h="777240">
                <a:tc>
                  <a:txBody>
                    <a:bodyPr wrap="square"/>
                    <a:lstStyle/>
                    <a:p>
                      <a:r>
                        <a:rPr sz="950" b="1">
                          <a:solidFill>
                            <a:srgbClr val="11121A"/>
                          </a:solidFill>
                          <a:latin typeface="Palatino Linotype"/>
                        </a:rPr>
                        <a:t>Terțiar</a:t>
                      </a:r>
                    </a:p>
                  </a:txBody>
                  <a:tcPr marL="54864" marR="54864" marT="27432" marB="27432" anchor="ctr">
                    <a:solidFill>
                      <a:srgbClr val="ECEAE4"/>
                    </a:solidFill>
                  </a:tcPr>
                </a:tc>
                <a:tc>
                  <a:txBody>
                    <a:bodyPr wrap="square"/>
                    <a:lstStyle/>
                    <a:p>
                      <a:r>
                        <a:rPr sz="950" b="0">
                          <a:solidFill>
                            <a:srgbClr val="11121A"/>
                          </a:solidFill>
                          <a:latin typeface="Palatino Linotype"/>
                        </a:rPr>
                        <a:t>program de exerciții și educație pentru autogestionarea durerii</a:t>
                      </a:r>
                    </a:p>
                  </a:txBody>
                  <a:tcPr marL="54864" marR="54864" marT="27432" marB="27432" anchor="ctr">
                    <a:solidFill>
                      <a:srgbClr val="ECEAE4"/>
                    </a:solidFill>
                  </a:tcPr>
                </a:tc>
                <a:tc>
                  <a:txBody>
                    <a:bodyPr wrap="square"/>
                    <a:lstStyle/>
                    <a:p>
                      <a:r>
                        <a:rPr sz="950" b="0">
                          <a:solidFill>
                            <a:srgbClr val="11121A"/>
                          </a:solidFill>
                          <a:latin typeface="Palatino Linotype"/>
                        </a:rPr>
                        <a:t>recuperarea motorie, a limbajului și a activităților zilnice</a:t>
                      </a:r>
                    </a:p>
                  </a:txBody>
                  <a:tcPr marL="54864" marR="54864" marT="27432" marB="27432" anchor="ctr">
                    <a:solidFill>
                      <a:srgbClr val="ECEAE4"/>
                    </a:solidFill>
                  </a:tcPr>
                </a:tc>
                <a:tc>
                  <a:txBody>
                    <a:bodyPr wrap="square"/>
                    <a:lstStyle/>
                    <a:p>
                      <a:r>
                        <a:rPr sz="950" b="0">
                          <a:solidFill>
                            <a:srgbClr val="11121A"/>
                          </a:solidFill>
                          <a:latin typeface="Palatino Linotype"/>
                        </a:rPr>
                        <a:t>mobilizarea precoce după intervenție și recuperarea mersului</a:t>
                      </a:r>
                    </a:p>
                  </a:txBody>
                  <a:tcPr marL="54864" marR="54864" marT="27432" marB="27432" anchor="ctr">
                    <a:solidFill>
                      <a:srgbClr val="ECEAE4"/>
                    </a:solidFill>
                  </a:tcPr>
                </a:tc>
              </a:tr>
            </a:tbl>
          </a:graphicData>
        </a:graphic>
      </p:graphicFrame>
      <p:sp>
        <p:nvSpPr>
          <p:cNvPr id="46" name="TextBox 45"/>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Tipuri de intervenții, alese pentru a ilustra definițiile OMS; tabelul nu conține date și nu formulează recomandări clinice.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Recuperarea și prevenția terțiară: legea profesiei și OMS</a:t>
            </a:r>
            <a:endParaRPr lang="en-US" sz="2400" dirty="0"/>
          </a:p>
        </p:txBody>
      </p:sp>
      <p:sp>
        <p:nvSpPr>
          <p:cNvPr id="3" name="Shape 1"/>
          <p:cNvSpPr/>
          <p:nvPr/>
        </p:nvSpPr>
        <p:spPr>
          <a:xfrm>
            <a:off x="457200" y="1005840"/>
            <a:ext cx="4023360" cy="2011680"/>
          </a:xfrm>
          <a:prstGeom prst="rect">
            <a:avLst/>
          </a:prstGeom>
          <a:solidFill>
            <a:srgbClr val="ECEAE4"/>
          </a:solidFill>
          <a:ln/>
          <a:effectLst/>
        </p:spPr>
        <p:txBody>
          <a:bodyPr/>
          <a:lstStyle/>
          <a:p>
            <a:endParaRPr lang="ro-RO" sz="1200"/>
          </a:p>
        </p:txBody>
      </p:sp>
      <p:sp>
        <p:nvSpPr>
          <p:cNvPr id="4" name="Shape 2"/>
          <p:cNvSpPr/>
          <p:nvPr/>
        </p:nvSpPr>
        <p:spPr>
          <a:xfrm>
            <a:off x="457200" y="1005840"/>
            <a:ext cx="4023360" cy="411480"/>
          </a:xfrm>
          <a:prstGeom prst="rect">
            <a:avLst/>
          </a:prstGeom>
          <a:solidFill>
            <a:srgbClr val="585A64"/>
          </a:solidFill>
          <a:ln/>
        </p:spPr>
        <p:txBody>
          <a:bodyPr/>
          <a:lstStyle/>
          <a:p>
            <a:endParaRPr lang="ro-RO" sz="1200"/>
          </a:p>
        </p:txBody>
      </p:sp>
      <p:sp>
        <p:nvSpPr>
          <p:cNvPr id="5" name="Text 3"/>
          <p:cNvSpPr/>
          <p:nvPr/>
        </p:nvSpPr>
        <p:spPr>
          <a:xfrm>
            <a:off x="45720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Legea nr. 229/2016</a:t>
            </a:r>
            <a:endParaRPr lang="en-US" sz="1600" dirty="0"/>
          </a:p>
        </p:txBody>
      </p:sp>
      <p:sp>
        <p:nvSpPr>
          <p:cNvPr id="6" name="Text 4"/>
          <p:cNvSpPr/>
          <p:nvPr/>
        </p:nvSpPr>
        <p:spPr>
          <a:xfrm>
            <a:off x="640080" y="150876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Art. 2: programe de recuperare care îmbunătățesc sau restabilesc funcțiile motorii</a:t>
            </a:r>
            <a:endParaRPr lang="en-US" sz="1200" dirty="0"/>
          </a:p>
        </p:txBody>
      </p:sp>
      <p:sp>
        <p:nvSpPr>
          <p:cNvPr id="7" name="Text 5"/>
          <p:cNvSpPr/>
          <p:nvPr/>
        </p:nvSpPr>
        <p:spPr>
          <a:xfrm>
            <a:off x="640080" y="187452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 și „tratează ori previn problemele fizice”</a:t>
            </a:r>
            <a:endParaRPr lang="en-US" sz="1200" dirty="0"/>
          </a:p>
        </p:txBody>
      </p:sp>
      <p:sp>
        <p:nvSpPr>
          <p:cNvPr id="8" name="Text 6"/>
          <p:cNvSpPr/>
          <p:nvPr/>
        </p:nvSpPr>
        <p:spPr>
          <a:xfrm>
            <a:off x="640080" y="224028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Art. 13 lit. c): asistență terapeutică și profilactică</a:t>
            </a:r>
            <a:endParaRPr lang="en-US" sz="1200" dirty="0"/>
          </a:p>
        </p:txBody>
      </p:sp>
      <p:sp>
        <p:nvSpPr>
          <p:cNvPr id="9" name="Text 7"/>
          <p:cNvSpPr/>
          <p:nvPr/>
        </p:nvSpPr>
        <p:spPr>
          <a:xfrm>
            <a:off x="640080" y="260604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 pentru prevenirea limitărilor de activitate și a restricțiilor de participare</a:t>
            </a:r>
            <a:endParaRPr lang="en-US" sz="1200" dirty="0"/>
          </a:p>
        </p:txBody>
      </p:sp>
      <p:sp>
        <p:nvSpPr>
          <p:cNvPr id="10" name="Shape 8"/>
          <p:cNvSpPr/>
          <p:nvPr/>
        </p:nvSpPr>
        <p:spPr>
          <a:xfrm>
            <a:off x="4754880" y="1005840"/>
            <a:ext cx="4023360" cy="2011680"/>
          </a:xfrm>
          <a:prstGeom prst="rect">
            <a:avLst/>
          </a:prstGeom>
          <a:solidFill>
            <a:srgbClr val="ECEAE4"/>
          </a:solidFill>
          <a:ln/>
          <a:effectLst/>
        </p:spPr>
        <p:txBody>
          <a:bodyPr/>
          <a:lstStyle/>
          <a:p>
            <a:endParaRPr lang="ro-RO" sz="1200"/>
          </a:p>
        </p:txBody>
      </p:sp>
      <p:sp>
        <p:nvSpPr>
          <p:cNvPr id="11" name="Shape 9"/>
          <p:cNvSpPr/>
          <p:nvPr/>
        </p:nvSpPr>
        <p:spPr>
          <a:xfrm>
            <a:off x="4754880" y="1005840"/>
            <a:ext cx="4023360" cy="411480"/>
          </a:xfrm>
          <a:prstGeom prst="rect">
            <a:avLst/>
          </a:prstGeom>
          <a:solidFill>
            <a:srgbClr val="0E7C6B"/>
          </a:solidFill>
          <a:ln/>
        </p:spPr>
        <p:txBody>
          <a:bodyPr/>
          <a:lstStyle/>
          <a:p>
            <a:endParaRPr lang="ro-RO" sz="1200"/>
          </a:p>
        </p:txBody>
      </p:sp>
      <p:sp>
        <p:nvSpPr>
          <p:cNvPr id="12" name="Text 10"/>
          <p:cNvSpPr/>
          <p:nvPr/>
        </p:nvSpPr>
        <p:spPr>
          <a:xfrm>
            <a:off x="475488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OMS</a:t>
            </a:r>
            <a:endParaRPr lang="en-US" sz="1600" dirty="0"/>
          </a:p>
        </p:txBody>
      </p:sp>
      <p:sp>
        <p:nvSpPr>
          <p:cNvPr id="13" name="Text 11"/>
          <p:cNvSpPr/>
          <p:nvPr/>
        </p:nvSpPr>
        <p:spPr>
          <a:xfrm>
            <a:off x="4937760" y="150876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Recuperarea: parte esențială a acoperirii universale</a:t>
            </a:r>
            <a:endParaRPr lang="en-US" sz="1200" dirty="0"/>
          </a:p>
        </p:txBody>
      </p:sp>
      <p:sp>
        <p:nvSpPr>
          <p:cNvPr id="14" name="Text 12"/>
          <p:cNvSpPr/>
          <p:nvPr/>
        </p:nvSpPr>
        <p:spPr>
          <a:xfrm>
            <a:off x="4937760" y="187452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 alături de promovare, prevenție, tratament, paliație</a:t>
            </a:r>
            <a:endParaRPr lang="en-US" sz="1200" dirty="0"/>
          </a:p>
        </p:txBody>
      </p:sp>
      <p:sp>
        <p:nvSpPr>
          <p:cNvPr id="15" name="Text 13"/>
          <p:cNvSpPr/>
          <p:nvPr/>
        </p:nvSpPr>
        <p:spPr>
          <a:xfrm>
            <a:off x="4937760" y="224028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Începe, adesea, imediat ce problema e identificată</a:t>
            </a:r>
            <a:endParaRPr lang="en-US" sz="1200" dirty="0"/>
          </a:p>
        </p:txBody>
      </p:sp>
      <p:sp>
        <p:nvSpPr>
          <p:cNvPr id="16" name="Text 14"/>
          <p:cNvSpPr/>
          <p:nvPr/>
        </p:nvSpPr>
        <p:spPr>
          <a:xfrm>
            <a:off x="4937760" y="260604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Exerciții după AVC; locuința adaptată contra căderilor</a:t>
            </a:r>
            <a:endParaRPr lang="en-US" sz="1200" dirty="0"/>
          </a:p>
        </p:txBody>
      </p:sp>
      <p:sp>
        <p:nvSpPr>
          <p:cNvPr id="17" name="Shape 15"/>
          <p:cNvSpPr/>
          <p:nvPr/>
        </p:nvSpPr>
        <p:spPr>
          <a:xfrm>
            <a:off x="457200" y="3200400"/>
            <a:ext cx="8229600" cy="1005840"/>
          </a:xfrm>
          <a:prstGeom prst="rect">
            <a:avLst/>
          </a:prstGeom>
          <a:solidFill>
            <a:srgbClr val="FF4757">
              <a:alpha val="15000"/>
            </a:srgbClr>
          </a:solidFill>
          <a:ln/>
        </p:spPr>
        <p:txBody>
          <a:bodyPr/>
          <a:lstStyle/>
          <a:p>
            <a:endParaRPr lang="ro-RO" sz="1200"/>
          </a:p>
        </p:txBody>
      </p:sp>
      <p:sp>
        <p:nvSpPr>
          <p:cNvPr id="18" name="Shape 16"/>
          <p:cNvSpPr/>
          <p:nvPr/>
        </p:nvSpPr>
        <p:spPr>
          <a:xfrm>
            <a:off x="457200" y="3200400"/>
            <a:ext cx="54864" cy="1005840"/>
          </a:xfrm>
          <a:prstGeom prst="rect">
            <a:avLst/>
          </a:prstGeom>
          <a:solidFill>
            <a:srgbClr val="FF4757"/>
          </a:solidFill>
          <a:ln/>
        </p:spPr>
        <p:txBody>
          <a:bodyPr/>
          <a:lstStyle/>
          <a:p>
            <a:endParaRPr lang="ro-RO" sz="1200"/>
          </a:p>
        </p:txBody>
      </p:sp>
      <p:sp>
        <p:nvSpPr>
          <p:cNvPr id="19" name="Text 17"/>
          <p:cNvSpPr/>
          <p:nvPr/>
        </p:nvSpPr>
        <p:spPr>
          <a:xfrm>
            <a:off x="685800" y="3200400"/>
            <a:ext cx="914400" cy="320040"/>
          </a:xfrm>
          <a:prstGeom prst="rect">
            <a:avLst/>
          </a:prstGeom>
          <a:noFill/>
          <a:ln/>
        </p:spPr>
        <p:txBody>
          <a:bodyPr wrap="square" lIns="0" tIns="0" rIns="0" bIns="0" rtlCol="0" anchor="ctr"/>
          <a:lstStyle/>
          <a:p>
            <a:pPr marL="0" indent="0">
              <a:buNone/>
            </a:pPr>
            <a:r>
              <a:rPr lang="en-US" sz="1100" b="1" dirty="0">
                <a:solidFill>
                  <a:srgbClr val="B02532"/>
                </a:solidFill>
                <a:latin typeface="Palatino Linotype" pitchFamily="34" charset="0"/>
                <a:ea typeface="Palatino Linotype" pitchFamily="34" charset="-122"/>
                <a:cs typeface="Palatino Linotype" pitchFamily="34" charset="-120"/>
              </a:rPr>
              <a:t>Fracturile:</a:t>
            </a:r>
            <a:endParaRPr lang="en-US" sz="1200" dirty="0"/>
          </a:p>
        </p:txBody>
      </p:sp>
      <p:sp>
        <p:nvSpPr>
          <p:cNvPr id="20" name="Text 18"/>
          <p:cNvSpPr/>
          <p:nvPr/>
        </p:nvSpPr>
        <p:spPr>
          <a:xfrm>
            <a:off x="685800" y="3520440"/>
            <a:ext cx="7772400" cy="640080"/>
          </a:xfrm>
          <a:prstGeom prst="rect">
            <a:avLst/>
          </a:prstGeom>
          <a:noFill/>
          <a:ln/>
        </p:spPr>
        <p:txBody>
          <a:bodyPr wrap="square" lIns="0" tIns="0" rIns="0" bIns="0" rtlCol="0" anchor="t"/>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autorii analizei GBD 2019 a fracturilor consideră că prevenirea traumatismelor și accesul vârstnicilor la screeningul și tratamentul osteoporozei ar trebui să reducă povara totală.</a:t>
            </a:r>
            <a:endParaRPr lang="en-US" sz="1200" dirty="0"/>
          </a:p>
        </p:txBody>
      </p:sp>
      <p:sp>
        <p:nvSpPr>
          <p:cNvPr id="21" name="Shape 19"/>
          <p:cNvSpPr/>
          <p:nvPr/>
        </p:nvSpPr>
        <p:spPr>
          <a:xfrm>
            <a:off x="0" y="4709160"/>
            <a:ext cx="9144000" cy="434340"/>
          </a:xfrm>
          <a:prstGeom prst="rect">
            <a:avLst/>
          </a:prstGeom>
          <a:noFill/>
          <a:ln/>
        </p:spPr>
        <p:txBody>
          <a:bodyPr/>
          <a:lstStyle/>
          <a:p>
            <a:endParaRPr lang="ro-RO" sz="1200"/>
          </a:p>
        </p:txBody>
      </p:sp>
      <p:sp>
        <p:nvSpPr>
          <p:cNvPr id="22"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3"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20 / 60</a:t>
            </a:r>
            <a:endParaRPr lang="en-US" sz="1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914400" y="1371600"/>
            <a:ext cx="731520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Palatino Linotype" pitchFamily="34" charset="0"/>
                <a:ea typeface="Palatino Linotype" pitchFamily="34" charset="-122"/>
                <a:cs typeface="Palatino Linotype" pitchFamily="34" charset="-120"/>
              </a:rPr>
              <a:t>Modelul biopsihosocial al funcționării: CIF</a:t>
            </a:r>
            <a:endParaRPr lang="en-US" sz="3600" dirty="0"/>
          </a:p>
        </p:txBody>
      </p:sp>
      <p:sp>
        <p:nvSpPr>
          <p:cNvPr id="3" name="Text 1"/>
          <p:cNvSpPr/>
          <p:nvPr/>
        </p:nvSpPr>
        <p:spPr>
          <a:xfrm>
            <a:off x="914400" y="2926080"/>
            <a:ext cx="7315200" cy="731520"/>
          </a:xfrm>
          <a:prstGeom prst="rect">
            <a:avLst/>
          </a:prstGeom>
          <a:noFill/>
          <a:ln/>
        </p:spPr>
        <p:txBody>
          <a:bodyPr wrap="square" lIns="0" tIns="0" rIns="0" bIns="0" rtlCol="0" anchor="ctr"/>
          <a:lstStyle/>
          <a:p>
            <a:pPr marL="0" indent="0" algn="ctr">
              <a:buNone/>
            </a:pPr>
            <a:r>
              <a:rPr lang="en-US" sz="1250" dirty="0">
                <a:solidFill>
                  <a:srgbClr val="FF4757"/>
                </a:solidFill>
                <a:latin typeface="Palatino Linotype" pitchFamily="34" charset="0"/>
                <a:ea typeface="Palatino Linotype" pitchFamily="34" charset="-122"/>
                <a:cs typeface="Palatino Linotype" pitchFamily="34" charset="-120"/>
              </a:rPr>
              <a:t>SECȚIUNEA C · WHA54.21 (2001) · Componente · Capacitate și performanță</a:t>
            </a:r>
            <a:endParaRPr lang="en-US" sz="1400" dirty="0"/>
          </a:p>
        </p:txBody>
      </p:sp>
      <p:sp>
        <p:nvSpPr>
          <p:cNvPr id="4" name="Shape 2"/>
          <p:cNvSpPr/>
          <p:nvPr/>
        </p:nvSpPr>
        <p:spPr>
          <a:xfrm>
            <a:off x="0" y="4709160"/>
            <a:ext cx="9144000" cy="434340"/>
          </a:xfrm>
          <a:prstGeom prst="rect">
            <a:avLst/>
          </a:prstGeom>
          <a:noFill/>
          <a:ln/>
        </p:spPr>
        <p:txBody>
          <a:bodyPr/>
          <a:lstStyle/>
          <a:p>
            <a:endParaRPr lang="ro-RO"/>
          </a:p>
        </p:txBody>
      </p:sp>
      <p:sp>
        <p:nvSpPr>
          <p:cNvPr id="5" name="Text 3"/>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6" name="Text 4"/>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21 / 60</a:t>
            </a:r>
            <a:endParaRPr lang="en-US" sz="8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22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CIF: funcționarea în interacțiune cu contextul</a:t>
            </a:r>
          </a:p>
        </p:txBody>
      </p:sp>
      <p:sp>
        <p:nvSpPr>
          <p:cNvPr id="45" name="Rectangle 44"/>
          <p:cNvSpPr/>
          <p:nvPr/>
        </p:nvSpPr>
        <p:spPr>
          <a:xfrm>
            <a:off x="2834640" y="914400"/>
            <a:ext cx="3474720" cy="45720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71800" y="914400"/>
            <a:ext cx="3200400" cy="457200"/>
          </a:xfrm>
          <a:prstGeom prst="rect">
            <a:avLst/>
          </a:prstGeom>
          <a:noFill/>
        </p:spPr>
        <p:txBody>
          <a:bodyPr wrap="square" lIns="0" rIns="0" tIns="0" bIns="0" anchor="ctr">
            <a:spAutoFit/>
          </a:bodyPr>
          <a:lstStyle/>
          <a:p>
            <a:pPr algn="ctr"/>
            <a:r>
              <a:rPr sz="1100" b="1" i="0">
                <a:solidFill>
                  <a:srgbClr val="FFFFFF"/>
                </a:solidFill>
                <a:latin typeface="Palatino Linotype"/>
              </a:rPr>
              <a:t>Problema de sănătate (tulburare sau boală)</a:t>
            </a:r>
          </a:p>
        </p:txBody>
      </p:sp>
      <p:sp>
        <p:nvSpPr>
          <p:cNvPr id="47" name="Rectangle 46"/>
          <p:cNvSpPr/>
          <p:nvPr/>
        </p:nvSpPr>
        <p:spPr>
          <a:xfrm>
            <a:off x="457200" y="1828800"/>
            <a:ext cx="2560320" cy="7772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7200" y="1828800"/>
            <a:ext cx="2560320" cy="54864"/>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1920240"/>
            <a:ext cx="2560320" cy="685800"/>
          </a:xfrm>
          <a:prstGeom prst="rect">
            <a:avLst/>
          </a:prstGeom>
          <a:noFill/>
        </p:spPr>
        <p:txBody>
          <a:bodyPr wrap="square" lIns="0" rIns="0" tIns="0" bIns="0" anchor="ctr">
            <a:spAutoFit/>
          </a:bodyPr>
          <a:lstStyle/>
          <a:p>
            <a:pPr algn="ctr"/>
            <a:r>
              <a:rPr sz="1100" b="1" i="0">
                <a:solidFill>
                  <a:srgbClr val="11121A"/>
                </a:solidFill>
                <a:latin typeface="Palatino Linotype"/>
              </a:rPr>
              <a:t>Funcțiile și structurile corpului</a:t>
            </a:r>
          </a:p>
          <a:p>
            <a:pPr algn="ctr"/>
            <a:r>
              <a:rPr sz="900" b="0" i="1">
                <a:solidFill>
                  <a:srgbClr val="585A64"/>
                </a:solidFill>
                <a:latin typeface="Palatino Linotype"/>
              </a:rPr>
              <a:t>problema: deficiențe</a:t>
            </a:r>
          </a:p>
        </p:txBody>
      </p:sp>
      <p:sp>
        <p:nvSpPr>
          <p:cNvPr id="50" name="Rectangle 49"/>
          <p:cNvSpPr/>
          <p:nvPr/>
        </p:nvSpPr>
        <p:spPr>
          <a:xfrm>
            <a:off x="3291840" y="1828800"/>
            <a:ext cx="2560320" cy="7772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291840" y="1828800"/>
            <a:ext cx="2560320" cy="54864"/>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91840" y="1920240"/>
            <a:ext cx="2560320" cy="685800"/>
          </a:xfrm>
          <a:prstGeom prst="rect">
            <a:avLst/>
          </a:prstGeom>
          <a:noFill/>
        </p:spPr>
        <p:txBody>
          <a:bodyPr wrap="square" lIns="0" rIns="0" tIns="0" bIns="0" anchor="ctr">
            <a:spAutoFit/>
          </a:bodyPr>
          <a:lstStyle/>
          <a:p>
            <a:pPr algn="ctr"/>
            <a:r>
              <a:rPr sz="1100" b="1" i="0">
                <a:solidFill>
                  <a:srgbClr val="11121A"/>
                </a:solidFill>
                <a:latin typeface="Palatino Linotype"/>
              </a:rPr>
              <a:t>Activitatea</a:t>
            </a:r>
          </a:p>
          <a:p>
            <a:pPr algn="ctr"/>
            <a:r>
              <a:rPr sz="900" b="0" i="1">
                <a:solidFill>
                  <a:srgbClr val="585A64"/>
                </a:solidFill>
                <a:latin typeface="Palatino Linotype"/>
              </a:rPr>
              <a:t>problema: limitări de activitate</a:t>
            </a:r>
          </a:p>
        </p:txBody>
      </p:sp>
      <p:sp>
        <p:nvSpPr>
          <p:cNvPr id="53" name="Rectangle 52"/>
          <p:cNvSpPr/>
          <p:nvPr/>
        </p:nvSpPr>
        <p:spPr>
          <a:xfrm>
            <a:off x="6126480" y="1828800"/>
            <a:ext cx="2560320" cy="7772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26480" y="1828800"/>
            <a:ext cx="2560320" cy="54864"/>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26480" y="1920240"/>
            <a:ext cx="2560320" cy="685800"/>
          </a:xfrm>
          <a:prstGeom prst="rect">
            <a:avLst/>
          </a:prstGeom>
          <a:noFill/>
        </p:spPr>
        <p:txBody>
          <a:bodyPr wrap="square" lIns="0" rIns="0" tIns="0" bIns="0" anchor="ctr">
            <a:spAutoFit/>
          </a:bodyPr>
          <a:lstStyle/>
          <a:p>
            <a:pPr algn="ctr"/>
            <a:r>
              <a:rPr sz="1100" b="1" i="0">
                <a:solidFill>
                  <a:srgbClr val="11121A"/>
                </a:solidFill>
                <a:latin typeface="Palatino Linotype"/>
              </a:rPr>
              <a:t>Participarea</a:t>
            </a:r>
          </a:p>
          <a:p>
            <a:pPr algn="ctr"/>
            <a:r>
              <a:rPr sz="900" b="0" i="1">
                <a:solidFill>
                  <a:srgbClr val="585A64"/>
                </a:solidFill>
                <a:latin typeface="Palatino Linotype"/>
              </a:rPr>
              <a:t>problema: restricții de participare</a:t>
            </a:r>
          </a:p>
        </p:txBody>
      </p:sp>
      <p:cxnSp>
        <p:nvCxnSpPr>
          <p:cNvPr id="56" name="Connector 55"/>
          <p:cNvCxnSpPr/>
          <p:nvPr/>
        </p:nvCxnSpPr>
        <p:spPr>
          <a:xfrm>
            <a:off x="3017520" y="2212848"/>
            <a:ext cx="274320" cy="0"/>
          </a:xfrm>
          <a:prstGeom prst="line">
            <a:avLst/>
          </a:prstGeom>
          <a:ln w="19050">
            <a:solidFill>
              <a:srgbClr val="585A64"/>
            </a:solidFill>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852160" y="2212848"/>
            <a:ext cx="274320" cy="0"/>
          </a:xfrm>
          <a:prstGeom prst="line">
            <a:avLst/>
          </a:prstGeom>
          <a:ln w="19050">
            <a:solidFill>
              <a:srgbClr val="585A64"/>
            </a:solidFill>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572000" y="1371600"/>
            <a:ext cx="0" cy="457200"/>
          </a:xfrm>
          <a:prstGeom prst="line">
            <a:avLst/>
          </a:prstGeom>
          <a:ln w="19050">
            <a:solidFill>
              <a:srgbClr val="585A64"/>
            </a:solidFill>
            <a:tailEnd type="triangle"/>
            <a:headEnd type="triangle"/>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188720" y="3063240"/>
            <a:ext cx="3108960" cy="73152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188720" y="3063240"/>
            <a:ext cx="54864" cy="73152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325880" y="3108960"/>
            <a:ext cx="2880360" cy="640080"/>
          </a:xfrm>
          <a:prstGeom prst="rect">
            <a:avLst/>
          </a:prstGeom>
          <a:noFill/>
        </p:spPr>
        <p:txBody>
          <a:bodyPr wrap="square" lIns="0" rIns="0" tIns="0" bIns="0" anchor="ctr">
            <a:spAutoFit/>
          </a:bodyPr>
          <a:lstStyle/>
          <a:p>
            <a:pPr algn="ctr"/>
            <a:r>
              <a:rPr sz="1100" b="1" i="0">
                <a:solidFill>
                  <a:srgbClr val="11121A"/>
                </a:solidFill>
                <a:latin typeface="Palatino Linotype"/>
              </a:rPr>
              <a:t>Factorii de mediu</a:t>
            </a:r>
          </a:p>
          <a:p>
            <a:pPr algn="ctr"/>
            <a:r>
              <a:rPr sz="900" b="0" i="0">
                <a:solidFill>
                  <a:srgbClr val="11121A"/>
                </a:solidFill>
                <a:latin typeface="Palatino Linotype"/>
              </a:rPr>
              <a:t>externi: fizic, social, atitudinal; barieră sau facilitator</a:t>
            </a:r>
          </a:p>
        </p:txBody>
      </p:sp>
      <p:sp>
        <p:nvSpPr>
          <p:cNvPr id="62" name="Rectangle 61"/>
          <p:cNvSpPr/>
          <p:nvPr/>
        </p:nvSpPr>
        <p:spPr>
          <a:xfrm>
            <a:off x="4846320" y="3063240"/>
            <a:ext cx="3108960" cy="73152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846320" y="3063240"/>
            <a:ext cx="54864" cy="73152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983480" y="3108960"/>
            <a:ext cx="2880360" cy="640080"/>
          </a:xfrm>
          <a:prstGeom prst="rect">
            <a:avLst/>
          </a:prstGeom>
          <a:noFill/>
        </p:spPr>
        <p:txBody>
          <a:bodyPr wrap="square" lIns="0" rIns="0" tIns="0" bIns="0" anchor="ctr">
            <a:spAutoFit/>
          </a:bodyPr>
          <a:lstStyle/>
          <a:p>
            <a:pPr algn="ctr"/>
            <a:r>
              <a:rPr sz="1100" b="1" i="0">
                <a:solidFill>
                  <a:srgbClr val="11121A"/>
                </a:solidFill>
                <a:latin typeface="Palatino Linotype"/>
              </a:rPr>
              <a:t>Factorii personali</a:t>
            </a:r>
          </a:p>
          <a:p>
            <a:pPr algn="ctr"/>
            <a:r>
              <a:rPr sz="900" b="0" i="0">
                <a:solidFill>
                  <a:srgbClr val="11121A"/>
                </a:solidFill>
                <a:latin typeface="Palatino Linotype"/>
              </a:rPr>
              <a:t>interni: vârsta, educația, profesia, stilurile de adaptare</a:t>
            </a:r>
          </a:p>
        </p:txBody>
      </p:sp>
      <p:sp>
        <p:nvSpPr>
          <p:cNvPr id="65" name="Rectangle 64"/>
          <p:cNvSpPr/>
          <p:nvPr/>
        </p:nvSpPr>
        <p:spPr>
          <a:xfrm>
            <a:off x="457200" y="2761488"/>
            <a:ext cx="8138160" cy="32004"/>
          </a:xfrm>
          <a:prstGeom prst="rect">
            <a:avLst/>
          </a:prstGeom>
          <a:solidFill>
            <a:srgbClr val="585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flipV="1">
            <a:off x="1737360" y="2624328"/>
            <a:ext cx="0" cy="137160"/>
          </a:xfrm>
          <a:prstGeom prst="line">
            <a:avLst/>
          </a:prstGeom>
          <a:ln w="19050">
            <a:solidFill>
              <a:srgbClr val="585A64"/>
            </a:solidFill>
            <a:tailEnd type="triangle"/>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572000" y="2624328"/>
            <a:ext cx="0" cy="137160"/>
          </a:xfrm>
          <a:prstGeom prst="line">
            <a:avLst/>
          </a:prstGeom>
          <a:ln w="19050">
            <a:solidFill>
              <a:srgbClr val="585A64"/>
            </a:solidFill>
            <a:tailEnd type="triangle"/>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7406640" y="2624328"/>
            <a:ext cx="0" cy="137160"/>
          </a:xfrm>
          <a:prstGeom prst="line">
            <a:avLst/>
          </a:prstGeom>
          <a:ln w="19050">
            <a:solidFill>
              <a:srgbClr val="585A64"/>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2743200" y="2798064"/>
            <a:ext cx="0" cy="265176"/>
          </a:xfrm>
          <a:prstGeom prst="line">
            <a:avLst/>
          </a:prstGeom>
          <a:ln w="19050">
            <a:solidFill>
              <a:srgbClr val="585A64"/>
            </a:solidFill>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6400800" y="2798064"/>
            <a:ext cx="0" cy="265176"/>
          </a:xfrm>
          <a:prstGeom prst="line">
            <a:avLst/>
          </a:prstGeom>
          <a:ln w="19050">
            <a:solidFill>
              <a:srgbClr val="585A64"/>
            </a:solidFill>
            <a:tailEnd type="triangle"/>
            <a:headEnd type="triangle"/>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2926080" y="2816352"/>
            <a:ext cx="3291840" cy="201168"/>
          </a:xfrm>
          <a:prstGeom prst="rect">
            <a:avLst/>
          </a:prstGeom>
          <a:noFill/>
        </p:spPr>
        <p:txBody>
          <a:bodyPr wrap="square" lIns="0" rIns="0" tIns="0" bIns="0" anchor="t">
            <a:spAutoFit/>
          </a:bodyPr>
          <a:lstStyle/>
          <a:p>
            <a:pPr algn="ctr"/>
            <a:r>
              <a:rPr sz="750" b="0" i="1">
                <a:solidFill>
                  <a:srgbClr val="585A64"/>
                </a:solidFill>
                <a:latin typeface="Palatino Linotype"/>
              </a:rPr>
              <a:t>factorii de context interacționează cu toate cele trei componente</a:t>
            </a:r>
          </a:p>
        </p:txBody>
      </p:sp>
      <p:sp>
        <p:nvSpPr>
          <p:cNvPr id="72" name="TextBox 71"/>
          <p:cNvSpPr txBox="1"/>
          <p:nvPr/>
        </p:nvSpPr>
        <p:spPr>
          <a:xfrm>
            <a:off x="457200" y="3977639"/>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rezoluția WHA54.21, 22 mai 2001; OMS, ghidul introductiv al CIF, 2002. Funcționarea și dizabilitatea sunt termeni-umbrelă.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23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Componentele CIF: definițiile OMS</a:t>
            </a:r>
          </a:p>
        </p:txBody>
      </p:sp>
      <p:sp>
        <p:nvSpPr>
          <p:cNvPr id="45" name="Rectangle 44"/>
          <p:cNvSpPr/>
          <p:nvPr/>
        </p:nvSpPr>
        <p:spPr>
          <a:xfrm>
            <a:off x="457200" y="914400"/>
            <a:ext cx="4023360" cy="71323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14400"/>
            <a:ext cx="54864" cy="71323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987552"/>
            <a:ext cx="3749040" cy="585216"/>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Funcțiile corpului</a:t>
            </a:r>
          </a:p>
          <a:p>
            <a:pPr algn="l">
              <a:spcAft>
                <a:spcPts val="300"/>
              </a:spcAft>
            </a:pPr>
            <a:r>
              <a:rPr sz="950" b="0" i="0">
                <a:solidFill>
                  <a:srgbClr val="11121A"/>
                </a:solidFill>
                <a:latin typeface="Palatino Linotype"/>
              </a:rPr>
              <a:t>funcțiile fiziologice ale sistemelor corpului, inclusiv cele psihologice</a:t>
            </a:r>
          </a:p>
        </p:txBody>
      </p:sp>
      <p:sp>
        <p:nvSpPr>
          <p:cNvPr id="48" name="Rectangle 47"/>
          <p:cNvSpPr/>
          <p:nvPr/>
        </p:nvSpPr>
        <p:spPr>
          <a:xfrm>
            <a:off x="4663440" y="914400"/>
            <a:ext cx="4023360" cy="71323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663440" y="914400"/>
            <a:ext cx="54864" cy="71323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28031" y="987552"/>
            <a:ext cx="3749040" cy="585216"/>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Structurile corpului</a:t>
            </a:r>
          </a:p>
          <a:p>
            <a:pPr algn="l">
              <a:spcAft>
                <a:spcPts val="300"/>
              </a:spcAft>
            </a:pPr>
            <a:r>
              <a:rPr sz="950" b="0" i="0">
                <a:solidFill>
                  <a:srgbClr val="11121A"/>
                </a:solidFill>
                <a:latin typeface="Palatino Linotype"/>
              </a:rPr>
              <a:t>părțile anatomice: organe, membre și componentele lor</a:t>
            </a:r>
          </a:p>
        </p:txBody>
      </p:sp>
      <p:sp>
        <p:nvSpPr>
          <p:cNvPr id="51" name="Rectangle 50"/>
          <p:cNvSpPr/>
          <p:nvPr/>
        </p:nvSpPr>
        <p:spPr>
          <a:xfrm>
            <a:off x="457200" y="1719072"/>
            <a:ext cx="4023360" cy="71323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1719072"/>
            <a:ext cx="54864" cy="71323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1792224"/>
            <a:ext cx="3749040" cy="585216"/>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Deficiențele</a:t>
            </a:r>
          </a:p>
          <a:p>
            <a:pPr algn="l">
              <a:spcAft>
                <a:spcPts val="300"/>
              </a:spcAft>
            </a:pPr>
            <a:r>
              <a:rPr sz="950" b="0" i="0">
                <a:solidFill>
                  <a:srgbClr val="11121A"/>
                </a:solidFill>
                <a:latin typeface="Palatino Linotype"/>
              </a:rPr>
              <a:t>probleme ale funcțiilor sau structurilor: o abatere semnificativă sau o pierdere</a:t>
            </a:r>
          </a:p>
        </p:txBody>
      </p:sp>
      <p:sp>
        <p:nvSpPr>
          <p:cNvPr id="54" name="Rectangle 53"/>
          <p:cNvSpPr/>
          <p:nvPr/>
        </p:nvSpPr>
        <p:spPr>
          <a:xfrm>
            <a:off x="4663440" y="1719072"/>
            <a:ext cx="4023360" cy="71323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663440" y="1719072"/>
            <a:ext cx="54864" cy="71323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28031" y="1792224"/>
            <a:ext cx="3749040" cy="585216"/>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Activitatea</a:t>
            </a:r>
          </a:p>
          <a:p>
            <a:pPr algn="l">
              <a:spcAft>
                <a:spcPts val="300"/>
              </a:spcAft>
            </a:pPr>
            <a:r>
              <a:rPr sz="950" b="0" i="0">
                <a:solidFill>
                  <a:srgbClr val="11121A"/>
                </a:solidFill>
                <a:latin typeface="Palatino Linotype"/>
              </a:rPr>
              <a:t>executarea unei sarcini sau a unei acțiuni de către o persoană</a:t>
            </a:r>
          </a:p>
        </p:txBody>
      </p:sp>
      <p:sp>
        <p:nvSpPr>
          <p:cNvPr id="57" name="Rectangle 56"/>
          <p:cNvSpPr/>
          <p:nvPr/>
        </p:nvSpPr>
        <p:spPr>
          <a:xfrm>
            <a:off x="457200" y="2523744"/>
            <a:ext cx="4023360" cy="71323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2523744"/>
            <a:ext cx="54864" cy="71323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2596896"/>
            <a:ext cx="3749040" cy="585216"/>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Participarea</a:t>
            </a:r>
          </a:p>
          <a:p>
            <a:pPr algn="l">
              <a:spcAft>
                <a:spcPts val="300"/>
              </a:spcAft>
            </a:pPr>
            <a:r>
              <a:rPr sz="950" b="0" i="0">
                <a:solidFill>
                  <a:srgbClr val="11121A"/>
                </a:solidFill>
                <a:latin typeface="Palatino Linotype"/>
              </a:rPr>
              <a:t>implicarea într-o situație de viață</a:t>
            </a:r>
          </a:p>
        </p:txBody>
      </p:sp>
      <p:sp>
        <p:nvSpPr>
          <p:cNvPr id="60" name="Rectangle 59"/>
          <p:cNvSpPr/>
          <p:nvPr/>
        </p:nvSpPr>
        <p:spPr>
          <a:xfrm>
            <a:off x="4663440" y="2523744"/>
            <a:ext cx="4023360" cy="71323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663440" y="2523744"/>
            <a:ext cx="54864" cy="71323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28031" y="2596896"/>
            <a:ext cx="3749040" cy="585216"/>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Limitările și restricțiile</a:t>
            </a:r>
          </a:p>
          <a:p>
            <a:pPr algn="l">
              <a:spcAft>
                <a:spcPts val="300"/>
              </a:spcAft>
            </a:pPr>
            <a:r>
              <a:rPr sz="950" b="0" i="0">
                <a:solidFill>
                  <a:srgbClr val="11121A"/>
                </a:solidFill>
                <a:latin typeface="Palatino Linotype"/>
              </a:rPr>
              <a:t>dificultăți în executarea activităților; probleme în implicarea în situații de viață</a:t>
            </a:r>
          </a:p>
        </p:txBody>
      </p:sp>
      <p:sp>
        <p:nvSpPr>
          <p:cNvPr id="63" name="Rectangle 62"/>
          <p:cNvSpPr/>
          <p:nvPr/>
        </p:nvSpPr>
        <p:spPr>
          <a:xfrm>
            <a:off x="457200" y="3328416"/>
            <a:ext cx="4023360" cy="71323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57200" y="3328416"/>
            <a:ext cx="54864" cy="713232"/>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1792" y="3401568"/>
            <a:ext cx="3749040" cy="585216"/>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Factorii de mediu</a:t>
            </a:r>
          </a:p>
          <a:p>
            <a:pPr algn="l">
              <a:spcAft>
                <a:spcPts val="300"/>
              </a:spcAft>
            </a:pPr>
            <a:r>
              <a:rPr sz="950" b="0" i="0">
                <a:solidFill>
                  <a:srgbClr val="11121A"/>
                </a:solidFill>
                <a:latin typeface="Palatino Linotype"/>
              </a:rPr>
              <a:t>mediul fizic, social și atitudinal în care oamenii trăiesc</a:t>
            </a:r>
          </a:p>
        </p:txBody>
      </p:sp>
      <p:sp>
        <p:nvSpPr>
          <p:cNvPr id="66" name="Rectangle 65"/>
          <p:cNvSpPr/>
          <p:nvPr/>
        </p:nvSpPr>
        <p:spPr>
          <a:xfrm>
            <a:off x="4663440" y="3328416"/>
            <a:ext cx="4023360" cy="71323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663440" y="3328416"/>
            <a:ext cx="54864" cy="713232"/>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828031" y="3401568"/>
            <a:ext cx="3749040" cy="585216"/>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Factorii personali</a:t>
            </a:r>
          </a:p>
          <a:p>
            <a:pPr algn="l">
              <a:spcAft>
                <a:spcPts val="300"/>
              </a:spcAft>
            </a:pPr>
            <a:r>
              <a:rPr sz="950" b="0" i="0">
                <a:solidFill>
                  <a:srgbClr val="11121A"/>
                </a:solidFill>
                <a:latin typeface="Palatino Linotype"/>
              </a:rPr>
              <a:t>genul, vârsta, educația, profesia, stilurile de adaptare</a:t>
            </a:r>
          </a:p>
        </p:txBody>
      </p:sp>
      <p:sp>
        <p:nvSpPr>
          <p:cNvPr id="69" name="TextBox 68"/>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Sursa: OMS, Towards a Common Language for Functioning, Disability and Health: ICF, 2002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Capacitate și performanță, bariere și facilitatori</a:t>
            </a:r>
            <a:endParaRPr lang="en-US" sz="2400" dirty="0"/>
          </a:p>
        </p:txBody>
      </p:sp>
      <p:sp>
        <p:nvSpPr>
          <p:cNvPr id="3" name="Shape 1"/>
          <p:cNvSpPr/>
          <p:nvPr/>
        </p:nvSpPr>
        <p:spPr>
          <a:xfrm>
            <a:off x="457200" y="1005840"/>
            <a:ext cx="4023360" cy="2011680"/>
          </a:xfrm>
          <a:prstGeom prst="rect">
            <a:avLst/>
          </a:prstGeom>
          <a:solidFill>
            <a:srgbClr val="ECEAE4"/>
          </a:solidFill>
          <a:ln/>
          <a:effectLst/>
        </p:spPr>
        <p:txBody>
          <a:bodyPr/>
          <a:lstStyle/>
          <a:p>
            <a:endParaRPr lang="ro-RO" sz="1200"/>
          </a:p>
        </p:txBody>
      </p:sp>
      <p:sp>
        <p:nvSpPr>
          <p:cNvPr id="4" name="Shape 2"/>
          <p:cNvSpPr/>
          <p:nvPr/>
        </p:nvSpPr>
        <p:spPr>
          <a:xfrm>
            <a:off x="457200" y="1005840"/>
            <a:ext cx="4023360" cy="411480"/>
          </a:xfrm>
          <a:prstGeom prst="rect">
            <a:avLst/>
          </a:prstGeom>
          <a:solidFill>
            <a:srgbClr val="585A64"/>
          </a:solidFill>
          <a:ln/>
        </p:spPr>
        <p:txBody>
          <a:bodyPr/>
          <a:lstStyle/>
          <a:p>
            <a:endParaRPr lang="ro-RO" sz="1200"/>
          </a:p>
        </p:txBody>
      </p:sp>
      <p:sp>
        <p:nvSpPr>
          <p:cNvPr id="5" name="Text 3"/>
          <p:cNvSpPr/>
          <p:nvPr/>
        </p:nvSpPr>
        <p:spPr>
          <a:xfrm>
            <a:off x="45720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Capacitatea</a:t>
            </a:r>
            <a:endParaRPr lang="en-US" sz="1600" dirty="0"/>
          </a:p>
        </p:txBody>
      </p:sp>
      <p:sp>
        <p:nvSpPr>
          <p:cNvPr id="6" name="Text 4"/>
          <p:cNvSpPr/>
          <p:nvPr/>
        </p:nvSpPr>
        <p:spPr>
          <a:xfrm>
            <a:off x="640080" y="150876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Ce poate face persoana într-un mediu standard</a:t>
            </a:r>
            <a:endParaRPr lang="en-US" sz="1200" dirty="0"/>
          </a:p>
        </p:txBody>
      </p:sp>
      <p:sp>
        <p:nvSpPr>
          <p:cNvPr id="7" name="Text 5"/>
          <p:cNvSpPr/>
          <p:nvPr/>
        </p:nvSpPr>
        <p:spPr>
          <a:xfrm>
            <a:off x="640080" y="187452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Exemplu: urcă zece trepte în sala de recuperare</a:t>
            </a:r>
            <a:endParaRPr lang="en-US" sz="1200" dirty="0"/>
          </a:p>
        </p:txBody>
      </p:sp>
      <p:sp>
        <p:nvSpPr>
          <p:cNvPr id="8" name="Text 6"/>
          <p:cNvSpPr/>
          <p:nvPr/>
        </p:nvSpPr>
        <p:spPr>
          <a:xfrm>
            <a:off x="640080" y="224028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Calificatorul capacității</a:t>
            </a:r>
            <a:endParaRPr lang="en-US" sz="1200" dirty="0"/>
          </a:p>
        </p:txBody>
      </p:sp>
      <p:sp>
        <p:nvSpPr>
          <p:cNvPr id="9" name="Text 7"/>
          <p:cNvSpPr/>
          <p:nvPr/>
        </p:nvSpPr>
        <p:spPr>
          <a:xfrm>
            <a:off x="640080" y="260604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Se aplică listei activitate și participare (d)</a:t>
            </a:r>
            <a:endParaRPr lang="en-US" sz="1200" dirty="0"/>
          </a:p>
        </p:txBody>
      </p:sp>
      <p:sp>
        <p:nvSpPr>
          <p:cNvPr id="10" name="Shape 8"/>
          <p:cNvSpPr/>
          <p:nvPr/>
        </p:nvSpPr>
        <p:spPr>
          <a:xfrm>
            <a:off x="4754880" y="1005840"/>
            <a:ext cx="4023360" cy="2011680"/>
          </a:xfrm>
          <a:prstGeom prst="rect">
            <a:avLst/>
          </a:prstGeom>
          <a:solidFill>
            <a:srgbClr val="ECEAE4"/>
          </a:solidFill>
          <a:ln/>
          <a:effectLst/>
        </p:spPr>
        <p:txBody>
          <a:bodyPr/>
          <a:lstStyle/>
          <a:p>
            <a:endParaRPr lang="ro-RO" sz="1200"/>
          </a:p>
        </p:txBody>
      </p:sp>
      <p:sp>
        <p:nvSpPr>
          <p:cNvPr id="11" name="Shape 9"/>
          <p:cNvSpPr/>
          <p:nvPr/>
        </p:nvSpPr>
        <p:spPr>
          <a:xfrm>
            <a:off x="4754880" y="1005840"/>
            <a:ext cx="4023360" cy="411480"/>
          </a:xfrm>
          <a:prstGeom prst="rect">
            <a:avLst/>
          </a:prstGeom>
          <a:solidFill>
            <a:srgbClr val="0E7C6B"/>
          </a:solidFill>
          <a:ln/>
        </p:spPr>
        <p:txBody>
          <a:bodyPr/>
          <a:lstStyle/>
          <a:p>
            <a:endParaRPr lang="ro-RO" sz="1200"/>
          </a:p>
        </p:txBody>
      </p:sp>
      <p:sp>
        <p:nvSpPr>
          <p:cNvPr id="12" name="Text 10"/>
          <p:cNvSpPr/>
          <p:nvPr/>
        </p:nvSpPr>
        <p:spPr>
          <a:xfrm>
            <a:off x="475488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Performanța</a:t>
            </a:r>
            <a:endParaRPr lang="en-US" sz="1600" dirty="0"/>
          </a:p>
        </p:txBody>
      </p:sp>
      <p:sp>
        <p:nvSpPr>
          <p:cNvPr id="13" name="Text 11"/>
          <p:cNvSpPr/>
          <p:nvPr/>
        </p:nvSpPr>
        <p:spPr>
          <a:xfrm>
            <a:off x="4937760" y="150876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Ce face efectiv în mediul ei obișnuit</a:t>
            </a:r>
            <a:endParaRPr lang="en-US" sz="1200" dirty="0"/>
          </a:p>
        </p:txBody>
      </p:sp>
      <p:sp>
        <p:nvSpPr>
          <p:cNvPr id="14" name="Text 12"/>
          <p:cNvSpPr/>
          <p:nvPr/>
        </p:nvSpPr>
        <p:spPr>
          <a:xfrm>
            <a:off x="4937760" y="187452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Exemplu: nu iese din bloc, fiindcă nu are lift</a:t>
            </a:r>
            <a:endParaRPr lang="en-US" sz="1200" dirty="0"/>
          </a:p>
        </p:txBody>
      </p:sp>
      <p:sp>
        <p:nvSpPr>
          <p:cNvPr id="15" name="Text 13"/>
          <p:cNvSpPr/>
          <p:nvPr/>
        </p:nvSpPr>
        <p:spPr>
          <a:xfrm>
            <a:off x="4937760" y="224028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Calificatorul performanței</a:t>
            </a:r>
            <a:endParaRPr lang="en-US" sz="1200" dirty="0"/>
          </a:p>
        </p:txBody>
      </p:sp>
      <p:sp>
        <p:nvSpPr>
          <p:cNvPr id="16" name="Text 14"/>
          <p:cNvSpPr/>
          <p:nvPr/>
        </p:nvSpPr>
        <p:spPr>
          <a:xfrm>
            <a:off x="4937760" y="260604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Se aplică aceleiași liste (d)</a:t>
            </a:r>
            <a:endParaRPr lang="en-US" sz="1200" dirty="0"/>
          </a:p>
        </p:txBody>
      </p:sp>
      <p:sp>
        <p:nvSpPr>
          <p:cNvPr id="17" name="Shape 15"/>
          <p:cNvSpPr/>
          <p:nvPr/>
        </p:nvSpPr>
        <p:spPr>
          <a:xfrm>
            <a:off x="457200" y="3200400"/>
            <a:ext cx="8229600" cy="1005840"/>
          </a:xfrm>
          <a:prstGeom prst="rect">
            <a:avLst/>
          </a:prstGeom>
          <a:solidFill>
            <a:srgbClr val="FF4757">
              <a:alpha val="15000"/>
            </a:srgbClr>
          </a:solidFill>
          <a:ln/>
        </p:spPr>
        <p:txBody>
          <a:bodyPr/>
          <a:lstStyle/>
          <a:p>
            <a:endParaRPr lang="ro-RO" sz="1200"/>
          </a:p>
        </p:txBody>
      </p:sp>
      <p:sp>
        <p:nvSpPr>
          <p:cNvPr id="18" name="Shape 16"/>
          <p:cNvSpPr/>
          <p:nvPr/>
        </p:nvSpPr>
        <p:spPr>
          <a:xfrm>
            <a:off x="457200" y="3200400"/>
            <a:ext cx="54864" cy="1005840"/>
          </a:xfrm>
          <a:prstGeom prst="rect">
            <a:avLst/>
          </a:prstGeom>
          <a:solidFill>
            <a:srgbClr val="FF4757"/>
          </a:solidFill>
          <a:ln/>
        </p:spPr>
        <p:txBody>
          <a:bodyPr/>
          <a:lstStyle/>
          <a:p>
            <a:endParaRPr lang="ro-RO" sz="1200"/>
          </a:p>
        </p:txBody>
      </p:sp>
      <p:sp>
        <p:nvSpPr>
          <p:cNvPr id="19" name="Text 17"/>
          <p:cNvSpPr/>
          <p:nvPr/>
        </p:nvSpPr>
        <p:spPr>
          <a:xfrm>
            <a:off x="685800" y="3200400"/>
            <a:ext cx="914400" cy="320040"/>
          </a:xfrm>
          <a:prstGeom prst="rect">
            <a:avLst/>
          </a:prstGeom>
          <a:noFill/>
          <a:ln/>
        </p:spPr>
        <p:txBody>
          <a:bodyPr wrap="square" lIns="0" tIns="0" rIns="0" bIns="0" rtlCol="0" anchor="ctr"/>
          <a:lstStyle/>
          <a:p>
            <a:pPr marL="0" indent="0">
              <a:buNone/>
            </a:pPr>
            <a:r>
              <a:rPr lang="en-US" sz="1100" b="1" dirty="0">
                <a:solidFill>
                  <a:srgbClr val="B02532"/>
                </a:solidFill>
                <a:latin typeface="Palatino Linotype" pitchFamily="34" charset="0"/>
                <a:ea typeface="Palatino Linotype" pitchFamily="34" charset="-122"/>
                <a:cs typeface="Palatino Linotype" pitchFamily="34" charset="-120"/>
              </a:rPr>
              <a:t>Codurile:</a:t>
            </a:r>
            <a:endParaRPr lang="en-US" sz="1200" dirty="0"/>
          </a:p>
        </p:txBody>
      </p:sp>
      <p:sp>
        <p:nvSpPr>
          <p:cNvPr id="20" name="Text 18"/>
          <p:cNvSpPr/>
          <p:nvPr/>
        </p:nvSpPr>
        <p:spPr>
          <a:xfrm>
            <a:off x="685800" y="3520440"/>
            <a:ext cx="7772400" cy="640080"/>
          </a:xfrm>
          <a:prstGeom prst="rect">
            <a:avLst/>
          </a:prstGeom>
          <a:noFill/>
          <a:ln/>
        </p:spPr>
        <p:txBody>
          <a:bodyPr wrap="square" lIns="0" tIns="0" rIns="0" bIns="0" rtlCol="0" anchor="t"/>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b funcții, s structuri, d activitate și participare, e mediu; e145.2 = barieră moderată, e145+2 = facilitator moderat. Dacă performanța este mai slabă decât capacitatea, un element al mediului este o barieră.</a:t>
            </a:r>
            <a:endParaRPr lang="en-US" sz="1200" dirty="0"/>
          </a:p>
        </p:txBody>
      </p:sp>
      <p:sp>
        <p:nvSpPr>
          <p:cNvPr id="21" name="Shape 19"/>
          <p:cNvSpPr/>
          <p:nvPr/>
        </p:nvSpPr>
        <p:spPr>
          <a:xfrm>
            <a:off x="0" y="4709160"/>
            <a:ext cx="9144000" cy="434340"/>
          </a:xfrm>
          <a:prstGeom prst="rect">
            <a:avLst/>
          </a:prstGeom>
          <a:noFill/>
          <a:ln/>
        </p:spPr>
        <p:txBody>
          <a:bodyPr/>
          <a:lstStyle/>
          <a:p>
            <a:endParaRPr lang="ro-RO" sz="1200"/>
          </a:p>
        </p:txBody>
      </p:sp>
      <p:sp>
        <p:nvSpPr>
          <p:cNvPr id="22"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3"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24 / 60</a:t>
            </a:r>
            <a:endParaRPr lang="en-US" sz="12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25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Profilul CIF al unui caz construit: lombalgie cronică</a:t>
            </a:r>
          </a:p>
        </p:txBody>
      </p:sp>
      <p:sp>
        <p:nvSpPr>
          <p:cNvPr id="45" name="Rectangle 44"/>
          <p:cNvSpPr/>
          <p:nvPr/>
        </p:nvSpPr>
        <p:spPr>
          <a:xfrm>
            <a:off x="457200" y="896112"/>
            <a:ext cx="8229600" cy="65836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896112"/>
            <a:ext cx="54864" cy="65836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969264"/>
            <a:ext cx="7863840" cy="548640"/>
          </a:xfrm>
          <a:prstGeom prst="rect">
            <a:avLst/>
          </a:prstGeom>
          <a:noFill/>
        </p:spPr>
        <p:txBody>
          <a:bodyPr wrap="square" lIns="0" rIns="0" tIns="0" bIns="0" anchor="t">
            <a:spAutoFit/>
          </a:bodyPr>
          <a:lstStyle/>
          <a:p>
            <a:pPr algn="l"/>
            <a:r>
              <a:rPr sz="900" b="1" i="0">
                <a:solidFill>
                  <a:srgbClr val="B02532"/>
                </a:solidFill>
                <a:latin typeface="Palatino Linotype"/>
              </a:rPr>
              <a:t>Valori ipotetice. </a:t>
            </a:r>
            <a:r>
              <a:rPr sz="900" b="0" i="0">
                <a:solidFill>
                  <a:srgbClr val="11121A"/>
                </a:solidFill>
                <a:latin typeface="Palatino Linotype"/>
              </a:rPr>
              <a:t>Caz construit; persoana nu există. Operator de depozit, 46 de ani, dureri lombare de peste un an, fără cauză specifică. Stă în picioare cel mult 20 de minute; a renunțat la fotbal. Lucrează în schimburi, fără post adaptat. Crede că mișcarea îi agravează boala; soția îl susține.</a:t>
            </a:r>
          </a:p>
        </p:txBody>
      </p:sp>
      <p:sp>
        <p:nvSpPr>
          <p:cNvPr id="48" name="Rectangle 47"/>
          <p:cNvSpPr/>
          <p:nvPr/>
        </p:nvSpPr>
        <p:spPr>
          <a:xfrm>
            <a:off x="457200" y="1645920"/>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1645920"/>
            <a:ext cx="54864" cy="420624"/>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1719072"/>
            <a:ext cx="7955279" cy="292608"/>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Corp: </a:t>
            </a:r>
            <a:r>
              <a:rPr sz="1000" b="0" i="0">
                <a:solidFill>
                  <a:srgbClr val="11121A"/>
                </a:solidFill>
                <a:latin typeface="Palatino Linotype"/>
              </a:rPr>
              <a:t>durere lombară persistentă, mobilitate lombară redusă, rezistență scăzută a trunchiului</a:t>
            </a:r>
          </a:p>
        </p:txBody>
      </p:sp>
      <p:sp>
        <p:nvSpPr>
          <p:cNvPr id="51" name="Rectangle 50"/>
          <p:cNvSpPr/>
          <p:nvPr/>
        </p:nvSpPr>
        <p:spPr>
          <a:xfrm>
            <a:off x="457200" y="2121408"/>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2121408"/>
            <a:ext cx="54864" cy="420624"/>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2194560"/>
            <a:ext cx="7955279" cy="292608"/>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Activitate: </a:t>
            </a:r>
            <a:r>
              <a:rPr sz="1000" b="0" i="0">
                <a:solidFill>
                  <a:srgbClr val="11121A"/>
                </a:solidFill>
                <a:latin typeface="Palatino Linotype"/>
              </a:rPr>
              <a:t>ridică greu obiecte; stă în picioare cel mult 20 de minute</a:t>
            </a:r>
          </a:p>
        </p:txBody>
      </p:sp>
      <p:sp>
        <p:nvSpPr>
          <p:cNvPr id="54" name="Rectangle 53"/>
          <p:cNvSpPr/>
          <p:nvPr/>
        </p:nvSpPr>
        <p:spPr>
          <a:xfrm>
            <a:off x="457200" y="2596896"/>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2596896"/>
            <a:ext cx="54864" cy="420624"/>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2670048"/>
            <a:ext cx="7955279" cy="292608"/>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Participare: </a:t>
            </a:r>
            <a:r>
              <a:rPr sz="1000" b="0" i="0">
                <a:solidFill>
                  <a:srgbClr val="11121A"/>
                </a:solidFill>
                <a:latin typeface="Palatino Linotype"/>
              </a:rPr>
              <a:t>concedii medicale repetate; a renunțat la sport</a:t>
            </a:r>
          </a:p>
        </p:txBody>
      </p:sp>
      <p:sp>
        <p:nvSpPr>
          <p:cNvPr id="57" name="Rectangle 56"/>
          <p:cNvSpPr/>
          <p:nvPr/>
        </p:nvSpPr>
        <p:spPr>
          <a:xfrm>
            <a:off x="457200" y="3072384"/>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3072384"/>
            <a:ext cx="54864" cy="420624"/>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3145536"/>
            <a:ext cx="7955279" cy="292608"/>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Mediu: </a:t>
            </a:r>
            <a:r>
              <a:rPr sz="1000" b="0" i="0">
                <a:solidFill>
                  <a:srgbClr val="11121A"/>
                </a:solidFill>
                <a:latin typeface="Palatino Linotype"/>
              </a:rPr>
              <a:t>bariere: post neadaptat, schimburi · facilitatori: soția, medicul de familie</a:t>
            </a:r>
          </a:p>
        </p:txBody>
      </p:sp>
      <p:sp>
        <p:nvSpPr>
          <p:cNvPr id="60" name="Rectangle 59"/>
          <p:cNvSpPr/>
          <p:nvPr/>
        </p:nvSpPr>
        <p:spPr>
          <a:xfrm>
            <a:off x="457200" y="3547872"/>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57200" y="3547872"/>
            <a:ext cx="54864" cy="420624"/>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21792" y="3621024"/>
            <a:ext cx="7955279" cy="292608"/>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Personali: </a:t>
            </a:r>
            <a:r>
              <a:rPr sz="1000" b="0" i="0">
                <a:solidFill>
                  <a:srgbClr val="11121A"/>
                </a:solidFill>
                <a:latin typeface="Palatino Linotype"/>
              </a:rPr>
              <a:t>vârsta, profesia, convingerea că mișcarea este periculoasă</a:t>
            </a:r>
          </a:p>
        </p:txBody>
      </p:sp>
      <p:sp>
        <p:nvSpPr>
          <p:cNvPr id="63" name="Rectangle 62"/>
          <p:cNvSpPr/>
          <p:nvPr/>
        </p:nvSpPr>
        <p:spPr>
          <a:xfrm>
            <a:off x="457200" y="4069080"/>
            <a:ext cx="8229600" cy="45720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94360" y="4069080"/>
            <a:ext cx="7955279" cy="457200"/>
          </a:xfrm>
          <a:prstGeom prst="rect">
            <a:avLst/>
          </a:prstGeom>
          <a:noFill/>
        </p:spPr>
        <p:txBody>
          <a:bodyPr wrap="square" lIns="0" rIns="0" tIns="0" bIns="0" anchor="ctr">
            <a:spAutoFit/>
          </a:bodyPr>
          <a:lstStyle/>
          <a:p>
            <a:pPr algn="ctr"/>
            <a:r>
              <a:rPr sz="1050" b="1" i="0">
                <a:solidFill>
                  <a:srgbClr val="FFFFFF"/>
                </a:solidFill>
                <a:latin typeface="Palatino Linotype"/>
              </a:rPr>
              <a:t>Obiectiv la nivelul participării: revenirea la muncă, cu adaptarea sarcinilor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26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De ce contează CIF pentru sănătatea publică</a:t>
            </a:r>
          </a:p>
        </p:txBody>
      </p:sp>
      <p:sp>
        <p:nvSpPr>
          <p:cNvPr id="45" name="Rectangle 44"/>
          <p:cNvSpPr/>
          <p:nvPr/>
        </p:nvSpPr>
        <p:spPr>
          <a:xfrm>
            <a:off x="457200" y="960120"/>
            <a:ext cx="4023360" cy="14630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60120"/>
            <a:ext cx="54864" cy="1463040"/>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1033272"/>
            <a:ext cx="3749040" cy="1335024"/>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Instrument de planificare</a:t>
            </a:r>
          </a:p>
          <a:p>
            <a:pPr algn="l">
              <a:spcAft>
                <a:spcPts val="300"/>
              </a:spcAft>
            </a:pPr>
            <a:r>
              <a:rPr sz="1000" b="0" i="0">
                <a:solidFill>
                  <a:srgbClr val="11121A"/>
                </a:solidFill>
                <a:latin typeface="Palatino Linotype"/>
              </a:rPr>
              <a:t>Ghidul OMS numește CIF baza conceptuală pentru definire, măsurare și formularea politicilor; utilizarea cea mai importantă: instrument de planificare și de politică pentru decidenți.</a:t>
            </a:r>
          </a:p>
        </p:txBody>
      </p:sp>
      <p:sp>
        <p:nvSpPr>
          <p:cNvPr id="48" name="Rectangle 47"/>
          <p:cNvSpPr/>
          <p:nvPr/>
        </p:nvSpPr>
        <p:spPr>
          <a:xfrm>
            <a:off x="4663440" y="960120"/>
            <a:ext cx="4023360" cy="14630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663440" y="960120"/>
            <a:ext cx="54864" cy="146304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28031" y="1033272"/>
            <a:ext cx="3749040" cy="1335024"/>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Date despre funcționare</a:t>
            </a:r>
          </a:p>
          <a:p>
            <a:pPr algn="l">
              <a:spcAft>
                <a:spcPts val="300"/>
              </a:spcAft>
            </a:pPr>
            <a:r>
              <a:rPr sz="1000" b="0" i="0">
                <a:solidFill>
                  <a:srgbClr val="11121A"/>
                </a:solidFill>
                <a:latin typeface="Palatino Linotype"/>
              </a:rPr>
              <a:t>Rezoluția WHA76.6 cere statelor să colecteze în sistemele informaționale de sănătate date despre funcționare, folosind CIF.</a:t>
            </a:r>
          </a:p>
        </p:txBody>
      </p:sp>
      <p:sp>
        <p:nvSpPr>
          <p:cNvPr id="51" name="Rectangle 50"/>
          <p:cNvSpPr/>
          <p:nvPr/>
        </p:nvSpPr>
        <p:spPr>
          <a:xfrm>
            <a:off x="457200" y="2651760"/>
            <a:ext cx="8229600" cy="731520"/>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4360" y="2651760"/>
            <a:ext cx="7955279" cy="731520"/>
          </a:xfrm>
          <a:prstGeom prst="rect">
            <a:avLst/>
          </a:prstGeom>
          <a:noFill/>
        </p:spPr>
        <p:txBody>
          <a:bodyPr wrap="square" lIns="0" rIns="0" tIns="0" bIns="0" anchor="ctr">
            <a:spAutoFit/>
          </a:bodyPr>
          <a:lstStyle/>
          <a:p>
            <a:pPr algn="ctr"/>
            <a:r>
              <a:rPr sz="1100" b="0" i="0">
                <a:solidFill>
                  <a:srgbClr val="FFFFFF"/>
                </a:solidFill>
                <a:latin typeface="Palatino Linotype"/>
              </a:rPr>
              <a:t>Un limbaj comun permite ca informațiile despre pacienți diferiți, din servicii diferite, să fie comparate și agregate la nivelul unei populații.</a:t>
            </a:r>
          </a:p>
        </p:txBody>
      </p:sp>
      <p:sp>
        <p:nvSpPr>
          <p:cNvPr id="53" name="TextBox 52"/>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OMS, ghidul introductiv al CIF, 2002; rezoluția WHA76.6, 2023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914400" y="1371600"/>
            <a:ext cx="731520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Palatino Linotype" pitchFamily="34" charset="0"/>
                <a:ea typeface="Palatino Linotype" pitchFamily="34" charset="-122"/>
                <a:cs typeface="Palatino Linotype" pitchFamily="34" charset="-120"/>
              </a:rPr>
              <a:t>Recuperarea ca strategie de sănătate</a:t>
            </a:r>
            <a:endParaRPr lang="en-US" sz="3600" dirty="0"/>
          </a:p>
        </p:txBody>
      </p:sp>
      <p:sp>
        <p:nvSpPr>
          <p:cNvPr id="3" name="Text 1"/>
          <p:cNvSpPr/>
          <p:nvPr/>
        </p:nvSpPr>
        <p:spPr>
          <a:xfrm>
            <a:off x="914400" y="2926080"/>
            <a:ext cx="7315200" cy="731520"/>
          </a:xfrm>
          <a:prstGeom prst="rect">
            <a:avLst/>
          </a:prstGeom>
          <a:noFill/>
          <a:ln/>
        </p:spPr>
        <p:txBody>
          <a:bodyPr wrap="square" lIns="0" tIns="0" rIns="0" bIns="0" rtlCol="0" anchor="ctr"/>
          <a:lstStyle/>
          <a:p>
            <a:pPr marL="0" indent="0" algn="ctr">
              <a:buNone/>
            </a:pPr>
            <a:r>
              <a:rPr lang="en-US" sz="1250" dirty="0">
                <a:solidFill>
                  <a:srgbClr val="FF4757"/>
                </a:solidFill>
                <a:latin typeface="Palatino Linotype" pitchFamily="34" charset="0"/>
                <a:ea typeface="Palatino Linotype" pitchFamily="34" charset="-122"/>
                <a:cs typeface="Palatino Linotype" pitchFamily="34" charset="-120"/>
              </a:rPr>
              <a:t>SECȚIUNEA C · Definiția OMS · Rehabilitation 2030 · WHA76.6 · Statutul în 2025–2026</a:t>
            </a:r>
            <a:endParaRPr lang="en-US" sz="1400" dirty="0"/>
          </a:p>
        </p:txBody>
      </p:sp>
      <p:sp>
        <p:nvSpPr>
          <p:cNvPr id="4" name="Shape 2"/>
          <p:cNvSpPr/>
          <p:nvPr/>
        </p:nvSpPr>
        <p:spPr>
          <a:xfrm>
            <a:off x="0" y="4709160"/>
            <a:ext cx="9144000" cy="434340"/>
          </a:xfrm>
          <a:prstGeom prst="rect">
            <a:avLst/>
          </a:prstGeom>
          <a:noFill/>
          <a:ln/>
        </p:spPr>
        <p:txBody>
          <a:bodyPr/>
          <a:lstStyle/>
          <a:p>
            <a:endParaRPr lang="ro-RO"/>
          </a:p>
        </p:txBody>
      </p:sp>
      <p:sp>
        <p:nvSpPr>
          <p:cNvPr id="5" name="Text 3"/>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6" name="Text 4"/>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27 / 60</a:t>
            </a:r>
            <a:endParaRPr lang="en-US" sz="8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1800" b="1" dirty="0">
                <a:solidFill>
                  <a:srgbClr val="11121A"/>
                </a:solidFill>
                <a:latin typeface="Palatino Linotype" pitchFamily="34" charset="0"/>
                <a:ea typeface="Palatino Linotype" pitchFamily="34" charset="-122"/>
                <a:cs typeface="Palatino Linotype" pitchFamily="34" charset="-120"/>
              </a:rPr>
              <a:t>Recuperarea în documentele OMS: o cronologie</a:t>
            </a:r>
            <a:endParaRPr lang="en-US" sz="1800" dirty="0"/>
          </a:p>
        </p:txBody>
      </p:sp>
      <p:sp>
        <p:nvSpPr>
          <p:cNvPr id="3" name="Shape 1"/>
          <p:cNvSpPr/>
          <p:nvPr/>
        </p:nvSpPr>
        <p:spPr>
          <a:xfrm>
            <a:off x="1097280" y="2286000"/>
            <a:ext cx="6949440" cy="36576"/>
          </a:xfrm>
          <a:prstGeom prst="rect">
            <a:avLst/>
          </a:prstGeom>
          <a:solidFill>
            <a:srgbClr val="0E7C6B"/>
          </a:solidFill>
          <a:ln/>
        </p:spPr>
        <p:txBody>
          <a:bodyPr/>
          <a:lstStyle/>
          <a:p>
            <a:endParaRPr lang="ro-RO"/>
          </a:p>
        </p:txBody>
      </p:sp>
      <p:sp>
        <p:nvSpPr>
          <p:cNvPr id="4" name="Shape 2"/>
          <p:cNvSpPr/>
          <p:nvPr/>
        </p:nvSpPr>
        <p:spPr>
          <a:xfrm>
            <a:off x="1554480" y="2148840"/>
            <a:ext cx="274320" cy="274320"/>
          </a:xfrm>
          <a:prstGeom prst="ellipse">
            <a:avLst/>
          </a:prstGeom>
          <a:solidFill>
            <a:srgbClr val="0E7C6B"/>
          </a:solidFill>
          <a:ln/>
        </p:spPr>
        <p:txBody>
          <a:bodyPr/>
          <a:lstStyle/>
          <a:p>
            <a:endParaRPr lang="ro-RO"/>
          </a:p>
        </p:txBody>
      </p:sp>
      <p:sp>
        <p:nvSpPr>
          <p:cNvPr id="5" name="Text 3"/>
          <p:cNvSpPr/>
          <p:nvPr/>
        </p:nvSpPr>
        <p:spPr>
          <a:xfrm>
            <a:off x="1097280" y="1097280"/>
            <a:ext cx="1371600" cy="457200"/>
          </a:xfrm>
          <a:prstGeom prst="rect">
            <a:avLst/>
          </a:prstGeom>
          <a:noFill/>
          <a:ln/>
        </p:spPr>
        <p:txBody>
          <a:bodyPr wrap="square" lIns="0" tIns="0" rIns="0" bIns="0" rtlCol="0" anchor="ctr"/>
          <a:lstStyle/>
          <a:p>
            <a:pPr marL="0" indent="0" algn="ctr">
              <a:buNone/>
            </a:pPr>
            <a:r>
              <a:rPr lang="en-US" sz="1600" b="1" dirty="0">
                <a:solidFill>
                  <a:srgbClr val="B02532"/>
                </a:solidFill>
                <a:latin typeface="Palatino Linotype" pitchFamily="34" charset="0"/>
                <a:ea typeface="Palatino Linotype" pitchFamily="34" charset="-122"/>
                <a:cs typeface="Palatino Linotype" pitchFamily="34" charset="-120"/>
              </a:rPr>
              <a:t>1978</a:t>
            </a:r>
            <a:endParaRPr lang="en-US" sz="1600" dirty="0"/>
          </a:p>
        </p:txBody>
      </p:sp>
      <p:sp>
        <p:nvSpPr>
          <p:cNvPr id="6" name="Text 4"/>
          <p:cNvSpPr/>
          <p:nvPr/>
        </p:nvSpPr>
        <p:spPr>
          <a:xfrm>
            <a:off x="1005840" y="1554480"/>
            <a:ext cx="155448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Alma-Ata</a:t>
            </a:r>
            <a:endParaRPr lang="en-US" sz="1200" dirty="0"/>
          </a:p>
        </p:txBody>
      </p:sp>
      <p:sp>
        <p:nvSpPr>
          <p:cNvPr id="7" name="Text 5"/>
          <p:cNvSpPr/>
          <p:nvPr/>
        </p:nvSpPr>
        <p:spPr>
          <a:xfrm>
            <a:off x="960120" y="2560320"/>
            <a:ext cx="1645920" cy="1005840"/>
          </a:xfrm>
          <a:prstGeom prst="rect">
            <a:avLst/>
          </a:prstGeom>
          <a:noFill/>
          <a:ln/>
        </p:spPr>
        <p:txBody>
          <a:bodyPr wrap="square" lIns="0" tIns="0" rIns="0" bIns="0" rtlCol="0" anchor="t"/>
          <a:lstStyle/>
          <a:p>
            <a:pPr marL="0" indent="0" algn="ctr">
              <a:buNone/>
            </a:pPr>
            <a:r>
              <a:rPr lang="en-US" sz="950" dirty="0">
                <a:solidFill>
                  <a:srgbClr val="11121A"/>
                </a:solidFill>
                <a:latin typeface="Palatino Linotype" pitchFamily="34" charset="0"/>
                <a:ea typeface="Palatino Linotype" pitchFamily="34" charset="-122"/>
                <a:cs typeface="Palatino Linotype" pitchFamily="34" charset="-120"/>
              </a:rPr>
              <a:t>Asistența primară oferă servicii de promovare, preventive, curative și de recuperare</a:t>
            </a:r>
            <a:endParaRPr lang="en-US" sz="1200" dirty="0"/>
          </a:p>
        </p:txBody>
      </p:sp>
      <p:sp>
        <p:nvSpPr>
          <p:cNvPr id="8" name="Shape 6"/>
          <p:cNvSpPr/>
          <p:nvPr/>
        </p:nvSpPr>
        <p:spPr>
          <a:xfrm>
            <a:off x="3566160" y="2148840"/>
            <a:ext cx="274320" cy="274320"/>
          </a:xfrm>
          <a:prstGeom prst="ellipse">
            <a:avLst/>
          </a:prstGeom>
          <a:solidFill>
            <a:srgbClr val="0E7C6B"/>
          </a:solidFill>
          <a:ln/>
        </p:spPr>
        <p:txBody>
          <a:bodyPr/>
          <a:lstStyle/>
          <a:p>
            <a:endParaRPr lang="ro-RO"/>
          </a:p>
        </p:txBody>
      </p:sp>
      <p:sp>
        <p:nvSpPr>
          <p:cNvPr id="9" name="Text 7"/>
          <p:cNvSpPr/>
          <p:nvPr/>
        </p:nvSpPr>
        <p:spPr>
          <a:xfrm>
            <a:off x="3108960" y="1097280"/>
            <a:ext cx="1371600" cy="457200"/>
          </a:xfrm>
          <a:prstGeom prst="rect">
            <a:avLst/>
          </a:prstGeom>
          <a:noFill/>
          <a:ln/>
        </p:spPr>
        <p:txBody>
          <a:bodyPr wrap="square" lIns="0" tIns="0" rIns="0" bIns="0" rtlCol="0" anchor="ctr"/>
          <a:lstStyle/>
          <a:p>
            <a:pPr marL="0" indent="0" algn="ctr">
              <a:buNone/>
            </a:pPr>
            <a:r>
              <a:rPr lang="en-US" sz="1600" b="1" dirty="0">
                <a:solidFill>
                  <a:srgbClr val="B02532"/>
                </a:solidFill>
                <a:latin typeface="Palatino Linotype" pitchFamily="34" charset="0"/>
                <a:ea typeface="Palatino Linotype" pitchFamily="34" charset="-122"/>
                <a:cs typeface="Palatino Linotype" pitchFamily="34" charset="-120"/>
              </a:rPr>
              <a:t>2001</a:t>
            </a:r>
            <a:endParaRPr lang="en-US" sz="1600" dirty="0"/>
          </a:p>
        </p:txBody>
      </p:sp>
      <p:sp>
        <p:nvSpPr>
          <p:cNvPr id="10" name="Text 8"/>
          <p:cNvSpPr/>
          <p:nvPr/>
        </p:nvSpPr>
        <p:spPr>
          <a:xfrm>
            <a:off x="3017520" y="1554480"/>
            <a:ext cx="155448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WHA54.21</a:t>
            </a:r>
            <a:endParaRPr lang="en-US" sz="1200" dirty="0"/>
          </a:p>
        </p:txBody>
      </p:sp>
      <p:sp>
        <p:nvSpPr>
          <p:cNvPr id="11" name="Text 9"/>
          <p:cNvSpPr/>
          <p:nvPr/>
        </p:nvSpPr>
        <p:spPr>
          <a:xfrm>
            <a:off x="2971800" y="2560320"/>
            <a:ext cx="1645920" cy="1005840"/>
          </a:xfrm>
          <a:prstGeom prst="rect">
            <a:avLst/>
          </a:prstGeom>
          <a:noFill/>
          <a:ln/>
        </p:spPr>
        <p:txBody>
          <a:bodyPr wrap="square" lIns="0" tIns="0" rIns="0" bIns="0" rtlCol="0" anchor="t"/>
          <a:lstStyle/>
          <a:p>
            <a:pPr marL="0" indent="0" algn="ctr">
              <a:buNone/>
            </a:pPr>
            <a:r>
              <a:rPr lang="en-US" sz="950" dirty="0">
                <a:solidFill>
                  <a:srgbClr val="11121A"/>
                </a:solidFill>
                <a:latin typeface="Palatino Linotype" pitchFamily="34" charset="0"/>
                <a:ea typeface="Palatino Linotype" pitchFamily="34" charset="-122"/>
                <a:cs typeface="Palatino Linotype" pitchFamily="34" charset="-120"/>
              </a:rPr>
              <a:t>Aprobarea CIF: limbajul standard al funcționării</a:t>
            </a:r>
            <a:endParaRPr lang="en-US" sz="1200" dirty="0"/>
          </a:p>
        </p:txBody>
      </p:sp>
      <p:sp>
        <p:nvSpPr>
          <p:cNvPr id="12" name="Shape 10"/>
          <p:cNvSpPr/>
          <p:nvPr/>
        </p:nvSpPr>
        <p:spPr>
          <a:xfrm>
            <a:off x="5577840" y="2148840"/>
            <a:ext cx="274320" cy="274320"/>
          </a:xfrm>
          <a:prstGeom prst="ellipse">
            <a:avLst/>
          </a:prstGeom>
          <a:solidFill>
            <a:srgbClr val="0E7C6B"/>
          </a:solidFill>
          <a:ln/>
        </p:spPr>
        <p:txBody>
          <a:bodyPr/>
          <a:lstStyle/>
          <a:p>
            <a:endParaRPr lang="ro-RO"/>
          </a:p>
        </p:txBody>
      </p:sp>
      <p:sp>
        <p:nvSpPr>
          <p:cNvPr id="13" name="Text 11"/>
          <p:cNvSpPr/>
          <p:nvPr/>
        </p:nvSpPr>
        <p:spPr>
          <a:xfrm>
            <a:off x="5120640" y="1097280"/>
            <a:ext cx="1371600" cy="457200"/>
          </a:xfrm>
          <a:prstGeom prst="rect">
            <a:avLst/>
          </a:prstGeom>
          <a:noFill/>
          <a:ln/>
        </p:spPr>
        <p:txBody>
          <a:bodyPr wrap="square" lIns="0" tIns="0" rIns="0" bIns="0" rtlCol="0" anchor="ctr"/>
          <a:lstStyle/>
          <a:p>
            <a:pPr marL="0" indent="0" algn="ctr">
              <a:buNone/>
            </a:pPr>
            <a:r>
              <a:rPr lang="en-US" sz="1600" b="1" dirty="0">
                <a:solidFill>
                  <a:srgbClr val="B02532"/>
                </a:solidFill>
                <a:latin typeface="Palatino Linotype" pitchFamily="34" charset="0"/>
                <a:ea typeface="Palatino Linotype" pitchFamily="34" charset="-122"/>
                <a:cs typeface="Palatino Linotype" pitchFamily="34" charset="-120"/>
              </a:rPr>
              <a:t>2017</a:t>
            </a:r>
            <a:endParaRPr lang="en-US" sz="1600" dirty="0"/>
          </a:p>
        </p:txBody>
      </p:sp>
      <p:sp>
        <p:nvSpPr>
          <p:cNvPr id="14" name="Text 12"/>
          <p:cNvSpPr/>
          <p:nvPr/>
        </p:nvSpPr>
        <p:spPr>
          <a:xfrm>
            <a:off x="5029200" y="1554480"/>
            <a:ext cx="155448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Rehabilitation 2030</a:t>
            </a:r>
            <a:endParaRPr lang="en-US" sz="1200" dirty="0"/>
          </a:p>
        </p:txBody>
      </p:sp>
      <p:sp>
        <p:nvSpPr>
          <p:cNvPr id="15" name="Text 13"/>
          <p:cNvSpPr/>
          <p:nvPr/>
        </p:nvSpPr>
        <p:spPr>
          <a:xfrm>
            <a:off x="4983480" y="2560320"/>
            <a:ext cx="1645920" cy="1005840"/>
          </a:xfrm>
          <a:prstGeom prst="rect">
            <a:avLst/>
          </a:prstGeom>
          <a:noFill/>
          <a:ln/>
        </p:spPr>
        <p:txBody>
          <a:bodyPr wrap="square" lIns="0" tIns="0" rIns="0" bIns="0" rtlCol="0" anchor="t"/>
          <a:lstStyle/>
          <a:p>
            <a:pPr marL="0" indent="0" algn="ctr">
              <a:buNone/>
            </a:pPr>
            <a:r>
              <a:rPr lang="en-US" sz="950" dirty="0">
                <a:solidFill>
                  <a:srgbClr val="11121A"/>
                </a:solidFill>
                <a:latin typeface="Palatino Linotype" pitchFamily="34" charset="0"/>
                <a:ea typeface="Palatino Linotype" pitchFamily="34" charset="-122"/>
                <a:cs typeface="Palatino Linotype" pitchFamily="34" charset="-120"/>
              </a:rPr>
              <a:t>Apel la acțiune: recuperarea pentru întreaga populație, la toate nivelurile de îngrijire</a:t>
            </a:r>
            <a:endParaRPr lang="en-US" sz="1200" dirty="0"/>
          </a:p>
        </p:txBody>
      </p:sp>
      <p:sp>
        <p:nvSpPr>
          <p:cNvPr id="16" name="Shape 14"/>
          <p:cNvSpPr/>
          <p:nvPr/>
        </p:nvSpPr>
        <p:spPr>
          <a:xfrm>
            <a:off x="7223760" y="2148840"/>
            <a:ext cx="274320" cy="274320"/>
          </a:xfrm>
          <a:prstGeom prst="ellipse">
            <a:avLst/>
          </a:prstGeom>
          <a:solidFill>
            <a:srgbClr val="0E7C6B"/>
          </a:solidFill>
          <a:ln/>
        </p:spPr>
        <p:txBody>
          <a:bodyPr/>
          <a:lstStyle/>
          <a:p>
            <a:endParaRPr lang="ro-RO"/>
          </a:p>
        </p:txBody>
      </p:sp>
      <p:sp>
        <p:nvSpPr>
          <p:cNvPr id="17" name="Text 15"/>
          <p:cNvSpPr/>
          <p:nvPr/>
        </p:nvSpPr>
        <p:spPr>
          <a:xfrm>
            <a:off x="6766560" y="1097280"/>
            <a:ext cx="1371600" cy="457200"/>
          </a:xfrm>
          <a:prstGeom prst="rect">
            <a:avLst/>
          </a:prstGeom>
          <a:noFill/>
          <a:ln/>
        </p:spPr>
        <p:txBody>
          <a:bodyPr wrap="square" lIns="0" tIns="0" rIns="0" bIns="0" rtlCol="0" anchor="ctr"/>
          <a:lstStyle/>
          <a:p>
            <a:pPr marL="0" indent="0" algn="ctr">
              <a:buNone/>
            </a:pPr>
            <a:r>
              <a:rPr lang="en-US" sz="1600" b="1" dirty="0">
                <a:solidFill>
                  <a:srgbClr val="B02532"/>
                </a:solidFill>
                <a:latin typeface="Palatino Linotype" pitchFamily="34" charset="0"/>
                <a:ea typeface="Palatino Linotype" pitchFamily="34" charset="-122"/>
                <a:cs typeface="Palatino Linotype" pitchFamily="34" charset="-120"/>
              </a:rPr>
              <a:t>2023</a:t>
            </a:r>
            <a:endParaRPr lang="en-US" sz="1600" dirty="0"/>
          </a:p>
        </p:txBody>
      </p:sp>
      <p:sp>
        <p:nvSpPr>
          <p:cNvPr id="18" name="Text 16"/>
          <p:cNvSpPr/>
          <p:nvPr/>
        </p:nvSpPr>
        <p:spPr>
          <a:xfrm>
            <a:off x="6675120" y="1554480"/>
            <a:ext cx="155448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WHA76.6</a:t>
            </a:r>
            <a:endParaRPr lang="en-US" sz="1200" dirty="0"/>
          </a:p>
        </p:txBody>
      </p:sp>
      <p:sp>
        <p:nvSpPr>
          <p:cNvPr id="19" name="Text 17"/>
          <p:cNvSpPr/>
          <p:nvPr/>
        </p:nvSpPr>
        <p:spPr>
          <a:xfrm>
            <a:off x="6629400" y="2560320"/>
            <a:ext cx="1645920" cy="1005840"/>
          </a:xfrm>
          <a:prstGeom prst="rect">
            <a:avLst/>
          </a:prstGeom>
          <a:noFill/>
          <a:ln/>
        </p:spPr>
        <p:txBody>
          <a:bodyPr wrap="square" lIns="0" tIns="0" rIns="0" bIns="0" rtlCol="0" anchor="t"/>
          <a:lstStyle/>
          <a:p>
            <a:pPr marL="0" indent="0" algn="ctr">
              <a:buNone/>
            </a:pPr>
            <a:r>
              <a:rPr lang="en-US" sz="950" dirty="0">
                <a:solidFill>
                  <a:srgbClr val="11121A"/>
                </a:solidFill>
                <a:latin typeface="Palatino Linotype" pitchFamily="34" charset="0"/>
                <a:ea typeface="Palatino Linotype" pitchFamily="34" charset="-122"/>
                <a:cs typeface="Palatino Linotype" pitchFamily="34" charset="-120"/>
              </a:rPr>
              <a:t>Potrivit OMS, prima recunoaștere, în 75 de ani, a recuperării ca prioritate globală</a:t>
            </a:r>
            <a:endParaRPr lang="en-US" sz="1200" dirty="0"/>
          </a:p>
        </p:txBody>
      </p:sp>
      <p:sp>
        <p:nvSpPr>
          <p:cNvPr id="20" name="Text 18"/>
          <p:cNvSpPr/>
          <p:nvPr/>
        </p:nvSpPr>
        <p:spPr>
          <a:xfrm>
            <a:off x="457200" y="4114800"/>
            <a:ext cx="8229600" cy="274320"/>
          </a:xfrm>
          <a:prstGeom prst="rect">
            <a:avLst/>
          </a:prstGeom>
          <a:noFill/>
          <a:ln/>
        </p:spPr>
        <p:txBody>
          <a:bodyPr wrap="square" lIns="0" tIns="0" rIns="0" bIns="0" rtlCol="0" anchor="ctr"/>
          <a:lstStyle/>
          <a:p>
            <a:pPr marL="0" indent="0">
              <a:buNone/>
            </a:pPr>
            <a:r>
              <a:rPr lang="en-US" sz="1000" dirty="0">
                <a:solidFill>
                  <a:srgbClr val="585A64"/>
                </a:solidFill>
                <a:latin typeface="Palatino Linotype" pitchFamily="34" charset="0"/>
                <a:ea typeface="Palatino Linotype" pitchFamily="34" charset="-122"/>
                <a:cs typeface="Palatino Linotype" pitchFamily="34" charset="-120"/>
              </a:rPr>
              <a:t>Definiția OMS: recuperarea este un set de intervenții concepute pentru a optimiza funcționarea și a reduce dizabilitatea persoanelor cu probleme de sănătate, în interacțiune cu mediul lor.</a:t>
            </a:r>
            <a:endParaRPr lang="en-US" sz="700" dirty="0"/>
          </a:p>
        </p:txBody>
      </p:sp>
      <p:sp>
        <p:nvSpPr>
          <p:cNvPr id="21" name="Shape 19"/>
          <p:cNvSpPr/>
          <p:nvPr/>
        </p:nvSpPr>
        <p:spPr>
          <a:xfrm>
            <a:off x="0" y="4709160"/>
            <a:ext cx="9144000" cy="434340"/>
          </a:xfrm>
          <a:prstGeom prst="rect">
            <a:avLst/>
          </a:prstGeom>
          <a:noFill/>
          <a:ln/>
        </p:spPr>
        <p:txBody>
          <a:bodyPr/>
          <a:lstStyle/>
          <a:p>
            <a:endParaRPr lang="ro-RO"/>
          </a:p>
        </p:txBody>
      </p:sp>
      <p:sp>
        <p:nvSpPr>
          <p:cNvPr id="22"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3"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28 / 60</a:t>
            </a:r>
            <a:endParaRPr lang="en-US" sz="8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29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Rehabilitation 2030: cele zece arii prioritare</a:t>
            </a:r>
          </a:p>
        </p:txBody>
      </p:sp>
      <p:sp>
        <p:nvSpPr>
          <p:cNvPr id="45" name="Rectangle 44"/>
          <p:cNvSpPr/>
          <p:nvPr/>
        </p:nvSpPr>
        <p:spPr>
          <a:xfrm>
            <a:off x="457200" y="914400"/>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14400"/>
            <a:ext cx="54864" cy="47548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987552"/>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1. </a:t>
            </a:r>
            <a:r>
              <a:rPr sz="1050" b="0" i="0">
                <a:solidFill>
                  <a:srgbClr val="11121A"/>
                </a:solidFill>
                <a:latin typeface="Palatino Linotype"/>
              </a:rPr>
              <a:t>Conducere și sprijin politic</a:t>
            </a:r>
          </a:p>
        </p:txBody>
      </p:sp>
      <p:sp>
        <p:nvSpPr>
          <p:cNvPr id="48" name="Rectangle 47"/>
          <p:cNvSpPr/>
          <p:nvPr/>
        </p:nvSpPr>
        <p:spPr>
          <a:xfrm>
            <a:off x="4663440" y="914400"/>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663440" y="914400"/>
            <a:ext cx="54864" cy="47548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28031" y="987552"/>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2. </a:t>
            </a:r>
            <a:r>
              <a:rPr sz="1050" b="0" i="0">
                <a:solidFill>
                  <a:srgbClr val="11121A"/>
                </a:solidFill>
                <a:latin typeface="Palatino Linotype"/>
              </a:rPr>
              <a:t>Planificare, inclusiv în urgențe</a:t>
            </a:r>
          </a:p>
        </p:txBody>
      </p:sp>
      <p:sp>
        <p:nvSpPr>
          <p:cNvPr id="51" name="Rectangle 50"/>
          <p:cNvSpPr/>
          <p:nvPr/>
        </p:nvSpPr>
        <p:spPr>
          <a:xfrm>
            <a:off x="457200" y="1481328"/>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1481328"/>
            <a:ext cx="54864" cy="47548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1554480"/>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3. </a:t>
            </a:r>
            <a:r>
              <a:rPr sz="1050" b="0" i="0">
                <a:solidFill>
                  <a:srgbClr val="11121A"/>
                </a:solidFill>
                <a:latin typeface="Palatino Linotype"/>
              </a:rPr>
              <a:t>Integrare în sectorul sănătății</a:t>
            </a:r>
          </a:p>
        </p:txBody>
      </p:sp>
      <p:sp>
        <p:nvSpPr>
          <p:cNvPr id="54" name="Rectangle 53"/>
          <p:cNvSpPr/>
          <p:nvPr/>
        </p:nvSpPr>
        <p:spPr>
          <a:xfrm>
            <a:off x="4663440" y="1481328"/>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663440" y="1481328"/>
            <a:ext cx="54864" cy="47548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28031" y="1554480"/>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4. </a:t>
            </a:r>
            <a:r>
              <a:rPr sz="1050" b="0" i="0">
                <a:solidFill>
                  <a:srgbClr val="11121A"/>
                </a:solidFill>
                <a:latin typeface="Palatino Linotype"/>
              </a:rPr>
              <a:t>Recuperarea în acoperirea universală</a:t>
            </a:r>
          </a:p>
        </p:txBody>
      </p:sp>
      <p:sp>
        <p:nvSpPr>
          <p:cNvPr id="57" name="Rectangle 56"/>
          <p:cNvSpPr/>
          <p:nvPr/>
        </p:nvSpPr>
        <p:spPr>
          <a:xfrm>
            <a:off x="457200" y="2048256"/>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2048256"/>
            <a:ext cx="54864" cy="47548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2121408"/>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5. </a:t>
            </a:r>
            <a:r>
              <a:rPr sz="1050" b="0" i="0">
                <a:solidFill>
                  <a:srgbClr val="11121A"/>
                </a:solidFill>
                <a:latin typeface="Palatino Linotype"/>
              </a:rPr>
              <a:t>Modele de servicii și acces echitabil</a:t>
            </a:r>
          </a:p>
        </p:txBody>
      </p:sp>
      <p:sp>
        <p:nvSpPr>
          <p:cNvPr id="60" name="Rectangle 59"/>
          <p:cNvSpPr/>
          <p:nvPr/>
        </p:nvSpPr>
        <p:spPr>
          <a:xfrm>
            <a:off x="4663440" y="2048256"/>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663440" y="2048256"/>
            <a:ext cx="54864" cy="47548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28031" y="2121408"/>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6. </a:t>
            </a:r>
            <a:r>
              <a:rPr sz="1050" b="0" i="0">
                <a:solidFill>
                  <a:srgbClr val="11121A"/>
                </a:solidFill>
                <a:latin typeface="Palatino Linotype"/>
              </a:rPr>
              <a:t>Forță de muncă multidisciplinară</a:t>
            </a:r>
          </a:p>
        </p:txBody>
      </p:sp>
      <p:sp>
        <p:nvSpPr>
          <p:cNvPr id="63" name="Rectangle 62"/>
          <p:cNvSpPr/>
          <p:nvPr/>
        </p:nvSpPr>
        <p:spPr>
          <a:xfrm>
            <a:off x="457200" y="2615184"/>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57200" y="2615184"/>
            <a:ext cx="54864" cy="47548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1792" y="2688336"/>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7. </a:t>
            </a:r>
            <a:r>
              <a:rPr sz="1050" b="0" i="0">
                <a:solidFill>
                  <a:srgbClr val="11121A"/>
                </a:solidFill>
                <a:latin typeface="Palatino Linotype"/>
              </a:rPr>
              <a:t>Finanțare prin mecanisme potrivite</a:t>
            </a:r>
          </a:p>
        </p:txBody>
      </p:sp>
      <p:sp>
        <p:nvSpPr>
          <p:cNvPr id="66" name="Rectangle 65"/>
          <p:cNvSpPr/>
          <p:nvPr/>
        </p:nvSpPr>
        <p:spPr>
          <a:xfrm>
            <a:off x="4663440" y="2615184"/>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663440" y="2615184"/>
            <a:ext cx="54864" cy="47548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828031" y="2688336"/>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8. </a:t>
            </a:r>
            <a:r>
              <a:rPr sz="1050" b="0" i="0">
                <a:solidFill>
                  <a:srgbClr val="11121A"/>
                </a:solidFill>
                <a:latin typeface="Palatino Linotype"/>
              </a:rPr>
              <a:t>Informații despre funcționare, cu CIF</a:t>
            </a:r>
          </a:p>
        </p:txBody>
      </p:sp>
      <p:sp>
        <p:nvSpPr>
          <p:cNvPr id="69" name="Rectangle 68"/>
          <p:cNvSpPr/>
          <p:nvPr/>
        </p:nvSpPr>
        <p:spPr>
          <a:xfrm>
            <a:off x="457200" y="3182112"/>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57200" y="3182112"/>
            <a:ext cx="54864" cy="47548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1792" y="3255264"/>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9. </a:t>
            </a:r>
            <a:r>
              <a:rPr sz="1050" b="0" i="0">
                <a:solidFill>
                  <a:srgbClr val="11121A"/>
                </a:solidFill>
                <a:latin typeface="Palatino Linotype"/>
              </a:rPr>
              <a:t>Cercetare și dovezi solide</a:t>
            </a:r>
          </a:p>
        </p:txBody>
      </p:sp>
      <p:sp>
        <p:nvSpPr>
          <p:cNvPr id="72" name="Rectangle 71"/>
          <p:cNvSpPr/>
          <p:nvPr/>
        </p:nvSpPr>
        <p:spPr>
          <a:xfrm>
            <a:off x="4663440" y="3182112"/>
            <a:ext cx="4023360" cy="47548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663440" y="3182112"/>
            <a:ext cx="54864" cy="47548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28031" y="3255264"/>
            <a:ext cx="3749040" cy="347472"/>
          </a:xfrm>
          <a:prstGeom prst="rect">
            <a:avLst/>
          </a:prstGeom>
          <a:noFill/>
        </p:spPr>
        <p:txBody>
          <a:bodyPr wrap="square" lIns="0" rIns="0" tIns="0" bIns="0" anchor="t">
            <a:spAutoFit/>
          </a:bodyPr>
          <a:lstStyle/>
          <a:p>
            <a:pPr algn="l">
              <a:spcAft>
                <a:spcPts val="300"/>
              </a:spcAft>
            </a:pPr>
            <a:r>
              <a:rPr sz="1050" b="1" i="0">
                <a:solidFill>
                  <a:srgbClr val="11121A"/>
                </a:solidFill>
                <a:latin typeface="Palatino Linotype"/>
              </a:rPr>
              <a:t>10. </a:t>
            </a:r>
            <a:r>
              <a:rPr sz="1050" b="0" i="0">
                <a:solidFill>
                  <a:srgbClr val="11121A"/>
                </a:solidFill>
                <a:latin typeface="Palatino Linotype"/>
              </a:rPr>
              <a:t>Rețele și parteneriate</a:t>
            </a:r>
          </a:p>
        </p:txBody>
      </p:sp>
      <p:sp>
        <p:nvSpPr>
          <p:cNvPr id="75" name="TextBox 74"/>
          <p:cNvSpPr txBox="1"/>
          <p:nvPr/>
        </p:nvSpPr>
        <p:spPr>
          <a:xfrm>
            <a:off x="457200" y="3840480"/>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Sursa: OMS, Rehabilitation 2030: a call for action, lansat în februarie 2017</a:t>
            </a:r>
          </a:p>
        </p:txBody>
      </p:sp>
      <p:sp>
        <p:nvSpPr>
          <p:cNvPr id="76" name="Rectangle 75"/>
          <p:cNvSpPr/>
          <p:nvPr/>
        </p:nvSpPr>
        <p:spPr>
          <a:xfrm>
            <a:off x="457200" y="4114800"/>
            <a:ext cx="8229600" cy="41148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4360" y="4114800"/>
            <a:ext cx="7955279" cy="411480"/>
          </a:xfrm>
          <a:prstGeom prst="rect">
            <a:avLst/>
          </a:prstGeom>
          <a:noFill/>
        </p:spPr>
        <p:txBody>
          <a:bodyPr wrap="square" lIns="0" rIns="0" tIns="0" bIns="0" anchor="ctr">
            <a:spAutoFit/>
          </a:bodyPr>
          <a:lstStyle/>
          <a:p>
            <a:pPr algn="ctr"/>
            <a:r>
              <a:rPr sz="1000" b="1" i="0">
                <a:solidFill>
                  <a:srgbClr val="FFFFFF"/>
                </a:solidFill>
                <a:latin typeface="Palatino Linotype"/>
              </a:rPr>
              <a:t>Recuperarea: serviciu esențial, necesar pentru acoperirea universală; strategie prioritară a secolului XXI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Rezoluția WHA76.6: întărirea recuperării</a:t>
            </a:r>
            <a:endParaRPr lang="en-US" sz="2400" dirty="0"/>
          </a:p>
        </p:txBody>
      </p:sp>
      <p:sp>
        <p:nvSpPr>
          <p:cNvPr id="3" name="Shape 1"/>
          <p:cNvSpPr/>
          <p:nvPr/>
        </p:nvSpPr>
        <p:spPr>
          <a:xfrm>
            <a:off x="457200" y="1005840"/>
            <a:ext cx="4023360" cy="2011680"/>
          </a:xfrm>
          <a:prstGeom prst="rect">
            <a:avLst/>
          </a:prstGeom>
          <a:solidFill>
            <a:srgbClr val="ECEAE4"/>
          </a:solidFill>
          <a:ln/>
          <a:effectLst/>
        </p:spPr>
        <p:txBody>
          <a:bodyPr/>
          <a:lstStyle/>
          <a:p>
            <a:endParaRPr lang="ro-RO" sz="1200"/>
          </a:p>
        </p:txBody>
      </p:sp>
      <p:sp>
        <p:nvSpPr>
          <p:cNvPr id="4" name="Shape 2"/>
          <p:cNvSpPr/>
          <p:nvPr/>
        </p:nvSpPr>
        <p:spPr>
          <a:xfrm>
            <a:off x="457200" y="1005840"/>
            <a:ext cx="4023360" cy="411480"/>
          </a:xfrm>
          <a:prstGeom prst="rect">
            <a:avLst/>
          </a:prstGeom>
          <a:solidFill>
            <a:srgbClr val="585A64"/>
          </a:solidFill>
          <a:ln/>
        </p:spPr>
        <p:txBody>
          <a:bodyPr/>
          <a:lstStyle/>
          <a:p>
            <a:endParaRPr lang="ro-RO" sz="1200"/>
          </a:p>
        </p:txBody>
      </p:sp>
      <p:sp>
        <p:nvSpPr>
          <p:cNvPr id="5" name="Text 3"/>
          <p:cNvSpPr/>
          <p:nvPr/>
        </p:nvSpPr>
        <p:spPr>
          <a:xfrm>
            <a:off x="45720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Ce constată (30 mai 2023)</a:t>
            </a:r>
            <a:endParaRPr lang="en-US" sz="1600" dirty="0"/>
          </a:p>
        </p:txBody>
      </p:sp>
      <p:sp>
        <p:nvSpPr>
          <p:cNvPr id="6" name="Text 4"/>
          <p:cNvSpPr/>
          <p:nvPr/>
        </p:nvSpPr>
        <p:spPr>
          <a:xfrm>
            <a:off x="640080" y="150876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Nevoia crește: boli netransmisibile, îmbătrânire</a:t>
            </a:r>
            <a:endParaRPr lang="en-US" sz="1200" dirty="0"/>
          </a:p>
        </p:txBody>
      </p:sp>
      <p:sp>
        <p:nvSpPr>
          <p:cNvPr id="7" name="Text 5"/>
          <p:cNvSpPr/>
          <p:nvPr/>
        </p:nvSpPr>
        <p:spPr>
          <a:xfrm>
            <a:off x="640080" y="187452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Nevoia este în mare parte nesatisfăcută</a:t>
            </a:r>
            <a:endParaRPr lang="en-US" sz="1200" dirty="0"/>
          </a:p>
        </p:txBody>
      </p:sp>
      <p:sp>
        <p:nvSpPr>
          <p:cNvPr id="8" name="Text 6"/>
          <p:cNvSpPr/>
          <p:nvPr/>
        </p:nvSpPr>
        <p:spPr>
          <a:xfrm>
            <a:off x="640080" y="224028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În multe țări, peste 50% nu primesc serviciile</a:t>
            </a:r>
            <a:endParaRPr lang="en-US" sz="1200" dirty="0"/>
          </a:p>
        </p:txBody>
      </p:sp>
      <p:sp>
        <p:nvSpPr>
          <p:cNvPr id="9" name="Text 7"/>
          <p:cNvSpPr/>
          <p:nvPr/>
        </p:nvSpPr>
        <p:spPr>
          <a:xfrm>
            <a:off x="640080" y="260604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Recuperarea, adesea plătită din buzunar</a:t>
            </a:r>
            <a:endParaRPr lang="en-US" sz="1200" dirty="0"/>
          </a:p>
        </p:txBody>
      </p:sp>
      <p:sp>
        <p:nvSpPr>
          <p:cNvPr id="10" name="Shape 8"/>
          <p:cNvSpPr/>
          <p:nvPr/>
        </p:nvSpPr>
        <p:spPr>
          <a:xfrm>
            <a:off x="4754880" y="1005840"/>
            <a:ext cx="4023360" cy="2011680"/>
          </a:xfrm>
          <a:prstGeom prst="rect">
            <a:avLst/>
          </a:prstGeom>
          <a:solidFill>
            <a:srgbClr val="ECEAE4"/>
          </a:solidFill>
          <a:ln/>
          <a:effectLst/>
        </p:spPr>
        <p:txBody>
          <a:bodyPr/>
          <a:lstStyle/>
          <a:p>
            <a:endParaRPr lang="ro-RO" sz="1200"/>
          </a:p>
        </p:txBody>
      </p:sp>
      <p:sp>
        <p:nvSpPr>
          <p:cNvPr id="11" name="Shape 9"/>
          <p:cNvSpPr/>
          <p:nvPr/>
        </p:nvSpPr>
        <p:spPr>
          <a:xfrm>
            <a:off x="4754880" y="1005840"/>
            <a:ext cx="4023360" cy="411480"/>
          </a:xfrm>
          <a:prstGeom prst="rect">
            <a:avLst/>
          </a:prstGeom>
          <a:solidFill>
            <a:srgbClr val="0E7C6B"/>
          </a:solidFill>
          <a:ln/>
        </p:spPr>
        <p:txBody>
          <a:bodyPr/>
          <a:lstStyle/>
          <a:p>
            <a:endParaRPr lang="ro-RO" sz="1200"/>
          </a:p>
        </p:txBody>
      </p:sp>
      <p:sp>
        <p:nvSpPr>
          <p:cNvPr id="12" name="Text 10"/>
          <p:cNvSpPr/>
          <p:nvPr/>
        </p:nvSpPr>
        <p:spPr>
          <a:xfrm>
            <a:off x="4754880" y="1005840"/>
            <a:ext cx="4023360" cy="411480"/>
          </a:xfrm>
          <a:prstGeom prst="rect">
            <a:avLst/>
          </a:prstGeom>
          <a:noFill/>
          <a:ln/>
        </p:spPr>
        <p:txBody>
          <a:bodyPr wrap="square" lIns="0" tIns="0" rIns="0" bIns="0" rtlCol="0" anchor="ctr"/>
          <a:lstStyle/>
          <a:p>
            <a:pPr marL="0" indent="0" algn="ctr">
              <a:buNone/>
            </a:pPr>
            <a:r>
              <a:rPr lang="en-US" sz="1450" b="1" dirty="0">
                <a:solidFill>
                  <a:srgbClr val="FFFFFF"/>
                </a:solidFill>
                <a:latin typeface="Palatino Linotype" pitchFamily="34" charset="0"/>
                <a:ea typeface="Palatino Linotype" pitchFamily="34" charset="-122"/>
                <a:cs typeface="Palatino Linotype" pitchFamily="34" charset="-120"/>
              </a:rPr>
              <a:t>Ce cere statelor</a:t>
            </a:r>
            <a:endParaRPr lang="en-US" sz="1600" dirty="0"/>
          </a:p>
        </p:txBody>
      </p:sp>
      <p:sp>
        <p:nvSpPr>
          <p:cNvPr id="13" name="Text 11"/>
          <p:cNvSpPr/>
          <p:nvPr/>
        </p:nvSpPr>
        <p:spPr>
          <a:xfrm>
            <a:off x="4937760" y="150876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Recuperarea în planuri și în pachetele esențiale</a:t>
            </a:r>
            <a:endParaRPr lang="en-US" sz="1200" dirty="0"/>
          </a:p>
        </p:txBody>
      </p:sp>
      <p:sp>
        <p:nvSpPr>
          <p:cNvPr id="14" name="Text 12"/>
          <p:cNvSpPr/>
          <p:nvPr/>
        </p:nvSpPr>
        <p:spPr>
          <a:xfrm>
            <a:off x="4937760" y="187452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La toate nivelurile, inclusiv în comunitate</a:t>
            </a:r>
            <a:endParaRPr lang="en-US" sz="1200" dirty="0"/>
          </a:p>
        </p:txBody>
      </p:sp>
      <p:sp>
        <p:nvSpPr>
          <p:cNvPr id="15" name="Text 13"/>
          <p:cNvSpPr/>
          <p:nvPr/>
        </p:nvSpPr>
        <p:spPr>
          <a:xfrm>
            <a:off x="4937760" y="224028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Continuitate și trimiteri mai bune</a:t>
            </a:r>
            <a:endParaRPr lang="en-US" sz="1200" dirty="0"/>
          </a:p>
        </p:txBody>
      </p:sp>
      <p:sp>
        <p:nvSpPr>
          <p:cNvPr id="16" name="Text 14"/>
          <p:cNvSpPr/>
          <p:nvPr/>
        </p:nvSpPr>
        <p:spPr>
          <a:xfrm>
            <a:off x="4937760" y="2606040"/>
            <a:ext cx="3657600" cy="3200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Competențe multidisciplinare; date cu CIF</a:t>
            </a:r>
            <a:endParaRPr lang="en-US" sz="1200" dirty="0"/>
          </a:p>
        </p:txBody>
      </p:sp>
      <p:sp>
        <p:nvSpPr>
          <p:cNvPr id="17" name="Shape 15"/>
          <p:cNvSpPr/>
          <p:nvPr/>
        </p:nvSpPr>
        <p:spPr>
          <a:xfrm>
            <a:off x="457200" y="3200400"/>
            <a:ext cx="8229600" cy="1005840"/>
          </a:xfrm>
          <a:prstGeom prst="rect">
            <a:avLst/>
          </a:prstGeom>
          <a:solidFill>
            <a:srgbClr val="FF4757">
              <a:alpha val="15000"/>
            </a:srgbClr>
          </a:solidFill>
          <a:ln/>
        </p:spPr>
        <p:txBody>
          <a:bodyPr/>
          <a:lstStyle/>
          <a:p>
            <a:endParaRPr lang="ro-RO" sz="1200"/>
          </a:p>
        </p:txBody>
      </p:sp>
      <p:sp>
        <p:nvSpPr>
          <p:cNvPr id="18" name="Shape 16"/>
          <p:cNvSpPr/>
          <p:nvPr/>
        </p:nvSpPr>
        <p:spPr>
          <a:xfrm>
            <a:off x="457200" y="3200400"/>
            <a:ext cx="54864" cy="1005840"/>
          </a:xfrm>
          <a:prstGeom prst="rect">
            <a:avLst/>
          </a:prstGeom>
          <a:solidFill>
            <a:srgbClr val="FF4757"/>
          </a:solidFill>
          <a:ln/>
        </p:spPr>
        <p:txBody>
          <a:bodyPr/>
          <a:lstStyle/>
          <a:p>
            <a:endParaRPr lang="ro-RO" sz="1200"/>
          </a:p>
        </p:txBody>
      </p:sp>
      <p:sp>
        <p:nvSpPr>
          <p:cNvPr id="19" name="Text 17"/>
          <p:cNvSpPr/>
          <p:nvPr/>
        </p:nvSpPr>
        <p:spPr>
          <a:xfrm>
            <a:off x="685800" y="3200400"/>
            <a:ext cx="914400" cy="320040"/>
          </a:xfrm>
          <a:prstGeom prst="rect">
            <a:avLst/>
          </a:prstGeom>
          <a:noFill/>
          <a:ln/>
        </p:spPr>
        <p:txBody>
          <a:bodyPr wrap="square" lIns="0" tIns="0" rIns="0" bIns="0" rtlCol="0" anchor="ctr"/>
          <a:lstStyle/>
          <a:p>
            <a:pPr marL="0" indent="0">
              <a:buNone/>
            </a:pPr>
            <a:r>
              <a:rPr lang="en-US" sz="1100" b="1" dirty="0">
                <a:solidFill>
                  <a:srgbClr val="B02532"/>
                </a:solidFill>
                <a:latin typeface="Palatino Linotype" pitchFamily="34" charset="0"/>
                <a:ea typeface="Palatino Linotype" pitchFamily="34" charset="-122"/>
                <a:cs typeface="Palatino Linotype" pitchFamily="34" charset="-120"/>
              </a:rPr>
              <a:t>Calendarul:</a:t>
            </a:r>
            <a:endParaRPr lang="en-US" sz="1200" dirty="0"/>
          </a:p>
        </p:txBody>
      </p:sp>
      <p:sp>
        <p:nvSpPr>
          <p:cNvPr id="20" name="Text 18"/>
          <p:cNvSpPr/>
          <p:nvPr/>
        </p:nvSpPr>
        <p:spPr>
          <a:xfrm>
            <a:off x="685800" y="3520440"/>
            <a:ext cx="7772400" cy="640080"/>
          </a:xfrm>
          <a:prstGeom prst="rect">
            <a:avLst/>
          </a:prstGeom>
          <a:noFill/>
          <a:ln/>
        </p:spPr>
        <p:txBody>
          <a:bodyPr wrap="square" lIns="0" tIns="0" rIns="0" bIns="0" rtlCol="0" anchor="t"/>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raport de referință înainte de sfârșitul anului 2026; ținte și indicatori pentru acoperirea efectivă în 2030; rapoarte de progres în 2026, 2028 și 2030. OMS: prima recunoaștere, în 75 de ani, a recuperării ca prioritate globală.</a:t>
            </a:r>
            <a:endParaRPr lang="en-US" sz="1200" dirty="0"/>
          </a:p>
        </p:txBody>
      </p:sp>
      <p:sp>
        <p:nvSpPr>
          <p:cNvPr id="21" name="Shape 19"/>
          <p:cNvSpPr/>
          <p:nvPr/>
        </p:nvSpPr>
        <p:spPr>
          <a:xfrm>
            <a:off x="0" y="4709160"/>
            <a:ext cx="9144000" cy="434340"/>
          </a:xfrm>
          <a:prstGeom prst="rect">
            <a:avLst/>
          </a:prstGeom>
          <a:noFill/>
          <a:ln/>
        </p:spPr>
        <p:txBody>
          <a:bodyPr/>
          <a:lstStyle/>
          <a:p>
            <a:endParaRPr lang="ro-RO" sz="1200"/>
          </a:p>
        </p:txBody>
      </p:sp>
      <p:sp>
        <p:nvSpPr>
          <p:cNvPr id="22"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3"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30 / 60</a:t>
            </a:r>
            <a:endParaRPr lang="en-US" sz="12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31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Unde suntem: statutul în 2025–2026</a:t>
            </a:r>
          </a:p>
        </p:txBody>
      </p:sp>
      <p:sp>
        <p:nvSpPr>
          <p:cNvPr id="45" name="Rectangle 44"/>
          <p:cNvSpPr/>
          <p:nvPr/>
        </p:nvSpPr>
        <p:spPr>
          <a:xfrm>
            <a:off x="457200" y="960120"/>
            <a:ext cx="4023360" cy="228600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60120"/>
            <a:ext cx="54864" cy="2286000"/>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1033272"/>
            <a:ext cx="3749040" cy="2157984"/>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Raportul către Consiliul Executiv (19 decembrie 2025)</a:t>
            </a:r>
          </a:p>
          <a:p>
            <a:pPr algn="l">
              <a:spcAft>
                <a:spcPts val="300"/>
              </a:spcAft>
            </a:pPr>
            <a:r>
              <a:rPr sz="1000" b="0" i="0">
                <a:solidFill>
                  <a:srgbClr val="11121A"/>
                </a:solidFill>
                <a:latin typeface="Palatino Linotype"/>
              </a:rPr>
              <a:t>Nouă indicatori globali: de intrare, de produs, de rezultat</a:t>
            </a:r>
          </a:p>
          <a:p>
            <a:pPr algn="l">
              <a:spcAft>
                <a:spcPts val="300"/>
              </a:spcAft>
            </a:pPr>
            <a:r>
              <a:rPr sz="1000" b="0" i="0">
                <a:solidFill>
                  <a:srgbClr val="11121A"/>
                </a:solidFill>
                <a:latin typeface="Palatino Linotype"/>
              </a:rPr>
              <a:t>Lombalgia cronică nespecifică sau primară: afecțiunea-trasor a acoperirii efective</a:t>
            </a:r>
          </a:p>
          <a:p>
            <a:pPr algn="l">
              <a:spcAft>
                <a:spcPts val="300"/>
              </a:spcAft>
            </a:pPr>
            <a:r>
              <a:rPr sz="1000" b="0" i="0">
                <a:solidFill>
                  <a:srgbClr val="11121A"/>
                </a:solidFill>
                <a:latin typeface="Palatino Linotype"/>
              </a:rPr>
              <a:t>Țintele globale cer mai mult timp; se propune amânarea primului raport global</a:t>
            </a:r>
          </a:p>
        </p:txBody>
      </p:sp>
      <p:sp>
        <p:nvSpPr>
          <p:cNvPr id="48" name="Rectangle 47"/>
          <p:cNvSpPr/>
          <p:nvPr/>
        </p:nvSpPr>
        <p:spPr>
          <a:xfrm>
            <a:off x="4663440" y="960120"/>
            <a:ext cx="4023360" cy="228600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663440" y="960120"/>
            <a:ext cx="54864" cy="228600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28031" y="1033272"/>
            <a:ext cx="3749040" cy="2157984"/>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Adunarea Mondială a Sănătății (22 mai 2026)</a:t>
            </a:r>
          </a:p>
          <a:p>
            <a:pPr algn="l">
              <a:spcAft>
                <a:spcPts val="300"/>
              </a:spcAft>
            </a:pPr>
            <a:r>
              <a:rPr sz="1000" b="0" i="0">
                <a:solidFill>
                  <a:srgbClr val="11121A"/>
                </a:solidFill>
                <a:latin typeface="Palatino Linotype"/>
              </a:rPr>
              <a:t>Potrivit OMS, delegații au aprobat prima rezoluție dedicată accidentului vascular cerebral</a:t>
            </a:r>
          </a:p>
          <a:p>
            <a:pPr algn="l">
              <a:spcAft>
                <a:spcPts val="300"/>
              </a:spcAft>
            </a:pPr>
            <a:r>
              <a:rPr sz="1000" b="0" i="0">
                <a:solidFill>
                  <a:srgbClr val="11121A"/>
                </a:solidFill>
                <a:latin typeface="Palatino Linotype"/>
              </a:rPr>
              <a:t>Cere acțiuni pentru prevenție, îngrijirea acută, recuperare și pregătirea sistemelor</a:t>
            </a:r>
          </a:p>
        </p:txBody>
      </p:sp>
      <p:sp>
        <p:nvSpPr>
          <p:cNvPr id="51" name="Rectangle 50"/>
          <p:cNvSpPr/>
          <p:nvPr/>
        </p:nvSpPr>
        <p:spPr>
          <a:xfrm>
            <a:off x="457200" y="3429000"/>
            <a:ext cx="8229600" cy="54864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4360" y="3429000"/>
            <a:ext cx="7955279" cy="548640"/>
          </a:xfrm>
          <a:prstGeom prst="rect">
            <a:avLst/>
          </a:prstGeom>
          <a:noFill/>
        </p:spPr>
        <p:txBody>
          <a:bodyPr wrap="square" lIns="0" rIns="0" tIns="0" bIns="0" anchor="ctr">
            <a:spAutoFit/>
          </a:bodyPr>
          <a:lstStyle/>
          <a:p>
            <a:pPr algn="ctr"/>
            <a:r>
              <a:rPr sz="1100" b="1" i="0">
                <a:solidFill>
                  <a:srgbClr val="FFFFFF"/>
                </a:solidFill>
                <a:latin typeface="Palatino Linotype"/>
              </a:rPr>
              <a:t>Două dintre afecțiunile-ancoră au acum un loc explicit în documentele OMS</a:t>
            </a:r>
          </a:p>
        </p:txBody>
      </p:sp>
      <p:sp>
        <p:nvSpPr>
          <p:cNvPr id="53" name="TextBox 52"/>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OMS, documentul EB158/26, 2025; OMS, actualizarea zilnică a Adunării Mondiale a Sănătății, 22.05.2026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914400" y="1371600"/>
            <a:ext cx="731520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Palatino Linotype" pitchFamily="34" charset="0"/>
                <a:ea typeface="Palatino Linotype" pitchFamily="34" charset="-122"/>
                <a:cs typeface="Palatino Linotype" pitchFamily="34" charset="-120"/>
              </a:rPr>
              <a:t>Indicatorii stării de sănătate</a:t>
            </a:r>
            <a:endParaRPr lang="en-US" sz="3600" dirty="0"/>
          </a:p>
        </p:txBody>
      </p:sp>
      <p:sp>
        <p:nvSpPr>
          <p:cNvPr id="3" name="Text 1"/>
          <p:cNvSpPr/>
          <p:nvPr/>
        </p:nvSpPr>
        <p:spPr>
          <a:xfrm>
            <a:off x="914400" y="2926080"/>
            <a:ext cx="7315200" cy="731520"/>
          </a:xfrm>
          <a:prstGeom prst="rect">
            <a:avLst/>
          </a:prstGeom>
          <a:noFill/>
          <a:ln/>
        </p:spPr>
        <p:txBody>
          <a:bodyPr wrap="square" lIns="0" tIns="0" rIns="0" bIns="0" rtlCol="0" anchor="ctr"/>
          <a:lstStyle/>
          <a:p>
            <a:pPr marL="0" indent="0" algn="ctr">
              <a:buNone/>
            </a:pPr>
            <a:r>
              <a:rPr lang="en-US" sz="1250" dirty="0">
                <a:solidFill>
                  <a:srgbClr val="FF4757"/>
                </a:solidFill>
                <a:latin typeface="Palatino Linotype" pitchFamily="34" charset="0"/>
                <a:ea typeface="Palatino Linotype" pitchFamily="34" charset="-122"/>
                <a:cs typeface="Palatino Linotype" pitchFamily="34" charset="-120"/>
              </a:rPr>
              <a:t>SECȚIUNEA D · Prevalență și incidență · YLD, YLL, DALY · HALE și HLY · Număr și rată</a:t>
            </a:r>
            <a:endParaRPr lang="en-US" sz="1400" dirty="0"/>
          </a:p>
        </p:txBody>
      </p:sp>
      <p:sp>
        <p:nvSpPr>
          <p:cNvPr id="4" name="Shape 2"/>
          <p:cNvSpPr/>
          <p:nvPr/>
        </p:nvSpPr>
        <p:spPr>
          <a:xfrm>
            <a:off x="0" y="4709160"/>
            <a:ext cx="9144000" cy="434340"/>
          </a:xfrm>
          <a:prstGeom prst="rect">
            <a:avLst/>
          </a:prstGeom>
          <a:noFill/>
          <a:ln/>
        </p:spPr>
        <p:txBody>
          <a:bodyPr/>
          <a:lstStyle/>
          <a:p>
            <a:endParaRPr lang="ro-RO"/>
          </a:p>
        </p:txBody>
      </p:sp>
      <p:sp>
        <p:nvSpPr>
          <p:cNvPr id="5" name="Text 3"/>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6" name="Text 4"/>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32 / 60</a:t>
            </a:r>
            <a:endParaRPr lang="en-US" sz="80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000" b="1" dirty="0">
                <a:solidFill>
                  <a:srgbClr val="11121A"/>
                </a:solidFill>
                <a:latin typeface="Palatino Linotype" pitchFamily="34" charset="0"/>
                <a:ea typeface="Palatino Linotype" pitchFamily="34" charset="-122"/>
                <a:cs typeface="Palatino Linotype" pitchFamily="34" charset="-120"/>
              </a:rPr>
              <a:t>Cum măsurăm nevoia de recuperare a unei populații?</a:t>
            </a:r>
            <a:endParaRPr lang="en-US" sz="2000" dirty="0"/>
          </a:p>
        </p:txBody>
      </p:sp>
      <p:sp>
        <p:nvSpPr>
          <p:cNvPr id="3" name="Shape 1"/>
          <p:cNvSpPr/>
          <p:nvPr/>
        </p:nvSpPr>
        <p:spPr>
          <a:xfrm>
            <a:off x="457200" y="1005840"/>
            <a:ext cx="1920240" cy="2011680"/>
          </a:xfrm>
          <a:prstGeom prst="rect">
            <a:avLst/>
          </a:prstGeom>
          <a:solidFill>
            <a:srgbClr val="ECEAE4"/>
          </a:solidFill>
          <a:ln/>
          <a:effectLst/>
        </p:spPr>
        <p:txBody>
          <a:bodyPr/>
          <a:lstStyle/>
          <a:p>
            <a:endParaRPr lang="ro-RO" sz="1200"/>
          </a:p>
        </p:txBody>
      </p:sp>
      <p:pic>
        <p:nvPicPr>
          <p:cNvPr id="4" name="Image 0" descr="preencoded.png"/>
          <p:cNvPicPr>
            <a:picLocks noChangeAspect="1"/>
          </p:cNvPicPr>
          <p:nvPr/>
        </p:nvPicPr>
        <p:blipFill>
          <a:blip r:embed="rId2"/>
          <a:stretch>
            <a:fillRect/>
          </a:stretch>
        </p:blipFill>
        <p:spPr>
          <a:xfrm>
            <a:off x="1143000" y="1143000"/>
            <a:ext cx="457200" cy="457200"/>
          </a:xfrm>
          <a:prstGeom prst="rect">
            <a:avLst/>
          </a:prstGeom>
        </p:spPr>
      </p:pic>
      <p:sp>
        <p:nvSpPr>
          <p:cNvPr id="5" name="Text 2"/>
          <p:cNvSpPr/>
          <p:nvPr/>
        </p:nvSpPr>
        <p:spPr>
          <a:xfrm>
            <a:off x="548640" y="1737360"/>
            <a:ext cx="173736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PREVALENȚĂ</a:t>
            </a:r>
            <a:endParaRPr lang="en-US" sz="1200" dirty="0"/>
          </a:p>
        </p:txBody>
      </p:sp>
      <p:sp>
        <p:nvSpPr>
          <p:cNvPr id="6" name="Text 3"/>
          <p:cNvSpPr/>
          <p:nvPr/>
        </p:nvSpPr>
        <p:spPr>
          <a:xfrm>
            <a:off x="548640" y="2148840"/>
            <a:ext cx="1737360" cy="640080"/>
          </a:xfrm>
          <a:prstGeom prst="rect">
            <a:avLst/>
          </a:prstGeom>
          <a:noFill/>
          <a:ln/>
        </p:spPr>
        <p:txBody>
          <a:bodyPr wrap="square" lIns="0" tIns="0" rIns="0" bIns="0" rtlCol="0" anchor="t"/>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Câte persoane au afecțiunea acum</a:t>
            </a:r>
            <a:endParaRPr lang="en-US" sz="1200" dirty="0"/>
          </a:p>
        </p:txBody>
      </p:sp>
      <p:sp>
        <p:nvSpPr>
          <p:cNvPr id="7" name="Shape 4"/>
          <p:cNvSpPr/>
          <p:nvPr/>
        </p:nvSpPr>
        <p:spPr>
          <a:xfrm>
            <a:off x="2560320" y="1005840"/>
            <a:ext cx="1920240" cy="2011680"/>
          </a:xfrm>
          <a:prstGeom prst="rect">
            <a:avLst/>
          </a:prstGeom>
          <a:solidFill>
            <a:srgbClr val="ECEAE4"/>
          </a:solidFill>
          <a:ln/>
          <a:effectLst/>
        </p:spPr>
        <p:txBody>
          <a:bodyPr/>
          <a:lstStyle/>
          <a:p>
            <a:endParaRPr lang="ro-RO" sz="1200"/>
          </a:p>
        </p:txBody>
      </p:sp>
      <p:pic>
        <p:nvPicPr>
          <p:cNvPr id="8" name="Image 1" descr="preencoded.png"/>
          <p:cNvPicPr>
            <a:picLocks noChangeAspect="1"/>
          </p:cNvPicPr>
          <p:nvPr/>
        </p:nvPicPr>
        <p:blipFill>
          <a:blip r:embed="rId3"/>
          <a:stretch>
            <a:fillRect/>
          </a:stretch>
        </p:blipFill>
        <p:spPr>
          <a:xfrm>
            <a:off x="3246120" y="1143000"/>
            <a:ext cx="457200" cy="457200"/>
          </a:xfrm>
          <a:prstGeom prst="rect">
            <a:avLst/>
          </a:prstGeom>
        </p:spPr>
      </p:pic>
      <p:sp>
        <p:nvSpPr>
          <p:cNvPr id="9" name="Text 5"/>
          <p:cNvSpPr/>
          <p:nvPr/>
        </p:nvSpPr>
        <p:spPr>
          <a:xfrm>
            <a:off x="2651760" y="1737360"/>
            <a:ext cx="173736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INCIDENȚĂ</a:t>
            </a:r>
            <a:endParaRPr lang="en-US" sz="1200" dirty="0"/>
          </a:p>
        </p:txBody>
      </p:sp>
      <p:sp>
        <p:nvSpPr>
          <p:cNvPr id="10" name="Text 6"/>
          <p:cNvSpPr/>
          <p:nvPr/>
        </p:nvSpPr>
        <p:spPr>
          <a:xfrm>
            <a:off x="2651760" y="2148840"/>
            <a:ext cx="1737360" cy="640080"/>
          </a:xfrm>
          <a:prstGeom prst="rect">
            <a:avLst/>
          </a:prstGeom>
          <a:noFill/>
          <a:ln/>
        </p:spPr>
        <p:txBody>
          <a:bodyPr wrap="square" lIns="0" tIns="0" rIns="0" bIns="0" rtlCol="0" anchor="t"/>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Câte cazuri noi apar într-o perioadă</a:t>
            </a:r>
            <a:endParaRPr lang="en-US" sz="1200" dirty="0"/>
          </a:p>
        </p:txBody>
      </p:sp>
      <p:sp>
        <p:nvSpPr>
          <p:cNvPr id="11" name="Shape 7"/>
          <p:cNvSpPr/>
          <p:nvPr/>
        </p:nvSpPr>
        <p:spPr>
          <a:xfrm>
            <a:off x="4663440" y="1005840"/>
            <a:ext cx="1920240" cy="2011680"/>
          </a:xfrm>
          <a:prstGeom prst="rect">
            <a:avLst/>
          </a:prstGeom>
          <a:solidFill>
            <a:srgbClr val="ECEAE4"/>
          </a:solidFill>
          <a:ln/>
          <a:effectLst/>
        </p:spPr>
        <p:txBody>
          <a:bodyPr/>
          <a:lstStyle/>
          <a:p>
            <a:endParaRPr lang="ro-RO" sz="1200"/>
          </a:p>
        </p:txBody>
      </p:sp>
      <p:pic>
        <p:nvPicPr>
          <p:cNvPr id="12" name="Image 2" descr="preencoded.png"/>
          <p:cNvPicPr>
            <a:picLocks noChangeAspect="1"/>
          </p:cNvPicPr>
          <p:nvPr/>
        </p:nvPicPr>
        <p:blipFill>
          <a:blip r:embed="rId4"/>
          <a:stretch>
            <a:fillRect/>
          </a:stretch>
        </p:blipFill>
        <p:spPr>
          <a:xfrm>
            <a:off x="5349240" y="1143000"/>
            <a:ext cx="457200" cy="457200"/>
          </a:xfrm>
          <a:prstGeom prst="rect">
            <a:avLst/>
          </a:prstGeom>
        </p:spPr>
      </p:pic>
      <p:sp>
        <p:nvSpPr>
          <p:cNvPr id="13" name="Text 8"/>
          <p:cNvSpPr/>
          <p:nvPr/>
        </p:nvSpPr>
        <p:spPr>
          <a:xfrm>
            <a:off x="4754880" y="1737360"/>
            <a:ext cx="173736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YLD ȘI DALY</a:t>
            </a:r>
            <a:endParaRPr lang="en-US" sz="1200" dirty="0"/>
          </a:p>
        </p:txBody>
      </p:sp>
      <p:sp>
        <p:nvSpPr>
          <p:cNvPr id="14" name="Text 9"/>
          <p:cNvSpPr/>
          <p:nvPr/>
        </p:nvSpPr>
        <p:spPr>
          <a:xfrm>
            <a:off x="4754880" y="2148840"/>
            <a:ext cx="1737360" cy="640080"/>
          </a:xfrm>
          <a:prstGeom prst="rect">
            <a:avLst/>
          </a:prstGeom>
          <a:noFill/>
          <a:ln/>
        </p:spPr>
        <p:txBody>
          <a:bodyPr wrap="square" lIns="0" tIns="0" rIns="0" bIns="0" rtlCol="0" anchor="t"/>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Câtă sănătate se pierde: ani trăiți cu dizabilitate, ani pierduți</a:t>
            </a:r>
            <a:endParaRPr lang="en-US" sz="1200" dirty="0"/>
          </a:p>
        </p:txBody>
      </p:sp>
      <p:sp>
        <p:nvSpPr>
          <p:cNvPr id="15" name="Shape 10"/>
          <p:cNvSpPr/>
          <p:nvPr/>
        </p:nvSpPr>
        <p:spPr>
          <a:xfrm>
            <a:off x="6766560" y="1005840"/>
            <a:ext cx="1920240" cy="2011680"/>
          </a:xfrm>
          <a:prstGeom prst="rect">
            <a:avLst/>
          </a:prstGeom>
          <a:solidFill>
            <a:srgbClr val="ECEAE4"/>
          </a:solidFill>
          <a:ln/>
          <a:effectLst/>
        </p:spPr>
        <p:txBody>
          <a:bodyPr/>
          <a:lstStyle/>
          <a:p>
            <a:endParaRPr lang="ro-RO" sz="1200"/>
          </a:p>
        </p:txBody>
      </p:sp>
      <p:pic>
        <p:nvPicPr>
          <p:cNvPr id="16" name="Image 3" descr="preencoded.png"/>
          <p:cNvPicPr>
            <a:picLocks noChangeAspect="1"/>
          </p:cNvPicPr>
          <p:nvPr/>
        </p:nvPicPr>
        <p:blipFill>
          <a:blip r:embed="rId5"/>
          <a:stretch>
            <a:fillRect/>
          </a:stretch>
        </p:blipFill>
        <p:spPr>
          <a:xfrm>
            <a:off x="7452360" y="1143000"/>
            <a:ext cx="457200" cy="457200"/>
          </a:xfrm>
          <a:prstGeom prst="rect">
            <a:avLst/>
          </a:prstGeom>
        </p:spPr>
      </p:pic>
      <p:sp>
        <p:nvSpPr>
          <p:cNvPr id="17" name="Text 11"/>
          <p:cNvSpPr/>
          <p:nvPr/>
        </p:nvSpPr>
        <p:spPr>
          <a:xfrm>
            <a:off x="6858000" y="1737360"/>
            <a:ext cx="1737360" cy="36576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VIAȚA SĂNĂTOASĂ</a:t>
            </a:r>
            <a:endParaRPr lang="en-US" sz="1200" dirty="0"/>
          </a:p>
        </p:txBody>
      </p:sp>
      <p:sp>
        <p:nvSpPr>
          <p:cNvPr id="18" name="Text 12"/>
          <p:cNvSpPr/>
          <p:nvPr/>
        </p:nvSpPr>
        <p:spPr>
          <a:xfrm>
            <a:off x="6858000" y="2148840"/>
            <a:ext cx="1737360" cy="640080"/>
          </a:xfrm>
          <a:prstGeom prst="rect">
            <a:avLst/>
          </a:prstGeom>
          <a:noFill/>
          <a:ln/>
        </p:spPr>
        <p:txBody>
          <a:bodyPr wrap="square" lIns="0" tIns="0" rIns="0" bIns="0" rtlCol="0" anchor="t"/>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HALE (OMS) și HLY (Eurostat)</a:t>
            </a:r>
            <a:endParaRPr lang="en-US" sz="1200" dirty="0"/>
          </a:p>
        </p:txBody>
      </p:sp>
      <p:sp>
        <p:nvSpPr>
          <p:cNvPr id="19" name="Text 13"/>
          <p:cNvSpPr/>
          <p:nvPr/>
        </p:nvSpPr>
        <p:spPr>
          <a:xfrm>
            <a:off x="457200" y="3291840"/>
            <a:ext cx="8229600" cy="274320"/>
          </a:xfrm>
          <a:prstGeom prst="rect">
            <a:avLst/>
          </a:prstGeom>
          <a:noFill/>
          <a:ln/>
        </p:spPr>
        <p:txBody>
          <a:bodyPr wrap="square" lIns="0" tIns="0" rIns="0" bIns="0" rtlCol="0" anchor="ctr"/>
          <a:lstStyle/>
          <a:p>
            <a:pPr marL="0" indent="0">
              <a:buNone/>
            </a:pPr>
            <a:r>
              <a:rPr lang="en-US" sz="700" b="1" dirty="0">
                <a:solidFill>
                  <a:srgbClr val="0E7C6B"/>
                </a:solidFill>
                <a:latin typeface="Palatino Linotype" pitchFamily="34" charset="0"/>
                <a:ea typeface="Palatino Linotype" pitchFamily="34" charset="-122"/>
                <a:cs typeface="Palatino Linotype" pitchFamily="34" charset="-120"/>
              </a:rPr>
              <a:t>Surse de date: GBD (IHME) · Eurostat · INS · INSP · OMS</a:t>
            </a:r>
            <a:endParaRPr lang="en-US" sz="800" dirty="0"/>
          </a:p>
        </p:txBody>
      </p:sp>
      <p:sp>
        <p:nvSpPr>
          <p:cNvPr id="20" name="Shape 14"/>
          <p:cNvSpPr/>
          <p:nvPr/>
        </p:nvSpPr>
        <p:spPr>
          <a:xfrm>
            <a:off x="0" y="4709160"/>
            <a:ext cx="9144000" cy="434340"/>
          </a:xfrm>
          <a:prstGeom prst="rect">
            <a:avLst/>
          </a:prstGeom>
          <a:noFill/>
          <a:ln/>
        </p:spPr>
        <p:txBody>
          <a:bodyPr/>
          <a:lstStyle/>
          <a:p>
            <a:endParaRPr lang="ro-RO" sz="1200"/>
          </a:p>
        </p:txBody>
      </p:sp>
      <p:sp>
        <p:nvSpPr>
          <p:cNvPr id="21" name="Text 15"/>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2" name="Text 16"/>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33 / 60</a:t>
            </a:r>
            <a:endParaRPr lang="en-US" sz="12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34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Prevalența și incidența</a:t>
            </a:r>
          </a:p>
        </p:txBody>
      </p:sp>
      <p:sp>
        <p:nvSpPr>
          <p:cNvPr id="45" name="Rectangle 44"/>
          <p:cNvSpPr/>
          <p:nvPr/>
        </p:nvSpPr>
        <p:spPr>
          <a:xfrm>
            <a:off x="457200" y="914400"/>
            <a:ext cx="4023360" cy="21488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14400"/>
            <a:ext cx="4023360"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91440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PREVALENȚA</a:t>
            </a:r>
          </a:p>
        </p:txBody>
      </p:sp>
      <p:sp>
        <p:nvSpPr>
          <p:cNvPr id="48" name="TextBox 47"/>
          <p:cNvSpPr txBox="1"/>
          <p:nvPr/>
        </p:nvSpPr>
        <p:spPr>
          <a:xfrm>
            <a:off x="621792" y="1389888"/>
            <a:ext cx="3712464" cy="1600200"/>
          </a:xfrm>
          <a:prstGeom prst="rect">
            <a:avLst/>
          </a:prstGeom>
          <a:noFill/>
        </p:spPr>
        <p:txBody>
          <a:bodyPr wrap="square" lIns="0" rIns="0" tIns="0" bIns="0" anchor="t">
            <a:spAutoFit/>
          </a:bodyPr>
          <a:lstStyle/>
          <a:p>
            <a:pPr algn="l">
              <a:spcAft>
                <a:spcPts val="500"/>
              </a:spcAft>
            </a:pPr>
            <a:r>
              <a:rPr sz="1000" b="1" i="0">
                <a:solidFill>
                  <a:srgbClr val="11121A"/>
                </a:solidFill>
                <a:latin typeface="Palatino Linotype"/>
              </a:rPr>
              <a:t>Câte persoane au afecțiunea acum?</a:t>
            </a:r>
          </a:p>
          <a:p>
            <a:pPr algn="l">
              <a:spcAft>
                <a:spcPts val="500"/>
              </a:spcAft>
            </a:pPr>
            <a:r>
              <a:rPr sz="1100" b="0" i="0">
                <a:solidFill>
                  <a:srgbClr val="11121A"/>
                </a:solidFill>
                <a:latin typeface="Cambria Math"/>
              </a:rPr>
              <a:t>persoanele care au afecțiunea ÷ persoanele din populație</a:t>
            </a:r>
          </a:p>
          <a:p>
            <a:pPr algn="l">
              <a:spcAft>
                <a:spcPts val="500"/>
              </a:spcAft>
            </a:pPr>
            <a:r>
              <a:rPr sz="1000" b="0" i="0">
                <a:solidFill>
                  <a:srgbClr val="11121A"/>
                </a:solidFill>
                <a:latin typeface="Palatino Linotype"/>
              </a:rPr>
              <a:t>Cazurile noi și cele existente anterior. Servește la planificarea serviciilor: fizioterapeuți, paturi, ședințe.</a:t>
            </a:r>
          </a:p>
        </p:txBody>
      </p:sp>
      <p:sp>
        <p:nvSpPr>
          <p:cNvPr id="49" name="Rectangle 48"/>
          <p:cNvSpPr/>
          <p:nvPr/>
        </p:nvSpPr>
        <p:spPr>
          <a:xfrm>
            <a:off x="4663440" y="914400"/>
            <a:ext cx="4023360" cy="21488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663440" y="914400"/>
            <a:ext cx="4023360" cy="38404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54879" y="91440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INCIDENȚA</a:t>
            </a:r>
          </a:p>
        </p:txBody>
      </p:sp>
      <p:sp>
        <p:nvSpPr>
          <p:cNvPr id="52" name="TextBox 51"/>
          <p:cNvSpPr txBox="1"/>
          <p:nvPr/>
        </p:nvSpPr>
        <p:spPr>
          <a:xfrm>
            <a:off x="4828031" y="1389888"/>
            <a:ext cx="3712464" cy="1600200"/>
          </a:xfrm>
          <a:prstGeom prst="rect">
            <a:avLst/>
          </a:prstGeom>
          <a:noFill/>
        </p:spPr>
        <p:txBody>
          <a:bodyPr wrap="square" lIns="0" rIns="0" tIns="0" bIns="0" anchor="t">
            <a:spAutoFit/>
          </a:bodyPr>
          <a:lstStyle/>
          <a:p>
            <a:pPr algn="l">
              <a:spcAft>
                <a:spcPts val="500"/>
              </a:spcAft>
            </a:pPr>
            <a:r>
              <a:rPr sz="1000" b="1" i="0">
                <a:solidFill>
                  <a:srgbClr val="11121A"/>
                </a:solidFill>
                <a:latin typeface="Palatino Linotype"/>
              </a:rPr>
              <a:t>Cât de repede apar cazuri noi?</a:t>
            </a:r>
          </a:p>
          <a:p>
            <a:pPr algn="l">
              <a:spcAft>
                <a:spcPts val="500"/>
              </a:spcAft>
            </a:pPr>
            <a:r>
              <a:rPr sz="1100" b="0" i="0">
                <a:solidFill>
                  <a:srgbClr val="11121A"/>
                </a:solidFill>
                <a:latin typeface="Cambria Math"/>
              </a:rPr>
              <a:t>cazurile noi din perioadă ÷ persoanele fără afecțiune la început</a:t>
            </a:r>
          </a:p>
          <a:p>
            <a:pPr algn="l">
              <a:spcAft>
                <a:spcPts val="500"/>
              </a:spcAft>
            </a:pPr>
            <a:r>
              <a:rPr sz="1000" b="0" i="0">
                <a:solidFill>
                  <a:srgbClr val="11121A"/>
                </a:solidFill>
                <a:latin typeface="Palatino Linotype"/>
              </a:rPr>
              <a:t>Numai cazurile noi. Servește la evaluarea prevenției: scade incidența căderilor și a fracturilor?</a:t>
            </a:r>
          </a:p>
        </p:txBody>
      </p:sp>
      <p:sp>
        <p:nvSpPr>
          <p:cNvPr id="53" name="Rectangle 52"/>
          <p:cNvSpPr/>
          <p:nvPr/>
        </p:nvSpPr>
        <p:spPr>
          <a:xfrm>
            <a:off x="457200" y="3246120"/>
            <a:ext cx="8229600" cy="8686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 y="3246120"/>
            <a:ext cx="54864" cy="86868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 y="3319272"/>
            <a:ext cx="7863840" cy="758952"/>
          </a:xfrm>
          <a:prstGeom prst="rect">
            <a:avLst/>
          </a:prstGeom>
          <a:noFill/>
        </p:spPr>
        <p:txBody>
          <a:bodyPr wrap="square" lIns="0" rIns="0" tIns="0" bIns="0" anchor="t">
            <a:spAutoFit/>
          </a:bodyPr>
          <a:lstStyle/>
          <a:p>
            <a:pPr algn="l"/>
            <a:r>
              <a:rPr sz="1000" b="1" i="0">
                <a:solidFill>
                  <a:srgbClr val="B02532"/>
                </a:solidFill>
                <a:latin typeface="Palatino Linotype"/>
              </a:rPr>
              <a:t>Durata contează: </a:t>
            </a:r>
            <a:r>
              <a:rPr sz="1000" b="0" i="0">
                <a:solidFill>
                  <a:srgbClr val="11121A"/>
                </a:solidFill>
                <a:latin typeface="Palatino Linotype"/>
              </a:rPr>
              <a:t>prevalența depinde de incidență și de durata bolii. Afecțiunile de lungă durată, ca lombalgia cronică sau urmările unui accident vascular, se adună în populație și cer servicii pe perioade lungi.</a:t>
            </a:r>
          </a:p>
        </p:txBody>
      </p:sp>
      <p:sp>
        <p:nvSpPr>
          <p:cNvPr id="56" name="TextBox 55"/>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CDC, Principles of Epidemiology, lecția 3; OMS, fișa despre afecțiunile musculo-scheletale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35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Exemplu: lombalgia cronică într-o comunitate</a:t>
            </a:r>
          </a:p>
        </p:txBody>
      </p:sp>
      <p:sp>
        <p:nvSpPr>
          <p:cNvPr id="45" name="Rectangle 44"/>
          <p:cNvSpPr/>
          <p:nvPr/>
        </p:nvSpPr>
        <p:spPr>
          <a:xfrm>
            <a:off x="457200" y="896112"/>
            <a:ext cx="8229600" cy="50292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896112"/>
            <a:ext cx="54864" cy="50292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969264"/>
            <a:ext cx="7863840" cy="393192"/>
          </a:xfrm>
          <a:prstGeom prst="rect">
            <a:avLst/>
          </a:prstGeom>
          <a:noFill/>
        </p:spPr>
        <p:txBody>
          <a:bodyPr wrap="square" lIns="0" rIns="0" tIns="0" bIns="0" anchor="t">
            <a:spAutoFit/>
          </a:bodyPr>
          <a:lstStyle/>
          <a:p>
            <a:pPr algn="l"/>
            <a:r>
              <a:rPr sz="1000" b="1" i="0">
                <a:solidFill>
                  <a:srgbClr val="B02532"/>
                </a:solidFill>
                <a:latin typeface="Palatino Linotype"/>
              </a:rPr>
              <a:t>Valori ipotetice. </a:t>
            </a:r>
            <a:r>
              <a:rPr sz="1000" b="0" i="0">
                <a:solidFill>
                  <a:srgbClr val="11121A"/>
                </a:solidFill>
                <a:latin typeface="Palatino Linotype"/>
              </a:rPr>
              <a:t>Comunitatea A: 50 000 de adulți; la 1 ianuarie, 4 000 au lombalgie cronică; în cursul anului apar 920 de cazuri noi.</a:t>
            </a:r>
          </a:p>
        </p:txBody>
      </p:sp>
      <p:sp>
        <p:nvSpPr>
          <p:cNvPr id="48" name="Rectangle 47"/>
          <p:cNvSpPr/>
          <p:nvPr/>
        </p:nvSpPr>
        <p:spPr>
          <a:xfrm>
            <a:off x="457200" y="1554480"/>
            <a:ext cx="8229600" cy="56692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1554480"/>
            <a:ext cx="54864" cy="56692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1627632"/>
            <a:ext cx="7955279" cy="438912"/>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Prevalența la 1 ianuarie: </a:t>
            </a:r>
            <a:r>
              <a:rPr sz="1100" b="0" i="0">
                <a:solidFill>
                  <a:srgbClr val="11121A"/>
                </a:solidFill>
                <a:latin typeface="Palatino Linotype"/>
              </a:rPr>
              <a:t>4 000 ÷ 50 000 = 0,08, adică 8%, sau 80 la 1 000 de adulți</a:t>
            </a:r>
          </a:p>
        </p:txBody>
      </p:sp>
      <p:sp>
        <p:nvSpPr>
          <p:cNvPr id="51" name="Rectangle 50"/>
          <p:cNvSpPr/>
          <p:nvPr/>
        </p:nvSpPr>
        <p:spPr>
          <a:xfrm>
            <a:off x="457200" y="2212848"/>
            <a:ext cx="8229600" cy="56692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2212848"/>
            <a:ext cx="54864" cy="56692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2286000"/>
            <a:ext cx="7955279" cy="438912"/>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Persoanele la risc: </a:t>
            </a:r>
            <a:r>
              <a:rPr sz="1100" b="0" i="0">
                <a:solidFill>
                  <a:srgbClr val="11121A"/>
                </a:solidFill>
                <a:latin typeface="Palatino Linotype"/>
              </a:rPr>
              <a:t>50 000 − 4 000 = 46 000 de adulți fără lombalgie cronică</a:t>
            </a:r>
          </a:p>
        </p:txBody>
      </p:sp>
      <p:sp>
        <p:nvSpPr>
          <p:cNvPr id="54" name="Rectangle 53"/>
          <p:cNvSpPr/>
          <p:nvPr/>
        </p:nvSpPr>
        <p:spPr>
          <a:xfrm>
            <a:off x="457200" y="2871215"/>
            <a:ext cx="8229600" cy="56692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2871215"/>
            <a:ext cx="54864" cy="56692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2944368"/>
            <a:ext cx="7955279" cy="438912"/>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Incidența în cursul anului: </a:t>
            </a:r>
            <a:r>
              <a:rPr sz="1100" b="0" i="0">
                <a:solidFill>
                  <a:srgbClr val="11121A"/>
                </a:solidFill>
                <a:latin typeface="Palatino Linotype"/>
              </a:rPr>
              <a:t>920 ÷ 46 000 = 0,02, adică 20 de cazuri noi la 1 000 de adulți fără afecțiune</a:t>
            </a:r>
          </a:p>
        </p:txBody>
      </p:sp>
      <p:sp>
        <p:nvSpPr>
          <p:cNvPr id="57" name="Rectangle 56"/>
          <p:cNvSpPr/>
          <p:nvPr/>
        </p:nvSpPr>
        <p:spPr>
          <a:xfrm>
            <a:off x="457200" y="3529584"/>
            <a:ext cx="8229600" cy="566928"/>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3529584"/>
            <a:ext cx="54864" cy="566928"/>
          </a:xfrm>
          <a:prstGeom prst="rect">
            <a:avLst/>
          </a:prstGeom>
          <a:solidFill>
            <a:srgbClr val="B0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3602736"/>
            <a:ext cx="7955279" cy="438912"/>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Numitorul greșit în definiția cursului: </a:t>
            </a:r>
            <a:r>
              <a:rPr sz="1100" b="0" i="0">
                <a:solidFill>
                  <a:srgbClr val="11121A"/>
                </a:solidFill>
                <a:latin typeface="Palatino Linotype"/>
              </a:rPr>
              <a:t>920 ÷ 50 000 = 0,0184, adică 18,4 la 1 000: cine are deja afecțiunea nu poate deveni caz nou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36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Anii trăiți cu dizabilitate, anii pierduți, DALY</a:t>
            </a:r>
          </a:p>
        </p:txBody>
      </p:sp>
      <p:sp>
        <p:nvSpPr>
          <p:cNvPr id="45" name="Rectangle 44"/>
          <p:cNvSpPr/>
          <p:nvPr/>
        </p:nvSpPr>
        <p:spPr>
          <a:xfrm>
            <a:off x="457200" y="914400"/>
            <a:ext cx="8229600" cy="80467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14400"/>
            <a:ext cx="1188720" cy="80467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914400"/>
            <a:ext cx="1188720" cy="804672"/>
          </a:xfrm>
          <a:prstGeom prst="rect">
            <a:avLst/>
          </a:prstGeom>
          <a:noFill/>
        </p:spPr>
        <p:txBody>
          <a:bodyPr wrap="square" lIns="0" rIns="0" tIns="0" bIns="0" anchor="ctr">
            <a:spAutoFit/>
          </a:bodyPr>
          <a:lstStyle/>
          <a:p>
            <a:pPr algn="ctr"/>
            <a:r>
              <a:rPr sz="2000" b="1" i="0">
                <a:solidFill>
                  <a:srgbClr val="FFFFFF"/>
                </a:solidFill>
                <a:latin typeface="Palatino Linotype"/>
              </a:rPr>
              <a:t>YLD</a:t>
            </a:r>
          </a:p>
        </p:txBody>
      </p:sp>
      <p:sp>
        <p:nvSpPr>
          <p:cNvPr id="48" name="TextBox 47"/>
          <p:cNvSpPr txBox="1"/>
          <p:nvPr/>
        </p:nvSpPr>
        <p:spPr>
          <a:xfrm>
            <a:off x="1828800" y="969264"/>
            <a:ext cx="6675120" cy="731520"/>
          </a:xfrm>
          <a:prstGeom prst="rect">
            <a:avLst/>
          </a:prstGeom>
          <a:noFill/>
        </p:spPr>
        <p:txBody>
          <a:bodyPr wrap="square" lIns="0" rIns="0" tIns="0" bIns="0" anchor="ctr">
            <a:spAutoFit/>
          </a:bodyPr>
          <a:lstStyle/>
          <a:p>
            <a:pPr algn="l"/>
            <a:r>
              <a:rPr sz="1250" b="1" i="0">
                <a:solidFill>
                  <a:srgbClr val="11121A"/>
                </a:solidFill>
                <a:latin typeface="Cambria Math"/>
              </a:rPr>
              <a:t>numărul persoanelor cu afecțiunea × ponderea de dizabilitate</a:t>
            </a:r>
          </a:p>
          <a:p>
            <a:pPr algn="l"/>
            <a:r>
              <a:rPr sz="950" b="0" i="0">
                <a:solidFill>
                  <a:srgbClr val="585A64"/>
                </a:solidFill>
                <a:latin typeface="Palatino Linotype"/>
              </a:rPr>
              <a:t>sănătatea pierdută de cei care trăiesc cu afecțiunea; ponderea: de la 0, nicio pierdere, la 1, echivalentul decesului</a:t>
            </a:r>
          </a:p>
        </p:txBody>
      </p:sp>
      <p:sp>
        <p:nvSpPr>
          <p:cNvPr id="49" name="Rectangle 48"/>
          <p:cNvSpPr/>
          <p:nvPr/>
        </p:nvSpPr>
        <p:spPr>
          <a:xfrm>
            <a:off x="457200" y="1828800"/>
            <a:ext cx="8229600" cy="80467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1828800"/>
            <a:ext cx="1188720" cy="804672"/>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1828800"/>
            <a:ext cx="1188720" cy="804672"/>
          </a:xfrm>
          <a:prstGeom prst="rect">
            <a:avLst/>
          </a:prstGeom>
          <a:noFill/>
        </p:spPr>
        <p:txBody>
          <a:bodyPr wrap="square" lIns="0" rIns="0" tIns="0" bIns="0" anchor="ctr">
            <a:spAutoFit/>
          </a:bodyPr>
          <a:lstStyle/>
          <a:p>
            <a:pPr algn="ctr"/>
            <a:r>
              <a:rPr sz="2000" b="1" i="0">
                <a:solidFill>
                  <a:srgbClr val="FFFFFF"/>
                </a:solidFill>
                <a:latin typeface="Palatino Linotype"/>
              </a:rPr>
              <a:t>YLL</a:t>
            </a:r>
          </a:p>
        </p:txBody>
      </p:sp>
      <p:sp>
        <p:nvSpPr>
          <p:cNvPr id="52" name="TextBox 51"/>
          <p:cNvSpPr txBox="1"/>
          <p:nvPr/>
        </p:nvSpPr>
        <p:spPr>
          <a:xfrm>
            <a:off x="1828800" y="1883664"/>
            <a:ext cx="6675120" cy="731520"/>
          </a:xfrm>
          <a:prstGeom prst="rect">
            <a:avLst/>
          </a:prstGeom>
          <a:noFill/>
        </p:spPr>
        <p:txBody>
          <a:bodyPr wrap="square" lIns="0" rIns="0" tIns="0" bIns="0" anchor="ctr">
            <a:spAutoFit/>
          </a:bodyPr>
          <a:lstStyle/>
          <a:p>
            <a:pPr algn="l"/>
            <a:r>
              <a:rPr sz="1250" b="1" i="0">
                <a:solidFill>
                  <a:srgbClr val="11121A"/>
                </a:solidFill>
                <a:latin typeface="Cambria Math"/>
              </a:rPr>
              <a:t>numărul deceselor × speranța de viață standard la vârsta decesului</a:t>
            </a:r>
          </a:p>
          <a:p>
            <a:pPr algn="l"/>
            <a:r>
              <a:rPr sz="950" b="0" i="0">
                <a:solidFill>
                  <a:srgbClr val="585A64"/>
                </a:solidFill>
                <a:latin typeface="Palatino Linotype"/>
              </a:rPr>
              <a:t>speranța de viață standard: anii pe care i-ar mai fi trăit, în medie, o persoană de aceeași vârstă, după cea mai scăzută mortalitate observată</a:t>
            </a:r>
          </a:p>
        </p:txBody>
      </p:sp>
      <p:sp>
        <p:nvSpPr>
          <p:cNvPr id="53" name="Rectangle 52"/>
          <p:cNvSpPr/>
          <p:nvPr/>
        </p:nvSpPr>
        <p:spPr>
          <a:xfrm>
            <a:off x="457200" y="2743200"/>
            <a:ext cx="8229600" cy="80467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 y="2743200"/>
            <a:ext cx="1188720" cy="804672"/>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2743200"/>
            <a:ext cx="1188720" cy="804672"/>
          </a:xfrm>
          <a:prstGeom prst="rect">
            <a:avLst/>
          </a:prstGeom>
          <a:noFill/>
        </p:spPr>
        <p:txBody>
          <a:bodyPr wrap="square" lIns="0" rIns="0" tIns="0" bIns="0" anchor="ctr">
            <a:spAutoFit/>
          </a:bodyPr>
          <a:lstStyle/>
          <a:p>
            <a:pPr algn="ctr"/>
            <a:r>
              <a:rPr sz="2000" b="1" i="0">
                <a:solidFill>
                  <a:srgbClr val="FFFFFF"/>
                </a:solidFill>
                <a:latin typeface="Palatino Linotype"/>
              </a:rPr>
              <a:t>DALY</a:t>
            </a:r>
          </a:p>
        </p:txBody>
      </p:sp>
      <p:sp>
        <p:nvSpPr>
          <p:cNvPr id="56" name="TextBox 55"/>
          <p:cNvSpPr txBox="1"/>
          <p:nvPr/>
        </p:nvSpPr>
        <p:spPr>
          <a:xfrm>
            <a:off x="1828800" y="2798064"/>
            <a:ext cx="6675120" cy="731520"/>
          </a:xfrm>
          <a:prstGeom prst="rect">
            <a:avLst/>
          </a:prstGeom>
          <a:noFill/>
        </p:spPr>
        <p:txBody>
          <a:bodyPr wrap="square" lIns="0" rIns="0" tIns="0" bIns="0" anchor="ctr">
            <a:spAutoFit/>
          </a:bodyPr>
          <a:lstStyle/>
          <a:p>
            <a:pPr algn="l"/>
            <a:r>
              <a:rPr sz="1250" b="1" i="0">
                <a:solidFill>
                  <a:srgbClr val="11121A"/>
                </a:solidFill>
                <a:latin typeface="Cambria Math"/>
              </a:rPr>
              <a:t>YLL + YLD</a:t>
            </a:r>
          </a:p>
          <a:p>
            <a:pPr algn="l"/>
            <a:r>
              <a:rPr sz="950" b="0" i="0">
                <a:solidFill>
                  <a:srgbClr val="585A64"/>
                </a:solidFill>
                <a:latin typeface="Palatino Linotype"/>
              </a:rPr>
              <a:t>un DALY: pierderea echivalentului unui an de viață în deplină sănătate</a:t>
            </a:r>
          </a:p>
        </p:txBody>
      </p:sp>
      <p:sp>
        <p:nvSpPr>
          <p:cNvPr id="57" name="Rectangle 56"/>
          <p:cNvSpPr/>
          <p:nvPr/>
        </p:nvSpPr>
        <p:spPr>
          <a:xfrm>
            <a:off x="457200" y="3703320"/>
            <a:ext cx="8229600" cy="50292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3703320"/>
            <a:ext cx="54864" cy="50292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8" y="3776472"/>
            <a:ext cx="7863840" cy="393192"/>
          </a:xfrm>
          <a:prstGeom prst="rect">
            <a:avLst/>
          </a:prstGeom>
          <a:noFill/>
        </p:spPr>
        <p:txBody>
          <a:bodyPr wrap="square" lIns="0" rIns="0" tIns="0" bIns="0" anchor="t">
            <a:spAutoFit/>
          </a:bodyPr>
          <a:lstStyle/>
          <a:p>
            <a:pPr algn="l"/>
            <a:r>
              <a:rPr sz="1000" b="1" i="0">
                <a:solidFill>
                  <a:srgbClr val="B02532"/>
                </a:solidFill>
                <a:latin typeface="Palatino Linotype"/>
              </a:rPr>
              <a:t>De reținut: </a:t>
            </a:r>
            <a:r>
              <a:rPr sz="1000" b="0" i="0">
                <a:solidFill>
                  <a:srgbClr val="11121A"/>
                </a:solidFill>
                <a:latin typeface="Palatino Linotype"/>
              </a:rPr>
              <a:t>lombalgia produce foarte puține decese, dar este prima cauză a anilor trăiți cu dizabilitate în lume.</a:t>
            </a:r>
          </a:p>
        </p:txBody>
      </p:sp>
      <p:sp>
        <p:nvSpPr>
          <p:cNvPr id="60" name="TextBox 59"/>
          <p:cNvSpPr txBox="1"/>
          <p:nvPr/>
        </p:nvSpPr>
        <p:spPr>
          <a:xfrm>
            <a:off x="457200" y="4279392"/>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GBD 2021, Diseases and Injuries Collaborators, The Lancet, 2024; OMS, metodele estimărilor globale de sănătate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37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Exemplu: două afecțiuni, două imagini ale poverii</a:t>
            </a:r>
          </a:p>
        </p:txBody>
      </p:sp>
      <p:sp>
        <p:nvSpPr>
          <p:cNvPr id="45" name="Rectangle 44"/>
          <p:cNvSpPr/>
          <p:nvPr/>
        </p:nvSpPr>
        <p:spPr>
          <a:xfrm>
            <a:off x="457200" y="896112"/>
            <a:ext cx="8229600" cy="640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896112"/>
            <a:ext cx="54864" cy="64008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969264"/>
            <a:ext cx="7863840" cy="530352"/>
          </a:xfrm>
          <a:prstGeom prst="rect">
            <a:avLst/>
          </a:prstGeom>
          <a:noFill/>
        </p:spPr>
        <p:txBody>
          <a:bodyPr wrap="square" lIns="0" rIns="0" tIns="0" bIns="0" anchor="t">
            <a:spAutoFit/>
          </a:bodyPr>
          <a:lstStyle/>
          <a:p>
            <a:pPr algn="l"/>
            <a:r>
              <a:rPr sz="1000" b="1" i="0">
                <a:solidFill>
                  <a:srgbClr val="B02532"/>
                </a:solidFill>
                <a:latin typeface="Palatino Linotype"/>
              </a:rPr>
              <a:t>Valori ipotetice. </a:t>
            </a:r>
            <a:r>
              <a:rPr sz="1000" b="0" i="0">
                <a:solidFill>
                  <a:srgbClr val="11121A"/>
                </a:solidFill>
                <a:latin typeface="Palatino Linotype"/>
              </a:rPr>
              <a:t>Afecțiunea X: niciun deces; 5 000 de persoane, ponderea 0,1. Afecțiunea Y: 20 de decese la o vârstă cu încă 15 ani de speranță de viață standard; 200 de persoane, ponderea 0,2.</a:t>
            </a:r>
          </a:p>
        </p:txBody>
      </p:sp>
      <p:sp>
        <p:nvSpPr>
          <p:cNvPr id="48" name="Rectangle 47"/>
          <p:cNvSpPr/>
          <p:nvPr/>
        </p:nvSpPr>
        <p:spPr>
          <a:xfrm>
            <a:off x="457200" y="1691640"/>
            <a:ext cx="4023360" cy="160020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1691640"/>
            <a:ext cx="4023360"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169164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AFECȚIUNEA X</a:t>
            </a:r>
          </a:p>
        </p:txBody>
      </p:sp>
      <p:sp>
        <p:nvSpPr>
          <p:cNvPr id="51" name="TextBox 50"/>
          <p:cNvSpPr txBox="1"/>
          <p:nvPr/>
        </p:nvSpPr>
        <p:spPr>
          <a:xfrm>
            <a:off x="621792" y="2167128"/>
            <a:ext cx="3712464" cy="1051560"/>
          </a:xfrm>
          <a:prstGeom prst="rect">
            <a:avLst/>
          </a:prstGeom>
          <a:noFill/>
        </p:spPr>
        <p:txBody>
          <a:bodyPr wrap="square" lIns="0" rIns="0" tIns="0" bIns="0" anchor="t">
            <a:spAutoFit/>
          </a:bodyPr>
          <a:lstStyle/>
          <a:p>
            <a:pPr algn="l">
              <a:spcAft>
                <a:spcPts val="500"/>
              </a:spcAft>
            </a:pPr>
            <a:r>
              <a:rPr sz="1150" b="0" i="0">
                <a:solidFill>
                  <a:srgbClr val="11121A"/>
                </a:solidFill>
                <a:latin typeface="Palatino Linotype"/>
              </a:rPr>
              <a:t>YLL = 0</a:t>
            </a:r>
          </a:p>
          <a:p>
            <a:pPr algn="l">
              <a:spcAft>
                <a:spcPts val="500"/>
              </a:spcAft>
            </a:pPr>
            <a:r>
              <a:rPr sz="1150" b="0" i="0">
                <a:solidFill>
                  <a:srgbClr val="11121A"/>
                </a:solidFill>
                <a:latin typeface="Palatino Linotype"/>
              </a:rPr>
              <a:t>YLD = 5 000 × 0,1 = 500</a:t>
            </a:r>
          </a:p>
          <a:p>
            <a:pPr algn="l">
              <a:spcAft>
                <a:spcPts val="500"/>
              </a:spcAft>
            </a:pPr>
            <a:r>
              <a:rPr sz="1150" b="1" i="0">
                <a:solidFill>
                  <a:srgbClr val="11121A"/>
                </a:solidFill>
                <a:latin typeface="Palatino Linotype"/>
              </a:rPr>
              <a:t>DALY = 500</a:t>
            </a:r>
          </a:p>
        </p:txBody>
      </p:sp>
      <p:sp>
        <p:nvSpPr>
          <p:cNvPr id="52" name="Rectangle 51"/>
          <p:cNvSpPr/>
          <p:nvPr/>
        </p:nvSpPr>
        <p:spPr>
          <a:xfrm>
            <a:off x="4663440" y="1691640"/>
            <a:ext cx="4023360" cy="160020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663440" y="1691640"/>
            <a:ext cx="4023360" cy="38404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54879" y="169164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AFECȚIUNEA Y</a:t>
            </a:r>
          </a:p>
        </p:txBody>
      </p:sp>
      <p:sp>
        <p:nvSpPr>
          <p:cNvPr id="55" name="TextBox 54"/>
          <p:cNvSpPr txBox="1"/>
          <p:nvPr/>
        </p:nvSpPr>
        <p:spPr>
          <a:xfrm>
            <a:off x="4828031" y="2167128"/>
            <a:ext cx="3712464" cy="1051560"/>
          </a:xfrm>
          <a:prstGeom prst="rect">
            <a:avLst/>
          </a:prstGeom>
          <a:noFill/>
        </p:spPr>
        <p:txBody>
          <a:bodyPr wrap="square" lIns="0" rIns="0" tIns="0" bIns="0" anchor="t">
            <a:spAutoFit/>
          </a:bodyPr>
          <a:lstStyle/>
          <a:p>
            <a:pPr algn="l">
              <a:spcAft>
                <a:spcPts val="500"/>
              </a:spcAft>
            </a:pPr>
            <a:r>
              <a:rPr sz="1150" b="0" i="0">
                <a:solidFill>
                  <a:srgbClr val="11121A"/>
                </a:solidFill>
                <a:latin typeface="Palatino Linotype"/>
              </a:rPr>
              <a:t>YLL = 20 × 15 = 300</a:t>
            </a:r>
          </a:p>
          <a:p>
            <a:pPr algn="l">
              <a:spcAft>
                <a:spcPts val="500"/>
              </a:spcAft>
            </a:pPr>
            <a:r>
              <a:rPr sz="1150" b="0" i="0">
                <a:solidFill>
                  <a:srgbClr val="11121A"/>
                </a:solidFill>
                <a:latin typeface="Palatino Linotype"/>
              </a:rPr>
              <a:t>YLD = 200 × 0,2 = 40</a:t>
            </a:r>
          </a:p>
          <a:p>
            <a:pPr algn="l">
              <a:spcAft>
                <a:spcPts val="500"/>
              </a:spcAft>
            </a:pPr>
            <a:r>
              <a:rPr sz="1150" b="1" i="0">
                <a:solidFill>
                  <a:srgbClr val="11121A"/>
                </a:solidFill>
                <a:latin typeface="Palatino Linotype"/>
              </a:rPr>
              <a:t>DALY = 340</a:t>
            </a:r>
          </a:p>
        </p:txBody>
      </p:sp>
      <p:sp>
        <p:nvSpPr>
          <p:cNvPr id="56" name="Rectangle 55"/>
          <p:cNvSpPr/>
          <p:nvPr/>
        </p:nvSpPr>
        <p:spPr>
          <a:xfrm>
            <a:off x="457200" y="3474720"/>
            <a:ext cx="8229600" cy="68580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3474720"/>
            <a:ext cx="7955279" cy="685800"/>
          </a:xfrm>
          <a:prstGeom prst="rect">
            <a:avLst/>
          </a:prstGeom>
          <a:noFill/>
        </p:spPr>
        <p:txBody>
          <a:bodyPr wrap="square" lIns="0" rIns="0" tIns="0" bIns="0" anchor="ctr">
            <a:spAutoFit/>
          </a:bodyPr>
          <a:lstStyle/>
          <a:p>
            <a:pPr algn="ctr"/>
            <a:r>
              <a:rPr sz="1050" b="0" i="0">
                <a:solidFill>
                  <a:srgbClr val="FFFFFF"/>
                </a:solidFill>
                <a:latin typeface="Palatino Linotype"/>
              </a:rPr>
              <a:t>După decese, Y pare singura problemă; după DALY, povara lui X este mai mare. Pentru X: recuperare și îngrijire de lungă durată; pentru Y: prevenție și tratament la timp.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1600" b="1" dirty="0">
                <a:solidFill>
                  <a:srgbClr val="11121A"/>
                </a:solidFill>
                <a:latin typeface="Palatino Linotype" pitchFamily="34" charset="0"/>
                <a:ea typeface="Palatino Linotype" pitchFamily="34" charset="-122"/>
                <a:cs typeface="Palatino Linotype" pitchFamily="34" charset="-120"/>
              </a:rPr>
              <a:t>Speranța de viață sănătoasă: HALE și HLY</a:t>
            </a:r>
            <a:endParaRPr lang="en-US" sz="1600" dirty="0"/>
          </a:p>
        </p:txBody>
      </p:sp>
      <p:sp>
        <p:nvSpPr>
          <p:cNvPr id="3" name="Shape 1"/>
          <p:cNvSpPr/>
          <p:nvPr/>
        </p:nvSpPr>
        <p:spPr>
          <a:xfrm>
            <a:off x="457200" y="914400"/>
            <a:ext cx="5029200" cy="457200"/>
          </a:xfrm>
          <a:prstGeom prst="rect">
            <a:avLst/>
          </a:prstGeom>
          <a:solidFill>
            <a:srgbClr val="0E7C6B"/>
          </a:solidFill>
          <a:ln/>
        </p:spPr>
        <p:txBody>
          <a:bodyPr/>
          <a:lstStyle/>
          <a:p>
            <a:endParaRPr lang="ro-RO"/>
          </a:p>
        </p:txBody>
      </p:sp>
      <p:sp>
        <p:nvSpPr>
          <p:cNvPr id="4" name="Text 2"/>
          <p:cNvSpPr/>
          <p:nvPr/>
        </p:nvSpPr>
        <p:spPr>
          <a:xfrm>
            <a:off x="457200" y="914400"/>
            <a:ext cx="5029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Palatino Linotype" pitchFamily="34" charset="0"/>
                <a:ea typeface="Palatino Linotype" pitchFamily="34" charset="-122"/>
                <a:cs typeface="Palatino Linotype" pitchFamily="34" charset="-120"/>
              </a:rPr>
              <a:t>Doi indicatori, două instituții</a:t>
            </a:r>
            <a:endParaRPr lang="en-US" sz="1400" dirty="0"/>
          </a:p>
        </p:txBody>
      </p:sp>
      <p:sp>
        <p:nvSpPr>
          <p:cNvPr id="5" name="Text 3"/>
          <p:cNvSpPr/>
          <p:nvPr/>
        </p:nvSpPr>
        <p:spPr>
          <a:xfrm>
            <a:off x="457200" y="1463040"/>
            <a:ext cx="5029200" cy="1371600"/>
          </a:xfrm>
          <a:prstGeom prst="rect">
            <a:avLst/>
          </a:prstGeom>
          <a:noFill/>
          <a:ln/>
        </p:spPr>
        <p:txBody>
          <a:bodyPr wrap="square" lIns="0" tIns="0" rIns="0" bIns="0" rtlCol="0" anchor="t"/>
          <a:lstStyle/>
          <a:p>
            <a:pPr marL="0" indent="0">
              <a:buNone/>
            </a:pPr>
            <a:r>
              <a:rPr lang="en-US" sz="1000" b="1" dirty="0">
                <a:solidFill>
                  <a:srgbClr val="11121A"/>
                </a:solidFill>
                <a:latin typeface="Palatino Linotype" pitchFamily="34" charset="0"/>
                <a:ea typeface="Palatino Linotype" pitchFamily="34" charset="-122"/>
                <a:cs typeface="Palatino Linotype" pitchFamily="34" charset="-120"/>
              </a:rPr>
              <a:t>HALE (OMS): anii trăiți în „deplină sănătate”, estimați din anii trăiți cu dizabilitate</a:t>
            </a:r>
            <a:endParaRPr lang="en-US" sz="1200" dirty="0"/>
          </a:p>
          <a:p>
            <a:pPr marL="0" indent="0">
              <a:buNone/>
            </a:pPr>
            <a:r>
              <a:rPr lang="en-US" sz="1000" b="1" dirty="0">
                <a:solidFill>
                  <a:srgbClr val="11121A"/>
                </a:solidFill>
                <a:latin typeface="Palatino Linotype" pitchFamily="34" charset="0"/>
                <a:ea typeface="Palatino Linotype" pitchFamily="34" charset="-122"/>
                <a:cs typeface="Palatino Linotype" pitchFamily="34" charset="-120"/>
              </a:rPr>
              <a:t>HLY (Eurostat): anii trăiți fără limitări de activitate, din ancheta EU-SILC</a:t>
            </a:r>
            <a:endParaRPr lang="en-US" sz="1200" dirty="0"/>
          </a:p>
          <a:p>
            <a:pPr marL="0" indent="0">
              <a:buNone/>
            </a:pPr>
            <a:r>
              <a:rPr lang="en-US" sz="1100" dirty="0"/>
              <a:t>Ambii folosesc metoda Sullivan; nu se compară între ei</a:t>
            </a:r>
            <a:endParaRPr lang="en-US" sz="1200" dirty="0"/>
          </a:p>
        </p:txBody>
      </p:sp>
      <p:sp>
        <p:nvSpPr>
          <p:cNvPr id="6" name="Shape 4"/>
          <p:cNvSpPr/>
          <p:nvPr/>
        </p:nvSpPr>
        <p:spPr>
          <a:xfrm>
            <a:off x="5760720" y="914400"/>
            <a:ext cx="2926080" cy="1920240"/>
          </a:xfrm>
          <a:prstGeom prst="rect">
            <a:avLst/>
          </a:prstGeom>
          <a:solidFill>
            <a:srgbClr val="11121A"/>
          </a:solidFill>
          <a:ln/>
          <a:effectLst/>
        </p:spPr>
        <p:txBody>
          <a:bodyPr/>
          <a:lstStyle/>
          <a:p>
            <a:endParaRPr lang="ro-RO"/>
          </a:p>
        </p:txBody>
      </p:sp>
      <p:sp>
        <p:nvSpPr>
          <p:cNvPr id="7" name="Text 5"/>
          <p:cNvSpPr/>
          <p:nvPr/>
        </p:nvSpPr>
        <p:spPr>
          <a:xfrm>
            <a:off x="5760720" y="960120"/>
            <a:ext cx="2926080" cy="274320"/>
          </a:xfrm>
          <a:prstGeom prst="rect">
            <a:avLst/>
          </a:prstGeom>
          <a:noFill/>
          <a:ln/>
        </p:spPr>
        <p:txBody>
          <a:bodyPr wrap="square" lIns="0" tIns="0" rIns="0" bIns="0" rtlCol="0" anchor="ctr"/>
          <a:lstStyle/>
          <a:p>
            <a:pPr marL="0" indent="0" algn="ctr">
              <a:buNone/>
            </a:pPr>
            <a:r>
              <a:rPr lang="en-US" sz="800" b="1" dirty="0">
                <a:solidFill>
                  <a:srgbClr val="FF4757"/>
                </a:solidFill>
                <a:latin typeface="Palatino Linotype" pitchFamily="34" charset="0"/>
                <a:ea typeface="Palatino Linotype" pitchFamily="34" charset="-122"/>
                <a:cs typeface="Palatino Linotype" pitchFamily="34" charset="-120"/>
              </a:rPr>
              <a:t>HLY la naștere, 2024</a:t>
            </a:r>
            <a:endParaRPr lang="en-US" sz="900" dirty="0"/>
          </a:p>
        </p:txBody>
      </p:sp>
      <p:sp>
        <p:nvSpPr>
          <p:cNvPr id="8" name="Text 6"/>
          <p:cNvSpPr/>
          <p:nvPr/>
        </p:nvSpPr>
        <p:spPr>
          <a:xfrm>
            <a:off x="5760720" y="1234440"/>
            <a:ext cx="13716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Palatino Linotype" pitchFamily="34" charset="0"/>
                <a:ea typeface="Palatino Linotype" pitchFamily="34" charset="-122"/>
                <a:cs typeface="Palatino Linotype" pitchFamily="34" charset="-120"/>
              </a:rPr>
              <a:t>65,0 ani</a:t>
            </a:r>
            <a:endParaRPr lang="en-US" sz="1400" dirty="0"/>
          </a:p>
        </p:txBody>
      </p:sp>
      <p:sp>
        <p:nvSpPr>
          <p:cNvPr id="9" name="Text 7"/>
          <p:cNvSpPr/>
          <p:nvPr/>
        </p:nvSpPr>
        <p:spPr>
          <a:xfrm>
            <a:off x="7132320" y="1234440"/>
            <a:ext cx="1554480" cy="457200"/>
          </a:xfrm>
          <a:prstGeom prst="rect">
            <a:avLst/>
          </a:prstGeom>
          <a:noFill/>
          <a:ln/>
        </p:spPr>
        <p:txBody>
          <a:bodyPr wrap="square" lIns="0" tIns="0" rIns="0" bIns="0" rtlCol="0" anchor="ctr"/>
          <a:lstStyle/>
          <a:p>
            <a:pPr marL="0" indent="0" algn="ctr">
              <a:buNone/>
            </a:pPr>
            <a:r>
              <a:rPr lang="en-US" sz="1400" b="1" dirty="0">
                <a:solidFill>
                  <a:srgbClr val="FF4757"/>
                </a:solidFill>
                <a:latin typeface="Palatino Linotype" pitchFamily="34" charset="0"/>
                <a:ea typeface="Palatino Linotype" pitchFamily="34" charset="-122"/>
                <a:cs typeface="Palatino Linotype" pitchFamily="34" charset="-120"/>
              </a:rPr>
              <a:t>65,2 ani</a:t>
            </a:r>
            <a:endParaRPr lang="en-US" sz="1400" dirty="0"/>
          </a:p>
        </p:txBody>
      </p:sp>
      <p:sp>
        <p:nvSpPr>
          <p:cNvPr id="10" name="Text 8"/>
          <p:cNvSpPr/>
          <p:nvPr/>
        </p:nvSpPr>
        <p:spPr>
          <a:xfrm>
            <a:off x="5760720" y="1691640"/>
            <a:ext cx="137160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Palatino Linotype" pitchFamily="34" charset="0"/>
                <a:ea typeface="Palatino Linotype" pitchFamily="34" charset="-122"/>
                <a:cs typeface="Palatino Linotype" pitchFamily="34" charset="-120"/>
              </a:rPr>
              <a:t>România</a:t>
            </a:r>
            <a:endParaRPr lang="en-US" sz="1200" dirty="0"/>
          </a:p>
          <a:p>
            <a:pPr marL="0" indent="0" algn="ctr">
              <a:buNone/>
            </a:pPr>
            <a:r>
              <a:rPr lang="en-US" sz="1100" dirty="0">
                <a:solidFill>
                  <a:srgbClr val="FFFFFF"/>
                </a:solidFill>
                <a:latin typeface="Palatino Linotype" pitchFamily="34" charset="0"/>
                <a:ea typeface="Palatino Linotype" pitchFamily="34" charset="-122"/>
                <a:cs typeface="Palatino Linotype" pitchFamily="34" charset="-120"/>
              </a:rPr>
              <a:t>(b, e)</a:t>
            </a:r>
            <a:endParaRPr lang="en-US" sz="1200" dirty="0"/>
          </a:p>
        </p:txBody>
      </p:sp>
      <p:sp>
        <p:nvSpPr>
          <p:cNvPr id="11" name="Text 9"/>
          <p:cNvSpPr/>
          <p:nvPr/>
        </p:nvSpPr>
        <p:spPr>
          <a:xfrm>
            <a:off x="7132320" y="1691640"/>
            <a:ext cx="1554480" cy="365760"/>
          </a:xfrm>
          <a:prstGeom prst="rect">
            <a:avLst/>
          </a:prstGeom>
          <a:noFill/>
          <a:ln/>
        </p:spPr>
        <p:txBody>
          <a:bodyPr wrap="square" lIns="0" tIns="0" rIns="0" bIns="0" rtlCol="0" anchor="ctr"/>
          <a:lstStyle/>
          <a:p>
            <a:pPr marL="0" indent="0" algn="ctr">
              <a:buNone/>
            </a:pPr>
            <a:r>
              <a:rPr lang="en-US" sz="1100" dirty="0">
                <a:solidFill>
                  <a:srgbClr val="FF4757"/>
                </a:solidFill>
                <a:latin typeface="Palatino Linotype" pitchFamily="34" charset="0"/>
                <a:ea typeface="Palatino Linotype" pitchFamily="34" charset="-122"/>
                <a:cs typeface="Palatino Linotype" pitchFamily="34" charset="-120"/>
              </a:rPr>
              <a:t>UE</a:t>
            </a:r>
            <a:endParaRPr lang="en-US" sz="1200" dirty="0"/>
          </a:p>
        </p:txBody>
      </p:sp>
      <p:sp>
        <p:nvSpPr>
          <p:cNvPr id="12" name="Text 10"/>
          <p:cNvSpPr/>
          <p:nvPr/>
        </p:nvSpPr>
        <p:spPr>
          <a:xfrm>
            <a:off x="5760720" y="2194560"/>
            <a:ext cx="292608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Palatino Linotype" pitchFamily="34" charset="0"/>
                <a:ea typeface="Palatino Linotype" pitchFamily="34" charset="-122"/>
                <a:cs typeface="Palatino Linotype" pitchFamily="34" charset="-120"/>
              </a:rPr>
              <a:t>La 65 de ani: 7,0 ani (b, e) față de 10,3</a:t>
            </a:r>
            <a:endParaRPr lang="en-US" sz="1200" dirty="0"/>
          </a:p>
        </p:txBody>
      </p:sp>
      <p:sp>
        <p:nvSpPr>
          <p:cNvPr id="13" name="Shape 11"/>
          <p:cNvSpPr/>
          <p:nvPr/>
        </p:nvSpPr>
        <p:spPr>
          <a:xfrm>
            <a:off x="457200" y="3017520"/>
            <a:ext cx="8229600" cy="1005840"/>
          </a:xfrm>
          <a:prstGeom prst="rect">
            <a:avLst/>
          </a:prstGeom>
          <a:solidFill>
            <a:srgbClr val="FF4757">
              <a:alpha val="15000"/>
            </a:srgbClr>
          </a:solidFill>
          <a:ln/>
        </p:spPr>
        <p:txBody>
          <a:bodyPr/>
          <a:lstStyle/>
          <a:p>
            <a:endParaRPr lang="ro-RO"/>
          </a:p>
        </p:txBody>
      </p:sp>
      <p:pic>
        <p:nvPicPr>
          <p:cNvPr id="14" name="Image 0" descr="preencoded.png"/>
          <p:cNvPicPr>
            <a:picLocks noChangeAspect="1"/>
          </p:cNvPicPr>
          <p:nvPr/>
        </p:nvPicPr>
        <p:blipFill>
          <a:blip r:embed="rId2"/>
          <a:stretch>
            <a:fillRect/>
          </a:stretch>
        </p:blipFill>
        <p:spPr>
          <a:xfrm>
            <a:off x="548640" y="3063240"/>
            <a:ext cx="274320" cy="274320"/>
          </a:xfrm>
          <a:prstGeom prst="rect">
            <a:avLst/>
          </a:prstGeom>
        </p:spPr>
      </p:pic>
      <p:sp>
        <p:nvSpPr>
          <p:cNvPr id="15" name="Text 12"/>
          <p:cNvSpPr/>
          <p:nvPr/>
        </p:nvSpPr>
        <p:spPr>
          <a:xfrm>
            <a:off x="914400" y="3063240"/>
            <a:ext cx="3657600" cy="274320"/>
          </a:xfrm>
          <a:prstGeom prst="rect">
            <a:avLst/>
          </a:prstGeom>
          <a:noFill/>
          <a:ln/>
        </p:spPr>
        <p:txBody>
          <a:bodyPr wrap="square" lIns="0" tIns="0" rIns="0" bIns="0" rtlCol="0" anchor="ctr"/>
          <a:lstStyle/>
          <a:p>
            <a:pPr marL="0" indent="0">
              <a:buNone/>
            </a:pPr>
            <a:r>
              <a:rPr lang="en-US" sz="900" b="1" dirty="0">
                <a:solidFill>
                  <a:srgbClr val="B02532"/>
                </a:solidFill>
                <a:latin typeface="Palatino Linotype" pitchFamily="34" charset="0"/>
                <a:ea typeface="Palatino Linotype" pitchFamily="34" charset="-122"/>
                <a:cs typeface="Palatino Linotype" pitchFamily="34" charset="-120"/>
              </a:rPr>
              <a:t>Ruptura de serie din 2024</a:t>
            </a:r>
            <a:endParaRPr lang="en-US" sz="1000" dirty="0"/>
          </a:p>
        </p:txBody>
      </p:sp>
      <p:sp>
        <p:nvSpPr>
          <p:cNvPr id="16" name="Text 13"/>
          <p:cNvSpPr/>
          <p:nvPr/>
        </p:nvSpPr>
        <p:spPr>
          <a:xfrm>
            <a:off x="640080" y="3383280"/>
            <a:ext cx="7772400" cy="548640"/>
          </a:xfrm>
          <a:prstGeom prst="rect">
            <a:avLst/>
          </a:prstGeom>
          <a:noFill/>
          <a:ln/>
        </p:spPr>
        <p:txBody>
          <a:bodyPr wrap="square" lIns="0" tIns="0" rIns="0" bIns="0" rtlCol="0" anchor="ctr"/>
          <a:lstStyle/>
          <a:p>
            <a:pPr marL="0" indent="0">
              <a:buNone/>
            </a:pPr>
            <a:r>
              <a:rPr lang="en-US" sz="1000" dirty="0">
                <a:solidFill>
                  <a:srgbClr val="11121A"/>
                </a:solidFill>
                <a:latin typeface="Palatino Linotype" pitchFamily="34" charset="0"/>
                <a:ea typeface="Palatino Linotype" pitchFamily="34" charset="-122"/>
                <a:cs typeface="Palatino Linotype" pitchFamily="34" charset="-120"/>
              </a:rPr>
              <a:t>În 2023, ultimul an dinaintea rupturii din seria României: 59,2 ani în România (e) și 63,1 ani în UE (b, e, p). Valorile din 2024 nu formează o serie cu cele anterioare, deci creșterea aparentă nu este o tendință.</a:t>
            </a:r>
            <a:endParaRPr lang="en-US" sz="1200" dirty="0"/>
          </a:p>
        </p:txBody>
      </p:sp>
      <p:sp>
        <p:nvSpPr>
          <p:cNvPr id="17" name="Shape 14"/>
          <p:cNvSpPr/>
          <p:nvPr/>
        </p:nvSpPr>
        <p:spPr>
          <a:xfrm>
            <a:off x="0" y="4709160"/>
            <a:ext cx="9144000" cy="434340"/>
          </a:xfrm>
          <a:prstGeom prst="rect">
            <a:avLst/>
          </a:prstGeom>
          <a:noFill/>
          <a:ln/>
        </p:spPr>
        <p:txBody>
          <a:bodyPr/>
          <a:lstStyle/>
          <a:p>
            <a:endParaRPr lang="ro-RO"/>
          </a:p>
        </p:txBody>
      </p:sp>
      <p:sp>
        <p:nvSpPr>
          <p:cNvPr id="18" name="Text 15"/>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19" name="Text 16"/>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38 / 60</a:t>
            </a:r>
            <a:endParaRPr lang="en-US" sz="8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39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Numărul cazurilor și rata standardizată pe vârstă</a:t>
            </a:r>
          </a:p>
        </p:txBody>
      </p:sp>
      <p:sp>
        <p:nvSpPr>
          <p:cNvPr id="45" name="TextBox 44"/>
          <p:cNvSpPr txBox="1"/>
          <p:nvPr/>
        </p:nvSpPr>
        <p:spPr>
          <a:xfrm>
            <a:off x="457200" y="868680"/>
            <a:ext cx="8229600" cy="411480"/>
          </a:xfrm>
          <a:prstGeom prst="rect">
            <a:avLst/>
          </a:prstGeom>
          <a:noFill/>
        </p:spPr>
        <p:txBody>
          <a:bodyPr wrap="square" lIns="0" rIns="0" tIns="0" bIns="0" anchor="t">
            <a:spAutoFit/>
          </a:bodyPr>
          <a:lstStyle/>
          <a:p>
            <a:pPr algn="l"/>
            <a:r>
              <a:rPr sz="1100" b="0" i="0">
                <a:solidFill>
                  <a:srgbClr val="585A64"/>
                </a:solidFill>
                <a:latin typeface="Palatino Linotype"/>
              </a:rPr>
              <a:t>Numărul arată volumul de muncă; rata brută îl raportează la populație; rata standardizată compară populații cu structuri de vârstă diferite ca și cum ar avea aceeași structură.</a:t>
            </a:r>
          </a:p>
        </p:txBody>
      </p:sp>
      <p:sp>
        <p:nvSpPr>
          <p:cNvPr id="46" name="Rectangle 45"/>
          <p:cNvSpPr/>
          <p:nvPr/>
        </p:nvSpPr>
        <p:spPr>
          <a:xfrm>
            <a:off x="457200" y="1371600"/>
            <a:ext cx="4023360" cy="21488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1371600"/>
            <a:ext cx="4023360"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137160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FRACTURILE ÎN LUME, 1990–2019</a:t>
            </a:r>
          </a:p>
        </p:txBody>
      </p:sp>
      <p:sp>
        <p:nvSpPr>
          <p:cNvPr id="49" name="TextBox 48"/>
          <p:cNvSpPr txBox="1"/>
          <p:nvPr/>
        </p:nvSpPr>
        <p:spPr>
          <a:xfrm>
            <a:off x="621792" y="1847088"/>
            <a:ext cx="3712464" cy="1600200"/>
          </a:xfrm>
          <a:prstGeom prst="rect">
            <a:avLst/>
          </a:prstGeom>
          <a:noFill/>
        </p:spPr>
        <p:txBody>
          <a:bodyPr wrap="square" lIns="0" rIns="0" tIns="0" bIns="0" anchor="t">
            <a:spAutoFit/>
          </a:bodyPr>
          <a:lstStyle/>
          <a:p>
            <a:pPr algn="l">
              <a:spcAft>
                <a:spcPts val="500"/>
              </a:spcAft>
            </a:pPr>
            <a:r>
              <a:rPr sz="1050" b="0" i="0">
                <a:solidFill>
                  <a:srgbClr val="11121A"/>
                </a:solidFill>
                <a:latin typeface="Palatino Linotype"/>
              </a:rPr>
              <a:t>Cazuri noi în 2019: 178 de milioane, +33,4%</a:t>
            </a:r>
          </a:p>
          <a:p>
            <a:pPr algn="l">
              <a:spcAft>
                <a:spcPts val="500"/>
              </a:spcAft>
            </a:pPr>
            <a:r>
              <a:rPr sz="1050" b="0" i="0">
                <a:solidFill>
                  <a:srgbClr val="11121A"/>
                </a:solidFill>
                <a:latin typeface="Palatino Linotype"/>
              </a:rPr>
              <a:t>Anii trăiți cu dizabilitate: 25,8 milioane, +65,3%</a:t>
            </a:r>
          </a:p>
          <a:p>
            <a:pPr algn="l">
              <a:spcAft>
                <a:spcPts val="500"/>
              </a:spcAft>
            </a:pPr>
            <a:r>
              <a:rPr sz="1050" b="1" i="0">
                <a:solidFill>
                  <a:srgbClr val="11121A"/>
                </a:solidFill>
                <a:latin typeface="Palatino Linotype"/>
              </a:rPr>
              <a:t>Rata standardizată a incidenței: scădere cu 9,6%</a:t>
            </a:r>
          </a:p>
        </p:txBody>
      </p:sp>
      <p:sp>
        <p:nvSpPr>
          <p:cNvPr id="50" name="Rectangle 49"/>
          <p:cNvSpPr/>
          <p:nvPr/>
        </p:nvSpPr>
        <p:spPr>
          <a:xfrm>
            <a:off x="4663440" y="1371600"/>
            <a:ext cx="4023360" cy="21488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663440" y="1371600"/>
            <a:ext cx="4023360" cy="38404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754879" y="137160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ROMÂNIA, NEVOIA DE RECUPERARE</a:t>
            </a:r>
          </a:p>
        </p:txBody>
      </p:sp>
      <p:sp>
        <p:nvSpPr>
          <p:cNvPr id="53" name="TextBox 52"/>
          <p:cNvSpPr txBox="1"/>
          <p:nvPr/>
        </p:nvSpPr>
        <p:spPr>
          <a:xfrm>
            <a:off x="4828031" y="1847088"/>
            <a:ext cx="3712464" cy="1600200"/>
          </a:xfrm>
          <a:prstGeom prst="rect">
            <a:avLst/>
          </a:prstGeom>
          <a:noFill/>
        </p:spPr>
        <p:txBody>
          <a:bodyPr wrap="square" lIns="0" rIns="0" tIns="0" bIns="0" anchor="t">
            <a:spAutoFit/>
          </a:bodyPr>
          <a:lstStyle/>
          <a:p>
            <a:pPr algn="l">
              <a:spcAft>
                <a:spcPts val="500"/>
              </a:spcAft>
            </a:pPr>
            <a:r>
              <a:rPr sz="1050" b="0" i="0">
                <a:solidFill>
                  <a:srgbClr val="11121A"/>
                </a:solidFill>
                <a:latin typeface="Palatino Linotype"/>
              </a:rPr>
              <a:t>1990: 10,82 milioane, 46,3% din populație</a:t>
            </a:r>
          </a:p>
          <a:p>
            <a:pPr algn="l">
              <a:spcAft>
                <a:spcPts val="500"/>
              </a:spcAft>
            </a:pPr>
            <a:r>
              <a:rPr sz="1050" b="0" i="0">
                <a:solidFill>
                  <a:srgbClr val="11121A"/>
                </a:solidFill>
                <a:latin typeface="Palatino Linotype"/>
              </a:rPr>
              <a:t>2021: 9,61 milioane, 50,7% din populație</a:t>
            </a:r>
          </a:p>
          <a:p>
            <a:pPr algn="l">
              <a:spcAft>
                <a:spcPts val="500"/>
              </a:spcAft>
            </a:pPr>
            <a:r>
              <a:rPr sz="1050" b="1" i="0">
                <a:solidFill>
                  <a:srgbClr val="11121A"/>
                </a:solidFill>
                <a:latin typeface="Palatino Linotype"/>
              </a:rPr>
              <a:t>Rata standardizată: de la 42,7% la 38,5%</a:t>
            </a:r>
          </a:p>
        </p:txBody>
      </p:sp>
      <p:sp>
        <p:nvSpPr>
          <p:cNvPr id="54" name="Rectangle 53"/>
          <p:cNvSpPr/>
          <p:nvPr/>
        </p:nvSpPr>
        <p:spPr>
          <a:xfrm>
            <a:off x="457200" y="3657600"/>
            <a:ext cx="8229600" cy="50292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3657600"/>
            <a:ext cx="7955279" cy="502920"/>
          </a:xfrm>
          <a:prstGeom prst="rect">
            <a:avLst/>
          </a:prstGeom>
          <a:noFill/>
        </p:spPr>
        <p:txBody>
          <a:bodyPr wrap="square" lIns="0" rIns="0" tIns="0" bIns="0" anchor="ctr">
            <a:spAutoFit/>
          </a:bodyPr>
          <a:lstStyle/>
          <a:p>
            <a:pPr algn="ctr"/>
            <a:r>
              <a:rPr sz="1100" b="1" i="0">
                <a:solidFill>
                  <a:srgbClr val="FFFFFF"/>
                </a:solidFill>
                <a:latin typeface="Palatino Linotype"/>
              </a:rPr>
              <a:t>Când populația îmbătrânește, numărul și rata pot evolua în sensuri diferite: se citesc împreună.</a:t>
            </a:r>
          </a:p>
        </p:txBody>
      </p:sp>
      <p:sp>
        <p:nvSpPr>
          <p:cNvPr id="56" name="TextBox 55"/>
          <p:cNvSpPr txBox="1"/>
          <p:nvPr/>
        </p:nvSpPr>
        <p:spPr>
          <a:xfrm>
            <a:off x="457200" y="4279392"/>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GBD 2019 Fracture Collaborators, Lancet Healthy Longevity, 2021; OMS/IHME, WHO Rehabilitation Need Estimator (GBD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40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Exemplu: același risc pe vârste, mai multe cazuri</a:t>
            </a:r>
          </a:p>
        </p:txBody>
      </p:sp>
      <p:sp>
        <p:nvSpPr>
          <p:cNvPr id="45" name="Rectangle 44"/>
          <p:cNvSpPr/>
          <p:nvPr/>
        </p:nvSpPr>
        <p:spPr>
          <a:xfrm>
            <a:off x="457200" y="896112"/>
            <a:ext cx="8229600" cy="640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896112"/>
            <a:ext cx="54864" cy="64008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969264"/>
            <a:ext cx="7863840" cy="530352"/>
          </a:xfrm>
          <a:prstGeom prst="rect">
            <a:avLst/>
          </a:prstGeom>
          <a:noFill/>
        </p:spPr>
        <p:txBody>
          <a:bodyPr wrap="square" lIns="0" rIns="0" tIns="0" bIns="0" anchor="t">
            <a:spAutoFit/>
          </a:bodyPr>
          <a:lstStyle/>
          <a:p>
            <a:pPr algn="l"/>
            <a:r>
              <a:rPr sz="1000" b="1" i="0">
                <a:solidFill>
                  <a:srgbClr val="B02532"/>
                </a:solidFill>
                <a:latin typeface="Palatino Linotype"/>
              </a:rPr>
              <a:t>Valori ipotetice. </a:t>
            </a:r>
            <a:r>
              <a:rPr sz="1000" b="0" i="0">
                <a:solidFill>
                  <a:srgbClr val="11121A"/>
                </a:solidFill>
                <a:latin typeface="Palatino Linotype"/>
              </a:rPr>
              <a:t>Populația C: 100 000 de locuitori. Prevalența unei afecțiuni musculo-scheletale: 5% sub 65 de ani, 20% la 65 de ani și peste, în ambii ani.</a:t>
            </a:r>
          </a:p>
        </p:txBody>
      </p:sp>
      <p:sp>
        <p:nvSpPr>
          <p:cNvPr id="48" name="Rectangle 47"/>
          <p:cNvSpPr/>
          <p:nvPr/>
        </p:nvSpPr>
        <p:spPr>
          <a:xfrm>
            <a:off x="457200" y="1691640"/>
            <a:ext cx="4023360" cy="160020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1691640"/>
            <a:ext cx="4023360"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169164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ANUL 1: 15 000 DE VÂRSTNICI</a:t>
            </a:r>
          </a:p>
        </p:txBody>
      </p:sp>
      <p:sp>
        <p:nvSpPr>
          <p:cNvPr id="51" name="TextBox 50"/>
          <p:cNvSpPr txBox="1"/>
          <p:nvPr/>
        </p:nvSpPr>
        <p:spPr>
          <a:xfrm>
            <a:off x="621792" y="2167128"/>
            <a:ext cx="3712464" cy="1051560"/>
          </a:xfrm>
          <a:prstGeom prst="rect">
            <a:avLst/>
          </a:prstGeom>
          <a:noFill/>
        </p:spPr>
        <p:txBody>
          <a:bodyPr wrap="square" lIns="0" rIns="0" tIns="0" bIns="0" anchor="t">
            <a:spAutoFit/>
          </a:bodyPr>
          <a:lstStyle/>
          <a:p>
            <a:pPr algn="l">
              <a:spcAft>
                <a:spcPts val="500"/>
              </a:spcAft>
            </a:pPr>
            <a:r>
              <a:rPr sz="1100" b="0" i="0">
                <a:solidFill>
                  <a:srgbClr val="11121A"/>
                </a:solidFill>
                <a:latin typeface="Palatino Linotype"/>
              </a:rPr>
              <a:t>85 000 × 0,05 + 15 000 × 0,20</a:t>
            </a:r>
          </a:p>
          <a:p>
            <a:pPr algn="l">
              <a:spcAft>
                <a:spcPts val="500"/>
              </a:spcAft>
            </a:pPr>
            <a:r>
              <a:rPr sz="1100" b="0" i="0">
                <a:solidFill>
                  <a:srgbClr val="11121A"/>
                </a:solidFill>
                <a:latin typeface="Palatino Linotype"/>
              </a:rPr>
              <a:t>= 4 250 + 3 000</a:t>
            </a:r>
          </a:p>
          <a:p>
            <a:pPr algn="l">
              <a:spcAft>
                <a:spcPts val="500"/>
              </a:spcAft>
            </a:pPr>
            <a:r>
              <a:rPr sz="1100" b="1" i="0">
                <a:solidFill>
                  <a:srgbClr val="11121A"/>
                </a:solidFill>
                <a:latin typeface="Palatino Linotype"/>
              </a:rPr>
              <a:t>= 7 250 de persoane (7,25%)</a:t>
            </a:r>
          </a:p>
        </p:txBody>
      </p:sp>
      <p:sp>
        <p:nvSpPr>
          <p:cNvPr id="52" name="Rectangle 51"/>
          <p:cNvSpPr/>
          <p:nvPr/>
        </p:nvSpPr>
        <p:spPr>
          <a:xfrm>
            <a:off x="4663440" y="1691640"/>
            <a:ext cx="4023360" cy="160020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663440" y="1691640"/>
            <a:ext cx="4023360" cy="38404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54879" y="169164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ANUL 2: 25 000 DE VÂRSTNICI</a:t>
            </a:r>
          </a:p>
        </p:txBody>
      </p:sp>
      <p:sp>
        <p:nvSpPr>
          <p:cNvPr id="55" name="TextBox 54"/>
          <p:cNvSpPr txBox="1"/>
          <p:nvPr/>
        </p:nvSpPr>
        <p:spPr>
          <a:xfrm>
            <a:off x="4828031" y="2167128"/>
            <a:ext cx="3712464" cy="1051560"/>
          </a:xfrm>
          <a:prstGeom prst="rect">
            <a:avLst/>
          </a:prstGeom>
          <a:noFill/>
        </p:spPr>
        <p:txBody>
          <a:bodyPr wrap="square" lIns="0" rIns="0" tIns="0" bIns="0" anchor="t">
            <a:spAutoFit/>
          </a:bodyPr>
          <a:lstStyle/>
          <a:p>
            <a:pPr algn="l">
              <a:spcAft>
                <a:spcPts val="500"/>
              </a:spcAft>
            </a:pPr>
            <a:r>
              <a:rPr sz="1100" b="0" i="0">
                <a:solidFill>
                  <a:srgbClr val="11121A"/>
                </a:solidFill>
                <a:latin typeface="Palatino Linotype"/>
              </a:rPr>
              <a:t>75 000 × 0,05 + 25 000 × 0,20</a:t>
            </a:r>
          </a:p>
          <a:p>
            <a:pPr algn="l">
              <a:spcAft>
                <a:spcPts val="500"/>
              </a:spcAft>
            </a:pPr>
            <a:r>
              <a:rPr sz="1100" b="0" i="0">
                <a:solidFill>
                  <a:srgbClr val="11121A"/>
                </a:solidFill>
                <a:latin typeface="Palatino Linotype"/>
              </a:rPr>
              <a:t>= 3 750 + 5 000</a:t>
            </a:r>
          </a:p>
          <a:p>
            <a:pPr algn="l">
              <a:spcAft>
                <a:spcPts val="500"/>
              </a:spcAft>
            </a:pPr>
            <a:r>
              <a:rPr sz="1100" b="1" i="0">
                <a:solidFill>
                  <a:srgbClr val="11121A"/>
                </a:solidFill>
                <a:latin typeface="Palatino Linotype"/>
              </a:rPr>
              <a:t>= 8 750 de persoane (8,75%)</a:t>
            </a:r>
          </a:p>
        </p:txBody>
      </p:sp>
      <p:sp>
        <p:nvSpPr>
          <p:cNvPr id="56" name="Rectangle 55"/>
          <p:cNvSpPr/>
          <p:nvPr/>
        </p:nvSpPr>
        <p:spPr>
          <a:xfrm>
            <a:off x="457200" y="3474720"/>
            <a:ext cx="8229600" cy="68580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3474720"/>
            <a:ext cx="7955279" cy="685800"/>
          </a:xfrm>
          <a:prstGeom prst="rect">
            <a:avLst/>
          </a:prstGeom>
          <a:noFill/>
        </p:spPr>
        <p:txBody>
          <a:bodyPr wrap="square" lIns="0" rIns="0" tIns="0" bIns="0" anchor="ctr">
            <a:spAutoFit/>
          </a:bodyPr>
          <a:lstStyle/>
          <a:p>
            <a:pPr algn="ctr"/>
            <a:r>
              <a:rPr sz="1050" b="0" i="0">
                <a:solidFill>
                  <a:srgbClr val="FFFFFF"/>
                </a:solidFill>
                <a:latin typeface="Palatino Linotype"/>
              </a:rPr>
              <a:t>Cu 1 500 de cazuri mai multe, aproximativ +20,7%, deși riscul la fiecare vârstă este același; rata standardizată rămâne neschimbată.</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914400" y="1371600"/>
            <a:ext cx="731520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Palatino Linotype" pitchFamily="34" charset="0"/>
                <a:ea typeface="Palatino Linotype" pitchFamily="34" charset="-122"/>
                <a:cs typeface="Palatino Linotype" pitchFamily="34" charset="-120"/>
              </a:rPr>
              <a:t>Nevoia de recuperare: lumea și România</a:t>
            </a:r>
            <a:endParaRPr lang="en-US" sz="3600" dirty="0"/>
          </a:p>
        </p:txBody>
      </p:sp>
      <p:sp>
        <p:nvSpPr>
          <p:cNvPr id="3" name="Text 1"/>
          <p:cNvSpPr/>
          <p:nvPr/>
        </p:nvSpPr>
        <p:spPr>
          <a:xfrm>
            <a:off x="914400" y="2926080"/>
            <a:ext cx="7315200" cy="731520"/>
          </a:xfrm>
          <a:prstGeom prst="rect">
            <a:avLst/>
          </a:prstGeom>
          <a:noFill/>
          <a:ln/>
        </p:spPr>
        <p:txBody>
          <a:bodyPr wrap="square" lIns="0" tIns="0" rIns="0" bIns="0" rtlCol="0" anchor="ctr"/>
          <a:lstStyle/>
          <a:p>
            <a:pPr marL="0" indent="0" algn="ctr">
              <a:buNone/>
            </a:pPr>
            <a:r>
              <a:rPr lang="en-US" sz="1250" dirty="0">
                <a:solidFill>
                  <a:srgbClr val="FF4757"/>
                </a:solidFill>
                <a:latin typeface="Palatino Linotype" pitchFamily="34" charset="0"/>
                <a:ea typeface="Palatino Linotype" pitchFamily="34" charset="-122"/>
                <a:cs typeface="Palatino Linotype" pitchFamily="34" charset="-120"/>
              </a:rPr>
              <a:t>SECȚIUNEA D · Cieza și colab. (2020) · WHO Rehabilitation Need Estimator (GBD 2021)</a:t>
            </a:r>
            <a:endParaRPr lang="en-US" sz="1400" dirty="0"/>
          </a:p>
        </p:txBody>
      </p:sp>
      <p:sp>
        <p:nvSpPr>
          <p:cNvPr id="4" name="Shape 2"/>
          <p:cNvSpPr/>
          <p:nvPr/>
        </p:nvSpPr>
        <p:spPr>
          <a:xfrm>
            <a:off x="0" y="4709160"/>
            <a:ext cx="9144000" cy="434340"/>
          </a:xfrm>
          <a:prstGeom prst="rect">
            <a:avLst/>
          </a:prstGeom>
          <a:noFill/>
          <a:ln/>
        </p:spPr>
        <p:txBody>
          <a:bodyPr/>
          <a:lstStyle/>
          <a:p>
            <a:endParaRPr lang="ro-RO"/>
          </a:p>
        </p:txBody>
      </p:sp>
      <p:sp>
        <p:nvSpPr>
          <p:cNvPr id="5" name="Text 3"/>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6" name="Text 4"/>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41 / 60</a:t>
            </a:r>
            <a:endParaRPr lang="en-US" sz="80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36" name="Shape 30"/>
          <p:cNvSpPr/>
          <p:nvPr/>
        </p:nvSpPr>
        <p:spPr>
          <a:xfrm>
            <a:off x="0" y="4709160"/>
            <a:ext cx="9144000" cy="434340"/>
          </a:xfrm>
          <a:prstGeom prst="rect">
            <a:avLst/>
          </a:prstGeom>
          <a:noFill/>
          <a:ln/>
        </p:spPr>
        <p:txBody>
          <a:bodyPr/>
          <a:lstStyle/>
          <a:p>
            <a:endParaRPr lang="ro-RO"/>
          </a:p>
        </p:txBody>
      </p:sp>
      <p:sp>
        <p:nvSpPr>
          <p:cNvPr id="37" name="Text 31"/>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38" name="Text 32"/>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42 / 60</a:t>
            </a:r>
            <a:endParaRPr lang="en-US" sz="800" dirty="0"/>
          </a:p>
        </p:txBody>
      </p:sp>
      <p:sp>
        <p:nvSpPr>
          <p:cNvPr id="39" name="TextBox 38"/>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Nevoia de recuperare în lume: două estimări</a:t>
            </a:r>
          </a:p>
        </p:txBody>
      </p:sp>
      <p:sp>
        <p:nvSpPr>
          <p:cNvPr id="40" name="Rectangle 39"/>
          <p:cNvSpPr/>
          <p:nvPr/>
        </p:nvSpPr>
        <p:spPr>
          <a:xfrm>
            <a:off x="457200" y="914400"/>
            <a:ext cx="4023360" cy="23774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914400"/>
            <a:ext cx="4023360"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91440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PRIMA ESTIMARE (2020)</a:t>
            </a:r>
          </a:p>
        </p:txBody>
      </p:sp>
      <p:sp>
        <p:nvSpPr>
          <p:cNvPr id="43" name="TextBox 42"/>
          <p:cNvSpPr txBox="1"/>
          <p:nvPr/>
        </p:nvSpPr>
        <p:spPr>
          <a:xfrm>
            <a:off x="621792" y="1389888"/>
            <a:ext cx="3712464" cy="1828800"/>
          </a:xfrm>
          <a:prstGeom prst="rect">
            <a:avLst/>
          </a:prstGeom>
          <a:noFill/>
        </p:spPr>
        <p:txBody>
          <a:bodyPr wrap="square" lIns="0" rIns="0" tIns="0" bIns="0" anchor="t">
            <a:spAutoFit/>
          </a:bodyPr>
          <a:lstStyle/>
          <a:p>
            <a:pPr algn="l">
              <a:spcAft>
                <a:spcPts val="500"/>
              </a:spcAft>
            </a:pPr>
            <a:r>
              <a:rPr sz="1000" b="0" i="0">
                <a:solidFill>
                  <a:srgbClr val="11121A"/>
                </a:solidFill>
                <a:latin typeface="Palatino Linotype"/>
              </a:rPr>
              <a:t>Cieza și colab., The Lancet; GBD 2019, 25 de afecțiuni</a:t>
            </a:r>
          </a:p>
          <a:p>
            <a:pPr algn="l">
              <a:spcAft>
                <a:spcPts val="500"/>
              </a:spcAft>
            </a:pPr>
            <a:r>
              <a:rPr sz="1000" b="1" i="0">
                <a:solidFill>
                  <a:srgbClr val="11121A"/>
                </a:solidFill>
                <a:latin typeface="Palatino Linotype"/>
              </a:rPr>
              <a:t>2019: 2,41 miliarde de persoane</a:t>
            </a:r>
          </a:p>
          <a:p>
            <a:pPr algn="l">
              <a:spcAft>
                <a:spcPts val="500"/>
              </a:spcAft>
            </a:pPr>
            <a:r>
              <a:rPr sz="1000" b="0" i="0">
                <a:solidFill>
                  <a:srgbClr val="11121A"/>
                </a:solidFill>
                <a:latin typeface="Palatino Linotype"/>
              </a:rPr>
              <a:t>310 milioane de ani trăiți cu dizabilitate; +63% față de 1990</a:t>
            </a:r>
          </a:p>
          <a:p>
            <a:pPr algn="l">
              <a:spcAft>
                <a:spcPts val="500"/>
              </a:spcAft>
            </a:pPr>
            <a:r>
              <a:rPr sz="1000" b="0" i="0">
                <a:solidFill>
                  <a:srgbClr val="11121A"/>
                </a:solidFill>
                <a:latin typeface="Palatino Linotype"/>
              </a:rPr>
              <a:t>Musculo-scheletale: 1,71 miliarde; lombalgia, prima în 160 din 204 țări (după erată)</a:t>
            </a:r>
          </a:p>
        </p:txBody>
      </p:sp>
      <p:sp>
        <p:nvSpPr>
          <p:cNvPr id="44" name="Rectangle 43"/>
          <p:cNvSpPr/>
          <p:nvPr/>
        </p:nvSpPr>
        <p:spPr>
          <a:xfrm>
            <a:off x="4663440" y="914400"/>
            <a:ext cx="4023360" cy="23774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63440" y="914400"/>
            <a:ext cx="4023360" cy="38404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54879" y="91440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ESTIMAREA ACTUALIZATĂ</a:t>
            </a:r>
          </a:p>
        </p:txBody>
      </p:sp>
      <p:sp>
        <p:nvSpPr>
          <p:cNvPr id="47" name="TextBox 46"/>
          <p:cNvSpPr txBox="1"/>
          <p:nvPr/>
        </p:nvSpPr>
        <p:spPr>
          <a:xfrm>
            <a:off x="4828031" y="1389888"/>
            <a:ext cx="3712464" cy="1828800"/>
          </a:xfrm>
          <a:prstGeom prst="rect">
            <a:avLst/>
          </a:prstGeom>
          <a:noFill/>
        </p:spPr>
        <p:txBody>
          <a:bodyPr wrap="square" lIns="0" rIns="0" tIns="0" bIns="0" anchor="t">
            <a:spAutoFit/>
          </a:bodyPr>
          <a:lstStyle/>
          <a:p>
            <a:pPr algn="l">
              <a:spcAft>
                <a:spcPts val="500"/>
              </a:spcAft>
            </a:pPr>
            <a:r>
              <a:rPr sz="1000" b="0" i="0">
                <a:solidFill>
                  <a:srgbClr val="11121A"/>
                </a:solidFill>
                <a:latin typeface="Palatino Linotype"/>
              </a:rPr>
              <a:t>WHO Rehabilitation Need Estimator; GBD 2021, 27 de afecțiuni</a:t>
            </a:r>
          </a:p>
          <a:p>
            <a:pPr algn="l">
              <a:spcAft>
                <a:spcPts val="500"/>
              </a:spcAft>
            </a:pPr>
            <a:r>
              <a:rPr sz="1000" b="1" i="0">
                <a:solidFill>
                  <a:srgbClr val="11121A"/>
                </a:solidFill>
                <a:latin typeface="Palatino Linotype"/>
              </a:rPr>
              <a:t>2021: 2,56 miliarde de persoane</a:t>
            </a:r>
          </a:p>
          <a:p>
            <a:pPr algn="l">
              <a:spcAft>
                <a:spcPts val="500"/>
              </a:spcAft>
            </a:pPr>
            <a:r>
              <a:rPr sz="1000" b="0" i="0">
                <a:solidFill>
                  <a:srgbClr val="11121A"/>
                </a:solidFill>
                <a:latin typeface="Palatino Linotype"/>
              </a:rPr>
              <a:t>342 de milioane de ani trăiți cu dizabilitate</a:t>
            </a:r>
          </a:p>
          <a:p>
            <a:pPr algn="l">
              <a:spcAft>
                <a:spcPts val="500"/>
              </a:spcAft>
            </a:pPr>
            <a:r>
              <a:rPr sz="1000" b="0" i="0">
                <a:solidFill>
                  <a:srgbClr val="11121A"/>
                </a:solidFill>
                <a:latin typeface="Palatino Linotype"/>
              </a:rPr>
              <a:t>Pe baza nouă, 2019: 2,44 miliarde</a:t>
            </a:r>
          </a:p>
        </p:txBody>
      </p:sp>
      <p:sp>
        <p:nvSpPr>
          <p:cNvPr id="48" name="Rectangle 47"/>
          <p:cNvSpPr/>
          <p:nvPr/>
        </p:nvSpPr>
        <p:spPr>
          <a:xfrm>
            <a:off x="457200" y="3474720"/>
            <a:ext cx="8229600" cy="64008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3474720"/>
            <a:ext cx="7955279" cy="640080"/>
          </a:xfrm>
          <a:prstGeom prst="rect">
            <a:avLst/>
          </a:prstGeom>
          <a:noFill/>
        </p:spPr>
        <p:txBody>
          <a:bodyPr wrap="square" lIns="0" rIns="0" tIns="0" bIns="0" anchor="ctr">
            <a:spAutoFit/>
          </a:bodyPr>
          <a:lstStyle/>
          <a:p>
            <a:pPr algn="ctr"/>
            <a:r>
              <a:rPr sz="1050" b="1" i="0">
                <a:solidFill>
                  <a:srgbClr val="FFFFFF"/>
                </a:solidFill>
                <a:latin typeface="Palatino Linotype"/>
              </a:rPr>
              <a:t>2,56 miliarde nu continuă seria de 2,41 miliarde: metodele diferă. În aceeași serie: 2,44 miliarde (2019) → 2,56 miliarde (2021).</a:t>
            </a:r>
          </a:p>
        </p:txBody>
      </p:sp>
      <p:sp>
        <p:nvSpPr>
          <p:cNvPr id="50" name="TextBox 49"/>
          <p:cNvSpPr txBox="1"/>
          <p:nvPr/>
        </p:nvSpPr>
        <p:spPr>
          <a:xfrm>
            <a:off x="457200" y="422452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Cieza și colab., The Lancet, 2020, cu erata din 2021; OMS/IHME, WHO Rehabilitation Need Estimator, extras la 27.09.2026; OMS, EB158/26, 2025 (2,6 miliarde, 340 de milioane)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000" b="1" dirty="0">
                <a:solidFill>
                  <a:srgbClr val="11121A"/>
                </a:solidFill>
                <a:latin typeface="Palatino Linotype" pitchFamily="34" charset="0"/>
                <a:ea typeface="Palatino Linotype" pitchFamily="34" charset="-122"/>
                <a:cs typeface="Palatino Linotype" pitchFamily="34" charset="-120"/>
              </a:rPr>
              <a:t>România, 2021: cine ar putea beneficia de recuperare</a:t>
            </a:r>
            <a:endParaRPr lang="en-US" sz="2000" dirty="0"/>
          </a:p>
        </p:txBody>
      </p:sp>
      <p:sp>
        <p:nvSpPr>
          <p:cNvPr id="3" name="Shape 1"/>
          <p:cNvSpPr/>
          <p:nvPr/>
        </p:nvSpPr>
        <p:spPr>
          <a:xfrm>
            <a:off x="457200" y="1005840"/>
            <a:ext cx="1920240" cy="2926080"/>
          </a:xfrm>
          <a:prstGeom prst="rect">
            <a:avLst/>
          </a:prstGeom>
          <a:solidFill>
            <a:srgbClr val="ECEAE4"/>
          </a:solidFill>
          <a:ln/>
          <a:effectLst/>
        </p:spPr>
        <p:txBody>
          <a:bodyPr/>
          <a:lstStyle/>
          <a:p>
            <a:endParaRPr lang="ro-RO"/>
          </a:p>
        </p:txBody>
      </p:sp>
      <p:pic>
        <p:nvPicPr>
          <p:cNvPr id="4" name="Image 0" descr="preencoded.png"/>
          <p:cNvPicPr>
            <a:picLocks noChangeAspect="1"/>
          </p:cNvPicPr>
          <p:nvPr/>
        </p:nvPicPr>
        <p:blipFill>
          <a:blip r:embed="rId2"/>
          <a:stretch>
            <a:fillRect/>
          </a:stretch>
        </p:blipFill>
        <p:spPr>
          <a:xfrm>
            <a:off x="1143000" y="1143000"/>
            <a:ext cx="457200" cy="457200"/>
          </a:xfrm>
          <a:prstGeom prst="rect">
            <a:avLst/>
          </a:prstGeom>
        </p:spPr>
      </p:pic>
      <p:sp>
        <p:nvSpPr>
          <p:cNvPr id="5" name="Text 2"/>
          <p:cNvSpPr/>
          <p:nvPr/>
        </p:nvSpPr>
        <p:spPr>
          <a:xfrm>
            <a:off x="548640" y="1691640"/>
            <a:ext cx="1737360" cy="502920"/>
          </a:xfrm>
          <a:prstGeom prst="rect">
            <a:avLst/>
          </a:prstGeom>
          <a:noFill/>
          <a:ln/>
        </p:spPr>
        <p:txBody>
          <a:bodyPr wrap="square" lIns="0" tIns="0" rIns="0" bIns="0" rtlCol="0" anchor="ctr"/>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Toate afecțiunile</a:t>
            </a:r>
            <a:endParaRPr lang="en-US" sz="1200" dirty="0"/>
          </a:p>
        </p:txBody>
      </p:sp>
      <p:sp>
        <p:nvSpPr>
          <p:cNvPr id="6" name="Shape 3"/>
          <p:cNvSpPr/>
          <p:nvPr/>
        </p:nvSpPr>
        <p:spPr>
          <a:xfrm>
            <a:off x="548640" y="2286000"/>
            <a:ext cx="1737360" cy="73152"/>
          </a:xfrm>
          <a:prstGeom prst="rect">
            <a:avLst/>
          </a:prstGeom>
          <a:solidFill>
            <a:srgbClr val="0E7C6B">
              <a:alpha val="50000"/>
            </a:srgbClr>
          </a:solidFill>
          <a:ln/>
        </p:spPr>
        <p:txBody>
          <a:bodyPr/>
          <a:lstStyle/>
          <a:p>
            <a:endParaRPr lang="ro-RO"/>
          </a:p>
        </p:txBody>
      </p:sp>
      <p:sp>
        <p:nvSpPr>
          <p:cNvPr id="7" name="Text 4"/>
          <p:cNvSpPr/>
          <p:nvPr/>
        </p:nvSpPr>
        <p:spPr>
          <a:xfrm>
            <a:off x="548640" y="2423160"/>
            <a:ext cx="1737360" cy="182880"/>
          </a:xfrm>
          <a:prstGeom prst="rect">
            <a:avLst/>
          </a:prstGeom>
          <a:noFill/>
          <a:ln/>
        </p:spPr>
        <p:txBody>
          <a:bodyPr wrap="square" lIns="0" tIns="0" rIns="0" bIns="0" rtlCol="0" anchor="ctr"/>
          <a:lstStyle/>
          <a:p>
            <a:pPr marL="0" indent="0" algn="ctr">
              <a:buNone/>
            </a:pPr>
            <a:r>
              <a:rPr lang="en-US" sz="650" b="1" dirty="0">
                <a:solidFill>
                  <a:srgbClr val="0E7C6B"/>
                </a:solidFill>
                <a:latin typeface="Palatino Linotype" pitchFamily="34" charset="0"/>
                <a:ea typeface="Palatino Linotype" pitchFamily="34" charset="-122"/>
                <a:cs typeface="Palatino Linotype" pitchFamily="34" charset="-120"/>
              </a:rPr>
              <a:t>PERSOANE</a:t>
            </a:r>
            <a:endParaRPr lang="en-US" sz="700" dirty="0"/>
          </a:p>
        </p:txBody>
      </p:sp>
      <p:sp>
        <p:nvSpPr>
          <p:cNvPr id="8" name="Text 5"/>
          <p:cNvSpPr/>
          <p:nvPr/>
        </p:nvSpPr>
        <p:spPr>
          <a:xfrm>
            <a:off x="548640" y="2606040"/>
            <a:ext cx="1737360" cy="457200"/>
          </a:xfrm>
          <a:prstGeom prst="rect">
            <a:avLst/>
          </a:prstGeom>
          <a:noFill/>
          <a:ln/>
        </p:spPr>
        <p:txBody>
          <a:bodyPr wrap="square" lIns="0" tIns="0" rIns="0" bIns="0" rtlCol="0" anchor="ctr"/>
          <a:lstStyle/>
          <a:p>
            <a:pPr marL="0" indent="0" algn="ctr">
              <a:buNone/>
            </a:pPr>
            <a:r>
              <a:rPr lang="en-US" sz="2400" b="1" dirty="0">
                <a:solidFill>
                  <a:srgbClr val="11121A"/>
                </a:solidFill>
                <a:latin typeface="Palatino Linotype" pitchFamily="34" charset="0"/>
                <a:ea typeface="Palatino Linotype" pitchFamily="34" charset="-122"/>
                <a:cs typeface="Palatino Linotype" pitchFamily="34" charset="-120"/>
              </a:rPr>
              <a:t>9,61 mil.</a:t>
            </a:r>
            <a:endParaRPr lang="en-US" sz="2400" dirty="0"/>
          </a:p>
        </p:txBody>
      </p:sp>
      <p:sp>
        <p:nvSpPr>
          <p:cNvPr id="9" name="Text 6"/>
          <p:cNvSpPr/>
          <p:nvPr/>
        </p:nvSpPr>
        <p:spPr>
          <a:xfrm>
            <a:off x="548640" y="3154680"/>
            <a:ext cx="1737360" cy="182880"/>
          </a:xfrm>
          <a:prstGeom prst="rect">
            <a:avLst/>
          </a:prstGeom>
          <a:noFill/>
          <a:ln/>
        </p:spPr>
        <p:txBody>
          <a:bodyPr wrap="square" lIns="0" tIns="0" rIns="0" bIns="0" rtlCol="0" anchor="ctr"/>
          <a:lstStyle/>
          <a:p>
            <a:pPr marL="0" indent="0" algn="ctr">
              <a:buNone/>
            </a:pPr>
            <a:r>
              <a:rPr lang="en-US" sz="650" b="1" dirty="0">
                <a:solidFill>
                  <a:srgbClr val="585A64"/>
                </a:solidFill>
                <a:latin typeface="Palatino Linotype" pitchFamily="34" charset="0"/>
                <a:ea typeface="Palatino Linotype" pitchFamily="34" charset="-122"/>
                <a:cs typeface="Palatino Linotype" pitchFamily="34" charset="-120"/>
              </a:rPr>
              <a:t>RATA STANDARDIZATĂ</a:t>
            </a:r>
            <a:endParaRPr lang="en-US" sz="700" dirty="0"/>
          </a:p>
        </p:txBody>
      </p:sp>
      <p:sp>
        <p:nvSpPr>
          <p:cNvPr id="10" name="Text 7"/>
          <p:cNvSpPr/>
          <p:nvPr/>
        </p:nvSpPr>
        <p:spPr>
          <a:xfrm>
            <a:off x="548640" y="3291840"/>
            <a:ext cx="1737360" cy="411480"/>
          </a:xfrm>
          <a:prstGeom prst="rect">
            <a:avLst/>
          </a:prstGeom>
          <a:noFill/>
          <a:ln/>
        </p:spPr>
        <p:txBody>
          <a:bodyPr wrap="square" lIns="0" tIns="0" rIns="0" bIns="0" rtlCol="0" anchor="ctr"/>
          <a:lstStyle/>
          <a:p>
            <a:pPr marL="0" indent="0" algn="ctr">
              <a:buNone/>
            </a:pPr>
            <a:r>
              <a:rPr lang="en-US" sz="1800" b="1" dirty="0">
                <a:solidFill>
                  <a:srgbClr val="0E7C6B"/>
                </a:solidFill>
                <a:latin typeface="Palatino Linotype" pitchFamily="34" charset="0"/>
                <a:ea typeface="Palatino Linotype" pitchFamily="34" charset="-122"/>
                <a:cs typeface="Palatino Linotype" pitchFamily="34" charset="-120"/>
              </a:rPr>
              <a:t>38,5%</a:t>
            </a:r>
            <a:endParaRPr lang="en-US" sz="1800" dirty="0"/>
          </a:p>
        </p:txBody>
      </p:sp>
      <p:sp>
        <p:nvSpPr>
          <p:cNvPr id="11" name="Shape 8"/>
          <p:cNvSpPr/>
          <p:nvPr/>
        </p:nvSpPr>
        <p:spPr>
          <a:xfrm>
            <a:off x="2560320" y="1005840"/>
            <a:ext cx="1920240" cy="2926080"/>
          </a:xfrm>
          <a:prstGeom prst="rect">
            <a:avLst/>
          </a:prstGeom>
          <a:solidFill>
            <a:srgbClr val="ECEAE4"/>
          </a:solidFill>
          <a:ln/>
          <a:effectLst/>
        </p:spPr>
        <p:txBody>
          <a:bodyPr/>
          <a:lstStyle/>
          <a:p>
            <a:endParaRPr lang="ro-RO"/>
          </a:p>
        </p:txBody>
      </p:sp>
      <p:pic>
        <p:nvPicPr>
          <p:cNvPr id="12" name="Image 1" descr="preencoded.png"/>
          <p:cNvPicPr>
            <a:picLocks noChangeAspect="1"/>
          </p:cNvPicPr>
          <p:nvPr/>
        </p:nvPicPr>
        <p:blipFill>
          <a:blip r:embed="rId3"/>
          <a:stretch>
            <a:fillRect/>
          </a:stretch>
        </p:blipFill>
        <p:spPr>
          <a:xfrm>
            <a:off x="3246120" y="1143000"/>
            <a:ext cx="457200" cy="457200"/>
          </a:xfrm>
          <a:prstGeom prst="rect">
            <a:avLst/>
          </a:prstGeom>
        </p:spPr>
      </p:pic>
      <p:sp>
        <p:nvSpPr>
          <p:cNvPr id="13" name="Text 9"/>
          <p:cNvSpPr/>
          <p:nvPr/>
        </p:nvSpPr>
        <p:spPr>
          <a:xfrm>
            <a:off x="2651760" y="1691640"/>
            <a:ext cx="1737360" cy="502920"/>
          </a:xfrm>
          <a:prstGeom prst="rect">
            <a:avLst/>
          </a:prstGeom>
          <a:noFill/>
          <a:ln/>
        </p:spPr>
        <p:txBody>
          <a:bodyPr wrap="square" lIns="0" tIns="0" rIns="0" bIns="0" rtlCol="0" anchor="ctr"/>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Lombalgia</a:t>
            </a:r>
            <a:endParaRPr lang="en-US" sz="1200" dirty="0"/>
          </a:p>
        </p:txBody>
      </p:sp>
      <p:sp>
        <p:nvSpPr>
          <p:cNvPr id="14" name="Shape 10"/>
          <p:cNvSpPr/>
          <p:nvPr/>
        </p:nvSpPr>
        <p:spPr>
          <a:xfrm>
            <a:off x="2651760" y="2286000"/>
            <a:ext cx="1737360" cy="73152"/>
          </a:xfrm>
          <a:prstGeom prst="rect">
            <a:avLst/>
          </a:prstGeom>
          <a:solidFill>
            <a:srgbClr val="0E7C6B">
              <a:alpha val="50000"/>
            </a:srgbClr>
          </a:solidFill>
          <a:ln/>
        </p:spPr>
        <p:txBody>
          <a:bodyPr/>
          <a:lstStyle/>
          <a:p>
            <a:endParaRPr lang="ro-RO"/>
          </a:p>
        </p:txBody>
      </p:sp>
      <p:sp>
        <p:nvSpPr>
          <p:cNvPr id="15" name="Text 11"/>
          <p:cNvSpPr/>
          <p:nvPr/>
        </p:nvSpPr>
        <p:spPr>
          <a:xfrm>
            <a:off x="2651760" y="2423160"/>
            <a:ext cx="1737360" cy="182880"/>
          </a:xfrm>
          <a:prstGeom prst="rect">
            <a:avLst/>
          </a:prstGeom>
          <a:noFill/>
          <a:ln/>
        </p:spPr>
        <p:txBody>
          <a:bodyPr wrap="square" lIns="0" tIns="0" rIns="0" bIns="0" rtlCol="0" anchor="ctr"/>
          <a:lstStyle/>
          <a:p>
            <a:pPr marL="0" indent="0" algn="ctr">
              <a:buNone/>
            </a:pPr>
            <a:r>
              <a:rPr lang="en-US" sz="650" b="1" dirty="0">
                <a:solidFill>
                  <a:srgbClr val="0E7C6B"/>
                </a:solidFill>
                <a:latin typeface="Palatino Linotype" pitchFamily="34" charset="0"/>
                <a:ea typeface="Palatino Linotype" pitchFamily="34" charset="-122"/>
                <a:cs typeface="Palatino Linotype" pitchFamily="34" charset="-120"/>
              </a:rPr>
              <a:t>PERSOANE</a:t>
            </a:r>
            <a:endParaRPr lang="en-US" sz="700" dirty="0"/>
          </a:p>
        </p:txBody>
      </p:sp>
      <p:sp>
        <p:nvSpPr>
          <p:cNvPr id="16" name="Text 12"/>
          <p:cNvSpPr/>
          <p:nvPr/>
        </p:nvSpPr>
        <p:spPr>
          <a:xfrm>
            <a:off x="2651760" y="2606040"/>
            <a:ext cx="1737360" cy="457200"/>
          </a:xfrm>
          <a:prstGeom prst="rect">
            <a:avLst/>
          </a:prstGeom>
          <a:noFill/>
          <a:ln/>
        </p:spPr>
        <p:txBody>
          <a:bodyPr wrap="square" lIns="0" tIns="0" rIns="0" bIns="0" rtlCol="0" anchor="ctr"/>
          <a:lstStyle/>
          <a:p>
            <a:pPr marL="0" indent="0" algn="ctr">
              <a:buNone/>
            </a:pPr>
            <a:r>
              <a:rPr lang="en-US" sz="2400" b="1" dirty="0">
                <a:solidFill>
                  <a:srgbClr val="11121A"/>
                </a:solidFill>
                <a:latin typeface="Palatino Linotype" pitchFamily="34" charset="0"/>
                <a:ea typeface="Palatino Linotype" pitchFamily="34" charset="-122"/>
                <a:cs typeface="Palatino Linotype" pitchFamily="34" charset="-120"/>
              </a:rPr>
              <a:t>3,08 mil.</a:t>
            </a:r>
            <a:endParaRPr lang="en-US" sz="2400" dirty="0"/>
          </a:p>
        </p:txBody>
      </p:sp>
      <p:sp>
        <p:nvSpPr>
          <p:cNvPr id="17" name="Text 13"/>
          <p:cNvSpPr/>
          <p:nvPr/>
        </p:nvSpPr>
        <p:spPr>
          <a:xfrm>
            <a:off x="2651760" y="3154680"/>
            <a:ext cx="1737360" cy="182880"/>
          </a:xfrm>
          <a:prstGeom prst="rect">
            <a:avLst/>
          </a:prstGeom>
          <a:noFill/>
          <a:ln/>
        </p:spPr>
        <p:txBody>
          <a:bodyPr wrap="square" lIns="0" tIns="0" rIns="0" bIns="0" rtlCol="0" anchor="ctr"/>
          <a:lstStyle/>
          <a:p>
            <a:pPr marL="0" indent="0" algn="ctr">
              <a:buNone/>
            </a:pPr>
            <a:r>
              <a:rPr lang="en-US" sz="650" b="1" dirty="0">
                <a:solidFill>
                  <a:srgbClr val="585A64"/>
                </a:solidFill>
                <a:latin typeface="Palatino Linotype" pitchFamily="34" charset="0"/>
                <a:ea typeface="Palatino Linotype" pitchFamily="34" charset="-122"/>
                <a:cs typeface="Palatino Linotype" pitchFamily="34" charset="-120"/>
              </a:rPr>
              <a:t>ANI CU DIZABILITATE</a:t>
            </a:r>
            <a:endParaRPr lang="en-US" sz="700" dirty="0"/>
          </a:p>
        </p:txBody>
      </p:sp>
      <p:sp>
        <p:nvSpPr>
          <p:cNvPr id="18" name="Text 14"/>
          <p:cNvSpPr/>
          <p:nvPr/>
        </p:nvSpPr>
        <p:spPr>
          <a:xfrm>
            <a:off x="2651760" y="3291840"/>
            <a:ext cx="1737360" cy="411480"/>
          </a:xfrm>
          <a:prstGeom prst="rect">
            <a:avLst/>
          </a:prstGeom>
          <a:noFill/>
          <a:ln/>
        </p:spPr>
        <p:txBody>
          <a:bodyPr wrap="square" lIns="0" tIns="0" rIns="0" bIns="0" rtlCol="0" anchor="ctr"/>
          <a:lstStyle/>
          <a:p>
            <a:pPr marL="0" indent="0" algn="ctr">
              <a:buNone/>
            </a:pPr>
            <a:r>
              <a:rPr lang="en-US" sz="1800" b="1" dirty="0">
                <a:solidFill>
                  <a:srgbClr val="0E7C6B"/>
                </a:solidFill>
                <a:latin typeface="Palatino Linotype" pitchFamily="34" charset="0"/>
                <a:ea typeface="Palatino Linotype" pitchFamily="34" charset="-122"/>
                <a:cs typeface="Palatino Linotype" pitchFamily="34" charset="-120"/>
              </a:rPr>
              <a:t>≈381 000</a:t>
            </a:r>
            <a:endParaRPr lang="en-US" sz="1800" dirty="0"/>
          </a:p>
        </p:txBody>
      </p:sp>
      <p:sp>
        <p:nvSpPr>
          <p:cNvPr id="19" name="Shape 15"/>
          <p:cNvSpPr/>
          <p:nvPr/>
        </p:nvSpPr>
        <p:spPr>
          <a:xfrm>
            <a:off x="4663440" y="1005840"/>
            <a:ext cx="1920240" cy="2926080"/>
          </a:xfrm>
          <a:prstGeom prst="rect">
            <a:avLst/>
          </a:prstGeom>
          <a:solidFill>
            <a:srgbClr val="ECEAE4"/>
          </a:solidFill>
          <a:ln/>
          <a:effectLst/>
        </p:spPr>
        <p:txBody>
          <a:bodyPr/>
          <a:lstStyle/>
          <a:p>
            <a:endParaRPr lang="ro-RO"/>
          </a:p>
        </p:txBody>
      </p:sp>
      <p:pic>
        <p:nvPicPr>
          <p:cNvPr id="20" name="Image 2" descr="preencoded.png"/>
          <p:cNvPicPr>
            <a:picLocks noChangeAspect="1"/>
          </p:cNvPicPr>
          <p:nvPr/>
        </p:nvPicPr>
        <p:blipFill>
          <a:blip r:embed="rId4"/>
          <a:stretch>
            <a:fillRect/>
          </a:stretch>
        </p:blipFill>
        <p:spPr>
          <a:xfrm>
            <a:off x="5349240" y="1143000"/>
            <a:ext cx="457200" cy="457200"/>
          </a:xfrm>
          <a:prstGeom prst="rect">
            <a:avLst/>
          </a:prstGeom>
        </p:spPr>
      </p:pic>
      <p:sp>
        <p:nvSpPr>
          <p:cNvPr id="21" name="Text 16"/>
          <p:cNvSpPr/>
          <p:nvPr/>
        </p:nvSpPr>
        <p:spPr>
          <a:xfrm>
            <a:off x="4754880" y="1691640"/>
            <a:ext cx="1737360" cy="502920"/>
          </a:xfrm>
          <a:prstGeom prst="rect">
            <a:avLst/>
          </a:prstGeom>
          <a:noFill/>
          <a:ln/>
        </p:spPr>
        <p:txBody>
          <a:bodyPr wrap="square" lIns="0" tIns="0" rIns="0" bIns="0" rtlCol="0" anchor="ctr"/>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Fracturile</a:t>
            </a:r>
            <a:endParaRPr lang="en-US" sz="1200" dirty="0"/>
          </a:p>
        </p:txBody>
      </p:sp>
      <p:sp>
        <p:nvSpPr>
          <p:cNvPr id="22" name="Shape 17"/>
          <p:cNvSpPr/>
          <p:nvPr/>
        </p:nvSpPr>
        <p:spPr>
          <a:xfrm>
            <a:off x="4754880" y="2286000"/>
            <a:ext cx="1737360" cy="73152"/>
          </a:xfrm>
          <a:prstGeom prst="rect">
            <a:avLst/>
          </a:prstGeom>
          <a:solidFill>
            <a:srgbClr val="0E7C6B">
              <a:alpha val="50000"/>
            </a:srgbClr>
          </a:solidFill>
          <a:ln/>
        </p:spPr>
        <p:txBody>
          <a:bodyPr/>
          <a:lstStyle/>
          <a:p>
            <a:endParaRPr lang="ro-RO"/>
          </a:p>
        </p:txBody>
      </p:sp>
      <p:sp>
        <p:nvSpPr>
          <p:cNvPr id="23" name="Text 18"/>
          <p:cNvSpPr/>
          <p:nvPr/>
        </p:nvSpPr>
        <p:spPr>
          <a:xfrm>
            <a:off x="4754880" y="2423160"/>
            <a:ext cx="1737360" cy="182880"/>
          </a:xfrm>
          <a:prstGeom prst="rect">
            <a:avLst/>
          </a:prstGeom>
          <a:noFill/>
          <a:ln/>
        </p:spPr>
        <p:txBody>
          <a:bodyPr wrap="square" lIns="0" tIns="0" rIns="0" bIns="0" rtlCol="0" anchor="ctr"/>
          <a:lstStyle/>
          <a:p>
            <a:pPr marL="0" indent="0" algn="ctr">
              <a:buNone/>
            </a:pPr>
            <a:r>
              <a:rPr lang="en-US" sz="650" b="1" dirty="0">
                <a:solidFill>
                  <a:srgbClr val="0E7C6B"/>
                </a:solidFill>
                <a:latin typeface="Palatino Linotype" pitchFamily="34" charset="0"/>
                <a:ea typeface="Palatino Linotype" pitchFamily="34" charset="-122"/>
                <a:cs typeface="Palatino Linotype" pitchFamily="34" charset="-120"/>
              </a:rPr>
              <a:t>PERSOANE</a:t>
            </a:r>
            <a:endParaRPr lang="en-US" sz="700" dirty="0"/>
          </a:p>
        </p:txBody>
      </p:sp>
      <p:sp>
        <p:nvSpPr>
          <p:cNvPr id="24" name="Text 19"/>
          <p:cNvSpPr/>
          <p:nvPr/>
        </p:nvSpPr>
        <p:spPr>
          <a:xfrm>
            <a:off x="4754880" y="2606040"/>
            <a:ext cx="1737360" cy="457200"/>
          </a:xfrm>
          <a:prstGeom prst="rect">
            <a:avLst/>
          </a:prstGeom>
          <a:noFill/>
          <a:ln/>
        </p:spPr>
        <p:txBody>
          <a:bodyPr wrap="square" lIns="0" tIns="0" rIns="0" bIns="0" rtlCol="0" anchor="ctr"/>
          <a:lstStyle/>
          <a:p>
            <a:pPr marL="0" indent="0" algn="ctr">
              <a:buNone/>
            </a:pPr>
            <a:r>
              <a:rPr lang="en-US" sz="2400" b="1" dirty="0">
                <a:solidFill>
                  <a:srgbClr val="11121A"/>
                </a:solidFill>
                <a:latin typeface="Palatino Linotype" pitchFamily="34" charset="0"/>
                <a:ea typeface="Palatino Linotype" pitchFamily="34" charset="-122"/>
                <a:cs typeface="Palatino Linotype" pitchFamily="34" charset="-120"/>
              </a:rPr>
              <a:t>2,48 mil.</a:t>
            </a:r>
            <a:endParaRPr lang="en-US" sz="2400" dirty="0"/>
          </a:p>
        </p:txBody>
      </p:sp>
      <p:sp>
        <p:nvSpPr>
          <p:cNvPr id="25" name="Text 20"/>
          <p:cNvSpPr/>
          <p:nvPr/>
        </p:nvSpPr>
        <p:spPr>
          <a:xfrm>
            <a:off x="4754880" y="3154680"/>
            <a:ext cx="1737360" cy="182880"/>
          </a:xfrm>
          <a:prstGeom prst="rect">
            <a:avLst/>
          </a:prstGeom>
          <a:noFill/>
          <a:ln/>
        </p:spPr>
        <p:txBody>
          <a:bodyPr wrap="square" lIns="0" tIns="0" rIns="0" bIns="0" rtlCol="0" anchor="ctr"/>
          <a:lstStyle/>
          <a:p>
            <a:pPr marL="0" indent="0" algn="ctr">
              <a:buNone/>
            </a:pPr>
            <a:r>
              <a:rPr lang="en-US" sz="650" b="1" dirty="0">
                <a:solidFill>
                  <a:srgbClr val="585A64"/>
                </a:solidFill>
                <a:latin typeface="Palatino Linotype" pitchFamily="34" charset="0"/>
                <a:ea typeface="Palatino Linotype" pitchFamily="34" charset="-122"/>
                <a:cs typeface="Palatino Linotype" pitchFamily="34" charset="-120"/>
              </a:rPr>
              <a:t>LOCUL, DUPĂ PERSOANE</a:t>
            </a:r>
            <a:endParaRPr lang="en-US" sz="700" dirty="0"/>
          </a:p>
        </p:txBody>
      </p:sp>
      <p:sp>
        <p:nvSpPr>
          <p:cNvPr id="26" name="Text 21"/>
          <p:cNvSpPr/>
          <p:nvPr/>
        </p:nvSpPr>
        <p:spPr>
          <a:xfrm>
            <a:off x="4754880" y="3291840"/>
            <a:ext cx="1737360" cy="411480"/>
          </a:xfrm>
          <a:prstGeom prst="rect">
            <a:avLst/>
          </a:prstGeom>
          <a:noFill/>
          <a:ln/>
        </p:spPr>
        <p:txBody>
          <a:bodyPr wrap="square" lIns="0" tIns="0" rIns="0" bIns="0" rtlCol="0" anchor="ctr"/>
          <a:lstStyle/>
          <a:p>
            <a:pPr marL="0" indent="0" algn="ctr">
              <a:buNone/>
            </a:pPr>
            <a:r>
              <a:rPr lang="en-US" sz="1800" b="1" dirty="0">
                <a:solidFill>
                  <a:srgbClr val="0E7C6B"/>
                </a:solidFill>
                <a:latin typeface="Palatino Linotype" pitchFamily="34" charset="0"/>
                <a:ea typeface="Palatino Linotype" pitchFamily="34" charset="-122"/>
                <a:cs typeface="Palatino Linotype" pitchFamily="34" charset="-120"/>
              </a:rPr>
              <a:t>al doilea</a:t>
            </a:r>
            <a:endParaRPr lang="en-US" sz="1800" dirty="0"/>
          </a:p>
        </p:txBody>
      </p:sp>
      <p:sp>
        <p:nvSpPr>
          <p:cNvPr id="27" name="Shape 22"/>
          <p:cNvSpPr/>
          <p:nvPr/>
        </p:nvSpPr>
        <p:spPr>
          <a:xfrm>
            <a:off x="6766560" y="1005840"/>
            <a:ext cx="1920240" cy="2926080"/>
          </a:xfrm>
          <a:prstGeom prst="rect">
            <a:avLst/>
          </a:prstGeom>
          <a:solidFill>
            <a:srgbClr val="ECEAE4"/>
          </a:solidFill>
          <a:ln/>
          <a:effectLst/>
        </p:spPr>
        <p:txBody>
          <a:bodyPr/>
          <a:lstStyle/>
          <a:p>
            <a:endParaRPr lang="ro-RO"/>
          </a:p>
        </p:txBody>
      </p:sp>
      <p:pic>
        <p:nvPicPr>
          <p:cNvPr id="28" name="Image 3" descr="preencoded.png"/>
          <p:cNvPicPr>
            <a:picLocks noChangeAspect="1"/>
          </p:cNvPicPr>
          <p:nvPr/>
        </p:nvPicPr>
        <p:blipFill>
          <a:blip r:embed="rId5"/>
          <a:stretch>
            <a:fillRect/>
          </a:stretch>
        </p:blipFill>
        <p:spPr>
          <a:xfrm>
            <a:off x="7452360" y="1143000"/>
            <a:ext cx="457200" cy="457200"/>
          </a:xfrm>
          <a:prstGeom prst="rect">
            <a:avLst/>
          </a:prstGeom>
        </p:spPr>
      </p:pic>
      <p:sp>
        <p:nvSpPr>
          <p:cNvPr id="29" name="Text 23"/>
          <p:cNvSpPr/>
          <p:nvPr/>
        </p:nvSpPr>
        <p:spPr>
          <a:xfrm>
            <a:off x="6858000" y="1691640"/>
            <a:ext cx="1737360" cy="502920"/>
          </a:xfrm>
          <a:prstGeom prst="rect">
            <a:avLst/>
          </a:prstGeom>
          <a:noFill/>
          <a:ln/>
        </p:spPr>
        <p:txBody>
          <a:bodyPr wrap="square" lIns="0" tIns="0" rIns="0" bIns="0" rtlCol="0" anchor="ctr"/>
          <a:lstStyle/>
          <a:p>
            <a:pPr marL="0" indent="0" algn="ctr">
              <a:buNone/>
            </a:pPr>
            <a:r>
              <a:rPr lang="en-US" sz="1100" dirty="0">
                <a:solidFill>
                  <a:srgbClr val="585A64"/>
                </a:solidFill>
                <a:latin typeface="Palatino Linotype" pitchFamily="34" charset="0"/>
                <a:ea typeface="Palatino Linotype" pitchFamily="34" charset="-122"/>
                <a:cs typeface="Palatino Linotype" pitchFamily="34" charset="-120"/>
              </a:rPr>
              <a:t>Accidentul vascular</a:t>
            </a:r>
            <a:endParaRPr lang="en-US" sz="1200" dirty="0"/>
          </a:p>
        </p:txBody>
      </p:sp>
      <p:sp>
        <p:nvSpPr>
          <p:cNvPr id="30" name="Shape 24"/>
          <p:cNvSpPr/>
          <p:nvPr/>
        </p:nvSpPr>
        <p:spPr>
          <a:xfrm>
            <a:off x="6858000" y="2286000"/>
            <a:ext cx="1737360" cy="73152"/>
          </a:xfrm>
          <a:prstGeom prst="rect">
            <a:avLst/>
          </a:prstGeom>
          <a:solidFill>
            <a:srgbClr val="0E7C6B">
              <a:alpha val="50000"/>
            </a:srgbClr>
          </a:solidFill>
          <a:ln/>
        </p:spPr>
        <p:txBody>
          <a:bodyPr/>
          <a:lstStyle/>
          <a:p>
            <a:endParaRPr lang="ro-RO"/>
          </a:p>
        </p:txBody>
      </p:sp>
      <p:sp>
        <p:nvSpPr>
          <p:cNvPr id="31" name="Text 25"/>
          <p:cNvSpPr/>
          <p:nvPr/>
        </p:nvSpPr>
        <p:spPr>
          <a:xfrm>
            <a:off x="6858000" y="2423160"/>
            <a:ext cx="1737360" cy="182880"/>
          </a:xfrm>
          <a:prstGeom prst="rect">
            <a:avLst/>
          </a:prstGeom>
          <a:noFill/>
          <a:ln/>
        </p:spPr>
        <p:txBody>
          <a:bodyPr wrap="square" lIns="0" tIns="0" rIns="0" bIns="0" rtlCol="0" anchor="ctr"/>
          <a:lstStyle/>
          <a:p>
            <a:pPr marL="0" indent="0" algn="ctr">
              <a:buNone/>
            </a:pPr>
            <a:r>
              <a:rPr lang="en-US" sz="650" b="1" dirty="0">
                <a:solidFill>
                  <a:srgbClr val="0E7C6B"/>
                </a:solidFill>
                <a:latin typeface="Palatino Linotype" pitchFamily="34" charset="0"/>
                <a:ea typeface="Palatino Linotype" pitchFamily="34" charset="-122"/>
                <a:cs typeface="Palatino Linotype" pitchFamily="34" charset="-120"/>
              </a:rPr>
              <a:t>PERSOANE</a:t>
            </a:r>
            <a:endParaRPr lang="en-US" sz="700" dirty="0"/>
          </a:p>
        </p:txBody>
      </p:sp>
      <p:sp>
        <p:nvSpPr>
          <p:cNvPr id="32" name="Text 26"/>
          <p:cNvSpPr/>
          <p:nvPr/>
        </p:nvSpPr>
        <p:spPr>
          <a:xfrm>
            <a:off x="6858000" y="2606040"/>
            <a:ext cx="1737360" cy="457200"/>
          </a:xfrm>
          <a:prstGeom prst="rect">
            <a:avLst/>
          </a:prstGeom>
          <a:noFill/>
          <a:ln/>
        </p:spPr>
        <p:txBody>
          <a:bodyPr wrap="square" lIns="0" tIns="0" rIns="0" bIns="0" rtlCol="0" anchor="ctr"/>
          <a:lstStyle/>
          <a:p>
            <a:pPr marL="0" indent="0" algn="ctr">
              <a:buNone/>
            </a:pPr>
            <a:r>
              <a:rPr lang="en-US" sz="2400" b="1" dirty="0">
                <a:solidFill>
                  <a:srgbClr val="11121A"/>
                </a:solidFill>
                <a:latin typeface="Palatino Linotype" pitchFamily="34" charset="0"/>
                <a:ea typeface="Palatino Linotype" pitchFamily="34" charset="-122"/>
                <a:cs typeface="Palatino Linotype" pitchFamily="34" charset="-120"/>
              </a:rPr>
              <a:t>≈218 000</a:t>
            </a:r>
            <a:endParaRPr lang="en-US" sz="2400" dirty="0"/>
          </a:p>
        </p:txBody>
      </p:sp>
      <p:sp>
        <p:nvSpPr>
          <p:cNvPr id="33" name="Text 27"/>
          <p:cNvSpPr/>
          <p:nvPr/>
        </p:nvSpPr>
        <p:spPr>
          <a:xfrm>
            <a:off x="6858000" y="3154680"/>
            <a:ext cx="1737360" cy="182880"/>
          </a:xfrm>
          <a:prstGeom prst="rect">
            <a:avLst/>
          </a:prstGeom>
          <a:noFill/>
          <a:ln/>
        </p:spPr>
        <p:txBody>
          <a:bodyPr wrap="square" lIns="0" tIns="0" rIns="0" bIns="0" rtlCol="0" anchor="ctr"/>
          <a:lstStyle/>
          <a:p>
            <a:pPr marL="0" indent="0" algn="ctr">
              <a:buNone/>
            </a:pPr>
            <a:r>
              <a:rPr lang="en-US" sz="650" b="1" dirty="0">
                <a:solidFill>
                  <a:srgbClr val="585A64"/>
                </a:solidFill>
                <a:latin typeface="Palatino Linotype" pitchFamily="34" charset="0"/>
                <a:ea typeface="Palatino Linotype" pitchFamily="34" charset="-122"/>
                <a:cs typeface="Palatino Linotype" pitchFamily="34" charset="-120"/>
              </a:rPr>
              <a:t>ANI CU DIZABILITATE</a:t>
            </a:r>
            <a:endParaRPr lang="en-US" sz="700" dirty="0"/>
          </a:p>
        </p:txBody>
      </p:sp>
      <p:sp>
        <p:nvSpPr>
          <p:cNvPr id="34" name="Text 28"/>
          <p:cNvSpPr/>
          <p:nvPr/>
        </p:nvSpPr>
        <p:spPr>
          <a:xfrm>
            <a:off x="6858000" y="3291840"/>
            <a:ext cx="1737360" cy="411480"/>
          </a:xfrm>
          <a:prstGeom prst="rect">
            <a:avLst/>
          </a:prstGeom>
          <a:noFill/>
          <a:ln/>
        </p:spPr>
        <p:txBody>
          <a:bodyPr wrap="square" lIns="0" tIns="0" rIns="0" bIns="0" rtlCol="0" anchor="ctr"/>
          <a:lstStyle/>
          <a:p>
            <a:pPr marL="0" indent="0" algn="ctr">
              <a:buNone/>
            </a:pPr>
            <a:r>
              <a:rPr lang="en-US" sz="1800" b="1" dirty="0">
                <a:solidFill>
                  <a:srgbClr val="0E7C6B"/>
                </a:solidFill>
                <a:latin typeface="Palatino Linotype" pitchFamily="34" charset="0"/>
                <a:ea typeface="Palatino Linotype" pitchFamily="34" charset="-122"/>
                <a:cs typeface="Palatino Linotype" pitchFamily="34" charset="-120"/>
              </a:rPr>
              <a:t>≈65 700</a:t>
            </a:r>
            <a:endParaRPr lang="en-US" sz="1800" dirty="0"/>
          </a:p>
        </p:txBody>
      </p:sp>
      <p:sp>
        <p:nvSpPr>
          <p:cNvPr id="35" name="Text 29"/>
          <p:cNvSpPr/>
          <p:nvPr/>
        </p:nvSpPr>
        <p:spPr>
          <a:xfrm>
            <a:off x="457200" y="4160520"/>
            <a:ext cx="8229600" cy="182880"/>
          </a:xfrm>
          <a:prstGeom prst="rect">
            <a:avLst/>
          </a:prstGeom>
          <a:noFill/>
          <a:ln/>
        </p:spPr>
        <p:txBody>
          <a:bodyPr wrap="square" lIns="0" tIns="0" rIns="0" bIns="0" rtlCol="0" anchor="ctr"/>
          <a:lstStyle/>
          <a:p>
            <a:pPr marL="0" indent="0">
              <a:buNone/>
            </a:pPr>
            <a:r>
              <a:rPr lang="en-US" sz="650" dirty="0">
                <a:solidFill>
                  <a:srgbClr val="585A64"/>
                </a:solidFill>
                <a:latin typeface="Palatino Linotype" pitchFamily="34" charset="0"/>
                <a:ea typeface="Palatino Linotype" pitchFamily="34" charset="-122"/>
                <a:cs typeface="Palatino Linotype" pitchFamily="34" charset="-120"/>
              </a:rPr>
              <a:t>Sursa: OMS/IHME, WHO Rehabilitation Need Estimator (GBD 2021), România, 2021, ambele sexe, toate vârstele; extras la 27.09.2026</a:t>
            </a:r>
            <a:endParaRPr lang="en-US" sz="700" dirty="0"/>
          </a:p>
        </p:txBody>
      </p:sp>
      <p:sp>
        <p:nvSpPr>
          <p:cNvPr id="36" name="Shape 30"/>
          <p:cNvSpPr/>
          <p:nvPr/>
        </p:nvSpPr>
        <p:spPr>
          <a:xfrm>
            <a:off x="0" y="4709160"/>
            <a:ext cx="9144000" cy="434340"/>
          </a:xfrm>
          <a:prstGeom prst="rect">
            <a:avLst/>
          </a:prstGeom>
          <a:noFill/>
          <a:ln/>
        </p:spPr>
        <p:txBody>
          <a:bodyPr/>
          <a:lstStyle/>
          <a:p>
            <a:endParaRPr lang="ro-RO"/>
          </a:p>
        </p:txBody>
      </p:sp>
      <p:sp>
        <p:nvSpPr>
          <p:cNvPr id="37" name="Text 31"/>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38" name="Text 32"/>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43 / 60</a:t>
            </a:r>
            <a:endParaRPr lang="en-US" sz="8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44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Capcană: „recuperarea este pentru puțini”</a:t>
            </a:r>
          </a:p>
        </p:txBody>
      </p:sp>
      <p:sp>
        <p:nvSpPr>
          <p:cNvPr id="45" name="Rectangle 44"/>
          <p:cNvSpPr/>
          <p:nvPr/>
        </p:nvSpPr>
        <p:spPr>
          <a:xfrm>
            <a:off x="457200" y="914400"/>
            <a:ext cx="8229600" cy="548640"/>
          </a:xfrm>
          <a:prstGeom prst="rect">
            <a:avLst/>
          </a:prstGeom>
          <a:solidFill>
            <a:srgbClr val="B0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914400"/>
            <a:ext cx="7955279" cy="548640"/>
          </a:xfrm>
          <a:prstGeom prst="rect">
            <a:avLst/>
          </a:prstGeom>
          <a:noFill/>
        </p:spPr>
        <p:txBody>
          <a:bodyPr wrap="square" lIns="0" rIns="0" tIns="0" bIns="0" anchor="ctr">
            <a:spAutoFit/>
          </a:bodyPr>
          <a:lstStyle/>
          <a:p>
            <a:pPr algn="ctr"/>
            <a:r>
              <a:rPr sz="1100" b="1" i="0">
                <a:solidFill>
                  <a:srgbClr val="FFFFFF"/>
                </a:solidFill>
                <a:latin typeface="Palatino Linotype"/>
              </a:rPr>
              <a:t>„Recuperarea este un serviciu de care are nevoie o minoritate: persoanele cu dizabilități grave.”</a:t>
            </a:r>
          </a:p>
        </p:txBody>
      </p:sp>
      <p:sp>
        <p:nvSpPr>
          <p:cNvPr id="47" name="Rectangle 46"/>
          <p:cNvSpPr/>
          <p:nvPr/>
        </p:nvSpPr>
        <p:spPr>
          <a:xfrm>
            <a:off x="457200" y="1645920"/>
            <a:ext cx="8229600" cy="141732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7200" y="1645920"/>
            <a:ext cx="54864" cy="1417320"/>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792" y="1719072"/>
            <a:ext cx="7955279" cy="1289304"/>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Ce arată datele</a:t>
            </a:r>
          </a:p>
          <a:p>
            <a:pPr algn="l">
              <a:spcAft>
                <a:spcPts val="300"/>
              </a:spcAft>
            </a:pPr>
            <a:r>
              <a:rPr sz="1000" b="0" i="0">
                <a:solidFill>
                  <a:srgbClr val="11121A"/>
                </a:solidFill>
                <a:latin typeface="Palatino Linotype"/>
              </a:rPr>
              <a:t>2,41 miliarde de persoane în 2019: cel puțin o persoană din trei are nevoie de recuperare la un moment dat</a:t>
            </a:r>
          </a:p>
          <a:p>
            <a:pPr algn="l">
              <a:spcAft>
                <a:spcPts val="300"/>
              </a:spcAft>
            </a:pPr>
            <a:r>
              <a:rPr sz="1000" b="0" i="0">
                <a:solidFill>
                  <a:srgbClr val="11121A"/>
                </a:solidFill>
                <a:latin typeface="Palatino Linotype"/>
              </a:rPr>
              <a:t>2,56 miliarde în 2021, în estimarea actualizată</a:t>
            </a:r>
          </a:p>
          <a:p>
            <a:pPr algn="l">
              <a:spcAft>
                <a:spcPts val="300"/>
              </a:spcAft>
            </a:pPr>
            <a:r>
              <a:rPr sz="1000" b="0" i="0">
                <a:solidFill>
                  <a:srgbClr val="11121A"/>
                </a:solidFill>
                <a:latin typeface="Palatino Linotype"/>
              </a:rPr>
              <a:t>OMS: recuperarea este un serviciu esențial pentru oricine are o afecțiune care îi limitează funcționarea; afecțiunea cea mai frecventă este lombalgia</a:t>
            </a:r>
          </a:p>
        </p:txBody>
      </p:sp>
      <p:sp>
        <p:nvSpPr>
          <p:cNvPr id="50" name="Rectangle 49"/>
          <p:cNvSpPr/>
          <p:nvPr/>
        </p:nvSpPr>
        <p:spPr>
          <a:xfrm>
            <a:off x="457200" y="3246120"/>
            <a:ext cx="8229600" cy="77724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 y="3246120"/>
            <a:ext cx="7955279" cy="777240"/>
          </a:xfrm>
          <a:prstGeom prst="rect">
            <a:avLst/>
          </a:prstGeom>
          <a:noFill/>
        </p:spPr>
        <p:txBody>
          <a:bodyPr wrap="square" lIns="0" rIns="0" tIns="0" bIns="0" anchor="ctr">
            <a:spAutoFit/>
          </a:bodyPr>
          <a:lstStyle/>
          <a:p>
            <a:pPr algn="ctr"/>
            <a:r>
              <a:rPr sz="1050" b="0" i="0">
                <a:solidFill>
                  <a:srgbClr val="FFFFFF"/>
                </a:solidFill>
                <a:latin typeface="Palatino Linotype"/>
              </a:rPr>
              <a:t>Nevoia se măsoară în populație, nu se deduce din pacienții care ajung deja la servicii: cine judecă nevoia după sala de tratament îi pierde pe cei care nu ajung acolo.</a:t>
            </a:r>
          </a:p>
        </p:txBody>
      </p:sp>
      <p:sp>
        <p:nvSpPr>
          <p:cNvPr id="52" name="TextBox 51"/>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Cieza și colab., The Lancet, 2020; WHO Rehabilitation Need Estimator; OMS, fișa despre recuperare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45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Îmbătrânirea populației României</a:t>
            </a:r>
          </a:p>
        </p:txBody>
      </p:sp>
      <p:sp>
        <p:nvSpPr>
          <p:cNvPr id="45" name="Rectangle 44"/>
          <p:cNvSpPr/>
          <p:nvPr/>
        </p:nvSpPr>
        <p:spPr>
          <a:xfrm>
            <a:off x="457200" y="914400"/>
            <a:ext cx="4023360" cy="21488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14400"/>
            <a:ext cx="4023360"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91440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INS, POPULAȚIA REZIDENTĂ</a:t>
            </a:r>
          </a:p>
        </p:txBody>
      </p:sp>
      <p:sp>
        <p:nvSpPr>
          <p:cNvPr id="48" name="TextBox 47"/>
          <p:cNvSpPr txBox="1"/>
          <p:nvPr/>
        </p:nvSpPr>
        <p:spPr>
          <a:xfrm>
            <a:off x="621792" y="1389888"/>
            <a:ext cx="3712464" cy="1600200"/>
          </a:xfrm>
          <a:prstGeom prst="rect">
            <a:avLst/>
          </a:prstGeom>
          <a:noFill/>
        </p:spPr>
        <p:txBody>
          <a:bodyPr wrap="square" lIns="0" rIns="0" tIns="0" bIns="0" anchor="t">
            <a:spAutoFit/>
          </a:bodyPr>
          <a:lstStyle/>
          <a:p>
            <a:pPr algn="l">
              <a:spcAft>
                <a:spcPts val="500"/>
              </a:spcAft>
            </a:pPr>
            <a:r>
              <a:rPr sz="1050" b="0" i="0">
                <a:solidFill>
                  <a:srgbClr val="11121A"/>
                </a:solidFill>
                <a:latin typeface="Palatino Linotype"/>
              </a:rPr>
              <a:t>1 ianuarie 2016: 17,4% au 65 de ani și peste</a:t>
            </a:r>
          </a:p>
          <a:p>
            <a:pPr algn="l">
              <a:spcAft>
                <a:spcPts val="500"/>
              </a:spcAft>
            </a:pPr>
            <a:r>
              <a:rPr sz="1050" b="0" i="0">
                <a:solidFill>
                  <a:srgbClr val="11121A"/>
                </a:solidFill>
                <a:latin typeface="Palatino Linotype"/>
              </a:rPr>
              <a:t>1 ianuarie 2026: 20,5%</a:t>
            </a:r>
          </a:p>
          <a:p>
            <a:pPr algn="l">
              <a:spcAft>
                <a:spcPts val="500"/>
              </a:spcAft>
            </a:pPr>
            <a:r>
              <a:rPr sz="1050" b="1" i="0">
                <a:solidFill>
                  <a:srgbClr val="11121A"/>
                </a:solidFill>
                <a:latin typeface="Palatino Linotype"/>
              </a:rPr>
              <a:t>+467 787 de persoane de 65 de ani și peste (+13,6%)</a:t>
            </a:r>
          </a:p>
          <a:p>
            <a:pPr algn="l">
              <a:spcAft>
                <a:spcPts val="500"/>
              </a:spcAft>
            </a:pPr>
            <a:r>
              <a:rPr sz="1050" b="0" i="0">
                <a:solidFill>
                  <a:srgbClr val="11121A"/>
                </a:solidFill>
                <a:latin typeface="Palatino Linotype"/>
              </a:rPr>
              <a:t>populația totală a scăzut cu 719 263</a:t>
            </a:r>
          </a:p>
        </p:txBody>
      </p:sp>
      <p:sp>
        <p:nvSpPr>
          <p:cNvPr id="49" name="Rectangle 48"/>
          <p:cNvSpPr/>
          <p:nvPr/>
        </p:nvSpPr>
        <p:spPr>
          <a:xfrm>
            <a:off x="4663440" y="914400"/>
            <a:ext cx="4023360" cy="21488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663440" y="914400"/>
            <a:ext cx="4023360" cy="38404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54879" y="914400"/>
            <a:ext cx="3840480" cy="384048"/>
          </a:xfrm>
          <a:prstGeom prst="rect">
            <a:avLst/>
          </a:prstGeom>
          <a:noFill/>
        </p:spPr>
        <p:txBody>
          <a:bodyPr wrap="square" lIns="0" rIns="0" tIns="0" bIns="0" anchor="ctr">
            <a:spAutoFit/>
          </a:bodyPr>
          <a:lstStyle/>
          <a:p>
            <a:pPr algn="ctr"/>
            <a:r>
              <a:rPr sz="1150" b="1" i="0">
                <a:solidFill>
                  <a:srgbClr val="FFFFFF"/>
                </a:solidFill>
                <a:latin typeface="Palatino Linotype"/>
              </a:rPr>
              <a:t>EUROSTAT, COMPARAȚIA CU UE</a:t>
            </a:r>
          </a:p>
        </p:txBody>
      </p:sp>
      <p:sp>
        <p:nvSpPr>
          <p:cNvPr id="52" name="TextBox 51"/>
          <p:cNvSpPr txBox="1"/>
          <p:nvPr/>
        </p:nvSpPr>
        <p:spPr>
          <a:xfrm>
            <a:off x="4828031" y="1389888"/>
            <a:ext cx="3712464" cy="1600200"/>
          </a:xfrm>
          <a:prstGeom prst="rect">
            <a:avLst/>
          </a:prstGeom>
          <a:noFill/>
        </p:spPr>
        <p:txBody>
          <a:bodyPr wrap="square" lIns="0" rIns="0" tIns="0" bIns="0" anchor="t">
            <a:spAutoFit/>
          </a:bodyPr>
          <a:lstStyle/>
          <a:p>
            <a:pPr algn="l">
              <a:spcAft>
                <a:spcPts val="500"/>
              </a:spcAft>
            </a:pPr>
            <a:r>
              <a:rPr sz="1050" b="0" i="0">
                <a:solidFill>
                  <a:srgbClr val="11121A"/>
                </a:solidFill>
                <a:latin typeface="Palatino Linotype"/>
              </a:rPr>
              <a:t>1 ianuarie 2025, 65+: 20,3% România, 22,0% UE</a:t>
            </a:r>
          </a:p>
          <a:p>
            <a:pPr algn="l">
              <a:spcAft>
                <a:spcPts val="500"/>
              </a:spcAft>
            </a:pPr>
            <a:r>
              <a:rPr sz="1050" b="0" i="0">
                <a:solidFill>
                  <a:srgbClr val="11121A"/>
                </a:solidFill>
                <a:latin typeface="Palatino Linotype"/>
              </a:rPr>
              <a:t>80+: 4,5% România, 6,2% UE</a:t>
            </a:r>
          </a:p>
          <a:p>
            <a:pPr algn="l">
              <a:spcAft>
                <a:spcPts val="500"/>
              </a:spcAft>
            </a:pPr>
            <a:r>
              <a:rPr sz="1050" b="0" i="0">
                <a:solidFill>
                  <a:srgbClr val="11121A"/>
                </a:solidFill>
                <a:latin typeface="Palatino Linotype"/>
              </a:rPr>
              <a:t>2005, 65+: 14,2% România, 16,7% UE</a:t>
            </a:r>
          </a:p>
          <a:p>
            <a:pPr algn="l">
              <a:spcAft>
                <a:spcPts val="500"/>
              </a:spcAft>
            </a:pPr>
            <a:r>
              <a:rPr sz="1050" b="1" i="0">
                <a:solidFill>
                  <a:srgbClr val="11121A"/>
                </a:solidFill>
                <a:latin typeface="Palatino Linotype"/>
              </a:rPr>
              <a:t>Proiecția pentru România, 2050: 27,4% (65+), 8,5% (80+)</a:t>
            </a:r>
          </a:p>
        </p:txBody>
      </p:sp>
      <p:sp>
        <p:nvSpPr>
          <p:cNvPr id="53" name="Rectangle 52"/>
          <p:cNvSpPr/>
          <p:nvPr/>
        </p:nvSpPr>
        <p:spPr>
          <a:xfrm>
            <a:off x="457200" y="3200400"/>
            <a:ext cx="8229600" cy="59436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 y="3200400"/>
            <a:ext cx="54864" cy="59436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 y="3273552"/>
            <a:ext cx="7863840" cy="484632"/>
          </a:xfrm>
          <a:prstGeom prst="rect">
            <a:avLst/>
          </a:prstGeom>
          <a:noFill/>
        </p:spPr>
        <p:txBody>
          <a:bodyPr wrap="square" lIns="0" rIns="0" tIns="0" bIns="0" anchor="t">
            <a:spAutoFit/>
          </a:bodyPr>
          <a:lstStyle/>
          <a:p>
            <a:pPr algn="l"/>
            <a:r>
              <a:rPr sz="1000" b="1" i="0">
                <a:solidFill>
                  <a:srgbClr val="B02532"/>
                </a:solidFill>
                <a:latin typeface="Palatino Linotype"/>
              </a:rPr>
              <a:t>În lume: </a:t>
            </a:r>
            <a:r>
              <a:rPr sz="1000" b="0" i="0">
                <a:solidFill>
                  <a:srgbClr val="11121A"/>
                </a:solidFill>
                <a:latin typeface="Palatino Linotype"/>
              </a:rPr>
              <a:t>proporția persoanelor de 60 de ani și peste crește de la 12% la 22% între 2015 și 2050 (OMS).</a:t>
            </a:r>
          </a:p>
        </p:txBody>
      </p:sp>
      <p:sp>
        <p:nvSpPr>
          <p:cNvPr id="56" name="TextBox 55"/>
          <p:cNvSpPr txBox="1"/>
          <p:nvPr/>
        </p:nvSpPr>
        <p:spPr>
          <a:xfrm>
            <a:off x="457200" y="3931920"/>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INS, TEMPO POP105A; Eurostat, demo_pjanind (RO: estimat; UE: estimat și provizoriu); Eurostat, proj_25ndbi, EUROPOP2025, scenariul de bază; OMS, fișa despre îmbătrânire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36" name="Shape 30"/>
          <p:cNvSpPr/>
          <p:nvPr/>
        </p:nvSpPr>
        <p:spPr>
          <a:xfrm>
            <a:off x="0" y="4709160"/>
            <a:ext cx="9144000" cy="434340"/>
          </a:xfrm>
          <a:prstGeom prst="rect">
            <a:avLst/>
          </a:prstGeom>
          <a:noFill/>
          <a:ln/>
        </p:spPr>
        <p:txBody>
          <a:bodyPr/>
          <a:lstStyle/>
          <a:p>
            <a:endParaRPr lang="ro-RO"/>
          </a:p>
        </p:txBody>
      </p:sp>
      <p:sp>
        <p:nvSpPr>
          <p:cNvPr id="37" name="Text 31"/>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38" name="Text 32"/>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46 / 60</a:t>
            </a:r>
            <a:endParaRPr lang="en-US" sz="800" dirty="0"/>
          </a:p>
        </p:txBody>
      </p:sp>
      <p:sp>
        <p:nvSpPr>
          <p:cNvPr id="39" name="TextBox 38"/>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Povara afecțiunilor-ancoră în lume</a:t>
            </a:r>
          </a:p>
        </p:txBody>
      </p:sp>
      <p:sp>
        <p:nvSpPr>
          <p:cNvPr id="40" name="Rectangle 39"/>
          <p:cNvSpPr/>
          <p:nvPr/>
        </p:nvSpPr>
        <p:spPr>
          <a:xfrm>
            <a:off x="457200" y="914400"/>
            <a:ext cx="2615184" cy="2926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914400"/>
            <a:ext cx="2615184"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914400"/>
            <a:ext cx="2432303" cy="384048"/>
          </a:xfrm>
          <a:prstGeom prst="rect">
            <a:avLst/>
          </a:prstGeom>
          <a:noFill/>
        </p:spPr>
        <p:txBody>
          <a:bodyPr wrap="square" lIns="0" rIns="0" tIns="0" bIns="0" anchor="ctr">
            <a:spAutoFit/>
          </a:bodyPr>
          <a:lstStyle/>
          <a:p>
            <a:pPr algn="ctr"/>
            <a:r>
              <a:rPr sz="1150" b="1" i="0">
                <a:solidFill>
                  <a:srgbClr val="FFFFFF"/>
                </a:solidFill>
                <a:latin typeface="Palatino Linotype"/>
              </a:rPr>
              <a:t>MUSCULO-SCHELETALE ȘI LOMBALGIA</a:t>
            </a:r>
          </a:p>
        </p:txBody>
      </p:sp>
      <p:sp>
        <p:nvSpPr>
          <p:cNvPr id="43" name="TextBox 42"/>
          <p:cNvSpPr txBox="1"/>
          <p:nvPr/>
        </p:nvSpPr>
        <p:spPr>
          <a:xfrm>
            <a:off x="621792" y="1389888"/>
            <a:ext cx="2304288" cy="2377440"/>
          </a:xfrm>
          <a:prstGeom prst="rect">
            <a:avLst/>
          </a:prstGeom>
          <a:noFill/>
        </p:spPr>
        <p:txBody>
          <a:bodyPr wrap="square" lIns="0" rIns="0" tIns="0" bIns="0" anchor="t">
            <a:spAutoFit/>
          </a:bodyPr>
          <a:lstStyle/>
          <a:p>
            <a:pPr algn="l">
              <a:spcAft>
                <a:spcPts val="500"/>
              </a:spcAft>
            </a:pPr>
            <a:r>
              <a:rPr sz="950" b="0" i="0">
                <a:solidFill>
                  <a:srgbClr val="11121A"/>
                </a:solidFill>
                <a:latin typeface="Palatino Linotype"/>
              </a:rPr>
              <a:t>1,71 miliarde de oameni cu afecțiuni musculo-scheletale (OMS)</a:t>
            </a:r>
          </a:p>
          <a:p>
            <a:pPr algn="l">
              <a:spcAft>
                <a:spcPts val="500"/>
              </a:spcAft>
            </a:pPr>
            <a:r>
              <a:rPr sz="950" b="0" i="0">
                <a:solidFill>
                  <a:srgbClr val="11121A"/>
                </a:solidFill>
                <a:latin typeface="Palatino Linotype"/>
              </a:rPr>
              <a:t>Lombalgia: 619 milioane în 2020; 843 de milioane proiectate în 2050</a:t>
            </a:r>
          </a:p>
          <a:p>
            <a:pPr algn="l">
              <a:spcAft>
                <a:spcPts val="500"/>
              </a:spcAft>
            </a:pPr>
            <a:r>
              <a:rPr sz="950" b="0" i="0">
                <a:solidFill>
                  <a:srgbClr val="11121A"/>
                </a:solidFill>
                <a:latin typeface="Palatino Linotype"/>
              </a:rPr>
              <a:t>38,8% din YLD atribuiți factorilor ocupaționali, fumatului, IMC crescut</a:t>
            </a:r>
          </a:p>
        </p:txBody>
      </p:sp>
      <p:sp>
        <p:nvSpPr>
          <p:cNvPr id="44" name="Rectangle 43"/>
          <p:cNvSpPr/>
          <p:nvPr/>
        </p:nvSpPr>
        <p:spPr>
          <a:xfrm>
            <a:off x="3264408" y="914400"/>
            <a:ext cx="2615184" cy="2926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64408" y="914400"/>
            <a:ext cx="2615184" cy="384048"/>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55848" y="914400"/>
            <a:ext cx="2432303" cy="384048"/>
          </a:xfrm>
          <a:prstGeom prst="rect">
            <a:avLst/>
          </a:prstGeom>
          <a:noFill/>
        </p:spPr>
        <p:txBody>
          <a:bodyPr wrap="square" lIns="0" rIns="0" tIns="0" bIns="0" anchor="ctr">
            <a:spAutoFit/>
          </a:bodyPr>
          <a:lstStyle/>
          <a:p>
            <a:pPr algn="ctr"/>
            <a:r>
              <a:rPr sz="1150" b="1" i="0">
                <a:solidFill>
                  <a:srgbClr val="FFFFFF"/>
                </a:solidFill>
                <a:latin typeface="Palatino Linotype"/>
              </a:rPr>
              <a:t>ACCIDENTUL VASCULAR CEREBRAL</a:t>
            </a:r>
          </a:p>
        </p:txBody>
      </p:sp>
      <p:sp>
        <p:nvSpPr>
          <p:cNvPr id="47" name="TextBox 46"/>
          <p:cNvSpPr txBox="1"/>
          <p:nvPr/>
        </p:nvSpPr>
        <p:spPr>
          <a:xfrm>
            <a:off x="3429000" y="1389888"/>
            <a:ext cx="2304288" cy="2377440"/>
          </a:xfrm>
          <a:prstGeom prst="rect">
            <a:avLst/>
          </a:prstGeom>
          <a:noFill/>
        </p:spPr>
        <p:txBody>
          <a:bodyPr wrap="square" lIns="0" rIns="0" tIns="0" bIns="0" anchor="t">
            <a:spAutoFit/>
          </a:bodyPr>
          <a:lstStyle/>
          <a:p>
            <a:pPr algn="l">
              <a:spcAft>
                <a:spcPts val="500"/>
              </a:spcAft>
            </a:pPr>
            <a:r>
              <a:rPr sz="950" b="0" i="0">
                <a:solidFill>
                  <a:srgbClr val="11121A"/>
                </a:solidFill>
                <a:latin typeface="Palatino Linotype"/>
              </a:rPr>
              <a:t>93,8 milioane de persoane după AVC în 2021</a:t>
            </a:r>
          </a:p>
          <a:p>
            <a:pPr algn="l">
              <a:spcAft>
                <a:spcPts val="500"/>
              </a:spcAft>
            </a:pPr>
            <a:r>
              <a:rPr sz="950" b="0" i="0">
                <a:solidFill>
                  <a:srgbClr val="11121A"/>
                </a:solidFill>
                <a:latin typeface="Palatino Linotype"/>
              </a:rPr>
              <a:t>11,9 milioane de cazuri noi</a:t>
            </a:r>
          </a:p>
          <a:p>
            <a:pPr algn="l">
              <a:spcAft>
                <a:spcPts val="500"/>
              </a:spcAft>
            </a:pPr>
            <a:r>
              <a:rPr sz="950" b="0" i="0">
                <a:solidFill>
                  <a:srgbClr val="11121A"/>
                </a:solidFill>
                <a:latin typeface="Palatino Linotype"/>
              </a:rPr>
              <a:t>A patra cauză de DALY: 160,5 milioane</a:t>
            </a:r>
          </a:p>
        </p:txBody>
      </p:sp>
      <p:sp>
        <p:nvSpPr>
          <p:cNvPr id="48" name="Rectangle 47"/>
          <p:cNvSpPr/>
          <p:nvPr/>
        </p:nvSpPr>
        <p:spPr>
          <a:xfrm>
            <a:off x="6071616" y="914400"/>
            <a:ext cx="2615184" cy="292608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071616" y="914400"/>
            <a:ext cx="2615184" cy="384048"/>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63055" y="914400"/>
            <a:ext cx="2432303" cy="384048"/>
          </a:xfrm>
          <a:prstGeom prst="rect">
            <a:avLst/>
          </a:prstGeom>
          <a:noFill/>
        </p:spPr>
        <p:txBody>
          <a:bodyPr wrap="square" lIns="0" rIns="0" tIns="0" bIns="0" anchor="ctr">
            <a:spAutoFit/>
          </a:bodyPr>
          <a:lstStyle/>
          <a:p>
            <a:pPr algn="ctr"/>
            <a:r>
              <a:rPr sz="1150" b="1" i="0">
                <a:solidFill>
                  <a:srgbClr val="FFFFFF"/>
                </a:solidFill>
                <a:latin typeface="Palatino Linotype"/>
              </a:rPr>
              <a:t>CĂDERILE</a:t>
            </a:r>
          </a:p>
        </p:txBody>
      </p:sp>
      <p:sp>
        <p:nvSpPr>
          <p:cNvPr id="51" name="TextBox 50"/>
          <p:cNvSpPr txBox="1"/>
          <p:nvPr/>
        </p:nvSpPr>
        <p:spPr>
          <a:xfrm>
            <a:off x="6236207" y="1389888"/>
            <a:ext cx="2304288" cy="2377440"/>
          </a:xfrm>
          <a:prstGeom prst="rect">
            <a:avLst/>
          </a:prstGeom>
          <a:noFill/>
        </p:spPr>
        <p:txBody>
          <a:bodyPr wrap="square" lIns="0" rIns="0" tIns="0" bIns="0" anchor="t">
            <a:spAutoFit/>
          </a:bodyPr>
          <a:lstStyle/>
          <a:p>
            <a:pPr algn="l">
              <a:spcAft>
                <a:spcPts val="500"/>
              </a:spcAft>
            </a:pPr>
            <a:r>
              <a:rPr sz="950" b="0" i="0">
                <a:solidFill>
                  <a:srgbClr val="11121A"/>
                </a:solidFill>
                <a:latin typeface="Palatino Linotype"/>
              </a:rPr>
              <a:t>684 000 de decese pe an</a:t>
            </a:r>
          </a:p>
          <a:p>
            <a:pPr algn="l">
              <a:spcAft>
                <a:spcPts val="500"/>
              </a:spcAft>
            </a:pPr>
            <a:r>
              <a:rPr sz="950" b="0" i="0">
                <a:solidFill>
                  <a:srgbClr val="11121A"/>
                </a:solidFill>
                <a:latin typeface="Palatino Linotype"/>
              </a:rPr>
              <a:t>37,3 milioane de căderi care cer îngrijiri medicale</a:t>
            </a:r>
          </a:p>
          <a:p>
            <a:pPr algn="l">
              <a:spcAft>
                <a:spcPts val="500"/>
              </a:spcAft>
            </a:pPr>
            <a:r>
              <a:rPr sz="950" b="0" i="0">
                <a:solidFill>
                  <a:srgbClr val="11121A"/>
                </a:solidFill>
                <a:latin typeface="Palatino Linotype"/>
              </a:rPr>
              <a:t>SUA: 20–30% dintre vârstnicii care cad, leziuni moderate sau grave</a:t>
            </a:r>
          </a:p>
        </p:txBody>
      </p:sp>
      <p:sp>
        <p:nvSpPr>
          <p:cNvPr id="52" name="TextBox 51"/>
          <p:cNvSpPr txBox="1"/>
          <p:nvPr/>
        </p:nvSpPr>
        <p:spPr>
          <a:xfrm>
            <a:off x="457200" y="3977639"/>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OMS, fișele despre afecțiunile musculo-scheletale și despre căderi; GBD 2021 Low Back Pain Collaborators, 2023; GBD 2021 Stroke Risk Factor Collaborators, 2024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47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Povara în România: profilul de țară IHME</a:t>
            </a:r>
          </a:p>
        </p:txBody>
      </p:sp>
      <p:graphicFrame>
        <p:nvGraphicFramePr>
          <p:cNvPr id="45" name="Table 44"/>
          <p:cNvGraphicFramePr>
            <a:graphicFrameLocks noGrp="1"/>
          </p:cNvGraphicFramePr>
          <p:nvPr/>
        </p:nvGraphicFramePr>
        <p:xfrm>
          <a:off x="457200" y="914400"/>
          <a:ext cx="8229600" cy="2011680"/>
        </p:xfrm>
        <a:graphic>
          <a:graphicData uri="http://schemas.openxmlformats.org/drawingml/2006/table">
            <a:tbl>
              <a:tblPr firstRow="1" bandRow="1"/>
              <a:tblGrid>
                <a:gridCol w="2194560"/>
                <a:gridCol w="1828800"/>
                <a:gridCol w="2103120"/>
                <a:gridCol w="2103120"/>
              </a:tblGrid>
              <a:tr h="502920">
                <a:tc>
                  <a:txBody>
                    <a:bodyPr wrap="square"/>
                    <a:lstStyle/>
                    <a:p>
                      <a:r>
                        <a:rPr sz="1050" b="1">
                          <a:solidFill>
                            <a:srgbClr val="FFFFFF"/>
                          </a:solidFill>
                          <a:latin typeface="Palatino Linotype"/>
                        </a:rPr>
                        <a:t>Cauza</a:t>
                      </a:r>
                    </a:p>
                  </a:txBody>
                  <a:tcPr marL="54864" marR="54864" marT="27432" marB="27432" anchor="ctr">
                    <a:solidFill>
                      <a:srgbClr val="11121A"/>
                    </a:solidFill>
                  </a:tcPr>
                </a:tc>
                <a:tc>
                  <a:txBody>
                    <a:bodyPr wrap="square"/>
                    <a:lstStyle/>
                    <a:p>
                      <a:r>
                        <a:rPr sz="1050" b="1">
                          <a:solidFill>
                            <a:srgbClr val="FFFFFF"/>
                          </a:solidFill>
                          <a:latin typeface="Palatino Linotype"/>
                        </a:rPr>
                        <a:t>Locul între cauzele de DALY, 2023</a:t>
                      </a:r>
                    </a:p>
                  </a:txBody>
                  <a:tcPr marL="54864" marR="54864" marT="27432" marB="27432" anchor="ctr">
                    <a:solidFill>
                      <a:srgbClr val="11121A"/>
                    </a:solidFill>
                  </a:tcPr>
                </a:tc>
                <a:tc>
                  <a:txBody>
                    <a:bodyPr wrap="square"/>
                    <a:lstStyle/>
                    <a:p>
                      <a:r>
                        <a:rPr sz="1050" b="1">
                          <a:solidFill>
                            <a:srgbClr val="FFFFFF"/>
                          </a:solidFill>
                          <a:latin typeface="Palatino Linotype"/>
                        </a:rPr>
                        <a:t>DALY la 100 000, standardizat, România</a:t>
                      </a:r>
                    </a:p>
                  </a:txBody>
                  <a:tcPr marL="54864" marR="54864" marT="27432" marB="27432" anchor="ctr">
                    <a:solidFill>
                      <a:srgbClr val="11121A"/>
                    </a:solidFill>
                  </a:tcPr>
                </a:tc>
                <a:tc>
                  <a:txBody>
                    <a:bodyPr wrap="square"/>
                    <a:lstStyle/>
                    <a:p>
                      <a:r>
                        <a:rPr sz="1050" b="1">
                          <a:solidFill>
                            <a:srgbClr val="FFFFFF"/>
                          </a:solidFill>
                          <a:latin typeface="Palatino Linotype"/>
                        </a:rPr>
                        <a:t>Media țărilor cu indice sociodemografic ridicat</a:t>
                      </a:r>
                    </a:p>
                  </a:txBody>
                  <a:tcPr marL="54864" marR="54864" marT="27432" marB="27432" anchor="ctr">
                    <a:solidFill>
                      <a:srgbClr val="11121A"/>
                    </a:solidFill>
                  </a:tcPr>
                </a:tc>
              </a:tr>
              <a:tr h="502920">
                <a:tc>
                  <a:txBody>
                    <a:bodyPr wrap="square"/>
                    <a:lstStyle/>
                    <a:p>
                      <a:r>
                        <a:rPr sz="1050" b="1">
                          <a:solidFill>
                            <a:srgbClr val="11121A"/>
                          </a:solidFill>
                          <a:latin typeface="Palatino Linotype"/>
                        </a:rPr>
                        <a:t>Accidentul vascular cerebral</a:t>
                      </a:r>
                    </a:p>
                  </a:txBody>
                  <a:tcPr marL="54864" marR="54864" marT="27432" marB="27432" anchor="ctr">
                    <a:solidFill>
                      <a:srgbClr val="ECEAE4"/>
                    </a:solidFill>
                  </a:tcPr>
                </a:tc>
                <a:tc>
                  <a:txBody>
                    <a:bodyPr wrap="square"/>
                    <a:lstStyle/>
                    <a:p>
                      <a:r>
                        <a:rPr sz="1050" b="0">
                          <a:solidFill>
                            <a:srgbClr val="11121A"/>
                          </a:solidFill>
                          <a:latin typeface="Palatino Linotype"/>
                        </a:rPr>
                        <a:t>al doilea</a:t>
                      </a:r>
                    </a:p>
                  </a:txBody>
                  <a:tcPr marL="54864" marR="54864" marT="27432" marB="27432" anchor="ctr">
                    <a:solidFill>
                      <a:srgbClr val="ECEAE4"/>
                    </a:solidFill>
                  </a:tcPr>
                </a:tc>
                <a:tc>
                  <a:txBody>
                    <a:bodyPr wrap="square"/>
                    <a:lstStyle/>
                    <a:p>
                      <a:r>
                        <a:rPr sz="1050" b="0">
                          <a:solidFill>
                            <a:srgbClr val="11121A"/>
                          </a:solidFill>
                          <a:latin typeface="Palatino Linotype"/>
                        </a:rPr>
                        <a:t>2 010,4</a:t>
                      </a:r>
                    </a:p>
                  </a:txBody>
                  <a:tcPr marL="54864" marR="54864" marT="27432" marB="27432" anchor="ctr">
                    <a:solidFill>
                      <a:srgbClr val="ECEAE4"/>
                    </a:solidFill>
                  </a:tcPr>
                </a:tc>
                <a:tc>
                  <a:txBody>
                    <a:bodyPr wrap="square"/>
                    <a:lstStyle/>
                    <a:p>
                      <a:r>
                        <a:rPr sz="1050" b="0">
                          <a:solidFill>
                            <a:srgbClr val="11121A"/>
                          </a:solidFill>
                          <a:latin typeface="Palatino Linotype"/>
                        </a:rPr>
                        <a:t>1 180,8</a:t>
                      </a:r>
                    </a:p>
                  </a:txBody>
                  <a:tcPr marL="54864" marR="54864" marT="27432" marB="27432" anchor="ctr">
                    <a:solidFill>
                      <a:srgbClr val="ECEAE4"/>
                    </a:solidFill>
                  </a:tcPr>
                </a:tc>
              </a:tr>
              <a:tr h="502920">
                <a:tc>
                  <a:txBody>
                    <a:bodyPr wrap="square"/>
                    <a:lstStyle/>
                    <a:p>
                      <a:r>
                        <a:rPr sz="1050" b="1">
                          <a:solidFill>
                            <a:srgbClr val="11121A"/>
                          </a:solidFill>
                          <a:latin typeface="Palatino Linotype"/>
                        </a:rPr>
                        <a:t>Lombalgia</a:t>
                      </a:r>
                    </a:p>
                  </a:txBody>
                  <a:tcPr marL="54864" marR="54864" marT="27432" marB="27432" anchor="ctr">
                    <a:solidFill>
                      <a:srgbClr val="ECEAE4"/>
                    </a:solidFill>
                  </a:tcPr>
                </a:tc>
                <a:tc>
                  <a:txBody>
                    <a:bodyPr wrap="square"/>
                    <a:lstStyle/>
                    <a:p>
                      <a:r>
                        <a:rPr sz="1050" b="0">
                          <a:solidFill>
                            <a:srgbClr val="11121A"/>
                          </a:solidFill>
                          <a:latin typeface="Palatino Linotype"/>
                        </a:rPr>
                        <a:t>al treilea</a:t>
                      </a:r>
                    </a:p>
                  </a:txBody>
                  <a:tcPr marL="54864" marR="54864" marT="27432" marB="27432" anchor="ctr">
                    <a:solidFill>
                      <a:srgbClr val="ECEAE4"/>
                    </a:solidFill>
                  </a:tcPr>
                </a:tc>
                <a:tc>
                  <a:txBody>
                    <a:bodyPr wrap="square"/>
                    <a:lstStyle/>
                    <a:p>
                      <a:r>
                        <a:rPr sz="1050" b="0">
                          <a:solidFill>
                            <a:srgbClr val="11121A"/>
                          </a:solidFill>
                          <a:latin typeface="Palatino Linotype"/>
                        </a:rPr>
                        <a:t>1 432,1</a:t>
                      </a:r>
                    </a:p>
                  </a:txBody>
                  <a:tcPr marL="54864" marR="54864" marT="27432" marB="27432" anchor="ctr">
                    <a:solidFill>
                      <a:srgbClr val="ECEAE4"/>
                    </a:solidFill>
                  </a:tcPr>
                </a:tc>
                <a:tc>
                  <a:txBody>
                    <a:bodyPr wrap="square"/>
                    <a:lstStyle/>
                    <a:p>
                      <a:r>
                        <a:rPr sz="1050" b="0">
                          <a:solidFill>
                            <a:srgbClr val="11121A"/>
                          </a:solidFill>
                          <a:latin typeface="Palatino Linotype"/>
                        </a:rPr>
                        <a:t>923,8</a:t>
                      </a:r>
                    </a:p>
                  </a:txBody>
                  <a:tcPr marL="54864" marR="54864" marT="27432" marB="27432" anchor="ctr">
                    <a:solidFill>
                      <a:srgbClr val="ECEAE4"/>
                    </a:solidFill>
                  </a:tcPr>
                </a:tc>
              </a:tr>
              <a:tr h="502920">
                <a:tc>
                  <a:txBody>
                    <a:bodyPr wrap="square"/>
                    <a:lstStyle/>
                    <a:p>
                      <a:r>
                        <a:rPr sz="1050" b="1">
                          <a:solidFill>
                            <a:srgbClr val="11121A"/>
                          </a:solidFill>
                          <a:latin typeface="Palatino Linotype"/>
                        </a:rPr>
                        <a:t>Căderile</a:t>
                      </a:r>
                    </a:p>
                  </a:txBody>
                  <a:tcPr marL="54864" marR="54864" marT="27432" marB="27432" anchor="ctr">
                    <a:solidFill>
                      <a:srgbClr val="ECEAE4"/>
                    </a:solidFill>
                  </a:tcPr>
                </a:tc>
                <a:tc>
                  <a:txBody>
                    <a:bodyPr wrap="square"/>
                    <a:lstStyle/>
                    <a:p>
                      <a:r>
                        <a:rPr sz="1050" b="0">
                          <a:solidFill>
                            <a:srgbClr val="11121A"/>
                          </a:solidFill>
                          <a:latin typeface="Palatino Linotype"/>
                        </a:rPr>
                        <a:t>al șaselea</a:t>
                      </a:r>
                    </a:p>
                  </a:txBody>
                  <a:tcPr marL="54864" marR="54864" marT="27432" marB="27432" anchor="ctr">
                    <a:solidFill>
                      <a:srgbClr val="ECEAE4"/>
                    </a:solidFill>
                  </a:tcPr>
                </a:tc>
                <a:tc>
                  <a:txBody>
                    <a:bodyPr wrap="square"/>
                    <a:lstStyle/>
                    <a:p>
                      <a:r>
                        <a:rPr sz="1050" b="0">
                          <a:solidFill>
                            <a:srgbClr val="11121A"/>
                          </a:solidFill>
                          <a:latin typeface="Palatino Linotype"/>
                        </a:rPr>
                        <a:t>808,1</a:t>
                      </a:r>
                    </a:p>
                  </a:txBody>
                  <a:tcPr marL="54864" marR="54864" marT="27432" marB="27432" anchor="ctr">
                    <a:solidFill>
                      <a:srgbClr val="ECEAE4"/>
                    </a:solidFill>
                  </a:tcPr>
                </a:tc>
                <a:tc>
                  <a:txBody>
                    <a:bodyPr wrap="square"/>
                    <a:lstStyle/>
                    <a:p>
                      <a:r>
                        <a:rPr sz="1050" b="0">
                          <a:solidFill>
                            <a:srgbClr val="11121A"/>
                          </a:solidFill>
                          <a:latin typeface="Palatino Linotype"/>
                        </a:rPr>
                        <a:t>963,9</a:t>
                      </a:r>
                    </a:p>
                  </a:txBody>
                  <a:tcPr marL="54864" marR="54864" marT="27432" marB="27432" anchor="ctr">
                    <a:solidFill>
                      <a:srgbClr val="ECEAE4"/>
                    </a:solidFill>
                  </a:tcPr>
                </a:tc>
              </a:tr>
            </a:tbl>
          </a:graphicData>
        </a:graphic>
      </p:graphicFrame>
      <p:sp>
        <p:nvSpPr>
          <p:cNvPr id="46" name="Rectangle 45"/>
          <p:cNvSpPr/>
          <p:nvPr/>
        </p:nvSpPr>
        <p:spPr>
          <a:xfrm>
            <a:off x="457200" y="3108960"/>
            <a:ext cx="8229600" cy="64008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3108960"/>
            <a:ext cx="7955279" cy="640080"/>
          </a:xfrm>
          <a:prstGeom prst="rect">
            <a:avLst/>
          </a:prstGeom>
          <a:noFill/>
        </p:spPr>
        <p:txBody>
          <a:bodyPr wrap="square" lIns="0" rIns="0" tIns="0" bIns="0" anchor="ctr">
            <a:spAutoFit/>
          </a:bodyPr>
          <a:lstStyle/>
          <a:p>
            <a:pPr algn="ctr"/>
            <a:r>
              <a:rPr sz="1050" b="0" i="0">
                <a:solidFill>
                  <a:srgbClr val="FFFFFF"/>
                </a:solidFill>
                <a:latin typeface="Palatino Linotype"/>
              </a:rPr>
              <a:t>Două dintre afecțiunile-ancoră se află printre primele trei cauze ale poverii bolii în România, iar povara lor standardizată depășește media de comparație.</a:t>
            </a:r>
          </a:p>
        </p:txBody>
      </p:sp>
      <p:sp>
        <p:nvSpPr>
          <p:cNvPr id="48" name="TextBox 47"/>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Sursa: IHME, profilul de țară al României, GBD 2023, extras la 27.09.2026; ratele sunt standardizate pe vârstă</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914400" y="1371600"/>
            <a:ext cx="731520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Palatino Linotype" pitchFamily="34" charset="0"/>
                <a:ea typeface="Palatino Linotype" pitchFamily="34" charset="-122"/>
                <a:cs typeface="Palatino Linotype" pitchFamily="34" charset="-120"/>
              </a:rPr>
              <a:t>Sursele de date și citarea exactă</a:t>
            </a:r>
            <a:endParaRPr lang="en-US" sz="3600" dirty="0"/>
          </a:p>
        </p:txBody>
      </p:sp>
      <p:sp>
        <p:nvSpPr>
          <p:cNvPr id="3" name="Text 1"/>
          <p:cNvSpPr/>
          <p:nvPr/>
        </p:nvSpPr>
        <p:spPr>
          <a:xfrm>
            <a:off x="914400" y="2926080"/>
            <a:ext cx="7315200" cy="731520"/>
          </a:xfrm>
          <a:prstGeom prst="rect">
            <a:avLst/>
          </a:prstGeom>
          <a:noFill/>
          <a:ln/>
        </p:spPr>
        <p:txBody>
          <a:bodyPr wrap="square" lIns="0" tIns="0" rIns="0" bIns="0" rtlCol="0" anchor="ctr"/>
          <a:lstStyle/>
          <a:p>
            <a:pPr marL="0" indent="0" algn="ctr">
              <a:buNone/>
            </a:pPr>
            <a:r>
              <a:rPr lang="en-US" sz="1250" dirty="0">
                <a:solidFill>
                  <a:srgbClr val="FF4757"/>
                </a:solidFill>
                <a:latin typeface="Palatino Linotype" pitchFamily="34" charset="0"/>
                <a:ea typeface="Palatino Linotype" pitchFamily="34" charset="-122"/>
                <a:cs typeface="Palatino Linotype" pitchFamily="34" charset="-120"/>
              </a:rPr>
              <a:t>SECȚIUNEA E · GBD · Eurostat · INS · INSP · Demonstrație pe date reale</a:t>
            </a:r>
            <a:endParaRPr lang="en-US" sz="1400" dirty="0"/>
          </a:p>
        </p:txBody>
      </p:sp>
      <p:sp>
        <p:nvSpPr>
          <p:cNvPr id="4" name="Shape 2"/>
          <p:cNvSpPr/>
          <p:nvPr/>
        </p:nvSpPr>
        <p:spPr>
          <a:xfrm>
            <a:off x="0" y="4709160"/>
            <a:ext cx="9144000" cy="434340"/>
          </a:xfrm>
          <a:prstGeom prst="rect">
            <a:avLst/>
          </a:prstGeom>
          <a:noFill/>
          <a:ln/>
        </p:spPr>
        <p:txBody>
          <a:bodyPr/>
          <a:lstStyle/>
          <a:p>
            <a:endParaRPr lang="ro-RO"/>
          </a:p>
        </p:txBody>
      </p:sp>
      <p:sp>
        <p:nvSpPr>
          <p:cNvPr id="5" name="Text 3"/>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6" name="Text 4"/>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48 / 60</a:t>
            </a:r>
            <a:endParaRPr lang="en-US" sz="80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49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Patru surse, patru tipuri de date</a:t>
            </a:r>
          </a:p>
        </p:txBody>
      </p:sp>
      <p:graphicFrame>
        <p:nvGraphicFramePr>
          <p:cNvPr id="45" name="Table 44"/>
          <p:cNvGraphicFramePr>
            <a:graphicFrameLocks noGrp="1"/>
          </p:cNvGraphicFramePr>
          <p:nvPr/>
        </p:nvGraphicFramePr>
        <p:xfrm>
          <a:off x="457200" y="914400"/>
          <a:ext cx="8229600" cy="2743200"/>
        </p:xfrm>
        <a:graphic>
          <a:graphicData uri="http://schemas.openxmlformats.org/drawingml/2006/table">
            <a:tbl>
              <a:tblPr firstRow="1" bandRow="1"/>
              <a:tblGrid>
                <a:gridCol w="1188720"/>
                <a:gridCol w="2743200"/>
                <a:gridCol w="4297680"/>
              </a:tblGrid>
              <a:tr h="548640">
                <a:tc>
                  <a:txBody>
                    <a:bodyPr wrap="square"/>
                    <a:lstStyle/>
                    <a:p>
                      <a:r>
                        <a:rPr sz="1000" b="1">
                          <a:solidFill>
                            <a:srgbClr val="FFFFFF"/>
                          </a:solidFill>
                          <a:latin typeface="Palatino Linotype"/>
                        </a:rPr>
                        <a:t>Sursa</a:t>
                      </a:r>
                    </a:p>
                  </a:txBody>
                  <a:tcPr marL="54864" marR="54864" marT="27432" marB="27432" anchor="ctr">
                    <a:solidFill>
                      <a:srgbClr val="11121A"/>
                    </a:solidFill>
                  </a:tcPr>
                </a:tc>
                <a:tc>
                  <a:txBody>
                    <a:bodyPr wrap="square"/>
                    <a:lstStyle/>
                    <a:p>
                      <a:r>
                        <a:rPr sz="1000" b="1">
                          <a:solidFill>
                            <a:srgbClr val="FFFFFF"/>
                          </a:solidFill>
                          <a:latin typeface="Palatino Linotype"/>
                        </a:rPr>
                        <a:t>Ce oferă</a:t>
                      </a:r>
                    </a:p>
                  </a:txBody>
                  <a:tcPr marL="54864" marR="54864" marT="27432" marB="27432" anchor="ctr">
                    <a:solidFill>
                      <a:srgbClr val="11121A"/>
                    </a:solidFill>
                  </a:tcPr>
                </a:tc>
                <a:tc>
                  <a:txBody>
                    <a:bodyPr wrap="square"/>
                    <a:lstStyle/>
                    <a:p>
                      <a:r>
                        <a:rPr sz="1000" b="1">
                          <a:solidFill>
                            <a:srgbClr val="FFFFFF"/>
                          </a:solidFill>
                          <a:latin typeface="Palatino Linotype"/>
                        </a:rPr>
                        <a:t>De reținut</a:t>
                      </a:r>
                    </a:p>
                  </a:txBody>
                  <a:tcPr marL="54864" marR="54864" marT="27432" marB="27432" anchor="ctr">
                    <a:solidFill>
                      <a:srgbClr val="11121A"/>
                    </a:solidFill>
                  </a:tcPr>
                </a:tc>
              </a:tr>
              <a:tr h="548640">
                <a:tc>
                  <a:txBody>
                    <a:bodyPr wrap="square"/>
                    <a:lstStyle/>
                    <a:p>
                      <a:r>
                        <a:rPr sz="1000" b="1">
                          <a:solidFill>
                            <a:srgbClr val="11121A"/>
                          </a:solidFill>
                          <a:latin typeface="Palatino Linotype"/>
                        </a:rPr>
                        <a:t>GBD (IHME)</a:t>
                      </a:r>
                    </a:p>
                  </a:txBody>
                  <a:tcPr marL="54864" marR="54864" marT="27432" marB="27432" anchor="ctr">
                    <a:solidFill>
                      <a:srgbClr val="ECEAE4"/>
                    </a:solidFill>
                  </a:tcPr>
                </a:tc>
                <a:tc>
                  <a:txBody>
                    <a:bodyPr wrap="square"/>
                    <a:lstStyle/>
                    <a:p>
                      <a:r>
                        <a:rPr sz="1000" b="0">
                          <a:solidFill>
                            <a:srgbClr val="11121A"/>
                          </a:solidFill>
                          <a:latin typeface="Palatino Linotype"/>
                        </a:rPr>
                        <a:t>estimări de model pentru toate țările</a:t>
                      </a:r>
                    </a:p>
                  </a:txBody>
                  <a:tcPr marL="54864" marR="54864" marT="27432" marB="27432" anchor="ctr">
                    <a:solidFill>
                      <a:srgbClr val="ECEAE4"/>
                    </a:solidFill>
                  </a:tcPr>
                </a:tc>
                <a:tc>
                  <a:txBody>
                    <a:bodyPr wrap="square"/>
                    <a:lstStyle/>
                    <a:p>
                      <a:r>
                        <a:rPr sz="1000" b="0">
                          <a:solidFill>
                            <a:srgbClr val="11121A"/>
                          </a:solidFill>
                          <a:latin typeface="Palatino Linotype"/>
                        </a:rPr>
                        <a:t>interval de incertitudine de 95%; rundele nu formează o serie; GBD Compare cere cont</a:t>
                      </a:r>
                    </a:p>
                  </a:txBody>
                  <a:tcPr marL="54864" marR="54864" marT="27432" marB="27432" anchor="ctr">
                    <a:solidFill>
                      <a:srgbClr val="ECEAE4"/>
                    </a:solidFill>
                  </a:tcPr>
                </a:tc>
              </a:tr>
              <a:tr h="548640">
                <a:tc>
                  <a:txBody>
                    <a:bodyPr wrap="square"/>
                    <a:lstStyle/>
                    <a:p>
                      <a:r>
                        <a:rPr sz="1000" b="1">
                          <a:solidFill>
                            <a:srgbClr val="11121A"/>
                          </a:solidFill>
                          <a:latin typeface="Palatino Linotype"/>
                        </a:rPr>
                        <a:t>Eurostat</a:t>
                      </a:r>
                    </a:p>
                  </a:txBody>
                  <a:tcPr marL="54864" marR="54864" marT="27432" marB="27432" anchor="ctr">
                    <a:solidFill>
                      <a:srgbClr val="ECEAE4"/>
                    </a:solidFill>
                  </a:tcPr>
                </a:tc>
                <a:tc>
                  <a:txBody>
                    <a:bodyPr wrap="square"/>
                    <a:lstStyle/>
                    <a:p>
                      <a:r>
                        <a:rPr sz="1000" b="0">
                          <a:solidFill>
                            <a:srgbClr val="11121A"/>
                          </a:solidFill>
                          <a:latin typeface="Palatino Linotype"/>
                        </a:rPr>
                        <a:t>statistici oficiale ale UE, seturi cu cod</a:t>
                      </a:r>
                    </a:p>
                  </a:txBody>
                  <a:tcPr marL="54864" marR="54864" marT="27432" marB="27432" anchor="ctr">
                    <a:solidFill>
                      <a:srgbClr val="ECEAE4"/>
                    </a:solidFill>
                  </a:tcPr>
                </a:tc>
                <a:tc>
                  <a:txBody>
                    <a:bodyPr wrap="square"/>
                    <a:lstStyle/>
                    <a:p>
                      <a:r>
                        <a:rPr sz="1000" b="0">
                          <a:solidFill>
                            <a:srgbClr val="11121A"/>
                          </a:solidFill>
                          <a:latin typeface="Palatino Linotype"/>
                        </a:rPr>
                        <a:t>marcaje: b ruptură de serie, e estimat, p provizoriu; EHIS, ultimul val publicat 2019</a:t>
                      </a:r>
                    </a:p>
                  </a:txBody>
                  <a:tcPr marL="54864" marR="54864" marT="27432" marB="27432" anchor="ctr">
                    <a:solidFill>
                      <a:srgbClr val="ECEAE4"/>
                    </a:solidFill>
                  </a:tcPr>
                </a:tc>
              </a:tr>
              <a:tr h="548640">
                <a:tc>
                  <a:txBody>
                    <a:bodyPr wrap="square"/>
                    <a:lstStyle/>
                    <a:p>
                      <a:r>
                        <a:rPr sz="1000" b="1">
                          <a:solidFill>
                            <a:srgbClr val="11121A"/>
                          </a:solidFill>
                          <a:latin typeface="Palatino Linotype"/>
                        </a:rPr>
                        <a:t>INS</a:t>
                      </a:r>
                    </a:p>
                  </a:txBody>
                  <a:tcPr marL="54864" marR="54864" marT="27432" marB="27432" anchor="ctr">
                    <a:solidFill>
                      <a:srgbClr val="ECEAE4"/>
                    </a:solidFill>
                  </a:tcPr>
                </a:tc>
                <a:tc>
                  <a:txBody>
                    <a:bodyPr wrap="square"/>
                    <a:lstStyle/>
                    <a:p>
                      <a:r>
                        <a:rPr sz="1000" b="0">
                          <a:solidFill>
                            <a:srgbClr val="11121A"/>
                          </a:solidFill>
                          <a:latin typeface="Palatino Linotype"/>
                        </a:rPr>
                        <a:t>statistica oficială a României, TEMPO Online</a:t>
                      </a:r>
                    </a:p>
                  </a:txBody>
                  <a:tcPr marL="54864" marR="54864" marT="27432" marB="27432" anchor="ctr">
                    <a:solidFill>
                      <a:srgbClr val="ECEAE4"/>
                    </a:solidFill>
                  </a:tcPr>
                </a:tc>
                <a:tc>
                  <a:txBody>
                    <a:bodyPr wrap="square"/>
                    <a:lstStyle/>
                    <a:p>
                      <a:r>
                        <a:rPr sz="1000" b="0">
                          <a:solidFill>
                            <a:srgbClr val="11121A"/>
                          </a:solidFill>
                          <a:latin typeface="Palatino Linotype"/>
                        </a:rPr>
                        <a:t>matrice cu cod, de exemplu POP105A; populația rezidentă</a:t>
                      </a:r>
                    </a:p>
                  </a:txBody>
                  <a:tcPr marL="54864" marR="54864" marT="27432" marB="27432" anchor="ctr">
                    <a:solidFill>
                      <a:srgbClr val="ECEAE4"/>
                    </a:solidFill>
                  </a:tcPr>
                </a:tc>
              </a:tr>
              <a:tr h="548640">
                <a:tc>
                  <a:txBody>
                    <a:bodyPr wrap="square"/>
                    <a:lstStyle/>
                    <a:p>
                      <a:r>
                        <a:rPr sz="1000" b="1">
                          <a:solidFill>
                            <a:srgbClr val="11121A"/>
                          </a:solidFill>
                          <a:latin typeface="Palatino Linotype"/>
                        </a:rPr>
                        <a:t>INSP</a:t>
                      </a:r>
                    </a:p>
                  </a:txBody>
                  <a:tcPr marL="54864" marR="54864" marT="27432" marB="27432" anchor="ctr">
                    <a:solidFill>
                      <a:srgbClr val="ECEAE4"/>
                    </a:solidFill>
                  </a:tcPr>
                </a:tc>
                <a:tc>
                  <a:txBody>
                    <a:bodyPr wrap="square"/>
                    <a:lstStyle/>
                    <a:p>
                      <a:r>
                        <a:rPr sz="1000" b="0">
                          <a:solidFill>
                            <a:srgbClr val="11121A"/>
                          </a:solidFill>
                          <a:latin typeface="Palatino Linotype"/>
                        </a:rPr>
                        <a:t>centre naționale și regionale de sănătate publică</a:t>
                      </a:r>
                    </a:p>
                  </a:txBody>
                  <a:tcPr marL="54864" marR="54864" marT="27432" marB="27432" anchor="ctr">
                    <a:solidFill>
                      <a:srgbClr val="ECEAE4"/>
                    </a:solidFill>
                  </a:tcPr>
                </a:tc>
                <a:tc>
                  <a:txBody>
                    <a:bodyPr wrap="square"/>
                    <a:lstStyle/>
                    <a:p>
                      <a:r>
                        <a:rPr sz="1000" b="0">
                          <a:solidFill>
                            <a:srgbClr val="11121A"/>
                          </a:solidFill>
                          <a:latin typeface="Palatino Linotype"/>
                        </a:rPr>
                        <a:t>supravegherea bolilor netransmisibile, statistica în sănătate publică</a:t>
                      </a:r>
                    </a:p>
                  </a:txBody>
                  <a:tcPr marL="54864" marR="54864" marT="27432" marB="27432" anchor="ctr">
                    <a:solidFill>
                      <a:srgbClr val="ECEAE4"/>
                    </a:solidFill>
                  </a:tcPr>
                </a:tc>
              </a:tr>
            </a:tbl>
          </a:graphicData>
        </a:graphic>
      </p:graphicFrame>
      <p:sp>
        <p:nvSpPr>
          <p:cNvPr id="46" name="Rectangle 45"/>
          <p:cNvSpPr/>
          <p:nvPr/>
        </p:nvSpPr>
        <p:spPr>
          <a:xfrm>
            <a:off x="457200" y="3749039"/>
            <a:ext cx="8229600" cy="50292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3749039"/>
            <a:ext cx="54864" cy="50292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 y="3822191"/>
            <a:ext cx="7863840" cy="393192"/>
          </a:xfrm>
          <a:prstGeom prst="rect">
            <a:avLst/>
          </a:prstGeom>
          <a:noFill/>
        </p:spPr>
        <p:txBody>
          <a:bodyPr wrap="square" lIns="0" rIns="0" tIns="0" bIns="0" anchor="t">
            <a:spAutoFit/>
          </a:bodyPr>
          <a:lstStyle/>
          <a:p>
            <a:pPr algn="l"/>
            <a:r>
              <a:rPr sz="950" b="1" i="0">
                <a:solidFill>
                  <a:srgbClr val="B02532"/>
                </a:solidFill>
                <a:latin typeface="Palatino Linotype"/>
              </a:rPr>
              <a:t>Aceeași afecțiune: </a:t>
            </a:r>
            <a:r>
              <a:rPr sz="950" b="0" i="0">
                <a:solidFill>
                  <a:srgbClr val="11121A"/>
                </a:solidFill>
                <a:latin typeface="Palatino Linotype"/>
              </a:rPr>
              <a:t>EHIS 2019, lombalgie declarată: 7,6% în România, 23,8% în UE; GBD: 16,3% din populație. Cifrele măsoară lucruri diferite.</a:t>
            </a:r>
          </a:p>
        </p:txBody>
      </p:sp>
      <p:sp>
        <p:nvSpPr>
          <p:cNvPr id="49" name="TextBox 48"/>
          <p:cNvSpPr txBox="1"/>
          <p:nvPr/>
        </p:nvSpPr>
        <p:spPr>
          <a:xfrm>
            <a:off x="457200" y="4315968"/>
            <a:ext cx="8229600" cy="292608"/>
          </a:xfrm>
          <a:prstGeom prst="rect">
            <a:avLst/>
          </a:prstGeom>
          <a:noFill/>
        </p:spPr>
        <p:txBody>
          <a:bodyPr wrap="square" lIns="0" rIns="0" tIns="0" bIns="0" anchor="ctr">
            <a:spAutoFit/>
          </a:bodyPr>
          <a:lstStyle/>
          <a:p>
            <a:pPr algn="l"/>
            <a:r>
              <a:rPr sz="700" b="0" i="0">
                <a:solidFill>
                  <a:srgbClr val="585A64"/>
                </a:solidFill>
                <a:latin typeface="Palatino Linotype"/>
              </a:rPr>
              <a:t>Surse: GBD 2021; Eurostat, hlth_hlye și hlth_ehis_cd1e; INS, TEMPO; INSP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50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Citarea exactă: instituție, an, măsură, cod</a:t>
            </a:r>
          </a:p>
        </p:txBody>
      </p:sp>
      <p:sp>
        <p:nvSpPr>
          <p:cNvPr id="45" name="Rectangle 44"/>
          <p:cNvSpPr/>
          <p:nvPr/>
        </p:nvSpPr>
        <p:spPr>
          <a:xfrm>
            <a:off x="457200" y="960120"/>
            <a:ext cx="8229600" cy="10058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960120"/>
            <a:ext cx="54864" cy="1005840"/>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1033272"/>
            <a:ext cx="7955279" cy="877824"/>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O valoare Eurostat</a:t>
            </a:r>
          </a:p>
          <a:p>
            <a:pPr algn="l">
              <a:spcAft>
                <a:spcPts val="300"/>
              </a:spcAft>
            </a:pPr>
            <a:r>
              <a:rPr sz="1050" b="0" i="0">
                <a:solidFill>
                  <a:srgbClr val="11121A"/>
                </a:solidFill>
                <a:latin typeface="Palatino Linotype"/>
              </a:rPr>
              <a:t>65,0 ani de viață sănătoasă la naștere, România: Eurostat, setul hlth_hlye, indicatorul HLY_Y0, ambele sexe, anul 2024, marcaje „b” și „e”, extras la 27.09.2026</a:t>
            </a:r>
          </a:p>
        </p:txBody>
      </p:sp>
      <p:sp>
        <p:nvSpPr>
          <p:cNvPr id="48" name="Rectangle 47"/>
          <p:cNvSpPr/>
          <p:nvPr/>
        </p:nvSpPr>
        <p:spPr>
          <a:xfrm>
            <a:off x="457200" y="2103120"/>
            <a:ext cx="8229600" cy="1005840"/>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2103120"/>
            <a:ext cx="54864" cy="1005840"/>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2176272"/>
            <a:ext cx="7955279" cy="877824"/>
          </a:xfrm>
          <a:prstGeom prst="rect">
            <a:avLst/>
          </a:prstGeom>
          <a:noFill/>
        </p:spPr>
        <p:txBody>
          <a:bodyPr wrap="square" lIns="0" rIns="0" tIns="0" bIns="0" anchor="t">
            <a:spAutoFit/>
          </a:bodyPr>
          <a:lstStyle/>
          <a:p>
            <a:pPr algn="l">
              <a:spcAft>
                <a:spcPts val="300"/>
              </a:spcAft>
            </a:pPr>
            <a:r>
              <a:rPr sz="1100" b="1" i="0">
                <a:solidFill>
                  <a:srgbClr val="11121A"/>
                </a:solidFill>
                <a:latin typeface="Palatino Linotype"/>
              </a:rPr>
              <a:t>O valoare GBD</a:t>
            </a:r>
          </a:p>
          <a:p>
            <a:pPr algn="l">
              <a:spcAft>
                <a:spcPts val="300"/>
              </a:spcAft>
            </a:pPr>
            <a:r>
              <a:rPr sz="1050" b="0" i="0">
                <a:solidFill>
                  <a:srgbClr val="11121A"/>
                </a:solidFill>
                <a:latin typeface="Palatino Linotype"/>
              </a:rPr>
              <a:t>WHO Rehabilitation Need Estimator (GBD 2021), lombalgie, prevalență, număr, toate vârstele, ambele sexe, România, 2021</a:t>
            </a:r>
          </a:p>
        </p:txBody>
      </p:sp>
      <p:sp>
        <p:nvSpPr>
          <p:cNvPr id="51" name="Rectangle 50"/>
          <p:cNvSpPr/>
          <p:nvPr/>
        </p:nvSpPr>
        <p:spPr>
          <a:xfrm>
            <a:off x="457200" y="3291840"/>
            <a:ext cx="8229600" cy="640080"/>
          </a:xfrm>
          <a:prstGeom prst="rect">
            <a:avLst/>
          </a:prstGeom>
          <a:solidFill>
            <a:srgbClr val="111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4360" y="3291840"/>
            <a:ext cx="7955279" cy="640080"/>
          </a:xfrm>
          <a:prstGeom prst="rect">
            <a:avLst/>
          </a:prstGeom>
          <a:noFill/>
        </p:spPr>
        <p:txBody>
          <a:bodyPr wrap="square" lIns="0" rIns="0" tIns="0" bIns="0" anchor="ctr">
            <a:spAutoFit/>
          </a:bodyPr>
          <a:lstStyle/>
          <a:p>
            <a:pPr algn="ctr"/>
            <a:r>
              <a:rPr sz="1100" b="1" i="0">
                <a:solidFill>
                  <a:srgbClr val="FFFFFF"/>
                </a:solidFill>
                <a:latin typeface="Palatino Linotype"/>
              </a:rPr>
              <a:t>Fișa disciplinei: orice valoare numerică din fișe este însoțită de sursa exactă.</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pic>
        <p:nvPicPr>
          <p:cNvPr id="2" name="Image 0" descr="preencoded.png"/>
          <p:cNvPicPr>
            <a:picLocks noChangeAspect="1"/>
          </p:cNvPicPr>
          <p:nvPr/>
        </p:nvPicPr>
        <p:blipFill>
          <a:blip r:embed="rId2"/>
          <a:stretch>
            <a:fillRect/>
          </a:stretch>
        </p:blipFill>
        <p:spPr>
          <a:xfrm>
            <a:off x="4114800" y="548640"/>
            <a:ext cx="914400" cy="914400"/>
          </a:xfrm>
          <a:prstGeom prst="rect">
            <a:avLst/>
          </a:prstGeom>
        </p:spPr>
      </p:pic>
      <p:sp>
        <p:nvSpPr>
          <p:cNvPr id="3" name="Text 0"/>
          <p:cNvSpPr/>
          <p:nvPr/>
        </p:nvSpPr>
        <p:spPr>
          <a:xfrm>
            <a:off x="914400" y="1554480"/>
            <a:ext cx="7315200" cy="1097280"/>
          </a:xfrm>
          <a:prstGeom prst="rect">
            <a:avLst/>
          </a:prstGeom>
          <a:noFill/>
          <a:ln/>
        </p:spPr>
        <p:txBody>
          <a:bodyPr wrap="square" lIns="0" tIns="0" rIns="0" bIns="0" rtlCol="0" anchor="ctr"/>
          <a:lstStyle/>
          <a:p>
            <a:pPr marL="0" indent="0" algn="ctr">
              <a:lnSpc>
                <a:spcPct val="110000"/>
              </a:lnSpc>
              <a:buNone/>
            </a:pPr>
            <a:r>
              <a:rPr lang="en-US" sz="2800" b="1" dirty="0">
                <a:solidFill>
                  <a:srgbClr val="FFFFFF"/>
                </a:solidFill>
                <a:latin typeface="Palatino Linotype" pitchFamily="34" charset="0"/>
                <a:ea typeface="Palatino Linotype" pitchFamily="34" charset="-122"/>
                <a:cs typeface="Palatino Linotype" pitchFamily="34" charset="-120"/>
              </a:rPr>
              <a:t>Demonstrație: povara afecțiunilor musculo-scheletale în România</a:t>
            </a:r>
            <a:endParaRPr lang="en-US" sz="2800" dirty="0"/>
          </a:p>
        </p:txBody>
      </p:sp>
      <p:sp>
        <p:nvSpPr>
          <p:cNvPr id="4" name="Shape 1"/>
          <p:cNvSpPr/>
          <p:nvPr/>
        </p:nvSpPr>
        <p:spPr>
          <a:xfrm>
            <a:off x="1371600" y="2926080"/>
            <a:ext cx="6400800" cy="1097280"/>
          </a:xfrm>
          <a:prstGeom prst="rect">
            <a:avLst/>
          </a:prstGeom>
          <a:solidFill>
            <a:srgbClr val="0E7C6B">
              <a:alpha val="30000"/>
            </a:srgbClr>
          </a:solidFill>
          <a:ln/>
        </p:spPr>
        <p:txBody>
          <a:bodyPr/>
          <a:lstStyle/>
          <a:p>
            <a:endParaRPr lang="ro-RO"/>
          </a:p>
        </p:txBody>
      </p:sp>
      <p:sp>
        <p:nvSpPr>
          <p:cNvPr id="5" name="Text 2"/>
          <p:cNvSpPr/>
          <p:nvPr/>
        </p:nvSpPr>
        <p:spPr>
          <a:xfrm>
            <a:off x="1371600" y="2926080"/>
            <a:ext cx="6400800" cy="1097280"/>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GBD Compare · vederea treemap · anii trăiți cu dizabilitate</a:t>
            </a:r>
            <a:endParaRPr lang="en-US" sz="1400" dirty="0"/>
          </a:p>
          <a:p>
            <a:pPr marL="0" indent="0" algn="ctr">
              <a:buNone/>
            </a:pPr>
            <a:r>
              <a:rPr lang="en-US" sz="1100" dirty="0">
                <a:solidFill>
                  <a:srgbClr val="FFFFFF"/>
                </a:solidFill>
                <a:latin typeface="Palatino Linotype" pitchFamily="34" charset="0"/>
                <a:ea typeface="Palatino Linotype" pitchFamily="34" charset="-122"/>
                <a:cs typeface="Palatino Linotype" pitchFamily="34" charset="-120"/>
              </a:rPr>
              <a:t>România · ambele sexe · toate vârstele · ultimul an al rundei</a:t>
            </a:r>
            <a:endParaRPr lang="en-US" sz="1400" dirty="0"/>
          </a:p>
          <a:p>
            <a:pPr marL="0" indent="0" algn="ctr">
              <a:buNone/>
            </a:pPr>
            <a:r>
              <a:rPr lang="en-US" sz="1100" i="1" dirty="0">
                <a:solidFill>
                  <a:srgbClr val="FFFFFF"/>
                </a:solidFill>
                <a:latin typeface="Palatino Linotype" pitchFamily="34" charset="0"/>
                <a:ea typeface="Palatino Linotype" pitchFamily="34" charset="-122"/>
                <a:cs typeface="Palatino Linotype" pitchFamily="34" charset="-120"/>
              </a:rPr>
              <a:t>Musculo-scheletale → lombalgie · număr → rată → procent · tendința</a:t>
            </a:r>
            <a:endParaRPr lang="en-US" sz="1400" dirty="0"/>
          </a:p>
        </p:txBody>
      </p:sp>
      <p:sp>
        <p:nvSpPr>
          <p:cNvPr id="6" name="Shape 3"/>
          <p:cNvSpPr/>
          <p:nvPr/>
        </p:nvSpPr>
        <p:spPr>
          <a:xfrm>
            <a:off x="0" y="4709160"/>
            <a:ext cx="9144000" cy="434340"/>
          </a:xfrm>
          <a:prstGeom prst="rect">
            <a:avLst/>
          </a:prstGeom>
          <a:noFill/>
          <a:ln/>
        </p:spPr>
        <p:txBody>
          <a:bodyPr/>
          <a:lstStyle/>
          <a:p>
            <a:endParaRPr lang="ro-RO"/>
          </a:p>
        </p:txBody>
      </p:sp>
      <p:sp>
        <p:nvSpPr>
          <p:cNvPr id="7" name="Text 4"/>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8" name="Text 5"/>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51 / 60</a:t>
            </a:r>
            <a:endParaRPr lang="en-US" sz="8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52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Ce nu putem afirma pe baza acestor date</a:t>
            </a:r>
          </a:p>
        </p:txBody>
      </p:sp>
      <p:sp>
        <p:nvSpPr>
          <p:cNvPr id="45" name="Rectangle 44"/>
          <p:cNvSpPr/>
          <p:nvPr/>
        </p:nvSpPr>
        <p:spPr>
          <a:xfrm>
            <a:off x="457200" y="896112"/>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896112"/>
            <a:ext cx="54864" cy="420624"/>
          </a:xfrm>
          <a:prstGeom prst="rect">
            <a:avLst/>
          </a:prstGeom>
          <a:solidFill>
            <a:srgbClr val="B0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969264"/>
            <a:ext cx="7955279" cy="292608"/>
          </a:xfrm>
          <a:prstGeom prst="rect">
            <a:avLst/>
          </a:prstGeom>
          <a:noFill/>
        </p:spPr>
        <p:txBody>
          <a:bodyPr wrap="square" lIns="0" rIns="0" tIns="0" bIns="0" anchor="t">
            <a:spAutoFit/>
          </a:bodyPr>
          <a:lstStyle/>
          <a:p>
            <a:pPr algn="l">
              <a:spcAft>
                <a:spcPts val="300"/>
              </a:spcAft>
            </a:pPr>
            <a:r>
              <a:rPr sz="1000" b="0" i="0">
                <a:solidFill>
                  <a:srgbClr val="11121A"/>
                </a:solidFill>
                <a:latin typeface="Palatino Linotype"/>
              </a:rPr>
              <a:t>Câte persoane din România primesc efectiv recuperare și câte nu o primesc: nu a fost găsită o statistică oficială publicată</a:t>
            </a:r>
          </a:p>
        </p:txBody>
      </p:sp>
      <p:sp>
        <p:nvSpPr>
          <p:cNvPr id="48" name="Rectangle 47"/>
          <p:cNvSpPr/>
          <p:nvPr/>
        </p:nvSpPr>
        <p:spPr>
          <a:xfrm>
            <a:off x="457200" y="1380744"/>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1380744"/>
            <a:ext cx="54864" cy="420624"/>
          </a:xfrm>
          <a:prstGeom prst="rect">
            <a:avLst/>
          </a:prstGeom>
          <a:solidFill>
            <a:srgbClr val="B0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1453896"/>
            <a:ext cx="7955279" cy="292608"/>
          </a:xfrm>
          <a:prstGeom prst="rect">
            <a:avLst/>
          </a:prstGeom>
          <a:noFill/>
        </p:spPr>
        <p:txBody>
          <a:bodyPr wrap="square" lIns="0" rIns="0" tIns="0" bIns="0" anchor="t">
            <a:spAutoFit/>
          </a:bodyPr>
          <a:lstStyle/>
          <a:p>
            <a:pPr algn="l">
              <a:spcAft>
                <a:spcPts val="300"/>
              </a:spcAft>
            </a:pPr>
            <a:r>
              <a:rPr sz="1000" b="0" i="0">
                <a:solidFill>
                  <a:srgbClr val="11121A"/>
                </a:solidFill>
                <a:latin typeface="Palatino Linotype"/>
              </a:rPr>
              <a:t>O valoare pentru fractura de șold: estimările OMS grupează toate fracturile</a:t>
            </a:r>
          </a:p>
        </p:txBody>
      </p:sp>
      <p:sp>
        <p:nvSpPr>
          <p:cNvPr id="51" name="Rectangle 50"/>
          <p:cNvSpPr/>
          <p:nvPr/>
        </p:nvSpPr>
        <p:spPr>
          <a:xfrm>
            <a:off x="457200" y="1865376"/>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1865376"/>
            <a:ext cx="54864" cy="420624"/>
          </a:xfrm>
          <a:prstGeom prst="rect">
            <a:avLst/>
          </a:prstGeom>
          <a:solidFill>
            <a:srgbClr val="B0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1938528"/>
            <a:ext cx="7955279" cy="292608"/>
          </a:xfrm>
          <a:prstGeom prst="rect">
            <a:avLst/>
          </a:prstGeom>
          <a:noFill/>
        </p:spPr>
        <p:txBody>
          <a:bodyPr wrap="square" lIns="0" rIns="0" tIns="0" bIns="0" anchor="t">
            <a:spAutoFit/>
          </a:bodyPr>
          <a:lstStyle/>
          <a:p>
            <a:pPr algn="l">
              <a:spcAft>
                <a:spcPts val="300"/>
              </a:spcAft>
            </a:pPr>
            <a:r>
              <a:rPr sz="1000" b="0" i="0">
                <a:solidFill>
                  <a:srgbClr val="11121A"/>
                </a:solidFill>
                <a:latin typeface="Palatino Linotype"/>
              </a:rPr>
              <a:t>Tendința anilor de viață sănătoasă: ruptura de serie din 2024 o întrerupe</a:t>
            </a:r>
          </a:p>
        </p:txBody>
      </p:sp>
      <p:sp>
        <p:nvSpPr>
          <p:cNvPr id="54" name="Rectangle 53"/>
          <p:cNvSpPr/>
          <p:nvPr/>
        </p:nvSpPr>
        <p:spPr>
          <a:xfrm>
            <a:off x="457200" y="2350008"/>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2350008"/>
            <a:ext cx="54864" cy="420624"/>
          </a:xfrm>
          <a:prstGeom prst="rect">
            <a:avLst/>
          </a:prstGeom>
          <a:solidFill>
            <a:srgbClr val="B0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2423160"/>
            <a:ext cx="7955279" cy="292608"/>
          </a:xfrm>
          <a:prstGeom prst="rect">
            <a:avLst/>
          </a:prstGeom>
          <a:noFill/>
        </p:spPr>
        <p:txBody>
          <a:bodyPr wrap="square" lIns="0" rIns="0" tIns="0" bIns="0" anchor="t">
            <a:spAutoFit/>
          </a:bodyPr>
          <a:lstStyle/>
          <a:p>
            <a:pPr algn="l">
              <a:spcAft>
                <a:spcPts val="300"/>
              </a:spcAft>
            </a:pPr>
            <a:r>
              <a:rPr sz="1000" b="0" i="0">
                <a:solidFill>
                  <a:srgbClr val="11121A"/>
                </a:solidFill>
                <a:latin typeface="Palatino Linotype"/>
              </a:rPr>
              <a:t>Evoluția morbidității declarate după pandemie: valul EHIS din 2025 nu era publicat</a:t>
            </a:r>
          </a:p>
        </p:txBody>
      </p:sp>
      <p:sp>
        <p:nvSpPr>
          <p:cNvPr id="57" name="Rectangle 56"/>
          <p:cNvSpPr/>
          <p:nvPr/>
        </p:nvSpPr>
        <p:spPr>
          <a:xfrm>
            <a:off x="457200" y="2834640"/>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2834640"/>
            <a:ext cx="54864" cy="420624"/>
          </a:xfrm>
          <a:prstGeom prst="rect">
            <a:avLst/>
          </a:prstGeom>
          <a:solidFill>
            <a:srgbClr val="B0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2907792"/>
            <a:ext cx="7955279" cy="292608"/>
          </a:xfrm>
          <a:prstGeom prst="rect">
            <a:avLst/>
          </a:prstGeom>
          <a:noFill/>
        </p:spPr>
        <p:txBody>
          <a:bodyPr wrap="square" lIns="0" rIns="0" tIns="0" bIns="0" anchor="t">
            <a:spAutoFit/>
          </a:bodyPr>
          <a:lstStyle/>
          <a:p>
            <a:pPr algn="l">
              <a:spcAft>
                <a:spcPts val="300"/>
              </a:spcAft>
            </a:pPr>
            <a:r>
              <a:rPr sz="1000" b="0" i="0">
                <a:solidFill>
                  <a:srgbClr val="11121A"/>
                </a:solidFill>
                <a:latin typeface="Palatino Linotype"/>
              </a:rPr>
              <a:t>O singură cifră a lombalgiei în lume: 619, 594 sau 568 de milioane, după produs, rundă și an</a:t>
            </a:r>
          </a:p>
        </p:txBody>
      </p:sp>
      <p:sp>
        <p:nvSpPr>
          <p:cNvPr id="60" name="Rectangle 59"/>
          <p:cNvSpPr/>
          <p:nvPr/>
        </p:nvSpPr>
        <p:spPr>
          <a:xfrm>
            <a:off x="457200" y="3319272"/>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57200" y="3319272"/>
            <a:ext cx="54864" cy="420624"/>
          </a:xfrm>
          <a:prstGeom prst="rect">
            <a:avLst/>
          </a:prstGeom>
          <a:solidFill>
            <a:srgbClr val="B0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21792" y="3392424"/>
            <a:ext cx="7955279" cy="292608"/>
          </a:xfrm>
          <a:prstGeom prst="rect">
            <a:avLst/>
          </a:prstGeom>
          <a:noFill/>
        </p:spPr>
        <p:txBody>
          <a:bodyPr wrap="square" lIns="0" rIns="0" tIns="0" bIns="0" anchor="t">
            <a:spAutoFit/>
          </a:bodyPr>
          <a:lstStyle/>
          <a:p>
            <a:pPr algn="l">
              <a:spcAft>
                <a:spcPts val="300"/>
              </a:spcAft>
            </a:pPr>
            <a:r>
              <a:rPr sz="1000" b="0" i="0">
                <a:solidFill>
                  <a:srgbClr val="11121A"/>
                </a:solidFill>
                <a:latin typeface="Palatino Linotype"/>
              </a:rPr>
              <a:t>Valorile GBD Compare pentru România: instrumentul cere autentificare</a:t>
            </a:r>
          </a:p>
        </p:txBody>
      </p:sp>
      <p:sp>
        <p:nvSpPr>
          <p:cNvPr id="63" name="Rectangle 62"/>
          <p:cNvSpPr/>
          <p:nvPr/>
        </p:nvSpPr>
        <p:spPr>
          <a:xfrm>
            <a:off x="457200" y="3803904"/>
            <a:ext cx="8229600" cy="420624"/>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57200" y="3803904"/>
            <a:ext cx="54864" cy="420624"/>
          </a:xfrm>
          <a:prstGeom prst="rect">
            <a:avLst/>
          </a:prstGeom>
          <a:solidFill>
            <a:srgbClr val="B0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1792" y="3877056"/>
            <a:ext cx="7955279" cy="292608"/>
          </a:xfrm>
          <a:prstGeom prst="rect">
            <a:avLst/>
          </a:prstGeom>
          <a:noFill/>
        </p:spPr>
        <p:txBody>
          <a:bodyPr wrap="square" lIns="0" rIns="0" tIns="0" bIns="0" anchor="t">
            <a:spAutoFit/>
          </a:bodyPr>
          <a:lstStyle/>
          <a:p>
            <a:pPr algn="l">
              <a:spcAft>
                <a:spcPts val="300"/>
              </a:spcAft>
            </a:pPr>
            <a:r>
              <a:rPr sz="1000" b="0" i="0">
                <a:solidFill>
                  <a:srgbClr val="11121A"/>
                </a:solidFill>
                <a:latin typeface="Palatino Linotype"/>
              </a:rPr>
              <a:t>Rezultatul discuțiilor despre recuperare din Adunarea Mondială a Sănătății din mai 2026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000" b="1" dirty="0">
                <a:solidFill>
                  <a:srgbClr val="11121A"/>
                </a:solidFill>
                <a:latin typeface="Palatino Linotype" pitchFamily="34" charset="0"/>
                <a:ea typeface="Palatino Linotype" pitchFamily="34" charset="-122"/>
                <a:cs typeface="Palatino Linotype" pitchFamily="34" charset="-120"/>
              </a:rPr>
              <a:t>Recapitulare: harta conceptuală a cursului</a:t>
            </a:r>
            <a:endParaRPr lang="en-US" sz="2000" dirty="0"/>
          </a:p>
        </p:txBody>
      </p:sp>
      <p:sp>
        <p:nvSpPr>
          <p:cNvPr id="3" name="Shape 1"/>
          <p:cNvSpPr/>
          <p:nvPr/>
        </p:nvSpPr>
        <p:spPr>
          <a:xfrm>
            <a:off x="3200400" y="1828800"/>
            <a:ext cx="2743200" cy="1371600"/>
          </a:xfrm>
          <a:prstGeom prst="ellipse">
            <a:avLst/>
          </a:prstGeom>
          <a:solidFill>
            <a:srgbClr val="0E7C6B"/>
          </a:solidFill>
          <a:ln/>
          <a:effectLst/>
        </p:spPr>
        <p:txBody>
          <a:bodyPr/>
          <a:lstStyle/>
          <a:p>
            <a:endParaRPr lang="ro-RO" sz="1200"/>
          </a:p>
        </p:txBody>
      </p:sp>
      <p:sp>
        <p:nvSpPr>
          <p:cNvPr id="4" name="Text 2"/>
          <p:cNvSpPr/>
          <p:nvPr/>
        </p:nvSpPr>
        <p:spPr>
          <a:xfrm>
            <a:off x="3200400" y="1828800"/>
            <a:ext cx="2743200" cy="1371600"/>
          </a:xfrm>
          <a:prstGeom prst="rect">
            <a:avLst/>
          </a:prstGeom>
          <a:noFill/>
          <a:ln/>
        </p:spPr>
        <p:txBody>
          <a:bodyPr wrap="square" lIns="0" tIns="0" rIns="0" bIns="0" rtlCol="0" anchor="ctr"/>
          <a:lstStyle/>
          <a:p>
            <a:pPr marL="0" indent="0" algn="ctr">
              <a:buNone/>
            </a:pPr>
            <a:r>
              <a:rPr lang="en-US" sz="1200" b="1" dirty="0">
                <a:solidFill>
                  <a:srgbClr val="FFFFFF"/>
                </a:solidFill>
                <a:latin typeface="Palatino Linotype" pitchFamily="34" charset="0"/>
                <a:ea typeface="Palatino Linotype" pitchFamily="34" charset="-122"/>
                <a:cs typeface="Palatino Linotype" pitchFamily="34" charset="-120"/>
              </a:rPr>
              <a:t>RECUPERAREA</a:t>
            </a:r>
            <a:endParaRPr lang="en-US" sz="1200" dirty="0">
              <a:solidFill>
                <a:srgbClr val="FFFFFF"/>
              </a:solidFill>
            </a:endParaRPr>
          </a:p>
          <a:p>
            <a:pPr marL="0" indent="0" algn="ctr">
              <a:buNone/>
            </a:pPr>
            <a:r>
              <a:rPr lang="en-US" sz="1200" b="1" dirty="0">
                <a:solidFill>
                  <a:srgbClr val="FFFFFF"/>
                </a:solidFill>
                <a:latin typeface="Palatino Linotype" pitchFamily="34" charset="0"/>
                <a:ea typeface="Palatino Linotype" pitchFamily="34" charset="-122"/>
                <a:cs typeface="Palatino Linotype" pitchFamily="34" charset="-120"/>
              </a:rPr>
              <a:t>ÎN POPULAȚIE</a:t>
            </a:r>
            <a:endParaRPr lang="en-US" sz="1200" dirty="0">
              <a:solidFill>
                <a:srgbClr val="FFFFFF"/>
              </a:solidFill>
            </a:endParaRPr>
          </a:p>
        </p:txBody>
      </p:sp>
      <p:sp>
        <p:nvSpPr>
          <p:cNvPr id="5" name="Shape 3"/>
          <p:cNvSpPr/>
          <p:nvPr/>
        </p:nvSpPr>
        <p:spPr>
          <a:xfrm>
            <a:off x="457200" y="914400"/>
            <a:ext cx="2286000" cy="640080"/>
          </a:xfrm>
          <a:prstGeom prst="rect">
            <a:avLst/>
          </a:prstGeom>
          <a:solidFill>
            <a:srgbClr val="ECEAE4"/>
          </a:solidFill>
          <a:ln/>
          <a:effectLst/>
        </p:spPr>
        <p:txBody>
          <a:bodyPr/>
          <a:lstStyle/>
          <a:p>
            <a:endParaRPr lang="ro-RO" sz="1200"/>
          </a:p>
        </p:txBody>
      </p:sp>
      <p:sp>
        <p:nvSpPr>
          <p:cNvPr id="6" name="Shape 4"/>
          <p:cNvSpPr/>
          <p:nvPr/>
        </p:nvSpPr>
        <p:spPr>
          <a:xfrm>
            <a:off x="457200" y="914400"/>
            <a:ext cx="54864" cy="640080"/>
          </a:xfrm>
          <a:prstGeom prst="rect">
            <a:avLst/>
          </a:prstGeom>
          <a:solidFill>
            <a:srgbClr val="FF4757"/>
          </a:solidFill>
          <a:ln/>
        </p:spPr>
        <p:txBody>
          <a:bodyPr/>
          <a:lstStyle/>
          <a:p>
            <a:endParaRPr lang="ro-RO" sz="1200"/>
          </a:p>
        </p:txBody>
      </p:sp>
      <p:sp>
        <p:nvSpPr>
          <p:cNvPr id="7" name="Text 5"/>
          <p:cNvSpPr/>
          <p:nvPr/>
        </p:nvSpPr>
        <p:spPr>
          <a:xfrm>
            <a:off x="594360" y="914400"/>
            <a:ext cx="2011680" cy="64008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Sănătatea publică</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și funcțiile ei</a:t>
            </a:r>
            <a:endParaRPr lang="en-US" sz="1200" dirty="0"/>
          </a:p>
        </p:txBody>
      </p:sp>
      <p:sp>
        <p:nvSpPr>
          <p:cNvPr id="8" name="Shape 6"/>
          <p:cNvSpPr/>
          <p:nvPr/>
        </p:nvSpPr>
        <p:spPr>
          <a:xfrm>
            <a:off x="6400800" y="914400"/>
            <a:ext cx="2286000" cy="640080"/>
          </a:xfrm>
          <a:prstGeom prst="rect">
            <a:avLst/>
          </a:prstGeom>
          <a:solidFill>
            <a:srgbClr val="ECEAE4"/>
          </a:solidFill>
          <a:ln/>
          <a:effectLst/>
        </p:spPr>
        <p:txBody>
          <a:bodyPr/>
          <a:lstStyle/>
          <a:p>
            <a:endParaRPr lang="ro-RO" sz="1200"/>
          </a:p>
        </p:txBody>
      </p:sp>
      <p:sp>
        <p:nvSpPr>
          <p:cNvPr id="9" name="Shape 7"/>
          <p:cNvSpPr/>
          <p:nvPr/>
        </p:nvSpPr>
        <p:spPr>
          <a:xfrm>
            <a:off x="6400800" y="914400"/>
            <a:ext cx="54864" cy="640080"/>
          </a:xfrm>
          <a:prstGeom prst="rect">
            <a:avLst/>
          </a:prstGeom>
          <a:solidFill>
            <a:srgbClr val="FF4757"/>
          </a:solidFill>
          <a:ln/>
        </p:spPr>
        <p:txBody>
          <a:bodyPr/>
          <a:lstStyle/>
          <a:p>
            <a:endParaRPr lang="ro-RO" sz="1200"/>
          </a:p>
        </p:txBody>
      </p:sp>
      <p:sp>
        <p:nvSpPr>
          <p:cNvPr id="10" name="Text 8"/>
          <p:cNvSpPr/>
          <p:nvPr/>
        </p:nvSpPr>
        <p:spPr>
          <a:xfrm>
            <a:off x="6537960" y="914400"/>
            <a:ext cx="2011680" cy="64008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Prevenția</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terțiară</a:t>
            </a:r>
            <a:endParaRPr lang="en-US" sz="1200" dirty="0"/>
          </a:p>
        </p:txBody>
      </p:sp>
      <p:sp>
        <p:nvSpPr>
          <p:cNvPr id="11" name="Shape 9"/>
          <p:cNvSpPr/>
          <p:nvPr/>
        </p:nvSpPr>
        <p:spPr>
          <a:xfrm>
            <a:off x="274320" y="3017520"/>
            <a:ext cx="2286000" cy="640080"/>
          </a:xfrm>
          <a:prstGeom prst="rect">
            <a:avLst/>
          </a:prstGeom>
          <a:solidFill>
            <a:srgbClr val="ECEAE4"/>
          </a:solidFill>
          <a:ln/>
          <a:effectLst/>
        </p:spPr>
        <p:txBody>
          <a:bodyPr/>
          <a:lstStyle/>
          <a:p>
            <a:endParaRPr lang="ro-RO" sz="1200"/>
          </a:p>
        </p:txBody>
      </p:sp>
      <p:sp>
        <p:nvSpPr>
          <p:cNvPr id="12" name="Shape 10"/>
          <p:cNvSpPr/>
          <p:nvPr/>
        </p:nvSpPr>
        <p:spPr>
          <a:xfrm>
            <a:off x="274320" y="3017520"/>
            <a:ext cx="54864" cy="640080"/>
          </a:xfrm>
          <a:prstGeom prst="rect">
            <a:avLst/>
          </a:prstGeom>
          <a:solidFill>
            <a:srgbClr val="FF4757"/>
          </a:solidFill>
          <a:ln/>
        </p:spPr>
        <p:txBody>
          <a:bodyPr/>
          <a:lstStyle/>
          <a:p>
            <a:endParaRPr lang="ro-RO" sz="1200"/>
          </a:p>
        </p:txBody>
      </p:sp>
      <p:sp>
        <p:nvSpPr>
          <p:cNvPr id="13" name="Text 11"/>
          <p:cNvSpPr/>
          <p:nvPr/>
        </p:nvSpPr>
        <p:spPr>
          <a:xfrm>
            <a:off x="411480" y="3017520"/>
            <a:ext cx="2011680" cy="64008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Modelul CIF</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și WHA76.6</a:t>
            </a:r>
            <a:endParaRPr lang="en-US" sz="1200" dirty="0"/>
          </a:p>
        </p:txBody>
      </p:sp>
      <p:sp>
        <p:nvSpPr>
          <p:cNvPr id="14" name="Shape 12"/>
          <p:cNvSpPr/>
          <p:nvPr/>
        </p:nvSpPr>
        <p:spPr>
          <a:xfrm>
            <a:off x="6583680" y="3017520"/>
            <a:ext cx="2286000" cy="640080"/>
          </a:xfrm>
          <a:prstGeom prst="rect">
            <a:avLst/>
          </a:prstGeom>
          <a:solidFill>
            <a:srgbClr val="ECEAE4"/>
          </a:solidFill>
          <a:ln/>
          <a:effectLst/>
        </p:spPr>
        <p:txBody>
          <a:bodyPr/>
          <a:lstStyle/>
          <a:p>
            <a:endParaRPr lang="ro-RO" sz="1200"/>
          </a:p>
        </p:txBody>
      </p:sp>
      <p:sp>
        <p:nvSpPr>
          <p:cNvPr id="15" name="Shape 13"/>
          <p:cNvSpPr/>
          <p:nvPr/>
        </p:nvSpPr>
        <p:spPr>
          <a:xfrm>
            <a:off x="6583680" y="3017520"/>
            <a:ext cx="54864" cy="640080"/>
          </a:xfrm>
          <a:prstGeom prst="rect">
            <a:avLst/>
          </a:prstGeom>
          <a:solidFill>
            <a:srgbClr val="FF4757"/>
          </a:solidFill>
          <a:ln/>
        </p:spPr>
        <p:txBody>
          <a:bodyPr/>
          <a:lstStyle/>
          <a:p>
            <a:endParaRPr lang="ro-RO" sz="1200"/>
          </a:p>
        </p:txBody>
      </p:sp>
      <p:sp>
        <p:nvSpPr>
          <p:cNvPr id="16" name="Text 14"/>
          <p:cNvSpPr/>
          <p:nvPr/>
        </p:nvSpPr>
        <p:spPr>
          <a:xfrm>
            <a:off x="6720840" y="3017520"/>
            <a:ext cx="2011680" cy="64008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Indicatori: prevalență,</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YLD, DALY, HLY</a:t>
            </a:r>
            <a:endParaRPr lang="en-US" sz="1200" dirty="0"/>
          </a:p>
        </p:txBody>
      </p:sp>
      <p:sp>
        <p:nvSpPr>
          <p:cNvPr id="17" name="Shape 15"/>
          <p:cNvSpPr/>
          <p:nvPr/>
        </p:nvSpPr>
        <p:spPr>
          <a:xfrm>
            <a:off x="3200400" y="3566160"/>
            <a:ext cx="2286000" cy="640080"/>
          </a:xfrm>
          <a:prstGeom prst="rect">
            <a:avLst/>
          </a:prstGeom>
          <a:solidFill>
            <a:srgbClr val="ECEAE4"/>
          </a:solidFill>
          <a:ln/>
          <a:effectLst/>
        </p:spPr>
        <p:txBody>
          <a:bodyPr/>
          <a:lstStyle/>
          <a:p>
            <a:endParaRPr lang="ro-RO" sz="1200"/>
          </a:p>
        </p:txBody>
      </p:sp>
      <p:sp>
        <p:nvSpPr>
          <p:cNvPr id="18" name="Shape 16"/>
          <p:cNvSpPr/>
          <p:nvPr/>
        </p:nvSpPr>
        <p:spPr>
          <a:xfrm>
            <a:off x="3200400" y="3566160"/>
            <a:ext cx="54864" cy="640080"/>
          </a:xfrm>
          <a:prstGeom prst="rect">
            <a:avLst/>
          </a:prstGeom>
          <a:solidFill>
            <a:srgbClr val="FF4757"/>
          </a:solidFill>
          <a:ln/>
        </p:spPr>
        <p:txBody>
          <a:bodyPr/>
          <a:lstStyle/>
          <a:p>
            <a:endParaRPr lang="ro-RO" sz="1200"/>
          </a:p>
        </p:txBody>
      </p:sp>
      <p:sp>
        <p:nvSpPr>
          <p:cNvPr id="19" name="Text 17"/>
          <p:cNvSpPr/>
          <p:nvPr/>
        </p:nvSpPr>
        <p:spPr>
          <a:xfrm>
            <a:off x="3337560" y="3566160"/>
            <a:ext cx="2011680" cy="640080"/>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Nevoia de recuperare</a:t>
            </a:r>
            <a:endParaRPr lang="en-US" sz="1200" dirty="0"/>
          </a:p>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și îmbătrânirea</a:t>
            </a:r>
            <a:endParaRPr lang="en-US" sz="1200" dirty="0"/>
          </a:p>
        </p:txBody>
      </p:sp>
      <p:sp>
        <p:nvSpPr>
          <p:cNvPr id="20" name="Text 18"/>
          <p:cNvSpPr/>
          <p:nvPr/>
        </p:nvSpPr>
        <p:spPr>
          <a:xfrm>
            <a:off x="457200" y="4389120"/>
            <a:ext cx="8229600" cy="182880"/>
          </a:xfrm>
          <a:prstGeom prst="rect">
            <a:avLst/>
          </a:prstGeom>
          <a:noFill/>
          <a:ln/>
        </p:spPr>
        <p:txBody>
          <a:bodyPr wrap="square" lIns="0" tIns="0" rIns="0" bIns="0" rtlCol="0" anchor="ctr"/>
          <a:lstStyle/>
          <a:p>
            <a:pPr marL="0" indent="0" algn="ctr">
              <a:buNone/>
            </a:pPr>
            <a:r>
              <a:rPr lang="en-US" sz="700" dirty="0">
                <a:solidFill>
                  <a:srgbClr val="585A64"/>
                </a:solidFill>
                <a:latin typeface="Palatino Linotype" pitchFamily="34" charset="0"/>
                <a:ea typeface="Palatino Linotype" pitchFamily="34" charset="-122"/>
                <a:cs typeface="Palatino Linotype" pitchFamily="34" charset="-120"/>
              </a:rPr>
              <a:t>Următoarea întâlnire: cursul C02, apoi lucrarea practică LP01 (Fișa 1), vineri, 9.10</a:t>
            </a:r>
            <a:endParaRPr lang="en-US" sz="800" dirty="0"/>
          </a:p>
        </p:txBody>
      </p:sp>
      <p:sp>
        <p:nvSpPr>
          <p:cNvPr id="21" name="Shape 19"/>
          <p:cNvSpPr/>
          <p:nvPr/>
        </p:nvSpPr>
        <p:spPr>
          <a:xfrm>
            <a:off x="0" y="4709160"/>
            <a:ext cx="9144000" cy="434340"/>
          </a:xfrm>
          <a:prstGeom prst="rect">
            <a:avLst/>
          </a:prstGeom>
          <a:noFill/>
          <a:ln/>
        </p:spPr>
        <p:txBody>
          <a:bodyPr/>
          <a:lstStyle/>
          <a:p>
            <a:endParaRPr lang="ro-RO" sz="1200"/>
          </a:p>
        </p:txBody>
      </p:sp>
      <p:sp>
        <p:nvSpPr>
          <p:cNvPr id="22"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3"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53 / 60</a:t>
            </a:r>
            <a:endParaRPr lang="en-US" sz="1200" dirty="0"/>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Verificarea finală · întrebarea 1 din 5</a:t>
            </a:r>
            <a:endParaRPr lang="en-US" sz="2400" dirty="0"/>
          </a:p>
        </p:txBody>
      </p:sp>
      <p:pic>
        <p:nvPicPr>
          <p:cNvPr id="3" name="Image 0" descr="preencoded.png"/>
          <p:cNvPicPr>
            <a:picLocks noChangeAspect="1"/>
          </p:cNvPicPr>
          <p:nvPr/>
        </p:nvPicPr>
        <p:blipFill>
          <a:blip r:embed="rId2"/>
          <a:stretch>
            <a:fillRect/>
          </a:stretch>
        </p:blipFill>
        <p:spPr>
          <a:xfrm>
            <a:off x="457200" y="1005840"/>
            <a:ext cx="365760" cy="365760"/>
          </a:xfrm>
          <a:prstGeom prst="rect">
            <a:avLst/>
          </a:prstGeom>
        </p:spPr>
      </p:pic>
      <p:sp>
        <p:nvSpPr>
          <p:cNvPr id="4" name="Text 1"/>
          <p:cNvSpPr/>
          <p:nvPr/>
        </p:nvSpPr>
        <p:spPr>
          <a:xfrm>
            <a:off x="914400" y="1005840"/>
            <a:ext cx="7315200" cy="566928"/>
          </a:xfrm>
          <a:prstGeom prst="rect">
            <a:avLst/>
          </a:prstGeom>
          <a:noFill/>
          <a:ln/>
        </p:spPr>
        <p:txBody>
          <a:bodyPr wrap="square" lIns="0" tIns="0" rIns="0" bIns="0" rtlCol="0" anchor="ctr"/>
          <a:lstStyle/>
          <a:p>
            <a:pPr marL="0" indent="0">
              <a:buNone/>
            </a:pPr>
            <a:r>
              <a:rPr lang="en-US" sz="1100" b="1" dirty="0">
                <a:solidFill>
                  <a:srgbClr val="11121A"/>
                </a:solidFill>
                <a:latin typeface="Palatino Linotype" pitchFamily="34" charset="0"/>
                <a:ea typeface="Palatino Linotype" pitchFamily="34" charset="-122"/>
                <a:cs typeface="Palatino Linotype" pitchFamily="34" charset="-120"/>
              </a:rPr>
              <a:t>Potrivit definiției de lucru din raportul comitetului condus de Acheson, prin ce anume previne sănătatea publică boala, prelungește viața și promovează sănătatea?</a:t>
            </a:r>
            <a:endParaRPr lang="en-US" sz="1400" dirty="0"/>
          </a:p>
        </p:txBody>
      </p:sp>
      <p:sp>
        <p:nvSpPr>
          <p:cNvPr id="22" name="Shape 19"/>
          <p:cNvSpPr/>
          <p:nvPr/>
        </p:nvSpPr>
        <p:spPr>
          <a:xfrm>
            <a:off x="0" y="4709160"/>
            <a:ext cx="9144000" cy="434340"/>
          </a:xfrm>
          <a:prstGeom prst="rect">
            <a:avLst/>
          </a:prstGeom>
          <a:noFill/>
          <a:ln/>
        </p:spPr>
        <p:txBody>
          <a:bodyPr/>
          <a:lstStyle/>
          <a:p>
            <a:endParaRPr lang="ro-RO"/>
          </a:p>
        </p:txBody>
      </p:sp>
      <p:sp>
        <p:nvSpPr>
          <p:cNvPr id="23"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4"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54 / 60</a:t>
            </a:r>
            <a:endParaRPr lang="en-US" sz="800" dirty="0"/>
          </a:p>
        </p:txBody>
      </p:sp>
      <p:sp>
        <p:nvSpPr>
          <p:cNvPr id="25" name="Rectangle 24"/>
          <p:cNvSpPr/>
          <p:nvPr/>
        </p:nvSpPr>
        <p:spPr>
          <a:xfrm>
            <a:off x="457200" y="1691640"/>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1691640"/>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691640"/>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A</a:t>
            </a:r>
          </a:p>
        </p:txBody>
      </p:sp>
      <p:sp>
        <p:nvSpPr>
          <p:cNvPr id="28" name="TextBox 27"/>
          <p:cNvSpPr txBox="1"/>
          <p:nvPr/>
        </p:nvSpPr>
        <p:spPr>
          <a:xfrm>
            <a:off x="1051560" y="1691640"/>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Prin îngrijirea medicală a fiecărui pacient</a:t>
            </a:r>
          </a:p>
        </p:txBody>
      </p:sp>
      <p:sp>
        <p:nvSpPr>
          <p:cNvPr id="29" name="Rectangle 28"/>
          <p:cNvSpPr/>
          <p:nvPr/>
        </p:nvSpPr>
        <p:spPr>
          <a:xfrm>
            <a:off x="457200" y="2203704"/>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2203704"/>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203704"/>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B</a:t>
            </a:r>
          </a:p>
        </p:txBody>
      </p:sp>
      <p:sp>
        <p:nvSpPr>
          <p:cNvPr id="32" name="TextBox 31"/>
          <p:cNvSpPr txBox="1"/>
          <p:nvPr/>
        </p:nvSpPr>
        <p:spPr>
          <a:xfrm>
            <a:off x="1051560" y="2203704"/>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Prin eforturile organizate ale societății</a:t>
            </a:r>
          </a:p>
        </p:txBody>
      </p:sp>
      <p:sp>
        <p:nvSpPr>
          <p:cNvPr id="33" name="Rectangle 32"/>
          <p:cNvSpPr/>
          <p:nvPr/>
        </p:nvSpPr>
        <p:spPr>
          <a:xfrm>
            <a:off x="457200" y="2715768"/>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2715768"/>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2715768"/>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C</a:t>
            </a:r>
          </a:p>
        </p:txBody>
      </p:sp>
      <p:sp>
        <p:nvSpPr>
          <p:cNvPr id="36" name="TextBox 35"/>
          <p:cNvSpPr txBox="1"/>
          <p:nvPr/>
        </p:nvSpPr>
        <p:spPr>
          <a:xfrm>
            <a:off x="1051560" y="2715768"/>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Prin igiena sanitară și controlul epidemiilor</a:t>
            </a:r>
          </a:p>
        </p:txBody>
      </p:sp>
      <p:sp>
        <p:nvSpPr>
          <p:cNvPr id="37" name="Rectangle 36"/>
          <p:cNvSpPr/>
          <p:nvPr/>
        </p:nvSpPr>
        <p:spPr>
          <a:xfrm>
            <a:off x="457200" y="3227832"/>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3227832"/>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227832"/>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D</a:t>
            </a:r>
          </a:p>
        </p:txBody>
      </p:sp>
      <p:sp>
        <p:nvSpPr>
          <p:cNvPr id="40" name="TextBox 39"/>
          <p:cNvSpPr txBox="1"/>
          <p:nvPr/>
        </p:nvSpPr>
        <p:spPr>
          <a:xfrm>
            <a:off x="1051560" y="3227832"/>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Prin activitatea medicilor de familie</a:t>
            </a:r>
          </a:p>
        </p:txBody>
      </p:sp>
      <p:sp>
        <p:nvSpPr>
          <p:cNvPr id="41" name="Rectangle 40"/>
          <p:cNvSpPr/>
          <p:nvPr/>
        </p:nvSpPr>
        <p:spPr>
          <a:xfrm>
            <a:off x="457200" y="3739896"/>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3739896"/>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3739896"/>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E</a:t>
            </a:r>
          </a:p>
        </p:txBody>
      </p:sp>
      <p:sp>
        <p:nvSpPr>
          <p:cNvPr id="44" name="TextBox 43"/>
          <p:cNvSpPr txBox="1"/>
          <p:nvPr/>
        </p:nvSpPr>
        <p:spPr>
          <a:xfrm>
            <a:off x="1051560" y="3739896"/>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Prin plata serviciilor din asigurări</a:t>
            </a:r>
          </a:p>
        </p:txBody>
      </p:sp>
      <p:sp>
        <p:nvSpPr>
          <p:cNvPr id="45" name="TextBox 44"/>
          <p:cNvSpPr txBox="1"/>
          <p:nvPr/>
        </p:nvSpPr>
        <p:spPr>
          <a:xfrm>
            <a:off x="457200" y="4315968"/>
            <a:ext cx="8229600" cy="274320"/>
          </a:xfrm>
          <a:prstGeom prst="rect">
            <a:avLst/>
          </a:prstGeom>
          <a:noFill/>
        </p:spPr>
        <p:txBody>
          <a:bodyPr wrap="square" lIns="0" rIns="0" tIns="0" bIns="0" anchor="ctr">
            <a:spAutoFit/>
          </a:bodyPr>
          <a:lstStyle/>
          <a:p>
            <a:pPr algn="l"/>
            <a:r>
              <a:rPr sz="700" b="0" i="0">
                <a:solidFill>
                  <a:srgbClr val="585A64"/>
                </a:solidFill>
                <a:latin typeface="Palatino Linotype"/>
              </a:rPr>
              <a:t>Vot pe telefon · codul de acces este afișat de cadrul didactic</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Verificarea finală · întrebarea 2 din 5</a:t>
            </a:r>
            <a:endParaRPr lang="en-US" sz="2400" dirty="0"/>
          </a:p>
        </p:txBody>
      </p:sp>
      <p:pic>
        <p:nvPicPr>
          <p:cNvPr id="3" name="Image 0" descr="preencoded.png"/>
          <p:cNvPicPr>
            <a:picLocks noChangeAspect="1"/>
          </p:cNvPicPr>
          <p:nvPr/>
        </p:nvPicPr>
        <p:blipFill>
          <a:blip r:embed="rId2"/>
          <a:stretch>
            <a:fillRect/>
          </a:stretch>
        </p:blipFill>
        <p:spPr>
          <a:xfrm>
            <a:off x="457200" y="1005840"/>
            <a:ext cx="365760" cy="365760"/>
          </a:xfrm>
          <a:prstGeom prst="rect">
            <a:avLst/>
          </a:prstGeom>
        </p:spPr>
      </p:pic>
      <p:sp>
        <p:nvSpPr>
          <p:cNvPr id="4" name="Text 1"/>
          <p:cNvSpPr/>
          <p:nvPr/>
        </p:nvSpPr>
        <p:spPr>
          <a:xfrm>
            <a:off x="914400" y="1005840"/>
            <a:ext cx="7315200" cy="566928"/>
          </a:xfrm>
          <a:prstGeom prst="rect">
            <a:avLst/>
          </a:prstGeom>
          <a:noFill/>
          <a:ln/>
        </p:spPr>
        <p:txBody>
          <a:bodyPr wrap="square" lIns="0" tIns="0" rIns="0" bIns="0" rtlCol="0" anchor="ctr"/>
          <a:lstStyle/>
          <a:p>
            <a:pPr marL="0" indent="0">
              <a:buNone/>
            </a:pPr>
            <a:r>
              <a:rPr lang="en-US" sz="1100" b="1" dirty="0">
                <a:solidFill>
                  <a:srgbClr val="11121A"/>
                </a:solidFill>
                <a:latin typeface="Palatino Linotype" pitchFamily="34" charset="0"/>
                <a:ea typeface="Palatino Linotype" pitchFamily="34" charset="-122"/>
                <a:cs typeface="Palatino Linotype" pitchFamily="34" charset="-120"/>
              </a:rPr>
              <a:t>O persoană are lombalgie cronică de doi ani și urmează un program de exerciții și de educație pentru autogestionarea durerii. Potrivit glosarului OMS din 2021, ce ilustrează acest program?</a:t>
            </a:r>
            <a:endParaRPr lang="en-US" sz="1400" dirty="0"/>
          </a:p>
        </p:txBody>
      </p:sp>
      <p:sp>
        <p:nvSpPr>
          <p:cNvPr id="22" name="Shape 19"/>
          <p:cNvSpPr/>
          <p:nvPr/>
        </p:nvSpPr>
        <p:spPr>
          <a:xfrm>
            <a:off x="0" y="4709160"/>
            <a:ext cx="9144000" cy="434340"/>
          </a:xfrm>
          <a:prstGeom prst="rect">
            <a:avLst/>
          </a:prstGeom>
          <a:noFill/>
          <a:ln/>
        </p:spPr>
        <p:txBody>
          <a:bodyPr/>
          <a:lstStyle/>
          <a:p>
            <a:endParaRPr lang="ro-RO"/>
          </a:p>
        </p:txBody>
      </p:sp>
      <p:sp>
        <p:nvSpPr>
          <p:cNvPr id="23"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4"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55 / 60</a:t>
            </a:r>
            <a:endParaRPr lang="en-US" sz="800" dirty="0"/>
          </a:p>
        </p:txBody>
      </p:sp>
      <p:sp>
        <p:nvSpPr>
          <p:cNvPr id="25" name="Rectangle 24"/>
          <p:cNvSpPr/>
          <p:nvPr/>
        </p:nvSpPr>
        <p:spPr>
          <a:xfrm>
            <a:off x="457200" y="1691640"/>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1691640"/>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691640"/>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A</a:t>
            </a:r>
          </a:p>
        </p:txBody>
      </p:sp>
      <p:sp>
        <p:nvSpPr>
          <p:cNvPr id="28" name="TextBox 27"/>
          <p:cNvSpPr txBox="1"/>
          <p:nvPr/>
        </p:nvSpPr>
        <p:spPr>
          <a:xfrm>
            <a:off x="1051560" y="1691640"/>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Prevenția primară</a:t>
            </a:r>
          </a:p>
        </p:txBody>
      </p:sp>
      <p:sp>
        <p:nvSpPr>
          <p:cNvPr id="29" name="Rectangle 28"/>
          <p:cNvSpPr/>
          <p:nvPr/>
        </p:nvSpPr>
        <p:spPr>
          <a:xfrm>
            <a:off x="457200" y="2203704"/>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2203704"/>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203704"/>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B</a:t>
            </a:r>
          </a:p>
        </p:txBody>
      </p:sp>
      <p:sp>
        <p:nvSpPr>
          <p:cNvPr id="32" name="TextBox 31"/>
          <p:cNvSpPr txBox="1"/>
          <p:nvPr/>
        </p:nvSpPr>
        <p:spPr>
          <a:xfrm>
            <a:off x="1051560" y="2203704"/>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Prevenția secundară</a:t>
            </a:r>
          </a:p>
        </p:txBody>
      </p:sp>
      <p:sp>
        <p:nvSpPr>
          <p:cNvPr id="33" name="Rectangle 32"/>
          <p:cNvSpPr/>
          <p:nvPr/>
        </p:nvSpPr>
        <p:spPr>
          <a:xfrm>
            <a:off x="457200" y="2715768"/>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2715768"/>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2715768"/>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C</a:t>
            </a:r>
          </a:p>
        </p:txBody>
      </p:sp>
      <p:sp>
        <p:nvSpPr>
          <p:cNvPr id="36" name="TextBox 35"/>
          <p:cNvSpPr txBox="1"/>
          <p:nvPr/>
        </p:nvSpPr>
        <p:spPr>
          <a:xfrm>
            <a:off x="1051560" y="2715768"/>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Depistarea precoce prin screening</a:t>
            </a:r>
          </a:p>
        </p:txBody>
      </p:sp>
      <p:sp>
        <p:nvSpPr>
          <p:cNvPr id="37" name="Rectangle 36"/>
          <p:cNvSpPr/>
          <p:nvPr/>
        </p:nvSpPr>
        <p:spPr>
          <a:xfrm>
            <a:off x="457200" y="3227832"/>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3227832"/>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227832"/>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D</a:t>
            </a:r>
          </a:p>
        </p:txBody>
      </p:sp>
      <p:sp>
        <p:nvSpPr>
          <p:cNvPr id="40" name="TextBox 39"/>
          <p:cNvSpPr txBox="1"/>
          <p:nvPr/>
        </p:nvSpPr>
        <p:spPr>
          <a:xfrm>
            <a:off x="1051560" y="3227832"/>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Reducerea factorilor de risc comuni</a:t>
            </a:r>
          </a:p>
        </p:txBody>
      </p:sp>
      <p:sp>
        <p:nvSpPr>
          <p:cNvPr id="41" name="Rectangle 40"/>
          <p:cNvSpPr/>
          <p:nvPr/>
        </p:nvSpPr>
        <p:spPr>
          <a:xfrm>
            <a:off x="457200" y="3739896"/>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3739896"/>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3739896"/>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E</a:t>
            </a:r>
          </a:p>
        </p:txBody>
      </p:sp>
      <p:sp>
        <p:nvSpPr>
          <p:cNvPr id="44" name="TextBox 43"/>
          <p:cNvSpPr txBox="1"/>
          <p:nvPr/>
        </p:nvSpPr>
        <p:spPr>
          <a:xfrm>
            <a:off x="1051560" y="3739896"/>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Prevenția terțiară</a:t>
            </a:r>
          </a:p>
        </p:txBody>
      </p:sp>
      <p:sp>
        <p:nvSpPr>
          <p:cNvPr id="45" name="TextBox 44"/>
          <p:cNvSpPr txBox="1"/>
          <p:nvPr/>
        </p:nvSpPr>
        <p:spPr>
          <a:xfrm>
            <a:off x="457200" y="4315968"/>
            <a:ext cx="8229600" cy="274320"/>
          </a:xfrm>
          <a:prstGeom prst="rect">
            <a:avLst/>
          </a:prstGeom>
          <a:noFill/>
        </p:spPr>
        <p:txBody>
          <a:bodyPr wrap="square" lIns="0" rIns="0" tIns="0" bIns="0" anchor="ctr">
            <a:spAutoFit/>
          </a:bodyPr>
          <a:lstStyle/>
          <a:p>
            <a:pPr algn="l"/>
            <a:r>
              <a:rPr sz="700" b="0" i="0">
                <a:solidFill>
                  <a:srgbClr val="585A64"/>
                </a:solidFill>
                <a:latin typeface="Palatino Linotype"/>
              </a:rPr>
              <a:t>Vot pe telefon · codul de acces este afișat de cadrul didactic</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Verificarea finală · întrebarea 3 din 5</a:t>
            </a:r>
            <a:endParaRPr lang="en-US" sz="2400" dirty="0"/>
          </a:p>
        </p:txBody>
      </p:sp>
      <p:pic>
        <p:nvPicPr>
          <p:cNvPr id="3" name="Image 0" descr="preencoded.png"/>
          <p:cNvPicPr>
            <a:picLocks noChangeAspect="1"/>
          </p:cNvPicPr>
          <p:nvPr/>
        </p:nvPicPr>
        <p:blipFill>
          <a:blip r:embed="rId2"/>
          <a:stretch>
            <a:fillRect/>
          </a:stretch>
        </p:blipFill>
        <p:spPr>
          <a:xfrm>
            <a:off x="457200" y="1005840"/>
            <a:ext cx="365760" cy="365760"/>
          </a:xfrm>
          <a:prstGeom prst="rect">
            <a:avLst/>
          </a:prstGeom>
        </p:spPr>
      </p:pic>
      <p:sp>
        <p:nvSpPr>
          <p:cNvPr id="4" name="Text 1"/>
          <p:cNvSpPr/>
          <p:nvPr/>
        </p:nvSpPr>
        <p:spPr>
          <a:xfrm>
            <a:off x="914400" y="1005840"/>
            <a:ext cx="7315200" cy="566928"/>
          </a:xfrm>
          <a:prstGeom prst="rect">
            <a:avLst/>
          </a:prstGeom>
          <a:noFill/>
          <a:ln/>
        </p:spPr>
        <p:txBody>
          <a:bodyPr wrap="square" lIns="0" tIns="0" rIns="0" bIns="0" rtlCol="0" anchor="ctr"/>
          <a:lstStyle/>
          <a:p>
            <a:pPr marL="0" indent="0">
              <a:buNone/>
            </a:pPr>
            <a:r>
              <a:rPr lang="en-US" sz="1100" b="1" dirty="0">
                <a:solidFill>
                  <a:srgbClr val="11121A"/>
                </a:solidFill>
                <a:latin typeface="Palatino Linotype" pitchFamily="34" charset="0"/>
                <a:ea typeface="Palatino Linotype" pitchFamily="34" charset="-122"/>
                <a:cs typeface="Palatino Linotype" pitchFamily="34" charset="-120"/>
              </a:rPr>
              <a:t>Un pacient după fractură de șold poate urca zece trepte în sala de recuperare, dar blocul în care locuiește este fără lift, așa că a încetat să mai iasă din casă. În modelul CIF, lipsa liftului este:</a:t>
            </a:r>
            <a:endParaRPr lang="en-US" sz="1400" dirty="0"/>
          </a:p>
        </p:txBody>
      </p:sp>
      <p:sp>
        <p:nvSpPr>
          <p:cNvPr id="22" name="Shape 19"/>
          <p:cNvSpPr/>
          <p:nvPr/>
        </p:nvSpPr>
        <p:spPr>
          <a:xfrm>
            <a:off x="0" y="4709160"/>
            <a:ext cx="9144000" cy="434340"/>
          </a:xfrm>
          <a:prstGeom prst="rect">
            <a:avLst/>
          </a:prstGeom>
          <a:noFill/>
          <a:ln/>
        </p:spPr>
        <p:txBody>
          <a:bodyPr/>
          <a:lstStyle/>
          <a:p>
            <a:endParaRPr lang="ro-RO"/>
          </a:p>
        </p:txBody>
      </p:sp>
      <p:sp>
        <p:nvSpPr>
          <p:cNvPr id="23"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4"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56 / 60</a:t>
            </a:r>
            <a:endParaRPr lang="en-US" sz="800" dirty="0"/>
          </a:p>
        </p:txBody>
      </p:sp>
      <p:sp>
        <p:nvSpPr>
          <p:cNvPr id="25" name="Rectangle 24"/>
          <p:cNvSpPr/>
          <p:nvPr/>
        </p:nvSpPr>
        <p:spPr>
          <a:xfrm>
            <a:off x="457200" y="1691640"/>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1691640"/>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691640"/>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A</a:t>
            </a:r>
          </a:p>
        </p:txBody>
      </p:sp>
      <p:sp>
        <p:nvSpPr>
          <p:cNvPr id="28" name="TextBox 27"/>
          <p:cNvSpPr txBox="1"/>
          <p:nvPr/>
        </p:nvSpPr>
        <p:spPr>
          <a:xfrm>
            <a:off x="1051560" y="1691640"/>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o deficiență a structurilor corpului pacientului</a:t>
            </a:r>
          </a:p>
        </p:txBody>
      </p:sp>
      <p:sp>
        <p:nvSpPr>
          <p:cNvPr id="29" name="Rectangle 28"/>
          <p:cNvSpPr/>
          <p:nvPr/>
        </p:nvSpPr>
        <p:spPr>
          <a:xfrm>
            <a:off x="457200" y="2203704"/>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2203704"/>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203704"/>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B</a:t>
            </a:r>
          </a:p>
        </p:txBody>
      </p:sp>
      <p:sp>
        <p:nvSpPr>
          <p:cNvPr id="32" name="TextBox 31"/>
          <p:cNvSpPr txBox="1"/>
          <p:nvPr/>
        </p:nvSpPr>
        <p:spPr>
          <a:xfrm>
            <a:off x="1051560" y="2203704"/>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o limitare de activitate</a:t>
            </a:r>
          </a:p>
        </p:txBody>
      </p:sp>
      <p:sp>
        <p:nvSpPr>
          <p:cNvPr id="33" name="Rectangle 32"/>
          <p:cNvSpPr/>
          <p:nvPr/>
        </p:nvSpPr>
        <p:spPr>
          <a:xfrm>
            <a:off x="457200" y="2715768"/>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2715768"/>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2715768"/>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C</a:t>
            </a:r>
          </a:p>
        </p:txBody>
      </p:sp>
      <p:sp>
        <p:nvSpPr>
          <p:cNvPr id="36" name="TextBox 35"/>
          <p:cNvSpPr txBox="1"/>
          <p:nvPr/>
        </p:nvSpPr>
        <p:spPr>
          <a:xfrm>
            <a:off x="1051560" y="2715768"/>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un factor de mediu, cu rol de barieră</a:t>
            </a:r>
          </a:p>
        </p:txBody>
      </p:sp>
      <p:sp>
        <p:nvSpPr>
          <p:cNvPr id="37" name="Rectangle 36"/>
          <p:cNvSpPr/>
          <p:nvPr/>
        </p:nvSpPr>
        <p:spPr>
          <a:xfrm>
            <a:off x="457200" y="3227832"/>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3227832"/>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227832"/>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D</a:t>
            </a:r>
          </a:p>
        </p:txBody>
      </p:sp>
      <p:sp>
        <p:nvSpPr>
          <p:cNvPr id="40" name="TextBox 39"/>
          <p:cNvSpPr txBox="1"/>
          <p:nvPr/>
        </p:nvSpPr>
        <p:spPr>
          <a:xfrm>
            <a:off x="1051560" y="3227832"/>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un factor personal al pacientului</a:t>
            </a:r>
          </a:p>
        </p:txBody>
      </p:sp>
      <p:sp>
        <p:nvSpPr>
          <p:cNvPr id="41" name="Rectangle 40"/>
          <p:cNvSpPr/>
          <p:nvPr/>
        </p:nvSpPr>
        <p:spPr>
          <a:xfrm>
            <a:off x="457200" y="3739896"/>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3739896"/>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3739896"/>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E</a:t>
            </a:r>
          </a:p>
        </p:txBody>
      </p:sp>
      <p:sp>
        <p:nvSpPr>
          <p:cNvPr id="44" name="TextBox 43"/>
          <p:cNvSpPr txBox="1"/>
          <p:nvPr/>
        </p:nvSpPr>
        <p:spPr>
          <a:xfrm>
            <a:off x="1051560" y="3739896"/>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o restricție de participare</a:t>
            </a:r>
          </a:p>
        </p:txBody>
      </p:sp>
      <p:sp>
        <p:nvSpPr>
          <p:cNvPr id="45" name="TextBox 44"/>
          <p:cNvSpPr txBox="1"/>
          <p:nvPr/>
        </p:nvSpPr>
        <p:spPr>
          <a:xfrm>
            <a:off x="457200" y="4315968"/>
            <a:ext cx="8229600" cy="274320"/>
          </a:xfrm>
          <a:prstGeom prst="rect">
            <a:avLst/>
          </a:prstGeom>
          <a:noFill/>
        </p:spPr>
        <p:txBody>
          <a:bodyPr wrap="square" lIns="0" rIns="0" tIns="0" bIns="0" anchor="ctr">
            <a:spAutoFit/>
          </a:bodyPr>
          <a:lstStyle/>
          <a:p>
            <a:pPr algn="l"/>
            <a:r>
              <a:rPr sz="700" b="0" i="0">
                <a:solidFill>
                  <a:srgbClr val="585A64"/>
                </a:solidFill>
                <a:latin typeface="Palatino Linotype"/>
              </a:rPr>
              <a:t>Vot pe telefon · codul de acces este afișat de cadrul didactic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Verificarea finală · întrebarea 4 din 5</a:t>
            </a:r>
            <a:endParaRPr lang="en-US" sz="2400" dirty="0"/>
          </a:p>
        </p:txBody>
      </p:sp>
      <p:pic>
        <p:nvPicPr>
          <p:cNvPr id="3" name="Image 0" descr="preencoded.png"/>
          <p:cNvPicPr>
            <a:picLocks noChangeAspect="1"/>
          </p:cNvPicPr>
          <p:nvPr/>
        </p:nvPicPr>
        <p:blipFill>
          <a:blip r:embed="rId2"/>
          <a:stretch>
            <a:fillRect/>
          </a:stretch>
        </p:blipFill>
        <p:spPr>
          <a:xfrm>
            <a:off x="457200" y="1005840"/>
            <a:ext cx="365760" cy="365760"/>
          </a:xfrm>
          <a:prstGeom prst="rect">
            <a:avLst/>
          </a:prstGeom>
        </p:spPr>
      </p:pic>
      <p:sp>
        <p:nvSpPr>
          <p:cNvPr id="4" name="Text 1"/>
          <p:cNvSpPr/>
          <p:nvPr/>
        </p:nvSpPr>
        <p:spPr>
          <a:xfrm>
            <a:off x="914400" y="1005840"/>
            <a:ext cx="7315200" cy="566928"/>
          </a:xfrm>
          <a:prstGeom prst="rect">
            <a:avLst/>
          </a:prstGeom>
          <a:noFill/>
          <a:ln/>
        </p:spPr>
        <p:txBody>
          <a:bodyPr wrap="square" lIns="0" tIns="0" rIns="0" bIns="0" rtlCol="0" anchor="ctr"/>
          <a:lstStyle/>
          <a:p>
            <a:pPr marL="0" indent="0">
              <a:buNone/>
            </a:pPr>
            <a:r>
              <a:rPr lang="en-US" sz="1100" b="1" dirty="0">
                <a:solidFill>
                  <a:srgbClr val="11121A"/>
                </a:solidFill>
                <a:latin typeface="Palatino Linotype" pitchFamily="34" charset="0"/>
                <a:ea typeface="Palatino Linotype" pitchFamily="34" charset="-122"/>
                <a:cs typeface="Palatino Linotype" pitchFamily="34" charset="-120"/>
              </a:rPr>
              <a:t>Un serviciu de recuperare vrea să estimeze de câți fizioterapeuți va avea nevoie pentru persoanele care trăiesc în prezent cu lombalgie cronică în zona pe care o deservește. Ce indicator răspunde direct la această întrebare?</a:t>
            </a:r>
            <a:endParaRPr lang="en-US" sz="1400" dirty="0"/>
          </a:p>
        </p:txBody>
      </p:sp>
      <p:sp>
        <p:nvSpPr>
          <p:cNvPr id="22" name="Shape 19"/>
          <p:cNvSpPr/>
          <p:nvPr/>
        </p:nvSpPr>
        <p:spPr>
          <a:xfrm>
            <a:off x="0" y="4709160"/>
            <a:ext cx="9144000" cy="434340"/>
          </a:xfrm>
          <a:prstGeom prst="rect">
            <a:avLst/>
          </a:prstGeom>
          <a:noFill/>
          <a:ln/>
        </p:spPr>
        <p:txBody>
          <a:bodyPr/>
          <a:lstStyle/>
          <a:p>
            <a:endParaRPr lang="ro-RO"/>
          </a:p>
        </p:txBody>
      </p:sp>
      <p:sp>
        <p:nvSpPr>
          <p:cNvPr id="23"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4"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57 / 60</a:t>
            </a:r>
            <a:endParaRPr lang="en-US" sz="800" dirty="0"/>
          </a:p>
        </p:txBody>
      </p:sp>
      <p:sp>
        <p:nvSpPr>
          <p:cNvPr id="25" name="Rectangle 24"/>
          <p:cNvSpPr/>
          <p:nvPr/>
        </p:nvSpPr>
        <p:spPr>
          <a:xfrm>
            <a:off x="457200" y="1691640"/>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1691640"/>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691640"/>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A</a:t>
            </a:r>
          </a:p>
        </p:txBody>
      </p:sp>
      <p:sp>
        <p:nvSpPr>
          <p:cNvPr id="28" name="TextBox 27"/>
          <p:cNvSpPr txBox="1"/>
          <p:nvPr/>
        </p:nvSpPr>
        <p:spPr>
          <a:xfrm>
            <a:off x="1051560" y="1691640"/>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Prevalența lombalgiei cronice</a:t>
            </a:r>
          </a:p>
        </p:txBody>
      </p:sp>
      <p:sp>
        <p:nvSpPr>
          <p:cNvPr id="29" name="Rectangle 28"/>
          <p:cNvSpPr/>
          <p:nvPr/>
        </p:nvSpPr>
        <p:spPr>
          <a:xfrm>
            <a:off x="457200" y="2203704"/>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2203704"/>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203704"/>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B</a:t>
            </a:r>
          </a:p>
        </p:txBody>
      </p:sp>
      <p:sp>
        <p:nvSpPr>
          <p:cNvPr id="32" name="TextBox 31"/>
          <p:cNvSpPr txBox="1"/>
          <p:nvPr/>
        </p:nvSpPr>
        <p:spPr>
          <a:xfrm>
            <a:off x="1051560" y="2203704"/>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Incidența lombalgiei cronice</a:t>
            </a:r>
          </a:p>
        </p:txBody>
      </p:sp>
      <p:sp>
        <p:nvSpPr>
          <p:cNvPr id="33" name="Rectangle 32"/>
          <p:cNvSpPr/>
          <p:nvPr/>
        </p:nvSpPr>
        <p:spPr>
          <a:xfrm>
            <a:off x="457200" y="2715768"/>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2715768"/>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2715768"/>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C</a:t>
            </a:r>
          </a:p>
        </p:txBody>
      </p:sp>
      <p:sp>
        <p:nvSpPr>
          <p:cNvPr id="36" name="TextBox 35"/>
          <p:cNvSpPr txBox="1"/>
          <p:nvPr/>
        </p:nvSpPr>
        <p:spPr>
          <a:xfrm>
            <a:off x="1051560" y="2715768"/>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Anii de viață pierduți prin deces</a:t>
            </a:r>
          </a:p>
        </p:txBody>
      </p:sp>
      <p:sp>
        <p:nvSpPr>
          <p:cNvPr id="37" name="Rectangle 36"/>
          <p:cNvSpPr/>
          <p:nvPr/>
        </p:nvSpPr>
        <p:spPr>
          <a:xfrm>
            <a:off x="457200" y="3227832"/>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3227832"/>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227832"/>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D</a:t>
            </a:r>
          </a:p>
        </p:txBody>
      </p:sp>
      <p:sp>
        <p:nvSpPr>
          <p:cNvPr id="40" name="TextBox 39"/>
          <p:cNvSpPr txBox="1"/>
          <p:nvPr/>
        </p:nvSpPr>
        <p:spPr>
          <a:xfrm>
            <a:off x="1051560" y="3227832"/>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Speranța de viață la naștere</a:t>
            </a:r>
          </a:p>
        </p:txBody>
      </p:sp>
      <p:sp>
        <p:nvSpPr>
          <p:cNvPr id="41" name="Rectangle 40"/>
          <p:cNvSpPr/>
          <p:nvPr/>
        </p:nvSpPr>
        <p:spPr>
          <a:xfrm>
            <a:off x="457200" y="3739896"/>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3739896"/>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3739896"/>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E</a:t>
            </a:r>
          </a:p>
        </p:txBody>
      </p:sp>
      <p:sp>
        <p:nvSpPr>
          <p:cNvPr id="44" name="TextBox 43"/>
          <p:cNvSpPr txBox="1"/>
          <p:nvPr/>
        </p:nvSpPr>
        <p:spPr>
          <a:xfrm>
            <a:off x="1051560" y="3739896"/>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Rata mortalității generale</a:t>
            </a:r>
          </a:p>
        </p:txBody>
      </p:sp>
      <p:sp>
        <p:nvSpPr>
          <p:cNvPr id="45" name="TextBox 44"/>
          <p:cNvSpPr txBox="1"/>
          <p:nvPr/>
        </p:nvSpPr>
        <p:spPr>
          <a:xfrm>
            <a:off x="457200" y="4315968"/>
            <a:ext cx="8229600" cy="274320"/>
          </a:xfrm>
          <a:prstGeom prst="rect">
            <a:avLst/>
          </a:prstGeom>
          <a:noFill/>
        </p:spPr>
        <p:txBody>
          <a:bodyPr wrap="square" lIns="0" rIns="0" tIns="0" bIns="0" anchor="ctr">
            <a:spAutoFit/>
          </a:bodyPr>
          <a:lstStyle/>
          <a:p>
            <a:pPr algn="l"/>
            <a:r>
              <a:rPr sz="700" b="0" i="0">
                <a:solidFill>
                  <a:srgbClr val="585A64"/>
                </a:solidFill>
                <a:latin typeface="Palatino Linotype"/>
              </a:rPr>
              <a:t>Vot pe telefon · codul de acces este afișat de cadrul didactic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11121A"/>
                </a:solidFill>
                <a:latin typeface="Palatino Linotype" pitchFamily="34" charset="0"/>
                <a:ea typeface="Palatino Linotype" pitchFamily="34" charset="-122"/>
                <a:cs typeface="Palatino Linotype" pitchFamily="34" charset="-120"/>
              </a:rPr>
              <a:t>Verificarea finală · întrebarea 5 din 5</a:t>
            </a:r>
            <a:endParaRPr lang="en-US" sz="2400" dirty="0"/>
          </a:p>
        </p:txBody>
      </p:sp>
      <p:pic>
        <p:nvPicPr>
          <p:cNvPr id="3" name="Image 0" descr="preencoded.png"/>
          <p:cNvPicPr>
            <a:picLocks noChangeAspect="1"/>
          </p:cNvPicPr>
          <p:nvPr/>
        </p:nvPicPr>
        <p:blipFill>
          <a:blip r:embed="rId2"/>
          <a:stretch>
            <a:fillRect/>
          </a:stretch>
        </p:blipFill>
        <p:spPr>
          <a:xfrm>
            <a:off x="457200" y="1005840"/>
            <a:ext cx="365760" cy="365760"/>
          </a:xfrm>
          <a:prstGeom prst="rect">
            <a:avLst/>
          </a:prstGeom>
        </p:spPr>
      </p:pic>
      <p:sp>
        <p:nvSpPr>
          <p:cNvPr id="4" name="Text 1"/>
          <p:cNvSpPr/>
          <p:nvPr/>
        </p:nvSpPr>
        <p:spPr>
          <a:xfrm>
            <a:off x="914400" y="1005840"/>
            <a:ext cx="7315200" cy="566928"/>
          </a:xfrm>
          <a:prstGeom prst="rect">
            <a:avLst/>
          </a:prstGeom>
          <a:noFill/>
          <a:ln/>
        </p:spPr>
        <p:txBody>
          <a:bodyPr wrap="square" lIns="0" tIns="0" rIns="0" bIns="0" rtlCol="0" anchor="ctr"/>
          <a:lstStyle/>
          <a:p>
            <a:pPr marL="0" indent="0">
              <a:buNone/>
            </a:pPr>
            <a:r>
              <a:rPr lang="en-US" sz="1100" b="1" dirty="0">
                <a:solidFill>
                  <a:srgbClr val="11121A"/>
                </a:solidFill>
                <a:latin typeface="Palatino Linotype" pitchFamily="34" charset="0"/>
                <a:ea typeface="Palatino Linotype" pitchFamily="34" charset="-122"/>
                <a:cs typeface="Palatino Linotype" pitchFamily="34" charset="-120"/>
              </a:rPr>
              <a:t>Valori ipotetice. Într-un an, o afecțiune produce 20 de decese la o vârstă la care speranța de viață standard este de încă 15 ani, iar 200 de persoane trăiesc cu ea, cu o pondere de dizabilitate de 0,2. Câți ani de viață ajustați pentru dizabilitate (DALY) produce afecțiunea?</a:t>
            </a:r>
            <a:endParaRPr lang="en-US" sz="1400" dirty="0"/>
          </a:p>
        </p:txBody>
      </p:sp>
      <p:sp>
        <p:nvSpPr>
          <p:cNvPr id="22" name="Shape 19"/>
          <p:cNvSpPr/>
          <p:nvPr/>
        </p:nvSpPr>
        <p:spPr>
          <a:xfrm>
            <a:off x="0" y="4709160"/>
            <a:ext cx="9144000" cy="434340"/>
          </a:xfrm>
          <a:prstGeom prst="rect">
            <a:avLst/>
          </a:prstGeom>
          <a:noFill/>
          <a:ln/>
        </p:spPr>
        <p:txBody>
          <a:bodyPr/>
          <a:lstStyle/>
          <a:p>
            <a:endParaRPr lang="ro-RO"/>
          </a:p>
        </p:txBody>
      </p:sp>
      <p:sp>
        <p:nvSpPr>
          <p:cNvPr id="23" name="Text 20"/>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4" name="Text 21"/>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58 / 60</a:t>
            </a:r>
            <a:endParaRPr lang="en-US" sz="800" dirty="0"/>
          </a:p>
        </p:txBody>
      </p:sp>
      <p:sp>
        <p:nvSpPr>
          <p:cNvPr id="25" name="Rectangle 24"/>
          <p:cNvSpPr/>
          <p:nvPr/>
        </p:nvSpPr>
        <p:spPr>
          <a:xfrm>
            <a:off x="457200" y="1691640"/>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1691640"/>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691640"/>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A</a:t>
            </a:r>
          </a:p>
        </p:txBody>
      </p:sp>
      <p:sp>
        <p:nvSpPr>
          <p:cNvPr id="28" name="TextBox 27"/>
          <p:cNvSpPr txBox="1"/>
          <p:nvPr/>
        </p:nvSpPr>
        <p:spPr>
          <a:xfrm>
            <a:off x="1051560" y="1691640"/>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40</a:t>
            </a:r>
          </a:p>
        </p:txBody>
      </p:sp>
      <p:sp>
        <p:nvSpPr>
          <p:cNvPr id="29" name="Rectangle 28"/>
          <p:cNvSpPr/>
          <p:nvPr/>
        </p:nvSpPr>
        <p:spPr>
          <a:xfrm>
            <a:off x="457200" y="2203704"/>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2203704"/>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203704"/>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B</a:t>
            </a:r>
          </a:p>
        </p:txBody>
      </p:sp>
      <p:sp>
        <p:nvSpPr>
          <p:cNvPr id="32" name="TextBox 31"/>
          <p:cNvSpPr txBox="1"/>
          <p:nvPr/>
        </p:nvSpPr>
        <p:spPr>
          <a:xfrm>
            <a:off x="1051560" y="2203704"/>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300</a:t>
            </a:r>
          </a:p>
        </p:txBody>
      </p:sp>
      <p:sp>
        <p:nvSpPr>
          <p:cNvPr id="33" name="Rectangle 32"/>
          <p:cNvSpPr/>
          <p:nvPr/>
        </p:nvSpPr>
        <p:spPr>
          <a:xfrm>
            <a:off x="457200" y="2715768"/>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2715768"/>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2715768"/>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C</a:t>
            </a:r>
          </a:p>
        </p:txBody>
      </p:sp>
      <p:sp>
        <p:nvSpPr>
          <p:cNvPr id="36" name="TextBox 35"/>
          <p:cNvSpPr txBox="1"/>
          <p:nvPr/>
        </p:nvSpPr>
        <p:spPr>
          <a:xfrm>
            <a:off x="1051560" y="2715768"/>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60</a:t>
            </a:r>
          </a:p>
        </p:txBody>
      </p:sp>
      <p:sp>
        <p:nvSpPr>
          <p:cNvPr id="37" name="Rectangle 36"/>
          <p:cNvSpPr/>
          <p:nvPr/>
        </p:nvSpPr>
        <p:spPr>
          <a:xfrm>
            <a:off x="457200" y="3227832"/>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7200" y="3227832"/>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227832"/>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D</a:t>
            </a:r>
          </a:p>
        </p:txBody>
      </p:sp>
      <p:sp>
        <p:nvSpPr>
          <p:cNvPr id="40" name="TextBox 39"/>
          <p:cNvSpPr txBox="1"/>
          <p:nvPr/>
        </p:nvSpPr>
        <p:spPr>
          <a:xfrm>
            <a:off x="1051560" y="3227832"/>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340</a:t>
            </a:r>
          </a:p>
        </p:txBody>
      </p:sp>
      <p:sp>
        <p:nvSpPr>
          <p:cNvPr id="41" name="Rectangle 40"/>
          <p:cNvSpPr/>
          <p:nvPr/>
        </p:nvSpPr>
        <p:spPr>
          <a:xfrm>
            <a:off x="457200" y="3739896"/>
            <a:ext cx="8229600" cy="438912"/>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3739896"/>
            <a:ext cx="457200" cy="43891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3739896"/>
            <a:ext cx="457200" cy="438912"/>
          </a:xfrm>
          <a:prstGeom prst="rect">
            <a:avLst/>
          </a:prstGeom>
          <a:noFill/>
        </p:spPr>
        <p:txBody>
          <a:bodyPr wrap="square" lIns="0" rIns="0" tIns="0" bIns="0" anchor="ctr">
            <a:spAutoFit/>
          </a:bodyPr>
          <a:lstStyle/>
          <a:p>
            <a:pPr algn="ctr"/>
            <a:r>
              <a:rPr sz="1400" b="1" i="0">
                <a:solidFill>
                  <a:srgbClr val="FFFFFF"/>
                </a:solidFill>
                <a:latin typeface="Palatino Linotype"/>
              </a:rPr>
              <a:t>E</a:t>
            </a:r>
          </a:p>
        </p:txBody>
      </p:sp>
      <p:sp>
        <p:nvSpPr>
          <p:cNvPr id="44" name="TextBox 43"/>
          <p:cNvSpPr txBox="1"/>
          <p:nvPr/>
        </p:nvSpPr>
        <p:spPr>
          <a:xfrm>
            <a:off x="1051560" y="3739896"/>
            <a:ext cx="7498079" cy="438912"/>
          </a:xfrm>
          <a:prstGeom prst="rect">
            <a:avLst/>
          </a:prstGeom>
          <a:noFill/>
        </p:spPr>
        <p:txBody>
          <a:bodyPr wrap="square" lIns="0" rIns="0" tIns="0" bIns="0" anchor="ctr">
            <a:spAutoFit/>
          </a:bodyPr>
          <a:lstStyle/>
          <a:p>
            <a:pPr algn="l"/>
            <a:r>
              <a:rPr sz="1150" b="0" i="0">
                <a:solidFill>
                  <a:srgbClr val="11121A"/>
                </a:solidFill>
                <a:latin typeface="Palatino Linotype"/>
              </a:rPr>
              <a:t>3 000</a:t>
            </a:r>
          </a:p>
        </p:txBody>
      </p:sp>
      <p:sp>
        <p:nvSpPr>
          <p:cNvPr id="45" name="TextBox 44"/>
          <p:cNvSpPr txBox="1"/>
          <p:nvPr/>
        </p:nvSpPr>
        <p:spPr>
          <a:xfrm>
            <a:off x="457200" y="4315968"/>
            <a:ext cx="8229600" cy="274320"/>
          </a:xfrm>
          <a:prstGeom prst="rect">
            <a:avLst/>
          </a:prstGeom>
          <a:noFill/>
        </p:spPr>
        <p:txBody>
          <a:bodyPr wrap="square" lIns="0" rIns="0" tIns="0" bIns="0" anchor="ctr">
            <a:spAutoFit/>
          </a:bodyPr>
          <a:lstStyle/>
          <a:p>
            <a:pPr algn="l"/>
            <a:r>
              <a:rPr sz="700" b="0" i="0">
                <a:solidFill>
                  <a:srgbClr val="585A64"/>
                </a:solidFill>
                <a:latin typeface="Palatino Linotype"/>
              </a:rPr>
              <a:t>Vot pe telefon · codul de acces este afișat de cadrul didactic</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41" name="Shape 37"/>
          <p:cNvSpPr/>
          <p:nvPr/>
        </p:nvSpPr>
        <p:spPr>
          <a:xfrm>
            <a:off x="0" y="4709160"/>
            <a:ext cx="9144000" cy="434340"/>
          </a:xfrm>
          <a:prstGeom prst="rect">
            <a:avLst/>
          </a:prstGeom>
          <a:noFill/>
          <a:ln/>
        </p:spPr>
        <p:txBody>
          <a:bodyPr/>
          <a:lstStyle/>
          <a:p>
            <a:endParaRPr lang="ro-RO"/>
          </a:p>
        </p:txBody>
      </p:sp>
      <p:sp>
        <p:nvSpPr>
          <p:cNvPr id="42" name="Text 38"/>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59 / 60</a:t>
            </a:r>
            <a:endParaRPr lang="en-US" sz="800" dirty="0"/>
          </a:p>
        </p:txBody>
      </p:sp>
      <p:sp>
        <p:nvSpPr>
          <p:cNvPr id="44" name="TextBox 43"/>
          <p:cNvSpPr txBox="1"/>
          <p:nvPr/>
        </p:nvSpPr>
        <p:spPr>
          <a:xfrm>
            <a:off x="457200" y="228600"/>
            <a:ext cx="8229600" cy="640080"/>
          </a:xfrm>
          <a:prstGeom prst="rect">
            <a:avLst/>
          </a:prstGeom>
          <a:noFill/>
        </p:spPr>
        <p:txBody>
          <a:bodyPr wrap="square" lIns="0" rIns="0" tIns="0" bIns="0" anchor="ctr">
            <a:spAutoFit/>
          </a:bodyPr>
          <a:lstStyle/>
          <a:p>
            <a:pPr algn="l"/>
            <a:r>
              <a:rPr sz="2400" b="1" i="0">
                <a:solidFill>
                  <a:srgbClr val="11121A"/>
                </a:solidFill>
                <a:latin typeface="Palatino Linotype"/>
              </a:rPr>
              <a:t>Verificarea finală: răspunsurile</a:t>
            </a:r>
          </a:p>
        </p:txBody>
      </p:sp>
      <p:sp>
        <p:nvSpPr>
          <p:cNvPr id="45" name="Rectangle 44"/>
          <p:cNvSpPr/>
          <p:nvPr/>
        </p:nvSpPr>
        <p:spPr>
          <a:xfrm>
            <a:off x="457200" y="896112"/>
            <a:ext cx="8229600" cy="585216"/>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896112"/>
            <a:ext cx="54864" cy="585216"/>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969264"/>
            <a:ext cx="7955279" cy="457200"/>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1. Răspunsul B: </a:t>
            </a:r>
            <a:r>
              <a:rPr sz="1000" b="1" i="0">
                <a:solidFill>
                  <a:srgbClr val="0E7C6B"/>
                </a:solidFill>
                <a:latin typeface="Palatino Linotype"/>
              </a:rPr>
              <a:t>Prin eforturile organizate ale societății</a:t>
            </a:r>
          </a:p>
          <a:p>
            <a:pPr algn="l">
              <a:spcAft>
                <a:spcPts val="300"/>
              </a:spcAft>
            </a:pPr>
            <a:r>
              <a:rPr sz="850" b="0" i="0">
                <a:solidFill>
                  <a:srgbClr val="585A64"/>
                </a:solidFill>
                <a:latin typeface="Palatino Linotype"/>
              </a:rPr>
              <a:t>Definiția de lucru din raportul din 1988 este: știința și arta de a preveni boala, de a prelungi viața și de a promova sănătatea prin eforturile organizate ale societății.</a:t>
            </a:r>
          </a:p>
        </p:txBody>
      </p:sp>
      <p:sp>
        <p:nvSpPr>
          <p:cNvPr id="48" name="Rectangle 47"/>
          <p:cNvSpPr/>
          <p:nvPr/>
        </p:nvSpPr>
        <p:spPr>
          <a:xfrm>
            <a:off x="457200" y="1554480"/>
            <a:ext cx="8229600" cy="585216"/>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7200" y="1554480"/>
            <a:ext cx="54864" cy="585216"/>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1627632"/>
            <a:ext cx="7955279" cy="457200"/>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2. Răspunsul E: </a:t>
            </a:r>
            <a:r>
              <a:rPr sz="1000" b="1" i="0">
                <a:solidFill>
                  <a:srgbClr val="0E7C6B"/>
                </a:solidFill>
                <a:latin typeface="Palatino Linotype"/>
              </a:rPr>
              <a:t>Prevenția terțiară</a:t>
            </a:r>
          </a:p>
          <a:p>
            <a:pPr algn="l">
              <a:spcAft>
                <a:spcPts val="300"/>
              </a:spcAft>
            </a:pPr>
            <a:r>
              <a:rPr sz="850" b="0" i="0">
                <a:solidFill>
                  <a:srgbClr val="585A64"/>
                </a:solidFill>
                <a:latin typeface="Palatino Linotype"/>
              </a:rPr>
              <a:t>Glosarul OMS din 2021 include în prevenția terțiară managementul bolii și recuperarea, de exemplu educația pacientului și fizioterapia, pentru o boală deja instalată.</a:t>
            </a:r>
          </a:p>
        </p:txBody>
      </p:sp>
      <p:sp>
        <p:nvSpPr>
          <p:cNvPr id="51" name="Rectangle 50"/>
          <p:cNvSpPr/>
          <p:nvPr/>
        </p:nvSpPr>
        <p:spPr>
          <a:xfrm>
            <a:off x="457200" y="2212848"/>
            <a:ext cx="8229600" cy="585216"/>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2212848"/>
            <a:ext cx="54864" cy="585216"/>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2286000"/>
            <a:ext cx="7955279" cy="457200"/>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3. Răspunsul C: </a:t>
            </a:r>
            <a:r>
              <a:rPr sz="1000" b="1" i="0">
                <a:solidFill>
                  <a:srgbClr val="0E7C6B"/>
                </a:solidFill>
                <a:latin typeface="Palatino Linotype"/>
              </a:rPr>
              <a:t>un factor de mediu, cu rol de barieră</a:t>
            </a:r>
          </a:p>
          <a:p>
            <a:pPr algn="l">
              <a:spcAft>
                <a:spcPts val="300"/>
              </a:spcAft>
            </a:pPr>
            <a:r>
              <a:rPr sz="850" b="0" i="0">
                <a:solidFill>
                  <a:srgbClr val="585A64"/>
                </a:solidFill>
                <a:latin typeface="Palatino Linotype"/>
              </a:rPr>
              <a:t>Factorii de mediu cuprind mediul fizic, inclusiv caracteristicile arhitecturale; aici mediul acționează ca barieră, pentru că performanța pacientului acasă este mai slabă decât capacitatea lui din sală.</a:t>
            </a:r>
          </a:p>
        </p:txBody>
      </p:sp>
      <p:sp>
        <p:nvSpPr>
          <p:cNvPr id="54" name="Rectangle 53"/>
          <p:cNvSpPr/>
          <p:nvPr/>
        </p:nvSpPr>
        <p:spPr>
          <a:xfrm>
            <a:off x="457200" y="2871216"/>
            <a:ext cx="8229600" cy="585216"/>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2871216"/>
            <a:ext cx="54864" cy="585216"/>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 y="2944368"/>
            <a:ext cx="7955279" cy="457200"/>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4. Răspunsul A: </a:t>
            </a:r>
            <a:r>
              <a:rPr sz="1000" b="1" i="0">
                <a:solidFill>
                  <a:srgbClr val="0E7C6B"/>
                </a:solidFill>
                <a:latin typeface="Palatino Linotype"/>
              </a:rPr>
              <a:t>Prevalența lombalgiei cronice</a:t>
            </a:r>
          </a:p>
          <a:p>
            <a:pPr algn="l">
              <a:spcAft>
                <a:spcPts val="300"/>
              </a:spcAft>
            </a:pPr>
            <a:r>
              <a:rPr sz="850" b="0" i="0">
                <a:solidFill>
                  <a:srgbClr val="585A64"/>
                </a:solidFill>
                <a:latin typeface="Palatino Linotype"/>
              </a:rPr>
              <a:t>Prevalența arată câte persoane au afecțiunea acum; de ea depind numărul de fizioterapeuți, de paturi și de ședințe de care are nevoie populația.</a:t>
            </a:r>
          </a:p>
        </p:txBody>
      </p:sp>
      <p:sp>
        <p:nvSpPr>
          <p:cNvPr id="57" name="Rectangle 56"/>
          <p:cNvSpPr/>
          <p:nvPr/>
        </p:nvSpPr>
        <p:spPr>
          <a:xfrm>
            <a:off x="457200" y="3529584"/>
            <a:ext cx="8229600" cy="585216"/>
          </a:xfrm>
          <a:prstGeom prst="rect">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3529584"/>
            <a:ext cx="54864" cy="585216"/>
          </a:xfrm>
          <a:prstGeom prst="rect">
            <a:avLst/>
          </a:prstGeom>
          <a:solidFill>
            <a:srgbClr val="FF4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3602736"/>
            <a:ext cx="7955279" cy="457200"/>
          </a:xfrm>
          <a:prstGeom prst="rect">
            <a:avLst/>
          </a:prstGeom>
          <a:noFill/>
        </p:spPr>
        <p:txBody>
          <a:bodyPr wrap="square" lIns="0" rIns="0" tIns="0" bIns="0" anchor="t">
            <a:spAutoFit/>
          </a:bodyPr>
          <a:lstStyle/>
          <a:p>
            <a:pPr algn="l">
              <a:spcAft>
                <a:spcPts val="300"/>
              </a:spcAft>
            </a:pPr>
            <a:r>
              <a:rPr sz="1000" b="1" i="0">
                <a:solidFill>
                  <a:srgbClr val="11121A"/>
                </a:solidFill>
                <a:latin typeface="Palatino Linotype"/>
              </a:rPr>
              <a:t>5. Răspunsul D: </a:t>
            </a:r>
            <a:r>
              <a:rPr sz="1000" b="1" i="0">
                <a:solidFill>
                  <a:srgbClr val="0E7C6B"/>
                </a:solidFill>
                <a:latin typeface="Palatino Linotype"/>
              </a:rPr>
              <a:t>340</a:t>
            </a:r>
          </a:p>
          <a:p>
            <a:pPr algn="l">
              <a:spcAft>
                <a:spcPts val="300"/>
              </a:spcAft>
            </a:pPr>
            <a:r>
              <a:rPr sz="850" b="0" i="0">
                <a:solidFill>
                  <a:srgbClr val="585A64"/>
                </a:solidFill>
                <a:latin typeface="Palatino Linotype"/>
              </a:rPr>
              <a:t>Anii de viață pierduți sunt 20 × 15 = 300, anii trăiți cu dizabilitate sunt 200 × 0,2 = 40, iar DALY = 300 + 40 = 340.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1121A"/>
        </a:solidFill>
        <a:effectLst/>
      </p:bgPr>
    </p:bg>
    <p:spTree>
      <p:nvGrpSpPr>
        <p:cNvPr id="1" name=""/>
        <p:cNvGrpSpPr/>
        <p:nvPr/>
      </p:nvGrpSpPr>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Palatino Linotype" pitchFamily="34" charset="0"/>
                <a:ea typeface="Palatino Linotype" pitchFamily="34" charset="-122"/>
                <a:cs typeface="Palatino Linotype" pitchFamily="34" charset="-120"/>
              </a:rPr>
              <a:t>Bibliografie și pașii următori</a:t>
            </a:r>
            <a:endParaRPr lang="en-US" sz="2400" dirty="0"/>
          </a:p>
        </p:txBody>
      </p:sp>
      <p:sp>
        <p:nvSpPr>
          <p:cNvPr id="3" name="Shape 1"/>
          <p:cNvSpPr/>
          <p:nvPr/>
        </p:nvSpPr>
        <p:spPr>
          <a:xfrm>
            <a:off x="457200" y="1005840"/>
            <a:ext cx="3931920" cy="2286000"/>
          </a:xfrm>
          <a:prstGeom prst="rect">
            <a:avLst/>
          </a:prstGeom>
          <a:solidFill>
            <a:srgbClr val="0E7C6B">
              <a:alpha val="25000"/>
            </a:srgbClr>
          </a:solidFill>
          <a:ln/>
        </p:spPr>
        <p:txBody>
          <a:bodyPr/>
          <a:lstStyle/>
          <a:p>
            <a:endParaRPr lang="ro-RO"/>
          </a:p>
        </p:txBody>
      </p:sp>
      <p:sp>
        <p:nvSpPr>
          <p:cNvPr id="4" name="Text 2"/>
          <p:cNvSpPr/>
          <p:nvPr/>
        </p:nvSpPr>
        <p:spPr>
          <a:xfrm>
            <a:off x="457200" y="1051560"/>
            <a:ext cx="3931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Palatino Linotype" pitchFamily="34" charset="0"/>
                <a:ea typeface="Palatino Linotype" pitchFamily="34" charset="-122"/>
                <a:cs typeface="Palatino Linotype" pitchFamily="34" charset="-120"/>
              </a:rPr>
              <a:t>Până la lucrarea practică</a:t>
            </a:r>
            <a:endParaRPr lang="en-US" sz="1100" dirty="0"/>
          </a:p>
        </p:txBody>
      </p:sp>
      <p:sp>
        <p:nvSpPr>
          <p:cNvPr id="5" name="Text 3"/>
          <p:cNvSpPr/>
          <p:nvPr/>
        </p:nvSpPr>
        <p:spPr>
          <a:xfrm>
            <a:off x="640080" y="1463040"/>
            <a:ext cx="3566160" cy="1645920"/>
          </a:xfrm>
          <a:prstGeom prst="rect">
            <a:avLst/>
          </a:prstGeom>
          <a:noFill/>
          <a:ln/>
        </p:spPr>
        <p:txBody>
          <a:bodyPr wrap="square" lIns="0" tIns="0" rIns="0" bIns="0" rtlCol="0" anchor="t"/>
          <a:lstStyle/>
          <a:p>
            <a:pPr marL="0" indent="0">
              <a:buNone/>
            </a:pPr>
            <a:r>
              <a:rPr lang="en-US" sz="1000" dirty="0">
                <a:solidFill>
                  <a:srgbClr val="FFFFFF"/>
                </a:solidFill>
                <a:latin typeface="Palatino Linotype" pitchFamily="34" charset="0"/>
                <a:ea typeface="Palatino Linotype" pitchFamily="34" charset="-122"/>
                <a:cs typeface="Palatino Linotype" pitchFamily="34" charset="-120"/>
              </a:rPr>
              <a:t>1. Recitiți secțiunile 1.5 (CIF) și 1.7 (indicatorii)</a:t>
            </a:r>
            <a:endParaRPr lang="en-US" sz="1200" dirty="0"/>
          </a:p>
          <a:p>
            <a:pPr marL="0" indent="0">
              <a:buNone/>
            </a:pPr>
            <a:r>
              <a:rPr lang="en-US" sz="1100" dirty="0"/>
              <a:t/>
            </a:r>
            <a:endParaRPr lang="en-US" sz="1200" dirty="0"/>
          </a:p>
          <a:p>
            <a:pPr marL="0" indent="0">
              <a:buNone/>
            </a:pPr>
            <a:r>
              <a:rPr lang="en-US" sz="1000" dirty="0">
                <a:solidFill>
                  <a:srgbClr val="FFFFFF"/>
                </a:solidFill>
                <a:latin typeface="Palatino Linotype" pitchFamily="34" charset="0"/>
                <a:ea typeface="Palatino Linotype" pitchFamily="34" charset="-122"/>
                <a:cs typeface="Palatino Linotype" pitchFamily="34" charset="-120"/>
              </a:rPr>
              <a:t>2. Aduceți afecțiunea-ancoră aleasă și un telefon sau un laptop</a:t>
            </a:r>
            <a:endParaRPr lang="en-US" sz="1200" dirty="0"/>
          </a:p>
          <a:p>
            <a:pPr marL="0" indent="0">
              <a:buNone/>
            </a:pPr>
            <a:r>
              <a:rPr lang="en-US" sz="1100" dirty="0"/>
              <a:t/>
            </a:r>
            <a:endParaRPr lang="en-US" sz="1200" dirty="0"/>
          </a:p>
          <a:p>
            <a:pPr marL="0" indent="0">
              <a:buNone/>
            </a:pPr>
            <a:r>
              <a:rPr lang="en-US" sz="1000" dirty="0">
                <a:solidFill>
                  <a:srgbClr val="FFFFFF"/>
                </a:solidFill>
                <a:latin typeface="Palatino Linotype" pitchFamily="34" charset="0"/>
                <a:ea typeface="Palatino Linotype" pitchFamily="34" charset="-122"/>
                <a:cs typeface="Palatino Linotype" pitchFamily="34" charset="-120"/>
              </a:rPr>
              <a:t>3. Pentru GBD Compare: contul IHME se creează înaintea lucrării; fără cont, instrumentul OMS</a:t>
            </a:r>
            <a:endParaRPr lang="en-US" sz="1200" dirty="0"/>
          </a:p>
        </p:txBody>
      </p:sp>
      <p:sp>
        <p:nvSpPr>
          <p:cNvPr id="6" name="Shape 4"/>
          <p:cNvSpPr/>
          <p:nvPr/>
        </p:nvSpPr>
        <p:spPr>
          <a:xfrm>
            <a:off x="4754880" y="1005840"/>
            <a:ext cx="3931920" cy="2286000"/>
          </a:xfrm>
          <a:prstGeom prst="rect">
            <a:avLst/>
          </a:prstGeom>
          <a:solidFill>
            <a:srgbClr val="0E7C6B">
              <a:alpha val="15000"/>
            </a:srgbClr>
          </a:solidFill>
          <a:ln/>
        </p:spPr>
        <p:txBody>
          <a:bodyPr/>
          <a:lstStyle/>
          <a:p>
            <a:endParaRPr lang="ro-RO" dirty="0"/>
          </a:p>
        </p:txBody>
      </p:sp>
      <p:sp>
        <p:nvSpPr>
          <p:cNvPr id="7" name="Text 5"/>
          <p:cNvSpPr/>
          <p:nvPr/>
        </p:nvSpPr>
        <p:spPr>
          <a:xfrm>
            <a:off x="4754880" y="1051560"/>
            <a:ext cx="3931920" cy="320040"/>
          </a:xfrm>
          <a:prstGeom prst="rect">
            <a:avLst/>
          </a:prstGeom>
          <a:noFill/>
          <a:ln/>
        </p:spPr>
        <p:txBody>
          <a:bodyPr wrap="square" lIns="0" tIns="0" rIns="0" bIns="0" rtlCol="0" anchor="ctr"/>
          <a:lstStyle/>
          <a:p>
            <a:pPr marL="0" indent="0" algn="ctr">
              <a:buNone/>
            </a:pPr>
            <a:r>
              <a:rPr lang="en-US" sz="1000" b="1" dirty="0">
                <a:solidFill>
                  <a:srgbClr val="FF4757"/>
                </a:solidFill>
                <a:latin typeface="Palatino Linotype" pitchFamily="34" charset="0"/>
                <a:ea typeface="Palatino Linotype" pitchFamily="34" charset="-122"/>
                <a:cs typeface="Palatino Linotype" pitchFamily="34" charset="-120"/>
              </a:rPr>
              <a:t>Bibliografie</a:t>
            </a:r>
            <a:endParaRPr lang="en-US" sz="1100" dirty="0"/>
          </a:p>
        </p:txBody>
      </p:sp>
      <p:sp>
        <p:nvSpPr>
          <p:cNvPr id="8" name="Text 6"/>
          <p:cNvSpPr/>
          <p:nvPr/>
        </p:nvSpPr>
        <p:spPr>
          <a:xfrm>
            <a:off x="4937760" y="1417320"/>
            <a:ext cx="3566160" cy="228600"/>
          </a:xfrm>
          <a:prstGeom prst="rect">
            <a:avLst/>
          </a:prstGeom>
          <a:noFill/>
          <a:ln/>
        </p:spPr>
        <p:txBody>
          <a:bodyPr wrap="square" lIns="0" tIns="0" rIns="0" bIns="0" rtlCol="0" anchor="ctr"/>
          <a:lstStyle/>
          <a:p>
            <a:pPr marL="0" indent="0">
              <a:buNone/>
            </a:pPr>
            <a:r>
              <a:rPr lang="en-US" sz="900" dirty="0">
                <a:solidFill>
                  <a:srgbClr val="FFFFFF"/>
                </a:solidFill>
                <a:latin typeface="Palatino Linotype" pitchFamily="34" charset="0"/>
                <a:ea typeface="Palatino Linotype" pitchFamily="34" charset="-122"/>
                <a:cs typeface="Palatino Linotype" pitchFamily="34" charset="-120"/>
              </a:rPr>
              <a:t>1. Suportul de curs electronic actualizat, C01</a:t>
            </a:r>
            <a:endParaRPr lang="en-US" sz="700" dirty="0"/>
          </a:p>
        </p:txBody>
      </p:sp>
      <p:sp>
        <p:nvSpPr>
          <p:cNvPr id="9" name="Text 7"/>
          <p:cNvSpPr/>
          <p:nvPr/>
        </p:nvSpPr>
        <p:spPr>
          <a:xfrm>
            <a:off x="4937760" y="1645920"/>
            <a:ext cx="3566160" cy="228600"/>
          </a:xfrm>
          <a:prstGeom prst="rect">
            <a:avLst/>
          </a:prstGeom>
          <a:noFill/>
          <a:ln/>
        </p:spPr>
        <p:txBody>
          <a:bodyPr wrap="square" lIns="0" tIns="0" rIns="0" bIns="0" rtlCol="0" anchor="ctr"/>
          <a:lstStyle/>
          <a:p>
            <a:pPr marL="0" indent="0">
              <a:buNone/>
            </a:pPr>
            <a:r>
              <a:rPr lang="en-US" sz="900" dirty="0">
                <a:solidFill>
                  <a:srgbClr val="FFFFFF"/>
                </a:solidFill>
                <a:latin typeface="Palatino Linotype" pitchFamily="34" charset="0"/>
                <a:ea typeface="Palatino Linotype" pitchFamily="34" charset="-122"/>
                <a:cs typeface="Palatino Linotype" pitchFamily="34" charset="-120"/>
              </a:rPr>
              <a:t>2. OMS: CIF, ghidul introductiv</a:t>
            </a:r>
            <a:endParaRPr lang="en-US" sz="700" dirty="0"/>
          </a:p>
        </p:txBody>
      </p:sp>
      <p:sp>
        <p:nvSpPr>
          <p:cNvPr id="10" name="Text 8"/>
          <p:cNvSpPr/>
          <p:nvPr/>
        </p:nvSpPr>
        <p:spPr>
          <a:xfrm>
            <a:off x="4937760" y="1874520"/>
            <a:ext cx="3566160" cy="228600"/>
          </a:xfrm>
          <a:prstGeom prst="rect">
            <a:avLst/>
          </a:prstGeom>
          <a:noFill/>
          <a:ln/>
        </p:spPr>
        <p:txBody>
          <a:bodyPr wrap="square" lIns="0" tIns="0" rIns="0" bIns="0" rtlCol="0" anchor="ctr"/>
          <a:lstStyle/>
          <a:p>
            <a:pPr marL="0" indent="0">
              <a:buNone/>
            </a:pPr>
            <a:r>
              <a:rPr lang="en-US" sz="900" dirty="0">
                <a:solidFill>
                  <a:srgbClr val="FFFFFF"/>
                </a:solidFill>
                <a:latin typeface="Palatino Linotype" pitchFamily="34" charset="0"/>
                <a:ea typeface="Palatino Linotype" pitchFamily="34" charset="-122"/>
                <a:cs typeface="Palatino Linotype" pitchFamily="34" charset="-120"/>
              </a:rPr>
              <a:t>3. Rezoluția WHA76.6, 2023</a:t>
            </a:r>
            <a:endParaRPr lang="en-US" sz="700" dirty="0"/>
          </a:p>
        </p:txBody>
      </p:sp>
      <p:sp>
        <p:nvSpPr>
          <p:cNvPr id="11" name="Text 9"/>
          <p:cNvSpPr/>
          <p:nvPr/>
        </p:nvSpPr>
        <p:spPr>
          <a:xfrm>
            <a:off x="4937760" y="2103120"/>
            <a:ext cx="3566160" cy="228600"/>
          </a:xfrm>
          <a:prstGeom prst="rect">
            <a:avLst/>
          </a:prstGeom>
          <a:noFill/>
          <a:ln/>
        </p:spPr>
        <p:txBody>
          <a:bodyPr wrap="square" lIns="0" tIns="0" rIns="0" bIns="0" rtlCol="0" anchor="ctr"/>
          <a:lstStyle/>
          <a:p>
            <a:pPr marL="0" indent="0">
              <a:buNone/>
            </a:pPr>
            <a:r>
              <a:rPr lang="en-US" sz="900" dirty="0">
                <a:solidFill>
                  <a:srgbClr val="FFFFFF"/>
                </a:solidFill>
                <a:latin typeface="Palatino Linotype" pitchFamily="34" charset="0"/>
                <a:ea typeface="Palatino Linotype" pitchFamily="34" charset="-122"/>
                <a:cs typeface="Palatino Linotype" pitchFamily="34" charset="-120"/>
              </a:rPr>
              <a:t>4. Cieza și colab., The Lancet, 2020</a:t>
            </a:r>
            <a:endParaRPr lang="en-US" sz="700" dirty="0"/>
          </a:p>
        </p:txBody>
      </p:sp>
      <p:sp>
        <p:nvSpPr>
          <p:cNvPr id="12" name="Text 10"/>
          <p:cNvSpPr/>
          <p:nvPr/>
        </p:nvSpPr>
        <p:spPr>
          <a:xfrm>
            <a:off x="4937760" y="2331720"/>
            <a:ext cx="3566160" cy="228600"/>
          </a:xfrm>
          <a:prstGeom prst="rect">
            <a:avLst/>
          </a:prstGeom>
          <a:noFill/>
          <a:ln/>
        </p:spPr>
        <p:txBody>
          <a:bodyPr wrap="square" lIns="0" tIns="0" rIns="0" bIns="0" rtlCol="0" anchor="ctr"/>
          <a:lstStyle/>
          <a:p>
            <a:pPr marL="0" indent="0">
              <a:buNone/>
            </a:pPr>
            <a:r>
              <a:rPr lang="en-US" sz="900" dirty="0">
                <a:solidFill>
                  <a:srgbClr val="FFFFFF"/>
                </a:solidFill>
                <a:latin typeface="Palatino Linotype" pitchFamily="34" charset="0"/>
                <a:ea typeface="Palatino Linotype" pitchFamily="34" charset="-122"/>
                <a:cs typeface="Palatino Linotype" pitchFamily="34" charset="-120"/>
              </a:rPr>
              <a:t>5. WHO Rehabilitation Need Estimator</a:t>
            </a:r>
            <a:endParaRPr lang="en-US" sz="700" dirty="0"/>
          </a:p>
        </p:txBody>
      </p:sp>
      <p:sp>
        <p:nvSpPr>
          <p:cNvPr id="13" name="Text 11"/>
          <p:cNvSpPr/>
          <p:nvPr/>
        </p:nvSpPr>
        <p:spPr>
          <a:xfrm>
            <a:off x="4937760" y="2560320"/>
            <a:ext cx="3566160" cy="228600"/>
          </a:xfrm>
          <a:prstGeom prst="rect">
            <a:avLst/>
          </a:prstGeom>
          <a:noFill/>
          <a:ln/>
        </p:spPr>
        <p:txBody>
          <a:bodyPr wrap="square" lIns="0" tIns="0" rIns="0" bIns="0" rtlCol="0" anchor="ctr"/>
          <a:lstStyle/>
          <a:p>
            <a:pPr marL="0" indent="0">
              <a:buNone/>
            </a:pPr>
            <a:r>
              <a:rPr lang="en-US" sz="900" dirty="0">
                <a:solidFill>
                  <a:srgbClr val="FFFFFF"/>
                </a:solidFill>
                <a:latin typeface="Palatino Linotype" pitchFamily="34" charset="0"/>
                <a:ea typeface="Palatino Linotype" pitchFamily="34" charset="-122"/>
                <a:cs typeface="Palatino Linotype" pitchFamily="34" charset="-120"/>
              </a:rPr>
              <a:t>6. Eurostat, hlth_hlye</a:t>
            </a:r>
            <a:endParaRPr lang="en-US" sz="700" dirty="0"/>
          </a:p>
        </p:txBody>
      </p:sp>
      <p:sp>
        <p:nvSpPr>
          <p:cNvPr id="14" name="Text 12"/>
          <p:cNvSpPr/>
          <p:nvPr/>
        </p:nvSpPr>
        <p:spPr>
          <a:xfrm>
            <a:off x="4937760" y="2788920"/>
            <a:ext cx="3566160" cy="228600"/>
          </a:xfrm>
          <a:prstGeom prst="rect">
            <a:avLst/>
          </a:prstGeom>
          <a:noFill/>
          <a:ln/>
        </p:spPr>
        <p:txBody>
          <a:bodyPr wrap="square" lIns="0" tIns="0" rIns="0" bIns="0" rtlCol="0" anchor="ctr"/>
          <a:lstStyle/>
          <a:p>
            <a:pPr marL="0" indent="0">
              <a:buNone/>
            </a:pPr>
            <a:r>
              <a:rPr lang="en-US" sz="900" dirty="0">
                <a:solidFill>
                  <a:srgbClr val="FFFFFF"/>
                </a:solidFill>
                <a:latin typeface="Palatino Linotype" pitchFamily="34" charset="0"/>
                <a:ea typeface="Palatino Linotype" pitchFamily="34" charset="-122"/>
                <a:cs typeface="Palatino Linotype" pitchFamily="34" charset="-120"/>
              </a:rPr>
              <a:t>7. Legea nr. 229/2016</a:t>
            </a:r>
            <a:endParaRPr lang="en-US" sz="700" dirty="0"/>
          </a:p>
        </p:txBody>
      </p:sp>
      <p:sp>
        <p:nvSpPr>
          <p:cNvPr id="15" name="Text 13"/>
          <p:cNvSpPr/>
          <p:nvPr/>
        </p:nvSpPr>
        <p:spPr>
          <a:xfrm>
            <a:off x="4937760" y="3017520"/>
            <a:ext cx="3566160" cy="228600"/>
          </a:xfrm>
          <a:prstGeom prst="rect">
            <a:avLst/>
          </a:prstGeom>
          <a:noFill/>
          <a:ln/>
        </p:spPr>
        <p:txBody>
          <a:bodyPr wrap="square" lIns="0" tIns="0" rIns="0" bIns="0" rtlCol="0" anchor="ctr"/>
          <a:lstStyle/>
          <a:p>
            <a:pPr marL="0" indent="0">
              <a:buNone/>
            </a:pPr>
            <a:r>
              <a:rPr lang="en-US" sz="900" dirty="0">
                <a:solidFill>
                  <a:srgbClr val="FFFFFF"/>
                </a:solidFill>
                <a:latin typeface="Palatino Linotype" pitchFamily="34" charset="0"/>
                <a:ea typeface="Palatino Linotype" pitchFamily="34" charset="-122"/>
                <a:cs typeface="Palatino Linotype" pitchFamily="34" charset="-120"/>
              </a:rPr>
              <a:t>8. Legea nr. 95/2006</a:t>
            </a:r>
            <a:endParaRPr lang="en-US" sz="700" dirty="0"/>
          </a:p>
        </p:txBody>
      </p:sp>
      <p:sp>
        <p:nvSpPr>
          <p:cNvPr id="16" name="Text 14"/>
          <p:cNvSpPr/>
          <p:nvPr/>
        </p:nvSpPr>
        <p:spPr>
          <a:xfrm>
            <a:off x="4937760" y="3291840"/>
            <a:ext cx="3566160" cy="182880"/>
          </a:xfrm>
          <a:prstGeom prst="rect">
            <a:avLst/>
          </a:prstGeom>
          <a:noFill/>
          <a:ln/>
        </p:spPr>
        <p:txBody>
          <a:bodyPr wrap="square" lIns="0" tIns="0" rIns="0" bIns="0" rtlCol="0" anchor="ctr"/>
          <a:lstStyle/>
          <a:p>
            <a:pPr marL="0" indent="0">
              <a:buNone/>
            </a:pPr>
            <a:r>
              <a:rPr lang="en-US" sz="650" dirty="0">
                <a:solidFill>
                  <a:srgbClr val="FF4757"/>
                </a:solidFill>
                <a:latin typeface="Palatino Linotype" pitchFamily="34" charset="0"/>
                <a:ea typeface="Palatino Linotype" pitchFamily="34" charset="-122"/>
                <a:cs typeface="Palatino Linotype" pitchFamily="34" charset="-120"/>
              </a:rPr>
              <a:t>Surse online: who.int · vizhub.healthdata.org · ec.europa.eu/eurostat · insse.ro</a:t>
            </a:r>
            <a:endParaRPr lang="en-US" sz="700" dirty="0"/>
          </a:p>
        </p:txBody>
      </p:sp>
      <p:sp>
        <p:nvSpPr>
          <p:cNvPr id="17" name="Text 15"/>
          <p:cNvSpPr/>
          <p:nvPr/>
        </p:nvSpPr>
        <p:spPr>
          <a:xfrm>
            <a:off x="457200" y="3749040"/>
            <a:ext cx="8229600" cy="457200"/>
          </a:xfrm>
          <a:prstGeom prst="rect">
            <a:avLst/>
          </a:prstGeom>
          <a:noFill/>
          <a:ln/>
        </p:spPr>
        <p:txBody>
          <a:bodyPr wrap="square" lIns="0" tIns="0" rIns="0" bIns="0" rtlCol="0" anchor="ctr"/>
          <a:lstStyle/>
          <a:p>
            <a:pPr marL="0" indent="0" algn="ctr">
              <a:buNone/>
            </a:pPr>
            <a:r>
              <a:rPr lang="en-US" sz="1100" i="1" dirty="0">
                <a:solidFill>
                  <a:srgbClr val="FF4757"/>
                </a:solidFill>
                <a:latin typeface="Palatino Linotype" pitchFamily="34" charset="0"/>
                <a:ea typeface="Palatino Linotype" pitchFamily="34" charset="-122"/>
                <a:cs typeface="Palatino Linotype" pitchFamily="34" charset="-120"/>
              </a:rPr>
              <a:t>Materialele cursului sunt pe site-ul cursului. Fișele: în Forms; erorile semnalate: adrian.pana@umfcluj.ro</a:t>
            </a:r>
            <a:endParaRPr lang="en-US" sz="1200" dirty="0"/>
          </a:p>
        </p:txBody>
      </p:sp>
      <p:sp>
        <p:nvSpPr>
          <p:cNvPr id="18" name="Shape 16"/>
          <p:cNvSpPr/>
          <p:nvPr/>
        </p:nvSpPr>
        <p:spPr>
          <a:xfrm>
            <a:off x="0" y="4709160"/>
            <a:ext cx="9144000" cy="434340"/>
          </a:xfrm>
          <a:prstGeom prst="rect">
            <a:avLst/>
          </a:prstGeom>
          <a:noFill/>
          <a:ln/>
        </p:spPr>
        <p:txBody>
          <a:bodyPr/>
          <a:lstStyle/>
          <a:p>
            <a:endParaRPr lang="ro-RO"/>
          </a:p>
        </p:txBody>
      </p:sp>
      <p:sp>
        <p:nvSpPr>
          <p:cNvPr id="19" name="Text 17"/>
          <p:cNvSpPr/>
          <p:nvPr/>
        </p:nvSpPr>
        <p:spPr>
          <a:xfrm>
            <a:off x="457200" y="4709160"/>
            <a:ext cx="6400800" cy="434340"/>
          </a:xfrm>
          <a:prstGeom prst="rect">
            <a:avLst/>
          </a:prstGeom>
          <a:noFill/>
          <a:ln/>
        </p:spPr>
        <p:txBody>
          <a:bodyPr wrap="square" lIns="0" tIns="0" rIns="0" bIns="0" rtlCol="0" anchor="ctr"/>
          <a:lstStyle/>
          <a:p>
            <a:pPr marL="0" indent="0">
              <a:buNone/>
            </a:pPr>
            <a:r>
              <a:rPr lang="en-US" sz="700" dirty="0">
                <a:solidFill>
                  <a:srgbClr val="959BB0"/>
                </a:solidFill>
                <a:latin typeface="Palatino Linotype" pitchFamily="34" charset="0"/>
                <a:ea typeface="Palatino Linotype" pitchFamily="34" charset="-122"/>
                <a:cs typeface="Palatino Linotype" pitchFamily="34" charset="-120"/>
              </a:rPr>
              <a:t>Sănătate publică și management — C01 | Balneofiziokinetoterapie și recuperare, anul III | UMF „Iuliu Hațieganu” Cluj-Napoca</a:t>
            </a:r>
            <a:endParaRPr lang="en-US" sz="800" dirty="0"/>
          </a:p>
        </p:txBody>
      </p:sp>
      <p:sp>
        <p:nvSpPr>
          <p:cNvPr id="20" name="Text 18"/>
          <p:cNvSpPr/>
          <p:nvPr/>
        </p:nvSpPr>
        <p:spPr>
          <a:xfrm>
            <a:off x="7315200" y="4709160"/>
            <a:ext cx="1371600" cy="434340"/>
          </a:xfrm>
          <a:prstGeom prst="rect">
            <a:avLst/>
          </a:prstGeom>
          <a:noFill/>
          <a:ln/>
        </p:spPr>
        <p:txBody>
          <a:bodyPr wrap="square" lIns="0" tIns="0" rIns="0" bIns="0" rtlCol="0" anchor="ctr"/>
          <a:lstStyle/>
          <a:p>
            <a:pPr marL="0" indent="0" algn="r">
              <a:buNone/>
            </a:pPr>
            <a:r>
              <a:rPr lang="en-US" sz="700" dirty="0">
                <a:solidFill>
                  <a:srgbClr val="959BB0"/>
                </a:solidFill>
                <a:latin typeface="Palatino Linotype" pitchFamily="34" charset="0"/>
                <a:ea typeface="Palatino Linotype" pitchFamily="34" charset="-122"/>
                <a:cs typeface="Palatino Linotype" pitchFamily="34" charset="-120"/>
              </a:rPr>
              <a:t>60 / 60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alatino Linotyp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alatino Linotyp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5460</Words>
  <Application>Microsoft Macintosh PowerPoint</Application>
  <PresentationFormat>On-screen Show (16:9)</PresentationFormat>
  <Paragraphs>1075</Paragraphs>
  <Slides>65</Slides>
  <Notes>65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65</vt:i4>
      </vt:variant>
    </vt:vector>
  </HeadingPairs>
  <TitlesOfParts>
    <vt:vector size="6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Sănătate publică și management — C01 (decul de proiectat)</dc:title>
  <dc:subject>C01 · ro · construit pe designul C1_SPM_AMGIV_2026.pptx, pe notele și registrul din 27.09.2026</dc:subject>
  <dc:creator>Disciplina Sănătate Publică și Management, UMF „Iuliu Hațieganu” Cluj-Napoca</dc:creator>
  <cp:lastModifiedBy>Adrian Pana</cp:lastModifiedBy>
  <cp:revision>4</cp:revision>
  <dcterms:created xsi:type="dcterms:W3CDTF">2026-03-02T22:31:11Z</dcterms:created>
  <dcterms:modified xsi:type="dcterms:W3CDTF">2026-03-03T06:44:49Z</dcterms:modified>
  <cp:keywords>sursa_amprenta=dec6b58080600d56; proiectie</cp:keywords>
</cp:coreProperties>
</file>