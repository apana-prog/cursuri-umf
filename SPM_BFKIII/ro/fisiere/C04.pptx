
<file path=[Content_Types].xml><?xml version="1.0" encoding="utf-8"?>
<Types xmlns="http://schemas.openxmlformats.org/package/2006/content-types">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media/image-1-1.jpg" ContentType="image/jpg"/>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extended-properties" Target="docProps/app.xml"/><Relationship Id="rId2" Type="http://schemas.openxmlformats.org/package/2006/relationships/metadata/core-properties" Target="docProps/core.xml"/><Relationship Id="rId3"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 id="277" r:id="rId23"/>
    <p:sldId id="278" r:id="rId24"/>
    <p:sldId id="279" r:id="rId25"/>
    <p:sldId id="280" r:id="rId26"/>
  </p:sldIdLst>
  <p:notesMasterIdLst>
    <p:notesMasterId r:id="rId27"/>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slide" Target="slides/slide18.xml"/><Relationship Id="rId20" Type="http://schemas.openxmlformats.org/officeDocument/2006/relationships/slide" Target="slides/slide19.xml"/><Relationship Id="rId21" Type="http://schemas.openxmlformats.org/officeDocument/2006/relationships/slide" Target="slides/slide20.xml"/><Relationship Id="rId22" Type="http://schemas.openxmlformats.org/officeDocument/2006/relationships/slide" Target="slides/slide21.xml"/><Relationship Id="rId23" Type="http://schemas.openxmlformats.org/officeDocument/2006/relationships/slide" Target="slides/slide22.xml"/><Relationship Id="rId24" Type="http://schemas.openxmlformats.org/officeDocument/2006/relationships/slide" Target="slides/slide23.xml"/><Relationship Id="rId25" Type="http://schemas.openxmlformats.org/officeDocument/2006/relationships/slide" Target="slides/slide24.xml"/><Relationship Id="rId26" Type="http://schemas.openxmlformats.org/officeDocument/2006/relationships/slide" Target="slides/slide25.xml"/><Relationship Id="rId27" Type="http://schemas.openxmlformats.org/officeDocument/2006/relationships/notesMaster" Target="notesMasters/notesMaster1.xml"/><Relationship Id="rId28" Type="http://schemas.openxmlformats.org/officeDocument/2006/relationships/presProps" Target="presProps.xml"/><Relationship Id="rId29" Type="http://schemas.openxmlformats.org/officeDocument/2006/relationships/viewProps" Target="viewProps.xml"/><Relationship Id="rId30" Type="http://schemas.openxmlformats.org/officeDocument/2006/relationships/theme" Target="theme/theme1.xml"/><Relationship Id="rId31" Type="http://schemas.openxmlformats.org/officeDocument/2006/relationships/tableStyles" Target="tableStyle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1.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5.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6.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7.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8.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9.xml"/></Relationships>
</file>

<file path=ppt/notesSlides/_rels/notesSlide2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0.xml"/></Relationships>
</file>

<file path=ppt/notesSlides/_rels/notesSlide2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1.xml"/></Relationships>
</file>

<file path=ppt/notesSlides/_rels/notesSlide2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2.xml"/></Relationships>
</file>

<file path=ppt/notesSlides/_rels/notesSlide2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3.xml"/></Relationships>
</file>

<file path=ppt/notesSlides/_rels/notesSlide2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4.xml"/></Relationships>
</file>

<file path=ppt/notesSlides/_rels/notesSlide2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5.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Astăzi închidem disciplina cu o întrebare simplă: îngrijirea primită de un pacient a fost bună, sigură și a meritat ce a costat? Codul Mentimeter rămâne același toată ședința.</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Titlul cursului are trei cuvinte, iar cazul de azi le conține pe toate. Testul grilă acoperă și acest curs.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Radiografia nu arată o fractură nouă, dar domnul E. are o contuzie mare la șold și, de a doua zi, refuză să mai meargă fără să fie ținut de mână. Ședințele de recuperare se scurtează, iar externarea se amână.</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Votați înaintea oricărei explicații. Alegeți ce credeți acum; la finalul analizei vedem dacă votul se schimbă.</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Avedis Donabedian a propus în 1966 trei abordări ale evaluării calității îngrijirii. O analiză din 2016 constata că ele rămân centrale, iar un raport din 2019 al Observatorului European numește clasificarea lui cadrul cel mai folosit pentru indicatorii de calitate.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Donabedian considera rezultatele validatorii ultimi ai calității, dar avertiza că legătura dintre structură și celelalte niveluri adesea nu este bine stabilită. Un serviciu cu aparatură nouă poate avea rezultate slabe, dacă aparatura nu intră în planul pacientului.</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Citiți din nou cazul și notați verigile cu colegul de bancă. Nu există o singură analiză corectă.</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Calculul acestor indicatori pe o lună, cu numitorul ales și capcanele lui, îl faceți la lucrarea practică a patra.</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 cădere pe secție are, probabil, mai multe cauze și arată mai multe verigi slabe ale aceluiași serviciu, nu un singur vinovat.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Definiția are două părți. Prima privește vătămarea care se putea evita. A doua admite că orice îngrijire are un risc, dar cere ca riscul inutil să fie redus cât se poate.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Pacientul cu fractură de șold după o cădere are, prin definiție, o cădere anterioară. Un pacient ținut în pat ca să nu cadă nu se recuperează.</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Ghidul a fost publicat în 2022 de un grup internațional de experți. În spital, toți vârstnicii trebuie considerați cu risc mare.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Gândiți-vă la ce spune ghidul și la scopul recuperării.</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Un raport al ratelor de 0,80 corespunde, ca estimare centrală, unei cincimi mai puține căderi la același număr de zile de spitalizare; intervalul de încredere de 95% include însă și lipsa efectului. În recuperare, reducerea pare mai probabilă, tot pe dovezi de certitudine scăzută.</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Ambele informații sunt adevărate, dar a doua nu poate fi aflată decât de la pacient. Teama de a ieși din casă este un factor personal care aduce o restricție de participare, pe care niciun test de mers pe holul secției nu o arată.</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Întrebarea care decide: de la cine vine informația?</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Pentru Fișa 4, indicatorul de rezultat include un rezultat raportat de pacient; un exemplu lucrat, cu limitele lui, este la lucrarea practică a patra.</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Pentru domnul E., rezultatul care contează este dacă, peste trei luni, urcă singur până la etajul doi. Un program mai scump poate avea valoare mai mare, dacă rezultatele lui cresc mai mult decât costul.</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În țările cu acoperire universală, valoarea în sensul restrâns ar fi numită mai degrabă eficiență. De aceea, grupul de experți al Comisiei Europene a propus patru piloni.</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Gândiți-vă la ambele părți ale fracției: ce se pune sus și ce se pune jos.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Numărătorul fracției are nevoie de rezultatele raportate de pacient, iar numitorul, de costul întregului drum, nu doar al unei ședințe.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Firul comun al celor patru cursuri este măsurarea: nevoia, accesul, activitatea și calitatea. Răspunsul vostru este punctul de plecare pentru indicatorii de la Fișa 4.</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La stagiu sau la primul loc de muncă, când preluați un pacient vârstnic pe o secție de recuperare, aceste trei întrebări vă arată unde este riscul și unde este rezultatul.</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Testul grilă se susține azi, în ultimele 30 de minute ale lucrării practice a patra. Înainte, la aceeași lucrare, construiți Fișa 4: câte un indicator de calitate pentru fiecare nivel al modelului lui Donabedian.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25</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image" Target="../media/image-1-1.jpg"/><Relationship Id="rId2" Type="http://schemas.openxmlformats.org/officeDocument/2006/relationships/slideLayout" Target="../slideLayouts/slideLayout1.xml"/><Relationship Id="rId3"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2.xml"/><Relationship Id="rId3" Type="http://schemas.openxmlformats.org/officeDocument/2006/relationships/image" Target="../media/image1.png"/></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3.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4.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5.xml"/><Relationship Id="rId3" Type="http://schemas.openxmlformats.org/officeDocument/2006/relationships/image" Target="../media/image1.png"/></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11121A"/>
        </a:solidFill>
      </p:bgPr>
    </p:bg>
    <p:spTree>
      <p:nvGrpSpPr>
        <p:cNvPr id="1" name=""/>
        <p:cNvGrpSpPr/>
        <p:nvPr/>
      </p:nvGrpSpPr>
      <p:grpSpPr>
        <a:xfrm>
          <a:off x="0" y="0"/>
          <a:ext cx="0" cy="0"/>
          <a:chOff x="0" y="0"/>
          <a:chExt cx="0" cy="0"/>
        </a:xfrm>
      </p:grpSpPr>
      <p:pic>
        <p:nvPicPr>
          <p:cNvPr id="2" name="Image 0" descr="/Users/adrianpana/Downloads/UMF_Cluj_SP/Materiale SP/Atelier_didactic/discipline/SPM_BFKIII/active/img/sala_proceduri_commons.jpg">    </p:cNvPr>
          <p:cNvPicPr>
            <a:picLocks noChangeAspect="1"/>
          </p:cNvPicPr>
          <p:nvPr/>
        </p:nvPicPr>
        <p:blipFill>
          <a:blip r:embed="rId1"/>
          <a:stretch>
            <a:fillRect/>
          </a:stretch>
        </p:blipFill>
        <p:spPr>
          <a:xfrm>
            <a:off x="6705295" y="0"/>
            <a:ext cx="5486400" cy="6858000"/>
          </a:xfrm>
          <a:prstGeom prst="rect">
            <a:avLst/>
          </a:prstGeom>
        </p:spPr>
      </p:pic>
      <p:sp>
        <p:nvSpPr>
          <p:cNvPr id="3" name="Shape 0"/>
          <p:cNvSpPr/>
          <p:nvPr/>
        </p:nvSpPr>
        <p:spPr>
          <a:xfrm>
            <a:off x="640080" y="731520"/>
            <a:ext cx="2651760" cy="329184"/>
          </a:xfrm>
          <a:prstGeom prst="roundRect">
            <a:avLst>
              <a:gd name="adj" fmla="val 50000"/>
            </a:avLst>
          </a:prstGeom>
          <a:solidFill>
            <a:srgbClr val="FF4757"/>
          </a:solidFill>
          <a:ln w="12700">
            <a:solidFill>
              <a:srgbClr val="FF4757"/>
            </a:solidFill>
            <a:prstDash val="solid"/>
          </a:ln>
        </p:spPr>
        <p:txBody>
          <a:bodyPr/>
          <a:p/>
        </p:txBody>
      </p:sp>
      <p:sp>
        <p:nvSpPr>
          <p:cNvPr id="4" name="Text 1"/>
          <p:cNvSpPr/>
          <p:nvPr/>
        </p:nvSpPr>
        <p:spPr>
          <a:xfrm>
            <a:off x="640080" y="731520"/>
            <a:ext cx="2651760" cy="329184"/>
          </a:xfrm>
          <a:prstGeom prst="rect">
            <a:avLst/>
          </a:prstGeom>
          <a:noFill/>
          <a:ln/>
        </p:spPr>
        <p:txBody>
          <a:bodyPr wrap="square" lIns="0" tIns="0" rIns="0" bIns="0" rtlCol="0" anchor="ctr"/>
          <a:lstStyle/>
          <a:p>
            <a:pPr algn="ctr" indent="0" marL="0">
              <a:buNone/>
            </a:pPr>
            <a:r>
              <a:rPr lang="en-US" sz="1300" b="1" dirty="0">
                <a:solidFill>
                  <a:srgbClr val="2E060B"/>
                </a:solidFill>
                <a:latin typeface="Palatino Linotype" pitchFamily="34" charset="0"/>
                <a:ea typeface="Palatino Linotype" pitchFamily="34" charset="-122"/>
                <a:cs typeface="Palatino Linotype" pitchFamily="34" charset="-120"/>
              </a:rPr>
              <a:t>CURSUL AL PATRULEA</a:t>
            </a:r>
            <a:endParaRPr lang="en-US" sz="1300" dirty="0"/>
          </a:p>
        </p:txBody>
      </p:sp>
      <p:sp>
        <p:nvSpPr>
          <p:cNvPr id="5" name="Text 2"/>
          <p:cNvSpPr/>
          <p:nvPr/>
        </p:nvSpPr>
        <p:spPr>
          <a:xfrm>
            <a:off x="640080" y="1325880"/>
            <a:ext cx="5760720" cy="1600200"/>
          </a:xfrm>
          <a:prstGeom prst="rect">
            <a:avLst/>
          </a:prstGeom>
          <a:noFill/>
          <a:ln/>
        </p:spPr>
        <p:txBody>
          <a:bodyPr wrap="square" lIns="0" tIns="0" rIns="0" bIns="0" rtlCol="0" anchor="t"/>
          <a:lstStyle/>
          <a:p>
            <a:pPr indent="0" marL="0">
              <a:buNone/>
            </a:pPr>
            <a:r>
              <a:rPr lang="en-US" sz="3400" b="1" dirty="0">
                <a:solidFill>
                  <a:srgbClr val="FFFFFF"/>
                </a:solidFill>
                <a:latin typeface="Palatino Linotype" pitchFamily="34" charset="0"/>
                <a:ea typeface="Palatino Linotype" pitchFamily="34" charset="-122"/>
                <a:cs typeface="Palatino Linotype" pitchFamily="34" charset="-120"/>
              </a:rPr>
              <a:t>Calitate, siguranță și valoare în recuperare</a:t>
            </a:r>
            <a:endParaRPr lang="en-US" sz="3400" dirty="0"/>
          </a:p>
        </p:txBody>
      </p:sp>
      <p:sp>
        <p:nvSpPr>
          <p:cNvPr id="6" name="Text 3"/>
          <p:cNvSpPr/>
          <p:nvPr/>
        </p:nvSpPr>
        <p:spPr>
          <a:xfrm>
            <a:off x="640080" y="2926080"/>
            <a:ext cx="5760720" cy="822960"/>
          </a:xfrm>
          <a:prstGeom prst="rect">
            <a:avLst/>
          </a:prstGeom>
          <a:noFill/>
          <a:ln/>
        </p:spPr>
        <p:txBody>
          <a:bodyPr wrap="square" lIns="0" tIns="0" rIns="0" bIns="0" rtlCol="0" anchor="t"/>
          <a:lstStyle/>
          <a:p>
            <a:pPr indent="0" marL="0">
              <a:buNone/>
            </a:pPr>
            <a:r>
              <a:rPr lang="en-US" sz="2200" b="1" dirty="0">
                <a:solidFill>
                  <a:srgbClr val="27D3BE"/>
                </a:solidFill>
                <a:latin typeface="Palatino Linotype" pitchFamily="34" charset="0"/>
                <a:ea typeface="Palatino Linotype" pitchFamily="34" charset="-122"/>
                <a:cs typeface="Palatino Linotype" pitchFamily="34" charset="-120"/>
              </a:rPr>
              <a:t>Ultimul curs: harta întregii discipline</a:t>
            </a:r>
            <a:endParaRPr lang="en-US" sz="2200" dirty="0"/>
          </a:p>
        </p:txBody>
      </p:sp>
      <p:sp>
        <p:nvSpPr>
          <p:cNvPr id="7" name="Shape 4"/>
          <p:cNvSpPr/>
          <p:nvPr/>
        </p:nvSpPr>
        <p:spPr>
          <a:xfrm>
            <a:off x="667512" y="3977640"/>
            <a:ext cx="1280160" cy="27432"/>
          </a:xfrm>
          <a:prstGeom prst="rect">
            <a:avLst/>
          </a:prstGeom>
          <a:solidFill>
            <a:srgbClr val="FF4757"/>
          </a:solidFill>
          <a:ln w="12700">
            <a:solidFill>
              <a:srgbClr val="FF4757"/>
            </a:solidFill>
            <a:prstDash val="solid"/>
          </a:ln>
        </p:spPr>
        <p:txBody>
          <a:bodyPr/>
          <a:p/>
        </p:txBody>
      </p:sp>
      <p:sp>
        <p:nvSpPr>
          <p:cNvPr id="8" name="Text 5"/>
          <p:cNvSpPr/>
          <p:nvPr/>
        </p:nvSpPr>
        <p:spPr>
          <a:xfrm>
            <a:off x="640080" y="4160520"/>
            <a:ext cx="5760720" cy="1097280"/>
          </a:xfrm>
          <a:prstGeom prst="rect">
            <a:avLst/>
          </a:prstGeom>
          <a:noFill/>
          <a:ln/>
        </p:spPr>
        <p:txBody>
          <a:bodyPr wrap="square" lIns="0" tIns="0" rIns="0" bIns="0" rtlCol="0" anchor="t"/>
          <a:lstStyle/>
          <a:p>
            <a:pPr indent="0" marL="0">
              <a:buNone/>
            </a:pPr>
            <a:r>
              <a:rPr lang="en-US" sz="1300" b="1" dirty="0">
                <a:solidFill>
                  <a:srgbClr val="FFFFFF"/>
                </a:solidFill>
                <a:latin typeface="Palatino Linotype" pitchFamily="34" charset="0"/>
                <a:ea typeface="Palatino Linotype" pitchFamily="34" charset="-122"/>
                <a:cs typeface="Palatino Linotype" pitchFamily="34" charset="-120"/>
              </a:rPr>
              <a:t>Sănătate publică și management · Balneofiziokinetoterapie și recuperare, anul III</a:t>
            </a:r>
            <a:endParaRPr lang="en-US" sz="1300" dirty="0"/>
          </a:p>
          <a:p>
            <a:pPr indent="0" marL="0">
              <a:buNone/>
            </a:pPr>
            <a:r>
              <a:rPr lang="en-US" sz="1300" dirty="0">
                <a:solidFill>
                  <a:srgbClr val="959BB0"/>
                </a:solidFill>
                <a:latin typeface="Palatino Linotype" pitchFamily="34" charset="0"/>
                <a:ea typeface="Palatino Linotype" pitchFamily="34" charset="-122"/>
                <a:cs typeface="Palatino Linotype" pitchFamily="34" charset="-120"/>
              </a:rPr>
              <a:t>Conf. univ. dr. Adrian Pană · UMF „Iuliu Hațieganu” Cluj-Napoca · 2026–2027</a:t>
            </a:r>
            <a:endParaRPr lang="en-US" sz="1300" dirty="0"/>
          </a:p>
        </p:txBody>
      </p:sp>
      <p:sp>
        <p:nvSpPr>
          <p:cNvPr id="9" name="Shape 6"/>
          <p:cNvSpPr/>
          <p:nvPr/>
        </p:nvSpPr>
        <p:spPr>
          <a:xfrm>
            <a:off x="640080" y="5440680"/>
            <a:ext cx="4206240" cy="457200"/>
          </a:xfrm>
          <a:prstGeom prst="roundRect">
            <a:avLst>
              <a:gd name="adj" fmla="val 18000"/>
            </a:avLst>
          </a:prstGeom>
          <a:solidFill>
            <a:srgbClr val="272A38"/>
          </a:solidFill>
          <a:ln w="12700">
            <a:solidFill>
              <a:srgbClr val="272A38"/>
            </a:solidFill>
            <a:prstDash val="solid"/>
          </a:ln>
        </p:spPr>
        <p:txBody>
          <a:bodyPr/>
          <a:p/>
        </p:txBody>
      </p:sp>
      <p:sp>
        <p:nvSpPr>
          <p:cNvPr id="10" name="Text 7"/>
          <p:cNvSpPr/>
          <p:nvPr/>
        </p:nvSpPr>
        <p:spPr>
          <a:xfrm>
            <a:off x="777240" y="5440680"/>
            <a:ext cx="4023360" cy="457200"/>
          </a:xfrm>
          <a:prstGeom prst="rect">
            <a:avLst/>
          </a:prstGeom>
          <a:noFill/>
          <a:ln/>
        </p:spPr>
        <p:txBody>
          <a:bodyPr wrap="square" lIns="0" tIns="0" rIns="0" bIns="0" rtlCol="0" anchor="ctr"/>
          <a:lstStyle/>
          <a:p>
            <a:pPr indent="0" marL="0">
              <a:buNone/>
            </a:pPr>
            <a:r>
              <a:rPr lang="en-US" sz="1300" b="1" dirty="0">
                <a:solidFill>
                  <a:srgbClr val="FFC24B"/>
                </a:solidFill>
                <a:latin typeface="Palatino Linotype" pitchFamily="34" charset="0"/>
                <a:ea typeface="Palatino Linotype" pitchFamily="34" charset="-122"/>
                <a:cs typeface="Palatino Linotype" pitchFamily="34" charset="-120"/>
              </a:rPr>
              <a:t>Mentimeter: menti.com/alp6ua99f28t</a:t>
            </a:r>
            <a:endParaRPr lang="en-US" sz="1300" dirty="0"/>
          </a:p>
        </p:txBody>
      </p:sp>
      <p:sp>
        <p:nvSpPr>
          <p:cNvPr id="11" name="Shape 8"/>
          <p:cNvSpPr/>
          <p:nvPr/>
        </p:nvSpPr>
        <p:spPr>
          <a:xfrm>
            <a:off x="6705295" y="6144768"/>
            <a:ext cx="5486400" cy="713232"/>
          </a:xfrm>
          <a:prstGeom prst="rect">
            <a:avLst/>
          </a:prstGeom>
          <a:solidFill>
            <a:srgbClr val="11121A">
              <a:alpha val="75000"/>
            </a:srgbClr>
          </a:solidFill>
          <a:ln w="12700">
            <a:solidFill>
              <a:srgbClr val="11121A"/>
            </a:solidFill>
            <a:prstDash val="solid"/>
          </a:ln>
        </p:spPr>
        <p:txBody>
          <a:bodyPr/>
          <a:p/>
        </p:txBody>
      </p:sp>
      <p:sp>
        <p:nvSpPr>
          <p:cNvPr id="12" name="Text 9"/>
          <p:cNvSpPr/>
          <p:nvPr/>
        </p:nvSpPr>
        <p:spPr>
          <a:xfrm>
            <a:off x="6903720" y="6181344"/>
            <a:ext cx="5120640" cy="384048"/>
          </a:xfrm>
          <a:prstGeom prst="rect">
            <a:avLst/>
          </a:prstGeom>
          <a:noFill/>
          <a:ln/>
        </p:spPr>
        <p:txBody>
          <a:bodyPr wrap="square" lIns="0" tIns="0" rIns="0" bIns="0" rtlCol="0" anchor="ctr"/>
          <a:lstStyle/>
          <a:p>
            <a:pPr indent="0" marL="0">
              <a:buNone/>
            </a:pPr>
            <a:r>
              <a:rPr lang="en-US" sz="1300" b="1" dirty="0">
                <a:solidFill>
                  <a:srgbClr val="FFFFFF"/>
                </a:solidFill>
                <a:latin typeface="Palatino Linotype" pitchFamily="34" charset="0"/>
                <a:ea typeface="Palatino Linotype" pitchFamily="34" charset="-122"/>
                <a:cs typeface="Palatino Linotype" pitchFamily="34" charset="-120"/>
              </a:rPr>
              <a:t>O sală de recuperare. Cum știm dacă îngrijirea din ea e bună?</a:t>
            </a:r>
            <a:endParaRPr lang="en-US" sz="1300" dirty="0"/>
          </a:p>
        </p:txBody>
      </p:sp>
      <p:sp>
        <p:nvSpPr>
          <p:cNvPr id="13" name="Text 10"/>
          <p:cNvSpPr/>
          <p:nvPr/>
        </p:nvSpPr>
        <p:spPr>
          <a:xfrm>
            <a:off x="6903720" y="6565392"/>
            <a:ext cx="5120640" cy="219456"/>
          </a:xfrm>
          <a:prstGeom prst="rect">
            <a:avLst/>
          </a:prstGeom>
          <a:noFill/>
          <a:ln/>
        </p:spPr>
        <p:txBody>
          <a:bodyPr wrap="square" lIns="0" tIns="0" rIns="0" bIns="0" rtlCol="0" anchor="ctr"/>
          <a:lstStyle/>
          <a:p>
            <a:pPr indent="0" marL="0">
              <a:buNone/>
            </a:pPr>
            <a:r>
              <a:rPr lang="en-US" sz="850" i="1" dirty="0">
                <a:solidFill>
                  <a:srgbClr val="C9CCD8"/>
                </a:solidFill>
                <a:latin typeface="Palatino Linotype" pitchFamily="34" charset="0"/>
                <a:ea typeface="Palatino Linotype" pitchFamily="34" charset="-122"/>
                <a:cs typeface="Palatino Linotype" pitchFamily="34" charset="-120"/>
              </a:rPr>
              <a:t>Foto: Igor Georgievskiy · CC BY-SA 4.0 · Wikimedia Commons</a:t>
            </a:r>
            <a:endParaRPr lang="en-US" sz="85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6F5F2"/>
        </a:solidFill>
      </p:bgPr>
    </p:bg>
    <p:spTree>
      <p:nvGrpSpPr>
        <p:cNvPr id="1" name=""/>
        <p:cNvGrpSpPr/>
        <p:nvPr/>
      </p:nvGrpSpPr>
      <p:grpSpPr>
        <a:xfrm>
          <a:off x="0" y="0"/>
          <a:ext cx="0" cy="0"/>
          <a:chOff x="0" y="0"/>
          <a:chExt cx="0" cy="0"/>
        </a:xfrm>
      </p:grpSpPr>
      <p:sp>
        <p:nvSpPr>
          <p:cNvPr id="2" name="Text 0"/>
          <p:cNvSpPr/>
          <p:nvPr/>
        </p:nvSpPr>
        <p:spPr>
          <a:xfrm>
            <a:off x="594360" y="347472"/>
            <a:ext cx="7680960" cy="329184"/>
          </a:xfrm>
          <a:prstGeom prst="rect">
            <a:avLst/>
          </a:prstGeom>
          <a:noFill/>
          <a:ln/>
        </p:spPr>
        <p:txBody>
          <a:bodyPr wrap="square" lIns="0" tIns="0" rIns="0" bIns="0" rtlCol="0" anchor="t"/>
          <a:lstStyle/>
          <a:p>
            <a:pPr indent="0" marL="0">
              <a:buNone/>
            </a:pPr>
            <a:r>
              <a:rPr lang="en-US" sz="1300" b="1" spc="200" kern="0" dirty="0">
                <a:solidFill>
                  <a:srgbClr val="B02532"/>
                </a:solidFill>
                <a:latin typeface="Palatino Linotype" pitchFamily="34" charset="0"/>
                <a:ea typeface="Palatino Linotype" pitchFamily="34" charset="-122"/>
                <a:cs typeface="Palatino Linotype" pitchFamily="34" charset="-120"/>
              </a:rPr>
              <a:t>AZI</a:t>
            </a:r>
            <a:endParaRPr lang="en-US" sz="1300" dirty="0"/>
          </a:p>
        </p:txBody>
      </p:sp>
      <p:sp>
        <p:nvSpPr>
          <p:cNvPr id="3" name="Text 1"/>
          <p:cNvSpPr/>
          <p:nvPr/>
        </p:nvSpPr>
        <p:spPr>
          <a:xfrm>
            <a:off x="594360" y="713232"/>
            <a:ext cx="10972800" cy="914400"/>
          </a:xfrm>
          <a:prstGeom prst="rect">
            <a:avLst/>
          </a:prstGeom>
          <a:noFill/>
          <a:ln/>
        </p:spPr>
        <p:txBody>
          <a:bodyPr wrap="square" lIns="0" tIns="0" rIns="0" bIns="0" rtlCol="0" anchor="t"/>
          <a:lstStyle/>
          <a:p>
            <a:pPr indent="0" marL="0">
              <a:buNone/>
            </a:pPr>
            <a:r>
              <a:rPr lang="en-US" sz="2900" b="1" dirty="0">
                <a:solidFill>
                  <a:srgbClr val="11121A"/>
                </a:solidFill>
                <a:latin typeface="Palatino Linotype" pitchFamily="34" charset="0"/>
                <a:ea typeface="Palatino Linotype" pitchFamily="34" charset="-122"/>
                <a:cs typeface="Palatino Linotype" pitchFamily="34" charset="-120"/>
              </a:rPr>
              <a:t>Trei cuvinte în titlu, trei întrebări pe același caz</a:t>
            </a:r>
            <a:endParaRPr lang="en-US" sz="2900" dirty="0"/>
          </a:p>
        </p:txBody>
      </p:sp>
      <p:sp>
        <p:nvSpPr>
          <p:cNvPr id="4" name="Shape 2"/>
          <p:cNvSpPr/>
          <p:nvPr/>
        </p:nvSpPr>
        <p:spPr>
          <a:xfrm>
            <a:off x="594360" y="1783080"/>
            <a:ext cx="3520440" cy="2377440"/>
          </a:xfrm>
          <a:prstGeom prst="roundRect">
            <a:avLst>
              <a:gd name="adj" fmla="val 3462"/>
            </a:avLst>
          </a:prstGeom>
          <a:solidFill>
            <a:srgbClr val="F4E0E2"/>
          </a:solidFill>
          <a:ln w="12700">
            <a:solidFill>
              <a:srgbClr val="F4E0E2"/>
            </a:solidFill>
            <a:prstDash val="solid"/>
          </a:ln>
        </p:spPr>
        <p:txBody>
          <a:bodyPr/>
          <a:p/>
        </p:txBody>
      </p:sp>
      <p:sp>
        <p:nvSpPr>
          <p:cNvPr id="5" name="Text 3"/>
          <p:cNvSpPr/>
          <p:nvPr/>
        </p:nvSpPr>
        <p:spPr>
          <a:xfrm>
            <a:off x="868680" y="1965960"/>
            <a:ext cx="3017520" cy="365760"/>
          </a:xfrm>
          <a:prstGeom prst="rect">
            <a:avLst/>
          </a:prstGeom>
          <a:noFill/>
          <a:ln/>
        </p:spPr>
        <p:txBody>
          <a:bodyPr wrap="square" lIns="0" tIns="0" rIns="0" bIns="0" rtlCol="0" anchor="t"/>
          <a:lstStyle/>
          <a:p>
            <a:pPr indent="0" marL="0">
              <a:buNone/>
            </a:pPr>
            <a:r>
              <a:rPr lang="en-US" sz="1400" b="1" spc="100" kern="0" dirty="0">
                <a:solidFill>
                  <a:srgbClr val="B02532"/>
                </a:solidFill>
                <a:latin typeface="Palatino Linotype" pitchFamily="34" charset="0"/>
                <a:ea typeface="Palatino Linotype" pitchFamily="34" charset="-122"/>
                <a:cs typeface="Palatino Linotype" pitchFamily="34" charset="-120"/>
              </a:rPr>
              <a:t>CALITATEA</a:t>
            </a:r>
            <a:endParaRPr lang="en-US" sz="1400" dirty="0"/>
          </a:p>
        </p:txBody>
      </p:sp>
      <p:sp>
        <p:nvSpPr>
          <p:cNvPr id="6" name="Text 4"/>
          <p:cNvSpPr/>
          <p:nvPr/>
        </p:nvSpPr>
        <p:spPr>
          <a:xfrm>
            <a:off x="868680" y="2468880"/>
            <a:ext cx="3017520" cy="1600200"/>
          </a:xfrm>
          <a:prstGeom prst="rect">
            <a:avLst/>
          </a:prstGeom>
          <a:noFill/>
          <a:ln/>
        </p:spPr>
        <p:txBody>
          <a:bodyPr wrap="square" lIns="0" tIns="0" rIns="0" bIns="0" rtlCol="0" anchor="t"/>
          <a:lstStyle/>
          <a:p>
            <a:pPr indent="0" marL="0">
              <a:buNone/>
            </a:pPr>
            <a:r>
              <a:rPr lang="en-US" sz="1800" dirty="0">
                <a:solidFill>
                  <a:srgbClr val="11121A"/>
                </a:solidFill>
                <a:latin typeface="Palatino Linotype" pitchFamily="34" charset="0"/>
                <a:ea typeface="Palatino Linotype" pitchFamily="34" charset="-122"/>
                <a:cs typeface="Palatino Linotype" pitchFamily="34" charset="-120"/>
              </a:rPr>
              <a:t>A fost bună îngrijirea: rezultatul, ce s-a făcut, cu ce mijloace?</a:t>
            </a:r>
            <a:endParaRPr lang="en-US" sz="1800" dirty="0"/>
          </a:p>
        </p:txBody>
      </p:sp>
      <p:sp>
        <p:nvSpPr>
          <p:cNvPr id="7" name="Shape 5"/>
          <p:cNvSpPr/>
          <p:nvPr/>
        </p:nvSpPr>
        <p:spPr>
          <a:xfrm>
            <a:off x="4343400" y="1783080"/>
            <a:ext cx="3520440" cy="2377440"/>
          </a:xfrm>
          <a:prstGeom prst="roundRect">
            <a:avLst>
              <a:gd name="adj" fmla="val 3462"/>
            </a:avLst>
          </a:prstGeom>
          <a:solidFill>
            <a:srgbClr val="F6EDD5"/>
          </a:solidFill>
          <a:ln w="12700">
            <a:solidFill>
              <a:srgbClr val="F6EDD5"/>
            </a:solidFill>
            <a:prstDash val="solid"/>
          </a:ln>
        </p:spPr>
        <p:txBody>
          <a:bodyPr/>
          <a:p/>
        </p:txBody>
      </p:sp>
      <p:sp>
        <p:nvSpPr>
          <p:cNvPr id="8" name="Text 6"/>
          <p:cNvSpPr/>
          <p:nvPr/>
        </p:nvSpPr>
        <p:spPr>
          <a:xfrm>
            <a:off x="4617720" y="1965960"/>
            <a:ext cx="3017520" cy="365760"/>
          </a:xfrm>
          <a:prstGeom prst="rect">
            <a:avLst/>
          </a:prstGeom>
          <a:noFill/>
          <a:ln/>
        </p:spPr>
        <p:txBody>
          <a:bodyPr wrap="square" lIns="0" tIns="0" rIns="0" bIns="0" rtlCol="0" anchor="t"/>
          <a:lstStyle/>
          <a:p>
            <a:pPr indent="0" marL="0">
              <a:buNone/>
            </a:pPr>
            <a:r>
              <a:rPr lang="en-US" sz="1400" b="1" spc="100" kern="0" dirty="0">
                <a:solidFill>
                  <a:srgbClr val="8A6100"/>
                </a:solidFill>
                <a:latin typeface="Palatino Linotype" pitchFamily="34" charset="0"/>
                <a:ea typeface="Palatino Linotype" pitchFamily="34" charset="-122"/>
                <a:cs typeface="Palatino Linotype" pitchFamily="34" charset="-120"/>
              </a:rPr>
              <a:t>SIGURANȚA</a:t>
            </a:r>
            <a:endParaRPr lang="en-US" sz="1400" dirty="0"/>
          </a:p>
        </p:txBody>
      </p:sp>
      <p:sp>
        <p:nvSpPr>
          <p:cNvPr id="9" name="Text 7"/>
          <p:cNvSpPr/>
          <p:nvPr/>
        </p:nvSpPr>
        <p:spPr>
          <a:xfrm>
            <a:off x="4617720" y="2468880"/>
            <a:ext cx="3017520" cy="1600200"/>
          </a:xfrm>
          <a:prstGeom prst="rect">
            <a:avLst/>
          </a:prstGeom>
          <a:noFill/>
          <a:ln/>
        </p:spPr>
        <p:txBody>
          <a:bodyPr wrap="square" lIns="0" tIns="0" rIns="0" bIns="0" rtlCol="0" anchor="t"/>
          <a:lstStyle/>
          <a:p>
            <a:pPr indent="0" marL="0">
              <a:buNone/>
            </a:pPr>
            <a:r>
              <a:rPr lang="en-US" sz="1800" dirty="0">
                <a:solidFill>
                  <a:srgbClr val="11121A"/>
                </a:solidFill>
                <a:latin typeface="Palatino Linotype" pitchFamily="34" charset="0"/>
                <a:ea typeface="Palatino Linotype" pitchFamily="34" charset="-122"/>
                <a:cs typeface="Palatino Linotype" pitchFamily="34" charset="-120"/>
              </a:rPr>
              <a:t>Vătămarea putea fi prevenită?</a:t>
            </a:r>
            <a:endParaRPr lang="en-US" sz="1800" dirty="0"/>
          </a:p>
        </p:txBody>
      </p:sp>
      <p:sp>
        <p:nvSpPr>
          <p:cNvPr id="10" name="Shape 8"/>
          <p:cNvSpPr/>
          <p:nvPr/>
        </p:nvSpPr>
        <p:spPr>
          <a:xfrm>
            <a:off x="8092440" y="1783080"/>
            <a:ext cx="3520440" cy="2377440"/>
          </a:xfrm>
          <a:prstGeom prst="roundRect">
            <a:avLst>
              <a:gd name="adj" fmla="val 3462"/>
            </a:avLst>
          </a:prstGeom>
          <a:solidFill>
            <a:srgbClr val="E1F0EC"/>
          </a:solidFill>
          <a:ln w="12700">
            <a:solidFill>
              <a:srgbClr val="E1F0EC"/>
            </a:solidFill>
            <a:prstDash val="solid"/>
          </a:ln>
        </p:spPr>
        <p:txBody>
          <a:bodyPr/>
          <a:p/>
        </p:txBody>
      </p:sp>
      <p:sp>
        <p:nvSpPr>
          <p:cNvPr id="11" name="Text 9"/>
          <p:cNvSpPr/>
          <p:nvPr/>
        </p:nvSpPr>
        <p:spPr>
          <a:xfrm>
            <a:off x="8366760" y="1965960"/>
            <a:ext cx="3017520" cy="365760"/>
          </a:xfrm>
          <a:prstGeom prst="rect">
            <a:avLst/>
          </a:prstGeom>
          <a:noFill/>
          <a:ln/>
        </p:spPr>
        <p:txBody>
          <a:bodyPr wrap="square" lIns="0" tIns="0" rIns="0" bIns="0" rtlCol="0" anchor="t"/>
          <a:lstStyle/>
          <a:p>
            <a:pPr indent="0" marL="0">
              <a:buNone/>
            </a:pPr>
            <a:r>
              <a:rPr lang="en-US" sz="1400" b="1" spc="100" kern="0" dirty="0">
                <a:solidFill>
                  <a:srgbClr val="0E7C6B"/>
                </a:solidFill>
                <a:latin typeface="Palatino Linotype" pitchFamily="34" charset="0"/>
                <a:ea typeface="Palatino Linotype" pitchFamily="34" charset="-122"/>
                <a:cs typeface="Palatino Linotype" pitchFamily="34" charset="-120"/>
              </a:rPr>
              <a:t>VALOAREA</a:t>
            </a:r>
            <a:endParaRPr lang="en-US" sz="1400" dirty="0"/>
          </a:p>
        </p:txBody>
      </p:sp>
      <p:sp>
        <p:nvSpPr>
          <p:cNvPr id="12" name="Text 10"/>
          <p:cNvSpPr/>
          <p:nvPr/>
        </p:nvSpPr>
        <p:spPr>
          <a:xfrm>
            <a:off x="8366760" y="2468880"/>
            <a:ext cx="3017520" cy="1600200"/>
          </a:xfrm>
          <a:prstGeom prst="rect">
            <a:avLst/>
          </a:prstGeom>
          <a:noFill/>
          <a:ln/>
        </p:spPr>
        <p:txBody>
          <a:bodyPr wrap="square" lIns="0" tIns="0" rIns="0" bIns="0" rtlCol="0" anchor="t"/>
          <a:lstStyle/>
          <a:p>
            <a:pPr indent="0" marL="0">
              <a:buNone/>
            </a:pPr>
            <a:r>
              <a:rPr lang="en-US" sz="1800" dirty="0">
                <a:solidFill>
                  <a:srgbClr val="11121A"/>
                </a:solidFill>
                <a:latin typeface="Palatino Linotype" pitchFamily="34" charset="0"/>
                <a:ea typeface="Palatino Linotype" pitchFamily="34" charset="-122"/>
                <a:cs typeface="Palatino Linotype" pitchFamily="34" charset="-120"/>
              </a:rPr>
              <a:t>Ce a primit, cu ce a costat, l-a dus unde voia să ajungă?</a:t>
            </a:r>
            <a:endParaRPr lang="en-US" sz="1800" dirty="0"/>
          </a:p>
        </p:txBody>
      </p:sp>
      <p:sp>
        <p:nvSpPr>
          <p:cNvPr id="13" name="Text 11"/>
          <p:cNvSpPr/>
          <p:nvPr/>
        </p:nvSpPr>
        <p:spPr>
          <a:xfrm>
            <a:off x="594360" y="4434840"/>
            <a:ext cx="10972800" cy="731520"/>
          </a:xfrm>
          <a:prstGeom prst="rect">
            <a:avLst/>
          </a:prstGeom>
          <a:noFill/>
          <a:ln/>
        </p:spPr>
        <p:txBody>
          <a:bodyPr wrap="square" lIns="0" tIns="0" rIns="0" bIns="0" rtlCol="0" anchor="t"/>
          <a:lstStyle/>
          <a:p>
            <a:pPr indent="0" marL="0">
              <a:buNone/>
            </a:pPr>
            <a:r>
              <a:rPr lang="en-US" sz="1700" b="1" dirty="0">
                <a:solidFill>
                  <a:srgbClr val="11121A"/>
                </a:solidFill>
                <a:latin typeface="Palatino Linotype" pitchFamily="34" charset="0"/>
                <a:ea typeface="Palatino Linotype" pitchFamily="34" charset="-122"/>
                <a:cs typeface="Palatino Linotype" pitchFamily="34" charset="-120"/>
              </a:rPr>
              <a:t>Jumătate din oră lucrați voi, pe telefon și cu colegul de bancă.</a:t>
            </a:r>
            <a:endParaRPr lang="en-US" sz="1700" dirty="0"/>
          </a:p>
        </p:txBody>
      </p:sp>
      <p:sp>
        <p:nvSpPr>
          <p:cNvPr id="14" name="Text 12"/>
          <p:cNvSpPr/>
          <p:nvPr/>
        </p:nvSpPr>
        <p:spPr>
          <a:xfrm>
            <a:off x="594360" y="5257800"/>
            <a:ext cx="10972800" cy="731520"/>
          </a:xfrm>
          <a:prstGeom prst="rect">
            <a:avLst/>
          </a:prstGeom>
          <a:noFill/>
          <a:ln/>
        </p:spPr>
        <p:txBody>
          <a:bodyPr wrap="square" lIns="0" tIns="0" rIns="0" bIns="0" rtlCol="0" anchor="t"/>
          <a:lstStyle/>
          <a:p>
            <a:pPr indent="0" marL="0">
              <a:buNone/>
            </a:pPr>
            <a:r>
              <a:rPr lang="en-US" sz="1600" dirty="0">
                <a:solidFill>
                  <a:srgbClr val="585A64"/>
                </a:solidFill>
                <a:latin typeface="Palatino Linotype" pitchFamily="34" charset="0"/>
                <a:ea typeface="Palatino Linotype" pitchFamily="34" charset="-122"/>
                <a:cs typeface="Palatino Linotype" pitchFamily="34" charset="-120"/>
              </a:rPr>
              <a:t>Tot azi: lucrările practice 3 și 4; testul grilă, în ultimele 30 de minute.</a:t>
            </a:r>
            <a:endParaRPr lang="en-US" sz="16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11121A"/>
        </a:solidFill>
      </p:bgPr>
    </p:bg>
    <p:spTree>
      <p:nvGrpSpPr>
        <p:cNvPr id="1" name=""/>
        <p:cNvGrpSpPr/>
        <p:nvPr/>
      </p:nvGrpSpPr>
      <p:grpSpPr>
        <a:xfrm>
          <a:off x="0" y="0"/>
          <a:ext cx="0" cy="0"/>
          <a:chOff x="0" y="0"/>
          <a:chExt cx="0" cy="0"/>
        </a:xfrm>
      </p:grpSpPr>
      <p:sp>
        <p:nvSpPr>
          <p:cNvPr id="2" name="Text 0"/>
          <p:cNvSpPr/>
          <p:nvPr/>
        </p:nvSpPr>
        <p:spPr>
          <a:xfrm>
            <a:off x="594360" y="347472"/>
            <a:ext cx="7680960" cy="329184"/>
          </a:xfrm>
          <a:prstGeom prst="rect">
            <a:avLst/>
          </a:prstGeom>
          <a:noFill/>
          <a:ln/>
        </p:spPr>
        <p:txBody>
          <a:bodyPr wrap="square" lIns="0" tIns="0" rIns="0" bIns="0" rtlCol="0" anchor="t"/>
          <a:lstStyle/>
          <a:p>
            <a:pPr indent="0" marL="0">
              <a:buNone/>
            </a:pPr>
            <a:r>
              <a:rPr lang="en-US" sz="1300" b="1" spc="200" kern="0" dirty="0">
                <a:solidFill>
                  <a:srgbClr val="FFC24B"/>
                </a:solidFill>
                <a:latin typeface="Palatino Linotype" pitchFamily="34" charset="0"/>
                <a:ea typeface="Palatino Linotype" pitchFamily="34" charset="-122"/>
                <a:cs typeface="Palatino Linotype" pitchFamily="34" charset="-120"/>
              </a:rPr>
              <a:t>CAZUL ȘEDINȚEI · CONSTRUIT ÎN SCOP DIDACTIC</a:t>
            </a:r>
            <a:endParaRPr lang="en-US" sz="1300" dirty="0"/>
          </a:p>
        </p:txBody>
      </p:sp>
      <p:sp>
        <p:nvSpPr>
          <p:cNvPr id="3" name="Text 1"/>
          <p:cNvSpPr/>
          <p:nvPr/>
        </p:nvSpPr>
        <p:spPr>
          <a:xfrm>
            <a:off x="594360" y="713232"/>
            <a:ext cx="10972800" cy="914400"/>
          </a:xfrm>
          <a:prstGeom prst="rect">
            <a:avLst/>
          </a:prstGeom>
          <a:noFill/>
          <a:ln/>
        </p:spPr>
        <p:txBody>
          <a:bodyPr wrap="square" lIns="0" tIns="0" rIns="0" bIns="0" rtlCol="0" anchor="t"/>
          <a:lstStyle/>
          <a:p>
            <a:pPr indent="0" marL="0">
              <a:buNone/>
            </a:pPr>
            <a:r>
              <a:rPr lang="en-US" sz="3000" b="1" dirty="0">
                <a:solidFill>
                  <a:srgbClr val="FFFFFF"/>
                </a:solidFill>
                <a:latin typeface="Palatino Linotype" pitchFamily="34" charset="0"/>
                <a:ea typeface="Palatino Linotype" pitchFamily="34" charset="-122"/>
                <a:cs typeface="Palatino Linotype" pitchFamily="34" charset="-120"/>
              </a:rPr>
              <a:t>Domnul E.: o cădere în a cincea noapte</a:t>
            </a:r>
            <a:endParaRPr lang="en-US" sz="3000" dirty="0"/>
          </a:p>
        </p:txBody>
      </p:sp>
      <p:sp>
        <p:nvSpPr>
          <p:cNvPr id="4" name="Text 2"/>
          <p:cNvSpPr/>
          <p:nvPr/>
        </p:nvSpPr>
        <p:spPr>
          <a:xfrm>
            <a:off x="594360" y="1600200"/>
            <a:ext cx="4480560" cy="2011680"/>
          </a:xfrm>
          <a:prstGeom prst="rect">
            <a:avLst/>
          </a:prstGeom>
          <a:noFill/>
          <a:ln/>
        </p:spPr>
        <p:txBody>
          <a:bodyPr wrap="square" lIns="0" tIns="0" rIns="0" bIns="0" rtlCol="0" anchor="t"/>
          <a:lstStyle/>
          <a:p>
            <a:pPr indent="0" marL="0">
              <a:buNone/>
            </a:pPr>
            <a:r>
              <a:rPr lang="en-US" sz="1700" dirty="0">
                <a:solidFill>
                  <a:srgbClr val="959BB0"/>
                </a:solidFill>
                <a:latin typeface="Palatino Linotype" pitchFamily="34" charset="0"/>
                <a:ea typeface="Palatino Linotype" pitchFamily="34" charset="-122"/>
                <a:cs typeface="Palatino Linotype" pitchFamily="34" charset="-120"/>
              </a:rPr>
              <a:t>Peste optzeci de ani, singur, la etajul doi, fără lift. Operat de fractură de col femural.</a:t>
            </a:r>
            <a:endParaRPr lang="en-US" sz="1700" dirty="0"/>
          </a:p>
        </p:txBody>
      </p:sp>
      <p:sp>
        <p:nvSpPr>
          <p:cNvPr id="5" name="Text 3"/>
          <p:cNvSpPr/>
          <p:nvPr/>
        </p:nvSpPr>
        <p:spPr>
          <a:xfrm>
            <a:off x="5486400" y="1600200"/>
            <a:ext cx="6035040" cy="365760"/>
          </a:xfrm>
          <a:prstGeom prst="rect">
            <a:avLst/>
          </a:prstGeom>
          <a:noFill/>
          <a:ln/>
        </p:spPr>
        <p:txBody>
          <a:bodyPr wrap="square" lIns="0" tIns="0" rIns="0" bIns="0" rtlCol="0" anchor="t"/>
          <a:lstStyle/>
          <a:p>
            <a:pPr indent="0" marL="0">
              <a:buNone/>
            </a:pPr>
            <a:r>
              <a:rPr lang="en-US" sz="1300" b="1" spc="100" kern="0" dirty="0">
                <a:solidFill>
                  <a:srgbClr val="FF4757"/>
                </a:solidFill>
                <a:latin typeface="Palatino Linotype" pitchFamily="34" charset="0"/>
                <a:ea typeface="Palatino Linotype" pitchFamily="34" charset="-122"/>
                <a:cs typeface="Palatino Linotype" pitchFamily="34" charset="-120"/>
              </a:rPr>
              <a:t>ORA TREI NOAPTEA</a:t>
            </a:r>
            <a:endParaRPr lang="en-US" sz="1300" dirty="0"/>
          </a:p>
        </p:txBody>
      </p:sp>
      <p:sp>
        <p:nvSpPr>
          <p:cNvPr id="6" name="Shape 4"/>
          <p:cNvSpPr/>
          <p:nvPr/>
        </p:nvSpPr>
        <p:spPr>
          <a:xfrm>
            <a:off x="5486400" y="2103120"/>
            <a:ext cx="64008" cy="484632"/>
          </a:xfrm>
          <a:prstGeom prst="rect">
            <a:avLst/>
          </a:prstGeom>
          <a:solidFill>
            <a:srgbClr val="FFC24B"/>
          </a:solidFill>
          <a:ln w="12700">
            <a:solidFill>
              <a:srgbClr val="FFC24B"/>
            </a:solidFill>
            <a:prstDash val="solid"/>
          </a:ln>
        </p:spPr>
        <p:txBody>
          <a:bodyPr/>
          <a:p/>
        </p:txBody>
      </p:sp>
      <p:sp>
        <p:nvSpPr>
          <p:cNvPr id="7" name="Text 5"/>
          <p:cNvSpPr/>
          <p:nvPr/>
        </p:nvSpPr>
        <p:spPr>
          <a:xfrm>
            <a:off x="5715000" y="2057400"/>
            <a:ext cx="5852160" cy="603504"/>
          </a:xfrm>
          <a:prstGeom prst="rect">
            <a:avLst/>
          </a:prstGeom>
          <a:noFill/>
          <a:ln/>
        </p:spPr>
        <p:txBody>
          <a:bodyPr wrap="square" lIns="0" tIns="0" rIns="0" bIns="0" rtlCol="0" anchor="t"/>
          <a:lstStyle/>
          <a:p>
            <a:pPr indent="0" marL="0">
              <a:buNone/>
            </a:pPr>
            <a:r>
              <a:rPr lang="en-US" sz="1600" dirty="0">
                <a:solidFill>
                  <a:srgbClr val="FFFFFF"/>
                </a:solidFill>
                <a:latin typeface="Palatino Linotype" pitchFamily="34" charset="0"/>
                <a:ea typeface="Palatino Linotype" pitchFamily="34" charset="-122"/>
                <a:cs typeface="Palatino Linotype" pitchFamily="34" charset="-120"/>
              </a:rPr>
              <a:t>Cadrul de mers: lângă ușă. Soneria: în spatele patului.</a:t>
            </a:r>
            <a:endParaRPr lang="en-US" sz="1600" dirty="0"/>
          </a:p>
        </p:txBody>
      </p:sp>
      <p:sp>
        <p:nvSpPr>
          <p:cNvPr id="8" name="Shape 6"/>
          <p:cNvSpPr/>
          <p:nvPr/>
        </p:nvSpPr>
        <p:spPr>
          <a:xfrm>
            <a:off x="5486400" y="2816352"/>
            <a:ext cx="64008" cy="484632"/>
          </a:xfrm>
          <a:prstGeom prst="rect">
            <a:avLst/>
          </a:prstGeom>
          <a:solidFill>
            <a:srgbClr val="9B7EF7"/>
          </a:solidFill>
          <a:ln w="12700">
            <a:solidFill>
              <a:srgbClr val="9B7EF7"/>
            </a:solidFill>
            <a:prstDash val="solid"/>
          </a:ln>
        </p:spPr>
        <p:txBody>
          <a:bodyPr/>
          <a:p/>
        </p:txBody>
      </p:sp>
      <p:sp>
        <p:nvSpPr>
          <p:cNvPr id="9" name="Text 7"/>
          <p:cNvSpPr/>
          <p:nvPr/>
        </p:nvSpPr>
        <p:spPr>
          <a:xfrm>
            <a:off x="5715000" y="2770632"/>
            <a:ext cx="5852160" cy="603504"/>
          </a:xfrm>
          <a:prstGeom prst="rect">
            <a:avLst/>
          </a:prstGeom>
          <a:noFill/>
          <a:ln/>
        </p:spPr>
        <p:txBody>
          <a:bodyPr wrap="square" lIns="0" tIns="0" rIns="0" bIns="0" rtlCol="0" anchor="t"/>
          <a:lstStyle/>
          <a:p>
            <a:pPr indent="0" marL="0">
              <a:buNone/>
            </a:pPr>
            <a:r>
              <a:rPr lang="en-US" sz="1600" dirty="0">
                <a:solidFill>
                  <a:srgbClr val="FFFFFF"/>
                </a:solidFill>
                <a:latin typeface="Palatino Linotype" pitchFamily="34" charset="0"/>
                <a:ea typeface="Palatino Linotype" pitchFamily="34" charset="-122"/>
                <a:cs typeface="Palatino Linotype" pitchFamily="34" charset="-120"/>
              </a:rPr>
              <a:t>Salonul: întunecat. Seara: un somnifer.</a:t>
            </a:r>
            <a:endParaRPr lang="en-US" sz="1600" dirty="0"/>
          </a:p>
        </p:txBody>
      </p:sp>
      <p:sp>
        <p:nvSpPr>
          <p:cNvPr id="10" name="Shape 8"/>
          <p:cNvSpPr/>
          <p:nvPr/>
        </p:nvSpPr>
        <p:spPr>
          <a:xfrm>
            <a:off x="5486400" y="3529584"/>
            <a:ext cx="64008" cy="484632"/>
          </a:xfrm>
          <a:prstGeom prst="rect">
            <a:avLst/>
          </a:prstGeom>
          <a:solidFill>
            <a:srgbClr val="FF4757"/>
          </a:solidFill>
          <a:ln w="12700">
            <a:solidFill>
              <a:srgbClr val="FF4757"/>
            </a:solidFill>
            <a:prstDash val="solid"/>
          </a:ln>
        </p:spPr>
        <p:txBody>
          <a:bodyPr/>
          <a:p/>
        </p:txBody>
      </p:sp>
      <p:sp>
        <p:nvSpPr>
          <p:cNvPr id="11" name="Text 9"/>
          <p:cNvSpPr/>
          <p:nvPr/>
        </p:nvSpPr>
        <p:spPr>
          <a:xfrm>
            <a:off x="5715000" y="3483864"/>
            <a:ext cx="5852160" cy="603504"/>
          </a:xfrm>
          <a:prstGeom prst="rect">
            <a:avLst/>
          </a:prstGeom>
          <a:noFill/>
          <a:ln/>
        </p:spPr>
        <p:txBody>
          <a:bodyPr wrap="square" lIns="0" tIns="0" rIns="0" bIns="0" rtlCol="0" anchor="t"/>
          <a:lstStyle/>
          <a:p>
            <a:pPr indent="0" marL="0">
              <a:buNone/>
            </a:pPr>
            <a:r>
              <a:rPr lang="en-US" sz="1600" dirty="0">
                <a:solidFill>
                  <a:srgbClr val="FFFFFF"/>
                </a:solidFill>
                <a:latin typeface="Palatino Linotype" pitchFamily="34" charset="0"/>
                <a:ea typeface="Palatino Linotype" pitchFamily="34" charset="-122"/>
                <a:cs typeface="Palatino Linotype" pitchFamily="34" charset="-120"/>
              </a:rPr>
              <a:t>Se sprijină de noptiera cu rotile; noptiera alunecă.</a:t>
            </a:r>
            <a:endParaRPr lang="en-US" sz="1600" dirty="0"/>
          </a:p>
        </p:txBody>
      </p:sp>
      <p:sp>
        <p:nvSpPr>
          <p:cNvPr id="12" name="Shape 10"/>
          <p:cNvSpPr/>
          <p:nvPr/>
        </p:nvSpPr>
        <p:spPr>
          <a:xfrm>
            <a:off x="5486400" y="4242816"/>
            <a:ext cx="64008" cy="484632"/>
          </a:xfrm>
          <a:prstGeom prst="rect">
            <a:avLst/>
          </a:prstGeom>
          <a:solidFill>
            <a:srgbClr val="27D3BE"/>
          </a:solidFill>
          <a:ln w="12700">
            <a:solidFill>
              <a:srgbClr val="27D3BE"/>
            </a:solidFill>
            <a:prstDash val="solid"/>
          </a:ln>
        </p:spPr>
        <p:txBody>
          <a:bodyPr/>
          <a:p/>
        </p:txBody>
      </p:sp>
      <p:sp>
        <p:nvSpPr>
          <p:cNvPr id="13" name="Text 11"/>
          <p:cNvSpPr/>
          <p:nvPr/>
        </p:nvSpPr>
        <p:spPr>
          <a:xfrm>
            <a:off x="5715000" y="4197096"/>
            <a:ext cx="5852160" cy="603504"/>
          </a:xfrm>
          <a:prstGeom prst="rect">
            <a:avLst/>
          </a:prstGeom>
          <a:noFill/>
          <a:ln/>
        </p:spPr>
        <p:txBody>
          <a:bodyPr wrap="square" lIns="0" tIns="0" rIns="0" bIns="0" rtlCol="0" anchor="t"/>
          <a:lstStyle/>
          <a:p>
            <a:pPr indent="0" marL="0">
              <a:buNone/>
            </a:pPr>
            <a:r>
              <a:rPr lang="en-US" sz="1600" dirty="0">
                <a:solidFill>
                  <a:srgbClr val="FFFFFF"/>
                </a:solidFill>
                <a:latin typeface="Palatino Linotype" pitchFamily="34" charset="0"/>
                <a:ea typeface="Palatino Linotype" pitchFamily="34" charset="-122"/>
                <a:cs typeface="Palatino Linotype" pitchFamily="34" charset="-120"/>
              </a:rPr>
              <a:t>Asistenta, singură pe secție, îl găsește după un sfert de oră.</a:t>
            </a:r>
            <a:endParaRPr lang="en-US" sz="1600" dirty="0"/>
          </a:p>
        </p:txBody>
      </p:sp>
      <p:sp>
        <p:nvSpPr>
          <p:cNvPr id="14" name="Shape 12"/>
          <p:cNvSpPr/>
          <p:nvPr/>
        </p:nvSpPr>
        <p:spPr>
          <a:xfrm>
            <a:off x="594360" y="5029200"/>
            <a:ext cx="10972800" cy="960120"/>
          </a:xfrm>
          <a:prstGeom prst="roundRect">
            <a:avLst>
              <a:gd name="adj" fmla="val 8571"/>
            </a:avLst>
          </a:prstGeom>
          <a:solidFill>
            <a:srgbClr val="272A38"/>
          </a:solidFill>
          <a:ln w="12700">
            <a:solidFill>
              <a:srgbClr val="272A38"/>
            </a:solidFill>
            <a:prstDash val="solid"/>
          </a:ln>
        </p:spPr>
        <p:txBody>
          <a:bodyPr/>
          <a:p/>
        </p:txBody>
      </p:sp>
      <p:sp>
        <p:nvSpPr>
          <p:cNvPr id="15" name="Text 13"/>
          <p:cNvSpPr/>
          <p:nvPr/>
        </p:nvSpPr>
        <p:spPr>
          <a:xfrm>
            <a:off x="868680" y="5029200"/>
            <a:ext cx="10424160" cy="960120"/>
          </a:xfrm>
          <a:prstGeom prst="rect">
            <a:avLst/>
          </a:prstGeom>
          <a:noFill/>
          <a:ln/>
        </p:spPr>
        <p:txBody>
          <a:bodyPr wrap="square" lIns="0" tIns="0" rIns="0" bIns="0" rtlCol="0" anchor="ctr"/>
          <a:lstStyle/>
          <a:p>
            <a:pPr indent="0" marL="0">
              <a:buNone/>
            </a:pPr>
            <a:r>
              <a:rPr lang="en-US" sz="1700" b="1" dirty="0">
                <a:solidFill>
                  <a:srgbClr val="FFFFFF"/>
                </a:solidFill>
                <a:latin typeface="Palatino Linotype" pitchFamily="34" charset="0"/>
                <a:ea typeface="Palatino Linotype" pitchFamily="34" charset="-122"/>
                <a:cs typeface="Palatino Linotype" pitchFamily="34" charset="-120"/>
              </a:rPr>
              <a:t>La internare: „risc mare” pe scala de cădere. Nimeni nu a stabilit ce se schimbă.</a:t>
            </a:r>
            <a:endParaRPr lang="en-US" sz="17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11121A"/>
        </a:solidFill>
      </p:bgPr>
    </p:bg>
    <p:spTree>
      <p:nvGrpSpPr>
        <p:cNvPr id="1" name=""/>
        <p:cNvGrpSpPr/>
        <p:nvPr/>
      </p:nvGrpSpPr>
      <p:grpSpPr>
        <a:xfrm>
          <a:off x="0" y="0"/>
          <a:ext cx="0" cy="0"/>
          <a:chOff x="0" y="0"/>
          <a:chExt cx="0" cy="0"/>
        </a:xfrm>
      </p:grpSpPr>
      <p:sp>
        <p:nvSpPr>
          <p:cNvPr id="2" name="Shape 0"/>
          <p:cNvSpPr/>
          <p:nvPr/>
        </p:nvSpPr>
        <p:spPr>
          <a:xfrm>
            <a:off x="8366760" y="292608"/>
            <a:ext cx="3200400" cy="420624"/>
          </a:xfrm>
          <a:prstGeom prst="roundRect">
            <a:avLst>
              <a:gd name="adj" fmla="val 50000"/>
            </a:avLst>
          </a:prstGeom>
          <a:solidFill>
            <a:srgbClr val="FFC24B"/>
          </a:solidFill>
          <a:ln w="12700">
            <a:solidFill>
              <a:srgbClr val="FFC24B"/>
            </a:solidFill>
            <a:prstDash val="solid"/>
          </a:ln>
        </p:spPr>
        <p:txBody>
          <a:bodyPr/>
          <a:p/>
        </p:txBody>
      </p:sp>
      <p:sp>
        <p:nvSpPr>
          <p:cNvPr id="3" name="Text 1"/>
          <p:cNvSpPr/>
          <p:nvPr/>
        </p:nvSpPr>
        <p:spPr>
          <a:xfrm>
            <a:off x="8366760" y="292608"/>
            <a:ext cx="3200400" cy="420624"/>
          </a:xfrm>
          <a:prstGeom prst="rect">
            <a:avLst/>
          </a:prstGeom>
          <a:noFill/>
          <a:ln/>
        </p:spPr>
        <p:txBody>
          <a:bodyPr wrap="square" lIns="0" tIns="0" rIns="0" bIns="0" rtlCol="0" anchor="ctr"/>
          <a:lstStyle/>
          <a:p>
            <a:pPr algn="ctr" indent="0" marL="0">
              <a:buNone/>
            </a:pPr>
            <a:r>
              <a:rPr lang="en-US" sz="1300" b="1" dirty="0">
                <a:solidFill>
                  <a:srgbClr val="11121A"/>
                </a:solidFill>
                <a:latin typeface="Palatino Linotype" pitchFamily="34" charset="0"/>
                <a:ea typeface="Palatino Linotype" pitchFamily="34" charset="-122"/>
                <a:cs typeface="Palatino Linotype" pitchFamily="34" charset="-120"/>
              </a:rPr>
              <a:t>MENTIMETER · VOT</a:t>
            </a:r>
            <a:endParaRPr lang="en-US" sz="1300" dirty="0"/>
          </a:p>
        </p:txBody>
      </p:sp>
      <p:sp>
        <p:nvSpPr>
          <p:cNvPr id="4" name="Text 2"/>
          <p:cNvSpPr/>
          <p:nvPr/>
        </p:nvSpPr>
        <p:spPr>
          <a:xfrm>
            <a:off x="594360" y="347472"/>
            <a:ext cx="7680960" cy="329184"/>
          </a:xfrm>
          <a:prstGeom prst="rect">
            <a:avLst/>
          </a:prstGeom>
          <a:noFill/>
          <a:ln/>
        </p:spPr>
        <p:txBody>
          <a:bodyPr wrap="square" lIns="0" tIns="0" rIns="0" bIns="0" rtlCol="0" anchor="t"/>
          <a:lstStyle/>
          <a:p>
            <a:pPr indent="0" marL="0">
              <a:buNone/>
            </a:pPr>
            <a:r>
              <a:rPr lang="en-US" sz="1300" b="1" spc="200" kern="0" dirty="0">
                <a:solidFill>
                  <a:srgbClr val="FFC24B"/>
                </a:solidFill>
                <a:latin typeface="Palatino Linotype" pitchFamily="34" charset="0"/>
                <a:ea typeface="Palatino Linotype" pitchFamily="34" charset="-122"/>
                <a:cs typeface="Palatino Linotype" pitchFamily="34" charset="-120"/>
              </a:rPr>
              <a:t>VOTUL DE DESCHIDERE</a:t>
            </a:r>
            <a:endParaRPr lang="en-US" sz="1300" dirty="0"/>
          </a:p>
        </p:txBody>
      </p:sp>
      <p:sp>
        <p:nvSpPr>
          <p:cNvPr id="5" name="Text 3"/>
          <p:cNvSpPr/>
          <p:nvPr/>
        </p:nvSpPr>
        <p:spPr>
          <a:xfrm>
            <a:off x="594360" y="914400"/>
            <a:ext cx="10972800" cy="914400"/>
          </a:xfrm>
          <a:prstGeom prst="rect">
            <a:avLst/>
          </a:prstGeom>
          <a:noFill/>
          <a:ln/>
        </p:spPr>
        <p:txBody>
          <a:bodyPr wrap="square" lIns="0" tIns="0" rIns="0" bIns="0" rtlCol="0" anchor="t"/>
          <a:lstStyle/>
          <a:p>
            <a:pPr indent="0" marL="0">
              <a:buNone/>
            </a:pPr>
            <a:r>
              <a:rPr lang="en-US" sz="2800" b="1" dirty="0">
                <a:solidFill>
                  <a:srgbClr val="FFFFFF"/>
                </a:solidFill>
                <a:latin typeface="Palatino Linotype" pitchFamily="34" charset="0"/>
                <a:ea typeface="Palatino Linotype" pitchFamily="34" charset="-122"/>
                <a:cs typeface="Palatino Linotype" pitchFamily="34" charset="-120"/>
              </a:rPr>
              <a:t>Cine este responsabil pentru căderea domnului E.?</a:t>
            </a:r>
            <a:endParaRPr lang="en-US" sz="2800" dirty="0"/>
          </a:p>
        </p:txBody>
      </p:sp>
      <p:sp>
        <p:nvSpPr>
          <p:cNvPr id="6" name="Shape 4"/>
          <p:cNvSpPr/>
          <p:nvPr/>
        </p:nvSpPr>
        <p:spPr>
          <a:xfrm>
            <a:off x="594360" y="2011680"/>
            <a:ext cx="10972800" cy="731520"/>
          </a:xfrm>
          <a:prstGeom prst="roundRect">
            <a:avLst>
              <a:gd name="adj" fmla="val 11250"/>
            </a:avLst>
          </a:prstGeom>
          <a:solidFill>
            <a:srgbClr val="272A38"/>
          </a:solidFill>
          <a:ln w="12700">
            <a:solidFill>
              <a:srgbClr val="272A38"/>
            </a:solidFill>
            <a:prstDash val="solid"/>
          </a:ln>
        </p:spPr>
        <p:txBody>
          <a:bodyPr/>
          <a:p/>
        </p:txBody>
      </p:sp>
      <p:sp>
        <p:nvSpPr>
          <p:cNvPr id="7" name="Shape 5"/>
          <p:cNvSpPr/>
          <p:nvPr/>
        </p:nvSpPr>
        <p:spPr>
          <a:xfrm>
            <a:off x="868680" y="2167128"/>
            <a:ext cx="420624" cy="420624"/>
          </a:xfrm>
          <a:prstGeom prst="ellipse">
            <a:avLst/>
          </a:prstGeom>
          <a:solidFill>
            <a:srgbClr val="FFC24B"/>
          </a:solidFill>
          <a:ln/>
        </p:spPr>
        <p:txBody>
          <a:bodyPr/>
          <a:p/>
        </p:txBody>
      </p:sp>
      <p:sp>
        <p:nvSpPr>
          <p:cNvPr id="8" name="Text 6"/>
          <p:cNvSpPr/>
          <p:nvPr/>
        </p:nvSpPr>
        <p:spPr>
          <a:xfrm>
            <a:off x="868680" y="2167128"/>
            <a:ext cx="420624" cy="420624"/>
          </a:xfrm>
          <a:prstGeom prst="rect">
            <a:avLst/>
          </a:prstGeom>
          <a:noFill/>
          <a:ln/>
        </p:spPr>
        <p:txBody>
          <a:bodyPr wrap="square" lIns="0" tIns="0" rIns="0" bIns="0" rtlCol="0" anchor="ctr"/>
          <a:lstStyle/>
          <a:p>
            <a:pPr algn="ctr" indent="0" marL="0">
              <a:buNone/>
            </a:pPr>
            <a:r>
              <a:rPr lang="en-US" sz="1400" b="1" dirty="0">
                <a:solidFill>
                  <a:srgbClr val="11121A"/>
                </a:solidFill>
                <a:latin typeface="Palatino Linotype" pitchFamily="34" charset="0"/>
                <a:ea typeface="Palatino Linotype" pitchFamily="34" charset="-122"/>
                <a:cs typeface="Palatino Linotype" pitchFamily="34" charset="-120"/>
              </a:rPr>
              <a:t>A</a:t>
            </a:r>
            <a:endParaRPr lang="en-US" sz="1400" dirty="0"/>
          </a:p>
        </p:txBody>
      </p:sp>
      <p:sp>
        <p:nvSpPr>
          <p:cNvPr id="9" name="Text 7"/>
          <p:cNvSpPr/>
          <p:nvPr/>
        </p:nvSpPr>
        <p:spPr>
          <a:xfrm>
            <a:off x="1554480" y="2011680"/>
            <a:ext cx="9784080" cy="731520"/>
          </a:xfrm>
          <a:prstGeom prst="rect">
            <a:avLst/>
          </a:prstGeom>
          <a:noFill/>
          <a:ln/>
        </p:spPr>
        <p:txBody>
          <a:bodyPr wrap="square" lIns="0" tIns="0" rIns="0" bIns="0" rtlCol="0" anchor="ctr"/>
          <a:lstStyle/>
          <a:p>
            <a:pPr indent="0" marL="0">
              <a:buNone/>
            </a:pPr>
            <a:r>
              <a:rPr lang="en-US" sz="1900" dirty="0">
                <a:solidFill>
                  <a:srgbClr val="FFFFFF"/>
                </a:solidFill>
                <a:latin typeface="Palatino Linotype" pitchFamily="34" charset="0"/>
                <a:ea typeface="Palatino Linotype" pitchFamily="34" charset="-122"/>
                <a:cs typeface="Palatino Linotype" pitchFamily="34" charset="-120"/>
              </a:rPr>
              <a:t>Domnul E., pentru că s-a ridicat singur</a:t>
            </a:r>
            <a:endParaRPr lang="en-US" sz="1900" dirty="0"/>
          </a:p>
        </p:txBody>
      </p:sp>
      <p:sp>
        <p:nvSpPr>
          <p:cNvPr id="10" name="Shape 8"/>
          <p:cNvSpPr/>
          <p:nvPr/>
        </p:nvSpPr>
        <p:spPr>
          <a:xfrm>
            <a:off x="594360" y="2880360"/>
            <a:ext cx="10972800" cy="731520"/>
          </a:xfrm>
          <a:prstGeom prst="roundRect">
            <a:avLst>
              <a:gd name="adj" fmla="val 11250"/>
            </a:avLst>
          </a:prstGeom>
          <a:solidFill>
            <a:srgbClr val="272A38"/>
          </a:solidFill>
          <a:ln w="12700">
            <a:solidFill>
              <a:srgbClr val="272A38"/>
            </a:solidFill>
            <a:prstDash val="solid"/>
          </a:ln>
        </p:spPr>
        <p:txBody>
          <a:bodyPr/>
          <a:p/>
        </p:txBody>
      </p:sp>
      <p:sp>
        <p:nvSpPr>
          <p:cNvPr id="11" name="Shape 9"/>
          <p:cNvSpPr/>
          <p:nvPr/>
        </p:nvSpPr>
        <p:spPr>
          <a:xfrm>
            <a:off x="868680" y="3035808"/>
            <a:ext cx="420624" cy="420624"/>
          </a:xfrm>
          <a:prstGeom prst="ellipse">
            <a:avLst/>
          </a:prstGeom>
          <a:solidFill>
            <a:srgbClr val="FFC24B"/>
          </a:solidFill>
          <a:ln/>
        </p:spPr>
        <p:txBody>
          <a:bodyPr/>
          <a:p/>
        </p:txBody>
      </p:sp>
      <p:sp>
        <p:nvSpPr>
          <p:cNvPr id="12" name="Text 10"/>
          <p:cNvSpPr/>
          <p:nvPr/>
        </p:nvSpPr>
        <p:spPr>
          <a:xfrm>
            <a:off x="868680" y="3035808"/>
            <a:ext cx="420624" cy="420624"/>
          </a:xfrm>
          <a:prstGeom prst="rect">
            <a:avLst/>
          </a:prstGeom>
          <a:noFill/>
          <a:ln/>
        </p:spPr>
        <p:txBody>
          <a:bodyPr wrap="square" lIns="0" tIns="0" rIns="0" bIns="0" rtlCol="0" anchor="ctr"/>
          <a:lstStyle/>
          <a:p>
            <a:pPr algn="ctr" indent="0" marL="0">
              <a:buNone/>
            </a:pPr>
            <a:r>
              <a:rPr lang="en-US" sz="1400" b="1" dirty="0">
                <a:solidFill>
                  <a:srgbClr val="11121A"/>
                </a:solidFill>
                <a:latin typeface="Palatino Linotype" pitchFamily="34" charset="0"/>
                <a:ea typeface="Palatino Linotype" pitchFamily="34" charset="-122"/>
                <a:cs typeface="Palatino Linotype" pitchFamily="34" charset="-120"/>
              </a:rPr>
              <a:t>B</a:t>
            </a:r>
            <a:endParaRPr lang="en-US" sz="1400" dirty="0"/>
          </a:p>
        </p:txBody>
      </p:sp>
      <p:sp>
        <p:nvSpPr>
          <p:cNvPr id="13" name="Text 11"/>
          <p:cNvSpPr/>
          <p:nvPr/>
        </p:nvSpPr>
        <p:spPr>
          <a:xfrm>
            <a:off x="1554480" y="2880360"/>
            <a:ext cx="9784080" cy="731520"/>
          </a:xfrm>
          <a:prstGeom prst="rect">
            <a:avLst/>
          </a:prstGeom>
          <a:noFill/>
          <a:ln/>
        </p:spPr>
        <p:txBody>
          <a:bodyPr wrap="square" lIns="0" tIns="0" rIns="0" bIns="0" rtlCol="0" anchor="ctr"/>
          <a:lstStyle/>
          <a:p>
            <a:pPr indent="0" marL="0">
              <a:buNone/>
            </a:pPr>
            <a:r>
              <a:rPr lang="en-US" sz="1900" dirty="0">
                <a:solidFill>
                  <a:srgbClr val="FFFFFF"/>
                </a:solidFill>
                <a:latin typeface="Palatino Linotype" pitchFamily="34" charset="0"/>
                <a:ea typeface="Palatino Linotype" pitchFamily="34" charset="-122"/>
                <a:cs typeface="Palatino Linotype" pitchFamily="34" charset="-120"/>
              </a:rPr>
              <a:t>Asistenta de noapte</a:t>
            </a:r>
            <a:endParaRPr lang="en-US" sz="1900" dirty="0"/>
          </a:p>
        </p:txBody>
      </p:sp>
      <p:sp>
        <p:nvSpPr>
          <p:cNvPr id="14" name="Shape 12"/>
          <p:cNvSpPr/>
          <p:nvPr/>
        </p:nvSpPr>
        <p:spPr>
          <a:xfrm>
            <a:off x="594360" y="3749040"/>
            <a:ext cx="10972800" cy="731520"/>
          </a:xfrm>
          <a:prstGeom prst="roundRect">
            <a:avLst>
              <a:gd name="adj" fmla="val 11250"/>
            </a:avLst>
          </a:prstGeom>
          <a:solidFill>
            <a:srgbClr val="272A38"/>
          </a:solidFill>
          <a:ln w="12700">
            <a:solidFill>
              <a:srgbClr val="272A38"/>
            </a:solidFill>
            <a:prstDash val="solid"/>
          </a:ln>
        </p:spPr>
        <p:txBody>
          <a:bodyPr/>
          <a:p/>
        </p:txBody>
      </p:sp>
      <p:sp>
        <p:nvSpPr>
          <p:cNvPr id="15" name="Shape 13"/>
          <p:cNvSpPr/>
          <p:nvPr/>
        </p:nvSpPr>
        <p:spPr>
          <a:xfrm>
            <a:off x="868680" y="3904488"/>
            <a:ext cx="420624" cy="420624"/>
          </a:xfrm>
          <a:prstGeom prst="ellipse">
            <a:avLst/>
          </a:prstGeom>
          <a:solidFill>
            <a:srgbClr val="FFC24B"/>
          </a:solidFill>
          <a:ln/>
        </p:spPr>
        <p:txBody>
          <a:bodyPr/>
          <a:p/>
        </p:txBody>
      </p:sp>
      <p:sp>
        <p:nvSpPr>
          <p:cNvPr id="16" name="Text 14"/>
          <p:cNvSpPr/>
          <p:nvPr/>
        </p:nvSpPr>
        <p:spPr>
          <a:xfrm>
            <a:off x="868680" y="3904488"/>
            <a:ext cx="420624" cy="420624"/>
          </a:xfrm>
          <a:prstGeom prst="rect">
            <a:avLst/>
          </a:prstGeom>
          <a:noFill/>
          <a:ln/>
        </p:spPr>
        <p:txBody>
          <a:bodyPr wrap="square" lIns="0" tIns="0" rIns="0" bIns="0" rtlCol="0" anchor="ctr"/>
          <a:lstStyle/>
          <a:p>
            <a:pPr algn="ctr" indent="0" marL="0">
              <a:buNone/>
            </a:pPr>
            <a:r>
              <a:rPr lang="en-US" sz="1400" b="1" dirty="0">
                <a:solidFill>
                  <a:srgbClr val="11121A"/>
                </a:solidFill>
                <a:latin typeface="Palatino Linotype" pitchFamily="34" charset="0"/>
                <a:ea typeface="Palatino Linotype" pitchFamily="34" charset="-122"/>
                <a:cs typeface="Palatino Linotype" pitchFamily="34" charset="-120"/>
              </a:rPr>
              <a:t>C</a:t>
            </a:r>
            <a:endParaRPr lang="en-US" sz="1400" dirty="0"/>
          </a:p>
        </p:txBody>
      </p:sp>
      <p:sp>
        <p:nvSpPr>
          <p:cNvPr id="17" name="Text 15"/>
          <p:cNvSpPr/>
          <p:nvPr/>
        </p:nvSpPr>
        <p:spPr>
          <a:xfrm>
            <a:off x="1554480" y="3749040"/>
            <a:ext cx="9784080" cy="731520"/>
          </a:xfrm>
          <a:prstGeom prst="rect">
            <a:avLst/>
          </a:prstGeom>
          <a:noFill/>
          <a:ln/>
        </p:spPr>
        <p:txBody>
          <a:bodyPr wrap="square" lIns="0" tIns="0" rIns="0" bIns="0" rtlCol="0" anchor="ctr"/>
          <a:lstStyle/>
          <a:p>
            <a:pPr indent="0" marL="0">
              <a:buNone/>
            </a:pPr>
            <a:r>
              <a:rPr lang="en-US" sz="1900" dirty="0">
                <a:solidFill>
                  <a:srgbClr val="FFFFFF"/>
                </a:solidFill>
                <a:latin typeface="Palatino Linotype" pitchFamily="34" charset="0"/>
                <a:ea typeface="Palatino Linotype" pitchFamily="34" charset="-122"/>
                <a:cs typeface="Palatino Linotype" pitchFamily="34" charset="-120"/>
              </a:rPr>
              <a:t>Medicul care a prescris somniferul</a:t>
            </a:r>
            <a:endParaRPr lang="en-US" sz="1900" dirty="0"/>
          </a:p>
        </p:txBody>
      </p:sp>
      <p:sp>
        <p:nvSpPr>
          <p:cNvPr id="18" name="Shape 16"/>
          <p:cNvSpPr/>
          <p:nvPr/>
        </p:nvSpPr>
        <p:spPr>
          <a:xfrm>
            <a:off x="594360" y="4617720"/>
            <a:ext cx="10972800" cy="731520"/>
          </a:xfrm>
          <a:prstGeom prst="roundRect">
            <a:avLst>
              <a:gd name="adj" fmla="val 11250"/>
            </a:avLst>
          </a:prstGeom>
          <a:solidFill>
            <a:srgbClr val="272A38"/>
          </a:solidFill>
          <a:ln w="12700">
            <a:solidFill>
              <a:srgbClr val="272A38"/>
            </a:solidFill>
            <a:prstDash val="solid"/>
          </a:ln>
        </p:spPr>
        <p:txBody>
          <a:bodyPr/>
          <a:p/>
        </p:txBody>
      </p:sp>
      <p:sp>
        <p:nvSpPr>
          <p:cNvPr id="19" name="Shape 17"/>
          <p:cNvSpPr/>
          <p:nvPr/>
        </p:nvSpPr>
        <p:spPr>
          <a:xfrm>
            <a:off x="868680" y="4773168"/>
            <a:ext cx="420624" cy="420624"/>
          </a:xfrm>
          <a:prstGeom prst="ellipse">
            <a:avLst/>
          </a:prstGeom>
          <a:solidFill>
            <a:srgbClr val="FFC24B"/>
          </a:solidFill>
          <a:ln/>
        </p:spPr>
        <p:txBody>
          <a:bodyPr/>
          <a:p/>
        </p:txBody>
      </p:sp>
      <p:sp>
        <p:nvSpPr>
          <p:cNvPr id="20" name="Text 18"/>
          <p:cNvSpPr/>
          <p:nvPr/>
        </p:nvSpPr>
        <p:spPr>
          <a:xfrm>
            <a:off x="868680" y="4773168"/>
            <a:ext cx="420624" cy="420624"/>
          </a:xfrm>
          <a:prstGeom prst="rect">
            <a:avLst/>
          </a:prstGeom>
          <a:noFill/>
          <a:ln/>
        </p:spPr>
        <p:txBody>
          <a:bodyPr wrap="square" lIns="0" tIns="0" rIns="0" bIns="0" rtlCol="0" anchor="ctr"/>
          <a:lstStyle/>
          <a:p>
            <a:pPr algn="ctr" indent="0" marL="0">
              <a:buNone/>
            </a:pPr>
            <a:r>
              <a:rPr lang="en-US" sz="1400" b="1" dirty="0">
                <a:solidFill>
                  <a:srgbClr val="11121A"/>
                </a:solidFill>
                <a:latin typeface="Palatino Linotype" pitchFamily="34" charset="0"/>
                <a:ea typeface="Palatino Linotype" pitchFamily="34" charset="-122"/>
                <a:cs typeface="Palatino Linotype" pitchFamily="34" charset="-120"/>
              </a:rPr>
              <a:t>D</a:t>
            </a:r>
            <a:endParaRPr lang="en-US" sz="1400" dirty="0"/>
          </a:p>
        </p:txBody>
      </p:sp>
      <p:sp>
        <p:nvSpPr>
          <p:cNvPr id="21" name="Text 19"/>
          <p:cNvSpPr/>
          <p:nvPr/>
        </p:nvSpPr>
        <p:spPr>
          <a:xfrm>
            <a:off x="1554480" y="4617720"/>
            <a:ext cx="9784080" cy="731520"/>
          </a:xfrm>
          <a:prstGeom prst="rect">
            <a:avLst/>
          </a:prstGeom>
          <a:noFill/>
          <a:ln/>
        </p:spPr>
        <p:txBody>
          <a:bodyPr wrap="square" lIns="0" tIns="0" rIns="0" bIns="0" rtlCol="0" anchor="ctr"/>
          <a:lstStyle/>
          <a:p>
            <a:pPr indent="0" marL="0">
              <a:buNone/>
            </a:pPr>
            <a:r>
              <a:rPr lang="en-US" sz="1900" dirty="0">
                <a:solidFill>
                  <a:srgbClr val="FFFFFF"/>
                </a:solidFill>
                <a:latin typeface="Palatino Linotype" pitchFamily="34" charset="0"/>
                <a:ea typeface="Palatino Linotype" pitchFamily="34" charset="-122"/>
                <a:cs typeface="Palatino Linotype" pitchFamily="34" charset="-120"/>
              </a:rPr>
              <a:t>Felul în care este organizată îngrijirea pe secție</a:t>
            </a:r>
            <a:endParaRPr lang="en-US" sz="1900" dirty="0"/>
          </a:p>
        </p:txBody>
      </p:sp>
      <p:sp>
        <p:nvSpPr>
          <p:cNvPr id="22" name="Text 20"/>
          <p:cNvSpPr/>
          <p:nvPr/>
        </p:nvSpPr>
        <p:spPr>
          <a:xfrm>
            <a:off x="594360" y="5669280"/>
            <a:ext cx="8046720" cy="457200"/>
          </a:xfrm>
          <a:prstGeom prst="rect">
            <a:avLst/>
          </a:prstGeom>
          <a:noFill/>
          <a:ln/>
        </p:spPr>
        <p:txBody>
          <a:bodyPr wrap="square" lIns="0" tIns="0" rIns="0" bIns="0" rtlCol="0" anchor="ctr"/>
          <a:lstStyle/>
          <a:p>
            <a:pPr indent="0" marL="0">
              <a:buNone/>
            </a:pPr>
            <a:r>
              <a:rPr lang="en-US" sz="1400" i="1" dirty="0">
                <a:solidFill>
                  <a:srgbClr val="959BB0"/>
                </a:solidFill>
                <a:latin typeface="Palatino Linotype" pitchFamily="34" charset="0"/>
                <a:ea typeface="Palatino Linotype" pitchFamily="34" charset="-122"/>
                <a:cs typeface="Palatino Linotype" pitchFamily="34" charset="-120"/>
              </a:rPr>
              <a:t>Vot anonim. Rezultatele apar după ce votează toată sala; revenim la vot după analiză.</a:t>
            </a:r>
            <a:endParaRPr lang="en-US" sz="1400" dirty="0"/>
          </a:p>
        </p:txBody>
      </p:sp>
      <p:sp>
        <p:nvSpPr>
          <p:cNvPr id="23" name="Shape 21"/>
          <p:cNvSpPr/>
          <p:nvPr/>
        </p:nvSpPr>
        <p:spPr>
          <a:xfrm>
            <a:off x="8823960" y="5669280"/>
            <a:ext cx="2743200" cy="457200"/>
          </a:xfrm>
          <a:prstGeom prst="roundRect">
            <a:avLst>
              <a:gd name="adj" fmla="val 18000"/>
            </a:avLst>
          </a:prstGeom>
          <a:solidFill>
            <a:srgbClr val="272A38"/>
          </a:solidFill>
          <a:ln w="12700">
            <a:solidFill>
              <a:srgbClr val="272A38"/>
            </a:solidFill>
            <a:prstDash val="solid"/>
          </a:ln>
        </p:spPr>
        <p:txBody>
          <a:bodyPr/>
          <a:p/>
        </p:txBody>
      </p:sp>
      <p:sp>
        <p:nvSpPr>
          <p:cNvPr id="24" name="Text 22"/>
          <p:cNvSpPr/>
          <p:nvPr/>
        </p:nvSpPr>
        <p:spPr>
          <a:xfrm>
            <a:off x="8823960" y="5669280"/>
            <a:ext cx="2743200" cy="457200"/>
          </a:xfrm>
          <a:prstGeom prst="rect">
            <a:avLst/>
          </a:prstGeom>
          <a:noFill/>
          <a:ln/>
        </p:spPr>
        <p:txBody>
          <a:bodyPr wrap="square" lIns="228600" tIns="0" rIns="228600" bIns="0" rtlCol="0" anchor="ctr"/>
          <a:lstStyle/>
          <a:p>
            <a:pPr algn="ctr" indent="0" marL="0">
              <a:buNone/>
            </a:pPr>
            <a:r>
              <a:rPr lang="en-US" sz="1100" b="1" dirty="0" i="1">
                <a:solidFill>
                  <a:srgbClr val="FFC24B"/>
                </a:solidFill>
                <a:latin typeface="Palatino Linotype" pitchFamily="34" charset="0"/>
                <a:ea typeface="Palatino Linotype" pitchFamily="34" charset="-122"/>
                <a:cs typeface="Palatino Linotype" pitchFamily="34" charset="-120"/>
              </a:rPr>
              <a:t>menti.com · codul de pe ecran</a:t>
            </a:r>
            <a:endParaRPr lang="en-US" sz="12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6F5F2"/>
        </a:solidFill>
      </p:bgPr>
    </p:bg>
    <p:spTree>
      <p:nvGrpSpPr>
        <p:cNvPr id="1" name=""/>
        <p:cNvGrpSpPr/>
        <p:nvPr/>
      </p:nvGrpSpPr>
      <p:grpSpPr>
        <a:xfrm>
          <a:off x="0" y="0"/>
          <a:ext cx="0" cy="0"/>
          <a:chOff x="0" y="0"/>
          <a:chExt cx="0" cy="0"/>
        </a:xfrm>
      </p:grpSpPr>
      <p:sp>
        <p:nvSpPr>
          <p:cNvPr id="2" name="Text 0"/>
          <p:cNvSpPr/>
          <p:nvPr/>
        </p:nvSpPr>
        <p:spPr>
          <a:xfrm>
            <a:off x="594360" y="347472"/>
            <a:ext cx="7680960" cy="329184"/>
          </a:xfrm>
          <a:prstGeom prst="rect">
            <a:avLst/>
          </a:prstGeom>
          <a:noFill/>
          <a:ln/>
        </p:spPr>
        <p:txBody>
          <a:bodyPr wrap="square" lIns="0" tIns="0" rIns="0" bIns="0" rtlCol="0" anchor="t"/>
          <a:lstStyle/>
          <a:p>
            <a:pPr indent="0" marL="0">
              <a:buNone/>
            </a:pPr>
            <a:r>
              <a:rPr lang="en-US" sz="1300" b="1" spc="200" kern="0" dirty="0">
                <a:solidFill>
                  <a:srgbClr val="B02532"/>
                </a:solidFill>
                <a:latin typeface="Palatino Linotype" pitchFamily="34" charset="0"/>
                <a:ea typeface="Palatino Linotype" pitchFamily="34" charset="-122"/>
                <a:cs typeface="Palatino Linotype" pitchFamily="34" charset="-120"/>
              </a:rPr>
              <a:t>CALITATEA ÎNGRIJIRII</a:t>
            </a:r>
            <a:endParaRPr lang="en-US" sz="1300" dirty="0"/>
          </a:p>
        </p:txBody>
      </p:sp>
      <p:sp>
        <p:nvSpPr>
          <p:cNvPr id="3" name="Text 1"/>
          <p:cNvSpPr/>
          <p:nvPr/>
        </p:nvSpPr>
        <p:spPr>
          <a:xfrm>
            <a:off x="594360" y="713232"/>
            <a:ext cx="10972800" cy="914400"/>
          </a:xfrm>
          <a:prstGeom prst="rect">
            <a:avLst/>
          </a:prstGeom>
          <a:noFill/>
          <a:ln/>
        </p:spPr>
        <p:txBody>
          <a:bodyPr wrap="square" lIns="0" tIns="0" rIns="0" bIns="0" rtlCol="0" anchor="t"/>
          <a:lstStyle/>
          <a:p>
            <a:pPr indent="0" marL="0">
              <a:buNone/>
            </a:pPr>
            <a:r>
              <a:rPr lang="en-US" sz="3000" b="1" dirty="0">
                <a:solidFill>
                  <a:srgbClr val="11121A"/>
                </a:solidFill>
                <a:latin typeface="Palatino Linotype" pitchFamily="34" charset="0"/>
                <a:ea typeface="Palatino Linotype" pitchFamily="34" charset="-122"/>
                <a:cs typeface="Palatino Linotype" pitchFamily="34" charset="-120"/>
              </a:rPr>
              <a:t>Trei căi de a evalua calitatea</a:t>
            </a:r>
            <a:endParaRPr lang="en-US" sz="3000" dirty="0"/>
          </a:p>
        </p:txBody>
      </p:sp>
      <p:sp>
        <p:nvSpPr>
          <p:cNvPr id="4" name="Shape 2"/>
          <p:cNvSpPr/>
          <p:nvPr/>
        </p:nvSpPr>
        <p:spPr>
          <a:xfrm>
            <a:off x="594360" y="1600200"/>
            <a:ext cx="3291840" cy="2423160"/>
          </a:xfrm>
          <a:prstGeom prst="roundRect">
            <a:avLst>
              <a:gd name="adj" fmla="val 3396"/>
            </a:avLst>
          </a:prstGeom>
          <a:solidFill>
            <a:srgbClr val="F4E0E2"/>
          </a:solidFill>
          <a:ln w="12700">
            <a:solidFill>
              <a:srgbClr val="F4E0E2"/>
            </a:solidFill>
            <a:prstDash val="solid"/>
          </a:ln>
        </p:spPr>
        <p:txBody>
          <a:bodyPr/>
          <a:p/>
        </p:txBody>
      </p:sp>
      <p:sp>
        <p:nvSpPr>
          <p:cNvPr id="5" name="Text 3"/>
          <p:cNvSpPr/>
          <p:nvPr/>
        </p:nvSpPr>
        <p:spPr>
          <a:xfrm>
            <a:off x="822960" y="1737360"/>
            <a:ext cx="2834640" cy="411480"/>
          </a:xfrm>
          <a:prstGeom prst="rect">
            <a:avLst/>
          </a:prstGeom>
          <a:noFill/>
          <a:ln/>
        </p:spPr>
        <p:txBody>
          <a:bodyPr wrap="square" lIns="0" tIns="0" rIns="0" bIns="0" rtlCol="0" anchor="t"/>
          <a:lstStyle/>
          <a:p>
            <a:pPr indent="0" marL="0">
              <a:buNone/>
            </a:pPr>
            <a:r>
              <a:rPr lang="en-US" sz="1700" b="1" spc="100" kern="0" dirty="0">
                <a:solidFill>
                  <a:srgbClr val="B02532"/>
                </a:solidFill>
                <a:latin typeface="Palatino Linotype" pitchFamily="34" charset="0"/>
                <a:ea typeface="Palatino Linotype" pitchFamily="34" charset="-122"/>
                <a:cs typeface="Palatino Linotype" pitchFamily="34" charset="-120"/>
              </a:rPr>
              <a:t>STRUCTURA</a:t>
            </a:r>
            <a:endParaRPr lang="en-US" sz="1700" dirty="0"/>
          </a:p>
        </p:txBody>
      </p:sp>
      <p:sp>
        <p:nvSpPr>
          <p:cNvPr id="6" name="Text 4"/>
          <p:cNvSpPr/>
          <p:nvPr/>
        </p:nvSpPr>
        <p:spPr>
          <a:xfrm>
            <a:off x="822960" y="2240280"/>
            <a:ext cx="2834640" cy="1691640"/>
          </a:xfrm>
          <a:prstGeom prst="rect">
            <a:avLst/>
          </a:prstGeom>
          <a:noFill/>
          <a:ln/>
        </p:spPr>
        <p:txBody>
          <a:bodyPr wrap="square" lIns="0" tIns="0" rIns="0" bIns="0" rtlCol="0" anchor="t"/>
          <a:lstStyle/>
          <a:p>
            <a:pPr indent="0" marL="0">
              <a:buNone/>
            </a:pPr>
            <a:r>
              <a:rPr lang="en-US" sz="1600" dirty="0">
                <a:solidFill>
                  <a:srgbClr val="11121A"/>
                </a:solidFill>
                <a:latin typeface="Palatino Linotype" pitchFamily="34" charset="0"/>
                <a:ea typeface="Palatino Linotype" pitchFamily="34" charset="-122"/>
                <a:cs typeface="Palatino Linotype" pitchFamily="34" charset="-120"/>
              </a:rPr>
              <a:t>Cu ce și în ce cadru se lucrează: clădirea, echipamentele, oamenii și calificarea lor, organizarea.</a:t>
            </a:r>
            <a:endParaRPr lang="en-US" sz="1600" dirty="0"/>
          </a:p>
        </p:txBody>
      </p:sp>
      <p:sp>
        <p:nvSpPr>
          <p:cNvPr id="7" name="Text 5"/>
          <p:cNvSpPr/>
          <p:nvPr/>
        </p:nvSpPr>
        <p:spPr>
          <a:xfrm>
            <a:off x="3904488" y="2468880"/>
            <a:ext cx="411480" cy="548640"/>
          </a:xfrm>
          <a:prstGeom prst="rect">
            <a:avLst/>
          </a:prstGeom>
          <a:noFill/>
          <a:ln/>
        </p:spPr>
        <p:txBody>
          <a:bodyPr wrap="square" lIns="0" tIns="0" rIns="0" bIns="0" rtlCol="0" anchor="t"/>
          <a:lstStyle/>
          <a:p>
            <a:pPr algn="ctr" indent="0" marL="0">
              <a:buNone/>
            </a:pPr>
            <a:r>
              <a:rPr lang="en-US" sz="2600" b="1" dirty="0">
                <a:solidFill>
                  <a:srgbClr val="585A64"/>
                </a:solidFill>
                <a:latin typeface="Palatino Linotype" pitchFamily="34" charset="0"/>
                <a:ea typeface="Palatino Linotype" pitchFamily="34" charset="-122"/>
                <a:cs typeface="Palatino Linotype" pitchFamily="34" charset="-120"/>
              </a:rPr>
              <a:t>→</a:t>
            </a:r>
            <a:endParaRPr lang="en-US" sz="2600" dirty="0"/>
          </a:p>
        </p:txBody>
      </p:sp>
      <p:sp>
        <p:nvSpPr>
          <p:cNvPr id="8" name="Shape 6"/>
          <p:cNvSpPr/>
          <p:nvPr/>
        </p:nvSpPr>
        <p:spPr>
          <a:xfrm>
            <a:off x="4343400" y="1600200"/>
            <a:ext cx="3291840" cy="2423160"/>
          </a:xfrm>
          <a:prstGeom prst="roundRect">
            <a:avLst>
              <a:gd name="adj" fmla="val 3396"/>
            </a:avLst>
          </a:prstGeom>
          <a:solidFill>
            <a:srgbClr val="F6EDD5"/>
          </a:solidFill>
          <a:ln w="12700">
            <a:solidFill>
              <a:srgbClr val="F6EDD5"/>
            </a:solidFill>
            <a:prstDash val="solid"/>
          </a:ln>
        </p:spPr>
        <p:txBody>
          <a:bodyPr/>
          <a:p/>
        </p:txBody>
      </p:sp>
      <p:sp>
        <p:nvSpPr>
          <p:cNvPr id="9" name="Text 7"/>
          <p:cNvSpPr/>
          <p:nvPr/>
        </p:nvSpPr>
        <p:spPr>
          <a:xfrm>
            <a:off x="4572000" y="1737360"/>
            <a:ext cx="2834640" cy="411480"/>
          </a:xfrm>
          <a:prstGeom prst="rect">
            <a:avLst/>
          </a:prstGeom>
          <a:noFill/>
          <a:ln/>
        </p:spPr>
        <p:txBody>
          <a:bodyPr wrap="square" lIns="0" tIns="0" rIns="0" bIns="0" rtlCol="0" anchor="t"/>
          <a:lstStyle/>
          <a:p>
            <a:pPr indent="0" marL="0">
              <a:buNone/>
            </a:pPr>
            <a:r>
              <a:rPr lang="en-US" sz="1700" b="1" spc="100" kern="0" dirty="0">
                <a:solidFill>
                  <a:srgbClr val="8A6100"/>
                </a:solidFill>
                <a:latin typeface="Palatino Linotype" pitchFamily="34" charset="0"/>
                <a:ea typeface="Palatino Linotype" pitchFamily="34" charset="-122"/>
                <a:cs typeface="Palatino Linotype" pitchFamily="34" charset="-120"/>
              </a:rPr>
              <a:t>PROCESUL</a:t>
            </a:r>
            <a:endParaRPr lang="en-US" sz="1700" dirty="0"/>
          </a:p>
        </p:txBody>
      </p:sp>
      <p:sp>
        <p:nvSpPr>
          <p:cNvPr id="10" name="Text 8"/>
          <p:cNvSpPr/>
          <p:nvPr/>
        </p:nvSpPr>
        <p:spPr>
          <a:xfrm>
            <a:off x="4572000" y="2240280"/>
            <a:ext cx="2834640" cy="1691640"/>
          </a:xfrm>
          <a:prstGeom prst="rect">
            <a:avLst/>
          </a:prstGeom>
          <a:noFill/>
          <a:ln/>
        </p:spPr>
        <p:txBody>
          <a:bodyPr wrap="square" lIns="0" tIns="0" rIns="0" bIns="0" rtlCol="0" anchor="t"/>
          <a:lstStyle/>
          <a:p>
            <a:pPr indent="0" marL="0">
              <a:buNone/>
            </a:pPr>
            <a:r>
              <a:rPr lang="en-US" sz="1600" dirty="0">
                <a:solidFill>
                  <a:srgbClr val="11121A"/>
                </a:solidFill>
                <a:latin typeface="Palatino Linotype" pitchFamily="34" charset="0"/>
                <a:ea typeface="Palatino Linotype" pitchFamily="34" charset="-122"/>
                <a:cs typeface="Palatino Linotype" pitchFamily="34" charset="-120"/>
              </a:rPr>
              <a:t>Ce se face efectiv pentru pacient și cum se face.</a:t>
            </a:r>
            <a:endParaRPr lang="en-US" sz="1600" dirty="0"/>
          </a:p>
        </p:txBody>
      </p:sp>
      <p:sp>
        <p:nvSpPr>
          <p:cNvPr id="11" name="Text 9"/>
          <p:cNvSpPr/>
          <p:nvPr/>
        </p:nvSpPr>
        <p:spPr>
          <a:xfrm>
            <a:off x="7653528" y="2468880"/>
            <a:ext cx="411480" cy="548640"/>
          </a:xfrm>
          <a:prstGeom prst="rect">
            <a:avLst/>
          </a:prstGeom>
          <a:noFill/>
          <a:ln/>
        </p:spPr>
        <p:txBody>
          <a:bodyPr wrap="square" lIns="0" tIns="0" rIns="0" bIns="0" rtlCol="0" anchor="t"/>
          <a:lstStyle/>
          <a:p>
            <a:pPr algn="ctr" indent="0" marL="0">
              <a:buNone/>
            </a:pPr>
            <a:r>
              <a:rPr lang="en-US" sz="2600" b="1" dirty="0">
                <a:solidFill>
                  <a:srgbClr val="585A64"/>
                </a:solidFill>
                <a:latin typeface="Palatino Linotype" pitchFamily="34" charset="0"/>
                <a:ea typeface="Palatino Linotype" pitchFamily="34" charset="-122"/>
                <a:cs typeface="Palatino Linotype" pitchFamily="34" charset="-120"/>
              </a:rPr>
              <a:t>→</a:t>
            </a:r>
            <a:endParaRPr lang="en-US" sz="2600" dirty="0"/>
          </a:p>
        </p:txBody>
      </p:sp>
      <p:sp>
        <p:nvSpPr>
          <p:cNvPr id="12" name="Shape 10"/>
          <p:cNvSpPr/>
          <p:nvPr/>
        </p:nvSpPr>
        <p:spPr>
          <a:xfrm>
            <a:off x="8092440" y="1600200"/>
            <a:ext cx="3291840" cy="2423160"/>
          </a:xfrm>
          <a:prstGeom prst="roundRect">
            <a:avLst>
              <a:gd name="adj" fmla="val 3396"/>
            </a:avLst>
          </a:prstGeom>
          <a:solidFill>
            <a:srgbClr val="E1F0EC"/>
          </a:solidFill>
          <a:ln w="12700">
            <a:solidFill>
              <a:srgbClr val="E1F0EC"/>
            </a:solidFill>
            <a:prstDash val="solid"/>
          </a:ln>
        </p:spPr>
        <p:txBody>
          <a:bodyPr/>
          <a:p/>
        </p:txBody>
      </p:sp>
      <p:sp>
        <p:nvSpPr>
          <p:cNvPr id="13" name="Text 11"/>
          <p:cNvSpPr/>
          <p:nvPr/>
        </p:nvSpPr>
        <p:spPr>
          <a:xfrm>
            <a:off x="8321040" y="1737360"/>
            <a:ext cx="2834640" cy="411480"/>
          </a:xfrm>
          <a:prstGeom prst="rect">
            <a:avLst/>
          </a:prstGeom>
          <a:noFill/>
          <a:ln/>
        </p:spPr>
        <p:txBody>
          <a:bodyPr wrap="square" lIns="0" tIns="0" rIns="0" bIns="0" rtlCol="0" anchor="t"/>
          <a:lstStyle/>
          <a:p>
            <a:pPr indent="0" marL="0">
              <a:buNone/>
            </a:pPr>
            <a:r>
              <a:rPr lang="en-US" sz="1700" b="1" spc="100" kern="0" dirty="0">
                <a:solidFill>
                  <a:srgbClr val="0E7C6B"/>
                </a:solidFill>
                <a:latin typeface="Palatino Linotype" pitchFamily="34" charset="0"/>
                <a:ea typeface="Palatino Linotype" pitchFamily="34" charset="-122"/>
                <a:cs typeface="Palatino Linotype" pitchFamily="34" charset="-120"/>
              </a:rPr>
              <a:t>REZULTATUL</a:t>
            </a:r>
            <a:endParaRPr lang="en-US" sz="1700" dirty="0"/>
          </a:p>
        </p:txBody>
      </p:sp>
      <p:sp>
        <p:nvSpPr>
          <p:cNvPr id="14" name="Text 12"/>
          <p:cNvSpPr/>
          <p:nvPr/>
        </p:nvSpPr>
        <p:spPr>
          <a:xfrm>
            <a:off x="8321040" y="2240280"/>
            <a:ext cx="2834640" cy="1691640"/>
          </a:xfrm>
          <a:prstGeom prst="rect">
            <a:avLst/>
          </a:prstGeom>
          <a:noFill/>
          <a:ln/>
        </p:spPr>
        <p:txBody>
          <a:bodyPr wrap="square" lIns="0" tIns="0" rIns="0" bIns="0" rtlCol="0" anchor="t"/>
          <a:lstStyle/>
          <a:p>
            <a:pPr indent="0" marL="0">
              <a:buNone/>
            </a:pPr>
            <a:r>
              <a:rPr lang="en-US" sz="1600" dirty="0">
                <a:solidFill>
                  <a:srgbClr val="11121A"/>
                </a:solidFill>
                <a:latin typeface="Palatino Linotype" pitchFamily="34" charset="0"/>
                <a:ea typeface="Palatino Linotype" pitchFamily="34" charset="-122"/>
                <a:cs typeface="Palatino Linotype" pitchFamily="34" charset="-120"/>
              </a:rPr>
              <a:t>Ce se schimbă în starea de sănătate și în funcționarea pacientului.</a:t>
            </a:r>
            <a:endParaRPr lang="en-US" sz="1600" dirty="0"/>
          </a:p>
        </p:txBody>
      </p:sp>
      <p:sp>
        <p:nvSpPr>
          <p:cNvPr id="15" name="Shape 13"/>
          <p:cNvSpPr/>
          <p:nvPr/>
        </p:nvSpPr>
        <p:spPr>
          <a:xfrm>
            <a:off x="594360" y="4297680"/>
            <a:ext cx="10972800" cy="1371600"/>
          </a:xfrm>
          <a:prstGeom prst="roundRect">
            <a:avLst>
              <a:gd name="adj" fmla="val 6000"/>
            </a:avLst>
          </a:prstGeom>
          <a:solidFill>
            <a:srgbClr val="E1F0EC"/>
          </a:solidFill>
          <a:ln w="12700">
            <a:solidFill>
              <a:srgbClr val="E1F0EC"/>
            </a:solidFill>
            <a:prstDash val="solid"/>
          </a:ln>
        </p:spPr>
        <p:txBody>
          <a:bodyPr/>
          <a:p/>
        </p:txBody>
      </p:sp>
      <p:sp>
        <p:nvSpPr>
          <p:cNvPr id="16" name="Shape 14"/>
          <p:cNvSpPr/>
          <p:nvPr/>
        </p:nvSpPr>
        <p:spPr>
          <a:xfrm>
            <a:off x="822960" y="4480560"/>
            <a:ext cx="1737360" cy="329184"/>
          </a:xfrm>
          <a:prstGeom prst="roundRect">
            <a:avLst>
              <a:gd name="adj" fmla="val 50000"/>
            </a:avLst>
          </a:prstGeom>
          <a:solidFill>
            <a:srgbClr val="0E7C6B"/>
          </a:solidFill>
          <a:ln w="12700">
            <a:solidFill>
              <a:srgbClr val="0E7C6B"/>
            </a:solidFill>
            <a:prstDash val="solid"/>
          </a:ln>
        </p:spPr>
        <p:txBody>
          <a:bodyPr/>
          <a:p/>
        </p:txBody>
      </p:sp>
      <p:sp>
        <p:nvSpPr>
          <p:cNvPr id="17" name="Text 15"/>
          <p:cNvSpPr/>
          <p:nvPr/>
        </p:nvSpPr>
        <p:spPr>
          <a:xfrm>
            <a:off x="822960" y="4480560"/>
            <a:ext cx="1737360" cy="329184"/>
          </a:xfrm>
          <a:prstGeom prst="rect">
            <a:avLst/>
          </a:prstGeom>
          <a:noFill/>
          <a:ln/>
        </p:spPr>
        <p:txBody>
          <a:bodyPr wrap="square" lIns="0" tIns="0" rIns="0" bIns="0" rtlCol="0" anchor="ctr"/>
          <a:lstStyle/>
          <a:p>
            <a:pPr algn="ctr" indent="0" marL="0">
              <a:buNone/>
            </a:pPr>
            <a:r>
              <a:rPr lang="en-US" sz="1100" b="1" dirty="0">
                <a:solidFill>
                  <a:srgbClr val="FFFFFF"/>
                </a:solidFill>
                <a:latin typeface="Palatino Linotype" pitchFamily="34" charset="0"/>
                <a:ea typeface="Palatino Linotype" pitchFamily="34" charset="-122"/>
                <a:cs typeface="Palatino Linotype" pitchFamily="34" charset="-120"/>
              </a:rPr>
              <a:t>TERMEN NOU</a:t>
            </a:r>
            <a:endParaRPr lang="en-US" sz="1100" dirty="0"/>
          </a:p>
        </p:txBody>
      </p:sp>
      <p:sp>
        <p:nvSpPr>
          <p:cNvPr id="18" name="Text 16"/>
          <p:cNvSpPr/>
          <p:nvPr/>
        </p:nvSpPr>
        <p:spPr>
          <a:xfrm>
            <a:off x="822960" y="4919472"/>
            <a:ext cx="10515600" cy="640080"/>
          </a:xfrm>
          <a:prstGeom prst="rect">
            <a:avLst/>
          </a:prstGeom>
          <a:noFill/>
          <a:ln/>
        </p:spPr>
        <p:txBody>
          <a:bodyPr wrap="square" lIns="0" tIns="0" rIns="0" bIns="0" rtlCol="0" anchor="t"/>
          <a:lstStyle/>
          <a:p>
            <a:pPr indent="0" marL="0">
              <a:buNone/>
            </a:pPr>
            <a:r>
              <a:rPr lang="en-US" sz="1600" b="1" dirty="0">
                <a:solidFill>
                  <a:srgbClr val="11121A"/>
                </a:solidFill>
                <a:latin typeface="Palatino Linotype" pitchFamily="34" charset="0"/>
                <a:ea typeface="Palatino Linotype" pitchFamily="34" charset="-122"/>
                <a:cs typeface="Palatino Linotype" pitchFamily="34" charset="-120"/>
              </a:rPr>
              <a:t>Modelul structură–proces–rezultat: </a:t>
            </a:r>
            <a:pPr indent="0" marL="0">
              <a:buNone/>
            </a:pPr>
            <a:r>
              <a:rPr lang="en-US" sz="1600" dirty="0">
                <a:solidFill>
                  <a:srgbClr val="11121A"/>
                </a:solidFill>
                <a:latin typeface="Palatino Linotype" pitchFamily="34" charset="0"/>
                <a:ea typeface="Palatino Linotype" pitchFamily="34" charset="-122"/>
                <a:cs typeface="Palatino Linotype" pitchFamily="34" charset="-120"/>
              </a:rPr>
              <a:t>Donabedian, 1966; clasificarea cea mai folosită pentru indicatorii de calitate.</a:t>
            </a:r>
            <a:endParaRPr lang="en-US" sz="1600" dirty="0"/>
          </a:p>
        </p:txBody>
      </p:sp>
      <p:sp>
        <p:nvSpPr>
          <p:cNvPr id="19" name="Text 17"/>
          <p:cNvSpPr/>
          <p:nvPr/>
        </p:nvSpPr>
        <p:spPr>
          <a:xfrm>
            <a:off x="594360" y="6382512"/>
            <a:ext cx="10972800" cy="274320"/>
          </a:xfrm>
          <a:prstGeom prst="rect">
            <a:avLst/>
          </a:prstGeom>
          <a:noFill/>
          <a:ln/>
        </p:spPr>
        <p:txBody>
          <a:bodyPr wrap="square" lIns="0" tIns="0" rIns="0" bIns="0" rtlCol="0" anchor="ctr"/>
          <a:lstStyle/>
          <a:p>
            <a:pPr indent="0" marL="0">
              <a:buNone/>
            </a:pPr>
            <a:r>
              <a:rPr lang="en-US" sz="1000" i="1" dirty="0">
                <a:solidFill>
                  <a:srgbClr val="585A64"/>
                </a:solidFill>
                <a:latin typeface="Palatino Linotype" pitchFamily="34" charset="0"/>
                <a:ea typeface="Palatino Linotype" pitchFamily="34" charset="-122"/>
                <a:cs typeface="Palatino Linotype" pitchFamily="34" charset="-120"/>
              </a:rPr>
              <a:t>Donabedian, 1966; Observatorul European, 2019</a:t>
            </a:r>
            <a:endParaRPr lang="en-US" sz="10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6F5F2"/>
        </a:solidFill>
      </p:bgPr>
    </p:bg>
    <p:spTree>
      <p:nvGrpSpPr>
        <p:cNvPr id="1" name=""/>
        <p:cNvGrpSpPr/>
        <p:nvPr/>
      </p:nvGrpSpPr>
      <p:grpSpPr>
        <a:xfrm>
          <a:off x="0" y="0"/>
          <a:ext cx="0" cy="0"/>
          <a:chOff x="0" y="0"/>
          <a:chExt cx="0" cy="0"/>
        </a:xfrm>
      </p:grpSpPr>
      <p:sp>
        <p:nvSpPr>
          <p:cNvPr id="2" name="Text 0"/>
          <p:cNvSpPr/>
          <p:nvPr/>
        </p:nvSpPr>
        <p:spPr>
          <a:xfrm>
            <a:off x="594360" y="347472"/>
            <a:ext cx="7680960" cy="329184"/>
          </a:xfrm>
          <a:prstGeom prst="rect">
            <a:avLst/>
          </a:prstGeom>
          <a:noFill/>
          <a:ln/>
        </p:spPr>
        <p:txBody>
          <a:bodyPr wrap="square" lIns="0" tIns="0" rIns="0" bIns="0" rtlCol="0" anchor="t"/>
          <a:lstStyle/>
          <a:p>
            <a:pPr indent="0" marL="0">
              <a:buNone/>
            </a:pPr>
            <a:r>
              <a:rPr lang="en-US" sz="1300" b="1" spc="200" kern="0" dirty="0">
                <a:solidFill>
                  <a:srgbClr val="B02532"/>
                </a:solidFill>
                <a:latin typeface="Palatino Linotype" pitchFamily="34" charset="0"/>
                <a:ea typeface="Palatino Linotype" pitchFamily="34" charset="-122"/>
                <a:cs typeface="Palatino Linotype" pitchFamily="34" charset="-120"/>
              </a:rPr>
              <a:t>ÎNTR-UN SERVICIU DE RECUPERARE</a:t>
            </a:r>
            <a:endParaRPr lang="en-US" sz="1300" dirty="0"/>
          </a:p>
        </p:txBody>
      </p:sp>
      <p:sp>
        <p:nvSpPr>
          <p:cNvPr id="3" name="Text 1"/>
          <p:cNvSpPr/>
          <p:nvPr/>
        </p:nvSpPr>
        <p:spPr>
          <a:xfrm>
            <a:off x="594360" y="713232"/>
            <a:ext cx="10972800" cy="914400"/>
          </a:xfrm>
          <a:prstGeom prst="rect">
            <a:avLst/>
          </a:prstGeom>
          <a:noFill/>
          <a:ln/>
        </p:spPr>
        <p:txBody>
          <a:bodyPr wrap="square" lIns="0" tIns="0" rIns="0" bIns="0" rtlCol="0" anchor="t"/>
          <a:lstStyle/>
          <a:p>
            <a:pPr indent="0" marL="0">
              <a:buNone/>
            </a:pPr>
            <a:r>
              <a:rPr lang="en-US" sz="3000" b="1" dirty="0">
                <a:solidFill>
                  <a:srgbClr val="11121A"/>
                </a:solidFill>
                <a:latin typeface="Palatino Linotype" pitchFamily="34" charset="0"/>
                <a:ea typeface="Palatino Linotype" pitchFamily="34" charset="-122"/>
                <a:cs typeface="Palatino Linotype" pitchFamily="34" charset="-120"/>
              </a:rPr>
              <a:t>Ce înseamnă fiecare nivel pe o secție</a:t>
            </a:r>
            <a:endParaRPr lang="en-US" sz="3000" dirty="0"/>
          </a:p>
        </p:txBody>
      </p:sp>
      <p:sp>
        <p:nvSpPr>
          <p:cNvPr id="4" name="Shape 2"/>
          <p:cNvSpPr/>
          <p:nvPr/>
        </p:nvSpPr>
        <p:spPr>
          <a:xfrm>
            <a:off x="594360" y="1645920"/>
            <a:ext cx="64008" cy="731520"/>
          </a:xfrm>
          <a:prstGeom prst="rect">
            <a:avLst/>
          </a:prstGeom>
          <a:solidFill>
            <a:srgbClr val="B02532"/>
          </a:solidFill>
          <a:ln w="12700">
            <a:solidFill>
              <a:srgbClr val="B02532"/>
            </a:solidFill>
            <a:prstDash val="solid"/>
          </a:ln>
        </p:spPr>
        <p:txBody>
          <a:bodyPr/>
          <a:p/>
        </p:txBody>
      </p:sp>
      <p:sp>
        <p:nvSpPr>
          <p:cNvPr id="5" name="Text 3"/>
          <p:cNvSpPr/>
          <p:nvPr/>
        </p:nvSpPr>
        <p:spPr>
          <a:xfrm>
            <a:off x="822960" y="1600200"/>
            <a:ext cx="10744200" cy="850392"/>
          </a:xfrm>
          <a:prstGeom prst="rect">
            <a:avLst/>
          </a:prstGeom>
          <a:noFill/>
          <a:ln/>
        </p:spPr>
        <p:txBody>
          <a:bodyPr wrap="square" lIns="0" tIns="0" rIns="0" bIns="0" rtlCol="0" anchor="t"/>
          <a:lstStyle/>
          <a:p>
            <a:pPr indent="0" marL="0">
              <a:buNone/>
            </a:pPr>
            <a:r>
              <a:rPr lang="en-US" sz="1800" dirty="0">
                <a:solidFill>
                  <a:srgbClr val="11121A"/>
                </a:solidFill>
                <a:latin typeface="Palatino Linotype" pitchFamily="34" charset="0"/>
                <a:ea typeface="Palatino Linotype" pitchFamily="34" charset="-122"/>
                <a:cs typeface="Palatino Linotype" pitchFamily="34" charset="-120"/>
              </a:rPr>
              <a:t>Structura: paturile, sălile, aparatele, cadrele de mers, câți oameni sunt în fiecare tură, procedurile scrise.</a:t>
            </a:r>
            <a:endParaRPr lang="en-US" sz="1800" dirty="0"/>
          </a:p>
        </p:txBody>
      </p:sp>
      <p:sp>
        <p:nvSpPr>
          <p:cNvPr id="6" name="Shape 4"/>
          <p:cNvSpPr/>
          <p:nvPr/>
        </p:nvSpPr>
        <p:spPr>
          <a:xfrm>
            <a:off x="594360" y="2606040"/>
            <a:ext cx="64008" cy="731520"/>
          </a:xfrm>
          <a:prstGeom prst="rect">
            <a:avLst/>
          </a:prstGeom>
          <a:solidFill>
            <a:srgbClr val="8A6100"/>
          </a:solidFill>
          <a:ln w="12700">
            <a:solidFill>
              <a:srgbClr val="8A6100"/>
            </a:solidFill>
            <a:prstDash val="solid"/>
          </a:ln>
        </p:spPr>
        <p:txBody>
          <a:bodyPr/>
          <a:p/>
        </p:txBody>
      </p:sp>
      <p:sp>
        <p:nvSpPr>
          <p:cNvPr id="7" name="Text 5"/>
          <p:cNvSpPr/>
          <p:nvPr/>
        </p:nvSpPr>
        <p:spPr>
          <a:xfrm>
            <a:off x="822960" y="2560320"/>
            <a:ext cx="10744200" cy="850392"/>
          </a:xfrm>
          <a:prstGeom prst="rect">
            <a:avLst/>
          </a:prstGeom>
          <a:noFill/>
          <a:ln/>
        </p:spPr>
        <p:txBody>
          <a:bodyPr wrap="square" lIns="0" tIns="0" rIns="0" bIns="0" rtlCol="0" anchor="t"/>
          <a:lstStyle/>
          <a:p>
            <a:pPr indent="0" marL="0">
              <a:buNone/>
            </a:pPr>
            <a:r>
              <a:rPr lang="en-US" sz="1800" dirty="0">
                <a:solidFill>
                  <a:srgbClr val="11121A"/>
                </a:solidFill>
                <a:latin typeface="Palatino Linotype" pitchFamily="34" charset="0"/>
                <a:ea typeface="Palatino Linotype" pitchFamily="34" charset="-122"/>
                <a:cs typeface="Palatino Linotype" pitchFamily="34" charset="-120"/>
              </a:rPr>
              <a:t>Procesul: evaluarea la internare, planul, ședințele, supravegherea de noapte, comunicarea dintre ture.</a:t>
            </a:r>
            <a:endParaRPr lang="en-US" sz="1800" dirty="0"/>
          </a:p>
        </p:txBody>
      </p:sp>
      <p:sp>
        <p:nvSpPr>
          <p:cNvPr id="8" name="Shape 6"/>
          <p:cNvSpPr/>
          <p:nvPr/>
        </p:nvSpPr>
        <p:spPr>
          <a:xfrm>
            <a:off x="594360" y="3566160"/>
            <a:ext cx="64008" cy="731520"/>
          </a:xfrm>
          <a:prstGeom prst="rect">
            <a:avLst/>
          </a:prstGeom>
          <a:solidFill>
            <a:srgbClr val="0E7C6B"/>
          </a:solidFill>
          <a:ln w="12700">
            <a:solidFill>
              <a:srgbClr val="0E7C6B"/>
            </a:solidFill>
            <a:prstDash val="solid"/>
          </a:ln>
        </p:spPr>
        <p:txBody>
          <a:bodyPr/>
          <a:p/>
        </p:txBody>
      </p:sp>
      <p:sp>
        <p:nvSpPr>
          <p:cNvPr id="9" name="Text 7"/>
          <p:cNvSpPr/>
          <p:nvPr/>
        </p:nvSpPr>
        <p:spPr>
          <a:xfrm>
            <a:off x="822960" y="3520440"/>
            <a:ext cx="10744200" cy="850392"/>
          </a:xfrm>
          <a:prstGeom prst="rect">
            <a:avLst/>
          </a:prstGeom>
          <a:noFill/>
          <a:ln/>
        </p:spPr>
        <p:txBody>
          <a:bodyPr wrap="square" lIns="0" tIns="0" rIns="0" bIns="0" rtlCol="0" anchor="t"/>
          <a:lstStyle/>
          <a:p>
            <a:pPr indent="0" marL="0">
              <a:buNone/>
            </a:pPr>
            <a:r>
              <a:rPr lang="en-US" sz="1800" dirty="0">
                <a:solidFill>
                  <a:srgbClr val="11121A"/>
                </a:solidFill>
                <a:latin typeface="Palatino Linotype" pitchFamily="34" charset="0"/>
                <a:ea typeface="Palatino Linotype" pitchFamily="34" charset="-122"/>
                <a:cs typeface="Palatino Linotype" pitchFamily="34" charset="-120"/>
              </a:rPr>
              <a:t>Rezultatul: merge, se îngrijește singur, s-a întors acasă, a suferit o vătămare? Funcționarea, ca în modelul CIF.</a:t>
            </a:r>
            <a:endParaRPr lang="en-US" sz="1800" dirty="0"/>
          </a:p>
        </p:txBody>
      </p:sp>
      <p:sp>
        <p:nvSpPr>
          <p:cNvPr id="10" name="Shape 8"/>
          <p:cNvSpPr/>
          <p:nvPr/>
        </p:nvSpPr>
        <p:spPr>
          <a:xfrm>
            <a:off x="594360" y="4617720"/>
            <a:ext cx="10972800" cy="1143000"/>
          </a:xfrm>
          <a:prstGeom prst="roundRect">
            <a:avLst>
              <a:gd name="adj" fmla="val 7200"/>
            </a:avLst>
          </a:prstGeom>
          <a:solidFill>
            <a:srgbClr val="ECEAE4"/>
          </a:solidFill>
          <a:ln w="12700">
            <a:solidFill>
              <a:srgbClr val="ECEAE4"/>
            </a:solidFill>
            <a:prstDash val="solid"/>
          </a:ln>
        </p:spPr>
        <p:txBody>
          <a:bodyPr/>
          <a:p/>
        </p:txBody>
      </p:sp>
      <p:sp>
        <p:nvSpPr>
          <p:cNvPr id="11" name="Text 9"/>
          <p:cNvSpPr/>
          <p:nvPr/>
        </p:nvSpPr>
        <p:spPr>
          <a:xfrm>
            <a:off x="868680" y="4617720"/>
            <a:ext cx="10424160" cy="1143000"/>
          </a:xfrm>
          <a:prstGeom prst="rect">
            <a:avLst/>
          </a:prstGeom>
          <a:noFill/>
          <a:ln/>
        </p:spPr>
        <p:txBody>
          <a:bodyPr wrap="square" lIns="0" tIns="0" rIns="0" bIns="0" rtlCol="0" anchor="ctr"/>
          <a:lstStyle/>
          <a:p>
            <a:pPr indent="0" marL="0">
              <a:buNone/>
            </a:pPr>
            <a:r>
              <a:rPr lang="en-US" sz="1900" b="1" dirty="0">
                <a:solidFill>
                  <a:srgbClr val="B02532"/>
                </a:solidFill>
                <a:latin typeface="Palatino Linotype" pitchFamily="34" charset="0"/>
                <a:ea typeface="Palatino Linotype" pitchFamily="34" charset="-122"/>
                <a:cs typeface="Palatino Linotype" pitchFamily="34" charset="-120"/>
              </a:rPr>
              <a:t>O structură bună nu produce automat un rezultat bun: legătura dintre niveluri trebuie dovedită.</a:t>
            </a:r>
            <a:endParaRPr lang="en-US" sz="19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FFC24B"/>
        </a:solidFill>
      </p:bgPr>
    </p:bg>
    <p:spTree>
      <p:nvGrpSpPr>
        <p:cNvPr id="1" name=""/>
        <p:cNvGrpSpPr/>
        <p:nvPr/>
      </p:nvGrpSpPr>
      <p:grpSpPr>
        <a:xfrm>
          <a:off x="0" y="0"/>
          <a:ext cx="0" cy="0"/>
          <a:chOff x="0" y="0"/>
          <a:chExt cx="0" cy="0"/>
        </a:xfrm>
      </p:grpSpPr>
      <p:sp>
        <p:nvSpPr>
          <p:cNvPr id="2" name="Shape 0"/>
          <p:cNvSpPr/>
          <p:nvPr/>
        </p:nvSpPr>
        <p:spPr>
          <a:xfrm>
            <a:off x="8366760" y="292608"/>
            <a:ext cx="3200400" cy="420624"/>
          </a:xfrm>
          <a:prstGeom prst="roundRect">
            <a:avLst>
              <a:gd name="adj" fmla="val 50000"/>
            </a:avLst>
          </a:prstGeom>
          <a:solidFill>
            <a:srgbClr val="FFFFFF"/>
          </a:solidFill>
          <a:ln w="12700">
            <a:solidFill>
              <a:srgbClr val="FFFFFF"/>
            </a:solidFill>
            <a:prstDash val="solid"/>
          </a:ln>
        </p:spPr>
        <p:txBody>
          <a:bodyPr/>
          <a:p/>
        </p:txBody>
      </p:sp>
      <p:sp>
        <p:nvSpPr>
          <p:cNvPr id="3" name="Text 1"/>
          <p:cNvSpPr/>
          <p:nvPr/>
        </p:nvSpPr>
        <p:spPr>
          <a:xfrm>
            <a:off x="8366760" y="292608"/>
            <a:ext cx="3200400" cy="420624"/>
          </a:xfrm>
          <a:prstGeom prst="rect">
            <a:avLst/>
          </a:prstGeom>
          <a:noFill/>
          <a:ln/>
        </p:spPr>
        <p:txBody>
          <a:bodyPr wrap="square" lIns="0" tIns="0" rIns="0" bIns="0" rtlCol="0" anchor="ctr"/>
          <a:lstStyle/>
          <a:p>
            <a:pPr algn="ctr" indent="0" marL="0">
              <a:buNone/>
            </a:pPr>
            <a:r>
              <a:rPr lang="en-US" sz="1300" b="1" dirty="0">
                <a:solidFill>
                  <a:srgbClr val="11121A"/>
                </a:solidFill>
                <a:latin typeface="Palatino Linotype" pitchFamily="34" charset="0"/>
                <a:ea typeface="Palatino Linotype" pitchFamily="34" charset="-122"/>
                <a:cs typeface="Palatino Linotype" pitchFamily="34" charset="-120"/>
              </a:rPr>
              <a:t>PERECHI · MENTIMETER</a:t>
            </a:r>
            <a:endParaRPr lang="en-US" sz="1300" dirty="0"/>
          </a:p>
        </p:txBody>
      </p:sp>
      <p:sp>
        <p:nvSpPr>
          <p:cNvPr id="4" name="Text 2"/>
          <p:cNvSpPr/>
          <p:nvPr/>
        </p:nvSpPr>
        <p:spPr>
          <a:xfrm>
            <a:off x="594360" y="347472"/>
            <a:ext cx="7680960" cy="329184"/>
          </a:xfrm>
          <a:prstGeom prst="rect">
            <a:avLst/>
          </a:prstGeom>
          <a:noFill/>
          <a:ln/>
        </p:spPr>
        <p:txBody>
          <a:bodyPr wrap="square" lIns="0" tIns="0" rIns="0" bIns="0" rtlCol="0" anchor="t"/>
          <a:lstStyle/>
          <a:p>
            <a:pPr indent="0" marL="0">
              <a:buNone/>
            </a:pPr>
            <a:r>
              <a:rPr lang="en-US" sz="1300" b="1" spc="200" kern="0" dirty="0">
                <a:solidFill>
                  <a:srgbClr val="3D2A00"/>
                </a:solidFill>
                <a:latin typeface="Palatino Linotype" pitchFamily="34" charset="0"/>
                <a:ea typeface="Palatino Linotype" pitchFamily="34" charset="-122"/>
                <a:cs typeface="Palatino Linotype" pitchFamily="34" charset="-120"/>
              </a:rPr>
              <a:t>ANALIZA DE CAZ</a:t>
            </a:r>
            <a:endParaRPr lang="en-US" sz="1300" dirty="0"/>
          </a:p>
        </p:txBody>
      </p:sp>
      <p:sp>
        <p:nvSpPr>
          <p:cNvPr id="5" name="Text 3"/>
          <p:cNvSpPr/>
          <p:nvPr/>
        </p:nvSpPr>
        <p:spPr>
          <a:xfrm>
            <a:off x="594360" y="914400"/>
            <a:ext cx="10972800" cy="1371600"/>
          </a:xfrm>
          <a:prstGeom prst="rect">
            <a:avLst/>
          </a:prstGeom>
          <a:noFill/>
          <a:ln/>
        </p:spPr>
        <p:txBody>
          <a:bodyPr wrap="square" lIns="0" tIns="0" rIns="0" bIns="0" rtlCol="0" anchor="t"/>
          <a:lstStyle/>
          <a:p>
            <a:pPr indent="0" marL="0">
              <a:buNone/>
            </a:pPr>
            <a:r>
              <a:rPr lang="en-US" sz="3400" b="1" dirty="0">
                <a:solidFill>
                  <a:srgbClr val="3D2A00"/>
                </a:solidFill>
                <a:latin typeface="Palatino Linotype" pitchFamily="34" charset="0"/>
                <a:ea typeface="Palatino Linotype" pitchFamily="34" charset="-122"/>
                <a:cs typeface="Palatino Linotype" pitchFamily="34" charset="-120"/>
              </a:rPr>
              <a:t>Găsiți câte o verigă slabă de structură, de proces și de rezultat.</a:t>
            </a:r>
            <a:endParaRPr lang="en-US" sz="3400" dirty="0"/>
          </a:p>
        </p:txBody>
      </p:sp>
      <p:sp>
        <p:nvSpPr>
          <p:cNvPr id="6" name="Shape 4"/>
          <p:cNvSpPr/>
          <p:nvPr/>
        </p:nvSpPr>
        <p:spPr>
          <a:xfrm>
            <a:off x="685800" y="2624328"/>
            <a:ext cx="420624" cy="420624"/>
          </a:xfrm>
          <a:prstGeom prst="ellipse">
            <a:avLst/>
          </a:prstGeom>
          <a:solidFill>
            <a:srgbClr val="3D2A00"/>
          </a:solidFill>
          <a:ln/>
        </p:spPr>
        <p:txBody>
          <a:bodyPr/>
          <a:p/>
        </p:txBody>
      </p:sp>
      <p:sp>
        <p:nvSpPr>
          <p:cNvPr id="7" name="Text 5"/>
          <p:cNvSpPr/>
          <p:nvPr/>
        </p:nvSpPr>
        <p:spPr>
          <a:xfrm>
            <a:off x="685800" y="2624328"/>
            <a:ext cx="420624" cy="420624"/>
          </a:xfrm>
          <a:prstGeom prst="rect">
            <a:avLst/>
          </a:prstGeom>
          <a:noFill/>
          <a:ln/>
        </p:spPr>
        <p:txBody>
          <a:bodyPr wrap="square" lIns="0" tIns="0" rIns="0" bIns="0" rtlCol="0" anchor="ctr"/>
          <a:lstStyle/>
          <a:p>
            <a:pPr algn="ctr" indent="0" marL="0">
              <a:buNone/>
            </a:pPr>
            <a:r>
              <a:rPr lang="en-US" sz="1400" b="1" dirty="0">
                <a:solidFill>
                  <a:srgbClr val="FFC24B"/>
                </a:solidFill>
                <a:latin typeface="Palatino Linotype" pitchFamily="34" charset="0"/>
                <a:ea typeface="Palatino Linotype" pitchFamily="34" charset="-122"/>
                <a:cs typeface="Palatino Linotype" pitchFamily="34" charset="-120"/>
              </a:rPr>
              <a:t>1</a:t>
            </a:r>
            <a:endParaRPr lang="en-US" sz="1400" dirty="0"/>
          </a:p>
        </p:txBody>
      </p:sp>
      <p:sp>
        <p:nvSpPr>
          <p:cNvPr id="8" name="Text 6"/>
          <p:cNvSpPr/>
          <p:nvPr/>
        </p:nvSpPr>
        <p:spPr>
          <a:xfrm>
            <a:off x="1325880" y="2514600"/>
            <a:ext cx="10241280" cy="640080"/>
          </a:xfrm>
          <a:prstGeom prst="rect">
            <a:avLst/>
          </a:prstGeom>
          <a:noFill/>
          <a:ln/>
        </p:spPr>
        <p:txBody>
          <a:bodyPr wrap="square" lIns="0" tIns="0" rIns="0" bIns="0" rtlCol="0" anchor="ctr"/>
          <a:lstStyle/>
          <a:p>
            <a:pPr indent="0" marL="0">
              <a:buNone/>
            </a:pPr>
            <a:r>
              <a:rPr lang="en-US" sz="2000" dirty="0">
                <a:solidFill>
                  <a:srgbClr val="3D2A00"/>
                </a:solidFill>
                <a:latin typeface="Palatino Linotype" pitchFamily="34" charset="0"/>
                <a:ea typeface="Palatino Linotype" pitchFamily="34" charset="-122"/>
                <a:cs typeface="Palatino Linotype" pitchFamily="34" charset="-120"/>
              </a:rPr>
              <a:t>În perechi, fără tabel: recitiți cazul domnului E. și notați verigile.</a:t>
            </a:r>
            <a:endParaRPr lang="en-US" sz="2000" dirty="0"/>
          </a:p>
        </p:txBody>
      </p:sp>
      <p:sp>
        <p:nvSpPr>
          <p:cNvPr id="9" name="Shape 7"/>
          <p:cNvSpPr/>
          <p:nvPr/>
        </p:nvSpPr>
        <p:spPr>
          <a:xfrm>
            <a:off x="685800" y="3401568"/>
            <a:ext cx="420624" cy="420624"/>
          </a:xfrm>
          <a:prstGeom prst="ellipse">
            <a:avLst/>
          </a:prstGeom>
          <a:solidFill>
            <a:srgbClr val="3D2A00"/>
          </a:solidFill>
          <a:ln/>
        </p:spPr>
        <p:txBody>
          <a:bodyPr/>
          <a:p/>
        </p:txBody>
      </p:sp>
      <p:sp>
        <p:nvSpPr>
          <p:cNvPr id="10" name="Text 8"/>
          <p:cNvSpPr/>
          <p:nvPr/>
        </p:nvSpPr>
        <p:spPr>
          <a:xfrm>
            <a:off x="685800" y="3401568"/>
            <a:ext cx="420624" cy="420624"/>
          </a:xfrm>
          <a:prstGeom prst="rect">
            <a:avLst/>
          </a:prstGeom>
          <a:noFill/>
          <a:ln/>
        </p:spPr>
        <p:txBody>
          <a:bodyPr wrap="square" lIns="0" tIns="0" rIns="0" bIns="0" rtlCol="0" anchor="ctr"/>
          <a:lstStyle/>
          <a:p>
            <a:pPr algn="ctr" indent="0" marL="0">
              <a:buNone/>
            </a:pPr>
            <a:r>
              <a:rPr lang="en-US" sz="1400" b="1" dirty="0">
                <a:solidFill>
                  <a:srgbClr val="FFC24B"/>
                </a:solidFill>
                <a:latin typeface="Palatino Linotype" pitchFamily="34" charset="0"/>
                <a:ea typeface="Palatino Linotype" pitchFamily="34" charset="-122"/>
                <a:cs typeface="Palatino Linotype" pitchFamily="34" charset="-120"/>
              </a:rPr>
              <a:t>2</a:t>
            </a:r>
            <a:endParaRPr lang="en-US" sz="1400" dirty="0"/>
          </a:p>
        </p:txBody>
      </p:sp>
      <p:sp>
        <p:nvSpPr>
          <p:cNvPr id="11" name="Text 9"/>
          <p:cNvSpPr/>
          <p:nvPr/>
        </p:nvSpPr>
        <p:spPr>
          <a:xfrm>
            <a:off x="1325880" y="3291840"/>
            <a:ext cx="10241280" cy="640080"/>
          </a:xfrm>
          <a:prstGeom prst="rect">
            <a:avLst/>
          </a:prstGeom>
          <a:noFill/>
          <a:ln/>
        </p:spPr>
        <p:txBody>
          <a:bodyPr wrap="square" lIns="0" tIns="0" rIns="0" bIns="0" rtlCol="0" anchor="ctr"/>
          <a:lstStyle/>
          <a:p>
            <a:pPr indent="0" marL="0">
              <a:buNone/>
            </a:pPr>
            <a:r>
              <a:rPr lang="en-US" sz="2000" dirty="0">
                <a:solidFill>
                  <a:srgbClr val="3D2A00"/>
                </a:solidFill>
                <a:latin typeface="Palatino Linotype" pitchFamily="34" charset="0"/>
                <a:ea typeface="Palatino Linotype" pitchFamily="34" charset="-122"/>
                <a:cs typeface="Palatino Linotype" pitchFamily="34" charset="-120"/>
              </a:rPr>
              <a:t>Pe Mentimeter: verigile găsite, pe trei coloane.</a:t>
            </a:r>
            <a:endParaRPr lang="en-US" sz="2000" dirty="0"/>
          </a:p>
        </p:txBody>
      </p:sp>
      <p:sp>
        <p:nvSpPr>
          <p:cNvPr id="12" name="Shape 10"/>
          <p:cNvSpPr/>
          <p:nvPr/>
        </p:nvSpPr>
        <p:spPr>
          <a:xfrm>
            <a:off x="685800" y="4178808"/>
            <a:ext cx="420624" cy="420624"/>
          </a:xfrm>
          <a:prstGeom prst="ellipse">
            <a:avLst/>
          </a:prstGeom>
          <a:solidFill>
            <a:srgbClr val="3D2A00"/>
          </a:solidFill>
          <a:ln/>
        </p:spPr>
        <p:txBody>
          <a:bodyPr/>
          <a:p/>
        </p:txBody>
      </p:sp>
      <p:sp>
        <p:nvSpPr>
          <p:cNvPr id="13" name="Text 11"/>
          <p:cNvSpPr/>
          <p:nvPr/>
        </p:nvSpPr>
        <p:spPr>
          <a:xfrm>
            <a:off x="685800" y="4178808"/>
            <a:ext cx="420624" cy="420624"/>
          </a:xfrm>
          <a:prstGeom prst="rect">
            <a:avLst/>
          </a:prstGeom>
          <a:noFill/>
          <a:ln/>
        </p:spPr>
        <p:txBody>
          <a:bodyPr wrap="square" lIns="0" tIns="0" rIns="0" bIns="0" rtlCol="0" anchor="ctr"/>
          <a:lstStyle/>
          <a:p>
            <a:pPr algn="ctr" indent="0" marL="0">
              <a:buNone/>
            </a:pPr>
            <a:r>
              <a:rPr lang="en-US" sz="1400" b="1" dirty="0">
                <a:solidFill>
                  <a:srgbClr val="FFC24B"/>
                </a:solidFill>
                <a:latin typeface="Palatino Linotype" pitchFamily="34" charset="0"/>
                <a:ea typeface="Palatino Linotype" pitchFamily="34" charset="-122"/>
                <a:cs typeface="Palatino Linotype" pitchFamily="34" charset="-120"/>
              </a:rPr>
              <a:t>3</a:t>
            </a:r>
            <a:endParaRPr lang="en-US" sz="1400" dirty="0"/>
          </a:p>
        </p:txBody>
      </p:sp>
      <p:sp>
        <p:nvSpPr>
          <p:cNvPr id="14" name="Text 12"/>
          <p:cNvSpPr/>
          <p:nvPr/>
        </p:nvSpPr>
        <p:spPr>
          <a:xfrm>
            <a:off x="1325880" y="4069080"/>
            <a:ext cx="10241280" cy="640080"/>
          </a:xfrm>
          <a:prstGeom prst="rect">
            <a:avLst/>
          </a:prstGeom>
          <a:noFill/>
          <a:ln/>
        </p:spPr>
        <p:txBody>
          <a:bodyPr wrap="square" lIns="0" tIns="0" rIns="0" bIns="0" rtlCol="0" anchor="ctr"/>
          <a:lstStyle/>
          <a:p>
            <a:pPr indent="0" marL="0">
              <a:buNone/>
            </a:pPr>
            <a:r>
              <a:rPr lang="en-US" sz="2000" dirty="0">
                <a:solidFill>
                  <a:srgbClr val="3D2A00"/>
                </a:solidFill>
                <a:latin typeface="Palatino Linotype" pitchFamily="34" charset="0"/>
                <a:ea typeface="Palatino Linotype" pitchFamily="34" charset="-122"/>
                <a:cs typeface="Palatino Linotype" pitchFamily="34" charset="-120"/>
              </a:rPr>
              <a:t>Votați din nou: cine este responsabil?</a:t>
            </a:r>
            <a:endParaRPr lang="en-US" sz="2000" dirty="0"/>
          </a:p>
        </p:txBody>
      </p:sp>
      <p:sp>
        <p:nvSpPr>
          <p:cNvPr id="15" name="Text 13"/>
          <p:cNvSpPr/>
          <p:nvPr/>
        </p:nvSpPr>
        <p:spPr>
          <a:xfrm>
            <a:off x="594360" y="4937760"/>
            <a:ext cx="10972800" cy="1005840"/>
          </a:xfrm>
          <a:prstGeom prst="rect">
            <a:avLst/>
          </a:prstGeom>
          <a:noFill/>
          <a:ln/>
        </p:spPr>
        <p:txBody>
          <a:bodyPr wrap="square" lIns="0" tIns="0" rIns="0" bIns="0" rtlCol="0" anchor="t"/>
          <a:lstStyle/>
          <a:p>
            <a:pPr indent="0" marL="0">
              <a:buNone/>
            </a:pPr>
            <a:r>
              <a:rPr lang="en-US" sz="1900" b="1" dirty="0">
                <a:solidFill>
                  <a:srgbClr val="3D2A00"/>
                </a:solidFill>
                <a:latin typeface="Palatino Linotype" pitchFamily="34" charset="0"/>
                <a:ea typeface="Palatino Linotype" pitchFamily="34" charset="-122"/>
                <a:cs typeface="Palatino Linotype" pitchFamily="34" charset="-120"/>
              </a:rPr>
              <a:t>Dacă ați putea schimba un singur lucru pe secție de mâine, care ar fi acela și ce indicator ar arăta, peste trei luni, că a funcționat?</a:t>
            </a:r>
            <a:endParaRPr lang="en-US" sz="19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F6F5F2"/>
        </a:solidFill>
      </p:bgPr>
    </p:bg>
    <p:spTree>
      <p:nvGrpSpPr>
        <p:cNvPr id="1" name=""/>
        <p:cNvGrpSpPr/>
        <p:nvPr/>
      </p:nvGrpSpPr>
      <p:grpSpPr>
        <a:xfrm>
          <a:off x="0" y="0"/>
          <a:ext cx="0" cy="0"/>
          <a:chOff x="0" y="0"/>
          <a:chExt cx="0" cy="0"/>
        </a:xfrm>
      </p:grpSpPr>
      <p:sp>
        <p:nvSpPr>
          <p:cNvPr id="2" name="Text 0"/>
          <p:cNvSpPr/>
          <p:nvPr/>
        </p:nvSpPr>
        <p:spPr>
          <a:xfrm>
            <a:off x="594360" y="347472"/>
            <a:ext cx="7680960" cy="329184"/>
          </a:xfrm>
          <a:prstGeom prst="rect">
            <a:avLst/>
          </a:prstGeom>
          <a:noFill/>
          <a:ln/>
        </p:spPr>
        <p:txBody>
          <a:bodyPr wrap="square" lIns="0" tIns="0" rIns="0" bIns="0" rtlCol="0" anchor="t"/>
          <a:lstStyle/>
          <a:p>
            <a:pPr indent="0" marL="0">
              <a:buNone/>
            </a:pPr>
            <a:r>
              <a:rPr lang="en-US" sz="1300" b="1" spc="200" kern="0" dirty="0">
                <a:solidFill>
                  <a:srgbClr val="B02532"/>
                </a:solidFill>
                <a:latin typeface="Palatino Linotype" pitchFamily="34" charset="0"/>
                <a:ea typeface="Palatino Linotype" pitchFamily="34" charset="-122"/>
                <a:cs typeface="Palatino Linotype" pitchFamily="34" charset="-120"/>
              </a:rPr>
              <a:t>O ANALIZĂ POSIBILĂ</a:t>
            </a:r>
            <a:endParaRPr lang="en-US" sz="1300" dirty="0"/>
          </a:p>
        </p:txBody>
      </p:sp>
      <p:sp>
        <p:nvSpPr>
          <p:cNvPr id="3" name="Text 1"/>
          <p:cNvSpPr/>
          <p:nvPr/>
        </p:nvSpPr>
        <p:spPr>
          <a:xfrm>
            <a:off x="594360" y="713232"/>
            <a:ext cx="10972800" cy="914400"/>
          </a:xfrm>
          <a:prstGeom prst="rect">
            <a:avLst/>
          </a:prstGeom>
          <a:noFill/>
          <a:ln/>
        </p:spPr>
        <p:txBody>
          <a:bodyPr wrap="square" lIns="0" tIns="0" rIns="0" bIns="0" rtlCol="0" anchor="t"/>
          <a:lstStyle/>
          <a:p>
            <a:pPr indent="0" marL="0">
              <a:buNone/>
            </a:pPr>
            <a:r>
              <a:rPr lang="en-US" sz="2800" b="1" dirty="0">
                <a:solidFill>
                  <a:srgbClr val="11121A"/>
                </a:solidFill>
                <a:latin typeface="Palatino Linotype" pitchFamily="34" charset="0"/>
                <a:ea typeface="Palatino Linotype" pitchFamily="34" charset="-122"/>
                <a:cs typeface="Palatino Linotype" pitchFamily="34" charset="-120"/>
              </a:rPr>
              <a:t>Căderea domnului E. pe cele trei niveluri</a:t>
            </a:r>
            <a:endParaRPr lang="en-US" sz="2800" dirty="0"/>
          </a:p>
        </p:txBody>
      </p:sp>
      <p:graphicFrame>
        <p:nvGraphicFramePr>
          <p:cNvPr id="9" name="Table 0"/>
          <p:cNvGraphicFramePr>
            <a:graphicFrameLocks noGrp="1"/>
          </p:cNvGraphicFramePr>
          <p:nvPr>
            <p:extLst>
              <p:ext uri="{D42A27DB-BD31-4B8C-83A1-F6EECF244321}">
                <p14:modId xmlns:p14="http://schemas.microsoft.com/office/powerpoint/2010/main" val="1579011935"/>
              </p:ext>
            </p:extLst>
          </p:nvPr>
        </p:nvGraphicFramePr>
        <p:xfrm>
          <a:off x="594360" y="1600200"/>
          <a:ext cx="10972800" cy="914400"/>
        </p:xfrm>
        <a:graphic>
          <a:graphicData uri="http://schemas.openxmlformats.org/drawingml/2006/table">
            <a:tbl>
              <a:tblPr/>
              <a:tblGrid>
                <a:gridCol w="1417320"/>
                <a:gridCol w="4983480"/>
                <a:gridCol w="4572000"/>
              </a:tblGrid>
              <a:tr h="457200">
                <a:tc>
                  <a:txBody>
                    <a:bodyPr/>
                    <a:lstStyle/>
                    <a:p>
                      <a:pPr indent="0" marL="0">
                        <a:buNone/>
                      </a:pPr>
                      <a:r>
                        <a:rPr lang="en-US" sz="1400" b="1" dirty="0">
                          <a:solidFill>
                            <a:srgbClr val="FFFFFF"/>
                          </a:solidFill>
                          <a:latin typeface="Palatino Linotype" pitchFamily="34" charset="0"/>
                          <a:ea typeface="Palatino Linotype" pitchFamily="34" charset="-122"/>
                          <a:cs typeface="Palatino Linotype" pitchFamily="34" charset="-120"/>
                        </a:rPr>
                        <a:t>Nivelul</a:t>
                      </a:r>
                      <a:endParaRPr lang="en-US" sz="1400" dirty="0">
                        <a:latin typeface="Palatino Linotype" charset="0"/>
                        <a:ea typeface="Palatino Linotype" charset="0"/>
                        <a:cs typeface="Palatino Linotype" charset="0"/>
                      </a:endParaRPr>
                    </a:p>
                  </a:txBody>
                  <a:tcPr marL="73152" marR="73152" marT="73152" marB="73152">
                    <a:lnL w="9525" cap="flat" cmpd="sng" algn="ctr">
                      <a:solidFill>
                        <a:srgbClr val="D6D2C8"/>
                      </a:solidFill>
                      <a:prstDash val="solid"/>
                      <a:round/>
                      <a:headEnd type="none" w="med" len="med"/>
                      <a:tailEnd type="none" w="med" len="med"/>
                    </a:lnL>
                    <a:lnR w="9525" cap="flat" cmpd="sng" algn="ctr">
                      <a:solidFill>
                        <a:srgbClr val="D6D2C8"/>
                      </a:solidFill>
                      <a:prstDash val="solid"/>
                      <a:round/>
                      <a:headEnd type="none" w="med" len="med"/>
                      <a:tailEnd type="none" w="med" len="med"/>
                    </a:lnR>
                    <a:lnT w="9525" cap="flat" cmpd="sng" algn="ctr">
                      <a:solidFill>
                        <a:srgbClr val="D6D2C8"/>
                      </a:solidFill>
                      <a:prstDash val="solid"/>
                      <a:round/>
                      <a:headEnd type="none" w="med" len="med"/>
                      <a:tailEnd type="none" w="med" len="med"/>
                    </a:lnT>
                    <a:lnB w="9525" cap="flat" cmpd="sng" algn="ctr">
                      <a:solidFill>
                        <a:srgbClr val="D6D2C8"/>
                      </a:solidFill>
                      <a:prstDash val="solid"/>
                      <a:round/>
                      <a:headEnd type="none" w="med" len="med"/>
                      <a:tailEnd type="none" w="med" len="med"/>
                    </a:lnB>
                    <a:solidFill>
                      <a:srgbClr val="11121A"/>
                    </a:solidFill>
                  </a:tcPr>
                </a:tc>
                <a:tc>
                  <a:txBody>
                    <a:bodyPr/>
                    <a:lstStyle/>
                    <a:p>
                      <a:pPr indent="0" marL="0">
                        <a:buNone/>
                      </a:pPr>
                      <a:r>
                        <a:rPr lang="en-US" sz="1400" b="1" dirty="0">
                          <a:solidFill>
                            <a:srgbClr val="FFFFFF"/>
                          </a:solidFill>
                          <a:latin typeface="Palatino Linotype" pitchFamily="34" charset="0"/>
                          <a:ea typeface="Palatino Linotype" pitchFamily="34" charset="-122"/>
                          <a:cs typeface="Palatino Linotype" pitchFamily="34" charset="-120"/>
                        </a:rPr>
                        <a:t>Ce a cedat</a:t>
                      </a:r>
                      <a:endParaRPr lang="en-US" sz="1400" dirty="0">
                        <a:latin typeface="Palatino Linotype" charset="0"/>
                        <a:ea typeface="Palatino Linotype" charset="0"/>
                        <a:cs typeface="Palatino Linotype" charset="0"/>
                      </a:endParaRPr>
                    </a:p>
                  </a:txBody>
                  <a:tcPr marL="73152" marR="73152" marT="73152" marB="73152">
                    <a:lnL w="9525" cap="flat" cmpd="sng" algn="ctr">
                      <a:solidFill>
                        <a:srgbClr val="D6D2C8"/>
                      </a:solidFill>
                      <a:prstDash val="solid"/>
                      <a:round/>
                      <a:headEnd type="none" w="med" len="med"/>
                      <a:tailEnd type="none" w="med" len="med"/>
                    </a:lnL>
                    <a:lnR w="9525" cap="flat" cmpd="sng" algn="ctr">
                      <a:solidFill>
                        <a:srgbClr val="D6D2C8"/>
                      </a:solidFill>
                      <a:prstDash val="solid"/>
                      <a:round/>
                      <a:headEnd type="none" w="med" len="med"/>
                      <a:tailEnd type="none" w="med" len="med"/>
                    </a:lnR>
                    <a:lnT w="9525" cap="flat" cmpd="sng" algn="ctr">
                      <a:solidFill>
                        <a:srgbClr val="D6D2C8"/>
                      </a:solidFill>
                      <a:prstDash val="solid"/>
                      <a:round/>
                      <a:headEnd type="none" w="med" len="med"/>
                      <a:tailEnd type="none" w="med" len="med"/>
                    </a:lnT>
                    <a:lnB w="9525" cap="flat" cmpd="sng" algn="ctr">
                      <a:solidFill>
                        <a:srgbClr val="D6D2C8"/>
                      </a:solidFill>
                      <a:prstDash val="solid"/>
                      <a:round/>
                      <a:headEnd type="none" w="med" len="med"/>
                      <a:tailEnd type="none" w="med" len="med"/>
                    </a:lnB>
                    <a:solidFill>
                      <a:srgbClr val="11121A"/>
                    </a:solidFill>
                  </a:tcPr>
                </a:tc>
                <a:tc>
                  <a:txBody>
                    <a:bodyPr/>
                    <a:lstStyle/>
                    <a:p>
                      <a:pPr indent="0" marL="0">
                        <a:buNone/>
                      </a:pPr>
                      <a:r>
                        <a:rPr lang="en-US" sz="1400" b="1" dirty="0">
                          <a:solidFill>
                            <a:srgbClr val="FFFFFF"/>
                          </a:solidFill>
                          <a:latin typeface="Palatino Linotype" pitchFamily="34" charset="0"/>
                          <a:ea typeface="Palatino Linotype" pitchFamily="34" charset="-122"/>
                          <a:cs typeface="Palatino Linotype" pitchFamily="34" charset="-120"/>
                        </a:rPr>
                        <a:t>Ce s-ar putea măsura</a:t>
                      </a:r>
                      <a:endParaRPr lang="en-US" sz="1400" dirty="0">
                        <a:latin typeface="Palatino Linotype" charset="0"/>
                        <a:ea typeface="Palatino Linotype" charset="0"/>
                        <a:cs typeface="Palatino Linotype" charset="0"/>
                      </a:endParaRPr>
                    </a:p>
                  </a:txBody>
                  <a:tcPr marL="73152" marR="73152" marT="73152" marB="73152">
                    <a:lnL w="9525" cap="flat" cmpd="sng" algn="ctr">
                      <a:solidFill>
                        <a:srgbClr val="D6D2C8"/>
                      </a:solidFill>
                      <a:prstDash val="solid"/>
                      <a:round/>
                      <a:headEnd type="none" w="med" len="med"/>
                      <a:tailEnd type="none" w="med" len="med"/>
                    </a:lnL>
                    <a:lnR w="9525" cap="flat" cmpd="sng" algn="ctr">
                      <a:solidFill>
                        <a:srgbClr val="D6D2C8"/>
                      </a:solidFill>
                      <a:prstDash val="solid"/>
                      <a:round/>
                      <a:headEnd type="none" w="med" len="med"/>
                      <a:tailEnd type="none" w="med" len="med"/>
                    </a:lnR>
                    <a:lnT w="9525" cap="flat" cmpd="sng" algn="ctr">
                      <a:solidFill>
                        <a:srgbClr val="D6D2C8"/>
                      </a:solidFill>
                      <a:prstDash val="solid"/>
                      <a:round/>
                      <a:headEnd type="none" w="med" len="med"/>
                      <a:tailEnd type="none" w="med" len="med"/>
                    </a:lnT>
                    <a:lnB w="9525" cap="flat" cmpd="sng" algn="ctr">
                      <a:solidFill>
                        <a:srgbClr val="D6D2C8"/>
                      </a:solidFill>
                      <a:prstDash val="solid"/>
                      <a:round/>
                      <a:headEnd type="none" w="med" len="med"/>
                      <a:tailEnd type="none" w="med" len="med"/>
                    </a:lnB>
                    <a:solidFill>
                      <a:srgbClr val="11121A"/>
                    </a:solidFill>
                  </a:tcPr>
                </a:tc>
              </a:tr>
              <a:tr h="1051560">
                <a:tc>
                  <a:txBody>
                    <a:bodyPr/>
                    <a:lstStyle/>
                    <a:p>
                      <a:pPr indent="0" marL="0">
                        <a:buNone/>
                      </a:pPr>
                      <a:r>
                        <a:rPr lang="en-US" sz="1350" b="1" dirty="0">
                          <a:solidFill>
                            <a:srgbClr val="B02532"/>
                          </a:solidFill>
                          <a:latin typeface="Palatino Linotype" pitchFamily="34" charset="0"/>
                          <a:ea typeface="Palatino Linotype" pitchFamily="34" charset="-122"/>
                          <a:cs typeface="Palatino Linotype" pitchFamily="34" charset="-120"/>
                        </a:rPr>
                        <a:t>Structură</a:t>
                      </a:r>
                      <a:endParaRPr lang="en-US" sz="1350" dirty="0">
                        <a:latin typeface="Palatino Linotype" charset="0"/>
                        <a:ea typeface="Palatino Linotype" charset="0"/>
                        <a:cs typeface="Palatino Linotype" charset="0"/>
                      </a:endParaRPr>
                    </a:p>
                  </a:txBody>
                  <a:tcPr marL="73152" marR="73152" marT="73152" marB="73152" anchor="ctr">
                    <a:lnL w="9525" cap="flat" cmpd="sng" algn="ctr">
                      <a:solidFill>
                        <a:srgbClr val="D6D2C8"/>
                      </a:solidFill>
                      <a:prstDash val="solid"/>
                      <a:round/>
                      <a:headEnd type="none" w="med" len="med"/>
                      <a:tailEnd type="none" w="med" len="med"/>
                    </a:lnL>
                    <a:lnR w="9525" cap="flat" cmpd="sng" algn="ctr">
                      <a:solidFill>
                        <a:srgbClr val="D6D2C8"/>
                      </a:solidFill>
                      <a:prstDash val="solid"/>
                      <a:round/>
                      <a:headEnd type="none" w="med" len="med"/>
                      <a:tailEnd type="none" w="med" len="med"/>
                    </a:lnR>
                    <a:lnT w="9525" cap="flat" cmpd="sng" algn="ctr">
                      <a:solidFill>
                        <a:srgbClr val="D6D2C8"/>
                      </a:solidFill>
                      <a:prstDash val="solid"/>
                      <a:round/>
                      <a:headEnd type="none" w="med" len="med"/>
                      <a:tailEnd type="none" w="med" len="med"/>
                    </a:lnT>
                    <a:lnB w="9525" cap="flat" cmpd="sng" algn="ctr">
                      <a:solidFill>
                        <a:srgbClr val="D6D2C8"/>
                      </a:solidFill>
                      <a:prstDash val="solid"/>
                      <a:round/>
                      <a:headEnd type="none" w="med" len="med"/>
                      <a:tailEnd type="none" w="med" len="med"/>
                    </a:lnB>
                    <a:solidFill>
                      <a:srgbClr val="F4E0E2"/>
                    </a:solidFill>
                  </a:tcPr>
                </a:tc>
                <a:tc>
                  <a:txBody>
                    <a:bodyPr/>
                    <a:lstStyle/>
                    <a:p>
                      <a:pPr indent="0" marL="0">
                        <a:buNone/>
                      </a:pPr>
                      <a:r>
                        <a:rPr lang="en-US" sz="1350" dirty="0">
                          <a:solidFill>
                            <a:srgbClr val="11121A"/>
                          </a:solidFill>
                          <a:latin typeface="Palatino Linotype" pitchFamily="34" charset="0"/>
                          <a:ea typeface="Palatino Linotype" pitchFamily="34" charset="-122"/>
                          <a:cs typeface="Palatino Linotype" pitchFamily="34" charset="-120"/>
                        </a:rPr>
                        <a:t>Salon întunecat; noptieră fără frâne; o asistentă noaptea</a:t>
                      </a:r>
                      <a:endParaRPr lang="en-US" sz="1350" dirty="0">
                        <a:latin typeface="Palatino Linotype" charset="0"/>
                        <a:ea typeface="Palatino Linotype" charset="0"/>
                        <a:cs typeface="Palatino Linotype" charset="0"/>
                      </a:endParaRPr>
                    </a:p>
                  </a:txBody>
                  <a:tcPr marL="73152" marR="73152" marT="73152" marB="73152" anchor="ctr">
                    <a:lnL w="9525" cap="flat" cmpd="sng" algn="ctr">
                      <a:solidFill>
                        <a:srgbClr val="D6D2C8"/>
                      </a:solidFill>
                      <a:prstDash val="solid"/>
                      <a:round/>
                      <a:headEnd type="none" w="med" len="med"/>
                      <a:tailEnd type="none" w="med" len="med"/>
                    </a:lnL>
                    <a:lnR w="9525" cap="flat" cmpd="sng" algn="ctr">
                      <a:solidFill>
                        <a:srgbClr val="D6D2C8"/>
                      </a:solidFill>
                      <a:prstDash val="solid"/>
                      <a:round/>
                      <a:headEnd type="none" w="med" len="med"/>
                      <a:tailEnd type="none" w="med" len="med"/>
                    </a:lnR>
                    <a:lnT w="9525" cap="flat" cmpd="sng" algn="ctr">
                      <a:solidFill>
                        <a:srgbClr val="D6D2C8"/>
                      </a:solidFill>
                      <a:prstDash val="solid"/>
                      <a:round/>
                      <a:headEnd type="none" w="med" len="med"/>
                      <a:tailEnd type="none" w="med" len="med"/>
                    </a:lnT>
                    <a:lnB w="9525" cap="flat" cmpd="sng" algn="ctr">
                      <a:solidFill>
                        <a:srgbClr val="D6D2C8"/>
                      </a:solidFill>
                      <a:prstDash val="solid"/>
                      <a:round/>
                      <a:headEnd type="none" w="med" len="med"/>
                      <a:tailEnd type="none" w="med" len="med"/>
                    </a:lnB>
                    <a:solidFill>
                      <a:srgbClr val="FFFFFF"/>
                    </a:solidFill>
                  </a:tcPr>
                </a:tc>
                <a:tc>
                  <a:txBody>
                    <a:bodyPr/>
                    <a:lstStyle/>
                    <a:p>
                      <a:pPr indent="0" marL="0">
                        <a:buNone/>
                      </a:pPr>
                      <a:r>
                        <a:rPr lang="en-US" sz="1350" dirty="0">
                          <a:solidFill>
                            <a:srgbClr val="11121A"/>
                          </a:solidFill>
                          <a:latin typeface="Palatino Linotype" pitchFamily="34" charset="0"/>
                          <a:ea typeface="Palatino Linotype" pitchFamily="34" charset="-122"/>
                          <a:cs typeface="Palatino Linotype" pitchFamily="34" charset="-120"/>
                        </a:rPr>
                        <a:t>Pacienți pe asistent noaptea</a:t>
                      </a:r>
                      <a:endParaRPr lang="en-US" sz="1350" dirty="0">
                        <a:latin typeface="Palatino Linotype" charset="0"/>
                        <a:ea typeface="Palatino Linotype" charset="0"/>
                        <a:cs typeface="Palatino Linotype" charset="0"/>
                      </a:endParaRPr>
                    </a:p>
                  </a:txBody>
                  <a:tcPr marL="73152" marR="73152" marT="73152" marB="73152" anchor="ctr">
                    <a:lnL w="9525" cap="flat" cmpd="sng" algn="ctr">
                      <a:solidFill>
                        <a:srgbClr val="D6D2C8"/>
                      </a:solidFill>
                      <a:prstDash val="solid"/>
                      <a:round/>
                      <a:headEnd type="none" w="med" len="med"/>
                      <a:tailEnd type="none" w="med" len="med"/>
                    </a:lnL>
                    <a:lnR w="9525" cap="flat" cmpd="sng" algn="ctr">
                      <a:solidFill>
                        <a:srgbClr val="D6D2C8"/>
                      </a:solidFill>
                      <a:prstDash val="solid"/>
                      <a:round/>
                      <a:headEnd type="none" w="med" len="med"/>
                      <a:tailEnd type="none" w="med" len="med"/>
                    </a:lnR>
                    <a:lnT w="9525" cap="flat" cmpd="sng" algn="ctr">
                      <a:solidFill>
                        <a:srgbClr val="D6D2C8"/>
                      </a:solidFill>
                      <a:prstDash val="solid"/>
                      <a:round/>
                      <a:headEnd type="none" w="med" len="med"/>
                      <a:tailEnd type="none" w="med" len="med"/>
                    </a:lnT>
                    <a:lnB w="9525" cap="flat" cmpd="sng" algn="ctr">
                      <a:solidFill>
                        <a:srgbClr val="D6D2C8"/>
                      </a:solidFill>
                      <a:prstDash val="solid"/>
                      <a:round/>
                      <a:headEnd type="none" w="med" len="med"/>
                      <a:tailEnd type="none" w="med" len="med"/>
                    </a:lnB>
                    <a:solidFill>
                      <a:srgbClr val="FFFFFF"/>
                    </a:solidFill>
                  </a:tcPr>
                </a:tc>
              </a:tr>
              <a:tr h="1051560">
                <a:tc>
                  <a:txBody>
                    <a:bodyPr/>
                    <a:lstStyle/>
                    <a:p>
                      <a:pPr indent="0" marL="0">
                        <a:buNone/>
                      </a:pPr>
                      <a:r>
                        <a:rPr lang="en-US" sz="1350" b="1" dirty="0">
                          <a:solidFill>
                            <a:srgbClr val="8A6100"/>
                          </a:solidFill>
                          <a:latin typeface="Palatino Linotype" pitchFamily="34" charset="0"/>
                          <a:ea typeface="Palatino Linotype" pitchFamily="34" charset="-122"/>
                          <a:cs typeface="Palatino Linotype" pitchFamily="34" charset="-120"/>
                        </a:rPr>
                        <a:t>Proces</a:t>
                      </a:r>
                      <a:endParaRPr lang="en-US" sz="1350" dirty="0">
                        <a:latin typeface="Palatino Linotype" charset="0"/>
                        <a:ea typeface="Palatino Linotype" charset="0"/>
                        <a:cs typeface="Palatino Linotype" charset="0"/>
                      </a:endParaRPr>
                    </a:p>
                  </a:txBody>
                  <a:tcPr marL="73152" marR="73152" marT="73152" marB="73152" anchor="ctr">
                    <a:lnL w="9525" cap="flat" cmpd="sng" algn="ctr">
                      <a:solidFill>
                        <a:srgbClr val="D6D2C8"/>
                      </a:solidFill>
                      <a:prstDash val="solid"/>
                      <a:round/>
                      <a:headEnd type="none" w="med" len="med"/>
                      <a:tailEnd type="none" w="med" len="med"/>
                    </a:lnL>
                    <a:lnR w="9525" cap="flat" cmpd="sng" algn="ctr">
                      <a:solidFill>
                        <a:srgbClr val="D6D2C8"/>
                      </a:solidFill>
                      <a:prstDash val="solid"/>
                      <a:round/>
                      <a:headEnd type="none" w="med" len="med"/>
                      <a:tailEnd type="none" w="med" len="med"/>
                    </a:lnR>
                    <a:lnT w="9525" cap="flat" cmpd="sng" algn="ctr">
                      <a:solidFill>
                        <a:srgbClr val="D6D2C8"/>
                      </a:solidFill>
                      <a:prstDash val="solid"/>
                      <a:round/>
                      <a:headEnd type="none" w="med" len="med"/>
                      <a:tailEnd type="none" w="med" len="med"/>
                    </a:lnT>
                    <a:lnB w="9525" cap="flat" cmpd="sng" algn="ctr">
                      <a:solidFill>
                        <a:srgbClr val="D6D2C8"/>
                      </a:solidFill>
                      <a:prstDash val="solid"/>
                      <a:round/>
                      <a:headEnd type="none" w="med" len="med"/>
                      <a:tailEnd type="none" w="med" len="med"/>
                    </a:lnB>
                    <a:solidFill>
                      <a:srgbClr val="F6EDD5"/>
                    </a:solidFill>
                  </a:tcPr>
                </a:tc>
                <a:tc>
                  <a:txBody>
                    <a:bodyPr/>
                    <a:lstStyle/>
                    <a:p>
                      <a:pPr indent="0" marL="0">
                        <a:buNone/>
                      </a:pPr>
                      <a:r>
                        <a:rPr lang="en-US" sz="1350" dirty="0">
                          <a:solidFill>
                            <a:srgbClr val="11121A"/>
                          </a:solidFill>
                          <a:latin typeface="Palatino Linotype" pitchFamily="34" charset="0"/>
                          <a:ea typeface="Palatino Linotype" pitchFamily="34" charset="-122"/>
                          <a:cs typeface="Palatino Linotype" pitchFamily="34" charset="-120"/>
                        </a:rPr>
                        <a:t>Scor fără plan; cadrul și soneria departe; nicio explicație pentru noapte; somnifer nereevaluat</a:t>
                      </a:r>
                      <a:endParaRPr lang="en-US" sz="1350" dirty="0">
                        <a:latin typeface="Palatino Linotype" charset="0"/>
                        <a:ea typeface="Palatino Linotype" charset="0"/>
                        <a:cs typeface="Palatino Linotype" charset="0"/>
                      </a:endParaRPr>
                    </a:p>
                  </a:txBody>
                  <a:tcPr marL="73152" marR="73152" marT="73152" marB="73152" anchor="ctr">
                    <a:lnL w="9525" cap="flat" cmpd="sng" algn="ctr">
                      <a:solidFill>
                        <a:srgbClr val="D6D2C8"/>
                      </a:solidFill>
                      <a:prstDash val="solid"/>
                      <a:round/>
                      <a:headEnd type="none" w="med" len="med"/>
                      <a:tailEnd type="none" w="med" len="med"/>
                    </a:lnL>
                    <a:lnR w="9525" cap="flat" cmpd="sng" algn="ctr">
                      <a:solidFill>
                        <a:srgbClr val="D6D2C8"/>
                      </a:solidFill>
                      <a:prstDash val="solid"/>
                      <a:round/>
                      <a:headEnd type="none" w="med" len="med"/>
                      <a:tailEnd type="none" w="med" len="med"/>
                    </a:lnR>
                    <a:lnT w="9525" cap="flat" cmpd="sng" algn="ctr">
                      <a:solidFill>
                        <a:srgbClr val="D6D2C8"/>
                      </a:solidFill>
                      <a:prstDash val="solid"/>
                      <a:round/>
                      <a:headEnd type="none" w="med" len="med"/>
                      <a:tailEnd type="none" w="med" len="med"/>
                    </a:lnT>
                    <a:lnB w="9525" cap="flat" cmpd="sng" algn="ctr">
                      <a:solidFill>
                        <a:srgbClr val="D6D2C8"/>
                      </a:solidFill>
                      <a:prstDash val="solid"/>
                      <a:round/>
                      <a:headEnd type="none" w="med" len="med"/>
                      <a:tailEnd type="none" w="med" len="med"/>
                    </a:lnB>
                    <a:solidFill>
                      <a:srgbClr val="FFFFFF"/>
                    </a:solidFill>
                  </a:tcPr>
                </a:tc>
                <a:tc>
                  <a:txBody>
                    <a:bodyPr/>
                    <a:lstStyle/>
                    <a:p>
                      <a:pPr indent="0" marL="0">
                        <a:buNone/>
                      </a:pPr>
                      <a:r>
                        <a:rPr lang="en-US" sz="1350" dirty="0">
                          <a:solidFill>
                            <a:srgbClr val="11121A"/>
                          </a:solidFill>
                          <a:latin typeface="Palatino Linotype" pitchFamily="34" charset="0"/>
                          <a:ea typeface="Palatino Linotype" pitchFamily="34" charset="-122"/>
                          <a:cs typeface="Palatino Linotype" pitchFamily="34" charset="-120"/>
                        </a:rPr>
                        <a:t>Pacienți cu plan individual din prima zi; paturi cu soneria la îndemână</a:t>
                      </a:r>
                      <a:endParaRPr lang="en-US" sz="1350" dirty="0">
                        <a:latin typeface="Palatino Linotype" charset="0"/>
                        <a:ea typeface="Palatino Linotype" charset="0"/>
                        <a:cs typeface="Palatino Linotype" charset="0"/>
                      </a:endParaRPr>
                    </a:p>
                  </a:txBody>
                  <a:tcPr marL="73152" marR="73152" marT="73152" marB="73152" anchor="ctr">
                    <a:lnL w="9525" cap="flat" cmpd="sng" algn="ctr">
                      <a:solidFill>
                        <a:srgbClr val="D6D2C8"/>
                      </a:solidFill>
                      <a:prstDash val="solid"/>
                      <a:round/>
                      <a:headEnd type="none" w="med" len="med"/>
                      <a:tailEnd type="none" w="med" len="med"/>
                    </a:lnL>
                    <a:lnR w="9525" cap="flat" cmpd="sng" algn="ctr">
                      <a:solidFill>
                        <a:srgbClr val="D6D2C8"/>
                      </a:solidFill>
                      <a:prstDash val="solid"/>
                      <a:round/>
                      <a:headEnd type="none" w="med" len="med"/>
                      <a:tailEnd type="none" w="med" len="med"/>
                    </a:lnR>
                    <a:lnT w="9525" cap="flat" cmpd="sng" algn="ctr">
                      <a:solidFill>
                        <a:srgbClr val="D6D2C8"/>
                      </a:solidFill>
                      <a:prstDash val="solid"/>
                      <a:round/>
                      <a:headEnd type="none" w="med" len="med"/>
                      <a:tailEnd type="none" w="med" len="med"/>
                    </a:lnT>
                    <a:lnB w="9525" cap="flat" cmpd="sng" algn="ctr">
                      <a:solidFill>
                        <a:srgbClr val="D6D2C8"/>
                      </a:solidFill>
                      <a:prstDash val="solid"/>
                      <a:round/>
                      <a:headEnd type="none" w="med" len="med"/>
                      <a:tailEnd type="none" w="med" len="med"/>
                    </a:lnB>
                    <a:solidFill>
                      <a:srgbClr val="FFFFFF"/>
                    </a:solidFill>
                  </a:tcPr>
                </a:tc>
              </a:tr>
              <a:tr h="1051560">
                <a:tc>
                  <a:txBody>
                    <a:bodyPr/>
                    <a:lstStyle/>
                    <a:p>
                      <a:pPr indent="0" marL="0">
                        <a:buNone/>
                      </a:pPr>
                      <a:r>
                        <a:rPr lang="en-US" sz="1350" b="1" dirty="0">
                          <a:solidFill>
                            <a:srgbClr val="0E7C6B"/>
                          </a:solidFill>
                          <a:latin typeface="Palatino Linotype" pitchFamily="34" charset="0"/>
                          <a:ea typeface="Palatino Linotype" pitchFamily="34" charset="-122"/>
                          <a:cs typeface="Palatino Linotype" pitchFamily="34" charset="-120"/>
                        </a:rPr>
                        <a:t>Rezultat</a:t>
                      </a:r>
                      <a:endParaRPr lang="en-US" sz="1350" dirty="0">
                        <a:latin typeface="Palatino Linotype" charset="0"/>
                        <a:ea typeface="Palatino Linotype" charset="0"/>
                        <a:cs typeface="Palatino Linotype" charset="0"/>
                      </a:endParaRPr>
                    </a:p>
                  </a:txBody>
                  <a:tcPr marL="73152" marR="73152" marT="73152" marB="73152" anchor="ctr">
                    <a:lnL w="9525" cap="flat" cmpd="sng" algn="ctr">
                      <a:solidFill>
                        <a:srgbClr val="D6D2C8"/>
                      </a:solidFill>
                      <a:prstDash val="solid"/>
                      <a:round/>
                      <a:headEnd type="none" w="med" len="med"/>
                      <a:tailEnd type="none" w="med" len="med"/>
                    </a:lnL>
                    <a:lnR w="9525" cap="flat" cmpd="sng" algn="ctr">
                      <a:solidFill>
                        <a:srgbClr val="D6D2C8"/>
                      </a:solidFill>
                      <a:prstDash val="solid"/>
                      <a:round/>
                      <a:headEnd type="none" w="med" len="med"/>
                      <a:tailEnd type="none" w="med" len="med"/>
                    </a:lnR>
                    <a:lnT w="9525" cap="flat" cmpd="sng" algn="ctr">
                      <a:solidFill>
                        <a:srgbClr val="D6D2C8"/>
                      </a:solidFill>
                      <a:prstDash val="solid"/>
                      <a:round/>
                      <a:headEnd type="none" w="med" len="med"/>
                      <a:tailEnd type="none" w="med" len="med"/>
                    </a:lnT>
                    <a:lnB w="9525" cap="flat" cmpd="sng" algn="ctr">
                      <a:solidFill>
                        <a:srgbClr val="D6D2C8"/>
                      </a:solidFill>
                      <a:prstDash val="solid"/>
                      <a:round/>
                      <a:headEnd type="none" w="med" len="med"/>
                      <a:tailEnd type="none" w="med" len="med"/>
                    </a:lnB>
                    <a:solidFill>
                      <a:srgbClr val="E1F0EC"/>
                    </a:solidFill>
                  </a:tcPr>
                </a:tc>
                <a:tc>
                  <a:txBody>
                    <a:bodyPr/>
                    <a:lstStyle/>
                    <a:p>
                      <a:pPr indent="0" marL="0">
                        <a:buNone/>
                      </a:pPr>
                      <a:r>
                        <a:rPr lang="en-US" sz="1350" dirty="0">
                          <a:solidFill>
                            <a:srgbClr val="11121A"/>
                          </a:solidFill>
                          <a:latin typeface="Palatino Linotype" pitchFamily="34" charset="0"/>
                          <a:ea typeface="Palatino Linotype" pitchFamily="34" charset="-122"/>
                          <a:cs typeface="Palatino Linotype" pitchFamily="34" charset="-120"/>
                        </a:rPr>
                        <a:t>Contuzie; teamă de mers; ședințe scurtate; externare amânată</a:t>
                      </a:r>
                      <a:endParaRPr lang="en-US" sz="1350" dirty="0">
                        <a:latin typeface="Palatino Linotype" charset="0"/>
                        <a:ea typeface="Palatino Linotype" charset="0"/>
                        <a:cs typeface="Palatino Linotype" charset="0"/>
                      </a:endParaRPr>
                    </a:p>
                  </a:txBody>
                  <a:tcPr marL="73152" marR="73152" marT="73152" marB="73152" anchor="ctr">
                    <a:lnL w="9525" cap="flat" cmpd="sng" algn="ctr">
                      <a:solidFill>
                        <a:srgbClr val="D6D2C8"/>
                      </a:solidFill>
                      <a:prstDash val="solid"/>
                      <a:round/>
                      <a:headEnd type="none" w="med" len="med"/>
                      <a:tailEnd type="none" w="med" len="med"/>
                    </a:lnL>
                    <a:lnR w="9525" cap="flat" cmpd="sng" algn="ctr">
                      <a:solidFill>
                        <a:srgbClr val="D6D2C8"/>
                      </a:solidFill>
                      <a:prstDash val="solid"/>
                      <a:round/>
                      <a:headEnd type="none" w="med" len="med"/>
                      <a:tailEnd type="none" w="med" len="med"/>
                    </a:lnR>
                    <a:lnT w="9525" cap="flat" cmpd="sng" algn="ctr">
                      <a:solidFill>
                        <a:srgbClr val="D6D2C8"/>
                      </a:solidFill>
                      <a:prstDash val="solid"/>
                      <a:round/>
                      <a:headEnd type="none" w="med" len="med"/>
                      <a:tailEnd type="none" w="med" len="med"/>
                    </a:lnT>
                    <a:lnB w="9525" cap="flat" cmpd="sng" algn="ctr">
                      <a:solidFill>
                        <a:srgbClr val="D6D2C8"/>
                      </a:solidFill>
                      <a:prstDash val="solid"/>
                      <a:round/>
                      <a:headEnd type="none" w="med" len="med"/>
                      <a:tailEnd type="none" w="med" len="med"/>
                    </a:lnB>
                    <a:solidFill>
                      <a:srgbClr val="FFFFFF"/>
                    </a:solidFill>
                  </a:tcPr>
                </a:tc>
                <a:tc>
                  <a:txBody>
                    <a:bodyPr/>
                    <a:lstStyle/>
                    <a:p>
                      <a:pPr indent="0" marL="0">
                        <a:buNone/>
                      </a:pPr>
                      <a:r>
                        <a:rPr lang="en-US" sz="1350" dirty="0">
                          <a:solidFill>
                            <a:srgbClr val="11121A"/>
                          </a:solidFill>
                          <a:latin typeface="Palatino Linotype" pitchFamily="34" charset="0"/>
                          <a:ea typeface="Palatino Linotype" pitchFamily="34" charset="-122"/>
                          <a:cs typeface="Palatino Linotype" pitchFamily="34" charset="-120"/>
                        </a:rPr>
                        <a:t>Căderi la 1 000 de zile de spitalizare; teama de cădere la externare</a:t>
                      </a:r>
                      <a:endParaRPr lang="en-US" sz="1350" dirty="0">
                        <a:latin typeface="Palatino Linotype" charset="0"/>
                        <a:ea typeface="Palatino Linotype" charset="0"/>
                        <a:cs typeface="Palatino Linotype" charset="0"/>
                      </a:endParaRPr>
                    </a:p>
                  </a:txBody>
                  <a:tcPr marL="73152" marR="73152" marT="73152" marB="73152" anchor="ctr">
                    <a:lnL w="9525" cap="flat" cmpd="sng" algn="ctr">
                      <a:solidFill>
                        <a:srgbClr val="D6D2C8"/>
                      </a:solidFill>
                      <a:prstDash val="solid"/>
                      <a:round/>
                      <a:headEnd type="none" w="med" len="med"/>
                      <a:tailEnd type="none" w="med" len="med"/>
                    </a:lnL>
                    <a:lnR w="9525" cap="flat" cmpd="sng" algn="ctr">
                      <a:solidFill>
                        <a:srgbClr val="D6D2C8"/>
                      </a:solidFill>
                      <a:prstDash val="solid"/>
                      <a:round/>
                      <a:headEnd type="none" w="med" len="med"/>
                      <a:tailEnd type="none" w="med" len="med"/>
                    </a:lnR>
                    <a:lnT w="9525" cap="flat" cmpd="sng" algn="ctr">
                      <a:solidFill>
                        <a:srgbClr val="D6D2C8"/>
                      </a:solidFill>
                      <a:prstDash val="solid"/>
                      <a:round/>
                      <a:headEnd type="none" w="med" len="med"/>
                      <a:tailEnd type="none" w="med" len="med"/>
                    </a:lnT>
                    <a:lnB w="9525" cap="flat" cmpd="sng" algn="ctr">
                      <a:solidFill>
                        <a:srgbClr val="D6D2C8"/>
                      </a:solidFill>
                      <a:prstDash val="solid"/>
                      <a:round/>
                      <a:headEnd type="none" w="med" len="med"/>
                      <a:tailEnd type="none" w="med" len="med"/>
                    </a:lnB>
                    <a:solidFill>
                      <a:srgbClr val="FFFFFF"/>
                    </a:solidFill>
                  </a:tcPr>
                </a:tc>
              </a:tr>
            </a:tbl>
          </a:graphicData>
        </a:graphic>
      </p:graphicFrame>
      <p:sp>
        <p:nvSpPr>
          <p:cNvPr id="5" name="Text 2"/>
          <p:cNvSpPr/>
          <p:nvPr/>
        </p:nvSpPr>
        <p:spPr>
          <a:xfrm>
            <a:off x="594360" y="6382512"/>
            <a:ext cx="10972800" cy="274320"/>
          </a:xfrm>
          <a:prstGeom prst="rect">
            <a:avLst/>
          </a:prstGeom>
          <a:noFill/>
          <a:ln/>
        </p:spPr>
        <p:txBody>
          <a:bodyPr wrap="square" lIns="0" tIns="0" rIns="0" bIns="0" rtlCol="0" anchor="ctr"/>
          <a:lstStyle/>
          <a:p>
            <a:pPr indent="0" marL="0">
              <a:buNone/>
            </a:pPr>
            <a:r>
              <a:rPr lang="en-US" sz="1000" i="1" dirty="0">
                <a:solidFill>
                  <a:srgbClr val="585A64"/>
                </a:solidFill>
                <a:latin typeface="Palatino Linotype" pitchFamily="34" charset="0"/>
                <a:ea typeface="Palatino Linotype" pitchFamily="34" charset="-122"/>
                <a:cs typeface="Palatino Linotype" pitchFamily="34" charset="-120"/>
              </a:rPr>
              <a:t>Caz construit; categoriile după Donabedian (1966). O analiză posibilă, nu singura.</a:t>
            </a:r>
            <a:endParaRPr lang="en-US" sz="10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11121A"/>
        </a:solidFill>
      </p:bgPr>
    </p:bg>
    <p:spTree>
      <p:nvGrpSpPr>
        <p:cNvPr id="1" name=""/>
        <p:cNvGrpSpPr/>
        <p:nvPr/>
      </p:nvGrpSpPr>
      <p:grpSpPr>
        <a:xfrm>
          <a:off x="0" y="0"/>
          <a:ext cx="0" cy="0"/>
          <a:chOff x="0" y="0"/>
          <a:chExt cx="0" cy="0"/>
        </a:xfrm>
      </p:grpSpPr>
      <p:sp>
        <p:nvSpPr>
          <p:cNvPr id="2" name="Shape 0"/>
          <p:cNvSpPr/>
          <p:nvPr/>
        </p:nvSpPr>
        <p:spPr>
          <a:xfrm>
            <a:off x="8366760" y="292608"/>
            <a:ext cx="3200400" cy="420624"/>
          </a:xfrm>
          <a:prstGeom prst="roundRect">
            <a:avLst>
              <a:gd name="adj" fmla="val 50000"/>
            </a:avLst>
          </a:prstGeom>
          <a:solidFill>
            <a:srgbClr val="FFC24B"/>
          </a:solidFill>
          <a:ln w="12700">
            <a:solidFill>
              <a:srgbClr val="FFC24B"/>
            </a:solidFill>
            <a:prstDash val="solid"/>
          </a:ln>
        </p:spPr>
        <p:txBody>
          <a:bodyPr/>
          <a:p/>
        </p:txBody>
      </p:sp>
      <p:sp>
        <p:nvSpPr>
          <p:cNvPr id="3" name="Text 1"/>
          <p:cNvSpPr/>
          <p:nvPr/>
        </p:nvSpPr>
        <p:spPr>
          <a:xfrm>
            <a:off x="8366760" y="292608"/>
            <a:ext cx="3200400" cy="420624"/>
          </a:xfrm>
          <a:prstGeom prst="rect">
            <a:avLst/>
          </a:prstGeom>
          <a:noFill/>
          <a:ln/>
        </p:spPr>
        <p:txBody>
          <a:bodyPr wrap="square" lIns="0" tIns="0" rIns="0" bIns="0" rtlCol="0" anchor="ctr"/>
          <a:lstStyle/>
          <a:p>
            <a:pPr algn="ctr" indent="0" marL="0">
              <a:buNone/>
            </a:pPr>
            <a:r>
              <a:rPr lang="en-US" sz="1300" b="1" dirty="0">
                <a:solidFill>
                  <a:srgbClr val="11121A"/>
                </a:solidFill>
                <a:latin typeface="Palatino Linotype" pitchFamily="34" charset="0"/>
                <a:ea typeface="Palatino Linotype" pitchFamily="34" charset="-122"/>
                <a:cs typeface="Palatino Linotype" pitchFamily="34" charset="-120"/>
              </a:rPr>
              <a:t>MENTIMETER · REVOT</a:t>
            </a:r>
            <a:endParaRPr lang="en-US" sz="1300" dirty="0"/>
          </a:p>
        </p:txBody>
      </p:sp>
      <p:sp>
        <p:nvSpPr>
          <p:cNvPr id="4" name="Text 2"/>
          <p:cNvSpPr/>
          <p:nvPr/>
        </p:nvSpPr>
        <p:spPr>
          <a:xfrm>
            <a:off x="594360" y="347472"/>
            <a:ext cx="7680960" cy="329184"/>
          </a:xfrm>
          <a:prstGeom prst="rect">
            <a:avLst/>
          </a:prstGeom>
          <a:noFill/>
          <a:ln/>
        </p:spPr>
        <p:txBody>
          <a:bodyPr wrap="square" lIns="0" tIns="0" rIns="0" bIns="0" rtlCol="0" anchor="t"/>
          <a:lstStyle/>
          <a:p>
            <a:pPr indent="0" marL="0">
              <a:buNone/>
            </a:pPr>
            <a:r>
              <a:rPr lang="en-US" sz="1300" b="1" spc="200" kern="0" dirty="0">
                <a:solidFill>
                  <a:srgbClr val="FFC24B"/>
                </a:solidFill>
                <a:latin typeface="Palatino Linotype" pitchFamily="34" charset="0"/>
                <a:ea typeface="Palatino Linotype" pitchFamily="34" charset="-122"/>
                <a:cs typeface="Palatino Linotype" pitchFamily="34" charset="-120"/>
              </a:rPr>
              <a:t>ÎNAPOI LA VOTUL DE LA ÎNCEPUT</a:t>
            </a:r>
            <a:endParaRPr lang="en-US" sz="1300" dirty="0"/>
          </a:p>
        </p:txBody>
      </p:sp>
      <p:sp>
        <p:nvSpPr>
          <p:cNvPr id="5" name="Text 3"/>
          <p:cNvSpPr/>
          <p:nvPr/>
        </p:nvSpPr>
        <p:spPr>
          <a:xfrm>
            <a:off x="594360" y="713232"/>
            <a:ext cx="10972800" cy="914400"/>
          </a:xfrm>
          <a:prstGeom prst="rect">
            <a:avLst/>
          </a:prstGeom>
          <a:noFill/>
          <a:ln/>
        </p:spPr>
        <p:txBody>
          <a:bodyPr wrap="square" lIns="0" tIns="0" rIns="0" bIns="0" rtlCol="0" anchor="t"/>
          <a:lstStyle/>
          <a:p>
            <a:pPr indent="0" marL="0">
              <a:buNone/>
            </a:pPr>
            <a:r>
              <a:rPr lang="en-US" sz="2900" b="1" dirty="0">
                <a:solidFill>
                  <a:srgbClr val="FFFFFF"/>
                </a:solidFill>
                <a:latin typeface="Palatino Linotype" pitchFamily="34" charset="0"/>
                <a:ea typeface="Palatino Linotype" pitchFamily="34" charset="-122"/>
                <a:cs typeface="Palatino Linotype" pitchFamily="34" charset="-120"/>
              </a:rPr>
              <a:t>Trei dintre variante caută un singur om</a:t>
            </a:r>
            <a:endParaRPr lang="en-US" sz="2900" dirty="0"/>
          </a:p>
        </p:txBody>
      </p:sp>
      <p:sp>
        <p:nvSpPr>
          <p:cNvPr id="6" name="Shape 4"/>
          <p:cNvSpPr/>
          <p:nvPr/>
        </p:nvSpPr>
        <p:spPr>
          <a:xfrm>
            <a:off x="594360" y="1691640"/>
            <a:ext cx="4389120" cy="3291840"/>
          </a:xfrm>
          <a:prstGeom prst="roundRect">
            <a:avLst>
              <a:gd name="adj" fmla="val 2500"/>
            </a:avLst>
          </a:prstGeom>
          <a:solidFill>
            <a:srgbClr val="272A38"/>
          </a:solidFill>
          <a:ln w="12700">
            <a:solidFill>
              <a:srgbClr val="272A38"/>
            </a:solidFill>
            <a:prstDash val="solid"/>
          </a:ln>
        </p:spPr>
        <p:txBody>
          <a:bodyPr/>
          <a:p/>
        </p:txBody>
      </p:sp>
      <p:sp>
        <p:nvSpPr>
          <p:cNvPr id="7" name="Text 5"/>
          <p:cNvSpPr/>
          <p:nvPr/>
        </p:nvSpPr>
        <p:spPr>
          <a:xfrm>
            <a:off x="777240" y="1691640"/>
            <a:ext cx="4023360" cy="3291840"/>
          </a:xfrm>
          <a:prstGeom prst="rect">
            <a:avLst/>
          </a:prstGeom>
          <a:noFill/>
          <a:ln/>
        </p:spPr>
        <p:txBody>
          <a:bodyPr wrap="square" lIns="0" tIns="0" rIns="0" bIns="0" rtlCol="0" anchor="ctr"/>
          <a:lstStyle/>
          <a:p>
            <a:pPr algn="ctr" indent="0" marL="0">
              <a:buNone/>
            </a:pPr>
            <a:r>
              <a:rPr lang="en-US" sz="1500" dirty="0">
                <a:solidFill>
                  <a:srgbClr val="959BB0"/>
                </a:solidFill>
                <a:latin typeface="Palatino Linotype" pitchFamily="34" charset="0"/>
                <a:ea typeface="Palatino Linotype" pitchFamily="34" charset="-122"/>
                <a:cs typeface="Palatino Linotype" pitchFamily="34" charset="-120"/>
              </a:rPr>
              <a:t>[votul de la început și revotul, din Mentimeter]</a:t>
            </a:r>
            <a:endParaRPr lang="en-US" sz="1500" dirty="0"/>
          </a:p>
        </p:txBody>
      </p:sp>
      <p:sp>
        <p:nvSpPr>
          <p:cNvPr id="8" name="Text 6"/>
          <p:cNvSpPr/>
          <p:nvPr/>
        </p:nvSpPr>
        <p:spPr>
          <a:xfrm>
            <a:off x="5303520" y="1691640"/>
            <a:ext cx="6263640" cy="365760"/>
          </a:xfrm>
          <a:prstGeom prst="rect">
            <a:avLst/>
          </a:prstGeom>
          <a:noFill/>
          <a:ln/>
        </p:spPr>
        <p:txBody>
          <a:bodyPr wrap="square" lIns="0" tIns="0" rIns="0" bIns="0" rtlCol="0" anchor="t"/>
          <a:lstStyle/>
          <a:p>
            <a:pPr indent="0" marL="0">
              <a:buNone/>
            </a:pPr>
            <a:r>
              <a:rPr lang="en-US" sz="1300" b="1" spc="100" kern="0" dirty="0">
                <a:solidFill>
                  <a:srgbClr val="FF4757"/>
                </a:solidFill>
                <a:latin typeface="Palatino Linotype" pitchFamily="34" charset="0"/>
                <a:ea typeface="Palatino Linotype" pitchFamily="34" charset="-122"/>
                <a:cs typeface="Palatino Linotype" pitchFamily="34" charset="-120"/>
              </a:rPr>
              <a:t>CĂDEREA S-A PRODUS LA ÎNTÂLNIREA A TREI VERIGI</a:t>
            </a:r>
            <a:endParaRPr lang="en-US" sz="1300" dirty="0"/>
          </a:p>
        </p:txBody>
      </p:sp>
      <p:sp>
        <p:nvSpPr>
          <p:cNvPr id="9" name="Shape 7"/>
          <p:cNvSpPr/>
          <p:nvPr/>
        </p:nvSpPr>
        <p:spPr>
          <a:xfrm>
            <a:off x="5303520" y="2240280"/>
            <a:ext cx="64008" cy="640080"/>
          </a:xfrm>
          <a:prstGeom prst="rect">
            <a:avLst/>
          </a:prstGeom>
          <a:solidFill>
            <a:srgbClr val="FF4757"/>
          </a:solidFill>
          <a:ln w="12700">
            <a:solidFill>
              <a:srgbClr val="FF4757"/>
            </a:solidFill>
            <a:prstDash val="solid"/>
          </a:ln>
        </p:spPr>
        <p:txBody>
          <a:bodyPr/>
          <a:p/>
        </p:txBody>
      </p:sp>
      <p:sp>
        <p:nvSpPr>
          <p:cNvPr id="10" name="Text 8"/>
          <p:cNvSpPr/>
          <p:nvPr/>
        </p:nvSpPr>
        <p:spPr>
          <a:xfrm>
            <a:off x="5532120" y="2194560"/>
            <a:ext cx="6035040" cy="758952"/>
          </a:xfrm>
          <a:prstGeom prst="rect">
            <a:avLst/>
          </a:prstGeom>
          <a:noFill/>
          <a:ln/>
        </p:spPr>
        <p:txBody>
          <a:bodyPr wrap="square" lIns="0" tIns="0" rIns="0" bIns="0" rtlCol="0" anchor="t"/>
          <a:lstStyle/>
          <a:p>
            <a:pPr indent="0" marL="0">
              <a:buNone/>
            </a:pPr>
            <a:r>
              <a:rPr lang="en-US" sz="1800" dirty="0">
                <a:solidFill>
                  <a:srgbClr val="FFFFFF"/>
                </a:solidFill>
                <a:latin typeface="Palatino Linotype" pitchFamily="34" charset="0"/>
                <a:ea typeface="Palatino Linotype" pitchFamily="34" charset="-122"/>
                <a:cs typeface="Palatino Linotype" pitchFamily="34" charset="-120"/>
              </a:rPr>
              <a:t>Un pacient cu risc mare.</a:t>
            </a:r>
            <a:endParaRPr lang="en-US" sz="1800" dirty="0"/>
          </a:p>
        </p:txBody>
      </p:sp>
      <p:sp>
        <p:nvSpPr>
          <p:cNvPr id="11" name="Shape 9"/>
          <p:cNvSpPr/>
          <p:nvPr/>
        </p:nvSpPr>
        <p:spPr>
          <a:xfrm>
            <a:off x="5303520" y="3108960"/>
            <a:ext cx="64008" cy="640080"/>
          </a:xfrm>
          <a:prstGeom prst="rect">
            <a:avLst/>
          </a:prstGeom>
          <a:solidFill>
            <a:srgbClr val="FFC24B"/>
          </a:solidFill>
          <a:ln w="12700">
            <a:solidFill>
              <a:srgbClr val="FFC24B"/>
            </a:solidFill>
            <a:prstDash val="solid"/>
          </a:ln>
        </p:spPr>
        <p:txBody>
          <a:bodyPr/>
          <a:p/>
        </p:txBody>
      </p:sp>
      <p:sp>
        <p:nvSpPr>
          <p:cNvPr id="12" name="Text 10"/>
          <p:cNvSpPr/>
          <p:nvPr/>
        </p:nvSpPr>
        <p:spPr>
          <a:xfrm>
            <a:off x="5532120" y="3063240"/>
            <a:ext cx="6035040" cy="758952"/>
          </a:xfrm>
          <a:prstGeom prst="rect">
            <a:avLst/>
          </a:prstGeom>
          <a:noFill/>
          <a:ln/>
        </p:spPr>
        <p:txBody>
          <a:bodyPr wrap="square" lIns="0" tIns="0" rIns="0" bIns="0" rtlCol="0" anchor="t"/>
          <a:lstStyle/>
          <a:p>
            <a:pPr indent="0" marL="0">
              <a:buNone/>
            </a:pPr>
            <a:r>
              <a:rPr lang="en-US" sz="1800" dirty="0">
                <a:solidFill>
                  <a:srgbClr val="FFFFFF"/>
                </a:solidFill>
                <a:latin typeface="Palatino Linotype" pitchFamily="34" charset="0"/>
                <a:ea typeface="Palatino Linotype" pitchFamily="34" charset="-122"/>
                <a:cs typeface="Palatino Linotype" pitchFamily="34" charset="-120"/>
              </a:rPr>
              <a:t>O structură care nu îl proteja.</a:t>
            </a:r>
            <a:endParaRPr lang="en-US" sz="1800" dirty="0"/>
          </a:p>
        </p:txBody>
      </p:sp>
      <p:sp>
        <p:nvSpPr>
          <p:cNvPr id="13" name="Shape 11"/>
          <p:cNvSpPr/>
          <p:nvPr/>
        </p:nvSpPr>
        <p:spPr>
          <a:xfrm>
            <a:off x="5303520" y="3977640"/>
            <a:ext cx="64008" cy="640080"/>
          </a:xfrm>
          <a:prstGeom prst="rect">
            <a:avLst/>
          </a:prstGeom>
          <a:solidFill>
            <a:srgbClr val="27D3BE"/>
          </a:solidFill>
          <a:ln w="12700">
            <a:solidFill>
              <a:srgbClr val="27D3BE"/>
            </a:solidFill>
            <a:prstDash val="solid"/>
          </a:ln>
        </p:spPr>
        <p:txBody>
          <a:bodyPr/>
          <a:p/>
        </p:txBody>
      </p:sp>
      <p:sp>
        <p:nvSpPr>
          <p:cNvPr id="14" name="Text 12"/>
          <p:cNvSpPr/>
          <p:nvPr/>
        </p:nvSpPr>
        <p:spPr>
          <a:xfrm>
            <a:off x="5532120" y="3931920"/>
            <a:ext cx="6035040" cy="758952"/>
          </a:xfrm>
          <a:prstGeom prst="rect">
            <a:avLst/>
          </a:prstGeom>
          <a:noFill/>
          <a:ln/>
        </p:spPr>
        <p:txBody>
          <a:bodyPr wrap="square" lIns="0" tIns="0" rIns="0" bIns="0" rtlCol="0" anchor="t"/>
          <a:lstStyle/>
          <a:p>
            <a:pPr indent="0" marL="0">
              <a:buNone/>
            </a:pPr>
            <a:r>
              <a:rPr lang="en-US" sz="1800" dirty="0">
                <a:solidFill>
                  <a:srgbClr val="FFFFFF"/>
                </a:solidFill>
                <a:latin typeface="Palatino Linotype" pitchFamily="34" charset="0"/>
                <a:ea typeface="Palatino Linotype" pitchFamily="34" charset="-122"/>
                <a:cs typeface="Palatino Linotype" pitchFamily="34" charset="-120"/>
              </a:rPr>
              <a:t>Un proces în care evaluarea riscului nu a schimbat nimic.</a:t>
            </a:r>
            <a:endParaRPr lang="en-US" sz="1800" dirty="0"/>
          </a:p>
        </p:txBody>
      </p:sp>
      <p:sp>
        <p:nvSpPr>
          <p:cNvPr id="15" name="Text 13"/>
          <p:cNvSpPr/>
          <p:nvPr/>
        </p:nvSpPr>
        <p:spPr>
          <a:xfrm>
            <a:off x="594360" y="5212080"/>
            <a:ext cx="10972800" cy="822960"/>
          </a:xfrm>
          <a:prstGeom prst="rect">
            <a:avLst/>
          </a:prstGeom>
          <a:noFill/>
          <a:ln/>
        </p:spPr>
        <p:txBody>
          <a:bodyPr wrap="square" lIns="0" tIns="0" rIns="0" bIns="0" rtlCol="0" anchor="t"/>
          <a:lstStyle/>
          <a:p>
            <a:pPr indent="0" marL="0">
              <a:buNone/>
            </a:pPr>
            <a:r>
              <a:rPr lang="en-US" sz="1800" b="1" dirty="0">
                <a:solidFill>
                  <a:srgbClr val="27D3BE"/>
                </a:solidFill>
                <a:latin typeface="Palatino Linotype" pitchFamily="34" charset="0"/>
                <a:ea typeface="Palatino Linotype" pitchFamily="34" charset="-122"/>
                <a:cs typeface="Palatino Linotype" pitchFamily="34" charset="-120"/>
              </a:rPr>
              <a:t>Dacă singura concluzie este că asistenta trebuia să fie mai atentă, a doua cădere se poate produce la fel, cu altă asistentă.</a:t>
            </a:r>
            <a:endParaRPr lang="en-US" sz="180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11121A"/>
        </a:solidFill>
      </p:bgPr>
    </p:bg>
    <p:spTree>
      <p:nvGrpSpPr>
        <p:cNvPr id="1" name=""/>
        <p:cNvGrpSpPr/>
        <p:nvPr/>
      </p:nvGrpSpPr>
      <p:grpSpPr>
        <a:xfrm>
          <a:off x="0" y="0"/>
          <a:ext cx="0" cy="0"/>
          <a:chOff x="0" y="0"/>
          <a:chExt cx="0" cy="0"/>
        </a:xfrm>
      </p:grpSpPr>
      <p:sp>
        <p:nvSpPr>
          <p:cNvPr id="2" name="Text 0"/>
          <p:cNvSpPr/>
          <p:nvPr/>
        </p:nvSpPr>
        <p:spPr>
          <a:xfrm>
            <a:off x="594360" y="347472"/>
            <a:ext cx="7680960" cy="329184"/>
          </a:xfrm>
          <a:prstGeom prst="rect">
            <a:avLst/>
          </a:prstGeom>
          <a:noFill/>
          <a:ln/>
        </p:spPr>
        <p:txBody>
          <a:bodyPr wrap="square" lIns="0" tIns="0" rIns="0" bIns="0" rtlCol="0" anchor="t"/>
          <a:lstStyle/>
          <a:p>
            <a:pPr indent="0" marL="0">
              <a:buNone/>
            </a:pPr>
            <a:r>
              <a:rPr lang="en-US" sz="1300" b="1" spc="200" kern="0" dirty="0">
                <a:solidFill>
                  <a:srgbClr val="FFC24B"/>
                </a:solidFill>
                <a:latin typeface="Palatino Linotype" pitchFamily="34" charset="0"/>
                <a:ea typeface="Palatino Linotype" pitchFamily="34" charset="-122"/>
                <a:cs typeface="Palatino Linotype" pitchFamily="34" charset="-120"/>
              </a:rPr>
              <a:t>SIGURANȚA PACIENTULUI · DEFINIȚIA OMS</a:t>
            </a:r>
            <a:endParaRPr lang="en-US" sz="1300" dirty="0"/>
          </a:p>
        </p:txBody>
      </p:sp>
      <p:sp>
        <p:nvSpPr>
          <p:cNvPr id="3" name="Text 1"/>
          <p:cNvSpPr/>
          <p:nvPr/>
        </p:nvSpPr>
        <p:spPr>
          <a:xfrm>
            <a:off x="594360" y="713232"/>
            <a:ext cx="10972800" cy="914400"/>
          </a:xfrm>
          <a:prstGeom prst="rect">
            <a:avLst/>
          </a:prstGeom>
          <a:noFill/>
          <a:ln/>
        </p:spPr>
        <p:txBody>
          <a:bodyPr wrap="square" lIns="0" tIns="0" rIns="0" bIns="0" rtlCol="0" anchor="t"/>
          <a:lstStyle/>
          <a:p>
            <a:pPr indent="0" marL="0">
              <a:buNone/>
            </a:pPr>
            <a:r>
              <a:rPr lang="en-US" sz="3000" b="1" dirty="0">
                <a:solidFill>
                  <a:srgbClr val="FFFFFF"/>
                </a:solidFill>
                <a:latin typeface="Palatino Linotype" pitchFamily="34" charset="0"/>
                <a:ea typeface="Palatino Linotype" pitchFamily="34" charset="-122"/>
                <a:cs typeface="Palatino Linotype" pitchFamily="34" charset="-120"/>
              </a:rPr>
              <a:t>Absența vătămării care poate fi prevenită</a:t>
            </a:r>
            <a:endParaRPr lang="en-US" sz="3000" dirty="0"/>
          </a:p>
        </p:txBody>
      </p:sp>
      <p:sp>
        <p:nvSpPr>
          <p:cNvPr id="4" name="Text 2"/>
          <p:cNvSpPr/>
          <p:nvPr/>
        </p:nvSpPr>
        <p:spPr>
          <a:xfrm>
            <a:off x="594360" y="1463040"/>
            <a:ext cx="10972800" cy="548640"/>
          </a:xfrm>
          <a:prstGeom prst="rect">
            <a:avLst/>
          </a:prstGeom>
          <a:noFill/>
          <a:ln/>
        </p:spPr>
        <p:txBody>
          <a:bodyPr wrap="square" lIns="0" tIns="0" rIns="0" bIns="0" rtlCol="0" anchor="t"/>
          <a:lstStyle/>
          <a:p>
            <a:pPr indent="0" marL="0">
              <a:buNone/>
            </a:pPr>
            <a:r>
              <a:rPr lang="en-US" sz="1900" i="1" dirty="0">
                <a:solidFill>
                  <a:srgbClr val="959BB0"/>
                </a:solidFill>
                <a:latin typeface="Palatino Linotype" pitchFamily="34" charset="0"/>
                <a:ea typeface="Palatino Linotype" pitchFamily="34" charset="-122"/>
                <a:cs typeface="Palatino Linotype" pitchFamily="34" charset="-120"/>
              </a:rPr>
              <a:t>și reducerea riscului inutil la un minim acceptabil.</a:t>
            </a:r>
            <a:endParaRPr lang="en-US" sz="1900" dirty="0"/>
          </a:p>
        </p:txBody>
      </p:sp>
      <p:sp>
        <p:nvSpPr>
          <p:cNvPr id="5" name="Shape 3"/>
          <p:cNvSpPr/>
          <p:nvPr/>
        </p:nvSpPr>
        <p:spPr>
          <a:xfrm>
            <a:off x="594360" y="2377440"/>
            <a:ext cx="3520440" cy="2194560"/>
          </a:xfrm>
          <a:prstGeom prst="roundRect">
            <a:avLst>
              <a:gd name="adj" fmla="val 3750"/>
            </a:avLst>
          </a:prstGeom>
          <a:solidFill>
            <a:srgbClr val="272A38"/>
          </a:solidFill>
          <a:ln w="12700">
            <a:solidFill>
              <a:srgbClr val="272A38"/>
            </a:solidFill>
            <a:prstDash val="solid"/>
          </a:ln>
        </p:spPr>
        <p:txBody>
          <a:bodyPr/>
          <a:p/>
        </p:txBody>
      </p:sp>
      <p:sp>
        <p:nvSpPr>
          <p:cNvPr id="6" name="Text 4"/>
          <p:cNvSpPr/>
          <p:nvPr/>
        </p:nvSpPr>
        <p:spPr>
          <a:xfrm>
            <a:off x="868680" y="2487168"/>
            <a:ext cx="2971800" cy="1097280"/>
          </a:xfrm>
          <a:prstGeom prst="rect">
            <a:avLst/>
          </a:prstGeom>
          <a:noFill/>
          <a:ln/>
        </p:spPr>
        <p:txBody>
          <a:bodyPr wrap="square" lIns="0" tIns="0" rIns="0" bIns="0" rtlCol="0" anchor="ctr"/>
          <a:lstStyle/>
          <a:p>
            <a:pPr indent="0" marL="0">
              <a:buNone/>
            </a:pPr>
            <a:r>
              <a:rPr lang="en-US" sz="4000" b="1" dirty="0">
                <a:solidFill>
                  <a:srgbClr val="FF4757"/>
                </a:solidFill>
                <a:latin typeface="Palatino Linotype" pitchFamily="34" charset="0"/>
                <a:ea typeface="Palatino Linotype" pitchFamily="34" charset="-122"/>
                <a:cs typeface="Palatino Linotype" pitchFamily="34" charset="-120"/>
              </a:rPr>
              <a:t>1 din 10</a:t>
            </a:r>
            <a:endParaRPr lang="en-US" sz="4000" dirty="0"/>
          </a:p>
        </p:txBody>
      </p:sp>
      <p:sp>
        <p:nvSpPr>
          <p:cNvPr id="7" name="Text 5"/>
          <p:cNvSpPr/>
          <p:nvPr/>
        </p:nvSpPr>
        <p:spPr>
          <a:xfrm>
            <a:off x="868680" y="3493008"/>
            <a:ext cx="2971800" cy="1009498"/>
          </a:xfrm>
          <a:prstGeom prst="rect">
            <a:avLst/>
          </a:prstGeom>
          <a:noFill/>
          <a:ln/>
        </p:spPr>
        <p:txBody>
          <a:bodyPr wrap="square" lIns="0" tIns="0" rIns="0" bIns="0" rtlCol="0" anchor="t"/>
          <a:lstStyle/>
          <a:p>
            <a:pPr indent="0" marL="0">
              <a:buNone/>
            </a:pPr>
            <a:r>
              <a:rPr lang="en-US" sz="1200" dirty="0">
                <a:solidFill>
                  <a:srgbClr val="FFFFFF"/>
                </a:solidFill>
                <a:latin typeface="Palatino Linotype" pitchFamily="34" charset="0"/>
                <a:ea typeface="Palatino Linotype" pitchFamily="34" charset="-122"/>
                <a:cs typeface="Palatino Linotype" pitchFamily="34" charset="-120"/>
              </a:rPr>
              <a:t>pacienți suferă o vătămare în cursul îngrijirii</a:t>
            </a:r>
            <a:endParaRPr lang="en-US" sz="1200" dirty="0"/>
          </a:p>
        </p:txBody>
      </p:sp>
      <p:sp>
        <p:nvSpPr>
          <p:cNvPr id="8" name="Shape 6"/>
          <p:cNvSpPr/>
          <p:nvPr/>
        </p:nvSpPr>
        <p:spPr>
          <a:xfrm>
            <a:off x="4325112" y="2377440"/>
            <a:ext cx="3520440" cy="2194560"/>
          </a:xfrm>
          <a:prstGeom prst="roundRect">
            <a:avLst>
              <a:gd name="adj" fmla="val 3750"/>
            </a:avLst>
          </a:prstGeom>
          <a:solidFill>
            <a:srgbClr val="272A38"/>
          </a:solidFill>
          <a:ln w="12700">
            <a:solidFill>
              <a:srgbClr val="272A38"/>
            </a:solidFill>
            <a:prstDash val="solid"/>
          </a:ln>
        </p:spPr>
        <p:txBody>
          <a:bodyPr/>
          <a:p/>
        </p:txBody>
      </p:sp>
      <p:sp>
        <p:nvSpPr>
          <p:cNvPr id="9" name="Text 7"/>
          <p:cNvSpPr/>
          <p:nvPr/>
        </p:nvSpPr>
        <p:spPr>
          <a:xfrm>
            <a:off x="4599432" y="2487168"/>
            <a:ext cx="2971800" cy="1097280"/>
          </a:xfrm>
          <a:prstGeom prst="rect">
            <a:avLst/>
          </a:prstGeom>
          <a:noFill/>
          <a:ln/>
        </p:spPr>
        <p:txBody>
          <a:bodyPr wrap="square" lIns="0" tIns="0" rIns="0" bIns="0" rtlCol="0" anchor="ctr"/>
          <a:lstStyle/>
          <a:p>
            <a:pPr indent="0" marL="0">
              <a:buNone/>
            </a:pPr>
            <a:r>
              <a:rPr lang="en-US" sz="3000" b="1" dirty="0">
                <a:solidFill>
                  <a:srgbClr val="FFC24B"/>
                </a:solidFill>
                <a:latin typeface="Palatino Linotype" pitchFamily="34" charset="0"/>
                <a:ea typeface="Palatino Linotype" pitchFamily="34" charset="-122"/>
                <a:cs typeface="Palatino Linotype" pitchFamily="34" charset="-120"/>
              </a:rPr>
              <a:t>peste 3 milioane</a:t>
            </a:r>
            <a:endParaRPr lang="en-US" sz="3000" dirty="0"/>
          </a:p>
        </p:txBody>
      </p:sp>
      <p:sp>
        <p:nvSpPr>
          <p:cNvPr id="10" name="Text 8"/>
          <p:cNvSpPr/>
          <p:nvPr/>
        </p:nvSpPr>
        <p:spPr>
          <a:xfrm>
            <a:off x="4599432" y="3493008"/>
            <a:ext cx="2971800" cy="1009498"/>
          </a:xfrm>
          <a:prstGeom prst="rect">
            <a:avLst/>
          </a:prstGeom>
          <a:noFill/>
          <a:ln/>
        </p:spPr>
        <p:txBody>
          <a:bodyPr wrap="square" lIns="0" tIns="0" rIns="0" bIns="0" rtlCol="0" anchor="t"/>
          <a:lstStyle/>
          <a:p>
            <a:pPr indent="0" marL="0">
              <a:buNone/>
            </a:pPr>
            <a:r>
              <a:rPr lang="en-US" sz="1200" dirty="0">
                <a:solidFill>
                  <a:srgbClr val="FFFFFF"/>
                </a:solidFill>
                <a:latin typeface="Palatino Linotype" pitchFamily="34" charset="0"/>
                <a:ea typeface="Palatino Linotype" pitchFamily="34" charset="-122"/>
                <a:cs typeface="Palatino Linotype" pitchFamily="34" charset="-120"/>
              </a:rPr>
              <a:t>de decese pe an se datorează îngrijirii nesigure</a:t>
            </a:r>
            <a:endParaRPr lang="en-US" sz="1200" dirty="0"/>
          </a:p>
        </p:txBody>
      </p:sp>
      <p:sp>
        <p:nvSpPr>
          <p:cNvPr id="11" name="Shape 9"/>
          <p:cNvSpPr/>
          <p:nvPr/>
        </p:nvSpPr>
        <p:spPr>
          <a:xfrm>
            <a:off x="8046720" y="2377440"/>
            <a:ext cx="3520440" cy="2194560"/>
          </a:xfrm>
          <a:prstGeom prst="roundRect">
            <a:avLst>
              <a:gd name="adj" fmla="val 3750"/>
            </a:avLst>
          </a:prstGeom>
          <a:solidFill>
            <a:srgbClr val="272A38"/>
          </a:solidFill>
          <a:ln w="12700">
            <a:solidFill>
              <a:srgbClr val="272A38"/>
            </a:solidFill>
            <a:prstDash val="solid"/>
          </a:ln>
        </p:spPr>
        <p:txBody>
          <a:bodyPr/>
          <a:p/>
        </p:txBody>
      </p:sp>
      <p:sp>
        <p:nvSpPr>
          <p:cNvPr id="12" name="Text 10"/>
          <p:cNvSpPr/>
          <p:nvPr/>
        </p:nvSpPr>
        <p:spPr>
          <a:xfrm>
            <a:off x="8321040" y="2487168"/>
            <a:ext cx="2971800" cy="1097280"/>
          </a:xfrm>
          <a:prstGeom prst="rect">
            <a:avLst/>
          </a:prstGeom>
          <a:noFill/>
          <a:ln/>
        </p:spPr>
        <p:txBody>
          <a:bodyPr wrap="square" lIns="0" tIns="0" rIns="0" bIns="0" rtlCol="0" anchor="ctr"/>
          <a:lstStyle/>
          <a:p>
            <a:pPr indent="0" marL="0">
              <a:buNone/>
            </a:pPr>
            <a:r>
              <a:rPr lang="en-US" sz="3600" b="1" dirty="0">
                <a:solidFill>
                  <a:srgbClr val="27D3BE"/>
                </a:solidFill>
                <a:latin typeface="Palatino Linotype" pitchFamily="34" charset="0"/>
                <a:ea typeface="Palatino Linotype" pitchFamily="34" charset="-122"/>
                <a:cs typeface="Palatino Linotype" pitchFamily="34" charset="-120"/>
              </a:rPr>
              <a:t>peste 50%</a:t>
            </a:r>
            <a:endParaRPr lang="en-US" sz="3600" dirty="0"/>
          </a:p>
        </p:txBody>
      </p:sp>
      <p:sp>
        <p:nvSpPr>
          <p:cNvPr id="13" name="Text 11"/>
          <p:cNvSpPr/>
          <p:nvPr/>
        </p:nvSpPr>
        <p:spPr>
          <a:xfrm>
            <a:off x="8321040" y="3493008"/>
            <a:ext cx="2971800" cy="1009498"/>
          </a:xfrm>
          <a:prstGeom prst="rect">
            <a:avLst/>
          </a:prstGeom>
          <a:noFill/>
          <a:ln/>
        </p:spPr>
        <p:txBody>
          <a:bodyPr wrap="square" lIns="0" tIns="0" rIns="0" bIns="0" rtlCol="0" anchor="t"/>
          <a:lstStyle/>
          <a:p>
            <a:pPr indent="0" marL="0">
              <a:buNone/>
            </a:pPr>
            <a:r>
              <a:rPr lang="en-US" sz="1200" dirty="0">
                <a:solidFill>
                  <a:srgbClr val="FFFFFF"/>
                </a:solidFill>
                <a:latin typeface="Palatino Linotype" pitchFamily="34" charset="0"/>
                <a:ea typeface="Palatino Linotype" pitchFamily="34" charset="-122"/>
                <a:cs typeface="Palatino Linotype" pitchFamily="34" charset="-120"/>
              </a:rPr>
              <a:t>din vătămări pot fi prevenite</a:t>
            </a:r>
            <a:endParaRPr lang="en-US" sz="1200" dirty="0"/>
          </a:p>
        </p:txBody>
      </p:sp>
      <p:sp>
        <p:nvSpPr>
          <p:cNvPr id="14" name="Text 12"/>
          <p:cNvSpPr/>
          <p:nvPr/>
        </p:nvSpPr>
        <p:spPr>
          <a:xfrm>
            <a:off x="594360" y="4892040"/>
            <a:ext cx="10972800" cy="731520"/>
          </a:xfrm>
          <a:prstGeom prst="rect">
            <a:avLst/>
          </a:prstGeom>
          <a:noFill/>
          <a:ln/>
        </p:spPr>
        <p:txBody>
          <a:bodyPr wrap="square" lIns="0" tIns="0" rIns="0" bIns="0" rtlCol="0" anchor="t"/>
          <a:lstStyle/>
          <a:p>
            <a:pPr indent="0" marL="0">
              <a:buNone/>
            </a:pPr>
            <a:r>
              <a:rPr lang="en-US" sz="1700" dirty="0">
                <a:solidFill>
                  <a:srgbClr val="FFFFFF"/>
                </a:solidFill>
                <a:latin typeface="Palatino Linotype" pitchFamily="34" charset="0"/>
                <a:ea typeface="Palatino Linotype" pitchFamily="34" charset="-122"/>
                <a:cs typeface="Palatino Linotype" pitchFamily="34" charset="-120"/>
              </a:rPr>
              <a:t>Estimări globale: nu descriu România și nici recuperarea.</a:t>
            </a:r>
            <a:endParaRPr lang="en-US" sz="1700" dirty="0"/>
          </a:p>
        </p:txBody>
      </p:sp>
      <p:sp>
        <p:nvSpPr>
          <p:cNvPr id="15" name="Text 13"/>
          <p:cNvSpPr/>
          <p:nvPr/>
        </p:nvSpPr>
        <p:spPr>
          <a:xfrm>
            <a:off x="594360" y="6382512"/>
            <a:ext cx="10972800" cy="274320"/>
          </a:xfrm>
          <a:prstGeom prst="rect">
            <a:avLst/>
          </a:prstGeom>
          <a:noFill/>
          <a:ln/>
        </p:spPr>
        <p:txBody>
          <a:bodyPr wrap="square" lIns="0" tIns="0" rIns="0" bIns="0" rtlCol="0" anchor="ctr"/>
          <a:lstStyle/>
          <a:p>
            <a:pPr indent="0" marL="0">
              <a:buNone/>
            </a:pPr>
            <a:r>
              <a:rPr lang="en-US" sz="1000" i="1" dirty="0">
                <a:solidFill>
                  <a:srgbClr val="8E94A8"/>
                </a:solidFill>
                <a:latin typeface="Palatino Linotype" pitchFamily="34" charset="0"/>
                <a:ea typeface="Palatino Linotype" pitchFamily="34" charset="-122"/>
                <a:cs typeface="Palatino Linotype" pitchFamily="34" charset="-120"/>
              </a:rPr>
              <a:t>Organizația Mondială a Sănătății</a:t>
            </a:r>
            <a:endParaRPr lang="en-US" sz="100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F6F5F2"/>
        </a:solidFill>
      </p:bgPr>
    </p:bg>
    <p:spTree>
      <p:nvGrpSpPr>
        <p:cNvPr id="1" name=""/>
        <p:cNvGrpSpPr/>
        <p:nvPr/>
      </p:nvGrpSpPr>
      <p:grpSpPr>
        <a:xfrm>
          <a:off x="0" y="0"/>
          <a:ext cx="0" cy="0"/>
          <a:chOff x="0" y="0"/>
          <a:chExt cx="0" cy="0"/>
        </a:xfrm>
      </p:grpSpPr>
      <p:sp>
        <p:nvSpPr>
          <p:cNvPr id="2" name="Text 0"/>
          <p:cNvSpPr/>
          <p:nvPr/>
        </p:nvSpPr>
        <p:spPr>
          <a:xfrm>
            <a:off x="594360" y="347472"/>
            <a:ext cx="7680960" cy="329184"/>
          </a:xfrm>
          <a:prstGeom prst="rect">
            <a:avLst/>
          </a:prstGeom>
          <a:noFill/>
          <a:ln/>
        </p:spPr>
        <p:txBody>
          <a:bodyPr wrap="square" lIns="0" tIns="0" rIns="0" bIns="0" rtlCol="0" anchor="t"/>
          <a:lstStyle/>
          <a:p>
            <a:pPr indent="0" marL="0">
              <a:buNone/>
            </a:pPr>
            <a:r>
              <a:rPr lang="en-US" sz="1300" b="1" spc="200" kern="0" dirty="0">
                <a:solidFill>
                  <a:srgbClr val="B02532"/>
                </a:solidFill>
                <a:latin typeface="Palatino Linotype" pitchFamily="34" charset="0"/>
                <a:ea typeface="Palatino Linotype" pitchFamily="34" charset="-122"/>
                <a:cs typeface="Palatino Linotype" pitchFamily="34" charset="-120"/>
              </a:rPr>
              <a:t>DE CE CĂDEREA</a:t>
            </a:r>
            <a:endParaRPr lang="en-US" sz="1300" dirty="0"/>
          </a:p>
        </p:txBody>
      </p:sp>
      <p:sp>
        <p:nvSpPr>
          <p:cNvPr id="3" name="Text 1"/>
          <p:cNvSpPr/>
          <p:nvPr/>
        </p:nvSpPr>
        <p:spPr>
          <a:xfrm>
            <a:off x="594360" y="713232"/>
            <a:ext cx="10972800" cy="914400"/>
          </a:xfrm>
          <a:prstGeom prst="rect">
            <a:avLst/>
          </a:prstGeom>
          <a:noFill/>
          <a:ln/>
        </p:spPr>
        <p:txBody>
          <a:bodyPr wrap="square" lIns="0" tIns="0" rIns="0" bIns="0" rtlCol="0" anchor="t"/>
          <a:lstStyle/>
          <a:p>
            <a:pPr indent="0" marL="0">
              <a:buNone/>
            </a:pPr>
            <a:r>
              <a:rPr lang="en-US" sz="2900" b="1" dirty="0">
                <a:solidFill>
                  <a:srgbClr val="11121A"/>
                </a:solidFill>
                <a:latin typeface="Palatino Linotype" pitchFamily="34" charset="0"/>
                <a:ea typeface="Palatino Linotype" pitchFamily="34" charset="-122"/>
                <a:cs typeface="Palatino Linotype" pitchFamily="34" charset="-120"/>
              </a:rPr>
              <a:t>Cel mai frecvent eveniment advers din spitale</a:t>
            </a:r>
            <a:endParaRPr lang="en-US" sz="2900" dirty="0"/>
          </a:p>
        </p:txBody>
      </p:sp>
      <p:sp>
        <p:nvSpPr>
          <p:cNvPr id="4" name="Shape 2"/>
          <p:cNvSpPr/>
          <p:nvPr/>
        </p:nvSpPr>
        <p:spPr>
          <a:xfrm>
            <a:off x="594360" y="1645920"/>
            <a:ext cx="3566160" cy="3291840"/>
          </a:xfrm>
          <a:prstGeom prst="roundRect">
            <a:avLst>
              <a:gd name="adj" fmla="val 2500"/>
            </a:avLst>
          </a:prstGeom>
          <a:solidFill>
            <a:srgbClr val="F4E0E2"/>
          </a:solidFill>
          <a:ln w="12700">
            <a:solidFill>
              <a:srgbClr val="F4E0E2"/>
            </a:solidFill>
            <a:prstDash val="solid"/>
          </a:ln>
        </p:spPr>
        <p:txBody>
          <a:bodyPr/>
          <a:p/>
        </p:txBody>
      </p:sp>
      <p:sp>
        <p:nvSpPr>
          <p:cNvPr id="5" name="Text 3"/>
          <p:cNvSpPr/>
          <p:nvPr/>
        </p:nvSpPr>
        <p:spPr>
          <a:xfrm>
            <a:off x="822960" y="1783080"/>
            <a:ext cx="3108960" cy="1097280"/>
          </a:xfrm>
          <a:prstGeom prst="rect">
            <a:avLst/>
          </a:prstGeom>
          <a:noFill/>
          <a:ln/>
        </p:spPr>
        <p:txBody>
          <a:bodyPr wrap="square" lIns="0" tIns="0" rIns="0" bIns="0" rtlCol="0" anchor="t"/>
          <a:lstStyle/>
          <a:p>
            <a:pPr indent="0" marL="0">
              <a:buNone/>
            </a:pPr>
            <a:r>
              <a:rPr lang="en-US" sz="6000" b="1" dirty="0">
                <a:solidFill>
                  <a:srgbClr val="B02532"/>
                </a:solidFill>
                <a:latin typeface="Palatino Linotype" pitchFamily="34" charset="0"/>
                <a:ea typeface="Palatino Linotype" pitchFamily="34" charset="-122"/>
                <a:cs typeface="Palatino Linotype" pitchFamily="34" charset="-120"/>
              </a:rPr>
              <a:t>3–5</a:t>
            </a:r>
            <a:endParaRPr lang="en-US" sz="6000" dirty="0"/>
          </a:p>
        </p:txBody>
      </p:sp>
      <p:sp>
        <p:nvSpPr>
          <p:cNvPr id="6" name="Text 4"/>
          <p:cNvSpPr/>
          <p:nvPr/>
        </p:nvSpPr>
        <p:spPr>
          <a:xfrm>
            <a:off x="822960" y="2880360"/>
            <a:ext cx="3108960" cy="1463040"/>
          </a:xfrm>
          <a:prstGeom prst="rect">
            <a:avLst/>
          </a:prstGeom>
          <a:noFill/>
          <a:ln/>
        </p:spPr>
        <p:txBody>
          <a:bodyPr wrap="square" lIns="0" tIns="0" rIns="0" bIns="0" rtlCol="0" anchor="t"/>
          <a:lstStyle/>
          <a:p>
            <a:pPr indent="0" marL="0">
              <a:buNone/>
            </a:pPr>
            <a:r>
              <a:rPr lang="en-US" sz="1500" dirty="0">
                <a:solidFill>
                  <a:srgbClr val="11121A"/>
                </a:solidFill>
                <a:latin typeface="Palatino Linotype" pitchFamily="34" charset="0"/>
                <a:ea typeface="Palatino Linotype" pitchFamily="34" charset="-122"/>
                <a:cs typeface="Palatino Linotype" pitchFamily="34" charset="-120"/>
              </a:rPr>
              <a:t>căderi la 1 000 de zile de spitalizare; peste o treime produc o leziune</a:t>
            </a:r>
            <a:endParaRPr lang="en-US" sz="1500" dirty="0"/>
          </a:p>
        </p:txBody>
      </p:sp>
      <p:sp>
        <p:nvSpPr>
          <p:cNvPr id="7" name="Text 5"/>
          <p:cNvSpPr/>
          <p:nvPr/>
        </p:nvSpPr>
        <p:spPr>
          <a:xfrm>
            <a:off x="822960" y="4434840"/>
            <a:ext cx="3108960" cy="365760"/>
          </a:xfrm>
          <a:prstGeom prst="rect">
            <a:avLst/>
          </a:prstGeom>
          <a:noFill/>
          <a:ln/>
        </p:spPr>
        <p:txBody>
          <a:bodyPr wrap="square" lIns="0" tIns="0" rIns="0" bIns="0" rtlCol="0" anchor="t"/>
          <a:lstStyle/>
          <a:p>
            <a:pPr indent="0" marL="0">
              <a:buNone/>
            </a:pPr>
            <a:r>
              <a:rPr lang="en-US" sz="1200" i="1" dirty="0">
                <a:solidFill>
                  <a:srgbClr val="585A64"/>
                </a:solidFill>
                <a:latin typeface="Palatino Linotype" pitchFamily="34" charset="0"/>
                <a:ea typeface="Palatino Linotype" pitchFamily="34" charset="-122"/>
                <a:cs typeface="Palatino Linotype" pitchFamily="34" charset="-120"/>
              </a:rPr>
              <a:t>OMS, spitale în general</a:t>
            </a:r>
            <a:endParaRPr lang="en-US" sz="1200" dirty="0"/>
          </a:p>
        </p:txBody>
      </p:sp>
      <p:sp>
        <p:nvSpPr>
          <p:cNvPr id="8" name="Shape 6"/>
          <p:cNvSpPr/>
          <p:nvPr/>
        </p:nvSpPr>
        <p:spPr>
          <a:xfrm>
            <a:off x="4480560" y="1874520"/>
            <a:ext cx="420624" cy="420624"/>
          </a:xfrm>
          <a:prstGeom prst="ellipse">
            <a:avLst/>
          </a:prstGeom>
          <a:solidFill>
            <a:srgbClr val="FF4757"/>
          </a:solidFill>
          <a:ln/>
        </p:spPr>
        <p:txBody>
          <a:bodyPr/>
          <a:p/>
        </p:txBody>
      </p:sp>
      <p:sp>
        <p:nvSpPr>
          <p:cNvPr id="9" name="Text 7"/>
          <p:cNvSpPr/>
          <p:nvPr/>
        </p:nvSpPr>
        <p:spPr>
          <a:xfrm>
            <a:off x="4480560" y="1874520"/>
            <a:ext cx="420624" cy="420624"/>
          </a:xfrm>
          <a:prstGeom prst="rect">
            <a:avLst/>
          </a:prstGeom>
          <a:noFill/>
          <a:ln/>
        </p:spPr>
        <p:txBody>
          <a:bodyPr wrap="square" lIns="0" tIns="0" rIns="0" bIns="0" rtlCol="0" anchor="ctr"/>
          <a:lstStyle/>
          <a:p>
            <a:pPr algn="ctr" indent="0" marL="0">
              <a:buNone/>
            </a:pPr>
            <a:r>
              <a:rPr lang="en-US" sz="1400" b="1" dirty="0">
                <a:solidFill>
                  <a:srgbClr val="2E060B"/>
                </a:solidFill>
                <a:latin typeface="Palatino Linotype" pitchFamily="34" charset="0"/>
                <a:ea typeface="Palatino Linotype" pitchFamily="34" charset="-122"/>
                <a:cs typeface="Palatino Linotype" pitchFamily="34" charset="-120"/>
              </a:rPr>
              <a:t>1</a:t>
            </a:r>
            <a:endParaRPr lang="en-US" sz="1400" dirty="0"/>
          </a:p>
        </p:txBody>
      </p:sp>
      <p:sp>
        <p:nvSpPr>
          <p:cNvPr id="10" name="Text 8"/>
          <p:cNvSpPr/>
          <p:nvPr/>
        </p:nvSpPr>
        <p:spPr>
          <a:xfrm>
            <a:off x="5074920" y="1645920"/>
            <a:ext cx="6492240" cy="1005840"/>
          </a:xfrm>
          <a:prstGeom prst="rect">
            <a:avLst/>
          </a:prstGeom>
          <a:noFill/>
          <a:ln/>
        </p:spPr>
        <p:txBody>
          <a:bodyPr wrap="square" lIns="0" tIns="0" rIns="0" bIns="0" rtlCol="0" anchor="ctr"/>
          <a:lstStyle/>
          <a:p>
            <a:pPr indent="0" marL="0">
              <a:buNone/>
            </a:pPr>
            <a:r>
              <a:rPr lang="en-US" sz="1600" dirty="0">
                <a:solidFill>
                  <a:srgbClr val="11121A"/>
                </a:solidFill>
                <a:latin typeface="Palatino Linotype" pitchFamily="34" charset="0"/>
                <a:ea typeface="Palatino Linotype" pitchFamily="34" charset="-122"/>
                <a:cs typeface="Palatino Linotype" pitchFamily="34" charset="-120"/>
              </a:rPr>
              <a:t>Aproape toți pacienții au factori de risc: accident vascular cerebral, cădere anterioară, unele medicamente.</a:t>
            </a:r>
            <a:endParaRPr lang="en-US" sz="1600" dirty="0"/>
          </a:p>
        </p:txBody>
      </p:sp>
      <p:sp>
        <p:nvSpPr>
          <p:cNvPr id="11" name="Shape 9"/>
          <p:cNvSpPr/>
          <p:nvPr/>
        </p:nvSpPr>
        <p:spPr>
          <a:xfrm>
            <a:off x="4480560" y="2990088"/>
            <a:ext cx="420624" cy="420624"/>
          </a:xfrm>
          <a:prstGeom prst="ellipse">
            <a:avLst/>
          </a:prstGeom>
          <a:solidFill>
            <a:srgbClr val="FF4757"/>
          </a:solidFill>
          <a:ln/>
        </p:spPr>
        <p:txBody>
          <a:bodyPr/>
          <a:p/>
        </p:txBody>
      </p:sp>
      <p:sp>
        <p:nvSpPr>
          <p:cNvPr id="12" name="Text 10"/>
          <p:cNvSpPr/>
          <p:nvPr/>
        </p:nvSpPr>
        <p:spPr>
          <a:xfrm>
            <a:off x="4480560" y="2990088"/>
            <a:ext cx="420624" cy="420624"/>
          </a:xfrm>
          <a:prstGeom prst="rect">
            <a:avLst/>
          </a:prstGeom>
          <a:noFill/>
          <a:ln/>
        </p:spPr>
        <p:txBody>
          <a:bodyPr wrap="square" lIns="0" tIns="0" rIns="0" bIns="0" rtlCol="0" anchor="ctr"/>
          <a:lstStyle/>
          <a:p>
            <a:pPr algn="ctr" indent="0" marL="0">
              <a:buNone/>
            </a:pPr>
            <a:r>
              <a:rPr lang="en-US" sz="1400" b="1" dirty="0">
                <a:solidFill>
                  <a:srgbClr val="2E060B"/>
                </a:solidFill>
                <a:latin typeface="Palatino Linotype" pitchFamily="34" charset="0"/>
                <a:ea typeface="Palatino Linotype" pitchFamily="34" charset="-122"/>
                <a:cs typeface="Palatino Linotype" pitchFamily="34" charset="-120"/>
              </a:rPr>
              <a:t>2</a:t>
            </a:r>
            <a:endParaRPr lang="en-US" sz="1400" dirty="0"/>
          </a:p>
        </p:txBody>
      </p:sp>
      <p:sp>
        <p:nvSpPr>
          <p:cNvPr id="13" name="Text 11"/>
          <p:cNvSpPr/>
          <p:nvPr/>
        </p:nvSpPr>
        <p:spPr>
          <a:xfrm>
            <a:off x="5074920" y="2761488"/>
            <a:ext cx="6492240" cy="1005840"/>
          </a:xfrm>
          <a:prstGeom prst="rect">
            <a:avLst/>
          </a:prstGeom>
          <a:noFill/>
          <a:ln/>
        </p:spPr>
        <p:txBody>
          <a:bodyPr wrap="square" lIns="0" tIns="0" rIns="0" bIns="0" rtlCol="0" anchor="ctr"/>
          <a:lstStyle/>
          <a:p>
            <a:pPr indent="0" marL="0">
              <a:buNone/>
            </a:pPr>
            <a:r>
              <a:rPr lang="en-US" sz="1600" dirty="0">
                <a:solidFill>
                  <a:srgbClr val="11121A"/>
                </a:solidFill>
                <a:latin typeface="Palatino Linotype" pitchFamily="34" charset="0"/>
                <a:ea typeface="Palatino Linotype" pitchFamily="34" charset="-122"/>
                <a:cs typeface="Palatino Linotype" pitchFamily="34" charset="-120"/>
              </a:rPr>
              <a:t>Recuperarea cere mișcare, deci expunere.</a:t>
            </a:r>
            <a:endParaRPr lang="en-US" sz="1600" dirty="0"/>
          </a:p>
        </p:txBody>
      </p:sp>
      <p:sp>
        <p:nvSpPr>
          <p:cNvPr id="14" name="Shape 12"/>
          <p:cNvSpPr/>
          <p:nvPr/>
        </p:nvSpPr>
        <p:spPr>
          <a:xfrm>
            <a:off x="4480560" y="4105656"/>
            <a:ext cx="420624" cy="420624"/>
          </a:xfrm>
          <a:prstGeom prst="ellipse">
            <a:avLst/>
          </a:prstGeom>
          <a:solidFill>
            <a:srgbClr val="FF4757"/>
          </a:solidFill>
          <a:ln/>
        </p:spPr>
        <p:txBody>
          <a:bodyPr/>
          <a:p/>
        </p:txBody>
      </p:sp>
      <p:sp>
        <p:nvSpPr>
          <p:cNvPr id="15" name="Text 13"/>
          <p:cNvSpPr/>
          <p:nvPr/>
        </p:nvSpPr>
        <p:spPr>
          <a:xfrm>
            <a:off x="4480560" y="4105656"/>
            <a:ext cx="420624" cy="420624"/>
          </a:xfrm>
          <a:prstGeom prst="rect">
            <a:avLst/>
          </a:prstGeom>
          <a:noFill/>
          <a:ln/>
        </p:spPr>
        <p:txBody>
          <a:bodyPr wrap="square" lIns="0" tIns="0" rIns="0" bIns="0" rtlCol="0" anchor="ctr"/>
          <a:lstStyle/>
          <a:p>
            <a:pPr algn="ctr" indent="0" marL="0">
              <a:buNone/>
            </a:pPr>
            <a:r>
              <a:rPr lang="en-US" sz="1400" b="1" dirty="0">
                <a:solidFill>
                  <a:srgbClr val="2E060B"/>
                </a:solidFill>
                <a:latin typeface="Palatino Linotype" pitchFamily="34" charset="0"/>
                <a:ea typeface="Palatino Linotype" pitchFamily="34" charset="-122"/>
                <a:cs typeface="Palatino Linotype" pitchFamily="34" charset="-120"/>
              </a:rPr>
              <a:t>3</a:t>
            </a:r>
            <a:endParaRPr lang="en-US" sz="1400" dirty="0"/>
          </a:p>
        </p:txBody>
      </p:sp>
      <p:sp>
        <p:nvSpPr>
          <p:cNvPr id="16" name="Text 14"/>
          <p:cNvSpPr/>
          <p:nvPr/>
        </p:nvSpPr>
        <p:spPr>
          <a:xfrm>
            <a:off x="5074920" y="3877056"/>
            <a:ext cx="6492240" cy="1005840"/>
          </a:xfrm>
          <a:prstGeom prst="rect">
            <a:avLst/>
          </a:prstGeom>
          <a:noFill/>
          <a:ln/>
        </p:spPr>
        <p:txBody>
          <a:bodyPr wrap="square" lIns="0" tIns="0" rIns="0" bIns="0" rtlCol="0" anchor="ctr"/>
          <a:lstStyle/>
          <a:p>
            <a:pPr indent="0" marL="0">
              <a:buNone/>
            </a:pPr>
            <a:r>
              <a:rPr lang="en-US" sz="1600" dirty="0">
                <a:solidFill>
                  <a:srgbClr val="11121A"/>
                </a:solidFill>
                <a:latin typeface="Palatino Linotype" pitchFamily="34" charset="0"/>
                <a:ea typeface="Palatino Linotype" pitchFamily="34" charset="-122"/>
                <a:cs typeface="Palatino Linotype" pitchFamily="34" charset="-120"/>
              </a:rPr>
              <a:t>Căderea lovește chiar rezultatul urmărit: încrederea în propriul mers.</a:t>
            </a:r>
            <a:endParaRPr lang="en-US" sz="1600" dirty="0"/>
          </a:p>
        </p:txBody>
      </p:sp>
      <p:sp>
        <p:nvSpPr>
          <p:cNvPr id="17" name="Text 15"/>
          <p:cNvSpPr/>
          <p:nvPr/>
        </p:nvSpPr>
        <p:spPr>
          <a:xfrm>
            <a:off x="594360" y="5303520"/>
            <a:ext cx="10972800" cy="548640"/>
          </a:xfrm>
          <a:prstGeom prst="rect">
            <a:avLst/>
          </a:prstGeom>
          <a:noFill/>
          <a:ln/>
        </p:spPr>
        <p:txBody>
          <a:bodyPr wrap="square" lIns="0" tIns="0" rIns="0" bIns="0" rtlCol="0" anchor="t"/>
          <a:lstStyle/>
          <a:p>
            <a:pPr indent="0" marL="0">
              <a:buNone/>
            </a:pPr>
            <a:r>
              <a:rPr lang="en-US" sz="1900" b="1" dirty="0">
                <a:solidFill>
                  <a:srgbClr val="B02532"/>
                </a:solidFill>
                <a:latin typeface="Palatino Linotype" pitchFamily="34" charset="0"/>
                <a:ea typeface="Palatino Linotype" pitchFamily="34" charset="-122"/>
                <a:cs typeface="Palatino Linotype" pitchFamily="34" charset="-120"/>
              </a:rPr>
              <a:t>Soluția nu este imobilizarea, ci mobilizarea cu riscul redus.</a:t>
            </a:r>
            <a:endParaRPr lang="en-US" sz="190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bg>
      <p:bgPr>
        <a:solidFill>
          <a:srgbClr val="F6F5F2"/>
        </a:solidFill>
      </p:bgPr>
    </p:bg>
    <p:spTree>
      <p:nvGrpSpPr>
        <p:cNvPr id="1" name=""/>
        <p:cNvGrpSpPr/>
        <p:nvPr/>
      </p:nvGrpSpPr>
      <p:grpSpPr>
        <a:xfrm>
          <a:off x="0" y="0"/>
          <a:ext cx="0" cy="0"/>
          <a:chOff x="0" y="0"/>
          <a:chExt cx="0" cy="0"/>
        </a:xfrm>
      </p:grpSpPr>
      <p:sp>
        <p:nvSpPr>
          <p:cNvPr id="2" name="Text 0"/>
          <p:cNvSpPr/>
          <p:nvPr/>
        </p:nvSpPr>
        <p:spPr>
          <a:xfrm>
            <a:off x="594360" y="347472"/>
            <a:ext cx="7680960" cy="329184"/>
          </a:xfrm>
          <a:prstGeom prst="rect">
            <a:avLst/>
          </a:prstGeom>
          <a:noFill/>
          <a:ln/>
        </p:spPr>
        <p:txBody>
          <a:bodyPr wrap="square" lIns="0" tIns="0" rIns="0" bIns="0" rtlCol="0" anchor="t"/>
          <a:lstStyle/>
          <a:p>
            <a:pPr indent="0" marL="0">
              <a:buNone/>
            </a:pPr>
            <a:r>
              <a:rPr lang="en-US" sz="1300" b="1" spc="200" kern="0" dirty="0">
                <a:solidFill>
                  <a:srgbClr val="B02532"/>
                </a:solidFill>
                <a:latin typeface="Palatino Linotype" pitchFamily="34" charset="0"/>
                <a:ea typeface="Palatino Linotype" pitchFamily="34" charset="-122"/>
                <a:cs typeface="Palatino Linotype" pitchFamily="34" charset="-120"/>
              </a:rPr>
              <a:t>GHIDUL MONDIAL PENTRU PREVENIREA CĂDERILOR, 2022</a:t>
            </a:r>
            <a:endParaRPr lang="en-US" sz="1300" dirty="0"/>
          </a:p>
        </p:txBody>
      </p:sp>
      <p:sp>
        <p:nvSpPr>
          <p:cNvPr id="3" name="Text 1"/>
          <p:cNvSpPr/>
          <p:nvPr/>
        </p:nvSpPr>
        <p:spPr>
          <a:xfrm>
            <a:off x="594360" y="713232"/>
            <a:ext cx="10972800" cy="914400"/>
          </a:xfrm>
          <a:prstGeom prst="rect">
            <a:avLst/>
          </a:prstGeom>
          <a:noFill/>
          <a:ln/>
        </p:spPr>
        <p:txBody>
          <a:bodyPr wrap="square" lIns="0" tIns="0" rIns="0" bIns="0" rtlCol="0" anchor="t"/>
          <a:lstStyle/>
          <a:p>
            <a:pPr indent="0" marL="0">
              <a:buNone/>
            </a:pPr>
            <a:r>
              <a:rPr lang="en-US" sz="3000" b="1" dirty="0">
                <a:solidFill>
                  <a:srgbClr val="11121A"/>
                </a:solidFill>
                <a:latin typeface="Palatino Linotype" pitchFamily="34" charset="0"/>
                <a:ea typeface="Palatino Linotype" pitchFamily="34" charset="-122"/>
                <a:cs typeface="Palatino Linotype" pitchFamily="34" charset="-120"/>
              </a:rPr>
              <a:t>Un plan individual, nu un scor</a:t>
            </a:r>
            <a:endParaRPr lang="en-US" sz="3000" dirty="0"/>
          </a:p>
        </p:txBody>
      </p:sp>
      <p:sp>
        <p:nvSpPr>
          <p:cNvPr id="4" name="Shape 2"/>
          <p:cNvSpPr/>
          <p:nvPr/>
        </p:nvSpPr>
        <p:spPr>
          <a:xfrm>
            <a:off x="594360" y="1600200"/>
            <a:ext cx="3520440" cy="2514600"/>
          </a:xfrm>
          <a:prstGeom prst="roundRect">
            <a:avLst>
              <a:gd name="adj" fmla="val 3273"/>
            </a:avLst>
          </a:prstGeom>
          <a:solidFill>
            <a:srgbClr val="E1F0EC"/>
          </a:solidFill>
          <a:ln w="12700">
            <a:solidFill>
              <a:srgbClr val="E1F0EC"/>
            </a:solidFill>
            <a:prstDash val="solid"/>
          </a:ln>
        </p:spPr>
        <p:txBody>
          <a:bodyPr/>
          <a:p/>
        </p:txBody>
      </p:sp>
      <p:sp>
        <p:nvSpPr>
          <p:cNvPr id="5" name="Text 3"/>
          <p:cNvSpPr/>
          <p:nvPr/>
        </p:nvSpPr>
        <p:spPr>
          <a:xfrm>
            <a:off x="822960" y="1737360"/>
            <a:ext cx="3063240" cy="365760"/>
          </a:xfrm>
          <a:prstGeom prst="rect">
            <a:avLst/>
          </a:prstGeom>
          <a:noFill/>
          <a:ln/>
        </p:spPr>
        <p:txBody>
          <a:bodyPr wrap="square" lIns="0" tIns="0" rIns="0" bIns="0" rtlCol="0" anchor="t"/>
          <a:lstStyle/>
          <a:p>
            <a:pPr indent="0" marL="0">
              <a:buNone/>
            </a:pPr>
            <a:r>
              <a:rPr lang="en-US" sz="1400" b="1" spc="100" kern="0" dirty="0">
                <a:solidFill>
                  <a:srgbClr val="0E7C6B"/>
                </a:solidFill>
                <a:latin typeface="Palatino Linotype" pitchFamily="34" charset="0"/>
                <a:ea typeface="Palatino Linotype" pitchFamily="34" charset="-122"/>
                <a:cs typeface="Palatino Linotype" pitchFamily="34" charset="-120"/>
              </a:rPr>
              <a:t>1 · EVALUAREA</a:t>
            </a:r>
            <a:endParaRPr lang="en-US" sz="1400" dirty="0"/>
          </a:p>
        </p:txBody>
      </p:sp>
      <p:sp>
        <p:nvSpPr>
          <p:cNvPr id="6" name="Text 4"/>
          <p:cNvSpPr/>
          <p:nvPr/>
        </p:nvSpPr>
        <p:spPr>
          <a:xfrm>
            <a:off x="822960" y="2194560"/>
            <a:ext cx="3063240" cy="1828800"/>
          </a:xfrm>
          <a:prstGeom prst="rect">
            <a:avLst/>
          </a:prstGeom>
          <a:noFill/>
          <a:ln/>
        </p:spPr>
        <p:txBody>
          <a:bodyPr wrap="square" lIns="0" tIns="0" rIns="0" bIns="0" rtlCol="0" anchor="t"/>
          <a:lstStyle/>
          <a:p>
            <a:pPr indent="0" marL="0">
              <a:buNone/>
            </a:pPr>
            <a:r>
              <a:rPr lang="en-US" sz="1600" dirty="0">
                <a:solidFill>
                  <a:srgbClr val="11121A"/>
                </a:solidFill>
                <a:latin typeface="Palatino Linotype" pitchFamily="34" charset="0"/>
                <a:ea typeface="Palatino Linotype" pitchFamily="34" charset="-122"/>
                <a:cs typeface="Palatino Linotype" pitchFamily="34" charset="-120"/>
              </a:rPr>
              <a:t>Multifactorială: echilibrul, mersul, medicamentele, cogniția, vederea, salonul.</a:t>
            </a:r>
            <a:endParaRPr lang="en-US" sz="1600" dirty="0"/>
          </a:p>
        </p:txBody>
      </p:sp>
      <p:sp>
        <p:nvSpPr>
          <p:cNvPr id="7" name="Shape 5"/>
          <p:cNvSpPr/>
          <p:nvPr/>
        </p:nvSpPr>
        <p:spPr>
          <a:xfrm>
            <a:off x="4343400" y="1600200"/>
            <a:ext cx="3520440" cy="2514600"/>
          </a:xfrm>
          <a:prstGeom prst="roundRect">
            <a:avLst>
              <a:gd name="adj" fmla="val 3273"/>
            </a:avLst>
          </a:prstGeom>
          <a:solidFill>
            <a:srgbClr val="E1F0EC"/>
          </a:solidFill>
          <a:ln w="12700">
            <a:solidFill>
              <a:srgbClr val="E1F0EC"/>
            </a:solidFill>
            <a:prstDash val="solid"/>
          </a:ln>
        </p:spPr>
        <p:txBody>
          <a:bodyPr/>
          <a:p/>
        </p:txBody>
      </p:sp>
      <p:sp>
        <p:nvSpPr>
          <p:cNvPr id="8" name="Text 6"/>
          <p:cNvSpPr/>
          <p:nvPr/>
        </p:nvSpPr>
        <p:spPr>
          <a:xfrm>
            <a:off x="4572000" y="1737360"/>
            <a:ext cx="3063240" cy="365760"/>
          </a:xfrm>
          <a:prstGeom prst="rect">
            <a:avLst/>
          </a:prstGeom>
          <a:noFill/>
          <a:ln/>
        </p:spPr>
        <p:txBody>
          <a:bodyPr wrap="square" lIns="0" tIns="0" rIns="0" bIns="0" rtlCol="0" anchor="t"/>
          <a:lstStyle/>
          <a:p>
            <a:pPr indent="0" marL="0">
              <a:buNone/>
            </a:pPr>
            <a:r>
              <a:rPr lang="en-US" sz="1400" b="1" spc="100" kern="0" dirty="0">
                <a:solidFill>
                  <a:srgbClr val="0E7C6B"/>
                </a:solidFill>
                <a:latin typeface="Palatino Linotype" pitchFamily="34" charset="0"/>
                <a:ea typeface="Palatino Linotype" pitchFamily="34" charset="-122"/>
                <a:cs typeface="Palatino Linotype" pitchFamily="34" charset="-120"/>
              </a:rPr>
              <a:t>2 · PLANUL</a:t>
            </a:r>
            <a:endParaRPr lang="en-US" sz="1400" dirty="0"/>
          </a:p>
        </p:txBody>
      </p:sp>
      <p:sp>
        <p:nvSpPr>
          <p:cNvPr id="9" name="Text 7"/>
          <p:cNvSpPr/>
          <p:nvPr/>
        </p:nvSpPr>
        <p:spPr>
          <a:xfrm>
            <a:off x="4572000" y="2194560"/>
            <a:ext cx="3063240" cy="1828800"/>
          </a:xfrm>
          <a:prstGeom prst="rect">
            <a:avLst/>
          </a:prstGeom>
          <a:noFill/>
          <a:ln/>
        </p:spPr>
        <p:txBody>
          <a:bodyPr wrap="square" lIns="0" tIns="0" rIns="0" bIns="0" rtlCol="0" anchor="t"/>
          <a:lstStyle/>
          <a:p>
            <a:pPr indent="0" marL="0">
              <a:buNone/>
            </a:pPr>
            <a:r>
              <a:rPr lang="en-US" sz="1600" dirty="0">
                <a:solidFill>
                  <a:srgbClr val="11121A"/>
                </a:solidFill>
                <a:latin typeface="Palatino Linotype" pitchFamily="34" charset="0"/>
                <a:ea typeface="Palatino Linotype" pitchFamily="34" charset="-122"/>
                <a:cs typeface="Palatino Linotype" pitchFamily="34" charset="-120"/>
              </a:rPr>
              <a:t>Strategie personalizată și educație adaptată pentru pacient.</a:t>
            </a:r>
            <a:endParaRPr lang="en-US" sz="1600" dirty="0"/>
          </a:p>
        </p:txBody>
      </p:sp>
      <p:sp>
        <p:nvSpPr>
          <p:cNvPr id="10" name="Shape 8"/>
          <p:cNvSpPr/>
          <p:nvPr/>
        </p:nvSpPr>
        <p:spPr>
          <a:xfrm>
            <a:off x="8092440" y="1600200"/>
            <a:ext cx="3520440" cy="2514600"/>
          </a:xfrm>
          <a:prstGeom prst="roundRect">
            <a:avLst>
              <a:gd name="adj" fmla="val 3273"/>
            </a:avLst>
          </a:prstGeom>
          <a:solidFill>
            <a:srgbClr val="E1F0EC"/>
          </a:solidFill>
          <a:ln w="12700">
            <a:solidFill>
              <a:srgbClr val="E1F0EC"/>
            </a:solidFill>
            <a:prstDash val="solid"/>
          </a:ln>
        </p:spPr>
        <p:txBody>
          <a:bodyPr/>
          <a:p/>
        </p:txBody>
      </p:sp>
      <p:sp>
        <p:nvSpPr>
          <p:cNvPr id="11" name="Text 9"/>
          <p:cNvSpPr/>
          <p:nvPr/>
        </p:nvSpPr>
        <p:spPr>
          <a:xfrm>
            <a:off x="8321040" y="1737360"/>
            <a:ext cx="3063240" cy="365760"/>
          </a:xfrm>
          <a:prstGeom prst="rect">
            <a:avLst/>
          </a:prstGeom>
          <a:noFill/>
          <a:ln/>
        </p:spPr>
        <p:txBody>
          <a:bodyPr wrap="square" lIns="0" tIns="0" rIns="0" bIns="0" rtlCol="0" anchor="t"/>
          <a:lstStyle/>
          <a:p>
            <a:pPr indent="0" marL="0">
              <a:buNone/>
            </a:pPr>
            <a:r>
              <a:rPr lang="en-US" sz="1400" b="1" spc="100" kern="0" dirty="0">
                <a:solidFill>
                  <a:srgbClr val="0E7C6B"/>
                </a:solidFill>
                <a:latin typeface="Palatino Linotype" pitchFamily="34" charset="0"/>
                <a:ea typeface="Palatino Linotype" pitchFamily="34" charset="-122"/>
                <a:cs typeface="Palatino Linotype" pitchFamily="34" charset="-120"/>
              </a:rPr>
              <a:t>3 · SPITALUL</a:t>
            </a:r>
            <a:endParaRPr lang="en-US" sz="1400" dirty="0"/>
          </a:p>
        </p:txBody>
      </p:sp>
      <p:sp>
        <p:nvSpPr>
          <p:cNvPr id="12" name="Text 10"/>
          <p:cNvSpPr/>
          <p:nvPr/>
        </p:nvSpPr>
        <p:spPr>
          <a:xfrm>
            <a:off x="8321040" y="2194560"/>
            <a:ext cx="3063240" cy="1828800"/>
          </a:xfrm>
          <a:prstGeom prst="rect">
            <a:avLst/>
          </a:prstGeom>
          <a:noFill/>
          <a:ln/>
        </p:spPr>
        <p:txBody>
          <a:bodyPr wrap="square" lIns="0" tIns="0" rIns="0" bIns="0" rtlCol="0" anchor="t"/>
          <a:lstStyle/>
          <a:p>
            <a:pPr indent="0" marL="0">
              <a:buNone/>
            </a:pPr>
            <a:r>
              <a:rPr lang="en-US" sz="1600" dirty="0">
                <a:solidFill>
                  <a:srgbClr val="11121A"/>
                </a:solidFill>
                <a:latin typeface="Palatino Linotype" pitchFamily="34" charset="0"/>
                <a:ea typeface="Palatino Linotype" pitchFamily="34" charset="-122"/>
                <a:cs typeface="Palatino Linotype" pitchFamily="34" charset="-120"/>
              </a:rPr>
              <a:t>Protocoale sau proceduri de prevenire a căderilor.</a:t>
            </a:r>
            <a:endParaRPr lang="en-US" sz="1600" dirty="0"/>
          </a:p>
        </p:txBody>
      </p:sp>
      <p:sp>
        <p:nvSpPr>
          <p:cNvPr id="13" name="Text 11"/>
          <p:cNvSpPr/>
          <p:nvPr/>
        </p:nvSpPr>
        <p:spPr>
          <a:xfrm>
            <a:off x="594360" y="4251960"/>
            <a:ext cx="10972800" cy="411480"/>
          </a:xfrm>
          <a:prstGeom prst="rect">
            <a:avLst/>
          </a:prstGeom>
          <a:noFill/>
          <a:ln/>
        </p:spPr>
        <p:txBody>
          <a:bodyPr wrap="square" lIns="0" tIns="0" rIns="0" bIns="0" rtlCol="0" anchor="t"/>
          <a:lstStyle/>
          <a:p>
            <a:pPr indent="0" marL="0">
              <a:buNone/>
            </a:pPr>
            <a:r>
              <a:rPr lang="en-US" sz="1400" i="1" dirty="0">
                <a:solidFill>
                  <a:srgbClr val="585A64"/>
                </a:solidFill>
                <a:latin typeface="Palatino Linotype" pitchFamily="34" charset="0"/>
                <a:ea typeface="Palatino Linotype" pitchFamily="34" charset="-122"/>
                <a:cs typeface="Palatino Linotype" pitchFamily="34" charset="-120"/>
              </a:rPr>
              <a:t>Recomandare condiționată (2B), pentru vârstnicii internați de peste 65 de ani.</a:t>
            </a:r>
            <a:endParaRPr lang="en-US" sz="1400" dirty="0"/>
          </a:p>
        </p:txBody>
      </p:sp>
      <p:sp>
        <p:nvSpPr>
          <p:cNvPr id="14" name="Shape 12"/>
          <p:cNvSpPr/>
          <p:nvPr/>
        </p:nvSpPr>
        <p:spPr>
          <a:xfrm>
            <a:off x="594360" y="4800600"/>
            <a:ext cx="10972800" cy="1188720"/>
          </a:xfrm>
          <a:prstGeom prst="roundRect">
            <a:avLst>
              <a:gd name="adj" fmla="val 6923"/>
            </a:avLst>
          </a:prstGeom>
          <a:solidFill>
            <a:srgbClr val="F4E0E2"/>
          </a:solidFill>
          <a:ln w="12700">
            <a:solidFill>
              <a:srgbClr val="F4E0E2"/>
            </a:solidFill>
            <a:prstDash val="solid"/>
          </a:ln>
        </p:spPr>
        <p:txBody>
          <a:bodyPr/>
          <a:p/>
        </p:txBody>
      </p:sp>
      <p:sp>
        <p:nvSpPr>
          <p:cNvPr id="15" name="Text 13"/>
          <p:cNvSpPr/>
          <p:nvPr/>
        </p:nvSpPr>
        <p:spPr>
          <a:xfrm>
            <a:off x="868680" y="4800600"/>
            <a:ext cx="10424160" cy="1188720"/>
          </a:xfrm>
          <a:prstGeom prst="rect">
            <a:avLst/>
          </a:prstGeom>
          <a:noFill/>
          <a:ln/>
        </p:spPr>
        <p:txBody>
          <a:bodyPr wrap="square" lIns="0" tIns="0" rIns="0" bIns="0" rtlCol="0" anchor="ctr"/>
          <a:lstStyle/>
          <a:p>
            <a:pPr indent="0" marL="0">
              <a:buNone/>
            </a:pPr>
            <a:r>
              <a:rPr lang="en-US" sz="1700" b="1" dirty="0">
                <a:solidFill>
                  <a:srgbClr val="B02532"/>
                </a:solidFill>
                <a:latin typeface="Palatino Linotype" pitchFamily="34" charset="0"/>
                <a:ea typeface="Palatino Linotype" pitchFamily="34" charset="-122"/>
                <a:cs typeface="Palatino Linotype" pitchFamily="34" charset="-120"/>
              </a:rPr>
              <a:t>Scorurile de depistare nu reduc căderile și consumă timp. Scorul domnului E. nu a schimbat nimic.</a:t>
            </a:r>
            <a:endParaRPr lang="en-US" sz="170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bg>
      <p:bgPr>
        <a:solidFill>
          <a:srgbClr val="11121A"/>
        </a:solidFill>
      </p:bgPr>
    </p:bg>
    <p:spTree>
      <p:nvGrpSpPr>
        <p:cNvPr id="1" name=""/>
        <p:cNvGrpSpPr/>
        <p:nvPr/>
      </p:nvGrpSpPr>
      <p:grpSpPr>
        <a:xfrm>
          <a:off x="0" y="0"/>
          <a:ext cx="0" cy="0"/>
          <a:chOff x="0" y="0"/>
          <a:chExt cx="0" cy="0"/>
        </a:xfrm>
      </p:grpSpPr>
      <p:sp>
        <p:nvSpPr>
          <p:cNvPr id="2" name="Shape 0"/>
          <p:cNvSpPr/>
          <p:nvPr/>
        </p:nvSpPr>
        <p:spPr>
          <a:xfrm>
            <a:off x="8366760" y="292608"/>
            <a:ext cx="3200400" cy="420624"/>
          </a:xfrm>
          <a:prstGeom prst="roundRect">
            <a:avLst>
              <a:gd name="adj" fmla="val 50000"/>
            </a:avLst>
          </a:prstGeom>
          <a:solidFill>
            <a:srgbClr val="FFC24B"/>
          </a:solidFill>
          <a:ln w="12700">
            <a:solidFill>
              <a:srgbClr val="FFC24B"/>
            </a:solidFill>
            <a:prstDash val="solid"/>
          </a:ln>
        </p:spPr>
        <p:txBody>
          <a:bodyPr/>
          <a:p/>
        </p:txBody>
      </p:sp>
      <p:sp>
        <p:nvSpPr>
          <p:cNvPr id="3" name="Text 1"/>
          <p:cNvSpPr/>
          <p:nvPr/>
        </p:nvSpPr>
        <p:spPr>
          <a:xfrm>
            <a:off x="8366760" y="292608"/>
            <a:ext cx="3200400" cy="420624"/>
          </a:xfrm>
          <a:prstGeom prst="rect">
            <a:avLst/>
          </a:prstGeom>
          <a:noFill/>
          <a:ln/>
        </p:spPr>
        <p:txBody>
          <a:bodyPr wrap="square" lIns="0" tIns="0" rIns="0" bIns="0" rtlCol="0" anchor="ctr"/>
          <a:lstStyle/>
          <a:p>
            <a:pPr algn="ctr" indent="0" marL="0">
              <a:buNone/>
            </a:pPr>
            <a:r>
              <a:rPr lang="en-US" sz="1300" b="1" dirty="0">
                <a:solidFill>
                  <a:srgbClr val="11121A"/>
                </a:solidFill>
                <a:latin typeface="Palatino Linotype" pitchFamily="34" charset="0"/>
                <a:ea typeface="Palatino Linotype" pitchFamily="34" charset="-122"/>
                <a:cs typeface="Palatino Linotype" pitchFamily="34" charset="-120"/>
              </a:rPr>
              <a:t>MENTIMETER · VOT</a:t>
            </a:r>
            <a:endParaRPr lang="en-US" sz="1300" dirty="0"/>
          </a:p>
        </p:txBody>
      </p:sp>
      <p:sp>
        <p:nvSpPr>
          <p:cNvPr id="4" name="Text 2"/>
          <p:cNvSpPr/>
          <p:nvPr/>
        </p:nvSpPr>
        <p:spPr>
          <a:xfrm>
            <a:off x="594360" y="347472"/>
            <a:ext cx="7680960" cy="329184"/>
          </a:xfrm>
          <a:prstGeom prst="rect">
            <a:avLst/>
          </a:prstGeom>
          <a:noFill/>
          <a:ln/>
        </p:spPr>
        <p:txBody>
          <a:bodyPr wrap="square" lIns="0" tIns="0" rIns="0" bIns="0" rtlCol="0" anchor="t"/>
          <a:lstStyle/>
          <a:p>
            <a:pPr indent="0" marL="0">
              <a:buNone/>
            </a:pPr>
            <a:r>
              <a:rPr lang="en-US" sz="1300" b="1" spc="200" kern="0" dirty="0">
                <a:solidFill>
                  <a:srgbClr val="FFC24B"/>
                </a:solidFill>
                <a:latin typeface="Palatino Linotype" pitchFamily="34" charset="0"/>
                <a:ea typeface="Palatino Linotype" pitchFamily="34" charset="-122"/>
                <a:cs typeface="Palatino Linotype" pitchFamily="34" charset="-120"/>
              </a:rPr>
              <a:t>VOTUL DESPRE PREVENȚIE</a:t>
            </a:r>
            <a:endParaRPr lang="en-US" sz="1300" dirty="0"/>
          </a:p>
        </p:txBody>
      </p:sp>
      <p:sp>
        <p:nvSpPr>
          <p:cNvPr id="5" name="Text 3"/>
          <p:cNvSpPr/>
          <p:nvPr/>
        </p:nvSpPr>
        <p:spPr>
          <a:xfrm>
            <a:off x="594360" y="777240"/>
            <a:ext cx="10972800" cy="457200"/>
          </a:xfrm>
          <a:prstGeom prst="rect">
            <a:avLst/>
          </a:prstGeom>
          <a:noFill/>
          <a:ln/>
        </p:spPr>
        <p:txBody>
          <a:bodyPr wrap="square" lIns="0" tIns="0" rIns="0" bIns="0" rtlCol="0" anchor="t"/>
          <a:lstStyle/>
          <a:p>
            <a:pPr indent="0" marL="0">
              <a:buNone/>
            </a:pPr>
            <a:r>
              <a:rPr lang="en-US" sz="1700" i="1" dirty="0">
                <a:solidFill>
                  <a:srgbClr val="959BB0"/>
                </a:solidFill>
                <a:latin typeface="Palatino Linotype" pitchFamily="34" charset="0"/>
                <a:ea typeface="Palatino Linotype" pitchFamily="34" charset="-122"/>
                <a:cs typeface="Palatino Linotype" pitchFamily="34" charset="-120"/>
              </a:rPr>
              <a:t>Sunteți coordonatorul secției și puteți introduce o singură măsură de luna viitoare.</a:t>
            </a:r>
            <a:endParaRPr lang="en-US" sz="1700" dirty="0"/>
          </a:p>
        </p:txBody>
      </p:sp>
      <p:sp>
        <p:nvSpPr>
          <p:cNvPr id="6" name="Text 4"/>
          <p:cNvSpPr/>
          <p:nvPr/>
        </p:nvSpPr>
        <p:spPr>
          <a:xfrm>
            <a:off x="594360" y="1280160"/>
            <a:ext cx="10972800" cy="731520"/>
          </a:xfrm>
          <a:prstGeom prst="rect">
            <a:avLst/>
          </a:prstGeom>
          <a:noFill/>
          <a:ln/>
        </p:spPr>
        <p:txBody>
          <a:bodyPr wrap="square" lIns="0" tIns="0" rIns="0" bIns="0" rtlCol="0" anchor="t"/>
          <a:lstStyle/>
          <a:p>
            <a:pPr indent="0" marL="0">
              <a:buNone/>
            </a:pPr>
            <a:r>
              <a:rPr lang="en-US" sz="2700" b="1" dirty="0">
                <a:solidFill>
                  <a:srgbClr val="FFFFFF"/>
                </a:solidFill>
                <a:latin typeface="Palatino Linotype" pitchFamily="34" charset="0"/>
                <a:ea typeface="Palatino Linotype" pitchFamily="34" charset="-122"/>
                <a:cs typeface="Palatino Linotype" pitchFamily="34" charset="-120"/>
              </a:rPr>
              <a:t>Care are cel mai bun sprijin în dovezile prezentate?</a:t>
            </a:r>
            <a:endParaRPr lang="en-US" sz="2700" dirty="0"/>
          </a:p>
        </p:txBody>
      </p:sp>
      <p:sp>
        <p:nvSpPr>
          <p:cNvPr id="7" name="Shape 5"/>
          <p:cNvSpPr/>
          <p:nvPr/>
        </p:nvSpPr>
        <p:spPr>
          <a:xfrm>
            <a:off x="594360" y="2148840"/>
            <a:ext cx="10972800" cy="704088"/>
          </a:xfrm>
          <a:prstGeom prst="roundRect">
            <a:avLst>
              <a:gd name="adj" fmla="val 11688"/>
            </a:avLst>
          </a:prstGeom>
          <a:solidFill>
            <a:srgbClr val="272A38"/>
          </a:solidFill>
          <a:ln w="12700">
            <a:solidFill>
              <a:srgbClr val="272A38"/>
            </a:solidFill>
            <a:prstDash val="solid"/>
          </a:ln>
        </p:spPr>
        <p:txBody>
          <a:bodyPr/>
          <a:p/>
        </p:txBody>
      </p:sp>
      <p:sp>
        <p:nvSpPr>
          <p:cNvPr id="8" name="Shape 6"/>
          <p:cNvSpPr/>
          <p:nvPr/>
        </p:nvSpPr>
        <p:spPr>
          <a:xfrm>
            <a:off x="868680" y="2290572"/>
            <a:ext cx="420624" cy="420624"/>
          </a:xfrm>
          <a:prstGeom prst="ellipse">
            <a:avLst/>
          </a:prstGeom>
          <a:solidFill>
            <a:srgbClr val="FFC24B"/>
          </a:solidFill>
          <a:ln/>
        </p:spPr>
        <p:txBody>
          <a:bodyPr/>
          <a:p/>
        </p:txBody>
      </p:sp>
      <p:sp>
        <p:nvSpPr>
          <p:cNvPr id="9" name="Text 7"/>
          <p:cNvSpPr/>
          <p:nvPr/>
        </p:nvSpPr>
        <p:spPr>
          <a:xfrm>
            <a:off x="868680" y="2290572"/>
            <a:ext cx="420624" cy="420624"/>
          </a:xfrm>
          <a:prstGeom prst="rect">
            <a:avLst/>
          </a:prstGeom>
          <a:noFill/>
          <a:ln/>
        </p:spPr>
        <p:txBody>
          <a:bodyPr wrap="square" lIns="0" tIns="0" rIns="0" bIns="0" rtlCol="0" anchor="ctr"/>
          <a:lstStyle/>
          <a:p>
            <a:pPr algn="ctr" indent="0" marL="0">
              <a:buNone/>
            </a:pPr>
            <a:r>
              <a:rPr lang="en-US" sz="1400" b="1" dirty="0">
                <a:solidFill>
                  <a:srgbClr val="11121A"/>
                </a:solidFill>
                <a:latin typeface="Palatino Linotype" pitchFamily="34" charset="0"/>
                <a:ea typeface="Palatino Linotype" pitchFamily="34" charset="-122"/>
                <a:cs typeface="Palatino Linotype" pitchFamily="34" charset="-120"/>
              </a:rPr>
              <a:t>A</a:t>
            </a:r>
            <a:endParaRPr lang="en-US" sz="1400" dirty="0"/>
          </a:p>
        </p:txBody>
      </p:sp>
      <p:sp>
        <p:nvSpPr>
          <p:cNvPr id="10" name="Text 8"/>
          <p:cNvSpPr/>
          <p:nvPr/>
        </p:nvSpPr>
        <p:spPr>
          <a:xfrm>
            <a:off x="1554480" y="2148840"/>
            <a:ext cx="9784080" cy="704088"/>
          </a:xfrm>
          <a:prstGeom prst="rect">
            <a:avLst/>
          </a:prstGeom>
          <a:noFill/>
          <a:ln/>
        </p:spPr>
        <p:txBody>
          <a:bodyPr wrap="square" lIns="0" tIns="0" rIns="0" bIns="0" rtlCol="0" anchor="ctr"/>
          <a:lstStyle/>
          <a:p>
            <a:pPr indent="0" marL="0">
              <a:buNone/>
            </a:pPr>
            <a:r>
              <a:rPr lang="en-US" sz="1800" dirty="0">
                <a:solidFill>
                  <a:srgbClr val="FFFFFF"/>
                </a:solidFill>
                <a:latin typeface="Palatino Linotype" pitchFamily="34" charset="0"/>
                <a:ea typeface="Palatino Linotype" pitchFamily="34" charset="-122"/>
                <a:cs typeface="Palatino Linotype" pitchFamily="34" charset="-120"/>
              </a:rPr>
              <a:t>Un scor de risc de cădere completat la internare pentru fiecare pacient</a:t>
            </a:r>
            <a:endParaRPr lang="en-US" sz="1800" dirty="0"/>
          </a:p>
        </p:txBody>
      </p:sp>
      <p:sp>
        <p:nvSpPr>
          <p:cNvPr id="11" name="Shape 9"/>
          <p:cNvSpPr/>
          <p:nvPr/>
        </p:nvSpPr>
        <p:spPr>
          <a:xfrm>
            <a:off x="594360" y="2990088"/>
            <a:ext cx="10972800" cy="704088"/>
          </a:xfrm>
          <a:prstGeom prst="roundRect">
            <a:avLst>
              <a:gd name="adj" fmla="val 11688"/>
            </a:avLst>
          </a:prstGeom>
          <a:solidFill>
            <a:srgbClr val="272A38"/>
          </a:solidFill>
          <a:ln w="12700">
            <a:solidFill>
              <a:srgbClr val="272A38"/>
            </a:solidFill>
            <a:prstDash val="solid"/>
          </a:ln>
        </p:spPr>
        <p:txBody>
          <a:bodyPr/>
          <a:p/>
        </p:txBody>
      </p:sp>
      <p:sp>
        <p:nvSpPr>
          <p:cNvPr id="12" name="Shape 10"/>
          <p:cNvSpPr/>
          <p:nvPr/>
        </p:nvSpPr>
        <p:spPr>
          <a:xfrm>
            <a:off x="868680" y="3131820"/>
            <a:ext cx="420624" cy="420624"/>
          </a:xfrm>
          <a:prstGeom prst="ellipse">
            <a:avLst/>
          </a:prstGeom>
          <a:solidFill>
            <a:srgbClr val="FFC24B"/>
          </a:solidFill>
          <a:ln/>
        </p:spPr>
        <p:txBody>
          <a:bodyPr/>
          <a:p/>
        </p:txBody>
      </p:sp>
      <p:sp>
        <p:nvSpPr>
          <p:cNvPr id="13" name="Text 11"/>
          <p:cNvSpPr/>
          <p:nvPr/>
        </p:nvSpPr>
        <p:spPr>
          <a:xfrm>
            <a:off x="868680" y="3131820"/>
            <a:ext cx="420624" cy="420624"/>
          </a:xfrm>
          <a:prstGeom prst="rect">
            <a:avLst/>
          </a:prstGeom>
          <a:noFill/>
          <a:ln/>
        </p:spPr>
        <p:txBody>
          <a:bodyPr wrap="square" lIns="0" tIns="0" rIns="0" bIns="0" rtlCol="0" anchor="ctr"/>
          <a:lstStyle/>
          <a:p>
            <a:pPr algn="ctr" indent="0" marL="0">
              <a:buNone/>
            </a:pPr>
            <a:r>
              <a:rPr lang="en-US" sz="1400" b="1" dirty="0">
                <a:solidFill>
                  <a:srgbClr val="11121A"/>
                </a:solidFill>
                <a:latin typeface="Palatino Linotype" pitchFamily="34" charset="0"/>
                <a:ea typeface="Palatino Linotype" pitchFamily="34" charset="-122"/>
                <a:cs typeface="Palatino Linotype" pitchFamily="34" charset="-120"/>
              </a:rPr>
              <a:t>B</a:t>
            </a:r>
            <a:endParaRPr lang="en-US" sz="1400" dirty="0"/>
          </a:p>
        </p:txBody>
      </p:sp>
      <p:sp>
        <p:nvSpPr>
          <p:cNvPr id="14" name="Text 12"/>
          <p:cNvSpPr/>
          <p:nvPr/>
        </p:nvSpPr>
        <p:spPr>
          <a:xfrm>
            <a:off x="1554480" y="2990088"/>
            <a:ext cx="9784080" cy="704088"/>
          </a:xfrm>
          <a:prstGeom prst="rect">
            <a:avLst/>
          </a:prstGeom>
          <a:noFill/>
          <a:ln/>
        </p:spPr>
        <p:txBody>
          <a:bodyPr wrap="square" lIns="0" tIns="0" rIns="0" bIns="0" rtlCol="0" anchor="ctr"/>
          <a:lstStyle/>
          <a:p>
            <a:pPr indent="0" marL="0">
              <a:buNone/>
            </a:pPr>
            <a:r>
              <a:rPr lang="en-US" sz="1800" dirty="0">
                <a:solidFill>
                  <a:srgbClr val="FFFFFF"/>
                </a:solidFill>
                <a:latin typeface="Palatino Linotype" pitchFamily="34" charset="0"/>
                <a:ea typeface="Palatino Linotype" pitchFamily="34" charset="-122"/>
                <a:cs typeface="Palatino Linotype" pitchFamily="34" charset="-120"/>
              </a:rPr>
              <a:t>Un plan individual, după evaluarea factorilor de risc ai fiecărui pacient</a:t>
            </a:r>
            <a:endParaRPr lang="en-US" sz="1800" dirty="0"/>
          </a:p>
        </p:txBody>
      </p:sp>
      <p:sp>
        <p:nvSpPr>
          <p:cNvPr id="15" name="Shape 13"/>
          <p:cNvSpPr/>
          <p:nvPr/>
        </p:nvSpPr>
        <p:spPr>
          <a:xfrm>
            <a:off x="594360" y="3831336"/>
            <a:ext cx="10972800" cy="704088"/>
          </a:xfrm>
          <a:prstGeom prst="roundRect">
            <a:avLst>
              <a:gd name="adj" fmla="val 11688"/>
            </a:avLst>
          </a:prstGeom>
          <a:solidFill>
            <a:srgbClr val="272A38"/>
          </a:solidFill>
          <a:ln w="12700">
            <a:solidFill>
              <a:srgbClr val="272A38"/>
            </a:solidFill>
            <a:prstDash val="solid"/>
          </a:ln>
        </p:spPr>
        <p:txBody>
          <a:bodyPr/>
          <a:p/>
        </p:txBody>
      </p:sp>
      <p:sp>
        <p:nvSpPr>
          <p:cNvPr id="16" name="Shape 14"/>
          <p:cNvSpPr/>
          <p:nvPr/>
        </p:nvSpPr>
        <p:spPr>
          <a:xfrm>
            <a:off x="868680" y="3973068"/>
            <a:ext cx="420624" cy="420624"/>
          </a:xfrm>
          <a:prstGeom prst="ellipse">
            <a:avLst/>
          </a:prstGeom>
          <a:solidFill>
            <a:srgbClr val="FFC24B"/>
          </a:solidFill>
          <a:ln/>
        </p:spPr>
        <p:txBody>
          <a:bodyPr/>
          <a:p/>
        </p:txBody>
      </p:sp>
      <p:sp>
        <p:nvSpPr>
          <p:cNvPr id="17" name="Text 15"/>
          <p:cNvSpPr/>
          <p:nvPr/>
        </p:nvSpPr>
        <p:spPr>
          <a:xfrm>
            <a:off x="868680" y="3973068"/>
            <a:ext cx="420624" cy="420624"/>
          </a:xfrm>
          <a:prstGeom prst="rect">
            <a:avLst/>
          </a:prstGeom>
          <a:noFill/>
          <a:ln/>
        </p:spPr>
        <p:txBody>
          <a:bodyPr wrap="square" lIns="0" tIns="0" rIns="0" bIns="0" rtlCol="0" anchor="ctr"/>
          <a:lstStyle/>
          <a:p>
            <a:pPr algn="ctr" indent="0" marL="0">
              <a:buNone/>
            </a:pPr>
            <a:r>
              <a:rPr lang="en-US" sz="1400" b="1" dirty="0">
                <a:solidFill>
                  <a:srgbClr val="11121A"/>
                </a:solidFill>
                <a:latin typeface="Palatino Linotype" pitchFamily="34" charset="0"/>
                <a:ea typeface="Palatino Linotype" pitchFamily="34" charset="-122"/>
                <a:cs typeface="Palatino Linotype" pitchFamily="34" charset="-120"/>
              </a:rPr>
              <a:t>C</a:t>
            </a:r>
            <a:endParaRPr lang="en-US" sz="1400" dirty="0"/>
          </a:p>
        </p:txBody>
      </p:sp>
      <p:sp>
        <p:nvSpPr>
          <p:cNvPr id="18" name="Text 16"/>
          <p:cNvSpPr/>
          <p:nvPr/>
        </p:nvSpPr>
        <p:spPr>
          <a:xfrm>
            <a:off x="1554480" y="3831336"/>
            <a:ext cx="9784080" cy="704088"/>
          </a:xfrm>
          <a:prstGeom prst="rect">
            <a:avLst/>
          </a:prstGeom>
          <a:noFill/>
          <a:ln/>
        </p:spPr>
        <p:txBody>
          <a:bodyPr wrap="square" lIns="0" tIns="0" rIns="0" bIns="0" rtlCol="0" anchor="ctr"/>
          <a:lstStyle/>
          <a:p>
            <a:pPr indent="0" marL="0">
              <a:buNone/>
            </a:pPr>
            <a:r>
              <a:rPr lang="en-US" sz="1800" dirty="0">
                <a:solidFill>
                  <a:srgbClr val="FFFFFF"/>
                </a:solidFill>
                <a:latin typeface="Palatino Linotype" pitchFamily="34" charset="0"/>
                <a:ea typeface="Palatino Linotype" pitchFamily="34" charset="-122"/>
                <a:cs typeface="Palatino Linotype" pitchFamily="34" charset="-120"/>
              </a:rPr>
              <a:t>Alarme cu senzori la toate paturile</a:t>
            </a:r>
            <a:endParaRPr lang="en-US" sz="1800" dirty="0"/>
          </a:p>
        </p:txBody>
      </p:sp>
      <p:sp>
        <p:nvSpPr>
          <p:cNvPr id="19" name="Shape 17"/>
          <p:cNvSpPr/>
          <p:nvPr/>
        </p:nvSpPr>
        <p:spPr>
          <a:xfrm>
            <a:off x="594360" y="4672584"/>
            <a:ext cx="10972800" cy="704088"/>
          </a:xfrm>
          <a:prstGeom prst="roundRect">
            <a:avLst>
              <a:gd name="adj" fmla="val 11688"/>
            </a:avLst>
          </a:prstGeom>
          <a:solidFill>
            <a:srgbClr val="272A38"/>
          </a:solidFill>
          <a:ln w="12700">
            <a:solidFill>
              <a:srgbClr val="272A38"/>
            </a:solidFill>
            <a:prstDash val="solid"/>
          </a:ln>
        </p:spPr>
        <p:txBody>
          <a:bodyPr/>
          <a:p/>
        </p:txBody>
      </p:sp>
      <p:sp>
        <p:nvSpPr>
          <p:cNvPr id="20" name="Shape 18"/>
          <p:cNvSpPr/>
          <p:nvPr/>
        </p:nvSpPr>
        <p:spPr>
          <a:xfrm>
            <a:off x="868680" y="4814316"/>
            <a:ext cx="420624" cy="420624"/>
          </a:xfrm>
          <a:prstGeom prst="ellipse">
            <a:avLst/>
          </a:prstGeom>
          <a:solidFill>
            <a:srgbClr val="FFC24B"/>
          </a:solidFill>
          <a:ln/>
        </p:spPr>
        <p:txBody>
          <a:bodyPr/>
          <a:p/>
        </p:txBody>
      </p:sp>
      <p:sp>
        <p:nvSpPr>
          <p:cNvPr id="21" name="Text 19"/>
          <p:cNvSpPr/>
          <p:nvPr/>
        </p:nvSpPr>
        <p:spPr>
          <a:xfrm>
            <a:off x="868680" y="4814316"/>
            <a:ext cx="420624" cy="420624"/>
          </a:xfrm>
          <a:prstGeom prst="rect">
            <a:avLst/>
          </a:prstGeom>
          <a:noFill/>
          <a:ln/>
        </p:spPr>
        <p:txBody>
          <a:bodyPr wrap="square" lIns="0" tIns="0" rIns="0" bIns="0" rtlCol="0" anchor="ctr"/>
          <a:lstStyle/>
          <a:p>
            <a:pPr algn="ctr" indent="0" marL="0">
              <a:buNone/>
            </a:pPr>
            <a:r>
              <a:rPr lang="en-US" sz="1400" b="1" dirty="0">
                <a:solidFill>
                  <a:srgbClr val="11121A"/>
                </a:solidFill>
                <a:latin typeface="Palatino Linotype" pitchFamily="34" charset="0"/>
                <a:ea typeface="Palatino Linotype" pitchFamily="34" charset="-122"/>
                <a:cs typeface="Palatino Linotype" pitchFamily="34" charset="-120"/>
              </a:rPr>
              <a:t>D</a:t>
            </a:r>
            <a:endParaRPr lang="en-US" sz="1400" dirty="0"/>
          </a:p>
        </p:txBody>
      </p:sp>
      <p:sp>
        <p:nvSpPr>
          <p:cNvPr id="22" name="Text 20"/>
          <p:cNvSpPr/>
          <p:nvPr/>
        </p:nvSpPr>
        <p:spPr>
          <a:xfrm>
            <a:off x="1554480" y="4672584"/>
            <a:ext cx="9784080" cy="704088"/>
          </a:xfrm>
          <a:prstGeom prst="rect">
            <a:avLst/>
          </a:prstGeom>
          <a:noFill/>
          <a:ln/>
        </p:spPr>
        <p:txBody>
          <a:bodyPr wrap="square" lIns="0" tIns="0" rIns="0" bIns="0" rtlCol="0" anchor="ctr"/>
          <a:lstStyle/>
          <a:p>
            <a:pPr indent="0" marL="0">
              <a:buNone/>
            </a:pPr>
            <a:r>
              <a:rPr lang="en-US" sz="1800" dirty="0">
                <a:solidFill>
                  <a:srgbClr val="FFFFFF"/>
                </a:solidFill>
                <a:latin typeface="Palatino Linotype" pitchFamily="34" charset="0"/>
                <a:ea typeface="Palatino Linotype" pitchFamily="34" charset="-122"/>
                <a:cs typeface="Palatino Linotype" pitchFamily="34" charset="-120"/>
              </a:rPr>
              <a:t>Interdicția ca pacienții să meargă singuri noaptea</a:t>
            </a:r>
            <a:endParaRPr lang="en-US" sz="1800" dirty="0"/>
          </a:p>
        </p:txBody>
      </p:sp>
      <p:sp>
        <p:nvSpPr>
          <p:cNvPr id="23" name="Text 21"/>
          <p:cNvSpPr/>
          <p:nvPr/>
        </p:nvSpPr>
        <p:spPr>
          <a:xfrm>
            <a:off x="594360" y="5669280"/>
            <a:ext cx="8046720" cy="457200"/>
          </a:xfrm>
          <a:prstGeom prst="rect">
            <a:avLst/>
          </a:prstGeom>
          <a:noFill/>
          <a:ln/>
        </p:spPr>
        <p:txBody>
          <a:bodyPr wrap="square" lIns="0" tIns="0" rIns="0" bIns="0" rtlCol="0" anchor="ctr"/>
          <a:lstStyle/>
          <a:p>
            <a:pPr indent="0" marL="0">
              <a:buNone/>
            </a:pPr>
            <a:r>
              <a:rPr lang="en-US" sz="1400" i="1" dirty="0">
                <a:solidFill>
                  <a:srgbClr val="959BB0"/>
                </a:solidFill>
                <a:latin typeface="Palatino Linotype" pitchFamily="34" charset="0"/>
                <a:ea typeface="Palatino Linotype" pitchFamily="34" charset="-122"/>
                <a:cs typeface="Palatino Linotype" pitchFamily="34" charset="-120"/>
              </a:rPr>
              <a:t>Vot anonim.</a:t>
            </a:r>
            <a:endParaRPr lang="en-US" sz="1400" dirty="0"/>
          </a:p>
        </p:txBody>
      </p:sp>
      <p:sp>
        <p:nvSpPr>
          <p:cNvPr id="24" name="Shape 22"/>
          <p:cNvSpPr/>
          <p:nvPr/>
        </p:nvSpPr>
        <p:spPr>
          <a:xfrm>
            <a:off x="8823960" y="5669280"/>
            <a:ext cx="2743200" cy="457200"/>
          </a:xfrm>
          <a:prstGeom prst="roundRect">
            <a:avLst>
              <a:gd name="adj" fmla="val 18000"/>
            </a:avLst>
          </a:prstGeom>
          <a:solidFill>
            <a:srgbClr val="272A38"/>
          </a:solidFill>
          <a:ln w="12700">
            <a:solidFill>
              <a:srgbClr val="272A38"/>
            </a:solidFill>
            <a:prstDash val="solid"/>
          </a:ln>
        </p:spPr>
        <p:txBody>
          <a:bodyPr/>
          <a:p/>
        </p:txBody>
      </p:sp>
      <p:sp>
        <p:nvSpPr>
          <p:cNvPr id="25" name="Text 23"/>
          <p:cNvSpPr/>
          <p:nvPr/>
        </p:nvSpPr>
        <p:spPr>
          <a:xfrm>
            <a:off x="8823960" y="5669280"/>
            <a:ext cx="2743200" cy="457200"/>
          </a:xfrm>
          <a:prstGeom prst="rect">
            <a:avLst/>
          </a:prstGeom>
          <a:noFill/>
          <a:ln/>
        </p:spPr>
        <p:txBody>
          <a:bodyPr wrap="square" lIns="228600" tIns="0" rIns="228600" bIns="0" rtlCol="0" anchor="ctr"/>
          <a:lstStyle/>
          <a:p>
            <a:pPr algn="ctr" indent="0" marL="0">
              <a:buNone/>
            </a:pPr>
            <a:r>
              <a:rPr lang="en-US" sz="1100" b="1" dirty="0" i="1">
                <a:solidFill>
                  <a:srgbClr val="FFC24B"/>
                </a:solidFill>
                <a:latin typeface="Palatino Linotype" pitchFamily="34" charset="0"/>
                <a:ea typeface="Palatino Linotype" pitchFamily="34" charset="-122"/>
                <a:cs typeface="Palatino Linotype" pitchFamily="34" charset="-120"/>
              </a:rPr>
              <a:t>menti.com · codul de pe ecran</a:t>
            </a:r>
            <a:endParaRPr lang="en-US" sz="1200"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bg>
      <p:bgPr>
        <a:solidFill>
          <a:srgbClr val="F6F5F2"/>
        </a:solidFill>
      </p:bgPr>
    </p:bg>
    <p:spTree>
      <p:nvGrpSpPr>
        <p:cNvPr id="1" name=""/>
        <p:cNvGrpSpPr/>
        <p:nvPr/>
      </p:nvGrpSpPr>
      <p:grpSpPr>
        <a:xfrm>
          <a:off x="0" y="0"/>
          <a:ext cx="0" cy="0"/>
          <a:chOff x="0" y="0"/>
          <a:chExt cx="0" cy="0"/>
        </a:xfrm>
      </p:grpSpPr>
      <p:sp>
        <p:nvSpPr>
          <p:cNvPr id="2" name="Text 0"/>
          <p:cNvSpPr/>
          <p:nvPr/>
        </p:nvSpPr>
        <p:spPr>
          <a:xfrm>
            <a:off x="594360" y="347472"/>
            <a:ext cx="7680960" cy="329184"/>
          </a:xfrm>
          <a:prstGeom prst="rect">
            <a:avLst/>
          </a:prstGeom>
          <a:noFill/>
          <a:ln/>
        </p:spPr>
        <p:txBody>
          <a:bodyPr wrap="square" lIns="0" tIns="0" rIns="0" bIns="0" rtlCol="0" anchor="t"/>
          <a:lstStyle/>
          <a:p>
            <a:pPr indent="0" marL="0">
              <a:buNone/>
            </a:pPr>
            <a:r>
              <a:rPr lang="en-US" sz="1300" b="1" spc="200" kern="0" dirty="0">
                <a:solidFill>
                  <a:srgbClr val="B02532"/>
                </a:solidFill>
                <a:latin typeface="Palatino Linotype" pitchFamily="34" charset="0"/>
                <a:ea typeface="Palatino Linotype" pitchFamily="34" charset="-122"/>
                <a:cs typeface="Palatino Linotype" pitchFamily="34" charset="-120"/>
              </a:rPr>
              <a:t>CE SPUN DOVEZILE</a:t>
            </a:r>
            <a:endParaRPr lang="en-US" sz="1300" dirty="0"/>
          </a:p>
        </p:txBody>
      </p:sp>
      <p:sp>
        <p:nvSpPr>
          <p:cNvPr id="3" name="Text 1"/>
          <p:cNvSpPr/>
          <p:nvPr/>
        </p:nvSpPr>
        <p:spPr>
          <a:xfrm>
            <a:off x="594360" y="713232"/>
            <a:ext cx="10972800" cy="914400"/>
          </a:xfrm>
          <a:prstGeom prst="rect">
            <a:avLst/>
          </a:prstGeom>
          <a:noFill/>
          <a:ln/>
        </p:spPr>
        <p:txBody>
          <a:bodyPr wrap="square" lIns="0" tIns="0" rIns="0" bIns="0" rtlCol="0" anchor="t"/>
          <a:lstStyle/>
          <a:p>
            <a:pPr indent="0" marL="0">
              <a:buNone/>
            </a:pPr>
            <a:r>
              <a:rPr lang="en-US" sz="2800" b="1" dirty="0">
                <a:solidFill>
                  <a:srgbClr val="11121A"/>
                </a:solidFill>
                <a:latin typeface="Palatino Linotype" pitchFamily="34" charset="0"/>
                <a:ea typeface="Palatino Linotype" pitchFamily="34" charset="-122"/>
                <a:cs typeface="Palatino Linotype" pitchFamily="34" charset="-120"/>
              </a:rPr>
              <a:t>Planul individual, pe dovezi de certitudine scăzută</a:t>
            </a:r>
            <a:endParaRPr lang="en-US" sz="2800" dirty="0"/>
          </a:p>
        </p:txBody>
      </p:sp>
      <p:sp>
        <p:nvSpPr>
          <p:cNvPr id="4" name="Text 2"/>
          <p:cNvSpPr/>
          <p:nvPr/>
        </p:nvSpPr>
        <p:spPr>
          <a:xfrm>
            <a:off x="594360" y="1554480"/>
            <a:ext cx="6035040" cy="365760"/>
          </a:xfrm>
          <a:prstGeom prst="rect">
            <a:avLst/>
          </a:prstGeom>
          <a:noFill/>
          <a:ln/>
        </p:spPr>
        <p:txBody>
          <a:bodyPr wrap="square" lIns="0" tIns="0" rIns="0" bIns="0" rtlCol="0" anchor="t"/>
          <a:lstStyle/>
          <a:p>
            <a:pPr indent="0" marL="0">
              <a:buNone/>
            </a:pPr>
            <a:r>
              <a:rPr lang="en-US" sz="1200" b="1" spc="100" kern="0" dirty="0">
                <a:solidFill>
                  <a:srgbClr val="0E7C6B"/>
                </a:solidFill>
                <a:latin typeface="Palatino Linotype" pitchFamily="34" charset="0"/>
                <a:ea typeface="Palatino Linotype" pitchFamily="34" charset="-122"/>
                <a:cs typeface="Palatino Linotype" pitchFamily="34" charset="-120"/>
              </a:rPr>
              <a:t>RAPORTUL RATELOR DE CĂDERE, INTERVENȚII MULTIFACTORIALE</a:t>
            </a:r>
            <a:endParaRPr lang="en-US" sz="1200" dirty="0"/>
          </a:p>
        </p:txBody>
      </p:sp>
      <p:sp>
        <p:nvSpPr>
          <p:cNvPr id="5" name="Shape 3"/>
          <p:cNvSpPr/>
          <p:nvPr/>
        </p:nvSpPr>
        <p:spPr>
          <a:xfrm>
            <a:off x="5394960" y="2011680"/>
            <a:ext cx="27432" cy="2148840"/>
          </a:xfrm>
          <a:prstGeom prst="rect">
            <a:avLst/>
          </a:prstGeom>
          <a:solidFill>
            <a:srgbClr val="585A64"/>
          </a:solidFill>
          <a:ln w="12700">
            <a:solidFill>
              <a:srgbClr val="585A64"/>
            </a:solidFill>
            <a:prstDash val="solid"/>
          </a:ln>
        </p:spPr>
        <p:txBody>
          <a:bodyPr/>
          <a:p/>
        </p:txBody>
      </p:sp>
      <p:sp>
        <p:nvSpPr>
          <p:cNvPr id="6" name="Text 4"/>
          <p:cNvSpPr/>
          <p:nvPr/>
        </p:nvSpPr>
        <p:spPr>
          <a:xfrm>
            <a:off x="4572000" y="4206240"/>
            <a:ext cx="1645920" cy="274320"/>
          </a:xfrm>
          <a:prstGeom prst="rect">
            <a:avLst/>
          </a:prstGeom>
          <a:noFill/>
          <a:ln/>
        </p:spPr>
        <p:txBody>
          <a:bodyPr wrap="square" lIns="0" tIns="0" rIns="0" bIns="0" rtlCol="0" anchor="t"/>
          <a:lstStyle/>
          <a:p>
            <a:pPr algn="ctr" indent="0" marL="0">
              <a:buNone/>
            </a:pPr>
            <a:r>
              <a:rPr lang="en-US" sz="1100" i="1" dirty="0">
                <a:solidFill>
                  <a:srgbClr val="585A64"/>
                </a:solidFill>
                <a:latin typeface="Palatino Linotype" pitchFamily="34" charset="0"/>
                <a:ea typeface="Palatino Linotype" pitchFamily="34" charset="-122"/>
                <a:cs typeface="Palatino Linotype" pitchFamily="34" charset="-120"/>
              </a:rPr>
              <a:t>1 = fără efect</a:t>
            </a:r>
            <a:endParaRPr lang="en-US" sz="1100" dirty="0"/>
          </a:p>
        </p:txBody>
      </p:sp>
      <p:sp>
        <p:nvSpPr>
          <p:cNvPr id="7" name="Text 5"/>
          <p:cNvSpPr/>
          <p:nvPr/>
        </p:nvSpPr>
        <p:spPr>
          <a:xfrm>
            <a:off x="594360" y="2057400"/>
            <a:ext cx="3200400" cy="320040"/>
          </a:xfrm>
          <a:prstGeom prst="rect">
            <a:avLst/>
          </a:prstGeom>
          <a:noFill/>
          <a:ln/>
        </p:spPr>
        <p:txBody>
          <a:bodyPr wrap="square" lIns="0" tIns="0" rIns="0" bIns="0" rtlCol="0" anchor="t"/>
          <a:lstStyle/>
          <a:p>
            <a:pPr indent="0" marL="0">
              <a:buNone/>
            </a:pPr>
            <a:r>
              <a:rPr lang="en-US" sz="1400" b="1" dirty="0">
                <a:solidFill>
                  <a:srgbClr val="11121A"/>
                </a:solidFill>
                <a:latin typeface="Palatino Linotype" pitchFamily="34" charset="0"/>
                <a:ea typeface="Palatino Linotype" pitchFamily="34" charset="-122"/>
                <a:cs typeface="Palatino Linotype" pitchFamily="34" charset="-120"/>
              </a:rPr>
              <a:t>Spitale, 5 studii</a:t>
            </a:r>
            <a:endParaRPr lang="en-US" sz="1400" dirty="0"/>
          </a:p>
        </p:txBody>
      </p:sp>
      <p:sp>
        <p:nvSpPr>
          <p:cNvPr id="8" name="Shape 6"/>
          <p:cNvSpPr/>
          <p:nvPr/>
        </p:nvSpPr>
        <p:spPr>
          <a:xfrm>
            <a:off x="2103120" y="2606040"/>
            <a:ext cx="3383280" cy="36576"/>
          </a:xfrm>
          <a:prstGeom prst="rect">
            <a:avLst/>
          </a:prstGeom>
          <a:solidFill>
            <a:srgbClr val="0E7C6B"/>
          </a:solidFill>
          <a:ln w="12700">
            <a:solidFill>
              <a:srgbClr val="0E7C6B"/>
            </a:solidFill>
            <a:prstDash val="solid"/>
          </a:ln>
        </p:spPr>
        <p:txBody>
          <a:bodyPr/>
          <a:p/>
        </p:txBody>
      </p:sp>
      <p:sp>
        <p:nvSpPr>
          <p:cNvPr id="9" name="Shape 7"/>
          <p:cNvSpPr/>
          <p:nvPr/>
        </p:nvSpPr>
        <p:spPr>
          <a:xfrm>
            <a:off x="3447288" y="2505456"/>
            <a:ext cx="237744" cy="237744"/>
          </a:xfrm>
          <a:prstGeom prst="ellipse">
            <a:avLst/>
          </a:prstGeom>
          <a:solidFill>
            <a:srgbClr val="0E7C6B"/>
          </a:solidFill>
          <a:ln w="12700">
            <a:solidFill>
              <a:srgbClr val="0E7C6B"/>
            </a:solidFill>
            <a:prstDash val="solid"/>
          </a:ln>
        </p:spPr>
        <p:txBody>
          <a:bodyPr/>
          <a:p/>
        </p:txBody>
      </p:sp>
      <p:sp>
        <p:nvSpPr>
          <p:cNvPr id="10" name="Text 8"/>
          <p:cNvSpPr/>
          <p:nvPr/>
        </p:nvSpPr>
        <p:spPr>
          <a:xfrm>
            <a:off x="2651760" y="2788920"/>
            <a:ext cx="1828800" cy="274320"/>
          </a:xfrm>
          <a:prstGeom prst="rect">
            <a:avLst/>
          </a:prstGeom>
          <a:noFill/>
          <a:ln/>
        </p:spPr>
        <p:txBody>
          <a:bodyPr wrap="square" lIns="0" tIns="0" rIns="0" bIns="0" rtlCol="0" anchor="t"/>
          <a:lstStyle/>
          <a:p>
            <a:pPr algn="ctr" indent="0" marL="0">
              <a:buNone/>
            </a:pPr>
            <a:r>
              <a:rPr lang="en-US" sz="1300" b="1" dirty="0">
                <a:solidFill>
                  <a:srgbClr val="0E7C6B"/>
                </a:solidFill>
                <a:latin typeface="Palatino Linotype" pitchFamily="34" charset="0"/>
                <a:ea typeface="Palatino Linotype" pitchFamily="34" charset="-122"/>
                <a:cs typeface="Palatino Linotype" pitchFamily="34" charset="-120"/>
              </a:rPr>
              <a:t>0,80 (0,64–1,01)</a:t>
            </a:r>
            <a:endParaRPr lang="en-US" sz="1300" dirty="0"/>
          </a:p>
        </p:txBody>
      </p:sp>
      <p:sp>
        <p:nvSpPr>
          <p:cNvPr id="11" name="Text 9"/>
          <p:cNvSpPr/>
          <p:nvPr/>
        </p:nvSpPr>
        <p:spPr>
          <a:xfrm>
            <a:off x="594360" y="3246120"/>
            <a:ext cx="4572000" cy="320040"/>
          </a:xfrm>
          <a:prstGeom prst="rect">
            <a:avLst/>
          </a:prstGeom>
          <a:noFill/>
          <a:ln/>
        </p:spPr>
        <p:txBody>
          <a:bodyPr wrap="square" lIns="0" tIns="0" rIns="0" bIns="0" rtlCol="0" anchor="t"/>
          <a:lstStyle/>
          <a:p>
            <a:pPr indent="0" marL="0">
              <a:buNone/>
            </a:pPr>
            <a:r>
              <a:rPr lang="en-US" sz="1400" b="1" dirty="0">
                <a:solidFill>
                  <a:srgbClr val="11121A"/>
                </a:solidFill>
                <a:latin typeface="Palatino Linotype" pitchFamily="34" charset="0"/>
                <a:ea typeface="Palatino Linotype" pitchFamily="34" charset="-122"/>
                <a:cs typeface="Palatino Linotype" pitchFamily="34" charset="-120"/>
              </a:rPr>
              <a:t>Recuperare (îngrijire subacută), 2 studii</a:t>
            </a:r>
            <a:endParaRPr lang="en-US" sz="1400" dirty="0"/>
          </a:p>
        </p:txBody>
      </p:sp>
      <p:sp>
        <p:nvSpPr>
          <p:cNvPr id="12" name="Shape 10"/>
          <p:cNvSpPr/>
          <p:nvPr/>
        </p:nvSpPr>
        <p:spPr>
          <a:xfrm>
            <a:off x="2258568" y="3694176"/>
            <a:ext cx="237744" cy="237744"/>
          </a:xfrm>
          <a:prstGeom prst="ellipse">
            <a:avLst/>
          </a:prstGeom>
          <a:solidFill>
            <a:srgbClr val="B02532"/>
          </a:solidFill>
          <a:ln w="12700">
            <a:solidFill>
              <a:srgbClr val="B02532"/>
            </a:solidFill>
            <a:prstDash val="solid"/>
          </a:ln>
        </p:spPr>
        <p:txBody>
          <a:bodyPr/>
          <a:p/>
        </p:txBody>
      </p:sp>
      <p:sp>
        <p:nvSpPr>
          <p:cNvPr id="13" name="Text 11"/>
          <p:cNvSpPr/>
          <p:nvPr/>
        </p:nvSpPr>
        <p:spPr>
          <a:xfrm>
            <a:off x="2560320" y="3657600"/>
            <a:ext cx="914400" cy="310896"/>
          </a:xfrm>
          <a:prstGeom prst="rect">
            <a:avLst/>
          </a:prstGeom>
          <a:noFill/>
          <a:ln/>
        </p:spPr>
        <p:txBody>
          <a:bodyPr wrap="square" lIns="0" tIns="0" rIns="0" bIns="0" rtlCol="0" anchor="t"/>
          <a:lstStyle/>
          <a:p>
            <a:pPr indent="0" marL="0">
              <a:buNone/>
            </a:pPr>
            <a:r>
              <a:rPr lang="en-US" sz="1300" b="1" dirty="0">
                <a:solidFill>
                  <a:srgbClr val="B02532"/>
                </a:solidFill>
                <a:latin typeface="Palatino Linotype" pitchFamily="34" charset="0"/>
                <a:ea typeface="Palatino Linotype" pitchFamily="34" charset="-122"/>
                <a:cs typeface="Palatino Linotype" pitchFamily="34" charset="-120"/>
              </a:rPr>
              <a:t>0,67</a:t>
            </a:r>
            <a:endParaRPr lang="en-US" sz="1300" dirty="0"/>
          </a:p>
        </p:txBody>
      </p:sp>
      <p:sp>
        <p:nvSpPr>
          <p:cNvPr id="14" name="Shape 12"/>
          <p:cNvSpPr/>
          <p:nvPr/>
        </p:nvSpPr>
        <p:spPr>
          <a:xfrm>
            <a:off x="6903720" y="1645920"/>
            <a:ext cx="64008" cy="731520"/>
          </a:xfrm>
          <a:prstGeom prst="rect">
            <a:avLst/>
          </a:prstGeom>
          <a:solidFill>
            <a:srgbClr val="B02532"/>
          </a:solidFill>
          <a:ln w="12700">
            <a:solidFill>
              <a:srgbClr val="B02532"/>
            </a:solidFill>
            <a:prstDash val="solid"/>
          </a:ln>
        </p:spPr>
        <p:txBody>
          <a:bodyPr/>
          <a:p/>
        </p:txBody>
      </p:sp>
      <p:sp>
        <p:nvSpPr>
          <p:cNvPr id="15" name="Text 13"/>
          <p:cNvSpPr/>
          <p:nvPr/>
        </p:nvSpPr>
        <p:spPr>
          <a:xfrm>
            <a:off x="7132320" y="1600200"/>
            <a:ext cx="4434840" cy="850392"/>
          </a:xfrm>
          <a:prstGeom prst="rect">
            <a:avLst/>
          </a:prstGeom>
          <a:noFill/>
          <a:ln/>
        </p:spPr>
        <p:txBody>
          <a:bodyPr wrap="square" lIns="0" tIns="0" rIns="0" bIns="0" rtlCol="0" anchor="t"/>
          <a:lstStyle/>
          <a:p>
            <a:pPr indent="0" marL="0">
              <a:buNone/>
            </a:pPr>
            <a:r>
              <a:rPr lang="en-US" sz="1500" dirty="0">
                <a:solidFill>
                  <a:srgbClr val="11121A"/>
                </a:solidFill>
                <a:latin typeface="Palatino Linotype" pitchFamily="34" charset="0"/>
                <a:ea typeface="Palatino Linotype" pitchFamily="34" charset="-122"/>
                <a:cs typeface="Palatino Linotype" pitchFamily="34" charset="-120"/>
              </a:rPr>
              <a:t>Scorul singur nu reduce căderile.</a:t>
            </a:r>
            <a:endParaRPr lang="en-US" sz="1500" dirty="0"/>
          </a:p>
        </p:txBody>
      </p:sp>
      <p:sp>
        <p:nvSpPr>
          <p:cNvPr id="16" name="Shape 14"/>
          <p:cNvSpPr/>
          <p:nvPr/>
        </p:nvSpPr>
        <p:spPr>
          <a:xfrm>
            <a:off x="6903720" y="2606040"/>
            <a:ext cx="64008" cy="731520"/>
          </a:xfrm>
          <a:prstGeom prst="rect">
            <a:avLst/>
          </a:prstGeom>
          <a:solidFill>
            <a:srgbClr val="8A6100"/>
          </a:solidFill>
          <a:ln w="12700">
            <a:solidFill>
              <a:srgbClr val="8A6100"/>
            </a:solidFill>
            <a:prstDash val="solid"/>
          </a:ln>
        </p:spPr>
        <p:txBody>
          <a:bodyPr/>
          <a:p/>
        </p:txBody>
      </p:sp>
      <p:sp>
        <p:nvSpPr>
          <p:cNvPr id="17" name="Text 15"/>
          <p:cNvSpPr/>
          <p:nvPr/>
        </p:nvSpPr>
        <p:spPr>
          <a:xfrm>
            <a:off x="7132320" y="2560320"/>
            <a:ext cx="4434840" cy="850392"/>
          </a:xfrm>
          <a:prstGeom prst="rect">
            <a:avLst/>
          </a:prstGeom>
          <a:noFill/>
          <a:ln/>
        </p:spPr>
        <p:txBody>
          <a:bodyPr wrap="square" lIns="0" tIns="0" rIns="0" bIns="0" rtlCol="0" anchor="t"/>
          <a:lstStyle/>
          <a:p>
            <a:pPr indent="0" marL="0">
              <a:buNone/>
            </a:pPr>
            <a:r>
              <a:rPr lang="en-US" sz="1500" dirty="0">
                <a:solidFill>
                  <a:srgbClr val="11121A"/>
                </a:solidFill>
                <a:latin typeface="Palatino Linotype" pitchFamily="34" charset="0"/>
                <a:ea typeface="Palatino Linotype" pitchFamily="34" charset="-122"/>
                <a:cs typeface="Palatino Linotype" pitchFamily="34" charset="-120"/>
              </a:rPr>
              <a:t>Alarmele cu senzori: efect incert, certitudine foarte scăzută.</a:t>
            </a:r>
            <a:endParaRPr lang="en-US" sz="1500" dirty="0"/>
          </a:p>
        </p:txBody>
      </p:sp>
      <p:sp>
        <p:nvSpPr>
          <p:cNvPr id="18" name="Shape 16"/>
          <p:cNvSpPr/>
          <p:nvPr/>
        </p:nvSpPr>
        <p:spPr>
          <a:xfrm>
            <a:off x="6903720" y="3566160"/>
            <a:ext cx="64008" cy="731520"/>
          </a:xfrm>
          <a:prstGeom prst="rect">
            <a:avLst/>
          </a:prstGeom>
          <a:solidFill>
            <a:srgbClr val="4A2D8C"/>
          </a:solidFill>
          <a:ln w="12700">
            <a:solidFill>
              <a:srgbClr val="4A2D8C"/>
            </a:solidFill>
            <a:prstDash val="solid"/>
          </a:ln>
        </p:spPr>
        <p:txBody>
          <a:bodyPr/>
          <a:p/>
        </p:txBody>
      </p:sp>
      <p:sp>
        <p:nvSpPr>
          <p:cNvPr id="19" name="Text 17"/>
          <p:cNvSpPr/>
          <p:nvPr/>
        </p:nvSpPr>
        <p:spPr>
          <a:xfrm>
            <a:off x="7132320" y="3520440"/>
            <a:ext cx="4434840" cy="850392"/>
          </a:xfrm>
          <a:prstGeom prst="rect">
            <a:avLst/>
          </a:prstGeom>
          <a:noFill/>
          <a:ln/>
        </p:spPr>
        <p:txBody>
          <a:bodyPr wrap="square" lIns="0" tIns="0" rIns="0" bIns="0" rtlCol="0" anchor="t"/>
          <a:lstStyle/>
          <a:p>
            <a:pPr indent="0" marL="0">
              <a:buNone/>
            </a:pPr>
            <a:r>
              <a:rPr lang="en-US" sz="1500" dirty="0">
                <a:solidFill>
                  <a:srgbClr val="11121A"/>
                </a:solidFill>
                <a:latin typeface="Palatino Linotype" pitchFamily="34" charset="0"/>
                <a:ea typeface="Palatino Linotype" pitchFamily="34" charset="-122"/>
                <a:cs typeface="Palatino Linotype" pitchFamily="34" charset="-120"/>
              </a:rPr>
              <a:t>Interdicția de a merge singur: neevaluată separat; contrazice recuperarea.</a:t>
            </a:r>
            <a:endParaRPr lang="en-US" sz="1500" dirty="0"/>
          </a:p>
        </p:txBody>
      </p:sp>
      <p:sp>
        <p:nvSpPr>
          <p:cNvPr id="20" name="Text 18"/>
          <p:cNvSpPr/>
          <p:nvPr/>
        </p:nvSpPr>
        <p:spPr>
          <a:xfrm>
            <a:off x="594360" y="4892040"/>
            <a:ext cx="10972800" cy="548640"/>
          </a:xfrm>
          <a:prstGeom prst="rect">
            <a:avLst/>
          </a:prstGeom>
          <a:noFill/>
          <a:ln/>
        </p:spPr>
        <p:txBody>
          <a:bodyPr wrap="square" lIns="0" tIns="0" rIns="0" bIns="0" rtlCol="0" anchor="t"/>
          <a:lstStyle/>
          <a:p>
            <a:pPr indent="0" marL="0">
              <a:buNone/>
            </a:pPr>
            <a:r>
              <a:rPr lang="en-US" sz="1800" b="1" dirty="0">
                <a:solidFill>
                  <a:srgbClr val="B02532"/>
                </a:solidFill>
                <a:latin typeface="Palatino Linotype" pitchFamily="34" charset="0"/>
                <a:ea typeface="Palatino Linotype" pitchFamily="34" charset="-122"/>
                <a:cs typeface="Palatino Linotype" pitchFamily="34" charset="-120"/>
              </a:rPr>
              <a:t>Dovezile nu permit promisiunea unui anumit procent de căderi evitate.</a:t>
            </a:r>
            <a:endParaRPr lang="en-US" sz="1800" dirty="0"/>
          </a:p>
        </p:txBody>
      </p:sp>
      <p:sp>
        <p:nvSpPr>
          <p:cNvPr id="21" name="Text 19"/>
          <p:cNvSpPr/>
          <p:nvPr/>
        </p:nvSpPr>
        <p:spPr>
          <a:xfrm>
            <a:off x="594360" y="6382512"/>
            <a:ext cx="10972800" cy="274320"/>
          </a:xfrm>
          <a:prstGeom prst="rect">
            <a:avLst/>
          </a:prstGeom>
          <a:noFill/>
          <a:ln/>
        </p:spPr>
        <p:txBody>
          <a:bodyPr wrap="square" lIns="0" tIns="0" rIns="0" bIns="0" rtlCol="0" anchor="ctr"/>
          <a:lstStyle/>
          <a:p>
            <a:pPr indent="0" marL="0">
              <a:buNone/>
            </a:pPr>
            <a:r>
              <a:rPr lang="en-US" sz="1000" i="1" dirty="0">
                <a:solidFill>
                  <a:srgbClr val="585A64"/>
                </a:solidFill>
                <a:latin typeface="Palatino Linotype" pitchFamily="34" charset="0"/>
                <a:ea typeface="Palatino Linotype" pitchFamily="34" charset="-122"/>
                <a:cs typeface="Palatino Linotype" pitchFamily="34" charset="-120"/>
              </a:rPr>
              <a:t>Sinteza Cochrane, 2018; ghidul mondial pentru prevenirea căderilor, 2022</a:t>
            </a:r>
            <a:endParaRPr lang="en-US" sz="1000" dirty="0"/>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bg>
      <p:bgPr>
        <a:solidFill>
          <a:srgbClr val="F6F5F2"/>
        </a:solidFill>
      </p:bgPr>
    </p:bg>
    <p:spTree>
      <p:nvGrpSpPr>
        <p:cNvPr id="1" name=""/>
        <p:cNvGrpSpPr/>
        <p:nvPr/>
      </p:nvGrpSpPr>
      <p:grpSpPr>
        <a:xfrm>
          <a:off x="0" y="0"/>
          <a:ext cx="0" cy="0"/>
          <a:chOff x="0" y="0"/>
          <a:chExt cx="0" cy="0"/>
        </a:xfrm>
      </p:grpSpPr>
      <p:sp>
        <p:nvSpPr>
          <p:cNvPr id="2" name="Text 0"/>
          <p:cNvSpPr/>
          <p:nvPr/>
        </p:nvSpPr>
        <p:spPr>
          <a:xfrm>
            <a:off x="594360" y="347472"/>
            <a:ext cx="7680960" cy="329184"/>
          </a:xfrm>
          <a:prstGeom prst="rect">
            <a:avLst/>
          </a:prstGeom>
          <a:noFill/>
          <a:ln/>
        </p:spPr>
        <p:txBody>
          <a:bodyPr wrap="square" lIns="0" tIns="0" rIns="0" bIns="0" rtlCol="0" anchor="t"/>
          <a:lstStyle/>
          <a:p>
            <a:pPr indent="0" marL="0">
              <a:buNone/>
            </a:pPr>
            <a:r>
              <a:rPr lang="en-US" sz="1300" b="1" spc="200" kern="0" dirty="0">
                <a:solidFill>
                  <a:srgbClr val="B02532"/>
                </a:solidFill>
                <a:latin typeface="Palatino Linotype" pitchFamily="34" charset="0"/>
                <a:ea typeface="Palatino Linotype" pitchFamily="34" charset="-122"/>
                <a:cs typeface="Palatino Linotype" pitchFamily="34" charset="-120"/>
              </a:rPr>
              <a:t>REZULTATELE RAPORTATE DE PACIENT</a:t>
            </a:r>
            <a:endParaRPr lang="en-US" sz="1300" dirty="0"/>
          </a:p>
        </p:txBody>
      </p:sp>
      <p:sp>
        <p:nvSpPr>
          <p:cNvPr id="3" name="Text 1"/>
          <p:cNvSpPr/>
          <p:nvPr/>
        </p:nvSpPr>
        <p:spPr>
          <a:xfrm>
            <a:off x="594360" y="713232"/>
            <a:ext cx="10972800" cy="914400"/>
          </a:xfrm>
          <a:prstGeom prst="rect">
            <a:avLst/>
          </a:prstGeom>
          <a:noFill/>
          <a:ln/>
        </p:spPr>
        <p:txBody>
          <a:bodyPr wrap="square" lIns="0" tIns="0" rIns="0" bIns="0" rtlCol="0" anchor="t"/>
          <a:lstStyle/>
          <a:p>
            <a:pPr indent="0" marL="0">
              <a:buNone/>
            </a:pPr>
            <a:r>
              <a:rPr lang="en-US" sz="2900" b="1" dirty="0">
                <a:solidFill>
                  <a:srgbClr val="11121A"/>
                </a:solidFill>
                <a:latin typeface="Palatino Linotype" pitchFamily="34" charset="0"/>
                <a:ea typeface="Palatino Linotype" pitchFamily="34" charset="-122"/>
                <a:cs typeface="Palatino Linotype" pitchFamily="34" charset="-120"/>
              </a:rPr>
              <a:t>Ce vede clinicianul și ce spune pacientul</a:t>
            </a:r>
            <a:endParaRPr lang="en-US" sz="2900" dirty="0"/>
          </a:p>
        </p:txBody>
      </p:sp>
      <p:sp>
        <p:nvSpPr>
          <p:cNvPr id="4" name="Shape 2"/>
          <p:cNvSpPr/>
          <p:nvPr/>
        </p:nvSpPr>
        <p:spPr>
          <a:xfrm>
            <a:off x="594360" y="1554480"/>
            <a:ext cx="5349240" cy="1600200"/>
          </a:xfrm>
          <a:prstGeom prst="roundRect">
            <a:avLst>
              <a:gd name="adj" fmla="val 5143"/>
            </a:avLst>
          </a:prstGeom>
          <a:solidFill>
            <a:srgbClr val="ECEAE4"/>
          </a:solidFill>
          <a:ln w="12700">
            <a:solidFill>
              <a:srgbClr val="ECEAE4"/>
            </a:solidFill>
            <a:prstDash val="solid"/>
          </a:ln>
        </p:spPr>
        <p:txBody>
          <a:bodyPr/>
          <a:p/>
        </p:txBody>
      </p:sp>
      <p:sp>
        <p:nvSpPr>
          <p:cNvPr id="5" name="Shape 3"/>
          <p:cNvSpPr/>
          <p:nvPr/>
        </p:nvSpPr>
        <p:spPr>
          <a:xfrm>
            <a:off x="6217920" y="1554480"/>
            <a:ext cx="5349240" cy="1600200"/>
          </a:xfrm>
          <a:prstGeom prst="roundRect">
            <a:avLst>
              <a:gd name="adj" fmla="val 5143"/>
            </a:avLst>
          </a:prstGeom>
          <a:solidFill>
            <a:srgbClr val="F4E0E2"/>
          </a:solidFill>
          <a:ln w="12700">
            <a:solidFill>
              <a:srgbClr val="F4E0E2"/>
            </a:solidFill>
            <a:prstDash val="solid"/>
          </a:ln>
        </p:spPr>
        <p:txBody>
          <a:bodyPr/>
          <a:p/>
        </p:txBody>
      </p:sp>
      <p:sp>
        <p:nvSpPr>
          <p:cNvPr id="6" name="Text 4"/>
          <p:cNvSpPr/>
          <p:nvPr/>
        </p:nvSpPr>
        <p:spPr>
          <a:xfrm>
            <a:off x="822960" y="1664208"/>
            <a:ext cx="4937760" cy="320040"/>
          </a:xfrm>
          <a:prstGeom prst="rect">
            <a:avLst/>
          </a:prstGeom>
          <a:noFill/>
          <a:ln/>
        </p:spPr>
        <p:txBody>
          <a:bodyPr wrap="square" lIns="0" tIns="0" rIns="0" bIns="0" rtlCol="0" anchor="t"/>
          <a:lstStyle/>
          <a:p>
            <a:pPr indent="0" marL="0">
              <a:buNone/>
            </a:pPr>
            <a:r>
              <a:rPr lang="en-US" sz="1200" b="1" spc="100" kern="0" dirty="0">
                <a:solidFill>
                  <a:srgbClr val="585A64"/>
                </a:solidFill>
                <a:latin typeface="Palatino Linotype" pitchFamily="34" charset="0"/>
                <a:ea typeface="Palatino Linotype" pitchFamily="34" charset="-122"/>
                <a:cs typeface="Palatino Linotype" pitchFamily="34" charset="-120"/>
              </a:rPr>
              <a:t>FIȘA FIZIOTERAPEUTULUI</a:t>
            </a:r>
            <a:endParaRPr lang="en-US" sz="1200" dirty="0"/>
          </a:p>
        </p:txBody>
      </p:sp>
      <p:sp>
        <p:nvSpPr>
          <p:cNvPr id="7" name="Text 5"/>
          <p:cNvSpPr/>
          <p:nvPr/>
        </p:nvSpPr>
        <p:spPr>
          <a:xfrm>
            <a:off x="822960" y="2011680"/>
            <a:ext cx="4937760" cy="1051560"/>
          </a:xfrm>
          <a:prstGeom prst="rect">
            <a:avLst/>
          </a:prstGeom>
          <a:noFill/>
          <a:ln/>
        </p:spPr>
        <p:txBody>
          <a:bodyPr wrap="square" lIns="0" tIns="0" rIns="0" bIns="0" rtlCol="0" anchor="t"/>
          <a:lstStyle/>
          <a:p>
            <a:pPr indent="0" marL="0">
              <a:buNone/>
            </a:pPr>
            <a:r>
              <a:rPr lang="en-US" sz="1600" dirty="0">
                <a:solidFill>
                  <a:srgbClr val="11121A"/>
                </a:solidFill>
                <a:latin typeface="Palatino Linotype" pitchFamily="34" charset="0"/>
                <a:ea typeface="Palatino Linotype" pitchFamily="34" charset="-122"/>
                <a:cs typeface="Palatino Linotype" pitchFamily="34" charset="-120"/>
              </a:rPr>
              <a:t>Se ridică singur, merge cu cadrul, urcă trei trepte cu sprijin.</a:t>
            </a:r>
            <a:endParaRPr lang="en-US" sz="1600" dirty="0"/>
          </a:p>
        </p:txBody>
      </p:sp>
      <p:sp>
        <p:nvSpPr>
          <p:cNvPr id="8" name="Text 6"/>
          <p:cNvSpPr/>
          <p:nvPr/>
        </p:nvSpPr>
        <p:spPr>
          <a:xfrm>
            <a:off x="6446520" y="1664208"/>
            <a:ext cx="4937760" cy="320040"/>
          </a:xfrm>
          <a:prstGeom prst="rect">
            <a:avLst/>
          </a:prstGeom>
          <a:noFill/>
          <a:ln/>
        </p:spPr>
        <p:txBody>
          <a:bodyPr wrap="square" lIns="0" tIns="0" rIns="0" bIns="0" rtlCol="0" anchor="t"/>
          <a:lstStyle/>
          <a:p>
            <a:pPr indent="0" marL="0">
              <a:buNone/>
            </a:pPr>
            <a:r>
              <a:rPr lang="en-US" sz="1200" b="1" spc="100" kern="0" dirty="0">
                <a:solidFill>
                  <a:srgbClr val="B02532"/>
                </a:solidFill>
                <a:latin typeface="Palatino Linotype" pitchFamily="34" charset="0"/>
                <a:ea typeface="Palatino Linotype" pitchFamily="34" charset="-122"/>
                <a:cs typeface="Palatino Linotype" pitchFamily="34" charset="-120"/>
              </a:rPr>
              <a:t>DOMNUL E.</a:t>
            </a:r>
            <a:endParaRPr lang="en-US" sz="1200" dirty="0"/>
          </a:p>
        </p:txBody>
      </p:sp>
      <p:sp>
        <p:nvSpPr>
          <p:cNvPr id="9" name="Text 7"/>
          <p:cNvSpPr/>
          <p:nvPr/>
        </p:nvSpPr>
        <p:spPr>
          <a:xfrm>
            <a:off x="6446520" y="2011680"/>
            <a:ext cx="4937760" cy="1051560"/>
          </a:xfrm>
          <a:prstGeom prst="rect">
            <a:avLst/>
          </a:prstGeom>
          <a:noFill/>
          <a:ln/>
        </p:spPr>
        <p:txBody>
          <a:bodyPr wrap="square" lIns="0" tIns="0" rIns="0" bIns="0" rtlCol="0" anchor="t"/>
          <a:lstStyle/>
          <a:p>
            <a:pPr indent="0" marL="0">
              <a:buNone/>
            </a:pPr>
            <a:r>
              <a:rPr lang="en-US" sz="1600" dirty="0">
                <a:solidFill>
                  <a:srgbClr val="11121A"/>
                </a:solidFill>
                <a:latin typeface="Palatino Linotype" pitchFamily="34" charset="0"/>
                <a:ea typeface="Palatino Linotype" pitchFamily="34" charset="-122"/>
                <a:cs typeface="Palatino Linotype" pitchFamily="34" charset="-120"/>
              </a:rPr>
              <a:t>Îi este frică să iasă singur din casă.</a:t>
            </a:r>
            <a:endParaRPr lang="en-US" sz="1600" dirty="0"/>
          </a:p>
        </p:txBody>
      </p:sp>
      <p:sp>
        <p:nvSpPr>
          <p:cNvPr id="10" name="Shape 8"/>
          <p:cNvSpPr/>
          <p:nvPr/>
        </p:nvSpPr>
        <p:spPr>
          <a:xfrm>
            <a:off x="594360" y="3337560"/>
            <a:ext cx="10972800" cy="1371600"/>
          </a:xfrm>
          <a:prstGeom prst="roundRect">
            <a:avLst>
              <a:gd name="adj" fmla="val 6000"/>
            </a:avLst>
          </a:prstGeom>
          <a:solidFill>
            <a:srgbClr val="E1F0EC"/>
          </a:solidFill>
          <a:ln w="12700">
            <a:solidFill>
              <a:srgbClr val="E1F0EC"/>
            </a:solidFill>
            <a:prstDash val="solid"/>
          </a:ln>
        </p:spPr>
        <p:txBody>
          <a:bodyPr/>
          <a:p/>
        </p:txBody>
      </p:sp>
      <p:sp>
        <p:nvSpPr>
          <p:cNvPr id="11" name="Shape 9"/>
          <p:cNvSpPr/>
          <p:nvPr/>
        </p:nvSpPr>
        <p:spPr>
          <a:xfrm>
            <a:off x="822960" y="3520440"/>
            <a:ext cx="1737360" cy="329184"/>
          </a:xfrm>
          <a:prstGeom prst="roundRect">
            <a:avLst>
              <a:gd name="adj" fmla="val 50000"/>
            </a:avLst>
          </a:prstGeom>
          <a:solidFill>
            <a:srgbClr val="0E7C6B"/>
          </a:solidFill>
          <a:ln w="12700">
            <a:solidFill>
              <a:srgbClr val="0E7C6B"/>
            </a:solidFill>
            <a:prstDash val="solid"/>
          </a:ln>
        </p:spPr>
        <p:txBody>
          <a:bodyPr/>
          <a:p/>
        </p:txBody>
      </p:sp>
      <p:sp>
        <p:nvSpPr>
          <p:cNvPr id="12" name="Text 10"/>
          <p:cNvSpPr/>
          <p:nvPr/>
        </p:nvSpPr>
        <p:spPr>
          <a:xfrm>
            <a:off x="822960" y="3520440"/>
            <a:ext cx="1737360" cy="329184"/>
          </a:xfrm>
          <a:prstGeom prst="rect">
            <a:avLst/>
          </a:prstGeom>
          <a:noFill/>
          <a:ln/>
        </p:spPr>
        <p:txBody>
          <a:bodyPr wrap="square" lIns="0" tIns="0" rIns="0" bIns="0" rtlCol="0" anchor="ctr"/>
          <a:lstStyle/>
          <a:p>
            <a:pPr algn="ctr" indent="0" marL="0">
              <a:buNone/>
            </a:pPr>
            <a:r>
              <a:rPr lang="en-US" sz="1100" b="1" dirty="0">
                <a:solidFill>
                  <a:srgbClr val="FFFFFF"/>
                </a:solidFill>
                <a:latin typeface="Palatino Linotype" pitchFamily="34" charset="0"/>
                <a:ea typeface="Palatino Linotype" pitchFamily="34" charset="-122"/>
                <a:cs typeface="Palatino Linotype" pitchFamily="34" charset="-120"/>
              </a:rPr>
              <a:t>TERMEN NOU</a:t>
            </a:r>
            <a:endParaRPr lang="en-US" sz="1100" dirty="0"/>
          </a:p>
        </p:txBody>
      </p:sp>
      <p:sp>
        <p:nvSpPr>
          <p:cNvPr id="13" name="Text 11"/>
          <p:cNvSpPr/>
          <p:nvPr/>
        </p:nvSpPr>
        <p:spPr>
          <a:xfrm>
            <a:off x="822960" y="3959352"/>
            <a:ext cx="10515600" cy="640080"/>
          </a:xfrm>
          <a:prstGeom prst="rect">
            <a:avLst/>
          </a:prstGeom>
          <a:noFill/>
          <a:ln/>
        </p:spPr>
        <p:txBody>
          <a:bodyPr wrap="square" lIns="0" tIns="0" rIns="0" bIns="0" rtlCol="0" anchor="t"/>
          <a:lstStyle/>
          <a:p>
            <a:pPr indent="0" marL="0">
              <a:buNone/>
            </a:pPr>
            <a:r>
              <a:rPr lang="en-US" sz="1600" b="1" dirty="0">
                <a:solidFill>
                  <a:srgbClr val="11121A"/>
                </a:solidFill>
                <a:latin typeface="Palatino Linotype" pitchFamily="34" charset="0"/>
                <a:ea typeface="Palatino Linotype" pitchFamily="34" charset="-122"/>
                <a:cs typeface="Palatino Linotype" pitchFamily="34" charset="-120"/>
              </a:rPr>
              <a:t>Rezultat raportat de pacient: </a:t>
            </a:r>
            <a:pPr indent="0" marL="0">
              <a:buNone/>
            </a:pPr>
            <a:r>
              <a:rPr lang="en-US" sz="1600" dirty="0">
                <a:solidFill>
                  <a:srgbClr val="11121A"/>
                </a:solidFill>
                <a:latin typeface="Palatino Linotype" pitchFamily="34" charset="0"/>
                <a:ea typeface="Palatino Linotype" pitchFamily="34" charset="-122"/>
                <a:cs typeface="Palatino Linotype" pitchFamily="34" charset="-120"/>
              </a:rPr>
              <a:t>un rezultat de sănătate (simptom, calitate a vieții, funcționare) relatat direct de pacient și măsurat printr-un chestionar standardizat.</a:t>
            </a:r>
            <a:endParaRPr lang="en-US" sz="1600" dirty="0"/>
          </a:p>
        </p:txBody>
      </p:sp>
      <p:sp>
        <p:nvSpPr>
          <p:cNvPr id="14" name="Text 12"/>
          <p:cNvSpPr/>
          <p:nvPr/>
        </p:nvSpPr>
        <p:spPr>
          <a:xfrm>
            <a:off x="594360" y="4937760"/>
            <a:ext cx="10972800" cy="731520"/>
          </a:xfrm>
          <a:prstGeom prst="rect">
            <a:avLst/>
          </a:prstGeom>
          <a:noFill/>
          <a:ln/>
        </p:spPr>
        <p:txBody>
          <a:bodyPr wrap="square" lIns="0" tIns="0" rIns="0" bIns="0" rtlCol="0" anchor="t"/>
          <a:lstStyle/>
          <a:p>
            <a:pPr indent="0" marL="0">
              <a:buNone/>
            </a:pPr>
            <a:r>
              <a:rPr lang="en-US" sz="1600" b="1" dirty="0">
                <a:solidFill>
                  <a:srgbClr val="11121A"/>
                </a:solidFill>
                <a:latin typeface="Palatino Linotype" pitchFamily="34" charset="0"/>
                <a:ea typeface="Palatino Linotype" pitchFamily="34" charset="-122"/>
                <a:cs typeface="Palatino Linotype" pitchFamily="34" charset="-120"/>
              </a:rPr>
              <a:t>Generice </a:t>
            </a:r>
            <a:pPr indent="0" marL="0">
              <a:buNone/>
            </a:pPr>
            <a:r>
              <a:rPr lang="en-US" sz="1600" dirty="0">
                <a:solidFill>
                  <a:srgbClr val="11121A"/>
                </a:solidFill>
                <a:latin typeface="Palatino Linotype" pitchFamily="34" charset="0"/>
                <a:ea typeface="Palatino Linotype" pitchFamily="34" charset="-122"/>
                <a:cs typeface="Palatino Linotype" pitchFamily="34" charset="-120"/>
              </a:rPr>
              <a:t>(de exemplu, EQ-5D): comparații între afecțiuni.  </a:t>
            </a:r>
            <a:pPr indent="0" marL="0">
              <a:buNone/>
            </a:pPr>
            <a:r>
              <a:rPr lang="en-US" sz="1600" b="1" dirty="0">
                <a:solidFill>
                  <a:srgbClr val="11121A"/>
                </a:solidFill>
                <a:latin typeface="Palatino Linotype" pitchFamily="34" charset="0"/>
                <a:ea typeface="Palatino Linotype" pitchFamily="34" charset="-122"/>
                <a:cs typeface="Palatino Linotype" pitchFamily="34" charset="-120"/>
              </a:rPr>
              <a:t>Specifice unei afecțiuni: </a:t>
            </a:r>
            <a:pPr indent="0" marL="0">
              <a:buNone/>
            </a:pPr>
            <a:r>
              <a:rPr lang="en-US" sz="1600" dirty="0">
                <a:solidFill>
                  <a:srgbClr val="11121A"/>
                </a:solidFill>
                <a:latin typeface="Palatino Linotype" pitchFamily="34" charset="0"/>
                <a:ea typeface="Palatino Linotype" pitchFamily="34" charset="-122"/>
                <a:cs typeface="Palatino Linotype" pitchFamily="34" charset="-120"/>
              </a:rPr>
              <a:t>mai sensibile la schimbare.</a:t>
            </a:r>
            <a:endParaRPr lang="en-US" sz="1600" dirty="0"/>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bg>
      <p:bgPr>
        <a:solidFill>
          <a:srgbClr val="11121A"/>
        </a:solidFill>
      </p:bgPr>
    </p:bg>
    <p:spTree>
      <p:nvGrpSpPr>
        <p:cNvPr id="1" name=""/>
        <p:cNvGrpSpPr/>
        <p:nvPr/>
      </p:nvGrpSpPr>
      <p:grpSpPr>
        <a:xfrm>
          <a:off x="0" y="0"/>
          <a:ext cx="0" cy="0"/>
          <a:chOff x="0" y="0"/>
          <a:chExt cx="0" cy="0"/>
        </a:xfrm>
      </p:grpSpPr>
      <p:sp>
        <p:nvSpPr>
          <p:cNvPr id="2" name="Shape 0"/>
          <p:cNvSpPr/>
          <p:nvPr/>
        </p:nvSpPr>
        <p:spPr>
          <a:xfrm>
            <a:off x="8366760" y="292608"/>
            <a:ext cx="3200400" cy="420624"/>
          </a:xfrm>
          <a:prstGeom prst="roundRect">
            <a:avLst>
              <a:gd name="adj" fmla="val 50000"/>
            </a:avLst>
          </a:prstGeom>
          <a:solidFill>
            <a:srgbClr val="FFC24B"/>
          </a:solidFill>
          <a:ln w="12700">
            <a:solidFill>
              <a:srgbClr val="FFC24B"/>
            </a:solidFill>
            <a:prstDash val="solid"/>
          </a:ln>
        </p:spPr>
        <p:txBody>
          <a:bodyPr/>
          <a:p/>
        </p:txBody>
      </p:sp>
      <p:sp>
        <p:nvSpPr>
          <p:cNvPr id="3" name="Text 1"/>
          <p:cNvSpPr/>
          <p:nvPr/>
        </p:nvSpPr>
        <p:spPr>
          <a:xfrm>
            <a:off x="8366760" y="292608"/>
            <a:ext cx="3200400" cy="420624"/>
          </a:xfrm>
          <a:prstGeom prst="rect">
            <a:avLst/>
          </a:prstGeom>
          <a:noFill/>
          <a:ln/>
        </p:spPr>
        <p:txBody>
          <a:bodyPr wrap="square" lIns="0" tIns="0" rIns="0" bIns="0" rtlCol="0" anchor="ctr"/>
          <a:lstStyle/>
          <a:p>
            <a:pPr algn="ctr" indent="0" marL="0">
              <a:buNone/>
            </a:pPr>
            <a:r>
              <a:rPr lang="en-US" sz="1300" b="1" dirty="0">
                <a:solidFill>
                  <a:srgbClr val="11121A"/>
                </a:solidFill>
                <a:latin typeface="Palatino Linotype" pitchFamily="34" charset="0"/>
                <a:ea typeface="Palatino Linotype" pitchFamily="34" charset="-122"/>
                <a:cs typeface="Palatino Linotype" pitchFamily="34" charset="-120"/>
              </a:rPr>
              <a:t>MENTIMETER · VOT</a:t>
            </a:r>
            <a:endParaRPr lang="en-US" sz="1300" dirty="0"/>
          </a:p>
        </p:txBody>
      </p:sp>
      <p:sp>
        <p:nvSpPr>
          <p:cNvPr id="4" name="Text 2"/>
          <p:cNvSpPr/>
          <p:nvPr/>
        </p:nvSpPr>
        <p:spPr>
          <a:xfrm>
            <a:off x="594360" y="347472"/>
            <a:ext cx="7680960" cy="329184"/>
          </a:xfrm>
          <a:prstGeom prst="rect">
            <a:avLst/>
          </a:prstGeom>
          <a:noFill/>
          <a:ln/>
        </p:spPr>
        <p:txBody>
          <a:bodyPr wrap="square" lIns="0" tIns="0" rIns="0" bIns="0" rtlCol="0" anchor="t"/>
          <a:lstStyle/>
          <a:p>
            <a:pPr indent="0" marL="0">
              <a:buNone/>
            </a:pPr>
            <a:r>
              <a:rPr lang="en-US" sz="1300" b="1" spc="200" kern="0" dirty="0">
                <a:solidFill>
                  <a:srgbClr val="27D3BE"/>
                </a:solidFill>
                <a:latin typeface="Palatino Linotype" pitchFamily="34" charset="0"/>
                <a:ea typeface="Palatino Linotype" pitchFamily="34" charset="-122"/>
                <a:cs typeface="Palatino Linotype" pitchFamily="34" charset="-120"/>
              </a:rPr>
              <a:t>VOTUL DESPRE REZULTATE</a:t>
            </a:r>
            <a:endParaRPr lang="en-US" sz="1300" dirty="0"/>
          </a:p>
        </p:txBody>
      </p:sp>
      <p:sp>
        <p:nvSpPr>
          <p:cNvPr id="5" name="Text 3"/>
          <p:cNvSpPr/>
          <p:nvPr/>
        </p:nvSpPr>
        <p:spPr>
          <a:xfrm>
            <a:off x="594360" y="914400"/>
            <a:ext cx="10972800" cy="914400"/>
          </a:xfrm>
          <a:prstGeom prst="rect">
            <a:avLst/>
          </a:prstGeom>
          <a:noFill/>
          <a:ln/>
        </p:spPr>
        <p:txBody>
          <a:bodyPr wrap="square" lIns="0" tIns="0" rIns="0" bIns="0" rtlCol="0" anchor="t"/>
          <a:lstStyle/>
          <a:p>
            <a:pPr indent="0" marL="0">
              <a:buNone/>
            </a:pPr>
            <a:r>
              <a:rPr lang="en-US" sz="2700" b="1" dirty="0">
                <a:solidFill>
                  <a:srgbClr val="FFFFFF"/>
                </a:solidFill>
                <a:latin typeface="Palatino Linotype" pitchFamily="34" charset="0"/>
                <a:ea typeface="Palatino Linotype" pitchFamily="34" charset="-122"/>
                <a:cs typeface="Palatino Linotype" pitchFamily="34" charset="-120"/>
              </a:rPr>
              <a:t>Care dintre următoarele este un rezultat raportat de pacient?</a:t>
            </a:r>
            <a:endParaRPr lang="en-US" sz="2700" dirty="0"/>
          </a:p>
        </p:txBody>
      </p:sp>
      <p:sp>
        <p:nvSpPr>
          <p:cNvPr id="6" name="Shape 4"/>
          <p:cNvSpPr/>
          <p:nvPr/>
        </p:nvSpPr>
        <p:spPr>
          <a:xfrm>
            <a:off x="594360" y="2011680"/>
            <a:ext cx="10972800" cy="731520"/>
          </a:xfrm>
          <a:prstGeom prst="roundRect">
            <a:avLst>
              <a:gd name="adj" fmla="val 11250"/>
            </a:avLst>
          </a:prstGeom>
          <a:solidFill>
            <a:srgbClr val="272A38"/>
          </a:solidFill>
          <a:ln w="12700">
            <a:solidFill>
              <a:srgbClr val="272A38"/>
            </a:solidFill>
            <a:prstDash val="solid"/>
          </a:ln>
        </p:spPr>
        <p:txBody>
          <a:bodyPr/>
          <a:p/>
        </p:txBody>
      </p:sp>
      <p:sp>
        <p:nvSpPr>
          <p:cNvPr id="7" name="Shape 5"/>
          <p:cNvSpPr/>
          <p:nvPr/>
        </p:nvSpPr>
        <p:spPr>
          <a:xfrm>
            <a:off x="868680" y="2167128"/>
            <a:ext cx="420624" cy="420624"/>
          </a:xfrm>
          <a:prstGeom prst="ellipse">
            <a:avLst/>
          </a:prstGeom>
          <a:solidFill>
            <a:srgbClr val="FFC24B"/>
          </a:solidFill>
          <a:ln/>
        </p:spPr>
        <p:txBody>
          <a:bodyPr/>
          <a:p/>
        </p:txBody>
      </p:sp>
      <p:sp>
        <p:nvSpPr>
          <p:cNvPr id="8" name="Text 6"/>
          <p:cNvSpPr/>
          <p:nvPr/>
        </p:nvSpPr>
        <p:spPr>
          <a:xfrm>
            <a:off x="868680" y="2167128"/>
            <a:ext cx="420624" cy="420624"/>
          </a:xfrm>
          <a:prstGeom prst="rect">
            <a:avLst/>
          </a:prstGeom>
          <a:noFill/>
          <a:ln/>
        </p:spPr>
        <p:txBody>
          <a:bodyPr wrap="square" lIns="0" tIns="0" rIns="0" bIns="0" rtlCol="0" anchor="ctr"/>
          <a:lstStyle/>
          <a:p>
            <a:pPr algn="ctr" indent="0" marL="0">
              <a:buNone/>
            </a:pPr>
            <a:r>
              <a:rPr lang="en-US" sz="1400" b="1" dirty="0">
                <a:solidFill>
                  <a:srgbClr val="11121A"/>
                </a:solidFill>
                <a:latin typeface="Palatino Linotype" pitchFamily="34" charset="0"/>
                <a:ea typeface="Palatino Linotype" pitchFamily="34" charset="-122"/>
                <a:cs typeface="Palatino Linotype" pitchFamily="34" charset="-120"/>
              </a:rPr>
              <a:t>A</a:t>
            </a:r>
            <a:endParaRPr lang="en-US" sz="1400" dirty="0"/>
          </a:p>
        </p:txBody>
      </p:sp>
      <p:sp>
        <p:nvSpPr>
          <p:cNvPr id="9" name="Text 7"/>
          <p:cNvSpPr/>
          <p:nvPr/>
        </p:nvSpPr>
        <p:spPr>
          <a:xfrm>
            <a:off x="1554480" y="2011680"/>
            <a:ext cx="9784080" cy="731520"/>
          </a:xfrm>
          <a:prstGeom prst="rect">
            <a:avLst/>
          </a:prstGeom>
          <a:noFill/>
          <a:ln/>
        </p:spPr>
        <p:txBody>
          <a:bodyPr wrap="square" lIns="0" tIns="0" rIns="0" bIns="0" rtlCol="0" anchor="ctr"/>
          <a:lstStyle/>
          <a:p>
            <a:pPr indent="0" marL="0">
              <a:buNone/>
            </a:pPr>
            <a:r>
              <a:rPr lang="en-US" sz="1800" dirty="0">
                <a:solidFill>
                  <a:srgbClr val="FFFFFF"/>
                </a:solidFill>
                <a:latin typeface="Palatino Linotype" pitchFamily="34" charset="0"/>
                <a:ea typeface="Palatino Linotype" pitchFamily="34" charset="-122"/>
                <a:cs typeface="Palatino Linotype" pitchFamily="34" charset="-120"/>
              </a:rPr>
              <a:t>Distanța parcursă în șase minute, măsurată de fizioterapeut</a:t>
            </a:r>
            <a:endParaRPr lang="en-US" sz="1800" dirty="0"/>
          </a:p>
        </p:txBody>
      </p:sp>
      <p:sp>
        <p:nvSpPr>
          <p:cNvPr id="10" name="Shape 8"/>
          <p:cNvSpPr/>
          <p:nvPr/>
        </p:nvSpPr>
        <p:spPr>
          <a:xfrm>
            <a:off x="594360" y="2880360"/>
            <a:ext cx="10972800" cy="731520"/>
          </a:xfrm>
          <a:prstGeom prst="roundRect">
            <a:avLst>
              <a:gd name="adj" fmla="val 11250"/>
            </a:avLst>
          </a:prstGeom>
          <a:solidFill>
            <a:srgbClr val="272A38"/>
          </a:solidFill>
          <a:ln w="12700">
            <a:solidFill>
              <a:srgbClr val="272A38"/>
            </a:solidFill>
            <a:prstDash val="solid"/>
          </a:ln>
        </p:spPr>
        <p:txBody>
          <a:bodyPr/>
          <a:p/>
        </p:txBody>
      </p:sp>
      <p:sp>
        <p:nvSpPr>
          <p:cNvPr id="11" name="Shape 9"/>
          <p:cNvSpPr/>
          <p:nvPr/>
        </p:nvSpPr>
        <p:spPr>
          <a:xfrm>
            <a:off x="868680" y="3035808"/>
            <a:ext cx="420624" cy="420624"/>
          </a:xfrm>
          <a:prstGeom prst="ellipse">
            <a:avLst/>
          </a:prstGeom>
          <a:solidFill>
            <a:srgbClr val="FFC24B"/>
          </a:solidFill>
          <a:ln/>
        </p:spPr>
        <p:txBody>
          <a:bodyPr/>
          <a:p/>
        </p:txBody>
      </p:sp>
      <p:sp>
        <p:nvSpPr>
          <p:cNvPr id="12" name="Text 10"/>
          <p:cNvSpPr/>
          <p:nvPr/>
        </p:nvSpPr>
        <p:spPr>
          <a:xfrm>
            <a:off x="868680" y="3035808"/>
            <a:ext cx="420624" cy="420624"/>
          </a:xfrm>
          <a:prstGeom prst="rect">
            <a:avLst/>
          </a:prstGeom>
          <a:noFill/>
          <a:ln/>
        </p:spPr>
        <p:txBody>
          <a:bodyPr wrap="square" lIns="0" tIns="0" rIns="0" bIns="0" rtlCol="0" anchor="ctr"/>
          <a:lstStyle/>
          <a:p>
            <a:pPr algn="ctr" indent="0" marL="0">
              <a:buNone/>
            </a:pPr>
            <a:r>
              <a:rPr lang="en-US" sz="1400" b="1" dirty="0">
                <a:solidFill>
                  <a:srgbClr val="11121A"/>
                </a:solidFill>
                <a:latin typeface="Palatino Linotype" pitchFamily="34" charset="0"/>
                <a:ea typeface="Palatino Linotype" pitchFamily="34" charset="-122"/>
                <a:cs typeface="Palatino Linotype" pitchFamily="34" charset="-120"/>
              </a:rPr>
              <a:t>B</a:t>
            </a:r>
            <a:endParaRPr lang="en-US" sz="1400" dirty="0"/>
          </a:p>
        </p:txBody>
      </p:sp>
      <p:sp>
        <p:nvSpPr>
          <p:cNvPr id="13" name="Text 11"/>
          <p:cNvSpPr/>
          <p:nvPr/>
        </p:nvSpPr>
        <p:spPr>
          <a:xfrm>
            <a:off x="1554480" y="2880360"/>
            <a:ext cx="9784080" cy="731520"/>
          </a:xfrm>
          <a:prstGeom prst="rect">
            <a:avLst/>
          </a:prstGeom>
          <a:noFill/>
          <a:ln/>
        </p:spPr>
        <p:txBody>
          <a:bodyPr wrap="square" lIns="0" tIns="0" rIns="0" bIns="0" rtlCol="0" anchor="ctr"/>
          <a:lstStyle/>
          <a:p>
            <a:pPr indent="0" marL="0">
              <a:buNone/>
            </a:pPr>
            <a:r>
              <a:rPr lang="en-US" sz="1800" dirty="0">
                <a:solidFill>
                  <a:srgbClr val="FFFFFF"/>
                </a:solidFill>
                <a:latin typeface="Palatino Linotype" pitchFamily="34" charset="0"/>
                <a:ea typeface="Palatino Linotype" pitchFamily="34" charset="-122"/>
                <a:cs typeface="Palatino Linotype" pitchFamily="34" charset="-120"/>
              </a:rPr>
              <a:t>Scorul la un chestionar standardizat despre cât îl împiedică durerea în activitățile zilnice</a:t>
            </a:r>
            <a:endParaRPr lang="en-US" sz="1800" dirty="0"/>
          </a:p>
        </p:txBody>
      </p:sp>
      <p:sp>
        <p:nvSpPr>
          <p:cNvPr id="14" name="Shape 12"/>
          <p:cNvSpPr/>
          <p:nvPr/>
        </p:nvSpPr>
        <p:spPr>
          <a:xfrm>
            <a:off x="594360" y="3749040"/>
            <a:ext cx="10972800" cy="731520"/>
          </a:xfrm>
          <a:prstGeom prst="roundRect">
            <a:avLst>
              <a:gd name="adj" fmla="val 11250"/>
            </a:avLst>
          </a:prstGeom>
          <a:solidFill>
            <a:srgbClr val="272A38"/>
          </a:solidFill>
          <a:ln w="12700">
            <a:solidFill>
              <a:srgbClr val="272A38"/>
            </a:solidFill>
            <a:prstDash val="solid"/>
          </a:ln>
        </p:spPr>
        <p:txBody>
          <a:bodyPr/>
          <a:p/>
        </p:txBody>
      </p:sp>
      <p:sp>
        <p:nvSpPr>
          <p:cNvPr id="15" name="Shape 13"/>
          <p:cNvSpPr/>
          <p:nvPr/>
        </p:nvSpPr>
        <p:spPr>
          <a:xfrm>
            <a:off x="868680" y="3904488"/>
            <a:ext cx="420624" cy="420624"/>
          </a:xfrm>
          <a:prstGeom prst="ellipse">
            <a:avLst/>
          </a:prstGeom>
          <a:solidFill>
            <a:srgbClr val="FFC24B"/>
          </a:solidFill>
          <a:ln/>
        </p:spPr>
        <p:txBody>
          <a:bodyPr/>
          <a:p/>
        </p:txBody>
      </p:sp>
      <p:sp>
        <p:nvSpPr>
          <p:cNvPr id="16" name="Text 14"/>
          <p:cNvSpPr/>
          <p:nvPr/>
        </p:nvSpPr>
        <p:spPr>
          <a:xfrm>
            <a:off x="868680" y="3904488"/>
            <a:ext cx="420624" cy="420624"/>
          </a:xfrm>
          <a:prstGeom prst="rect">
            <a:avLst/>
          </a:prstGeom>
          <a:noFill/>
          <a:ln/>
        </p:spPr>
        <p:txBody>
          <a:bodyPr wrap="square" lIns="0" tIns="0" rIns="0" bIns="0" rtlCol="0" anchor="ctr"/>
          <a:lstStyle/>
          <a:p>
            <a:pPr algn="ctr" indent="0" marL="0">
              <a:buNone/>
            </a:pPr>
            <a:r>
              <a:rPr lang="en-US" sz="1400" b="1" dirty="0">
                <a:solidFill>
                  <a:srgbClr val="11121A"/>
                </a:solidFill>
                <a:latin typeface="Palatino Linotype" pitchFamily="34" charset="0"/>
                <a:ea typeface="Palatino Linotype" pitchFamily="34" charset="-122"/>
                <a:cs typeface="Palatino Linotype" pitchFamily="34" charset="-120"/>
              </a:rPr>
              <a:t>C</a:t>
            </a:r>
            <a:endParaRPr lang="en-US" sz="1400" dirty="0"/>
          </a:p>
        </p:txBody>
      </p:sp>
      <p:sp>
        <p:nvSpPr>
          <p:cNvPr id="17" name="Text 15"/>
          <p:cNvSpPr/>
          <p:nvPr/>
        </p:nvSpPr>
        <p:spPr>
          <a:xfrm>
            <a:off x="1554480" y="3749040"/>
            <a:ext cx="9784080" cy="731520"/>
          </a:xfrm>
          <a:prstGeom prst="rect">
            <a:avLst/>
          </a:prstGeom>
          <a:noFill/>
          <a:ln/>
        </p:spPr>
        <p:txBody>
          <a:bodyPr wrap="square" lIns="0" tIns="0" rIns="0" bIns="0" rtlCol="0" anchor="ctr"/>
          <a:lstStyle/>
          <a:p>
            <a:pPr indent="0" marL="0">
              <a:buNone/>
            </a:pPr>
            <a:r>
              <a:rPr lang="en-US" sz="1800" dirty="0">
                <a:solidFill>
                  <a:srgbClr val="FFFFFF"/>
                </a:solidFill>
                <a:latin typeface="Palatino Linotype" pitchFamily="34" charset="0"/>
                <a:ea typeface="Palatino Linotype" pitchFamily="34" charset="-122"/>
                <a:cs typeface="Palatino Linotype" pitchFamily="34" charset="-120"/>
              </a:rPr>
              <a:t>Numărul ședințelor de recuperare efectuate</a:t>
            </a:r>
            <a:endParaRPr lang="en-US" sz="1800" dirty="0"/>
          </a:p>
        </p:txBody>
      </p:sp>
      <p:sp>
        <p:nvSpPr>
          <p:cNvPr id="18" name="Shape 16"/>
          <p:cNvSpPr/>
          <p:nvPr/>
        </p:nvSpPr>
        <p:spPr>
          <a:xfrm>
            <a:off x="594360" y="4617720"/>
            <a:ext cx="10972800" cy="731520"/>
          </a:xfrm>
          <a:prstGeom prst="roundRect">
            <a:avLst>
              <a:gd name="adj" fmla="val 11250"/>
            </a:avLst>
          </a:prstGeom>
          <a:solidFill>
            <a:srgbClr val="272A38"/>
          </a:solidFill>
          <a:ln w="12700">
            <a:solidFill>
              <a:srgbClr val="272A38"/>
            </a:solidFill>
            <a:prstDash val="solid"/>
          </a:ln>
        </p:spPr>
        <p:txBody>
          <a:bodyPr/>
          <a:p/>
        </p:txBody>
      </p:sp>
      <p:sp>
        <p:nvSpPr>
          <p:cNvPr id="19" name="Shape 17"/>
          <p:cNvSpPr/>
          <p:nvPr/>
        </p:nvSpPr>
        <p:spPr>
          <a:xfrm>
            <a:off x="868680" y="4773168"/>
            <a:ext cx="420624" cy="420624"/>
          </a:xfrm>
          <a:prstGeom prst="ellipse">
            <a:avLst/>
          </a:prstGeom>
          <a:solidFill>
            <a:srgbClr val="FFC24B"/>
          </a:solidFill>
          <a:ln/>
        </p:spPr>
        <p:txBody>
          <a:bodyPr/>
          <a:p/>
        </p:txBody>
      </p:sp>
      <p:sp>
        <p:nvSpPr>
          <p:cNvPr id="20" name="Text 18"/>
          <p:cNvSpPr/>
          <p:nvPr/>
        </p:nvSpPr>
        <p:spPr>
          <a:xfrm>
            <a:off x="868680" y="4773168"/>
            <a:ext cx="420624" cy="420624"/>
          </a:xfrm>
          <a:prstGeom prst="rect">
            <a:avLst/>
          </a:prstGeom>
          <a:noFill/>
          <a:ln/>
        </p:spPr>
        <p:txBody>
          <a:bodyPr wrap="square" lIns="0" tIns="0" rIns="0" bIns="0" rtlCol="0" anchor="ctr"/>
          <a:lstStyle/>
          <a:p>
            <a:pPr algn="ctr" indent="0" marL="0">
              <a:buNone/>
            </a:pPr>
            <a:r>
              <a:rPr lang="en-US" sz="1400" b="1" dirty="0">
                <a:solidFill>
                  <a:srgbClr val="11121A"/>
                </a:solidFill>
                <a:latin typeface="Palatino Linotype" pitchFamily="34" charset="0"/>
                <a:ea typeface="Palatino Linotype" pitchFamily="34" charset="-122"/>
                <a:cs typeface="Palatino Linotype" pitchFamily="34" charset="-120"/>
              </a:rPr>
              <a:t>D</a:t>
            </a:r>
            <a:endParaRPr lang="en-US" sz="1400" dirty="0"/>
          </a:p>
        </p:txBody>
      </p:sp>
      <p:sp>
        <p:nvSpPr>
          <p:cNvPr id="21" name="Text 19"/>
          <p:cNvSpPr/>
          <p:nvPr/>
        </p:nvSpPr>
        <p:spPr>
          <a:xfrm>
            <a:off x="1554480" y="4617720"/>
            <a:ext cx="9784080" cy="731520"/>
          </a:xfrm>
          <a:prstGeom prst="rect">
            <a:avLst/>
          </a:prstGeom>
          <a:noFill/>
          <a:ln/>
        </p:spPr>
        <p:txBody>
          <a:bodyPr wrap="square" lIns="0" tIns="0" rIns="0" bIns="0" rtlCol="0" anchor="ctr"/>
          <a:lstStyle/>
          <a:p>
            <a:pPr indent="0" marL="0">
              <a:buNone/>
            </a:pPr>
            <a:r>
              <a:rPr lang="en-US" sz="1800" dirty="0">
                <a:solidFill>
                  <a:srgbClr val="FFFFFF"/>
                </a:solidFill>
                <a:latin typeface="Palatino Linotype" pitchFamily="34" charset="0"/>
                <a:ea typeface="Palatino Linotype" pitchFamily="34" charset="-122"/>
                <a:cs typeface="Palatino Linotype" pitchFamily="34" charset="-120"/>
              </a:rPr>
              <a:t>Amplitudinea de mișcare a șoldului, măsurată cu goniometrul</a:t>
            </a:r>
            <a:endParaRPr lang="en-US" sz="1800" dirty="0"/>
          </a:p>
        </p:txBody>
      </p:sp>
      <p:sp>
        <p:nvSpPr>
          <p:cNvPr id="22" name="Text 20"/>
          <p:cNvSpPr/>
          <p:nvPr/>
        </p:nvSpPr>
        <p:spPr>
          <a:xfrm>
            <a:off x="594360" y="5669280"/>
            <a:ext cx="8046720" cy="457200"/>
          </a:xfrm>
          <a:prstGeom prst="rect">
            <a:avLst/>
          </a:prstGeom>
          <a:noFill/>
          <a:ln/>
        </p:spPr>
        <p:txBody>
          <a:bodyPr wrap="square" lIns="0" tIns="0" rIns="0" bIns="0" rtlCol="0" anchor="ctr"/>
          <a:lstStyle/>
          <a:p>
            <a:pPr indent="0" marL="0">
              <a:buNone/>
            </a:pPr>
            <a:r>
              <a:rPr lang="en-US" sz="1400" i="1" dirty="0">
                <a:solidFill>
                  <a:srgbClr val="959BB0"/>
                </a:solidFill>
                <a:latin typeface="Palatino Linotype" pitchFamily="34" charset="0"/>
                <a:ea typeface="Palatino Linotype" pitchFamily="34" charset="-122"/>
                <a:cs typeface="Palatino Linotype" pitchFamily="34" charset="-120"/>
              </a:rPr>
              <a:t>Vot anonim.</a:t>
            </a:r>
            <a:endParaRPr lang="en-US" sz="1400" dirty="0"/>
          </a:p>
        </p:txBody>
      </p:sp>
      <p:sp>
        <p:nvSpPr>
          <p:cNvPr id="24" name="Shape 22"/>
          <p:cNvSpPr/>
          <p:nvPr/>
        </p:nvSpPr>
        <p:spPr>
          <a:xfrm>
            <a:off x="8823960" y="5669280"/>
            <a:ext cx="2743200" cy="457200"/>
          </a:xfrm>
          <a:prstGeom prst="roundRect">
            <a:avLst>
              <a:gd name="adj" fmla="val 18000"/>
            </a:avLst>
          </a:prstGeom>
          <a:solidFill>
            <a:srgbClr val="272A38"/>
          </a:solidFill>
          <a:ln w="12700">
            <a:solidFill>
              <a:srgbClr val="272A38"/>
            </a:solidFill>
            <a:prstDash val="solid"/>
          </a:ln>
        </p:spPr>
        <p:txBody>
          <a:bodyPr/>
          <a:p/>
        </p:txBody>
      </p:sp>
      <p:sp>
        <p:nvSpPr>
          <p:cNvPr id="25" name="Text 23"/>
          <p:cNvSpPr/>
          <p:nvPr/>
        </p:nvSpPr>
        <p:spPr>
          <a:xfrm>
            <a:off x="8823960" y="5669280"/>
            <a:ext cx="2743200" cy="457200"/>
          </a:xfrm>
          <a:prstGeom prst="rect">
            <a:avLst/>
          </a:prstGeom>
          <a:noFill/>
          <a:ln/>
        </p:spPr>
        <p:txBody>
          <a:bodyPr wrap="square" lIns="228600" tIns="0" rIns="228600" bIns="0" rtlCol="0" anchor="ctr"/>
          <a:lstStyle/>
          <a:p>
            <a:pPr algn="ctr" indent="0" marL="0">
              <a:buNone/>
            </a:pPr>
            <a:r>
              <a:rPr lang="en-US" sz="1100" b="1" dirty="0" i="1">
                <a:solidFill>
                  <a:srgbClr val="FFC24B"/>
                </a:solidFill>
                <a:latin typeface="Palatino Linotype" pitchFamily="34" charset="0"/>
                <a:ea typeface="Palatino Linotype" pitchFamily="34" charset="-122"/>
                <a:cs typeface="Palatino Linotype" pitchFamily="34" charset="-120"/>
              </a:rPr>
              <a:t>menti.com · codul de pe ecran</a:t>
            </a:r>
            <a:endParaRPr lang="en-US" sz="1200" dirty="0"/>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bg>
      <p:bgPr>
        <a:solidFill>
          <a:srgbClr val="F6F5F2"/>
        </a:solidFill>
      </p:bgPr>
    </p:bg>
    <p:spTree>
      <p:nvGrpSpPr>
        <p:cNvPr id="1" name=""/>
        <p:cNvGrpSpPr/>
        <p:nvPr/>
      </p:nvGrpSpPr>
      <p:grpSpPr>
        <a:xfrm>
          <a:off x="0" y="0"/>
          <a:ext cx="0" cy="0"/>
          <a:chOff x="0" y="0"/>
          <a:chExt cx="0" cy="0"/>
        </a:xfrm>
      </p:grpSpPr>
      <p:sp>
        <p:nvSpPr>
          <p:cNvPr id="2" name="Text 0"/>
          <p:cNvSpPr/>
          <p:nvPr/>
        </p:nvSpPr>
        <p:spPr>
          <a:xfrm>
            <a:off x="594360" y="347472"/>
            <a:ext cx="7680960" cy="329184"/>
          </a:xfrm>
          <a:prstGeom prst="rect">
            <a:avLst/>
          </a:prstGeom>
          <a:noFill/>
          <a:ln/>
        </p:spPr>
        <p:txBody>
          <a:bodyPr wrap="square" lIns="0" tIns="0" rIns="0" bIns="0" rtlCol="0" anchor="t"/>
          <a:lstStyle/>
          <a:p>
            <a:pPr indent="0" marL="0">
              <a:buNone/>
            </a:pPr>
            <a:r>
              <a:rPr lang="en-US" sz="1300" b="1" spc="200" kern="0" dirty="0">
                <a:solidFill>
                  <a:srgbClr val="B02532"/>
                </a:solidFill>
                <a:latin typeface="Palatino Linotype" pitchFamily="34" charset="0"/>
                <a:ea typeface="Palatino Linotype" pitchFamily="34" charset="-122"/>
                <a:cs typeface="Palatino Linotype" pitchFamily="34" charset="-120"/>
              </a:rPr>
              <a:t>DE LA CINE VINE INFORMAȚIA</a:t>
            </a:r>
            <a:endParaRPr lang="en-US" sz="1300" dirty="0"/>
          </a:p>
        </p:txBody>
      </p:sp>
      <p:sp>
        <p:nvSpPr>
          <p:cNvPr id="3" name="Text 1"/>
          <p:cNvSpPr/>
          <p:nvPr/>
        </p:nvSpPr>
        <p:spPr>
          <a:xfrm>
            <a:off x="594360" y="713232"/>
            <a:ext cx="10972800" cy="914400"/>
          </a:xfrm>
          <a:prstGeom prst="rect">
            <a:avLst/>
          </a:prstGeom>
          <a:noFill/>
          <a:ln/>
        </p:spPr>
        <p:txBody>
          <a:bodyPr wrap="square" lIns="0" tIns="0" rIns="0" bIns="0" rtlCol="0" anchor="t"/>
          <a:lstStyle/>
          <a:p>
            <a:pPr indent="0" marL="0">
              <a:buNone/>
            </a:pPr>
            <a:r>
              <a:rPr lang="en-US" sz="2900" b="1" dirty="0">
                <a:solidFill>
                  <a:srgbClr val="11121A"/>
                </a:solidFill>
                <a:latin typeface="Palatino Linotype" pitchFamily="34" charset="0"/>
                <a:ea typeface="Palatino Linotype" pitchFamily="34" charset="-122"/>
                <a:cs typeface="Palatino Linotype" pitchFamily="34" charset="-120"/>
              </a:rPr>
              <a:t>Numai chestionarul vine direct de la pacient</a:t>
            </a:r>
            <a:endParaRPr lang="en-US" sz="2900" dirty="0"/>
          </a:p>
        </p:txBody>
      </p:sp>
      <p:sp>
        <p:nvSpPr>
          <p:cNvPr id="4" name="Shape 2"/>
          <p:cNvSpPr/>
          <p:nvPr/>
        </p:nvSpPr>
        <p:spPr>
          <a:xfrm>
            <a:off x="594360" y="1645920"/>
            <a:ext cx="10972800" cy="777240"/>
          </a:xfrm>
          <a:prstGeom prst="roundRect">
            <a:avLst>
              <a:gd name="adj" fmla="val 10588"/>
            </a:avLst>
          </a:prstGeom>
          <a:solidFill>
            <a:srgbClr val="E1F0EC"/>
          </a:solidFill>
          <a:ln w="12700">
            <a:solidFill>
              <a:srgbClr val="E1F0EC"/>
            </a:solidFill>
            <a:prstDash val="solid"/>
          </a:ln>
        </p:spPr>
        <p:txBody>
          <a:bodyPr/>
          <a:p/>
        </p:txBody>
      </p:sp>
      <p:sp>
        <p:nvSpPr>
          <p:cNvPr id="5" name="Shape 3"/>
          <p:cNvSpPr/>
          <p:nvPr/>
        </p:nvSpPr>
        <p:spPr>
          <a:xfrm>
            <a:off x="822960" y="1824228"/>
            <a:ext cx="420624" cy="420624"/>
          </a:xfrm>
          <a:prstGeom prst="ellipse">
            <a:avLst/>
          </a:prstGeom>
          <a:solidFill>
            <a:srgbClr val="0E7C6B"/>
          </a:solidFill>
          <a:ln/>
        </p:spPr>
        <p:txBody>
          <a:bodyPr/>
          <a:p/>
        </p:txBody>
      </p:sp>
      <p:sp>
        <p:nvSpPr>
          <p:cNvPr id="6" name="Text 4"/>
          <p:cNvSpPr/>
          <p:nvPr/>
        </p:nvSpPr>
        <p:spPr>
          <a:xfrm>
            <a:off x="822960" y="1824228"/>
            <a:ext cx="420624" cy="420624"/>
          </a:xfrm>
          <a:prstGeom prst="rect">
            <a:avLst/>
          </a:prstGeom>
          <a:noFill/>
          <a:ln/>
        </p:spPr>
        <p:txBody>
          <a:bodyPr wrap="square" lIns="0" tIns="0" rIns="0" bIns="0" rtlCol="0" anchor="ctr"/>
          <a:lstStyle/>
          <a:p>
            <a:pPr algn="ctr" indent="0" marL="0">
              <a:buNone/>
            </a:pPr>
            <a:r>
              <a:rPr lang="en-US" sz="1400" b="1" dirty="0">
                <a:solidFill>
                  <a:srgbClr val="FFFFFF"/>
                </a:solidFill>
                <a:latin typeface="Palatino Linotype" pitchFamily="34" charset="0"/>
                <a:ea typeface="Palatino Linotype" pitchFamily="34" charset="-122"/>
                <a:cs typeface="Palatino Linotype" pitchFamily="34" charset="-120"/>
              </a:rPr>
              <a:t>B</a:t>
            </a:r>
            <a:endParaRPr lang="en-US" sz="1400" dirty="0"/>
          </a:p>
        </p:txBody>
      </p:sp>
      <p:sp>
        <p:nvSpPr>
          <p:cNvPr id="7" name="Text 5"/>
          <p:cNvSpPr/>
          <p:nvPr/>
        </p:nvSpPr>
        <p:spPr>
          <a:xfrm>
            <a:off x="1463040" y="1645920"/>
            <a:ext cx="9875520" cy="777240"/>
          </a:xfrm>
          <a:prstGeom prst="rect">
            <a:avLst/>
          </a:prstGeom>
          <a:noFill/>
          <a:ln/>
        </p:spPr>
        <p:txBody>
          <a:bodyPr wrap="square" lIns="0" tIns="0" rIns="0" bIns="0" rtlCol="0" anchor="ctr"/>
          <a:lstStyle/>
          <a:p>
            <a:pPr indent="0" marL="0">
              <a:buNone/>
            </a:pPr>
            <a:r>
              <a:rPr lang="en-US" sz="1700" b="1" dirty="0">
                <a:solidFill>
                  <a:srgbClr val="11121A"/>
                </a:solidFill>
                <a:latin typeface="Palatino Linotype" pitchFamily="34" charset="0"/>
                <a:ea typeface="Palatino Linotype" pitchFamily="34" charset="-122"/>
                <a:cs typeface="Palatino Linotype" pitchFamily="34" charset="-120"/>
              </a:rPr>
              <a:t>Chestionarul completat de pacient: rezultat raportat de pacient.</a:t>
            </a:r>
            <a:endParaRPr lang="en-US" sz="1700" dirty="0"/>
          </a:p>
        </p:txBody>
      </p:sp>
      <p:sp>
        <p:nvSpPr>
          <p:cNvPr id="8" name="Shape 6"/>
          <p:cNvSpPr/>
          <p:nvPr/>
        </p:nvSpPr>
        <p:spPr>
          <a:xfrm>
            <a:off x="594360" y="2560320"/>
            <a:ext cx="10972800" cy="777240"/>
          </a:xfrm>
          <a:prstGeom prst="roundRect">
            <a:avLst>
              <a:gd name="adj" fmla="val 10588"/>
            </a:avLst>
          </a:prstGeom>
          <a:solidFill>
            <a:srgbClr val="FFFFFF"/>
          </a:solidFill>
          <a:ln w="12700">
            <a:solidFill>
              <a:srgbClr val="FFFFFF"/>
            </a:solidFill>
            <a:prstDash val="solid"/>
          </a:ln>
        </p:spPr>
        <p:txBody>
          <a:bodyPr/>
          <a:p/>
        </p:txBody>
      </p:sp>
      <p:sp>
        <p:nvSpPr>
          <p:cNvPr id="9" name="Shape 7"/>
          <p:cNvSpPr/>
          <p:nvPr/>
        </p:nvSpPr>
        <p:spPr>
          <a:xfrm>
            <a:off x="822960" y="2738628"/>
            <a:ext cx="420624" cy="420624"/>
          </a:xfrm>
          <a:prstGeom prst="ellipse">
            <a:avLst/>
          </a:prstGeom>
          <a:solidFill>
            <a:srgbClr val="C9C6BE"/>
          </a:solidFill>
          <a:ln/>
        </p:spPr>
        <p:txBody>
          <a:bodyPr/>
          <a:p/>
        </p:txBody>
      </p:sp>
      <p:sp>
        <p:nvSpPr>
          <p:cNvPr id="10" name="Text 8"/>
          <p:cNvSpPr/>
          <p:nvPr/>
        </p:nvSpPr>
        <p:spPr>
          <a:xfrm>
            <a:off x="822960" y="2738628"/>
            <a:ext cx="420624" cy="420624"/>
          </a:xfrm>
          <a:prstGeom prst="rect">
            <a:avLst/>
          </a:prstGeom>
          <a:noFill/>
          <a:ln/>
        </p:spPr>
        <p:txBody>
          <a:bodyPr wrap="square" lIns="0" tIns="0" rIns="0" bIns="0" rtlCol="0" anchor="ctr"/>
          <a:lstStyle/>
          <a:p>
            <a:pPr algn="ctr" indent="0" marL="0">
              <a:buNone/>
            </a:pPr>
            <a:r>
              <a:rPr lang="en-US" sz="1400" b="1" dirty="0">
                <a:solidFill>
                  <a:srgbClr val="11121A"/>
                </a:solidFill>
                <a:latin typeface="Palatino Linotype" pitchFamily="34" charset="0"/>
                <a:ea typeface="Palatino Linotype" pitchFamily="34" charset="-122"/>
                <a:cs typeface="Palatino Linotype" pitchFamily="34" charset="-120"/>
              </a:rPr>
              <a:t>A</a:t>
            </a:r>
            <a:endParaRPr lang="en-US" sz="1400" dirty="0"/>
          </a:p>
        </p:txBody>
      </p:sp>
      <p:sp>
        <p:nvSpPr>
          <p:cNvPr id="11" name="Text 9"/>
          <p:cNvSpPr/>
          <p:nvPr/>
        </p:nvSpPr>
        <p:spPr>
          <a:xfrm>
            <a:off x="1463040" y="2560320"/>
            <a:ext cx="9875520" cy="777240"/>
          </a:xfrm>
          <a:prstGeom prst="rect">
            <a:avLst/>
          </a:prstGeom>
          <a:noFill/>
          <a:ln/>
        </p:spPr>
        <p:txBody>
          <a:bodyPr wrap="square" lIns="0" tIns="0" rIns="0" bIns="0" rtlCol="0" anchor="ctr"/>
          <a:lstStyle/>
          <a:p>
            <a:pPr indent="0" marL="0">
              <a:buNone/>
            </a:pPr>
            <a:r>
              <a:rPr lang="en-US" sz="1700" dirty="0">
                <a:solidFill>
                  <a:srgbClr val="11121A"/>
                </a:solidFill>
                <a:latin typeface="Palatino Linotype" pitchFamily="34" charset="0"/>
                <a:ea typeface="Palatino Linotype" pitchFamily="34" charset="-122"/>
                <a:cs typeface="Palatino Linotype" pitchFamily="34" charset="-120"/>
              </a:rPr>
              <a:t>Distanța de mers: rezultat măsurat de clinician.</a:t>
            </a:r>
            <a:endParaRPr lang="en-US" sz="1700" dirty="0"/>
          </a:p>
        </p:txBody>
      </p:sp>
      <p:sp>
        <p:nvSpPr>
          <p:cNvPr id="12" name="Shape 10"/>
          <p:cNvSpPr/>
          <p:nvPr/>
        </p:nvSpPr>
        <p:spPr>
          <a:xfrm>
            <a:off x="594360" y="3474720"/>
            <a:ext cx="10972800" cy="777240"/>
          </a:xfrm>
          <a:prstGeom prst="roundRect">
            <a:avLst>
              <a:gd name="adj" fmla="val 10588"/>
            </a:avLst>
          </a:prstGeom>
          <a:solidFill>
            <a:srgbClr val="FFFFFF"/>
          </a:solidFill>
          <a:ln w="12700">
            <a:solidFill>
              <a:srgbClr val="FFFFFF"/>
            </a:solidFill>
            <a:prstDash val="solid"/>
          </a:ln>
        </p:spPr>
        <p:txBody>
          <a:bodyPr/>
          <a:p/>
        </p:txBody>
      </p:sp>
      <p:sp>
        <p:nvSpPr>
          <p:cNvPr id="13" name="Shape 11"/>
          <p:cNvSpPr/>
          <p:nvPr/>
        </p:nvSpPr>
        <p:spPr>
          <a:xfrm>
            <a:off x="822960" y="3653028"/>
            <a:ext cx="420624" cy="420624"/>
          </a:xfrm>
          <a:prstGeom prst="ellipse">
            <a:avLst/>
          </a:prstGeom>
          <a:solidFill>
            <a:srgbClr val="C9C6BE"/>
          </a:solidFill>
          <a:ln/>
        </p:spPr>
        <p:txBody>
          <a:bodyPr/>
          <a:p/>
        </p:txBody>
      </p:sp>
      <p:sp>
        <p:nvSpPr>
          <p:cNvPr id="14" name="Text 12"/>
          <p:cNvSpPr/>
          <p:nvPr/>
        </p:nvSpPr>
        <p:spPr>
          <a:xfrm>
            <a:off x="822960" y="3653028"/>
            <a:ext cx="420624" cy="420624"/>
          </a:xfrm>
          <a:prstGeom prst="rect">
            <a:avLst/>
          </a:prstGeom>
          <a:noFill/>
          <a:ln/>
        </p:spPr>
        <p:txBody>
          <a:bodyPr wrap="square" lIns="0" tIns="0" rIns="0" bIns="0" rtlCol="0" anchor="ctr"/>
          <a:lstStyle/>
          <a:p>
            <a:pPr algn="ctr" indent="0" marL="0">
              <a:buNone/>
            </a:pPr>
            <a:r>
              <a:rPr lang="en-US" sz="1400" b="1" dirty="0">
                <a:solidFill>
                  <a:srgbClr val="11121A"/>
                </a:solidFill>
                <a:latin typeface="Palatino Linotype" pitchFamily="34" charset="0"/>
                <a:ea typeface="Palatino Linotype" pitchFamily="34" charset="-122"/>
                <a:cs typeface="Palatino Linotype" pitchFamily="34" charset="-120"/>
              </a:rPr>
              <a:t>D</a:t>
            </a:r>
            <a:endParaRPr lang="en-US" sz="1400" dirty="0"/>
          </a:p>
        </p:txBody>
      </p:sp>
      <p:sp>
        <p:nvSpPr>
          <p:cNvPr id="15" name="Text 13"/>
          <p:cNvSpPr/>
          <p:nvPr/>
        </p:nvSpPr>
        <p:spPr>
          <a:xfrm>
            <a:off x="1463040" y="3474720"/>
            <a:ext cx="9875520" cy="777240"/>
          </a:xfrm>
          <a:prstGeom prst="rect">
            <a:avLst/>
          </a:prstGeom>
          <a:noFill/>
          <a:ln/>
        </p:spPr>
        <p:txBody>
          <a:bodyPr wrap="square" lIns="0" tIns="0" rIns="0" bIns="0" rtlCol="0" anchor="ctr"/>
          <a:lstStyle/>
          <a:p>
            <a:pPr indent="0" marL="0">
              <a:buNone/>
            </a:pPr>
            <a:r>
              <a:rPr lang="en-US" sz="1700" dirty="0">
                <a:solidFill>
                  <a:srgbClr val="11121A"/>
                </a:solidFill>
                <a:latin typeface="Palatino Linotype" pitchFamily="34" charset="0"/>
                <a:ea typeface="Palatino Linotype" pitchFamily="34" charset="-122"/>
                <a:cs typeface="Palatino Linotype" pitchFamily="34" charset="-120"/>
              </a:rPr>
              <a:t>Amplitudinea de mișcare: rezultat măsurat de clinician.</a:t>
            </a:r>
            <a:endParaRPr lang="en-US" sz="1700" dirty="0"/>
          </a:p>
        </p:txBody>
      </p:sp>
      <p:sp>
        <p:nvSpPr>
          <p:cNvPr id="16" name="Shape 14"/>
          <p:cNvSpPr/>
          <p:nvPr/>
        </p:nvSpPr>
        <p:spPr>
          <a:xfrm>
            <a:off x="594360" y="4389120"/>
            <a:ext cx="10972800" cy="777240"/>
          </a:xfrm>
          <a:prstGeom prst="roundRect">
            <a:avLst>
              <a:gd name="adj" fmla="val 10588"/>
            </a:avLst>
          </a:prstGeom>
          <a:solidFill>
            <a:srgbClr val="FFFFFF"/>
          </a:solidFill>
          <a:ln w="12700">
            <a:solidFill>
              <a:srgbClr val="FFFFFF"/>
            </a:solidFill>
            <a:prstDash val="solid"/>
          </a:ln>
        </p:spPr>
        <p:txBody>
          <a:bodyPr/>
          <a:p/>
        </p:txBody>
      </p:sp>
      <p:sp>
        <p:nvSpPr>
          <p:cNvPr id="17" name="Shape 15"/>
          <p:cNvSpPr/>
          <p:nvPr/>
        </p:nvSpPr>
        <p:spPr>
          <a:xfrm>
            <a:off x="822960" y="4567428"/>
            <a:ext cx="420624" cy="420624"/>
          </a:xfrm>
          <a:prstGeom prst="ellipse">
            <a:avLst/>
          </a:prstGeom>
          <a:solidFill>
            <a:srgbClr val="C9C6BE"/>
          </a:solidFill>
          <a:ln/>
        </p:spPr>
        <p:txBody>
          <a:bodyPr/>
          <a:p/>
        </p:txBody>
      </p:sp>
      <p:sp>
        <p:nvSpPr>
          <p:cNvPr id="18" name="Text 16"/>
          <p:cNvSpPr/>
          <p:nvPr/>
        </p:nvSpPr>
        <p:spPr>
          <a:xfrm>
            <a:off x="822960" y="4567428"/>
            <a:ext cx="420624" cy="420624"/>
          </a:xfrm>
          <a:prstGeom prst="rect">
            <a:avLst/>
          </a:prstGeom>
          <a:noFill/>
          <a:ln/>
        </p:spPr>
        <p:txBody>
          <a:bodyPr wrap="square" lIns="0" tIns="0" rIns="0" bIns="0" rtlCol="0" anchor="ctr"/>
          <a:lstStyle/>
          <a:p>
            <a:pPr algn="ctr" indent="0" marL="0">
              <a:buNone/>
            </a:pPr>
            <a:r>
              <a:rPr lang="en-US" sz="1400" b="1" dirty="0">
                <a:solidFill>
                  <a:srgbClr val="11121A"/>
                </a:solidFill>
                <a:latin typeface="Palatino Linotype" pitchFamily="34" charset="0"/>
                <a:ea typeface="Palatino Linotype" pitchFamily="34" charset="-122"/>
                <a:cs typeface="Palatino Linotype" pitchFamily="34" charset="-120"/>
              </a:rPr>
              <a:t>C</a:t>
            </a:r>
            <a:endParaRPr lang="en-US" sz="1400" dirty="0"/>
          </a:p>
        </p:txBody>
      </p:sp>
      <p:sp>
        <p:nvSpPr>
          <p:cNvPr id="19" name="Text 17"/>
          <p:cNvSpPr/>
          <p:nvPr/>
        </p:nvSpPr>
        <p:spPr>
          <a:xfrm>
            <a:off x="1463040" y="4389120"/>
            <a:ext cx="9875520" cy="777240"/>
          </a:xfrm>
          <a:prstGeom prst="rect">
            <a:avLst/>
          </a:prstGeom>
          <a:noFill/>
          <a:ln/>
        </p:spPr>
        <p:txBody>
          <a:bodyPr wrap="square" lIns="0" tIns="0" rIns="0" bIns="0" rtlCol="0" anchor="ctr"/>
          <a:lstStyle/>
          <a:p>
            <a:pPr indent="0" marL="0">
              <a:buNone/>
            </a:pPr>
            <a:r>
              <a:rPr lang="en-US" sz="1700" dirty="0">
                <a:solidFill>
                  <a:srgbClr val="11121A"/>
                </a:solidFill>
                <a:latin typeface="Palatino Linotype" pitchFamily="34" charset="0"/>
                <a:ea typeface="Palatino Linotype" pitchFamily="34" charset="-122"/>
                <a:cs typeface="Palatino Linotype" pitchFamily="34" charset="-120"/>
              </a:rPr>
              <a:t>Numărul ședințelor: indicator de activitate, din cursul al treilea.</a:t>
            </a:r>
            <a:endParaRPr lang="en-US" sz="1700" dirty="0"/>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8">
    <p:bg>
      <p:bgPr>
        <a:solidFill>
          <a:srgbClr val="F6F5F2"/>
        </a:solidFill>
      </p:bgPr>
    </p:bg>
    <p:spTree>
      <p:nvGrpSpPr>
        <p:cNvPr id="1" name=""/>
        <p:cNvGrpSpPr/>
        <p:nvPr/>
      </p:nvGrpSpPr>
      <p:grpSpPr>
        <a:xfrm>
          <a:off x="0" y="0"/>
          <a:ext cx="0" cy="0"/>
          <a:chOff x="0" y="0"/>
          <a:chExt cx="0" cy="0"/>
        </a:xfrm>
      </p:grpSpPr>
      <p:sp>
        <p:nvSpPr>
          <p:cNvPr id="2" name="Text 0"/>
          <p:cNvSpPr/>
          <p:nvPr/>
        </p:nvSpPr>
        <p:spPr>
          <a:xfrm>
            <a:off x="594360" y="347472"/>
            <a:ext cx="7680960" cy="329184"/>
          </a:xfrm>
          <a:prstGeom prst="rect">
            <a:avLst/>
          </a:prstGeom>
          <a:noFill/>
          <a:ln/>
        </p:spPr>
        <p:txBody>
          <a:bodyPr wrap="square" lIns="0" tIns="0" rIns="0" bIns="0" rtlCol="0" anchor="t"/>
          <a:lstStyle/>
          <a:p>
            <a:pPr indent="0" marL="0">
              <a:buNone/>
            </a:pPr>
            <a:r>
              <a:rPr lang="en-US" sz="1300" b="1" spc="200" kern="0" dirty="0">
                <a:solidFill>
                  <a:srgbClr val="B02532"/>
                </a:solidFill>
                <a:latin typeface="Palatino Linotype" pitchFamily="34" charset="0"/>
                <a:ea typeface="Palatino Linotype" pitchFamily="34" charset="-122"/>
                <a:cs typeface="Palatino Linotype" pitchFamily="34" charset="-120"/>
              </a:rPr>
              <a:t>VALOAREA ÎN SĂNĂTATE</a:t>
            </a:r>
            <a:endParaRPr lang="en-US" sz="1300" dirty="0"/>
          </a:p>
        </p:txBody>
      </p:sp>
      <p:sp>
        <p:nvSpPr>
          <p:cNvPr id="3" name="Text 1"/>
          <p:cNvSpPr/>
          <p:nvPr/>
        </p:nvSpPr>
        <p:spPr>
          <a:xfrm>
            <a:off x="594360" y="713232"/>
            <a:ext cx="10972800" cy="914400"/>
          </a:xfrm>
          <a:prstGeom prst="rect">
            <a:avLst/>
          </a:prstGeom>
          <a:noFill/>
          <a:ln/>
        </p:spPr>
        <p:txBody>
          <a:bodyPr wrap="square" lIns="0" tIns="0" rIns="0" bIns="0" rtlCol="0" anchor="t"/>
          <a:lstStyle/>
          <a:p>
            <a:pPr indent="0" marL="0">
              <a:buNone/>
            </a:pPr>
            <a:r>
              <a:rPr lang="en-US" sz="2700" b="1" dirty="0">
                <a:solidFill>
                  <a:srgbClr val="11121A"/>
                </a:solidFill>
                <a:latin typeface="Palatino Linotype" pitchFamily="34" charset="0"/>
                <a:ea typeface="Palatino Linotype" pitchFamily="34" charset="-122"/>
                <a:cs typeface="Palatino Linotype" pitchFamily="34" charset="-120"/>
              </a:rPr>
              <a:t>Rezultatele care contează pentru pacient, raportate la cost</a:t>
            </a:r>
            <a:endParaRPr lang="en-US" sz="2700" dirty="0"/>
          </a:p>
        </p:txBody>
      </p:sp>
      <p:sp>
        <p:nvSpPr>
          <p:cNvPr id="4" name="Shape 2"/>
          <p:cNvSpPr/>
          <p:nvPr/>
        </p:nvSpPr>
        <p:spPr>
          <a:xfrm>
            <a:off x="594360" y="1600200"/>
            <a:ext cx="4846320" cy="3200400"/>
          </a:xfrm>
          <a:prstGeom prst="roundRect">
            <a:avLst>
              <a:gd name="adj" fmla="val 2571"/>
            </a:avLst>
          </a:prstGeom>
          <a:solidFill>
            <a:srgbClr val="E1F0EC"/>
          </a:solidFill>
          <a:ln w="12700">
            <a:solidFill>
              <a:srgbClr val="E1F0EC"/>
            </a:solidFill>
            <a:prstDash val="solid"/>
          </a:ln>
        </p:spPr>
        <p:txBody>
          <a:bodyPr/>
          <a:p/>
        </p:txBody>
      </p:sp>
      <p:sp>
        <p:nvSpPr>
          <p:cNvPr id="5" name="Shape 3"/>
          <p:cNvSpPr/>
          <p:nvPr/>
        </p:nvSpPr>
        <p:spPr>
          <a:xfrm>
            <a:off x="822960" y="1783080"/>
            <a:ext cx="1737360" cy="329184"/>
          </a:xfrm>
          <a:prstGeom prst="roundRect">
            <a:avLst>
              <a:gd name="adj" fmla="val 50000"/>
            </a:avLst>
          </a:prstGeom>
          <a:solidFill>
            <a:srgbClr val="0E7C6B"/>
          </a:solidFill>
          <a:ln w="12700">
            <a:solidFill>
              <a:srgbClr val="0E7C6B"/>
            </a:solidFill>
            <a:prstDash val="solid"/>
          </a:ln>
        </p:spPr>
        <p:txBody>
          <a:bodyPr/>
          <a:p/>
        </p:txBody>
      </p:sp>
      <p:sp>
        <p:nvSpPr>
          <p:cNvPr id="6" name="Text 4"/>
          <p:cNvSpPr/>
          <p:nvPr/>
        </p:nvSpPr>
        <p:spPr>
          <a:xfrm>
            <a:off x="822960" y="1783080"/>
            <a:ext cx="1737360" cy="329184"/>
          </a:xfrm>
          <a:prstGeom prst="rect">
            <a:avLst/>
          </a:prstGeom>
          <a:noFill/>
          <a:ln/>
        </p:spPr>
        <p:txBody>
          <a:bodyPr wrap="square" lIns="0" tIns="0" rIns="0" bIns="0" rtlCol="0" anchor="ctr"/>
          <a:lstStyle/>
          <a:p>
            <a:pPr algn="ctr" indent="0" marL="0">
              <a:buNone/>
            </a:pPr>
            <a:r>
              <a:rPr lang="en-US" sz="1100" b="1" dirty="0">
                <a:solidFill>
                  <a:srgbClr val="FFFFFF"/>
                </a:solidFill>
                <a:latin typeface="Palatino Linotype" pitchFamily="34" charset="0"/>
                <a:ea typeface="Palatino Linotype" pitchFamily="34" charset="-122"/>
                <a:cs typeface="Palatino Linotype" pitchFamily="34" charset="-120"/>
              </a:rPr>
              <a:t>TERMEN NOU</a:t>
            </a:r>
            <a:endParaRPr lang="en-US" sz="1100" dirty="0"/>
          </a:p>
        </p:txBody>
      </p:sp>
      <p:sp>
        <p:nvSpPr>
          <p:cNvPr id="7" name="Text 5"/>
          <p:cNvSpPr/>
          <p:nvPr/>
        </p:nvSpPr>
        <p:spPr>
          <a:xfrm>
            <a:off x="822960" y="2240280"/>
            <a:ext cx="4389120" cy="2468880"/>
          </a:xfrm>
          <a:prstGeom prst="rect">
            <a:avLst/>
          </a:prstGeom>
          <a:noFill/>
          <a:ln/>
        </p:spPr>
        <p:txBody>
          <a:bodyPr wrap="square" lIns="0" tIns="0" rIns="0" bIns="0" rtlCol="0" anchor="t"/>
          <a:lstStyle/>
          <a:p>
            <a:pPr indent="0" marL="0">
              <a:buNone/>
            </a:pPr>
            <a:r>
              <a:rPr lang="en-US" sz="1600" b="1" dirty="0">
                <a:solidFill>
                  <a:srgbClr val="11121A"/>
                </a:solidFill>
                <a:latin typeface="Palatino Linotype" pitchFamily="34" charset="0"/>
                <a:ea typeface="Palatino Linotype" pitchFamily="34" charset="-122"/>
                <a:cs typeface="Palatino Linotype" pitchFamily="34" charset="-120"/>
              </a:rPr>
              <a:t>Valoarea, în sensul restrâns: </a:t>
            </a:r>
            <a:pPr indent="0" marL="0">
              <a:buNone/>
            </a:pPr>
            <a:r>
              <a:rPr lang="en-US" sz="1600" dirty="0">
                <a:solidFill>
                  <a:srgbClr val="11121A"/>
                </a:solidFill>
                <a:latin typeface="Palatino Linotype" pitchFamily="34" charset="0"/>
                <a:ea typeface="Palatino Linotype" pitchFamily="34" charset="-122"/>
                <a:cs typeface="Palatino Linotype" pitchFamily="34" charset="-120"/>
              </a:rPr>
              <a:t>rezultatele de sănătate pe fiecare dolar cheltuit, pe tot drumul pacientului (Porter, 2010, după experții Comisiei Europene).</a:t>
            </a:r>
            <a:endParaRPr lang="en-US" sz="1600" dirty="0"/>
          </a:p>
        </p:txBody>
      </p:sp>
      <p:sp>
        <p:nvSpPr>
          <p:cNvPr id="8" name="Text 6"/>
          <p:cNvSpPr/>
          <p:nvPr/>
        </p:nvSpPr>
        <p:spPr>
          <a:xfrm>
            <a:off x="5760720" y="1600200"/>
            <a:ext cx="5806440" cy="365760"/>
          </a:xfrm>
          <a:prstGeom prst="rect">
            <a:avLst/>
          </a:prstGeom>
          <a:noFill/>
          <a:ln/>
        </p:spPr>
        <p:txBody>
          <a:bodyPr wrap="square" lIns="0" tIns="0" rIns="0" bIns="0" rtlCol="0" anchor="t"/>
          <a:lstStyle/>
          <a:p>
            <a:pPr indent="0" marL="0">
              <a:buNone/>
            </a:pPr>
            <a:r>
              <a:rPr lang="en-US" sz="1200" b="1" spc="100" kern="0" dirty="0">
                <a:solidFill>
                  <a:srgbClr val="8A6100"/>
                </a:solidFill>
                <a:latin typeface="Palatino Linotype" pitchFamily="34" charset="0"/>
                <a:ea typeface="Palatino Linotype" pitchFamily="34" charset="-122"/>
                <a:cs typeface="Palatino Linotype" pitchFamily="34" charset="-120"/>
              </a:rPr>
              <a:t>VALORI IPOTETICE · PUNCTE CÂȘTIGATE PE 1 000 DE LEI</a:t>
            </a:r>
            <a:endParaRPr lang="en-US" sz="1200" dirty="0"/>
          </a:p>
        </p:txBody>
      </p:sp>
      <p:sp>
        <p:nvSpPr>
          <p:cNvPr id="9" name="Text 7"/>
          <p:cNvSpPr/>
          <p:nvPr/>
        </p:nvSpPr>
        <p:spPr>
          <a:xfrm>
            <a:off x="5760720" y="2103120"/>
            <a:ext cx="5760720" cy="320040"/>
          </a:xfrm>
          <a:prstGeom prst="rect">
            <a:avLst/>
          </a:prstGeom>
          <a:noFill/>
          <a:ln/>
        </p:spPr>
        <p:txBody>
          <a:bodyPr wrap="square" lIns="0" tIns="0" rIns="0" bIns="0" rtlCol="0" anchor="t"/>
          <a:lstStyle/>
          <a:p>
            <a:pPr indent="0" marL="0">
              <a:buNone/>
            </a:pPr>
            <a:r>
              <a:rPr lang="en-US" sz="1600" b="1" dirty="0">
                <a:solidFill>
                  <a:srgbClr val="11121A"/>
                </a:solidFill>
                <a:latin typeface="Palatino Linotype" pitchFamily="34" charset="0"/>
                <a:ea typeface="Palatino Linotype" pitchFamily="34" charset="-122"/>
                <a:cs typeface="Palatino Linotype" pitchFamily="34" charset="-120"/>
              </a:rPr>
              <a:t>Programul X</a:t>
            </a:r>
            <a:endParaRPr lang="en-US" sz="1600" dirty="0"/>
          </a:p>
        </p:txBody>
      </p:sp>
      <p:sp>
        <p:nvSpPr>
          <p:cNvPr id="10" name="Text 8"/>
          <p:cNvSpPr/>
          <p:nvPr/>
        </p:nvSpPr>
        <p:spPr>
          <a:xfrm>
            <a:off x="5760720" y="2423160"/>
            <a:ext cx="5760720" cy="320040"/>
          </a:xfrm>
          <a:prstGeom prst="rect">
            <a:avLst/>
          </a:prstGeom>
          <a:noFill/>
          <a:ln/>
        </p:spPr>
        <p:txBody>
          <a:bodyPr wrap="square" lIns="0" tIns="0" rIns="0" bIns="0" rtlCol="0" anchor="t"/>
          <a:lstStyle/>
          <a:p>
            <a:pPr indent="0" marL="0">
              <a:buNone/>
            </a:pPr>
            <a:r>
              <a:rPr lang="en-US" sz="1300" dirty="0">
                <a:solidFill>
                  <a:srgbClr val="585A64"/>
                </a:solidFill>
                <a:latin typeface="Palatino Linotype" pitchFamily="34" charset="0"/>
                <a:ea typeface="Palatino Linotype" pitchFamily="34" charset="-122"/>
                <a:cs typeface="Palatino Linotype" pitchFamily="34" charset="-120"/>
              </a:rPr>
              <a:t>3 săptămâni pe secție · 6 000 de lei · +18 puncte</a:t>
            </a:r>
            <a:endParaRPr lang="en-US" sz="1300" dirty="0"/>
          </a:p>
        </p:txBody>
      </p:sp>
      <p:sp>
        <p:nvSpPr>
          <p:cNvPr id="11" name="Shape 9"/>
          <p:cNvSpPr/>
          <p:nvPr/>
        </p:nvSpPr>
        <p:spPr>
          <a:xfrm>
            <a:off x="5760720" y="2834640"/>
            <a:ext cx="3291840" cy="365760"/>
          </a:xfrm>
          <a:prstGeom prst="rect">
            <a:avLst/>
          </a:prstGeom>
          <a:solidFill>
            <a:srgbClr val="585A64"/>
          </a:solidFill>
          <a:ln w="12700">
            <a:solidFill>
              <a:srgbClr val="585A64"/>
            </a:solidFill>
            <a:prstDash val="solid"/>
          </a:ln>
        </p:spPr>
        <p:txBody>
          <a:bodyPr/>
          <a:p/>
        </p:txBody>
      </p:sp>
      <p:sp>
        <p:nvSpPr>
          <p:cNvPr id="12" name="Text 10"/>
          <p:cNvSpPr/>
          <p:nvPr/>
        </p:nvSpPr>
        <p:spPr>
          <a:xfrm>
            <a:off x="9144000" y="2816352"/>
            <a:ext cx="914400" cy="402336"/>
          </a:xfrm>
          <a:prstGeom prst="rect">
            <a:avLst/>
          </a:prstGeom>
          <a:noFill/>
          <a:ln/>
        </p:spPr>
        <p:txBody>
          <a:bodyPr wrap="square" lIns="0" tIns="0" rIns="0" bIns="0" rtlCol="0" anchor="ctr"/>
          <a:lstStyle/>
          <a:p>
            <a:pPr indent="0" marL="0">
              <a:buNone/>
            </a:pPr>
            <a:r>
              <a:rPr lang="en-US" sz="1800" b="1" dirty="0">
                <a:solidFill>
                  <a:srgbClr val="585A64"/>
                </a:solidFill>
                <a:latin typeface="Palatino Linotype" pitchFamily="34" charset="0"/>
                <a:ea typeface="Palatino Linotype" pitchFamily="34" charset="-122"/>
                <a:cs typeface="Palatino Linotype" pitchFamily="34" charset="-120"/>
              </a:rPr>
              <a:t>3,0</a:t>
            </a:r>
            <a:endParaRPr lang="en-US" sz="1800" dirty="0"/>
          </a:p>
        </p:txBody>
      </p:sp>
      <p:sp>
        <p:nvSpPr>
          <p:cNvPr id="13" name="Text 11"/>
          <p:cNvSpPr/>
          <p:nvPr/>
        </p:nvSpPr>
        <p:spPr>
          <a:xfrm>
            <a:off x="5760720" y="3429000"/>
            <a:ext cx="5760720" cy="320040"/>
          </a:xfrm>
          <a:prstGeom prst="rect">
            <a:avLst/>
          </a:prstGeom>
          <a:noFill/>
          <a:ln/>
        </p:spPr>
        <p:txBody>
          <a:bodyPr wrap="square" lIns="0" tIns="0" rIns="0" bIns="0" rtlCol="0" anchor="t"/>
          <a:lstStyle/>
          <a:p>
            <a:pPr indent="0" marL="0">
              <a:buNone/>
            </a:pPr>
            <a:r>
              <a:rPr lang="en-US" sz="1600" b="1" dirty="0">
                <a:solidFill>
                  <a:srgbClr val="11121A"/>
                </a:solidFill>
                <a:latin typeface="Palatino Linotype" pitchFamily="34" charset="0"/>
                <a:ea typeface="Palatino Linotype" pitchFamily="34" charset="-122"/>
                <a:cs typeface="Palatino Linotype" pitchFamily="34" charset="-120"/>
              </a:rPr>
              <a:t>Programul Y</a:t>
            </a:r>
            <a:endParaRPr lang="en-US" sz="1600" dirty="0"/>
          </a:p>
        </p:txBody>
      </p:sp>
      <p:sp>
        <p:nvSpPr>
          <p:cNvPr id="14" name="Text 12"/>
          <p:cNvSpPr/>
          <p:nvPr/>
        </p:nvSpPr>
        <p:spPr>
          <a:xfrm>
            <a:off x="5760720" y="3749040"/>
            <a:ext cx="5760720" cy="320040"/>
          </a:xfrm>
          <a:prstGeom prst="rect">
            <a:avLst/>
          </a:prstGeom>
          <a:noFill/>
          <a:ln/>
        </p:spPr>
        <p:txBody>
          <a:bodyPr wrap="square" lIns="0" tIns="0" rIns="0" bIns="0" rtlCol="0" anchor="t"/>
          <a:lstStyle/>
          <a:p>
            <a:pPr indent="0" marL="0">
              <a:buNone/>
            </a:pPr>
            <a:r>
              <a:rPr lang="en-US" sz="1300" dirty="0">
                <a:solidFill>
                  <a:srgbClr val="585A64"/>
                </a:solidFill>
                <a:latin typeface="Palatino Linotype" pitchFamily="34" charset="0"/>
                <a:ea typeface="Palatino Linotype" pitchFamily="34" charset="-122"/>
                <a:cs typeface="Palatino Linotype" pitchFamily="34" charset="-120"/>
              </a:rPr>
              <a:t>2 săptămâni + 6 ședințe acasă · 5 000 de lei · +20 de puncte</a:t>
            </a:r>
            <a:endParaRPr lang="en-US" sz="1300" dirty="0"/>
          </a:p>
        </p:txBody>
      </p:sp>
      <p:sp>
        <p:nvSpPr>
          <p:cNvPr id="15" name="Shape 13"/>
          <p:cNvSpPr/>
          <p:nvPr/>
        </p:nvSpPr>
        <p:spPr>
          <a:xfrm>
            <a:off x="5760720" y="4160520"/>
            <a:ext cx="4389120" cy="365760"/>
          </a:xfrm>
          <a:prstGeom prst="rect">
            <a:avLst/>
          </a:prstGeom>
          <a:solidFill>
            <a:srgbClr val="0E7C6B"/>
          </a:solidFill>
          <a:ln w="12700">
            <a:solidFill>
              <a:srgbClr val="0E7C6B"/>
            </a:solidFill>
            <a:prstDash val="solid"/>
          </a:ln>
        </p:spPr>
        <p:txBody>
          <a:bodyPr/>
          <a:p/>
        </p:txBody>
      </p:sp>
      <p:sp>
        <p:nvSpPr>
          <p:cNvPr id="16" name="Text 14"/>
          <p:cNvSpPr/>
          <p:nvPr/>
        </p:nvSpPr>
        <p:spPr>
          <a:xfrm>
            <a:off x="10241280" y="4142232"/>
            <a:ext cx="914400" cy="402336"/>
          </a:xfrm>
          <a:prstGeom prst="rect">
            <a:avLst/>
          </a:prstGeom>
          <a:noFill/>
          <a:ln/>
        </p:spPr>
        <p:txBody>
          <a:bodyPr wrap="square" lIns="0" tIns="0" rIns="0" bIns="0" rtlCol="0" anchor="ctr"/>
          <a:lstStyle/>
          <a:p>
            <a:pPr indent="0" marL="0">
              <a:buNone/>
            </a:pPr>
            <a:r>
              <a:rPr lang="en-US" sz="1800" b="1" dirty="0">
                <a:solidFill>
                  <a:srgbClr val="0E7C6B"/>
                </a:solidFill>
                <a:latin typeface="Palatino Linotype" pitchFamily="34" charset="0"/>
                <a:ea typeface="Palatino Linotype" pitchFamily="34" charset="-122"/>
                <a:cs typeface="Palatino Linotype" pitchFamily="34" charset="-120"/>
              </a:rPr>
              <a:t>4,0</a:t>
            </a:r>
            <a:endParaRPr lang="en-US" sz="1800" dirty="0"/>
          </a:p>
        </p:txBody>
      </p:sp>
      <p:sp>
        <p:nvSpPr>
          <p:cNvPr id="17" name="Text 15"/>
          <p:cNvSpPr/>
          <p:nvPr/>
        </p:nvSpPr>
        <p:spPr>
          <a:xfrm>
            <a:off x="594360" y="5074920"/>
            <a:ext cx="10972800" cy="822960"/>
          </a:xfrm>
          <a:prstGeom prst="rect">
            <a:avLst/>
          </a:prstGeom>
          <a:noFill/>
          <a:ln/>
        </p:spPr>
        <p:txBody>
          <a:bodyPr wrap="square" lIns="0" tIns="0" rIns="0" bIns="0" rtlCol="0" anchor="t"/>
          <a:lstStyle/>
          <a:p>
            <a:pPr indent="0" marL="0">
              <a:buNone/>
            </a:pPr>
            <a:r>
              <a:rPr lang="en-US" sz="1700" b="1" dirty="0">
                <a:solidFill>
                  <a:srgbClr val="B02532"/>
                </a:solidFill>
                <a:latin typeface="Palatino Linotype" pitchFamily="34" charset="0"/>
                <a:ea typeface="Palatino Linotype" pitchFamily="34" charset="-122"/>
                <a:cs typeface="Palatino Linotype" pitchFamily="34" charset="-120"/>
              </a:rPr>
              <a:t>Valoarea nu înseamnă tăierea costurilor.</a:t>
            </a:r>
            <a:endParaRPr lang="en-US" sz="1700" dirty="0"/>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name="Slide 19">
    <p:bg>
      <p:bgPr>
        <a:solidFill>
          <a:srgbClr val="11121A"/>
        </a:solidFill>
      </p:bgPr>
    </p:bg>
    <p:spTree>
      <p:nvGrpSpPr>
        <p:cNvPr id="1" name=""/>
        <p:cNvGrpSpPr/>
        <p:nvPr/>
      </p:nvGrpSpPr>
      <p:grpSpPr>
        <a:xfrm>
          <a:off x="0" y="0"/>
          <a:ext cx="0" cy="0"/>
          <a:chOff x="0" y="0"/>
          <a:chExt cx="0" cy="0"/>
        </a:xfrm>
      </p:grpSpPr>
      <p:sp>
        <p:nvSpPr>
          <p:cNvPr id="2" name="Text 0"/>
          <p:cNvSpPr/>
          <p:nvPr/>
        </p:nvSpPr>
        <p:spPr>
          <a:xfrm>
            <a:off x="594360" y="347472"/>
            <a:ext cx="7680960" cy="329184"/>
          </a:xfrm>
          <a:prstGeom prst="rect">
            <a:avLst/>
          </a:prstGeom>
          <a:noFill/>
          <a:ln/>
        </p:spPr>
        <p:txBody>
          <a:bodyPr wrap="square" lIns="0" tIns="0" rIns="0" bIns="0" rtlCol="0" anchor="t"/>
          <a:lstStyle/>
          <a:p>
            <a:pPr indent="0" marL="0">
              <a:buNone/>
            </a:pPr>
            <a:r>
              <a:rPr lang="en-US" sz="1300" b="1" spc="200" kern="0" dirty="0">
                <a:solidFill>
                  <a:srgbClr val="FFC24B"/>
                </a:solidFill>
                <a:latin typeface="Palatino Linotype" pitchFamily="34" charset="0"/>
                <a:ea typeface="Palatino Linotype" pitchFamily="34" charset="-122"/>
                <a:cs typeface="Palatino Linotype" pitchFamily="34" charset="-120"/>
              </a:rPr>
              <a:t>PATRU SENSURI ALE VALORII · EXPERȚII COMISIEI EUROPENE</a:t>
            </a:r>
            <a:endParaRPr lang="en-US" sz="1300" dirty="0"/>
          </a:p>
        </p:txBody>
      </p:sp>
      <p:sp>
        <p:nvSpPr>
          <p:cNvPr id="3" name="Text 1"/>
          <p:cNvSpPr/>
          <p:nvPr/>
        </p:nvSpPr>
        <p:spPr>
          <a:xfrm>
            <a:off x="594360" y="713232"/>
            <a:ext cx="10972800" cy="914400"/>
          </a:xfrm>
          <a:prstGeom prst="rect">
            <a:avLst/>
          </a:prstGeom>
          <a:noFill/>
          <a:ln/>
        </p:spPr>
        <p:txBody>
          <a:bodyPr wrap="square" lIns="0" tIns="0" rIns="0" bIns="0" rtlCol="0" anchor="t"/>
          <a:lstStyle/>
          <a:p>
            <a:pPr indent="0" marL="0">
              <a:buNone/>
            </a:pPr>
            <a:r>
              <a:rPr lang="en-US" sz="2900" b="1" dirty="0">
                <a:solidFill>
                  <a:srgbClr val="FFFFFF"/>
                </a:solidFill>
                <a:latin typeface="Palatino Linotype" pitchFamily="34" charset="0"/>
                <a:ea typeface="Palatino Linotype" pitchFamily="34" charset="-122"/>
                <a:cs typeface="Palatino Linotype" pitchFamily="34" charset="-120"/>
              </a:rPr>
              <a:t>Valoarea nu se reduce la o singură fracție</a:t>
            </a:r>
            <a:endParaRPr lang="en-US" sz="2900" dirty="0"/>
          </a:p>
        </p:txBody>
      </p:sp>
      <p:sp>
        <p:nvSpPr>
          <p:cNvPr id="4" name="Shape 2"/>
          <p:cNvSpPr/>
          <p:nvPr/>
        </p:nvSpPr>
        <p:spPr>
          <a:xfrm>
            <a:off x="594360" y="1600200"/>
            <a:ext cx="5394960" cy="1463040"/>
          </a:xfrm>
          <a:prstGeom prst="roundRect">
            <a:avLst>
              <a:gd name="adj" fmla="val 5625"/>
            </a:avLst>
          </a:prstGeom>
          <a:solidFill>
            <a:srgbClr val="272A38"/>
          </a:solidFill>
          <a:ln w="12700">
            <a:solidFill>
              <a:srgbClr val="272A38"/>
            </a:solidFill>
            <a:prstDash val="solid"/>
          </a:ln>
        </p:spPr>
        <p:txBody>
          <a:bodyPr/>
          <a:p/>
        </p:txBody>
      </p:sp>
      <p:sp>
        <p:nvSpPr>
          <p:cNvPr id="5" name="Shape 3"/>
          <p:cNvSpPr/>
          <p:nvPr/>
        </p:nvSpPr>
        <p:spPr>
          <a:xfrm>
            <a:off x="594360" y="1600200"/>
            <a:ext cx="73152" cy="1463040"/>
          </a:xfrm>
          <a:prstGeom prst="rect">
            <a:avLst/>
          </a:prstGeom>
          <a:solidFill>
            <a:srgbClr val="FF4757"/>
          </a:solidFill>
          <a:ln w="12700">
            <a:solidFill>
              <a:srgbClr val="FF4757"/>
            </a:solidFill>
            <a:prstDash val="solid"/>
          </a:ln>
        </p:spPr>
        <p:txBody>
          <a:bodyPr/>
          <a:p/>
        </p:txBody>
      </p:sp>
      <p:sp>
        <p:nvSpPr>
          <p:cNvPr id="6" name="Text 4"/>
          <p:cNvSpPr/>
          <p:nvPr/>
        </p:nvSpPr>
        <p:spPr>
          <a:xfrm>
            <a:off x="868680" y="1709928"/>
            <a:ext cx="4937760" cy="365760"/>
          </a:xfrm>
          <a:prstGeom prst="rect">
            <a:avLst/>
          </a:prstGeom>
          <a:noFill/>
          <a:ln/>
        </p:spPr>
        <p:txBody>
          <a:bodyPr wrap="square" lIns="0" tIns="0" rIns="0" bIns="0" rtlCol="0" anchor="t"/>
          <a:lstStyle/>
          <a:p>
            <a:pPr indent="0" marL="0">
              <a:buNone/>
            </a:pPr>
            <a:r>
              <a:rPr lang="en-US" sz="1400" b="1" spc="100" kern="0" dirty="0">
                <a:solidFill>
                  <a:srgbClr val="FF4757"/>
                </a:solidFill>
                <a:latin typeface="Palatino Linotype" pitchFamily="34" charset="0"/>
                <a:ea typeface="Palatino Linotype" pitchFamily="34" charset="-122"/>
                <a:cs typeface="Palatino Linotype" pitchFamily="34" charset="-120"/>
              </a:rPr>
              <a:t>PERSONALĂ</a:t>
            </a:r>
            <a:endParaRPr lang="en-US" sz="1400" dirty="0"/>
          </a:p>
        </p:txBody>
      </p:sp>
      <p:sp>
        <p:nvSpPr>
          <p:cNvPr id="7" name="Text 5"/>
          <p:cNvSpPr/>
          <p:nvPr/>
        </p:nvSpPr>
        <p:spPr>
          <a:xfrm>
            <a:off x="868680" y="2103120"/>
            <a:ext cx="4937760" cy="868680"/>
          </a:xfrm>
          <a:prstGeom prst="rect">
            <a:avLst/>
          </a:prstGeom>
          <a:noFill/>
          <a:ln/>
        </p:spPr>
        <p:txBody>
          <a:bodyPr wrap="square" lIns="0" tIns="0" rIns="0" bIns="0" rtlCol="0" anchor="t"/>
          <a:lstStyle/>
          <a:p>
            <a:pPr indent="0" marL="0">
              <a:buNone/>
            </a:pPr>
            <a:r>
              <a:rPr lang="en-US" sz="1550" dirty="0">
                <a:solidFill>
                  <a:srgbClr val="FFFFFF"/>
                </a:solidFill>
                <a:latin typeface="Palatino Linotype" pitchFamily="34" charset="0"/>
                <a:ea typeface="Palatino Linotype" pitchFamily="34" charset="-122"/>
                <a:cs typeface="Palatino Linotype" pitchFamily="34" charset="-120"/>
              </a:rPr>
              <a:t>Îngrijirea potrivită obiectivelor pacientului: domnul E., acasă și la piață.</a:t>
            </a:r>
            <a:endParaRPr lang="en-US" sz="1550" dirty="0"/>
          </a:p>
        </p:txBody>
      </p:sp>
      <p:sp>
        <p:nvSpPr>
          <p:cNvPr id="8" name="Shape 6"/>
          <p:cNvSpPr/>
          <p:nvPr/>
        </p:nvSpPr>
        <p:spPr>
          <a:xfrm>
            <a:off x="6172200" y="1600200"/>
            <a:ext cx="5394960" cy="1463040"/>
          </a:xfrm>
          <a:prstGeom prst="roundRect">
            <a:avLst>
              <a:gd name="adj" fmla="val 5625"/>
            </a:avLst>
          </a:prstGeom>
          <a:solidFill>
            <a:srgbClr val="272A38"/>
          </a:solidFill>
          <a:ln w="12700">
            <a:solidFill>
              <a:srgbClr val="272A38"/>
            </a:solidFill>
            <a:prstDash val="solid"/>
          </a:ln>
        </p:spPr>
        <p:txBody>
          <a:bodyPr/>
          <a:p/>
        </p:txBody>
      </p:sp>
      <p:sp>
        <p:nvSpPr>
          <p:cNvPr id="9" name="Shape 7"/>
          <p:cNvSpPr/>
          <p:nvPr/>
        </p:nvSpPr>
        <p:spPr>
          <a:xfrm>
            <a:off x="6172200" y="1600200"/>
            <a:ext cx="73152" cy="1463040"/>
          </a:xfrm>
          <a:prstGeom prst="rect">
            <a:avLst/>
          </a:prstGeom>
          <a:solidFill>
            <a:srgbClr val="FFC24B"/>
          </a:solidFill>
          <a:ln w="12700">
            <a:solidFill>
              <a:srgbClr val="FFC24B"/>
            </a:solidFill>
            <a:prstDash val="solid"/>
          </a:ln>
        </p:spPr>
        <p:txBody>
          <a:bodyPr/>
          <a:p/>
        </p:txBody>
      </p:sp>
      <p:sp>
        <p:nvSpPr>
          <p:cNvPr id="10" name="Text 8"/>
          <p:cNvSpPr/>
          <p:nvPr/>
        </p:nvSpPr>
        <p:spPr>
          <a:xfrm>
            <a:off x="6446520" y="1709928"/>
            <a:ext cx="4937760" cy="365760"/>
          </a:xfrm>
          <a:prstGeom prst="rect">
            <a:avLst/>
          </a:prstGeom>
          <a:noFill/>
          <a:ln/>
        </p:spPr>
        <p:txBody>
          <a:bodyPr wrap="square" lIns="0" tIns="0" rIns="0" bIns="0" rtlCol="0" anchor="t"/>
          <a:lstStyle/>
          <a:p>
            <a:pPr indent="0" marL="0">
              <a:buNone/>
            </a:pPr>
            <a:r>
              <a:rPr lang="en-US" sz="1400" b="1" spc="100" kern="0" dirty="0">
                <a:solidFill>
                  <a:srgbClr val="FFC24B"/>
                </a:solidFill>
                <a:latin typeface="Palatino Linotype" pitchFamily="34" charset="0"/>
                <a:ea typeface="Palatino Linotype" pitchFamily="34" charset="-122"/>
                <a:cs typeface="Palatino Linotype" pitchFamily="34" charset="-120"/>
              </a:rPr>
              <a:t>TEHNICĂ</a:t>
            </a:r>
            <a:endParaRPr lang="en-US" sz="1400" dirty="0"/>
          </a:p>
        </p:txBody>
      </p:sp>
      <p:sp>
        <p:nvSpPr>
          <p:cNvPr id="11" name="Text 9"/>
          <p:cNvSpPr/>
          <p:nvPr/>
        </p:nvSpPr>
        <p:spPr>
          <a:xfrm>
            <a:off x="6446520" y="2103120"/>
            <a:ext cx="4937760" cy="868680"/>
          </a:xfrm>
          <a:prstGeom prst="rect">
            <a:avLst/>
          </a:prstGeom>
          <a:noFill/>
          <a:ln/>
        </p:spPr>
        <p:txBody>
          <a:bodyPr wrap="square" lIns="0" tIns="0" rIns="0" bIns="0" rtlCol="0" anchor="t"/>
          <a:lstStyle/>
          <a:p>
            <a:pPr indent="0" marL="0">
              <a:buNone/>
            </a:pPr>
            <a:r>
              <a:rPr lang="en-US" sz="1550" dirty="0">
                <a:solidFill>
                  <a:srgbClr val="FFFFFF"/>
                </a:solidFill>
                <a:latin typeface="Palatino Linotype" pitchFamily="34" charset="0"/>
                <a:ea typeface="Palatino Linotype" pitchFamily="34" charset="-122"/>
                <a:cs typeface="Palatino Linotype" pitchFamily="34" charset="-120"/>
              </a:rPr>
              <a:t>Cele mai bune rezultate cu resursele disponibile, pentru toți cei care au nevoie: programul Y.</a:t>
            </a:r>
            <a:endParaRPr lang="en-US" sz="1550" dirty="0"/>
          </a:p>
        </p:txBody>
      </p:sp>
      <p:sp>
        <p:nvSpPr>
          <p:cNvPr id="12" name="Shape 10"/>
          <p:cNvSpPr/>
          <p:nvPr/>
        </p:nvSpPr>
        <p:spPr>
          <a:xfrm>
            <a:off x="594360" y="3200400"/>
            <a:ext cx="5394960" cy="1463040"/>
          </a:xfrm>
          <a:prstGeom prst="roundRect">
            <a:avLst>
              <a:gd name="adj" fmla="val 5625"/>
            </a:avLst>
          </a:prstGeom>
          <a:solidFill>
            <a:srgbClr val="272A38"/>
          </a:solidFill>
          <a:ln w="12700">
            <a:solidFill>
              <a:srgbClr val="272A38"/>
            </a:solidFill>
            <a:prstDash val="solid"/>
          </a:ln>
        </p:spPr>
        <p:txBody>
          <a:bodyPr/>
          <a:p/>
        </p:txBody>
      </p:sp>
      <p:sp>
        <p:nvSpPr>
          <p:cNvPr id="13" name="Shape 11"/>
          <p:cNvSpPr/>
          <p:nvPr/>
        </p:nvSpPr>
        <p:spPr>
          <a:xfrm>
            <a:off x="594360" y="3200400"/>
            <a:ext cx="73152" cy="1463040"/>
          </a:xfrm>
          <a:prstGeom prst="rect">
            <a:avLst/>
          </a:prstGeom>
          <a:solidFill>
            <a:srgbClr val="27D3BE"/>
          </a:solidFill>
          <a:ln w="12700">
            <a:solidFill>
              <a:srgbClr val="27D3BE"/>
            </a:solidFill>
            <a:prstDash val="solid"/>
          </a:ln>
        </p:spPr>
        <p:txBody>
          <a:bodyPr/>
          <a:p/>
        </p:txBody>
      </p:sp>
      <p:sp>
        <p:nvSpPr>
          <p:cNvPr id="14" name="Text 12"/>
          <p:cNvSpPr/>
          <p:nvPr/>
        </p:nvSpPr>
        <p:spPr>
          <a:xfrm>
            <a:off x="868680" y="3310128"/>
            <a:ext cx="4937760" cy="365760"/>
          </a:xfrm>
          <a:prstGeom prst="rect">
            <a:avLst/>
          </a:prstGeom>
          <a:noFill/>
          <a:ln/>
        </p:spPr>
        <p:txBody>
          <a:bodyPr wrap="square" lIns="0" tIns="0" rIns="0" bIns="0" rtlCol="0" anchor="t"/>
          <a:lstStyle/>
          <a:p>
            <a:pPr indent="0" marL="0">
              <a:buNone/>
            </a:pPr>
            <a:r>
              <a:rPr lang="en-US" sz="1400" b="1" spc="100" kern="0" dirty="0">
                <a:solidFill>
                  <a:srgbClr val="27D3BE"/>
                </a:solidFill>
                <a:latin typeface="Palatino Linotype" pitchFamily="34" charset="0"/>
                <a:ea typeface="Palatino Linotype" pitchFamily="34" charset="-122"/>
                <a:cs typeface="Palatino Linotype" pitchFamily="34" charset="-120"/>
              </a:rPr>
              <a:t>ALOCATIVĂ</a:t>
            </a:r>
            <a:endParaRPr lang="en-US" sz="1400" dirty="0"/>
          </a:p>
        </p:txBody>
      </p:sp>
      <p:sp>
        <p:nvSpPr>
          <p:cNvPr id="15" name="Text 13"/>
          <p:cNvSpPr/>
          <p:nvPr/>
        </p:nvSpPr>
        <p:spPr>
          <a:xfrm>
            <a:off x="868680" y="3703320"/>
            <a:ext cx="4937760" cy="868680"/>
          </a:xfrm>
          <a:prstGeom prst="rect">
            <a:avLst/>
          </a:prstGeom>
          <a:noFill/>
          <a:ln/>
        </p:spPr>
        <p:txBody>
          <a:bodyPr wrap="square" lIns="0" tIns="0" rIns="0" bIns="0" rtlCol="0" anchor="t"/>
          <a:lstStyle/>
          <a:p>
            <a:pPr indent="0" marL="0">
              <a:buNone/>
            </a:pPr>
            <a:r>
              <a:rPr lang="en-US" sz="1550" dirty="0">
                <a:solidFill>
                  <a:srgbClr val="FFFFFF"/>
                </a:solidFill>
                <a:latin typeface="Palatino Linotype" pitchFamily="34" charset="0"/>
                <a:ea typeface="Palatino Linotype" pitchFamily="34" charset="-122"/>
                <a:cs typeface="Palatino Linotype" pitchFamily="34" charset="-120"/>
              </a:rPr>
              <a:t>Resursele distribuite echitabil: pacientul din mediul rural primește aceeași recuperare?</a:t>
            </a:r>
            <a:endParaRPr lang="en-US" sz="1550" dirty="0"/>
          </a:p>
        </p:txBody>
      </p:sp>
      <p:sp>
        <p:nvSpPr>
          <p:cNvPr id="16" name="Shape 14"/>
          <p:cNvSpPr/>
          <p:nvPr/>
        </p:nvSpPr>
        <p:spPr>
          <a:xfrm>
            <a:off x="6172200" y="3200400"/>
            <a:ext cx="5394960" cy="1463040"/>
          </a:xfrm>
          <a:prstGeom prst="roundRect">
            <a:avLst>
              <a:gd name="adj" fmla="val 5625"/>
            </a:avLst>
          </a:prstGeom>
          <a:solidFill>
            <a:srgbClr val="272A38"/>
          </a:solidFill>
          <a:ln w="12700">
            <a:solidFill>
              <a:srgbClr val="272A38"/>
            </a:solidFill>
            <a:prstDash val="solid"/>
          </a:ln>
        </p:spPr>
        <p:txBody>
          <a:bodyPr/>
          <a:p/>
        </p:txBody>
      </p:sp>
      <p:sp>
        <p:nvSpPr>
          <p:cNvPr id="17" name="Shape 15"/>
          <p:cNvSpPr/>
          <p:nvPr/>
        </p:nvSpPr>
        <p:spPr>
          <a:xfrm>
            <a:off x="6172200" y="3200400"/>
            <a:ext cx="73152" cy="1463040"/>
          </a:xfrm>
          <a:prstGeom prst="rect">
            <a:avLst/>
          </a:prstGeom>
          <a:solidFill>
            <a:srgbClr val="9B7EF7"/>
          </a:solidFill>
          <a:ln w="12700">
            <a:solidFill>
              <a:srgbClr val="9B7EF7"/>
            </a:solidFill>
            <a:prstDash val="solid"/>
          </a:ln>
        </p:spPr>
        <p:txBody>
          <a:bodyPr/>
          <a:p/>
        </p:txBody>
      </p:sp>
      <p:sp>
        <p:nvSpPr>
          <p:cNvPr id="18" name="Text 16"/>
          <p:cNvSpPr/>
          <p:nvPr/>
        </p:nvSpPr>
        <p:spPr>
          <a:xfrm>
            <a:off x="6446520" y="3310128"/>
            <a:ext cx="4937760" cy="365760"/>
          </a:xfrm>
          <a:prstGeom prst="rect">
            <a:avLst/>
          </a:prstGeom>
          <a:noFill/>
          <a:ln/>
        </p:spPr>
        <p:txBody>
          <a:bodyPr wrap="square" lIns="0" tIns="0" rIns="0" bIns="0" rtlCol="0" anchor="t"/>
          <a:lstStyle/>
          <a:p>
            <a:pPr indent="0" marL="0">
              <a:buNone/>
            </a:pPr>
            <a:r>
              <a:rPr lang="en-US" sz="1400" b="1" spc="100" kern="0" dirty="0">
                <a:solidFill>
                  <a:srgbClr val="9B7EF7"/>
                </a:solidFill>
                <a:latin typeface="Palatino Linotype" pitchFamily="34" charset="0"/>
                <a:ea typeface="Palatino Linotype" pitchFamily="34" charset="-122"/>
                <a:cs typeface="Palatino Linotype" pitchFamily="34" charset="-120"/>
              </a:rPr>
              <a:t>SOCIALĂ</a:t>
            </a:r>
            <a:endParaRPr lang="en-US" sz="1400" dirty="0"/>
          </a:p>
        </p:txBody>
      </p:sp>
      <p:sp>
        <p:nvSpPr>
          <p:cNvPr id="19" name="Text 17"/>
          <p:cNvSpPr/>
          <p:nvPr/>
        </p:nvSpPr>
        <p:spPr>
          <a:xfrm>
            <a:off x="6446520" y="3703320"/>
            <a:ext cx="4937760" cy="868680"/>
          </a:xfrm>
          <a:prstGeom prst="rect">
            <a:avLst/>
          </a:prstGeom>
          <a:noFill/>
          <a:ln/>
        </p:spPr>
        <p:txBody>
          <a:bodyPr wrap="square" lIns="0" tIns="0" rIns="0" bIns="0" rtlCol="0" anchor="t"/>
          <a:lstStyle/>
          <a:p>
            <a:pPr indent="0" marL="0">
              <a:buNone/>
            </a:pPr>
            <a:r>
              <a:rPr lang="en-US" sz="1550" dirty="0">
                <a:solidFill>
                  <a:srgbClr val="FFFFFF"/>
                </a:solidFill>
                <a:latin typeface="Palatino Linotype" pitchFamily="34" charset="0"/>
                <a:ea typeface="Palatino Linotype" pitchFamily="34" charset="-122"/>
                <a:cs typeface="Palatino Linotype" pitchFamily="34" charset="-120"/>
              </a:rPr>
              <a:t>Participarea și coeziunea comunității: un vecin care iese din casă.</a:t>
            </a:r>
            <a:endParaRPr lang="en-US" sz="1550" dirty="0"/>
          </a:p>
        </p:txBody>
      </p:sp>
      <p:sp>
        <p:nvSpPr>
          <p:cNvPr id="20" name="Text 18"/>
          <p:cNvSpPr/>
          <p:nvPr/>
        </p:nvSpPr>
        <p:spPr>
          <a:xfrm>
            <a:off x="594360" y="4937760"/>
            <a:ext cx="10972800" cy="822960"/>
          </a:xfrm>
          <a:prstGeom prst="rect">
            <a:avLst/>
          </a:prstGeom>
          <a:noFill/>
          <a:ln/>
        </p:spPr>
        <p:txBody>
          <a:bodyPr wrap="square" lIns="0" tIns="0" rIns="0" bIns="0" rtlCol="0" anchor="t"/>
          <a:lstStyle/>
          <a:p>
            <a:pPr indent="0" marL="0">
              <a:buNone/>
            </a:pPr>
            <a:r>
              <a:rPr lang="en-US" sz="1700" b="1" dirty="0">
                <a:solidFill>
                  <a:srgbClr val="27D3BE"/>
                </a:solidFill>
                <a:latin typeface="Palatino Linotype" pitchFamily="34" charset="0"/>
                <a:ea typeface="Palatino Linotype" pitchFamily="34" charset="-122"/>
                <a:cs typeface="Palatino Linotype" pitchFamily="34" charset="-120"/>
              </a:rPr>
              <a:t>Pot intra în conflict: alegerea numai a pacienților cu cele mai bune șanse îmbunătățește rezultatul mediu, dar, dacă pacienții mai grei nu au alt serviciu, scade valoarea alocativă.</a:t>
            </a:r>
            <a:endParaRPr lang="en-US" sz="1700" dirty="0"/>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name="Slide 20">
    <p:bg>
      <p:bgPr>
        <a:solidFill>
          <a:srgbClr val="11121A"/>
        </a:solidFill>
      </p:bgPr>
    </p:bg>
    <p:spTree>
      <p:nvGrpSpPr>
        <p:cNvPr id="1" name=""/>
        <p:cNvGrpSpPr/>
        <p:nvPr/>
      </p:nvGrpSpPr>
      <p:grpSpPr>
        <a:xfrm>
          <a:off x="0" y="0"/>
          <a:ext cx="0" cy="0"/>
          <a:chOff x="0" y="0"/>
          <a:chExt cx="0" cy="0"/>
        </a:xfrm>
      </p:grpSpPr>
      <p:sp>
        <p:nvSpPr>
          <p:cNvPr id="2" name="Shape 0"/>
          <p:cNvSpPr/>
          <p:nvPr/>
        </p:nvSpPr>
        <p:spPr>
          <a:xfrm>
            <a:off x="8366760" y="292608"/>
            <a:ext cx="3200400" cy="420624"/>
          </a:xfrm>
          <a:prstGeom prst="roundRect">
            <a:avLst>
              <a:gd name="adj" fmla="val 50000"/>
            </a:avLst>
          </a:prstGeom>
          <a:solidFill>
            <a:srgbClr val="FFC24B"/>
          </a:solidFill>
          <a:ln w="12700">
            <a:solidFill>
              <a:srgbClr val="FFC24B"/>
            </a:solidFill>
            <a:prstDash val="solid"/>
          </a:ln>
        </p:spPr>
        <p:txBody>
          <a:bodyPr/>
          <a:p/>
        </p:txBody>
      </p:sp>
      <p:sp>
        <p:nvSpPr>
          <p:cNvPr id="3" name="Text 1"/>
          <p:cNvSpPr/>
          <p:nvPr/>
        </p:nvSpPr>
        <p:spPr>
          <a:xfrm>
            <a:off x="8366760" y="292608"/>
            <a:ext cx="3200400" cy="420624"/>
          </a:xfrm>
          <a:prstGeom prst="rect">
            <a:avLst/>
          </a:prstGeom>
          <a:noFill/>
          <a:ln/>
        </p:spPr>
        <p:txBody>
          <a:bodyPr wrap="square" lIns="0" tIns="0" rIns="0" bIns="0" rtlCol="0" anchor="ctr"/>
          <a:lstStyle/>
          <a:p>
            <a:pPr algn="ctr" indent="0" marL="0">
              <a:buNone/>
            </a:pPr>
            <a:r>
              <a:rPr lang="en-US" sz="1300" b="1" dirty="0">
                <a:solidFill>
                  <a:srgbClr val="11121A"/>
                </a:solidFill>
                <a:latin typeface="Palatino Linotype" pitchFamily="34" charset="0"/>
                <a:ea typeface="Palatino Linotype" pitchFamily="34" charset="-122"/>
                <a:cs typeface="Palatino Linotype" pitchFamily="34" charset="-120"/>
              </a:rPr>
              <a:t>MENTIMETER · VOT</a:t>
            </a:r>
            <a:endParaRPr lang="en-US" sz="1300" dirty="0"/>
          </a:p>
        </p:txBody>
      </p:sp>
      <p:sp>
        <p:nvSpPr>
          <p:cNvPr id="4" name="Text 2"/>
          <p:cNvSpPr/>
          <p:nvPr/>
        </p:nvSpPr>
        <p:spPr>
          <a:xfrm>
            <a:off x="594360" y="347472"/>
            <a:ext cx="7680960" cy="329184"/>
          </a:xfrm>
          <a:prstGeom prst="rect">
            <a:avLst/>
          </a:prstGeom>
          <a:noFill/>
          <a:ln/>
        </p:spPr>
        <p:txBody>
          <a:bodyPr wrap="square" lIns="0" tIns="0" rIns="0" bIns="0" rtlCol="0" anchor="t"/>
          <a:lstStyle/>
          <a:p>
            <a:pPr indent="0" marL="0">
              <a:buNone/>
            </a:pPr>
            <a:r>
              <a:rPr lang="en-US" sz="1300" b="1" spc="200" kern="0" dirty="0">
                <a:solidFill>
                  <a:srgbClr val="FFC24B"/>
                </a:solidFill>
                <a:latin typeface="Palatino Linotype" pitchFamily="34" charset="0"/>
                <a:ea typeface="Palatino Linotype" pitchFamily="34" charset="-122"/>
                <a:cs typeface="Palatino Linotype" pitchFamily="34" charset="-120"/>
              </a:rPr>
              <a:t>VOTUL DESPRE VALOARE</a:t>
            </a:r>
            <a:endParaRPr lang="en-US" sz="1300" dirty="0"/>
          </a:p>
        </p:txBody>
      </p:sp>
      <p:sp>
        <p:nvSpPr>
          <p:cNvPr id="5" name="Text 3"/>
          <p:cNvSpPr/>
          <p:nvPr/>
        </p:nvSpPr>
        <p:spPr>
          <a:xfrm>
            <a:off x="594360" y="777240"/>
            <a:ext cx="10972800" cy="457200"/>
          </a:xfrm>
          <a:prstGeom prst="rect">
            <a:avLst/>
          </a:prstGeom>
          <a:noFill/>
          <a:ln/>
        </p:spPr>
        <p:txBody>
          <a:bodyPr wrap="square" lIns="0" tIns="0" rIns="0" bIns="0" rtlCol="0" anchor="t"/>
          <a:lstStyle/>
          <a:p>
            <a:pPr indent="0" marL="0">
              <a:buNone/>
            </a:pPr>
            <a:r>
              <a:rPr lang="en-US" sz="1700" i="1" dirty="0">
                <a:solidFill>
                  <a:srgbClr val="959BB0"/>
                </a:solidFill>
                <a:latin typeface="Palatino Linotype" pitchFamily="34" charset="0"/>
                <a:ea typeface="Palatino Linotype" pitchFamily="34" charset="-122"/>
                <a:cs typeface="Palatino Linotype" pitchFamily="34" charset="-120"/>
              </a:rPr>
              <a:t>Directorul vrea să crească valoarea recuperării după fractura de șold.</a:t>
            </a:r>
            <a:endParaRPr lang="en-US" sz="1700" dirty="0"/>
          </a:p>
        </p:txBody>
      </p:sp>
      <p:sp>
        <p:nvSpPr>
          <p:cNvPr id="6" name="Text 4"/>
          <p:cNvSpPr/>
          <p:nvPr/>
        </p:nvSpPr>
        <p:spPr>
          <a:xfrm>
            <a:off x="594360" y="1280160"/>
            <a:ext cx="10972800" cy="731520"/>
          </a:xfrm>
          <a:prstGeom prst="rect">
            <a:avLst/>
          </a:prstGeom>
          <a:noFill/>
          <a:ln/>
        </p:spPr>
        <p:txBody>
          <a:bodyPr wrap="square" lIns="0" tIns="0" rIns="0" bIns="0" rtlCol="0" anchor="t"/>
          <a:lstStyle/>
          <a:p>
            <a:pPr indent="0" marL="0">
              <a:buNone/>
            </a:pPr>
            <a:r>
              <a:rPr lang="en-US" sz="2600" b="1" dirty="0">
                <a:solidFill>
                  <a:srgbClr val="FFFFFF"/>
                </a:solidFill>
                <a:latin typeface="Palatino Linotype" pitchFamily="34" charset="0"/>
                <a:ea typeface="Palatino Linotype" pitchFamily="34" charset="-122"/>
                <a:cs typeface="Palatino Linotype" pitchFamily="34" charset="-120"/>
              </a:rPr>
              <a:t>Care propunere îi permite să judece valoarea în sensul restrâns?</a:t>
            </a:r>
            <a:endParaRPr lang="en-US" sz="2600" dirty="0"/>
          </a:p>
        </p:txBody>
      </p:sp>
      <p:sp>
        <p:nvSpPr>
          <p:cNvPr id="7" name="Shape 5"/>
          <p:cNvSpPr/>
          <p:nvPr/>
        </p:nvSpPr>
        <p:spPr>
          <a:xfrm>
            <a:off x="594360" y="2148840"/>
            <a:ext cx="10972800" cy="704088"/>
          </a:xfrm>
          <a:prstGeom prst="roundRect">
            <a:avLst>
              <a:gd name="adj" fmla="val 11688"/>
            </a:avLst>
          </a:prstGeom>
          <a:solidFill>
            <a:srgbClr val="272A38"/>
          </a:solidFill>
          <a:ln w="12700">
            <a:solidFill>
              <a:srgbClr val="272A38"/>
            </a:solidFill>
            <a:prstDash val="solid"/>
          </a:ln>
        </p:spPr>
        <p:txBody>
          <a:bodyPr/>
          <a:p/>
        </p:txBody>
      </p:sp>
      <p:sp>
        <p:nvSpPr>
          <p:cNvPr id="8" name="Shape 6"/>
          <p:cNvSpPr/>
          <p:nvPr/>
        </p:nvSpPr>
        <p:spPr>
          <a:xfrm>
            <a:off x="868680" y="2290572"/>
            <a:ext cx="420624" cy="420624"/>
          </a:xfrm>
          <a:prstGeom prst="ellipse">
            <a:avLst/>
          </a:prstGeom>
          <a:solidFill>
            <a:srgbClr val="FFC24B"/>
          </a:solidFill>
          <a:ln/>
        </p:spPr>
        <p:txBody>
          <a:bodyPr/>
          <a:p/>
        </p:txBody>
      </p:sp>
      <p:sp>
        <p:nvSpPr>
          <p:cNvPr id="9" name="Text 7"/>
          <p:cNvSpPr/>
          <p:nvPr/>
        </p:nvSpPr>
        <p:spPr>
          <a:xfrm>
            <a:off x="868680" y="2290572"/>
            <a:ext cx="420624" cy="420624"/>
          </a:xfrm>
          <a:prstGeom prst="rect">
            <a:avLst/>
          </a:prstGeom>
          <a:noFill/>
          <a:ln/>
        </p:spPr>
        <p:txBody>
          <a:bodyPr wrap="square" lIns="0" tIns="0" rIns="0" bIns="0" rtlCol="0" anchor="ctr"/>
          <a:lstStyle/>
          <a:p>
            <a:pPr algn="ctr" indent="0" marL="0">
              <a:buNone/>
            </a:pPr>
            <a:r>
              <a:rPr lang="en-US" sz="1400" b="1" dirty="0">
                <a:solidFill>
                  <a:srgbClr val="11121A"/>
                </a:solidFill>
                <a:latin typeface="Palatino Linotype" pitchFamily="34" charset="0"/>
                <a:ea typeface="Palatino Linotype" pitchFamily="34" charset="-122"/>
                <a:cs typeface="Palatino Linotype" pitchFamily="34" charset="-120"/>
              </a:rPr>
              <a:t>A</a:t>
            </a:r>
            <a:endParaRPr lang="en-US" sz="1400" dirty="0"/>
          </a:p>
        </p:txBody>
      </p:sp>
      <p:sp>
        <p:nvSpPr>
          <p:cNvPr id="10" name="Text 8"/>
          <p:cNvSpPr/>
          <p:nvPr/>
        </p:nvSpPr>
        <p:spPr>
          <a:xfrm>
            <a:off x="1554480" y="2148840"/>
            <a:ext cx="9784080" cy="704088"/>
          </a:xfrm>
          <a:prstGeom prst="rect">
            <a:avLst/>
          </a:prstGeom>
          <a:noFill/>
          <a:ln/>
        </p:spPr>
        <p:txBody>
          <a:bodyPr wrap="square" lIns="0" tIns="0" rIns="0" bIns="0" rtlCol="0" anchor="ctr"/>
          <a:lstStyle/>
          <a:p>
            <a:pPr indent="0" marL="0">
              <a:buNone/>
            </a:pPr>
            <a:r>
              <a:rPr lang="en-US" sz="1700" dirty="0">
                <a:solidFill>
                  <a:srgbClr val="FFFFFF"/>
                </a:solidFill>
                <a:latin typeface="Palatino Linotype" pitchFamily="34" charset="0"/>
                <a:ea typeface="Palatino Linotype" pitchFamily="34" charset="-122"/>
                <a:cs typeface="Palatino Linotype" pitchFamily="34" charset="-120"/>
              </a:rPr>
              <a:t>Scurtarea internării cu o săptămână, fără altă schimbare</a:t>
            </a:r>
            <a:endParaRPr lang="en-US" sz="1700" dirty="0"/>
          </a:p>
        </p:txBody>
      </p:sp>
      <p:sp>
        <p:nvSpPr>
          <p:cNvPr id="11" name="Shape 9"/>
          <p:cNvSpPr/>
          <p:nvPr/>
        </p:nvSpPr>
        <p:spPr>
          <a:xfrm>
            <a:off x="594360" y="2990088"/>
            <a:ext cx="10972800" cy="704088"/>
          </a:xfrm>
          <a:prstGeom prst="roundRect">
            <a:avLst>
              <a:gd name="adj" fmla="val 11688"/>
            </a:avLst>
          </a:prstGeom>
          <a:solidFill>
            <a:srgbClr val="272A38"/>
          </a:solidFill>
          <a:ln w="12700">
            <a:solidFill>
              <a:srgbClr val="272A38"/>
            </a:solidFill>
            <a:prstDash val="solid"/>
          </a:ln>
        </p:spPr>
        <p:txBody>
          <a:bodyPr/>
          <a:p/>
        </p:txBody>
      </p:sp>
      <p:sp>
        <p:nvSpPr>
          <p:cNvPr id="12" name="Shape 10"/>
          <p:cNvSpPr/>
          <p:nvPr/>
        </p:nvSpPr>
        <p:spPr>
          <a:xfrm>
            <a:off x="868680" y="3131820"/>
            <a:ext cx="420624" cy="420624"/>
          </a:xfrm>
          <a:prstGeom prst="ellipse">
            <a:avLst/>
          </a:prstGeom>
          <a:solidFill>
            <a:srgbClr val="FFC24B"/>
          </a:solidFill>
          <a:ln/>
        </p:spPr>
        <p:txBody>
          <a:bodyPr/>
          <a:p/>
        </p:txBody>
      </p:sp>
      <p:sp>
        <p:nvSpPr>
          <p:cNvPr id="13" name="Text 11"/>
          <p:cNvSpPr/>
          <p:nvPr/>
        </p:nvSpPr>
        <p:spPr>
          <a:xfrm>
            <a:off x="868680" y="3131820"/>
            <a:ext cx="420624" cy="420624"/>
          </a:xfrm>
          <a:prstGeom prst="rect">
            <a:avLst/>
          </a:prstGeom>
          <a:noFill/>
          <a:ln/>
        </p:spPr>
        <p:txBody>
          <a:bodyPr wrap="square" lIns="0" tIns="0" rIns="0" bIns="0" rtlCol="0" anchor="ctr"/>
          <a:lstStyle/>
          <a:p>
            <a:pPr algn="ctr" indent="0" marL="0">
              <a:buNone/>
            </a:pPr>
            <a:r>
              <a:rPr lang="en-US" sz="1400" b="1" dirty="0">
                <a:solidFill>
                  <a:srgbClr val="11121A"/>
                </a:solidFill>
                <a:latin typeface="Palatino Linotype" pitchFamily="34" charset="0"/>
                <a:ea typeface="Palatino Linotype" pitchFamily="34" charset="-122"/>
                <a:cs typeface="Palatino Linotype" pitchFamily="34" charset="-120"/>
              </a:rPr>
              <a:t>B</a:t>
            </a:r>
            <a:endParaRPr lang="en-US" sz="1400" dirty="0"/>
          </a:p>
        </p:txBody>
      </p:sp>
      <p:sp>
        <p:nvSpPr>
          <p:cNvPr id="14" name="Text 12"/>
          <p:cNvSpPr/>
          <p:nvPr/>
        </p:nvSpPr>
        <p:spPr>
          <a:xfrm>
            <a:off x="1554480" y="2990088"/>
            <a:ext cx="9784080" cy="704088"/>
          </a:xfrm>
          <a:prstGeom prst="rect">
            <a:avLst/>
          </a:prstGeom>
          <a:noFill/>
          <a:ln/>
        </p:spPr>
        <p:txBody>
          <a:bodyPr wrap="square" lIns="0" tIns="0" rIns="0" bIns="0" rtlCol="0" anchor="ctr"/>
          <a:lstStyle/>
          <a:p>
            <a:pPr indent="0" marL="0">
              <a:buNone/>
            </a:pPr>
            <a:r>
              <a:rPr lang="en-US" sz="1700" dirty="0">
                <a:solidFill>
                  <a:srgbClr val="FFFFFF"/>
                </a:solidFill>
                <a:latin typeface="Palatino Linotype" pitchFamily="34" charset="0"/>
                <a:ea typeface="Palatino Linotype" pitchFamily="34" charset="-122"/>
                <a:cs typeface="Palatino Linotype" pitchFamily="34" charset="-120"/>
              </a:rPr>
              <a:t>Chestionar standardizat după externare; programele comparate după rezultatul la trei luni raportat la costul întregului drum</a:t>
            </a:r>
            <a:endParaRPr lang="en-US" sz="1700" dirty="0"/>
          </a:p>
        </p:txBody>
      </p:sp>
      <p:sp>
        <p:nvSpPr>
          <p:cNvPr id="15" name="Shape 13"/>
          <p:cNvSpPr/>
          <p:nvPr/>
        </p:nvSpPr>
        <p:spPr>
          <a:xfrm>
            <a:off x="594360" y="3831336"/>
            <a:ext cx="10972800" cy="704088"/>
          </a:xfrm>
          <a:prstGeom prst="roundRect">
            <a:avLst>
              <a:gd name="adj" fmla="val 11688"/>
            </a:avLst>
          </a:prstGeom>
          <a:solidFill>
            <a:srgbClr val="272A38"/>
          </a:solidFill>
          <a:ln w="12700">
            <a:solidFill>
              <a:srgbClr val="272A38"/>
            </a:solidFill>
            <a:prstDash val="solid"/>
          </a:ln>
        </p:spPr>
        <p:txBody>
          <a:bodyPr/>
          <a:p/>
        </p:txBody>
      </p:sp>
      <p:sp>
        <p:nvSpPr>
          <p:cNvPr id="16" name="Shape 14"/>
          <p:cNvSpPr/>
          <p:nvPr/>
        </p:nvSpPr>
        <p:spPr>
          <a:xfrm>
            <a:off x="868680" y="3973068"/>
            <a:ext cx="420624" cy="420624"/>
          </a:xfrm>
          <a:prstGeom prst="ellipse">
            <a:avLst/>
          </a:prstGeom>
          <a:solidFill>
            <a:srgbClr val="FFC24B"/>
          </a:solidFill>
          <a:ln/>
        </p:spPr>
        <p:txBody>
          <a:bodyPr/>
          <a:p/>
        </p:txBody>
      </p:sp>
      <p:sp>
        <p:nvSpPr>
          <p:cNvPr id="17" name="Text 15"/>
          <p:cNvSpPr/>
          <p:nvPr/>
        </p:nvSpPr>
        <p:spPr>
          <a:xfrm>
            <a:off x="868680" y="3973068"/>
            <a:ext cx="420624" cy="420624"/>
          </a:xfrm>
          <a:prstGeom prst="rect">
            <a:avLst/>
          </a:prstGeom>
          <a:noFill/>
          <a:ln/>
        </p:spPr>
        <p:txBody>
          <a:bodyPr wrap="square" lIns="0" tIns="0" rIns="0" bIns="0" rtlCol="0" anchor="ctr"/>
          <a:lstStyle/>
          <a:p>
            <a:pPr algn="ctr" indent="0" marL="0">
              <a:buNone/>
            </a:pPr>
            <a:r>
              <a:rPr lang="en-US" sz="1400" b="1" dirty="0">
                <a:solidFill>
                  <a:srgbClr val="11121A"/>
                </a:solidFill>
                <a:latin typeface="Palatino Linotype" pitchFamily="34" charset="0"/>
                <a:ea typeface="Palatino Linotype" pitchFamily="34" charset="-122"/>
                <a:cs typeface="Palatino Linotype" pitchFamily="34" charset="-120"/>
              </a:rPr>
              <a:t>C</a:t>
            </a:r>
            <a:endParaRPr lang="en-US" sz="1400" dirty="0"/>
          </a:p>
        </p:txBody>
      </p:sp>
      <p:sp>
        <p:nvSpPr>
          <p:cNvPr id="18" name="Text 16"/>
          <p:cNvSpPr/>
          <p:nvPr/>
        </p:nvSpPr>
        <p:spPr>
          <a:xfrm>
            <a:off x="1554480" y="3831336"/>
            <a:ext cx="9784080" cy="704088"/>
          </a:xfrm>
          <a:prstGeom prst="rect">
            <a:avLst/>
          </a:prstGeom>
          <a:noFill/>
          <a:ln/>
        </p:spPr>
        <p:txBody>
          <a:bodyPr wrap="square" lIns="0" tIns="0" rIns="0" bIns="0" rtlCol="0" anchor="ctr"/>
          <a:lstStyle/>
          <a:p>
            <a:pPr indent="0" marL="0">
              <a:buNone/>
            </a:pPr>
            <a:r>
              <a:rPr lang="en-US" sz="1700" dirty="0">
                <a:solidFill>
                  <a:srgbClr val="FFFFFF"/>
                </a:solidFill>
                <a:latin typeface="Palatino Linotype" pitchFamily="34" charset="0"/>
                <a:ea typeface="Palatino Linotype" pitchFamily="34" charset="-122"/>
                <a:cs typeface="Palatino Linotype" pitchFamily="34" charset="-120"/>
              </a:rPr>
              <a:t>Mai multe ședințe pe zi</a:t>
            </a:r>
            <a:endParaRPr lang="en-US" sz="1700" dirty="0"/>
          </a:p>
        </p:txBody>
      </p:sp>
      <p:sp>
        <p:nvSpPr>
          <p:cNvPr id="19" name="Shape 17"/>
          <p:cNvSpPr/>
          <p:nvPr/>
        </p:nvSpPr>
        <p:spPr>
          <a:xfrm>
            <a:off x="594360" y="4672584"/>
            <a:ext cx="10972800" cy="704088"/>
          </a:xfrm>
          <a:prstGeom prst="roundRect">
            <a:avLst>
              <a:gd name="adj" fmla="val 11688"/>
            </a:avLst>
          </a:prstGeom>
          <a:solidFill>
            <a:srgbClr val="272A38"/>
          </a:solidFill>
          <a:ln w="12700">
            <a:solidFill>
              <a:srgbClr val="272A38"/>
            </a:solidFill>
            <a:prstDash val="solid"/>
          </a:ln>
        </p:spPr>
        <p:txBody>
          <a:bodyPr/>
          <a:p/>
        </p:txBody>
      </p:sp>
      <p:sp>
        <p:nvSpPr>
          <p:cNvPr id="20" name="Shape 18"/>
          <p:cNvSpPr/>
          <p:nvPr/>
        </p:nvSpPr>
        <p:spPr>
          <a:xfrm>
            <a:off x="868680" y="4814316"/>
            <a:ext cx="420624" cy="420624"/>
          </a:xfrm>
          <a:prstGeom prst="ellipse">
            <a:avLst/>
          </a:prstGeom>
          <a:solidFill>
            <a:srgbClr val="FFC24B"/>
          </a:solidFill>
          <a:ln/>
        </p:spPr>
        <p:txBody>
          <a:bodyPr/>
          <a:p/>
        </p:txBody>
      </p:sp>
      <p:sp>
        <p:nvSpPr>
          <p:cNvPr id="21" name="Text 19"/>
          <p:cNvSpPr/>
          <p:nvPr/>
        </p:nvSpPr>
        <p:spPr>
          <a:xfrm>
            <a:off x="868680" y="4814316"/>
            <a:ext cx="420624" cy="420624"/>
          </a:xfrm>
          <a:prstGeom prst="rect">
            <a:avLst/>
          </a:prstGeom>
          <a:noFill/>
          <a:ln/>
        </p:spPr>
        <p:txBody>
          <a:bodyPr wrap="square" lIns="0" tIns="0" rIns="0" bIns="0" rtlCol="0" anchor="ctr"/>
          <a:lstStyle/>
          <a:p>
            <a:pPr algn="ctr" indent="0" marL="0">
              <a:buNone/>
            </a:pPr>
            <a:r>
              <a:rPr lang="en-US" sz="1400" b="1" dirty="0">
                <a:solidFill>
                  <a:srgbClr val="11121A"/>
                </a:solidFill>
                <a:latin typeface="Palatino Linotype" pitchFamily="34" charset="0"/>
                <a:ea typeface="Palatino Linotype" pitchFamily="34" charset="-122"/>
                <a:cs typeface="Palatino Linotype" pitchFamily="34" charset="-120"/>
              </a:rPr>
              <a:t>D</a:t>
            </a:r>
            <a:endParaRPr lang="en-US" sz="1400" dirty="0"/>
          </a:p>
        </p:txBody>
      </p:sp>
      <p:sp>
        <p:nvSpPr>
          <p:cNvPr id="22" name="Text 20"/>
          <p:cNvSpPr/>
          <p:nvPr/>
        </p:nvSpPr>
        <p:spPr>
          <a:xfrm>
            <a:off x="1554480" y="4672584"/>
            <a:ext cx="9784080" cy="704088"/>
          </a:xfrm>
          <a:prstGeom prst="rect">
            <a:avLst/>
          </a:prstGeom>
          <a:noFill/>
          <a:ln/>
        </p:spPr>
        <p:txBody>
          <a:bodyPr wrap="square" lIns="0" tIns="0" rIns="0" bIns="0" rtlCol="0" anchor="ctr"/>
          <a:lstStyle/>
          <a:p>
            <a:pPr indent="0" marL="0">
              <a:buNone/>
            </a:pPr>
            <a:r>
              <a:rPr lang="en-US" sz="1700" dirty="0">
                <a:solidFill>
                  <a:srgbClr val="FFFFFF"/>
                </a:solidFill>
                <a:latin typeface="Palatino Linotype" pitchFamily="34" charset="0"/>
                <a:ea typeface="Palatino Linotype" pitchFamily="34" charset="-122"/>
                <a:cs typeface="Palatino Linotype" pitchFamily="34" charset="-120"/>
              </a:rPr>
              <a:t>Primirea cu prioritate a pacienților cei mai tineri</a:t>
            </a:r>
            <a:endParaRPr lang="en-US" sz="1700" dirty="0"/>
          </a:p>
        </p:txBody>
      </p:sp>
      <p:sp>
        <p:nvSpPr>
          <p:cNvPr id="23" name="Text 21"/>
          <p:cNvSpPr/>
          <p:nvPr/>
        </p:nvSpPr>
        <p:spPr>
          <a:xfrm>
            <a:off x="594360" y="5669280"/>
            <a:ext cx="8046720" cy="457200"/>
          </a:xfrm>
          <a:prstGeom prst="rect">
            <a:avLst/>
          </a:prstGeom>
          <a:noFill/>
          <a:ln/>
        </p:spPr>
        <p:txBody>
          <a:bodyPr wrap="square" lIns="0" tIns="0" rIns="0" bIns="0" rtlCol="0" anchor="ctr"/>
          <a:lstStyle/>
          <a:p>
            <a:pPr indent="0" marL="0">
              <a:buNone/>
            </a:pPr>
            <a:r>
              <a:rPr lang="en-US" sz="1400" i="1" dirty="0">
                <a:solidFill>
                  <a:srgbClr val="959BB0"/>
                </a:solidFill>
                <a:latin typeface="Palatino Linotype" pitchFamily="34" charset="0"/>
                <a:ea typeface="Palatino Linotype" pitchFamily="34" charset="-122"/>
                <a:cs typeface="Palatino Linotype" pitchFamily="34" charset="-120"/>
              </a:rPr>
              <a:t>Vot anonim.</a:t>
            </a:r>
            <a:endParaRPr lang="en-US" sz="1400" dirty="0"/>
          </a:p>
        </p:txBody>
      </p:sp>
      <p:sp>
        <p:nvSpPr>
          <p:cNvPr id="24" name="Shape 22"/>
          <p:cNvSpPr/>
          <p:nvPr/>
        </p:nvSpPr>
        <p:spPr>
          <a:xfrm>
            <a:off x="8823960" y="5669280"/>
            <a:ext cx="2743200" cy="457200"/>
          </a:xfrm>
          <a:prstGeom prst="roundRect">
            <a:avLst>
              <a:gd name="adj" fmla="val 18000"/>
            </a:avLst>
          </a:prstGeom>
          <a:solidFill>
            <a:srgbClr val="272A38"/>
          </a:solidFill>
          <a:ln w="12700">
            <a:solidFill>
              <a:srgbClr val="272A38"/>
            </a:solidFill>
            <a:prstDash val="solid"/>
          </a:ln>
        </p:spPr>
        <p:txBody>
          <a:bodyPr/>
          <a:p/>
        </p:txBody>
      </p:sp>
      <p:sp>
        <p:nvSpPr>
          <p:cNvPr id="25" name="Text 23"/>
          <p:cNvSpPr/>
          <p:nvPr/>
        </p:nvSpPr>
        <p:spPr>
          <a:xfrm>
            <a:off x="8823960" y="5669280"/>
            <a:ext cx="2743200" cy="457200"/>
          </a:xfrm>
          <a:prstGeom prst="rect">
            <a:avLst/>
          </a:prstGeom>
          <a:noFill/>
          <a:ln/>
        </p:spPr>
        <p:txBody>
          <a:bodyPr wrap="square" lIns="228600" tIns="0" rIns="228600" bIns="0" rtlCol="0" anchor="ctr"/>
          <a:lstStyle/>
          <a:p>
            <a:pPr algn="ctr" indent="0" marL="0">
              <a:buNone/>
            </a:pPr>
            <a:r>
              <a:rPr lang="en-US" sz="1100" b="1" dirty="0" i="1">
                <a:solidFill>
                  <a:srgbClr val="FFC24B"/>
                </a:solidFill>
                <a:latin typeface="Palatino Linotype" pitchFamily="34" charset="0"/>
                <a:ea typeface="Palatino Linotype" pitchFamily="34" charset="-122"/>
                <a:cs typeface="Palatino Linotype" pitchFamily="34" charset="-120"/>
              </a:rPr>
              <a:t>menti.com · codul de pe ecran</a:t>
            </a:r>
            <a:endParaRPr lang="en-US" sz="1200" dirty="0"/>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name="Slide 21">
    <p:bg>
      <p:bgPr>
        <a:solidFill>
          <a:srgbClr val="F6F5F2"/>
        </a:solidFill>
      </p:bgPr>
    </p:bg>
    <p:spTree>
      <p:nvGrpSpPr>
        <p:cNvPr id="1" name=""/>
        <p:cNvGrpSpPr/>
        <p:nvPr/>
      </p:nvGrpSpPr>
      <p:grpSpPr>
        <a:xfrm>
          <a:off x="0" y="0"/>
          <a:ext cx="0" cy="0"/>
          <a:chOff x="0" y="0"/>
          <a:chExt cx="0" cy="0"/>
        </a:xfrm>
      </p:grpSpPr>
      <p:sp>
        <p:nvSpPr>
          <p:cNvPr id="2" name="Text 0"/>
          <p:cNvSpPr/>
          <p:nvPr/>
        </p:nvSpPr>
        <p:spPr>
          <a:xfrm>
            <a:off x="594360" y="347472"/>
            <a:ext cx="7680960" cy="329184"/>
          </a:xfrm>
          <a:prstGeom prst="rect">
            <a:avLst/>
          </a:prstGeom>
          <a:noFill/>
          <a:ln/>
        </p:spPr>
        <p:txBody>
          <a:bodyPr wrap="square" lIns="0" tIns="0" rIns="0" bIns="0" rtlCol="0" anchor="t"/>
          <a:lstStyle/>
          <a:p>
            <a:pPr indent="0" marL="0">
              <a:buNone/>
            </a:pPr>
            <a:r>
              <a:rPr lang="en-US" sz="1300" b="1" spc="200" kern="0" dirty="0">
                <a:solidFill>
                  <a:srgbClr val="B02532"/>
                </a:solidFill>
                <a:latin typeface="Palatino Linotype" pitchFamily="34" charset="0"/>
                <a:ea typeface="Palatino Linotype" pitchFamily="34" charset="-122"/>
                <a:cs typeface="Palatino Linotype" pitchFamily="34" charset="-120"/>
              </a:rPr>
              <a:t>CE MĂSOARĂ FIECARE PROPUNERE</a:t>
            </a:r>
            <a:endParaRPr lang="en-US" sz="1300" dirty="0"/>
          </a:p>
        </p:txBody>
      </p:sp>
      <p:sp>
        <p:nvSpPr>
          <p:cNvPr id="3" name="Text 1"/>
          <p:cNvSpPr/>
          <p:nvPr/>
        </p:nvSpPr>
        <p:spPr>
          <a:xfrm>
            <a:off x="594360" y="713232"/>
            <a:ext cx="10972800" cy="914400"/>
          </a:xfrm>
          <a:prstGeom prst="rect">
            <a:avLst/>
          </a:prstGeom>
          <a:noFill/>
          <a:ln/>
        </p:spPr>
        <p:txBody>
          <a:bodyPr wrap="square" lIns="0" tIns="0" rIns="0" bIns="0" rtlCol="0" anchor="t"/>
          <a:lstStyle/>
          <a:p>
            <a:pPr indent="0" marL="0">
              <a:buNone/>
            </a:pPr>
            <a:r>
              <a:rPr lang="en-US" sz="2900" b="1" dirty="0">
                <a:solidFill>
                  <a:srgbClr val="11121A"/>
                </a:solidFill>
                <a:latin typeface="Palatino Linotype" pitchFamily="34" charset="0"/>
                <a:ea typeface="Palatino Linotype" pitchFamily="34" charset="-122"/>
                <a:cs typeface="Palatino Linotype" pitchFamily="34" charset="-120"/>
              </a:rPr>
              <a:t>Numai varianta B măsoară ambele părți ale fracției</a:t>
            </a:r>
            <a:endParaRPr lang="en-US" sz="2900" dirty="0"/>
          </a:p>
        </p:txBody>
      </p:sp>
      <p:sp>
        <p:nvSpPr>
          <p:cNvPr id="4" name="Shape 2"/>
          <p:cNvSpPr/>
          <p:nvPr/>
        </p:nvSpPr>
        <p:spPr>
          <a:xfrm>
            <a:off x="594360" y="1645920"/>
            <a:ext cx="10972800" cy="777240"/>
          </a:xfrm>
          <a:prstGeom prst="roundRect">
            <a:avLst>
              <a:gd name="adj" fmla="val 10588"/>
            </a:avLst>
          </a:prstGeom>
          <a:solidFill>
            <a:srgbClr val="E1F0EC"/>
          </a:solidFill>
          <a:ln w="12700">
            <a:solidFill>
              <a:srgbClr val="E1F0EC"/>
            </a:solidFill>
            <a:prstDash val="solid"/>
          </a:ln>
        </p:spPr>
        <p:txBody>
          <a:bodyPr/>
          <a:p/>
        </p:txBody>
      </p:sp>
      <p:sp>
        <p:nvSpPr>
          <p:cNvPr id="5" name="Shape 3"/>
          <p:cNvSpPr/>
          <p:nvPr/>
        </p:nvSpPr>
        <p:spPr>
          <a:xfrm>
            <a:off x="822960" y="1824228"/>
            <a:ext cx="420624" cy="420624"/>
          </a:xfrm>
          <a:prstGeom prst="ellipse">
            <a:avLst/>
          </a:prstGeom>
          <a:solidFill>
            <a:srgbClr val="0E7C6B"/>
          </a:solidFill>
          <a:ln/>
        </p:spPr>
        <p:txBody>
          <a:bodyPr/>
          <a:p/>
        </p:txBody>
      </p:sp>
      <p:sp>
        <p:nvSpPr>
          <p:cNvPr id="6" name="Text 4"/>
          <p:cNvSpPr/>
          <p:nvPr/>
        </p:nvSpPr>
        <p:spPr>
          <a:xfrm>
            <a:off x="822960" y="1824228"/>
            <a:ext cx="420624" cy="420624"/>
          </a:xfrm>
          <a:prstGeom prst="rect">
            <a:avLst/>
          </a:prstGeom>
          <a:noFill/>
          <a:ln/>
        </p:spPr>
        <p:txBody>
          <a:bodyPr wrap="square" lIns="0" tIns="0" rIns="0" bIns="0" rtlCol="0" anchor="ctr"/>
          <a:lstStyle/>
          <a:p>
            <a:pPr algn="ctr" indent="0" marL="0">
              <a:buNone/>
            </a:pPr>
            <a:r>
              <a:rPr lang="en-US" sz="1400" b="1" dirty="0">
                <a:solidFill>
                  <a:srgbClr val="FFFFFF"/>
                </a:solidFill>
                <a:latin typeface="Palatino Linotype" pitchFamily="34" charset="0"/>
                <a:ea typeface="Palatino Linotype" pitchFamily="34" charset="-122"/>
                <a:cs typeface="Palatino Linotype" pitchFamily="34" charset="-120"/>
              </a:rPr>
              <a:t>B</a:t>
            </a:r>
            <a:endParaRPr lang="en-US" sz="1400" dirty="0"/>
          </a:p>
        </p:txBody>
      </p:sp>
      <p:sp>
        <p:nvSpPr>
          <p:cNvPr id="7" name="Text 5"/>
          <p:cNvSpPr/>
          <p:nvPr/>
        </p:nvSpPr>
        <p:spPr>
          <a:xfrm>
            <a:off x="1463040" y="1645920"/>
            <a:ext cx="9875520" cy="777240"/>
          </a:xfrm>
          <a:prstGeom prst="rect">
            <a:avLst/>
          </a:prstGeom>
          <a:noFill/>
          <a:ln/>
        </p:spPr>
        <p:txBody>
          <a:bodyPr wrap="square" lIns="0" tIns="0" rIns="0" bIns="0" rtlCol="0" anchor="ctr"/>
          <a:lstStyle/>
          <a:p>
            <a:pPr indent="0" marL="0">
              <a:buNone/>
            </a:pPr>
            <a:r>
              <a:rPr lang="en-US" sz="1700" b="1" dirty="0">
                <a:solidFill>
                  <a:srgbClr val="11121A"/>
                </a:solidFill>
                <a:latin typeface="Palatino Linotype" pitchFamily="34" charset="0"/>
                <a:ea typeface="Palatino Linotype" pitchFamily="34" charset="-122"/>
                <a:cs typeface="Palatino Linotype" pitchFamily="34" charset="-120"/>
              </a:rPr>
              <a:t>Măsoară rezultatul care contează pentru pacient și îl raportează la costul întregului drum.</a:t>
            </a:r>
            <a:endParaRPr lang="en-US" sz="1700" dirty="0"/>
          </a:p>
        </p:txBody>
      </p:sp>
      <p:sp>
        <p:nvSpPr>
          <p:cNvPr id="8" name="Shape 6"/>
          <p:cNvSpPr/>
          <p:nvPr/>
        </p:nvSpPr>
        <p:spPr>
          <a:xfrm>
            <a:off x="594360" y="2560320"/>
            <a:ext cx="10972800" cy="777240"/>
          </a:xfrm>
          <a:prstGeom prst="roundRect">
            <a:avLst>
              <a:gd name="adj" fmla="val 10588"/>
            </a:avLst>
          </a:prstGeom>
          <a:solidFill>
            <a:srgbClr val="FFFFFF"/>
          </a:solidFill>
          <a:ln w="12700">
            <a:solidFill>
              <a:srgbClr val="FFFFFF"/>
            </a:solidFill>
            <a:prstDash val="solid"/>
          </a:ln>
        </p:spPr>
        <p:txBody>
          <a:bodyPr/>
          <a:p/>
        </p:txBody>
      </p:sp>
      <p:sp>
        <p:nvSpPr>
          <p:cNvPr id="9" name="Shape 7"/>
          <p:cNvSpPr/>
          <p:nvPr/>
        </p:nvSpPr>
        <p:spPr>
          <a:xfrm>
            <a:off x="822960" y="2738628"/>
            <a:ext cx="420624" cy="420624"/>
          </a:xfrm>
          <a:prstGeom prst="ellipse">
            <a:avLst/>
          </a:prstGeom>
          <a:solidFill>
            <a:srgbClr val="C9C6BE"/>
          </a:solidFill>
          <a:ln/>
        </p:spPr>
        <p:txBody>
          <a:bodyPr/>
          <a:p/>
        </p:txBody>
      </p:sp>
      <p:sp>
        <p:nvSpPr>
          <p:cNvPr id="10" name="Text 8"/>
          <p:cNvSpPr/>
          <p:nvPr/>
        </p:nvSpPr>
        <p:spPr>
          <a:xfrm>
            <a:off x="822960" y="2738628"/>
            <a:ext cx="420624" cy="420624"/>
          </a:xfrm>
          <a:prstGeom prst="rect">
            <a:avLst/>
          </a:prstGeom>
          <a:noFill/>
          <a:ln/>
        </p:spPr>
        <p:txBody>
          <a:bodyPr wrap="square" lIns="0" tIns="0" rIns="0" bIns="0" rtlCol="0" anchor="ctr"/>
          <a:lstStyle/>
          <a:p>
            <a:pPr algn="ctr" indent="0" marL="0">
              <a:buNone/>
            </a:pPr>
            <a:r>
              <a:rPr lang="en-US" sz="1400" b="1" dirty="0">
                <a:solidFill>
                  <a:srgbClr val="11121A"/>
                </a:solidFill>
                <a:latin typeface="Palatino Linotype" pitchFamily="34" charset="0"/>
                <a:ea typeface="Palatino Linotype" pitchFamily="34" charset="-122"/>
                <a:cs typeface="Palatino Linotype" pitchFamily="34" charset="-120"/>
              </a:rPr>
              <a:t>A</a:t>
            </a:r>
            <a:endParaRPr lang="en-US" sz="1400" dirty="0"/>
          </a:p>
        </p:txBody>
      </p:sp>
      <p:sp>
        <p:nvSpPr>
          <p:cNvPr id="11" name="Text 9"/>
          <p:cNvSpPr/>
          <p:nvPr/>
        </p:nvSpPr>
        <p:spPr>
          <a:xfrm>
            <a:off x="1463040" y="2560320"/>
            <a:ext cx="9875520" cy="777240"/>
          </a:xfrm>
          <a:prstGeom prst="rect">
            <a:avLst/>
          </a:prstGeom>
          <a:noFill/>
          <a:ln/>
        </p:spPr>
        <p:txBody>
          <a:bodyPr wrap="square" lIns="0" tIns="0" rIns="0" bIns="0" rtlCol="0" anchor="ctr"/>
          <a:lstStyle/>
          <a:p>
            <a:pPr indent="0" marL="0">
              <a:buNone/>
            </a:pPr>
            <a:r>
              <a:rPr lang="en-US" sz="1700" dirty="0">
                <a:solidFill>
                  <a:srgbClr val="11121A"/>
                </a:solidFill>
                <a:latin typeface="Palatino Linotype" pitchFamily="34" charset="0"/>
                <a:ea typeface="Palatino Linotype" pitchFamily="34" charset="-122"/>
                <a:cs typeface="Palatino Linotype" pitchFamily="34" charset="-120"/>
              </a:rPr>
              <a:t>Reduce costul fără să știe ce se întâmplă cu rezultatul.</a:t>
            </a:r>
            <a:endParaRPr lang="en-US" sz="1700" dirty="0"/>
          </a:p>
        </p:txBody>
      </p:sp>
      <p:sp>
        <p:nvSpPr>
          <p:cNvPr id="12" name="Shape 10"/>
          <p:cNvSpPr/>
          <p:nvPr/>
        </p:nvSpPr>
        <p:spPr>
          <a:xfrm>
            <a:off x="594360" y="3474720"/>
            <a:ext cx="10972800" cy="777240"/>
          </a:xfrm>
          <a:prstGeom prst="roundRect">
            <a:avLst>
              <a:gd name="adj" fmla="val 10588"/>
            </a:avLst>
          </a:prstGeom>
          <a:solidFill>
            <a:srgbClr val="FFFFFF"/>
          </a:solidFill>
          <a:ln w="12700">
            <a:solidFill>
              <a:srgbClr val="FFFFFF"/>
            </a:solidFill>
            <a:prstDash val="solid"/>
          </a:ln>
        </p:spPr>
        <p:txBody>
          <a:bodyPr/>
          <a:p/>
        </p:txBody>
      </p:sp>
      <p:sp>
        <p:nvSpPr>
          <p:cNvPr id="13" name="Shape 11"/>
          <p:cNvSpPr/>
          <p:nvPr/>
        </p:nvSpPr>
        <p:spPr>
          <a:xfrm>
            <a:off x="822960" y="3653028"/>
            <a:ext cx="420624" cy="420624"/>
          </a:xfrm>
          <a:prstGeom prst="ellipse">
            <a:avLst/>
          </a:prstGeom>
          <a:solidFill>
            <a:srgbClr val="C9C6BE"/>
          </a:solidFill>
          <a:ln/>
        </p:spPr>
        <p:txBody>
          <a:bodyPr/>
          <a:p/>
        </p:txBody>
      </p:sp>
      <p:sp>
        <p:nvSpPr>
          <p:cNvPr id="14" name="Text 12"/>
          <p:cNvSpPr/>
          <p:nvPr/>
        </p:nvSpPr>
        <p:spPr>
          <a:xfrm>
            <a:off x="822960" y="3653028"/>
            <a:ext cx="420624" cy="420624"/>
          </a:xfrm>
          <a:prstGeom prst="rect">
            <a:avLst/>
          </a:prstGeom>
          <a:noFill/>
          <a:ln/>
        </p:spPr>
        <p:txBody>
          <a:bodyPr wrap="square" lIns="0" tIns="0" rIns="0" bIns="0" rtlCol="0" anchor="ctr"/>
          <a:lstStyle/>
          <a:p>
            <a:pPr algn="ctr" indent="0" marL="0">
              <a:buNone/>
            </a:pPr>
            <a:r>
              <a:rPr lang="en-US" sz="1400" b="1" dirty="0">
                <a:solidFill>
                  <a:srgbClr val="11121A"/>
                </a:solidFill>
                <a:latin typeface="Palatino Linotype" pitchFamily="34" charset="0"/>
                <a:ea typeface="Palatino Linotype" pitchFamily="34" charset="-122"/>
                <a:cs typeface="Palatino Linotype" pitchFamily="34" charset="-120"/>
              </a:rPr>
              <a:t>C</a:t>
            </a:r>
            <a:endParaRPr lang="en-US" sz="1400" dirty="0"/>
          </a:p>
        </p:txBody>
      </p:sp>
      <p:sp>
        <p:nvSpPr>
          <p:cNvPr id="15" name="Text 13"/>
          <p:cNvSpPr/>
          <p:nvPr/>
        </p:nvSpPr>
        <p:spPr>
          <a:xfrm>
            <a:off x="1463040" y="3474720"/>
            <a:ext cx="9875520" cy="777240"/>
          </a:xfrm>
          <a:prstGeom prst="rect">
            <a:avLst/>
          </a:prstGeom>
          <a:noFill/>
          <a:ln/>
        </p:spPr>
        <p:txBody>
          <a:bodyPr wrap="square" lIns="0" tIns="0" rIns="0" bIns="0" rtlCol="0" anchor="ctr"/>
          <a:lstStyle/>
          <a:p>
            <a:pPr indent="0" marL="0">
              <a:buNone/>
            </a:pPr>
            <a:r>
              <a:rPr lang="en-US" sz="1700" dirty="0">
                <a:solidFill>
                  <a:srgbClr val="11121A"/>
                </a:solidFill>
                <a:latin typeface="Palatino Linotype" pitchFamily="34" charset="0"/>
                <a:ea typeface="Palatino Linotype" pitchFamily="34" charset="-122"/>
                <a:cs typeface="Palatino Linotype" pitchFamily="34" charset="-120"/>
              </a:rPr>
              <a:t>Crește procesul, nu neapărat rezultatul.</a:t>
            </a:r>
            <a:endParaRPr lang="en-US" sz="1700" dirty="0"/>
          </a:p>
        </p:txBody>
      </p:sp>
      <p:sp>
        <p:nvSpPr>
          <p:cNvPr id="16" name="Shape 14"/>
          <p:cNvSpPr/>
          <p:nvPr/>
        </p:nvSpPr>
        <p:spPr>
          <a:xfrm>
            <a:off x="594360" y="4389120"/>
            <a:ext cx="10972800" cy="777240"/>
          </a:xfrm>
          <a:prstGeom prst="roundRect">
            <a:avLst>
              <a:gd name="adj" fmla="val 10588"/>
            </a:avLst>
          </a:prstGeom>
          <a:solidFill>
            <a:srgbClr val="FFFFFF"/>
          </a:solidFill>
          <a:ln w="12700">
            <a:solidFill>
              <a:srgbClr val="FFFFFF"/>
            </a:solidFill>
            <a:prstDash val="solid"/>
          </a:ln>
        </p:spPr>
        <p:txBody>
          <a:bodyPr/>
          <a:p/>
        </p:txBody>
      </p:sp>
      <p:sp>
        <p:nvSpPr>
          <p:cNvPr id="17" name="Shape 15"/>
          <p:cNvSpPr/>
          <p:nvPr/>
        </p:nvSpPr>
        <p:spPr>
          <a:xfrm>
            <a:off x="822960" y="4567428"/>
            <a:ext cx="420624" cy="420624"/>
          </a:xfrm>
          <a:prstGeom prst="ellipse">
            <a:avLst/>
          </a:prstGeom>
          <a:solidFill>
            <a:srgbClr val="C9C6BE"/>
          </a:solidFill>
          <a:ln/>
        </p:spPr>
        <p:txBody>
          <a:bodyPr/>
          <a:p/>
        </p:txBody>
      </p:sp>
      <p:sp>
        <p:nvSpPr>
          <p:cNvPr id="18" name="Text 16"/>
          <p:cNvSpPr/>
          <p:nvPr/>
        </p:nvSpPr>
        <p:spPr>
          <a:xfrm>
            <a:off x="822960" y="4567428"/>
            <a:ext cx="420624" cy="420624"/>
          </a:xfrm>
          <a:prstGeom prst="rect">
            <a:avLst/>
          </a:prstGeom>
          <a:noFill/>
          <a:ln/>
        </p:spPr>
        <p:txBody>
          <a:bodyPr wrap="square" lIns="0" tIns="0" rIns="0" bIns="0" rtlCol="0" anchor="ctr"/>
          <a:lstStyle/>
          <a:p>
            <a:pPr algn="ctr" indent="0" marL="0">
              <a:buNone/>
            </a:pPr>
            <a:r>
              <a:rPr lang="en-US" sz="1400" b="1" dirty="0">
                <a:solidFill>
                  <a:srgbClr val="11121A"/>
                </a:solidFill>
                <a:latin typeface="Palatino Linotype" pitchFamily="34" charset="0"/>
                <a:ea typeface="Palatino Linotype" pitchFamily="34" charset="-122"/>
                <a:cs typeface="Palatino Linotype" pitchFamily="34" charset="-120"/>
              </a:rPr>
              <a:t>D</a:t>
            </a:r>
            <a:endParaRPr lang="en-US" sz="1400" dirty="0"/>
          </a:p>
        </p:txBody>
      </p:sp>
      <p:sp>
        <p:nvSpPr>
          <p:cNvPr id="19" name="Text 17"/>
          <p:cNvSpPr/>
          <p:nvPr/>
        </p:nvSpPr>
        <p:spPr>
          <a:xfrm>
            <a:off x="1463040" y="4389120"/>
            <a:ext cx="9875520" cy="777240"/>
          </a:xfrm>
          <a:prstGeom prst="rect">
            <a:avLst/>
          </a:prstGeom>
          <a:noFill/>
          <a:ln/>
        </p:spPr>
        <p:txBody>
          <a:bodyPr wrap="square" lIns="0" tIns="0" rIns="0" bIns="0" rtlCol="0" anchor="ctr"/>
          <a:lstStyle/>
          <a:p>
            <a:pPr indent="0" marL="0">
              <a:buNone/>
            </a:pPr>
            <a:r>
              <a:rPr lang="en-US" sz="1700" dirty="0">
                <a:solidFill>
                  <a:srgbClr val="11121A"/>
                </a:solidFill>
                <a:latin typeface="Palatino Linotype" pitchFamily="34" charset="0"/>
                <a:ea typeface="Palatino Linotype" pitchFamily="34" charset="-122"/>
                <a:cs typeface="Palatino Linotype" pitchFamily="34" charset="-120"/>
              </a:rPr>
              <a:t>Poate îmbunătăți rezultatul mediu, dar poate scădea valoarea alocativă.</a:t>
            </a:r>
            <a:endParaRPr lang="en-US" sz="1700" dirty="0"/>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name="Slide 22">
    <p:bg>
      <p:bgPr>
        <a:solidFill>
          <a:srgbClr val="11121A"/>
        </a:solidFill>
      </p:bgPr>
    </p:bg>
    <p:spTree>
      <p:nvGrpSpPr>
        <p:cNvPr id="1" name=""/>
        <p:cNvGrpSpPr/>
        <p:nvPr/>
      </p:nvGrpSpPr>
      <p:grpSpPr>
        <a:xfrm>
          <a:off x="0" y="0"/>
          <a:ext cx="0" cy="0"/>
          <a:chOff x="0" y="0"/>
          <a:chExt cx="0" cy="0"/>
        </a:xfrm>
      </p:grpSpPr>
      <p:sp>
        <p:nvSpPr>
          <p:cNvPr id="2" name="Shape 0"/>
          <p:cNvSpPr/>
          <p:nvPr/>
        </p:nvSpPr>
        <p:spPr>
          <a:xfrm>
            <a:off x="8366760" y="292608"/>
            <a:ext cx="3200400" cy="420624"/>
          </a:xfrm>
          <a:prstGeom prst="roundRect">
            <a:avLst>
              <a:gd name="adj" fmla="val 50000"/>
            </a:avLst>
          </a:prstGeom>
          <a:solidFill>
            <a:srgbClr val="FFC24B"/>
          </a:solidFill>
          <a:ln w="12700">
            <a:solidFill>
              <a:srgbClr val="FFC24B"/>
            </a:solidFill>
            <a:prstDash val="solid"/>
          </a:ln>
        </p:spPr>
        <p:txBody>
          <a:bodyPr/>
          <a:p/>
        </p:txBody>
      </p:sp>
      <p:sp>
        <p:nvSpPr>
          <p:cNvPr id="3" name="Text 1"/>
          <p:cNvSpPr/>
          <p:nvPr/>
        </p:nvSpPr>
        <p:spPr>
          <a:xfrm>
            <a:off x="8366760" y="292608"/>
            <a:ext cx="3200400" cy="420624"/>
          </a:xfrm>
          <a:prstGeom prst="rect">
            <a:avLst/>
          </a:prstGeom>
          <a:noFill/>
          <a:ln/>
        </p:spPr>
        <p:txBody>
          <a:bodyPr wrap="square" lIns="0" tIns="0" rIns="0" bIns="0" rtlCol="0" anchor="ctr"/>
          <a:lstStyle/>
          <a:p>
            <a:pPr algn="ctr" indent="0" marL="0">
              <a:buNone/>
            </a:pPr>
            <a:r>
              <a:rPr lang="en-US" sz="1300" b="1" dirty="0">
                <a:solidFill>
                  <a:srgbClr val="11121A"/>
                </a:solidFill>
                <a:latin typeface="Palatino Linotype" pitchFamily="34" charset="0"/>
                <a:ea typeface="Palatino Linotype" pitchFamily="34" charset="-122"/>
                <a:cs typeface="Palatino Linotype" pitchFamily="34" charset="-120"/>
              </a:rPr>
              <a:t>MENTIMETER · NOR DE CUVINTE</a:t>
            </a:r>
            <a:endParaRPr lang="en-US" sz="1300" dirty="0"/>
          </a:p>
        </p:txBody>
      </p:sp>
      <p:sp>
        <p:nvSpPr>
          <p:cNvPr id="4" name="Text 2"/>
          <p:cNvSpPr/>
          <p:nvPr/>
        </p:nvSpPr>
        <p:spPr>
          <a:xfrm>
            <a:off x="594360" y="347472"/>
            <a:ext cx="7680960" cy="329184"/>
          </a:xfrm>
          <a:prstGeom prst="rect">
            <a:avLst/>
          </a:prstGeom>
          <a:noFill/>
          <a:ln/>
        </p:spPr>
        <p:txBody>
          <a:bodyPr wrap="square" lIns="0" tIns="0" rIns="0" bIns="0" rtlCol="0" anchor="t"/>
          <a:lstStyle/>
          <a:p>
            <a:pPr indent="0" marL="0">
              <a:buNone/>
            </a:pPr>
            <a:r>
              <a:rPr lang="en-US" sz="1300" b="1" spc="200" kern="0" dirty="0">
                <a:solidFill>
                  <a:srgbClr val="FFC24B"/>
                </a:solidFill>
                <a:latin typeface="Palatino Linotype" pitchFamily="34" charset="0"/>
                <a:ea typeface="Palatino Linotype" pitchFamily="34" charset="-122"/>
                <a:cs typeface="Palatino Linotype" pitchFamily="34" charset="-120"/>
              </a:rPr>
              <a:t>HARTA DISCIPLINEI</a:t>
            </a:r>
            <a:endParaRPr lang="en-US" sz="1300" dirty="0"/>
          </a:p>
        </p:txBody>
      </p:sp>
      <p:sp>
        <p:nvSpPr>
          <p:cNvPr id="5" name="Text 3"/>
          <p:cNvSpPr/>
          <p:nvPr/>
        </p:nvSpPr>
        <p:spPr>
          <a:xfrm>
            <a:off x="594360" y="713232"/>
            <a:ext cx="10972800" cy="914400"/>
          </a:xfrm>
          <a:prstGeom prst="rect">
            <a:avLst/>
          </a:prstGeom>
          <a:noFill/>
          <a:ln/>
        </p:spPr>
        <p:txBody>
          <a:bodyPr wrap="square" lIns="0" tIns="0" rIns="0" bIns="0" rtlCol="0" anchor="t"/>
          <a:lstStyle/>
          <a:p>
            <a:pPr indent="0" marL="0">
              <a:buNone/>
            </a:pPr>
            <a:r>
              <a:rPr lang="en-US" sz="2800" b="1" dirty="0">
                <a:solidFill>
                  <a:srgbClr val="FFFFFF"/>
                </a:solidFill>
                <a:latin typeface="Palatino Linotype" pitchFamily="34" charset="0"/>
                <a:ea typeface="Palatino Linotype" pitchFamily="34" charset="-122"/>
                <a:cs typeface="Palatino Linotype" pitchFamily="34" charset="-120"/>
              </a:rPr>
              <a:t>De la pacientul-ancoră la serviciu, în patru pași</a:t>
            </a:r>
            <a:endParaRPr lang="en-US" sz="2800" dirty="0"/>
          </a:p>
        </p:txBody>
      </p:sp>
      <p:sp>
        <p:nvSpPr>
          <p:cNvPr id="6" name="Shape 4"/>
          <p:cNvSpPr/>
          <p:nvPr/>
        </p:nvSpPr>
        <p:spPr>
          <a:xfrm>
            <a:off x="594360" y="1600200"/>
            <a:ext cx="2606040" cy="1920240"/>
          </a:xfrm>
          <a:prstGeom prst="roundRect">
            <a:avLst>
              <a:gd name="adj" fmla="val 4286"/>
            </a:avLst>
          </a:prstGeom>
          <a:solidFill>
            <a:srgbClr val="272A38"/>
          </a:solidFill>
          <a:ln w="12700">
            <a:solidFill>
              <a:srgbClr val="272A38"/>
            </a:solidFill>
            <a:prstDash val="solid"/>
          </a:ln>
        </p:spPr>
        <p:txBody>
          <a:bodyPr/>
          <a:p/>
        </p:txBody>
      </p:sp>
      <p:sp>
        <p:nvSpPr>
          <p:cNvPr id="7" name="Shape 5"/>
          <p:cNvSpPr/>
          <p:nvPr/>
        </p:nvSpPr>
        <p:spPr>
          <a:xfrm>
            <a:off x="594360" y="1600200"/>
            <a:ext cx="2606040" cy="64008"/>
          </a:xfrm>
          <a:prstGeom prst="rect">
            <a:avLst/>
          </a:prstGeom>
          <a:solidFill>
            <a:srgbClr val="FF4757"/>
          </a:solidFill>
          <a:ln w="12700">
            <a:solidFill>
              <a:srgbClr val="FF4757"/>
            </a:solidFill>
            <a:prstDash val="solid"/>
          </a:ln>
        </p:spPr>
        <p:txBody>
          <a:bodyPr/>
          <a:p/>
        </p:txBody>
      </p:sp>
      <p:sp>
        <p:nvSpPr>
          <p:cNvPr id="8" name="Text 6"/>
          <p:cNvSpPr/>
          <p:nvPr/>
        </p:nvSpPr>
        <p:spPr>
          <a:xfrm>
            <a:off x="777240" y="1755648"/>
            <a:ext cx="2240280" cy="320040"/>
          </a:xfrm>
          <a:prstGeom prst="rect">
            <a:avLst/>
          </a:prstGeom>
          <a:noFill/>
          <a:ln/>
        </p:spPr>
        <p:txBody>
          <a:bodyPr wrap="square" lIns="0" tIns="0" rIns="0" bIns="0" rtlCol="0" anchor="t"/>
          <a:lstStyle/>
          <a:p>
            <a:pPr indent="0" marL="0">
              <a:buNone/>
            </a:pPr>
            <a:r>
              <a:rPr lang="en-US" sz="1300" b="1" spc="100" kern="0" dirty="0">
                <a:solidFill>
                  <a:srgbClr val="FF4757"/>
                </a:solidFill>
                <a:latin typeface="Palatino Linotype" pitchFamily="34" charset="0"/>
                <a:ea typeface="Palatino Linotype" pitchFamily="34" charset="-122"/>
                <a:cs typeface="Palatino Linotype" pitchFamily="34" charset="-120"/>
              </a:rPr>
              <a:t>CURSUL 1</a:t>
            </a:r>
            <a:endParaRPr lang="en-US" sz="1300" dirty="0"/>
          </a:p>
        </p:txBody>
      </p:sp>
      <p:sp>
        <p:nvSpPr>
          <p:cNvPr id="9" name="Text 7"/>
          <p:cNvSpPr/>
          <p:nvPr/>
        </p:nvSpPr>
        <p:spPr>
          <a:xfrm>
            <a:off x="777240" y="2121408"/>
            <a:ext cx="2240280" cy="1325880"/>
          </a:xfrm>
          <a:prstGeom prst="rect">
            <a:avLst/>
          </a:prstGeom>
          <a:noFill/>
          <a:ln/>
        </p:spPr>
        <p:txBody>
          <a:bodyPr wrap="square" lIns="0" tIns="0" rIns="0" bIns="0" rtlCol="0" anchor="t"/>
          <a:lstStyle/>
          <a:p>
            <a:pPr indent="0" marL="0">
              <a:buNone/>
            </a:pPr>
            <a:r>
              <a:rPr lang="en-US" sz="1450" dirty="0">
                <a:solidFill>
                  <a:srgbClr val="FFFFFF"/>
                </a:solidFill>
                <a:latin typeface="Palatino Linotype" pitchFamily="34" charset="0"/>
                <a:ea typeface="Palatino Linotype" pitchFamily="34" charset="-122"/>
                <a:cs typeface="Palatino Linotype" pitchFamily="34" charset="-120"/>
              </a:rPr>
              <a:t>Nevoia: pacientul prin modelul CIF, povara</a:t>
            </a:r>
            <a:endParaRPr lang="en-US" sz="1450" dirty="0"/>
          </a:p>
        </p:txBody>
      </p:sp>
      <p:sp>
        <p:nvSpPr>
          <p:cNvPr id="10" name="Text 8"/>
          <p:cNvSpPr/>
          <p:nvPr/>
        </p:nvSpPr>
        <p:spPr>
          <a:xfrm>
            <a:off x="3172968" y="2286000"/>
            <a:ext cx="274320" cy="457200"/>
          </a:xfrm>
          <a:prstGeom prst="rect">
            <a:avLst/>
          </a:prstGeom>
          <a:noFill/>
          <a:ln/>
        </p:spPr>
        <p:txBody>
          <a:bodyPr wrap="square" lIns="0" tIns="0" rIns="0" bIns="0" rtlCol="0" anchor="t"/>
          <a:lstStyle/>
          <a:p>
            <a:pPr algn="ctr" indent="0" marL="0">
              <a:buNone/>
            </a:pPr>
            <a:r>
              <a:rPr lang="en-US" sz="1800" b="1" dirty="0">
                <a:solidFill>
                  <a:srgbClr val="959BB0"/>
                </a:solidFill>
                <a:latin typeface="Palatino Linotype" pitchFamily="34" charset="0"/>
                <a:ea typeface="Palatino Linotype" pitchFamily="34" charset="-122"/>
                <a:cs typeface="Palatino Linotype" pitchFamily="34" charset="-120"/>
              </a:rPr>
              <a:t>→</a:t>
            </a:r>
            <a:endParaRPr lang="en-US" sz="1800" dirty="0"/>
          </a:p>
        </p:txBody>
      </p:sp>
      <p:sp>
        <p:nvSpPr>
          <p:cNvPr id="11" name="Shape 9"/>
          <p:cNvSpPr/>
          <p:nvPr/>
        </p:nvSpPr>
        <p:spPr>
          <a:xfrm>
            <a:off x="3410712" y="1600200"/>
            <a:ext cx="2606040" cy="1920240"/>
          </a:xfrm>
          <a:prstGeom prst="roundRect">
            <a:avLst>
              <a:gd name="adj" fmla="val 4286"/>
            </a:avLst>
          </a:prstGeom>
          <a:solidFill>
            <a:srgbClr val="272A38"/>
          </a:solidFill>
          <a:ln w="12700">
            <a:solidFill>
              <a:srgbClr val="272A38"/>
            </a:solidFill>
            <a:prstDash val="solid"/>
          </a:ln>
        </p:spPr>
        <p:txBody>
          <a:bodyPr/>
          <a:p/>
        </p:txBody>
      </p:sp>
      <p:sp>
        <p:nvSpPr>
          <p:cNvPr id="12" name="Shape 10"/>
          <p:cNvSpPr/>
          <p:nvPr/>
        </p:nvSpPr>
        <p:spPr>
          <a:xfrm>
            <a:off x="3410712" y="1600200"/>
            <a:ext cx="2606040" cy="64008"/>
          </a:xfrm>
          <a:prstGeom prst="rect">
            <a:avLst/>
          </a:prstGeom>
          <a:solidFill>
            <a:srgbClr val="FFC24B"/>
          </a:solidFill>
          <a:ln w="12700">
            <a:solidFill>
              <a:srgbClr val="FFC24B"/>
            </a:solidFill>
            <a:prstDash val="solid"/>
          </a:ln>
        </p:spPr>
        <p:txBody>
          <a:bodyPr/>
          <a:p/>
        </p:txBody>
      </p:sp>
      <p:sp>
        <p:nvSpPr>
          <p:cNvPr id="13" name="Text 11"/>
          <p:cNvSpPr/>
          <p:nvPr/>
        </p:nvSpPr>
        <p:spPr>
          <a:xfrm>
            <a:off x="3593592" y="1755648"/>
            <a:ext cx="2240280" cy="320040"/>
          </a:xfrm>
          <a:prstGeom prst="rect">
            <a:avLst/>
          </a:prstGeom>
          <a:noFill/>
          <a:ln/>
        </p:spPr>
        <p:txBody>
          <a:bodyPr wrap="square" lIns="0" tIns="0" rIns="0" bIns="0" rtlCol="0" anchor="t"/>
          <a:lstStyle/>
          <a:p>
            <a:pPr indent="0" marL="0">
              <a:buNone/>
            </a:pPr>
            <a:r>
              <a:rPr lang="en-US" sz="1300" b="1" spc="100" kern="0" dirty="0">
                <a:solidFill>
                  <a:srgbClr val="FFC24B"/>
                </a:solidFill>
                <a:latin typeface="Palatino Linotype" pitchFamily="34" charset="0"/>
                <a:ea typeface="Palatino Linotype" pitchFamily="34" charset="-122"/>
                <a:cs typeface="Palatino Linotype" pitchFamily="34" charset="-120"/>
              </a:rPr>
              <a:t>CURSUL 2</a:t>
            </a:r>
            <a:endParaRPr lang="en-US" sz="1300" dirty="0"/>
          </a:p>
        </p:txBody>
      </p:sp>
      <p:sp>
        <p:nvSpPr>
          <p:cNvPr id="14" name="Text 12"/>
          <p:cNvSpPr/>
          <p:nvPr/>
        </p:nvSpPr>
        <p:spPr>
          <a:xfrm>
            <a:off x="3593592" y="2121408"/>
            <a:ext cx="2240280" cy="1325880"/>
          </a:xfrm>
          <a:prstGeom prst="rect">
            <a:avLst/>
          </a:prstGeom>
          <a:noFill/>
          <a:ln/>
        </p:spPr>
        <p:txBody>
          <a:bodyPr wrap="square" lIns="0" tIns="0" rIns="0" bIns="0" rtlCol="0" anchor="t"/>
          <a:lstStyle/>
          <a:p>
            <a:pPr indent="0" marL="0">
              <a:buNone/>
            </a:pPr>
            <a:r>
              <a:rPr lang="en-US" sz="1450" dirty="0">
                <a:solidFill>
                  <a:srgbClr val="FFFFFF"/>
                </a:solidFill>
                <a:latin typeface="Palatino Linotype" pitchFamily="34" charset="0"/>
                <a:ea typeface="Palatino Linotype" pitchFamily="34" charset="-122"/>
                <a:cs typeface="Palatino Linotype" pitchFamily="34" charset="-120"/>
              </a:rPr>
              <a:t>Intrarea în sistem: niveluri, cine plătește, cine rămâne în afară</a:t>
            </a:r>
            <a:endParaRPr lang="en-US" sz="1450" dirty="0"/>
          </a:p>
        </p:txBody>
      </p:sp>
      <p:sp>
        <p:nvSpPr>
          <p:cNvPr id="15" name="Text 13"/>
          <p:cNvSpPr/>
          <p:nvPr/>
        </p:nvSpPr>
        <p:spPr>
          <a:xfrm>
            <a:off x="5989320" y="2286000"/>
            <a:ext cx="274320" cy="457200"/>
          </a:xfrm>
          <a:prstGeom prst="rect">
            <a:avLst/>
          </a:prstGeom>
          <a:noFill/>
          <a:ln/>
        </p:spPr>
        <p:txBody>
          <a:bodyPr wrap="square" lIns="0" tIns="0" rIns="0" bIns="0" rtlCol="0" anchor="t"/>
          <a:lstStyle/>
          <a:p>
            <a:pPr algn="ctr" indent="0" marL="0">
              <a:buNone/>
            </a:pPr>
            <a:r>
              <a:rPr lang="en-US" sz="1800" b="1" dirty="0">
                <a:solidFill>
                  <a:srgbClr val="959BB0"/>
                </a:solidFill>
                <a:latin typeface="Palatino Linotype" pitchFamily="34" charset="0"/>
                <a:ea typeface="Palatino Linotype" pitchFamily="34" charset="-122"/>
                <a:cs typeface="Palatino Linotype" pitchFamily="34" charset="-120"/>
              </a:rPr>
              <a:t>→</a:t>
            </a:r>
            <a:endParaRPr lang="en-US" sz="1800" dirty="0"/>
          </a:p>
        </p:txBody>
      </p:sp>
      <p:sp>
        <p:nvSpPr>
          <p:cNvPr id="16" name="Shape 14"/>
          <p:cNvSpPr/>
          <p:nvPr/>
        </p:nvSpPr>
        <p:spPr>
          <a:xfrm>
            <a:off x="6227064" y="1600200"/>
            <a:ext cx="2606040" cy="1920240"/>
          </a:xfrm>
          <a:prstGeom prst="roundRect">
            <a:avLst>
              <a:gd name="adj" fmla="val 4286"/>
            </a:avLst>
          </a:prstGeom>
          <a:solidFill>
            <a:srgbClr val="272A38"/>
          </a:solidFill>
          <a:ln w="12700">
            <a:solidFill>
              <a:srgbClr val="272A38"/>
            </a:solidFill>
            <a:prstDash val="solid"/>
          </a:ln>
        </p:spPr>
        <p:txBody>
          <a:bodyPr/>
          <a:p/>
        </p:txBody>
      </p:sp>
      <p:sp>
        <p:nvSpPr>
          <p:cNvPr id="17" name="Shape 15"/>
          <p:cNvSpPr/>
          <p:nvPr/>
        </p:nvSpPr>
        <p:spPr>
          <a:xfrm>
            <a:off x="6227064" y="1600200"/>
            <a:ext cx="2606040" cy="64008"/>
          </a:xfrm>
          <a:prstGeom prst="rect">
            <a:avLst/>
          </a:prstGeom>
          <a:solidFill>
            <a:srgbClr val="27D3BE"/>
          </a:solidFill>
          <a:ln w="12700">
            <a:solidFill>
              <a:srgbClr val="27D3BE"/>
            </a:solidFill>
            <a:prstDash val="solid"/>
          </a:ln>
        </p:spPr>
        <p:txBody>
          <a:bodyPr/>
          <a:p/>
        </p:txBody>
      </p:sp>
      <p:sp>
        <p:nvSpPr>
          <p:cNvPr id="18" name="Text 16"/>
          <p:cNvSpPr/>
          <p:nvPr/>
        </p:nvSpPr>
        <p:spPr>
          <a:xfrm>
            <a:off x="6409944" y="1755648"/>
            <a:ext cx="2240280" cy="320040"/>
          </a:xfrm>
          <a:prstGeom prst="rect">
            <a:avLst/>
          </a:prstGeom>
          <a:noFill/>
          <a:ln/>
        </p:spPr>
        <p:txBody>
          <a:bodyPr wrap="square" lIns="0" tIns="0" rIns="0" bIns="0" rtlCol="0" anchor="t"/>
          <a:lstStyle/>
          <a:p>
            <a:pPr indent="0" marL="0">
              <a:buNone/>
            </a:pPr>
            <a:r>
              <a:rPr lang="en-US" sz="1300" b="1" spc="100" kern="0" dirty="0">
                <a:solidFill>
                  <a:srgbClr val="27D3BE"/>
                </a:solidFill>
                <a:latin typeface="Palatino Linotype" pitchFamily="34" charset="0"/>
                <a:ea typeface="Palatino Linotype" pitchFamily="34" charset="-122"/>
                <a:cs typeface="Palatino Linotype" pitchFamily="34" charset="-120"/>
              </a:rPr>
              <a:t>CURSUL 3</a:t>
            </a:r>
            <a:endParaRPr lang="en-US" sz="1300" dirty="0"/>
          </a:p>
        </p:txBody>
      </p:sp>
      <p:sp>
        <p:nvSpPr>
          <p:cNvPr id="19" name="Text 17"/>
          <p:cNvSpPr/>
          <p:nvPr/>
        </p:nvSpPr>
        <p:spPr>
          <a:xfrm>
            <a:off x="6409944" y="2121408"/>
            <a:ext cx="2240280" cy="1325880"/>
          </a:xfrm>
          <a:prstGeom prst="rect">
            <a:avLst/>
          </a:prstGeom>
          <a:noFill/>
          <a:ln/>
        </p:spPr>
        <p:txBody>
          <a:bodyPr wrap="square" lIns="0" tIns="0" rIns="0" bIns="0" rtlCol="0" anchor="t"/>
          <a:lstStyle/>
          <a:p>
            <a:pPr indent="0" marL="0">
              <a:buNone/>
            </a:pPr>
            <a:r>
              <a:rPr lang="en-US" sz="1450" dirty="0">
                <a:solidFill>
                  <a:srgbClr val="FFFFFF"/>
                </a:solidFill>
                <a:latin typeface="Palatino Linotype" pitchFamily="34" charset="0"/>
                <a:ea typeface="Palatino Linotype" pitchFamily="34" charset="-122"/>
                <a:cs typeface="Palatino Linotype" pitchFamily="34" charset="-120"/>
              </a:rPr>
              <a:t>Conducerea: managementul, indicatorii, echipa</a:t>
            </a:r>
            <a:endParaRPr lang="en-US" sz="1450" dirty="0"/>
          </a:p>
        </p:txBody>
      </p:sp>
      <p:sp>
        <p:nvSpPr>
          <p:cNvPr id="20" name="Text 18"/>
          <p:cNvSpPr/>
          <p:nvPr/>
        </p:nvSpPr>
        <p:spPr>
          <a:xfrm>
            <a:off x="8805672" y="2286000"/>
            <a:ext cx="274320" cy="457200"/>
          </a:xfrm>
          <a:prstGeom prst="rect">
            <a:avLst/>
          </a:prstGeom>
          <a:noFill/>
          <a:ln/>
        </p:spPr>
        <p:txBody>
          <a:bodyPr wrap="square" lIns="0" tIns="0" rIns="0" bIns="0" rtlCol="0" anchor="t"/>
          <a:lstStyle/>
          <a:p>
            <a:pPr algn="ctr" indent="0" marL="0">
              <a:buNone/>
            </a:pPr>
            <a:r>
              <a:rPr lang="en-US" sz="1800" b="1" dirty="0">
                <a:solidFill>
                  <a:srgbClr val="959BB0"/>
                </a:solidFill>
                <a:latin typeface="Palatino Linotype" pitchFamily="34" charset="0"/>
                <a:ea typeface="Palatino Linotype" pitchFamily="34" charset="-122"/>
                <a:cs typeface="Palatino Linotype" pitchFamily="34" charset="-120"/>
              </a:rPr>
              <a:t>→</a:t>
            </a:r>
            <a:endParaRPr lang="en-US" sz="1800" dirty="0"/>
          </a:p>
        </p:txBody>
      </p:sp>
      <p:sp>
        <p:nvSpPr>
          <p:cNvPr id="21" name="Shape 19"/>
          <p:cNvSpPr/>
          <p:nvPr/>
        </p:nvSpPr>
        <p:spPr>
          <a:xfrm>
            <a:off x="9043416" y="1600200"/>
            <a:ext cx="2606040" cy="1920240"/>
          </a:xfrm>
          <a:prstGeom prst="roundRect">
            <a:avLst>
              <a:gd name="adj" fmla="val 4286"/>
            </a:avLst>
          </a:prstGeom>
          <a:solidFill>
            <a:srgbClr val="272A38"/>
          </a:solidFill>
          <a:ln w="12700">
            <a:solidFill>
              <a:srgbClr val="272A38"/>
            </a:solidFill>
            <a:prstDash val="solid"/>
          </a:ln>
        </p:spPr>
        <p:txBody>
          <a:bodyPr/>
          <a:p/>
        </p:txBody>
      </p:sp>
      <p:sp>
        <p:nvSpPr>
          <p:cNvPr id="22" name="Shape 20"/>
          <p:cNvSpPr/>
          <p:nvPr/>
        </p:nvSpPr>
        <p:spPr>
          <a:xfrm>
            <a:off x="9043416" y="1600200"/>
            <a:ext cx="2606040" cy="64008"/>
          </a:xfrm>
          <a:prstGeom prst="rect">
            <a:avLst/>
          </a:prstGeom>
          <a:solidFill>
            <a:srgbClr val="9B7EF7"/>
          </a:solidFill>
          <a:ln w="12700">
            <a:solidFill>
              <a:srgbClr val="9B7EF7"/>
            </a:solidFill>
            <a:prstDash val="solid"/>
          </a:ln>
        </p:spPr>
        <p:txBody>
          <a:bodyPr/>
          <a:p/>
        </p:txBody>
      </p:sp>
      <p:sp>
        <p:nvSpPr>
          <p:cNvPr id="23" name="Text 21"/>
          <p:cNvSpPr/>
          <p:nvPr/>
        </p:nvSpPr>
        <p:spPr>
          <a:xfrm>
            <a:off x="9226296" y="1755648"/>
            <a:ext cx="2240280" cy="320040"/>
          </a:xfrm>
          <a:prstGeom prst="rect">
            <a:avLst/>
          </a:prstGeom>
          <a:noFill/>
          <a:ln/>
        </p:spPr>
        <p:txBody>
          <a:bodyPr wrap="square" lIns="0" tIns="0" rIns="0" bIns="0" rtlCol="0" anchor="t"/>
          <a:lstStyle/>
          <a:p>
            <a:pPr indent="0" marL="0">
              <a:buNone/>
            </a:pPr>
            <a:r>
              <a:rPr lang="en-US" sz="1300" b="1" spc="100" kern="0" dirty="0">
                <a:solidFill>
                  <a:srgbClr val="9B7EF7"/>
                </a:solidFill>
                <a:latin typeface="Palatino Linotype" pitchFamily="34" charset="0"/>
                <a:ea typeface="Palatino Linotype" pitchFamily="34" charset="-122"/>
                <a:cs typeface="Palatino Linotype" pitchFamily="34" charset="-120"/>
              </a:rPr>
              <a:t>CURSUL 4</a:t>
            </a:r>
            <a:endParaRPr lang="en-US" sz="1300" dirty="0"/>
          </a:p>
        </p:txBody>
      </p:sp>
      <p:sp>
        <p:nvSpPr>
          <p:cNvPr id="24" name="Text 22"/>
          <p:cNvSpPr/>
          <p:nvPr/>
        </p:nvSpPr>
        <p:spPr>
          <a:xfrm>
            <a:off x="9226296" y="2121408"/>
            <a:ext cx="2240280" cy="1325880"/>
          </a:xfrm>
          <a:prstGeom prst="rect">
            <a:avLst/>
          </a:prstGeom>
          <a:noFill/>
          <a:ln/>
        </p:spPr>
        <p:txBody>
          <a:bodyPr wrap="square" lIns="0" tIns="0" rIns="0" bIns="0" rtlCol="0" anchor="t"/>
          <a:lstStyle/>
          <a:p>
            <a:pPr indent="0" marL="0">
              <a:buNone/>
            </a:pPr>
            <a:r>
              <a:rPr lang="en-US" sz="1450" dirty="0">
                <a:solidFill>
                  <a:srgbClr val="FFFFFF"/>
                </a:solidFill>
                <a:latin typeface="Palatino Linotype" pitchFamily="34" charset="0"/>
                <a:ea typeface="Palatino Linotype" pitchFamily="34" charset="-122"/>
                <a:cs typeface="Palatino Linotype" pitchFamily="34" charset="-120"/>
              </a:rPr>
              <a:t>Calitatea: bună, sigură, a meritat costul?</a:t>
            </a:r>
            <a:endParaRPr lang="en-US" sz="1450" dirty="0"/>
          </a:p>
        </p:txBody>
      </p:sp>
      <p:sp>
        <p:nvSpPr>
          <p:cNvPr id="25" name="Shape 23"/>
          <p:cNvSpPr/>
          <p:nvPr/>
        </p:nvSpPr>
        <p:spPr>
          <a:xfrm>
            <a:off x="594360" y="3794760"/>
            <a:ext cx="8001000" cy="1737360"/>
          </a:xfrm>
          <a:prstGeom prst="roundRect">
            <a:avLst>
              <a:gd name="adj" fmla="val 4737"/>
            </a:avLst>
          </a:prstGeom>
          <a:solidFill>
            <a:srgbClr val="1D1F2B"/>
          </a:solidFill>
          <a:ln w="12700">
            <a:solidFill>
              <a:srgbClr val="1D1F2B"/>
            </a:solidFill>
            <a:prstDash val="solid"/>
          </a:ln>
        </p:spPr>
        <p:txBody>
          <a:bodyPr/>
          <a:p/>
        </p:txBody>
      </p:sp>
      <p:sp>
        <p:nvSpPr>
          <p:cNvPr id="26" name="Text 24"/>
          <p:cNvSpPr/>
          <p:nvPr/>
        </p:nvSpPr>
        <p:spPr>
          <a:xfrm>
            <a:off x="868680" y="3794760"/>
            <a:ext cx="7498080" cy="1737360"/>
          </a:xfrm>
          <a:prstGeom prst="rect">
            <a:avLst/>
          </a:prstGeom>
          <a:noFill/>
          <a:ln/>
        </p:spPr>
        <p:txBody>
          <a:bodyPr wrap="square" lIns="0" tIns="0" rIns="0" bIns="0" rtlCol="0" anchor="ctr"/>
          <a:lstStyle/>
          <a:p>
            <a:pPr indent="0" marL="0">
              <a:buNone/>
            </a:pPr>
            <a:r>
              <a:rPr lang="en-US" sz="1900" b="1" dirty="0">
                <a:solidFill>
                  <a:srgbClr val="FFFFFF"/>
                </a:solidFill>
                <a:latin typeface="Palatino Linotype" pitchFamily="34" charset="0"/>
                <a:ea typeface="Palatino Linotype" pitchFamily="34" charset="-122"/>
                <a:cs typeface="Palatino Linotype" pitchFamily="34" charset="-120"/>
              </a:rPr>
              <a:t>Pentru pacientul vostru-ancoră, unde este veriga cea mai slabă a drumului?</a:t>
            </a:r>
            <a:endParaRPr lang="en-US" sz="1900" dirty="0"/>
          </a:p>
        </p:txBody>
      </p:sp>
      <p:sp>
        <p:nvSpPr>
          <p:cNvPr id="27" name="Shape 25"/>
          <p:cNvSpPr/>
          <p:nvPr/>
        </p:nvSpPr>
        <p:spPr>
          <a:xfrm>
            <a:off x="8823960" y="3794760"/>
            <a:ext cx="2743200" cy="1737360"/>
          </a:xfrm>
          <a:prstGeom prst="roundRect">
            <a:avLst>
              <a:gd name="adj" fmla="val 4737"/>
            </a:avLst>
          </a:prstGeom>
          <a:solidFill>
            <a:srgbClr val="FFFFFF"/>
          </a:solidFill>
          <a:ln w="12700">
            <a:solidFill>
              <a:srgbClr val="FFFFFF"/>
            </a:solidFill>
            <a:prstDash val="solid"/>
          </a:ln>
        </p:spPr>
        <p:txBody>
          <a:bodyPr/>
          <a:p/>
        </p:txBody>
      </p:sp>
      <p:sp>
        <p:nvSpPr>
          <p:cNvPr id="29" name="Text 27"/>
          <p:cNvSpPr/>
          <p:nvPr/>
        </p:nvSpPr>
        <p:spPr>
          <a:xfrm>
            <a:off x="594360" y="5715000"/>
            <a:ext cx="10972800" cy="457200"/>
          </a:xfrm>
          <a:prstGeom prst="rect">
            <a:avLst/>
          </a:prstGeom>
          <a:noFill/>
          <a:ln/>
        </p:spPr>
        <p:txBody>
          <a:bodyPr wrap="square" lIns="0" tIns="0" rIns="0" bIns="0" rtlCol="0" anchor="t"/>
          <a:lstStyle/>
          <a:p>
            <a:pPr indent="0" marL="0">
              <a:buNone/>
            </a:pPr>
            <a:r>
              <a:rPr lang="en-US" sz="1600" b="1" dirty="0">
                <a:solidFill>
                  <a:srgbClr val="27D3BE"/>
                </a:solidFill>
                <a:latin typeface="Palatino Linotype" pitchFamily="34" charset="0"/>
                <a:ea typeface="Palatino Linotype" pitchFamily="34" charset="-122"/>
                <a:cs typeface="Palatino Linotype" pitchFamily="34" charset="-120"/>
              </a:rPr>
              <a:t>Firul comun: măsurarea.</a:t>
            </a:r>
            <a:endParaRPr lang="en-US" sz="1600" dirty="0"/>
          </a:p>
        </p:txBody>
      </p:sp>
      <p:pic>
        <p:nvPicPr>
          <p:cNvPr id="30" name="Picture 29" descr="Mentimeter_SPM_BFKIII_C04.png"/>
          <p:cNvPicPr>
            <a:picLocks noChangeAspect="1"/>
          </p:cNvPicPr>
          <p:nvPr/>
        </p:nvPicPr>
        <p:blipFill>
          <a:blip r:embed="rId3"/>
          <a:stretch>
            <a:fillRect/>
          </a:stretch>
        </p:blipFill>
        <p:spPr>
          <a:xfrm>
            <a:off x="9544049" y="3794760"/>
            <a:ext cx="1303021" cy="1303021"/>
          </a:xfrm>
          <a:prstGeom prst="rect">
            <a:avLst/>
          </a:prstGeom>
        </p:spPr>
      </p:pic>
      <p:sp>
        <p:nvSpPr>
          <p:cNvPr id="31" name="TextBox 30"/>
          <p:cNvSpPr txBox="1"/>
          <p:nvPr/>
        </p:nvSpPr>
        <p:spPr>
          <a:xfrm>
            <a:off x="8823960" y="5135881"/>
            <a:ext cx="2743200" cy="434339"/>
          </a:xfrm>
          <a:prstGeom prst="rect">
            <a:avLst/>
          </a:prstGeom>
          <a:noFill/>
        </p:spPr>
        <p:txBody>
          <a:bodyPr wrap="square" lIns="0" rIns="0" tIns="0" bIns="0" anchor="t">
            <a:spAutoFit/>
          </a:bodyPr>
          <a:lstStyle/>
          <a:p>
            <a:pPr algn="ctr"/>
            <a:r>
              <a:rPr sz="900" b="1">
                <a:solidFill>
                  <a:srgbClr val="B02532"/>
                </a:solidFill>
                <a:latin typeface="Palatino Linotype"/>
              </a:rPr>
              <a:t>menti.com</a:t>
            </a:r>
          </a:p>
          <a:p>
            <a:pPr algn="ctr"/>
            <a:r>
              <a:rPr sz="900" b="1">
                <a:solidFill>
                  <a:srgbClr val="B02532"/>
                </a:solidFill>
                <a:latin typeface="Palatino Linotype"/>
              </a:rPr>
              <a:t>anonim, fără cont</a:t>
            </a:r>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name="Slide 23">
    <p:bg>
      <p:bgPr>
        <a:solidFill>
          <a:srgbClr val="F6F5F2"/>
        </a:solidFill>
      </p:bgPr>
    </p:bg>
    <p:spTree>
      <p:nvGrpSpPr>
        <p:cNvPr id="1" name=""/>
        <p:cNvGrpSpPr/>
        <p:nvPr/>
      </p:nvGrpSpPr>
      <p:grpSpPr>
        <a:xfrm>
          <a:off x="0" y="0"/>
          <a:ext cx="0" cy="0"/>
          <a:chOff x="0" y="0"/>
          <a:chExt cx="0" cy="0"/>
        </a:xfrm>
      </p:grpSpPr>
      <p:sp>
        <p:nvSpPr>
          <p:cNvPr id="2" name="Text 0"/>
          <p:cNvSpPr/>
          <p:nvPr/>
        </p:nvSpPr>
        <p:spPr>
          <a:xfrm>
            <a:off x="594360" y="347472"/>
            <a:ext cx="7680960" cy="329184"/>
          </a:xfrm>
          <a:prstGeom prst="rect">
            <a:avLst/>
          </a:prstGeom>
          <a:noFill/>
          <a:ln/>
        </p:spPr>
        <p:txBody>
          <a:bodyPr wrap="square" lIns="0" tIns="0" rIns="0" bIns="0" rtlCol="0" anchor="t"/>
          <a:lstStyle/>
          <a:p>
            <a:pPr indent="0" marL="0">
              <a:buNone/>
            </a:pPr>
            <a:r>
              <a:rPr lang="en-US" sz="1300" b="1" spc="200" kern="0" dirty="0">
                <a:solidFill>
                  <a:srgbClr val="B02532"/>
                </a:solidFill>
                <a:latin typeface="Palatino Linotype" pitchFamily="34" charset="0"/>
                <a:ea typeface="Palatino Linotype" pitchFamily="34" charset="-122"/>
                <a:cs typeface="Palatino Linotype" pitchFamily="34" charset="-120"/>
              </a:rPr>
              <a:t>ÎN PRACTICĂ</a:t>
            </a:r>
            <a:endParaRPr lang="en-US" sz="1300" dirty="0"/>
          </a:p>
        </p:txBody>
      </p:sp>
      <p:sp>
        <p:nvSpPr>
          <p:cNvPr id="3" name="Text 1"/>
          <p:cNvSpPr/>
          <p:nvPr/>
        </p:nvSpPr>
        <p:spPr>
          <a:xfrm>
            <a:off x="594360" y="713232"/>
            <a:ext cx="10972800" cy="914400"/>
          </a:xfrm>
          <a:prstGeom prst="rect">
            <a:avLst/>
          </a:prstGeom>
          <a:noFill/>
          <a:ln/>
        </p:spPr>
        <p:txBody>
          <a:bodyPr wrap="square" lIns="0" tIns="0" rIns="0" bIns="0" rtlCol="0" anchor="t"/>
          <a:lstStyle/>
          <a:p>
            <a:pPr indent="0" marL="0">
              <a:buNone/>
            </a:pPr>
            <a:r>
              <a:rPr lang="en-US" sz="3000" b="1" dirty="0">
                <a:solidFill>
                  <a:srgbClr val="11121A"/>
                </a:solidFill>
                <a:latin typeface="Palatino Linotype" pitchFamily="34" charset="0"/>
                <a:ea typeface="Palatino Linotype" pitchFamily="34" charset="-122"/>
                <a:cs typeface="Palatino Linotype" pitchFamily="34" charset="-120"/>
              </a:rPr>
              <a:t>Ce faceți diferit, de luni dimineață</a:t>
            </a:r>
            <a:endParaRPr lang="en-US" sz="3000" dirty="0"/>
          </a:p>
        </p:txBody>
      </p:sp>
      <p:sp>
        <p:nvSpPr>
          <p:cNvPr id="4" name="Shape 2"/>
          <p:cNvSpPr/>
          <p:nvPr/>
        </p:nvSpPr>
        <p:spPr>
          <a:xfrm>
            <a:off x="685800" y="1965960"/>
            <a:ext cx="420624" cy="420624"/>
          </a:xfrm>
          <a:prstGeom prst="ellipse">
            <a:avLst/>
          </a:prstGeom>
          <a:solidFill>
            <a:srgbClr val="FF4757"/>
          </a:solidFill>
          <a:ln/>
        </p:spPr>
        <p:txBody>
          <a:bodyPr/>
          <a:p/>
        </p:txBody>
      </p:sp>
      <p:sp>
        <p:nvSpPr>
          <p:cNvPr id="5" name="Text 3"/>
          <p:cNvSpPr/>
          <p:nvPr/>
        </p:nvSpPr>
        <p:spPr>
          <a:xfrm>
            <a:off x="685800" y="1965960"/>
            <a:ext cx="420624" cy="420624"/>
          </a:xfrm>
          <a:prstGeom prst="rect">
            <a:avLst/>
          </a:prstGeom>
          <a:noFill/>
          <a:ln/>
        </p:spPr>
        <p:txBody>
          <a:bodyPr wrap="square" lIns="0" tIns="0" rIns="0" bIns="0" rtlCol="0" anchor="ctr"/>
          <a:lstStyle/>
          <a:p>
            <a:pPr algn="ctr" indent="0" marL="0">
              <a:buNone/>
            </a:pPr>
            <a:r>
              <a:rPr lang="en-US" sz="1400" b="1" dirty="0">
                <a:solidFill>
                  <a:srgbClr val="2E060B"/>
                </a:solidFill>
                <a:latin typeface="Palatino Linotype" pitchFamily="34" charset="0"/>
                <a:ea typeface="Palatino Linotype" pitchFamily="34" charset="-122"/>
                <a:cs typeface="Palatino Linotype" pitchFamily="34" charset="-120"/>
              </a:rPr>
              <a:t>1</a:t>
            </a:r>
            <a:endParaRPr lang="en-US" sz="1400" dirty="0"/>
          </a:p>
        </p:txBody>
      </p:sp>
      <p:sp>
        <p:nvSpPr>
          <p:cNvPr id="6" name="Text 4"/>
          <p:cNvSpPr/>
          <p:nvPr/>
        </p:nvSpPr>
        <p:spPr>
          <a:xfrm>
            <a:off x="1325880" y="1691640"/>
            <a:ext cx="10241280" cy="1143000"/>
          </a:xfrm>
          <a:prstGeom prst="rect">
            <a:avLst/>
          </a:prstGeom>
          <a:noFill/>
          <a:ln/>
        </p:spPr>
        <p:txBody>
          <a:bodyPr wrap="square" lIns="0" tIns="0" rIns="0" bIns="0" rtlCol="0" anchor="ctr"/>
          <a:lstStyle/>
          <a:p>
            <a:pPr indent="0" marL="0">
              <a:buNone/>
            </a:pPr>
            <a:r>
              <a:rPr lang="en-US" sz="1900" dirty="0">
                <a:solidFill>
                  <a:srgbClr val="11121A"/>
                </a:solidFill>
                <a:latin typeface="Palatino Linotype" pitchFamily="34" charset="0"/>
                <a:ea typeface="Palatino Linotype" pitchFamily="34" charset="-122"/>
                <a:cs typeface="Palatino Linotype" pitchFamily="34" charset="-120"/>
              </a:rPr>
              <a:t>Nu vă opriți la scorul de risc din foaie: unde îi este soneria, unde îi este cadrul, ce primește seara, cine știe ce poate face singur?</a:t>
            </a:r>
            <a:endParaRPr lang="en-US" sz="1900" dirty="0"/>
          </a:p>
        </p:txBody>
      </p:sp>
      <p:sp>
        <p:nvSpPr>
          <p:cNvPr id="7" name="Shape 5"/>
          <p:cNvSpPr/>
          <p:nvPr/>
        </p:nvSpPr>
        <p:spPr>
          <a:xfrm>
            <a:off x="685800" y="3291840"/>
            <a:ext cx="420624" cy="420624"/>
          </a:xfrm>
          <a:prstGeom prst="ellipse">
            <a:avLst/>
          </a:prstGeom>
          <a:solidFill>
            <a:srgbClr val="FF4757"/>
          </a:solidFill>
          <a:ln/>
        </p:spPr>
        <p:txBody>
          <a:bodyPr/>
          <a:p/>
        </p:txBody>
      </p:sp>
      <p:sp>
        <p:nvSpPr>
          <p:cNvPr id="8" name="Text 6"/>
          <p:cNvSpPr/>
          <p:nvPr/>
        </p:nvSpPr>
        <p:spPr>
          <a:xfrm>
            <a:off x="685800" y="3291840"/>
            <a:ext cx="420624" cy="420624"/>
          </a:xfrm>
          <a:prstGeom prst="rect">
            <a:avLst/>
          </a:prstGeom>
          <a:noFill/>
          <a:ln/>
        </p:spPr>
        <p:txBody>
          <a:bodyPr wrap="square" lIns="0" tIns="0" rIns="0" bIns="0" rtlCol="0" anchor="ctr"/>
          <a:lstStyle/>
          <a:p>
            <a:pPr algn="ctr" indent="0" marL="0">
              <a:buNone/>
            </a:pPr>
            <a:r>
              <a:rPr lang="en-US" sz="1400" b="1" dirty="0">
                <a:solidFill>
                  <a:srgbClr val="2E060B"/>
                </a:solidFill>
                <a:latin typeface="Palatino Linotype" pitchFamily="34" charset="0"/>
                <a:ea typeface="Palatino Linotype" pitchFamily="34" charset="-122"/>
                <a:cs typeface="Palatino Linotype" pitchFamily="34" charset="-120"/>
              </a:rPr>
              <a:t>2</a:t>
            </a:r>
            <a:endParaRPr lang="en-US" sz="1400" dirty="0"/>
          </a:p>
        </p:txBody>
      </p:sp>
      <p:sp>
        <p:nvSpPr>
          <p:cNvPr id="9" name="Text 7"/>
          <p:cNvSpPr/>
          <p:nvPr/>
        </p:nvSpPr>
        <p:spPr>
          <a:xfrm>
            <a:off x="1325880" y="3017520"/>
            <a:ext cx="10241280" cy="1143000"/>
          </a:xfrm>
          <a:prstGeom prst="rect">
            <a:avLst/>
          </a:prstGeom>
          <a:noFill/>
          <a:ln/>
        </p:spPr>
        <p:txBody>
          <a:bodyPr wrap="square" lIns="0" tIns="0" rIns="0" bIns="0" rtlCol="0" anchor="ctr"/>
          <a:lstStyle/>
          <a:p>
            <a:pPr indent="0" marL="0">
              <a:buNone/>
            </a:pPr>
            <a:r>
              <a:rPr lang="en-US" sz="1900" dirty="0">
                <a:solidFill>
                  <a:srgbClr val="11121A"/>
                </a:solidFill>
                <a:latin typeface="Palatino Linotype" pitchFamily="34" charset="0"/>
                <a:ea typeface="Palatino Linotype" pitchFamily="34" charset="-122"/>
                <a:cs typeface="Palatino Linotype" pitchFamily="34" charset="-120"/>
              </a:rPr>
              <a:t>Când un pacient cade, nu căutați întâi un vinovat: structura, procesul, rezultatul, pe rând.</a:t>
            </a:r>
            <a:endParaRPr lang="en-US" sz="1900" dirty="0"/>
          </a:p>
        </p:txBody>
      </p:sp>
      <p:sp>
        <p:nvSpPr>
          <p:cNvPr id="10" name="Shape 8"/>
          <p:cNvSpPr/>
          <p:nvPr/>
        </p:nvSpPr>
        <p:spPr>
          <a:xfrm>
            <a:off x="685800" y="4617720"/>
            <a:ext cx="420624" cy="420624"/>
          </a:xfrm>
          <a:prstGeom prst="ellipse">
            <a:avLst/>
          </a:prstGeom>
          <a:solidFill>
            <a:srgbClr val="FF4757"/>
          </a:solidFill>
          <a:ln/>
        </p:spPr>
        <p:txBody>
          <a:bodyPr/>
          <a:p/>
        </p:txBody>
      </p:sp>
      <p:sp>
        <p:nvSpPr>
          <p:cNvPr id="11" name="Text 9"/>
          <p:cNvSpPr/>
          <p:nvPr/>
        </p:nvSpPr>
        <p:spPr>
          <a:xfrm>
            <a:off x="685800" y="4617720"/>
            <a:ext cx="420624" cy="420624"/>
          </a:xfrm>
          <a:prstGeom prst="rect">
            <a:avLst/>
          </a:prstGeom>
          <a:noFill/>
          <a:ln/>
        </p:spPr>
        <p:txBody>
          <a:bodyPr wrap="square" lIns="0" tIns="0" rIns="0" bIns="0" rtlCol="0" anchor="ctr"/>
          <a:lstStyle/>
          <a:p>
            <a:pPr algn="ctr" indent="0" marL="0">
              <a:buNone/>
            </a:pPr>
            <a:r>
              <a:rPr lang="en-US" sz="1400" b="1" dirty="0">
                <a:solidFill>
                  <a:srgbClr val="2E060B"/>
                </a:solidFill>
                <a:latin typeface="Palatino Linotype" pitchFamily="34" charset="0"/>
                <a:ea typeface="Palatino Linotype" pitchFamily="34" charset="-122"/>
                <a:cs typeface="Palatino Linotype" pitchFamily="34" charset="-120"/>
              </a:rPr>
              <a:t>3</a:t>
            </a:r>
            <a:endParaRPr lang="en-US" sz="1400" dirty="0"/>
          </a:p>
        </p:txBody>
      </p:sp>
      <p:sp>
        <p:nvSpPr>
          <p:cNvPr id="12" name="Text 10"/>
          <p:cNvSpPr/>
          <p:nvPr/>
        </p:nvSpPr>
        <p:spPr>
          <a:xfrm>
            <a:off x="1325880" y="4343400"/>
            <a:ext cx="10241280" cy="1143000"/>
          </a:xfrm>
          <a:prstGeom prst="rect">
            <a:avLst/>
          </a:prstGeom>
          <a:noFill/>
          <a:ln/>
        </p:spPr>
        <p:txBody>
          <a:bodyPr wrap="square" lIns="0" tIns="0" rIns="0" bIns="0" rtlCol="0" anchor="ctr"/>
          <a:lstStyle/>
          <a:p>
            <a:pPr indent="0" marL="0">
              <a:buNone/>
            </a:pPr>
            <a:r>
              <a:rPr lang="en-US" sz="1900" dirty="0">
                <a:solidFill>
                  <a:srgbClr val="11121A"/>
                </a:solidFill>
                <a:latin typeface="Palatino Linotype" pitchFamily="34" charset="0"/>
                <a:ea typeface="Palatino Linotype" pitchFamily="34" charset="-122"/>
                <a:cs typeface="Palatino Linotype" pitchFamily="34" charset="-120"/>
              </a:rPr>
              <a:t>Întrebați-l și pe pacient ce poate face acum acasă și ce vrea să poată face peste trei luni.</a:t>
            </a:r>
            <a:endParaRPr lang="en-US" sz="1900" dirty="0"/>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name="Slide 24">
    <p:bg>
      <p:bgPr>
        <a:solidFill>
          <a:srgbClr val="F6F5F2"/>
        </a:solidFill>
      </p:bgPr>
    </p:bg>
    <p:spTree>
      <p:nvGrpSpPr>
        <p:cNvPr id="1" name=""/>
        <p:cNvGrpSpPr/>
        <p:nvPr/>
      </p:nvGrpSpPr>
      <p:grpSpPr>
        <a:xfrm>
          <a:off x="0" y="0"/>
          <a:ext cx="0" cy="0"/>
          <a:chOff x="0" y="0"/>
          <a:chExt cx="0" cy="0"/>
        </a:xfrm>
      </p:grpSpPr>
      <p:sp>
        <p:nvSpPr>
          <p:cNvPr id="2" name="Text 0"/>
          <p:cNvSpPr/>
          <p:nvPr/>
        </p:nvSpPr>
        <p:spPr>
          <a:xfrm>
            <a:off x="594360" y="347472"/>
            <a:ext cx="7680960" cy="329184"/>
          </a:xfrm>
          <a:prstGeom prst="rect">
            <a:avLst/>
          </a:prstGeom>
          <a:noFill/>
          <a:ln/>
        </p:spPr>
        <p:txBody>
          <a:bodyPr wrap="square" lIns="0" tIns="0" rIns="0" bIns="0" rtlCol="0" anchor="t"/>
          <a:lstStyle/>
          <a:p>
            <a:pPr indent="0" marL="0">
              <a:buNone/>
            </a:pPr>
            <a:r>
              <a:rPr lang="en-US" sz="1300" b="1" spc="200" kern="0" dirty="0">
                <a:solidFill>
                  <a:srgbClr val="B02532"/>
                </a:solidFill>
                <a:latin typeface="Palatino Linotype" pitchFamily="34" charset="0"/>
                <a:ea typeface="Palatino Linotype" pitchFamily="34" charset="-122"/>
                <a:cs typeface="Palatino Linotype" pitchFamily="34" charset="-120"/>
              </a:rPr>
              <a:t>DE REȚINUT</a:t>
            </a:r>
            <a:endParaRPr lang="en-US" sz="1300" dirty="0"/>
          </a:p>
        </p:txBody>
      </p:sp>
      <p:sp>
        <p:nvSpPr>
          <p:cNvPr id="3" name="Text 1"/>
          <p:cNvSpPr/>
          <p:nvPr/>
        </p:nvSpPr>
        <p:spPr>
          <a:xfrm>
            <a:off x="594360" y="713232"/>
            <a:ext cx="10972800" cy="914400"/>
          </a:xfrm>
          <a:prstGeom prst="rect">
            <a:avLst/>
          </a:prstGeom>
          <a:noFill/>
          <a:ln/>
        </p:spPr>
        <p:txBody>
          <a:bodyPr wrap="square" lIns="0" tIns="0" rIns="0" bIns="0" rtlCol="0" anchor="t"/>
          <a:lstStyle/>
          <a:p>
            <a:pPr indent="0" marL="0">
              <a:buNone/>
            </a:pPr>
            <a:r>
              <a:rPr lang="en-US" sz="3000" b="1" dirty="0">
                <a:solidFill>
                  <a:srgbClr val="11121A"/>
                </a:solidFill>
                <a:latin typeface="Palatino Linotype" pitchFamily="34" charset="0"/>
                <a:ea typeface="Palatino Linotype" pitchFamily="34" charset="-122"/>
                <a:cs typeface="Palatino Linotype" pitchFamily="34" charset="-120"/>
              </a:rPr>
              <a:t>Cinci idei ale cursului</a:t>
            </a:r>
            <a:endParaRPr lang="en-US" sz="3000" dirty="0"/>
          </a:p>
        </p:txBody>
      </p:sp>
      <p:sp>
        <p:nvSpPr>
          <p:cNvPr id="4" name="Shape 2"/>
          <p:cNvSpPr/>
          <p:nvPr/>
        </p:nvSpPr>
        <p:spPr>
          <a:xfrm>
            <a:off x="594360" y="1600200"/>
            <a:ext cx="64008" cy="576072"/>
          </a:xfrm>
          <a:prstGeom prst="rect">
            <a:avLst/>
          </a:prstGeom>
          <a:solidFill>
            <a:srgbClr val="B02532"/>
          </a:solidFill>
          <a:ln w="12700">
            <a:solidFill>
              <a:srgbClr val="B02532"/>
            </a:solidFill>
            <a:prstDash val="solid"/>
          </a:ln>
        </p:spPr>
        <p:txBody>
          <a:bodyPr/>
          <a:p/>
        </p:txBody>
      </p:sp>
      <p:sp>
        <p:nvSpPr>
          <p:cNvPr id="5" name="Text 3"/>
          <p:cNvSpPr/>
          <p:nvPr/>
        </p:nvSpPr>
        <p:spPr>
          <a:xfrm>
            <a:off x="822960" y="1554480"/>
            <a:ext cx="10744200" cy="694944"/>
          </a:xfrm>
          <a:prstGeom prst="rect">
            <a:avLst/>
          </a:prstGeom>
          <a:noFill/>
          <a:ln/>
        </p:spPr>
        <p:txBody>
          <a:bodyPr wrap="square" lIns="0" tIns="0" rIns="0" bIns="0" rtlCol="0" anchor="t"/>
          <a:lstStyle/>
          <a:p>
            <a:pPr indent="0" marL="0">
              <a:buNone/>
            </a:pPr>
            <a:r>
              <a:rPr lang="en-US" sz="1600" dirty="0">
                <a:solidFill>
                  <a:srgbClr val="11121A"/>
                </a:solidFill>
                <a:latin typeface="Palatino Linotype" pitchFamily="34" charset="0"/>
                <a:ea typeface="Palatino Linotype" pitchFamily="34" charset="-122"/>
                <a:cs typeface="Palatino Linotype" pitchFamily="34" charset="-120"/>
              </a:rPr>
              <a:t>Donabedian: structura, procesul, rezultatul; legătura dintre ele adesea nu este bine stabilită.</a:t>
            </a:r>
            <a:endParaRPr lang="en-US" sz="1600" dirty="0"/>
          </a:p>
        </p:txBody>
      </p:sp>
      <p:sp>
        <p:nvSpPr>
          <p:cNvPr id="6" name="Shape 4"/>
          <p:cNvSpPr/>
          <p:nvPr/>
        </p:nvSpPr>
        <p:spPr>
          <a:xfrm>
            <a:off x="594360" y="2404872"/>
            <a:ext cx="64008" cy="576072"/>
          </a:xfrm>
          <a:prstGeom prst="rect">
            <a:avLst/>
          </a:prstGeom>
          <a:solidFill>
            <a:srgbClr val="8A6100"/>
          </a:solidFill>
          <a:ln w="12700">
            <a:solidFill>
              <a:srgbClr val="8A6100"/>
            </a:solidFill>
            <a:prstDash val="solid"/>
          </a:ln>
        </p:spPr>
        <p:txBody>
          <a:bodyPr/>
          <a:p/>
        </p:txBody>
      </p:sp>
      <p:sp>
        <p:nvSpPr>
          <p:cNvPr id="7" name="Text 5"/>
          <p:cNvSpPr/>
          <p:nvPr/>
        </p:nvSpPr>
        <p:spPr>
          <a:xfrm>
            <a:off x="822960" y="2359152"/>
            <a:ext cx="10744200" cy="694944"/>
          </a:xfrm>
          <a:prstGeom prst="rect">
            <a:avLst/>
          </a:prstGeom>
          <a:noFill/>
          <a:ln/>
        </p:spPr>
        <p:txBody>
          <a:bodyPr wrap="square" lIns="0" tIns="0" rIns="0" bIns="0" rtlCol="0" anchor="t"/>
          <a:lstStyle/>
          <a:p>
            <a:pPr indent="0" marL="0">
              <a:buNone/>
            </a:pPr>
            <a:r>
              <a:rPr lang="en-US" sz="1600" dirty="0">
                <a:solidFill>
                  <a:srgbClr val="11121A"/>
                </a:solidFill>
                <a:latin typeface="Palatino Linotype" pitchFamily="34" charset="0"/>
                <a:ea typeface="Palatino Linotype" pitchFamily="34" charset="-122"/>
                <a:cs typeface="Palatino Linotype" pitchFamily="34" charset="-120"/>
              </a:rPr>
              <a:t>Siguranța: absența vătămării care poate fi prevenită; căderile, cele mai frecvente evenimente adverse din spitale.</a:t>
            </a:r>
            <a:endParaRPr lang="en-US" sz="1600" dirty="0"/>
          </a:p>
        </p:txBody>
      </p:sp>
      <p:sp>
        <p:nvSpPr>
          <p:cNvPr id="8" name="Shape 6"/>
          <p:cNvSpPr/>
          <p:nvPr/>
        </p:nvSpPr>
        <p:spPr>
          <a:xfrm>
            <a:off x="594360" y="3209544"/>
            <a:ext cx="64008" cy="576072"/>
          </a:xfrm>
          <a:prstGeom prst="rect">
            <a:avLst/>
          </a:prstGeom>
          <a:solidFill>
            <a:srgbClr val="0E7C6B"/>
          </a:solidFill>
          <a:ln w="12700">
            <a:solidFill>
              <a:srgbClr val="0E7C6B"/>
            </a:solidFill>
            <a:prstDash val="solid"/>
          </a:ln>
        </p:spPr>
        <p:txBody>
          <a:bodyPr/>
          <a:p/>
        </p:txBody>
      </p:sp>
      <p:sp>
        <p:nvSpPr>
          <p:cNvPr id="9" name="Text 7"/>
          <p:cNvSpPr/>
          <p:nvPr/>
        </p:nvSpPr>
        <p:spPr>
          <a:xfrm>
            <a:off x="822960" y="3163824"/>
            <a:ext cx="10744200" cy="694944"/>
          </a:xfrm>
          <a:prstGeom prst="rect">
            <a:avLst/>
          </a:prstGeom>
          <a:noFill/>
          <a:ln/>
        </p:spPr>
        <p:txBody>
          <a:bodyPr wrap="square" lIns="0" tIns="0" rIns="0" bIns="0" rtlCol="0" anchor="t"/>
          <a:lstStyle/>
          <a:p>
            <a:pPr indent="0" marL="0">
              <a:buNone/>
            </a:pPr>
            <a:r>
              <a:rPr lang="en-US" sz="1600" dirty="0">
                <a:solidFill>
                  <a:srgbClr val="11121A"/>
                </a:solidFill>
                <a:latin typeface="Palatino Linotype" pitchFamily="34" charset="0"/>
                <a:ea typeface="Palatino Linotype" pitchFamily="34" charset="-122"/>
                <a:cs typeface="Palatino Linotype" pitchFamily="34" charset="-120"/>
              </a:rPr>
              <a:t>Prevenția: plan individual după evaluarea factorilor de risc, nu un scor; dovezi de certitudine scăzută.</a:t>
            </a:r>
            <a:endParaRPr lang="en-US" sz="1600" dirty="0"/>
          </a:p>
        </p:txBody>
      </p:sp>
      <p:sp>
        <p:nvSpPr>
          <p:cNvPr id="10" name="Shape 8"/>
          <p:cNvSpPr/>
          <p:nvPr/>
        </p:nvSpPr>
        <p:spPr>
          <a:xfrm>
            <a:off x="594360" y="4014216"/>
            <a:ext cx="64008" cy="576072"/>
          </a:xfrm>
          <a:prstGeom prst="rect">
            <a:avLst/>
          </a:prstGeom>
          <a:solidFill>
            <a:srgbClr val="4A2D8C"/>
          </a:solidFill>
          <a:ln w="12700">
            <a:solidFill>
              <a:srgbClr val="4A2D8C"/>
            </a:solidFill>
            <a:prstDash val="solid"/>
          </a:ln>
        </p:spPr>
        <p:txBody>
          <a:bodyPr/>
          <a:p/>
        </p:txBody>
      </p:sp>
      <p:sp>
        <p:nvSpPr>
          <p:cNvPr id="11" name="Text 9"/>
          <p:cNvSpPr/>
          <p:nvPr/>
        </p:nvSpPr>
        <p:spPr>
          <a:xfrm>
            <a:off x="822960" y="3968496"/>
            <a:ext cx="10744200" cy="694944"/>
          </a:xfrm>
          <a:prstGeom prst="rect">
            <a:avLst/>
          </a:prstGeom>
          <a:noFill/>
          <a:ln/>
        </p:spPr>
        <p:txBody>
          <a:bodyPr wrap="square" lIns="0" tIns="0" rIns="0" bIns="0" rtlCol="0" anchor="t"/>
          <a:lstStyle/>
          <a:p>
            <a:pPr indent="0" marL="0">
              <a:buNone/>
            </a:pPr>
            <a:r>
              <a:rPr lang="en-US" sz="1600" dirty="0">
                <a:solidFill>
                  <a:srgbClr val="11121A"/>
                </a:solidFill>
                <a:latin typeface="Palatino Linotype" pitchFamily="34" charset="0"/>
                <a:ea typeface="Palatino Linotype" pitchFamily="34" charset="-122"/>
                <a:cs typeface="Palatino Linotype" pitchFamily="34" charset="-120"/>
              </a:rPr>
              <a:t>Rezultatele raportate de pacient: chestionare standardizate, completate de pacient.</a:t>
            </a:r>
            <a:endParaRPr lang="en-US" sz="1600" dirty="0"/>
          </a:p>
        </p:txBody>
      </p:sp>
      <p:sp>
        <p:nvSpPr>
          <p:cNvPr id="12" name="Shape 10"/>
          <p:cNvSpPr/>
          <p:nvPr/>
        </p:nvSpPr>
        <p:spPr>
          <a:xfrm>
            <a:off x="594360" y="4818888"/>
            <a:ext cx="64008" cy="576072"/>
          </a:xfrm>
          <a:prstGeom prst="rect">
            <a:avLst/>
          </a:prstGeom>
          <a:solidFill>
            <a:srgbClr val="9C4A0A"/>
          </a:solidFill>
          <a:ln w="12700">
            <a:solidFill>
              <a:srgbClr val="9C4A0A"/>
            </a:solidFill>
            <a:prstDash val="solid"/>
          </a:ln>
        </p:spPr>
        <p:txBody>
          <a:bodyPr/>
          <a:p/>
        </p:txBody>
      </p:sp>
      <p:sp>
        <p:nvSpPr>
          <p:cNvPr id="13" name="Text 11"/>
          <p:cNvSpPr/>
          <p:nvPr/>
        </p:nvSpPr>
        <p:spPr>
          <a:xfrm>
            <a:off x="822960" y="4773168"/>
            <a:ext cx="10744200" cy="694944"/>
          </a:xfrm>
          <a:prstGeom prst="rect">
            <a:avLst/>
          </a:prstGeom>
          <a:noFill/>
          <a:ln/>
        </p:spPr>
        <p:txBody>
          <a:bodyPr wrap="square" lIns="0" tIns="0" rIns="0" bIns="0" rtlCol="0" anchor="t"/>
          <a:lstStyle/>
          <a:p>
            <a:pPr indent="0" marL="0">
              <a:buNone/>
            </a:pPr>
            <a:r>
              <a:rPr lang="en-US" sz="1600" dirty="0">
                <a:solidFill>
                  <a:srgbClr val="11121A"/>
                </a:solidFill>
                <a:latin typeface="Palatino Linotype" pitchFamily="34" charset="0"/>
                <a:ea typeface="Palatino Linotype" pitchFamily="34" charset="-122"/>
                <a:cs typeface="Palatino Linotype" pitchFamily="34" charset="-120"/>
              </a:rPr>
              <a:t>Valoarea: rezultatele care contează pentru pacient, raportate la cost; patru sensuri la nivel european.</a:t>
            </a:r>
            <a:endParaRPr lang="en-US" sz="1600" dirty="0"/>
          </a:p>
        </p:txBody>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name="Slide 25">
    <p:bg>
      <p:bgPr>
        <a:solidFill>
          <a:srgbClr val="11121A"/>
        </a:solidFill>
      </p:bgPr>
    </p:bg>
    <p:spTree>
      <p:nvGrpSpPr>
        <p:cNvPr id="1" name=""/>
        <p:cNvGrpSpPr/>
        <p:nvPr/>
      </p:nvGrpSpPr>
      <p:grpSpPr>
        <a:xfrm>
          <a:off x="0" y="0"/>
          <a:ext cx="0" cy="0"/>
          <a:chOff x="0" y="0"/>
          <a:chExt cx="0" cy="0"/>
        </a:xfrm>
      </p:grpSpPr>
      <p:sp>
        <p:nvSpPr>
          <p:cNvPr id="2" name="Shape 0"/>
          <p:cNvSpPr/>
          <p:nvPr/>
        </p:nvSpPr>
        <p:spPr>
          <a:xfrm>
            <a:off x="685800" y="822960"/>
            <a:ext cx="3840480" cy="329184"/>
          </a:xfrm>
          <a:prstGeom prst="roundRect">
            <a:avLst>
              <a:gd name="adj" fmla="val 50000"/>
            </a:avLst>
          </a:prstGeom>
          <a:solidFill>
            <a:srgbClr val="FF4757"/>
          </a:solidFill>
          <a:ln w="12700">
            <a:solidFill>
              <a:srgbClr val="FF4757"/>
            </a:solidFill>
            <a:prstDash val="solid"/>
          </a:ln>
        </p:spPr>
        <p:txBody>
          <a:bodyPr/>
          <a:p/>
        </p:txBody>
      </p:sp>
      <p:sp>
        <p:nvSpPr>
          <p:cNvPr id="3" name="Text 1"/>
          <p:cNvSpPr/>
          <p:nvPr/>
        </p:nvSpPr>
        <p:spPr>
          <a:xfrm>
            <a:off x="685800" y="822960"/>
            <a:ext cx="3840480" cy="329184"/>
          </a:xfrm>
          <a:prstGeom prst="rect">
            <a:avLst/>
          </a:prstGeom>
          <a:noFill/>
          <a:ln/>
        </p:spPr>
        <p:txBody>
          <a:bodyPr wrap="square" lIns="0" tIns="0" rIns="0" bIns="0" rtlCol="0" anchor="ctr"/>
          <a:lstStyle/>
          <a:p>
            <a:pPr algn="ctr" indent="0" marL="0">
              <a:buNone/>
            </a:pPr>
            <a:r>
              <a:rPr lang="en-US" sz="1300" b="1" dirty="0">
                <a:solidFill>
                  <a:srgbClr val="2E060B"/>
                </a:solidFill>
                <a:latin typeface="Palatino Linotype" pitchFamily="34" charset="0"/>
                <a:ea typeface="Palatino Linotype" pitchFamily="34" charset="-122"/>
                <a:cs typeface="Palatino Linotype" pitchFamily="34" charset="-120"/>
              </a:rPr>
              <a:t>ULTIMUL MINUT · ANONIM</a:t>
            </a:r>
            <a:endParaRPr lang="en-US" sz="1300" dirty="0"/>
          </a:p>
        </p:txBody>
      </p:sp>
      <p:sp>
        <p:nvSpPr>
          <p:cNvPr id="4" name="Text 2"/>
          <p:cNvSpPr/>
          <p:nvPr/>
        </p:nvSpPr>
        <p:spPr>
          <a:xfrm>
            <a:off x="685800" y="1371600"/>
            <a:ext cx="10058400" cy="822960"/>
          </a:xfrm>
          <a:prstGeom prst="rect">
            <a:avLst/>
          </a:prstGeom>
          <a:noFill/>
          <a:ln/>
        </p:spPr>
        <p:txBody>
          <a:bodyPr wrap="square" lIns="0" tIns="0" rIns="0" bIns="0" rtlCol="0" anchor="t"/>
          <a:lstStyle/>
          <a:p>
            <a:pPr indent="0" marL="0">
              <a:buNone/>
            </a:pPr>
            <a:r>
              <a:rPr lang="en-US" sz="4000" b="1" dirty="0">
                <a:solidFill>
                  <a:srgbClr val="FFFFFF"/>
                </a:solidFill>
                <a:latin typeface="Palatino Linotype" pitchFamily="34" charset="0"/>
                <a:ea typeface="Palatino Linotype" pitchFamily="34" charset="-122"/>
                <a:cs typeface="Palatino Linotype" pitchFamily="34" charset="-120"/>
              </a:rPr>
              <a:t>Trei întrebări pentru titular</a:t>
            </a:r>
            <a:endParaRPr lang="en-US" sz="4000" dirty="0"/>
          </a:p>
        </p:txBody>
      </p:sp>
      <p:sp>
        <p:nvSpPr>
          <p:cNvPr id="5" name="Shape 3"/>
          <p:cNvSpPr/>
          <p:nvPr/>
        </p:nvSpPr>
        <p:spPr>
          <a:xfrm>
            <a:off x="914400" y="2670048"/>
            <a:ext cx="420624" cy="420624"/>
          </a:xfrm>
          <a:prstGeom prst="ellipse">
            <a:avLst/>
          </a:prstGeom>
          <a:solidFill>
            <a:srgbClr val="FFC24B"/>
          </a:solidFill>
          <a:ln/>
        </p:spPr>
        <p:txBody>
          <a:bodyPr/>
          <a:p/>
        </p:txBody>
      </p:sp>
      <p:sp>
        <p:nvSpPr>
          <p:cNvPr id="6" name="Text 4"/>
          <p:cNvSpPr/>
          <p:nvPr/>
        </p:nvSpPr>
        <p:spPr>
          <a:xfrm>
            <a:off x="914400" y="2670048"/>
            <a:ext cx="420624" cy="420624"/>
          </a:xfrm>
          <a:prstGeom prst="rect">
            <a:avLst/>
          </a:prstGeom>
          <a:noFill/>
          <a:ln/>
        </p:spPr>
        <p:txBody>
          <a:bodyPr wrap="square" lIns="0" tIns="0" rIns="0" bIns="0" rtlCol="0" anchor="ctr"/>
          <a:lstStyle/>
          <a:p>
            <a:pPr algn="ctr" indent="0" marL="0">
              <a:buNone/>
            </a:pPr>
            <a:r>
              <a:rPr lang="en-US" sz="1400" b="1" dirty="0">
                <a:solidFill>
                  <a:srgbClr val="11121A"/>
                </a:solidFill>
                <a:latin typeface="Palatino Linotype" pitchFamily="34" charset="0"/>
                <a:ea typeface="Palatino Linotype" pitchFamily="34" charset="-122"/>
                <a:cs typeface="Palatino Linotype" pitchFamily="34" charset="-120"/>
              </a:rPr>
              <a:t>1</a:t>
            </a:r>
            <a:endParaRPr lang="en-US" sz="1400" dirty="0"/>
          </a:p>
        </p:txBody>
      </p:sp>
      <p:sp>
        <p:nvSpPr>
          <p:cNvPr id="7" name="Text 5"/>
          <p:cNvSpPr/>
          <p:nvPr/>
        </p:nvSpPr>
        <p:spPr>
          <a:xfrm>
            <a:off x="1600200" y="2514600"/>
            <a:ext cx="6309360" cy="731520"/>
          </a:xfrm>
          <a:prstGeom prst="rect">
            <a:avLst/>
          </a:prstGeom>
          <a:noFill/>
          <a:ln/>
        </p:spPr>
        <p:txBody>
          <a:bodyPr wrap="square" lIns="0" tIns="0" rIns="0" bIns="0" rtlCol="0" anchor="ctr"/>
          <a:lstStyle/>
          <a:p>
            <a:pPr indent="0" marL="0">
              <a:buNone/>
            </a:pPr>
            <a:r>
              <a:rPr lang="en-US" sz="2200" dirty="0">
                <a:solidFill>
                  <a:srgbClr val="FFFFFF"/>
                </a:solidFill>
                <a:latin typeface="Palatino Linotype" pitchFamily="34" charset="0"/>
                <a:ea typeface="Palatino Linotype" pitchFamily="34" charset="-122"/>
                <a:cs typeface="Palatino Linotype" pitchFamily="34" charset="-120"/>
              </a:rPr>
              <a:t>Ce a fost util?</a:t>
            </a:r>
            <a:endParaRPr lang="en-US" sz="2200" dirty="0"/>
          </a:p>
        </p:txBody>
      </p:sp>
      <p:sp>
        <p:nvSpPr>
          <p:cNvPr id="8" name="Shape 6"/>
          <p:cNvSpPr/>
          <p:nvPr/>
        </p:nvSpPr>
        <p:spPr>
          <a:xfrm>
            <a:off x="914400" y="3538728"/>
            <a:ext cx="420624" cy="420624"/>
          </a:xfrm>
          <a:prstGeom prst="ellipse">
            <a:avLst/>
          </a:prstGeom>
          <a:solidFill>
            <a:srgbClr val="FFC24B"/>
          </a:solidFill>
          <a:ln/>
        </p:spPr>
        <p:txBody>
          <a:bodyPr/>
          <a:p/>
        </p:txBody>
      </p:sp>
      <p:sp>
        <p:nvSpPr>
          <p:cNvPr id="9" name="Text 7"/>
          <p:cNvSpPr/>
          <p:nvPr/>
        </p:nvSpPr>
        <p:spPr>
          <a:xfrm>
            <a:off x="914400" y="3538728"/>
            <a:ext cx="420624" cy="420624"/>
          </a:xfrm>
          <a:prstGeom prst="rect">
            <a:avLst/>
          </a:prstGeom>
          <a:noFill/>
          <a:ln/>
        </p:spPr>
        <p:txBody>
          <a:bodyPr wrap="square" lIns="0" tIns="0" rIns="0" bIns="0" rtlCol="0" anchor="ctr"/>
          <a:lstStyle/>
          <a:p>
            <a:pPr algn="ctr" indent="0" marL="0">
              <a:buNone/>
            </a:pPr>
            <a:r>
              <a:rPr lang="en-US" sz="1400" b="1" dirty="0">
                <a:solidFill>
                  <a:srgbClr val="11121A"/>
                </a:solidFill>
                <a:latin typeface="Palatino Linotype" pitchFamily="34" charset="0"/>
                <a:ea typeface="Palatino Linotype" pitchFamily="34" charset="-122"/>
                <a:cs typeface="Palatino Linotype" pitchFamily="34" charset="-120"/>
              </a:rPr>
              <a:t>2</a:t>
            </a:r>
            <a:endParaRPr lang="en-US" sz="1400" dirty="0"/>
          </a:p>
        </p:txBody>
      </p:sp>
      <p:sp>
        <p:nvSpPr>
          <p:cNvPr id="10" name="Text 8"/>
          <p:cNvSpPr/>
          <p:nvPr/>
        </p:nvSpPr>
        <p:spPr>
          <a:xfrm>
            <a:off x="1600200" y="3383280"/>
            <a:ext cx="6309360" cy="731520"/>
          </a:xfrm>
          <a:prstGeom prst="rect">
            <a:avLst/>
          </a:prstGeom>
          <a:noFill/>
          <a:ln/>
        </p:spPr>
        <p:txBody>
          <a:bodyPr wrap="square" lIns="0" tIns="0" rIns="0" bIns="0" rtlCol="0" anchor="ctr"/>
          <a:lstStyle/>
          <a:p>
            <a:pPr indent="0" marL="0">
              <a:buNone/>
            </a:pPr>
            <a:r>
              <a:rPr lang="en-US" sz="2200" dirty="0">
                <a:solidFill>
                  <a:srgbClr val="FFFFFF"/>
                </a:solidFill>
                <a:latin typeface="Palatino Linotype" pitchFamily="34" charset="0"/>
                <a:ea typeface="Palatino Linotype" pitchFamily="34" charset="-122"/>
                <a:cs typeface="Palatino Linotype" pitchFamily="34" charset="-120"/>
              </a:rPr>
              <a:t>Unde te-am pierdut?</a:t>
            </a:r>
            <a:endParaRPr lang="en-US" sz="2200" dirty="0"/>
          </a:p>
        </p:txBody>
      </p:sp>
      <p:sp>
        <p:nvSpPr>
          <p:cNvPr id="11" name="Shape 9"/>
          <p:cNvSpPr/>
          <p:nvPr/>
        </p:nvSpPr>
        <p:spPr>
          <a:xfrm>
            <a:off x="914400" y="4407408"/>
            <a:ext cx="420624" cy="420624"/>
          </a:xfrm>
          <a:prstGeom prst="ellipse">
            <a:avLst/>
          </a:prstGeom>
          <a:solidFill>
            <a:srgbClr val="FFC24B"/>
          </a:solidFill>
          <a:ln/>
        </p:spPr>
        <p:txBody>
          <a:bodyPr/>
          <a:p/>
        </p:txBody>
      </p:sp>
      <p:sp>
        <p:nvSpPr>
          <p:cNvPr id="12" name="Text 10"/>
          <p:cNvSpPr/>
          <p:nvPr/>
        </p:nvSpPr>
        <p:spPr>
          <a:xfrm>
            <a:off x="914400" y="4407408"/>
            <a:ext cx="420624" cy="420624"/>
          </a:xfrm>
          <a:prstGeom prst="rect">
            <a:avLst/>
          </a:prstGeom>
          <a:noFill/>
          <a:ln/>
        </p:spPr>
        <p:txBody>
          <a:bodyPr wrap="square" lIns="0" tIns="0" rIns="0" bIns="0" rtlCol="0" anchor="ctr"/>
          <a:lstStyle/>
          <a:p>
            <a:pPr algn="ctr" indent="0" marL="0">
              <a:buNone/>
            </a:pPr>
            <a:r>
              <a:rPr lang="en-US" sz="1400" b="1" dirty="0">
                <a:solidFill>
                  <a:srgbClr val="11121A"/>
                </a:solidFill>
                <a:latin typeface="Palatino Linotype" pitchFamily="34" charset="0"/>
                <a:ea typeface="Palatino Linotype" pitchFamily="34" charset="-122"/>
                <a:cs typeface="Palatino Linotype" pitchFamily="34" charset="-120"/>
              </a:rPr>
              <a:t>3</a:t>
            </a:r>
            <a:endParaRPr lang="en-US" sz="1400" dirty="0"/>
          </a:p>
        </p:txBody>
      </p:sp>
      <p:sp>
        <p:nvSpPr>
          <p:cNvPr id="13" name="Text 11"/>
          <p:cNvSpPr/>
          <p:nvPr/>
        </p:nvSpPr>
        <p:spPr>
          <a:xfrm>
            <a:off x="1600200" y="4251960"/>
            <a:ext cx="6309360" cy="731520"/>
          </a:xfrm>
          <a:prstGeom prst="rect">
            <a:avLst/>
          </a:prstGeom>
          <a:noFill/>
          <a:ln/>
        </p:spPr>
        <p:txBody>
          <a:bodyPr wrap="square" lIns="0" tIns="0" rIns="0" bIns="0" rtlCol="0" anchor="ctr"/>
          <a:lstStyle/>
          <a:p>
            <a:pPr indent="0" marL="0">
              <a:buNone/>
            </a:pPr>
            <a:r>
              <a:rPr lang="en-US" sz="2200" dirty="0">
                <a:solidFill>
                  <a:srgbClr val="FFFFFF"/>
                </a:solidFill>
                <a:latin typeface="Palatino Linotype" pitchFamily="34" charset="0"/>
                <a:ea typeface="Palatino Linotype" pitchFamily="34" charset="-122"/>
                <a:cs typeface="Palatino Linotype" pitchFamily="34" charset="-120"/>
              </a:rPr>
              <a:t>Ce ai putea folosi mâine?</a:t>
            </a:r>
            <a:endParaRPr lang="en-US" sz="2200" dirty="0"/>
          </a:p>
        </p:txBody>
      </p:sp>
      <p:sp>
        <p:nvSpPr>
          <p:cNvPr id="14" name="Shape 12"/>
          <p:cNvSpPr/>
          <p:nvPr/>
        </p:nvSpPr>
        <p:spPr>
          <a:xfrm>
            <a:off x="8549640" y="2514600"/>
            <a:ext cx="3017520" cy="2468880"/>
          </a:xfrm>
          <a:prstGeom prst="roundRect">
            <a:avLst>
              <a:gd name="adj" fmla="val 3333"/>
            </a:avLst>
          </a:prstGeom>
          <a:solidFill>
            <a:srgbClr val="FFFFFF"/>
          </a:solidFill>
          <a:ln w="12700">
            <a:solidFill>
              <a:srgbClr val="FFFFFF"/>
            </a:solidFill>
            <a:prstDash val="solid"/>
          </a:ln>
        </p:spPr>
        <p:txBody>
          <a:bodyPr/>
          <a:p/>
        </p:txBody>
      </p:sp>
      <p:sp>
        <p:nvSpPr>
          <p:cNvPr id="16" name="Text 14"/>
          <p:cNvSpPr/>
          <p:nvPr/>
        </p:nvSpPr>
        <p:spPr>
          <a:xfrm>
            <a:off x="594360" y="5257800"/>
            <a:ext cx="10972800" cy="822960"/>
          </a:xfrm>
          <a:prstGeom prst="rect">
            <a:avLst/>
          </a:prstGeom>
          <a:noFill/>
          <a:ln/>
        </p:spPr>
        <p:txBody>
          <a:bodyPr wrap="square" lIns="0" tIns="0" rIns="0" bIns="0" rtlCol="0" anchor="t"/>
          <a:lstStyle/>
          <a:p>
            <a:pPr indent="0" marL="0">
              <a:buNone/>
            </a:pPr>
            <a:r>
              <a:rPr lang="en-US" sz="1700" b="1" dirty="0">
                <a:solidFill>
                  <a:srgbClr val="27D3BE"/>
                </a:solidFill>
                <a:latin typeface="Palatino Linotype" pitchFamily="34" charset="0"/>
                <a:ea typeface="Palatino Linotype" pitchFamily="34" charset="-122"/>
                <a:cs typeface="Palatino Linotype" pitchFamily="34" charset="-120"/>
              </a:rPr>
              <a:t>Fiind ultimul curs, răspunsurile servesc la revizuirea disciplinei. Două modificări făcute pe baza lor apar pe pagina disciplinei până luni, 26 octombrie 2026.</a:t>
            </a:r>
            <a:endParaRPr lang="en-US" sz="1700" dirty="0"/>
          </a:p>
        </p:txBody>
      </p:sp>
      <p:pic>
        <p:nvPicPr>
          <p:cNvPr id="17" name="Picture 16" descr="Mentimeter_SPM_BFKIII_C04.png"/>
          <p:cNvPicPr>
            <a:picLocks noChangeAspect="1"/>
          </p:cNvPicPr>
          <p:nvPr/>
        </p:nvPicPr>
        <p:blipFill>
          <a:blip r:embed="rId3"/>
          <a:stretch>
            <a:fillRect/>
          </a:stretch>
        </p:blipFill>
        <p:spPr>
          <a:xfrm>
            <a:off x="9137650" y="2514600"/>
            <a:ext cx="1841500" cy="1841500"/>
          </a:xfrm>
          <a:prstGeom prst="rect">
            <a:avLst/>
          </a:prstGeom>
        </p:spPr>
      </p:pic>
      <p:sp>
        <p:nvSpPr>
          <p:cNvPr id="18" name="TextBox 17"/>
          <p:cNvSpPr txBox="1"/>
          <p:nvPr/>
        </p:nvSpPr>
        <p:spPr>
          <a:xfrm>
            <a:off x="8549640" y="4394200"/>
            <a:ext cx="3017520" cy="627380"/>
          </a:xfrm>
          <a:prstGeom prst="rect">
            <a:avLst/>
          </a:prstGeom>
          <a:noFill/>
        </p:spPr>
        <p:txBody>
          <a:bodyPr wrap="square" lIns="0" rIns="0" tIns="0" bIns="0" anchor="t">
            <a:spAutoFit/>
          </a:bodyPr>
          <a:lstStyle/>
          <a:p>
            <a:pPr algn="ctr"/>
            <a:r>
              <a:rPr sz="1300" b="1">
                <a:solidFill>
                  <a:srgbClr val="B02532"/>
                </a:solidFill>
                <a:latin typeface="Palatino Linotype"/>
              </a:rPr>
              <a:t>menti.com</a:t>
            </a:r>
          </a:p>
          <a:p>
            <a:pPr algn="ctr"/>
            <a:r>
              <a:rPr sz="1300" b="1">
                <a:solidFill>
                  <a:srgbClr val="B02532"/>
                </a:solidFill>
                <a:latin typeface="Palatino Linotype"/>
              </a:rPr>
              <a:t>anonim, fără cont</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25</Slides>
  <Notes>25</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25</vt:i4>
      </vt:variant>
    </vt:vector>
  </HeadingPairs>
  <TitlesOfParts>
    <vt:vector size="28"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lpstr>Slide 17</vt:lpstr>
      <vt:lpstr>Slide 18</vt:lpstr>
      <vt:lpstr>Slide 19</vt:lpstr>
      <vt:lpstr>Slide 20</vt:lpstr>
      <vt:lpstr>Slide 21</vt:lpstr>
      <vt:lpstr>Slide 22</vt:lpstr>
      <vt:lpstr>Slide 23</vt:lpstr>
      <vt:lpstr>Slide 24</vt:lpstr>
      <vt:lpstr>Slide 25</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Curs 4 - Calitate, siguranță și valoare în recuperare</dc:title>
  <dc:subject>PptxGenJS Presentation</dc:subject>
  <dc:creator>Conf. Univ. Dr. Adrian Pana</dc:creator>
  <cp:lastModifiedBy>Conf. Univ. Dr. Adrian Pana</cp:lastModifiedBy>
  <cp:revision>1</cp:revision>
  <dcterms:created xsi:type="dcterms:W3CDTF">2026-10-17T12:26:35Z</dcterms:created>
  <dcterms:modified xsi:type="dcterms:W3CDTF">2026-10-17T12:26:35Z</dcterms:modified>
  <cp:keywords>sursa_amprenta=937d106ba0ae9e3f; proiectie</cp:keywords>
</cp:coreProperties>
</file>