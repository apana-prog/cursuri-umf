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32-1.jpg" ContentType="image/jpg"/>
  <Override PartName="/ppt/media/image-8-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Astăzi privim serviciul care ar trebui să o primească pe pacienta A și oamenii care lucrează în el. Codul Mentimeter rămâne același toată ședința.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 citit răspunsurile de la biletul de ieșire al ședinței a doua. Două lucruri se schimbă de azi: fișa de lucru are un singur diapozitiv, iar strategia lui Rose o reluăm chiar acum.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Azi răspundem la o întrebare de manager: de câți fizioterapeuți are nevoie un serviciu și cine hotărăște. Ședința are trei părți, toate pe același caz.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Votați înaintea oricărei explicații. Contează ce schimbă măsura și la cine ajunge.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cursul al doilea, după dezbatere, votul s-a mutat de la răspunsul susținut de note spre altul. Un argument spus convingător nu e, prin asta, și un argument corect.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Varianta cu scaunele și pauzele schimbă condiția pentru toți, la fiecare tură. Cele două strategii nu se exclud: prima ajută persoanele care suferă deja, a doua reduce numărul celor care vor ajunge să sufere.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Dacă o măsură e populațională și dacă funcționează sunt două întrebări diferite. A doua se judecă pe sinteze ale studiilor, iar sinteza citită privește munca de birou, nu casele de marcat.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Pacienta A are trimitere la ambulatoriul de recuperare al spitalului municipal. Coordonatorul D. are de răspuns la trei cereri ale directorului.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Înaintea oricărei explicații: ce ar face, mai întâi, coordonatorul D.? Păstrăm rezultatul și îl comparăm la sfârșitul cursului.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Răspunsul provizoriu: oamenii se cer cu cifre. Ca să le avem, coordonatorul are nevoie de cele patru funcții ale managementului.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de funcții e cea din fișa disciplinei. Coordonarea activităților o tratăm ca parte a conducerii.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Lucrați în perechi și atribuiți fiecare situație uneia dintre cele patru funcții. Votăm apoi pe două dintre 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Votăm întâi situația a treia, apoi situația a patra.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Funcțiile se repetă și se sprijină una pe alta. Managementul nu aparține numai directorului de spital: legea îl numește printre domeniile de practică ale fizioterapeutului.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Două formulări ale misiunii aceluiași serviciu. Alegeți-o pe cea care poate fi verificată.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Misiunea spune pe cine servește serviciul și ce le oferă; structura, cu ce lucrează; procesele, cum circulă pacientul prin el. România avea în 2024 13 791 de paturi de recuperare, 72,37 la 100 000 de locuitori.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Numele vine de la inițialele cuvintelor englezești: strengths, weaknesses, opportunities, threats. Regula de bază: separăm ce ține de serviciu de ce vine din afară.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Tabăra din stânga reprezintă ce ține de serviciu, cea din dreapta ce vine din afară. Votăm pe rând fiecare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Ultimii trei factori. Al șaselea e cel mai discutat: gândiți-vă dacă e o cauză sau un 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Lectura tabloului contează mai mult decât completarea lui. Plecarea fizioterapeuților spre privat vine din piața muncii; postul vacant ține de serviciu.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termen nou. Un indicator fără numitor poate induce în eroare: nu știm câte ședințe erau posibile și cu câți oameni.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Numitorul spune față de ce numărăm. Votați, apoi discutați cu colegul ce s-ar schimba cu alt numitor.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Ponderea abandonului are ca numitor pacienții care au început tratamentul în aceeași lună. Așteptarea medie de 49 de zile înseamnă șapte săptămâni.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Citiți cifrele împreună, nu una câte una. O singură lună de date nu separă explicațiile; indicatorii se urmăresc mai multe luni la rând.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întrebare practică pentru primul vostru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Profesia se exercită pe baza autorizației de liberă practică, eliberată de Colegiu și avizată anual. Diploma e una dintre condiții, nu temeiul exercitării.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Verificarea documentelor ține de funcția de organizare. Un fizioterapeut fără aviz anual nu îndeplinește condițiile legii.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Creșterea e reală, dar punctul de plecare a fost foarte jos. Diferențele dintre țări se citesc cu prudență: nu știm cum numără România fizioterapeuții din sectorul privat.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 mai ales la afecțiunile complexe, recuperarea o oferă echipe pluridisciplinare. Pacientul și familia sunt în echipă: obiectivele se stabilesc împreună cu pacientul, iar exercițiile se fac în mare parte acasă.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Votul vostru, apoi legea: ce spun art. 4 și art. 13 despre prescripție și despre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Varianta cu discuția și acordul medicului respectă limita din lege: prescripția e a medicului, planul e al fizioterapeutului. Matricea o completați la lucrarea practică a treia.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Estimați pe telefon, cu un număr, înainte de orice calcul.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termen nou. Principiul: necesarul se calculează din munca efectivă a serviciului, nu din paturi, din numărul de locuitori sau din obișnuință.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Lucrați în perechi. Pacienții care așteaptă pe listă nu intră în volumul anual: el vine din registrul anului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Raportul WISN egal cu 1 înseamnă echilibru, peste 1 surplus, sub 1 personal insuficient pentru volumul de muncă. Cu cât raportul e mai mic, cu atât presiunea e mai mare.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Calculul dă un temei cererii de doi fizioterapeuți, dar obligă și la cinste față de propriul serviciu: ce se poate rezolva cu oamenii existenți și ce nu se poate rezolva fără oameni noi.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de așteptare nu e o fatalitate și nici o problemă numai a directorului. Fără autorizație, aviz și asigurare nu lucrați legal, oricât de bine ați lucra clinic.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Fișa 3 folosește direct ce am lucrat azi: analiza SWOT, indicatorii și matricea de responsabilități.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BFKIII/active/img/sala_kinetoterapie_commons.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40080" y="731520"/>
            <a:ext cx="2377440" cy="329184"/>
          </a:xfrm>
          <a:prstGeom prst="roundRect">
            <a:avLst>
              <a:gd name="adj" fmla="val 50000"/>
            </a:avLst>
          </a:prstGeom>
          <a:solidFill>
            <a:srgbClr val="FF4757"/>
          </a:solidFill>
          <a:ln w="12700">
            <a:solidFill>
              <a:srgbClr val="FF4757"/>
            </a:solidFill>
            <a:prstDash val="solid"/>
          </a:ln>
        </p:spPr>
        <p:txBody>
          <a:bodyPr/>
          <a:p/>
        </p:txBody>
      </p:sp>
      <p:sp>
        <p:nvSpPr>
          <p:cNvPr id="4" name="Text 1"/>
          <p:cNvSpPr/>
          <p:nvPr/>
        </p:nvSpPr>
        <p:spPr>
          <a:xfrm>
            <a:off x="640080" y="731520"/>
            <a:ext cx="23774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CURSUL AL TREILEA</a:t>
            </a:r>
            <a:endParaRPr lang="en-US" sz="1300" dirty="0"/>
          </a:p>
        </p:txBody>
      </p:sp>
      <p:sp>
        <p:nvSpPr>
          <p:cNvPr id="5" name="Text 2"/>
          <p:cNvSpPr/>
          <p:nvPr/>
        </p:nvSpPr>
        <p:spPr>
          <a:xfrm>
            <a:off x="640080" y="1325880"/>
            <a:ext cx="5760720" cy="160020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Managementul serviciilor de recuperare</a:t>
            </a:r>
            <a:endParaRPr lang="en-US" sz="3400" dirty="0"/>
          </a:p>
        </p:txBody>
      </p:sp>
      <p:sp>
        <p:nvSpPr>
          <p:cNvPr id="6" name="Text 3"/>
          <p:cNvSpPr/>
          <p:nvPr/>
        </p:nvSpPr>
        <p:spPr>
          <a:xfrm>
            <a:off x="640080" y="2926080"/>
            <a:ext cx="5760720" cy="822960"/>
          </a:xfrm>
          <a:prstGeom prst="rect">
            <a:avLst/>
          </a:prstGeom>
          <a:noFill/>
          <a:ln/>
        </p:spPr>
        <p:txBody>
          <a:bodyPr wrap="square" lIns="0" tIns="0" rIns="0" bIns="0" rtlCol="0" anchor="t"/>
          <a:lstStyle/>
          <a:p>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Resursele umane în recuperare</a:t>
            </a:r>
            <a:endParaRPr lang="en-US" sz="2400" dirty="0"/>
          </a:p>
        </p:txBody>
      </p:sp>
      <p:sp>
        <p:nvSpPr>
          <p:cNvPr id="7" name="Shape 4"/>
          <p:cNvSpPr/>
          <p:nvPr/>
        </p:nvSpPr>
        <p:spPr>
          <a:xfrm>
            <a:off x="667512" y="3977640"/>
            <a:ext cx="1280160" cy="27432"/>
          </a:xfrm>
          <a:prstGeom prst="rect">
            <a:avLst/>
          </a:prstGeom>
          <a:solidFill>
            <a:srgbClr val="FF4757"/>
          </a:solidFill>
          <a:ln w="12700">
            <a:solidFill>
              <a:srgbClr val="FF4757"/>
            </a:solidFill>
            <a:prstDash val="solid"/>
          </a:ln>
        </p:spPr>
        <p:txBody>
          <a:bodyPr/>
          <a:p/>
        </p:txBody>
      </p:sp>
      <p:sp>
        <p:nvSpPr>
          <p:cNvPr id="8" name="Text 5"/>
          <p:cNvSpPr/>
          <p:nvPr/>
        </p:nvSpPr>
        <p:spPr>
          <a:xfrm>
            <a:off x="640080" y="4160520"/>
            <a:ext cx="5760720" cy="109728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Sănătate publică și management · Balneofiziokinetoterapie și recuperare, anul III</a:t>
            </a:r>
            <a:endParaRPr lang="en-US" sz="1300" dirty="0"/>
          </a:p>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Conf. univ. dr. Adrian Pană · UMF „Iuliu Hațieganu” Cluj-Napoca · 2026–2027</a:t>
            </a:r>
            <a:endParaRPr lang="en-US" sz="1300" dirty="0"/>
          </a:p>
        </p:txBody>
      </p:sp>
      <p:sp>
        <p:nvSpPr>
          <p:cNvPr id="9" name="Shape 6"/>
          <p:cNvSpPr/>
          <p:nvPr/>
        </p:nvSpPr>
        <p:spPr>
          <a:xfrm>
            <a:off x="640080" y="5440680"/>
            <a:ext cx="4206240" cy="457200"/>
          </a:xfrm>
          <a:prstGeom prst="roundRect">
            <a:avLst>
              <a:gd name="adj" fmla="val 18000"/>
            </a:avLst>
          </a:prstGeom>
          <a:solidFill>
            <a:srgbClr val="272A38"/>
          </a:solidFill>
          <a:ln w="12700">
            <a:solidFill>
              <a:srgbClr val="272A38"/>
            </a:solidFill>
            <a:prstDash val="solid"/>
          </a:ln>
        </p:spPr>
        <p:txBody>
          <a:bodyPr/>
          <a:p/>
        </p:txBody>
      </p:sp>
      <p:sp>
        <p:nvSpPr>
          <p:cNvPr id="10" name="Text 7"/>
          <p:cNvSpPr/>
          <p:nvPr/>
        </p:nvSpPr>
        <p:spPr>
          <a:xfrm>
            <a:off x="777240" y="5440680"/>
            <a:ext cx="4023360" cy="457200"/>
          </a:xfrm>
          <a:prstGeom prst="rect">
            <a:avLst/>
          </a:prstGeom>
          <a:noFill/>
          <a:ln/>
        </p:spPr>
        <p:txBody>
          <a:bodyPr wrap="square" lIns="0" tIns="0" rIns="0" bIns="0" rtlCol="0" anchor="ctr"/>
          <a:lstStyle/>
          <a:p>
            <a:pPr indent="0" marL="0">
              <a:buNone/>
            </a:pPr>
            <a:r>
              <a:rPr lang="en-US" sz="1300" b="1" dirty="0">
                <a:solidFill>
                  <a:srgbClr val="FFC24B"/>
                </a:solidFill>
                <a:latin typeface="Palatino Linotype" pitchFamily="34" charset="0"/>
                <a:ea typeface="Palatino Linotype" pitchFamily="34" charset="-122"/>
                <a:cs typeface="Palatino Linotype" pitchFamily="34" charset="-120"/>
              </a:rPr>
              <a:t>Mentimeter: menti.com/al2wagg6fbas</a:t>
            </a:r>
            <a:endParaRPr lang="en-US" sz="1300" dirty="0"/>
          </a:p>
        </p:txBody>
      </p:sp>
      <p:sp>
        <p:nvSpPr>
          <p:cNvPr id="11" name="Shape 8"/>
          <p:cNvSpPr/>
          <p:nvPr/>
        </p:nvSpPr>
        <p:spPr>
          <a:xfrm>
            <a:off x="6705295" y="6144768"/>
            <a:ext cx="5486400" cy="713232"/>
          </a:xfrm>
          <a:prstGeom prst="rect">
            <a:avLst/>
          </a:prstGeom>
          <a:solidFill>
            <a:srgbClr val="11121A">
              <a:alpha val="75000"/>
            </a:srgbClr>
          </a:solidFill>
          <a:ln w="12700">
            <a:solidFill>
              <a:srgbClr val="11121A"/>
            </a:solidFill>
            <a:prstDash val="solid"/>
          </a:ln>
        </p:spPr>
        <p:txBody>
          <a:bodyPr/>
          <a:p/>
        </p:txBody>
      </p:sp>
      <p:sp>
        <p:nvSpPr>
          <p:cNvPr id="12" name="Text 9"/>
          <p:cNvSpPr/>
          <p:nvPr/>
        </p:nvSpPr>
        <p:spPr>
          <a:xfrm>
            <a:off x="6903720" y="6181344"/>
            <a:ext cx="5120640" cy="384048"/>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O sală de recuperare. Cine hotărăște câți lucrează în ea?</a:t>
            </a:r>
            <a:endParaRPr lang="en-US" sz="1300" dirty="0"/>
          </a:p>
        </p:txBody>
      </p:sp>
      <p:sp>
        <p:nvSpPr>
          <p:cNvPr id="13" name="Text 10"/>
          <p:cNvSpPr/>
          <p:nvPr/>
        </p:nvSpPr>
        <p:spPr>
          <a:xfrm>
            <a:off x="6903720" y="6565392"/>
            <a:ext cx="512064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Hilahalumit · CC BY-SA 4.0 · Wikimedia Commons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1"/>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AM SCHIMBAT DUPĂ RĂSPUNSURILE VOASTRE</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Am citit răspunsurile de la biletul de ieșire al ședinței a doua</a:t>
            </a:r>
            <a:endParaRPr lang="en-US" sz="2800" dirty="0"/>
          </a:p>
        </p:txBody>
      </p:sp>
      <p:sp>
        <p:nvSpPr>
          <p:cNvPr id="4" name="Shape 2"/>
          <p:cNvSpPr/>
          <p:nvPr/>
        </p:nvSpPr>
        <p:spPr>
          <a:xfrm>
            <a:off x="594360" y="1874520"/>
            <a:ext cx="10972800" cy="1645920"/>
          </a:xfrm>
          <a:prstGeom prst="rect">
            <a:avLst/>
          </a:prstGeom>
          <a:solidFill>
            <a:srgbClr val="FFFFFF"/>
          </a:solidFill>
          <a:ln w="9525">
            <a:solidFill>
              <a:srgbClr val="D6D2C8"/>
            </a:solidFill>
            <a:prstDash val="solid"/>
          </a:ln>
        </p:spPr>
        <p:txBody>
          <a:bodyPr/>
          <a:p/>
        </p:txBody>
      </p:sp>
      <p:sp>
        <p:nvSpPr>
          <p:cNvPr id="5" name="Shape 3"/>
          <p:cNvSpPr/>
          <p:nvPr/>
        </p:nvSpPr>
        <p:spPr>
          <a:xfrm>
            <a:off x="594360" y="1874520"/>
            <a:ext cx="91440" cy="1645920"/>
          </a:xfrm>
          <a:prstGeom prst="rect">
            <a:avLst/>
          </a:prstGeom>
          <a:solidFill>
            <a:srgbClr val="B02532"/>
          </a:solidFill>
          <a:ln w="12700">
            <a:solidFill>
              <a:srgbClr val="B02532"/>
            </a:solidFill>
            <a:prstDash val="solid"/>
          </a:ln>
        </p:spPr>
        <p:txBody>
          <a:bodyPr/>
          <a:p/>
        </p:txBody>
      </p:sp>
      <p:sp>
        <p:nvSpPr>
          <p:cNvPr id="6" name="Text 4"/>
          <p:cNvSpPr/>
          <p:nvPr/>
        </p:nvSpPr>
        <p:spPr>
          <a:xfrm>
            <a:off x="914400" y="1874520"/>
            <a:ext cx="731520" cy="1645920"/>
          </a:xfrm>
          <a:prstGeom prst="rect">
            <a:avLst/>
          </a:prstGeom>
          <a:noFill/>
          <a:ln/>
        </p:spPr>
        <p:txBody>
          <a:bodyPr wrap="square" lIns="0" tIns="0" rIns="0" bIns="0" rtlCol="0" anchor="ctr"/>
          <a:lstStyle/>
          <a:p>
            <a:pPr indent="0" marL="0">
              <a:buNone/>
            </a:pPr>
            <a:r>
              <a:rPr lang="en-US" sz="4400" b="1" dirty="0">
                <a:solidFill>
                  <a:srgbClr val="B02532"/>
                </a:solidFill>
                <a:latin typeface="Palatino Linotype" pitchFamily="34" charset="0"/>
                <a:ea typeface="Palatino Linotype" pitchFamily="34" charset="-122"/>
                <a:cs typeface="Palatino Linotype" pitchFamily="34" charset="-120"/>
              </a:rPr>
              <a:t>1</a:t>
            </a:r>
            <a:endParaRPr lang="en-US" sz="4400" dirty="0"/>
          </a:p>
        </p:txBody>
      </p:sp>
      <p:sp>
        <p:nvSpPr>
          <p:cNvPr id="7" name="Text 5"/>
          <p:cNvSpPr/>
          <p:nvPr/>
        </p:nvSpPr>
        <p:spPr>
          <a:xfrm>
            <a:off x="1737360" y="1965960"/>
            <a:ext cx="9601200" cy="146304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Fișa de lucru se explică pe un singur diapozitiv (ce faceți, până când, unde o predați), iar lucrul la ea începe în sală, la lucrarea practică, nu acasă.</a:t>
            </a:r>
            <a:endParaRPr lang="en-US" sz="1900" dirty="0"/>
          </a:p>
        </p:txBody>
      </p:sp>
      <p:sp>
        <p:nvSpPr>
          <p:cNvPr id="8" name="Shape 6"/>
          <p:cNvSpPr/>
          <p:nvPr/>
        </p:nvSpPr>
        <p:spPr>
          <a:xfrm>
            <a:off x="594360" y="3749040"/>
            <a:ext cx="10972800" cy="1645920"/>
          </a:xfrm>
          <a:prstGeom prst="rect">
            <a:avLst/>
          </a:prstGeom>
          <a:solidFill>
            <a:srgbClr val="FFFFFF"/>
          </a:solidFill>
          <a:ln w="9525">
            <a:solidFill>
              <a:srgbClr val="D6D2C8"/>
            </a:solidFill>
            <a:prstDash val="solid"/>
          </a:ln>
        </p:spPr>
        <p:txBody>
          <a:bodyPr/>
          <a:p/>
        </p:txBody>
      </p:sp>
      <p:sp>
        <p:nvSpPr>
          <p:cNvPr id="9" name="Shape 7"/>
          <p:cNvSpPr/>
          <p:nvPr/>
        </p:nvSpPr>
        <p:spPr>
          <a:xfrm>
            <a:off x="594360" y="3749040"/>
            <a:ext cx="91440" cy="1645920"/>
          </a:xfrm>
          <a:prstGeom prst="rect">
            <a:avLst/>
          </a:prstGeom>
          <a:solidFill>
            <a:srgbClr val="0E7C6B"/>
          </a:solidFill>
          <a:ln w="12700">
            <a:solidFill>
              <a:srgbClr val="0E7C6B"/>
            </a:solidFill>
            <a:prstDash val="solid"/>
          </a:ln>
        </p:spPr>
        <p:txBody>
          <a:bodyPr/>
          <a:p/>
        </p:txBody>
      </p:sp>
      <p:sp>
        <p:nvSpPr>
          <p:cNvPr id="10" name="Text 8"/>
          <p:cNvSpPr/>
          <p:nvPr/>
        </p:nvSpPr>
        <p:spPr>
          <a:xfrm>
            <a:off x="914400" y="3749040"/>
            <a:ext cx="731520" cy="1645920"/>
          </a:xfrm>
          <a:prstGeom prst="rect">
            <a:avLst/>
          </a:prstGeom>
          <a:noFill/>
          <a:ln/>
        </p:spPr>
        <p:txBody>
          <a:bodyPr wrap="square" lIns="0" tIns="0" rIns="0" bIns="0" rtlCol="0" anchor="ctr"/>
          <a:lstStyle/>
          <a:p>
            <a:pPr indent="0" marL="0">
              <a:buNone/>
            </a:pPr>
            <a:r>
              <a:rPr lang="en-US" sz="4400" b="1" dirty="0">
                <a:solidFill>
                  <a:srgbClr val="0E7C6B"/>
                </a:solidFill>
                <a:latin typeface="Palatino Linotype" pitchFamily="34" charset="0"/>
                <a:ea typeface="Palatino Linotype" pitchFamily="34" charset="-122"/>
                <a:cs typeface="Palatino Linotype" pitchFamily="34" charset="-120"/>
              </a:rPr>
              <a:t>2</a:t>
            </a:r>
            <a:endParaRPr lang="en-US" sz="4400" dirty="0"/>
          </a:p>
        </p:txBody>
      </p:sp>
      <p:sp>
        <p:nvSpPr>
          <p:cNvPr id="11" name="Text 9"/>
          <p:cNvSpPr/>
          <p:nvPr/>
        </p:nvSpPr>
        <p:spPr>
          <a:xfrm>
            <a:off x="1737360" y="3840480"/>
            <a:ext cx="9601200" cy="146304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Strategia lui Rose se reia la începutul cursului 3, cu un exemplu concret: înainte de dezbatere, cei mai mulți dintre voi ați ales răspunsul corect; după dezbatere, mai puțin de jumătate.</a:t>
            </a:r>
            <a:endParaRPr lang="en-US" sz="1900" dirty="0"/>
          </a:p>
        </p:txBody>
      </p:sp>
      <p:sp>
        <p:nvSpPr>
          <p:cNvPr id="12" name="Text 10"/>
          <p:cNvSpPr/>
          <p:nvPr/>
        </p:nvSpPr>
        <p:spPr>
          <a:xfrm>
            <a:off x="594360" y="5760720"/>
            <a:ext cx="109728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Același text e sus, pe pagina disciplinei.</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AZI</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De câți fizioterapeuți are nevoie un serviciu și cine hotărăște?</a:t>
            </a:r>
            <a:endParaRPr lang="en-US" sz="2900" dirty="0"/>
          </a:p>
        </p:txBody>
      </p:sp>
      <p:sp>
        <p:nvSpPr>
          <p:cNvPr id="4" name="Shape 2"/>
          <p:cNvSpPr/>
          <p:nvPr/>
        </p:nvSpPr>
        <p:spPr>
          <a:xfrm>
            <a:off x="594360" y="1828800"/>
            <a:ext cx="3520440" cy="2743200"/>
          </a:xfrm>
          <a:prstGeom prst="roundRect">
            <a:avLst>
              <a:gd name="adj" fmla="val 3000"/>
            </a:avLst>
          </a:prstGeom>
          <a:solidFill>
            <a:srgbClr val="F4E0E2"/>
          </a:solidFill>
          <a:ln w="12700">
            <a:solidFill>
              <a:srgbClr val="F4E0E2"/>
            </a:solidFill>
            <a:prstDash val="solid"/>
          </a:ln>
        </p:spPr>
        <p:txBody>
          <a:bodyPr/>
          <a:p/>
        </p:txBody>
      </p:sp>
      <p:sp>
        <p:nvSpPr>
          <p:cNvPr id="5" name="Text 3"/>
          <p:cNvSpPr/>
          <p:nvPr/>
        </p:nvSpPr>
        <p:spPr>
          <a:xfrm>
            <a:off x="868680" y="2011680"/>
            <a:ext cx="3017520" cy="365760"/>
          </a:xfrm>
          <a:prstGeom prst="rect">
            <a:avLst/>
          </a:prstGeom>
          <a:noFill/>
          <a:ln/>
        </p:spPr>
        <p:txBody>
          <a:bodyPr wrap="square" lIns="0" tIns="0" rIns="0" bIns="0" rtlCol="0" anchor="t"/>
          <a:lstStyle/>
          <a:p>
            <a:pPr indent="0" marL="0">
              <a:buNone/>
            </a:pPr>
            <a:r>
              <a:rPr lang="en-US" sz="1400" b="1" spc="100" kern="0" dirty="0">
                <a:solidFill>
                  <a:srgbClr val="B02532"/>
                </a:solidFill>
                <a:latin typeface="Palatino Linotype" pitchFamily="34" charset="0"/>
                <a:ea typeface="Palatino Linotype" pitchFamily="34" charset="-122"/>
                <a:cs typeface="Palatino Linotype" pitchFamily="34" charset="-120"/>
              </a:rPr>
              <a:t>1 · UN COLECTIV</a:t>
            </a:r>
            <a:endParaRPr lang="en-US" sz="1400" dirty="0"/>
          </a:p>
        </p:txBody>
      </p:sp>
      <p:sp>
        <p:nvSpPr>
          <p:cNvPr id="6" name="Text 4"/>
          <p:cNvSpPr/>
          <p:nvPr/>
        </p:nvSpPr>
        <p:spPr>
          <a:xfrm>
            <a:off x="868680" y="2514600"/>
            <a:ext cx="3017520" cy="192024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Ce măsuri pot reduce concediile medicale pentru durere de spate într-un colectiv? Rose, reluat pe magazinul pacientei A.</a:t>
            </a:r>
            <a:endParaRPr lang="en-US" sz="1650" dirty="0"/>
          </a:p>
        </p:txBody>
      </p:sp>
      <p:sp>
        <p:nvSpPr>
          <p:cNvPr id="7" name="Shape 5"/>
          <p:cNvSpPr/>
          <p:nvPr/>
        </p:nvSpPr>
        <p:spPr>
          <a:xfrm>
            <a:off x="4343400" y="1828800"/>
            <a:ext cx="3520440" cy="2743200"/>
          </a:xfrm>
          <a:prstGeom prst="roundRect">
            <a:avLst>
              <a:gd name="adj" fmla="val 3000"/>
            </a:avLst>
          </a:prstGeom>
          <a:solidFill>
            <a:srgbClr val="F6EDD5"/>
          </a:solidFill>
          <a:ln w="12700">
            <a:solidFill>
              <a:srgbClr val="F6EDD5"/>
            </a:solidFill>
            <a:prstDash val="solid"/>
          </a:ln>
        </p:spPr>
        <p:txBody>
          <a:bodyPr/>
          <a:p/>
        </p:txBody>
      </p:sp>
      <p:sp>
        <p:nvSpPr>
          <p:cNvPr id="8" name="Text 6"/>
          <p:cNvSpPr/>
          <p:nvPr/>
        </p:nvSpPr>
        <p:spPr>
          <a:xfrm>
            <a:off x="4617720" y="2011680"/>
            <a:ext cx="3017520" cy="365760"/>
          </a:xfrm>
          <a:prstGeom prst="rect">
            <a:avLst/>
          </a:prstGeom>
          <a:noFill/>
          <a:ln/>
        </p:spPr>
        <p:txBody>
          <a:bodyPr wrap="square" lIns="0" tIns="0" rIns="0" bIns="0" rtlCol="0" anchor="t"/>
          <a:lstStyle/>
          <a:p>
            <a:pPr indent="0" marL="0">
              <a:buNone/>
            </a:pPr>
            <a:r>
              <a:rPr lang="en-US" sz="1400" b="1" spc="100" kern="0" dirty="0">
                <a:solidFill>
                  <a:srgbClr val="8A6100"/>
                </a:solidFill>
                <a:latin typeface="Palatino Linotype" pitchFamily="34" charset="0"/>
                <a:ea typeface="Palatino Linotype" pitchFamily="34" charset="-122"/>
                <a:cs typeface="Palatino Linotype" pitchFamily="34" charset="-120"/>
              </a:rPr>
              <a:t>2 · SERVICIUL</a:t>
            </a:r>
            <a:endParaRPr lang="en-US" sz="1400" dirty="0"/>
          </a:p>
        </p:txBody>
      </p:sp>
      <p:sp>
        <p:nvSpPr>
          <p:cNvPr id="9" name="Text 7"/>
          <p:cNvSpPr/>
          <p:nvPr/>
        </p:nvSpPr>
        <p:spPr>
          <a:xfrm>
            <a:off x="4617720" y="2514600"/>
            <a:ext cx="3017520" cy="192024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Ce face un manager și cum se descrie, se planifică și se măsoară un serviciu de recuperare.</a:t>
            </a:r>
            <a:endParaRPr lang="en-US" sz="1650" dirty="0"/>
          </a:p>
        </p:txBody>
      </p:sp>
      <p:sp>
        <p:nvSpPr>
          <p:cNvPr id="10" name="Shape 8"/>
          <p:cNvSpPr/>
          <p:nvPr/>
        </p:nvSpPr>
        <p:spPr>
          <a:xfrm>
            <a:off x="8092440" y="1828800"/>
            <a:ext cx="3520440" cy="2743200"/>
          </a:xfrm>
          <a:prstGeom prst="roundRect">
            <a:avLst>
              <a:gd name="adj" fmla="val 3000"/>
            </a:avLst>
          </a:prstGeom>
          <a:solidFill>
            <a:srgbClr val="E1F0EC"/>
          </a:solidFill>
          <a:ln w="12700">
            <a:solidFill>
              <a:srgbClr val="E1F0EC"/>
            </a:solidFill>
            <a:prstDash val="solid"/>
          </a:ln>
        </p:spPr>
        <p:txBody>
          <a:bodyPr/>
          <a:p/>
        </p:txBody>
      </p:sp>
      <p:sp>
        <p:nvSpPr>
          <p:cNvPr id="11" name="Text 9"/>
          <p:cNvSpPr/>
          <p:nvPr/>
        </p:nvSpPr>
        <p:spPr>
          <a:xfrm>
            <a:off x="8366760" y="2011680"/>
            <a:ext cx="3017520" cy="365760"/>
          </a:xfrm>
          <a:prstGeom prst="rect">
            <a:avLst/>
          </a:prstGeom>
          <a:noFill/>
          <a:ln/>
        </p:spPr>
        <p:txBody>
          <a:bodyPr wrap="square" lIns="0" tIns="0" rIns="0" bIns="0" rtlCol="0" anchor="t"/>
          <a:lstStyle/>
          <a:p>
            <a:pPr indent="0" marL="0">
              <a:buNone/>
            </a:pPr>
            <a:r>
              <a:rPr lang="en-US" sz="1400" b="1" spc="100" kern="0" dirty="0">
                <a:solidFill>
                  <a:srgbClr val="0E7C6B"/>
                </a:solidFill>
                <a:latin typeface="Palatino Linotype" pitchFamily="34" charset="0"/>
                <a:ea typeface="Palatino Linotype" pitchFamily="34" charset="-122"/>
                <a:cs typeface="Palatino Linotype" pitchFamily="34" charset="-120"/>
              </a:rPr>
              <a:t>3 · OAMENII</a:t>
            </a:r>
            <a:endParaRPr lang="en-US" sz="1400" dirty="0"/>
          </a:p>
        </p:txBody>
      </p:sp>
      <p:sp>
        <p:nvSpPr>
          <p:cNvPr id="12" name="Text 10"/>
          <p:cNvSpPr/>
          <p:nvPr/>
        </p:nvSpPr>
        <p:spPr>
          <a:xfrm>
            <a:off x="8366760" y="2514600"/>
            <a:ext cx="3017520" cy="192024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Cine are dreptul să lucreze ca fizioterapeut, cum se împart rolurile și câți fizioterapeuți îi trebuie serviciului.</a:t>
            </a:r>
            <a:endParaRPr lang="en-US" sz="1650" dirty="0"/>
          </a:p>
        </p:txBody>
      </p:sp>
      <p:sp>
        <p:nvSpPr>
          <p:cNvPr id="13" name="Text 11"/>
          <p:cNvSpPr/>
          <p:nvPr/>
        </p:nvSpPr>
        <p:spPr>
          <a:xfrm>
            <a:off x="594360" y="4892040"/>
            <a:ext cx="10972800" cy="82296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Jumătate din timp lucrați voi: voturi pe telefon, discuții cu colegul de bancă, două tabere și un joc de rol. Aveți nevoie de un telefon cu internet.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MAGAZINUL PACIENTEI A</a:t>
            </a:r>
            <a:endParaRPr lang="en-US" sz="1300" dirty="0"/>
          </a:p>
        </p:txBody>
      </p:sp>
      <p:sp>
        <p:nvSpPr>
          <p:cNvPr id="5" name="Text 3"/>
          <p:cNvSpPr/>
          <p:nvPr/>
        </p:nvSpPr>
        <p:spPr>
          <a:xfrm>
            <a:off x="594360" y="777240"/>
            <a:ext cx="10972800" cy="50292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Managerul vrea mai puține concedii medicale pentru durere lombară anul viitor, cu un buget limitat.</a:t>
            </a:r>
            <a:endParaRPr lang="en-US" sz="1700" dirty="0"/>
          </a:p>
        </p:txBody>
      </p:sp>
      <p:sp>
        <p:nvSpPr>
          <p:cNvPr id="6" name="Text 4"/>
          <p:cNvSpPr/>
          <p:nvPr/>
        </p:nvSpPr>
        <p:spPr>
          <a:xfrm>
            <a:off x="594360" y="1325880"/>
            <a:ext cx="10972800" cy="960120"/>
          </a:xfrm>
          <a:prstGeom prst="rect">
            <a:avLst/>
          </a:prstGeom>
          <a:noFill/>
          <a:ln/>
        </p:spPr>
        <p:txBody>
          <a:bodyPr wrap="square" lIns="0" tIns="0" rIns="0" bIns="0" rtlCol="0" anchor="t"/>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Care măsură acționează asupra condițiilor pentru toți angajații, nu numai asupra celor care au deja dureri?</a:t>
            </a:r>
            <a:endParaRPr lang="en-US" sz="2400" dirty="0"/>
          </a:p>
        </p:txBody>
      </p:sp>
      <p:sp>
        <p:nvSpPr>
          <p:cNvPr id="7" name="Shape 5"/>
          <p:cNvSpPr/>
          <p:nvPr/>
        </p:nvSpPr>
        <p:spPr>
          <a:xfrm>
            <a:off x="594360" y="2468880"/>
            <a:ext cx="10972800" cy="704088"/>
          </a:xfrm>
          <a:prstGeom prst="roundRect">
            <a:avLst>
              <a:gd name="adj" fmla="val 11688"/>
            </a:avLst>
          </a:prstGeom>
          <a:solidFill>
            <a:srgbClr val="272A38"/>
          </a:solidFill>
          <a:ln w="12700">
            <a:solidFill>
              <a:srgbClr val="272A38"/>
            </a:solidFill>
            <a:prstDash val="solid"/>
          </a:ln>
        </p:spPr>
        <p:txBody>
          <a:bodyPr/>
          <a:p/>
        </p:txBody>
      </p:sp>
      <p:sp>
        <p:nvSpPr>
          <p:cNvPr id="8" name="Shape 6"/>
          <p:cNvSpPr/>
          <p:nvPr/>
        </p:nvSpPr>
        <p:spPr>
          <a:xfrm>
            <a:off x="868680" y="2610612"/>
            <a:ext cx="420624" cy="420624"/>
          </a:xfrm>
          <a:prstGeom prst="ellipse">
            <a:avLst/>
          </a:prstGeom>
          <a:solidFill>
            <a:srgbClr val="FFC24B"/>
          </a:solidFill>
          <a:ln/>
        </p:spPr>
        <p:txBody>
          <a:bodyPr/>
          <a:p/>
        </p:txBody>
      </p:sp>
      <p:sp>
        <p:nvSpPr>
          <p:cNvPr id="9" name="Text 7"/>
          <p:cNvSpPr/>
          <p:nvPr/>
        </p:nvSpPr>
        <p:spPr>
          <a:xfrm>
            <a:off x="868680" y="26106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554480" y="2468880"/>
            <a:ext cx="9784080" cy="7040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Trimiterea pacientei A la recuperare</a:t>
            </a:r>
            <a:endParaRPr lang="en-US" sz="1800" dirty="0"/>
          </a:p>
        </p:txBody>
      </p:sp>
      <p:sp>
        <p:nvSpPr>
          <p:cNvPr id="11" name="Shape 9"/>
          <p:cNvSpPr/>
          <p:nvPr/>
        </p:nvSpPr>
        <p:spPr>
          <a:xfrm>
            <a:off x="594360" y="3310128"/>
            <a:ext cx="10972800" cy="704088"/>
          </a:xfrm>
          <a:prstGeom prst="roundRect">
            <a:avLst>
              <a:gd name="adj" fmla="val 11688"/>
            </a:avLst>
          </a:prstGeom>
          <a:solidFill>
            <a:srgbClr val="272A38"/>
          </a:solidFill>
          <a:ln w="12700">
            <a:solidFill>
              <a:srgbClr val="272A38"/>
            </a:solidFill>
            <a:prstDash val="solid"/>
          </a:ln>
        </p:spPr>
        <p:txBody>
          <a:bodyPr/>
          <a:p/>
        </p:txBody>
      </p:sp>
      <p:sp>
        <p:nvSpPr>
          <p:cNvPr id="12" name="Shape 10"/>
          <p:cNvSpPr/>
          <p:nvPr/>
        </p:nvSpPr>
        <p:spPr>
          <a:xfrm>
            <a:off x="868680" y="3451860"/>
            <a:ext cx="420624" cy="420624"/>
          </a:xfrm>
          <a:prstGeom prst="ellipse">
            <a:avLst/>
          </a:prstGeom>
          <a:solidFill>
            <a:srgbClr val="FFC24B"/>
          </a:solidFill>
          <a:ln/>
        </p:spPr>
        <p:txBody>
          <a:bodyPr/>
          <a:p/>
        </p:txBody>
      </p:sp>
      <p:sp>
        <p:nvSpPr>
          <p:cNvPr id="13" name="Text 11"/>
          <p:cNvSpPr/>
          <p:nvPr/>
        </p:nvSpPr>
        <p:spPr>
          <a:xfrm>
            <a:off x="868680" y="34518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554480" y="3310128"/>
            <a:ext cx="9784080" cy="7040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Fizioterapie pentru cele trei colege cu dureri</a:t>
            </a:r>
            <a:endParaRPr lang="en-US" sz="1800" dirty="0"/>
          </a:p>
        </p:txBody>
      </p:sp>
      <p:sp>
        <p:nvSpPr>
          <p:cNvPr id="15" name="Shape 13"/>
          <p:cNvSpPr/>
          <p:nvPr/>
        </p:nvSpPr>
        <p:spPr>
          <a:xfrm>
            <a:off x="594360" y="4151376"/>
            <a:ext cx="10972800" cy="704088"/>
          </a:xfrm>
          <a:prstGeom prst="roundRect">
            <a:avLst>
              <a:gd name="adj" fmla="val 11688"/>
            </a:avLst>
          </a:prstGeom>
          <a:solidFill>
            <a:srgbClr val="272A38"/>
          </a:solidFill>
          <a:ln w="12700">
            <a:solidFill>
              <a:srgbClr val="272A38"/>
            </a:solidFill>
            <a:prstDash val="solid"/>
          </a:ln>
        </p:spPr>
        <p:txBody>
          <a:bodyPr/>
          <a:p/>
        </p:txBody>
      </p:sp>
      <p:sp>
        <p:nvSpPr>
          <p:cNvPr id="16" name="Shape 14"/>
          <p:cNvSpPr/>
          <p:nvPr/>
        </p:nvSpPr>
        <p:spPr>
          <a:xfrm>
            <a:off x="868680" y="4293108"/>
            <a:ext cx="420624" cy="420624"/>
          </a:xfrm>
          <a:prstGeom prst="ellipse">
            <a:avLst/>
          </a:prstGeom>
          <a:solidFill>
            <a:srgbClr val="FFC24B"/>
          </a:solidFill>
          <a:ln/>
        </p:spPr>
        <p:txBody>
          <a:bodyPr/>
          <a:p/>
        </p:txBody>
      </p:sp>
      <p:sp>
        <p:nvSpPr>
          <p:cNvPr id="17" name="Text 15"/>
          <p:cNvSpPr/>
          <p:nvPr/>
        </p:nvSpPr>
        <p:spPr>
          <a:xfrm>
            <a:off x="868680" y="42931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554480" y="4151376"/>
            <a:ext cx="9784080" cy="7040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Scaune ajustabile la toate casele de marcat și pauze de mișcare în fiecare tură</a:t>
            </a:r>
            <a:endParaRPr lang="en-US" sz="1800" dirty="0"/>
          </a:p>
        </p:txBody>
      </p:sp>
      <p:sp>
        <p:nvSpPr>
          <p:cNvPr id="19" name="Shape 17"/>
          <p:cNvSpPr/>
          <p:nvPr/>
        </p:nvSpPr>
        <p:spPr>
          <a:xfrm>
            <a:off x="594360" y="4992624"/>
            <a:ext cx="10972800" cy="704088"/>
          </a:xfrm>
          <a:prstGeom prst="roundRect">
            <a:avLst>
              <a:gd name="adj" fmla="val 11688"/>
            </a:avLst>
          </a:prstGeom>
          <a:solidFill>
            <a:srgbClr val="272A38"/>
          </a:solidFill>
          <a:ln w="12700">
            <a:solidFill>
              <a:srgbClr val="272A38"/>
            </a:solidFill>
            <a:prstDash val="solid"/>
          </a:ln>
        </p:spPr>
        <p:txBody>
          <a:bodyPr/>
          <a:p/>
        </p:txBody>
      </p:sp>
      <p:sp>
        <p:nvSpPr>
          <p:cNvPr id="20" name="Shape 18"/>
          <p:cNvSpPr/>
          <p:nvPr/>
        </p:nvSpPr>
        <p:spPr>
          <a:xfrm>
            <a:off x="868680" y="5134356"/>
            <a:ext cx="420624" cy="420624"/>
          </a:xfrm>
          <a:prstGeom prst="ellipse">
            <a:avLst/>
          </a:prstGeom>
          <a:solidFill>
            <a:srgbClr val="FFC24B"/>
          </a:solidFill>
          <a:ln/>
        </p:spPr>
        <p:txBody>
          <a:bodyPr/>
          <a:p/>
        </p:txBody>
      </p:sp>
      <p:sp>
        <p:nvSpPr>
          <p:cNvPr id="21" name="Text 19"/>
          <p:cNvSpPr/>
          <p:nvPr/>
        </p:nvSpPr>
        <p:spPr>
          <a:xfrm>
            <a:off x="868680" y="513435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554480" y="4992624"/>
            <a:ext cx="9784080" cy="7040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 pliant despre durerea de spate, lăsat în vestiar</a:t>
            </a:r>
            <a:endParaRPr lang="en-US" sz="1800" dirty="0"/>
          </a:p>
        </p:txBody>
      </p:sp>
      <p:sp>
        <p:nvSpPr>
          <p:cNvPr id="23" name="Text 21"/>
          <p:cNvSpPr/>
          <p:nvPr/>
        </p:nvSpPr>
        <p:spPr>
          <a:xfrm>
            <a:off x="594360" y="5897880"/>
            <a:ext cx="10972800" cy="36576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Vot anonim. Rezultatul rămâne ascuns până după discuție.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C24B"/>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FFFF"/>
          </a:solidFill>
          <a:ln w="12700">
            <a:solidFill>
              <a:srgbClr val="FFFFFF"/>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3D2A00"/>
                </a:solidFill>
                <a:latin typeface="Palatino Linotype" pitchFamily="34" charset="0"/>
                <a:ea typeface="Palatino Linotype" pitchFamily="34" charset="-122"/>
                <a:cs typeface="Palatino Linotype" pitchFamily="34" charset="-120"/>
              </a:rPr>
              <a:t>DOUĂ MINUTE CU COLEGUL DE BANCĂ</a:t>
            </a:r>
            <a:endParaRPr lang="en-US" sz="1300" dirty="0"/>
          </a:p>
        </p:txBody>
      </p:sp>
      <p:sp>
        <p:nvSpPr>
          <p:cNvPr id="5" name="Text 3"/>
          <p:cNvSpPr/>
          <p:nvPr/>
        </p:nvSpPr>
        <p:spPr>
          <a:xfrm>
            <a:off x="594360" y="1463040"/>
            <a:ext cx="10972800" cy="1645920"/>
          </a:xfrm>
          <a:prstGeom prst="rect">
            <a:avLst/>
          </a:prstGeom>
          <a:noFill/>
          <a:ln/>
        </p:spPr>
        <p:txBody>
          <a:bodyPr wrap="square" lIns="0" tIns="0" rIns="0" bIns="0" rtlCol="0" anchor="t"/>
          <a:lstStyle/>
          <a:p>
            <a:pPr indent="0" marL="0">
              <a:buNone/>
            </a:pPr>
            <a:r>
              <a:rPr lang="en-US" sz="3800" b="1" dirty="0">
                <a:solidFill>
                  <a:srgbClr val="3D2A00"/>
                </a:solidFill>
                <a:latin typeface="Palatino Linotype" pitchFamily="34" charset="0"/>
                <a:ea typeface="Palatino Linotype" pitchFamily="34" charset="-122"/>
                <a:cs typeface="Palatino Linotype" pitchFamily="34" charset="-120"/>
              </a:rPr>
              <a:t>Găsiți un argument pentru varianta voastră sau unul împotriva ei.</a:t>
            </a:r>
            <a:endParaRPr lang="en-US" sz="3800" dirty="0"/>
          </a:p>
        </p:txBody>
      </p:sp>
      <p:sp>
        <p:nvSpPr>
          <p:cNvPr id="6" name="Text 4"/>
          <p:cNvSpPr/>
          <p:nvPr/>
        </p:nvSpPr>
        <p:spPr>
          <a:xfrm>
            <a:off x="594360" y="3429000"/>
            <a:ext cx="10972800" cy="914400"/>
          </a:xfrm>
          <a:prstGeom prst="rect">
            <a:avLst/>
          </a:prstGeom>
          <a:noFill/>
          <a:ln/>
        </p:spPr>
        <p:txBody>
          <a:bodyPr wrap="square" lIns="0" tIns="0" rIns="0" bIns="0" rtlCol="0" anchor="t"/>
          <a:lstStyle/>
          <a:p>
            <a:pPr indent="0" marL="0">
              <a:buNone/>
            </a:pPr>
            <a:r>
              <a:rPr lang="en-US" sz="2200" dirty="0">
                <a:solidFill>
                  <a:srgbClr val="3D2A00"/>
                </a:solidFill>
                <a:latin typeface="Palatino Linotype" pitchFamily="34" charset="0"/>
                <a:ea typeface="Palatino Linotype" pitchFamily="34" charset="-122"/>
                <a:cs typeface="Palatino Linotype" pitchFamily="34" charset="-120"/>
              </a:rPr>
              <a:t>La cine ajunge măsura? Ce schimbă, concret, în ziua de lucru a casierelor?</a:t>
            </a:r>
            <a:endParaRPr lang="en-US" sz="2200" dirty="0"/>
          </a:p>
        </p:txBody>
      </p:sp>
      <p:sp>
        <p:nvSpPr>
          <p:cNvPr id="7" name="Text 5"/>
          <p:cNvSpPr/>
          <p:nvPr/>
        </p:nvSpPr>
        <p:spPr>
          <a:xfrm>
            <a:off x="594360" y="4846320"/>
            <a:ext cx="10972800" cy="548640"/>
          </a:xfrm>
          <a:prstGeom prst="rect">
            <a:avLst/>
          </a:prstGeom>
          <a:noFill/>
          <a:ln/>
        </p:spPr>
        <p:txBody>
          <a:bodyPr wrap="square" lIns="0" tIns="0" rIns="0" bIns="0" rtlCol="0" anchor="t"/>
          <a:lstStyle/>
          <a:p>
            <a:pPr indent="0" marL="0">
              <a:buNone/>
            </a:pPr>
            <a:r>
              <a:rPr lang="en-US" sz="2200" b="1" dirty="0">
                <a:solidFill>
                  <a:srgbClr val="3D2A00"/>
                </a:solidFill>
                <a:latin typeface="Palatino Linotype" pitchFamily="34" charset="0"/>
                <a:ea typeface="Palatino Linotype" pitchFamily="34" charset="-122"/>
                <a:cs typeface="Palatino Linotype" pitchFamily="34" charset="-120"/>
              </a:rPr>
              <a:t>Apoi votați din nou.</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REVOT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ROSE, A DOUA OARĂ</a:t>
            </a:r>
            <a:endParaRPr lang="en-US" sz="1300" dirty="0"/>
          </a:p>
        </p:txBody>
      </p:sp>
      <p:sp>
        <p:nvSpPr>
          <p:cNvPr id="5" name="Text 3"/>
          <p:cNvSpPr/>
          <p:nvPr/>
        </p:nvSpPr>
        <p:spPr>
          <a:xfrm>
            <a:off x="594360" y="713232"/>
            <a:ext cx="10972800" cy="91440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Votați din nou. Apoi comparăm cu cursul al doilea.</a:t>
            </a:r>
            <a:endParaRPr lang="en-US" sz="2800" dirty="0"/>
          </a:p>
        </p:txBody>
      </p:sp>
      <p:sp>
        <p:nvSpPr>
          <p:cNvPr id="6" name="Shape 4"/>
          <p:cNvSpPr/>
          <p:nvPr/>
        </p:nvSpPr>
        <p:spPr>
          <a:xfrm>
            <a:off x="594360" y="1828800"/>
            <a:ext cx="5486400" cy="3566160"/>
          </a:xfrm>
          <a:prstGeom prst="roundRect">
            <a:avLst>
              <a:gd name="adj" fmla="val 2308"/>
            </a:avLst>
          </a:prstGeom>
          <a:solidFill>
            <a:srgbClr val="1D1F2B"/>
          </a:solidFill>
          <a:ln w="12700">
            <a:solidFill>
              <a:srgbClr val="1D1F2B"/>
            </a:solidFill>
            <a:prstDash val="solid"/>
          </a:ln>
        </p:spPr>
        <p:txBody>
          <a:bodyPr/>
          <a:p/>
        </p:txBody>
      </p:sp>
      <p:sp>
        <p:nvSpPr>
          <p:cNvPr id="7" name="Text 5"/>
          <p:cNvSpPr/>
          <p:nvPr/>
        </p:nvSpPr>
        <p:spPr>
          <a:xfrm>
            <a:off x="868680" y="2011680"/>
            <a:ext cx="4937760" cy="365760"/>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CURSUL AL DOILEA, VOTUL DESPRE ROSE</a:t>
            </a:r>
            <a:endParaRPr lang="en-US" sz="1300" dirty="0"/>
          </a:p>
        </p:txBody>
      </p:sp>
      <p:sp>
        <p:nvSpPr>
          <p:cNvPr id="8" name="Text 6"/>
          <p:cNvSpPr/>
          <p:nvPr/>
        </p:nvSpPr>
        <p:spPr>
          <a:xfrm>
            <a:off x="868680" y="2606040"/>
            <a:ext cx="4937760" cy="36576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Înainte de dezbatere</a:t>
            </a:r>
            <a:endParaRPr lang="en-US" sz="1600" dirty="0"/>
          </a:p>
        </p:txBody>
      </p:sp>
      <p:sp>
        <p:nvSpPr>
          <p:cNvPr id="9" name="Shape 7"/>
          <p:cNvSpPr/>
          <p:nvPr/>
        </p:nvSpPr>
        <p:spPr>
          <a:xfrm>
            <a:off x="868680" y="3063240"/>
            <a:ext cx="4846320" cy="384048"/>
          </a:xfrm>
          <a:prstGeom prst="rect">
            <a:avLst/>
          </a:prstGeom>
          <a:solidFill>
            <a:srgbClr val="30344A"/>
          </a:solidFill>
          <a:ln w="12700">
            <a:solidFill>
              <a:srgbClr val="30344A"/>
            </a:solidFill>
            <a:prstDash val="solid"/>
          </a:ln>
        </p:spPr>
        <p:txBody>
          <a:bodyPr/>
          <a:p/>
        </p:txBody>
      </p:sp>
      <p:sp>
        <p:nvSpPr>
          <p:cNvPr id="10" name="Shape 8"/>
          <p:cNvSpPr/>
          <p:nvPr/>
        </p:nvSpPr>
        <p:spPr>
          <a:xfrm>
            <a:off x="868680" y="3063240"/>
            <a:ext cx="4038600" cy="384048"/>
          </a:xfrm>
          <a:prstGeom prst="rect">
            <a:avLst/>
          </a:prstGeom>
          <a:solidFill>
            <a:srgbClr val="27D3BE"/>
          </a:solidFill>
          <a:ln w="12700">
            <a:solidFill>
              <a:srgbClr val="27D3BE"/>
            </a:solidFill>
            <a:prstDash val="solid"/>
          </a:ln>
        </p:spPr>
        <p:txBody>
          <a:bodyPr/>
          <a:p/>
        </p:txBody>
      </p:sp>
      <p:sp>
        <p:nvSpPr>
          <p:cNvPr id="11" name="Text 9"/>
          <p:cNvSpPr/>
          <p:nvPr/>
        </p:nvSpPr>
        <p:spPr>
          <a:xfrm>
            <a:off x="868680" y="3474720"/>
            <a:ext cx="4937760" cy="320040"/>
          </a:xfrm>
          <a:prstGeom prst="rect">
            <a:avLst/>
          </a:prstGeom>
          <a:noFill/>
          <a:ln/>
        </p:spPr>
        <p:txBody>
          <a:bodyPr wrap="square" lIns="0" tIns="0" rIns="0" bIns="0" rtlCol="0" anchor="t"/>
          <a:lstStyle/>
          <a:p>
            <a:pPr indent="0" marL="0">
              <a:buNone/>
            </a:pPr>
            <a:r>
              <a:rPr lang="en-US" sz="1350" dirty="0">
                <a:solidFill>
                  <a:srgbClr val="959BB0"/>
                </a:solidFill>
                <a:latin typeface="Palatino Linotype" pitchFamily="34" charset="0"/>
                <a:ea typeface="Palatino Linotype" pitchFamily="34" charset="-122"/>
                <a:cs typeface="Palatino Linotype" pitchFamily="34" charset="-120"/>
              </a:rPr>
              <a:t>răspunsul corect: cei mai mulți</a:t>
            </a:r>
            <a:endParaRPr lang="en-US" sz="1350" dirty="0"/>
          </a:p>
        </p:txBody>
      </p:sp>
      <p:sp>
        <p:nvSpPr>
          <p:cNvPr id="12" name="Text 10"/>
          <p:cNvSpPr/>
          <p:nvPr/>
        </p:nvSpPr>
        <p:spPr>
          <a:xfrm>
            <a:off x="868680" y="3886200"/>
            <a:ext cx="4937760" cy="36576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După dezbatere</a:t>
            </a:r>
            <a:endParaRPr lang="en-US" sz="1600" dirty="0"/>
          </a:p>
        </p:txBody>
      </p:sp>
      <p:sp>
        <p:nvSpPr>
          <p:cNvPr id="13" name="Shape 11"/>
          <p:cNvSpPr/>
          <p:nvPr/>
        </p:nvSpPr>
        <p:spPr>
          <a:xfrm>
            <a:off x="868680" y="4343400"/>
            <a:ext cx="4846320" cy="384048"/>
          </a:xfrm>
          <a:prstGeom prst="rect">
            <a:avLst/>
          </a:prstGeom>
          <a:solidFill>
            <a:srgbClr val="30344A"/>
          </a:solidFill>
          <a:ln w="12700">
            <a:solidFill>
              <a:srgbClr val="30344A"/>
            </a:solidFill>
            <a:prstDash val="solid"/>
          </a:ln>
        </p:spPr>
        <p:txBody>
          <a:bodyPr/>
          <a:p/>
        </p:txBody>
      </p:sp>
      <p:sp>
        <p:nvSpPr>
          <p:cNvPr id="14" name="Shape 12"/>
          <p:cNvSpPr/>
          <p:nvPr/>
        </p:nvSpPr>
        <p:spPr>
          <a:xfrm>
            <a:off x="868680" y="4343400"/>
            <a:ext cx="2307771" cy="384048"/>
          </a:xfrm>
          <a:prstGeom prst="rect">
            <a:avLst/>
          </a:prstGeom>
          <a:solidFill>
            <a:srgbClr val="FF4757"/>
          </a:solidFill>
          <a:ln w="12700">
            <a:solidFill>
              <a:srgbClr val="FF4757"/>
            </a:solidFill>
            <a:prstDash val="solid"/>
          </a:ln>
        </p:spPr>
        <p:txBody>
          <a:bodyPr/>
          <a:p/>
        </p:txBody>
      </p:sp>
      <p:sp>
        <p:nvSpPr>
          <p:cNvPr id="15" name="Text 13"/>
          <p:cNvSpPr/>
          <p:nvPr/>
        </p:nvSpPr>
        <p:spPr>
          <a:xfrm>
            <a:off x="868680" y="4754880"/>
            <a:ext cx="4937760" cy="320040"/>
          </a:xfrm>
          <a:prstGeom prst="rect">
            <a:avLst/>
          </a:prstGeom>
          <a:noFill/>
          <a:ln/>
        </p:spPr>
        <p:txBody>
          <a:bodyPr wrap="square" lIns="0" tIns="0" rIns="0" bIns="0" rtlCol="0" anchor="t"/>
          <a:lstStyle/>
          <a:p>
            <a:pPr indent="0" marL="0">
              <a:buNone/>
            </a:pPr>
            <a:r>
              <a:rPr lang="en-US" sz="1350" dirty="0">
                <a:solidFill>
                  <a:srgbClr val="959BB0"/>
                </a:solidFill>
                <a:latin typeface="Palatino Linotype" pitchFamily="34" charset="0"/>
                <a:ea typeface="Palatino Linotype" pitchFamily="34" charset="-122"/>
                <a:cs typeface="Palatino Linotype" pitchFamily="34" charset="-120"/>
              </a:rPr>
              <a:t>răspunsul corect: mai puțin de jumătate</a:t>
            </a:r>
            <a:endParaRPr lang="en-US" sz="1350" dirty="0"/>
          </a:p>
        </p:txBody>
      </p:sp>
      <p:sp>
        <p:nvSpPr>
          <p:cNvPr id="16" name="Shape 14"/>
          <p:cNvSpPr/>
          <p:nvPr/>
        </p:nvSpPr>
        <p:spPr>
          <a:xfrm>
            <a:off x="6309360" y="1828800"/>
            <a:ext cx="5257800" cy="3566160"/>
          </a:xfrm>
          <a:prstGeom prst="roundRect">
            <a:avLst>
              <a:gd name="adj" fmla="val 2308"/>
            </a:avLst>
          </a:prstGeom>
          <a:solidFill>
            <a:srgbClr val="272A38"/>
          </a:solidFill>
          <a:ln w="12700">
            <a:solidFill>
              <a:srgbClr val="272A38"/>
            </a:solidFill>
            <a:prstDash val="solid"/>
          </a:ln>
        </p:spPr>
        <p:txBody>
          <a:bodyPr/>
          <a:p/>
        </p:txBody>
      </p:sp>
      <p:sp>
        <p:nvSpPr>
          <p:cNvPr id="17" name="Text 15"/>
          <p:cNvSpPr/>
          <p:nvPr/>
        </p:nvSpPr>
        <p:spPr>
          <a:xfrm>
            <a:off x="6583680" y="2011680"/>
            <a:ext cx="4754880" cy="365760"/>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AZI</a:t>
            </a:r>
            <a:endParaRPr lang="en-US" sz="1300" dirty="0"/>
          </a:p>
        </p:txBody>
      </p:sp>
      <p:sp>
        <p:nvSpPr>
          <p:cNvPr id="18" name="Text 16"/>
          <p:cNvSpPr/>
          <p:nvPr/>
        </p:nvSpPr>
        <p:spPr>
          <a:xfrm>
            <a:off x="6583680" y="2468880"/>
            <a:ext cx="4754880" cy="2743200"/>
          </a:xfrm>
          <a:prstGeom prst="rect">
            <a:avLst/>
          </a:prstGeom>
          <a:noFill/>
          <a:ln/>
        </p:spPr>
        <p:txBody>
          <a:bodyPr wrap="square" lIns="0" tIns="0" rIns="0" bIns="0" rtlCol="0" anchor="ctr"/>
          <a:lstStyle/>
          <a:p>
            <a:pPr algn="ctr" indent="0" marL="0">
              <a:buNone/>
            </a:pPr>
            <a:r>
              <a:rPr lang="en-US" sz="1600" dirty="0">
                <a:solidFill>
                  <a:srgbClr val="959BB0"/>
                </a:solidFill>
                <a:latin typeface="Palatino Linotype" pitchFamily="34" charset="0"/>
                <a:ea typeface="Palatino Linotype" pitchFamily="34" charset="-122"/>
                <a:cs typeface="Palatino Linotype" pitchFamily="34" charset="-120"/>
              </a:rPr>
              <a:t>[rezultatele votului și ale revotului, din Mentimeter]</a:t>
            </a:r>
            <a:endParaRPr lang="en-US" sz="1600" dirty="0"/>
          </a:p>
        </p:txBody>
      </p:sp>
      <p:sp>
        <p:nvSpPr>
          <p:cNvPr id="19" name="Text 17"/>
          <p:cNvSpPr/>
          <p:nvPr/>
        </p:nvSpPr>
        <p:spPr>
          <a:xfrm>
            <a:off x="594360" y="5623560"/>
            <a:ext cx="10972800" cy="45720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De ce s-a mutat votul atunci? Ce v-a convins azi?</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Două strategii, două întrebări diferite</a:t>
            </a:r>
            <a:endParaRPr lang="en-US" sz="3000" dirty="0"/>
          </a:p>
        </p:txBody>
      </p:sp>
      <p:sp>
        <p:nvSpPr>
          <p:cNvPr id="4" name="Shape 2"/>
          <p:cNvSpPr/>
          <p:nvPr/>
        </p:nvSpPr>
        <p:spPr>
          <a:xfrm>
            <a:off x="594360" y="1645920"/>
            <a:ext cx="5349240" cy="2240280"/>
          </a:xfrm>
          <a:prstGeom prst="roundRect">
            <a:avLst>
              <a:gd name="adj" fmla="val 3673"/>
            </a:avLst>
          </a:prstGeom>
          <a:solidFill>
            <a:srgbClr val="F4E0E2"/>
          </a:solidFill>
          <a:ln w="12700">
            <a:solidFill>
              <a:srgbClr val="F4E0E2"/>
            </a:solidFill>
            <a:prstDash val="solid"/>
          </a:ln>
        </p:spPr>
        <p:txBody>
          <a:bodyPr/>
          <a:p/>
        </p:txBody>
      </p:sp>
      <p:sp>
        <p:nvSpPr>
          <p:cNvPr id="5" name="Shape 3"/>
          <p:cNvSpPr/>
          <p:nvPr/>
        </p:nvSpPr>
        <p:spPr>
          <a:xfrm>
            <a:off x="6217920" y="1645920"/>
            <a:ext cx="5349240" cy="2240280"/>
          </a:xfrm>
          <a:prstGeom prst="roundRect">
            <a:avLst>
              <a:gd name="adj" fmla="val 3673"/>
            </a:avLst>
          </a:prstGeom>
          <a:solidFill>
            <a:srgbClr val="E1F0EC"/>
          </a:solidFill>
          <a:ln w="12700">
            <a:solidFill>
              <a:srgbClr val="E1F0EC"/>
            </a:solidFill>
            <a:prstDash val="solid"/>
          </a:ln>
        </p:spPr>
        <p:txBody>
          <a:bodyPr/>
          <a:p/>
        </p:txBody>
      </p:sp>
      <p:sp>
        <p:nvSpPr>
          <p:cNvPr id="6" name="Text 4"/>
          <p:cNvSpPr/>
          <p:nvPr/>
        </p:nvSpPr>
        <p:spPr>
          <a:xfrm>
            <a:off x="868680" y="1783080"/>
            <a:ext cx="4846320" cy="36576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Strategia riscului înalt</a:t>
            </a:r>
            <a:endParaRPr lang="en-US" sz="1800" dirty="0"/>
          </a:p>
        </p:txBody>
      </p:sp>
      <p:sp>
        <p:nvSpPr>
          <p:cNvPr id="7" name="Text 5"/>
          <p:cNvSpPr/>
          <p:nvPr/>
        </p:nvSpPr>
        <p:spPr>
          <a:xfrm>
            <a:off x="868680" y="2240280"/>
            <a:ext cx="4846320" cy="15544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caută persoanele cu risc mare și intervine la ele: pacienta A și colegele cu dureri, la evaluare și la exerciții. Ajută pe cine suferă deja.</a:t>
            </a:r>
            <a:endParaRPr lang="en-US" sz="1600" dirty="0"/>
          </a:p>
        </p:txBody>
      </p:sp>
      <p:sp>
        <p:nvSpPr>
          <p:cNvPr id="8" name="Text 6"/>
          <p:cNvSpPr/>
          <p:nvPr/>
        </p:nvSpPr>
        <p:spPr>
          <a:xfrm>
            <a:off x="6492240" y="1783080"/>
            <a:ext cx="4846320" cy="36576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Strategia populațională</a:t>
            </a:r>
            <a:endParaRPr lang="en-US" sz="1800" dirty="0"/>
          </a:p>
        </p:txBody>
      </p:sp>
      <p:sp>
        <p:nvSpPr>
          <p:cNvPr id="9" name="Text 7"/>
          <p:cNvSpPr/>
          <p:nvPr/>
        </p:nvSpPr>
        <p:spPr>
          <a:xfrm>
            <a:off x="6492240" y="2240280"/>
            <a:ext cx="4846320" cy="15544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schimbă condițiile pentru toți: scaune la fiecare casă de marcat, pauze de mișcare în fiecare tură, un program de mișcare deschis tuturor. Reduce numărul celor care vor suferi.</a:t>
            </a:r>
            <a:endParaRPr lang="en-US" sz="1600" dirty="0"/>
          </a:p>
        </p:txBody>
      </p:sp>
      <p:sp>
        <p:nvSpPr>
          <p:cNvPr id="10" name="Shape 8"/>
          <p:cNvSpPr/>
          <p:nvPr/>
        </p:nvSpPr>
        <p:spPr>
          <a:xfrm>
            <a:off x="594360" y="4160520"/>
            <a:ext cx="73152" cy="1600200"/>
          </a:xfrm>
          <a:prstGeom prst="rect">
            <a:avLst/>
          </a:prstGeom>
          <a:solidFill>
            <a:srgbClr val="8A6100"/>
          </a:solidFill>
          <a:ln w="12700">
            <a:solidFill>
              <a:srgbClr val="8A6100"/>
            </a:solidFill>
            <a:prstDash val="solid"/>
          </a:ln>
        </p:spPr>
        <p:txBody>
          <a:bodyPr/>
          <a:p/>
        </p:txBody>
      </p:sp>
      <p:sp>
        <p:nvSpPr>
          <p:cNvPr id="11" name="Text 9"/>
          <p:cNvSpPr/>
          <p:nvPr/>
        </p:nvSpPr>
        <p:spPr>
          <a:xfrm>
            <a:off x="868680" y="4114800"/>
            <a:ext cx="10698480" cy="1691640"/>
          </a:xfrm>
          <a:prstGeom prst="rect">
            <a:avLst/>
          </a:prstGeom>
          <a:noFill/>
          <a:ln/>
        </p:spPr>
        <p:txBody>
          <a:bodyPr wrap="square" lIns="0" tIns="0" rIns="0" bIns="0" rtlCol="0" anchor="ctr"/>
          <a:lstStyle/>
          <a:p>
            <a:pPr indent="0" marL="0">
              <a:buNone/>
            </a:pPr>
            <a:r>
              <a:rPr lang="en-US" sz="1700" b="1" dirty="0">
                <a:solidFill>
                  <a:srgbClr val="8A6100"/>
                </a:solidFill>
                <a:latin typeface="Palatino Linotype" pitchFamily="34" charset="0"/>
                <a:ea typeface="Palatino Linotype" pitchFamily="34" charset="-122"/>
                <a:cs typeface="Palatino Linotype" pitchFamily="34" charset="-120"/>
              </a:rPr>
              <a:t>Paradoxul prevenției.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O măsură cu beneficiu mare pentru comunitate aduce puțin fiecărui participant, de aceea motivația persoanei și a medicului e slabă. În exemplul cu 1 000 de angajați din cursul al doilea, peste două treimi dintre cazuri apăreau la riscul moderat.</a:t>
            </a:r>
            <a:endParaRPr lang="en-US" sz="17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Rose, „paradoxul prevenției”; notele cursului, secțiunea despre strategia lui Rose.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BFKIII/active/img/casa_marcat_commons.jpg">    </p:cNvPr>
          <p:cNvPicPr>
            <a:picLocks noChangeAspect="1"/>
          </p:cNvPicPr>
          <p:nvPr/>
        </p:nvPicPr>
        <p:blipFill>
          <a:blip r:embed="rId1"/>
          <a:stretch>
            <a:fillRect/>
          </a:stretch>
        </p:blipFill>
        <p:spPr>
          <a:xfrm>
            <a:off x="0" y="0"/>
            <a:ext cx="5486400" cy="6858000"/>
          </a:xfrm>
          <a:prstGeom prst="rect">
            <a:avLst/>
          </a:prstGeom>
        </p:spPr>
      </p:pic>
      <p:sp>
        <p:nvSpPr>
          <p:cNvPr id="3" name="Shape 0"/>
          <p:cNvSpPr/>
          <p:nvPr/>
        </p:nvSpPr>
        <p:spPr>
          <a:xfrm>
            <a:off x="0" y="6144768"/>
            <a:ext cx="5486400" cy="71323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228600" y="6181344"/>
            <a:ext cx="5029200" cy="384048"/>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O casă de marcat. Fără scaun.</a:t>
            </a:r>
            <a:endParaRPr lang="en-US" sz="1100" dirty="0"/>
          </a:p>
        </p:txBody>
      </p:sp>
      <p:sp>
        <p:nvSpPr>
          <p:cNvPr id="5" name="Text 2"/>
          <p:cNvSpPr/>
          <p:nvPr/>
        </p:nvSpPr>
        <p:spPr>
          <a:xfrm>
            <a:off x="228600" y="6565392"/>
            <a:ext cx="502920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Triplec85 · CC BY-SA 4.0 · Wikimedia Commons</a:t>
            </a:r>
            <a:endParaRPr lang="en-US" sz="850" dirty="0"/>
          </a:p>
        </p:txBody>
      </p:sp>
      <p:sp>
        <p:nvSpPr>
          <p:cNvPr id="6" name="Text 3"/>
          <p:cNvSpPr/>
          <p:nvPr/>
        </p:nvSpPr>
        <p:spPr>
          <a:xfrm>
            <a:off x="5943600" y="411480"/>
            <a:ext cx="58521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FACE O MĂSURĂ POPULAȚIONALĂ</a:t>
            </a:r>
            <a:endParaRPr lang="en-US" sz="1300" dirty="0"/>
          </a:p>
        </p:txBody>
      </p:sp>
      <p:sp>
        <p:nvSpPr>
          <p:cNvPr id="7" name="Text 4"/>
          <p:cNvSpPr/>
          <p:nvPr/>
        </p:nvSpPr>
        <p:spPr>
          <a:xfrm>
            <a:off x="5943600" y="777240"/>
            <a:ext cx="5852160" cy="822960"/>
          </a:xfrm>
          <a:prstGeom prst="rect">
            <a:avLst/>
          </a:prstGeom>
          <a:noFill/>
          <a:ln/>
        </p:spPr>
        <p:txBody>
          <a:bodyPr wrap="square" lIns="0" tIns="0" rIns="0" bIns="0" rtlCol="0" anchor="t"/>
          <a:lstStyle/>
          <a:p>
            <a:pPr indent="0" marL="0">
              <a:buNone/>
            </a:pPr>
            <a:r>
              <a:rPr lang="en-US" sz="2600" b="1" dirty="0">
                <a:solidFill>
                  <a:srgbClr val="11121A"/>
                </a:solidFill>
                <a:latin typeface="Palatino Linotype" pitchFamily="34" charset="0"/>
                <a:ea typeface="Palatino Linotype" pitchFamily="34" charset="-122"/>
                <a:cs typeface="Palatino Linotype" pitchFamily="34" charset="-120"/>
              </a:rPr>
              <a:t>Trei criterii, în sensul acestui curs</a:t>
            </a:r>
            <a:endParaRPr lang="en-US" sz="2600" dirty="0"/>
          </a:p>
        </p:txBody>
      </p:sp>
      <p:sp>
        <p:nvSpPr>
          <p:cNvPr id="8" name="Shape 5"/>
          <p:cNvSpPr/>
          <p:nvPr/>
        </p:nvSpPr>
        <p:spPr>
          <a:xfrm>
            <a:off x="5943600" y="1828800"/>
            <a:ext cx="420624" cy="420624"/>
          </a:xfrm>
          <a:prstGeom prst="ellipse">
            <a:avLst/>
          </a:prstGeom>
          <a:solidFill>
            <a:srgbClr val="FF4757"/>
          </a:solidFill>
          <a:ln/>
        </p:spPr>
        <p:txBody>
          <a:bodyPr/>
          <a:p/>
        </p:txBody>
      </p:sp>
      <p:sp>
        <p:nvSpPr>
          <p:cNvPr id="9" name="Text 6"/>
          <p:cNvSpPr/>
          <p:nvPr/>
        </p:nvSpPr>
        <p:spPr>
          <a:xfrm>
            <a:off x="5943600" y="18288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10" name="Text 7"/>
          <p:cNvSpPr/>
          <p:nvPr/>
        </p:nvSpPr>
        <p:spPr>
          <a:xfrm>
            <a:off x="6537960" y="1737360"/>
            <a:ext cx="5257800" cy="65836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Ajunge la toți angajații, nu numai la cei care cer ajutor.</a:t>
            </a:r>
            <a:endParaRPr lang="en-US" sz="1600" dirty="0"/>
          </a:p>
        </p:txBody>
      </p:sp>
      <p:sp>
        <p:nvSpPr>
          <p:cNvPr id="11" name="Shape 8"/>
          <p:cNvSpPr/>
          <p:nvPr/>
        </p:nvSpPr>
        <p:spPr>
          <a:xfrm>
            <a:off x="5943600" y="2606040"/>
            <a:ext cx="420624" cy="420624"/>
          </a:xfrm>
          <a:prstGeom prst="ellipse">
            <a:avLst/>
          </a:prstGeom>
          <a:solidFill>
            <a:srgbClr val="FF4757"/>
          </a:solidFill>
          <a:ln/>
        </p:spPr>
        <p:txBody>
          <a:bodyPr/>
          <a:p/>
        </p:txBody>
      </p:sp>
      <p:sp>
        <p:nvSpPr>
          <p:cNvPr id="12" name="Text 9"/>
          <p:cNvSpPr/>
          <p:nvPr/>
        </p:nvSpPr>
        <p:spPr>
          <a:xfrm>
            <a:off x="5943600" y="260604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3" name="Text 10"/>
          <p:cNvSpPr/>
          <p:nvPr/>
        </p:nvSpPr>
        <p:spPr>
          <a:xfrm>
            <a:off x="6537960" y="2514600"/>
            <a:ext cx="5257800" cy="65836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Schimbă o condiție a muncii, nu numai informația despre ea.</a:t>
            </a:r>
            <a:endParaRPr lang="en-US" sz="1600" dirty="0"/>
          </a:p>
        </p:txBody>
      </p:sp>
      <p:sp>
        <p:nvSpPr>
          <p:cNvPr id="14" name="Shape 11"/>
          <p:cNvSpPr/>
          <p:nvPr/>
        </p:nvSpPr>
        <p:spPr>
          <a:xfrm>
            <a:off x="5943600" y="3383280"/>
            <a:ext cx="420624" cy="420624"/>
          </a:xfrm>
          <a:prstGeom prst="ellipse">
            <a:avLst/>
          </a:prstGeom>
          <a:solidFill>
            <a:srgbClr val="FF4757"/>
          </a:solidFill>
          <a:ln/>
        </p:spPr>
        <p:txBody>
          <a:bodyPr/>
          <a:p/>
        </p:txBody>
      </p:sp>
      <p:sp>
        <p:nvSpPr>
          <p:cNvPr id="15" name="Text 12"/>
          <p:cNvSpPr/>
          <p:nvPr/>
        </p:nvSpPr>
        <p:spPr>
          <a:xfrm>
            <a:off x="5943600" y="338328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6" name="Text 13"/>
          <p:cNvSpPr/>
          <p:nvPr/>
        </p:nvSpPr>
        <p:spPr>
          <a:xfrm>
            <a:off x="6537960" y="3291840"/>
            <a:ext cx="5257800" cy="65836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Se menține în timp, nu se aplică o singură dată.</a:t>
            </a:r>
            <a:endParaRPr lang="en-US" sz="1600" dirty="0"/>
          </a:p>
        </p:txBody>
      </p:sp>
      <p:sp>
        <p:nvSpPr>
          <p:cNvPr id="17" name="Shape 14"/>
          <p:cNvSpPr/>
          <p:nvPr/>
        </p:nvSpPr>
        <p:spPr>
          <a:xfrm>
            <a:off x="5943600" y="4160520"/>
            <a:ext cx="5852160" cy="1874520"/>
          </a:xfrm>
          <a:prstGeom prst="roundRect">
            <a:avLst>
              <a:gd name="adj" fmla="val 4390"/>
            </a:avLst>
          </a:prstGeom>
          <a:solidFill>
            <a:srgbClr val="F6EDD5"/>
          </a:solidFill>
          <a:ln w="12700">
            <a:solidFill>
              <a:srgbClr val="F6EDD5"/>
            </a:solidFill>
            <a:prstDash val="solid"/>
          </a:ln>
        </p:spPr>
        <p:txBody>
          <a:bodyPr/>
          <a:p/>
        </p:txBody>
      </p:sp>
      <p:sp>
        <p:nvSpPr>
          <p:cNvPr id="18" name="Text 15"/>
          <p:cNvSpPr/>
          <p:nvPr/>
        </p:nvSpPr>
        <p:spPr>
          <a:xfrm>
            <a:off x="6172200" y="4251960"/>
            <a:ext cx="5440680" cy="1691640"/>
          </a:xfrm>
          <a:prstGeom prst="rect">
            <a:avLst/>
          </a:prstGeom>
          <a:noFill/>
          <a:ln/>
        </p:spPr>
        <p:txBody>
          <a:bodyPr wrap="square" lIns="0" tIns="0" rIns="0" bIns="0" rtlCol="0" anchor="ctr"/>
          <a:lstStyle/>
          <a:p>
            <a:pPr indent="0" marL="0">
              <a:buNone/>
            </a:pPr>
            <a:r>
              <a:rPr lang="en-US" sz="1500" b="1" dirty="0">
                <a:solidFill>
                  <a:srgbClr val="8A6100"/>
                </a:solidFill>
                <a:latin typeface="Palatino Linotype" pitchFamily="34" charset="0"/>
                <a:ea typeface="Palatino Linotype" pitchFamily="34" charset="-122"/>
                <a:cs typeface="Palatino Linotype" pitchFamily="34" charset="-120"/>
              </a:rPr>
              <a:t>Populațional nu înseamnă eficient. </a:t>
            </a:r>
            <a:pPr indent="0" marL="0">
              <a:buNone/>
            </a:pPr>
            <a:r>
              <a:rPr lang="en-US" sz="1500" dirty="0">
                <a:solidFill>
                  <a:srgbClr val="11121A"/>
                </a:solidFill>
                <a:latin typeface="Palatino Linotype" pitchFamily="34" charset="0"/>
                <a:ea typeface="Palatino Linotype" pitchFamily="34" charset="-122"/>
                <a:cs typeface="Palatino Linotype" pitchFamily="34" charset="-120"/>
              </a:rPr>
              <a:t>O sinteză din 2023, la angajați de birou, găsește efecte mici, pe dovezi de certitudine scăzută. Pliantul ajunge la toți, dar nu schimbă nimic; un program de exerciții pentru toți, da.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CAZUL ȘEDINȚEI</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Primul loc liber: peste șapte săptămâni</a:t>
            </a:r>
            <a:endParaRPr lang="en-US" sz="3000" dirty="0"/>
          </a:p>
        </p:txBody>
      </p:sp>
      <p:sp>
        <p:nvSpPr>
          <p:cNvPr id="4" name="Shape 2"/>
          <p:cNvSpPr/>
          <p:nvPr/>
        </p:nvSpPr>
        <p:spPr>
          <a:xfrm>
            <a:off x="594360" y="1691640"/>
            <a:ext cx="4937760" cy="3291840"/>
          </a:xfrm>
          <a:prstGeom prst="roundRect">
            <a:avLst>
              <a:gd name="adj" fmla="val 2500"/>
            </a:avLst>
          </a:prstGeom>
          <a:solidFill>
            <a:srgbClr val="1D1F2B"/>
          </a:solidFill>
          <a:ln w="12700">
            <a:solidFill>
              <a:srgbClr val="1D1F2B"/>
            </a:solidFill>
            <a:prstDash val="solid"/>
          </a:ln>
        </p:spPr>
        <p:txBody>
          <a:bodyPr/>
          <a:p/>
        </p:txBody>
      </p:sp>
      <p:sp>
        <p:nvSpPr>
          <p:cNvPr id="5" name="Text 3"/>
          <p:cNvSpPr/>
          <p:nvPr/>
        </p:nvSpPr>
        <p:spPr>
          <a:xfrm>
            <a:off x="822960" y="1828800"/>
            <a:ext cx="4572000" cy="365760"/>
          </a:xfrm>
          <a:prstGeom prst="rect">
            <a:avLst/>
          </a:prstGeom>
          <a:noFill/>
          <a:ln/>
        </p:spPr>
        <p:txBody>
          <a:bodyPr wrap="square" lIns="0" tIns="0" rIns="0" bIns="0" rtlCol="0" anchor="t"/>
          <a:lstStyle/>
          <a:p>
            <a:pPr indent="0" marL="0">
              <a:buNone/>
            </a:pPr>
            <a:r>
              <a:rPr lang="en-US" sz="1200" b="1" spc="100" kern="0" dirty="0">
                <a:solidFill>
                  <a:srgbClr val="FFC24B"/>
                </a:solidFill>
                <a:latin typeface="Palatino Linotype" pitchFamily="34" charset="0"/>
                <a:ea typeface="Palatino Linotype" pitchFamily="34" charset="-122"/>
                <a:cs typeface="Palatino Linotype" pitchFamily="34" charset="-120"/>
              </a:rPr>
              <a:t>AMBULATORIUL SPITALULUI MUNICIPAL</a:t>
            </a:r>
            <a:endParaRPr lang="en-US" sz="1200" dirty="0"/>
          </a:p>
        </p:txBody>
      </p:sp>
      <p:sp>
        <p:nvSpPr>
          <p:cNvPr id="6" name="Text 4"/>
          <p:cNvSpPr/>
          <p:nvPr/>
        </p:nvSpPr>
        <p:spPr>
          <a:xfrm>
            <a:off x="822960" y="2286000"/>
            <a:ext cx="4572000" cy="25603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Patru fizioterapeuți; unul, D., e și coordonatorul serviciului. Al cincilea a plecat în primăvară la o clinică privată, iar postul lui nu a fost ocupat. D. a cerut încă doi fizioterapeuți.</a:t>
            </a:r>
            <a:endParaRPr lang="en-US" sz="1700" dirty="0"/>
          </a:p>
        </p:txBody>
      </p:sp>
      <p:sp>
        <p:nvSpPr>
          <p:cNvPr id="7" name="Shape 5"/>
          <p:cNvSpPr/>
          <p:nvPr/>
        </p:nvSpPr>
        <p:spPr>
          <a:xfrm>
            <a:off x="5806440" y="1691640"/>
            <a:ext cx="5760720" cy="3291840"/>
          </a:xfrm>
          <a:prstGeom prst="rect">
            <a:avLst/>
          </a:prstGeom>
          <a:solidFill>
            <a:srgbClr val="FFFFFF"/>
          </a:solidFill>
          <a:ln w="9525">
            <a:solidFill>
              <a:srgbClr val="D6D2C8"/>
            </a:solidFill>
            <a:prstDash val="solid"/>
          </a:ln>
        </p:spPr>
        <p:txBody>
          <a:bodyPr/>
          <a:p/>
        </p:txBody>
      </p:sp>
      <p:sp>
        <p:nvSpPr>
          <p:cNvPr id="8" name="Text 6"/>
          <p:cNvSpPr/>
          <p:nvPr/>
        </p:nvSpPr>
        <p:spPr>
          <a:xfrm>
            <a:off x="6080760" y="1874520"/>
            <a:ext cx="5212080" cy="365760"/>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Răspunsul directorului · bugetul de personal este fix</a:t>
            </a:r>
            <a:endParaRPr lang="en-US" sz="1400" dirty="0"/>
          </a:p>
        </p:txBody>
      </p:sp>
      <p:sp>
        <p:nvSpPr>
          <p:cNvPr id="9" name="Shape 7"/>
          <p:cNvSpPr/>
          <p:nvPr/>
        </p:nvSpPr>
        <p:spPr>
          <a:xfrm>
            <a:off x="6080760" y="2313432"/>
            <a:ext cx="5212080" cy="27432"/>
          </a:xfrm>
          <a:prstGeom prst="rect">
            <a:avLst/>
          </a:prstGeom>
          <a:solidFill>
            <a:srgbClr val="C9C6BE"/>
          </a:solidFill>
          <a:ln w="12700">
            <a:solidFill>
              <a:srgbClr val="C9C6BE"/>
            </a:solidFill>
            <a:prstDash val="solid"/>
          </a:ln>
        </p:spPr>
        <p:txBody>
          <a:bodyPr/>
          <a:p/>
        </p:txBody>
      </p:sp>
      <p:sp>
        <p:nvSpPr>
          <p:cNvPr id="10" name="Shape 8"/>
          <p:cNvSpPr/>
          <p:nvPr/>
        </p:nvSpPr>
        <p:spPr>
          <a:xfrm>
            <a:off x="6080760" y="2578608"/>
            <a:ext cx="384048" cy="384048"/>
          </a:xfrm>
          <a:prstGeom prst="ellipse">
            <a:avLst/>
          </a:prstGeom>
          <a:solidFill>
            <a:srgbClr val="B02532"/>
          </a:solidFill>
          <a:ln/>
        </p:spPr>
        <p:txBody>
          <a:bodyPr/>
          <a:p/>
        </p:txBody>
      </p:sp>
      <p:sp>
        <p:nvSpPr>
          <p:cNvPr id="11" name="Text 9"/>
          <p:cNvSpPr/>
          <p:nvPr/>
        </p:nvSpPr>
        <p:spPr>
          <a:xfrm>
            <a:off x="6080760"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2" name="Text 10"/>
          <p:cNvSpPr/>
          <p:nvPr/>
        </p:nvSpPr>
        <p:spPr>
          <a:xfrm>
            <a:off x="6629400" y="2468880"/>
            <a:ext cx="4663440" cy="6858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Arătați, cu cifre, de câți oameni are nevoie serviciul.</a:t>
            </a:r>
            <a:endParaRPr lang="en-US" sz="1600" dirty="0"/>
          </a:p>
        </p:txBody>
      </p:sp>
      <p:sp>
        <p:nvSpPr>
          <p:cNvPr id="13" name="Shape 11"/>
          <p:cNvSpPr/>
          <p:nvPr/>
        </p:nvSpPr>
        <p:spPr>
          <a:xfrm>
            <a:off x="6080760" y="3383280"/>
            <a:ext cx="384048" cy="384048"/>
          </a:xfrm>
          <a:prstGeom prst="ellipse">
            <a:avLst/>
          </a:prstGeom>
          <a:solidFill>
            <a:srgbClr val="B02532"/>
          </a:solidFill>
          <a:ln/>
        </p:spPr>
        <p:txBody>
          <a:bodyPr/>
          <a:p/>
        </p:txBody>
      </p:sp>
      <p:sp>
        <p:nvSpPr>
          <p:cNvPr id="14" name="Text 12"/>
          <p:cNvSpPr/>
          <p:nvPr/>
        </p:nvSpPr>
        <p:spPr>
          <a:xfrm>
            <a:off x="6080760" y="3383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5" name="Text 13"/>
          <p:cNvSpPr/>
          <p:nvPr/>
        </p:nvSpPr>
        <p:spPr>
          <a:xfrm>
            <a:off x="6629400" y="3273552"/>
            <a:ext cx="4663440" cy="6858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Arătați ce ați putea face mai bine cu oamenii pe care îi aveți.</a:t>
            </a:r>
            <a:endParaRPr lang="en-US" sz="1600" dirty="0"/>
          </a:p>
        </p:txBody>
      </p:sp>
      <p:sp>
        <p:nvSpPr>
          <p:cNvPr id="16" name="Shape 14"/>
          <p:cNvSpPr/>
          <p:nvPr/>
        </p:nvSpPr>
        <p:spPr>
          <a:xfrm>
            <a:off x="6080760" y="4187952"/>
            <a:ext cx="384048" cy="384048"/>
          </a:xfrm>
          <a:prstGeom prst="ellipse">
            <a:avLst/>
          </a:prstGeom>
          <a:solidFill>
            <a:srgbClr val="B02532"/>
          </a:solidFill>
          <a:ln/>
        </p:spPr>
        <p:txBody>
          <a:bodyPr/>
          <a:p/>
        </p:txBody>
      </p:sp>
      <p:sp>
        <p:nvSpPr>
          <p:cNvPr id="17" name="Text 15"/>
          <p:cNvSpPr/>
          <p:nvPr/>
        </p:nvSpPr>
        <p:spPr>
          <a:xfrm>
            <a:off x="6080760" y="41879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6629400" y="4078224"/>
            <a:ext cx="4663440" cy="6858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Spuneți ce ar câștiga spitalul cu posturile cerute.</a:t>
            </a:r>
            <a:endParaRPr lang="en-US" sz="1600" dirty="0"/>
          </a:p>
        </p:txBody>
      </p:sp>
      <p:sp>
        <p:nvSpPr>
          <p:cNvPr id="19" name="Text 17"/>
          <p:cNvSpPr/>
          <p:nvPr/>
        </p:nvSpPr>
        <p:spPr>
          <a:xfrm>
            <a:off x="594360" y="5212080"/>
            <a:ext cx="10972800" cy="68580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Aceeași săptămână: doi pacienți reprogramați de trei ori; un medic de familie întreabă de ce pacienții lui se întorc netratați.</a:t>
            </a:r>
            <a:endParaRPr lang="en-US" sz="1600" dirty="0"/>
          </a:p>
        </p:txBody>
      </p:sp>
      <p:sp>
        <p:nvSpPr>
          <p:cNvPr id="20" name="Text 18"/>
          <p:cNvSpPr/>
          <p:nvPr/>
        </p:nvSpPr>
        <p:spPr>
          <a:xfrm>
            <a:off x="6949440" y="6355080"/>
            <a:ext cx="4617720" cy="274320"/>
          </a:xfrm>
          <a:prstGeom prst="rect">
            <a:avLst/>
          </a:prstGeom>
          <a:noFill/>
          <a:ln/>
        </p:spPr>
        <p:txBody>
          <a:bodyPr wrap="square" lIns="0" tIns="0" rIns="0" bIns="0" rtlCol="0" anchor="t"/>
          <a:lstStyle/>
          <a:p>
            <a:pPr algn="r" indent="0" marL="0">
              <a:buNone/>
            </a:pPr>
            <a:r>
              <a:rPr lang="en-US" sz="1000" i="1" dirty="0">
                <a:solidFill>
                  <a:srgbClr val="8E94A8"/>
                </a:solidFill>
                <a:latin typeface="Palatino Linotype" pitchFamily="34" charset="0"/>
                <a:ea typeface="Palatino Linotype" pitchFamily="34" charset="-122"/>
                <a:cs typeface="Palatino Linotype" pitchFamily="34" charset="-120"/>
              </a:rPr>
              <a:t>Serviciu construit în scop didactic; cifrele sunt ipotetice.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COORDONATORUL D.</a:t>
            </a:r>
            <a:endParaRPr lang="en-US" sz="1300" dirty="0"/>
          </a:p>
        </p:txBody>
      </p:sp>
      <p:sp>
        <p:nvSpPr>
          <p:cNvPr id="5" name="Text 3"/>
          <p:cNvSpPr/>
          <p:nvPr/>
        </p:nvSpPr>
        <p:spPr>
          <a:xfrm>
            <a:off x="594360" y="868680"/>
            <a:ext cx="1097280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ar trebui să facă mai întâi coordonatorul D.?</a:t>
            </a:r>
            <a:endParaRPr lang="en-US" sz="3000" dirty="0"/>
          </a:p>
        </p:txBody>
      </p:sp>
      <p:sp>
        <p:nvSpPr>
          <p:cNvPr id="6" name="Shape 4"/>
          <p:cNvSpPr/>
          <p:nvPr/>
        </p:nvSpPr>
        <p:spPr>
          <a:xfrm>
            <a:off x="594360" y="2057400"/>
            <a:ext cx="10972800" cy="758952"/>
          </a:xfrm>
          <a:prstGeom prst="roundRect">
            <a:avLst>
              <a:gd name="adj" fmla="val 10843"/>
            </a:avLst>
          </a:prstGeom>
          <a:solidFill>
            <a:srgbClr val="272A38"/>
          </a:solidFill>
          <a:ln w="12700">
            <a:solidFill>
              <a:srgbClr val="272A38"/>
            </a:solidFill>
            <a:prstDash val="solid"/>
          </a:ln>
        </p:spPr>
        <p:txBody>
          <a:bodyPr/>
          <a:p/>
        </p:txBody>
      </p:sp>
      <p:sp>
        <p:nvSpPr>
          <p:cNvPr id="7" name="Shape 5"/>
          <p:cNvSpPr/>
          <p:nvPr/>
        </p:nvSpPr>
        <p:spPr>
          <a:xfrm>
            <a:off x="868680" y="2226564"/>
            <a:ext cx="420624" cy="420624"/>
          </a:xfrm>
          <a:prstGeom prst="ellipse">
            <a:avLst/>
          </a:prstGeom>
          <a:solidFill>
            <a:srgbClr val="FFC24B"/>
          </a:solidFill>
          <a:ln/>
        </p:spPr>
        <p:txBody>
          <a:bodyPr/>
          <a:p/>
        </p:txBody>
      </p:sp>
      <p:sp>
        <p:nvSpPr>
          <p:cNvPr id="8" name="Text 6"/>
          <p:cNvSpPr/>
          <p:nvPr/>
        </p:nvSpPr>
        <p:spPr>
          <a:xfrm>
            <a:off x="868680" y="22265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54480" y="2057400"/>
            <a:ext cx="9784080" cy="75895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Să insiste pentru doi fizioterapeuți noi</a:t>
            </a:r>
            <a:endParaRPr lang="en-US" sz="1900" dirty="0"/>
          </a:p>
        </p:txBody>
      </p:sp>
      <p:sp>
        <p:nvSpPr>
          <p:cNvPr id="10" name="Shape 8"/>
          <p:cNvSpPr/>
          <p:nvPr/>
        </p:nvSpPr>
        <p:spPr>
          <a:xfrm>
            <a:off x="594360" y="2953512"/>
            <a:ext cx="10972800" cy="758952"/>
          </a:xfrm>
          <a:prstGeom prst="roundRect">
            <a:avLst>
              <a:gd name="adj" fmla="val 10843"/>
            </a:avLst>
          </a:prstGeom>
          <a:solidFill>
            <a:srgbClr val="272A38"/>
          </a:solidFill>
          <a:ln w="12700">
            <a:solidFill>
              <a:srgbClr val="272A38"/>
            </a:solidFill>
            <a:prstDash val="solid"/>
          </a:ln>
        </p:spPr>
        <p:txBody>
          <a:bodyPr/>
          <a:p/>
        </p:txBody>
      </p:sp>
      <p:sp>
        <p:nvSpPr>
          <p:cNvPr id="11" name="Shape 9"/>
          <p:cNvSpPr/>
          <p:nvPr/>
        </p:nvSpPr>
        <p:spPr>
          <a:xfrm>
            <a:off x="868680" y="3122676"/>
            <a:ext cx="420624" cy="420624"/>
          </a:xfrm>
          <a:prstGeom prst="ellipse">
            <a:avLst/>
          </a:prstGeom>
          <a:solidFill>
            <a:srgbClr val="FFC24B"/>
          </a:solidFill>
          <a:ln/>
        </p:spPr>
        <p:txBody>
          <a:bodyPr/>
          <a:p/>
        </p:txBody>
      </p:sp>
      <p:sp>
        <p:nvSpPr>
          <p:cNvPr id="12" name="Text 10"/>
          <p:cNvSpPr/>
          <p:nvPr/>
        </p:nvSpPr>
        <p:spPr>
          <a:xfrm>
            <a:off x="868680" y="312267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54480" y="2953512"/>
            <a:ext cx="9784080" cy="75895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Să schimbe programul, ca să primească mai mulți pacienți cu aceiași oameni</a:t>
            </a:r>
            <a:endParaRPr lang="en-US" sz="1900" dirty="0"/>
          </a:p>
        </p:txBody>
      </p:sp>
      <p:sp>
        <p:nvSpPr>
          <p:cNvPr id="14" name="Shape 12"/>
          <p:cNvSpPr/>
          <p:nvPr/>
        </p:nvSpPr>
        <p:spPr>
          <a:xfrm>
            <a:off x="594360" y="3849624"/>
            <a:ext cx="10972800" cy="758952"/>
          </a:xfrm>
          <a:prstGeom prst="roundRect">
            <a:avLst>
              <a:gd name="adj" fmla="val 10843"/>
            </a:avLst>
          </a:prstGeom>
          <a:solidFill>
            <a:srgbClr val="272A38"/>
          </a:solidFill>
          <a:ln w="12700">
            <a:solidFill>
              <a:srgbClr val="272A38"/>
            </a:solidFill>
            <a:prstDash val="solid"/>
          </a:ln>
        </p:spPr>
        <p:txBody>
          <a:bodyPr/>
          <a:p/>
        </p:txBody>
      </p:sp>
      <p:sp>
        <p:nvSpPr>
          <p:cNvPr id="15" name="Shape 13"/>
          <p:cNvSpPr/>
          <p:nvPr/>
        </p:nvSpPr>
        <p:spPr>
          <a:xfrm>
            <a:off x="868680" y="4018788"/>
            <a:ext cx="420624" cy="420624"/>
          </a:xfrm>
          <a:prstGeom prst="ellipse">
            <a:avLst/>
          </a:prstGeom>
          <a:solidFill>
            <a:srgbClr val="FFC24B"/>
          </a:solidFill>
          <a:ln/>
        </p:spPr>
        <p:txBody>
          <a:bodyPr/>
          <a:p/>
        </p:txBody>
      </p:sp>
      <p:sp>
        <p:nvSpPr>
          <p:cNvPr id="16" name="Text 14"/>
          <p:cNvSpPr/>
          <p:nvPr/>
        </p:nvSpPr>
        <p:spPr>
          <a:xfrm>
            <a:off x="868680" y="40187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54480" y="3849624"/>
            <a:ext cx="9784080" cy="75895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Să măsoare cât lucrează serviciul și cât ar trebui să lucreze</a:t>
            </a:r>
            <a:endParaRPr lang="en-US" sz="1900" dirty="0"/>
          </a:p>
        </p:txBody>
      </p:sp>
      <p:sp>
        <p:nvSpPr>
          <p:cNvPr id="18" name="Shape 16"/>
          <p:cNvSpPr/>
          <p:nvPr/>
        </p:nvSpPr>
        <p:spPr>
          <a:xfrm>
            <a:off x="594360" y="4745736"/>
            <a:ext cx="10972800" cy="758952"/>
          </a:xfrm>
          <a:prstGeom prst="roundRect">
            <a:avLst>
              <a:gd name="adj" fmla="val 10843"/>
            </a:avLst>
          </a:prstGeom>
          <a:solidFill>
            <a:srgbClr val="272A38"/>
          </a:solidFill>
          <a:ln w="12700">
            <a:solidFill>
              <a:srgbClr val="272A38"/>
            </a:solidFill>
            <a:prstDash val="solid"/>
          </a:ln>
        </p:spPr>
        <p:txBody>
          <a:bodyPr/>
          <a:p/>
        </p:txBody>
      </p:sp>
      <p:sp>
        <p:nvSpPr>
          <p:cNvPr id="19" name="Shape 17"/>
          <p:cNvSpPr/>
          <p:nvPr/>
        </p:nvSpPr>
        <p:spPr>
          <a:xfrm>
            <a:off x="868680" y="4914900"/>
            <a:ext cx="420624" cy="420624"/>
          </a:xfrm>
          <a:prstGeom prst="ellipse">
            <a:avLst/>
          </a:prstGeom>
          <a:solidFill>
            <a:srgbClr val="FFC24B"/>
          </a:solidFill>
          <a:ln/>
        </p:spPr>
        <p:txBody>
          <a:bodyPr/>
          <a:p/>
        </p:txBody>
      </p:sp>
      <p:sp>
        <p:nvSpPr>
          <p:cNvPr id="20" name="Text 18"/>
          <p:cNvSpPr/>
          <p:nvPr/>
        </p:nvSpPr>
        <p:spPr>
          <a:xfrm>
            <a:off x="868680" y="49149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54480" y="4745736"/>
            <a:ext cx="9784080" cy="75895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Să trimită pacienții noi la un cabinet privat</a:t>
            </a:r>
            <a:endParaRPr lang="en-US" sz="1900" dirty="0"/>
          </a:p>
        </p:txBody>
      </p:sp>
      <p:sp>
        <p:nvSpPr>
          <p:cNvPr id="22" name="Text 20"/>
          <p:cNvSpPr/>
          <p:nvPr/>
        </p:nvSpPr>
        <p:spPr>
          <a:xfrm>
            <a:off x="594360" y="57607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Vot anonim. Revenim la el la sfârșitul cursului.</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C24B"/>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FFFF"/>
          </a:solidFill>
          <a:ln w="12700">
            <a:solidFill>
              <a:srgbClr val="FFFFFF"/>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REVOT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3D2A00"/>
                </a:solidFill>
                <a:latin typeface="Palatino Linotype" pitchFamily="34" charset="0"/>
                <a:ea typeface="Palatino Linotype" pitchFamily="34" charset="-122"/>
                <a:cs typeface="Palatino Linotype" pitchFamily="34" charset="-120"/>
              </a:rPr>
              <a:t>DOUĂ MINUTE CU COLEGUL DE BANCĂ</a:t>
            </a:r>
            <a:endParaRPr lang="en-US" sz="1300" dirty="0"/>
          </a:p>
        </p:txBody>
      </p:sp>
      <p:sp>
        <p:nvSpPr>
          <p:cNvPr id="5" name="Text 3"/>
          <p:cNvSpPr/>
          <p:nvPr/>
        </p:nvSpPr>
        <p:spPr>
          <a:xfrm>
            <a:off x="594360" y="1463040"/>
            <a:ext cx="10972800" cy="1280160"/>
          </a:xfrm>
          <a:prstGeom prst="rect">
            <a:avLst/>
          </a:prstGeom>
          <a:noFill/>
          <a:ln/>
        </p:spPr>
        <p:txBody>
          <a:bodyPr wrap="square" lIns="0" tIns="0" rIns="0" bIns="0" rtlCol="0" anchor="t"/>
          <a:lstStyle/>
          <a:p>
            <a:pPr indent="0" marL="0">
              <a:buNone/>
            </a:pPr>
            <a:r>
              <a:rPr lang="en-US" sz="4000" b="1" dirty="0">
                <a:solidFill>
                  <a:srgbClr val="3D2A00"/>
                </a:solidFill>
                <a:latin typeface="Palatino Linotype" pitchFamily="34" charset="0"/>
                <a:ea typeface="Palatino Linotype" pitchFamily="34" charset="-122"/>
                <a:cs typeface="Palatino Linotype" pitchFamily="34" charset="-120"/>
              </a:rPr>
              <a:t>Ce argument susține varianta aleasă?</a:t>
            </a:r>
            <a:endParaRPr lang="en-US" sz="4000" dirty="0"/>
          </a:p>
        </p:txBody>
      </p:sp>
      <p:sp>
        <p:nvSpPr>
          <p:cNvPr id="6" name="Text 4"/>
          <p:cNvSpPr/>
          <p:nvPr/>
        </p:nvSpPr>
        <p:spPr>
          <a:xfrm>
            <a:off x="594360" y="3017520"/>
            <a:ext cx="10972800" cy="914400"/>
          </a:xfrm>
          <a:prstGeom prst="rect">
            <a:avLst/>
          </a:prstGeom>
          <a:noFill/>
          <a:ln/>
        </p:spPr>
        <p:txBody>
          <a:bodyPr wrap="square" lIns="0" tIns="0" rIns="0" bIns="0" rtlCol="0" anchor="t"/>
          <a:lstStyle/>
          <a:p>
            <a:pPr indent="0" marL="0">
              <a:buNone/>
            </a:pPr>
            <a:r>
              <a:rPr lang="en-US" sz="2200" dirty="0">
                <a:solidFill>
                  <a:srgbClr val="3D2A00"/>
                </a:solidFill>
                <a:latin typeface="Palatino Linotype" pitchFamily="34" charset="0"/>
                <a:ea typeface="Palatino Linotype" pitchFamily="34" charset="-122"/>
                <a:cs typeface="Palatino Linotype" pitchFamily="34" charset="-120"/>
              </a:rPr>
              <a:t>Gândiți-vă la cele trei cereri ale directorului: cifre, organizare, câștig.</a:t>
            </a:r>
            <a:endParaRPr lang="en-US" sz="2200" dirty="0"/>
          </a:p>
        </p:txBody>
      </p:sp>
      <p:sp>
        <p:nvSpPr>
          <p:cNvPr id="7" name="Text 5"/>
          <p:cNvSpPr/>
          <p:nvPr/>
        </p:nvSpPr>
        <p:spPr>
          <a:xfrm>
            <a:off x="594360" y="4389120"/>
            <a:ext cx="10972800" cy="731520"/>
          </a:xfrm>
          <a:prstGeom prst="rect">
            <a:avLst/>
          </a:prstGeom>
          <a:noFill/>
          <a:ln/>
        </p:spPr>
        <p:txBody>
          <a:bodyPr wrap="square" lIns="0" tIns="0" rIns="0" bIns="0" rtlCol="0" anchor="t"/>
          <a:lstStyle/>
          <a:p>
            <a:pPr indent="0" marL="0">
              <a:buNone/>
            </a:pPr>
            <a:r>
              <a:rPr lang="en-US" sz="2200" b="1" dirty="0">
                <a:solidFill>
                  <a:srgbClr val="3D2A00"/>
                </a:solidFill>
                <a:latin typeface="Palatino Linotype" pitchFamily="34" charset="0"/>
                <a:ea typeface="Palatino Linotype" pitchFamily="34" charset="-122"/>
                <a:cs typeface="Palatino Linotype" pitchFamily="34" charset="-120"/>
              </a:rPr>
              <a:t>Apoi votați din nou, fără explicații între cele două voturi.</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PROVIZORIU</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700" b="1" dirty="0">
                <a:solidFill>
                  <a:srgbClr val="11121A"/>
                </a:solidFill>
                <a:latin typeface="Palatino Linotype" pitchFamily="34" charset="0"/>
                <a:ea typeface="Palatino Linotype" pitchFamily="34" charset="-122"/>
                <a:cs typeface="Palatino Linotype" pitchFamily="34" charset="-120"/>
              </a:rPr>
              <a:t>Titlul cursului are două părți. Cazul le conține pe amândouă.</a:t>
            </a:r>
            <a:endParaRPr lang="en-US" sz="2700" dirty="0"/>
          </a:p>
        </p:txBody>
      </p:sp>
      <p:sp>
        <p:nvSpPr>
          <p:cNvPr id="4" name="Shape 2"/>
          <p:cNvSpPr/>
          <p:nvPr/>
        </p:nvSpPr>
        <p:spPr>
          <a:xfrm>
            <a:off x="594360" y="1783080"/>
            <a:ext cx="5349240" cy="2103120"/>
          </a:xfrm>
          <a:prstGeom prst="roundRect">
            <a:avLst>
              <a:gd name="adj" fmla="val 3913"/>
            </a:avLst>
          </a:prstGeom>
          <a:solidFill>
            <a:srgbClr val="F6EDD5"/>
          </a:solidFill>
          <a:ln w="12700">
            <a:solidFill>
              <a:srgbClr val="F6EDD5"/>
            </a:solidFill>
            <a:prstDash val="solid"/>
          </a:ln>
        </p:spPr>
        <p:txBody>
          <a:bodyPr/>
          <a:p/>
        </p:txBody>
      </p:sp>
      <p:sp>
        <p:nvSpPr>
          <p:cNvPr id="5" name="Shape 3"/>
          <p:cNvSpPr/>
          <p:nvPr/>
        </p:nvSpPr>
        <p:spPr>
          <a:xfrm>
            <a:off x="6217920" y="1783080"/>
            <a:ext cx="5349240" cy="2103120"/>
          </a:xfrm>
          <a:prstGeom prst="roundRect">
            <a:avLst>
              <a:gd name="adj" fmla="val 3913"/>
            </a:avLst>
          </a:prstGeom>
          <a:solidFill>
            <a:srgbClr val="E1F0EC"/>
          </a:solidFill>
          <a:ln w="12700">
            <a:solidFill>
              <a:srgbClr val="E1F0EC"/>
            </a:solidFill>
            <a:prstDash val="solid"/>
          </a:ln>
        </p:spPr>
        <p:txBody>
          <a:bodyPr/>
          <a:p/>
        </p:txBody>
      </p:sp>
      <p:sp>
        <p:nvSpPr>
          <p:cNvPr id="6" name="Text 4"/>
          <p:cNvSpPr/>
          <p:nvPr/>
        </p:nvSpPr>
        <p:spPr>
          <a:xfrm>
            <a:off x="868680" y="1920240"/>
            <a:ext cx="4846320" cy="365760"/>
          </a:xfrm>
          <a:prstGeom prst="rect">
            <a:avLst/>
          </a:prstGeom>
          <a:noFill/>
          <a:ln/>
        </p:spPr>
        <p:txBody>
          <a:bodyPr wrap="square" lIns="0" tIns="0" rIns="0" bIns="0" rtlCol="0" anchor="t"/>
          <a:lstStyle/>
          <a:p>
            <a:pPr indent="0" marL="0">
              <a:buNone/>
            </a:pPr>
            <a:r>
              <a:rPr lang="en-US" sz="1800" b="1" dirty="0">
                <a:solidFill>
                  <a:srgbClr val="8A6100"/>
                </a:solidFill>
                <a:latin typeface="Palatino Linotype" pitchFamily="34" charset="0"/>
                <a:ea typeface="Palatino Linotype" pitchFamily="34" charset="-122"/>
                <a:cs typeface="Palatino Linotype" pitchFamily="34" charset="-120"/>
              </a:rPr>
              <a:t>Managementul serviciului</a:t>
            </a:r>
            <a:endParaRPr lang="en-US" sz="1800" dirty="0"/>
          </a:p>
        </p:txBody>
      </p:sp>
      <p:sp>
        <p:nvSpPr>
          <p:cNvPr id="7" name="Text 5"/>
          <p:cNvSpPr/>
          <p:nvPr/>
        </p:nvSpPr>
        <p:spPr>
          <a:xfrm>
            <a:off x="868680" y="2377440"/>
            <a:ext cx="4846320" cy="14173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 face D. între cererea directorului și lista de așteptare: planifică, organizează, conduce, controlează.</a:t>
            </a:r>
            <a:endParaRPr lang="en-US" sz="1600" dirty="0"/>
          </a:p>
        </p:txBody>
      </p:sp>
      <p:sp>
        <p:nvSpPr>
          <p:cNvPr id="8" name="Text 6"/>
          <p:cNvSpPr/>
          <p:nvPr/>
        </p:nvSpPr>
        <p:spPr>
          <a:xfrm>
            <a:off x="6492240" y="1920240"/>
            <a:ext cx="4846320" cy="36576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Resursele umane</a:t>
            </a:r>
            <a:endParaRPr lang="en-US" sz="1800" dirty="0"/>
          </a:p>
        </p:txBody>
      </p:sp>
      <p:sp>
        <p:nvSpPr>
          <p:cNvPr id="9" name="Text 7"/>
          <p:cNvSpPr/>
          <p:nvPr/>
        </p:nvSpPr>
        <p:spPr>
          <a:xfrm>
            <a:off x="6492240" y="2377440"/>
            <a:ext cx="4846320" cy="14173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cine are dreptul să lucreze ca fizioterapeut, cum se împart rolurile în echipă, câți fizioterapeuți îi trebuie serviciului.</a:t>
            </a:r>
            <a:endParaRPr lang="en-US" sz="1600" dirty="0"/>
          </a:p>
        </p:txBody>
      </p:sp>
      <p:sp>
        <p:nvSpPr>
          <p:cNvPr id="10" name="Shape 8"/>
          <p:cNvSpPr/>
          <p:nvPr/>
        </p:nvSpPr>
        <p:spPr>
          <a:xfrm>
            <a:off x="594360" y="4206240"/>
            <a:ext cx="91440" cy="1554480"/>
          </a:xfrm>
          <a:prstGeom prst="rect">
            <a:avLst/>
          </a:prstGeom>
          <a:solidFill>
            <a:srgbClr val="B02532"/>
          </a:solidFill>
          <a:ln w="12700">
            <a:solidFill>
              <a:srgbClr val="B02532"/>
            </a:solidFill>
            <a:prstDash val="solid"/>
          </a:ln>
        </p:spPr>
        <p:txBody>
          <a:bodyPr/>
          <a:p/>
        </p:txBody>
      </p:sp>
      <p:sp>
        <p:nvSpPr>
          <p:cNvPr id="11" name="Text 9"/>
          <p:cNvSpPr/>
          <p:nvPr/>
        </p:nvSpPr>
        <p:spPr>
          <a:xfrm>
            <a:off x="914400" y="4206240"/>
            <a:ext cx="10607040" cy="1554480"/>
          </a:xfrm>
          <a:prstGeom prst="rect">
            <a:avLst/>
          </a:prstGeom>
          <a:noFill/>
          <a:ln/>
        </p:spPr>
        <p:txBody>
          <a:bodyPr wrap="square" lIns="0" tIns="0" rIns="0" bIns="0" rtlCol="0" anchor="ctr"/>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Numărul de fizioterapeuți nu se apără cu impresia că „suntem prea puțini”, ci cu volumul de muncă măsurat. Restul cursului construiește acest răspuns, pas cu pas.</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FACE UN MANAGER</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Patru funcții, numite în fișa disciplinei</a:t>
            </a:r>
            <a:endParaRPr lang="en-US" sz="3000" dirty="0"/>
          </a:p>
        </p:txBody>
      </p:sp>
      <p:sp>
        <p:nvSpPr>
          <p:cNvPr id="4" name="Shape 2"/>
          <p:cNvSpPr/>
          <p:nvPr/>
        </p:nvSpPr>
        <p:spPr>
          <a:xfrm>
            <a:off x="594360" y="1783080"/>
            <a:ext cx="2633472" cy="3200400"/>
          </a:xfrm>
          <a:prstGeom prst="roundRect">
            <a:avLst>
              <a:gd name="adj" fmla="val 3125"/>
            </a:avLst>
          </a:prstGeom>
          <a:solidFill>
            <a:srgbClr val="F4E0E2"/>
          </a:solidFill>
          <a:ln w="12700">
            <a:solidFill>
              <a:srgbClr val="F4E0E2"/>
            </a:solidFill>
            <a:prstDash val="solid"/>
          </a:ln>
        </p:spPr>
        <p:txBody>
          <a:bodyPr/>
          <a:p/>
        </p:txBody>
      </p:sp>
      <p:sp>
        <p:nvSpPr>
          <p:cNvPr id="5" name="Shape 3"/>
          <p:cNvSpPr/>
          <p:nvPr/>
        </p:nvSpPr>
        <p:spPr>
          <a:xfrm>
            <a:off x="594360" y="1783080"/>
            <a:ext cx="2633472" cy="82296"/>
          </a:xfrm>
          <a:prstGeom prst="rect">
            <a:avLst/>
          </a:prstGeom>
          <a:solidFill>
            <a:srgbClr val="B02532"/>
          </a:solidFill>
          <a:ln w="12700">
            <a:solidFill>
              <a:srgbClr val="B02532"/>
            </a:solidFill>
            <a:prstDash val="solid"/>
          </a:ln>
        </p:spPr>
        <p:txBody>
          <a:bodyPr/>
          <a:p/>
        </p:txBody>
      </p:sp>
      <p:sp>
        <p:nvSpPr>
          <p:cNvPr id="6" name="Text 4"/>
          <p:cNvSpPr/>
          <p:nvPr/>
        </p:nvSpPr>
        <p:spPr>
          <a:xfrm>
            <a:off x="822960" y="2011680"/>
            <a:ext cx="2194560" cy="45720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Planificarea</a:t>
            </a:r>
            <a:endParaRPr lang="en-US" sz="1900" dirty="0"/>
          </a:p>
        </p:txBody>
      </p:sp>
      <p:sp>
        <p:nvSpPr>
          <p:cNvPr id="7" name="Text 5"/>
          <p:cNvSpPr/>
          <p:nvPr/>
        </p:nvSpPr>
        <p:spPr>
          <a:xfrm>
            <a:off x="822960" y="2560320"/>
            <a:ext cx="2194560" cy="22860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stabilește ce trebuie obținut și pregătește acțiunile și resursele necesare.</a:t>
            </a:r>
            <a:endParaRPr lang="en-US" sz="1600" dirty="0"/>
          </a:p>
        </p:txBody>
      </p:sp>
      <p:sp>
        <p:nvSpPr>
          <p:cNvPr id="8" name="Shape 6"/>
          <p:cNvSpPr/>
          <p:nvPr/>
        </p:nvSpPr>
        <p:spPr>
          <a:xfrm>
            <a:off x="3410712" y="1783080"/>
            <a:ext cx="2633472" cy="3200400"/>
          </a:xfrm>
          <a:prstGeom prst="roundRect">
            <a:avLst>
              <a:gd name="adj" fmla="val 3125"/>
            </a:avLst>
          </a:prstGeom>
          <a:solidFill>
            <a:srgbClr val="F6EDD5"/>
          </a:solidFill>
          <a:ln w="12700">
            <a:solidFill>
              <a:srgbClr val="F6EDD5"/>
            </a:solidFill>
            <a:prstDash val="solid"/>
          </a:ln>
        </p:spPr>
        <p:txBody>
          <a:bodyPr/>
          <a:p/>
        </p:txBody>
      </p:sp>
      <p:sp>
        <p:nvSpPr>
          <p:cNvPr id="9" name="Shape 7"/>
          <p:cNvSpPr/>
          <p:nvPr/>
        </p:nvSpPr>
        <p:spPr>
          <a:xfrm>
            <a:off x="3410712" y="1783080"/>
            <a:ext cx="2633472" cy="82296"/>
          </a:xfrm>
          <a:prstGeom prst="rect">
            <a:avLst/>
          </a:prstGeom>
          <a:solidFill>
            <a:srgbClr val="8A6100"/>
          </a:solidFill>
          <a:ln w="12700">
            <a:solidFill>
              <a:srgbClr val="8A6100"/>
            </a:solidFill>
            <a:prstDash val="solid"/>
          </a:ln>
        </p:spPr>
        <p:txBody>
          <a:bodyPr/>
          <a:p/>
        </p:txBody>
      </p:sp>
      <p:sp>
        <p:nvSpPr>
          <p:cNvPr id="10" name="Text 8"/>
          <p:cNvSpPr/>
          <p:nvPr/>
        </p:nvSpPr>
        <p:spPr>
          <a:xfrm>
            <a:off x="3639312" y="2011680"/>
            <a:ext cx="2194560" cy="457200"/>
          </a:xfrm>
          <a:prstGeom prst="rect">
            <a:avLst/>
          </a:prstGeom>
          <a:noFill/>
          <a:ln/>
        </p:spPr>
        <p:txBody>
          <a:bodyPr wrap="square" lIns="0" tIns="0" rIns="0" bIns="0" rtlCol="0" anchor="t"/>
          <a:lstStyle/>
          <a:p>
            <a:pPr indent="0" marL="0">
              <a:buNone/>
            </a:pPr>
            <a:r>
              <a:rPr lang="en-US" sz="1900" b="1" dirty="0">
                <a:solidFill>
                  <a:srgbClr val="8A6100"/>
                </a:solidFill>
                <a:latin typeface="Palatino Linotype" pitchFamily="34" charset="0"/>
                <a:ea typeface="Palatino Linotype" pitchFamily="34" charset="-122"/>
                <a:cs typeface="Palatino Linotype" pitchFamily="34" charset="-120"/>
              </a:rPr>
              <a:t>Organizarea</a:t>
            </a:r>
            <a:endParaRPr lang="en-US" sz="1900" dirty="0"/>
          </a:p>
        </p:txBody>
      </p:sp>
      <p:sp>
        <p:nvSpPr>
          <p:cNvPr id="11" name="Text 9"/>
          <p:cNvSpPr/>
          <p:nvPr/>
        </p:nvSpPr>
        <p:spPr>
          <a:xfrm>
            <a:off x="3639312" y="2560320"/>
            <a:ext cx="2194560" cy="22860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stabilește structura, rolurile și împărțirea resurselor.</a:t>
            </a:r>
            <a:endParaRPr lang="en-US" sz="1600" dirty="0"/>
          </a:p>
        </p:txBody>
      </p:sp>
      <p:sp>
        <p:nvSpPr>
          <p:cNvPr id="12" name="Shape 10"/>
          <p:cNvSpPr/>
          <p:nvPr/>
        </p:nvSpPr>
        <p:spPr>
          <a:xfrm>
            <a:off x="6227064" y="1783080"/>
            <a:ext cx="2633472" cy="3200400"/>
          </a:xfrm>
          <a:prstGeom prst="roundRect">
            <a:avLst>
              <a:gd name="adj" fmla="val 3125"/>
            </a:avLst>
          </a:prstGeom>
          <a:solidFill>
            <a:srgbClr val="E1F0EC"/>
          </a:solidFill>
          <a:ln w="12700">
            <a:solidFill>
              <a:srgbClr val="E1F0EC"/>
            </a:solidFill>
            <a:prstDash val="solid"/>
          </a:ln>
        </p:spPr>
        <p:txBody>
          <a:bodyPr/>
          <a:p/>
        </p:txBody>
      </p:sp>
      <p:sp>
        <p:nvSpPr>
          <p:cNvPr id="13" name="Shape 11"/>
          <p:cNvSpPr/>
          <p:nvPr/>
        </p:nvSpPr>
        <p:spPr>
          <a:xfrm>
            <a:off x="6227064" y="1783080"/>
            <a:ext cx="2633472" cy="82296"/>
          </a:xfrm>
          <a:prstGeom prst="rect">
            <a:avLst/>
          </a:prstGeom>
          <a:solidFill>
            <a:srgbClr val="0E7C6B"/>
          </a:solidFill>
          <a:ln w="12700">
            <a:solidFill>
              <a:srgbClr val="0E7C6B"/>
            </a:solidFill>
            <a:prstDash val="solid"/>
          </a:ln>
        </p:spPr>
        <p:txBody>
          <a:bodyPr/>
          <a:p/>
        </p:txBody>
      </p:sp>
      <p:sp>
        <p:nvSpPr>
          <p:cNvPr id="14" name="Text 12"/>
          <p:cNvSpPr/>
          <p:nvPr/>
        </p:nvSpPr>
        <p:spPr>
          <a:xfrm>
            <a:off x="6455664" y="2011680"/>
            <a:ext cx="2194560" cy="4572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Conducerea</a:t>
            </a:r>
            <a:endParaRPr lang="en-US" sz="1900" dirty="0"/>
          </a:p>
        </p:txBody>
      </p:sp>
      <p:sp>
        <p:nvSpPr>
          <p:cNvPr id="15" name="Text 13"/>
          <p:cNvSpPr/>
          <p:nvPr/>
        </p:nvSpPr>
        <p:spPr>
          <a:xfrm>
            <a:off x="6455664" y="2560320"/>
            <a:ext cx="2194560" cy="22860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privește oamenii: încadrarea cu personal, coordonarea, motivarea, comunicarea.</a:t>
            </a:r>
            <a:endParaRPr lang="en-US" sz="1600" dirty="0"/>
          </a:p>
        </p:txBody>
      </p:sp>
      <p:sp>
        <p:nvSpPr>
          <p:cNvPr id="16" name="Shape 14"/>
          <p:cNvSpPr/>
          <p:nvPr/>
        </p:nvSpPr>
        <p:spPr>
          <a:xfrm>
            <a:off x="9043416" y="1783080"/>
            <a:ext cx="2633472" cy="3200400"/>
          </a:xfrm>
          <a:prstGeom prst="roundRect">
            <a:avLst>
              <a:gd name="adj" fmla="val 3125"/>
            </a:avLst>
          </a:prstGeom>
          <a:solidFill>
            <a:srgbClr val="E9E3F6"/>
          </a:solidFill>
          <a:ln w="12700">
            <a:solidFill>
              <a:srgbClr val="E9E3F6"/>
            </a:solidFill>
            <a:prstDash val="solid"/>
          </a:ln>
        </p:spPr>
        <p:txBody>
          <a:bodyPr/>
          <a:p/>
        </p:txBody>
      </p:sp>
      <p:sp>
        <p:nvSpPr>
          <p:cNvPr id="17" name="Shape 15"/>
          <p:cNvSpPr/>
          <p:nvPr/>
        </p:nvSpPr>
        <p:spPr>
          <a:xfrm>
            <a:off x="9043416" y="1783080"/>
            <a:ext cx="2633472" cy="82296"/>
          </a:xfrm>
          <a:prstGeom prst="rect">
            <a:avLst/>
          </a:prstGeom>
          <a:solidFill>
            <a:srgbClr val="4A2D8C"/>
          </a:solidFill>
          <a:ln w="12700">
            <a:solidFill>
              <a:srgbClr val="4A2D8C"/>
            </a:solidFill>
            <a:prstDash val="solid"/>
          </a:ln>
        </p:spPr>
        <p:txBody>
          <a:bodyPr/>
          <a:p/>
        </p:txBody>
      </p:sp>
      <p:sp>
        <p:nvSpPr>
          <p:cNvPr id="18" name="Text 16"/>
          <p:cNvSpPr/>
          <p:nvPr/>
        </p:nvSpPr>
        <p:spPr>
          <a:xfrm>
            <a:off x="9272016" y="2011680"/>
            <a:ext cx="2194560" cy="457200"/>
          </a:xfrm>
          <a:prstGeom prst="rect">
            <a:avLst/>
          </a:prstGeom>
          <a:noFill/>
          <a:ln/>
        </p:spPr>
        <p:txBody>
          <a:bodyPr wrap="square" lIns="0" tIns="0" rIns="0" bIns="0" rtlCol="0" anchor="t"/>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Controlul</a:t>
            </a:r>
            <a:endParaRPr lang="en-US" sz="1900" dirty="0"/>
          </a:p>
        </p:txBody>
      </p:sp>
      <p:sp>
        <p:nvSpPr>
          <p:cNvPr id="19" name="Text 17"/>
          <p:cNvSpPr/>
          <p:nvPr/>
        </p:nvSpPr>
        <p:spPr>
          <a:xfrm>
            <a:off x="9272016" y="2560320"/>
            <a:ext cx="2194560" cy="22860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urmărește rezultatele față de ținte și arată ce trebuie corectat.</a:t>
            </a:r>
            <a:endParaRPr lang="en-US" sz="1600" dirty="0"/>
          </a:p>
        </p:txBody>
      </p:sp>
      <p:sp>
        <p:nvSpPr>
          <p:cNvPr id="20" name="Text 18"/>
          <p:cNvSpPr/>
          <p:nvPr/>
        </p:nvSpPr>
        <p:spPr>
          <a:xfrm>
            <a:off x="594360" y="5257800"/>
            <a:ext cx="10972800" cy="45720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În acest curs, coordonarea nu e o funcție separată: intră la conducere.</a:t>
            </a:r>
            <a:endParaRPr lang="en-US" sz="18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fișa disciplinei, tema a treia a cursului.</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TREI MINUTE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SERVICIUL COORDONATORULUI D.</a:t>
            </a:r>
            <a:endParaRPr lang="en-US" sz="1300" dirty="0"/>
          </a:p>
        </p:txBody>
      </p:sp>
      <p:sp>
        <p:nvSpPr>
          <p:cNvPr id="5" name="Text 3"/>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funcție este fiecare situație?</a:t>
            </a:r>
            <a:endParaRPr lang="en-US" sz="3000" dirty="0"/>
          </a:p>
        </p:txBody>
      </p:sp>
      <p:sp>
        <p:nvSpPr>
          <p:cNvPr id="6" name="Shape 4"/>
          <p:cNvSpPr/>
          <p:nvPr/>
        </p:nvSpPr>
        <p:spPr>
          <a:xfrm>
            <a:off x="594360" y="1737360"/>
            <a:ext cx="3520440" cy="1600200"/>
          </a:xfrm>
          <a:prstGeom prst="roundRect">
            <a:avLst>
              <a:gd name="adj" fmla="val 5143"/>
            </a:avLst>
          </a:prstGeom>
          <a:solidFill>
            <a:srgbClr val="272A38"/>
          </a:solidFill>
          <a:ln w="12700">
            <a:solidFill>
              <a:srgbClr val="272A38"/>
            </a:solidFill>
            <a:prstDash val="solid"/>
          </a:ln>
        </p:spPr>
        <p:txBody>
          <a:bodyPr/>
          <a:p/>
        </p:txBody>
      </p:sp>
      <p:sp>
        <p:nvSpPr>
          <p:cNvPr id="7" name="Shape 5"/>
          <p:cNvSpPr/>
          <p:nvPr/>
        </p:nvSpPr>
        <p:spPr>
          <a:xfrm>
            <a:off x="777240" y="1920240"/>
            <a:ext cx="420624" cy="420624"/>
          </a:xfrm>
          <a:prstGeom prst="ellipse">
            <a:avLst/>
          </a:prstGeom>
          <a:solidFill>
            <a:srgbClr val="FFC24B"/>
          </a:solidFill>
          <a:ln/>
        </p:spPr>
        <p:txBody>
          <a:bodyPr/>
          <a:p/>
        </p:txBody>
      </p:sp>
      <p:sp>
        <p:nvSpPr>
          <p:cNvPr id="8" name="Text 6"/>
          <p:cNvSpPr/>
          <p:nvPr/>
        </p:nvSpPr>
        <p:spPr>
          <a:xfrm>
            <a:off x="777240" y="1920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371600" y="1874520"/>
            <a:ext cx="2606040" cy="13258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Stabilirea țintei de trei săptămâni de așteptare</a:t>
            </a:r>
            <a:endParaRPr lang="en-US" sz="1700" dirty="0"/>
          </a:p>
        </p:txBody>
      </p:sp>
      <p:sp>
        <p:nvSpPr>
          <p:cNvPr id="10" name="Shape 8"/>
          <p:cNvSpPr/>
          <p:nvPr/>
        </p:nvSpPr>
        <p:spPr>
          <a:xfrm>
            <a:off x="4343400" y="1737360"/>
            <a:ext cx="3520440" cy="1600200"/>
          </a:xfrm>
          <a:prstGeom prst="roundRect">
            <a:avLst>
              <a:gd name="adj" fmla="val 5143"/>
            </a:avLst>
          </a:prstGeom>
          <a:solidFill>
            <a:srgbClr val="272A38"/>
          </a:solidFill>
          <a:ln w="12700">
            <a:solidFill>
              <a:srgbClr val="272A38"/>
            </a:solidFill>
            <a:prstDash val="solid"/>
          </a:ln>
        </p:spPr>
        <p:txBody>
          <a:bodyPr/>
          <a:p/>
        </p:txBody>
      </p:sp>
      <p:sp>
        <p:nvSpPr>
          <p:cNvPr id="11" name="Shape 9"/>
          <p:cNvSpPr/>
          <p:nvPr/>
        </p:nvSpPr>
        <p:spPr>
          <a:xfrm>
            <a:off x="4526280" y="1920240"/>
            <a:ext cx="420624" cy="420624"/>
          </a:xfrm>
          <a:prstGeom prst="ellipse">
            <a:avLst/>
          </a:prstGeom>
          <a:solidFill>
            <a:srgbClr val="FFC24B"/>
          </a:solidFill>
          <a:ln/>
        </p:spPr>
        <p:txBody>
          <a:bodyPr/>
          <a:p/>
        </p:txBody>
      </p:sp>
      <p:sp>
        <p:nvSpPr>
          <p:cNvPr id="12" name="Text 10"/>
          <p:cNvSpPr/>
          <p:nvPr/>
        </p:nvSpPr>
        <p:spPr>
          <a:xfrm>
            <a:off x="4526280" y="1920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5120640" y="1874520"/>
            <a:ext cx="2606040" cy="13258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Împărțirea sălilor între fizioterapeuți</a:t>
            </a:r>
            <a:endParaRPr lang="en-US" sz="1700" dirty="0"/>
          </a:p>
        </p:txBody>
      </p:sp>
      <p:sp>
        <p:nvSpPr>
          <p:cNvPr id="14" name="Shape 12"/>
          <p:cNvSpPr/>
          <p:nvPr/>
        </p:nvSpPr>
        <p:spPr>
          <a:xfrm>
            <a:off x="8092440" y="1737360"/>
            <a:ext cx="3520440" cy="1600200"/>
          </a:xfrm>
          <a:prstGeom prst="roundRect">
            <a:avLst>
              <a:gd name="adj" fmla="val 5143"/>
            </a:avLst>
          </a:prstGeom>
          <a:solidFill>
            <a:srgbClr val="272A38"/>
          </a:solidFill>
          <a:ln w="12700">
            <a:solidFill>
              <a:srgbClr val="272A38"/>
            </a:solidFill>
            <a:prstDash val="solid"/>
          </a:ln>
        </p:spPr>
        <p:txBody>
          <a:bodyPr/>
          <a:p/>
        </p:txBody>
      </p:sp>
      <p:sp>
        <p:nvSpPr>
          <p:cNvPr id="15" name="Shape 13"/>
          <p:cNvSpPr/>
          <p:nvPr/>
        </p:nvSpPr>
        <p:spPr>
          <a:xfrm>
            <a:off x="8275320" y="1920240"/>
            <a:ext cx="420624" cy="420624"/>
          </a:xfrm>
          <a:prstGeom prst="ellipse">
            <a:avLst/>
          </a:prstGeom>
          <a:solidFill>
            <a:srgbClr val="FFC24B"/>
          </a:solidFill>
          <a:ln/>
        </p:spPr>
        <p:txBody>
          <a:bodyPr/>
          <a:p/>
        </p:txBody>
      </p:sp>
      <p:sp>
        <p:nvSpPr>
          <p:cNvPr id="16" name="Text 14"/>
          <p:cNvSpPr/>
          <p:nvPr/>
        </p:nvSpPr>
        <p:spPr>
          <a:xfrm>
            <a:off x="8275320" y="1920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8869680" y="1874520"/>
            <a:ext cx="2606040" cy="13258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Discuția cu un fizioterapeut nemulțumit de program</a:t>
            </a:r>
            <a:endParaRPr lang="en-US" sz="1700" dirty="0"/>
          </a:p>
        </p:txBody>
      </p:sp>
      <p:sp>
        <p:nvSpPr>
          <p:cNvPr id="18" name="Shape 16"/>
          <p:cNvSpPr/>
          <p:nvPr/>
        </p:nvSpPr>
        <p:spPr>
          <a:xfrm>
            <a:off x="594360" y="3520440"/>
            <a:ext cx="3520440" cy="1600200"/>
          </a:xfrm>
          <a:prstGeom prst="roundRect">
            <a:avLst>
              <a:gd name="adj" fmla="val 5143"/>
            </a:avLst>
          </a:prstGeom>
          <a:solidFill>
            <a:srgbClr val="272A38"/>
          </a:solidFill>
          <a:ln w="12700">
            <a:solidFill>
              <a:srgbClr val="272A38"/>
            </a:solidFill>
            <a:prstDash val="solid"/>
          </a:ln>
        </p:spPr>
        <p:txBody>
          <a:bodyPr/>
          <a:p/>
        </p:txBody>
      </p:sp>
      <p:sp>
        <p:nvSpPr>
          <p:cNvPr id="19" name="Shape 17"/>
          <p:cNvSpPr/>
          <p:nvPr/>
        </p:nvSpPr>
        <p:spPr>
          <a:xfrm>
            <a:off x="777240" y="3703320"/>
            <a:ext cx="420624" cy="420624"/>
          </a:xfrm>
          <a:prstGeom prst="ellipse">
            <a:avLst/>
          </a:prstGeom>
          <a:solidFill>
            <a:srgbClr val="FFC24B"/>
          </a:solidFill>
          <a:ln/>
        </p:spPr>
        <p:txBody>
          <a:bodyPr/>
          <a:p/>
        </p:txBody>
      </p:sp>
      <p:sp>
        <p:nvSpPr>
          <p:cNvPr id="20" name="Text 18"/>
          <p:cNvSpPr/>
          <p:nvPr/>
        </p:nvSpPr>
        <p:spPr>
          <a:xfrm>
            <a:off x="777240" y="37033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371600" y="3657600"/>
            <a:ext cx="2606040" cy="13258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Numărarea lunară a abandonurilor</a:t>
            </a:r>
            <a:endParaRPr lang="en-US" sz="1700" dirty="0"/>
          </a:p>
        </p:txBody>
      </p:sp>
      <p:sp>
        <p:nvSpPr>
          <p:cNvPr id="22" name="Shape 20"/>
          <p:cNvSpPr/>
          <p:nvPr/>
        </p:nvSpPr>
        <p:spPr>
          <a:xfrm>
            <a:off x="4343400" y="3520440"/>
            <a:ext cx="3520440" cy="1600200"/>
          </a:xfrm>
          <a:prstGeom prst="roundRect">
            <a:avLst>
              <a:gd name="adj" fmla="val 5143"/>
            </a:avLst>
          </a:prstGeom>
          <a:solidFill>
            <a:srgbClr val="272A38"/>
          </a:solidFill>
          <a:ln w="12700">
            <a:solidFill>
              <a:srgbClr val="272A38"/>
            </a:solidFill>
            <a:prstDash val="solid"/>
          </a:ln>
        </p:spPr>
        <p:txBody>
          <a:bodyPr/>
          <a:p/>
        </p:txBody>
      </p:sp>
      <p:sp>
        <p:nvSpPr>
          <p:cNvPr id="23" name="Shape 21"/>
          <p:cNvSpPr/>
          <p:nvPr/>
        </p:nvSpPr>
        <p:spPr>
          <a:xfrm>
            <a:off x="4526280" y="3703320"/>
            <a:ext cx="420624" cy="420624"/>
          </a:xfrm>
          <a:prstGeom prst="ellipse">
            <a:avLst/>
          </a:prstGeom>
          <a:solidFill>
            <a:srgbClr val="FFC24B"/>
          </a:solidFill>
          <a:ln/>
        </p:spPr>
        <p:txBody>
          <a:bodyPr/>
          <a:p/>
        </p:txBody>
      </p:sp>
      <p:sp>
        <p:nvSpPr>
          <p:cNvPr id="24" name="Text 22"/>
          <p:cNvSpPr/>
          <p:nvPr/>
        </p:nvSpPr>
        <p:spPr>
          <a:xfrm>
            <a:off x="4526280" y="37033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5" name="Text 23"/>
          <p:cNvSpPr/>
          <p:nvPr/>
        </p:nvSpPr>
        <p:spPr>
          <a:xfrm>
            <a:off x="5120640" y="3657600"/>
            <a:ext cx="2606040" cy="13258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Alegerea pacienților care intră după-amiaza</a:t>
            </a:r>
            <a:endParaRPr lang="en-US" sz="1700" dirty="0"/>
          </a:p>
        </p:txBody>
      </p:sp>
      <p:sp>
        <p:nvSpPr>
          <p:cNvPr id="26" name="Shape 24"/>
          <p:cNvSpPr/>
          <p:nvPr/>
        </p:nvSpPr>
        <p:spPr>
          <a:xfrm>
            <a:off x="8092440" y="3520440"/>
            <a:ext cx="3520440" cy="1600200"/>
          </a:xfrm>
          <a:prstGeom prst="roundRect">
            <a:avLst>
              <a:gd name="adj" fmla="val 5143"/>
            </a:avLst>
          </a:prstGeom>
          <a:solidFill>
            <a:srgbClr val="272A38"/>
          </a:solidFill>
          <a:ln w="12700">
            <a:solidFill>
              <a:srgbClr val="272A38"/>
            </a:solidFill>
            <a:prstDash val="solid"/>
          </a:ln>
        </p:spPr>
        <p:txBody>
          <a:bodyPr/>
          <a:p/>
        </p:txBody>
      </p:sp>
      <p:sp>
        <p:nvSpPr>
          <p:cNvPr id="27" name="Shape 25"/>
          <p:cNvSpPr/>
          <p:nvPr/>
        </p:nvSpPr>
        <p:spPr>
          <a:xfrm>
            <a:off x="8275320" y="3703320"/>
            <a:ext cx="420624" cy="420624"/>
          </a:xfrm>
          <a:prstGeom prst="ellipse">
            <a:avLst/>
          </a:prstGeom>
          <a:solidFill>
            <a:srgbClr val="FFC24B"/>
          </a:solidFill>
          <a:ln/>
        </p:spPr>
        <p:txBody>
          <a:bodyPr/>
          <a:p/>
        </p:txBody>
      </p:sp>
      <p:sp>
        <p:nvSpPr>
          <p:cNvPr id="28" name="Text 26"/>
          <p:cNvSpPr/>
          <p:nvPr/>
        </p:nvSpPr>
        <p:spPr>
          <a:xfrm>
            <a:off x="8275320" y="37033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6</a:t>
            </a:r>
            <a:endParaRPr lang="en-US" sz="1400" dirty="0"/>
          </a:p>
        </p:txBody>
      </p:sp>
      <p:sp>
        <p:nvSpPr>
          <p:cNvPr id="29" name="Text 27"/>
          <p:cNvSpPr/>
          <p:nvPr/>
        </p:nvSpPr>
        <p:spPr>
          <a:xfrm>
            <a:off x="8869680" y="3657600"/>
            <a:ext cx="2606040" cy="13258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Compararea timpului de așteptare cu ținta</a:t>
            </a:r>
            <a:endParaRPr lang="en-US" sz="1700" dirty="0"/>
          </a:p>
        </p:txBody>
      </p:sp>
      <p:sp>
        <p:nvSpPr>
          <p:cNvPr id="30" name="Text 28"/>
          <p:cNvSpPr/>
          <p:nvPr/>
        </p:nvSpPr>
        <p:spPr>
          <a:xfrm>
            <a:off x="594360" y="5486400"/>
            <a:ext cx="10972800" cy="457200"/>
          </a:xfrm>
          <a:prstGeom prst="rect">
            <a:avLst/>
          </a:prstGeom>
          <a:noFill/>
          <a:ln/>
        </p:spPr>
        <p:txBody>
          <a:bodyPr wrap="square" lIns="0" tIns="0" rIns="0" bIns="0" rtlCol="0" anchor="t"/>
          <a:lstStyle/>
          <a:p>
            <a:pPr algn="ctr" indent="0" marL="0">
              <a:buNone/>
            </a:pPr>
            <a:r>
              <a:rPr lang="en-US" sz="2000" b="1" dirty="0">
                <a:solidFill>
                  <a:srgbClr val="27D3BE"/>
                </a:solidFill>
                <a:latin typeface="Palatino Linotype" pitchFamily="34" charset="0"/>
                <a:ea typeface="Palatino Linotype" pitchFamily="34" charset="-122"/>
                <a:cs typeface="Palatino Linotype" pitchFamily="34" charset="-120"/>
              </a:rPr>
              <a:t>Planificare · Organizare · Conducere · Control</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DOUĂ VOTURI</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DOUĂ SITUAȚII</a:t>
            </a:r>
            <a:endParaRPr lang="en-US" sz="1300" dirty="0"/>
          </a:p>
        </p:txBody>
      </p:sp>
      <p:sp>
        <p:nvSpPr>
          <p:cNvPr id="5" name="Text 3"/>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funcție a managementului este aceasta?</a:t>
            </a:r>
            <a:endParaRPr lang="en-US" sz="3000" dirty="0"/>
          </a:p>
        </p:txBody>
      </p:sp>
      <p:sp>
        <p:nvSpPr>
          <p:cNvPr id="6" name="Shape 4"/>
          <p:cNvSpPr/>
          <p:nvPr/>
        </p:nvSpPr>
        <p:spPr>
          <a:xfrm>
            <a:off x="594360" y="1828800"/>
            <a:ext cx="10972800" cy="1188720"/>
          </a:xfrm>
          <a:prstGeom prst="roundRect">
            <a:avLst>
              <a:gd name="adj" fmla="val 6923"/>
            </a:avLst>
          </a:prstGeom>
          <a:solidFill>
            <a:srgbClr val="1D1F2B"/>
          </a:solidFill>
          <a:ln w="12700">
            <a:solidFill>
              <a:srgbClr val="1D1F2B"/>
            </a:solidFill>
            <a:prstDash val="solid"/>
          </a:ln>
        </p:spPr>
        <p:txBody>
          <a:bodyPr/>
          <a:p/>
        </p:txBody>
      </p:sp>
      <p:sp>
        <p:nvSpPr>
          <p:cNvPr id="7" name="Shape 5"/>
          <p:cNvSpPr/>
          <p:nvPr/>
        </p:nvSpPr>
        <p:spPr>
          <a:xfrm>
            <a:off x="868680" y="2157984"/>
            <a:ext cx="530352" cy="530352"/>
          </a:xfrm>
          <a:prstGeom prst="ellipse">
            <a:avLst/>
          </a:prstGeom>
          <a:solidFill>
            <a:srgbClr val="FF4757"/>
          </a:solidFill>
          <a:ln/>
        </p:spPr>
        <p:txBody>
          <a:bodyPr/>
          <a:p/>
        </p:txBody>
      </p:sp>
      <p:sp>
        <p:nvSpPr>
          <p:cNvPr id="8" name="Text 6"/>
          <p:cNvSpPr/>
          <p:nvPr/>
        </p:nvSpPr>
        <p:spPr>
          <a:xfrm>
            <a:off x="868680" y="2157984"/>
            <a:ext cx="530352" cy="530352"/>
          </a:xfrm>
          <a:prstGeom prst="rect">
            <a:avLst/>
          </a:prstGeom>
          <a:noFill/>
          <a:ln/>
        </p:spPr>
        <p:txBody>
          <a:bodyPr wrap="square" lIns="0" tIns="0" rIns="0" bIns="0" rtlCol="0" anchor="ctr"/>
          <a:lstStyle/>
          <a:p>
            <a:pPr algn="ctr" indent="0" marL="0">
              <a:buNone/>
            </a:pPr>
            <a:r>
              <a:rPr lang="en-US" sz="1700" b="1" dirty="0">
                <a:solidFill>
                  <a:srgbClr val="2E060B"/>
                </a:solidFill>
                <a:latin typeface="Palatino Linotype" pitchFamily="34" charset="0"/>
                <a:ea typeface="Palatino Linotype" pitchFamily="34" charset="-122"/>
                <a:cs typeface="Palatino Linotype" pitchFamily="34" charset="-120"/>
              </a:rPr>
              <a:t>3</a:t>
            </a:r>
            <a:endParaRPr lang="en-US" sz="1700" dirty="0"/>
          </a:p>
        </p:txBody>
      </p:sp>
      <p:sp>
        <p:nvSpPr>
          <p:cNvPr id="9" name="Text 7"/>
          <p:cNvSpPr/>
          <p:nvPr/>
        </p:nvSpPr>
        <p:spPr>
          <a:xfrm>
            <a:off x="1645920" y="1828800"/>
            <a:ext cx="9692640" cy="1188720"/>
          </a:xfrm>
          <a:prstGeom prst="rect">
            <a:avLst/>
          </a:prstGeom>
          <a:noFill/>
          <a:ln/>
        </p:spPr>
        <p:txBody>
          <a:bodyPr wrap="square" lIns="0" tIns="0" rIns="0" bIns="0" rtlCol="0" anchor="ctr"/>
          <a:lstStyle/>
          <a:p>
            <a:pPr indent="0" marL="0">
              <a:buNone/>
            </a:pPr>
            <a:r>
              <a:rPr lang="en-US" sz="2300" b="1" dirty="0">
                <a:solidFill>
                  <a:srgbClr val="FFFFFF"/>
                </a:solidFill>
                <a:latin typeface="Palatino Linotype" pitchFamily="34" charset="0"/>
                <a:ea typeface="Palatino Linotype" pitchFamily="34" charset="-122"/>
                <a:cs typeface="Palatino Linotype" pitchFamily="34" charset="-120"/>
              </a:rPr>
              <a:t>Discuția cu un fizioterapeut nemulțumit de program</a:t>
            </a:r>
            <a:endParaRPr lang="en-US" sz="2300" dirty="0"/>
          </a:p>
        </p:txBody>
      </p:sp>
      <p:sp>
        <p:nvSpPr>
          <p:cNvPr id="10" name="Shape 8"/>
          <p:cNvSpPr/>
          <p:nvPr/>
        </p:nvSpPr>
        <p:spPr>
          <a:xfrm>
            <a:off x="594360" y="3246120"/>
            <a:ext cx="10972800" cy="1188720"/>
          </a:xfrm>
          <a:prstGeom prst="roundRect">
            <a:avLst>
              <a:gd name="adj" fmla="val 6923"/>
            </a:avLst>
          </a:prstGeom>
          <a:solidFill>
            <a:srgbClr val="1D1F2B"/>
          </a:solidFill>
          <a:ln w="12700">
            <a:solidFill>
              <a:srgbClr val="1D1F2B"/>
            </a:solidFill>
            <a:prstDash val="solid"/>
          </a:ln>
        </p:spPr>
        <p:txBody>
          <a:bodyPr/>
          <a:p/>
        </p:txBody>
      </p:sp>
      <p:sp>
        <p:nvSpPr>
          <p:cNvPr id="11" name="Shape 9"/>
          <p:cNvSpPr/>
          <p:nvPr/>
        </p:nvSpPr>
        <p:spPr>
          <a:xfrm>
            <a:off x="868680" y="3575304"/>
            <a:ext cx="530352" cy="530352"/>
          </a:xfrm>
          <a:prstGeom prst="ellipse">
            <a:avLst/>
          </a:prstGeom>
          <a:solidFill>
            <a:srgbClr val="FF4757"/>
          </a:solidFill>
          <a:ln/>
        </p:spPr>
        <p:txBody>
          <a:bodyPr/>
          <a:p/>
        </p:txBody>
      </p:sp>
      <p:sp>
        <p:nvSpPr>
          <p:cNvPr id="12" name="Text 10"/>
          <p:cNvSpPr/>
          <p:nvPr/>
        </p:nvSpPr>
        <p:spPr>
          <a:xfrm>
            <a:off x="868680" y="3575304"/>
            <a:ext cx="530352" cy="530352"/>
          </a:xfrm>
          <a:prstGeom prst="rect">
            <a:avLst/>
          </a:prstGeom>
          <a:noFill/>
          <a:ln/>
        </p:spPr>
        <p:txBody>
          <a:bodyPr wrap="square" lIns="0" tIns="0" rIns="0" bIns="0" rtlCol="0" anchor="ctr"/>
          <a:lstStyle/>
          <a:p>
            <a:pPr algn="ctr" indent="0" marL="0">
              <a:buNone/>
            </a:pPr>
            <a:r>
              <a:rPr lang="en-US" sz="1700" b="1" dirty="0">
                <a:solidFill>
                  <a:srgbClr val="2E060B"/>
                </a:solidFill>
                <a:latin typeface="Palatino Linotype" pitchFamily="34" charset="0"/>
                <a:ea typeface="Palatino Linotype" pitchFamily="34" charset="-122"/>
                <a:cs typeface="Palatino Linotype" pitchFamily="34" charset="-120"/>
              </a:rPr>
              <a:t>4</a:t>
            </a:r>
            <a:endParaRPr lang="en-US" sz="1700" dirty="0"/>
          </a:p>
        </p:txBody>
      </p:sp>
      <p:sp>
        <p:nvSpPr>
          <p:cNvPr id="13" name="Text 11"/>
          <p:cNvSpPr/>
          <p:nvPr/>
        </p:nvSpPr>
        <p:spPr>
          <a:xfrm>
            <a:off x="1645920" y="3246120"/>
            <a:ext cx="9692640" cy="1188720"/>
          </a:xfrm>
          <a:prstGeom prst="rect">
            <a:avLst/>
          </a:prstGeom>
          <a:noFill/>
          <a:ln/>
        </p:spPr>
        <p:txBody>
          <a:bodyPr wrap="square" lIns="0" tIns="0" rIns="0" bIns="0" rtlCol="0" anchor="ctr"/>
          <a:lstStyle/>
          <a:p>
            <a:pPr indent="0" marL="0">
              <a:buNone/>
            </a:pPr>
            <a:r>
              <a:rPr lang="en-US" sz="2300" b="1" dirty="0">
                <a:solidFill>
                  <a:srgbClr val="FFFFFF"/>
                </a:solidFill>
                <a:latin typeface="Palatino Linotype" pitchFamily="34" charset="0"/>
                <a:ea typeface="Palatino Linotype" pitchFamily="34" charset="-122"/>
                <a:cs typeface="Palatino Linotype" pitchFamily="34" charset="-120"/>
              </a:rPr>
              <a:t>Numărarea lunară a abandonurilor</a:t>
            </a:r>
            <a:endParaRPr lang="en-US" sz="2300" dirty="0"/>
          </a:p>
        </p:txBody>
      </p:sp>
      <p:sp>
        <p:nvSpPr>
          <p:cNvPr id="14" name="Shape 12"/>
          <p:cNvSpPr/>
          <p:nvPr/>
        </p:nvSpPr>
        <p:spPr>
          <a:xfrm>
            <a:off x="594360" y="4937760"/>
            <a:ext cx="2606040" cy="566928"/>
          </a:xfrm>
          <a:prstGeom prst="roundRect">
            <a:avLst>
              <a:gd name="adj" fmla="val 14516"/>
            </a:avLst>
          </a:prstGeom>
          <a:solidFill>
            <a:srgbClr val="272A38"/>
          </a:solidFill>
          <a:ln w="12700">
            <a:solidFill>
              <a:srgbClr val="272A38"/>
            </a:solidFill>
            <a:prstDash val="solid"/>
          </a:ln>
        </p:spPr>
        <p:txBody>
          <a:bodyPr/>
          <a:p/>
        </p:txBody>
      </p:sp>
      <p:sp>
        <p:nvSpPr>
          <p:cNvPr id="15" name="Shape 13"/>
          <p:cNvSpPr/>
          <p:nvPr/>
        </p:nvSpPr>
        <p:spPr>
          <a:xfrm>
            <a:off x="704088" y="5010912"/>
            <a:ext cx="420624" cy="420624"/>
          </a:xfrm>
          <a:prstGeom prst="ellipse">
            <a:avLst/>
          </a:prstGeom>
          <a:solidFill>
            <a:srgbClr val="FFC24B"/>
          </a:solidFill>
          <a:ln/>
        </p:spPr>
        <p:txBody>
          <a:bodyPr/>
          <a:p/>
        </p:txBody>
      </p:sp>
      <p:sp>
        <p:nvSpPr>
          <p:cNvPr id="16" name="Text 14"/>
          <p:cNvSpPr/>
          <p:nvPr/>
        </p:nvSpPr>
        <p:spPr>
          <a:xfrm>
            <a:off x="704088" y="50109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7" name="Text 15"/>
          <p:cNvSpPr/>
          <p:nvPr/>
        </p:nvSpPr>
        <p:spPr>
          <a:xfrm>
            <a:off x="1234440" y="4937760"/>
            <a:ext cx="1874520" cy="56692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Planificare</a:t>
            </a:r>
            <a:endParaRPr lang="en-US" sz="1600" dirty="0"/>
          </a:p>
        </p:txBody>
      </p:sp>
      <p:sp>
        <p:nvSpPr>
          <p:cNvPr id="18" name="Shape 16"/>
          <p:cNvSpPr/>
          <p:nvPr/>
        </p:nvSpPr>
        <p:spPr>
          <a:xfrm>
            <a:off x="3383280" y="4937760"/>
            <a:ext cx="2606040" cy="566928"/>
          </a:xfrm>
          <a:prstGeom prst="roundRect">
            <a:avLst>
              <a:gd name="adj" fmla="val 14516"/>
            </a:avLst>
          </a:prstGeom>
          <a:solidFill>
            <a:srgbClr val="272A38"/>
          </a:solidFill>
          <a:ln w="12700">
            <a:solidFill>
              <a:srgbClr val="272A38"/>
            </a:solidFill>
            <a:prstDash val="solid"/>
          </a:ln>
        </p:spPr>
        <p:txBody>
          <a:bodyPr/>
          <a:p/>
        </p:txBody>
      </p:sp>
      <p:sp>
        <p:nvSpPr>
          <p:cNvPr id="19" name="Shape 17"/>
          <p:cNvSpPr/>
          <p:nvPr/>
        </p:nvSpPr>
        <p:spPr>
          <a:xfrm>
            <a:off x="3493008" y="5010912"/>
            <a:ext cx="420624" cy="420624"/>
          </a:xfrm>
          <a:prstGeom prst="ellipse">
            <a:avLst/>
          </a:prstGeom>
          <a:solidFill>
            <a:srgbClr val="FFC24B"/>
          </a:solidFill>
          <a:ln/>
        </p:spPr>
        <p:txBody>
          <a:bodyPr/>
          <a:p/>
        </p:txBody>
      </p:sp>
      <p:sp>
        <p:nvSpPr>
          <p:cNvPr id="20" name="Text 18"/>
          <p:cNvSpPr/>
          <p:nvPr/>
        </p:nvSpPr>
        <p:spPr>
          <a:xfrm>
            <a:off x="3493008" y="50109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21" name="Text 19"/>
          <p:cNvSpPr/>
          <p:nvPr/>
        </p:nvSpPr>
        <p:spPr>
          <a:xfrm>
            <a:off x="4023360" y="4937760"/>
            <a:ext cx="1874520" cy="56692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Organizare</a:t>
            </a:r>
            <a:endParaRPr lang="en-US" sz="1600" dirty="0"/>
          </a:p>
        </p:txBody>
      </p:sp>
      <p:sp>
        <p:nvSpPr>
          <p:cNvPr id="22" name="Shape 20"/>
          <p:cNvSpPr/>
          <p:nvPr/>
        </p:nvSpPr>
        <p:spPr>
          <a:xfrm>
            <a:off x="6172200" y="4937760"/>
            <a:ext cx="2606040" cy="566928"/>
          </a:xfrm>
          <a:prstGeom prst="roundRect">
            <a:avLst>
              <a:gd name="adj" fmla="val 14516"/>
            </a:avLst>
          </a:prstGeom>
          <a:solidFill>
            <a:srgbClr val="272A38"/>
          </a:solidFill>
          <a:ln w="12700">
            <a:solidFill>
              <a:srgbClr val="272A38"/>
            </a:solidFill>
            <a:prstDash val="solid"/>
          </a:ln>
        </p:spPr>
        <p:txBody>
          <a:bodyPr/>
          <a:p/>
        </p:txBody>
      </p:sp>
      <p:sp>
        <p:nvSpPr>
          <p:cNvPr id="23" name="Shape 21"/>
          <p:cNvSpPr/>
          <p:nvPr/>
        </p:nvSpPr>
        <p:spPr>
          <a:xfrm>
            <a:off x="6281928" y="5010912"/>
            <a:ext cx="420624" cy="420624"/>
          </a:xfrm>
          <a:prstGeom prst="ellipse">
            <a:avLst/>
          </a:prstGeom>
          <a:solidFill>
            <a:srgbClr val="FFC24B"/>
          </a:solidFill>
          <a:ln/>
        </p:spPr>
        <p:txBody>
          <a:bodyPr/>
          <a:p/>
        </p:txBody>
      </p:sp>
      <p:sp>
        <p:nvSpPr>
          <p:cNvPr id="24" name="Text 22"/>
          <p:cNvSpPr/>
          <p:nvPr/>
        </p:nvSpPr>
        <p:spPr>
          <a:xfrm>
            <a:off x="6281928" y="50109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25" name="Text 23"/>
          <p:cNvSpPr/>
          <p:nvPr/>
        </p:nvSpPr>
        <p:spPr>
          <a:xfrm>
            <a:off x="6812280" y="4937760"/>
            <a:ext cx="1874520" cy="56692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Conducere</a:t>
            </a:r>
            <a:endParaRPr lang="en-US" sz="1600" dirty="0"/>
          </a:p>
        </p:txBody>
      </p:sp>
      <p:sp>
        <p:nvSpPr>
          <p:cNvPr id="26" name="Shape 24"/>
          <p:cNvSpPr/>
          <p:nvPr/>
        </p:nvSpPr>
        <p:spPr>
          <a:xfrm>
            <a:off x="8961120" y="4937760"/>
            <a:ext cx="2606040" cy="566928"/>
          </a:xfrm>
          <a:prstGeom prst="roundRect">
            <a:avLst>
              <a:gd name="adj" fmla="val 14516"/>
            </a:avLst>
          </a:prstGeom>
          <a:solidFill>
            <a:srgbClr val="272A38"/>
          </a:solidFill>
          <a:ln w="12700">
            <a:solidFill>
              <a:srgbClr val="272A38"/>
            </a:solidFill>
            <a:prstDash val="solid"/>
          </a:ln>
        </p:spPr>
        <p:txBody>
          <a:bodyPr/>
          <a:p/>
        </p:txBody>
      </p:sp>
      <p:sp>
        <p:nvSpPr>
          <p:cNvPr id="27" name="Shape 25"/>
          <p:cNvSpPr/>
          <p:nvPr/>
        </p:nvSpPr>
        <p:spPr>
          <a:xfrm>
            <a:off x="9070848" y="5010912"/>
            <a:ext cx="420624" cy="420624"/>
          </a:xfrm>
          <a:prstGeom prst="ellipse">
            <a:avLst/>
          </a:prstGeom>
          <a:solidFill>
            <a:srgbClr val="FFC24B"/>
          </a:solidFill>
          <a:ln/>
        </p:spPr>
        <p:txBody>
          <a:bodyPr/>
          <a:p/>
        </p:txBody>
      </p:sp>
      <p:sp>
        <p:nvSpPr>
          <p:cNvPr id="28" name="Text 26"/>
          <p:cNvSpPr/>
          <p:nvPr/>
        </p:nvSpPr>
        <p:spPr>
          <a:xfrm>
            <a:off x="9070848" y="50109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9" name="Text 27"/>
          <p:cNvSpPr/>
          <p:nvPr/>
        </p:nvSpPr>
        <p:spPr>
          <a:xfrm>
            <a:off x="9601200" y="4937760"/>
            <a:ext cx="1874520" cy="56692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Control</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CONTROLUL REDESCHIDE PLANIFICAREA</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 cerc, nu patru etape</a:t>
            </a:r>
            <a:endParaRPr lang="en-US" sz="3000" dirty="0"/>
          </a:p>
        </p:txBody>
      </p:sp>
      <p:sp>
        <p:nvSpPr>
          <p:cNvPr id="4" name="Shape 2"/>
          <p:cNvSpPr/>
          <p:nvPr/>
        </p:nvSpPr>
        <p:spPr>
          <a:xfrm>
            <a:off x="1417320" y="2103120"/>
            <a:ext cx="3566160" cy="2651760"/>
          </a:xfrm>
          <a:prstGeom prst="ellipse">
            <a:avLst/>
          </a:prstGeom>
          <a:solidFill>
            <a:srgbClr val="F6F5F2"/>
          </a:solidFill>
          <a:ln w="25400">
            <a:solidFill>
              <a:srgbClr val="C9C6BE"/>
            </a:solidFill>
            <a:prstDash val="dash"/>
          </a:ln>
        </p:spPr>
        <p:txBody>
          <a:bodyPr/>
          <a:p/>
        </p:txBody>
      </p:sp>
      <p:sp>
        <p:nvSpPr>
          <p:cNvPr id="5" name="Shape 3"/>
          <p:cNvSpPr/>
          <p:nvPr/>
        </p:nvSpPr>
        <p:spPr>
          <a:xfrm>
            <a:off x="2377440" y="1783080"/>
            <a:ext cx="1828800" cy="329184"/>
          </a:xfrm>
          <a:prstGeom prst="roundRect">
            <a:avLst>
              <a:gd name="adj" fmla="val 50000"/>
            </a:avLst>
          </a:prstGeom>
          <a:solidFill>
            <a:srgbClr val="B02532"/>
          </a:solidFill>
          <a:ln w="12700">
            <a:solidFill>
              <a:srgbClr val="B02532"/>
            </a:solidFill>
            <a:prstDash val="solid"/>
          </a:ln>
        </p:spPr>
        <p:txBody>
          <a:bodyPr/>
          <a:p/>
        </p:txBody>
      </p:sp>
      <p:sp>
        <p:nvSpPr>
          <p:cNvPr id="6" name="Text 4"/>
          <p:cNvSpPr/>
          <p:nvPr/>
        </p:nvSpPr>
        <p:spPr>
          <a:xfrm>
            <a:off x="2377440" y="1783080"/>
            <a:ext cx="1828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Planificare</a:t>
            </a:r>
            <a:endParaRPr lang="en-US" sz="1300" dirty="0"/>
          </a:p>
        </p:txBody>
      </p:sp>
      <p:sp>
        <p:nvSpPr>
          <p:cNvPr id="7" name="Shape 5"/>
          <p:cNvSpPr/>
          <p:nvPr/>
        </p:nvSpPr>
        <p:spPr>
          <a:xfrm>
            <a:off x="3977640" y="2971800"/>
            <a:ext cx="1828800" cy="329184"/>
          </a:xfrm>
          <a:prstGeom prst="roundRect">
            <a:avLst>
              <a:gd name="adj" fmla="val 50000"/>
            </a:avLst>
          </a:prstGeom>
          <a:solidFill>
            <a:srgbClr val="8A6100"/>
          </a:solidFill>
          <a:ln w="12700">
            <a:solidFill>
              <a:srgbClr val="8A6100"/>
            </a:solidFill>
            <a:prstDash val="solid"/>
          </a:ln>
        </p:spPr>
        <p:txBody>
          <a:bodyPr/>
          <a:p/>
        </p:txBody>
      </p:sp>
      <p:sp>
        <p:nvSpPr>
          <p:cNvPr id="8" name="Text 6"/>
          <p:cNvSpPr/>
          <p:nvPr/>
        </p:nvSpPr>
        <p:spPr>
          <a:xfrm>
            <a:off x="3977640" y="2971800"/>
            <a:ext cx="1828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Organizare</a:t>
            </a:r>
            <a:endParaRPr lang="en-US" sz="1300" dirty="0"/>
          </a:p>
        </p:txBody>
      </p:sp>
      <p:sp>
        <p:nvSpPr>
          <p:cNvPr id="9" name="Shape 7"/>
          <p:cNvSpPr/>
          <p:nvPr/>
        </p:nvSpPr>
        <p:spPr>
          <a:xfrm>
            <a:off x="2377440" y="4160520"/>
            <a:ext cx="1828800" cy="329184"/>
          </a:xfrm>
          <a:prstGeom prst="roundRect">
            <a:avLst>
              <a:gd name="adj" fmla="val 50000"/>
            </a:avLst>
          </a:prstGeom>
          <a:solidFill>
            <a:srgbClr val="0E7C6B"/>
          </a:solidFill>
          <a:ln w="12700">
            <a:solidFill>
              <a:srgbClr val="0E7C6B"/>
            </a:solidFill>
            <a:prstDash val="solid"/>
          </a:ln>
        </p:spPr>
        <p:txBody>
          <a:bodyPr/>
          <a:p/>
        </p:txBody>
      </p:sp>
      <p:sp>
        <p:nvSpPr>
          <p:cNvPr id="10" name="Text 8"/>
          <p:cNvSpPr/>
          <p:nvPr/>
        </p:nvSpPr>
        <p:spPr>
          <a:xfrm>
            <a:off x="2377440" y="4160520"/>
            <a:ext cx="1828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Conducere</a:t>
            </a:r>
            <a:endParaRPr lang="en-US" sz="1300" dirty="0"/>
          </a:p>
        </p:txBody>
      </p:sp>
      <p:sp>
        <p:nvSpPr>
          <p:cNvPr id="11" name="Shape 9"/>
          <p:cNvSpPr/>
          <p:nvPr/>
        </p:nvSpPr>
        <p:spPr>
          <a:xfrm>
            <a:off x="777240" y="2971800"/>
            <a:ext cx="1828800" cy="329184"/>
          </a:xfrm>
          <a:prstGeom prst="roundRect">
            <a:avLst>
              <a:gd name="adj" fmla="val 50000"/>
            </a:avLst>
          </a:prstGeom>
          <a:solidFill>
            <a:srgbClr val="4A2D8C"/>
          </a:solidFill>
          <a:ln w="12700">
            <a:solidFill>
              <a:srgbClr val="4A2D8C"/>
            </a:solidFill>
            <a:prstDash val="solid"/>
          </a:ln>
        </p:spPr>
        <p:txBody>
          <a:bodyPr/>
          <a:p/>
        </p:txBody>
      </p:sp>
      <p:sp>
        <p:nvSpPr>
          <p:cNvPr id="12" name="Text 10"/>
          <p:cNvSpPr/>
          <p:nvPr/>
        </p:nvSpPr>
        <p:spPr>
          <a:xfrm>
            <a:off x="777240" y="2971800"/>
            <a:ext cx="1828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Control</a:t>
            </a:r>
            <a:endParaRPr lang="en-US" sz="1300" dirty="0"/>
          </a:p>
        </p:txBody>
      </p:sp>
      <p:sp>
        <p:nvSpPr>
          <p:cNvPr id="13" name="Text 11"/>
          <p:cNvSpPr/>
          <p:nvPr/>
        </p:nvSpPr>
        <p:spPr>
          <a:xfrm>
            <a:off x="594360" y="4846320"/>
            <a:ext cx="5120640" cy="128016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Dacă după trei luni așteptarea nu a scăzut, D. nu repetă planul: caută motivul în cifre. Mai puține ședințe decât era posibil, mai multe abandonuri, mai mulți pacienți trimiși decât se estimase.</a:t>
            </a:r>
            <a:endParaRPr lang="en-US" sz="1450" dirty="0"/>
          </a:p>
        </p:txBody>
      </p:sp>
      <p:sp>
        <p:nvSpPr>
          <p:cNvPr id="14" name="Shape 12"/>
          <p:cNvSpPr/>
          <p:nvPr/>
        </p:nvSpPr>
        <p:spPr>
          <a:xfrm>
            <a:off x="6126480" y="1691640"/>
            <a:ext cx="5440680" cy="4434840"/>
          </a:xfrm>
          <a:prstGeom prst="roundRect">
            <a:avLst>
              <a:gd name="adj" fmla="val 1856"/>
            </a:avLst>
          </a:prstGeom>
          <a:solidFill>
            <a:srgbClr val="E1F0EC"/>
          </a:solidFill>
          <a:ln w="12700">
            <a:solidFill>
              <a:srgbClr val="E1F0EC"/>
            </a:solidFill>
            <a:prstDash val="solid"/>
          </a:ln>
        </p:spPr>
        <p:txBody>
          <a:bodyPr/>
          <a:p/>
        </p:txBody>
      </p:sp>
      <p:sp>
        <p:nvSpPr>
          <p:cNvPr id="15" name="Text 13"/>
          <p:cNvSpPr/>
          <p:nvPr/>
        </p:nvSpPr>
        <p:spPr>
          <a:xfrm>
            <a:off x="6400800" y="1828800"/>
            <a:ext cx="4937760" cy="365760"/>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FIZIOTERAPEUTUL CA MANAGER</a:t>
            </a:r>
            <a:endParaRPr lang="en-US" sz="1300" dirty="0"/>
          </a:p>
        </p:txBody>
      </p:sp>
      <p:sp>
        <p:nvSpPr>
          <p:cNvPr id="16" name="Text 14"/>
          <p:cNvSpPr/>
          <p:nvPr/>
        </p:nvSpPr>
        <p:spPr>
          <a:xfrm>
            <a:off x="6400800" y="2286000"/>
            <a:ext cx="4937760" cy="301752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Legea nr. 229/2016, art. 17: </a:t>
            </a:r>
            <a:pPr indent="0" marL="0">
              <a:buNone/>
            </a:pPr>
            <a:r>
              <a:rPr lang="en-US" sz="1500" dirty="0">
                <a:solidFill>
                  <a:srgbClr val="11121A"/>
                </a:solidFill>
                <a:latin typeface="Palatino Linotype" pitchFamily="34" charset="0"/>
                <a:ea typeface="Palatino Linotype" pitchFamily="34" charset="-122"/>
                <a:cs typeface="Palatino Linotype" pitchFamily="34" charset="-120"/>
              </a:rPr>
              <a:t>domeniul administrativ, „în managementul serviciilor de fizioterapie, cu responsabilitatea de a furniza informații privind activitatea de fizioterapie adecvată, în cadrul unor instituții sau comunități”.</a:t>
            </a:r>
            <a:endParaRPr lang="en-US" sz="1500" dirty="0"/>
          </a:p>
          <a:p>
            <a:pPr indent="0" marL="0">
              <a:buNone/>
            </a:pPr>
            <a:r>
              <a:rPr lang="en-US" sz="800" dirty="0">
                <a:solidFill>
                  <a:srgbClr val="11121A"/>
                </a:solidFill>
                <a:latin typeface="Palatino Linotype" pitchFamily="34" charset="0"/>
                <a:ea typeface="Palatino Linotype" pitchFamily="34" charset="-122"/>
                <a:cs typeface="Palatino Linotype" pitchFamily="34" charset="-120"/>
              </a:rPr>
              <a:t> </a:t>
            </a:r>
            <a:endParaRPr lang="en-US" sz="1500" dirty="0"/>
          </a:p>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OMS, cadrul de competențe, 2020: </a:t>
            </a:r>
            <a:pPr indent="0" marL="0">
              <a:buNone/>
            </a:pPr>
            <a:r>
              <a:rPr lang="en-US" sz="1500" dirty="0">
                <a:solidFill>
                  <a:srgbClr val="11121A"/>
                </a:solidFill>
                <a:latin typeface="Palatino Linotype" pitchFamily="34" charset="0"/>
                <a:ea typeface="Palatino Linotype" pitchFamily="34" charset="-122"/>
                <a:cs typeface="Palatino Linotype" pitchFamily="34" charset="-120"/>
              </a:rPr>
              <a:t>„managementul și conducerea”, unul dintre cele cinci domenii ale muncii în recuperare.</a:t>
            </a:r>
            <a:endParaRPr lang="en-US" sz="1500" dirty="0"/>
          </a:p>
        </p:txBody>
      </p:sp>
      <p:sp>
        <p:nvSpPr>
          <p:cNvPr id="17" name="Text 15"/>
          <p:cNvSpPr/>
          <p:nvPr/>
        </p:nvSpPr>
        <p:spPr>
          <a:xfrm>
            <a:off x="6400800" y="5440680"/>
            <a:ext cx="4937760" cy="54864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Managementul face parte din meseria voastră.</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MISIUNEA SERVICIULUI</a:t>
            </a:r>
            <a:endParaRPr lang="en-US" sz="1300" dirty="0"/>
          </a:p>
        </p:txBody>
      </p:sp>
      <p:sp>
        <p:nvSpPr>
          <p:cNvPr id="5" name="Text 3"/>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Care misiune se poate verifica?</a:t>
            </a:r>
            <a:endParaRPr lang="en-US" sz="3000" dirty="0"/>
          </a:p>
        </p:txBody>
      </p:sp>
      <p:sp>
        <p:nvSpPr>
          <p:cNvPr id="6" name="Shape 4"/>
          <p:cNvSpPr/>
          <p:nvPr/>
        </p:nvSpPr>
        <p:spPr>
          <a:xfrm>
            <a:off x="594360" y="1783080"/>
            <a:ext cx="10972800" cy="2331720"/>
          </a:xfrm>
          <a:prstGeom prst="roundRect">
            <a:avLst>
              <a:gd name="adj" fmla="val 3529"/>
            </a:avLst>
          </a:prstGeom>
          <a:solidFill>
            <a:srgbClr val="272A38"/>
          </a:solidFill>
          <a:ln w="12700">
            <a:solidFill>
              <a:srgbClr val="272A38"/>
            </a:solidFill>
            <a:prstDash val="solid"/>
          </a:ln>
        </p:spPr>
        <p:txBody>
          <a:bodyPr/>
          <a:p/>
        </p:txBody>
      </p:sp>
      <p:sp>
        <p:nvSpPr>
          <p:cNvPr id="7" name="Shape 5"/>
          <p:cNvSpPr/>
          <p:nvPr/>
        </p:nvSpPr>
        <p:spPr>
          <a:xfrm>
            <a:off x="868680" y="2738628"/>
            <a:ext cx="420624" cy="420624"/>
          </a:xfrm>
          <a:prstGeom prst="ellipse">
            <a:avLst/>
          </a:prstGeom>
          <a:solidFill>
            <a:srgbClr val="FFC24B"/>
          </a:solidFill>
          <a:ln/>
        </p:spPr>
        <p:txBody>
          <a:bodyPr/>
          <a:p/>
        </p:txBody>
      </p:sp>
      <p:sp>
        <p:nvSpPr>
          <p:cNvPr id="8" name="Text 6"/>
          <p:cNvSpPr/>
          <p:nvPr/>
        </p:nvSpPr>
        <p:spPr>
          <a:xfrm>
            <a:off x="868680" y="27386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54480" y="1783080"/>
            <a:ext cx="9784080" cy="233172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„Ambulatoriul de recuperare redă adulților din municipiu și din comunele din jur funcționarea necesară vieții de zi cu zi și muncii, prin evaluare, tratament și educație, în cel mult trei săptămâni de la trimitere.”</a:t>
            </a:r>
            <a:endParaRPr lang="en-US" sz="1900" dirty="0"/>
          </a:p>
        </p:txBody>
      </p:sp>
      <p:sp>
        <p:nvSpPr>
          <p:cNvPr id="10" name="Shape 8"/>
          <p:cNvSpPr/>
          <p:nvPr/>
        </p:nvSpPr>
        <p:spPr>
          <a:xfrm>
            <a:off x="594360" y="4343400"/>
            <a:ext cx="10972800" cy="1097280"/>
          </a:xfrm>
          <a:prstGeom prst="roundRect">
            <a:avLst>
              <a:gd name="adj" fmla="val 7500"/>
            </a:avLst>
          </a:prstGeom>
          <a:solidFill>
            <a:srgbClr val="272A38"/>
          </a:solidFill>
          <a:ln w="12700">
            <a:solidFill>
              <a:srgbClr val="272A38"/>
            </a:solidFill>
            <a:prstDash val="solid"/>
          </a:ln>
        </p:spPr>
        <p:txBody>
          <a:bodyPr/>
          <a:p/>
        </p:txBody>
      </p:sp>
      <p:sp>
        <p:nvSpPr>
          <p:cNvPr id="11" name="Shape 9"/>
          <p:cNvSpPr/>
          <p:nvPr/>
        </p:nvSpPr>
        <p:spPr>
          <a:xfrm>
            <a:off x="868680" y="4681728"/>
            <a:ext cx="420624" cy="420624"/>
          </a:xfrm>
          <a:prstGeom prst="ellipse">
            <a:avLst/>
          </a:prstGeom>
          <a:solidFill>
            <a:srgbClr val="FFC24B"/>
          </a:solidFill>
          <a:ln/>
        </p:spPr>
        <p:txBody>
          <a:bodyPr/>
          <a:p/>
        </p:txBody>
      </p:sp>
      <p:sp>
        <p:nvSpPr>
          <p:cNvPr id="12" name="Text 10"/>
          <p:cNvSpPr/>
          <p:nvPr/>
        </p:nvSpPr>
        <p:spPr>
          <a:xfrm>
            <a:off x="868680" y="4681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54480" y="4343400"/>
            <a:ext cx="9784080" cy="1097280"/>
          </a:xfrm>
          <a:prstGeom prst="rect">
            <a:avLst/>
          </a:prstGeom>
          <a:noFill/>
          <a:ln/>
        </p:spPr>
        <p:txBody>
          <a:bodyPr wrap="square" lIns="0" tIns="0" rIns="0" bIns="0" rtlCol="0" anchor="ctr"/>
          <a:lstStyle/>
          <a:p>
            <a:pPr indent="0" marL="0">
              <a:buNone/>
            </a:pPr>
            <a:r>
              <a:rPr lang="en-US" sz="2200" i="1" dirty="0">
                <a:solidFill>
                  <a:srgbClr val="FFFFFF"/>
                </a:solidFill>
                <a:latin typeface="Palatino Linotype" pitchFamily="34" charset="0"/>
                <a:ea typeface="Palatino Linotype" pitchFamily="34" charset="-122"/>
                <a:cs typeface="Palatino Linotype" pitchFamily="34" charset="-120"/>
              </a:rPr>
              <a:t>„Oferim servicii de calitate pentru toți pacienții.”</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MISIUNE, STRUCTURĂ, PROCESE</a:t>
            </a:r>
            <a:endParaRPr lang="en-US" sz="1300" dirty="0"/>
          </a:p>
        </p:txBody>
      </p:sp>
      <p:sp>
        <p:nvSpPr>
          <p:cNvPr id="3" name="Text 1"/>
          <p:cNvSpPr/>
          <p:nvPr/>
        </p:nvSpPr>
        <p:spPr>
          <a:xfrm>
            <a:off x="594360" y="713232"/>
            <a:ext cx="10972800" cy="548640"/>
          </a:xfrm>
          <a:prstGeom prst="rect">
            <a:avLst/>
          </a:prstGeom>
          <a:noFill/>
          <a:ln/>
        </p:spPr>
        <p:txBody>
          <a:bodyPr wrap="square" lIns="0" tIns="0" rIns="0" bIns="0" rtlCol="0" anchor="t"/>
          <a:lstStyle/>
          <a:p>
            <a:pPr indent="0" marL="0">
              <a:buNone/>
            </a:pPr>
            <a:r>
              <a:rPr lang="en-US" sz="2300" b="1" dirty="0">
                <a:solidFill>
                  <a:srgbClr val="11121A"/>
                </a:solidFill>
                <a:latin typeface="Palatino Linotype" pitchFamily="34" charset="0"/>
                <a:ea typeface="Palatino Linotype" pitchFamily="34" charset="-122"/>
                <a:cs typeface="Palatino Linotype" pitchFamily="34" charset="-120"/>
              </a:rPr>
              <a:t>Prima misiune se poate verifica: spune publicul, rezultatul și termenul.</a:t>
            </a:r>
            <a:endParaRPr lang="en-US" sz="2300" dirty="0"/>
          </a:p>
        </p:txBody>
      </p:sp>
      <p:sp>
        <p:nvSpPr>
          <p:cNvPr id="4" name="Shape 2"/>
          <p:cNvSpPr/>
          <p:nvPr/>
        </p:nvSpPr>
        <p:spPr>
          <a:xfrm>
            <a:off x="594360" y="1463040"/>
            <a:ext cx="1828800" cy="777240"/>
          </a:xfrm>
          <a:prstGeom prst="chevron">
            <a:avLst/>
          </a:prstGeom>
          <a:solidFill>
            <a:srgbClr val="E1F0EC"/>
          </a:solidFill>
          <a:ln w="12700">
            <a:solidFill>
              <a:srgbClr val="FFFFFF"/>
            </a:solidFill>
            <a:prstDash val="solid"/>
          </a:ln>
        </p:spPr>
        <p:txBody>
          <a:bodyPr/>
          <a:p/>
        </p:txBody>
      </p:sp>
      <p:sp>
        <p:nvSpPr>
          <p:cNvPr id="5" name="Text 3"/>
          <p:cNvSpPr/>
          <p:nvPr/>
        </p:nvSpPr>
        <p:spPr>
          <a:xfrm>
            <a:off x="886968" y="1463040"/>
            <a:ext cx="1325880" cy="777240"/>
          </a:xfrm>
          <a:prstGeom prst="rect">
            <a:avLst/>
          </a:prstGeom>
          <a:noFill/>
          <a:ln/>
        </p:spPr>
        <p:txBody>
          <a:bodyPr wrap="square" lIns="0" tIns="0" rIns="0" bIns="0" rtlCol="0" anchor="ctr"/>
          <a:lstStyle/>
          <a:p>
            <a:pPr algn="ctr" indent="0" marL="0">
              <a:buNone/>
            </a:pPr>
            <a:r>
              <a:rPr lang="en-US" sz="1150" b="1" dirty="0">
                <a:solidFill>
                  <a:srgbClr val="11121A"/>
                </a:solidFill>
                <a:latin typeface="Palatino Linotype" pitchFamily="34" charset="0"/>
                <a:ea typeface="Palatino Linotype" pitchFamily="34" charset="-122"/>
                <a:cs typeface="Palatino Linotype" pitchFamily="34" charset="-120"/>
              </a:rPr>
              <a:t>Trimiterea</a:t>
            </a:r>
            <a:endParaRPr lang="en-US" sz="1150" dirty="0"/>
          </a:p>
        </p:txBody>
      </p:sp>
      <p:sp>
        <p:nvSpPr>
          <p:cNvPr id="6" name="Shape 4"/>
          <p:cNvSpPr/>
          <p:nvPr/>
        </p:nvSpPr>
        <p:spPr>
          <a:xfrm>
            <a:off x="2450592" y="1463040"/>
            <a:ext cx="1828800" cy="777240"/>
          </a:xfrm>
          <a:prstGeom prst="chevron">
            <a:avLst/>
          </a:prstGeom>
          <a:solidFill>
            <a:srgbClr val="F6EDD5"/>
          </a:solidFill>
          <a:ln w="12700">
            <a:solidFill>
              <a:srgbClr val="FFFFFF"/>
            </a:solidFill>
            <a:prstDash val="solid"/>
          </a:ln>
        </p:spPr>
        <p:txBody>
          <a:bodyPr/>
          <a:p/>
        </p:txBody>
      </p:sp>
      <p:sp>
        <p:nvSpPr>
          <p:cNvPr id="7" name="Text 5"/>
          <p:cNvSpPr/>
          <p:nvPr/>
        </p:nvSpPr>
        <p:spPr>
          <a:xfrm>
            <a:off x="2743200" y="1463040"/>
            <a:ext cx="1325880" cy="777240"/>
          </a:xfrm>
          <a:prstGeom prst="rect">
            <a:avLst/>
          </a:prstGeom>
          <a:noFill/>
          <a:ln/>
        </p:spPr>
        <p:txBody>
          <a:bodyPr wrap="square" lIns="0" tIns="0" rIns="0" bIns="0" rtlCol="0" anchor="ctr"/>
          <a:lstStyle/>
          <a:p>
            <a:pPr algn="ctr" indent="0" marL="0">
              <a:buNone/>
            </a:pPr>
            <a:r>
              <a:rPr lang="en-US" sz="1150" b="1" dirty="0">
                <a:solidFill>
                  <a:srgbClr val="11121A"/>
                </a:solidFill>
                <a:latin typeface="Palatino Linotype" pitchFamily="34" charset="0"/>
                <a:ea typeface="Palatino Linotype" pitchFamily="34" charset="-122"/>
                <a:cs typeface="Palatino Linotype" pitchFamily="34" charset="-120"/>
              </a:rPr>
              <a:t>Consultul MFR, prescripția</a:t>
            </a:r>
            <a:endParaRPr lang="en-US" sz="1150" dirty="0"/>
          </a:p>
        </p:txBody>
      </p:sp>
      <p:sp>
        <p:nvSpPr>
          <p:cNvPr id="8" name="Shape 6"/>
          <p:cNvSpPr/>
          <p:nvPr/>
        </p:nvSpPr>
        <p:spPr>
          <a:xfrm>
            <a:off x="4306824" y="1463040"/>
            <a:ext cx="1828800" cy="777240"/>
          </a:xfrm>
          <a:prstGeom prst="chevron">
            <a:avLst/>
          </a:prstGeom>
          <a:solidFill>
            <a:srgbClr val="E1F0EC"/>
          </a:solidFill>
          <a:ln w="12700">
            <a:solidFill>
              <a:srgbClr val="FFFFFF"/>
            </a:solidFill>
            <a:prstDash val="solid"/>
          </a:ln>
        </p:spPr>
        <p:txBody>
          <a:bodyPr/>
          <a:p/>
        </p:txBody>
      </p:sp>
      <p:sp>
        <p:nvSpPr>
          <p:cNvPr id="9" name="Text 7"/>
          <p:cNvSpPr/>
          <p:nvPr/>
        </p:nvSpPr>
        <p:spPr>
          <a:xfrm>
            <a:off x="4599432" y="1463040"/>
            <a:ext cx="1325880" cy="777240"/>
          </a:xfrm>
          <a:prstGeom prst="rect">
            <a:avLst/>
          </a:prstGeom>
          <a:noFill/>
          <a:ln/>
        </p:spPr>
        <p:txBody>
          <a:bodyPr wrap="square" lIns="0" tIns="0" rIns="0" bIns="0" rtlCol="0" anchor="ctr"/>
          <a:lstStyle/>
          <a:p>
            <a:pPr algn="ctr" indent="0" marL="0">
              <a:buNone/>
            </a:pPr>
            <a:r>
              <a:rPr lang="en-US" sz="1150" b="1" dirty="0">
                <a:solidFill>
                  <a:srgbClr val="11121A"/>
                </a:solidFill>
                <a:latin typeface="Palatino Linotype" pitchFamily="34" charset="0"/>
                <a:ea typeface="Palatino Linotype" pitchFamily="34" charset="-122"/>
                <a:cs typeface="Palatino Linotype" pitchFamily="34" charset="-120"/>
              </a:rPr>
              <a:t>Programarea</a:t>
            </a:r>
            <a:endParaRPr lang="en-US" sz="1150" dirty="0"/>
          </a:p>
        </p:txBody>
      </p:sp>
      <p:sp>
        <p:nvSpPr>
          <p:cNvPr id="10" name="Shape 8"/>
          <p:cNvSpPr/>
          <p:nvPr/>
        </p:nvSpPr>
        <p:spPr>
          <a:xfrm>
            <a:off x="6163056" y="1463040"/>
            <a:ext cx="1828800" cy="777240"/>
          </a:xfrm>
          <a:prstGeom prst="chevron">
            <a:avLst/>
          </a:prstGeom>
          <a:solidFill>
            <a:srgbClr val="F6EDD5"/>
          </a:solidFill>
          <a:ln w="12700">
            <a:solidFill>
              <a:srgbClr val="FFFFFF"/>
            </a:solidFill>
            <a:prstDash val="solid"/>
          </a:ln>
        </p:spPr>
        <p:txBody>
          <a:bodyPr/>
          <a:p/>
        </p:txBody>
      </p:sp>
      <p:sp>
        <p:nvSpPr>
          <p:cNvPr id="11" name="Text 9"/>
          <p:cNvSpPr/>
          <p:nvPr/>
        </p:nvSpPr>
        <p:spPr>
          <a:xfrm>
            <a:off x="6455664" y="1463040"/>
            <a:ext cx="1325880" cy="777240"/>
          </a:xfrm>
          <a:prstGeom prst="rect">
            <a:avLst/>
          </a:prstGeom>
          <a:noFill/>
          <a:ln/>
        </p:spPr>
        <p:txBody>
          <a:bodyPr wrap="square" lIns="0" tIns="0" rIns="0" bIns="0" rtlCol="0" anchor="ctr"/>
          <a:lstStyle/>
          <a:p>
            <a:pPr algn="ctr" indent="0" marL="0">
              <a:buNone/>
            </a:pPr>
            <a:r>
              <a:rPr lang="en-US" sz="1150" b="1" dirty="0">
                <a:solidFill>
                  <a:srgbClr val="11121A"/>
                </a:solidFill>
                <a:latin typeface="Palatino Linotype" pitchFamily="34" charset="0"/>
                <a:ea typeface="Palatino Linotype" pitchFamily="34" charset="-122"/>
                <a:cs typeface="Palatino Linotype" pitchFamily="34" charset="-120"/>
              </a:rPr>
              <a:t>Examinarea, planul</a:t>
            </a:r>
            <a:endParaRPr lang="en-US" sz="1150" dirty="0"/>
          </a:p>
        </p:txBody>
      </p:sp>
      <p:sp>
        <p:nvSpPr>
          <p:cNvPr id="12" name="Shape 10"/>
          <p:cNvSpPr/>
          <p:nvPr/>
        </p:nvSpPr>
        <p:spPr>
          <a:xfrm>
            <a:off x="8019288" y="1463040"/>
            <a:ext cx="1828800" cy="777240"/>
          </a:xfrm>
          <a:prstGeom prst="chevron">
            <a:avLst/>
          </a:prstGeom>
          <a:solidFill>
            <a:srgbClr val="E1F0EC"/>
          </a:solidFill>
          <a:ln w="12700">
            <a:solidFill>
              <a:srgbClr val="FFFFFF"/>
            </a:solidFill>
            <a:prstDash val="solid"/>
          </a:ln>
        </p:spPr>
        <p:txBody>
          <a:bodyPr/>
          <a:p/>
        </p:txBody>
      </p:sp>
      <p:sp>
        <p:nvSpPr>
          <p:cNvPr id="13" name="Text 11"/>
          <p:cNvSpPr/>
          <p:nvPr/>
        </p:nvSpPr>
        <p:spPr>
          <a:xfrm>
            <a:off x="8311896" y="1463040"/>
            <a:ext cx="1325880" cy="777240"/>
          </a:xfrm>
          <a:prstGeom prst="rect">
            <a:avLst/>
          </a:prstGeom>
          <a:noFill/>
          <a:ln/>
        </p:spPr>
        <p:txBody>
          <a:bodyPr wrap="square" lIns="0" tIns="0" rIns="0" bIns="0" rtlCol="0" anchor="ctr"/>
          <a:lstStyle/>
          <a:p>
            <a:pPr algn="ctr" indent="0" marL="0">
              <a:buNone/>
            </a:pPr>
            <a:r>
              <a:rPr lang="en-US" sz="1150" b="1" dirty="0">
                <a:solidFill>
                  <a:srgbClr val="11121A"/>
                </a:solidFill>
                <a:latin typeface="Palatino Linotype" pitchFamily="34" charset="0"/>
                <a:ea typeface="Palatino Linotype" pitchFamily="34" charset="-122"/>
                <a:cs typeface="Palatino Linotype" pitchFamily="34" charset="-120"/>
              </a:rPr>
              <a:t>Ședințele</a:t>
            </a:r>
            <a:endParaRPr lang="en-US" sz="1150" dirty="0"/>
          </a:p>
        </p:txBody>
      </p:sp>
      <p:sp>
        <p:nvSpPr>
          <p:cNvPr id="14" name="Shape 12"/>
          <p:cNvSpPr/>
          <p:nvPr/>
        </p:nvSpPr>
        <p:spPr>
          <a:xfrm>
            <a:off x="9875520" y="1463040"/>
            <a:ext cx="1828800" cy="777240"/>
          </a:xfrm>
          <a:prstGeom prst="chevron">
            <a:avLst/>
          </a:prstGeom>
          <a:solidFill>
            <a:srgbClr val="F6EDD5"/>
          </a:solidFill>
          <a:ln w="12700">
            <a:solidFill>
              <a:srgbClr val="FFFFFF"/>
            </a:solidFill>
            <a:prstDash val="solid"/>
          </a:ln>
        </p:spPr>
        <p:txBody>
          <a:bodyPr/>
          <a:p/>
        </p:txBody>
      </p:sp>
      <p:sp>
        <p:nvSpPr>
          <p:cNvPr id="15" name="Text 13"/>
          <p:cNvSpPr/>
          <p:nvPr/>
        </p:nvSpPr>
        <p:spPr>
          <a:xfrm>
            <a:off x="10168128" y="1463040"/>
            <a:ext cx="1325880" cy="777240"/>
          </a:xfrm>
          <a:prstGeom prst="rect">
            <a:avLst/>
          </a:prstGeom>
          <a:noFill/>
          <a:ln/>
        </p:spPr>
        <p:txBody>
          <a:bodyPr wrap="square" lIns="0" tIns="0" rIns="0" bIns="0" rtlCol="0" anchor="ctr"/>
          <a:lstStyle/>
          <a:p>
            <a:pPr algn="ctr" indent="0" marL="0">
              <a:buNone/>
            </a:pPr>
            <a:r>
              <a:rPr lang="en-US" sz="1150" b="1" dirty="0">
                <a:solidFill>
                  <a:srgbClr val="11121A"/>
                </a:solidFill>
                <a:latin typeface="Palatino Linotype" pitchFamily="34" charset="0"/>
                <a:ea typeface="Palatino Linotype" pitchFamily="34" charset="-122"/>
                <a:cs typeface="Palatino Linotype" pitchFamily="34" charset="-120"/>
              </a:rPr>
              <a:t>Reevaluarea, externarea</a:t>
            </a:r>
            <a:endParaRPr lang="en-US" sz="1150" dirty="0"/>
          </a:p>
        </p:txBody>
      </p:sp>
      <p:sp>
        <p:nvSpPr>
          <p:cNvPr id="16" name="Text 14"/>
          <p:cNvSpPr/>
          <p:nvPr/>
        </p:nvSpPr>
        <p:spPr>
          <a:xfrm>
            <a:off x="594360" y="2331720"/>
            <a:ext cx="10972800" cy="365760"/>
          </a:xfrm>
          <a:prstGeom prst="rect">
            <a:avLst/>
          </a:prstGeom>
          <a:noFill/>
          <a:ln/>
        </p:spPr>
        <p:txBody>
          <a:bodyPr wrap="square" lIns="0" tIns="0" rIns="0" bIns="0" rtlCol="0" anchor="t"/>
          <a:lstStyle/>
          <a:p>
            <a:pPr indent="0" marL="0">
              <a:buNone/>
            </a:pPr>
            <a:r>
              <a:rPr lang="en-US" sz="1400" i="1" dirty="0">
                <a:solidFill>
                  <a:srgbClr val="3A3C44"/>
                </a:solidFill>
                <a:latin typeface="Palatino Linotype" pitchFamily="34" charset="0"/>
                <a:ea typeface="Palatino Linotype" pitchFamily="34" charset="-122"/>
                <a:cs typeface="Palatino Linotype" pitchFamily="34" charset="-120"/>
              </a:rPr>
              <a:t>Procesul: fiecare pas poate produce așteptare.</a:t>
            </a:r>
            <a:endParaRPr lang="en-US" sz="1400" dirty="0"/>
          </a:p>
        </p:txBody>
      </p:sp>
      <p:sp>
        <p:nvSpPr>
          <p:cNvPr id="17" name="Text 15"/>
          <p:cNvSpPr/>
          <p:nvPr/>
        </p:nvSpPr>
        <p:spPr>
          <a:xfrm>
            <a:off x="594360" y="2926080"/>
            <a:ext cx="5120640" cy="1737360"/>
          </a:xfrm>
          <a:prstGeom prst="rect">
            <a:avLst/>
          </a:prstGeom>
          <a:noFill/>
          <a:ln/>
        </p:spPr>
        <p:txBody>
          <a:bodyPr wrap="square" lIns="0" tIns="0" rIns="0" bIns="0" rtlCol="0" anchor="t"/>
          <a:lstStyle/>
          <a:p>
            <a:pPr indent="0" marL="0">
              <a:buNone/>
            </a:pPr>
            <a:r>
              <a:rPr lang="en-US" sz="1550" b="1" dirty="0">
                <a:solidFill>
                  <a:srgbClr val="0E7C6B"/>
                </a:solidFill>
                <a:latin typeface="Palatino Linotype" pitchFamily="34" charset="0"/>
                <a:ea typeface="Palatino Linotype" pitchFamily="34" charset="-122"/>
                <a:cs typeface="Palatino Linotype" pitchFamily="34" charset="-120"/>
              </a:rPr>
              <a:t>Structura: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oamenii și calificările lor, spațiile, aparatele, programul, subordonarea. Fizioterapeuții lucrează în sistemul public sau privat, independent sau în colaborare (Legea nr. 229/2016, art. 15).</a:t>
            </a:r>
            <a:endParaRPr lang="en-US" sz="1550" dirty="0"/>
          </a:p>
        </p:txBody>
      </p:sp>
      <p:sp>
        <p:nvSpPr>
          <p:cNvPr id="18" name="Text 16"/>
          <p:cNvSpPr/>
          <p:nvPr/>
        </p:nvSpPr>
        <p:spPr>
          <a:xfrm>
            <a:off x="594360" y="4846320"/>
            <a:ext cx="5120640" cy="1005840"/>
          </a:xfrm>
          <a:prstGeom prst="rect">
            <a:avLst/>
          </a:prstGeom>
          <a:noFill/>
          <a:ln/>
        </p:spPr>
        <p:txBody>
          <a:bodyPr wrap="square" lIns="0" tIns="0" rIns="0" bIns="0" rtlCol="0" anchor="t"/>
          <a:lstStyle/>
          <a:p>
            <a:pPr indent="0" marL="0">
              <a:buNone/>
            </a:pPr>
            <a:r>
              <a:rPr lang="en-US" sz="1450" i="1" dirty="0">
                <a:solidFill>
                  <a:srgbClr val="B02532"/>
                </a:solidFill>
                <a:latin typeface="Palatino Linotype" pitchFamily="34" charset="0"/>
                <a:ea typeface="Palatino Linotype" pitchFamily="34" charset="-122"/>
                <a:cs typeface="Palatino Linotype" pitchFamily="34" charset="-120"/>
              </a:rPr>
              <a:t>Paturile arată numai partea de spital a recuperării, nu ambulatoriile, bazele de tratament sau cabinetele.</a:t>
            </a:r>
            <a:endParaRPr lang="en-US" sz="1450" dirty="0"/>
          </a:p>
        </p:txBody>
      </p:sp>
      <p:sp>
        <p:nvSpPr>
          <p:cNvPr id="19" name="Text 17"/>
          <p:cNvSpPr/>
          <p:nvPr/>
        </p:nvSpPr>
        <p:spPr>
          <a:xfrm>
            <a:off x="6126480" y="2880360"/>
            <a:ext cx="5486400" cy="365760"/>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Paturi de recuperare la 100 000 de locuitori, 2024</a:t>
            </a:r>
            <a:endParaRPr lang="en-US" sz="1400" dirty="0"/>
          </a:p>
        </p:txBody>
      </p:sp>
      <p:sp>
        <p:nvSpPr>
          <p:cNvPr id="20" name="Text 18"/>
          <p:cNvSpPr/>
          <p:nvPr/>
        </p:nvSpPr>
        <p:spPr>
          <a:xfrm>
            <a:off x="6126480" y="3337560"/>
            <a:ext cx="1188720" cy="402336"/>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România</a:t>
            </a:r>
            <a:endParaRPr lang="en-US" sz="1400" dirty="0"/>
          </a:p>
        </p:txBody>
      </p:sp>
      <p:sp>
        <p:nvSpPr>
          <p:cNvPr id="21" name="Shape 19"/>
          <p:cNvSpPr/>
          <p:nvPr/>
        </p:nvSpPr>
        <p:spPr>
          <a:xfrm>
            <a:off x="7406640" y="3410712"/>
            <a:ext cx="1153645" cy="256032"/>
          </a:xfrm>
          <a:prstGeom prst="rect">
            <a:avLst/>
          </a:prstGeom>
          <a:solidFill>
            <a:srgbClr val="B02532"/>
          </a:solidFill>
          <a:ln w="12700">
            <a:solidFill>
              <a:srgbClr val="B02532"/>
            </a:solidFill>
            <a:prstDash val="solid"/>
          </a:ln>
        </p:spPr>
        <p:txBody>
          <a:bodyPr/>
          <a:p/>
        </p:txBody>
      </p:sp>
      <p:sp>
        <p:nvSpPr>
          <p:cNvPr id="22" name="Text 20"/>
          <p:cNvSpPr/>
          <p:nvPr/>
        </p:nvSpPr>
        <p:spPr>
          <a:xfrm>
            <a:off x="8651725" y="3337560"/>
            <a:ext cx="1097280" cy="402336"/>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72,37</a:t>
            </a:r>
            <a:endParaRPr lang="en-US" sz="1400" dirty="0"/>
          </a:p>
        </p:txBody>
      </p:sp>
      <p:sp>
        <p:nvSpPr>
          <p:cNvPr id="23" name="Text 21"/>
          <p:cNvSpPr/>
          <p:nvPr/>
        </p:nvSpPr>
        <p:spPr>
          <a:xfrm>
            <a:off x="6126480" y="3849624"/>
            <a:ext cx="1188720" cy="402336"/>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Bulgaria</a:t>
            </a:r>
            <a:endParaRPr lang="en-US" sz="1400" dirty="0"/>
          </a:p>
        </p:txBody>
      </p:sp>
      <p:sp>
        <p:nvSpPr>
          <p:cNvPr id="24" name="Shape 22"/>
          <p:cNvSpPr/>
          <p:nvPr/>
        </p:nvSpPr>
        <p:spPr>
          <a:xfrm>
            <a:off x="7406640" y="3922776"/>
            <a:ext cx="1768009" cy="256032"/>
          </a:xfrm>
          <a:prstGeom prst="rect">
            <a:avLst/>
          </a:prstGeom>
          <a:solidFill>
            <a:srgbClr val="7A7D88"/>
          </a:solidFill>
          <a:ln w="12700">
            <a:solidFill>
              <a:srgbClr val="7A7D88"/>
            </a:solidFill>
            <a:prstDash val="solid"/>
          </a:ln>
        </p:spPr>
        <p:txBody>
          <a:bodyPr/>
          <a:p/>
        </p:txBody>
      </p:sp>
      <p:sp>
        <p:nvSpPr>
          <p:cNvPr id="25" name="Text 23"/>
          <p:cNvSpPr/>
          <p:nvPr/>
        </p:nvSpPr>
        <p:spPr>
          <a:xfrm>
            <a:off x="9266089" y="3849624"/>
            <a:ext cx="1097280" cy="402336"/>
          </a:xfrm>
          <a:prstGeom prst="rect">
            <a:avLst/>
          </a:prstGeom>
          <a:noFill/>
          <a:ln/>
        </p:spPr>
        <p:txBody>
          <a:bodyPr wrap="square" lIns="0" tIns="0" rIns="0" bIns="0" rtlCol="0" anchor="ctr"/>
          <a:lstStyle/>
          <a:p>
            <a:pPr indent="0" marL="0">
              <a:buNone/>
            </a:pPr>
            <a:r>
              <a:rPr lang="en-US" sz="1400" b="1" dirty="0">
                <a:solidFill>
                  <a:srgbClr val="7A7D88"/>
                </a:solidFill>
                <a:latin typeface="Palatino Linotype" pitchFamily="34" charset="0"/>
                <a:ea typeface="Palatino Linotype" pitchFamily="34" charset="-122"/>
                <a:cs typeface="Palatino Linotype" pitchFamily="34" charset="-120"/>
              </a:rPr>
              <a:t>110,91</a:t>
            </a:r>
            <a:endParaRPr lang="en-US" sz="1400" dirty="0"/>
          </a:p>
        </p:txBody>
      </p:sp>
      <p:sp>
        <p:nvSpPr>
          <p:cNvPr id="26" name="Text 24"/>
          <p:cNvSpPr/>
          <p:nvPr/>
        </p:nvSpPr>
        <p:spPr>
          <a:xfrm>
            <a:off x="6126480" y="4361688"/>
            <a:ext cx="1188720" cy="402336"/>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Ungaria</a:t>
            </a:r>
            <a:endParaRPr lang="en-US" sz="1400" dirty="0"/>
          </a:p>
        </p:txBody>
      </p:sp>
      <p:sp>
        <p:nvSpPr>
          <p:cNvPr id="27" name="Shape 25"/>
          <p:cNvSpPr/>
          <p:nvPr/>
        </p:nvSpPr>
        <p:spPr>
          <a:xfrm>
            <a:off x="7406640" y="4434840"/>
            <a:ext cx="2159040" cy="256032"/>
          </a:xfrm>
          <a:prstGeom prst="rect">
            <a:avLst/>
          </a:prstGeom>
          <a:solidFill>
            <a:srgbClr val="7A7D88"/>
          </a:solidFill>
          <a:ln w="12700">
            <a:solidFill>
              <a:srgbClr val="7A7D88"/>
            </a:solidFill>
            <a:prstDash val="solid"/>
          </a:ln>
        </p:spPr>
        <p:txBody>
          <a:bodyPr/>
          <a:p/>
        </p:txBody>
      </p:sp>
      <p:sp>
        <p:nvSpPr>
          <p:cNvPr id="28" name="Text 26"/>
          <p:cNvSpPr/>
          <p:nvPr/>
        </p:nvSpPr>
        <p:spPr>
          <a:xfrm>
            <a:off x="9657120" y="4361688"/>
            <a:ext cx="1097280" cy="402336"/>
          </a:xfrm>
          <a:prstGeom prst="rect">
            <a:avLst/>
          </a:prstGeom>
          <a:noFill/>
          <a:ln/>
        </p:spPr>
        <p:txBody>
          <a:bodyPr wrap="square" lIns="0" tIns="0" rIns="0" bIns="0" rtlCol="0" anchor="ctr"/>
          <a:lstStyle/>
          <a:p>
            <a:pPr indent="0" marL="0">
              <a:buNone/>
            </a:pPr>
            <a:r>
              <a:rPr lang="en-US" sz="1400" b="1" dirty="0">
                <a:solidFill>
                  <a:srgbClr val="7A7D88"/>
                </a:solidFill>
                <a:latin typeface="Palatino Linotype" pitchFamily="34" charset="0"/>
                <a:ea typeface="Palatino Linotype" pitchFamily="34" charset="-122"/>
                <a:cs typeface="Palatino Linotype" pitchFamily="34" charset="-120"/>
              </a:rPr>
              <a:t>135,44</a:t>
            </a:r>
            <a:endParaRPr lang="en-US" sz="1400" dirty="0"/>
          </a:p>
        </p:txBody>
      </p:sp>
      <p:sp>
        <p:nvSpPr>
          <p:cNvPr id="29" name="Text 27"/>
          <p:cNvSpPr/>
          <p:nvPr/>
        </p:nvSpPr>
        <p:spPr>
          <a:xfrm>
            <a:off x="6126480" y="4873752"/>
            <a:ext cx="1188720" cy="402336"/>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Germania</a:t>
            </a:r>
            <a:endParaRPr lang="en-US" sz="1400" dirty="0"/>
          </a:p>
        </p:txBody>
      </p:sp>
      <p:sp>
        <p:nvSpPr>
          <p:cNvPr id="30" name="Shape 28"/>
          <p:cNvSpPr/>
          <p:nvPr/>
        </p:nvSpPr>
        <p:spPr>
          <a:xfrm>
            <a:off x="7406640" y="4946904"/>
            <a:ext cx="3067195" cy="256032"/>
          </a:xfrm>
          <a:prstGeom prst="rect">
            <a:avLst/>
          </a:prstGeom>
          <a:solidFill>
            <a:srgbClr val="7A7D88"/>
          </a:solidFill>
          <a:ln w="12700">
            <a:solidFill>
              <a:srgbClr val="7A7D88"/>
            </a:solidFill>
            <a:prstDash val="solid"/>
          </a:ln>
        </p:spPr>
        <p:txBody>
          <a:bodyPr/>
          <a:p/>
        </p:txBody>
      </p:sp>
      <p:sp>
        <p:nvSpPr>
          <p:cNvPr id="31" name="Text 29"/>
          <p:cNvSpPr/>
          <p:nvPr/>
        </p:nvSpPr>
        <p:spPr>
          <a:xfrm>
            <a:off x="10565275" y="4873752"/>
            <a:ext cx="1097280" cy="402336"/>
          </a:xfrm>
          <a:prstGeom prst="rect">
            <a:avLst/>
          </a:prstGeom>
          <a:noFill/>
          <a:ln/>
        </p:spPr>
        <p:txBody>
          <a:bodyPr wrap="square" lIns="0" tIns="0" rIns="0" bIns="0" rtlCol="0" anchor="ctr"/>
          <a:lstStyle/>
          <a:p>
            <a:pPr indent="0" marL="0">
              <a:buNone/>
            </a:pPr>
            <a:r>
              <a:rPr lang="en-US" sz="1400" b="1" dirty="0">
                <a:solidFill>
                  <a:srgbClr val="7A7D88"/>
                </a:solidFill>
                <a:latin typeface="Palatino Linotype" pitchFamily="34" charset="0"/>
                <a:ea typeface="Palatino Linotype" pitchFamily="34" charset="-122"/>
                <a:cs typeface="Palatino Linotype" pitchFamily="34" charset="-120"/>
              </a:rPr>
              <a:t>192,41</a:t>
            </a:r>
            <a:endParaRPr lang="en-US" sz="1400" dirty="0"/>
          </a:p>
        </p:txBody>
      </p:sp>
      <p:sp>
        <p:nvSpPr>
          <p:cNvPr id="32" name="Text 30"/>
          <p:cNvSpPr/>
          <p:nvPr/>
        </p:nvSpPr>
        <p:spPr>
          <a:xfrm>
            <a:off x="6126480" y="5385816"/>
            <a:ext cx="1188720" cy="402336"/>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Polonia</a:t>
            </a:r>
            <a:endParaRPr lang="en-US" sz="1400" dirty="0"/>
          </a:p>
        </p:txBody>
      </p:sp>
      <p:sp>
        <p:nvSpPr>
          <p:cNvPr id="33" name="Shape 31"/>
          <p:cNvSpPr/>
          <p:nvPr/>
        </p:nvSpPr>
        <p:spPr>
          <a:xfrm>
            <a:off x="7406640" y="5458968"/>
            <a:ext cx="3108960" cy="256032"/>
          </a:xfrm>
          <a:prstGeom prst="rect">
            <a:avLst/>
          </a:prstGeom>
          <a:solidFill>
            <a:srgbClr val="7A7D88"/>
          </a:solidFill>
          <a:ln w="12700">
            <a:solidFill>
              <a:srgbClr val="7A7D88"/>
            </a:solidFill>
            <a:prstDash val="solid"/>
          </a:ln>
        </p:spPr>
        <p:txBody>
          <a:bodyPr/>
          <a:p/>
        </p:txBody>
      </p:sp>
      <p:sp>
        <p:nvSpPr>
          <p:cNvPr id="34" name="Text 32"/>
          <p:cNvSpPr/>
          <p:nvPr/>
        </p:nvSpPr>
        <p:spPr>
          <a:xfrm>
            <a:off x="10607040" y="5385816"/>
            <a:ext cx="1097280" cy="402336"/>
          </a:xfrm>
          <a:prstGeom prst="rect">
            <a:avLst/>
          </a:prstGeom>
          <a:noFill/>
          <a:ln/>
        </p:spPr>
        <p:txBody>
          <a:bodyPr wrap="square" lIns="0" tIns="0" rIns="0" bIns="0" rtlCol="0" anchor="ctr"/>
          <a:lstStyle/>
          <a:p>
            <a:pPr indent="0" marL="0">
              <a:buNone/>
            </a:pPr>
            <a:r>
              <a:rPr lang="en-US" sz="1400" b="1" dirty="0">
                <a:solidFill>
                  <a:srgbClr val="7A7D88"/>
                </a:solidFill>
                <a:latin typeface="Palatino Linotype" pitchFamily="34" charset="0"/>
                <a:ea typeface="Palatino Linotype" pitchFamily="34" charset="-122"/>
                <a:cs typeface="Palatino Linotype" pitchFamily="34" charset="-120"/>
              </a:rPr>
              <a:t>195,03</a:t>
            </a:r>
            <a:endParaRPr lang="en-US" sz="1400" dirty="0"/>
          </a:p>
        </p:txBody>
      </p:sp>
      <p:sp>
        <p:nvSpPr>
          <p:cNvPr id="35" name="Text 33"/>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Eurostat, paturi de spital pentru îngrijiri de recuperare la 100 000 de locuitori, 2024.</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PLANIFICAREA STRATEGICĂ</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Unde e serviciul acum?</a:t>
            </a:r>
            <a:endParaRPr lang="en-US" sz="3000" dirty="0"/>
          </a:p>
        </p:txBody>
      </p:sp>
      <p:sp>
        <p:nvSpPr>
          <p:cNvPr id="4" name="Shape 2"/>
          <p:cNvSpPr/>
          <p:nvPr/>
        </p:nvSpPr>
        <p:spPr>
          <a:xfrm>
            <a:off x="594360" y="1600200"/>
            <a:ext cx="10972800" cy="1234440"/>
          </a:xfrm>
          <a:prstGeom prst="roundRect">
            <a:avLst>
              <a:gd name="adj" fmla="val 6667"/>
            </a:avLst>
          </a:prstGeom>
          <a:solidFill>
            <a:srgbClr val="E1F0EC"/>
          </a:solidFill>
          <a:ln w="12700">
            <a:solidFill>
              <a:srgbClr val="E1F0EC"/>
            </a:solidFill>
            <a:prstDash val="solid"/>
          </a:ln>
        </p:spPr>
        <p:txBody>
          <a:bodyPr/>
          <a:p/>
        </p:txBody>
      </p:sp>
      <p:sp>
        <p:nvSpPr>
          <p:cNvPr id="5" name="Shape 3"/>
          <p:cNvSpPr/>
          <p:nvPr/>
        </p:nvSpPr>
        <p:spPr>
          <a:xfrm>
            <a:off x="822960" y="1783080"/>
            <a:ext cx="1737360" cy="329184"/>
          </a:xfrm>
          <a:prstGeom prst="roundRect">
            <a:avLst>
              <a:gd name="adj" fmla="val 50000"/>
            </a:avLst>
          </a:prstGeom>
          <a:solidFill>
            <a:srgbClr val="0E7C6B"/>
          </a:solidFill>
          <a:ln w="12700">
            <a:solidFill>
              <a:srgbClr val="0E7C6B"/>
            </a:solidFill>
            <a:prstDash val="solid"/>
          </a:ln>
        </p:spPr>
        <p:txBody>
          <a:bodyPr/>
          <a:p/>
        </p:txBody>
      </p:sp>
      <p:sp>
        <p:nvSpPr>
          <p:cNvPr id="6" name="Text 4"/>
          <p:cNvSpPr/>
          <p:nvPr/>
        </p:nvSpPr>
        <p:spPr>
          <a:xfrm>
            <a:off x="822960" y="1783080"/>
            <a:ext cx="17373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alatino Linotype" pitchFamily="34" charset="0"/>
                <a:ea typeface="Palatino Linotype" pitchFamily="34" charset="-122"/>
                <a:cs typeface="Palatino Linotype" pitchFamily="34" charset="-120"/>
              </a:rPr>
              <a:t>TERMEN NOU</a:t>
            </a:r>
            <a:endParaRPr lang="en-US" sz="1100" dirty="0"/>
          </a:p>
        </p:txBody>
      </p:sp>
      <p:sp>
        <p:nvSpPr>
          <p:cNvPr id="7" name="Text 5"/>
          <p:cNvSpPr/>
          <p:nvPr/>
        </p:nvSpPr>
        <p:spPr>
          <a:xfrm>
            <a:off x="822960" y="2221992"/>
            <a:ext cx="10515600" cy="50292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Analiza SWOT: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 avem bun, ce avem slab, ce ne poate ajuta din afară și ce ne poate încurca din afară.</a:t>
            </a:r>
            <a:endParaRPr lang="en-US" sz="1600" dirty="0"/>
          </a:p>
        </p:txBody>
      </p:sp>
      <p:sp>
        <p:nvSpPr>
          <p:cNvPr id="8" name="Shape 6"/>
          <p:cNvSpPr/>
          <p:nvPr/>
        </p:nvSpPr>
        <p:spPr>
          <a:xfrm>
            <a:off x="594360" y="3063240"/>
            <a:ext cx="2651760" cy="1280160"/>
          </a:xfrm>
          <a:prstGeom prst="roundRect">
            <a:avLst>
              <a:gd name="adj" fmla="val 6429"/>
            </a:avLst>
          </a:prstGeom>
          <a:solidFill>
            <a:srgbClr val="E1F0EC"/>
          </a:solidFill>
          <a:ln w="12700">
            <a:solidFill>
              <a:srgbClr val="E1F0EC"/>
            </a:solidFill>
            <a:prstDash val="solid"/>
          </a:ln>
        </p:spPr>
        <p:txBody>
          <a:bodyPr/>
          <a:p/>
        </p:txBody>
      </p:sp>
      <p:sp>
        <p:nvSpPr>
          <p:cNvPr id="9" name="Text 7"/>
          <p:cNvSpPr/>
          <p:nvPr/>
        </p:nvSpPr>
        <p:spPr>
          <a:xfrm>
            <a:off x="777240" y="3246120"/>
            <a:ext cx="228600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Puncte tari</a:t>
            </a:r>
            <a:endParaRPr lang="en-US" sz="1800" dirty="0"/>
          </a:p>
        </p:txBody>
      </p:sp>
      <p:sp>
        <p:nvSpPr>
          <p:cNvPr id="10" name="Text 8"/>
          <p:cNvSpPr/>
          <p:nvPr/>
        </p:nvSpPr>
        <p:spPr>
          <a:xfrm>
            <a:off x="777240" y="3749040"/>
            <a:ext cx="2286000" cy="411480"/>
          </a:xfrm>
          <a:prstGeom prst="rect">
            <a:avLst/>
          </a:prstGeom>
          <a:noFill/>
          <a:ln/>
        </p:spPr>
        <p:txBody>
          <a:bodyPr wrap="square" lIns="0" tIns="0" rIns="0" bIns="0" rtlCol="0" anchor="t"/>
          <a:lstStyle/>
          <a:p>
            <a:pPr indent="0" marL="0">
              <a:buNone/>
            </a:pPr>
            <a:r>
              <a:rPr lang="en-US" sz="1500" i="1" dirty="0">
                <a:solidFill>
                  <a:srgbClr val="3A3C44"/>
                </a:solidFill>
                <a:latin typeface="Palatino Linotype" pitchFamily="34" charset="0"/>
                <a:ea typeface="Palatino Linotype" pitchFamily="34" charset="-122"/>
                <a:cs typeface="Palatino Linotype" pitchFamily="34" charset="-120"/>
              </a:rPr>
              <a:t>interne</a:t>
            </a:r>
            <a:endParaRPr lang="en-US" sz="1500" dirty="0"/>
          </a:p>
        </p:txBody>
      </p:sp>
      <p:sp>
        <p:nvSpPr>
          <p:cNvPr id="11" name="Shape 9"/>
          <p:cNvSpPr/>
          <p:nvPr/>
        </p:nvSpPr>
        <p:spPr>
          <a:xfrm>
            <a:off x="3383280" y="3063240"/>
            <a:ext cx="2651760" cy="1280160"/>
          </a:xfrm>
          <a:prstGeom prst="roundRect">
            <a:avLst>
              <a:gd name="adj" fmla="val 6429"/>
            </a:avLst>
          </a:prstGeom>
          <a:solidFill>
            <a:srgbClr val="F4E0E2"/>
          </a:solidFill>
          <a:ln w="12700">
            <a:solidFill>
              <a:srgbClr val="F4E0E2"/>
            </a:solidFill>
            <a:prstDash val="solid"/>
          </a:ln>
        </p:spPr>
        <p:txBody>
          <a:bodyPr/>
          <a:p/>
        </p:txBody>
      </p:sp>
      <p:sp>
        <p:nvSpPr>
          <p:cNvPr id="12" name="Text 10"/>
          <p:cNvSpPr/>
          <p:nvPr/>
        </p:nvSpPr>
        <p:spPr>
          <a:xfrm>
            <a:off x="3566160" y="3246120"/>
            <a:ext cx="2286000" cy="4572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Puncte slabe</a:t>
            </a:r>
            <a:endParaRPr lang="en-US" sz="1800" dirty="0"/>
          </a:p>
        </p:txBody>
      </p:sp>
      <p:sp>
        <p:nvSpPr>
          <p:cNvPr id="13" name="Text 11"/>
          <p:cNvSpPr/>
          <p:nvPr/>
        </p:nvSpPr>
        <p:spPr>
          <a:xfrm>
            <a:off x="3566160" y="3749040"/>
            <a:ext cx="2286000" cy="411480"/>
          </a:xfrm>
          <a:prstGeom prst="rect">
            <a:avLst/>
          </a:prstGeom>
          <a:noFill/>
          <a:ln/>
        </p:spPr>
        <p:txBody>
          <a:bodyPr wrap="square" lIns="0" tIns="0" rIns="0" bIns="0" rtlCol="0" anchor="t"/>
          <a:lstStyle/>
          <a:p>
            <a:pPr indent="0" marL="0">
              <a:buNone/>
            </a:pPr>
            <a:r>
              <a:rPr lang="en-US" sz="1500" i="1" dirty="0">
                <a:solidFill>
                  <a:srgbClr val="3A3C44"/>
                </a:solidFill>
                <a:latin typeface="Palatino Linotype" pitchFamily="34" charset="0"/>
                <a:ea typeface="Palatino Linotype" pitchFamily="34" charset="-122"/>
                <a:cs typeface="Palatino Linotype" pitchFamily="34" charset="-120"/>
              </a:rPr>
              <a:t>interne</a:t>
            </a:r>
            <a:endParaRPr lang="en-US" sz="1500" dirty="0"/>
          </a:p>
        </p:txBody>
      </p:sp>
      <p:sp>
        <p:nvSpPr>
          <p:cNvPr id="14" name="Shape 12"/>
          <p:cNvSpPr/>
          <p:nvPr/>
        </p:nvSpPr>
        <p:spPr>
          <a:xfrm>
            <a:off x="594360" y="4480560"/>
            <a:ext cx="2651760" cy="1280160"/>
          </a:xfrm>
          <a:prstGeom prst="roundRect">
            <a:avLst>
              <a:gd name="adj" fmla="val 6429"/>
            </a:avLst>
          </a:prstGeom>
          <a:solidFill>
            <a:srgbClr val="E1F0EC"/>
          </a:solidFill>
          <a:ln w="12700">
            <a:solidFill>
              <a:srgbClr val="E1F0EC"/>
            </a:solidFill>
            <a:prstDash val="solid"/>
          </a:ln>
        </p:spPr>
        <p:txBody>
          <a:bodyPr/>
          <a:p/>
        </p:txBody>
      </p:sp>
      <p:sp>
        <p:nvSpPr>
          <p:cNvPr id="15" name="Text 13"/>
          <p:cNvSpPr/>
          <p:nvPr/>
        </p:nvSpPr>
        <p:spPr>
          <a:xfrm>
            <a:off x="777240" y="4663440"/>
            <a:ext cx="228600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Oportunități</a:t>
            </a:r>
            <a:endParaRPr lang="en-US" sz="1800" dirty="0"/>
          </a:p>
        </p:txBody>
      </p:sp>
      <p:sp>
        <p:nvSpPr>
          <p:cNvPr id="16" name="Text 14"/>
          <p:cNvSpPr/>
          <p:nvPr/>
        </p:nvSpPr>
        <p:spPr>
          <a:xfrm>
            <a:off x="777240" y="5166360"/>
            <a:ext cx="2286000" cy="411480"/>
          </a:xfrm>
          <a:prstGeom prst="rect">
            <a:avLst/>
          </a:prstGeom>
          <a:noFill/>
          <a:ln/>
        </p:spPr>
        <p:txBody>
          <a:bodyPr wrap="square" lIns="0" tIns="0" rIns="0" bIns="0" rtlCol="0" anchor="t"/>
          <a:lstStyle/>
          <a:p>
            <a:pPr indent="0" marL="0">
              <a:buNone/>
            </a:pPr>
            <a:r>
              <a:rPr lang="en-US" sz="1500" i="1" dirty="0">
                <a:solidFill>
                  <a:srgbClr val="3A3C44"/>
                </a:solidFill>
                <a:latin typeface="Palatino Linotype" pitchFamily="34" charset="0"/>
                <a:ea typeface="Palatino Linotype" pitchFamily="34" charset="-122"/>
                <a:cs typeface="Palatino Linotype" pitchFamily="34" charset="-120"/>
              </a:rPr>
              <a:t>externe</a:t>
            </a:r>
            <a:endParaRPr lang="en-US" sz="1500" dirty="0"/>
          </a:p>
        </p:txBody>
      </p:sp>
      <p:sp>
        <p:nvSpPr>
          <p:cNvPr id="17" name="Shape 15"/>
          <p:cNvSpPr/>
          <p:nvPr/>
        </p:nvSpPr>
        <p:spPr>
          <a:xfrm>
            <a:off x="3383280" y="4480560"/>
            <a:ext cx="2651760" cy="1280160"/>
          </a:xfrm>
          <a:prstGeom prst="roundRect">
            <a:avLst>
              <a:gd name="adj" fmla="val 6429"/>
            </a:avLst>
          </a:prstGeom>
          <a:solidFill>
            <a:srgbClr val="F4E0E2"/>
          </a:solidFill>
          <a:ln w="12700">
            <a:solidFill>
              <a:srgbClr val="F4E0E2"/>
            </a:solidFill>
            <a:prstDash val="solid"/>
          </a:ln>
        </p:spPr>
        <p:txBody>
          <a:bodyPr/>
          <a:p/>
        </p:txBody>
      </p:sp>
      <p:sp>
        <p:nvSpPr>
          <p:cNvPr id="18" name="Text 16"/>
          <p:cNvSpPr/>
          <p:nvPr/>
        </p:nvSpPr>
        <p:spPr>
          <a:xfrm>
            <a:off x="3566160" y="4663440"/>
            <a:ext cx="2286000" cy="4572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Amenințări</a:t>
            </a:r>
            <a:endParaRPr lang="en-US" sz="1800" dirty="0"/>
          </a:p>
        </p:txBody>
      </p:sp>
      <p:sp>
        <p:nvSpPr>
          <p:cNvPr id="19" name="Text 17"/>
          <p:cNvSpPr/>
          <p:nvPr/>
        </p:nvSpPr>
        <p:spPr>
          <a:xfrm>
            <a:off x="3566160" y="5166360"/>
            <a:ext cx="2286000" cy="411480"/>
          </a:xfrm>
          <a:prstGeom prst="rect">
            <a:avLst/>
          </a:prstGeom>
          <a:noFill/>
          <a:ln/>
        </p:spPr>
        <p:txBody>
          <a:bodyPr wrap="square" lIns="0" tIns="0" rIns="0" bIns="0" rtlCol="0" anchor="t"/>
          <a:lstStyle/>
          <a:p>
            <a:pPr indent="0" marL="0">
              <a:buNone/>
            </a:pPr>
            <a:r>
              <a:rPr lang="en-US" sz="1500" i="1" dirty="0">
                <a:solidFill>
                  <a:srgbClr val="3A3C44"/>
                </a:solidFill>
                <a:latin typeface="Palatino Linotype" pitchFamily="34" charset="0"/>
                <a:ea typeface="Palatino Linotype" pitchFamily="34" charset="-122"/>
                <a:cs typeface="Palatino Linotype" pitchFamily="34" charset="-120"/>
              </a:rPr>
              <a:t>externe</a:t>
            </a:r>
            <a:endParaRPr lang="en-US" sz="1500" dirty="0"/>
          </a:p>
        </p:txBody>
      </p:sp>
      <p:sp>
        <p:nvSpPr>
          <p:cNvPr id="20" name="Text 18"/>
          <p:cNvSpPr/>
          <p:nvPr/>
        </p:nvSpPr>
        <p:spPr>
          <a:xfrm>
            <a:off x="6355080" y="3063240"/>
            <a:ext cx="5212080" cy="2697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Interne: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țin de serviciu, iar serviciul le poate schimba.</a:t>
            </a:r>
            <a:endParaRPr lang="en-US" sz="1700" dirty="0"/>
          </a:p>
          <a:p>
            <a:pPr indent="0" marL="0">
              <a:buNone/>
            </a:pPr>
            <a:r>
              <a:rPr lang="en-US" sz="800" dirty="0">
                <a:solidFill>
                  <a:srgbClr val="11121A"/>
                </a:solidFill>
                <a:latin typeface="Palatino Linotype" pitchFamily="34" charset="0"/>
                <a:ea typeface="Palatino Linotype" pitchFamily="34" charset="-122"/>
                <a:cs typeface="Palatino Linotype" pitchFamily="34" charset="-120"/>
              </a:rPr>
              <a:t> </a:t>
            </a:r>
            <a:endParaRPr lang="en-US" sz="1700" dirty="0"/>
          </a:p>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Externe: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vin din spital, de la casa de asigurări, din piața muncii sau din populație. Serviciul le poate folosi sau se poate apăra de ele, dar nu le controlează.</a:t>
            </a:r>
            <a:endParaRPr lang="en-US" sz="17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o sinteză sistematică din 2025 despre analiza SWOT; notele cursului.</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TABERE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STÂNGA: ȚINE DE SERVICIU · DREAPTA: VINE DIN AFARĂ</a:t>
            </a:r>
            <a:endParaRPr lang="en-US" sz="1300" dirty="0"/>
          </a:p>
        </p:txBody>
      </p:sp>
      <p:sp>
        <p:nvSpPr>
          <p:cNvPr id="5" name="Text 3"/>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În ce rubrică intră factorul?</a:t>
            </a:r>
            <a:endParaRPr lang="en-US" sz="3000" dirty="0"/>
          </a:p>
        </p:txBody>
      </p:sp>
      <p:sp>
        <p:nvSpPr>
          <p:cNvPr id="6" name="Shape 4"/>
          <p:cNvSpPr/>
          <p:nvPr/>
        </p:nvSpPr>
        <p:spPr>
          <a:xfrm>
            <a:off x="594360" y="1783080"/>
            <a:ext cx="10972800" cy="896112"/>
          </a:xfrm>
          <a:prstGeom prst="roundRect">
            <a:avLst>
              <a:gd name="adj" fmla="val 9184"/>
            </a:avLst>
          </a:prstGeom>
          <a:solidFill>
            <a:srgbClr val="1D1F2B"/>
          </a:solidFill>
          <a:ln w="12700">
            <a:solidFill>
              <a:srgbClr val="1D1F2B"/>
            </a:solidFill>
            <a:prstDash val="solid"/>
          </a:ln>
        </p:spPr>
        <p:txBody>
          <a:bodyPr/>
          <a:p/>
        </p:txBody>
      </p:sp>
      <p:sp>
        <p:nvSpPr>
          <p:cNvPr id="7" name="Shape 5"/>
          <p:cNvSpPr/>
          <p:nvPr/>
        </p:nvSpPr>
        <p:spPr>
          <a:xfrm>
            <a:off x="868680" y="1984248"/>
            <a:ext cx="420624" cy="420624"/>
          </a:xfrm>
          <a:prstGeom prst="ellipse">
            <a:avLst/>
          </a:prstGeom>
          <a:solidFill>
            <a:srgbClr val="FF4757"/>
          </a:solidFill>
          <a:ln/>
        </p:spPr>
        <p:txBody>
          <a:bodyPr/>
          <a:p/>
        </p:txBody>
      </p:sp>
      <p:sp>
        <p:nvSpPr>
          <p:cNvPr id="8" name="Text 6"/>
          <p:cNvSpPr/>
          <p:nvPr/>
        </p:nvSpPr>
        <p:spPr>
          <a:xfrm>
            <a:off x="868680" y="19842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54480" y="1783080"/>
            <a:ext cx="9784080" cy="896112"/>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O sală de kinetoterapie nou utilată</a:t>
            </a:r>
            <a:endParaRPr lang="en-US" sz="2100" dirty="0"/>
          </a:p>
        </p:txBody>
      </p:sp>
      <p:sp>
        <p:nvSpPr>
          <p:cNvPr id="10" name="Shape 8"/>
          <p:cNvSpPr/>
          <p:nvPr/>
        </p:nvSpPr>
        <p:spPr>
          <a:xfrm>
            <a:off x="594360" y="2807208"/>
            <a:ext cx="10972800" cy="896112"/>
          </a:xfrm>
          <a:prstGeom prst="roundRect">
            <a:avLst>
              <a:gd name="adj" fmla="val 9184"/>
            </a:avLst>
          </a:prstGeom>
          <a:solidFill>
            <a:srgbClr val="1D1F2B"/>
          </a:solidFill>
          <a:ln w="12700">
            <a:solidFill>
              <a:srgbClr val="1D1F2B"/>
            </a:solidFill>
            <a:prstDash val="solid"/>
          </a:ln>
        </p:spPr>
        <p:txBody>
          <a:bodyPr/>
          <a:p/>
        </p:txBody>
      </p:sp>
      <p:sp>
        <p:nvSpPr>
          <p:cNvPr id="11" name="Shape 9"/>
          <p:cNvSpPr/>
          <p:nvPr/>
        </p:nvSpPr>
        <p:spPr>
          <a:xfrm>
            <a:off x="868680" y="3008376"/>
            <a:ext cx="420624" cy="420624"/>
          </a:xfrm>
          <a:prstGeom prst="ellipse">
            <a:avLst/>
          </a:prstGeom>
          <a:solidFill>
            <a:srgbClr val="FF4757"/>
          </a:solidFill>
          <a:ln/>
        </p:spPr>
        <p:txBody>
          <a:bodyPr/>
          <a:p/>
        </p:txBody>
      </p:sp>
      <p:sp>
        <p:nvSpPr>
          <p:cNvPr id="12" name="Text 10"/>
          <p:cNvSpPr/>
          <p:nvPr/>
        </p:nvSpPr>
        <p:spPr>
          <a:xfrm>
            <a:off x="868680" y="300837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54480" y="2807208"/>
            <a:ext cx="9784080" cy="896112"/>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Un program de finanțare pentru dotări în spitalele publice</a:t>
            </a:r>
            <a:endParaRPr lang="en-US" sz="2100" dirty="0"/>
          </a:p>
        </p:txBody>
      </p:sp>
      <p:sp>
        <p:nvSpPr>
          <p:cNvPr id="14" name="Shape 12"/>
          <p:cNvSpPr/>
          <p:nvPr/>
        </p:nvSpPr>
        <p:spPr>
          <a:xfrm>
            <a:off x="594360" y="3831336"/>
            <a:ext cx="10972800" cy="896112"/>
          </a:xfrm>
          <a:prstGeom prst="roundRect">
            <a:avLst>
              <a:gd name="adj" fmla="val 9184"/>
            </a:avLst>
          </a:prstGeom>
          <a:solidFill>
            <a:srgbClr val="1D1F2B"/>
          </a:solidFill>
          <a:ln w="12700">
            <a:solidFill>
              <a:srgbClr val="1D1F2B"/>
            </a:solidFill>
            <a:prstDash val="solid"/>
          </a:ln>
        </p:spPr>
        <p:txBody>
          <a:bodyPr/>
          <a:p/>
        </p:txBody>
      </p:sp>
      <p:sp>
        <p:nvSpPr>
          <p:cNvPr id="15" name="Shape 13"/>
          <p:cNvSpPr/>
          <p:nvPr/>
        </p:nvSpPr>
        <p:spPr>
          <a:xfrm>
            <a:off x="868680" y="4032504"/>
            <a:ext cx="420624" cy="420624"/>
          </a:xfrm>
          <a:prstGeom prst="ellipse">
            <a:avLst/>
          </a:prstGeom>
          <a:solidFill>
            <a:srgbClr val="FF4757"/>
          </a:solidFill>
          <a:ln/>
        </p:spPr>
        <p:txBody>
          <a:bodyPr/>
          <a:p/>
        </p:txBody>
      </p:sp>
      <p:sp>
        <p:nvSpPr>
          <p:cNvPr id="16" name="Text 14"/>
          <p:cNvSpPr/>
          <p:nvPr/>
        </p:nvSpPr>
        <p:spPr>
          <a:xfrm>
            <a:off x="868680" y="403250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54480" y="3831336"/>
            <a:ext cx="9784080" cy="896112"/>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Clinicile private din oraș, cu salarii mai mari pentru fizioterapeuți</a:t>
            </a:r>
            <a:endParaRPr lang="en-US" sz="2100" dirty="0"/>
          </a:p>
        </p:txBody>
      </p:sp>
      <p:sp>
        <p:nvSpPr>
          <p:cNvPr id="18" name="Shape 16"/>
          <p:cNvSpPr/>
          <p:nvPr/>
        </p:nvSpPr>
        <p:spPr>
          <a:xfrm>
            <a:off x="594360" y="4983480"/>
            <a:ext cx="2606040" cy="566928"/>
          </a:xfrm>
          <a:prstGeom prst="roundRect">
            <a:avLst>
              <a:gd name="adj" fmla="val 14516"/>
            </a:avLst>
          </a:prstGeom>
          <a:solidFill>
            <a:srgbClr val="272A38"/>
          </a:solidFill>
          <a:ln w="12700">
            <a:solidFill>
              <a:srgbClr val="272A38"/>
            </a:solidFill>
            <a:prstDash val="solid"/>
          </a:ln>
        </p:spPr>
        <p:txBody>
          <a:bodyPr/>
          <a:p/>
        </p:txBody>
      </p:sp>
      <p:sp>
        <p:nvSpPr>
          <p:cNvPr id="19" name="Shape 17"/>
          <p:cNvSpPr/>
          <p:nvPr/>
        </p:nvSpPr>
        <p:spPr>
          <a:xfrm>
            <a:off x="704088" y="5056632"/>
            <a:ext cx="420624" cy="420624"/>
          </a:xfrm>
          <a:prstGeom prst="ellipse">
            <a:avLst/>
          </a:prstGeom>
          <a:solidFill>
            <a:srgbClr val="FFC24B"/>
          </a:solidFill>
          <a:ln/>
        </p:spPr>
        <p:txBody>
          <a:bodyPr/>
          <a:p/>
        </p:txBody>
      </p:sp>
      <p:sp>
        <p:nvSpPr>
          <p:cNvPr id="20" name="Text 18"/>
          <p:cNvSpPr/>
          <p:nvPr/>
        </p:nvSpPr>
        <p:spPr>
          <a:xfrm>
            <a:off x="704088" y="50566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21" name="Text 19"/>
          <p:cNvSpPr/>
          <p:nvPr/>
        </p:nvSpPr>
        <p:spPr>
          <a:xfrm>
            <a:off x="1234440" y="4983480"/>
            <a:ext cx="1874520" cy="56692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Punct tare</a:t>
            </a:r>
            <a:endParaRPr lang="en-US" sz="1600" dirty="0"/>
          </a:p>
        </p:txBody>
      </p:sp>
      <p:sp>
        <p:nvSpPr>
          <p:cNvPr id="22" name="Shape 20"/>
          <p:cNvSpPr/>
          <p:nvPr/>
        </p:nvSpPr>
        <p:spPr>
          <a:xfrm>
            <a:off x="3383280" y="4983480"/>
            <a:ext cx="2606040" cy="566928"/>
          </a:xfrm>
          <a:prstGeom prst="roundRect">
            <a:avLst>
              <a:gd name="adj" fmla="val 14516"/>
            </a:avLst>
          </a:prstGeom>
          <a:solidFill>
            <a:srgbClr val="272A38"/>
          </a:solidFill>
          <a:ln w="12700">
            <a:solidFill>
              <a:srgbClr val="272A38"/>
            </a:solidFill>
            <a:prstDash val="solid"/>
          </a:ln>
        </p:spPr>
        <p:txBody>
          <a:bodyPr/>
          <a:p/>
        </p:txBody>
      </p:sp>
      <p:sp>
        <p:nvSpPr>
          <p:cNvPr id="23" name="Shape 21"/>
          <p:cNvSpPr/>
          <p:nvPr/>
        </p:nvSpPr>
        <p:spPr>
          <a:xfrm>
            <a:off x="3493008" y="5056632"/>
            <a:ext cx="420624" cy="420624"/>
          </a:xfrm>
          <a:prstGeom prst="ellipse">
            <a:avLst/>
          </a:prstGeom>
          <a:solidFill>
            <a:srgbClr val="FFC24B"/>
          </a:solidFill>
          <a:ln/>
        </p:spPr>
        <p:txBody>
          <a:bodyPr/>
          <a:p/>
        </p:txBody>
      </p:sp>
      <p:sp>
        <p:nvSpPr>
          <p:cNvPr id="24" name="Text 22"/>
          <p:cNvSpPr/>
          <p:nvPr/>
        </p:nvSpPr>
        <p:spPr>
          <a:xfrm>
            <a:off x="3493008" y="50566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25" name="Text 23"/>
          <p:cNvSpPr/>
          <p:nvPr/>
        </p:nvSpPr>
        <p:spPr>
          <a:xfrm>
            <a:off x="4023360" y="4983480"/>
            <a:ext cx="1874520" cy="56692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Punct slab</a:t>
            </a:r>
            <a:endParaRPr lang="en-US" sz="1600" dirty="0"/>
          </a:p>
        </p:txBody>
      </p:sp>
      <p:sp>
        <p:nvSpPr>
          <p:cNvPr id="26" name="Shape 24"/>
          <p:cNvSpPr/>
          <p:nvPr/>
        </p:nvSpPr>
        <p:spPr>
          <a:xfrm>
            <a:off x="6172200" y="4983480"/>
            <a:ext cx="2606040" cy="566928"/>
          </a:xfrm>
          <a:prstGeom prst="roundRect">
            <a:avLst>
              <a:gd name="adj" fmla="val 14516"/>
            </a:avLst>
          </a:prstGeom>
          <a:solidFill>
            <a:srgbClr val="272A38"/>
          </a:solidFill>
          <a:ln w="12700">
            <a:solidFill>
              <a:srgbClr val="272A38"/>
            </a:solidFill>
            <a:prstDash val="solid"/>
          </a:ln>
        </p:spPr>
        <p:txBody>
          <a:bodyPr/>
          <a:p/>
        </p:txBody>
      </p:sp>
      <p:sp>
        <p:nvSpPr>
          <p:cNvPr id="27" name="Shape 25"/>
          <p:cNvSpPr/>
          <p:nvPr/>
        </p:nvSpPr>
        <p:spPr>
          <a:xfrm>
            <a:off x="6281928" y="5056632"/>
            <a:ext cx="420624" cy="420624"/>
          </a:xfrm>
          <a:prstGeom prst="ellipse">
            <a:avLst/>
          </a:prstGeom>
          <a:solidFill>
            <a:srgbClr val="FFC24B"/>
          </a:solidFill>
          <a:ln/>
        </p:spPr>
        <p:txBody>
          <a:bodyPr/>
          <a:p/>
        </p:txBody>
      </p:sp>
      <p:sp>
        <p:nvSpPr>
          <p:cNvPr id="28" name="Text 26"/>
          <p:cNvSpPr/>
          <p:nvPr/>
        </p:nvSpPr>
        <p:spPr>
          <a:xfrm>
            <a:off x="6281928" y="50566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29" name="Text 27"/>
          <p:cNvSpPr/>
          <p:nvPr/>
        </p:nvSpPr>
        <p:spPr>
          <a:xfrm>
            <a:off x="6812280" y="4983480"/>
            <a:ext cx="1874520" cy="56692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Oportunitate</a:t>
            </a:r>
            <a:endParaRPr lang="en-US" sz="1600" dirty="0"/>
          </a:p>
        </p:txBody>
      </p:sp>
      <p:sp>
        <p:nvSpPr>
          <p:cNvPr id="30" name="Shape 28"/>
          <p:cNvSpPr/>
          <p:nvPr/>
        </p:nvSpPr>
        <p:spPr>
          <a:xfrm>
            <a:off x="8961120" y="4983480"/>
            <a:ext cx="2606040" cy="566928"/>
          </a:xfrm>
          <a:prstGeom prst="roundRect">
            <a:avLst>
              <a:gd name="adj" fmla="val 14516"/>
            </a:avLst>
          </a:prstGeom>
          <a:solidFill>
            <a:srgbClr val="272A38"/>
          </a:solidFill>
          <a:ln w="12700">
            <a:solidFill>
              <a:srgbClr val="272A38"/>
            </a:solidFill>
            <a:prstDash val="solid"/>
          </a:ln>
        </p:spPr>
        <p:txBody>
          <a:bodyPr/>
          <a:p/>
        </p:txBody>
      </p:sp>
      <p:sp>
        <p:nvSpPr>
          <p:cNvPr id="31" name="Shape 29"/>
          <p:cNvSpPr/>
          <p:nvPr/>
        </p:nvSpPr>
        <p:spPr>
          <a:xfrm>
            <a:off x="9070848" y="5056632"/>
            <a:ext cx="420624" cy="420624"/>
          </a:xfrm>
          <a:prstGeom prst="ellipse">
            <a:avLst/>
          </a:prstGeom>
          <a:solidFill>
            <a:srgbClr val="FFC24B"/>
          </a:solidFill>
          <a:ln/>
        </p:spPr>
        <p:txBody>
          <a:bodyPr/>
          <a:p/>
        </p:txBody>
      </p:sp>
      <p:sp>
        <p:nvSpPr>
          <p:cNvPr id="32" name="Text 30"/>
          <p:cNvSpPr/>
          <p:nvPr/>
        </p:nvSpPr>
        <p:spPr>
          <a:xfrm>
            <a:off x="9070848" y="50566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33" name="Text 31"/>
          <p:cNvSpPr/>
          <p:nvPr/>
        </p:nvSpPr>
        <p:spPr>
          <a:xfrm>
            <a:off x="9601200" y="4983480"/>
            <a:ext cx="1874520" cy="56692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Amenințare</a:t>
            </a:r>
            <a:endParaRPr lang="en-US" sz="1600" dirty="0"/>
          </a:p>
        </p:txBody>
      </p:sp>
      <p:sp>
        <p:nvSpPr>
          <p:cNvPr id="34" name="Text 32"/>
          <p:cNvSpPr/>
          <p:nvPr/>
        </p:nvSpPr>
        <p:spPr>
          <a:xfrm>
            <a:off x="594360" y="5760720"/>
            <a:ext cx="10972800" cy="411480"/>
          </a:xfrm>
          <a:prstGeom prst="rect">
            <a:avLst/>
          </a:prstGeom>
          <a:noFill/>
          <a:ln/>
        </p:spPr>
        <p:txBody>
          <a:bodyPr wrap="square" lIns="0" tIns="0" rIns="0" bIns="0" rtlCol="0" anchor="t"/>
          <a:lstStyle/>
          <a:p>
            <a:pPr indent="0" marL="0">
              <a:buNone/>
            </a:pPr>
            <a:r>
              <a:rPr lang="en-US" sz="1450" i="1" dirty="0">
                <a:solidFill>
                  <a:srgbClr val="959BB0"/>
                </a:solidFill>
                <a:latin typeface="Palatino Linotype" pitchFamily="34" charset="0"/>
                <a:ea typeface="Palatino Linotype" pitchFamily="34" charset="-122"/>
                <a:cs typeface="Palatino Linotype" pitchFamily="34" charset="-120"/>
              </a:rPr>
              <a:t>Pentru fiecare factor: votul, apoi câte o pereche din fiecare tabără explică, într-un minut.</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TABERE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STÂNGA: ȚINE DE SERVICIU · DREAPTA: VINE DIN AFARĂ</a:t>
            </a:r>
            <a:endParaRPr lang="en-US" sz="1300" dirty="0"/>
          </a:p>
        </p:txBody>
      </p:sp>
      <p:sp>
        <p:nvSpPr>
          <p:cNvPr id="5" name="Text 3"/>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Încă trei factori</a:t>
            </a:r>
            <a:endParaRPr lang="en-US" sz="3000" dirty="0"/>
          </a:p>
        </p:txBody>
      </p:sp>
      <p:sp>
        <p:nvSpPr>
          <p:cNvPr id="6" name="Shape 4"/>
          <p:cNvSpPr/>
          <p:nvPr/>
        </p:nvSpPr>
        <p:spPr>
          <a:xfrm>
            <a:off x="594360" y="1783080"/>
            <a:ext cx="10972800" cy="896112"/>
          </a:xfrm>
          <a:prstGeom prst="roundRect">
            <a:avLst>
              <a:gd name="adj" fmla="val 9184"/>
            </a:avLst>
          </a:prstGeom>
          <a:solidFill>
            <a:srgbClr val="1D1F2B"/>
          </a:solidFill>
          <a:ln w="12700">
            <a:solidFill>
              <a:srgbClr val="1D1F2B"/>
            </a:solidFill>
            <a:prstDash val="solid"/>
          </a:ln>
        </p:spPr>
        <p:txBody>
          <a:bodyPr/>
          <a:p/>
        </p:txBody>
      </p:sp>
      <p:sp>
        <p:nvSpPr>
          <p:cNvPr id="7" name="Shape 5"/>
          <p:cNvSpPr/>
          <p:nvPr/>
        </p:nvSpPr>
        <p:spPr>
          <a:xfrm>
            <a:off x="868680" y="1984248"/>
            <a:ext cx="420624" cy="420624"/>
          </a:xfrm>
          <a:prstGeom prst="ellipse">
            <a:avLst/>
          </a:prstGeom>
          <a:solidFill>
            <a:srgbClr val="FF4757"/>
          </a:solidFill>
          <a:ln/>
        </p:spPr>
        <p:txBody>
          <a:bodyPr/>
          <a:p/>
        </p:txBody>
      </p:sp>
      <p:sp>
        <p:nvSpPr>
          <p:cNvPr id="8" name="Text 6"/>
          <p:cNvSpPr/>
          <p:nvPr/>
        </p:nvSpPr>
        <p:spPr>
          <a:xfrm>
            <a:off x="868680" y="19842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9" name="Text 7"/>
          <p:cNvSpPr/>
          <p:nvPr/>
        </p:nvSpPr>
        <p:spPr>
          <a:xfrm>
            <a:off x="1554480" y="1783080"/>
            <a:ext cx="9784080" cy="896112"/>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Programarea pe hârtie, cu reprogramări frecvente</a:t>
            </a:r>
            <a:endParaRPr lang="en-US" sz="2100" dirty="0"/>
          </a:p>
        </p:txBody>
      </p:sp>
      <p:sp>
        <p:nvSpPr>
          <p:cNvPr id="10" name="Shape 8"/>
          <p:cNvSpPr/>
          <p:nvPr/>
        </p:nvSpPr>
        <p:spPr>
          <a:xfrm>
            <a:off x="594360" y="2807208"/>
            <a:ext cx="10972800" cy="896112"/>
          </a:xfrm>
          <a:prstGeom prst="roundRect">
            <a:avLst>
              <a:gd name="adj" fmla="val 9184"/>
            </a:avLst>
          </a:prstGeom>
          <a:solidFill>
            <a:srgbClr val="1D1F2B"/>
          </a:solidFill>
          <a:ln w="12700">
            <a:solidFill>
              <a:srgbClr val="1D1F2B"/>
            </a:solidFill>
            <a:prstDash val="solid"/>
          </a:ln>
        </p:spPr>
        <p:txBody>
          <a:bodyPr/>
          <a:p/>
        </p:txBody>
      </p:sp>
      <p:sp>
        <p:nvSpPr>
          <p:cNvPr id="11" name="Shape 9"/>
          <p:cNvSpPr/>
          <p:nvPr/>
        </p:nvSpPr>
        <p:spPr>
          <a:xfrm>
            <a:off x="868680" y="3008376"/>
            <a:ext cx="420624" cy="420624"/>
          </a:xfrm>
          <a:prstGeom prst="ellipse">
            <a:avLst/>
          </a:prstGeom>
          <a:solidFill>
            <a:srgbClr val="FF4757"/>
          </a:solidFill>
          <a:ln/>
        </p:spPr>
        <p:txBody>
          <a:bodyPr/>
          <a:p/>
        </p:txBody>
      </p:sp>
      <p:sp>
        <p:nvSpPr>
          <p:cNvPr id="12" name="Text 10"/>
          <p:cNvSpPr/>
          <p:nvPr/>
        </p:nvSpPr>
        <p:spPr>
          <a:xfrm>
            <a:off x="868680" y="300837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13" name="Text 11"/>
          <p:cNvSpPr/>
          <p:nvPr/>
        </p:nvSpPr>
        <p:spPr>
          <a:xfrm>
            <a:off x="1554480" y="2807208"/>
            <a:ext cx="9784080" cy="896112"/>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Postul rămas vacant de la plecarea unui fizioterapeut</a:t>
            </a:r>
            <a:endParaRPr lang="en-US" sz="2100" dirty="0"/>
          </a:p>
        </p:txBody>
      </p:sp>
      <p:sp>
        <p:nvSpPr>
          <p:cNvPr id="14" name="Shape 12"/>
          <p:cNvSpPr/>
          <p:nvPr/>
        </p:nvSpPr>
        <p:spPr>
          <a:xfrm>
            <a:off x="594360" y="3831336"/>
            <a:ext cx="10972800" cy="896112"/>
          </a:xfrm>
          <a:prstGeom prst="roundRect">
            <a:avLst>
              <a:gd name="adj" fmla="val 9184"/>
            </a:avLst>
          </a:prstGeom>
          <a:solidFill>
            <a:srgbClr val="1D1F2B"/>
          </a:solidFill>
          <a:ln w="12700">
            <a:solidFill>
              <a:srgbClr val="1D1F2B"/>
            </a:solidFill>
            <a:prstDash val="solid"/>
          </a:ln>
        </p:spPr>
        <p:txBody>
          <a:bodyPr/>
          <a:p/>
        </p:txBody>
      </p:sp>
      <p:sp>
        <p:nvSpPr>
          <p:cNvPr id="15" name="Shape 13"/>
          <p:cNvSpPr/>
          <p:nvPr/>
        </p:nvSpPr>
        <p:spPr>
          <a:xfrm>
            <a:off x="868680" y="4032504"/>
            <a:ext cx="420624" cy="420624"/>
          </a:xfrm>
          <a:prstGeom prst="ellipse">
            <a:avLst/>
          </a:prstGeom>
          <a:solidFill>
            <a:srgbClr val="FF4757"/>
          </a:solidFill>
          <a:ln/>
        </p:spPr>
        <p:txBody>
          <a:bodyPr/>
          <a:p/>
        </p:txBody>
      </p:sp>
      <p:sp>
        <p:nvSpPr>
          <p:cNvPr id="16" name="Text 14"/>
          <p:cNvSpPr/>
          <p:nvPr/>
        </p:nvSpPr>
        <p:spPr>
          <a:xfrm>
            <a:off x="868680" y="403250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6</a:t>
            </a:r>
            <a:endParaRPr lang="en-US" sz="1400" dirty="0"/>
          </a:p>
        </p:txBody>
      </p:sp>
      <p:sp>
        <p:nvSpPr>
          <p:cNvPr id="17" name="Text 15"/>
          <p:cNvSpPr/>
          <p:nvPr/>
        </p:nvSpPr>
        <p:spPr>
          <a:xfrm>
            <a:off x="1554480" y="3831336"/>
            <a:ext cx="9784080" cy="896112"/>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Lista de așteptare de șapte săptămâni</a:t>
            </a:r>
            <a:endParaRPr lang="en-US" sz="2100" dirty="0"/>
          </a:p>
        </p:txBody>
      </p:sp>
      <p:sp>
        <p:nvSpPr>
          <p:cNvPr id="18" name="Shape 16"/>
          <p:cNvSpPr/>
          <p:nvPr/>
        </p:nvSpPr>
        <p:spPr>
          <a:xfrm>
            <a:off x="594360" y="4983480"/>
            <a:ext cx="2606040" cy="566928"/>
          </a:xfrm>
          <a:prstGeom prst="roundRect">
            <a:avLst>
              <a:gd name="adj" fmla="val 14516"/>
            </a:avLst>
          </a:prstGeom>
          <a:solidFill>
            <a:srgbClr val="272A38"/>
          </a:solidFill>
          <a:ln w="12700">
            <a:solidFill>
              <a:srgbClr val="272A38"/>
            </a:solidFill>
            <a:prstDash val="solid"/>
          </a:ln>
        </p:spPr>
        <p:txBody>
          <a:bodyPr/>
          <a:p/>
        </p:txBody>
      </p:sp>
      <p:sp>
        <p:nvSpPr>
          <p:cNvPr id="19" name="Shape 17"/>
          <p:cNvSpPr/>
          <p:nvPr/>
        </p:nvSpPr>
        <p:spPr>
          <a:xfrm>
            <a:off x="704088" y="5056632"/>
            <a:ext cx="420624" cy="420624"/>
          </a:xfrm>
          <a:prstGeom prst="ellipse">
            <a:avLst/>
          </a:prstGeom>
          <a:solidFill>
            <a:srgbClr val="FFC24B"/>
          </a:solidFill>
          <a:ln/>
        </p:spPr>
        <p:txBody>
          <a:bodyPr/>
          <a:p/>
        </p:txBody>
      </p:sp>
      <p:sp>
        <p:nvSpPr>
          <p:cNvPr id="20" name="Text 18"/>
          <p:cNvSpPr/>
          <p:nvPr/>
        </p:nvSpPr>
        <p:spPr>
          <a:xfrm>
            <a:off x="704088" y="50566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21" name="Text 19"/>
          <p:cNvSpPr/>
          <p:nvPr/>
        </p:nvSpPr>
        <p:spPr>
          <a:xfrm>
            <a:off x="1234440" y="4983480"/>
            <a:ext cx="1874520" cy="56692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Punct tare</a:t>
            </a:r>
            <a:endParaRPr lang="en-US" sz="1600" dirty="0"/>
          </a:p>
        </p:txBody>
      </p:sp>
      <p:sp>
        <p:nvSpPr>
          <p:cNvPr id="22" name="Shape 20"/>
          <p:cNvSpPr/>
          <p:nvPr/>
        </p:nvSpPr>
        <p:spPr>
          <a:xfrm>
            <a:off x="3383280" y="4983480"/>
            <a:ext cx="2606040" cy="566928"/>
          </a:xfrm>
          <a:prstGeom prst="roundRect">
            <a:avLst>
              <a:gd name="adj" fmla="val 14516"/>
            </a:avLst>
          </a:prstGeom>
          <a:solidFill>
            <a:srgbClr val="272A38"/>
          </a:solidFill>
          <a:ln w="12700">
            <a:solidFill>
              <a:srgbClr val="272A38"/>
            </a:solidFill>
            <a:prstDash val="solid"/>
          </a:ln>
        </p:spPr>
        <p:txBody>
          <a:bodyPr/>
          <a:p/>
        </p:txBody>
      </p:sp>
      <p:sp>
        <p:nvSpPr>
          <p:cNvPr id="23" name="Shape 21"/>
          <p:cNvSpPr/>
          <p:nvPr/>
        </p:nvSpPr>
        <p:spPr>
          <a:xfrm>
            <a:off x="3493008" y="5056632"/>
            <a:ext cx="420624" cy="420624"/>
          </a:xfrm>
          <a:prstGeom prst="ellipse">
            <a:avLst/>
          </a:prstGeom>
          <a:solidFill>
            <a:srgbClr val="FFC24B"/>
          </a:solidFill>
          <a:ln/>
        </p:spPr>
        <p:txBody>
          <a:bodyPr/>
          <a:p/>
        </p:txBody>
      </p:sp>
      <p:sp>
        <p:nvSpPr>
          <p:cNvPr id="24" name="Text 22"/>
          <p:cNvSpPr/>
          <p:nvPr/>
        </p:nvSpPr>
        <p:spPr>
          <a:xfrm>
            <a:off x="3493008" y="50566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25" name="Text 23"/>
          <p:cNvSpPr/>
          <p:nvPr/>
        </p:nvSpPr>
        <p:spPr>
          <a:xfrm>
            <a:off x="4023360" y="4983480"/>
            <a:ext cx="1874520" cy="56692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Punct slab</a:t>
            </a:r>
            <a:endParaRPr lang="en-US" sz="1600" dirty="0"/>
          </a:p>
        </p:txBody>
      </p:sp>
      <p:sp>
        <p:nvSpPr>
          <p:cNvPr id="26" name="Shape 24"/>
          <p:cNvSpPr/>
          <p:nvPr/>
        </p:nvSpPr>
        <p:spPr>
          <a:xfrm>
            <a:off x="6172200" y="4983480"/>
            <a:ext cx="2606040" cy="566928"/>
          </a:xfrm>
          <a:prstGeom prst="roundRect">
            <a:avLst>
              <a:gd name="adj" fmla="val 14516"/>
            </a:avLst>
          </a:prstGeom>
          <a:solidFill>
            <a:srgbClr val="272A38"/>
          </a:solidFill>
          <a:ln w="12700">
            <a:solidFill>
              <a:srgbClr val="272A38"/>
            </a:solidFill>
            <a:prstDash val="solid"/>
          </a:ln>
        </p:spPr>
        <p:txBody>
          <a:bodyPr/>
          <a:p/>
        </p:txBody>
      </p:sp>
      <p:sp>
        <p:nvSpPr>
          <p:cNvPr id="27" name="Shape 25"/>
          <p:cNvSpPr/>
          <p:nvPr/>
        </p:nvSpPr>
        <p:spPr>
          <a:xfrm>
            <a:off x="6281928" y="5056632"/>
            <a:ext cx="420624" cy="420624"/>
          </a:xfrm>
          <a:prstGeom prst="ellipse">
            <a:avLst/>
          </a:prstGeom>
          <a:solidFill>
            <a:srgbClr val="FFC24B"/>
          </a:solidFill>
          <a:ln/>
        </p:spPr>
        <p:txBody>
          <a:bodyPr/>
          <a:p/>
        </p:txBody>
      </p:sp>
      <p:sp>
        <p:nvSpPr>
          <p:cNvPr id="28" name="Text 26"/>
          <p:cNvSpPr/>
          <p:nvPr/>
        </p:nvSpPr>
        <p:spPr>
          <a:xfrm>
            <a:off x="6281928" y="50566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29" name="Text 27"/>
          <p:cNvSpPr/>
          <p:nvPr/>
        </p:nvSpPr>
        <p:spPr>
          <a:xfrm>
            <a:off x="6812280" y="4983480"/>
            <a:ext cx="1874520" cy="56692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Oportunitate</a:t>
            </a:r>
            <a:endParaRPr lang="en-US" sz="1600" dirty="0"/>
          </a:p>
        </p:txBody>
      </p:sp>
      <p:sp>
        <p:nvSpPr>
          <p:cNvPr id="30" name="Shape 28"/>
          <p:cNvSpPr/>
          <p:nvPr/>
        </p:nvSpPr>
        <p:spPr>
          <a:xfrm>
            <a:off x="8961120" y="4983480"/>
            <a:ext cx="2606040" cy="566928"/>
          </a:xfrm>
          <a:prstGeom prst="roundRect">
            <a:avLst>
              <a:gd name="adj" fmla="val 14516"/>
            </a:avLst>
          </a:prstGeom>
          <a:solidFill>
            <a:srgbClr val="272A38"/>
          </a:solidFill>
          <a:ln w="12700">
            <a:solidFill>
              <a:srgbClr val="272A38"/>
            </a:solidFill>
            <a:prstDash val="solid"/>
          </a:ln>
        </p:spPr>
        <p:txBody>
          <a:bodyPr/>
          <a:p/>
        </p:txBody>
      </p:sp>
      <p:sp>
        <p:nvSpPr>
          <p:cNvPr id="31" name="Shape 29"/>
          <p:cNvSpPr/>
          <p:nvPr/>
        </p:nvSpPr>
        <p:spPr>
          <a:xfrm>
            <a:off x="9070848" y="5056632"/>
            <a:ext cx="420624" cy="420624"/>
          </a:xfrm>
          <a:prstGeom prst="ellipse">
            <a:avLst/>
          </a:prstGeom>
          <a:solidFill>
            <a:srgbClr val="FFC24B"/>
          </a:solidFill>
          <a:ln/>
        </p:spPr>
        <p:txBody>
          <a:bodyPr/>
          <a:p/>
        </p:txBody>
      </p:sp>
      <p:sp>
        <p:nvSpPr>
          <p:cNvPr id="32" name="Text 30"/>
          <p:cNvSpPr/>
          <p:nvPr/>
        </p:nvSpPr>
        <p:spPr>
          <a:xfrm>
            <a:off x="9070848" y="50566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33" name="Text 31"/>
          <p:cNvSpPr/>
          <p:nvPr/>
        </p:nvSpPr>
        <p:spPr>
          <a:xfrm>
            <a:off x="9601200" y="4983480"/>
            <a:ext cx="1874520" cy="566928"/>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Amenințare</a:t>
            </a:r>
            <a:endParaRPr lang="en-US" sz="1600" dirty="0"/>
          </a:p>
        </p:txBody>
      </p:sp>
      <p:sp>
        <p:nvSpPr>
          <p:cNvPr id="34" name="Text 32"/>
          <p:cNvSpPr/>
          <p:nvPr/>
        </p:nvSpPr>
        <p:spPr>
          <a:xfrm>
            <a:off x="594360" y="5760720"/>
            <a:ext cx="10972800" cy="411480"/>
          </a:xfrm>
          <a:prstGeom prst="rect">
            <a:avLst/>
          </a:prstGeom>
          <a:noFill/>
          <a:ln/>
        </p:spPr>
        <p:txBody>
          <a:bodyPr wrap="square" lIns="0" tIns="0" rIns="0" bIns="0" rtlCol="0" anchor="t"/>
          <a:lstStyle/>
          <a:p>
            <a:pPr indent="0" marL="0">
              <a:buNone/>
            </a:pPr>
            <a:r>
              <a:rPr lang="en-US" sz="1450" i="1" dirty="0">
                <a:solidFill>
                  <a:srgbClr val="959BB0"/>
                </a:solidFill>
                <a:latin typeface="Palatino Linotype" pitchFamily="34" charset="0"/>
                <a:ea typeface="Palatino Linotype" pitchFamily="34" charset="-122"/>
                <a:cs typeface="Palatino Linotype" pitchFamily="34" charset="-120"/>
              </a:rPr>
              <a:t>Întrebarea taberelor: poate serviciul să schimbe acest lucru prin propriile decizii?</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 TABLOUL SERVICIULUI D. (CONSTRUIT)</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600" b="1" dirty="0">
                <a:solidFill>
                  <a:srgbClr val="11121A"/>
                </a:solidFill>
                <a:latin typeface="Palatino Linotype" pitchFamily="34" charset="0"/>
                <a:ea typeface="Palatino Linotype" pitchFamily="34" charset="-122"/>
                <a:cs typeface="Palatino Linotype" pitchFamily="34" charset="-120"/>
              </a:rPr>
              <a:t>Poate serviciul să schimbe asta prin propriile decizii?</a:t>
            </a:r>
            <a:endParaRPr lang="en-US" sz="2600" dirty="0"/>
          </a:p>
        </p:txBody>
      </p:sp>
      <p:sp>
        <p:nvSpPr>
          <p:cNvPr id="4" name="Shape 2"/>
          <p:cNvSpPr/>
          <p:nvPr/>
        </p:nvSpPr>
        <p:spPr>
          <a:xfrm>
            <a:off x="594360" y="1508760"/>
            <a:ext cx="5394960" cy="1463040"/>
          </a:xfrm>
          <a:prstGeom prst="roundRect">
            <a:avLst>
              <a:gd name="adj" fmla="val 5625"/>
            </a:avLst>
          </a:prstGeom>
          <a:solidFill>
            <a:srgbClr val="E1F0EC"/>
          </a:solidFill>
          <a:ln w="12700">
            <a:solidFill>
              <a:srgbClr val="E1F0EC"/>
            </a:solidFill>
            <a:prstDash val="solid"/>
          </a:ln>
        </p:spPr>
        <p:txBody>
          <a:bodyPr/>
          <a:p/>
        </p:txBody>
      </p:sp>
      <p:sp>
        <p:nvSpPr>
          <p:cNvPr id="5" name="Text 3"/>
          <p:cNvSpPr/>
          <p:nvPr/>
        </p:nvSpPr>
        <p:spPr>
          <a:xfrm>
            <a:off x="822960" y="1618488"/>
            <a:ext cx="4937760" cy="320040"/>
          </a:xfrm>
          <a:prstGeom prst="rect">
            <a:avLst/>
          </a:prstGeom>
          <a:noFill/>
          <a:ln/>
        </p:spPr>
        <p:txBody>
          <a:bodyPr wrap="square" lIns="0" tIns="0" rIns="0" bIns="0" rtlCol="0" anchor="t"/>
          <a:lstStyle/>
          <a:p>
            <a:pPr indent="0" marL="0">
              <a:buNone/>
            </a:pPr>
            <a:r>
              <a:rPr lang="en-US" sz="1250" b="1" spc="100" kern="0" dirty="0">
                <a:solidFill>
                  <a:srgbClr val="0E7C6B"/>
                </a:solidFill>
                <a:latin typeface="Palatino Linotype" pitchFamily="34" charset="0"/>
                <a:ea typeface="Palatino Linotype" pitchFamily="34" charset="-122"/>
                <a:cs typeface="Palatino Linotype" pitchFamily="34" charset="-120"/>
              </a:rPr>
              <a:t>PUNCTE TARI</a:t>
            </a:r>
            <a:endParaRPr lang="en-US" sz="1250" dirty="0"/>
          </a:p>
        </p:txBody>
      </p:sp>
      <p:sp>
        <p:nvSpPr>
          <p:cNvPr id="6" name="Text 4"/>
          <p:cNvSpPr/>
          <p:nvPr/>
        </p:nvSpPr>
        <p:spPr>
          <a:xfrm>
            <a:off x="822960" y="1965960"/>
            <a:ext cx="4937760" cy="96012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Experiența în recuperarea după accident vascular cerebral; sala de kinetoterapie nou utilată; colaborarea cu medicul MFR.</a:t>
            </a:r>
            <a:endParaRPr lang="en-US" sz="1450" dirty="0"/>
          </a:p>
        </p:txBody>
      </p:sp>
      <p:sp>
        <p:nvSpPr>
          <p:cNvPr id="7" name="Shape 5"/>
          <p:cNvSpPr/>
          <p:nvPr/>
        </p:nvSpPr>
        <p:spPr>
          <a:xfrm>
            <a:off x="6172200" y="1508760"/>
            <a:ext cx="5394960" cy="1463040"/>
          </a:xfrm>
          <a:prstGeom prst="roundRect">
            <a:avLst>
              <a:gd name="adj" fmla="val 5625"/>
            </a:avLst>
          </a:prstGeom>
          <a:solidFill>
            <a:srgbClr val="F4E0E2"/>
          </a:solidFill>
          <a:ln w="12700">
            <a:solidFill>
              <a:srgbClr val="F4E0E2"/>
            </a:solidFill>
            <a:prstDash val="solid"/>
          </a:ln>
        </p:spPr>
        <p:txBody>
          <a:bodyPr/>
          <a:p/>
        </p:txBody>
      </p:sp>
      <p:sp>
        <p:nvSpPr>
          <p:cNvPr id="8" name="Text 6"/>
          <p:cNvSpPr/>
          <p:nvPr/>
        </p:nvSpPr>
        <p:spPr>
          <a:xfrm>
            <a:off x="6400800" y="1618488"/>
            <a:ext cx="4937760" cy="320040"/>
          </a:xfrm>
          <a:prstGeom prst="rect">
            <a:avLst/>
          </a:prstGeom>
          <a:noFill/>
          <a:ln/>
        </p:spPr>
        <p:txBody>
          <a:bodyPr wrap="square" lIns="0" tIns="0" rIns="0" bIns="0" rtlCol="0" anchor="t"/>
          <a:lstStyle/>
          <a:p>
            <a:pPr indent="0" marL="0">
              <a:buNone/>
            </a:pPr>
            <a:r>
              <a:rPr lang="en-US" sz="1250" b="1" spc="100" kern="0" dirty="0">
                <a:solidFill>
                  <a:srgbClr val="B02532"/>
                </a:solidFill>
                <a:latin typeface="Palatino Linotype" pitchFamily="34" charset="0"/>
                <a:ea typeface="Palatino Linotype" pitchFamily="34" charset="-122"/>
                <a:cs typeface="Palatino Linotype" pitchFamily="34" charset="-120"/>
              </a:rPr>
              <a:t>PUNCTE SLABE</a:t>
            </a:r>
            <a:endParaRPr lang="en-US" sz="1250" dirty="0"/>
          </a:p>
        </p:txBody>
      </p:sp>
      <p:sp>
        <p:nvSpPr>
          <p:cNvPr id="9" name="Text 7"/>
          <p:cNvSpPr/>
          <p:nvPr/>
        </p:nvSpPr>
        <p:spPr>
          <a:xfrm>
            <a:off x="6400800" y="1965960"/>
            <a:ext cx="4937760" cy="96012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Postul vacant; programarea pe hârtie; evaluările inițiale făcute de un singur fizioterapeut; abandonul nemăsurat.</a:t>
            </a:r>
            <a:endParaRPr lang="en-US" sz="1450" dirty="0"/>
          </a:p>
        </p:txBody>
      </p:sp>
      <p:sp>
        <p:nvSpPr>
          <p:cNvPr id="10" name="Shape 8"/>
          <p:cNvSpPr/>
          <p:nvPr/>
        </p:nvSpPr>
        <p:spPr>
          <a:xfrm>
            <a:off x="594360" y="3081528"/>
            <a:ext cx="5394960" cy="1463040"/>
          </a:xfrm>
          <a:prstGeom prst="roundRect">
            <a:avLst>
              <a:gd name="adj" fmla="val 5625"/>
            </a:avLst>
          </a:prstGeom>
          <a:solidFill>
            <a:srgbClr val="E1F0EC"/>
          </a:solidFill>
          <a:ln w="12700">
            <a:solidFill>
              <a:srgbClr val="E1F0EC"/>
            </a:solidFill>
            <a:prstDash val="solid"/>
          </a:ln>
        </p:spPr>
        <p:txBody>
          <a:bodyPr/>
          <a:p/>
        </p:txBody>
      </p:sp>
      <p:sp>
        <p:nvSpPr>
          <p:cNvPr id="11" name="Text 9"/>
          <p:cNvSpPr/>
          <p:nvPr/>
        </p:nvSpPr>
        <p:spPr>
          <a:xfrm>
            <a:off x="822960" y="3191256"/>
            <a:ext cx="4937760" cy="320040"/>
          </a:xfrm>
          <a:prstGeom prst="rect">
            <a:avLst/>
          </a:prstGeom>
          <a:noFill/>
          <a:ln/>
        </p:spPr>
        <p:txBody>
          <a:bodyPr wrap="square" lIns="0" tIns="0" rIns="0" bIns="0" rtlCol="0" anchor="t"/>
          <a:lstStyle/>
          <a:p>
            <a:pPr indent="0" marL="0">
              <a:buNone/>
            </a:pPr>
            <a:r>
              <a:rPr lang="en-US" sz="1250" b="1" spc="100" kern="0" dirty="0">
                <a:solidFill>
                  <a:srgbClr val="0E7C6B"/>
                </a:solidFill>
                <a:latin typeface="Palatino Linotype" pitchFamily="34" charset="0"/>
                <a:ea typeface="Palatino Linotype" pitchFamily="34" charset="-122"/>
                <a:cs typeface="Palatino Linotype" pitchFamily="34" charset="-120"/>
              </a:rPr>
              <a:t>OPORTUNITĂȚI</a:t>
            </a:r>
            <a:endParaRPr lang="en-US" sz="1250" dirty="0"/>
          </a:p>
        </p:txBody>
      </p:sp>
      <p:sp>
        <p:nvSpPr>
          <p:cNvPr id="12" name="Text 10"/>
          <p:cNvSpPr/>
          <p:nvPr/>
        </p:nvSpPr>
        <p:spPr>
          <a:xfrm>
            <a:off x="822960" y="3538728"/>
            <a:ext cx="4937760" cy="96012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Finanțarea pentru dotări; doi absolvenți interesați de un post; un angajator local care vrea un program de mișcare.</a:t>
            </a:r>
            <a:endParaRPr lang="en-US" sz="1450" dirty="0"/>
          </a:p>
        </p:txBody>
      </p:sp>
      <p:sp>
        <p:nvSpPr>
          <p:cNvPr id="13" name="Shape 11"/>
          <p:cNvSpPr/>
          <p:nvPr/>
        </p:nvSpPr>
        <p:spPr>
          <a:xfrm>
            <a:off x="6172200" y="3081528"/>
            <a:ext cx="5394960" cy="1463040"/>
          </a:xfrm>
          <a:prstGeom prst="roundRect">
            <a:avLst>
              <a:gd name="adj" fmla="val 5625"/>
            </a:avLst>
          </a:prstGeom>
          <a:solidFill>
            <a:srgbClr val="F4E0E2"/>
          </a:solidFill>
          <a:ln w="12700">
            <a:solidFill>
              <a:srgbClr val="F4E0E2"/>
            </a:solidFill>
            <a:prstDash val="solid"/>
          </a:ln>
        </p:spPr>
        <p:txBody>
          <a:bodyPr/>
          <a:p/>
        </p:txBody>
      </p:sp>
      <p:sp>
        <p:nvSpPr>
          <p:cNvPr id="14" name="Text 12"/>
          <p:cNvSpPr/>
          <p:nvPr/>
        </p:nvSpPr>
        <p:spPr>
          <a:xfrm>
            <a:off x="6400800" y="3191256"/>
            <a:ext cx="4937760" cy="320040"/>
          </a:xfrm>
          <a:prstGeom prst="rect">
            <a:avLst/>
          </a:prstGeom>
          <a:noFill/>
          <a:ln/>
        </p:spPr>
        <p:txBody>
          <a:bodyPr wrap="square" lIns="0" tIns="0" rIns="0" bIns="0" rtlCol="0" anchor="t"/>
          <a:lstStyle/>
          <a:p>
            <a:pPr indent="0" marL="0">
              <a:buNone/>
            </a:pPr>
            <a:r>
              <a:rPr lang="en-US" sz="1250" b="1" spc="100" kern="0" dirty="0">
                <a:solidFill>
                  <a:srgbClr val="B02532"/>
                </a:solidFill>
                <a:latin typeface="Palatino Linotype" pitchFamily="34" charset="0"/>
                <a:ea typeface="Palatino Linotype" pitchFamily="34" charset="-122"/>
                <a:cs typeface="Palatino Linotype" pitchFamily="34" charset="-120"/>
              </a:rPr>
              <a:t>AMENINȚĂRI</a:t>
            </a:r>
            <a:endParaRPr lang="en-US" sz="1250" dirty="0"/>
          </a:p>
        </p:txBody>
      </p:sp>
      <p:sp>
        <p:nvSpPr>
          <p:cNvPr id="15" name="Text 13"/>
          <p:cNvSpPr/>
          <p:nvPr/>
        </p:nvSpPr>
        <p:spPr>
          <a:xfrm>
            <a:off x="6400800" y="3538728"/>
            <a:ext cx="4937760" cy="96012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Clinicile private, cu salarii mai mari; bugetul de personal fixat; mai mulți vârstnici trimiși după fractură de șold.</a:t>
            </a:r>
            <a:endParaRPr lang="en-US" sz="1450" dirty="0"/>
          </a:p>
        </p:txBody>
      </p:sp>
      <p:sp>
        <p:nvSpPr>
          <p:cNvPr id="16" name="Text 14"/>
          <p:cNvSpPr/>
          <p:nvPr/>
        </p:nvSpPr>
        <p:spPr>
          <a:xfrm>
            <a:off x="594360" y="4754880"/>
            <a:ext cx="10972800" cy="1325880"/>
          </a:xfrm>
          <a:prstGeom prst="rect">
            <a:avLst/>
          </a:prstGeom>
          <a:noFill/>
          <a:ln/>
        </p:spPr>
        <p:txBody>
          <a:bodyPr wrap="square" lIns="0" tIns="0" rIns="0" bIns="0" rtlCol="0" anchor="t"/>
          <a:lstStyle/>
          <a:p>
            <a:pPr indent="0" marL="0">
              <a:buNone/>
            </a:pPr>
            <a:r>
              <a:rPr lang="en-US" sz="1550" b="1" dirty="0">
                <a:solidFill>
                  <a:srgbClr val="B02532"/>
                </a:solidFill>
                <a:latin typeface="Palatino Linotype" pitchFamily="34" charset="0"/>
                <a:ea typeface="Palatino Linotype" pitchFamily="34" charset="-122"/>
                <a:cs typeface="Palatino Linotype" pitchFamily="34" charset="-120"/>
              </a:rPr>
              <a:t>Lista de așteptare nu e o amenințare: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e un efect al punctelor slabe. </a:t>
            </a:r>
            <a:endParaRPr lang="en-US" sz="1550" dirty="0"/>
          </a:p>
          <a:p>
            <a:pPr indent="0" marL="0">
              <a:buNone/>
            </a:pPr>
            <a:r>
              <a:rPr lang="en-US" sz="1550" b="1" dirty="0">
                <a:solidFill>
                  <a:srgbClr val="0E7C6B"/>
                </a:solidFill>
                <a:latin typeface="Palatino Linotype" pitchFamily="34" charset="0"/>
                <a:ea typeface="Palatino Linotype" pitchFamily="34" charset="-122"/>
                <a:cs typeface="Palatino Linotype" pitchFamily="34" charset="-120"/>
              </a:rPr>
              <a:t>Lectura: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experiența cu pacienții după accident vascular cerebral susține cererea de finanțare; programarea electronică eliberează ore fără posturi noi.</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822960" y="2103120"/>
            <a:ext cx="10515600" cy="1463040"/>
          </a:xfrm>
          <a:prstGeom prst="rect">
            <a:avLst/>
          </a:prstGeom>
          <a:noFill/>
          <a:ln/>
        </p:spPr>
        <p:txBody>
          <a:bodyPr wrap="square" lIns="0" tIns="0" rIns="0" bIns="0" rtlCol="0" anchor="t"/>
          <a:lstStyle/>
          <a:p>
            <a:pPr indent="0" marL="0">
              <a:buNone/>
            </a:pPr>
            <a:r>
              <a:rPr lang="en-US" sz="8000" b="1" dirty="0">
                <a:solidFill>
                  <a:srgbClr val="FFFFFF"/>
                </a:solidFill>
                <a:latin typeface="Palatino Linotype" pitchFamily="34" charset="0"/>
                <a:ea typeface="Palatino Linotype" pitchFamily="34" charset="-122"/>
                <a:cs typeface="Palatino Linotype" pitchFamily="34" charset="-120"/>
              </a:rPr>
              <a:t>Pauză</a:t>
            </a:r>
            <a:endParaRPr lang="en-US" sz="8000" dirty="0"/>
          </a:p>
        </p:txBody>
      </p:sp>
      <p:sp>
        <p:nvSpPr>
          <p:cNvPr id="3" name="Text 1"/>
          <p:cNvSpPr/>
          <p:nvPr/>
        </p:nvSpPr>
        <p:spPr>
          <a:xfrm>
            <a:off x="822960" y="3749040"/>
            <a:ext cx="10515600" cy="731520"/>
          </a:xfrm>
          <a:prstGeom prst="rect">
            <a:avLst/>
          </a:prstGeom>
          <a:noFill/>
          <a:ln/>
        </p:spPr>
        <p:txBody>
          <a:bodyPr wrap="square" lIns="0" tIns="0" rIns="0" bIns="0" rtlCol="0" anchor="t"/>
          <a:lstStyle/>
          <a:p>
            <a:pPr indent="0" marL="0">
              <a:buNone/>
            </a:pPr>
            <a:r>
              <a:rPr lang="en-US" sz="2400" dirty="0">
                <a:solidFill>
                  <a:srgbClr val="959BB0"/>
                </a:solidFill>
                <a:latin typeface="Palatino Linotype" pitchFamily="34" charset="0"/>
                <a:ea typeface="Palatino Linotype" pitchFamily="34" charset="-122"/>
                <a:cs typeface="Palatino Linotype" pitchFamily="34" charset="-120"/>
              </a:rPr>
              <a:t>Zece minute. După pauză: cifrele serviciului și oamenii lui.</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CONTROLUL ARE NEVOIE DE CIFRE</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face un indicator util</a:t>
            </a:r>
            <a:endParaRPr lang="en-US" sz="3000" dirty="0"/>
          </a:p>
        </p:txBody>
      </p:sp>
      <p:sp>
        <p:nvSpPr>
          <p:cNvPr id="4" name="Shape 2"/>
          <p:cNvSpPr/>
          <p:nvPr/>
        </p:nvSpPr>
        <p:spPr>
          <a:xfrm>
            <a:off x="594360" y="1645920"/>
            <a:ext cx="2633472" cy="1188720"/>
          </a:xfrm>
          <a:prstGeom prst="roundRect">
            <a:avLst>
              <a:gd name="adj" fmla="val 6923"/>
            </a:avLst>
          </a:prstGeom>
          <a:solidFill>
            <a:srgbClr val="E1F0EC"/>
          </a:solidFill>
          <a:ln w="12700">
            <a:solidFill>
              <a:srgbClr val="E1F0EC"/>
            </a:solidFill>
            <a:prstDash val="solid"/>
          </a:ln>
        </p:spPr>
        <p:txBody>
          <a:bodyPr/>
          <a:p/>
        </p:txBody>
      </p:sp>
      <p:sp>
        <p:nvSpPr>
          <p:cNvPr id="5" name="Text 3"/>
          <p:cNvSpPr/>
          <p:nvPr/>
        </p:nvSpPr>
        <p:spPr>
          <a:xfrm>
            <a:off x="777240" y="1737360"/>
            <a:ext cx="228600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Numărătorul</a:t>
            </a:r>
            <a:endParaRPr lang="en-US" sz="1800" dirty="0"/>
          </a:p>
        </p:txBody>
      </p:sp>
      <p:sp>
        <p:nvSpPr>
          <p:cNvPr id="6" name="Text 4"/>
          <p:cNvSpPr/>
          <p:nvPr/>
        </p:nvSpPr>
        <p:spPr>
          <a:xfrm>
            <a:off x="777240" y="2240280"/>
            <a:ext cx="2286000" cy="4572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ce se numără</a:t>
            </a:r>
            <a:endParaRPr lang="en-US" sz="1550" dirty="0"/>
          </a:p>
        </p:txBody>
      </p:sp>
      <p:sp>
        <p:nvSpPr>
          <p:cNvPr id="7" name="Shape 5"/>
          <p:cNvSpPr/>
          <p:nvPr/>
        </p:nvSpPr>
        <p:spPr>
          <a:xfrm>
            <a:off x="3410712" y="1645920"/>
            <a:ext cx="2633472" cy="1188720"/>
          </a:xfrm>
          <a:prstGeom prst="roundRect">
            <a:avLst>
              <a:gd name="adj" fmla="val 6923"/>
            </a:avLst>
          </a:prstGeom>
          <a:solidFill>
            <a:srgbClr val="F6EDD5"/>
          </a:solidFill>
          <a:ln w="12700">
            <a:solidFill>
              <a:srgbClr val="F6EDD5"/>
            </a:solidFill>
            <a:prstDash val="solid"/>
          </a:ln>
        </p:spPr>
        <p:txBody>
          <a:bodyPr/>
          <a:p/>
        </p:txBody>
      </p:sp>
      <p:sp>
        <p:nvSpPr>
          <p:cNvPr id="8" name="Text 6"/>
          <p:cNvSpPr/>
          <p:nvPr/>
        </p:nvSpPr>
        <p:spPr>
          <a:xfrm>
            <a:off x="3593592" y="1737360"/>
            <a:ext cx="2286000" cy="457200"/>
          </a:xfrm>
          <a:prstGeom prst="rect">
            <a:avLst/>
          </a:prstGeom>
          <a:noFill/>
          <a:ln/>
        </p:spPr>
        <p:txBody>
          <a:bodyPr wrap="square" lIns="0" tIns="0" rIns="0" bIns="0" rtlCol="0" anchor="t"/>
          <a:lstStyle/>
          <a:p>
            <a:pPr indent="0" marL="0">
              <a:buNone/>
            </a:pPr>
            <a:r>
              <a:rPr lang="en-US" sz="1800" b="1" dirty="0">
                <a:solidFill>
                  <a:srgbClr val="8A6100"/>
                </a:solidFill>
                <a:latin typeface="Palatino Linotype" pitchFamily="34" charset="0"/>
                <a:ea typeface="Palatino Linotype" pitchFamily="34" charset="-122"/>
                <a:cs typeface="Palatino Linotype" pitchFamily="34" charset="-120"/>
              </a:rPr>
              <a:t>Numitorul</a:t>
            </a:r>
            <a:endParaRPr lang="en-US" sz="1800" dirty="0"/>
          </a:p>
        </p:txBody>
      </p:sp>
      <p:sp>
        <p:nvSpPr>
          <p:cNvPr id="9" name="Text 7"/>
          <p:cNvSpPr/>
          <p:nvPr/>
        </p:nvSpPr>
        <p:spPr>
          <a:xfrm>
            <a:off x="3593592" y="2240280"/>
            <a:ext cx="2286000" cy="4572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față de ce</a:t>
            </a:r>
            <a:endParaRPr lang="en-US" sz="1550" dirty="0"/>
          </a:p>
        </p:txBody>
      </p:sp>
      <p:sp>
        <p:nvSpPr>
          <p:cNvPr id="10" name="Shape 8"/>
          <p:cNvSpPr/>
          <p:nvPr/>
        </p:nvSpPr>
        <p:spPr>
          <a:xfrm>
            <a:off x="6227064" y="1645920"/>
            <a:ext cx="2633472" cy="1188720"/>
          </a:xfrm>
          <a:prstGeom prst="roundRect">
            <a:avLst>
              <a:gd name="adj" fmla="val 6923"/>
            </a:avLst>
          </a:prstGeom>
          <a:solidFill>
            <a:srgbClr val="E1F0EC"/>
          </a:solidFill>
          <a:ln w="12700">
            <a:solidFill>
              <a:srgbClr val="E1F0EC"/>
            </a:solidFill>
            <a:prstDash val="solid"/>
          </a:ln>
        </p:spPr>
        <p:txBody>
          <a:bodyPr/>
          <a:p/>
        </p:txBody>
      </p:sp>
      <p:sp>
        <p:nvSpPr>
          <p:cNvPr id="11" name="Text 9"/>
          <p:cNvSpPr/>
          <p:nvPr/>
        </p:nvSpPr>
        <p:spPr>
          <a:xfrm>
            <a:off x="6409944" y="1737360"/>
            <a:ext cx="228600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Sursa</a:t>
            </a:r>
            <a:endParaRPr lang="en-US" sz="1800" dirty="0"/>
          </a:p>
        </p:txBody>
      </p:sp>
      <p:sp>
        <p:nvSpPr>
          <p:cNvPr id="12" name="Text 10"/>
          <p:cNvSpPr/>
          <p:nvPr/>
        </p:nvSpPr>
        <p:spPr>
          <a:xfrm>
            <a:off x="6409944" y="2240280"/>
            <a:ext cx="2286000" cy="4572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de unde vin datele</a:t>
            </a:r>
            <a:endParaRPr lang="en-US" sz="1550" dirty="0"/>
          </a:p>
        </p:txBody>
      </p:sp>
      <p:sp>
        <p:nvSpPr>
          <p:cNvPr id="13" name="Shape 11"/>
          <p:cNvSpPr/>
          <p:nvPr/>
        </p:nvSpPr>
        <p:spPr>
          <a:xfrm>
            <a:off x="9043416" y="1645920"/>
            <a:ext cx="2633472" cy="1188720"/>
          </a:xfrm>
          <a:prstGeom prst="roundRect">
            <a:avLst>
              <a:gd name="adj" fmla="val 6923"/>
            </a:avLst>
          </a:prstGeom>
          <a:solidFill>
            <a:srgbClr val="F6EDD5"/>
          </a:solidFill>
          <a:ln w="12700">
            <a:solidFill>
              <a:srgbClr val="F6EDD5"/>
            </a:solidFill>
            <a:prstDash val="solid"/>
          </a:ln>
        </p:spPr>
        <p:txBody>
          <a:bodyPr/>
          <a:p/>
        </p:txBody>
      </p:sp>
      <p:sp>
        <p:nvSpPr>
          <p:cNvPr id="14" name="Text 12"/>
          <p:cNvSpPr/>
          <p:nvPr/>
        </p:nvSpPr>
        <p:spPr>
          <a:xfrm>
            <a:off x="9226296" y="1737360"/>
            <a:ext cx="2286000" cy="457200"/>
          </a:xfrm>
          <a:prstGeom prst="rect">
            <a:avLst/>
          </a:prstGeom>
          <a:noFill/>
          <a:ln/>
        </p:spPr>
        <p:txBody>
          <a:bodyPr wrap="square" lIns="0" tIns="0" rIns="0" bIns="0" rtlCol="0" anchor="t"/>
          <a:lstStyle/>
          <a:p>
            <a:pPr indent="0" marL="0">
              <a:buNone/>
            </a:pPr>
            <a:r>
              <a:rPr lang="en-US" sz="1800" b="1" dirty="0">
                <a:solidFill>
                  <a:srgbClr val="8A6100"/>
                </a:solidFill>
                <a:latin typeface="Palatino Linotype" pitchFamily="34" charset="0"/>
                <a:ea typeface="Palatino Linotype" pitchFamily="34" charset="-122"/>
                <a:cs typeface="Palatino Linotype" pitchFamily="34" charset="-120"/>
              </a:rPr>
              <a:t>Frecvența</a:t>
            </a:r>
            <a:endParaRPr lang="en-US" sz="1800" dirty="0"/>
          </a:p>
        </p:txBody>
      </p:sp>
      <p:sp>
        <p:nvSpPr>
          <p:cNvPr id="15" name="Text 13"/>
          <p:cNvSpPr/>
          <p:nvPr/>
        </p:nvSpPr>
        <p:spPr>
          <a:xfrm>
            <a:off x="9226296" y="2240280"/>
            <a:ext cx="2286000" cy="4572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cât de des se calculează</a:t>
            </a:r>
            <a:endParaRPr lang="en-US" sz="1550" dirty="0"/>
          </a:p>
        </p:txBody>
      </p:sp>
      <p:sp>
        <p:nvSpPr>
          <p:cNvPr id="16" name="Shape 14"/>
          <p:cNvSpPr/>
          <p:nvPr/>
        </p:nvSpPr>
        <p:spPr>
          <a:xfrm>
            <a:off x="594360" y="3063240"/>
            <a:ext cx="10972800" cy="1143000"/>
          </a:xfrm>
          <a:prstGeom prst="roundRect">
            <a:avLst>
              <a:gd name="adj" fmla="val 7200"/>
            </a:avLst>
          </a:prstGeom>
          <a:solidFill>
            <a:srgbClr val="E1F0EC"/>
          </a:solidFill>
          <a:ln w="12700">
            <a:solidFill>
              <a:srgbClr val="E1F0EC"/>
            </a:solidFill>
            <a:prstDash val="solid"/>
          </a:ln>
        </p:spPr>
        <p:txBody>
          <a:bodyPr/>
          <a:p/>
        </p:txBody>
      </p:sp>
      <p:sp>
        <p:nvSpPr>
          <p:cNvPr id="17" name="Shape 15"/>
          <p:cNvSpPr/>
          <p:nvPr/>
        </p:nvSpPr>
        <p:spPr>
          <a:xfrm>
            <a:off x="822960" y="3246120"/>
            <a:ext cx="1737360" cy="329184"/>
          </a:xfrm>
          <a:prstGeom prst="roundRect">
            <a:avLst>
              <a:gd name="adj" fmla="val 50000"/>
            </a:avLst>
          </a:prstGeom>
          <a:solidFill>
            <a:srgbClr val="0E7C6B"/>
          </a:solidFill>
          <a:ln w="12700">
            <a:solidFill>
              <a:srgbClr val="0E7C6B"/>
            </a:solidFill>
            <a:prstDash val="solid"/>
          </a:ln>
        </p:spPr>
        <p:txBody>
          <a:bodyPr/>
          <a:p/>
        </p:txBody>
      </p:sp>
      <p:sp>
        <p:nvSpPr>
          <p:cNvPr id="18" name="Text 16"/>
          <p:cNvSpPr/>
          <p:nvPr/>
        </p:nvSpPr>
        <p:spPr>
          <a:xfrm>
            <a:off x="822960" y="3246120"/>
            <a:ext cx="17373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alatino Linotype" pitchFamily="34" charset="0"/>
                <a:ea typeface="Palatino Linotype" pitchFamily="34" charset="-122"/>
                <a:cs typeface="Palatino Linotype" pitchFamily="34" charset="-120"/>
              </a:rPr>
              <a:t>TERMEN NOU</a:t>
            </a:r>
            <a:endParaRPr lang="en-US" sz="1100" dirty="0"/>
          </a:p>
        </p:txBody>
      </p:sp>
      <p:sp>
        <p:nvSpPr>
          <p:cNvPr id="19" name="Text 17"/>
          <p:cNvSpPr/>
          <p:nvPr/>
        </p:nvSpPr>
        <p:spPr>
          <a:xfrm>
            <a:off x="822960" y="3685032"/>
            <a:ext cx="10515600" cy="41148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Indicator de activitate: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o cifră a serviciului despre care se știe exact cum a fost calculată, din ce date și cât de des.</a:t>
            </a:r>
            <a:endParaRPr lang="en-US" sz="1600" dirty="0"/>
          </a:p>
        </p:txBody>
      </p:sp>
      <p:sp>
        <p:nvSpPr>
          <p:cNvPr id="20" name="Text 18"/>
          <p:cNvSpPr/>
          <p:nvPr/>
        </p:nvSpPr>
        <p:spPr>
          <a:xfrm>
            <a:off x="594360" y="4389120"/>
            <a:ext cx="10972800" cy="1691640"/>
          </a:xfrm>
          <a:prstGeom prst="rect">
            <a:avLst/>
          </a:prstGeom>
          <a:noFill/>
          <a:ln/>
        </p:spPr>
        <p:txBody>
          <a:bodyPr wrap="square" lIns="0" tIns="0" rIns="0" bIns="0" rtlCol="0" anchor="t"/>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De activitate: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cât lucrează serviciul (pacienți noi, ședințe, evaluări). </a:t>
            </a:r>
            <a:endParaRPr lang="en-US" sz="1550" dirty="0"/>
          </a:p>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De utilizare și de acces: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cât din capacitate se folosește și cât de repede ajung pacienții (utilizarea capacității, așteptarea, abandonul). </a:t>
            </a:r>
            <a:endParaRPr lang="en-US" sz="1550" dirty="0"/>
          </a:p>
          <a:p>
            <a:pPr indent="0" marL="0">
              <a:buNone/>
            </a:pPr>
            <a:r>
              <a:rPr lang="en-US" sz="1550" i="1" dirty="0">
                <a:solidFill>
                  <a:srgbClr val="B02532"/>
                </a:solidFill>
                <a:latin typeface="Palatino Linotype" pitchFamily="34" charset="0"/>
                <a:ea typeface="Palatino Linotype" pitchFamily="34" charset="-122"/>
                <a:cs typeface="Palatino Linotype" pitchFamily="34" charset="-120"/>
              </a:rPr>
              <a:t>„Câteva sute de ședințe într-o lună” nu spune nimic fără numitor.</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PONDEREA ABANDONULUI</a:t>
            </a:r>
            <a:endParaRPr lang="en-US" sz="1300" dirty="0"/>
          </a:p>
        </p:txBody>
      </p:sp>
      <p:sp>
        <p:nvSpPr>
          <p:cNvPr id="5" name="Text 3"/>
          <p:cNvSpPr/>
          <p:nvPr/>
        </p:nvSpPr>
        <p:spPr>
          <a:xfrm>
            <a:off x="594360" y="822960"/>
            <a:ext cx="10972800" cy="109728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Care este numitorul potrivit pentru ponderea pacienților care au abandonat tratamentul?</a:t>
            </a:r>
            <a:endParaRPr lang="en-US" sz="2600" dirty="0"/>
          </a:p>
        </p:txBody>
      </p:sp>
      <p:sp>
        <p:nvSpPr>
          <p:cNvPr id="6" name="Shape 4"/>
          <p:cNvSpPr/>
          <p:nvPr/>
        </p:nvSpPr>
        <p:spPr>
          <a:xfrm>
            <a:off x="594360" y="2103120"/>
            <a:ext cx="10972800" cy="713232"/>
          </a:xfrm>
          <a:prstGeom prst="roundRect">
            <a:avLst>
              <a:gd name="adj" fmla="val 11538"/>
            </a:avLst>
          </a:prstGeom>
          <a:solidFill>
            <a:srgbClr val="272A38"/>
          </a:solidFill>
          <a:ln w="12700">
            <a:solidFill>
              <a:srgbClr val="272A38"/>
            </a:solidFill>
            <a:prstDash val="solid"/>
          </a:ln>
        </p:spPr>
        <p:txBody>
          <a:bodyPr/>
          <a:p/>
        </p:txBody>
      </p:sp>
      <p:sp>
        <p:nvSpPr>
          <p:cNvPr id="7" name="Shape 5"/>
          <p:cNvSpPr/>
          <p:nvPr/>
        </p:nvSpPr>
        <p:spPr>
          <a:xfrm>
            <a:off x="868680" y="2249424"/>
            <a:ext cx="420624" cy="420624"/>
          </a:xfrm>
          <a:prstGeom prst="ellipse">
            <a:avLst/>
          </a:prstGeom>
          <a:solidFill>
            <a:srgbClr val="FFC24B"/>
          </a:solidFill>
          <a:ln/>
        </p:spPr>
        <p:txBody>
          <a:bodyPr/>
          <a:p/>
        </p:txBody>
      </p:sp>
      <p:sp>
        <p:nvSpPr>
          <p:cNvPr id="8" name="Text 6"/>
          <p:cNvSpPr/>
          <p:nvPr/>
        </p:nvSpPr>
        <p:spPr>
          <a:xfrm>
            <a:off x="868680" y="22494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54480" y="2103120"/>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Toți pacienții aflați pe lista de așteptare</a:t>
            </a:r>
            <a:endParaRPr lang="en-US" sz="1900" dirty="0"/>
          </a:p>
        </p:txBody>
      </p:sp>
      <p:sp>
        <p:nvSpPr>
          <p:cNvPr id="10" name="Shape 8"/>
          <p:cNvSpPr/>
          <p:nvPr/>
        </p:nvSpPr>
        <p:spPr>
          <a:xfrm>
            <a:off x="594360" y="2953512"/>
            <a:ext cx="10972800" cy="713232"/>
          </a:xfrm>
          <a:prstGeom prst="roundRect">
            <a:avLst>
              <a:gd name="adj" fmla="val 11538"/>
            </a:avLst>
          </a:prstGeom>
          <a:solidFill>
            <a:srgbClr val="272A38"/>
          </a:solidFill>
          <a:ln w="12700">
            <a:solidFill>
              <a:srgbClr val="272A38"/>
            </a:solidFill>
            <a:prstDash val="solid"/>
          </a:ln>
        </p:spPr>
        <p:txBody>
          <a:bodyPr/>
          <a:p/>
        </p:txBody>
      </p:sp>
      <p:sp>
        <p:nvSpPr>
          <p:cNvPr id="11" name="Shape 9"/>
          <p:cNvSpPr/>
          <p:nvPr/>
        </p:nvSpPr>
        <p:spPr>
          <a:xfrm>
            <a:off x="868680" y="3099816"/>
            <a:ext cx="420624" cy="420624"/>
          </a:xfrm>
          <a:prstGeom prst="ellipse">
            <a:avLst/>
          </a:prstGeom>
          <a:solidFill>
            <a:srgbClr val="FFC24B"/>
          </a:solidFill>
          <a:ln/>
        </p:spPr>
        <p:txBody>
          <a:bodyPr/>
          <a:p/>
        </p:txBody>
      </p:sp>
      <p:sp>
        <p:nvSpPr>
          <p:cNvPr id="12" name="Text 10"/>
          <p:cNvSpPr/>
          <p:nvPr/>
        </p:nvSpPr>
        <p:spPr>
          <a:xfrm>
            <a:off x="868680" y="30998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54480" y="2953512"/>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Pacienții care au început tratamentul în lună</a:t>
            </a:r>
            <a:endParaRPr lang="en-US" sz="1900" dirty="0"/>
          </a:p>
        </p:txBody>
      </p:sp>
      <p:sp>
        <p:nvSpPr>
          <p:cNvPr id="14" name="Shape 12"/>
          <p:cNvSpPr/>
          <p:nvPr/>
        </p:nvSpPr>
        <p:spPr>
          <a:xfrm>
            <a:off x="594360" y="3803904"/>
            <a:ext cx="10972800" cy="713232"/>
          </a:xfrm>
          <a:prstGeom prst="roundRect">
            <a:avLst>
              <a:gd name="adj" fmla="val 11538"/>
            </a:avLst>
          </a:prstGeom>
          <a:solidFill>
            <a:srgbClr val="272A38"/>
          </a:solidFill>
          <a:ln w="12700">
            <a:solidFill>
              <a:srgbClr val="272A38"/>
            </a:solidFill>
            <a:prstDash val="solid"/>
          </a:ln>
        </p:spPr>
        <p:txBody>
          <a:bodyPr/>
          <a:p/>
        </p:txBody>
      </p:sp>
      <p:sp>
        <p:nvSpPr>
          <p:cNvPr id="15" name="Shape 13"/>
          <p:cNvSpPr/>
          <p:nvPr/>
        </p:nvSpPr>
        <p:spPr>
          <a:xfrm>
            <a:off x="868680" y="3950208"/>
            <a:ext cx="420624" cy="420624"/>
          </a:xfrm>
          <a:prstGeom prst="ellipse">
            <a:avLst/>
          </a:prstGeom>
          <a:solidFill>
            <a:srgbClr val="FFC24B"/>
          </a:solidFill>
          <a:ln/>
        </p:spPr>
        <p:txBody>
          <a:bodyPr/>
          <a:p/>
        </p:txBody>
      </p:sp>
      <p:sp>
        <p:nvSpPr>
          <p:cNvPr id="16" name="Text 14"/>
          <p:cNvSpPr/>
          <p:nvPr/>
        </p:nvSpPr>
        <p:spPr>
          <a:xfrm>
            <a:off x="868680" y="39502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54480" y="3803904"/>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Ședințele ținute în lună</a:t>
            </a:r>
            <a:endParaRPr lang="en-US" sz="1900" dirty="0"/>
          </a:p>
        </p:txBody>
      </p:sp>
      <p:sp>
        <p:nvSpPr>
          <p:cNvPr id="18" name="Shape 16"/>
          <p:cNvSpPr/>
          <p:nvPr/>
        </p:nvSpPr>
        <p:spPr>
          <a:xfrm>
            <a:off x="594360" y="4654296"/>
            <a:ext cx="10972800" cy="713232"/>
          </a:xfrm>
          <a:prstGeom prst="roundRect">
            <a:avLst>
              <a:gd name="adj" fmla="val 11538"/>
            </a:avLst>
          </a:prstGeom>
          <a:solidFill>
            <a:srgbClr val="272A38"/>
          </a:solidFill>
          <a:ln w="12700">
            <a:solidFill>
              <a:srgbClr val="272A38"/>
            </a:solidFill>
            <a:prstDash val="solid"/>
          </a:ln>
        </p:spPr>
        <p:txBody>
          <a:bodyPr/>
          <a:p/>
        </p:txBody>
      </p:sp>
      <p:sp>
        <p:nvSpPr>
          <p:cNvPr id="19" name="Shape 17"/>
          <p:cNvSpPr/>
          <p:nvPr/>
        </p:nvSpPr>
        <p:spPr>
          <a:xfrm>
            <a:off x="868680" y="4800600"/>
            <a:ext cx="420624" cy="420624"/>
          </a:xfrm>
          <a:prstGeom prst="ellipse">
            <a:avLst/>
          </a:prstGeom>
          <a:solidFill>
            <a:srgbClr val="FFC24B"/>
          </a:solidFill>
          <a:ln/>
        </p:spPr>
        <p:txBody>
          <a:bodyPr/>
          <a:p/>
        </p:txBody>
      </p:sp>
      <p:sp>
        <p:nvSpPr>
          <p:cNvPr id="20" name="Text 18"/>
          <p:cNvSpPr/>
          <p:nvPr/>
        </p:nvSpPr>
        <p:spPr>
          <a:xfrm>
            <a:off x="868680" y="4800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54480" y="4654296"/>
            <a:ext cx="978408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Fizioterapeuții serviciului</a:t>
            </a:r>
            <a:endParaRPr lang="en-US" sz="1900" dirty="0"/>
          </a:p>
        </p:txBody>
      </p:sp>
      <p:sp>
        <p:nvSpPr>
          <p:cNvPr id="22" name="Text 20"/>
          <p:cNvSpPr/>
          <p:nvPr/>
        </p:nvSpPr>
        <p:spPr>
          <a:xfrm>
            <a:off x="594360" y="5577840"/>
            <a:ext cx="10972800" cy="54864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Apoi un minut în perechi: ce s-ar întâmpla cu indicatorul dacă numitorul ar fi lista de așteptare?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 LUNĂ DIN SERVICIUL D. · VALORI IPOTETICE</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Trei indicatori, trei cifre</a:t>
            </a:r>
            <a:endParaRPr lang="en-US" sz="3000" dirty="0"/>
          </a:p>
        </p:txBody>
      </p:sp>
      <p:sp>
        <p:nvSpPr>
          <p:cNvPr id="4" name="Shape 2"/>
          <p:cNvSpPr/>
          <p:nvPr/>
        </p:nvSpPr>
        <p:spPr>
          <a:xfrm>
            <a:off x="594360" y="1645920"/>
            <a:ext cx="3520440" cy="3017520"/>
          </a:xfrm>
          <a:prstGeom prst="roundRect">
            <a:avLst>
              <a:gd name="adj" fmla="val 2727"/>
            </a:avLst>
          </a:prstGeom>
          <a:solidFill>
            <a:srgbClr val="E1F0EC"/>
          </a:solidFill>
          <a:ln w="12700">
            <a:solidFill>
              <a:srgbClr val="E1F0EC"/>
            </a:solidFill>
            <a:prstDash val="solid"/>
          </a:ln>
        </p:spPr>
        <p:txBody>
          <a:bodyPr/>
          <a:p/>
        </p:txBody>
      </p:sp>
      <p:sp>
        <p:nvSpPr>
          <p:cNvPr id="5" name="Text 3"/>
          <p:cNvSpPr/>
          <p:nvPr/>
        </p:nvSpPr>
        <p:spPr>
          <a:xfrm>
            <a:off x="822960" y="1783080"/>
            <a:ext cx="3108960" cy="1051560"/>
          </a:xfrm>
          <a:prstGeom prst="rect">
            <a:avLst/>
          </a:prstGeom>
          <a:noFill/>
          <a:ln/>
        </p:spPr>
        <p:txBody>
          <a:bodyPr wrap="square" lIns="0" tIns="0" rIns="0" bIns="0" rtlCol="0" anchor="ctr"/>
          <a:lstStyle/>
          <a:p>
            <a:pPr indent="0" marL="0">
              <a:buNone/>
            </a:pPr>
            <a:r>
              <a:rPr lang="en-US" sz="5600" b="1" dirty="0">
                <a:solidFill>
                  <a:srgbClr val="0E7C6B"/>
                </a:solidFill>
                <a:latin typeface="Palatino Linotype" pitchFamily="34" charset="0"/>
                <a:ea typeface="Palatino Linotype" pitchFamily="34" charset="-122"/>
                <a:cs typeface="Palatino Linotype" pitchFamily="34" charset="-120"/>
              </a:rPr>
              <a:t>85%</a:t>
            </a:r>
            <a:endParaRPr lang="en-US" sz="5600" dirty="0"/>
          </a:p>
        </p:txBody>
      </p:sp>
      <p:sp>
        <p:nvSpPr>
          <p:cNvPr id="6" name="Text 4"/>
          <p:cNvSpPr/>
          <p:nvPr/>
        </p:nvSpPr>
        <p:spPr>
          <a:xfrm>
            <a:off x="822960" y="2926080"/>
            <a:ext cx="310896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ședințe ținute din cele posibile: 884 / 1 040</a:t>
            </a:r>
            <a:endParaRPr lang="en-US" sz="1550" dirty="0"/>
          </a:p>
        </p:txBody>
      </p:sp>
      <p:sp>
        <p:nvSpPr>
          <p:cNvPr id="7" name="Text 5"/>
          <p:cNvSpPr/>
          <p:nvPr/>
        </p:nvSpPr>
        <p:spPr>
          <a:xfrm>
            <a:off x="822960" y="3977640"/>
            <a:ext cx="3108960" cy="548640"/>
          </a:xfrm>
          <a:prstGeom prst="rect">
            <a:avLst/>
          </a:prstGeom>
          <a:noFill/>
          <a:ln/>
        </p:spPr>
        <p:txBody>
          <a:bodyPr wrap="square" lIns="0" tIns="0" rIns="0" bIns="0" rtlCol="0" anchor="t"/>
          <a:lstStyle/>
          <a:p>
            <a:pPr indent="0" marL="0">
              <a:buNone/>
            </a:pPr>
            <a:r>
              <a:rPr lang="en-US" sz="1250" i="1" dirty="0">
                <a:solidFill>
                  <a:srgbClr val="3A3C44"/>
                </a:solidFill>
                <a:latin typeface="Palatino Linotype" pitchFamily="34" charset="0"/>
                <a:ea typeface="Palatino Linotype" pitchFamily="34" charset="-122"/>
                <a:cs typeface="Palatino Linotype" pitchFamily="34" charset="-120"/>
              </a:rPr>
              <a:t>Registrul de programări, lunar</a:t>
            </a:r>
            <a:endParaRPr lang="en-US" sz="1250" dirty="0"/>
          </a:p>
        </p:txBody>
      </p:sp>
      <p:sp>
        <p:nvSpPr>
          <p:cNvPr id="8" name="Shape 6"/>
          <p:cNvSpPr/>
          <p:nvPr/>
        </p:nvSpPr>
        <p:spPr>
          <a:xfrm>
            <a:off x="4343400" y="1645920"/>
            <a:ext cx="3520440" cy="3017520"/>
          </a:xfrm>
          <a:prstGeom prst="roundRect">
            <a:avLst>
              <a:gd name="adj" fmla="val 2727"/>
            </a:avLst>
          </a:prstGeom>
          <a:solidFill>
            <a:srgbClr val="F4E0E2"/>
          </a:solidFill>
          <a:ln w="12700">
            <a:solidFill>
              <a:srgbClr val="F4E0E2"/>
            </a:solidFill>
            <a:prstDash val="solid"/>
          </a:ln>
        </p:spPr>
        <p:txBody>
          <a:bodyPr/>
          <a:p/>
        </p:txBody>
      </p:sp>
      <p:sp>
        <p:nvSpPr>
          <p:cNvPr id="9" name="Text 7"/>
          <p:cNvSpPr/>
          <p:nvPr/>
        </p:nvSpPr>
        <p:spPr>
          <a:xfrm>
            <a:off x="4572000" y="1783080"/>
            <a:ext cx="3108960" cy="1051560"/>
          </a:xfrm>
          <a:prstGeom prst="rect">
            <a:avLst/>
          </a:prstGeom>
          <a:noFill/>
          <a:ln/>
        </p:spPr>
        <p:txBody>
          <a:bodyPr wrap="square" lIns="0" tIns="0" rIns="0" bIns="0" rtlCol="0" anchor="ctr"/>
          <a:lstStyle/>
          <a:p>
            <a:pPr indent="0" marL="0">
              <a:buNone/>
            </a:pPr>
            <a:r>
              <a:rPr lang="en-US" sz="5600" b="1" dirty="0">
                <a:solidFill>
                  <a:srgbClr val="B02532"/>
                </a:solidFill>
                <a:latin typeface="Palatino Linotype" pitchFamily="34" charset="0"/>
                <a:ea typeface="Palatino Linotype" pitchFamily="34" charset="-122"/>
                <a:cs typeface="Palatino Linotype" pitchFamily="34" charset="-120"/>
              </a:rPr>
              <a:t>25%</a:t>
            </a:r>
            <a:endParaRPr lang="en-US" sz="5600" dirty="0"/>
          </a:p>
        </p:txBody>
      </p:sp>
      <p:sp>
        <p:nvSpPr>
          <p:cNvPr id="10" name="Text 8"/>
          <p:cNvSpPr/>
          <p:nvPr/>
        </p:nvSpPr>
        <p:spPr>
          <a:xfrm>
            <a:off x="4572000" y="2926080"/>
            <a:ext cx="310896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au abandonat înainte de a cincea ședință: 30 / 120</a:t>
            </a:r>
            <a:endParaRPr lang="en-US" sz="1550" dirty="0"/>
          </a:p>
        </p:txBody>
      </p:sp>
      <p:sp>
        <p:nvSpPr>
          <p:cNvPr id="11" name="Text 9"/>
          <p:cNvSpPr/>
          <p:nvPr/>
        </p:nvSpPr>
        <p:spPr>
          <a:xfrm>
            <a:off x="4572000" y="3977640"/>
            <a:ext cx="3108960" cy="548640"/>
          </a:xfrm>
          <a:prstGeom prst="rect">
            <a:avLst/>
          </a:prstGeom>
          <a:noFill/>
          <a:ln/>
        </p:spPr>
        <p:txBody>
          <a:bodyPr wrap="square" lIns="0" tIns="0" rIns="0" bIns="0" rtlCol="0" anchor="t"/>
          <a:lstStyle/>
          <a:p>
            <a:pPr indent="0" marL="0">
              <a:buNone/>
            </a:pPr>
            <a:r>
              <a:rPr lang="en-US" sz="1250" i="1" dirty="0">
                <a:solidFill>
                  <a:srgbClr val="3A3C44"/>
                </a:solidFill>
                <a:latin typeface="Palatino Linotype" pitchFamily="34" charset="0"/>
                <a:ea typeface="Palatino Linotype" pitchFamily="34" charset="-122"/>
                <a:cs typeface="Palatino Linotype" pitchFamily="34" charset="-120"/>
              </a:rPr>
              <a:t>Fișa pacientului, lunar</a:t>
            </a:r>
            <a:endParaRPr lang="en-US" sz="1250" dirty="0"/>
          </a:p>
        </p:txBody>
      </p:sp>
      <p:sp>
        <p:nvSpPr>
          <p:cNvPr id="12" name="Shape 10"/>
          <p:cNvSpPr/>
          <p:nvPr/>
        </p:nvSpPr>
        <p:spPr>
          <a:xfrm>
            <a:off x="8092440" y="1645920"/>
            <a:ext cx="3520440" cy="3017520"/>
          </a:xfrm>
          <a:prstGeom prst="roundRect">
            <a:avLst>
              <a:gd name="adj" fmla="val 2727"/>
            </a:avLst>
          </a:prstGeom>
          <a:solidFill>
            <a:srgbClr val="F6EDD5"/>
          </a:solidFill>
          <a:ln w="12700">
            <a:solidFill>
              <a:srgbClr val="F6EDD5"/>
            </a:solidFill>
            <a:prstDash val="solid"/>
          </a:ln>
        </p:spPr>
        <p:txBody>
          <a:bodyPr/>
          <a:p/>
        </p:txBody>
      </p:sp>
      <p:sp>
        <p:nvSpPr>
          <p:cNvPr id="13" name="Text 11"/>
          <p:cNvSpPr/>
          <p:nvPr/>
        </p:nvSpPr>
        <p:spPr>
          <a:xfrm>
            <a:off x="8321040" y="1783080"/>
            <a:ext cx="3108960" cy="1051560"/>
          </a:xfrm>
          <a:prstGeom prst="rect">
            <a:avLst/>
          </a:prstGeom>
          <a:noFill/>
          <a:ln/>
        </p:spPr>
        <p:txBody>
          <a:bodyPr wrap="square" lIns="0" tIns="0" rIns="0" bIns="0" rtlCol="0" anchor="ctr"/>
          <a:lstStyle/>
          <a:p>
            <a:pPr indent="0" marL="0">
              <a:buNone/>
            </a:pPr>
            <a:r>
              <a:rPr lang="en-US" sz="4200" b="1" dirty="0">
                <a:solidFill>
                  <a:srgbClr val="8A6100"/>
                </a:solidFill>
                <a:latin typeface="Palatino Linotype" pitchFamily="34" charset="0"/>
                <a:ea typeface="Palatino Linotype" pitchFamily="34" charset="-122"/>
                <a:cs typeface="Palatino Linotype" pitchFamily="34" charset="-120"/>
              </a:rPr>
              <a:t>49 de zile</a:t>
            </a:r>
            <a:endParaRPr lang="en-US" sz="4200" dirty="0"/>
          </a:p>
        </p:txBody>
      </p:sp>
      <p:sp>
        <p:nvSpPr>
          <p:cNvPr id="14" name="Text 12"/>
          <p:cNvSpPr/>
          <p:nvPr/>
        </p:nvSpPr>
        <p:spPr>
          <a:xfrm>
            <a:off x="8321040" y="2926080"/>
            <a:ext cx="310896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așteptarea medie până la prima ședință: 5 880 / 120</a:t>
            </a:r>
            <a:endParaRPr lang="en-US" sz="1550" dirty="0"/>
          </a:p>
        </p:txBody>
      </p:sp>
      <p:sp>
        <p:nvSpPr>
          <p:cNvPr id="15" name="Text 13"/>
          <p:cNvSpPr/>
          <p:nvPr/>
        </p:nvSpPr>
        <p:spPr>
          <a:xfrm>
            <a:off x="8321040" y="3977640"/>
            <a:ext cx="3108960" cy="548640"/>
          </a:xfrm>
          <a:prstGeom prst="rect">
            <a:avLst/>
          </a:prstGeom>
          <a:noFill/>
          <a:ln/>
        </p:spPr>
        <p:txBody>
          <a:bodyPr wrap="square" lIns="0" tIns="0" rIns="0" bIns="0" rtlCol="0" anchor="t"/>
          <a:lstStyle/>
          <a:p>
            <a:pPr indent="0" marL="0">
              <a:buNone/>
            </a:pPr>
            <a:r>
              <a:rPr lang="en-US" sz="1250" i="1" dirty="0">
                <a:solidFill>
                  <a:srgbClr val="3A3C44"/>
                </a:solidFill>
                <a:latin typeface="Palatino Linotype" pitchFamily="34" charset="0"/>
                <a:ea typeface="Palatino Linotype" pitchFamily="34" charset="-122"/>
                <a:cs typeface="Palatino Linotype" pitchFamily="34" charset="-120"/>
              </a:rPr>
              <a:t>Registrul de programări, lunar</a:t>
            </a:r>
            <a:endParaRPr lang="en-US" sz="1250" dirty="0"/>
          </a:p>
        </p:txBody>
      </p:sp>
      <p:sp>
        <p:nvSpPr>
          <p:cNvPr id="16" name="Text 14"/>
          <p:cNvSpPr/>
          <p:nvPr/>
        </p:nvSpPr>
        <p:spPr>
          <a:xfrm>
            <a:off x="594360" y="4937760"/>
            <a:ext cx="1097280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Media e sensibilă la câțiva pacienți care au așteptat foarte mult. Alături se poate raporta mediana: valoarea sub care se află jumătate dintre pacienți.</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C24B"/>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FFFF"/>
          </a:solidFill>
          <a:ln w="12700">
            <a:solidFill>
              <a:srgbClr val="FFFFFF"/>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3D2A00"/>
                </a:solidFill>
                <a:latin typeface="Palatino Linotype" pitchFamily="34" charset="0"/>
                <a:ea typeface="Palatino Linotype" pitchFamily="34" charset="-122"/>
                <a:cs typeface="Palatino Linotype" pitchFamily="34" charset="-120"/>
              </a:rPr>
              <a:t>DOUĂ MINUTE CU COLEGUL DE BANCĂ</a:t>
            </a:r>
            <a:endParaRPr lang="en-US" sz="1300" dirty="0"/>
          </a:p>
        </p:txBody>
      </p:sp>
      <p:sp>
        <p:nvSpPr>
          <p:cNvPr id="5" name="Text 3"/>
          <p:cNvSpPr/>
          <p:nvPr/>
        </p:nvSpPr>
        <p:spPr>
          <a:xfrm>
            <a:off x="594360" y="1463040"/>
            <a:ext cx="10972800" cy="1280160"/>
          </a:xfrm>
          <a:prstGeom prst="rect">
            <a:avLst/>
          </a:prstGeom>
          <a:noFill/>
          <a:ln/>
        </p:spPr>
        <p:txBody>
          <a:bodyPr wrap="square" lIns="0" tIns="0" rIns="0" bIns="0" rtlCol="0" anchor="t"/>
          <a:lstStyle/>
          <a:p>
            <a:pPr indent="0" marL="0">
              <a:buNone/>
            </a:pPr>
            <a:r>
              <a:rPr lang="en-US" sz="4000" b="1" dirty="0">
                <a:solidFill>
                  <a:srgbClr val="3D2A00"/>
                </a:solidFill>
                <a:latin typeface="Palatino Linotype" pitchFamily="34" charset="0"/>
                <a:ea typeface="Palatino Linotype" pitchFamily="34" charset="-122"/>
                <a:cs typeface="Palatino Linotype" pitchFamily="34" charset="-120"/>
              </a:rPr>
              <a:t>Ce spun cei trei indicatori împreună?</a:t>
            </a:r>
            <a:endParaRPr lang="en-US" sz="4000" dirty="0"/>
          </a:p>
        </p:txBody>
      </p:sp>
      <p:sp>
        <p:nvSpPr>
          <p:cNvPr id="6" name="Text 4"/>
          <p:cNvSpPr/>
          <p:nvPr/>
        </p:nvSpPr>
        <p:spPr>
          <a:xfrm>
            <a:off x="594360" y="3017520"/>
            <a:ext cx="10972800" cy="1371600"/>
          </a:xfrm>
          <a:prstGeom prst="rect">
            <a:avLst/>
          </a:prstGeom>
          <a:noFill/>
          <a:ln/>
        </p:spPr>
        <p:txBody>
          <a:bodyPr wrap="square" lIns="0" tIns="0" rIns="0" bIns="0" rtlCol="0" anchor="t"/>
          <a:lstStyle/>
          <a:p>
            <a:pPr indent="0" marL="0">
              <a:buNone/>
            </a:pPr>
            <a:r>
              <a:rPr lang="en-US" sz="2200" dirty="0">
                <a:solidFill>
                  <a:srgbClr val="3D2A00"/>
                </a:solidFill>
                <a:latin typeface="Palatino Linotype" pitchFamily="34" charset="0"/>
                <a:ea typeface="Palatino Linotype" pitchFamily="34" charset="-122"/>
                <a:cs typeface="Palatino Linotype" pitchFamily="34" charset="-120"/>
              </a:rPr>
              <a:t>De unde poate veni lista de așteptare: din numărul de fizioterapeuți, din felul în care e organizat serviciul sau din amândouă?</a:t>
            </a:r>
            <a:endParaRPr lang="en-US" sz="2200" dirty="0"/>
          </a:p>
        </p:txBody>
      </p:sp>
      <p:sp>
        <p:nvSpPr>
          <p:cNvPr id="7" name="Text 5"/>
          <p:cNvSpPr/>
          <p:nvPr/>
        </p:nvSpPr>
        <p:spPr>
          <a:xfrm>
            <a:off x="594360" y="4754880"/>
            <a:ext cx="10972800" cy="548640"/>
          </a:xfrm>
          <a:prstGeom prst="rect">
            <a:avLst/>
          </a:prstGeom>
          <a:noFill/>
          <a:ln/>
        </p:spPr>
        <p:txBody>
          <a:bodyPr wrap="square" lIns="0" tIns="0" rIns="0" bIns="0" rtlCol="0" anchor="t"/>
          <a:lstStyle/>
          <a:p>
            <a:pPr indent="0" marL="0">
              <a:buNone/>
            </a:pPr>
            <a:r>
              <a:rPr lang="en-US" sz="2000" b="1" dirty="0">
                <a:solidFill>
                  <a:srgbClr val="3D2A00"/>
                </a:solidFill>
                <a:latin typeface="Palatino Linotype" pitchFamily="34" charset="0"/>
                <a:ea typeface="Palatino Linotype" pitchFamily="34" charset="-122"/>
                <a:cs typeface="Palatino Linotype" pitchFamily="34" charset="-120"/>
              </a:rPr>
              <a:t>Două răspunsuri, din două perechi diferite.</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PROFESIA DE FIZIOTERAPEUT</a:t>
            </a:r>
            <a:endParaRPr lang="en-US" sz="1300" dirty="0"/>
          </a:p>
        </p:txBody>
      </p:sp>
      <p:sp>
        <p:nvSpPr>
          <p:cNvPr id="5" name="Text 3"/>
          <p:cNvSpPr/>
          <p:nvPr/>
        </p:nvSpPr>
        <p:spPr>
          <a:xfrm>
            <a:off x="594360" y="868680"/>
            <a:ext cx="10972800" cy="109728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Pe baza cărui document își exercită fizioterapeutul profesia în România?</a:t>
            </a:r>
            <a:endParaRPr lang="en-US" sz="2800" dirty="0"/>
          </a:p>
        </p:txBody>
      </p:sp>
      <p:sp>
        <p:nvSpPr>
          <p:cNvPr id="6" name="Shape 4"/>
          <p:cNvSpPr/>
          <p:nvPr/>
        </p:nvSpPr>
        <p:spPr>
          <a:xfrm>
            <a:off x="594360" y="2194560"/>
            <a:ext cx="10972800" cy="758952"/>
          </a:xfrm>
          <a:prstGeom prst="roundRect">
            <a:avLst>
              <a:gd name="adj" fmla="val 10843"/>
            </a:avLst>
          </a:prstGeom>
          <a:solidFill>
            <a:srgbClr val="272A38"/>
          </a:solidFill>
          <a:ln w="12700">
            <a:solidFill>
              <a:srgbClr val="272A38"/>
            </a:solidFill>
            <a:prstDash val="solid"/>
          </a:ln>
        </p:spPr>
        <p:txBody>
          <a:bodyPr/>
          <a:p/>
        </p:txBody>
      </p:sp>
      <p:sp>
        <p:nvSpPr>
          <p:cNvPr id="7" name="Shape 5"/>
          <p:cNvSpPr/>
          <p:nvPr/>
        </p:nvSpPr>
        <p:spPr>
          <a:xfrm>
            <a:off x="868680" y="2363724"/>
            <a:ext cx="420624" cy="420624"/>
          </a:xfrm>
          <a:prstGeom prst="ellipse">
            <a:avLst/>
          </a:prstGeom>
          <a:solidFill>
            <a:srgbClr val="FFC24B"/>
          </a:solidFill>
          <a:ln/>
        </p:spPr>
        <p:txBody>
          <a:bodyPr/>
          <a:p/>
        </p:txBody>
      </p:sp>
      <p:sp>
        <p:nvSpPr>
          <p:cNvPr id="8" name="Text 6"/>
          <p:cNvSpPr/>
          <p:nvPr/>
        </p:nvSpPr>
        <p:spPr>
          <a:xfrm>
            <a:off x="868680" y="23637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54480" y="2194560"/>
            <a:ext cx="9784080" cy="75895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Diploma de licență</a:t>
            </a:r>
            <a:endParaRPr lang="en-US" sz="2000" dirty="0"/>
          </a:p>
        </p:txBody>
      </p:sp>
      <p:sp>
        <p:nvSpPr>
          <p:cNvPr id="10" name="Shape 8"/>
          <p:cNvSpPr/>
          <p:nvPr/>
        </p:nvSpPr>
        <p:spPr>
          <a:xfrm>
            <a:off x="594360" y="3090672"/>
            <a:ext cx="10972800" cy="758952"/>
          </a:xfrm>
          <a:prstGeom prst="roundRect">
            <a:avLst>
              <a:gd name="adj" fmla="val 10843"/>
            </a:avLst>
          </a:prstGeom>
          <a:solidFill>
            <a:srgbClr val="272A38"/>
          </a:solidFill>
          <a:ln w="12700">
            <a:solidFill>
              <a:srgbClr val="272A38"/>
            </a:solidFill>
            <a:prstDash val="solid"/>
          </a:ln>
        </p:spPr>
        <p:txBody>
          <a:bodyPr/>
          <a:p/>
        </p:txBody>
      </p:sp>
      <p:sp>
        <p:nvSpPr>
          <p:cNvPr id="11" name="Shape 9"/>
          <p:cNvSpPr/>
          <p:nvPr/>
        </p:nvSpPr>
        <p:spPr>
          <a:xfrm>
            <a:off x="868680" y="3259836"/>
            <a:ext cx="420624" cy="420624"/>
          </a:xfrm>
          <a:prstGeom prst="ellipse">
            <a:avLst/>
          </a:prstGeom>
          <a:solidFill>
            <a:srgbClr val="FFC24B"/>
          </a:solidFill>
          <a:ln/>
        </p:spPr>
        <p:txBody>
          <a:bodyPr/>
          <a:p/>
        </p:txBody>
      </p:sp>
      <p:sp>
        <p:nvSpPr>
          <p:cNvPr id="12" name="Text 10"/>
          <p:cNvSpPr/>
          <p:nvPr/>
        </p:nvSpPr>
        <p:spPr>
          <a:xfrm>
            <a:off x="868680" y="32598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54480" y="3090672"/>
            <a:ext cx="9784080" cy="75895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Autorizația de liberă practică a Colegiului, avizată anual</a:t>
            </a:r>
            <a:endParaRPr lang="en-US" sz="2000" dirty="0"/>
          </a:p>
        </p:txBody>
      </p:sp>
      <p:sp>
        <p:nvSpPr>
          <p:cNvPr id="14" name="Shape 12"/>
          <p:cNvSpPr/>
          <p:nvPr/>
        </p:nvSpPr>
        <p:spPr>
          <a:xfrm>
            <a:off x="594360" y="3986784"/>
            <a:ext cx="10972800" cy="758952"/>
          </a:xfrm>
          <a:prstGeom prst="roundRect">
            <a:avLst>
              <a:gd name="adj" fmla="val 10843"/>
            </a:avLst>
          </a:prstGeom>
          <a:solidFill>
            <a:srgbClr val="272A38"/>
          </a:solidFill>
          <a:ln w="12700">
            <a:solidFill>
              <a:srgbClr val="272A38"/>
            </a:solidFill>
            <a:prstDash val="solid"/>
          </a:ln>
        </p:spPr>
        <p:txBody>
          <a:bodyPr/>
          <a:p/>
        </p:txBody>
      </p:sp>
      <p:sp>
        <p:nvSpPr>
          <p:cNvPr id="15" name="Shape 13"/>
          <p:cNvSpPr/>
          <p:nvPr/>
        </p:nvSpPr>
        <p:spPr>
          <a:xfrm>
            <a:off x="868680" y="4155948"/>
            <a:ext cx="420624" cy="420624"/>
          </a:xfrm>
          <a:prstGeom prst="ellipse">
            <a:avLst/>
          </a:prstGeom>
          <a:solidFill>
            <a:srgbClr val="FFC24B"/>
          </a:solidFill>
          <a:ln/>
        </p:spPr>
        <p:txBody>
          <a:bodyPr/>
          <a:p/>
        </p:txBody>
      </p:sp>
      <p:sp>
        <p:nvSpPr>
          <p:cNvPr id="16" name="Text 14"/>
          <p:cNvSpPr/>
          <p:nvPr/>
        </p:nvSpPr>
        <p:spPr>
          <a:xfrm>
            <a:off x="868680" y="41559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54480" y="3986784"/>
            <a:ext cx="9784080" cy="75895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Contractul de muncă</a:t>
            </a:r>
            <a:endParaRPr lang="en-US" sz="2000" dirty="0"/>
          </a:p>
        </p:txBody>
      </p:sp>
      <p:sp>
        <p:nvSpPr>
          <p:cNvPr id="18" name="Shape 16"/>
          <p:cNvSpPr/>
          <p:nvPr/>
        </p:nvSpPr>
        <p:spPr>
          <a:xfrm>
            <a:off x="594360" y="4882896"/>
            <a:ext cx="10972800" cy="758952"/>
          </a:xfrm>
          <a:prstGeom prst="roundRect">
            <a:avLst>
              <a:gd name="adj" fmla="val 10843"/>
            </a:avLst>
          </a:prstGeom>
          <a:solidFill>
            <a:srgbClr val="272A38"/>
          </a:solidFill>
          <a:ln w="12700">
            <a:solidFill>
              <a:srgbClr val="272A38"/>
            </a:solidFill>
            <a:prstDash val="solid"/>
          </a:ln>
        </p:spPr>
        <p:txBody>
          <a:bodyPr/>
          <a:p/>
        </p:txBody>
      </p:sp>
      <p:sp>
        <p:nvSpPr>
          <p:cNvPr id="19" name="Shape 17"/>
          <p:cNvSpPr/>
          <p:nvPr/>
        </p:nvSpPr>
        <p:spPr>
          <a:xfrm>
            <a:off x="868680" y="5052060"/>
            <a:ext cx="420624" cy="420624"/>
          </a:xfrm>
          <a:prstGeom prst="ellipse">
            <a:avLst/>
          </a:prstGeom>
          <a:solidFill>
            <a:srgbClr val="FFC24B"/>
          </a:solidFill>
          <a:ln/>
        </p:spPr>
        <p:txBody>
          <a:bodyPr/>
          <a:p/>
        </p:txBody>
      </p:sp>
      <p:sp>
        <p:nvSpPr>
          <p:cNvPr id="20" name="Text 18"/>
          <p:cNvSpPr/>
          <p:nvPr/>
        </p:nvSpPr>
        <p:spPr>
          <a:xfrm>
            <a:off x="868680" y="50520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54480" y="4882896"/>
            <a:ext cx="9784080" cy="75895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 aviz al Ministerului Sănătății</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LEGEA NR. 229/2016 · FORMA CONSOLIDATĂ LA 12.08.2019</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Cine are dreptul să lucreze</a:t>
            </a:r>
            <a:endParaRPr lang="en-US" sz="2800" dirty="0"/>
          </a:p>
        </p:txBody>
      </p:sp>
      <p:sp>
        <p:nvSpPr>
          <p:cNvPr id="4" name="Shape 2"/>
          <p:cNvSpPr/>
          <p:nvPr/>
        </p:nvSpPr>
        <p:spPr>
          <a:xfrm>
            <a:off x="594360" y="1508760"/>
            <a:ext cx="6949440" cy="4572000"/>
          </a:xfrm>
          <a:prstGeom prst="rect">
            <a:avLst/>
          </a:prstGeom>
          <a:solidFill>
            <a:srgbClr val="FFFFFF"/>
          </a:solidFill>
          <a:ln w="9525">
            <a:solidFill>
              <a:srgbClr val="D6D2C8"/>
            </a:solidFill>
            <a:prstDash val="solid"/>
          </a:ln>
          <a:effectLst>
            <a:outerShdw sx="100000" sy="100000" kx="0" ky="0" algn="bl" rotWithShape="0" blurRad="76200" dist="25400" dir="5400000">
              <a:srgbClr val="000000">
                <a:alpha val="15000"/>
              </a:srgbClr>
            </a:outerShdw>
          </a:effectLst>
        </p:spPr>
        <p:txBody>
          <a:bodyPr/>
          <a:p/>
        </p:txBody>
      </p:sp>
      <p:sp>
        <p:nvSpPr>
          <p:cNvPr id="5" name="Text 3"/>
          <p:cNvSpPr/>
          <p:nvPr/>
        </p:nvSpPr>
        <p:spPr>
          <a:xfrm>
            <a:off x="868680" y="1737360"/>
            <a:ext cx="6400800" cy="4160520"/>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Art. 4: </a:t>
            </a:r>
            <a:pPr indent="0" marL="0">
              <a:buNone/>
            </a:pPr>
            <a:r>
              <a:rPr lang="en-US" sz="1400" i="1" dirty="0">
                <a:solidFill>
                  <a:srgbClr val="11121A"/>
                </a:solidFill>
                <a:latin typeface="Palatino Linotype" pitchFamily="34" charset="0"/>
                <a:ea typeface="Palatino Linotype" pitchFamily="34" charset="-122"/>
                <a:cs typeface="Palatino Linotype" pitchFamily="34" charset="-120"/>
              </a:rPr>
              <a:t>„fizioterapeutul este absolventul de studii universitare, posesor al unui titlu oficial de calificare în fizioterapie, conform prevederilor art. 11, care aplică, sub prescripție medicală, activitățile specifice prevăzute la art. 13”</a:t>
            </a:r>
            <a:endParaRPr lang="en-US" sz="1400" dirty="0"/>
          </a:p>
          <a:p>
            <a:pPr indent="0" marL="0">
              <a:buNone/>
            </a:pPr>
            <a:r>
              <a:rPr lang="en-US" sz="700" dirty="0">
                <a:solidFill>
                  <a:srgbClr val="11121A"/>
                </a:solidFill>
                <a:latin typeface="Palatino Linotype" pitchFamily="34" charset="0"/>
                <a:ea typeface="Palatino Linotype" pitchFamily="34" charset="-122"/>
                <a:cs typeface="Palatino Linotype" pitchFamily="34" charset="-120"/>
              </a:rPr>
              <a:t> </a:t>
            </a:r>
            <a:endParaRPr lang="en-US" sz="1400" dirty="0"/>
          </a:p>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Art. 11 lit. a): </a:t>
            </a:r>
            <a:pPr indent="0" marL="0">
              <a:buNone/>
            </a:pPr>
            <a:r>
              <a:rPr lang="en-US" sz="1400" i="1" dirty="0">
                <a:solidFill>
                  <a:srgbClr val="11121A"/>
                </a:solidFill>
                <a:latin typeface="Palatino Linotype" pitchFamily="34" charset="0"/>
                <a:ea typeface="Palatino Linotype" pitchFamily="34" charset="-122"/>
                <a:cs typeface="Palatino Linotype" pitchFamily="34" charset="-120"/>
              </a:rPr>
              <a:t>„diplomă de licență eliberată de o instituție de învățământ superior acreditată sau autorizată provizoriu din România”; pct. (viii): „balneofiziokinetoterapie și recuperare”</a:t>
            </a:r>
            <a:endParaRPr lang="en-US" sz="1400" dirty="0"/>
          </a:p>
          <a:p>
            <a:pPr indent="0" marL="0">
              <a:buNone/>
            </a:pPr>
            <a:r>
              <a:rPr lang="en-US" sz="700" dirty="0">
                <a:solidFill>
                  <a:srgbClr val="11121A"/>
                </a:solidFill>
                <a:latin typeface="Palatino Linotype" pitchFamily="34" charset="0"/>
                <a:ea typeface="Palatino Linotype" pitchFamily="34" charset="-122"/>
                <a:cs typeface="Palatino Linotype" pitchFamily="34" charset="-120"/>
              </a:rPr>
              <a:t> </a:t>
            </a:r>
            <a:endParaRPr lang="en-US" sz="1400" dirty="0"/>
          </a:p>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Art. 14 alin. (1): </a:t>
            </a:r>
            <a:pPr indent="0" marL="0">
              <a:buNone/>
            </a:pPr>
            <a:r>
              <a:rPr lang="en-US" sz="1400" i="1" dirty="0">
                <a:solidFill>
                  <a:srgbClr val="11121A"/>
                </a:solidFill>
                <a:latin typeface="Palatino Linotype" pitchFamily="34" charset="0"/>
                <a:ea typeface="Palatino Linotype" pitchFamily="34" charset="-122"/>
                <a:cs typeface="Palatino Linotype" pitchFamily="34" charset="-120"/>
              </a:rPr>
              <a:t>„fizioterapeutul își exercită profesia pe baza autorizației de liberă practică eliberată de Colegiul Fizioterapeuților din România, avizată anual”</a:t>
            </a:r>
            <a:endParaRPr lang="en-US" sz="1400" dirty="0"/>
          </a:p>
        </p:txBody>
      </p:sp>
      <p:sp>
        <p:nvSpPr>
          <p:cNvPr id="6" name="Shape 4"/>
          <p:cNvSpPr/>
          <p:nvPr/>
        </p:nvSpPr>
        <p:spPr>
          <a:xfrm>
            <a:off x="7772400" y="1508760"/>
            <a:ext cx="3794760" cy="4572000"/>
          </a:xfrm>
          <a:prstGeom prst="roundRect">
            <a:avLst>
              <a:gd name="adj" fmla="val 2169"/>
            </a:avLst>
          </a:prstGeom>
          <a:solidFill>
            <a:srgbClr val="E1F0EC"/>
          </a:solidFill>
          <a:ln w="12700">
            <a:solidFill>
              <a:srgbClr val="E1F0EC"/>
            </a:solidFill>
            <a:prstDash val="solid"/>
          </a:ln>
        </p:spPr>
        <p:txBody>
          <a:bodyPr/>
          <a:p/>
        </p:txBody>
      </p:sp>
      <p:sp>
        <p:nvSpPr>
          <p:cNvPr id="7" name="Text 5"/>
          <p:cNvSpPr/>
          <p:nvPr/>
        </p:nvSpPr>
        <p:spPr>
          <a:xfrm>
            <a:off x="8001000" y="1645920"/>
            <a:ext cx="3383280" cy="320040"/>
          </a:xfrm>
          <a:prstGeom prst="rect">
            <a:avLst/>
          </a:prstGeom>
          <a:noFill/>
          <a:ln/>
        </p:spPr>
        <p:txBody>
          <a:bodyPr wrap="square" lIns="0" tIns="0" rIns="0" bIns="0" rtlCol="0" anchor="t"/>
          <a:lstStyle/>
          <a:p>
            <a:pPr indent="0" marL="0">
              <a:buNone/>
            </a:pPr>
            <a:r>
              <a:rPr lang="en-US" sz="1250" b="1" spc="100" kern="0" dirty="0">
                <a:solidFill>
                  <a:srgbClr val="0E7C6B"/>
                </a:solidFill>
                <a:latin typeface="Palatino Linotype" pitchFamily="34" charset="0"/>
                <a:ea typeface="Palatino Linotype" pitchFamily="34" charset="-122"/>
                <a:cs typeface="Palatino Linotype" pitchFamily="34" charset="-120"/>
              </a:rPr>
              <a:t>CONDIȚIILE (ART. 8)</a:t>
            </a:r>
            <a:endParaRPr lang="en-US" sz="1250" dirty="0"/>
          </a:p>
        </p:txBody>
      </p:sp>
      <p:sp>
        <p:nvSpPr>
          <p:cNvPr id="8" name="Text 6"/>
          <p:cNvSpPr/>
          <p:nvPr/>
        </p:nvSpPr>
        <p:spPr>
          <a:xfrm>
            <a:off x="8001000" y="2011680"/>
            <a:ext cx="3383280" cy="146304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titlu oficial de calificare; fără nedemnitate sau incompatibilitate; apt medical; membru al Colegiului.</a:t>
            </a:r>
            <a:endParaRPr lang="en-US" sz="1400" dirty="0"/>
          </a:p>
        </p:txBody>
      </p:sp>
      <p:sp>
        <p:nvSpPr>
          <p:cNvPr id="9" name="Text 7"/>
          <p:cNvSpPr/>
          <p:nvPr/>
        </p:nvSpPr>
        <p:spPr>
          <a:xfrm>
            <a:off x="8001000" y="3611880"/>
            <a:ext cx="3383280" cy="320040"/>
          </a:xfrm>
          <a:prstGeom prst="rect">
            <a:avLst/>
          </a:prstGeom>
          <a:noFill/>
          <a:ln/>
        </p:spPr>
        <p:txBody>
          <a:bodyPr wrap="square" lIns="0" tIns="0" rIns="0" bIns="0" rtlCol="0" anchor="t"/>
          <a:lstStyle/>
          <a:p>
            <a:pPr indent="0" marL="0">
              <a:buNone/>
            </a:pPr>
            <a:r>
              <a:rPr lang="en-US" sz="1250" b="1" spc="100" kern="0" dirty="0">
                <a:solidFill>
                  <a:srgbClr val="0E7C6B"/>
                </a:solidFill>
                <a:latin typeface="Palatino Linotype" pitchFamily="34" charset="0"/>
                <a:ea typeface="Palatino Linotype" pitchFamily="34" charset="-122"/>
                <a:cs typeface="Palatino Linotype" pitchFamily="34" charset="-120"/>
              </a:rPr>
              <a:t>TERMENELE (ART. 22)</a:t>
            </a:r>
            <a:endParaRPr lang="en-US" sz="1250" dirty="0"/>
          </a:p>
        </p:txBody>
      </p:sp>
      <p:sp>
        <p:nvSpPr>
          <p:cNvPr id="10" name="Text 8"/>
          <p:cNvSpPr/>
          <p:nvPr/>
        </p:nvSpPr>
        <p:spPr>
          <a:xfrm>
            <a:off x="8001000" y="3977640"/>
            <a:ext cx="3383280" cy="146304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autorizația, în cel mult 12 luni de la absolvire; altfel, la cerere, una provizorie, valabilă cel mult 6 luni.</a:t>
            </a:r>
            <a:endParaRPr lang="en-US" sz="1400" dirty="0"/>
          </a:p>
        </p:txBody>
      </p:sp>
      <p:sp>
        <p:nvSpPr>
          <p:cNvPr id="11" name="Text 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nr. 229/2016, forma consolidată pe Portalul legislativ; art. 8 și 22 sunt rezumate, nu citate.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COLEGIUL FIZIOTERAPEUȚILOR DIN ROMÂNIA</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Ce verifică un coordonator la angajare</a:t>
            </a:r>
            <a:endParaRPr lang="en-US" sz="2800" dirty="0"/>
          </a:p>
        </p:txBody>
      </p:sp>
      <p:sp>
        <p:nvSpPr>
          <p:cNvPr id="4" name="Shape 2"/>
          <p:cNvSpPr/>
          <p:nvPr/>
        </p:nvSpPr>
        <p:spPr>
          <a:xfrm>
            <a:off x="594360" y="1600200"/>
            <a:ext cx="73152" cy="1828800"/>
          </a:xfrm>
          <a:prstGeom prst="rect">
            <a:avLst/>
          </a:prstGeom>
          <a:solidFill>
            <a:srgbClr val="B02532"/>
          </a:solidFill>
          <a:ln w="12700">
            <a:solidFill>
              <a:srgbClr val="B02532"/>
            </a:solidFill>
            <a:prstDash val="solid"/>
          </a:ln>
        </p:spPr>
        <p:txBody>
          <a:bodyPr/>
          <a:p/>
        </p:txBody>
      </p:sp>
      <p:sp>
        <p:nvSpPr>
          <p:cNvPr id="5" name="Text 3"/>
          <p:cNvSpPr/>
          <p:nvPr/>
        </p:nvSpPr>
        <p:spPr>
          <a:xfrm>
            <a:off x="868680" y="1554480"/>
            <a:ext cx="5486400" cy="2011680"/>
          </a:xfrm>
          <a:prstGeom prst="rect">
            <a:avLst/>
          </a:prstGeom>
          <a:noFill/>
          <a:ln/>
        </p:spPr>
        <p:txBody>
          <a:bodyPr wrap="square" lIns="0" tIns="0" rIns="0" bIns="0" rtlCol="0" anchor="t"/>
          <a:lstStyle/>
          <a:p>
            <a:pPr indent="0" marL="0">
              <a:buNone/>
            </a:pPr>
            <a:r>
              <a:rPr lang="en-US" sz="1450" b="1" dirty="0">
                <a:solidFill>
                  <a:srgbClr val="B02532"/>
                </a:solidFill>
                <a:latin typeface="Palatino Linotype" pitchFamily="34" charset="0"/>
                <a:ea typeface="Palatino Linotype" pitchFamily="34" charset="-122"/>
                <a:cs typeface="Palatino Linotype" pitchFamily="34" charset="-120"/>
              </a:rPr>
              <a:t>Art. 20 alin. (1): </a:t>
            </a:r>
            <a:pPr indent="0" marL="0">
              <a:buNone/>
            </a:pPr>
            <a:r>
              <a:rPr lang="en-US" sz="1450" i="1" dirty="0">
                <a:solidFill>
                  <a:srgbClr val="11121A"/>
                </a:solidFill>
                <a:latin typeface="Palatino Linotype" pitchFamily="34" charset="0"/>
                <a:ea typeface="Palatino Linotype" pitchFamily="34" charset="-122"/>
                <a:cs typeface="Palatino Linotype" pitchFamily="34" charset="-120"/>
              </a:rPr>
              <a:t>„Colegiul Fizioterapeuților din România este organizație profesională, cu personalitate juridică, neguvernamentală, de interes public, apolitică, fără scop patrimonial, cu responsabilități delegate de autoritatea de stat”</a:t>
            </a:r>
            <a:endParaRPr lang="en-US" sz="1450" dirty="0"/>
          </a:p>
        </p:txBody>
      </p:sp>
      <p:sp>
        <p:nvSpPr>
          <p:cNvPr id="6" name="Text 4"/>
          <p:cNvSpPr/>
          <p:nvPr/>
        </p:nvSpPr>
        <p:spPr>
          <a:xfrm>
            <a:off x="594360" y="3749040"/>
            <a:ext cx="5760720" cy="1463040"/>
          </a:xfrm>
          <a:prstGeom prst="rect">
            <a:avLst/>
          </a:prstGeom>
          <a:noFill/>
          <a:ln/>
        </p:spPr>
        <p:txBody>
          <a:bodyPr wrap="square" lIns="0" tIns="0" rIns="0" bIns="0" rtlCol="0" anchor="t"/>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Atribuții (art. 21, rezumat): </a:t>
            </a:r>
            <a:pPr indent="0" marL="0">
              <a:buNone/>
            </a:pPr>
            <a:r>
              <a:rPr lang="en-US" sz="1450" dirty="0">
                <a:solidFill>
                  <a:srgbClr val="11121A"/>
                </a:solidFill>
                <a:latin typeface="Palatino Linotype" pitchFamily="34" charset="0"/>
                <a:ea typeface="Palatino Linotype" pitchFamily="34" charset="-122"/>
                <a:cs typeface="Palatino Linotype" pitchFamily="34" charset="-120"/>
              </a:rPr>
              <a:t>autorizarea, monitorizarea și controlul profesiei, cu Ministerul Sănătății; Codul deontologic; standardele de calitate; Registrul unic al fizioterapeuților.</a:t>
            </a:r>
            <a:endParaRPr lang="en-US" sz="1450" dirty="0"/>
          </a:p>
        </p:txBody>
      </p:sp>
      <p:sp>
        <p:nvSpPr>
          <p:cNvPr id="7" name="Shape 5"/>
          <p:cNvSpPr/>
          <p:nvPr/>
        </p:nvSpPr>
        <p:spPr>
          <a:xfrm>
            <a:off x="6675120" y="1600200"/>
            <a:ext cx="4892040" cy="3749040"/>
          </a:xfrm>
          <a:prstGeom prst="roundRect">
            <a:avLst>
              <a:gd name="adj" fmla="val 2195"/>
            </a:avLst>
          </a:prstGeom>
          <a:solidFill>
            <a:srgbClr val="F6EDD5"/>
          </a:solidFill>
          <a:ln w="12700">
            <a:solidFill>
              <a:srgbClr val="F6EDD5"/>
            </a:solidFill>
            <a:prstDash val="solid"/>
          </a:ln>
        </p:spPr>
        <p:txBody>
          <a:bodyPr/>
          <a:p/>
        </p:txBody>
      </p:sp>
      <p:sp>
        <p:nvSpPr>
          <p:cNvPr id="8" name="Text 6"/>
          <p:cNvSpPr/>
          <p:nvPr/>
        </p:nvSpPr>
        <p:spPr>
          <a:xfrm>
            <a:off x="6903720" y="1737360"/>
            <a:ext cx="4480560" cy="365760"/>
          </a:xfrm>
          <a:prstGeom prst="rect">
            <a:avLst/>
          </a:prstGeom>
          <a:noFill/>
          <a:ln/>
        </p:spPr>
        <p:txBody>
          <a:bodyPr wrap="square" lIns="0" tIns="0" rIns="0" bIns="0" rtlCol="0" anchor="t"/>
          <a:lstStyle/>
          <a:p>
            <a:pPr indent="0" marL="0">
              <a:buNone/>
            </a:pPr>
            <a:r>
              <a:rPr lang="en-US" sz="1250" b="1" spc="100" kern="0" dirty="0">
                <a:solidFill>
                  <a:srgbClr val="8A6100"/>
                </a:solidFill>
                <a:latin typeface="Palatino Linotype" pitchFamily="34" charset="0"/>
                <a:ea typeface="Palatino Linotype" pitchFamily="34" charset="-122"/>
                <a:cs typeface="Palatino Linotype" pitchFamily="34" charset="-120"/>
              </a:rPr>
              <a:t>LA ANGAJARE, COORDONATORUL D. VERIFICĂ</a:t>
            </a:r>
            <a:endParaRPr lang="en-US" sz="1250" dirty="0"/>
          </a:p>
        </p:txBody>
      </p:sp>
      <p:sp>
        <p:nvSpPr>
          <p:cNvPr id="9" name="Shape 7"/>
          <p:cNvSpPr/>
          <p:nvPr/>
        </p:nvSpPr>
        <p:spPr>
          <a:xfrm>
            <a:off x="6949440" y="2331720"/>
            <a:ext cx="274320" cy="274320"/>
          </a:xfrm>
          <a:prstGeom prst="rect">
            <a:avLst/>
          </a:prstGeom>
          <a:solidFill>
            <a:srgbClr val="FFFFFF"/>
          </a:solidFill>
          <a:ln w="19050">
            <a:solidFill>
              <a:srgbClr val="8A6100"/>
            </a:solidFill>
            <a:prstDash val="solid"/>
          </a:ln>
        </p:spPr>
        <p:txBody>
          <a:bodyPr/>
          <a:p/>
        </p:txBody>
      </p:sp>
      <p:sp>
        <p:nvSpPr>
          <p:cNvPr id="10" name="Text 8"/>
          <p:cNvSpPr/>
          <p:nvPr/>
        </p:nvSpPr>
        <p:spPr>
          <a:xfrm>
            <a:off x="7406640" y="2240280"/>
            <a:ext cx="3977640" cy="8686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autorizația de liberă practică, avizată pentru anul în curs</a:t>
            </a:r>
            <a:endParaRPr lang="en-US" sz="1500" dirty="0"/>
          </a:p>
        </p:txBody>
      </p:sp>
      <p:sp>
        <p:nvSpPr>
          <p:cNvPr id="11" name="Shape 9"/>
          <p:cNvSpPr/>
          <p:nvPr/>
        </p:nvSpPr>
        <p:spPr>
          <a:xfrm>
            <a:off x="6949440" y="3319272"/>
            <a:ext cx="274320" cy="274320"/>
          </a:xfrm>
          <a:prstGeom prst="rect">
            <a:avLst/>
          </a:prstGeom>
          <a:solidFill>
            <a:srgbClr val="FFFFFF"/>
          </a:solidFill>
          <a:ln w="19050">
            <a:solidFill>
              <a:srgbClr val="8A6100"/>
            </a:solidFill>
            <a:prstDash val="solid"/>
          </a:ln>
        </p:spPr>
        <p:txBody>
          <a:bodyPr/>
          <a:p/>
        </p:txBody>
      </p:sp>
      <p:sp>
        <p:nvSpPr>
          <p:cNvPr id="12" name="Text 10"/>
          <p:cNvSpPr/>
          <p:nvPr/>
        </p:nvSpPr>
        <p:spPr>
          <a:xfrm>
            <a:off x="7406640" y="3227832"/>
            <a:ext cx="3977640" cy="8686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asigurarea de răspundere civilă, valabilă</a:t>
            </a:r>
            <a:endParaRPr lang="en-US" sz="1500" dirty="0"/>
          </a:p>
        </p:txBody>
      </p:sp>
      <p:sp>
        <p:nvSpPr>
          <p:cNvPr id="13" name="Shape 11"/>
          <p:cNvSpPr/>
          <p:nvPr/>
        </p:nvSpPr>
        <p:spPr>
          <a:xfrm>
            <a:off x="6949440" y="4306824"/>
            <a:ext cx="274320" cy="274320"/>
          </a:xfrm>
          <a:prstGeom prst="rect">
            <a:avLst/>
          </a:prstGeom>
          <a:solidFill>
            <a:srgbClr val="FFFFFF"/>
          </a:solidFill>
          <a:ln w="19050">
            <a:solidFill>
              <a:srgbClr val="8A6100"/>
            </a:solidFill>
            <a:prstDash val="solid"/>
          </a:ln>
        </p:spPr>
        <p:txBody>
          <a:bodyPr/>
          <a:p/>
        </p:txBody>
      </p:sp>
      <p:sp>
        <p:nvSpPr>
          <p:cNvPr id="14" name="Text 12"/>
          <p:cNvSpPr/>
          <p:nvPr/>
        </p:nvSpPr>
        <p:spPr>
          <a:xfrm>
            <a:off x="7406640" y="4215384"/>
            <a:ext cx="3977640" cy="8686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dovada creditelor anuale de educație medicală continuă (art. 14 alin. (2))</a:t>
            </a:r>
            <a:endParaRPr lang="en-US" sz="1500" dirty="0"/>
          </a:p>
        </p:txBody>
      </p:sp>
      <p:sp>
        <p:nvSpPr>
          <p:cNvPr id="15" name="Text 13"/>
          <p:cNvSpPr/>
          <p:nvPr/>
        </p:nvSpPr>
        <p:spPr>
          <a:xfrm>
            <a:off x="594360" y="5486400"/>
            <a:ext cx="10972800" cy="54864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Fără avizul anual, condițiile legii nu sunt îndeplinite, oricât de bun ar fi fizioterapeutul clinic.</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CÂȚI FIZIOTERAPEUȚI ARE ROMÂNIA</a:t>
            </a:r>
            <a:endParaRPr lang="en-US" sz="1300" dirty="0"/>
          </a:p>
        </p:txBody>
      </p:sp>
      <p:sp>
        <p:nvSpPr>
          <p:cNvPr id="3" name="Text 1"/>
          <p:cNvSpPr/>
          <p:nvPr/>
        </p:nvSpPr>
        <p:spPr>
          <a:xfrm>
            <a:off x="594360" y="868680"/>
            <a:ext cx="4754880" cy="1463040"/>
          </a:xfrm>
          <a:prstGeom prst="rect">
            <a:avLst/>
          </a:prstGeom>
          <a:noFill/>
          <a:ln/>
        </p:spPr>
        <p:txBody>
          <a:bodyPr wrap="square" lIns="0" tIns="0" rIns="0" bIns="0" rtlCol="0" anchor="ctr"/>
          <a:lstStyle/>
          <a:p>
            <a:pPr indent="0" marL="0">
              <a:buNone/>
            </a:pPr>
            <a:r>
              <a:rPr lang="en-US" sz="8800" b="1" dirty="0">
                <a:solidFill>
                  <a:srgbClr val="27D3BE"/>
                </a:solidFill>
                <a:latin typeface="Palatino Linotype" pitchFamily="34" charset="0"/>
                <a:ea typeface="Palatino Linotype" pitchFamily="34" charset="-122"/>
                <a:cs typeface="Palatino Linotype" pitchFamily="34" charset="-120"/>
              </a:rPr>
              <a:t>3 351</a:t>
            </a:r>
            <a:endParaRPr lang="en-US" sz="8800" dirty="0"/>
          </a:p>
        </p:txBody>
      </p:sp>
      <p:sp>
        <p:nvSpPr>
          <p:cNvPr id="4" name="Text 2"/>
          <p:cNvSpPr/>
          <p:nvPr/>
        </p:nvSpPr>
        <p:spPr>
          <a:xfrm>
            <a:off x="594360" y="2423160"/>
            <a:ext cx="4754880" cy="11887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fizioterapeuți în practică, 2024: 17,59 la 100 000 de locuitori. În 2015: 1 280, adică 6,46.</a:t>
            </a:r>
            <a:endParaRPr lang="en-US" sz="1700" dirty="0"/>
          </a:p>
        </p:txBody>
      </p:sp>
      <p:sp>
        <p:nvSpPr>
          <p:cNvPr id="5" name="Text 3"/>
          <p:cNvSpPr/>
          <p:nvPr/>
        </p:nvSpPr>
        <p:spPr>
          <a:xfrm>
            <a:off x="594360" y="3703320"/>
            <a:ext cx="4754880" cy="73152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UE-27, 2023: 147,48 (estimare Eurostat); România: 15,98.</a:t>
            </a:r>
            <a:endParaRPr lang="en-US" sz="1500" dirty="0"/>
          </a:p>
        </p:txBody>
      </p:sp>
      <p:sp>
        <p:nvSpPr>
          <p:cNvPr id="6" name="Text 4"/>
          <p:cNvSpPr/>
          <p:nvPr/>
        </p:nvSpPr>
        <p:spPr>
          <a:xfrm>
            <a:off x="594360" y="4526280"/>
            <a:ext cx="4754880" cy="1463040"/>
          </a:xfrm>
          <a:prstGeom prst="rect">
            <a:avLst/>
          </a:prstGeom>
          <a:noFill/>
          <a:ln/>
        </p:spPr>
        <p:txBody>
          <a:bodyPr wrap="square" lIns="0" tIns="0" rIns="0" bIns="0" rtlCol="0" anchor="t"/>
          <a:lstStyle/>
          <a:p>
            <a:pPr indent="0" marL="0">
              <a:buNone/>
            </a:pPr>
            <a:r>
              <a:rPr lang="en-US" sz="1450" i="1" dirty="0">
                <a:solidFill>
                  <a:srgbClr val="959BB0"/>
                </a:solidFill>
                <a:latin typeface="Palatino Linotype" pitchFamily="34" charset="0"/>
                <a:ea typeface="Palatino Linotype" pitchFamily="34" charset="-122"/>
                <a:cs typeface="Palatino Linotype" pitchFamily="34" charset="-120"/>
              </a:rPr>
              <a:t>Fiecare țară raportează după propriile registre. Cu această rezervă, România lucrează cu mult mai puțini fizioterapeuți raportați la populație decât media europeană.</a:t>
            </a:r>
            <a:endParaRPr lang="en-US" sz="1450" dirty="0"/>
          </a:p>
        </p:txBody>
      </p:sp>
      <p:sp>
        <p:nvSpPr>
          <p:cNvPr id="7" name="Text 5"/>
          <p:cNvSpPr/>
          <p:nvPr/>
        </p:nvSpPr>
        <p:spPr>
          <a:xfrm>
            <a:off x="5852160" y="914400"/>
            <a:ext cx="5760720" cy="36576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La 100 000 de locuitori, 2024</a:t>
            </a:r>
            <a:endParaRPr lang="en-US" sz="1400" dirty="0"/>
          </a:p>
        </p:txBody>
      </p:sp>
      <p:sp>
        <p:nvSpPr>
          <p:cNvPr id="8" name="Text 6"/>
          <p:cNvSpPr/>
          <p:nvPr/>
        </p:nvSpPr>
        <p:spPr>
          <a:xfrm>
            <a:off x="5852160" y="1417320"/>
            <a:ext cx="1280160" cy="758952"/>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România</a:t>
            </a:r>
            <a:endParaRPr lang="en-US" sz="1500" dirty="0"/>
          </a:p>
        </p:txBody>
      </p:sp>
      <p:sp>
        <p:nvSpPr>
          <p:cNvPr id="9" name="Shape 7"/>
          <p:cNvSpPr/>
          <p:nvPr/>
        </p:nvSpPr>
        <p:spPr>
          <a:xfrm>
            <a:off x="7223760" y="1490472"/>
            <a:ext cx="235898" cy="612648"/>
          </a:xfrm>
          <a:prstGeom prst="rect">
            <a:avLst/>
          </a:prstGeom>
          <a:solidFill>
            <a:srgbClr val="FF4757"/>
          </a:solidFill>
          <a:ln w="12700">
            <a:solidFill>
              <a:srgbClr val="FF4757"/>
            </a:solidFill>
            <a:prstDash val="solid"/>
          </a:ln>
        </p:spPr>
        <p:txBody>
          <a:bodyPr/>
          <a:p/>
        </p:txBody>
      </p:sp>
      <p:sp>
        <p:nvSpPr>
          <p:cNvPr id="10" name="Text 8"/>
          <p:cNvSpPr/>
          <p:nvPr/>
        </p:nvSpPr>
        <p:spPr>
          <a:xfrm>
            <a:off x="7551098" y="1417320"/>
            <a:ext cx="1097280" cy="758952"/>
          </a:xfrm>
          <a:prstGeom prst="rect">
            <a:avLst/>
          </a:prstGeom>
          <a:noFill/>
          <a:ln/>
        </p:spPr>
        <p:txBody>
          <a:bodyPr wrap="square" lIns="0" tIns="0" rIns="0" bIns="0" rtlCol="0" anchor="ctr"/>
          <a:lstStyle/>
          <a:p>
            <a:pPr indent="0" marL="0">
              <a:buNone/>
            </a:pPr>
            <a:r>
              <a:rPr lang="en-US" sz="1500" b="1" dirty="0">
                <a:solidFill>
                  <a:srgbClr val="FF4757"/>
                </a:solidFill>
                <a:latin typeface="Palatino Linotype" pitchFamily="34" charset="0"/>
                <a:ea typeface="Palatino Linotype" pitchFamily="34" charset="-122"/>
                <a:cs typeface="Palatino Linotype" pitchFamily="34" charset="-120"/>
              </a:rPr>
              <a:t>17,59</a:t>
            </a:r>
            <a:endParaRPr lang="en-US" sz="1500" dirty="0"/>
          </a:p>
        </p:txBody>
      </p:sp>
      <p:sp>
        <p:nvSpPr>
          <p:cNvPr id="11" name="Text 9"/>
          <p:cNvSpPr/>
          <p:nvPr/>
        </p:nvSpPr>
        <p:spPr>
          <a:xfrm>
            <a:off x="5852160" y="2286000"/>
            <a:ext cx="1280160" cy="758952"/>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Bulgaria</a:t>
            </a:r>
            <a:endParaRPr lang="en-US" sz="1500" dirty="0"/>
          </a:p>
        </p:txBody>
      </p:sp>
      <p:sp>
        <p:nvSpPr>
          <p:cNvPr id="12" name="Shape 10"/>
          <p:cNvSpPr/>
          <p:nvPr/>
        </p:nvSpPr>
        <p:spPr>
          <a:xfrm>
            <a:off x="7223760" y="2359152"/>
            <a:ext cx="405143" cy="612648"/>
          </a:xfrm>
          <a:prstGeom prst="rect">
            <a:avLst/>
          </a:prstGeom>
          <a:solidFill>
            <a:srgbClr val="8E94A8"/>
          </a:solidFill>
          <a:ln w="12700">
            <a:solidFill>
              <a:srgbClr val="8E94A8"/>
            </a:solidFill>
            <a:prstDash val="solid"/>
          </a:ln>
        </p:spPr>
        <p:txBody>
          <a:bodyPr/>
          <a:p/>
        </p:txBody>
      </p:sp>
      <p:sp>
        <p:nvSpPr>
          <p:cNvPr id="13" name="Text 11"/>
          <p:cNvSpPr/>
          <p:nvPr/>
        </p:nvSpPr>
        <p:spPr>
          <a:xfrm>
            <a:off x="7720343" y="2286000"/>
            <a:ext cx="1097280" cy="758952"/>
          </a:xfrm>
          <a:prstGeom prst="rect">
            <a:avLst/>
          </a:prstGeom>
          <a:noFill/>
          <a:ln/>
        </p:spPr>
        <p:txBody>
          <a:bodyPr wrap="square" lIns="0" tIns="0" rIns="0" bIns="0" rtlCol="0" anchor="ctr"/>
          <a:lstStyle/>
          <a:p>
            <a:pPr indent="0" marL="0">
              <a:buNone/>
            </a:pPr>
            <a:r>
              <a:rPr lang="en-US" sz="1500" b="1" dirty="0">
                <a:solidFill>
                  <a:srgbClr val="8E94A8"/>
                </a:solidFill>
                <a:latin typeface="Palatino Linotype" pitchFamily="34" charset="0"/>
                <a:ea typeface="Palatino Linotype" pitchFamily="34" charset="-122"/>
                <a:cs typeface="Palatino Linotype" pitchFamily="34" charset="-120"/>
              </a:rPr>
              <a:t>30,21</a:t>
            </a:r>
            <a:endParaRPr lang="en-US" sz="1500" dirty="0"/>
          </a:p>
        </p:txBody>
      </p:sp>
      <p:sp>
        <p:nvSpPr>
          <p:cNvPr id="14" name="Text 12"/>
          <p:cNvSpPr/>
          <p:nvPr/>
        </p:nvSpPr>
        <p:spPr>
          <a:xfrm>
            <a:off x="5852160" y="3154680"/>
            <a:ext cx="1280160" cy="758952"/>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Ungaria</a:t>
            </a:r>
            <a:endParaRPr lang="en-US" sz="1500" dirty="0"/>
          </a:p>
        </p:txBody>
      </p:sp>
      <p:sp>
        <p:nvSpPr>
          <p:cNvPr id="15" name="Shape 13"/>
          <p:cNvSpPr/>
          <p:nvPr/>
        </p:nvSpPr>
        <p:spPr>
          <a:xfrm>
            <a:off x="7223760" y="3227832"/>
            <a:ext cx="985433" cy="612648"/>
          </a:xfrm>
          <a:prstGeom prst="rect">
            <a:avLst/>
          </a:prstGeom>
          <a:solidFill>
            <a:srgbClr val="8E94A8"/>
          </a:solidFill>
          <a:ln w="12700">
            <a:solidFill>
              <a:srgbClr val="8E94A8"/>
            </a:solidFill>
            <a:prstDash val="solid"/>
          </a:ln>
        </p:spPr>
        <p:txBody>
          <a:bodyPr/>
          <a:p/>
        </p:txBody>
      </p:sp>
      <p:sp>
        <p:nvSpPr>
          <p:cNvPr id="16" name="Text 14"/>
          <p:cNvSpPr/>
          <p:nvPr/>
        </p:nvSpPr>
        <p:spPr>
          <a:xfrm>
            <a:off x="8300633" y="3154680"/>
            <a:ext cx="1097280" cy="758952"/>
          </a:xfrm>
          <a:prstGeom prst="rect">
            <a:avLst/>
          </a:prstGeom>
          <a:noFill/>
          <a:ln/>
        </p:spPr>
        <p:txBody>
          <a:bodyPr wrap="square" lIns="0" tIns="0" rIns="0" bIns="0" rtlCol="0" anchor="ctr"/>
          <a:lstStyle/>
          <a:p>
            <a:pPr indent="0" marL="0">
              <a:buNone/>
            </a:pPr>
            <a:r>
              <a:rPr lang="en-US" sz="1500" b="1" dirty="0">
                <a:solidFill>
                  <a:srgbClr val="8E94A8"/>
                </a:solidFill>
                <a:latin typeface="Palatino Linotype" pitchFamily="34" charset="0"/>
                <a:ea typeface="Palatino Linotype" pitchFamily="34" charset="-122"/>
                <a:cs typeface="Palatino Linotype" pitchFamily="34" charset="-120"/>
              </a:rPr>
              <a:t>73,48</a:t>
            </a:r>
            <a:endParaRPr lang="en-US" sz="1500" dirty="0"/>
          </a:p>
        </p:txBody>
      </p:sp>
      <p:sp>
        <p:nvSpPr>
          <p:cNvPr id="17" name="Text 15"/>
          <p:cNvSpPr/>
          <p:nvPr/>
        </p:nvSpPr>
        <p:spPr>
          <a:xfrm>
            <a:off x="5852160" y="4023360"/>
            <a:ext cx="1280160" cy="758952"/>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Polonia</a:t>
            </a:r>
            <a:endParaRPr lang="en-US" sz="1500" dirty="0"/>
          </a:p>
        </p:txBody>
      </p:sp>
      <p:sp>
        <p:nvSpPr>
          <p:cNvPr id="18" name="Shape 16"/>
          <p:cNvSpPr/>
          <p:nvPr/>
        </p:nvSpPr>
        <p:spPr>
          <a:xfrm>
            <a:off x="7223760" y="4096512"/>
            <a:ext cx="2277573" cy="612648"/>
          </a:xfrm>
          <a:prstGeom prst="rect">
            <a:avLst/>
          </a:prstGeom>
          <a:solidFill>
            <a:srgbClr val="8E94A8"/>
          </a:solidFill>
          <a:ln w="12700">
            <a:solidFill>
              <a:srgbClr val="8E94A8"/>
            </a:solidFill>
            <a:prstDash val="solid"/>
          </a:ln>
        </p:spPr>
        <p:txBody>
          <a:bodyPr/>
          <a:p/>
        </p:txBody>
      </p:sp>
      <p:sp>
        <p:nvSpPr>
          <p:cNvPr id="19" name="Text 17"/>
          <p:cNvSpPr/>
          <p:nvPr/>
        </p:nvSpPr>
        <p:spPr>
          <a:xfrm>
            <a:off x="9592773" y="4023360"/>
            <a:ext cx="1097280" cy="758952"/>
          </a:xfrm>
          <a:prstGeom prst="rect">
            <a:avLst/>
          </a:prstGeom>
          <a:noFill/>
          <a:ln/>
        </p:spPr>
        <p:txBody>
          <a:bodyPr wrap="square" lIns="0" tIns="0" rIns="0" bIns="0" rtlCol="0" anchor="ctr"/>
          <a:lstStyle/>
          <a:p>
            <a:pPr indent="0" marL="0">
              <a:buNone/>
            </a:pPr>
            <a:r>
              <a:rPr lang="en-US" sz="1500" b="1" dirty="0">
                <a:solidFill>
                  <a:srgbClr val="8E94A8"/>
                </a:solidFill>
                <a:latin typeface="Palatino Linotype" pitchFamily="34" charset="0"/>
                <a:ea typeface="Palatino Linotype" pitchFamily="34" charset="-122"/>
                <a:cs typeface="Palatino Linotype" pitchFamily="34" charset="-120"/>
              </a:rPr>
              <a:t>169,83</a:t>
            </a:r>
            <a:endParaRPr lang="en-US" sz="1500" dirty="0"/>
          </a:p>
        </p:txBody>
      </p:sp>
      <p:sp>
        <p:nvSpPr>
          <p:cNvPr id="20" name="Text 18"/>
          <p:cNvSpPr/>
          <p:nvPr/>
        </p:nvSpPr>
        <p:spPr>
          <a:xfrm>
            <a:off x="5852160" y="4892040"/>
            <a:ext cx="1280160" cy="758952"/>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Germania</a:t>
            </a:r>
            <a:endParaRPr lang="en-US" sz="1500" dirty="0"/>
          </a:p>
        </p:txBody>
      </p:sp>
      <p:sp>
        <p:nvSpPr>
          <p:cNvPr id="21" name="Shape 19"/>
          <p:cNvSpPr/>
          <p:nvPr/>
        </p:nvSpPr>
        <p:spPr>
          <a:xfrm>
            <a:off x="7223760" y="4965192"/>
            <a:ext cx="3291840" cy="612648"/>
          </a:xfrm>
          <a:prstGeom prst="rect">
            <a:avLst/>
          </a:prstGeom>
          <a:solidFill>
            <a:srgbClr val="8E94A8"/>
          </a:solidFill>
          <a:ln w="12700">
            <a:solidFill>
              <a:srgbClr val="8E94A8"/>
            </a:solidFill>
            <a:prstDash val="solid"/>
          </a:ln>
        </p:spPr>
        <p:txBody>
          <a:bodyPr/>
          <a:p/>
        </p:txBody>
      </p:sp>
      <p:sp>
        <p:nvSpPr>
          <p:cNvPr id="22" name="Text 20"/>
          <p:cNvSpPr/>
          <p:nvPr/>
        </p:nvSpPr>
        <p:spPr>
          <a:xfrm>
            <a:off x="10607040" y="4892040"/>
            <a:ext cx="1097280" cy="758952"/>
          </a:xfrm>
          <a:prstGeom prst="rect">
            <a:avLst/>
          </a:prstGeom>
          <a:noFill/>
          <a:ln/>
        </p:spPr>
        <p:txBody>
          <a:bodyPr wrap="square" lIns="0" tIns="0" rIns="0" bIns="0" rtlCol="0" anchor="ctr"/>
          <a:lstStyle/>
          <a:p>
            <a:pPr indent="0" marL="0">
              <a:buNone/>
            </a:pPr>
            <a:r>
              <a:rPr lang="en-US" sz="1500" b="1" dirty="0">
                <a:solidFill>
                  <a:srgbClr val="8E94A8"/>
                </a:solidFill>
                <a:latin typeface="Palatino Linotype" pitchFamily="34" charset="0"/>
                <a:ea typeface="Palatino Linotype" pitchFamily="34" charset="-122"/>
                <a:cs typeface="Palatino Linotype" pitchFamily="34" charset="-120"/>
              </a:rPr>
              <a:t>245,46</a:t>
            </a:r>
            <a:endParaRPr lang="en-US" sz="1500" dirty="0"/>
          </a:p>
        </p:txBody>
      </p:sp>
      <p:sp>
        <p:nvSpPr>
          <p:cNvPr id="23" name="Text 21"/>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Eurostat, fizioterapeuți în practică la 100 000 de locuitori, 2015, 2023 și 2024.</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BFKIII/active/img/sala_proceduri_commons.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144768"/>
            <a:ext cx="5486400" cy="71323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6933895" y="6181344"/>
            <a:ext cx="5029200" cy="384048"/>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Sală de proceduri de fizioterapie, Karelia, Rusia</a:t>
            </a:r>
            <a:endParaRPr lang="en-US" sz="1100" dirty="0"/>
          </a:p>
        </p:txBody>
      </p:sp>
      <p:sp>
        <p:nvSpPr>
          <p:cNvPr id="5" name="Text 2"/>
          <p:cNvSpPr/>
          <p:nvPr/>
        </p:nvSpPr>
        <p:spPr>
          <a:xfrm>
            <a:off x="6933895" y="6565392"/>
            <a:ext cx="502920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Igor Georgievskiy · CC BY-SA 4.0 · Wikimedia Commons</a:t>
            </a:r>
            <a:endParaRPr lang="en-US" sz="850" dirty="0"/>
          </a:p>
        </p:txBody>
      </p:sp>
      <p:sp>
        <p:nvSpPr>
          <p:cNvPr id="6" name="Text 3"/>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ECHIPA DE RECUPERARE</a:t>
            </a:r>
            <a:endParaRPr lang="en-US" sz="1300" dirty="0"/>
          </a:p>
        </p:txBody>
      </p:sp>
      <p:sp>
        <p:nvSpPr>
          <p:cNvPr id="7" name="Text 4"/>
          <p:cNvSpPr/>
          <p:nvPr/>
        </p:nvSpPr>
        <p:spPr>
          <a:xfrm>
            <a:off x="594360" y="731520"/>
            <a:ext cx="5852160" cy="731520"/>
          </a:xfrm>
          <a:prstGeom prst="rect">
            <a:avLst/>
          </a:prstGeom>
          <a:noFill/>
          <a:ln/>
        </p:spPr>
        <p:txBody>
          <a:bodyPr wrap="square" lIns="0" tIns="0" rIns="0" bIns="0" rtlCol="0" anchor="t"/>
          <a:lstStyle/>
          <a:p>
            <a:pPr indent="0" marL="0">
              <a:buNone/>
            </a:pPr>
            <a:r>
              <a:rPr lang="en-US" sz="2700" b="1" dirty="0">
                <a:solidFill>
                  <a:srgbClr val="11121A"/>
                </a:solidFill>
                <a:latin typeface="Palatino Linotype" pitchFamily="34" charset="0"/>
                <a:ea typeface="Palatino Linotype" pitchFamily="34" charset="-122"/>
                <a:cs typeface="Palatino Linotype" pitchFamily="34" charset="-120"/>
              </a:rPr>
              <a:t>Cine poate face parte din echipă</a:t>
            </a:r>
            <a:endParaRPr lang="en-US" sz="2700" dirty="0"/>
          </a:p>
        </p:txBody>
      </p:sp>
      <p:sp>
        <p:nvSpPr>
          <p:cNvPr id="8" name="Text 5"/>
          <p:cNvSpPr/>
          <p:nvPr/>
        </p:nvSpPr>
        <p:spPr>
          <a:xfrm>
            <a:off x="594360" y="1508760"/>
            <a:ext cx="5852160" cy="365760"/>
          </a:xfrm>
          <a:prstGeom prst="rect">
            <a:avLst/>
          </a:prstGeom>
          <a:noFill/>
          <a:ln/>
        </p:spPr>
        <p:txBody>
          <a:bodyPr wrap="square" lIns="0" tIns="0" rIns="0" bIns="0" rtlCol="0" anchor="t"/>
          <a:lstStyle/>
          <a:p>
            <a:pPr indent="0" marL="0">
              <a:buNone/>
            </a:pPr>
            <a:r>
              <a:rPr lang="en-US" sz="1400" b="1" dirty="0">
                <a:solidFill>
                  <a:srgbClr val="0E7C6B"/>
                </a:solidFill>
                <a:latin typeface="Palatino Linotype" pitchFamily="34" charset="0"/>
                <a:ea typeface="Palatino Linotype" pitchFamily="34" charset="-122"/>
                <a:cs typeface="Palatino Linotype" pitchFamily="34" charset="-120"/>
              </a:rPr>
              <a:t>OMS, 2023: specialiștii care pot fi cei mai potriviți pentru o intervenție</a:t>
            </a:r>
            <a:endParaRPr lang="en-US" sz="1400" dirty="0"/>
          </a:p>
        </p:txBody>
      </p:sp>
      <p:sp>
        <p:nvSpPr>
          <p:cNvPr id="9" name="Text 6"/>
          <p:cNvSpPr/>
          <p:nvPr/>
        </p:nvSpPr>
        <p:spPr>
          <a:xfrm>
            <a:off x="594360" y="1920240"/>
            <a:ext cx="5852160" cy="19202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audiologul · dieteticianul și nutriționistul · asistentul medical · terapeutul ocupațional · oftalmologul · optometristul · fizioterapeutul · psihologul · protezistul-ortezistul · asistentul social · profesorul de educație specială · medicul de medicină fizică și de reabilitare · logopedul</a:t>
            </a:r>
            <a:endParaRPr lang="en-US" sz="1500" dirty="0"/>
          </a:p>
        </p:txBody>
      </p:sp>
      <p:sp>
        <p:nvSpPr>
          <p:cNvPr id="10" name="Text 7"/>
          <p:cNvSpPr/>
          <p:nvPr/>
        </p:nvSpPr>
        <p:spPr>
          <a:xfrm>
            <a:off x="594360" y="3886200"/>
            <a:ext cx="5852160" cy="457200"/>
          </a:xfrm>
          <a:prstGeom prst="rect">
            <a:avLst/>
          </a:prstGeom>
          <a:noFill/>
          <a:ln/>
        </p:spPr>
        <p:txBody>
          <a:bodyPr wrap="square" lIns="0" tIns="0" rIns="0" bIns="0" rtlCol="0" anchor="t"/>
          <a:lstStyle/>
          <a:p>
            <a:pPr indent="0" marL="0">
              <a:buNone/>
            </a:pPr>
            <a:r>
              <a:rPr lang="en-US" sz="1450" i="1" dirty="0">
                <a:solidFill>
                  <a:srgbClr val="B02532"/>
                </a:solidFill>
                <a:latin typeface="Palatino Linotype" pitchFamily="34" charset="0"/>
                <a:ea typeface="Palatino Linotype" pitchFamily="34" charset="-122"/>
                <a:cs typeface="Palatino Linotype" pitchFamily="34" charset="-120"/>
              </a:rPr>
              <a:t>Lista nu e o prescripție: se citește în contextul fiecărei țări.</a:t>
            </a:r>
            <a:endParaRPr lang="en-US" sz="1450" dirty="0"/>
          </a:p>
        </p:txBody>
      </p:sp>
      <p:sp>
        <p:nvSpPr>
          <p:cNvPr id="11" name="Shape 8"/>
          <p:cNvSpPr/>
          <p:nvPr/>
        </p:nvSpPr>
        <p:spPr>
          <a:xfrm>
            <a:off x="594360" y="4480560"/>
            <a:ext cx="5852160" cy="1554480"/>
          </a:xfrm>
          <a:prstGeom prst="roundRect">
            <a:avLst>
              <a:gd name="adj" fmla="val 5294"/>
            </a:avLst>
          </a:prstGeom>
          <a:solidFill>
            <a:srgbClr val="E1F0EC"/>
          </a:solidFill>
          <a:ln w="12700">
            <a:solidFill>
              <a:srgbClr val="E1F0EC"/>
            </a:solidFill>
            <a:prstDash val="solid"/>
          </a:ln>
        </p:spPr>
        <p:txBody>
          <a:bodyPr/>
          <a:p/>
        </p:txBody>
      </p:sp>
      <p:sp>
        <p:nvSpPr>
          <p:cNvPr id="12" name="Text 9"/>
          <p:cNvSpPr/>
          <p:nvPr/>
        </p:nvSpPr>
        <p:spPr>
          <a:xfrm>
            <a:off x="822960" y="4572000"/>
            <a:ext cx="5440680" cy="1371600"/>
          </a:xfrm>
          <a:prstGeom prst="rect">
            <a:avLst/>
          </a:prstGeom>
          <a:noFill/>
          <a:ln/>
        </p:spPr>
        <p:txBody>
          <a:bodyPr wrap="square" lIns="0" tIns="0" rIns="0" bIns="0" rtlCol="0" anchor="ctr"/>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Pentru pacientul-ancoră (fișa disciplinei): </a:t>
            </a:r>
            <a:pPr indent="0" marL="0">
              <a:buNone/>
            </a:pPr>
            <a:r>
              <a:rPr lang="en-US" sz="1500" dirty="0">
                <a:solidFill>
                  <a:srgbClr val="11121A"/>
                </a:solidFill>
                <a:latin typeface="Palatino Linotype" pitchFamily="34" charset="0"/>
                <a:ea typeface="Palatino Linotype" pitchFamily="34" charset="-122"/>
                <a:cs typeface="Palatino Linotype" pitchFamily="34" charset="-120"/>
              </a:rPr>
              <a:t>medicul MFR, fizioterapeutul, terapeutul ocupațional, asistentul medical, psihologul, pacientul și familia.</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 · TREI MINUTE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DOI VOLUNTARI · PACIENTA A</a:t>
            </a:r>
            <a:endParaRPr lang="en-US" sz="1300" dirty="0"/>
          </a:p>
        </p:txBody>
      </p:sp>
      <p:sp>
        <p:nvSpPr>
          <p:cNvPr id="5" name="Text 3"/>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Medicul și fizioterapeutul</a:t>
            </a:r>
            <a:endParaRPr lang="en-US" sz="3000" dirty="0"/>
          </a:p>
        </p:txBody>
      </p:sp>
      <p:sp>
        <p:nvSpPr>
          <p:cNvPr id="6" name="Shape 4"/>
          <p:cNvSpPr/>
          <p:nvPr/>
        </p:nvSpPr>
        <p:spPr>
          <a:xfrm>
            <a:off x="594360" y="1783080"/>
            <a:ext cx="7863840" cy="1325880"/>
          </a:xfrm>
          <a:prstGeom prst="roundRect">
            <a:avLst>
              <a:gd name="adj" fmla="val 11034"/>
            </a:avLst>
          </a:prstGeom>
          <a:solidFill>
            <a:srgbClr val="30344A"/>
          </a:solidFill>
          <a:ln w="12700">
            <a:solidFill>
              <a:srgbClr val="30344A"/>
            </a:solidFill>
            <a:prstDash val="solid"/>
          </a:ln>
        </p:spPr>
        <p:txBody>
          <a:bodyPr/>
          <a:p/>
        </p:txBody>
      </p:sp>
      <p:sp>
        <p:nvSpPr>
          <p:cNvPr id="7" name="Text 5"/>
          <p:cNvSpPr/>
          <p:nvPr/>
        </p:nvSpPr>
        <p:spPr>
          <a:xfrm>
            <a:off x="868680" y="1874520"/>
            <a:ext cx="7315200" cy="1143000"/>
          </a:xfrm>
          <a:prstGeom prst="rect">
            <a:avLst/>
          </a:prstGeom>
          <a:noFill/>
          <a:ln/>
        </p:spPr>
        <p:txBody>
          <a:bodyPr wrap="square" lIns="0" tIns="0" rIns="0" bIns="0" rtlCol="0" anchor="ctr"/>
          <a:lstStyle/>
          <a:p>
            <a:pPr indent="0" marL="0">
              <a:buNone/>
            </a:pPr>
            <a:r>
              <a:rPr lang="en-US" sz="1350" b="1" dirty="0">
                <a:solidFill>
                  <a:srgbClr val="FFC24B"/>
                </a:solidFill>
                <a:latin typeface="Palatino Linotype" pitchFamily="34" charset="0"/>
                <a:ea typeface="Palatino Linotype" pitchFamily="34" charset="-122"/>
                <a:cs typeface="Palatino Linotype" pitchFamily="34" charset="-120"/>
              </a:rPr>
              <a:t>Medicul de medicină fizică și de reabilitare</a:t>
            </a:r>
            <a:endParaRPr lang="en-US" sz="1350" dirty="0"/>
          </a:p>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Am prescris zece ședințe de electroterapie.</a:t>
            </a:r>
            <a:endParaRPr lang="en-US" sz="1350" dirty="0"/>
          </a:p>
        </p:txBody>
      </p:sp>
      <p:sp>
        <p:nvSpPr>
          <p:cNvPr id="8" name="Shape 6"/>
          <p:cNvSpPr/>
          <p:nvPr/>
        </p:nvSpPr>
        <p:spPr>
          <a:xfrm>
            <a:off x="3657600" y="3383280"/>
            <a:ext cx="7863840" cy="1325880"/>
          </a:xfrm>
          <a:prstGeom prst="roundRect">
            <a:avLst>
              <a:gd name="adj" fmla="val 11034"/>
            </a:avLst>
          </a:prstGeom>
          <a:solidFill>
            <a:srgbClr val="0F5A4F"/>
          </a:solidFill>
          <a:ln w="12700">
            <a:solidFill>
              <a:srgbClr val="0F5A4F"/>
            </a:solidFill>
            <a:prstDash val="solid"/>
          </a:ln>
        </p:spPr>
        <p:txBody>
          <a:bodyPr/>
          <a:p/>
        </p:txBody>
      </p:sp>
      <p:sp>
        <p:nvSpPr>
          <p:cNvPr id="9" name="Text 7"/>
          <p:cNvSpPr/>
          <p:nvPr/>
        </p:nvSpPr>
        <p:spPr>
          <a:xfrm>
            <a:off x="3931920" y="3474720"/>
            <a:ext cx="7315200" cy="1143000"/>
          </a:xfrm>
          <a:prstGeom prst="rect">
            <a:avLst/>
          </a:prstGeom>
          <a:noFill/>
          <a:ln/>
        </p:spPr>
        <p:txBody>
          <a:bodyPr wrap="square" lIns="0" tIns="0" rIns="0" bIns="0" rtlCol="0" anchor="ctr"/>
          <a:lstStyle/>
          <a:p>
            <a:pPr indent="0" marL="0">
              <a:buNone/>
            </a:pPr>
            <a:r>
              <a:rPr lang="en-US" sz="1350" b="1" dirty="0">
                <a:solidFill>
                  <a:srgbClr val="9FE8DC"/>
                </a:solidFill>
                <a:latin typeface="Palatino Linotype" pitchFamily="34" charset="0"/>
                <a:ea typeface="Palatino Linotype" pitchFamily="34" charset="-122"/>
                <a:cs typeface="Palatino Linotype" pitchFamily="34" charset="-120"/>
              </a:rPr>
              <a:t>Fizioterapeutul, după evaluarea pacientei A</a:t>
            </a:r>
            <a:endParaRPr lang="en-US" sz="1350" dirty="0"/>
          </a:p>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Pacienta are nevoie în primul rând de exerciții active și de educație pentru teama de mișcare.</a:t>
            </a:r>
            <a:endParaRPr lang="en-US" sz="1350" dirty="0"/>
          </a:p>
        </p:txBody>
      </p:sp>
      <p:sp>
        <p:nvSpPr>
          <p:cNvPr id="10" name="Text 8"/>
          <p:cNvSpPr/>
          <p:nvPr/>
        </p:nvSpPr>
        <p:spPr>
          <a:xfrm>
            <a:off x="594360" y="5257800"/>
            <a:ext cx="10972800" cy="54864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Discutați cazul în fața colegilor, cel mult trei minute. Apoi toată lumea votează.</a:t>
            </a:r>
            <a:endParaRPr lang="en-US" sz="1800" dirty="0"/>
          </a:p>
        </p:txBody>
      </p:sp>
      <p:sp>
        <p:nvSpPr>
          <p:cNvPr id="11" name="Text 9"/>
          <p:cNvSpPr/>
          <p:nvPr/>
        </p:nvSpPr>
        <p:spPr>
          <a:xfrm>
            <a:off x="8503920" y="6355080"/>
            <a:ext cx="3108960" cy="274320"/>
          </a:xfrm>
          <a:prstGeom prst="rect">
            <a:avLst/>
          </a:prstGeom>
          <a:noFill/>
          <a:ln/>
        </p:spPr>
        <p:txBody>
          <a:bodyPr wrap="square" lIns="0" tIns="0" rIns="0" bIns="0" rtlCol="0" anchor="t"/>
          <a:lstStyle/>
          <a:p>
            <a:pPr algn="r" indent="0" marL="0">
              <a:buNone/>
            </a:pPr>
            <a:r>
              <a:rPr lang="en-US" sz="1000" i="1" dirty="0">
                <a:solidFill>
                  <a:srgbClr val="8E94A8"/>
                </a:solidFill>
                <a:latin typeface="Palatino Linotype" pitchFamily="34" charset="0"/>
                <a:ea typeface="Palatino Linotype" pitchFamily="34" charset="-122"/>
                <a:cs typeface="Palatino Linotype" pitchFamily="34" charset="-120"/>
              </a:rPr>
              <a:t>Scenă construită în scop didactic.</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DUPĂ JOCUL DE ROL</a:t>
            </a:r>
            <a:endParaRPr lang="en-US" sz="1300" dirty="0"/>
          </a:p>
        </p:txBody>
      </p:sp>
      <p:sp>
        <p:nvSpPr>
          <p:cNvPr id="5" name="Text 3"/>
          <p:cNvSpPr/>
          <p:nvPr/>
        </p:nvSpPr>
        <p:spPr>
          <a:xfrm>
            <a:off x="594360" y="868680"/>
            <a:ext cx="10972800" cy="82296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ar fi făcut fizioterapeutul?</a:t>
            </a:r>
            <a:endParaRPr lang="en-US" sz="3000" dirty="0"/>
          </a:p>
        </p:txBody>
      </p:sp>
      <p:sp>
        <p:nvSpPr>
          <p:cNvPr id="6" name="Shape 4"/>
          <p:cNvSpPr/>
          <p:nvPr/>
        </p:nvSpPr>
        <p:spPr>
          <a:xfrm>
            <a:off x="594360" y="1920240"/>
            <a:ext cx="10972800" cy="777240"/>
          </a:xfrm>
          <a:prstGeom prst="roundRect">
            <a:avLst>
              <a:gd name="adj" fmla="val 10588"/>
            </a:avLst>
          </a:prstGeom>
          <a:solidFill>
            <a:srgbClr val="272A38"/>
          </a:solidFill>
          <a:ln w="12700">
            <a:solidFill>
              <a:srgbClr val="272A38"/>
            </a:solidFill>
            <a:prstDash val="solid"/>
          </a:ln>
        </p:spPr>
        <p:txBody>
          <a:bodyPr/>
          <a:p/>
        </p:txBody>
      </p:sp>
      <p:sp>
        <p:nvSpPr>
          <p:cNvPr id="7" name="Shape 5"/>
          <p:cNvSpPr/>
          <p:nvPr/>
        </p:nvSpPr>
        <p:spPr>
          <a:xfrm>
            <a:off x="868680" y="2098548"/>
            <a:ext cx="420624" cy="420624"/>
          </a:xfrm>
          <a:prstGeom prst="ellipse">
            <a:avLst/>
          </a:prstGeom>
          <a:solidFill>
            <a:srgbClr val="FFC24B"/>
          </a:solidFill>
          <a:ln/>
        </p:spPr>
        <p:txBody>
          <a:bodyPr/>
          <a:p/>
        </p:txBody>
      </p:sp>
      <p:sp>
        <p:nvSpPr>
          <p:cNvPr id="8" name="Text 6"/>
          <p:cNvSpPr/>
          <p:nvPr/>
        </p:nvSpPr>
        <p:spPr>
          <a:xfrm>
            <a:off x="868680" y="20985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54480" y="1920240"/>
            <a:ext cx="9784080" cy="77724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Aplică prescripția fără discuție</a:t>
            </a:r>
            <a:endParaRPr lang="en-US" sz="1900" dirty="0"/>
          </a:p>
        </p:txBody>
      </p:sp>
      <p:sp>
        <p:nvSpPr>
          <p:cNvPr id="10" name="Shape 8"/>
          <p:cNvSpPr/>
          <p:nvPr/>
        </p:nvSpPr>
        <p:spPr>
          <a:xfrm>
            <a:off x="594360" y="2834640"/>
            <a:ext cx="10972800" cy="777240"/>
          </a:xfrm>
          <a:prstGeom prst="roundRect">
            <a:avLst>
              <a:gd name="adj" fmla="val 10588"/>
            </a:avLst>
          </a:prstGeom>
          <a:solidFill>
            <a:srgbClr val="272A38"/>
          </a:solidFill>
          <a:ln w="12700">
            <a:solidFill>
              <a:srgbClr val="272A38"/>
            </a:solidFill>
            <a:prstDash val="solid"/>
          </a:ln>
        </p:spPr>
        <p:txBody>
          <a:bodyPr/>
          <a:p/>
        </p:txBody>
      </p:sp>
      <p:sp>
        <p:nvSpPr>
          <p:cNvPr id="11" name="Shape 9"/>
          <p:cNvSpPr/>
          <p:nvPr/>
        </p:nvSpPr>
        <p:spPr>
          <a:xfrm>
            <a:off x="868680" y="3012948"/>
            <a:ext cx="420624" cy="420624"/>
          </a:xfrm>
          <a:prstGeom prst="ellipse">
            <a:avLst/>
          </a:prstGeom>
          <a:solidFill>
            <a:srgbClr val="FFC24B"/>
          </a:solidFill>
          <a:ln/>
        </p:spPr>
        <p:txBody>
          <a:bodyPr/>
          <a:p/>
        </p:txBody>
      </p:sp>
      <p:sp>
        <p:nvSpPr>
          <p:cNvPr id="12" name="Text 10"/>
          <p:cNvSpPr/>
          <p:nvPr/>
        </p:nvSpPr>
        <p:spPr>
          <a:xfrm>
            <a:off x="868680" y="30129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54480" y="2834640"/>
            <a:ext cx="9784080" cy="77724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Schimbă singur planul</a:t>
            </a:r>
            <a:endParaRPr lang="en-US" sz="1900" dirty="0"/>
          </a:p>
        </p:txBody>
      </p:sp>
      <p:sp>
        <p:nvSpPr>
          <p:cNvPr id="14" name="Shape 12"/>
          <p:cNvSpPr/>
          <p:nvPr/>
        </p:nvSpPr>
        <p:spPr>
          <a:xfrm>
            <a:off x="594360" y="3749040"/>
            <a:ext cx="10972800" cy="777240"/>
          </a:xfrm>
          <a:prstGeom prst="roundRect">
            <a:avLst>
              <a:gd name="adj" fmla="val 10588"/>
            </a:avLst>
          </a:prstGeom>
          <a:solidFill>
            <a:srgbClr val="272A38"/>
          </a:solidFill>
          <a:ln w="12700">
            <a:solidFill>
              <a:srgbClr val="272A38"/>
            </a:solidFill>
            <a:prstDash val="solid"/>
          </a:ln>
        </p:spPr>
        <p:txBody>
          <a:bodyPr/>
          <a:p/>
        </p:txBody>
      </p:sp>
      <p:sp>
        <p:nvSpPr>
          <p:cNvPr id="15" name="Shape 13"/>
          <p:cNvSpPr/>
          <p:nvPr/>
        </p:nvSpPr>
        <p:spPr>
          <a:xfrm>
            <a:off x="868680" y="3927348"/>
            <a:ext cx="420624" cy="420624"/>
          </a:xfrm>
          <a:prstGeom prst="ellipse">
            <a:avLst/>
          </a:prstGeom>
          <a:solidFill>
            <a:srgbClr val="FFC24B"/>
          </a:solidFill>
          <a:ln/>
        </p:spPr>
        <p:txBody>
          <a:bodyPr/>
          <a:p/>
        </p:txBody>
      </p:sp>
      <p:sp>
        <p:nvSpPr>
          <p:cNvPr id="16" name="Text 14"/>
          <p:cNvSpPr/>
          <p:nvPr/>
        </p:nvSpPr>
        <p:spPr>
          <a:xfrm>
            <a:off x="868680" y="39273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54480" y="3749040"/>
            <a:ext cx="9784080" cy="77724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Discută cu medicul și propune modificarea; planul se schimbă cu acordul medicului</a:t>
            </a:r>
            <a:endParaRPr lang="en-US" sz="1900" dirty="0"/>
          </a:p>
        </p:txBody>
      </p:sp>
      <p:sp>
        <p:nvSpPr>
          <p:cNvPr id="18" name="Shape 16"/>
          <p:cNvSpPr/>
          <p:nvPr/>
        </p:nvSpPr>
        <p:spPr>
          <a:xfrm>
            <a:off x="594360" y="4663440"/>
            <a:ext cx="10972800" cy="777240"/>
          </a:xfrm>
          <a:prstGeom prst="roundRect">
            <a:avLst>
              <a:gd name="adj" fmla="val 10588"/>
            </a:avLst>
          </a:prstGeom>
          <a:solidFill>
            <a:srgbClr val="272A38"/>
          </a:solidFill>
          <a:ln w="12700">
            <a:solidFill>
              <a:srgbClr val="272A38"/>
            </a:solidFill>
            <a:prstDash val="solid"/>
          </a:ln>
        </p:spPr>
        <p:txBody>
          <a:bodyPr/>
          <a:p/>
        </p:txBody>
      </p:sp>
      <p:sp>
        <p:nvSpPr>
          <p:cNvPr id="19" name="Shape 17"/>
          <p:cNvSpPr/>
          <p:nvPr/>
        </p:nvSpPr>
        <p:spPr>
          <a:xfrm>
            <a:off x="868680" y="4841748"/>
            <a:ext cx="420624" cy="420624"/>
          </a:xfrm>
          <a:prstGeom prst="ellipse">
            <a:avLst/>
          </a:prstGeom>
          <a:solidFill>
            <a:srgbClr val="FFC24B"/>
          </a:solidFill>
          <a:ln/>
        </p:spPr>
        <p:txBody>
          <a:bodyPr/>
          <a:p/>
        </p:txBody>
      </p:sp>
      <p:sp>
        <p:nvSpPr>
          <p:cNvPr id="20" name="Text 18"/>
          <p:cNvSpPr/>
          <p:nvPr/>
        </p:nvSpPr>
        <p:spPr>
          <a:xfrm>
            <a:off x="868680" y="48417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54480" y="4663440"/>
            <a:ext cx="9784080" cy="77724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Pacienta alege singură</a:t>
            </a:r>
            <a:endParaRPr lang="en-US" sz="1900" dirty="0"/>
          </a:p>
        </p:txBody>
      </p:sp>
      <p:sp>
        <p:nvSpPr>
          <p:cNvPr id="22" name="Text 20"/>
          <p:cNvSpPr/>
          <p:nvPr/>
        </p:nvSpPr>
        <p:spPr>
          <a:xfrm>
            <a:off x="594360" y="571500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Votul nu are un răspuns marcat.</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CINE DECIDE CE</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Prescripția medicului, planul fizioterapeutului</a:t>
            </a:r>
            <a:endParaRPr lang="en-US" sz="2800" dirty="0"/>
          </a:p>
        </p:txBody>
      </p:sp>
      <p:sp>
        <p:nvSpPr>
          <p:cNvPr id="4" name="Shape 2"/>
          <p:cNvSpPr/>
          <p:nvPr/>
        </p:nvSpPr>
        <p:spPr>
          <a:xfrm>
            <a:off x="594360" y="1645920"/>
            <a:ext cx="5349240" cy="2011680"/>
          </a:xfrm>
          <a:prstGeom prst="roundRect">
            <a:avLst>
              <a:gd name="adj" fmla="val 4091"/>
            </a:avLst>
          </a:prstGeom>
          <a:solidFill>
            <a:srgbClr val="ECEAE4"/>
          </a:solidFill>
          <a:ln w="12700">
            <a:solidFill>
              <a:srgbClr val="ECEAE4"/>
            </a:solidFill>
            <a:prstDash val="solid"/>
          </a:ln>
        </p:spPr>
        <p:txBody>
          <a:bodyPr/>
          <a:p/>
        </p:txBody>
      </p:sp>
      <p:sp>
        <p:nvSpPr>
          <p:cNvPr id="5" name="Shape 3"/>
          <p:cNvSpPr/>
          <p:nvPr/>
        </p:nvSpPr>
        <p:spPr>
          <a:xfrm>
            <a:off x="6217920" y="1645920"/>
            <a:ext cx="5349240" cy="2011680"/>
          </a:xfrm>
          <a:prstGeom prst="roundRect">
            <a:avLst>
              <a:gd name="adj" fmla="val 4091"/>
            </a:avLst>
          </a:prstGeom>
          <a:solidFill>
            <a:srgbClr val="E1F0EC"/>
          </a:solidFill>
          <a:ln w="12700">
            <a:solidFill>
              <a:srgbClr val="E1F0EC"/>
            </a:solidFill>
            <a:prstDash val="solid"/>
          </a:ln>
        </p:spPr>
        <p:txBody>
          <a:bodyPr/>
          <a:p/>
        </p:txBody>
      </p:sp>
      <p:sp>
        <p:nvSpPr>
          <p:cNvPr id="6" name="Text 4"/>
          <p:cNvSpPr/>
          <p:nvPr/>
        </p:nvSpPr>
        <p:spPr>
          <a:xfrm>
            <a:off x="868680" y="1783080"/>
            <a:ext cx="4846320" cy="365760"/>
          </a:xfrm>
          <a:prstGeom prst="rect">
            <a:avLst/>
          </a:prstGeom>
          <a:noFill/>
          <a:ln/>
        </p:spPr>
        <p:txBody>
          <a:bodyPr wrap="square" lIns="0" tIns="0" rIns="0" bIns="0" rtlCol="0" anchor="t"/>
          <a:lstStyle/>
          <a:p>
            <a:pPr indent="0" marL="0">
              <a:buNone/>
            </a:pPr>
            <a:r>
              <a:rPr lang="en-US" sz="1800" b="1" dirty="0">
                <a:solidFill>
                  <a:srgbClr val="585A64"/>
                </a:solidFill>
                <a:latin typeface="Palatino Linotype" pitchFamily="34" charset="0"/>
                <a:ea typeface="Palatino Linotype" pitchFamily="34" charset="-122"/>
                <a:cs typeface="Palatino Linotype" pitchFamily="34" charset="-120"/>
              </a:rPr>
              <a:t>Medicul specialist</a:t>
            </a:r>
            <a:endParaRPr lang="en-US" sz="1800" dirty="0"/>
          </a:p>
        </p:txBody>
      </p:sp>
      <p:sp>
        <p:nvSpPr>
          <p:cNvPr id="7" name="Text 5"/>
          <p:cNvSpPr/>
          <p:nvPr/>
        </p:nvSpPr>
        <p:spPr>
          <a:xfrm>
            <a:off x="868680" y="2240280"/>
            <a:ext cx="4846320" cy="12801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stabilește diagnosticul clinic și prescrie recuperarea.</a:t>
            </a:r>
            <a:endParaRPr lang="en-US" sz="1600" dirty="0"/>
          </a:p>
        </p:txBody>
      </p:sp>
      <p:sp>
        <p:nvSpPr>
          <p:cNvPr id="8" name="Text 6"/>
          <p:cNvSpPr/>
          <p:nvPr/>
        </p:nvSpPr>
        <p:spPr>
          <a:xfrm>
            <a:off x="6492240" y="1783080"/>
            <a:ext cx="4846320" cy="36576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Fizioterapeutul</a:t>
            </a:r>
            <a:endParaRPr lang="en-US" sz="1800" dirty="0"/>
          </a:p>
        </p:txBody>
      </p:sp>
      <p:sp>
        <p:nvSpPr>
          <p:cNvPr id="9" name="Text 7"/>
          <p:cNvSpPr/>
          <p:nvPr/>
        </p:nvSpPr>
        <p:spPr>
          <a:xfrm>
            <a:off x="6492240" y="2240280"/>
            <a:ext cx="4846320" cy="13716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evaluează funcția, stabilește nevoia de intervenție și elaborează planul fizioterapeutic, sub prescripția medicului specialist (art. 13). Art. 17, domeniul clinic: </a:t>
            </a:r>
            <a:pPr indent="0" marL="0">
              <a:buNone/>
            </a:pPr>
            <a:r>
              <a:rPr lang="en-US" sz="1500" i="1" dirty="0">
                <a:solidFill>
                  <a:srgbClr val="11121A"/>
                </a:solidFill>
                <a:latin typeface="Palatino Linotype" pitchFamily="34" charset="0"/>
                <a:ea typeface="Palatino Linotype" pitchFamily="34" charset="-122"/>
                <a:cs typeface="Palatino Linotype" pitchFamily="34" charset="-120"/>
              </a:rPr>
              <a:t>„de a planifica, supraveghea și evalua un plan terapeutic”</a:t>
            </a:r>
            <a:endParaRPr lang="en-US" sz="1500" dirty="0"/>
          </a:p>
        </p:txBody>
      </p:sp>
      <p:sp>
        <p:nvSpPr>
          <p:cNvPr id="10" name="Text 8"/>
          <p:cNvSpPr/>
          <p:nvPr/>
        </p:nvSpPr>
        <p:spPr>
          <a:xfrm>
            <a:off x="594360" y="3886200"/>
            <a:ext cx="10972800" cy="914400"/>
          </a:xfrm>
          <a:prstGeom prst="rect">
            <a:avLst/>
          </a:prstGeom>
          <a:noFill/>
          <a:ln/>
        </p:spPr>
        <p:txBody>
          <a:bodyPr wrap="square" lIns="0" tIns="0" rIns="0" bIns="0" rtlCol="0" anchor="t"/>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Matricea de responsabilități: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pe rânduri, activitățile drumului pacientului; pe coloane, membrii echipei. În fiecare celulă: cine face, cine răspunde, cine e consultat, cine e doar informat.</a:t>
            </a:r>
            <a:endParaRPr lang="en-US" sz="1550" dirty="0"/>
          </a:p>
        </p:txBody>
      </p:sp>
      <p:sp>
        <p:nvSpPr>
          <p:cNvPr id="11" name="Shape 9"/>
          <p:cNvSpPr/>
          <p:nvPr/>
        </p:nvSpPr>
        <p:spPr>
          <a:xfrm>
            <a:off x="594360" y="4983480"/>
            <a:ext cx="91440" cy="1051560"/>
          </a:xfrm>
          <a:prstGeom prst="rect">
            <a:avLst/>
          </a:prstGeom>
          <a:solidFill>
            <a:srgbClr val="B02532"/>
          </a:solidFill>
          <a:ln w="12700">
            <a:solidFill>
              <a:srgbClr val="B02532"/>
            </a:solidFill>
            <a:prstDash val="solid"/>
          </a:ln>
        </p:spPr>
        <p:txBody>
          <a:bodyPr/>
          <a:p/>
        </p:txBody>
      </p:sp>
      <p:sp>
        <p:nvSpPr>
          <p:cNvPr id="12" name="Text 10"/>
          <p:cNvSpPr/>
          <p:nvPr/>
        </p:nvSpPr>
        <p:spPr>
          <a:xfrm>
            <a:off x="914400" y="4983480"/>
            <a:ext cx="10607040" cy="105156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Regula de lucru a cursului: pentru fiecare activitate răspunde o singură persoană. Dacă la reevaluare răspund trei, în practică nu răspunde niciunul.</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ESTIMARE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ÎNAINTE DE CALCUL</a:t>
            </a:r>
            <a:endParaRPr lang="en-US" sz="1300" dirty="0"/>
          </a:p>
        </p:txBody>
      </p:sp>
      <p:sp>
        <p:nvSpPr>
          <p:cNvPr id="5" name="Text 3"/>
          <p:cNvSpPr/>
          <p:nvPr/>
        </p:nvSpPr>
        <p:spPr>
          <a:xfrm>
            <a:off x="594360" y="1371600"/>
            <a:ext cx="10972800" cy="182880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Câți fizioterapeuți îi trebuie serviciului coordonatorului D.?</a:t>
            </a:r>
            <a:endParaRPr lang="en-US" sz="4000" dirty="0"/>
          </a:p>
        </p:txBody>
      </p:sp>
      <p:sp>
        <p:nvSpPr>
          <p:cNvPr id="6" name="Text 4"/>
          <p:cNvSpPr/>
          <p:nvPr/>
        </p:nvSpPr>
        <p:spPr>
          <a:xfrm>
            <a:off x="594360" y="3520440"/>
            <a:ext cx="10972800" cy="82296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Răspundeți cu un număr. Distribuția estimărilor rămâne ascunsă până după calcul.</a:t>
            </a:r>
            <a:endParaRPr lang="en-US" sz="2200" dirty="0"/>
          </a:p>
        </p:txBody>
      </p:sp>
      <p:sp>
        <p:nvSpPr>
          <p:cNvPr id="7" name="Shape 5"/>
          <p:cNvSpPr/>
          <p:nvPr/>
        </p:nvSpPr>
        <p:spPr>
          <a:xfrm>
            <a:off x="594360" y="4617720"/>
            <a:ext cx="5486400" cy="1188720"/>
          </a:xfrm>
          <a:prstGeom prst="roundRect">
            <a:avLst>
              <a:gd name="adj" fmla="val 6923"/>
            </a:avLst>
          </a:prstGeom>
          <a:solidFill>
            <a:srgbClr val="272A38"/>
          </a:solidFill>
          <a:ln w="12700">
            <a:solidFill>
              <a:srgbClr val="272A38"/>
            </a:solidFill>
            <a:prstDash val="solid"/>
          </a:ln>
        </p:spPr>
        <p:txBody>
          <a:bodyPr/>
          <a:p/>
        </p:txBody>
      </p:sp>
      <p:sp>
        <p:nvSpPr>
          <p:cNvPr id="8" name="Text 6"/>
          <p:cNvSpPr/>
          <p:nvPr/>
        </p:nvSpPr>
        <p:spPr>
          <a:xfrm>
            <a:off x="822960" y="4617720"/>
            <a:ext cx="5120640" cy="11887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Azi lucrează patru. Directorul a primit o cerere pentru încă doi.</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METODA OMS</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Necesarul de personal, din volumul de muncă</a:t>
            </a:r>
            <a:endParaRPr lang="en-US" sz="2800" dirty="0"/>
          </a:p>
        </p:txBody>
      </p:sp>
      <p:sp>
        <p:nvSpPr>
          <p:cNvPr id="4" name="Shape 2"/>
          <p:cNvSpPr/>
          <p:nvPr/>
        </p:nvSpPr>
        <p:spPr>
          <a:xfrm>
            <a:off x="594360" y="1554480"/>
            <a:ext cx="10972800" cy="1097280"/>
          </a:xfrm>
          <a:prstGeom prst="roundRect">
            <a:avLst>
              <a:gd name="adj" fmla="val 7500"/>
            </a:avLst>
          </a:prstGeom>
          <a:solidFill>
            <a:srgbClr val="E1F0EC"/>
          </a:solidFill>
          <a:ln w="12700">
            <a:solidFill>
              <a:srgbClr val="E1F0EC"/>
            </a:solidFill>
            <a:prstDash val="solid"/>
          </a:ln>
        </p:spPr>
        <p:txBody>
          <a:bodyPr/>
          <a:p/>
        </p:txBody>
      </p:sp>
      <p:sp>
        <p:nvSpPr>
          <p:cNvPr id="5" name="Shape 3"/>
          <p:cNvSpPr/>
          <p:nvPr/>
        </p:nvSpPr>
        <p:spPr>
          <a:xfrm>
            <a:off x="822960" y="1737360"/>
            <a:ext cx="1737360" cy="329184"/>
          </a:xfrm>
          <a:prstGeom prst="roundRect">
            <a:avLst>
              <a:gd name="adj" fmla="val 50000"/>
            </a:avLst>
          </a:prstGeom>
          <a:solidFill>
            <a:srgbClr val="0E7C6B"/>
          </a:solidFill>
          <a:ln w="12700">
            <a:solidFill>
              <a:srgbClr val="0E7C6B"/>
            </a:solidFill>
            <a:prstDash val="solid"/>
          </a:ln>
        </p:spPr>
        <p:txBody>
          <a:bodyPr/>
          <a:p/>
        </p:txBody>
      </p:sp>
      <p:sp>
        <p:nvSpPr>
          <p:cNvPr id="6" name="Text 4"/>
          <p:cNvSpPr/>
          <p:nvPr/>
        </p:nvSpPr>
        <p:spPr>
          <a:xfrm>
            <a:off x="822960" y="1737360"/>
            <a:ext cx="17373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alatino Linotype" pitchFamily="34" charset="0"/>
                <a:ea typeface="Palatino Linotype" pitchFamily="34" charset="-122"/>
                <a:cs typeface="Palatino Linotype" pitchFamily="34" charset="-120"/>
              </a:rPr>
              <a:t>TERMEN NOU</a:t>
            </a:r>
            <a:endParaRPr lang="en-US" sz="1100" dirty="0"/>
          </a:p>
        </p:txBody>
      </p:sp>
      <p:sp>
        <p:nvSpPr>
          <p:cNvPr id="7" name="Text 5"/>
          <p:cNvSpPr/>
          <p:nvPr/>
        </p:nvSpPr>
        <p:spPr>
          <a:xfrm>
            <a:off x="822960" y="2176272"/>
            <a:ext cx="10515600" cy="36576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Metoda WISN: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câți fizioterapeuți ar trebui să fie, dacă numărăm ce au de făcut și cât timp le ia.</a:t>
            </a:r>
            <a:endParaRPr lang="en-US" sz="1600" dirty="0"/>
          </a:p>
        </p:txBody>
      </p:sp>
      <p:sp>
        <p:nvSpPr>
          <p:cNvPr id="8" name="Text 6"/>
          <p:cNvSpPr/>
          <p:nvPr/>
        </p:nvSpPr>
        <p:spPr>
          <a:xfrm>
            <a:off x="594360" y="2834640"/>
            <a:ext cx="5303520" cy="320040"/>
          </a:xfrm>
          <a:prstGeom prst="rect">
            <a:avLst/>
          </a:prstGeom>
          <a:noFill/>
          <a:ln/>
        </p:spPr>
        <p:txBody>
          <a:bodyPr wrap="square" lIns="0" tIns="0" rIns="0" bIns="0" rtlCol="0" anchor="t"/>
          <a:lstStyle/>
          <a:p>
            <a:pPr indent="0" marL="0">
              <a:buNone/>
            </a:pPr>
            <a:r>
              <a:rPr lang="en-US" sz="1250" b="1" spc="100" kern="0" dirty="0">
                <a:solidFill>
                  <a:srgbClr val="0E7C6B"/>
                </a:solidFill>
                <a:latin typeface="Palatino Linotype" pitchFamily="34" charset="0"/>
                <a:ea typeface="Palatino Linotype" pitchFamily="34" charset="-122"/>
                <a:cs typeface="Palatino Linotype" pitchFamily="34" charset="-120"/>
              </a:rPr>
              <a:t>PAȘII MANUALULUI OMS</a:t>
            </a:r>
            <a:endParaRPr lang="en-US" sz="1250" dirty="0"/>
          </a:p>
        </p:txBody>
      </p:sp>
      <p:sp>
        <p:nvSpPr>
          <p:cNvPr id="9" name="Shape 7"/>
          <p:cNvSpPr/>
          <p:nvPr/>
        </p:nvSpPr>
        <p:spPr>
          <a:xfrm>
            <a:off x="594360" y="3319272"/>
            <a:ext cx="384048" cy="384048"/>
          </a:xfrm>
          <a:prstGeom prst="ellipse">
            <a:avLst/>
          </a:prstGeom>
          <a:solidFill>
            <a:srgbClr val="0E7C6B"/>
          </a:solidFill>
          <a:ln/>
        </p:spPr>
        <p:txBody>
          <a:bodyPr/>
          <a:p/>
        </p:txBody>
      </p:sp>
      <p:sp>
        <p:nvSpPr>
          <p:cNvPr id="10" name="Text 8"/>
          <p:cNvSpPr/>
          <p:nvPr/>
        </p:nvSpPr>
        <p:spPr>
          <a:xfrm>
            <a:off x="594360" y="33192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1" name="Text 9"/>
          <p:cNvSpPr/>
          <p:nvPr/>
        </p:nvSpPr>
        <p:spPr>
          <a:xfrm>
            <a:off x="1097280" y="3246120"/>
            <a:ext cx="21488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categoria de personal și unitatea</a:t>
            </a:r>
            <a:endParaRPr lang="en-US" sz="1350" dirty="0"/>
          </a:p>
        </p:txBody>
      </p:sp>
      <p:sp>
        <p:nvSpPr>
          <p:cNvPr id="12" name="Shape 10"/>
          <p:cNvSpPr/>
          <p:nvPr/>
        </p:nvSpPr>
        <p:spPr>
          <a:xfrm>
            <a:off x="594360" y="4005072"/>
            <a:ext cx="384048" cy="384048"/>
          </a:xfrm>
          <a:prstGeom prst="ellipse">
            <a:avLst/>
          </a:prstGeom>
          <a:solidFill>
            <a:srgbClr val="0E7C6B"/>
          </a:solidFill>
          <a:ln/>
        </p:spPr>
        <p:txBody>
          <a:bodyPr/>
          <a:p/>
        </p:txBody>
      </p:sp>
      <p:sp>
        <p:nvSpPr>
          <p:cNvPr id="13" name="Text 11"/>
          <p:cNvSpPr/>
          <p:nvPr/>
        </p:nvSpPr>
        <p:spPr>
          <a:xfrm>
            <a:off x="594360" y="4005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097280" y="3931920"/>
            <a:ext cx="21488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timpul de lucru disponibil</a:t>
            </a:r>
            <a:endParaRPr lang="en-US" sz="1350" dirty="0"/>
          </a:p>
        </p:txBody>
      </p:sp>
      <p:sp>
        <p:nvSpPr>
          <p:cNvPr id="15" name="Shape 13"/>
          <p:cNvSpPr/>
          <p:nvPr/>
        </p:nvSpPr>
        <p:spPr>
          <a:xfrm>
            <a:off x="594360" y="4690872"/>
            <a:ext cx="384048" cy="384048"/>
          </a:xfrm>
          <a:prstGeom prst="ellipse">
            <a:avLst/>
          </a:prstGeom>
          <a:solidFill>
            <a:srgbClr val="0E7C6B"/>
          </a:solidFill>
          <a:ln/>
        </p:spPr>
        <p:txBody>
          <a:bodyPr/>
          <a:p/>
        </p:txBody>
      </p:sp>
      <p:sp>
        <p:nvSpPr>
          <p:cNvPr id="16" name="Text 14"/>
          <p:cNvSpPr/>
          <p:nvPr/>
        </p:nvSpPr>
        <p:spPr>
          <a:xfrm>
            <a:off x="594360" y="46908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097280" y="4617720"/>
            <a:ext cx="21488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componentele volumului de muncă</a:t>
            </a:r>
            <a:endParaRPr lang="en-US" sz="1350" dirty="0"/>
          </a:p>
        </p:txBody>
      </p:sp>
      <p:sp>
        <p:nvSpPr>
          <p:cNvPr id="18" name="Shape 16"/>
          <p:cNvSpPr/>
          <p:nvPr/>
        </p:nvSpPr>
        <p:spPr>
          <a:xfrm>
            <a:off x="594360" y="5376672"/>
            <a:ext cx="384048" cy="384048"/>
          </a:xfrm>
          <a:prstGeom prst="ellipse">
            <a:avLst/>
          </a:prstGeom>
          <a:solidFill>
            <a:srgbClr val="0E7C6B"/>
          </a:solidFill>
          <a:ln/>
        </p:spPr>
        <p:txBody>
          <a:bodyPr/>
          <a:p/>
        </p:txBody>
      </p:sp>
      <p:sp>
        <p:nvSpPr>
          <p:cNvPr id="19" name="Text 17"/>
          <p:cNvSpPr/>
          <p:nvPr/>
        </p:nvSpPr>
        <p:spPr>
          <a:xfrm>
            <a:off x="594360" y="5376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0" name="Text 18"/>
          <p:cNvSpPr/>
          <p:nvPr/>
        </p:nvSpPr>
        <p:spPr>
          <a:xfrm>
            <a:off x="1097280" y="5303520"/>
            <a:ext cx="21488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standardele de activitate</a:t>
            </a:r>
            <a:endParaRPr lang="en-US" sz="1350" dirty="0"/>
          </a:p>
        </p:txBody>
      </p:sp>
      <p:sp>
        <p:nvSpPr>
          <p:cNvPr id="21" name="Shape 19"/>
          <p:cNvSpPr/>
          <p:nvPr/>
        </p:nvSpPr>
        <p:spPr>
          <a:xfrm>
            <a:off x="3291840" y="3319272"/>
            <a:ext cx="384048" cy="384048"/>
          </a:xfrm>
          <a:prstGeom prst="ellipse">
            <a:avLst/>
          </a:prstGeom>
          <a:solidFill>
            <a:srgbClr val="0E7C6B"/>
          </a:solidFill>
          <a:ln/>
        </p:spPr>
        <p:txBody>
          <a:bodyPr/>
          <a:p/>
        </p:txBody>
      </p:sp>
      <p:sp>
        <p:nvSpPr>
          <p:cNvPr id="22" name="Text 20"/>
          <p:cNvSpPr/>
          <p:nvPr/>
        </p:nvSpPr>
        <p:spPr>
          <a:xfrm>
            <a:off x="3291840" y="33192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3794760" y="3246120"/>
            <a:ext cx="21488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volumul standard de muncă</a:t>
            </a:r>
            <a:endParaRPr lang="en-US" sz="1350" dirty="0"/>
          </a:p>
        </p:txBody>
      </p:sp>
      <p:sp>
        <p:nvSpPr>
          <p:cNvPr id="24" name="Shape 22"/>
          <p:cNvSpPr/>
          <p:nvPr/>
        </p:nvSpPr>
        <p:spPr>
          <a:xfrm>
            <a:off x="3291840" y="4005072"/>
            <a:ext cx="384048" cy="384048"/>
          </a:xfrm>
          <a:prstGeom prst="ellipse">
            <a:avLst/>
          </a:prstGeom>
          <a:solidFill>
            <a:srgbClr val="0E7C6B"/>
          </a:solidFill>
          <a:ln/>
        </p:spPr>
        <p:txBody>
          <a:bodyPr/>
          <a:p/>
        </p:txBody>
      </p:sp>
      <p:sp>
        <p:nvSpPr>
          <p:cNvPr id="25" name="Text 23"/>
          <p:cNvSpPr/>
          <p:nvPr/>
        </p:nvSpPr>
        <p:spPr>
          <a:xfrm>
            <a:off x="3291840" y="4005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6</a:t>
            </a:r>
            <a:endParaRPr lang="en-US" sz="1400" dirty="0"/>
          </a:p>
        </p:txBody>
      </p:sp>
      <p:sp>
        <p:nvSpPr>
          <p:cNvPr id="26" name="Text 24"/>
          <p:cNvSpPr/>
          <p:nvPr/>
        </p:nvSpPr>
        <p:spPr>
          <a:xfrm>
            <a:off x="3794760" y="3931920"/>
            <a:ext cx="21488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factorii de ajustare</a:t>
            </a:r>
            <a:endParaRPr lang="en-US" sz="1350" dirty="0"/>
          </a:p>
        </p:txBody>
      </p:sp>
      <p:sp>
        <p:nvSpPr>
          <p:cNvPr id="27" name="Shape 25"/>
          <p:cNvSpPr/>
          <p:nvPr/>
        </p:nvSpPr>
        <p:spPr>
          <a:xfrm>
            <a:off x="3291840" y="4690872"/>
            <a:ext cx="384048" cy="384048"/>
          </a:xfrm>
          <a:prstGeom prst="ellipse">
            <a:avLst/>
          </a:prstGeom>
          <a:solidFill>
            <a:srgbClr val="0E7C6B"/>
          </a:solidFill>
          <a:ln/>
        </p:spPr>
        <p:txBody>
          <a:bodyPr/>
          <a:p/>
        </p:txBody>
      </p:sp>
      <p:sp>
        <p:nvSpPr>
          <p:cNvPr id="28" name="Text 26"/>
          <p:cNvSpPr/>
          <p:nvPr/>
        </p:nvSpPr>
        <p:spPr>
          <a:xfrm>
            <a:off x="3291840" y="46908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7</a:t>
            </a:r>
            <a:endParaRPr lang="en-US" sz="1400" dirty="0"/>
          </a:p>
        </p:txBody>
      </p:sp>
      <p:sp>
        <p:nvSpPr>
          <p:cNvPr id="29" name="Text 27"/>
          <p:cNvSpPr/>
          <p:nvPr/>
        </p:nvSpPr>
        <p:spPr>
          <a:xfrm>
            <a:off x="3794760" y="4617720"/>
            <a:ext cx="21488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necesarul de personal</a:t>
            </a:r>
            <a:endParaRPr lang="en-US" sz="1350" dirty="0"/>
          </a:p>
        </p:txBody>
      </p:sp>
      <p:sp>
        <p:nvSpPr>
          <p:cNvPr id="30" name="Shape 28"/>
          <p:cNvSpPr/>
          <p:nvPr/>
        </p:nvSpPr>
        <p:spPr>
          <a:xfrm>
            <a:off x="3291840" y="5376672"/>
            <a:ext cx="384048" cy="384048"/>
          </a:xfrm>
          <a:prstGeom prst="ellipse">
            <a:avLst/>
          </a:prstGeom>
          <a:solidFill>
            <a:srgbClr val="0E7C6B"/>
          </a:solidFill>
          <a:ln/>
        </p:spPr>
        <p:txBody>
          <a:bodyPr/>
          <a:p/>
        </p:txBody>
      </p:sp>
      <p:sp>
        <p:nvSpPr>
          <p:cNvPr id="31" name="Text 29"/>
          <p:cNvSpPr/>
          <p:nvPr/>
        </p:nvSpPr>
        <p:spPr>
          <a:xfrm>
            <a:off x="3291840" y="5376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8</a:t>
            </a:r>
            <a:endParaRPr lang="en-US" sz="1400" dirty="0"/>
          </a:p>
        </p:txBody>
      </p:sp>
      <p:sp>
        <p:nvSpPr>
          <p:cNvPr id="32" name="Text 30"/>
          <p:cNvSpPr/>
          <p:nvPr/>
        </p:nvSpPr>
        <p:spPr>
          <a:xfrm>
            <a:off x="3794760" y="5303520"/>
            <a:ext cx="21488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analiza și interpretarea</a:t>
            </a:r>
            <a:endParaRPr lang="en-US" sz="1350" dirty="0"/>
          </a:p>
        </p:txBody>
      </p:sp>
      <p:sp>
        <p:nvSpPr>
          <p:cNvPr id="33" name="Shape 31"/>
          <p:cNvSpPr/>
          <p:nvPr/>
        </p:nvSpPr>
        <p:spPr>
          <a:xfrm>
            <a:off x="6263640" y="2834640"/>
            <a:ext cx="5303520" cy="3200400"/>
          </a:xfrm>
          <a:prstGeom prst="roundRect">
            <a:avLst>
              <a:gd name="adj" fmla="val 2571"/>
            </a:avLst>
          </a:prstGeom>
          <a:solidFill>
            <a:srgbClr val="F6EDD5"/>
          </a:solidFill>
          <a:ln w="12700">
            <a:solidFill>
              <a:srgbClr val="F6EDD5"/>
            </a:solidFill>
            <a:prstDash val="solid"/>
          </a:ln>
        </p:spPr>
        <p:txBody>
          <a:bodyPr/>
          <a:p/>
        </p:txBody>
      </p:sp>
      <p:sp>
        <p:nvSpPr>
          <p:cNvPr id="34" name="Text 32"/>
          <p:cNvSpPr/>
          <p:nvPr/>
        </p:nvSpPr>
        <p:spPr>
          <a:xfrm>
            <a:off x="6492240" y="2971800"/>
            <a:ext cx="4846320" cy="320040"/>
          </a:xfrm>
          <a:prstGeom prst="rect">
            <a:avLst/>
          </a:prstGeom>
          <a:noFill/>
          <a:ln/>
        </p:spPr>
        <p:txBody>
          <a:bodyPr wrap="square" lIns="0" tIns="0" rIns="0" bIns="0" rtlCol="0" anchor="t"/>
          <a:lstStyle/>
          <a:p>
            <a:pPr indent="0" marL="0">
              <a:buNone/>
            </a:pPr>
            <a:r>
              <a:rPr lang="en-US" sz="1250" b="1" spc="100" kern="0" dirty="0">
                <a:solidFill>
                  <a:srgbClr val="8A6100"/>
                </a:solidFill>
                <a:latin typeface="Palatino Linotype" pitchFamily="34" charset="0"/>
                <a:ea typeface="Palatino Linotype" pitchFamily="34" charset="-122"/>
                <a:cs typeface="Palatino Linotype" pitchFamily="34" charset="-120"/>
              </a:rPr>
              <a:t>FACTORUL PENTRU CATEGORIE</a:t>
            </a:r>
            <a:endParaRPr lang="en-US" sz="1250" dirty="0"/>
          </a:p>
        </p:txBody>
      </p:sp>
      <p:sp>
        <p:nvSpPr>
          <p:cNvPr id="35" name="Text 33"/>
          <p:cNvSpPr/>
          <p:nvPr/>
        </p:nvSpPr>
        <p:spPr>
          <a:xfrm>
            <a:off x="6492240" y="3383280"/>
            <a:ext cx="4846320" cy="64008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1 / (1 − procentul activităților de sprijin / 100)</a:t>
            </a:r>
            <a:endParaRPr lang="en-US" sz="1800" dirty="0"/>
          </a:p>
        </p:txBody>
      </p:sp>
      <p:sp>
        <p:nvSpPr>
          <p:cNvPr id="36" name="Text 34"/>
          <p:cNvSpPr/>
          <p:nvPr/>
        </p:nvSpPr>
        <p:spPr>
          <a:xfrm>
            <a:off x="6492240" y="4114800"/>
            <a:ext cx="4846320" cy="182880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Activitățile de sprijin le fac toți: documentarea, ședințele de echipă. Exemplul lucrat are etapele A–F, notate cu litere, ca să nu se confunde cu pașii manualului.</a:t>
            </a:r>
            <a:endParaRPr lang="en-US" sz="14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CALCUL</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REFACEȚI ETAPA C A CALCULULUI</a:t>
            </a:r>
            <a:endParaRPr lang="en-US" sz="1300" dirty="0"/>
          </a:p>
        </p:txBody>
      </p:sp>
      <p:sp>
        <p:nvSpPr>
          <p:cNvPr id="5" name="Text 3"/>
          <p:cNvSpPr/>
          <p:nvPr/>
        </p:nvSpPr>
        <p:spPr>
          <a:xfrm>
            <a:off x="594360" y="713232"/>
            <a:ext cx="10972800" cy="91440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Câți fizioterapeuți pentru ședințele de tratament?</a:t>
            </a:r>
            <a:endParaRPr lang="en-US" sz="2800" dirty="0"/>
          </a:p>
        </p:txBody>
      </p:sp>
      <p:sp>
        <p:nvSpPr>
          <p:cNvPr id="6" name="Shape 4"/>
          <p:cNvSpPr/>
          <p:nvPr/>
        </p:nvSpPr>
        <p:spPr>
          <a:xfrm>
            <a:off x="594360" y="1783080"/>
            <a:ext cx="10972800" cy="960120"/>
          </a:xfrm>
          <a:prstGeom prst="roundRect">
            <a:avLst>
              <a:gd name="adj" fmla="val 8571"/>
            </a:avLst>
          </a:prstGeom>
          <a:solidFill>
            <a:srgbClr val="1D1F2B"/>
          </a:solidFill>
          <a:ln w="12700">
            <a:solidFill>
              <a:srgbClr val="1D1F2B"/>
            </a:solidFill>
            <a:prstDash val="solid"/>
          </a:ln>
        </p:spPr>
        <p:txBody>
          <a:bodyPr/>
          <a:p/>
        </p:txBody>
      </p:sp>
      <p:sp>
        <p:nvSpPr>
          <p:cNvPr id="7" name="Text 5"/>
          <p:cNvSpPr/>
          <p:nvPr/>
        </p:nvSpPr>
        <p:spPr>
          <a:xfrm>
            <a:off x="868680" y="1783080"/>
            <a:ext cx="4023360" cy="960120"/>
          </a:xfrm>
          <a:prstGeom prst="rect">
            <a:avLst/>
          </a:prstGeom>
          <a:noFill/>
          <a:ln/>
        </p:spPr>
        <p:txBody>
          <a:bodyPr wrap="square" lIns="0" tIns="0" rIns="0" bIns="0" rtlCol="0" anchor="ctr"/>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86 100</a:t>
            </a:r>
            <a:endParaRPr lang="en-US" sz="2200" dirty="0"/>
          </a:p>
        </p:txBody>
      </p:sp>
      <p:sp>
        <p:nvSpPr>
          <p:cNvPr id="8" name="Text 6"/>
          <p:cNvSpPr/>
          <p:nvPr/>
        </p:nvSpPr>
        <p:spPr>
          <a:xfrm>
            <a:off x="4937760" y="1783080"/>
            <a:ext cx="6400800" cy="9601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minute pe an: timpul de lucru disponibil al unui fizioterapeut (205 zile × 7 ore)</a:t>
            </a:r>
            <a:endParaRPr lang="en-US" sz="1700" dirty="0"/>
          </a:p>
        </p:txBody>
      </p:sp>
      <p:sp>
        <p:nvSpPr>
          <p:cNvPr id="9" name="Shape 7"/>
          <p:cNvSpPr/>
          <p:nvPr/>
        </p:nvSpPr>
        <p:spPr>
          <a:xfrm>
            <a:off x="594360" y="2880360"/>
            <a:ext cx="10972800" cy="960120"/>
          </a:xfrm>
          <a:prstGeom prst="roundRect">
            <a:avLst>
              <a:gd name="adj" fmla="val 8571"/>
            </a:avLst>
          </a:prstGeom>
          <a:solidFill>
            <a:srgbClr val="1D1F2B"/>
          </a:solidFill>
          <a:ln w="12700">
            <a:solidFill>
              <a:srgbClr val="1D1F2B"/>
            </a:solidFill>
            <a:prstDash val="solid"/>
          </a:ln>
        </p:spPr>
        <p:txBody>
          <a:bodyPr/>
          <a:p/>
        </p:txBody>
      </p:sp>
      <p:sp>
        <p:nvSpPr>
          <p:cNvPr id="10" name="Text 8"/>
          <p:cNvSpPr/>
          <p:nvPr/>
        </p:nvSpPr>
        <p:spPr>
          <a:xfrm>
            <a:off x="868680" y="2880360"/>
            <a:ext cx="4023360" cy="960120"/>
          </a:xfrm>
          <a:prstGeom prst="rect">
            <a:avLst/>
          </a:prstGeom>
          <a:noFill/>
          <a:ln/>
        </p:spPr>
        <p:txBody>
          <a:bodyPr wrap="square" lIns="0" tIns="0" rIns="0" bIns="0" rtlCol="0" anchor="ctr"/>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30 de minute</a:t>
            </a:r>
            <a:endParaRPr lang="en-US" sz="2200" dirty="0"/>
          </a:p>
        </p:txBody>
      </p:sp>
      <p:sp>
        <p:nvSpPr>
          <p:cNvPr id="11" name="Text 9"/>
          <p:cNvSpPr/>
          <p:nvPr/>
        </p:nvSpPr>
        <p:spPr>
          <a:xfrm>
            <a:off x="4937760" y="2880360"/>
            <a:ext cx="6400800" cy="9601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o ședință de tratament individual (standard ipotetic)</a:t>
            </a:r>
            <a:endParaRPr lang="en-US" sz="1700" dirty="0"/>
          </a:p>
        </p:txBody>
      </p:sp>
      <p:sp>
        <p:nvSpPr>
          <p:cNvPr id="12" name="Shape 10"/>
          <p:cNvSpPr/>
          <p:nvPr/>
        </p:nvSpPr>
        <p:spPr>
          <a:xfrm>
            <a:off x="594360" y="3977640"/>
            <a:ext cx="10972800" cy="960120"/>
          </a:xfrm>
          <a:prstGeom prst="roundRect">
            <a:avLst>
              <a:gd name="adj" fmla="val 8571"/>
            </a:avLst>
          </a:prstGeom>
          <a:solidFill>
            <a:srgbClr val="1D1F2B"/>
          </a:solidFill>
          <a:ln w="12700">
            <a:solidFill>
              <a:srgbClr val="1D1F2B"/>
            </a:solidFill>
            <a:prstDash val="solid"/>
          </a:ln>
        </p:spPr>
        <p:txBody>
          <a:bodyPr/>
          <a:p/>
        </p:txBody>
      </p:sp>
      <p:sp>
        <p:nvSpPr>
          <p:cNvPr id="13" name="Text 11"/>
          <p:cNvSpPr/>
          <p:nvPr/>
        </p:nvSpPr>
        <p:spPr>
          <a:xfrm>
            <a:off x="868680" y="3977640"/>
            <a:ext cx="4023360" cy="960120"/>
          </a:xfrm>
          <a:prstGeom prst="rect">
            <a:avLst/>
          </a:prstGeom>
          <a:noFill/>
          <a:ln/>
        </p:spPr>
        <p:txBody>
          <a:bodyPr wrap="square" lIns="0" tIns="0" rIns="0" bIns="0" rtlCol="0" anchor="ctr"/>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12 000 de ședințe</a:t>
            </a:r>
            <a:endParaRPr lang="en-US" sz="2200" dirty="0"/>
          </a:p>
        </p:txBody>
      </p:sp>
      <p:sp>
        <p:nvSpPr>
          <p:cNvPr id="14" name="Text 12"/>
          <p:cNvSpPr/>
          <p:nvPr/>
        </p:nvSpPr>
        <p:spPr>
          <a:xfrm>
            <a:off x="4937760" y="3977640"/>
            <a:ext cx="6400800" cy="9601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ținute în anul anterior, după registrul serviciului</a:t>
            </a:r>
            <a:endParaRPr lang="en-US" sz="1700" dirty="0"/>
          </a:p>
        </p:txBody>
      </p:sp>
      <p:sp>
        <p:nvSpPr>
          <p:cNvPr id="15" name="Text 13"/>
          <p:cNvSpPr/>
          <p:nvPr/>
        </p:nvSpPr>
        <p:spPr>
          <a:xfrm>
            <a:off x="594360" y="5212080"/>
            <a:ext cx="10972800" cy="73152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Volumul standard de muncă = timpul disponibil ÷ durata ședinței. Necesarul = volumul anual ÷ volumul standard.</a:t>
            </a:r>
            <a:endParaRPr lang="en-US" sz="1700" dirty="0"/>
          </a:p>
        </p:txBody>
      </p:sp>
      <p:sp>
        <p:nvSpPr>
          <p:cNvPr id="16" name="Text 14"/>
          <p:cNvSpPr/>
          <p:nvPr/>
        </p:nvSpPr>
        <p:spPr>
          <a:xfrm>
            <a:off x="8503920" y="6355080"/>
            <a:ext cx="3108960" cy="274320"/>
          </a:xfrm>
          <a:prstGeom prst="rect">
            <a:avLst/>
          </a:prstGeom>
          <a:noFill/>
          <a:ln/>
        </p:spPr>
        <p:txBody>
          <a:bodyPr wrap="square" lIns="0" tIns="0" rIns="0" bIns="0" rtlCol="0" anchor="t"/>
          <a:lstStyle/>
          <a:p>
            <a:pPr algn="r" indent="0" marL="0">
              <a:buNone/>
            </a:pPr>
            <a:r>
              <a:rPr lang="en-US" sz="1000" i="1" dirty="0">
                <a:solidFill>
                  <a:srgbClr val="8E94A8"/>
                </a:solidFill>
                <a:latin typeface="Palatino Linotype" pitchFamily="34" charset="0"/>
                <a:ea typeface="Palatino Linotype" pitchFamily="34" charset="-122"/>
                <a:cs typeface="Palatino Linotype" pitchFamily="34" charset="-120"/>
              </a:rPr>
              <a:t>Valori ipotetice.</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REZULTATUL · VALORI IPOTETICE</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Aproximativ 6 fizioterapeuți; serviciul are 4</a:t>
            </a:r>
            <a:endParaRPr lang="en-US" sz="2800" dirty="0"/>
          </a:p>
        </p:txBody>
      </p:sp>
      <p:sp>
        <p:nvSpPr>
          <p:cNvPr id="4" name="Shape 2"/>
          <p:cNvSpPr/>
          <p:nvPr/>
        </p:nvSpPr>
        <p:spPr>
          <a:xfrm>
            <a:off x="594360" y="1600200"/>
            <a:ext cx="402336" cy="402336"/>
          </a:xfrm>
          <a:prstGeom prst="ellipse">
            <a:avLst/>
          </a:prstGeom>
          <a:solidFill>
            <a:srgbClr val="0E7C6B"/>
          </a:solidFill>
          <a:ln/>
        </p:spPr>
        <p:txBody>
          <a:bodyPr/>
          <a:p/>
        </p:txBody>
      </p:sp>
      <p:sp>
        <p:nvSpPr>
          <p:cNvPr id="5" name="Text 3"/>
          <p:cNvSpPr/>
          <p:nvPr/>
        </p:nvSpPr>
        <p:spPr>
          <a:xfrm>
            <a:off x="594360" y="16002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a:t>
            </a:r>
            <a:endParaRPr lang="en-US" sz="1400" dirty="0"/>
          </a:p>
        </p:txBody>
      </p:sp>
      <p:sp>
        <p:nvSpPr>
          <p:cNvPr id="6" name="Text 4"/>
          <p:cNvSpPr/>
          <p:nvPr/>
        </p:nvSpPr>
        <p:spPr>
          <a:xfrm>
            <a:off x="1143000" y="1508760"/>
            <a:ext cx="2651760" cy="56692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Timpul disponibil</a:t>
            </a:r>
            <a:endParaRPr lang="en-US" sz="1450" dirty="0"/>
          </a:p>
        </p:txBody>
      </p:sp>
      <p:sp>
        <p:nvSpPr>
          <p:cNvPr id="7" name="Text 5"/>
          <p:cNvSpPr/>
          <p:nvPr/>
        </p:nvSpPr>
        <p:spPr>
          <a:xfrm>
            <a:off x="3794760" y="1508760"/>
            <a:ext cx="7772400" cy="56692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260 − 55 = 205 zile; 205 × 7 = 1 435 ore; în minute, 86 100</a:t>
            </a:r>
            <a:endParaRPr lang="en-US" sz="1450" dirty="0"/>
          </a:p>
        </p:txBody>
      </p:sp>
      <p:sp>
        <p:nvSpPr>
          <p:cNvPr id="8" name="Shape 6"/>
          <p:cNvSpPr/>
          <p:nvPr/>
        </p:nvSpPr>
        <p:spPr>
          <a:xfrm>
            <a:off x="594360" y="2258568"/>
            <a:ext cx="402336" cy="402336"/>
          </a:xfrm>
          <a:prstGeom prst="ellipse">
            <a:avLst/>
          </a:prstGeom>
          <a:solidFill>
            <a:srgbClr val="0E7C6B"/>
          </a:solidFill>
          <a:ln/>
        </p:spPr>
        <p:txBody>
          <a:bodyPr/>
          <a:p/>
        </p:txBody>
      </p:sp>
      <p:sp>
        <p:nvSpPr>
          <p:cNvPr id="9" name="Text 7"/>
          <p:cNvSpPr/>
          <p:nvPr/>
        </p:nvSpPr>
        <p:spPr>
          <a:xfrm>
            <a:off x="594360" y="22585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B</a:t>
            </a:r>
            <a:endParaRPr lang="en-US" sz="1400" dirty="0"/>
          </a:p>
        </p:txBody>
      </p:sp>
      <p:sp>
        <p:nvSpPr>
          <p:cNvPr id="10" name="Text 8"/>
          <p:cNvSpPr/>
          <p:nvPr/>
        </p:nvSpPr>
        <p:spPr>
          <a:xfrm>
            <a:off x="1143000" y="2167128"/>
            <a:ext cx="2651760" cy="56692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Volumul standard</a:t>
            </a:r>
            <a:endParaRPr lang="en-US" sz="1450" dirty="0"/>
          </a:p>
        </p:txBody>
      </p:sp>
      <p:sp>
        <p:nvSpPr>
          <p:cNvPr id="11" name="Text 9"/>
          <p:cNvSpPr/>
          <p:nvPr/>
        </p:nvSpPr>
        <p:spPr>
          <a:xfrm>
            <a:off x="3794760" y="2167128"/>
            <a:ext cx="7772400" cy="56692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evaluare, 45 min: 1 913,3 pe an; ședință și reevaluare, 30 min: 2 870 pe an</a:t>
            </a:r>
            <a:endParaRPr lang="en-US" sz="1450" dirty="0"/>
          </a:p>
        </p:txBody>
      </p:sp>
      <p:sp>
        <p:nvSpPr>
          <p:cNvPr id="12" name="Shape 10"/>
          <p:cNvSpPr/>
          <p:nvPr/>
        </p:nvSpPr>
        <p:spPr>
          <a:xfrm>
            <a:off x="594360" y="2916936"/>
            <a:ext cx="402336" cy="402336"/>
          </a:xfrm>
          <a:prstGeom prst="ellipse">
            <a:avLst/>
          </a:prstGeom>
          <a:solidFill>
            <a:srgbClr val="0E7C6B"/>
          </a:solidFill>
          <a:ln/>
        </p:spPr>
        <p:txBody>
          <a:bodyPr/>
          <a:p/>
        </p:txBody>
      </p:sp>
      <p:sp>
        <p:nvSpPr>
          <p:cNvPr id="13" name="Text 11"/>
          <p:cNvSpPr/>
          <p:nvPr/>
        </p:nvSpPr>
        <p:spPr>
          <a:xfrm>
            <a:off x="59436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C</a:t>
            </a:r>
            <a:endParaRPr lang="en-US" sz="1400" dirty="0"/>
          </a:p>
        </p:txBody>
      </p:sp>
      <p:sp>
        <p:nvSpPr>
          <p:cNvPr id="14" name="Text 12"/>
          <p:cNvSpPr/>
          <p:nvPr/>
        </p:nvSpPr>
        <p:spPr>
          <a:xfrm>
            <a:off x="1143000" y="2825496"/>
            <a:ext cx="2651760" cy="56692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Activitățile cu pacientul</a:t>
            </a:r>
            <a:endParaRPr lang="en-US" sz="1450" dirty="0"/>
          </a:p>
        </p:txBody>
      </p:sp>
      <p:sp>
        <p:nvSpPr>
          <p:cNvPr id="15" name="Text 13"/>
          <p:cNvSpPr/>
          <p:nvPr/>
        </p:nvSpPr>
        <p:spPr>
          <a:xfrm>
            <a:off x="3794760" y="2825496"/>
            <a:ext cx="7772400" cy="56692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1 200 / 1 913,3 = 0,627; 12 000 / 2 870 = 4,181; 1 000 / 2 870 = 0,348; total 5,157</a:t>
            </a:r>
            <a:endParaRPr lang="en-US" sz="1450" dirty="0"/>
          </a:p>
        </p:txBody>
      </p:sp>
      <p:sp>
        <p:nvSpPr>
          <p:cNvPr id="16" name="Shape 14"/>
          <p:cNvSpPr/>
          <p:nvPr/>
        </p:nvSpPr>
        <p:spPr>
          <a:xfrm>
            <a:off x="594360" y="3575304"/>
            <a:ext cx="402336" cy="402336"/>
          </a:xfrm>
          <a:prstGeom prst="ellipse">
            <a:avLst/>
          </a:prstGeom>
          <a:solidFill>
            <a:srgbClr val="0E7C6B"/>
          </a:solidFill>
          <a:ln/>
        </p:spPr>
        <p:txBody>
          <a:bodyPr/>
          <a:p/>
        </p:txBody>
      </p:sp>
      <p:sp>
        <p:nvSpPr>
          <p:cNvPr id="17" name="Text 15"/>
          <p:cNvSpPr/>
          <p:nvPr/>
        </p:nvSpPr>
        <p:spPr>
          <a:xfrm>
            <a:off x="594360" y="35753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D</a:t>
            </a:r>
            <a:endParaRPr lang="en-US" sz="1400" dirty="0"/>
          </a:p>
        </p:txBody>
      </p:sp>
      <p:sp>
        <p:nvSpPr>
          <p:cNvPr id="18" name="Text 16"/>
          <p:cNvSpPr/>
          <p:nvPr/>
        </p:nvSpPr>
        <p:spPr>
          <a:xfrm>
            <a:off x="1143000" y="3483864"/>
            <a:ext cx="2651760" cy="56692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Sprijin, 10%</a:t>
            </a:r>
            <a:endParaRPr lang="en-US" sz="1450" dirty="0"/>
          </a:p>
        </p:txBody>
      </p:sp>
      <p:sp>
        <p:nvSpPr>
          <p:cNvPr id="19" name="Text 17"/>
          <p:cNvSpPr/>
          <p:nvPr/>
        </p:nvSpPr>
        <p:spPr>
          <a:xfrm>
            <a:off x="3794760" y="3483864"/>
            <a:ext cx="7772400" cy="56692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factor 1 / 0,90 = 1,111; 5,157 × 1,111 = 5,730</a:t>
            </a:r>
            <a:endParaRPr lang="en-US" sz="1450" dirty="0"/>
          </a:p>
        </p:txBody>
      </p:sp>
      <p:sp>
        <p:nvSpPr>
          <p:cNvPr id="20" name="Shape 18"/>
          <p:cNvSpPr/>
          <p:nvPr/>
        </p:nvSpPr>
        <p:spPr>
          <a:xfrm>
            <a:off x="594360" y="4233672"/>
            <a:ext cx="402336" cy="402336"/>
          </a:xfrm>
          <a:prstGeom prst="ellipse">
            <a:avLst/>
          </a:prstGeom>
          <a:solidFill>
            <a:srgbClr val="0E7C6B"/>
          </a:solidFill>
          <a:ln/>
        </p:spPr>
        <p:txBody>
          <a:bodyPr/>
          <a:p/>
        </p:txBody>
      </p:sp>
      <p:sp>
        <p:nvSpPr>
          <p:cNvPr id="21" name="Text 19"/>
          <p:cNvSpPr/>
          <p:nvPr/>
        </p:nvSpPr>
        <p:spPr>
          <a:xfrm>
            <a:off x="594360" y="42336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E</a:t>
            </a:r>
            <a:endParaRPr lang="en-US" sz="1400" dirty="0"/>
          </a:p>
        </p:txBody>
      </p:sp>
      <p:sp>
        <p:nvSpPr>
          <p:cNvPr id="22" name="Text 20"/>
          <p:cNvSpPr/>
          <p:nvPr/>
        </p:nvSpPr>
        <p:spPr>
          <a:xfrm>
            <a:off x="1143000" y="4142232"/>
            <a:ext cx="2651760" cy="56692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Coordonarea</a:t>
            </a:r>
            <a:endParaRPr lang="en-US" sz="1450" dirty="0"/>
          </a:p>
        </p:txBody>
      </p:sp>
      <p:sp>
        <p:nvSpPr>
          <p:cNvPr id="23" name="Text 21"/>
          <p:cNvSpPr/>
          <p:nvPr/>
        </p:nvSpPr>
        <p:spPr>
          <a:xfrm>
            <a:off x="3794760" y="4142232"/>
            <a:ext cx="7772400" cy="56692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40 / 205 = 0,195; 5,730 + 0,195 = 5,925</a:t>
            </a:r>
            <a:endParaRPr lang="en-US" sz="1450" dirty="0"/>
          </a:p>
        </p:txBody>
      </p:sp>
      <p:sp>
        <p:nvSpPr>
          <p:cNvPr id="24" name="Shape 22"/>
          <p:cNvSpPr/>
          <p:nvPr/>
        </p:nvSpPr>
        <p:spPr>
          <a:xfrm>
            <a:off x="594360" y="4892040"/>
            <a:ext cx="10972800" cy="1188720"/>
          </a:xfrm>
          <a:prstGeom prst="roundRect">
            <a:avLst>
              <a:gd name="adj" fmla="val 6923"/>
            </a:avLst>
          </a:prstGeom>
          <a:solidFill>
            <a:srgbClr val="F4E0E2"/>
          </a:solidFill>
          <a:ln w="12700">
            <a:solidFill>
              <a:srgbClr val="F4E0E2"/>
            </a:solidFill>
            <a:prstDash val="solid"/>
          </a:ln>
        </p:spPr>
        <p:txBody>
          <a:bodyPr/>
          <a:p/>
        </p:txBody>
      </p:sp>
      <p:sp>
        <p:nvSpPr>
          <p:cNvPr id="25" name="Text 23"/>
          <p:cNvSpPr/>
          <p:nvPr/>
        </p:nvSpPr>
        <p:spPr>
          <a:xfrm>
            <a:off x="777240" y="4892040"/>
            <a:ext cx="457200" cy="1188720"/>
          </a:xfrm>
          <a:prstGeom prst="rect">
            <a:avLst/>
          </a:prstGeom>
          <a:noFill/>
          <a:ln/>
        </p:spPr>
        <p:txBody>
          <a:bodyPr wrap="square" lIns="0" tIns="0" rIns="0" bIns="0" rtlCol="0" anchor="ctr"/>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F</a:t>
            </a:r>
            <a:endParaRPr lang="en-US" sz="2600" dirty="0"/>
          </a:p>
        </p:txBody>
      </p:sp>
      <p:sp>
        <p:nvSpPr>
          <p:cNvPr id="26" name="Text 24"/>
          <p:cNvSpPr/>
          <p:nvPr/>
        </p:nvSpPr>
        <p:spPr>
          <a:xfrm>
            <a:off x="1325880" y="4892040"/>
            <a:ext cx="10058400" cy="118872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Raportul WISN = existent / necesar = 4 / 5,925 = 0,675.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Sub 1: personalul nu face față volumului de muncă. Lipsesc aproximativ 2 fizioterapeuți.</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REVOT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ÎNAPOI LA VOTUL DE LA ÎNCEPUT</a:t>
            </a:r>
            <a:endParaRPr lang="en-US" sz="1300" dirty="0"/>
          </a:p>
        </p:txBody>
      </p:sp>
      <p:sp>
        <p:nvSpPr>
          <p:cNvPr id="5" name="Text 3"/>
          <p:cNvSpPr/>
          <p:nvPr/>
        </p:nvSpPr>
        <p:spPr>
          <a:xfrm>
            <a:off x="594360" y="713232"/>
            <a:ext cx="10972800" cy="914400"/>
          </a:xfrm>
          <a:prstGeom prst="rect">
            <a:avLst/>
          </a:prstGeom>
          <a:noFill/>
          <a:ln/>
        </p:spPr>
        <p:txBody>
          <a:bodyPr wrap="square" lIns="0" tIns="0" rIns="0" bIns="0" rtlCol="0" anchor="t"/>
          <a:lstStyle/>
          <a:p>
            <a:pPr indent="0" marL="0">
              <a:buNone/>
            </a:pPr>
            <a:r>
              <a:rPr lang="en-US" sz="2700" b="1" dirty="0">
                <a:solidFill>
                  <a:srgbClr val="FFFFFF"/>
                </a:solidFill>
                <a:latin typeface="Palatino Linotype" pitchFamily="34" charset="0"/>
                <a:ea typeface="Palatino Linotype" pitchFamily="34" charset="-122"/>
                <a:cs typeface="Palatino Linotype" pitchFamily="34" charset="-120"/>
              </a:rPr>
              <a:t>Ce ar trebui să facă mai întâi coordonatorul D.?</a:t>
            </a:r>
            <a:endParaRPr lang="en-US" sz="2700" dirty="0"/>
          </a:p>
        </p:txBody>
      </p:sp>
      <p:sp>
        <p:nvSpPr>
          <p:cNvPr id="6" name="Shape 4"/>
          <p:cNvSpPr/>
          <p:nvPr/>
        </p:nvSpPr>
        <p:spPr>
          <a:xfrm>
            <a:off x="594360" y="1691640"/>
            <a:ext cx="4206240" cy="2743200"/>
          </a:xfrm>
          <a:prstGeom prst="roundRect">
            <a:avLst>
              <a:gd name="adj" fmla="val 3000"/>
            </a:avLst>
          </a:prstGeom>
          <a:solidFill>
            <a:srgbClr val="272A38"/>
          </a:solidFill>
          <a:ln w="12700">
            <a:solidFill>
              <a:srgbClr val="272A38"/>
            </a:solidFill>
            <a:prstDash val="solid"/>
          </a:ln>
        </p:spPr>
        <p:txBody>
          <a:bodyPr/>
          <a:p/>
        </p:txBody>
      </p:sp>
      <p:sp>
        <p:nvSpPr>
          <p:cNvPr id="7" name="Text 5"/>
          <p:cNvSpPr/>
          <p:nvPr/>
        </p:nvSpPr>
        <p:spPr>
          <a:xfrm>
            <a:off x="777240" y="1783080"/>
            <a:ext cx="3840480" cy="1645920"/>
          </a:xfrm>
          <a:prstGeom prst="rect">
            <a:avLst/>
          </a:prstGeom>
          <a:noFill/>
          <a:ln/>
        </p:spPr>
        <p:txBody>
          <a:bodyPr wrap="square" lIns="0" tIns="0" rIns="0" bIns="0" rtlCol="0" anchor="ctr"/>
          <a:lstStyle/>
          <a:p>
            <a:pPr algn="ctr" indent="0" marL="0">
              <a:buNone/>
            </a:pPr>
            <a:r>
              <a:rPr lang="en-US" sz="1500" dirty="0">
                <a:solidFill>
                  <a:srgbClr val="959BB0"/>
                </a:solidFill>
                <a:latin typeface="Palatino Linotype" pitchFamily="34" charset="0"/>
                <a:ea typeface="Palatino Linotype" pitchFamily="34" charset="-122"/>
                <a:cs typeface="Palatino Linotype" pitchFamily="34" charset="-120"/>
              </a:rPr>
              <a:t>[estimările voastre, din Mentimeter]</a:t>
            </a:r>
            <a:endParaRPr lang="en-US" sz="1500" dirty="0"/>
          </a:p>
        </p:txBody>
      </p:sp>
      <p:sp>
        <p:nvSpPr>
          <p:cNvPr id="8" name="Text 6"/>
          <p:cNvSpPr/>
          <p:nvPr/>
        </p:nvSpPr>
        <p:spPr>
          <a:xfrm>
            <a:off x="777240" y="3520440"/>
            <a:ext cx="3840480" cy="731520"/>
          </a:xfrm>
          <a:prstGeom prst="rect">
            <a:avLst/>
          </a:prstGeom>
          <a:noFill/>
          <a:ln/>
        </p:spPr>
        <p:txBody>
          <a:bodyPr wrap="square" lIns="0" tIns="0" rIns="0" bIns="0" rtlCol="0" anchor="ctr"/>
          <a:lstStyle/>
          <a:p>
            <a:pPr algn="ctr" indent="0" marL="0">
              <a:buNone/>
            </a:pPr>
            <a:r>
              <a:rPr lang="en-US" sz="2000" b="1" dirty="0">
                <a:solidFill>
                  <a:srgbClr val="27D3BE"/>
                </a:solidFill>
                <a:latin typeface="Palatino Linotype" pitchFamily="34" charset="0"/>
                <a:ea typeface="Palatino Linotype" pitchFamily="34" charset="-122"/>
                <a:cs typeface="Palatino Linotype" pitchFamily="34" charset="-120"/>
              </a:rPr>
              <a:t>Calculul: aproximativ 6</a:t>
            </a:r>
            <a:endParaRPr lang="en-US" sz="2000" dirty="0"/>
          </a:p>
        </p:txBody>
      </p:sp>
      <p:sp>
        <p:nvSpPr>
          <p:cNvPr id="9" name="Text 7"/>
          <p:cNvSpPr/>
          <p:nvPr/>
        </p:nvSpPr>
        <p:spPr>
          <a:xfrm>
            <a:off x="5120640" y="1691640"/>
            <a:ext cx="6400800" cy="365760"/>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CE NU VEDE CALCULUL</a:t>
            </a:r>
            <a:endParaRPr lang="en-US" sz="1300" dirty="0"/>
          </a:p>
        </p:txBody>
      </p:sp>
      <p:sp>
        <p:nvSpPr>
          <p:cNvPr id="10" name="Shape 8"/>
          <p:cNvSpPr/>
          <p:nvPr/>
        </p:nvSpPr>
        <p:spPr>
          <a:xfrm>
            <a:off x="5120640" y="2194560"/>
            <a:ext cx="64008" cy="594360"/>
          </a:xfrm>
          <a:prstGeom prst="rect">
            <a:avLst/>
          </a:prstGeom>
          <a:solidFill>
            <a:srgbClr val="FF4757"/>
          </a:solidFill>
          <a:ln w="12700">
            <a:solidFill>
              <a:srgbClr val="FF4757"/>
            </a:solidFill>
            <a:prstDash val="solid"/>
          </a:ln>
        </p:spPr>
        <p:txBody>
          <a:bodyPr/>
          <a:p/>
        </p:txBody>
      </p:sp>
      <p:sp>
        <p:nvSpPr>
          <p:cNvPr id="11" name="Text 9"/>
          <p:cNvSpPr/>
          <p:nvPr/>
        </p:nvSpPr>
        <p:spPr>
          <a:xfrm>
            <a:off x="5349240" y="2148840"/>
            <a:ext cx="6217920" cy="713232"/>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Volumul vine din registrul anului anterior: pacienții de pe listă nu intră în el.</a:t>
            </a:r>
            <a:endParaRPr lang="en-US" sz="1500" dirty="0"/>
          </a:p>
        </p:txBody>
      </p:sp>
      <p:sp>
        <p:nvSpPr>
          <p:cNvPr id="12" name="Shape 10"/>
          <p:cNvSpPr/>
          <p:nvPr/>
        </p:nvSpPr>
        <p:spPr>
          <a:xfrm>
            <a:off x="5120640" y="3017520"/>
            <a:ext cx="64008" cy="594360"/>
          </a:xfrm>
          <a:prstGeom prst="rect">
            <a:avLst/>
          </a:prstGeom>
          <a:solidFill>
            <a:srgbClr val="FFC24B"/>
          </a:solidFill>
          <a:ln w="12700">
            <a:solidFill>
              <a:srgbClr val="FFC24B"/>
            </a:solidFill>
            <a:prstDash val="solid"/>
          </a:ln>
        </p:spPr>
        <p:txBody>
          <a:bodyPr/>
          <a:p/>
        </p:txBody>
      </p:sp>
      <p:sp>
        <p:nvSpPr>
          <p:cNvPr id="13" name="Text 11"/>
          <p:cNvSpPr/>
          <p:nvPr/>
        </p:nvSpPr>
        <p:spPr>
          <a:xfrm>
            <a:off x="5349240" y="2971800"/>
            <a:ext cx="6217920" cy="713232"/>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La prima aplicare, erorile merg aproape întotdeauna spre subînregistrarea muncii, deci necesarul iese subestimat.</a:t>
            </a:r>
            <a:endParaRPr lang="en-US" sz="1500" dirty="0"/>
          </a:p>
        </p:txBody>
      </p:sp>
      <p:sp>
        <p:nvSpPr>
          <p:cNvPr id="14" name="Shape 12"/>
          <p:cNvSpPr/>
          <p:nvPr/>
        </p:nvSpPr>
        <p:spPr>
          <a:xfrm>
            <a:off x="5120640" y="3840480"/>
            <a:ext cx="64008" cy="594360"/>
          </a:xfrm>
          <a:prstGeom prst="rect">
            <a:avLst/>
          </a:prstGeom>
          <a:solidFill>
            <a:srgbClr val="27D3BE"/>
          </a:solidFill>
          <a:ln w="12700">
            <a:solidFill>
              <a:srgbClr val="27D3BE"/>
            </a:solidFill>
            <a:prstDash val="solid"/>
          </a:ln>
        </p:spPr>
        <p:txBody>
          <a:bodyPr/>
          <a:p/>
        </p:txBody>
      </p:sp>
      <p:sp>
        <p:nvSpPr>
          <p:cNvPr id="15" name="Text 13"/>
          <p:cNvSpPr/>
          <p:nvPr/>
        </p:nvSpPr>
        <p:spPr>
          <a:xfrm>
            <a:off x="5349240" y="3794760"/>
            <a:ext cx="6217920" cy="713232"/>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Un serviciu subdimensionat, care tratează puțini pacienți, poate obține un necesar prea mic.</a:t>
            </a:r>
            <a:endParaRPr lang="en-US" sz="1500" dirty="0"/>
          </a:p>
        </p:txBody>
      </p:sp>
      <p:sp>
        <p:nvSpPr>
          <p:cNvPr id="16" name="Shape 14"/>
          <p:cNvSpPr/>
          <p:nvPr/>
        </p:nvSpPr>
        <p:spPr>
          <a:xfrm>
            <a:off x="5120640" y="4663440"/>
            <a:ext cx="64008" cy="594360"/>
          </a:xfrm>
          <a:prstGeom prst="rect">
            <a:avLst/>
          </a:prstGeom>
          <a:solidFill>
            <a:srgbClr val="9B7EF7"/>
          </a:solidFill>
          <a:ln w="12700">
            <a:solidFill>
              <a:srgbClr val="9B7EF7"/>
            </a:solidFill>
            <a:prstDash val="solid"/>
          </a:ln>
        </p:spPr>
        <p:txBody>
          <a:bodyPr/>
          <a:p/>
        </p:txBody>
      </p:sp>
      <p:sp>
        <p:nvSpPr>
          <p:cNvPr id="17" name="Text 15"/>
          <p:cNvSpPr/>
          <p:nvPr/>
        </p:nvSpPr>
        <p:spPr>
          <a:xfrm>
            <a:off x="5349240" y="4617720"/>
            <a:ext cx="6217920" cy="713232"/>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Un sfert dintre pacienți abandonează: o parte din problemă e de organizare.</a:t>
            </a:r>
            <a:endParaRPr lang="en-US" sz="1500" dirty="0"/>
          </a:p>
        </p:txBody>
      </p:sp>
      <p:sp>
        <p:nvSpPr>
          <p:cNvPr id="18" name="Text 16"/>
          <p:cNvSpPr/>
          <p:nvPr/>
        </p:nvSpPr>
        <p:spPr>
          <a:xfrm>
            <a:off x="594360" y="5669280"/>
            <a:ext cx="10972800" cy="45720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Votați din nou. Un manager bun aduce la director ambele analize.</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 PRACTICĂ</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faceți diferit, de luni dimineață</a:t>
            </a:r>
            <a:endParaRPr lang="en-US" sz="3000" dirty="0"/>
          </a:p>
        </p:txBody>
      </p:sp>
      <p:sp>
        <p:nvSpPr>
          <p:cNvPr id="4" name="Shape 2"/>
          <p:cNvSpPr/>
          <p:nvPr/>
        </p:nvSpPr>
        <p:spPr>
          <a:xfrm>
            <a:off x="685800" y="1783080"/>
            <a:ext cx="420624" cy="420624"/>
          </a:xfrm>
          <a:prstGeom prst="ellipse">
            <a:avLst/>
          </a:prstGeom>
          <a:solidFill>
            <a:srgbClr val="FF4757"/>
          </a:solidFill>
          <a:ln/>
        </p:spPr>
        <p:txBody>
          <a:bodyPr/>
          <a:p/>
        </p:txBody>
      </p:sp>
      <p:sp>
        <p:nvSpPr>
          <p:cNvPr id="5" name="Text 3"/>
          <p:cNvSpPr/>
          <p:nvPr/>
        </p:nvSpPr>
        <p:spPr>
          <a:xfrm>
            <a:off x="685800" y="178308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6" name="Text 4"/>
          <p:cNvSpPr/>
          <p:nvPr/>
        </p:nvSpPr>
        <p:spPr>
          <a:xfrm>
            <a:off x="1325880" y="1600200"/>
            <a:ext cx="10241280" cy="886968"/>
          </a:xfrm>
          <a:prstGeom prst="rect">
            <a:avLst/>
          </a:prstGeom>
          <a:noFill/>
          <a:ln/>
        </p:spPr>
        <p:txBody>
          <a:bodyPr wrap="square" lIns="0" tIns="0" rIns="0" bIns="0" rtlCol="0" anchor="ctr"/>
          <a:lstStyle/>
          <a:p>
            <a:pPr indent="0" marL="0">
              <a:buNone/>
            </a:pPr>
            <a:r>
              <a:rPr lang="en-US" sz="1750" dirty="0">
                <a:solidFill>
                  <a:srgbClr val="11121A"/>
                </a:solidFill>
                <a:latin typeface="Palatino Linotype" pitchFamily="34" charset="0"/>
                <a:ea typeface="Palatino Linotype" pitchFamily="34" charset="-122"/>
                <a:cs typeface="Palatino Linotype" pitchFamily="34" charset="-120"/>
              </a:rPr>
              <a:t>Întrebați ce cifre are serviciul: câte ședințe din câte sunt posibile, câți pacienți abandonează, cât așteaptă un pacient nou.</a:t>
            </a:r>
            <a:endParaRPr lang="en-US" sz="1750" dirty="0"/>
          </a:p>
        </p:txBody>
      </p:sp>
      <p:sp>
        <p:nvSpPr>
          <p:cNvPr id="7" name="Shape 5"/>
          <p:cNvSpPr/>
          <p:nvPr/>
        </p:nvSpPr>
        <p:spPr>
          <a:xfrm>
            <a:off x="685800" y="2807208"/>
            <a:ext cx="420624" cy="420624"/>
          </a:xfrm>
          <a:prstGeom prst="ellipse">
            <a:avLst/>
          </a:prstGeom>
          <a:solidFill>
            <a:srgbClr val="FF4757"/>
          </a:solidFill>
          <a:ln/>
        </p:spPr>
        <p:txBody>
          <a:bodyPr/>
          <a:p/>
        </p:txBody>
      </p:sp>
      <p:sp>
        <p:nvSpPr>
          <p:cNvPr id="8" name="Text 6"/>
          <p:cNvSpPr/>
          <p:nvPr/>
        </p:nvSpPr>
        <p:spPr>
          <a:xfrm>
            <a:off x="685800" y="280720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9" name="Text 7"/>
          <p:cNvSpPr/>
          <p:nvPr/>
        </p:nvSpPr>
        <p:spPr>
          <a:xfrm>
            <a:off x="1325880" y="2624328"/>
            <a:ext cx="10241280" cy="886968"/>
          </a:xfrm>
          <a:prstGeom prst="rect">
            <a:avLst/>
          </a:prstGeom>
          <a:noFill/>
          <a:ln/>
        </p:spPr>
        <p:txBody>
          <a:bodyPr wrap="square" lIns="0" tIns="0" rIns="0" bIns="0" rtlCol="0" anchor="ctr"/>
          <a:lstStyle/>
          <a:p>
            <a:pPr indent="0" marL="0">
              <a:buNone/>
            </a:pPr>
            <a:r>
              <a:rPr lang="en-US" sz="1750" dirty="0">
                <a:solidFill>
                  <a:srgbClr val="11121A"/>
                </a:solidFill>
                <a:latin typeface="Palatino Linotype" pitchFamily="34" charset="0"/>
                <a:ea typeface="Palatino Linotype" pitchFamily="34" charset="-122"/>
                <a:cs typeface="Palatino Linotype" pitchFamily="34" charset="-120"/>
              </a:rPr>
              <a:t>Când cereți un coleg în plus, veniți cu volumul de muncă măsurat, nu cu impresia că sunteți prea puțini.</a:t>
            </a:r>
            <a:endParaRPr lang="en-US" sz="1750" dirty="0"/>
          </a:p>
        </p:txBody>
      </p:sp>
      <p:sp>
        <p:nvSpPr>
          <p:cNvPr id="10" name="Shape 8"/>
          <p:cNvSpPr/>
          <p:nvPr/>
        </p:nvSpPr>
        <p:spPr>
          <a:xfrm>
            <a:off x="685800" y="3831336"/>
            <a:ext cx="420624" cy="420624"/>
          </a:xfrm>
          <a:prstGeom prst="ellipse">
            <a:avLst/>
          </a:prstGeom>
          <a:solidFill>
            <a:srgbClr val="FF4757"/>
          </a:solidFill>
          <a:ln/>
        </p:spPr>
        <p:txBody>
          <a:bodyPr/>
          <a:p/>
        </p:txBody>
      </p:sp>
      <p:sp>
        <p:nvSpPr>
          <p:cNvPr id="11" name="Text 9"/>
          <p:cNvSpPr/>
          <p:nvPr/>
        </p:nvSpPr>
        <p:spPr>
          <a:xfrm>
            <a:off x="685800" y="383133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2" name="Text 10"/>
          <p:cNvSpPr/>
          <p:nvPr/>
        </p:nvSpPr>
        <p:spPr>
          <a:xfrm>
            <a:off x="1325880" y="3648456"/>
            <a:ext cx="10241280" cy="886968"/>
          </a:xfrm>
          <a:prstGeom prst="rect">
            <a:avLst/>
          </a:prstGeom>
          <a:noFill/>
          <a:ln/>
        </p:spPr>
        <p:txBody>
          <a:bodyPr wrap="square" lIns="0" tIns="0" rIns="0" bIns="0" rtlCol="0" anchor="ctr"/>
          <a:lstStyle/>
          <a:p>
            <a:pPr indent="0" marL="0">
              <a:buNone/>
            </a:pPr>
            <a:r>
              <a:rPr lang="en-US" sz="1750" dirty="0">
                <a:solidFill>
                  <a:srgbClr val="11121A"/>
                </a:solidFill>
                <a:latin typeface="Palatino Linotype" pitchFamily="34" charset="0"/>
                <a:ea typeface="Palatino Linotype" pitchFamily="34" charset="-122"/>
                <a:cs typeface="Palatino Linotype" pitchFamily="34" charset="-120"/>
              </a:rPr>
              <a:t>Al treilea pacient de la același loc de muncă: propuneți angajatorului o măsură pentru toți.</a:t>
            </a:r>
            <a:endParaRPr lang="en-US" sz="1750" dirty="0"/>
          </a:p>
        </p:txBody>
      </p:sp>
      <p:sp>
        <p:nvSpPr>
          <p:cNvPr id="13" name="Shape 11"/>
          <p:cNvSpPr/>
          <p:nvPr/>
        </p:nvSpPr>
        <p:spPr>
          <a:xfrm>
            <a:off x="685800" y="4855464"/>
            <a:ext cx="420624" cy="420624"/>
          </a:xfrm>
          <a:prstGeom prst="ellipse">
            <a:avLst/>
          </a:prstGeom>
          <a:solidFill>
            <a:srgbClr val="FF4757"/>
          </a:solidFill>
          <a:ln/>
        </p:spPr>
        <p:txBody>
          <a:bodyPr/>
          <a:p/>
        </p:txBody>
      </p:sp>
      <p:sp>
        <p:nvSpPr>
          <p:cNvPr id="14" name="Text 12"/>
          <p:cNvSpPr/>
          <p:nvPr/>
        </p:nvSpPr>
        <p:spPr>
          <a:xfrm>
            <a:off x="685800" y="485546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5" name="Text 13"/>
          <p:cNvSpPr/>
          <p:nvPr/>
        </p:nvSpPr>
        <p:spPr>
          <a:xfrm>
            <a:off x="1325880" y="4672584"/>
            <a:ext cx="10241280" cy="886968"/>
          </a:xfrm>
          <a:prstGeom prst="rect">
            <a:avLst/>
          </a:prstGeom>
          <a:noFill/>
          <a:ln/>
        </p:spPr>
        <p:txBody>
          <a:bodyPr wrap="square" lIns="0" tIns="0" rIns="0" bIns="0" rtlCol="0" anchor="ctr"/>
          <a:lstStyle/>
          <a:p>
            <a:pPr indent="0" marL="0">
              <a:buNone/>
            </a:pPr>
            <a:r>
              <a:rPr lang="en-US" sz="1750" dirty="0">
                <a:solidFill>
                  <a:srgbClr val="11121A"/>
                </a:solidFill>
                <a:latin typeface="Palatino Linotype" pitchFamily="34" charset="0"/>
                <a:ea typeface="Palatino Linotype" pitchFamily="34" charset="-122"/>
                <a:cs typeface="Palatino Linotype" pitchFamily="34" charset="-120"/>
              </a:rPr>
              <a:t>Înainte de primul contract: autorizația de liberă practică, avizul anual, asigurarea de răspundere civilă.</a:t>
            </a:r>
            <a:endParaRPr lang="en-US" sz="1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073B34"/>
                </a:solidFill>
                <a:latin typeface="Palatino Linotype" pitchFamily="34" charset="0"/>
                <a:ea typeface="Palatino Linotype" pitchFamily="34" charset="-122"/>
                <a:cs typeface="Palatino Linotype" pitchFamily="34" charset="-120"/>
              </a:rPr>
              <a:t>FIȘA DE LUCRU 3</a:t>
            </a:r>
            <a:endParaRPr lang="en-US" sz="1300" dirty="0"/>
          </a:p>
        </p:txBody>
      </p:sp>
      <p:sp>
        <p:nvSpPr>
          <p:cNvPr id="3" name="Text 1"/>
          <p:cNvSpPr/>
          <p:nvPr/>
        </p:nvSpPr>
        <p:spPr>
          <a:xfrm>
            <a:off x="594360" y="777240"/>
            <a:ext cx="10972800" cy="731520"/>
          </a:xfrm>
          <a:prstGeom prst="rect">
            <a:avLst/>
          </a:prstGeom>
          <a:noFill/>
          <a:ln/>
        </p:spPr>
        <p:txBody>
          <a:bodyPr wrap="square" lIns="0" tIns="0" rIns="0" bIns="0" rtlCol="0" anchor="t"/>
          <a:lstStyle/>
          <a:p>
            <a:pPr indent="0" marL="0">
              <a:buNone/>
            </a:pPr>
            <a:r>
              <a:rPr lang="en-US" sz="3200" b="1" dirty="0">
                <a:solidFill>
                  <a:srgbClr val="073B34"/>
                </a:solidFill>
                <a:latin typeface="Palatino Linotype" pitchFamily="34" charset="0"/>
                <a:ea typeface="Palatino Linotype" pitchFamily="34" charset="-122"/>
                <a:cs typeface="Palatino Linotype" pitchFamily="34" charset="-120"/>
              </a:rPr>
              <a:t>Ce faceți, până când, unde o predați</a:t>
            </a:r>
            <a:endParaRPr lang="en-US" sz="3200" dirty="0"/>
          </a:p>
        </p:txBody>
      </p:sp>
      <p:sp>
        <p:nvSpPr>
          <p:cNvPr id="4" name="Shape 2"/>
          <p:cNvSpPr/>
          <p:nvPr/>
        </p:nvSpPr>
        <p:spPr>
          <a:xfrm>
            <a:off x="594360" y="1691640"/>
            <a:ext cx="10972800" cy="1143000"/>
          </a:xfrm>
          <a:prstGeom prst="roundRect">
            <a:avLst>
              <a:gd name="adj" fmla="val 7200"/>
            </a:avLst>
          </a:prstGeom>
          <a:solidFill>
            <a:srgbClr val="07564B"/>
          </a:solidFill>
          <a:ln w="12700">
            <a:solidFill>
              <a:srgbClr val="07564B"/>
            </a:solidFill>
            <a:prstDash val="solid"/>
          </a:ln>
        </p:spPr>
        <p:txBody>
          <a:bodyPr/>
          <a:p/>
        </p:txBody>
      </p:sp>
      <p:sp>
        <p:nvSpPr>
          <p:cNvPr id="5" name="Text 3"/>
          <p:cNvSpPr/>
          <p:nvPr/>
        </p:nvSpPr>
        <p:spPr>
          <a:xfrm>
            <a:off x="868680" y="1691640"/>
            <a:ext cx="2377440" cy="1143000"/>
          </a:xfrm>
          <a:prstGeom prst="rect">
            <a:avLst/>
          </a:prstGeom>
          <a:noFill/>
          <a:ln/>
        </p:spPr>
        <p:txBody>
          <a:bodyPr wrap="square" lIns="0" tIns="0" rIns="0" bIns="0" rtlCol="0" anchor="ctr"/>
          <a:lstStyle/>
          <a:p>
            <a:pPr indent="0" marL="0">
              <a:buNone/>
            </a:pPr>
            <a:r>
              <a:rPr lang="en-US" sz="1500" b="1" spc="100" kern="0" dirty="0">
                <a:solidFill>
                  <a:srgbClr val="FFC24B"/>
                </a:solidFill>
                <a:latin typeface="Palatino Linotype" pitchFamily="34" charset="0"/>
                <a:ea typeface="Palatino Linotype" pitchFamily="34" charset="-122"/>
                <a:cs typeface="Palatino Linotype" pitchFamily="34" charset="-120"/>
              </a:rPr>
              <a:t>CE FACEȚI</a:t>
            </a:r>
            <a:endParaRPr lang="en-US" sz="1500" dirty="0"/>
          </a:p>
        </p:txBody>
      </p:sp>
      <p:sp>
        <p:nvSpPr>
          <p:cNvPr id="6" name="Text 4"/>
          <p:cNvSpPr/>
          <p:nvPr/>
        </p:nvSpPr>
        <p:spPr>
          <a:xfrm>
            <a:off x="3291840" y="1691640"/>
            <a:ext cx="8092440" cy="11430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Analiza SWOT a unui serviciu de recuperare dintr-un scenariu; trei indicatori de activitate (numărător, numitor, sursă, frecvență); matricea de responsabilități a echipei pacientului-ancoră.</a:t>
            </a:r>
            <a:endParaRPr lang="en-US" sz="1600" dirty="0"/>
          </a:p>
        </p:txBody>
      </p:sp>
      <p:sp>
        <p:nvSpPr>
          <p:cNvPr id="7" name="Shape 5"/>
          <p:cNvSpPr/>
          <p:nvPr/>
        </p:nvSpPr>
        <p:spPr>
          <a:xfrm>
            <a:off x="594360" y="2953512"/>
            <a:ext cx="10972800" cy="1143000"/>
          </a:xfrm>
          <a:prstGeom prst="roundRect">
            <a:avLst>
              <a:gd name="adj" fmla="val 7200"/>
            </a:avLst>
          </a:prstGeom>
          <a:solidFill>
            <a:srgbClr val="FFFFFF"/>
          </a:solidFill>
          <a:ln w="12700">
            <a:solidFill>
              <a:srgbClr val="FFFFFF"/>
            </a:solidFill>
            <a:prstDash val="solid"/>
          </a:ln>
        </p:spPr>
        <p:txBody>
          <a:bodyPr/>
          <a:p/>
        </p:txBody>
      </p:sp>
      <p:sp>
        <p:nvSpPr>
          <p:cNvPr id="8" name="Text 6"/>
          <p:cNvSpPr/>
          <p:nvPr/>
        </p:nvSpPr>
        <p:spPr>
          <a:xfrm>
            <a:off x="868680" y="2953512"/>
            <a:ext cx="2377440" cy="1143000"/>
          </a:xfrm>
          <a:prstGeom prst="rect">
            <a:avLst/>
          </a:prstGeom>
          <a:noFill/>
          <a:ln/>
        </p:spPr>
        <p:txBody>
          <a:bodyPr wrap="square" lIns="0" tIns="0" rIns="0" bIns="0" rtlCol="0" anchor="ctr"/>
          <a:lstStyle/>
          <a:p>
            <a:pPr indent="0" marL="0">
              <a:buNone/>
            </a:pPr>
            <a:r>
              <a:rPr lang="en-US" sz="1500" b="1" spc="100" kern="0" dirty="0">
                <a:solidFill>
                  <a:srgbClr val="0E7C6B"/>
                </a:solidFill>
                <a:latin typeface="Palatino Linotype" pitchFamily="34" charset="0"/>
                <a:ea typeface="Palatino Linotype" pitchFamily="34" charset="-122"/>
                <a:cs typeface="Palatino Linotype" pitchFamily="34" charset="-120"/>
              </a:rPr>
              <a:t>PÂNĂ CÂND</a:t>
            </a:r>
            <a:endParaRPr lang="en-US" sz="1500" dirty="0"/>
          </a:p>
        </p:txBody>
      </p:sp>
      <p:sp>
        <p:nvSpPr>
          <p:cNvPr id="9" name="Text 7"/>
          <p:cNvSpPr/>
          <p:nvPr/>
        </p:nvSpPr>
        <p:spPr>
          <a:xfrm>
            <a:off x="3291840" y="2953512"/>
            <a:ext cx="8092440" cy="11430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finalul lucrării practice a treia sau în cel mult două zile după ea, cum prevede fișa disciplinei; termenul exact e în formularul lucrării.</a:t>
            </a:r>
            <a:endParaRPr lang="en-US" sz="1600" dirty="0"/>
          </a:p>
        </p:txBody>
      </p:sp>
      <p:sp>
        <p:nvSpPr>
          <p:cNvPr id="10" name="Shape 8"/>
          <p:cNvSpPr/>
          <p:nvPr/>
        </p:nvSpPr>
        <p:spPr>
          <a:xfrm>
            <a:off x="594360" y="4215384"/>
            <a:ext cx="10972800" cy="1143000"/>
          </a:xfrm>
          <a:prstGeom prst="roundRect">
            <a:avLst>
              <a:gd name="adj" fmla="val 7200"/>
            </a:avLst>
          </a:prstGeom>
          <a:solidFill>
            <a:srgbClr val="07564B"/>
          </a:solidFill>
          <a:ln w="12700">
            <a:solidFill>
              <a:srgbClr val="07564B"/>
            </a:solidFill>
            <a:prstDash val="solid"/>
          </a:ln>
        </p:spPr>
        <p:txBody>
          <a:bodyPr/>
          <a:p/>
        </p:txBody>
      </p:sp>
      <p:sp>
        <p:nvSpPr>
          <p:cNvPr id="11" name="Text 9"/>
          <p:cNvSpPr/>
          <p:nvPr/>
        </p:nvSpPr>
        <p:spPr>
          <a:xfrm>
            <a:off x="868680" y="4215384"/>
            <a:ext cx="2377440" cy="1143000"/>
          </a:xfrm>
          <a:prstGeom prst="rect">
            <a:avLst/>
          </a:prstGeom>
          <a:noFill/>
          <a:ln/>
        </p:spPr>
        <p:txBody>
          <a:bodyPr wrap="square" lIns="0" tIns="0" rIns="0" bIns="0" rtlCol="0" anchor="ctr"/>
          <a:lstStyle/>
          <a:p>
            <a:pPr indent="0" marL="0">
              <a:buNone/>
            </a:pPr>
            <a:r>
              <a:rPr lang="en-US" sz="1500" b="1" spc="100" kern="0" dirty="0">
                <a:solidFill>
                  <a:srgbClr val="FFC24B"/>
                </a:solidFill>
                <a:latin typeface="Palatino Linotype" pitchFamily="34" charset="0"/>
                <a:ea typeface="Palatino Linotype" pitchFamily="34" charset="-122"/>
                <a:cs typeface="Palatino Linotype" pitchFamily="34" charset="-120"/>
              </a:rPr>
              <a:t>UNDE O PREDAȚI</a:t>
            </a:r>
            <a:endParaRPr lang="en-US" sz="1500" dirty="0"/>
          </a:p>
        </p:txBody>
      </p:sp>
      <p:sp>
        <p:nvSpPr>
          <p:cNvPr id="12" name="Text 10"/>
          <p:cNvSpPr/>
          <p:nvPr/>
        </p:nvSpPr>
        <p:spPr>
          <a:xfrm>
            <a:off x="3291840" y="4215384"/>
            <a:ext cx="8092440" cy="11430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În formularul Microsoft Forms al lucrării, completat cu contul UMF.</a:t>
            </a:r>
            <a:endParaRPr lang="en-US" sz="1600" dirty="0"/>
          </a:p>
        </p:txBody>
      </p:sp>
      <p:sp>
        <p:nvSpPr>
          <p:cNvPr id="13" name="Text 11"/>
          <p:cNvSpPr/>
          <p:nvPr/>
        </p:nvSpPr>
        <p:spPr>
          <a:xfrm>
            <a:off x="594360" y="5532120"/>
            <a:ext cx="10972800" cy="457200"/>
          </a:xfrm>
          <a:prstGeom prst="rect">
            <a:avLst/>
          </a:prstGeom>
          <a:noFill/>
          <a:ln/>
        </p:spPr>
        <p:txBody>
          <a:bodyPr wrap="square" lIns="0" tIns="0" rIns="0" bIns="0" rtlCol="0" anchor="t"/>
          <a:lstStyle/>
          <a:p>
            <a:pPr indent="0" marL="0">
              <a:buNone/>
            </a:pPr>
            <a:r>
              <a:rPr lang="en-US" sz="1800" b="1" dirty="0">
                <a:solidFill>
                  <a:srgbClr val="073B34"/>
                </a:solidFill>
                <a:latin typeface="Palatino Linotype" pitchFamily="34" charset="0"/>
                <a:ea typeface="Palatino Linotype" pitchFamily="34" charset="-122"/>
                <a:cs typeface="Palatino Linotype" pitchFamily="34" charset="-120"/>
              </a:rPr>
              <a:t>Lucrul la fișă începe în sală, la lucrarea practică, nu acasă.</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 · 10 ÎNTREBĂRI</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VERIFICAREA FINALĂ</a:t>
            </a:r>
            <a:endParaRPr lang="en-US" sz="1300" dirty="0"/>
          </a:p>
        </p:txBody>
      </p:sp>
      <p:sp>
        <p:nvSpPr>
          <p:cNvPr id="5" name="Text 3"/>
          <p:cNvSpPr/>
          <p:nvPr/>
        </p:nvSpPr>
        <p:spPr>
          <a:xfrm>
            <a:off x="594360" y="1280160"/>
            <a:ext cx="10972800" cy="91440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Strategie, management, oameni: ce a rămas</a:t>
            </a:r>
            <a:endParaRPr lang="en-US" sz="38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Accesați kahoot.it și introduceți codul jocului.</a:t>
            </a:r>
            <a:endParaRPr lang="en-US" sz="2200" dirty="0"/>
          </a:p>
        </p:txBody>
      </p:sp>
      <p:sp>
        <p:nvSpPr>
          <p:cNvPr id="7" name="Shape 5"/>
          <p:cNvSpPr/>
          <p:nvPr/>
        </p:nvSpPr>
        <p:spPr>
          <a:xfrm>
            <a:off x="594360" y="3200400"/>
            <a:ext cx="5486400" cy="2011680"/>
          </a:xfrm>
          <a:prstGeom prst="roundRect">
            <a:avLst>
              <a:gd name="adj" fmla="val 4091"/>
            </a:avLst>
          </a:prstGeom>
          <a:solidFill>
            <a:srgbClr val="272A38"/>
          </a:solidFill>
          <a:ln w="12700">
            <a:solidFill>
              <a:srgbClr val="272A38"/>
            </a:solidFill>
            <a:prstDash val="solid"/>
          </a:ln>
        </p:spPr>
        <p:txBody>
          <a:bodyPr/>
          <a:p/>
        </p:txBody>
      </p:sp>
      <p:sp>
        <p:nvSpPr>
          <p:cNvPr id="8" name="Text 6"/>
          <p:cNvSpPr/>
          <p:nvPr/>
        </p:nvSpPr>
        <p:spPr>
          <a:xfrm>
            <a:off x="594360" y="3200400"/>
            <a:ext cx="5486400" cy="2011680"/>
          </a:xfrm>
          <a:prstGeom prst="rect">
            <a:avLst/>
          </a:prstGeom>
          <a:noFill/>
          <a:ln/>
        </p:spPr>
        <p:txBody>
          <a:bodyPr wrap="square" lIns="0" tIns="0" rIns="0" bIns="0" rtlCol="0" anchor="ctr"/>
          <a:lstStyle/>
          <a:p>
            <a:pPr algn="ctr" indent="0" marL="0">
              <a:buNone/>
            </a:pPr>
            <a:r>
              <a:rPr lang="en-US" sz="1800" dirty="0">
                <a:solidFill>
                  <a:srgbClr val="959BB0"/>
                </a:solidFill>
                <a:latin typeface="Palatino Linotype" pitchFamily="34" charset="0"/>
                <a:ea typeface="Palatino Linotype" pitchFamily="34" charset="-122"/>
                <a:cs typeface="Palatino Linotype" pitchFamily="34" charset="-120"/>
              </a:rPr>
              <a:t>Codul jocului apare pe ecran la pornire.</a:t>
            </a:r>
            <a:endParaRPr lang="en-US" sz="1800" dirty="0"/>
          </a:p>
        </p:txBody>
      </p:sp>
      <p:sp>
        <p:nvSpPr>
          <p:cNvPr id="9" name="Text 7"/>
          <p:cNvSpPr/>
          <p:nvPr/>
        </p:nvSpPr>
        <p:spPr>
          <a:xfrm>
            <a:off x="6400800" y="3200400"/>
            <a:ext cx="5166360" cy="201168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Rezultatul nu se notează. După fiecare întrebare: răspunsul susținut de note și paragraful care îl decide.</a:t>
            </a:r>
            <a:endParaRPr lang="en-US" sz="1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ULTIMUL MINUT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titular</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te-am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ai putea folosi mâine?</a:t>
            </a:r>
            <a:endParaRPr lang="en-US" sz="22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6" name="Text 14"/>
          <p:cNvSpPr/>
          <p:nvPr/>
        </p:nvSpPr>
        <p:spPr>
          <a:xfrm>
            <a:off x="594360" y="5349240"/>
            <a:ext cx="10972800" cy="7315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La începutul săptămânii viitoare, pe pagina disciplinei și pe primul diapozitiv al cursului următor: două modificări făcute pe baza răspunsurilor.</a:t>
            </a:r>
            <a:endParaRPr lang="en-US" sz="1700" dirty="0"/>
          </a:p>
        </p:txBody>
      </p:sp>
      <p:pic>
        <p:nvPicPr>
          <p:cNvPr id="17" name="Picture 16" descr="Mentimeter_SPM_BFKIII_C03.png"/>
          <p:cNvPicPr>
            <a:picLocks noChangeAspect="1"/>
          </p:cNvPicPr>
          <p:nvPr/>
        </p:nvPicPr>
        <p:blipFill>
          <a:blip r:embed="rId3"/>
          <a:stretch>
            <a:fillRect/>
          </a:stretch>
        </p:blipFill>
        <p:spPr>
          <a:xfrm>
            <a:off x="9137650" y="2514600"/>
            <a:ext cx="1841500" cy="1841500"/>
          </a:xfrm>
          <a:prstGeom prst="rect">
            <a:avLst/>
          </a:prstGeom>
        </p:spPr>
      </p:pic>
      <p:sp>
        <p:nvSpPr>
          <p:cNvPr id="18" name="TextBox 17"/>
          <p:cNvSpPr txBox="1"/>
          <p:nvPr/>
        </p:nvSpPr>
        <p:spPr>
          <a:xfrm>
            <a:off x="8549640" y="4394200"/>
            <a:ext cx="30175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 3 - Managementul serviciilor de recuperare. Resursele umane în recuperare</dc:title>
  <dc:subject>PptxGenJS Presentation</dc:subject>
  <dc:creator>Conf. Univ. Dr. Adrian Pana</dc:creator>
  <cp:lastModifiedBy>Conf. Univ. Dr. Adrian Pana</cp:lastModifiedBy>
  <cp:revision>1</cp:revision>
  <dcterms:created xsi:type="dcterms:W3CDTF">2026-10-11T10:01:36Z</dcterms:created>
  <dcterms:modified xsi:type="dcterms:W3CDTF">2026-10-11T10:01:36Z</dcterms:modified>
  <cp:keywords>sursa_amprenta=a09d22739d8585c6; proiectie</cp:keywords>
</cp:coreProperties>
</file>