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1-1.jpg" ContentType="image/jpg"/>
  <Override PartName="/ppt/media/image-4-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BFKIII/active/img/mers_nordic_commons.jpg">    </p:cNvPr>
          <p:cNvPicPr>
            <a:picLocks noChangeAspect="1"/>
          </p:cNvPicPr>
          <p:nvPr/>
        </p:nvPicPr>
        <p:blipFill>
          <a:blip r:embed="rId1"/>
          <a:srcRect l="0" r="0" t="0" b="0"/>
          <a:stretch/>
        </p:blipFill>
        <p:spPr>
          <a:xfrm>
            <a:off x="6705295" y="0"/>
            <a:ext cx="5486400" cy="6858000"/>
          </a:xfrm>
          <a:prstGeom prst="rect">
            <a:avLst/>
          </a:prstGeom>
        </p:spPr>
      </p:pic>
      <p:sp>
        <p:nvSpPr>
          <p:cNvPr id="3" name="Shape 0"/>
          <p:cNvSpPr/>
          <p:nvPr/>
        </p:nvSpPr>
        <p:spPr>
          <a:xfrm>
            <a:off x="6705295" y="6144768"/>
            <a:ext cx="5486400" cy="713232"/>
          </a:xfrm>
          <a:prstGeom prst="rect">
            <a:avLst/>
          </a:prstGeom>
          <a:solidFill>
            <a:srgbClr val="11121A">
              <a:alpha val="75000"/>
            </a:srgbClr>
          </a:solidFill>
          <a:ln w="12700">
            <a:solidFill>
              <a:srgbClr val="11121A"/>
            </a:solidFill>
            <a:prstDash val="solid"/>
          </a:ln>
        </p:spPr>
        <p:txBody>
          <a:bodyPr/>
          <a:p/>
        </p:txBody>
      </p:sp>
      <p:sp>
        <p:nvSpPr>
          <p:cNvPr id="4" name="Text 1"/>
          <p:cNvSpPr/>
          <p:nvPr/>
        </p:nvSpPr>
        <p:spPr>
          <a:xfrm>
            <a:off x="6933895" y="6181344"/>
            <a:ext cx="5029200" cy="384048"/>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Mers nordic pe o stradă din Polonia</a:t>
            </a:r>
            <a:endParaRPr lang="en-US" sz="1100" dirty="0"/>
          </a:p>
        </p:txBody>
      </p:sp>
      <p:sp>
        <p:nvSpPr>
          <p:cNvPr id="5" name="Text 2"/>
          <p:cNvSpPr/>
          <p:nvPr/>
        </p:nvSpPr>
        <p:spPr>
          <a:xfrm>
            <a:off x="6933895" y="6565392"/>
            <a:ext cx="5029200" cy="219456"/>
          </a:xfrm>
          <a:prstGeom prst="rect">
            <a:avLst/>
          </a:prstGeom>
          <a:noFill/>
          <a:ln/>
        </p:spPr>
        <p:txBody>
          <a:bodyPr wrap="square" lIns="0" tIns="0" rIns="0" bIns="0" rtlCol="0" anchor="ctr"/>
          <a:lstStyle/>
          <a:p>
            <a:pPr indent="0" marL="0">
              <a:buNone/>
            </a:pPr>
            <a:r>
              <a:rPr lang="en-US" sz="850" i="1" dirty="0">
                <a:solidFill>
                  <a:srgbClr val="C9CCD8"/>
                </a:solidFill>
                <a:latin typeface="Palatino Linotype" pitchFamily="34" charset="0"/>
                <a:ea typeface="Palatino Linotype" pitchFamily="34" charset="-122"/>
                <a:cs typeface="Palatino Linotype" pitchFamily="34" charset="-120"/>
              </a:rPr>
              <a:t>Sursa: WrS.tm.pl, Wikimedia Commons · CC0</a:t>
            </a:r>
            <a:endParaRPr lang="en-US" sz="850" dirty="0"/>
          </a:p>
        </p:txBody>
      </p:sp>
      <p:sp>
        <p:nvSpPr>
          <p:cNvPr id="6" name="Shape 3"/>
          <p:cNvSpPr/>
          <p:nvPr/>
        </p:nvSpPr>
        <p:spPr>
          <a:xfrm>
            <a:off x="640080" y="731520"/>
            <a:ext cx="3291840" cy="329184"/>
          </a:xfrm>
          <a:prstGeom prst="roundRect">
            <a:avLst>
              <a:gd name="adj" fmla="val 50000"/>
            </a:avLst>
          </a:prstGeom>
          <a:solidFill>
            <a:srgbClr val="FF4757"/>
          </a:solidFill>
          <a:ln w="12700">
            <a:solidFill>
              <a:srgbClr val="FF4757"/>
            </a:solidFill>
            <a:prstDash val="solid"/>
          </a:ln>
        </p:spPr>
        <p:txBody>
          <a:bodyPr/>
          <a:p/>
        </p:txBody>
      </p:sp>
      <p:sp>
        <p:nvSpPr>
          <p:cNvPr id="7" name="Text 4"/>
          <p:cNvSpPr/>
          <p:nvPr/>
        </p:nvSpPr>
        <p:spPr>
          <a:xfrm>
            <a:off x="640080" y="731520"/>
            <a:ext cx="32918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A DOUA LUCRARE PRACTICĂ</a:t>
            </a:r>
            <a:endParaRPr lang="en-US" sz="1300" dirty="0"/>
          </a:p>
        </p:txBody>
      </p:sp>
      <p:sp>
        <p:nvSpPr>
          <p:cNvPr id="8" name="Text 5"/>
          <p:cNvSpPr/>
          <p:nvPr/>
        </p:nvSpPr>
        <p:spPr>
          <a:xfrm>
            <a:off x="640080" y="1325880"/>
            <a:ext cx="5760720" cy="173736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Intervenția pentru un grup și traseul pacientului</a:t>
            </a:r>
            <a:endParaRPr lang="en-US" sz="3400" dirty="0"/>
          </a:p>
        </p:txBody>
      </p:sp>
      <p:sp>
        <p:nvSpPr>
          <p:cNvPr id="9" name="Text 6"/>
          <p:cNvSpPr/>
          <p:nvPr/>
        </p:nvSpPr>
        <p:spPr>
          <a:xfrm>
            <a:off x="640080" y="3154680"/>
            <a:ext cx="5760720" cy="914400"/>
          </a:xfrm>
          <a:prstGeom prst="rect">
            <a:avLst/>
          </a:prstGeom>
          <a:noFill/>
          <a:ln/>
        </p:spPr>
        <p:txBody>
          <a:bodyPr wrap="square" lIns="0" tIns="0" rIns="0" bIns="0" rtlCol="0" anchor="t"/>
          <a:lstStyle/>
          <a:p>
            <a:pPr indent="0" marL="0">
              <a:buNone/>
            </a:pPr>
            <a:r>
              <a:rPr lang="en-US" sz="2100" b="1" dirty="0">
                <a:solidFill>
                  <a:srgbClr val="27D3BE"/>
                </a:solidFill>
                <a:latin typeface="Palatino Linotype" pitchFamily="34" charset="0"/>
                <a:ea typeface="Palatino Linotype" pitchFamily="34" charset="-122"/>
                <a:cs typeface="Palatino Linotype" pitchFamily="34" charset="-120"/>
              </a:rPr>
              <a:t>Promovarea activității fizice, de la comună la cabinetul de recuperare</a:t>
            </a:r>
            <a:endParaRPr lang="en-US" sz="2100" dirty="0"/>
          </a:p>
        </p:txBody>
      </p:sp>
      <p:sp>
        <p:nvSpPr>
          <p:cNvPr id="10" name="Shape 7"/>
          <p:cNvSpPr/>
          <p:nvPr/>
        </p:nvSpPr>
        <p:spPr>
          <a:xfrm>
            <a:off x="667512" y="4206240"/>
            <a:ext cx="1280160" cy="27432"/>
          </a:xfrm>
          <a:prstGeom prst="rect">
            <a:avLst/>
          </a:prstGeom>
          <a:solidFill>
            <a:srgbClr val="FF4757"/>
          </a:solidFill>
          <a:ln w="12700">
            <a:solidFill>
              <a:srgbClr val="FF4757"/>
            </a:solidFill>
            <a:prstDash val="solid"/>
          </a:ln>
        </p:spPr>
        <p:txBody>
          <a:bodyPr/>
          <a:p/>
        </p:txBody>
      </p:sp>
      <p:sp>
        <p:nvSpPr>
          <p:cNvPr id="11" name="Text 8"/>
          <p:cNvSpPr/>
          <p:nvPr/>
        </p:nvSpPr>
        <p:spPr>
          <a:xfrm>
            <a:off x="640080" y="4389120"/>
            <a:ext cx="5760720" cy="1005840"/>
          </a:xfrm>
          <a:prstGeom prst="rect">
            <a:avLst/>
          </a:prstGeom>
          <a:noFill/>
          <a:ln/>
        </p:spPr>
        <p:txBody>
          <a:bodyPr wrap="square" lIns="0" tIns="0" rIns="0" bIns="0" rtlCol="0" anchor="t"/>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Sănătate publică și management · Balneofiziokinetoterapie și recuperare, anul III</a:t>
            </a:r>
            <a:endParaRPr lang="en-US" sz="1300" dirty="0"/>
          </a:p>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Conf. univ. dr. Adrian Pană · UMF „Iuliu Hațieganu” Cluj-Napoca · 2026–2027</a:t>
            </a:r>
            <a:endParaRPr lang="en-US" sz="1300" dirty="0"/>
          </a:p>
        </p:txBody>
      </p:sp>
      <p:sp>
        <p:nvSpPr>
          <p:cNvPr id="12" name="Text 9"/>
          <p:cNvSpPr/>
          <p:nvPr/>
        </p:nvSpPr>
        <p:spPr>
          <a:xfrm>
            <a:off x="640080" y="5577840"/>
            <a:ext cx="5760720" cy="548640"/>
          </a:xfrm>
          <a:prstGeom prst="rect">
            <a:avLst/>
          </a:prstGeom>
          <a:noFill/>
          <a:ln/>
        </p:spPr>
        <p:txBody>
          <a:bodyPr wrap="square" lIns="0" tIns="0" rIns="0" bIns="0" rtlCol="0" anchor="t"/>
          <a:lstStyle/>
          <a:p>
            <a:pPr indent="0" marL="0">
              <a:buNone/>
            </a:pPr>
            <a:r>
              <a:rPr lang="en-US" sz="1400" i="1" dirty="0">
                <a:solidFill>
                  <a:srgbClr val="FFC24B"/>
                </a:solidFill>
                <a:latin typeface="Palatino Linotype" pitchFamily="34" charset="0"/>
                <a:ea typeface="Palatino Linotype" pitchFamily="34" charset="-122"/>
                <a:cs typeface="Palatino Linotype" pitchFamily="34" charset="-120"/>
              </a:rPr>
              <a:t>Aveți nevoie de un telefon încărcat, conectat cu contul UMF. Nu se tipărește nimic.</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FIȘA DE LUCRU 2</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faceți, până când, unde</a:t>
            </a:r>
            <a:endParaRPr lang="en-US" sz="3000" dirty="0"/>
          </a:p>
        </p:txBody>
      </p:sp>
      <p:sp>
        <p:nvSpPr>
          <p:cNvPr id="4" name="Shape 2"/>
          <p:cNvSpPr/>
          <p:nvPr/>
        </p:nvSpPr>
        <p:spPr>
          <a:xfrm>
            <a:off x="594360" y="1600200"/>
            <a:ext cx="10972800" cy="1188720"/>
          </a:xfrm>
          <a:prstGeom prst="roundRect">
            <a:avLst>
              <a:gd name="adj" fmla="val 6923"/>
            </a:avLst>
          </a:prstGeom>
          <a:solidFill>
            <a:srgbClr val="ECEAE4"/>
          </a:solidFill>
          <a:ln w="12700">
            <a:solidFill>
              <a:srgbClr val="ECEAE4"/>
            </a:solidFill>
            <a:prstDash val="solid"/>
          </a:ln>
        </p:spPr>
        <p:txBody>
          <a:bodyPr/>
          <a:p/>
        </p:txBody>
      </p:sp>
      <p:sp>
        <p:nvSpPr>
          <p:cNvPr id="5" name="Shape 3"/>
          <p:cNvSpPr/>
          <p:nvPr/>
        </p:nvSpPr>
        <p:spPr>
          <a:xfrm>
            <a:off x="594360" y="1600200"/>
            <a:ext cx="91440" cy="1188720"/>
          </a:xfrm>
          <a:prstGeom prst="rect">
            <a:avLst/>
          </a:prstGeom>
          <a:solidFill>
            <a:srgbClr val="B02532"/>
          </a:solidFill>
          <a:ln w="12700">
            <a:solidFill>
              <a:srgbClr val="B02532"/>
            </a:solidFill>
            <a:prstDash val="solid"/>
          </a:ln>
        </p:spPr>
        <p:txBody>
          <a:bodyPr/>
          <a:p/>
        </p:txBody>
      </p:sp>
      <p:sp>
        <p:nvSpPr>
          <p:cNvPr id="6" name="Text 4"/>
          <p:cNvSpPr/>
          <p:nvPr/>
        </p:nvSpPr>
        <p:spPr>
          <a:xfrm>
            <a:off x="960120" y="1691640"/>
            <a:ext cx="2194560" cy="1005840"/>
          </a:xfrm>
          <a:prstGeom prst="rect">
            <a:avLst/>
          </a:prstGeom>
          <a:noFill/>
          <a:ln/>
        </p:spPr>
        <p:txBody>
          <a:bodyPr wrap="square" lIns="0" tIns="0" rIns="0" bIns="0" rtlCol="0" anchor="ctr"/>
          <a:lstStyle/>
          <a:p>
            <a:pPr indent="0" marL="0">
              <a:buNone/>
            </a:pPr>
            <a:r>
              <a:rPr lang="en-US" sz="1700" b="1" spc="100" kern="0" dirty="0">
                <a:solidFill>
                  <a:srgbClr val="B02532"/>
                </a:solidFill>
                <a:latin typeface="Palatino Linotype" pitchFamily="34" charset="0"/>
                <a:ea typeface="Palatino Linotype" pitchFamily="34" charset="-122"/>
                <a:cs typeface="Palatino Linotype" pitchFamily="34" charset="-120"/>
              </a:rPr>
              <a:t>CE FACEȚI</a:t>
            </a:r>
            <a:endParaRPr lang="en-US" sz="1700" dirty="0"/>
          </a:p>
        </p:txBody>
      </p:sp>
      <p:sp>
        <p:nvSpPr>
          <p:cNvPr id="7" name="Text 5"/>
          <p:cNvSpPr/>
          <p:nvPr/>
        </p:nvSpPr>
        <p:spPr>
          <a:xfrm>
            <a:off x="3200400" y="1691640"/>
            <a:ext cx="8138160" cy="100584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Două formulare Microsoft Forms. Cel al sălii îl completați pe grup, de pe un singur telefon. Cel individual îl începeți aici, în ultima jumătate de oră.</a:t>
            </a:r>
            <a:endParaRPr lang="en-US" sz="1800" dirty="0"/>
          </a:p>
        </p:txBody>
      </p:sp>
      <p:sp>
        <p:nvSpPr>
          <p:cNvPr id="8" name="Shape 6"/>
          <p:cNvSpPr/>
          <p:nvPr/>
        </p:nvSpPr>
        <p:spPr>
          <a:xfrm>
            <a:off x="594360" y="2971800"/>
            <a:ext cx="10972800" cy="1188720"/>
          </a:xfrm>
          <a:prstGeom prst="roundRect">
            <a:avLst>
              <a:gd name="adj" fmla="val 6923"/>
            </a:avLst>
          </a:prstGeom>
          <a:solidFill>
            <a:srgbClr val="ECEAE4"/>
          </a:solidFill>
          <a:ln w="12700">
            <a:solidFill>
              <a:srgbClr val="ECEAE4"/>
            </a:solidFill>
            <a:prstDash val="solid"/>
          </a:ln>
        </p:spPr>
        <p:txBody>
          <a:bodyPr/>
          <a:p/>
        </p:txBody>
      </p:sp>
      <p:sp>
        <p:nvSpPr>
          <p:cNvPr id="9" name="Shape 7"/>
          <p:cNvSpPr/>
          <p:nvPr/>
        </p:nvSpPr>
        <p:spPr>
          <a:xfrm>
            <a:off x="594360" y="2971800"/>
            <a:ext cx="91440" cy="1188720"/>
          </a:xfrm>
          <a:prstGeom prst="rect">
            <a:avLst/>
          </a:prstGeom>
          <a:solidFill>
            <a:srgbClr val="0E7C6B"/>
          </a:solidFill>
          <a:ln w="12700">
            <a:solidFill>
              <a:srgbClr val="0E7C6B"/>
            </a:solidFill>
            <a:prstDash val="solid"/>
          </a:ln>
        </p:spPr>
        <p:txBody>
          <a:bodyPr/>
          <a:p/>
        </p:txBody>
      </p:sp>
      <p:sp>
        <p:nvSpPr>
          <p:cNvPr id="10" name="Text 8"/>
          <p:cNvSpPr/>
          <p:nvPr/>
        </p:nvSpPr>
        <p:spPr>
          <a:xfrm>
            <a:off x="960120" y="3063240"/>
            <a:ext cx="2194560" cy="1005840"/>
          </a:xfrm>
          <a:prstGeom prst="rect">
            <a:avLst/>
          </a:prstGeom>
          <a:noFill/>
          <a:ln/>
        </p:spPr>
        <p:txBody>
          <a:bodyPr wrap="square" lIns="0" tIns="0" rIns="0" bIns="0" rtlCol="0" anchor="ctr"/>
          <a:lstStyle/>
          <a:p>
            <a:pPr indent="0" marL="0">
              <a:buNone/>
            </a:pPr>
            <a:r>
              <a:rPr lang="en-US" sz="1700" b="1" spc="100" kern="0" dirty="0">
                <a:solidFill>
                  <a:srgbClr val="0E7C6B"/>
                </a:solidFill>
                <a:latin typeface="Palatino Linotype" pitchFamily="34" charset="0"/>
                <a:ea typeface="Palatino Linotype" pitchFamily="34" charset="-122"/>
                <a:cs typeface="Palatino Linotype" pitchFamily="34" charset="-120"/>
              </a:rPr>
              <a:t>PÂNĂ CÂND</a:t>
            </a:r>
            <a:endParaRPr lang="en-US" sz="1700" dirty="0"/>
          </a:p>
        </p:txBody>
      </p:sp>
      <p:sp>
        <p:nvSpPr>
          <p:cNvPr id="11" name="Text 9"/>
          <p:cNvSpPr/>
          <p:nvPr/>
        </p:nvSpPr>
        <p:spPr>
          <a:xfrm>
            <a:off x="3200400" y="3063240"/>
            <a:ext cx="8138160" cy="100584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Formularul sălii: la sfârșitul lucrării, la ora 14:00. Formularul individual: luni, 19 octombrie 2026, ora 14:00.</a:t>
            </a:r>
            <a:endParaRPr lang="en-US" sz="1800" dirty="0"/>
          </a:p>
        </p:txBody>
      </p:sp>
      <p:sp>
        <p:nvSpPr>
          <p:cNvPr id="12" name="Shape 10"/>
          <p:cNvSpPr/>
          <p:nvPr/>
        </p:nvSpPr>
        <p:spPr>
          <a:xfrm>
            <a:off x="594360" y="4343400"/>
            <a:ext cx="10972800" cy="1188720"/>
          </a:xfrm>
          <a:prstGeom prst="roundRect">
            <a:avLst>
              <a:gd name="adj" fmla="val 6923"/>
            </a:avLst>
          </a:prstGeom>
          <a:solidFill>
            <a:srgbClr val="ECEAE4"/>
          </a:solidFill>
          <a:ln w="12700">
            <a:solidFill>
              <a:srgbClr val="ECEAE4"/>
            </a:solidFill>
            <a:prstDash val="solid"/>
          </a:ln>
        </p:spPr>
        <p:txBody>
          <a:bodyPr/>
          <a:p/>
        </p:txBody>
      </p:sp>
      <p:sp>
        <p:nvSpPr>
          <p:cNvPr id="13" name="Shape 11"/>
          <p:cNvSpPr/>
          <p:nvPr/>
        </p:nvSpPr>
        <p:spPr>
          <a:xfrm>
            <a:off x="594360" y="4343400"/>
            <a:ext cx="91440" cy="1188720"/>
          </a:xfrm>
          <a:prstGeom prst="rect">
            <a:avLst/>
          </a:prstGeom>
          <a:solidFill>
            <a:srgbClr val="8A6100"/>
          </a:solidFill>
          <a:ln w="12700">
            <a:solidFill>
              <a:srgbClr val="8A6100"/>
            </a:solidFill>
            <a:prstDash val="solid"/>
          </a:ln>
        </p:spPr>
        <p:txBody>
          <a:bodyPr/>
          <a:p/>
        </p:txBody>
      </p:sp>
      <p:sp>
        <p:nvSpPr>
          <p:cNvPr id="14" name="Text 12"/>
          <p:cNvSpPr/>
          <p:nvPr/>
        </p:nvSpPr>
        <p:spPr>
          <a:xfrm>
            <a:off x="960120" y="4434840"/>
            <a:ext cx="2194560" cy="1005840"/>
          </a:xfrm>
          <a:prstGeom prst="rect">
            <a:avLst/>
          </a:prstGeom>
          <a:noFill/>
          <a:ln/>
        </p:spPr>
        <p:txBody>
          <a:bodyPr wrap="square" lIns="0" tIns="0" rIns="0" bIns="0" rtlCol="0" anchor="ctr"/>
          <a:lstStyle/>
          <a:p>
            <a:pPr indent="0" marL="0">
              <a:buNone/>
            </a:pPr>
            <a:r>
              <a:rPr lang="en-US" sz="1700" b="1" spc="100" kern="0" dirty="0">
                <a:solidFill>
                  <a:srgbClr val="8A6100"/>
                </a:solidFill>
                <a:latin typeface="Palatino Linotype" pitchFamily="34" charset="0"/>
                <a:ea typeface="Palatino Linotype" pitchFamily="34" charset="-122"/>
                <a:cs typeface="Palatino Linotype" pitchFamily="34" charset="-120"/>
              </a:rPr>
              <a:t>UNDE</a:t>
            </a:r>
            <a:endParaRPr lang="en-US" sz="1700" dirty="0"/>
          </a:p>
        </p:txBody>
      </p:sp>
      <p:sp>
        <p:nvSpPr>
          <p:cNvPr id="15" name="Text 13"/>
          <p:cNvSpPr/>
          <p:nvPr/>
        </p:nvSpPr>
        <p:spPr>
          <a:xfrm>
            <a:off x="3200400" y="4434840"/>
            <a:ext cx="8138160" cy="100584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Numai în Microsoft Forms, cu contul UMF. Fișa nu se trimite pe e-mail.</a:t>
            </a:r>
            <a:endParaRPr lang="en-US" sz="1800" dirty="0"/>
          </a:p>
        </p:txBody>
      </p:sp>
      <p:sp>
        <p:nvSpPr>
          <p:cNvPr id="16" name="Text 14"/>
          <p:cNvSpPr/>
          <p:nvPr/>
        </p:nvSpPr>
        <p:spPr>
          <a:xfrm>
            <a:off x="594360" y="5806440"/>
            <a:ext cx="10972800" cy="41148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Rezolvările-model se văd în formular, după trimitere.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ÎNCEPEM</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Un grup de bancă, un telefon</a:t>
            </a:r>
            <a:endParaRPr lang="en-US" sz="3000" dirty="0"/>
          </a:p>
        </p:txBody>
      </p:sp>
      <p:sp>
        <p:nvSpPr>
          <p:cNvPr id="4" name="Shape 2"/>
          <p:cNvSpPr/>
          <p:nvPr/>
        </p:nvSpPr>
        <p:spPr>
          <a:xfrm>
            <a:off x="594360" y="1764792"/>
            <a:ext cx="73152" cy="685800"/>
          </a:xfrm>
          <a:prstGeom prst="rect">
            <a:avLst/>
          </a:prstGeom>
          <a:solidFill>
            <a:srgbClr val="FF4757"/>
          </a:solidFill>
          <a:ln w="12700">
            <a:solidFill>
              <a:srgbClr val="FF4757"/>
            </a:solidFill>
            <a:prstDash val="solid"/>
          </a:ln>
        </p:spPr>
        <p:txBody>
          <a:bodyPr/>
          <a:p/>
        </p:txBody>
      </p:sp>
      <p:sp>
        <p:nvSpPr>
          <p:cNvPr id="5" name="Text 3"/>
          <p:cNvSpPr/>
          <p:nvPr/>
        </p:nvSpPr>
        <p:spPr>
          <a:xfrm>
            <a:off x="868680" y="1691640"/>
            <a:ext cx="6675120" cy="86868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Formați grupuri de trei sau patru vecini de bancă.</a:t>
            </a:r>
            <a:endParaRPr lang="en-US" sz="2000" dirty="0"/>
          </a:p>
        </p:txBody>
      </p:sp>
      <p:sp>
        <p:nvSpPr>
          <p:cNvPr id="6" name="Shape 4"/>
          <p:cNvSpPr/>
          <p:nvPr/>
        </p:nvSpPr>
        <p:spPr>
          <a:xfrm>
            <a:off x="594360" y="2770632"/>
            <a:ext cx="73152" cy="685800"/>
          </a:xfrm>
          <a:prstGeom prst="rect">
            <a:avLst/>
          </a:prstGeom>
          <a:solidFill>
            <a:srgbClr val="FFC24B"/>
          </a:solidFill>
          <a:ln w="12700">
            <a:solidFill>
              <a:srgbClr val="FFC24B"/>
            </a:solidFill>
            <a:prstDash val="solid"/>
          </a:ln>
        </p:spPr>
        <p:txBody>
          <a:bodyPr/>
          <a:p/>
        </p:txBody>
      </p:sp>
      <p:sp>
        <p:nvSpPr>
          <p:cNvPr id="7" name="Text 5"/>
          <p:cNvSpPr/>
          <p:nvPr/>
        </p:nvSpPr>
        <p:spPr>
          <a:xfrm>
            <a:off x="868680" y="2697480"/>
            <a:ext cx="6675120" cy="86868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Alegeți telefonul pe care completează grupul.</a:t>
            </a:r>
            <a:endParaRPr lang="en-US" sz="2000" dirty="0"/>
          </a:p>
        </p:txBody>
      </p:sp>
      <p:sp>
        <p:nvSpPr>
          <p:cNvPr id="8" name="Shape 6"/>
          <p:cNvSpPr/>
          <p:nvPr/>
        </p:nvSpPr>
        <p:spPr>
          <a:xfrm>
            <a:off x="594360" y="3776472"/>
            <a:ext cx="73152" cy="685800"/>
          </a:xfrm>
          <a:prstGeom prst="rect">
            <a:avLst/>
          </a:prstGeom>
          <a:solidFill>
            <a:srgbClr val="27D3BE"/>
          </a:solidFill>
          <a:ln w="12700">
            <a:solidFill>
              <a:srgbClr val="27D3BE"/>
            </a:solidFill>
            <a:prstDash val="solid"/>
          </a:ln>
        </p:spPr>
        <p:txBody>
          <a:bodyPr/>
          <a:p/>
        </p:txBody>
      </p:sp>
      <p:sp>
        <p:nvSpPr>
          <p:cNvPr id="9" name="Text 7"/>
          <p:cNvSpPr/>
          <p:nvPr/>
        </p:nvSpPr>
        <p:spPr>
          <a:xfrm>
            <a:off x="868680" y="3703320"/>
            <a:ext cx="6675120" cy="86868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Scanați codul și conectați-vă cu contul UMF.</a:t>
            </a:r>
            <a:endParaRPr lang="en-US" sz="2000" dirty="0"/>
          </a:p>
        </p:txBody>
      </p:sp>
      <p:sp>
        <p:nvSpPr>
          <p:cNvPr id="10" name="Shape 8"/>
          <p:cNvSpPr/>
          <p:nvPr/>
        </p:nvSpPr>
        <p:spPr>
          <a:xfrm>
            <a:off x="594360" y="4782312"/>
            <a:ext cx="73152" cy="685800"/>
          </a:xfrm>
          <a:prstGeom prst="rect">
            <a:avLst/>
          </a:prstGeom>
          <a:solidFill>
            <a:srgbClr val="9B7EF7"/>
          </a:solidFill>
          <a:ln w="12700">
            <a:solidFill>
              <a:srgbClr val="9B7EF7"/>
            </a:solidFill>
            <a:prstDash val="solid"/>
          </a:ln>
        </p:spPr>
        <p:txBody>
          <a:bodyPr/>
          <a:p/>
        </p:txBody>
      </p:sp>
      <p:sp>
        <p:nvSpPr>
          <p:cNvPr id="11" name="Text 9"/>
          <p:cNvSpPr/>
          <p:nvPr/>
        </p:nvSpPr>
        <p:spPr>
          <a:xfrm>
            <a:off x="868680" y="4709160"/>
            <a:ext cx="6675120" cy="86868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La prima întrebare scrieți grupa și inițialele membrilor.</a:t>
            </a:r>
            <a:endParaRPr lang="en-US" sz="2000" dirty="0"/>
          </a:p>
        </p:txBody>
      </p:sp>
      <p:sp>
        <p:nvSpPr>
          <p:cNvPr id="12" name="Shape 10"/>
          <p:cNvSpPr/>
          <p:nvPr/>
        </p:nvSpPr>
        <p:spPr>
          <a:xfrm>
            <a:off x="8138160" y="1691640"/>
            <a:ext cx="3429000" cy="3429000"/>
          </a:xfrm>
          <a:prstGeom prst="roundRect">
            <a:avLst>
              <a:gd name="adj" fmla="val 2400"/>
            </a:avLst>
          </a:prstGeom>
          <a:solidFill>
            <a:srgbClr val="FFFFFF"/>
          </a:solidFill>
          <a:ln w="12700">
            <a:solidFill>
              <a:srgbClr val="FFFFFF"/>
            </a:solidFill>
            <a:prstDash val="solid"/>
          </a:ln>
        </p:spPr>
        <p:txBody>
          <a:bodyPr/>
          <a:p/>
        </p:txBody>
      </p:sp>
      <p:sp>
        <p:nvSpPr>
          <p:cNvPr id="14" name="Text 12"/>
          <p:cNvSpPr/>
          <p:nvPr/>
        </p:nvSpPr>
        <p:spPr>
          <a:xfrm>
            <a:off x="8138160" y="5257800"/>
            <a:ext cx="3429000" cy="457200"/>
          </a:xfrm>
          <a:prstGeom prst="rect">
            <a:avLst/>
          </a:prstGeom>
          <a:noFill/>
          <a:ln/>
        </p:spPr>
        <p:txBody>
          <a:bodyPr wrap="square" lIns="0" tIns="0" rIns="0" bIns="0" rtlCol="0" anchor="t"/>
          <a:lstStyle/>
          <a:p>
            <a:pPr algn="ctr" indent="0" marL="0">
              <a:buNone/>
            </a:pPr>
            <a:r>
              <a:rPr lang="en-US" sz="1800" b="1" dirty="0">
                <a:solidFill>
                  <a:srgbClr val="27D3BE"/>
                </a:solidFill>
                <a:latin typeface="Palatino Linotype" pitchFamily="34" charset="0"/>
                <a:ea typeface="Palatino Linotype" pitchFamily="34" charset="-122"/>
                <a:cs typeface="Palatino Linotype" pitchFamily="34" charset="-120"/>
              </a:rPr>
              <a:t>Formularul sălii</a:t>
            </a:r>
            <a:endParaRPr lang="en-US" sz="1800" dirty="0"/>
          </a:p>
        </p:txBody>
      </p:sp>
      <p:sp>
        <p:nvSpPr>
          <p:cNvPr id="15" name="Text 13"/>
          <p:cNvSpPr/>
          <p:nvPr/>
        </p:nvSpPr>
        <p:spPr>
          <a:xfrm>
            <a:off x="594360" y="5760720"/>
            <a:ext cx="6949440" cy="640080"/>
          </a:xfrm>
          <a:prstGeom prst="rect">
            <a:avLst/>
          </a:prstGeom>
          <a:noFill/>
          <a:ln/>
        </p:spPr>
        <p:txBody>
          <a:bodyPr wrap="square" lIns="0" tIns="0" rIns="0" bIns="0" rtlCol="0" anchor="t"/>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Nimeni nu lucrează pe hârtie. Dacă telefonul unui grup nu se conectează, grupul se alătură grupului vecin.</a:t>
            </a:r>
            <a:endParaRPr lang="en-US" sz="1400" dirty="0"/>
          </a:p>
        </p:txBody>
      </p:sp>
      <p:pic>
        <p:nvPicPr>
          <p:cNvPr id="16" name="Picture 15" descr="BFKIII_LP02_sala.png"/>
          <p:cNvPicPr>
            <a:picLocks noChangeAspect="1"/>
          </p:cNvPicPr>
          <p:nvPr/>
        </p:nvPicPr>
        <p:blipFill>
          <a:blip r:embed="rId3"/>
          <a:stretch>
            <a:fillRect/>
          </a:stretch>
        </p:blipFill>
        <p:spPr>
          <a:xfrm>
            <a:off x="8344535" y="1691640"/>
            <a:ext cx="3016250" cy="3016250"/>
          </a:xfrm>
          <a:prstGeom prst="rect">
            <a:avLst/>
          </a:prstGeom>
        </p:spPr>
      </p:pic>
      <p:sp>
        <p:nvSpPr>
          <p:cNvPr id="17" name="TextBox 16"/>
          <p:cNvSpPr txBox="1"/>
          <p:nvPr/>
        </p:nvSpPr>
        <p:spPr>
          <a:xfrm>
            <a:off x="8138160" y="4745990"/>
            <a:ext cx="3429000" cy="412750"/>
          </a:xfrm>
          <a:prstGeom prst="rect">
            <a:avLst/>
          </a:prstGeom>
          <a:noFill/>
        </p:spPr>
        <p:txBody>
          <a:bodyPr wrap="square" lIns="0" rIns="0" tIns="0" bIns="0" anchor="t">
            <a:spAutoFit/>
          </a:bodyPr>
          <a:lstStyle/>
          <a:p>
            <a:pPr algn="ctr"/>
            <a:r>
              <a:rPr sz="1300" b="1">
                <a:solidFill>
                  <a:srgbClr val="B02532"/>
                </a:solidFill>
                <a:latin typeface="Palatino Linotype"/>
              </a:rPr>
              <a:t>formularul sălii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7E3D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BFKIII/active/img/sat_roades_commons.jpg">    </p:cNvPr>
          <p:cNvPicPr>
            <a:picLocks noChangeAspect="1"/>
          </p:cNvPicPr>
          <p:nvPr/>
        </p:nvPicPr>
        <p:blipFill>
          <a:blip r:embed="rId1"/>
          <a:srcRect l="0" r="0" t="0" b="0"/>
          <a:stretch/>
        </p:blipFill>
        <p:spPr>
          <a:xfrm>
            <a:off x="0" y="0"/>
            <a:ext cx="5486400" cy="6858000"/>
          </a:xfrm>
          <a:prstGeom prst="rect">
            <a:avLst/>
          </a:prstGeom>
        </p:spPr>
      </p:pic>
      <p:sp>
        <p:nvSpPr>
          <p:cNvPr id="3" name="Shape 0"/>
          <p:cNvSpPr/>
          <p:nvPr/>
        </p:nvSpPr>
        <p:spPr>
          <a:xfrm>
            <a:off x="0" y="6144768"/>
            <a:ext cx="5486400" cy="713232"/>
          </a:xfrm>
          <a:prstGeom prst="rect">
            <a:avLst/>
          </a:prstGeom>
          <a:solidFill>
            <a:srgbClr val="11121A">
              <a:alpha val="75000"/>
            </a:srgbClr>
          </a:solidFill>
          <a:ln w="12700">
            <a:solidFill>
              <a:srgbClr val="11121A"/>
            </a:solidFill>
            <a:prstDash val="solid"/>
          </a:ln>
        </p:spPr>
        <p:txBody>
          <a:bodyPr/>
          <a:p/>
        </p:txBody>
      </p:sp>
      <p:sp>
        <p:nvSpPr>
          <p:cNvPr id="4" name="Text 1"/>
          <p:cNvSpPr/>
          <p:nvPr/>
        </p:nvSpPr>
        <p:spPr>
          <a:xfrm>
            <a:off x="228600" y="6181344"/>
            <a:ext cx="5029200" cy="384048"/>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Uliță dintr-un sat din Transilvania</a:t>
            </a:r>
            <a:endParaRPr lang="en-US" sz="1100" dirty="0"/>
          </a:p>
        </p:txBody>
      </p:sp>
      <p:sp>
        <p:nvSpPr>
          <p:cNvPr id="5" name="Text 2"/>
          <p:cNvSpPr/>
          <p:nvPr/>
        </p:nvSpPr>
        <p:spPr>
          <a:xfrm>
            <a:off x="228600" y="6565392"/>
            <a:ext cx="5029200" cy="219456"/>
          </a:xfrm>
          <a:prstGeom prst="rect">
            <a:avLst/>
          </a:prstGeom>
          <a:noFill/>
          <a:ln/>
        </p:spPr>
        <p:txBody>
          <a:bodyPr wrap="square" lIns="0" tIns="0" rIns="0" bIns="0" rtlCol="0" anchor="ctr"/>
          <a:lstStyle/>
          <a:p>
            <a:pPr indent="0" marL="0">
              <a:buNone/>
            </a:pPr>
            <a:r>
              <a:rPr lang="en-US" sz="850" i="1" dirty="0">
                <a:solidFill>
                  <a:srgbClr val="C9CCD8"/>
                </a:solidFill>
                <a:latin typeface="Palatino Linotype" pitchFamily="34" charset="0"/>
                <a:ea typeface="Palatino Linotype" pitchFamily="34" charset="-122"/>
                <a:cs typeface="Palatino Linotype" pitchFamily="34" charset="-120"/>
              </a:rPr>
              <a:t>Sursa: Whitepixels, Wikimedia Commons · CC0</a:t>
            </a:r>
            <a:endParaRPr lang="en-US" sz="850" dirty="0"/>
          </a:p>
        </p:txBody>
      </p:sp>
      <p:sp>
        <p:nvSpPr>
          <p:cNvPr id="6" name="Text 3"/>
          <p:cNvSpPr/>
          <p:nvPr/>
        </p:nvSpPr>
        <p:spPr>
          <a:xfrm>
            <a:off x="5943600" y="347472"/>
            <a:ext cx="58521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PARTEA I · CAZUL COMUNEI</a:t>
            </a:r>
            <a:endParaRPr lang="en-US" sz="1300" dirty="0"/>
          </a:p>
        </p:txBody>
      </p:sp>
      <p:sp>
        <p:nvSpPr>
          <p:cNvPr id="7" name="Text 4"/>
          <p:cNvSpPr/>
          <p:nvPr/>
        </p:nvSpPr>
        <p:spPr>
          <a:xfrm>
            <a:off x="5943600" y="713232"/>
            <a:ext cx="5852160" cy="64008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Vârstnicii unei comune</a:t>
            </a:r>
            <a:endParaRPr lang="en-US" sz="3000" dirty="0"/>
          </a:p>
        </p:txBody>
      </p:sp>
      <p:sp>
        <p:nvSpPr>
          <p:cNvPr id="8" name="Shape 5"/>
          <p:cNvSpPr/>
          <p:nvPr/>
        </p:nvSpPr>
        <p:spPr>
          <a:xfrm>
            <a:off x="5943600" y="1508760"/>
            <a:ext cx="5669280" cy="3794760"/>
          </a:xfrm>
          <a:prstGeom prst="rect">
            <a:avLst/>
          </a:prstGeom>
          <a:solidFill>
            <a:srgbClr val="FFFFFF"/>
          </a:solidFill>
          <a:ln w="9525">
            <a:solidFill>
              <a:srgbClr val="D6D2C8"/>
            </a:solidFill>
            <a:prstDash val="solid"/>
          </a:ln>
          <a:effectLst>
            <a:outerShdw sx="100000" sy="100000" kx="0" ky="0" algn="bl" rotWithShape="0" blurRad="101600" dist="38100" dir="5400000">
              <a:srgbClr val="000000">
                <a:alpha val="18000"/>
              </a:srgbClr>
            </a:outerShdw>
          </a:effectLst>
        </p:spPr>
        <p:txBody>
          <a:bodyPr/>
          <a:p/>
        </p:txBody>
      </p:sp>
      <p:sp>
        <p:nvSpPr>
          <p:cNvPr id="9" name="Shape 6"/>
          <p:cNvSpPr/>
          <p:nvPr/>
        </p:nvSpPr>
        <p:spPr>
          <a:xfrm>
            <a:off x="6217920" y="1783080"/>
            <a:ext cx="64008" cy="868680"/>
          </a:xfrm>
          <a:prstGeom prst="rect">
            <a:avLst/>
          </a:prstGeom>
          <a:solidFill>
            <a:srgbClr val="B02532"/>
          </a:solidFill>
          <a:ln w="12700">
            <a:solidFill>
              <a:srgbClr val="B02532"/>
            </a:solidFill>
            <a:prstDash val="solid"/>
          </a:ln>
        </p:spPr>
        <p:txBody>
          <a:bodyPr/>
          <a:p/>
        </p:txBody>
      </p:sp>
      <p:sp>
        <p:nvSpPr>
          <p:cNvPr id="10" name="Text 7"/>
          <p:cNvSpPr/>
          <p:nvPr/>
        </p:nvSpPr>
        <p:spPr>
          <a:xfrm>
            <a:off x="6446520" y="1737360"/>
            <a:ext cx="4892040" cy="987552"/>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Aproximativ trei mii de locuitori; în jur de șase sute au șaizeci și cinci de ani și peste.</a:t>
            </a:r>
            <a:endParaRPr lang="en-US" sz="1550" dirty="0"/>
          </a:p>
        </p:txBody>
      </p:sp>
      <p:sp>
        <p:nvSpPr>
          <p:cNvPr id="11" name="Shape 8"/>
          <p:cNvSpPr/>
          <p:nvPr/>
        </p:nvSpPr>
        <p:spPr>
          <a:xfrm>
            <a:off x="6217920" y="2880360"/>
            <a:ext cx="64008" cy="868680"/>
          </a:xfrm>
          <a:prstGeom prst="rect">
            <a:avLst/>
          </a:prstGeom>
          <a:solidFill>
            <a:srgbClr val="8A6100"/>
          </a:solidFill>
          <a:ln w="12700">
            <a:solidFill>
              <a:srgbClr val="8A6100"/>
            </a:solidFill>
            <a:prstDash val="solid"/>
          </a:ln>
        </p:spPr>
        <p:txBody>
          <a:bodyPr/>
          <a:p/>
        </p:txBody>
      </p:sp>
      <p:sp>
        <p:nvSpPr>
          <p:cNvPr id="12" name="Text 9"/>
          <p:cNvSpPr/>
          <p:nvPr/>
        </p:nvSpPr>
        <p:spPr>
          <a:xfrm>
            <a:off x="6446520" y="2834640"/>
            <a:ext cx="4892040" cy="987552"/>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Mai mulți vârstnici au căzut în casă sau în curte; doi au fost operați pentru fractură de șold.</a:t>
            </a:r>
            <a:endParaRPr lang="en-US" sz="1550" dirty="0"/>
          </a:p>
        </p:txBody>
      </p:sp>
      <p:sp>
        <p:nvSpPr>
          <p:cNvPr id="13" name="Shape 10"/>
          <p:cNvSpPr/>
          <p:nvPr/>
        </p:nvSpPr>
        <p:spPr>
          <a:xfrm>
            <a:off x="6217920" y="3977640"/>
            <a:ext cx="64008" cy="868680"/>
          </a:xfrm>
          <a:prstGeom prst="rect">
            <a:avLst/>
          </a:prstGeom>
          <a:solidFill>
            <a:srgbClr val="4A2D8C"/>
          </a:solidFill>
          <a:ln w="12700">
            <a:solidFill>
              <a:srgbClr val="4A2D8C"/>
            </a:solidFill>
            <a:prstDash val="solid"/>
          </a:ln>
        </p:spPr>
        <p:txBody>
          <a:bodyPr/>
          <a:p/>
        </p:txBody>
      </p:sp>
      <p:sp>
        <p:nvSpPr>
          <p:cNvPr id="14" name="Text 11"/>
          <p:cNvSpPr/>
          <p:nvPr/>
        </p:nvSpPr>
        <p:spPr>
          <a:xfrm>
            <a:off x="6446520" y="3931920"/>
            <a:ext cx="4892040" cy="987552"/>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Sala primăriei și sala de sport a școlii sunt libere; un fizioterapeut poate veni o dată pe săptămână.</a:t>
            </a:r>
            <a:endParaRPr lang="en-US" sz="1550" dirty="0"/>
          </a:p>
        </p:txBody>
      </p:sp>
      <p:sp>
        <p:nvSpPr>
          <p:cNvPr id="15" name="Text 12"/>
          <p:cNvSpPr/>
          <p:nvPr/>
        </p:nvSpPr>
        <p:spPr>
          <a:xfrm>
            <a:off x="6217920" y="4956048"/>
            <a:ext cx="5120640" cy="256032"/>
          </a:xfrm>
          <a:prstGeom prst="rect">
            <a:avLst/>
          </a:prstGeom>
          <a:noFill/>
          <a:ln/>
        </p:spPr>
        <p:txBody>
          <a:bodyPr wrap="square" lIns="0" tIns="0" rIns="0" bIns="0" rtlCol="0" anchor="t"/>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Caz construit în scop didactic; persoanele nu există.</a:t>
            </a:r>
            <a:endParaRPr lang="en-US" sz="1000" dirty="0"/>
          </a:p>
        </p:txBody>
      </p:sp>
      <p:sp>
        <p:nvSpPr>
          <p:cNvPr id="16" name="Text 13"/>
          <p:cNvSpPr/>
          <p:nvPr/>
        </p:nvSpPr>
        <p:spPr>
          <a:xfrm>
            <a:off x="5943600" y="5440680"/>
            <a:ext cx="5669280" cy="1005840"/>
          </a:xfrm>
          <a:prstGeom prst="rect">
            <a:avLst/>
          </a:prstGeom>
          <a:noFill/>
          <a:ln/>
        </p:spPr>
        <p:txBody>
          <a:bodyPr wrap="square" lIns="0" tIns="0" rIns="0" bIns="0" rtlCol="0" anchor="t"/>
          <a:lstStyle/>
          <a:p>
            <a:pPr indent="0" marL="0">
              <a:buNone/>
            </a:pPr>
            <a:r>
              <a:rPr lang="en-US" sz="1650" b="1" dirty="0">
                <a:solidFill>
                  <a:srgbClr val="B02532"/>
                </a:solidFill>
                <a:latin typeface="Palatino Linotype" pitchFamily="34" charset="0"/>
                <a:ea typeface="Palatino Linotype" pitchFamily="34" charset="-122"/>
                <a:cs typeface="Palatino Linotype" pitchFamily="34" charset="-120"/>
              </a:rPr>
              <a:t>Ce pot face împreună medicul de familie, primarul și fizioterapeutul pentru toți vârstnicii comunei, nu numai pentru cei care au căzut deja?</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FORMULARUL SĂLII</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ANCHETA PE TELEFON</a:t>
            </a:r>
            <a:endParaRPr lang="en-US" sz="1300" dirty="0"/>
          </a:p>
        </p:txBody>
      </p:sp>
      <p:sp>
        <p:nvSpPr>
          <p:cNvPr id="5" name="Text 3"/>
          <p:cNvSpPr/>
          <p:nvPr/>
        </p:nvSpPr>
        <p:spPr>
          <a:xfrm>
            <a:off x="594360" y="713232"/>
            <a:ext cx="7589520" cy="9144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Patru pași, unul după altul</a:t>
            </a:r>
            <a:endParaRPr lang="en-US" sz="3000" dirty="0"/>
          </a:p>
        </p:txBody>
      </p:sp>
      <p:sp>
        <p:nvSpPr>
          <p:cNvPr id="6" name="Shape 4"/>
          <p:cNvSpPr/>
          <p:nvPr/>
        </p:nvSpPr>
        <p:spPr>
          <a:xfrm>
            <a:off x="594360" y="1645920"/>
            <a:ext cx="2606040" cy="2743200"/>
          </a:xfrm>
          <a:prstGeom prst="roundRect">
            <a:avLst>
              <a:gd name="adj" fmla="val 3158"/>
            </a:avLst>
          </a:prstGeom>
          <a:solidFill>
            <a:srgbClr val="272A38"/>
          </a:solidFill>
          <a:ln w="12700">
            <a:solidFill>
              <a:srgbClr val="272A38"/>
            </a:solidFill>
            <a:prstDash val="solid"/>
          </a:ln>
        </p:spPr>
        <p:txBody>
          <a:bodyPr/>
          <a:p/>
        </p:txBody>
      </p:sp>
      <p:sp>
        <p:nvSpPr>
          <p:cNvPr id="7" name="Shape 5"/>
          <p:cNvSpPr/>
          <p:nvPr/>
        </p:nvSpPr>
        <p:spPr>
          <a:xfrm>
            <a:off x="594360" y="1645920"/>
            <a:ext cx="2606040" cy="73152"/>
          </a:xfrm>
          <a:prstGeom prst="rect">
            <a:avLst/>
          </a:prstGeom>
          <a:solidFill>
            <a:srgbClr val="FF4757"/>
          </a:solidFill>
          <a:ln w="12700">
            <a:solidFill>
              <a:srgbClr val="FF4757"/>
            </a:solidFill>
            <a:prstDash val="solid"/>
          </a:ln>
        </p:spPr>
        <p:txBody>
          <a:bodyPr/>
          <a:p/>
        </p:txBody>
      </p:sp>
      <p:sp>
        <p:nvSpPr>
          <p:cNvPr id="8" name="Shape 6"/>
          <p:cNvSpPr/>
          <p:nvPr/>
        </p:nvSpPr>
        <p:spPr>
          <a:xfrm>
            <a:off x="822960" y="1920240"/>
            <a:ext cx="457200" cy="457200"/>
          </a:xfrm>
          <a:prstGeom prst="ellipse">
            <a:avLst/>
          </a:prstGeom>
          <a:solidFill>
            <a:srgbClr val="FF4757"/>
          </a:solidFill>
          <a:ln/>
        </p:spPr>
        <p:txBody>
          <a:bodyPr/>
          <a:p/>
        </p:txBody>
      </p:sp>
      <p:sp>
        <p:nvSpPr>
          <p:cNvPr id="9" name="Text 7"/>
          <p:cNvSpPr/>
          <p:nvPr/>
        </p:nvSpPr>
        <p:spPr>
          <a:xfrm>
            <a:off x="822960" y="1920240"/>
            <a:ext cx="457200" cy="457200"/>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822960" y="2560320"/>
            <a:ext cx="2194560" cy="731520"/>
          </a:xfrm>
          <a:prstGeom prst="rect">
            <a:avLst/>
          </a:prstGeom>
          <a:noFill/>
          <a:ln/>
        </p:spPr>
        <p:txBody>
          <a:bodyPr wrap="square" lIns="0" tIns="0" rIns="0" bIns="0" rtlCol="0" anchor="t"/>
          <a:lstStyle/>
          <a:p>
            <a:pPr indent="0" marL="0">
              <a:buNone/>
            </a:pPr>
            <a:r>
              <a:rPr lang="en-US" sz="1800" b="1" dirty="0">
                <a:solidFill>
                  <a:srgbClr val="FF4757"/>
                </a:solidFill>
                <a:latin typeface="Palatino Linotype" pitchFamily="34" charset="0"/>
                <a:ea typeface="Palatino Linotype" pitchFamily="34" charset="-122"/>
                <a:cs typeface="Palatino Linotype" pitchFamily="34" charset="-120"/>
              </a:rPr>
              <a:t>Problema, cu o cifră</a:t>
            </a:r>
            <a:endParaRPr lang="en-US" sz="1800" dirty="0"/>
          </a:p>
        </p:txBody>
      </p:sp>
      <p:sp>
        <p:nvSpPr>
          <p:cNvPr id="11" name="Text 9"/>
          <p:cNvSpPr/>
          <p:nvPr/>
        </p:nvSpPr>
        <p:spPr>
          <a:xfrm>
            <a:off x="822960" y="3246120"/>
            <a:ext cx="2194560" cy="105156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Alegeți citarea corectă a cifrei despre vârstnici.</a:t>
            </a:r>
            <a:endParaRPr lang="en-US" sz="1450" dirty="0"/>
          </a:p>
        </p:txBody>
      </p:sp>
      <p:sp>
        <p:nvSpPr>
          <p:cNvPr id="12" name="Shape 10"/>
          <p:cNvSpPr/>
          <p:nvPr/>
        </p:nvSpPr>
        <p:spPr>
          <a:xfrm>
            <a:off x="3383280" y="1645920"/>
            <a:ext cx="2606040" cy="2743200"/>
          </a:xfrm>
          <a:prstGeom prst="roundRect">
            <a:avLst>
              <a:gd name="adj" fmla="val 3158"/>
            </a:avLst>
          </a:prstGeom>
          <a:solidFill>
            <a:srgbClr val="272A38"/>
          </a:solidFill>
          <a:ln w="12700">
            <a:solidFill>
              <a:srgbClr val="272A38"/>
            </a:solidFill>
            <a:prstDash val="solid"/>
          </a:ln>
        </p:spPr>
        <p:txBody>
          <a:bodyPr/>
          <a:p/>
        </p:txBody>
      </p:sp>
      <p:sp>
        <p:nvSpPr>
          <p:cNvPr id="13" name="Shape 11"/>
          <p:cNvSpPr/>
          <p:nvPr/>
        </p:nvSpPr>
        <p:spPr>
          <a:xfrm>
            <a:off x="3383280" y="1645920"/>
            <a:ext cx="2606040" cy="73152"/>
          </a:xfrm>
          <a:prstGeom prst="rect">
            <a:avLst/>
          </a:prstGeom>
          <a:solidFill>
            <a:srgbClr val="FFC24B"/>
          </a:solidFill>
          <a:ln w="12700">
            <a:solidFill>
              <a:srgbClr val="FFC24B"/>
            </a:solidFill>
            <a:prstDash val="solid"/>
          </a:ln>
        </p:spPr>
        <p:txBody>
          <a:bodyPr/>
          <a:p/>
        </p:txBody>
      </p:sp>
      <p:sp>
        <p:nvSpPr>
          <p:cNvPr id="14" name="Shape 12"/>
          <p:cNvSpPr/>
          <p:nvPr/>
        </p:nvSpPr>
        <p:spPr>
          <a:xfrm>
            <a:off x="3611880" y="1920240"/>
            <a:ext cx="457200" cy="457200"/>
          </a:xfrm>
          <a:prstGeom prst="ellipse">
            <a:avLst/>
          </a:prstGeom>
          <a:solidFill>
            <a:srgbClr val="FFC24B"/>
          </a:solidFill>
          <a:ln/>
        </p:spPr>
        <p:txBody>
          <a:bodyPr/>
          <a:p/>
        </p:txBody>
      </p:sp>
      <p:sp>
        <p:nvSpPr>
          <p:cNvPr id="15" name="Text 13"/>
          <p:cNvSpPr/>
          <p:nvPr/>
        </p:nvSpPr>
        <p:spPr>
          <a:xfrm>
            <a:off x="3611880" y="1920240"/>
            <a:ext cx="457200" cy="457200"/>
          </a:xfrm>
          <a:prstGeom prst="rect">
            <a:avLst/>
          </a:prstGeom>
          <a:noFill/>
          <a:ln/>
        </p:spPr>
        <p:txBody>
          <a:bodyPr wrap="square" lIns="0" tIns="0" rIns="0" bIns="0" rtlCol="0" anchor="ctr"/>
          <a:lstStyle/>
          <a:p>
            <a:pPr algn="ctr" indent="0" marL="0">
              <a:buNone/>
            </a:pPr>
            <a:r>
              <a:rPr lang="en-US" sz="1400" b="1" dirty="0">
                <a:solidFill>
                  <a:srgbClr val="3D2A00"/>
                </a:solidFill>
                <a:latin typeface="Palatino Linotype" pitchFamily="34" charset="0"/>
                <a:ea typeface="Palatino Linotype" pitchFamily="34" charset="-122"/>
                <a:cs typeface="Palatino Linotype" pitchFamily="34" charset="-120"/>
              </a:rPr>
              <a:t>2</a:t>
            </a:r>
            <a:endParaRPr lang="en-US" sz="1400" dirty="0"/>
          </a:p>
        </p:txBody>
      </p:sp>
      <p:sp>
        <p:nvSpPr>
          <p:cNvPr id="16" name="Text 14"/>
          <p:cNvSpPr/>
          <p:nvPr/>
        </p:nvSpPr>
        <p:spPr>
          <a:xfrm>
            <a:off x="3611880" y="2560320"/>
            <a:ext cx="2194560" cy="73152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Recomandarea</a:t>
            </a:r>
            <a:endParaRPr lang="en-US" sz="1800" dirty="0"/>
          </a:p>
        </p:txBody>
      </p:sp>
      <p:sp>
        <p:nvSpPr>
          <p:cNvPr id="17" name="Text 15"/>
          <p:cNvSpPr/>
          <p:nvPr/>
        </p:nvSpPr>
        <p:spPr>
          <a:xfrm>
            <a:off x="3611880" y="3246120"/>
            <a:ext cx="2194560" cy="105156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Alegeți recomandarea OMS potrivită vârstnicilor.</a:t>
            </a:r>
            <a:endParaRPr lang="en-US" sz="1450" dirty="0"/>
          </a:p>
        </p:txBody>
      </p:sp>
      <p:sp>
        <p:nvSpPr>
          <p:cNvPr id="18" name="Shape 16"/>
          <p:cNvSpPr/>
          <p:nvPr/>
        </p:nvSpPr>
        <p:spPr>
          <a:xfrm>
            <a:off x="6172200" y="1645920"/>
            <a:ext cx="2606040" cy="2743200"/>
          </a:xfrm>
          <a:prstGeom prst="roundRect">
            <a:avLst>
              <a:gd name="adj" fmla="val 3158"/>
            </a:avLst>
          </a:prstGeom>
          <a:solidFill>
            <a:srgbClr val="272A38"/>
          </a:solidFill>
          <a:ln w="12700">
            <a:solidFill>
              <a:srgbClr val="272A38"/>
            </a:solidFill>
            <a:prstDash val="solid"/>
          </a:ln>
        </p:spPr>
        <p:txBody>
          <a:bodyPr/>
          <a:p/>
        </p:txBody>
      </p:sp>
      <p:sp>
        <p:nvSpPr>
          <p:cNvPr id="19" name="Shape 17"/>
          <p:cNvSpPr/>
          <p:nvPr/>
        </p:nvSpPr>
        <p:spPr>
          <a:xfrm>
            <a:off x="6172200" y="1645920"/>
            <a:ext cx="2606040" cy="73152"/>
          </a:xfrm>
          <a:prstGeom prst="rect">
            <a:avLst/>
          </a:prstGeom>
          <a:solidFill>
            <a:srgbClr val="27D3BE"/>
          </a:solidFill>
          <a:ln w="12700">
            <a:solidFill>
              <a:srgbClr val="27D3BE"/>
            </a:solidFill>
            <a:prstDash val="solid"/>
          </a:ln>
        </p:spPr>
        <p:txBody>
          <a:bodyPr/>
          <a:p/>
        </p:txBody>
      </p:sp>
      <p:sp>
        <p:nvSpPr>
          <p:cNvPr id="20" name="Shape 18"/>
          <p:cNvSpPr/>
          <p:nvPr/>
        </p:nvSpPr>
        <p:spPr>
          <a:xfrm>
            <a:off x="6400800" y="1920240"/>
            <a:ext cx="457200" cy="457200"/>
          </a:xfrm>
          <a:prstGeom prst="ellipse">
            <a:avLst/>
          </a:prstGeom>
          <a:solidFill>
            <a:srgbClr val="27D3BE"/>
          </a:solidFill>
          <a:ln/>
        </p:spPr>
        <p:txBody>
          <a:bodyPr/>
          <a:p/>
        </p:txBody>
      </p:sp>
      <p:sp>
        <p:nvSpPr>
          <p:cNvPr id="21" name="Text 19"/>
          <p:cNvSpPr/>
          <p:nvPr/>
        </p:nvSpPr>
        <p:spPr>
          <a:xfrm>
            <a:off x="6400800" y="1920240"/>
            <a:ext cx="457200" cy="457200"/>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3</a:t>
            </a:r>
            <a:endParaRPr lang="en-US" sz="1400" dirty="0"/>
          </a:p>
        </p:txBody>
      </p:sp>
      <p:sp>
        <p:nvSpPr>
          <p:cNvPr id="22" name="Text 20"/>
          <p:cNvSpPr/>
          <p:nvPr/>
        </p:nvSpPr>
        <p:spPr>
          <a:xfrm>
            <a:off x="6400800" y="2560320"/>
            <a:ext cx="2194560" cy="73152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Obiectivul SMART</a:t>
            </a:r>
            <a:endParaRPr lang="en-US" sz="1800" dirty="0"/>
          </a:p>
        </p:txBody>
      </p:sp>
      <p:sp>
        <p:nvSpPr>
          <p:cNvPr id="23" name="Text 21"/>
          <p:cNvSpPr/>
          <p:nvPr/>
        </p:nvSpPr>
        <p:spPr>
          <a:xfrm>
            <a:off x="6400800" y="3246120"/>
            <a:ext cx="2194560" cy="105156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Alegeți obiectivul care se poate verifica.</a:t>
            </a:r>
            <a:endParaRPr lang="en-US" sz="1450" dirty="0"/>
          </a:p>
        </p:txBody>
      </p:sp>
      <p:sp>
        <p:nvSpPr>
          <p:cNvPr id="24" name="Shape 22"/>
          <p:cNvSpPr/>
          <p:nvPr/>
        </p:nvSpPr>
        <p:spPr>
          <a:xfrm>
            <a:off x="8961120" y="1645920"/>
            <a:ext cx="2606040" cy="2743200"/>
          </a:xfrm>
          <a:prstGeom prst="roundRect">
            <a:avLst>
              <a:gd name="adj" fmla="val 3158"/>
            </a:avLst>
          </a:prstGeom>
          <a:solidFill>
            <a:srgbClr val="272A38"/>
          </a:solidFill>
          <a:ln w="12700">
            <a:solidFill>
              <a:srgbClr val="272A38"/>
            </a:solidFill>
            <a:prstDash val="solid"/>
          </a:ln>
        </p:spPr>
        <p:txBody>
          <a:bodyPr/>
          <a:p/>
        </p:txBody>
      </p:sp>
      <p:sp>
        <p:nvSpPr>
          <p:cNvPr id="25" name="Shape 23"/>
          <p:cNvSpPr/>
          <p:nvPr/>
        </p:nvSpPr>
        <p:spPr>
          <a:xfrm>
            <a:off x="8961120" y="1645920"/>
            <a:ext cx="2606040" cy="73152"/>
          </a:xfrm>
          <a:prstGeom prst="rect">
            <a:avLst/>
          </a:prstGeom>
          <a:solidFill>
            <a:srgbClr val="9B7EF7"/>
          </a:solidFill>
          <a:ln w="12700">
            <a:solidFill>
              <a:srgbClr val="9B7EF7"/>
            </a:solidFill>
            <a:prstDash val="solid"/>
          </a:ln>
        </p:spPr>
        <p:txBody>
          <a:bodyPr/>
          <a:p/>
        </p:txBody>
      </p:sp>
      <p:sp>
        <p:nvSpPr>
          <p:cNvPr id="26" name="Shape 24"/>
          <p:cNvSpPr/>
          <p:nvPr/>
        </p:nvSpPr>
        <p:spPr>
          <a:xfrm>
            <a:off x="9189720" y="1920240"/>
            <a:ext cx="457200" cy="457200"/>
          </a:xfrm>
          <a:prstGeom prst="ellipse">
            <a:avLst/>
          </a:prstGeom>
          <a:solidFill>
            <a:srgbClr val="9B7EF7"/>
          </a:solidFill>
          <a:ln/>
        </p:spPr>
        <p:txBody>
          <a:bodyPr/>
          <a:p/>
        </p:txBody>
      </p:sp>
      <p:sp>
        <p:nvSpPr>
          <p:cNvPr id="27" name="Text 25"/>
          <p:cNvSpPr/>
          <p:nvPr/>
        </p:nvSpPr>
        <p:spPr>
          <a:xfrm>
            <a:off x="9189720" y="1920240"/>
            <a:ext cx="457200" cy="457200"/>
          </a:xfrm>
          <a:prstGeom prst="rect">
            <a:avLst/>
          </a:prstGeom>
          <a:noFill/>
          <a:ln/>
        </p:spPr>
        <p:txBody>
          <a:bodyPr wrap="square" lIns="0" tIns="0" rIns="0" bIns="0" rtlCol="0" anchor="ctr"/>
          <a:lstStyle/>
          <a:p>
            <a:pPr algn="ctr" indent="0" marL="0">
              <a:buNone/>
            </a:pPr>
            <a:r>
              <a:rPr lang="en-US" sz="1400" b="1" dirty="0">
                <a:solidFill>
                  <a:srgbClr val="1F1040"/>
                </a:solidFill>
                <a:latin typeface="Palatino Linotype" pitchFamily="34" charset="0"/>
                <a:ea typeface="Palatino Linotype" pitchFamily="34" charset="-122"/>
                <a:cs typeface="Palatino Linotype" pitchFamily="34" charset="-120"/>
              </a:rPr>
              <a:t>4</a:t>
            </a:r>
            <a:endParaRPr lang="en-US" sz="1400" dirty="0"/>
          </a:p>
        </p:txBody>
      </p:sp>
      <p:sp>
        <p:nvSpPr>
          <p:cNvPr id="28" name="Text 26"/>
          <p:cNvSpPr/>
          <p:nvPr/>
        </p:nvSpPr>
        <p:spPr>
          <a:xfrm>
            <a:off x="9189720" y="2560320"/>
            <a:ext cx="2194560" cy="731520"/>
          </a:xfrm>
          <a:prstGeom prst="rect">
            <a:avLst/>
          </a:prstGeom>
          <a:noFill/>
          <a:ln/>
        </p:spPr>
        <p:txBody>
          <a:bodyPr wrap="square" lIns="0" tIns="0" rIns="0" bIns="0" rtlCol="0" anchor="t"/>
          <a:lstStyle/>
          <a:p>
            <a:pPr indent="0" marL="0">
              <a:buNone/>
            </a:pPr>
            <a:r>
              <a:rPr lang="en-US" sz="1800" b="1" dirty="0">
                <a:solidFill>
                  <a:srgbClr val="9B7EF7"/>
                </a:solidFill>
                <a:latin typeface="Palatino Linotype" pitchFamily="34" charset="0"/>
                <a:ea typeface="Palatino Linotype" pitchFamily="34" charset="-122"/>
                <a:cs typeface="Palatino Linotype" pitchFamily="34" charset="-120"/>
              </a:rPr>
              <a:t>Indicatorul de rezultat</a:t>
            </a:r>
            <a:endParaRPr lang="en-US" sz="1800" dirty="0"/>
          </a:p>
        </p:txBody>
      </p:sp>
      <p:sp>
        <p:nvSpPr>
          <p:cNvPr id="29" name="Text 27"/>
          <p:cNvSpPr/>
          <p:nvPr/>
        </p:nvSpPr>
        <p:spPr>
          <a:xfrm>
            <a:off x="9189720" y="3246120"/>
            <a:ext cx="2194560" cy="105156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Alegeți indicatorul care măsoară o schimbare.</a:t>
            </a:r>
            <a:endParaRPr lang="en-US" sz="1450" dirty="0"/>
          </a:p>
        </p:txBody>
      </p:sp>
      <p:sp>
        <p:nvSpPr>
          <p:cNvPr id="30" name="Shape 28"/>
          <p:cNvSpPr/>
          <p:nvPr/>
        </p:nvSpPr>
        <p:spPr>
          <a:xfrm>
            <a:off x="594360" y="4617720"/>
            <a:ext cx="10972800" cy="1371600"/>
          </a:xfrm>
          <a:prstGeom prst="roundRect">
            <a:avLst>
              <a:gd name="adj" fmla="val 6000"/>
            </a:avLst>
          </a:prstGeom>
          <a:solidFill>
            <a:srgbClr val="1D1F2B"/>
          </a:solidFill>
          <a:ln w="12700">
            <a:solidFill>
              <a:srgbClr val="1D1F2B"/>
            </a:solidFill>
            <a:prstDash val="solid"/>
          </a:ln>
        </p:spPr>
        <p:txBody>
          <a:bodyPr/>
          <a:p/>
        </p:txBody>
      </p:sp>
      <p:sp>
        <p:nvSpPr>
          <p:cNvPr id="31" name="Shape 29"/>
          <p:cNvSpPr/>
          <p:nvPr/>
        </p:nvSpPr>
        <p:spPr>
          <a:xfrm>
            <a:off x="594360" y="4617720"/>
            <a:ext cx="82296" cy="1371600"/>
          </a:xfrm>
          <a:prstGeom prst="rect">
            <a:avLst/>
          </a:prstGeom>
          <a:solidFill>
            <a:srgbClr val="FFC24B"/>
          </a:solidFill>
          <a:ln w="12700">
            <a:solidFill>
              <a:srgbClr val="FFC24B"/>
            </a:solidFill>
            <a:prstDash val="solid"/>
          </a:ln>
        </p:spPr>
        <p:txBody>
          <a:bodyPr/>
          <a:p/>
        </p:txBody>
      </p:sp>
      <p:sp>
        <p:nvSpPr>
          <p:cNvPr id="32" name="Text 30"/>
          <p:cNvSpPr/>
          <p:nvPr/>
        </p:nvSpPr>
        <p:spPr>
          <a:xfrm>
            <a:off x="914400" y="4617720"/>
            <a:ext cx="10424160" cy="137160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Cum merge: </a:t>
            </a:r>
            <a:pPr indent="0" marL="0">
              <a:buNone/>
            </a:pPr>
            <a:r>
              <a:rPr lang="en-US" sz="1700" dirty="0">
                <a:solidFill>
                  <a:srgbClr val="FFFFFF"/>
                </a:solidFill>
                <a:latin typeface="Palatino Linotype" pitchFamily="34" charset="0"/>
                <a:ea typeface="Palatino Linotype" pitchFamily="34" charset="-122"/>
                <a:cs typeface="Palatino Linotype" pitchFamily="34" charset="-120"/>
              </a:rPr>
              <a:t>un pas se deschide numai după răspunsul corect. După un răspuns greșit, formularul arată un indiciu și vă întoarce la pas. După fiecare pas, distribuția răspunsurilor apare pe ecran și discutăm unde s-a greșit.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DUPĂ LUCRARE · REZOLVĂRILE</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Cei patru pași, cu răspunsurile corecte</a:t>
            </a:r>
            <a:endParaRPr lang="en-US" sz="3000" dirty="0"/>
          </a:p>
        </p:txBody>
      </p:sp>
      <p:sp>
        <p:nvSpPr>
          <p:cNvPr id="4" name="Shape 2"/>
          <p:cNvSpPr/>
          <p:nvPr/>
        </p:nvSpPr>
        <p:spPr>
          <a:xfrm>
            <a:off x="594360" y="1554480"/>
            <a:ext cx="5349240" cy="2103120"/>
          </a:xfrm>
          <a:prstGeom prst="roundRect">
            <a:avLst>
              <a:gd name="adj" fmla="val 3913"/>
            </a:avLst>
          </a:prstGeom>
          <a:solidFill>
            <a:srgbClr val="F4E0E2"/>
          </a:solidFill>
          <a:ln w="12700">
            <a:solidFill>
              <a:srgbClr val="F4E0E2"/>
            </a:solidFill>
            <a:prstDash val="solid"/>
          </a:ln>
        </p:spPr>
        <p:txBody>
          <a:bodyPr/>
          <a:p/>
        </p:txBody>
      </p:sp>
      <p:sp>
        <p:nvSpPr>
          <p:cNvPr id="5" name="Text 3"/>
          <p:cNvSpPr/>
          <p:nvPr/>
        </p:nvSpPr>
        <p:spPr>
          <a:xfrm>
            <a:off x="868680" y="1691640"/>
            <a:ext cx="4846320" cy="365760"/>
          </a:xfrm>
          <a:prstGeom prst="rect">
            <a:avLst/>
          </a:prstGeom>
          <a:noFill/>
          <a:ln/>
        </p:spPr>
        <p:txBody>
          <a:bodyPr wrap="square" lIns="0" tIns="0" rIns="0" bIns="0" rtlCol="0" anchor="t"/>
          <a:lstStyle/>
          <a:p>
            <a:pPr indent="0" marL="0">
              <a:buNone/>
            </a:pPr>
            <a:r>
              <a:rPr lang="en-US" sz="1600" b="1" spc="100" kern="0" dirty="0">
                <a:solidFill>
                  <a:srgbClr val="B02532"/>
                </a:solidFill>
                <a:latin typeface="Palatino Linotype" pitchFamily="34" charset="0"/>
                <a:ea typeface="Palatino Linotype" pitchFamily="34" charset="-122"/>
                <a:cs typeface="Palatino Linotype" pitchFamily="34" charset="-120"/>
              </a:rPr>
              <a:t>1 · Problema</a:t>
            </a:r>
            <a:endParaRPr lang="en-US" sz="1600" dirty="0"/>
          </a:p>
        </p:txBody>
      </p:sp>
      <p:sp>
        <p:nvSpPr>
          <p:cNvPr id="6" name="Text 4"/>
          <p:cNvSpPr/>
          <p:nvPr/>
        </p:nvSpPr>
        <p:spPr>
          <a:xfrm>
            <a:off x="868680" y="2103120"/>
            <a:ext cx="4846320" cy="14630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În 2019, 95,1% dintre persoanele de 65 de ani și peste din România au declarat zero minute de activitate aerobă în afara muncii, față de 61,6% în UE (Eurostat, hlth_ehis_pe2e). Nu: „vârstnicii nu se mișcă deloc”; 2024 este anul actualizării setului.</a:t>
            </a:r>
            <a:endParaRPr lang="en-US" sz="1500" dirty="0"/>
          </a:p>
        </p:txBody>
      </p:sp>
      <p:sp>
        <p:nvSpPr>
          <p:cNvPr id="7" name="Shape 5"/>
          <p:cNvSpPr/>
          <p:nvPr/>
        </p:nvSpPr>
        <p:spPr>
          <a:xfrm>
            <a:off x="6217920" y="1554480"/>
            <a:ext cx="5349240" cy="2103120"/>
          </a:xfrm>
          <a:prstGeom prst="roundRect">
            <a:avLst>
              <a:gd name="adj" fmla="val 3913"/>
            </a:avLst>
          </a:prstGeom>
          <a:solidFill>
            <a:srgbClr val="F6EDD5"/>
          </a:solidFill>
          <a:ln w="12700">
            <a:solidFill>
              <a:srgbClr val="F6EDD5"/>
            </a:solidFill>
            <a:prstDash val="solid"/>
          </a:ln>
        </p:spPr>
        <p:txBody>
          <a:bodyPr/>
          <a:p/>
        </p:txBody>
      </p:sp>
      <p:sp>
        <p:nvSpPr>
          <p:cNvPr id="8" name="Text 6"/>
          <p:cNvSpPr/>
          <p:nvPr/>
        </p:nvSpPr>
        <p:spPr>
          <a:xfrm>
            <a:off x="6492240" y="1691640"/>
            <a:ext cx="4846320" cy="365760"/>
          </a:xfrm>
          <a:prstGeom prst="rect">
            <a:avLst/>
          </a:prstGeom>
          <a:noFill/>
          <a:ln/>
        </p:spPr>
        <p:txBody>
          <a:bodyPr wrap="square" lIns="0" tIns="0" rIns="0" bIns="0" rtlCol="0" anchor="t"/>
          <a:lstStyle/>
          <a:p>
            <a:pPr indent="0" marL="0">
              <a:buNone/>
            </a:pPr>
            <a:r>
              <a:rPr lang="en-US" sz="1600" b="1" spc="100" kern="0" dirty="0">
                <a:solidFill>
                  <a:srgbClr val="8A6100"/>
                </a:solidFill>
                <a:latin typeface="Palatino Linotype" pitchFamily="34" charset="0"/>
                <a:ea typeface="Palatino Linotype" pitchFamily="34" charset="-122"/>
                <a:cs typeface="Palatino Linotype" pitchFamily="34" charset="-120"/>
              </a:rPr>
              <a:t>2 · Recomandarea</a:t>
            </a:r>
            <a:endParaRPr lang="en-US" sz="1600" dirty="0"/>
          </a:p>
        </p:txBody>
      </p:sp>
      <p:sp>
        <p:nvSpPr>
          <p:cNvPr id="9" name="Text 7"/>
          <p:cNvSpPr/>
          <p:nvPr/>
        </p:nvSpPr>
        <p:spPr>
          <a:xfrm>
            <a:off x="6492240" y="2103120"/>
            <a:ext cx="4846320" cy="14630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Activitate aerobă, întărire musculară în cel puțin 2 zile și activitate multicomponentă de echilibru și forță în cel puțin 3 zile pe săptămână. Cele 60 de minute pe zi sunt pentru copii.</a:t>
            </a:r>
            <a:endParaRPr lang="en-US" sz="1500" dirty="0"/>
          </a:p>
        </p:txBody>
      </p:sp>
      <p:sp>
        <p:nvSpPr>
          <p:cNvPr id="10" name="Shape 8"/>
          <p:cNvSpPr/>
          <p:nvPr/>
        </p:nvSpPr>
        <p:spPr>
          <a:xfrm>
            <a:off x="594360" y="3840480"/>
            <a:ext cx="5349240" cy="2103120"/>
          </a:xfrm>
          <a:prstGeom prst="roundRect">
            <a:avLst>
              <a:gd name="adj" fmla="val 3913"/>
            </a:avLst>
          </a:prstGeom>
          <a:solidFill>
            <a:srgbClr val="E1F0EC"/>
          </a:solidFill>
          <a:ln w="12700">
            <a:solidFill>
              <a:srgbClr val="E1F0EC"/>
            </a:solidFill>
            <a:prstDash val="solid"/>
          </a:ln>
        </p:spPr>
        <p:txBody>
          <a:bodyPr/>
          <a:p/>
        </p:txBody>
      </p:sp>
      <p:sp>
        <p:nvSpPr>
          <p:cNvPr id="11" name="Text 9"/>
          <p:cNvSpPr/>
          <p:nvPr/>
        </p:nvSpPr>
        <p:spPr>
          <a:xfrm>
            <a:off x="868680" y="3977640"/>
            <a:ext cx="4846320" cy="365760"/>
          </a:xfrm>
          <a:prstGeom prst="rect">
            <a:avLst/>
          </a:prstGeom>
          <a:noFill/>
          <a:ln/>
        </p:spPr>
        <p:txBody>
          <a:bodyPr wrap="square" lIns="0" tIns="0" rIns="0" bIns="0" rtlCol="0" anchor="t"/>
          <a:lstStyle/>
          <a:p>
            <a:pPr indent="0" marL="0">
              <a:buNone/>
            </a:pPr>
            <a:r>
              <a:rPr lang="en-US" sz="1600" b="1" spc="100" kern="0" dirty="0">
                <a:solidFill>
                  <a:srgbClr val="0E7C6B"/>
                </a:solidFill>
                <a:latin typeface="Palatino Linotype" pitchFamily="34" charset="0"/>
                <a:ea typeface="Palatino Linotype" pitchFamily="34" charset="-122"/>
                <a:cs typeface="Palatino Linotype" pitchFamily="34" charset="-120"/>
              </a:rPr>
              <a:t>3 · Obiectivul</a:t>
            </a:r>
            <a:endParaRPr lang="en-US" sz="1600" dirty="0"/>
          </a:p>
        </p:txBody>
      </p:sp>
      <p:sp>
        <p:nvSpPr>
          <p:cNvPr id="12" name="Text 10"/>
          <p:cNvSpPr/>
          <p:nvPr/>
        </p:nvSpPr>
        <p:spPr>
          <a:xfrm>
            <a:off x="868680" y="4389120"/>
            <a:ext cx="4846320" cy="14630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De la 10% la 40%, până la 30 iunie 2027, măsurat cu același chestionar. Nu: „mai activi”, „două ședințe pe săptămână”, „fără căderi”.</a:t>
            </a:r>
            <a:endParaRPr lang="en-US" sz="1500" dirty="0"/>
          </a:p>
        </p:txBody>
      </p:sp>
      <p:sp>
        <p:nvSpPr>
          <p:cNvPr id="13" name="Shape 11"/>
          <p:cNvSpPr/>
          <p:nvPr/>
        </p:nvSpPr>
        <p:spPr>
          <a:xfrm>
            <a:off x="6217920" y="3840480"/>
            <a:ext cx="5349240" cy="2103120"/>
          </a:xfrm>
          <a:prstGeom prst="roundRect">
            <a:avLst>
              <a:gd name="adj" fmla="val 3913"/>
            </a:avLst>
          </a:prstGeom>
          <a:solidFill>
            <a:srgbClr val="E8E3F5"/>
          </a:solidFill>
          <a:ln w="12700">
            <a:solidFill>
              <a:srgbClr val="E8E3F5"/>
            </a:solidFill>
            <a:prstDash val="solid"/>
          </a:ln>
        </p:spPr>
        <p:txBody>
          <a:bodyPr/>
          <a:p/>
        </p:txBody>
      </p:sp>
      <p:sp>
        <p:nvSpPr>
          <p:cNvPr id="14" name="Text 12"/>
          <p:cNvSpPr/>
          <p:nvPr/>
        </p:nvSpPr>
        <p:spPr>
          <a:xfrm>
            <a:off x="6492240" y="3977640"/>
            <a:ext cx="4846320" cy="365760"/>
          </a:xfrm>
          <a:prstGeom prst="rect">
            <a:avLst/>
          </a:prstGeom>
          <a:noFill/>
          <a:ln/>
        </p:spPr>
        <p:txBody>
          <a:bodyPr wrap="square" lIns="0" tIns="0" rIns="0" bIns="0" rtlCol="0" anchor="t"/>
          <a:lstStyle/>
          <a:p>
            <a:pPr indent="0" marL="0">
              <a:buNone/>
            </a:pPr>
            <a:r>
              <a:rPr lang="en-US" sz="1600" b="1" spc="100" kern="0" dirty="0">
                <a:solidFill>
                  <a:srgbClr val="4A2D8C"/>
                </a:solidFill>
                <a:latin typeface="Palatino Linotype" pitchFamily="34" charset="0"/>
                <a:ea typeface="Palatino Linotype" pitchFamily="34" charset="-122"/>
                <a:cs typeface="Palatino Linotype" pitchFamily="34" charset="-120"/>
              </a:rPr>
              <a:t>4 · Indicatorul</a:t>
            </a:r>
            <a:endParaRPr lang="en-US" sz="1600" dirty="0"/>
          </a:p>
        </p:txBody>
      </p:sp>
      <p:sp>
        <p:nvSpPr>
          <p:cNvPr id="15" name="Text 13"/>
          <p:cNvSpPr/>
          <p:nvPr/>
        </p:nvSpPr>
        <p:spPr>
          <a:xfrm>
            <a:off x="6492240" y="4389120"/>
            <a:ext cx="4846320" cy="14630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Proporția participanților care ating pragul, la șase luni: 18 ÷ 48 × 100 = 37,5%, sub ținta de 40%. Ședințele ținute și broșurile sunt indicatori de proces.</a:t>
            </a:r>
            <a:endParaRPr lang="en-US" sz="1500" dirty="0"/>
          </a:p>
        </p:txBody>
      </p:sp>
      <p:sp>
        <p:nvSpPr>
          <p:cNvPr id="16" name="Text 14"/>
          <p:cNvSpPr/>
          <p:nvPr/>
        </p:nvSpPr>
        <p:spPr>
          <a:xfrm>
            <a:off x="594360" y="619963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Valorile din pașii 3 și 4 sunt ipotetice; cifrele pasului 1: Eurostat, EHIS 2019, ambele sexe.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GRUP DE BANCĂ</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INTERVENȚIA GRUPULUI</a:t>
            </a:r>
            <a:endParaRPr lang="en-US" sz="1300" dirty="0"/>
          </a:p>
        </p:txBody>
      </p:sp>
      <p:sp>
        <p:nvSpPr>
          <p:cNvPr id="5" name="Text 3"/>
          <p:cNvSpPr/>
          <p:nvPr/>
        </p:nvSpPr>
        <p:spPr>
          <a:xfrm>
            <a:off x="594360" y="713232"/>
            <a:ext cx="7589520" cy="9144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Scrieți intervenția, în cinci rubrici</a:t>
            </a:r>
            <a:endParaRPr lang="en-US" sz="3000" dirty="0"/>
          </a:p>
        </p:txBody>
      </p:sp>
      <p:sp>
        <p:nvSpPr>
          <p:cNvPr id="6" name="Shape 4"/>
          <p:cNvSpPr/>
          <p:nvPr/>
        </p:nvSpPr>
        <p:spPr>
          <a:xfrm>
            <a:off x="594360" y="1636776"/>
            <a:ext cx="384048" cy="384048"/>
          </a:xfrm>
          <a:prstGeom prst="ellipse">
            <a:avLst/>
          </a:prstGeom>
          <a:solidFill>
            <a:srgbClr val="FF4757"/>
          </a:solidFill>
          <a:ln/>
        </p:spPr>
        <p:txBody>
          <a:bodyPr/>
          <a:p/>
        </p:txBody>
      </p:sp>
      <p:sp>
        <p:nvSpPr>
          <p:cNvPr id="7" name="Text 5"/>
          <p:cNvSpPr/>
          <p:nvPr/>
        </p:nvSpPr>
        <p:spPr>
          <a:xfrm>
            <a:off x="594360" y="1636776"/>
            <a:ext cx="384048" cy="384048"/>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143000" y="1600200"/>
            <a:ext cx="6217920" cy="7772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Problema, cu o cifră citată complet: sursa, anul, grupul de vârstă, codul indicatorului.</a:t>
            </a:r>
            <a:endParaRPr lang="en-US" sz="1600" dirty="0"/>
          </a:p>
        </p:txBody>
      </p:sp>
      <p:sp>
        <p:nvSpPr>
          <p:cNvPr id="9" name="Shape 7"/>
          <p:cNvSpPr/>
          <p:nvPr/>
        </p:nvSpPr>
        <p:spPr>
          <a:xfrm>
            <a:off x="594360" y="2505456"/>
            <a:ext cx="384048" cy="384048"/>
          </a:xfrm>
          <a:prstGeom prst="ellipse">
            <a:avLst/>
          </a:prstGeom>
          <a:solidFill>
            <a:srgbClr val="FFC24B"/>
          </a:solidFill>
          <a:ln/>
        </p:spPr>
        <p:txBody>
          <a:bodyPr/>
          <a:p/>
        </p:txBody>
      </p:sp>
      <p:sp>
        <p:nvSpPr>
          <p:cNvPr id="10" name="Text 8"/>
          <p:cNvSpPr/>
          <p:nvPr/>
        </p:nvSpPr>
        <p:spPr>
          <a:xfrm>
            <a:off x="594360" y="2505456"/>
            <a:ext cx="384048" cy="384048"/>
          </a:xfrm>
          <a:prstGeom prst="rect">
            <a:avLst/>
          </a:prstGeom>
          <a:noFill/>
          <a:ln/>
        </p:spPr>
        <p:txBody>
          <a:bodyPr wrap="square" lIns="0" tIns="0" rIns="0" bIns="0" rtlCol="0" anchor="ctr"/>
          <a:lstStyle/>
          <a:p>
            <a:pPr algn="ctr" indent="0" marL="0">
              <a:buNone/>
            </a:pPr>
            <a:r>
              <a:rPr lang="en-US" sz="1400" b="1" dirty="0">
                <a:solidFill>
                  <a:srgbClr val="3D2A00"/>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143000" y="2468880"/>
            <a:ext cx="6217920" cy="7772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Grupul-țintă: cine, aproximativ câți, cine îl poate influența.</a:t>
            </a:r>
            <a:endParaRPr lang="en-US" sz="1600" dirty="0"/>
          </a:p>
        </p:txBody>
      </p:sp>
      <p:sp>
        <p:nvSpPr>
          <p:cNvPr id="12" name="Shape 10"/>
          <p:cNvSpPr/>
          <p:nvPr/>
        </p:nvSpPr>
        <p:spPr>
          <a:xfrm>
            <a:off x="594360" y="3374136"/>
            <a:ext cx="384048" cy="384048"/>
          </a:xfrm>
          <a:prstGeom prst="ellipse">
            <a:avLst/>
          </a:prstGeom>
          <a:solidFill>
            <a:srgbClr val="27D3BE"/>
          </a:solidFill>
          <a:ln/>
        </p:spPr>
        <p:txBody>
          <a:bodyPr/>
          <a:p/>
        </p:txBody>
      </p:sp>
      <p:sp>
        <p:nvSpPr>
          <p:cNvPr id="13" name="Text 11"/>
          <p:cNvSpPr/>
          <p:nvPr/>
        </p:nvSpPr>
        <p:spPr>
          <a:xfrm>
            <a:off x="594360" y="3374136"/>
            <a:ext cx="384048" cy="384048"/>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3</a:t>
            </a:r>
            <a:endParaRPr lang="en-US" sz="1400" dirty="0"/>
          </a:p>
        </p:txBody>
      </p:sp>
      <p:sp>
        <p:nvSpPr>
          <p:cNvPr id="14" name="Text 12"/>
          <p:cNvSpPr/>
          <p:nvPr/>
        </p:nvSpPr>
        <p:spPr>
          <a:xfrm>
            <a:off x="1143000" y="3337560"/>
            <a:ext cx="6217920" cy="7772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Obiectivul SMART: ce se schimbă, la cine, cu cât, până când, cum se măsoară.</a:t>
            </a:r>
            <a:endParaRPr lang="en-US" sz="1600" dirty="0"/>
          </a:p>
        </p:txBody>
      </p:sp>
      <p:sp>
        <p:nvSpPr>
          <p:cNvPr id="15" name="Shape 13"/>
          <p:cNvSpPr/>
          <p:nvPr/>
        </p:nvSpPr>
        <p:spPr>
          <a:xfrm>
            <a:off x="594360" y="4242816"/>
            <a:ext cx="384048" cy="384048"/>
          </a:xfrm>
          <a:prstGeom prst="ellipse">
            <a:avLst/>
          </a:prstGeom>
          <a:solidFill>
            <a:srgbClr val="9B7EF7"/>
          </a:solidFill>
          <a:ln/>
        </p:spPr>
        <p:txBody>
          <a:bodyPr/>
          <a:p/>
        </p:txBody>
      </p:sp>
      <p:sp>
        <p:nvSpPr>
          <p:cNvPr id="16" name="Text 14"/>
          <p:cNvSpPr/>
          <p:nvPr/>
        </p:nvSpPr>
        <p:spPr>
          <a:xfrm>
            <a:off x="594360" y="4242816"/>
            <a:ext cx="384048" cy="384048"/>
          </a:xfrm>
          <a:prstGeom prst="rect">
            <a:avLst/>
          </a:prstGeom>
          <a:noFill/>
          <a:ln/>
        </p:spPr>
        <p:txBody>
          <a:bodyPr wrap="square" lIns="0" tIns="0" rIns="0" bIns="0" rtlCol="0" anchor="ctr"/>
          <a:lstStyle/>
          <a:p>
            <a:pPr algn="ctr" indent="0" marL="0">
              <a:buNone/>
            </a:pPr>
            <a:r>
              <a:rPr lang="en-US" sz="1400" b="1" dirty="0">
                <a:solidFill>
                  <a:srgbClr val="1F1040"/>
                </a:solidFill>
                <a:latin typeface="Palatino Linotype" pitchFamily="34" charset="0"/>
                <a:ea typeface="Palatino Linotype" pitchFamily="34" charset="-122"/>
                <a:cs typeface="Palatino Linotype" pitchFamily="34" charset="-120"/>
              </a:rPr>
              <a:t>4</a:t>
            </a:r>
            <a:endParaRPr lang="en-US" sz="1400" dirty="0"/>
          </a:p>
        </p:txBody>
      </p:sp>
      <p:sp>
        <p:nvSpPr>
          <p:cNvPr id="17" name="Text 15"/>
          <p:cNvSpPr/>
          <p:nvPr/>
        </p:nvSpPr>
        <p:spPr>
          <a:xfrm>
            <a:off x="1143000" y="4206240"/>
            <a:ext cx="6217920" cy="7772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Două sau trei activități, potrivite recomandării OMS pentru grup.</a:t>
            </a:r>
            <a:endParaRPr lang="en-US" sz="1600" dirty="0"/>
          </a:p>
        </p:txBody>
      </p:sp>
      <p:sp>
        <p:nvSpPr>
          <p:cNvPr id="18" name="Shape 16"/>
          <p:cNvSpPr/>
          <p:nvPr/>
        </p:nvSpPr>
        <p:spPr>
          <a:xfrm>
            <a:off x="594360" y="5111496"/>
            <a:ext cx="384048" cy="384048"/>
          </a:xfrm>
          <a:prstGeom prst="ellipse">
            <a:avLst/>
          </a:prstGeom>
          <a:solidFill>
            <a:srgbClr val="FF8A3D"/>
          </a:solidFill>
          <a:ln/>
        </p:spPr>
        <p:txBody>
          <a:bodyPr/>
          <a:p/>
        </p:txBody>
      </p:sp>
      <p:sp>
        <p:nvSpPr>
          <p:cNvPr id="19" name="Text 17"/>
          <p:cNvSpPr/>
          <p:nvPr/>
        </p:nvSpPr>
        <p:spPr>
          <a:xfrm>
            <a:off x="594360" y="5111496"/>
            <a:ext cx="384048" cy="384048"/>
          </a:xfrm>
          <a:prstGeom prst="rect">
            <a:avLst/>
          </a:prstGeom>
          <a:noFill/>
          <a:ln/>
        </p:spPr>
        <p:txBody>
          <a:bodyPr wrap="square" lIns="0" tIns="0" rIns="0" bIns="0" rtlCol="0" anchor="ctr"/>
          <a:lstStyle/>
          <a:p>
            <a:pPr algn="ctr" indent="0" marL="0">
              <a:buNone/>
            </a:pPr>
            <a:r>
              <a:rPr lang="en-US" sz="1400" b="1" dirty="0">
                <a:solidFill>
                  <a:srgbClr val="3D2A00"/>
                </a:solidFill>
                <a:latin typeface="Palatino Linotype" pitchFamily="34" charset="0"/>
                <a:ea typeface="Palatino Linotype" pitchFamily="34" charset="-122"/>
                <a:cs typeface="Palatino Linotype" pitchFamily="34" charset="-120"/>
              </a:rPr>
              <a:t>5</a:t>
            </a:r>
            <a:endParaRPr lang="en-US" sz="1400" dirty="0"/>
          </a:p>
        </p:txBody>
      </p:sp>
      <p:sp>
        <p:nvSpPr>
          <p:cNvPr id="20" name="Text 18"/>
          <p:cNvSpPr/>
          <p:nvPr/>
        </p:nvSpPr>
        <p:spPr>
          <a:xfrm>
            <a:off x="1143000" y="5074920"/>
            <a:ext cx="6217920" cy="7772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Doi indicatori de rezultat, fiecare cu numărător, numitor și sursă.</a:t>
            </a:r>
            <a:endParaRPr lang="en-US" sz="1600" dirty="0"/>
          </a:p>
        </p:txBody>
      </p:sp>
      <p:sp>
        <p:nvSpPr>
          <p:cNvPr id="21" name="Shape 19"/>
          <p:cNvSpPr/>
          <p:nvPr/>
        </p:nvSpPr>
        <p:spPr>
          <a:xfrm>
            <a:off x="7680960" y="1600200"/>
            <a:ext cx="3886200" cy="2148840"/>
          </a:xfrm>
          <a:prstGeom prst="roundRect">
            <a:avLst>
              <a:gd name="adj" fmla="val 3830"/>
            </a:avLst>
          </a:prstGeom>
          <a:solidFill>
            <a:srgbClr val="E1F0EC"/>
          </a:solidFill>
          <a:ln w="12700">
            <a:solidFill>
              <a:srgbClr val="E1F0EC"/>
            </a:solidFill>
            <a:prstDash val="solid"/>
          </a:ln>
        </p:spPr>
        <p:txBody>
          <a:bodyPr/>
          <a:p/>
        </p:txBody>
      </p:sp>
      <p:sp>
        <p:nvSpPr>
          <p:cNvPr id="22" name="Text 20"/>
          <p:cNvSpPr/>
          <p:nvPr/>
        </p:nvSpPr>
        <p:spPr>
          <a:xfrm>
            <a:off x="7909560" y="1600200"/>
            <a:ext cx="3474720" cy="214884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Alegerea grupului: </a:t>
            </a:r>
            <a:pPr indent="0" marL="0">
              <a:buNone/>
            </a:pPr>
            <a:r>
              <a:rPr lang="en-US" sz="1500" dirty="0">
                <a:solidFill>
                  <a:srgbClr val="11121A"/>
                </a:solidFill>
                <a:latin typeface="Palatino Linotype" pitchFamily="34" charset="0"/>
                <a:ea typeface="Palatino Linotype" pitchFamily="34" charset="-122"/>
                <a:cs typeface="Palatino Linotype" pitchFamily="34" charset="-120"/>
              </a:rPr>
              <a:t>păstrați comuna sau alegeți angajații cu activitate sedentară, de exemplu personalul administrativ al unui spital.</a:t>
            </a:r>
            <a:endParaRPr lang="en-US" sz="1500" dirty="0"/>
          </a:p>
        </p:txBody>
      </p:sp>
      <p:sp>
        <p:nvSpPr>
          <p:cNvPr id="23" name="Shape 21"/>
          <p:cNvSpPr/>
          <p:nvPr/>
        </p:nvSpPr>
        <p:spPr>
          <a:xfrm>
            <a:off x="7680960" y="3931920"/>
            <a:ext cx="3886200" cy="2011680"/>
          </a:xfrm>
          <a:prstGeom prst="roundRect">
            <a:avLst>
              <a:gd name="adj" fmla="val 4091"/>
            </a:avLst>
          </a:prstGeom>
          <a:solidFill>
            <a:srgbClr val="F6EDD5"/>
          </a:solidFill>
          <a:ln w="12700">
            <a:solidFill>
              <a:srgbClr val="F6EDD5"/>
            </a:solidFill>
            <a:prstDash val="solid"/>
          </a:ln>
        </p:spPr>
        <p:txBody>
          <a:bodyPr/>
          <a:p/>
        </p:txBody>
      </p:sp>
      <p:sp>
        <p:nvSpPr>
          <p:cNvPr id="24" name="Text 22"/>
          <p:cNvSpPr/>
          <p:nvPr/>
        </p:nvSpPr>
        <p:spPr>
          <a:xfrm>
            <a:off x="7909560" y="3931920"/>
            <a:ext cx="3474720" cy="201168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Două confuzii frecvente: </a:t>
            </a:r>
            <a:pPr indent="0" marL="0">
              <a:buNone/>
            </a:pPr>
            <a:r>
              <a:rPr lang="en-US" sz="1500" dirty="0">
                <a:solidFill>
                  <a:srgbClr val="11121A"/>
                </a:solidFill>
                <a:latin typeface="Palatino Linotype" pitchFamily="34" charset="0"/>
                <a:ea typeface="Palatino Linotype" pitchFamily="34" charset="-122"/>
                <a:cs typeface="Palatino Linotype" pitchFamily="34" charset="-120"/>
              </a:rPr>
              <a:t>obiectivul formulat ca activitate; indicatorul de proces trecut ca indicator de rezultat.</a:t>
            </a:r>
            <a:endParaRPr lang="en-US" sz="1500" dirty="0"/>
          </a:p>
        </p:txBody>
      </p:sp>
      <p:sp>
        <p:nvSpPr>
          <p:cNvPr id="25" name="Text 23"/>
          <p:cNvSpPr/>
          <p:nvPr/>
        </p:nvSpPr>
        <p:spPr>
          <a:xfrm>
            <a:off x="594360" y="5989320"/>
            <a:ext cx="1097280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La final, două grupuri își citesc obiectivul, iar sala spune dacă este SMART.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FORMULARUL SĂLII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PARTEA A II-A · PACIENTA A</a:t>
            </a:r>
            <a:endParaRPr lang="en-US" sz="1300" dirty="0"/>
          </a:p>
        </p:txBody>
      </p:sp>
      <p:sp>
        <p:nvSpPr>
          <p:cNvPr id="5" name="Text 3"/>
          <p:cNvSpPr/>
          <p:nvPr/>
        </p:nvSpPr>
        <p:spPr>
          <a:xfrm>
            <a:off x="594360" y="713232"/>
            <a:ext cx="7589520" cy="9144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Traseul pacientei A, în șase căsuțe</a:t>
            </a:r>
            <a:endParaRPr lang="en-US" sz="3000" dirty="0"/>
          </a:p>
        </p:txBody>
      </p:sp>
      <p:sp>
        <p:nvSpPr>
          <p:cNvPr id="6" name="Text 4"/>
          <p:cNvSpPr/>
          <p:nvPr/>
        </p:nvSpPr>
        <p:spPr>
          <a:xfrm>
            <a:off x="594360" y="1417320"/>
            <a:ext cx="10972800" cy="777240"/>
          </a:xfrm>
          <a:prstGeom prst="rect">
            <a:avLst/>
          </a:prstGeom>
          <a:noFill/>
          <a:ln/>
        </p:spPr>
        <p:txBody>
          <a:bodyPr wrap="square" lIns="0" tIns="0" rIns="0" bIns="0" rtlCol="0" anchor="t"/>
          <a:lstStyle/>
          <a:p>
            <a:pPr indent="0" marL="0">
              <a:buNone/>
            </a:pPr>
            <a:r>
              <a:rPr lang="en-US" sz="1600" dirty="0">
                <a:solidFill>
                  <a:srgbClr val="3A3C44"/>
                </a:solidFill>
                <a:latin typeface="Palatino Linotype" pitchFamily="34" charset="0"/>
                <a:ea typeface="Palatino Linotype" pitchFamily="34" charset="-122"/>
                <a:cs typeface="Palatino Linotype" pitchFamily="34" charset="-120"/>
              </a:rPr>
              <a:t>Două întrebări în formular: cu ce document ajunge pacienta de la medicul de familie la medicul de medicină fizică și de reabilitare și ce plătește ea însăși pentru seria de proceduri?</a:t>
            </a:r>
            <a:endParaRPr lang="en-US" sz="1600" dirty="0"/>
          </a:p>
        </p:txBody>
      </p:sp>
      <p:sp>
        <p:nvSpPr>
          <p:cNvPr id="7" name="Shape 5"/>
          <p:cNvSpPr/>
          <p:nvPr/>
        </p:nvSpPr>
        <p:spPr>
          <a:xfrm>
            <a:off x="594360" y="2377440"/>
            <a:ext cx="3520440" cy="1417320"/>
          </a:xfrm>
          <a:prstGeom prst="rect">
            <a:avLst/>
          </a:prstGeom>
          <a:solidFill>
            <a:srgbClr val="FFFFFF"/>
          </a:solidFill>
          <a:ln w="19050">
            <a:solidFill>
              <a:srgbClr val="B02532"/>
            </a:solidFill>
            <a:prstDash val="dash"/>
          </a:ln>
        </p:spPr>
        <p:txBody>
          <a:bodyPr/>
          <a:p/>
        </p:txBody>
      </p:sp>
      <p:sp>
        <p:nvSpPr>
          <p:cNvPr id="8" name="Shape 6"/>
          <p:cNvSpPr/>
          <p:nvPr/>
        </p:nvSpPr>
        <p:spPr>
          <a:xfrm>
            <a:off x="777240" y="2542032"/>
            <a:ext cx="384048" cy="384048"/>
          </a:xfrm>
          <a:prstGeom prst="ellipse">
            <a:avLst/>
          </a:prstGeom>
          <a:solidFill>
            <a:srgbClr val="B02532"/>
          </a:solidFill>
          <a:ln/>
        </p:spPr>
        <p:txBody>
          <a:bodyPr/>
          <a:p/>
        </p:txBody>
      </p:sp>
      <p:sp>
        <p:nvSpPr>
          <p:cNvPr id="9" name="Text 7"/>
          <p:cNvSpPr/>
          <p:nvPr/>
        </p:nvSpPr>
        <p:spPr>
          <a:xfrm>
            <a:off x="777240" y="25420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1280160" y="2542032"/>
            <a:ext cx="2743200" cy="384048"/>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Punctul de intrare</a:t>
            </a:r>
            <a:endParaRPr lang="en-US" sz="1700" dirty="0"/>
          </a:p>
        </p:txBody>
      </p:sp>
      <p:sp>
        <p:nvSpPr>
          <p:cNvPr id="11" name="Shape 9"/>
          <p:cNvSpPr/>
          <p:nvPr/>
        </p:nvSpPr>
        <p:spPr>
          <a:xfrm>
            <a:off x="4297680" y="2377440"/>
            <a:ext cx="3520440" cy="1417320"/>
          </a:xfrm>
          <a:prstGeom prst="rect">
            <a:avLst/>
          </a:prstGeom>
          <a:solidFill>
            <a:srgbClr val="FFFFFF"/>
          </a:solidFill>
          <a:ln w="19050">
            <a:solidFill>
              <a:srgbClr val="8A6100"/>
            </a:solidFill>
            <a:prstDash val="dash"/>
          </a:ln>
        </p:spPr>
        <p:txBody>
          <a:bodyPr/>
          <a:p/>
        </p:txBody>
      </p:sp>
      <p:sp>
        <p:nvSpPr>
          <p:cNvPr id="12" name="Shape 10"/>
          <p:cNvSpPr/>
          <p:nvPr/>
        </p:nvSpPr>
        <p:spPr>
          <a:xfrm>
            <a:off x="4480560" y="2542032"/>
            <a:ext cx="384048" cy="384048"/>
          </a:xfrm>
          <a:prstGeom prst="ellipse">
            <a:avLst/>
          </a:prstGeom>
          <a:solidFill>
            <a:srgbClr val="8A6100"/>
          </a:solidFill>
          <a:ln/>
        </p:spPr>
        <p:txBody>
          <a:bodyPr/>
          <a:p/>
        </p:txBody>
      </p:sp>
      <p:sp>
        <p:nvSpPr>
          <p:cNvPr id="13" name="Text 11"/>
          <p:cNvSpPr/>
          <p:nvPr/>
        </p:nvSpPr>
        <p:spPr>
          <a:xfrm>
            <a:off x="4480560" y="25420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4983480" y="2542032"/>
            <a:ext cx="2743200" cy="384048"/>
          </a:xfrm>
          <a:prstGeom prst="rect">
            <a:avLst/>
          </a:prstGeom>
          <a:noFill/>
          <a:ln/>
        </p:spPr>
        <p:txBody>
          <a:bodyPr wrap="square" lIns="0" tIns="0" rIns="0" bIns="0" rtlCol="0" anchor="ctr"/>
          <a:lstStyle/>
          <a:p>
            <a:pPr indent="0" marL="0">
              <a:buNone/>
            </a:pPr>
            <a:r>
              <a:rPr lang="en-US" sz="1700" b="1" dirty="0">
                <a:solidFill>
                  <a:srgbClr val="8A6100"/>
                </a:solidFill>
                <a:latin typeface="Palatino Linotype" pitchFamily="34" charset="0"/>
                <a:ea typeface="Palatino Linotype" pitchFamily="34" charset="-122"/>
                <a:cs typeface="Palatino Linotype" pitchFamily="34" charset="-120"/>
              </a:rPr>
              <a:t>Trimiterea</a:t>
            </a:r>
            <a:endParaRPr lang="en-US" sz="1700" dirty="0"/>
          </a:p>
        </p:txBody>
      </p:sp>
      <p:sp>
        <p:nvSpPr>
          <p:cNvPr id="15" name="Shape 13"/>
          <p:cNvSpPr/>
          <p:nvPr/>
        </p:nvSpPr>
        <p:spPr>
          <a:xfrm>
            <a:off x="8001000" y="2377440"/>
            <a:ext cx="3520440" cy="1417320"/>
          </a:xfrm>
          <a:prstGeom prst="rect">
            <a:avLst/>
          </a:prstGeom>
          <a:solidFill>
            <a:srgbClr val="FFFFFF"/>
          </a:solidFill>
          <a:ln w="19050">
            <a:solidFill>
              <a:srgbClr val="0E7C6B"/>
            </a:solidFill>
            <a:prstDash val="dash"/>
          </a:ln>
        </p:spPr>
        <p:txBody>
          <a:bodyPr/>
          <a:p/>
        </p:txBody>
      </p:sp>
      <p:sp>
        <p:nvSpPr>
          <p:cNvPr id="16" name="Shape 14"/>
          <p:cNvSpPr/>
          <p:nvPr/>
        </p:nvSpPr>
        <p:spPr>
          <a:xfrm>
            <a:off x="8183880" y="2542032"/>
            <a:ext cx="384048" cy="384048"/>
          </a:xfrm>
          <a:prstGeom prst="ellipse">
            <a:avLst/>
          </a:prstGeom>
          <a:solidFill>
            <a:srgbClr val="0E7C6B"/>
          </a:solidFill>
          <a:ln/>
        </p:spPr>
        <p:txBody>
          <a:bodyPr/>
          <a:p/>
        </p:txBody>
      </p:sp>
      <p:sp>
        <p:nvSpPr>
          <p:cNvPr id="17" name="Text 15"/>
          <p:cNvSpPr/>
          <p:nvPr/>
        </p:nvSpPr>
        <p:spPr>
          <a:xfrm>
            <a:off x="8183880" y="25420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8" name="Text 16"/>
          <p:cNvSpPr/>
          <p:nvPr/>
        </p:nvSpPr>
        <p:spPr>
          <a:xfrm>
            <a:off x="8686800" y="2542032"/>
            <a:ext cx="2743200" cy="384048"/>
          </a:xfrm>
          <a:prstGeom prst="rect">
            <a:avLst/>
          </a:prstGeom>
          <a:noFill/>
          <a:ln/>
        </p:spPr>
        <p:txBody>
          <a:bodyPr wrap="square" lIns="0" tIns="0" rIns="0" bIns="0" rtlCol="0" anchor="ctr"/>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Furnizorii</a:t>
            </a:r>
            <a:endParaRPr lang="en-US" sz="1700" dirty="0"/>
          </a:p>
        </p:txBody>
      </p:sp>
      <p:sp>
        <p:nvSpPr>
          <p:cNvPr id="19" name="Shape 17"/>
          <p:cNvSpPr/>
          <p:nvPr/>
        </p:nvSpPr>
        <p:spPr>
          <a:xfrm>
            <a:off x="594360" y="3977640"/>
            <a:ext cx="3520440" cy="1417320"/>
          </a:xfrm>
          <a:prstGeom prst="rect">
            <a:avLst/>
          </a:prstGeom>
          <a:solidFill>
            <a:srgbClr val="FFFFFF"/>
          </a:solidFill>
          <a:ln w="19050">
            <a:solidFill>
              <a:srgbClr val="4A2D8C"/>
            </a:solidFill>
            <a:prstDash val="dash"/>
          </a:ln>
        </p:spPr>
        <p:txBody>
          <a:bodyPr/>
          <a:p/>
        </p:txBody>
      </p:sp>
      <p:sp>
        <p:nvSpPr>
          <p:cNvPr id="20" name="Shape 18"/>
          <p:cNvSpPr/>
          <p:nvPr/>
        </p:nvSpPr>
        <p:spPr>
          <a:xfrm>
            <a:off x="777240" y="4142232"/>
            <a:ext cx="384048" cy="384048"/>
          </a:xfrm>
          <a:prstGeom prst="ellipse">
            <a:avLst/>
          </a:prstGeom>
          <a:solidFill>
            <a:srgbClr val="4A2D8C"/>
          </a:solidFill>
          <a:ln/>
        </p:spPr>
        <p:txBody>
          <a:bodyPr/>
          <a:p/>
        </p:txBody>
      </p:sp>
      <p:sp>
        <p:nvSpPr>
          <p:cNvPr id="21" name="Text 19"/>
          <p:cNvSpPr/>
          <p:nvPr/>
        </p:nvSpPr>
        <p:spPr>
          <a:xfrm>
            <a:off x="777240" y="41422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2" name="Text 20"/>
          <p:cNvSpPr/>
          <p:nvPr/>
        </p:nvSpPr>
        <p:spPr>
          <a:xfrm>
            <a:off x="1280160" y="4142232"/>
            <a:ext cx="2743200" cy="384048"/>
          </a:xfrm>
          <a:prstGeom prst="rect">
            <a:avLst/>
          </a:prstGeom>
          <a:noFill/>
          <a:ln/>
        </p:spPr>
        <p:txBody>
          <a:bodyPr wrap="square" lIns="0" tIns="0" rIns="0" bIns="0" rtlCol="0" anchor="ctr"/>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Finanțarea</a:t>
            </a:r>
            <a:endParaRPr lang="en-US" sz="1700" dirty="0"/>
          </a:p>
        </p:txBody>
      </p:sp>
      <p:sp>
        <p:nvSpPr>
          <p:cNvPr id="23" name="Shape 21"/>
          <p:cNvSpPr/>
          <p:nvPr/>
        </p:nvSpPr>
        <p:spPr>
          <a:xfrm>
            <a:off x="4297680" y="3977640"/>
            <a:ext cx="3520440" cy="1417320"/>
          </a:xfrm>
          <a:prstGeom prst="rect">
            <a:avLst/>
          </a:prstGeom>
          <a:solidFill>
            <a:srgbClr val="FFFFFF"/>
          </a:solidFill>
          <a:ln w="19050">
            <a:solidFill>
              <a:srgbClr val="9C4A0A"/>
            </a:solidFill>
            <a:prstDash val="dash"/>
          </a:ln>
        </p:spPr>
        <p:txBody>
          <a:bodyPr/>
          <a:p/>
        </p:txBody>
      </p:sp>
      <p:sp>
        <p:nvSpPr>
          <p:cNvPr id="24" name="Shape 22"/>
          <p:cNvSpPr/>
          <p:nvPr/>
        </p:nvSpPr>
        <p:spPr>
          <a:xfrm>
            <a:off x="4480560" y="4142232"/>
            <a:ext cx="384048" cy="384048"/>
          </a:xfrm>
          <a:prstGeom prst="ellipse">
            <a:avLst/>
          </a:prstGeom>
          <a:solidFill>
            <a:srgbClr val="9C4A0A"/>
          </a:solidFill>
          <a:ln/>
        </p:spPr>
        <p:txBody>
          <a:bodyPr/>
          <a:p/>
        </p:txBody>
      </p:sp>
      <p:sp>
        <p:nvSpPr>
          <p:cNvPr id="25" name="Text 23"/>
          <p:cNvSpPr/>
          <p:nvPr/>
        </p:nvSpPr>
        <p:spPr>
          <a:xfrm>
            <a:off x="4480560" y="41422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6" name="Text 24"/>
          <p:cNvSpPr/>
          <p:nvPr/>
        </p:nvSpPr>
        <p:spPr>
          <a:xfrm>
            <a:off x="4983480" y="4142232"/>
            <a:ext cx="2743200" cy="384048"/>
          </a:xfrm>
          <a:prstGeom prst="rect">
            <a:avLst/>
          </a:prstGeom>
          <a:noFill/>
          <a:ln/>
        </p:spPr>
        <p:txBody>
          <a:bodyPr wrap="square" lIns="0" tIns="0" rIns="0" bIns="0" rtlCol="0" anchor="ctr"/>
          <a:lstStyle/>
          <a:p>
            <a:pPr indent="0" marL="0">
              <a:buNone/>
            </a:pPr>
            <a:r>
              <a:rPr lang="en-US" sz="1700" b="1" dirty="0">
                <a:solidFill>
                  <a:srgbClr val="9C4A0A"/>
                </a:solidFill>
                <a:latin typeface="Palatino Linotype" pitchFamily="34" charset="0"/>
                <a:ea typeface="Palatino Linotype" pitchFamily="34" charset="-122"/>
                <a:cs typeface="Palatino Linotype" pitchFamily="34" charset="-120"/>
              </a:rPr>
              <a:t>Documentele</a:t>
            </a:r>
            <a:endParaRPr lang="en-US" sz="1700" dirty="0"/>
          </a:p>
        </p:txBody>
      </p:sp>
      <p:sp>
        <p:nvSpPr>
          <p:cNvPr id="27" name="Shape 25"/>
          <p:cNvSpPr/>
          <p:nvPr/>
        </p:nvSpPr>
        <p:spPr>
          <a:xfrm>
            <a:off x="8001000" y="3977640"/>
            <a:ext cx="3520440" cy="1417320"/>
          </a:xfrm>
          <a:prstGeom prst="rect">
            <a:avLst/>
          </a:prstGeom>
          <a:solidFill>
            <a:srgbClr val="FFFFFF"/>
          </a:solidFill>
          <a:ln w="19050">
            <a:solidFill>
              <a:srgbClr val="B02532"/>
            </a:solidFill>
            <a:prstDash val="dash"/>
          </a:ln>
        </p:spPr>
        <p:txBody>
          <a:bodyPr/>
          <a:p/>
        </p:txBody>
      </p:sp>
      <p:sp>
        <p:nvSpPr>
          <p:cNvPr id="28" name="Shape 26"/>
          <p:cNvSpPr/>
          <p:nvPr/>
        </p:nvSpPr>
        <p:spPr>
          <a:xfrm>
            <a:off x="8183880" y="4142232"/>
            <a:ext cx="384048" cy="384048"/>
          </a:xfrm>
          <a:prstGeom prst="ellipse">
            <a:avLst/>
          </a:prstGeom>
          <a:solidFill>
            <a:srgbClr val="B02532"/>
          </a:solidFill>
          <a:ln/>
        </p:spPr>
        <p:txBody>
          <a:bodyPr/>
          <a:p/>
        </p:txBody>
      </p:sp>
      <p:sp>
        <p:nvSpPr>
          <p:cNvPr id="29" name="Text 27"/>
          <p:cNvSpPr/>
          <p:nvPr/>
        </p:nvSpPr>
        <p:spPr>
          <a:xfrm>
            <a:off x="8183880" y="41422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6</a:t>
            </a:r>
            <a:endParaRPr lang="en-US" sz="1400" dirty="0"/>
          </a:p>
        </p:txBody>
      </p:sp>
      <p:sp>
        <p:nvSpPr>
          <p:cNvPr id="30" name="Text 28"/>
          <p:cNvSpPr/>
          <p:nvPr/>
        </p:nvSpPr>
        <p:spPr>
          <a:xfrm>
            <a:off x="8686800" y="4142232"/>
            <a:ext cx="2743200" cy="384048"/>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Barierele</a:t>
            </a:r>
            <a:endParaRPr lang="en-US" sz="1700" dirty="0"/>
          </a:p>
        </p:txBody>
      </p:sp>
      <p:sp>
        <p:nvSpPr>
          <p:cNvPr id="31" name="Text 29"/>
          <p:cNvSpPr/>
          <p:nvPr/>
        </p:nvSpPr>
        <p:spPr>
          <a:xfrm>
            <a:off x="594360" y="5623560"/>
            <a:ext cx="10972800" cy="640080"/>
          </a:xfrm>
          <a:prstGeom prst="rect">
            <a:avLst/>
          </a:prstGeom>
          <a:noFill/>
          <a:ln/>
        </p:spPr>
        <p:txBody>
          <a:bodyPr wrap="square" lIns="0" tIns="0" rIns="0" bIns="0" rtlCol="0" anchor="t"/>
          <a:lstStyle/>
          <a:p>
            <a:pPr indent="0" marL="0">
              <a:buNone/>
            </a:pPr>
            <a:r>
              <a:rPr lang="en-US" sz="1450" i="1" dirty="0">
                <a:solidFill>
                  <a:srgbClr val="0E7C6B"/>
                </a:solidFill>
                <a:latin typeface="Palatino Linotype" pitchFamily="34" charset="0"/>
                <a:ea typeface="Palatino Linotype" pitchFamily="34" charset="-122"/>
                <a:cs typeface="Palatino Linotype" pitchFamily="34" charset="-120"/>
              </a:rPr>
              <a:t>Traseul pacientului: locurile prin care trece, documentele care îl trec dintr-un loc în altul și cine plătește la fiecare pas.</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BFKIII/active/img/sala_proceduri_commons.jpg">    </p:cNvPr>
          <p:cNvPicPr>
            <a:picLocks noChangeAspect="1"/>
          </p:cNvPicPr>
          <p:nvPr/>
        </p:nvPicPr>
        <p:blipFill>
          <a:blip r:embed="rId1"/>
          <a:srcRect l="0" r="0" t="0" b="0"/>
          <a:stretch/>
        </p:blipFill>
        <p:spPr>
          <a:xfrm>
            <a:off x="0" y="0"/>
            <a:ext cx="5486400" cy="6858000"/>
          </a:xfrm>
          <a:prstGeom prst="rect">
            <a:avLst/>
          </a:prstGeom>
        </p:spPr>
      </p:pic>
      <p:sp>
        <p:nvSpPr>
          <p:cNvPr id="3" name="Shape 0"/>
          <p:cNvSpPr/>
          <p:nvPr/>
        </p:nvSpPr>
        <p:spPr>
          <a:xfrm>
            <a:off x="0" y="6144768"/>
            <a:ext cx="5486400" cy="713232"/>
          </a:xfrm>
          <a:prstGeom prst="rect">
            <a:avLst/>
          </a:prstGeom>
          <a:solidFill>
            <a:srgbClr val="11121A">
              <a:alpha val="75000"/>
            </a:srgbClr>
          </a:solidFill>
          <a:ln w="12700">
            <a:solidFill>
              <a:srgbClr val="11121A"/>
            </a:solidFill>
            <a:prstDash val="solid"/>
          </a:ln>
        </p:spPr>
        <p:txBody>
          <a:bodyPr/>
          <a:p/>
        </p:txBody>
      </p:sp>
      <p:sp>
        <p:nvSpPr>
          <p:cNvPr id="4" name="Text 1"/>
          <p:cNvSpPr/>
          <p:nvPr/>
        </p:nvSpPr>
        <p:spPr>
          <a:xfrm>
            <a:off x="228600" y="6181344"/>
            <a:ext cx="5029200" cy="384048"/>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Sală de proceduri de fizioterapie într-o clinică din Karelia, Rusia</a:t>
            </a:r>
            <a:endParaRPr lang="en-US" sz="1100" dirty="0"/>
          </a:p>
        </p:txBody>
      </p:sp>
      <p:sp>
        <p:nvSpPr>
          <p:cNvPr id="5" name="Text 2"/>
          <p:cNvSpPr/>
          <p:nvPr/>
        </p:nvSpPr>
        <p:spPr>
          <a:xfrm>
            <a:off x="228600" y="6565392"/>
            <a:ext cx="5029200" cy="219456"/>
          </a:xfrm>
          <a:prstGeom prst="rect">
            <a:avLst/>
          </a:prstGeom>
          <a:noFill/>
          <a:ln/>
        </p:spPr>
        <p:txBody>
          <a:bodyPr wrap="square" lIns="0" tIns="0" rIns="0" bIns="0" rtlCol="0" anchor="ctr"/>
          <a:lstStyle/>
          <a:p>
            <a:pPr indent="0" marL="0">
              <a:buNone/>
            </a:pPr>
            <a:r>
              <a:rPr lang="en-US" sz="850" i="1" dirty="0">
                <a:solidFill>
                  <a:srgbClr val="C9CCD8"/>
                </a:solidFill>
                <a:latin typeface="Palatino Linotype" pitchFamily="34" charset="0"/>
                <a:ea typeface="Palatino Linotype" pitchFamily="34" charset="-122"/>
                <a:cs typeface="Palatino Linotype" pitchFamily="34" charset="-120"/>
              </a:rPr>
              <a:t>Sursa: Igor Georgievskiy, Wikimedia Commons · CC BY-SA 4.0</a:t>
            </a:r>
            <a:endParaRPr lang="en-US" sz="850" dirty="0"/>
          </a:p>
        </p:txBody>
      </p:sp>
      <p:sp>
        <p:nvSpPr>
          <p:cNvPr id="6" name="Text 3"/>
          <p:cNvSpPr/>
          <p:nvPr/>
        </p:nvSpPr>
        <p:spPr>
          <a:xfrm>
            <a:off x="5943600" y="347472"/>
            <a:ext cx="5852160" cy="329184"/>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DUPĂ LUCRARE · PACIENTA A</a:t>
            </a:r>
            <a:endParaRPr lang="en-US" sz="1300" dirty="0"/>
          </a:p>
        </p:txBody>
      </p:sp>
      <p:sp>
        <p:nvSpPr>
          <p:cNvPr id="7" name="Text 4"/>
          <p:cNvSpPr/>
          <p:nvPr/>
        </p:nvSpPr>
        <p:spPr>
          <a:xfrm>
            <a:off x="5943600" y="685800"/>
            <a:ext cx="5852160" cy="64008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Traseul completat</a:t>
            </a:r>
            <a:endParaRPr lang="en-US" sz="3000" dirty="0"/>
          </a:p>
        </p:txBody>
      </p:sp>
      <p:sp>
        <p:nvSpPr>
          <p:cNvPr id="8" name="Shape 5"/>
          <p:cNvSpPr/>
          <p:nvPr/>
        </p:nvSpPr>
        <p:spPr>
          <a:xfrm>
            <a:off x="5943600" y="1554480"/>
            <a:ext cx="64008" cy="667512"/>
          </a:xfrm>
          <a:prstGeom prst="rect">
            <a:avLst/>
          </a:prstGeom>
          <a:solidFill>
            <a:srgbClr val="B02532"/>
          </a:solidFill>
          <a:ln w="12700">
            <a:solidFill>
              <a:srgbClr val="B02532"/>
            </a:solidFill>
            <a:prstDash val="solid"/>
          </a:ln>
        </p:spPr>
        <p:txBody>
          <a:bodyPr/>
          <a:p/>
        </p:txBody>
      </p:sp>
      <p:sp>
        <p:nvSpPr>
          <p:cNvPr id="9" name="Text 6"/>
          <p:cNvSpPr/>
          <p:nvPr/>
        </p:nvSpPr>
        <p:spPr>
          <a:xfrm>
            <a:off x="6172200" y="1508760"/>
            <a:ext cx="5440680" cy="786384"/>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Intrarea: medicul de familie, pentru o problemă cronică, fără urgență.</a:t>
            </a:r>
            <a:endParaRPr lang="en-US" sz="1500" dirty="0"/>
          </a:p>
        </p:txBody>
      </p:sp>
      <p:sp>
        <p:nvSpPr>
          <p:cNvPr id="10" name="Shape 7"/>
          <p:cNvSpPr/>
          <p:nvPr/>
        </p:nvSpPr>
        <p:spPr>
          <a:xfrm>
            <a:off x="5943600" y="2450592"/>
            <a:ext cx="64008" cy="667512"/>
          </a:xfrm>
          <a:prstGeom prst="rect">
            <a:avLst/>
          </a:prstGeom>
          <a:solidFill>
            <a:srgbClr val="8A6100"/>
          </a:solidFill>
          <a:ln w="12700">
            <a:solidFill>
              <a:srgbClr val="8A6100"/>
            </a:solidFill>
            <a:prstDash val="solid"/>
          </a:ln>
        </p:spPr>
        <p:txBody>
          <a:bodyPr/>
          <a:p/>
        </p:txBody>
      </p:sp>
      <p:sp>
        <p:nvSpPr>
          <p:cNvPr id="11" name="Text 8"/>
          <p:cNvSpPr/>
          <p:nvPr/>
        </p:nvSpPr>
        <p:spPr>
          <a:xfrm>
            <a:off x="6172200" y="2404872"/>
            <a:ext cx="5440680" cy="786384"/>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Trimiterea: biletul de trimitere, formular cu regim special, către medicul de medicină fizică și de reabilitare.</a:t>
            </a:r>
            <a:endParaRPr lang="en-US" sz="1500" dirty="0"/>
          </a:p>
        </p:txBody>
      </p:sp>
      <p:sp>
        <p:nvSpPr>
          <p:cNvPr id="12" name="Shape 9"/>
          <p:cNvSpPr/>
          <p:nvPr/>
        </p:nvSpPr>
        <p:spPr>
          <a:xfrm>
            <a:off x="5943600" y="3346704"/>
            <a:ext cx="64008" cy="667512"/>
          </a:xfrm>
          <a:prstGeom prst="rect">
            <a:avLst/>
          </a:prstGeom>
          <a:solidFill>
            <a:srgbClr val="0E7C6B"/>
          </a:solidFill>
          <a:ln w="12700">
            <a:solidFill>
              <a:srgbClr val="0E7C6B"/>
            </a:solidFill>
            <a:prstDash val="solid"/>
          </a:ln>
        </p:spPr>
        <p:txBody>
          <a:bodyPr/>
          <a:p/>
        </p:txBody>
      </p:sp>
      <p:sp>
        <p:nvSpPr>
          <p:cNvPr id="13" name="Text 10"/>
          <p:cNvSpPr/>
          <p:nvPr/>
        </p:nvSpPr>
        <p:spPr>
          <a:xfrm>
            <a:off x="6172200" y="3300984"/>
            <a:ext cx="5440680" cy="786384"/>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Furnizorii: medicul de familie, apoi medicul de reabilitare, cu planul de proceduri, apoi furnizorul din ambulatoriu, cu fizioterapeut.</a:t>
            </a:r>
            <a:endParaRPr lang="en-US" sz="1500" dirty="0"/>
          </a:p>
        </p:txBody>
      </p:sp>
      <p:sp>
        <p:nvSpPr>
          <p:cNvPr id="14" name="Shape 11"/>
          <p:cNvSpPr/>
          <p:nvPr/>
        </p:nvSpPr>
        <p:spPr>
          <a:xfrm>
            <a:off x="5943600" y="4242816"/>
            <a:ext cx="64008" cy="667512"/>
          </a:xfrm>
          <a:prstGeom prst="rect">
            <a:avLst/>
          </a:prstGeom>
          <a:solidFill>
            <a:srgbClr val="4A2D8C"/>
          </a:solidFill>
          <a:ln w="12700">
            <a:solidFill>
              <a:srgbClr val="4A2D8C"/>
            </a:solidFill>
            <a:prstDash val="solid"/>
          </a:ln>
        </p:spPr>
        <p:txBody>
          <a:bodyPr/>
          <a:p/>
        </p:txBody>
      </p:sp>
      <p:sp>
        <p:nvSpPr>
          <p:cNvPr id="15" name="Text 12"/>
          <p:cNvSpPr/>
          <p:nvPr/>
        </p:nvSpPr>
        <p:spPr>
          <a:xfrm>
            <a:off x="6172200" y="4197096"/>
            <a:ext cx="5440680" cy="786384"/>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Finanțarea: casa de asigurări, pentru furnizorul din contract; pacienta plătește coplata de 5–10 lei pe serie, transportul și zilele pierdute.</a:t>
            </a:r>
            <a:endParaRPr lang="en-US" sz="1500" dirty="0"/>
          </a:p>
        </p:txBody>
      </p:sp>
      <p:sp>
        <p:nvSpPr>
          <p:cNvPr id="16" name="Shape 13"/>
          <p:cNvSpPr/>
          <p:nvPr/>
        </p:nvSpPr>
        <p:spPr>
          <a:xfrm>
            <a:off x="5943600" y="5138928"/>
            <a:ext cx="64008" cy="667512"/>
          </a:xfrm>
          <a:prstGeom prst="rect">
            <a:avLst/>
          </a:prstGeom>
          <a:solidFill>
            <a:srgbClr val="9C4A0A"/>
          </a:solidFill>
          <a:ln w="12700">
            <a:solidFill>
              <a:srgbClr val="9C4A0A"/>
            </a:solidFill>
            <a:prstDash val="solid"/>
          </a:ln>
        </p:spPr>
        <p:txBody>
          <a:bodyPr/>
          <a:p/>
        </p:txBody>
      </p:sp>
      <p:sp>
        <p:nvSpPr>
          <p:cNvPr id="17" name="Text 14"/>
          <p:cNvSpPr/>
          <p:nvPr/>
        </p:nvSpPr>
        <p:spPr>
          <a:xfrm>
            <a:off x="6172200" y="5093208"/>
            <a:ext cx="5440680" cy="786384"/>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Barierele: distanța, programul din ture și teama de mișcare, fiecare cu o soluție concretă.</a:t>
            </a:r>
            <a:endParaRPr lang="en-US" sz="1500" dirty="0"/>
          </a:p>
        </p:txBody>
      </p:sp>
      <p:sp>
        <p:nvSpPr>
          <p:cNvPr id="18" name="Text 15"/>
          <p:cNvSpPr/>
          <p:nvPr/>
        </p:nvSpPr>
        <p:spPr>
          <a:xfrm>
            <a:off x="5943600" y="6035040"/>
            <a:ext cx="5669280" cy="365760"/>
          </a:xfrm>
          <a:prstGeom prst="rect">
            <a:avLst/>
          </a:prstGeom>
          <a:noFill/>
          <a:ln/>
        </p:spPr>
        <p:txBody>
          <a:bodyPr wrap="square" lIns="0" tIns="0" rIns="0" bIns="0" rtlCol="0" anchor="t"/>
          <a:lstStyle/>
          <a:p>
            <a:pPr indent="0" marL="0">
              <a:buNone/>
            </a:pPr>
            <a:r>
              <a:rPr lang="en-US" sz="1250" b="1" dirty="0">
                <a:solidFill>
                  <a:srgbClr val="0E7C6B"/>
                </a:solidFill>
                <a:latin typeface="Palatino Linotype" pitchFamily="34" charset="0"/>
                <a:ea typeface="Palatino Linotype" pitchFamily="34" charset="-122"/>
                <a:cs typeface="Palatino Linotype" pitchFamily="34" charset="-120"/>
              </a:rPr>
              <a:t>Documentele de pe traseu: biletul de trimitere și planul de proceduri.</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 DOUA JUMĂTATE A LUCRĂRII</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Formularul individual: traseul pacientului-ancoră</a:t>
            </a:r>
            <a:endParaRPr lang="en-US" sz="3000" dirty="0"/>
          </a:p>
        </p:txBody>
      </p:sp>
      <p:sp>
        <p:nvSpPr>
          <p:cNvPr id="4" name="Shape 2"/>
          <p:cNvSpPr/>
          <p:nvPr/>
        </p:nvSpPr>
        <p:spPr>
          <a:xfrm>
            <a:off x="594360" y="1810512"/>
            <a:ext cx="73152" cy="822960"/>
          </a:xfrm>
          <a:prstGeom prst="rect">
            <a:avLst/>
          </a:prstGeom>
          <a:solidFill>
            <a:srgbClr val="FF4757"/>
          </a:solidFill>
          <a:ln w="12700">
            <a:solidFill>
              <a:srgbClr val="FF4757"/>
            </a:solidFill>
            <a:prstDash val="solid"/>
          </a:ln>
        </p:spPr>
        <p:txBody>
          <a:bodyPr/>
          <a:p/>
        </p:txBody>
      </p:sp>
      <p:sp>
        <p:nvSpPr>
          <p:cNvPr id="5" name="Text 3"/>
          <p:cNvSpPr/>
          <p:nvPr/>
        </p:nvSpPr>
        <p:spPr>
          <a:xfrm>
            <a:off x="868680" y="1737360"/>
            <a:ext cx="6858000" cy="9601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Alegeți pacientul-ancoră de la primul curs: A, B sau C.</a:t>
            </a:r>
            <a:endParaRPr lang="en-US" sz="1800" dirty="0"/>
          </a:p>
        </p:txBody>
      </p:sp>
      <p:sp>
        <p:nvSpPr>
          <p:cNvPr id="6" name="Shape 4"/>
          <p:cNvSpPr/>
          <p:nvPr/>
        </p:nvSpPr>
        <p:spPr>
          <a:xfrm>
            <a:off x="594360" y="2907792"/>
            <a:ext cx="73152" cy="822960"/>
          </a:xfrm>
          <a:prstGeom prst="rect">
            <a:avLst/>
          </a:prstGeom>
          <a:solidFill>
            <a:srgbClr val="FFC24B"/>
          </a:solidFill>
          <a:ln w="12700">
            <a:solidFill>
              <a:srgbClr val="FFC24B"/>
            </a:solidFill>
            <a:prstDash val="solid"/>
          </a:ln>
        </p:spPr>
        <p:txBody>
          <a:bodyPr/>
          <a:p/>
        </p:txBody>
      </p:sp>
      <p:sp>
        <p:nvSpPr>
          <p:cNvPr id="7" name="Text 5"/>
          <p:cNvSpPr/>
          <p:nvPr/>
        </p:nvSpPr>
        <p:spPr>
          <a:xfrm>
            <a:off x="868680" y="2834640"/>
            <a:ext cx="6858000" cy="9601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Completați cele șase căsuțe ale traseului și trei bariere de acces, fiecare cu o soluție concretă.</a:t>
            </a:r>
            <a:endParaRPr lang="en-US" sz="1800" dirty="0"/>
          </a:p>
        </p:txBody>
      </p:sp>
      <p:sp>
        <p:nvSpPr>
          <p:cNvPr id="8" name="Shape 6"/>
          <p:cNvSpPr/>
          <p:nvPr/>
        </p:nvSpPr>
        <p:spPr>
          <a:xfrm>
            <a:off x="594360" y="4005072"/>
            <a:ext cx="73152" cy="822960"/>
          </a:xfrm>
          <a:prstGeom prst="rect">
            <a:avLst/>
          </a:prstGeom>
          <a:solidFill>
            <a:srgbClr val="27D3BE"/>
          </a:solidFill>
          <a:ln w="12700">
            <a:solidFill>
              <a:srgbClr val="27D3BE"/>
            </a:solidFill>
            <a:prstDash val="solid"/>
          </a:ln>
        </p:spPr>
        <p:txBody>
          <a:bodyPr/>
          <a:p/>
        </p:txBody>
      </p:sp>
      <p:sp>
        <p:nvSpPr>
          <p:cNvPr id="9" name="Text 7"/>
          <p:cNvSpPr/>
          <p:nvPr/>
        </p:nvSpPr>
        <p:spPr>
          <a:xfrm>
            <a:off x="868680" y="3931920"/>
            <a:ext cx="6858000" cy="9601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Cadrul didactic trece printre dumneavoastră și verifică la fiecare pas sursa de finanțare și documentul de trecere.</a:t>
            </a:r>
            <a:endParaRPr lang="en-US" sz="1800" dirty="0"/>
          </a:p>
        </p:txBody>
      </p:sp>
      <p:sp>
        <p:nvSpPr>
          <p:cNvPr id="10" name="Shape 8"/>
          <p:cNvSpPr/>
          <p:nvPr/>
        </p:nvSpPr>
        <p:spPr>
          <a:xfrm>
            <a:off x="8138160" y="1737360"/>
            <a:ext cx="3429000" cy="3154680"/>
          </a:xfrm>
          <a:prstGeom prst="roundRect">
            <a:avLst>
              <a:gd name="adj" fmla="val 2609"/>
            </a:avLst>
          </a:prstGeom>
          <a:solidFill>
            <a:srgbClr val="FFFFFF"/>
          </a:solidFill>
          <a:ln w="12700">
            <a:solidFill>
              <a:srgbClr val="FFFFFF"/>
            </a:solidFill>
            <a:prstDash val="solid"/>
          </a:ln>
        </p:spPr>
        <p:txBody>
          <a:bodyPr/>
          <a:p/>
        </p:txBody>
      </p:sp>
      <p:sp>
        <p:nvSpPr>
          <p:cNvPr id="12" name="Text 10"/>
          <p:cNvSpPr/>
          <p:nvPr/>
        </p:nvSpPr>
        <p:spPr>
          <a:xfrm>
            <a:off x="8138160" y="4983480"/>
            <a:ext cx="3429000" cy="457200"/>
          </a:xfrm>
          <a:prstGeom prst="rect">
            <a:avLst/>
          </a:prstGeom>
          <a:noFill/>
          <a:ln/>
        </p:spPr>
        <p:txBody>
          <a:bodyPr wrap="square" lIns="0" tIns="0" rIns="0" bIns="0" rtlCol="0" anchor="t"/>
          <a:lstStyle/>
          <a:p>
            <a:pPr algn="ctr" indent="0" marL="0">
              <a:buNone/>
            </a:pPr>
            <a:r>
              <a:rPr lang="en-US" sz="1800" b="1" dirty="0">
                <a:solidFill>
                  <a:srgbClr val="27D3BE"/>
                </a:solidFill>
                <a:latin typeface="Palatino Linotype" pitchFamily="34" charset="0"/>
                <a:ea typeface="Palatino Linotype" pitchFamily="34" charset="-122"/>
                <a:cs typeface="Palatino Linotype" pitchFamily="34" charset="-120"/>
              </a:rPr>
              <a:t>Formularul individual</a:t>
            </a:r>
            <a:endParaRPr lang="en-US" sz="1800" dirty="0"/>
          </a:p>
        </p:txBody>
      </p:sp>
      <p:sp>
        <p:nvSpPr>
          <p:cNvPr id="13" name="Text 11"/>
          <p:cNvSpPr/>
          <p:nvPr/>
        </p:nvSpPr>
        <p:spPr>
          <a:xfrm>
            <a:off x="594360" y="5212080"/>
            <a:ext cx="7132320" cy="91440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Îl începeți în sală și îl trimiteți cel târziu luni, 19 octombrie 2026, ora 14:00. Cine îl termină în sală nu mai are nimic de lucrat acasă.</a:t>
            </a:r>
            <a:endParaRPr lang="en-US" sz="1600" dirty="0"/>
          </a:p>
        </p:txBody>
      </p:sp>
      <p:pic>
        <p:nvPicPr>
          <p:cNvPr id="14" name="Picture 13" descr="BFKIII_LP02_acasa.png"/>
          <p:cNvPicPr>
            <a:picLocks noChangeAspect="1"/>
          </p:cNvPicPr>
          <p:nvPr/>
        </p:nvPicPr>
        <p:blipFill>
          <a:blip r:embed="rId3"/>
          <a:stretch>
            <a:fillRect/>
          </a:stretch>
        </p:blipFill>
        <p:spPr>
          <a:xfrm>
            <a:off x="8481695" y="1737360"/>
            <a:ext cx="2741930" cy="2741930"/>
          </a:xfrm>
          <a:prstGeom prst="rect">
            <a:avLst/>
          </a:prstGeom>
        </p:spPr>
      </p:pic>
      <p:sp>
        <p:nvSpPr>
          <p:cNvPr id="15" name="TextBox 14"/>
          <p:cNvSpPr txBox="1"/>
          <p:nvPr/>
        </p:nvSpPr>
        <p:spPr>
          <a:xfrm>
            <a:off x="8138160" y="4517390"/>
            <a:ext cx="3429000" cy="412750"/>
          </a:xfrm>
          <a:prstGeom prst="rect">
            <a:avLst/>
          </a:prstGeom>
          <a:noFill/>
        </p:spPr>
        <p:txBody>
          <a:bodyPr wrap="square" lIns="0" rIns="0" tIns="0" bIns="0" anchor="t">
            <a:spAutoFit/>
          </a:bodyPr>
          <a:lstStyle/>
          <a:p>
            <a:pPr algn="ctr"/>
            <a:r>
              <a:rPr sz="1300" b="1">
                <a:solidFill>
                  <a:srgbClr val="B02532"/>
                </a:solidFill>
                <a:latin typeface="Palatino Linotype"/>
              </a:rPr>
              <a:t>formularul individual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BFKIII/active/img/aparate_parc_commons.jpg">    </p:cNvPr>
          <p:cNvPicPr>
            <a:picLocks noChangeAspect="1"/>
          </p:cNvPicPr>
          <p:nvPr/>
        </p:nvPicPr>
        <p:blipFill>
          <a:blip r:embed="rId1"/>
          <a:srcRect l="0" r="0" t="0" b="0"/>
          <a:stretch/>
        </p:blipFill>
        <p:spPr>
          <a:xfrm>
            <a:off x="0" y="0"/>
            <a:ext cx="5486400" cy="6858000"/>
          </a:xfrm>
          <a:prstGeom prst="rect">
            <a:avLst/>
          </a:prstGeom>
        </p:spPr>
      </p:pic>
      <p:sp>
        <p:nvSpPr>
          <p:cNvPr id="3" name="Shape 0"/>
          <p:cNvSpPr/>
          <p:nvPr/>
        </p:nvSpPr>
        <p:spPr>
          <a:xfrm>
            <a:off x="0" y="6144768"/>
            <a:ext cx="5486400" cy="713232"/>
          </a:xfrm>
          <a:prstGeom prst="rect">
            <a:avLst/>
          </a:prstGeom>
          <a:solidFill>
            <a:srgbClr val="11121A">
              <a:alpha val="75000"/>
            </a:srgbClr>
          </a:solidFill>
          <a:ln w="12700">
            <a:solidFill>
              <a:srgbClr val="11121A"/>
            </a:solidFill>
            <a:prstDash val="solid"/>
          </a:ln>
        </p:spPr>
        <p:txBody>
          <a:bodyPr/>
          <a:p/>
        </p:txBody>
      </p:sp>
      <p:sp>
        <p:nvSpPr>
          <p:cNvPr id="4" name="Text 1"/>
          <p:cNvSpPr/>
          <p:nvPr/>
        </p:nvSpPr>
        <p:spPr>
          <a:xfrm>
            <a:off x="228600" y="6181344"/>
            <a:ext cx="5029200" cy="384048"/>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Aparate de exerciții într-un parc</a:t>
            </a:r>
            <a:endParaRPr lang="en-US" sz="1100" dirty="0"/>
          </a:p>
        </p:txBody>
      </p:sp>
      <p:sp>
        <p:nvSpPr>
          <p:cNvPr id="5" name="Text 2"/>
          <p:cNvSpPr/>
          <p:nvPr/>
        </p:nvSpPr>
        <p:spPr>
          <a:xfrm>
            <a:off x="228600" y="6565392"/>
            <a:ext cx="5029200" cy="219456"/>
          </a:xfrm>
          <a:prstGeom prst="rect">
            <a:avLst/>
          </a:prstGeom>
          <a:noFill/>
          <a:ln/>
        </p:spPr>
        <p:txBody>
          <a:bodyPr wrap="square" lIns="0" tIns="0" rIns="0" bIns="0" rtlCol="0" anchor="ctr"/>
          <a:lstStyle/>
          <a:p>
            <a:pPr indent="0" marL="0">
              <a:buNone/>
            </a:pPr>
            <a:r>
              <a:rPr lang="en-US" sz="850" i="1" dirty="0">
                <a:solidFill>
                  <a:srgbClr val="C9CCD8"/>
                </a:solidFill>
                <a:latin typeface="Palatino Linotype" pitchFamily="34" charset="0"/>
                <a:ea typeface="Palatino Linotype" pitchFamily="34" charset="-122"/>
                <a:cs typeface="Palatino Linotype" pitchFamily="34" charset="-120"/>
              </a:rPr>
              <a:t>Sursa: Rodhullandemu, Wikimedia Commons · CC BY-SA 4.0</a:t>
            </a:r>
            <a:endParaRPr lang="en-US" sz="850" dirty="0"/>
          </a:p>
        </p:txBody>
      </p:sp>
      <p:sp>
        <p:nvSpPr>
          <p:cNvPr id="6" name="Text 3"/>
          <p:cNvSpPr/>
          <p:nvPr/>
        </p:nvSpPr>
        <p:spPr>
          <a:xfrm>
            <a:off x="5943600" y="347472"/>
            <a:ext cx="5852160" cy="329184"/>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SINTEZA</a:t>
            </a:r>
            <a:endParaRPr lang="en-US" sz="1300" dirty="0"/>
          </a:p>
        </p:txBody>
      </p:sp>
      <p:sp>
        <p:nvSpPr>
          <p:cNvPr id="7" name="Text 4"/>
          <p:cNvSpPr/>
          <p:nvPr/>
        </p:nvSpPr>
        <p:spPr>
          <a:xfrm>
            <a:off x="5943600" y="685800"/>
            <a:ext cx="5852160" cy="64008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Două distanțe, același domeniu</a:t>
            </a:r>
            <a:endParaRPr lang="en-US" sz="2800" dirty="0"/>
          </a:p>
        </p:txBody>
      </p:sp>
      <p:sp>
        <p:nvSpPr>
          <p:cNvPr id="8" name="Text 5"/>
          <p:cNvSpPr/>
          <p:nvPr/>
        </p:nvSpPr>
        <p:spPr>
          <a:xfrm>
            <a:off x="5943600" y="1463040"/>
            <a:ext cx="5669280" cy="173736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Prima parte a privit un grup, vârstnicii unei comune, și o intervenție care se poate verifica. A doua a privit un pacient, cu documentele, plățile și opririle lui. Fizioterapeutul lucrează în ambele planuri.</a:t>
            </a:r>
            <a:endParaRPr lang="en-US" sz="1650" dirty="0"/>
          </a:p>
        </p:txBody>
      </p:sp>
      <p:sp>
        <p:nvSpPr>
          <p:cNvPr id="9" name="Text 6"/>
          <p:cNvSpPr/>
          <p:nvPr/>
        </p:nvSpPr>
        <p:spPr>
          <a:xfrm>
            <a:off x="5943600" y="3291840"/>
            <a:ext cx="566928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LUNI DIMINEAȚĂ</a:t>
            </a:r>
            <a:endParaRPr lang="en-US" sz="1300" dirty="0"/>
          </a:p>
        </p:txBody>
      </p:sp>
      <p:sp>
        <p:nvSpPr>
          <p:cNvPr id="10" name="Shape 7"/>
          <p:cNvSpPr/>
          <p:nvPr/>
        </p:nvSpPr>
        <p:spPr>
          <a:xfrm>
            <a:off x="5943600" y="3703320"/>
            <a:ext cx="64008" cy="640080"/>
          </a:xfrm>
          <a:prstGeom prst="rect">
            <a:avLst/>
          </a:prstGeom>
          <a:solidFill>
            <a:srgbClr val="B02532"/>
          </a:solidFill>
          <a:ln w="12700">
            <a:solidFill>
              <a:srgbClr val="B02532"/>
            </a:solidFill>
            <a:prstDash val="solid"/>
          </a:ln>
        </p:spPr>
        <p:txBody>
          <a:bodyPr/>
          <a:p/>
        </p:txBody>
      </p:sp>
      <p:sp>
        <p:nvSpPr>
          <p:cNvPr id="11" name="Text 8"/>
          <p:cNvSpPr/>
          <p:nvPr/>
        </p:nvSpPr>
        <p:spPr>
          <a:xfrm>
            <a:off x="6172200" y="3657600"/>
            <a:ext cx="5440680" cy="758952"/>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Scrieți întâi obiectivul și indicatorul, apoi activitățile.</a:t>
            </a:r>
            <a:endParaRPr lang="en-US" sz="1550" dirty="0"/>
          </a:p>
        </p:txBody>
      </p:sp>
      <p:sp>
        <p:nvSpPr>
          <p:cNvPr id="12" name="Shape 9"/>
          <p:cNvSpPr/>
          <p:nvPr/>
        </p:nvSpPr>
        <p:spPr>
          <a:xfrm>
            <a:off x="5943600" y="4572000"/>
            <a:ext cx="64008" cy="640080"/>
          </a:xfrm>
          <a:prstGeom prst="rect">
            <a:avLst/>
          </a:prstGeom>
          <a:solidFill>
            <a:srgbClr val="8A6100"/>
          </a:solidFill>
          <a:ln w="12700">
            <a:solidFill>
              <a:srgbClr val="8A6100"/>
            </a:solidFill>
            <a:prstDash val="solid"/>
          </a:ln>
        </p:spPr>
        <p:txBody>
          <a:bodyPr/>
          <a:p/>
        </p:txBody>
      </p:sp>
      <p:sp>
        <p:nvSpPr>
          <p:cNvPr id="13" name="Text 10"/>
          <p:cNvSpPr/>
          <p:nvPr/>
        </p:nvSpPr>
        <p:spPr>
          <a:xfrm>
            <a:off x="6172200" y="4526280"/>
            <a:ext cx="5440680" cy="758952"/>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La vârstnici, adăugați exerciții de echilibru și forță, cel puțin trei zile pe săptămână.</a:t>
            </a:r>
            <a:endParaRPr lang="en-US" sz="1550" dirty="0"/>
          </a:p>
        </p:txBody>
      </p:sp>
      <p:sp>
        <p:nvSpPr>
          <p:cNvPr id="14" name="Shape 11"/>
          <p:cNvSpPr/>
          <p:nvPr/>
        </p:nvSpPr>
        <p:spPr>
          <a:xfrm>
            <a:off x="5943600" y="5440680"/>
            <a:ext cx="64008" cy="640080"/>
          </a:xfrm>
          <a:prstGeom prst="rect">
            <a:avLst/>
          </a:prstGeom>
          <a:solidFill>
            <a:srgbClr val="0E7C6B"/>
          </a:solidFill>
          <a:ln w="12700">
            <a:solidFill>
              <a:srgbClr val="0E7C6B"/>
            </a:solidFill>
            <a:prstDash val="solid"/>
          </a:ln>
        </p:spPr>
        <p:txBody>
          <a:bodyPr/>
          <a:p/>
        </p:txBody>
      </p:sp>
      <p:sp>
        <p:nvSpPr>
          <p:cNvPr id="15" name="Text 12"/>
          <p:cNvSpPr/>
          <p:nvPr/>
        </p:nvSpPr>
        <p:spPr>
          <a:xfrm>
            <a:off x="6172200" y="5394960"/>
            <a:ext cx="5440680" cy="758952"/>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Când un pacient nu vine, desenați-i traseul și căutați căsuța goală.</a:t>
            </a:r>
            <a:endParaRPr lang="en-US" sz="1550" dirty="0"/>
          </a:p>
        </p:txBody>
      </p:sp>
      <p:sp>
        <p:nvSpPr>
          <p:cNvPr id="16" name="Text 13"/>
          <p:cNvSpPr/>
          <p:nvPr/>
        </p:nvSpPr>
        <p:spPr>
          <a:xfrm>
            <a:off x="5943600" y="6263640"/>
            <a:ext cx="5669280" cy="365760"/>
          </a:xfrm>
          <a:prstGeom prst="rect">
            <a:avLst/>
          </a:prstGeom>
          <a:noFill/>
          <a:ln/>
        </p:spPr>
        <p:txBody>
          <a:bodyPr wrap="square" lIns="0" tIns="0" rIns="0" bIns="0" rtlCol="0" anchor="t"/>
          <a:lstStyle/>
          <a:p>
            <a:pPr indent="0" marL="0">
              <a:buNone/>
            </a:pPr>
            <a:r>
              <a:rPr lang="en-US" sz="1250" b="1" dirty="0">
                <a:solidFill>
                  <a:srgbClr val="0E7C6B"/>
                </a:solidFill>
                <a:latin typeface="Palatino Linotype" pitchFamily="34" charset="0"/>
                <a:ea typeface="Palatino Linotype" pitchFamily="34" charset="-122"/>
                <a:cs typeface="Palatino Linotype" pitchFamily="34" charset="-120"/>
              </a:rPr>
              <a:t>Formularul individual: luni, 19 octombrie 2026, ora 14:00.</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titular</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 fost util azi?</a:t>
            </a:r>
            <a:endParaRPr lang="en-US" sz="20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Unde v-am pierdut?</a:t>
            </a:r>
            <a:endParaRPr lang="en-US" sz="20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0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txBody>
          <a:bodyPr/>
          <a:p/>
        </p:txBody>
      </p:sp>
      <p:sp>
        <p:nvSpPr>
          <p:cNvPr id="15" name="Text 13"/>
          <p:cNvSpPr/>
          <p:nvPr/>
        </p:nvSpPr>
        <p:spPr>
          <a:xfrm>
            <a:off x="8549640" y="2514600"/>
            <a:ext cx="3017520" cy="2468880"/>
          </a:xfrm>
          <a:prstGeom prst="rect">
            <a:avLst/>
          </a:prstGeom>
          <a:noFill/>
          <a:ln/>
        </p:spPr>
        <p:txBody>
          <a:bodyPr wrap="square" lIns="228600" tIns="0" rIns="228600" bIns="0" rtlCol="0" anchor="ctr"/>
          <a:lstStyle/>
          <a:p>
            <a:pPr algn="ctr" indent="0" marL="0">
              <a:buNone/>
            </a:pPr>
            <a:r>
              <a:rPr lang="en-US" sz="1800" dirty="0" i="1">
                <a:solidFill>
                  <a:srgbClr val="585A64"/>
                </a:solidFill>
                <a:latin typeface="Palatino Linotype" pitchFamily="34" charset="0"/>
                <a:ea typeface="Palatino Linotype" pitchFamily="34" charset="-122"/>
                <a:cs typeface="Palatino Linotype" pitchFamily="34" charset="-120"/>
              </a:rPr>
              <a:t>Mentimeter: intrați pe menti.com cu codul afișat pe ecran.</a:t>
            </a:r>
            <a:endParaRPr lang="en-US" sz="1400" dirty="0"/>
          </a:p>
        </p:txBody>
      </p:sp>
      <p:sp>
        <p:nvSpPr>
          <p:cNvPr id="16" name="Text 14"/>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La începutul săptămânii viitoare, pe pagina disciplinei: două modificări făcute pe baza răspunsurilor.</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Lucrarea practică 2 - Intervenția de promovare a activității fizice și traseul pacientului în sistem</dc:title>
  <dc:subject>PptxGenJS Presentation</dc:subject>
  <dc:creator>Conf. Univ. Dr. Adrian Pana</dc:creator>
  <cp:lastModifiedBy>Conf. Univ. Dr. Adrian Pana</cp:lastModifiedBy>
  <cp:revision>1</cp:revision>
  <dcterms:created xsi:type="dcterms:W3CDTF">2026-10-11T10:35:15Z</dcterms:created>
  <dcterms:modified xsi:type="dcterms:W3CDTF">2026-10-11T10:35:15Z</dcterms:modified>
  <cp:keywords>sursa_amprenta=fd179c0348191a8e; proiectie</cp:keywords>
</cp:coreProperties>
</file>