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20-1.jpg" ContentType="image/jpg"/>
  <Override PartName="/ppt/media/image-32-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PLIC/active/img/carucior_tratament_commons.jpg">    </p:cNvPr>
          <p:cNvPicPr>
            <a:picLocks noChangeAspect="1"/>
          </p:cNvPicPr>
          <p:nvPr/>
        </p:nvPicPr>
        <p:blipFill>
          <a:blip r:embed="rId1"/>
          <a:stretch>
            <a:fillRect/>
          </a:stretch>
        </p:blipFill>
        <p:spPr>
          <a:xfrm>
            <a:off x="4846320" y="0"/>
            <a:ext cx="7345375" cy="6858000"/>
          </a:xfrm>
          <a:prstGeom prst="rect">
            <a:avLst/>
          </a:prstGeom>
        </p:spPr>
      </p:pic>
      <p:sp>
        <p:nvSpPr>
          <p:cNvPr id="3" name="Shape 0"/>
          <p:cNvSpPr/>
          <p:nvPr/>
        </p:nvSpPr>
        <p:spPr>
          <a:xfrm>
            <a:off x="640080" y="777240"/>
            <a:ext cx="2286000" cy="329184"/>
          </a:xfrm>
          <a:prstGeom prst="roundRect">
            <a:avLst>
              <a:gd name="adj" fmla="val 50000"/>
            </a:avLst>
          </a:prstGeom>
          <a:solidFill>
            <a:srgbClr val="FF4757"/>
          </a:solidFill>
          <a:ln w="12700">
            <a:solidFill>
              <a:srgbClr val="FF4757"/>
            </a:solidFill>
            <a:prstDash val="solid"/>
          </a:ln>
        </p:spPr>
        <p:txBody>
          <a:bodyPr/>
          <a:p/>
        </p:txBody>
      </p:sp>
      <p:sp>
        <p:nvSpPr>
          <p:cNvPr id="4" name="Text 1"/>
          <p:cNvSpPr/>
          <p:nvPr/>
        </p:nvSpPr>
        <p:spPr>
          <a:xfrm>
            <a:off x="640080" y="777240"/>
            <a:ext cx="228600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ȘEDINȚA A DOUA</a:t>
            </a:r>
            <a:endParaRPr lang="en-US" sz="1300" dirty="0"/>
          </a:p>
        </p:txBody>
      </p:sp>
      <p:sp>
        <p:nvSpPr>
          <p:cNvPr id="5" name="Text 2"/>
          <p:cNvSpPr/>
          <p:nvPr/>
        </p:nvSpPr>
        <p:spPr>
          <a:xfrm>
            <a:off x="640080" y="1417320"/>
            <a:ext cx="3931920" cy="128016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Recipientul de pe secție</a:t>
            </a:r>
            <a:endParaRPr lang="en-US" sz="3600" dirty="0"/>
          </a:p>
        </p:txBody>
      </p:sp>
      <p:sp>
        <p:nvSpPr>
          <p:cNvPr id="6" name="Text 3"/>
          <p:cNvSpPr/>
          <p:nvPr/>
        </p:nvSpPr>
        <p:spPr>
          <a:xfrm>
            <a:off x="640080" y="2743200"/>
            <a:ext cx="3931920" cy="1280160"/>
          </a:xfrm>
          <a:prstGeom prst="rect">
            <a:avLst/>
          </a:prstGeom>
          <a:noFill/>
          <a:ln/>
        </p:spPr>
        <p:txBody>
          <a:bodyPr wrap="square" lIns="0" tIns="0" rIns="0" bIns="0" rtlCol="0" anchor="t"/>
          <a:lstStyle/>
          <a:p>
            <a:pPr indent="0" marL="0">
              <a:buNone/>
            </a:pPr>
            <a:r>
              <a:rPr lang="en-US" sz="3600" b="1" dirty="0">
                <a:solidFill>
                  <a:srgbClr val="27D3BE"/>
                </a:solidFill>
                <a:latin typeface="Palatino Linotype" pitchFamily="34" charset="0"/>
                <a:ea typeface="Palatino Linotype" pitchFamily="34" charset="-122"/>
                <a:cs typeface="Palatino Linotype" pitchFamily="34" charset="-120"/>
              </a:rPr>
              <a:t>Cine garantează ce e înăuntru?</a:t>
            </a:r>
            <a:endParaRPr lang="en-US" sz="3600" dirty="0"/>
          </a:p>
        </p:txBody>
      </p:sp>
      <p:sp>
        <p:nvSpPr>
          <p:cNvPr id="7" name="Shape 4"/>
          <p:cNvSpPr/>
          <p:nvPr/>
        </p:nvSpPr>
        <p:spPr>
          <a:xfrm>
            <a:off x="667512" y="4343400"/>
            <a:ext cx="1280160" cy="27432"/>
          </a:xfrm>
          <a:prstGeom prst="rect">
            <a:avLst/>
          </a:prstGeom>
          <a:solidFill>
            <a:srgbClr val="FF4757"/>
          </a:solidFill>
          <a:ln/>
        </p:spPr>
        <p:txBody>
          <a:bodyPr/>
          <a:p/>
        </p:txBody>
      </p:sp>
      <p:sp>
        <p:nvSpPr>
          <p:cNvPr id="8" name="Text 5"/>
          <p:cNvSpPr/>
          <p:nvPr/>
        </p:nvSpPr>
        <p:spPr>
          <a:xfrm>
            <a:off x="640080" y="4572000"/>
            <a:ext cx="4023360" cy="731520"/>
          </a:xfrm>
          <a:prstGeom prst="rect">
            <a:avLst/>
          </a:prstGeom>
          <a:noFill/>
          <a:ln/>
        </p:spPr>
        <p:txBody>
          <a:bodyPr wrap="square" lIns="0" tIns="0" rIns="0" bIns="0" rtlCol="0" anchor="t"/>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Câte vieți costă un plic?</a:t>
            </a:r>
            <a:endParaRPr lang="en-US" sz="1300" dirty="0"/>
          </a:p>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Conf. univ. dr. Adrian Pană · UMF Cluj-Napoca</a:t>
            </a:r>
            <a:endParaRPr lang="en-US" sz="1300" dirty="0"/>
          </a:p>
        </p:txBody>
      </p:sp>
      <p:sp>
        <p:nvSpPr>
          <p:cNvPr id="9" name="Shape 6"/>
          <p:cNvSpPr/>
          <p:nvPr/>
        </p:nvSpPr>
        <p:spPr>
          <a:xfrm>
            <a:off x="4846320" y="6492240"/>
            <a:ext cx="3017520" cy="256032"/>
          </a:xfrm>
          <a:prstGeom prst="rect">
            <a:avLst/>
          </a:prstGeom>
          <a:solidFill>
            <a:srgbClr val="11121A">
              <a:alpha val="70000"/>
            </a:srgbClr>
          </a:solidFill>
          <a:ln w="12700">
            <a:solidFill>
              <a:srgbClr val="11121A"/>
            </a:solidFill>
            <a:prstDash val="solid"/>
          </a:ln>
        </p:spPr>
        <p:txBody>
          <a:bodyPr/>
          <a:p/>
        </p:txBody>
      </p:sp>
      <p:sp>
        <p:nvSpPr>
          <p:cNvPr id="10" name="Text 7"/>
          <p:cNvSpPr/>
          <p:nvPr/>
        </p:nvSpPr>
        <p:spPr>
          <a:xfrm>
            <a:off x="4937760" y="6510528"/>
            <a:ext cx="2834640" cy="219456"/>
          </a:xfrm>
          <a:prstGeom prst="rect">
            <a:avLst/>
          </a:prstGeom>
          <a:noFill/>
          <a:ln/>
        </p:spPr>
        <p:txBody>
          <a:bodyPr wrap="square" lIns="0" tIns="0" rIns="0" bIns="0" rtlCol="0" anchor="ctr"/>
          <a:lstStyle/>
          <a:p>
            <a:pPr algn="l" indent="0" marL="0">
              <a:buNone/>
            </a:pPr>
            <a:r>
              <a:rPr lang="en-US" sz="850" i="1" dirty="0">
                <a:solidFill>
                  <a:srgbClr val="E6E8EF"/>
                </a:solidFill>
                <a:latin typeface="Palatino Linotype" pitchFamily="34" charset="0"/>
                <a:ea typeface="Palatino Linotype" pitchFamily="34" charset="-122"/>
                <a:cs typeface="Palatino Linotype" pitchFamily="34" charset="-120"/>
              </a:rPr>
              <a:t>Foto: BrokenSphere · CC BY-SA 3.0 · Wikimedia Commons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DUPĂ PRIMA ȘEDINȚĂ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600" b="1" dirty="0">
                <a:solidFill>
                  <a:srgbClr val="FFFFFF"/>
                </a:solidFill>
                <a:latin typeface="Palatino Linotype" pitchFamily="34" charset="0"/>
                <a:ea typeface="Palatino Linotype" pitchFamily="34" charset="-122"/>
                <a:cs typeface="Palatino Linotype" pitchFamily="34" charset="-120"/>
              </a:rPr>
              <a:t>Ce mi-ați spus</a:t>
            </a:r>
            <a:endParaRPr lang="en-US" sz="3600" dirty="0"/>
          </a:p>
        </p:txBody>
      </p:sp>
      <p:sp>
        <p:nvSpPr>
          <p:cNvPr id="4" name="Shape 2"/>
          <p:cNvSpPr/>
          <p:nvPr/>
        </p:nvSpPr>
        <p:spPr>
          <a:xfrm>
            <a:off x="594360" y="182880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5" name="Shape 3"/>
          <p:cNvSpPr/>
          <p:nvPr/>
        </p:nvSpPr>
        <p:spPr>
          <a:xfrm>
            <a:off x="914400" y="2098548"/>
            <a:ext cx="420624" cy="420624"/>
          </a:xfrm>
          <a:prstGeom prst="ellipse">
            <a:avLst/>
          </a:prstGeom>
          <a:solidFill>
            <a:srgbClr val="FFC24B"/>
          </a:solidFill>
          <a:ln/>
        </p:spPr>
        <p:txBody>
          <a:bodyPr/>
          <a:p/>
        </p:txBody>
      </p:sp>
      <p:sp>
        <p:nvSpPr>
          <p:cNvPr id="6" name="Text 4"/>
          <p:cNvSpPr/>
          <p:nvPr/>
        </p:nvSpPr>
        <p:spPr>
          <a:xfrm>
            <a:off x="914400" y="20985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828800"/>
            <a:ext cx="9692640" cy="960120"/>
          </a:xfrm>
          <a:prstGeom prst="rect">
            <a:avLst/>
          </a:prstGeom>
          <a:noFill/>
          <a:ln/>
        </p:spPr>
        <p:txBody>
          <a:bodyPr wrap="square" lIns="0" tIns="0" rIns="0" bIns="0" rtlCol="0" anchor="ctr"/>
          <a:lstStyle/>
          <a:p>
            <a:pPr indent="0" marL="0">
              <a:buNone/>
            </a:pPr>
            <a:r>
              <a:rPr lang="en-US" sz="2000" i="1" dirty="0">
                <a:solidFill>
                  <a:srgbClr val="FFFFFF"/>
                </a:solidFill>
                <a:latin typeface="Palatino Linotype" pitchFamily="34" charset="0"/>
                <a:ea typeface="Palatino Linotype" pitchFamily="34" charset="-122"/>
                <a:cs typeface="Palatino Linotype" pitchFamily="34" charset="-120"/>
              </a:rPr>
              <a:t>Prea multe noțiuni, prea puțin din ce trăim noi.</a:t>
            </a:r>
            <a:endParaRPr lang="en-US" sz="2000" dirty="0"/>
          </a:p>
        </p:txBody>
      </p:sp>
      <p:sp>
        <p:nvSpPr>
          <p:cNvPr id="8" name="Shape 6"/>
          <p:cNvSpPr/>
          <p:nvPr/>
        </p:nvSpPr>
        <p:spPr>
          <a:xfrm>
            <a:off x="594360" y="297180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9" name="Shape 7"/>
          <p:cNvSpPr/>
          <p:nvPr/>
        </p:nvSpPr>
        <p:spPr>
          <a:xfrm>
            <a:off x="914400" y="3241548"/>
            <a:ext cx="420624" cy="420624"/>
          </a:xfrm>
          <a:prstGeom prst="ellipse">
            <a:avLst/>
          </a:prstGeom>
          <a:solidFill>
            <a:srgbClr val="FFC24B"/>
          </a:solidFill>
          <a:ln/>
        </p:spPr>
        <p:txBody>
          <a:bodyPr/>
          <a:p/>
        </p:txBody>
      </p:sp>
      <p:sp>
        <p:nvSpPr>
          <p:cNvPr id="10" name="Text 8"/>
          <p:cNvSpPr/>
          <p:nvPr/>
        </p:nvSpPr>
        <p:spPr>
          <a:xfrm>
            <a:off x="914400" y="32415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971800"/>
            <a:ext cx="9692640" cy="960120"/>
          </a:xfrm>
          <a:prstGeom prst="rect">
            <a:avLst/>
          </a:prstGeom>
          <a:noFill/>
          <a:ln/>
        </p:spPr>
        <p:txBody>
          <a:bodyPr wrap="square" lIns="0" tIns="0" rIns="0" bIns="0" rtlCol="0" anchor="ctr"/>
          <a:lstStyle/>
          <a:p>
            <a:pPr indent="0" marL="0">
              <a:buNone/>
            </a:pPr>
            <a:r>
              <a:rPr lang="en-US" sz="2000" i="1" dirty="0">
                <a:solidFill>
                  <a:srgbClr val="FFFFFF"/>
                </a:solidFill>
                <a:latin typeface="Palatino Linotype" pitchFamily="34" charset="0"/>
                <a:ea typeface="Palatino Linotype" pitchFamily="34" charset="-122"/>
                <a:cs typeface="Palatino Linotype" pitchFamily="34" charset="-120"/>
              </a:rPr>
              <a:t>Titlul promite plicul. Am vorbit despre indici și clasamente.</a:t>
            </a:r>
            <a:endParaRPr lang="en-US" sz="2000" dirty="0"/>
          </a:p>
        </p:txBody>
      </p:sp>
      <p:sp>
        <p:nvSpPr>
          <p:cNvPr id="12" name="Shape 10"/>
          <p:cNvSpPr/>
          <p:nvPr/>
        </p:nvSpPr>
        <p:spPr>
          <a:xfrm>
            <a:off x="594360" y="411480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13" name="Shape 11"/>
          <p:cNvSpPr/>
          <p:nvPr/>
        </p:nvSpPr>
        <p:spPr>
          <a:xfrm>
            <a:off x="914400" y="4384548"/>
            <a:ext cx="420624" cy="420624"/>
          </a:xfrm>
          <a:prstGeom prst="ellipse">
            <a:avLst/>
          </a:prstGeom>
          <a:solidFill>
            <a:srgbClr val="FFC24B"/>
          </a:solidFill>
          <a:ln/>
        </p:spPr>
        <p:txBody>
          <a:bodyPr/>
          <a:p/>
        </p:txBody>
      </p:sp>
      <p:sp>
        <p:nvSpPr>
          <p:cNvPr id="14" name="Text 12"/>
          <p:cNvSpPr/>
          <p:nvPr/>
        </p:nvSpPr>
        <p:spPr>
          <a:xfrm>
            <a:off x="914400" y="43845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4114800"/>
            <a:ext cx="9692640" cy="960120"/>
          </a:xfrm>
          <a:prstGeom prst="rect">
            <a:avLst/>
          </a:prstGeom>
          <a:noFill/>
          <a:ln/>
        </p:spPr>
        <p:txBody>
          <a:bodyPr wrap="square" lIns="0" tIns="0" rIns="0" bIns="0" rtlCol="0" anchor="ctr"/>
          <a:lstStyle/>
          <a:p>
            <a:pPr indent="0" marL="0">
              <a:buNone/>
            </a:pPr>
            <a:r>
              <a:rPr lang="en-US" sz="2000" i="1" dirty="0">
                <a:solidFill>
                  <a:srgbClr val="FFFFFF"/>
                </a:solidFill>
                <a:latin typeface="Palatino Linotype" pitchFamily="34" charset="0"/>
                <a:ea typeface="Palatino Linotype" pitchFamily="34" charset="-122"/>
                <a:cs typeface="Palatino Linotype" pitchFamily="34" charset="-120"/>
              </a:rPr>
              <a:t>Nu înțelegem cum suntem evaluați.</a:t>
            </a:r>
            <a:endParaRPr lang="en-US" sz="2000" dirty="0"/>
          </a:p>
        </p:txBody>
      </p:sp>
      <p:sp>
        <p:nvSpPr>
          <p:cNvPr id="16" name="Text 14"/>
          <p:cNvSpPr/>
          <p:nvPr/>
        </p:nvSpPr>
        <p:spPr>
          <a:xfrm>
            <a:off x="594360" y="5440680"/>
            <a:ext cx="10972800" cy="45720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Toate trei observațiile sunt întemeiate. Ședința de azi pornește de la ele.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OBSERVAȚIILE VOASTRE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se schimbă de azi</a:t>
            </a:r>
            <a:endParaRPr lang="en-US" sz="3100" dirty="0"/>
          </a:p>
        </p:txBody>
      </p:sp>
      <p:sp>
        <p:nvSpPr>
          <p:cNvPr id="4" name="Shape 2"/>
          <p:cNvSpPr/>
          <p:nvPr/>
        </p:nvSpPr>
        <p:spPr>
          <a:xfrm>
            <a:off x="594360" y="178308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5" name="Text 3"/>
          <p:cNvSpPr/>
          <p:nvPr/>
        </p:nvSpPr>
        <p:spPr>
          <a:xfrm>
            <a:off x="868680" y="1783080"/>
            <a:ext cx="4754880" cy="694944"/>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Întâi cazul</a:t>
            </a:r>
            <a:endParaRPr lang="en-US" sz="1700" dirty="0"/>
          </a:p>
        </p:txBody>
      </p:sp>
      <p:sp>
        <p:nvSpPr>
          <p:cNvPr id="6" name="Text 4"/>
          <p:cNvSpPr/>
          <p:nvPr/>
        </p:nvSpPr>
        <p:spPr>
          <a:xfrm>
            <a:off x="5669280" y="1783080"/>
            <a:ext cx="566928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Fiecare temă pornește de la o situație de pe secție; teoria intră numai cât o cere cazul.</a:t>
            </a:r>
            <a:endParaRPr lang="en-US" sz="1600" dirty="0"/>
          </a:p>
        </p:txBody>
      </p:sp>
      <p:sp>
        <p:nvSpPr>
          <p:cNvPr id="7" name="Shape 5"/>
          <p:cNvSpPr/>
          <p:nvPr/>
        </p:nvSpPr>
        <p:spPr>
          <a:xfrm>
            <a:off x="594360" y="2606040"/>
            <a:ext cx="10972800" cy="694944"/>
          </a:xfrm>
          <a:prstGeom prst="roundRect">
            <a:avLst>
              <a:gd name="adj" fmla="val 11842"/>
            </a:avLst>
          </a:prstGeom>
          <a:solidFill>
            <a:srgbClr val="F9F8F5"/>
          </a:solidFill>
          <a:ln w="12700">
            <a:solidFill>
              <a:srgbClr val="F9F8F5"/>
            </a:solidFill>
            <a:prstDash val="solid"/>
          </a:ln>
        </p:spPr>
        <p:txBody>
          <a:bodyPr/>
          <a:p/>
        </p:txBody>
      </p:sp>
      <p:sp>
        <p:nvSpPr>
          <p:cNvPr id="8" name="Text 6"/>
          <p:cNvSpPr/>
          <p:nvPr/>
        </p:nvSpPr>
        <p:spPr>
          <a:xfrm>
            <a:off x="868680" y="2606040"/>
            <a:ext cx="4754880" cy="694944"/>
          </a:xfrm>
          <a:prstGeom prst="rect">
            <a:avLst/>
          </a:prstGeom>
          <a:noFill/>
          <a:ln/>
        </p:spPr>
        <p:txBody>
          <a:bodyPr wrap="square" lIns="0" tIns="0" rIns="0" bIns="0" rtlCol="0" anchor="ctr"/>
          <a:lstStyle/>
          <a:p>
            <a:pPr indent="0" marL="0">
              <a:buNone/>
            </a:pPr>
            <a:r>
              <a:rPr lang="en-US" sz="1700" b="1" dirty="0">
                <a:solidFill>
                  <a:srgbClr val="8A6100"/>
                </a:solidFill>
                <a:latin typeface="Palatino Linotype" pitchFamily="34" charset="0"/>
                <a:ea typeface="Palatino Linotype" pitchFamily="34" charset="-122"/>
                <a:cs typeface="Palatino Linotype" pitchFamily="34" charset="-120"/>
              </a:rPr>
              <a:t>Cel mult trei termeni noi</a:t>
            </a:r>
            <a:endParaRPr lang="en-US" sz="1700" dirty="0"/>
          </a:p>
        </p:txBody>
      </p:sp>
      <p:sp>
        <p:nvSpPr>
          <p:cNvPr id="9" name="Text 7"/>
          <p:cNvSpPr/>
          <p:nvPr/>
        </p:nvSpPr>
        <p:spPr>
          <a:xfrm>
            <a:off x="5669280" y="2606040"/>
            <a:ext cx="566928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cuvinte obișnuite, cu un exemplu.</a:t>
            </a:r>
            <a:endParaRPr lang="en-US" sz="1600" dirty="0"/>
          </a:p>
        </p:txBody>
      </p:sp>
      <p:sp>
        <p:nvSpPr>
          <p:cNvPr id="10" name="Shape 8"/>
          <p:cNvSpPr/>
          <p:nvPr/>
        </p:nvSpPr>
        <p:spPr>
          <a:xfrm>
            <a:off x="594360" y="342900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1" name="Text 9"/>
          <p:cNvSpPr/>
          <p:nvPr/>
        </p:nvSpPr>
        <p:spPr>
          <a:xfrm>
            <a:off x="868680" y="3429000"/>
            <a:ext cx="4754880" cy="694944"/>
          </a:xfrm>
          <a:prstGeom prst="rect">
            <a:avLst/>
          </a:prstGeom>
          <a:noFill/>
          <a:ln/>
        </p:spPr>
        <p:txBody>
          <a:bodyPr wrap="square" lIns="0" tIns="0" rIns="0" bIns="0" rtlCol="0" anchor="ctr"/>
          <a:lstStyle/>
          <a:p>
            <a:pPr indent="0" marL="0">
              <a:buNone/>
            </a:pPr>
            <a:r>
              <a:rPr lang="en-US" sz="1700" b="1" dirty="0">
                <a:solidFill>
                  <a:srgbClr val="4A2D8C"/>
                </a:solidFill>
                <a:latin typeface="Palatino Linotype" pitchFamily="34" charset="0"/>
                <a:ea typeface="Palatino Linotype" pitchFamily="34" charset="-122"/>
                <a:cs typeface="Palatino Linotype" pitchFamily="34" charset="-120"/>
              </a:rPr>
              <a:t>Jumătate din timp lucrați în sală</a:t>
            </a:r>
            <a:endParaRPr lang="en-US" sz="1700" dirty="0"/>
          </a:p>
        </p:txBody>
      </p:sp>
      <p:sp>
        <p:nvSpPr>
          <p:cNvPr id="12" name="Text 10"/>
          <p:cNvSpPr/>
          <p:nvPr/>
        </p:nvSpPr>
        <p:spPr>
          <a:xfrm>
            <a:off x="5669280" y="3429000"/>
            <a:ext cx="566928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Vot pe telefon, perechi, dezbatere.</a:t>
            </a:r>
            <a:endParaRPr lang="en-US" sz="1600" dirty="0"/>
          </a:p>
        </p:txBody>
      </p:sp>
      <p:sp>
        <p:nvSpPr>
          <p:cNvPr id="13" name="Shape 11"/>
          <p:cNvSpPr/>
          <p:nvPr/>
        </p:nvSpPr>
        <p:spPr>
          <a:xfrm>
            <a:off x="594360" y="4251960"/>
            <a:ext cx="10972800" cy="694944"/>
          </a:xfrm>
          <a:prstGeom prst="roundRect">
            <a:avLst>
              <a:gd name="adj" fmla="val 11842"/>
            </a:avLst>
          </a:prstGeom>
          <a:solidFill>
            <a:srgbClr val="F9F8F5"/>
          </a:solidFill>
          <a:ln w="12700">
            <a:solidFill>
              <a:srgbClr val="F9F8F5"/>
            </a:solidFill>
            <a:prstDash val="solid"/>
          </a:ln>
        </p:spPr>
        <p:txBody>
          <a:bodyPr/>
          <a:p/>
        </p:txBody>
      </p:sp>
      <p:sp>
        <p:nvSpPr>
          <p:cNvPr id="14" name="Text 12"/>
          <p:cNvSpPr/>
          <p:nvPr/>
        </p:nvSpPr>
        <p:spPr>
          <a:xfrm>
            <a:off x="868680" y="4251960"/>
            <a:ext cx="4754880" cy="694944"/>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Evaluarea, pe o pagină</a:t>
            </a:r>
            <a:endParaRPr lang="en-US" sz="1700" dirty="0"/>
          </a:p>
        </p:txBody>
      </p:sp>
      <p:sp>
        <p:nvSpPr>
          <p:cNvPr id="15" name="Text 13"/>
          <p:cNvSpPr/>
          <p:nvPr/>
        </p:nvSpPr>
        <p:spPr>
          <a:xfrm>
            <a:off x="5669280" y="4251960"/>
            <a:ext cx="566928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Pe diapozitivul următor și sus, pe pagina cursului.</a:t>
            </a:r>
            <a:endParaRPr lang="en-US" sz="1600" dirty="0"/>
          </a:p>
        </p:txBody>
      </p:sp>
      <p:sp>
        <p:nvSpPr>
          <p:cNvPr id="16" name="Shape 14"/>
          <p:cNvSpPr/>
          <p:nvPr/>
        </p:nvSpPr>
        <p:spPr>
          <a:xfrm>
            <a:off x="594360" y="5074920"/>
            <a:ext cx="10972800" cy="694944"/>
          </a:xfrm>
          <a:prstGeom prst="roundRect">
            <a:avLst>
              <a:gd name="adj" fmla="val 11842"/>
            </a:avLst>
          </a:prstGeom>
          <a:solidFill>
            <a:srgbClr val="ECEAE4"/>
          </a:solidFill>
          <a:ln w="12700">
            <a:solidFill>
              <a:srgbClr val="ECEAE4"/>
            </a:solidFill>
            <a:prstDash val="solid"/>
          </a:ln>
        </p:spPr>
        <p:txBody>
          <a:bodyPr/>
          <a:p/>
        </p:txBody>
      </p:sp>
      <p:sp>
        <p:nvSpPr>
          <p:cNvPr id="17" name="Text 15"/>
          <p:cNvSpPr/>
          <p:nvPr/>
        </p:nvSpPr>
        <p:spPr>
          <a:xfrm>
            <a:off x="868680" y="5074920"/>
            <a:ext cx="4754880" cy="694944"/>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Trei întrebări anonime la final</a:t>
            </a:r>
            <a:endParaRPr lang="en-US" sz="1700" dirty="0"/>
          </a:p>
        </p:txBody>
      </p:sp>
      <p:sp>
        <p:nvSpPr>
          <p:cNvPr id="18" name="Text 16"/>
          <p:cNvSpPr/>
          <p:nvPr/>
        </p:nvSpPr>
        <p:spPr>
          <a:xfrm>
            <a:off x="5669280" y="5074920"/>
            <a:ext cx="5669280" cy="694944"/>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Luni, pe pagina cursului, veți găsi ce am modificat pe baza lor.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CUM SUNTEȚI EVALUAȚI</a:t>
            </a:r>
            <a:endParaRPr lang="en-US" sz="1300" dirty="0"/>
          </a:p>
        </p:txBody>
      </p:sp>
      <p:sp>
        <p:nvSpPr>
          <p:cNvPr id="3" name="Text 1"/>
          <p:cNvSpPr/>
          <p:nvPr/>
        </p:nvSpPr>
        <p:spPr>
          <a:xfrm>
            <a:off x="594360" y="777240"/>
            <a:ext cx="10972800" cy="731520"/>
          </a:xfrm>
          <a:prstGeom prst="rect">
            <a:avLst/>
          </a:prstGeom>
          <a:noFill/>
          <a:ln/>
        </p:spPr>
        <p:txBody>
          <a:bodyPr wrap="square" lIns="0" tIns="0" rIns="0" bIns="0" rtlCol="0" anchor="t"/>
          <a:lstStyle/>
          <a:p>
            <a:pPr indent="0" marL="0">
              <a:buNone/>
            </a:pPr>
            <a:r>
              <a:rPr lang="en-US" sz="3400" b="1" dirty="0">
                <a:solidFill>
                  <a:srgbClr val="073B34"/>
                </a:solidFill>
                <a:latin typeface="Palatino Linotype" pitchFamily="34" charset="0"/>
                <a:ea typeface="Palatino Linotype" pitchFamily="34" charset="-122"/>
                <a:cs typeface="Palatino Linotype" pitchFamily="34" charset="-120"/>
              </a:rPr>
              <a:t>O știre și un chestionar</a:t>
            </a:r>
            <a:endParaRPr lang="en-US" sz="3400" dirty="0"/>
          </a:p>
        </p:txBody>
      </p:sp>
      <p:sp>
        <p:nvSpPr>
          <p:cNvPr id="4" name="Shape 2"/>
          <p:cNvSpPr/>
          <p:nvPr/>
        </p:nvSpPr>
        <p:spPr>
          <a:xfrm>
            <a:off x="594360" y="1828800"/>
            <a:ext cx="6583680" cy="1325880"/>
          </a:xfrm>
          <a:prstGeom prst="rect">
            <a:avLst/>
          </a:prstGeom>
          <a:solidFill>
            <a:srgbClr val="07564B"/>
          </a:solidFill>
          <a:ln w="12700">
            <a:solidFill>
              <a:srgbClr val="07564B"/>
            </a:solidFill>
            <a:prstDash val="solid"/>
          </a:ln>
        </p:spPr>
        <p:txBody>
          <a:bodyPr/>
          <a:p/>
        </p:txBody>
      </p:sp>
      <p:sp>
        <p:nvSpPr>
          <p:cNvPr id="5" name="Shape 3"/>
          <p:cNvSpPr/>
          <p:nvPr/>
        </p:nvSpPr>
        <p:spPr>
          <a:xfrm>
            <a:off x="7178040" y="1828800"/>
            <a:ext cx="4389120" cy="1325880"/>
          </a:xfrm>
          <a:prstGeom prst="rect">
            <a:avLst/>
          </a:prstGeom>
          <a:solidFill>
            <a:srgbClr val="FFFFFF"/>
          </a:solidFill>
          <a:ln w="12700">
            <a:solidFill>
              <a:srgbClr val="FFFFFF"/>
            </a:solidFill>
            <a:prstDash val="solid"/>
          </a:ln>
        </p:spPr>
        <p:txBody>
          <a:bodyPr/>
          <a:p/>
        </p:txBody>
      </p:sp>
      <p:sp>
        <p:nvSpPr>
          <p:cNvPr id="6" name="Text 4"/>
          <p:cNvSpPr/>
          <p:nvPr/>
        </p:nvSpPr>
        <p:spPr>
          <a:xfrm>
            <a:off x="868680" y="1828800"/>
            <a:ext cx="2194560" cy="1325880"/>
          </a:xfrm>
          <a:prstGeom prst="rect">
            <a:avLst/>
          </a:prstGeom>
          <a:noFill/>
          <a:ln/>
        </p:spPr>
        <p:txBody>
          <a:bodyPr wrap="square" lIns="0" tIns="0" rIns="0" bIns="0" rtlCol="0" anchor="ctr"/>
          <a:lstStyle/>
          <a:p>
            <a:pPr indent="0" marL="0">
              <a:buNone/>
            </a:pPr>
            <a:r>
              <a:rPr lang="en-US" sz="5600" b="1" dirty="0">
                <a:solidFill>
                  <a:srgbClr val="FFC24B"/>
                </a:solidFill>
                <a:latin typeface="Palatino Linotype" pitchFamily="34" charset="0"/>
                <a:ea typeface="Palatino Linotype" pitchFamily="34" charset="-122"/>
                <a:cs typeface="Palatino Linotype" pitchFamily="34" charset="-120"/>
              </a:rPr>
              <a:t>60%</a:t>
            </a:r>
            <a:endParaRPr lang="en-US" sz="5600" dirty="0"/>
          </a:p>
        </p:txBody>
      </p:sp>
      <p:sp>
        <p:nvSpPr>
          <p:cNvPr id="7" name="Text 5"/>
          <p:cNvSpPr/>
          <p:nvPr/>
        </p:nvSpPr>
        <p:spPr>
          <a:xfrm>
            <a:off x="3108960" y="1828800"/>
            <a:ext cx="3931920" cy="1325880"/>
          </a:xfrm>
          <a:prstGeom prst="rect">
            <a:avLst/>
          </a:prstGeom>
          <a:noFill/>
          <a:ln/>
        </p:spPr>
        <p:txBody>
          <a:bodyPr wrap="square" lIns="0" tIns="0" rIns="0" bIns="0" rtlCol="0" anchor="ctr"/>
          <a:lstStyle/>
          <a:p>
            <a:pPr indent="0" marL="0">
              <a:buNone/>
            </a:pPr>
            <a:r>
              <a:rPr lang="en-US" sz="2200" b="1" dirty="0">
                <a:solidFill>
                  <a:srgbClr val="FFFFFF"/>
                </a:solidFill>
                <a:latin typeface="Palatino Linotype" pitchFamily="34" charset="0"/>
                <a:ea typeface="Palatino Linotype" pitchFamily="34" charset="-122"/>
                <a:cs typeface="Palatino Linotype" pitchFamily="34" charset="-120"/>
              </a:rPr>
              <a:t>Analiza unei știri</a:t>
            </a:r>
            <a:endParaRPr lang="en-US" sz="2200" dirty="0"/>
          </a:p>
        </p:txBody>
      </p:sp>
      <p:sp>
        <p:nvSpPr>
          <p:cNvPr id="8" name="Text 6"/>
          <p:cNvSpPr/>
          <p:nvPr/>
        </p:nvSpPr>
        <p:spPr>
          <a:xfrm>
            <a:off x="7406640" y="1828800"/>
            <a:ext cx="1828800" cy="1325880"/>
          </a:xfrm>
          <a:prstGeom prst="rect">
            <a:avLst/>
          </a:prstGeom>
          <a:noFill/>
          <a:ln/>
        </p:spPr>
        <p:txBody>
          <a:bodyPr wrap="square" lIns="0" tIns="0" rIns="0" bIns="0" rtlCol="0" anchor="ctr"/>
          <a:lstStyle/>
          <a:p>
            <a:pPr indent="0" marL="0">
              <a:buNone/>
            </a:pPr>
            <a:r>
              <a:rPr lang="en-US" sz="5600" b="1" dirty="0">
                <a:solidFill>
                  <a:srgbClr val="0E7C6B"/>
                </a:solidFill>
                <a:latin typeface="Palatino Linotype" pitchFamily="34" charset="0"/>
                <a:ea typeface="Palatino Linotype" pitchFamily="34" charset="-122"/>
                <a:cs typeface="Palatino Linotype" pitchFamily="34" charset="-120"/>
              </a:rPr>
              <a:t>40%</a:t>
            </a:r>
            <a:endParaRPr lang="en-US" sz="5600" dirty="0"/>
          </a:p>
        </p:txBody>
      </p:sp>
      <p:sp>
        <p:nvSpPr>
          <p:cNvPr id="9" name="Text 7"/>
          <p:cNvSpPr/>
          <p:nvPr/>
        </p:nvSpPr>
        <p:spPr>
          <a:xfrm>
            <a:off x="9235440" y="1828800"/>
            <a:ext cx="2240280" cy="1325880"/>
          </a:xfrm>
          <a:prstGeom prst="rect">
            <a:avLst/>
          </a:prstGeom>
          <a:noFill/>
          <a:ln/>
        </p:spPr>
        <p:txBody>
          <a:bodyPr wrap="square" lIns="0" tIns="0" rIns="0" bIns="0" rtlCol="0" anchor="ctr"/>
          <a:lstStyle/>
          <a:p>
            <a:pPr indent="0" marL="0">
              <a:buNone/>
            </a:pPr>
            <a:r>
              <a:rPr lang="en-US" sz="2000" b="1" dirty="0">
                <a:solidFill>
                  <a:srgbClr val="11121A"/>
                </a:solidFill>
                <a:latin typeface="Palatino Linotype" pitchFamily="34" charset="0"/>
                <a:ea typeface="Palatino Linotype" pitchFamily="34" charset="-122"/>
                <a:cs typeface="Palatino Linotype" pitchFamily="34" charset="-120"/>
              </a:rPr>
              <a:t>Chestionarul final</a:t>
            </a:r>
            <a:endParaRPr lang="en-US" sz="2000" dirty="0"/>
          </a:p>
        </p:txBody>
      </p:sp>
      <p:sp>
        <p:nvSpPr>
          <p:cNvPr id="10" name="Text 8"/>
          <p:cNvSpPr/>
          <p:nvPr/>
        </p:nvSpPr>
        <p:spPr>
          <a:xfrm>
            <a:off x="594360" y="3383280"/>
            <a:ext cx="6309360" cy="1371600"/>
          </a:xfrm>
          <a:prstGeom prst="rect">
            <a:avLst/>
          </a:prstGeom>
          <a:noFill/>
          <a:ln/>
        </p:spPr>
        <p:txBody>
          <a:bodyPr wrap="square" lIns="0" tIns="0" rIns="0" bIns="0" rtlCol="0" anchor="t"/>
          <a:lstStyle/>
          <a:p>
            <a:pPr indent="0" marL="0">
              <a:buNone/>
            </a:pPr>
            <a:r>
              <a:rPr lang="en-US" sz="1700" dirty="0">
                <a:solidFill>
                  <a:srgbClr val="073B34"/>
                </a:solidFill>
                <a:latin typeface="Palatino Linotype" pitchFamily="34" charset="0"/>
                <a:ea typeface="Palatino Linotype" pitchFamily="34" charset="-122"/>
                <a:cs typeface="Palatino Linotype" pitchFamily="34" charset="-120"/>
              </a:rPr>
              <a:t>Pe o pagină: ce e stabilit, relatat sau nedovedit într-o știre reală și ce ați face ca medici. Se predă în ședința a șasea.</a:t>
            </a:r>
            <a:endParaRPr lang="en-US" sz="1700" dirty="0"/>
          </a:p>
        </p:txBody>
      </p:sp>
      <p:sp>
        <p:nvSpPr>
          <p:cNvPr id="11" name="Text 9"/>
          <p:cNvSpPr/>
          <p:nvPr/>
        </p:nvSpPr>
        <p:spPr>
          <a:xfrm>
            <a:off x="7178040" y="3383280"/>
            <a:ext cx="4389120" cy="1371600"/>
          </a:xfrm>
          <a:prstGeom prst="rect">
            <a:avLst/>
          </a:prstGeom>
          <a:noFill/>
          <a:ln/>
        </p:spPr>
        <p:txBody>
          <a:bodyPr wrap="square" lIns="0" tIns="0" rIns="0" bIns="0" rtlCol="0" anchor="t"/>
          <a:lstStyle/>
          <a:p>
            <a:pPr indent="0" marL="0">
              <a:buNone/>
            </a:pPr>
            <a:r>
              <a:rPr lang="en-US" sz="1700" dirty="0">
                <a:solidFill>
                  <a:srgbClr val="073B34"/>
                </a:solidFill>
                <a:latin typeface="Palatino Linotype" pitchFamily="34" charset="0"/>
                <a:ea typeface="Palatino Linotype" pitchFamily="34" charset="-122"/>
                <a:cs typeface="Palatino Linotype" pitchFamily="34" charset="-120"/>
              </a:rPr>
              <a:t>15 întrebări cu un singur răspuns corect, numai din cazurile discutate în sală. Douăzeci de minute, în ultima ședință.</a:t>
            </a:r>
            <a:endParaRPr lang="en-US" sz="1700" dirty="0"/>
          </a:p>
        </p:txBody>
      </p:sp>
      <p:sp>
        <p:nvSpPr>
          <p:cNvPr id="12" name="Shape 10"/>
          <p:cNvSpPr/>
          <p:nvPr/>
        </p:nvSpPr>
        <p:spPr>
          <a:xfrm>
            <a:off x="594360" y="5074920"/>
            <a:ext cx="10972800" cy="18288"/>
          </a:xfrm>
          <a:prstGeom prst="rect">
            <a:avLst/>
          </a:prstGeom>
          <a:solidFill>
            <a:srgbClr val="073B34"/>
          </a:solidFill>
          <a:ln/>
        </p:spPr>
        <p:txBody>
          <a:bodyPr/>
          <a:p/>
        </p:txBody>
      </p:sp>
      <p:sp>
        <p:nvSpPr>
          <p:cNvPr id="13" name="Text 11"/>
          <p:cNvSpPr/>
          <p:nvPr/>
        </p:nvSpPr>
        <p:spPr>
          <a:xfrm>
            <a:off x="594360" y="5257800"/>
            <a:ext cx="10972800" cy="548640"/>
          </a:xfrm>
          <a:prstGeom prst="rect">
            <a:avLst/>
          </a:prstGeom>
          <a:noFill/>
          <a:ln/>
        </p:spPr>
        <p:txBody>
          <a:bodyPr wrap="square" lIns="0" tIns="0" rIns="0" bIns="0" rtlCol="0" anchor="t"/>
          <a:lstStyle/>
          <a:p>
            <a:pPr indent="0" marL="0">
              <a:buNone/>
            </a:pPr>
            <a:r>
              <a:rPr lang="en-US" sz="1800" b="1" dirty="0">
                <a:solidFill>
                  <a:srgbClr val="073B34"/>
                </a:solidFill>
                <a:latin typeface="Palatino Linotype" pitchFamily="34" charset="0"/>
                <a:ea typeface="Palatino Linotype" pitchFamily="34" charset="-122"/>
                <a:cs typeface="Palatino Linotype" pitchFamily="34" charset="-120"/>
              </a:rPr>
              <a:t>Prezența, conform fișei disciplinei. Voturile, discuțiile și dezbaterile din sală nu se notează.</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HARTA ȘEDINȚEI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cazuri în două ore</a:t>
            </a:r>
            <a:endParaRPr lang="en-US" sz="3100" dirty="0"/>
          </a:p>
        </p:txBody>
      </p:sp>
      <p:sp>
        <p:nvSpPr>
          <p:cNvPr id="4" name="Shape 2"/>
          <p:cNvSpPr/>
          <p:nvPr/>
        </p:nvSpPr>
        <p:spPr>
          <a:xfrm>
            <a:off x="594360" y="2148840"/>
            <a:ext cx="914400" cy="868680"/>
          </a:xfrm>
          <a:prstGeom prst="rect">
            <a:avLst/>
          </a:prstGeom>
          <a:solidFill>
            <a:srgbClr val="585A64"/>
          </a:solidFill>
          <a:ln w="19050">
            <a:solidFill>
              <a:srgbClr val="F6F5F2"/>
            </a:solidFill>
            <a:prstDash val="solid"/>
          </a:ln>
        </p:spPr>
        <p:txBody>
          <a:bodyPr/>
          <a:p/>
        </p:txBody>
      </p:sp>
      <p:sp>
        <p:nvSpPr>
          <p:cNvPr id="5" name="Shape 3"/>
          <p:cNvSpPr/>
          <p:nvPr/>
        </p:nvSpPr>
        <p:spPr>
          <a:xfrm>
            <a:off x="1508760" y="2148840"/>
            <a:ext cx="2468880" cy="868680"/>
          </a:xfrm>
          <a:prstGeom prst="rect">
            <a:avLst/>
          </a:prstGeom>
          <a:solidFill>
            <a:srgbClr val="FF4757"/>
          </a:solidFill>
          <a:ln w="19050">
            <a:solidFill>
              <a:srgbClr val="F6F5F2"/>
            </a:solidFill>
            <a:prstDash val="solid"/>
          </a:ln>
        </p:spPr>
        <p:txBody>
          <a:bodyPr/>
          <a:p/>
        </p:txBody>
      </p:sp>
      <p:sp>
        <p:nvSpPr>
          <p:cNvPr id="6" name="Text 4"/>
          <p:cNvSpPr/>
          <p:nvPr/>
        </p:nvSpPr>
        <p:spPr>
          <a:xfrm>
            <a:off x="1508760" y="2148840"/>
            <a:ext cx="2468880" cy="868680"/>
          </a:xfrm>
          <a:prstGeom prst="rect">
            <a:avLst/>
          </a:prstGeom>
          <a:noFill/>
          <a:ln/>
        </p:spPr>
        <p:txBody>
          <a:bodyPr wrap="square" lIns="0" tIns="0" rIns="0" bIns="0" rtlCol="0" anchor="ctr"/>
          <a:lstStyle/>
          <a:p>
            <a:pPr algn="ctr" indent="0" marL="0">
              <a:buNone/>
            </a:pPr>
            <a:r>
              <a:rPr lang="en-US" sz="1900" b="1" dirty="0">
                <a:solidFill>
                  <a:srgbClr val="2E060B"/>
                </a:solidFill>
                <a:latin typeface="Palatino Linotype" pitchFamily="34" charset="0"/>
                <a:ea typeface="Palatino Linotype" pitchFamily="34" charset="-122"/>
                <a:cs typeface="Palatino Linotype" pitchFamily="34" charset="-120"/>
              </a:rPr>
              <a:t>Recipientul</a:t>
            </a:r>
            <a:endParaRPr lang="en-US" sz="1900" dirty="0"/>
          </a:p>
        </p:txBody>
      </p:sp>
      <p:sp>
        <p:nvSpPr>
          <p:cNvPr id="7" name="Shape 5"/>
          <p:cNvSpPr/>
          <p:nvPr/>
        </p:nvSpPr>
        <p:spPr>
          <a:xfrm>
            <a:off x="3977640" y="2148840"/>
            <a:ext cx="2103120" cy="868680"/>
          </a:xfrm>
          <a:prstGeom prst="rect">
            <a:avLst/>
          </a:prstGeom>
          <a:solidFill>
            <a:srgbClr val="9B7EF7"/>
          </a:solidFill>
          <a:ln w="19050">
            <a:solidFill>
              <a:srgbClr val="F6F5F2"/>
            </a:solidFill>
            <a:prstDash val="solid"/>
          </a:ln>
        </p:spPr>
        <p:txBody>
          <a:bodyPr/>
          <a:p/>
        </p:txBody>
      </p:sp>
      <p:sp>
        <p:nvSpPr>
          <p:cNvPr id="8" name="Text 6"/>
          <p:cNvSpPr/>
          <p:nvPr/>
        </p:nvSpPr>
        <p:spPr>
          <a:xfrm>
            <a:off x="3977640" y="2148840"/>
            <a:ext cx="2103120" cy="868680"/>
          </a:xfrm>
          <a:prstGeom prst="rect">
            <a:avLst/>
          </a:prstGeom>
          <a:noFill/>
          <a:ln/>
        </p:spPr>
        <p:txBody>
          <a:bodyPr wrap="square" lIns="0" tIns="0" rIns="0" bIns="0" rtlCol="0" anchor="ctr"/>
          <a:lstStyle/>
          <a:p>
            <a:pPr algn="ctr" indent="0" marL="0">
              <a:buNone/>
            </a:pPr>
            <a:r>
              <a:rPr lang="en-US" sz="1900" b="1" dirty="0">
                <a:solidFill>
                  <a:srgbClr val="1F1040"/>
                </a:solidFill>
                <a:latin typeface="Palatino Linotype" pitchFamily="34" charset="0"/>
                <a:ea typeface="Palatino Linotype" pitchFamily="34" charset="-122"/>
                <a:cs typeface="Palatino Linotype" pitchFamily="34" charset="-120"/>
              </a:rPr>
              <a:t>Licitația</a:t>
            </a:r>
            <a:endParaRPr lang="en-US" sz="1900" dirty="0"/>
          </a:p>
        </p:txBody>
      </p:sp>
      <p:sp>
        <p:nvSpPr>
          <p:cNvPr id="9" name="Shape 7"/>
          <p:cNvSpPr/>
          <p:nvPr/>
        </p:nvSpPr>
        <p:spPr>
          <a:xfrm>
            <a:off x="6080760" y="2148840"/>
            <a:ext cx="914400" cy="868680"/>
          </a:xfrm>
          <a:prstGeom prst="rect">
            <a:avLst/>
          </a:prstGeom>
          <a:solidFill>
            <a:srgbClr val="ECEAE4"/>
          </a:solidFill>
          <a:ln w="19050">
            <a:solidFill>
              <a:srgbClr val="F6F5F2"/>
            </a:solidFill>
            <a:prstDash val="solid"/>
          </a:ln>
        </p:spPr>
        <p:txBody>
          <a:bodyPr/>
          <a:p/>
        </p:txBody>
      </p:sp>
      <p:sp>
        <p:nvSpPr>
          <p:cNvPr id="10" name="Shape 8"/>
          <p:cNvSpPr/>
          <p:nvPr/>
        </p:nvSpPr>
        <p:spPr>
          <a:xfrm>
            <a:off x="6995160" y="2148840"/>
            <a:ext cx="2743200" cy="868680"/>
          </a:xfrm>
          <a:prstGeom prst="rect">
            <a:avLst/>
          </a:prstGeom>
          <a:solidFill>
            <a:srgbClr val="FFC24B"/>
          </a:solidFill>
          <a:ln w="19050">
            <a:solidFill>
              <a:srgbClr val="F6F5F2"/>
            </a:solidFill>
            <a:prstDash val="solid"/>
          </a:ln>
        </p:spPr>
        <p:txBody>
          <a:bodyPr/>
          <a:p/>
        </p:txBody>
      </p:sp>
      <p:sp>
        <p:nvSpPr>
          <p:cNvPr id="11" name="Text 9"/>
          <p:cNvSpPr/>
          <p:nvPr/>
        </p:nvSpPr>
        <p:spPr>
          <a:xfrm>
            <a:off x="6995160" y="2148840"/>
            <a:ext cx="2743200" cy="868680"/>
          </a:xfrm>
          <a:prstGeom prst="rect">
            <a:avLst/>
          </a:prstGeom>
          <a:noFill/>
          <a:ln/>
        </p:spPr>
        <p:txBody>
          <a:bodyPr wrap="square" lIns="0" tIns="0" rIns="0" bIns="0" rtlCol="0" anchor="ctr"/>
          <a:lstStyle/>
          <a:p>
            <a:pPr algn="ctr" indent="0" marL="0">
              <a:buNone/>
            </a:pPr>
            <a:r>
              <a:rPr lang="en-US" sz="1900" b="1" dirty="0">
                <a:solidFill>
                  <a:srgbClr val="3D2A00"/>
                </a:solidFill>
                <a:latin typeface="Palatino Linotype" pitchFamily="34" charset="0"/>
                <a:ea typeface="Palatino Linotype" pitchFamily="34" charset="-122"/>
                <a:cs typeface="Palatino Linotype" pitchFamily="34" charset="-120"/>
              </a:rPr>
              <a:t>Plicul</a:t>
            </a:r>
            <a:endParaRPr lang="en-US" sz="1900" dirty="0"/>
          </a:p>
        </p:txBody>
      </p:sp>
      <p:sp>
        <p:nvSpPr>
          <p:cNvPr id="12" name="Shape 10"/>
          <p:cNvSpPr/>
          <p:nvPr/>
        </p:nvSpPr>
        <p:spPr>
          <a:xfrm>
            <a:off x="9738360" y="2148840"/>
            <a:ext cx="1371600" cy="868680"/>
          </a:xfrm>
          <a:prstGeom prst="rect">
            <a:avLst/>
          </a:prstGeom>
          <a:solidFill>
            <a:srgbClr val="27D3BE"/>
          </a:solidFill>
          <a:ln w="19050">
            <a:solidFill>
              <a:srgbClr val="F6F5F2"/>
            </a:solidFill>
            <a:prstDash val="solid"/>
          </a:ln>
        </p:spPr>
        <p:txBody>
          <a:bodyPr/>
          <a:p/>
        </p:txBody>
      </p:sp>
      <p:sp>
        <p:nvSpPr>
          <p:cNvPr id="13" name="Text 11"/>
          <p:cNvSpPr/>
          <p:nvPr/>
        </p:nvSpPr>
        <p:spPr>
          <a:xfrm>
            <a:off x="9738360" y="2148840"/>
            <a:ext cx="1371600" cy="868680"/>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Kahoot</a:t>
            </a:r>
            <a:endParaRPr lang="en-US" sz="1400" dirty="0"/>
          </a:p>
        </p:txBody>
      </p:sp>
      <p:sp>
        <p:nvSpPr>
          <p:cNvPr id="14" name="Shape 12"/>
          <p:cNvSpPr/>
          <p:nvPr/>
        </p:nvSpPr>
        <p:spPr>
          <a:xfrm>
            <a:off x="11109960" y="2148840"/>
            <a:ext cx="457200" cy="868680"/>
          </a:xfrm>
          <a:prstGeom prst="rect">
            <a:avLst/>
          </a:prstGeom>
          <a:solidFill>
            <a:srgbClr val="FF8A3D"/>
          </a:solidFill>
          <a:ln w="19050">
            <a:solidFill>
              <a:srgbClr val="F6F5F2"/>
            </a:solidFill>
            <a:prstDash val="solid"/>
          </a:ln>
        </p:spPr>
        <p:txBody>
          <a:bodyPr/>
          <a:p/>
        </p:txBody>
      </p:sp>
      <p:sp>
        <p:nvSpPr>
          <p:cNvPr id="15" name="Text 13"/>
          <p:cNvSpPr/>
          <p:nvPr/>
        </p:nvSpPr>
        <p:spPr>
          <a:xfrm>
            <a:off x="2286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0′</a:t>
            </a:r>
            <a:endParaRPr lang="en-US" sz="1300" dirty="0"/>
          </a:p>
        </p:txBody>
      </p:sp>
      <p:sp>
        <p:nvSpPr>
          <p:cNvPr id="16" name="Text 14"/>
          <p:cNvSpPr/>
          <p:nvPr/>
        </p:nvSpPr>
        <p:spPr>
          <a:xfrm>
            <a:off x="11430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10′</a:t>
            </a:r>
            <a:endParaRPr lang="en-US" sz="1300" dirty="0"/>
          </a:p>
        </p:txBody>
      </p:sp>
      <p:sp>
        <p:nvSpPr>
          <p:cNvPr id="17" name="Text 15"/>
          <p:cNvSpPr/>
          <p:nvPr/>
        </p:nvSpPr>
        <p:spPr>
          <a:xfrm>
            <a:off x="361188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37′</a:t>
            </a:r>
            <a:endParaRPr lang="en-US" sz="1300" dirty="0"/>
          </a:p>
        </p:txBody>
      </p:sp>
      <p:sp>
        <p:nvSpPr>
          <p:cNvPr id="18" name="Text 16"/>
          <p:cNvSpPr/>
          <p:nvPr/>
        </p:nvSpPr>
        <p:spPr>
          <a:xfrm>
            <a:off x="57150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60′</a:t>
            </a:r>
            <a:endParaRPr lang="en-US" sz="1300" dirty="0"/>
          </a:p>
        </p:txBody>
      </p:sp>
      <p:sp>
        <p:nvSpPr>
          <p:cNvPr id="19" name="Text 17"/>
          <p:cNvSpPr/>
          <p:nvPr/>
        </p:nvSpPr>
        <p:spPr>
          <a:xfrm>
            <a:off x="6629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70′</a:t>
            </a:r>
            <a:endParaRPr lang="en-US" sz="1300" dirty="0"/>
          </a:p>
        </p:txBody>
      </p:sp>
      <p:sp>
        <p:nvSpPr>
          <p:cNvPr id="20" name="Text 18"/>
          <p:cNvSpPr/>
          <p:nvPr/>
        </p:nvSpPr>
        <p:spPr>
          <a:xfrm>
            <a:off x="93726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100′</a:t>
            </a:r>
            <a:endParaRPr lang="en-US" sz="1300" dirty="0"/>
          </a:p>
        </p:txBody>
      </p:sp>
      <p:sp>
        <p:nvSpPr>
          <p:cNvPr id="21" name="Text 19"/>
          <p:cNvSpPr/>
          <p:nvPr/>
        </p:nvSpPr>
        <p:spPr>
          <a:xfrm>
            <a:off x="107442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115′</a:t>
            </a:r>
            <a:endParaRPr lang="en-US" sz="1300" dirty="0"/>
          </a:p>
        </p:txBody>
      </p:sp>
      <p:sp>
        <p:nvSpPr>
          <p:cNvPr id="22" name="Text 20"/>
          <p:cNvSpPr/>
          <p:nvPr/>
        </p:nvSpPr>
        <p:spPr>
          <a:xfrm>
            <a:off x="11201400" y="1819656"/>
            <a:ext cx="731520" cy="256032"/>
          </a:xfrm>
          <a:prstGeom prst="rect">
            <a:avLst/>
          </a:prstGeom>
          <a:noFill/>
          <a:ln/>
        </p:spPr>
        <p:txBody>
          <a:bodyPr wrap="square" lIns="0" tIns="0" rIns="0" bIns="0" rtlCol="0" anchor="t"/>
          <a:lstStyle/>
          <a:p>
            <a:pPr algn="ctr" indent="0" marL="0">
              <a:buNone/>
            </a:pPr>
            <a:r>
              <a:rPr lang="en-US" sz="1300" dirty="0">
                <a:solidFill>
                  <a:srgbClr val="585A64"/>
                </a:solidFill>
                <a:latin typeface="Palatino Linotype" pitchFamily="34" charset="0"/>
                <a:ea typeface="Palatino Linotype" pitchFamily="34" charset="-122"/>
                <a:cs typeface="Palatino Linotype" pitchFamily="34" charset="-120"/>
              </a:rPr>
              <a:t>120′</a:t>
            </a:r>
            <a:endParaRPr lang="en-US" sz="1300" dirty="0"/>
          </a:p>
        </p:txBody>
      </p:sp>
      <p:sp>
        <p:nvSpPr>
          <p:cNvPr id="23" name="Text 21"/>
          <p:cNvSpPr/>
          <p:nvPr/>
        </p:nvSpPr>
        <p:spPr>
          <a:xfrm>
            <a:off x="548640" y="3090672"/>
            <a:ext cx="1463040" cy="274320"/>
          </a:xfrm>
          <a:prstGeom prst="rect">
            <a:avLst/>
          </a:prstGeom>
          <a:noFill/>
          <a:ln/>
        </p:spPr>
        <p:txBody>
          <a:bodyPr wrap="square" lIns="0" tIns="0" rIns="0" bIns="0" rtlCol="0" anchor="t"/>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Deschiderea</a:t>
            </a:r>
            <a:endParaRPr lang="en-US" sz="1300" dirty="0"/>
          </a:p>
        </p:txBody>
      </p:sp>
      <p:sp>
        <p:nvSpPr>
          <p:cNvPr id="24" name="Text 22"/>
          <p:cNvSpPr/>
          <p:nvPr/>
        </p:nvSpPr>
        <p:spPr>
          <a:xfrm>
            <a:off x="6080760" y="3090672"/>
            <a:ext cx="914400" cy="274320"/>
          </a:xfrm>
          <a:prstGeom prst="rect">
            <a:avLst/>
          </a:prstGeom>
          <a:noFill/>
          <a:ln/>
        </p:spPr>
        <p:txBody>
          <a:bodyPr wrap="square" lIns="0" tIns="0" rIns="0" bIns="0" rtlCol="0" anchor="t"/>
          <a:lstStyle/>
          <a:p>
            <a:pPr algn="ctr" indent="0" marL="0">
              <a:buNone/>
            </a:pPr>
            <a:r>
              <a:rPr lang="en-US" sz="1300" b="1" dirty="0">
                <a:solidFill>
                  <a:srgbClr val="585A64"/>
                </a:solidFill>
                <a:latin typeface="Palatino Linotype" pitchFamily="34" charset="0"/>
                <a:ea typeface="Palatino Linotype" pitchFamily="34" charset="-122"/>
                <a:cs typeface="Palatino Linotype" pitchFamily="34" charset="-120"/>
              </a:rPr>
              <a:t>Pauză</a:t>
            </a:r>
            <a:endParaRPr lang="en-US" sz="1300" dirty="0"/>
          </a:p>
        </p:txBody>
      </p:sp>
      <p:sp>
        <p:nvSpPr>
          <p:cNvPr id="25" name="Text 23"/>
          <p:cNvSpPr/>
          <p:nvPr/>
        </p:nvSpPr>
        <p:spPr>
          <a:xfrm>
            <a:off x="9738360" y="3090672"/>
            <a:ext cx="1828800" cy="274320"/>
          </a:xfrm>
          <a:prstGeom prst="rect">
            <a:avLst/>
          </a:prstGeom>
          <a:noFill/>
          <a:ln/>
        </p:spPr>
        <p:txBody>
          <a:bodyPr wrap="square" lIns="0" tIns="0" rIns="0" bIns="0" rtlCol="0" anchor="t"/>
          <a:lstStyle/>
          <a:p>
            <a:pPr algn="r" indent="0" marL="0">
              <a:buNone/>
            </a:pPr>
            <a:r>
              <a:rPr lang="en-US" sz="1300" b="1" dirty="0">
                <a:solidFill>
                  <a:srgbClr val="9C4A0A"/>
                </a:solidFill>
                <a:latin typeface="Palatino Linotype" pitchFamily="34" charset="0"/>
                <a:ea typeface="Palatino Linotype" pitchFamily="34" charset="-122"/>
                <a:cs typeface="Palatino Linotype" pitchFamily="34" charset="-120"/>
              </a:rPr>
              <a:t>Trei întrebări</a:t>
            </a:r>
            <a:endParaRPr lang="en-US" sz="1300" dirty="0"/>
          </a:p>
        </p:txBody>
      </p:sp>
      <p:sp>
        <p:nvSpPr>
          <p:cNvPr id="26" name="Shape 24"/>
          <p:cNvSpPr/>
          <p:nvPr/>
        </p:nvSpPr>
        <p:spPr>
          <a:xfrm>
            <a:off x="1508760" y="3520440"/>
            <a:ext cx="45720" cy="658368"/>
          </a:xfrm>
          <a:prstGeom prst="rect">
            <a:avLst/>
          </a:prstGeom>
          <a:solidFill>
            <a:srgbClr val="B02532"/>
          </a:solidFill>
          <a:ln w="12700">
            <a:solidFill>
              <a:srgbClr val="B02532"/>
            </a:solidFill>
            <a:prstDash val="solid"/>
          </a:ln>
        </p:spPr>
        <p:txBody>
          <a:bodyPr/>
          <a:p/>
        </p:txBody>
      </p:sp>
      <p:sp>
        <p:nvSpPr>
          <p:cNvPr id="27" name="Text 25"/>
          <p:cNvSpPr/>
          <p:nvPr/>
        </p:nvSpPr>
        <p:spPr>
          <a:xfrm>
            <a:off x="1673352" y="3520440"/>
            <a:ext cx="219456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Un caz cunoscut: ce s-a stabilit și ce s-a relatat</a:t>
            </a:r>
            <a:endParaRPr lang="en-US" sz="1500" dirty="0"/>
          </a:p>
        </p:txBody>
      </p:sp>
      <p:sp>
        <p:nvSpPr>
          <p:cNvPr id="28" name="Shape 26"/>
          <p:cNvSpPr/>
          <p:nvPr/>
        </p:nvSpPr>
        <p:spPr>
          <a:xfrm>
            <a:off x="3977640" y="3520440"/>
            <a:ext cx="45720" cy="658368"/>
          </a:xfrm>
          <a:prstGeom prst="rect">
            <a:avLst/>
          </a:prstGeom>
          <a:solidFill>
            <a:srgbClr val="4A2D8C"/>
          </a:solidFill>
          <a:ln w="12700">
            <a:solidFill>
              <a:srgbClr val="4A2D8C"/>
            </a:solidFill>
            <a:prstDash val="solid"/>
          </a:ln>
        </p:spPr>
        <p:txBody>
          <a:bodyPr/>
          <a:p/>
        </p:txBody>
      </p:sp>
      <p:sp>
        <p:nvSpPr>
          <p:cNvPr id="29" name="Text 27"/>
          <p:cNvSpPr/>
          <p:nvPr/>
        </p:nvSpPr>
        <p:spPr>
          <a:xfrm>
            <a:off x="4142232" y="3520440"/>
            <a:ext cx="182880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Cum ajunge un recipient pe secție</a:t>
            </a:r>
            <a:endParaRPr lang="en-US" sz="1500" dirty="0"/>
          </a:p>
        </p:txBody>
      </p:sp>
      <p:sp>
        <p:nvSpPr>
          <p:cNvPr id="30" name="Shape 28"/>
          <p:cNvSpPr/>
          <p:nvPr/>
        </p:nvSpPr>
        <p:spPr>
          <a:xfrm>
            <a:off x="6995160" y="3520440"/>
            <a:ext cx="45720" cy="658368"/>
          </a:xfrm>
          <a:prstGeom prst="rect">
            <a:avLst/>
          </a:prstGeom>
          <a:solidFill>
            <a:srgbClr val="8A6100"/>
          </a:solidFill>
          <a:ln w="12700">
            <a:solidFill>
              <a:srgbClr val="8A6100"/>
            </a:solidFill>
            <a:prstDash val="solid"/>
          </a:ln>
        </p:spPr>
        <p:txBody>
          <a:bodyPr/>
          <a:p/>
        </p:txBody>
      </p:sp>
      <p:sp>
        <p:nvSpPr>
          <p:cNvPr id="31" name="Text 29"/>
          <p:cNvSpPr/>
          <p:nvPr/>
        </p:nvSpPr>
        <p:spPr>
          <a:xfrm>
            <a:off x="7159752" y="3520440"/>
            <a:ext cx="2468880" cy="1188720"/>
          </a:xfrm>
          <a:prstGeom prst="rect">
            <a:avLst/>
          </a:prstGeom>
          <a:noFill/>
          <a:ln/>
        </p:spPr>
        <p:txBody>
          <a:bodyPr wrap="square" lIns="0" tIns="0" rIns="0" bIns="0" rtlCol="0" anchor="t"/>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Familia pacientului vă oferă un plic</a:t>
            </a:r>
            <a:endParaRPr lang="en-US" sz="1500" dirty="0"/>
          </a:p>
        </p:txBody>
      </p:sp>
      <p:sp>
        <p:nvSpPr>
          <p:cNvPr id="32" name="Text 30"/>
          <p:cNvSpPr/>
          <p:nvPr/>
        </p:nvSpPr>
        <p:spPr>
          <a:xfrm>
            <a:off x="594360" y="5349240"/>
            <a:ext cx="10972800" cy="457200"/>
          </a:xfrm>
          <a:prstGeom prst="rect">
            <a:avLst/>
          </a:prstGeom>
          <a:noFill/>
          <a:ln/>
        </p:spPr>
        <p:txBody>
          <a:bodyPr wrap="square" lIns="0" tIns="0" rIns="0" bIns="0" rtlCol="0" anchor="t"/>
          <a:lstStyle/>
          <a:p>
            <a:pPr indent="0" marL="0">
              <a:buNone/>
            </a:pPr>
            <a:r>
              <a:rPr lang="en-US" sz="1700" b="1" i="1" dirty="0">
                <a:solidFill>
                  <a:srgbClr val="B02532"/>
                </a:solidFill>
                <a:latin typeface="Palatino Linotype" pitchFamily="34" charset="0"/>
                <a:ea typeface="Palatino Linotype" pitchFamily="34" charset="-122"/>
                <a:cs typeface="Palatino Linotype" pitchFamily="34" charset="-120"/>
              </a:rPr>
              <a:t>Termenii noi de azi: trei feluri de a ști · ofertantul unic · condiționarea.</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ÎNTREBAREA DIN TITLU</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Câte vieți costă corupția din sănătate, într-un an, în România?</a:t>
            </a:r>
            <a:endParaRPr lang="en-US" sz="3000" dirty="0"/>
          </a:p>
        </p:txBody>
      </p:sp>
      <p:sp>
        <p:nvSpPr>
          <p:cNvPr id="6" name="Shape 4"/>
          <p:cNvSpPr/>
          <p:nvPr/>
        </p:nvSpPr>
        <p:spPr>
          <a:xfrm>
            <a:off x="594360" y="187452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7" name="Shape 5"/>
          <p:cNvSpPr/>
          <p:nvPr/>
        </p:nvSpPr>
        <p:spPr>
          <a:xfrm>
            <a:off x="914400" y="2020824"/>
            <a:ext cx="420624" cy="420624"/>
          </a:xfrm>
          <a:prstGeom prst="ellipse">
            <a:avLst/>
          </a:prstGeom>
          <a:solidFill>
            <a:srgbClr val="FFC24B"/>
          </a:solidFill>
          <a:ln/>
        </p:spPr>
        <p:txBody>
          <a:bodyPr/>
          <a:p/>
        </p:txBody>
      </p:sp>
      <p:sp>
        <p:nvSpPr>
          <p:cNvPr id="8" name="Text 6"/>
          <p:cNvSpPr/>
          <p:nvPr/>
        </p:nvSpPr>
        <p:spPr>
          <a:xfrm>
            <a:off x="914400" y="20208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874520"/>
            <a:ext cx="969264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Sub 100</a:t>
            </a:r>
            <a:endParaRPr lang="en-US" sz="1900" dirty="0"/>
          </a:p>
        </p:txBody>
      </p:sp>
      <p:sp>
        <p:nvSpPr>
          <p:cNvPr id="10" name="Shape 8"/>
          <p:cNvSpPr/>
          <p:nvPr/>
        </p:nvSpPr>
        <p:spPr>
          <a:xfrm>
            <a:off x="594360" y="274320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1" name="Shape 9"/>
          <p:cNvSpPr/>
          <p:nvPr/>
        </p:nvSpPr>
        <p:spPr>
          <a:xfrm>
            <a:off x="914400" y="2889504"/>
            <a:ext cx="420624" cy="420624"/>
          </a:xfrm>
          <a:prstGeom prst="ellipse">
            <a:avLst/>
          </a:prstGeom>
          <a:solidFill>
            <a:srgbClr val="FFC24B"/>
          </a:solidFill>
          <a:ln/>
        </p:spPr>
        <p:txBody>
          <a:bodyPr/>
          <a:p/>
        </p:txBody>
      </p:sp>
      <p:sp>
        <p:nvSpPr>
          <p:cNvPr id="12" name="Text 10"/>
          <p:cNvSpPr/>
          <p:nvPr/>
        </p:nvSpPr>
        <p:spPr>
          <a:xfrm>
            <a:off x="914400" y="28895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743200"/>
            <a:ext cx="969264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Câteva sute</a:t>
            </a:r>
            <a:endParaRPr lang="en-US" sz="1900" dirty="0"/>
          </a:p>
        </p:txBody>
      </p:sp>
      <p:sp>
        <p:nvSpPr>
          <p:cNvPr id="14" name="Shape 12"/>
          <p:cNvSpPr/>
          <p:nvPr/>
        </p:nvSpPr>
        <p:spPr>
          <a:xfrm>
            <a:off x="594360" y="361188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5" name="Shape 13"/>
          <p:cNvSpPr/>
          <p:nvPr/>
        </p:nvSpPr>
        <p:spPr>
          <a:xfrm>
            <a:off x="914400" y="3758184"/>
            <a:ext cx="420624" cy="420624"/>
          </a:xfrm>
          <a:prstGeom prst="ellipse">
            <a:avLst/>
          </a:prstGeom>
          <a:solidFill>
            <a:srgbClr val="FFC24B"/>
          </a:solidFill>
          <a:ln/>
        </p:spPr>
        <p:txBody>
          <a:bodyPr/>
          <a:p/>
        </p:txBody>
      </p:sp>
      <p:sp>
        <p:nvSpPr>
          <p:cNvPr id="16" name="Text 14"/>
          <p:cNvSpPr/>
          <p:nvPr/>
        </p:nvSpPr>
        <p:spPr>
          <a:xfrm>
            <a:off x="914400" y="37581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611880"/>
            <a:ext cx="969264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Câteva mii</a:t>
            </a:r>
            <a:endParaRPr lang="en-US" sz="1900" dirty="0"/>
          </a:p>
        </p:txBody>
      </p:sp>
      <p:sp>
        <p:nvSpPr>
          <p:cNvPr id="18" name="Shape 16"/>
          <p:cNvSpPr/>
          <p:nvPr/>
        </p:nvSpPr>
        <p:spPr>
          <a:xfrm>
            <a:off x="594360" y="4480560"/>
            <a:ext cx="10972800" cy="713232"/>
          </a:xfrm>
          <a:prstGeom prst="roundRect">
            <a:avLst>
              <a:gd name="adj" fmla="val 11538"/>
            </a:avLst>
          </a:prstGeom>
          <a:solidFill>
            <a:srgbClr val="1D1F2B"/>
          </a:solidFill>
          <a:ln w="12700">
            <a:solidFill>
              <a:srgbClr val="1D1F2B"/>
            </a:solidFill>
            <a:prstDash val="solid"/>
          </a:ln>
        </p:spPr>
        <p:txBody>
          <a:bodyPr/>
          <a:p/>
        </p:txBody>
      </p:sp>
      <p:sp>
        <p:nvSpPr>
          <p:cNvPr id="19" name="Shape 17"/>
          <p:cNvSpPr/>
          <p:nvPr/>
        </p:nvSpPr>
        <p:spPr>
          <a:xfrm>
            <a:off x="914400" y="4626864"/>
            <a:ext cx="420624" cy="420624"/>
          </a:xfrm>
          <a:prstGeom prst="ellipse">
            <a:avLst/>
          </a:prstGeom>
          <a:solidFill>
            <a:srgbClr val="FFC24B"/>
          </a:solidFill>
          <a:ln/>
        </p:spPr>
        <p:txBody>
          <a:bodyPr/>
          <a:p/>
        </p:txBody>
      </p:sp>
      <p:sp>
        <p:nvSpPr>
          <p:cNvPr id="20" name="Text 18"/>
          <p:cNvSpPr/>
          <p:nvPr/>
        </p:nvSpPr>
        <p:spPr>
          <a:xfrm>
            <a:off x="914400" y="46268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480560"/>
            <a:ext cx="9692640" cy="71323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Nu se poate număra exact</a:t>
            </a:r>
            <a:endParaRPr lang="en-US" sz="1900" dirty="0"/>
          </a:p>
        </p:txBody>
      </p:sp>
      <p:sp>
        <p:nvSpPr>
          <p:cNvPr id="22" name="Text 20"/>
          <p:cNvSpPr/>
          <p:nvPr/>
        </p:nvSpPr>
        <p:spPr>
          <a:xfrm>
            <a:off x="594360" y="5486400"/>
            <a:ext cx="10972800" cy="36576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Răspundeți după prima impresie. Votul este anonim și nu se notează.</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NIMENI NU ȘTIE EXACT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Trei motive pentru care decesele nu se pot număra</a:t>
            </a:r>
            <a:endParaRPr lang="en-US" sz="3000" dirty="0"/>
          </a:p>
        </p:txBody>
      </p:sp>
      <p:sp>
        <p:nvSpPr>
          <p:cNvPr id="4" name="Shape 2"/>
          <p:cNvSpPr/>
          <p:nvPr/>
        </p:nvSpPr>
        <p:spPr>
          <a:xfrm>
            <a:off x="594360" y="1783080"/>
            <a:ext cx="10972800" cy="932688"/>
          </a:xfrm>
          <a:prstGeom prst="roundRect">
            <a:avLst>
              <a:gd name="adj" fmla="val 8824"/>
            </a:avLst>
          </a:prstGeom>
          <a:solidFill>
            <a:srgbClr val="ECEAE4"/>
          </a:solidFill>
          <a:ln w="12700">
            <a:solidFill>
              <a:srgbClr val="ECEAE4"/>
            </a:solidFill>
            <a:prstDash val="solid"/>
          </a:ln>
        </p:spPr>
        <p:txBody>
          <a:bodyPr/>
          <a:p/>
        </p:txBody>
      </p:sp>
      <p:sp>
        <p:nvSpPr>
          <p:cNvPr id="5" name="Shape 3"/>
          <p:cNvSpPr/>
          <p:nvPr/>
        </p:nvSpPr>
        <p:spPr>
          <a:xfrm>
            <a:off x="868680" y="2039112"/>
            <a:ext cx="420624" cy="420624"/>
          </a:xfrm>
          <a:prstGeom prst="ellipse">
            <a:avLst/>
          </a:prstGeom>
          <a:solidFill>
            <a:srgbClr val="FF4757"/>
          </a:solidFill>
          <a:ln/>
        </p:spPr>
        <p:txBody>
          <a:bodyPr/>
          <a:p/>
        </p:txBody>
      </p:sp>
      <p:sp>
        <p:nvSpPr>
          <p:cNvPr id="6" name="Text 4"/>
          <p:cNvSpPr/>
          <p:nvPr/>
        </p:nvSpPr>
        <p:spPr>
          <a:xfrm>
            <a:off x="868680" y="20391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54480" y="1783080"/>
            <a:ext cx="9784080" cy="932688"/>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Corupția se ascunde: cine dă și cine primește un plic nu apar în nicio statistică.</a:t>
            </a:r>
            <a:endParaRPr lang="en-US" sz="1900" dirty="0"/>
          </a:p>
        </p:txBody>
      </p:sp>
      <p:sp>
        <p:nvSpPr>
          <p:cNvPr id="8" name="Shape 6"/>
          <p:cNvSpPr/>
          <p:nvPr/>
        </p:nvSpPr>
        <p:spPr>
          <a:xfrm>
            <a:off x="594360" y="2880360"/>
            <a:ext cx="10972800" cy="932688"/>
          </a:xfrm>
          <a:prstGeom prst="roundRect">
            <a:avLst>
              <a:gd name="adj" fmla="val 8824"/>
            </a:avLst>
          </a:prstGeom>
          <a:solidFill>
            <a:srgbClr val="ECEAE4"/>
          </a:solidFill>
          <a:ln w="12700">
            <a:solidFill>
              <a:srgbClr val="ECEAE4"/>
            </a:solidFill>
            <a:prstDash val="solid"/>
          </a:ln>
        </p:spPr>
        <p:txBody>
          <a:bodyPr/>
          <a:p/>
        </p:txBody>
      </p:sp>
      <p:sp>
        <p:nvSpPr>
          <p:cNvPr id="9" name="Shape 7"/>
          <p:cNvSpPr/>
          <p:nvPr/>
        </p:nvSpPr>
        <p:spPr>
          <a:xfrm>
            <a:off x="868680" y="3136392"/>
            <a:ext cx="420624" cy="420624"/>
          </a:xfrm>
          <a:prstGeom prst="ellipse">
            <a:avLst/>
          </a:prstGeom>
          <a:solidFill>
            <a:srgbClr val="FF4757"/>
          </a:solidFill>
          <a:ln/>
        </p:spPr>
        <p:txBody>
          <a:bodyPr/>
          <a:p/>
        </p:txBody>
      </p:sp>
      <p:sp>
        <p:nvSpPr>
          <p:cNvPr id="10" name="Text 8"/>
          <p:cNvSpPr/>
          <p:nvPr/>
        </p:nvSpPr>
        <p:spPr>
          <a:xfrm>
            <a:off x="868680" y="313639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54480" y="2880360"/>
            <a:ext cx="9784080" cy="932688"/>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Moartea are aproape întotdeauna mai multe cauze: arsurile, o infecție, vârsta, alte boli.</a:t>
            </a:r>
            <a:endParaRPr lang="en-US" sz="1900" dirty="0"/>
          </a:p>
        </p:txBody>
      </p:sp>
      <p:sp>
        <p:nvSpPr>
          <p:cNvPr id="12" name="Shape 10"/>
          <p:cNvSpPr/>
          <p:nvPr/>
        </p:nvSpPr>
        <p:spPr>
          <a:xfrm>
            <a:off x="594360" y="3977640"/>
            <a:ext cx="10972800" cy="932688"/>
          </a:xfrm>
          <a:prstGeom prst="roundRect">
            <a:avLst>
              <a:gd name="adj" fmla="val 8824"/>
            </a:avLst>
          </a:prstGeom>
          <a:solidFill>
            <a:srgbClr val="ECEAE4"/>
          </a:solidFill>
          <a:ln w="12700">
            <a:solidFill>
              <a:srgbClr val="ECEAE4"/>
            </a:solidFill>
            <a:prstDash val="solid"/>
          </a:ln>
        </p:spPr>
        <p:txBody>
          <a:bodyPr/>
          <a:p/>
        </p:txBody>
      </p:sp>
      <p:sp>
        <p:nvSpPr>
          <p:cNvPr id="13" name="Shape 11"/>
          <p:cNvSpPr/>
          <p:nvPr/>
        </p:nvSpPr>
        <p:spPr>
          <a:xfrm>
            <a:off x="868680" y="4233672"/>
            <a:ext cx="420624" cy="420624"/>
          </a:xfrm>
          <a:prstGeom prst="ellipse">
            <a:avLst/>
          </a:prstGeom>
          <a:solidFill>
            <a:srgbClr val="FF4757"/>
          </a:solidFill>
          <a:ln/>
        </p:spPr>
        <p:txBody>
          <a:bodyPr/>
          <a:p/>
        </p:txBody>
      </p:sp>
      <p:sp>
        <p:nvSpPr>
          <p:cNvPr id="14" name="Text 12"/>
          <p:cNvSpPr/>
          <p:nvPr/>
        </p:nvSpPr>
        <p:spPr>
          <a:xfrm>
            <a:off x="868680" y="423367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54480" y="3977640"/>
            <a:ext cx="9784080" cy="932688"/>
          </a:xfrm>
          <a:prstGeom prst="rect">
            <a:avLst/>
          </a:prstGeom>
          <a:noFill/>
          <a:ln/>
        </p:spPr>
        <p:txBody>
          <a:bodyPr wrap="square" lIns="0" tIns="0" rIns="0" bIns="0" rtlCol="0" anchor="ctr"/>
          <a:lstStyle/>
          <a:p>
            <a:pPr indent="0" marL="0">
              <a:buNone/>
            </a:pPr>
            <a:r>
              <a:rPr lang="en-US" sz="1900" dirty="0">
                <a:solidFill>
                  <a:srgbClr val="11121A"/>
                </a:solidFill>
                <a:latin typeface="Palatino Linotype" pitchFamily="34" charset="0"/>
                <a:ea typeface="Palatino Linotype" pitchFamily="34" charset="-122"/>
                <a:cs typeface="Palatino Linotype" pitchFamily="34" charset="-120"/>
              </a:rPr>
              <a:t>Nu există o a doua Românie, identică, dar fără plicuri, cu care să o comparăm.</a:t>
            </a:r>
            <a:endParaRPr lang="en-US" sz="1900" dirty="0"/>
          </a:p>
        </p:txBody>
      </p:sp>
      <p:sp>
        <p:nvSpPr>
          <p:cNvPr id="16" name="Text 14"/>
          <p:cNvSpPr/>
          <p:nvPr/>
        </p:nvSpPr>
        <p:spPr>
          <a:xfrm>
            <a:off x="594360" y="5257800"/>
            <a:ext cx="10972800" cy="64008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Un răspuns provizoriu, deci: varianta D. Diapozitivul următor arată ce se știe totuși.</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UN RĂSPUNS PROVIZORIU · CE ȘTIM, TOTUȘI</a:t>
            </a:r>
            <a:endParaRPr lang="en-US" sz="1300" dirty="0"/>
          </a:p>
        </p:txBody>
      </p:sp>
      <p:sp>
        <p:nvSpPr>
          <p:cNvPr id="3" name="Text 1"/>
          <p:cNvSpPr/>
          <p:nvPr/>
        </p:nvSpPr>
        <p:spPr>
          <a:xfrm>
            <a:off x="594360" y="914400"/>
            <a:ext cx="2743200" cy="45720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peste</a:t>
            </a:r>
            <a:endParaRPr lang="en-US" sz="2200" dirty="0"/>
          </a:p>
        </p:txBody>
      </p:sp>
      <p:sp>
        <p:nvSpPr>
          <p:cNvPr id="4" name="Text 2"/>
          <p:cNvSpPr/>
          <p:nvPr/>
        </p:nvSpPr>
        <p:spPr>
          <a:xfrm>
            <a:off x="502920" y="1234440"/>
            <a:ext cx="6583680" cy="1554480"/>
          </a:xfrm>
          <a:prstGeom prst="rect">
            <a:avLst/>
          </a:prstGeom>
          <a:noFill/>
          <a:ln/>
        </p:spPr>
        <p:txBody>
          <a:bodyPr wrap="square" lIns="0" tIns="0" rIns="0" bIns="0" rtlCol="0" anchor="ctr"/>
          <a:lstStyle/>
          <a:p>
            <a:pPr indent="0" marL="0">
              <a:buNone/>
            </a:pPr>
            <a:r>
              <a:rPr lang="en-US" sz="11000" b="1" dirty="0">
                <a:solidFill>
                  <a:srgbClr val="0E7C6B"/>
                </a:solidFill>
                <a:latin typeface="Palatino Linotype" pitchFamily="34" charset="0"/>
                <a:ea typeface="Palatino Linotype" pitchFamily="34" charset="-122"/>
                <a:cs typeface="Palatino Linotype" pitchFamily="34" charset="-120"/>
              </a:rPr>
              <a:t>140 000</a:t>
            </a:r>
            <a:endParaRPr lang="en-US" sz="11000" dirty="0"/>
          </a:p>
        </p:txBody>
      </p:sp>
      <p:sp>
        <p:nvSpPr>
          <p:cNvPr id="5" name="Text 3"/>
          <p:cNvSpPr/>
          <p:nvPr/>
        </p:nvSpPr>
        <p:spPr>
          <a:xfrm>
            <a:off x="594360" y="2880360"/>
            <a:ext cx="6309360" cy="11887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decese anuale ale copiilor, în lume, atribuite „indirect” corupției: o ipoteză „aproximativă”, din comparații între țări (Hanf și colab., 2011).</a:t>
            </a:r>
            <a:endParaRPr lang="en-US" sz="1700" dirty="0"/>
          </a:p>
        </p:txBody>
      </p:sp>
      <p:sp>
        <p:nvSpPr>
          <p:cNvPr id="6" name="Shape 4"/>
          <p:cNvSpPr/>
          <p:nvPr/>
        </p:nvSpPr>
        <p:spPr>
          <a:xfrm>
            <a:off x="7406640" y="1097280"/>
            <a:ext cx="27432" cy="2926080"/>
          </a:xfrm>
          <a:prstGeom prst="rect">
            <a:avLst/>
          </a:prstGeom>
          <a:solidFill>
            <a:srgbClr val="C9C6BE"/>
          </a:solidFill>
          <a:ln/>
        </p:spPr>
        <p:txBody>
          <a:bodyPr/>
          <a:p/>
        </p:txBody>
      </p:sp>
      <p:sp>
        <p:nvSpPr>
          <p:cNvPr id="7" name="Text 5"/>
          <p:cNvSpPr/>
          <p:nvPr/>
        </p:nvSpPr>
        <p:spPr>
          <a:xfrm>
            <a:off x="7726680" y="1188720"/>
            <a:ext cx="3931920" cy="822960"/>
          </a:xfrm>
          <a:prstGeom prst="rect">
            <a:avLst/>
          </a:prstGeom>
          <a:noFill/>
          <a:ln/>
        </p:spPr>
        <p:txBody>
          <a:bodyPr wrap="square" lIns="0" tIns="0" rIns="0" bIns="0" rtlCol="0" anchor="ctr"/>
          <a:lstStyle/>
          <a:p>
            <a:pPr indent="0" marL="0">
              <a:buNone/>
            </a:pPr>
            <a:r>
              <a:rPr lang="en-US" sz="4400" b="1" dirty="0">
                <a:solidFill>
                  <a:srgbClr val="B02532"/>
                </a:solidFill>
                <a:latin typeface="Palatino Linotype" pitchFamily="34" charset="0"/>
                <a:ea typeface="Palatino Linotype" pitchFamily="34" charset="-122"/>
                <a:cs typeface="Palatino Linotype" pitchFamily="34" charset="-120"/>
              </a:rPr>
              <a:t>7 din 100</a:t>
            </a:r>
            <a:endParaRPr lang="en-US" sz="4400" dirty="0"/>
          </a:p>
        </p:txBody>
      </p:sp>
      <p:sp>
        <p:nvSpPr>
          <p:cNvPr id="8" name="Text 6"/>
          <p:cNvSpPr/>
          <p:nvPr/>
        </p:nvSpPr>
        <p:spPr>
          <a:xfrm>
            <a:off x="7726680" y="2057400"/>
            <a:ext cx="3840480" cy="11887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români cu contact cu sănătatea: li s-a cerut sau s-a așteptat ceva în plus (2026).</a:t>
            </a:r>
            <a:endParaRPr lang="en-US" sz="1600" dirty="0"/>
          </a:p>
        </p:txBody>
      </p:sp>
      <p:sp>
        <p:nvSpPr>
          <p:cNvPr id="9" name="Text 7"/>
          <p:cNvSpPr/>
          <p:nvPr/>
        </p:nvSpPr>
        <p:spPr>
          <a:xfrm>
            <a:off x="7726680" y="3291840"/>
            <a:ext cx="3840480" cy="411480"/>
          </a:xfrm>
          <a:prstGeom prst="rect">
            <a:avLst/>
          </a:prstGeom>
          <a:noFill/>
          <a:ln/>
        </p:spPr>
        <p:txBody>
          <a:bodyPr wrap="square" lIns="0" tIns="0" rIns="0" bIns="0" rtlCol="0" anchor="t"/>
          <a:lstStyle/>
          <a:p>
            <a:pPr indent="0" marL="0">
              <a:buNone/>
            </a:pPr>
            <a:r>
              <a:rPr lang="en-US" sz="1600" b="1" dirty="0">
                <a:solidFill>
                  <a:srgbClr val="585A64"/>
                </a:solidFill>
                <a:latin typeface="Palatino Linotype" pitchFamily="34" charset="0"/>
                <a:ea typeface="Palatino Linotype" pitchFamily="34" charset="-122"/>
                <a:cs typeface="Palatino Linotype" pitchFamily="34" charset="-120"/>
              </a:rPr>
              <a:t>Media UE: 3 din 100.</a:t>
            </a:r>
            <a:endParaRPr lang="en-US" sz="1600" dirty="0"/>
          </a:p>
        </p:txBody>
      </p:sp>
      <p:sp>
        <p:nvSpPr>
          <p:cNvPr id="10" name="Shape 8"/>
          <p:cNvSpPr/>
          <p:nvPr/>
        </p:nvSpPr>
        <p:spPr>
          <a:xfrm>
            <a:off x="594360" y="4434840"/>
            <a:ext cx="10972800" cy="1234440"/>
          </a:xfrm>
          <a:prstGeom prst="roundRect">
            <a:avLst>
              <a:gd name="adj" fmla="val 6667"/>
            </a:avLst>
          </a:prstGeom>
          <a:solidFill>
            <a:srgbClr val="ECEAE4"/>
          </a:solidFill>
          <a:ln w="12700">
            <a:solidFill>
              <a:srgbClr val="ECEAE4"/>
            </a:solidFill>
            <a:prstDash val="solid"/>
          </a:ln>
        </p:spPr>
        <p:txBody>
          <a:bodyPr/>
          <a:p/>
        </p:txBody>
      </p:sp>
      <p:sp>
        <p:nvSpPr>
          <p:cNvPr id="11" name="Text 9"/>
          <p:cNvSpPr/>
          <p:nvPr/>
        </p:nvSpPr>
        <p:spPr>
          <a:xfrm>
            <a:off x="868680" y="4434840"/>
            <a:ext cx="10424160" cy="123444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Pentru România nu am găsit o estimare publicată a deceselor. Corupția poate costa vieți, dar câte, nu știe nimeni; o cifră prezentată fără metodă se tratează cu prudență.</a:t>
            </a:r>
            <a:endParaRPr lang="en-US" sz="1700" dirty="0"/>
          </a:p>
          <a:p>
            <a:pPr indent="0" marL="0">
              <a:spcBef>
                <a:spcPts val="600"/>
              </a:spcBef>
              <a:buNone/>
            </a:pPr>
            <a:r>
              <a:rPr lang="en-US" sz="1400" b="0" dirty="0">
                <a:solidFill>
                  <a:srgbClr val="11121A"/>
                </a:solidFill>
                <a:latin typeface="Palatino Linotype" pitchFamily="34" charset="0"/>
                <a:ea typeface="Palatino Linotype" pitchFamily="34" charset="-122"/>
                <a:cs typeface="Palatino Linotype" pitchFamily="34" charset="-120"/>
              </a:rPr>
              <a:t>Un studiu din 2025, în 12 țări din Europa Centrală și de Est, cu România: o corupție percepută mai mică mergea cu o mortalitate evitabilă mai mică; venitul și guvernarea contau mai mult (Varkonyi et al., 2025).</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PLIC/active/img/salon_ati_commons.jpg">    </p:cNvPr>
          <p:cNvPicPr>
            <a:picLocks noChangeAspect="1"/>
          </p:cNvPicPr>
          <p:nvPr/>
        </p:nvPicPr>
        <p:blipFill>
          <a:blip r:embed="rId1"/>
          <a:stretch>
            <a:fillRect/>
          </a:stretch>
        </p:blipFill>
        <p:spPr>
          <a:xfrm>
            <a:off x="0" y="0"/>
            <a:ext cx="5486400" cy="6858000"/>
          </a:xfrm>
          <a:prstGeom prst="rect">
            <a:avLst/>
          </a:prstGeom>
        </p:spPr>
      </p:pic>
      <p:sp>
        <p:nvSpPr>
          <p:cNvPr id="3" name="Shape 0"/>
          <p:cNvSpPr/>
          <p:nvPr/>
        </p:nvSpPr>
        <p:spPr>
          <a:xfrm>
            <a:off x="0"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274320"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Un salon de terapie intensivă, pregătit pentru pacient</a:t>
            </a:r>
            <a:endParaRPr lang="en-US" sz="1100" dirty="0"/>
          </a:p>
        </p:txBody>
      </p:sp>
      <p:sp>
        <p:nvSpPr>
          <p:cNvPr id="5" name="Text 2"/>
          <p:cNvSpPr/>
          <p:nvPr/>
        </p:nvSpPr>
        <p:spPr>
          <a:xfrm>
            <a:off x="274320"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Ad Meskens · CC BY-SA 4.0 · Wikimedia Commons</a:t>
            </a:r>
            <a:endParaRPr lang="en-US" sz="850" dirty="0"/>
          </a:p>
        </p:txBody>
      </p:sp>
      <p:sp>
        <p:nvSpPr>
          <p:cNvPr id="6" name="Shape 3"/>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7" name="Text 4"/>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8" name="Text 5"/>
          <p:cNvSpPr/>
          <p:nvPr/>
        </p:nvSpPr>
        <p:spPr>
          <a:xfrm>
            <a:off x="5943600" y="868680"/>
            <a:ext cx="576072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TERAPIE INTENSIVĂ, LUNI DIMINEAȚA</a:t>
            </a:r>
            <a:endParaRPr lang="en-US" sz="1300" dirty="0"/>
          </a:p>
        </p:txBody>
      </p:sp>
      <p:sp>
        <p:nvSpPr>
          <p:cNvPr id="9" name="Text 6"/>
          <p:cNvSpPr/>
          <p:nvPr/>
        </p:nvSpPr>
        <p:spPr>
          <a:xfrm>
            <a:off x="5943600" y="1261872"/>
            <a:ext cx="5760720" cy="960120"/>
          </a:xfrm>
          <a:prstGeom prst="rect">
            <a:avLst/>
          </a:prstGeom>
          <a:noFill/>
          <a:ln/>
        </p:spPr>
        <p:txBody>
          <a:bodyPr wrap="square" lIns="0" tIns="0" rIns="0" bIns="0" rtlCol="0" anchor="t"/>
          <a:lstStyle/>
          <a:p>
            <a:pPr indent="0" marL="0">
              <a:buNone/>
            </a:pPr>
            <a:r>
              <a:rPr lang="en-US" sz="2700" b="1" dirty="0">
                <a:solidFill>
                  <a:srgbClr val="FFFFFF"/>
                </a:solidFill>
                <a:latin typeface="Palatino Linotype" pitchFamily="34" charset="0"/>
                <a:ea typeface="Palatino Linotype" pitchFamily="34" charset="-122"/>
                <a:cs typeface="Palatino Linotype" pitchFamily="34" charset="-120"/>
              </a:rPr>
              <a:t>Recipientul de pe căruciorul de tratament</a:t>
            </a:r>
            <a:endParaRPr lang="en-US" sz="2700" dirty="0"/>
          </a:p>
        </p:txBody>
      </p:sp>
      <p:sp>
        <p:nvSpPr>
          <p:cNvPr id="10" name="Text 7"/>
          <p:cNvSpPr/>
          <p:nvPr/>
        </p:nvSpPr>
        <p:spPr>
          <a:xfrm>
            <a:off x="5943600" y="2286000"/>
            <a:ext cx="5760720" cy="1828800"/>
          </a:xfrm>
          <a:prstGeom prst="rect">
            <a:avLst/>
          </a:prstGeom>
          <a:noFill/>
          <a:ln/>
        </p:spPr>
        <p:txBody>
          <a:bodyPr wrap="square" lIns="0" tIns="0" rIns="0" bIns="0" rtlCol="0" anchor="t"/>
          <a:lstStyle/>
          <a:p>
            <a:pPr indent="0" marL="0">
              <a:buNone/>
            </a:pPr>
            <a:r>
              <a:rPr lang="en-US" sz="1650" dirty="0">
                <a:solidFill>
                  <a:srgbClr val="E6E8EF"/>
                </a:solidFill>
                <a:latin typeface="Palatino Linotype" pitchFamily="34" charset="0"/>
                <a:ea typeface="Palatino Linotype" pitchFamily="34" charset="-122"/>
                <a:cs typeface="Palatino Linotype" pitchFamily="34" charset="-120"/>
              </a:rPr>
              <a:t>Sunteți rezident. Pacientul din salonul de lângă stația asistentelor are arsuri întinse. Asistenta ia de pe căruciorul de tratament recipientul cu dezinfectant și începe pansamentul. Pe etichetă: substanța activă și concentrația. Nimeni din salon nu a analizat conținutul.</a:t>
            </a:r>
            <a:endParaRPr lang="en-US" sz="1650" dirty="0"/>
          </a:p>
        </p:txBody>
      </p:sp>
      <p:sp>
        <p:nvSpPr>
          <p:cNvPr id="11" name="Text 8"/>
          <p:cNvSpPr/>
          <p:nvPr/>
        </p:nvSpPr>
        <p:spPr>
          <a:xfrm>
            <a:off x="5943600" y="4160520"/>
            <a:ext cx="5760720" cy="822960"/>
          </a:xfrm>
          <a:prstGeom prst="rect">
            <a:avLst/>
          </a:prstGeom>
          <a:noFill/>
          <a:ln/>
        </p:spPr>
        <p:txBody>
          <a:bodyPr wrap="square" lIns="0" tIns="0" rIns="0" bIns="0" rtlCol="0" anchor="t"/>
          <a:lstStyle/>
          <a:p>
            <a:pPr indent="0" marL="0">
              <a:buNone/>
            </a:pPr>
            <a:r>
              <a:rPr lang="en-US" sz="2100" b="1" dirty="0">
                <a:solidFill>
                  <a:srgbClr val="FFC24B"/>
                </a:solidFill>
                <a:latin typeface="Palatino Linotype" pitchFamily="34" charset="0"/>
                <a:ea typeface="Palatino Linotype" pitchFamily="34" charset="-122"/>
                <a:cs typeface="Palatino Linotype" pitchFamily="34" charset="-120"/>
              </a:rPr>
              <a:t>Cât de sigur sunteți că în recipient e ce scrie pe etichetă?</a:t>
            </a:r>
            <a:endParaRPr lang="en-US" sz="2100" dirty="0"/>
          </a:p>
        </p:txBody>
      </p:sp>
      <p:sp>
        <p:nvSpPr>
          <p:cNvPr id="12" name="Shape 9"/>
          <p:cNvSpPr/>
          <p:nvPr/>
        </p:nvSpPr>
        <p:spPr>
          <a:xfrm>
            <a:off x="5943600" y="507492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3" name="Text 10"/>
          <p:cNvSpPr/>
          <p:nvPr/>
        </p:nvSpPr>
        <p:spPr>
          <a:xfrm>
            <a:off x="5943600" y="507492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1 · deloc</a:t>
            </a:r>
            <a:endParaRPr lang="en-US" sz="1300" dirty="0"/>
          </a:p>
        </p:txBody>
      </p:sp>
      <p:sp>
        <p:nvSpPr>
          <p:cNvPr id="14" name="Shape 11"/>
          <p:cNvSpPr/>
          <p:nvPr/>
        </p:nvSpPr>
        <p:spPr>
          <a:xfrm>
            <a:off x="7114032" y="507492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5" name="Text 12"/>
          <p:cNvSpPr/>
          <p:nvPr/>
        </p:nvSpPr>
        <p:spPr>
          <a:xfrm>
            <a:off x="7114032" y="507492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2</a:t>
            </a:r>
            <a:endParaRPr lang="en-US" sz="1300" dirty="0"/>
          </a:p>
        </p:txBody>
      </p:sp>
      <p:sp>
        <p:nvSpPr>
          <p:cNvPr id="16" name="Shape 13"/>
          <p:cNvSpPr/>
          <p:nvPr/>
        </p:nvSpPr>
        <p:spPr>
          <a:xfrm>
            <a:off x="8284464" y="507492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7" name="Text 14"/>
          <p:cNvSpPr/>
          <p:nvPr/>
        </p:nvSpPr>
        <p:spPr>
          <a:xfrm>
            <a:off x="8284464" y="507492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3</a:t>
            </a:r>
            <a:endParaRPr lang="en-US" sz="1300" dirty="0"/>
          </a:p>
        </p:txBody>
      </p:sp>
      <p:sp>
        <p:nvSpPr>
          <p:cNvPr id="18" name="Shape 15"/>
          <p:cNvSpPr/>
          <p:nvPr/>
        </p:nvSpPr>
        <p:spPr>
          <a:xfrm>
            <a:off x="9454896" y="507492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9" name="Text 16"/>
          <p:cNvSpPr/>
          <p:nvPr/>
        </p:nvSpPr>
        <p:spPr>
          <a:xfrm>
            <a:off x="9454896" y="507492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4</a:t>
            </a:r>
            <a:endParaRPr lang="en-US" sz="1300" dirty="0"/>
          </a:p>
        </p:txBody>
      </p:sp>
      <p:sp>
        <p:nvSpPr>
          <p:cNvPr id="20" name="Shape 17"/>
          <p:cNvSpPr/>
          <p:nvPr/>
        </p:nvSpPr>
        <p:spPr>
          <a:xfrm>
            <a:off x="10625328" y="5074920"/>
            <a:ext cx="987552" cy="329184"/>
          </a:xfrm>
          <a:prstGeom prst="roundRect">
            <a:avLst>
              <a:gd name="adj" fmla="val 50000"/>
            </a:avLst>
          </a:prstGeom>
          <a:solidFill>
            <a:srgbClr val="27D3BE"/>
          </a:solidFill>
          <a:ln w="12700">
            <a:solidFill>
              <a:srgbClr val="27D3BE"/>
            </a:solidFill>
            <a:prstDash val="solid"/>
          </a:ln>
        </p:spPr>
        <p:txBody>
          <a:bodyPr/>
          <a:p/>
        </p:txBody>
      </p:sp>
      <p:sp>
        <p:nvSpPr>
          <p:cNvPr id="21" name="Text 18"/>
          <p:cNvSpPr/>
          <p:nvPr/>
        </p:nvSpPr>
        <p:spPr>
          <a:xfrm>
            <a:off x="10625328" y="5074920"/>
            <a:ext cx="987552"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5 · complet</a:t>
            </a:r>
            <a:endParaRPr lang="en-US" sz="1300" dirty="0"/>
          </a:p>
        </p:txBody>
      </p:sp>
      <p:sp>
        <p:nvSpPr>
          <p:cNvPr id="22" name="Text 19"/>
          <p:cNvSpPr/>
          <p:nvPr/>
        </p:nvSpPr>
        <p:spPr>
          <a:xfrm>
            <a:off x="5943600" y="5623560"/>
            <a:ext cx="5760720" cy="36576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Votul se reia la sfârșitul primei povești.</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2016 · ÎNTREBAREA DEVINE PUBLICĂ</a:t>
            </a:r>
            <a:endParaRPr lang="en-US" sz="1300" dirty="0"/>
          </a:p>
        </p:txBody>
      </p:sp>
      <p:sp>
        <p:nvSpPr>
          <p:cNvPr id="3" name="Text 1"/>
          <p:cNvSpPr/>
          <p:nvPr/>
        </p:nvSpPr>
        <p:spPr>
          <a:xfrm>
            <a:off x="594360" y="713232"/>
            <a:ext cx="6400800" cy="7315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Întrebarea devine știre</a:t>
            </a:r>
            <a:endParaRPr lang="en-US" sz="3200" dirty="0"/>
          </a:p>
        </p:txBody>
      </p:sp>
      <p:sp>
        <p:nvSpPr>
          <p:cNvPr id="4" name="Shape 2"/>
          <p:cNvSpPr/>
          <p:nvPr/>
        </p:nvSpPr>
        <p:spPr>
          <a:xfrm rot="-120000">
            <a:off x="822960" y="1691640"/>
            <a:ext cx="5852160" cy="416052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5" name="Text 3"/>
          <p:cNvSpPr/>
          <p:nvPr/>
        </p:nvSpPr>
        <p:spPr>
          <a:xfrm rot="-120000">
            <a:off x="1188720" y="1965960"/>
            <a:ext cx="5120640" cy="274320"/>
          </a:xfrm>
          <a:prstGeom prst="rect">
            <a:avLst/>
          </a:prstGeom>
          <a:noFill/>
          <a:ln/>
        </p:spPr>
        <p:txBody>
          <a:bodyPr wrap="square" lIns="0" tIns="0" rIns="0" bIns="0" rtlCol="0" anchor="t"/>
          <a:lstStyle/>
          <a:p>
            <a:pPr indent="0" marL="0">
              <a:buNone/>
            </a:pPr>
            <a:r>
              <a:rPr lang="en-US" sz="1100" b="1" spc="300" kern="0" dirty="0">
                <a:solidFill>
                  <a:srgbClr val="B02532"/>
                </a:solidFill>
                <a:latin typeface="Palatino Linotype" pitchFamily="34" charset="0"/>
                <a:ea typeface="Palatino Linotype" pitchFamily="34" charset="-122"/>
                <a:cs typeface="Palatino Linotype" pitchFamily="34" charset="-120"/>
              </a:rPr>
              <a:t>MAI 2016 · RELATARE DE PRESĂ</a:t>
            </a:r>
            <a:endParaRPr lang="en-US" sz="1100" dirty="0"/>
          </a:p>
        </p:txBody>
      </p:sp>
      <p:sp>
        <p:nvSpPr>
          <p:cNvPr id="6" name="Shape 4"/>
          <p:cNvSpPr/>
          <p:nvPr/>
        </p:nvSpPr>
        <p:spPr>
          <a:xfrm rot="-120000">
            <a:off x="1188720" y="2313432"/>
            <a:ext cx="5120640" cy="18288"/>
          </a:xfrm>
          <a:prstGeom prst="rect">
            <a:avLst/>
          </a:prstGeom>
          <a:solidFill>
            <a:srgbClr val="11121A"/>
          </a:solidFill>
          <a:ln/>
        </p:spPr>
        <p:txBody>
          <a:bodyPr/>
          <a:p/>
        </p:txBody>
      </p:sp>
      <p:sp>
        <p:nvSpPr>
          <p:cNvPr id="7" name="Text 5"/>
          <p:cNvSpPr/>
          <p:nvPr/>
        </p:nvSpPr>
        <p:spPr>
          <a:xfrm rot="-120000">
            <a:off x="1188720" y="2423160"/>
            <a:ext cx="5120640" cy="109728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era, de fapt, în recipiente?</a:t>
            </a:r>
            <a:endParaRPr lang="en-US" sz="3000" dirty="0"/>
          </a:p>
        </p:txBody>
      </p:sp>
      <p:sp>
        <p:nvSpPr>
          <p:cNvPr id="8" name="Text 6"/>
          <p:cNvSpPr/>
          <p:nvPr/>
        </p:nvSpPr>
        <p:spPr>
          <a:xfrm rot="-120000">
            <a:off x="1188720" y="3566160"/>
            <a:ext cx="5120640" cy="960120"/>
          </a:xfrm>
          <a:prstGeom prst="rect">
            <a:avLst/>
          </a:prstGeom>
          <a:noFill/>
          <a:ln/>
        </p:spPr>
        <p:txBody>
          <a:bodyPr wrap="square" lIns="0" tIns="0" rIns="0" bIns="0" rtlCol="0" anchor="ctr"/>
          <a:lstStyle/>
          <a:p>
            <a:pPr indent="0" marL="0">
              <a:buNone/>
            </a:pPr>
            <a:r>
              <a:rPr lang="en-US" sz="6400" b="1" dirty="0">
                <a:solidFill>
                  <a:srgbClr val="B02532"/>
                </a:solidFill>
                <a:latin typeface="Palatino Linotype" pitchFamily="34" charset="0"/>
                <a:ea typeface="Palatino Linotype" pitchFamily="34" charset="-122"/>
                <a:cs typeface="Palatino Linotype" pitchFamily="34" charset="-120"/>
              </a:rPr>
              <a:t>4 200</a:t>
            </a:r>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 de ori</a:t>
            </a:r>
            <a:endParaRPr lang="en-US" sz="6400" dirty="0"/>
          </a:p>
        </p:txBody>
      </p:sp>
      <p:sp>
        <p:nvSpPr>
          <p:cNvPr id="9" name="Text 7"/>
          <p:cNvSpPr/>
          <p:nvPr/>
        </p:nvSpPr>
        <p:spPr>
          <a:xfrm rot="-120000">
            <a:off x="1188720" y="4572000"/>
            <a:ext cx="5120640" cy="822960"/>
          </a:xfrm>
          <a:prstGeom prst="rect">
            <a:avLst/>
          </a:prstGeom>
          <a:noFill/>
          <a:ln/>
        </p:spPr>
        <p:txBody>
          <a:bodyPr wrap="square" lIns="0" tIns="0" rIns="0" bIns="0" rtlCol="0" anchor="t"/>
          <a:lstStyle/>
          <a:p>
            <a:pPr indent="0" marL="0">
              <a:buNone/>
            </a:pPr>
            <a:r>
              <a:rPr lang="en-US" sz="1550" dirty="0">
                <a:solidFill>
                  <a:srgbClr val="3A3C44"/>
                </a:solidFill>
                <a:latin typeface="Palatino Linotype" pitchFamily="34" charset="0"/>
                <a:ea typeface="Palatino Linotype" pitchFamily="34" charset="-122"/>
                <a:cs typeface="Palatino Linotype" pitchFamily="34" charset="-120"/>
              </a:rPr>
              <a:t>mai diluat decât pe etichetă, într-o probă. Nereguli în toate cele 18 probe.</a:t>
            </a:r>
            <a:endParaRPr lang="en-US" sz="1550" dirty="0"/>
          </a:p>
        </p:txBody>
      </p:sp>
      <p:sp>
        <p:nvSpPr>
          <p:cNvPr id="10" name="Text 8"/>
          <p:cNvSpPr/>
          <p:nvPr/>
        </p:nvSpPr>
        <p:spPr>
          <a:xfrm>
            <a:off x="822960" y="6035040"/>
            <a:ext cx="5852160" cy="256032"/>
          </a:xfrm>
          <a:prstGeom prst="rect">
            <a:avLst/>
          </a:prstGeom>
          <a:noFill/>
          <a:ln/>
        </p:spPr>
        <p:txBody>
          <a:bodyPr wrap="square" lIns="0" tIns="0" rIns="0" bIns="0" rtlCol="0" anchor="t"/>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Reconstituire; rezumă relatarea presei despre analizele Ministerului Sănătății.</a:t>
            </a:r>
            <a:endParaRPr lang="en-US" sz="900" dirty="0"/>
          </a:p>
        </p:txBody>
      </p:sp>
      <p:sp>
        <p:nvSpPr>
          <p:cNvPr id="11" name="Shape 9"/>
          <p:cNvSpPr/>
          <p:nvPr/>
        </p:nvSpPr>
        <p:spPr>
          <a:xfrm>
            <a:off x="7543800" y="1874520"/>
            <a:ext cx="27432" cy="3383280"/>
          </a:xfrm>
          <a:prstGeom prst="rect">
            <a:avLst/>
          </a:prstGeom>
          <a:solidFill>
            <a:srgbClr val="3A3E52"/>
          </a:solidFill>
          <a:ln/>
        </p:spPr>
        <p:txBody>
          <a:bodyPr/>
          <a:p/>
        </p:txBody>
      </p:sp>
      <p:sp>
        <p:nvSpPr>
          <p:cNvPr id="12" name="Shape 10"/>
          <p:cNvSpPr/>
          <p:nvPr/>
        </p:nvSpPr>
        <p:spPr>
          <a:xfrm>
            <a:off x="7424928" y="1828800"/>
            <a:ext cx="265176" cy="265176"/>
          </a:xfrm>
          <a:prstGeom prst="ellipse">
            <a:avLst/>
          </a:prstGeom>
          <a:solidFill>
            <a:srgbClr val="FF4757"/>
          </a:solidFill>
          <a:ln w="25400">
            <a:solidFill>
              <a:srgbClr val="11121A"/>
            </a:solidFill>
            <a:prstDash val="solid"/>
          </a:ln>
        </p:spPr>
        <p:txBody>
          <a:bodyPr/>
          <a:p/>
        </p:txBody>
      </p:sp>
      <p:sp>
        <p:nvSpPr>
          <p:cNvPr id="13" name="Text 11"/>
          <p:cNvSpPr/>
          <p:nvPr/>
        </p:nvSpPr>
        <p:spPr>
          <a:xfrm>
            <a:off x="7909560" y="1783080"/>
            <a:ext cx="384048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MAI 2016</a:t>
            </a:r>
            <a:endParaRPr lang="en-US" sz="1300" dirty="0"/>
          </a:p>
        </p:txBody>
      </p:sp>
      <p:sp>
        <p:nvSpPr>
          <p:cNvPr id="14" name="Text 12"/>
          <p:cNvSpPr/>
          <p:nvPr/>
        </p:nvSpPr>
        <p:spPr>
          <a:xfrm>
            <a:off x="7909560" y="2148840"/>
            <a:ext cx="3840480" cy="7772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Potrivit presei, Ministerul Sănătății face publice analizele.</a:t>
            </a:r>
            <a:endParaRPr lang="en-US" sz="1500" dirty="0"/>
          </a:p>
        </p:txBody>
      </p:sp>
      <p:sp>
        <p:nvSpPr>
          <p:cNvPr id="15" name="Shape 13"/>
          <p:cNvSpPr/>
          <p:nvPr/>
        </p:nvSpPr>
        <p:spPr>
          <a:xfrm>
            <a:off x="7424928" y="3035808"/>
            <a:ext cx="265176" cy="265176"/>
          </a:xfrm>
          <a:prstGeom prst="ellipse">
            <a:avLst/>
          </a:prstGeom>
          <a:solidFill>
            <a:srgbClr val="FFC24B"/>
          </a:solidFill>
          <a:ln w="25400">
            <a:solidFill>
              <a:srgbClr val="11121A"/>
            </a:solidFill>
            <a:prstDash val="solid"/>
          </a:ln>
        </p:spPr>
        <p:txBody>
          <a:bodyPr/>
          <a:p/>
        </p:txBody>
      </p:sp>
      <p:sp>
        <p:nvSpPr>
          <p:cNvPr id="16" name="Text 14"/>
          <p:cNvSpPr/>
          <p:nvPr/>
        </p:nvSpPr>
        <p:spPr>
          <a:xfrm>
            <a:off x="7909560" y="2990088"/>
            <a:ext cx="384048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AUGUST 2016</a:t>
            </a:r>
            <a:endParaRPr lang="en-US" sz="1300" dirty="0"/>
          </a:p>
        </p:txBody>
      </p:sp>
      <p:sp>
        <p:nvSpPr>
          <p:cNvPr id="17" name="Text 15"/>
          <p:cNvSpPr/>
          <p:nvPr/>
        </p:nvSpPr>
        <p:spPr>
          <a:xfrm>
            <a:off x="7909560" y="3355848"/>
            <a:ext cx="3840480" cy="7772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Alte expertize, între care una a unui laborator străin: unii dezinfectanți diluați, dar în limita legală (relatări de presă).</a:t>
            </a:r>
            <a:endParaRPr lang="en-US" sz="1500" dirty="0"/>
          </a:p>
        </p:txBody>
      </p:sp>
      <p:sp>
        <p:nvSpPr>
          <p:cNvPr id="18" name="Shape 16"/>
          <p:cNvSpPr/>
          <p:nvPr/>
        </p:nvSpPr>
        <p:spPr>
          <a:xfrm>
            <a:off x="7424928" y="4242816"/>
            <a:ext cx="265176" cy="265176"/>
          </a:xfrm>
          <a:prstGeom prst="ellipse">
            <a:avLst/>
          </a:prstGeom>
          <a:solidFill>
            <a:srgbClr val="27D3BE"/>
          </a:solidFill>
          <a:ln w="25400">
            <a:solidFill>
              <a:srgbClr val="11121A"/>
            </a:solidFill>
            <a:prstDash val="solid"/>
          </a:ln>
        </p:spPr>
        <p:txBody>
          <a:bodyPr/>
          <a:p/>
        </p:txBody>
      </p:sp>
      <p:sp>
        <p:nvSpPr>
          <p:cNvPr id="19" name="Text 17"/>
          <p:cNvSpPr/>
          <p:nvPr/>
        </p:nvSpPr>
        <p:spPr>
          <a:xfrm>
            <a:off x="7909560" y="4197096"/>
            <a:ext cx="384048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APOI</a:t>
            </a:r>
            <a:endParaRPr lang="en-US" sz="1300" dirty="0"/>
          </a:p>
        </p:txBody>
      </p:sp>
      <p:sp>
        <p:nvSpPr>
          <p:cNvPr id="20" name="Text 18"/>
          <p:cNvSpPr/>
          <p:nvPr/>
        </p:nvSpPr>
        <p:spPr>
          <a:xfrm>
            <a:off x="7909560" y="4562856"/>
            <a:ext cx="3840480" cy="7772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Relatările despre analize spun lucruri diferite. Urmează un dosar penal.</a:t>
            </a:r>
            <a:endParaRPr lang="en-US" sz="1500" dirty="0"/>
          </a:p>
        </p:txBody>
      </p:sp>
      <p:sp>
        <p:nvSpPr>
          <p:cNvPr id="21" name="Text 19"/>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Sursă: relatare de presă: Realitatea.NET, 12 mai 2016 (registru A087); presa, august 2016.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FIECARE VOTEAZĂ SINGUR</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a stabilit instanța, definitiv, în 2023?</a:t>
            </a:r>
            <a:endParaRPr lang="en-US" sz="3200" dirty="0"/>
          </a:p>
        </p:txBody>
      </p:sp>
      <p:sp>
        <p:nvSpPr>
          <p:cNvPr id="6" name="Shape 4"/>
          <p:cNvSpPr/>
          <p:nvPr/>
        </p:nvSpPr>
        <p:spPr>
          <a:xfrm>
            <a:off x="594360" y="187452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7" name="Shape 5"/>
          <p:cNvSpPr/>
          <p:nvPr/>
        </p:nvSpPr>
        <p:spPr>
          <a:xfrm>
            <a:off x="914400" y="2052828"/>
            <a:ext cx="420624" cy="420624"/>
          </a:xfrm>
          <a:prstGeom prst="ellipse">
            <a:avLst/>
          </a:prstGeom>
          <a:solidFill>
            <a:srgbClr val="FFC24B"/>
          </a:solidFill>
          <a:ln/>
        </p:spPr>
        <p:txBody>
          <a:bodyPr/>
          <a:p/>
        </p:txBody>
      </p:sp>
      <p:sp>
        <p:nvSpPr>
          <p:cNvPr id="8" name="Text 6"/>
          <p:cNvSpPr/>
          <p:nvPr/>
        </p:nvSpPr>
        <p:spPr>
          <a:xfrm>
            <a:off x="914400" y="20528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874520"/>
            <a:ext cx="9692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Că dezinfectanții au cauzat decese de pacienți.</a:t>
            </a:r>
            <a:endParaRPr lang="en-US" sz="1800" dirty="0"/>
          </a:p>
        </p:txBody>
      </p:sp>
      <p:sp>
        <p:nvSpPr>
          <p:cNvPr id="10" name="Shape 8"/>
          <p:cNvSpPr/>
          <p:nvPr/>
        </p:nvSpPr>
        <p:spPr>
          <a:xfrm>
            <a:off x="594360" y="278892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1" name="Shape 9"/>
          <p:cNvSpPr/>
          <p:nvPr/>
        </p:nvSpPr>
        <p:spPr>
          <a:xfrm>
            <a:off x="914400" y="2967228"/>
            <a:ext cx="420624" cy="420624"/>
          </a:xfrm>
          <a:prstGeom prst="ellipse">
            <a:avLst/>
          </a:prstGeom>
          <a:solidFill>
            <a:srgbClr val="FFC24B"/>
          </a:solidFill>
          <a:ln/>
        </p:spPr>
        <p:txBody>
          <a:bodyPr/>
          <a:p/>
        </p:txBody>
      </p:sp>
      <p:sp>
        <p:nvSpPr>
          <p:cNvPr id="12" name="Text 10"/>
          <p:cNvSpPr/>
          <p:nvPr/>
        </p:nvSpPr>
        <p:spPr>
          <a:xfrm>
            <a:off x="914400" y="29672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788920"/>
            <a:ext cx="9692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Că dezinfectanții erau diluați „de 4 200 de ori”.</a:t>
            </a:r>
            <a:endParaRPr lang="en-US" sz="1800" dirty="0"/>
          </a:p>
        </p:txBody>
      </p:sp>
      <p:sp>
        <p:nvSpPr>
          <p:cNvPr id="14" name="Shape 12"/>
          <p:cNvSpPr/>
          <p:nvPr/>
        </p:nvSpPr>
        <p:spPr>
          <a:xfrm>
            <a:off x="594360" y="370332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5" name="Shape 13"/>
          <p:cNvSpPr/>
          <p:nvPr/>
        </p:nvSpPr>
        <p:spPr>
          <a:xfrm>
            <a:off x="914400" y="3881628"/>
            <a:ext cx="420624" cy="420624"/>
          </a:xfrm>
          <a:prstGeom prst="ellipse">
            <a:avLst/>
          </a:prstGeom>
          <a:solidFill>
            <a:srgbClr val="FFC24B"/>
          </a:solidFill>
          <a:ln/>
        </p:spPr>
        <p:txBody>
          <a:bodyPr/>
          <a:p/>
        </p:txBody>
      </p:sp>
      <p:sp>
        <p:nvSpPr>
          <p:cNvPr id="16" name="Text 14"/>
          <p:cNvSpPr/>
          <p:nvPr/>
        </p:nvSpPr>
        <p:spPr>
          <a:xfrm>
            <a:off x="914400" y="38816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703320"/>
            <a:ext cx="9692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Că șefii firmei sunt vinovați și au fost condamnați.</a:t>
            </a:r>
            <a:endParaRPr lang="en-US" sz="1800" dirty="0"/>
          </a:p>
        </p:txBody>
      </p:sp>
      <p:sp>
        <p:nvSpPr>
          <p:cNvPr id="18" name="Shape 16"/>
          <p:cNvSpPr/>
          <p:nvPr/>
        </p:nvSpPr>
        <p:spPr>
          <a:xfrm>
            <a:off x="594360" y="4617720"/>
            <a:ext cx="10972800" cy="777240"/>
          </a:xfrm>
          <a:prstGeom prst="roundRect">
            <a:avLst>
              <a:gd name="adj" fmla="val 10588"/>
            </a:avLst>
          </a:prstGeom>
          <a:solidFill>
            <a:srgbClr val="1D1F2B"/>
          </a:solidFill>
          <a:ln w="12700">
            <a:solidFill>
              <a:srgbClr val="1D1F2B"/>
            </a:solidFill>
            <a:prstDash val="solid"/>
          </a:ln>
        </p:spPr>
        <p:txBody>
          <a:bodyPr/>
          <a:p/>
        </p:txBody>
      </p:sp>
      <p:sp>
        <p:nvSpPr>
          <p:cNvPr id="19" name="Shape 17"/>
          <p:cNvSpPr/>
          <p:nvPr/>
        </p:nvSpPr>
        <p:spPr>
          <a:xfrm>
            <a:off x="914400" y="4796028"/>
            <a:ext cx="420624" cy="420624"/>
          </a:xfrm>
          <a:prstGeom prst="ellipse">
            <a:avLst/>
          </a:prstGeom>
          <a:solidFill>
            <a:srgbClr val="FFC24B"/>
          </a:solidFill>
          <a:ln/>
        </p:spPr>
        <p:txBody>
          <a:bodyPr/>
          <a:p/>
        </p:txBody>
      </p:sp>
      <p:sp>
        <p:nvSpPr>
          <p:cNvPr id="20" name="Text 18"/>
          <p:cNvSpPr/>
          <p:nvPr/>
        </p:nvSpPr>
        <p:spPr>
          <a:xfrm>
            <a:off x="914400" y="47960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617720"/>
            <a:ext cx="9692640" cy="77724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Niciuna dintre acestea.</a:t>
            </a:r>
            <a:endParaRPr lang="en-US" sz="1800" dirty="0"/>
          </a:p>
        </p:txBody>
      </p:sp>
      <p:sp>
        <p:nvSpPr>
          <p:cNvPr id="22" name="Text 20"/>
          <p:cNvSpPr/>
          <p:nvPr/>
        </p:nvSpPr>
        <p:spPr>
          <a:xfrm>
            <a:off x="594360" y="5715000"/>
            <a:ext cx="10972800" cy="36576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Votați individual, fără consultare.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4757"/>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RĂSPUNSUL LA VOT</a:t>
            </a:r>
            <a:endParaRPr lang="en-US" sz="1300" dirty="0"/>
          </a:p>
        </p:txBody>
      </p:sp>
      <p:sp>
        <p:nvSpPr>
          <p:cNvPr id="3" name="Text 1"/>
          <p:cNvSpPr/>
          <p:nvPr/>
        </p:nvSpPr>
        <p:spPr>
          <a:xfrm>
            <a:off x="594360" y="868680"/>
            <a:ext cx="10972800" cy="731520"/>
          </a:xfrm>
          <a:prstGeom prst="rect">
            <a:avLst/>
          </a:prstGeom>
          <a:noFill/>
          <a:ln/>
        </p:spPr>
        <p:txBody>
          <a:bodyPr wrap="square" lIns="0" tIns="0" rIns="0" bIns="0" rtlCol="0" anchor="t"/>
          <a:lstStyle/>
          <a:p>
            <a:pPr indent="0" marL="0">
              <a:buNone/>
            </a:pPr>
            <a:r>
              <a:rPr lang="en-US" sz="3800" b="1" dirty="0">
                <a:solidFill>
                  <a:srgbClr val="2E060B"/>
                </a:solidFill>
                <a:latin typeface="Palatino Linotype" pitchFamily="34" charset="0"/>
                <a:ea typeface="Palatino Linotype" pitchFamily="34" charset="-122"/>
                <a:cs typeface="Palatino Linotype" pitchFamily="34" charset="-120"/>
              </a:rPr>
              <a:t>D. Niciuna dintre ele.</a:t>
            </a:r>
            <a:endParaRPr lang="en-US" sz="3800" dirty="0"/>
          </a:p>
        </p:txBody>
      </p:sp>
      <p:sp>
        <p:nvSpPr>
          <p:cNvPr id="4" name="Shape 2"/>
          <p:cNvSpPr/>
          <p:nvPr/>
        </p:nvSpPr>
        <p:spPr>
          <a:xfrm>
            <a:off x="594360" y="1783080"/>
            <a:ext cx="10972800" cy="1051560"/>
          </a:xfrm>
          <a:prstGeom prst="roundRect">
            <a:avLst>
              <a:gd name="adj" fmla="val 7826"/>
            </a:avLst>
          </a:prstGeom>
          <a:solidFill>
            <a:srgbClr val="701C22"/>
          </a:solidFill>
          <a:ln w="12700">
            <a:solidFill>
              <a:srgbClr val="701C22"/>
            </a:solidFill>
            <a:prstDash val="solid"/>
          </a:ln>
        </p:spPr>
        <p:txBody>
          <a:bodyPr/>
          <a:p/>
        </p:txBody>
      </p:sp>
      <p:sp>
        <p:nvSpPr>
          <p:cNvPr id="5" name="Text 3"/>
          <p:cNvSpPr/>
          <p:nvPr/>
        </p:nvSpPr>
        <p:spPr>
          <a:xfrm>
            <a:off x="914400" y="1911096"/>
            <a:ext cx="10332720" cy="45720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Procesul s-a încheiat fără nicio condamnare definitivă.</a:t>
            </a:r>
            <a:endParaRPr lang="en-US" sz="1900" dirty="0"/>
          </a:p>
        </p:txBody>
      </p:sp>
      <p:sp>
        <p:nvSpPr>
          <p:cNvPr id="6" name="Text 4"/>
          <p:cNvSpPr/>
          <p:nvPr/>
        </p:nvSpPr>
        <p:spPr>
          <a:xfrm>
            <a:off x="914400" y="2368296"/>
            <a:ext cx="10332720" cy="384048"/>
          </a:xfrm>
          <a:prstGeom prst="rect">
            <a:avLst/>
          </a:prstGeom>
          <a:noFill/>
          <a:ln/>
        </p:spPr>
        <p:txBody>
          <a:bodyPr wrap="square" lIns="0" tIns="0" rIns="0" bIns="0" rtlCol="0" anchor="t"/>
          <a:lstStyle/>
          <a:p>
            <a:pPr indent="0" marL="0">
              <a:buNone/>
            </a:pPr>
            <a:r>
              <a:rPr lang="en-US" sz="1600" dirty="0">
                <a:solidFill>
                  <a:srgbClr val="F3D4D7"/>
                </a:solidFill>
                <a:latin typeface="Palatino Linotype" pitchFamily="34" charset="0"/>
                <a:ea typeface="Palatino Linotype" pitchFamily="34" charset="-122"/>
                <a:cs typeface="Palatino Linotype" pitchFamily="34" charset="-120"/>
              </a:rPr>
              <a:t>Se împlinise termenul de prescripție: legea nu mai permitea o condamnare.</a:t>
            </a:r>
            <a:endParaRPr lang="en-US" sz="1600" dirty="0"/>
          </a:p>
        </p:txBody>
      </p:sp>
      <p:sp>
        <p:nvSpPr>
          <p:cNvPr id="7" name="Shape 5"/>
          <p:cNvSpPr/>
          <p:nvPr/>
        </p:nvSpPr>
        <p:spPr>
          <a:xfrm>
            <a:off x="594360" y="2971800"/>
            <a:ext cx="10972800" cy="1051560"/>
          </a:xfrm>
          <a:prstGeom prst="roundRect">
            <a:avLst>
              <a:gd name="adj" fmla="val 7826"/>
            </a:avLst>
          </a:prstGeom>
          <a:solidFill>
            <a:srgbClr val="FFFFFF"/>
          </a:solidFill>
          <a:ln w="12700">
            <a:solidFill>
              <a:srgbClr val="FFFFFF"/>
            </a:solidFill>
            <a:prstDash val="solid"/>
          </a:ln>
        </p:spPr>
        <p:txBody>
          <a:bodyPr/>
          <a:p/>
        </p:txBody>
      </p:sp>
      <p:sp>
        <p:nvSpPr>
          <p:cNvPr id="8" name="Text 6"/>
          <p:cNvSpPr/>
          <p:nvPr/>
        </p:nvSpPr>
        <p:spPr>
          <a:xfrm>
            <a:off x="914400" y="3099816"/>
            <a:ext cx="10332720" cy="45720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Nicio instanță nu a stabilit că dezinfectanții au cauzat decese.</a:t>
            </a:r>
            <a:endParaRPr lang="en-US" sz="1900" dirty="0"/>
          </a:p>
        </p:txBody>
      </p:sp>
      <p:sp>
        <p:nvSpPr>
          <p:cNvPr id="9" name="Text 7"/>
          <p:cNvSpPr/>
          <p:nvPr/>
        </p:nvSpPr>
        <p:spPr>
          <a:xfrm>
            <a:off x="914400" y="3557016"/>
            <a:ext cx="10332720" cy="384048"/>
          </a:xfrm>
          <a:prstGeom prst="rect">
            <a:avLst/>
          </a:prstGeom>
          <a:noFill/>
          <a:ln/>
        </p:spPr>
        <p:txBody>
          <a:bodyPr wrap="square" lIns="0" tIns="0" rIns="0" bIns="0" rtlCol="0" anchor="t"/>
          <a:lstStyle/>
          <a:p>
            <a:pPr indent="0" marL="0">
              <a:buNone/>
            </a:pPr>
            <a:r>
              <a:rPr lang="en-US" sz="1600" dirty="0">
                <a:solidFill>
                  <a:srgbClr val="585A64"/>
                </a:solidFill>
                <a:latin typeface="Palatino Linotype" pitchFamily="34" charset="0"/>
                <a:ea typeface="Palatino Linotype" pitchFamily="34" charset="-122"/>
                <a:cs typeface="Palatino Linotype" pitchFamily="34" charset="-120"/>
              </a:rPr>
              <a:t>Nici dovedit, nici infirmat.</a:t>
            </a:r>
            <a:endParaRPr lang="en-US" sz="1600" dirty="0"/>
          </a:p>
        </p:txBody>
      </p:sp>
      <p:sp>
        <p:nvSpPr>
          <p:cNvPr id="10" name="Shape 8"/>
          <p:cNvSpPr/>
          <p:nvPr/>
        </p:nvSpPr>
        <p:spPr>
          <a:xfrm>
            <a:off x="594360" y="4160520"/>
            <a:ext cx="10972800" cy="1051560"/>
          </a:xfrm>
          <a:prstGeom prst="roundRect">
            <a:avLst>
              <a:gd name="adj" fmla="val 7826"/>
            </a:avLst>
          </a:prstGeom>
          <a:solidFill>
            <a:srgbClr val="701C22"/>
          </a:solidFill>
          <a:ln w="12700">
            <a:solidFill>
              <a:srgbClr val="701C22"/>
            </a:solidFill>
            <a:prstDash val="solid"/>
          </a:ln>
        </p:spPr>
        <p:txBody>
          <a:bodyPr/>
          <a:p/>
        </p:txBody>
      </p:sp>
      <p:sp>
        <p:nvSpPr>
          <p:cNvPr id="11" name="Text 9"/>
          <p:cNvSpPr/>
          <p:nvPr/>
        </p:nvSpPr>
        <p:spPr>
          <a:xfrm>
            <a:off x="914400" y="4288536"/>
            <a:ext cx="10332720" cy="457200"/>
          </a:xfrm>
          <a:prstGeom prst="rect">
            <a:avLst/>
          </a:prstGeom>
          <a:noFill/>
          <a:ln/>
        </p:spPr>
        <p:txBody>
          <a:bodyPr wrap="square" lIns="0" tIns="0" rIns="0" bIns="0" rtlCol="0" anchor="t"/>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„De 4 200 de ori” e o cifră anunțată în 2016, nu stabilită de instanță.</a:t>
            </a:r>
            <a:endParaRPr lang="en-US" sz="1900" dirty="0"/>
          </a:p>
        </p:txBody>
      </p:sp>
      <p:sp>
        <p:nvSpPr>
          <p:cNvPr id="12" name="Text 10"/>
          <p:cNvSpPr/>
          <p:nvPr/>
        </p:nvSpPr>
        <p:spPr>
          <a:xfrm>
            <a:off x="914400" y="4745736"/>
            <a:ext cx="10332720" cy="384048"/>
          </a:xfrm>
          <a:prstGeom prst="rect">
            <a:avLst/>
          </a:prstGeom>
          <a:noFill/>
          <a:ln/>
        </p:spPr>
        <p:txBody>
          <a:bodyPr wrap="square" lIns="0" tIns="0" rIns="0" bIns="0" rtlCol="0" anchor="t"/>
          <a:lstStyle/>
          <a:p>
            <a:pPr indent="0" marL="0">
              <a:buNone/>
            </a:pPr>
            <a:r>
              <a:rPr lang="en-US" sz="1600" dirty="0">
                <a:solidFill>
                  <a:srgbClr val="F3D4D7"/>
                </a:solidFill>
                <a:latin typeface="Palatino Linotype" pitchFamily="34" charset="0"/>
                <a:ea typeface="Palatino Linotype" pitchFamily="34" charset="-122"/>
                <a:cs typeface="Palatino Linotype" pitchFamily="34" charset="-120"/>
              </a:rPr>
              <a:t>Alte analize au spus altceva.</a:t>
            </a:r>
            <a:endParaRPr lang="en-US" sz="1600" dirty="0"/>
          </a:p>
        </p:txBody>
      </p:sp>
      <p:sp>
        <p:nvSpPr>
          <p:cNvPr id="13" name="Text 11"/>
          <p:cNvSpPr/>
          <p:nvPr/>
        </p:nvSpPr>
        <p:spPr>
          <a:xfrm>
            <a:off x="594360" y="5440680"/>
            <a:ext cx="10972800" cy="548640"/>
          </a:xfrm>
          <a:prstGeom prst="rect">
            <a:avLst/>
          </a:prstGeom>
          <a:noFill/>
          <a:ln/>
        </p:spPr>
        <p:txBody>
          <a:bodyPr wrap="square" lIns="0" tIns="0" rIns="0" bIns="0" rtlCol="0" anchor="t"/>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Un fapt stabilit totuși: avizele a 39 de produse biocide au fost desființate.</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CURTEA DE APEL BUCUREȘTI · 3 MARTIE 2023</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a stabilit, de fapt, instanța</a:t>
            </a:r>
            <a:endParaRPr lang="en-US" sz="3000" dirty="0"/>
          </a:p>
        </p:txBody>
      </p:sp>
      <p:sp>
        <p:nvSpPr>
          <p:cNvPr id="4" name="Text 2"/>
          <p:cNvSpPr/>
          <p:nvPr/>
        </p:nvSpPr>
        <p:spPr>
          <a:xfrm>
            <a:off x="457200" y="1417320"/>
            <a:ext cx="4206240" cy="2377440"/>
          </a:xfrm>
          <a:prstGeom prst="rect">
            <a:avLst/>
          </a:prstGeom>
          <a:noFill/>
          <a:ln/>
        </p:spPr>
        <p:txBody>
          <a:bodyPr wrap="square" lIns="0" tIns="0" rIns="0" bIns="0" rtlCol="0" anchor="ctr"/>
          <a:lstStyle/>
          <a:p>
            <a:pPr indent="0" marL="0">
              <a:buNone/>
            </a:pPr>
            <a:r>
              <a:rPr lang="en-US" sz="17000" b="1" dirty="0">
                <a:solidFill>
                  <a:srgbClr val="0E7C6B"/>
                </a:solidFill>
                <a:latin typeface="Palatino Linotype" pitchFamily="34" charset="0"/>
                <a:ea typeface="Palatino Linotype" pitchFamily="34" charset="-122"/>
                <a:cs typeface="Palatino Linotype" pitchFamily="34" charset="-120"/>
              </a:rPr>
              <a:t>39</a:t>
            </a:r>
            <a:endParaRPr lang="en-US" sz="17000" dirty="0"/>
          </a:p>
        </p:txBody>
      </p:sp>
      <p:sp>
        <p:nvSpPr>
          <p:cNvPr id="5" name="Text 3"/>
          <p:cNvSpPr/>
          <p:nvPr/>
        </p:nvSpPr>
        <p:spPr>
          <a:xfrm>
            <a:off x="594360" y="3840480"/>
            <a:ext cx="4480560" cy="100584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de produse biocide: avizele lor, desființate definitiv.</a:t>
            </a:r>
            <a:endParaRPr lang="en-US" sz="1900" dirty="0"/>
          </a:p>
        </p:txBody>
      </p:sp>
      <p:sp>
        <p:nvSpPr>
          <p:cNvPr id="6" name="Text 4"/>
          <p:cNvSpPr/>
          <p:nvPr/>
        </p:nvSpPr>
        <p:spPr>
          <a:xfrm>
            <a:off x="594360" y="4983480"/>
            <a:ext cx="4480560" cy="822960"/>
          </a:xfrm>
          <a:prstGeom prst="rect">
            <a:avLst/>
          </a:prstGeom>
          <a:noFill/>
          <a:ln/>
        </p:spPr>
        <p:txBody>
          <a:bodyPr wrap="square" lIns="0" tIns="0" rIns="0" bIns="0" rtlCol="0" anchor="t"/>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5 ani: </a:t>
            </a:r>
            <a:pPr indent="0" marL="0">
              <a:buNone/>
            </a:pPr>
            <a:r>
              <a:rPr lang="en-US" sz="1550" dirty="0">
                <a:solidFill>
                  <a:srgbClr val="11121A"/>
                </a:solidFill>
                <a:latin typeface="Palatino Linotype" pitchFamily="34" charset="0"/>
                <a:ea typeface="Palatino Linotype" pitchFamily="34" charset="-122"/>
                <a:cs typeface="Palatino Linotype" pitchFamily="34" charset="-120"/>
              </a:rPr>
              <a:t>interdicție de a produce și vinde biocide</a:t>
            </a:r>
            <a:endParaRPr lang="en-US" sz="2200" dirty="0"/>
          </a:p>
        </p:txBody>
      </p:sp>
      <p:sp>
        <p:nvSpPr>
          <p:cNvPr id="7" name="Shape 5"/>
          <p:cNvSpPr/>
          <p:nvPr/>
        </p:nvSpPr>
        <p:spPr>
          <a:xfrm>
            <a:off x="5577840" y="1508760"/>
            <a:ext cx="5989320" cy="4297680"/>
          </a:xfrm>
          <a:prstGeom prst="rect">
            <a:avLst/>
          </a:prstGeom>
          <a:solidFill>
            <a:srgbClr val="FFFFFF"/>
          </a:solidFill>
          <a:ln w="9525">
            <a:solidFill>
              <a:srgbClr val="D6D2C8"/>
            </a:solidFill>
            <a:prstDash val="solid"/>
          </a:ln>
          <a:effectLst>
            <a:outerShdw sx="100000" sy="100000" kx="0" ky="0" algn="bl" rotWithShape="0" blurRad="101600" dist="38100" dir="5400000">
              <a:srgbClr val="000000">
                <a:alpha val="18000"/>
              </a:srgbClr>
            </a:outerShdw>
          </a:effectLst>
        </p:spPr>
        <p:txBody>
          <a:bodyPr/>
          <a:p/>
        </p:txBody>
      </p:sp>
      <p:sp>
        <p:nvSpPr>
          <p:cNvPr id="8" name="Text 6"/>
          <p:cNvSpPr/>
          <p:nvPr/>
        </p:nvSpPr>
        <p:spPr>
          <a:xfrm>
            <a:off x="5943600" y="1783080"/>
            <a:ext cx="525780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DECIZIA PENALĂ NR. 360/A · DEFINITIVĂ</a:t>
            </a:r>
            <a:endParaRPr lang="en-US" sz="1300" dirty="0"/>
          </a:p>
        </p:txBody>
      </p:sp>
      <p:sp>
        <p:nvSpPr>
          <p:cNvPr id="9" name="Text 7"/>
          <p:cNvSpPr/>
          <p:nvPr/>
        </p:nvSpPr>
        <p:spPr>
          <a:xfrm>
            <a:off x="5943600" y="2148840"/>
            <a:ext cx="5257800" cy="32004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Inculpată: SC HEXI PHARMA CO SRL</a:t>
            </a:r>
            <a:endParaRPr lang="en-US" sz="1400" dirty="0"/>
          </a:p>
        </p:txBody>
      </p:sp>
      <p:sp>
        <p:nvSpPr>
          <p:cNvPr id="10" name="Shape 8"/>
          <p:cNvSpPr/>
          <p:nvPr/>
        </p:nvSpPr>
        <p:spPr>
          <a:xfrm>
            <a:off x="5943600" y="2560320"/>
            <a:ext cx="5257800" cy="13716"/>
          </a:xfrm>
          <a:prstGeom prst="rect">
            <a:avLst/>
          </a:prstGeom>
          <a:solidFill>
            <a:srgbClr val="C9C6BE"/>
          </a:solidFill>
          <a:ln/>
        </p:spPr>
        <p:txBody>
          <a:bodyPr/>
          <a:p/>
        </p:txBody>
      </p:sp>
      <p:sp>
        <p:nvSpPr>
          <p:cNvPr id="11" name="Text 9"/>
          <p:cNvSpPr/>
          <p:nvPr/>
        </p:nvSpPr>
        <p:spPr>
          <a:xfrm>
            <a:off x="5943600" y="2743200"/>
            <a:ext cx="5257800" cy="822960"/>
          </a:xfrm>
          <a:prstGeom prst="rect">
            <a:avLst/>
          </a:prstGeom>
          <a:noFill/>
          <a:ln/>
        </p:spPr>
        <p:txBody>
          <a:bodyPr wrap="square" lIns="0" tIns="0" rIns="0" bIns="0" rtlCol="0" anchor="t"/>
          <a:lstStyle/>
          <a:p>
            <a:pPr indent="0" marL="0">
              <a:buNone/>
            </a:pPr>
            <a:r>
              <a:rPr lang="en-US" sz="1700" b="1" dirty="0">
                <a:solidFill>
                  <a:srgbClr val="11121A"/>
                </a:solidFill>
                <a:highlight>
                  <a:srgbClr val="FFE7A3"/>
                </a:highlight>
                <a:latin typeface="Palatino Linotype" pitchFamily="34" charset="0"/>
                <a:ea typeface="Palatino Linotype" pitchFamily="34" charset="-122"/>
                <a:cs typeface="Palatino Linotype" pitchFamily="34" charset="-120"/>
              </a:rPr>
              <a:t>Încetarea procesului penal</a:t>
            </a:r>
            <a:pPr indent="0" marL="0">
              <a:buNone/>
            </a:pPr>
            <a:r>
              <a:rPr lang="en-US" sz="1700" dirty="0">
                <a:solidFill>
                  <a:srgbClr val="11121A"/>
                </a:solidFill>
                <a:latin typeface="Palatino Linotype" pitchFamily="34" charset="0"/>
                <a:ea typeface="Palatino Linotype" pitchFamily="34" charset="-122"/>
                <a:cs typeface="Palatino Linotype" pitchFamily="34" charset="-120"/>
              </a:rPr>
              <a:t>, ca urmare a prescripției răspunderii penale.</a:t>
            </a:r>
            <a:endParaRPr lang="en-US" sz="1700" dirty="0"/>
          </a:p>
        </p:txBody>
      </p:sp>
      <p:sp>
        <p:nvSpPr>
          <p:cNvPr id="12" name="Text 10"/>
          <p:cNvSpPr/>
          <p:nvPr/>
        </p:nvSpPr>
        <p:spPr>
          <a:xfrm>
            <a:off x="5943600" y="3611880"/>
            <a:ext cx="5257800" cy="82296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Despăgubiri civile către mai multe spitale: o obligație civilă, nu o vinovăție penală.</a:t>
            </a:r>
            <a:endParaRPr lang="en-US" sz="1550" dirty="0"/>
          </a:p>
        </p:txBody>
      </p:sp>
      <p:sp>
        <p:nvSpPr>
          <p:cNvPr id="13" name="Shape 11"/>
          <p:cNvSpPr/>
          <p:nvPr/>
        </p:nvSpPr>
        <p:spPr>
          <a:xfrm>
            <a:off x="5943600" y="4572000"/>
            <a:ext cx="54864" cy="960120"/>
          </a:xfrm>
          <a:prstGeom prst="rect">
            <a:avLst/>
          </a:prstGeom>
          <a:solidFill>
            <a:srgbClr val="B02532"/>
          </a:solidFill>
          <a:ln w="12700">
            <a:solidFill>
              <a:srgbClr val="B02532"/>
            </a:solidFill>
            <a:prstDash val="solid"/>
          </a:ln>
        </p:spPr>
        <p:txBody>
          <a:bodyPr/>
          <a:p/>
        </p:txBody>
      </p:sp>
      <p:sp>
        <p:nvSpPr>
          <p:cNvPr id="14" name="Text 12"/>
          <p:cNvSpPr/>
          <p:nvPr/>
        </p:nvSpPr>
        <p:spPr>
          <a:xfrm>
            <a:off x="6172200" y="4572000"/>
            <a:ext cx="5029200" cy="960120"/>
          </a:xfrm>
          <a:prstGeom prst="rect">
            <a:avLst/>
          </a:prstGeom>
          <a:noFill/>
          <a:ln/>
        </p:spPr>
        <p:txBody>
          <a:bodyPr wrap="square" lIns="0" tIns="0" rIns="0" bIns="0" rtlCol="0" anchor="ctr"/>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Încetarea nu este nici condamnare, nici achitare: instanța nu s-a pronunțat asupra vinovăției penale.</a:t>
            </a:r>
            <a:endParaRPr lang="en-US" sz="1550" dirty="0"/>
          </a:p>
        </p:txBody>
      </p:sp>
      <p:sp>
        <p:nvSpPr>
          <p:cNvPr id="15" name="Text 13"/>
          <p:cNvSpPr/>
          <p:nvPr/>
        </p:nvSpPr>
        <p:spPr>
          <a:xfrm>
            <a:off x="594360" y="6382512"/>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Rezumatul hotărârii, nu textul ei (registrul disciplinei).</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ÎN APEL, ACEEAȘI DECIZIE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O cifră dintr-un dosar poate fi și ea greșită</a:t>
            </a:r>
            <a:endParaRPr lang="en-US" sz="3200" dirty="0"/>
          </a:p>
        </p:txBody>
      </p:sp>
      <p:sp>
        <p:nvSpPr>
          <p:cNvPr id="4" name="Text 2"/>
          <p:cNvSpPr/>
          <p:nvPr/>
        </p:nvSpPr>
        <p:spPr>
          <a:xfrm>
            <a:off x="594360" y="1463040"/>
            <a:ext cx="10972800" cy="41148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Despăgubirea pentru un institut de urgență pentru boli cardiovasculare</a:t>
            </a:r>
            <a:endParaRPr lang="en-US" sz="1700" dirty="0"/>
          </a:p>
        </p:txBody>
      </p:sp>
      <p:sp>
        <p:nvSpPr>
          <p:cNvPr id="5" name="Text 3"/>
          <p:cNvSpPr/>
          <p:nvPr/>
        </p:nvSpPr>
        <p:spPr>
          <a:xfrm>
            <a:off x="594360" y="2148840"/>
            <a:ext cx="5486400" cy="292608"/>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LA PRIMA INSTANȚĂ</a:t>
            </a:r>
            <a:endParaRPr lang="en-US" sz="1300" dirty="0"/>
          </a:p>
        </p:txBody>
      </p:sp>
      <p:sp>
        <p:nvSpPr>
          <p:cNvPr id="6" name="Shape 4"/>
          <p:cNvSpPr/>
          <p:nvPr/>
        </p:nvSpPr>
        <p:spPr>
          <a:xfrm>
            <a:off x="594360" y="2487168"/>
            <a:ext cx="10972800" cy="868680"/>
          </a:xfrm>
          <a:prstGeom prst="rect">
            <a:avLst/>
          </a:prstGeom>
          <a:solidFill>
            <a:srgbClr val="FF4757"/>
          </a:solidFill>
          <a:ln w="12700">
            <a:solidFill>
              <a:srgbClr val="FF4757"/>
            </a:solidFill>
            <a:prstDash val="solid"/>
          </a:ln>
        </p:spPr>
        <p:txBody>
          <a:bodyPr/>
          <a:p/>
        </p:txBody>
      </p:sp>
      <p:sp>
        <p:nvSpPr>
          <p:cNvPr id="7" name="Text 5"/>
          <p:cNvSpPr/>
          <p:nvPr/>
        </p:nvSpPr>
        <p:spPr>
          <a:xfrm>
            <a:off x="868680" y="2487168"/>
            <a:ext cx="6400800" cy="868680"/>
          </a:xfrm>
          <a:prstGeom prst="rect">
            <a:avLst/>
          </a:prstGeom>
          <a:noFill/>
          <a:ln/>
        </p:spPr>
        <p:txBody>
          <a:bodyPr wrap="square" lIns="0" tIns="0" rIns="0" bIns="0" rtlCol="0" anchor="ctr"/>
          <a:lstStyle/>
          <a:p>
            <a:pPr indent="0" marL="0">
              <a:buNone/>
            </a:pPr>
            <a:r>
              <a:rPr lang="en-US" sz="3400" b="1" dirty="0">
                <a:solidFill>
                  <a:srgbClr val="2E060B"/>
                </a:solidFill>
                <a:latin typeface="Palatino Linotype" pitchFamily="34" charset="0"/>
                <a:ea typeface="Palatino Linotype" pitchFamily="34" charset="-122"/>
                <a:cs typeface="Palatino Linotype" pitchFamily="34" charset="-120"/>
              </a:rPr>
              <a:t>32 051 606 lei</a:t>
            </a:r>
            <a:endParaRPr lang="en-US" sz="3400" dirty="0"/>
          </a:p>
        </p:txBody>
      </p:sp>
      <p:sp>
        <p:nvSpPr>
          <p:cNvPr id="8" name="Text 6"/>
          <p:cNvSpPr/>
          <p:nvPr/>
        </p:nvSpPr>
        <p:spPr>
          <a:xfrm>
            <a:off x="594360" y="3611880"/>
            <a:ext cx="5486400" cy="292608"/>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ÎN APEL</a:t>
            </a:r>
            <a:endParaRPr lang="en-US" sz="1300" dirty="0"/>
          </a:p>
        </p:txBody>
      </p:sp>
      <p:sp>
        <p:nvSpPr>
          <p:cNvPr id="9" name="Shape 7"/>
          <p:cNvSpPr/>
          <p:nvPr/>
        </p:nvSpPr>
        <p:spPr>
          <a:xfrm>
            <a:off x="594360" y="3950208"/>
            <a:ext cx="108060" cy="868680"/>
          </a:xfrm>
          <a:prstGeom prst="rect">
            <a:avLst/>
          </a:prstGeom>
          <a:solidFill>
            <a:srgbClr val="27D3BE"/>
          </a:solidFill>
          <a:ln w="12700">
            <a:solidFill>
              <a:srgbClr val="27D3BE"/>
            </a:solidFill>
            <a:prstDash val="solid"/>
          </a:ln>
        </p:spPr>
        <p:txBody>
          <a:bodyPr/>
          <a:p/>
        </p:txBody>
      </p:sp>
      <p:sp>
        <p:nvSpPr>
          <p:cNvPr id="10" name="Text 8"/>
          <p:cNvSpPr/>
          <p:nvPr/>
        </p:nvSpPr>
        <p:spPr>
          <a:xfrm>
            <a:off x="931020" y="3950208"/>
            <a:ext cx="5486400" cy="868680"/>
          </a:xfrm>
          <a:prstGeom prst="rect">
            <a:avLst/>
          </a:prstGeom>
          <a:noFill/>
          <a:ln/>
        </p:spPr>
        <p:txBody>
          <a:bodyPr wrap="square" lIns="0" tIns="0" rIns="0" bIns="0" rtlCol="0" anchor="ctr"/>
          <a:lstStyle/>
          <a:p>
            <a:pPr indent="0" marL="0">
              <a:buNone/>
            </a:pPr>
            <a:r>
              <a:rPr lang="en-US" sz="3400" b="1" dirty="0">
                <a:solidFill>
                  <a:srgbClr val="27D3BE"/>
                </a:solidFill>
                <a:latin typeface="Palatino Linotype" pitchFamily="34" charset="0"/>
                <a:ea typeface="Palatino Linotype" pitchFamily="34" charset="-122"/>
                <a:cs typeface="Palatino Linotype" pitchFamily="34" charset="-120"/>
              </a:rPr>
              <a:t>315 642,60 lei</a:t>
            </a:r>
            <a:endParaRPr lang="en-US" sz="3400" dirty="0"/>
          </a:p>
        </p:txBody>
      </p:sp>
      <p:sp>
        <p:nvSpPr>
          <p:cNvPr id="11" name="Text 9"/>
          <p:cNvSpPr/>
          <p:nvPr/>
        </p:nvSpPr>
        <p:spPr>
          <a:xfrm>
            <a:off x="594360" y="4956048"/>
            <a:ext cx="10972800" cy="64008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 circa o sută de ori mai puțin. Cifra din apel este cea definitivă. Prima cifră provenea dintr-un document judiciar real, autentic, și totuși era greșită.</a:t>
            </a:r>
            <a:endParaRPr lang="en-US" sz="1700" dirty="0"/>
          </a:p>
        </p:txBody>
      </p:sp>
      <p:sp>
        <p:nvSpPr>
          <p:cNvPr id="12" name="Text 10"/>
          <p:cNvSpPr/>
          <p:nvPr/>
        </p:nvSpPr>
        <p:spPr>
          <a:xfrm>
            <a:off x="594360" y="5669280"/>
            <a:ext cx="10972800" cy="45720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Statutul unei cifre vă spune cine o susține, nu că e corectă.</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TELEFON</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PATRU AFIRMAȚII DESPRE ACELAȘI CAZ</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Stabilit, relatat sau nedovedit?</a:t>
            </a:r>
            <a:endParaRPr lang="en-US" sz="3200" dirty="0"/>
          </a:p>
        </p:txBody>
      </p:sp>
      <p:sp>
        <p:nvSpPr>
          <p:cNvPr id="6" name="Shape 4"/>
          <p:cNvSpPr/>
          <p:nvPr/>
        </p:nvSpPr>
        <p:spPr>
          <a:xfrm>
            <a:off x="594360" y="1691640"/>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7" name="Shape 5"/>
          <p:cNvSpPr/>
          <p:nvPr/>
        </p:nvSpPr>
        <p:spPr>
          <a:xfrm>
            <a:off x="914400" y="1810512"/>
            <a:ext cx="420624" cy="420624"/>
          </a:xfrm>
          <a:prstGeom prst="ellipse">
            <a:avLst/>
          </a:prstGeom>
          <a:solidFill>
            <a:srgbClr val="27D3BE"/>
          </a:solidFill>
          <a:ln/>
        </p:spPr>
        <p:txBody>
          <a:bodyPr/>
          <a:p/>
        </p:txBody>
      </p:sp>
      <p:sp>
        <p:nvSpPr>
          <p:cNvPr id="8" name="Text 6"/>
          <p:cNvSpPr/>
          <p:nvPr/>
        </p:nvSpPr>
        <p:spPr>
          <a:xfrm>
            <a:off x="914400" y="1810512"/>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691640"/>
            <a:ext cx="9692640" cy="65836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„Procesul s-a încheiat fără condamnare definitivă.”</a:t>
            </a:r>
            <a:endParaRPr lang="en-US" sz="1700" dirty="0"/>
          </a:p>
        </p:txBody>
      </p:sp>
      <p:sp>
        <p:nvSpPr>
          <p:cNvPr id="10" name="Shape 8"/>
          <p:cNvSpPr/>
          <p:nvPr/>
        </p:nvSpPr>
        <p:spPr>
          <a:xfrm>
            <a:off x="594360" y="2478024"/>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1" name="Shape 9"/>
          <p:cNvSpPr/>
          <p:nvPr/>
        </p:nvSpPr>
        <p:spPr>
          <a:xfrm>
            <a:off x="914400" y="2596896"/>
            <a:ext cx="420624" cy="420624"/>
          </a:xfrm>
          <a:prstGeom prst="ellipse">
            <a:avLst/>
          </a:prstGeom>
          <a:solidFill>
            <a:srgbClr val="27D3BE"/>
          </a:solidFill>
          <a:ln/>
        </p:spPr>
        <p:txBody>
          <a:bodyPr/>
          <a:p/>
        </p:txBody>
      </p:sp>
      <p:sp>
        <p:nvSpPr>
          <p:cNvPr id="12" name="Text 10"/>
          <p:cNvSpPr/>
          <p:nvPr/>
        </p:nvSpPr>
        <p:spPr>
          <a:xfrm>
            <a:off x="914400" y="2596896"/>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478024"/>
            <a:ext cx="9692640" cy="65836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„Firma a diluat intenționat dezinfectanții ca să câștige mai mult.”</a:t>
            </a:r>
            <a:endParaRPr lang="en-US" sz="1700" dirty="0"/>
          </a:p>
        </p:txBody>
      </p:sp>
      <p:sp>
        <p:nvSpPr>
          <p:cNvPr id="14" name="Shape 12"/>
          <p:cNvSpPr/>
          <p:nvPr/>
        </p:nvSpPr>
        <p:spPr>
          <a:xfrm>
            <a:off x="594360" y="3264408"/>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5" name="Shape 13"/>
          <p:cNvSpPr/>
          <p:nvPr/>
        </p:nvSpPr>
        <p:spPr>
          <a:xfrm>
            <a:off x="914400" y="3383280"/>
            <a:ext cx="420624" cy="420624"/>
          </a:xfrm>
          <a:prstGeom prst="ellipse">
            <a:avLst/>
          </a:prstGeom>
          <a:solidFill>
            <a:srgbClr val="27D3BE"/>
          </a:solidFill>
          <a:ln/>
        </p:spPr>
        <p:txBody>
          <a:bodyPr/>
          <a:p/>
        </p:txBody>
      </p:sp>
      <p:sp>
        <p:nvSpPr>
          <p:cNvPr id="16" name="Text 14"/>
          <p:cNvSpPr/>
          <p:nvPr/>
        </p:nvSpPr>
        <p:spPr>
          <a:xfrm>
            <a:off x="914400" y="3383280"/>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264408"/>
            <a:ext cx="9692640" cy="65836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„Ministerul a prezentat analize cu diluții foarte mari.”</a:t>
            </a:r>
            <a:endParaRPr lang="en-US" sz="1700" dirty="0"/>
          </a:p>
        </p:txBody>
      </p:sp>
      <p:sp>
        <p:nvSpPr>
          <p:cNvPr id="18" name="Shape 16"/>
          <p:cNvSpPr/>
          <p:nvPr/>
        </p:nvSpPr>
        <p:spPr>
          <a:xfrm>
            <a:off x="594360" y="4050792"/>
            <a:ext cx="10972800" cy="658368"/>
          </a:xfrm>
          <a:prstGeom prst="roundRect">
            <a:avLst>
              <a:gd name="adj" fmla="val 12500"/>
            </a:avLst>
          </a:prstGeom>
          <a:solidFill>
            <a:srgbClr val="1D1F2B"/>
          </a:solidFill>
          <a:ln w="12700">
            <a:solidFill>
              <a:srgbClr val="1D1F2B"/>
            </a:solidFill>
            <a:prstDash val="solid"/>
          </a:ln>
        </p:spPr>
        <p:txBody>
          <a:bodyPr/>
          <a:p/>
        </p:txBody>
      </p:sp>
      <p:sp>
        <p:nvSpPr>
          <p:cNvPr id="19" name="Shape 17"/>
          <p:cNvSpPr/>
          <p:nvPr/>
        </p:nvSpPr>
        <p:spPr>
          <a:xfrm>
            <a:off x="914400" y="4169664"/>
            <a:ext cx="420624" cy="420624"/>
          </a:xfrm>
          <a:prstGeom prst="ellipse">
            <a:avLst/>
          </a:prstGeom>
          <a:solidFill>
            <a:srgbClr val="27D3BE"/>
          </a:solidFill>
          <a:ln/>
        </p:spPr>
        <p:txBody>
          <a:bodyPr/>
          <a:p/>
        </p:txBody>
      </p:sp>
      <p:sp>
        <p:nvSpPr>
          <p:cNvPr id="20" name="Text 18"/>
          <p:cNvSpPr/>
          <p:nvPr/>
        </p:nvSpPr>
        <p:spPr>
          <a:xfrm>
            <a:off x="914400" y="4169664"/>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050792"/>
            <a:ext cx="9692640" cy="658368"/>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„Dezinfectanții diluați au cauzat decese de pacienți.”</a:t>
            </a:r>
            <a:endParaRPr lang="en-US" sz="1700" dirty="0"/>
          </a:p>
        </p:txBody>
      </p:sp>
      <p:sp>
        <p:nvSpPr>
          <p:cNvPr id="22" name="Shape 20"/>
          <p:cNvSpPr/>
          <p:nvPr/>
        </p:nvSpPr>
        <p:spPr>
          <a:xfrm>
            <a:off x="594360" y="4892040"/>
            <a:ext cx="10972800" cy="731520"/>
          </a:xfrm>
          <a:prstGeom prst="roundRect">
            <a:avLst>
              <a:gd name="adj" fmla="val 11250"/>
            </a:avLst>
          </a:prstGeom>
          <a:solidFill>
            <a:srgbClr val="272A38"/>
          </a:solidFill>
          <a:ln w="12700">
            <a:solidFill>
              <a:srgbClr val="272A38"/>
            </a:solidFill>
            <a:prstDash val="solid"/>
          </a:ln>
        </p:spPr>
        <p:txBody>
          <a:bodyPr/>
          <a:p/>
        </p:txBody>
      </p:sp>
      <p:sp>
        <p:nvSpPr>
          <p:cNvPr id="23" name="Text 21"/>
          <p:cNvSpPr/>
          <p:nvPr/>
        </p:nvSpPr>
        <p:spPr>
          <a:xfrm>
            <a:off x="868680" y="4892040"/>
            <a:ext cx="10515600" cy="731520"/>
          </a:xfrm>
          <a:prstGeom prst="rect">
            <a:avLst/>
          </a:prstGeom>
          <a:noFill/>
          <a:ln/>
        </p:spPr>
        <p:txBody>
          <a:bodyPr wrap="square" lIns="0" tIns="0" rIns="0" bIns="0" rtlCol="0" anchor="ctr"/>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Stabilit: </a:t>
            </a:r>
            <a:pPr indent="0" marL="0">
              <a:buNone/>
            </a:pPr>
            <a:r>
              <a:rPr lang="en-US" sz="1550" dirty="0">
                <a:solidFill>
                  <a:srgbClr val="FFFFFF"/>
                </a:solidFill>
                <a:latin typeface="Palatino Linotype" pitchFamily="34" charset="0"/>
                <a:ea typeface="Palatino Linotype" pitchFamily="34" charset="-122"/>
                <a:cs typeface="Palatino Linotype" pitchFamily="34" charset="-120"/>
              </a:rPr>
              <a:t>a decis o instanță, definitiv.   </a:t>
            </a:r>
            <a:pPr indent="0" marL="0">
              <a:buNone/>
            </a:pPr>
            <a:r>
              <a:rPr lang="en-US" sz="1550" b="1" dirty="0">
                <a:solidFill>
                  <a:srgbClr val="FFC24B"/>
                </a:solidFill>
                <a:latin typeface="Palatino Linotype" pitchFamily="34" charset="0"/>
                <a:ea typeface="Palatino Linotype" pitchFamily="34" charset="-122"/>
                <a:cs typeface="Palatino Linotype" pitchFamily="34" charset="-120"/>
              </a:rPr>
              <a:t>Relatat: </a:t>
            </a:r>
            <a:pPr indent="0" marL="0">
              <a:buNone/>
            </a:pPr>
            <a:r>
              <a:rPr lang="en-US" sz="1550" dirty="0">
                <a:solidFill>
                  <a:srgbClr val="FFFFFF"/>
                </a:solidFill>
                <a:latin typeface="Palatino Linotype" pitchFamily="34" charset="0"/>
                <a:ea typeface="Palatino Linotype" pitchFamily="34" charset="-122"/>
                <a:cs typeface="Palatino Linotype" pitchFamily="34" charset="-120"/>
              </a:rPr>
              <a:t>a spus cineva.   </a:t>
            </a:r>
            <a:pPr indent="0" marL="0">
              <a:buNone/>
            </a:pPr>
            <a:r>
              <a:rPr lang="en-US" sz="1550" b="1" dirty="0">
                <a:solidFill>
                  <a:srgbClr val="FF4757"/>
                </a:solidFill>
                <a:latin typeface="Palatino Linotype" pitchFamily="34" charset="0"/>
                <a:ea typeface="Palatino Linotype" pitchFamily="34" charset="-122"/>
                <a:cs typeface="Palatino Linotype" pitchFamily="34" charset="-120"/>
              </a:rPr>
              <a:t>Nedovedit: </a:t>
            </a:r>
            <a:pPr indent="0" marL="0">
              <a:buNone/>
            </a:pPr>
            <a:r>
              <a:rPr lang="en-US" sz="1550" dirty="0">
                <a:solidFill>
                  <a:srgbClr val="FFFFFF"/>
                </a:solidFill>
                <a:latin typeface="Palatino Linotype" pitchFamily="34" charset="0"/>
                <a:ea typeface="Palatino Linotype" pitchFamily="34" charset="-122"/>
                <a:cs typeface="Palatino Linotype" pitchFamily="34" charset="-120"/>
              </a:rPr>
              <a:t>nimeni nu a demonstrat.</a:t>
            </a:r>
            <a:endParaRPr lang="en-US" sz="1550" dirty="0"/>
          </a:p>
        </p:txBody>
      </p:sp>
      <p:sp>
        <p:nvSpPr>
          <p:cNvPr id="24" name="Text 22"/>
          <p:cNvSpPr/>
          <p:nvPr/>
        </p:nvSpPr>
        <p:spPr>
          <a:xfrm>
            <a:off x="594360" y="5806440"/>
            <a:ext cx="10972800" cy="41148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Două minute în perechi, apoi vot.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RĂSPUNSURILE LA EXERCIȚIU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Cunoscut nu înseamnă stabilit</a:t>
            </a:r>
            <a:endParaRPr lang="en-US" sz="3100" dirty="0"/>
          </a:p>
        </p:txBody>
      </p:sp>
      <p:sp>
        <p:nvSpPr>
          <p:cNvPr id="4" name="Shape 2"/>
          <p:cNvSpPr/>
          <p:nvPr/>
        </p:nvSpPr>
        <p:spPr>
          <a:xfrm>
            <a:off x="594360" y="1691640"/>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5" name="Shape 3"/>
          <p:cNvSpPr/>
          <p:nvPr/>
        </p:nvSpPr>
        <p:spPr>
          <a:xfrm>
            <a:off x="868680" y="1856232"/>
            <a:ext cx="420624" cy="420624"/>
          </a:xfrm>
          <a:prstGeom prst="ellipse">
            <a:avLst/>
          </a:prstGeom>
          <a:solidFill>
            <a:srgbClr val="0E7C6B"/>
          </a:solidFill>
          <a:ln/>
        </p:spPr>
        <p:txBody>
          <a:bodyPr/>
          <a:p/>
        </p:txBody>
      </p:sp>
      <p:sp>
        <p:nvSpPr>
          <p:cNvPr id="6" name="Text 4"/>
          <p:cNvSpPr/>
          <p:nvPr/>
        </p:nvSpPr>
        <p:spPr>
          <a:xfrm>
            <a:off x="868680" y="18562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91640"/>
            <a:ext cx="1828800" cy="749808"/>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Stabilit</a:t>
            </a:r>
            <a:endParaRPr lang="en-US" sz="1800" dirty="0"/>
          </a:p>
        </p:txBody>
      </p:sp>
      <p:sp>
        <p:nvSpPr>
          <p:cNvPr id="8" name="Text 6"/>
          <p:cNvSpPr/>
          <p:nvPr/>
        </p:nvSpPr>
        <p:spPr>
          <a:xfrm>
            <a:off x="3429000" y="1691640"/>
            <a:ext cx="7955280" cy="74980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Procesul s-a încheiat prin încetare, fără nicio condamnare definitivă.</a:t>
            </a:r>
            <a:endParaRPr lang="en-US" sz="1700" dirty="0"/>
          </a:p>
        </p:txBody>
      </p:sp>
      <p:sp>
        <p:nvSpPr>
          <p:cNvPr id="9" name="Shape 7"/>
          <p:cNvSpPr/>
          <p:nvPr/>
        </p:nvSpPr>
        <p:spPr>
          <a:xfrm>
            <a:off x="594360" y="2587752"/>
            <a:ext cx="10972800" cy="749808"/>
          </a:xfrm>
          <a:prstGeom prst="roundRect">
            <a:avLst>
              <a:gd name="adj" fmla="val 10976"/>
            </a:avLst>
          </a:prstGeom>
          <a:solidFill>
            <a:srgbClr val="F9F8F5"/>
          </a:solidFill>
          <a:ln w="12700">
            <a:solidFill>
              <a:srgbClr val="F9F8F5"/>
            </a:solidFill>
            <a:prstDash val="solid"/>
          </a:ln>
        </p:spPr>
        <p:txBody>
          <a:bodyPr/>
          <a:p/>
        </p:txBody>
      </p:sp>
      <p:sp>
        <p:nvSpPr>
          <p:cNvPr id="10" name="Shape 8"/>
          <p:cNvSpPr/>
          <p:nvPr/>
        </p:nvSpPr>
        <p:spPr>
          <a:xfrm>
            <a:off x="868680" y="2752344"/>
            <a:ext cx="420624" cy="420624"/>
          </a:xfrm>
          <a:prstGeom prst="ellipse">
            <a:avLst/>
          </a:prstGeom>
          <a:solidFill>
            <a:srgbClr val="B02532"/>
          </a:solidFill>
          <a:ln/>
        </p:spPr>
        <p:txBody>
          <a:bodyPr/>
          <a:p/>
        </p:txBody>
      </p:sp>
      <p:sp>
        <p:nvSpPr>
          <p:cNvPr id="11" name="Text 9"/>
          <p:cNvSpPr/>
          <p:nvPr/>
        </p:nvSpPr>
        <p:spPr>
          <a:xfrm>
            <a:off x="868680" y="275234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2" name="Text 10"/>
          <p:cNvSpPr/>
          <p:nvPr/>
        </p:nvSpPr>
        <p:spPr>
          <a:xfrm>
            <a:off x="1508760" y="2587752"/>
            <a:ext cx="1828800" cy="74980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Nedovedit</a:t>
            </a:r>
            <a:endParaRPr lang="en-US" sz="1800" dirty="0"/>
          </a:p>
        </p:txBody>
      </p:sp>
      <p:sp>
        <p:nvSpPr>
          <p:cNvPr id="13" name="Text 11"/>
          <p:cNvSpPr/>
          <p:nvPr/>
        </p:nvSpPr>
        <p:spPr>
          <a:xfrm>
            <a:off x="3429000" y="2587752"/>
            <a:ext cx="7955280" cy="74980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Intenția și motivul nu au fost judecate: procesul s-a stins înainte.</a:t>
            </a:r>
            <a:endParaRPr lang="en-US" sz="1700" dirty="0"/>
          </a:p>
        </p:txBody>
      </p:sp>
      <p:sp>
        <p:nvSpPr>
          <p:cNvPr id="14" name="Shape 12"/>
          <p:cNvSpPr/>
          <p:nvPr/>
        </p:nvSpPr>
        <p:spPr>
          <a:xfrm>
            <a:off x="594360" y="3483864"/>
            <a:ext cx="10972800" cy="749808"/>
          </a:xfrm>
          <a:prstGeom prst="roundRect">
            <a:avLst>
              <a:gd name="adj" fmla="val 10976"/>
            </a:avLst>
          </a:prstGeom>
          <a:solidFill>
            <a:srgbClr val="ECEAE4"/>
          </a:solidFill>
          <a:ln w="12700">
            <a:solidFill>
              <a:srgbClr val="ECEAE4"/>
            </a:solidFill>
            <a:prstDash val="solid"/>
          </a:ln>
        </p:spPr>
        <p:txBody>
          <a:bodyPr/>
          <a:p/>
        </p:txBody>
      </p:sp>
      <p:sp>
        <p:nvSpPr>
          <p:cNvPr id="15" name="Shape 13"/>
          <p:cNvSpPr/>
          <p:nvPr/>
        </p:nvSpPr>
        <p:spPr>
          <a:xfrm>
            <a:off x="868680" y="3648456"/>
            <a:ext cx="420624" cy="420624"/>
          </a:xfrm>
          <a:prstGeom prst="ellipse">
            <a:avLst/>
          </a:prstGeom>
          <a:solidFill>
            <a:srgbClr val="8A6100"/>
          </a:solidFill>
          <a:ln/>
        </p:spPr>
        <p:txBody>
          <a:bodyPr/>
          <a:p/>
        </p:txBody>
      </p:sp>
      <p:sp>
        <p:nvSpPr>
          <p:cNvPr id="16" name="Text 14"/>
          <p:cNvSpPr/>
          <p:nvPr/>
        </p:nvSpPr>
        <p:spPr>
          <a:xfrm>
            <a:off x="868680" y="36484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508760" y="3483864"/>
            <a:ext cx="1828800" cy="749808"/>
          </a:xfrm>
          <a:prstGeom prst="rect">
            <a:avLst/>
          </a:prstGeom>
          <a:noFill/>
          <a:ln/>
        </p:spPr>
        <p:txBody>
          <a:bodyPr wrap="square" lIns="0" tIns="0" rIns="0" bIns="0" rtlCol="0" anchor="ctr"/>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Relatat</a:t>
            </a:r>
            <a:endParaRPr lang="en-US" sz="1800" dirty="0"/>
          </a:p>
        </p:txBody>
      </p:sp>
      <p:sp>
        <p:nvSpPr>
          <p:cNvPr id="18" name="Text 16"/>
          <p:cNvSpPr/>
          <p:nvPr/>
        </p:nvSpPr>
        <p:spPr>
          <a:xfrm>
            <a:off x="3429000" y="3483864"/>
            <a:ext cx="7955280" cy="74980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O știm din relatările presei despre analizele prezentate de minister, nu dintr-o hotărâre.</a:t>
            </a:r>
            <a:endParaRPr lang="en-US" sz="1700" dirty="0"/>
          </a:p>
        </p:txBody>
      </p:sp>
      <p:sp>
        <p:nvSpPr>
          <p:cNvPr id="19" name="Shape 17"/>
          <p:cNvSpPr/>
          <p:nvPr/>
        </p:nvSpPr>
        <p:spPr>
          <a:xfrm>
            <a:off x="594360" y="4379976"/>
            <a:ext cx="10972800" cy="749808"/>
          </a:xfrm>
          <a:prstGeom prst="roundRect">
            <a:avLst>
              <a:gd name="adj" fmla="val 10976"/>
            </a:avLst>
          </a:prstGeom>
          <a:solidFill>
            <a:srgbClr val="F9F8F5"/>
          </a:solidFill>
          <a:ln w="12700">
            <a:solidFill>
              <a:srgbClr val="F9F8F5"/>
            </a:solidFill>
            <a:prstDash val="solid"/>
          </a:ln>
        </p:spPr>
        <p:txBody>
          <a:bodyPr/>
          <a:p/>
        </p:txBody>
      </p:sp>
      <p:sp>
        <p:nvSpPr>
          <p:cNvPr id="20" name="Shape 18"/>
          <p:cNvSpPr/>
          <p:nvPr/>
        </p:nvSpPr>
        <p:spPr>
          <a:xfrm>
            <a:off x="868680" y="4544568"/>
            <a:ext cx="420624" cy="420624"/>
          </a:xfrm>
          <a:prstGeom prst="ellipse">
            <a:avLst/>
          </a:prstGeom>
          <a:solidFill>
            <a:srgbClr val="B02532"/>
          </a:solidFill>
          <a:ln/>
        </p:spPr>
        <p:txBody>
          <a:bodyPr/>
          <a:p/>
        </p:txBody>
      </p:sp>
      <p:sp>
        <p:nvSpPr>
          <p:cNvPr id="21" name="Text 19"/>
          <p:cNvSpPr/>
          <p:nvPr/>
        </p:nvSpPr>
        <p:spPr>
          <a:xfrm>
            <a:off x="868680" y="45445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2" name="Text 20"/>
          <p:cNvSpPr/>
          <p:nvPr/>
        </p:nvSpPr>
        <p:spPr>
          <a:xfrm>
            <a:off x="1508760" y="4379976"/>
            <a:ext cx="1828800" cy="74980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Nedovedit</a:t>
            </a:r>
            <a:endParaRPr lang="en-US" sz="1800" dirty="0"/>
          </a:p>
        </p:txBody>
      </p:sp>
      <p:sp>
        <p:nvSpPr>
          <p:cNvPr id="23" name="Text 21"/>
          <p:cNvSpPr/>
          <p:nvPr/>
        </p:nvSpPr>
        <p:spPr>
          <a:xfrm>
            <a:off x="3429000" y="4379976"/>
            <a:ext cx="7955280" cy="749808"/>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Nicio instanță nu a stabilit legătura dintre produse și decese.</a:t>
            </a:r>
            <a:endParaRPr lang="en-US" sz="1700" dirty="0"/>
          </a:p>
        </p:txBody>
      </p:sp>
      <p:sp>
        <p:nvSpPr>
          <p:cNvPr id="24" name="Text 22"/>
          <p:cNvSpPr/>
          <p:nvPr/>
        </p:nvSpPr>
        <p:spPr>
          <a:xfrm>
            <a:off x="594360" y="5440680"/>
            <a:ext cx="10972800" cy="73152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Afirmațiile cele mai cunoscute sunt adesea luate drept stabilite, iar cele stabilite cu adevărat, mai puțin spectaculoase, trec neobservate.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Trei feluri de a ști</a:t>
            </a:r>
            <a:endParaRPr lang="en-US" sz="3100" dirty="0"/>
          </a:p>
        </p:txBody>
      </p:sp>
      <p:sp>
        <p:nvSpPr>
          <p:cNvPr id="4" name="Shape 2"/>
          <p:cNvSpPr/>
          <p:nvPr/>
        </p:nvSpPr>
        <p:spPr>
          <a:xfrm>
            <a:off x="594360" y="1645920"/>
            <a:ext cx="3520440" cy="3063240"/>
          </a:xfrm>
          <a:prstGeom prst="roundRect">
            <a:avLst>
              <a:gd name="adj" fmla="val 2687"/>
            </a:avLst>
          </a:prstGeom>
          <a:solidFill>
            <a:srgbClr val="E1F0EC"/>
          </a:solidFill>
          <a:ln w="12700">
            <a:solidFill>
              <a:srgbClr val="E1F0EC"/>
            </a:solidFill>
            <a:prstDash val="solid"/>
          </a:ln>
        </p:spPr>
        <p:txBody>
          <a:bodyPr/>
          <a:p/>
        </p:txBody>
      </p:sp>
      <p:sp>
        <p:nvSpPr>
          <p:cNvPr id="5" name="Text 3"/>
          <p:cNvSpPr/>
          <p:nvPr/>
        </p:nvSpPr>
        <p:spPr>
          <a:xfrm>
            <a:off x="868680" y="1783080"/>
            <a:ext cx="3017520" cy="502920"/>
          </a:xfrm>
          <a:prstGeom prst="rect">
            <a:avLst/>
          </a:prstGeom>
          <a:noFill/>
          <a:ln/>
        </p:spPr>
        <p:txBody>
          <a:bodyPr wrap="square" lIns="0" tIns="0" rIns="0" bIns="0" rtlCol="0" anchor="t"/>
          <a:lstStyle/>
          <a:p>
            <a:pPr indent="0" marL="0">
              <a:buNone/>
            </a:pPr>
            <a:r>
              <a:rPr lang="en-US" sz="2800" b="1" dirty="0">
                <a:solidFill>
                  <a:srgbClr val="0E7C6B"/>
                </a:solidFill>
                <a:latin typeface="Palatino Linotype" pitchFamily="34" charset="0"/>
                <a:ea typeface="Palatino Linotype" pitchFamily="34" charset="-122"/>
                <a:cs typeface="Palatino Linotype" pitchFamily="34" charset="-120"/>
              </a:rPr>
              <a:t>Stabilit</a:t>
            </a:r>
            <a:endParaRPr lang="en-US" sz="2800" dirty="0"/>
          </a:p>
        </p:txBody>
      </p:sp>
      <p:sp>
        <p:nvSpPr>
          <p:cNvPr id="6" name="Text 4"/>
          <p:cNvSpPr/>
          <p:nvPr/>
        </p:nvSpPr>
        <p:spPr>
          <a:xfrm>
            <a:off x="868680" y="2331720"/>
            <a:ext cx="3017520" cy="640080"/>
          </a:xfrm>
          <a:prstGeom prst="rect">
            <a:avLst/>
          </a:prstGeom>
          <a:noFill/>
          <a:ln/>
        </p:spPr>
        <p:txBody>
          <a:bodyPr wrap="square" lIns="0" tIns="0" rIns="0" bIns="0" rtlCol="0" anchor="t"/>
          <a:lstStyle/>
          <a:p>
            <a:pPr indent="0" marL="0">
              <a:buNone/>
            </a:pPr>
            <a:r>
              <a:rPr lang="en-US" sz="1550" i="1" dirty="0">
                <a:solidFill>
                  <a:srgbClr val="0E7C6B"/>
                </a:solidFill>
                <a:latin typeface="Palatino Linotype" pitchFamily="34" charset="0"/>
                <a:ea typeface="Palatino Linotype" pitchFamily="34" charset="-122"/>
                <a:cs typeface="Palatino Linotype" pitchFamily="34" charset="-120"/>
              </a:rPr>
              <a:t>„Știu sigur.”</a:t>
            </a:r>
            <a:endParaRPr lang="en-US" sz="1550" dirty="0"/>
          </a:p>
        </p:txBody>
      </p:sp>
      <p:sp>
        <p:nvSpPr>
          <p:cNvPr id="7" name="Text 5"/>
          <p:cNvSpPr/>
          <p:nvPr/>
        </p:nvSpPr>
        <p:spPr>
          <a:xfrm>
            <a:off x="868680" y="2971800"/>
            <a:ext cx="3017520" cy="73152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 decis o instanță, definitiv.</a:t>
            </a:r>
            <a:endParaRPr lang="en-US" sz="1600" dirty="0"/>
          </a:p>
        </p:txBody>
      </p:sp>
      <p:sp>
        <p:nvSpPr>
          <p:cNvPr id="8" name="Text 6"/>
          <p:cNvSpPr/>
          <p:nvPr/>
        </p:nvSpPr>
        <p:spPr>
          <a:xfrm>
            <a:off x="868680" y="3703320"/>
            <a:ext cx="3017520" cy="960120"/>
          </a:xfrm>
          <a:prstGeom prst="rect">
            <a:avLst/>
          </a:prstGeom>
          <a:noFill/>
          <a:ln/>
        </p:spPr>
        <p:txBody>
          <a:bodyPr wrap="square" lIns="0" tIns="0" rIns="0" bIns="0" rtlCol="0" anchor="t"/>
          <a:lstStyle/>
          <a:p>
            <a:pPr indent="0" marL="0">
              <a:buNone/>
            </a:pPr>
            <a:r>
              <a:rPr lang="en-US" sz="1450" i="1" dirty="0">
                <a:solidFill>
                  <a:srgbClr val="3A3C44"/>
                </a:solidFill>
                <a:latin typeface="Palatino Linotype" pitchFamily="34" charset="0"/>
                <a:ea typeface="Palatino Linotype" pitchFamily="34" charset="-122"/>
                <a:cs typeface="Palatino Linotype" pitchFamily="34" charset="-120"/>
              </a:rPr>
              <a:t>Exemplu: Avizele a 39 de produse biocide au fost desființate printr-o decizie definitivă.</a:t>
            </a:r>
            <a:endParaRPr lang="en-US" sz="1450" dirty="0"/>
          </a:p>
        </p:txBody>
      </p:sp>
      <p:sp>
        <p:nvSpPr>
          <p:cNvPr id="9" name="Shape 7"/>
          <p:cNvSpPr/>
          <p:nvPr/>
        </p:nvSpPr>
        <p:spPr>
          <a:xfrm>
            <a:off x="4366260" y="1645920"/>
            <a:ext cx="3520440" cy="3063240"/>
          </a:xfrm>
          <a:prstGeom prst="roundRect">
            <a:avLst>
              <a:gd name="adj" fmla="val 2687"/>
            </a:avLst>
          </a:prstGeom>
          <a:solidFill>
            <a:srgbClr val="F6EDD5"/>
          </a:solidFill>
          <a:ln w="12700">
            <a:solidFill>
              <a:srgbClr val="F6EDD5"/>
            </a:solidFill>
            <a:prstDash val="solid"/>
          </a:ln>
        </p:spPr>
        <p:txBody>
          <a:bodyPr/>
          <a:p/>
        </p:txBody>
      </p:sp>
      <p:sp>
        <p:nvSpPr>
          <p:cNvPr id="10" name="Text 8"/>
          <p:cNvSpPr/>
          <p:nvPr/>
        </p:nvSpPr>
        <p:spPr>
          <a:xfrm>
            <a:off x="4640580" y="1783080"/>
            <a:ext cx="3017520" cy="502920"/>
          </a:xfrm>
          <a:prstGeom prst="rect">
            <a:avLst/>
          </a:prstGeom>
          <a:noFill/>
          <a:ln/>
        </p:spPr>
        <p:txBody>
          <a:bodyPr wrap="square" lIns="0" tIns="0" rIns="0" bIns="0" rtlCol="0" anchor="t"/>
          <a:lstStyle/>
          <a:p>
            <a:pPr indent="0" marL="0">
              <a:buNone/>
            </a:pPr>
            <a:r>
              <a:rPr lang="en-US" sz="2800" b="1" dirty="0">
                <a:solidFill>
                  <a:srgbClr val="8A6100"/>
                </a:solidFill>
                <a:latin typeface="Palatino Linotype" pitchFamily="34" charset="0"/>
                <a:ea typeface="Palatino Linotype" pitchFamily="34" charset="-122"/>
                <a:cs typeface="Palatino Linotype" pitchFamily="34" charset="-120"/>
              </a:rPr>
              <a:t>Relatat</a:t>
            </a:r>
            <a:endParaRPr lang="en-US" sz="2800" dirty="0"/>
          </a:p>
        </p:txBody>
      </p:sp>
      <p:sp>
        <p:nvSpPr>
          <p:cNvPr id="11" name="Text 9"/>
          <p:cNvSpPr/>
          <p:nvPr/>
        </p:nvSpPr>
        <p:spPr>
          <a:xfrm>
            <a:off x="4640580" y="2331720"/>
            <a:ext cx="3017520" cy="640080"/>
          </a:xfrm>
          <a:prstGeom prst="rect">
            <a:avLst/>
          </a:prstGeom>
          <a:noFill/>
          <a:ln/>
        </p:spPr>
        <p:txBody>
          <a:bodyPr wrap="square" lIns="0" tIns="0" rIns="0" bIns="0" rtlCol="0" anchor="t"/>
          <a:lstStyle/>
          <a:p>
            <a:pPr indent="0" marL="0">
              <a:buNone/>
            </a:pPr>
            <a:r>
              <a:rPr lang="en-US" sz="1550" i="1" dirty="0">
                <a:solidFill>
                  <a:srgbClr val="8A6100"/>
                </a:solidFill>
                <a:latin typeface="Palatino Linotype" pitchFamily="34" charset="0"/>
                <a:ea typeface="Palatino Linotype" pitchFamily="34" charset="-122"/>
                <a:cs typeface="Palatino Linotype" pitchFamily="34" charset="-120"/>
              </a:rPr>
              <a:t>„Am auzit de la cineva credibil.”</a:t>
            </a:r>
            <a:endParaRPr lang="en-US" sz="1550" dirty="0"/>
          </a:p>
        </p:txBody>
      </p:sp>
      <p:sp>
        <p:nvSpPr>
          <p:cNvPr id="12" name="Text 10"/>
          <p:cNvSpPr/>
          <p:nvPr/>
        </p:nvSpPr>
        <p:spPr>
          <a:xfrm>
            <a:off x="4640580" y="2971800"/>
            <a:ext cx="3017520" cy="73152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A spus presa, un minister, un raport.</a:t>
            </a:r>
            <a:endParaRPr lang="en-US" sz="1600" dirty="0"/>
          </a:p>
        </p:txBody>
      </p:sp>
      <p:sp>
        <p:nvSpPr>
          <p:cNvPr id="13" name="Text 11"/>
          <p:cNvSpPr/>
          <p:nvPr/>
        </p:nvSpPr>
        <p:spPr>
          <a:xfrm>
            <a:off x="4640580" y="3703320"/>
            <a:ext cx="3017520" cy="960120"/>
          </a:xfrm>
          <a:prstGeom prst="rect">
            <a:avLst/>
          </a:prstGeom>
          <a:noFill/>
          <a:ln/>
        </p:spPr>
        <p:txBody>
          <a:bodyPr wrap="square" lIns="0" tIns="0" rIns="0" bIns="0" rtlCol="0" anchor="t"/>
          <a:lstStyle/>
          <a:p>
            <a:pPr indent="0" marL="0">
              <a:buNone/>
            </a:pPr>
            <a:r>
              <a:rPr lang="en-US" sz="1450" i="1" dirty="0">
                <a:solidFill>
                  <a:srgbClr val="3A3C44"/>
                </a:solidFill>
                <a:latin typeface="Palatino Linotype" pitchFamily="34" charset="0"/>
                <a:ea typeface="Palatino Linotype" pitchFamily="34" charset="-122"/>
                <a:cs typeface="Palatino Linotype" pitchFamily="34" charset="-120"/>
              </a:rPr>
              <a:t>Exemplu: potrivit presei, în mai 2016 ministerul a prezentat analize cu diluții „de 4 200 de ori”.</a:t>
            </a:r>
            <a:endParaRPr lang="en-US" sz="1450" dirty="0"/>
          </a:p>
        </p:txBody>
      </p:sp>
      <p:sp>
        <p:nvSpPr>
          <p:cNvPr id="14" name="Shape 12"/>
          <p:cNvSpPr/>
          <p:nvPr/>
        </p:nvSpPr>
        <p:spPr>
          <a:xfrm>
            <a:off x="8138160" y="1645920"/>
            <a:ext cx="3520440" cy="3063240"/>
          </a:xfrm>
          <a:prstGeom prst="roundRect">
            <a:avLst>
              <a:gd name="adj" fmla="val 2687"/>
            </a:avLst>
          </a:prstGeom>
          <a:solidFill>
            <a:srgbClr val="F4E0E2"/>
          </a:solidFill>
          <a:ln w="12700">
            <a:solidFill>
              <a:srgbClr val="F4E0E2"/>
            </a:solidFill>
            <a:prstDash val="solid"/>
          </a:ln>
        </p:spPr>
        <p:txBody>
          <a:bodyPr/>
          <a:p/>
        </p:txBody>
      </p:sp>
      <p:sp>
        <p:nvSpPr>
          <p:cNvPr id="15" name="Text 13"/>
          <p:cNvSpPr/>
          <p:nvPr/>
        </p:nvSpPr>
        <p:spPr>
          <a:xfrm>
            <a:off x="8412480" y="1783080"/>
            <a:ext cx="3017520" cy="502920"/>
          </a:xfrm>
          <a:prstGeom prst="rect">
            <a:avLst/>
          </a:prstGeom>
          <a:noFill/>
          <a:ln/>
        </p:spPr>
        <p:txBody>
          <a:bodyPr wrap="square" lIns="0" tIns="0" rIns="0" bIns="0" rtlCol="0" anchor="t"/>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Nedovedit</a:t>
            </a:r>
            <a:endParaRPr lang="en-US" sz="2800" dirty="0"/>
          </a:p>
        </p:txBody>
      </p:sp>
      <p:sp>
        <p:nvSpPr>
          <p:cNvPr id="16" name="Text 14"/>
          <p:cNvSpPr/>
          <p:nvPr/>
        </p:nvSpPr>
        <p:spPr>
          <a:xfrm>
            <a:off x="8412480" y="2331720"/>
            <a:ext cx="3017520" cy="640080"/>
          </a:xfrm>
          <a:prstGeom prst="rect">
            <a:avLst/>
          </a:prstGeom>
          <a:noFill/>
          <a:ln/>
        </p:spPr>
        <p:txBody>
          <a:bodyPr wrap="square" lIns="0" tIns="0" rIns="0" bIns="0" rtlCol="0" anchor="t"/>
          <a:lstStyle/>
          <a:p>
            <a:pPr indent="0" marL="0">
              <a:buNone/>
            </a:pPr>
            <a:r>
              <a:rPr lang="en-US" sz="1550" i="1" dirty="0">
                <a:solidFill>
                  <a:srgbClr val="B02532"/>
                </a:solidFill>
                <a:latin typeface="Palatino Linotype" pitchFamily="34" charset="0"/>
                <a:ea typeface="Palatino Linotype" pitchFamily="34" charset="-122"/>
                <a:cs typeface="Palatino Linotype" pitchFamily="34" charset="-120"/>
              </a:rPr>
              <a:t>„Nu se știe.”</a:t>
            </a:r>
            <a:endParaRPr lang="en-US" sz="1550" dirty="0"/>
          </a:p>
        </p:txBody>
      </p:sp>
      <p:sp>
        <p:nvSpPr>
          <p:cNvPr id="17" name="Text 15"/>
          <p:cNvSpPr/>
          <p:nvPr/>
        </p:nvSpPr>
        <p:spPr>
          <a:xfrm>
            <a:off x="8412480" y="2971800"/>
            <a:ext cx="3017520" cy="731520"/>
          </a:xfrm>
          <a:prstGeom prst="rect">
            <a:avLst/>
          </a:prstGeom>
          <a:noFill/>
          <a:ln/>
        </p:spPr>
        <p:txBody>
          <a:bodyPr wrap="square" lIns="0" tIns="0" rIns="0" bIns="0" rtlCol="0" anchor="t"/>
          <a:lstStyle/>
          <a:p>
            <a:pPr indent="0" marL="0">
              <a:buNone/>
            </a:pPr>
            <a:r>
              <a:rPr lang="en-US" sz="1600" b="1" dirty="0">
                <a:solidFill>
                  <a:srgbClr val="11121A"/>
                </a:solidFill>
                <a:latin typeface="Palatino Linotype" pitchFamily="34" charset="0"/>
                <a:ea typeface="Palatino Linotype" pitchFamily="34" charset="-122"/>
                <a:cs typeface="Palatino Linotype" pitchFamily="34" charset="-120"/>
              </a:rPr>
              <a:t>Nimeni nu a demonstrat, în niciun sens.</a:t>
            </a:r>
            <a:endParaRPr lang="en-US" sz="1600" dirty="0"/>
          </a:p>
        </p:txBody>
      </p:sp>
      <p:sp>
        <p:nvSpPr>
          <p:cNvPr id="18" name="Text 16"/>
          <p:cNvSpPr/>
          <p:nvPr/>
        </p:nvSpPr>
        <p:spPr>
          <a:xfrm>
            <a:off x="8412480" y="3703320"/>
            <a:ext cx="3017520" cy="960120"/>
          </a:xfrm>
          <a:prstGeom prst="rect">
            <a:avLst/>
          </a:prstGeom>
          <a:noFill/>
          <a:ln/>
        </p:spPr>
        <p:txBody>
          <a:bodyPr wrap="square" lIns="0" tIns="0" rIns="0" bIns="0" rtlCol="0" anchor="t"/>
          <a:lstStyle/>
          <a:p>
            <a:pPr indent="0" marL="0">
              <a:buNone/>
            </a:pPr>
            <a:r>
              <a:rPr lang="en-US" sz="1450" i="1" dirty="0">
                <a:solidFill>
                  <a:srgbClr val="3A3C44"/>
                </a:solidFill>
                <a:latin typeface="Palatino Linotype" pitchFamily="34" charset="0"/>
                <a:ea typeface="Palatino Linotype" pitchFamily="34" charset="-122"/>
                <a:cs typeface="Palatino Linotype" pitchFamily="34" charset="-120"/>
              </a:rPr>
              <a:t>Exemplu: Că dezinfectanții au cauzat decese: nicio instanță nu a stabilit-o.</a:t>
            </a:r>
            <a:endParaRPr lang="en-US" sz="1450" dirty="0"/>
          </a:p>
        </p:txBody>
      </p:sp>
      <p:sp>
        <p:nvSpPr>
          <p:cNvPr id="19" name="Text 17"/>
          <p:cNvSpPr/>
          <p:nvPr/>
        </p:nvSpPr>
        <p:spPr>
          <a:xfrm>
            <a:off x="594360" y="5029200"/>
            <a:ext cx="10972800" cy="640080"/>
          </a:xfrm>
          <a:prstGeom prst="rect">
            <a:avLst/>
          </a:prstGeom>
          <a:noFill/>
          <a:ln/>
        </p:spPr>
        <p:txBody>
          <a:bodyPr wrap="square" lIns="0" tIns="0" rIns="0" bIns="0" rtlCol="0" anchor="t"/>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Regula pentru medic: în public, prezentați ca sigur numai ce este stabilit; pentru rest, indicați sursa.</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ANONIM</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ÎNSEAMNĂ PENTRU VOI, LA GARDĂ</a:t>
            </a:r>
            <a:endParaRPr lang="en-US" sz="1300" dirty="0"/>
          </a:p>
        </p:txBody>
      </p:sp>
      <p:sp>
        <p:nvSpPr>
          <p:cNvPr id="5" name="Text 3"/>
          <p:cNvSpPr/>
          <p:nvPr/>
        </p:nvSpPr>
        <p:spPr>
          <a:xfrm>
            <a:off x="868680" y="960120"/>
            <a:ext cx="5486400" cy="292608"/>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FIICA UNUI PACIENT</a:t>
            </a:r>
            <a:endParaRPr lang="en-US" sz="1300" dirty="0"/>
          </a:p>
        </p:txBody>
      </p:sp>
      <p:sp>
        <p:nvSpPr>
          <p:cNvPr id="6" name="Shape 4"/>
          <p:cNvSpPr/>
          <p:nvPr/>
        </p:nvSpPr>
        <p:spPr>
          <a:xfrm>
            <a:off x="594360" y="1325880"/>
            <a:ext cx="7863840" cy="1325880"/>
          </a:xfrm>
          <a:prstGeom prst="roundRect">
            <a:avLst>
              <a:gd name="adj" fmla="val 12414"/>
            </a:avLst>
          </a:prstGeom>
          <a:solidFill>
            <a:srgbClr val="ECEAE4"/>
          </a:solidFill>
          <a:ln w="12700">
            <a:solidFill>
              <a:srgbClr val="ECEAE4"/>
            </a:solidFill>
            <a:prstDash val="solid"/>
          </a:ln>
        </p:spPr>
        <p:txBody>
          <a:bodyPr/>
          <a:p/>
        </p:txBody>
      </p:sp>
      <p:sp>
        <p:nvSpPr>
          <p:cNvPr id="7" name="Shape 5"/>
          <p:cNvSpPr/>
          <p:nvPr/>
        </p:nvSpPr>
        <p:spPr>
          <a:xfrm flipV="1">
            <a:off x="1005840" y="2633472"/>
            <a:ext cx="457200" cy="292608"/>
          </a:xfrm>
          <a:prstGeom prst="triangle">
            <a:avLst/>
          </a:prstGeom>
          <a:solidFill>
            <a:srgbClr val="ECEAE4"/>
          </a:solidFill>
          <a:ln w="12700">
            <a:solidFill>
              <a:srgbClr val="ECEAE4"/>
            </a:solidFill>
            <a:prstDash val="solid"/>
          </a:ln>
        </p:spPr>
        <p:txBody>
          <a:bodyPr/>
          <a:p/>
        </p:txBody>
      </p:sp>
      <p:sp>
        <p:nvSpPr>
          <p:cNvPr id="8" name="Text 6"/>
          <p:cNvSpPr/>
          <p:nvPr/>
        </p:nvSpPr>
        <p:spPr>
          <a:xfrm>
            <a:off x="914400" y="1325880"/>
            <a:ext cx="7315200" cy="1325880"/>
          </a:xfrm>
          <a:prstGeom prst="rect">
            <a:avLst/>
          </a:prstGeom>
          <a:noFill/>
          <a:ln/>
        </p:spPr>
        <p:txBody>
          <a:bodyPr wrap="square" lIns="0" tIns="0" rIns="0" bIns="0" rtlCol="0" anchor="ctr"/>
          <a:lstStyle/>
          <a:p>
            <a:pPr indent="0" marL="0">
              <a:buNone/>
            </a:pPr>
            <a:r>
              <a:rPr lang="en-US" sz="2500" b="1" i="1" dirty="0">
                <a:solidFill>
                  <a:srgbClr val="11121A"/>
                </a:solidFill>
                <a:latin typeface="Palatino Linotype" pitchFamily="34" charset="0"/>
                <a:ea typeface="Palatino Linotype" pitchFamily="34" charset="-122"/>
                <a:cs typeface="Palatino Linotype" pitchFamily="34" charset="-120"/>
              </a:rPr>
              <a:t>„E adevărat că dezinfectanții din spitale omorau oamenii?”</a:t>
            </a:r>
            <a:endParaRPr lang="en-US" sz="2500" dirty="0"/>
          </a:p>
        </p:txBody>
      </p:sp>
      <p:sp>
        <p:nvSpPr>
          <p:cNvPr id="9" name="Text 7"/>
          <p:cNvSpPr/>
          <p:nvPr/>
        </p:nvSpPr>
        <p:spPr>
          <a:xfrm>
            <a:off x="8686800" y="2286000"/>
            <a:ext cx="2834640" cy="274320"/>
          </a:xfrm>
          <a:prstGeom prst="rect">
            <a:avLst/>
          </a:prstGeom>
          <a:noFill/>
          <a:ln/>
        </p:spPr>
        <p:txBody>
          <a:bodyPr wrap="square" lIns="0" tIns="0" rIns="0" bIns="0" rtlCol="0" anchor="t"/>
          <a:lstStyle/>
          <a:p>
            <a:pP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a:t>
            </a:r>
            <a:endParaRPr lang="en-US" sz="1000" dirty="0"/>
          </a:p>
        </p:txBody>
      </p:sp>
      <p:sp>
        <p:nvSpPr>
          <p:cNvPr id="10" name="Shape 8"/>
          <p:cNvSpPr/>
          <p:nvPr/>
        </p:nvSpPr>
        <p:spPr>
          <a:xfrm>
            <a:off x="594360" y="3108960"/>
            <a:ext cx="10972800" cy="676656"/>
          </a:xfrm>
          <a:prstGeom prst="roundRect">
            <a:avLst>
              <a:gd name="adj" fmla="val 12162"/>
            </a:avLst>
          </a:prstGeom>
          <a:solidFill>
            <a:srgbClr val="1D1F2B"/>
          </a:solidFill>
          <a:ln w="12700">
            <a:solidFill>
              <a:srgbClr val="1D1F2B"/>
            </a:solidFill>
            <a:prstDash val="solid"/>
          </a:ln>
        </p:spPr>
        <p:txBody>
          <a:bodyPr/>
          <a:p/>
        </p:txBody>
      </p:sp>
      <p:sp>
        <p:nvSpPr>
          <p:cNvPr id="11" name="Shape 9"/>
          <p:cNvSpPr/>
          <p:nvPr/>
        </p:nvSpPr>
        <p:spPr>
          <a:xfrm>
            <a:off x="914400" y="3236976"/>
            <a:ext cx="420624" cy="420624"/>
          </a:xfrm>
          <a:prstGeom prst="ellipse">
            <a:avLst/>
          </a:prstGeom>
          <a:solidFill>
            <a:srgbClr val="FFC24B"/>
          </a:solidFill>
          <a:ln/>
        </p:spPr>
        <p:txBody>
          <a:bodyPr/>
          <a:p/>
        </p:txBody>
      </p:sp>
      <p:sp>
        <p:nvSpPr>
          <p:cNvPr id="12" name="Text 10"/>
          <p:cNvSpPr/>
          <p:nvPr/>
        </p:nvSpPr>
        <p:spPr>
          <a:xfrm>
            <a:off x="914400" y="323697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13" name="Text 11"/>
          <p:cNvSpPr/>
          <p:nvPr/>
        </p:nvSpPr>
        <p:spPr>
          <a:xfrm>
            <a:off x="1600200" y="3108960"/>
            <a:ext cx="96926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„Da, toată lumea știe asta.”</a:t>
            </a:r>
            <a:endParaRPr lang="en-US" sz="1700" dirty="0"/>
          </a:p>
        </p:txBody>
      </p:sp>
      <p:sp>
        <p:nvSpPr>
          <p:cNvPr id="14" name="Shape 12"/>
          <p:cNvSpPr/>
          <p:nvPr/>
        </p:nvSpPr>
        <p:spPr>
          <a:xfrm>
            <a:off x="594360" y="3913632"/>
            <a:ext cx="10972800" cy="676656"/>
          </a:xfrm>
          <a:prstGeom prst="roundRect">
            <a:avLst>
              <a:gd name="adj" fmla="val 12162"/>
            </a:avLst>
          </a:prstGeom>
          <a:solidFill>
            <a:srgbClr val="1D1F2B"/>
          </a:solidFill>
          <a:ln w="12700">
            <a:solidFill>
              <a:srgbClr val="1D1F2B"/>
            </a:solidFill>
            <a:prstDash val="solid"/>
          </a:ln>
        </p:spPr>
        <p:txBody>
          <a:bodyPr/>
          <a:p/>
        </p:txBody>
      </p:sp>
      <p:sp>
        <p:nvSpPr>
          <p:cNvPr id="15" name="Shape 13"/>
          <p:cNvSpPr/>
          <p:nvPr/>
        </p:nvSpPr>
        <p:spPr>
          <a:xfrm>
            <a:off x="914400" y="4041648"/>
            <a:ext cx="420624" cy="420624"/>
          </a:xfrm>
          <a:prstGeom prst="ellipse">
            <a:avLst/>
          </a:prstGeom>
          <a:solidFill>
            <a:srgbClr val="FFC24B"/>
          </a:solidFill>
          <a:ln/>
        </p:spPr>
        <p:txBody>
          <a:bodyPr/>
          <a:p/>
        </p:txBody>
      </p:sp>
      <p:sp>
        <p:nvSpPr>
          <p:cNvPr id="16" name="Text 14"/>
          <p:cNvSpPr/>
          <p:nvPr/>
        </p:nvSpPr>
        <p:spPr>
          <a:xfrm>
            <a:off x="914400" y="40416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7" name="Text 15"/>
          <p:cNvSpPr/>
          <p:nvPr/>
        </p:nvSpPr>
        <p:spPr>
          <a:xfrm>
            <a:off x="1600200" y="3913632"/>
            <a:ext cx="96926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 a fost o invenție a presei.”</a:t>
            </a:r>
            <a:endParaRPr lang="en-US" sz="1700" dirty="0"/>
          </a:p>
        </p:txBody>
      </p:sp>
      <p:sp>
        <p:nvSpPr>
          <p:cNvPr id="18" name="Shape 16"/>
          <p:cNvSpPr/>
          <p:nvPr/>
        </p:nvSpPr>
        <p:spPr>
          <a:xfrm>
            <a:off x="594360" y="4718304"/>
            <a:ext cx="10972800" cy="676656"/>
          </a:xfrm>
          <a:prstGeom prst="roundRect">
            <a:avLst>
              <a:gd name="adj" fmla="val 12162"/>
            </a:avLst>
          </a:prstGeom>
          <a:solidFill>
            <a:srgbClr val="1D1F2B"/>
          </a:solidFill>
          <a:ln w="12700">
            <a:solidFill>
              <a:srgbClr val="1D1F2B"/>
            </a:solidFill>
            <a:prstDash val="solid"/>
          </a:ln>
        </p:spPr>
        <p:txBody>
          <a:bodyPr/>
          <a:p/>
        </p:txBody>
      </p:sp>
      <p:sp>
        <p:nvSpPr>
          <p:cNvPr id="19" name="Shape 17"/>
          <p:cNvSpPr/>
          <p:nvPr/>
        </p:nvSpPr>
        <p:spPr>
          <a:xfrm>
            <a:off x="914400" y="4846320"/>
            <a:ext cx="420624" cy="420624"/>
          </a:xfrm>
          <a:prstGeom prst="ellipse">
            <a:avLst/>
          </a:prstGeom>
          <a:solidFill>
            <a:srgbClr val="FFC24B"/>
          </a:solidFill>
          <a:ln/>
        </p:spPr>
        <p:txBody>
          <a:bodyPr/>
          <a:p/>
        </p:txBody>
      </p:sp>
      <p:sp>
        <p:nvSpPr>
          <p:cNvPr id="20" name="Text 18"/>
          <p:cNvSpPr/>
          <p:nvPr/>
        </p:nvSpPr>
        <p:spPr>
          <a:xfrm>
            <a:off x="914400" y="484632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21" name="Text 19"/>
          <p:cNvSpPr/>
          <p:nvPr/>
        </p:nvSpPr>
        <p:spPr>
          <a:xfrm>
            <a:off x="1600200" y="4718304"/>
            <a:ext cx="9692640" cy="676656"/>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„Atunci s-au anunțat diluții mari. Dacă au cauzat decese, nu s-a dovedit în instanță.”</a:t>
            </a:r>
            <a:endParaRPr lang="en-US" sz="1700" dirty="0"/>
          </a:p>
        </p:txBody>
      </p:sp>
      <p:sp>
        <p:nvSpPr>
          <p:cNvPr id="22" name="Text 20"/>
          <p:cNvSpPr/>
          <p:nvPr/>
        </p:nvSpPr>
        <p:spPr>
          <a:xfrm>
            <a:off x="594360" y="5623560"/>
            <a:ext cx="1097280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Ce răspuns ați da? Ce riscă medicul care alege A sau B?</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PUTEȚI SUSȚINE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Răspunsul C: exact cât se știe</a:t>
            </a:r>
            <a:endParaRPr lang="en-US" sz="3000" dirty="0"/>
          </a:p>
        </p:txBody>
      </p:sp>
      <p:sp>
        <p:nvSpPr>
          <p:cNvPr id="4" name="Shape 2"/>
          <p:cNvSpPr/>
          <p:nvPr/>
        </p:nvSpPr>
        <p:spPr>
          <a:xfrm>
            <a:off x="594360" y="1691640"/>
            <a:ext cx="3520440" cy="2697480"/>
          </a:xfrm>
          <a:prstGeom prst="roundRect">
            <a:avLst>
              <a:gd name="adj" fmla="val 3051"/>
            </a:avLst>
          </a:prstGeom>
          <a:solidFill>
            <a:srgbClr val="F4E0E2"/>
          </a:solidFill>
          <a:ln w="12700">
            <a:solidFill>
              <a:srgbClr val="F4E0E2"/>
            </a:solidFill>
            <a:prstDash val="solid"/>
          </a:ln>
        </p:spPr>
        <p:txBody>
          <a:bodyPr/>
          <a:p/>
        </p:txBody>
      </p:sp>
      <p:sp>
        <p:nvSpPr>
          <p:cNvPr id="5" name="Shape 3"/>
          <p:cNvSpPr/>
          <p:nvPr/>
        </p:nvSpPr>
        <p:spPr>
          <a:xfrm>
            <a:off x="868680" y="1874520"/>
            <a:ext cx="548640" cy="548640"/>
          </a:xfrm>
          <a:prstGeom prst="ellipse">
            <a:avLst/>
          </a:prstGeom>
          <a:solidFill>
            <a:srgbClr val="B02532"/>
          </a:solidFill>
          <a:ln/>
        </p:spPr>
        <p:txBody>
          <a:bodyPr/>
          <a:p/>
        </p:txBody>
      </p:sp>
      <p:sp>
        <p:nvSpPr>
          <p:cNvPr id="6" name="Text 4"/>
          <p:cNvSpPr/>
          <p:nvPr/>
        </p:nvSpPr>
        <p:spPr>
          <a:xfrm>
            <a:off x="868680" y="187452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A</a:t>
            </a:r>
            <a:endParaRPr lang="en-US" sz="1700" dirty="0"/>
          </a:p>
        </p:txBody>
      </p:sp>
      <p:sp>
        <p:nvSpPr>
          <p:cNvPr id="7" name="Text 5"/>
          <p:cNvSpPr/>
          <p:nvPr/>
        </p:nvSpPr>
        <p:spPr>
          <a:xfrm>
            <a:off x="868680" y="2560320"/>
            <a:ext cx="3017520" cy="17830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Face dintr-un lucru nedovedit unul sigur. Rostit de un medic, sperie pacientul și poate aduce un proces.</a:t>
            </a:r>
            <a:endParaRPr lang="en-US" sz="1700" dirty="0"/>
          </a:p>
        </p:txBody>
      </p:sp>
      <p:sp>
        <p:nvSpPr>
          <p:cNvPr id="8" name="Shape 6"/>
          <p:cNvSpPr/>
          <p:nvPr/>
        </p:nvSpPr>
        <p:spPr>
          <a:xfrm>
            <a:off x="4366260" y="1691640"/>
            <a:ext cx="3520440" cy="2697480"/>
          </a:xfrm>
          <a:prstGeom prst="roundRect">
            <a:avLst>
              <a:gd name="adj" fmla="val 3051"/>
            </a:avLst>
          </a:prstGeom>
          <a:solidFill>
            <a:srgbClr val="F6EDD5"/>
          </a:solidFill>
          <a:ln w="12700">
            <a:solidFill>
              <a:srgbClr val="F6EDD5"/>
            </a:solidFill>
            <a:prstDash val="solid"/>
          </a:ln>
        </p:spPr>
        <p:txBody>
          <a:bodyPr/>
          <a:p/>
        </p:txBody>
      </p:sp>
      <p:sp>
        <p:nvSpPr>
          <p:cNvPr id="9" name="Shape 7"/>
          <p:cNvSpPr/>
          <p:nvPr/>
        </p:nvSpPr>
        <p:spPr>
          <a:xfrm>
            <a:off x="4640580" y="1874520"/>
            <a:ext cx="548640" cy="548640"/>
          </a:xfrm>
          <a:prstGeom prst="ellipse">
            <a:avLst/>
          </a:prstGeom>
          <a:solidFill>
            <a:srgbClr val="8A6100"/>
          </a:solidFill>
          <a:ln/>
        </p:spPr>
        <p:txBody>
          <a:bodyPr/>
          <a:p/>
        </p:txBody>
      </p:sp>
      <p:sp>
        <p:nvSpPr>
          <p:cNvPr id="10" name="Text 8"/>
          <p:cNvSpPr/>
          <p:nvPr/>
        </p:nvSpPr>
        <p:spPr>
          <a:xfrm>
            <a:off x="4640580" y="187452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B</a:t>
            </a:r>
            <a:endParaRPr lang="en-US" sz="1700" dirty="0"/>
          </a:p>
        </p:txBody>
      </p:sp>
      <p:sp>
        <p:nvSpPr>
          <p:cNvPr id="11" name="Text 9"/>
          <p:cNvSpPr/>
          <p:nvPr/>
        </p:nvSpPr>
        <p:spPr>
          <a:xfrm>
            <a:off x="4640580" y="2560320"/>
            <a:ext cx="3017520" cy="17830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Face greșeala inversă: neagă ce s-a relatat și ignoră ce s-a stabilit, de la avize la interdicția de 5 ani.</a:t>
            </a:r>
            <a:endParaRPr lang="en-US" sz="1700" dirty="0"/>
          </a:p>
        </p:txBody>
      </p:sp>
      <p:sp>
        <p:nvSpPr>
          <p:cNvPr id="12" name="Shape 10"/>
          <p:cNvSpPr/>
          <p:nvPr/>
        </p:nvSpPr>
        <p:spPr>
          <a:xfrm>
            <a:off x="8138160" y="1691640"/>
            <a:ext cx="3520440" cy="2697480"/>
          </a:xfrm>
          <a:prstGeom prst="roundRect">
            <a:avLst>
              <a:gd name="adj" fmla="val 3051"/>
            </a:avLst>
          </a:prstGeom>
          <a:solidFill>
            <a:srgbClr val="E1F0EC"/>
          </a:solidFill>
          <a:ln w="12700">
            <a:solidFill>
              <a:srgbClr val="E1F0EC"/>
            </a:solidFill>
            <a:prstDash val="solid"/>
          </a:ln>
        </p:spPr>
        <p:txBody>
          <a:bodyPr/>
          <a:p/>
        </p:txBody>
      </p:sp>
      <p:sp>
        <p:nvSpPr>
          <p:cNvPr id="13" name="Shape 11"/>
          <p:cNvSpPr/>
          <p:nvPr/>
        </p:nvSpPr>
        <p:spPr>
          <a:xfrm>
            <a:off x="8412480" y="1874520"/>
            <a:ext cx="548640" cy="548640"/>
          </a:xfrm>
          <a:prstGeom prst="ellipse">
            <a:avLst/>
          </a:prstGeom>
          <a:solidFill>
            <a:srgbClr val="0E7C6B"/>
          </a:solidFill>
          <a:ln/>
        </p:spPr>
        <p:txBody>
          <a:bodyPr/>
          <a:p/>
        </p:txBody>
      </p:sp>
      <p:sp>
        <p:nvSpPr>
          <p:cNvPr id="14" name="Text 12"/>
          <p:cNvSpPr/>
          <p:nvPr/>
        </p:nvSpPr>
        <p:spPr>
          <a:xfrm>
            <a:off x="8412480" y="187452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C</a:t>
            </a:r>
            <a:endParaRPr lang="en-US" sz="1700" dirty="0"/>
          </a:p>
        </p:txBody>
      </p:sp>
      <p:sp>
        <p:nvSpPr>
          <p:cNvPr id="15" name="Text 13"/>
          <p:cNvSpPr/>
          <p:nvPr/>
        </p:nvSpPr>
        <p:spPr>
          <a:xfrm>
            <a:off x="8412480" y="2560320"/>
            <a:ext cx="3017520" cy="178308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Este mai puțin liniștitor, dar este singurul care poate fi susținut oricând, în fața oricui.</a:t>
            </a:r>
            <a:endParaRPr lang="en-US" sz="1700" dirty="0"/>
          </a:p>
        </p:txBody>
      </p:sp>
      <p:sp>
        <p:nvSpPr>
          <p:cNvPr id="16" name="Text 14"/>
          <p:cNvSpPr/>
          <p:nvPr/>
        </p:nvSpPr>
        <p:spPr>
          <a:xfrm>
            <a:off x="594360" y="466344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„A fost trimis în judecată pentru” nu înseamnă „a făcut”: e distanța dintre o opinie și un proces.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PLIC/active/img/carucior_tratament_commons_vertical.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Un cărucior cu medicamente și recipiente</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Foto: BrokenSphere · CC BY-SA 3.0 · Wikimedia Commons</a:t>
            </a:r>
            <a:endParaRPr lang="en-US" sz="850" dirty="0"/>
          </a:p>
        </p:txBody>
      </p:sp>
      <p:sp>
        <p:nvSpPr>
          <p:cNvPr id="6" name="Shape 3"/>
          <p:cNvSpPr/>
          <p:nvPr/>
        </p:nvSpPr>
        <p:spPr>
          <a:xfrm>
            <a:off x="59436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7" name="Text 4"/>
          <p:cNvSpPr/>
          <p:nvPr/>
        </p:nvSpPr>
        <p:spPr>
          <a:xfrm>
            <a:off x="59436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VOT REPETAT</a:t>
            </a:r>
            <a:endParaRPr lang="en-US" sz="1300" dirty="0"/>
          </a:p>
        </p:txBody>
      </p:sp>
      <p:sp>
        <p:nvSpPr>
          <p:cNvPr id="8" name="Text 5"/>
          <p:cNvSpPr/>
          <p:nvPr/>
        </p:nvSpPr>
        <p:spPr>
          <a:xfrm>
            <a:off x="594360" y="896112"/>
            <a:ext cx="58521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ÎNAPOI LA CĂRUCIORUL DE TRATAMENT</a:t>
            </a:r>
            <a:endParaRPr lang="en-US" sz="1300" dirty="0"/>
          </a:p>
        </p:txBody>
      </p:sp>
      <p:sp>
        <p:nvSpPr>
          <p:cNvPr id="9" name="Text 6"/>
          <p:cNvSpPr/>
          <p:nvPr/>
        </p:nvSpPr>
        <p:spPr>
          <a:xfrm>
            <a:off x="594360" y="1325880"/>
            <a:ext cx="5760720" cy="137160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Cât de sigur sunteți acum că în recipient e ce scrie pe etichetă?</a:t>
            </a:r>
            <a:endParaRPr lang="en-US" sz="2800" dirty="0"/>
          </a:p>
        </p:txBody>
      </p:sp>
      <p:sp>
        <p:nvSpPr>
          <p:cNvPr id="10" name="Shape 7"/>
          <p:cNvSpPr/>
          <p:nvPr/>
        </p:nvSpPr>
        <p:spPr>
          <a:xfrm>
            <a:off x="594360" y="283464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1" name="Text 8"/>
          <p:cNvSpPr/>
          <p:nvPr/>
        </p:nvSpPr>
        <p:spPr>
          <a:xfrm>
            <a:off x="594360" y="283464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1 · deloc</a:t>
            </a:r>
            <a:endParaRPr lang="en-US" sz="1300" dirty="0"/>
          </a:p>
        </p:txBody>
      </p:sp>
      <p:sp>
        <p:nvSpPr>
          <p:cNvPr id="12" name="Shape 9"/>
          <p:cNvSpPr/>
          <p:nvPr/>
        </p:nvSpPr>
        <p:spPr>
          <a:xfrm>
            <a:off x="1764792" y="283464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3" name="Text 10"/>
          <p:cNvSpPr/>
          <p:nvPr/>
        </p:nvSpPr>
        <p:spPr>
          <a:xfrm>
            <a:off x="1764792" y="283464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2</a:t>
            </a:r>
            <a:endParaRPr lang="en-US" sz="1300" dirty="0"/>
          </a:p>
        </p:txBody>
      </p:sp>
      <p:sp>
        <p:nvSpPr>
          <p:cNvPr id="14" name="Shape 11"/>
          <p:cNvSpPr/>
          <p:nvPr/>
        </p:nvSpPr>
        <p:spPr>
          <a:xfrm>
            <a:off x="2935224" y="283464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5" name="Text 12"/>
          <p:cNvSpPr/>
          <p:nvPr/>
        </p:nvSpPr>
        <p:spPr>
          <a:xfrm>
            <a:off x="2935224" y="283464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3</a:t>
            </a:r>
            <a:endParaRPr lang="en-US" sz="1300" dirty="0"/>
          </a:p>
        </p:txBody>
      </p:sp>
      <p:sp>
        <p:nvSpPr>
          <p:cNvPr id="16" name="Shape 13"/>
          <p:cNvSpPr/>
          <p:nvPr/>
        </p:nvSpPr>
        <p:spPr>
          <a:xfrm>
            <a:off x="4105656" y="2834640"/>
            <a:ext cx="987552" cy="329184"/>
          </a:xfrm>
          <a:prstGeom prst="roundRect">
            <a:avLst>
              <a:gd name="adj" fmla="val 50000"/>
            </a:avLst>
          </a:prstGeom>
          <a:solidFill>
            <a:srgbClr val="272A38"/>
          </a:solidFill>
          <a:ln w="12700">
            <a:solidFill>
              <a:srgbClr val="272A38"/>
            </a:solidFill>
            <a:prstDash val="solid"/>
          </a:ln>
        </p:spPr>
        <p:txBody>
          <a:bodyPr/>
          <a:p/>
        </p:txBody>
      </p:sp>
      <p:sp>
        <p:nvSpPr>
          <p:cNvPr id="17" name="Text 14"/>
          <p:cNvSpPr/>
          <p:nvPr/>
        </p:nvSpPr>
        <p:spPr>
          <a:xfrm>
            <a:off x="4105656" y="2834640"/>
            <a:ext cx="987552"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4</a:t>
            </a:r>
            <a:endParaRPr lang="en-US" sz="1300" dirty="0"/>
          </a:p>
        </p:txBody>
      </p:sp>
      <p:sp>
        <p:nvSpPr>
          <p:cNvPr id="18" name="Shape 15"/>
          <p:cNvSpPr/>
          <p:nvPr/>
        </p:nvSpPr>
        <p:spPr>
          <a:xfrm>
            <a:off x="5276088" y="2834640"/>
            <a:ext cx="987552" cy="329184"/>
          </a:xfrm>
          <a:prstGeom prst="roundRect">
            <a:avLst>
              <a:gd name="adj" fmla="val 50000"/>
            </a:avLst>
          </a:prstGeom>
          <a:solidFill>
            <a:srgbClr val="27D3BE"/>
          </a:solidFill>
          <a:ln w="12700">
            <a:solidFill>
              <a:srgbClr val="27D3BE"/>
            </a:solidFill>
            <a:prstDash val="solid"/>
          </a:ln>
        </p:spPr>
        <p:txBody>
          <a:bodyPr/>
          <a:p/>
        </p:txBody>
      </p:sp>
      <p:sp>
        <p:nvSpPr>
          <p:cNvPr id="19" name="Text 16"/>
          <p:cNvSpPr/>
          <p:nvPr/>
        </p:nvSpPr>
        <p:spPr>
          <a:xfrm>
            <a:off x="5276088" y="2834640"/>
            <a:ext cx="987552" cy="329184"/>
          </a:xfrm>
          <a:prstGeom prst="rect">
            <a:avLst/>
          </a:prstGeom>
          <a:noFill/>
          <a:ln/>
        </p:spPr>
        <p:txBody>
          <a:bodyPr wrap="square" lIns="0" tIns="0" rIns="0" bIns="0" rtlCol="0" anchor="ctr"/>
          <a:lstStyle/>
          <a:p>
            <a:pPr algn="ctr" indent="0" marL="0">
              <a:buNone/>
            </a:pPr>
            <a:r>
              <a:rPr lang="en-US" sz="1300" b="1" dirty="0">
                <a:solidFill>
                  <a:srgbClr val="073B34"/>
                </a:solidFill>
                <a:latin typeface="Palatino Linotype" pitchFamily="34" charset="0"/>
                <a:ea typeface="Palatino Linotype" pitchFamily="34" charset="-122"/>
                <a:cs typeface="Palatino Linotype" pitchFamily="34" charset="-120"/>
              </a:rPr>
              <a:t>5 · complet</a:t>
            </a:r>
            <a:endParaRPr lang="en-US" sz="1300" dirty="0"/>
          </a:p>
        </p:txBody>
      </p:sp>
      <p:sp>
        <p:nvSpPr>
          <p:cNvPr id="20" name="Text 17"/>
          <p:cNvSpPr/>
          <p:nvPr/>
        </p:nvSpPr>
        <p:spPr>
          <a:xfrm>
            <a:off x="594360" y="3429000"/>
            <a:ext cx="576072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Comparați cu primul vot.</a:t>
            </a:r>
            <a:endParaRPr lang="en-US" sz="1900" dirty="0"/>
          </a:p>
        </p:txBody>
      </p:sp>
      <p:sp>
        <p:nvSpPr>
          <p:cNvPr id="21" name="Text 18"/>
          <p:cNvSpPr/>
          <p:nvPr/>
        </p:nvSpPr>
        <p:spPr>
          <a:xfrm>
            <a:off x="594360" y="4069080"/>
            <a:ext cx="5669280" cy="173736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Nu trebuie să analizați fiecare recipient. Merită însă să știți cine răspunde de fiecare verigă a lanțului și unde se poate vedea dacă o verigă slăbește. Despre asta este a doua poveste.</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9B7EF7"/>
                </a:solidFill>
                <a:latin typeface="Palatino Linotype" pitchFamily="34" charset="0"/>
                <a:ea typeface="Palatino Linotype" pitchFamily="34" charset="-122"/>
                <a:cs typeface="Palatino Linotype" pitchFamily="34" charset="-120"/>
              </a:rPr>
              <a:t>A DOUA POVESTE · DE LA LICITAȚIE LA SALON</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FFFFFF"/>
                </a:solidFill>
                <a:latin typeface="Palatino Linotype" pitchFamily="34" charset="0"/>
                <a:ea typeface="Palatino Linotype" pitchFamily="34" charset="-122"/>
                <a:cs typeface="Palatino Linotype" pitchFamily="34" charset="-120"/>
              </a:rPr>
              <a:t>Drumul recipientului până în salon</a:t>
            </a:r>
            <a:endParaRPr lang="en-US" sz="3400" dirty="0"/>
          </a:p>
        </p:txBody>
      </p:sp>
      <p:sp>
        <p:nvSpPr>
          <p:cNvPr id="4" name="Text 2"/>
          <p:cNvSpPr/>
          <p:nvPr/>
        </p:nvSpPr>
        <p:spPr>
          <a:xfrm>
            <a:off x="594360" y="1691640"/>
            <a:ext cx="10972800" cy="914400"/>
          </a:xfrm>
          <a:prstGeom prst="rect">
            <a:avLst/>
          </a:prstGeom>
          <a:noFill/>
          <a:ln/>
        </p:spPr>
        <p:txBody>
          <a:bodyPr wrap="square" lIns="0" tIns="0" rIns="0" bIns="0" rtlCol="0" anchor="t"/>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Chiar fără un vinovat stabilit, drumul se poate reconstitui: fiecare verigă lasă documente, multe dintre ele publice.</a:t>
            </a:r>
            <a:endParaRPr lang="en-US" sz="1900" dirty="0"/>
          </a:p>
        </p:txBody>
      </p:sp>
      <p:sp>
        <p:nvSpPr>
          <p:cNvPr id="5" name="Shape 3"/>
          <p:cNvSpPr/>
          <p:nvPr/>
        </p:nvSpPr>
        <p:spPr>
          <a:xfrm>
            <a:off x="594360" y="2971800"/>
            <a:ext cx="1783080" cy="914400"/>
          </a:xfrm>
          <a:prstGeom prst="chevron">
            <a:avLst/>
          </a:prstGeom>
          <a:solidFill>
            <a:srgbClr val="FF4757"/>
          </a:solidFill>
          <a:ln w="12700">
            <a:solidFill>
              <a:srgbClr val="FF4757"/>
            </a:solidFill>
            <a:prstDash val="solid"/>
          </a:ln>
        </p:spPr>
        <p:txBody>
          <a:bodyPr/>
          <a:p/>
        </p:txBody>
      </p:sp>
      <p:sp>
        <p:nvSpPr>
          <p:cNvPr id="6" name="Text 4"/>
          <p:cNvSpPr/>
          <p:nvPr/>
        </p:nvSpPr>
        <p:spPr>
          <a:xfrm>
            <a:off x="868680" y="2971800"/>
            <a:ext cx="1280160" cy="914400"/>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Avizul</a:t>
            </a:r>
            <a:endParaRPr lang="en-US" sz="1400" dirty="0"/>
          </a:p>
        </p:txBody>
      </p:sp>
      <p:sp>
        <p:nvSpPr>
          <p:cNvPr id="7" name="Shape 5"/>
          <p:cNvSpPr/>
          <p:nvPr/>
        </p:nvSpPr>
        <p:spPr>
          <a:xfrm>
            <a:off x="2441448" y="2971800"/>
            <a:ext cx="1783080" cy="914400"/>
          </a:xfrm>
          <a:prstGeom prst="chevron">
            <a:avLst/>
          </a:prstGeom>
          <a:solidFill>
            <a:srgbClr val="272A38"/>
          </a:solidFill>
          <a:ln w="12700">
            <a:solidFill>
              <a:srgbClr val="272A38"/>
            </a:solidFill>
            <a:prstDash val="solid"/>
          </a:ln>
        </p:spPr>
        <p:txBody>
          <a:bodyPr/>
          <a:p/>
        </p:txBody>
      </p:sp>
      <p:sp>
        <p:nvSpPr>
          <p:cNvPr id="8" name="Text 6"/>
          <p:cNvSpPr/>
          <p:nvPr/>
        </p:nvSpPr>
        <p:spPr>
          <a:xfrm>
            <a:off x="2715768" y="2971800"/>
            <a:ext cx="128016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Caietul de sarcini</a:t>
            </a:r>
            <a:endParaRPr lang="en-US" sz="1400" dirty="0"/>
          </a:p>
        </p:txBody>
      </p:sp>
      <p:sp>
        <p:nvSpPr>
          <p:cNvPr id="9" name="Shape 7"/>
          <p:cNvSpPr/>
          <p:nvPr/>
        </p:nvSpPr>
        <p:spPr>
          <a:xfrm>
            <a:off x="4288536" y="2971800"/>
            <a:ext cx="1783080" cy="914400"/>
          </a:xfrm>
          <a:prstGeom prst="chevron">
            <a:avLst/>
          </a:prstGeom>
          <a:solidFill>
            <a:srgbClr val="FFC24B"/>
          </a:solidFill>
          <a:ln w="12700">
            <a:solidFill>
              <a:srgbClr val="FFC24B"/>
            </a:solidFill>
            <a:prstDash val="solid"/>
          </a:ln>
        </p:spPr>
        <p:txBody>
          <a:bodyPr/>
          <a:p/>
        </p:txBody>
      </p:sp>
      <p:sp>
        <p:nvSpPr>
          <p:cNvPr id="10" name="Text 8"/>
          <p:cNvSpPr/>
          <p:nvPr/>
        </p:nvSpPr>
        <p:spPr>
          <a:xfrm>
            <a:off x="4562856" y="2971800"/>
            <a:ext cx="1280160" cy="914400"/>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Licitația</a:t>
            </a:r>
            <a:endParaRPr lang="en-US" sz="1400" dirty="0"/>
          </a:p>
        </p:txBody>
      </p:sp>
      <p:sp>
        <p:nvSpPr>
          <p:cNvPr id="11" name="Shape 9"/>
          <p:cNvSpPr/>
          <p:nvPr/>
        </p:nvSpPr>
        <p:spPr>
          <a:xfrm>
            <a:off x="6135624" y="2971800"/>
            <a:ext cx="1783080" cy="914400"/>
          </a:xfrm>
          <a:prstGeom prst="chevron">
            <a:avLst/>
          </a:prstGeom>
          <a:solidFill>
            <a:srgbClr val="272A38"/>
          </a:solidFill>
          <a:ln w="12700">
            <a:solidFill>
              <a:srgbClr val="272A38"/>
            </a:solidFill>
            <a:prstDash val="solid"/>
          </a:ln>
        </p:spPr>
        <p:txBody>
          <a:bodyPr/>
          <a:p/>
        </p:txBody>
      </p:sp>
      <p:sp>
        <p:nvSpPr>
          <p:cNvPr id="12" name="Text 10"/>
          <p:cNvSpPr/>
          <p:nvPr/>
        </p:nvSpPr>
        <p:spPr>
          <a:xfrm>
            <a:off x="6409944" y="2971800"/>
            <a:ext cx="128016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Contractul</a:t>
            </a:r>
            <a:endParaRPr lang="en-US" sz="1400" dirty="0"/>
          </a:p>
        </p:txBody>
      </p:sp>
      <p:sp>
        <p:nvSpPr>
          <p:cNvPr id="13" name="Shape 11"/>
          <p:cNvSpPr/>
          <p:nvPr/>
        </p:nvSpPr>
        <p:spPr>
          <a:xfrm>
            <a:off x="7982712" y="2971800"/>
            <a:ext cx="1783080" cy="914400"/>
          </a:xfrm>
          <a:prstGeom prst="chevron">
            <a:avLst/>
          </a:prstGeom>
          <a:solidFill>
            <a:srgbClr val="272A38"/>
          </a:solidFill>
          <a:ln w="12700">
            <a:solidFill>
              <a:srgbClr val="272A38"/>
            </a:solidFill>
            <a:prstDash val="solid"/>
          </a:ln>
        </p:spPr>
        <p:txBody>
          <a:bodyPr/>
          <a:p/>
        </p:txBody>
      </p:sp>
      <p:sp>
        <p:nvSpPr>
          <p:cNvPr id="14" name="Text 12"/>
          <p:cNvSpPr/>
          <p:nvPr/>
        </p:nvSpPr>
        <p:spPr>
          <a:xfrm>
            <a:off x="8257032" y="2971800"/>
            <a:ext cx="128016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Recepția</a:t>
            </a:r>
            <a:endParaRPr lang="en-US" sz="1400" dirty="0"/>
          </a:p>
        </p:txBody>
      </p:sp>
      <p:sp>
        <p:nvSpPr>
          <p:cNvPr id="15" name="Shape 13"/>
          <p:cNvSpPr/>
          <p:nvPr/>
        </p:nvSpPr>
        <p:spPr>
          <a:xfrm>
            <a:off x="9829800" y="2971800"/>
            <a:ext cx="1783080" cy="914400"/>
          </a:xfrm>
          <a:prstGeom prst="chevron">
            <a:avLst/>
          </a:prstGeom>
          <a:solidFill>
            <a:srgbClr val="272A38"/>
          </a:solidFill>
          <a:ln w="12700">
            <a:solidFill>
              <a:srgbClr val="272A38"/>
            </a:solidFill>
            <a:prstDash val="solid"/>
          </a:ln>
        </p:spPr>
        <p:txBody>
          <a:bodyPr/>
          <a:p/>
        </p:txBody>
      </p:sp>
      <p:sp>
        <p:nvSpPr>
          <p:cNvPr id="16" name="Text 14"/>
          <p:cNvSpPr/>
          <p:nvPr/>
        </p:nvSpPr>
        <p:spPr>
          <a:xfrm>
            <a:off x="10104120" y="2971800"/>
            <a:ext cx="128016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Salonul</a:t>
            </a:r>
            <a:endParaRPr lang="en-US" sz="1400" dirty="0"/>
          </a:p>
        </p:txBody>
      </p:sp>
      <p:sp>
        <p:nvSpPr>
          <p:cNvPr id="17" name="Text 15"/>
          <p:cNvSpPr/>
          <p:nvPr/>
        </p:nvSpPr>
        <p:spPr>
          <a:xfrm>
            <a:off x="594360" y="4343400"/>
            <a:ext cx="10972800" cy="457200"/>
          </a:xfrm>
          <a:prstGeom prst="rect">
            <a:avLst/>
          </a:prstGeom>
          <a:noFill/>
          <a:ln/>
        </p:spPr>
        <p:txBody>
          <a:bodyPr wrap="square" lIns="0" tIns="0" rIns="0" bIns="0" rtlCol="0" anchor="t"/>
          <a:lstStyle/>
          <a:p>
            <a:pPr indent="0" marL="0">
              <a:buNone/>
            </a:pPr>
            <a:r>
              <a:rPr lang="en-US" sz="1800" dirty="0">
                <a:solidFill>
                  <a:srgbClr val="FF4757"/>
                </a:solidFill>
                <a:latin typeface="Palatino Linotype" pitchFamily="34" charset="0"/>
                <a:ea typeface="Palatino Linotype" pitchFamily="34" charset="-122"/>
                <a:cs typeface="Palatino Linotype" pitchFamily="34" charset="-120"/>
              </a:rPr>
              <a:t>În cazul discutat, s-a rupt prima verigă: avizele, desființate de instanță.</a:t>
            </a:r>
            <a:endParaRPr lang="en-US" sz="1800" dirty="0"/>
          </a:p>
        </p:txBody>
      </p:sp>
      <p:sp>
        <p:nvSpPr>
          <p:cNvPr id="18" name="Text 16"/>
          <p:cNvSpPr/>
          <p:nvPr/>
        </p:nvSpPr>
        <p:spPr>
          <a:xfrm>
            <a:off x="594360" y="4937760"/>
            <a:ext cx="10972800" cy="45720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Veriga cea mai ușor de verificat este licitația.</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VALORI IPOTETICE · UN SPITAL JUDEȚEAN</a:t>
            </a:r>
            <a:endParaRPr lang="en-US" sz="1300" dirty="0"/>
          </a:p>
        </p:txBody>
      </p:sp>
      <p:sp>
        <p:nvSpPr>
          <p:cNvPr id="5" name="Text 3"/>
          <p:cNvSpPr/>
          <p:nvPr/>
        </p:nvSpPr>
        <p:spPr>
          <a:xfrm>
            <a:off x="594360" y="713232"/>
            <a:ext cx="7772400" cy="7315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Licitația pentru dezinfectant de mâini</a:t>
            </a:r>
            <a:endParaRPr lang="en-US" sz="3000" dirty="0"/>
          </a:p>
        </p:txBody>
      </p:sp>
      <p:sp>
        <p:nvSpPr>
          <p:cNvPr id="6" name="Shape 4"/>
          <p:cNvSpPr/>
          <p:nvPr/>
        </p:nvSpPr>
        <p:spPr>
          <a:xfrm rot="-60000">
            <a:off x="822960" y="1645920"/>
            <a:ext cx="5760720" cy="425196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7" name="Text 5"/>
          <p:cNvSpPr/>
          <p:nvPr/>
        </p:nvSpPr>
        <p:spPr>
          <a:xfrm rot="-60000">
            <a:off x="1188720" y="1920240"/>
            <a:ext cx="5029200" cy="274320"/>
          </a:xfrm>
          <a:prstGeom prst="rect">
            <a:avLst/>
          </a:prstGeom>
          <a:noFill/>
          <a:ln/>
        </p:spPr>
        <p:txBody>
          <a:bodyPr wrap="square" lIns="0" tIns="0" rIns="0" bIns="0" rtlCol="0" anchor="t"/>
          <a:lstStyle/>
          <a:p>
            <a:pPr indent="0" marL="0">
              <a:buNone/>
            </a:pPr>
            <a:r>
              <a:rPr lang="en-US" sz="1200" b="1" spc="300" kern="0" dirty="0">
                <a:solidFill>
                  <a:srgbClr val="B02532"/>
                </a:solidFill>
                <a:latin typeface="Palatino Linotype" pitchFamily="34" charset="0"/>
                <a:ea typeface="Palatino Linotype" pitchFamily="34" charset="-122"/>
                <a:cs typeface="Palatino Linotype" pitchFamily="34" charset="-120"/>
              </a:rPr>
              <a:t>CAIET DE SARCINI · EXTRAS</a:t>
            </a:r>
            <a:endParaRPr lang="en-US" sz="1200" dirty="0"/>
          </a:p>
        </p:txBody>
      </p:sp>
      <p:sp>
        <p:nvSpPr>
          <p:cNvPr id="8" name="Shape 6"/>
          <p:cNvSpPr/>
          <p:nvPr/>
        </p:nvSpPr>
        <p:spPr>
          <a:xfrm rot="-60000">
            <a:off x="1188720" y="2267712"/>
            <a:ext cx="5029200" cy="18288"/>
          </a:xfrm>
          <a:prstGeom prst="rect">
            <a:avLst/>
          </a:prstGeom>
          <a:solidFill>
            <a:srgbClr val="11121A"/>
          </a:solidFill>
          <a:ln/>
        </p:spPr>
        <p:txBody>
          <a:bodyPr/>
          <a:p/>
        </p:txBody>
      </p:sp>
      <p:sp>
        <p:nvSpPr>
          <p:cNvPr id="9" name="Text 7"/>
          <p:cNvSpPr/>
          <p:nvPr/>
        </p:nvSpPr>
        <p:spPr>
          <a:xfrm rot="-60000">
            <a:off x="1188720" y="2514600"/>
            <a:ext cx="5029200" cy="201168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un anumit amestec de substanțe</a:t>
            </a:r>
            <a:endParaRPr lang="en-US" sz="1700" dirty="0"/>
          </a:p>
          <a:p>
            <a:pPr marL="342900" indent="-342900">
              <a:spcAft>
                <a:spcPts val="4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un anumit tip de recipient</a:t>
            </a:r>
            <a:endParaRPr lang="en-US" sz="1700" dirty="0"/>
          </a:p>
          <a:p>
            <a:pPr marL="342900" indent="-342900">
              <a:spcAft>
                <a:spcPts val="4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livrare în 48 de ore</a:t>
            </a:r>
            <a:endParaRPr lang="en-US" sz="1700" dirty="0"/>
          </a:p>
          <a:p>
            <a:pPr marL="342900" indent="-342900">
              <a:spcAft>
                <a:spcPts val="400"/>
              </a:spcAft>
              <a:buSzPct val="100000"/>
              <a:buChar char="•"/>
            </a:pPr>
            <a:r>
              <a:rPr lang="en-US" sz="1700" b="1" dirty="0">
                <a:solidFill>
                  <a:srgbClr val="11121A"/>
                </a:solidFill>
                <a:highlight>
                  <a:srgbClr val="FFE7A3"/>
                </a:highlight>
                <a:latin typeface="Palatino Linotype" pitchFamily="34" charset="0"/>
                <a:ea typeface="Palatino Linotype" pitchFamily="34" charset="-122"/>
                <a:cs typeface="Palatino Linotype" pitchFamily="34" charset="-120"/>
              </a:rPr>
              <a:t>un certificat pe care îl are o singură firmă din țară</a:t>
            </a:r>
            <a:endParaRPr lang="en-US" sz="1700" dirty="0"/>
          </a:p>
        </p:txBody>
      </p:sp>
      <p:sp>
        <p:nvSpPr>
          <p:cNvPr id="10" name="Text 8"/>
          <p:cNvSpPr/>
          <p:nvPr/>
        </p:nvSpPr>
        <p:spPr>
          <a:xfrm rot="-60000">
            <a:off x="1188720" y="4617720"/>
            <a:ext cx="5029200" cy="365760"/>
          </a:xfrm>
          <a:prstGeom prst="rect">
            <a:avLst/>
          </a:prstGeom>
          <a:noFill/>
          <a:ln/>
        </p:spPr>
        <p:txBody>
          <a:bodyPr wrap="square" lIns="0" tIns="0" rIns="0" bIns="0" rtlCol="0" anchor="t"/>
          <a:lstStyle/>
          <a:p>
            <a:pPr indent="0" marL="0">
              <a:buNone/>
            </a:pPr>
            <a:r>
              <a:rPr lang="en-US" sz="1600" i="1" dirty="0">
                <a:solidFill>
                  <a:srgbClr val="3A3C44"/>
                </a:solidFill>
                <a:latin typeface="Palatino Linotype" pitchFamily="34" charset="0"/>
                <a:ea typeface="Palatino Linotype" pitchFamily="34" charset="-122"/>
                <a:cs typeface="Palatino Linotype" pitchFamily="34" charset="-120"/>
              </a:rPr>
              <a:t>Termenul pentru oferte: scurt.</a:t>
            </a:r>
            <a:endParaRPr lang="en-US" sz="1600" dirty="0"/>
          </a:p>
        </p:txBody>
      </p:sp>
      <p:sp>
        <p:nvSpPr>
          <p:cNvPr id="11" name="Shape 9"/>
          <p:cNvSpPr/>
          <p:nvPr/>
        </p:nvSpPr>
        <p:spPr>
          <a:xfrm rot="-360000">
            <a:off x="3291840" y="5120640"/>
            <a:ext cx="2926080" cy="548640"/>
          </a:xfrm>
          <a:prstGeom prst="roundRect">
            <a:avLst>
              <a:gd name="adj" fmla="val 10000"/>
            </a:avLst>
          </a:prstGeom>
          <a:solidFill>
            <a:srgbClr val="FBF8F1"/>
          </a:solidFill>
          <a:ln w="25400">
            <a:solidFill>
              <a:srgbClr val="B02532"/>
            </a:solidFill>
            <a:prstDash val="solid"/>
          </a:ln>
        </p:spPr>
        <p:txBody>
          <a:bodyPr/>
          <a:p/>
        </p:txBody>
      </p:sp>
      <p:sp>
        <p:nvSpPr>
          <p:cNvPr id="12" name="Text 10"/>
          <p:cNvSpPr/>
          <p:nvPr/>
        </p:nvSpPr>
        <p:spPr>
          <a:xfrm rot="-360000">
            <a:off x="3291840" y="5120640"/>
            <a:ext cx="2926080" cy="548640"/>
          </a:xfrm>
          <a:prstGeom prst="rect">
            <a:avLst/>
          </a:prstGeom>
          <a:noFill/>
          <a:ln/>
        </p:spPr>
        <p:txBody>
          <a:bodyPr wrap="square" lIns="0" tIns="0" rIns="0" bIns="0" rtlCol="0" anchor="ctr"/>
          <a:lstStyle/>
          <a:p>
            <a:pPr algn="ctr" indent="0" marL="0">
              <a:buNone/>
            </a:pPr>
            <a:r>
              <a:rPr lang="en-US" sz="1500" b="1" spc="200" kern="0" dirty="0">
                <a:solidFill>
                  <a:srgbClr val="B02532"/>
                </a:solidFill>
                <a:latin typeface="Palatino Linotype" pitchFamily="34" charset="0"/>
                <a:ea typeface="Palatino Linotype" pitchFamily="34" charset="-122"/>
                <a:cs typeface="Palatino Linotype" pitchFamily="34" charset="-120"/>
              </a:rPr>
              <a:t>O SINGURĂ OFERTĂ</a:t>
            </a:r>
            <a:endParaRPr lang="en-US" sz="1500" dirty="0"/>
          </a:p>
        </p:txBody>
      </p:sp>
      <p:sp>
        <p:nvSpPr>
          <p:cNvPr id="13" name="Text 11"/>
          <p:cNvSpPr/>
          <p:nvPr/>
        </p:nvSpPr>
        <p:spPr>
          <a:xfrm>
            <a:off x="822960" y="6053328"/>
            <a:ext cx="5760720" cy="256032"/>
          </a:xfrm>
          <a:prstGeom prst="rect">
            <a:avLst/>
          </a:prstGeom>
          <a:noFill/>
          <a:ln/>
        </p:spPr>
        <p:txBody>
          <a:bodyPr wrap="square" lIns="0" tIns="0" rIns="0" bIns="0" rtlCol="0" anchor="t"/>
          <a:lstStyle/>
          <a:p>
            <a:pPr indent="0" marL="0">
              <a:buNone/>
            </a:pPr>
            <a:r>
              <a:rPr lang="en-US" sz="900" i="1" dirty="0">
                <a:solidFill>
                  <a:srgbClr val="8E94A8"/>
                </a:solidFill>
                <a:latin typeface="Palatino Linotype" pitchFamily="34" charset="0"/>
                <a:ea typeface="Palatino Linotype" pitchFamily="34" charset="-122"/>
                <a:cs typeface="Palatino Linotype" pitchFamily="34" charset="-120"/>
              </a:rPr>
              <a:t>Document ipotetic; spitalul și cerințele sunt fictive.</a:t>
            </a:r>
            <a:endParaRPr lang="en-US" sz="900" dirty="0"/>
          </a:p>
        </p:txBody>
      </p:sp>
      <p:sp>
        <p:nvSpPr>
          <p:cNvPr id="14" name="Text 12"/>
          <p:cNvSpPr/>
          <p:nvPr/>
        </p:nvSpPr>
        <p:spPr>
          <a:xfrm>
            <a:off x="7086600" y="1691640"/>
            <a:ext cx="4480560" cy="1371600"/>
          </a:xfrm>
          <a:prstGeom prst="rect">
            <a:avLst/>
          </a:prstGeom>
          <a:noFill/>
          <a:ln/>
        </p:spPr>
        <p:txBody>
          <a:bodyPr wrap="square" lIns="0" tIns="0" rIns="0" bIns="0" rtlCol="0" anchor="t"/>
          <a:lstStyle/>
          <a:p>
            <a:pPr indent="0" marL="0">
              <a:buNone/>
            </a:pPr>
            <a:r>
              <a:rPr lang="en-US" sz="2400" b="1" dirty="0">
                <a:solidFill>
                  <a:srgbClr val="FFC24B"/>
                </a:solidFill>
                <a:latin typeface="Palatino Linotype" pitchFamily="34" charset="0"/>
                <a:ea typeface="Palatino Linotype" pitchFamily="34" charset="-122"/>
                <a:cs typeface="Palatino Linotype" pitchFamily="34" charset="-120"/>
              </a:rPr>
              <a:t>Sunteți managerul. A venit o singură firmă. Semnați?</a:t>
            </a:r>
            <a:endParaRPr lang="en-US" sz="2400" dirty="0"/>
          </a:p>
        </p:txBody>
      </p:sp>
      <p:sp>
        <p:nvSpPr>
          <p:cNvPr id="15" name="Shape 13"/>
          <p:cNvSpPr/>
          <p:nvPr/>
        </p:nvSpPr>
        <p:spPr>
          <a:xfrm>
            <a:off x="7086600" y="3246120"/>
            <a:ext cx="4480560" cy="603504"/>
          </a:xfrm>
          <a:prstGeom prst="roundRect">
            <a:avLst>
              <a:gd name="adj" fmla="val 13636"/>
            </a:avLst>
          </a:prstGeom>
          <a:solidFill>
            <a:srgbClr val="272A38"/>
          </a:solidFill>
          <a:ln w="12700">
            <a:solidFill>
              <a:srgbClr val="272A38"/>
            </a:solidFill>
            <a:prstDash val="solid"/>
          </a:ln>
        </p:spPr>
        <p:txBody>
          <a:bodyPr/>
          <a:p/>
        </p:txBody>
      </p:sp>
      <p:sp>
        <p:nvSpPr>
          <p:cNvPr id="16" name="Text 14"/>
          <p:cNvSpPr/>
          <p:nvPr/>
        </p:nvSpPr>
        <p:spPr>
          <a:xfrm>
            <a:off x="7315200" y="3246120"/>
            <a:ext cx="4114800" cy="603504"/>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 · Semnez</a:t>
            </a:r>
            <a:endParaRPr lang="en-US" sz="1600" dirty="0"/>
          </a:p>
        </p:txBody>
      </p:sp>
      <p:sp>
        <p:nvSpPr>
          <p:cNvPr id="17" name="Shape 15"/>
          <p:cNvSpPr/>
          <p:nvPr/>
        </p:nvSpPr>
        <p:spPr>
          <a:xfrm>
            <a:off x="7086600" y="3977640"/>
            <a:ext cx="4480560" cy="603504"/>
          </a:xfrm>
          <a:prstGeom prst="roundRect">
            <a:avLst>
              <a:gd name="adj" fmla="val 13636"/>
            </a:avLst>
          </a:prstGeom>
          <a:solidFill>
            <a:srgbClr val="272A38"/>
          </a:solidFill>
          <a:ln w="12700">
            <a:solidFill>
              <a:srgbClr val="272A38"/>
            </a:solidFill>
            <a:prstDash val="solid"/>
          </a:ln>
        </p:spPr>
        <p:txBody>
          <a:bodyPr/>
          <a:p/>
        </p:txBody>
      </p:sp>
      <p:sp>
        <p:nvSpPr>
          <p:cNvPr id="18" name="Text 16"/>
          <p:cNvSpPr/>
          <p:nvPr/>
        </p:nvSpPr>
        <p:spPr>
          <a:xfrm>
            <a:off x="7315200" y="3977640"/>
            <a:ext cx="4114800" cy="603504"/>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B · Nu semnez, reiau licitația</a:t>
            </a:r>
            <a:endParaRPr lang="en-US" sz="1600" dirty="0"/>
          </a:p>
        </p:txBody>
      </p:sp>
      <p:sp>
        <p:nvSpPr>
          <p:cNvPr id="19" name="Shape 17"/>
          <p:cNvSpPr/>
          <p:nvPr/>
        </p:nvSpPr>
        <p:spPr>
          <a:xfrm>
            <a:off x="7086600" y="4709160"/>
            <a:ext cx="4480560" cy="603504"/>
          </a:xfrm>
          <a:prstGeom prst="roundRect">
            <a:avLst>
              <a:gd name="adj" fmla="val 13636"/>
            </a:avLst>
          </a:prstGeom>
          <a:solidFill>
            <a:srgbClr val="272A38"/>
          </a:solidFill>
          <a:ln w="12700">
            <a:solidFill>
              <a:srgbClr val="272A38"/>
            </a:solidFill>
            <a:prstDash val="solid"/>
          </a:ln>
        </p:spPr>
        <p:txBody>
          <a:bodyPr/>
          <a:p/>
        </p:txBody>
      </p:sp>
      <p:sp>
        <p:nvSpPr>
          <p:cNvPr id="20" name="Text 18"/>
          <p:cNvSpPr/>
          <p:nvPr/>
        </p:nvSpPr>
        <p:spPr>
          <a:xfrm>
            <a:off x="7315200" y="4709160"/>
            <a:ext cx="4114800" cy="603504"/>
          </a:xfrm>
          <a:prstGeom prst="rect">
            <a:avLst/>
          </a:prstGeom>
          <a:noFill/>
          <a:ln/>
        </p:spPr>
        <p:txBody>
          <a:bodyPr wrap="square" lIns="0" tIns="0" rIns="0" bIns="0" rtlCol="0" anchor="ctr"/>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 · Cer întâi documentele</a:t>
            </a:r>
            <a:endParaRPr lang="en-US" sz="1600" dirty="0"/>
          </a:p>
        </p:txBody>
      </p:sp>
      <p:sp>
        <p:nvSpPr>
          <p:cNvPr id="21" name="Text 19"/>
          <p:cNvSpPr/>
          <p:nvPr/>
        </p:nvSpPr>
        <p:spPr>
          <a:xfrm>
            <a:off x="7086600" y="5486400"/>
            <a:ext cx="4480560" cy="54864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După vot, două minute în perechi: ce argument a decis alegerea?</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DUPĂ VOT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Licitația există pe hârtie. Alegerea a dispărut.</a:t>
            </a:r>
            <a:endParaRPr lang="en-US" sz="3000" dirty="0"/>
          </a:p>
        </p:txBody>
      </p:sp>
      <p:sp>
        <p:nvSpPr>
          <p:cNvPr id="4" name="Text 2"/>
          <p:cNvSpPr/>
          <p:nvPr/>
        </p:nvSpPr>
        <p:spPr>
          <a:xfrm>
            <a:off x="594360" y="1417320"/>
            <a:ext cx="10972800" cy="73152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Nimic din această procedură nu încalcă neapărat legea. Dar spitalul nu a avut de unde alege, deci nu știe dacă a plătit un preț corect.</a:t>
            </a:r>
            <a:endParaRPr lang="en-US" sz="1700" dirty="0"/>
          </a:p>
        </p:txBody>
      </p:sp>
      <p:sp>
        <p:nvSpPr>
          <p:cNvPr id="5" name="Shape 3"/>
          <p:cNvSpPr/>
          <p:nvPr/>
        </p:nvSpPr>
        <p:spPr>
          <a:xfrm>
            <a:off x="594360" y="2286000"/>
            <a:ext cx="5349240" cy="2606040"/>
          </a:xfrm>
          <a:prstGeom prst="roundRect">
            <a:avLst>
              <a:gd name="adj" fmla="val 3158"/>
            </a:avLst>
          </a:prstGeom>
          <a:solidFill>
            <a:srgbClr val="E1F0EC"/>
          </a:solidFill>
          <a:ln w="12700">
            <a:solidFill>
              <a:srgbClr val="E1F0EC"/>
            </a:solidFill>
            <a:prstDash val="solid"/>
          </a:ln>
        </p:spPr>
        <p:txBody>
          <a:bodyPr/>
          <a:p/>
        </p:txBody>
      </p:sp>
      <p:sp>
        <p:nvSpPr>
          <p:cNvPr id="6" name="Text 4"/>
          <p:cNvSpPr/>
          <p:nvPr/>
        </p:nvSpPr>
        <p:spPr>
          <a:xfrm>
            <a:off x="868680" y="2395728"/>
            <a:ext cx="4846320" cy="41148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Când vin cinci firme</a:t>
            </a:r>
            <a:endParaRPr lang="en-US" sz="1900" dirty="0"/>
          </a:p>
        </p:txBody>
      </p:sp>
      <p:sp>
        <p:nvSpPr>
          <p:cNvPr id="7" name="Shape 5"/>
          <p:cNvSpPr/>
          <p:nvPr/>
        </p:nvSpPr>
        <p:spPr>
          <a:xfrm>
            <a:off x="1005840" y="2926080"/>
            <a:ext cx="566928" cy="274320"/>
          </a:xfrm>
          <a:prstGeom prst="triangle">
            <a:avLst/>
          </a:prstGeom>
          <a:solidFill>
            <a:srgbClr val="0E7C6B"/>
          </a:solidFill>
          <a:ln w="15875">
            <a:solidFill>
              <a:srgbClr val="0E7C6B"/>
            </a:solidFill>
            <a:prstDash val="solid"/>
          </a:ln>
        </p:spPr>
        <p:txBody>
          <a:bodyPr/>
          <a:p/>
        </p:txBody>
      </p:sp>
      <p:sp>
        <p:nvSpPr>
          <p:cNvPr id="8" name="Shape 6"/>
          <p:cNvSpPr/>
          <p:nvPr/>
        </p:nvSpPr>
        <p:spPr>
          <a:xfrm>
            <a:off x="1060704" y="3200400"/>
            <a:ext cx="457200" cy="384048"/>
          </a:xfrm>
          <a:prstGeom prst="rect">
            <a:avLst/>
          </a:prstGeom>
          <a:solidFill>
            <a:srgbClr val="0E7C6B"/>
          </a:solidFill>
          <a:ln w="15875">
            <a:solidFill>
              <a:srgbClr val="0E7C6B"/>
            </a:solidFill>
            <a:prstDash val="solid"/>
          </a:ln>
        </p:spPr>
        <p:txBody>
          <a:bodyPr/>
          <a:p/>
        </p:txBody>
      </p:sp>
      <p:sp>
        <p:nvSpPr>
          <p:cNvPr id="9" name="Shape 7"/>
          <p:cNvSpPr/>
          <p:nvPr/>
        </p:nvSpPr>
        <p:spPr>
          <a:xfrm>
            <a:off x="1874520" y="2926080"/>
            <a:ext cx="566928" cy="274320"/>
          </a:xfrm>
          <a:prstGeom prst="triangle">
            <a:avLst/>
          </a:prstGeom>
          <a:solidFill>
            <a:srgbClr val="0E7C6B"/>
          </a:solidFill>
          <a:ln w="15875">
            <a:solidFill>
              <a:srgbClr val="0E7C6B"/>
            </a:solidFill>
            <a:prstDash val="solid"/>
          </a:ln>
        </p:spPr>
        <p:txBody>
          <a:bodyPr/>
          <a:p/>
        </p:txBody>
      </p:sp>
      <p:sp>
        <p:nvSpPr>
          <p:cNvPr id="10" name="Shape 8"/>
          <p:cNvSpPr/>
          <p:nvPr/>
        </p:nvSpPr>
        <p:spPr>
          <a:xfrm>
            <a:off x="1929384" y="3200400"/>
            <a:ext cx="457200" cy="384048"/>
          </a:xfrm>
          <a:prstGeom prst="rect">
            <a:avLst/>
          </a:prstGeom>
          <a:solidFill>
            <a:srgbClr val="0E7C6B"/>
          </a:solidFill>
          <a:ln w="15875">
            <a:solidFill>
              <a:srgbClr val="0E7C6B"/>
            </a:solidFill>
            <a:prstDash val="solid"/>
          </a:ln>
        </p:spPr>
        <p:txBody>
          <a:bodyPr/>
          <a:p/>
        </p:txBody>
      </p:sp>
      <p:sp>
        <p:nvSpPr>
          <p:cNvPr id="11" name="Shape 9"/>
          <p:cNvSpPr/>
          <p:nvPr/>
        </p:nvSpPr>
        <p:spPr>
          <a:xfrm>
            <a:off x="2743200" y="2926080"/>
            <a:ext cx="566928" cy="274320"/>
          </a:xfrm>
          <a:prstGeom prst="triangle">
            <a:avLst/>
          </a:prstGeom>
          <a:solidFill>
            <a:srgbClr val="0E7C6B"/>
          </a:solidFill>
          <a:ln w="15875">
            <a:solidFill>
              <a:srgbClr val="0E7C6B"/>
            </a:solidFill>
            <a:prstDash val="solid"/>
          </a:ln>
        </p:spPr>
        <p:txBody>
          <a:bodyPr/>
          <a:p/>
        </p:txBody>
      </p:sp>
      <p:sp>
        <p:nvSpPr>
          <p:cNvPr id="12" name="Shape 10"/>
          <p:cNvSpPr/>
          <p:nvPr/>
        </p:nvSpPr>
        <p:spPr>
          <a:xfrm>
            <a:off x="2798064" y="3200400"/>
            <a:ext cx="457200" cy="384048"/>
          </a:xfrm>
          <a:prstGeom prst="rect">
            <a:avLst/>
          </a:prstGeom>
          <a:solidFill>
            <a:srgbClr val="0E7C6B"/>
          </a:solidFill>
          <a:ln w="15875">
            <a:solidFill>
              <a:srgbClr val="0E7C6B"/>
            </a:solidFill>
            <a:prstDash val="solid"/>
          </a:ln>
        </p:spPr>
        <p:txBody>
          <a:bodyPr/>
          <a:p/>
        </p:txBody>
      </p:sp>
      <p:sp>
        <p:nvSpPr>
          <p:cNvPr id="13" name="Shape 11"/>
          <p:cNvSpPr/>
          <p:nvPr/>
        </p:nvSpPr>
        <p:spPr>
          <a:xfrm>
            <a:off x="3611880" y="2926080"/>
            <a:ext cx="566928" cy="274320"/>
          </a:xfrm>
          <a:prstGeom prst="triangle">
            <a:avLst/>
          </a:prstGeom>
          <a:solidFill>
            <a:srgbClr val="0E7C6B"/>
          </a:solidFill>
          <a:ln w="15875">
            <a:solidFill>
              <a:srgbClr val="0E7C6B"/>
            </a:solidFill>
            <a:prstDash val="solid"/>
          </a:ln>
        </p:spPr>
        <p:txBody>
          <a:bodyPr/>
          <a:p/>
        </p:txBody>
      </p:sp>
      <p:sp>
        <p:nvSpPr>
          <p:cNvPr id="14" name="Shape 12"/>
          <p:cNvSpPr/>
          <p:nvPr/>
        </p:nvSpPr>
        <p:spPr>
          <a:xfrm>
            <a:off x="3666744" y="3200400"/>
            <a:ext cx="457200" cy="384048"/>
          </a:xfrm>
          <a:prstGeom prst="rect">
            <a:avLst/>
          </a:prstGeom>
          <a:solidFill>
            <a:srgbClr val="0E7C6B"/>
          </a:solidFill>
          <a:ln w="15875">
            <a:solidFill>
              <a:srgbClr val="0E7C6B"/>
            </a:solidFill>
            <a:prstDash val="solid"/>
          </a:ln>
        </p:spPr>
        <p:txBody>
          <a:bodyPr/>
          <a:p/>
        </p:txBody>
      </p:sp>
      <p:sp>
        <p:nvSpPr>
          <p:cNvPr id="15" name="Shape 13"/>
          <p:cNvSpPr/>
          <p:nvPr/>
        </p:nvSpPr>
        <p:spPr>
          <a:xfrm>
            <a:off x="4480560" y="2926080"/>
            <a:ext cx="566928" cy="274320"/>
          </a:xfrm>
          <a:prstGeom prst="triangle">
            <a:avLst/>
          </a:prstGeom>
          <a:solidFill>
            <a:srgbClr val="0E7C6B"/>
          </a:solidFill>
          <a:ln w="15875">
            <a:solidFill>
              <a:srgbClr val="0E7C6B"/>
            </a:solidFill>
            <a:prstDash val="solid"/>
          </a:ln>
        </p:spPr>
        <p:txBody>
          <a:bodyPr/>
          <a:p/>
        </p:txBody>
      </p:sp>
      <p:sp>
        <p:nvSpPr>
          <p:cNvPr id="16" name="Shape 14"/>
          <p:cNvSpPr/>
          <p:nvPr/>
        </p:nvSpPr>
        <p:spPr>
          <a:xfrm>
            <a:off x="4535424" y="3200400"/>
            <a:ext cx="457200" cy="384048"/>
          </a:xfrm>
          <a:prstGeom prst="rect">
            <a:avLst/>
          </a:prstGeom>
          <a:solidFill>
            <a:srgbClr val="0E7C6B"/>
          </a:solidFill>
          <a:ln w="15875">
            <a:solidFill>
              <a:srgbClr val="0E7C6B"/>
            </a:solidFill>
            <a:prstDash val="solid"/>
          </a:ln>
        </p:spPr>
        <p:txBody>
          <a:bodyPr/>
          <a:p/>
        </p:txBody>
      </p:sp>
      <p:sp>
        <p:nvSpPr>
          <p:cNvPr id="17" name="Text 15"/>
          <p:cNvSpPr/>
          <p:nvPr/>
        </p:nvSpPr>
        <p:spPr>
          <a:xfrm>
            <a:off x="868680" y="3794760"/>
            <a:ext cx="484632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Spitalul poate alege oferta cea mai bună, iar fiecare firmă e obligată să-și calculeze prețul gândindu-se la celelalte.</a:t>
            </a:r>
            <a:endParaRPr lang="en-US" sz="1700" dirty="0"/>
          </a:p>
        </p:txBody>
      </p:sp>
      <p:sp>
        <p:nvSpPr>
          <p:cNvPr id="18" name="Shape 16"/>
          <p:cNvSpPr/>
          <p:nvPr/>
        </p:nvSpPr>
        <p:spPr>
          <a:xfrm>
            <a:off x="6217920" y="2286000"/>
            <a:ext cx="5349240" cy="2606040"/>
          </a:xfrm>
          <a:prstGeom prst="roundRect">
            <a:avLst>
              <a:gd name="adj" fmla="val 3158"/>
            </a:avLst>
          </a:prstGeom>
          <a:solidFill>
            <a:srgbClr val="F4E0E2"/>
          </a:solidFill>
          <a:ln w="12700">
            <a:solidFill>
              <a:srgbClr val="F4E0E2"/>
            </a:solidFill>
            <a:prstDash val="solid"/>
          </a:ln>
        </p:spPr>
        <p:txBody>
          <a:bodyPr/>
          <a:p/>
        </p:txBody>
      </p:sp>
      <p:sp>
        <p:nvSpPr>
          <p:cNvPr id="19" name="Text 17"/>
          <p:cNvSpPr/>
          <p:nvPr/>
        </p:nvSpPr>
        <p:spPr>
          <a:xfrm>
            <a:off x="6492240" y="2395728"/>
            <a:ext cx="484632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Când vine una singură</a:t>
            </a:r>
            <a:endParaRPr lang="en-US" sz="1900" dirty="0"/>
          </a:p>
        </p:txBody>
      </p:sp>
      <p:sp>
        <p:nvSpPr>
          <p:cNvPr id="20" name="Shape 18"/>
          <p:cNvSpPr/>
          <p:nvPr/>
        </p:nvSpPr>
        <p:spPr>
          <a:xfrm>
            <a:off x="6629400" y="2926080"/>
            <a:ext cx="566928" cy="274320"/>
          </a:xfrm>
          <a:prstGeom prst="triangle">
            <a:avLst/>
          </a:prstGeom>
          <a:solidFill>
            <a:srgbClr val="B02532"/>
          </a:solidFill>
          <a:ln w="15875">
            <a:solidFill>
              <a:srgbClr val="B02532"/>
            </a:solidFill>
            <a:prstDash val="solid"/>
          </a:ln>
        </p:spPr>
        <p:txBody>
          <a:bodyPr/>
          <a:p/>
        </p:txBody>
      </p:sp>
      <p:sp>
        <p:nvSpPr>
          <p:cNvPr id="21" name="Shape 19"/>
          <p:cNvSpPr/>
          <p:nvPr/>
        </p:nvSpPr>
        <p:spPr>
          <a:xfrm>
            <a:off x="6684264" y="3200400"/>
            <a:ext cx="457200" cy="384048"/>
          </a:xfrm>
          <a:prstGeom prst="rect">
            <a:avLst/>
          </a:prstGeom>
          <a:solidFill>
            <a:srgbClr val="B02532"/>
          </a:solidFill>
          <a:ln w="15875">
            <a:solidFill>
              <a:srgbClr val="B02532"/>
            </a:solidFill>
            <a:prstDash val="solid"/>
          </a:ln>
        </p:spPr>
        <p:txBody>
          <a:bodyPr/>
          <a:p/>
        </p:txBody>
      </p:sp>
      <p:sp>
        <p:nvSpPr>
          <p:cNvPr id="22" name="Shape 20"/>
          <p:cNvSpPr/>
          <p:nvPr/>
        </p:nvSpPr>
        <p:spPr>
          <a:xfrm>
            <a:off x="7498080" y="2926080"/>
            <a:ext cx="566928" cy="274320"/>
          </a:xfrm>
          <a:prstGeom prst="triangle">
            <a:avLst/>
          </a:prstGeom>
          <a:solidFill>
            <a:srgbClr val="F6F5F2"/>
          </a:solidFill>
          <a:ln w="15875">
            <a:solidFill>
              <a:srgbClr val="A7A49C"/>
            </a:solidFill>
            <a:prstDash val="dash"/>
          </a:ln>
        </p:spPr>
        <p:txBody>
          <a:bodyPr/>
          <a:p/>
        </p:txBody>
      </p:sp>
      <p:sp>
        <p:nvSpPr>
          <p:cNvPr id="23" name="Shape 21"/>
          <p:cNvSpPr/>
          <p:nvPr/>
        </p:nvSpPr>
        <p:spPr>
          <a:xfrm>
            <a:off x="7552944" y="3200400"/>
            <a:ext cx="457200" cy="384048"/>
          </a:xfrm>
          <a:prstGeom prst="rect">
            <a:avLst/>
          </a:prstGeom>
          <a:solidFill>
            <a:srgbClr val="F6F5F2"/>
          </a:solidFill>
          <a:ln w="15875">
            <a:solidFill>
              <a:srgbClr val="A7A49C"/>
            </a:solidFill>
            <a:prstDash val="dash"/>
          </a:ln>
        </p:spPr>
        <p:txBody>
          <a:bodyPr/>
          <a:p/>
        </p:txBody>
      </p:sp>
      <p:sp>
        <p:nvSpPr>
          <p:cNvPr id="24" name="Shape 22"/>
          <p:cNvSpPr/>
          <p:nvPr/>
        </p:nvSpPr>
        <p:spPr>
          <a:xfrm>
            <a:off x="8366760" y="2926080"/>
            <a:ext cx="566928" cy="274320"/>
          </a:xfrm>
          <a:prstGeom prst="triangle">
            <a:avLst/>
          </a:prstGeom>
          <a:solidFill>
            <a:srgbClr val="F6F5F2"/>
          </a:solidFill>
          <a:ln w="15875">
            <a:solidFill>
              <a:srgbClr val="A7A49C"/>
            </a:solidFill>
            <a:prstDash val="dash"/>
          </a:ln>
        </p:spPr>
        <p:txBody>
          <a:bodyPr/>
          <a:p/>
        </p:txBody>
      </p:sp>
      <p:sp>
        <p:nvSpPr>
          <p:cNvPr id="25" name="Shape 23"/>
          <p:cNvSpPr/>
          <p:nvPr/>
        </p:nvSpPr>
        <p:spPr>
          <a:xfrm>
            <a:off x="8421624" y="3200400"/>
            <a:ext cx="457200" cy="384048"/>
          </a:xfrm>
          <a:prstGeom prst="rect">
            <a:avLst/>
          </a:prstGeom>
          <a:solidFill>
            <a:srgbClr val="F6F5F2"/>
          </a:solidFill>
          <a:ln w="15875">
            <a:solidFill>
              <a:srgbClr val="A7A49C"/>
            </a:solidFill>
            <a:prstDash val="dash"/>
          </a:ln>
        </p:spPr>
        <p:txBody>
          <a:bodyPr/>
          <a:p/>
        </p:txBody>
      </p:sp>
      <p:sp>
        <p:nvSpPr>
          <p:cNvPr id="26" name="Shape 24"/>
          <p:cNvSpPr/>
          <p:nvPr/>
        </p:nvSpPr>
        <p:spPr>
          <a:xfrm>
            <a:off x="9235440" y="2926080"/>
            <a:ext cx="566928" cy="274320"/>
          </a:xfrm>
          <a:prstGeom prst="triangle">
            <a:avLst/>
          </a:prstGeom>
          <a:solidFill>
            <a:srgbClr val="F6F5F2"/>
          </a:solidFill>
          <a:ln w="15875">
            <a:solidFill>
              <a:srgbClr val="A7A49C"/>
            </a:solidFill>
            <a:prstDash val="dash"/>
          </a:ln>
        </p:spPr>
        <p:txBody>
          <a:bodyPr/>
          <a:p/>
        </p:txBody>
      </p:sp>
      <p:sp>
        <p:nvSpPr>
          <p:cNvPr id="27" name="Shape 25"/>
          <p:cNvSpPr/>
          <p:nvPr/>
        </p:nvSpPr>
        <p:spPr>
          <a:xfrm>
            <a:off x="9290304" y="3200400"/>
            <a:ext cx="457200" cy="384048"/>
          </a:xfrm>
          <a:prstGeom prst="rect">
            <a:avLst/>
          </a:prstGeom>
          <a:solidFill>
            <a:srgbClr val="F6F5F2"/>
          </a:solidFill>
          <a:ln w="15875">
            <a:solidFill>
              <a:srgbClr val="A7A49C"/>
            </a:solidFill>
            <a:prstDash val="dash"/>
          </a:ln>
        </p:spPr>
        <p:txBody>
          <a:bodyPr/>
          <a:p/>
        </p:txBody>
      </p:sp>
      <p:sp>
        <p:nvSpPr>
          <p:cNvPr id="28" name="Shape 26"/>
          <p:cNvSpPr/>
          <p:nvPr/>
        </p:nvSpPr>
        <p:spPr>
          <a:xfrm>
            <a:off x="10104120" y="2926080"/>
            <a:ext cx="566928" cy="274320"/>
          </a:xfrm>
          <a:prstGeom prst="triangle">
            <a:avLst/>
          </a:prstGeom>
          <a:solidFill>
            <a:srgbClr val="F6F5F2"/>
          </a:solidFill>
          <a:ln w="15875">
            <a:solidFill>
              <a:srgbClr val="A7A49C"/>
            </a:solidFill>
            <a:prstDash val="dash"/>
          </a:ln>
        </p:spPr>
        <p:txBody>
          <a:bodyPr/>
          <a:p/>
        </p:txBody>
      </p:sp>
      <p:sp>
        <p:nvSpPr>
          <p:cNvPr id="29" name="Shape 27"/>
          <p:cNvSpPr/>
          <p:nvPr/>
        </p:nvSpPr>
        <p:spPr>
          <a:xfrm>
            <a:off x="10158984" y="3200400"/>
            <a:ext cx="457200" cy="384048"/>
          </a:xfrm>
          <a:prstGeom prst="rect">
            <a:avLst/>
          </a:prstGeom>
          <a:solidFill>
            <a:srgbClr val="F6F5F2"/>
          </a:solidFill>
          <a:ln w="15875">
            <a:solidFill>
              <a:srgbClr val="A7A49C"/>
            </a:solidFill>
            <a:prstDash val="dash"/>
          </a:ln>
        </p:spPr>
        <p:txBody>
          <a:bodyPr/>
          <a:p/>
        </p:txBody>
      </p:sp>
      <p:sp>
        <p:nvSpPr>
          <p:cNvPr id="30" name="Text 28"/>
          <p:cNvSpPr/>
          <p:nvPr/>
        </p:nvSpPr>
        <p:spPr>
          <a:xfrm>
            <a:off x="6492240" y="3794760"/>
            <a:ext cx="4846320" cy="1005840"/>
          </a:xfrm>
          <a:prstGeom prst="rect">
            <a:avLst/>
          </a:prstGeom>
          <a:noFill/>
          <a:ln/>
        </p:spPr>
        <p:txBody>
          <a:bodyPr wrap="square" lIns="0" tIns="0" rIns="0" bIns="0" rtlCol="0" anchor="t"/>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Procedura rămâne în picioare, dar nimeni nu mai concurează: prețul îl propune singura firmă prezentă.</a:t>
            </a:r>
            <a:endParaRPr lang="en-US" sz="1700" dirty="0"/>
          </a:p>
        </p:txBody>
      </p:sp>
      <p:sp>
        <p:nvSpPr>
          <p:cNvPr id="31" name="Text 29"/>
          <p:cNvSpPr/>
          <p:nvPr/>
        </p:nvSpPr>
        <p:spPr>
          <a:xfrm>
            <a:off x="594360" y="5166360"/>
            <a:ext cx="10972800" cy="548640"/>
          </a:xfrm>
          <a:prstGeom prst="rect">
            <a:avLst/>
          </a:prstGeom>
          <a:noFill/>
          <a:ln/>
        </p:spPr>
        <p:txBody>
          <a:bodyPr wrap="square" lIns="0" tIns="0" rIns="0" bIns="0" rtlCol="0" anchor="t"/>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O licitație e utilă numai dacă există concurență.</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Ofertantul unic</a:t>
            </a:r>
            <a:endParaRPr lang="en-US" sz="3100" dirty="0"/>
          </a:p>
        </p:txBody>
      </p:sp>
      <p:sp>
        <p:nvSpPr>
          <p:cNvPr id="4" name="Text 2"/>
          <p:cNvSpPr/>
          <p:nvPr/>
        </p:nvSpPr>
        <p:spPr>
          <a:xfrm>
            <a:off x="594360" y="1371600"/>
            <a:ext cx="10972800" cy="457200"/>
          </a:xfrm>
          <a:prstGeom prst="rect">
            <a:avLst/>
          </a:prstGeom>
          <a:noFill/>
          <a:ln/>
        </p:spPr>
        <p:txBody>
          <a:bodyPr wrap="square" lIns="0" tIns="0" rIns="0" bIns="0" rtlCol="0" anchor="t"/>
          <a:lstStyle/>
          <a:p>
            <a:pPr indent="0" marL="0">
              <a:buNone/>
            </a:pPr>
            <a:r>
              <a:rPr lang="en-US" sz="1800" i="1" dirty="0">
                <a:solidFill>
                  <a:srgbClr val="3A3C44"/>
                </a:solidFill>
                <a:latin typeface="Palatino Linotype" pitchFamily="34" charset="0"/>
                <a:ea typeface="Palatino Linotype" pitchFamily="34" charset="-122"/>
                <a:cs typeface="Palatino Linotype" pitchFamily="34" charset="-120"/>
              </a:rPr>
              <a:t>O singură firmă la licitație: procedura există, concurența lipsește.</a:t>
            </a:r>
            <a:endParaRPr lang="en-US" sz="1800" dirty="0"/>
          </a:p>
        </p:txBody>
      </p:sp>
      <p:sp>
        <p:nvSpPr>
          <p:cNvPr id="5" name="Shape 3"/>
          <p:cNvSpPr/>
          <p:nvPr/>
        </p:nvSpPr>
        <p:spPr>
          <a:xfrm>
            <a:off x="594360" y="2057400"/>
            <a:ext cx="5349240" cy="2423160"/>
          </a:xfrm>
          <a:prstGeom prst="roundRect">
            <a:avLst>
              <a:gd name="adj" fmla="val 3396"/>
            </a:avLst>
          </a:prstGeom>
          <a:solidFill>
            <a:srgbClr val="E1F0EC"/>
          </a:solidFill>
          <a:ln w="12700">
            <a:solidFill>
              <a:srgbClr val="E1F0EC"/>
            </a:solidFill>
            <a:prstDash val="solid"/>
          </a:ln>
        </p:spPr>
        <p:txBody>
          <a:bodyPr/>
          <a:p/>
        </p:txBody>
      </p:sp>
      <p:sp>
        <p:nvSpPr>
          <p:cNvPr id="6" name="Text 4"/>
          <p:cNvSpPr/>
          <p:nvPr/>
        </p:nvSpPr>
        <p:spPr>
          <a:xfrm>
            <a:off x="868680" y="2194560"/>
            <a:ext cx="4846320" cy="41148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Explicații nevinovate</a:t>
            </a:r>
            <a:endParaRPr lang="en-US" sz="1900" dirty="0"/>
          </a:p>
        </p:txBody>
      </p:sp>
      <p:sp>
        <p:nvSpPr>
          <p:cNvPr id="7" name="Text 5"/>
          <p:cNvSpPr/>
          <p:nvPr/>
        </p:nvSpPr>
        <p:spPr>
          <a:xfrm>
            <a:off x="868680" y="2697480"/>
            <a:ext cx="4846320" cy="22860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produs foarte specializat</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piață mică</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termen prea scurt</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firmele n-au aflat la timp</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procedură birocratică</a:t>
            </a:r>
            <a:endParaRPr lang="en-US" sz="1700" dirty="0"/>
          </a:p>
        </p:txBody>
      </p:sp>
      <p:sp>
        <p:nvSpPr>
          <p:cNvPr id="8" name="Shape 6"/>
          <p:cNvSpPr/>
          <p:nvPr/>
        </p:nvSpPr>
        <p:spPr>
          <a:xfrm>
            <a:off x="6217920" y="2057400"/>
            <a:ext cx="5349240" cy="2423160"/>
          </a:xfrm>
          <a:prstGeom prst="roundRect">
            <a:avLst>
              <a:gd name="adj" fmla="val 3396"/>
            </a:avLst>
          </a:prstGeom>
          <a:solidFill>
            <a:srgbClr val="F4E0E2"/>
          </a:solidFill>
          <a:ln w="12700">
            <a:solidFill>
              <a:srgbClr val="F4E0E2"/>
            </a:solidFill>
            <a:prstDash val="solid"/>
          </a:ln>
        </p:spPr>
        <p:txBody>
          <a:bodyPr/>
          <a:p/>
        </p:txBody>
      </p:sp>
      <p:sp>
        <p:nvSpPr>
          <p:cNvPr id="9" name="Text 7"/>
          <p:cNvSpPr/>
          <p:nvPr/>
        </p:nvSpPr>
        <p:spPr>
          <a:xfrm>
            <a:off x="6492240" y="2194560"/>
            <a:ext cx="4846320" cy="41148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Explicații care nu sunt nevinovate</a:t>
            </a:r>
            <a:endParaRPr lang="en-US" sz="1900" dirty="0"/>
          </a:p>
        </p:txBody>
      </p:sp>
      <p:sp>
        <p:nvSpPr>
          <p:cNvPr id="10" name="Text 8"/>
          <p:cNvSpPr/>
          <p:nvPr/>
        </p:nvSpPr>
        <p:spPr>
          <a:xfrm>
            <a:off x="6492240" y="2697480"/>
            <a:ext cx="4846320" cy="22860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caiet de sarcini scris pe măsura unei firme</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înțelegere între firme să nu concureze</a:t>
            </a:r>
            <a:endParaRPr lang="en-US" sz="1700" dirty="0"/>
          </a:p>
          <a:p>
            <a:pPr marL="342900" indent="-342900">
              <a:spcAft>
                <a:spcPts val="600"/>
              </a:spcAft>
              <a:buSzPct val="100000"/>
              <a:buChar char="•"/>
            </a:pPr>
            <a:r>
              <a:rPr lang="en-US" sz="1700" dirty="0">
                <a:solidFill>
                  <a:srgbClr val="11121A"/>
                </a:solidFill>
                <a:latin typeface="Palatino Linotype" pitchFamily="34" charset="0"/>
                <a:ea typeface="Palatino Linotype" pitchFamily="34" charset="-122"/>
                <a:cs typeface="Palatino Linotype" pitchFamily="34" charset="-120"/>
              </a:rPr>
              <a:t>anunț publicat cât mai discret</a:t>
            </a:r>
            <a:endParaRPr lang="en-US" sz="1700" dirty="0"/>
          </a:p>
        </p:txBody>
      </p:sp>
      <p:sp>
        <p:nvSpPr>
          <p:cNvPr id="11" name="Text 9"/>
          <p:cNvSpPr/>
          <p:nvPr/>
        </p:nvSpPr>
        <p:spPr>
          <a:xfrm>
            <a:off x="594360" y="4754880"/>
            <a:ext cx="10972800" cy="6400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Ce arată, atunci, o singură ofertă? Votați pe diapozitivul următor.</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PERECHI</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ARATĂ O SINGURĂ OFERTĂ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FFFFFF"/>
                </a:solidFill>
                <a:latin typeface="Palatino Linotype" pitchFamily="34" charset="0"/>
                <a:ea typeface="Palatino Linotype" pitchFamily="34" charset="-122"/>
                <a:cs typeface="Palatino Linotype" pitchFamily="34" charset="-120"/>
              </a:rPr>
              <a:t>O licitație de dezinfectanți la care a venit o singură firmă este…</a:t>
            </a:r>
            <a:endParaRPr lang="en-US" sz="2800" dirty="0"/>
          </a:p>
        </p:txBody>
      </p:sp>
      <p:sp>
        <p:nvSpPr>
          <p:cNvPr id="6" name="Shape 4"/>
          <p:cNvSpPr/>
          <p:nvPr/>
        </p:nvSpPr>
        <p:spPr>
          <a:xfrm>
            <a:off x="594360" y="1920240"/>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7" name="Shape 5"/>
          <p:cNvSpPr/>
          <p:nvPr/>
        </p:nvSpPr>
        <p:spPr>
          <a:xfrm>
            <a:off x="914400" y="2112264"/>
            <a:ext cx="420624" cy="420624"/>
          </a:xfrm>
          <a:prstGeom prst="ellipse">
            <a:avLst/>
          </a:prstGeom>
          <a:solidFill>
            <a:srgbClr val="FFC24B"/>
          </a:solidFill>
          <a:ln/>
        </p:spPr>
        <p:txBody>
          <a:bodyPr/>
          <a:p/>
        </p:txBody>
      </p:sp>
      <p:sp>
        <p:nvSpPr>
          <p:cNvPr id="8" name="Text 6"/>
          <p:cNvSpPr/>
          <p:nvPr/>
        </p:nvSpPr>
        <p:spPr>
          <a:xfrm>
            <a:off x="914400" y="211226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920240"/>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Dovada unei înțelegeri.</a:t>
            </a:r>
            <a:endParaRPr lang="en-US" sz="1900" dirty="0"/>
          </a:p>
        </p:txBody>
      </p:sp>
      <p:sp>
        <p:nvSpPr>
          <p:cNvPr id="10" name="Shape 8"/>
          <p:cNvSpPr/>
          <p:nvPr/>
        </p:nvSpPr>
        <p:spPr>
          <a:xfrm>
            <a:off x="594360" y="2880360"/>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1" name="Shape 9"/>
          <p:cNvSpPr/>
          <p:nvPr/>
        </p:nvSpPr>
        <p:spPr>
          <a:xfrm>
            <a:off x="914400" y="3072384"/>
            <a:ext cx="420624" cy="420624"/>
          </a:xfrm>
          <a:prstGeom prst="ellipse">
            <a:avLst/>
          </a:prstGeom>
          <a:solidFill>
            <a:srgbClr val="FFC24B"/>
          </a:solidFill>
          <a:ln/>
        </p:spPr>
        <p:txBody>
          <a:bodyPr/>
          <a:p/>
        </p:txBody>
      </p:sp>
      <p:sp>
        <p:nvSpPr>
          <p:cNvPr id="12" name="Text 10"/>
          <p:cNvSpPr/>
          <p:nvPr/>
        </p:nvSpPr>
        <p:spPr>
          <a:xfrm>
            <a:off x="914400" y="30723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880360"/>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Un semnal care merită verificat.</a:t>
            </a:r>
            <a:endParaRPr lang="en-US" sz="1900" dirty="0"/>
          </a:p>
        </p:txBody>
      </p:sp>
      <p:sp>
        <p:nvSpPr>
          <p:cNvPr id="14" name="Shape 12"/>
          <p:cNvSpPr/>
          <p:nvPr/>
        </p:nvSpPr>
        <p:spPr>
          <a:xfrm>
            <a:off x="594360" y="3840480"/>
            <a:ext cx="10972800" cy="804672"/>
          </a:xfrm>
          <a:prstGeom prst="roundRect">
            <a:avLst>
              <a:gd name="adj" fmla="val 10227"/>
            </a:avLst>
          </a:prstGeom>
          <a:solidFill>
            <a:srgbClr val="1D1F2B"/>
          </a:solidFill>
          <a:ln w="12700">
            <a:solidFill>
              <a:srgbClr val="1D1F2B"/>
            </a:solidFill>
            <a:prstDash val="solid"/>
          </a:ln>
        </p:spPr>
        <p:txBody>
          <a:bodyPr/>
          <a:p/>
        </p:txBody>
      </p:sp>
      <p:sp>
        <p:nvSpPr>
          <p:cNvPr id="15" name="Shape 13"/>
          <p:cNvSpPr/>
          <p:nvPr/>
        </p:nvSpPr>
        <p:spPr>
          <a:xfrm>
            <a:off x="914400" y="4032504"/>
            <a:ext cx="420624" cy="420624"/>
          </a:xfrm>
          <a:prstGeom prst="ellipse">
            <a:avLst/>
          </a:prstGeom>
          <a:solidFill>
            <a:srgbClr val="FFC24B"/>
          </a:solidFill>
          <a:ln/>
        </p:spPr>
        <p:txBody>
          <a:bodyPr/>
          <a:p/>
        </p:txBody>
      </p:sp>
      <p:sp>
        <p:nvSpPr>
          <p:cNvPr id="16" name="Text 14"/>
          <p:cNvSpPr/>
          <p:nvPr/>
        </p:nvSpPr>
        <p:spPr>
          <a:xfrm>
            <a:off x="914400" y="40325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840480"/>
            <a:ext cx="9692640" cy="804672"/>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Un lucru normal, fără importanță.</a:t>
            </a:r>
            <a:endParaRPr lang="en-US" sz="1900" dirty="0"/>
          </a:p>
        </p:txBody>
      </p:sp>
      <p:sp>
        <p:nvSpPr>
          <p:cNvPr id="18" name="Text 16"/>
          <p:cNvSpPr/>
          <p:nvPr/>
        </p:nvSpPr>
        <p:spPr>
          <a:xfrm>
            <a:off x="594360" y="5029200"/>
            <a:ext cx="10972800" cy="548640"/>
          </a:xfrm>
          <a:prstGeom prst="rect">
            <a:avLst/>
          </a:prstGeom>
          <a:noFill/>
          <a:ln/>
        </p:spPr>
        <p:txBody>
          <a:bodyPr wrap="square" lIns="0" tIns="0" rIns="0" bIns="0" rtlCol="0" anchor="t"/>
          <a:lstStyle/>
          <a:p>
            <a:pPr indent="0" marL="0">
              <a:buNone/>
            </a:pPr>
            <a:r>
              <a:rPr lang="en-US" sz="2000" b="1" dirty="0">
                <a:solidFill>
                  <a:srgbClr val="FFC24B"/>
                </a:solidFill>
                <a:latin typeface="Palatino Linotype" pitchFamily="34" charset="0"/>
                <a:ea typeface="Palatino Linotype" pitchFamily="34" charset="-122"/>
                <a:cs typeface="Palatino Linotype" pitchFamily="34" charset="-120"/>
              </a:rPr>
              <a:t>Apoi, un minut în perechi: ce document ați solicita pentru a afla mai mult?</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RĂSPUNSUL LA VOT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B. Un semnal care merită verificat</a:t>
            </a:r>
            <a:endParaRPr lang="en-US" sz="3100" dirty="0"/>
          </a:p>
        </p:txBody>
      </p:sp>
      <p:sp>
        <p:nvSpPr>
          <p:cNvPr id="4" name="Text 2"/>
          <p:cNvSpPr/>
          <p:nvPr/>
        </p:nvSpPr>
        <p:spPr>
          <a:xfrm>
            <a:off x="594360" y="1463040"/>
            <a:ext cx="10972800" cy="82296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Indicatorul nu spune care explicație e adevărată; spune unde merită să vă uitați: în documentele procedurii, multe publice.</a:t>
            </a:r>
            <a:endParaRPr lang="en-US" sz="1800" dirty="0"/>
          </a:p>
        </p:txBody>
      </p:sp>
      <p:sp>
        <p:nvSpPr>
          <p:cNvPr id="5" name="Shape 3"/>
          <p:cNvSpPr/>
          <p:nvPr/>
        </p:nvSpPr>
        <p:spPr>
          <a:xfrm>
            <a:off x="777240" y="2514600"/>
            <a:ext cx="2286000" cy="1554480"/>
          </a:xfrm>
          <a:prstGeom prst="rect">
            <a:avLst/>
          </a:prstGeom>
          <a:solidFill>
            <a:srgbClr val="FFFFFF"/>
          </a:solidFill>
          <a:ln w="15875">
            <a:solidFill>
              <a:srgbClr val="0E7C6B"/>
            </a:solidFill>
            <a:prstDash val="solid"/>
          </a:ln>
          <a:effectLst>
            <a:outerShdw sx="100000" sy="100000" kx="0" ky="0" algn="bl" rotWithShape="0" blurRad="50800" dist="25400" dir="5400000">
              <a:srgbClr val="000000">
                <a:alpha val="12000"/>
              </a:srgbClr>
            </a:outerShdw>
          </a:effectLst>
        </p:spPr>
        <p:txBody>
          <a:bodyPr/>
          <a:p/>
        </p:txBody>
      </p:sp>
      <p:sp>
        <p:nvSpPr>
          <p:cNvPr id="6" name="Shape 4"/>
          <p:cNvSpPr/>
          <p:nvPr/>
        </p:nvSpPr>
        <p:spPr>
          <a:xfrm flipH="1">
            <a:off x="2743200" y="2514600"/>
            <a:ext cx="320040" cy="320040"/>
          </a:xfrm>
          <a:prstGeom prst="rtTriangle">
            <a:avLst/>
          </a:prstGeom>
          <a:solidFill>
            <a:srgbClr val="C9DCD7"/>
          </a:solidFill>
          <a:ln w="12700">
            <a:solidFill>
              <a:srgbClr val="0E7C6B"/>
            </a:solidFill>
            <a:prstDash val="solid"/>
          </a:ln>
        </p:spPr>
        <p:txBody>
          <a:bodyPr/>
          <a:p/>
        </p:txBody>
      </p:sp>
      <p:sp>
        <p:nvSpPr>
          <p:cNvPr id="7" name="Shape 5"/>
          <p:cNvSpPr/>
          <p:nvPr/>
        </p:nvSpPr>
        <p:spPr>
          <a:xfrm>
            <a:off x="1051560" y="3337560"/>
            <a:ext cx="1737360" cy="36576"/>
          </a:xfrm>
          <a:prstGeom prst="rect">
            <a:avLst/>
          </a:prstGeom>
          <a:solidFill>
            <a:srgbClr val="C9DCD7"/>
          </a:solidFill>
          <a:ln w="12700">
            <a:solidFill>
              <a:srgbClr val="C9DCD7"/>
            </a:solidFill>
            <a:prstDash val="solid"/>
          </a:ln>
        </p:spPr>
        <p:txBody>
          <a:bodyPr/>
          <a:p/>
        </p:txBody>
      </p:sp>
      <p:sp>
        <p:nvSpPr>
          <p:cNvPr id="8" name="Shape 6"/>
          <p:cNvSpPr/>
          <p:nvPr/>
        </p:nvSpPr>
        <p:spPr>
          <a:xfrm>
            <a:off x="1051560" y="3502152"/>
            <a:ext cx="1371600" cy="36576"/>
          </a:xfrm>
          <a:prstGeom prst="rect">
            <a:avLst/>
          </a:prstGeom>
          <a:solidFill>
            <a:srgbClr val="C9DCD7"/>
          </a:solidFill>
          <a:ln w="12700">
            <a:solidFill>
              <a:srgbClr val="C9DCD7"/>
            </a:solidFill>
            <a:prstDash val="solid"/>
          </a:ln>
        </p:spPr>
        <p:txBody>
          <a:bodyPr/>
          <a:p/>
        </p:txBody>
      </p:sp>
      <p:sp>
        <p:nvSpPr>
          <p:cNvPr id="9" name="Shape 7"/>
          <p:cNvSpPr/>
          <p:nvPr/>
        </p:nvSpPr>
        <p:spPr>
          <a:xfrm>
            <a:off x="1051560" y="3666744"/>
            <a:ext cx="1005840" cy="36576"/>
          </a:xfrm>
          <a:prstGeom prst="rect">
            <a:avLst/>
          </a:prstGeom>
          <a:solidFill>
            <a:srgbClr val="C9DCD7"/>
          </a:solidFill>
          <a:ln w="12700">
            <a:solidFill>
              <a:srgbClr val="C9DCD7"/>
            </a:solidFill>
            <a:prstDash val="solid"/>
          </a:ln>
        </p:spPr>
        <p:txBody>
          <a:bodyPr/>
          <a:p/>
        </p:txBody>
      </p:sp>
      <p:sp>
        <p:nvSpPr>
          <p:cNvPr id="10" name="Text 8"/>
          <p:cNvSpPr/>
          <p:nvPr/>
        </p:nvSpPr>
        <p:spPr>
          <a:xfrm>
            <a:off x="914400" y="2697480"/>
            <a:ext cx="1783080" cy="685800"/>
          </a:xfrm>
          <a:prstGeom prst="rect">
            <a:avLst/>
          </a:prstGeom>
          <a:noFill/>
          <a:ln/>
        </p:spPr>
        <p:txBody>
          <a:bodyPr wrap="square" lIns="0" tIns="0" rIns="0" bIns="0" rtlCol="0" anchor="ctr"/>
          <a:lstStyle/>
          <a:p>
            <a:pPr algn="ctr" indent="0" marL="0">
              <a:buNone/>
            </a:pPr>
            <a:r>
              <a:rPr lang="en-US" sz="1600" b="1" dirty="0">
                <a:solidFill>
                  <a:srgbClr val="0E7C6B"/>
                </a:solidFill>
                <a:latin typeface="Palatino Linotype" pitchFamily="34" charset="0"/>
                <a:ea typeface="Palatino Linotype" pitchFamily="34" charset="-122"/>
                <a:cs typeface="Palatino Linotype" pitchFamily="34" charset="-120"/>
              </a:rPr>
              <a:t>Anunțul</a:t>
            </a:r>
            <a:endParaRPr lang="en-US" sz="1600" dirty="0"/>
          </a:p>
        </p:txBody>
      </p:sp>
      <p:sp>
        <p:nvSpPr>
          <p:cNvPr id="11" name="Shape 9"/>
          <p:cNvSpPr/>
          <p:nvPr/>
        </p:nvSpPr>
        <p:spPr>
          <a:xfrm>
            <a:off x="3566160" y="2514600"/>
            <a:ext cx="2286000" cy="1554480"/>
          </a:xfrm>
          <a:prstGeom prst="rect">
            <a:avLst/>
          </a:prstGeom>
          <a:solidFill>
            <a:srgbClr val="FFFFFF"/>
          </a:solidFill>
          <a:ln w="15875">
            <a:solidFill>
              <a:srgbClr val="0E7C6B"/>
            </a:solidFill>
            <a:prstDash val="solid"/>
          </a:ln>
          <a:effectLst>
            <a:outerShdw sx="100000" sy="100000" kx="0" ky="0" algn="bl" rotWithShape="0" blurRad="50800" dist="25400" dir="5400000">
              <a:srgbClr val="000000">
                <a:alpha val="12000"/>
              </a:srgbClr>
            </a:outerShdw>
          </a:effectLst>
        </p:spPr>
        <p:txBody>
          <a:bodyPr/>
          <a:p/>
        </p:txBody>
      </p:sp>
      <p:sp>
        <p:nvSpPr>
          <p:cNvPr id="12" name="Shape 10"/>
          <p:cNvSpPr/>
          <p:nvPr/>
        </p:nvSpPr>
        <p:spPr>
          <a:xfrm flipH="1">
            <a:off x="5532120" y="2514600"/>
            <a:ext cx="320040" cy="320040"/>
          </a:xfrm>
          <a:prstGeom prst="rtTriangle">
            <a:avLst/>
          </a:prstGeom>
          <a:solidFill>
            <a:srgbClr val="C9DCD7"/>
          </a:solidFill>
          <a:ln w="12700">
            <a:solidFill>
              <a:srgbClr val="0E7C6B"/>
            </a:solidFill>
            <a:prstDash val="solid"/>
          </a:ln>
        </p:spPr>
        <p:txBody>
          <a:bodyPr/>
          <a:p/>
        </p:txBody>
      </p:sp>
      <p:sp>
        <p:nvSpPr>
          <p:cNvPr id="13" name="Shape 11"/>
          <p:cNvSpPr/>
          <p:nvPr/>
        </p:nvSpPr>
        <p:spPr>
          <a:xfrm>
            <a:off x="3840480" y="3337560"/>
            <a:ext cx="1737360" cy="36576"/>
          </a:xfrm>
          <a:prstGeom prst="rect">
            <a:avLst/>
          </a:prstGeom>
          <a:solidFill>
            <a:srgbClr val="C9DCD7"/>
          </a:solidFill>
          <a:ln w="12700">
            <a:solidFill>
              <a:srgbClr val="C9DCD7"/>
            </a:solidFill>
            <a:prstDash val="solid"/>
          </a:ln>
        </p:spPr>
        <p:txBody>
          <a:bodyPr/>
          <a:p/>
        </p:txBody>
      </p:sp>
      <p:sp>
        <p:nvSpPr>
          <p:cNvPr id="14" name="Shape 12"/>
          <p:cNvSpPr/>
          <p:nvPr/>
        </p:nvSpPr>
        <p:spPr>
          <a:xfrm>
            <a:off x="3840480" y="3502152"/>
            <a:ext cx="1371600" cy="36576"/>
          </a:xfrm>
          <a:prstGeom prst="rect">
            <a:avLst/>
          </a:prstGeom>
          <a:solidFill>
            <a:srgbClr val="C9DCD7"/>
          </a:solidFill>
          <a:ln w="12700">
            <a:solidFill>
              <a:srgbClr val="C9DCD7"/>
            </a:solidFill>
            <a:prstDash val="solid"/>
          </a:ln>
        </p:spPr>
        <p:txBody>
          <a:bodyPr/>
          <a:p/>
        </p:txBody>
      </p:sp>
      <p:sp>
        <p:nvSpPr>
          <p:cNvPr id="15" name="Shape 13"/>
          <p:cNvSpPr/>
          <p:nvPr/>
        </p:nvSpPr>
        <p:spPr>
          <a:xfrm>
            <a:off x="3840480" y="3666744"/>
            <a:ext cx="1005840" cy="36576"/>
          </a:xfrm>
          <a:prstGeom prst="rect">
            <a:avLst/>
          </a:prstGeom>
          <a:solidFill>
            <a:srgbClr val="C9DCD7"/>
          </a:solidFill>
          <a:ln w="12700">
            <a:solidFill>
              <a:srgbClr val="C9DCD7"/>
            </a:solidFill>
            <a:prstDash val="solid"/>
          </a:ln>
        </p:spPr>
        <p:txBody>
          <a:bodyPr/>
          <a:p/>
        </p:txBody>
      </p:sp>
      <p:sp>
        <p:nvSpPr>
          <p:cNvPr id="16" name="Text 14"/>
          <p:cNvSpPr/>
          <p:nvPr/>
        </p:nvSpPr>
        <p:spPr>
          <a:xfrm>
            <a:off x="3703320" y="2697480"/>
            <a:ext cx="1783080" cy="685800"/>
          </a:xfrm>
          <a:prstGeom prst="rect">
            <a:avLst/>
          </a:prstGeom>
          <a:noFill/>
          <a:ln/>
        </p:spPr>
        <p:txBody>
          <a:bodyPr wrap="square" lIns="0" tIns="0" rIns="0" bIns="0" rtlCol="0" anchor="ctr"/>
          <a:lstStyle/>
          <a:p>
            <a:pPr algn="ctr" indent="0" marL="0">
              <a:buNone/>
            </a:pPr>
            <a:r>
              <a:rPr lang="en-US" sz="1600" b="1" dirty="0">
                <a:solidFill>
                  <a:srgbClr val="0E7C6B"/>
                </a:solidFill>
                <a:latin typeface="Palatino Linotype" pitchFamily="34" charset="0"/>
                <a:ea typeface="Palatino Linotype" pitchFamily="34" charset="-122"/>
                <a:cs typeface="Palatino Linotype" pitchFamily="34" charset="-120"/>
              </a:rPr>
              <a:t>Caietul de sarcini</a:t>
            </a:r>
            <a:endParaRPr lang="en-US" sz="1600" dirty="0"/>
          </a:p>
        </p:txBody>
      </p:sp>
      <p:sp>
        <p:nvSpPr>
          <p:cNvPr id="17" name="Shape 15"/>
          <p:cNvSpPr/>
          <p:nvPr/>
        </p:nvSpPr>
        <p:spPr>
          <a:xfrm>
            <a:off x="6355080" y="2514600"/>
            <a:ext cx="2286000" cy="1554480"/>
          </a:xfrm>
          <a:prstGeom prst="rect">
            <a:avLst/>
          </a:prstGeom>
          <a:solidFill>
            <a:srgbClr val="FFFFFF"/>
          </a:solidFill>
          <a:ln w="15875">
            <a:solidFill>
              <a:srgbClr val="0E7C6B"/>
            </a:solidFill>
            <a:prstDash val="solid"/>
          </a:ln>
          <a:effectLst>
            <a:outerShdw sx="100000" sy="100000" kx="0" ky="0" algn="bl" rotWithShape="0" blurRad="50800" dist="25400" dir="5400000">
              <a:srgbClr val="000000">
                <a:alpha val="12000"/>
              </a:srgbClr>
            </a:outerShdw>
          </a:effectLst>
        </p:spPr>
        <p:txBody>
          <a:bodyPr/>
          <a:p/>
        </p:txBody>
      </p:sp>
      <p:sp>
        <p:nvSpPr>
          <p:cNvPr id="18" name="Shape 16"/>
          <p:cNvSpPr/>
          <p:nvPr/>
        </p:nvSpPr>
        <p:spPr>
          <a:xfrm flipH="1">
            <a:off x="8321040" y="2514600"/>
            <a:ext cx="320040" cy="320040"/>
          </a:xfrm>
          <a:prstGeom prst="rtTriangle">
            <a:avLst/>
          </a:prstGeom>
          <a:solidFill>
            <a:srgbClr val="C9DCD7"/>
          </a:solidFill>
          <a:ln w="12700">
            <a:solidFill>
              <a:srgbClr val="0E7C6B"/>
            </a:solidFill>
            <a:prstDash val="solid"/>
          </a:ln>
        </p:spPr>
        <p:txBody>
          <a:bodyPr/>
          <a:p/>
        </p:txBody>
      </p:sp>
      <p:sp>
        <p:nvSpPr>
          <p:cNvPr id="19" name="Shape 17"/>
          <p:cNvSpPr/>
          <p:nvPr/>
        </p:nvSpPr>
        <p:spPr>
          <a:xfrm>
            <a:off x="6629400" y="3337560"/>
            <a:ext cx="1737360" cy="36576"/>
          </a:xfrm>
          <a:prstGeom prst="rect">
            <a:avLst/>
          </a:prstGeom>
          <a:solidFill>
            <a:srgbClr val="C9DCD7"/>
          </a:solidFill>
          <a:ln w="12700">
            <a:solidFill>
              <a:srgbClr val="C9DCD7"/>
            </a:solidFill>
            <a:prstDash val="solid"/>
          </a:ln>
        </p:spPr>
        <p:txBody>
          <a:bodyPr/>
          <a:p/>
        </p:txBody>
      </p:sp>
      <p:sp>
        <p:nvSpPr>
          <p:cNvPr id="20" name="Shape 18"/>
          <p:cNvSpPr/>
          <p:nvPr/>
        </p:nvSpPr>
        <p:spPr>
          <a:xfrm>
            <a:off x="6629400" y="3502152"/>
            <a:ext cx="1371600" cy="36576"/>
          </a:xfrm>
          <a:prstGeom prst="rect">
            <a:avLst/>
          </a:prstGeom>
          <a:solidFill>
            <a:srgbClr val="C9DCD7"/>
          </a:solidFill>
          <a:ln w="12700">
            <a:solidFill>
              <a:srgbClr val="C9DCD7"/>
            </a:solidFill>
            <a:prstDash val="solid"/>
          </a:ln>
        </p:spPr>
        <p:txBody>
          <a:bodyPr/>
          <a:p/>
        </p:txBody>
      </p:sp>
      <p:sp>
        <p:nvSpPr>
          <p:cNvPr id="21" name="Shape 19"/>
          <p:cNvSpPr/>
          <p:nvPr/>
        </p:nvSpPr>
        <p:spPr>
          <a:xfrm>
            <a:off x="6629400" y="3666744"/>
            <a:ext cx="1005840" cy="36576"/>
          </a:xfrm>
          <a:prstGeom prst="rect">
            <a:avLst/>
          </a:prstGeom>
          <a:solidFill>
            <a:srgbClr val="C9DCD7"/>
          </a:solidFill>
          <a:ln w="12700">
            <a:solidFill>
              <a:srgbClr val="C9DCD7"/>
            </a:solidFill>
            <a:prstDash val="solid"/>
          </a:ln>
        </p:spPr>
        <p:txBody>
          <a:bodyPr/>
          <a:p/>
        </p:txBody>
      </p:sp>
      <p:sp>
        <p:nvSpPr>
          <p:cNvPr id="22" name="Text 20"/>
          <p:cNvSpPr/>
          <p:nvPr/>
        </p:nvSpPr>
        <p:spPr>
          <a:xfrm>
            <a:off x="6492240" y="2697480"/>
            <a:ext cx="1783080" cy="685800"/>
          </a:xfrm>
          <a:prstGeom prst="rect">
            <a:avLst/>
          </a:prstGeom>
          <a:noFill/>
          <a:ln/>
        </p:spPr>
        <p:txBody>
          <a:bodyPr wrap="square" lIns="0" tIns="0" rIns="0" bIns="0" rtlCol="0" anchor="ctr"/>
          <a:lstStyle/>
          <a:p>
            <a:pPr algn="ctr" indent="0" marL="0">
              <a:buNone/>
            </a:pPr>
            <a:r>
              <a:rPr lang="en-US" sz="1600" b="1" dirty="0">
                <a:solidFill>
                  <a:srgbClr val="0E7C6B"/>
                </a:solidFill>
                <a:latin typeface="Palatino Linotype" pitchFamily="34" charset="0"/>
                <a:ea typeface="Palatino Linotype" pitchFamily="34" charset="-122"/>
                <a:cs typeface="Palatino Linotype" pitchFamily="34" charset="-120"/>
              </a:rPr>
              <a:t>Raportul comisiei de evaluare</a:t>
            </a:r>
            <a:endParaRPr lang="en-US" sz="1600" dirty="0"/>
          </a:p>
        </p:txBody>
      </p:sp>
      <p:sp>
        <p:nvSpPr>
          <p:cNvPr id="23" name="Shape 21"/>
          <p:cNvSpPr/>
          <p:nvPr/>
        </p:nvSpPr>
        <p:spPr>
          <a:xfrm>
            <a:off x="9144000" y="2514600"/>
            <a:ext cx="2286000" cy="1554480"/>
          </a:xfrm>
          <a:prstGeom prst="rect">
            <a:avLst/>
          </a:prstGeom>
          <a:solidFill>
            <a:srgbClr val="FFFFFF"/>
          </a:solidFill>
          <a:ln w="15875">
            <a:solidFill>
              <a:srgbClr val="0E7C6B"/>
            </a:solidFill>
            <a:prstDash val="solid"/>
          </a:ln>
          <a:effectLst>
            <a:outerShdw sx="100000" sy="100000" kx="0" ky="0" algn="bl" rotWithShape="0" blurRad="50800" dist="25400" dir="5400000">
              <a:srgbClr val="000000">
                <a:alpha val="12000"/>
              </a:srgbClr>
            </a:outerShdw>
          </a:effectLst>
        </p:spPr>
        <p:txBody>
          <a:bodyPr/>
          <a:p/>
        </p:txBody>
      </p:sp>
      <p:sp>
        <p:nvSpPr>
          <p:cNvPr id="24" name="Shape 22"/>
          <p:cNvSpPr/>
          <p:nvPr/>
        </p:nvSpPr>
        <p:spPr>
          <a:xfrm flipH="1">
            <a:off x="11109960" y="2514600"/>
            <a:ext cx="320040" cy="320040"/>
          </a:xfrm>
          <a:prstGeom prst="rtTriangle">
            <a:avLst/>
          </a:prstGeom>
          <a:solidFill>
            <a:srgbClr val="C9DCD7"/>
          </a:solidFill>
          <a:ln w="12700">
            <a:solidFill>
              <a:srgbClr val="0E7C6B"/>
            </a:solidFill>
            <a:prstDash val="solid"/>
          </a:ln>
        </p:spPr>
        <p:txBody>
          <a:bodyPr/>
          <a:p/>
        </p:txBody>
      </p:sp>
      <p:sp>
        <p:nvSpPr>
          <p:cNvPr id="25" name="Shape 23"/>
          <p:cNvSpPr/>
          <p:nvPr/>
        </p:nvSpPr>
        <p:spPr>
          <a:xfrm>
            <a:off x="9418320" y="3337560"/>
            <a:ext cx="1737360" cy="36576"/>
          </a:xfrm>
          <a:prstGeom prst="rect">
            <a:avLst/>
          </a:prstGeom>
          <a:solidFill>
            <a:srgbClr val="C9DCD7"/>
          </a:solidFill>
          <a:ln w="12700">
            <a:solidFill>
              <a:srgbClr val="C9DCD7"/>
            </a:solidFill>
            <a:prstDash val="solid"/>
          </a:ln>
        </p:spPr>
        <p:txBody>
          <a:bodyPr/>
          <a:p/>
        </p:txBody>
      </p:sp>
      <p:sp>
        <p:nvSpPr>
          <p:cNvPr id="26" name="Shape 24"/>
          <p:cNvSpPr/>
          <p:nvPr/>
        </p:nvSpPr>
        <p:spPr>
          <a:xfrm>
            <a:off x="9418320" y="3502152"/>
            <a:ext cx="1371600" cy="36576"/>
          </a:xfrm>
          <a:prstGeom prst="rect">
            <a:avLst/>
          </a:prstGeom>
          <a:solidFill>
            <a:srgbClr val="C9DCD7"/>
          </a:solidFill>
          <a:ln w="12700">
            <a:solidFill>
              <a:srgbClr val="C9DCD7"/>
            </a:solidFill>
            <a:prstDash val="solid"/>
          </a:ln>
        </p:spPr>
        <p:txBody>
          <a:bodyPr/>
          <a:p/>
        </p:txBody>
      </p:sp>
      <p:sp>
        <p:nvSpPr>
          <p:cNvPr id="27" name="Shape 25"/>
          <p:cNvSpPr/>
          <p:nvPr/>
        </p:nvSpPr>
        <p:spPr>
          <a:xfrm>
            <a:off x="9418320" y="3666744"/>
            <a:ext cx="1005840" cy="36576"/>
          </a:xfrm>
          <a:prstGeom prst="rect">
            <a:avLst/>
          </a:prstGeom>
          <a:solidFill>
            <a:srgbClr val="C9DCD7"/>
          </a:solidFill>
          <a:ln w="12700">
            <a:solidFill>
              <a:srgbClr val="C9DCD7"/>
            </a:solidFill>
            <a:prstDash val="solid"/>
          </a:ln>
        </p:spPr>
        <p:txBody>
          <a:bodyPr/>
          <a:p/>
        </p:txBody>
      </p:sp>
      <p:sp>
        <p:nvSpPr>
          <p:cNvPr id="28" name="Text 26"/>
          <p:cNvSpPr/>
          <p:nvPr/>
        </p:nvSpPr>
        <p:spPr>
          <a:xfrm>
            <a:off x="9281160" y="2697480"/>
            <a:ext cx="1783080" cy="685800"/>
          </a:xfrm>
          <a:prstGeom prst="rect">
            <a:avLst/>
          </a:prstGeom>
          <a:noFill/>
          <a:ln/>
        </p:spPr>
        <p:txBody>
          <a:bodyPr wrap="square" lIns="0" tIns="0" rIns="0" bIns="0" rtlCol="0" anchor="ctr"/>
          <a:lstStyle/>
          <a:p>
            <a:pPr algn="ctr" indent="0" marL="0">
              <a:buNone/>
            </a:pPr>
            <a:r>
              <a:rPr lang="en-US" sz="1600" b="1" dirty="0">
                <a:solidFill>
                  <a:srgbClr val="0E7C6B"/>
                </a:solidFill>
                <a:latin typeface="Palatino Linotype" pitchFamily="34" charset="0"/>
                <a:ea typeface="Palatino Linotype" pitchFamily="34" charset="-122"/>
                <a:cs typeface="Palatino Linotype" pitchFamily="34" charset="-120"/>
              </a:rPr>
              <a:t>Contractul</a:t>
            </a:r>
            <a:endParaRPr lang="en-US" sz="1600" dirty="0"/>
          </a:p>
        </p:txBody>
      </p:sp>
      <p:sp>
        <p:nvSpPr>
          <p:cNvPr id="29" name="Text 27"/>
          <p:cNvSpPr/>
          <p:nvPr/>
        </p:nvSpPr>
        <p:spPr>
          <a:xfrm>
            <a:off x="594360" y="4297680"/>
            <a:ext cx="10972800" cy="640080"/>
          </a:xfrm>
          <a:prstGeom prst="rect">
            <a:avLst/>
          </a:prstGeom>
          <a:noFill/>
          <a:ln/>
        </p:spPr>
        <p:txBody>
          <a:bodyPr wrap="square" lIns="0" tIns="0" rIns="0" bIns="0" rtlCol="0" anchor="t"/>
          <a:lstStyle/>
          <a:p>
            <a:pPr indent="0" marL="0">
              <a:buNone/>
            </a:pPr>
            <a:r>
              <a:rPr lang="en-US" sz="1600" dirty="0">
                <a:solidFill>
                  <a:srgbClr val="3A3C44"/>
                </a:solidFill>
                <a:latin typeface="Palatino Linotype" pitchFamily="34" charset="0"/>
                <a:ea typeface="Palatino Linotype" pitchFamily="34" charset="-122"/>
                <a:cs typeface="Palatino Linotype" pitchFamily="34" charset="-120"/>
              </a:rPr>
              <a:t>Achizițiile sunt, paradoxal, o zonă expusă riscului care lasă, totodată, urme scrise.</a:t>
            </a:r>
            <a:endParaRPr lang="en-US" sz="1600" dirty="0"/>
          </a:p>
        </p:txBody>
      </p:sp>
      <p:sp>
        <p:nvSpPr>
          <p:cNvPr id="30" name="Text 28"/>
          <p:cNvSpPr/>
          <p:nvPr/>
        </p:nvSpPr>
        <p:spPr>
          <a:xfrm>
            <a:off x="594360" y="5074920"/>
            <a:ext cx="10972800" cy="640080"/>
          </a:xfrm>
          <a:prstGeom prst="rect">
            <a:avLst/>
          </a:prstGeom>
          <a:noFill/>
          <a:ln/>
        </p:spPr>
        <p:txBody>
          <a:bodyPr wrap="square" lIns="0" tIns="0" rIns="0" bIns="0" rtlCol="0" anchor="t"/>
          <a:lstStyle/>
          <a:p>
            <a:pPr indent="0" marL="0">
              <a:buNone/>
            </a:pPr>
            <a:r>
              <a:rPr lang="en-US" sz="2600" b="1" dirty="0">
                <a:solidFill>
                  <a:srgbClr val="B02532"/>
                </a:solidFill>
                <a:latin typeface="Palatino Linotype" pitchFamily="34" charset="0"/>
                <a:ea typeface="Palatino Linotype" pitchFamily="34" charset="-122"/>
                <a:cs typeface="Palatino Linotype" pitchFamily="34" charset="-120"/>
              </a:rPr>
              <a:t>Plicul nu lasă nicio urmă. Contractul lasă o mulțime.</a:t>
            </a:r>
            <a:endParaRPr lang="en-US" sz="2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COMISIA EUROPEANĂ · ACHIZIȚII PUBLICE · 2024</a:t>
            </a:r>
            <a:endParaRPr lang="en-US" sz="1300" dirty="0"/>
          </a:p>
        </p:txBody>
      </p:sp>
      <p:sp>
        <p:nvSpPr>
          <p:cNvPr id="3" name="Text 1"/>
          <p:cNvSpPr/>
          <p:nvPr/>
        </p:nvSpPr>
        <p:spPr>
          <a:xfrm>
            <a:off x="594360" y="713232"/>
            <a:ext cx="10972800" cy="7315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Aproape jumătate dintre contracte, cu un singur ofertant</a:t>
            </a:r>
            <a:endParaRPr lang="en-US" sz="3000" dirty="0"/>
          </a:p>
        </p:txBody>
      </p:sp>
      <p:sp>
        <p:nvSpPr>
          <p:cNvPr id="4" name="Shape 2"/>
          <p:cNvSpPr/>
          <p:nvPr/>
        </p:nvSpPr>
        <p:spPr>
          <a:xfrm>
            <a:off x="2651760" y="1920240"/>
            <a:ext cx="1737360" cy="2880360"/>
          </a:xfrm>
          <a:prstGeom prst="rect">
            <a:avLst/>
          </a:prstGeom>
          <a:solidFill>
            <a:srgbClr val="D9EDE7"/>
          </a:solidFill>
          <a:ln w="12700">
            <a:solidFill>
              <a:srgbClr val="D9EDE7"/>
            </a:solidFill>
            <a:prstDash val="solid"/>
          </a:ln>
        </p:spPr>
        <p:txBody>
          <a:bodyPr/>
          <a:p/>
        </p:txBody>
      </p:sp>
      <p:sp>
        <p:nvSpPr>
          <p:cNvPr id="5" name="Shape 3"/>
          <p:cNvSpPr/>
          <p:nvPr/>
        </p:nvSpPr>
        <p:spPr>
          <a:xfrm>
            <a:off x="4389120" y="1920240"/>
            <a:ext cx="1737360" cy="2880360"/>
          </a:xfrm>
          <a:prstGeom prst="rect">
            <a:avLst/>
          </a:prstGeom>
          <a:solidFill>
            <a:srgbClr val="EEEBE3"/>
          </a:solidFill>
          <a:ln w="12700">
            <a:solidFill>
              <a:srgbClr val="EEEBE3"/>
            </a:solidFill>
            <a:prstDash val="solid"/>
          </a:ln>
        </p:spPr>
        <p:txBody>
          <a:bodyPr/>
          <a:p/>
        </p:txBody>
      </p:sp>
      <p:sp>
        <p:nvSpPr>
          <p:cNvPr id="6" name="Shape 4"/>
          <p:cNvSpPr/>
          <p:nvPr/>
        </p:nvSpPr>
        <p:spPr>
          <a:xfrm>
            <a:off x="6126480" y="1920240"/>
            <a:ext cx="5212080" cy="2880360"/>
          </a:xfrm>
          <a:prstGeom prst="rect">
            <a:avLst/>
          </a:prstGeom>
          <a:solidFill>
            <a:srgbClr val="F6E3E5"/>
          </a:solidFill>
          <a:ln w="12700">
            <a:solidFill>
              <a:srgbClr val="F6E3E5"/>
            </a:solidFill>
            <a:prstDash val="solid"/>
          </a:ln>
        </p:spPr>
        <p:txBody>
          <a:bodyPr/>
          <a:p/>
        </p:txBody>
      </p:sp>
      <p:sp>
        <p:nvSpPr>
          <p:cNvPr id="7" name="Text 5"/>
          <p:cNvSpPr/>
          <p:nvPr/>
        </p:nvSpPr>
        <p:spPr>
          <a:xfrm>
            <a:off x="2651760" y="4873752"/>
            <a:ext cx="1737360" cy="457200"/>
          </a:xfrm>
          <a:prstGeom prst="rect">
            <a:avLst/>
          </a:prstGeom>
          <a:noFill/>
          <a:ln/>
        </p:spPr>
        <p:txBody>
          <a:bodyPr wrap="square" lIns="0" tIns="0" rIns="0" bIns="0" rtlCol="0" anchor="t"/>
          <a:lstStyle/>
          <a:p>
            <a:pPr algn="ctr" indent="0" marL="0">
              <a:buNone/>
            </a:pPr>
            <a:r>
              <a:rPr lang="en-US" sz="1150" b="1" dirty="0">
                <a:solidFill>
                  <a:srgbClr val="0E7C6B"/>
                </a:solidFill>
                <a:latin typeface="Palatino Linotype" pitchFamily="34" charset="0"/>
                <a:ea typeface="Palatino Linotype" pitchFamily="34" charset="-122"/>
                <a:cs typeface="Palatino Linotype" pitchFamily="34" charset="-120"/>
              </a:rPr>
              <a:t>satisfăcător</a:t>
            </a:r>
            <a:endParaRPr lang="en-US" sz="1150" dirty="0"/>
          </a:p>
          <a:p>
            <a:pPr algn="ctr" indent="0" marL="0">
              <a:buNone/>
            </a:pPr>
            <a:r>
              <a:rPr lang="en-US" sz="1150" b="1" dirty="0">
                <a:solidFill>
                  <a:srgbClr val="0E7C6B"/>
                </a:solidFill>
                <a:latin typeface="Palatino Linotype" pitchFamily="34" charset="0"/>
                <a:ea typeface="Palatino Linotype" pitchFamily="34" charset="-122"/>
                <a:cs typeface="Palatino Linotype" pitchFamily="34" charset="-120"/>
              </a:rPr>
              <a:t>≤ 10%</a:t>
            </a:r>
            <a:endParaRPr lang="en-US" sz="1150" dirty="0"/>
          </a:p>
        </p:txBody>
      </p:sp>
      <p:sp>
        <p:nvSpPr>
          <p:cNvPr id="8" name="Text 6"/>
          <p:cNvSpPr/>
          <p:nvPr/>
        </p:nvSpPr>
        <p:spPr>
          <a:xfrm>
            <a:off x="6126480" y="4873752"/>
            <a:ext cx="5212080" cy="274320"/>
          </a:xfrm>
          <a:prstGeom prst="rect">
            <a:avLst/>
          </a:prstGeom>
          <a:noFill/>
          <a:ln/>
        </p:spPr>
        <p:txBody>
          <a:bodyPr wrap="square" lIns="0" tIns="0" rIns="0" bIns="0" rtlCol="0" anchor="t"/>
          <a:lstStyle/>
          <a:p>
            <a:pPr algn="ctr" indent="0" marL="0">
              <a:buNone/>
            </a:pPr>
            <a:r>
              <a:rPr lang="en-US" sz="1150" b="1" dirty="0">
                <a:solidFill>
                  <a:srgbClr val="B02532"/>
                </a:solidFill>
                <a:latin typeface="Palatino Linotype" pitchFamily="34" charset="0"/>
                <a:ea typeface="Palatino Linotype" pitchFamily="34" charset="-122"/>
                <a:cs typeface="Palatino Linotype" pitchFamily="34" charset="-120"/>
              </a:rPr>
              <a:t>nesatisfăcător: peste 20%</a:t>
            </a:r>
            <a:endParaRPr lang="en-US" sz="1150" dirty="0"/>
          </a:p>
        </p:txBody>
      </p:sp>
      <p:sp>
        <p:nvSpPr>
          <p:cNvPr id="9" name="Shape 7"/>
          <p:cNvSpPr/>
          <p:nvPr/>
        </p:nvSpPr>
        <p:spPr>
          <a:xfrm>
            <a:off x="2647188" y="1920240"/>
            <a:ext cx="9144" cy="2880360"/>
          </a:xfrm>
          <a:prstGeom prst="rect">
            <a:avLst/>
          </a:prstGeom>
          <a:solidFill>
            <a:srgbClr val="FFFFFF"/>
          </a:solidFill>
          <a:ln/>
        </p:spPr>
        <p:txBody>
          <a:bodyPr/>
          <a:p/>
        </p:txBody>
      </p:sp>
      <p:sp>
        <p:nvSpPr>
          <p:cNvPr id="10" name="Shape 8"/>
          <p:cNvSpPr/>
          <p:nvPr/>
        </p:nvSpPr>
        <p:spPr>
          <a:xfrm>
            <a:off x="4384548" y="1920240"/>
            <a:ext cx="9144" cy="2880360"/>
          </a:xfrm>
          <a:prstGeom prst="rect">
            <a:avLst/>
          </a:prstGeom>
          <a:solidFill>
            <a:srgbClr val="FFFFFF"/>
          </a:solidFill>
          <a:ln/>
        </p:spPr>
        <p:txBody>
          <a:bodyPr/>
          <a:p/>
        </p:txBody>
      </p:sp>
      <p:sp>
        <p:nvSpPr>
          <p:cNvPr id="11" name="Text 9"/>
          <p:cNvSpPr/>
          <p:nvPr/>
        </p:nvSpPr>
        <p:spPr>
          <a:xfrm>
            <a:off x="4069080" y="1627632"/>
            <a:ext cx="640080" cy="22860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10%</a:t>
            </a:r>
            <a:endParaRPr lang="en-US" sz="1050" dirty="0"/>
          </a:p>
        </p:txBody>
      </p:sp>
      <p:sp>
        <p:nvSpPr>
          <p:cNvPr id="12" name="Shape 10"/>
          <p:cNvSpPr/>
          <p:nvPr/>
        </p:nvSpPr>
        <p:spPr>
          <a:xfrm>
            <a:off x="6121908" y="1920240"/>
            <a:ext cx="9144" cy="2880360"/>
          </a:xfrm>
          <a:prstGeom prst="rect">
            <a:avLst/>
          </a:prstGeom>
          <a:solidFill>
            <a:srgbClr val="FFFFFF"/>
          </a:solidFill>
          <a:ln/>
        </p:spPr>
        <p:txBody>
          <a:bodyPr/>
          <a:p/>
        </p:txBody>
      </p:sp>
      <p:sp>
        <p:nvSpPr>
          <p:cNvPr id="13" name="Text 11"/>
          <p:cNvSpPr/>
          <p:nvPr/>
        </p:nvSpPr>
        <p:spPr>
          <a:xfrm>
            <a:off x="5806440" y="1627632"/>
            <a:ext cx="640080" cy="22860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20%</a:t>
            </a:r>
            <a:endParaRPr lang="en-US" sz="1050" dirty="0"/>
          </a:p>
        </p:txBody>
      </p:sp>
      <p:sp>
        <p:nvSpPr>
          <p:cNvPr id="14" name="Shape 12"/>
          <p:cNvSpPr/>
          <p:nvPr/>
        </p:nvSpPr>
        <p:spPr>
          <a:xfrm>
            <a:off x="7859268" y="1920240"/>
            <a:ext cx="9144" cy="2880360"/>
          </a:xfrm>
          <a:prstGeom prst="rect">
            <a:avLst/>
          </a:prstGeom>
          <a:solidFill>
            <a:srgbClr val="FFFFFF"/>
          </a:solidFill>
          <a:ln/>
        </p:spPr>
        <p:txBody>
          <a:bodyPr/>
          <a:p/>
        </p:txBody>
      </p:sp>
      <p:sp>
        <p:nvSpPr>
          <p:cNvPr id="15" name="Text 13"/>
          <p:cNvSpPr/>
          <p:nvPr/>
        </p:nvSpPr>
        <p:spPr>
          <a:xfrm>
            <a:off x="7543800" y="1627632"/>
            <a:ext cx="640080" cy="22860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30%</a:t>
            </a:r>
            <a:endParaRPr lang="en-US" sz="1050" dirty="0"/>
          </a:p>
        </p:txBody>
      </p:sp>
      <p:sp>
        <p:nvSpPr>
          <p:cNvPr id="16" name="Shape 14"/>
          <p:cNvSpPr/>
          <p:nvPr/>
        </p:nvSpPr>
        <p:spPr>
          <a:xfrm>
            <a:off x="9596628" y="1920240"/>
            <a:ext cx="9144" cy="2880360"/>
          </a:xfrm>
          <a:prstGeom prst="rect">
            <a:avLst/>
          </a:prstGeom>
          <a:solidFill>
            <a:srgbClr val="FFFFFF"/>
          </a:solidFill>
          <a:ln/>
        </p:spPr>
        <p:txBody>
          <a:bodyPr/>
          <a:p/>
        </p:txBody>
      </p:sp>
      <p:sp>
        <p:nvSpPr>
          <p:cNvPr id="17" name="Text 15"/>
          <p:cNvSpPr/>
          <p:nvPr/>
        </p:nvSpPr>
        <p:spPr>
          <a:xfrm>
            <a:off x="9281160" y="1627632"/>
            <a:ext cx="640080" cy="228600"/>
          </a:xfrm>
          <a:prstGeom prst="rect">
            <a:avLst/>
          </a:prstGeom>
          <a:noFill/>
          <a:ln/>
        </p:spPr>
        <p:txBody>
          <a:bodyPr wrap="square" lIns="0" tIns="0" rIns="0" bIns="0" rtlCol="0" anchor="t"/>
          <a:lstStyle/>
          <a:p>
            <a:pPr algn="ctr" indent="0" marL="0">
              <a:buNone/>
            </a:pPr>
            <a:r>
              <a:rPr lang="en-US" sz="1050" dirty="0">
                <a:solidFill>
                  <a:srgbClr val="585A64"/>
                </a:solidFill>
                <a:latin typeface="Palatino Linotype" pitchFamily="34" charset="0"/>
                <a:ea typeface="Palatino Linotype" pitchFamily="34" charset="-122"/>
                <a:cs typeface="Palatino Linotype" pitchFamily="34" charset="-120"/>
              </a:rPr>
              <a:t>40%</a:t>
            </a:r>
            <a:endParaRPr lang="en-US" sz="1050" dirty="0"/>
          </a:p>
        </p:txBody>
      </p:sp>
      <p:sp>
        <p:nvSpPr>
          <p:cNvPr id="18" name="Shape 16"/>
          <p:cNvSpPr/>
          <p:nvPr/>
        </p:nvSpPr>
        <p:spPr>
          <a:xfrm>
            <a:off x="11333988" y="1920240"/>
            <a:ext cx="9144" cy="2880360"/>
          </a:xfrm>
          <a:prstGeom prst="rect">
            <a:avLst/>
          </a:prstGeom>
          <a:solidFill>
            <a:srgbClr val="FFFFFF"/>
          </a:solidFill>
          <a:ln/>
        </p:spPr>
        <p:txBody>
          <a:bodyPr/>
          <a:p/>
        </p:txBody>
      </p:sp>
      <p:sp>
        <p:nvSpPr>
          <p:cNvPr id="19" name="Text 17"/>
          <p:cNvSpPr/>
          <p:nvPr/>
        </p:nvSpPr>
        <p:spPr>
          <a:xfrm>
            <a:off x="594360" y="2331720"/>
            <a:ext cx="1965960" cy="868680"/>
          </a:xfrm>
          <a:prstGeom prst="rect">
            <a:avLst/>
          </a:prstGeom>
          <a:noFill/>
          <a:ln/>
        </p:spPr>
        <p:txBody>
          <a:bodyPr wrap="square" lIns="0" tIns="0" rIns="0" bIns="0" rtlCol="0" anchor="ctr"/>
          <a:lstStyle/>
          <a:p>
            <a:pPr algn="r" indent="0" marL="0">
              <a:buNone/>
            </a:pPr>
            <a:r>
              <a:rPr lang="en-US" sz="1700" b="1" dirty="0">
                <a:solidFill>
                  <a:srgbClr val="11121A"/>
                </a:solidFill>
                <a:latin typeface="Palatino Linotype" pitchFamily="34" charset="0"/>
                <a:ea typeface="Palatino Linotype" pitchFamily="34" charset="-122"/>
                <a:cs typeface="Palatino Linotype" pitchFamily="34" charset="-120"/>
              </a:rPr>
              <a:t>România</a:t>
            </a:r>
            <a:endParaRPr lang="en-US" sz="1700" dirty="0"/>
          </a:p>
        </p:txBody>
      </p:sp>
      <p:sp>
        <p:nvSpPr>
          <p:cNvPr id="20" name="Shape 18"/>
          <p:cNvSpPr/>
          <p:nvPr/>
        </p:nvSpPr>
        <p:spPr>
          <a:xfrm>
            <a:off x="2651760" y="2331720"/>
            <a:ext cx="7644384" cy="868680"/>
          </a:xfrm>
          <a:prstGeom prst="rect">
            <a:avLst/>
          </a:prstGeom>
          <a:solidFill>
            <a:srgbClr val="B02532"/>
          </a:solidFill>
          <a:ln w="12700">
            <a:solidFill>
              <a:srgbClr val="B02532"/>
            </a:solidFill>
            <a:prstDash val="solid"/>
          </a:ln>
        </p:spPr>
        <p:txBody>
          <a:bodyPr/>
          <a:p/>
        </p:txBody>
      </p:sp>
      <p:sp>
        <p:nvSpPr>
          <p:cNvPr id="21" name="Text 19"/>
          <p:cNvSpPr/>
          <p:nvPr/>
        </p:nvSpPr>
        <p:spPr>
          <a:xfrm>
            <a:off x="10433304" y="2331720"/>
            <a:ext cx="1371600" cy="868680"/>
          </a:xfrm>
          <a:prstGeom prst="rect">
            <a:avLst/>
          </a:prstGeom>
          <a:noFill/>
          <a:ln/>
        </p:spPr>
        <p:txBody>
          <a:bodyPr wrap="square" lIns="0" tIns="0" rIns="0" bIns="0" rtlCol="0" anchor="ctr"/>
          <a:lstStyle/>
          <a:p>
            <a:pPr indent="0" marL="0">
              <a:buNone/>
            </a:pPr>
            <a:r>
              <a:rPr lang="en-US" sz="3400" b="1" dirty="0">
                <a:solidFill>
                  <a:srgbClr val="B02532"/>
                </a:solidFill>
                <a:latin typeface="Palatino Linotype" pitchFamily="34" charset="0"/>
                <a:ea typeface="Palatino Linotype" pitchFamily="34" charset="-122"/>
                <a:cs typeface="Palatino Linotype" pitchFamily="34" charset="-120"/>
              </a:rPr>
              <a:t>44%</a:t>
            </a:r>
            <a:endParaRPr lang="en-US" sz="3400" dirty="0"/>
          </a:p>
        </p:txBody>
      </p:sp>
      <p:sp>
        <p:nvSpPr>
          <p:cNvPr id="22" name="Text 20"/>
          <p:cNvSpPr/>
          <p:nvPr/>
        </p:nvSpPr>
        <p:spPr>
          <a:xfrm>
            <a:off x="594360" y="3611880"/>
            <a:ext cx="1965960" cy="868680"/>
          </a:xfrm>
          <a:prstGeom prst="rect">
            <a:avLst/>
          </a:prstGeom>
          <a:noFill/>
          <a:ln/>
        </p:spPr>
        <p:txBody>
          <a:bodyPr wrap="square" lIns="0" tIns="0" rIns="0" bIns="0" rtlCol="0" anchor="ctr"/>
          <a:lstStyle/>
          <a:p>
            <a:pPr algn="r" indent="0" marL="0">
              <a:buNone/>
            </a:pPr>
            <a:r>
              <a:rPr lang="en-US" sz="1700" b="1" dirty="0">
                <a:solidFill>
                  <a:srgbClr val="11121A"/>
                </a:solidFill>
                <a:latin typeface="Palatino Linotype" pitchFamily="34" charset="0"/>
                <a:ea typeface="Palatino Linotype" pitchFamily="34" charset="-122"/>
                <a:cs typeface="Palatino Linotype" pitchFamily="34" charset="-120"/>
              </a:rPr>
              <a:t>O țară tipică din UE*</a:t>
            </a:r>
            <a:endParaRPr lang="en-US" sz="1700" dirty="0"/>
          </a:p>
        </p:txBody>
      </p:sp>
      <p:sp>
        <p:nvSpPr>
          <p:cNvPr id="23" name="Shape 21"/>
          <p:cNvSpPr/>
          <p:nvPr/>
        </p:nvSpPr>
        <p:spPr>
          <a:xfrm>
            <a:off x="2651760" y="3611880"/>
            <a:ext cx="4864608" cy="868680"/>
          </a:xfrm>
          <a:prstGeom prst="rect">
            <a:avLst/>
          </a:prstGeom>
          <a:solidFill>
            <a:srgbClr val="585A64"/>
          </a:solidFill>
          <a:ln w="12700">
            <a:solidFill>
              <a:srgbClr val="585A64"/>
            </a:solidFill>
            <a:prstDash val="solid"/>
          </a:ln>
        </p:spPr>
        <p:txBody>
          <a:bodyPr/>
          <a:p/>
        </p:txBody>
      </p:sp>
      <p:sp>
        <p:nvSpPr>
          <p:cNvPr id="24" name="Text 22"/>
          <p:cNvSpPr/>
          <p:nvPr/>
        </p:nvSpPr>
        <p:spPr>
          <a:xfrm>
            <a:off x="7653528" y="3611880"/>
            <a:ext cx="1371600" cy="868680"/>
          </a:xfrm>
          <a:prstGeom prst="rect">
            <a:avLst/>
          </a:prstGeom>
          <a:noFill/>
          <a:ln/>
        </p:spPr>
        <p:txBody>
          <a:bodyPr wrap="square" lIns="0" tIns="0" rIns="0" bIns="0" rtlCol="0" anchor="ctr"/>
          <a:lstStyle/>
          <a:p>
            <a:pPr indent="0" marL="0">
              <a:buNone/>
            </a:pPr>
            <a:r>
              <a:rPr lang="en-US" sz="3400" b="1" dirty="0">
                <a:solidFill>
                  <a:srgbClr val="585A64"/>
                </a:solidFill>
                <a:latin typeface="Palatino Linotype" pitchFamily="34" charset="0"/>
                <a:ea typeface="Palatino Linotype" pitchFamily="34" charset="-122"/>
                <a:cs typeface="Palatino Linotype" pitchFamily="34" charset="-120"/>
              </a:rPr>
              <a:t>28%</a:t>
            </a:r>
            <a:endParaRPr lang="en-US" sz="3400" dirty="0"/>
          </a:p>
        </p:txBody>
      </p:sp>
      <p:sp>
        <p:nvSpPr>
          <p:cNvPr id="25" name="Text 23"/>
          <p:cNvSpPr/>
          <p:nvPr/>
        </p:nvSpPr>
        <p:spPr>
          <a:xfrm>
            <a:off x="594360" y="5440680"/>
            <a:ext cx="10972800" cy="6400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România: de peste două ori deasupra pragului roșu. Cifra nu dovedește o înțelegere; arată unde merită verificat.</a:t>
            </a:r>
            <a:endParaRPr lang="en-US" sz="1700" dirty="0"/>
          </a:p>
        </p:txBody>
      </p:sp>
      <p:sp>
        <p:nvSpPr>
          <p:cNvPr id="26" name="Text 24"/>
          <p:cNvSpPr/>
          <p:nvPr/>
        </p:nvSpPr>
        <p:spPr>
          <a:xfrm>
            <a:off x="594360" y="6327648"/>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 „Media UE” a Comisiei este valoarea unei țări tipice, de la mijlocul clasamentului. Sursa: Single Market Scoreboard, date TED 2024 (registru A089, A090).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0E7C6B"/>
                </a:solidFill>
                <a:latin typeface="Palatino Linotype" pitchFamily="34" charset="0"/>
                <a:ea typeface="Palatino Linotype" pitchFamily="34" charset="-122"/>
                <a:cs typeface="Palatino Linotype" pitchFamily="34" charset="-120"/>
              </a:rPr>
              <a:t>ACELAȘI TABLOU, ALTĂ CIFRĂ · 2024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Licitații anunțate, concurență absentă</a:t>
            </a:r>
            <a:endParaRPr lang="en-US" sz="3000" dirty="0"/>
          </a:p>
        </p:txBody>
      </p:sp>
      <p:sp>
        <p:nvSpPr>
          <p:cNvPr id="4" name="Text 2"/>
          <p:cNvSpPr/>
          <p:nvPr/>
        </p:nvSpPr>
        <p:spPr>
          <a:xfrm>
            <a:off x="594360" y="1463040"/>
            <a:ext cx="10972800" cy="41148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Contracte atribuite direct, fără niciun anunț public</a:t>
            </a:r>
            <a:endParaRPr lang="en-US" sz="1700" dirty="0"/>
          </a:p>
        </p:txBody>
      </p:sp>
      <p:sp>
        <p:nvSpPr>
          <p:cNvPr id="5" name="Text 3"/>
          <p:cNvSpPr/>
          <p:nvPr/>
        </p:nvSpPr>
        <p:spPr>
          <a:xfrm>
            <a:off x="594360" y="2103120"/>
            <a:ext cx="1965960" cy="777240"/>
          </a:xfrm>
          <a:prstGeom prst="rect">
            <a:avLst/>
          </a:prstGeom>
          <a:noFill/>
          <a:ln/>
        </p:spPr>
        <p:txBody>
          <a:bodyPr wrap="square" lIns="0" tIns="0" rIns="0" bIns="0" rtlCol="0" anchor="ctr"/>
          <a:lstStyle/>
          <a:p>
            <a:pPr algn="r" indent="0" marL="0">
              <a:buNone/>
            </a:pPr>
            <a:r>
              <a:rPr lang="en-US" sz="1800" b="1" dirty="0">
                <a:solidFill>
                  <a:srgbClr val="11121A"/>
                </a:solidFill>
                <a:latin typeface="Palatino Linotype" pitchFamily="34" charset="0"/>
                <a:ea typeface="Palatino Linotype" pitchFamily="34" charset="-122"/>
                <a:cs typeface="Palatino Linotype" pitchFamily="34" charset="-120"/>
              </a:rPr>
              <a:t>România</a:t>
            </a:r>
            <a:endParaRPr lang="en-US" sz="1800" dirty="0"/>
          </a:p>
        </p:txBody>
      </p:sp>
      <p:sp>
        <p:nvSpPr>
          <p:cNvPr id="6" name="Shape 4"/>
          <p:cNvSpPr/>
          <p:nvPr/>
        </p:nvSpPr>
        <p:spPr>
          <a:xfrm>
            <a:off x="2743200" y="2103120"/>
            <a:ext cx="1188720" cy="777240"/>
          </a:xfrm>
          <a:prstGeom prst="rect">
            <a:avLst/>
          </a:prstGeom>
          <a:solidFill>
            <a:srgbClr val="0E7C6B"/>
          </a:solidFill>
          <a:ln w="12700">
            <a:solidFill>
              <a:srgbClr val="0E7C6B"/>
            </a:solidFill>
            <a:prstDash val="solid"/>
          </a:ln>
        </p:spPr>
        <p:txBody>
          <a:bodyPr/>
          <a:p/>
        </p:txBody>
      </p:sp>
      <p:sp>
        <p:nvSpPr>
          <p:cNvPr id="7" name="Text 5"/>
          <p:cNvSpPr/>
          <p:nvPr/>
        </p:nvSpPr>
        <p:spPr>
          <a:xfrm>
            <a:off x="4069080" y="2103120"/>
            <a:ext cx="1371600" cy="777240"/>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1%</a:t>
            </a:r>
            <a:endParaRPr lang="en-US" sz="3400" dirty="0"/>
          </a:p>
        </p:txBody>
      </p:sp>
      <p:sp>
        <p:nvSpPr>
          <p:cNvPr id="8" name="Text 6"/>
          <p:cNvSpPr/>
          <p:nvPr/>
        </p:nvSpPr>
        <p:spPr>
          <a:xfrm>
            <a:off x="594360" y="3108960"/>
            <a:ext cx="1965960" cy="777240"/>
          </a:xfrm>
          <a:prstGeom prst="rect">
            <a:avLst/>
          </a:prstGeom>
          <a:noFill/>
          <a:ln/>
        </p:spPr>
        <p:txBody>
          <a:bodyPr wrap="square" lIns="0" tIns="0" rIns="0" bIns="0" rtlCol="0" anchor="ctr"/>
          <a:lstStyle/>
          <a:p>
            <a:pPr algn="r" indent="0" marL="0">
              <a:buNone/>
            </a:pPr>
            <a:r>
              <a:rPr lang="en-US" sz="1800" b="1" dirty="0">
                <a:solidFill>
                  <a:srgbClr val="11121A"/>
                </a:solidFill>
                <a:latin typeface="Palatino Linotype" pitchFamily="34" charset="0"/>
                <a:ea typeface="Palatino Linotype" pitchFamily="34" charset="-122"/>
                <a:cs typeface="Palatino Linotype" pitchFamily="34" charset="-120"/>
              </a:rPr>
              <a:t>Media UE</a:t>
            </a:r>
            <a:endParaRPr lang="en-US" sz="1800" dirty="0"/>
          </a:p>
        </p:txBody>
      </p:sp>
      <p:sp>
        <p:nvSpPr>
          <p:cNvPr id="9" name="Shape 7"/>
          <p:cNvSpPr/>
          <p:nvPr/>
        </p:nvSpPr>
        <p:spPr>
          <a:xfrm>
            <a:off x="2743200" y="3108960"/>
            <a:ext cx="5943600" cy="777240"/>
          </a:xfrm>
          <a:prstGeom prst="rect">
            <a:avLst/>
          </a:prstGeom>
          <a:solidFill>
            <a:srgbClr val="585A64"/>
          </a:solidFill>
          <a:ln w="12700">
            <a:solidFill>
              <a:srgbClr val="585A64"/>
            </a:solidFill>
            <a:prstDash val="solid"/>
          </a:ln>
        </p:spPr>
        <p:txBody>
          <a:bodyPr/>
          <a:p/>
        </p:txBody>
      </p:sp>
      <p:sp>
        <p:nvSpPr>
          <p:cNvPr id="10" name="Text 8"/>
          <p:cNvSpPr/>
          <p:nvPr/>
        </p:nvSpPr>
        <p:spPr>
          <a:xfrm>
            <a:off x="8823960" y="3108960"/>
            <a:ext cx="1371600" cy="777240"/>
          </a:xfrm>
          <a:prstGeom prst="rect">
            <a:avLst/>
          </a:prstGeom>
          <a:noFill/>
          <a:ln/>
        </p:spPr>
        <p:txBody>
          <a:bodyPr wrap="square" lIns="0" tIns="0" rIns="0" bIns="0" rtlCol="0" anchor="ctr"/>
          <a:lstStyle/>
          <a:p>
            <a:pPr indent="0" marL="0">
              <a:buNone/>
            </a:pPr>
            <a:r>
              <a:rPr lang="en-US" sz="3400" b="1" dirty="0">
                <a:solidFill>
                  <a:srgbClr val="585A64"/>
                </a:solidFill>
                <a:latin typeface="Palatino Linotype" pitchFamily="34" charset="0"/>
                <a:ea typeface="Palatino Linotype" pitchFamily="34" charset="-122"/>
                <a:cs typeface="Palatino Linotype" pitchFamily="34" charset="-120"/>
              </a:rPr>
              <a:t>5%</a:t>
            </a:r>
            <a:endParaRPr lang="en-US" sz="3400" dirty="0"/>
          </a:p>
        </p:txBody>
      </p:sp>
      <p:sp>
        <p:nvSpPr>
          <p:cNvPr id="11" name="Text 9"/>
          <p:cNvSpPr/>
          <p:nvPr/>
        </p:nvSpPr>
        <p:spPr>
          <a:xfrm>
            <a:off x="594360" y="4251960"/>
            <a:ext cx="10972800" cy="45720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Regula formală e respectată: aproape totul se anunță. Concurența lipsește totuși.</a:t>
            </a:r>
            <a:endParaRPr lang="en-US" sz="1800" dirty="0"/>
          </a:p>
        </p:txBody>
      </p:sp>
      <p:sp>
        <p:nvSpPr>
          <p:cNvPr id="12" name="Text 10"/>
          <p:cNvSpPr/>
          <p:nvPr/>
        </p:nvSpPr>
        <p:spPr>
          <a:xfrm>
            <a:off x="594360" y="4754880"/>
            <a:ext cx="10972800" cy="685800"/>
          </a:xfrm>
          <a:prstGeom prst="rect">
            <a:avLst/>
          </a:prstGeom>
          <a:noFill/>
          <a:ln/>
        </p:spPr>
        <p:txBody>
          <a:bodyPr wrap="square" lIns="0" tIns="0" rIns="0" bIns="0" rtlCol="0" anchor="t"/>
          <a:lstStyle/>
          <a:p>
            <a:pPr indent="0" marL="0">
              <a:buNone/>
            </a:pPr>
            <a:r>
              <a:rPr lang="en-US" sz="1450" i="1" dirty="0">
                <a:solidFill>
                  <a:srgbClr val="585A64"/>
                </a:solidFill>
                <a:latin typeface="Palatino Linotype" pitchFamily="34" charset="0"/>
                <a:ea typeface="Palatino Linotype" pitchFamily="34" charset="-122"/>
                <a:cs typeface="Palatino Linotype" pitchFamily="34" charset="-120"/>
              </a:rPr>
              <a:t>Limite: formularele noi (sfârșitul lui 2023 și 2024) au adus date incomplete; nu există o cifră separată pentru sănătate.</a:t>
            </a:r>
            <a:endParaRPr lang="en-US" sz="1450" dirty="0"/>
          </a:p>
        </p:txBody>
      </p:sp>
      <p:sp>
        <p:nvSpPr>
          <p:cNvPr id="13" name="Text 11"/>
          <p:cNvSpPr/>
          <p:nvPr/>
        </p:nvSpPr>
        <p:spPr>
          <a:xfrm>
            <a:off x="594360" y="5532120"/>
            <a:ext cx="10972800" cy="54864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Cum poate o țară să anunțe aproape tot și să aibă atât de puțină concurență?</a:t>
            </a:r>
            <a:endParaRPr lang="en-US" sz="1800" dirty="0"/>
          </a:p>
        </p:txBody>
      </p:sp>
      <p:sp>
        <p:nvSpPr>
          <p:cNvPr id="14" name="Text 12"/>
          <p:cNvSpPr/>
          <p:nvPr/>
        </p:nvSpPr>
        <p:spPr>
          <a:xfrm>
            <a:off x="594360" y="6327648"/>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Comisia Europeană, date 2024 (registru A092).</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CE ÎNSEAMNĂ PENTRU VOI, CA MEDICI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Licitația începe de la necesarul secției</a:t>
            </a:r>
            <a:endParaRPr lang="en-US" sz="3000" dirty="0"/>
          </a:p>
        </p:txBody>
      </p:sp>
      <p:sp>
        <p:nvSpPr>
          <p:cNvPr id="4" name="Shape 2"/>
          <p:cNvSpPr/>
          <p:nvPr/>
        </p:nvSpPr>
        <p:spPr>
          <a:xfrm>
            <a:off x="594360" y="1920240"/>
            <a:ext cx="10972800" cy="1280160"/>
          </a:xfrm>
          <a:prstGeom prst="roundRect">
            <a:avLst>
              <a:gd name="adj" fmla="val 6429"/>
            </a:avLst>
          </a:prstGeom>
          <a:solidFill>
            <a:srgbClr val="1D1F2B"/>
          </a:solidFill>
          <a:ln w="12700">
            <a:solidFill>
              <a:srgbClr val="1D1F2B"/>
            </a:solidFill>
            <a:prstDash val="solid"/>
          </a:ln>
        </p:spPr>
        <p:txBody>
          <a:bodyPr/>
          <a:p/>
        </p:txBody>
      </p:sp>
      <p:sp>
        <p:nvSpPr>
          <p:cNvPr id="5" name="Shape 3"/>
          <p:cNvSpPr/>
          <p:nvPr/>
        </p:nvSpPr>
        <p:spPr>
          <a:xfrm>
            <a:off x="914400" y="2350008"/>
            <a:ext cx="420624" cy="420624"/>
          </a:xfrm>
          <a:prstGeom prst="ellipse">
            <a:avLst/>
          </a:prstGeom>
          <a:solidFill>
            <a:srgbClr val="27D3BE"/>
          </a:solidFill>
          <a:ln/>
        </p:spPr>
        <p:txBody>
          <a:bodyPr/>
          <a:p/>
        </p:txBody>
      </p:sp>
      <p:sp>
        <p:nvSpPr>
          <p:cNvPr id="6" name="Text 4"/>
          <p:cNvSpPr/>
          <p:nvPr/>
        </p:nvSpPr>
        <p:spPr>
          <a:xfrm>
            <a:off x="914400" y="235000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920240"/>
            <a:ext cx="9692640" cy="12801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Cereți ce vă trebuie medical, nu o anumită marcă. Când o marcă e cu adevărat necesară, scrieți motivul, ca să poată fi verificat.</a:t>
            </a:r>
            <a:endParaRPr lang="en-US" sz="1900" dirty="0"/>
          </a:p>
        </p:txBody>
      </p:sp>
      <p:sp>
        <p:nvSpPr>
          <p:cNvPr id="8" name="Shape 6"/>
          <p:cNvSpPr/>
          <p:nvPr/>
        </p:nvSpPr>
        <p:spPr>
          <a:xfrm>
            <a:off x="594360" y="3383280"/>
            <a:ext cx="10972800" cy="1280160"/>
          </a:xfrm>
          <a:prstGeom prst="roundRect">
            <a:avLst>
              <a:gd name="adj" fmla="val 6429"/>
            </a:avLst>
          </a:prstGeom>
          <a:solidFill>
            <a:srgbClr val="1D1F2B"/>
          </a:solidFill>
          <a:ln w="12700">
            <a:solidFill>
              <a:srgbClr val="1D1F2B"/>
            </a:solidFill>
            <a:prstDash val="solid"/>
          </a:ln>
        </p:spPr>
        <p:txBody>
          <a:bodyPr/>
          <a:p/>
        </p:txBody>
      </p:sp>
      <p:sp>
        <p:nvSpPr>
          <p:cNvPr id="9" name="Shape 7"/>
          <p:cNvSpPr/>
          <p:nvPr/>
        </p:nvSpPr>
        <p:spPr>
          <a:xfrm>
            <a:off x="914400" y="3813048"/>
            <a:ext cx="420624" cy="420624"/>
          </a:xfrm>
          <a:prstGeom prst="ellipse">
            <a:avLst/>
          </a:prstGeom>
          <a:solidFill>
            <a:srgbClr val="27D3BE"/>
          </a:solidFill>
          <a:ln/>
        </p:spPr>
        <p:txBody>
          <a:bodyPr/>
          <a:p/>
        </p:txBody>
      </p:sp>
      <p:sp>
        <p:nvSpPr>
          <p:cNvPr id="10" name="Text 8"/>
          <p:cNvSpPr/>
          <p:nvPr/>
        </p:nvSpPr>
        <p:spPr>
          <a:xfrm>
            <a:off x="914400" y="3813048"/>
            <a:ext cx="420624" cy="42062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3383280"/>
            <a:ext cx="9692640" cy="1280160"/>
          </a:xfrm>
          <a:prstGeom prst="rect">
            <a:avLst/>
          </a:prstGeom>
          <a:noFill/>
          <a:ln/>
        </p:spPr>
        <p:txBody>
          <a:bodyPr wrap="square" lIns="0" tIns="0" rIns="0" bIns="0" rtlCol="0" anchor="ctr"/>
          <a:lstStyle/>
          <a:p>
            <a:pPr indent="0" marL="0">
              <a:buNone/>
            </a:pPr>
            <a:r>
              <a:rPr lang="en-US" sz="1900" dirty="0">
                <a:solidFill>
                  <a:srgbClr val="FFFFFF"/>
                </a:solidFill>
                <a:latin typeface="Palatino Linotype" pitchFamily="34" charset="0"/>
                <a:ea typeface="Palatino Linotype" pitchFamily="34" charset="-122"/>
                <a:cs typeface="Palatino Linotype" pitchFamily="34" charset="-120"/>
              </a:rPr>
              <a:t>Un dezinfectant care nu mai miroase la fel, o soluție care arată altfel, un val de infecții pe secție: semnalați în scris, pe circuitul spitalului, nu doar pe hol.</a:t>
            </a:r>
            <a:endParaRPr lang="en-US" sz="1900" dirty="0"/>
          </a:p>
        </p:txBody>
      </p:sp>
      <p:sp>
        <p:nvSpPr>
          <p:cNvPr id="12" name="Text 10"/>
          <p:cNvSpPr/>
          <p:nvPr/>
        </p:nvSpPr>
        <p:spPr>
          <a:xfrm>
            <a:off x="594360" y="5120640"/>
            <a:ext cx="10972800" cy="45720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Un semnal scris are o dată și un autor, deci poate fi urmărit.</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2011680"/>
            <a:ext cx="10972800" cy="1280160"/>
          </a:xfrm>
          <a:prstGeom prst="rect">
            <a:avLst/>
          </a:prstGeom>
          <a:noFill/>
          <a:ln/>
        </p:spPr>
        <p:txBody>
          <a:bodyPr wrap="square" lIns="0" tIns="0" rIns="0" bIns="0" rtlCol="0" anchor="ctr"/>
          <a:lstStyle/>
          <a:p>
            <a:pPr algn="ctr" indent="0" marL="0">
              <a:buNone/>
            </a:pPr>
            <a:r>
              <a:rPr lang="en-US" sz="7200" b="1" dirty="0">
                <a:solidFill>
                  <a:srgbClr val="FFFFFF"/>
                </a:solidFill>
                <a:latin typeface="Palatino Linotype" pitchFamily="34" charset="0"/>
                <a:ea typeface="Palatino Linotype" pitchFamily="34" charset="-122"/>
                <a:cs typeface="Palatino Linotype" pitchFamily="34" charset="-120"/>
              </a:rPr>
              <a:t>Pauză</a:t>
            </a:r>
            <a:endParaRPr lang="en-US" sz="7200" dirty="0"/>
          </a:p>
        </p:txBody>
      </p:sp>
      <p:sp>
        <p:nvSpPr>
          <p:cNvPr id="3" name="Text 1"/>
          <p:cNvSpPr/>
          <p:nvPr/>
        </p:nvSpPr>
        <p:spPr>
          <a:xfrm>
            <a:off x="594360" y="3474720"/>
            <a:ext cx="10972800" cy="548640"/>
          </a:xfrm>
          <a:prstGeom prst="rect">
            <a:avLst/>
          </a:prstGeom>
          <a:noFill/>
          <a:ln/>
        </p:spPr>
        <p:txBody>
          <a:bodyPr wrap="square" lIns="0" tIns="0" rIns="0" bIns="0" rtlCol="0" anchor="t"/>
          <a:lstStyle/>
          <a:p>
            <a:pPr algn="ctr" indent="0" marL="0">
              <a:buNone/>
            </a:pPr>
            <a:r>
              <a:rPr lang="en-US" sz="2200" dirty="0">
                <a:solidFill>
                  <a:srgbClr val="959BB0"/>
                </a:solidFill>
                <a:latin typeface="Palatino Linotype" pitchFamily="34" charset="0"/>
                <a:ea typeface="Palatino Linotype" pitchFamily="34" charset="-122"/>
                <a:cs typeface="Palatino Linotype" pitchFamily="34" charset="-120"/>
              </a:rPr>
              <a:t>Zece minute. Urmează al treilea caz: plicul.</a:t>
            </a:r>
            <a:endParaRPr lang="en-US" sz="2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MENTIMETER · NOR</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4757"/>
                </a:solidFill>
                <a:latin typeface="Palatino Linotype" pitchFamily="34" charset="0"/>
                <a:ea typeface="Palatino Linotype" pitchFamily="34" charset="-122"/>
                <a:cs typeface="Palatino Linotype" pitchFamily="34" charset="-120"/>
              </a:rPr>
              <a:t>A TREIA POVESTE · PLICUL</a:t>
            </a:r>
            <a:endParaRPr lang="en-US" sz="1300" dirty="0"/>
          </a:p>
        </p:txBody>
      </p:sp>
      <p:sp>
        <p:nvSpPr>
          <p:cNvPr id="5" name="Text 3"/>
          <p:cNvSpPr/>
          <p:nvPr/>
        </p:nvSpPr>
        <p:spPr>
          <a:xfrm>
            <a:off x="594360" y="1828800"/>
            <a:ext cx="10972800" cy="1828800"/>
          </a:xfrm>
          <a:prstGeom prst="rect">
            <a:avLst/>
          </a:prstGeom>
          <a:noFill/>
          <a:ln/>
        </p:spPr>
        <p:txBody>
          <a:bodyPr wrap="square" lIns="0" tIns="0" rIns="0" bIns="0" rtlCol="0" anchor="ctr"/>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Un cuvânt: ce simțiți când cineva vă întinde un plic?</a:t>
            </a:r>
            <a:endParaRPr lang="en-US" sz="4000" dirty="0"/>
          </a:p>
        </p:txBody>
      </p:sp>
      <p:sp>
        <p:nvSpPr>
          <p:cNvPr id="6" name="Shape 4"/>
          <p:cNvSpPr/>
          <p:nvPr/>
        </p:nvSpPr>
        <p:spPr>
          <a:xfrm>
            <a:off x="621792" y="3931920"/>
            <a:ext cx="1280160" cy="27432"/>
          </a:xfrm>
          <a:prstGeom prst="rect">
            <a:avLst/>
          </a:prstGeom>
          <a:solidFill>
            <a:srgbClr val="FF4757"/>
          </a:solidFill>
          <a:ln/>
        </p:spPr>
        <p:txBody>
          <a:bodyPr/>
          <a:p/>
        </p:txBody>
      </p:sp>
      <p:sp>
        <p:nvSpPr>
          <p:cNvPr id="7" name="Text 5"/>
          <p:cNvSpPr/>
          <p:nvPr/>
        </p:nvSpPr>
        <p:spPr>
          <a:xfrm>
            <a:off x="594360" y="4206240"/>
            <a:ext cx="10972800" cy="45720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Răspuns anonim, într-un singur cuvânt; răspunsurile apar pe ecran sub forma unui nor de cuvinte.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21A"/>
        </a:solidFill>
      </p:bgPr>
    </p:bg>
    <p:spTree>
      <p:nvGrpSpPr>
        <p:cNvPr id="1" name=""/>
        <p:cNvGrpSpPr/>
        <p:nvPr/>
      </p:nvGrpSpPr>
      <p:grpSpPr>
        <a:xfrm>
          <a:off x="0" y="0"/>
          <a:ext cx="0" cy="0"/>
          <a:chOff x="0" y="0"/>
          <a:chExt cx="0" cy="0"/>
        </a:xfrm>
      </p:grpSpPr>
      <p:pic>
        <p:nvPicPr>
          <p:cNvPr id="2" name="Image 0" descr="/Users/adrianpana/Downloads/UMF_Cluj_SP/Materiale SP/Atelier_didactic/discipline/OPT_PLIC/active/img/coridor_chirurgie_commons.jpg">    </p:cNvPr>
          <p:cNvPicPr>
            <a:picLocks noChangeAspect="1"/>
          </p:cNvPicPr>
          <p:nvPr/>
        </p:nvPicPr>
        <p:blipFill>
          <a:blip r:embed="rId1"/>
          <a:stretch>
            <a:fillRect/>
          </a:stretch>
        </p:blipFill>
        <p:spPr>
          <a:xfrm>
            <a:off x="6705295" y="0"/>
            <a:ext cx="5486400" cy="6858000"/>
          </a:xfrm>
          <a:prstGeom prst="rect">
            <a:avLst/>
          </a:prstGeom>
        </p:spPr>
      </p:pic>
      <p:sp>
        <p:nvSpPr>
          <p:cNvPr id="3" name="Shape 0"/>
          <p:cNvSpPr/>
          <p:nvPr/>
        </p:nvSpPr>
        <p:spPr>
          <a:xfrm>
            <a:off x="6705295" y="6053328"/>
            <a:ext cx="5486400" cy="804672"/>
          </a:xfrm>
          <a:prstGeom prst="rect">
            <a:avLst/>
          </a:prstGeom>
          <a:solidFill>
            <a:srgbClr val="11121A">
              <a:alpha val="75000"/>
            </a:srgbClr>
          </a:solidFill>
          <a:ln w="12700">
            <a:solidFill>
              <a:srgbClr val="11121A"/>
            </a:solidFill>
            <a:prstDash val="solid"/>
          </a:ln>
        </p:spPr>
        <p:txBody>
          <a:bodyPr/>
          <a:p/>
        </p:txBody>
      </p:sp>
      <p:sp>
        <p:nvSpPr>
          <p:cNvPr id="4" name="Text 1"/>
          <p:cNvSpPr/>
          <p:nvPr/>
        </p:nvSpPr>
        <p:spPr>
          <a:xfrm>
            <a:off x="6979615" y="6089904"/>
            <a:ext cx="4983480" cy="457200"/>
          </a:xfrm>
          <a:prstGeom prst="rect">
            <a:avLst/>
          </a:prstGeom>
          <a:noFill/>
          <a:ln/>
        </p:spPr>
        <p:txBody>
          <a:bodyPr wrap="square" lIns="0" tIns="0" rIns="0" bIns="0" rtlCol="0" anchor="ctr"/>
          <a:lstStyle/>
          <a:p>
            <a:pPr indent="0" marL="0">
              <a:buNone/>
            </a:pPr>
            <a:r>
              <a:rPr lang="en-US" sz="1100" dirty="0">
                <a:solidFill>
                  <a:srgbClr val="FFFFFF"/>
                </a:solidFill>
                <a:latin typeface="Palatino Linotype" pitchFamily="34" charset="0"/>
                <a:ea typeface="Palatino Linotype" pitchFamily="34" charset="-122"/>
                <a:cs typeface="Palatino Linotype" pitchFamily="34" charset="-120"/>
              </a:rPr>
              <a:t>Coridorul unei secții de chirurgie generală</a:t>
            </a:r>
            <a:endParaRPr lang="en-US" sz="1100" dirty="0"/>
          </a:p>
        </p:txBody>
      </p:sp>
      <p:sp>
        <p:nvSpPr>
          <p:cNvPr id="5" name="Text 2"/>
          <p:cNvSpPr/>
          <p:nvPr/>
        </p:nvSpPr>
        <p:spPr>
          <a:xfrm>
            <a:off x="6979615" y="6547104"/>
            <a:ext cx="4983480" cy="219456"/>
          </a:xfrm>
          <a:prstGeom prst="rect">
            <a:avLst/>
          </a:prstGeom>
          <a:noFill/>
          <a:ln/>
        </p:spPr>
        <p:txBody>
          <a:bodyPr wrap="square" lIns="0" tIns="0" rIns="0" bIns="0" rtlCol="0" anchor="ctr"/>
          <a:lstStyle/>
          <a:p>
            <a:pPr algn="l" indent="0" marL="0">
              <a:buNone/>
            </a:pPr>
            <a:r>
              <a:rPr lang="en-US" sz="850" i="1" dirty="0">
                <a:solidFill>
                  <a:srgbClr val="C9CCD8"/>
                </a:solidFill>
                <a:latin typeface="Palatino Linotype" pitchFamily="34" charset="0"/>
                <a:ea typeface="Palatino Linotype" pitchFamily="34" charset="-122"/>
                <a:cs typeface="Palatino Linotype" pitchFamily="34" charset="-120"/>
              </a:rPr>
              <a:t>Sursa: foto Botev · CC BY-SA 4.0 · Wikimedia Commons</a:t>
            </a:r>
            <a:endParaRPr lang="en-US" sz="850" dirty="0"/>
          </a:p>
        </p:txBody>
      </p:sp>
      <p:sp>
        <p:nvSpPr>
          <p:cNvPr id="6" name="Shape 3"/>
          <p:cNvSpPr/>
          <p:nvPr/>
        </p:nvSpPr>
        <p:spPr>
          <a:xfrm>
            <a:off x="594360" y="292608"/>
            <a:ext cx="3017520" cy="420624"/>
          </a:xfrm>
          <a:prstGeom prst="roundRect">
            <a:avLst>
              <a:gd name="adj" fmla="val 50000"/>
            </a:avLst>
          </a:prstGeom>
          <a:solidFill>
            <a:srgbClr val="9B7EF7"/>
          </a:solidFill>
          <a:ln w="12700">
            <a:solidFill>
              <a:srgbClr val="9B7EF7"/>
            </a:solidFill>
            <a:prstDash val="solid"/>
          </a:ln>
        </p:spPr>
        <p:txBody>
          <a:bodyPr/>
          <a:p/>
        </p:txBody>
      </p:sp>
      <p:sp>
        <p:nvSpPr>
          <p:cNvPr id="7" name="Text 4"/>
          <p:cNvSpPr/>
          <p:nvPr/>
        </p:nvSpPr>
        <p:spPr>
          <a:xfrm>
            <a:off x="59436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JOC DE ROL · 2 VOLUNTARI</a:t>
            </a:r>
            <a:endParaRPr lang="en-US" sz="1300" dirty="0"/>
          </a:p>
        </p:txBody>
      </p:sp>
      <p:sp>
        <p:nvSpPr>
          <p:cNvPr id="8" name="Text 5"/>
          <p:cNvSpPr/>
          <p:nvPr/>
        </p:nvSpPr>
        <p:spPr>
          <a:xfrm>
            <a:off x="594360" y="896112"/>
            <a:ext cx="585216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 DOUA ZI DUPĂ OPERAȚIE, PE HOL</a:t>
            </a:r>
            <a:endParaRPr lang="en-US" sz="1300" dirty="0"/>
          </a:p>
        </p:txBody>
      </p:sp>
      <p:sp>
        <p:nvSpPr>
          <p:cNvPr id="9" name="Text 6"/>
          <p:cNvSpPr/>
          <p:nvPr/>
        </p:nvSpPr>
        <p:spPr>
          <a:xfrm>
            <a:off x="594360" y="1280160"/>
            <a:ext cx="5852160" cy="68580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Plicul de pe hol</a:t>
            </a:r>
            <a:endParaRPr lang="en-US" sz="3200" dirty="0"/>
          </a:p>
        </p:txBody>
      </p:sp>
      <p:sp>
        <p:nvSpPr>
          <p:cNvPr id="10" name="Text 7"/>
          <p:cNvSpPr/>
          <p:nvPr/>
        </p:nvSpPr>
        <p:spPr>
          <a:xfrm>
            <a:off x="594360" y="2011680"/>
            <a:ext cx="5760720" cy="1737360"/>
          </a:xfrm>
          <a:prstGeom prst="rect">
            <a:avLst/>
          </a:prstGeom>
          <a:noFill/>
          <a:ln/>
        </p:spPr>
        <p:txBody>
          <a:bodyPr wrap="square" lIns="0" tIns="0" rIns="0" bIns="0" rtlCol="0" anchor="t"/>
          <a:lstStyle/>
          <a:p>
            <a:pPr indent="0" marL="0">
              <a:buNone/>
            </a:pPr>
            <a:r>
              <a:rPr lang="en-US" sz="1700" dirty="0">
                <a:solidFill>
                  <a:srgbClr val="E6E8EF"/>
                </a:solidFill>
                <a:latin typeface="Palatino Linotype" pitchFamily="34" charset="0"/>
                <a:ea typeface="Palatino Linotype" pitchFamily="34" charset="-122"/>
                <a:cs typeface="Palatino Linotype" pitchFamily="34" charset="-120"/>
              </a:rPr>
              <a:t>Sunteți rezident la chirurgie. Pacientul operat se simte bine. Fiica lui vă oprește pe hol, vă mulțumește din suflet și vă întinde un plic: „Nu e nimic, e doar din recunoștință.” Pacientul mai are câteva zile de internare.</a:t>
            </a:r>
            <a:endParaRPr lang="en-US" sz="1700" dirty="0"/>
          </a:p>
        </p:txBody>
      </p:sp>
      <p:sp>
        <p:nvSpPr>
          <p:cNvPr id="11" name="Text 8"/>
          <p:cNvSpPr/>
          <p:nvPr/>
        </p:nvSpPr>
        <p:spPr>
          <a:xfrm>
            <a:off x="594360" y="3840480"/>
            <a:ext cx="5760720" cy="73152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După scenă: ce ați fi făcut în locul rezidentului?</a:t>
            </a:r>
            <a:endParaRPr lang="en-US" sz="1900" dirty="0"/>
          </a:p>
        </p:txBody>
      </p:sp>
      <p:sp>
        <p:nvSpPr>
          <p:cNvPr id="12" name="Shape 9"/>
          <p:cNvSpPr/>
          <p:nvPr/>
        </p:nvSpPr>
        <p:spPr>
          <a:xfrm>
            <a:off x="594360" y="4526280"/>
            <a:ext cx="2788920" cy="658368"/>
          </a:xfrm>
          <a:prstGeom prst="roundRect">
            <a:avLst>
              <a:gd name="adj" fmla="val 12500"/>
            </a:avLst>
          </a:prstGeom>
          <a:solidFill>
            <a:srgbClr val="272A38"/>
          </a:solidFill>
          <a:ln w="12700">
            <a:solidFill>
              <a:srgbClr val="272A38"/>
            </a:solidFill>
            <a:prstDash val="solid"/>
          </a:ln>
        </p:spPr>
        <p:txBody>
          <a:bodyPr/>
          <a:p/>
        </p:txBody>
      </p:sp>
      <p:sp>
        <p:nvSpPr>
          <p:cNvPr id="13" name="Text 10"/>
          <p:cNvSpPr/>
          <p:nvPr/>
        </p:nvSpPr>
        <p:spPr>
          <a:xfrm>
            <a:off x="777240" y="4526280"/>
            <a:ext cx="2514600" cy="658368"/>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A · Primeam plicul</a:t>
            </a:r>
            <a:endParaRPr lang="en-US" sz="1500" dirty="0"/>
          </a:p>
        </p:txBody>
      </p:sp>
      <p:sp>
        <p:nvSpPr>
          <p:cNvPr id="14" name="Shape 11"/>
          <p:cNvSpPr/>
          <p:nvPr/>
        </p:nvSpPr>
        <p:spPr>
          <a:xfrm>
            <a:off x="3520440" y="4526280"/>
            <a:ext cx="2788920" cy="658368"/>
          </a:xfrm>
          <a:prstGeom prst="roundRect">
            <a:avLst>
              <a:gd name="adj" fmla="val 12500"/>
            </a:avLst>
          </a:prstGeom>
          <a:solidFill>
            <a:srgbClr val="272A38"/>
          </a:solidFill>
          <a:ln w="12700">
            <a:solidFill>
              <a:srgbClr val="272A38"/>
            </a:solidFill>
            <a:prstDash val="solid"/>
          </a:ln>
        </p:spPr>
        <p:txBody>
          <a:bodyPr/>
          <a:p/>
        </p:txBody>
      </p:sp>
      <p:sp>
        <p:nvSpPr>
          <p:cNvPr id="15" name="Text 12"/>
          <p:cNvSpPr/>
          <p:nvPr/>
        </p:nvSpPr>
        <p:spPr>
          <a:xfrm>
            <a:off x="3703320" y="4526280"/>
            <a:ext cx="2514600" cy="658368"/>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B · Îl refuzam</a:t>
            </a:r>
            <a:endParaRPr lang="en-US" sz="1500" dirty="0"/>
          </a:p>
        </p:txBody>
      </p:sp>
      <p:sp>
        <p:nvSpPr>
          <p:cNvPr id="16" name="Shape 13"/>
          <p:cNvSpPr/>
          <p:nvPr/>
        </p:nvSpPr>
        <p:spPr>
          <a:xfrm>
            <a:off x="594360" y="5303520"/>
            <a:ext cx="2788920" cy="658368"/>
          </a:xfrm>
          <a:prstGeom prst="roundRect">
            <a:avLst>
              <a:gd name="adj" fmla="val 12500"/>
            </a:avLst>
          </a:prstGeom>
          <a:solidFill>
            <a:srgbClr val="272A38"/>
          </a:solidFill>
          <a:ln w="12700">
            <a:solidFill>
              <a:srgbClr val="272A38"/>
            </a:solidFill>
            <a:prstDash val="solid"/>
          </a:ln>
        </p:spPr>
        <p:txBody>
          <a:bodyPr/>
          <a:p/>
        </p:txBody>
      </p:sp>
      <p:sp>
        <p:nvSpPr>
          <p:cNvPr id="17" name="Text 14"/>
          <p:cNvSpPr/>
          <p:nvPr/>
        </p:nvSpPr>
        <p:spPr>
          <a:xfrm>
            <a:off x="777240" y="5303520"/>
            <a:ext cx="2514600" cy="658368"/>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C · Refuzam și propuneam altceva</a:t>
            </a:r>
            <a:endParaRPr lang="en-US" sz="1500" dirty="0"/>
          </a:p>
        </p:txBody>
      </p:sp>
      <p:sp>
        <p:nvSpPr>
          <p:cNvPr id="18" name="Shape 15"/>
          <p:cNvSpPr/>
          <p:nvPr/>
        </p:nvSpPr>
        <p:spPr>
          <a:xfrm>
            <a:off x="3520440" y="5303520"/>
            <a:ext cx="2788920" cy="658368"/>
          </a:xfrm>
          <a:prstGeom prst="roundRect">
            <a:avLst>
              <a:gd name="adj" fmla="val 12500"/>
            </a:avLst>
          </a:prstGeom>
          <a:solidFill>
            <a:srgbClr val="272A38"/>
          </a:solidFill>
          <a:ln w="12700">
            <a:solidFill>
              <a:srgbClr val="272A38"/>
            </a:solidFill>
            <a:prstDash val="solid"/>
          </a:ln>
        </p:spPr>
        <p:txBody>
          <a:bodyPr/>
          <a:p/>
        </p:txBody>
      </p:sp>
      <p:sp>
        <p:nvSpPr>
          <p:cNvPr id="19" name="Text 16"/>
          <p:cNvSpPr/>
          <p:nvPr/>
        </p:nvSpPr>
        <p:spPr>
          <a:xfrm>
            <a:off x="3703320" y="5303520"/>
            <a:ext cx="2514600" cy="658368"/>
          </a:xfrm>
          <a:prstGeom prst="rect">
            <a:avLst/>
          </a:prstGeom>
          <a:noFill/>
          <a:ln/>
        </p:spPr>
        <p:txBody>
          <a:bodyPr wrap="square" lIns="0" tIns="0" rIns="0" bIns="0" rtlCol="0" anchor="ctr"/>
          <a:lstStyle/>
          <a:p>
            <a:pPr indent="0" marL="0">
              <a:buNone/>
            </a:pPr>
            <a:r>
              <a:rPr lang="en-US" sz="1500" b="1" dirty="0">
                <a:solidFill>
                  <a:srgbClr val="FFFFFF"/>
                </a:solidFill>
                <a:latin typeface="Palatino Linotype" pitchFamily="34" charset="0"/>
                <a:ea typeface="Palatino Linotype" pitchFamily="34" charset="-122"/>
                <a:cs typeface="Palatino Linotype" pitchFamily="34" charset="-120"/>
              </a:rPr>
              <a:t>D · Nu știu</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Condiționarea</a:t>
            </a:r>
            <a:endParaRPr lang="en-US" sz="3100" dirty="0"/>
          </a:p>
        </p:txBody>
      </p:sp>
      <p:sp>
        <p:nvSpPr>
          <p:cNvPr id="4" name="Text 2"/>
          <p:cNvSpPr/>
          <p:nvPr/>
        </p:nvSpPr>
        <p:spPr>
          <a:xfrm>
            <a:off x="594360" y="1325880"/>
            <a:ext cx="10972800" cy="411480"/>
          </a:xfrm>
          <a:prstGeom prst="rect">
            <a:avLst/>
          </a:prstGeom>
          <a:noFill/>
          <a:ln/>
        </p:spPr>
        <p:txBody>
          <a:bodyPr wrap="square" lIns="0" tIns="0" rIns="0" bIns="0" rtlCol="0" anchor="t"/>
          <a:lstStyle/>
          <a:p>
            <a:pPr indent="0" marL="0">
              <a:buNone/>
            </a:pPr>
            <a:r>
              <a:rPr lang="en-US" sz="1800" i="1" dirty="0">
                <a:solidFill>
                  <a:srgbClr val="3A3C44"/>
                </a:solidFill>
                <a:latin typeface="Palatino Linotype" pitchFamily="34" charset="0"/>
                <a:ea typeface="Palatino Linotype" pitchFamily="34" charset="-122"/>
                <a:cs typeface="Palatino Linotype" pitchFamily="34" charset="-120"/>
              </a:rPr>
              <a:t>Îngrijirea pare să depindă de o plată, spus sau nespus.</a:t>
            </a:r>
            <a:endParaRPr lang="en-US" sz="1800" dirty="0"/>
          </a:p>
        </p:txBody>
      </p:sp>
      <p:sp>
        <p:nvSpPr>
          <p:cNvPr id="5" name="Shape 3"/>
          <p:cNvSpPr/>
          <p:nvPr/>
        </p:nvSpPr>
        <p:spPr>
          <a:xfrm>
            <a:off x="594360" y="1874520"/>
            <a:ext cx="3520440" cy="1783080"/>
          </a:xfrm>
          <a:prstGeom prst="roundRect">
            <a:avLst>
              <a:gd name="adj" fmla="val 4615"/>
            </a:avLst>
          </a:prstGeom>
          <a:solidFill>
            <a:srgbClr val="F4E0E2"/>
          </a:solidFill>
          <a:ln w="12700">
            <a:solidFill>
              <a:srgbClr val="F4E0E2"/>
            </a:solidFill>
            <a:prstDash val="solid"/>
          </a:ln>
        </p:spPr>
        <p:txBody>
          <a:bodyPr/>
          <a:p/>
        </p:txBody>
      </p:sp>
      <p:sp>
        <p:nvSpPr>
          <p:cNvPr id="6" name="Text 4"/>
          <p:cNvSpPr/>
          <p:nvPr/>
        </p:nvSpPr>
        <p:spPr>
          <a:xfrm>
            <a:off x="868680" y="1984248"/>
            <a:ext cx="3017520" cy="411480"/>
          </a:xfrm>
          <a:prstGeom prst="rect">
            <a:avLst/>
          </a:prstGeom>
          <a:noFill/>
          <a:ln/>
        </p:spPr>
        <p:txBody>
          <a:bodyPr wrap="square" lIns="0" tIns="0" rIns="0" bIns="0" rtlCol="0" anchor="t"/>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Explicită</a:t>
            </a:r>
            <a:endParaRPr lang="en-US" sz="1800" dirty="0"/>
          </a:p>
        </p:txBody>
      </p:sp>
      <p:sp>
        <p:nvSpPr>
          <p:cNvPr id="7" name="Text 5"/>
          <p:cNvSpPr/>
          <p:nvPr/>
        </p:nvSpPr>
        <p:spPr>
          <a:xfrm>
            <a:off x="868680" y="2377440"/>
            <a:ext cx="3017520" cy="123444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Înainte de operație, cineva din echipă îi spune familiei: „ar fi bine să vă gândiți la doctor”.</a:t>
            </a:r>
            <a:endParaRPr lang="en-US" sz="1450" dirty="0"/>
          </a:p>
        </p:txBody>
      </p:sp>
      <p:sp>
        <p:nvSpPr>
          <p:cNvPr id="8" name="Shape 6"/>
          <p:cNvSpPr/>
          <p:nvPr/>
        </p:nvSpPr>
        <p:spPr>
          <a:xfrm>
            <a:off x="4366260" y="1874520"/>
            <a:ext cx="3520440" cy="1783080"/>
          </a:xfrm>
          <a:prstGeom prst="roundRect">
            <a:avLst>
              <a:gd name="adj" fmla="val 4615"/>
            </a:avLst>
          </a:prstGeom>
          <a:solidFill>
            <a:srgbClr val="F6EDD5"/>
          </a:solidFill>
          <a:ln w="12700">
            <a:solidFill>
              <a:srgbClr val="F6EDD5"/>
            </a:solidFill>
            <a:prstDash val="solid"/>
          </a:ln>
        </p:spPr>
        <p:txBody>
          <a:bodyPr/>
          <a:p/>
        </p:txBody>
      </p:sp>
      <p:sp>
        <p:nvSpPr>
          <p:cNvPr id="9" name="Text 7"/>
          <p:cNvSpPr/>
          <p:nvPr/>
        </p:nvSpPr>
        <p:spPr>
          <a:xfrm>
            <a:off x="4640580" y="1984248"/>
            <a:ext cx="3017520" cy="411480"/>
          </a:xfrm>
          <a:prstGeom prst="rect">
            <a:avLst/>
          </a:prstGeom>
          <a:noFill/>
          <a:ln/>
        </p:spPr>
        <p:txBody>
          <a:bodyPr wrap="square" lIns="0" tIns="0" rIns="0" bIns="0" rtlCol="0" anchor="t"/>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Implicită</a:t>
            </a:r>
            <a:endParaRPr lang="en-US" sz="1800" dirty="0"/>
          </a:p>
        </p:txBody>
      </p:sp>
      <p:sp>
        <p:nvSpPr>
          <p:cNvPr id="10" name="Text 8"/>
          <p:cNvSpPr/>
          <p:nvPr/>
        </p:nvSpPr>
        <p:spPr>
          <a:xfrm>
            <a:off x="4640580" y="2377440"/>
            <a:ext cx="3017520" cy="123444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Nimeni nu cere nimic, dar familia a auzit că „așa se face” și se teme că, fără plic, pacientul va fi tratat mai prost.</a:t>
            </a:r>
            <a:endParaRPr lang="en-US" sz="1450" dirty="0"/>
          </a:p>
        </p:txBody>
      </p:sp>
      <p:sp>
        <p:nvSpPr>
          <p:cNvPr id="11" name="Shape 9"/>
          <p:cNvSpPr/>
          <p:nvPr/>
        </p:nvSpPr>
        <p:spPr>
          <a:xfrm>
            <a:off x="8138160" y="1874520"/>
            <a:ext cx="3520440" cy="1783080"/>
          </a:xfrm>
          <a:prstGeom prst="roundRect">
            <a:avLst>
              <a:gd name="adj" fmla="val 4615"/>
            </a:avLst>
          </a:prstGeom>
          <a:solidFill>
            <a:srgbClr val="E1F0EC"/>
          </a:solidFill>
          <a:ln w="12700">
            <a:solidFill>
              <a:srgbClr val="E1F0EC"/>
            </a:solidFill>
            <a:prstDash val="solid"/>
          </a:ln>
        </p:spPr>
        <p:txBody>
          <a:bodyPr/>
          <a:p/>
        </p:txBody>
      </p:sp>
      <p:sp>
        <p:nvSpPr>
          <p:cNvPr id="12" name="Text 10"/>
          <p:cNvSpPr/>
          <p:nvPr/>
        </p:nvSpPr>
        <p:spPr>
          <a:xfrm>
            <a:off x="8412480" y="1984248"/>
            <a:ext cx="3017520" cy="411480"/>
          </a:xfrm>
          <a:prstGeom prst="rect">
            <a:avLst/>
          </a:prstGeom>
          <a:noFill/>
          <a:ln/>
        </p:spPr>
        <p:txBody>
          <a:bodyPr wrap="square" lIns="0" tIns="0" rIns="0" bIns="0" rtlCol="0" anchor="t"/>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Cel mai aproape de un dar</a:t>
            </a:r>
            <a:endParaRPr lang="en-US" sz="1800" dirty="0"/>
          </a:p>
        </p:txBody>
      </p:sp>
      <p:sp>
        <p:nvSpPr>
          <p:cNvPr id="13" name="Text 11"/>
          <p:cNvSpPr/>
          <p:nvPr/>
        </p:nvSpPr>
        <p:spPr>
          <a:xfrm>
            <a:off x="8412480" y="2377440"/>
            <a:ext cx="3017520" cy="123444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După externare: o felicitare și bomboane pentru echipă.</a:t>
            </a:r>
            <a:endParaRPr lang="en-US" sz="1450" dirty="0"/>
          </a:p>
        </p:txBody>
      </p:sp>
      <p:sp>
        <p:nvSpPr>
          <p:cNvPr id="14" name="Text 12"/>
          <p:cNvSpPr/>
          <p:nvPr/>
        </p:nvSpPr>
        <p:spPr>
          <a:xfrm>
            <a:off x="594360" y="3794760"/>
            <a:ext cx="2103120" cy="502920"/>
          </a:xfrm>
          <a:prstGeom prst="rect">
            <a:avLst/>
          </a:prstGeom>
          <a:noFill/>
          <a:ln/>
        </p:spPr>
        <p:txBody>
          <a:bodyPr wrap="square" lIns="0" tIns="0" rIns="0" bIns="0" rtlCol="0" anchor="ctr"/>
          <a:lstStyle/>
          <a:p>
            <a:pPr indent="0" marL="0">
              <a:buNone/>
            </a:pPr>
            <a:r>
              <a:rPr lang="en-US" sz="2800" b="1" dirty="0">
                <a:solidFill>
                  <a:srgbClr val="B02532"/>
                </a:solidFill>
                <a:latin typeface="Palatino Linotype" pitchFamily="34" charset="0"/>
                <a:ea typeface="Palatino Linotype" pitchFamily="34" charset="-122"/>
                <a:cs typeface="Palatino Linotype" pitchFamily="34" charset="-120"/>
              </a:rPr>
              <a:t>7 din 100</a:t>
            </a:r>
            <a:endParaRPr lang="en-US" sz="2800" dirty="0"/>
          </a:p>
        </p:txBody>
      </p:sp>
      <p:sp>
        <p:nvSpPr>
          <p:cNvPr id="15" name="Text 13"/>
          <p:cNvSpPr/>
          <p:nvPr/>
        </p:nvSpPr>
        <p:spPr>
          <a:xfrm>
            <a:off x="594360" y="4297680"/>
            <a:ext cx="210312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România</a:t>
            </a:r>
            <a:endParaRPr lang="en-US" sz="1500" dirty="0"/>
          </a:p>
        </p:txBody>
      </p:sp>
      <p:sp>
        <p:nvSpPr>
          <p:cNvPr id="16" name="Shape 14"/>
          <p:cNvSpPr/>
          <p:nvPr/>
        </p:nvSpPr>
        <p:spPr>
          <a:xfrm>
            <a:off x="2743200" y="3840480"/>
            <a:ext cx="128016" cy="128016"/>
          </a:xfrm>
          <a:prstGeom prst="ellipse">
            <a:avLst/>
          </a:prstGeom>
          <a:solidFill>
            <a:srgbClr val="B02532"/>
          </a:solidFill>
          <a:ln w="12700">
            <a:solidFill>
              <a:srgbClr val="B02532"/>
            </a:solidFill>
            <a:prstDash val="solid"/>
          </a:ln>
        </p:spPr>
        <p:txBody>
          <a:bodyPr/>
          <a:p/>
        </p:txBody>
      </p:sp>
      <p:sp>
        <p:nvSpPr>
          <p:cNvPr id="17" name="Shape 15"/>
          <p:cNvSpPr/>
          <p:nvPr/>
        </p:nvSpPr>
        <p:spPr>
          <a:xfrm>
            <a:off x="2916936" y="3840480"/>
            <a:ext cx="128016" cy="128016"/>
          </a:xfrm>
          <a:prstGeom prst="ellipse">
            <a:avLst/>
          </a:prstGeom>
          <a:solidFill>
            <a:srgbClr val="B02532"/>
          </a:solidFill>
          <a:ln w="12700">
            <a:solidFill>
              <a:srgbClr val="B02532"/>
            </a:solidFill>
            <a:prstDash val="solid"/>
          </a:ln>
        </p:spPr>
        <p:txBody>
          <a:bodyPr/>
          <a:p/>
        </p:txBody>
      </p:sp>
      <p:sp>
        <p:nvSpPr>
          <p:cNvPr id="18" name="Shape 16"/>
          <p:cNvSpPr/>
          <p:nvPr/>
        </p:nvSpPr>
        <p:spPr>
          <a:xfrm>
            <a:off x="3090672" y="3840480"/>
            <a:ext cx="128016" cy="128016"/>
          </a:xfrm>
          <a:prstGeom prst="ellipse">
            <a:avLst/>
          </a:prstGeom>
          <a:solidFill>
            <a:srgbClr val="B02532"/>
          </a:solidFill>
          <a:ln w="12700">
            <a:solidFill>
              <a:srgbClr val="B02532"/>
            </a:solidFill>
            <a:prstDash val="solid"/>
          </a:ln>
        </p:spPr>
        <p:txBody>
          <a:bodyPr/>
          <a:p/>
        </p:txBody>
      </p:sp>
      <p:sp>
        <p:nvSpPr>
          <p:cNvPr id="19" name="Shape 17"/>
          <p:cNvSpPr/>
          <p:nvPr/>
        </p:nvSpPr>
        <p:spPr>
          <a:xfrm>
            <a:off x="3264408" y="3840480"/>
            <a:ext cx="128016" cy="128016"/>
          </a:xfrm>
          <a:prstGeom prst="ellipse">
            <a:avLst/>
          </a:prstGeom>
          <a:solidFill>
            <a:srgbClr val="B02532"/>
          </a:solidFill>
          <a:ln w="12700">
            <a:solidFill>
              <a:srgbClr val="B02532"/>
            </a:solidFill>
            <a:prstDash val="solid"/>
          </a:ln>
        </p:spPr>
        <p:txBody>
          <a:bodyPr/>
          <a:p/>
        </p:txBody>
      </p:sp>
      <p:sp>
        <p:nvSpPr>
          <p:cNvPr id="20" name="Shape 18"/>
          <p:cNvSpPr/>
          <p:nvPr/>
        </p:nvSpPr>
        <p:spPr>
          <a:xfrm>
            <a:off x="3438144" y="3840480"/>
            <a:ext cx="128016" cy="128016"/>
          </a:xfrm>
          <a:prstGeom prst="ellipse">
            <a:avLst/>
          </a:prstGeom>
          <a:solidFill>
            <a:srgbClr val="B02532"/>
          </a:solidFill>
          <a:ln w="12700">
            <a:solidFill>
              <a:srgbClr val="B02532"/>
            </a:solidFill>
            <a:prstDash val="solid"/>
          </a:ln>
        </p:spPr>
        <p:txBody>
          <a:bodyPr/>
          <a:p/>
        </p:txBody>
      </p:sp>
      <p:sp>
        <p:nvSpPr>
          <p:cNvPr id="21" name="Shape 19"/>
          <p:cNvSpPr/>
          <p:nvPr/>
        </p:nvSpPr>
        <p:spPr>
          <a:xfrm>
            <a:off x="3611880" y="3840480"/>
            <a:ext cx="128016" cy="128016"/>
          </a:xfrm>
          <a:prstGeom prst="ellipse">
            <a:avLst/>
          </a:prstGeom>
          <a:solidFill>
            <a:srgbClr val="B02532"/>
          </a:solidFill>
          <a:ln w="12700">
            <a:solidFill>
              <a:srgbClr val="B02532"/>
            </a:solidFill>
            <a:prstDash val="solid"/>
          </a:ln>
        </p:spPr>
        <p:txBody>
          <a:bodyPr/>
          <a:p/>
        </p:txBody>
      </p:sp>
      <p:sp>
        <p:nvSpPr>
          <p:cNvPr id="22" name="Shape 20"/>
          <p:cNvSpPr/>
          <p:nvPr/>
        </p:nvSpPr>
        <p:spPr>
          <a:xfrm>
            <a:off x="3785616" y="3840480"/>
            <a:ext cx="128016" cy="128016"/>
          </a:xfrm>
          <a:prstGeom prst="ellipse">
            <a:avLst/>
          </a:prstGeom>
          <a:solidFill>
            <a:srgbClr val="B02532"/>
          </a:solidFill>
          <a:ln w="12700">
            <a:solidFill>
              <a:srgbClr val="B02532"/>
            </a:solidFill>
            <a:prstDash val="solid"/>
          </a:ln>
        </p:spPr>
        <p:txBody>
          <a:bodyPr/>
          <a:p/>
        </p:txBody>
      </p:sp>
      <p:sp>
        <p:nvSpPr>
          <p:cNvPr id="23" name="Shape 21"/>
          <p:cNvSpPr/>
          <p:nvPr/>
        </p:nvSpPr>
        <p:spPr>
          <a:xfrm>
            <a:off x="3959352" y="3840480"/>
            <a:ext cx="128016" cy="128016"/>
          </a:xfrm>
          <a:prstGeom prst="ellipse">
            <a:avLst/>
          </a:prstGeom>
          <a:solidFill>
            <a:srgbClr val="D6D2C8"/>
          </a:solidFill>
          <a:ln w="12700">
            <a:solidFill>
              <a:srgbClr val="D6D2C8"/>
            </a:solidFill>
            <a:prstDash val="solid"/>
          </a:ln>
        </p:spPr>
        <p:txBody>
          <a:bodyPr/>
          <a:p/>
        </p:txBody>
      </p:sp>
      <p:sp>
        <p:nvSpPr>
          <p:cNvPr id="24" name="Shape 22"/>
          <p:cNvSpPr/>
          <p:nvPr/>
        </p:nvSpPr>
        <p:spPr>
          <a:xfrm>
            <a:off x="4133088" y="3840480"/>
            <a:ext cx="128016" cy="128016"/>
          </a:xfrm>
          <a:prstGeom prst="ellipse">
            <a:avLst/>
          </a:prstGeom>
          <a:solidFill>
            <a:srgbClr val="D6D2C8"/>
          </a:solidFill>
          <a:ln w="12700">
            <a:solidFill>
              <a:srgbClr val="D6D2C8"/>
            </a:solidFill>
            <a:prstDash val="solid"/>
          </a:ln>
        </p:spPr>
        <p:txBody>
          <a:bodyPr/>
          <a:p/>
        </p:txBody>
      </p:sp>
      <p:sp>
        <p:nvSpPr>
          <p:cNvPr id="25" name="Shape 23"/>
          <p:cNvSpPr/>
          <p:nvPr/>
        </p:nvSpPr>
        <p:spPr>
          <a:xfrm>
            <a:off x="4306824" y="3840480"/>
            <a:ext cx="128016" cy="128016"/>
          </a:xfrm>
          <a:prstGeom prst="ellipse">
            <a:avLst/>
          </a:prstGeom>
          <a:solidFill>
            <a:srgbClr val="D6D2C8"/>
          </a:solidFill>
          <a:ln w="12700">
            <a:solidFill>
              <a:srgbClr val="D6D2C8"/>
            </a:solidFill>
            <a:prstDash val="solid"/>
          </a:ln>
        </p:spPr>
        <p:txBody>
          <a:bodyPr/>
          <a:p/>
        </p:txBody>
      </p:sp>
      <p:sp>
        <p:nvSpPr>
          <p:cNvPr id="26" name="Shape 24"/>
          <p:cNvSpPr/>
          <p:nvPr/>
        </p:nvSpPr>
        <p:spPr>
          <a:xfrm>
            <a:off x="4480560" y="3840480"/>
            <a:ext cx="128016" cy="128016"/>
          </a:xfrm>
          <a:prstGeom prst="ellipse">
            <a:avLst/>
          </a:prstGeom>
          <a:solidFill>
            <a:srgbClr val="D6D2C8"/>
          </a:solidFill>
          <a:ln w="12700">
            <a:solidFill>
              <a:srgbClr val="D6D2C8"/>
            </a:solidFill>
            <a:prstDash val="solid"/>
          </a:ln>
        </p:spPr>
        <p:txBody>
          <a:bodyPr/>
          <a:p/>
        </p:txBody>
      </p:sp>
      <p:sp>
        <p:nvSpPr>
          <p:cNvPr id="27" name="Shape 25"/>
          <p:cNvSpPr/>
          <p:nvPr/>
        </p:nvSpPr>
        <p:spPr>
          <a:xfrm>
            <a:off x="4654296" y="3840480"/>
            <a:ext cx="128016" cy="128016"/>
          </a:xfrm>
          <a:prstGeom prst="ellipse">
            <a:avLst/>
          </a:prstGeom>
          <a:solidFill>
            <a:srgbClr val="D6D2C8"/>
          </a:solidFill>
          <a:ln w="12700">
            <a:solidFill>
              <a:srgbClr val="D6D2C8"/>
            </a:solidFill>
            <a:prstDash val="solid"/>
          </a:ln>
        </p:spPr>
        <p:txBody>
          <a:bodyPr/>
          <a:p/>
        </p:txBody>
      </p:sp>
      <p:sp>
        <p:nvSpPr>
          <p:cNvPr id="28" name="Shape 26"/>
          <p:cNvSpPr/>
          <p:nvPr/>
        </p:nvSpPr>
        <p:spPr>
          <a:xfrm>
            <a:off x="4828032" y="3840480"/>
            <a:ext cx="128016" cy="128016"/>
          </a:xfrm>
          <a:prstGeom prst="ellipse">
            <a:avLst/>
          </a:prstGeom>
          <a:solidFill>
            <a:srgbClr val="D6D2C8"/>
          </a:solidFill>
          <a:ln w="12700">
            <a:solidFill>
              <a:srgbClr val="D6D2C8"/>
            </a:solidFill>
            <a:prstDash val="solid"/>
          </a:ln>
        </p:spPr>
        <p:txBody>
          <a:bodyPr/>
          <a:p/>
        </p:txBody>
      </p:sp>
      <p:sp>
        <p:nvSpPr>
          <p:cNvPr id="29" name="Shape 27"/>
          <p:cNvSpPr/>
          <p:nvPr/>
        </p:nvSpPr>
        <p:spPr>
          <a:xfrm>
            <a:off x="5001768" y="3840480"/>
            <a:ext cx="128016" cy="128016"/>
          </a:xfrm>
          <a:prstGeom prst="ellipse">
            <a:avLst/>
          </a:prstGeom>
          <a:solidFill>
            <a:srgbClr val="D6D2C8"/>
          </a:solidFill>
          <a:ln w="12700">
            <a:solidFill>
              <a:srgbClr val="D6D2C8"/>
            </a:solidFill>
            <a:prstDash val="solid"/>
          </a:ln>
        </p:spPr>
        <p:txBody>
          <a:bodyPr/>
          <a:p/>
        </p:txBody>
      </p:sp>
      <p:sp>
        <p:nvSpPr>
          <p:cNvPr id="30" name="Shape 28"/>
          <p:cNvSpPr/>
          <p:nvPr/>
        </p:nvSpPr>
        <p:spPr>
          <a:xfrm>
            <a:off x="5175504" y="3840480"/>
            <a:ext cx="128016" cy="128016"/>
          </a:xfrm>
          <a:prstGeom prst="ellipse">
            <a:avLst/>
          </a:prstGeom>
          <a:solidFill>
            <a:srgbClr val="D6D2C8"/>
          </a:solidFill>
          <a:ln w="12700">
            <a:solidFill>
              <a:srgbClr val="D6D2C8"/>
            </a:solidFill>
            <a:prstDash val="solid"/>
          </a:ln>
        </p:spPr>
        <p:txBody>
          <a:bodyPr/>
          <a:p/>
        </p:txBody>
      </p:sp>
      <p:sp>
        <p:nvSpPr>
          <p:cNvPr id="31" name="Shape 29"/>
          <p:cNvSpPr/>
          <p:nvPr/>
        </p:nvSpPr>
        <p:spPr>
          <a:xfrm>
            <a:off x="5349240" y="3840480"/>
            <a:ext cx="128016" cy="128016"/>
          </a:xfrm>
          <a:prstGeom prst="ellipse">
            <a:avLst/>
          </a:prstGeom>
          <a:solidFill>
            <a:srgbClr val="D6D2C8"/>
          </a:solidFill>
          <a:ln w="12700">
            <a:solidFill>
              <a:srgbClr val="D6D2C8"/>
            </a:solidFill>
            <a:prstDash val="solid"/>
          </a:ln>
        </p:spPr>
        <p:txBody>
          <a:bodyPr/>
          <a:p/>
        </p:txBody>
      </p:sp>
      <p:sp>
        <p:nvSpPr>
          <p:cNvPr id="32" name="Shape 30"/>
          <p:cNvSpPr/>
          <p:nvPr/>
        </p:nvSpPr>
        <p:spPr>
          <a:xfrm>
            <a:off x="5522976" y="3840480"/>
            <a:ext cx="128016" cy="128016"/>
          </a:xfrm>
          <a:prstGeom prst="ellipse">
            <a:avLst/>
          </a:prstGeom>
          <a:solidFill>
            <a:srgbClr val="D6D2C8"/>
          </a:solidFill>
          <a:ln w="12700">
            <a:solidFill>
              <a:srgbClr val="D6D2C8"/>
            </a:solidFill>
            <a:prstDash val="solid"/>
          </a:ln>
        </p:spPr>
        <p:txBody>
          <a:bodyPr/>
          <a:p/>
        </p:txBody>
      </p:sp>
      <p:sp>
        <p:nvSpPr>
          <p:cNvPr id="33" name="Shape 31"/>
          <p:cNvSpPr/>
          <p:nvPr/>
        </p:nvSpPr>
        <p:spPr>
          <a:xfrm>
            <a:off x="5696712" y="3840480"/>
            <a:ext cx="128016" cy="128016"/>
          </a:xfrm>
          <a:prstGeom prst="ellipse">
            <a:avLst/>
          </a:prstGeom>
          <a:solidFill>
            <a:srgbClr val="D6D2C8"/>
          </a:solidFill>
          <a:ln w="12700">
            <a:solidFill>
              <a:srgbClr val="D6D2C8"/>
            </a:solidFill>
            <a:prstDash val="solid"/>
          </a:ln>
        </p:spPr>
        <p:txBody>
          <a:bodyPr/>
          <a:p/>
        </p:txBody>
      </p:sp>
      <p:sp>
        <p:nvSpPr>
          <p:cNvPr id="34" name="Shape 32"/>
          <p:cNvSpPr/>
          <p:nvPr/>
        </p:nvSpPr>
        <p:spPr>
          <a:xfrm>
            <a:off x="5870448" y="3840480"/>
            <a:ext cx="128016" cy="128016"/>
          </a:xfrm>
          <a:prstGeom prst="ellipse">
            <a:avLst/>
          </a:prstGeom>
          <a:solidFill>
            <a:srgbClr val="D6D2C8"/>
          </a:solidFill>
          <a:ln w="12700">
            <a:solidFill>
              <a:srgbClr val="D6D2C8"/>
            </a:solidFill>
            <a:prstDash val="solid"/>
          </a:ln>
        </p:spPr>
        <p:txBody>
          <a:bodyPr/>
          <a:p/>
        </p:txBody>
      </p:sp>
      <p:sp>
        <p:nvSpPr>
          <p:cNvPr id="35" name="Shape 33"/>
          <p:cNvSpPr/>
          <p:nvPr/>
        </p:nvSpPr>
        <p:spPr>
          <a:xfrm>
            <a:off x="6044184" y="3840480"/>
            <a:ext cx="128016" cy="128016"/>
          </a:xfrm>
          <a:prstGeom prst="ellipse">
            <a:avLst/>
          </a:prstGeom>
          <a:solidFill>
            <a:srgbClr val="D6D2C8"/>
          </a:solidFill>
          <a:ln w="12700">
            <a:solidFill>
              <a:srgbClr val="D6D2C8"/>
            </a:solidFill>
            <a:prstDash val="solid"/>
          </a:ln>
        </p:spPr>
        <p:txBody>
          <a:bodyPr/>
          <a:p/>
        </p:txBody>
      </p:sp>
      <p:sp>
        <p:nvSpPr>
          <p:cNvPr id="36" name="Shape 34"/>
          <p:cNvSpPr/>
          <p:nvPr/>
        </p:nvSpPr>
        <p:spPr>
          <a:xfrm>
            <a:off x="2743200" y="4014216"/>
            <a:ext cx="128016" cy="128016"/>
          </a:xfrm>
          <a:prstGeom prst="ellipse">
            <a:avLst/>
          </a:prstGeom>
          <a:solidFill>
            <a:srgbClr val="D6D2C8"/>
          </a:solidFill>
          <a:ln w="12700">
            <a:solidFill>
              <a:srgbClr val="D6D2C8"/>
            </a:solidFill>
            <a:prstDash val="solid"/>
          </a:ln>
        </p:spPr>
        <p:txBody>
          <a:bodyPr/>
          <a:p/>
        </p:txBody>
      </p:sp>
      <p:sp>
        <p:nvSpPr>
          <p:cNvPr id="37" name="Shape 35"/>
          <p:cNvSpPr/>
          <p:nvPr/>
        </p:nvSpPr>
        <p:spPr>
          <a:xfrm>
            <a:off x="2916936" y="4014216"/>
            <a:ext cx="128016" cy="128016"/>
          </a:xfrm>
          <a:prstGeom prst="ellipse">
            <a:avLst/>
          </a:prstGeom>
          <a:solidFill>
            <a:srgbClr val="D6D2C8"/>
          </a:solidFill>
          <a:ln w="12700">
            <a:solidFill>
              <a:srgbClr val="D6D2C8"/>
            </a:solidFill>
            <a:prstDash val="solid"/>
          </a:ln>
        </p:spPr>
        <p:txBody>
          <a:bodyPr/>
          <a:p/>
        </p:txBody>
      </p:sp>
      <p:sp>
        <p:nvSpPr>
          <p:cNvPr id="38" name="Shape 36"/>
          <p:cNvSpPr/>
          <p:nvPr/>
        </p:nvSpPr>
        <p:spPr>
          <a:xfrm>
            <a:off x="3090672" y="4014216"/>
            <a:ext cx="128016" cy="128016"/>
          </a:xfrm>
          <a:prstGeom prst="ellipse">
            <a:avLst/>
          </a:prstGeom>
          <a:solidFill>
            <a:srgbClr val="D6D2C8"/>
          </a:solidFill>
          <a:ln w="12700">
            <a:solidFill>
              <a:srgbClr val="D6D2C8"/>
            </a:solidFill>
            <a:prstDash val="solid"/>
          </a:ln>
        </p:spPr>
        <p:txBody>
          <a:bodyPr/>
          <a:p/>
        </p:txBody>
      </p:sp>
      <p:sp>
        <p:nvSpPr>
          <p:cNvPr id="39" name="Shape 37"/>
          <p:cNvSpPr/>
          <p:nvPr/>
        </p:nvSpPr>
        <p:spPr>
          <a:xfrm>
            <a:off x="3264408" y="4014216"/>
            <a:ext cx="128016" cy="128016"/>
          </a:xfrm>
          <a:prstGeom prst="ellipse">
            <a:avLst/>
          </a:prstGeom>
          <a:solidFill>
            <a:srgbClr val="D6D2C8"/>
          </a:solidFill>
          <a:ln w="12700">
            <a:solidFill>
              <a:srgbClr val="D6D2C8"/>
            </a:solidFill>
            <a:prstDash val="solid"/>
          </a:ln>
        </p:spPr>
        <p:txBody>
          <a:bodyPr/>
          <a:p/>
        </p:txBody>
      </p:sp>
      <p:sp>
        <p:nvSpPr>
          <p:cNvPr id="40" name="Shape 38"/>
          <p:cNvSpPr/>
          <p:nvPr/>
        </p:nvSpPr>
        <p:spPr>
          <a:xfrm>
            <a:off x="3438144" y="4014216"/>
            <a:ext cx="128016" cy="128016"/>
          </a:xfrm>
          <a:prstGeom prst="ellipse">
            <a:avLst/>
          </a:prstGeom>
          <a:solidFill>
            <a:srgbClr val="D6D2C8"/>
          </a:solidFill>
          <a:ln w="12700">
            <a:solidFill>
              <a:srgbClr val="D6D2C8"/>
            </a:solidFill>
            <a:prstDash val="solid"/>
          </a:ln>
        </p:spPr>
        <p:txBody>
          <a:bodyPr/>
          <a:p/>
        </p:txBody>
      </p:sp>
      <p:sp>
        <p:nvSpPr>
          <p:cNvPr id="41" name="Shape 39"/>
          <p:cNvSpPr/>
          <p:nvPr/>
        </p:nvSpPr>
        <p:spPr>
          <a:xfrm>
            <a:off x="3611880" y="4014216"/>
            <a:ext cx="128016" cy="128016"/>
          </a:xfrm>
          <a:prstGeom prst="ellipse">
            <a:avLst/>
          </a:prstGeom>
          <a:solidFill>
            <a:srgbClr val="D6D2C8"/>
          </a:solidFill>
          <a:ln w="12700">
            <a:solidFill>
              <a:srgbClr val="D6D2C8"/>
            </a:solidFill>
            <a:prstDash val="solid"/>
          </a:ln>
        </p:spPr>
        <p:txBody>
          <a:bodyPr/>
          <a:p/>
        </p:txBody>
      </p:sp>
      <p:sp>
        <p:nvSpPr>
          <p:cNvPr id="42" name="Shape 40"/>
          <p:cNvSpPr/>
          <p:nvPr/>
        </p:nvSpPr>
        <p:spPr>
          <a:xfrm>
            <a:off x="3785616" y="4014216"/>
            <a:ext cx="128016" cy="128016"/>
          </a:xfrm>
          <a:prstGeom prst="ellipse">
            <a:avLst/>
          </a:prstGeom>
          <a:solidFill>
            <a:srgbClr val="D6D2C8"/>
          </a:solidFill>
          <a:ln w="12700">
            <a:solidFill>
              <a:srgbClr val="D6D2C8"/>
            </a:solidFill>
            <a:prstDash val="solid"/>
          </a:ln>
        </p:spPr>
        <p:txBody>
          <a:bodyPr/>
          <a:p/>
        </p:txBody>
      </p:sp>
      <p:sp>
        <p:nvSpPr>
          <p:cNvPr id="43" name="Shape 41"/>
          <p:cNvSpPr/>
          <p:nvPr/>
        </p:nvSpPr>
        <p:spPr>
          <a:xfrm>
            <a:off x="3959352" y="4014216"/>
            <a:ext cx="128016" cy="128016"/>
          </a:xfrm>
          <a:prstGeom prst="ellipse">
            <a:avLst/>
          </a:prstGeom>
          <a:solidFill>
            <a:srgbClr val="D6D2C8"/>
          </a:solidFill>
          <a:ln w="12700">
            <a:solidFill>
              <a:srgbClr val="D6D2C8"/>
            </a:solidFill>
            <a:prstDash val="solid"/>
          </a:ln>
        </p:spPr>
        <p:txBody>
          <a:bodyPr/>
          <a:p/>
        </p:txBody>
      </p:sp>
      <p:sp>
        <p:nvSpPr>
          <p:cNvPr id="44" name="Shape 42"/>
          <p:cNvSpPr/>
          <p:nvPr/>
        </p:nvSpPr>
        <p:spPr>
          <a:xfrm>
            <a:off x="4133088" y="4014216"/>
            <a:ext cx="128016" cy="128016"/>
          </a:xfrm>
          <a:prstGeom prst="ellipse">
            <a:avLst/>
          </a:prstGeom>
          <a:solidFill>
            <a:srgbClr val="D6D2C8"/>
          </a:solidFill>
          <a:ln w="12700">
            <a:solidFill>
              <a:srgbClr val="D6D2C8"/>
            </a:solidFill>
            <a:prstDash val="solid"/>
          </a:ln>
        </p:spPr>
        <p:txBody>
          <a:bodyPr/>
          <a:p/>
        </p:txBody>
      </p:sp>
      <p:sp>
        <p:nvSpPr>
          <p:cNvPr id="45" name="Shape 43"/>
          <p:cNvSpPr/>
          <p:nvPr/>
        </p:nvSpPr>
        <p:spPr>
          <a:xfrm>
            <a:off x="4306824" y="4014216"/>
            <a:ext cx="128016" cy="128016"/>
          </a:xfrm>
          <a:prstGeom prst="ellipse">
            <a:avLst/>
          </a:prstGeom>
          <a:solidFill>
            <a:srgbClr val="D6D2C8"/>
          </a:solidFill>
          <a:ln w="12700">
            <a:solidFill>
              <a:srgbClr val="D6D2C8"/>
            </a:solidFill>
            <a:prstDash val="solid"/>
          </a:ln>
        </p:spPr>
        <p:txBody>
          <a:bodyPr/>
          <a:p/>
        </p:txBody>
      </p:sp>
      <p:sp>
        <p:nvSpPr>
          <p:cNvPr id="46" name="Shape 44"/>
          <p:cNvSpPr/>
          <p:nvPr/>
        </p:nvSpPr>
        <p:spPr>
          <a:xfrm>
            <a:off x="4480560" y="4014216"/>
            <a:ext cx="128016" cy="128016"/>
          </a:xfrm>
          <a:prstGeom prst="ellipse">
            <a:avLst/>
          </a:prstGeom>
          <a:solidFill>
            <a:srgbClr val="D6D2C8"/>
          </a:solidFill>
          <a:ln w="12700">
            <a:solidFill>
              <a:srgbClr val="D6D2C8"/>
            </a:solidFill>
            <a:prstDash val="solid"/>
          </a:ln>
        </p:spPr>
        <p:txBody>
          <a:bodyPr/>
          <a:p/>
        </p:txBody>
      </p:sp>
      <p:sp>
        <p:nvSpPr>
          <p:cNvPr id="47" name="Shape 45"/>
          <p:cNvSpPr/>
          <p:nvPr/>
        </p:nvSpPr>
        <p:spPr>
          <a:xfrm>
            <a:off x="4654296" y="4014216"/>
            <a:ext cx="128016" cy="128016"/>
          </a:xfrm>
          <a:prstGeom prst="ellipse">
            <a:avLst/>
          </a:prstGeom>
          <a:solidFill>
            <a:srgbClr val="D6D2C8"/>
          </a:solidFill>
          <a:ln w="12700">
            <a:solidFill>
              <a:srgbClr val="D6D2C8"/>
            </a:solidFill>
            <a:prstDash val="solid"/>
          </a:ln>
        </p:spPr>
        <p:txBody>
          <a:bodyPr/>
          <a:p/>
        </p:txBody>
      </p:sp>
      <p:sp>
        <p:nvSpPr>
          <p:cNvPr id="48" name="Shape 46"/>
          <p:cNvSpPr/>
          <p:nvPr/>
        </p:nvSpPr>
        <p:spPr>
          <a:xfrm>
            <a:off x="4828032" y="4014216"/>
            <a:ext cx="128016" cy="128016"/>
          </a:xfrm>
          <a:prstGeom prst="ellipse">
            <a:avLst/>
          </a:prstGeom>
          <a:solidFill>
            <a:srgbClr val="D6D2C8"/>
          </a:solidFill>
          <a:ln w="12700">
            <a:solidFill>
              <a:srgbClr val="D6D2C8"/>
            </a:solidFill>
            <a:prstDash val="solid"/>
          </a:ln>
        </p:spPr>
        <p:txBody>
          <a:bodyPr/>
          <a:p/>
        </p:txBody>
      </p:sp>
      <p:sp>
        <p:nvSpPr>
          <p:cNvPr id="49" name="Shape 47"/>
          <p:cNvSpPr/>
          <p:nvPr/>
        </p:nvSpPr>
        <p:spPr>
          <a:xfrm>
            <a:off x="5001768" y="4014216"/>
            <a:ext cx="128016" cy="128016"/>
          </a:xfrm>
          <a:prstGeom prst="ellipse">
            <a:avLst/>
          </a:prstGeom>
          <a:solidFill>
            <a:srgbClr val="D6D2C8"/>
          </a:solidFill>
          <a:ln w="12700">
            <a:solidFill>
              <a:srgbClr val="D6D2C8"/>
            </a:solidFill>
            <a:prstDash val="solid"/>
          </a:ln>
        </p:spPr>
        <p:txBody>
          <a:bodyPr/>
          <a:p/>
        </p:txBody>
      </p:sp>
      <p:sp>
        <p:nvSpPr>
          <p:cNvPr id="50" name="Shape 48"/>
          <p:cNvSpPr/>
          <p:nvPr/>
        </p:nvSpPr>
        <p:spPr>
          <a:xfrm>
            <a:off x="5175504" y="4014216"/>
            <a:ext cx="128016" cy="128016"/>
          </a:xfrm>
          <a:prstGeom prst="ellipse">
            <a:avLst/>
          </a:prstGeom>
          <a:solidFill>
            <a:srgbClr val="D6D2C8"/>
          </a:solidFill>
          <a:ln w="12700">
            <a:solidFill>
              <a:srgbClr val="D6D2C8"/>
            </a:solidFill>
            <a:prstDash val="solid"/>
          </a:ln>
        </p:spPr>
        <p:txBody>
          <a:bodyPr/>
          <a:p/>
        </p:txBody>
      </p:sp>
      <p:sp>
        <p:nvSpPr>
          <p:cNvPr id="51" name="Shape 49"/>
          <p:cNvSpPr/>
          <p:nvPr/>
        </p:nvSpPr>
        <p:spPr>
          <a:xfrm>
            <a:off x="5349240" y="4014216"/>
            <a:ext cx="128016" cy="128016"/>
          </a:xfrm>
          <a:prstGeom prst="ellipse">
            <a:avLst/>
          </a:prstGeom>
          <a:solidFill>
            <a:srgbClr val="D6D2C8"/>
          </a:solidFill>
          <a:ln w="12700">
            <a:solidFill>
              <a:srgbClr val="D6D2C8"/>
            </a:solidFill>
            <a:prstDash val="solid"/>
          </a:ln>
        </p:spPr>
        <p:txBody>
          <a:bodyPr/>
          <a:p/>
        </p:txBody>
      </p:sp>
      <p:sp>
        <p:nvSpPr>
          <p:cNvPr id="52" name="Shape 50"/>
          <p:cNvSpPr/>
          <p:nvPr/>
        </p:nvSpPr>
        <p:spPr>
          <a:xfrm>
            <a:off x="5522976" y="4014216"/>
            <a:ext cx="128016" cy="128016"/>
          </a:xfrm>
          <a:prstGeom prst="ellipse">
            <a:avLst/>
          </a:prstGeom>
          <a:solidFill>
            <a:srgbClr val="D6D2C8"/>
          </a:solidFill>
          <a:ln w="12700">
            <a:solidFill>
              <a:srgbClr val="D6D2C8"/>
            </a:solidFill>
            <a:prstDash val="solid"/>
          </a:ln>
        </p:spPr>
        <p:txBody>
          <a:bodyPr/>
          <a:p/>
        </p:txBody>
      </p:sp>
      <p:sp>
        <p:nvSpPr>
          <p:cNvPr id="53" name="Shape 51"/>
          <p:cNvSpPr/>
          <p:nvPr/>
        </p:nvSpPr>
        <p:spPr>
          <a:xfrm>
            <a:off x="5696712" y="4014216"/>
            <a:ext cx="128016" cy="128016"/>
          </a:xfrm>
          <a:prstGeom prst="ellipse">
            <a:avLst/>
          </a:prstGeom>
          <a:solidFill>
            <a:srgbClr val="D6D2C8"/>
          </a:solidFill>
          <a:ln w="12700">
            <a:solidFill>
              <a:srgbClr val="D6D2C8"/>
            </a:solidFill>
            <a:prstDash val="solid"/>
          </a:ln>
        </p:spPr>
        <p:txBody>
          <a:bodyPr/>
          <a:p/>
        </p:txBody>
      </p:sp>
      <p:sp>
        <p:nvSpPr>
          <p:cNvPr id="54" name="Shape 52"/>
          <p:cNvSpPr/>
          <p:nvPr/>
        </p:nvSpPr>
        <p:spPr>
          <a:xfrm>
            <a:off x="5870448" y="4014216"/>
            <a:ext cx="128016" cy="128016"/>
          </a:xfrm>
          <a:prstGeom prst="ellipse">
            <a:avLst/>
          </a:prstGeom>
          <a:solidFill>
            <a:srgbClr val="D6D2C8"/>
          </a:solidFill>
          <a:ln w="12700">
            <a:solidFill>
              <a:srgbClr val="D6D2C8"/>
            </a:solidFill>
            <a:prstDash val="solid"/>
          </a:ln>
        </p:spPr>
        <p:txBody>
          <a:bodyPr/>
          <a:p/>
        </p:txBody>
      </p:sp>
      <p:sp>
        <p:nvSpPr>
          <p:cNvPr id="55" name="Shape 53"/>
          <p:cNvSpPr/>
          <p:nvPr/>
        </p:nvSpPr>
        <p:spPr>
          <a:xfrm>
            <a:off x="6044184" y="4014216"/>
            <a:ext cx="128016" cy="128016"/>
          </a:xfrm>
          <a:prstGeom prst="ellipse">
            <a:avLst/>
          </a:prstGeom>
          <a:solidFill>
            <a:srgbClr val="D6D2C8"/>
          </a:solidFill>
          <a:ln w="12700">
            <a:solidFill>
              <a:srgbClr val="D6D2C8"/>
            </a:solidFill>
            <a:prstDash val="solid"/>
          </a:ln>
        </p:spPr>
        <p:txBody>
          <a:bodyPr/>
          <a:p/>
        </p:txBody>
      </p:sp>
      <p:sp>
        <p:nvSpPr>
          <p:cNvPr id="56" name="Shape 54"/>
          <p:cNvSpPr/>
          <p:nvPr/>
        </p:nvSpPr>
        <p:spPr>
          <a:xfrm>
            <a:off x="2743200" y="4187952"/>
            <a:ext cx="128016" cy="128016"/>
          </a:xfrm>
          <a:prstGeom prst="ellipse">
            <a:avLst/>
          </a:prstGeom>
          <a:solidFill>
            <a:srgbClr val="D6D2C8"/>
          </a:solidFill>
          <a:ln w="12700">
            <a:solidFill>
              <a:srgbClr val="D6D2C8"/>
            </a:solidFill>
            <a:prstDash val="solid"/>
          </a:ln>
        </p:spPr>
        <p:txBody>
          <a:bodyPr/>
          <a:p/>
        </p:txBody>
      </p:sp>
      <p:sp>
        <p:nvSpPr>
          <p:cNvPr id="57" name="Shape 55"/>
          <p:cNvSpPr/>
          <p:nvPr/>
        </p:nvSpPr>
        <p:spPr>
          <a:xfrm>
            <a:off x="2916936" y="4187952"/>
            <a:ext cx="128016" cy="128016"/>
          </a:xfrm>
          <a:prstGeom prst="ellipse">
            <a:avLst/>
          </a:prstGeom>
          <a:solidFill>
            <a:srgbClr val="D6D2C8"/>
          </a:solidFill>
          <a:ln w="12700">
            <a:solidFill>
              <a:srgbClr val="D6D2C8"/>
            </a:solidFill>
            <a:prstDash val="solid"/>
          </a:ln>
        </p:spPr>
        <p:txBody>
          <a:bodyPr/>
          <a:p/>
        </p:txBody>
      </p:sp>
      <p:sp>
        <p:nvSpPr>
          <p:cNvPr id="58" name="Shape 56"/>
          <p:cNvSpPr/>
          <p:nvPr/>
        </p:nvSpPr>
        <p:spPr>
          <a:xfrm>
            <a:off x="3090672" y="4187952"/>
            <a:ext cx="128016" cy="128016"/>
          </a:xfrm>
          <a:prstGeom prst="ellipse">
            <a:avLst/>
          </a:prstGeom>
          <a:solidFill>
            <a:srgbClr val="D6D2C8"/>
          </a:solidFill>
          <a:ln w="12700">
            <a:solidFill>
              <a:srgbClr val="D6D2C8"/>
            </a:solidFill>
            <a:prstDash val="solid"/>
          </a:ln>
        </p:spPr>
        <p:txBody>
          <a:bodyPr/>
          <a:p/>
        </p:txBody>
      </p:sp>
      <p:sp>
        <p:nvSpPr>
          <p:cNvPr id="59" name="Shape 57"/>
          <p:cNvSpPr/>
          <p:nvPr/>
        </p:nvSpPr>
        <p:spPr>
          <a:xfrm>
            <a:off x="3264408" y="4187952"/>
            <a:ext cx="128016" cy="128016"/>
          </a:xfrm>
          <a:prstGeom prst="ellipse">
            <a:avLst/>
          </a:prstGeom>
          <a:solidFill>
            <a:srgbClr val="D6D2C8"/>
          </a:solidFill>
          <a:ln w="12700">
            <a:solidFill>
              <a:srgbClr val="D6D2C8"/>
            </a:solidFill>
            <a:prstDash val="solid"/>
          </a:ln>
        </p:spPr>
        <p:txBody>
          <a:bodyPr/>
          <a:p/>
        </p:txBody>
      </p:sp>
      <p:sp>
        <p:nvSpPr>
          <p:cNvPr id="60" name="Shape 58"/>
          <p:cNvSpPr/>
          <p:nvPr/>
        </p:nvSpPr>
        <p:spPr>
          <a:xfrm>
            <a:off x="3438144" y="4187952"/>
            <a:ext cx="128016" cy="128016"/>
          </a:xfrm>
          <a:prstGeom prst="ellipse">
            <a:avLst/>
          </a:prstGeom>
          <a:solidFill>
            <a:srgbClr val="D6D2C8"/>
          </a:solidFill>
          <a:ln w="12700">
            <a:solidFill>
              <a:srgbClr val="D6D2C8"/>
            </a:solidFill>
            <a:prstDash val="solid"/>
          </a:ln>
        </p:spPr>
        <p:txBody>
          <a:bodyPr/>
          <a:p/>
        </p:txBody>
      </p:sp>
      <p:sp>
        <p:nvSpPr>
          <p:cNvPr id="61" name="Shape 59"/>
          <p:cNvSpPr/>
          <p:nvPr/>
        </p:nvSpPr>
        <p:spPr>
          <a:xfrm>
            <a:off x="3611880" y="4187952"/>
            <a:ext cx="128016" cy="128016"/>
          </a:xfrm>
          <a:prstGeom prst="ellipse">
            <a:avLst/>
          </a:prstGeom>
          <a:solidFill>
            <a:srgbClr val="D6D2C8"/>
          </a:solidFill>
          <a:ln w="12700">
            <a:solidFill>
              <a:srgbClr val="D6D2C8"/>
            </a:solidFill>
            <a:prstDash val="solid"/>
          </a:ln>
        </p:spPr>
        <p:txBody>
          <a:bodyPr/>
          <a:p/>
        </p:txBody>
      </p:sp>
      <p:sp>
        <p:nvSpPr>
          <p:cNvPr id="62" name="Shape 60"/>
          <p:cNvSpPr/>
          <p:nvPr/>
        </p:nvSpPr>
        <p:spPr>
          <a:xfrm>
            <a:off x="3785616" y="4187952"/>
            <a:ext cx="128016" cy="128016"/>
          </a:xfrm>
          <a:prstGeom prst="ellipse">
            <a:avLst/>
          </a:prstGeom>
          <a:solidFill>
            <a:srgbClr val="D6D2C8"/>
          </a:solidFill>
          <a:ln w="12700">
            <a:solidFill>
              <a:srgbClr val="D6D2C8"/>
            </a:solidFill>
            <a:prstDash val="solid"/>
          </a:ln>
        </p:spPr>
        <p:txBody>
          <a:bodyPr/>
          <a:p/>
        </p:txBody>
      </p:sp>
      <p:sp>
        <p:nvSpPr>
          <p:cNvPr id="63" name="Shape 61"/>
          <p:cNvSpPr/>
          <p:nvPr/>
        </p:nvSpPr>
        <p:spPr>
          <a:xfrm>
            <a:off x="3959352" y="4187952"/>
            <a:ext cx="128016" cy="128016"/>
          </a:xfrm>
          <a:prstGeom prst="ellipse">
            <a:avLst/>
          </a:prstGeom>
          <a:solidFill>
            <a:srgbClr val="D6D2C8"/>
          </a:solidFill>
          <a:ln w="12700">
            <a:solidFill>
              <a:srgbClr val="D6D2C8"/>
            </a:solidFill>
            <a:prstDash val="solid"/>
          </a:ln>
        </p:spPr>
        <p:txBody>
          <a:bodyPr/>
          <a:p/>
        </p:txBody>
      </p:sp>
      <p:sp>
        <p:nvSpPr>
          <p:cNvPr id="64" name="Shape 62"/>
          <p:cNvSpPr/>
          <p:nvPr/>
        </p:nvSpPr>
        <p:spPr>
          <a:xfrm>
            <a:off x="4133088" y="4187952"/>
            <a:ext cx="128016" cy="128016"/>
          </a:xfrm>
          <a:prstGeom prst="ellipse">
            <a:avLst/>
          </a:prstGeom>
          <a:solidFill>
            <a:srgbClr val="D6D2C8"/>
          </a:solidFill>
          <a:ln w="12700">
            <a:solidFill>
              <a:srgbClr val="D6D2C8"/>
            </a:solidFill>
            <a:prstDash val="solid"/>
          </a:ln>
        </p:spPr>
        <p:txBody>
          <a:bodyPr/>
          <a:p/>
        </p:txBody>
      </p:sp>
      <p:sp>
        <p:nvSpPr>
          <p:cNvPr id="65" name="Shape 63"/>
          <p:cNvSpPr/>
          <p:nvPr/>
        </p:nvSpPr>
        <p:spPr>
          <a:xfrm>
            <a:off x="4306824" y="4187952"/>
            <a:ext cx="128016" cy="128016"/>
          </a:xfrm>
          <a:prstGeom prst="ellipse">
            <a:avLst/>
          </a:prstGeom>
          <a:solidFill>
            <a:srgbClr val="D6D2C8"/>
          </a:solidFill>
          <a:ln w="12700">
            <a:solidFill>
              <a:srgbClr val="D6D2C8"/>
            </a:solidFill>
            <a:prstDash val="solid"/>
          </a:ln>
        </p:spPr>
        <p:txBody>
          <a:bodyPr/>
          <a:p/>
        </p:txBody>
      </p:sp>
      <p:sp>
        <p:nvSpPr>
          <p:cNvPr id="66" name="Shape 64"/>
          <p:cNvSpPr/>
          <p:nvPr/>
        </p:nvSpPr>
        <p:spPr>
          <a:xfrm>
            <a:off x="4480560" y="4187952"/>
            <a:ext cx="128016" cy="128016"/>
          </a:xfrm>
          <a:prstGeom prst="ellipse">
            <a:avLst/>
          </a:prstGeom>
          <a:solidFill>
            <a:srgbClr val="D6D2C8"/>
          </a:solidFill>
          <a:ln w="12700">
            <a:solidFill>
              <a:srgbClr val="D6D2C8"/>
            </a:solidFill>
            <a:prstDash val="solid"/>
          </a:ln>
        </p:spPr>
        <p:txBody>
          <a:bodyPr/>
          <a:p/>
        </p:txBody>
      </p:sp>
      <p:sp>
        <p:nvSpPr>
          <p:cNvPr id="67" name="Shape 65"/>
          <p:cNvSpPr/>
          <p:nvPr/>
        </p:nvSpPr>
        <p:spPr>
          <a:xfrm>
            <a:off x="4654296" y="4187952"/>
            <a:ext cx="128016" cy="128016"/>
          </a:xfrm>
          <a:prstGeom prst="ellipse">
            <a:avLst/>
          </a:prstGeom>
          <a:solidFill>
            <a:srgbClr val="D6D2C8"/>
          </a:solidFill>
          <a:ln w="12700">
            <a:solidFill>
              <a:srgbClr val="D6D2C8"/>
            </a:solidFill>
            <a:prstDash val="solid"/>
          </a:ln>
        </p:spPr>
        <p:txBody>
          <a:bodyPr/>
          <a:p/>
        </p:txBody>
      </p:sp>
      <p:sp>
        <p:nvSpPr>
          <p:cNvPr id="68" name="Shape 66"/>
          <p:cNvSpPr/>
          <p:nvPr/>
        </p:nvSpPr>
        <p:spPr>
          <a:xfrm>
            <a:off x="4828032" y="4187952"/>
            <a:ext cx="128016" cy="128016"/>
          </a:xfrm>
          <a:prstGeom prst="ellipse">
            <a:avLst/>
          </a:prstGeom>
          <a:solidFill>
            <a:srgbClr val="D6D2C8"/>
          </a:solidFill>
          <a:ln w="12700">
            <a:solidFill>
              <a:srgbClr val="D6D2C8"/>
            </a:solidFill>
            <a:prstDash val="solid"/>
          </a:ln>
        </p:spPr>
        <p:txBody>
          <a:bodyPr/>
          <a:p/>
        </p:txBody>
      </p:sp>
      <p:sp>
        <p:nvSpPr>
          <p:cNvPr id="69" name="Shape 67"/>
          <p:cNvSpPr/>
          <p:nvPr/>
        </p:nvSpPr>
        <p:spPr>
          <a:xfrm>
            <a:off x="5001768" y="4187952"/>
            <a:ext cx="128016" cy="128016"/>
          </a:xfrm>
          <a:prstGeom prst="ellipse">
            <a:avLst/>
          </a:prstGeom>
          <a:solidFill>
            <a:srgbClr val="D6D2C8"/>
          </a:solidFill>
          <a:ln w="12700">
            <a:solidFill>
              <a:srgbClr val="D6D2C8"/>
            </a:solidFill>
            <a:prstDash val="solid"/>
          </a:ln>
        </p:spPr>
        <p:txBody>
          <a:bodyPr/>
          <a:p/>
        </p:txBody>
      </p:sp>
      <p:sp>
        <p:nvSpPr>
          <p:cNvPr id="70" name="Shape 68"/>
          <p:cNvSpPr/>
          <p:nvPr/>
        </p:nvSpPr>
        <p:spPr>
          <a:xfrm>
            <a:off x="5175504" y="4187952"/>
            <a:ext cx="128016" cy="128016"/>
          </a:xfrm>
          <a:prstGeom prst="ellipse">
            <a:avLst/>
          </a:prstGeom>
          <a:solidFill>
            <a:srgbClr val="D6D2C8"/>
          </a:solidFill>
          <a:ln w="12700">
            <a:solidFill>
              <a:srgbClr val="D6D2C8"/>
            </a:solidFill>
            <a:prstDash val="solid"/>
          </a:ln>
        </p:spPr>
        <p:txBody>
          <a:bodyPr/>
          <a:p/>
        </p:txBody>
      </p:sp>
      <p:sp>
        <p:nvSpPr>
          <p:cNvPr id="71" name="Shape 69"/>
          <p:cNvSpPr/>
          <p:nvPr/>
        </p:nvSpPr>
        <p:spPr>
          <a:xfrm>
            <a:off x="5349240" y="4187952"/>
            <a:ext cx="128016" cy="128016"/>
          </a:xfrm>
          <a:prstGeom prst="ellipse">
            <a:avLst/>
          </a:prstGeom>
          <a:solidFill>
            <a:srgbClr val="D6D2C8"/>
          </a:solidFill>
          <a:ln w="12700">
            <a:solidFill>
              <a:srgbClr val="D6D2C8"/>
            </a:solidFill>
            <a:prstDash val="solid"/>
          </a:ln>
        </p:spPr>
        <p:txBody>
          <a:bodyPr/>
          <a:p/>
        </p:txBody>
      </p:sp>
      <p:sp>
        <p:nvSpPr>
          <p:cNvPr id="72" name="Shape 70"/>
          <p:cNvSpPr/>
          <p:nvPr/>
        </p:nvSpPr>
        <p:spPr>
          <a:xfrm>
            <a:off x="5522976" y="4187952"/>
            <a:ext cx="128016" cy="128016"/>
          </a:xfrm>
          <a:prstGeom prst="ellipse">
            <a:avLst/>
          </a:prstGeom>
          <a:solidFill>
            <a:srgbClr val="D6D2C8"/>
          </a:solidFill>
          <a:ln w="12700">
            <a:solidFill>
              <a:srgbClr val="D6D2C8"/>
            </a:solidFill>
            <a:prstDash val="solid"/>
          </a:ln>
        </p:spPr>
        <p:txBody>
          <a:bodyPr/>
          <a:p/>
        </p:txBody>
      </p:sp>
      <p:sp>
        <p:nvSpPr>
          <p:cNvPr id="73" name="Shape 71"/>
          <p:cNvSpPr/>
          <p:nvPr/>
        </p:nvSpPr>
        <p:spPr>
          <a:xfrm>
            <a:off x="5696712" y="4187952"/>
            <a:ext cx="128016" cy="128016"/>
          </a:xfrm>
          <a:prstGeom prst="ellipse">
            <a:avLst/>
          </a:prstGeom>
          <a:solidFill>
            <a:srgbClr val="D6D2C8"/>
          </a:solidFill>
          <a:ln w="12700">
            <a:solidFill>
              <a:srgbClr val="D6D2C8"/>
            </a:solidFill>
            <a:prstDash val="solid"/>
          </a:ln>
        </p:spPr>
        <p:txBody>
          <a:bodyPr/>
          <a:p/>
        </p:txBody>
      </p:sp>
      <p:sp>
        <p:nvSpPr>
          <p:cNvPr id="74" name="Shape 72"/>
          <p:cNvSpPr/>
          <p:nvPr/>
        </p:nvSpPr>
        <p:spPr>
          <a:xfrm>
            <a:off x="5870448" y="4187952"/>
            <a:ext cx="128016" cy="128016"/>
          </a:xfrm>
          <a:prstGeom prst="ellipse">
            <a:avLst/>
          </a:prstGeom>
          <a:solidFill>
            <a:srgbClr val="D6D2C8"/>
          </a:solidFill>
          <a:ln w="12700">
            <a:solidFill>
              <a:srgbClr val="D6D2C8"/>
            </a:solidFill>
            <a:prstDash val="solid"/>
          </a:ln>
        </p:spPr>
        <p:txBody>
          <a:bodyPr/>
          <a:p/>
        </p:txBody>
      </p:sp>
      <p:sp>
        <p:nvSpPr>
          <p:cNvPr id="75" name="Shape 73"/>
          <p:cNvSpPr/>
          <p:nvPr/>
        </p:nvSpPr>
        <p:spPr>
          <a:xfrm>
            <a:off x="6044184" y="4187952"/>
            <a:ext cx="128016" cy="128016"/>
          </a:xfrm>
          <a:prstGeom prst="ellipse">
            <a:avLst/>
          </a:prstGeom>
          <a:solidFill>
            <a:srgbClr val="D6D2C8"/>
          </a:solidFill>
          <a:ln w="12700">
            <a:solidFill>
              <a:srgbClr val="D6D2C8"/>
            </a:solidFill>
            <a:prstDash val="solid"/>
          </a:ln>
        </p:spPr>
        <p:txBody>
          <a:bodyPr/>
          <a:p/>
        </p:txBody>
      </p:sp>
      <p:sp>
        <p:nvSpPr>
          <p:cNvPr id="76" name="Shape 74"/>
          <p:cNvSpPr/>
          <p:nvPr/>
        </p:nvSpPr>
        <p:spPr>
          <a:xfrm>
            <a:off x="2743200" y="4361688"/>
            <a:ext cx="128016" cy="128016"/>
          </a:xfrm>
          <a:prstGeom prst="ellipse">
            <a:avLst/>
          </a:prstGeom>
          <a:solidFill>
            <a:srgbClr val="D6D2C8"/>
          </a:solidFill>
          <a:ln w="12700">
            <a:solidFill>
              <a:srgbClr val="D6D2C8"/>
            </a:solidFill>
            <a:prstDash val="solid"/>
          </a:ln>
        </p:spPr>
        <p:txBody>
          <a:bodyPr/>
          <a:p/>
        </p:txBody>
      </p:sp>
      <p:sp>
        <p:nvSpPr>
          <p:cNvPr id="77" name="Shape 75"/>
          <p:cNvSpPr/>
          <p:nvPr/>
        </p:nvSpPr>
        <p:spPr>
          <a:xfrm>
            <a:off x="2916936" y="4361688"/>
            <a:ext cx="128016" cy="128016"/>
          </a:xfrm>
          <a:prstGeom prst="ellipse">
            <a:avLst/>
          </a:prstGeom>
          <a:solidFill>
            <a:srgbClr val="D6D2C8"/>
          </a:solidFill>
          <a:ln w="12700">
            <a:solidFill>
              <a:srgbClr val="D6D2C8"/>
            </a:solidFill>
            <a:prstDash val="solid"/>
          </a:ln>
        </p:spPr>
        <p:txBody>
          <a:bodyPr/>
          <a:p/>
        </p:txBody>
      </p:sp>
      <p:sp>
        <p:nvSpPr>
          <p:cNvPr id="78" name="Shape 76"/>
          <p:cNvSpPr/>
          <p:nvPr/>
        </p:nvSpPr>
        <p:spPr>
          <a:xfrm>
            <a:off x="3090672" y="4361688"/>
            <a:ext cx="128016" cy="128016"/>
          </a:xfrm>
          <a:prstGeom prst="ellipse">
            <a:avLst/>
          </a:prstGeom>
          <a:solidFill>
            <a:srgbClr val="D6D2C8"/>
          </a:solidFill>
          <a:ln w="12700">
            <a:solidFill>
              <a:srgbClr val="D6D2C8"/>
            </a:solidFill>
            <a:prstDash val="solid"/>
          </a:ln>
        </p:spPr>
        <p:txBody>
          <a:bodyPr/>
          <a:p/>
        </p:txBody>
      </p:sp>
      <p:sp>
        <p:nvSpPr>
          <p:cNvPr id="79" name="Shape 77"/>
          <p:cNvSpPr/>
          <p:nvPr/>
        </p:nvSpPr>
        <p:spPr>
          <a:xfrm>
            <a:off x="3264408" y="4361688"/>
            <a:ext cx="128016" cy="128016"/>
          </a:xfrm>
          <a:prstGeom prst="ellipse">
            <a:avLst/>
          </a:prstGeom>
          <a:solidFill>
            <a:srgbClr val="D6D2C8"/>
          </a:solidFill>
          <a:ln w="12700">
            <a:solidFill>
              <a:srgbClr val="D6D2C8"/>
            </a:solidFill>
            <a:prstDash val="solid"/>
          </a:ln>
        </p:spPr>
        <p:txBody>
          <a:bodyPr/>
          <a:p/>
        </p:txBody>
      </p:sp>
      <p:sp>
        <p:nvSpPr>
          <p:cNvPr id="80" name="Shape 78"/>
          <p:cNvSpPr/>
          <p:nvPr/>
        </p:nvSpPr>
        <p:spPr>
          <a:xfrm>
            <a:off x="3438144" y="4361688"/>
            <a:ext cx="128016" cy="128016"/>
          </a:xfrm>
          <a:prstGeom prst="ellipse">
            <a:avLst/>
          </a:prstGeom>
          <a:solidFill>
            <a:srgbClr val="D6D2C8"/>
          </a:solidFill>
          <a:ln w="12700">
            <a:solidFill>
              <a:srgbClr val="D6D2C8"/>
            </a:solidFill>
            <a:prstDash val="solid"/>
          </a:ln>
        </p:spPr>
        <p:txBody>
          <a:bodyPr/>
          <a:p/>
        </p:txBody>
      </p:sp>
      <p:sp>
        <p:nvSpPr>
          <p:cNvPr id="81" name="Shape 79"/>
          <p:cNvSpPr/>
          <p:nvPr/>
        </p:nvSpPr>
        <p:spPr>
          <a:xfrm>
            <a:off x="3611880" y="4361688"/>
            <a:ext cx="128016" cy="128016"/>
          </a:xfrm>
          <a:prstGeom prst="ellipse">
            <a:avLst/>
          </a:prstGeom>
          <a:solidFill>
            <a:srgbClr val="D6D2C8"/>
          </a:solidFill>
          <a:ln w="12700">
            <a:solidFill>
              <a:srgbClr val="D6D2C8"/>
            </a:solidFill>
            <a:prstDash val="solid"/>
          </a:ln>
        </p:spPr>
        <p:txBody>
          <a:bodyPr/>
          <a:p/>
        </p:txBody>
      </p:sp>
      <p:sp>
        <p:nvSpPr>
          <p:cNvPr id="82" name="Shape 80"/>
          <p:cNvSpPr/>
          <p:nvPr/>
        </p:nvSpPr>
        <p:spPr>
          <a:xfrm>
            <a:off x="3785616" y="4361688"/>
            <a:ext cx="128016" cy="128016"/>
          </a:xfrm>
          <a:prstGeom prst="ellipse">
            <a:avLst/>
          </a:prstGeom>
          <a:solidFill>
            <a:srgbClr val="D6D2C8"/>
          </a:solidFill>
          <a:ln w="12700">
            <a:solidFill>
              <a:srgbClr val="D6D2C8"/>
            </a:solidFill>
            <a:prstDash val="solid"/>
          </a:ln>
        </p:spPr>
        <p:txBody>
          <a:bodyPr/>
          <a:p/>
        </p:txBody>
      </p:sp>
      <p:sp>
        <p:nvSpPr>
          <p:cNvPr id="83" name="Shape 81"/>
          <p:cNvSpPr/>
          <p:nvPr/>
        </p:nvSpPr>
        <p:spPr>
          <a:xfrm>
            <a:off x="3959352" y="4361688"/>
            <a:ext cx="128016" cy="128016"/>
          </a:xfrm>
          <a:prstGeom prst="ellipse">
            <a:avLst/>
          </a:prstGeom>
          <a:solidFill>
            <a:srgbClr val="D6D2C8"/>
          </a:solidFill>
          <a:ln w="12700">
            <a:solidFill>
              <a:srgbClr val="D6D2C8"/>
            </a:solidFill>
            <a:prstDash val="solid"/>
          </a:ln>
        </p:spPr>
        <p:txBody>
          <a:bodyPr/>
          <a:p/>
        </p:txBody>
      </p:sp>
      <p:sp>
        <p:nvSpPr>
          <p:cNvPr id="84" name="Shape 82"/>
          <p:cNvSpPr/>
          <p:nvPr/>
        </p:nvSpPr>
        <p:spPr>
          <a:xfrm>
            <a:off x="4133088" y="4361688"/>
            <a:ext cx="128016" cy="128016"/>
          </a:xfrm>
          <a:prstGeom prst="ellipse">
            <a:avLst/>
          </a:prstGeom>
          <a:solidFill>
            <a:srgbClr val="D6D2C8"/>
          </a:solidFill>
          <a:ln w="12700">
            <a:solidFill>
              <a:srgbClr val="D6D2C8"/>
            </a:solidFill>
            <a:prstDash val="solid"/>
          </a:ln>
        </p:spPr>
        <p:txBody>
          <a:bodyPr/>
          <a:p/>
        </p:txBody>
      </p:sp>
      <p:sp>
        <p:nvSpPr>
          <p:cNvPr id="85" name="Shape 83"/>
          <p:cNvSpPr/>
          <p:nvPr/>
        </p:nvSpPr>
        <p:spPr>
          <a:xfrm>
            <a:off x="4306824" y="4361688"/>
            <a:ext cx="128016" cy="128016"/>
          </a:xfrm>
          <a:prstGeom prst="ellipse">
            <a:avLst/>
          </a:prstGeom>
          <a:solidFill>
            <a:srgbClr val="D6D2C8"/>
          </a:solidFill>
          <a:ln w="12700">
            <a:solidFill>
              <a:srgbClr val="D6D2C8"/>
            </a:solidFill>
            <a:prstDash val="solid"/>
          </a:ln>
        </p:spPr>
        <p:txBody>
          <a:bodyPr/>
          <a:p/>
        </p:txBody>
      </p:sp>
      <p:sp>
        <p:nvSpPr>
          <p:cNvPr id="86" name="Shape 84"/>
          <p:cNvSpPr/>
          <p:nvPr/>
        </p:nvSpPr>
        <p:spPr>
          <a:xfrm>
            <a:off x="4480560" y="4361688"/>
            <a:ext cx="128016" cy="128016"/>
          </a:xfrm>
          <a:prstGeom prst="ellipse">
            <a:avLst/>
          </a:prstGeom>
          <a:solidFill>
            <a:srgbClr val="D6D2C8"/>
          </a:solidFill>
          <a:ln w="12700">
            <a:solidFill>
              <a:srgbClr val="D6D2C8"/>
            </a:solidFill>
            <a:prstDash val="solid"/>
          </a:ln>
        </p:spPr>
        <p:txBody>
          <a:bodyPr/>
          <a:p/>
        </p:txBody>
      </p:sp>
      <p:sp>
        <p:nvSpPr>
          <p:cNvPr id="87" name="Shape 85"/>
          <p:cNvSpPr/>
          <p:nvPr/>
        </p:nvSpPr>
        <p:spPr>
          <a:xfrm>
            <a:off x="4654296" y="4361688"/>
            <a:ext cx="128016" cy="128016"/>
          </a:xfrm>
          <a:prstGeom prst="ellipse">
            <a:avLst/>
          </a:prstGeom>
          <a:solidFill>
            <a:srgbClr val="D6D2C8"/>
          </a:solidFill>
          <a:ln w="12700">
            <a:solidFill>
              <a:srgbClr val="D6D2C8"/>
            </a:solidFill>
            <a:prstDash val="solid"/>
          </a:ln>
        </p:spPr>
        <p:txBody>
          <a:bodyPr/>
          <a:p/>
        </p:txBody>
      </p:sp>
      <p:sp>
        <p:nvSpPr>
          <p:cNvPr id="88" name="Shape 86"/>
          <p:cNvSpPr/>
          <p:nvPr/>
        </p:nvSpPr>
        <p:spPr>
          <a:xfrm>
            <a:off x="4828032" y="4361688"/>
            <a:ext cx="128016" cy="128016"/>
          </a:xfrm>
          <a:prstGeom prst="ellipse">
            <a:avLst/>
          </a:prstGeom>
          <a:solidFill>
            <a:srgbClr val="D6D2C8"/>
          </a:solidFill>
          <a:ln w="12700">
            <a:solidFill>
              <a:srgbClr val="D6D2C8"/>
            </a:solidFill>
            <a:prstDash val="solid"/>
          </a:ln>
        </p:spPr>
        <p:txBody>
          <a:bodyPr/>
          <a:p/>
        </p:txBody>
      </p:sp>
      <p:sp>
        <p:nvSpPr>
          <p:cNvPr id="89" name="Shape 87"/>
          <p:cNvSpPr/>
          <p:nvPr/>
        </p:nvSpPr>
        <p:spPr>
          <a:xfrm>
            <a:off x="5001768" y="4361688"/>
            <a:ext cx="128016" cy="128016"/>
          </a:xfrm>
          <a:prstGeom prst="ellipse">
            <a:avLst/>
          </a:prstGeom>
          <a:solidFill>
            <a:srgbClr val="D6D2C8"/>
          </a:solidFill>
          <a:ln w="12700">
            <a:solidFill>
              <a:srgbClr val="D6D2C8"/>
            </a:solidFill>
            <a:prstDash val="solid"/>
          </a:ln>
        </p:spPr>
        <p:txBody>
          <a:bodyPr/>
          <a:p/>
        </p:txBody>
      </p:sp>
      <p:sp>
        <p:nvSpPr>
          <p:cNvPr id="90" name="Shape 88"/>
          <p:cNvSpPr/>
          <p:nvPr/>
        </p:nvSpPr>
        <p:spPr>
          <a:xfrm>
            <a:off x="5175504" y="4361688"/>
            <a:ext cx="128016" cy="128016"/>
          </a:xfrm>
          <a:prstGeom prst="ellipse">
            <a:avLst/>
          </a:prstGeom>
          <a:solidFill>
            <a:srgbClr val="D6D2C8"/>
          </a:solidFill>
          <a:ln w="12700">
            <a:solidFill>
              <a:srgbClr val="D6D2C8"/>
            </a:solidFill>
            <a:prstDash val="solid"/>
          </a:ln>
        </p:spPr>
        <p:txBody>
          <a:bodyPr/>
          <a:p/>
        </p:txBody>
      </p:sp>
      <p:sp>
        <p:nvSpPr>
          <p:cNvPr id="91" name="Shape 89"/>
          <p:cNvSpPr/>
          <p:nvPr/>
        </p:nvSpPr>
        <p:spPr>
          <a:xfrm>
            <a:off x="5349240" y="4361688"/>
            <a:ext cx="128016" cy="128016"/>
          </a:xfrm>
          <a:prstGeom prst="ellipse">
            <a:avLst/>
          </a:prstGeom>
          <a:solidFill>
            <a:srgbClr val="D6D2C8"/>
          </a:solidFill>
          <a:ln w="12700">
            <a:solidFill>
              <a:srgbClr val="D6D2C8"/>
            </a:solidFill>
            <a:prstDash val="solid"/>
          </a:ln>
        </p:spPr>
        <p:txBody>
          <a:bodyPr/>
          <a:p/>
        </p:txBody>
      </p:sp>
      <p:sp>
        <p:nvSpPr>
          <p:cNvPr id="92" name="Shape 90"/>
          <p:cNvSpPr/>
          <p:nvPr/>
        </p:nvSpPr>
        <p:spPr>
          <a:xfrm>
            <a:off x="5522976" y="4361688"/>
            <a:ext cx="128016" cy="128016"/>
          </a:xfrm>
          <a:prstGeom prst="ellipse">
            <a:avLst/>
          </a:prstGeom>
          <a:solidFill>
            <a:srgbClr val="D6D2C8"/>
          </a:solidFill>
          <a:ln w="12700">
            <a:solidFill>
              <a:srgbClr val="D6D2C8"/>
            </a:solidFill>
            <a:prstDash val="solid"/>
          </a:ln>
        </p:spPr>
        <p:txBody>
          <a:bodyPr/>
          <a:p/>
        </p:txBody>
      </p:sp>
      <p:sp>
        <p:nvSpPr>
          <p:cNvPr id="93" name="Shape 91"/>
          <p:cNvSpPr/>
          <p:nvPr/>
        </p:nvSpPr>
        <p:spPr>
          <a:xfrm>
            <a:off x="5696712" y="4361688"/>
            <a:ext cx="128016" cy="128016"/>
          </a:xfrm>
          <a:prstGeom prst="ellipse">
            <a:avLst/>
          </a:prstGeom>
          <a:solidFill>
            <a:srgbClr val="D6D2C8"/>
          </a:solidFill>
          <a:ln w="12700">
            <a:solidFill>
              <a:srgbClr val="D6D2C8"/>
            </a:solidFill>
            <a:prstDash val="solid"/>
          </a:ln>
        </p:spPr>
        <p:txBody>
          <a:bodyPr/>
          <a:p/>
        </p:txBody>
      </p:sp>
      <p:sp>
        <p:nvSpPr>
          <p:cNvPr id="94" name="Shape 92"/>
          <p:cNvSpPr/>
          <p:nvPr/>
        </p:nvSpPr>
        <p:spPr>
          <a:xfrm>
            <a:off x="5870448" y="4361688"/>
            <a:ext cx="128016" cy="128016"/>
          </a:xfrm>
          <a:prstGeom prst="ellipse">
            <a:avLst/>
          </a:prstGeom>
          <a:solidFill>
            <a:srgbClr val="D6D2C8"/>
          </a:solidFill>
          <a:ln w="12700">
            <a:solidFill>
              <a:srgbClr val="D6D2C8"/>
            </a:solidFill>
            <a:prstDash val="solid"/>
          </a:ln>
        </p:spPr>
        <p:txBody>
          <a:bodyPr/>
          <a:p/>
        </p:txBody>
      </p:sp>
      <p:sp>
        <p:nvSpPr>
          <p:cNvPr id="95" name="Shape 93"/>
          <p:cNvSpPr/>
          <p:nvPr/>
        </p:nvSpPr>
        <p:spPr>
          <a:xfrm>
            <a:off x="6044184" y="4361688"/>
            <a:ext cx="128016" cy="128016"/>
          </a:xfrm>
          <a:prstGeom prst="ellipse">
            <a:avLst/>
          </a:prstGeom>
          <a:solidFill>
            <a:srgbClr val="D6D2C8"/>
          </a:solidFill>
          <a:ln w="12700">
            <a:solidFill>
              <a:srgbClr val="D6D2C8"/>
            </a:solidFill>
            <a:prstDash val="solid"/>
          </a:ln>
        </p:spPr>
        <p:txBody>
          <a:bodyPr/>
          <a:p/>
        </p:txBody>
      </p:sp>
      <p:sp>
        <p:nvSpPr>
          <p:cNvPr id="96" name="Shape 94"/>
          <p:cNvSpPr/>
          <p:nvPr/>
        </p:nvSpPr>
        <p:spPr>
          <a:xfrm>
            <a:off x="2743200" y="4535424"/>
            <a:ext cx="128016" cy="128016"/>
          </a:xfrm>
          <a:prstGeom prst="ellipse">
            <a:avLst/>
          </a:prstGeom>
          <a:solidFill>
            <a:srgbClr val="D6D2C8"/>
          </a:solidFill>
          <a:ln w="12700">
            <a:solidFill>
              <a:srgbClr val="D6D2C8"/>
            </a:solidFill>
            <a:prstDash val="solid"/>
          </a:ln>
        </p:spPr>
        <p:txBody>
          <a:bodyPr/>
          <a:p/>
        </p:txBody>
      </p:sp>
      <p:sp>
        <p:nvSpPr>
          <p:cNvPr id="97" name="Shape 95"/>
          <p:cNvSpPr/>
          <p:nvPr/>
        </p:nvSpPr>
        <p:spPr>
          <a:xfrm>
            <a:off x="2916936" y="4535424"/>
            <a:ext cx="128016" cy="128016"/>
          </a:xfrm>
          <a:prstGeom prst="ellipse">
            <a:avLst/>
          </a:prstGeom>
          <a:solidFill>
            <a:srgbClr val="D6D2C8"/>
          </a:solidFill>
          <a:ln w="12700">
            <a:solidFill>
              <a:srgbClr val="D6D2C8"/>
            </a:solidFill>
            <a:prstDash val="solid"/>
          </a:ln>
        </p:spPr>
        <p:txBody>
          <a:bodyPr/>
          <a:p/>
        </p:txBody>
      </p:sp>
      <p:sp>
        <p:nvSpPr>
          <p:cNvPr id="98" name="Shape 96"/>
          <p:cNvSpPr/>
          <p:nvPr/>
        </p:nvSpPr>
        <p:spPr>
          <a:xfrm>
            <a:off x="3090672" y="4535424"/>
            <a:ext cx="128016" cy="128016"/>
          </a:xfrm>
          <a:prstGeom prst="ellipse">
            <a:avLst/>
          </a:prstGeom>
          <a:solidFill>
            <a:srgbClr val="D6D2C8"/>
          </a:solidFill>
          <a:ln w="12700">
            <a:solidFill>
              <a:srgbClr val="D6D2C8"/>
            </a:solidFill>
            <a:prstDash val="solid"/>
          </a:ln>
        </p:spPr>
        <p:txBody>
          <a:bodyPr/>
          <a:p/>
        </p:txBody>
      </p:sp>
      <p:sp>
        <p:nvSpPr>
          <p:cNvPr id="99" name="Shape 97"/>
          <p:cNvSpPr/>
          <p:nvPr/>
        </p:nvSpPr>
        <p:spPr>
          <a:xfrm>
            <a:off x="3264408" y="4535424"/>
            <a:ext cx="128016" cy="128016"/>
          </a:xfrm>
          <a:prstGeom prst="ellipse">
            <a:avLst/>
          </a:prstGeom>
          <a:solidFill>
            <a:srgbClr val="D6D2C8"/>
          </a:solidFill>
          <a:ln w="12700">
            <a:solidFill>
              <a:srgbClr val="D6D2C8"/>
            </a:solidFill>
            <a:prstDash val="solid"/>
          </a:ln>
        </p:spPr>
        <p:txBody>
          <a:bodyPr/>
          <a:p/>
        </p:txBody>
      </p:sp>
      <p:sp>
        <p:nvSpPr>
          <p:cNvPr id="100" name="Shape 98"/>
          <p:cNvSpPr/>
          <p:nvPr/>
        </p:nvSpPr>
        <p:spPr>
          <a:xfrm>
            <a:off x="3438144" y="4535424"/>
            <a:ext cx="128016" cy="128016"/>
          </a:xfrm>
          <a:prstGeom prst="ellipse">
            <a:avLst/>
          </a:prstGeom>
          <a:solidFill>
            <a:srgbClr val="D6D2C8"/>
          </a:solidFill>
          <a:ln w="12700">
            <a:solidFill>
              <a:srgbClr val="D6D2C8"/>
            </a:solidFill>
            <a:prstDash val="solid"/>
          </a:ln>
        </p:spPr>
        <p:txBody>
          <a:bodyPr/>
          <a:p/>
        </p:txBody>
      </p:sp>
      <p:sp>
        <p:nvSpPr>
          <p:cNvPr id="101" name="Shape 99"/>
          <p:cNvSpPr/>
          <p:nvPr/>
        </p:nvSpPr>
        <p:spPr>
          <a:xfrm>
            <a:off x="3611880" y="4535424"/>
            <a:ext cx="128016" cy="128016"/>
          </a:xfrm>
          <a:prstGeom prst="ellipse">
            <a:avLst/>
          </a:prstGeom>
          <a:solidFill>
            <a:srgbClr val="D6D2C8"/>
          </a:solidFill>
          <a:ln w="12700">
            <a:solidFill>
              <a:srgbClr val="D6D2C8"/>
            </a:solidFill>
            <a:prstDash val="solid"/>
          </a:ln>
        </p:spPr>
        <p:txBody>
          <a:bodyPr/>
          <a:p/>
        </p:txBody>
      </p:sp>
      <p:sp>
        <p:nvSpPr>
          <p:cNvPr id="102" name="Shape 100"/>
          <p:cNvSpPr/>
          <p:nvPr/>
        </p:nvSpPr>
        <p:spPr>
          <a:xfrm>
            <a:off x="3785616" y="4535424"/>
            <a:ext cx="128016" cy="128016"/>
          </a:xfrm>
          <a:prstGeom prst="ellipse">
            <a:avLst/>
          </a:prstGeom>
          <a:solidFill>
            <a:srgbClr val="D6D2C8"/>
          </a:solidFill>
          <a:ln w="12700">
            <a:solidFill>
              <a:srgbClr val="D6D2C8"/>
            </a:solidFill>
            <a:prstDash val="solid"/>
          </a:ln>
        </p:spPr>
        <p:txBody>
          <a:bodyPr/>
          <a:p/>
        </p:txBody>
      </p:sp>
      <p:sp>
        <p:nvSpPr>
          <p:cNvPr id="103" name="Shape 101"/>
          <p:cNvSpPr/>
          <p:nvPr/>
        </p:nvSpPr>
        <p:spPr>
          <a:xfrm>
            <a:off x="3959352" y="4535424"/>
            <a:ext cx="128016" cy="128016"/>
          </a:xfrm>
          <a:prstGeom prst="ellipse">
            <a:avLst/>
          </a:prstGeom>
          <a:solidFill>
            <a:srgbClr val="D6D2C8"/>
          </a:solidFill>
          <a:ln w="12700">
            <a:solidFill>
              <a:srgbClr val="D6D2C8"/>
            </a:solidFill>
            <a:prstDash val="solid"/>
          </a:ln>
        </p:spPr>
        <p:txBody>
          <a:bodyPr/>
          <a:p/>
        </p:txBody>
      </p:sp>
      <p:sp>
        <p:nvSpPr>
          <p:cNvPr id="104" name="Shape 102"/>
          <p:cNvSpPr/>
          <p:nvPr/>
        </p:nvSpPr>
        <p:spPr>
          <a:xfrm>
            <a:off x="4133088" y="4535424"/>
            <a:ext cx="128016" cy="128016"/>
          </a:xfrm>
          <a:prstGeom prst="ellipse">
            <a:avLst/>
          </a:prstGeom>
          <a:solidFill>
            <a:srgbClr val="D6D2C8"/>
          </a:solidFill>
          <a:ln w="12700">
            <a:solidFill>
              <a:srgbClr val="D6D2C8"/>
            </a:solidFill>
            <a:prstDash val="solid"/>
          </a:ln>
        </p:spPr>
        <p:txBody>
          <a:bodyPr/>
          <a:p/>
        </p:txBody>
      </p:sp>
      <p:sp>
        <p:nvSpPr>
          <p:cNvPr id="105" name="Shape 103"/>
          <p:cNvSpPr/>
          <p:nvPr/>
        </p:nvSpPr>
        <p:spPr>
          <a:xfrm>
            <a:off x="4306824" y="4535424"/>
            <a:ext cx="128016" cy="128016"/>
          </a:xfrm>
          <a:prstGeom prst="ellipse">
            <a:avLst/>
          </a:prstGeom>
          <a:solidFill>
            <a:srgbClr val="D6D2C8"/>
          </a:solidFill>
          <a:ln w="12700">
            <a:solidFill>
              <a:srgbClr val="D6D2C8"/>
            </a:solidFill>
            <a:prstDash val="solid"/>
          </a:ln>
        </p:spPr>
        <p:txBody>
          <a:bodyPr/>
          <a:p/>
        </p:txBody>
      </p:sp>
      <p:sp>
        <p:nvSpPr>
          <p:cNvPr id="106" name="Shape 104"/>
          <p:cNvSpPr/>
          <p:nvPr/>
        </p:nvSpPr>
        <p:spPr>
          <a:xfrm>
            <a:off x="4480560" y="4535424"/>
            <a:ext cx="128016" cy="128016"/>
          </a:xfrm>
          <a:prstGeom prst="ellipse">
            <a:avLst/>
          </a:prstGeom>
          <a:solidFill>
            <a:srgbClr val="D6D2C8"/>
          </a:solidFill>
          <a:ln w="12700">
            <a:solidFill>
              <a:srgbClr val="D6D2C8"/>
            </a:solidFill>
            <a:prstDash val="solid"/>
          </a:ln>
        </p:spPr>
        <p:txBody>
          <a:bodyPr/>
          <a:p/>
        </p:txBody>
      </p:sp>
      <p:sp>
        <p:nvSpPr>
          <p:cNvPr id="107" name="Shape 105"/>
          <p:cNvSpPr/>
          <p:nvPr/>
        </p:nvSpPr>
        <p:spPr>
          <a:xfrm>
            <a:off x="4654296" y="4535424"/>
            <a:ext cx="128016" cy="128016"/>
          </a:xfrm>
          <a:prstGeom prst="ellipse">
            <a:avLst/>
          </a:prstGeom>
          <a:solidFill>
            <a:srgbClr val="D6D2C8"/>
          </a:solidFill>
          <a:ln w="12700">
            <a:solidFill>
              <a:srgbClr val="D6D2C8"/>
            </a:solidFill>
            <a:prstDash val="solid"/>
          </a:ln>
        </p:spPr>
        <p:txBody>
          <a:bodyPr/>
          <a:p/>
        </p:txBody>
      </p:sp>
      <p:sp>
        <p:nvSpPr>
          <p:cNvPr id="108" name="Shape 106"/>
          <p:cNvSpPr/>
          <p:nvPr/>
        </p:nvSpPr>
        <p:spPr>
          <a:xfrm>
            <a:off x="4828032" y="4535424"/>
            <a:ext cx="128016" cy="128016"/>
          </a:xfrm>
          <a:prstGeom prst="ellipse">
            <a:avLst/>
          </a:prstGeom>
          <a:solidFill>
            <a:srgbClr val="D6D2C8"/>
          </a:solidFill>
          <a:ln w="12700">
            <a:solidFill>
              <a:srgbClr val="D6D2C8"/>
            </a:solidFill>
            <a:prstDash val="solid"/>
          </a:ln>
        </p:spPr>
        <p:txBody>
          <a:bodyPr/>
          <a:p/>
        </p:txBody>
      </p:sp>
      <p:sp>
        <p:nvSpPr>
          <p:cNvPr id="109" name="Shape 107"/>
          <p:cNvSpPr/>
          <p:nvPr/>
        </p:nvSpPr>
        <p:spPr>
          <a:xfrm>
            <a:off x="5001768" y="4535424"/>
            <a:ext cx="128016" cy="128016"/>
          </a:xfrm>
          <a:prstGeom prst="ellipse">
            <a:avLst/>
          </a:prstGeom>
          <a:solidFill>
            <a:srgbClr val="D6D2C8"/>
          </a:solidFill>
          <a:ln w="12700">
            <a:solidFill>
              <a:srgbClr val="D6D2C8"/>
            </a:solidFill>
            <a:prstDash val="solid"/>
          </a:ln>
        </p:spPr>
        <p:txBody>
          <a:bodyPr/>
          <a:p/>
        </p:txBody>
      </p:sp>
      <p:sp>
        <p:nvSpPr>
          <p:cNvPr id="110" name="Shape 108"/>
          <p:cNvSpPr/>
          <p:nvPr/>
        </p:nvSpPr>
        <p:spPr>
          <a:xfrm>
            <a:off x="5175504" y="4535424"/>
            <a:ext cx="128016" cy="128016"/>
          </a:xfrm>
          <a:prstGeom prst="ellipse">
            <a:avLst/>
          </a:prstGeom>
          <a:solidFill>
            <a:srgbClr val="D6D2C8"/>
          </a:solidFill>
          <a:ln w="12700">
            <a:solidFill>
              <a:srgbClr val="D6D2C8"/>
            </a:solidFill>
            <a:prstDash val="solid"/>
          </a:ln>
        </p:spPr>
        <p:txBody>
          <a:bodyPr/>
          <a:p/>
        </p:txBody>
      </p:sp>
      <p:sp>
        <p:nvSpPr>
          <p:cNvPr id="111" name="Shape 109"/>
          <p:cNvSpPr/>
          <p:nvPr/>
        </p:nvSpPr>
        <p:spPr>
          <a:xfrm>
            <a:off x="5349240" y="4535424"/>
            <a:ext cx="128016" cy="128016"/>
          </a:xfrm>
          <a:prstGeom prst="ellipse">
            <a:avLst/>
          </a:prstGeom>
          <a:solidFill>
            <a:srgbClr val="D6D2C8"/>
          </a:solidFill>
          <a:ln w="12700">
            <a:solidFill>
              <a:srgbClr val="D6D2C8"/>
            </a:solidFill>
            <a:prstDash val="solid"/>
          </a:ln>
        </p:spPr>
        <p:txBody>
          <a:bodyPr/>
          <a:p/>
        </p:txBody>
      </p:sp>
      <p:sp>
        <p:nvSpPr>
          <p:cNvPr id="112" name="Shape 110"/>
          <p:cNvSpPr/>
          <p:nvPr/>
        </p:nvSpPr>
        <p:spPr>
          <a:xfrm>
            <a:off x="5522976" y="4535424"/>
            <a:ext cx="128016" cy="128016"/>
          </a:xfrm>
          <a:prstGeom prst="ellipse">
            <a:avLst/>
          </a:prstGeom>
          <a:solidFill>
            <a:srgbClr val="D6D2C8"/>
          </a:solidFill>
          <a:ln w="12700">
            <a:solidFill>
              <a:srgbClr val="D6D2C8"/>
            </a:solidFill>
            <a:prstDash val="solid"/>
          </a:ln>
        </p:spPr>
        <p:txBody>
          <a:bodyPr/>
          <a:p/>
        </p:txBody>
      </p:sp>
      <p:sp>
        <p:nvSpPr>
          <p:cNvPr id="113" name="Shape 111"/>
          <p:cNvSpPr/>
          <p:nvPr/>
        </p:nvSpPr>
        <p:spPr>
          <a:xfrm>
            <a:off x="5696712" y="4535424"/>
            <a:ext cx="128016" cy="128016"/>
          </a:xfrm>
          <a:prstGeom prst="ellipse">
            <a:avLst/>
          </a:prstGeom>
          <a:solidFill>
            <a:srgbClr val="D6D2C8"/>
          </a:solidFill>
          <a:ln w="12700">
            <a:solidFill>
              <a:srgbClr val="D6D2C8"/>
            </a:solidFill>
            <a:prstDash val="solid"/>
          </a:ln>
        </p:spPr>
        <p:txBody>
          <a:bodyPr/>
          <a:p/>
        </p:txBody>
      </p:sp>
      <p:sp>
        <p:nvSpPr>
          <p:cNvPr id="114" name="Shape 112"/>
          <p:cNvSpPr/>
          <p:nvPr/>
        </p:nvSpPr>
        <p:spPr>
          <a:xfrm>
            <a:off x="5870448" y="4535424"/>
            <a:ext cx="128016" cy="128016"/>
          </a:xfrm>
          <a:prstGeom prst="ellipse">
            <a:avLst/>
          </a:prstGeom>
          <a:solidFill>
            <a:srgbClr val="D6D2C8"/>
          </a:solidFill>
          <a:ln w="12700">
            <a:solidFill>
              <a:srgbClr val="D6D2C8"/>
            </a:solidFill>
            <a:prstDash val="solid"/>
          </a:ln>
        </p:spPr>
        <p:txBody>
          <a:bodyPr/>
          <a:p/>
        </p:txBody>
      </p:sp>
      <p:sp>
        <p:nvSpPr>
          <p:cNvPr id="115" name="Shape 113"/>
          <p:cNvSpPr/>
          <p:nvPr/>
        </p:nvSpPr>
        <p:spPr>
          <a:xfrm>
            <a:off x="6044184" y="4535424"/>
            <a:ext cx="128016" cy="128016"/>
          </a:xfrm>
          <a:prstGeom prst="ellipse">
            <a:avLst/>
          </a:prstGeom>
          <a:solidFill>
            <a:srgbClr val="D6D2C8"/>
          </a:solidFill>
          <a:ln w="12700">
            <a:solidFill>
              <a:srgbClr val="D6D2C8"/>
            </a:solidFill>
            <a:prstDash val="solid"/>
          </a:ln>
        </p:spPr>
        <p:txBody>
          <a:bodyPr/>
          <a:p/>
        </p:txBody>
      </p:sp>
      <p:sp>
        <p:nvSpPr>
          <p:cNvPr id="116" name="Text 114"/>
          <p:cNvSpPr/>
          <p:nvPr/>
        </p:nvSpPr>
        <p:spPr>
          <a:xfrm>
            <a:off x="6446520" y="3794760"/>
            <a:ext cx="1828800" cy="502920"/>
          </a:xfrm>
          <a:prstGeom prst="rect">
            <a:avLst/>
          </a:prstGeom>
          <a:noFill/>
          <a:ln/>
        </p:spPr>
        <p:txBody>
          <a:bodyPr wrap="square" lIns="0" tIns="0" rIns="0" bIns="0" rtlCol="0" anchor="ctr"/>
          <a:lstStyle/>
          <a:p>
            <a:pPr indent="0" marL="0">
              <a:buNone/>
            </a:pPr>
            <a:r>
              <a:rPr lang="en-US" sz="2800" b="1" dirty="0">
                <a:solidFill>
                  <a:srgbClr val="585A64"/>
                </a:solidFill>
                <a:latin typeface="Palatino Linotype" pitchFamily="34" charset="0"/>
                <a:ea typeface="Palatino Linotype" pitchFamily="34" charset="-122"/>
                <a:cs typeface="Palatino Linotype" pitchFamily="34" charset="-120"/>
              </a:rPr>
              <a:t>3 din 100</a:t>
            </a:r>
            <a:endParaRPr lang="en-US" sz="2800" dirty="0"/>
          </a:p>
        </p:txBody>
      </p:sp>
      <p:sp>
        <p:nvSpPr>
          <p:cNvPr id="117" name="Text 115"/>
          <p:cNvSpPr/>
          <p:nvPr/>
        </p:nvSpPr>
        <p:spPr>
          <a:xfrm>
            <a:off x="6446520" y="4297680"/>
            <a:ext cx="18288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Media UE</a:t>
            </a:r>
            <a:endParaRPr lang="en-US" sz="1500" dirty="0"/>
          </a:p>
        </p:txBody>
      </p:sp>
      <p:sp>
        <p:nvSpPr>
          <p:cNvPr id="118" name="Shape 116"/>
          <p:cNvSpPr/>
          <p:nvPr/>
        </p:nvSpPr>
        <p:spPr>
          <a:xfrm>
            <a:off x="8229600" y="3840480"/>
            <a:ext cx="128016" cy="128016"/>
          </a:xfrm>
          <a:prstGeom prst="ellipse">
            <a:avLst/>
          </a:prstGeom>
          <a:solidFill>
            <a:srgbClr val="585A64"/>
          </a:solidFill>
          <a:ln w="12700">
            <a:solidFill>
              <a:srgbClr val="585A64"/>
            </a:solidFill>
            <a:prstDash val="solid"/>
          </a:ln>
        </p:spPr>
        <p:txBody>
          <a:bodyPr/>
          <a:p/>
        </p:txBody>
      </p:sp>
      <p:sp>
        <p:nvSpPr>
          <p:cNvPr id="119" name="Shape 117"/>
          <p:cNvSpPr/>
          <p:nvPr/>
        </p:nvSpPr>
        <p:spPr>
          <a:xfrm>
            <a:off x="8403336" y="3840480"/>
            <a:ext cx="128016" cy="128016"/>
          </a:xfrm>
          <a:prstGeom prst="ellipse">
            <a:avLst/>
          </a:prstGeom>
          <a:solidFill>
            <a:srgbClr val="585A64"/>
          </a:solidFill>
          <a:ln w="12700">
            <a:solidFill>
              <a:srgbClr val="585A64"/>
            </a:solidFill>
            <a:prstDash val="solid"/>
          </a:ln>
        </p:spPr>
        <p:txBody>
          <a:bodyPr/>
          <a:p/>
        </p:txBody>
      </p:sp>
      <p:sp>
        <p:nvSpPr>
          <p:cNvPr id="120" name="Shape 118"/>
          <p:cNvSpPr/>
          <p:nvPr/>
        </p:nvSpPr>
        <p:spPr>
          <a:xfrm>
            <a:off x="8577072" y="3840480"/>
            <a:ext cx="128016" cy="128016"/>
          </a:xfrm>
          <a:prstGeom prst="ellipse">
            <a:avLst/>
          </a:prstGeom>
          <a:solidFill>
            <a:srgbClr val="585A64"/>
          </a:solidFill>
          <a:ln w="12700">
            <a:solidFill>
              <a:srgbClr val="585A64"/>
            </a:solidFill>
            <a:prstDash val="solid"/>
          </a:ln>
        </p:spPr>
        <p:txBody>
          <a:bodyPr/>
          <a:p/>
        </p:txBody>
      </p:sp>
      <p:sp>
        <p:nvSpPr>
          <p:cNvPr id="121" name="Shape 119"/>
          <p:cNvSpPr/>
          <p:nvPr/>
        </p:nvSpPr>
        <p:spPr>
          <a:xfrm>
            <a:off x="8750808" y="3840480"/>
            <a:ext cx="128016" cy="128016"/>
          </a:xfrm>
          <a:prstGeom prst="ellipse">
            <a:avLst/>
          </a:prstGeom>
          <a:solidFill>
            <a:srgbClr val="D6D2C8"/>
          </a:solidFill>
          <a:ln w="12700">
            <a:solidFill>
              <a:srgbClr val="D6D2C8"/>
            </a:solidFill>
            <a:prstDash val="solid"/>
          </a:ln>
        </p:spPr>
        <p:txBody>
          <a:bodyPr/>
          <a:p/>
        </p:txBody>
      </p:sp>
      <p:sp>
        <p:nvSpPr>
          <p:cNvPr id="122" name="Shape 120"/>
          <p:cNvSpPr/>
          <p:nvPr/>
        </p:nvSpPr>
        <p:spPr>
          <a:xfrm>
            <a:off x="8924544" y="3840480"/>
            <a:ext cx="128016" cy="128016"/>
          </a:xfrm>
          <a:prstGeom prst="ellipse">
            <a:avLst/>
          </a:prstGeom>
          <a:solidFill>
            <a:srgbClr val="D6D2C8"/>
          </a:solidFill>
          <a:ln w="12700">
            <a:solidFill>
              <a:srgbClr val="D6D2C8"/>
            </a:solidFill>
            <a:prstDash val="solid"/>
          </a:ln>
        </p:spPr>
        <p:txBody>
          <a:bodyPr/>
          <a:p/>
        </p:txBody>
      </p:sp>
      <p:sp>
        <p:nvSpPr>
          <p:cNvPr id="123" name="Shape 121"/>
          <p:cNvSpPr/>
          <p:nvPr/>
        </p:nvSpPr>
        <p:spPr>
          <a:xfrm>
            <a:off x="9098280" y="3840480"/>
            <a:ext cx="128016" cy="128016"/>
          </a:xfrm>
          <a:prstGeom prst="ellipse">
            <a:avLst/>
          </a:prstGeom>
          <a:solidFill>
            <a:srgbClr val="D6D2C8"/>
          </a:solidFill>
          <a:ln w="12700">
            <a:solidFill>
              <a:srgbClr val="D6D2C8"/>
            </a:solidFill>
            <a:prstDash val="solid"/>
          </a:ln>
        </p:spPr>
        <p:txBody>
          <a:bodyPr/>
          <a:p/>
        </p:txBody>
      </p:sp>
      <p:sp>
        <p:nvSpPr>
          <p:cNvPr id="124" name="Shape 122"/>
          <p:cNvSpPr/>
          <p:nvPr/>
        </p:nvSpPr>
        <p:spPr>
          <a:xfrm>
            <a:off x="9272016" y="3840480"/>
            <a:ext cx="128016" cy="128016"/>
          </a:xfrm>
          <a:prstGeom prst="ellipse">
            <a:avLst/>
          </a:prstGeom>
          <a:solidFill>
            <a:srgbClr val="D6D2C8"/>
          </a:solidFill>
          <a:ln w="12700">
            <a:solidFill>
              <a:srgbClr val="D6D2C8"/>
            </a:solidFill>
            <a:prstDash val="solid"/>
          </a:ln>
        </p:spPr>
        <p:txBody>
          <a:bodyPr/>
          <a:p/>
        </p:txBody>
      </p:sp>
      <p:sp>
        <p:nvSpPr>
          <p:cNvPr id="125" name="Shape 123"/>
          <p:cNvSpPr/>
          <p:nvPr/>
        </p:nvSpPr>
        <p:spPr>
          <a:xfrm>
            <a:off x="9445752" y="3840480"/>
            <a:ext cx="128016" cy="128016"/>
          </a:xfrm>
          <a:prstGeom prst="ellipse">
            <a:avLst/>
          </a:prstGeom>
          <a:solidFill>
            <a:srgbClr val="D6D2C8"/>
          </a:solidFill>
          <a:ln w="12700">
            <a:solidFill>
              <a:srgbClr val="D6D2C8"/>
            </a:solidFill>
            <a:prstDash val="solid"/>
          </a:ln>
        </p:spPr>
        <p:txBody>
          <a:bodyPr/>
          <a:p/>
        </p:txBody>
      </p:sp>
      <p:sp>
        <p:nvSpPr>
          <p:cNvPr id="126" name="Shape 124"/>
          <p:cNvSpPr/>
          <p:nvPr/>
        </p:nvSpPr>
        <p:spPr>
          <a:xfrm>
            <a:off x="9619488" y="3840480"/>
            <a:ext cx="128016" cy="128016"/>
          </a:xfrm>
          <a:prstGeom prst="ellipse">
            <a:avLst/>
          </a:prstGeom>
          <a:solidFill>
            <a:srgbClr val="D6D2C8"/>
          </a:solidFill>
          <a:ln w="12700">
            <a:solidFill>
              <a:srgbClr val="D6D2C8"/>
            </a:solidFill>
            <a:prstDash val="solid"/>
          </a:ln>
        </p:spPr>
        <p:txBody>
          <a:bodyPr/>
          <a:p/>
        </p:txBody>
      </p:sp>
      <p:sp>
        <p:nvSpPr>
          <p:cNvPr id="127" name="Shape 125"/>
          <p:cNvSpPr/>
          <p:nvPr/>
        </p:nvSpPr>
        <p:spPr>
          <a:xfrm>
            <a:off x="9793224" y="3840480"/>
            <a:ext cx="128016" cy="128016"/>
          </a:xfrm>
          <a:prstGeom prst="ellipse">
            <a:avLst/>
          </a:prstGeom>
          <a:solidFill>
            <a:srgbClr val="D6D2C8"/>
          </a:solidFill>
          <a:ln w="12700">
            <a:solidFill>
              <a:srgbClr val="D6D2C8"/>
            </a:solidFill>
            <a:prstDash val="solid"/>
          </a:ln>
        </p:spPr>
        <p:txBody>
          <a:bodyPr/>
          <a:p/>
        </p:txBody>
      </p:sp>
      <p:sp>
        <p:nvSpPr>
          <p:cNvPr id="128" name="Shape 126"/>
          <p:cNvSpPr/>
          <p:nvPr/>
        </p:nvSpPr>
        <p:spPr>
          <a:xfrm>
            <a:off x="9966960" y="3840480"/>
            <a:ext cx="128016" cy="128016"/>
          </a:xfrm>
          <a:prstGeom prst="ellipse">
            <a:avLst/>
          </a:prstGeom>
          <a:solidFill>
            <a:srgbClr val="D6D2C8"/>
          </a:solidFill>
          <a:ln w="12700">
            <a:solidFill>
              <a:srgbClr val="D6D2C8"/>
            </a:solidFill>
            <a:prstDash val="solid"/>
          </a:ln>
        </p:spPr>
        <p:txBody>
          <a:bodyPr/>
          <a:p/>
        </p:txBody>
      </p:sp>
      <p:sp>
        <p:nvSpPr>
          <p:cNvPr id="129" name="Shape 127"/>
          <p:cNvSpPr/>
          <p:nvPr/>
        </p:nvSpPr>
        <p:spPr>
          <a:xfrm>
            <a:off x="10140696" y="3840480"/>
            <a:ext cx="128016" cy="128016"/>
          </a:xfrm>
          <a:prstGeom prst="ellipse">
            <a:avLst/>
          </a:prstGeom>
          <a:solidFill>
            <a:srgbClr val="D6D2C8"/>
          </a:solidFill>
          <a:ln w="12700">
            <a:solidFill>
              <a:srgbClr val="D6D2C8"/>
            </a:solidFill>
            <a:prstDash val="solid"/>
          </a:ln>
        </p:spPr>
        <p:txBody>
          <a:bodyPr/>
          <a:p/>
        </p:txBody>
      </p:sp>
      <p:sp>
        <p:nvSpPr>
          <p:cNvPr id="130" name="Shape 128"/>
          <p:cNvSpPr/>
          <p:nvPr/>
        </p:nvSpPr>
        <p:spPr>
          <a:xfrm>
            <a:off x="10314432" y="3840480"/>
            <a:ext cx="128016" cy="128016"/>
          </a:xfrm>
          <a:prstGeom prst="ellipse">
            <a:avLst/>
          </a:prstGeom>
          <a:solidFill>
            <a:srgbClr val="D6D2C8"/>
          </a:solidFill>
          <a:ln w="12700">
            <a:solidFill>
              <a:srgbClr val="D6D2C8"/>
            </a:solidFill>
            <a:prstDash val="solid"/>
          </a:ln>
        </p:spPr>
        <p:txBody>
          <a:bodyPr/>
          <a:p/>
        </p:txBody>
      </p:sp>
      <p:sp>
        <p:nvSpPr>
          <p:cNvPr id="131" name="Shape 129"/>
          <p:cNvSpPr/>
          <p:nvPr/>
        </p:nvSpPr>
        <p:spPr>
          <a:xfrm>
            <a:off x="10488168" y="3840480"/>
            <a:ext cx="128016" cy="128016"/>
          </a:xfrm>
          <a:prstGeom prst="ellipse">
            <a:avLst/>
          </a:prstGeom>
          <a:solidFill>
            <a:srgbClr val="D6D2C8"/>
          </a:solidFill>
          <a:ln w="12700">
            <a:solidFill>
              <a:srgbClr val="D6D2C8"/>
            </a:solidFill>
            <a:prstDash val="solid"/>
          </a:ln>
        </p:spPr>
        <p:txBody>
          <a:bodyPr/>
          <a:p/>
        </p:txBody>
      </p:sp>
      <p:sp>
        <p:nvSpPr>
          <p:cNvPr id="132" name="Shape 130"/>
          <p:cNvSpPr/>
          <p:nvPr/>
        </p:nvSpPr>
        <p:spPr>
          <a:xfrm>
            <a:off x="10661904" y="3840480"/>
            <a:ext cx="128016" cy="128016"/>
          </a:xfrm>
          <a:prstGeom prst="ellipse">
            <a:avLst/>
          </a:prstGeom>
          <a:solidFill>
            <a:srgbClr val="D6D2C8"/>
          </a:solidFill>
          <a:ln w="12700">
            <a:solidFill>
              <a:srgbClr val="D6D2C8"/>
            </a:solidFill>
            <a:prstDash val="solid"/>
          </a:ln>
        </p:spPr>
        <p:txBody>
          <a:bodyPr/>
          <a:p/>
        </p:txBody>
      </p:sp>
      <p:sp>
        <p:nvSpPr>
          <p:cNvPr id="133" name="Shape 131"/>
          <p:cNvSpPr/>
          <p:nvPr/>
        </p:nvSpPr>
        <p:spPr>
          <a:xfrm>
            <a:off x="10835640" y="3840480"/>
            <a:ext cx="128016" cy="128016"/>
          </a:xfrm>
          <a:prstGeom prst="ellipse">
            <a:avLst/>
          </a:prstGeom>
          <a:solidFill>
            <a:srgbClr val="D6D2C8"/>
          </a:solidFill>
          <a:ln w="12700">
            <a:solidFill>
              <a:srgbClr val="D6D2C8"/>
            </a:solidFill>
            <a:prstDash val="solid"/>
          </a:ln>
        </p:spPr>
        <p:txBody>
          <a:bodyPr/>
          <a:p/>
        </p:txBody>
      </p:sp>
      <p:sp>
        <p:nvSpPr>
          <p:cNvPr id="134" name="Shape 132"/>
          <p:cNvSpPr/>
          <p:nvPr/>
        </p:nvSpPr>
        <p:spPr>
          <a:xfrm>
            <a:off x="11009376" y="3840480"/>
            <a:ext cx="128016" cy="128016"/>
          </a:xfrm>
          <a:prstGeom prst="ellipse">
            <a:avLst/>
          </a:prstGeom>
          <a:solidFill>
            <a:srgbClr val="D6D2C8"/>
          </a:solidFill>
          <a:ln w="12700">
            <a:solidFill>
              <a:srgbClr val="D6D2C8"/>
            </a:solidFill>
            <a:prstDash val="solid"/>
          </a:ln>
        </p:spPr>
        <p:txBody>
          <a:bodyPr/>
          <a:p/>
        </p:txBody>
      </p:sp>
      <p:sp>
        <p:nvSpPr>
          <p:cNvPr id="135" name="Shape 133"/>
          <p:cNvSpPr/>
          <p:nvPr/>
        </p:nvSpPr>
        <p:spPr>
          <a:xfrm>
            <a:off x="11183112" y="3840480"/>
            <a:ext cx="128016" cy="128016"/>
          </a:xfrm>
          <a:prstGeom prst="ellipse">
            <a:avLst/>
          </a:prstGeom>
          <a:solidFill>
            <a:srgbClr val="D6D2C8"/>
          </a:solidFill>
          <a:ln w="12700">
            <a:solidFill>
              <a:srgbClr val="D6D2C8"/>
            </a:solidFill>
            <a:prstDash val="solid"/>
          </a:ln>
        </p:spPr>
        <p:txBody>
          <a:bodyPr/>
          <a:p/>
        </p:txBody>
      </p:sp>
      <p:sp>
        <p:nvSpPr>
          <p:cNvPr id="136" name="Shape 134"/>
          <p:cNvSpPr/>
          <p:nvPr/>
        </p:nvSpPr>
        <p:spPr>
          <a:xfrm>
            <a:off x="11356848" y="3840480"/>
            <a:ext cx="128016" cy="128016"/>
          </a:xfrm>
          <a:prstGeom prst="ellipse">
            <a:avLst/>
          </a:prstGeom>
          <a:solidFill>
            <a:srgbClr val="D6D2C8"/>
          </a:solidFill>
          <a:ln w="12700">
            <a:solidFill>
              <a:srgbClr val="D6D2C8"/>
            </a:solidFill>
            <a:prstDash val="solid"/>
          </a:ln>
        </p:spPr>
        <p:txBody>
          <a:bodyPr/>
          <a:p/>
        </p:txBody>
      </p:sp>
      <p:sp>
        <p:nvSpPr>
          <p:cNvPr id="137" name="Shape 135"/>
          <p:cNvSpPr/>
          <p:nvPr/>
        </p:nvSpPr>
        <p:spPr>
          <a:xfrm>
            <a:off x="11530584" y="3840480"/>
            <a:ext cx="128016" cy="128016"/>
          </a:xfrm>
          <a:prstGeom prst="ellipse">
            <a:avLst/>
          </a:prstGeom>
          <a:solidFill>
            <a:srgbClr val="D6D2C8"/>
          </a:solidFill>
          <a:ln w="12700">
            <a:solidFill>
              <a:srgbClr val="D6D2C8"/>
            </a:solidFill>
            <a:prstDash val="solid"/>
          </a:ln>
        </p:spPr>
        <p:txBody>
          <a:bodyPr/>
          <a:p/>
        </p:txBody>
      </p:sp>
      <p:sp>
        <p:nvSpPr>
          <p:cNvPr id="138" name="Shape 136"/>
          <p:cNvSpPr/>
          <p:nvPr/>
        </p:nvSpPr>
        <p:spPr>
          <a:xfrm>
            <a:off x="8229600" y="4014216"/>
            <a:ext cx="128016" cy="128016"/>
          </a:xfrm>
          <a:prstGeom prst="ellipse">
            <a:avLst/>
          </a:prstGeom>
          <a:solidFill>
            <a:srgbClr val="D6D2C8"/>
          </a:solidFill>
          <a:ln w="12700">
            <a:solidFill>
              <a:srgbClr val="D6D2C8"/>
            </a:solidFill>
            <a:prstDash val="solid"/>
          </a:ln>
        </p:spPr>
        <p:txBody>
          <a:bodyPr/>
          <a:p/>
        </p:txBody>
      </p:sp>
      <p:sp>
        <p:nvSpPr>
          <p:cNvPr id="139" name="Shape 137"/>
          <p:cNvSpPr/>
          <p:nvPr/>
        </p:nvSpPr>
        <p:spPr>
          <a:xfrm>
            <a:off x="8403336" y="4014216"/>
            <a:ext cx="128016" cy="128016"/>
          </a:xfrm>
          <a:prstGeom prst="ellipse">
            <a:avLst/>
          </a:prstGeom>
          <a:solidFill>
            <a:srgbClr val="D6D2C8"/>
          </a:solidFill>
          <a:ln w="12700">
            <a:solidFill>
              <a:srgbClr val="D6D2C8"/>
            </a:solidFill>
            <a:prstDash val="solid"/>
          </a:ln>
        </p:spPr>
        <p:txBody>
          <a:bodyPr/>
          <a:p/>
        </p:txBody>
      </p:sp>
      <p:sp>
        <p:nvSpPr>
          <p:cNvPr id="140" name="Shape 138"/>
          <p:cNvSpPr/>
          <p:nvPr/>
        </p:nvSpPr>
        <p:spPr>
          <a:xfrm>
            <a:off x="8577072" y="4014216"/>
            <a:ext cx="128016" cy="128016"/>
          </a:xfrm>
          <a:prstGeom prst="ellipse">
            <a:avLst/>
          </a:prstGeom>
          <a:solidFill>
            <a:srgbClr val="D6D2C8"/>
          </a:solidFill>
          <a:ln w="12700">
            <a:solidFill>
              <a:srgbClr val="D6D2C8"/>
            </a:solidFill>
            <a:prstDash val="solid"/>
          </a:ln>
        </p:spPr>
        <p:txBody>
          <a:bodyPr/>
          <a:p/>
        </p:txBody>
      </p:sp>
      <p:sp>
        <p:nvSpPr>
          <p:cNvPr id="141" name="Shape 139"/>
          <p:cNvSpPr/>
          <p:nvPr/>
        </p:nvSpPr>
        <p:spPr>
          <a:xfrm>
            <a:off x="8750808" y="4014216"/>
            <a:ext cx="128016" cy="128016"/>
          </a:xfrm>
          <a:prstGeom prst="ellipse">
            <a:avLst/>
          </a:prstGeom>
          <a:solidFill>
            <a:srgbClr val="D6D2C8"/>
          </a:solidFill>
          <a:ln w="12700">
            <a:solidFill>
              <a:srgbClr val="D6D2C8"/>
            </a:solidFill>
            <a:prstDash val="solid"/>
          </a:ln>
        </p:spPr>
        <p:txBody>
          <a:bodyPr/>
          <a:p/>
        </p:txBody>
      </p:sp>
      <p:sp>
        <p:nvSpPr>
          <p:cNvPr id="142" name="Shape 140"/>
          <p:cNvSpPr/>
          <p:nvPr/>
        </p:nvSpPr>
        <p:spPr>
          <a:xfrm>
            <a:off x="8924544" y="4014216"/>
            <a:ext cx="128016" cy="128016"/>
          </a:xfrm>
          <a:prstGeom prst="ellipse">
            <a:avLst/>
          </a:prstGeom>
          <a:solidFill>
            <a:srgbClr val="D6D2C8"/>
          </a:solidFill>
          <a:ln w="12700">
            <a:solidFill>
              <a:srgbClr val="D6D2C8"/>
            </a:solidFill>
            <a:prstDash val="solid"/>
          </a:ln>
        </p:spPr>
        <p:txBody>
          <a:bodyPr/>
          <a:p/>
        </p:txBody>
      </p:sp>
      <p:sp>
        <p:nvSpPr>
          <p:cNvPr id="143" name="Shape 141"/>
          <p:cNvSpPr/>
          <p:nvPr/>
        </p:nvSpPr>
        <p:spPr>
          <a:xfrm>
            <a:off x="9098280" y="4014216"/>
            <a:ext cx="128016" cy="128016"/>
          </a:xfrm>
          <a:prstGeom prst="ellipse">
            <a:avLst/>
          </a:prstGeom>
          <a:solidFill>
            <a:srgbClr val="D6D2C8"/>
          </a:solidFill>
          <a:ln w="12700">
            <a:solidFill>
              <a:srgbClr val="D6D2C8"/>
            </a:solidFill>
            <a:prstDash val="solid"/>
          </a:ln>
        </p:spPr>
        <p:txBody>
          <a:bodyPr/>
          <a:p/>
        </p:txBody>
      </p:sp>
      <p:sp>
        <p:nvSpPr>
          <p:cNvPr id="144" name="Shape 142"/>
          <p:cNvSpPr/>
          <p:nvPr/>
        </p:nvSpPr>
        <p:spPr>
          <a:xfrm>
            <a:off x="9272016" y="4014216"/>
            <a:ext cx="128016" cy="128016"/>
          </a:xfrm>
          <a:prstGeom prst="ellipse">
            <a:avLst/>
          </a:prstGeom>
          <a:solidFill>
            <a:srgbClr val="D6D2C8"/>
          </a:solidFill>
          <a:ln w="12700">
            <a:solidFill>
              <a:srgbClr val="D6D2C8"/>
            </a:solidFill>
            <a:prstDash val="solid"/>
          </a:ln>
        </p:spPr>
        <p:txBody>
          <a:bodyPr/>
          <a:p/>
        </p:txBody>
      </p:sp>
      <p:sp>
        <p:nvSpPr>
          <p:cNvPr id="145" name="Shape 143"/>
          <p:cNvSpPr/>
          <p:nvPr/>
        </p:nvSpPr>
        <p:spPr>
          <a:xfrm>
            <a:off x="9445752" y="4014216"/>
            <a:ext cx="128016" cy="128016"/>
          </a:xfrm>
          <a:prstGeom prst="ellipse">
            <a:avLst/>
          </a:prstGeom>
          <a:solidFill>
            <a:srgbClr val="D6D2C8"/>
          </a:solidFill>
          <a:ln w="12700">
            <a:solidFill>
              <a:srgbClr val="D6D2C8"/>
            </a:solidFill>
            <a:prstDash val="solid"/>
          </a:ln>
        </p:spPr>
        <p:txBody>
          <a:bodyPr/>
          <a:p/>
        </p:txBody>
      </p:sp>
      <p:sp>
        <p:nvSpPr>
          <p:cNvPr id="146" name="Shape 144"/>
          <p:cNvSpPr/>
          <p:nvPr/>
        </p:nvSpPr>
        <p:spPr>
          <a:xfrm>
            <a:off x="9619488" y="4014216"/>
            <a:ext cx="128016" cy="128016"/>
          </a:xfrm>
          <a:prstGeom prst="ellipse">
            <a:avLst/>
          </a:prstGeom>
          <a:solidFill>
            <a:srgbClr val="D6D2C8"/>
          </a:solidFill>
          <a:ln w="12700">
            <a:solidFill>
              <a:srgbClr val="D6D2C8"/>
            </a:solidFill>
            <a:prstDash val="solid"/>
          </a:ln>
        </p:spPr>
        <p:txBody>
          <a:bodyPr/>
          <a:p/>
        </p:txBody>
      </p:sp>
      <p:sp>
        <p:nvSpPr>
          <p:cNvPr id="147" name="Shape 145"/>
          <p:cNvSpPr/>
          <p:nvPr/>
        </p:nvSpPr>
        <p:spPr>
          <a:xfrm>
            <a:off x="9793224" y="4014216"/>
            <a:ext cx="128016" cy="128016"/>
          </a:xfrm>
          <a:prstGeom prst="ellipse">
            <a:avLst/>
          </a:prstGeom>
          <a:solidFill>
            <a:srgbClr val="D6D2C8"/>
          </a:solidFill>
          <a:ln w="12700">
            <a:solidFill>
              <a:srgbClr val="D6D2C8"/>
            </a:solidFill>
            <a:prstDash val="solid"/>
          </a:ln>
        </p:spPr>
        <p:txBody>
          <a:bodyPr/>
          <a:p/>
        </p:txBody>
      </p:sp>
      <p:sp>
        <p:nvSpPr>
          <p:cNvPr id="148" name="Shape 146"/>
          <p:cNvSpPr/>
          <p:nvPr/>
        </p:nvSpPr>
        <p:spPr>
          <a:xfrm>
            <a:off x="9966960" y="4014216"/>
            <a:ext cx="128016" cy="128016"/>
          </a:xfrm>
          <a:prstGeom prst="ellipse">
            <a:avLst/>
          </a:prstGeom>
          <a:solidFill>
            <a:srgbClr val="D6D2C8"/>
          </a:solidFill>
          <a:ln w="12700">
            <a:solidFill>
              <a:srgbClr val="D6D2C8"/>
            </a:solidFill>
            <a:prstDash val="solid"/>
          </a:ln>
        </p:spPr>
        <p:txBody>
          <a:bodyPr/>
          <a:p/>
        </p:txBody>
      </p:sp>
      <p:sp>
        <p:nvSpPr>
          <p:cNvPr id="149" name="Shape 147"/>
          <p:cNvSpPr/>
          <p:nvPr/>
        </p:nvSpPr>
        <p:spPr>
          <a:xfrm>
            <a:off x="10140696" y="4014216"/>
            <a:ext cx="128016" cy="128016"/>
          </a:xfrm>
          <a:prstGeom prst="ellipse">
            <a:avLst/>
          </a:prstGeom>
          <a:solidFill>
            <a:srgbClr val="D6D2C8"/>
          </a:solidFill>
          <a:ln w="12700">
            <a:solidFill>
              <a:srgbClr val="D6D2C8"/>
            </a:solidFill>
            <a:prstDash val="solid"/>
          </a:ln>
        </p:spPr>
        <p:txBody>
          <a:bodyPr/>
          <a:p/>
        </p:txBody>
      </p:sp>
      <p:sp>
        <p:nvSpPr>
          <p:cNvPr id="150" name="Shape 148"/>
          <p:cNvSpPr/>
          <p:nvPr/>
        </p:nvSpPr>
        <p:spPr>
          <a:xfrm>
            <a:off x="10314432" y="4014216"/>
            <a:ext cx="128016" cy="128016"/>
          </a:xfrm>
          <a:prstGeom prst="ellipse">
            <a:avLst/>
          </a:prstGeom>
          <a:solidFill>
            <a:srgbClr val="D6D2C8"/>
          </a:solidFill>
          <a:ln w="12700">
            <a:solidFill>
              <a:srgbClr val="D6D2C8"/>
            </a:solidFill>
            <a:prstDash val="solid"/>
          </a:ln>
        </p:spPr>
        <p:txBody>
          <a:bodyPr/>
          <a:p/>
        </p:txBody>
      </p:sp>
      <p:sp>
        <p:nvSpPr>
          <p:cNvPr id="151" name="Shape 149"/>
          <p:cNvSpPr/>
          <p:nvPr/>
        </p:nvSpPr>
        <p:spPr>
          <a:xfrm>
            <a:off x="10488168" y="4014216"/>
            <a:ext cx="128016" cy="128016"/>
          </a:xfrm>
          <a:prstGeom prst="ellipse">
            <a:avLst/>
          </a:prstGeom>
          <a:solidFill>
            <a:srgbClr val="D6D2C8"/>
          </a:solidFill>
          <a:ln w="12700">
            <a:solidFill>
              <a:srgbClr val="D6D2C8"/>
            </a:solidFill>
            <a:prstDash val="solid"/>
          </a:ln>
        </p:spPr>
        <p:txBody>
          <a:bodyPr/>
          <a:p/>
        </p:txBody>
      </p:sp>
      <p:sp>
        <p:nvSpPr>
          <p:cNvPr id="152" name="Shape 150"/>
          <p:cNvSpPr/>
          <p:nvPr/>
        </p:nvSpPr>
        <p:spPr>
          <a:xfrm>
            <a:off x="10661904" y="4014216"/>
            <a:ext cx="128016" cy="128016"/>
          </a:xfrm>
          <a:prstGeom prst="ellipse">
            <a:avLst/>
          </a:prstGeom>
          <a:solidFill>
            <a:srgbClr val="D6D2C8"/>
          </a:solidFill>
          <a:ln w="12700">
            <a:solidFill>
              <a:srgbClr val="D6D2C8"/>
            </a:solidFill>
            <a:prstDash val="solid"/>
          </a:ln>
        </p:spPr>
        <p:txBody>
          <a:bodyPr/>
          <a:p/>
        </p:txBody>
      </p:sp>
      <p:sp>
        <p:nvSpPr>
          <p:cNvPr id="153" name="Shape 151"/>
          <p:cNvSpPr/>
          <p:nvPr/>
        </p:nvSpPr>
        <p:spPr>
          <a:xfrm>
            <a:off x="10835640" y="4014216"/>
            <a:ext cx="128016" cy="128016"/>
          </a:xfrm>
          <a:prstGeom prst="ellipse">
            <a:avLst/>
          </a:prstGeom>
          <a:solidFill>
            <a:srgbClr val="D6D2C8"/>
          </a:solidFill>
          <a:ln w="12700">
            <a:solidFill>
              <a:srgbClr val="D6D2C8"/>
            </a:solidFill>
            <a:prstDash val="solid"/>
          </a:ln>
        </p:spPr>
        <p:txBody>
          <a:bodyPr/>
          <a:p/>
        </p:txBody>
      </p:sp>
      <p:sp>
        <p:nvSpPr>
          <p:cNvPr id="154" name="Shape 152"/>
          <p:cNvSpPr/>
          <p:nvPr/>
        </p:nvSpPr>
        <p:spPr>
          <a:xfrm>
            <a:off x="11009376" y="4014216"/>
            <a:ext cx="128016" cy="128016"/>
          </a:xfrm>
          <a:prstGeom prst="ellipse">
            <a:avLst/>
          </a:prstGeom>
          <a:solidFill>
            <a:srgbClr val="D6D2C8"/>
          </a:solidFill>
          <a:ln w="12700">
            <a:solidFill>
              <a:srgbClr val="D6D2C8"/>
            </a:solidFill>
            <a:prstDash val="solid"/>
          </a:ln>
        </p:spPr>
        <p:txBody>
          <a:bodyPr/>
          <a:p/>
        </p:txBody>
      </p:sp>
      <p:sp>
        <p:nvSpPr>
          <p:cNvPr id="155" name="Shape 153"/>
          <p:cNvSpPr/>
          <p:nvPr/>
        </p:nvSpPr>
        <p:spPr>
          <a:xfrm>
            <a:off x="11183112" y="4014216"/>
            <a:ext cx="128016" cy="128016"/>
          </a:xfrm>
          <a:prstGeom prst="ellipse">
            <a:avLst/>
          </a:prstGeom>
          <a:solidFill>
            <a:srgbClr val="D6D2C8"/>
          </a:solidFill>
          <a:ln w="12700">
            <a:solidFill>
              <a:srgbClr val="D6D2C8"/>
            </a:solidFill>
            <a:prstDash val="solid"/>
          </a:ln>
        </p:spPr>
        <p:txBody>
          <a:bodyPr/>
          <a:p/>
        </p:txBody>
      </p:sp>
      <p:sp>
        <p:nvSpPr>
          <p:cNvPr id="156" name="Shape 154"/>
          <p:cNvSpPr/>
          <p:nvPr/>
        </p:nvSpPr>
        <p:spPr>
          <a:xfrm>
            <a:off x="11356848" y="4014216"/>
            <a:ext cx="128016" cy="128016"/>
          </a:xfrm>
          <a:prstGeom prst="ellipse">
            <a:avLst/>
          </a:prstGeom>
          <a:solidFill>
            <a:srgbClr val="D6D2C8"/>
          </a:solidFill>
          <a:ln w="12700">
            <a:solidFill>
              <a:srgbClr val="D6D2C8"/>
            </a:solidFill>
            <a:prstDash val="solid"/>
          </a:ln>
        </p:spPr>
        <p:txBody>
          <a:bodyPr/>
          <a:p/>
        </p:txBody>
      </p:sp>
      <p:sp>
        <p:nvSpPr>
          <p:cNvPr id="157" name="Shape 155"/>
          <p:cNvSpPr/>
          <p:nvPr/>
        </p:nvSpPr>
        <p:spPr>
          <a:xfrm>
            <a:off x="11530584" y="4014216"/>
            <a:ext cx="128016" cy="128016"/>
          </a:xfrm>
          <a:prstGeom prst="ellipse">
            <a:avLst/>
          </a:prstGeom>
          <a:solidFill>
            <a:srgbClr val="D6D2C8"/>
          </a:solidFill>
          <a:ln w="12700">
            <a:solidFill>
              <a:srgbClr val="D6D2C8"/>
            </a:solidFill>
            <a:prstDash val="solid"/>
          </a:ln>
        </p:spPr>
        <p:txBody>
          <a:bodyPr/>
          <a:p/>
        </p:txBody>
      </p:sp>
      <p:sp>
        <p:nvSpPr>
          <p:cNvPr id="158" name="Shape 156"/>
          <p:cNvSpPr/>
          <p:nvPr/>
        </p:nvSpPr>
        <p:spPr>
          <a:xfrm>
            <a:off x="8229600" y="4187952"/>
            <a:ext cx="128016" cy="128016"/>
          </a:xfrm>
          <a:prstGeom prst="ellipse">
            <a:avLst/>
          </a:prstGeom>
          <a:solidFill>
            <a:srgbClr val="D6D2C8"/>
          </a:solidFill>
          <a:ln w="12700">
            <a:solidFill>
              <a:srgbClr val="D6D2C8"/>
            </a:solidFill>
            <a:prstDash val="solid"/>
          </a:ln>
        </p:spPr>
        <p:txBody>
          <a:bodyPr/>
          <a:p/>
        </p:txBody>
      </p:sp>
      <p:sp>
        <p:nvSpPr>
          <p:cNvPr id="159" name="Shape 157"/>
          <p:cNvSpPr/>
          <p:nvPr/>
        </p:nvSpPr>
        <p:spPr>
          <a:xfrm>
            <a:off x="8403336" y="4187952"/>
            <a:ext cx="128016" cy="128016"/>
          </a:xfrm>
          <a:prstGeom prst="ellipse">
            <a:avLst/>
          </a:prstGeom>
          <a:solidFill>
            <a:srgbClr val="D6D2C8"/>
          </a:solidFill>
          <a:ln w="12700">
            <a:solidFill>
              <a:srgbClr val="D6D2C8"/>
            </a:solidFill>
            <a:prstDash val="solid"/>
          </a:ln>
        </p:spPr>
        <p:txBody>
          <a:bodyPr/>
          <a:p/>
        </p:txBody>
      </p:sp>
      <p:sp>
        <p:nvSpPr>
          <p:cNvPr id="160" name="Shape 158"/>
          <p:cNvSpPr/>
          <p:nvPr/>
        </p:nvSpPr>
        <p:spPr>
          <a:xfrm>
            <a:off x="8577072" y="4187952"/>
            <a:ext cx="128016" cy="128016"/>
          </a:xfrm>
          <a:prstGeom prst="ellipse">
            <a:avLst/>
          </a:prstGeom>
          <a:solidFill>
            <a:srgbClr val="D6D2C8"/>
          </a:solidFill>
          <a:ln w="12700">
            <a:solidFill>
              <a:srgbClr val="D6D2C8"/>
            </a:solidFill>
            <a:prstDash val="solid"/>
          </a:ln>
        </p:spPr>
        <p:txBody>
          <a:bodyPr/>
          <a:p/>
        </p:txBody>
      </p:sp>
      <p:sp>
        <p:nvSpPr>
          <p:cNvPr id="161" name="Shape 159"/>
          <p:cNvSpPr/>
          <p:nvPr/>
        </p:nvSpPr>
        <p:spPr>
          <a:xfrm>
            <a:off x="8750808" y="4187952"/>
            <a:ext cx="128016" cy="128016"/>
          </a:xfrm>
          <a:prstGeom prst="ellipse">
            <a:avLst/>
          </a:prstGeom>
          <a:solidFill>
            <a:srgbClr val="D6D2C8"/>
          </a:solidFill>
          <a:ln w="12700">
            <a:solidFill>
              <a:srgbClr val="D6D2C8"/>
            </a:solidFill>
            <a:prstDash val="solid"/>
          </a:ln>
        </p:spPr>
        <p:txBody>
          <a:bodyPr/>
          <a:p/>
        </p:txBody>
      </p:sp>
      <p:sp>
        <p:nvSpPr>
          <p:cNvPr id="162" name="Shape 160"/>
          <p:cNvSpPr/>
          <p:nvPr/>
        </p:nvSpPr>
        <p:spPr>
          <a:xfrm>
            <a:off x="8924544" y="4187952"/>
            <a:ext cx="128016" cy="128016"/>
          </a:xfrm>
          <a:prstGeom prst="ellipse">
            <a:avLst/>
          </a:prstGeom>
          <a:solidFill>
            <a:srgbClr val="D6D2C8"/>
          </a:solidFill>
          <a:ln w="12700">
            <a:solidFill>
              <a:srgbClr val="D6D2C8"/>
            </a:solidFill>
            <a:prstDash val="solid"/>
          </a:ln>
        </p:spPr>
        <p:txBody>
          <a:bodyPr/>
          <a:p/>
        </p:txBody>
      </p:sp>
      <p:sp>
        <p:nvSpPr>
          <p:cNvPr id="163" name="Shape 161"/>
          <p:cNvSpPr/>
          <p:nvPr/>
        </p:nvSpPr>
        <p:spPr>
          <a:xfrm>
            <a:off x="9098280" y="4187952"/>
            <a:ext cx="128016" cy="128016"/>
          </a:xfrm>
          <a:prstGeom prst="ellipse">
            <a:avLst/>
          </a:prstGeom>
          <a:solidFill>
            <a:srgbClr val="D6D2C8"/>
          </a:solidFill>
          <a:ln w="12700">
            <a:solidFill>
              <a:srgbClr val="D6D2C8"/>
            </a:solidFill>
            <a:prstDash val="solid"/>
          </a:ln>
        </p:spPr>
        <p:txBody>
          <a:bodyPr/>
          <a:p/>
        </p:txBody>
      </p:sp>
      <p:sp>
        <p:nvSpPr>
          <p:cNvPr id="164" name="Shape 162"/>
          <p:cNvSpPr/>
          <p:nvPr/>
        </p:nvSpPr>
        <p:spPr>
          <a:xfrm>
            <a:off x="9272016" y="4187952"/>
            <a:ext cx="128016" cy="128016"/>
          </a:xfrm>
          <a:prstGeom prst="ellipse">
            <a:avLst/>
          </a:prstGeom>
          <a:solidFill>
            <a:srgbClr val="D6D2C8"/>
          </a:solidFill>
          <a:ln w="12700">
            <a:solidFill>
              <a:srgbClr val="D6D2C8"/>
            </a:solidFill>
            <a:prstDash val="solid"/>
          </a:ln>
        </p:spPr>
        <p:txBody>
          <a:bodyPr/>
          <a:p/>
        </p:txBody>
      </p:sp>
      <p:sp>
        <p:nvSpPr>
          <p:cNvPr id="165" name="Shape 163"/>
          <p:cNvSpPr/>
          <p:nvPr/>
        </p:nvSpPr>
        <p:spPr>
          <a:xfrm>
            <a:off x="9445752" y="4187952"/>
            <a:ext cx="128016" cy="128016"/>
          </a:xfrm>
          <a:prstGeom prst="ellipse">
            <a:avLst/>
          </a:prstGeom>
          <a:solidFill>
            <a:srgbClr val="D6D2C8"/>
          </a:solidFill>
          <a:ln w="12700">
            <a:solidFill>
              <a:srgbClr val="D6D2C8"/>
            </a:solidFill>
            <a:prstDash val="solid"/>
          </a:ln>
        </p:spPr>
        <p:txBody>
          <a:bodyPr/>
          <a:p/>
        </p:txBody>
      </p:sp>
      <p:sp>
        <p:nvSpPr>
          <p:cNvPr id="166" name="Shape 164"/>
          <p:cNvSpPr/>
          <p:nvPr/>
        </p:nvSpPr>
        <p:spPr>
          <a:xfrm>
            <a:off x="9619488" y="4187952"/>
            <a:ext cx="128016" cy="128016"/>
          </a:xfrm>
          <a:prstGeom prst="ellipse">
            <a:avLst/>
          </a:prstGeom>
          <a:solidFill>
            <a:srgbClr val="D6D2C8"/>
          </a:solidFill>
          <a:ln w="12700">
            <a:solidFill>
              <a:srgbClr val="D6D2C8"/>
            </a:solidFill>
            <a:prstDash val="solid"/>
          </a:ln>
        </p:spPr>
        <p:txBody>
          <a:bodyPr/>
          <a:p/>
        </p:txBody>
      </p:sp>
      <p:sp>
        <p:nvSpPr>
          <p:cNvPr id="167" name="Shape 165"/>
          <p:cNvSpPr/>
          <p:nvPr/>
        </p:nvSpPr>
        <p:spPr>
          <a:xfrm>
            <a:off x="9793224" y="4187952"/>
            <a:ext cx="128016" cy="128016"/>
          </a:xfrm>
          <a:prstGeom prst="ellipse">
            <a:avLst/>
          </a:prstGeom>
          <a:solidFill>
            <a:srgbClr val="D6D2C8"/>
          </a:solidFill>
          <a:ln w="12700">
            <a:solidFill>
              <a:srgbClr val="D6D2C8"/>
            </a:solidFill>
            <a:prstDash val="solid"/>
          </a:ln>
        </p:spPr>
        <p:txBody>
          <a:bodyPr/>
          <a:p/>
        </p:txBody>
      </p:sp>
      <p:sp>
        <p:nvSpPr>
          <p:cNvPr id="168" name="Shape 166"/>
          <p:cNvSpPr/>
          <p:nvPr/>
        </p:nvSpPr>
        <p:spPr>
          <a:xfrm>
            <a:off x="9966960" y="4187952"/>
            <a:ext cx="128016" cy="128016"/>
          </a:xfrm>
          <a:prstGeom prst="ellipse">
            <a:avLst/>
          </a:prstGeom>
          <a:solidFill>
            <a:srgbClr val="D6D2C8"/>
          </a:solidFill>
          <a:ln w="12700">
            <a:solidFill>
              <a:srgbClr val="D6D2C8"/>
            </a:solidFill>
            <a:prstDash val="solid"/>
          </a:ln>
        </p:spPr>
        <p:txBody>
          <a:bodyPr/>
          <a:p/>
        </p:txBody>
      </p:sp>
      <p:sp>
        <p:nvSpPr>
          <p:cNvPr id="169" name="Shape 167"/>
          <p:cNvSpPr/>
          <p:nvPr/>
        </p:nvSpPr>
        <p:spPr>
          <a:xfrm>
            <a:off x="10140696" y="4187952"/>
            <a:ext cx="128016" cy="128016"/>
          </a:xfrm>
          <a:prstGeom prst="ellipse">
            <a:avLst/>
          </a:prstGeom>
          <a:solidFill>
            <a:srgbClr val="D6D2C8"/>
          </a:solidFill>
          <a:ln w="12700">
            <a:solidFill>
              <a:srgbClr val="D6D2C8"/>
            </a:solidFill>
            <a:prstDash val="solid"/>
          </a:ln>
        </p:spPr>
        <p:txBody>
          <a:bodyPr/>
          <a:p/>
        </p:txBody>
      </p:sp>
      <p:sp>
        <p:nvSpPr>
          <p:cNvPr id="170" name="Shape 168"/>
          <p:cNvSpPr/>
          <p:nvPr/>
        </p:nvSpPr>
        <p:spPr>
          <a:xfrm>
            <a:off x="10314432" y="4187952"/>
            <a:ext cx="128016" cy="128016"/>
          </a:xfrm>
          <a:prstGeom prst="ellipse">
            <a:avLst/>
          </a:prstGeom>
          <a:solidFill>
            <a:srgbClr val="D6D2C8"/>
          </a:solidFill>
          <a:ln w="12700">
            <a:solidFill>
              <a:srgbClr val="D6D2C8"/>
            </a:solidFill>
            <a:prstDash val="solid"/>
          </a:ln>
        </p:spPr>
        <p:txBody>
          <a:bodyPr/>
          <a:p/>
        </p:txBody>
      </p:sp>
      <p:sp>
        <p:nvSpPr>
          <p:cNvPr id="171" name="Shape 169"/>
          <p:cNvSpPr/>
          <p:nvPr/>
        </p:nvSpPr>
        <p:spPr>
          <a:xfrm>
            <a:off x="10488168" y="4187952"/>
            <a:ext cx="128016" cy="128016"/>
          </a:xfrm>
          <a:prstGeom prst="ellipse">
            <a:avLst/>
          </a:prstGeom>
          <a:solidFill>
            <a:srgbClr val="D6D2C8"/>
          </a:solidFill>
          <a:ln w="12700">
            <a:solidFill>
              <a:srgbClr val="D6D2C8"/>
            </a:solidFill>
            <a:prstDash val="solid"/>
          </a:ln>
        </p:spPr>
        <p:txBody>
          <a:bodyPr/>
          <a:p/>
        </p:txBody>
      </p:sp>
      <p:sp>
        <p:nvSpPr>
          <p:cNvPr id="172" name="Shape 170"/>
          <p:cNvSpPr/>
          <p:nvPr/>
        </p:nvSpPr>
        <p:spPr>
          <a:xfrm>
            <a:off x="10661904" y="4187952"/>
            <a:ext cx="128016" cy="128016"/>
          </a:xfrm>
          <a:prstGeom prst="ellipse">
            <a:avLst/>
          </a:prstGeom>
          <a:solidFill>
            <a:srgbClr val="D6D2C8"/>
          </a:solidFill>
          <a:ln w="12700">
            <a:solidFill>
              <a:srgbClr val="D6D2C8"/>
            </a:solidFill>
            <a:prstDash val="solid"/>
          </a:ln>
        </p:spPr>
        <p:txBody>
          <a:bodyPr/>
          <a:p/>
        </p:txBody>
      </p:sp>
      <p:sp>
        <p:nvSpPr>
          <p:cNvPr id="173" name="Shape 171"/>
          <p:cNvSpPr/>
          <p:nvPr/>
        </p:nvSpPr>
        <p:spPr>
          <a:xfrm>
            <a:off x="10835640" y="4187952"/>
            <a:ext cx="128016" cy="128016"/>
          </a:xfrm>
          <a:prstGeom prst="ellipse">
            <a:avLst/>
          </a:prstGeom>
          <a:solidFill>
            <a:srgbClr val="D6D2C8"/>
          </a:solidFill>
          <a:ln w="12700">
            <a:solidFill>
              <a:srgbClr val="D6D2C8"/>
            </a:solidFill>
            <a:prstDash val="solid"/>
          </a:ln>
        </p:spPr>
        <p:txBody>
          <a:bodyPr/>
          <a:p/>
        </p:txBody>
      </p:sp>
      <p:sp>
        <p:nvSpPr>
          <p:cNvPr id="174" name="Shape 172"/>
          <p:cNvSpPr/>
          <p:nvPr/>
        </p:nvSpPr>
        <p:spPr>
          <a:xfrm>
            <a:off x="11009376" y="4187952"/>
            <a:ext cx="128016" cy="128016"/>
          </a:xfrm>
          <a:prstGeom prst="ellipse">
            <a:avLst/>
          </a:prstGeom>
          <a:solidFill>
            <a:srgbClr val="D6D2C8"/>
          </a:solidFill>
          <a:ln w="12700">
            <a:solidFill>
              <a:srgbClr val="D6D2C8"/>
            </a:solidFill>
            <a:prstDash val="solid"/>
          </a:ln>
        </p:spPr>
        <p:txBody>
          <a:bodyPr/>
          <a:p/>
        </p:txBody>
      </p:sp>
      <p:sp>
        <p:nvSpPr>
          <p:cNvPr id="175" name="Shape 173"/>
          <p:cNvSpPr/>
          <p:nvPr/>
        </p:nvSpPr>
        <p:spPr>
          <a:xfrm>
            <a:off x="11183112" y="4187952"/>
            <a:ext cx="128016" cy="128016"/>
          </a:xfrm>
          <a:prstGeom prst="ellipse">
            <a:avLst/>
          </a:prstGeom>
          <a:solidFill>
            <a:srgbClr val="D6D2C8"/>
          </a:solidFill>
          <a:ln w="12700">
            <a:solidFill>
              <a:srgbClr val="D6D2C8"/>
            </a:solidFill>
            <a:prstDash val="solid"/>
          </a:ln>
        </p:spPr>
        <p:txBody>
          <a:bodyPr/>
          <a:p/>
        </p:txBody>
      </p:sp>
      <p:sp>
        <p:nvSpPr>
          <p:cNvPr id="176" name="Shape 174"/>
          <p:cNvSpPr/>
          <p:nvPr/>
        </p:nvSpPr>
        <p:spPr>
          <a:xfrm>
            <a:off x="11356848" y="4187952"/>
            <a:ext cx="128016" cy="128016"/>
          </a:xfrm>
          <a:prstGeom prst="ellipse">
            <a:avLst/>
          </a:prstGeom>
          <a:solidFill>
            <a:srgbClr val="D6D2C8"/>
          </a:solidFill>
          <a:ln w="12700">
            <a:solidFill>
              <a:srgbClr val="D6D2C8"/>
            </a:solidFill>
            <a:prstDash val="solid"/>
          </a:ln>
        </p:spPr>
        <p:txBody>
          <a:bodyPr/>
          <a:p/>
        </p:txBody>
      </p:sp>
      <p:sp>
        <p:nvSpPr>
          <p:cNvPr id="177" name="Shape 175"/>
          <p:cNvSpPr/>
          <p:nvPr/>
        </p:nvSpPr>
        <p:spPr>
          <a:xfrm>
            <a:off x="11530584" y="4187952"/>
            <a:ext cx="128016" cy="128016"/>
          </a:xfrm>
          <a:prstGeom prst="ellipse">
            <a:avLst/>
          </a:prstGeom>
          <a:solidFill>
            <a:srgbClr val="D6D2C8"/>
          </a:solidFill>
          <a:ln w="12700">
            <a:solidFill>
              <a:srgbClr val="D6D2C8"/>
            </a:solidFill>
            <a:prstDash val="solid"/>
          </a:ln>
        </p:spPr>
        <p:txBody>
          <a:bodyPr/>
          <a:p/>
        </p:txBody>
      </p:sp>
      <p:sp>
        <p:nvSpPr>
          <p:cNvPr id="178" name="Shape 176"/>
          <p:cNvSpPr/>
          <p:nvPr/>
        </p:nvSpPr>
        <p:spPr>
          <a:xfrm>
            <a:off x="8229600" y="4361688"/>
            <a:ext cx="128016" cy="128016"/>
          </a:xfrm>
          <a:prstGeom prst="ellipse">
            <a:avLst/>
          </a:prstGeom>
          <a:solidFill>
            <a:srgbClr val="D6D2C8"/>
          </a:solidFill>
          <a:ln w="12700">
            <a:solidFill>
              <a:srgbClr val="D6D2C8"/>
            </a:solidFill>
            <a:prstDash val="solid"/>
          </a:ln>
        </p:spPr>
        <p:txBody>
          <a:bodyPr/>
          <a:p/>
        </p:txBody>
      </p:sp>
      <p:sp>
        <p:nvSpPr>
          <p:cNvPr id="179" name="Shape 177"/>
          <p:cNvSpPr/>
          <p:nvPr/>
        </p:nvSpPr>
        <p:spPr>
          <a:xfrm>
            <a:off x="8403336" y="4361688"/>
            <a:ext cx="128016" cy="128016"/>
          </a:xfrm>
          <a:prstGeom prst="ellipse">
            <a:avLst/>
          </a:prstGeom>
          <a:solidFill>
            <a:srgbClr val="D6D2C8"/>
          </a:solidFill>
          <a:ln w="12700">
            <a:solidFill>
              <a:srgbClr val="D6D2C8"/>
            </a:solidFill>
            <a:prstDash val="solid"/>
          </a:ln>
        </p:spPr>
        <p:txBody>
          <a:bodyPr/>
          <a:p/>
        </p:txBody>
      </p:sp>
      <p:sp>
        <p:nvSpPr>
          <p:cNvPr id="180" name="Shape 178"/>
          <p:cNvSpPr/>
          <p:nvPr/>
        </p:nvSpPr>
        <p:spPr>
          <a:xfrm>
            <a:off x="8577072" y="4361688"/>
            <a:ext cx="128016" cy="128016"/>
          </a:xfrm>
          <a:prstGeom prst="ellipse">
            <a:avLst/>
          </a:prstGeom>
          <a:solidFill>
            <a:srgbClr val="D6D2C8"/>
          </a:solidFill>
          <a:ln w="12700">
            <a:solidFill>
              <a:srgbClr val="D6D2C8"/>
            </a:solidFill>
            <a:prstDash val="solid"/>
          </a:ln>
        </p:spPr>
        <p:txBody>
          <a:bodyPr/>
          <a:p/>
        </p:txBody>
      </p:sp>
      <p:sp>
        <p:nvSpPr>
          <p:cNvPr id="181" name="Shape 179"/>
          <p:cNvSpPr/>
          <p:nvPr/>
        </p:nvSpPr>
        <p:spPr>
          <a:xfrm>
            <a:off x="8750808" y="4361688"/>
            <a:ext cx="128016" cy="128016"/>
          </a:xfrm>
          <a:prstGeom prst="ellipse">
            <a:avLst/>
          </a:prstGeom>
          <a:solidFill>
            <a:srgbClr val="D6D2C8"/>
          </a:solidFill>
          <a:ln w="12700">
            <a:solidFill>
              <a:srgbClr val="D6D2C8"/>
            </a:solidFill>
            <a:prstDash val="solid"/>
          </a:ln>
        </p:spPr>
        <p:txBody>
          <a:bodyPr/>
          <a:p/>
        </p:txBody>
      </p:sp>
      <p:sp>
        <p:nvSpPr>
          <p:cNvPr id="182" name="Shape 180"/>
          <p:cNvSpPr/>
          <p:nvPr/>
        </p:nvSpPr>
        <p:spPr>
          <a:xfrm>
            <a:off x="8924544" y="4361688"/>
            <a:ext cx="128016" cy="128016"/>
          </a:xfrm>
          <a:prstGeom prst="ellipse">
            <a:avLst/>
          </a:prstGeom>
          <a:solidFill>
            <a:srgbClr val="D6D2C8"/>
          </a:solidFill>
          <a:ln w="12700">
            <a:solidFill>
              <a:srgbClr val="D6D2C8"/>
            </a:solidFill>
            <a:prstDash val="solid"/>
          </a:ln>
        </p:spPr>
        <p:txBody>
          <a:bodyPr/>
          <a:p/>
        </p:txBody>
      </p:sp>
      <p:sp>
        <p:nvSpPr>
          <p:cNvPr id="183" name="Shape 181"/>
          <p:cNvSpPr/>
          <p:nvPr/>
        </p:nvSpPr>
        <p:spPr>
          <a:xfrm>
            <a:off x="9098280" y="4361688"/>
            <a:ext cx="128016" cy="128016"/>
          </a:xfrm>
          <a:prstGeom prst="ellipse">
            <a:avLst/>
          </a:prstGeom>
          <a:solidFill>
            <a:srgbClr val="D6D2C8"/>
          </a:solidFill>
          <a:ln w="12700">
            <a:solidFill>
              <a:srgbClr val="D6D2C8"/>
            </a:solidFill>
            <a:prstDash val="solid"/>
          </a:ln>
        </p:spPr>
        <p:txBody>
          <a:bodyPr/>
          <a:p/>
        </p:txBody>
      </p:sp>
      <p:sp>
        <p:nvSpPr>
          <p:cNvPr id="184" name="Shape 182"/>
          <p:cNvSpPr/>
          <p:nvPr/>
        </p:nvSpPr>
        <p:spPr>
          <a:xfrm>
            <a:off x="9272016" y="4361688"/>
            <a:ext cx="128016" cy="128016"/>
          </a:xfrm>
          <a:prstGeom prst="ellipse">
            <a:avLst/>
          </a:prstGeom>
          <a:solidFill>
            <a:srgbClr val="D6D2C8"/>
          </a:solidFill>
          <a:ln w="12700">
            <a:solidFill>
              <a:srgbClr val="D6D2C8"/>
            </a:solidFill>
            <a:prstDash val="solid"/>
          </a:ln>
        </p:spPr>
        <p:txBody>
          <a:bodyPr/>
          <a:p/>
        </p:txBody>
      </p:sp>
      <p:sp>
        <p:nvSpPr>
          <p:cNvPr id="185" name="Shape 183"/>
          <p:cNvSpPr/>
          <p:nvPr/>
        </p:nvSpPr>
        <p:spPr>
          <a:xfrm>
            <a:off x="9445752" y="4361688"/>
            <a:ext cx="128016" cy="128016"/>
          </a:xfrm>
          <a:prstGeom prst="ellipse">
            <a:avLst/>
          </a:prstGeom>
          <a:solidFill>
            <a:srgbClr val="D6D2C8"/>
          </a:solidFill>
          <a:ln w="12700">
            <a:solidFill>
              <a:srgbClr val="D6D2C8"/>
            </a:solidFill>
            <a:prstDash val="solid"/>
          </a:ln>
        </p:spPr>
        <p:txBody>
          <a:bodyPr/>
          <a:p/>
        </p:txBody>
      </p:sp>
      <p:sp>
        <p:nvSpPr>
          <p:cNvPr id="186" name="Shape 184"/>
          <p:cNvSpPr/>
          <p:nvPr/>
        </p:nvSpPr>
        <p:spPr>
          <a:xfrm>
            <a:off x="9619488" y="4361688"/>
            <a:ext cx="128016" cy="128016"/>
          </a:xfrm>
          <a:prstGeom prst="ellipse">
            <a:avLst/>
          </a:prstGeom>
          <a:solidFill>
            <a:srgbClr val="D6D2C8"/>
          </a:solidFill>
          <a:ln w="12700">
            <a:solidFill>
              <a:srgbClr val="D6D2C8"/>
            </a:solidFill>
            <a:prstDash val="solid"/>
          </a:ln>
        </p:spPr>
        <p:txBody>
          <a:bodyPr/>
          <a:p/>
        </p:txBody>
      </p:sp>
      <p:sp>
        <p:nvSpPr>
          <p:cNvPr id="187" name="Shape 185"/>
          <p:cNvSpPr/>
          <p:nvPr/>
        </p:nvSpPr>
        <p:spPr>
          <a:xfrm>
            <a:off x="9793224" y="4361688"/>
            <a:ext cx="128016" cy="128016"/>
          </a:xfrm>
          <a:prstGeom prst="ellipse">
            <a:avLst/>
          </a:prstGeom>
          <a:solidFill>
            <a:srgbClr val="D6D2C8"/>
          </a:solidFill>
          <a:ln w="12700">
            <a:solidFill>
              <a:srgbClr val="D6D2C8"/>
            </a:solidFill>
            <a:prstDash val="solid"/>
          </a:ln>
        </p:spPr>
        <p:txBody>
          <a:bodyPr/>
          <a:p/>
        </p:txBody>
      </p:sp>
      <p:sp>
        <p:nvSpPr>
          <p:cNvPr id="188" name="Shape 186"/>
          <p:cNvSpPr/>
          <p:nvPr/>
        </p:nvSpPr>
        <p:spPr>
          <a:xfrm>
            <a:off x="9966960" y="4361688"/>
            <a:ext cx="128016" cy="128016"/>
          </a:xfrm>
          <a:prstGeom prst="ellipse">
            <a:avLst/>
          </a:prstGeom>
          <a:solidFill>
            <a:srgbClr val="D6D2C8"/>
          </a:solidFill>
          <a:ln w="12700">
            <a:solidFill>
              <a:srgbClr val="D6D2C8"/>
            </a:solidFill>
            <a:prstDash val="solid"/>
          </a:ln>
        </p:spPr>
        <p:txBody>
          <a:bodyPr/>
          <a:p/>
        </p:txBody>
      </p:sp>
      <p:sp>
        <p:nvSpPr>
          <p:cNvPr id="189" name="Shape 187"/>
          <p:cNvSpPr/>
          <p:nvPr/>
        </p:nvSpPr>
        <p:spPr>
          <a:xfrm>
            <a:off x="10140696" y="4361688"/>
            <a:ext cx="128016" cy="128016"/>
          </a:xfrm>
          <a:prstGeom prst="ellipse">
            <a:avLst/>
          </a:prstGeom>
          <a:solidFill>
            <a:srgbClr val="D6D2C8"/>
          </a:solidFill>
          <a:ln w="12700">
            <a:solidFill>
              <a:srgbClr val="D6D2C8"/>
            </a:solidFill>
            <a:prstDash val="solid"/>
          </a:ln>
        </p:spPr>
        <p:txBody>
          <a:bodyPr/>
          <a:p/>
        </p:txBody>
      </p:sp>
      <p:sp>
        <p:nvSpPr>
          <p:cNvPr id="190" name="Shape 188"/>
          <p:cNvSpPr/>
          <p:nvPr/>
        </p:nvSpPr>
        <p:spPr>
          <a:xfrm>
            <a:off x="10314432" y="4361688"/>
            <a:ext cx="128016" cy="128016"/>
          </a:xfrm>
          <a:prstGeom prst="ellipse">
            <a:avLst/>
          </a:prstGeom>
          <a:solidFill>
            <a:srgbClr val="D6D2C8"/>
          </a:solidFill>
          <a:ln w="12700">
            <a:solidFill>
              <a:srgbClr val="D6D2C8"/>
            </a:solidFill>
            <a:prstDash val="solid"/>
          </a:ln>
        </p:spPr>
        <p:txBody>
          <a:bodyPr/>
          <a:p/>
        </p:txBody>
      </p:sp>
      <p:sp>
        <p:nvSpPr>
          <p:cNvPr id="191" name="Shape 189"/>
          <p:cNvSpPr/>
          <p:nvPr/>
        </p:nvSpPr>
        <p:spPr>
          <a:xfrm>
            <a:off x="10488168" y="4361688"/>
            <a:ext cx="128016" cy="128016"/>
          </a:xfrm>
          <a:prstGeom prst="ellipse">
            <a:avLst/>
          </a:prstGeom>
          <a:solidFill>
            <a:srgbClr val="D6D2C8"/>
          </a:solidFill>
          <a:ln w="12700">
            <a:solidFill>
              <a:srgbClr val="D6D2C8"/>
            </a:solidFill>
            <a:prstDash val="solid"/>
          </a:ln>
        </p:spPr>
        <p:txBody>
          <a:bodyPr/>
          <a:p/>
        </p:txBody>
      </p:sp>
      <p:sp>
        <p:nvSpPr>
          <p:cNvPr id="192" name="Shape 190"/>
          <p:cNvSpPr/>
          <p:nvPr/>
        </p:nvSpPr>
        <p:spPr>
          <a:xfrm>
            <a:off x="10661904" y="4361688"/>
            <a:ext cx="128016" cy="128016"/>
          </a:xfrm>
          <a:prstGeom prst="ellipse">
            <a:avLst/>
          </a:prstGeom>
          <a:solidFill>
            <a:srgbClr val="D6D2C8"/>
          </a:solidFill>
          <a:ln w="12700">
            <a:solidFill>
              <a:srgbClr val="D6D2C8"/>
            </a:solidFill>
            <a:prstDash val="solid"/>
          </a:ln>
        </p:spPr>
        <p:txBody>
          <a:bodyPr/>
          <a:p/>
        </p:txBody>
      </p:sp>
      <p:sp>
        <p:nvSpPr>
          <p:cNvPr id="193" name="Shape 191"/>
          <p:cNvSpPr/>
          <p:nvPr/>
        </p:nvSpPr>
        <p:spPr>
          <a:xfrm>
            <a:off x="10835640" y="4361688"/>
            <a:ext cx="128016" cy="128016"/>
          </a:xfrm>
          <a:prstGeom prst="ellipse">
            <a:avLst/>
          </a:prstGeom>
          <a:solidFill>
            <a:srgbClr val="D6D2C8"/>
          </a:solidFill>
          <a:ln w="12700">
            <a:solidFill>
              <a:srgbClr val="D6D2C8"/>
            </a:solidFill>
            <a:prstDash val="solid"/>
          </a:ln>
        </p:spPr>
        <p:txBody>
          <a:bodyPr/>
          <a:p/>
        </p:txBody>
      </p:sp>
      <p:sp>
        <p:nvSpPr>
          <p:cNvPr id="194" name="Shape 192"/>
          <p:cNvSpPr/>
          <p:nvPr/>
        </p:nvSpPr>
        <p:spPr>
          <a:xfrm>
            <a:off x="11009376" y="4361688"/>
            <a:ext cx="128016" cy="128016"/>
          </a:xfrm>
          <a:prstGeom prst="ellipse">
            <a:avLst/>
          </a:prstGeom>
          <a:solidFill>
            <a:srgbClr val="D6D2C8"/>
          </a:solidFill>
          <a:ln w="12700">
            <a:solidFill>
              <a:srgbClr val="D6D2C8"/>
            </a:solidFill>
            <a:prstDash val="solid"/>
          </a:ln>
        </p:spPr>
        <p:txBody>
          <a:bodyPr/>
          <a:p/>
        </p:txBody>
      </p:sp>
      <p:sp>
        <p:nvSpPr>
          <p:cNvPr id="195" name="Shape 193"/>
          <p:cNvSpPr/>
          <p:nvPr/>
        </p:nvSpPr>
        <p:spPr>
          <a:xfrm>
            <a:off x="11183112" y="4361688"/>
            <a:ext cx="128016" cy="128016"/>
          </a:xfrm>
          <a:prstGeom prst="ellipse">
            <a:avLst/>
          </a:prstGeom>
          <a:solidFill>
            <a:srgbClr val="D6D2C8"/>
          </a:solidFill>
          <a:ln w="12700">
            <a:solidFill>
              <a:srgbClr val="D6D2C8"/>
            </a:solidFill>
            <a:prstDash val="solid"/>
          </a:ln>
        </p:spPr>
        <p:txBody>
          <a:bodyPr/>
          <a:p/>
        </p:txBody>
      </p:sp>
      <p:sp>
        <p:nvSpPr>
          <p:cNvPr id="196" name="Shape 194"/>
          <p:cNvSpPr/>
          <p:nvPr/>
        </p:nvSpPr>
        <p:spPr>
          <a:xfrm>
            <a:off x="11356848" y="4361688"/>
            <a:ext cx="128016" cy="128016"/>
          </a:xfrm>
          <a:prstGeom prst="ellipse">
            <a:avLst/>
          </a:prstGeom>
          <a:solidFill>
            <a:srgbClr val="D6D2C8"/>
          </a:solidFill>
          <a:ln w="12700">
            <a:solidFill>
              <a:srgbClr val="D6D2C8"/>
            </a:solidFill>
            <a:prstDash val="solid"/>
          </a:ln>
        </p:spPr>
        <p:txBody>
          <a:bodyPr/>
          <a:p/>
        </p:txBody>
      </p:sp>
      <p:sp>
        <p:nvSpPr>
          <p:cNvPr id="197" name="Shape 195"/>
          <p:cNvSpPr/>
          <p:nvPr/>
        </p:nvSpPr>
        <p:spPr>
          <a:xfrm>
            <a:off x="11530584" y="4361688"/>
            <a:ext cx="128016" cy="128016"/>
          </a:xfrm>
          <a:prstGeom prst="ellipse">
            <a:avLst/>
          </a:prstGeom>
          <a:solidFill>
            <a:srgbClr val="D6D2C8"/>
          </a:solidFill>
          <a:ln w="12700">
            <a:solidFill>
              <a:srgbClr val="D6D2C8"/>
            </a:solidFill>
            <a:prstDash val="solid"/>
          </a:ln>
        </p:spPr>
        <p:txBody>
          <a:bodyPr/>
          <a:p/>
        </p:txBody>
      </p:sp>
      <p:sp>
        <p:nvSpPr>
          <p:cNvPr id="198" name="Shape 196"/>
          <p:cNvSpPr/>
          <p:nvPr/>
        </p:nvSpPr>
        <p:spPr>
          <a:xfrm>
            <a:off x="8229600" y="4535424"/>
            <a:ext cx="128016" cy="128016"/>
          </a:xfrm>
          <a:prstGeom prst="ellipse">
            <a:avLst/>
          </a:prstGeom>
          <a:solidFill>
            <a:srgbClr val="D6D2C8"/>
          </a:solidFill>
          <a:ln w="12700">
            <a:solidFill>
              <a:srgbClr val="D6D2C8"/>
            </a:solidFill>
            <a:prstDash val="solid"/>
          </a:ln>
        </p:spPr>
        <p:txBody>
          <a:bodyPr/>
          <a:p/>
        </p:txBody>
      </p:sp>
      <p:sp>
        <p:nvSpPr>
          <p:cNvPr id="199" name="Shape 197"/>
          <p:cNvSpPr/>
          <p:nvPr/>
        </p:nvSpPr>
        <p:spPr>
          <a:xfrm>
            <a:off x="8403336" y="4535424"/>
            <a:ext cx="128016" cy="128016"/>
          </a:xfrm>
          <a:prstGeom prst="ellipse">
            <a:avLst/>
          </a:prstGeom>
          <a:solidFill>
            <a:srgbClr val="D6D2C8"/>
          </a:solidFill>
          <a:ln w="12700">
            <a:solidFill>
              <a:srgbClr val="D6D2C8"/>
            </a:solidFill>
            <a:prstDash val="solid"/>
          </a:ln>
        </p:spPr>
        <p:txBody>
          <a:bodyPr/>
          <a:p/>
        </p:txBody>
      </p:sp>
      <p:sp>
        <p:nvSpPr>
          <p:cNvPr id="200" name="Shape 198"/>
          <p:cNvSpPr/>
          <p:nvPr/>
        </p:nvSpPr>
        <p:spPr>
          <a:xfrm>
            <a:off x="8577072" y="4535424"/>
            <a:ext cx="128016" cy="128016"/>
          </a:xfrm>
          <a:prstGeom prst="ellipse">
            <a:avLst/>
          </a:prstGeom>
          <a:solidFill>
            <a:srgbClr val="D6D2C8"/>
          </a:solidFill>
          <a:ln w="12700">
            <a:solidFill>
              <a:srgbClr val="D6D2C8"/>
            </a:solidFill>
            <a:prstDash val="solid"/>
          </a:ln>
        </p:spPr>
        <p:txBody>
          <a:bodyPr/>
          <a:p/>
        </p:txBody>
      </p:sp>
      <p:sp>
        <p:nvSpPr>
          <p:cNvPr id="201" name="Shape 199"/>
          <p:cNvSpPr/>
          <p:nvPr/>
        </p:nvSpPr>
        <p:spPr>
          <a:xfrm>
            <a:off x="8750808" y="4535424"/>
            <a:ext cx="128016" cy="128016"/>
          </a:xfrm>
          <a:prstGeom prst="ellipse">
            <a:avLst/>
          </a:prstGeom>
          <a:solidFill>
            <a:srgbClr val="D6D2C8"/>
          </a:solidFill>
          <a:ln w="12700">
            <a:solidFill>
              <a:srgbClr val="D6D2C8"/>
            </a:solidFill>
            <a:prstDash val="solid"/>
          </a:ln>
        </p:spPr>
        <p:txBody>
          <a:bodyPr/>
          <a:p/>
        </p:txBody>
      </p:sp>
      <p:sp>
        <p:nvSpPr>
          <p:cNvPr id="202" name="Shape 200"/>
          <p:cNvSpPr/>
          <p:nvPr/>
        </p:nvSpPr>
        <p:spPr>
          <a:xfrm>
            <a:off x="8924544" y="4535424"/>
            <a:ext cx="128016" cy="128016"/>
          </a:xfrm>
          <a:prstGeom prst="ellipse">
            <a:avLst/>
          </a:prstGeom>
          <a:solidFill>
            <a:srgbClr val="D6D2C8"/>
          </a:solidFill>
          <a:ln w="12700">
            <a:solidFill>
              <a:srgbClr val="D6D2C8"/>
            </a:solidFill>
            <a:prstDash val="solid"/>
          </a:ln>
        </p:spPr>
        <p:txBody>
          <a:bodyPr/>
          <a:p/>
        </p:txBody>
      </p:sp>
      <p:sp>
        <p:nvSpPr>
          <p:cNvPr id="203" name="Shape 201"/>
          <p:cNvSpPr/>
          <p:nvPr/>
        </p:nvSpPr>
        <p:spPr>
          <a:xfrm>
            <a:off x="9098280" y="4535424"/>
            <a:ext cx="128016" cy="128016"/>
          </a:xfrm>
          <a:prstGeom prst="ellipse">
            <a:avLst/>
          </a:prstGeom>
          <a:solidFill>
            <a:srgbClr val="D6D2C8"/>
          </a:solidFill>
          <a:ln w="12700">
            <a:solidFill>
              <a:srgbClr val="D6D2C8"/>
            </a:solidFill>
            <a:prstDash val="solid"/>
          </a:ln>
        </p:spPr>
        <p:txBody>
          <a:bodyPr/>
          <a:p/>
        </p:txBody>
      </p:sp>
      <p:sp>
        <p:nvSpPr>
          <p:cNvPr id="204" name="Shape 202"/>
          <p:cNvSpPr/>
          <p:nvPr/>
        </p:nvSpPr>
        <p:spPr>
          <a:xfrm>
            <a:off x="9272016" y="4535424"/>
            <a:ext cx="128016" cy="128016"/>
          </a:xfrm>
          <a:prstGeom prst="ellipse">
            <a:avLst/>
          </a:prstGeom>
          <a:solidFill>
            <a:srgbClr val="D6D2C8"/>
          </a:solidFill>
          <a:ln w="12700">
            <a:solidFill>
              <a:srgbClr val="D6D2C8"/>
            </a:solidFill>
            <a:prstDash val="solid"/>
          </a:ln>
        </p:spPr>
        <p:txBody>
          <a:bodyPr/>
          <a:p/>
        </p:txBody>
      </p:sp>
      <p:sp>
        <p:nvSpPr>
          <p:cNvPr id="205" name="Shape 203"/>
          <p:cNvSpPr/>
          <p:nvPr/>
        </p:nvSpPr>
        <p:spPr>
          <a:xfrm>
            <a:off x="9445752" y="4535424"/>
            <a:ext cx="128016" cy="128016"/>
          </a:xfrm>
          <a:prstGeom prst="ellipse">
            <a:avLst/>
          </a:prstGeom>
          <a:solidFill>
            <a:srgbClr val="D6D2C8"/>
          </a:solidFill>
          <a:ln w="12700">
            <a:solidFill>
              <a:srgbClr val="D6D2C8"/>
            </a:solidFill>
            <a:prstDash val="solid"/>
          </a:ln>
        </p:spPr>
        <p:txBody>
          <a:bodyPr/>
          <a:p/>
        </p:txBody>
      </p:sp>
      <p:sp>
        <p:nvSpPr>
          <p:cNvPr id="206" name="Shape 204"/>
          <p:cNvSpPr/>
          <p:nvPr/>
        </p:nvSpPr>
        <p:spPr>
          <a:xfrm>
            <a:off x="9619488" y="4535424"/>
            <a:ext cx="128016" cy="128016"/>
          </a:xfrm>
          <a:prstGeom prst="ellipse">
            <a:avLst/>
          </a:prstGeom>
          <a:solidFill>
            <a:srgbClr val="D6D2C8"/>
          </a:solidFill>
          <a:ln w="12700">
            <a:solidFill>
              <a:srgbClr val="D6D2C8"/>
            </a:solidFill>
            <a:prstDash val="solid"/>
          </a:ln>
        </p:spPr>
        <p:txBody>
          <a:bodyPr/>
          <a:p/>
        </p:txBody>
      </p:sp>
      <p:sp>
        <p:nvSpPr>
          <p:cNvPr id="207" name="Shape 205"/>
          <p:cNvSpPr/>
          <p:nvPr/>
        </p:nvSpPr>
        <p:spPr>
          <a:xfrm>
            <a:off x="9793224" y="4535424"/>
            <a:ext cx="128016" cy="128016"/>
          </a:xfrm>
          <a:prstGeom prst="ellipse">
            <a:avLst/>
          </a:prstGeom>
          <a:solidFill>
            <a:srgbClr val="D6D2C8"/>
          </a:solidFill>
          <a:ln w="12700">
            <a:solidFill>
              <a:srgbClr val="D6D2C8"/>
            </a:solidFill>
            <a:prstDash val="solid"/>
          </a:ln>
        </p:spPr>
        <p:txBody>
          <a:bodyPr/>
          <a:p/>
        </p:txBody>
      </p:sp>
      <p:sp>
        <p:nvSpPr>
          <p:cNvPr id="208" name="Shape 206"/>
          <p:cNvSpPr/>
          <p:nvPr/>
        </p:nvSpPr>
        <p:spPr>
          <a:xfrm>
            <a:off x="9966960" y="4535424"/>
            <a:ext cx="128016" cy="128016"/>
          </a:xfrm>
          <a:prstGeom prst="ellipse">
            <a:avLst/>
          </a:prstGeom>
          <a:solidFill>
            <a:srgbClr val="D6D2C8"/>
          </a:solidFill>
          <a:ln w="12700">
            <a:solidFill>
              <a:srgbClr val="D6D2C8"/>
            </a:solidFill>
            <a:prstDash val="solid"/>
          </a:ln>
        </p:spPr>
        <p:txBody>
          <a:bodyPr/>
          <a:p/>
        </p:txBody>
      </p:sp>
      <p:sp>
        <p:nvSpPr>
          <p:cNvPr id="209" name="Shape 207"/>
          <p:cNvSpPr/>
          <p:nvPr/>
        </p:nvSpPr>
        <p:spPr>
          <a:xfrm>
            <a:off x="10140696" y="4535424"/>
            <a:ext cx="128016" cy="128016"/>
          </a:xfrm>
          <a:prstGeom prst="ellipse">
            <a:avLst/>
          </a:prstGeom>
          <a:solidFill>
            <a:srgbClr val="D6D2C8"/>
          </a:solidFill>
          <a:ln w="12700">
            <a:solidFill>
              <a:srgbClr val="D6D2C8"/>
            </a:solidFill>
            <a:prstDash val="solid"/>
          </a:ln>
        </p:spPr>
        <p:txBody>
          <a:bodyPr/>
          <a:p/>
        </p:txBody>
      </p:sp>
      <p:sp>
        <p:nvSpPr>
          <p:cNvPr id="210" name="Shape 208"/>
          <p:cNvSpPr/>
          <p:nvPr/>
        </p:nvSpPr>
        <p:spPr>
          <a:xfrm>
            <a:off x="10314432" y="4535424"/>
            <a:ext cx="128016" cy="128016"/>
          </a:xfrm>
          <a:prstGeom prst="ellipse">
            <a:avLst/>
          </a:prstGeom>
          <a:solidFill>
            <a:srgbClr val="D6D2C8"/>
          </a:solidFill>
          <a:ln w="12700">
            <a:solidFill>
              <a:srgbClr val="D6D2C8"/>
            </a:solidFill>
            <a:prstDash val="solid"/>
          </a:ln>
        </p:spPr>
        <p:txBody>
          <a:bodyPr/>
          <a:p/>
        </p:txBody>
      </p:sp>
      <p:sp>
        <p:nvSpPr>
          <p:cNvPr id="211" name="Shape 209"/>
          <p:cNvSpPr/>
          <p:nvPr/>
        </p:nvSpPr>
        <p:spPr>
          <a:xfrm>
            <a:off x="10488168" y="4535424"/>
            <a:ext cx="128016" cy="128016"/>
          </a:xfrm>
          <a:prstGeom prst="ellipse">
            <a:avLst/>
          </a:prstGeom>
          <a:solidFill>
            <a:srgbClr val="D6D2C8"/>
          </a:solidFill>
          <a:ln w="12700">
            <a:solidFill>
              <a:srgbClr val="D6D2C8"/>
            </a:solidFill>
            <a:prstDash val="solid"/>
          </a:ln>
        </p:spPr>
        <p:txBody>
          <a:bodyPr/>
          <a:p/>
        </p:txBody>
      </p:sp>
      <p:sp>
        <p:nvSpPr>
          <p:cNvPr id="212" name="Shape 210"/>
          <p:cNvSpPr/>
          <p:nvPr/>
        </p:nvSpPr>
        <p:spPr>
          <a:xfrm>
            <a:off x="10661904" y="4535424"/>
            <a:ext cx="128016" cy="128016"/>
          </a:xfrm>
          <a:prstGeom prst="ellipse">
            <a:avLst/>
          </a:prstGeom>
          <a:solidFill>
            <a:srgbClr val="D6D2C8"/>
          </a:solidFill>
          <a:ln w="12700">
            <a:solidFill>
              <a:srgbClr val="D6D2C8"/>
            </a:solidFill>
            <a:prstDash val="solid"/>
          </a:ln>
        </p:spPr>
        <p:txBody>
          <a:bodyPr/>
          <a:p/>
        </p:txBody>
      </p:sp>
      <p:sp>
        <p:nvSpPr>
          <p:cNvPr id="213" name="Shape 211"/>
          <p:cNvSpPr/>
          <p:nvPr/>
        </p:nvSpPr>
        <p:spPr>
          <a:xfrm>
            <a:off x="10835640" y="4535424"/>
            <a:ext cx="128016" cy="128016"/>
          </a:xfrm>
          <a:prstGeom prst="ellipse">
            <a:avLst/>
          </a:prstGeom>
          <a:solidFill>
            <a:srgbClr val="D6D2C8"/>
          </a:solidFill>
          <a:ln w="12700">
            <a:solidFill>
              <a:srgbClr val="D6D2C8"/>
            </a:solidFill>
            <a:prstDash val="solid"/>
          </a:ln>
        </p:spPr>
        <p:txBody>
          <a:bodyPr/>
          <a:p/>
        </p:txBody>
      </p:sp>
      <p:sp>
        <p:nvSpPr>
          <p:cNvPr id="214" name="Shape 212"/>
          <p:cNvSpPr/>
          <p:nvPr/>
        </p:nvSpPr>
        <p:spPr>
          <a:xfrm>
            <a:off x="11009376" y="4535424"/>
            <a:ext cx="128016" cy="128016"/>
          </a:xfrm>
          <a:prstGeom prst="ellipse">
            <a:avLst/>
          </a:prstGeom>
          <a:solidFill>
            <a:srgbClr val="D6D2C8"/>
          </a:solidFill>
          <a:ln w="12700">
            <a:solidFill>
              <a:srgbClr val="D6D2C8"/>
            </a:solidFill>
            <a:prstDash val="solid"/>
          </a:ln>
        </p:spPr>
        <p:txBody>
          <a:bodyPr/>
          <a:p/>
        </p:txBody>
      </p:sp>
      <p:sp>
        <p:nvSpPr>
          <p:cNvPr id="215" name="Shape 213"/>
          <p:cNvSpPr/>
          <p:nvPr/>
        </p:nvSpPr>
        <p:spPr>
          <a:xfrm>
            <a:off x="11183112" y="4535424"/>
            <a:ext cx="128016" cy="128016"/>
          </a:xfrm>
          <a:prstGeom prst="ellipse">
            <a:avLst/>
          </a:prstGeom>
          <a:solidFill>
            <a:srgbClr val="D6D2C8"/>
          </a:solidFill>
          <a:ln w="12700">
            <a:solidFill>
              <a:srgbClr val="D6D2C8"/>
            </a:solidFill>
            <a:prstDash val="solid"/>
          </a:ln>
        </p:spPr>
        <p:txBody>
          <a:bodyPr/>
          <a:p/>
        </p:txBody>
      </p:sp>
      <p:sp>
        <p:nvSpPr>
          <p:cNvPr id="216" name="Shape 214"/>
          <p:cNvSpPr/>
          <p:nvPr/>
        </p:nvSpPr>
        <p:spPr>
          <a:xfrm>
            <a:off x="11356848" y="4535424"/>
            <a:ext cx="128016" cy="128016"/>
          </a:xfrm>
          <a:prstGeom prst="ellipse">
            <a:avLst/>
          </a:prstGeom>
          <a:solidFill>
            <a:srgbClr val="D6D2C8"/>
          </a:solidFill>
          <a:ln w="12700">
            <a:solidFill>
              <a:srgbClr val="D6D2C8"/>
            </a:solidFill>
            <a:prstDash val="solid"/>
          </a:ln>
        </p:spPr>
        <p:txBody>
          <a:bodyPr/>
          <a:p/>
        </p:txBody>
      </p:sp>
      <p:sp>
        <p:nvSpPr>
          <p:cNvPr id="217" name="Shape 215"/>
          <p:cNvSpPr/>
          <p:nvPr/>
        </p:nvSpPr>
        <p:spPr>
          <a:xfrm>
            <a:off x="11530584" y="4535424"/>
            <a:ext cx="128016" cy="128016"/>
          </a:xfrm>
          <a:prstGeom prst="ellipse">
            <a:avLst/>
          </a:prstGeom>
          <a:solidFill>
            <a:srgbClr val="D6D2C8"/>
          </a:solidFill>
          <a:ln w="12700">
            <a:solidFill>
              <a:srgbClr val="D6D2C8"/>
            </a:solidFill>
            <a:prstDash val="solid"/>
          </a:ln>
        </p:spPr>
        <p:txBody>
          <a:bodyPr/>
          <a:p/>
        </p:txBody>
      </p:sp>
      <p:sp>
        <p:nvSpPr>
          <p:cNvPr id="218" name="Text 216"/>
          <p:cNvSpPr/>
          <p:nvPr/>
        </p:nvSpPr>
        <p:spPr>
          <a:xfrm>
            <a:off x="594360" y="4846320"/>
            <a:ext cx="10972800" cy="6858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Li s-a cerut sau s-a așteptat ceva în plus (2026); „s-a așteptat” numără și condiționarea nespusă.</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SALA ÎN DOUĂ TABERE</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DOUĂ TABERE, UN SINGUR PLIC</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Operația s-a terminat și a reușit. Plicul e un simplu dar?</a:t>
            </a:r>
            <a:endParaRPr lang="en-US" sz="3000" dirty="0"/>
          </a:p>
        </p:txBody>
      </p:sp>
      <p:sp>
        <p:nvSpPr>
          <p:cNvPr id="6" name="Shape 4"/>
          <p:cNvSpPr/>
          <p:nvPr/>
        </p:nvSpPr>
        <p:spPr>
          <a:xfrm>
            <a:off x="594360" y="1920240"/>
            <a:ext cx="5349240" cy="2743200"/>
          </a:xfrm>
          <a:prstGeom prst="roundRect">
            <a:avLst>
              <a:gd name="adj" fmla="val 3000"/>
            </a:avLst>
          </a:prstGeom>
          <a:solidFill>
            <a:srgbClr val="07564B"/>
          </a:solidFill>
          <a:ln w="12700">
            <a:solidFill>
              <a:srgbClr val="07564B"/>
            </a:solidFill>
            <a:prstDash val="solid"/>
          </a:ln>
        </p:spPr>
        <p:txBody>
          <a:bodyPr/>
          <a:p/>
        </p:txBody>
      </p:sp>
      <p:sp>
        <p:nvSpPr>
          <p:cNvPr id="7" name="Shape 5"/>
          <p:cNvSpPr/>
          <p:nvPr/>
        </p:nvSpPr>
        <p:spPr>
          <a:xfrm>
            <a:off x="6217920" y="1920240"/>
            <a:ext cx="5349240" cy="2743200"/>
          </a:xfrm>
          <a:prstGeom prst="roundRect">
            <a:avLst>
              <a:gd name="adj" fmla="val 3000"/>
            </a:avLst>
          </a:prstGeom>
          <a:solidFill>
            <a:srgbClr val="701C22"/>
          </a:solidFill>
          <a:ln w="12700">
            <a:solidFill>
              <a:srgbClr val="701C22"/>
            </a:solidFill>
            <a:prstDash val="solid"/>
          </a:ln>
        </p:spPr>
        <p:txBody>
          <a:bodyPr/>
          <a:p/>
        </p:txBody>
      </p:sp>
      <p:sp>
        <p:nvSpPr>
          <p:cNvPr id="8" name="Text 6"/>
          <p:cNvSpPr/>
          <p:nvPr/>
        </p:nvSpPr>
        <p:spPr>
          <a:xfrm>
            <a:off x="868680" y="2103120"/>
            <a:ext cx="4846320" cy="365760"/>
          </a:xfrm>
          <a:prstGeom prst="rect">
            <a:avLst/>
          </a:prstGeom>
          <a:noFill/>
          <a:ln/>
        </p:spPr>
        <p:txBody>
          <a:bodyPr wrap="square" lIns="0" tIns="0" rIns="0" bIns="0" rtlCol="0" anchor="t"/>
          <a:lstStyle/>
          <a:p>
            <a:pPr indent="0" marL="0">
              <a:buNone/>
            </a:pPr>
            <a:r>
              <a:rPr lang="en-US" sz="1300" b="1" spc="300" kern="0" dirty="0">
                <a:solidFill>
                  <a:srgbClr val="BFEFE8"/>
                </a:solidFill>
                <a:latin typeface="Palatino Linotype" pitchFamily="34" charset="0"/>
                <a:ea typeface="Palatino Linotype" pitchFamily="34" charset="-122"/>
                <a:cs typeface="Palatino Linotype" pitchFamily="34" charset="-120"/>
              </a:rPr>
              <a:t>STÂNGA SĂLII</a:t>
            </a:r>
            <a:endParaRPr lang="en-US" sz="1300" dirty="0"/>
          </a:p>
        </p:txBody>
      </p:sp>
      <p:sp>
        <p:nvSpPr>
          <p:cNvPr id="9" name="Text 7"/>
          <p:cNvSpPr/>
          <p:nvPr/>
        </p:nvSpPr>
        <p:spPr>
          <a:xfrm>
            <a:off x="868680" y="2606040"/>
            <a:ext cx="4846320" cy="192024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„E un dar. Operația s-a terminat, deci plicul nu mai poate influența nimic.”</a:t>
            </a:r>
            <a:endParaRPr lang="en-US" sz="2000" dirty="0"/>
          </a:p>
        </p:txBody>
      </p:sp>
      <p:sp>
        <p:nvSpPr>
          <p:cNvPr id="10" name="Text 8"/>
          <p:cNvSpPr/>
          <p:nvPr/>
        </p:nvSpPr>
        <p:spPr>
          <a:xfrm>
            <a:off x="6492240" y="2103120"/>
            <a:ext cx="4846320" cy="365760"/>
          </a:xfrm>
          <a:prstGeom prst="rect">
            <a:avLst/>
          </a:prstGeom>
          <a:noFill/>
          <a:ln/>
        </p:spPr>
        <p:txBody>
          <a:bodyPr wrap="square" lIns="0" tIns="0" rIns="0" bIns="0" rtlCol="0" anchor="t"/>
          <a:lstStyle/>
          <a:p>
            <a:pPr indent="0" marL="0">
              <a:buNone/>
            </a:pPr>
            <a:r>
              <a:rPr lang="en-US" sz="1300" b="1" spc="300" kern="0" dirty="0">
                <a:solidFill>
                  <a:srgbClr val="F3D4D7"/>
                </a:solidFill>
                <a:latin typeface="Palatino Linotype" pitchFamily="34" charset="0"/>
                <a:ea typeface="Palatino Linotype" pitchFamily="34" charset="-122"/>
                <a:cs typeface="Palatino Linotype" pitchFamily="34" charset="-120"/>
              </a:rPr>
              <a:t>DREAPTA SĂLII</a:t>
            </a:r>
            <a:endParaRPr lang="en-US" sz="1300" dirty="0"/>
          </a:p>
        </p:txBody>
      </p:sp>
      <p:sp>
        <p:nvSpPr>
          <p:cNvPr id="11" name="Text 9"/>
          <p:cNvSpPr/>
          <p:nvPr/>
        </p:nvSpPr>
        <p:spPr>
          <a:xfrm>
            <a:off x="6492240" y="2606040"/>
            <a:ext cx="4846320" cy="1920240"/>
          </a:xfrm>
          <a:prstGeom prst="rect">
            <a:avLst/>
          </a:prstGeom>
          <a:noFill/>
          <a:ln/>
        </p:spPr>
        <p:txBody>
          <a:bodyPr wrap="square" lIns="0" tIns="0" rIns="0" bIns="0" rtlCol="0" anchor="t"/>
          <a:lstStyle/>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„Nu e un simplu dar. Pacientul e încă internat, iar relația nu e una între egali.”</a:t>
            </a:r>
            <a:endParaRPr lang="en-US" sz="2000" dirty="0"/>
          </a:p>
        </p:txBody>
      </p:sp>
      <p:sp>
        <p:nvSpPr>
          <p:cNvPr id="12" name="Text 10"/>
          <p:cNvSpPr/>
          <p:nvPr/>
        </p:nvSpPr>
        <p:spPr>
          <a:xfrm>
            <a:off x="594360" y="5029200"/>
            <a:ext cx="10972800" cy="457200"/>
          </a:xfrm>
          <a:prstGeom prst="rect">
            <a:avLst/>
          </a:prstGeom>
          <a:noFill/>
          <a:ln/>
        </p:spPr>
        <p:txBody>
          <a:bodyPr wrap="square" lIns="0" tIns="0" rIns="0" bIns="0" rtlCol="0" anchor="t"/>
          <a:lstStyle/>
          <a:p>
            <a:pPr indent="0" marL="0">
              <a:buNone/>
            </a:pPr>
            <a:r>
              <a:rPr lang="en-US" sz="1800" dirty="0">
                <a:solidFill>
                  <a:srgbClr val="959BB0"/>
                </a:solidFill>
                <a:latin typeface="Palatino Linotype" pitchFamily="34" charset="0"/>
                <a:ea typeface="Palatino Linotype" pitchFamily="34" charset="-122"/>
                <a:cs typeface="Palatino Linotype" pitchFamily="34" charset="-120"/>
              </a:rPr>
              <a:t>Fiecare tabără formulează cel mai bun argument, într-o singură propoziție.</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7E3DA"/>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SPUNE LEGEA</a:t>
            </a:r>
            <a:endParaRPr lang="en-US" sz="1300" dirty="0"/>
          </a:p>
        </p:txBody>
      </p:sp>
      <p:sp>
        <p:nvSpPr>
          <p:cNvPr id="3" name="Shape 1"/>
          <p:cNvSpPr/>
          <p:nvPr/>
        </p:nvSpPr>
        <p:spPr>
          <a:xfrm>
            <a:off x="914400" y="868680"/>
            <a:ext cx="7406640" cy="5486400"/>
          </a:xfrm>
          <a:prstGeom prst="rect">
            <a:avLst/>
          </a:prstGeom>
          <a:solidFill>
            <a:srgbClr val="FFFFFF"/>
          </a:solidFill>
          <a:ln w="9525">
            <a:solidFill>
              <a:srgbClr val="D6D2C8"/>
            </a:solidFill>
            <a:prstDash val="solid"/>
          </a:ln>
          <a:effectLst>
            <a:outerShdw sx="100000" sy="100000" kx="0" ky="0" algn="bl" rotWithShape="0" blurRad="101600" dist="38100" dir="5400000">
              <a:srgbClr val="000000">
                <a:alpha val="18000"/>
              </a:srgbClr>
            </a:outerShdw>
          </a:effectLst>
        </p:spPr>
        <p:txBody>
          <a:bodyPr/>
          <a:p/>
        </p:txBody>
      </p:sp>
      <p:sp>
        <p:nvSpPr>
          <p:cNvPr id="4" name="Text 2"/>
          <p:cNvSpPr/>
          <p:nvPr/>
        </p:nvSpPr>
        <p:spPr>
          <a:xfrm>
            <a:off x="1371600" y="1188720"/>
            <a:ext cx="6492240" cy="320040"/>
          </a:xfrm>
          <a:prstGeom prst="rect">
            <a:avLst/>
          </a:prstGeom>
          <a:noFill/>
          <a:ln/>
        </p:spPr>
        <p:txBody>
          <a:bodyPr wrap="square" lIns="0" tIns="0" rIns="0" bIns="0" rtlCol="0" anchor="t"/>
          <a:lstStyle/>
          <a:p>
            <a:pPr indent="0" marL="0">
              <a:buNone/>
            </a:pPr>
            <a:r>
              <a:rPr lang="en-US" sz="1300" b="1" spc="100" kern="0" dirty="0">
                <a:solidFill>
                  <a:srgbClr val="11121A"/>
                </a:solidFill>
                <a:latin typeface="Palatino Linotype" pitchFamily="34" charset="0"/>
                <a:ea typeface="Palatino Linotype" pitchFamily="34" charset="-122"/>
                <a:cs typeface="Palatino Linotype" pitchFamily="34" charset="-120"/>
              </a:rPr>
              <a:t>LEGEA nr. 46/2003 a drepturilor pacientului</a:t>
            </a:r>
            <a:endParaRPr lang="en-US" sz="1300" dirty="0"/>
          </a:p>
        </p:txBody>
      </p:sp>
      <p:sp>
        <p:nvSpPr>
          <p:cNvPr id="5" name="Text 3"/>
          <p:cNvSpPr/>
          <p:nvPr/>
        </p:nvSpPr>
        <p:spPr>
          <a:xfrm>
            <a:off x="1371600" y="1554480"/>
            <a:ext cx="6492240" cy="365760"/>
          </a:xfrm>
          <a:prstGeom prst="rect">
            <a:avLst/>
          </a:prstGeom>
          <a:noFill/>
          <a:ln/>
        </p:spPr>
        <p:txBody>
          <a:bodyPr wrap="square" lIns="0" tIns="0" rIns="0" bIns="0" rtlCol="0" anchor="t"/>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Articolul 34</a:t>
            </a:r>
            <a:endParaRPr lang="en-US" sz="1700" dirty="0"/>
          </a:p>
        </p:txBody>
      </p:sp>
      <p:sp>
        <p:nvSpPr>
          <p:cNvPr id="6" name="Shape 4"/>
          <p:cNvSpPr/>
          <p:nvPr/>
        </p:nvSpPr>
        <p:spPr>
          <a:xfrm>
            <a:off x="1371600" y="1965960"/>
            <a:ext cx="6492240" cy="13716"/>
          </a:xfrm>
          <a:prstGeom prst="rect">
            <a:avLst/>
          </a:prstGeom>
          <a:solidFill>
            <a:srgbClr val="C9C6BE"/>
          </a:solidFill>
          <a:ln/>
        </p:spPr>
        <p:txBody>
          <a:bodyPr/>
          <a:p/>
        </p:txBody>
      </p:sp>
      <p:sp>
        <p:nvSpPr>
          <p:cNvPr id="7" name="Text 5"/>
          <p:cNvSpPr/>
          <p:nvPr/>
        </p:nvSpPr>
        <p:spPr>
          <a:xfrm>
            <a:off x="1371600" y="2148840"/>
            <a:ext cx="6492240" cy="1371600"/>
          </a:xfrm>
          <a:prstGeom prst="rect">
            <a:avLst/>
          </a:prstGeom>
          <a:noFill/>
          <a:ln/>
        </p:spPr>
        <p:txBody>
          <a:bodyPr wrap="square" lIns="0" tIns="0" rIns="0" bIns="0" rtlCol="0" anchor="t"/>
          <a:lstStyle/>
          <a:p>
            <a:pPr indent="0" marL="0">
              <a:spcAft>
                <a:spcPts val="400"/>
              </a:spcAft>
              <a:buNone/>
            </a:pPr>
            <a:r>
              <a:rPr lang="en-US" sz="1600" dirty="0">
                <a:solidFill>
                  <a:srgbClr val="11121A"/>
                </a:solidFill>
                <a:latin typeface="Palatino Linotype" pitchFamily="34" charset="0"/>
                <a:ea typeface="Palatino Linotype" pitchFamily="34" charset="-122"/>
                <a:cs typeface="Palatino Linotype" pitchFamily="34" charset="-120"/>
              </a:rPr>
              <a:t>(1) Personalul medical sau nemedical […] nu are dreptul să supună pacientul </a:t>
            </a:r>
            <a:pPr indent="0" marL="0">
              <a:spcAft>
                <a:spcPts val="400"/>
              </a:spcAft>
              <a:buNone/>
            </a:pPr>
            <a:r>
              <a:rPr lang="en-US" sz="1600" b="1" dirty="0">
                <a:solidFill>
                  <a:srgbClr val="11121A"/>
                </a:solidFill>
                <a:highlight>
                  <a:srgbClr val="FFE7A3"/>
                </a:highlight>
                <a:latin typeface="Palatino Linotype" pitchFamily="34" charset="0"/>
                <a:ea typeface="Palatino Linotype" pitchFamily="34" charset="-122"/>
                <a:cs typeface="Palatino Linotype" pitchFamily="34" charset="-120"/>
              </a:rPr>
              <a:t>nici unei forme de presiune</a:t>
            </a:r>
            <a:pPr indent="0" marL="0">
              <a:spcAft>
                <a:spcPts val="400"/>
              </a:spcAft>
              <a:buNone/>
            </a:pPr>
            <a:r>
              <a:rPr lang="en-US" sz="1600" dirty="0">
                <a:solidFill>
                  <a:srgbClr val="11121A"/>
                </a:solidFill>
                <a:latin typeface="Palatino Linotype" pitchFamily="34" charset="0"/>
                <a:ea typeface="Palatino Linotype" pitchFamily="34" charset="-122"/>
                <a:cs typeface="Palatino Linotype" pitchFamily="34" charset="-120"/>
              </a:rPr>
              <a:t> pentru a-l determina […] să îl recompenseze altfel decât prevăd reglementările de plată legale […].</a:t>
            </a:r>
            <a:endParaRPr lang="en-US" sz="1600" dirty="0"/>
          </a:p>
        </p:txBody>
      </p:sp>
      <p:sp>
        <p:nvSpPr>
          <p:cNvPr id="8" name="Text 6"/>
          <p:cNvSpPr/>
          <p:nvPr/>
        </p:nvSpPr>
        <p:spPr>
          <a:xfrm>
            <a:off x="1371600" y="3657600"/>
            <a:ext cx="6492240" cy="160020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(2) Pacientul poate </a:t>
            </a:r>
            <a:pPr indent="0" marL="0">
              <a:buNone/>
            </a:pPr>
            <a:r>
              <a:rPr lang="en-US" sz="1600" strike="sngStrike" dirty="0">
                <a:solidFill>
                  <a:srgbClr val="B02532"/>
                </a:solidFill>
                <a:latin typeface="Palatino Linotype" pitchFamily="34" charset="0"/>
                <a:ea typeface="Palatino Linotype" pitchFamily="34" charset="-122"/>
                <a:cs typeface="Palatino Linotype" pitchFamily="34" charset="-120"/>
              </a:rPr>
              <a:t>oferi angajaților sau unității unde a fost îngrijit plăți suplimentare sau</a:t>
            </a:r>
            <a:pPr indent="0" marL="0">
              <a:buNone/>
            </a:pPr>
            <a:r>
              <a:rPr lang="en-US" sz="1600" b="1" u="sng" dirty="0">
                <a:solidFill>
                  <a:srgbClr val="0E7C6B"/>
                </a:solidFill>
                <a:latin typeface="Palatino Linotype" pitchFamily="34" charset="0"/>
                <a:ea typeface="Palatino Linotype" pitchFamily="34" charset="-122"/>
                <a:cs typeface="Palatino Linotype" pitchFamily="34" charset="-120"/>
              </a:rPr>
              <a:t> face</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 donații </a:t>
            </a:r>
            <a:pPr indent="0" marL="0">
              <a:buNone/>
            </a:pPr>
            <a:r>
              <a:rPr lang="en-US" sz="1600" b="1" u="sng" dirty="0">
                <a:solidFill>
                  <a:srgbClr val="0E7C6B"/>
                </a:solidFill>
                <a:latin typeface="Palatino Linotype" pitchFamily="34" charset="0"/>
                <a:ea typeface="Palatino Linotype" pitchFamily="34" charset="-122"/>
                <a:cs typeface="Palatino Linotype" pitchFamily="34" charset="-120"/>
              </a:rPr>
              <a:t>unității sanitare unde a fost îngrijit</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 cu respectarea </a:t>
            </a:r>
            <a:pPr indent="0" marL="0">
              <a:buNone/>
            </a:pPr>
            <a:r>
              <a:rPr lang="en-US" sz="1600" strike="sngStrike" dirty="0">
                <a:solidFill>
                  <a:srgbClr val="B02532"/>
                </a:solidFill>
                <a:latin typeface="Palatino Linotype" pitchFamily="34" charset="0"/>
                <a:ea typeface="Palatino Linotype" pitchFamily="34" charset="-122"/>
                <a:cs typeface="Palatino Linotype" pitchFamily="34" charset="-120"/>
              </a:rPr>
              <a:t>legii</a:t>
            </a:r>
            <a:pPr indent="0" marL="0">
              <a:buNone/>
            </a:pPr>
            <a:r>
              <a:rPr lang="en-US" sz="1600" b="1" u="sng" dirty="0">
                <a:solidFill>
                  <a:srgbClr val="0E7C6B"/>
                </a:solidFill>
                <a:latin typeface="Palatino Linotype" pitchFamily="34" charset="0"/>
                <a:ea typeface="Palatino Linotype" pitchFamily="34" charset="-122"/>
                <a:cs typeface="Palatino Linotype" pitchFamily="34" charset="-120"/>
              </a:rPr>
              <a:t> dispozițiilor legale în materie</a:t>
            </a:r>
            <a:pPr indent="0" marL="0">
              <a:buNone/>
            </a:pPr>
            <a:r>
              <a:rPr lang="en-US" sz="1600" dirty="0">
                <a:solidFill>
                  <a:srgbClr val="11121A"/>
                </a:solidFill>
                <a:latin typeface="Palatino Linotype" pitchFamily="34" charset="0"/>
                <a:ea typeface="Palatino Linotype" pitchFamily="34" charset="-122"/>
                <a:cs typeface="Palatino Linotype" pitchFamily="34" charset="-120"/>
              </a:rPr>
              <a:t>.</a:t>
            </a:r>
            <a:endParaRPr lang="en-US" sz="1600" dirty="0"/>
          </a:p>
        </p:txBody>
      </p:sp>
      <p:sp>
        <p:nvSpPr>
          <p:cNvPr id="9" name="Shape 7"/>
          <p:cNvSpPr/>
          <p:nvPr/>
        </p:nvSpPr>
        <p:spPr>
          <a:xfrm rot="-90000">
            <a:off x="1371600" y="5440680"/>
            <a:ext cx="3566160" cy="502920"/>
          </a:xfrm>
          <a:prstGeom prst="roundRect">
            <a:avLst>
              <a:gd name="adj" fmla="val 10909"/>
            </a:avLst>
          </a:prstGeom>
          <a:solidFill>
            <a:srgbClr val="FFFFFF"/>
          </a:solidFill>
          <a:ln w="19050">
            <a:solidFill>
              <a:srgbClr val="0E7C6B"/>
            </a:solidFill>
            <a:prstDash val="solid"/>
          </a:ln>
        </p:spPr>
        <p:txBody>
          <a:bodyPr/>
          <a:p/>
        </p:txBody>
      </p:sp>
      <p:sp>
        <p:nvSpPr>
          <p:cNvPr id="10" name="Text 8"/>
          <p:cNvSpPr/>
          <p:nvPr/>
        </p:nvSpPr>
        <p:spPr>
          <a:xfrm rot="-90000">
            <a:off x="1371600" y="5440680"/>
            <a:ext cx="3566160" cy="502920"/>
          </a:xfrm>
          <a:prstGeom prst="rect">
            <a:avLst/>
          </a:prstGeom>
          <a:noFill/>
          <a:ln/>
        </p:spPr>
        <p:txBody>
          <a:bodyPr wrap="square" lIns="0" tIns="0" rIns="0" bIns="0" rtlCol="0" anchor="ctr"/>
          <a:lstStyle/>
          <a:p>
            <a:pPr algn="ctr" indent="0" marL="0">
              <a:buNone/>
            </a:pPr>
            <a:r>
              <a:rPr lang="en-US" sz="1200" b="1" spc="200" kern="0" dirty="0">
                <a:solidFill>
                  <a:srgbClr val="0E7C6B"/>
                </a:solidFill>
                <a:latin typeface="Palatino Linotype" pitchFamily="34" charset="0"/>
                <a:ea typeface="Palatino Linotype" pitchFamily="34" charset="-122"/>
                <a:cs typeface="Palatino Linotype" pitchFamily="34" charset="-120"/>
              </a:rPr>
              <a:t>MODIFICAT LA 14 APRILIE 2025</a:t>
            </a:r>
            <a:endParaRPr lang="en-US" sz="1200" dirty="0"/>
          </a:p>
        </p:txBody>
      </p:sp>
      <p:sp>
        <p:nvSpPr>
          <p:cNvPr id="11" name="Text 9"/>
          <p:cNvSpPr/>
          <p:nvPr/>
        </p:nvSpPr>
        <p:spPr>
          <a:xfrm>
            <a:off x="8732520" y="2011680"/>
            <a:ext cx="3017520" cy="1097280"/>
          </a:xfrm>
          <a:prstGeom prst="rect">
            <a:avLst/>
          </a:prstGeom>
          <a:noFill/>
          <a:ln/>
        </p:spPr>
        <p:txBody>
          <a:bodyPr wrap="square" lIns="0" tIns="0" rIns="0" bIns="0" rtlCol="0" anchor="t"/>
          <a:lstStyle/>
          <a:p>
            <a:pPr indent="0" marL="0">
              <a:buNone/>
            </a:pPr>
            <a:r>
              <a:rPr lang="en-US" sz="1800" dirty="0">
                <a:solidFill>
                  <a:srgbClr val="3A3C44"/>
                </a:solidFill>
                <a:latin typeface="Palatino Linotype" pitchFamily="34" charset="0"/>
                <a:ea typeface="Palatino Linotype" pitchFamily="34" charset="-122"/>
                <a:cs typeface="Palatino Linotype" pitchFamily="34" charset="-120"/>
              </a:rPr>
              <a:t>Din 2025, angajații au dispărut din text.</a:t>
            </a:r>
            <a:endParaRPr lang="en-US" sz="1800" dirty="0"/>
          </a:p>
        </p:txBody>
      </p:sp>
      <p:sp>
        <p:nvSpPr>
          <p:cNvPr id="15" name="Text 13"/>
          <p:cNvSpPr/>
          <p:nvPr/>
        </p:nvSpPr>
        <p:spPr>
          <a:xfrm>
            <a:off x="8732520" y="5029200"/>
            <a:ext cx="3017520" cy="1280160"/>
          </a:xfrm>
          <a:prstGeom prst="rect">
            <a:avLst/>
          </a:prstGeom>
          <a:noFill/>
          <a:ln/>
        </p:spPr>
        <p:txBody>
          <a:bodyPr wrap="square" lIns="0" tIns="0" rIns="0" bIns="0" rtlCol="0" anchor="t"/>
          <a:lstStyle/>
          <a:p>
            <a:pPr indent="0" marL="0">
              <a:buNone/>
            </a:pPr>
            <a:r>
              <a:rPr lang="en-US" sz="1300" dirty="0">
                <a:solidFill>
                  <a:srgbClr val="3A3C44"/>
                </a:solidFill>
                <a:latin typeface="Palatino Linotype" pitchFamily="34" charset="0"/>
                <a:ea typeface="Palatino Linotype" pitchFamily="34" charset="-122"/>
                <a:cs typeface="Palatino Linotype" pitchFamily="34" charset="-120"/>
              </a:rPr>
              <a:t>Alin. (1) privește presiunea venită din spital. Teama familiei, fără un act al cuiva din spital, nu este o faptă a personalului; de aceea refuzul spune „îngrijirea rămâne aceeași”.</a:t>
            </a:r>
            <a:endParaRPr lang="en-US" sz="1800" dirty="0"/>
          </a:p>
        </p:txBody>
      </p:sp>
      <p:sp>
        <p:nvSpPr>
          <p:cNvPr id="12" name="Shape 10"/>
          <p:cNvSpPr/>
          <p:nvPr/>
        </p:nvSpPr>
        <p:spPr>
          <a:xfrm>
            <a:off x="8759952" y="3657600"/>
            <a:ext cx="1097280" cy="27432"/>
          </a:xfrm>
          <a:prstGeom prst="rect">
            <a:avLst/>
          </a:prstGeom>
          <a:solidFill>
            <a:srgbClr val="B02532"/>
          </a:solidFill>
          <a:ln/>
        </p:spPr>
        <p:txBody>
          <a:bodyPr/>
          <a:p/>
        </p:txBody>
      </p:sp>
      <p:sp>
        <p:nvSpPr>
          <p:cNvPr id="13" name="Text 11"/>
          <p:cNvSpPr/>
          <p:nvPr/>
        </p:nvSpPr>
        <p:spPr>
          <a:xfrm>
            <a:off x="8732520" y="3840480"/>
            <a:ext cx="3017520" cy="1051560"/>
          </a:xfrm>
          <a:prstGeom prst="rect">
            <a:avLst/>
          </a:prstGeom>
          <a:noFill/>
          <a:ln/>
        </p:spPr>
        <p:txBody>
          <a:bodyPr wrap="square" lIns="0" tIns="0" rIns="0" bIns="0" rtlCol="0" anchor="t"/>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Donația merge la spital, cu acte; nu la medic, în plic.</a:t>
            </a:r>
            <a:endParaRPr lang="en-US" sz="2100" dirty="0"/>
          </a:p>
        </p:txBody>
      </p:sp>
      <p:sp>
        <p:nvSpPr>
          <p:cNvPr id="14" name="Text 12"/>
          <p:cNvSpPr/>
          <p:nvPr/>
        </p:nvSpPr>
        <p:spPr>
          <a:xfrm>
            <a:off x="594360" y="6400800"/>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extras din forma consolidată (legislatie.just.ro); tăiat: forma de până la 14.04.2025; subliniat: forma în vigoare (registru A093, A094).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CODUL PENAL · ÎNALTA CURTE DE CASAȚIE ȘI JUSTIȚIE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800" b="1" dirty="0">
                <a:solidFill>
                  <a:srgbClr val="11121A"/>
                </a:solidFill>
                <a:latin typeface="Palatino Linotype" pitchFamily="34" charset="0"/>
                <a:ea typeface="Palatino Linotype" pitchFamily="34" charset="-122"/>
                <a:cs typeface="Palatino Linotype" pitchFamily="34" charset="-120"/>
              </a:rPr>
              <a:t>Textul legii nu deosebește „înainte” de „după”</a:t>
            </a:r>
            <a:endParaRPr lang="en-US" sz="2800" dirty="0"/>
          </a:p>
        </p:txBody>
      </p:sp>
      <p:sp>
        <p:nvSpPr>
          <p:cNvPr id="4" name="Shape 2"/>
          <p:cNvSpPr/>
          <p:nvPr/>
        </p:nvSpPr>
        <p:spPr>
          <a:xfrm>
            <a:off x="594360" y="1691640"/>
            <a:ext cx="10972800" cy="914400"/>
          </a:xfrm>
          <a:prstGeom prst="roundRect">
            <a:avLst>
              <a:gd name="adj" fmla="val 9000"/>
            </a:avLst>
          </a:prstGeom>
          <a:solidFill>
            <a:srgbClr val="ECEAE4"/>
          </a:solidFill>
          <a:ln w="12700">
            <a:solidFill>
              <a:srgbClr val="ECEAE4"/>
            </a:solidFill>
            <a:prstDash val="solid"/>
          </a:ln>
        </p:spPr>
        <p:txBody>
          <a:bodyPr/>
          <a:p/>
        </p:txBody>
      </p:sp>
      <p:sp>
        <p:nvSpPr>
          <p:cNvPr id="5" name="Text 3"/>
          <p:cNvSpPr/>
          <p:nvPr/>
        </p:nvSpPr>
        <p:spPr>
          <a:xfrm>
            <a:off x="868680" y="1691640"/>
            <a:ext cx="2834640" cy="91440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Codul penal, art. 289</a:t>
            </a:r>
            <a:endParaRPr lang="en-US" sz="1700" dirty="0"/>
          </a:p>
        </p:txBody>
      </p:sp>
      <p:sp>
        <p:nvSpPr>
          <p:cNvPr id="6" name="Text 4"/>
          <p:cNvSpPr/>
          <p:nvPr/>
        </p:nvSpPr>
        <p:spPr>
          <a:xfrm>
            <a:off x="3840480" y="1691640"/>
            <a:ext cx="754380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Luarea de mită: închisoare de la 3 la 10 ani. Textul nu deosebește „înainte” de „după” act.</a:t>
            </a:r>
            <a:endParaRPr lang="en-US" sz="1600" dirty="0"/>
          </a:p>
        </p:txBody>
      </p:sp>
      <p:sp>
        <p:nvSpPr>
          <p:cNvPr id="7" name="Shape 5"/>
          <p:cNvSpPr/>
          <p:nvPr/>
        </p:nvSpPr>
        <p:spPr>
          <a:xfrm>
            <a:off x="594360" y="2743200"/>
            <a:ext cx="10972800" cy="914400"/>
          </a:xfrm>
          <a:prstGeom prst="roundRect">
            <a:avLst>
              <a:gd name="adj" fmla="val 9000"/>
            </a:avLst>
          </a:prstGeom>
          <a:solidFill>
            <a:srgbClr val="F9F8F5"/>
          </a:solidFill>
          <a:ln w="12700">
            <a:solidFill>
              <a:srgbClr val="F9F8F5"/>
            </a:solidFill>
            <a:prstDash val="solid"/>
          </a:ln>
        </p:spPr>
        <p:txBody>
          <a:bodyPr/>
          <a:p/>
        </p:txBody>
      </p:sp>
      <p:sp>
        <p:nvSpPr>
          <p:cNvPr id="8" name="Text 6"/>
          <p:cNvSpPr/>
          <p:nvPr/>
        </p:nvSpPr>
        <p:spPr>
          <a:xfrm>
            <a:off x="868680" y="2743200"/>
            <a:ext cx="2834640" cy="91440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Codul penal, art. 290</a:t>
            </a:r>
            <a:endParaRPr lang="en-US" sz="1700" dirty="0"/>
          </a:p>
        </p:txBody>
      </p:sp>
      <p:sp>
        <p:nvSpPr>
          <p:cNvPr id="9" name="Text 7"/>
          <p:cNvSpPr/>
          <p:nvPr/>
        </p:nvSpPr>
        <p:spPr>
          <a:xfrm>
            <a:off x="3840480" y="2743200"/>
            <a:ext cx="754380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Cine dă nu comite infracțiune dacă a fost constrâns de cel care a luat.</a:t>
            </a:r>
            <a:endParaRPr lang="en-US" sz="1600" dirty="0"/>
          </a:p>
        </p:txBody>
      </p:sp>
      <p:sp>
        <p:nvSpPr>
          <p:cNvPr id="10" name="Shape 8"/>
          <p:cNvSpPr/>
          <p:nvPr/>
        </p:nvSpPr>
        <p:spPr>
          <a:xfrm>
            <a:off x="594360" y="3794760"/>
            <a:ext cx="10972800" cy="914400"/>
          </a:xfrm>
          <a:prstGeom prst="roundRect">
            <a:avLst>
              <a:gd name="adj" fmla="val 9000"/>
            </a:avLst>
          </a:prstGeom>
          <a:solidFill>
            <a:srgbClr val="ECEAE4"/>
          </a:solidFill>
          <a:ln w="12700">
            <a:solidFill>
              <a:srgbClr val="ECEAE4"/>
            </a:solidFill>
            <a:prstDash val="solid"/>
          </a:ln>
        </p:spPr>
        <p:txBody>
          <a:bodyPr/>
          <a:p/>
        </p:txBody>
      </p:sp>
      <p:sp>
        <p:nvSpPr>
          <p:cNvPr id="11" name="Text 9"/>
          <p:cNvSpPr/>
          <p:nvPr/>
        </p:nvSpPr>
        <p:spPr>
          <a:xfrm>
            <a:off x="868680" y="3794760"/>
            <a:ext cx="2834640" cy="914400"/>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ÎCCJ, Decizia nr. 19</a:t>
            </a:r>
            <a:endParaRPr lang="en-US" sz="1700" dirty="0"/>
          </a:p>
        </p:txBody>
      </p:sp>
      <p:sp>
        <p:nvSpPr>
          <p:cNvPr id="12" name="Text 10"/>
          <p:cNvSpPr/>
          <p:nvPr/>
        </p:nvSpPr>
        <p:spPr>
          <a:xfrm>
            <a:off x="3840480" y="3794760"/>
            <a:ext cx="7543800" cy="91440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Pornind de la calitatea de funcționar public a medicului din spitalul public, Înalta Curte a stabilit că plățile suplimentare sau donațiile nu sunt exercitarea unui drept.</a:t>
            </a:r>
            <a:endParaRPr lang="en-US" sz="1600" dirty="0"/>
          </a:p>
        </p:txBody>
      </p:sp>
      <p:sp>
        <p:nvSpPr>
          <p:cNvPr id="13" name="Text 11"/>
          <p:cNvSpPr/>
          <p:nvPr/>
        </p:nvSpPr>
        <p:spPr>
          <a:xfrm>
            <a:off x="594360" y="493776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Concluzia practică: plicul nu se primește. Ce se întâmplă într-un caz concret decid procurorii și instanțele, după toate împrejurările.</a:t>
            </a:r>
            <a:endParaRPr lang="en-US" sz="1800" dirty="0"/>
          </a:p>
        </p:txBody>
      </p:sp>
      <p:sp>
        <p:nvSpPr>
          <p:cNvPr id="30" name="Text 20"/>
          <p:cNvSpPr/>
          <p:nvPr/>
        </p:nvSpPr>
        <p:spPr>
          <a:xfrm>
            <a:off x="594360" y="6400800"/>
            <a:ext cx="9509760" cy="274320"/>
          </a:xfrm>
          <a:prstGeom prst="rect">
            <a:avLst/>
          </a:prstGeom>
          <a:noFill/>
          <a:ln/>
        </p:spPr>
        <p:txBody>
          <a:bodyPr wrap="square" lIns="0" tIns="0" rIns="0" bIns="0" rtlCol="0" anchor="ctr"/>
          <a:lstStyle/>
          <a:p>
            <a:pPr indent="0" marL="0">
              <a:buNone/>
            </a:pPr>
            <a:r>
              <a:rPr lang="en-US" sz="900" i="1" dirty="0">
                <a:solidFill>
                  <a:srgbClr val="585A64"/>
                </a:solidFill>
                <a:latin typeface="Palatino Linotype" pitchFamily="34" charset="0"/>
                <a:ea typeface="Palatino Linotype" pitchFamily="34" charset="-122"/>
                <a:cs typeface="Palatino Linotype" pitchFamily="34" charset="-120"/>
              </a:rPr>
              <a:t>Sursa: Înalta Curte de Casație și Justiție, Decizia nr. 19/2015 (registru A097).</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27D3BE"/>
          </a:solidFill>
          <a:ln w="12700">
            <a:solidFill>
              <a:srgbClr val="27D3BE"/>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a:t>
            </a:r>
            <a:endParaRPr lang="en-US" sz="1300" dirty="0"/>
          </a:p>
        </p:txBody>
      </p:sp>
      <p:sp>
        <p:nvSpPr>
          <p:cNvPr id="4" name="Text 2"/>
          <p:cNvSpPr/>
          <p:nvPr/>
        </p:nvSpPr>
        <p:spPr>
          <a:xfrm>
            <a:off x="594360" y="347472"/>
            <a:ext cx="7772400" cy="329184"/>
          </a:xfrm>
          <a:prstGeom prst="rect">
            <a:avLst/>
          </a:prstGeom>
          <a:noFill/>
          <a:ln/>
        </p:spPr>
        <p:txBody>
          <a:bodyPr wrap="square" lIns="0" tIns="0" rIns="0" bIns="0" rtlCol="0" anchor="ctr"/>
          <a:lstStyle/>
          <a:p>
            <a:pPr indent="0" marL="0">
              <a:buNone/>
            </a:pPr>
            <a:r>
              <a:rPr lang="en-US" sz="1300" b="1" spc="200" kern="0" dirty="0">
                <a:solidFill>
                  <a:srgbClr val="27D3BE"/>
                </a:solidFill>
                <a:latin typeface="Palatino Linotype" pitchFamily="34" charset="0"/>
                <a:ea typeface="Palatino Linotype" pitchFamily="34" charset="-122"/>
                <a:cs typeface="Palatino Linotype" pitchFamily="34" charset="-120"/>
              </a:rPr>
              <a:t>PRIMIȚI MULȚUMIREA · REFUZAȚI PLICUL · OFERIȚI O ALTERNATIVĂ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Cum refuzați fără să răniți</a:t>
            </a:r>
            <a:endParaRPr lang="en-US" sz="3200" dirty="0"/>
          </a:p>
        </p:txBody>
      </p:sp>
      <p:sp>
        <p:nvSpPr>
          <p:cNvPr id="6" name="Text 4"/>
          <p:cNvSpPr/>
          <p:nvPr/>
        </p:nvSpPr>
        <p:spPr>
          <a:xfrm>
            <a:off x="868680" y="1508760"/>
            <a:ext cx="3657600" cy="274320"/>
          </a:xfrm>
          <a:prstGeom prst="rect">
            <a:avLst/>
          </a:prstGeom>
          <a:noFill/>
          <a:ln/>
        </p:spPr>
        <p:txBody>
          <a:bodyPr wrap="square" lIns="0" tIns="0" rIns="0" bIns="0" rtlCol="0" anchor="t"/>
          <a:lstStyle/>
          <a:p>
            <a:pPr indent="0" marL="0">
              <a:buNone/>
            </a:pPr>
            <a:r>
              <a:rPr lang="en-US" sz="1300" b="1" spc="200" kern="0" dirty="0">
                <a:solidFill>
                  <a:srgbClr val="959BB0"/>
                </a:solidFill>
                <a:latin typeface="Palatino Linotype" pitchFamily="34" charset="0"/>
                <a:ea typeface="Palatino Linotype" pitchFamily="34" charset="-122"/>
                <a:cs typeface="Palatino Linotype" pitchFamily="34" charset="-120"/>
              </a:rPr>
              <a:t>FIICA PACIENTULUI</a:t>
            </a:r>
            <a:endParaRPr lang="en-US" sz="1300" dirty="0"/>
          </a:p>
        </p:txBody>
      </p:sp>
      <p:sp>
        <p:nvSpPr>
          <p:cNvPr id="7" name="Shape 5"/>
          <p:cNvSpPr/>
          <p:nvPr/>
        </p:nvSpPr>
        <p:spPr>
          <a:xfrm>
            <a:off x="594360" y="1828800"/>
            <a:ext cx="4937760" cy="868680"/>
          </a:xfrm>
          <a:prstGeom prst="roundRect">
            <a:avLst>
              <a:gd name="adj" fmla="val 18947"/>
            </a:avLst>
          </a:prstGeom>
          <a:solidFill>
            <a:srgbClr val="30344A"/>
          </a:solidFill>
          <a:ln w="12700">
            <a:solidFill>
              <a:srgbClr val="30344A"/>
            </a:solidFill>
            <a:prstDash val="solid"/>
          </a:ln>
        </p:spPr>
        <p:txBody>
          <a:bodyPr/>
          <a:p/>
        </p:txBody>
      </p:sp>
      <p:sp>
        <p:nvSpPr>
          <p:cNvPr id="8" name="Shape 6"/>
          <p:cNvSpPr/>
          <p:nvPr/>
        </p:nvSpPr>
        <p:spPr>
          <a:xfrm flipV="1">
            <a:off x="1005840" y="2679192"/>
            <a:ext cx="457200" cy="292608"/>
          </a:xfrm>
          <a:prstGeom prst="triangle">
            <a:avLst/>
          </a:prstGeom>
          <a:solidFill>
            <a:srgbClr val="30344A"/>
          </a:solidFill>
          <a:ln w="12700">
            <a:solidFill>
              <a:srgbClr val="30344A"/>
            </a:solidFill>
            <a:prstDash val="solid"/>
          </a:ln>
        </p:spPr>
        <p:txBody>
          <a:bodyPr/>
          <a:p/>
        </p:txBody>
      </p:sp>
      <p:sp>
        <p:nvSpPr>
          <p:cNvPr id="9" name="Text 7"/>
          <p:cNvSpPr/>
          <p:nvPr/>
        </p:nvSpPr>
        <p:spPr>
          <a:xfrm>
            <a:off x="868680" y="1828800"/>
            <a:ext cx="4480560" cy="868680"/>
          </a:xfrm>
          <a:prstGeom prst="rect">
            <a:avLst/>
          </a:prstGeom>
          <a:noFill/>
          <a:ln/>
        </p:spPr>
        <p:txBody>
          <a:bodyPr wrap="square" lIns="0" tIns="0" rIns="0" bIns="0" rtlCol="0" anchor="ctr"/>
          <a:lstStyle/>
          <a:p>
            <a:pPr indent="0" marL="0">
              <a:buNone/>
            </a:pPr>
            <a:r>
              <a:rPr lang="en-US" sz="1700" i="1" dirty="0">
                <a:solidFill>
                  <a:srgbClr val="FFFFFF"/>
                </a:solidFill>
                <a:latin typeface="Palatino Linotype" pitchFamily="34" charset="0"/>
                <a:ea typeface="Palatino Linotype" pitchFamily="34" charset="-122"/>
                <a:cs typeface="Palatino Linotype" pitchFamily="34" charset="-120"/>
              </a:rPr>
              <a:t>„Pentru dumneavoastră. E doar din recunoștință.”</a:t>
            </a:r>
            <a:endParaRPr lang="en-US" sz="1700" dirty="0"/>
          </a:p>
        </p:txBody>
      </p:sp>
      <p:sp>
        <p:nvSpPr>
          <p:cNvPr id="10" name="Text 8"/>
          <p:cNvSpPr/>
          <p:nvPr/>
        </p:nvSpPr>
        <p:spPr>
          <a:xfrm>
            <a:off x="4572000" y="2971800"/>
            <a:ext cx="6720840" cy="274320"/>
          </a:xfrm>
          <a:prstGeom prst="rect">
            <a:avLst/>
          </a:prstGeom>
          <a:noFill/>
          <a:ln/>
        </p:spPr>
        <p:txBody>
          <a:bodyPr wrap="square" lIns="0" tIns="0" rIns="0" bIns="0" rtlCol="0" anchor="t"/>
          <a:lstStyle/>
          <a:p>
            <a:pPr algn="r" indent="0" marL="0">
              <a:buNone/>
            </a:pPr>
            <a:r>
              <a:rPr lang="en-US" sz="1300" b="1" spc="200" kern="0" dirty="0">
                <a:solidFill>
                  <a:srgbClr val="9FE8DC"/>
                </a:solidFill>
                <a:latin typeface="Palatino Linotype" pitchFamily="34" charset="0"/>
                <a:ea typeface="Palatino Linotype" pitchFamily="34" charset="-122"/>
                <a:cs typeface="Palatino Linotype" pitchFamily="34" charset="-120"/>
              </a:rPr>
              <a:t>REZIDENTUL</a:t>
            </a:r>
            <a:endParaRPr lang="en-US" sz="1300" dirty="0"/>
          </a:p>
        </p:txBody>
      </p:sp>
      <p:sp>
        <p:nvSpPr>
          <p:cNvPr id="11" name="Shape 9"/>
          <p:cNvSpPr/>
          <p:nvPr/>
        </p:nvSpPr>
        <p:spPr>
          <a:xfrm>
            <a:off x="2651760" y="3291840"/>
            <a:ext cx="8915400" cy="1600200"/>
          </a:xfrm>
          <a:prstGeom prst="roundRect">
            <a:avLst>
              <a:gd name="adj" fmla="val 10286"/>
            </a:avLst>
          </a:prstGeom>
          <a:solidFill>
            <a:srgbClr val="0F5A4F"/>
          </a:solidFill>
          <a:ln w="12700">
            <a:solidFill>
              <a:srgbClr val="0F5A4F"/>
            </a:solidFill>
            <a:prstDash val="solid"/>
          </a:ln>
        </p:spPr>
        <p:txBody>
          <a:bodyPr/>
          <a:p/>
        </p:txBody>
      </p:sp>
      <p:sp>
        <p:nvSpPr>
          <p:cNvPr id="12" name="Shape 10"/>
          <p:cNvSpPr/>
          <p:nvPr/>
        </p:nvSpPr>
        <p:spPr>
          <a:xfrm flipV="1">
            <a:off x="10698480" y="4873752"/>
            <a:ext cx="457200" cy="292608"/>
          </a:xfrm>
          <a:prstGeom prst="triangle">
            <a:avLst/>
          </a:prstGeom>
          <a:solidFill>
            <a:srgbClr val="0F5A4F"/>
          </a:solidFill>
          <a:ln w="12700">
            <a:solidFill>
              <a:srgbClr val="0F5A4F"/>
            </a:solidFill>
            <a:prstDash val="solid"/>
          </a:ln>
        </p:spPr>
        <p:txBody>
          <a:bodyPr/>
          <a:p/>
        </p:txBody>
      </p:sp>
      <p:sp>
        <p:nvSpPr>
          <p:cNvPr id="13" name="Text 11"/>
          <p:cNvSpPr/>
          <p:nvPr/>
        </p:nvSpPr>
        <p:spPr>
          <a:xfrm>
            <a:off x="2926080" y="3291840"/>
            <a:ext cx="8412480" cy="1600200"/>
          </a:xfrm>
          <a:prstGeom prst="rect">
            <a:avLst/>
          </a:prstGeom>
          <a:noFill/>
          <a:ln/>
        </p:spPr>
        <p:txBody>
          <a:bodyPr wrap="square" lIns="0" tIns="0" rIns="0" bIns="0" rtlCol="0" anchor="ctr"/>
          <a:lstStyle/>
          <a:p>
            <a:pPr indent="0" marL="0">
              <a:buNone/>
            </a:pPr>
            <a:r>
              <a:rPr lang="en-US" sz="1800" i="1" dirty="0">
                <a:solidFill>
                  <a:srgbClr val="FFFFFF"/>
                </a:solidFill>
                <a:latin typeface="Palatino Linotype" pitchFamily="34" charset="0"/>
                <a:ea typeface="Palatino Linotype" pitchFamily="34" charset="-122"/>
                <a:cs typeface="Palatino Linotype" pitchFamily="34" charset="-120"/>
              </a:rPr>
              <a:t>„Vă mulțumesc din suflet, mă bucur că tatăl dumneavoastră se simte bine. Nu pot primi plicul, nici acum, nici mai târziu, iar îngrijirea lui va fi exact aceeași. Dacă vreți să ajutați secția, spitalul primește donații, cu acte.”</a:t>
            </a:r>
            <a:endParaRPr lang="en-US" sz="1800" dirty="0"/>
          </a:p>
        </p:txBody>
      </p:sp>
      <p:sp>
        <p:nvSpPr>
          <p:cNvPr id="14" name="Text 12"/>
          <p:cNvSpPr/>
          <p:nvPr/>
        </p:nvSpPr>
        <p:spPr>
          <a:xfrm>
            <a:off x="594360" y="5257800"/>
            <a:ext cx="10972800" cy="45720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Spuneți-le colegului de bancă, în cuvintele voastre; apoi inversați rolurile.</a:t>
            </a:r>
            <a:endParaRPr lang="en-US" sz="1700" dirty="0"/>
          </a:p>
        </p:txBody>
      </p:sp>
      <p:sp>
        <p:nvSpPr>
          <p:cNvPr id="15" name="Text 13"/>
          <p:cNvSpPr/>
          <p:nvPr/>
        </p:nvSpPr>
        <p:spPr>
          <a:xfrm>
            <a:off x="594360" y="5760720"/>
            <a:ext cx="9601200" cy="411480"/>
          </a:xfrm>
          <a:prstGeom prst="rect">
            <a:avLst/>
          </a:prstGeom>
          <a:noFill/>
          <a:ln/>
        </p:spPr>
        <p:txBody>
          <a:bodyPr wrap="square" lIns="0" tIns="0" rIns="0" bIns="0" rtlCol="0" anchor="t"/>
          <a:lstStyle/>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Un plic primit „ca să nu jigniți” rămâne, pentru cei care au văzut scena, un plic primit.</a:t>
            </a:r>
            <a:endParaRPr lang="en-US" sz="1500" dirty="0"/>
          </a:p>
        </p:txBody>
      </p:sp>
      <p:sp>
        <p:nvSpPr>
          <p:cNvPr id="16" name="Text 14"/>
          <p:cNvSpPr/>
          <p:nvPr/>
        </p:nvSpPr>
        <p:spPr>
          <a:xfrm>
            <a:off x="9692640" y="6263640"/>
            <a:ext cx="1874520" cy="274320"/>
          </a:xfrm>
          <a:prstGeom prst="rect">
            <a:avLst/>
          </a:prstGeom>
          <a:noFill/>
          <a:ln/>
        </p:spPr>
        <p:txBody>
          <a:bodyPr wrap="square" lIns="0" tIns="0" rIns="0" bIns="0" rtlCol="0" anchor="t"/>
          <a:lstStyle/>
          <a:p>
            <a:pPr algn="r" indent="0" marL="0">
              <a:buNone/>
            </a:pPr>
            <a:r>
              <a:rPr lang="en-US" sz="1000" i="1" dirty="0">
                <a:solidFill>
                  <a:srgbClr val="8E94A8"/>
                </a:solidFill>
                <a:latin typeface="Palatino Linotype" pitchFamily="34" charset="0"/>
                <a:ea typeface="Palatino Linotype" pitchFamily="34" charset="-122"/>
                <a:cs typeface="Palatino Linotype" pitchFamily="34" charset="-120"/>
              </a:rPr>
              <a:t>Scenă reconstituită.</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ÎN PRACTICĂ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faceți diferit de mâine</a:t>
            </a:r>
            <a:endParaRPr lang="en-US" sz="3100" dirty="0"/>
          </a:p>
        </p:txBody>
      </p:sp>
      <p:sp>
        <p:nvSpPr>
          <p:cNvPr id="4" name="Shape 2"/>
          <p:cNvSpPr/>
          <p:nvPr/>
        </p:nvSpPr>
        <p:spPr>
          <a:xfrm>
            <a:off x="594360" y="1645920"/>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5" name="Shape 3"/>
          <p:cNvSpPr/>
          <p:nvPr/>
        </p:nvSpPr>
        <p:spPr>
          <a:xfrm>
            <a:off x="868680" y="1801368"/>
            <a:ext cx="420624" cy="420624"/>
          </a:xfrm>
          <a:prstGeom prst="ellipse">
            <a:avLst/>
          </a:prstGeom>
          <a:solidFill>
            <a:srgbClr val="FF4757"/>
          </a:solidFill>
          <a:ln/>
        </p:spPr>
        <p:txBody>
          <a:bodyPr/>
          <a:p/>
        </p:txBody>
      </p:sp>
      <p:sp>
        <p:nvSpPr>
          <p:cNvPr id="6" name="Text 4"/>
          <p:cNvSpPr/>
          <p:nvPr/>
        </p:nvSpPr>
        <p:spPr>
          <a:xfrm>
            <a:off x="868680" y="18013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45920"/>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Încadrați fiecare afirmație despre un caz public: stabilit, relatat sau nedovedit; ca sigur, numai ce este stabilit.</a:t>
            </a:r>
            <a:endParaRPr lang="en-US" sz="1700" dirty="0"/>
          </a:p>
        </p:txBody>
      </p:sp>
      <p:sp>
        <p:nvSpPr>
          <p:cNvPr id="8" name="Shape 6"/>
          <p:cNvSpPr/>
          <p:nvPr/>
        </p:nvSpPr>
        <p:spPr>
          <a:xfrm>
            <a:off x="594360" y="2487168"/>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9" name="Shape 7"/>
          <p:cNvSpPr/>
          <p:nvPr/>
        </p:nvSpPr>
        <p:spPr>
          <a:xfrm>
            <a:off x="868680" y="2642616"/>
            <a:ext cx="420624" cy="420624"/>
          </a:xfrm>
          <a:prstGeom prst="ellipse">
            <a:avLst/>
          </a:prstGeom>
          <a:solidFill>
            <a:srgbClr val="FF4757"/>
          </a:solidFill>
          <a:ln/>
        </p:spPr>
        <p:txBody>
          <a:bodyPr/>
          <a:p/>
        </p:txBody>
      </p:sp>
      <p:sp>
        <p:nvSpPr>
          <p:cNvPr id="10" name="Text 8"/>
          <p:cNvSpPr/>
          <p:nvPr/>
        </p:nvSpPr>
        <p:spPr>
          <a:xfrm>
            <a:off x="868680" y="2642616"/>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508760" y="2487168"/>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Pacientului care întreabă: ce s-a anunțat, ce s-a stabilit, ce nu se știe.</a:t>
            </a:r>
            <a:endParaRPr lang="en-US" sz="1700" dirty="0"/>
          </a:p>
        </p:txBody>
      </p:sp>
      <p:sp>
        <p:nvSpPr>
          <p:cNvPr id="12" name="Shape 10"/>
          <p:cNvSpPr/>
          <p:nvPr/>
        </p:nvSpPr>
        <p:spPr>
          <a:xfrm>
            <a:off x="594360" y="3328416"/>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13" name="Shape 11"/>
          <p:cNvSpPr/>
          <p:nvPr/>
        </p:nvSpPr>
        <p:spPr>
          <a:xfrm>
            <a:off x="868680" y="3483864"/>
            <a:ext cx="420624" cy="420624"/>
          </a:xfrm>
          <a:prstGeom prst="ellipse">
            <a:avLst/>
          </a:prstGeom>
          <a:solidFill>
            <a:srgbClr val="FF4757"/>
          </a:solidFill>
          <a:ln/>
        </p:spPr>
        <p:txBody>
          <a:bodyPr/>
          <a:p/>
        </p:txBody>
      </p:sp>
      <p:sp>
        <p:nvSpPr>
          <p:cNvPr id="14" name="Text 12"/>
          <p:cNvSpPr/>
          <p:nvPr/>
        </p:nvSpPr>
        <p:spPr>
          <a:xfrm>
            <a:off x="868680" y="3483864"/>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508760" y="3328416"/>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În necesarul secției: ce vă trebuie medical, nu o anumită marcă; motivul, scris, când marca e necesară.</a:t>
            </a:r>
            <a:endParaRPr lang="en-US" sz="1700" dirty="0"/>
          </a:p>
        </p:txBody>
      </p:sp>
      <p:sp>
        <p:nvSpPr>
          <p:cNvPr id="16" name="Shape 14"/>
          <p:cNvSpPr/>
          <p:nvPr/>
        </p:nvSpPr>
        <p:spPr>
          <a:xfrm>
            <a:off x="594360" y="4169664"/>
            <a:ext cx="10972800" cy="731520"/>
          </a:xfrm>
          <a:prstGeom prst="roundRect">
            <a:avLst>
              <a:gd name="adj" fmla="val 11250"/>
            </a:avLst>
          </a:prstGeom>
          <a:solidFill>
            <a:srgbClr val="F9F8F5"/>
          </a:solidFill>
          <a:ln w="12700">
            <a:solidFill>
              <a:srgbClr val="F9F8F5"/>
            </a:solidFill>
            <a:prstDash val="solid"/>
          </a:ln>
        </p:spPr>
        <p:txBody>
          <a:bodyPr/>
          <a:p/>
        </p:txBody>
      </p:sp>
      <p:sp>
        <p:nvSpPr>
          <p:cNvPr id="17" name="Shape 15"/>
          <p:cNvSpPr/>
          <p:nvPr/>
        </p:nvSpPr>
        <p:spPr>
          <a:xfrm>
            <a:off x="868680" y="4325112"/>
            <a:ext cx="420624" cy="420624"/>
          </a:xfrm>
          <a:prstGeom prst="ellipse">
            <a:avLst/>
          </a:prstGeom>
          <a:solidFill>
            <a:srgbClr val="FF4757"/>
          </a:solidFill>
          <a:ln/>
        </p:spPr>
        <p:txBody>
          <a:bodyPr/>
          <a:p/>
        </p:txBody>
      </p:sp>
      <p:sp>
        <p:nvSpPr>
          <p:cNvPr id="18" name="Text 16"/>
          <p:cNvSpPr/>
          <p:nvPr/>
        </p:nvSpPr>
        <p:spPr>
          <a:xfrm>
            <a:off x="868680" y="4325112"/>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508760" y="4169664"/>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produs care pare să nu funcționeze: semnalați în scris, nu numai pe hol.</a:t>
            </a:r>
            <a:endParaRPr lang="en-US" sz="1700" dirty="0"/>
          </a:p>
        </p:txBody>
      </p:sp>
      <p:sp>
        <p:nvSpPr>
          <p:cNvPr id="20" name="Shape 18"/>
          <p:cNvSpPr/>
          <p:nvPr/>
        </p:nvSpPr>
        <p:spPr>
          <a:xfrm>
            <a:off x="594360" y="5010912"/>
            <a:ext cx="10972800" cy="731520"/>
          </a:xfrm>
          <a:prstGeom prst="roundRect">
            <a:avLst>
              <a:gd name="adj" fmla="val 11250"/>
            </a:avLst>
          </a:prstGeom>
          <a:solidFill>
            <a:srgbClr val="ECEAE4"/>
          </a:solidFill>
          <a:ln w="12700">
            <a:solidFill>
              <a:srgbClr val="ECEAE4"/>
            </a:solidFill>
            <a:prstDash val="solid"/>
          </a:ln>
        </p:spPr>
        <p:txBody>
          <a:bodyPr/>
          <a:p/>
        </p:txBody>
      </p:sp>
      <p:sp>
        <p:nvSpPr>
          <p:cNvPr id="21" name="Shape 19"/>
          <p:cNvSpPr/>
          <p:nvPr/>
        </p:nvSpPr>
        <p:spPr>
          <a:xfrm>
            <a:off x="868680" y="5166360"/>
            <a:ext cx="420624" cy="420624"/>
          </a:xfrm>
          <a:prstGeom prst="ellipse">
            <a:avLst/>
          </a:prstGeom>
          <a:solidFill>
            <a:srgbClr val="FF4757"/>
          </a:solidFill>
          <a:ln/>
        </p:spPr>
        <p:txBody>
          <a:bodyPr/>
          <a:p/>
        </p:txBody>
      </p:sp>
      <p:sp>
        <p:nvSpPr>
          <p:cNvPr id="22" name="Text 20"/>
          <p:cNvSpPr/>
          <p:nvPr/>
        </p:nvSpPr>
        <p:spPr>
          <a:xfrm>
            <a:off x="868680" y="5166360"/>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508760" y="5010912"/>
            <a:ext cx="9875520" cy="731520"/>
          </a:xfrm>
          <a:prstGeom prst="rect">
            <a:avLst/>
          </a:prstGeom>
          <a:noFill/>
          <a:ln/>
        </p:spPr>
        <p:txBody>
          <a:bodyPr wrap="square" lIns="0" tIns="0" rIns="0" bIns="0" rtlCol="0" anchor="ctr"/>
          <a:lstStyle/>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Un plic: mulțumesc, nu pot primi; spitalul primește donații cu acte.</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KAHOOT</a:t>
            </a:r>
            <a:endParaRPr lang="en-US" sz="1300" dirty="0"/>
          </a:p>
        </p:txBody>
      </p:sp>
      <p:sp>
        <p:nvSpPr>
          <p:cNvPr id="4" name="Text 2"/>
          <p:cNvSpPr/>
          <p:nvPr/>
        </p:nvSpPr>
        <p:spPr>
          <a:xfrm>
            <a:off x="594360" y="347472"/>
            <a:ext cx="1097280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AȚI REȚINUT</a:t>
            </a:r>
            <a:endParaRPr lang="en-US" sz="1300" dirty="0"/>
          </a:p>
        </p:txBody>
      </p:sp>
      <p:sp>
        <p:nvSpPr>
          <p:cNvPr id="5" name="Text 3"/>
          <p:cNvSpPr/>
          <p:nvPr/>
        </p:nvSpPr>
        <p:spPr>
          <a:xfrm>
            <a:off x="594360" y="1097280"/>
            <a:ext cx="10972800" cy="1097280"/>
          </a:xfrm>
          <a:prstGeom prst="rect">
            <a:avLst/>
          </a:prstGeom>
          <a:noFill/>
          <a:ln/>
        </p:spPr>
        <p:txBody>
          <a:bodyPr wrap="square" lIns="0" tIns="0" rIns="0" bIns="0" rtlCol="0" anchor="ctr"/>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Recipientul, licitația, plicul: zece întrebări</a:t>
            </a:r>
            <a:endParaRPr lang="en-US" sz="3800" dirty="0"/>
          </a:p>
        </p:txBody>
      </p:sp>
      <p:sp>
        <p:nvSpPr>
          <p:cNvPr id="6" name="Text 4"/>
          <p:cNvSpPr/>
          <p:nvPr/>
        </p:nvSpPr>
        <p:spPr>
          <a:xfrm>
            <a:off x="594360" y="2331720"/>
            <a:ext cx="10972800" cy="548640"/>
          </a:xfrm>
          <a:prstGeom prst="rect">
            <a:avLst/>
          </a:prstGeom>
          <a:noFill/>
          <a:ln/>
        </p:spPr>
        <p:txBody>
          <a:bodyPr wrap="square" lIns="0" tIns="0" rIns="0" bIns="0" rtlCol="0" anchor="t"/>
          <a:lstStyle/>
          <a:p>
            <a:pPr indent="0" marL="0">
              <a:buNone/>
            </a:pPr>
            <a:r>
              <a:rPr lang="en-US" sz="2200" dirty="0">
                <a:solidFill>
                  <a:srgbClr val="959BB0"/>
                </a:solidFill>
                <a:latin typeface="Palatino Linotype" pitchFamily="34" charset="0"/>
                <a:ea typeface="Palatino Linotype" pitchFamily="34" charset="-122"/>
                <a:cs typeface="Palatino Linotype" pitchFamily="34" charset="-120"/>
              </a:rPr>
              <a:t>Accesați kahoot.it și introduceți codul jocului.</a:t>
            </a:r>
            <a:endParaRPr lang="en-US" sz="2200" dirty="0"/>
          </a:p>
        </p:txBody>
      </p:sp>
      <p:sp>
        <p:nvSpPr>
          <p:cNvPr id="7" name="Shape 5"/>
          <p:cNvSpPr/>
          <p:nvPr/>
        </p:nvSpPr>
        <p:spPr>
          <a:xfrm>
            <a:off x="594360" y="3200400"/>
            <a:ext cx="5486400" cy="2011680"/>
          </a:xfrm>
          <a:prstGeom prst="roundRect">
            <a:avLst>
              <a:gd name="adj" fmla="val 4091"/>
            </a:avLst>
          </a:prstGeom>
          <a:solidFill>
            <a:srgbClr val="272A38"/>
          </a:solidFill>
          <a:ln w="12700">
            <a:solidFill>
              <a:srgbClr val="272A38"/>
            </a:solidFill>
            <a:prstDash val="solid"/>
          </a:ln>
        </p:spPr>
        <p:txBody>
          <a:bodyPr/>
          <a:p/>
        </p:txBody>
      </p:sp>
      <p:sp>
        <p:nvSpPr>
          <p:cNvPr id="8" name="Text 6"/>
          <p:cNvSpPr/>
          <p:nvPr/>
        </p:nvSpPr>
        <p:spPr>
          <a:xfrm>
            <a:off x="594360" y="3200400"/>
            <a:ext cx="5486400" cy="2011680"/>
          </a:xfrm>
          <a:prstGeom prst="rect">
            <a:avLst/>
          </a:prstGeom>
          <a:noFill/>
          <a:ln/>
        </p:spPr>
        <p:txBody>
          <a:bodyPr wrap="square" lIns="228600" tIns="0" rIns="228600" bIns="0" rtlCol="0" anchor="ctr"/>
          <a:lstStyle/>
          <a:p>
            <a:pPr algn="ctr" indent="0" marL="0">
              <a:buNone/>
            </a:pPr>
            <a:r>
              <a:rPr lang="en-US" sz="1800" dirty="0" i="1">
                <a:solidFill>
                  <a:srgbClr val="959BB0"/>
                </a:solidFill>
                <a:latin typeface="Palatino Linotype" pitchFamily="34" charset="0"/>
                <a:ea typeface="Palatino Linotype" pitchFamily="34" charset="-122"/>
                <a:cs typeface="Palatino Linotype" pitchFamily="34" charset="-120"/>
              </a:rPr>
              <a:t>Kahoot: intrați pe kahoot.it cu PIN-ul afișat pe ecran.</a:t>
            </a:r>
            <a:endParaRPr lang="en-US" sz="1800" dirty="0"/>
          </a:p>
        </p:txBody>
      </p:sp>
      <p:sp>
        <p:nvSpPr>
          <p:cNvPr id="9" name="Text 7"/>
          <p:cNvSpPr/>
          <p:nvPr/>
        </p:nvSpPr>
        <p:spPr>
          <a:xfrm>
            <a:off x="6400800" y="3200400"/>
            <a:ext cx="5166360" cy="2011680"/>
          </a:xfrm>
          <a:prstGeom prst="rect">
            <a:avLst/>
          </a:prstGeom>
          <a:noFill/>
          <a:ln/>
        </p:spPr>
        <p:txBody>
          <a:bodyPr wrap="square" lIns="0" tIns="0" rIns="0" bIns="0" rtlCol="0" anchor="ctr"/>
          <a:lstStyle/>
          <a:p>
            <a:pPr indent="0" marL="0">
              <a:buNone/>
            </a:pPr>
            <a:r>
              <a:rPr lang="en-US" sz="1900" i="1" dirty="0">
                <a:solidFill>
                  <a:srgbClr val="FFFFFF"/>
                </a:solidFill>
                <a:latin typeface="Palatino Linotype" pitchFamily="34" charset="0"/>
                <a:ea typeface="Palatino Linotype" pitchFamily="34" charset="-122"/>
                <a:cs typeface="Palatino Linotype" pitchFamily="34" charset="-120"/>
              </a:rPr>
              <a:t>Rezultatul nu se notează; arată ce s-a reținut din ședință.</a:t>
            </a:r>
            <a:endParaRPr lang="en-US" sz="1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 fost util azi?</a:t>
            </a:r>
            <a:endParaRPr lang="en-US" sz="20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Unde v-am pierdut?</a:t>
            </a:r>
            <a:endParaRPr lang="en-US" sz="20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000" dirty="0"/>
          </a:p>
        </p:txBody>
      </p:sp>
      <p:sp>
        <p:nvSpPr>
          <p:cNvPr id="14" name="Shape 12"/>
          <p:cNvSpPr/>
          <p:nvPr/>
        </p:nvSpPr>
        <p:spPr>
          <a:xfrm>
            <a:off x="8549640" y="2514600"/>
            <a:ext cx="3017520" cy="2468880"/>
          </a:xfrm>
          <a:prstGeom prst="roundRect">
            <a:avLst>
              <a:gd name="adj" fmla="val 3333"/>
            </a:avLst>
          </a:prstGeom>
          <a:solidFill>
            <a:srgbClr val="FFFFFF"/>
          </a:solidFill>
          <a:ln w="12700">
            <a:solidFill>
              <a:srgbClr val="FFFFFF"/>
            </a:solidFill>
            <a:prstDash val="solid"/>
          </a:ln>
        </p:spPr>
        <p:txBody>
          <a:bodyPr/>
          <a:p/>
        </p:txBody>
      </p:sp>
      <p:sp>
        <p:nvSpPr>
          <p:cNvPr id="16" name="Text 14"/>
          <p:cNvSpPr/>
          <p:nvPr/>
        </p:nvSpPr>
        <p:spPr>
          <a:xfrm>
            <a:off x="594360" y="534924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Luni, pe pagina cursului, veți găsi două modificări făcute pe baza răspunsurilor.</a:t>
            </a:r>
            <a:endParaRPr lang="en-US" sz="1700" dirty="0"/>
          </a:p>
        </p:txBody>
      </p:sp>
      <p:pic>
        <p:nvPicPr>
          <p:cNvPr id="17" name="Picture 16" descr="Mentimeter_OPT_PLIC_C02.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9137650" y="4394200"/>
            <a:ext cx="18415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Ședința 2 - Recipientul de pe secție. Cine garantează ce e înăuntru?</dc:title>
  <dc:subject>PptxGenJS Presentation</dc:subject>
  <dc:creator>Conf. Univ. Dr. Adrian Pana</dc:creator>
  <cp:lastModifiedBy>Conf. Univ. Dr. Adrian Pana</cp:lastModifiedBy>
  <cp:revision>1</cp:revision>
  <dcterms:created xsi:type="dcterms:W3CDTF">2026-10-03T13:45:49Z</dcterms:created>
  <dcterms:modified xsi:type="dcterms:W3CDTF">2026-10-03T13:45:49Z</dcterms:modified>
  <cp:keywords>sursa_amprenta=08cb76598e6dba5f; proiectie</cp:keywords>
</cp:coreProperties>
</file>