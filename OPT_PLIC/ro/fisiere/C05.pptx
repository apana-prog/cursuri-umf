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Publicare nu înseamnă responsabilizare. Azi urmărim un singur caz, de la un articol de ziar până la un comitet convocat de consiliul județean, și ne întrebăm la fiecare pas: după ce un document a fost publicat, cine răspunde și cine verifică? Pornim de la comunicatul de pe ecran: un spital care spune că a publicat tot.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Cazul de azi este construit pentru curs; detaliile sunt plauzibile, nu reale. Luni dimineață, o jurnalistă dintr-un ziar local publică un articol scris numai pe baza a două documente pe care Spitalul Județean A le-a pus singur pe site. Primul este lista contractelor de achiziție din anul trecut. Al doilea este declarația de interese a șefei comisiei de achiziții: soțul ei este asociat într-o firmă, firma C. Din listă reiese că firma C a câștigat trei contracte de materiale sanitare consumabile.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Spitalul răspunde a doua zi printr-un comunicat de două rânduri: toate documentele sunt publice pe site, conform legii, iar spitalul respectă principiul transparenței. După o săptămână nu s-a mai întâmplat nimic: nimeni nu a explicat cum a fost aleasă firma C, nimeni nu s-a retras din comisie, nicio instituție nu a anunțat o verificare. Rețineți formula: totul era public și nu s-a întâmplat nimic. Prima decizie a ședinței pleacă de aici: a fost publicarea suficientă?</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caz, trei acte și un comitet. În primul act, comunicatul. În al doilea, trei studenți cer o informație și primesc un refuz; apoi deveniți voi comitetul. După o scurtă oprire, al treilea act: ce ar urma și o propunere care sună bine, „să facem ca Georgia”. Jumătate din timp lucrați voi: votați, vă convingeți colegii în chat, jucați un rol și propuneți măsuri.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decizie. Votați singuri, fără să vă uitați la colegi. Ați văzut comunicatul: spitalul spune că toate documentele sunt publice, conform legii, și că respectă principiul transparenței. Întrebarea este simplă: a fost suficient? Alegeți una dintre cele patru variante; rezultatele rămân ascunse până după al doilea vot.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Scrieți în chat argumentul vostru, într-o frază, și răspundeți colegului care a votat altfel. Sprijiniți-vă pe caz: ce a publicat spitalul și ce s-a întâmplat, sau nu s-a întâmplat, după o săptămână. Apoi votați din nou, pe aceleași variante.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Iată cele două voturi, unul lângă altul. Titlul ședinței răspunde deja la întrebare, iar răspunsul vi-l datorăm de la început: publicarea nu este același lucru cu responsabilizarea. Spitalul din caz a publicat tot ce trebuia, și totuși nimeni nu a răspuns pentru nimic. Restul ședinței arată de ce se întâmplă asta și ce puteți face voi, ca cetățeni și ca viitori medici.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Primul termen nou: transparența. În acest curs, transparența înseamnă că oamenii pot afla cum și de ce o instituție publică a luat o decizie: după ce reguli, pe ce criterii, cu ce dovezi și cu ce rezultat. În cuvinte de zi cu zi: puteți vedea ce s-a hotărât și de ce. Are două forme: instituția publică din oficiu, fără să i se ceară, sau răspunde când îi solicitați. Taryn Vian scrie că, în practică, transparența înseamnă adesea accesul la informație. În acest sens, spitalul din caz a fost transparent.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Spitalul nu a publicat din generozitate. Legea îi cere fiecărei instituții publice să comunice din oficiu, între altele, bugetul și bilanțul contabil și să publice, actualizat anual, un buletin informativ. Pentru declarațiile de interese există o lege separată, cea a integrității: instituția le afișează pe pagina ei de internet în cel mult 30 de zile de la primire și le păstrează acolo pe durata funcției și încă 3 ani după. Comunicatul are deci dreptate într-un punct: obligațiile de publicare au fost respectate.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Numai că publicarea nu era singura obligație. Legea achizițiilor publice îi cere spitalului, ca autoritate contractantă, să ia, pe parcursul procedurii, toate măsurile necesare pentru a preveni, identifica și remedia conflictele de interese. Dacă printre cei care evaluează ofertele este o persoană care poate avea un interes financiar, spitalul trebuie să stabilească dacă este un conflict și să îl înlăture, de pildă prin înlocuirea evaluatorului. În cazul nostru, declarația a fost publicată, dar nimeni din spital nu a comparat-o cu lista ofertanților.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doilea termen nou: responsabilizarea. În acest curs, ea înseamnă obligația celor care au putere de decizie de a-și explica deciziile, de a le face înțelese și de a-și asuma urmările lor. În cuvinte de zi cu zi: cineva trebuie să dea socoteală și poate suporta o consecință. Diferența dintre cele două termene este chiar titlul ședinței. Vian o spune într-o frază: transparența este o condiție necesară, dar nu suficientă, pentru responsabilizare. Necesară, pentru că nu poți cere socoteală pentru ce nu știi. Nesuficientă, pentru că a ști nu obligă pe nimeni să răspundă.</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Cine ar fi trebuit să verifice? Legea integrității dă acest rol unei autorități din afara spitalului, Agenția Națională de Integritate. Agenția evaluează declarațiile de avere și de interese, incompatibilitățile și conflictele de interese. Poate începe evaluarea din oficiu sau la sesizarea oricărei persoane. Dacă la capătul procedurii se constată conflictul de interese, persoana este decăzută pe 3 ani din dreptul de a mai exercita o asemenea funcție. În cazul nostru, după o săptămână nimeni nu trimisese o sesizare, iar Agenția nu anunțase nicio verificare. Faptul că documentele erau publice nu a pus, singur, pe nimeni în mișcare.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Varianta documentată este (B). Publicarea este o obligație legală, iar spitalul a îndeplinit-o, dar ea nu încheie nimic: responsabilizarea cere ca cineva cu putere de decizie să explice și ca o autoritate să verifice. Varianta (A) confundă îndeplinirea unei obligații cu rezolvarea problemei. Varianta (C) sare peste statutul informației: articolul arată o legătură documentată, nu o faptă constatată; conflictul de interese îl constată Agenția, la capătul unei proceduri, iar legea achizițiilor dă ca măsură înlocuirea evaluatorului, nu demiterea. Varianta (D) pune o întrebare legitimă, dar prețul nu schimbă cine trebuie să verifice; și, cum veți vedea, prețul pe bucată nu era pe site.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doilea act, continuarea cazului. Trei studenți din anul IV, voluntari într-o asociație de pacienți din Județul B, citesc articolul. Asociația primise plângeri despre lipsa unor materiale în secția de chirurgie, iar studenții vor să afle un lucru simplu: cât a plătit spitalul pe bucată pentru materialele de la firma C, față de cât plătea înainte. Lista publicată dă numai valoarea totală a fiecărui contract. Informația pe care o caută nu este pe site, deci trebuie cerută. Trecem astfel de la prima formă a transparenței, publicarea din oficiu, la a doua: răspunsul la cerere.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Studenții trimit spitalului, prin poștă electronică, o cerere de informații de interes public, cu numele lor, cu întrebarea scrisă exact și cu mențiunea că vor răspunsul în format electronic. Cererea este înregistrată. În ziua a 12-a de la înregistrare primesc un răspuns de un rând: „Informațiile solicitate sunt confidențiale.” Fără motiv, fără trimitere la vreo lege. Cererea are elementele unei cereri bine scrise: cine cere, ce anume și în ce format. Ca să judecăm răspunsul spitalului, avem nevoie de al treilea termen nou.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treilea termen nou: informația de interes public. Legea liberului acces la informații o definește ca orice informație care privește activitățile sau rezultă din activitățile unei autorități ori instituții publice, indiferent de forma ei. În cuvinte de zi cu zi: tot ce produce sau face o instituție publică puteți, în principiu, să solicitați. Legea nr. 544/2001 are aproape un sfert de secol, dar este în vigoare, cu modificări, și leagă cele două forme ale transparenței: ce trebuie publicat din oficiu și ce puteți cere când nu găsiți. Cererea studenților este a doua formă.</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 termene depinde ce puteți face după un refuz. Iată-le pe cererea studenților, de la ziua înregistrării. Ziua 0: cererea este înregistrată; de aici curg toate termenele. Dacă spitalul refuză, refuzul trebuie motivat și comunicat în 5 zile. Spitalul răspunde în scris în 10 zile; dacă are nevoie de mai mult timp, trebuie să vă anunțe în scris tot în aceste 10 zile. Numai cu acest anunț poate răspunde în cel mult 30 de zile de la înregistrare. De la expirarea termenului de răspuns curg cele 30 de zile pentru plângerea la tribunal.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doua decizie. Votați singuri, fără discuție. Studenții au trimis o cerere scrisă, înregistrată la spital, iar în ziua a 12-a primesc un singur rând: „Informațiile solicitate sunt confidențiale.” Fără motiv și fără trimitere la vreo lege. Gândiți-vă la termenele pe care tocmai le-ați văzut. Ce fac studenții acum?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Scrieți în chat argumentul vostru, într-o frază, și răspundeți colegului care a votat altfel. Sprijiniți-vă pe cronologia termenelor, de la ziua înregistrării cererii. Apoi votați din nou, pe aceleași variante.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Iată cele două voturi, alături. Varianta documentată este (B). Răspunsul spitalului încalcă legea de două ori. Un refuz trebuia motivat și comunicat în 5 zile de la primirea cererii; spitalul a răspuns în ziua a 12-a, fără niciun motiv. Termenul de 30 de zile nu îl putea folosi, pentru că nu i-a anunțat pe studenți, în primele 10 zile, că are nevoie de mai mult timp. Varianta (A) folosește deci un termen care nu se aplica. Varianta (C) confundă un refuz de informații cu o faptă de corupție: legea dă pentru refuz alte căi. Varianta (D) poate aduce atenție, dar repetă primul act: o publicare fără un destinatar obligat să răspundă.</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Legea dă două căi, fiecare cu termenul ei. Prima este reclamația la conducătorul instituției, adică la managerul spitalului: o plângere scrisă împotriva refuzului, în 30 de zile de la data la care ați aflat de el. Dacă se dovedește întemeiată, răspunsul vine în 15 zile și cuprinde atât informațiile cerute, cât și sancțiunile disciplinare luate. A doua este plângerea la tribunal, la secția care judecă litigiile cu instituțiile publice, în 30 de zile de la expirarea termenului de răspuns. Instanța poate obliga spitalul să dea informațiile și să plătească daune; plângerea se judecă de urgență și nu se plătește taxă de timbru.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 cererea studenților, socoteala este următoarea. Spitalul nu i-a anunțat că are nevoie de mai mult timp, deci termenul lui de răspuns s-a încheiat în ziua a 10-a. Cele 30 de zile pentru tribunal se socotesc de la expirarea acestui termen, deci se încheie la aproximativ 40 de zile de la înregistrarea cererii. Reclamația se poate depune până în jurul zilei a 42-a, iar răspunsul la ea poate veni în 15 zile de la depunere. Dacă e depusă târziu, răspunsul poate veni după ce termenul pentru tribunal a trecut. De aceea studenții depun reclamația imediat și își notează din prima zi data-limită pentru tribunal.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Observați cum arată aici responsabilizarea, spre deosebire de primul act. Legea nu se mulțumește cu publicarea: numește o persoană care răspunde, angajatul care a refuzat; o consecință, răspunderea disciplinară; și o autoritate din afară care poate obliga instituția, tribunalul. Exact cele trei lucruri care lipseau după articolul din ziar. Responsabilizarea are deci trei elemente: o persoană care răspunde, o consecință și o autoritate din afară. Le vom căuta din nou în comitet, la fiecare variantă de măsură.</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 rămâne o întrebare: putea spitalul să refuze? Legea enumeră informațiile exceptate de la accesul liber. Una dintre excepții privește informațiile despre activitățile comerciale sau financiare, dacă publicitatea lor aduce atingere dreptului de proprietate intelectuală ori industrială, precum și principiului concurenței loiale. Aceeași lege prevede însă că orice autoritate contractantă pune la dispoziția celui interesat contractele de achiziții publice. Iar o excepție trebuia invocată în scris, în 5 zile. Dacă ea se aplică unor prețuri plătite din bani publici o decide, la plângere, instanța; notele nu răspund în locul ei.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Fiecare, în chat: scrieți cererea studenților, în cel mult cinci rânduri. Ce instituție, ce informație exact, în ce format o vreți, cum vă poate răspunde. Citim apoi trei cereri din chat, iar ceilalți spun, tot în chat, ce ar putea refuza spitalul și de ce.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Consiliul Județean B, care are spitalul în subordine, convoacă un comitet după articol și după refuzul primit de studenți. În ședință sunt cele șase roluri din fișele publicate înainte de ședință: managerul spitalului, jurnalista, reprezentanta asociației de pacienți, consilierul de integritate, reprezentantul consiliului județean și medicul-șef al secției de chirurgie. Votați din rolul vostru, nu din convingerea voastră. Întrebarea comitetului: ce se schimbă după publicare, cine răspunde și cine verifică?</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Rolul vostru depinde de luna nașterii: ianuarie–februarie, managerul spitalului; martie–aprilie, jurnalista; mai–iunie, asociația de pacienți; iulie–august, consilierul de integritate; septembrie–octombrie, consiliul județean; noiembrie–decembrie, medicul-șef al chirurgiei. Deschideți fișa rolului vostru prin codul de pe ecran sau din linkul din chat. Citiți-o, apoi votați din rol; primul câmp este rolul vostru. Fișele sunt publicate și pe pagina ședinței, în Pregătire.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Votați din rolul vostru, nu din convingerea voastră: ce măsură adoptă comitetul? Primul câmp este rolul. Gândiți-vă ce are de pierdut personajul vostru, pentru că în fișe fiecare personaj are ceva de pierdut. După vot, câte un reprezentant al fiecărui rol scrie în chat, cu numele rolului în față, de ce a ales astfel.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Votul acesta nu are o singură variantă bună. Are însă o întrebare de control, aceeași pentru fiecare variantă: cine răspunde și cine verifică? Comunicatul nou este tot o publicare. Ancheta internă cu rezultatul păstrat în spital numește pe cineva care verifică, dar instituția se verifică pe sine. Așteptarea deciziei Agenției mută totul pe o autoritate pe care, după o săptămână, nu o sesizase nimeni. Varianta a doua pune laolaltă o persoană care se retrage, o autoritate sesizată și o informație urmărită de consiliu; are și un cost: comisia rămâne cu un om mai puțin, iar medicul-șef se teme de întârzieri. Ce decizie ar trece și cine plătește costul ei? O măsură care nu costă pe nimeni nimic este, de obicei, încă un comunicat.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 oprim puțin. Când reluăm, vedem ce ar putea urma în cazul Spitalului Județean A, două luni mai târziu, și comparăm deznodământul cu voturile voastre.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Două luni mai târziu; deznodământul este construit, plauzibil, nu real. La cererea consiliului județean, managerul adoptă varianta cu retragerea temporară din comisie, sesizarea Agenției Naționale de Integritate și publicarea periodică a prețurilor pe bucată. Studenții depun reclamația la manager imediat după refuz și primesc prețurile în 15 zile, înainte de termenul pentru tribunal, împreună cu explicația că persoana care a redactat răspunsul de un rând a fost sancționată disciplinar. Prețurile arată că firma C nu a vândut mai scump. Evaluarea Agenției este încă în curs. Iar medicul-șef al chirurgiei află, în sfârșit, că cererea lui pentru alt tip de mănuși nu ajunsese niciodată la comisie.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Observați ce a pornit procesul și ce nu. Articolul a pus documentele în fața tuturor, dar, singur, nu a schimbat nimic într-o săptămână. Lucrurile s-au mișcat abia când au intrat în joc instituții care aveau obligația să acționeze: tribunalul, la care studenții puteau merge; managerul, obligat să răspundă la reclamație; Agenția, odată sesizată; consiliul județean, care a cerut rapoarte periodice. Și s-au mișcat pentru că cineva a urmărit termenele. A mai ieșit la iveală ceva: prețurile erau în regulă, dar cererea unui medic se pierduse în spital. Publicarea exista; lipsea un circuit în care cineva să citească și să răspundă.</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primul vot, varianta (A), „spitalul a publicat, deci e suficient”, este exact poziția comunicatului. Dacă o parte dintre voi a ales-o, nu este o greșeală de înțelegere, ci un reflex instituțional obișnuit. Varianta (C), demiterea imediată, ar fi dus la o decizie pe care deznodământul nu o justifică: prețurile erau în regulă, iar evaluarea conflictului de interese nu s-a încheiat. Aici se vede de ce contează statutul informației. La al doilea vot, varianta (A) ar fi dus la o așteptare inutilă, pe un termen care nu se aplica. Varianta (B) este cea pe care au urmat-o studenții: au depus reclamația imediat, iar răspunsul a venit înainte să expire termenul pentru tribunal.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Lăsăm spitalul și trecem la o variantă a aceleiași întrebări, la nivelul unei țări. La o conferință despre achizițiile din sănătate, un decident propune: să facem ca Georgia; acolo au concediat peste noapte toată poliția rutieră coruptă și corupția a dispărut; să concediem toți oamenii de la achizițiile spitalelor și să angajăm alții. Propunerea e inventată pentru curs, dar episodul la care trimite este real: peste noapte au fost concediați 16 000 de polițiști rutieri, înlocuiți după câteva luni de 2 300 de polițiști de patrulă nou angajați.</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2012, Banca Mondială a publicat o carte despre reformele anticorupție din serviciile publice ale Georgiei, de după Revoluția Trandafirilor. Cartea descrie opt domenii în care reformele au reușit, între care poliția de patrulă, vama și registrele publice. Spune și ce nu face, iar asta contează mai mult decât episodul: nu evaluează ansamblul reformelor și nu sugerează vreo cauzalitate între reformele anticorupție și creșterea economică sau rezultatele sociale. În prefață, autorii scriu că nu tot ce a făcut Georgia poate fi reprodus în alte contexte, deși multe lecții pot fi adaptate, și subliniază voința politică de la cel mai înalt nivel.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treia decizie, de data aceasta fără al doilea vot. Ați văzut propunerea decidentului și ce spune cartea Băncii Mondiale despre ea însăși. Întrebarea nu este dacă propunerea vă place, ci ce susțin dovezile despre ea. Votați singuri, pe telefon; apoi ne uităm la ce s-a măsurat efectiv.</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Să vedem ce s-a măsurat efectiv. Indicatorul este controlul corupției al Băncii Mondiale, pe care l-ați întâlnit în prima ședință: măsoară percepțiile asupra folosirii puterii publice în beneficiu privat, pe o scală de la 0 la 100, unde un scor mai mare înseamnă o corupție percepută mai mică. Fiecare scor vine cu o marjă de eroare, domeniul în care se află nivelul real cu o probabilitate de 90%. Când barele se suprapun, diferența nu trebuie considerată sigură. Georgia a urcat după 2003 peste marja de eroare, iar până în 2025 a coborât din nou, în jurul nivelului din 2004. România și Georgia, în 2025, se suprapun. Valorile: Georgia, 28,1 în 2003, 47,3 în 2004, 63,9 în 2014 și 45,2 în 2025; Estonia, 66,8 în 2004 și 81,1 în 2025, peste marjă; România, 48,0 în 2025.</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Varianta documentată este (B). Scorul Georgiei a urcat mult după 2003, peste marja de eroare. Indicatorul măsoară însă percepția corupției, nu efectul unei măsuri anume; cartea Băncii Mondiale spune că nu tot ce a făcut Georgia poate fi reprodus în alte contexte și subliniază voința politică de la cel mai înalt nivel; iar scorul a coborât din nou până în 2025. Varianta (A) face saltul de la „s-a întâmplat după” la „s-a întâmplat din cauza”: aceeași distanță dintre titlu și design din ședința a patra. Varianta (C) aplică marja prea larg: unele diferențe sunt mai mici decât ea, altele mult mai mari. Varianta (D) schimbă întrebarea. Concluzia cinstită: alegem măsuri pe care le putem verifica, fiecare cu indicatorul ei.</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Fiecare, pe Mentimeter: propuneți o măsură pentru Spitalul Județean A, în cel mult două rânduri, împreună cu indicatorul prin care s-ar vedea, peste un an, dacă a funcționat. Alegem apoi trei propuneri și votați pe cea mai ușor de verificat.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Trei exemple, ca să vedeți forma, nu ca răspuns la exercițiu. Spitalul publică periodic prețul pe bucată pentru principalele consumabile, iar consiliul județean urmărește publicarea; indicatorul: dacă se face la termen și câte întrebări sau sesizări aduce. La fiecare procedură, o persoană desemnată compară declarațiile de interese ale membrilor comisiei cu firmele participante; indicatorul: proporția procedurilor cu comparația documentată. Spitalul publică o dată pe an câte cereri de informații a primit, câte a rezolvat în termen și câte a refuzat; indicatorul: proporția celor rezolvate în termenul legal. Fiecare numește pe cineva care face ceva și poate fi verificată din afară. Asta e diferența dintre o măsură și un comunicat.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faceți diferit de luni. Când vedeți scris, ca în comunicatul Spitalului Județean A, că toate documentele sunt publice, întrebați-vă cine le citește și cine trebuie să răspundă. Când aveți nevoie de o informație de la o instituție publică, faceți-o în scris și notați data înregistrării: de la ea curg termenele. Un refuz fără motiv nu este ultimul cuvânt: aveți reclamația și tribunalul, iar data-limită pentru tribunal o notați de la început. Când cineva vă dă exemplul unei țări care a scăpat de corupție, întrebați de scor, cu marja lui de eroare, și de ce anume a produs schimbarea. Iar când propuneți o măsură, spuneți și cum s-ar vedea dacă a funcționat.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Zece întrebări despre ce a rămas din ședință: cazul spitalului, termenele cererii, căile de atac și scorurile cu marja lor de eroare.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Trei întrebări anonime, la codul afișat sau din linkul din chat: ce a fost util azi, unde v-am pierdut și ce ați putea folosi mâine. Luni, pe pagina cursului, veți găsi ce am modificat pe baza răspunsurilor.</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256032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77240"/>
            <a:ext cx="256032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CINCEA</a:t>
            </a:r>
            <a:endParaRPr lang="en-US" sz="1300" dirty="0"/>
          </a:p>
        </p:txBody>
      </p:sp>
      <p:sp>
        <p:nvSpPr>
          <p:cNvPr id="4" name="Text 2"/>
          <p:cNvSpPr/>
          <p:nvPr/>
        </p:nvSpPr>
        <p:spPr>
          <a:xfrm>
            <a:off x="640080" y="1371600"/>
            <a:ext cx="5669280" cy="210312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Publicare nu înseamnă responsabilizare</a:t>
            </a:r>
            <a:endParaRPr lang="en-US" sz="4000" dirty="0"/>
          </a:p>
        </p:txBody>
      </p:sp>
      <p:sp>
        <p:nvSpPr>
          <p:cNvPr id="5" name="Shape 3"/>
          <p:cNvSpPr/>
          <p:nvPr/>
        </p:nvSpPr>
        <p:spPr>
          <a:xfrm>
            <a:off x="667512" y="3749040"/>
            <a:ext cx="1280160" cy="27432"/>
          </a:xfrm>
          <a:prstGeom prst="rect">
            <a:avLst/>
          </a:prstGeom>
          <a:solidFill>
            <a:srgbClr val="FF4757"/>
          </a:solidFill>
          <a:ln/>
        </p:spPr>
        <p:txBody>
          <a:bodyPr/>
          <a:p/>
        </p:txBody>
      </p:sp>
      <p:sp>
        <p:nvSpPr>
          <p:cNvPr id="6" name="Text 4"/>
          <p:cNvSpPr/>
          <p:nvPr/>
        </p:nvSpPr>
        <p:spPr>
          <a:xfrm>
            <a:off x="640080" y="3931920"/>
            <a:ext cx="5486400" cy="82296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Câte vieți costă un plic? Corupție, sistem și sănătate în România</a:t>
            </a:r>
            <a:endParaRPr lang="en-US" sz="1400" dirty="0"/>
          </a:p>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Conf. univ. dr. Adrian Pană · UMF Cluj-Napoca</a:t>
            </a:r>
            <a:endParaRPr lang="en-US" sz="1400" dirty="0"/>
          </a:p>
        </p:txBody>
      </p:sp>
      <p:sp>
        <p:nvSpPr>
          <p:cNvPr id="7" name="Shape 5"/>
          <p:cNvSpPr/>
          <p:nvPr/>
        </p:nvSpPr>
        <p:spPr>
          <a:xfrm>
            <a:off x="6675120" y="1188720"/>
            <a:ext cx="4892040" cy="4206240"/>
          </a:xfrm>
          <a:prstGeom prst="rect">
            <a:avLst/>
          </a:prstGeom>
          <a:solidFill>
            <a:srgbClr val="FBF8F1"/>
          </a:solidFill>
          <a:ln w="9525">
            <a:solidFill>
              <a:srgbClr val="D6D2C8"/>
            </a:solidFill>
            <a:prstDash val="solid"/>
          </a:ln>
          <a:effectLst>
            <a:outerShdw sx="100000" sy="100000" kx="0" ky="0" algn="bl" rotWithShape="0" blurRad="101600" dist="50800" dir="3600000">
              <a:srgbClr val="000000">
                <a:alpha val="35000"/>
              </a:srgbClr>
            </a:outerShdw>
          </a:effectLst>
        </p:spPr>
        <p:txBody>
          <a:bodyPr/>
          <a:p/>
        </p:txBody>
      </p:sp>
      <p:sp>
        <p:nvSpPr>
          <p:cNvPr id="8" name="Text 6"/>
          <p:cNvSpPr/>
          <p:nvPr/>
        </p:nvSpPr>
        <p:spPr>
          <a:xfrm>
            <a:off x="6995160" y="1417320"/>
            <a:ext cx="4251960" cy="274320"/>
          </a:xfrm>
          <a:prstGeom prst="rect">
            <a:avLst/>
          </a:prstGeom>
          <a:noFill/>
          <a:ln/>
        </p:spPr>
        <p:txBody>
          <a:bodyPr wrap="square" lIns="0" tIns="0" rIns="0" bIns="0" rtlCol="0" anchor="t"/>
          <a:lstStyle/>
          <a:p>
            <a:pPr indent="0" marL="0">
              <a:buNone/>
            </a:pPr>
            <a:r>
              <a:rPr lang="en-US" sz="1100" b="1" spc="200" kern="0" dirty="0">
                <a:solidFill>
                  <a:srgbClr val="B02532"/>
                </a:solidFill>
                <a:latin typeface="Palatino Linotype" pitchFamily="34" charset="0"/>
                <a:ea typeface="Palatino Linotype" pitchFamily="34" charset="-122"/>
                <a:cs typeface="Palatino Linotype" pitchFamily="34" charset="-120"/>
              </a:rPr>
              <a:t>COMUNICAT · SPITALUL JUDEȚEAN A</a:t>
            </a:r>
            <a:endParaRPr lang="en-US" sz="1100" dirty="0"/>
          </a:p>
        </p:txBody>
      </p:sp>
      <p:sp>
        <p:nvSpPr>
          <p:cNvPr id="9" name="Shape 7"/>
          <p:cNvSpPr/>
          <p:nvPr/>
        </p:nvSpPr>
        <p:spPr>
          <a:xfrm>
            <a:off x="6995160" y="1755648"/>
            <a:ext cx="4251960" cy="18288"/>
          </a:xfrm>
          <a:prstGeom prst="rect">
            <a:avLst/>
          </a:prstGeom>
          <a:solidFill>
            <a:srgbClr val="11121A"/>
          </a:solidFill>
          <a:ln w="12700">
            <a:solidFill>
              <a:srgbClr val="11121A"/>
            </a:solidFill>
            <a:prstDash val="solid"/>
          </a:ln>
        </p:spPr>
        <p:txBody>
          <a:bodyPr/>
          <a:p/>
        </p:txBody>
      </p:sp>
      <p:sp>
        <p:nvSpPr>
          <p:cNvPr id="10" name="Text 8"/>
          <p:cNvSpPr/>
          <p:nvPr/>
        </p:nvSpPr>
        <p:spPr>
          <a:xfrm>
            <a:off x="6995160" y="1920240"/>
            <a:ext cx="4251960" cy="329184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„Toate documentele sunt publice pe site-ul spitalului, conform legii. Spitalul respectă principiul transparenței.”</a:t>
            </a:r>
            <a:endParaRPr lang="en-US" sz="2200" dirty="0"/>
          </a:p>
        </p:txBody>
      </p:sp>
      <p:sp>
        <p:nvSpPr>
          <p:cNvPr id="11" name="Text 9"/>
          <p:cNvSpPr/>
          <p:nvPr/>
        </p:nvSpPr>
        <p:spPr>
          <a:xfrm>
            <a:off x="6675120" y="5577840"/>
            <a:ext cx="4892040" cy="36576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Caz construit pentru curs.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ACTUL 1 · CAZ CONSTRUIT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articol scris numai din documentele spitalului</a:t>
            </a:r>
            <a:endParaRPr lang="en-US" sz="3000" dirty="0"/>
          </a:p>
        </p:txBody>
      </p:sp>
      <p:sp>
        <p:nvSpPr>
          <p:cNvPr id="4" name="Shape 2"/>
          <p:cNvSpPr/>
          <p:nvPr/>
        </p:nvSpPr>
        <p:spPr>
          <a:xfrm>
            <a:off x="594360" y="1600200"/>
            <a:ext cx="10972800" cy="502920"/>
          </a:xfrm>
          <a:prstGeom prst="roundRect">
            <a:avLst>
              <a:gd name="adj" fmla="val 16364"/>
            </a:avLst>
          </a:prstGeom>
          <a:solidFill>
            <a:srgbClr val="FF4757"/>
          </a:solidFill>
          <a:ln w="12700">
            <a:solidFill>
              <a:srgbClr val="FF4757"/>
            </a:solidFill>
            <a:prstDash val="solid"/>
          </a:ln>
        </p:spPr>
        <p:txBody>
          <a:bodyPr/>
          <a:p/>
        </p:txBody>
      </p:sp>
      <p:sp>
        <p:nvSpPr>
          <p:cNvPr id="5" name="Text 3"/>
          <p:cNvSpPr/>
          <p:nvPr/>
        </p:nvSpPr>
        <p:spPr>
          <a:xfrm>
            <a:off x="868680" y="1600200"/>
            <a:ext cx="10424160" cy="502920"/>
          </a:xfrm>
          <a:prstGeom prst="rect">
            <a:avLst/>
          </a:prstGeom>
          <a:noFill/>
          <a:ln/>
        </p:spPr>
        <p:txBody>
          <a:bodyPr wrap="square" lIns="0" tIns="0" rIns="0" bIns="0" rtlCol="0" anchor="ctr"/>
          <a:lstStyle/>
          <a:p>
            <a:pPr indent="0" marL="0">
              <a:buNone/>
            </a:pPr>
            <a:r>
              <a:rPr lang="en-US" sz="1600" b="1" dirty="0">
                <a:solidFill>
                  <a:srgbClr val="2E060B"/>
                </a:solidFill>
                <a:latin typeface="Palatino Linotype" pitchFamily="34" charset="0"/>
                <a:ea typeface="Palatino Linotype" pitchFamily="34" charset="-122"/>
                <a:cs typeface="Palatino Linotype" pitchFamily="34" charset="-120"/>
              </a:rPr>
              <a:t>Caz construit pentru curs; detaliile sunt plauzibile, nu reale.</a:t>
            </a:r>
            <a:endParaRPr lang="en-US" sz="1600" dirty="0"/>
          </a:p>
        </p:txBody>
      </p:sp>
      <p:sp>
        <p:nvSpPr>
          <p:cNvPr id="6" name="Shape 4"/>
          <p:cNvSpPr/>
          <p:nvPr/>
        </p:nvSpPr>
        <p:spPr>
          <a:xfrm>
            <a:off x="594360" y="2377440"/>
            <a:ext cx="5349240" cy="2377440"/>
          </a:xfrm>
          <a:prstGeom prst="rect">
            <a:avLst/>
          </a:prstGeom>
          <a:solidFill>
            <a:srgbClr val="FBF8F1"/>
          </a:solidFill>
          <a:ln w="9525">
            <a:solidFill>
              <a:srgbClr val="D6D2C8"/>
            </a:solidFill>
            <a:prstDash val="solid"/>
          </a:ln>
          <a:effectLst>
            <a:outerShdw sx="100000" sy="100000" kx="0" ky="0" algn="bl" rotWithShape="0" blurRad="101600" dist="50800" dir="3600000">
              <a:srgbClr val="000000">
                <a:alpha val="35000"/>
              </a:srgbClr>
            </a:outerShdw>
          </a:effectLst>
        </p:spPr>
        <p:txBody>
          <a:bodyPr/>
          <a:p/>
        </p:txBody>
      </p:sp>
      <p:sp>
        <p:nvSpPr>
          <p:cNvPr id="7" name="Text 5"/>
          <p:cNvSpPr/>
          <p:nvPr/>
        </p:nvSpPr>
        <p:spPr>
          <a:xfrm>
            <a:off x="914400" y="2606040"/>
            <a:ext cx="4709160" cy="274320"/>
          </a:xfrm>
          <a:prstGeom prst="rect">
            <a:avLst/>
          </a:prstGeom>
          <a:noFill/>
          <a:ln/>
        </p:spPr>
        <p:txBody>
          <a:bodyPr wrap="square" lIns="0" tIns="0" rIns="0" bIns="0" rtlCol="0" anchor="t"/>
          <a:lstStyle/>
          <a:p>
            <a:pPr indent="0" marL="0">
              <a:buNone/>
            </a:pPr>
            <a:r>
              <a:rPr lang="en-US" sz="1100" b="1" spc="200" kern="0" dirty="0">
                <a:solidFill>
                  <a:srgbClr val="B02532"/>
                </a:solidFill>
                <a:latin typeface="Palatino Linotype" pitchFamily="34" charset="0"/>
                <a:ea typeface="Palatino Linotype" pitchFamily="34" charset="-122"/>
                <a:cs typeface="Palatino Linotype" pitchFamily="34" charset="-120"/>
              </a:rPr>
              <a:t>DOCUMENTUL 1 · PE SITE-UL SPITALULUI</a:t>
            </a:r>
            <a:endParaRPr lang="en-US" sz="1100" dirty="0"/>
          </a:p>
        </p:txBody>
      </p:sp>
      <p:sp>
        <p:nvSpPr>
          <p:cNvPr id="8" name="Shape 6"/>
          <p:cNvSpPr/>
          <p:nvPr/>
        </p:nvSpPr>
        <p:spPr>
          <a:xfrm>
            <a:off x="914400" y="2944368"/>
            <a:ext cx="4709160" cy="18288"/>
          </a:xfrm>
          <a:prstGeom prst="rect">
            <a:avLst/>
          </a:prstGeom>
          <a:solidFill>
            <a:srgbClr val="11121A"/>
          </a:solidFill>
          <a:ln w="12700">
            <a:solidFill>
              <a:srgbClr val="11121A"/>
            </a:solidFill>
            <a:prstDash val="solid"/>
          </a:ln>
        </p:spPr>
        <p:txBody>
          <a:bodyPr/>
          <a:p/>
        </p:txBody>
      </p:sp>
      <p:sp>
        <p:nvSpPr>
          <p:cNvPr id="9" name="Text 7"/>
          <p:cNvSpPr/>
          <p:nvPr/>
        </p:nvSpPr>
        <p:spPr>
          <a:xfrm>
            <a:off x="914400" y="3108960"/>
            <a:ext cx="4709160" cy="146304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Lista contractelor de achiziție din anul trecut</a:t>
            </a:r>
            <a:endParaRPr lang="en-US" sz="2100" dirty="0"/>
          </a:p>
        </p:txBody>
      </p:sp>
      <p:sp>
        <p:nvSpPr>
          <p:cNvPr id="10" name="Text 8"/>
          <p:cNvSpPr/>
          <p:nvPr/>
        </p:nvSpPr>
        <p:spPr>
          <a:xfrm>
            <a:off x="914400" y="3886200"/>
            <a:ext cx="4754880" cy="73152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Firma C a câștigat trei contracte de materiale sanitare consumabile.</a:t>
            </a:r>
            <a:endParaRPr lang="en-US" sz="1500" dirty="0"/>
          </a:p>
        </p:txBody>
      </p:sp>
      <p:sp>
        <p:nvSpPr>
          <p:cNvPr id="11" name="Shape 9"/>
          <p:cNvSpPr/>
          <p:nvPr/>
        </p:nvSpPr>
        <p:spPr>
          <a:xfrm>
            <a:off x="6217920" y="2377440"/>
            <a:ext cx="5349240" cy="2377440"/>
          </a:xfrm>
          <a:prstGeom prst="rect">
            <a:avLst/>
          </a:prstGeom>
          <a:solidFill>
            <a:srgbClr val="FBF8F1"/>
          </a:solidFill>
          <a:ln w="9525">
            <a:solidFill>
              <a:srgbClr val="D6D2C8"/>
            </a:solidFill>
            <a:prstDash val="solid"/>
          </a:ln>
          <a:effectLst>
            <a:outerShdw sx="100000" sy="100000" kx="0" ky="0" algn="bl" rotWithShape="0" blurRad="101600" dist="50800" dir="3600000">
              <a:srgbClr val="000000">
                <a:alpha val="35000"/>
              </a:srgbClr>
            </a:outerShdw>
          </a:effectLst>
        </p:spPr>
        <p:txBody>
          <a:bodyPr/>
          <a:p/>
        </p:txBody>
      </p:sp>
      <p:sp>
        <p:nvSpPr>
          <p:cNvPr id="12" name="Text 10"/>
          <p:cNvSpPr/>
          <p:nvPr/>
        </p:nvSpPr>
        <p:spPr>
          <a:xfrm>
            <a:off x="6537960" y="2606040"/>
            <a:ext cx="4709160" cy="274320"/>
          </a:xfrm>
          <a:prstGeom prst="rect">
            <a:avLst/>
          </a:prstGeom>
          <a:noFill/>
          <a:ln/>
        </p:spPr>
        <p:txBody>
          <a:bodyPr wrap="square" lIns="0" tIns="0" rIns="0" bIns="0" rtlCol="0" anchor="t"/>
          <a:lstStyle/>
          <a:p>
            <a:pPr indent="0" marL="0">
              <a:buNone/>
            </a:pPr>
            <a:r>
              <a:rPr lang="en-US" sz="1100" b="1" spc="200" kern="0" dirty="0">
                <a:solidFill>
                  <a:srgbClr val="B02532"/>
                </a:solidFill>
                <a:latin typeface="Palatino Linotype" pitchFamily="34" charset="0"/>
                <a:ea typeface="Palatino Linotype" pitchFamily="34" charset="-122"/>
                <a:cs typeface="Palatino Linotype" pitchFamily="34" charset="-120"/>
              </a:rPr>
              <a:t>DOCUMENTUL 2 · PE SITE-UL SPITALULUI</a:t>
            </a:r>
            <a:endParaRPr lang="en-US" sz="1100" dirty="0"/>
          </a:p>
        </p:txBody>
      </p:sp>
      <p:sp>
        <p:nvSpPr>
          <p:cNvPr id="13" name="Shape 11"/>
          <p:cNvSpPr/>
          <p:nvPr/>
        </p:nvSpPr>
        <p:spPr>
          <a:xfrm>
            <a:off x="6537960" y="2944368"/>
            <a:ext cx="4709160" cy="18288"/>
          </a:xfrm>
          <a:prstGeom prst="rect">
            <a:avLst/>
          </a:prstGeom>
          <a:solidFill>
            <a:srgbClr val="11121A"/>
          </a:solidFill>
          <a:ln w="12700">
            <a:solidFill>
              <a:srgbClr val="11121A"/>
            </a:solidFill>
            <a:prstDash val="solid"/>
          </a:ln>
        </p:spPr>
        <p:txBody>
          <a:bodyPr/>
          <a:p/>
        </p:txBody>
      </p:sp>
      <p:sp>
        <p:nvSpPr>
          <p:cNvPr id="14" name="Text 12"/>
          <p:cNvSpPr/>
          <p:nvPr/>
        </p:nvSpPr>
        <p:spPr>
          <a:xfrm>
            <a:off x="6537960" y="3108960"/>
            <a:ext cx="4709160" cy="1463040"/>
          </a:xfrm>
          <a:prstGeom prst="rect">
            <a:avLst/>
          </a:prstGeom>
          <a:noFill/>
          <a:ln/>
        </p:spPr>
        <p:txBody>
          <a:bodyPr wrap="square" lIns="0" tIns="0" rIns="0" bIns="0" rtlCol="0" anchor="t"/>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Declarația de interese a șefei comisiei de achiziții</a:t>
            </a:r>
            <a:endParaRPr lang="en-US" sz="2100" dirty="0"/>
          </a:p>
        </p:txBody>
      </p:sp>
      <p:sp>
        <p:nvSpPr>
          <p:cNvPr id="15" name="Text 13"/>
          <p:cNvSpPr/>
          <p:nvPr/>
        </p:nvSpPr>
        <p:spPr>
          <a:xfrm>
            <a:off x="6537960" y="3886200"/>
            <a:ext cx="4754880" cy="73152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Soțul ei este asociat în firma C.</a:t>
            </a:r>
            <a:endParaRPr lang="en-US" sz="1500" dirty="0"/>
          </a:p>
        </p:txBody>
      </p:sp>
      <p:sp>
        <p:nvSpPr>
          <p:cNvPr id="16" name="Text 14"/>
          <p:cNvSpPr/>
          <p:nvPr/>
        </p:nvSpPr>
        <p:spPr>
          <a:xfrm>
            <a:off x="594360" y="5074920"/>
            <a:ext cx="10972800" cy="73152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Luni dimineață, o jurnalistă dintr-un ziar local pune cele două documente alături.</a:t>
            </a:r>
            <a:endParaRPr lang="en-US" sz="18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Spitalul Județean A, Județul B și firma C nu există.</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ACTUL 1 · A DOUA ZI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Comunicatul de două rânduri</a:t>
            </a:r>
            <a:endParaRPr lang="en-US" sz="3200" dirty="0"/>
          </a:p>
        </p:txBody>
      </p:sp>
      <p:sp>
        <p:nvSpPr>
          <p:cNvPr id="4" name="Shape 2"/>
          <p:cNvSpPr/>
          <p:nvPr/>
        </p:nvSpPr>
        <p:spPr>
          <a:xfrm>
            <a:off x="594360" y="1691640"/>
            <a:ext cx="5760720" cy="3566160"/>
          </a:xfrm>
          <a:prstGeom prst="rect">
            <a:avLst/>
          </a:prstGeom>
          <a:solidFill>
            <a:srgbClr val="FBF8F1"/>
          </a:solidFill>
          <a:ln w="9525">
            <a:solidFill>
              <a:srgbClr val="D6D2C8"/>
            </a:solidFill>
            <a:prstDash val="solid"/>
          </a:ln>
          <a:effectLst>
            <a:outerShdw sx="100000" sy="100000" kx="0" ky="0" algn="bl" rotWithShape="0" blurRad="101600" dist="50800" dir="3600000">
              <a:srgbClr val="000000">
                <a:alpha val="35000"/>
              </a:srgbClr>
            </a:outerShdw>
          </a:effectLst>
        </p:spPr>
        <p:txBody>
          <a:bodyPr/>
          <a:p/>
        </p:txBody>
      </p:sp>
      <p:sp>
        <p:nvSpPr>
          <p:cNvPr id="5" name="Text 3"/>
          <p:cNvSpPr/>
          <p:nvPr/>
        </p:nvSpPr>
        <p:spPr>
          <a:xfrm>
            <a:off x="914400" y="1920240"/>
            <a:ext cx="5120640" cy="274320"/>
          </a:xfrm>
          <a:prstGeom prst="rect">
            <a:avLst/>
          </a:prstGeom>
          <a:noFill/>
          <a:ln/>
        </p:spPr>
        <p:txBody>
          <a:bodyPr wrap="square" lIns="0" tIns="0" rIns="0" bIns="0" rtlCol="0" anchor="t"/>
          <a:lstStyle/>
          <a:p>
            <a:pPr indent="0" marL="0">
              <a:buNone/>
            </a:pPr>
            <a:r>
              <a:rPr lang="en-US" sz="1100" b="1" spc="200" kern="0" dirty="0">
                <a:solidFill>
                  <a:srgbClr val="B02532"/>
                </a:solidFill>
                <a:latin typeface="Palatino Linotype" pitchFamily="34" charset="0"/>
                <a:ea typeface="Palatino Linotype" pitchFamily="34" charset="-122"/>
                <a:cs typeface="Palatino Linotype" pitchFamily="34" charset="-120"/>
              </a:rPr>
              <a:t>COMUNICAT · SPITALUL JUDEȚEAN A</a:t>
            </a:r>
            <a:endParaRPr lang="en-US" sz="1100" dirty="0"/>
          </a:p>
        </p:txBody>
      </p:sp>
      <p:sp>
        <p:nvSpPr>
          <p:cNvPr id="6" name="Shape 4"/>
          <p:cNvSpPr/>
          <p:nvPr/>
        </p:nvSpPr>
        <p:spPr>
          <a:xfrm>
            <a:off x="914400" y="2258568"/>
            <a:ext cx="5120640" cy="18288"/>
          </a:xfrm>
          <a:prstGeom prst="rect">
            <a:avLst/>
          </a:prstGeom>
          <a:solidFill>
            <a:srgbClr val="11121A"/>
          </a:solidFill>
          <a:ln w="12700">
            <a:solidFill>
              <a:srgbClr val="11121A"/>
            </a:solidFill>
            <a:prstDash val="solid"/>
          </a:ln>
        </p:spPr>
        <p:txBody>
          <a:bodyPr/>
          <a:p/>
        </p:txBody>
      </p:sp>
      <p:sp>
        <p:nvSpPr>
          <p:cNvPr id="7" name="Text 5"/>
          <p:cNvSpPr/>
          <p:nvPr/>
        </p:nvSpPr>
        <p:spPr>
          <a:xfrm>
            <a:off x="914400" y="2423160"/>
            <a:ext cx="5120640" cy="2651760"/>
          </a:xfrm>
          <a:prstGeom prst="rect">
            <a:avLst/>
          </a:prstGeom>
          <a:noFill/>
          <a:ln/>
        </p:spPr>
        <p:txBody>
          <a:bodyPr wrap="square" lIns="0" tIns="0" rIns="0" bIns="0" rtlCol="0" anchor="t"/>
          <a:lstStyle/>
          <a:p>
            <a:pPr indent="0" marL="0">
              <a:buNone/>
            </a:pPr>
            <a:r>
              <a:rPr lang="en-US" sz="2300" b="1" dirty="0">
                <a:solidFill>
                  <a:srgbClr val="11121A"/>
                </a:solidFill>
                <a:latin typeface="Palatino Linotype" pitchFamily="34" charset="0"/>
                <a:ea typeface="Palatino Linotype" pitchFamily="34" charset="-122"/>
                <a:cs typeface="Palatino Linotype" pitchFamily="34" charset="-120"/>
              </a:rPr>
              <a:t>„Toate documentele sunt publice pe site-ul spitalului, conform legii. Spitalul respectă principiul transparenței.”</a:t>
            </a:r>
            <a:endParaRPr lang="en-US" sz="2300" dirty="0"/>
          </a:p>
        </p:txBody>
      </p:sp>
      <p:sp>
        <p:nvSpPr>
          <p:cNvPr id="8" name="Text 6"/>
          <p:cNvSpPr/>
          <p:nvPr/>
        </p:nvSpPr>
        <p:spPr>
          <a:xfrm>
            <a:off x="6766560" y="1737360"/>
            <a:ext cx="48463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 SĂPTĂMÂNĂ MAI TÂRZIU</a:t>
            </a:r>
            <a:endParaRPr lang="en-US" sz="1300" dirty="0"/>
          </a:p>
        </p:txBody>
      </p:sp>
      <p:sp>
        <p:nvSpPr>
          <p:cNvPr id="9" name="Shape 7"/>
          <p:cNvSpPr/>
          <p:nvPr/>
        </p:nvSpPr>
        <p:spPr>
          <a:xfrm>
            <a:off x="6766560" y="2194560"/>
            <a:ext cx="4800600" cy="868680"/>
          </a:xfrm>
          <a:prstGeom prst="roundRect">
            <a:avLst>
              <a:gd name="adj" fmla="val 9474"/>
            </a:avLst>
          </a:prstGeom>
          <a:solidFill>
            <a:srgbClr val="ECEAE4"/>
          </a:solidFill>
          <a:ln w="12700">
            <a:solidFill>
              <a:srgbClr val="ECEAE4"/>
            </a:solidFill>
            <a:prstDash val="solid"/>
          </a:ln>
        </p:spPr>
        <p:txBody>
          <a:bodyPr/>
          <a:p/>
        </p:txBody>
      </p:sp>
      <p:sp>
        <p:nvSpPr>
          <p:cNvPr id="10" name="Shape 8"/>
          <p:cNvSpPr/>
          <p:nvPr/>
        </p:nvSpPr>
        <p:spPr>
          <a:xfrm>
            <a:off x="6766560" y="2194560"/>
            <a:ext cx="73152" cy="868680"/>
          </a:xfrm>
          <a:prstGeom prst="rect">
            <a:avLst/>
          </a:prstGeom>
          <a:solidFill>
            <a:srgbClr val="B02532"/>
          </a:solidFill>
          <a:ln w="12700">
            <a:solidFill>
              <a:srgbClr val="333333"/>
            </a:solidFill>
            <a:prstDash val="solid"/>
          </a:ln>
        </p:spPr>
        <p:txBody>
          <a:bodyPr/>
          <a:p/>
        </p:txBody>
      </p:sp>
      <p:sp>
        <p:nvSpPr>
          <p:cNvPr id="11" name="Text 9"/>
          <p:cNvSpPr/>
          <p:nvPr/>
        </p:nvSpPr>
        <p:spPr>
          <a:xfrm>
            <a:off x="7040880" y="2194560"/>
            <a:ext cx="438912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Nimeni nu a explicat cum a fost aleasă firma C.</a:t>
            </a:r>
            <a:endParaRPr lang="en-US" sz="1700" dirty="0"/>
          </a:p>
        </p:txBody>
      </p:sp>
      <p:sp>
        <p:nvSpPr>
          <p:cNvPr id="12" name="Shape 10"/>
          <p:cNvSpPr/>
          <p:nvPr/>
        </p:nvSpPr>
        <p:spPr>
          <a:xfrm>
            <a:off x="6766560" y="3200400"/>
            <a:ext cx="4800600" cy="868680"/>
          </a:xfrm>
          <a:prstGeom prst="roundRect">
            <a:avLst>
              <a:gd name="adj" fmla="val 9474"/>
            </a:avLst>
          </a:prstGeom>
          <a:solidFill>
            <a:srgbClr val="ECEAE4"/>
          </a:solidFill>
          <a:ln w="12700">
            <a:solidFill>
              <a:srgbClr val="ECEAE4"/>
            </a:solidFill>
            <a:prstDash val="solid"/>
          </a:ln>
        </p:spPr>
        <p:txBody>
          <a:bodyPr/>
          <a:p/>
        </p:txBody>
      </p:sp>
      <p:sp>
        <p:nvSpPr>
          <p:cNvPr id="13" name="Shape 11"/>
          <p:cNvSpPr/>
          <p:nvPr/>
        </p:nvSpPr>
        <p:spPr>
          <a:xfrm>
            <a:off x="6766560" y="3200400"/>
            <a:ext cx="73152" cy="868680"/>
          </a:xfrm>
          <a:prstGeom prst="rect">
            <a:avLst/>
          </a:prstGeom>
          <a:solidFill>
            <a:srgbClr val="B02532"/>
          </a:solidFill>
          <a:ln w="12700">
            <a:solidFill>
              <a:srgbClr val="333333"/>
            </a:solidFill>
            <a:prstDash val="solid"/>
          </a:ln>
        </p:spPr>
        <p:txBody>
          <a:bodyPr/>
          <a:p/>
        </p:txBody>
      </p:sp>
      <p:sp>
        <p:nvSpPr>
          <p:cNvPr id="14" name="Text 12"/>
          <p:cNvSpPr/>
          <p:nvPr/>
        </p:nvSpPr>
        <p:spPr>
          <a:xfrm>
            <a:off x="7040880" y="3200400"/>
            <a:ext cx="438912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Nimeni nu s-a retras din comisie.</a:t>
            </a:r>
            <a:endParaRPr lang="en-US" sz="1700" dirty="0"/>
          </a:p>
        </p:txBody>
      </p:sp>
      <p:sp>
        <p:nvSpPr>
          <p:cNvPr id="15" name="Shape 13"/>
          <p:cNvSpPr/>
          <p:nvPr/>
        </p:nvSpPr>
        <p:spPr>
          <a:xfrm>
            <a:off x="6766560" y="4206240"/>
            <a:ext cx="4800600" cy="868680"/>
          </a:xfrm>
          <a:prstGeom prst="roundRect">
            <a:avLst>
              <a:gd name="adj" fmla="val 9474"/>
            </a:avLst>
          </a:prstGeom>
          <a:solidFill>
            <a:srgbClr val="ECEAE4"/>
          </a:solidFill>
          <a:ln w="12700">
            <a:solidFill>
              <a:srgbClr val="ECEAE4"/>
            </a:solidFill>
            <a:prstDash val="solid"/>
          </a:ln>
        </p:spPr>
        <p:txBody>
          <a:bodyPr/>
          <a:p/>
        </p:txBody>
      </p:sp>
      <p:sp>
        <p:nvSpPr>
          <p:cNvPr id="16" name="Shape 14"/>
          <p:cNvSpPr/>
          <p:nvPr/>
        </p:nvSpPr>
        <p:spPr>
          <a:xfrm>
            <a:off x="6766560" y="4206240"/>
            <a:ext cx="73152" cy="868680"/>
          </a:xfrm>
          <a:prstGeom prst="rect">
            <a:avLst/>
          </a:prstGeom>
          <a:solidFill>
            <a:srgbClr val="B02532"/>
          </a:solidFill>
          <a:ln w="12700">
            <a:solidFill>
              <a:srgbClr val="333333"/>
            </a:solidFill>
            <a:prstDash val="solid"/>
          </a:ln>
        </p:spPr>
        <p:txBody>
          <a:bodyPr/>
          <a:p/>
        </p:txBody>
      </p:sp>
      <p:sp>
        <p:nvSpPr>
          <p:cNvPr id="17" name="Text 15"/>
          <p:cNvSpPr/>
          <p:nvPr/>
        </p:nvSpPr>
        <p:spPr>
          <a:xfrm>
            <a:off x="7040880" y="4206240"/>
            <a:ext cx="438912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Nicio instituție nu a anunțat o verificare.</a:t>
            </a:r>
            <a:endParaRPr lang="en-US" sz="1700" dirty="0"/>
          </a:p>
        </p:txBody>
      </p:sp>
      <p:sp>
        <p:nvSpPr>
          <p:cNvPr id="18" name="Text 16"/>
          <p:cNvSpPr/>
          <p:nvPr/>
        </p:nvSpPr>
        <p:spPr>
          <a:xfrm>
            <a:off x="594360" y="5486400"/>
            <a:ext cx="10972800" cy="54864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Totul era public. Nu s-a întâmplat nimic.</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Un caz, trei acte, un comitet</a:t>
            </a:r>
            <a:endParaRPr lang="en-US" sz="3100" dirty="0"/>
          </a:p>
        </p:txBody>
      </p:sp>
      <p:sp>
        <p:nvSpPr>
          <p:cNvPr id="4" name="Shape 2"/>
          <p:cNvSpPr/>
          <p:nvPr/>
        </p:nvSpPr>
        <p:spPr>
          <a:xfrm>
            <a:off x="594360" y="2148840"/>
            <a:ext cx="2286000" cy="868680"/>
          </a:xfrm>
          <a:prstGeom prst="rect">
            <a:avLst/>
          </a:prstGeom>
          <a:solidFill>
            <a:srgbClr val="FF4757"/>
          </a:solidFill>
          <a:ln w="19050">
            <a:solidFill>
              <a:srgbClr val="F6F5F2"/>
            </a:solidFill>
            <a:prstDash val="solid"/>
          </a:ln>
        </p:spPr>
        <p:txBody>
          <a:bodyPr/>
          <a:p/>
        </p:txBody>
      </p:sp>
      <p:sp>
        <p:nvSpPr>
          <p:cNvPr id="5" name="Text 3"/>
          <p:cNvSpPr/>
          <p:nvPr/>
        </p:nvSpPr>
        <p:spPr>
          <a:xfrm>
            <a:off x="594360" y="2148840"/>
            <a:ext cx="2286000" cy="868680"/>
          </a:xfrm>
          <a:prstGeom prst="rect">
            <a:avLst/>
          </a:prstGeom>
          <a:noFill/>
          <a:ln/>
        </p:spPr>
        <p:txBody>
          <a:bodyPr wrap="square" lIns="0" tIns="0" rIns="0" bIns="0" rtlCol="0" anchor="ctr"/>
          <a:lstStyle/>
          <a:p>
            <a:pPr algn="ctr" indent="0" marL="0">
              <a:buNone/>
            </a:pPr>
            <a:r>
              <a:rPr lang="en-US" sz="1600" b="1" dirty="0">
                <a:solidFill>
                  <a:srgbClr val="2E060B"/>
                </a:solidFill>
                <a:latin typeface="Palatino Linotype" pitchFamily="34" charset="0"/>
                <a:ea typeface="Palatino Linotype" pitchFamily="34" charset="-122"/>
                <a:cs typeface="Palatino Linotype" pitchFamily="34" charset="-120"/>
              </a:rPr>
              <a:t>Actul 1</a:t>
            </a:r>
            <a:endParaRPr lang="en-US" sz="1600" dirty="0"/>
          </a:p>
        </p:txBody>
      </p:sp>
      <p:sp>
        <p:nvSpPr>
          <p:cNvPr id="6" name="Shape 4"/>
          <p:cNvSpPr/>
          <p:nvPr/>
        </p:nvSpPr>
        <p:spPr>
          <a:xfrm>
            <a:off x="2880360" y="2148840"/>
            <a:ext cx="3200400" cy="868680"/>
          </a:xfrm>
          <a:prstGeom prst="rect">
            <a:avLst/>
          </a:prstGeom>
          <a:solidFill>
            <a:srgbClr val="FFC24B"/>
          </a:solidFill>
          <a:ln w="19050">
            <a:solidFill>
              <a:srgbClr val="F6F5F2"/>
            </a:solidFill>
            <a:prstDash val="solid"/>
          </a:ln>
        </p:spPr>
        <p:txBody>
          <a:bodyPr/>
          <a:p/>
        </p:txBody>
      </p:sp>
      <p:sp>
        <p:nvSpPr>
          <p:cNvPr id="7" name="Text 5"/>
          <p:cNvSpPr/>
          <p:nvPr/>
        </p:nvSpPr>
        <p:spPr>
          <a:xfrm>
            <a:off x="2880360" y="2148840"/>
            <a:ext cx="3200400" cy="868680"/>
          </a:xfrm>
          <a:prstGeom prst="rect">
            <a:avLst/>
          </a:prstGeom>
          <a:noFill/>
          <a:ln/>
        </p:spPr>
        <p:txBody>
          <a:bodyPr wrap="square" lIns="0" tIns="0" rIns="0" bIns="0" rtlCol="0" anchor="ctr"/>
          <a:lstStyle/>
          <a:p>
            <a:pPr algn="ctr" indent="0" marL="0">
              <a:buNone/>
            </a:pPr>
            <a:r>
              <a:rPr lang="en-US" sz="1600" b="1" dirty="0">
                <a:solidFill>
                  <a:srgbClr val="3D2A00"/>
                </a:solidFill>
                <a:latin typeface="Palatino Linotype" pitchFamily="34" charset="0"/>
                <a:ea typeface="Palatino Linotype" pitchFamily="34" charset="-122"/>
                <a:cs typeface="Palatino Linotype" pitchFamily="34" charset="-120"/>
              </a:rPr>
              <a:t>Actul 2 și comitetul</a:t>
            </a:r>
            <a:endParaRPr lang="en-US" sz="1600" dirty="0"/>
          </a:p>
        </p:txBody>
      </p:sp>
      <p:sp>
        <p:nvSpPr>
          <p:cNvPr id="8" name="Shape 6"/>
          <p:cNvSpPr/>
          <p:nvPr/>
        </p:nvSpPr>
        <p:spPr>
          <a:xfrm>
            <a:off x="6080760" y="2148840"/>
            <a:ext cx="457200" cy="868680"/>
          </a:xfrm>
          <a:prstGeom prst="rect">
            <a:avLst/>
          </a:prstGeom>
          <a:solidFill>
            <a:srgbClr val="ECEAE4"/>
          </a:solidFill>
          <a:ln w="19050">
            <a:solidFill>
              <a:srgbClr val="F6F5F2"/>
            </a:solidFill>
            <a:prstDash val="solid"/>
          </a:ln>
        </p:spPr>
        <p:txBody>
          <a:bodyPr/>
          <a:p/>
        </p:txBody>
      </p:sp>
      <p:sp>
        <p:nvSpPr>
          <p:cNvPr id="9" name="Shape 7"/>
          <p:cNvSpPr/>
          <p:nvPr/>
        </p:nvSpPr>
        <p:spPr>
          <a:xfrm>
            <a:off x="6537960" y="2148840"/>
            <a:ext cx="3200400" cy="868680"/>
          </a:xfrm>
          <a:prstGeom prst="rect">
            <a:avLst/>
          </a:prstGeom>
          <a:solidFill>
            <a:srgbClr val="27D3BE"/>
          </a:solidFill>
          <a:ln w="19050">
            <a:solidFill>
              <a:srgbClr val="F6F5F2"/>
            </a:solidFill>
            <a:prstDash val="solid"/>
          </a:ln>
        </p:spPr>
        <p:txBody>
          <a:bodyPr/>
          <a:p/>
        </p:txBody>
      </p:sp>
      <p:sp>
        <p:nvSpPr>
          <p:cNvPr id="10" name="Text 8"/>
          <p:cNvSpPr/>
          <p:nvPr/>
        </p:nvSpPr>
        <p:spPr>
          <a:xfrm>
            <a:off x="6537960" y="2148840"/>
            <a:ext cx="3200400" cy="868680"/>
          </a:xfrm>
          <a:prstGeom prst="rect">
            <a:avLst/>
          </a:prstGeom>
          <a:noFill/>
          <a:ln/>
        </p:spPr>
        <p:txBody>
          <a:bodyPr wrap="square" lIns="0" tIns="0" rIns="0" bIns="0" rtlCol="0" anchor="ctr"/>
          <a:lstStyle/>
          <a:p>
            <a:pPr algn="ctr" indent="0" marL="0">
              <a:buNone/>
            </a:pPr>
            <a:r>
              <a:rPr lang="en-US" sz="1600" b="1" dirty="0">
                <a:solidFill>
                  <a:srgbClr val="073B34"/>
                </a:solidFill>
                <a:latin typeface="Palatino Linotype" pitchFamily="34" charset="0"/>
                <a:ea typeface="Palatino Linotype" pitchFamily="34" charset="-122"/>
                <a:cs typeface="Palatino Linotype" pitchFamily="34" charset="-120"/>
              </a:rPr>
              <a:t>Actul 3</a:t>
            </a:r>
            <a:endParaRPr lang="en-US" sz="1600" dirty="0"/>
          </a:p>
        </p:txBody>
      </p:sp>
      <p:sp>
        <p:nvSpPr>
          <p:cNvPr id="11" name="Shape 9"/>
          <p:cNvSpPr/>
          <p:nvPr/>
        </p:nvSpPr>
        <p:spPr>
          <a:xfrm>
            <a:off x="9738360" y="2148840"/>
            <a:ext cx="1828800" cy="868680"/>
          </a:xfrm>
          <a:prstGeom prst="rect">
            <a:avLst/>
          </a:prstGeom>
          <a:solidFill>
            <a:srgbClr val="9B7EF7"/>
          </a:solidFill>
          <a:ln w="19050">
            <a:solidFill>
              <a:srgbClr val="F6F5F2"/>
            </a:solidFill>
            <a:prstDash val="solid"/>
          </a:ln>
        </p:spPr>
        <p:txBody>
          <a:bodyPr/>
          <a:p/>
        </p:txBody>
      </p:sp>
      <p:sp>
        <p:nvSpPr>
          <p:cNvPr id="12" name="Text 10"/>
          <p:cNvSpPr/>
          <p:nvPr/>
        </p:nvSpPr>
        <p:spPr>
          <a:xfrm>
            <a:off x="9738360" y="2148840"/>
            <a:ext cx="1828800" cy="868680"/>
          </a:xfrm>
          <a:prstGeom prst="rect">
            <a:avLst/>
          </a:prstGeom>
          <a:noFill/>
          <a:ln/>
        </p:spPr>
        <p:txBody>
          <a:bodyPr wrap="square" lIns="0" tIns="0" rIns="0" bIns="0" rtlCol="0" anchor="ctr"/>
          <a:lstStyle/>
          <a:p>
            <a:pPr algn="ctr" indent="0" marL="0">
              <a:buNone/>
            </a:pPr>
            <a:r>
              <a:rPr lang="en-US" sz="1600" b="1" dirty="0">
                <a:solidFill>
                  <a:srgbClr val="1F1040"/>
                </a:solidFill>
                <a:latin typeface="Palatino Linotype" pitchFamily="34" charset="0"/>
                <a:ea typeface="Palatino Linotype" pitchFamily="34" charset="-122"/>
                <a:cs typeface="Palatino Linotype" pitchFamily="34" charset="-120"/>
              </a:rPr>
              <a:t>Final</a:t>
            </a:r>
            <a:endParaRPr lang="en-US" sz="1600" dirty="0"/>
          </a:p>
        </p:txBody>
      </p:sp>
      <p:sp>
        <p:nvSpPr>
          <p:cNvPr id="13" name="Text 11"/>
          <p:cNvSpPr/>
          <p:nvPr/>
        </p:nvSpPr>
        <p:spPr>
          <a:xfrm>
            <a:off x="2286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0′</a:t>
            </a:r>
            <a:endParaRPr lang="en-US" sz="1200" dirty="0"/>
          </a:p>
        </p:txBody>
      </p:sp>
      <p:sp>
        <p:nvSpPr>
          <p:cNvPr id="14" name="Text 12"/>
          <p:cNvSpPr/>
          <p:nvPr/>
        </p:nvSpPr>
        <p:spPr>
          <a:xfrm>
            <a:off x="25146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25′</a:t>
            </a:r>
            <a:endParaRPr lang="en-US" sz="1200" dirty="0"/>
          </a:p>
        </p:txBody>
      </p:sp>
      <p:sp>
        <p:nvSpPr>
          <p:cNvPr id="15" name="Text 13"/>
          <p:cNvSpPr/>
          <p:nvPr/>
        </p:nvSpPr>
        <p:spPr>
          <a:xfrm>
            <a:off x="57150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60′</a:t>
            </a:r>
            <a:endParaRPr lang="en-US" sz="1200" dirty="0"/>
          </a:p>
        </p:txBody>
      </p:sp>
      <p:sp>
        <p:nvSpPr>
          <p:cNvPr id="16" name="Text 14"/>
          <p:cNvSpPr/>
          <p:nvPr/>
        </p:nvSpPr>
        <p:spPr>
          <a:xfrm>
            <a:off x="61722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65′</a:t>
            </a:r>
            <a:endParaRPr lang="en-US" sz="1200" dirty="0"/>
          </a:p>
        </p:txBody>
      </p:sp>
      <p:sp>
        <p:nvSpPr>
          <p:cNvPr id="17" name="Text 15"/>
          <p:cNvSpPr/>
          <p:nvPr/>
        </p:nvSpPr>
        <p:spPr>
          <a:xfrm>
            <a:off x="93726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100′</a:t>
            </a:r>
            <a:endParaRPr lang="en-US" sz="1200" dirty="0"/>
          </a:p>
        </p:txBody>
      </p:sp>
      <p:sp>
        <p:nvSpPr>
          <p:cNvPr id="18" name="Text 16"/>
          <p:cNvSpPr/>
          <p:nvPr/>
        </p:nvSpPr>
        <p:spPr>
          <a:xfrm>
            <a:off x="11201400" y="181965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120′</a:t>
            </a:r>
            <a:endParaRPr lang="en-US" sz="1200" dirty="0"/>
          </a:p>
        </p:txBody>
      </p:sp>
      <p:sp>
        <p:nvSpPr>
          <p:cNvPr id="19" name="Shape 17"/>
          <p:cNvSpPr/>
          <p:nvPr/>
        </p:nvSpPr>
        <p:spPr>
          <a:xfrm>
            <a:off x="594360" y="3520440"/>
            <a:ext cx="45720" cy="658368"/>
          </a:xfrm>
          <a:prstGeom prst="rect">
            <a:avLst/>
          </a:prstGeom>
          <a:solidFill>
            <a:srgbClr val="B02532"/>
          </a:solidFill>
          <a:ln w="12700">
            <a:solidFill>
              <a:srgbClr val="B02532"/>
            </a:solidFill>
            <a:prstDash val="solid"/>
          </a:ln>
        </p:spPr>
        <p:txBody>
          <a:bodyPr/>
          <a:p/>
        </p:txBody>
      </p:sp>
      <p:sp>
        <p:nvSpPr>
          <p:cNvPr id="20" name="Text 18"/>
          <p:cNvSpPr/>
          <p:nvPr/>
        </p:nvSpPr>
        <p:spPr>
          <a:xfrm>
            <a:off x="731520" y="3520440"/>
            <a:ext cx="21031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Un comunicat de două rânduri</a:t>
            </a:r>
            <a:endParaRPr lang="en-US" sz="1400" dirty="0"/>
          </a:p>
        </p:txBody>
      </p:sp>
      <p:sp>
        <p:nvSpPr>
          <p:cNvPr id="21" name="Shape 19"/>
          <p:cNvSpPr/>
          <p:nvPr/>
        </p:nvSpPr>
        <p:spPr>
          <a:xfrm>
            <a:off x="2880360" y="3520440"/>
            <a:ext cx="45720" cy="658368"/>
          </a:xfrm>
          <a:prstGeom prst="rect">
            <a:avLst/>
          </a:prstGeom>
          <a:solidFill>
            <a:srgbClr val="8A6100"/>
          </a:solidFill>
          <a:ln w="12700">
            <a:solidFill>
              <a:srgbClr val="8A6100"/>
            </a:solidFill>
            <a:prstDash val="solid"/>
          </a:ln>
        </p:spPr>
        <p:txBody>
          <a:bodyPr/>
          <a:p/>
        </p:txBody>
      </p:sp>
      <p:sp>
        <p:nvSpPr>
          <p:cNvPr id="22" name="Text 20"/>
          <p:cNvSpPr/>
          <p:nvPr/>
        </p:nvSpPr>
        <p:spPr>
          <a:xfrm>
            <a:off x="3017520" y="3520440"/>
            <a:ext cx="30175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O cerere refuzată; comitetul cu roluri</a:t>
            </a:r>
            <a:endParaRPr lang="en-US" sz="1400" dirty="0"/>
          </a:p>
        </p:txBody>
      </p:sp>
      <p:sp>
        <p:nvSpPr>
          <p:cNvPr id="23" name="Shape 21"/>
          <p:cNvSpPr/>
          <p:nvPr/>
        </p:nvSpPr>
        <p:spPr>
          <a:xfrm>
            <a:off x="6537960" y="3520440"/>
            <a:ext cx="45720" cy="658368"/>
          </a:xfrm>
          <a:prstGeom prst="rect">
            <a:avLst/>
          </a:prstGeom>
          <a:solidFill>
            <a:srgbClr val="0E7C6B"/>
          </a:solidFill>
          <a:ln w="12700">
            <a:solidFill>
              <a:srgbClr val="0E7C6B"/>
            </a:solidFill>
            <a:prstDash val="solid"/>
          </a:ln>
        </p:spPr>
        <p:txBody>
          <a:bodyPr/>
          <a:p/>
        </p:txBody>
      </p:sp>
      <p:sp>
        <p:nvSpPr>
          <p:cNvPr id="24" name="Text 22"/>
          <p:cNvSpPr/>
          <p:nvPr/>
        </p:nvSpPr>
        <p:spPr>
          <a:xfrm>
            <a:off x="6675120" y="3520440"/>
            <a:ext cx="30175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Ce ar urma; „să facem ca Georgia”</a:t>
            </a:r>
            <a:endParaRPr lang="en-US" sz="1400" dirty="0"/>
          </a:p>
        </p:txBody>
      </p:sp>
      <p:sp>
        <p:nvSpPr>
          <p:cNvPr id="25" name="Shape 23"/>
          <p:cNvSpPr/>
          <p:nvPr/>
        </p:nvSpPr>
        <p:spPr>
          <a:xfrm>
            <a:off x="9738360" y="3520440"/>
            <a:ext cx="45720" cy="658368"/>
          </a:xfrm>
          <a:prstGeom prst="rect">
            <a:avLst/>
          </a:prstGeom>
          <a:solidFill>
            <a:srgbClr val="4A2D8C"/>
          </a:solidFill>
          <a:ln w="12700">
            <a:solidFill>
              <a:srgbClr val="4A2D8C"/>
            </a:solidFill>
            <a:prstDash val="solid"/>
          </a:ln>
        </p:spPr>
        <p:txBody>
          <a:bodyPr/>
          <a:p/>
        </p:txBody>
      </p:sp>
      <p:sp>
        <p:nvSpPr>
          <p:cNvPr id="26" name="Text 24"/>
          <p:cNvSpPr/>
          <p:nvPr/>
        </p:nvSpPr>
        <p:spPr>
          <a:xfrm>
            <a:off x="9875520" y="3520440"/>
            <a:ext cx="1645920" cy="118872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Luni dimineață; Kahoot</a:t>
            </a:r>
            <a:endParaRPr lang="en-US" sz="1400" dirty="0"/>
          </a:p>
        </p:txBody>
      </p:sp>
      <p:sp>
        <p:nvSpPr>
          <p:cNvPr id="27" name="Text 25"/>
          <p:cNvSpPr/>
          <p:nvPr/>
        </p:nvSpPr>
        <p:spPr>
          <a:xfrm>
            <a:off x="594360" y="5074920"/>
            <a:ext cx="10972800" cy="457200"/>
          </a:xfrm>
          <a:prstGeom prst="rect">
            <a:avLst/>
          </a:prstGeom>
          <a:noFill/>
          <a:ln/>
        </p:spPr>
        <p:txBody>
          <a:bodyPr wrap="square" lIns="0" tIns="0" rIns="0" bIns="0" rtlCol="0" anchor="t"/>
          <a:lstStyle/>
          <a:p>
            <a:pPr indent="0" marL="0">
              <a:buNone/>
            </a:pPr>
            <a:r>
              <a:rPr lang="en-US" sz="1700" b="1" i="1" dirty="0">
                <a:solidFill>
                  <a:srgbClr val="B02532"/>
                </a:solidFill>
                <a:latin typeface="Palatino Linotype" pitchFamily="34" charset="0"/>
                <a:ea typeface="Palatino Linotype" pitchFamily="34" charset="-122"/>
                <a:cs typeface="Palatino Linotype" pitchFamily="34" charset="-120"/>
              </a:rPr>
              <a:t>Termenii noi de azi: transparența · responsabilizarea · informația de interes public.</a:t>
            </a:r>
            <a:endParaRPr lang="en-US" sz="1700" dirty="0"/>
          </a:p>
        </p:txBody>
      </p:sp>
      <p:sp>
        <p:nvSpPr>
          <p:cNvPr id="28" name="Text 26"/>
          <p:cNvSpPr/>
          <p:nvPr/>
        </p:nvSpPr>
        <p:spPr>
          <a:xfrm>
            <a:off x="594360" y="5577840"/>
            <a:ext cx="10972800" cy="4114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Jumătate din timp lucrați voi.</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VOTUL 1</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PRIMA DECIZIE · SINGURI, FĂRĂ DISCUȚIE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Comunicatul spune că totul este public. A fost suficient?</a:t>
            </a:r>
            <a:endParaRPr lang="en-US" sz="2700" dirty="0"/>
          </a:p>
        </p:txBody>
      </p:sp>
      <p:sp>
        <p:nvSpPr>
          <p:cNvPr id="6" name="Shape 4"/>
          <p:cNvSpPr/>
          <p:nvPr/>
        </p:nvSpPr>
        <p:spPr>
          <a:xfrm>
            <a:off x="594360" y="16002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7" name="Shape 5"/>
          <p:cNvSpPr/>
          <p:nvPr/>
        </p:nvSpPr>
        <p:spPr>
          <a:xfrm>
            <a:off x="914400" y="1783080"/>
            <a:ext cx="420624" cy="420624"/>
          </a:xfrm>
          <a:prstGeom prst="ellipse">
            <a:avLst/>
          </a:prstGeom>
          <a:solidFill>
            <a:srgbClr val="FFC24B"/>
          </a:solidFill>
          <a:ln/>
        </p:spPr>
        <p:txBody>
          <a:bodyPr/>
          <a:p/>
        </p:txBody>
      </p:sp>
      <p:sp>
        <p:nvSpPr>
          <p:cNvPr id="8" name="Text 6"/>
          <p:cNvSpPr/>
          <p:nvPr/>
        </p:nvSpPr>
        <p:spPr>
          <a:xfrm>
            <a:off x="914400" y="1783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600200"/>
            <a:ext cx="73152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Da: legea cere publicarea, iar spitalul a publicat.</a:t>
            </a:r>
            <a:endParaRPr lang="en-US" sz="1650" dirty="0"/>
          </a:p>
        </p:txBody>
      </p:sp>
      <p:sp>
        <p:nvSpPr>
          <p:cNvPr id="10" name="Shape 8"/>
          <p:cNvSpPr/>
          <p:nvPr/>
        </p:nvSpPr>
        <p:spPr>
          <a:xfrm>
            <a:off x="594360" y="25146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1" name="Shape 9"/>
          <p:cNvSpPr/>
          <p:nvPr/>
        </p:nvSpPr>
        <p:spPr>
          <a:xfrm>
            <a:off x="914400" y="2697480"/>
            <a:ext cx="420624" cy="420624"/>
          </a:xfrm>
          <a:prstGeom prst="ellipse">
            <a:avLst/>
          </a:prstGeom>
          <a:solidFill>
            <a:srgbClr val="FFC24B"/>
          </a:solidFill>
          <a:ln/>
        </p:spPr>
        <p:txBody>
          <a:bodyPr/>
          <a:p/>
        </p:txBody>
      </p:sp>
      <p:sp>
        <p:nvSpPr>
          <p:cNvPr id="12" name="Text 10"/>
          <p:cNvSpPr/>
          <p:nvPr/>
        </p:nvSpPr>
        <p:spPr>
          <a:xfrm>
            <a:off x="914400" y="2697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514600"/>
            <a:ext cx="73152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Nu: cineva cu putere de decizie trebuie să explice și să răspundă, iar o autoritate trebuie să verifice.</a:t>
            </a:r>
            <a:endParaRPr lang="en-US" sz="1650" dirty="0"/>
          </a:p>
        </p:txBody>
      </p:sp>
      <p:sp>
        <p:nvSpPr>
          <p:cNvPr id="14" name="Shape 12"/>
          <p:cNvSpPr/>
          <p:nvPr/>
        </p:nvSpPr>
        <p:spPr>
          <a:xfrm>
            <a:off x="594360" y="34290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5" name="Shape 13"/>
          <p:cNvSpPr/>
          <p:nvPr/>
        </p:nvSpPr>
        <p:spPr>
          <a:xfrm>
            <a:off x="914400" y="3611880"/>
            <a:ext cx="420624" cy="420624"/>
          </a:xfrm>
          <a:prstGeom prst="ellipse">
            <a:avLst/>
          </a:prstGeom>
          <a:solidFill>
            <a:srgbClr val="FFC24B"/>
          </a:solidFill>
          <a:ln/>
        </p:spPr>
        <p:txBody>
          <a:bodyPr/>
          <a:p/>
        </p:txBody>
      </p:sp>
      <p:sp>
        <p:nvSpPr>
          <p:cNvPr id="16" name="Text 14"/>
          <p:cNvSpPr/>
          <p:nvPr/>
        </p:nvSpPr>
        <p:spPr>
          <a:xfrm>
            <a:off x="91440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429000"/>
            <a:ext cx="73152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Nu: șefa comisiei trebuie demisă chiar azi.</a:t>
            </a:r>
            <a:endParaRPr lang="en-US" sz="1650" dirty="0"/>
          </a:p>
        </p:txBody>
      </p:sp>
      <p:sp>
        <p:nvSpPr>
          <p:cNvPr id="18" name="Shape 16"/>
          <p:cNvSpPr/>
          <p:nvPr/>
        </p:nvSpPr>
        <p:spPr>
          <a:xfrm>
            <a:off x="594360" y="43434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9" name="Shape 17"/>
          <p:cNvSpPr/>
          <p:nvPr/>
        </p:nvSpPr>
        <p:spPr>
          <a:xfrm>
            <a:off x="914400" y="4526280"/>
            <a:ext cx="420624" cy="420624"/>
          </a:xfrm>
          <a:prstGeom prst="ellipse">
            <a:avLst/>
          </a:prstGeom>
          <a:solidFill>
            <a:srgbClr val="FFC24B"/>
          </a:solidFill>
          <a:ln/>
        </p:spPr>
        <p:txBody>
          <a:bodyPr/>
          <a:p/>
        </p:txBody>
      </p:sp>
      <p:sp>
        <p:nvSpPr>
          <p:cNvPr id="20" name="Text 18"/>
          <p:cNvSpPr/>
          <p:nvPr/>
        </p:nvSpPr>
        <p:spPr>
          <a:xfrm>
            <a:off x="914400" y="4526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343400"/>
            <a:ext cx="73152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Depinde dacă firma C a vândut mai scump decât alții.</a:t>
            </a:r>
            <a:endParaRPr lang="en-US" sz="1650" dirty="0"/>
          </a:p>
        </p:txBody>
      </p:sp>
      <p:sp>
        <p:nvSpPr>
          <p:cNvPr id="22" name="Shape 20"/>
          <p:cNvSpPr/>
          <p:nvPr/>
        </p:nvSpPr>
        <p:spPr>
          <a:xfrm>
            <a:off x="9509760" y="1600200"/>
            <a:ext cx="2057400" cy="1828800"/>
          </a:xfrm>
          <a:prstGeom prst="roundRect">
            <a:avLst>
              <a:gd name="adj" fmla="val 4500"/>
            </a:avLst>
          </a:prstGeom>
          <a:solidFill>
            <a:srgbClr val="FFFFFF"/>
          </a:solidFill>
          <a:ln w="12700">
            <a:solidFill>
              <a:srgbClr val="FFFFFF"/>
            </a:solidFill>
            <a:prstDash val="solid"/>
          </a:ln>
        </p:spPr>
        <p:txBody>
          <a:bodyPr/>
          <a:p/>
        </p:txBody>
      </p:sp>
      <p:sp>
        <p:nvSpPr>
          <p:cNvPr id="24" name="Text 22"/>
          <p:cNvSpPr/>
          <p:nvPr/>
        </p:nvSpPr>
        <p:spPr>
          <a:xfrm>
            <a:off x="594360" y="5669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pic>
        <p:nvPicPr>
          <p:cNvPr id="25" name="Picture 24" descr="Mentimeter_OPT_PLIC_C05.png"/>
          <p:cNvPicPr>
            <a:picLocks noChangeAspect="1"/>
          </p:cNvPicPr>
          <p:nvPr/>
        </p:nvPicPr>
        <p:blipFill>
          <a:blip r:embed="rId3"/>
          <a:stretch>
            <a:fillRect/>
          </a:stretch>
        </p:blipFill>
        <p:spPr>
          <a:xfrm>
            <a:off x="9841229" y="1600200"/>
            <a:ext cx="1394461" cy="1394461"/>
          </a:xfrm>
          <a:prstGeom prst="rect">
            <a:avLst/>
          </a:prstGeom>
        </p:spPr>
      </p:pic>
      <p:sp>
        <p:nvSpPr>
          <p:cNvPr id="26" name="TextBox 25"/>
          <p:cNvSpPr txBox="1"/>
          <p:nvPr/>
        </p:nvSpPr>
        <p:spPr>
          <a:xfrm>
            <a:off x="9509760" y="30327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AL DOILEA 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DUPĂ ARGUMENTELE DIN CHAT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Comunicatul spune că totul este public. A fost suficient?</a:t>
            </a:r>
            <a:endParaRPr lang="en-US" sz="2700" dirty="0"/>
          </a:p>
        </p:txBody>
      </p:sp>
      <p:sp>
        <p:nvSpPr>
          <p:cNvPr id="6" name="Shape 4"/>
          <p:cNvSpPr/>
          <p:nvPr/>
        </p:nvSpPr>
        <p:spPr>
          <a:xfrm>
            <a:off x="594360" y="16002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7" name="Shape 5"/>
          <p:cNvSpPr/>
          <p:nvPr/>
        </p:nvSpPr>
        <p:spPr>
          <a:xfrm>
            <a:off x="914400" y="1783080"/>
            <a:ext cx="420624" cy="420624"/>
          </a:xfrm>
          <a:prstGeom prst="ellipse">
            <a:avLst/>
          </a:prstGeom>
          <a:solidFill>
            <a:srgbClr val="FFC24B"/>
          </a:solidFill>
          <a:ln/>
        </p:spPr>
        <p:txBody>
          <a:bodyPr/>
          <a:p/>
        </p:txBody>
      </p:sp>
      <p:sp>
        <p:nvSpPr>
          <p:cNvPr id="8" name="Text 6"/>
          <p:cNvSpPr/>
          <p:nvPr/>
        </p:nvSpPr>
        <p:spPr>
          <a:xfrm>
            <a:off x="914400" y="1783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600200"/>
            <a:ext cx="73152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Da: legea cere publicarea, iar spitalul a publicat.</a:t>
            </a:r>
            <a:endParaRPr lang="en-US" sz="1650" dirty="0"/>
          </a:p>
        </p:txBody>
      </p:sp>
      <p:sp>
        <p:nvSpPr>
          <p:cNvPr id="10" name="Shape 8"/>
          <p:cNvSpPr/>
          <p:nvPr/>
        </p:nvSpPr>
        <p:spPr>
          <a:xfrm>
            <a:off x="594360" y="25146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1" name="Shape 9"/>
          <p:cNvSpPr/>
          <p:nvPr/>
        </p:nvSpPr>
        <p:spPr>
          <a:xfrm>
            <a:off x="914400" y="2697480"/>
            <a:ext cx="420624" cy="420624"/>
          </a:xfrm>
          <a:prstGeom prst="ellipse">
            <a:avLst/>
          </a:prstGeom>
          <a:solidFill>
            <a:srgbClr val="FFC24B"/>
          </a:solidFill>
          <a:ln/>
        </p:spPr>
        <p:txBody>
          <a:bodyPr/>
          <a:p/>
        </p:txBody>
      </p:sp>
      <p:sp>
        <p:nvSpPr>
          <p:cNvPr id="12" name="Text 10"/>
          <p:cNvSpPr/>
          <p:nvPr/>
        </p:nvSpPr>
        <p:spPr>
          <a:xfrm>
            <a:off x="914400" y="2697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514600"/>
            <a:ext cx="73152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Nu: cineva cu putere de decizie trebuie să explice și să răspundă, iar o autoritate trebuie să verifice.</a:t>
            </a:r>
            <a:endParaRPr lang="en-US" sz="1650" dirty="0"/>
          </a:p>
        </p:txBody>
      </p:sp>
      <p:sp>
        <p:nvSpPr>
          <p:cNvPr id="14" name="Shape 12"/>
          <p:cNvSpPr/>
          <p:nvPr/>
        </p:nvSpPr>
        <p:spPr>
          <a:xfrm>
            <a:off x="594360" y="34290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5" name="Shape 13"/>
          <p:cNvSpPr/>
          <p:nvPr/>
        </p:nvSpPr>
        <p:spPr>
          <a:xfrm>
            <a:off x="914400" y="3611880"/>
            <a:ext cx="420624" cy="420624"/>
          </a:xfrm>
          <a:prstGeom prst="ellipse">
            <a:avLst/>
          </a:prstGeom>
          <a:solidFill>
            <a:srgbClr val="FFC24B"/>
          </a:solidFill>
          <a:ln/>
        </p:spPr>
        <p:txBody>
          <a:bodyPr/>
          <a:p/>
        </p:txBody>
      </p:sp>
      <p:sp>
        <p:nvSpPr>
          <p:cNvPr id="16" name="Text 14"/>
          <p:cNvSpPr/>
          <p:nvPr/>
        </p:nvSpPr>
        <p:spPr>
          <a:xfrm>
            <a:off x="91440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429000"/>
            <a:ext cx="73152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Nu: șefa comisiei trebuie demisă chiar azi.</a:t>
            </a:r>
            <a:endParaRPr lang="en-US" sz="1650" dirty="0"/>
          </a:p>
        </p:txBody>
      </p:sp>
      <p:sp>
        <p:nvSpPr>
          <p:cNvPr id="18" name="Shape 16"/>
          <p:cNvSpPr/>
          <p:nvPr/>
        </p:nvSpPr>
        <p:spPr>
          <a:xfrm>
            <a:off x="594360" y="43434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9" name="Shape 17"/>
          <p:cNvSpPr/>
          <p:nvPr/>
        </p:nvSpPr>
        <p:spPr>
          <a:xfrm>
            <a:off x="914400" y="4526280"/>
            <a:ext cx="420624" cy="420624"/>
          </a:xfrm>
          <a:prstGeom prst="ellipse">
            <a:avLst/>
          </a:prstGeom>
          <a:solidFill>
            <a:srgbClr val="FFC24B"/>
          </a:solidFill>
          <a:ln/>
        </p:spPr>
        <p:txBody>
          <a:bodyPr/>
          <a:p/>
        </p:txBody>
      </p:sp>
      <p:sp>
        <p:nvSpPr>
          <p:cNvPr id="20" name="Text 18"/>
          <p:cNvSpPr/>
          <p:nvPr/>
        </p:nvSpPr>
        <p:spPr>
          <a:xfrm>
            <a:off x="914400" y="4526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343400"/>
            <a:ext cx="73152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Depinde dacă firma C a vândut mai scump decât alții.</a:t>
            </a:r>
            <a:endParaRPr lang="en-US" sz="1650" dirty="0"/>
          </a:p>
        </p:txBody>
      </p:sp>
      <p:sp>
        <p:nvSpPr>
          <p:cNvPr id="22" name="Shape 20"/>
          <p:cNvSpPr/>
          <p:nvPr/>
        </p:nvSpPr>
        <p:spPr>
          <a:xfrm>
            <a:off x="9509760" y="1600200"/>
            <a:ext cx="2057400" cy="1828800"/>
          </a:xfrm>
          <a:prstGeom prst="roundRect">
            <a:avLst>
              <a:gd name="adj" fmla="val 4500"/>
            </a:avLst>
          </a:prstGeom>
          <a:solidFill>
            <a:srgbClr val="FFFFFF"/>
          </a:solidFill>
          <a:ln w="12700">
            <a:solidFill>
              <a:srgbClr val="FFFFFF"/>
            </a:solidFill>
            <a:prstDash val="solid"/>
          </a:ln>
        </p:spPr>
        <p:txBody>
          <a:bodyPr/>
          <a:p/>
        </p:txBody>
      </p:sp>
      <p:sp>
        <p:nvSpPr>
          <p:cNvPr id="24" name="Text 22"/>
          <p:cNvSpPr/>
          <p:nvPr/>
        </p:nvSpPr>
        <p:spPr>
          <a:xfrm>
            <a:off x="594360" y="5669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la cod sau din linkul din chat.</a:t>
            </a:r>
            <a:endParaRPr lang="en-US" sz="1600" dirty="0"/>
          </a:p>
        </p:txBody>
      </p:sp>
      <p:pic>
        <p:nvPicPr>
          <p:cNvPr id="25" name="Picture 24" descr="Mentimeter_OPT_PLIC_C05.png"/>
          <p:cNvPicPr>
            <a:picLocks noChangeAspect="1"/>
          </p:cNvPicPr>
          <p:nvPr/>
        </p:nvPicPr>
        <p:blipFill>
          <a:blip r:embed="rId3"/>
          <a:stretch>
            <a:fillRect/>
          </a:stretch>
        </p:blipFill>
        <p:spPr>
          <a:xfrm>
            <a:off x="9841229" y="1600200"/>
            <a:ext cx="1394461" cy="1394461"/>
          </a:xfrm>
          <a:prstGeom prst="rect">
            <a:avLst/>
          </a:prstGeom>
        </p:spPr>
      </p:pic>
      <p:sp>
        <p:nvSpPr>
          <p:cNvPr id="26" name="TextBox 25"/>
          <p:cNvSpPr txBox="1"/>
          <p:nvPr/>
        </p:nvSpPr>
        <p:spPr>
          <a:xfrm>
            <a:off x="9509760" y="30327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PRIMA DECIZIE · CELE DOUĂ VOTURI, ALĂTURI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s-a schimbat după discuție?</a:t>
            </a:r>
            <a:endParaRPr lang="en-US" sz="3200" dirty="0"/>
          </a:p>
        </p:txBody>
      </p:sp>
      <p:sp>
        <p:nvSpPr>
          <p:cNvPr id="4" name="Shape 2"/>
          <p:cNvSpPr/>
          <p:nvPr/>
        </p:nvSpPr>
        <p:spPr>
          <a:xfrm>
            <a:off x="594360" y="1600200"/>
            <a:ext cx="5349240" cy="2743200"/>
          </a:xfrm>
          <a:prstGeom prst="roundRect">
            <a:avLst>
              <a:gd name="adj" fmla="val 3000"/>
            </a:avLst>
          </a:prstGeom>
          <a:solidFill>
            <a:srgbClr val="1D1F2B"/>
          </a:solidFill>
          <a:ln w="12700">
            <a:solidFill>
              <a:srgbClr val="1D1F2B"/>
            </a:solidFill>
            <a:prstDash val="solid"/>
          </a:ln>
        </p:spPr>
        <p:txBody>
          <a:bodyPr/>
          <a:p/>
        </p:txBody>
      </p:sp>
      <p:sp>
        <p:nvSpPr>
          <p:cNvPr id="5" name="Text 3"/>
          <p:cNvSpPr/>
          <p:nvPr/>
        </p:nvSpPr>
        <p:spPr>
          <a:xfrm>
            <a:off x="868680" y="1783080"/>
            <a:ext cx="4846320" cy="310896"/>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PRIMUL VOT</a:t>
            </a:r>
            <a:endParaRPr lang="en-US" sz="1300" dirty="0"/>
          </a:p>
        </p:txBody>
      </p:sp>
      <p:sp>
        <p:nvSpPr>
          <p:cNvPr id="6" name="Text 4"/>
          <p:cNvSpPr/>
          <p:nvPr/>
        </p:nvSpPr>
        <p:spPr>
          <a:xfrm>
            <a:off x="868680" y="2194560"/>
            <a:ext cx="4846320" cy="2011680"/>
          </a:xfrm>
          <a:prstGeom prst="rect">
            <a:avLst/>
          </a:prstGeom>
          <a:noFill/>
          <a:ln/>
        </p:spPr>
        <p:txBody>
          <a:bodyPr wrap="square" lIns="0" tIns="0" rIns="0" bIns="0" rtlCol="0" anchor="ctr"/>
          <a:lstStyle/>
          <a:p>
            <a:pPr algn="ctr" indent="0" marL="0">
              <a:buNone/>
            </a:pPr>
            <a:r>
              <a:rPr lang="en-US" sz="1400" i="1" dirty="0">
                <a:solidFill>
                  <a:srgbClr val="959BB0"/>
                </a:solidFill>
                <a:latin typeface="Palatino Linotype" pitchFamily="34" charset="0"/>
                <a:ea typeface="Palatino Linotype" pitchFamily="34" charset="-122"/>
                <a:cs typeface="Palatino Linotype" pitchFamily="34" charset="-120"/>
              </a:rPr>
              <a:t>[distribuția primului vot, din Mentimeter]</a:t>
            </a:r>
            <a:endParaRPr lang="en-US" sz="1400" dirty="0"/>
          </a:p>
        </p:txBody>
      </p:sp>
      <p:sp>
        <p:nvSpPr>
          <p:cNvPr id="7" name="Shape 5"/>
          <p:cNvSpPr/>
          <p:nvPr/>
        </p:nvSpPr>
        <p:spPr>
          <a:xfrm>
            <a:off x="6217920" y="1600200"/>
            <a:ext cx="5349240" cy="2743200"/>
          </a:xfrm>
          <a:prstGeom prst="roundRect">
            <a:avLst>
              <a:gd name="adj" fmla="val 3000"/>
            </a:avLst>
          </a:prstGeom>
          <a:solidFill>
            <a:srgbClr val="1D1F2B"/>
          </a:solidFill>
          <a:ln w="12700">
            <a:solidFill>
              <a:srgbClr val="1D1F2B"/>
            </a:solidFill>
            <a:prstDash val="solid"/>
          </a:ln>
        </p:spPr>
        <p:txBody>
          <a:bodyPr/>
          <a:p/>
        </p:txBody>
      </p:sp>
      <p:sp>
        <p:nvSpPr>
          <p:cNvPr id="8" name="Text 6"/>
          <p:cNvSpPr/>
          <p:nvPr/>
        </p:nvSpPr>
        <p:spPr>
          <a:xfrm>
            <a:off x="6492240" y="1783080"/>
            <a:ext cx="4846320" cy="310896"/>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DUPĂ DISCUȚIE</a:t>
            </a:r>
            <a:endParaRPr lang="en-US" sz="1300" dirty="0"/>
          </a:p>
        </p:txBody>
      </p:sp>
      <p:sp>
        <p:nvSpPr>
          <p:cNvPr id="9" name="Text 7"/>
          <p:cNvSpPr/>
          <p:nvPr/>
        </p:nvSpPr>
        <p:spPr>
          <a:xfrm>
            <a:off x="6492240" y="2194560"/>
            <a:ext cx="4846320" cy="2011680"/>
          </a:xfrm>
          <a:prstGeom prst="rect">
            <a:avLst/>
          </a:prstGeom>
          <a:noFill/>
          <a:ln/>
        </p:spPr>
        <p:txBody>
          <a:bodyPr wrap="square" lIns="0" tIns="0" rIns="0" bIns="0" rtlCol="0" anchor="ctr"/>
          <a:lstStyle/>
          <a:p>
            <a:pPr algn="ctr" indent="0" marL="0">
              <a:buNone/>
            </a:pPr>
            <a:r>
              <a:rPr lang="en-US" sz="1400" i="1" dirty="0">
                <a:solidFill>
                  <a:srgbClr val="959BB0"/>
                </a:solidFill>
                <a:latin typeface="Palatino Linotype" pitchFamily="34" charset="0"/>
                <a:ea typeface="Palatino Linotype" pitchFamily="34" charset="-122"/>
                <a:cs typeface="Palatino Linotype" pitchFamily="34" charset="-120"/>
              </a:rPr>
              <a:t>[distribuția celui de-al doilea vot, din Mentimeter]</a:t>
            </a:r>
            <a:endParaRPr lang="en-US" sz="1400" dirty="0"/>
          </a:p>
        </p:txBody>
      </p:sp>
      <p:sp>
        <p:nvSpPr>
          <p:cNvPr id="10" name="Shape 8"/>
          <p:cNvSpPr/>
          <p:nvPr/>
        </p:nvSpPr>
        <p:spPr>
          <a:xfrm>
            <a:off x="594360" y="4572000"/>
            <a:ext cx="10972800" cy="1325880"/>
          </a:xfrm>
          <a:prstGeom prst="roundRect">
            <a:avLst>
              <a:gd name="adj" fmla="val 6207"/>
            </a:avLst>
          </a:prstGeom>
          <a:solidFill>
            <a:srgbClr val="FFC24B"/>
          </a:solidFill>
          <a:ln w="12700">
            <a:solidFill>
              <a:srgbClr val="FFC24B"/>
            </a:solidFill>
            <a:prstDash val="solid"/>
          </a:ln>
        </p:spPr>
        <p:txBody>
          <a:bodyPr/>
          <a:p/>
        </p:txBody>
      </p:sp>
      <p:sp>
        <p:nvSpPr>
          <p:cNvPr id="11" name="Text 9"/>
          <p:cNvSpPr/>
          <p:nvPr/>
        </p:nvSpPr>
        <p:spPr>
          <a:xfrm>
            <a:off x="868680" y="4572000"/>
            <a:ext cx="10424160" cy="1325880"/>
          </a:xfrm>
          <a:prstGeom prst="rect">
            <a:avLst/>
          </a:prstGeom>
          <a:noFill/>
          <a:ln/>
        </p:spPr>
        <p:txBody>
          <a:bodyPr wrap="square" lIns="0" tIns="0" rIns="0" bIns="0" rtlCol="0" anchor="ctr"/>
          <a:lstStyle/>
          <a:p>
            <a:pPr indent="0" marL="0">
              <a:buNone/>
            </a:pPr>
            <a:r>
              <a:rPr lang="en-US" sz="2000" b="1" dirty="0">
                <a:solidFill>
                  <a:srgbClr val="3D2A00"/>
                </a:solidFill>
                <a:latin typeface="Palatino Linotype" pitchFamily="34" charset="0"/>
                <a:ea typeface="Palatino Linotype" pitchFamily="34" charset="-122"/>
                <a:cs typeface="Palatino Linotype" pitchFamily="34" charset="-120"/>
              </a:rPr>
              <a:t>Titlul ședinței răspunde deja: publicarea nu este același lucru cu responsabilizarea. Restul ședinței arată de ce.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Transparența</a:t>
            </a:r>
            <a:endParaRPr lang="en-US" sz="3600" dirty="0"/>
          </a:p>
        </p:txBody>
      </p:sp>
      <p:sp>
        <p:nvSpPr>
          <p:cNvPr id="4" name="Shape 2"/>
          <p:cNvSpPr/>
          <p:nvPr/>
        </p:nvSpPr>
        <p:spPr>
          <a:xfrm>
            <a:off x="594360" y="1691640"/>
            <a:ext cx="6035040" cy="3017520"/>
          </a:xfrm>
          <a:prstGeom prst="roundRect">
            <a:avLst>
              <a:gd name="adj" fmla="val 2727"/>
            </a:avLst>
          </a:prstGeom>
          <a:solidFill>
            <a:srgbClr val="ECEAE4"/>
          </a:solidFill>
          <a:ln w="12700">
            <a:solidFill>
              <a:srgbClr val="ECEAE4"/>
            </a:solidFill>
            <a:prstDash val="solid"/>
          </a:ln>
        </p:spPr>
        <p:txBody>
          <a:bodyPr/>
          <a:p/>
        </p:txBody>
      </p:sp>
      <p:sp>
        <p:nvSpPr>
          <p:cNvPr id="5" name="Shape 3"/>
          <p:cNvSpPr/>
          <p:nvPr/>
        </p:nvSpPr>
        <p:spPr>
          <a:xfrm>
            <a:off x="594360" y="1691640"/>
            <a:ext cx="109728" cy="3017520"/>
          </a:xfrm>
          <a:prstGeom prst="rect">
            <a:avLst/>
          </a:prstGeom>
          <a:solidFill>
            <a:srgbClr val="B02532"/>
          </a:solidFill>
          <a:ln w="12700">
            <a:solidFill>
              <a:srgbClr val="333333"/>
            </a:solidFill>
            <a:prstDash val="solid"/>
          </a:ln>
        </p:spPr>
        <p:txBody>
          <a:bodyPr/>
          <a:p/>
        </p:txBody>
      </p:sp>
      <p:sp>
        <p:nvSpPr>
          <p:cNvPr id="6" name="Text 4"/>
          <p:cNvSpPr/>
          <p:nvPr/>
        </p:nvSpPr>
        <p:spPr>
          <a:xfrm>
            <a:off x="960120" y="1874520"/>
            <a:ext cx="5486400" cy="173736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Oamenii pot afla cum și de ce o instituție publică a luat o decizie: după ce reguli, pe ce criterii, cu ce dovezi și cu ce rezultat.</a:t>
            </a:r>
            <a:endParaRPr lang="en-US" sz="1900" dirty="0"/>
          </a:p>
        </p:txBody>
      </p:sp>
      <p:sp>
        <p:nvSpPr>
          <p:cNvPr id="7" name="Text 5"/>
          <p:cNvSpPr/>
          <p:nvPr/>
        </p:nvSpPr>
        <p:spPr>
          <a:xfrm>
            <a:off x="960120" y="3703320"/>
            <a:ext cx="5486400" cy="822960"/>
          </a:xfrm>
          <a:prstGeom prst="rect">
            <a:avLst/>
          </a:prstGeom>
          <a:noFill/>
          <a:ln/>
        </p:spPr>
        <p:txBody>
          <a:bodyPr wrap="square" lIns="0" tIns="0" rIns="0" bIns="0" rtlCol="0" anchor="t"/>
          <a:lstStyle/>
          <a:p>
            <a:pPr indent="0" marL="0">
              <a:buNone/>
            </a:pPr>
            <a:r>
              <a:rPr lang="en-US" sz="1800" b="1" i="1" dirty="0">
                <a:solidFill>
                  <a:srgbClr val="B02532"/>
                </a:solidFill>
                <a:latin typeface="Palatino Linotype" pitchFamily="34" charset="0"/>
                <a:ea typeface="Palatino Linotype" pitchFamily="34" charset="-122"/>
                <a:cs typeface="Palatino Linotype" pitchFamily="34" charset="-120"/>
              </a:rPr>
              <a:t>În cuvinte de zi cu zi: puteți vedea ce s-a hotărât și de ce.</a:t>
            </a:r>
            <a:endParaRPr lang="en-US" sz="1800" dirty="0"/>
          </a:p>
        </p:txBody>
      </p:sp>
      <p:sp>
        <p:nvSpPr>
          <p:cNvPr id="8" name="Text 6"/>
          <p:cNvSpPr/>
          <p:nvPr/>
        </p:nvSpPr>
        <p:spPr>
          <a:xfrm>
            <a:off x="6949440" y="1737360"/>
            <a:ext cx="457200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DOUĂ FORME</a:t>
            </a:r>
            <a:endParaRPr lang="en-US" sz="1300" dirty="0"/>
          </a:p>
        </p:txBody>
      </p:sp>
      <p:sp>
        <p:nvSpPr>
          <p:cNvPr id="9" name="Shape 7"/>
          <p:cNvSpPr/>
          <p:nvPr/>
        </p:nvSpPr>
        <p:spPr>
          <a:xfrm>
            <a:off x="6949440" y="2331720"/>
            <a:ext cx="420624" cy="420624"/>
          </a:xfrm>
          <a:prstGeom prst="ellipse">
            <a:avLst/>
          </a:prstGeom>
          <a:solidFill>
            <a:srgbClr val="B02532"/>
          </a:solidFill>
          <a:ln/>
        </p:spPr>
        <p:txBody>
          <a:bodyPr/>
          <a:p/>
        </p:txBody>
      </p:sp>
      <p:sp>
        <p:nvSpPr>
          <p:cNvPr id="10" name="Text 8"/>
          <p:cNvSpPr/>
          <p:nvPr/>
        </p:nvSpPr>
        <p:spPr>
          <a:xfrm>
            <a:off x="6949440" y="23317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7589520" y="2194560"/>
            <a:ext cx="3977640" cy="9144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Din oficiu: instituția publică fără să i se ceară.</a:t>
            </a:r>
            <a:endParaRPr lang="en-US" sz="1700" dirty="0"/>
          </a:p>
        </p:txBody>
      </p:sp>
      <p:sp>
        <p:nvSpPr>
          <p:cNvPr id="12" name="Shape 10"/>
          <p:cNvSpPr/>
          <p:nvPr/>
        </p:nvSpPr>
        <p:spPr>
          <a:xfrm>
            <a:off x="6949440" y="3474720"/>
            <a:ext cx="420624" cy="420624"/>
          </a:xfrm>
          <a:prstGeom prst="ellipse">
            <a:avLst/>
          </a:prstGeom>
          <a:solidFill>
            <a:srgbClr val="B02532"/>
          </a:solidFill>
          <a:ln/>
        </p:spPr>
        <p:txBody>
          <a:bodyPr/>
          <a:p/>
        </p:txBody>
      </p:sp>
      <p:sp>
        <p:nvSpPr>
          <p:cNvPr id="13" name="Text 11"/>
          <p:cNvSpPr/>
          <p:nvPr/>
        </p:nvSpPr>
        <p:spPr>
          <a:xfrm>
            <a:off x="6949440" y="34747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7589520" y="3337560"/>
            <a:ext cx="3977640" cy="9144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cerere: instituția răspunde când îi cereți.</a:t>
            </a:r>
            <a:endParaRPr lang="en-US" sz="1700" dirty="0"/>
          </a:p>
        </p:txBody>
      </p:sp>
      <p:sp>
        <p:nvSpPr>
          <p:cNvPr id="15" name="Text 13"/>
          <p:cNvSpPr/>
          <p:nvPr/>
        </p:nvSpPr>
        <p:spPr>
          <a:xfrm>
            <a:off x="594360" y="5029200"/>
            <a:ext cx="10972800" cy="73152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Spitalul din caz era transparent în acest sens.</a:t>
            </a:r>
            <a:endParaRPr lang="en-US" sz="18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Definiția acestui curs, după Vian · A826.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CEREA LEGEA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Spitalul a publicat ce trebuia</a:t>
            </a:r>
            <a:endParaRPr lang="en-US" sz="3200" dirty="0"/>
          </a:p>
        </p:txBody>
      </p:sp>
      <p:sp>
        <p:nvSpPr>
          <p:cNvPr id="4" name="Shape 2"/>
          <p:cNvSpPr/>
          <p:nvPr/>
        </p:nvSpPr>
        <p:spPr>
          <a:xfrm>
            <a:off x="594360" y="1737360"/>
            <a:ext cx="5349240" cy="2743200"/>
          </a:xfrm>
          <a:prstGeom prst="roundRect">
            <a:avLst>
              <a:gd name="adj" fmla="val 3000"/>
            </a:avLst>
          </a:prstGeom>
          <a:solidFill>
            <a:srgbClr val="ECEAE4"/>
          </a:solidFill>
          <a:ln w="12700">
            <a:solidFill>
              <a:srgbClr val="ECEAE4"/>
            </a:solidFill>
            <a:prstDash val="solid"/>
          </a:ln>
        </p:spPr>
        <p:txBody>
          <a:bodyPr/>
          <a:p/>
        </p:txBody>
      </p:sp>
      <p:sp>
        <p:nvSpPr>
          <p:cNvPr id="5" name="Shape 3"/>
          <p:cNvSpPr/>
          <p:nvPr/>
        </p:nvSpPr>
        <p:spPr>
          <a:xfrm>
            <a:off x="594360" y="1737360"/>
            <a:ext cx="5349240" cy="73152"/>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965960"/>
            <a:ext cx="4800600" cy="4114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Legea nr. 544/2001</a:t>
            </a:r>
            <a:endParaRPr lang="en-US" sz="1600" dirty="0"/>
          </a:p>
        </p:txBody>
      </p:sp>
      <p:sp>
        <p:nvSpPr>
          <p:cNvPr id="7" name="Text 5"/>
          <p:cNvSpPr/>
          <p:nvPr/>
        </p:nvSpPr>
        <p:spPr>
          <a:xfrm>
            <a:off x="868680" y="2468880"/>
            <a:ext cx="4800600" cy="18745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Din oficiu, între altele: bugetul și bilanțul contabil, plus un buletin informativ actualizat în fiecare an.</a:t>
            </a:r>
            <a:endParaRPr lang="en-US" sz="1800" dirty="0"/>
          </a:p>
        </p:txBody>
      </p:sp>
      <p:sp>
        <p:nvSpPr>
          <p:cNvPr id="8" name="Shape 6"/>
          <p:cNvSpPr/>
          <p:nvPr/>
        </p:nvSpPr>
        <p:spPr>
          <a:xfrm>
            <a:off x="6217920" y="1737360"/>
            <a:ext cx="5349240" cy="2743200"/>
          </a:xfrm>
          <a:prstGeom prst="roundRect">
            <a:avLst>
              <a:gd name="adj" fmla="val 3000"/>
            </a:avLst>
          </a:prstGeom>
          <a:solidFill>
            <a:srgbClr val="ECEAE4"/>
          </a:solidFill>
          <a:ln w="12700">
            <a:solidFill>
              <a:srgbClr val="ECEAE4"/>
            </a:solidFill>
            <a:prstDash val="solid"/>
          </a:ln>
        </p:spPr>
        <p:txBody>
          <a:bodyPr/>
          <a:p/>
        </p:txBody>
      </p:sp>
      <p:sp>
        <p:nvSpPr>
          <p:cNvPr id="9" name="Shape 7"/>
          <p:cNvSpPr/>
          <p:nvPr/>
        </p:nvSpPr>
        <p:spPr>
          <a:xfrm>
            <a:off x="6217920" y="1737360"/>
            <a:ext cx="534924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6492240" y="1965960"/>
            <a:ext cx="4800600" cy="41148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Legea nr. 176/2010, a integrității</a:t>
            </a:r>
            <a:endParaRPr lang="en-US" sz="1600" dirty="0"/>
          </a:p>
        </p:txBody>
      </p:sp>
      <p:sp>
        <p:nvSpPr>
          <p:cNvPr id="11" name="Text 9"/>
          <p:cNvSpPr/>
          <p:nvPr/>
        </p:nvSpPr>
        <p:spPr>
          <a:xfrm>
            <a:off x="6492240" y="2468880"/>
            <a:ext cx="4800600" cy="18745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Declarațiile de avere și de interese, afișate pe site în cel mult 30 de zile și păstrate acolo încă 3 ani după funcție.</a:t>
            </a:r>
            <a:endParaRPr lang="en-US" sz="1800" dirty="0"/>
          </a:p>
        </p:txBody>
      </p:sp>
      <p:sp>
        <p:nvSpPr>
          <p:cNvPr id="12" name="Text 10"/>
          <p:cNvSpPr/>
          <p:nvPr/>
        </p:nvSpPr>
        <p:spPr>
          <a:xfrm>
            <a:off x="594360" y="4800600"/>
            <a:ext cx="10972800" cy="82296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Comunicatul are dreptate într-un punct: obligațiile de publicare au fost respectate.</a:t>
            </a:r>
            <a:endParaRPr lang="en-US" sz="20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544/2001; Legea nr. 176/2010 · A836, A707, A745.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ACHIZIȚIILOR PUBLICE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Publicarea nu era singura obligație</a:t>
            </a:r>
            <a:endParaRPr lang="en-US" sz="3200" dirty="0"/>
          </a:p>
        </p:txBody>
      </p:sp>
      <p:sp>
        <p:nvSpPr>
          <p:cNvPr id="4" name="Shape 2"/>
          <p:cNvSpPr/>
          <p:nvPr/>
        </p:nvSpPr>
        <p:spPr>
          <a:xfrm>
            <a:off x="594360" y="1691640"/>
            <a:ext cx="10972800" cy="1371600"/>
          </a:xfrm>
          <a:prstGeom prst="roundRect">
            <a:avLst>
              <a:gd name="adj" fmla="val 6000"/>
            </a:avLst>
          </a:prstGeom>
          <a:solidFill>
            <a:srgbClr val="ECEAE4"/>
          </a:solidFill>
          <a:ln w="12700">
            <a:solidFill>
              <a:srgbClr val="ECEAE4"/>
            </a:solidFill>
            <a:prstDash val="solid"/>
          </a:ln>
        </p:spPr>
        <p:txBody>
          <a:bodyPr/>
          <a:p/>
        </p:txBody>
      </p:sp>
      <p:sp>
        <p:nvSpPr>
          <p:cNvPr id="5" name="Text 3"/>
          <p:cNvSpPr/>
          <p:nvPr/>
        </p:nvSpPr>
        <p:spPr>
          <a:xfrm>
            <a:off x="868680" y="1691640"/>
            <a:ext cx="10424160" cy="13716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Pe parcursul procedurii, spitalul trebuie să ia toate măsurile pentru a preveni, identifica și remedia conflictele de interese.</a:t>
            </a:r>
            <a:endParaRPr lang="en-US" sz="1900" dirty="0"/>
          </a:p>
        </p:txBody>
      </p:sp>
      <p:sp>
        <p:nvSpPr>
          <p:cNvPr id="6" name="Shape 4"/>
          <p:cNvSpPr/>
          <p:nvPr/>
        </p:nvSpPr>
        <p:spPr>
          <a:xfrm>
            <a:off x="594360" y="3246120"/>
            <a:ext cx="10972800" cy="1371600"/>
          </a:xfrm>
          <a:prstGeom prst="roundRect">
            <a:avLst>
              <a:gd name="adj" fmla="val 6000"/>
            </a:avLst>
          </a:prstGeom>
          <a:solidFill>
            <a:srgbClr val="ECEAE4"/>
          </a:solidFill>
          <a:ln w="12700">
            <a:solidFill>
              <a:srgbClr val="ECEAE4"/>
            </a:solidFill>
            <a:prstDash val="solid"/>
          </a:ln>
        </p:spPr>
        <p:txBody>
          <a:bodyPr/>
          <a:p/>
        </p:txBody>
      </p:sp>
      <p:sp>
        <p:nvSpPr>
          <p:cNvPr id="7" name="Text 5"/>
          <p:cNvSpPr/>
          <p:nvPr/>
        </p:nvSpPr>
        <p:spPr>
          <a:xfrm>
            <a:off x="868680" y="3246120"/>
            <a:ext cx="10424160" cy="13716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Un evaluator al ofertelor care poate avea un interes financiar: spitalul stabilește dacă e conflict și îl înlătură, de pildă prin înlocuirea evaluatorului.</a:t>
            </a:r>
            <a:endParaRPr lang="en-US" sz="1900" dirty="0"/>
          </a:p>
        </p:txBody>
      </p:sp>
      <p:sp>
        <p:nvSpPr>
          <p:cNvPr id="8" name="Text 6"/>
          <p:cNvSpPr/>
          <p:nvPr/>
        </p:nvSpPr>
        <p:spPr>
          <a:xfrm>
            <a:off x="594360" y="4892040"/>
            <a:ext cx="10972800" cy="82296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Declarația a fost publicată. Nimeni din spital nu a comparat-o cu lista ofertanților.</a:t>
            </a:r>
            <a:endParaRPr lang="en-US" sz="20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achizițiilor publice · A833, A834.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Responsabilizarea</a:t>
            </a:r>
            <a:endParaRPr lang="en-US" sz="3600" dirty="0"/>
          </a:p>
        </p:txBody>
      </p:sp>
      <p:sp>
        <p:nvSpPr>
          <p:cNvPr id="4" name="Text 2"/>
          <p:cNvSpPr/>
          <p:nvPr/>
        </p:nvSpPr>
        <p:spPr>
          <a:xfrm>
            <a:off x="594360" y="1645920"/>
            <a:ext cx="10972800" cy="109728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Obligația celor care au putere de decizie de a-și explica deciziile, de a le face înțelese și de a-și asuma urmările lor.</a:t>
            </a:r>
            <a:endParaRPr lang="en-US" sz="2100" dirty="0"/>
          </a:p>
        </p:txBody>
      </p:sp>
      <p:sp>
        <p:nvSpPr>
          <p:cNvPr id="5" name="Text 3"/>
          <p:cNvSpPr/>
          <p:nvPr/>
        </p:nvSpPr>
        <p:spPr>
          <a:xfrm>
            <a:off x="594360" y="2743200"/>
            <a:ext cx="10972800" cy="731520"/>
          </a:xfrm>
          <a:prstGeom prst="rect">
            <a:avLst/>
          </a:prstGeom>
          <a:noFill/>
          <a:ln/>
        </p:spPr>
        <p:txBody>
          <a:bodyPr wrap="square" lIns="0" tIns="0" rIns="0" bIns="0" rtlCol="0" anchor="t"/>
          <a:lstStyle/>
          <a:p>
            <a:pPr indent="0" marL="0">
              <a:buNone/>
            </a:pPr>
            <a:r>
              <a:rPr lang="en-US" sz="2000" b="1" i="1" dirty="0">
                <a:solidFill>
                  <a:srgbClr val="FFC24B"/>
                </a:solidFill>
                <a:latin typeface="Palatino Linotype" pitchFamily="34" charset="0"/>
                <a:ea typeface="Palatino Linotype" pitchFamily="34" charset="-122"/>
                <a:cs typeface="Palatino Linotype" pitchFamily="34" charset="-120"/>
              </a:rPr>
              <a:t>În cuvinte de zi cu zi: cineva trebuie să dea socoteală și poate suporta o consecință.</a:t>
            </a:r>
            <a:endParaRPr lang="en-US" sz="2000" dirty="0"/>
          </a:p>
        </p:txBody>
      </p:sp>
      <p:sp>
        <p:nvSpPr>
          <p:cNvPr id="6" name="Shape 4"/>
          <p:cNvSpPr/>
          <p:nvPr/>
        </p:nvSpPr>
        <p:spPr>
          <a:xfrm>
            <a:off x="594360" y="3749040"/>
            <a:ext cx="10972800" cy="1737360"/>
          </a:xfrm>
          <a:prstGeom prst="roundRect">
            <a:avLst>
              <a:gd name="adj" fmla="val 4737"/>
            </a:avLst>
          </a:prstGeom>
          <a:solidFill>
            <a:srgbClr val="1D1F2B"/>
          </a:solidFill>
          <a:ln w="12700">
            <a:solidFill>
              <a:srgbClr val="1D1F2B"/>
            </a:solidFill>
            <a:prstDash val="solid"/>
          </a:ln>
        </p:spPr>
        <p:txBody>
          <a:bodyPr/>
          <a:p/>
        </p:txBody>
      </p:sp>
      <p:sp>
        <p:nvSpPr>
          <p:cNvPr id="7" name="Text 5"/>
          <p:cNvSpPr/>
          <p:nvPr/>
        </p:nvSpPr>
        <p:spPr>
          <a:xfrm>
            <a:off x="868680" y="3886200"/>
            <a:ext cx="10424160" cy="822960"/>
          </a:xfrm>
          <a:prstGeom prst="rect">
            <a:avLst/>
          </a:prstGeom>
          <a:noFill/>
          <a:ln/>
        </p:spPr>
        <p:txBody>
          <a:bodyPr wrap="square" lIns="0" tIns="0" rIns="0" bIns="0" rtlCol="0" anchor="t"/>
          <a:lstStyle/>
          <a:p>
            <a:pPr indent="0" marL="0">
              <a:buNone/>
            </a:pPr>
            <a:r>
              <a:rPr lang="en-US" sz="2100" b="1" dirty="0">
                <a:solidFill>
                  <a:srgbClr val="27D3BE"/>
                </a:solidFill>
                <a:latin typeface="Palatino Linotype" pitchFamily="34" charset="0"/>
                <a:ea typeface="Palatino Linotype" pitchFamily="34" charset="-122"/>
                <a:cs typeface="Palatino Linotype" pitchFamily="34" charset="-120"/>
              </a:rPr>
              <a:t>Transparența este o condiție necesară, dar nu suficientă, pentru responsabilizare.</a:t>
            </a:r>
            <a:endParaRPr lang="en-US" sz="2100" dirty="0"/>
          </a:p>
        </p:txBody>
      </p:sp>
      <p:sp>
        <p:nvSpPr>
          <p:cNvPr id="8" name="Text 6"/>
          <p:cNvSpPr/>
          <p:nvPr/>
        </p:nvSpPr>
        <p:spPr>
          <a:xfrm>
            <a:off x="868680" y="4663440"/>
            <a:ext cx="10424160" cy="7315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Necesară: nu poți cere socoteală pentru ce nu știi. Nesuficientă: a ști nu obligă pe nimeni să răspundă.</a:t>
            </a:r>
            <a:endParaRPr lang="en-US" sz="17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Definiția acestui curs, după Vian · A827, A750.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CINE AR FI TREBUIT SĂ VERIFICE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 autoritate din afara spitalului</a:t>
            </a:r>
            <a:endParaRPr lang="en-US" sz="3200" dirty="0"/>
          </a:p>
        </p:txBody>
      </p:sp>
      <p:sp>
        <p:nvSpPr>
          <p:cNvPr id="4" name="Text 2"/>
          <p:cNvSpPr/>
          <p:nvPr/>
        </p:nvSpPr>
        <p:spPr>
          <a:xfrm>
            <a:off x="594360" y="1645920"/>
            <a:ext cx="10972800" cy="9144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Agenția Națională de Integritate evaluează declarațiile de avere și de interese, incompatibilitățile și conflictele de interese.</a:t>
            </a:r>
            <a:endParaRPr lang="en-US" sz="1900" dirty="0"/>
          </a:p>
        </p:txBody>
      </p:sp>
      <p:sp>
        <p:nvSpPr>
          <p:cNvPr id="5" name="Shape 3"/>
          <p:cNvSpPr/>
          <p:nvPr/>
        </p:nvSpPr>
        <p:spPr>
          <a:xfrm>
            <a:off x="594360" y="2697480"/>
            <a:ext cx="5349240" cy="1920240"/>
          </a:xfrm>
          <a:prstGeom prst="roundRect">
            <a:avLst>
              <a:gd name="adj" fmla="val 4286"/>
            </a:avLst>
          </a:prstGeom>
          <a:solidFill>
            <a:srgbClr val="ECEAE4"/>
          </a:solidFill>
          <a:ln w="12700">
            <a:solidFill>
              <a:srgbClr val="ECEAE4"/>
            </a:solidFill>
            <a:prstDash val="solid"/>
          </a:ln>
        </p:spPr>
        <p:txBody>
          <a:bodyPr/>
          <a:p/>
        </p:txBody>
      </p:sp>
      <p:sp>
        <p:nvSpPr>
          <p:cNvPr id="6" name="Text 4"/>
          <p:cNvSpPr/>
          <p:nvPr/>
        </p:nvSpPr>
        <p:spPr>
          <a:xfrm>
            <a:off x="868680" y="2807208"/>
            <a:ext cx="4800600" cy="960120"/>
          </a:xfrm>
          <a:prstGeom prst="rect">
            <a:avLst/>
          </a:prstGeom>
          <a:noFill/>
          <a:ln/>
        </p:spPr>
        <p:txBody>
          <a:bodyPr wrap="square" lIns="0" tIns="0" rIns="0" bIns="0" rtlCol="0" anchor="ctr"/>
          <a:lstStyle/>
          <a:p>
            <a:pPr indent="0" marL="0">
              <a:buNone/>
            </a:pPr>
            <a:r>
              <a:rPr lang="en-US" sz="3400" b="1" dirty="0">
                <a:solidFill>
                  <a:srgbClr val="B02532"/>
                </a:solidFill>
                <a:latin typeface="Palatino Linotype" pitchFamily="34" charset="0"/>
                <a:ea typeface="Palatino Linotype" pitchFamily="34" charset="-122"/>
                <a:cs typeface="Palatino Linotype" pitchFamily="34" charset="-120"/>
              </a:rPr>
              <a:t>din oficiu</a:t>
            </a:r>
            <a:endParaRPr lang="en-US" sz="3400" dirty="0"/>
          </a:p>
        </p:txBody>
      </p:sp>
      <p:sp>
        <p:nvSpPr>
          <p:cNvPr id="7" name="Text 5"/>
          <p:cNvSpPr/>
          <p:nvPr/>
        </p:nvSpPr>
        <p:spPr>
          <a:xfrm>
            <a:off x="868680" y="3675888"/>
            <a:ext cx="4800600" cy="883310"/>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sau la sesizarea oricărei persoane: așa poate începe o evaluare</a:t>
            </a:r>
            <a:endParaRPr lang="en-US" sz="1200" dirty="0"/>
          </a:p>
        </p:txBody>
      </p:sp>
      <p:sp>
        <p:nvSpPr>
          <p:cNvPr id="8" name="Shape 6"/>
          <p:cNvSpPr/>
          <p:nvPr/>
        </p:nvSpPr>
        <p:spPr>
          <a:xfrm>
            <a:off x="6217920" y="2697480"/>
            <a:ext cx="5349240" cy="1920240"/>
          </a:xfrm>
          <a:prstGeom prst="roundRect">
            <a:avLst>
              <a:gd name="adj" fmla="val 4286"/>
            </a:avLst>
          </a:prstGeom>
          <a:solidFill>
            <a:srgbClr val="ECEAE4"/>
          </a:solidFill>
          <a:ln w="12700">
            <a:solidFill>
              <a:srgbClr val="ECEAE4"/>
            </a:solidFill>
            <a:prstDash val="solid"/>
          </a:ln>
        </p:spPr>
        <p:txBody>
          <a:bodyPr/>
          <a:p/>
        </p:txBody>
      </p:sp>
      <p:sp>
        <p:nvSpPr>
          <p:cNvPr id="9" name="Text 7"/>
          <p:cNvSpPr/>
          <p:nvPr/>
        </p:nvSpPr>
        <p:spPr>
          <a:xfrm>
            <a:off x="6492240" y="2807208"/>
            <a:ext cx="4800600" cy="960120"/>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3 ani</a:t>
            </a:r>
            <a:endParaRPr lang="en-US" sz="3400" dirty="0"/>
          </a:p>
        </p:txBody>
      </p:sp>
      <p:sp>
        <p:nvSpPr>
          <p:cNvPr id="10" name="Text 8"/>
          <p:cNvSpPr/>
          <p:nvPr/>
        </p:nvSpPr>
        <p:spPr>
          <a:xfrm>
            <a:off x="6492240" y="3675888"/>
            <a:ext cx="4800600" cy="883310"/>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 decădere din funcție, dacă la capătul procedurii se constată conflictul de interese</a:t>
            </a:r>
            <a:endParaRPr lang="en-US" sz="1200" dirty="0"/>
          </a:p>
        </p:txBody>
      </p:sp>
      <p:sp>
        <p:nvSpPr>
          <p:cNvPr id="11" name="Text 9"/>
          <p:cNvSpPr/>
          <p:nvPr/>
        </p:nvSpPr>
        <p:spPr>
          <a:xfrm>
            <a:off x="594360" y="4892040"/>
            <a:ext cx="10972800" cy="82296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După o săptămână, nimeni nu trimisese o sesizare, iar Agenția nu anunțase nicio verificare.</a:t>
            </a:r>
            <a:endParaRPr lang="en-US" sz="19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176/2010 · A054, A832, A744.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LA PRIMA DECIZIE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Varianta (B)</a:t>
            </a:r>
            <a:endParaRPr lang="en-US" sz="3400" dirty="0"/>
          </a:p>
        </p:txBody>
      </p:sp>
      <p:sp>
        <p:nvSpPr>
          <p:cNvPr id="4" name="Shape 2"/>
          <p:cNvSpPr/>
          <p:nvPr/>
        </p:nvSpPr>
        <p:spPr>
          <a:xfrm>
            <a:off x="594360" y="1645920"/>
            <a:ext cx="10972800" cy="1188720"/>
          </a:xfrm>
          <a:prstGeom prst="roundRect">
            <a:avLst>
              <a:gd name="adj" fmla="val 6923"/>
            </a:avLst>
          </a:prstGeom>
          <a:solidFill>
            <a:srgbClr val="B02532"/>
          </a:solidFill>
          <a:ln w="12700">
            <a:solidFill>
              <a:srgbClr val="B02532"/>
            </a:solidFill>
            <a:prstDash val="solid"/>
          </a:ln>
        </p:spPr>
        <p:txBody>
          <a:bodyPr/>
          <a:p/>
        </p:txBody>
      </p:sp>
      <p:sp>
        <p:nvSpPr>
          <p:cNvPr id="5" name="Text 3"/>
          <p:cNvSpPr/>
          <p:nvPr/>
        </p:nvSpPr>
        <p:spPr>
          <a:xfrm>
            <a:off x="868680" y="1645920"/>
            <a:ext cx="10424160" cy="11887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Publicarea este o obligație, iar spitalul a îndeplinit-o. Responsabilizarea cere ca cineva să explice și o autoritate să verifice.</a:t>
            </a:r>
            <a:endParaRPr lang="en-US" sz="1900" dirty="0"/>
          </a:p>
        </p:txBody>
      </p:sp>
      <p:sp>
        <p:nvSpPr>
          <p:cNvPr id="6" name="Shape 4"/>
          <p:cNvSpPr/>
          <p:nvPr/>
        </p:nvSpPr>
        <p:spPr>
          <a:xfrm>
            <a:off x="594360" y="306324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7" name="Shape 5"/>
          <p:cNvSpPr/>
          <p:nvPr/>
        </p:nvSpPr>
        <p:spPr>
          <a:xfrm>
            <a:off x="914400" y="3218688"/>
            <a:ext cx="420624" cy="420624"/>
          </a:xfrm>
          <a:prstGeom prst="ellipse">
            <a:avLst/>
          </a:prstGeom>
          <a:solidFill>
            <a:srgbClr val="FFC24B"/>
          </a:solidFill>
          <a:ln/>
        </p:spPr>
        <p:txBody>
          <a:bodyPr/>
          <a:p/>
        </p:txBody>
      </p:sp>
      <p:sp>
        <p:nvSpPr>
          <p:cNvPr id="8" name="Text 6"/>
          <p:cNvSpPr/>
          <p:nvPr/>
        </p:nvSpPr>
        <p:spPr>
          <a:xfrm>
            <a:off x="914400" y="32186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3063240"/>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Confundă îndeplinirea unei obligații cu rezolvarea problemei.</a:t>
            </a:r>
            <a:endParaRPr lang="en-US" sz="1700" dirty="0"/>
          </a:p>
        </p:txBody>
      </p:sp>
      <p:sp>
        <p:nvSpPr>
          <p:cNvPr id="10" name="Shape 8"/>
          <p:cNvSpPr/>
          <p:nvPr/>
        </p:nvSpPr>
        <p:spPr>
          <a:xfrm>
            <a:off x="594360" y="393192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1" name="Shape 9"/>
          <p:cNvSpPr/>
          <p:nvPr/>
        </p:nvSpPr>
        <p:spPr>
          <a:xfrm>
            <a:off x="914400" y="4087368"/>
            <a:ext cx="420624" cy="420624"/>
          </a:xfrm>
          <a:prstGeom prst="ellipse">
            <a:avLst/>
          </a:prstGeom>
          <a:solidFill>
            <a:srgbClr val="FFC24B"/>
          </a:solidFill>
          <a:ln/>
        </p:spPr>
        <p:txBody>
          <a:bodyPr/>
          <a:p/>
        </p:txBody>
      </p:sp>
      <p:sp>
        <p:nvSpPr>
          <p:cNvPr id="12" name="Text 10"/>
          <p:cNvSpPr/>
          <p:nvPr/>
        </p:nvSpPr>
        <p:spPr>
          <a:xfrm>
            <a:off x="914400" y="40873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3" name="Text 11"/>
          <p:cNvSpPr/>
          <p:nvPr/>
        </p:nvSpPr>
        <p:spPr>
          <a:xfrm>
            <a:off x="1600200" y="3931920"/>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Sare peste statutul informației: o legătură documentată nu este o faptă constatată.</a:t>
            </a:r>
            <a:endParaRPr lang="en-US" sz="1700" dirty="0"/>
          </a:p>
        </p:txBody>
      </p:sp>
      <p:sp>
        <p:nvSpPr>
          <p:cNvPr id="14" name="Shape 12"/>
          <p:cNvSpPr/>
          <p:nvPr/>
        </p:nvSpPr>
        <p:spPr>
          <a:xfrm>
            <a:off x="594360" y="480060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5" name="Shape 13"/>
          <p:cNvSpPr/>
          <p:nvPr/>
        </p:nvSpPr>
        <p:spPr>
          <a:xfrm>
            <a:off x="914400" y="4956048"/>
            <a:ext cx="420624" cy="420624"/>
          </a:xfrm>
          <a:prstGeom prst="ellipse">
            <a:avLst/>
          </a:prstGeom>
          <a:solidFill>
            <a:srgbClr val="FFC24B"/>
          </a:solidFill>
          <a:ln/>
        </p:spPr>
        <p:txBody>
          <a:bodyPr/>
          <a:p/>
        </p:txBody>
      </p:sp>
      <p:sp>
        <p:nvSpPr>
          <p:cNvPr id="16" name="Text 14"/>
          <p:cNvSpPr/>
          <p:nvPr/>
        </p:nvSpPr>
        <p:spPr>
          <a:xfrm>
            <a:off x="914400" y="4956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17" name="Text 15"/>
          <p:cNvSpPr/>
          <p:nvPr/>
        </p:nvSpPr>
        <p:spPr>
          <a:xfrm>
            <a:off x="1600200" y="4800600"/>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Întrebare legitimă, dar prețul nu schimbă cine trebuie să verifice.</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Notele ședinței, „Ce spun variantele votului” · A836, A745, A827, A054, A834.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ACTUL 2 · CAZ CONSTRUIT, CONTINUAREA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Prețul pe bucată</a:t>
            </a:r>
            <a:endParaRPr lang="en-US" sz="3400" dirty="0"/>
          </a:p>
        </p:txBody>
      </p:sp>
      <p:sp>
        <p:nvSpPr>
          <p:cNvPr id="4" name="Text 2"/>
          <p:cNvSpPr/>
          <p:nvPr/>
        </p:nvSpPr>
        <p:spPr>
          <a:xfrm>
            <a:off x="594360" y="1645920"/>
            <a:ext cx="10972800" cy="822960"/>
          </a:xfrm>
          <a:prstGeom prst="rect">
            <a:avLst/>
          </a:prstGeom>
          <a:noFill/>
          <a:ln/>
        </p:spPr>
        <p:txBody>
          <a:bodyPr wrap="square" lIns="0" tIns="0" rIns="0" bIns="0" rtlCol="0" anchor="t"/>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Trei studenți din anul IV, voluntari într-o asociație de pacienți din Județul B, citesc articolul.</a:t>
            </a:r>
            <a:endParaRPr lang="en-US" sz="2000" dirty="0"/>
          </a:p>
        </p:txBody>
      </p:sp>
      <p:sp>
        <p:nvSpPr>
          <p:cNvPr id="5" name="Shape 3"/>
          <p:cNvSpPr/>
          <p:nvPr/>
        </p:nvSpPr>
        <p:spPr>
          <a:xfrm>
            <a:off x="594360" y="2606040"/>
            <a:ext cx="5349240" cy="2194560"/>
          </a:xfrm>
          <a:prstGeom prst="roundRect">
            <a:avLst>
              <a:gd name="adj" fmla="val 3750"/>
            </a:avLst>
          </a:prstGeom>
          <a:solidFill>
            <a:srgbClr val="ECEAE4"/>
          </a:solidFill>
          <a:ln w="12700">
            <a:solidFill>
              <a:srgbClr val="ECEAE4"/>
            </a:solidFill>
            <a:prstDash val="solid"/>
          </a:ln>
        </p:spPr>
        <p:txBody>
          <a:bodyPr/>
          <a:p/>
        </p:txBody>
      </p:sp>
      <p:sp>
        <p:nvSpPr>
          <p:cNvPr id="6" name="Shape 4"/>
          <p:cNvSpPr/>
          <p:nvPr/>
        </p:nvSpPr>
        <p:spPr>
          <a:xfrm>
            <a:off x="594360" y="2606040"/>
            <a:ext cx="5349240" cy="73152"/>
          </a:xfrm>
          <a:prstGeom prst="rect">
            <a:avLst/>
          </a:prstGeom>
          <a:solidFill>
            <a:srgbClr val="8A6100"/>
          </a:solidFill>
          <a:ln w="12700">
            <a:solidFill>
              <a:srgbClr val="8A6100"/>
            </a:solidFill>
            <a:prstDash val="solid"/>
          </a:ln>
        </p:spPr>
        <p:txBody>
          <a:bodyPr/>
          <a:p/>
        </p:txBody>
      </p:sp>
      <p:sp>
        <p:nvSpPr>
          <p:cNvPr id="7" name="Text 5"/>
          <p:cNvSpPr/>
          <p:nvPr/>
        </p:nvSpPr>
        <p:spPr>
          <a:xfrm>
            <a:off x="868680" y="2834640"/>
            <a:ext cx="4800600" cy="411480"/>
          </a:xfrm>
          <a:prstGeom prst="rect">
            <a:avLst/>
          </a:prstGeom>
          <a:noFill/>
          <a:ln/>
        </p:spPr>
        <p:txBody>
          <a:bodyPr wrap="square" lIns="0" tIns="0" rIns="0" bIns="0" rtlCol="0" anchor="t"/>
          <a:lstStyle/>
          <a:p>
            <a:pPr indent="0" marL="0">
              <a:buNone/>
            </a:pPr>
            <a:r>
              <a:rPr lang="en-US" sz="1600" b="1" dirty="0">
                <a:solidFill>
                  <a:srgbClr val="8A6100"/>
                </a:solidFill>
                <a:latin typeface="Palatino Linotype" pitchFamily="34" charset="0"/>
                <a:ea typeface="Palatino Linotype" pitchFamily="34" charset="-122"/>
                <a:cs typeface="Palatino Linotype" pitchFamily="34" charset="-120"/>
              </a:rPr>
              <a:t>Ce vor să afle</a:t>
            </a:r>
            <a:endParaRPr lang="en-US" sz="1600" dirty="0"/>
          </a:p>
        </p:txBody>
      </p:sp>
      <p:sp>
        <p:nvSpPr>
          <p:cNvPr id="8" name="Text 6"/>
          <p:cNvSpPr/>
          <p:nvPr/>
        </p:nvSpPr>
        <p:spPr>
          <a:xfrm>
            <a:off x="868680" y="3337560"/>
            <a:ext cx="4800600" cy="13258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Cât a plătit spitalul pe bucată pentru materialele firmei C, față de cât plătea înainte.</a:t>
            </a:r>
            <a:endParaRPr lang="en-US" sz="1900" dirty="0"/>
          </a:p>
        </p:txBody>
      </p:sp>
      <p:sp>
        <p:nvSpPr>
          <p:cNvPr id="9" name="Shape 7"/>
          <p:cNvSpPr/>
          <p:nvPr/>
        </p:nvSpPr>
        <p:spPr>
          <a:xfrm>
            <a:off x="6217920" y="2606040"/>
            <a:ext cx="5349240" cy="2194560"/>
          </a:xfrm>
          <a:prstGeom prst="roundRect">
            <a:avLst>
              <a:gd name="adj" fmla="val 3750"/>
            </a:avLst>
          </a:prstGeom>
          <a:solidFill>
            <a:srgbClr val="ECEAE4"/>
          </a:solidFill>
          <a:ln w="12700">
            <a:solidFill>
              <a:srgbClr val="ECEAE4"/>
            </a:solidFill>
            <a:prstDash val="solid"/>
          </a:ln>
        </p:spPr>
        <p:txBody>
          <a:bodyPr/>
          <a:p/>
        </p:txBody>
      </p:sp>
      <p:sp>
        <p:nvSpPr>
          <p:cNvPr id="10" name="Shape 8"/>
          <p:cNvSpPr/>
          <p:nvPr/>
        </p:nvSpPr>
        <p:spPr>
          <a:xfrm>
            <a:off x="6217920" y="2606040"/>
            <a:ext cx="5349240" cy="73152"/>
          </a:xfrm>
          <a:prstGeom prst="rect">
            <a:avLst/>
          </a:prstGeom>
          <a:solidFill>
            <a:srgbClr val="B02532"/>
          </a:solidFill>
          <a:ln w="12700">
            <a:solidFill>
              <a:srgbClr val="B02532"/>
            </a:solidFill>
            <a:prstDash val="solid"/>
          </a:ln>
        </p:spPr>
        <p:txBody>
          <a:bodyPr/>
          <a:p/>
        </p:txBody>
      </p:sp>
      <p:sp>
        <p:nvSpPr>
          <p:cNvPr id="11" name="Text 9"/>
          <p:cNvSpPr/>
          <p:nvPr/>
        </p:nvSpPr>
        <p:spPr>
          <a:xfrm>
            <a:off x="6492240" y="2834640"/>
            <a:ext cx="4800600" cy="4114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Ce găsesc pe site</a:t>
            </a:r>
            <a:endParaRPr lang="en-US" sz="1600" dirty="0"/>
          </a:p>
        </p:txBody>
      </p:sp>
      <p:sp>
        <p:nvSpPr>
          <p:cNvPr id="12" name="Text 10"/>
          <p:cNvSpPr/>
          <p:nvPr/>
        </p:nvSpPr>
        <p:spPr>
          <a:xfrm>
            <a:off x="6492240" y="3337560"/>
            <a:ext cx="4800600" cy="13258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Numai valoarea totală a fiecărui contract.</a:t>
            </a:r>
            <a:endParaRPr lang="en-US" sz="1900" dirty="0"/>
          </a:p>
        </p:txBody>
      </p:sp>
      <p:sp>
        <p:nvSpPr>
          <p:cNvPr id="13" name="Text 11"/>
          <p:cNvSpPr/>
          <p:nvPr/>
        </p:nvSpPr>
        <p:spPr>
          <a:xfrm>
            <a:off x="594360" y="5074920"/>
            <a:ext cx="10972800" cy="640080"/>
          </a:xfrm>
          <a:prstGeom prst="rect">
            <a:avLst/>
          </a:prstGeom>
          <a:noFill/>
          <a:ln/>
        </p:spPr>
        <p:txBody>
          <a:bodyPr wrap="square" lIns="0" tIns="0" rIns="0" bIns="0" rtlCol="0" anchor="t"/>
          <a:lstStyle/>
          <a:p>
            <a:pPr indent="0" marL="0">
              <a:buNone/>
            </a:pPr>
            <a:r>
              <a:rPr lang="en-US" sz="1700" i="1" dirty="0">
                <a:solidFill>
                  <a:srgbClr val="3A3C44"/>
                </a:solidFill>
                <a:latin typeface="Palatino Linotype" pitchFamily="34" charset="0"/>
                <a:ea typeface="Palatino Linotype" pitchFamily="34" charset="-122"/>
                <a:cs typeface="Palatino Linotype" pitchFamily="34" charset="-120"/>
              </a:rPr>
              <a:t>Asociația primise plângeri despre lipsa unor materiale în secția de chirurgie.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ACTUL 2 · CEREREA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O cerere scrisă, un răspuns de un rând</a:t>
            </a:r>
            <a:endParaRPr lang="en-US" sz="3000" dirty="0"/>
          </a:p>
        </p:txBody>
      </p:sp>
      <p:sp>
        <p:nvSpPr>
          <p:cNvPr id="4" name="Shape 2"/>
          <p:cNvSpPr/>
          <p:nvPr/>
        </p:nvSpPr>
        <p:spPr>
          <a:xfrm>
            <a:off x="594360" y="1691640"/>
            <a:ext cx="5486400" cy="3566160"/>
          </a:xfrm>
          <a:prstGeom prst="roundRect">
            <a:avLst>
              <a:gd name="adj" fmla="val 2308"/>
            </a:avLst>
          </a:prstGeom>
          <a:solidFill>
            <a:srgbClr val="1D1F2B"/>
          </a:solidFill>
          <a:ln w="12700">
            <a:solidFill>
              <a:srgbClr val="1D1F2B"/>
            </a:solidFill>
            <a:prstDash val="solid"/>
          </a:ln>
        </p:spPr>
        <p:txBody>
          <a:bodyPr/>
          <a:p/>
        </p:txBody>
      </p:sp>
      <p:sp>
        <p:nvSpPr>
          <p:cNvPr id="5" name="Text 3"/>
          <p:cNvSpPr/>
          <p:nvPr/>
        </p:nvSpPr>
        <p:spPr>
          <a:xfrm>
            <a:off x="868680" y="1874520"/>
            <a:ext cx="493776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CEREREA STUDENȚILOR</a:t>
            </a:r>
            <a:endParaRPr lang="en-US" sz="1300" dirty="0"/>
          </a:p>
        </p:txBody>
      </p:sp>
      <p:sp>
        <p:nvSpPr>
          <p:cNvPr id="6" name="Text 4"/>
          <p:cNvSpPr/>
          <p:nvPr/>
        </p:nvSpPr>
        <p:spPr>
          <a:xfrm>
            <a:off x="868680" y="2331720"/>
            <a:ext cx="4937760" cy="2743200"/>
          </a:xfrm>
          <a:prstGeom prst="rect">
            <a:avLst/>
          </a:prstGeom>
          <a:noFill/>
          <a:ln/>
        </p:spPr>
        <p:txBody>
          <a:bodyPr wrap="square" lIns="0" tIns="0" rIns="0" bIns="0" rtlCol="0" anchor="t"/>
          <a:lstStyle/>
          <a:p>
            <a:pPr indent="0" marL="0">
              <a:spcAft>
                <a:spcPts val="800"/>
              </a:spcAft>
              <a:buNone/>
            </a:pPr>
            <a:r>
              <a:rPr lang="en-US" sz="1800" dirty="0">
                <a:solidFill>
                  <a:srgbClr val="FFFFFF"/>
                </a:solidFill>
                <a:latin typeface="Palatino Linotype" pitchFamily="34" charset="0"/>
                <a:ea typeface="Palatino Linotype" pitchFamily="34" charset="-122"/>
                <a:cs typeface="Palatino Linotype" pitchFamily="34" charset="-120"/>
              </a:rPr>
              <a:t>trimisă prin poștă electronică</a:t>
            </a:r>
            <a:endParaRPr lang="en-US" sz="1800" dirty="0"/>
          </a:p>
          <a:p>
            <a:pPr indent="0" marL="0">
              <a:spcAft>
                <a:spcPts val="800"/>
              </a:spcAft>
              <a:buNone/>
            </a:pPr>
            <a:r>
              <a:rPr lang="en-US" sz="1800" dirty="0">
                <a:solidFill>
                  <a:srgbClr val="FFFFFF"/>
                </a:solidFill>
                <a:latin typeface="Palatino Linotype" pitchFamily="34" charset="0"/>
                <a:ea typeface="Palatino Linotype" pitchFamily="34" charset="-122"/>
                <a:cs typeface="Palatino Linotype" pitchFamily="34" charset="-120"/>
              </a:rPr>
              <a:t>cu numele lor</a:t>
            </a:r>
            <a:endParaRPr lang="en-US" sz="1800" dirty="0"/>
          </a:p>
          <a:p>
            <a:pPr indent="0" marL="0">
              <a:spcAft>
                <a:spcPts val="800"/>
              </a:spcAft>
              <a:buNone/>
            </a:pPr>
            <a:r>
              <a:rPr lang="en-US" sz="1800" dirty="0">
                <a:solidFill>
                  <a:srgbClr val="FFFFFF"/>
                </a:solidFill>
                <a:latin typeface="Palatino Linotype" pitchFamily="34" charset="0"/>
                <a:ea typeface="Palatino Linotype" pitchFamily="34" charset="-122"/>
                <a:cs typeface="Palatino Linotype" pitchFamily="34" charset="-120"/>
              </a:rPr>
              <a:t>cu întrebarea scrisă exact</a:t>
            </a:r>
            <a:endParaRPr lang="en-US" sz="1800" dirty="0"/>
          </a:p>
          <a:p>
            <a:pPr indent="0" marL="0">
              <a:spcAft>
                <a:spcPts val="800"/>
              </a:spcAft>
              <a:buNone/>
            </a:pPr>
            <a:r>
              <a:rPr lang="en-US" sz="1800" dirty="0">
                <a:solidFill>
                  <a:srgbClr val="FFFFFF"/>
                </a:solidFill>
                <a:latin typeface="Palatino Linotype" pitchFamily="34" charset="0"/>
                <a:ea typeface="Palatino Linotype" pitchFamily="34" charset="-122"/>
                <a:cs typeface="Palatino Linotype" pitchFamily="34" charset="-120"/>
              </a:rPr>
              <a:t>răspunsul cerut în format electronic</a:t>
            </a:r>
            <a:endParaRPr lang="en-US" sz="1800" dirty="0"/>
          </a:p>
          <a:p>
            <a:pPr indent="0" marL="0">
              <a:spcAft>
                <a:spcPts val="800"/>
              </a:spcAft>
              <a:buNone/>
            </a:pPr>
            <a:r>
              <a:rPr lang="en-US" sz="1800" dirty="0">
                <a:solidFill>
                  <a:srgbClr val="FFFFFF"/>
                </a:solidFill>
                <a:latin typeface="Palatino Linotype" pitchFamily="34" charset="0"/>
                <a:ea typeface="Palatino Linotype" pitchFamily="34" charset="-122"/>
                <a:cs typeface="Palatino Linotype" pitchFamily="34" charset="-120"/>
              </a:rPr>
              <a:t>înregistrată la spital</a:t>
            </a:r>
            <a:endParaRPr lang="en-US" sz="1800" dirty="0"/>
          </a:p>
        </p:txBody>
      </p:sp>
      <p:sp>
        <p:nvSpPr>
          <p:cNvPr id="7" name="Shape 5"/>
          <p:cNvSpPr/>
          <p:nvPr/>
        </p:nvSpPr>
        <p:spPr>
          <a:xfrm>
            <a:off x="6400800" y="1691640"/>
            <a:ext cx="5166360" cy="2377440"/>
          </a:xfrm>
          <a:prstGeom prst="rect">
            <a:avLst/>
          </a:prstGeom>
          <a:solidFill>
            <a:srgbClr val="FBF8F1"/>
          </a:solidFill>
          <a:ln w="9525">
            <a:solidFill>
              <a:srgbClr val="D6D2C8"/>
            </a:solidFill>
            <a:prstDash val="solid"/>
          </a:ln>
          <a:effectLst>
            <a:outerShdw sx="100000" sy="100000" kx="0" ky="0" algn="bl" rotWithShape="0" blurRad="101600" dist="50800" dir="3600000">
              <a:srgbClr val="000000">
                <a:alpha val="35000"/>
              </a:srgbClr>
            </a:outerShdw>
          </a:effectLst>
        </p:spPr>
        <p:txBody>
          <a:bodyPr/>
          <a:p/>
        </p:txBody>
      </p:sp>
      <p:sp>
        <p:nvSpPr>
          <p:cNvPr id="8" name="Text 6"/>
          <p:cNvSpPr/>
          <p:nvPr/>
        </p:nvSpPr>
        <p:spPr>
          <a:xfrm>
            <a:off x="6720840" y="1920240"/>
            <a:ext cx="4526280" cy="274320"/>
          </a:xfrm>
          <a:prstGeom prst="rect">
            <a:avLst/>
          </a:prstGeom>
          <a:noFill/>
          <a:ln/>
        </p:spPr>
        <p:txBody>
          <a:bodyPr wrap="square" lIns="0" tIns="0" rIns="0" bIns="0" rtlCol="0" anchor="t"/>
          <a:lstStyle/>
          <a:p>
            <a:pPr indent="0" marL="0">
              <a:buNone/>
            </a:pPr>
            <a:r>
              <a:rPr lang="en-US" sz="1100" b="1" spc="200" kern="0" dirty="0">
                <a:solidFill>
                  <a:srgbClr val="B02532"/>
                </a:solidFill>
                <a:latin typeface="Palatino Linotype" pitchFamily="34" charset="0"/>
                <a:ea typeface="Palatino Linotype" pitchFamily="34" charset="-122"/>
                <a:cs typeface="Palatino Linotype" pitchFamily="34" charset="-120"/>
              </a:rPr>
              <a:t>ZIUA A 12-A · RĂSPUNSUL SPITALULUI</a:t>
            </a:r>
            <a:endParaRPr lang="en-US" sz="1100" dirty="0"/>
          </a:p>
        </p:txBody>
      </p:sp>
      <p:sp>
        <p:nvSpPr>
          <p:cNvPr id="9" name="Shape 7"/>
          <p:cNvSpPr/>
          <p:nvPr/>
        </p:nvSpPr>
        <p:spPr>
          <a:xfrm>
            <a:off x="6720840" y="2258568"/>
            <a:ext cx="4526280" cy="18288"/>
          </a:xfrm>
          <a:prstGeom prst="rect">
            <a:avLst/>
          </a:prstGeom>
          <a:solidFill>
            <a:srgbClr val="11121A"/>
          </a:solidFill>
          <a:ln w="12700">
            <a:solidFill>
              <a:srgbClr val="11121A"/>
            </a:solidFill>
            <a:prstDash val="solid"/>
          </a:ln>
        </p:spPr>
        <p:txBody>
          <a:bodyPr/>
          <a:p/>
        </p:txBody>
      </p:sp>
      <p:sp>
        <p:nvSpPr>
          <p:cNvPr id="10" name="Text 8"/>
          <p:cNvSpPr/>
          <p:nvPr/>
        </p:nvSpPr>
        <p:spPr>
          <a:xfrm>
            <a:off x="6720840" y="2423160"/>
            <a:ext cx="4526280" cy="1463040"/>
          </a:xfrm>
          <a:prstGeom prst="rect">
            <a:avLst/>
          </a:prstGeom>
          <a:noFill/>
          <a:ln/>
        </p:spPr>
        <p:txBody>
          <a:bodyPr wrap="square" lIns="0" tIns="0" rIns="0" bIns="0" rtlCol="0" anchor="t"/>
          <a:lstStyle/>
          <a:p>
            <a:pPr indent="0" marL="0">
              <a:buNone/>
            </a:pPr>
            <a:r>
              <a:rPr lang="en-US" sz="2400" b="1" dirty="0">
                <a:solidFill>
                  <a:srgbClr val="11121A"/>
                </a:solidFill>
                <a:latin typeface="Palatino Linotype" pitchFamily="34" charset="0"/>
                <a:ea typeface="Palatino Linotype" pitchFamily="34" charset="-122"/>
                <a:cs typeface="Palatino Linotype" pitchFamily="34" charset="-120"/>
              </a:rPr>
              <a:t>„Informațiile solicitate sunt confidențiale.”</a:t>
            </a:r>
            <a:endParaRPr lang="en-US" sz="2400" dirty="0"/>
          </a:p>
        </p:txBody>
      </p:sp>
      <p:sp>
        <p:nvSpPr>
          <p:cNvPr id="11" name="Text 9"/>
          <p:cNvSpPr/>
          <p:nvPr/>
        </p:nvSpPr>
        <p:spPr>
          <a:xfrm>
            <a:off x="6400800" y="4343400"/>
            <a:ext cx="5166360" cy="82296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Fără motiv. Fără trimitere la vreo lege.</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Informația de interes public</a:t>
            </a:r>
            <a:endParaRPr lang="en-US" sz="3400" dirty="0"/>
          </a:p>
        </p:txBody>
      </p:sp>
      <p:sp>
        <p:nvSpPr>
          <p:cNvPr id="4" name="Shape 2"/>
          <p:cNvSpPr/>
          <p:nvPr/>
        </p:nvSpPr>
        <p:spPr>
          <a:xfrm>
            <a:off x="594360" y="1691640"/>
            <a:ext cx="10972800" cy="1737360"/>
          </a:xfrm>
          <a:prstGeom prst="roundRect">
            <a:avLst>
              <a:gd name="adj" fmla="val 4737"/>
            </a:avLst>
          </a:prstGeom>
          <a:solidFill>
            <a:srgbClr val="FBF8F1"/>
          </a:solidFill>
          <a:ln w="12700">
            <a:solidFill>
              <a:srgbClr val="FBF8F1"/>
            </a:solidFill>
            <a:prstDash val="solid"/>
          </a:ln>
        </p:spPr>
        <p:txBody>
          <a:bodyPr/>
          <a:p/>
        </p:txBody>
      </p:sp>
      <p:sp>
        <p:nvSpPr>
          <p:cNvPr id="5" name="Shape 3"/>
          <p:cNvSpPr/>
          <p:nvPr/>
        </p:nvSpPr>
        <p:spPr>
          <a:xfrm>
            <a:off x="594360" y="1691640"/>
            <a:ext cx="10972800" cy="1737360"/>
          </a:xfrm>
          <a:prstGeom prst="roundRect">
            <a:avLst>
              <a:gd name="adj" fmla="val 4737"/>
            </a:avLst>
          </a:prstGeom>
          <a:solidFill>
            <a:srgbClr val="FBF8F1"/>
          </a:solidFill>
          <a:ln w="12700">
            <a:solidFill>
              <a:srgbClr val="C9C6BE"/>
            </a:solidFill>
            <a:prstDash val="solid"/>
          </a:ln>
        </p:spPr>
        <p:txBody>
          <a:bodyPr/>
          <a:p/>
        </p:txBody>
      </p:sp>
      <p:sp>
        <p:nvSpPr>
          <p:cNvPr id="6" name="Text 4"/>
          <p:cNvSpPr/>
          <p:nvPr/>
        </p:nvSpPr>
        <p:spPr>
          <a:xfrm>
            <a:off x="868680" y="1783080"/>
            <a:ext cx="10424160" cy="1554480"/>
          </a:xfrm>
          <a:prstGeom prst="rect">
            <a:avLst/>
          </a:prstGeom>
          <a:noFill/>
          <a:ln/>
        </p:spPr>
        <p:txBody>
          <a:bodyPr wrap="square" lIns="0" tIns="0" rIns="0" bIns="0" rtlCol="0" anchor="ctr"/>
          <a:lstStyle/>
          <a:p>
            <a:pPr indent="0" marL="0">
              <a:buNone/>
            </a:pPr>
            <a:r>
              <a:rPr lang="en-US" sz="1800" i="1" dirty="0">
                <a:solidFill>
                  <a:srgbClr val="11121A"/>
                </a:solidFill>
                <a:latin typeface="Palatino Linotype" pitchFamily="34" charset="0"/>
                <a:ea typeface="Palatino Linotype" pitchFamily="34" charset="-122"/>
                <a:cs typeface="Palatino Linotype" pitchFamily="34" charset="-120"/>
              </a:rPr>
              <a:t>„orice informație care privește activitățile sau rezultă din activitățile unei autorități publice sau instituții publice, indiferent de suportul ori de forma sau de modul de exprimare a informației”</a:t>
            </a:r>
            <a:endParaRPr lang="en-US" sz="1800" dirty="0"/>
          </a:p>
        </p:txBody>
      </p:sp>
      <p:sp>
        <p:nvSpPr>
          <p:cNvPr id="7" name="Text 5"/>
          <p:cNvSpPr/>
          <p:nvPr/>
        </p:nvSpPr>
        <p:spPr>
          <a:xfrm>
            <a:off x="594360" y="3657600"/>
            <a:ext cx="10972800" cy="9144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În cuvinte de zi cu zi: tot ce produce sau face o instituție publică puteți, în principiu, să cereți. Spitalul public este o astfel de instituție.</a:t>
            </a:r>
            <a:endParaRPr lang="en-US" sz="1900" dirty="0"/>
          </a:p>
        </p:txBody>
      </p:sp>
      <p:sp>
        <p:nvSpPr>
          <p:cNvPr id="8" name="Text 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544/2001, în vigoare, cu modificări · A819, A836, A821.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TERMENELE, DE LA ZIUA ÎNREGISTRĂRII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Termenele, pe o cronologie</a:t>
            </a:r>
            <a:endParaRPr lang="en-US" sz="3200" dirty="0"/>
          </a:p>
        </p:txBody>
      </p:sp>
      <p:sp>
        <p:nvSpPr>
          <p:cNvPr id="4" name="Shape 2"/>
          <p:cNvSpPr/>
          <p:nvPr/>
        </p:nvSpPr>
        <p:spPr>
          <a:xfrm>
            <a:off x="1600200" y="2743200"/>
            <a:ext cx="8961120" cy="45720"/>
          </a:xfrm>
          <a:prstGeom prst="rect">
            <a:avLst/>
          </a:prstGeom>
          <a:solidFill>
            <a:srgbClr val="11121A"/>
          </a:solidFill>
          <a:ln w="12700">
            <a:solidFill>
              <a:srgbClr val="333333"/>
            </a:solidFill>
            <a:prstDash val="solid"/>
          </a:ln>
        </p:spPr>
        <p:txBody>
          <a:bodyPr/>
          <a:p/>
        </p:txBody>
      </p:sp>
      <p:sp>
        <p:nvSpPr>
          <p:cNvPr id="5" name="Shape 3"/>
          <p:cNvSpPr/>
          <p:nvPr/>
        </p:nvSpPr>
        <p:spPr>
          <a:xfrm>
            <a:off x="1472184" y="2633472"/>
            <a:ext cx="274320" cy="274320"/>
          </a:xfrm>
          <a:prstGeom prst="ellipse">
            <a:avLst/>
          </a:prstGeom>
          <a:solidFill>
            <a:srgbClr val="11121A"/>
          </a:solidFill>
          <a:ln w="12700">
            <a:solidFill>
              <a:srgbClr val="11121A"/>
            </a:solidFill>
            <a:prstDash val="solid"/>
          </a:ln>
        </p:spPr>
        <p:txBody>
          <a:bodyPr/>
          <a:p/>
        </p:txBody>
      </p:sp>
      <p:sp>
        <p:nvSpPr>
          <p:cNvPr id="6" name="Text 4"/>
          <p:cNvSpPr/>
          <p:nvPr/>
        </p:nvSpPr>
        <p:spPr>
          <a:xfrm>
            <a:off x="594360" y="2057400"/>
            <a:ext cx="2011680" cy="457200"/>
          </a:xfrm>
          <a:prstGeom prst="rect">
            <a:avLst/>
          </a:prstGeom>
          <a:noFill/>
          <a:ln/>
        </p:spPr>
        <p:txBody>
          <a:bodyPr wrap="square" lIns="0" tIns="0" rIns="0" bIns="0" rtlCol="0" anchor="b"/>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Ziua 0</a:t>
            </a:r>
            <a:endParaRPr lang="en-US" sz="1700" dirty="0"/>
          </a:p>
        </p:txBody>
      </p:sp>
      <p:sp>
        <p:nvSpPr>
          <p:cNvPr id="7" name="Text 5"/>
          <p:cNvSpPr/>
          <p:nvPr/>
        </p:nvSpPr>
        <p:spPr>
          <a:xfrm>
            <a:off x="594360" y="3063240"/>
            <a:ext cx="2011680" cy="1371600"/>
          </a:xfrm>
          <a:prstGeom prst="rect">
            <a:avLst/>
          </a:prstGeom>
          <a:noFill/>
          <a:ln/>
        </p:spPr>
        <p:txBody>
          <a:bodyPr wrap="square" lIns="0" tIns="0" rIns="0" bIns="0" rtlCol="0" anchor="t"/>
          <a:lstStyle/>
          <a:p>
            <a:pPr algn="ctr" indent="0" marL="0">
              <a:buNone/>
            </a:pPr>
            <a:r>
              <a:rPr lang="en-US" sz="1350" dirty="0">
                <a:solidFill>
                  <a:srgbClr val="11121A"/>
                </a:solidFill>
                <a:latin typeface="Palatino Linotype" pitchFamily="34" charset="0"/>
                <a:ea typeface="Palatino Linotype" pitchFamily="34" charset="-122"/>
                <a:cs typeface="Palatino Linotype" pitchFamily="34" charset="-120"/>
              </a:rPr>
              <a:t>cererea este înregistrată</a:t>
            </a:r>
            <a:endParaRPr lang="en-US" sz="1350" dirty="0"/>
          </a:p>
        </p:txBody>
      </p:sp>
      <p:sp>
        <p:nvSpPr>
          <p:cNvPr id="8" name="Shape 6"/>
          <p:cNvSpPr/>
          <p:nvPr/>
        </p:nvSpPr>
        <p:spPr>
          <a:xfrm>
            <a:off x="3981298" y="2633472"/>
            <a:ext cx="274320" cy="274320"/>
          </a:xfrm>
          <a:prstGeom prst="ellipse">
            <a:avLst/>
          </a:prstGeom>
          <a:solidFill>
            <a:srgbClr val="B02532"/>
          </a:solidFill>
          <a:ln w="12700">
            <a:solidFill>
              <a:srgbClr val="B02532"/>
            </a:solidFill>
            <a:prstDash val="solid"/>
          </a:ln>
        </p:spPr>
        <p:txBody>
          <a:bodyPr/>
          <a:p/>
        </p:txBody>
      </p:sp>
      <p:sp>
        <p:nvSpPr>
          <p:cNvPr id="9" name="Text 7"/>
          <p:cNvSpPr/>
          <p:nvPr/>
        </p:nvSpPr>
        <p:spPr>
          <a:xfrm>
            <a:off x="3103474" y="2057400"/>
            <a:ext cx="2011680" cy="457200"/>
          </a:xfrm>
          <a:prstGeom prst="rect">
            <a:avLst/>
          </a:prstGeom>
          <a:noFill/>
          <a:ln/>
        </p:spPr>
        <p:txBody>
          <a:bodyPr wrap="square" lIns="0" tIns="0" rIns="0" bIns="0" rtlCol="0" anchor="b"/>
          <a:lstStyle/>
          <a:p>
            <a:pPr algn="ctr" indent="0" marL="0">
              <a:buNone/>
            </a:pPr>
            <a:r>
              <a:rPr lang="en-US" sz="1700" b="1" dirty="0">
                <a:solidFill>
                  <a:srgbClr val="B02532"/>
                </a:solidFill>
                <a:latin typeface="Palatino Linotype" pitchFamily="34" charset="0"/>
                <a:ea typeface="Palatino Linotype" pitchFamily="34" charset="-122"/>
                <a:cs typeface="Palatino Linotype" pitchFamily="34" charset="-120"/>
              </a:rPr>
              <a:t>Ziua 5</a:t>
            </a:r>
            <a:endParaRPr lang="en-US" sz="1700" dirty="0"/>
          </a:p>
        </p:txBody>
      </p:sp>
      <p:sp>
        <p:nvSpPr>
          <p:cNvPr id="10" name="Text 8"/>
          <p:cNvSpPr/>
          <p:nvPr/>
        </p:nvSpPr>
        <p:spPr>
          <a:xfrm>
            <a:off x="3103474" y="3063240"/>
            <a:ext cx="2011680" cy="1371600"/>
          </a:xfrm>
          <a:prstGeom prst="rect">
            <a:avLst/>
          </a:prstGeom>
          <a:noFill/>
          <a:ln/>
        </p:spPr>
        <p:txBody>
          <a:bodyPr wrap="square" lIns="0" tIns="0" rIns="0" bIns="0" rtlCol="0" anchor="t"/>
          <a:lstStyle/>
          <a:p>
            <a:pPr algn="ctr" indent="0" marL="0">
              <a:buNone/>
            </a:pPr>
            <a:r>
              <a:rPr lang="en-US" sz="1350" dirty="0">
                <a:solidFill>
                  <a:srgbClr val="11121A"/>
                </a:solidFill>
                <a:latin typeface="Palatino Linotype" pitchFamily="34" charset="0"/>
                <a:ea typeface="Palatino Linotype" pitchFamily="34" charset="-122"/>
                <a:cs typeface="Palatino Linotype" pitchFamily="34" charset="-120"/>
              </a:rPr>
              <a:t>refuzul trebuie motivat și comunicat</a:t>
            </a:r>
            <a:endParaRPr lang="en-US" sz="1350" dirty="0"/>
          </a:p>
        </p:txBody>
      </p:sp>
      <p:sp>
        <p:nvSpPr>
          <p:cNvPr id="11" name="Shape 9"/>
          <p:cNvSpPr/>
          <p:nvPr/>
        </p:nvSpPr>
        <p:spPr>
          <a:xfrm>
            <a:off x="6490411" y="2633472"/>
            <a:ext cx="274320" cy="274320"/>
          </a:xfrm>
          <a:prstGeom prst="ellipse">
            <a:avLst/>
          </a:prstGeom>
          <a:solidFill>
            <a:srgbClr val="0E7C6B"/>
          </a:solidFill>
          <a:ln w="12700">
            <a:solidFill>
              <a:srgbClr val="0E7C6B"/>
            </a:solidFill>
            <a:prstDash val="solid"/>
          </a:ln>
        </p:spPr>
        <p:txBody>
          <a:bodyPr/>
          <a:p/>
        </p:txBody>
      </p:sp>
      <p:sp>
        <p:nvSpPr>
          <p:cNvPr id="12" name="Text 10"/>
          <p:cNvSpPr/>
          <p:nvPr/>
        </p:nvSpPr>
        <p:spPr>
          <a:xfrm>
            <a:off x="5612587" y="2057400"/>
            <a:ext cx="2011680" cy="457200"/>
          </a:xfrm>
          <a:prstGeom prst="rect">
            <a:avLst/>
          </a:prstGeom>
          <a:noFill/>
          <a:ln/>
        </p:spPr>
        <p:txBody>
          <a:bodyPr wrap="square" lIns="0" tIns="0" rIns="0" bIns="0" rtlCol="0" anchor="b"/>
          <a:lstStyle/>
          <a:p>
            <a:pPr algn="ctr" indent="0" marL="0">
              <a:buNone/>
            </a:pPr>
            <a:r>
              <a:rPr lang="en-US" sz="1700" b="1" dirty="0">
                <a:solidFill>
                  <a:srgbClr val="0E7C6B"/>
                </a:solidFill>
                <a:latin typeface="Palatino Linotype" pitchFamily="34" charset="0"/>
                <a:ea typeface="Palatino Linotype" pitchFamily="34" charset="-122"/>
                <a:cs typeface="Palatino Linotype" pitchFamily="34" charset="-120"/>
              </a:rPr>
              <a:t>Ziua 10</a:t>
            </a:r>
            <a:endParaRPr lang="en-US" sz="1700" dirty="0"/>
          </a:p>
        </p:txBody>
      </p:sp>
      <p:sp>
        <p:nvSpPr>
          <p:cNvPr id="13" name="Text 11"/>
          <p:cNvSpPr/>
          <p:nvPr/>
        </p:nvSpPr>
        <p:spPr>
          <a:xfrm>
            <a:off x="5612587" y="3063240"/>
            <a:ext cx="2011680" cy="1371600"/>
          </a:xfrm>
          <a:prstGeom prst="rect">
            <a:avLst/>
          </a:prstGeom>
          <a:noFill/>
          <a:ln/>
        </p:spPr>
        <p:txBody>
          <a:bodyPr wrap="square" lIns="0" tIns="0" rIns="0" bIns="0" rtlCol="0" anchor="t"/>
          <a:lstStyle/>
          <a:p>
            <a:pPr algn="ctr" indent="0" marL="0">
              <a:buNone/>
            </a:pPr>
            <a:r>
              <a:rPr lang="en-US" sz="1350" dirty="0">
                <a:solidFill>
                  <a:srgbClr val="11121A"/>
                </a:solidFill>
                <a:latin typeface="Palatino Linotype" pitchFamily="34" charset="0"/>
                <a:ea typeface="Palatino Linotype" pitchFamily="34" charset="-122"/>
                <a:cs typeface="Palatino Linotype" pitchFamily="34" charset="-120"/>
              </a:rPr>
              <a:t>răspunsul; sau anunțul că e nevoie de mai mult timp</a:t>
            </a:r>
            <a:endParaRPr lang="en-US" sz="1350" dirty="0"/>
          </a:p>
        </p:txBody>
      </p:sp>
      <p:sp>
        <p:nvSpPr>
          <p:cNvPr id="14" name="Shape 12"/>
          <p:cNvSpPr/>
          <p:nvPr/>
        </p:nvSpPr>
        <p:spPr>
          <a:xfrm>
            <a:off x="10433304" y="2633472"/>
            <a:ext cx="274320" cy="274320"/>
          </a:xfrm>
          <a:prstGeom prst="ellipse">
            <a:avLst/>
          </a:prstGeom>
          <a:solidFill>
            <a:srgbClr val="8A6100"/>
          </a:solidFill>
          <a:ln w="12700">
            <a:solidFill>
              <a:srgbClr val="8A6100"/>
            </a:solidFill>
            <a:prstDash val="solid"/>
          </a:ln>
        </p:spPr>
        <p:txBody>
          <a:bodyPr/>
          <a:p/>
        </p:txBody>
      </p:sp>
      <p:sp>
        <p:nvSpPr>
          <p:cNvPr id="15" name="Text 13"/>
          <p:cNvSpPr/>
          <p:nvPr/>
        </p:nvSpPr>
        <p:spPr>
          <a:xfrm>
            <a:off x="9555480" y="2057400"/>
            <a:ext cx="2011680" cy="457200"/>
          </a:xfrm>
          <a:prstGeom prst="rect">
            <a:avLst/>
          </a:prstGeom>
          <a:noFill/>
          <a:ln/>
        </p:spPr>
        <p:txBody>
          <a:bodyPr wrap="square" lIns="0" tIns="0" rIns="0" bIns="0" rtlCol="0" anchor="b"/>
          <a:lstStyle/>
          <a:p>
            <a:pPr algn="ctr" indent="0" marL="0">
              <a:buNone/>
            </a:pPr>
            <a:r>
              <a:rPr lang="en-US" sz="1700" b="1" dirty="0">
                <a:solidFill>
                  <a:srgbClr val="8A6100"/>
                </a:solidFill>
                <a:latin typeface="Palatino Linotype" pitchFamily="34" charset="0"/>
                <a:ea typeface="Palatino Linotype" pitchFamily="34" charset="-122"/>
                <a:cs typeface="Palatino Linotype" pitchFamily="34" charset="-120"/>
              </a:rPr>
              <a:t>Ziua 30</a:t>
            </a:r>
            <a:endParaRPr lang="en-US" sz="1700" dirty="0"/>
          </a:p>
        </p:txBody>
      </p:sp>
      <p:sp>
        <p:nvSpPr>
          <p:cNvPr id="16" name="Text 14"/>
          <p:cNvSpPr/>
          <p:nvPr/>
        </p:nvSpPr>
        <p:spPr>
          <a:xfrm>
            <a:off x="9555480" y="3063240"/>
            <a:ext cx="2011680" cy="1371600"/>
          </a:xfrm>
          <a:prstGeom prst="rect">
            <a:avLst/>
          </a:prstGeom>
          <a:noFill/>
          <a:ln/>
        </p:spPr>
        <p:txBody>
          <a:bodyPr wrap="square" lIns="0" tIns="0" rIns="0" bIns="0" rtlCol="0" anchor="t"/>
          <a:lstStyle/>
          <a:p>
            <a:pPr algn="ctr" indent="0" marL="0">
              <a:buNone/>
            </a:pPr>
            <a:r>
              <a:rPr lang="en-US" sz="1350" dirty="0">
                <a:solidFill>
                  <a:srgbClr val="11121A"/>
                </a:solidFill>
                <a:latin typeface="Palatino Linotype" pitchFamily="34" charset="0"/>
                <a:ea typeface="Palatino Linotype" pitchFamily="34" charset="-122"/>
                <a:cs typeface="Palatino Linotype" pitchFamily="34" charset="-120"/>
              </a:rPr>
              <a:t>numai cu anunțul din primele 10 zile</a:t>
            </a:r>
            <a:endParaRPr lang="en-US" sz="1350" dirty="0"/>
          </a:p>
        </p:txBody>
      </p:sp>
      <p:sp>
        <p:nvSpPr>
          <p:cNvPr id="17" name="Shape 15"/>
          <p:cNvSpPr/>
          <p:nvPr/>
        </p:nvSpPr>
        <p:spPr>
          <a:xfrm>
            <a:off x="594360" y="4434840"/>
            <a:ext cx="10972800" cy="1234440"/>
          </a:xfrm>
          <a:prstGeom prst="roundRect">
            <a:avLst>
              <a:gd name="adj" fmla="val 6667"/>
            </a:avLst>
          </a:prstGeom>
          <a:solidFill>
            <a:srgbClr val="ECEAE4"/>
          </a:solidFill>
          <a:ln w="12700">
            <a:solidFill>
              <a:srgbClr val="ECEAE4"/>
            </a:solidFill>
            <a:prstDash val="solid"/>
          </a:ln>
        </p:spPr>
        <p:txBody>
          <a:bodyPr/>
          <a:p/>
        </p:txBody>
      </p:sp>
      <p:sp>
        <p:nvSpPr>
          <p:cNvPr id="18" name="Text 16"/>
          <p:cNvSpPr/>
          <p:nvPr/>
        </p:nvSpPr>
        <p:spPr>
          <a:xfrm>
            <a:off x="868680" y="4434840"/>
            <a:ext cx="10424160" cy="1234440"/>
          </a:xfrm>
          <a:prstGeom prst="rect">
            <a:avLst/>
          </a:prstGeom>
          <a:noFill/>
          <a:ln/>
        </p:spPr>
        <p:txBody>
          <a:bodyPr wrap="square" lIns="0" tIns="0" rIns="0" bIns="0" rtlCol="0" anchor="ctr"/>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De la expirarea termenului de răspuns curg cele 30 de zile pentru plângerea la tribunal.</a:t>
            </a:r>
            <a:endParaRPr lang="en-US" sz="19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544/2001 · A821, A822, A825, A828.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VOTUL 2</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 DOUA DECIZIE · SINGURI, FĂRĂ DISCUȚIE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În ziua a 12-a: „Informațiile solicitate sunt confidențiale.” Ce fac studenții acum?</a:t>
            </a:r>
            <a:endParaRPr lang="en-US" sz="2400" dirty="0"/>
          </a:p>
        </p:txBody>
      </p:sp>
      <p:sp>
        <p:nvSpPr>
          <p:cNvPr id="6" name="Shape 4"/>
          <p:cNvSpPr/>
          <p:nvPr/>
        </p:nvSpPr>
        <p:spPr>
          <a:xfrm>
            <a:off x="594360" y="16002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7" name="Shape 5"/>
          <p:cNvSpPr/>
          <p:nvPr/>
        </p:nvSpPr>
        <p:spPr>
          <a:xfrm>
            <a:off x="914400" y="1783080"/>
            <a:ext cx="420624" cy="420624"/>
          </a:xfrm>
          <a:prstGeom prst="ellipse">
            <a:avLst/>
          </a:prstGeom>
          <a:solidFill>
            <a:srgbClr val="FFC24B"/>
          </a:solidFill>
          <a:ln/>
        </p:spPr>
        <p:txBody>
          <a:bodyPr/>
          <a:p/>
        </p:txBody>
      </p:sp>
      <p:sp>
        <p:nvSpPr>
          <p:cNvPr id="8" name="Text 6"/>
          <p:cNvSpPr/>
          <p:nvPr/>
        </p:nvSpPr>
        <p:spPr>
          <a:xfrm>
            <a:off x="914400" y="1783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600200"/>
            <a:ext cx="731520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Așteaptă: legea dă spitalului 30 de zile.</a:t>
            </a:r>
            <a:endParaRPr lang="en-US" sz="1600" dirty="0"/>
          </a:p>
        </p:txBody>
      </p:sp>
      <p:sp>
        <p:nvSpPr>
          <p:cNvPr id="10" name="Shape 8"/>
          <p:cNvSpPr/>
          <p:nvPr/>
        </p:nvSpPr>
        <p:spPr>
          <a:xfrm>
            <a:off x="594360" y="25146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1" name="Shape 9"/>
          <p:cNvSpPr/>
          <p:nvPr/>
        </p:nvSpPr>
        <p:spPr>
          <a:xfrm>
            <a:off x="914400" y="2697480"/>
            <a:ext cx="420624" cy="420624"/>
          </a:xfrm>
          <a:prstGeom prst="ellipse">
            <a:avLst/>
          </a:prstGeom>
          <a:solidFill>
            <a:srgbClr val="FFC24B"/>
          </a:solidFill>
          <a:ln/>
        </p:spPr>
        <p:txBody>
          <a:bodyPr/>
          <a:p/>
        </p:txBody>
      </p:sp>
      <p:sp>
        <p:nvSpPr>
          <p:cNvPr id="12" name="Text 10"/>
          <p:cNvSpPr/>
          <p:nvPr/>
        </p:nvSpPr>
        <p:spPr>
          <a:xfrm>
            <a:off x="914400" y="2697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514600"/>
            <a:ext cx="731520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Depun imediat reclamație la managerul spitalului și, dacă nu primesc informațiile, fac plângere la tribunal înainte să expire termenul.</a:t>
            </a:r>
            <a:endParaRPr lang="en-US" sz="1600" dirty="0"/>
          </a:p>
        </p:txBody>
      </p:sp>
      <p:sp>
        <p:nvSpPr>
          <p:cNvPr id="14" name="Shape 12"/>
          <p:cNvSpPr/>
          <p:nvPr/>
        </p:nvSpPr>
        <p:spPr>
          <a:xfrm>
            <a:off x="594360" y="34290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5" name="Shape 13"/>
          <p:cNvSpPr/>
          <p:nvPr/>
        </p:nvSpPr>
        <p:spPr>
          <a:xfrm>
            <a:off x="914400" y="3611880"/>
            <a:ext cx="420624" cy="420624"/>
          </a:xfrm>
          <a:prstGeom prst="ellipse">
            <a:avLst/>
          </a:prstGeom>
          <a:solidFill>
            <a:srgbClr val="FFC24B"/>
          </a:solidFill>
          <a:ln/>
        </p:spPr>
        <p:txBody>
          <a:bodyPr/>
          <a:p/>
        </p:txBody>
      </p:sp>
      <p:sp>
        <p:nvSpPr>
          <p:cNvPr id="16" name="Text 14"/>
          <p:cNvSpPr/>
          <p:nvPr/>
        </p:nvSpPr>
        <p:spPr>
          <a:xfrm>
            <a:off x="91440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429000"/>
            <a:ext cx="731520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Trimit totul la Direcția Națională Anticorupție.</a:t>
            </a:r>
            <a:endParaRPr lang="en-US" sz="1600" dirty="0"/>
          </a:p>
        </p:txBody>
      </p:sp>
      <p:sp>
        <p:nvSpPr>
          <p:cNvPr id="18" name="Shape 16"/>
          <p:cNvSpPr/>
          <p:nvPr/>
        </p:nvSpPr>
        <p:spPr>
          <a:xfrm>
            <a:off x="594360" y="43434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9" name="Shape 17"/>
          <p:cNvSpPr/>
          <p:nvPr/>
        </p:nvSpPr>
        <p:spPr>
          <a:xfrm>
            <a:off x="914400" y="4526280"/>
            <a:ext cx="420624" cy="420624"/>
          </a:xfrm>
          <a:prstGeom prst="ellipse">
            <a:avLst/>
          </a:prstGeom>
          <a:solidFill>
            <a:srgbClr val="FFC24B"/>
          </a:solidFill>
          <a:ln/>
        </p:spPr>
        <p:txBody>
          <a:bodyPr/>
          <a:p/>
        </p:txBody>
      </p:sp>
      <p:sp>
        <p:nvSpPr>
          <p:cNvPr id="20" name="Text 18"/>
          <p:cNvSpPr/>
          <p:nvPr/>
        </p:nvSpPr>
        <p:spPr>
          <a:xfrm>
            <a:off x="914400" y="4526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343400"/>
            <a:ext cx="731520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Publică răspunsul spitalului pe rețelele sociale.</a:t>
            </a:r>
            <a:endParaRPr lang="en-US" sz="1600" dirty="0"/>
          </a:p>
        </p:txBody>
      </p:sp>
      <p:sp>
        <p:nvSpPr>
          <p:cNvPr id="22" name="Shape 20"/>
          <p:cNvSpPr/>
          <p:nvPr/>
        </p:nvSpPr>
        <p:spPr>
          <a:xfrm>
            <a:off x="9509760" y="1600200"/>
            <a:ext cx="2057400" cy="1828800"/>
          </a:xfrm>
          <a:prstGeom prst="roundRect">
            <a:avLst>
              <a:gd name="adj" fmla="val 4500"/>
            </a:avLst>
          </a:prstGeom>
          <a:solidFill>
            <a:srgbClr val="FFFFFF"/>
          </a:solidFill>
          <a:ln w="12700">
            <a:solidFill>
              <a:srgbClr val="FFFFFF"/>
            </a:solidFill>
            <a:prstDash val="solid"/>
          </a:ln>
        </p:spPr>
        <p:txBody>
          <a:bodyPr/>
          <a:p/>
        </p:txBody>
      </p:sp>
      <p:sp>
        <p:nvSpPr>
          <p:cNvPr id="24" name="Text 22"/>
          <p:cNvSpPr/>
          <p:nvPr/>
        </p:nvSpPr>
        <p:spPr>
          <a:xfrm>
            <a:off x="594360" y="5669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pic>
        <p:nvPicPr>
          <p:cNvPr id="25" name="Picture 24" descr="Mentimeter_OPT_PLIC_C05.png"/>
          <p:cNvPicPr>
            <a:picLocks noChangeAspect="1"/>
          </p:cNvPicPr>
          <p:nvPr/>
        </p:nvPicPr>
        <p:blipFill>
          <a:blip r:embed="rId3"/>
          <a:stretch>
            <a:fillRect/>
          </a:stretch>
        </p:blipFill>
        <p:spPr>
          <a:xfrm>
            <a:off x="9841229" y="1600200"/>
            <a:ext cx="1394461" cy="1394461"/>
          </a:xfrm>
          <a:prstGeom prst="rect">
            <a:avLst/>
          </a:prstGeom>
        </p:spPr>
      </p:pic>
      <p:sp>
        <p:nvSpPr>
          <p:cNvPr id="26" name="TextBox 25"/>
          <p:cNvSpPr txBox="1"/>
          <p:nvPr/>
        </p:nvSpPr>
        <p:spPr>
          <a:xfrm>
            <a:off x="9509760" y="30327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AL DOILEA 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DUPĂ ARGUMENTELE DIN CHAT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În ziua a 12-a: „Informațiile solicitate sunt confidențiale.” Ce fac studenții acum?</a:t>
            </a:r>
            <a:endParaRPr lang="en-US" sz="2400" dirty="0"/>
          </a:p>
        </p:txBody>
      </p:sp>
      <p:sp>
        <p:nvSpPr>
          <p:cNvPr id="6" name="Shape 4"/>
          <p:cNvSpPr/>
          <p:nvPr/>
        </p:nvSpPr>
        <p:spPr>
          <a:xfrm>
            <a:off x="594360" y="16002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7" name="Shape 5"/>
          <p:cNvSpPr/>
          <p:nvPr/>
        </p:nvSpPr>
        <p:spPr>
          <a:xfrm>
            <a:off x="914400" y="1783080"/>
            <a:ext cx="420624" cy="420624"/>
          </a:xfrm>
          <a:prstGeom prst="ellipse">
            <a:avLst/>
          </a:prstGeom>
          <a:solidFill>
            <a:srgbClr val="FFC24B"/>
          </a:solidFill>
          <a:ln/>
        </p:spPr>
        <p:txBody>
          <a:bodyPr/>
          <a:p/>
        </p:txBody>
      </p:sp>
      <p:sp>
        <p:nvSpPr>
          <p:cNvPr id="8" name="Text 6"/>
          <p:cNvSpPr/>
          <p:nvPr/>
        </p:nvSpPr>
        <p:spPr>
          <a:xfrm>
            <a:off x="914400" y="1783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600200"/>
            <a:ext cx="731520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Așteaptă: legea dă spitalului 30 de zile.</a:t>
            </a:r>
            <a:endParaRPr lang="en-US" sz="1600" dirty="0"/>
          </a:p>
        </p:txBody>
      </p:sp>
      <p:sp>
        <p:nvSpPr>
          <p:cNvPr id="10" name="Shape 8"/>
          <p:cNvSpPr/>
          <p:nvPr/>
        </p:nvSpPr>
        <p:spPr>
          <a:xfrm>
            <a:off x="594360" y="25146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1" name="Shape 9"/>
          <p:cNvSpPr/>
          <p:nvPr/>
        </p:nvSpPr>
        <p:spPr>
          <a:xfrm>
            <a:off x="914400" y="2697480"/>
            <a:ext cx="420624" cy="420624"/>
          </a:xfrm>
          <a:prstGeom prst="ellipse">
            <a:avLst/>
          </a:prstGeom>
          <a:solidFill>
            <a:srgbClr val="FFC24B"/>
          </a:solidFill>
          <a:ln/>
        </p:spPr>
        <p:txBody>
          <a:bodyPr/>
          <a:p/>
        </p:txBody>
      </p:sp>
      <p:sp>
        <p:nvSpPr>
          <p:cNvPr id="12" name="Text 10"/>
          <p:cNvSpPr/>
          <p:nvPr/>
        </p:nvSpPr>
        <p:spPr>
          <a:xfrm>
            <a:off x="914400" y="2697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514600"/>
            <a:ext cx="731520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Depun imediat reclamație la managerul spitalului și, dacă nu primesc informațiile, fac plângere la tribunal înainte să expire termenul.</a:t>
            </a:r>
            <a:endParaRPr lang="en-US" sz="1600" dirty="0"/>
          </a:p>
        </p:txBody>
      </p:sp>
      <p:sp>
        <p:nvSpPr>
          <p:cNvPr id="14" name="Shape 12"/>
          <p:cNvSpPr/>
          <p:nvPr/>
        </p:nvSpPr>
        <p:spPr>
          <a:xfrm>
            <a:off x="594360" y="34290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5" name="Shape 13"/>
          <p:cNvSpPr/>
          <p:nvPr/>
        </p:nvSpPr>
        <p:spPr>
          <a:xfrm>
            <a:off x="914400" y="3611880"/>
            <a:ext cx="420624" cy="420624"/>
          </a:xfrm>
          <a:prstGeom prst="ellipse">
            <a:avLst/>
          </a:prstGeom>
          <a:solidFill>
            <a:srgbClr val="FFC24B"/>
          </a:solidFill>
          <a:ln/>
        </p:spPr>
        <p:txBody>
          <a:bodyPr/>
          <a:p/>
        </p:txBody>
      </p:sp>
      <p:sp>
        <p:nvSpPr>
          <p:cNvPr id="16" name="Text 14"/>
          <p:cNvSpPr/>
          <p:nvPr/>
        </p:nvSpPr>
        <p:spPr>
          <a:xfrm>
            <a:off x="91440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429000"/>
            <a:ext cx="731520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Trimit totul la Direcția Națională Anticorupție.</a:t>
            </a:r>
            <a:endParaRPr lang="en-US" sz="1600" dirty="0"/>
          </a:p>
        </p:txBody>
      </p:sp>
      <p:sp>
        <p:nvSpPr>
          <p:cNvPr id="18" name="Shape 16"/>
          <p:cNvSpPr/>
          <p:nvPr/>
        </p:nvSpPr>
        <p:spPr>
          <a:xfrm>
            <a:off x="594360" y="43434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9" name="Shape 17"/>
          <p:cNvSpPr/>
          <p:nvPr/>
        </p:nvSpPr>
        <p:spPr>
          <a:xfrm>
            <a:off x="914400" y="4526280"/>
            <a:ext cx="420624" cy="420624"/>
          </a:xfrm>
          <a:prstGeom prst="ellipse">
            <a:avLst/>
          </a:prstGeom>
          <a:solidFill>
            <a:srgbClr val="FFC24B"/>
          </a:solidFill>
          <a:ln/>
        </p:spPr>
        <p:txBody>
          <a:bodyPr/>
          <a:p/>
        </p:txBody>
      </p:sp>
      <p:sp>
        <p:nvSpPr>
          <p:cNvPr id="20" name="Text 18"/>
          <p:cNvSpPr/>
          <p:nvPr/>
        </p:nvSpPr>
        <p:spPr>
          <a:xfrm>
            <a:off x="914400" y="4526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343400"/>
            <a:ext cx="731520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Publică răspunsul spitalului pe rețelele sociale.</a:t>
            </a:r>
            <a:endParaRPr lang="en-US" sz="1600" dirty="0"/>
          </a:p>
        </p:txBody>
      </p:sp>
      <p:sp>
        <p:nvSpPr>
          <p:cNvPr id="22" name="Shape 20"/>
          <p:cNvSpPr/>
          <p:nvPr/>
        </p:nvSpPr>
        <p:spPr>
          <a:xfrm>
            <a:off x="9509760" y="1600200"/>
            <a:ext cx="2057400" cy="1828800"/>
          </a:xfrm>
          <a:prstGeom prst="roundRect">
            <a:avLst>
              <a:gd name="adj" fmla="val 4500"/>
            </a:avLst>
          </a:prstGeom>
          <a:solidFill>
            <a:srgbClr val="FFFFFF"/>
          </a:solidFill>
          <a:ln w="12700">
            <a:solidFill>
              <a:srgbClr val="FFFFFF"/>
            </a:solidFill>
            <a:prstDash val="solid"/>
          </a:ln>
        </p:spPr>
        <p:txBody>
          <a:bodyPr/>
          <a:p/>
        </p:txBody>
      </p:sp>
      <p:sp>
        <p:nvSpPr>
          <p:cNvPr id="24" name="Text 22"/>
          <p:cNvSpPr/>
          <p:nvPr/>
        </p:nvSpPr>
        <p:spPr>
          <a:xfrm>
            <a:off x="594360" y="5669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la cod sau din linkul din chat.</a:t>
            </a:r>
            <a:endParaRPr lang="en-US" sz="1600" dirty="0"/>
          </a:p>
        </p:txBody>
      </p:sp>
      <p:pic>
        <p:nvPicPr>
          <p:cNvPr id="25" name="Picture 24" descr="Mentimeter_OPT_PLIC_C05.png"/>
          <p:cNvPicPr>
            <a:picLocks noChangeAspect="1"/>
          </p:cNvPicPr>
          <p:nvPr/>
        </p:nvPicPr>
        <p:blipFill>
          <a:blip r:embed="rId3"/>
          <a:stretch>
            <a:fillRect/>
          </a:stretch>
        </p:blipFill>
        <p:spPr>
          <a:xfrm>
            <a:off x="9841229" y="1600200"/>
            <a:ext cx="1394461" cy="1394461"/>
          </a:xfrm>
          <a:prstGeom prst="rect">
            <a:avLst/>
          </a:prstGeom>
        </p:spPr>
      </p:pic>
      <p:sp>
        <p:nvSpPr>
          <p:cNvPr id="26" name="TextBox 25"/>
          <p:cNvSpPr txBox="1"/>
          <p:nvPr/>
        </p:nvSpPr>
        <p:spPr>
          <a:xfrm>
            <a:off x="9509760" y="30327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 DOUA DECIZIE · CELE DOUĂ VOTURI, ALĂTURI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Varianta (B)</a:t>
            </a:r>
            <a:endParaRPr lang="en-US" sz="3200" dirty="0"/>
          </a:p>
        </p:txBody>
      </p:sp>
      <p:sp>
        <p:nvSpPr>
          <p:cNvPr id="4" name="Shape 2"/>
          <p:cNvSpPr/>
          <p:nvPr/>
        </p:nvSpPr>
        <p:spPr>
          <a:xfrm>
            <a:off x="594360" y="1600200"/>
            <a:ext cx="5349240" cy="2743200"/>
          </a:xfrm>
          <a:prstGeom prst="roundRect">
            <a:avLst>
              <a:gd name="adj" fmla="val 3000"/>
            </a:avLst>
          </a:prstGeom>
          <a:solidFill>
            <a:srgbClr val="1D1F2B"/>
          </a:solidFill>
          <a:ln w="12700">
            <a:solidFill>
              <a:srgbClr val="1D1F2B"/>
            </a:solidFill>
            <a:prstDash val="solid"/>
          </a:ln>
        </p:spPr>
        <p:txBody>
          <a:bodyPr/>
          <a:p/>
        </p:txBody>
      </p:sp>
      <p:sp>
        <p:nvSpPr>
          <p:cNvPr id="5" name="Text 3"/>
          <p:cNvSpPr/>
          <p:nvPr/>
        </p:nvSpPr>
        <p:spPr>
          <a:xfrm>
            <a:off x="868680" y="1783080"/>
            <a:ext cx="4846320" cy="310896"/>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PRIMUL VOT</a:t>
            </a:r>
            <a:endParaRPr lang="en-US" sz="1300" dirty="0"/>
          </a:p>
        </p:txBody>
      </p:sp>
      <p:sp>
        <p:nvSpPr>
          <p:cNvPr id="6" name="Text 4"/>
          <p:cNvSpPr/>
          <p:nvPr/>
        </p:nvSpPr>
        <p:spPr>
          <a:xfrm>
            <a:off x="868680" y="2194560"/>
            <a:ext cx="4846320" cy="2011680"/>
          </a:xfrm>
          <a:prstGeom prst="rect">
            <a:avLst/>
          </a:prstGeom>
          <a:noFill/>
          <a:ln/>
        </p:spPr>
        <p:txBody>
          <a:bodyPr wrap="square" lIns="0" tIns="0" rIns="0" bIns="0" rtlCol="0" anchor="ctr"/>
          <a:lstStyle/>
          <a:p>
            <a:pPr algn="ctr" indent="0" marL="0">
              <a:buNone/>
            </a:pPr>
            <a:r>
              <a:rPr lang="en-US" sz="1400" i="1" dirty="0">
                <a:solidFill>
                  <a:srgbClr val="959BB0"/>
                </a:solidFill>
                <a:latin typeface="Palatino Linotype" pitchFamily="34" charset="0"/>
                <a:ea typeface="Palatino Linotype" pitchFamily="34" charset="-122"/>
                <a:cs typeface="Palatino Linotype" pitchFamily="34" charset="-120"/>
              </a:rPr>
              <a:t>[distribuția primului vot, din Mentimeter]</a:t>
            </a:r>
            <a:endParaRPr lang="en-US" sz="1400" dirty="0"/>
          </a:p>
        </p:txBody>
      </p:sp>
      <p:sp>
        <p:nvSpPr>
          <p:cNvPr id="7" name="Shape 5"/>
          <p:cNvSpPr/>
          <p:nvPr/>
        </p:nvSpPr>
        <p:spPr>
          <a:xfrm>
            <a:off x="6217920" y="1600200"/>
            <a:ext cx="5349240" cy="2743200"/>
          </a:xfrm>
          <a:prstGeom prst="roundRect">
            <a:avLst>
              <a:gd name="adj" fmla="val 3000"/>
            </a:avLst>
          </a:prstGeom>
          <a:solidFill>
            <a:srgbClr val="1D1F2B"/>
          </a:solidFill>
          <a:ln w="12700">
            <a:solidFill>
              <a:srgbClr val="1D1F2B"/>
            </a:solidFill>
            <a:prstDash val="solid"/>
          </a:ln>
        </p:spPr>
        <p:txBody>
          <a:bodyPr/>
          <a:p/>
        </p:txBody>
      </p:sp>
      <p:sp>
        <p:nvSpPr>
          <p:cNvPr id="8" name="Text 6"/>
          <p:cNvSpPr/>
          <p:nvPr/>
        </p:nvSpPr>
        <p:spPr>
          <a:xfrm>
            <a:off x="6492240" y="1783080"/>
            <a:ext cx="4846320" cy="310896"/>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DUPĂ DISCUȚIE</a:t>
            </a:r>
            <a:endParaRPr lang="en-US" sz="1300" dirty="0"/>
          </a:p>
        </p:txBody>
      </p:sp>
      <p:sp>
        <p:nvSpPr>
          <p:cNvPr id="9" name="Text 7"/>
          <p:cNvSpPr/>
          <p:nvPr/>
        </p:nvSpPr>
        <p:spPr>
          <a:xfrm>
            <a:off x="6492240" y="2194560"/>
            <a:ext cx="4846320" cy="2011680"/>
          </a:xfrm>
          <a:prstGeom prst="rect">
            <a:avLst/>
          </a:prstGeom>
          <a:noFill/>
          <a:ln/>
        </p:spPr>
        <p:txBody>
          <a:bodyPr wrap="square" lIns="0" tIns="0" rIns="0" bIns="0" rtlCol="0" anchor="ctr"/>
          <a:lstStyle/>
          <a:p>
            <a:pPr algn="ctr" indent="0" marL="0">
              <a:buNone/>
            </a:pPr>
            <a:r>
              <a:rPr lang="en-US" sz="1400" i="1" dirty="0">
                <a:solidFill>
                  <a:srgbClr val="959BB0"/>
                </a:solidFill>
                <a:latin typeface="Palatino Linotype" pitchFamily="34" charset="0"/>
                <a:ea typeface="Palatino Linotype" pitchFamily="34" charset="-122"/>
                <a:cs typeface="Palatino Linotype" pitchFamily="34" charset="-120"/>
              </a:rPr>
              <a:t>[distribuția celui de-al doilea vot, din Mentimeter]</a:t>
            </a:r>
            <a:endParaRPr lang="en-US" sz="1400" dirty="0"/>
          </a:p>
        </p:txBody>
      </p:sp>
      <p:sp>
        <p:nvSpPr>
          <p:cNvPr id="10" name="Shape 8"/>
          <p:cNvSpPr/>
          <p:nvPr/>
        </p:nvSpPr>
        <p:spPr>
          <a:xfrm>
            <a:off x="594360" y="4526280"/>
            <a:ext cx="10972800" cy="1463040"/>
          </a:xfrm>
          <a:prstGeom prst="roundRect">
            <a:avLst>
              <a:gd name="adj" fmla="val 5625"/>
            </a:avLst>
          </a:prstGeom>
          <a:solidFill>
            <a:srgbClr val="FFC24B"/>
          </a:solidFill>
          <a:ln w="12700">
            <a:solidFill>
              <a:srgbClr val="FFC24B"/>
            </a:solidFill>
            <a:prstDash val="solid"/>
          </a:ln>
        </p:spPr>
        <p:txBody>
          <a:bodyPr/>
          <a:p/>
        </p:txBody>
      </p:sp>
      <p:sp>
        <p:nvSpPr>
          <p:cNvPr id="11" name="Text 9"/>
          <p:cNvSpPr/>
          <p:nvPr/>
        </p:nvSpPr>
        <p:spPr>
          <a:xfrm>
            <a:off x="868680" y="4526280"/>
            <a:ext cx="10424160" cy="1463040"/>
          </a:xfrm>
          <a:prstGeom prst="rect">
            <a:avLst/>
          </a:prstGeom>
          <a:noFill/>
          <a:ln/>
        </p:spPr>
        <p:txBody>
          <a:bodyPr wrap="square" lIns="0" tIns="0" rIns="0" bIns="0" rtlCol="0" anchor="ctr"/>
          <a:lstStyle/>
          <a:p>
            <a:pPr indent="0" marL="0">
              <a:buNone/>
            </a:pPr>
            <a:r>
              <a:rPr lang="en-US" sz="1800" b="1" dirty="0">
                <a:solidFill>
                  <a:srgbClr val="3D2A00"/>
                </a:solidFill>
                <a:latin typeface="Palatino Linotype" pitchFamily="34" charset="0"/>
                <a:ea typeface="Palatino Linotype" pitchFamily="34" charset="-122"/>
                <a:cs typeface="Palatino Linotype" pitchFamily="34" charset="-120"/>
              </a:rPr>
              <a:t>Răspunsul spitalului încalcă legea de două ori: refuzul nu are motiv și a venit după 5 zile; termenul de 30 de zile nu se aplica, fără anunț în primele 10.</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FACEȚI CÂND RĂSPUNSUL E UN REFUZ</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Două căi, fiecare cu termenul ei</a:t>
            </a:r>
            <a:endParaRPr lang="en-US" sz="3200" dirty="0"/>
          </a:p>
        </p:txBody>
      </p:sp>
      <p:sp>
        <p:nvSpPr>
          <p:cNvPr id="4" name="Shape 2"/>
          <p:cNvSpPr/>
          <p:nvPr/>
        </p:nvSpPr>
        <p:spPr>
          <a:xfrm>
            <a:off x="594360" y="1645920"/>
            <a:ext cx="5349240" cy="3108960"/>
          </a:xfrm>
          <a:prstGeom prst="roundRect">
            <a:avLst>
              <a:gd name="adj" fmla="val 2647"/>
            </a:avLst>
          </a:prstGeom>
          <a:solidFill>
            <a:srgbClr val="ECEAE4"/>
          </a:solidFill>
          <a:ln w="12700">
            <a:solidFill>
              <a:srgbClr val="ECEAE4"/>
            </a:solidFill>
            <a:prstDash val="solid"/>
          </a:ln>
        </p:spPr>
        <p:txBody>
          <a:bodyPr/>
          <a:p/>
        </p:txBody>
      </p:sp>
      <p:sp>
        <p:nvSpPr>
          <p:cNvPr id="5" name="Shape 3"/>
          <p:cNvSpPr/>
          <p:nvPr/>
        </p:nvSpPr>
        <p:spPr>
          <a:xfrm>
            <a:off x="594360" y="1645920"/>
            <a:ext cx="5349240" cy="73152"/>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874520"/>
            <a:ext cx="4800600" cy="4114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Reclamația la conducătorul instituției</a:t>
            </a:r>
            <a:endParaRPr lang="en-US" sz="1600" dirty="0"/>
          </a:p>
        </p:txBody>
      </p:sp>
      <p:sp>
        <p:nvSpPr>
          <p:cNvPr id="7" name="Text 5"/>
          <p:cNvSpPr/>
          <p:nvPr/>
        </p:nvSpPr>
        <p:spPr>
          <a:xfrm>
            <a:off x="868680" y="2377440"/>
            <a:ext cx="4800600" cy="22402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O plângere scrisă către manager, în 30 de zile de la refuz. Dacă e întemeiată, răspunsul vine în 15 zile, cu informațiile și cu sancțiunile luate.</a:t>
            </a:r>
            <a:endParaRPr lang="en-US" sz="1800" dirty="0"/>
          </a:p>
        </p:txBody>
      </p:sp>
      <p:sp>
        <p:nvSpPr>
          <p:cNvPr id="8" name="Shape 6"/>
          <p:cNvSpPr/>
          <p:nvPr/>
        </p:nvSpPr>
        <p:spPr>
          <a:xfrm>
            <a:off x="6217920" y="1645920"/>
            <a:ext cx="5349240" cy="3108960"/>
          </a:xfrm>
          <a:prstGeom prst="roundRect">
            <a:avLst>
              <a:gd name="adj" fmla="val 2647"/>
            </a:avLst>
          </a:prstGeom>
          <a:solidFill>
            <a:srgbClr val="ECEAE4"/>
          </a:solidFill>
          <a:ln w="12700">
            <a:solidFill>
              <a:srgbClr val="ECEAE4"/>
            </a:solidFill>
            <a:prstDash val="solid"/>
          </a:ln>
        </p:spPr>
        <p:txBody>
          <a:bodyPr/>
          <a:p/>
        </p:txBody>
      </p:sp>
      <p:sp>
        <p:nvSpPr>
          <p:cNvPr id="9" name="Shape 7"/>
          <p:cNvSpPr/>
          <p:nvPr/>
        </p:nvSpPr>
        <p:spPr>
          <a:xfrm>
            <a:off x="6217920" y="1645920"/>
            <a:ext cx="534924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6492240" y="1874520"/>
            <a:ext cx="4800600" cy="41148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Plângerea la tribunal</a:t>
            </a:r>
            <a:endParaRPr lang="en-US" sz="1600" dirty="0"/>
          </a:p>
        </p:txBody>
      </p:sp>
      <p:sp>
        <p:nvSpPr>
          <p:cNvPr id="11" name="Text 9"/>
          <p:cNvSpPr/>
          <p:nvPr/>
        </p:nvSpPr>
        <p:spPr>
          <a:xfrm>
            <a:off x="6492240" y="2377440"/>
            <a:ext cx="4800600" cy="22402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La secția care judecă litigiile cu instituțiile publice, în 30 de zile de la expirarea termenului de răspuns. Judecată de urgență, fără taxă.</a:t>
            </a:r>
            <a:endParaRPr lang="en-US" sz="1800" dirty="0"/>
          </a:p>
        </p:txBody>
      </p:sp>
      <p:sp>
        <p:nvSpPr>
          <p:cNvPr id="12" name="Text 10"/>
          <p:cNvSpPr/>
          <p:nvPr/>
        </p:nvSpPr>
        <p:spPr>
          <a:xfrm>
            <a:off x="594360" y="4983480"/>
            <a:ext cx="10972800" cy="73152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Refuzul nemotivat este o abatere: angajatul care a refuzat răspunde disciplinar.</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544/2001 · A824, A825, A821.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SOCOTEALA PE CEREREA STUDENȚILOR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Reclamația, imediat; data-limită, notată</a:t>
            </a:r>
            <a:endParaRPr lang="en-US" sz="3000" dirty="0"/>
          </a:p>
        </p:txBody>
      </p:sp>
      <p:sp>
        <p:nvSpPr>
          <p:cNvPr id="4" name="Shape 2"/>
          <p:cNvSpPr/>
          <p:nvPr/>
        </p:nvSpPr>
        <p:spPr>
          <a:xfrm>
            <a:off x="1600200" y="2697480"/>
            <a:ext cx="8961120" cy="45720"/>
          </a:xfrm>
          <a:prstGeom prst="rect">
            <a:avLst/>
          </a:prstGeom>
          <a:solidFill>
            <a:srgbClr val="11121A"/>
          </a:solidFill>
          <a:ln w="12700">
            <a:solidFill>
              <a:srgbClr val="333333"/>
            </a:solidFill>
            <a:prstDash val="solid"/>
          </a:ln>
        </p:spPr>
        <p:txBody>
          <a:bodyPr/>
          <a:p/>
        </p:txBody>
      </p:sp>
      <p:sp>
        <p:nvSpPr>
          <p:cNvPr id="5" name="Shape 3"/>
          <p:cNvSpPr/>
          <p:nvPr/>
        </p:nvSpPr>
        <p:spPr>
          <a:xfrm>
            <a:off x="1472184" y="2587752"/>
            <a:ext cx="274320" cy="274320"/>
          </a:xfrm>
          <a:prstGeom prst="ellipse">
            <a:avLst/>
          </a:prstGeom>
          <a:solidFill>
            <a:srgbClr val="11121A"/>
          </a:solidFill>
          <a:ln w="12700">
            <a:solidFill>
              <a:srgbClr val="11121A"/>
            </a:solidFill>
            <a:prstDash val="solid"/>
          </a:ln>
        </p:spPr>
        <p:txBody>
          <a:bodyPr/>
          <a:p/>
        </p:txBody>
      </p:sp>
      <p:sp>
        <p:nvSpPr>
          <p:cNvPr id="6" name="Text 4"/>
          <p:cNvSpPr/>
          <p:nvPr/>
        </p:nvSpPr>
        <p:spPr>
          <a:xfrm>
            <a:off x="594360" y="2011680"/>
            <a:ext cx="2011680" cy="457200"/>
          </a:xfrm>
          <a:prstGeom prst="rect">
            <a:avLst/>
          </a:prstGeom>
          <a:noFill/>
          <a:ln/>
        </p:spPr>
        <p:txBody>
          <a:bodyPr wrap="square" lIns="0" tIns="0" rIns="0" bIns="0" rtlCol="0" anchor="b"/>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Ziua 0</a:t>
            </a:r>
            <a:endParaRPr lang="en-US" sz="1700" dirty="0"/>
          </a:p>
        </p:txBody>
      </p:sp>
      <p:sp>
        <p:nvSpPr>
          <p:cNvPr id="7" name="Text 5"/>
          <p:cNvSpPr/>
          <p:nvPr/>
        </p:nvSpPr>
        <p:spPr>
          <a:xfrm>
            <a:off x="594360" y="3017520"/>
            <a:ext cx="2011680" cy="1371600"/>
          </a:xfrm>
          <a:prstGeom prst="rect">
            <a:avLst/>
          </a:prstGeom>
          <a:noFill/>
          <a:ln/>
        </p:spPr>
        <p:txBody>
          <a:bodyPr wrap="square" lIns="0" tIns="0" rIns="0" bIns="0" rtlCol="0" anchor="t"/>
          <a:lstStyle/>
          <a:p>
            <a:pPr algn="ctr" indent="0" marL="0">
              <a:buNone/>
            </a:pPr>
            <a:r>
              <a:rPr lang="en-US" sz="1350" dirty="0">
                <a:solidFill>
                  <a:srgbClr val="11121A"/>
                </a:solidFill>
                <a:latin typeface="Palatino Linotype" pitchFamily="34" charset="0"/>
                <a:ea typeface="Palatino Linotype" pitchFamily="34" charset="-122"/>
                <a:cs typeface="Palatino Linotype" pitchFamily="34" charset="-120"/>
              </a:rPr>
              <a:t>cererea înregistrată</a:t>
            </a:r>
            <a:endParaRPr lang="en-US" sz="1350" dirty="0"/>
          </a:p>
        </p:txBody>
      </p:sp>
      <p:sp>
        <p:nvSpPr>
          <p:cNvPr id="8" name="Shape 6"/>
          <p:cNvSpPr/>
          <p:nvPr/>
        </p:nvSpPr>
        <p:spPr>
          <a:xfrm>
            <a:off x="4429354" y="2587752"/>
            <a:ext cx="274320" cy="274320"/>
          </a:xfrm>
          <a:prstGeom prst="ellipse">
            <a:avLst/>
          </a:prstGeom>
          <a:solidFill>
            <a:srgbClr val="0E7C6B"/>
          </a:solidFill>
          <a:ln w="12700">
            <a:solidFill>
              <a:srgbClr val="0E7C6B"/>
            </a:solidFill>
            <a:prstDash val="solid"/>
          </a:ln>
        </p:spPr>
        <p:txBody>
          <a:bodyPr/>
          <a:p/>
        </p:txBody>
      </p:sp>
      <p:sp>
        <p:nvSpPr>
          <p:cNvPr id="9" name="Text 7"/>
          <p:cNvSpPr/>
          <p:nvPr/>
        </p:nvSpPr>
        <p:spPr>
          <a:xfrm>
            <a:off x="3551530" y="2011680"/>
            <a:ext cx="2011680" cy="457200"/>
          </a:xfrm>
          <a:prstGeom prst="rect">
            <a:avLst/>
          </a:prstGeom>
          <a:noFill/>
          <a:ln/>
        </p:spPr>
        <p:txBody>
          <a:bodyPr wrap="square" lIns="0" tIns="0" rIns="0" bIns="0" rtlCol="0" anchor="b"/>
          <a:lstStyle/>
          <a:p>
            <a:pPr algn="ctr" indent="0" marL="0">
              <a:buNone/>
            </a:pPr>
            <a:r>
              <a:rPr lang="en-US" sz="1700" b="1" dirty="0">
                <a:solidFill>
                  <a:srgbClr val="0E7C6B"/>
                </a:solidFill>
                <a:latin typeface="Palatino Linotype" pitchFamily="34" charset="0"/>
                <a:ea typeface="Palatino Linotype" pitchFamily="34" charset="-122"/>
                <a:cs typeface="Palatino Linotype" pitchFamily="34" charset="-120"/>
              </a:rPr>
              <a:t>Ziua 10</a:t>
            </a:r>
            <a:endParaRPr lang="en-US" sz="1700" dirty="0"/>
          </a:p>
        </p:txBody>
      </p:sp>
      <p:sp>
        <p:nvSpPr>
          <p:cNvPr id="10" name="Text 8"/>
          <p:cNvSpPr/>
          <p:nvPr/>
        </p:nvSpPr>
        <p:spPr>
          <a:xfrm>
            <a:off x="3551530" y="3017520"/>
            <a:ext cx="2011680" cy="1371600"/>
          </a:xfrm>
          <a:prstGeom prst="rect">
            <a:avLst/>
          </a:prstGeom>
          <a:noFill/>
          <a:ln/>
        </p:spPr>
        <p:txBody>
          <a:bodyPr wrap="square" lIns="0" tIns="0" rIns="0" bIns="0" rtlCol="0" anchor="t"/>
          <a:lstStyle/>
          <a:p>
            <a:pPr algn="ctr" indent="0" marL="0">
              <a:buNone/>
            </a:pPr>
            <a:r>
              <a:rPr lang="en-US" sz="1350" dirty="0">
                <a:solidFill>
                  <a:srgbClr val="11121A"/>
                </a:solidFill>
                <a:latin typeface="Palatino Linotype" pitchFamily="34" charset="0"/>
                <a:ea typeface="Palatino Linotype" pitchFamily="34" charset="-122"/>
                <a:cs typeface="Palatino Linotype" pitchFamily="34" charset="-120"/>
              </a:rPr>
              <a:t>expiră termenul de răspuns</a:t>
            </a:r>
            <a:endParaRPr lang="en-US" sz="1350" dirty="0"/>
          </a:p>
        </p:txBody>
      </p:sp>
      <p:sp>
        <p:nvSpPr>
          <p:cNvPr id="11" name="Shape 9"/>
          <p:cNvSpPr/>
          <p:nvPr/>
        </p:nvSpPr>
        <p:spPr>
          <a:xfrm>
            <a:off x="7028078" y="2587752"/>
            <a:ext cx="274320" cy="274320"/>
          </a:xfrm>
          <a:prstGeom prst="ellipse">
            <a:avLst/>
          </a:prstGeom>
          <a:solidFill>
            <a:srgbClr val="B02532"/>
          </a:solidFill>
          <a:ln w="12700">
            <a:solidFill>
              <a:srgbClr val="B02532"/>
            </a:solidFill>
            <a:prstDash val="solid"/>
          </a:ln>
        </p:spPr>
        <p:txBody>
          <a:bodyPr/>
          <a:p/>
        </p:txBody>
      </p:sp>
      <p:sp>
        <p:nvSpPr>
          <p:cNvPr id="12" name="Text 10"/>
          <p:cNvSpPr/>
          <p:nvPr/>
        </p:nvSpPr>
        <p:spPr>
          <a:xfrm>
            <a:off x="6150254" y="2011680"/>
            <a:ext cx="2011680" cy="457200"/>
          </a:xfrm>
          <a:prstGeom prst="rect">
            <a:avLst/>
          </a:prstGeom>
          <a:noFill/>
          <a:ln/>
        </p:spPr>
        <p:txBody>
          <a:bodyPr wrap="square" lIns="0" tIns="0" rIns="0" bIns="0" rtlCol="0" anchor="b"/>
          <a:lstStyle/>
          <a:p>
            <a:pPr algn="ctr" indent="0" marL="0">
              <a:buNone/>
            </a:pPr>
            <a:r>
              <a:rPr lang="en-US" sz="1700" b="1" dirty="0">
                <a:solidFill>
                  <a:srgbClr val="B02532"/>
                </a:solidFill>
                <a:latin typeface="Palatino Linotype" pitchFamily="34" charset="0"/>
                <a:ea typeface="Palatino Linotype" pitchFamily="34" charset="-122"/>
                <a:cs typeface="Palatino Linotype" pitchFamily="34" charset="-120"/>
              </a:rPr>
              <a:t>Ziua 12</a:t>
            </a:r>
            <a:endParaRPr lang="en-US" sz="1700" dirty="0"/>
          </a:p>
        </p:txBody>
      </p:sp>
      <p:sp>
        <p:nvSpPr>
          <p:cNvPr id="13" name="Text 11"/>
          <p:cNvSpPr/>
          <p:nvPr/>
        </p:nvSpPr>
        <p:spPr>
          <a:xfrm>
            <a:off x="6150254" y="3017520"/>
            <a:ext cx="2011680" cy="1371600"/>
          </a:xfrm>
          <a:prstGeom prst="rect">
            <a:avLst/>
          </a:prstGeom>
          <a:noFill/>
          <a:ln/>
        </p:spPr>
        <p:txBody>
          <a:bodyPr wrap="square" lIns="0" tIns="0" rIns="0" bIns="0" rtlCol="0" anchor="t"/>
          <a:lstStyle/>
          <a:p>
            <a:pPr algn="ctr" indent="0" marL="0">
              <a:buNone/>
            </a:pPr>
            <a:r>
              <a:rPr lang="en-US" sz="1350" dirty="0">
                <a:solidFill>
                  <a:srgbClr val="11121A"/>
                </a:solidFill>
                <a:latin typeface="Palatino Linotype" pitchFamily="34" charset="0"/>
                <a:ea typeface="Palatino Linotype" pitchFamily="34" charset="-122"/>
                <a:cs typeface="Palatino Linotype" pitchFamily="34" charset="-120"/>
              </a:rPr>
              <a:t>refuzul; reclamația, imediat</a:t>
            </a:r>
            <a:endParaRPr lang="en-US" sz="1350" dirty="0"/>
          </a:p>
        </p:txBody>
      </p:sp>
      <p:sp>
        <p:nvSpPr>
          <p:cNvPr id="14" name="Shape 12"/>
          <p:cNvSpPr/>
          <p:nvPr/>
        </p:nvSpPr>
        <p:spPr>
          <a:xfrm>
            <a:off x="10433304" y="2587752"/>
            <a:ext cx="274320" cy="274320"/>
          </a:xfrm>
          <a:prstGeom prst="ellipse">
            <a:avLst/>
          </a:prstGeom>
          <a:solidFill>
            <a:srgbClr val="8A6100"/>
          </a:solidFill>
          <a:ln w="12700">
            <a:solidFill>
              <a:srgbClr val="8A6100"/>
            </a:solidFill>
            <a:prstDash val="solid"/>
          </a:ln>
        </p:spPr>
        <p:txBody>
          <a:bodyPr/>
          <a:p/>
        </p:txBody>
      </p:sp>
      <p:sp>
        <p:nvSpPr>
          <p:cNvPr id="15" name="Text 13"/>
          <p:cNvSpPr/>
          <p:nvPr/>
        </p:nvSpPr>
        <p:spPr>
          <a:xfrm>
            <a:off x="9555480" y="2011680"/>
            <a:ext cx="2011680" cy="457200"/>
          </a:xfrm>
          <a:prstGeom prst="rect">
            <a:avLst/>
          </a:prstGeom>
          <a:noFill/>
          <a:ln/>
        </p:spPr>
        <p:txBody>
          <a:bodyPr wrap="square" lIns="0" tIns="0" rIns="0" bIns="0" rtlCol="0" anchor="b"/>
          <a:lstStyle/>
          <a:p>
            <a:pPr algn="ctr" indent="0" marL="0">
              <a:buNone/>
            </a:pPr>
            <a:r>
              <a:rPr lang="en-US" sz="1700" b="1" dirty="0">
                <a:solidFill>
                  <a:srgbClr val="8A6100"/>
                </a:solidFill>
                <a:latin typeface="Palatino Linotype" pitchFamily="34" charset="0"/>
                <a:ea typeface="Palatino Linotype" pitchFamily="34" charset="-122"/>
                <a:cs typeface="Palatino Linotype" pitchFamily="34" charset="-120"/>
              </a:rPr>
              <a:t>Aprox. ziua 40</a:t>
            </a:r>
            <a:endParaRPr lang="en-US" sz="1700" dirty="0"/>
          </a:p>
        </p:txBody>
      </p:sp>
      <p:sp>
        <p:nvSpPr>
          <p:cNvPr id="16" name="Text 14"/>
          <p:cNvSpPr/>
          <p:nvPr/>
        </p:nvSpPr>
        <p:spPr>
          <a:xfrm>
            <a:off x="9555480" y="3017520"/>
            <a:ext cx="2011680" cy="1371600"/>
          </a:xfrm>
          <a:prstGeom prst="rect">
            <a:avLst/>
          </a:prstGeom>
          <a:noFill/>
          <a:ln/>
        </p:spPr>
        <p:txBody>
          <a:bodyPr wrap="square" lIns="0" tIns="0" rIns="0" bIns="0" rtlCol="0" anchor="t"/>
          <a:lstStyle/>
          <a:p>
            <a:pPr algn="ctr" indent="0" marL="0">
              <a:buNone/>
            </a:pPr>
            <a:r>
              <a:rPr lang="en-US" sz="1350" dirty="0">
                <a:solidFill>
                  <a:srgbClr val="11121A"/>
                </a:solidFill>
                <a:latin typeface="Palatino Linotype" pitchFamily="34" charset="0"/>
                <a:ea typeface="Palatino Linotype" pitchFamily="34" charset="-122"/>
                <a:cs typeface="Palatino Linotype" pitchFamily="34" charset="-120"/>
              </a:rPr>
              <a:t>se încheie termenul pentru tribunal</a:t>
            </a:r>
            <a:endParaRPr lang="en-US" sz="1350" dirty="0"/>
          </a:p>
        </p:txBody>
      </p:sp>
      <p:sp>
        <p:nvSpPr>
          <p:cNvPr id="17" name="Shape 15"/>
          <p:cNvSpPr/>
          <p:nvPr/>
        </p:nvSpPr>
        <p:spPr>
          <a:xfrm>
            <a:off x="594360" y="4343400"/>
            <a:ext cx="10972800" cy="1417320"/>
          </a:xfrm>
          <a:prstGeom prst="roundRect">
            <a:avLst>
              <a:gd name="adj" fmla="val 5806"/>
            </a:avLst>
          </a:prstGeom>
          <a:solidFill>
            <a:srgbClr val="ECEAE4"/>
          </a:solidFill>
          <a:ln w="12700">
            <a:solidFill>
              <a:srgbClr val="ECEAE4"/>
            </a:solidFill>
            <a:prstDash val="solid"/>
          </a:ln>
        </p:spPr>
        <p:txBody>
          <a:bodyPr/>
          <a:p/>
        </p:txBody>
      </p:sp>
      <p:sp>
        <p:nvSpPr>
          <p:cNvPr id="18" name="Text 16"/>
          <p:cNvSpPr/>
          <p:nvPr/>
        </p:nvSpPr>
        <p:spPr>
          <a:xfrm>
            <a:off x="868680" y="4343400"/>
            <a:ext cx="10424160" cy="1417320"/>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Reclamația se poate depune până în jurul zilei a 42-a, dar răspunsul ei vine în 15 zile: depusă târziu, poate trece de termenul pentru tribunal.</a:t>
            </a:r>
            <a:endParaRPr lang="en-US" sz="180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544/2001 · A821, A824, A825. Ziua exactă depinde de regulile de procedură.</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DATA ACEASTA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Unde legea nu se mulțumește cu publicarea</a:t>
            </a:r>
            <a:endParaRPr lang="en-US" sz="3000" dirty="0"/>
          </a:p>
        </p:txBody>
      </p:sp>
      <p:sp>
        <p:nvSpPr>
          <p:cNvPr id="4" name="Shape 2"/>
          <p:cNvSpPr/>
          <p:nvPr/>
        </p:nvSpPr>
        <p:spPr>
          <a:xfrm>
            <a:off x="594360" y="1783080"/>
            <a:ext cx="3474720" cy="2651760"/>
          </a:xfrm>
          <a:prstGeom prst="roundRect">
            <a:avLst>
              <a:gd name="adj" fmla="val 3103"/>
            </a:avLst>
          </a:prstGeom>
          <a:solidFill>
            <a:srgbClr val="1D1F2B"/>
          </a:solidFill>
          <a:ln w="12700">
            <a:solidFill>
              <a:srgbClr val="1D1F2B"/>
            </a:solidFill>
            <a:prstDash val="solid"/>
          </a:ln>
        </p:spPr>
        <p:txBody>
          <a:bodyPr/>
          <a:p/>
        </p:txBody>
      </p:sp>
      <p:sp>
        <p:nvSpPr>
          <p:cNvPr id="5" name="Shape 3"/>
          <p:cNvSpPr/>
          <p:nvPr/>
        </p:nvSpPr>
        <p:spPr>
          <a:xfrm>
            <a:off x="594360" y="1783080"/>
            <a:ext cx="3474720" cy="73152"/>
          </a:xfrm>
          <a:prstGeom prst="rect">
            <a:avLst/>
          </a:prstGeom>
          <a:solidFill>
            <a:srgbClr val="FF4757"/>
          </a:solidFill>
          <a:ln w="12700">
            <a:solidFill>
              <a:srgbClr val="333333"/>
            </a:solidFill>
            <a:prstDash val="solid"/>
          </a:ln>
        </p:spPr>
        <p:txBody>
          <a:bodyPr/>
          <a:p/>
        </p:txBody>
      </p:sp>
      <p:sp>
        <p:nvSpPr>
          <p:cNvPr id="6" name="Text 4"/>
          <p:cNvSpPr/>
          <p:nvPr/>
        </p:nvSpPr>
        <p:spPr>
          <a:xfrm>
            <a:off x="868680" y="2057400"/>
            <a:ext cx="2926080" cy="91440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O persoană care răspunde</a:t>
            </a:r>
            <a:endParaRPr lang="en-US" sz="2000" dirty="0"/>
          </a:p>
        </p:txBody>
      </p:sp>
      <p:sp>
        <p:nvSpPr>
          <p:cNvPr id="7" name="Text 5"/>
          <p:cNvSpPr/>
          <p:nvPr/>
        </p:nvSpPr>
        <p:spPr>
          <a:xfrm>
            <a:off x="868680" y="3063240"/>
            <a:ext cx="2926080" cy="11887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angajatul care a refuzat</a:t>
            </a:r>
            <a:endParaRPr lang="en-US" sz="1800" dirty="0"/>
          </a:p>
        </p:txBody>
      </p:sp>
      <p:sp>
        <p:nvSpPr>
          <p:cNvPr id="8" name="Shape 6"/>
          <p:cNvSpPr/>
          <p:nvPr/>
        </p:nvSpPr>
        <p:spPr>
          <a:xfrm>
            <a:off x="4343400" y="1783080"/>
            <a:ext cx="3474720" cy="2651760"/>
          </a:xfrm>
          <a:prstGeom prst="roundRect">
            <a:avLst>
              <a:gd name="adj" fmla="val 3103"/>
            </a:avLst>
          </a:prstGeom>
          <a:solidFill>
            <a:srgbClr val="1D1F2B"/>
          </a:solidFill>
          <a:ln w="12700">
            <a:solidFill>
              <a:srgbClr val="1D1F2B"/>
            </a:solidFill>
            <a:prstDash val="solid"/>
          </a:ln>
        </p:spPr>
        <p:txBody>
          <a:bodyPr/>
          <a:p/>
        </p:txBody>
      </p:sp>
      <p:sp>
        <p:nvSpPr>
          <p:cNvPr id="9" name="Shape 7"/>
          <p:cNvSpPr/>
          <p:nvPr/>
        </p:nvSpPr>
        <p:spPr>
          <a:xfrm>
            <a:off x="4343400" y="1783080"/>
            <a:ext cx="3474720" cy="73152"/>
          </a:xfrm>
          <a:prstGeom prst="rect">
            <a:avLst/>
          </a:prstGeom>
          <a:solidFill>
            <a:srgbClr val="FFC24B"/>
          </a:solidFill>
          <a:ln w="12700">
            <a:solidFill>
              <a:srgbClr val="333333"/>
            </a:solidFill>
            <a:prstDash val="solid"/>
          </a:ln>
        </p:spPr>
        <p:txBody>
          <a:bodyPr/>
          <a:p/>
        </p:txBody>
      </p:sp>
      <p:sp>
        <p:nvSpPr>
          <p:cNvPr id="10" name="Text 8"/>
          <p:cNvSpPr/>
          <p:nvPr/>
        </p:nvSpPr>
        <p:spPr>
          <a:xfrm>
            <a:off x="4617720" y="2057400"/>
            <a:ext cx="2926080" cy="9144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O consecință</a:t>
            </a:r>
            <a:endParaRPr lang="en-US" sz="2000" dirty="0"/>
          </a:p>
        </p:txBody>
      </p:sp>
      <p:sp>
        <p:nvSpPr>
          <p:cNvPr id="11" name="Text 9"/>
          <p:cNvSpPr/>
          <p:nvPr/>
        </p:nvSpPr>
        <p:spPr>
          <a:xfrm>
            <a:off x="4617720" y="3063240"/>
            <a:ext cx="2926080" cy="11887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răspunderea disciplinară</a:t>
            </a:r>
            <a:endParaRPr lang="en-US" sz="1800" dirty="0"/>
          </a:p>
        </p:txBody>
      </p:sp>
      <p:sp>
        <p:nvSpPr>
          <p:cNvPr id="12" name="Shape 10"/>
          <p:cNvSpPr/>
          <p:nvPr/>
        </p:nvSpPr>
        <p:spPr>
          <a:xfrm>
            <a:off x="8092440" y="1783080"/>
            <a:ext cx="3474720" cy="2651760"/>
          </a:xfrm>
          <a:prstGeom prst="roundRect">
            <a:avLst>
              <a:gd name="adj" fmla="val 3103"/>
            </a:avLst>
          </a:prstGeom>
          <a:solidFill>
            <a:srgbClr val="1D1F2B"/>
          </a:solidFill>
          <a:ln w="12700">
            <a:solidFill>
              <a:srgbClr val="1D1F2B"/>
            </a:solidFill>
            <a:prstDash val="solid"/>
          </a:ln>
        </p:spPr>
        <p:txBody>
          <a:bodyPr/>
          <a:p/>
        </p:txBody>
      </p:sp>
      <p:sp>
        <p:nvSpPr>
          <p:cNvPr id="13" name="Shape 11"/>
          <p:cNvSpPr/>
          <p:nvPr/>
        </p:nvSpPr>
        <p:spPr>
          <a:xfrm>
            <a:off x="8092440" y="1783080"/>
            <a:ext cx="3474720" cy="73152"/>
          </a:xfrm>
          <a:prstGeom prst="rect">
            <a:avLst/>
          </a:prstGeom>
          <a:solidFill>
            <a:srgbClr val="27D3BE"/>
          </a:solidFill>
          <a:ln w="12700">
            <a:solidFill>
              <a:srgbClr val="333333"/>
            </a:solidFill>
            <a:prstDash val="solid"/>
          </a:ln>
        </p:spPr>
        <p:txBody>
          <a:bodyPr/>
          <a:p/>
        </p:txBody>
      </p:sp>
      <p:sp>
        <p:nvSpPr>
          <p:cNvPr id="14" name="Text 12"/>
          <p:cNvSpPr/>
          <p:nvPr/>
        </p:nvSpPr>
        <p:spPr>
          <a:xfrm>
            <a:off x="8366760" y="2057400"/>
            <a:ext cx="2926080" cy="91440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O autoritate din afară</a:t>
            </a:r>
            <a:endParaRPr lang="en-US" sz="2000" dirty="0"/>
          </a:p>
        </p:txBody>
      </p:sp>
      <p:sp>
        <p:nvSpPr>
          <p:cNvPr id="15" name="Text 13"/>
          <p:cNvSpPr/>
          <p:nvPr/>
        </p:nvSpPr>
        <p:spPr>
          <a:xfrm>
            <a:off x="8366760" y="3063240"/>
            <a:ext cx="2926080" cy="118872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tribunalul, care poate obliga instituția</a:t>
            </a:r>
            <a:endParaRPr lang="en-US" sz="1800" dirty="0"/>
          </a:p>
        </p:txBody>
      </p:sp>
      <p:sp>
        <p:nvSpPr>
          <p:cNvPr id="16" name="Text 14"/>
          <p:cNvSpPr/>
          <p:nvPr/>
        </p:nvSpPr>
        <p:spPr>
          <a:xfrm>
            <a:off x="594360" y="4846320"/>
            <a:ext cx="10972800" cy="73152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Exact cele trei lucruri care lipseau după articolul din ziar.</a:t>
            </a:r>
            <a:endParaRPr lang="en-US" sz="21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Legea nr. 544/2001 · A824, A825, A827.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PUTEA SPITALUL SĂ REFUZE?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O excepție se invocă în scris</a:t>
            </a:r>
            <a:endParaRPr lang="en-US" sz="3200" dirty="0"/>
          </a:p>
        </p:txBody>
      </p:sp>
      <p:sp>
        <p:nvSpPr>
          <p:cNvPr id="4" name="Shape 2"/>
          <p:cNvSpPr/>
          <p:nvPr/>
        </p:nvSpPr>
        <p:spPr>
          <a:xfrm>
            <a:off x="594360" y="1645920"/>
            <a:ext cx="10972800" cy="1554480"/>
          </a:xfrm>
          <a:prstGeom prst="roundRect">
            <a:avLst>
              <a:gd name="adj" fmla="val 5294"/>
            </a:avLst>
          </a:prstGeom>
          <a:solidFill>
            <a:srgbClr val="FBF8F1"/>
          </a:solidFill>
          <a:ln w="12700">
            <a:solidFill>
              <a:srgbClr val="FBF8F1"/>
            </a:solidFill>
            <a:prstDash val="solid"/>
          </a:ln>
        </p:spPr>
        <p:txBody>
          <a:bodyPr/>
          <a:p/>
        </p:txBody>
      </p:sp>
      <p:sp>
        <p:nvSpPr>
          <p:cNvPr id="5" name="Shape 3"/>
          <p:cNvSpPr/>
          <p:nvPr/>
        </p:nvSpPr>
        <p:spPr>
          <a:xfrm>
            <a:off x="594360" y="1645920"/>
            <a:ext cx="10972800" cy="1554480"/>
          </a:xfrm>
          <a:prstGeom prst="roundRect">
            <a:avLst>
              <a:gd name="adj" fmla="val 5294"/>
            </a:avLst>
          </a:prstGeom>
          <a:solidFill>
            <a:srgbClr val="FBF8F1"/>
          </a:solidFill>
          <a:ln w="12700">
            <a:solidFill>
              <a:srgbClr val="C9C6BE"/>
            </a:solidFill>
            <a:prstDash val="solid"/>
          </a:ln>
        </p:spPr>
        <p:txBody>
          <a:bodyPr/>
          <a:p/>
        </p:txBody>
      </p:sp>
      <p:sp>
        <p:nvSpPr>
          <p:cNvPr id="6" name="Text 4"/>
          <p:cNvSpPr/>
          <p:nvPr/>
        </p:nvSpPr>
        <p:spPr>
          <a:xfrm>
            <a:off x="868680" y="1737360"/>
            <a:ext cx="10424160" cy="1371600"/>
          </a:xfrm>
          <a:prstGeom prst="rect">
            <a:avLst/>
          </a:prstGeom>
          <a:noFill/>
          <a:ln/>
        </p:spPr>
        <p:txBody>
          <a:bodyPr wrap="square" lIns="0" tIns="0" rIns="0" bIns="0" rtlCol="0" anchor="ctr"/>
          <a:lstStyle/>
          <a:p>
            <a:pPr indent="0" marL="0">
              <a:buNone/>
            </a:pPr>
            <a:r>
              <a:rPr lang="en-US" sz="1700" i="1" dirty="0">
                <a:solidFill>
                  <a:srgbClr val="11121A"/>
                </a:solidFill>
                <a:latin typeface="Palatino Linotype" pitchFamily="34" charset="0"/>
                <a:ea typeface="Palatino Linotype" pitchFamily="34" charset="-122"/>
                <a:cs typeface="Palatino Linotype" pitchFamily="34" charset="-120"/>
              </a:rPr>
              <a:t>Informațiile comerciale sau financiare sunt exceptate „dacă publicitatea acestora aduce atingere dreptului de proprietate intelectuală ori industrială, precum și principiului concurenței loiale”.</a:t>
            </a:r>
            <a:endParaRPr lang="en-US" sz="1700" dirty="0"/>
          </a:p>
        </p:txBody>
      </p:sp>
      <p:sp>
        <p:nvSpPr>
          <p:cNvPr id="7" name="Shape 5"/>
          <p:cNvSpPr/>
          <p:nvPr/>
        </p:nvSpPr>
        <p:spPr>
          <a:xfrm>
            <a:off x="594360" y="342900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8" name="Shape 6"/>
          <p:cNvSpPr/>
          <p:nvPr/>
        </p:nvSpPr>
        <p:spPr>
          <a:xfrm>
            <a:off x="914400" y="3584448"/>
            <a:ext cx="420624" cy="420624"/>
          </a:xfrm>
          <a:prstGeom prst="ellipse">
            <a:avLst/>
          </a:prstGeom>
          <a:solidFill>
            <a:srgbClr val="FFC24B"/>
          </a:solidFill>
          <a:ln/>
        </p:spPr>
        <p:txBody>
          <a:bodyPr/>
          <a:p/>
        </p:txBody>
      </p:sp>
      <p:sp>
        <p:nvSpPr>
          <p:cNvPr id="9" name="Text 7"/>
          <p:cNvSpPr/>
          <p:nvPr/>
        </p:nvSpPr>
        <p:spPr>
          <a:xfrm>
            <a:off x="914400" y="35844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600200" y="3429000"/>
            <a:ext cx="9692640" cy="73152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Aceeași lege cere ca orice autoritate contractantă să pună la dispoziție contractele de achiziții publice.</a:t>
            </a:r>
            <a:endParaRPr lang="en-US" sz="1650" dirty="0"/>
          </a:p>
        </p:txBody>
      </p:sp>
      <p:sp>
        <p:nvSpPr>
          <p:cNvPr id="11" name="Shape 9"/>
          <p:cNvSpPr/>
          <p:nvPr/>
        </p:nvSpPr>
        <p:spPr>
          <a:xfrm>
            <a:off x="594360" y="4270248"/>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2" name="Shape 10"/>
          <p:cNvSpPr/>
          <p:nvPr/>
        </p:nvSpPr>
        <p:spPr>
          <a:xfrm>
            <a:off x="914400" y="4425696"/>
            <a:ext cx="420624" cy="420624"/>
          </a:xfrm>
          <a:prstGeom prst="ellipse">
            <a:avLst/>
          </a:prstGeom>
          <a:solidFill>
            <a:srgbClr val="FFC24B"/>
          </a:solidFill>
          <a:ln/>
        </p:spPr>
        <p:txBody>
          <a:bodyPr/>
          <a:p/>
        </p:txBody>
      </p:sp>
      <p:sp>
        <p:nvSpPr>
          <p:cNvPr id="13" name="Text 11"/>
          <p:cNvSpPr/>
          <p:nvPr/>
        </p:nvSpPr>
        <p:spPr>
          <a:xfrm>
            <a:off x="914400" y="44256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600200" y="4270248"/>
            <a:ext cx="9692640" cy="73152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O excepție trebuia invocată și motivată în scris, în 5 zile.</a:t>
            </a:r>
            <a:endParaRPr lang="en-US" sz="1650" dirty="0"/>
          </a:p>
        </p:txBody>
      </p:sp>
      <p:sp>
        <p:nvSpPr>
          <p:cNvPr id="15" name="Shape 13"/>
          <p:cNvSpPr/>
          <p:nvPr/>
        </p:nvSpPr>
        <p:spPr>
          <a:xfrm>
            <a:off x="594360" y="5111496"/>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6" name="Shape 14"/>
          <p:cNvSpPr/>
          <p:nvPr/>
        </p:nvSpPr>
        <p:spPr>
          <a:xfrm>
            <a:off x="914400" y="5266944"/>
            <a:ext cx="420624" cy="420624"/>
          </a:xfrm>
          <a:prstGeom prst="ellipse">
            <a:avLst/>
          </a:prstGeom>
          <a:solidFill>
            <a:srgbClr val="FFC24B"/>
          </a:solidFill>
          <a:ln/>
        </p:spPr>
        <p:txBody>
          <a:bodyPr/>
          <a:p/>
        </p:txBody>
      </p:sp>
      <p:sp>
        <p:nvSpPr>
          <p:cNvPr id="17" name="Text 15"/>
          <p:cNvSpPr/>
          <p:nvPr/>
        </p:nvSpPr>
        <p:spPr>
          <a:xfrm>
            <a:off x="914400" y="52669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600200" y="5111496"/>
            <a:ext cx="9692640" cy="73152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Dacă excepția se aplică prețurilor plătite din bani publici decide, la plângere, instanța.</a:t>
            </a:r>
            <a:endParaRPr lang="en-US" sz="1650" dirty="0"/>
          </a:p>
        </p:txBody>
      </p:sp>
      <p:sp>
        <p:nvSpPr>
          <p:cNvPr id="19" name="Text 1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544/2001 · A837, A835, A822.</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CHAT · ȘASE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FIECARE, ÎN CHAT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Scrieți cererea studenților</a:t>
            </a:r>
            <a:endParaRPr lang="en-US" sz="3400" dirty="0"/>
          </a:p>
        </p:txBody>
      </p:sp>
      <p:sp>
        <p:nvSpPr>
          <p:cNvPr id="6" name="Text 4"/>
          <p:cNvSpPr/>
          <p:nvPr/>
        </p:nvSpPr>
        <p:spPr>
          <a:xfrm>
            <a:off x="594360" y="1645920"/>
            <a:ext cx="10972800" cy="457200"/>
          </a:xfrm>
          <a:prstGeom prst="rect">
            <a:avLst/>
          </a:prstGeom>
          <a:noFill/>
          <a:ln/>
        </p:spPr>
        <p:txBody>
          <a:bodyPr wrap="square" lIns="0" tIns="0" rIns="0" bIns="0" rtlCol="0" anchor="t"/>
          <a:lstStyle/>
          <a:p>
            <a:pPr indent="0" marL="0">
              <a:buNone/>
            </a:pPr>
            <a:r>
              <a:rPr lang="en-US" sz="1900" dirty="0">
                <a:solidFill>
                  <a:srgbClr val="959BB0"/>
                </a:solidFill>
                <a:latin typeface="Palatino Linotype" pitchFamily="34" charset="0"/>
                <a:ea typeface="Palatino Linotype" pitchFamily="34" charset="-122"/>
                <a:cs typeface="Palatino Linotype" pitchFamily="34" charset="-120"/>
              </a:rPr>
              <a:t>În cel mult cinci rânduri:</a:t>
            </a:r>
            <a:endParaRPr lang="en-US" sz="1900" dirty="0"/>
          </a:p>
        </p:txBody>
      </p:sp>
      <p:sp>
        <p:nvSpPr>
          <p:cNvPr id="7" name="Shape 5"/>
          <p:cNvSpPr/>
          <p:nvPr/>
        </p:nvSpPr>
        <p:spPr>
          <a:xfrm>
            <a:off x="594360" y="2194560"/>
            <a:ext cx="6766560" cy="640080"/>
          </a:xfrm>
          <a:prstGeom prst="roundRect">
            <a:avLst>
              <a:gd name="adj" fmla="val 12857"/>
            </a:avLst>
          </a:prstGeom>
          <a:solidFill>
            <a:srgbClr val="1D1F2B"/>
          </a:solidFill>
          <a:ln w="12700">
            <a:solidFill>
              <a:srgbClr val="1D1F2B"/>
            </a:solidFill>
            <a:prstDash val="solid"/>
          </a:ln>
        </p:spPr>
        <p:txBody>
          <a:bodyPr/>
          <a:p/>
        </p:txBody>
      </p:sp>
      <p:sp>
        <p:nvSpPr>
          <p:cNvPr id="8" name="Shape 6"/>
          <p:cNvSpPr/>
          <p:nvPr/>
        </p:nvSpPr>
        <p:spPr>
          <a:xfrm>
            <a:off x="914400" y="2304288"/>
            <a:ext cx="420624" cy="420624"/>
          </a:xfrm>
          <a:prstGeom prst="ellipse">
            <a:avLst/>
          </a:prstGeom>
          <a:solidFill>
            <a:srgbClr val="27D3BE"/>
          </a:solidFill>
          <a:ln/>
        </p:spPr>
        <p:txBody>
          <a:bodyPr/>
          <a:p/>
        </p:txBody>
      </p:sp>
      <p:sp>
        <p:nvSpPr>
          <p:cNvPr id="9" name="Text 7"/>
          <p:cNvSpPr/>
          <p:nvPr/>
        </p:nvSpPr>
        <p:spPr>
          <a:xfrm>
            <a:off x="914400" y="2304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600200" y="2194560"/>
            <a:ext cx="548640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Către ce instituție</a:t>
            </a:r>
            <a:endParaRPr lang="en-US" sz="1900" dirty="0"/>
          </a:p>
        </p:txBody>
      </p:sp>
      <p:sp>
        <p:nvSpPr>
          <p:cNvPr id="11" name="Shape 9"/>
          <p:cNvSpPr/>
          <p:nvPr/>
        </p:nvSpPr>
        <p:spPr>
          <a:xfrm>
            <a:off x="594360" y="2944368"/>
            <a:ext cx="6766560" cy="640080"/>
          </a:xfrm>
          <a:prstGeom prst="roundRect">
            <a:avLst>
              <a:gd name="adj" fmla="val 12857"/>
            </a:avLst>
          </a:prstGeom>
          <a:solidFill>
            <a:srgbClr val="1D1F2B"/>
          </a:solidFill>
          <a:ln w="12700">
            <a:solidFill>
              <a:srgbClr val="1D1F2B"/>
            </a:solidFill>
            <a:prstDash val="solid"/>
          </a:ln>
        </p:spPr>
        <p:txBody>
          <a:bodyPr/>
          <a:p/>
        </p:txBody>
      </p:sp>
      <p:sp>
        <p:nvSpPr>
          <p:cNvPr id="12" name="Shape 10"/>
          <p:cNvSpPr/>
          <p:nvPr/>
        </p:nvSpPr>
        <p:spPr>
          <a:xfrm>
            <a:off x="914400" y="3054096"/>
            <a:ext cx="420624" cy="420624"/>
          </a:xfrm>
          <a:prstGeom prst="ellipse">
            <a:avLst/>
          </a:prstGeom>
          <a:solidFill>
            <a:srgbClr val="27D3BE"/>
          </a:solidFill>
          <a:ln/>
        </p:spPr>
        <p:txBody>
          <a:bodyPr/>
          <a:p/>
        </p:txBody>
      </p:sp>
      <p:sp>
        <p:nvSpPr>
          <p:cNvPr id="13" name="Text 11"/>
          <p:cNvSpPr/>
          <p:nvPr/>
        </p:nvSpPr>
        <p:spPr>
          <a:xfrm>
            <a:off x="914400" y="3054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600200" y="2944368"/>
            <a:ext cx="548640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Ce informație, exact</a:t>
            </a:r>
            <a:endParaRPr lang="en-US" sz="1900" dirty="0"/>
          </a:p>
        </p:txBody>
      </p:sp>
      <p:sp>
        <p:nvSpPr>
          <p:cNvPr id="15" name="Shape 13"/>
          <p:cNvSpPr/>
          <p:nvPr/>
        </p:nvSpPr>
        <p:spPr>
          <a:xfrm>
            <a:off x="594360" y="3694176"/>
            <a:ext cx="6766560" cy="640080"/>
          </a:xfrm>
          <a:prstGeom prst="roundRect">
            <a:avLst>
              <a:gd name="adj" fmla="val 12857"/>
            </a:avLst>
          </a:prstGeom>
          <a:solidFill>
            <a:srgbClr val="1D1F2B"/>
          </a:solidFill>
          <a:ln w="12700">
            <a:solidFill>
              <a:srgbClr val="1D1F2B"/>
            </a:solidFill>
            <a:prstDash val="solid"/>
          </a:ln>
        </p:spPr>
        <p:txBody>
          <a:bodyPr/>
          <a:p/>
        </p:txBody>
      </p:sp>
      <p:sp>
        <p:nvSpPr>
          <p:cNvPr id="16" name="Shape 14"/>
          <p:cNvSpPr/>
          <p:nvPr/>
        </p:nvSpPr>
        <p:spPr>
          <a:xfrm>
            <a:off x="914400" y="3803904"/>
            <a:ext cx="420624" cy="420624"/>
          </a:xfrm>
          <a:prstGeom prst="ellipse">
            <a:avLst/>
          </a:prstGeom>
          <a:solidFill>
            <a:srgbClr val="27D3BE"/>
          </a:solidFill>
          <a:ln/>
        </p:spPr>
        <p:txBody>
          <a:bodyPr/>
          <a:p/>
        </p:txBody>
      </p:sp>
      <p:sp>
        <p:nvSpPr>
          <p:cNvPr id="17" name="Text 15"/>
          <p:cNvSpPr/>
          <p:nvPr/>
        </p:nvSpPr>
        <p:spPr>
          <a:xfrm>
            <a:off x="914400" y="38039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600200" y="3694176"/>
            <a:ext cx="548640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În ce format o vreți</a:t>
            </a:r>
            <a:endParaRPr lang="en-US" sz="1900" dirty="0"/>
          </a:p>
        </p:txBody>
      </p:sp>
      <p:sp>
        <p:nvSpPr>
          <p:cNvPr id="19" name="Shape 17"/>
          <p:cNvSpPr/>
          <p:nvPr/>
        </p:nvSpPr>
        <p:spPr>
          <a:xfrm>
            <a:off x="594360" y="4443984"/>
            <a:ext cx="6766560" cy="640080"/>
          </a:xfrm>
          <a:prstGeom prst="roundRect">
            <a:avLst>
              <a:gd name="adj" fmla="val 12857"/>
            </a:avLst>
          </a:prstGeom>
          <a:solidFill>
            <a:srgbClr val="1D1F2B"/>
          </a:solidFill>
          <a:ln w="12700">
            <a:solidFill>
              <a:srgbClr val="1D1F2B"/>
            </a:solidFill>
            <a:prstDash val="solid"/>
          </a:ln>
        </p:spPr>
        <p:txBody>
          <a:bodyPr/>
          <a:p/>
        </p:txBody>
      </p:sp>
      <p:sp>
        <p:nvSpPr>
          <p:cNvPr id="20" name="Shape 18"/>
          <p:cNvSpPr/>
          <p:nvPr/>
        </p:nvSpPr>
        <p:spPr>
          <a:xfrm>
            <a:off x="914400" y="4553712"/>
            <a:ext cx="420624" cy="420624"/>
          </a:xfrm>
          <a:prstGeom prst="ellipse">
            <a:avLst/>
          </a:prstGeom>
          <a:solidFill>
            <a:srgbClr val="27D3BE"/>
          </a:solidFill>
          <a:ln/>
        </p:spPr>
        <p:txBody>
          <a:bodyPr/>
          <a:p/>
        </p:txBody>
      </p:sp>
      <p:sp>
        <p:nvSpPr>
          <p:cNvPr id="21" name="Text 19"/>
          <p:cNvSpPr/>
          <p:nvPr/>
        </p:nvSpPr>
        <p:spPr>
          <a:xfrm>
            <a:off x="914400" y="45537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600200" y="4443984"/>
            <a:ext cx="5486400" cy="6400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Cum vă poate răspunde</a:t>
            </a:r>
            <a:endParaRPr lang="en-US" sz="1900" dirty="0"/>
          </a:p>
        </p:txBody>
      </p:sp>
      <p:sp>
        <p:nvSpPr>
          <p:cNvPr id="23" name="Shape 21"/>
          <p:cNvSpPr/>
          <p:nvPr/>
        </p:nvSpPr>
        <p:spPr>
          <a:xfrm>
            <a:off x="7680960" y="2194560"/>
            <a:ext cx="3886200" cy="2834640"/>
          </a:xfrm>
          <a:prstGeom prst="roundRect">
            <a:avLst>
              <a:gd name="adj" fmla="val 2903"/>
            </a:avLst>
          </a:prstGeom>
          <a:solidFill>
            <a:srgbClr val="1D1F2B"/>
          </a:solidFill>
          <a:ln w="12700">
            <a:solidFill>
              <a:srgbClr val="1D1F2B"/>
            </a:solidFill>
            <a:prstDash val="solid"/>
          </a:ln>
        </p:spPr>
        <p:txBody>
          <a:bodyPr/>
          <a:p/>
        </p:txBody>
      </p:sp>
      <p:sp>
        <p:nvSpPr>
          <p:cNvPr id="24" name="Text 22"/>
          <p:cNvSpPr/>
          <p:nvPr/>
        </p:nvSpPr>
        <p:spPr>
          <a:xfrm>
            <a:off x="7955280" y="2377440"/>
            <a:ext cx="3383280" cy="2468880"/>
          </a:xfrm>
          <a:prstGeom prst="rect">
            <a:avLst/>
          </a:prstGeom>
          <a:noFill/>
          <a:ln/>
        </p:spPr>
        <p:txBody>
          <a:bodyPr wrap="square" lIns="0" tIns="0" rIns="0" bIns="0" rtlCol="0" anchor="t"/>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Citim trei cereri din chat; voi spuneți ce ar putea refuza spitalul și de ce.</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INSTRUMENTUL ȘEDINȚEI · COMITETUL CU ROLURI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se schimbă, cine răspunde, cine verifică?</a:t>
            </a:r>
            <a:endParaRPr lang="en-US" sz="3000" dirty="0"/>
          </a:p>
        </p:txBody>
      </p:sp>
      <p:sp>
        <p:nvSpPr>
          <p:cNvPr id="4" name="Text 2"/>
          <p:cNvSpPr/>
          <p:nvPr/>
        </p:nvSpPr>
        <p:spPr>
          <a:xfrm>
            <a:off x="594360" y="1600200"/>
            <a:ext cx="1097280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Consiliul Județean B, care are spitalul în subordine, convoacă un comitet după articol și după refuzul primit de studenți.</a:t>
            </a:r>
            <a:endParaRPr lang="en-US" sz="1800" dirty="0"/>
          </a:p>
        </p:txBody>
      </p:sp>
      <p:sp>
        <p:nvSpPr>
          <p:cNvPr id="5" name="Shape 3"/>
          <p:cNvSpPr/>
          <p:nvPr/>
        </p:nvSpPr>
        <p:spPr>
          <a:xfrm>
            <a:off x="594360" y="2606040"/>
            <a:ext cx="3474720" cy="868680"/>
          </a:xfrm>
          <a:prstGeom prst="roundRect">
            <a:avLst>
              <a:gd name="adj" fmla="val 9474"/>
            </a:avLst>
          </a:prstGeom>
          <a:solidFill>
            <a:srgbClr val="ECEAE4"/>
          </a:solidFill>
          <a:ln w="12700">
            <a:solidFill>
              <a:srgbClr val="ECEAE4"/>
            </a:solidFill>
            <a:prstDash val="solid"/>
          </a:ln>
        </p:spPr>
        <p:txBody>
          <a:bodyPr/>
          <a:p/>
        </p:txBody>
      </p:sp>
      <p:sp>
        <p:nvSpPr>
          <p:cNvPr id="6" name="Shape 4"/>
          <p:cNvSpPr/>
          <p:nvPr/>
        </p:nvSpPr>
        <p:spPr>
          <a:xfrm>
            <a:off x="822960" y="2825496"/>
            <a:ext cx="420624" cy="420624"/>
          </a:xfrm>
          <a:prstGeom prst="ellipse">
            <a:avLst/>
          </a:prstGeom>
          <a:solidFill>
            <a:srgbClr val="B02532"/>
          </a:solidFill>
          <a:ln/>
        </p:spPr>
        <p:txBody>
          <a:bodyPr/>
          <a:p/>
        </p:txBody>
      </p:sp>
      <p:sp>
        <p:nvSpPr>
          <p:cNvPr id="7" name="Text 5"/>
          <p:cNvSpPr/>
          <p:nvPr/>
        </p:nvSpPr>
        <p:spPr>
          <a:xfrm>
            <a:off x="822960" y="2825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417320" y="2606040"/>
            <a:ext cx="2560320" cy="8686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Managerul spitalului</a:t>
            </a:r>
            <a:endParaRPr lang="en-US" sz="1550" dirty="0"/>
          </a:p>
        </p:txBody>
      </p:sp>
      <p:sp>
        <p:nvSpPr>
          <p:cNvPr id="9" name="Shape 7"/>
          <p:cNvSpPr/>
          <p:nvPr/>
        </p:nvSpPr>
        <p:spPr>
          <a:xfrm>
            <a:off x="4343400" y="2606040"/>
            <a:ext cx="3474720" cy="868680"/>
          </a:xfrm>
          <a:prstGeom prst="roundRect">
            <a:avLst>
              <a:gd name="adj" fmla="val 9474"/>
            </a:avLst>
          </a:prstGeom>
          <a:solidFill>
            <a:srgbClr val="ECEAE4"/>
          </a:solidFill>
          <a:ln w="12700">
            <a:solidFill>
              <a:srgbClr val="ECEAE4"/>
            </a:solidFill>
            <a:prstDash val="solid"/>
          </a:ln>
        </p:spPr>
        <p:txBody>
          <a:bodyPr/>
          <a:p/>
        </p:txBody>
      </p:sp>
      <p:sp>
        <p:nvSpPr>
          <p:cNvPr id="10" name="Shape 8"/>
          <p:cNvSpPr/>
          <p:nvPr/>
        </p:nvSpPr>
        <p:spPr>
          <a:xfrm>
            <a:off x="4572000" y="2825496"/>
            <a:ext cx="420624" cy="420624"/>
          </a:xfrm>
          <a:prstGeom prst="ellipse">
            <a:avLst/>
          </a:prstGeom>
          <a:solidFill>
            <a:srgbClr val="B02532"/>
          </a:solidFill>
          <a:ln/>
        </p:spPr>
        <p:txBody>
          <a:bodyPr/>
          <a:p/>
        </p:txBody>
      </p:sp>
      <p:sp>
        <p:nvSpPr>
          <p:cNvPr id="11" name="Text 9"/>
          <p:cNvSpPr/>
          <p:nvPr/>
        </p:nvSpPr>
        <p:spPr>
          <a:xfrm>
            <a:off x="4572000" y="2825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5166360" y="2606040"/>
            <a:ext cx="2560320" cy="8686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Jurnalista</a:t>
            </a:r>
            <a:endParaRPr lang="en-US" sz="1550" dirty="0"/>
          </a:p>
        </p:txBody>
      </p:sp>
      <p:sp>
        <p:nvSpPr>
          <p:cNvPr id="13" name="Shape 11"/>
          <p:cNvSpPr/>
          <p:nvPr/>
        </p:nvSpPr>
        <p:spPr>
          <a:xfrm>
            <a:off x="8092440" y="2606040"/>
            <a:ext cx="3474720" cy="868680"/>
          </a:xfrm>
          <a:prstGeom prst="roundRect">
            <a:avLst>
              <a:gd name="adj" fmla="val 9474"/>
            </a:avLst>
          </a:prstGeom>
          <a:solidFill>
            <a:srgbClr val="ECEAE4"/>
          </a:solidFill>
          <a:ln w="12700">
            <a:solidFill>
              <a:srgbClr val="ECEAE4"/>
            </a:solidFill>
            <a:prstDash val="solid"/>
          </a:ln>
        </p:spPr>
        <p:txBody>
          <a:bodyPr/>
          <a:p/>
        </p:txBody>
      </p:sp>
      <p:sp>
        <p:nvSpPr>
          <p:cNvPr id="14" name="Shape 12"/>
          <p:cNvSpPr/>
          <p:nvPr/>
        </p:nvSpPr>
        <p:spPr>
          <a:xfrm>
            <a:off x="8321040" y="2825496"/>
            <a:ext cx="420624" cy="420624"/>
          </a:xfrm>
          <a:prstGeom prst="ellipse">
            <a:avLst/>
          </a:prstGeom>
          <a:solidFill>
            <a:srgbClr val="B02532"/>
          </a:solidFill>
          <a:ln/>
        </p:spPr>
        <p:txBody>
          <a:bodyPr/>
          <a:p/>
        </p:txBody>
      </p:sp>
      <p:sp>
        <p:nvSpPr>
          <p:cNvPr id="15" name="Text 13"/>
          <p:cNvSpPr/>
          <p:nvPr/>
        </p:nvSpPr>
        <p:spPr>
          <a:xfrm>
            <a:off x="8321040" y="2825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8915400" y="2606040"/>
            <a:ext cx="2560320" cy="8686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Reprezentanta asociației de pacienți</a:t>
            </a:r>
            <a:endParaRPr lang="en-US" sz="1550" dirty="0"/>
          </a:p>
        </p:txBody>
      </p:sp>
      <p:sp>
        <p:nvSpPr>
          <p:cNvPr id="17" name="Shape 15"/>
          <p:cNvSpPr/>
          <p:nvPr/>
        </p:nvSpPr>
        <p:spPr>
          <a:xfrm>
            <a:off x="594360" y="3657600"/>
            <a:ext cx="3474720" cy="868680"/>
          </a:xfrm>
          <a:prstGeom prst="roundRect">
            <a:avLst>
              <a:gd name="adj" fmla="val 9474"/>
            </a:avLst>
          </a:prstGeom>
          <a:solidFill>
            <a:srgbClr val="ECEAE4"/>
          </a:solidFill>
          <a:ln w="12700">
            <a:solidFill>
              <a:srgbClr val="ECEAE4"/>
            </a:solidFill>
            <a:prstDash val="solid"/>
          </a:ln>
        </p:spPr>
        <p:txBody>
          <a:bodyPr/>
          <a:p/>
        </p:txBody>
      </p:sp>
      <p:sp>
        <p:nvSpPr>
          <p:cNvPr id="18" name="Shape 16"/>
          <p:cNvSpPr/>
          <p:nvPr/>
        </p:nvSpPr>
        <p:spPr>
          <a:xfrm>
            <a:off x="822960" y="3877056"/>
            <a:ext cx="420624" cy="420624"/>
          </a:xfrm>
          <a:prstGeom prst="ellipse">
            <a:avLst/>
          </a:prstGeom>
          <a:solidFill>
            <a:srgbClr val="B02532"/>
          </a:solidFill>
          <a:ln/>
        </p:spPr>
        <p:txBody>
          <a:bodyPr/>
          <a:p/>
        </p:txBody>
      </p:sp>
      <p:sp>
        <p:nvSpPr>
          <p:cNvPr id="19" name="Text 17"/>
          <p:cNvSpPr/>
          <p:nvPr/>
        </p:nvSpPr>
        <p:spPr>
          <a:xfrm>
            <a:off x="822960" y="3877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1417320" y="3657600"/>
            <a:ext cx="2560320" cy="8686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Consilierul de integritate</a:t>
            </a:r>
            <a:endParaRPr lang="en-US" sz="1550" dirty="0"/>
          </a:p>
        </p:txBody>
      </p:sp>
      <p:sp>
        <p:nvSpPr>
          <p:cNvPr id="21" name="Shape 19"/>
          <p:cNvSpPr/>
          <p:nvPr/>
        </p:nvSpPr>
        <p:spPr>
          <a:xfrm>
            <a:off x="4343400" y="3657600"/>
            <a:ext cx="3474720" cy="868680"/>
          </a:xfrm>
          <a:prstGeom prst="roundRect">
            <a:avLst>
              <a:gd name="adj" fmla="val 9474"/>
            </a:avLst>
          </a:prstGeom>
          <a:solidFill>
            <a:srgbClr val="ECEAE4"/>
          </a:solidFill>
          <a:ln w="12700">
            <a:solidFill>
              <a:srgbClr val="ECEAE4"/>
            </a:solidFill>
            <a:prstDash val="solid"/>
          </a:ln>
        </p:spPr>
        <p:txBody>
          <a:bodyPr/>
          <a:p/>
        </p:txBody>
      </p:sp>
      <p:sp>
        <p:nvSpPr>
          <p:cNvPr id="22" name="Shape 20"/>
          <p:cNvSpPr/>
          <p:nvPr/>
        </p:nvSpPr>
        <p:spPr>
          <a:xfrm>
            <a:off x="4572000" y="3877056"/>
            <a:ext cx="420624" cy="420624"/>
          </a:xfrm>
          <a:prstGeom prst="ellipse">
            <a:avLst/>
          </a:prstGeom>
          <a:solidFill>
            <a:srgbClr val="B02532"/>
          </a:solidFill>
          <a:ln/>
        </p:spPr>
        <p:txBody>
          <a:bodyPr/>
          <a:p/>
        </p:txBody>
      </p:sp>
      <p:sp>
        <p:nvSpPr>
          <p:cNvPr id="23" name="Text 21"/>
          <p:cNvSpPr/>
          <p:nvPr/>
        </p:nvSpPr>
        <p:spPr>
          <a:xfrm>
            <a:off x="4572000" y="3877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4" name="Text 22"/>
          <p:cNvSpPr/>
          <p:nvPr/>
        </p:nvSpPr>
        <p:spPr>
          <a:xfrm>
            <a:off x="5166360" y="3657600"/>
            <a:ext cx="2560320" cy="8686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Reprezentantul consiliului județean</a:t>
            </a:r>
            <a:endParaRPr lang="en-US" sz="1550" dirty="0"/>
          </a:p>
        </p:txBody>
      </p:sp>
      <p:sp>
        <p:nvSpPr>
          <p:cNvPr id="25" name="Shape 23"/>
          <p:cNvSpPr/>
          <p:nvPr/>
        </p:nvSpPr>
        <p:spPr>
          <a:xfrm>
            <a:off x="8092440" y="3657600"/>
            <a:ext cx="3474720" cy="868680"/>
          </a:xfrm>
          <a:prstGeom prst="roundRect">
            <a:avLst>
              <a:gd name="adj" fmla="val 9474"/>
            </a:avLst>
          </a:prstGeom>
          <a:solidFill>
            <a:srgbClr val="ECEAE4"/>
          </a:solidFill>
          <a:ln w="12700">
            <a:solidFill>
              <a:srgbClr val="ECEAE4"/>
            </a:solidFill>
            <a:prstDash val="solid"/>
          </a:ln>
        </p:spPr>
        <p:txBody>
          <a:bodyPr/>
          <a:p/>
        </p:txBody>
      </p:sp>
      <p:sp>
        <p:nvSpPr>
          <p:cNvPr id="26" name="Shape 24"/>
          <p:cNvSpPr/>
          <p:nvPr/>
        </p:nvSpPr>
        <p:spPr>
          <a:xfrm>
            <a:off x="8321040" y="3877056"/>
            <a:ext cx="420624" cy="420624"/>
          </a:xfrm>
          <a:prstGeom prst="ellipse">
            <a:avLst/>
          </a:prstGeom>
          <a:solidFill>
            <a:srgbClr val="B02532"/>
          </a:solidFill>
          <a:ln/>
        </p:spPr>
        <p:txBody>
          <a:bodyPr/>
          <a:p/>
        </p:txBody>
      </p:sp>
      <p:sp>
        <p:nvSpPr>
          <p:cNvPr id="27" name="Text 25"/>
          <p:cNvSpPr/>
          <p:nvPr/>
        </p:nvSpPr>
        <p:spPr>
          <a:xfrm>
            <a:off x="8321040" y="3877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28" name="Text 26"/>
          <p:cNvSpPr/>
          <p:nvPr/>
        </p:nvSpPr>
        <p:spPr>
          <a:xfrm>
            <a:off x="8915400" y="3657600"/>
            <a:ext cx="2560320" cy="8686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Medicul-șef al chirurgiei</a:t>
            </a:r>
            <a:endParaRPr lang="en-US" sz="1550" dirty="0"/>
          </a:p>
        </p:txBody>
      </p:sp>
      <p:sp>
        <p:nvSpPr>
          <p:cNvPr id="29" name="Text 27"/>
          <p:cNvSpPr/>
          <p:nvPr/>
        </p:nvSpPr>
        <p:spPr>
          <a:xfrm>
            <a:off x="594360" y="4892040"/>
            <a:ext cx="10972800" cy="4572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Votați din rolul vostru, nu din convingerea voastră.</a:t>
            </a:r>
            <a:endParaRPr lang="en-US" sz="1900" dirty="0"/>
          </a:p>
        </p:txBody>
      </p:sp>
      <p:sp>
        <p:nvSpPr>
          <p:cNvPr id="30" name="Text 28"/>
          <p:cNvSpPr/>
          <p:nvPr/>
        </p:nvSpPr>
        <p:spPr>
          <a:xfrm>
            <a:off x="594360" y="5394960"/>
            <a:ext cx="10972800" cy="411480"/>
          </a:xfrm>
          <a:prstGeom prst="rect">
            <a:avLst/>
          </a:prstGeom>
          <a:noFill/>
          <a:ln/>
        </p:spPr>
        <p:txBody>
          <a:bodyPr wrap="square" lIns="0" tIns="0" rIns="0" bIns="0" rtlCol="0" anchor="t"/>
          <a:lstStyle/>
          <a:p>
            <a:pPr indent="0" marL="0">
              <a:buNone/>
            </a:pPr>
            <a:r>
              <a:rPr lang="en-US" sz="1600" i="1" dirty="0">
                <a:solidFill>
                  <a:srgbClr val="3A3C44"/>
                </a:solidFill>
                <a:latin typeface="Palatino Linotype" pitchFamily="34" charset="0"/>
                <a:ea typeface="Palatino Linotype" pitchFamily="34" charset="-122"/>
                <a:cs typeface="Palatino Linotype" pitchFamily="34" charset="-120"/>
              </a:rPr>
              <a:t>Fișele de rol sunt pe pagina ședinței, în Pregătire.</a:t>
            </a:r>
            <a:endParaRPr lang="en-US" sz="1600" dirty="0"/>
          </a:p>
        </p:txBody>
      </p:sp>
      <p:sp>
        <p:nvSpPr>
          <p:cNvPr id="31" name="Text 2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Caz construit pentru curs; instituțiile și persoanele sunt inventate.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COD QR · ȘASE ROLURI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ROLUL DUPĂ LUNA NAȘTERII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Luna voastră, rolul vostru</a:t>
            </a:r>
            <a:endParaRPr lang="en-US" sz="3000" dirty="0"/>
          </a:p>
        </p:txBody>
      </p:sp>
      <p:sp>
        <p:nvSpPr>
          <p:cNvPr id="6" name="Shape 4"/>
          <p:cNvSpPr/>
          <p:nvPr/>
        </p:nvSpPr>
        <p:spPr>
          <a:xfrm>
            <a:off x="594360" y="1600200"/>
            <a:ext cx="3474720" cy="1828800"/>
          </a:xfrm>
          <a:prstGeom prst="roundRect">
            <a:avLst>
              <a:gd name="adj" fmla="val 4500"/>
            </a:avLst>
          </a:prstGeom>
          <a:solidFill>
            <a:srgbClr val="1D1F2B"/>
          </a:solidFill>
          <a:ln w="12700">
            <a:solidFill>
              <a:srgbClr val="1D1F2B"/>
            </a:solidFill>
            <a:prstDash val="solid"/>
          </a:ln>
        </p:spPr>
        <p:txBody>
          <a:bodyPr/>
          <a:p/>
        </p:txBody>
      </p:sp>
      <p:sp>
        <p:nvSpPr>
          <p:cNvPr id="7" name="Text 5"/>
          <p:cNvSpPr/>
          <p:nvPr/>
        </p:nvSpPr>
        <p:spPr>
          <a:xfrm>
            <a:off x="822960" y="1737360"/>
            <a:ext cx="1828800" cy="32004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Ian.–feb.</a:t>
            </a:r>
            <a:endParaRPr lang="en-US" sz="1300" dirty="0"/>
          </a:p>
        </p:txBody>
      </p:sp>
      <p:sp>
        <p:nvSpPr>
          <p:cNvPr id="8" name="Text 6"/>
          <p:cNvSpPr/>
          <p:nvPr/>
        </p:nvSpPr>
        <p:spPr>
          <a:xfrm>
            <a:off x="822960" y="2103120"/>
            <a:ext cx="1783080" cy="11887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Managerul spitalului</a:t>
            </a:r>
            <a:endParaRPr lang="en-US" sz="1600" dirty="0"/>
          </a:p>
        </p:txBody>
      </p:sp>
      <p:sp>
        <p:nvSpPr>
          <p:cNvPr id="9" name="Shape 7"/>
          <p:cNvSpPr/>
          <p:nvPr/>
        </p:nvSpPr>
        <p:spPr>
          <a:xfrm>
            <a:off x="2697480" y="1783080"/>
            <a:ext cx="1188720" cy="1463040"/>
          </a:xfrm>
          <a:prstGeom prst="roundRect">
            <a:avLst>
              <a:gd name="adj" fmla="val 6923"/>
            </a:avLst>
          </a:prstGeom>
          <a:solidFill>
            <a:srgbClr val="FFFFFF"/>
          </a:solidFill>
          <a:ln w="12700">
            <a:solidFill>
              <a:srgbClr val="FFFFFF"/>
            </a:solidFill>
            <a:prstDash val="solid"/>
          </a:ln>
        </p:spPr>
        <p:txBody>
          <a:bodyPr/>
          <a:p/>
        </p:txBody>
      </p:sp>
      <p:sp>
        <p:nvSpPr>
          <p:cNvPr id="10" name="Text 8"/>
          <p:cNvSpPr/>
          <p:nvPr/>
        </p:nvSpPr>
        <p:spPr>
          <a:xfrm>
            <a:off x="2697480" y="1783080"/>
            <a:ext cx="1188720" cy="146304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[QR fișa #s006]</a:t>
            </a:r>
            <a:endParaRPr lang="en-US" sz="1300" dirty="0"/>
          </a:p>
        </p:txBody>
      </p:sp>
      <p:sp>
        <p:nvSpPr>
          <p:cNvPr id="11" name="Shape 9"/>
          <p:cNvSpPr/>
          <p:nvPr/>
        </p:nvSpPr>
        <p:spPr>
          <a:xfrm>
            <a:off x="4343400" y="1600200"/>
            <a:ext cx="3474720" cy="1828800"/>
          </a:xfrm>
          <a:prstGeom prst="roundRect">
            <a:avLst>
              <a:gd name="adj" fmla="val 4500"/>
            </a:avLst>
          </a:prstGeom>
          <a:solidFill>
            <a:srgbClr val="1D1F2B"/>
          </a:solidFill>
          <a:ln w="12700">
            <a:solidFill>
              <a:srgbClr val="1D1F2B"/>
            </a:solidFill>
            <a:prstDash val="solid"/>
          </a:ln>
        </p:spPr>
        <p:txBody>
          <a:bodyPr/>
          <a:p/>
        </p:txBody>
      </p:sp>
      <p:sp>
        <p:nvSpPr>
          <p:cNvPr id="12" name="Text 10"/>
          <p:cNvSpPr/>
          <p:nvPr/>
        </p:nvSpPr>
        <p:spPr>
          <a:xfrm>
            <a:off x="4572000" y="1737360"/>
            <a:ext cx="1828800" cy="32004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Mar.–apr.</a:t>
            </a:r>
            <a:endParaRPr lang="en-US" sz="1300" dirty="0"/>
          </a:p>
        </p:txBody>
      </p:sp>
      <p:sp>
        <p:nvSpPr>
          <p:cNvPr id="13" name="Text 11"/>
          <p:cNvSpPr/>
          <p:nvPr/>
        </p:nvSpPr>
        <p:spPr>
          <a:xfrm>
            <a:off x="4572000" y="2103120"/>
            <a:ext cx="1783080" cy="11887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Jurnalista</a:t>
            </a:r>
            <a:endParaRPr lang="en-US" sz="1600" dirty="0"/>
          </a:p>
        </p:txBody>
      </p:sp>
      <p:sp>
        <p:nvSpPr>
          <p:cNvPr id="14" name="Shape 12"/>
          <p:cNvSpPr/>
          <p:nvPr/>
        </p:nvSpPr>
        <p:spPr>
          <a:xfrm>
            <a:off x="6446520" y="1783080"/>
            <a:ext cx="1188720" cy="1463040"/>
          </a:xfrm>
          <a:prstGeom prst="roundRect">
            <a:avLst>
              <a:gd name="adj" fmla="val 6923"/>
            </a:avLst>
          </a:prstGeom>
          <a:solidFill>
            <a:srgbClr val="FFFFFF"/>
          </a:solidFill>
          <a:ln w="12700">
            <a:solidFill>
              <a:srgbClr val="FFFFFF"/>
            </a:solidFill>
            <a:prstDash val="solid"/>
          </a:ln>
        </p:spPr>
        <p:txBody>
          <a:bodyPr/>
          <a:p/>
        </p:txBody>
      </p:sp>
      <p:sp>
        <p:nvSpPr>
          <p:cNvPr id="15" name="Text 13"/>
          <p:cNvSpPr/>
          <p:nvPr/>
        </p:nvSpPr>
        <p:spPr>
          <a:xfrm>
            <a:off x="6446520" y="1783080"/>
            <a:ext cx="1188720" cy="146304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[QR fișa #s007]</a:t>
            </a:r>
            <a:endParaRPr lang="en-US" sz="1300" dirty="0"/>
          </a:p>
        </p:txBody>
      </p:sp>
      <p:sp>
        <p:nvSpPr>
          <p:cNvPr id="16" name="Shape 14"/>
          <p:cNvSpPr/>
          <p:nvPr/>
        </p:nvSpPr>
        <p:spPr>
          <a:xfrm>
            <a:off x="8092440" y="1600200"/>
            <a:ext cx="3474720" cy="1828800"/>
          </a:xfrm>
          <a:prstGeom prst="roundRect">
            <a:avLst>
              <a:gd name="adj" fmla="val 4500"/>
            </a:avLst>
          </a:prstGeom>
          <a:solidFill>
            <a:srgbClr val="1D1F2B"/>
          </a:solidFill>
          <a:ln w="12700">
            <a:solidFill>
              <a:srgbClr val="1D1F2B"/>
            </a:solidFill>
            <a:prstDash val="solid"/>
          </a:ln>
        </p:spPr>
        <p:txBody>
          <a:bodyPr/>
          <a:p/>
        </p:txBody>
      </p:sp>
      <p:sp>
        <p:nvSpPr>
          <p:cNvPr id="17" name="Text 15"/>
          <p:cNvSpPr/>
          <p:nvPr/>
        </p:nvSpPr>
        <p:spPr>
          <a:xfrm>
            <a:off x="8321040" y="1737360"/>
            <a:ext cx="1828800" cy="32004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Mai–iun.</a:t>
            </a:r>
            <a:endParaRPr lang="en-US" sz="1300" dirty="0"/>
          </a:p>
        </p:txBody>
      </p:sp>
      <p:sp>
        <p:nvSpPr>
          <p:cNvPr id="18" name="Text 16"/>
          <p:cNvSpPr/>
          <p:nvPr/>
        </p:nvSpPr>
        <p:spPr>
          <a:xfrm>
            <a:off x="8321040" y="2103120"/>
            <a:ext cx="1783080" cy="11887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Asociația de pacienți</a:t>
            </a:r>
            <a:endParaRPr lang="en-US" sz="1600" dirty="0"/>
          </a:p>
        </p:txBody>
      </p:sp>
      <p:sp>
        <p:nvSpPr>
          <p:cNvPr id="19" name="Shape 17"/>
          <p:cNvSpPr/>
          <p:nvPr/>
        </p:nvSpPr>
        <p:spPr>
          <a:xfrm>
            <a:off x="10195560" y="1783080"/>
            <a:ext cx="1188720" cy="1463040"/>
          </a:xfrm>
          <a:prstGeom prst="roundRect">
            <a:avLst>
              <a:gd name="adj" fmla="val 6923"/>
            </a:avLst>
          </a:prstGeom>
          <a:solidFill>
            <a:srgbClr val="FFFFFF"/>
          </a:solidFill>
          <a:ln w="12700">
            <a:solidFill>
              <a:srgbClr val="FFFFFF"/>
            </a:solidFill>
            <a:prstDash val="solid"/>
          </a:ln>
        </p:spPr>
        <p:txBody>
          <a:bodyPr/>
          <a:p/>
        </p:txBody>
      </p:sp>
      <p:sp>
        <p:nvSpPr>
          <p:cNvPr id="20" name="Text 18"/>
          <p:cNvSpPr/>
          <p:nvPr/>
        </p:nvSpPr>
        <p:spPr>
          <a:xfrm>
            <a:off x="10195560" y="1783080"/>
            <a:ext cx="1188720" cy="146304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[QR fișa #s008]</a:t>
            </a:r>
            <a:endParaRPr lang="en-US" sz="1300" dirty="0"/>
          </a:p>
        </p:txBody>
      </p:sp>
      <p:sp>
        <p:nvSpPr>
          <p:cNvPr id="21" name="Shape 19"/>
          <p:cNvSpPr/>
          <p:nvPr/>
        </p:nvSpPr>
        <p:spPr>
          <a:xfrm>
            <a:off x="594360" y="3611880"/>
            <a:ext cx="3474720" cy="1828800"/>
          </a:xfrm>
          <a:prstGeom prst="roundRect">
            <a:avLst>
              <a:gd name="adj" fmla="val 4500"/>
            </a:avLst>
          </a:prstGeom>
          <a:solidFill>
            <a:srgbClr val="1D1F2B"/>
          </a:solidFill>
          <a:ln w="12700">
            <a:solidFill>
              <a:srgbClr val="1D1F2B"/>
            </a:solidFill>
            <a:prstDash val="solid"/>
          </a:ln>
        </p:spPr>
        <p:txBody>
          <a:bodyPr/>
          <a:p/>
        </p:txBody>
      </p:sp>
      <p:sp>
        <p:nvSpPr>
          <p:cNvPr id="22" name="Text 20"/>
          <p:cNvSpPr/>
          <p:nvPr/>
        </p:nvSpPr>
        <p:spPr>
          <a:xfrm>
            <a:off x="822960" y="3749040"/>
            <a:ext cx="1828800" cy="32004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Iul.–aug.</a:t>
            </a:r>
            <a:endParaRPr lang="en-US" sz="1300" dirty="0"/>
          </a:p>
        </p:txBody>
      </p:sp>
      <p:sp>
        <p:nvSpPr>
          <p:cNvPr id="23" name="Text 21"/>
          <p:cNvSpPr/>
          <p:nvPr/>
        </p:nvSpPr>
        <p:spPr>
          <a:xfrm>
            <a:off x="822960" y="4114800"/>
            <a:ext cx="1783080" cy="11887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Consilierul de integritate</a:t>
            </a:r>
            <a:endParaRPr lang="en-US" sz="1600" dirty="0"/>
          </a:p>
        </p:txBody>
      </p:sp>
      <p:sp>
        <p:nvSpPr>
          <p:cNvPr id="24" name="Shape 22"/>
          <p:cNvSpPr/>
          <p:nvPr/>
        </p:nvSpPr>
        <p:spPr>
          <a:xfrm>
            <a:off x="2697480" y="3794760"/>
            <a:ext cx="1188720" cy="1463040"/>
          </a:xfrm>
          <a:prstGeom prst="roundRect">
            <a:avLst>
              <a:gd name="adj" fmla="val 6923"/>
            </a:avLst>
          </a:prstGeom>
          <a:solidFill>
            <a:srgbClr val="FFFFFF"/>
          </a:solidFill>
          <a:ln w="12700">
            <a:solidFill>
              <a:srgbClr val="FFFFFF"/>
            </a:solidFill>
            <a:prstDash val="solid"/>
          </a:ln>
        </p:spPr>
        <p:txBody>
          <a:bodyPr/>
          <a:p/>
        </p:txBody>
      </p:sp>
      <p:sp>
        <p:nvSpPr>
          <p:cNvPr id="25" name="Text 23"/>
          <p:cNvSpPr/>
          <p:nvPr/>
        </p:nvSpPr>
        <p:spPr>
          <a:xfrm>
            <a:off x="2697480" y="3794760"/>
            <a:ext cx="1188720" cy="146304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[QR fișa #s009]</a:t>
            </a:r>
            <a:endParaRPr lang="en-US" sz="1300" dirty="0"/>
          </a:p>
        </p:txBody>
      </p:sp>
      <p:sp>
        <p:nvSpPr>
          <p:cNvPr id="26" name="Shape 24"/>
          <p:cNvSpPr/>
          <p:nvPr/>
        </p:nvSpPr>
        <p:spPr>
          <a:xfrm>
            <a:off x="4343400" y="3611880"/>
            <a:ext cx="3474720" cy="1828800"/>
          </a:xfrm>
          <a:prstGeom prst="roundRect">
            <a:avLst>
              <a:gd name="adj" fmla="val 4500"/>
            </a:avLst>
          </a:prstGeom>
          <a:solidFill>
            <a:srgbClr val="1D1F2B"/>
          </a:solidFill>
          <a:ln w="12700">
            <a:solidFill>
              <a:srgbClr val="1D1F2B"/>
            </a:solidFill>
            <a:prstDash val="solid"/>
          </a:ln>
        </p:spPr>
        <p:txBody>
          <a:bodyPr/>
          <a:p/>
        </p:txBody>
      </p:sp>
      <p:sp>
        <p:nvSpPr>
          <p:cNvPr id="27" name="Text 25"/>
          <p:cNvSpPr/>
          <p:nvPr/>
        </p:nvSpPr>
        <p:spPr>
          <a:xfrm>
            <a:off x="4572000" y="3749040"/>
            <a:ext cx="1828800" cy="32004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Sept.–oct.</a:t>
            </a:r>
            <a:endParaRPr lang="en-US" sz="1300" dirty="0"/>
          </a:p>
        </p:txBody>
      </p:sp>
      <p:sp>
        <p:nvSpPr>
          <p:cNvPr id="28" name="Text 26"/>
          <p:cNvSpPr/>
          <p:nvPr/>
        </p:nvSpPr>
        <p:spPr>
          <a:xfrm>
            <a:off x="4572000" y="4114800"/>
            <a:ext cx="1783080" cy="11887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Consiliul județean</a:t>
            </a:r>
            <a:endParaRPr lang="en-US" sz="1600" dirty="0"/>
          </a:p>
        </p:txBody>
      </p:sp>
      <p:sp>
        <p:nvSpPr>
          <p:cNvPr id="29" name="Shape 27"/>
          <p:cNvSpPr/>
          <p:nvPr/>
        </p:nvSpPr>
        <p:spPr>
          <a:xfrm>
            <a:off x="6446520" y="3794760"/>
            <a:ext cx="1188720" cy="1463040"/>
          </a:xfrm>
          <a:prstGeom prst="roundRect">
            <a:avLst>
              <a:gd name="adj" fmla="val 6923"/>
            </a:avLst>
          </a:prstGeom>
          <a:solidFill>
            <a:srgbClr val="FFFFFF"/>
          </a:solidFill>
          <a:ln w="12700">
            <a:solidFill>
              <a:srgbClr val="FFFFFF"/>
            </a:solidFill>
            <a:prstDash val="solid"/>
          </a:ln>
        </p:spPr>
        <p:txBody>
          <a:bodyPr/>
          <a:p/>
        </p:txBody>
      </p:sp>
      <p:sp>
        <p:nvSpPr>
          <p:cNvPr id="30" name="Text 28"/>
          <p:cNvSpPr/>
          <p:nvPr/>
        </p:nvSpPr>
        <p:spPr>
          <a:xfrm>
            <a:off x="6446520" y="3794760"/>
            <a:ext cx="1188720" cy="146304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[QR fișa #s010]</a:t>
            </a:r>
            <a:endParaRPr lang="en-US" sz="1300" dirty="0"/>
          </a:p>
        </p:txBody>
      </p:sp>
      <p:sp>
        <p:nvSpPr>
          <p:cNvPr id="31" name="Shape 29"/>
          <p:cNvSpPr/>
          <p:nvPr/>
        </p:nvSpPr>
        <p:spPr>
          <a:xfrm>
            <a:off x="8092440" y="3611880"/>
            <a:ext cx="3474720" cy="1828800"/>
          </a:xfrm>
          <a:prstGeom prst="roundRect">
            <a:avLst>
              <a:gd name="adj" fmla="val 4500"/>
            </a:avLst>
          </a:prstGeom>
          <a:solidFill>
            <a:srgbClr val="1D1F2B"/>
          </a:solidFill>
          <a:ln w="12700">
            <a:solidFill>
              <a:srgbClr val="1D1F2B"/>
            </a:solidFill>
            <a:prstDash val="solid"/>
          </a:ln>
        </p:spPr>
        <p:txBody>
          <a:bodyPr/>
          <a:p/>
        </p:txBody>
      </p:sp>
      <p:sp>
        <p:nvSpPr>
          <p:cNvPr id="32" name="Text 30"/>
          <p:cNvSpPr/>
          <p:nvPr/>
        </p:nvSpPr>
        <p:spPr>
          <a:xfrm>
            <a:off x="8321040" y="3749040"/>
            <a:ext cx="1828800" cy="320040"/>
          </a:xfrm>
          <a:prstGeom prst="rect">
            <a:avLst/>
          </a:prstGeom>
          <a:noFill/>
          <a:ln/>
        </p:spPr>
        <p:txBody>
          <a:bodyPr wrap="square" lIns="0" tIns="0" rIns="0" bIns="0" rtlCol="0" anchor="t"/>
          <a:lstStyle/>
          <a:p>
            <a:pPr indent="0" marL="0">
              <a:buNone/>
            </a:pPr>
            <a:r>
              <a:rPr lang="en-US" sz="1300" b="1" spc="100" kern="0" dirty="0">
                <a:solidFill>
                  <a:srgbClr val="FFC24B"/>
                </a:solidFill>
                <a:latin typeface="Palatino Linotype" pitchFamily="34" charset="0"/>
                <a:ea typeface="Palatino Linotype" pitchFamily="34" charset="-122"/>
                <a:cs typeface="Palatino Linotype" pitchFamily="34" charset="-120"/>
              </a:rPr>
              <a:t>Nov.–dec.</a:t>
            </a:r>
            <a:endParaRPr lang="en-US" sz="1300" dirty="0"/>
          </a:p>
        </p:txBody>
      </p:sp>
      <p:sp>
        <p:nvSpPr>
          <p:cNvPr id="33" name="Text 31"/>
          <p:cNvSpPr/>
          <p:nvPr/>
        </p:nvSpPr>
        <p:spPr>
          <a:xfrm>
            <a:off x="8321040" y="4114800"/>
            <a:ext cx="1783080" cy="11887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Medicul-șef al chirurgiei</a:t>
            </a:r>
            <a:endParaRPr lang="en-US" sz="1600" dirty="0"/>
          </a:p>
        </p:txBody>
      </p:sp>
      <p:sp>
        <p:nvSpPr>
          <p:cNvPr id="34" name="Shape 32"/>
          <p:cNvSpPr/>
          <p:nvPr/>
        </p:nvSpPr>
        <p:spPr>
          <a:xfrm>
            <a:off x="10195560" y="3794760"/>
            <a:ext cx="1188720" cy="1463040"/>
          </a:xfrm>
          <a:prstGeom prst="roundRect">
            <a:avLst>
              <a:gd name="adj" fmla="val 6923"/>
            </a:avLst>
          </a:prstGeom>
          <a:solidFill>
            <a:srgbClr val="FFFFFF"/>
          </a:solidFill>
          <a:ln w="12700">
            <a:solidFill>
              <a:srgbClr val="FFFFFF"/>
            </a:solidFill>
            <a:prstDash val="solid"/>
          </a:ln>
        </p:spPr>
        <p:txBody>
          <a:bodyPr/>
          <a:p/>
        </p:txBody>
      </p:sp>
      <p:sp>
        <p:nvSpPr>
          <p:cNvPr id="35" name="Text 33"/>
          <p:cNvSpPr/>
          <p:nvPr/>
        </p:nvSpPr>
        <p:spPr>
          <a:xfrm>
            <a:off x="10195560" y="3794760"/>
            <a:ext cx="1188720" cy="146304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[QR fișa #s011]</a:t>
            </a:r>
            <a:endParaRPr lang="en-US" sz="1300" dirty="0"/>
          </a:p>
        </p:txBody>
      </p:sp>
      <p:sp>
        <p:nvSpPr>
          <p:cNvPr id="36" name="Text 34"/>
          <p:cNvSpPr/>
          <p:nvPr/>
        </p:nvSpPr>
        <p:spPr>
          <a:xfrm>
            <a:off x="594360" y="5715000"/>
            <a:ext cx="10972800" cy="41148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Citiți fișa (linkul e și în chat), apoi votați din rol. Primul câmp: „Rolul vostru:”.</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COMITETUL</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VOTAȚI DIN ROL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Ce măsură adoptă comitetul?</a:t>
            </a:r>
            <a:endParaRPr lang="en-US" sz="2800" dirty="0"/>
          </a:p>
        </p:txBody>
      </p:sp>
      <p:sp>
        <p:nvSpPr>
          <p:cNvPr id="6" name="Shape 4"/>
          <p:cNvSpPr/>
          <p:nvPr/>
        </p:nvSpPr>
        <p:spPr>
          <a:xfrm>
            <a:off x="594360" y="16002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7" name="Shape 5"/>
          <p:cNvSpPr/>
          <p:nvPr/>
        </p:nvSpPr>
        <p:spPr>
          <a:xfrm>
            <a:off x="914400" y="1783080"/>
            <a:ext cx="420624" cy="420624"/>
          </a:xfrm>
          <a:prstGeom prst="ellipse">
            <a:avLst/>
          </a:prstGeom>
          <a:solidFill>
            <a:srgbClr val="FFC24B"/>
          </a:solidFill>
          <a:ln/>
        </p:spPr>
        <p:txBody>
          <a:bodyPr/>
          <a:p/>
        </p:txBody>
      </p:sp>
      <p:sp>
        <p:nvSpPr>
          <p:cNvPr id="8" name="Text 6"/>
          <p:cNvSpPr/>
          <p:nvPr/>
        </p:nvSpPr>
        <p:spPr>
          <a:xfrm>
            <a:off x="914400" y="1783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600200"/>
            <a:ext cx="7315200" cy="786384"/>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Un comunicat nou, mai lung, și închiderea subiectului.</a:t>
            </a:r>
            <a:endParaRPr lang="en-US" sz="1550" dirty="0"/>
          </a:p>
        </p:txBody>
      </p:sp>
      <p:sp>
        <p:nvSpPr>
          <p:cNvPr id="10" name="Shape 8"/>
          <p:cNvSpPr/>
          <p:nvPr/>
        </p:nvSpPr>
        <p:spPr>
          <a:xfrm>
            <a:off x="594360" y="25146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1" name="Shape 9"/>
          <p:cNvSpPr/>
          <p:nvPr/>
        </p:nvSpPr>
        <p:spPr>
          <a:xfrm>
            <a:off x="914400" y="2697480"/>
            <a:ext cx="420624" cy="420624"/>
          </a:xfrm>
          <a:prstGeom prst="ellipse">
            <a:avLst/>
          </a:prstGeom>
          <a:solidFill>
            <a:srgbClr val="FFC24B"/>
          </a:solidFill>
          <a:ln/>
        </p:spPr>
        <p:txBody>
          <a:bodyPr/>
          <a:p/>
        </p:txBody>
      </p:sp>
      <p:sp>
        <p:nvSpPr>
          <p:cNvPr id="12" name="Text 10"/>
          <p:cNvSpPr/>
          <p:nvPr/>
        </p:nvSpPr>
        <p:spPr>
          <a:xfrm>
            <a:off x="914400" y="2697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514600"/>
            <a:ext cx="7315200" cy="786384"/>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Șefa comisiei se retrage până la evaluarea Agenției; spitalul o sesizează el însuși și publică periodic prețul pe bucată, urmărit de consiliul județean.</a:t>
            </a:r>
            <a:endParaRPr lang="en-US" sz="1550" dirty="0"/>
          </a:p>
        </p:txBody>
      </p:sp>
      <p:sp>
        <p:nvSpPr>
          <p:cNvPr id="14" name="Shape 12"/>
          <p:cNvSpPr/>
          <p:nvPr/>
        </p:nvSpPr>
        <p:spPr>
          <a:xfrm>
            <a:off x="594360" y="34290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5" name="Shape 13"/>
          <p:cNvSpPr/>
          <p:nvPr/>
        </p:nvSpPr>
        <p:spPr>
          <a:xfrm>
            <a:off x="914400" y="3611880"/>
            <a:ext cx="420624" cy="420624"/>
          </a:xfrm>
          <a:prstGeom prst="ellipse">
            <a:avLst/>
          </a:prstGeom>
          <a:solidFill>
            <a:srgbClr val="FFC24B"/>
          </a:solidFill>
          <a:ln/>
        </p:spPr>
        <p:txBody>
          <a:bodyPr/>
          <a:p/>
        </p:txBody>
      </p:sp>
      <p:sp>
        <p:nvSpPr>
          <p:cNvPr id="16" name="Text 14"/>
          <p:cNvSpPr/>
          <p:nvPr/>
        </p:nvSpPr>
        <p:spPr>
          <a:xfrm>
            <a:off x="91440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429000"/>
            <a:ext cx="7315200" cy="786384"/>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O anchetă internă, cu rezultatul păstrat în spital.</a:t>
            </a:r>
            <a:endParaRPr lang="en-US" sz="1550" dirty="0"/>
          </a:p>
        </p:txBody>
      </p:sp>
      <p:sp>
        <p:nvSpPr>
          <p:cNvPr id="18" name="Shape 16"/>
          <p:cNvSpPr/>
          <p:nvPr/>
        </p:nvSpPr>
        <p:spPr>
          <a:xfrm>
            <a:off x="594360" y="43434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9" name="Shape 17"/>
          <p:cNvSpPr/>
          <p:nvPr/>
        </p:nvSpPr>
        <p:spPr>
          <a:xfrm>
            <a:off x="914400" y="4526280"/>
            <a:ext cx="420624" cy="420624"/>
          </a:xfrm>
          <a:prstGeom prst="ellipse">
            <a:avLst/>
          </a:prstGeom>
          <a:solidFill>
            <a:srgbClr val="FFC24B"/>
          </a:solidFill>
          <a:ln/>
        </p:spPr>
        <p:txBody>
          <a:bodyPr/>
          <a:p/>
        </p:txBody>
      </p:sp>
      <p:sp>
        <p:nvSpPr>
          <p:cNvPr id="20" name="Text 18"/>
          <p:cNvSpPr/>
          <p:nvPr/>
        </p:nvSpPr>
        <p:spPr>
          <a:xfrm>
            <a:off x="914400" y="4526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343400"/>
            <a:ext cx="7315200" cy="786384"/>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Nicio măsură până la decizia Agenției.</a:t>
            </a:r>
            <a:endParaRPr lang="en-US" sz="1550" dirty="0"/>
          </a:p>
        </p:txBody>
      </p:sp>
      <p:sp>
        <p:nvSpPr>
          <p:cNvPr id="22" name="Shape 20"/>
          <p:cNvSpPr/>
          <p:nvPr/>
        </p:nvSpPr>
        <p:spPr>
          <a:xfrm>
            <a:off x="9509760" y="1600200"/>
            <a:ext cx="2057400" cy="1828800"/>
          </a:xfrm>
          <a:prstGeom prst="roundRect">
            <a:avLst>
              <a:gd name="adj" fmla="val 4500"/>
            </a:avLst>
          </a:prstGeom>
          <a:solidFill>
            <a:srgbClr val="FFFFFF"/>
          </a:solidFill>
          <a:ln w="12700">
            <a:solidFill>
              <a:srgbClr val="FFFFFF"/>
            </a:solidFill>
            <a:prstDash val="solid"/>
          </a:ln>
        </p:spPr>
        <p:txBody>
          <a:bodyPr/>
          <a:p/>
        </p:txBody>
      </p:sp>
      <p:sp>
        <p:nvSpPr>
          <p:cNvPr id="24" name="Text 22"/>
          <p:cNvSpPr/>
          <p:nvPr/>
        </p:nvSpPr>
        <p:spPr>
          <a:xfrm>
            <a:off x="594360" y="5669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la cod sau din linkul din chat.</a:t>
            </a:r>
            <a:endParaRPr lang="en-US" sz="1600" dirty="0"/>
          </a:p>
        </p:txBody>
      </p:sp>
      <p:pic>
        <p:nvPicPr>
          <p:cNvPr id="25" name="Picture 24" descr="Mentimeter_OPT_PLIC_C05.png"/>
          <p:cNvPicPr>
            <a:picLocks noChangeAspect="1"/>
          </p:cNvPicPr>
          <p:nvPr/>
        </p:nvPicPr>
        <p:blipFill>
          <a:blip r:embed="rId3"/>
          <a:stretch>
            <a:fillRect/>
          </a:stretch>
        </p:blipFill>
        <p:spPr>
          <a:xfrm>
            <a:off x="9841229" y="1600200"/>
            <a:ext cx="1394461" cy="1394461"/>
          </a:xfrm>
          <a:prstGeom prst="rect">
            <a:avLst/>
          </a:prstGeom>
        </p:spPr>
      </p:pic>
      <p:sp>
        <p:nvSpPr>
          <p:cNvPr id="26" name="TextBox 25"/>
          <p:cNvSpPr txBox="1"/>
          <p:nvPr/>
        </p:nvSpPr>
        <p:spPr>
          <a:xfrm>
            <a:off x="9509760" y="30327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VOTUL COMITETULUI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Cine răspunde și cine verifică?</a:t>
            </a:r>
            <a:endParaRPr lang="en-US" sz="3200" dirty="0"/>
          </a:p>
        </p:txBody>
      </p:sp>
      <p:sp>
        <p:nvSpPr>
          <p:cNvPr id="4" name="Shape 2"/>
          <p:cNvSpPr/>
          <p:nvPr/>
        </p:nvSpPr>
        <p:spPr>
          <a:xfrm>
            <a:off x="594360" y="2240280"/>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5" name="Shape 3"/>
          <p:cNvSpPr/>
          <p:nvPr/>
        </p:nvSpPr>
        <p:spPr>
          <a:xfrm>
            <a:off x="914400" y="2368296"/>
            <a:ext cx="420624" cy="420624"/>
          </a:xfrm>
          <a:prstGeom prst="ellipse">
            <a:avLst/>
          </a:prstGeom>
          <a:solidFill>
            <a:srgbClr val="FFC24B"/>
          </a:solidFill>
          <a:ln/>
        </p:spPr>
        <p:txBody>
          <a:bodyPr/>
          <a:p/>
        </p:txBody>
      </p:sp>
      <p:sp>
        <p:nvSpPr>
          <p:cNvPr id="6" name="Text 4"/>
          <p:cNvSpPr/>
          <p:nvPr/>
        </p:nvSpPr>
        <p:spPr>
          <a:xfrm>
            <a:off x="914400" y="23682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240280"/>
            <a:ext cx="969264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Tot o publicare: nu numește pe nimeni care să răspundă sau să verifice.</a:t>
            </a:r>
            <a:endParaRPr lang="en-US" sz="1600" dirty="0"/>
          </a:p>
        </p:txBody>
      </p:sp>
      <p:sp>
        <p:nvSpPr>
          <p:cNvPr id="8" name="Shape 6"/>
          <p:cNvSpPr/>
          <p:nvPr/>
        </p:nvSpPr>
        <p:spPr>
          <a:xfrm>
            <a:off x="594360" y="3026664"/>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9" name="Shape 7"/>
          <p:cNvSpPr/>
          <p:nvPr/>
        </p:nvSpPr>
        <p:spPr>
          <a:xfrm>
            <a:off x="914400" y="3154680"/>
            <a:ext cx="420624" cy="420624"/>
          </a:xfrm>
          <a:prstGeom prst="ellipse">
            <a:avLst/>
          </a:prstGeom>
          <a:solidFill>
            <a:srgbClr val="FFC24B"/>
          </a:solidFill>
          <a:ln/>
        </p:spPr>
        <p:txBody>
          <a:bodyPr/>
          <a:p/>
        </p:txBody>
      </p:sp>
      <p:sp>
        <p:nvSpPr>
          <p:cNvPr id="10" name="Text 8"/>
          <p:cNvSpPr/>
          <p:nvPr/>
        </p:nvSpPr>
        <p:spPr>
          <a:xfrm>
            <a:off x="914400" y="31546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3026664"/>
            <a:ext cx="969264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Persoană care se retrage, autoritate sesizată, informație urmărită. Costul: un om mai puțin în comisie.</a:t>
            </a:r>
            <a:endParaRPr lang="en-US" sz="1600" dirty="0"/>
          </a:p>
        </p:txBody>
      </p:sp>
      <p:sp>
        <p:nvSpPr>
          <p:cNvPr id="12" name="Shape 10"/>
          <p:cNvSpPr/>
          <p:nvPr/>
        </p:nvSpPr>
        <p:spPr>
          <a:xfrm>
            <a:off x="594360" y="3813048"/>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13" name="Shape 11"/>
          <p:cNvSpPr/>
          <p:nvPr/>
        </p:nvSpPr>
        <p:spPr>
          <a:xfrm>
            <a:off x="914400" y="3941064"/>
            <a:ext cx="420624" cy="420624"/>
          </a:xfrm>
          <a:prstGeom prst="ellipse">
            <a:avLst/>
          </a:prstGeom>
          <a:solidFill>
            <a:srgbClr val="FFC24B"/>
          </a:solidFill>
          <a:ln/>
        </p:spPr>
        <p:txBody>
          <a:bodyPr/>
          <a:p/>
        </p:txBody>
      </p:sp>
      <p:sp>
        <p:nvSpPr>
          <p:cNvPr id="14" name="Text 12"/>
          <p:cNvSpPr/>
          <p:nvPr/>
        </p:nvSpPr>
        <p:spPr>
          <a:xfrm>
            <a:off x="914400" y="39410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813048"/>
            <a:ext cx="969264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Instituția se verifică pe sine, fără control din afară.</a:t>
            </a:r>
            <a:endParaRPr lang="en-US" sz="1600" dirty="0"/>
          </a:p>
        </p:txBody>
      </p:sp>
      <p:sp>
        <p:nvSpPr>
          <p:cNvPr id="16" name="Shape 14"/>
          <p:cNvSpPr/>
          <p:nvPr/>
        </p:nvSpPr>
        <p:spPr>
          <a:xfrm>
            <a:off x="594360" y="4599432"/>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17" name="Shape 15"/>
          <p:cNvSpPr/>
          <p:nvPr/>
        </p:nvSpPr>
        <p:spPr>
          <a:xfrm>
            <a:off x="914400" y="4727448"/>
            <a:ext cx="420624" cy="420624"/>
          </a:xfrm>
          <a:prstGeom prst="ellipse">
            <a:avLst/>
          </a:prstGeom>
          <a:solidFill>
            <a:srgbClr val="FFC24B"/>
          </a:solidFill>
          <a:ln/>
        </p:spPr>
        <p:txBody>
          <a:bodyPr/>
          <a:p/>
        </p:txBody>
      </p:sp>
      <p:sp>
        <p:nvSpPr>
          <p:cNvPr id="18" name="Text 16"/>
          <p:cNvSpPr/>
          <p:nvPr/>
        </p:nvSpPr>
        <p:spPr>
          <a:xfrm>
            <a:off x="914400" y="47274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600200" y="4599432"/>
            <a:ext cx="969264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Mută totul pe o autoritate pe care nu a sesizat-o nimeni.</a:t>
            </a:r>
            <a:endParaRPr lang="en-US" sz="1600" dirty="0"/>
          </a:p>
        </p:txBody>
      </p:sp>
      <p:sp>
        <p:nvSpPr>
          <p:cNvPr id="20" name="Text 18"/>
          <p:cNvSpPr/>
          <p:nvPr/>
        </p:nvSpPr>
        <p:spPr>
          <a:xfrm>
            <a:off x="594360" y="5486400"/>
            <a:ext cx="10972800" cy="54864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Ce decizie ar trece și cine plătește costul ei?</a:t>
            </a:r>
            <a:endParaRPr lang="en-US" sz="2100" dirty="0"/>
          </a:p>
        </p:txBody>
      </p:sp>
      <p:sp>
        <p:nvSpPr>
          <p:cNvPr id="21" name="Text 1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Notele ședinței, „Comitetul” · A832, A833, A054.</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2103120"/>
            <a:ext cx="10972800" cy="1371600"/>
          </a:xfrm>
          <a:prstGeom prst="rect">
            <a:avLst/>
          </a:prstGeom>
          <a:noFill/>
          <a:ln/>
        </p:spPr>
        <p:txBody>
          <a:bodyPr wrap="square" lIns="0" tIns="0" rIns="0" bIns="0" rtlCol="0" anchor="ctr"/>
          <a:lstStyle/>
          <a:p>
            <a:pPr algn="ctr" indent="0" marL="0">
              <a:buNone/>
            </a:pPr>
            <a:r>
              <a:rPr lang="en-US" sz="6400" b="1" dirty="0">
                <a:solidFill>
                  <a:srgbClr val="2E060B"/>
                </a:solidFill>
                <a:latin typeface="Palatino Linotype" pitchFamily="34" charset="0"/>
                <a:ea typeface="Palatino Linotype" pitchFamily="34" charset="-122"/>
                <a:cs typeface="Palatino Linotype" pitchFamily="34" charset="-120"/>
              </a:rPr>
              <a:t>Cinci minute</a:t>
            </a:r>
            <a:endParaRPr lang="en-US" sz="6400" dirty="0"/>
          </a:p>
        </p:txBody>
      </p:sp>
      <p:sp>
        <p:nvSpPr>
          <p:cNvPr id="3" name="Text 1"/>
          <p:cNvSpPr/>
          <p:nvPr/>
        </p:nvSpPr>
        <p:spPr>
          <a:xfrm>
            <a:off x="594360" y="3566160"/>
            <a:ext cx="10972800" cy="731520"/>
          </a:xfrm>
          <a:prstGeom prst="rect">
            <a:avLst/>
          </a:prstGeom>
          <a:noFill/>
          <a:ln/>
        </p:spPr>
        <p:txBody>
          <a:bodyPr wrap="square" lIns="0" tIns="0" rIns="0" bIns="0" rtlCol="0" anchor="t"/>
          <a:lstStyle/>
          <a:p>
            <a:pPr algn="ctr" indent="0" marL="0">
              <a:buNone/>
            </a:pPr>
            <a:r>
              <a:rPr lang="en-US" sz="2400" dirty="0">
                <a:solidFill>
                  <a:srgbClr val="2E060B"/>
                </a:solidFill>
                <a:latin typeface="Palatino Linotype" pitchFamily="34" charset="0"/>
                <a:ea typeface="Palatino Linotype" pitchFamily="34" charset="-122"/>
                <a:cs typeface="Palatino Linotype" pitchFamily="34" charset="-120"/>
              </a:rPr>
              <a:t>Apoi: ce ar urma în cazul Spitalului Județean A.</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ACTUL 3 · CE AR URMA, PLAUZIBIL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Două luni mai târziu</a:t>
            </a:r>
            <a:endParaRPr lang="en-US" sz="3400" dirty="0"/>
          </a:p>
        </p:txBody>
      </p:sp>
      <p:sp>
        <p:nvSpPr>
          <p:cNvPr id="4" name="Shape 2"/>
          <p:cNvSpPr/>
          <p:nvPr/>
        </p:nvSpPr>
        <p:spPr>
          <a:xfrm>
            <a:off x="594360" y="1600200"/>
            <a:ext cx="10972800" cy="502920"/>
          </a:xfrm>
          <a:prstGeom prst="roundRect">
            <a:avLst>
              <a:gd name="adj" fmla="val 16364"/>
            </a:avLst>
          </a:prstGeom>
          <a:solidFill>
            <a:srgbClr val="27D3BE"/>
          </a:solidFill>
          <a:ln w="12700">
            <a:solidFill>
              <a:srgbClr val="27D3BE"/>
            </a:solidFill>
            <a:prstDash val="solid"/>
          </a:ln>
        </p:spPr>
        <p:txBody>
          <a:bodyPr/>
          <a:p/>
        </p:txBody>
      </p:sp>
      <p:sp>
        <p:nvSpPr>
          <p:cNvPr id="5" name="Text 3"/>
          <p:cNvSpPr/>
          <p:nvPr/>
        </p:nvSpPr>
        <p:spPr>
          <a:xfrm>
            <a:off x="868680" y="1600200"/>
            <a:ext cx="10424160" cy="502920"/>
          </a:xfrm>
          <a:prstGeom prst="rect">
            <a:avLst/>
          </a:prstGeom>
          <a:noFill/>
          <a:ln/>
        </p:spPr>
        <p:txBody>
          <a:bodyPr wrap="square" lIns="0" tIns="0" rIns="0" bIns="0" rtlCol="0" anchor="ctr"/>
          <a:lstStyle/>
          <a:p>
            <a:pPr indent="0" marL="0">
              <a:buNone/>
            </a:pPr>
            <a:r>
              <a:rPr lang="en-US" sz="1600" b="1" dirty="0">
                <a:solidFill>
                  <a:srgbClr val="073B34"/>
                </a:solidFill>
                <a:latin typeface="Palatino Linotype" pitchFamily="34" charset="0"/>
                <a:ea typeface="Palatino Linotype" pitchFamily="34" charset="-122"/>
                <a:cs typeface="Palatino Linotype" pitchFamily="34" charset="-120"/>
              </a:rPr>
              <a:t>Caz construit pentru curs; deznodământul este plauzibil, nu real.</a:t>
            </a:r>
            <a:endParaRPr lang="en-US" sz="1600" dirty="0"/>
          </a:p>
        </p:txBody>
      </p:sp>
      <p:sp>
        <p:nvSpPr>
          <p:cNvPr id="6" name="Shape 4"/>
          <p:cNvSpPr/>
          <p:nvPr/>
        </p:nvSpPr>
        <p:spPr>
          <a:xfrm>
            <a:off x="594360" y="2331720"/>
            <a:ext cx="10972800" cy="786384"/>
          </a:xfrm>
          <a:prstGeom prst="roundRect">
            <a:avLst>
              <a:gd name="adj" fmla="val 10465"/>
            </a:avLst>
          </a:prstGeom>
          <a:solidFill>
            <a:srgbClr val="ECEAE4"/>
          </a:solidFill>
          <a:ln w="12700">
            <a:solidFill>
              <a:srgbClr val="ECEAE4"/>
            </a:solidFill>
            <a:prstDash val="solid"/>
          </a:ln>
        </p:spPr>
        <p:txBody>
          <a:bodyPr/>
          <a:p/>
        </p:txBody>
      </p:sp>
      <p:sp>
        <p:nvSpPr>
          <p:cNvPr id="7" name="Shape 5"/>
          <p:cNvSpPr/>
          <p:nvPr/>
        </p:nvSpPr>
        <p:spPr>
          <a:xfrm>
            <a:off x="914400" y="2514600"/>
            <a:ext cx="420624" cy="420624"/>
          </a:xfrm>
          <a:prstGeom prst="ellipse">
            <a:avLst/>
          </a:prstGeom>
          <a:solidFill>
            <a:srgbClr val="27D3BE"/>
          </a:solidFill>
          <a:ln/>
        </p:spPr>
        <p:txBody>
          <a:bodyPr/>
          <a:p/>
        </p:txBody>
      </p:sp>
      <p:sp>
        <p:nvSpPr>
          <p:cNvPr id="8" name="Text 6"/>
          <p:cNvSpPr/>
          <p:nvPr/>
        </p:nvSpPr>
        <p:spPr>
          <a:xfrm>
            <a:off x="914400" y="2514600"/>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2331720"/>
            <a:ext cx="96926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Managerul adoptă varianta 2: retragerea din comisie, sesizarea Agenției, prețurile publicate periodic.</a:t>
            </a:r>
            <a:endParaRPr lang="en-US" sz="1600" dirty="0"/>
          </a:p>
        </p:txBody>
      </p:sp>
      <p:sp>
        <p:nvSpPr>
          <p:cNvPr id="10" name="Shape 8"/>
          <p:cNvSpPr/>
          <p:nvPr/>
        </p:nvSpPr>
        <p:spPr>
          <a:xfrm>
            <a:off x="594360" y="3227832"/>
            <a:ext cx="10972800" cy="786384"/>
          </a:xfrm>
          <a:prstGeom prst="roundRect">
            <a:avLst>
              <a:gd name="adj" fmla="val 10465"/>
            </a:avLst>
          </a:prstGeom>
          <a:solidFill>
            <a:srgbClr val="ECEAE4"/>
          </a:solidFill>
          <a:ln w="12700">
            <a:solidFill>
              <a:srgbClr val="ECEAE4"/>
            </a:solidFill>
            <a:prstDash val="solid"/>
          </a:ln>
        </p:spPr>
        <p:txBody>
          <a:bodyPr/>
          <a:p/>
        </p:txBody>
      </p:sp>
      <p:sp>
        <p:nvSpPr>
          <p:cNvPr id="11" name="Shape 9"/>
          <p:cNvSpPr/>
          <p:nvPr/>
        </p:nvSpPr>
        <p:spPr>
          <a:xfrm>
            <a:off x="914400" y="3410712"/>
            <a:ext cx="420624" cy="420624"/>
          </a:xfrm>
          <a:prstGeom prst="ellipse">
            <a:avLst/>
          </a:prstGeom>
          <a:solidFill>
            <a:srgbClr val="27D3BE"/>
          </a:solidFill>
          <a:ln/>
        </p:spPr>
        <p:txBody>
          <a:bodyPr/>
          <a:p/>
        </p:txBody>
      </p:sp>
      <p:sp>
        <p:nvSpPr>
          <p:cNvPr id="12" name="Text 10"/>
          <p:cNvSpPr/>
          <p:nvPr/>
        </p:nvSpPr>
        <p:spPr>
          <a:xfrm>
            <a:off x="914400" y="3410712"/>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3227832"/>
            <a:ext cx="96926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Studenții depun reclamația imediat. Primesc prețurile în 15 zile, înainte de termenul pentru tribunal; autoarea răspunsului a fost sancționată.</a:t>
            </a:r>
            <a:endParaRPr lang="en-US" sz="1600" dirty="0"/>
          </a:p>
        </p:txBody>
      </p:sp>
      <p:sp>
        <p:nvSpPr>
          <p:cNvPr id="14" name="Shape 12"/>
          <p:cNvSpPr/>
          <p:nvPr/>
        </p:nvSpPr>
        <p:spPr>
          <a:xfrm>
            <a:off x="594360" y="4123944"/>
            <a:ext cx="10972800" cy="786384"/>
          </a:xfrm>
          <a:prstGeom prst="roundRect">
            <a:avLst>
              <a:gd name="adj" fmla="val 10465"/>
            </a:avLst>
          </a:prstGeom>
          <a:solidFill>
            <a:srgbClr val="ECEAE4"/>
          </a:solidFill>
          <a:ln w="12700">
            <a:solidFill>
              <a:srgbClr val="ECEAE4"/>
            </a:solidFill>
            <a:prstDash val="solid"/>
          </a:ln>
        </p:spPr>
        <p:txBody>
          <a:bodyPr/>
          <a:p/>
        </p:txBody>
      </p:sp>
      <p:sp>
        <p:nvSpPr>
          <p:cNvPr id="15" name="Shape 13"/>
          <p:cNvSpPr/>
          <p:nvPr/>
        </p:nvSpPr>
        <p:spPr>
          <a:xfrm>
            <a:off x="914400" y="4306824"/>
            <a:ext cx="420624" cy="420624"/>
          </a:xfrm>
          <a:prstGeom prst="ellipse">
            <a:avLst/>
          </a:prstGeom>
          <a:solidFill>
            <a:srgbClr val="27D3BE"/>
          </a:solidFill>
          <a:ln/>
        </p:spPr>
        <p:txBody>
          <a:bodyPr/>
          <a:p/>
        </p:txBody>
      </p:sp>
      <p:sp>
        <p:nvSpPr>
          <p:cNvPr id="16" name="Text 14"/>
          <p:cNvSpPr/>
          <p:nvPr/>
        </p:nvSpPr>
        <p:spPr>
          <a:xfrm>
            <a:off x="914400" y="430682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4123944"/>
            <a:ext cx="96926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Firma C nu a vândut mai scump. Evaluarea Agenției este încă în curs.</a:t>
            </a:r>
            <a:endParaRPr lang="en-US" sz="1600" dirty="0"/>
          </a:p>
        </p:txBody>
      </p:sp>
      <p:sp>
        <p:nvSpPr>
          <p:cNvPr id="18" name="Shape 16"/>
          <p:cNvSpPr/>
          <p:nvPr/>
        </p:nvSpPr>
        <p:spPr>
          <a:xfrm>
            <a:off x="594360" y="5020056"/>
            <a:ext cx="10972800" cy="786384"/>
          </a:xfrm>
          <a:prstGeom prst="roundRect">
            <a:avLst>
              <a:gd name="adj" fmla="val 10465"/>
            </a:avLst>
          </a:prstGeom>
          <a:solidFill>
            <a:srgbClr val="ECEAE4"/>
          </a:solidFill>
          <a:ln w="12700">
            <a:solidFill>
              <a:srgbClr val="ECEAE4"/>
            </a:solidFill>
            <a:prstDash val="solid"/>
          </a:ln>
        </p:spPr>
        <p:txBody>
          <a:bodyPr/>
          <a:p/>
        </p:txBody>
      </p:sp>
      <p:sp>
        <p:nvSpPr>
          <p:cNvPr id="19" name="Shape 17"/>
          <p:cNvSpPr/>
          <p:nvPr/>
        </p:nvSpPr>
        <p:spPr>
          <a:xfrm>
            <a:off x="914400" y="5202936"/>
            <a:ext cx="420624" cy="420624"/>
          </a:xfrm>
          <a:prstGeom prst="ellipse">
            <a:avLst/>
          </a:prstGeom>
          <a:solidFill>
            <a:srgbClr val="27D3BE"/>
          </a:solidFill>
          <a:ln/>
        </p:spPr>
        <p:txBody>
          <a:bodyPr/>
          <a:p/>
        </p:txBody>
      </p:sp>
      <p:sp>
        <p:nvSpPr>
          <p:cNvPr id="20" name="Text 18"/>
          <p:cNvSpPr/>
          <p:nvPr/>
        </p:nvSpPr>
        <p:spPr>
          <a:xfrm>
            <a:off x="914400" y="5202936"/>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5020056"/>
            <a:ext cx="96926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Cererea medicului-șef pentru alt tip de mănuși nu ajunsese niciodată la comisie.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 PORNIT PROCESUL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Articolul a arătat. Instituțiile au mișcat.</a:t>
            </a:r>
            <a:endParaRPr lang="en-US" sz="3000" dirty="0"/>
          </a:p>
        </p:txBody>
      </p:sp>
      <p:sp>
        <p:nvSpPr>
          <p:cNvPr id="4" name="Shape 2"/>
          <p:cNvSpPr/>
          <p:nvPr/>
        </p:nvSpPr>
        <p:spPr>
          <a:xfrm>
            <a:off x="594360" y="1691640"/>
            <a:ext cx="6766560" cy="640080"/>
          </a:xfrm>
          <a:prstGeom prst="roundRect">
            <a:avLst>
              <a:gd name="adj" fmla="val 12857"/>
            </a:avLst>
          </a:prstGeom>
          <a:solidFill>
            <a:srgbClr val="1D1F2B"/>
          </a:solidFill>
          <a:ln w="12700">
            <a:solidFill>
              <a:srgbClr val="1D1F2B"/>
            </a:solidFill>
            <a:prstDash val="solid"/>
          </a:ln>
        </p:spPr>
        <p:txBody>
          <a:bodyPr/>
          <a:p/>
        </p:txBody>
      </p:sp>
      <p:sp>
        <p:nvSpPr>
          <p:cNvPr id="5" name="Shape 3"/>
          <p:cNvSpPr/>
          <p:nvPr/>
        </p:nvSpPr>
        <p:spPr>
          <a:xfrm>
            <a:off x="914400" y="1801368"/>
            <a:ext cx="420624" cy="420624"/>
          </a:xfrm>
          <a:prstGeom prst="ellipse">
            <a:avLst/>
          </a:prstGeom>
          <a:solidFill>
            <a:srgbClr val="FFC24B"/>
          </a:solidFill>
          <a:ln/>
        </p:spPr>
        <p:txBody>
          <a:bodyPr/>
          <a:p/>
        </p:txBody>
      </p:sp>
      <p:sp>
        <p:nvSpPr>
          <p:cNvPr id="6" name="Text 4"/>
          <p:cNvSpPr/>
          <p:nvPr/>
        </p:nvSpPr>
        <p:spPr>
          <a:xfrm>
            <a:off x="914400" y="18013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691640"/>
            <a:ext cx="548640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Tribunalul, la care studenții puteau merge.</a:t>
            </a:r>
            <a:endParaRPr lang="en-US" sz="1700" dirty="0"/>
          </a:p>
        </p:txBody>
      </p:sp>
      <p:sp>
        <p:nvSpPr>
          <p:cNvPr id="8" name="Shape 6"/>
          <p:cNvSpPr/>
          <p:nvPr/>
        </p:nvSpPr>
        <p:spPr>
          <a:xfrm>
            <a:off x="594360" y="2441448"/>
            <a:ext cx="6766560" cy="640080"/>
          </a:xfrm>
          <a:prstGeom prst="roundRect">
            <a:avLst>
              <a:gd name="adj" fmla="val 12857"/>
            </a:avLst>
          </a:prstGeom>
          <a:solidFill>
            <a:srgbClr val="1D1F2B"/>
          </a:solidFill>
          <a:ln w="12700">
            <a:solidFill>
              <a:srgbClr val="1D1F2B"/>
            </a:solidFill>
            <a:prstDash val="solid"/>
          </a:ln>
        </p:spPr>
        <p:txBody>
          <a:bodyPr/>
          <a:p/>
        </p:txBody>
      </p:sp>
      <p:sp>
        <p:nvSpPr>
          <p:cNvPr id="9" name="Shape 7"/>
          <p:cNvSpPr/>
          <p:nvPr/>
        </p:nvSpPr>
        <p:spPr>
          <a:xfrm>
            <a:off x="914400" y="2551176"/>
            <a:ext cx="420624" cy="420624"/>
          </a:xfrm>
          <a:prstGeom prst="ellipse">
            <a:avLst/>
          </a:prstGeom>
          <a:solidFill>
            <a:srgbClr val="FFC24B"/>
          </a:solidFill>
          <a:ln/>
        </p:spPr>
        <p:txBody>
          <a:bodyPr/>
          <a:p/>
        </p:txBody>
      </p:sp>
      <p:sp>
        <p:nvSpPr>
          <p:cNvPr id="10" name="Text 8"/>
          <p:cNvSpPr/>
          <p:nvPr/>
        </p:nvSpPr>
        <p:spPr>
          <a:xfrm>
            <a:off x="914400" y="25511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441448"/>
            <a:ext cx="548640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Managerul, obligat să răspundă la reclamație.</a:t>
            </a:r>
            <a:endParaRPr lang="en-US" sz="1700" dirty="0"/>
          </a:p>
        </p:txBody>
      </p:sp>
      <p:sp>
        <p:nvSpPr>
          <p:cNvPr id="12" name="Shape 10"/>
          <p:cNvSpPr/>
          <p:nvPr/>
        </p:nvSpPr>
        <p:spPr>
          <a:xfrm>
            <a:off x="594360" y="3191256"/>
            <a:ext cx="6766560" cy="640080"/>
          </a:xfrm>
          <a:prstGeom prst="roundRect">
            <a:avLst>
              <a:gd name="adj" fmla="val 12857"/>
            </a:avLst>
          </a:prstGeom>
          <a:solidFill>
            <a:srgbClr val="1D1F2B"/>
          </a:solidFill>
          <a:ln w="12700">
            <a:solidFill>
              <a:srgbClr val="1D1F2B"/>
            </a:solidFill>
            <a:prstDash val="solid"/>
          </a:ln>
        </p:spPr>
        <p:txBody>
          <a:bodyPr/>
          <a:p/>
        </p:txBody>
      </p:sp>
      <p:sp>
        <p:nvSpPr>
          <p:cNvPr id="13" name="Shape 11"/>
          <p:cNvSpPr/>
          <p:nvPr/>
        </p:nvSpPr>
        <p:spPr>
          <a:xfrm>
            <a:off x="914400" y="3300984"/>
            <a:ext cx="420624" cy="420624"/>
          </a:xfrm>
          <a:prstGeom prst="ellipse">
            <a:avLst/>
          </a:prstGeom>
          <a:solidFill>
            <a:srgbClr val="FFC24B"/>
          </a:solidFill>
          <a:ln/>
        </p:spPr>
        <p:txBody>
          <a:bodyPr/>
          <a:p/>
        </p:txBody>
      </p:sp>
      <p:sp>
        <p:nvSpPr>
          <p:cNvPr id="14" name="Text 12"/>
          <p:cNvSpPr/>
          <p:nvPr/>
        </p:nvSpPr>
        <p:spPr>
          <a:xfrm>
            <a:off x="914400" y="33009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191256"/>
            <a:ext cx="548640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Agenția, odată sesizată.</a:t>
            </a:r>
            <a:endParaRPr lang="en-US" sz="1700" dirty="0"/>
          </a:p>
        </p:txBody>
      </p:sp>
      <p:sp>
        <p:nvSpPr>
          <p:cNvPr id="16" name="Shape 14"/>
          <p:cNvSpPr/>
          <p:nvPr/>
        </p:nvSpPr>
        <p:spPr>
          <a:xfrm>
            <a:off x="594360" y="3941064"/>
            <a:ext cx="6766560" cy="640080"/>
          </a:xfrm>
          <a:prstGeom prst="roundRect">
            <a:avLst>
              <a:gd name="adj" fmla="val 12857"/>
            </a:avLst>
          </a:prstGeom>
          <a:solidFill>
            <a:srgbClr val="1D1F2B"/>
          </a:solidFill>
          <a:ln w="12700">
            <a:solidFill>
              <a:srgbClr val="1D1F2B"/>
            </a:solidFill>
            <a:prstDash val="solid"/>
          </a:ln>
        </p:spPr>
        <p:txBody>
          <a:bodyPr/>
          <a:p/>
        </p:txBody>
      </p:sp>
      <p:sp>
        <p:nvSpPr>
          <p:cNvPr id="17" name="Shape 15"/>
          <p:cNvSpPr/>
          <p:nvPr/>
        </p:nvSpPr>
        <p:spPr>
          <a:xfrm>
            <a:off x="914400" y="4050792"/>
            <a:ext cx="420624" cy="420624"/>
          </a:xfrm>
          <a:prstGeom prst="ellipse">
            <a:avLst/>
          </a:prstGeom>
          <a:solidFill>
            <a:srgbClr val="FFC24B"/>
          </a:solidFill>
          <a:ln/>
        </p:spPr>
        <p:txBody>
          <a:bodyPr/>
          <a:p/>
        </p:txBody>
      </p:sp>
      <p:sp>
        <p:nvSpPr>
          <p:cNvPr id="18" name="Text 16"/>
          <p:cNvSpPr/>
          <p:nvPr/>
        </p:nvSpPr>
        <p:spPr>
          <a:xfrm>
            <a:off x="914400" y="4050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600200" y="3941064"/>
            <a:ext cx="5486400" cy="6400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Consiliul județean, care a cerut rapoarte periodice.</a:t>
            </a:r>
            <a:endParaRPr lang="en-US" sz="1700" dirty="0"/>
          </a:p>
        </p:txBody>
      </p:sp>
      <p:sp>
        <p:nvSpPr>
          <p:cNvPr id="20" name="Shape 18"/>
          <p:cNvSpPr/>
          <p:nvPr/>
        </p:nvSpPr>
        <p:spPr>
          <a:xfrm>
            <a:off x="7680960" y="1691640"/>
            <a:ext cx="3886200" cy="2926080"/>
          </a:xfrm>
          <a:prstGeom prst="roundRect">
            <a:avLst>
              <a:gd name="adj" fmla="val 2813"/>
            </a:avLst>
          </a:prstGeom>
          <a:solidFill>
            <a:srgbClr val="272A38"/>
          </a:solidFill>
          <a:ln w="12700">
            <a:solidFill>
              <a:srgbClr val="272A38"/>
            </a:solidFill>
            <a:prstDash val="solid"/>
          </a:ln>
        </p:spPr>
        <p:txBody>
          <a:bodyPr/>
          <a:p/>
        </p:txBody>
      </p:sp>
      <p:sp>
        <p:nvSpPr>
          <p:cNvPr id="21" name="Text 19"/>
          <p:cNvSpPr/>
          <p:nvPr/>
        </p:nvSpPr>
        <p:spPr>
          <a:xfrm>
            <a:off x="7955280" y="1828800"/>
            <a:ext cx="3383280" cy="91440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Și cineva a urmărit termenele.</a:t>
            </a:r>
            <a:endParaRPr lang="en-US" sz="2000" dirty="0"/>
          </a:p>
        </p:txBody>
      </p:sp>
      <p:sp>
        <p:nvSpPr>
          <p:cNvPr id="22" name="Text 20"/>
          <p:cNvSpPr/>
          <p:nvPr/>
        </p:nvSpPr>
        <p:spPr>
          <a:xfrm>
            <a:off x="7955280" y="2743200"/>
            <a:ext cx="3383280" cy="178308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Prețurile erau în regulă, dar cererea unui medic se pierduse: lipsea un circuit în care cineva să citească și să răspundă.</a:t>
            </a:r>
            <a:endParaRPr lang="en-US" sz="1550" dirty="0"/>
          </a:p>
        </p:txBody>
      </p:sp>
      <p:sp>
        <p:nvSpPr>
          <p:cNvPr id="23" name="Text 21"/>
          <p:cNvSpPr/>
          <p:nvPr/>
        </p:nvSpPr>
        <p:spPr>
          <a:xfrm>
            <a:off x="594360" y="4937760"/>
            <a:ext cx="10972800" cy="64008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Articolul singur nu a schimbat nimic într-o săptămână.</a:t>
            </a:r>
            <a:endParaRPr lang="en-US" sz="20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Legea nr. 544/2001; Legea nr. 176/2010 · A824, A825, A054.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COMPARAȚIA CU VOTURILE VOASTRE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Unde ați avut dreptate și unde nu</a:t>
            </a:r>
            <a:endParaRPr lang="en-US" sz="3000" dirty="0"/>
          </a:p>
        </p:txBody>
      </p:sp>
      <p:sp>
        <p:nvSpPr>
          <p:cNvPr id="4" name="Shape 2"/>
          <p:cNvSpPr/>
          <p:nvPr/>
        </p:nvSpPr>
        <p:spPr>
          <a:xfrm>
            <a:off x="594360" y="1645920"/>
            <a:ext cx="5349240" cy="3566160"/>
          </a:xfrm>
          <a:prstGeom prst="roundRect">
            <a:avLst>
              <a:gd name="adj" fmla="val 2308"/>
            </a:avLst>
          </a:prstGeom>
          <a:solidFill>
            <a:srgbClr val="ECEAE4"/>
          </a:solidFill>
          <a:ln w="12700">
            <a:solidFill>
              <a:srgbClr val="ECEAE4"/>
            </a:solidFill>
            <a:prstDash val="solid"/>
          </a:ln>
        </p:spPr>
        <p:txBody>
          <a:bodyPr/>
          <a:p/>
        </p:txBody>
      </p:sp>
      <p:sp>
        <p:nvSpPr>
          <p:cNvPr id="5" name="Shape 3"/>
          <p:cNvSpPr/>
          <p:nvPr/>
        </p:nvSpPr>
        <p:spPr>
          <a:xfrm>
            <a:off x="594360" y="1645920"/>
            <a:ext cx="5349240" cy="73152"/>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874520"/>
            <a:ext cx="4800600" cy="4114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Prima decizie</a:t>
            </a:r>
            <a:endParaRPr lang="en-US" sz="1600" dirty="0"/>
          </a:p>
        </p:txBody>
      </p:sp>
      <p:sp>
        <p:nvSpPr>
          <p:cNvPr id="7" name="Text 5"/>
          <p:cNvSpPr/>
          <p:nvPr/>
        </p:nvSpPr>
        <p:spPr>
          <a:xfrm>
            <a:off x="868680" y="2377440"/>
            <a:ext cx="4800600" cy="26974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 este poziția comunicatului: un reflex instituțional obișnuit. (C) ar fi dus la o demitere nejustificată: prețurile erau în regulă.</a:t>
            </a:r>
            <a:endParaRPr lang="en-US" sz="1700" dirty="0"/>
          </a:p>
        </p:txBody>
      </p:sp>
      <p:sp>
        <p:nvSpPr>
          <p:cNvPr id="8" name="Shape 6"/>
          <p:cNvSpPr/>
          <p:nvPr/>
        </p:nvSpPr>
        <p:spPr>
          <a:xfrm>
            <a:off x="6217920" y="1645920"/>
            <a:ext cx="5349240" cy="3566160"/>
          </a:xfrm>
          <a:prstGeom prst="roundRect">
            <a:avLst>
              <a:gd name="adj" fmla="val 2308"/>
            </a:avLst>
          </a:prstGeom>
          <a:solidFill>
            <a:srgbClr val="ECEAE4"/>
          </a:solidFill>
          <a:ln w="12700">
            <a:solidFill>
              <a:srgbClr val="ECEAE4"/>
            </a:solidFill>
            <a:prstDash val="solid"/>
          </a:ln>
        </p:spPr>
        <p:txBody>
          <a:bodyPr/>
          <a:p/>
        </p:txBody>
      </p:sp>
      <p:sp>
        <p:nvSpPr>
          <p:cNvPr id="9" name="Shape 7"/>
          <p:cNvSpPr/>
          <p:nvPr/>
        </p:nvSpPr>
        <p:spPr>
          <a:xfrm>
            <a:off x="6217920" y="1645920"/>
            <a:ext cx="5349240" cy="73152"/>
          </a:xfrm>
          <a:prstGeom prst="rect">
            <a:avLst/>
          </a:prstGeom>
          <a:solidFill>
            <a:srgbClr val="0E7C6B"/>
          </a:solidFill>
          <a:ln w="12700">
            <a:solidFill>
              <a:srgbClr val="0E7C6B"/>
            </a:solidFill>
            <a:prstDash val="solid"/>
          </a:ln>
        </p:spPr>
        <p:txBody>
          <a:bodyPr/>
          <a:p/>
        </p:txBody>
      </p:sp>
      <p:sp>
        <p:nvSpPr>
          <p:cNvPr id="10" name="Text 8"/>
          <p:cNvSpPr/>
          <p:nvPr/>
        </p:nvSpPr>
        <p:spPr>
          <a:xfrm>
            <a:off x="6492240" y="1874520"/>
            <a:ext cx="4800600" cy="41148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A doua decizie</a:t>
            </a:r>
            <a:endParaRPr lang="en-US" sz="1600" dirty="0"/>
          </a:p>
        </p:txBody>
      </p:sp>
      <p:sp>
        <p:nvSpPr>
          <p:cNvPr id="11" name="Text 9"/>
          <p:cNvSpPr/>
          <p:nvPr/>
        </p:nvSpPr>
        <p:spPr>
          <a:xfrm>
            <a:off x="6492240" y="2377440"/>
            <a:ext cx="4800600" cy="26974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 o așteptare pe un termen care nu se aplica. (B): calea din deznodământ, cu reclamația imediat și răspunsul înainte de termenul pentru tribunal.</a:t>
            </a:r>
            <a:endParaRPr lang="en-US" sz="1700" dirty="0"/>
          </a:p>
        </p:txBody>
      </p:sp>
      <p:sp>
        <p:nvSpPr>
          <p:cNvPr id="12" name="Text 10"/>
          <p:cNvSpPr/>
          <p:nvPr/>
        </p:nvSpPr>
        <p:spPr>
          <a:xfrm>
            <a:off x="594360" y="5440680"/>
            <a:ext cx="10972800" cy="54864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Aici se vede de ce contează statutul informației.</a:t>
            </a:r>
            <a:endParaRPr lang="en-US" sz="19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Notele ședinței, „Comparația cu voturile voastre” · A821, A824, A825.</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TRANSFERUL · O VARIANTĂ A ACELEIAȘI ÎNTREBĂRI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„Să facem ca Georgia”</a:t>
            </a:r>
            <a:endParaRPr lang="en-US" sz="3400" dirty="0"/>
          </a:p>
        </p:txBody>
      </p:sp>
      <p:sp>
        <p:nvSpPr>
          <p:cNvPr id="4" name="Shape 2"/>
          <p:cNvSpPr/>
          <p:nvPr/>
        </p:nvSpPr>
        <p:spPr>
          <a:xfrm>
            <a:off x="594360" y="1645920"/>
            <a:ext cx="6400800" cy="3291840"/>
          </a:xfrm>
          <a:prstGeom prst="roundRect">
            <a:avLst>
              <a:gd name="adj" fmla="val 2500"/>
            </a:avLst>
          </a:prstGeom>
          <a:solidFill>
            <a:srgbClr val="1D1F2B"/>
          </a:solidFill>
          <a:ln w="12700">
            <a:solidFill>
              <a:srgbClr val="1D1F2B"/>
            </a:solidFill>
            <a:prstDash val="solid"/>
          </a:ln>
        </p:spPr>
        <p:txBody>
          <a:bodyPr/>
          <a:p/>
        </p:txBody>
      </p:sp>
      <p:sp>
        <p:nvSpPr>
          <p:cNvPr id="5" name="Text 3"/>
          <p:cNvSpPr/>
          <p:nvPr/>
        </p:nvSpPr>
        <p:spPr>
          <a:xfrm>
            <a:off x="868680" y="1828800"/>
            <a:ext cx="5852160" cy="2926080"/>
          </a:xfrm>
          <a:prstGeom prst="rect">
            <a:avLst/>
          </a:prstGeom>
          <a:noFill/>
          <a:ln/>
        </p:spPr>
        <p:txBody>
          <a:bodyPr wrap="square" lIns="0" tIns="0" rIns="0" bIns="0" rtlCol="0" anchor="ctr"/>
          <a:lstStyle/>
          <a:p>
            <a:pPr indent="0" marL="0">
              <a:buNone/>
            </a:pPr>
            <a:r>
              <a:rPr lang="en-US" sz="2000" i="1" dirty="0">
                <a:solidFill>
                  <a:srgbClr val="FFFFFF"/>
                </a:solidFill>
                <a:latin typeface="Palatino Linotype" pitchFamily="34" charset="0"/>
                <a:ea typeface="Palatino Linotype" pitchFamily="34" charset="-122"/>
                <a:cs typeface="Palatino Linotype" pitchFamily="34" charset="-120"/>
              </a:rPr>
              <a:t>„Să facem ca Georgia. Acolo au concediat peste noapte toată poliția rutieră coruptă și corupția a dispărut. Să concediem toți oamenii de la achizițiile spitalelor și să angajăm alții.”</a:t>
            </a:r>
            <a:endParaRPr lang="en-US" sz="2000" dirty="0"/>
          </a:p>
        </p:txBody>
      </p:sp>
      <p:sp>
        <p:nvSpPr>
          <p:cNvPr id="6" name="Shape 4"/>
          <p:cNvSpPr/>
          <p:nvPr/>
        </p:nvSpPr>
        <p:spPr>
          <a:xfrm>
            <a:off x="7315200" y="1645920"/>
            <a:ext cx="4251960" cy="1554480"/>
          </a:xfrm>
          <a:prstGeom prst="roundRect">
            <a:avLst>
              <a:gd name="adj" fmla="val 5294"/>
            </a:avLst>
          </a:prstGeom>
          <a:solidFill>
            <a:srgbClr val="272A38"/>
          </a:solidFill>
          <a:ln w="12700">
            <a:solidFill>
              <a:srgbClr val="272A38"/>
            </a:solidFill>
            <a:prstDash val="solid"/>
          </a:ln>
        </p:spPr>
        <p:txBody>
          <a:bodyPr/>
          <a:p/>
        </p:txBody>
      </p:sp>
      <p:sp>
        <p:nvSpPr>
          <p:cNvPr id="7" name="Text 5"/>
          <p:cNvSpPr/>
          <p:nvPr/>
        </p:nvSpPr>
        <p:spPr>
          <a:xfrm>
            <a:off x="7589520" y="1755648"/>
            <a:ext cx="3703320" cy="777240"/>
          </a:xfrm>
          <a:prstGeom prst="rect">
            <a:avLst/>
          </a:prstGeom>
          <a:noFill/>
          <a:ln/>
        </p:spPr>
        <p:txBody>
          <a:bodyPr wrap="square" lIns="0" tIns="0" rIns="0" bIns="0" rtlCol="0" anchor="ctr"/>
          <a:lstStyle/>
          <a:p>
            <a:pPr indent="0" marL="0">
              <a:buNone/>
            </a:pPr>
            <a:r>
              <a:rPr lang="en-US" sz="3600" b="1" dirty="0">
                <a:solidFill>
                  <a:srgbClr val="FFC24B"/>
                </a:solidFill>
                <a:latin typeface="Palatino Linotype" pitchFamily="34" charset="0"/>
                <a:ea typeface="Palatino Linotype" pitchFamily="34" charset="-122"/>
                <a:cs typeface="Palatino Linotype" pitchFamily="34" charset="-120"/>
              </a:rPr>
              <a:t>16 000</a:t>
            </a:r>
            <a:endParaRPr lang="en-US" sz="3600" dirty="0"/>
          </a:p>
        </p:txBody>
      </p:sp>
      <p:sp>
        <p:nvSpPr>
          <p:cNvPr id="8" name="Text 6"/>
          <p:cNvSpPr/>
          <p:nvPr/>
        </p:nvSpPr>
        <p:spPr>
          <a:xfrm>
            <a:off x="7589520" y="2441448"/>
            <a:ext cx="3703320" cy="715061"/>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polițiști rutieri concediați peste noapte</a:t>
            </a:r>
            <a:endParaRPr lang="en-US" sz="1200" dirty="0"/>
          </a:p>
        </p:txBody>
      </p:sp>
      <p:sp>
        <p:nvSpPr>
          <p:cNvPr id="9" name="Shape 7"/>
          <p:cNvSpPr/>
          <p:nvPr/>
        </p:nvSpPr>
        <p:spPr>
          <a:xfrm>
            <a:off x="7315200" y="3383280"/>
            <a:ext cx="4251960" cy="1554480"/>
          </a:xfrm>
          <a:prstGeom prst="roundRect">
            <a:avLst>
              <a:gd name="adj" fmla="val 5294"/>
            </a:avLst>
          </a:prstGeom>
          <a:solidFill>
            <a:srgbClr val="272A38"/>
          </a:solidFill>
          <a:ln w="12700">
            <a:solidFill>
              <a:srgbClr val="272A38"/>
            </a:solidFill>
            <a:prstDash val="solid"/>
          </a:ln>
        </p:spPr>
        <p:txBody>
          <a:bodyPr/>
          <a:p/>
        </p:txBody>
      </p:sp>
      <p:sp>
        <p:nvSpPr>
          <p:cNvPr id="10" name="Text 8"/>
          <p:cNvSpPr/>
          <p:nvPr/>
        </p:nvSpPr>
        <p:spPr>
          <a:xfrm>
            <a:off x="7589520" y="3493008"/>
            <a:ext cx="3703320" cy="777240"/>
          </a:xfrm>
          <a:prstGeom prst="rect">
            <a:avLst/>
          </a:prstGeom>
          <a:noFill/>
          <a:ln/>
        </p:spPr>
        <p:txBody>
          <a:bodyPr wrap="square" lIns="0" tIns="0" rIns="0" bIns="0" rtlCol="0" anchor="ctr"/>
          <a:lstStyle/>
          <a:p>
            <a:pPr indent="0" marL="0">
              <a:buNone/>
            </a:pPr>
            <a:r>
              <a:rPr lang="en-US" sz="3600" b="1" dirty="0">
                <a:solidFill>
                  <a:srgbClr val="27D3BE"/>
                </a:solidFill>
                <a:latin typeface="Palatino Linotype" pitchFamily="34" charset="0"/>
                <a:ea typeface="Palatino Linotype" pitchFamily="34" charset="-122"/>
                <a:cs typeface="Palatino Linotype" pitchFamily="34" charset="-120"/>
              </a:rPr>
              <a:t>2 300</a:t>
            </a:r>
            <a:endParaRPr lang="en-US" sz="3600" dirty="0"/>
          </a:p>
        </p:txBody>
      </p:sp>
      <p:sp>
        <p:nvSpPr>
          <p:cNvPr id="11" name="Text 9"/>
          <p:cNvSpPr/>
          <p:nvPr/>
        </p:nvSpPr>
        <p:spPr>
          <a:xfrm>
            <a:off x="7589520" y="4178808"/>
            <a:ext cx="3703320" cy="715061"/>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polițiști de patrulă noi, după câteva luni</a:t>
            </a:r>
            <a:endParaRPr lang="en-US" sz="1200" dirty="0"/>
          </a:p>
        </p:txBody>
      </p:sp>
      <p:sp>
        <p:nvSpPr>
          <p:cNvPr id="12" name="Text 10"/>
          <p:cNvSpPr/>
          <p:nvPr/>
        </p:nvSpPr>
        <p:spPr>
          <a:xfrm>
            <a:off x="594360" y="5212080"/>
            <a:ext cx="10972800" cy="54864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Propunerea este inventată pentru curs; episodul la care trimite este real.</a:t>
            </a:r>
            <a:endParaRPr lang="en-US" sz="1800" dirty="0"/>
          </a:p>
        </p:txBody>
      </p:sp>
      <p:sp>
        <p:nvSpPr>
          <p:cNvPr id="13" name="Text 1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Banca Mondială, 2012 · A815.</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BANCA MONDIALĂ, 2012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spune cartea despre ea însăși</a:t>
            </a:r>
            <a:endParaRPr lang="en-US" sz="3200" dirty="0"/>
          </a:p>
        </p:txBody>
      </p:sp>
      <p:sp>
        <p:nvSpPr>
          <p:cNvPr id="4" name="Text 2"/>
          <p:cNvSpPr/>
          <p:nvPr/>
        </p:nvSpPr>
        <p:spPr>
          <a:xfrm>
            <a:off x="594360" y="1600200"/>
            <a:ext cx="1097280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Descrie reformele reușite în opt domenii ale serviciilor publice, între care poliția de patrulă, vama și registrele publice.</a:t>
            </a:r>
            <a:endParaRPr lang="en-US" sz="1800" dirty="0"/>
          </a:p>
        </p:txBody>
      </p:sp>
      <p:sp>
        <p:nvSpPr>
          <p:cNvPr id="5" name="Shape 3"/>
          <p:cNvSpPr/>
          <p:nvPr/>
        </p:nvSpPr>
        <p:spPr>
          <a:xfrm>
            <a:off x="594360" y="2606040"/>
            <a:ext cx="10972800" cy="859536"/>
          </a:xfrm>
          <a:prstGeom prst="roundRect">
            <a:avLst>
              <a:gd name="adj" fmla="val 9574"/>
            </a:avLst>
          </a:prstGeom>
          <a:solidFill>
            <a:srgbClr val="ECEAE4"/>
          </a:solidFill>
          <a:ln w="12700">
            <a:solidFill>
              <a:srgbClr val="ECEAE4"/>
            </a:solidFill>
            <a:prstDash val="solid"/>
          </a:ln>
        </p:spPr>
        <p:txBody>
          <a:bodyPr/>
          <a:p/>
        </p:txBody>
      </p:sp>
      <p:sp>
        <p:nvSpPr>
          <p:cNvPr id="6" name="Shape 4"/>
          <p:cNvSpPr/>
          <p:nvPr/>
        </p:nvSpPr>
        <p:spPr>
          <a:xfrm>
            <a:off x="914400" y="2825496"/>
            <a:ext cx="420624" cy="420624"/>
          </a:xfrm>
          <a:prstGeom prst="ellipse">
            <a:avLst/>
          </a:prstGeom>
          <a:solidFill>
            <a:srgbClr val="FFC24B"/>
          </a:solidFill>
          <a:ln/>
        </p:spPr>
        <p:txBody>
          <a:bodyPr/>
          <a:p/>
        </p:txBody>
      </p:sp>
      <p:sp>
        <p:nvSpPr>
          <p:cNvPr id="7" name="Text 5"/>
          <p:cNvSpPr/>
          <p:nvPr/>
        </p:nvSpPr>
        <p:spPr>
          <a:xfrm>
            <a:off x="914400" y="28254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600200" y="2606040"/>
            <a:ext cx="9692640" cy="859536"/>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Nu evaluează ansamblul reformelor și nu sugerează vreo cauzalitate între reforme și creșterea economică sau rezultatele sociale.</a:t>
            </a:r>
            <a:endParaRPr lang="en-US" sz="1650" dirty="0"/>
          </a:p>
        </p:txBody>
      </p:sp>
      <p:sp>
        <p:nvSpPr>
          <p:cNvPr id="9" name="Shape 7"/>
          <p:cNvSpPr/>
          <p:nvPr/>
        </p:nvSpPr>
        <p:spPr>
          <a:xfrm>
            <a:off x="594360" y="3593592"/>
            <a:ext cx="10972800" cy="859536"/>
          </a:xfrm>
          <a:prstGeom prst="roundRect">
            <a:avLst>
              <a:gd name="adj" fmla="val 9574"/>
            </a:avLst>
          </a:prstGeom>
          <a:solidFill>
            <a:srgbClr val="ECEAE4"/>
          </a:solidFill>
          <a:ln w="12700">
            <a:solidFill>
              <a:srgbClr val="ECEAE4"/>
            </a:solidFill>
            <a:prstDash val="solid"/>
          </a:ln>
        </p:spPr>
        <p:txBody>
          <a:bodyPr/>
          <a:p/>
        </p:txBody>
      </p:sp>
      <p:sp>
        <p:nvSpPr>
          <p:cNvPr id="10" name="Shape 8"/>
          <p:cNvSpPr/>
          <p:nvPr/>
        </p:nvSpPr>
        <p:spPr>
          <a:xfrm>
            <a:off x="914400" y="3813048"/>
            <a:ext cx="420624" cy="420624"/>
          </a:xfrm>
          <a:prstGeom prst="ellipse">
            <a:avLst/>
          </a:prstGeom>
          <a:solidFill>
            <a:srgbClr val="FFC24B"/>
          </a:solidFill>
          <a:ln/>
        </p:spPr>
        <p:txBody>
          <a:bodyPr/>
          <a:p/>
        </p:txBody>
      </p:sp>
      <p:sp>
        <p:nvSpPr>
          <p:cNvPr id="11" name="Text 9"/>
          <p:cNvSpPr/>
          <p:nvPr/>
        </p:nvSpPr>
        <p:spPr>
          <a:xfrm>
            <a:off x="914400" y="3813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00200" y="3593592"/>
            <a:ext cx="9692640" cy="859536"/>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Nu tot ce a făcut Georgia poate fi reprodus în alte contexte, deși multe lecții pot fi adaptate.</a:t>
            </a:r>
            <a:endParaRPr lang="en-US" sz="1650" dirty="0"/>
          </a:p>
        </p:txBody>
      </p:sp>
      <p:sp>
        <p:nvSpPr>
          <p:cNvPr id="13" name="Shape 11"/>
          <p:cNvSpPr/>
          <p:nvPr/>
        </p:nvSpPr>
        <p:spPr>
          <a:xfrm>
            <a:off x="594360" y="4581144"/>
            <a:ext cx="10972800" cy="859536"/>
          </a:xfrm>
          <a:prstGeom prst="roundRect">
            <a:avLst>
              <a:gd name="adj" fmla="val 9574"/>
            </a:avLst>
          </a:prstGeom>
          <a:solidFill>
            <a:srgbClr val="ECEAE4"/>
          </a:solidFill>
          <a:ln w="12700">
            <a:solidFill>
              <a:srgbClr val="ECEAE4"/>
            </a:solidFill>
            <a:prstDash val="solid"/>
          </a:ln>
        </p:spPr>
        <p:txBody>
          <a:bodyPr/>
          <a:p/>
        </p:txBody>
      </p:sp>
      <p:sp>
        <p:nvSpPr>
          <p:cNvPr id="14" name="Shape 12"/>
          <p:cNvSpPr/>
          <p:nvPr/>
        </p:nvSpPr>
        <p:spPr>
          <a:xfrm>
            <a:off x="914400" y="4800600"/>
            <a:ext cx="420624" cy="420624"/>
          </a:xfrm>
          <a:prstGeom prst="ellipse">
            <a:avLst/>
          </a:prstGeom>
          <a:solidFill>
            <a:srgbClr val="FFC24B"/>
          </a:solidFill>
          <a:ln/>
        </p:spPr>
        <p:txBody>
          <a:bodyPr/>
          <a:p/>
        </p:txBody>
      </p:sp>
      <p:sp>
        <p:nvSpPr>
          <p:cNvPr id="15" name="Text 13"/>
          <p:cNvSpPr/>
          <p:nvPr/>
        </p:nvSpPr>
        <p:spPr>
          <a:xfrm>
            <a:off x="914400" y="4800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1600200" y="4581144"/>
            <a:ext cx="9692640" cy="859536"/>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Subliniază voința politică de la cel mai înalt nivel.</a:t>
            </a:r>
            <a:endParaRPr lang="en-US" sz="165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Banca Mondială, 2012 · A814, A816, A817, A818.</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VOTUL 3</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 TREIA DECIZIE · FĂRĂ AL DOILEA VOT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Ce susțin dovezile despre propunerea „să facem ca Georgia”?</a:t>
            </a:r>
            <a:endParaRPr lang="en-US" sz="2500" dirty="0"/>
          </a:p>
        </p:txBody>
      </p:sp>
      <p:sp>
        <p:nvSpPr>
          <p:cNvPr id="6" name="Shape 4"/>
          <p:cNvSpPr/>
          <p:nvPr/>
        </p:nvSpPr>
        <p:spPr>
          <a:xfrm>
            <a:off x="594360" y="16002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7" name="Shape 5"/>
          <p:cNvSpPr/>
          <p:nvPr/>
        </p:nvSpPr>
        <p:spPr>
          <a:xfrm>
            <a:off x="914400" y="1783080"/>
            <a:ext cx="420624" cy="420624"/>
          </a:xfrm>
          <a:prstGeom prst="ellipse">
            <a:avLst/>
          </a:prstGeom>
          <a:solidFill>
            <a:srgbClr val="FFC24B"/>
          </a:solidFill>
          <a:ln/>
        </p:spPr>
        <p:txBody>
          <a:bodyPr/>
          <a:p/>
        </p:txBody>
      </p:sp>
      <p:sp>
        <p:nvSpPr>
          <p:cNvPr id="8" name="Text 6"/>
          <p:cNvSpPr/>
          <p:nvPr/>
        </p:nvSpPr>
        <p:spPr>
          <a:xfrm>
            <a:off x="914400" y="1783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600200"/>
            <a:ext cx="7315200" cy="786384"/>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Georgia arată că metoda funcționează, deci trebuie aplicată și la noi.</a:t>
            </a:r>
            <a:endParaRPr lang="en-US" sz="1550" dirty="0"/>
          </a:p>
        </p:txBody>
      </p:sp>
      <p:sp>
        <p:nvSpPr>
          <p:cNvPr id="10" name="Shape 8"/>
          <p:cNvSpPr/>
          <p:nvPr/>
        </p:nvSpPr>
        <p:spPr>
          <a:xfrm>
            <a:off x="594360" y="25146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1" name="Shape 9"/>
          <p:cNvSpPr/>
          <p:nvPr/>
        </p:nvSpPr>
        <p:spPr>
          <a:xfrm>
            <a:off x="914400" y="2697480"/>
            <a:ext cx="420624" cy="420624"/>
          </a:xfrm>
          <a:prstGeom prst="ellipse">
            <a:avLst/>
          </a:prstGeom>
          <a:solidFill>
            <a:srgbClr val="FFC24B"/>
          </a:solidFill>
          <a:ln/>
        </p:spPr>
        <p:txBody>
          <a:bodyPr/>
          <a:p/>
        </p:txBody>
      </p:sp>
      <p:sp>
        <p:nvSpPr>
          <p:cNvPr id="12" name="Text 10"/>
          <p:cNvSpPr/>
          <p:nvPr/>
        </p:nvSpPr>
        <p:spPr>
          <a:xfrm>
            <a:off x="914400" y="2697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514600"/>
            <a:ext cx="7315200" cy="786384"/>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Scorul a urcat mult, dar indicatorul nu arată ce măsură a produs creșterea, iar autorii spun că nu tot se poate transfera: alegem măsuri cu un indicator.</a:t>
            </a:r>
            <a:endParaRPr lang="en-US" sz="1550" dirty="0"/>
          </a:p>
        </p:txBody>
      </p:sp>
      <p:sp>
        <p:nvSpPr>
          <p:cNvPr id="14" name="Shape 12"/>
          <p:cNvSpPr/>
          <p:nvPr/>
        </p:nvSpPr>
        <p:spPr>
          <a:xfrm>
            <a:off x="594360" y="34290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5" name="Shape 13"/>
          <p:cNvSpPr/>
          <p:nvPr/>
        </p:nvSpPr>
        <p:spPr>
          <a:xfrm>
            <a:off x="914400" y="3611880"/>
            <a:ext cx="420624" cy="420624"/>
          </a:xfrm>
          <a:prstGeom prst="ellipse">
            <a:avLst/>
          </a:prstGeom>
          <a:solidFill>
            <a:srgbClr val="FFC24B"/>
          </a:solidFill>
          <a:ln/>
        </p:spPr>
        <p:txBody>
          <a:bodyPr/>
          <a:p/>
        </p:txBody>
      </p:sp>
      <p:sp>
        <p:nvSpPr>
          <p:cNvPr id="16" name="Text 14"/>
          <p:cNvSpPr/>
          <p:nvPr/>
        </p:nvSpPr>
        <p:spPr>
          <a:xfrm>
            <a:off x="914400" y="36118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429000"/>
            <a:ext cx="7315200" cy="786384"/>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Nu se poate spune nimic: toate scorurile au marjă de eroare.</a:t>
            </a:r>
            <a:endParaRPr lang="en-US" sz="1550" dirty="0"/>
          </a:p>
        </p:txBody>
      </p:sp>
      <p:sp>
        <p:nvSpPr>
          <p:cNvPr id="18" name="Shape 16"/>
          <p:cNvSpPr/>
          <p:nvPr/>
        </p:nvSpPr>
        <p:spPr>
          <a:xfrm>
            <a:off x="594360" y="4343400"/>
            <a:ext cx="8595360" cy="786384"/>
          </a:xfrm>
          <a:prstGeom prst="roundRect">
            <a:avLst>
              <a:gd name="adj" fmla="val 10465"/>
            </a:avLst>
          </a:prstGeom>
          <a:solidFill>
            <a:srgbClr val="1D1F2B"/>
          </a:solidFill>
          <a:ln w="12700">
            <a:solidFill>
              <a:srgbClr val="1D1F2B"/>
            </a:solidFill>
            <a:prstDash val="solid"/>
          </a:ln>
        </p:spPr>
        <p:txBody>
          <a:bodyPr/>
          <a:p/>
        </p:txBody>
      </p:sp>
      <p:sp>
        <p:nvSpPr>
          <p:cNvPr id="19" name="Shape 17"/>
          <p:cNvSpPr/>
          <p:nvPr/>
        </p:nvSpPr>
        <p:spPr>
          <a:xfrm>
            <a:off x="914400" y="4526280"/>
            <a:ext cx="420624" cy="420624"/>
          </a:xfrm>
          <a:prstGeom prst="ellipse">
            <a:avLst/>
          </a:prstGeom>
          <a:solidFill>
            <a:srgbClr val="FFC24B"/>
          </a:solidFill>
          <a:ln/>
        </p:spPr>
        <p:txBody>
          <a:bodyPr/>
          <a:p/>
        </p:txBody>
      </p:sp>
      <p:sp>
        <p:nvSpPr>
          <p:cNvPr id="20" name="Text 18"/>
          <p:cNvSpPr/>
          <p:nvPr/>
        </p:nvSpPr>
        <p:spPr>
          <a:xfrm>
            <a:off x="914400" y="45262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343400"/>
            <a:ext cx="7315200" cy="786384"/>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Concedierea în masă nu e posibilă la noi, deci exemplul nu ne privește.</a:t>
            </a:r>
            <a:endParaRPr lang="en-US" sz="1550" dirty="0"/>
          </a:p>
        </p:txBody>
      </p:sp>
      <p:sp>
        <p:nvSpPr>
          <p:cNvPr id="22" name="Shape 20"/>
          <p:cNvSpPr/>
          <p:nvPr/>
        </p:nvSpPr>
        <p:spPr>
          <a:xfrm>
            <a:off x="9509760" y="1600200"/>
            <a:ext cx="2057400" cy="1828800"/>
          </a:xfrm>
          <a:prstGeom prst="roundRect">
            <a:avLst>
              <a:gd name="adj" fmla="val 4500"/>
            </a:avLst>
          </a:prstGeom>
          <a:solidFill>
            <a:srgbClr val="FFFFFF"/>
          </a:solidFill>
          <a:ln w="12700">
            <a:solidFill>
              <a:srgbClr val="FFFFFF"/>
            </a:solidFill>
            <a:prstDash val="solid"/>
          </a:ln>
        </p:spPr>
        <p:txBody>
          <a:bodyPr/>
          <a:p/>
        </p:txBody>
      </p:sp>
      <p:sp>
        <p:nvSpPr>
          <p:cNvPr id="24" name="Text 22"/>
          <p:cNvSpPr/>
          <p:nvPr/>
        </p:nvSpPr>
        <p:spPr>
          <a:xfrm>
            <a:off x="594360" y="5669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600" dirty="0"/>
          </a:p>
        </p:txBody>
      </p:sp>
      <p:pic>
        <p:nvPicPr>
          <p:cNvPr id="25" name="Picture 24" descr="Mentimeter_OPT_PLIC_C05.png"/>
          <p:cNvPicPr>
            <a:picLocks noChangeAspect="1"/>
          </p:cNvPicPr>
          <p:nvPr/>
        </p:nvPicPr>
        <p:blipFill>
          <a:blip r:embed="rId3"/>
          <a:stretch>
            <a:fillRect/>
          </a:stretch>
        </p:blipFill>
        <p:spPr>
          <a:xfrm>
            <a:off x="9841229" y="1600200"/>
            <a:ext cx="1394461" cy="1394461"/>
          </a:xfrm>
          <a:prstGeom prst="rect">
            <a:avLst/>
          </a:prstGeom>
        </p:spPr>
      </p:pic>
      <p:sp>
        <p:nvSpPr>
          <p:cNvPr id="26" name="TextBox 25"/>
          <p:cNvSpPr txBox="1"/>
          <p:nvPr/>
        </p:nvSpPr>
        <p:spPr>
          <a:xfrm>
            <a:off x="9509760" y="30327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CONTROLUL CORUPȚIEI · BANCA MONDIALĂ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s-a măsurat efectiv</a:t>
            </a:r>
            <a:endParaRPr lang="en-US" sz="3200" dirty="0"/>
          </a:p>
        </p:txBody>
      </p:sp>
      <p:sp>
        <p:nvSpPr>
          <p:cNvPr id="4" name="Shape 2"/>
          <p:cNvSpPr/>
          <p:nvPr/>
        </p:nvSpPr>
        <p:spPr>
          <a:xfrm>
            <a:off x="3017520" y="1691640"/>
            <a:ext cx="18288" cy="3419856"/>
          </a:xfrm>
          <a:prstGeom prst="rect">
            <a:avLst/>
          </a:prstGeom>
          <a:solidFill>
            <a:srgbClr val="C9C6BE"/>
          </a:solidFill>
          <a:ln w="12700">
            <a:solidFill>
              <a:srgbClr val="333333"/>
            </a:solidFill>
            <a:prstDash val="solid"/>
          </a:ln>
        </p:spPr>
        <p:txBody>
          <a:bodyPr/>
          <a:p/>
        </p:txBody>
      </p:sp>
      <p:sp>
        <p:nvSpPr>
          <p:cNvPr id="5" name="Shape 3"/>
          <p:cNvSpPr/>
          <p:nvPr/>
        </p:nvSpPr>
        <p:spPr>
          <a:xfrm>
            <a:off x="11155680" y="1691640"/>
            <a:ext cx="18288" cy="3419856"/>
          </a:xfrm>
          <a:prstGeom prst="rect">
            <a:avLst/>
          </a:prstGeom>
          <a:solidFill>
            <a:srgbClr val="C9C6BE"/>
          </a:solidFill>
          <a:ln w="12700">
            <a:solidFill>
              <a:srgbClr val="333333"/>
            </a:solidFill>
            <a:prstDash val="solid"/>
          </a:ln>
        </p:spPr>
        <p:txBody>
          <a:bodyPr/>
          <a:p/>
        </p:txBody>
      </p:sp>
      <p:sp>
        <p:nvSpPr>
          <p:cNvPr id="6" name="Text 4"/>
          <p:cNvSpPr/>
          <p:nvPr/>
        </p:nvSpPr>
        <p:spPr>
          <a:xfrm>
            <a:off x="594360" y="1783080"/>
            <a:ext cx="2286000" cy="475488"/>
          </a:xfrm>
          <a:prstGeom prst="rect">
            <a:avLst/>
          </a:prstGeom>
          <a:noFill/>
          <a:ln/>
        </p:spPr>
        <p:txBody>
          <a:bodyPr wrap="square" lIns="0" tIns="0" rIns="0" bIns="0" rtlCol="0" anchor="ctr"/>
          <a:lstStyle/>
          <a:p>
            <a:pPr algn="r" indent="0" marL="0">
              <a:buNone/>
            </a:pPr>
            <a:r>
              <a:rPr lang="en-US" sz="1400" b="1" dirty="0">
                <a:solidFill>
                  <a:srgbClr val="B02532"/>
                </a:solidFill>
                <a:latin typeface="Palatino Linotype" pitchFamily="34" charset="0"/>
                <a:ea typeface="Palatino Linotype" pitchFamily="34" charset="-122"/>
                <a:cs typeface="Palatino Linotype" pitchFamily="34" charset="-120"/>
              </a:rPr>
              <a:t>Georgia 2003</a:t>
            </a:r>
            <a:endParaRPr lang="en-US" sz="1400" dirty="0"/>
          </a:p>
        </p:txBody>
      </p:sp>
      <p:sp>
        <p:nvSpPr>
          <p:cNvPr id="7" name="Shape 5"/>
          <p:cNvSpPr/>
          <p:nvPr/>
        </p:nvSpPr>
        <p:spPr>
          <a:xfrm>
            <a:off x="4417284" y="1892808"/>
            <a:ext cx="1782257" cy="256032"/>
          </a:xfrm>
          <a:prstGeom prst="roundRect">
            <a:avLst>
              <a:gd name="adj" fmla="val 17857"/>
            </a:avLst>
          </a:prstGeom>
          <a:solidFill>
            <a:srgbClr val="B02532">
              <a:alpha val="65000"/>
            </a:srgbClr>
          </a:solidFill>
          <a:ln w="12700">
            <a:solidFill>
              <a:srgbClr val="B02532"/>
            </a:solidFill>
            <a:prstDash val="solid"/>
          </a:ln>
        </p:spPr>
        <p:txBody>
          <a:bodyPr/>
          <a:p/>
        </p:txBody>
      </p:sp>
      <p:sp>
        <p:nvSpPr>
          <p:cNvPr id="8" name="Shape 6"/>
          <p:cNvSpPr/>
          <p:nvPr/>
        </p:nvSpPr>
        <p:spPr>
          <a:xfrm>
            <a:off x="5231191" y="1947672"/>
            <a:ext cx="146304" cy="146304"/>
          </a:xfrm>
          <a:prstGeom prst="ellipse">
            <a:avLst/>
          </a:prstGeom>
          <a:solidFill>
            <a:srgbClr val="11121A"/>
          </a:solidFill>
          <a:ln w="12700">
            <a:solidFill>
              <a:srgbClr val="11121A"/>
            </a:solidFill>
            <a:prstDash val="solid"/>
          </a:ln>
        </p:spPr>
        <p:txBody>
          <a:bodyPr/>
          <a:p/>
        </p:txBody>
      </p:sp>
      <p:sp>
        <p:nvSpPr>
          <p:cNvPr id="9" name="Text 7"/>
          <p:cNvSpPr/>
          <p:nvPr/>
        </p:nvSpPr>
        <p:spPr>
          <a:xfrm>
            <a:off x="594360" y="2258568"/>
            <a:ext cx="2286000" cy="475488"/>
          </a:xfrm>
          <a:prstGeom prst="rect">
            <a:avLst/>
          </a:prstGeom>
          <a:noFill/>
          <a:ln/>
        </p:spPr>
        <p:txBody>
          <a:bodyPr wrap="square" lIns="0" tIns="0" rIns="0" bIns="0" rtlCol="0" anchor="ctr"/>
          <a:lstStyle/>
          <a:p>
            <a:pPr algn="r" indent="0" marL="0">
              <a:buNone/>
            </a:pPr>
            <a:r>
              <a:rPr lang="en-US" sz="1400" b="1" dirty="0">
                <a:solidFill>
                  <a:srgbClr val="B02532"/>
                </a:solidFill>
                <a:latin typeface="Palatino Linotype" pitchFamily="34" charset="0"/>
                <a:ea typeface="Palatino Linotype" pitchFamily="34" charset="-122"/>
                <a:cs typeface="Palatino Linotype" pitchFamily="34" charset="-120"/>
              </a:rPr>
              <a:t>Georgia 2004</a:t>
            </a:r>
            <a:endParaRPr lang="en-US" sz="1400" dirty="0"/>
          </a:p>
        </p:txBody>
      </p:sp>
      <p:sp>
        <p:nvSpPr>
          <p:cNvPr id="10" name="Shape 8"/>
          <p:cNvSpPr/>
          <p:nvPr/>
        </p:nvSpPr>
        <p:spPr>
          <a:xfrm>
            <a:off x="6232093" y="2368296"/>
            <a:ext cx="1277691" cy="256032"/>
          </a:xfrm>
          <a:prstGeom prst="roundRect">
            <a:avLst>
              <a:gd name="adj" fmla="val 17857"/>
            </a:avLst>
          </a:prstGeom>
          <a:solidFill>
            <a:srgbClr val="B02532">
              <a:alpha val="65000"/>
            </a:srgbClr>
          </a:solidFill>
          <a:ln w="12700">
            <a:solidFill>
              <a:srgbClr val="B02532"/>
            </a:solidFill>
            <a:prstDash val="solid"/>
          </a:ln>
        </p:spPr>
        <p:txBody>
          <a:bodyPr/>
          <a:p/>
        </p:txBody>
      </p:sp>
      <p:sp>
        <p:nvSpPr>
          <p:cNvPr id="11" name="Shape 9"/>
          <p:cNvSpPr/>
          <p:nvPr/>
        </p:nvSpPr>
        <p:spPr>
          <a:xfrm>
            <a:off x="6793718" y="2423160"/>
            <a:ext cx="146304" cy="146304"/>
          </a:xfrm>
          <a:prstGeom prst="ellipse">
            <a:avLst/>
          </a:prstGeom>
          <a:solidFill>
            <a:srgbClr val="11121A"/>
          </a:solidFill>
          <a:ln w="12700">
            <a:solidFill>
              <a:srgbClr val="11121A"/>
            </a:solidFill>
            <a:prstDash val="solid"/>
          </a:ln>
        </p:spPr>
        <p:txBody>
          <a:bodyPr/>
          <a:p/>
        </p:txBody>
      </p:sp>
      <p:sp>
        <p:nvSpPr>
          <p:cNvPr id="12" name="Text 10"/>
          <p:cNvSpPr/>
          <p:nvPr/>
        </p:nvSpPr>
        <p:spPr>
          <a:xfrm>
            <a:off x="594360" y="2734056"/>
            <a:ext cx="2286000" cy="475488"/>
          </a:xfrm>
          <a:prstGeom prst="rect">
            <a:avLst/>
          </a:prstGeom>
          <a:noFill/>
          <a:ln/>
        </p:spPr>
        <p:txBody>
          <a:bodyPr wrap="square" lIns="0" tIns="0" rIns="0" bIns="0" rtlCol="0" anchor="ctr"/>
          <a:lstStyle/>
          <a:p>
            <a:pPr algn="r" indent="0" marL="0">
              <a:buNone/>
            </a:pPr>
            <a:r>
              <a:rPr lang="en-US" sz="1400" b="1" dirty="0">
                <a:solidFill>
                  <a:srgbClr val="B02532"/>
                </a:solidFill>
                <a:latin typeface="Palatino Linotype" pitchFamily="34" charset="0"/>
                <a:ea typeface="Palatino Linotype" pitchFamily="34" charset="-122"/>
                <a:cs typeface="Palatino Linotype" pitchFamily="34" charset="-120"/>
              </a:rPr>
              <a:t>Georgia 2014</a:t>
            </a:r>
            <a:endParaRPr lang="en-US" sz="1400" dirty="0"/>
          </a:p>
        </p:txBody>
      </p:sp>
      <p:sp>
        <p:nvSpPr>
          <p:cNvPr id="13" name="Shape 11"/>
          <p:cNvSpPr/>
          <p:nvPr/>
        </p:nvSpPr>
        <p:spPr>
          <a:xfrm>
            <a:off x="7762067" y="2843784"/>
            <a:ext cx="919612" cy="256032"/>
          </a:xfrm>
          <a:prstGeom prst="roundRect">
            <a:avLst>
              <a:gd name="adj" fmla="val 17857"/>
            </a:avLst>
          </a:prstGeom>
          <a:solidFill>
            <a:srgbClr val="B02532">
              <a:alpha val="65000"/>
            </a:srgbClr>
          </a:solidFill>
          <a:ln w="12700">
            <a:solidFill>
              <a:srgbClr val="B02532"/>
            </a:solidFill>
            <a:prstDash val="solid"/>
          </a:ln>
        </p:spPr>
        <p:txBody>
          <a:bodyPr/>
          <a:p/>
        </p:txBody>
      </p:sp>
      <p:sp>
        <p:nvSpPr>
          <p:cNvPr id="14" name="Shape 12"/>
          <p:cNvSpPr/>
          <p:nvPr/>
        </p:nvSpPr>
        <p:spPr>
          <a:xfrm>
            <a:off x="8144652" y="2898648"/>
            <a:ext cx="146304" cy="146304"/>
          </a:xfrm>
          <a:prstGeom prst="ellipse">
            <a:avLst/>
          </a:prstGeom>
          <a:solidFill>
            <a:srgbClr val="11121A"/>
          </a:solidFill>
          <a:ln w="12700">
            <a:solidFill>
              <a:srgbClr val="11121A"/>
            </a:solidFill>
            <a:prstDash val="solid"/>
          </a:ln>
        </p:spPr>
        <p:txBody>
          <a:bodyPr/>
          <a:p/>
        </p:txBody>
      </p:sp>
      <p:sp>
        <p:nvSpPr>
          <p:cNvPr id="15" name="Text 13"/>
          <p:cNvSpPr/>
          <p:nvPr/>
        </p:nvSpPr>
        <p:spPr>
          <a:xfrm>
            <a:off x="594360" y="3209544"/>
            <a:ext cx="2286000" cy="475488"/>
          </a:xfrm>
          <a:prstGeom prst="rect">
            <a:avLst/>
          </a:prstGeom>
          <a:noFill/>
          <a:ln/>
        </p:spPr>
        <p:txBody>
          <a:bodyPr wrap="square" lIns="0" tIns="0" rIns="0" bIns="0" rtlCol="0" anchor="ctr"/>
          <a:lstStyle/>
          <a:p>
            <a:pPr algn="r" indent="0" marL="0">
              <a:buNone/>
            </a:pPr>
            <a:r>
              <a:rPr lang="en-US" sz="1400" b="1" dirty="0">
                <a:solidFill>
                  <a:srgbClr val="B02532"/>
                </a:solidFill>
                <a:latin typeface="Palatino Linotype" pitchFamily="34" charset="0"/>
                <a:ea typeface="Palatino Linotype" pitchFamily="34" charset="-122"/>
                <a:cs typeface="Palatino Linotype" pitchFamily="34" charset="-120"/>
              </a:rPr>
              <a:t>Georgia 2025</a:t>
            </a:r>
            <a:endParaRPr lang="en-US" sz="1400" dirty="0"/>
          </a:p>
        </p:txBody>
      </p:sp>
      <p:sp>
        <p:nvSpPr>
          <p:cNvPr id="16" name="Shape 14"/>
          <p:cNvSpPr/>
          <p:nvPr/>
        </p:nvSpPr>
        <p:spPr>
          <a:xfrm>
            <a:off x="6215817" y="3319272"/>
            <a:ext cx="960303" cy="256032"/>
          </a:xfrm>
          <a:prstGeom prst="roundRect">
            <a:avLst>
              <a:gd name="adj" fmla="val 17857"/>
            </a:avLst>
          </a:prstGeom>
          <a:solidFill>
            <a:srgbClr val="B02532">
              <a:alpha val="65000"/>
            </a:srgbClr>
          </a:solidFill>
          <a:ln w="12700">
            <a:solidFill>
              <a:srgbClr val="B02532"/>
            </a:solidFill>
            <a:prstDash val="solid"/>
          </a:ln>
        </p:spPr>
        <p:txBody>
          <a:bodyPr/>
          <a:p/>
        </p:txBody>
      </p:sp>
      <p:sp>
        <p:nvSpPr>
          <p:cNvPr id="17" name="Shape 15"/>
          <p:cNvSpPr/>
          <p:nvPr/>
        </p:nvSpPr>
        <p:spPr>
          <a:xfrm>
            <a:off x="6622816" y="3374136"/>
            <a:ext cx="146304" cy="146304"/>
          </a:xfrm>
          <a:prstGeom prst="ellipse">
            <a:avLst/>
          </a:prstGeom>
          <a:solidFill>
            <a:srgbClr val="11121A"/>
          </a:solidFill>
          <a:ln w="12700">
            <a:solidFill>
              <a:srgbClr val="11121A"/>
            </a:solidFill>
            <a:prstDash val="solid"/>
          </a:ln>
        </p:spPr>
        <p:txBody>
          <a:bodyPr/>
          <a:p/>
        </p:txBody>
      </p:sp>
      <p:sp>
        <p:nvSpPr>
          <p:cNvPr id="18" name="Text 16"/>
          <p:cNvSpPr/>
          <p:nvPr/>
        </p:nvSpPr>
        <p:spPr>
          <a:xfrm>
            <a:off x="594360" y="3685032"/>
            <a:ext cx="2286000" cy="475488"/>
          </a:xfrm>
          <a:prstGeom prst="rect">
            <a:avLst/>
          </a:prstGeom>
          <a:noFill/>
          <a:ln/>
        </p:spPr>
        <p:txBody>
          <a:bodyPr wrap="square" lIns="0" tIns="0" rIns="0" bIns="0" rtlCol="0" anchor="ctr"/>
          <a:lstStyle/>
          <a:p>
            <a:pPr algn="r" indent="0" marL="0">
              <a:buNone/>
            </a:pPr>
            <a:r>
              <a:rPr lang="en-US" sz="1400" b="1" dirty="0">
                <a:solidFill>
                  <a:srgbClr val="0E7C6B"/>
                </a:solidFill>
                <a:latin typeface="Palatino Linotype" pitchFamily="34" charset="0"/>
                <a:ea typeface="Palatino Linotype" pitchFamily="34" charset="-122"/>
                <a:cs typeface="Palatino Linotype" pitchFamily="34" charset="-120"/>
              </a:rPr>
              <a:t>Estonia 2004</a:t>
            </a:r>
            <a:endParaRPr lang="en-US" sz="1400" dirty="0"/>
          </a:p>
        </p:txBody>
      </p:sp>
      <p:sp>
        <p:nvSpPr>
          <p:cNvPr id="19" name="Shape 17"/>
          <p:cNvSpPr/>
          <p:nvPr/>
        </p:nvSpPr>
        <p:spPr>
          <a:xfrm>
            <a:off x="7965521" y="3794760"/>
            <a:ext cx="976579" cy="256032"/>
          </a:xfrm>
          <a:prstGeom prst="roundRect">
            <a:avLst>
              <a:gd name="adj" fmla="val 17857"/>
            </a:avLst>
          </a:prstGeom>
          <a:solidFill>
            <a:srgbClr val="0E7C6B">
              <a:alpha val="65000"/>
            </a:srgbClr>
          </a:solidFill>
          <a:ln w="12700">
            <a:solidFill>
              <a:srgbClr val="0E7C6B"/>
            </a:solidFill>
            <a:prstDash val="solid"/>
          </a:ln>
        </p:spPr>
        <p:txBody>
          <a:bodyPr/>
          <a:p/>
        </p:txBody>
      </p:sp>
      <p:sp>
        <p:nvSpPr>
          <p:cNvPr id="20" name="Shape 18"/>
          <p:cNvSpPr/>
          <p:nvPr/>
        </p:nvSpPr>
        <p:spPr>
          <a:xfrm>
            <a:off x="8380659" y="3849624"/>
            <a:ext cx="146304" cy="146304"/>
          </a:xfrm>
          <a:prstGeom prst="ellipse">
            <a:avLst/>
          </a:prstGeom>
          <a:solidFill>
            <a:srgbClr val="11121A"/>
          </a:solidFill>
          <a:ln w="12700">
            <a:solidFill>
              <a:srgbClr val="11121A"/>
            </a:solidFill>
            <a:prstDash val="solid"/>
          </a:ln>
        </p:spPr>
        <p:txBody>
          <a:bodyPr/>
          <a:p/>
        </p:txBody>
      </p:sp>
      <p:sp>
        <p:nvSpPr>
          <p:cNvPr id="21" name="Text 19"/>
          <p:cNvSpPr/>
          <p:nvPr/>
        </p:nvSpPr>
        <p:spPr>
          <a:xfrm>
            <a:off x="594360" y="4160520"/>
            <a:ext cx="2286000" cy="475488"/>
          </a:xfrm>
          <a:prstGeom prst="rect">
            <a:avLst/>
          </a:prstGeom>
          <a:noFill/>
          <a:ln/>
        </p:spPr>
        <p:txBody>
          <a:bodyPr wrap="square" lIns="0" tIns="0" rIns="0" bIns="0" rtlCol="0" anchor="ctr"/>
          <a:lstStyle/>
          <a:p>
            <a:pPr algn="r" indent="0" marL="0">
              <a:buNone/>
            </a:pPr>
            <a:r>
              <a:rPr lang="en-US" sz="1400" b="1" dirty="0">
                <a:solidFill>
                  <a:srgbClr val="0E7C6B"/>
                </a:solidFill>
                <a:latin typeface="Palatino Linotype" pitchFamily="34" charset="0"/>
                <a:ea typeface="Palatino Linotype" pitchFamily="34" charset="-122"/>
                <a:cs typeface="Palatino Linotype" pitchFamily="34" charset="-120"/>
              </a:rPr>
              <a:t>Estonia 2025</a:t>
            </a:r>
            <a:endParaRPr lang="en-US" sz="1400" dirty="0"/>
          </a:p>
        </p:txBody>
      </p:sp>
      <p:sp>
        <p:nvSpPr>
          <p:cNvPr id="22" name="Shape 20"/>
          <p:cNvSpPr/>
          <p:nvPr/>
        </p:nvSpPr>
        <p:spPr>
          <a:xfrm>
            <a:off x="9210660" y="4270248"/>
            <a:ext cx="813816" cy="256032"/>
          </a:xfrm>
          <a:prstGeom prst="roundRect">
            <a:avLst>
              <a:gd name="adj" fmla="val 17857"/>
            </a:avLst>
          </a:prstGeom>
          <a:solidFill>
            <a:srgbClr val="0E7C6B">
              <a:alpha val="65000"/>
            </a:srgbClr>
          </a:solidFill>
          <a:ln w="12700">
            <a:solidFill>
              <a:srgbClr val="0E7C6B"/>
            </a:solidFill>
            <a:prstDash val="solid"/>
          </a:ln>
        </p:spPr>
        <p:txBody>
          <a:bodyPr/>
          <a:p/>
        </p:txBody>
      </p:sp>
      <p:sp>
        <p:nvSpPr>
          <p:cNvPr id="23" name="Shape 21"/>
          <p:cNvSpPr/>
          <p:nvPr/>
        </p:nvSpPr>
        <p:spPr>
          <a:xfrm>
            <a:off x="9544416" y="4325112"/>
            <a:ext cx="146304" cy="146304"/>
          </a:xfrm>
          <a:prstGeom prst="ellipse">
            <a:avLst/>
          </a:prstGeom>
          <a:solidFill>
            <a:srgbClr val="11121A"/>
          </a:solidFill>
          <a:ln w="12700">
            <a:solidFill>
              <a:srgbClr val="11121A"/>
            </a:solidFill>
            <a:prstDash val="solid"/>
          </a:ln>
        </p:spPr>
        <p:txBody>
          <a:bodyPr/>
          <a:p/>
        </p:txBody>
      </p:sp>
      <p:sp>
        <p:nvSpPr>
          <p:cNvPr id="24" name="Text 22"/>
          <p:cNvSpPr/>
          <p:nvPr/>
        </p:nvSpPr>
        <p:spPr>
          <a:xfrm>
            <a:off x="594360" y="4636008"/>
            <a:ext cx="2286000" cy="475488"/>
          </a:xfrm>
          <a:prstGeom prst="rect">
            <a:avLst/>
          </a:prstGeom>
          <a:noFill/>
          <a:ln/>
        </p:spPr>
        <p:txBody>
          <a:bodyPr wrap="square" lIns="0" tIns="0" rIns="0" bIns="0" rtlCol="0" anchor="ctr"/>
          <a:lstStyle/>
          <a:p>
            <a:pPr algn="r" indent="0" marL="0">
              <a:buNone/>
            </a:pPr>
            <a:r>
              <a:rPr lang="en-US" sz="1400" b="1" dirty="0">
                <a:solidFill>
                  <a:srgbClr val="4A2D8C"/>
                </a:solidFill>
                <a:latin typeface="Palatino Linotype" pitchFamily="34" charset="0"/>
                <a:ea typeface="Palatino Linotype" pitchFamily="34" charset="-122"/>
                <a:cs typeface="Palatino Linotype" pitchFamily="34" charset="-120"/>
              </a:rPr>
              <a:t>România 2025</a:t>
            </a:r>
            <a:endParaRPr lang="en-US" sz="1400" dirty="0"/>
          </a:p>
        </p:txBody>
      </p:sp>
      <p:sp>
        <p:nvSpPr>
          <p:cNvPr id="25" name="Shape 23"/>
          <p:cNvSpPr/>
          <p:nvPr/>
        </p:nvSpPr>
        <p:spPr>
          <a:xfrm>
            <a:off x="6516929" y="4745736"/>
            <a:ext cx="813816" cy="256032"/>
          </a:xfrm>
          <a:prstGeom prst="roundRect">
            <a:avLst>
              <a:gd name="adj" fmla="val 17857"/>
            </a:avLst>
          </a:prstGeom>
          <a:solidFill>
            <a:srgbClr val="4A2D8C">
              <a:alpha val="65000"/>
            </a:srgbClr>
          </a:solidFill>
          <a:ln w="12700">
            <a:solidFill>
              <a:srgbClr val="4A2D8C"/>
            </a:solidFill>
            <a:prstDash val="solid"/>
          </a:ln>
        </p:spPr>
        <p:txBody>
          <a:bodyPr/>
          <a:p/>
        </p:txBody>
      </p:sp>
      <p:sp>
        <p:nvSpPr>
          <p:cNvPr id="26" name="Shape 24"/>
          <p:cNvSpPr/>
          <p:nvPr/>
        </p:nvSpPr>
        <p:spPr>
          <a:xfrm>
            <a:off x="6850685" y="4800600"/>
            <a:ext cx="146304" cy="146304"/>
          </a:xfrm>
          <a:prstGeom prst="ellipse">
            <a:avLst/>
          </a:prstGeom>
          <a:solidFill>
            <a:srgbClr val="11121A"/>
          </a:solidFill>
          <a:ln w="12700">
            <a:solidFill>
              <a:srgbClr val="11121A"/>
            </a:solidFill>
            <a:prstDash val="solid"/>
          </a:ln>
        </p:spPr>
        <p:txBody>
          <a:bodyPr/>
          <a:p/>
        </p:txBody>
      </p:sp>
      <p:sp>
        <p:nvSpPr>
          <p:cNvPr id="27" name="Text 25"/>
          <p:cNvSpPr/>
          <p:nvPr/>
        </p:nvSpPr>
        <p:spPr>
          <a:xfrm>
            <a:off x="2743200" y="5157216"/>
            <a:ext cx="54864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0</a:t>
            </a:r>
            <a:endParaRPr lang="en-US" sz="1200" dirty="0"/>
          </a:p>
        </p:txBody>
      </p:sp>
      <p:sp>
        <p:nvSpPr>
          <p:cNvPr id="28" name="Text 26"/>
          <p:cNvSpPr/>
          <p:nvPr/>
        </p:nvSpPr>
        <p:spPr>
          <a:xfrm>
            <a:off x="10789920" y="5157216"/>
            <a:ext cx="731520" cy="256032"/>
          </a:xfrm>
          <a:prstGeom prst="rect">
            <a:avLst/>
          </a:prstGeom>
          <a:noFill/>
          <a:ln/>
        </p:spPr>
        <p:txBody>
          <a:bodyPr wrap="square" lIns="0" tIns="0" rIns="0" bIns="0" rtlCol="0" anchor="t"/>
          <a:lstStyle/>
          <a:p>
            <a:pPr algn="ctr" indent="0" marL="0">
              <a:buNone/>
            </a:pPr>
            <a:r>
              <a:rPr lang="en-US" sz="1200" dirty="0">
                <a:solidFill>
                  <a:srgbClr val="585A64"/>
                </a:solidFill>
                <a:latin typeface="Palatino Linotype" pitchFamily="34" charset="0"/>
                <a:ea typeface="Palatino Linotype" pitchFamily="34" charset="-122"/>
                <a:cs typeface="Palatino Linotype" pitchFamily="34" charset="-120"/>
              </a:rPr>
              <a:t>100</a:t>
            </a:r>
            <a:endParaRPr lang="en-US" sz="1200" dirty="0"/>
          </a:p>
        </p:txBody>
      </p:sp>
      <p:sp>
        <p:nvSpPr>
          <p:cNvPr id="29" name="Text 27"/>
          <p:cNvSpPr/>
          <p:nvPr/>
        </p:nvSpPr>
        <p:spPr>
          <a:xfrm>
            <a:off x="3931920" y="5157216"/>
            <a:ext cx="6309360" cy="256032"/>
          </a:xfrm>
          <a:prstGeom prst="rect">
            <a:avLst/>
          </a:prstGeom>
          <a:noFill/>
          <a:ln/>
        </p:spPr>
        <p:txBody>
          <a:bodyPr wrap="square" lIns="0" tIns="0" rIns="0" bIns="0" rtlCol="0" anchor="t"/>
          <a:lstStyle/>
          <a:p>
            <a:pPr algn="ctr" indent="0" marL="0">
              <a:buNone/>
            </a:pPr>
            <a:r>
              <a:rPr lang="en-US" sz="1200" i="1" dirty="0">
                <a:solidFill>
                  <a:srgbClr val="585A64"/>
                </a:solidFill>
                <a:latin typeface="Palatino Linotype" pitchFamily="34" charset="0"/>
                <a:ea typeface="Palatino Linotype" pitchFamily="34" charset="-122"/>
                <a:cs typeface="Palatino Linotype" pitchFamily="34" charset="-120"/>
              </a:rPr>
              <a:t>scor mai mare = corupție percepută mai mică →</a:t>
            </a:r>
            <a:endParaRPr lang="en-US" sz="1200" dirty="0"/>
          </a:p>
        </p:txBody>
      </p:sp>
      <p:sp>
        <p:nvSpPr>
          <p:cNvPr id="30" name="Text 28"/>
          <p:cNvSpPr/>
          <p:nvPr/>
        </p:nvSpPr>
        <p:spPr>
          <a:xfrm>
            <a:off x="594360" y="5532120"/>
            <a:ext cx="10972800" cy="685800"/>
          </a:xfrm>
          <a:prstGeom prst="rect">
            <a:avLst/>
          </a:prstGeom>
          <a:noFill/>
          <a:ln/>
        </p:spPr>
        <p:txBody>
          <a:bodyPr wrap="square" lIns="0" tIns="0" rIns="0" bIns="0" rtlCol="0" anchor="t"/>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Fiecare bară este marja de eroare: domeniul în care se află nivelul real, cu o probabilitate de 90%. Bare care se suprapun: diferența nu e sigură.</a:t>
            </a:r>
            <a:endParaRPr lang="en-US" sz="1550" dirty="0"/>
          </a:p>
        </p:txBody>
      </p:sp>
      <p:sp>
        <p:nvSpPr>
          <p:cNvPr id="31" name="Text 2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Banca Mondială, indicatorii mondiali de guvernanță · A016, A019, A813, A806–A812. Valorile, în note.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LA A TREIA DECIZIE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Varianta (B)</a:t>
            </a:r>
            <a:endParaRPr lang="en-US" sz="3400" dirty="0"/>
          </a:p>
        </p:txBody>
      </p:sp>
      <p:sp>
        <p:nvSpPr>
          <p:cNvPr id="4" name="Shape 2"/>
          <p:cNvSpPr/>
          <p:nvPr/>
        </p:nvSpPr>
        <p:spPr>
          <a:xfrm>
            <a:off x="594360" y="1645920"/>
            <a:ext cx="10972800" cy="1325880"/>
          </a:xfrm>
          <a:prstGeom prst="roundRect">
            <a:avLst>
              <a:gd name="adj" fmla="val 6207"/>
            </a:avLst>
          </a:prstGeom>
          <a:solidFill>
            <a:srgbClr val="B02532"/>
          </a:solidFill>
          <a:ln w="12700">
            <a:solidFill>
              <a:srgbClr val="B02532"/>
            </a:solidFill>
            <a:prstDash val="solid"/>
          </a:ln>
        </p:spPr>
        <p:txBody>
          <a:bodyPr/>
          <a:p/>
        </p:txBody>
      </p:sp>
      <p:sp>
        <p:nvSpPr>
          <p:cNvPr id="5" name="Text 3"/>
          <p:cNvSpPr/>
          <p:nvPr/>
        </p:nvSpPr>
        <p:spPr>
          <a:xfrm>
            <a:off x="868680" y="1645920"/>
            <a:ext cx="10424160" cy="13258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Scorul a urcat peste marja de eroare, dar măsoară percepții, nu efectul unei măsuri. Nu tot se poate reproduce; contează voința politică. Iar scorul a coborât din nou.</a:t>
            </a:r>
            <a:endParaRPr lang="en-US" sz="1800" dirty="0"/>
          </a:p>
        </p:txBody>
      </p:sp>
      <p:sp>
        <p:nvSpPr>
          <p:cNvPr id="6" name="Shape 4"/>
          <p:cNvSpPr/>
          <p:nvPr/>
        </p:nvSpPr>
        <p:spPr>
          <a:xfrm>
            <a:off x="594360" y="320040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7" name="Shape 5"/>
          <p:cNvSpPr/>
          <p:nvPr/>
        </p:nvSpPr>
        <p:spPr>
          <a:xfrm>
            <a:off x="914400" y="3355848"/>
            <a:ext cx="420624" cy="420624"/>
          </a:xfrm>
          <a:prstGeom prst="ellipse">
            <a:avLst/>
          </a:prstGeom>
          <a:solidFill>
            <a:srgbClr val="FFC24B"/>
          </a:solidFill>
          <a:ln/>
        </p:spPr>
        <p:txBody>
          <a:bodyPr/>
          <a:p/>
        </p:txBody>
      </p:sp>
      <p:sp>
        <p:nvSpPr>
          <p:cNvPr id="8" name="Text 6"/>
          <p:cNvSpPr/>
          <p:nvPr/>
        </p:nvSpPr>
        <p:spPr>
          <a:xfrm>
            <a:off x="914400" y="3355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3200400"/>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Saltul de la „s-a întâmplat după” la „s-a întâmplat din cauza”.</a:t>
            </a:r>
            <a:endParaRPr lang="en-US" sz="1700" dirty="0"/>
          </a:p>
        </p:txBody>
      </p:sp>
      <p:sp>
        <p:nvSpPr>
          <p:cNvPr id="10" name="Shape 8"/>
          <p:cNvSpPr/>
          <p:nvPr/>
        </p:nvSpPr>
        <p:spPr>
          <a:xfrm>
            <a:off x="594360" y="406908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1" name="Shape 9"/>
          <p:cNvSpPr/>
          <p:nvPr/>
        </p:nvSpPr>
        <p:spPr>
          <a:xfrm>
            <a:off x="914400" y="4224528"/>
            <a:ext cx="420624" cy="420624"/>
          </a:xfrm>
          <a:prstGeom prst="ellipse">
            <a:avLst/>
          </a:prstGeom>
          <a:solidFill>
            <a:srgbClr val="FFC24B"/>
          </a:solidFill>
          <a:ln/>
        </p:spPr>
        <p:txBody>
          <a:bodyPr/>
          <a:p/>
        </p:txBody>
      </p:sp>
      <p:sp>
        <p:nvSpPr>
          <p:cNvPr id="12" name="Text 10"/>
          <p:cNvSpPr/>
          <p:nvPr/>
        </p:nvSpPr>
        <p:spPr>
          <a:xfrm>
            <a:off x="914400" y="4224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3" name="Text 11"/>
          <p:cNvSpPr/>
          <p:nvPr/>
        </p:nvSpPr>
        <p:spPr>
          <a:xfrm>
            <a:off x="1600200" y="4069080"/>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Marja nu interzice concluziile; le cântărește.</a:t>
            </a:r>
            <a:endParaRPr lang="en-US" sz="1700" dirty="0"/>
          </a:p>
        </p:txBody>
      </p:sp>
      <p:sp>
        <p:nvSpPr>
          <p:cNvPr id="14" name="Shape 12"/>
          <p:cNvSpPr/>
          <p:nvPr/>
        </p:nvSpPr>
        <p:spPr>
          <a:xfrm>
            <a:off x="594360" y="493776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5" name="Shape 13"/>
          <p:cNvSpPr/>
          <p:nvPr/>
        </p:nvSpPr>
        <p:spPr>
          <a:xfrm>
            <a:off x="914400" y="5093208"/>
            <a:ext cx="420624" cy="420624"/>
          </a:xfrm>
          <a:prstGeom prst="ellipse">
            <a:avLst/>
          </a:prstGeom>
          <a:solidFill>
            <a:srgbClr val="FFC24B"/>
          </a:solidFill>
          <a:ln/>
        </p:spPr>
        <p:txBody>
          <a:bodyPr/>
          <a:p/>
        </p:txBody>
      </p:sp>
      <p:sp>
        <p:nvSpPr>
          <p:cNvPr id="16" name="Text 14"/>
          <p:cNvSpPr/>
          <p:nvPr/>
        </p:nvSpPr>
        <p:spPr>
          <a:xfrm>
            <a:off x="914400" y="50932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17" name="Text 15"/>
          <p:cNvSpPr/>
          <p:nvPr/>
        </p:nvSpPr>
        <p:spPr>
          <a:xfrm>
            <a:off x="1600200" y="4937760"/>
            <a:ext cx="969264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Schimbă întrebarea: ce s-a măsurat și ce se poate transfera rămâne la fel.</a:t>
            </a:r>
            <a:endParaRPr lang="en-US" sz="17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Banca Mondială · A016, A817, A818, A806, A808, A809.</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FIECARE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INDIVIDUAL · OPT MINUTE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O măsură pentru Spitalul Județean A</a:t>
            </a:r>
            <a:endParaRPr lang="en-US" sz="3200" dirty="0"/>
          </a:p>
        </p:txBody>
      </p:sp>
      <p:sp>
        <p:nvSpPr>
          <p:cNvPr id="6" name="Shape 4"/>
          <p:cNvSpPr/>
          <p:nvPr/>
        </p:nvSpPr>
        <p:spPr>
          <a:xfrm>
            <a:off x="594360" y="1828800"/>
            <a:ext cx="8595360" cy="822960"/>
          </a:xfrm>
          <a:prstGeom prst="roundRect">
            <a:avLst>
              <a:gd name="adj" fmla="val 10000"/>
            </a:avLst>
          </a:prstGeom>
          <a:solidFill>
            <a:srgbClr val="1D1F2B"/>
          </a:solidFill>
          <a:ln w="12700">
            <a:solidFill>
              <a:srgbClr val="1D1F2B"/>
            </a:solidFill>
            <a:prstDash val="solid"/>
          </a:ln>
        </p:spPr>
        <p:txBody>
          <a:bodyPr/>
          <a:p/>
        </p:txBody>
      </p:sp>
      <p:sp>
        <p:nvSpPr>
          <p:cNvPr id="7" name="Shape 5"/>
          <p:cNvSpPr/>
          <p:nvPr/>
        </p:nvSpPr>
        <p:spPr>
          <a:xfrm>
            <a:off x="914400" y="2029968"/>
            <a:ext cx="420624" cy="420624"/>
          </a:xfrm>
          <a:prstGeom prst="ellipse">
            <a:avLst/>
          </a:prstGeom>
          <a:solidFill>
            <a:srgbClr val="FFC24B"/>
          </a:solidFill>
          <a:ln/>
        </p:spPr>
        <p:txBody>
          <a:bodyPr/>
          <a:p/>
        </p:txBody>
      </p:sp>
      <p:sp>
        <p:nvSpPr>
          <p:cNvPr id="8" name="Text 6"/>
          <p:cNvSpPr/>
          <p:nvPr/>
        </p:nvSpPr>
        <p:spPr>
          <a:xfrm>
            <a:off x="914400" y="20299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828800"/>
            <a:ext cx="731520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Măsura, în cel mult două rânduri.</a:t>
            </a:r>
            <a:endParaRPr lang="en-US" sz="1900" dirty="0"/>
          </a:p>
        </p:txBody>
      </p:sp>
      <p:sp>
        <p:nvSpPr>
          <p:cNvPr id="10" name="Shape 8"/>
          <p:cNvSpPr/>
          <p:nvPr/>
        </p:nvSpPr>
        <p:spPr>
          <a:xfrm>
            <a:off x="594360" y="2788920"/>
            <a:ext cx="8595360" cy="822960"/>
          </a:xfrm>
          <a:prstGeom prst="roundRect">
            <a:avLst>
              <a:gd name="adj" fmla="val 10000"/>
            </a:avLst>
          </a:prstGeom>
          <a:solidFill>
            <a:srgbClr val="1D1F2B"/>
          </a:solidFill>
          <a:ln w="12700">
            <a:solidFill>
              <a:srgbClr val="1D1F2B"/>
            </a:solidFill>
            <a:prstDash val="solid"/>
          </a:ln>
        </p:spPr>
        <p:txBody>
          <a:bodyPr/>
          <a:p/>
        </p:txBody>
      </p:sp>
      <p:sp>
        <p:nvSpPr>
          <p:cNvPr id="11" name="Shape 9"/>
          <p:cNvSpPr/>
          <p:nvPr/>
        </p:nvSpPr>
        <p:spPr>
          <a:xfrm>
            <a:off x="914400" y="2990088"/>
            <a:ext cx="420624" cy="420624"/>
          </a:xfrm>
          <a:prstGeom prst="ellipse">
            <a:avLst/>
          </a:prstGeom>
          <a:solidFill>
            <a:srgbClr val="FFC24B"/>
          </a:solidFill>
          <a:ln/>
        </p:spPr>
        <p:txBody>
          <a:bodyPr/>
          <a:p/>
        </p:txBody>
      </p:sp>
      <p:sp>
        <p:nvSpPr>
          <p:cNvPr id="12" name="Text 10"/>
          <p:cNvSpPr/>
          <p:nvPr/>
        </p:nvSpPr>
        <p:spPr>
          <a:xfrm>
            <a:off x="914400" y="2990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788920"/>
            <a:ext cx="7315200" cy="8229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Indicatorul prin care s-ar vedea, peste un an, dacă a funcționat.</a:t>
            </a:r>
            <a:endParaRPr lang="en-US" sz="1900" dirty="0"/>
          </a:p>
        </p:txBody>
      </p:sp>
      <p:sp>
        <p:nvSpPr>
          <p:cNvPr id="14" name="Shape 12"/>
          <p:cNvSpPr/>
          <p:nvPr/>
        </p:nvSpPr>
        <p:spPr>
          <a:xfrm>
            <a:off x="9509760" y="1828800"/>
            <a:ext cx="2057400" cy="1828800"/>
          </a:xfrm>
          <a:prstGeom prst="roundRect">
            <a:avLst>
              <a:gd name="adj" fmla="val 4500"/>
            </a:avLst>
          </a:prstGeom>
          <a:solidFill>
            <a:srgbClr val="FFFFFF"/>
          </a:solidFill>
          <a:ln w="12700">
            <a:solidFill>
              <a:srgbClr val="FFFFFF"/>
            </a:solidFill>
            <a:prstDash val="solid"/>
          </a:ln>
        </p:spPr>
        <p:txBody>
          <a:bodyPr/>
          <a:p/>
        </p:txBody>
      </p:sp>
      <p:sp>
        <p:nvSpPr>
          <p:cNvPr id="16" name="Text 14"/>
          <p:cNvSpPr/>
          <p:nvPr/>
        </p:nvSpPr>
        <p:spPr>
          <a:xfrm>
            <a:off x="594360" y="4114800"/>
            <a:ext cx="8595360" cy="73152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Alegem trei propuneri; votați pe cea mai ușor de verificat.</a:t>
            </a:r>
            <a:endParaRPr lang="en-US" sz="1800" dirty="0"/>
          </a:p>
        </p:txBody>
      </p:sp>
      <p:sp>
        <p:nvSpPr>
          <p:cNvPr id="17" name="Text 15"/>
          <p:cNvSpPr/>
          <p:nvPr/>
        </p:nvSpPr>
        <p:spPr>
          <a:xfrm>
            <a:off x="594360" y="5669280"/>
            <a:ext cx="8595360" cy="411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Răspundeți la cod sau din linkul din chat.</a:t>
            </a:r>
            <a:endParaRPr lang="en-US" sz="1600" dirty="0"/>
          </a:p>
        </p:txBody>
      </p:sp>
      <p:pic>
        <p:nvPicPr>
          <p:cNvPr id="18" name="Picture 17" descr="Mentimeter_OPT_PLIC_C05.png"/>
          <p:cNvPicPr>
            <a:picLocks noChangeAspect="1"/>
          </p:cNvPicPr>
          <p:nvPr/>
        </p:nvPicPr>
        <p:blipFill>
          <a:blip r:embed="rId3"/>
          <a:stretch>
            <a:fillRect/>
          </a:stretch>
        </p:blipFill>
        <p:spPr>
          <a:xfrm>
            <a:off x="9841229" y="1828800"/>
            <a:ext cx="1394461" cy="1394461"/>
          </a:xfrm>
          <a:prstGeom prst="rect">
            <a:avLst/>
          </a:prstGeom>
        </p:spPr>
      </p:pic>
      <p:sp>
        <p:nvSpPr>
          <p:cNvPr id="19" name="TextBox 18"/>
          <p:cNvSpPr txBox="1"/>
          <p:nvPr/>
        </p:nvSpPr>
        <p:spPr>
          <a:xfrm>
            <a:off x="9509760" y="3261361"/>
            <a:ext cx="2057400" cy="434339"/>
          </a:xfrm>
          <a:prstGeom prst="rect">
            <a:avLst/>
          </a:prstGeom>
          <a:noFill/>
        </p:spPr>
        <p:txBody>
          <a:bodyPr wrap="square" lIns="0" rIns="0" tIns="0" bIns="0" anchor="t">
            <a:spAutoFit/>
          </a:bodyPr>
          <a:lstStyle/>
          <a:p>
            <a:pPr algn="ctr"/>
            <a:r>
              <a:rPr sz="900" b="1">
                <a:solidFill>
                  <a:srgbClr val="B02532"/>
                </a:solidFill>
                <a:latin typeface="Palatino Linotype"/>
              </a:rPr>
              <a:t>menti.com</a:t>
            </a:r>
          </a:p>
          <a:p>
            <a:pPr algn="ctr"/>
            <a:r>
              <a:rPr sz="900" b="1">
                <a:solidFill>
                  <a:srgbClr val="B02532"/>
                </a:solidFill>
                <a:latin typeface="Palatino Linotype"/>
              </a:rPr>
              <a:t>anonim, fără cont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TREI EXEMPLE DE FORMĂ, NU 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O măsură numește pe cineva și se poate verifica</a:t>
            </a:r>
            <a:endParaRPr lang="en-US" sz="2800" dirty="0"/>
          </a:p>
        </p:txBody>
      </p:sp>
      <p:sp>
        <p:nvSpPr>
          <p:cNvPr id="4" name="Shape 2"/>
          <p:cNvSpPr/>
          <p:nvPr/>
        </p:nvSpPr>
        <p:spPr>
          <a:xfrm>
            <a:off x="594360" y="1691640"/>
            <a:ext cx="3474720" cy="3429000"/>
          </a:xfrm>
          <a:prstGeom prst="roundRect">
            <a:avLst>
              <a:gd name="adj" fmla="val 2400"/>
            </a:avLst>
          </a:prstGeom>
          <a:solidFill>
            <a:srgbClr val="ECEAE4"/>
          </a:solidFill>
          <a:ln w="12700">
            <a:solidFill>
              <a:srgbClr val="ECEAE4"/>
            </a:solidFill>
            <a:prstDash val="solid"/>
          </a:ln>
        </p:spPr>
        <p:txBody>
          <a:bodyPr/>
          <a:p/>
        </p:txBody>
      </p:sp>
      <p:sp>
        <p:nvSpPr>
          <p:cNvPr id="5" name="Text 3"/>
          <p:cNvSpPr/>
          <p:nvPr/>
        </p:nvSpPr>
        <p:spPr>
          <a:xfrm>
            <a:off x="822960" y="1828800"/>
            <a:ext cx="3017520" cy="27432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MĂSURA</a:t>
            </a:r>
            <a:endParaRPr lang="en-US" sz="1200" dirty="0"/>
          </a:p>
        </p:txBody>
      </p:sp>
      <p:sp>
        <p:nvSpPr>
          <p:cNvPr id="6" name="Text 4"/>
          <p:cNvSpPr/>
          <p:nvPr/>
        </p:nvSpPr>
        <p:spPr>
          <a:xfrm>
            <a:off x="822960" y="2148840"/>
            <a:ext cx="3017520" cy="1463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Prețul pe bucată, publicat periodic, urmărit de consiliul județean</a:t>
            </a:r>
            <a:endParaRPr lang="en-US" sz="1600" dirty="0"/>
          </a:p>
        </p:txBody>
      </p:sp>
      <p:sp>
        <p:nvSpPr>
          <p:cNvPr id="7" name="Text 5"/>
          <p:cNvSpPr/>
          <p:nvPr/>
        </p:nvSpPr>
        <p:spPr>
          <a:xfrm>
            <a:off x="822960" y="3657600"/>
            <a:ext cx="3017520" cy="274320"/>
          </a:xfrm>
          <a:prstGeom prst="rect">
            <a:avLst/>
          </a:prstGeom>
          <a:noFill/>
          <a:ln/>
        </p:spPr>
        <p:txBody>
          <a:bodyPr wrap="square" lIns="0" tIns="0" rIns="0" bIns="0" rtlCol="0" anchor="t"/>
          <a:lstStyle/>
          <a:p>
            <a:pPr indent="0" marL="0">
              <a:buNone/>
            </a:pPr>
            <a:r>
              <a:rPr lang="en-US" sz="1200" b="1" spc="200" kern="0" dirty="0">
                <a:solidFill>
                  <a:srgbClr val="0E7C6B"/>
                </a:solidFill>
                <a:latin typeface="Palatino Linotype" pitchFamily="34" charset="0"/>
                <a:ea typeface="Palatino Linotype" pitchFamily="34" charset="-122"/>
                <a:cs typeface="Palatino Linotype" pitchFamily="34" charset="-120"/>
              </a:rPr>
              <a:t>INDICATORUL</a:t>
            </a:r>
            <a:endParaRPr lang="en-US" sz="1200" dirty="0"/>
          </a:p>
        </p:txBody>
      </p:sp>
      <p:sp>
        <p:nvSpPr>
          <p:cNvPr id="8" name="Text 6"/>
          <p:cNvSpPr/>
          <p:nvPr/>
        </p:nvSpPr>
        <p:spPr>
          <a:xfrm>
            <a:off x="822960" y="3977640"/>
            <a:ext cx="3017520" cy="10515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dacă se publică la termen și câte sesizări aduce</a:t>
            </a:r>
            <a:endParaRPr lang="en-US" sz="1500" dirty="0"/>
          </a:p>
        </p:txBody>
      </p:sp>
      <p:sp>
        <p:nvSpPr>
          <p:cNvPr id="9" name="Shape 7"/>
          <p:cNvSpPr/>
          <p:nvPr/>
        </p:nvSpPr>
        <p:spPr>
          <a:xfrm>
            <a:off x="4343400" y="1691640"/>
            <a:ext cx="3474720" cy="3429000"/>
          </a:xfrm>
          <a:prstGeom prst="roundRect">
            <a:avLst>
              <a:gd name="adj" fmla="val 2400"/>
            </a:avLst>
          </a:prstGeom>
          <a:solidFill>
            <a:srgbClr val="ECEAE4"/>
          </a:solidFill>
          <a:ln w="12700">
            <a:solidFill>
              <a:srgbClr val="ECEAE4"/>
            </a:solidFill>
            <a:prstDash val="solid"/>
          </a:ln>
        </p:spPr>
        <p:txBody>
          <a:bodyPr/>
          <a:p/>
        </p:txBody>
      </p:sp>
      <p:sp>
        <p:nvSpPr>
          <p:cNvPr id="10" name="Text 8"/>
          <p:cNvSpPr/>
          <p:nvPr/>
        </p:nvSpPr>
        <p:spPr>
          <a:xfrm>
            <a:off x="4572000" y="1828800"/>
            <a:ext cx="3017520" cy="27432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MĂSURA</a:t>
            </a:r>
            <a:endParaRPr lang="en-US" sz="1200" dirty="0"/>
          </a:p>
        </p:txBody>
      </p:sp>
      <p:sp>
        <p:nvSpPr>
          <p:cNvPr id="11" name="Text 9"/>
          <p:cNvSpPr/>
          <p:nvPr/>
        </p:nvSpPr>
        <p:spPr>
          <a:xfrm>
            <a:off x="4572000" y="2148840"/>
            <a:ext cx="3017520" cy="1463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Cineva desemnat compară declarațiile cu ofertanții, la fiecare procedură</a:t>
            </a:r>
            <a:endParaRPr lang="en-US" sz="1600" dirty="0"/>
          </a:p>
        </p:txBody>
      </p:sp>
      <p:sp>
        <p:nvSpPr>
          <p:cNvPr id="12" name="Text 10"/>
          <p:cNvSpPr/>
          <p:nvPr/>
        </p:nvSpPr>
        <p:spPr>
          <a:xfrm>
            <a:off x="4572000" y="3657600"/>
            <a:ext cx="3017520" cy="274320"/>
          </a:xfrm>
          <a:prstGeom prst="rect">
            <a:avLst/>
          </a:prstGeom>
          <a:noFill/>
          <a:ln/>
        </p:spPr>
        <p:txBody>
          <a:bodyPr wrap="square" lIns="0" tIns="0" rIns="0" bIns="0" rtlCol="0" anchor="t"/>
          <a:lstStyle/>
          <a:p>
            <a:pPr indent="0" marL="0">
              <a:buNone/>
            </a:pPr>
            <a:r>
              <a:rPr lang="en-US" sz="1200" b="1" spc="200" kern="0" dirty="0">
                <a:solidFill>
                  <a:srgbClr val="0E7C6B"/>
                </a:solidFill>
                <a:latin typeface="Palatino Linotype" pitchFamily="34" charset="0"/>
                <a:ea typeface="Palatino Linotype" pitchFamily="34" charset="-122"/>
                <a:cs typeface="Palatino Linotype" pitchFamily="34" charset="-120"/>
              </a:rPr>
              <a:t>INDICATORUL</a:t>
            </a:r>
            <a:endParaRPr lang="en-US" sz="1200" dirty="0"/>
          </a:p>
        </p:txBody>
      </p:sp>
      <p:sp>
        <p:nvSpPr>
          <p:cNvPr id="13" name="Text 11"/>
          <p:cNvSpPr/>
          <p:nvPr/>
        </p:nvSpPr>
        <p:spPr>
          <a:xfrm>
            <a:off x="4572000" y="3977640"/>
            <a:ext cx="3017520" cy="10515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proporția procedurilor cu comparația documentată</a:t>
            </a:r>
            <a:endParaRPr lang="en-US" sz="1500" dirty="0"/>
          </a:p>
        </p:txBody>
      </p:sp>
      <p:sp>
        <p:nvSpPr>
          <p:cNvPr id="14" name="Shape 12"/>
          <p:cNvSpPr/>
          <p:nvPr/>
        </p:nvSpPr>
        <p:spPr>
          <a:xfrm>
            <a:off x="8092440" y="1691640"/>
            <a:ext cx="3474720" cy="3429000"/>
          </a:xfrm>
          <a:prstGeom prst="roundRect">
            <a:avLst>
              <a:gd name="adj" fmla="val 2400"/>
            </a:avLst>
          </a:prstGeom>
          <a:solidFill>
            <a:srgbClr val="ECEAE4"/>
          </a:solidFill>
          <a:ln w="12700">
            <a:solidFill>
              <a:srgbClr val="ECEAE4"/>
            </a:solidFill>
            <a:prstDash val="solid"/>
          </a:ln>
        </p:spPr>
        <p:txBody>
          <a:bodyPr/>
          <a:p/>
        </p:txBody>
      </p:sp>
      <p:sp>
        <p:nvSpPr>
          <p:cNvPr id="15" name="Text 13"/>
          <p:cNvSpPr/>
          <p:nvPr/>
        </p:nvSpPr>
        <p:spPr>
          <a:xfrm>
            <a:off x="8321040" y="1828800"/>
            <a:ext cx="3017520" cy="27432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MĂSURA</a:t>
            </a:r>
            <a:endParaRPr lang="en-US" sz="1200" dirty="0"/>
          </a:p>
        </p:txBody>
      </p:sp>
      <p:sp>
        <p:nvSpPr>
          <p:cNvPr id="16" name="Text 14"/>
          <p:cNvSpPr/>
          <p:nvPr/>
        </p:nvSpPr>
        <p:spPr>
          <a:xfrm>
            <a:off x="8321040" y="2148840"/>
            <a:ext cx="3017520" cy="1463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Un raport anual al cererilor de informații</a:t>
            </a:r>
            <a:endParaRPr lang="en-US" sz="1600" dirty="0"/>
          </a:p>
        </p:txBody>
      </p:sp>
      <p:sp>
        <p:nvSpPr>
          <p:cNvPr id="17" name="Text 15"/>
          <p:cNvSpPr/>
          <p:nvPr/>
        </p:nvSpPr>
        <p:spPr>
          <a:xfrm>
            <a:off x="8321040" y="3657600"/>
            <a:ext cx="3017520" cy="274320"/>
          </a:xfrm>
          <a:prstGeom prst="rect">
            <a:avLst/>
          </a:prstGeom>
          <a:noFill/>
          <a:ln/>
        </p:spPr>
        <p:txBody>
          <a:bodyPr wrap="square" lIns="0" tIns="0" rIns="0" bIns="0" rtlCol="0" anchor="t"/>
          <a:lstStyle/>
          <a:p>
            <a:pPr indent="0" marL="0">
              <a:buNone/>
            </a:pPr>
            <a:r>
              <a:rPr lang="en-US" sz="1200" b="1" spc="200" kern="0" dirty="0">
                <a:solidFill>
                  <a:srgbClr val="0E7C6B"/>
                </a:solidFill>
                <a:latin typeface="Palatino Linotype" pitchFamily="34" charset="0"/>
                <a:ea typeface="Palatino Linotype" pitchFamily="34" charset="-122"/>
                <a:cs typeface="Palatino Linotype" pitchFamily="34" charset="-120"/>
              </a:rPr>
              <a:t>INDICATORUL</a:t>
            </a:r>
            <a:endParaRPr lang="en-US" sz="1200" dirty="0"/>
          </a:p>
        </p:txBody>
      </p:sp>
      <p:sp>
        <p:nvSpPr>
          <p:cNvPr id="18" name="Text 16"/>
          <p:cNvSpPr/>
          <p:nvPr/>
        </p:nvSpPr>
        <p:spPr>
          <a:xfrm>
            <a:off x="8321040" y="3977640"/>
            <a:ext cx="3017520" cy="105156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proporția cererilor rezolvate în termenul legal</a:t>
            </a:r>
            <a:endParaRPr lang="en-US" sz="1500" dirty="0"/>
          </a:p>
        </p:txBody>
      </p:sp>
      <p:sp>
        <p:nvSpPr>
          <p:cNvPr id="19" name="Text 17"/>
          <p:cNvSpPr/>
          <p:nvPr/>
        </p:nvSpPr>
        <p:spPr>
          <a:xfrm>
            <a:off x="594360" y="5394960"/>
            <a:ext cx="10972800" cy="54864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Diferența dintre o măsură și un comunicat.</a:t>
            </a:r>
            <a:endParaRPr lang="en-US" sz="20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544/2001; legea achizițiilor publice; Legea nr. 176/2010 · A836, A833, A745, A821.</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SPITALUL JUDEȚEAN A · CE FACEȚI DIFERIT DE LUNI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Luni dimineață</a:t>
            </a:r>
            <a:endParaRPr lang="en-US" sz="3400" dirty="0"/>
          </a:p>
        </p:txBody>
      </p:sp>
      <p:sp>
        <p:nvSpPr>
          <p:cNvPr id="4" name="Shape 2"/>
          <p:cNvSpPr/>
          <p:nvPr/>
        </p:nvSpPr>
        <p:spPr>
          <a:xfrm>
            <a:off x="594360" y="1554480"/>
            <a:ext cx="10972800" cy="786384"/>
          </a:xfrm>
          <a:prstGeom prst="roundRect">
            <a:avLst>
              <a:gd name="adj" fmla="val 10465"/>
            </a:avLst>
          </a:prstGeom>
          <a:solidFill>
            <a:srgbClr val="1D1F2B"/>
          </a:solidFill>
          <a:ln w="12700">
            <a:solidFill>
              <a:srgbClr val="1D1F2B"/>
            </a:solidFill>
            <a:prstDash val="solid"/>
          </a:ln>
        </p:spPr>
        <p:txBody>
          <a:bodyPr/>
          <a:p/>
        </p:txBody>
      </p:sp>
      <p:sp>
        <p:nvSpPr>
          <p:cNvPr id="5" name="Shape 3"/>
          <p:cNvSpPr/>
          <p:nvPr/>
        </p:nvSpPr>
        <p:spPr>
          <a:xfrm>
            <a:off x="914400" y="1737360"/>
            <a:ext cx="420624" cy="420624"/>
          </a:xfrm>
          <a:prstGeom prst="ellipse">
            <a:avLst/>
          </a:prstGeom>
          <a:solidFill>
            <a:srgbClr val="FFC24B"/>
          </a:solidFill>
          <a:ln/>
        </p:spPr>
        <p:txBody>
          <a:bodyPr/>
          <a:p/>
        </p:txBody>
      </p:sp>
      <p:sp>
        <p:nvSpPr>
          <p:cNvPr id="6" name="Text 4"/>
          <p:cNvSpPr/>
          <p:nvPr/>
        </p:nvSpPr>
        <p:spPr>
          <a:xfrm>
            <a:off x="914400" y="17373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554480"/>
            <a:ext cx="969264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Când citiți „toate documentele sunt publice”: cine le citește și cine răspunde?</a:t>
            </a:r>
            <a:endParaRPr lang="en-US" sz="1600" dirty="0"/>
          </a:p>
        </p:txBody>
      </p:sp>
      <p:sp>
        <p:nvSpPr>
          <p:cNvPr id="8" name="Shape 6"/>
          <p:cNvSpPr/>
          <p:nvPr/>
        </p:nvSpPr>
        <p:spPr>
          <a:xfrm>
            <a:off x="594360" y="2450592"/>
            <a:ext cx="10972800" cy="786384"/>
          </a:xfrm>
          <a:prstGeom prst="roundRect">
            <a:avLst>
              <a:gd name="adj" fmla="val 10465"/>
            </a:avLst>
          </a:prstGeom>
          <a:solidFill>
            <a:srgbClr val="1D1F2B"/>
          </a:solidFill>
          <a:ln w="12700">
            <a:solidFill>
              <a:srgbClr val="1D1F2B"/>
            </a:solidFill>
            <a:prstDash val="solid"/>
          </a:ln>
        </p:spPr>
        <p:txBody>
          <a:bodyPr/>
          <a:p/>
        </p:txBody>
      </p:sp>
      <p:sp>
        <p:nvSpPr>
          <p:cNvPr id="9" name="Shape 7"/>
          <p:cNvSpPr/>
          <p:nvPr/>
        </p:nvSpPr>
        <p:spPr>
          <a:xfrm>
            <a:off x="914400" y="2633472"/>
            <a:ext cx="420624" cy="420624"/>
          </a:xfrm>
          <a:prstGeom prst="ellipse">
            <a:avLst/>
          </a:prstGeom>
          <a:solidFill>
            <a:srgbClr val="FFC24B"/>
          </a:solidFill>
          <a:ln/>
        </p:spPr>
        <p:txBody>
          <a:bodyPr/>
          <a:p/>
        </p:txBody>
      </p:sp>
      <p:sp>
        <p:nvSpPr>
          <p:cNvPr id="10" name="Text 8"/>
          <p:cNvSpPr/>
          <p:nvPr/>
        </p:nvSpPr>
        <p:spPr>
          <a:xfrm>
            <a:off x="914400" y="26334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450592"/>
            <a:ext cx="969264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Vă trebuie o informație publică: cereți-o în scris, notați data înregistrării.</a:t>
            </a:r>
            <a:endParaRPr lang="en-US" sz="1600" dirty="0"/>
          </a:p>
        </p:txBody>
      </p:sp>
      <p:sp>
        <p:nvSpPr>
          <p:cNvPr id="12" name="Shape 10"/>
          <p:cNvSpPr/>
          <p:nvPr/>
        </p:nvSpPr>
        <p:spPr>
          <a:xfrm>
            <a:off x="594360" y="3346704"/>
            <a:ext cx="10972800" cy="786384"/>
          </a:xfrm>
          <a:prstGeom prst="roundRect">
            <a:avLst>
              <a:gd name="adj" fmla="val 10465"/>
            </a:avLst>
          </a:prstGeom>
          <a:solidFill>
            <a:srgbClr val="1D1F2B"/>
          </a:solidFill>
          <a:ln w="12700">
            <a:solidFill>
              <a:srgbClr val="1D1F2B"/>
            </a:solidFill>
            <a:prstDash val="solid"/>
          </a:ln>
        </p:spPr>
        <p:txBody>
          <a:bodyPr/>
          <a:p/>
        </p:txBody>
      </p:sp>
      <p:sp>
        <p:nvSpPr>
          <p:cNvPr id="13" name="Shape 11"/>
          <p:cNvSpPr/>
          <p:nvPr/>
        </p:nvSpPr>
        <p:spPr>
          <a:xfrm>
            <a:off x="914400" y="3529584"/>
            <a:ext cx="420624" cy="420624"/>
          </a:xfrm>
          <a:prstGeom prst="ellipse">
            <a:avLst/>
          </a:prstGeom>
          <a:solidFill>
            <a:srgbClr val="FFC24B"/>
          </a:solidFill>
          <a:ln/>
        </p:spPr>
        <p:txBody>
          <a:bodyPr/>
          <a:p/>
        </p:txBody>
      </p:sp>
      <p:sp>
        <p:nvSpPr>
          <p:cNvPr id="14" name="Text 12"/>
          <p:cNvSpPr/>
          <p:nvPr/>
        </p:nvSpPr>
        <p:spPr>
          <a:xfrm>
            <a:off x="914400" y="35295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346704"/>
            <a:ext cx="969264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Refuz fără motiv: reclamația și tribunalul; notați data-limită.</a:t>
            </a:r>
            <a:endParaRPr lang="en-US" sz="1600" dirty="0"/>
          </a:p>
        </p:txBody>
      </p:sp>
      <p:sp>
        <p:nvSpPr>
          <p:cNvPr id="16" name="Shape 14"/>
          <p:cNvSpPr/>
          <p:nvPr/>
        </p:nvSpPr>
        <p:spPr>
          <a:xfrm>
            <a:off x="594360" y="4242816"/>
            <a:ext cx="10972800" cy="786384"/>
          </a:xfrm>
          <a:prstGeom prst="roundRect">
            <a:avLst>
              <a:gd name="adj" fmla="val 10465"/>
            </a:avLst>
          </a:prstGeom>
          <a:solidFill>
            <a:srgbClr val="1D1F2B"/>
          </a:solidFill>
          <a:ln w="12700">
            <a:solidFill>
              <a:srgbClr val="1D1F2B"/>
            </a:solidFill>
            <a:prstDash val="solid"/>
          </a:ln>
        </p:spPr>
        <p:txBody>
          <a:bodyPr/>
          <a:p/>
        </p:txBody>
      </p:sp>
      <p:sp>
        <p:nvSpPr>
          <p:cNvPr id="17" name="Shape 15"/>
          <p:cNvSpPr/>
          <p:nvPr/>
        </p:nvSpPr>
        <p:spPr>
          <a:xfrm>
            <a:off x="914400" y="4425696"/>
            <a:ext cx="420624" cy="420624"/>
          </a:xfrm>
          <a:prstGeom prst="ellipse">
            <a:avLst/>
          </a:prstGeom>
          <a:solidFill>
            <a:srgbClr val="FFC24B"/>
          </a:solidFill>
          <a:ln/>
        </p:spPr>
        <p:txBody>
          <a:bodyPr/>
          <a:p/>
        </p:txBody>
      </p:sp>
      <p:sp>
        <p:nvSpPr>
          <p:cNvPr id="18" name="Text 16"/>
          <p:cNvSpPr/>
          <p:nvPr/>
        </p:nvSpPr>
        <p:spPr>
          <a:xfrm>
            <a:off x="914400" y="44256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600200" y="4242816"/>
            <a:ext cx="969264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O țară care „a scăpat de corupție”: scorul, cu marja lui, și ce a produs schimbarea.</a:t>
            </a:r>
            <a:endParaRPr lang="en-US" sz="1600" dirty="0"/>
          </a:p>
        </p:txBody>
      </p:sp>
      <p:sp>
        <p:nvSpPr>
          <p:cNvPr id="20" name="Shape 18"/>
          <p:cNvSpPr/>
          <p:nvPr/>
        </p:nvSpPr>
        <p:spPr>
          <a:xfrm>
            <a:off x="594360" y="5138928"/>
            <a:ext cx="10972800" cy="786384"/>
          </a:xfrm>
          <a:prstGeom prst="roundRect">
            <a:avLst>
              <a:gd name="adj" fmla="val 10465"/>
            </a:avLst>
          </a:prstGeom>
          <a:solidFill>
            <a:srgbClr val="1D1F2B"/>
          </a:solidFill>
          <a:ln w="12700">
            <a:solidFill>
              <a:srgbClr val="1D1F2B"/>
            </a:solidFill>
            <a:prstDash val="solid"/>
          </a:ln>
        </p:spPr>
        <p:txBody>
          <a:bodyPr/>
          <a:p/>
        </p:txBody>
      </p:sp>
      <p:sp>
        <p:nvSpPr>
          <p:cNvPr id="21" name="Shape 19"/>
          <p:cNvSpPr/>
          <p:nvPr/>
        </p:nvSpPr>
        <p:spPr>
          <a:xfrm>
            <a:off x="914400" y="5321808"/>
            <a:ext cx="420624" cy="420624"/>
          </a:xfrm>
          <a:prstGeom prst="ellipse">
            <a:avLst/>
          </a:prstGeom>
          <a:solidFill>
            <a:srgbClr val="FFC24B"/>
          </a:solidFill>
          <a:ln/>
        </p:spPr>
        <p:txBody>
          <a:bodyPr/>
          <a:p/>
        </p:txBody>
      </p:sp>
      <p:sp>
        <p:nvSpPr>
          <p:cNvPr id="22" name="Text 20"/>
          <p:cNvSpPr/>
          <p:nvPr/>
        </p:nvSpPr>
        <p:spPr>
          <a:xfrm>
            <a:off x="914400" y="53218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600200" y="5138928"/>
            <a:ext cx="9692640" cy="786384"/>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O măsură propusă: spuneți și cum s-ar vedea dacă a funcționat.</a:t>
            </a:r>
            <a:endParaRPr lang="en-US" sz="16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Legea nr. 544/2001 · A821, A824, A825.</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AȚI REȚINUT</a:t>
            </a:r>
            <a:endParaRPr lang="en-US" sz="1300" dirty="0"/>
          </a:p>
        </p:txBody>
      </p:sp>
      <p:sp>
        <p:nvSpPr>
          <p:cNvPr id="5" name="Text 3"/>
          <p:cNvSpPr/>
          <p:nvPr/>
        </p:nvSpPr>
        <p:spPr>
          <a:xfrm>
            <a:off x="594360" y="1097280"/>
            <a:ext cx="10972800" cy="109728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Cazul, termenele, marja de eroare: zece întrebări</a:t>
            </a:r>
            <a:endParaRPr lang="en-US" sz="34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Intrați pe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228600" tIns="0" rIns="228600" bIns="0" rtlCol="0" anchor="ctr"/>
          <a:lstStyle/>
          <a:p>
            <a:pPr algn="ctr" indent="0" marL="0">
              <a:buNone/>
            </a:pPr>
            <a:r>
              <a:rPr lang="en-US" sz="1800" dirty="0" i="1">
                <a:solidFill>
                  <a:srgbClr val="959BB0"/>
                </a:solidFill>
                <a:latin typeface="Palatino Linotype" pitchFamily="34" charset="0"/>
                <a:ea typeface="Palatino Linotype" pitchFamily="34" charset="-122"/>
                <a:cs typeface="Palatino Linotype" pitchFamily="34" charset="-120"/>
              </a:rPr>
              <a:t>Kahoot: intrați pe kahoot.it cu PIN-ul afișat pe ecran.</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Zece întrebări despre cazul spitalului, termenele cererii, căile de atac și scorurile cu marja lor de eroare.</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03520"/>
            <a:ext cx="10972800" cy="7315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Răspundeți la cod sau din linkul din chat. Luni, pe pagina cursului, veți găsi ce am modificat pe baza răspunsurilor.</a:t>
            </a:r>
            <a:endParaRPr lang="en-US" sz="1700" dirty="0"/>
          </a:p>
        </p:txBody>
      </p:sp>
      <p:pic>
        <p:nvPicPr>
          <p:cNvPr id="17" name="Picture 16" descr="Mentimeter_OPT_PLIC_C05.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549640" y="439420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5 - Publicare nu înseamnă responsabilizare</dc:title>
  <dc:subject>PptxGenJS Presentation</dc:subject>
  <dc:creator>Conf. Univ. Dr. Adrian Pana</dc:creator>
  <cp:lastModifiedBy>Conf. Univ. Dr. Adrian Pana</cp:lastModifiedBy>
  <cp:revision>1</cp:revision>
  <dcterms:created xsi:type="dcterms:W3CDTF">2026-10-25T15:03:18Z</dcterms:created>
  <dcterms:modified xsi:type="dcterms:W3CDTF">2026-10-25T15:03:18Z</dcterms:modified>
  <cp:keywords>sursa_amprenta=4bba2d37c04c5884; proiectie</cp:keywords>
</cp:coreProperties>
</file>