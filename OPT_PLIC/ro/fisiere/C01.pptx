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9"/>
    <p:sldId id="262" r:id="rId8"/>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312" r:id="rId63"/>
    <p:sldId id="290" r:id="rId36"/>
    <p:sldId id="313" r:id="rId64"/>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6.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 Id="rId63" Type="http://schemas.openxmlformats.org/officeDocument/2006/relationships/slide" Target="slides/slide35.xml"/><Relationship Id="rId6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4757"/>
                </a:solidFill>
                <a:latin typeface="Palatino Linotype" pitchFamily="34" charset="0"/>
                <a:ea typeface="Palatino Linotype" pitchFamily="34" charset="-122"/>
                <a:cs typeface="Palatino Linotype" pitchFamily="34" charset="-120"/>
              </a:rPr>
              <a:t>ȘEDINȚA 1 / 7  ·  CÂTE VIEȚI COSTĂ UN PLIC?</a:t>
            </a:r>
            <a:endParaRPr lang="en-US" sz="1100" dirty="0"/>
          </a:p>
        </p:txBody>
      </p:sp>
      <p:sp>
        <p:nvSpPr>
          <p:cNvPr id="3" name="Text 1"/>
          <p:cNvSpPr/>
          <p:nvPr/>
        </p:nvSpPr>
        <p:spPr>
          <a:xfrm>
            <a:off x="594360" y="1874520"/>
            <a:ext cx="10972800" cy="960120"/>
          </a:xfrm>
          <a:prstGeom prst="rect">
            <a:avLst/>
          </a:prstGeom>
          <a:noFill/>
          <a:ln/>
        </p:spPr>
        <p:txBody>
          <a:bodyPr wrap="square" lIns="0" tIns="0" rIns="0" bIns="0" rtlCol="0" anchor="ctr"/>
          <a:lstStyle/>
          <a:p>
            <a:pPr indent="0" marL="0">
              <a:buNone/>
            </a:pPr>
            <a:r>
              <a:rPr lang="en-US" sz="5400" b="1" dirty="0">
                <a:solidFill>
                  <a:srgbClr val="FFFFFF"/>
                </a:solidFill>
                <a:latin typeface="Palatino Linotype" pitchFamily="34" charset="0"/>
                <a:ea typeface="Palatino Linotype" pitchFamily="34" charset="-122"/>
                <a:cs typeface="Palatino Linotype" pitchFamily="34" charset="-120"/>
              </a:rPr>
              <a:t>TREI INSTRUMENTE,</a:t>
            </a:r>
            <a:endParaRPr lang="en-US" sz="5400" dirty="0"/>
          </a:p>
        </p:txBody>
      </p:sp>
      <p:sp>
        <p:nvSpPr>
          <p:cNvPr id="4" name="Text 2"/>
          <p:cNvSpPr/>
          <p:nvPr/>
        </p:nvSpPr>
        <p:spPr>
          <a:xfrm>
            <a:off x="594360" y="2788920"/>
            <a:ext cx="10972800" cy="960120"/>
          </a:xfrm>
          <a:prstGeom prst="rect">
            <a:avLst/>
          </a:prstGeom>
          <a:noFill/>
          <a:ln/>
        </p:spPr>
        <p:txBody>
          <a:bodyPr wrap="square" lIns="0" tIns="0" rIns="0" bIns="0" rtlCol="0" anchor="ctr"/>
          <a:lstStyle/>
          <a:p>
            <a:pPr indent="0" marL="0">
              <a:buNone/>
            </a:pPr>
            <a:r>
              <a:rPr lang="en-US" sz="5400" b="1" dirty="0">
                <a:solidFill>
                  <a:srgbClr val="FF4757"/>
                </a:solidFill>
                <a:latin typeface="Palatino Linotype" pitchFamily="34" charset="0"/>
                <a:ea typeface="Palatino Linotype" pitchFamily="34" charset="-122"/>
                <a:cs typeface="Palatino Linotype" pitchFamily="34" charset="-120"/>
              </a:rPr>
              <a:t>TREI CIFRE,</a:t>
            </a:r>
            <a:endParaRPr lang="en-US" sz="5400" dirty="0"/>
          </a:p>
        </p:txBody>
      </p:sp>
      <p:sp>
        <p:nvSpPr>
          <p:cNvPr id="5" name="Text 3"/>
          <p:cNvSpPr/>
          <p:nvPr/>
        </p:nvSpPr>
        <p:spPr>
          <a:xfrm>
            <a:off x="594360" y="3703320"/>
            <a:ext cx="10972800" cy="960120"/>
          </a:xfrm>
          <a:prstGeom prst="rect">
            <a:avLst/>
          </a:prstGeom>
          <a:noFill/>
          <a:ln/>
        </p:spPr>
        <p:txBody>
          <a:bodyPr wrap="square" lIns="0" tIns="0" rIns="0" bIns="0" rtlCol="0" anchor="ctr"/>
          <a:lstStyle/>
          <a:p>
            <a:pPr indent="0" marL="0">
              <a:buNone/>
            </a:pPr>
            <a:r>
              <a:rPr lang="en-US" sz="5400" b="1" dirty="0">
                <a:solidFill>
                  <a:srgbClr val="FFFFFF"/>
                </a:solidFill>
                <a:latin typeface="Palatino Linotype" pitchFamily="34" charset="0"/>
                <a:ea typeface="Palatino Linotype" pitchFamily="34" charset="-122"/>
                <a:cs typeface="Palatino Linotype" pitchFamily="34" charset="-120"/>
              </a:rPr>
              <a:t>O SINGURĂ ȚARĂ</a:t>
            </a:r>
            <a:endParaRPr lang="en-US" sz="5400" dirty="0"/>
          </a:p>
        </p:txBody>
      </p:sp>
      <p:sp>
        <p:nvSpPr>
          <p:cNvPr id="6" name="Shape 4"/>
          <p:cNvSpPr/>
          <p:nvPr/>
        </p:nvSpPr>
        <p:spPr>
          <a:xfrm>
            <a:off x="594360" y="4983480"/>
            <a:ext cx="2926080" cy="45720"/>
          </a:xfrm>
          <a:prstGeom prst="rect">
            <a:avLst/>
          </a:prstGeom>
          <a:solidFill>
            <a:srgbClr val="27D3BE"/>
          </a:solidFill>
          <a:ln w="12700">
            <a:solidFill>
              <a:srgbClr val="27D3BE"/>
            </a:solidFill>
            <a:prstDash val="solid"/>
          </a:ln>
        </p:spPr>
        <p:txBody>
          <a:bodyPr/>
          <a:p/>
        </p:txBody>
      </p:sp>
      <p:sp>
        <p:nvSpPr>
          <p:cNvPr id="7" name="Text 5"/>
          <p:cNvSpPr/>
          <p:nvPr/>
        </p:nvSpPr>
        <p:spPr>
          <a:xfrm>
            <a:off x="594360" y="5212080"/>
            <a:ext cx="10972800" cy="777240"/>
          </a:xfrm>
          <a:prstGeom prst="rect">
            <a:avLst/>
          </a:prstGeom>
          <a:noFill/>
          <a:ln/>
        </p:spPr>
        <p:txBody>
          <a:bodyPr wrap="square" lIns="0" tIns="0" rIns="0" bIns="0" rtlCol="0" anchor="t"/>
          <a:lstStyle/>
          <a:p>
            <a:pPr indent="0" marL="0">
              <a:lnSpc>
                <a:spcPts val="2100"/>
              </a:lnSpc>
              <a:buNone/>
            </a:pPr>
            <a:r>
              <a:rPr lang="en-US" sz="1300" dirty="0">
                <a:solidFill>
                  <a:srgbClr val="959BB0"/>
                </a:solidFill>
                <a:latin typeface="Palatino Linotype" pitchFamily="34" charset="0"/>
                <a:ea typeface="Palatino Linotype" pitchFamily="34" charset="-122"/>
                <a:cs typeface="Palatino Linotype" pitchFamily="34" charset="-120"/>
              </a:rPr>
              <a:t>Disciplina Sănătate Publică și Management · Conf. univ. dr. Adrian Pană</a:t>
            </a:r>
            <a:endParaRPr lang="en-US" sz="1300" dirty="0"/>
          </a:p>
          <a:p>
            <a:pPr indent="0" marL="0">
              <a:lnSpc>
                <a:spcPts val="2100"/>
              </a:lnSpc>
              <a:buNone/>
            </a:pPr>
            <a:r>
              <a:rPr lang="en-US" sz="1300" dirty="0">
                <a:solidFill>
                  <a:srgbClr val="959BB0"/>
                </a:solidFill>
                <a:latin typeface="Palatino Linotype" pitchFamily="34" charset="0"/>
                <a:ea typeface="Palatino Linotype" pitchFamily="34" charset="-122"/>
                <a:cs typeface="Palatino Linotype" pitchFamily="34" charset="-120"/>
              </a:rPr>
              <a:t>Facultatea de Medicină · UMF „Iuliu Hațieganu” Cluj-Napoca · Anul IV</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300" kern="0" dirty="0">
                <a:solidFill>
                  <a:srgbClr val="2E060B"/>
                </a:solidFill>
                <a:latin typeface="Palatino Linotype" pitchFamily="34" charset="0"/>
                <a:ea typeface="Palatino Linotype" pitchFamily="34" charset="-122"/>
                <a:cs typeface="Palatino Linotype" pitchFamily="34" charset="-120"/>
              </a:rPr>
              <a:t>CIRCULĂ ÎN PREZENTĂRI, ÎN ARTICOLE DE OPINIE, ÎN MATERIALE DE ADVOCACY</a:t>
            </a:r>
            <a:endParaRPr lang="en-US" sz="1100" dirty="0"/>
          </a:p>
        </p:txBody>
      </p:sp>
      <p:sp>
        <p:nvSpPr>
          <p:cNvPr id="3" name="Text 1"/>
          <p:cNvSpPr/>
          <p:nvPr/>
        </p:nvSpPr>
        <p:spPr>
          <a:xfrm>
            <a:off x="594360" y="1920240"/>
            <a:ext cx="10972800" cy="1920240"/>
          </a:xfrm>
          <a:prstGeom prst="rect">
            <a:avLst/>
          </a:prstGeom>
          <a:noFill/>
          <a:ln/>
        </p:spPr>
        <p:txBody>
          <a:bodyPr wrap="square" lIns="0" tIns="0" rIns="0" bIns="0" rtlCol="0" anchor="ctr"/>
          <a:lstStyle/>
          <a:p>
            <a:pPr algn="ctr" indent="0" marL="0">
              <a:buNone/>
            </a:pPr>
            <a:r>
              <a:rPr lang="en-US" sz="12800" b="1" dirty="0">
                <a:solidFill>
                  <a:srgbClr val="2E060B"/>
                </a:solidFill>
                <a:latin typeface="Palatino Linotype" pitchFamily="34" charset="0"/>
                <a:ea typeface="Palatino Linotype" pitchFamily="34" charset="-122"/>
                <a:cs typeface="Palatino Linotype" pitchFamily="34" charset="-120"/>
              </a:rPr>
              <a:t>~ jumătate</a:t>
            </a:r>
            <a:endParaRPr lang="en-US" sz="15000" dirty="0"/>
          </a:p>
        </p:txBody>
      </p:sp>
      <p:sp>
        <p:nvSpPr>
          <p:cNvPr id="4" name="Text 2"/>
          <p:cNvSpPr/>
          <p:nvPr/>
        </p:nvSpPr>
        <p:spPr>
          <a:xfrm>
            <a:off x="594360" y="3977640"/>
            <a:ext cx="10972800" cy="548640"/>
          </a:xfrm>
          <a:prstGeom prst="rect">
            <a:avLst/>
          </a:prstGeom>
          <a:noFill/>
          <a:ln/>
        </p:spPr>
        <p:txBody>
          <a:bodyPr wrap="square" lIns="0" tIns="0" rIns="0" bIns="0" rtlCol="0" anchor="ctr"/>
          <a:lstStyle/>
          <a:p>
            <a:pPr algn="ctr" indent="0" marL="0">
              <a:buNone/>
            </a:pPr>
            <a:r>
              <a:rPr lang="en-US" sz="2600" dirty="0">
                <a:solidFill>
                  <a:srgbClr val="2E060B"/>
                </a:solidFill>
                <a:latin typeface="Palatino Linotype" pitchFamily="34" charset="0"/>
                <a:ea typeface="Palatino Linotype" pitchFamily="34" charset="-122"/>
                <a:cs typeface="Palatino Linotype" pitchFamily="34" charset="-120"/>
              </a:rPr>
              <a:t>dintre pacienții români plătesc informal</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DESCHIDERE</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instrumente măsoară trei lucruri diferite</a:t>
            </a:r>
            <a:endParaRPr lang="en-US" sz="30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Aceeași țară. Niciuna dintre cele trei cifre nu o contrazice pe celelalte două.</a:t>
            </a:r>
            <a:endParaRPr lang="en-US" sz="1450" dirty="0"/>
          </a:p>
        </p:txBody>
      </p:sp>
      <p:sp>
        <p:nvSpPr>
          <p:cNvPr id="5" name="Text 3"/>
          <p:cNvSpPr/>
          <p:nvPr/>
        </p:nvSpPr>
        <p:spPr>
          <a:xfrm>
            <a:off x="594360" y="2057400"/>
            <a:ext cx="320040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INSTRUMENTUL</a:t>
            </a:r>
            <a:endParaRPr lang="en-US" sz="1050" dirty="0"/>
          </a:p>
        </p:txBody>
      </p:sp>
      <p:sp>
        <p:nvSpPr>
          <p:cNvPr id="6" name="Text 4"/>
          <p:cNvSpPr/>
          <p:nvPr/>
        </p:nvSpPr>
        <p:spPr>
          <a:xfrm>
            <a:off x="3794760" y="2057400"/>
            <a:ext cx="384048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CE MĂSOARĂ</a:t>
            </a:r>
            <a:endParaRPr lang="en-US" sz="1050" dirty="0"/>
          </a:p>
        </p:txBody>
      </p:sp>
      <p:sp>
        <p:nvSpPr>
          <p:cNvPr id="7" name="Text 5"/>
          <p:cNvSpPr/>
          <p:nvPr/>
        </p:nvSpPr>
        <p:spPr>
          <a:xfrm>
            <a:off x="7635240" y="2057400"/>
            <a:ext cx="146304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AN DE REF. / EDIȚIA</a:t>
            </a:r>
            <a:endParaRPr lang="en-US" sz="1050" dirty="0"/>
          </a:p>
        </p:txBody>
      </p:sp>
      <p:sp>
        <p:nvSpPr>
          <p:cNvPr id="8" name="Text 6"/>
          <p:cNvSpPr/>
          <p:nvPr/>
        </p:nvSpPr>
        <p:spPr>
          <a:xfrm>
            <a:off x="9098280" y="2057400"/>
            <a:ext cx="246888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VALOAREA</a:t>
            </a:r>
            <a:endParaRPr lang="en-US" sz="1050" dirty="0"/>
          </a:p>
        </p:txBody>
      </p:sp>
      <p:sp>
        <p:nvSpPr>
          <p:cNvPr id="9" name="Shape 7"/>
          <p:cNvSpPr/>
          <p:nvPr/>
        </p:nvSpPr>
        <p:spPr>
          <a:xfrm>
            <a:off x="594360" y="2459736"/>
            <a:ext cx="10972800" cy="667512"/>
          </a:xfrm>
          <a:prstGeom prst="roundRect">
            <a:avLst>
              <a:gd name="adj" fmla="val 12329"/>
            </a:avLst>
          </a:prstGeom>
          <a:solidFill>
            <a:srgbClr val="ECEAE4"/>
          </a:solidFill>
          <a:ln w="12700">
            <a:solidFill>
              <a:srgbClr val="ECEAE4"/>
            </a:solidFill>
            <a:prstDash val="solid"/>
          </a:ln>
        </p:spPr>
        <p:txBody>
          <a:bodyPr/>
          <a:p/>
        </p:txBody>
      </p:sp>
      <p:sp>
        <p:nvSpPr>
          <p:cNvPr id="10" name="Text 8"/>
          <p:cNvSpPr/>
          <p:nvPr/>
        </p:nvSpPr>
        <p:spPr>
          <a:xfrm>
            <a:off x="868680" y="2459736"/>
            <a:ext cx="2926080" cy="667512"/>
          </a:xfrm>
          <a:prstGeom prst="rect">
            <a:avLst/>
          </a:prstGeom>
          <a:noFill/>
          <a:ln/>
        </p:spPr>
        <p:txBody>
          <a:bodyPr wrap="square" lIns="0" tIns="0" rIns="0" bIns="0" rtlCol="0" anchor="ctr"/>
          <a:lstStyle/>
          <a:p>
            <a:pPr indent="0" marL="0">
              <a:lnSpc>
                <a:spcPts val="1600"/>
              </a:lnSpc>
              <a:buNone/>
            </a:pPr>
            <a:r>
              <a:rPr lang="en-US" sz="1350" b="1" dirty="0">
                <a:solidFill>
                  <a:srgbClr val="11121A"/>
                </a:solidFill>
                <a:latin typeface="Palatino Linotype" pitchFamily="34" charset="0"/>
                <a:ea typeface="Palatino Linotype" pitchFamily="34" charset="-122"/>
                <a:cs typeface="Palatino Linotype" pitchFamily="34" charset="-120"/>
              </a:rPr>
              <a:t>Indice de percepție</a:t>
            </a:r>
            <a:endParaRPr lang="en-US" sz="1350" dirty="0"/>
          </a:p>
        </p:txBody>
      </p:sp>
      <p:sp>
        <p:nvSpPr>
          <p:cNvPr id="11" name="Text 9"/>
          <p:cNvSpPr/>
          <p:nvPr/>
        </p:nvSpPr>
        <p:spPr>
          <a:xfrm>
            <a:off x="3794760" y="2459736"/>
            <a:ext cx="36576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Ce cred experții și oamenii de afaceri despre sectorul public</a:t>
            </a:r>
            <a:endParaRPr lang="en-US" sz="1350" dirty="0"/>
          </a:p>
        </p:txBody>
      </p:sp>
      <p:sp>
        <p:nvSpPr>
          <p:cNvPr id="12" name="Text 10"/>
          <p:cNvSpPr/>
          <p:nvPr/>
        </p:nvSpPr>
        <p:spPr>
          <a:xfrm>
            <a:off x="7635240" y="2459736"/>
            <a:ext cx="128016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ediția 2025</a:t>
            </a:r>
            <a:endParaRPr lang="en-US" sz="1350" dirty="0"/>
          </a:p>
        </p:txBody>
      </p:sp>
      <p:sp>
        <p:nvSpPr>
          <p:cNvPr id="13" name="Text 11"/>
          <p:cNvSpPr/>
          <p:nvPr/>
        </p:nvSpPr>
        <p:spPr>
          <a:xfrm>
            <a:off x="9098280" y="2459736"/>
            <a:ext cx="22860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45 / 100</a:t>
            </a:r>
            <a:endParaRPr lang="en-US" sz="1350" dirty="0"/>
          </a:p>
        </p:txBody>
      </p:sp>
      <p:sp>
        <p:nvSpPr>
          <p:cNvPr id="14" name="Text 12"/>
          <p:cNvSpPr/>
          <p:nvPr/>
        </p:nvSpPr>
        <p:spPr>
          <a:xfrm>
            <a:off x="868680" y="3172968"/>
            <a:ext cx="2926080" cy="667512"/>
          </a:xfrm>
          <a:prstGeom prst="rect">
            <a:avLst/>
          </a:prstGeom>
          <a:noFill/>
          <a:ln/>
        </p:spPr>
        <p:txBody>
          <a:bodyPr wrap="square" lIns="0" tIns="0" rIns="0" bIns="0" rtlCol="0" anchor="ctr"/>
          <a:lstStyle/>
          <a:p>
            <a:pPr indent="0" marL="0">
              <a:lnSpc>
                <a:spcPts val="1600"/>
              </a:lnSpc>
              <a:buNone/>
            </a:pPr>
            <a:r>
              <a:rPr lang="en-US" sz="1350" b="1" dirty="0">
                <a:solidFill>
                  <a:srgbClr val="11121A"/>
                </a:solidFill>
                <a:latin typeface="Palatino Linotype" pitchFamily="34" charset="0"/>
                <a:ea typeface="Palatino Linotype" pitchFamily="34" charset="-122"/>
                <a:cs typeface="Palatino Linotype" pitchFamily="34" charset="-120"/>
              </a:rPr>
              <a:t>Sondaj de experiență</a:t>
            </a:r>
            <a:endParaRPr lang="en-US" sz="1350" dirty="0"/>
          </a:p>
        </p:txBody>
      </p:sp>
      <p:sp>
        <p:nvSpPr>
          <p:cNvPr id="15" name="Text 13"/>
          <p:cNvSpPr/>
          <p:nvPr/>
        </p:nvSpPr>
        <p:spPr>
          <a:xfrm>
            <a:off x="3794760" y="3172968"/>
            <a:ext cx="36576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Ce a declarat pacientul că i s-a întâmplat</a:t>
            </a:r>
            <a:endParaRPr lang="en-US" sz="1350" dirty="0"/>
          </a:p>
        </p:txBody>
      </p:sp>
      <p:sp>
        <p:nvSpPr>
          <p:cNvPr id="16" name="Text 14"/>
          <p:cNvSpPr/>
          <p:nvPr/>
        </p:nvSpPr>
        <p:spPr>
          <a:xfrm>
            <a:off x="7635240" y="3172968"/>
            <a:ext cx="128016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2023</a:t>
            </a:r>
            <a:endParaRPr lang="en-US" sz="1350" dirty="0"/>
          </a:p>
        </p:txBody>
      </p:sp>
      <p:sp>
        <p:nvSpPr>
          <p:cNvPr id="17" name="Text 15"/>
          <p:cNvSpPr/>
          <p:nvPr/>
        </p:nvSpPr>
        <p:spPr>
          <a:xfrm>
            <a:off x="9098280" y="3172968"/>
            <a:ext cx="22860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se dă după vot</a:t>
            </a:r>
            <a:endParaRPr lang="en-US" sz="1350" dirty="0"/>
          </a:p>
        </p:txBody>
      </p:sp>
      <p:sp>
        <p:nvSpPr>
          <p:cNvPr id="18" name="Shape 16"/>
          <p:cNvSpPr/>
          <p:nvPr/>
        </p:nvSpPr>
        <p:spPr>
          <a:xfrm>
            <a:off x="594360" y="3886200"/>
            <a:ext cx="10972800" cy="667512"/>
          </a:xfrm>
          <a:prstGeom prst="roundRect">
            <a:avLst>
              <a:gd name="adj" fmla="val 12329"/>
            </a:avLst>
          </a:prstGeom>
          <a:solidFill>
            <a:srgbClr val="ECEAE4"/>
          </a:solidFill>
          <a:ln w="12700">
            <a:solidFill>
              <a:srgbClr val="ECEAE4"/>
            </a:solidFill>
            <a:prstDash val="solid"/>
          </a:ln>
        </p:spPr>
        <p:txBody>
          <a:bodyPr/>
          <a:p/>
        </p:txBody>
      </p:sp>
      <p:sp>
        <p:nvSpPr>
          <p:cNvPr id="19" name="Text 17"/>
          <p:cNvSpPr/>
          <p:nvPr/>
        </p:nvSpPr>
        <p:spPr>
          <a:xfrm>
            <a:off x="868680" y="3886200"/>
            <a:ext cx="2926080" cy="667512"/>
          </a:xfrm>
          <a:prstGeom prst="rect">
            <a:avLst/>
          </a:prstGeom>
          <a:noFill/>
          <a:ln/>
        </p:spPr>
        <p:txBody>
          <a:bodyPr wrap="square" lIns="0" tIns="0" rIns="0" bIns="0" rtlCol="0" anchor="ctr"/>
          <a:lstStyle/>
          <a:p>
            <a:pPr indent="0" marL="0">
              <a:lnSpc>
                <a:spcPts val="1600"/>
              </a:lnSpc>
              <a:buNone/>
            </a:pPr>
            <a:r>
              <a:rPr lang="en-US" sz="1350" b="1" dirty="0">
                <a:solidFill>
                  <a:srgbClr val="11121A"/>
                </a:solidFill>
                <a:latin typeface="Palatino Linotype" pitchFamily="34" charset="0"/>
                <a:ea typeface="Palatino Linotype" pitchFamily="34" charset="-122"/>
                <a:cs typeface="Palatino Linotype" pitchFamily="34" charset="-120"/>
              </a:rPr>
              <a:t>Date administrative</a:t>
            </a:r>
            <a:endParaRPr lang="en-US" sz="1350" dirty="0"/>
          </a:p>
        </p:txBody>
      </p:sp>
      <p:sp>
        <p:nvSpPr>
          <p:cNvPr id="20" name="Text 18"/>
          <p:cNvSpPr/>
          <p:nvPr/>
        </p:nvSpPr>
        <p:spPr>
          <a:xfrm>
            <a:off x="3794760" y="3886200"/>
            <a:ext cx="36576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Solicitări raportate prin canal de feedback</a:t>
            </a:r>
            <a:endParaRPr lang="en-US" sz="1350" dirty="0"/>
          </a:p>
        </p:txBody>
      </p:sp>
      <p:sp>
        <p:nvSpPr>
          <p:cNvPr id="21" name="Text 19"/>
          <p:cNvSpPr/>
          <p:nvPr/>
        </p:nvSpPr>
        <p:spPr>
          <a:xfrm>
            <a:off x="7635240" y="3886200"/>
            <a:ext cx="128016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2017–2021</a:t>
            </a:r>
            <a:endParaRPr lang="en-US" sz="1350" dirty="0"/>
          </a:p>
        </p:txBody>
      </p:sp>
      <p:sp>
        <p:nvSpPr>
          <p:cNvPr id="22" name="Text 20"/>
          <p:cNvSpPr/>
          <p:nvPr/>
        </p:nvSpPr>
        <p:spPr>
          <a:xfrm>
            <a:off x="9098280" y="3886200"/>
            <a:ext cx="22860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3,2%</a:t>
            </a:r>
            <a:endParaRPr lang="en-US" sz="1350" dirty="0"/>
          </a:p>
        </p:txBody>
      </p:sp>
      <p:sp>
        <p:nvSpPr>
          <p:cNvPr id="23" name="Shape 21"/>
          <p:cNvSpPr/>
          <p:nvPr/>
        </p:nvSpPr>
        <p:spPr>
          <a:xfrm>
            <a:off x="594360" y="4782312"/>
            <a:ext cx="10972800" cy="960120"/>
          </a:xfrm>
          <a:prstGeom prst="roundRect">
            <a:avLst>
              <a:gd name="adj" fmla="val 8571"/>
            </a:avLst>
          </a:prstGeom>
          <a:solidFill>
            <a:srgbClr val="ECEAE4"/>
          </a:solidFill>
          <a:ln w="12700">
            <a:solidFill>
              <a:srgbClr val="ECEAE4"/>
            </a:solidFill>
            <a:prstDash val="solid"/>
          </a:ln>
        </p:spPr>
        <p:txBody>
          <a:bodyPr/>
          <a:p/>
        </p:txBody>
      </p:sp>
      <p:sp>
        <p:nvSpPr>
          <p:cNvPr id="24" name="Text 22"/>
          <p:cNvSpPr/>
          <p:nvPr/>
        </p:nvSpPr>
        <p:spPr>
          <a:xfrm>
            <a:off x="868680" y="4910328"/>
            <a:ext cx="10424160" cy="731520"/>
          </a:xfrm>
          <a:prstGeom prst="rect">
            <a:avLst/>
          </a:prstGeom>
          <a:noFill/>
          <a:ln/>
        </p:spPr>
        <p:txBody>
          <a:bodyPr wrap="square" lIns="0" tIns="0" rIns="0" bIns="0" rtlCol="0" anchor="t"/>
          <a:lstStyle/>
          <a:p>
            <a:pPr algn="l" indent="0" marL="0">
              <a:lnSpc>
                <a:spcPts val="1900"/>
              </a:lnSpc>
              <a:buNone/>
            </a:pPr>
            <a:r>
              <a:rPr lang="en-US" sz="1400" b="1" dirty="0">
                <a:solidFill>
                  <a:srgbClr val="B02532"/>
                </a:solidFill>
                <a:latin typeface="Palatino Linotype" pitchFamily="34" charset="0"/>
                <a:ea typeface="Palatino Linotype" pitchFamily="34" charset="-122"/>
                <a:cs typeface="Palatino Linotype" pitchFamily="34" charset="-120"/>
              </a:rPr>
              <a:t>Cifra de „jumătate”, în această formă, nu apare în niciunul dintre cele trei instrumente. Candidatele ei descriu anii 2008–2013 și nu converg.</a:t>
            </a:r>
            <a:endParaRPr lang="en-US" sz="1400" dirty="0"/>
          </a:p>
        </p:txBody>
      </p:sp>
      <p:sp>
        <p:nvSpPr>
          <p:cNvPr id="25" name="Text 23"/>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Transparency International, CPI 2025 · Special Eurobarometer 534 (teren 2023) · Mosca et al., Journal of Medicine and Life, 2023, doi:10.25122/jml-2023-0080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27D3BE"/>
                </a:solidFill>
                <a:latin typeface="Palatino Linotype" pitchFamily="34" charset="0"/>
                <a:ea typeface="Palatino Linotype" pitchFamily="34" charset="-122"/>
                <a:cs typeface="Palatino Linotype" pitchFamily="34" charset="-120"/>
              </a:rPr>
              <a:t>TEZA ȘEDINȚEI</a:t>
            </a:r>
            <a:endParaRPr lang="en-US" sz="1100" dirty="0"/>
          </a:p>
        </p:txBody>
      </p:sp>
      <p:sp>
        <p:nvSpPr>
          <p:cNvPr id="3" name="Text 1"/>
          <p:cNvSpPr/>
          <p:nvPr/>
        </p:nvSpPr>
        <p:spPr>
          <a:xfrm>
            <a:off x="594360" y="1051560"/>
            <a:ext cx="10972800" cy="658368"/>
          </a:xfrm>
          <a:prstGeom prst="rect">
            <a:avLst/>
          </a:prstGeom>
          <a:noFill/>
          <a:ln/>
        </p:spPr>
        <p:txBody>
          <a:bodyPr wrap="square" lIns="0" tIns="0" rIns="0" bIns="0" rtlCol="0" anchor="ctr"/>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Corupția în sănătate nu este o cantitate.</a:t>
            </a:r>
            <a:endParaRPr lang="en-US" sz="3100" dirty="0"/>
          </a:p>
        </p:txBody>
      </p:sp>
      <p:sp>
        <p:nvSpPr>
          <p:cNvPr id="4" name="Text 2"/>
          <p:cNvSpPr/>
          <p:nvPr/>
        </p:nvSpPr>
        <p:spPr>
          <a:xfrm>
            <a:off x="594360" y="1755648"/>
            <a:ext cx="10972800" cy="658368"/>
          </a:xfrm>
          <a:prstGeom prst="rect">
            <a:avLst/>
          </a:prstGeom>
          <a:noFill/>
          <a:ln/>
        </p:spPr>
        <p:txBody>
          <a:bodyPr wrap="square" lIns="0" tIns="0" rIns="0" bIns="0" rtlCol="0" anchor="ctr"/>
          <a:lstStyle/>
          <a:p>
            <a:pPr indent="0" marL="0">
              <a:buNone/>
            </a:pPr>
            <a:r>
              <a:rPr lang="en-US" sz="2200" dirty="0">
                <a:solidFill>
                  <a:srgbClr val="27D3BE"/>
                </a:solidFill>
                <a:latin typeface="Palatino Linotype" pitchFamily="34" charset="0"/>
                <a:ea typeface="Palatino Linotype" pitchFamily="34" charset="-122"/>
                <a:cs typeface="Palatino Linotype" pitchFamily="34" charset="-120"/>
              </a:rPr>
              <a:t>Este o familie de fenomene, măsurată cu instrumente care nu comunică între ele.</a:t>
            </a:r>
            <a:endParaRPr lang="en-US" sz="2200" dirty="0"/>
          </a:p>
        </p:txBody>
      </p:sp>
      <p:sp>
        <p:nvSpPr>
          <p:cNvPr id="5" name="Text 3"/>
          <p:cNvSpPr/>
          <p:nvPr/>
        </p:nvSpPr>
        <p:spPr>
          <a:xfrm>
            <a:off x="594360" y="2788920"/>
            <a:ext cx="10972800" cy="274320"/>
          </a:xfrm>
          <a:prstGeom prst="rect">
            <a:avLst/>
          </a:prstGeom>
          <a:noFill/>
          <a:ln/>
        </p:spPr>
        <p:txBody>
          <a:bodyPr wrap="square" lIns="0" tIns="0" rIns="0" bIns="0" rtlCol="0" anchor="t"/>
          <a:lstStyle/>
          <a:p>
            <a:pPr algn="l" indent="0" marL="0">
              <a:lnSpc>
                <a:spcPts val="1800"/>
              </a:lnSpc>
              <a:buNone/>
            </a:pPr>
            <a:r>
              <a:rPr lang="en-US" sz="1050" b="1" spc="200" kern="0" dirty="0">
                <a:solidFill>
                  <a:srgbClr val="959BB0"/>
                </a:solidFill>
                <a:latin typeface="Palatino Linotype" pitchFamily="34" charset="0"/>
                <a:ea typeface="Palatino Linotype" pitchFamily="34" charset="-122"/>
                <a:cs typeface="Palatino Linotype" pitchFamily="34" charset="-120"/>
              </a:rPr>
              <a:t>CE VĂ PROMIT SĂ ARĂT ÎN URMĂTOARELE DOUĂ ORE</a:t>
            </a:r>
            <a:endParaRPr lang="en-US" sz="1050" dirty="0"/>
          </a:p>
        </p:txBody>
      </p:sp>
      <p:sp>
        <p:nvSpPr>
          <p:cNvPr id="6" name="Text 4"/>
          <p:cNvSpPr/>
          <p:nvPr/>
        </p:nvSpPr>
        <p:spPr>
          <a:xfrm>
            <a:off x="594360" y="3154680"/>
            <a:ext cx="512064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PROMISIUNEA</a:t>
            </a:r>
            <a:endParaRPr lang="en-US" sz="1050" dirty="0"/>
          </a:p>
        </p:txBody>
      </p:sp>
      <p:sp>
        <p:nvSpPr>
          <p:cNvPr id="7" name="Text 5"/>
          <p:cNvSpPr/>
          <p:nvPr/>
        </p:nvSpPr>
        <p:spPr>
          <a:xfrm>
            <a:off x="5715000" y="3154680"/>
            <a:ext cx="585216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UNDE SE ARATĂ</a:t>
            </a:r>
            <a:endParaRPr lang="en-US" sz="1050" dirty="0"/>
          </a:p>
        </p:txBody>
      </p:sp>
      <p:sp>
        <p:nvSpPr>
          <p:cNvPr id="8" name="Shape 6"/>
          <p:cNvSpPr/>
          <p:nvPr/>
        </p:nvSpPr>
        <p:spPr>
          <a:xfrm>
            <a:off x="594360" y="3557016"/>
            <a:ext cx="10972800" cy="594360"/>
          </a:xfrm>
          <a:prstGeom prst="roundRect">
            <a:avLst>
              <a:gd name="adj" fmla="val 13846"/>
            </a:avLst>
          </a:prstGeom>
          <a:solidFill>
            <a:srgbClr val="1D1F2B"/>
          </a:solidFill>
          <a:ln w="12700">
            <a:solidFill>
              <a:srgbClr val="1D1F2B"/>
            </a:solidFill>
            <a:prstDash val="solid"/>
          </a:ln>
        </p:spPr>
        <p:txBody>
          <a:bodyPr/>
          <a:p/>
        </p:txBody>
      </p:sp>
      <p:sp>
        <p:nvSpPr>
          <p:cNvPr id="9" name="Text 7"/>
          <p:cNvSpPr/>
          <p:nvPr/>
        </p:nvSpPr>
        <p:spPr>
          <a:xfrm>
            <a:off x="868680" y="3557016"/>
            <a:ext cx="4846320" cy="594360"/>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Palatino Linotype" pitchFamily="34" charset="0"/>
                <a:ea typeface="Palatino Linotype" pitchFamily="34" charset="-122"/>
                <a:cs typeface="Palatino Linotype" pitchFamily="34" charset="-120"/>
              </a:rPr>
              <a:t>Cele trei cifre nu se contrazic</a:t>
            </a:r>
            <a:endParaRPr lang="en-US" sz="1400" dirty="0"/>
          </a:p>
        </p:txBody>
      </p:sp>
      <p:sp>
        <p:nvSpPr>
          <p:cNvPr id="10" name="Text 8"/>
          <p:cNvSpPr/>
          <p:nvPr/>
        </p:nvSpPr>
        <p:spPr>
          <a:xfrm>
            <a:off x="5715000" y="3557016"/>
            <a:ext cx="5669280" cy="594360"/>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Părțile 1a și 1b</a:t>
            </a:r>
            <a:endParaRPr lang="en-US" sz="1400" dirty="0"/>
          </a:p>
        </p:txBody>
      </p:sp>
      <p:sp>
        <p:nvSpPr>
          <p:cNvPr id="11" name="Text 9"/>
          <p:cNvSpPr/>
          <p:nvPr/>
        </p:nvSpPr>
        <p:spPr>
          <a:xfrm>
            <a:off x="868680" y="4197096"/>
            <a:ext cx="4846320" cy="594360"/>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Palatino Linotype" pitchFamily="34" charset="0"/>
                <a:ea typeface="Palatino Linotype" pitchFamily="34" charset="-122"/>
                <a:cs typeface="Palatino Linotype" pitchFamily="34" charset="-120"/>
              </a:rPr>
              <a:t>Un procent fără numitor nu este informație</a:t>
            </a:r>
            <a:endParaRPr lang="en-US" sz="1400" dirty="0"/>
          </a:p>
        </p:txBody>
      </p:sp>
      <p:sp>
        <p:nvSpPr>
          <p:cNvPr id="12" name="Text 10"/>
          <p:cNvSpPr/>
          <p:nvPr/>
        </p:nvSpPr>
        <p:spPr>
          <a:xfrm>
            <a:off x="5715000" y="4197096"/>
            <a:ext cx="5669280" cy="594360"/>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Noțiunea 2, „11% sau 16%?” și Capcana 1</a:t>
            </a:r>
            <a:endParaRPr lang="en-US" sz="1400" dirty="0"/>
          </a:p>
        </p:txBody>
      </p:sp>
      <p:sp>
        <p:nvSpPr>
          <p:cNvPr id="13" name="Shape 11"/>
          <p:cNvSpPr/>
          <p:nvPr/>
        </p:nvSpPr>
        <p:spPr>
          <a:xfrm>
            <a:off x="594360" y="4837176"/>
            <a:ext cx="10972800" cy="594360"/>
          </a:xfrm>
          <a:prstGeom prst="roundRect">
            <a:avLst>
              <a:gd name="adj" fmla="val 13846"/>
            </a:avLst>
          </a:prstGeom>
          <a:solidFill>
            <a:srgbClr val="1D1F2B"/>
          </a:solidFill>
          <a:ln w="12700">
            <a:solidFill>
              <a:srgbClr val="1D1F2B"/>
            </a:solidFill>
            <a:prstDash val="solid"/>
          </a:ln>
        </p:spPr>
        <p:txBody>
          <a:bodyPr/>
          <a:p/>
        </p:txBody>
      </p:sp>
      <p:sp>
        <p:nvSpPr>
          <p:cNvPr id="14" name="Text 12"/>
          <p:cNvSpPr/>
          <p:nvPr/>
        </p:nvSpPr>
        <p:spPr>
          <a:xfrm>
            <a:off x="868680" y="4837176"/>
            <a:ext cx="4846320" cy="594360"/>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Palatino Linotype" pitchFamily="34" charset="0"/>
                <a:ea typeface="Palatino Linotype" pitchFamily="34" charset="-122"/>
                <a:cs typeface="Palatino Linotype" pitchFamily="34" charset="-120"/>
              </a:rPr>
              <a:t>O cifră poate induce în eroare fără să fie falsă</a:t>
            </a:r>
            <a:endParaRPr lang="en-US" sz="1400" dirty="0"/>
          </a:p>
        </p:txBody>
      </p:sp>
      <p:sp>
        <p:nvSpPr>
          <p:cNvPr id="15" name="Text 13"/>
          <p:cNvSpPr/>
          <p:nvPr/>
        </p:nvSpPr>
        <p:spPr>
          <a:xfrm>
            <a:off x="5715000" y="4837176"/>
            <a:ext cx="5669280" cy="594360"/>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Capcana 1, la persoana întâi</a:t>
            </a:r>
            <a:endParaRPr lang="en-US" sz="1400" dirty="0"/>
          </a:p>
        </p:txBody>
      </p:sp>
      <p:sp>
        <p:nvSpPr>
          <p:cNvPr id="16" name="Text 14"/>
          <p:cNvSpPr/>
          <p:nvPr/>
        </p:nvSpPr>
        <p:spPr>
          <a:xfrm>
            <a:off x="868680" y="5477256"/>
            <a:ext cx="4846320" cy="594360"/>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Palatino Linotype" pitchFamily="34" charset="0"/>
                <a:ea typeface="Palatino Linotype" pitchFamily="34" charset="-122"/>
                <a:cs typeface="Palatino Linotype" pitchFamily="34" charset="-120"/>
              </a:rPr>
              <a:t>Nu veți primi numărul din titlu</a:t>
            </a:r>
            <a:endParaRPr lang="en-US" sz="1400" dirty="0"/>
          </a:p>
        </p:txBody>
      </p:sp>
      <p:sp>
        <p:nvSpPr>
          <p:cNvPr id="17" name="Text 15"/>
          <p:cNvSpPr/>
          <p:nvPr/>
        </p:nvSpPr>
        <p:spPr>
          <a:xfrm>
            <a:off x="5715000" y="5477256"/>
            <a:ext cx="5669280" cy="594360"/>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Sinteza, la finalul ședinței</a:t>
            </a:r>
            <a:endParaRPr lang="en-US" sz="1400" dirty="0"/>
          </a:p>
        </p:txBody>
      </p:sp>
      <p:sp>
        <p:nvSpPr>
          <p:cNvPr id="18" name="Text 16"/>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Teza se reia, completată, la finalul ședinței.</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4A2D8C"/>
                </a:solidFill>
                <a:latin typeface="Palatino Linotype" pitchFamily="34" charset="0"/>
                <a:ea typeface="Palatino Linotype" pitchFamily="34" charset="-122"/>
                <a:cs typeface="Palatino Linotype" pitchFamily="34" charset="-120"/>
              </a:rPr>
              <a:t>REGULILE SĂLII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Patru reguli, valabile în toate cele șapte ședințe</a:t>
            </a:r>
            <a:endParaRPr lang="en-US" sz="2900" dirty="0"/>
          </a:p>
        </p:txBody>
      </p:sp>
      <p:sp>
        <p:nvSpPr>
          <p:cNvPr id="4" name="Shape 2"/>
          <p:cNvSpPr/>
          <p:nvPr/>
        </p:nvSpPr>
        <p:spPr>
          <a:xfrm>
            <a:off x="594360" y="164592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5" name="Shape 3"/>
          <p:cNvSpPr/>
          <p:nvPr/>
        </p:nvSpPr>
        <p:spPr>
          <a:xfrm>
            <a:off x="868680" y="1920240"/>
            <a:ext cx="420624" cy="420624"/>
          </a:xfrm>
          <a:prstGeom prst="ellipse">
            <a:avLst/>
          </a:prstGeom>
          <a:solidFill>
            <a:srgbClr val="4A2D8C"/>
          </a:solidFill>
          <a:ln w="12700">
            <a:solidFill>
              <a:srgbClr val="4A2D8C"/>
            </a:solidFill>
            <a:prstDash val="solid"/>
          </a:ln>
        </p:spPr>
        <p:txBody>
          <a:bodyPr/>
          <a:p/>
        </p:txBody>
      </p:sp>
      <p:sp>
        <p:nvSpPr>
          <p:cNvPr id="6" name="Text 4"/>
          <p:cNvSpPr/>
          <p:nvPr/>
        </p:nvSpPr>
        <p:spPr>
          <a:xfrm>
            <a:off x="868680" y="1920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a:t>
            </a:r>
            <a:endParaRPr lang="en-US" sz="1500" dirty="0"/>
          </a:p>
        </p:txBody>
      </p:sp>
      <p:sp>
        <p:nvSpPr>
          <p:cNvPr id="7" name="Text 5"/>
          <p:cNvSpPr/>
          <p:nvPr/>
        </p:nvSpPr>
        <p:spPr>
          <a:xfrm>
            <a:off x="1463040" y="1865376"/>
            <a:ext cx="9784080" cy="594360"/>
          </a:xfrm>
          <a:prstGeom prst="rect">
            <a:avLst/>
          </a:prstGeom>
          <a:noFill/>
          <a:ln/>
        </p:spPr>
        <p:txBody>
          <a:bodyPr wrap="square" lIns="0" tIns="0" rIns="0" bIns="0" rtlCol="0" anchor="t"/>
          <a:lstStyle/>
          <a:p>
            <a:pPr algn="l" indent="0" marL="0">
              <a:lnSpc>
                <a:spcPts val="2000"/>
              </a:lnSpc>
              <a:buNone/>
            </a:pPr>
            <a:r>
              <a:rPr lang="en-US" sz="1500" dirty="0">
                <a:solidFill>
                  <a:srgbClr val="11121A"/>
                </a:solidFill>
                <a:latin typeface="Palatino Linotype" pitchFamily="34" charset="0"/>
                <a:ea typeface="Palatino Linotype" pitchFamily="34" charset="-122"/>
                <a:cs typeface="Palatino Linotype" pitchFamily="34" charset="-120"/>
              </a:rPr>
              <a:t>Nimeni nu raportează despre sine. Nici anonim, nici prin ridicare de mână.</a:t>
            </a:r>
            <a:endParaRPr lang="en-US" sz="1500" dirty="0"/>
          </a:p>
        </p:txBody>
      </p:sp>
      <p:sp>
        <p:nvSpPr>
          <p:cNvPr id="8" name="Shape 6"/>
          <p:cNvSpPr/>
          <p:nvPr/>
        </p:nvSpPr>
        <p:spPr>
          <a:xfrm>
            <a:off x="594360" y="274320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9" name="Shape 7"/>
          <p:cNvSpPr/>
          <p:nvPr/>
        </p:nvSpPr>
        <p:spPr>
          <a:xfrm>
            <a:off x="868680" y="3017520"/>
            <a:ext cx="420624" cy="420624"/>
          </a:xfrm>
          <a:prstGeom prst="ellipse">
            <a:avLst/>
          </a:prstGeom>
          <a:solidFill>
            <a:srgbClr val="4A2D8C"/>
          </a:solidFill>
          <a:ln w="12700">
            <a:solidFill>
              <a:srgbClr val="4A2D8C"/>
            </a:solidFill>
            <a:prstDash val="solid"/>
          </a:ln>
        </p:spPr>
        <p:txBody>
          <a:bodyPr/>
          <a:p/>
        </p:txBody>
      </p:sp>
      <p:sp>
        <p:nvSpPr>
          <p:cNvPr id="10" name="Text 8"/>
          <p:cNvSpPr/>
          <p:nvPr/>
        </p:nvSpPr>
        <p:spPr>
          <a:xfrm>
            <a:off x="868680" y="3017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2</a:t>
            </a:r>
            <a:endParaRPr lang="en-US" sz="1500" dirty="0"/>
          </a:p>
        </p:txBody>
      </p:sp>
      <p:sp>
        <p:nvSpPr>
          <p:cNvPr id="11" name="Text 9"/>
          <p:cNvSpPr/>
          <p:nvPr/>
        </p:nvSpPr>
        <p:spPr>
          <a:xfrm>
            <a:off x="1463040" y="2962656"/>
            <a:ext cx="9784080" cy="594360"/>
          </a:xfrm>
          <a:prstGeom prst="rect">
            <a:avLst/>
          </a:prstGeom>
          <a:noFill/>
          <a:ln/>
        </p:spPr>
        <p:txBody>
          <a:bodyPr wrap="square" lIns="0" tIns="0" rIns="0" bIns="0" rtlCol="0" anchor="t"/>
          <a:lstStyle/>
          <a:p>
            <a:pPr algn="l" indent="0" marL="0">
              <a:lnSpc>
                <a:spcPts val="2000"/>
              </a:lnSpc>
              <a:buNone/>
            </a:pPr>
            <a:r>
              <a:rPr lang="en-US" sz="1500" dirty="0">
                <a:solidFill>
                  <a:srgbClr val="11121A"/>
                </a:solidFill>
                <a:latin typeface="Palatino Linotype" pitchFamily="34" charset="0"/>
                <a:ea typeface="Palatino Linotype" pitchFamily="34" charset="-122"/>
                <a:cs typeface="Palatino Linotype" pitchFamily="34" charset="-120"/>
              </a:rPr>
              <a:t>Fiecare cifră are afișat instrumentul, populația și anul de referință.</a:t>
            </a:r>
            <a:endParaRPr lang="en-US" sz="1500" dirty="0"/>
          </a:p>
        </p:txBody>
      </p:sp>
      <p:sp>
        <p:nvSpPr>
          <p:cNvPr id="12" name="Shape 10"/>
          <p:cNvSpPr/>
          <p:nvPr/>
        </p:nvSpPr>
        <p:spPr>
          <a:xfrm>
            <a:off x="594360" y="384048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13" name="Shape 11"/>
          <p:cNvSpPr/>
          <p:nvPr/>
        </p:nvSpPr>
        <p:spPr>
          <a:xfrm>
            <a:off x="868680" y="4114800"/>
            <a:ext cx="420624" cy="420624"/>
          </a:xfrm>
          <a:prstGeom prst="ellipse">
            <a:avLst/>
          </a:prstGeom>
          <a:solidFill>
            <a:srgbClr val="4A2D8C"/>
          </a:solidFill>
          <a:ln w="12700">
            <a:solidFill>
              <a:srgbClr val="4A2D8C"/>
            </a:solidFill>
            <a:prstDash val="solid"/>
          </a:ln>
        </p:spPr>
        <p:txBody>
          <a:bodyPr/>
          <a:p/>
        </p:txBody>
      </p:sp>
      <p:sp>
        <p:nvSpPr>
          <p:cNvPr id="14" name="Text 12"/>
          <p:cNvSpPr/>
          <p:nvPr/>
        </p:nvSpPr>
        <p:spPr>
          <a:xfrm>
            <a:off x="868680" y="4114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3</a:t>
            </a:r>
            <a:endParaRPr lang="en-US" sz="1500" dirty="0"/>
          </a:p>
        </p:txBody>
      </p:sp>
      <p:sp>
        <p:nvSpPr>
          <p:cNvPr id="15" name="Text 13"/>
          <p:cNvSpPr/>
          <p:nvPr/>
        </p:nvSpPr>
        <p:spPr>
          <a:xfrm>
            <a:off x="1463040" y="4059936"/>
            <a:ext cx="9784080" cy="594360"/>
          </a:xfrm>
          <a:prstGeom prst="rect">
            <a:avLst/>
          </a:prstGeom>
          <a:noFill/>
          <a:ln/>
        </p:spPr>
        <p:txBody>
          <a:bodyPr wrap="square" lIns="0" tIns="0" rIns="0" bIns="0" rtlCol="0" anchor="t"/>
          <a:lstStyle/>
          <a:p>
            <a:pPr algn="l" indent="0" marL="0">
              <a:lnSpc>
                <a:spcPts val="2000"/>
              </a:lnSpc>
              <a:buNone/>
            </a:pPr>
            <a:r>
              <a:rPr lang="en-US" sz="1500" dirty="0">
                <a:solidFill>
                  <a:srgbClr val="11121A"/>
                </a:solidFill>
                <a:latin typeface="Palatino Linotype" pitchFamily="34" charset="0"/>
                <a:ea typeface="Palatino Linotype" pitchFamily="34" charset="-122"/>
                <a:cs typeface="Palatino Linotype" pitchFamily="34" charset="-120"/>
              </a:rPr>
              <a:t>Fișa de resurse și de metodă a fost distribuită la intrare. Este pe masa dumneavoastră.</a:t>
            </a:r>
            <a:endParaRPr lang="en-US" sz="1500" dirty="0"/>
          </a:p>
        </p:txBody>
      </p:sp>
      <p:sp>
        <p:nvSpPr>
          <p:cNvPr id="16" name="Shape 14"/>
          <p:cNvSpPr/>
          <p:nvPr/>
        </p:nvSpPr>
        <p:spPr>
          <a:xfrm>
            <a:off x="594360" y="493776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17" name="Shape 15"/>
          <p:cNvSpPr/>
          <p:nvPr/>
        </p:nvSpPr>
        <p:spPr>
          <a:xfrm>
            <a:off x="868680" y="5212080"/>
            <a:ext cx="420624" cy="420624"/>
          </a:xfrm>
          <a:prstGeom prst="ellipse">
            <a:avLst/>
          </a:prstGeom>
          <a:solidFill>
            <a:srgbClr val="4A2D8C"/>
          </a:solidFill>
          <a:ln w="12700">
            <a:solidFill>
              <a:srgbClr val="4A2D8C"/>
            </a:solidFill>
            <a:prstDash val="solid"/>
          </a:ln>
        </p:spPr>
        <p:txBody>
          <a:bodyPr/>
          <a:p/>
        </p:txBody>
      </p:sp>
      <p:sp>
        <p:nvSpPr>
          <p:cNvPr id="18" name="Text 16"/>
          <p:cNvSpPr/>
          <p:nvPr/>
        </p:nvSpPr>
        <p:spPr>
          <a:xfrm>
            <a:off x="868680" y="52120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4</a:t>
            </a:r>
            <a:endParaRPr lang="en-US" sz="1500" dirty="0"/>
          </a:p>
        </p:txBody>
      </p:sp>
      <p:sp>
        <p:nvSpPr>
          <p:cNvPr id="19" name="Text 17"/>
          <p:cNvSpPr/>
          <p:nvPr/>
        </p:nvSpPr>
        <p:spPr>
          <a:xfrm>
            <a:off x="1463040" y="5157216"/>
            <a:ext cx="9784080" cy="594360"/>
          </a:xfrm>
          <a:prstGeom prst="rect">
            <a:avLst/>
          </a:prstGeom>
          <a:noFill/>
          <a:ln/>
        </p:spPr>
        <p:txBody>
          <a:bodyPr wrap="square" lIns="0" tIns="0" rIns="0" bIns="0" rtlCol="0" anchor="t"/>
          <a:lstStyle/>
          <a:p>
            <a:pPr algn="l" indent="0" marL="0">
              <a:lnSpc>
                <a:spcPts val="2000"/>
              </a:lnSpc>
              <a:buNone/>
            </a:pPr>
            <a:r>
              <a:rPr lang="en-US" sz="1500" dirty="0">
                <a:solidFill>
                  <a:srgbClr val="11121A"/>
                </a:solidFill>
                <a:latin typeface="Palatino Linotype" pitchFamily="34" charset="0"/>
                <a:ea typeface="Palatino Linotype" pitchFamily="34" charset="-122"/>
                <a:cs typeface="Palatino Linotype" pitchFamily="34" charset="-120"/>
              </a:rPr>
              <a:t>Ce nu am putut verifica este declarat: „date indisponibile”. Nu există cifre plauzibile.</a:t>
            </a:r>
            <a:endParaRPr lang="en-US" sz="1500" dirty="0"/>
          </a:p>
        </p:txBody>
      </p:sp>
      <p:sp>
        <p:nvSpPr>
          <p:cNvPr id="20" name="Text 18"/>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Regula 1 se enunță verbatim și în ședința a șasea.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C24B"/>
                </a:solidFill>
                <a:latin typeface="Palatino Linotype" pitchFamily="34" charset="0"/>
                <a:ea typeface="Palatino Linotype" pitchFamily="34" charset="-122"/>
                <a:cs typeface="Palatino Linotype" pitchFamily="34" charset="-120"/>
              </a:rPr>
              <a:t>CE SE ÎNTÂMPLĂ ASTĂZI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Două ore, două părți</a:t>
            </a:r>
            <a:endParaRPr lang="en-US" sz="3000" dirty="0"/>
          </a:p>
        </p:txBody>
      </p:sp>
      <p:sp>
        <p:nvSpPr>
          <p:cNvPr id="4" name="Shape 2"/>
          <p:cNvSpPr/>
          <p:nvPr/>
        </p:nvSpPr>
        <p:spPr>
          <a:xfrm>
            <a:off x="594360" y="1600200"/>
            <a:ext cx="5349240" cy="4160520"/>
          </a:xfrm>
          <a:prstGeom prst="roundRect">
            <a:avLst>
              <a:gd name="adj" fmla="val 1978"/>
            </a:avLst>
          </a:prstGeom>
          <a:solidFill>
            <a:srgbClr val="1D1F2B"/>
          </a:solidFill>
          <a:ln w="12700">
            <a:solidFill>
              <a:srgbClr val="1D1F2B"/>
            </a:solidFill>
            <a:prstDash val="solid"/>
          </a:ln>
        </p:spPr>
        <p:txBody>
          <a:bodyPr/>
          <a:p/>
        </p:txBody>
      </p:sp>
      <p:sp>
        <p:nvSpPr>
          <p:cNvPr id="5" name="Shape 3"/>
          <p:cNvSpPr/>
          <p:nvPr/>
        </p:nvSpPr>
        <p:spPr>
          <a:xfrm>
            <a:off x="868680" y="1810512"/>
            <a:ext cx="2286000" cy="310896"/>
          </a:xfrm>
          <a:prstGeom prst="roundRect">
            <a:avLst>
              <a:gd name="adj" fmla="val 50000"/>
            </a:avLst>
          </a:prstGeom>
          <a:solidFill>
            <a:srgbClr val="FFC24B"/>
          </a:solidFill>
          <a:ln w="12700">
            <a:solidFill>
              <a:srgbClr val="FFC24B"/>
            </a:solidFill>
            <a:prstDash val="solid"/>
          </a:ln>
        </p:spPr>
        <p:txBody>
          <a:bodyPr/>
          <a:p/>
        </p:txBody>
      </p:sp>
      <p:sp>
        <p:nvSpPr>
          <p:cNvPr id="6" name="Text 4"/>
          <p:cNvSpPr/>
          <p:nvPr/>
        </p:nvSpPr>
        <p:spPr>
          <a:xfrm>
            <a:off x="868680" y="1810512"/>
            <a:ext cx="2286000" cy="310896"/>
          </a:xfrm>
          <a:prstGeom prst="rect">
            <a:avLst/>
          </a:prstGeom>
          <a:noFill/>
          <a:ln/>
        </p:spPr>
        <p:txBody>
          <a:bodyPr wrap="square" lIns="0" tIns="0" rIns="0" bIns="0" rtlCol="0" anchor="ctr"/>
          <a:lstStyle/>
          <a:p>
            <a:pPr algn="ctr" indent="0" marL="0">
              <a:buNone/>
            </a:pPr>
            <a:r>
              <a:rPr lang="en-US" sz="1000" b="1" dirty="0">
                <a:solidFill>
                  <a:srgbClr val="3D2A00"/>
                </a:solidFill>
                <a:latin typeface="Palatino Linotype" pitchFamily="34" charset="0"/>
                <a:ea typeface="Palatino Linotype" pitchFamily="34" charset="-122"/>
                <a:cs typeface="Palatino Linotype" pitchFamily="34" charset="-120"/>
              </a:rPr>
              <a:t>ORA 1 · MĂSURAREA</a:t>
            </a:r>
            <a:endParaRPr lang="en-US" sz="1000" dirty="0"/>
          </a:p>
        </p:txBody>
      </p:sp>
      <p:sp>
        <p:nvSpPr>
          <p:cNvPr id="7" name="Text 5"/>
          <p:cNvSpPr/>
          <p:nvPr/>
        </p:nvSpPr>
        <p:spPr>
          <a:xfrm>
            <a:off x="914400" y="2331720"/>
            <a:ext cx="4709160" cy="3246120"/>
          </a:xfrm>
          <a:prstGeom prst="rect">
            <a:avLst/>
          </a:prstGeom>
          <a:noFill/>
          <a:ln/>
        </p:spPr>
        <p:txBody>
          <a:bodyPr wrap="square" lIns="0" tIns="0" rIns="0" bIns="0" rtlCol="0" anchor="t"/>
          <a:lstStyle/>
          <a:p>
            <a:pPr algn="l" indent="0" marL="0">
              <a:lnSpc>
                <a:spcPts val="2400"/>
              </a:lnSpc>
              <a:buNone/>
            </a:pPr>
            <a:r>
              <a:rPr lang="en-US" sz="1400" dirty="0">
                <a:solidFill>
                  <a:srgbClr val="959BB0"/>
                </a:solidFill>
                <a:latin typeface="Palatino Linotype" pitchFamily="34" charset="0"/>
                <a:ea typeface="Palatino Linotype" pitchFamily="34" charset="-122"/>
                <a:cs typeface="Palatino Linotype" pitchFamily="34" charset="-120"/>
              </a:rPr>
              <a:t>Șase noțiuni fără de care restul nu poate fi citit</a:t>
            </a:r>
            <a:endParaRPr lang="en-US" sz="1400" dirty="0"/>
          </a:p>
          <a:p>
            <a:pPr algn="l" indent="0" marL="0">
              <a:lnSpc>
                <a:spcPts val="2400"/>
              </a:lnSpc>
              <a:buNone/>
            </a:pPr>
            <a:endParaRPr lang="en-US" sz="1400" dirty="0"/>
          </a:p>
          <a:p>
            <a:pPr algn="l" indent="0" marL="0">
              <a:lnSpc>
                <a:spcPts val="2400"/>
              </a:lnSpc>
              <a:buNone/>
            </a:pPr>
            <a:r>
              <a:rPr lang="en-US" sz="1400" dirty="0">
                <a:solidFill>
                  <a:srgbClr val="959BB0"/>
                </a:solidFill>
                <a:latin typeface="Palatino Linotype" pitchFamily="34" charset="0"/>
                <a:ea typeface="Palatino Linotype" pitchFamily="34" charset="-122"/>
                <a:cs typeface="Palatino Linotype" pitchFamily="34" charset="-120"/>
              </a:rPr>
              <a:t>Ce numim corupție în sănătate: șapte procese care nu se însumează</a:t>
            </a:r>
            <a:endParaRPr lang="en-US" sz="1400" dirty="0"/>
          </a:p>
          <a:p>
            <a:pPr algn="l" indent="0" marL="0">
              <a:lnSpc>
                <a:spcPts val="2400"/>
              </a:lnSpc>
              <a:buNone/>
            </a:pPr>
            <a:endParaRPr lang="en-US" sz="1400" dirty="0"/>
          </a:p>
          <a:p>
            <a:pPr algn="l" indent="0" marL="0">
              <a:lnSpc>
                <a:spcPts val="2400"/>
              </a:lnSpc>
              <a:buNone/>
            </a:pPr>
            <a:r>
              <a:rPr lang="en-US" sz="1400" dirty="0">
                <a:solidFill>
                  <a:srgbClr val="959BB0"/>
                </a:solidFill>
                <a:latin typeface="Palatino Linotype" pitchFamily="34" charset="0"/>
                <a:ea typeface="Palatino Linotype" pitchFamily="34" charset="-122"/>
                <a:cs typeface="Palatino Linotype" pitchFamily="34" charset="-120"/>
              </a:rPr>
              <a:t>De ce sectorul sanitar, în mod specific</a:t>
            </a:r>
            <a:endParaRPr lang="en-US" sz="1400" dirty="0"/>
          </a:p>
          <a:p>
            <a:pPr algn="l" indent="0" marL="0">
              <a:lnSpc>
                <a:spcPts val="2400"/>
              </a:lnSpc>
              <a:buNone/>
            </a:pPr>
            <a:endParaRPr lang="en-US" sz="1400" dirty="0"/>
          </a:p>
          <a:p>
            <a:pPr algn="l" indent="0" marL="0">
              <a:lnSpc>
                <a:spcPts val="2400"/>
              </a:lnSpc>
              <a:buNone/>
            </a:pPr>
            <a:r>
              <a:rPr lang="en-US" sz="1400" dirty="0">
                <a:solidFill>
                  <a:srgbClr val="959BB0"/>
                </a:solidFill>
                <a:latin typeface="Palatino Linotype" pitchFamily="34" charset="0"/>
                <a:ea typeface="Palatino Linotype" pitchFamily="34" charset="-122"/>
                <a:cs typeface="Palatino Linotype" pitchFamily="34" charset="-120"/>
              </a:rPr>
              <a:t>Trei instrumente, trei cifre și capcanele lor</a:t>
            </a:r>
            <a:endParaRPr lang="en-US" sz="1400" dirty="0"/>
          </a:p>
        </p:txBody>
      </p:sp>
      <p:sp>
        <p:nvSpPr>
          <p:cNvPr id="8" name="Shape 6"/>
          <p:cNvSpPr/>
          <p:nvPr/>
        </p:nvSpPr>
        <p:spPr>
          <a:xfrm>
            <a:off x="6217920" y="1600200"/>
            <a:ext cx="5349240" cy="4160520"/>
          </a:xfrm>
          <a:prstGeom prst="roundRect">
            <a:avLst>
              <a:gd name="adj" fmla="val 1978"/>
            </a:avLst>
          </a:prstGeom>
          <a:solidFill>
            <a:srgbClr val="1D1F2B"/>
          </a:solidFill>
          <a:ln w="12700">
            <a:solidFill>
              <a:srgbClr val="1D1F2B"/>
            </a:solidFill>
            <a:prstDash val="solid"/>
          </a:ln>
        </p:spPr>
        <p:txBody>
          <a:bodyPr/>
          <a:p/>
        </p:txBody>
      </p:sp>
      <p:sp>
        <p:nvSpPr>
          <p:cNvPr id="9" name="Shape 7"/>
          <p:cNvSpPr/>
          <p:nvPr/>
        </p:nvSpPr>
        <p:spPr>
          <a:xfrm>
            <a:off x="6492240" y="1810512"/>
            <a:ext cx="2286000" cy="310896"/>
          </a:xfrm>
          <a:prstGeom prst="roundRect">
            <a:avLst>
              <a:gd name="adj" fmla="val 50000"/>
            </a:avLst>
          </a:prstGeom>
          <a:solidFill>
            <a:srgbClr val="27D3BE"/>
          </a:solidFill>
          <a:ln w="12700">
            <a:solidFill>
              <a:srgbClr val="27D3BE"/>
            </a:solidFill>
            <a:prstDash val="solid"/>
          </a:ln>
        </p:spPr>
        <p:txBody>
          <a:bodyPr/>
          <a:p/>
        </p:txBody>
      </p:sp>
      <p:sp>
        <p:nvSpPr>
          <p:cNvPr id="10" name="Text 8"/>
          <p:cNvSpPr/>
          <p:nvPr/>
        </p:nvSpPr>
        <p:spPr>
          <a:xfrm>
            <a:off x="6492240" y="1810512"/>
            <a:ext cx="2286000" cy="310896"/>
          </a:xfrm>
          <a:prstGeom prst="rect">
            <a:avLst/>
          </a:prstGeom>
          <a:noFill/>
          <a:ln/>
        </p:spPr>
        <p:txBody>
          <a:bodyPr wrap="square" lIns="0" tIns="0" rIns="0" bIns="0" rtlCol="0" anchor="ctr"/>
          <a:lstStyle/>
          <a:p>
            <a:pPr algn="ctr" indent="0" marL="0">
              <a:buNone/>
            </a:pPr>
            <a:r>
              <a:rPr lang="en-US" sz="1000" b="1" dirty="0">
                <a:solidFill>
                  <a:srgbClr val="073B34"/>
                </a:solidFill>
                <a:latin typeface="Palatino Linotype" pitchFamily="34" charset="0"/>
                <a:ea typeface="Palatino Linotype" pitchFamily="34" charset="-122"/>
                <a:cs typeface="Palatino Linotype" pitchFamily="34" charset="-120"/>
              </a:rPr>
              <a:t>ORA 2 · ROMÂNIA</a:t>
            </a:r>
            <a:endParaRPr lang="en-US" sz="1000" dirty="0"/>
          </a:p>
        </p:txBody>
      </p:sp>
      <p:sp>
        <p:nvSpPr>
          <p:cNvPr id="11" name="Text 9"/>
          <p:cNvSpPr/>
          <p:nvPr/>
        </p:nvSpPr>
        <p:spPr>
          <a:xfrm>
            <a:off x="6537960" y="2331720"/>
            <a:ext cx="4709160" cy="3246120"/>
          </a:xfrm>
          <a:prstGeom prst="rect">
            <a:avLst/>
          </a:prstGeom>
          <a:noFill/>
          <a:ln/>
        </p:spPr>
        <p:txBody>
          <a:bodyPr wrap="square" lIns="0" tIns="0" rIns="0" bIns="0" rtlCol="0" anchor="t"/>
          <a:lstStyle/>
          <a:p>
            <a:pPr algn="l" indent="0" marL="0">
              <a:lnSpc>
                <a:spcPts val="2400"/>
              </a:lnSpc>
              <a:buNone/>
            </a:pPr>
            <a:r>
              <a:rPr lang="en-US" sz="1400" dirty="0">
                <a:solidFill>
                  <a:srgbClr val="959BB0"/>
                </a:solidFill>
                <a:latin typeface="Palatino Linotype" pitchFamily="34" charset="0"/>
                <a:ea typeface="Palatino Linotype" pitchFamily="34" charset="-122"/>
                <a:cs typeface="Palatino Linotype" pitchFamily="34" charset="-120"/>
              </a:rPr>
              <a:t>Datele administrative românești: 254 de spitale, cinci ani</a:t>
            </a:r>
            <a:endParaRPr lang="en-US" sz="1400" dirty="0"/>
          </a:p>
          <a:p>
            <a:pPr algn="l" indent="0" marL="0">
              <a:lnSpc>
                <a:spcPts val="2400"/>
              </a:lnSpc>
              <a:buNone/>
            </a:pPr>
            <a:endParaRPr lang="en-US" sz="1400" dirty="0"/>
          </a:p>
          <a:p>
            <a:pPr algn="l" indent="0" marL="0">
              <a:lnSpc>
                <a:spcPts val="2400"/>
              </a:lnSpc>
              <a:buNone/>
            </a:pPr>
            <a:r>
              <a:rPr lang="en-US" sz="1400" dirty="0">
                <a:solidFill>
                  <a:srgbClr val="959BB0"/>
                </a:solidFill>
                <a:latin typeface="Palatino Linotype" pitchFamily="34" charset="0"/>
                <a:ea typeface="Palatino Linotype" pitchFamily="34" charset="-122"/>
                <a:cs typeface="Palatino Linotype" pitchFamily="34" charset="-120"/>
              </a:rPr>
              <a:t>Cifra care circulă și de unde vine</a:t>
            </a:r>
            <a:endParaRPr lang="en-US" sz="1400" dirty="0"/>
          </a:p>
          <a:p>
            <a:pPr algn="l" indent="0" marL="0">
              <a:lnSpc>
                <a:spcPts val="2400"/>
              </a:lnSpc>
              <a:buNone/>
            </a:pPr>
            <a:endParaRPr lang="en-US" sz="1400" dirty="0"/>
          </a:p>
          <a:p>
            <a:pPr algn="l" indent="0" marL="0">
              <a:lnSpc>
                <a:spcPts val="2400"/>
              </a:lnSpc>
              <a:buNone/>
            </a:pPr>
            <a:r>
              <a:rPr lang="en-US" sz="1400" dirty="0">
                <a:solidFill>
                  <a:srgbClr val="959BB0"/>
                </a:solidFill>
                <a:latin typeface="Palatino Linotype" pitchFamily="34" charset="0"/>
                <a:ea typeface="Palatino Linotype" pitchFamily="34" charset="-122"/>
                <a:cs typeface="Palatino Linotype" pitchFamily="34" charset="-120"/>
              </a:rPr>
              <a:t>Contractul de evaluare: grila, plicurile, investigația</a:t>
            </a:r>
            <a:endParaRPr lang="en-US" sz="1400" dirty="0"/>
          </a:p>
          <a:p>
            <a:pPr algn="l" indent="0" marL="0">
              <a:lnSpc>
                <a:spcPts val="2400"/>
              </a:lnSpc>
              <a:buNone/>
            </a:pPr>
            <a:endParaRPr lang="en-US" sz="1400" dirty="0"/>
          </a:p>
          <a:p>
            <a:pPr algn="l" indent="0" marL="0">
              <a:lnSpc>
                <a:spcPts val="2400"/>
              </a:lnSpc>
              <a:buNone/>
            </a:pPr>
            <a:r>
              <a:rPr lang="en-US" sz="1400" dirty="0">
                <a:solidFill>
                  <a:srgbClr val="959BB0"/>
                </a:solidFill>
                <a:latin typeface="Palatino Linotype" pitchFamily="34" charset="0"/>
                <a:ea typeface="Palatino Linotype" pitchFamily="34" charset="-122"/>
                <a:cs typeface="Palatino Linotype" pitchFamily="34" charset="-120"/>
              </a:rPr>
              <a:t>Exercițiul în echipe, chestionarul de estimare, fișa de reflecție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0E7C6B"/>
                </a:solidFill>
                <a:latin typeface="Palatino Linotype" pitchFamily="34" charset="0"/>
                <a:ea typeface="Palatino Linotype" pitchFamily="34" charset="-122"/>
                <a:cs typeface="Palatino Linotype" pitchFamily="34" charset="-120"/>
              </a:rPr>
              <a:t>MINUTUL 12 · SE REIAU IDENTIC ÎN ULTIMA ȘEDINȚĂ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 voturi, anonime</a:t>
            </a:r>
            <a:endParaRPr lang="en-US" sz="3000" dirty="0"/>
          </a:p>
        </p:txBody>
      </p:sp>
      <p:sp>
        <p:nvSpPr>
          <p:cNvPr id="4" name="Shape 2"/>
          <p:cNvSpPr/>
          <p:nvPr/>
        </p:nvSpPr>
        <p:spPr>
          <a:xfrm>
            <a:off x="594360" y="1600200"/>
            <a:ext cx="5349240" cy="1965960"/>
          </a:xfrm>
          <a:prstGeom prst="roundRect">
            <a:avLst>
              <a:gd name="adj" fmla="val 4186"/>
            </a:avLst>
          </a:prstGeom>
          <a:solidFill>
            <a:srgbClr val="ECEAE4"/>
          </a:solidFill>
          <a:ln w="12700">
            <a:solidFill>
              <a:srgbClr val="ECEAE4"/>
            </a:solidFill>
            <a:prstDash val="solid"/>
          </a:ln>
        </p:spPr>
        <p:txBody>
          <a:bodyPr/>
          <a:p/>
        </p:txBody>
      </p:sp>
      <p:sp>
        <p:nvSpPr>
          <p:cNvPr id="5" name="Text 3"/>
          <p:cNvSpPr/>
          <p:nvPr/>
        </p:nvSpPr>
        <p:spPr>
          <a:xfrm>
            <a:off x="868680" y="1755648"/>
            <a:ext cx="480060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4A2D8C"/>
                </a:solidFill>
                <a:latin typeface="Palatino Linotype" pitchFamily="34" charset="0"/>
                <a:ea typeface="Palatino Linotype" pitchFamily="34" charset="-122"/>
                <a:cs typeface="Palatino Linotype" pitchFamily="34" charset="-120"/>
              </a:rPr>
              <a:t>VOTUL DE OPINIE</a:t>
            </a:r>
            <a:endParaRPr lang="en-US" sz="1000" dirty="0"/>
          </a:p>
        </p:txBody>
      </p:sp>
      <p:sp>
        <p:nvSpPr>
          <p:cNvPr id="6" name="Text 4"/>
          <p:cNvSpPr/>
          <p:nvPr/>
        </p:nvSpPr>
        <p:spPr>
          <a:xfrm>
            <a:off x="868680" y="2057400"/>
            <a:ext cx="4800600" cy="1097280"/>
          </a:xfrm>
          <a:prstGeom prst="rect">
            <a:avLst/>
          </a:prstGeom>
          <a:noFill/>
          <a:ln/>
        </p:spPr>
        <p:txBody>
          <a:bodyPr wrap="square" lIns="0" tIns="0" rIns="0" bIns="0" rtlCol="0" anchor="t"/>
          <a:lstStyle/>
          <a:p>
            <a:pPr algn="l" indent="0" marL="0">
              <a:lnSpc>
                <a:spcPts val="2000"/>
              </a:lnSpc>
              <a:buNone/>
            </a:pPr>
            <a:r>
              <a:rPr lang="en-US" sz="1500" dirty="0">
                <a:solidFill>
                  <a:srgbClr val="11121A"/>
                </a:solidFill>
                <a:latin typeface="Palatino Linotype" pitchFamily="34" charset="0"/>
                <a:ea typeface="Palatino Linotype" pitchFamily="34" charset="-122"/>
                <a:cs typeface="Palatino Linotype" pitchFamily="34" charset="-120"/>
              </a:rPr>
              <a:t>„Corupția în sistemul de sănătate românesc este în principal o problemă de caracter individual.”</a:t>
            </a:r>
            <a:endParaRPr lang="en-US" sz="1500" dirty="0"/>
          </a:p>
        </p:txBody>
      </p:sp>
      <p:sp>
        <p:nvSpPr>
          <p:cNvPr id="7" name="Text 5"/>
          <p:cNvSpPr/>
          <p:nvPr/>
        </p:nvSpPr>
        <p:spPr>
          <a:xfrm>
            <a:off x="868680" y="3154680"/>
            <a:ext cx="4800600" cy="274320"/>
          </a:xfrm>
          <a:prstGeom prst="rect">
            <a:avLst/>
          </a:prstGeom>
          <a:noFill/>
          <a:ln/>
        </p:spPr>
        <p:txBody>
          <a:bodyPr wrap="square" lIns="0" tIns="0" rIns="0" bIns="0" rtlCol="0" anchor="t"/>
          <a:lstStyle/>
          <a:p>
            <a:pPr algn="l" indent="0" marL="0">
              <a:lnSpc>
                <a:spcPts val="1800"/>
              </a:lnSpc>
              <a:buNone/>
            </a:pPr>
            <a:r>
              <a:rPr lang="en-US" sz="1150" i="1" dirty="0">
                <a:solidFill>
                  <a:srgbClr val="585A64"/>
                </a:solidFill>
                <a:latin typeface="Palatino Linotype" pitchFamily="34" charset="0"/>
                <a:ea typeface="Palatino Linotype" pitchFamily="34" charset="-122"/>
                <a:cs typeface="Palatino Linotype" pitchFamily="34" charset="-120"/>
              </a:rPr>
              <a:t>Scala: dezacord total → acord total</a:t>
            </a:r>
            <a:endParaRPr lang="en-US" sz="1150" dirty="0"/>
          </a:p>
        </p:txBody>
      </p:sp>
      <p:sp>
        <p:nvSpPr>
          <p:cNvPr id="8" name="Shape 6"/>
          <p:cNvSpPr/>
          <p:nvPr/>
        </p:nvSpPr>
        <p:spPr>
          <a:xfrm>
            <a:off x="6217920" y="1600200"/>
            <a:ext cx="5349240" cy="1965960"/>
          </a:xfrm>
          <a:prstGeom prst="roundRect">
            <a:avLst>
              <a:gd name="adj" fmla="val 4186"/>
            </a:avLst>
          </a:prstGeom>
          <a:solidFill>
            <a:srgbClr val="ECEAE4"/>
          </a:solidFill>
          <a:ln w="12700">
            <a:solidFill>
              <a:srgbClr val="ECEAE4"/>
            </a:solidFill>
            <a:prstDash val="solid"/>
          </a:ln>
        </p:spPr>
        <p:txBody>
          <a:bodyPr/>
          <a:p/>
        </p:txBody>
      </p:sp>
      <p:sp>
        <p:nvSpPr>
          <p:cNvPr id="9" name="Text 7"/>
          <p:cNvSpPr/>
          <p:nvPr/>
        </p:nvSpPr>
        <p:spPr>
          <a:xfrm>
            <a:off x="6492240" y="1755648"/>
            <a:ext cx="480060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0E7C6B"/>
                </a:solidFill>
                <a:latin typeface="Palatino Linotype" pitchFamily="34" charset="0"/>
                <a:ea typeface="Palatino Linotype" pitchFamily="34" charset="-122"/>
                <a:cs typeface="Palatino Linotype" pitchFamily="34" charset="-120"/>
              </a:rPr>
              <a:t>VOTUL DE ESTIMARE</a:t>
            </a:r>
            <a:endParaRPr lang="en-US" sz="1000" dirty="0"/>
          </a:p>
        </p:txBody>
      </p:sp>
      <p:sp>
        <p:nvSpPr>
          <p:cNvPr id="10" name="Text 8"/>
          <p:cNvSpPr/>
          <p:nvPr/>
        </p:nvSpPr>
        <p:spPr>
          <a:xfrm>
            <a:off x="6492240" y="2057400"/>
            <a:ext cx="4800600" cy="1097280"/>
          </a:xfrm>
          <a:prstGeom prst="rect">
            <a:avLst/>
          </a:prstGeom>
          <a:noFill/>
          <a:ln/>
        </p:spPr>
        <p:txBody>
          <a:bodyPr wrap="square" lIns="0" tIns="0" rIns="0" bIns="0" rtlCol="0" anchor="t"/>
          <a:lstStyle/>
          <a:p>
            <a:pPr algn="l" indent="0" marL="0">
              <a:lnSpc>
                <a:spcPts val="2000"/>
              </a:lnSpc>
              <a:buNone/>
            </a:pPr>
            <a:r>
              <a:rPr lang="en-US" sz="1350" dirty="0">
                <a:solidFill>
                  <a:srgbClr val="11121A"/>
                </a:solidFill>
                <a:latin typeface="Palatino Linotype" pitchFamily="34" charset="0"/>
                <a:ea typeface="Palatino Linotype" pitchFamily="34" charset="-122"/>
                <a:cs typeface="Palatino Linotype" pitchFamily="34" charset="-120"/>
              </a:rPr>
              <a:t>„Ce procent dintre respondenții români cu contact recent cu sistemul public de sănătate au declarat, în cel mai recent val european care a pus această întrebare, că au dat o plată suplimentară sau un cadou?”</a:t>
            </a:r>
            <a:endParaRPr lang="en-US" sz="1500" dirty="0"/>
          </a:p>
        </p:txBody>
      </p:sp>
      <p:sp>
        <p:nvSpPr>
          <p:cNvPr id="11" name="Text 9"/>
          <p:cNvSpPr/>
          <p:nvPr/>
        </p:nvSpPr>
        <p:spPr>
          <a:xfrm>
            <a:off x="6492240" y="3154680"/>
            <a:ext cx="4800600" cy="274320"/>
          </a:xfrm>
          <a:prstGeom prst="rect">
            <a:avLst/>
          </a:prstGeom>
          <a:noFill/>
          <a:ln/>
        </p:spPr>
        <p:txBody>
          <a:bodyPr wrap="square" lIns="0" tIns="0" rIns="0" bIns="0" rtlCol="0" anchor="t"/>
          <a:lstStyle/>
          <a:p>
            <a:pPr algn="l" indent="0" marL="0">
              <a:lnSpc>
                <a:spcPts val="1800"/>
              </a:lnSpc>
              <a:buNone/>
            </a:pPr>
            <a:r>
              <a:rPr lang="en-US" sz="1150" i="1" dirty="0">
                <a:solidFill>
                  <a:srgbClr val="585A64"/>
                </a:solidFill>
                <a:latin typeface="Palatino Linotype" pitchFamily="34" charset="0"/>
                <a:ea typeface="Palatino Linotype" pitchFamily="34" charset="-122"/>
                <a:cs typeface="Palatino Linotype" pitchFamily="34" charset="-120"/>
              </a:rPr>
              <a:t>Distribuția sălii se proiectează imediat</a:t>
            </a:r>
            <a:endParaRPr lang="en-US" sz="1150" dirty="0"/>
          </a:p>
        </p:txBody>
      </p:sp>
      <p:sp>
        <p:nvSpPr>
          <p:cNvPr id="12" name="Shape 10"/>
          <p:cNvSpPr/>
          <p:nvPr/>
        </p:nvSpPr>
        <p:spPr>
          <a:xfrm>
            <a:off x="594360" y="3767328"/>
            <a:ext cx="10972800" cy="1920240"/>
          </a:xfrm>
          <a:prstGeom prst="roundRect">
            <a:avLst>
              <a:gd name="adj" fmla="val 4286"/>
            </a:avLst>
          </a:prstGeom>
          <a:solidFill>
            <a:srgbClr val="ECEAE4"/>
          </a:solidFill>
          <a:ln w="12700">
            <a:solidFill>
              <a:srgbClr val="ECEAE4"/>
            </a:solidFill>
            <a:prstDash val="solid"/>
          </a:ln>
        </p:spPr>
        <p:txBody>
          <a:bodyPr/>
          <a:p/>
        </p:txBody>
      </p:sp>
      <p:sp>
        <p:nvSpPr>
          <p:cNvPr id="13" name="Text 11"/>
          <p:cNvSpPr/>
          <p:nvPr/>
        </p:nvSpPr>
        <p:spPr>
          <a:xfrm>
            <a:off x="868680" y="3931920"/>
            <a:ext cx="10424160" cy="274320"/>
          </a:xfrm>
          <a:prstGeom prst="rect">
            <a:avLst/>
          </a:prstGeom>
          <a:noFill/>
          <a:ln/>
        </p:spPr>
        <p:txBody>
          <a:bodyPr wrap="square" lIns="0" tIns="0" rIns="0" bIns="0" rtlCol="0" anchor="t"/>
          <a:lstStyle/>
          <a:p>
            <a:pPr algn="l" indent="0" marL="0">
              <a:lnSpc>
                <a:spcPts val="1800"/>
              </a:lnSpc>
              <a:buNone/>
            </a:pPr>
            <a:r>
              <a:rPr lang="en-US" sz="1100" b="1" spc="200" kern="0" dirty="0">
                <a:solidFill>
                  <a:srgbClr val="B02532"/>
                </a:solidFill>
                <a:latin typeface="Palatino Linotype" pitchFamily="34" charset="0"/>
                <a:ea typeface="Palatino Linotype" pitchFamily="34" charset="-122"/>
                <a:cs typeface="Palatino Linotype" pitchFamily="34" charset="-120"/>
              </a:rPr>
              <a:t>DIFERENȚA DINTRE CELE DOUĂ DISTRIBUȚII</a:t>
            </a:r>
            <a:endParaRPr lang="en-US" sz="1100" dirty="0"/>
          </a:p>
        </p:txBody>
      </p:sp>
      <p:sp>
        <p:nvSpPr>
          <p:cNvPr id="14" name="Text 12"/>
          <p:cNvSpPr/>
          <p:nvPr/>
        </p:nvSpPr>
        <p:spPr>
          <a:xfrm>
            <a:off x="868680" y="4261104"/>
            <a:ext cx="10424160" cy="1234440"/>
          </a:xfrm>
          <a:prstGeom prst="rect">
            <a:avLst/>
          </a:prstGeom>
          <a:noFill/>
          <a:ln/>
        </p:spPr>
        <p:txBody>
          <a:bodyPr wrap="square" lIns="0" tIns="0" rIns="0" bIns="0" rtlCol="0" anchor="t"/>
          <a:lstStyle/>
          <a:p>
            <a:pPr algn="l" indent="0" marL="0">
              <a:lnSpc>
                <a:spcPts val="2300"/>
              </a:lnSpc>
              <a:buNone/>
            </a:pPr>
            <a:r>
              <a:rPr lang="en-US" sz="1600" dirty="0">
                <a:solidFill>
                  <a:srgbClr val="11121A"/>
                </a:solidFill>
                <a:latin typeface="Palatino Linotype" pitchFamily="34" charset="0"/>
                <a:ea typeface="Palatino Linotype" pitchFamily="34" charset="-122"/>
                <a:cs typeface="Palatino Linotype" pitchFamily="34" charset="-120"/>
              </a:rPr>
              <a:t>este singura măsurătoare de impact declarată a acestui curs. În ultima ședință primiți exact aceleași două întrebări, iar cele două distribuții se proiectează una lângă alta.</a:t>
            </a:r>
            <a:endParaRPr lang="en-US" sz="1600" dirty="0"/>
          </a:p>
        </p:txBody>
      </p:sp>
      <p:sp>
        <p:nvSpPr>
          <p:cNvPr id="15" name="Text 13"/>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Niciunul dintre cele două voturi nu solicită experiența personală.</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9B7EF7"/>
        </a:solidFill>
      </p:bgPr>
    </p:bg>
    <p:spTree>
      <p:nvGrpSpPr>
        <p:cNvPr id="1" name=""/>
        <p:cNvGrpSpPr/>
        <p:nvPr/>
      </p:nvGrpSpPr>
      <p:grpSpPr>
        <a:xfrm>
          <a:off x="0" y="0"/>
          <a:ext cx="0" cy="0"/>
          <a:chOff x="0" y="0"/>
          <a:chExt cx="0" cy="0"/>
        </a:xfrm>
      </p:grpSpPr>
      <p:sp>
        <p:nvSpPr>
          <p:cNvPr id="2" name="Shape 0"/>
          <p:cNvSpPr/>
          <p:nvPr/>
        </p:nvSpPr>
        <p:spPr>
          <a:xfrm>
            <a:off x="594360" y="384048"/>
            <a:ext cx="2651760" cy="310896"/>
          </a:xfrm>
          <a:prstGeom prst="roundRect">
            <a:avLst>
              <a:gd name="adj" fmla="val 50000"/>
            </a:avLst>
          </a:prstGeom>
          <a:solidFill>
            <a:srgbClr val="1F1040"/>
          </a:solidFill>
          <a:ln w="12700">
            <a:solidFill>
              <a:srgbClr val="1F1040"/>
            </a:solidFill>
            <a:prstDash val="solid"/>
          </a:ln>
        </p:spPr>
        <p:txBody>
          <a:bodyPr/>
          <a:p/>
        </p:txBody>
      </p:sp>
      <p:sp>
        <p:nvSpPr>
          <p:cNvPr id="3" name="Text 1"/>
          <p:cNvSpPr/>
          <p:nvPr/>
        </p:nvSpPr>
        <p:spPr>
          <a:xfrm>
            <a:off x="594360" y="384048"/>
            <a:ext cx="2651760" cy="310896"/>
          </a:xfrm>
          <a:prstGeom prst="rect">
            <a:avLst/>
          </a:prstGeom>
          <a:noFill/>
          <a:ln/>
        </p:spPr>
        <p:txBody>
          <a:bodyPr wrap="square" lIns="0" tIns="0" rIns="0" bIns="0" rtlCol="0" anchor="ctr"/>
          <a:lstStyle/>
          <a:p>
            <a:pPr algn="ctr" indent="0" marL="0">
              <a:buNone/>
            </a:pPr>
            <a:r>
              <a:rPr lang="en-US" sz="1000" b="1" dirty="0">
                <a:solidFill>
                  <a:srgbClr val="9B7EF7"/>
                </a:solidFill>
                <a:latin typeface="Palatino Linotype" pitchFamily="34" charset="0"/>
                <a:ea typeface="Palatino Linotype" pitchFamily="34" charset="-122"/>
                <a:cs typeface="Palatino Linotype" pitchFamily="34" charset="-120"/>
              </a:rPr>
              <a:t>REGULA CARE NU SE NEGOCIAZĂ</a:t>
            </a:r>
            <a:endParaRPr lang="en-US" sz="1000" dirty="0"/>
          </a:p>
        </p:txBody>
      </p:sp>
      <p:sp>
        <p:nvSpPr>
          <p:cNvPr id="4" name="Text 2"/>
          <p:cNvSpPr/>
          <p:nvPr/>
        </p:nvSpPr>
        <p:spPr>
          <a:xfrm>
            <a:off x="594360" y="960120"/>
            <a:ext cx="10972800" cy="777240"/>
          </a:xfrm>
          <a:prstGeom prst="rect">
            <a:avLst/>
          </a:prstGeom>
          <a:noFill/>
          <a:ln/>
        </p:spPr>
        <p:txBody>
          <a:bodyPr wrap="square" lIns="0" tIns="0" rIns="0" bIns="0" rtlCol="0" anchor="ctr"/>
          <a:lstStyle/>
          <a:p>
            <a:pPr indent="0" marL="0">
              <a:buNone/>
            </a:pPr>
            <a:r>
              <a:rPr lang="en-US" sz="3300" b="1" dirty="0">
                <a:solidFill>
                  <a:srgbClr val="1F1040"/>
                </a:solidFill>
                <a:latin typeface="Palatino Linotype" pitchFamily="34" charset="0"/>
                <a:ea typeface="Palatino Linotype" pitchFamily="34" charset="-122"/>
                <a:cs typeface="Palatino Linotype" pitchFamily="34" charset="-120"/>
              </a:rPr>
              <a:t>Nimeni nu raportează despre sine</a:t>
            </a:r>
            <a:endParaRPr lang="en-US" sz="3300" dirty="0"/>
          </a:p>
        </p:txBody>
      </p:sp>
      <p:sp>
        <p:nvSpPr>
          <p:cNvPr id="5" name="Shape 3"/>
          <p:cNvSpPr/>
          <p:nvPr/>
        </p:nvSpPr>
        <p:spPr>
          <a:xfrm>
            <a:off x="594360" y="1965960"/>
            <a:ext cx="10972800" cy="1783080"/>
          </a:xfrm>
          <a:prstGeom prst="roundRect">
            <a:avLst>
              <a:gd name="adj" fmla="val 4615"/>
            </a:avLst>
          </a:prstGeom>
          <a:solidFill>
            <a:srgbClr val="FFFFFF"/>
          </a:solidFill>
          <a:ln w="12700">
            <a:solidFill>
              <a:srgbClr val="FFFFFF"/>
            </a:solidFill>
            <a:prstDash val="solid"/>
          </a:ln>
        </p:spPr>
        <p:txBody>
          <a:bodyPr/>
          <a:p/>
        </p:txBody>
      </p:sp>
      <p:sp>
        <p:nvSpPr>
          <p:cNvPr id="6" name="Text 4"/>
          <p:cNvSpPr/>
          <p:nvPr/>
        </p:nvSpPr>
        <p:spPr>
          <a:xfrm>
            <a:off x="868680" y="2148840"/>
            <a:ext cx="10424160" cy="1463040"/>
          </a:xfrm>
          <a:prstGeom prst="rect">
            <a:avLst/>
          </a:prstGeom>
          <a:noFill/>
          <a:ln/>
        </p:spPr>
        <p:txBody>
          <a:bodyPr wrap="square" lIns="0" tIns="0" rIns="0" bIns="0" rtlCol="0" anchor="t"/>
          <a:lstStyle/>
          <a:p>
            <a:pPr algn="l" indent="0" marL="0">
              <a:lnSpc>
                <a:spcPts val="2200"/>
              </a:lnSpc>
              <a:buNone/>
            </a:pPr>
            <a:r>
              <a:rPr lang="en-US" sz="1550" dirty="0">
                <a:solidFill>
                  <a:srgbClr val="11121A"/>
                </a:solidFill>
                <a:latin typeface="Palatino Linotype" pitchFamily="34" charset="0"/>
                <a:ea typeface="Palatino Linotype" pitchFamily="34" charset="-122"/>
                <a:cs typeface="Palatino Linotype" pitchFamily="34" charset="-120"/>
              </a:rPr>
              <a:t>Nicio activitate din acest curs nu vă cere să raportați despre dumneavoastră, despre familia dumneavoastră sau despre locul în care faceți practica. Voturile sunt voturi de opinie și de estimare. Studiile de caz privesc persoane descrise într-o vinietă, nu participanții.</a:t>
            </a:r>
            <a:endParaRPr lang="en-US" sz="1550" dirty="0"/>
          </a:p>
        </p:txBody>
      </p:sp>
      <p:sp>
        <p:nvSpPr>
          <p:cNvPr id="7" name="Shape 5"/>
          <p:cNvSpPr/>
          <p:nvPr/>
        </p:nvSpPr>
        <p:spPr>
          <a:xfrm>
            <a:off x="594360" y="3931920"/>
            <a:ext cx="10972800" cy="1783080"/>
          </a:xfrm>
          <a:prstGeom prst="roundRect">
            <a:avLst>
              <a:gd name="adj" fmla="val 4615"/>
            </a:avLst>
          </a:prstGeom>
          <a:solidFill>
            <a:srgbClr val="6B4FC9"/>
          </a:solidFill>
          <a:ln w="12700">
            <a:solidFill>
              <a:srgbClr val="6B4FC9"/>
            </a:solidFill>
            <a:prstDash val="solid"/>
          </a:ln>
        </p:spPr>
        <p:txBody>
          <a:bodyPr/>
          <a:p/>
        </p:txBody>
      </p:sp>
      <p:sp>
        <p:nvSpPr>
          <p:cNvPr id="8" name="Text 6"/>
          <p:cNvSpPr/>
          <p:nvPr/>
        </p:nvSpPr>
        <p:spPr>
          <a:xfrm>
            <a:off x="868680" y="409651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FFFFFF"/>
                </a:solidFill>
                <a:latin typeface="Palatino Linotype" pitchFamily="34" charset="0"/>
                <a:ea typeface="Palatino Linotype" pitchFamily="34" charset="-122"/>
                <a:cs typeface="Palatino Linotype" pitchFamily="34" charset="-120"/>
              </a:rPr>
              <a:t>DE CE</a:t>
            </a:r>
            <a:endParaRPr lang="en-US" sz="1000" dirty="0"/>
          </a:p>
        </p:txBody>
      </p:sp>
      <p:sp>
        <p:nvSpPr>
          <p:cNvPr id="9" name="Text 7"/>
          <p:cNvSpPr/>
          <p:nvPr/>
        </p:nvSpPr>
        <p:spPr>
          <a:xfrm>
            <a:off x="868680" y="4389120"/>
            <a:ext cx="10424160" cy="1234440"/>
          </a:xfrm>
          <a:prstGeom prst="rect">
            <a:avLst/>
          </a:prstGeom>
          <a:noFill/>
          <a:ln/>
        </p:spPr>
        <p:txBody>
          <a:bodyPr wrap="square" lIns="0" tIns="0" rIns="0" bIns="0" rtlCol="0" anchor="t"/>
          <a:lstStyle/>
          <a:p>
            <a:pPr algn="l" indent="0" marL="0">
              <a:lnSpc>
                <a:spcPts val="2000"/>
              </a:lnSpc>
              <a:buNone/>
            </a:pPr>
            <a:r>
              <a:rPr lang="en-US" sz="1400" dirty="0">
                <a:solidFill>
                  <a:srgbClr val="F0EBFF"/>
                </a:solidFill>
                <a:latin typeface="Palatino Linotype" pitchFamily="34" charset="0"/>
                <a:ea typeface="Palatino Linotype" pitchFamily="34" charset="-122"/>
                <a:cs typeface="Palatino Linotype" pitchFamily="34" charset="-120"/>
              </a:rPr>
              <a:t>Sunteți în anul al patrulea la medicină, într-un curs despre fapte cu relevanță disciplinară și penală, într-o sală în care vă cunoașteți colegii. Un vot anonim despre ce ați văzut personal ar funcționa, în aceste condiții, ca instrument de autoraportare deghizat. Efectul pedagogic urmărit se obține integral fără el.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indent="0" marL="0">
              <a:buNone/>
            </a:pPr>
            <a:r>
              <a:rPr lang="en-US" sz="13500" b="1" dirty="0">
                <a:solidFill>
                  <a:srgbClr val="FFC24B"/>
                </a:solidFill>
                <a:latin typeface="Palatino Linotype" pitchFamily="34" charset="0"/>
                <a:ea typeface="Palatino Linotype" pitchFamily="34" charset="-122"/>
                <a:cs typeface="Palatino Linotype" pitchFamily="34" charset="-120"/>
              </a:rPr>
              <a:t>01</a:t>
            </a:r>
            <a:endParaRPr lang="en-US" sz="13500" dirty="0"/>
          </a:p>
        </p:txBody>
      </p:sp>
      <p:sp>
        <p:nvSpPr>
          <p:cNvPr id="3" name="Shape 1"/>
          <p:cNvSpPr/>
          <p:nvPr/>
        </p:nvSpPr>
        <p:spPr>
          <a:xfrm>
            <a:off x="4160520" y="1691640"/>
            <a:ext cx="27432" cy="1737360"/>
          </a:xfrm>
          <a:prstGeom prst="rect">
            <a:avLst/>
          </a:prstGeom>
          <a:solidFill>
            <a:srgbClr val="FFC24B"/>
          </a:solidFill>
          <a:ln w="12700">
            <a:solidFill>
              <a:srgbClr val="FFC24B"/>
            </a:solidFill>
            <a:prstDash val="solid"/>
          </a:ln>
        </p:spPr>
        <p:txBody>
          <a:bodyPr/>
          <a:p/>
        </p:txBody>
      </p:sp>
      <p:sp>
        <p:nvSpPr>
          <p:cNvPr id="4" name="Text 2"/>
          <p:cNvSpPr/>
          <p:nvPr/>
        </p:nvSpPr>
        <p:spPr>
          <a:xfrm>
            <a:off x="4709160" y="1737360"/>
            <a:ext cx="6858000" cy="822960"/>
          </a:xfrm>
          <a:prstGeom prst="rect">
            <a:avLst/>
          </a:prstGeom>
          <a:noFill/>
          <a:ln/>
        </p:spPr>
        <p:txBody>
          <a:bodyPr wrap="square" lIns="0" tIns="0" rIns="0" bIns="0" rtlCol="0" anchor="ctr"/>
          <a:lstStyle/>
          <a:p>
            <a:pPr indent="0" marL="0">
              <a:buNone/>
            </a:pPr>
            <a:r>
              <a:rPr lang="en-US" sz="3300" b="1" dirty="0">
                <a:solidFill>
                  <a:srgbClr val="FFFFFF"/>
                </a:solidFill>
                <a:latin typeface="Palatino Linotype" pitchFamily="34" charset="0"/>
                <a:ea typeface="Palatino Linotype" pitchFamily="34" charset="-122"/>
                <a:cs typeface="Palatino Linotype" pitchFamily="34" charset="-120"/>
              </a:rPr>
              <a:t>ȘASE NOȚIUNI</a:t>
            </a:r>
            <a:endParaRPr lang="en-US" sz="3300" dirty="0"/>
          </a:p>
        </p:txBody>
      </p:sp>
      <p:sp>
        <p:nvSpPr>
          <p:cNvPr id="5" name="Text 3"/>
          <p:cNvSpPr/>
          <p:nvPr/>
        </p:nvSpPr>
        <p:spPr>
          <a:xfrm>
            <a:off x="4709160" y="2606040"/>
            <a:ext cx="6858000" cy="1371600"/>
          </a:xfrm>
          <a:prstGeom prst="rect">
            <a:avLst/>
          </a:prstGeom>
          <a:noFill/>
          <a:ln/>
        </p:spPr>
        <p:txBody>
          <a:bodyPr wrap="square" lIns="0" tIns="0" rIns="0" bIns="0" rtlCol="0" anchor="t"/>
          <a:lstStyle/>
          <a:p>
            <a:pPr indent="0" marL="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Nu sunt un preambul, ci instrumentul de lucru. O cifră citită fără ele nu este o cifră greșită, ci o cifră fără sens, ceea ce este mai grav, pentru că eroarea nu se vede.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NOȚIUNEA 1 / 6</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Percepție și experiență</a:t>
            </a:r>
            <a:endParaRPr lang="en-US" sz="3400" dirty="0"/>
          </a:p>
        </p:txBody>
      </p:sp>
      <p:sp>
        <p:nvSpPr>
          <p:cNvPr id="4" name="Text 2"/>
          <p:cNvSpPr/>
          <p:nvPr/>
        </p:nvSpPr>
        <p:spPr>
          <a:xfrm>
            <a:off x="594360" y="1481328"/>
            <a:ext cx="10972800" cy="502920"/>
          </a:xfrm>
          <a:prstGeom prst="rect">
            <a:avLst/>
          </a:prstGeom>
          <a:noFill/>
          <a:ln/>
        </p:spPr>
        <p:txBody>
          <a:bodyPr wrap="square" lIns="0" tIns="0" rIns="0" bIns="0" rtlCol="0" anchor="ctr"/>
          <a:lstStyle/>
          <a:p>
            <a:pPr indent="0" marL="0">
              <a:buNone/>
            </a:pPr>
            <a:r>
              <a:rPr lang="en-US" sz="1700" dirty="0">
                <a:solidFill>
                  <a:srgbClr val="B02532"/>
                </a:solidFill>
                <a:latin typeface="Palatino Linotype" pitchFamily="34" charset="0"/>
                <a:ea typeface="Palatino Linotype" pitchFamily="34" charset="-122"/>
                <a:cs typeface="Palatino Linotype" pitchFamily="34" charset="-120"/>
              </a:rPr>
              <a:t>Ce cred oamenii că se întâmplă, față de ce li s-a întâmplat efectiv.</a:t>
            </a:r>
            <a:endParaRPr lang="en-US" sz="1700" dirty="0"/>
          </a:p>
        </p:txBody>
      </p:sp>
      <p:sp>
        <p:nvSpPr>
          <p:cNvPr id="5" name="Shape 3"/>
          <p:cNvSpPr/>
          <p:nvPr/>
        </p:nvSpPr>
        <p:spPr>
          <a:xfrm>
            <a:off x="594360" y="2240280"/>
            <a:ext cx="10972800" cy="1828800"/>
          </a:xfrm>
          <a:prstGeom prst="roundRect">
            <a:avLst>
              <a:gd name="adj" fmla="val 4500"/>
            </a:avLst>
          </a:prstGeom>
          <a:solidFill>
            <a:srgbClr val="ECEAE4"/>
          </a:solidFill>
          <a:ln w="12700">
            <a:solidFill>
              <a:srgbClr val="ECEAE4"/>
            </a:solidFill>
            <a:prstDash val="solid"/>
          </a:ln>
        </p:spPr>
        <p:txBody>
          <a:bodyPr/>
          <a:p/>
        </p:txBody>
      </p:sp>
      <p:sp>
        <p:nvSpPr>
          <p:cNvPr id="6" name="Text 4"/>
          <p:cNvSpPr/>
          <p:nvPr/>
        </p:nvSpPr>
        <p:spPr>
          <a:xfrm>
            <a:off x="868680" y="2423160"/>
            <a:ext cx="10424160" cy="1508760"/>
          </a:xfrm>
          <a:prstGeom prst="rect">
            <a:avLst/>
          </a:prstGeom>
          <a:noFill/>
          <a:ln/>
        </p:spPr>
        <p:txBody>
          <a:bodyPr wrap="square" lIns="0" tIns="0" rIns="0" bIns="0" rtlCol="0" anchor="t"/>
          <a:lstStyle/>
          <a:p>
            <a:pPr algn="l" indent="0" marL="0">
              <a:lnSpc>
                <a:spcPts val="2100"/>
              </a:lnSpc>
              <a:buNone/>
            </a:pPr>
            <a:r>
              <a:rPr lang="en-US" sz="1450" dirty="0">
                <a:solidFill>
                  <a:srgbClr val="11121A"/>
                </a:solidFill>
                <a:latin typeface="Palatino Linotype" pitchFamily="34" charset="0"/>
                <a:ea typeface="Palatino Linotype" pitchFamily="34" charset="-122"/>
                <a:cs typeface="Palatino Linotype" pitchFamily="34" charset="-120"/>
              </a:rPr>
              <a:t>Se măsoară cu întrebări complet diferite și pot da, pentru aceeași țară și în același an, valori care diferă de câteva ori. Nu sunt versiuni mai bune sau mai slabe ale aceleiași măsurători, ci măsurători ale unor lucruri diferite. Percepția este influențată de acoperirea mediatică și de experiența altora, relatată. Experiența declarată depinde de disponibilitatea respondentului de a recunoaște o faptă cu posibilă relevanță penală.</a:t>
            </a:r>
            <a:endParaRPr lang="en-US" sz="1450" dirty="0"/>
          </a:p>
        </p:txBody>
      </p:sp>
      <p:sp>
        <p:nvSpPr>
          <p:cNvPr id="7" name="Shape 5"/>
          <p:cNvSpPr/>
          <p:nvPr/>
        </p:nvSpPr>
        <p:spPr>
          <a:xfrm>
            <a:off x="594360" y="4251960"/>
            <a:ext cx="10972800" cy="1463040"/>
          </a:xfrm>
          <a:prstGeom prst="roundRect">
            <a:avLst>
              <a:gd name="adj" fmla="val 5625"/>
            </a:avLst>
          </a:prstGeom>
          <a:solidFill>
            <a:srgbClr val="FF4757"/>
          </a:solidFill>
          <a:ln w="12700">
            <a:solidFill>
              <a:srgbClr val="FF4757"/>
            </a:solidFill>
            <a:prstDash val="solid"/>
          </a:ln>
        </p:spPr>
        <p:txBody>
          <a:bodyPr/>
          <a:p/>
        </p:txBody>
      </p:sp>
      <p:sp>
        <p:nvSpPr>
          <p:cNvPr id="8" name="Text 6"/>
          <p:cNvSpPr/>
          <p:nvPr/>
        </p:nvSpPr>
        <p:spPr>
          <a:xfrm>
            <a:off x="868680" y="441655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E060B"/>
                </a:solidFill>
                <a:latin typeface="Palatino Linotype" pitchFamily="34" charset="0"/>
                <a:ea typeface="Palatino Linotype" pitchFamily="34" charset="-122"/>
                <a:cs typeface="Palatino Linotype" pitchFamily="34" charset="-120"/>
              </a:rPr>
              <a:t>CONSECINȚA PRACTICĂ</a:t>
            </a:r>
            <a:endParaRPr lang="en-US" sz="1000" dirty="0"/>
          </a:p>
        </p:txBody>
      </p:sp>
      <p:sp>
        <p:nvSpPr>
          <p:cNvPr id="9" name="Text 7"/>
          <p:cNvSpPr/>
          <p:nvPr/>
        </p:nvSpPr>
        <p:spPr>
          <a:xfrm>
            <a:off x="868680" y="4709160"/>
            <a:ext cx="10424160" cy="914400"/>
          </a:xfrm>
          <a:prstGeom prst="rect">
            <a:avLst/>
          </a:prstGeom>
          <a:noFill/>
          <a:ln/>
        </p:spPr>
        <p:txBody>
          <a:bodyPr wrap="square" lIns="0" tIns="0" rIns="0" bIns="0" rtlCol="0" anchor="t"/>
          <a:lstStyle/>
          <a:p>
            <a:pPr algn="l" indent="0" marL="0">
              <a:lnSpc>
                <a:spcPts val="2000"/>
              </a:lnSpc>
              <a:buNone/>
            </a:pPr>
            <a:r>
              <a:rPr lang="en-US" sz="1500" b="1" dirty="0">
                <a:solidFill>
                  <a:srgbClr val="2E060B"/>
                </a:solidFill>
                <a:latin typeface="Palatino Linotype" pitchFamily="34" charset="0"/>
                <a:ea typeface="Palatino Linotype" pitchFamily="34" charset="-122"/>
                <a:cs typeface="Palatino Linotype" pitchFamily="34" charset="-120"/>
              </a:rPr>
              <a:t>Când vedeți un procent despre corupție, prima întrebare nu este „este mare?”, ci „ce anume a fost întrebat?”.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8A6100"/>
                </a:solidFill>
                <a:latin typeface="Palatino Linotype" pitchFamily="34" charset="0"/>
                <a:ea typeface="Palatino Linotype" pitchFamily="34" charset="-122"/>
                <a:cs typeface="Palatino Linotype" pitchFamily="34" charset="-120"/>
              </a:rPr>
              <a:t>NOȚIUNEA 2 / 6</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Numitorul</a:t>
            </a:r>
            <a:endParaRPr lang="en-US" sz="3400" dirty="0"/>
          </a:p>
        </p:txBody>
      </p:sp>
      <p:sp>
        <p:nvSpPr>
          <p:cNvPr id="4" name="Text 2"/>
          <p:cNvSpPr/>
          <p:nvPr/>
        </p:nvSpPr>
        <p:spPr>
          <a:xfrm>
            <a:off x="594360" y="1481328"/>
            <a:ext cx="10972800" cy="502920"/>
          </a:xfrm>
          <a:prstGeom prst="rect">
            <a:avLst/>
          </a:prstGeom>
          <a:noFill/>
          <a:ln/>
        </p:spPr>
        <p:txBody>
          <a:bodyPr wrap="square" lIns="0" tIns="0" rIns="0" bIns="0" rtlCol="0" anchor="ctr"/>
          <a:lstStyle/>
          <a:p>
            <a:pPr indent="0" marL="0">
              <a:buNone/>
            </a:pPr>
            <a:r>
              <a:rPr lang="en-US" sz="1700" dirty="0">
                <a:solidFill>
                  <a:srgbClr val="8A6100"/>
                </a:solidFill>
                <a:latin typeface="Palatino Linotype" pitchFamily="34" charset="0"/>
                <a:ea typeface="Palatino Linotype" pitchFamily="34" charset="-122"/>
                <a:cs typeface="Palatino Linotype" pitchFamily="34" charset="-120"/>
              </a:rPr>
              <a:t>Populația în care s-a numărat. Fără ea, procentul nu descrie nimic.</a:t>
            </a:r>
            <a:endParaRPr lang="en-US" sz="1700" dirty="0"/>
          </a:p>
        </p:txBody>
      </p:sp>
      <p:sp>
        <p:nvSpPr>
          <p:cNvPr id="5" name="Shape 3"/>
          <p:cNvSpPr/>
          <p:nvPr/>
        </p:nvSpPr>
        <p:spPr>
          <a:xfrm>
            <a:off x="594360" y="2240280"/>
            <a:ext cx="10972800" cy="1828800"/>
          </a:xfrm>
          <a:prstGeom prst="roundRect">
            <a:avLst>
              <a:gd name="adj" fmla="val 4500"/>
            </a:avLst>
          </a:prstGeom>
          <a:solidFill>
            <a:srgbClr val="ECEAE4"/>
          </a:solidFill>
          <a:ln w="12700">
            <a:solidFill>
              <a:srgbClr val="ECEAE4"/>
            </a:solidFill>
            <a:prstDash val="solid"/>
          </a:ln>
        </p:spPr>
        <p:txBody>
          <a:bodyPr/>
          <a:p/>
        </p:txBody>
      </p:sp>
      <p:sp>
        <p:nvSpPr>
          <p:cNvPr id="6" name="Text 4"/>
          <p:cNvSpPr/>
          <p:nvPr/>
        </p:nvSpPr>
        <p:spPr>
          <a:xfrm>
            <a:off x="868680" y="2423160"/>
            <a:ext cx="10424160" cy="1508760"/>
          </a:xfrm>
          <a:prstGeom prst="rect">
            <a:avLst/>
          </a:prstGeom>
          <a:noFill/>
          <a:ln/>
        </p:spPr>
        <p:txBody>
          <a:bodyPr wrap="square" lIns="0" tIns="0" rIns="0" bIns="0" rtlCol="0" anchor="t"/>
          <a:lstStyle/>
          <a:p>
            <a:pPr algn="l" indent="0" marL="0">
              <a:lnSpc>
                <a:spcPts val="2100"/>
              </a:lnSpc>
              <a:buNone/>
            </a:pPr>
            <a:r>
              <a:rPr lang="en-US" sz="1450" dirty="0">
                <a:solidFill>
                  <a:srgbClr val="11121A"/>
                </a:solidFill>
                <a:latin typeface="Palatino Linotype" pitchFamily="34" charset="0"/>
                <a:ea typeface="Palatino Linotype" pitchFamily="34" charset="-122"/>
                <a:cs typeface="Palatino Linotype" pitchFamily="34" charset="-120"/>
              </a:rPr>
              <a:t>Un sondaj poate pune o întrebare NUMAI respondenților care trec de un filtru anterior, de exemplu numai celor care au avut contact cu sistemul public de sănătate în ultimele douăsprezece luni. Când filtrul se aplică, procentul nu mai descrie populația generală. Și, decisiv: dacă proporția celor care trec de filtru se schimbă între două valuri, cele două procente nu mai sunt comparabile direct, chiar dacă întrebarea a rămas identică.</a:t>
            </a:r>
            <a:endParaRPr lang="en-US" sz="1450" dirty="0"/>
          </a:p>
        </p:txBody>
      </p:sp>
      <p:sp>
        <p:nvSpPr>
          <p:cNvPr id="7" name="Shape 5"/>
          <p:cNvSpPr/>
          <p:nvPr/>
        </p:nvSpPr>
        <p:spPr>
          <a:xfrm>
            <a:off x="594360" y="4251960"/>
            <a:ext cx="10972800" cy="1463040"/>
          </a:xfrm>
          <a:prstGeom prst="roundRect">
            <a:avLst>
              <a:gd name="adj" fmla="val 5625"/>
            </a:avLst>
          </a:prstGeom>
          <a:solidFill>
            <a:srgbClr val="FFC24B"/>
          </a:solidFill>
          <a:ln w="12700">
            <a:solidFill>
              <a:srgbClr val="FFC24B"/>
            </a:solidFill>
            <a:prstDash val="solid"/>
          </a:ln>
        </p:spPr>
        <p:txBody>
          <a:bodyPr/>
          <a:p/>
        </p:txBody>
      </p:sp>
      <p:sp>
        <p:nvSpPr>
          <p:cNvPr id="8" name="Text 6"/>
          <p:cNvSpPr/>
          <p:nvPr/>
        </p:nvSpPr>
        <p:spPr>
          <a:xfrm>
            <a:off x="868680" y="441655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3D2A00"/>
                </a:solidFill>
                <a:latin typeface="Palatino Linotype" pitchFamily="34" charset="0"/>
                <a:ea typeface="Palatino Linotype" pitchFamily="34" charset="-122"/>
                <a:cs typeface="Palatino Linotype" pitchFamily="34" charset="-120"/>
              </a:rPr>
              <a:t>CONSECINȚA PRACTICĂ</a:t>
            </a:r>
            <a:endParaRPr lang="en-US" sz="1000" dirty="0"/>
          </a:p>
        </p:txBody>
      </p:sp>
      <p:sp>
        <p:nvSpPr>
          <p:cNvPr id="9" name="Text 7"/>
          <p:cNvSpPr/>
          <p:nvPr/>
        </p:nvSpPr>
        <p:spPr>
          <a:xfrm>
            <a:off x="868680" y="4709160"/>
            <a:ext cx="10424160" cy="914400"/>
          </a:xfrm>
          <a:prstGeom prst="rect">
            <a:avLst/>
          </a:prstGeom>
          <a:noFill/>
          <a:ln/>
        </p:spPr>
        <p:txBody>
          <a:bodyPr wrap="square" lIns="0" tIns="0" rIns="0" bIns="0" rtlCol="0" anchor="t"/>
          <a:lstStyle/>
          <a:p>
            <a:pPr algn="l" indent="0" marL="0">
              <a:lnSpc>
                <a:spcPts val="2000"/>
              </a:lnSpc>
              <a:buNone/>
            </a:pPr>
            <a:r>
              <a:rPr lang="en-US" sz="1500" b="1" dirty="0">
                <a:solidFill>
                  <a:srgbClr val="3D2A00"/>
                </a:solidFill>
                <a:latin typeface="Palatino Linotype" pitchFamily="34" charset="0"/>
                <a:ea typeface="Palatino Linotype" pitchFamily="34" charset="-122"/>
                <a:cs typeface="Palatino Linotype" pitchFamily="34" charset="-120"/>
              </a:rPr>
              <a:t>Un procent fără numitor declarat nu poate fi citat. Deloc.</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4A2D8C"/>
                </a:solidFill>
                <a:latin typeface="Palatino Linotype" pitchFamily="34" charset="0"/>
                <a:ea typeface="Palatino Linotype" pitchFamily="34" charset="-122"/>
                <a:cs typeface="Palatino Linotype" pitchFamily="34" charset="-120"/>
              </a:rPr>
              <a:t>NOȚIUNEA 3 / 6</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Ruptura de serie</a:t>
            </a:r>
            <a:endParaRPr lang="en-US" sz="3400" dirty="0"/>
          </a:p>
        </p:txBody>
      </p:sp>
      <p:sp>
        <p:nvSpPr>
          <p:cNvPr id="4" name="Text 2"/>
          <p:cNvSpPr/>
          <p:nvPr/>
        </p:nvSpPr>
        <p:spPr>
          <a:xfrm>
            <a:off x="594360" y="1481328"/>
            <a:ext cx="10972800" cy="502920"/>
          </a:xfrm>
          <a:prstGeom prst="rect">
            <a:avLst/>
          </a:prstGeom>
          <a:noFill/>
          <a:ln/>
        </p:spPr>
        <p:txBody>
          <a:bodyPr wrap="square" lIns="0" tIns="0" rIns="0" bIns="0" rtlCol="0" anchor="ctr"/>
          <a:lstStyle/>
          <a:p>
            <a:pPr indent="0" marL="0">
              <a:buNone/>
            </a:pPr>
            <a:r>
              <a:rPr lang="en-US" sz="1700" dirty="0">
                <a:solidFill>
                  <a:srgbClr val="4A2D8C"/>
                </a:solidFill>
                <a:latin typeface="Palatino Linotype" pitchFamily="34" charset="0"/>
                <a:ea typeface="Palatino Linotype" pitchFamily="34" charset="-122"/>
                <a:cs typeface="Palatino Linotype" pitchFamily="34" charset="-120"/>
              </a:rPr>
              <a:t>Momentul în care instrumentul s-a schimbat, iar anii dinainte și de după nu se mai compară.</a:t>
            </a:r>
            <a:endParaRPr lang="en-US" sz="1700" dirty="0"/>
          </a:p>
        </p:txBody>
      </p:sp>
      <p:sp>
        <p:nvSpPr>
          <p:cNvPr id="5" name="Shape 3"/>
          <p:cNvSpPr/>
          <p:nvPr/>
        </p:nvSpPr>
        <p:spPr>
          <a:xfrm>
            <a:off x="594360" y="2240280"/>
            <a:ext cx="10972800" cy="1828800"/>
          </a:xfrm>
          <a:prstGeom prst="roundRect">
            <a:avLst>
              <a:gd name="adj" fmla="val 4500"/>
            </a:avLst>
          </a:prstGeom>
          <a:solidFill>
            <a:srgbClr val="ECEAE4"/>
          </a:solidFill>
          <a:ln w="12700">
            <a:solidFill>
              <a:srgbClr val="ECEAE4"/>
            </a:solidFill>
            <a:prstDash val="solid"/>
          </a:ln>
        </p:spPr>
        <p:txBody>
          <a:bodyPr/>
          <a:p/>
        </p:txBody>
      </p:sp>
      <p:sp>
        <p:nvSpPr>
          <p:cNvPr id="6" name="Text 4"/>
          <p:cNvSpPr/>
          <p:nvPr/>
        </p:nvSpPr>
        <p:spPr>
          <a:xfrm>
            <a:off x="868680" y="2423160"/>
            <a:ext cx="10424160" cy="1508760"/>
          </a:xfrm>
          <a:prstGeom prst="rect">
            <a:avLst/>
          </a:prstGeom>
          <a:noFill/>
          <a:ln/>
        </p:spPr>
        <p:txBody>
          <a:bodyPr wrap="square" lIns="0" tIns="0" rIns="0" bIns="0" rtlCol="0" anchor="t"/>
          <a:lstStyle/>
          <a:p>
            <a:pPr algn="l" indent="0" marL="0">
              <a:lnSpc>
                <a:spcPts val="2100"/>
              </a:lnSpc>
              <a:buNone/>
            </a:pPr>
            <a:r>
              <a:rPr lang="en-US" sz="1450" dirty="0">
                <a:solidFill>
                  <a:srgbClr val="11121A"/>
                </a:solidFill>
                <a:latin typeface="Palatino Linotype" pitchFamily="34" charset="0"/>
                <a:ea typeface="Palatino Linotype" pitchFamily="34" charset="-122"/>
                <a:cs typeface="Palatino Linotype" pitchFamily="34" charset="-120"/>
              </a:rPr>
              <a:t>O serie de timp presupune că instrumentul a rămas același. Când metodologia se schimbă (scala, sursele agregate, întrebarea, ancorarea statistică), seria se rupe. Producătorii anunță de obicei ruptura în documentația metodologică, separat de tabelul cu toți anii, care este disponibil imediat. Uneori anunțul lipsește din tabel, iar schimbarea se vede numai din cifre.</a:t>
            </a:r>
            <a:endParaRPr lang="en-US" sz="1450" dirty="0"/>
          </a:p>
        </p:txBody>
      </p:sp>
      <p:sp>
        <p:nvSpPr>
          <p:cNvPr id="7" name="Shape 5"/>
          <p:cNvSpPr/>
          <p:nvPr/>
        </p:nvSpPr>
        <p:spPr>
          <a:xfrm>
            <a:off x="594360" y="4251960"/>
            <a:ext cx="10972800" cy="1463040"/>
          </a:xfrm>
          <a:prstGeom prst="roundRect">
            <a:avLst>
              <a:gd name="adj" fmla="val 5625"/>
            </a:avLst>
          </a:prstGeom>
          <a:solidFill>
            <a:srgbClr val="9B7EF7"/>
          </a:solidFill>
          <a:ln w="12700">
            <a:solidFill>
              <a:srgbClr val="9B7EF7"/>
            </a:solidFill>
            <a:prstDash val="solid"/>
          </a:ln>
        </p:spPr>
        <p:txBody>
          <a:bodyPr/>
          <a:p/>
        </p:txBody>
      </p:sp>
      <p:sp>
        <p:nvSpPr>
          <p:cNvPr id="8" name="Text 6"/>
          <p:cNvSpPr/>
          <p:nvPr/>
        </p:nvSpPr>
        <p:spPr>
          <a:xfrm>
            <a:off x="868680" y="441655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F1040"/>
                </a:solidFill>
                <a:latin typeface="Palatino Linotype" pitchFamily="34" charset="0"/>
                <a:ea typeface="Palatino Linotype" pitchFamily="34" charset="-122"/>
                <a:cs typeface="Palatino Linotype" pitchFamily="34" charset="-120"/>
              </a:rPr>
              <a:t>CONSECINȚA PRACTICĂ</a:t>
            </a:r>
            <a:endParaRPr lang="en-US" sz="1000" dirty="0"/>
          </a:p>
        </p:txBody>
      </p:sp>
      <p:sp>
        <p:nvSpPr>
          <p:cNvPr id="9" name="Text 7"/>
          <p:cNvSpPr/>
          <p:nvPr/>
        </p:nvSpPr>
        <p:spPr>
          <a:xfrm>
            <a:off x="868680" y="4709160"/>
            <a:ext cx="10424160" cy="914400"/>
          </a:xfrm>
          <a:prstGeom prst="rect">
            <a:avLst/>
          </a:prstGeom>
          <a:noFill/>
          <a:ln/>
        </p:spPr>
        <p:txBody>
          <a:bodyPr wrap="square" lIns="0" tIns="0" rIns="0" bIns="0" rtlCol="0" anchor="t"/>
          <a:lstStyle/>
          <a:p>
            <a:pPr algn="l" indent="0" marL="0">
              <a:lnSpc>
                <a:spcPts val="2000"/>
              </a:lnSpc>
              <a:buNone/>
            </a:pPr>
            <a:r>
              <a:rPr lang="en-US" sz="1500" b="1" dirty="0">
                <a:solidFill>
                  <a:srgbClr val="1F1040"/>
                </a:solidFill>
                <a:latin typeface="Palatino Linotype" pitchFamily="34" charset="0"/>
                <a:ea typeface="Palatino Linotype" pitchFamily="34" charset="-122"/>
                <a:cs typeface="Palatino Linotype" pitchFamily="34" charset="-120"/>
              </a:rPr>
              <a:t>Înainte de a compara doi ani, verificați dacă producătorul datelor declară seria comparabilă între acei doi ani.</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0E7C6B"/>
                </a:solidFill>
                <a:latin typeface="Palatino Linotype" pitchFamily="34" charset="0"/>
                <a:ea typeface="Palatino Linotype" pitchFamily="34" charset="-122"/>
                <a:cs typeface="Palatino Linotype" pitchFamily="34" charset="-120"/>
              </a:rPr>
              <a:t>NOȚIUNEA 4 / 6</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Anul de referință</a:t>
            </a:r>
            <a:endParaRPr lang="en-US" sz="3400" dirty="0"/>
          </a:p>
        </p:txBody>
      </p:sp>
      <p:sp>
        <p:nvSpPr>
          <p:cNvPr id="4" name="Text 2"/>
          <p:cNvSpPr/>
          <p:nvPr/>
        </p:nvSpPr>
        <p:spPr>
          <a:xfrm>
            <a:off x="594360" y="1481328"/>
            <a:ext cx="10972800" cy="502920"/>
          </a:xfrm>
          <a:prstGeom prst="rect">
            <a:avLst/>
          </a:prstGeom>
          <a:noFill/>
          <a:ln/>
        </p:spPr>
        <p:txBody>
          <a:bodyPr wrap="square" lIns="0" tIns="0" rIns="0" bIns="0" rtlCol="0" anchor="ctr"/>
          <a:lstStyle/>
          <a:p>
            <a:pPr indent="0" marL="0">
              <a:buNone/>
            </a:pPr>
            <a:r>
              <a:rPr lang="en-US" sz="1700" dirty="0">
                <a:solidFill>
                  <a:srgbClr val="0E7C6B"/>
                </a:solidFill>
                <a:latin typeface="Palatino Linotype" pitchFamily="34" charset="0"/>
                <a:ea typeface="Palatino Linotype" pitchFamily="34" charset="-122"/>
                <a:cs typeface="Palatino Linotype" pitchFamily="34" charset="-120"/>
              </a:rPr>
              <a:t>Anul la care se referă data — nu anul în care a apărut raportul.</a:t>
            </a:r>
            <a:endParaRPr lang="en-US" sz="1700" dirty="0"/>
          </a:p>
        </p:txBody>
      </p:sp>
      <p:sp>
        <p:nvSpPr>
          <p:cNvPr id="5" name="Shape 3"/>
          <p:cNvSpPr/>
          <p:nvPr/>
        </p:nvSpPr>
        <p:spPr>
          <a:xfrm>
            <a:off x="594360" y="2240280"/>
            <a:ext cx="10972800" cy="1828800"/>
          </a:xfrm>
          <a:prstGeom prst="roundRect">
            <a:avLst>
              <a:gd name="adj" fmla="val 4500"/>
            </a:avLst>
          </a:prstGeom>
          <a:solidFill>
            <a:srgbClr val="ECEAE4"/>
          </a:solidFill>
          <a:ln w="12700">
            <a:solidFill>
              <a:srgbClr val="ECEAE4"/>
            </a:solidFill>
            <a:prstDash val="solid"/>
          </a:ln>
        </p:spPr>
        <p:txBody>
          <a:bodyPr/>
          <a:p/>
        </p:txBody>
      </p:sp>
      <p:sp>
        <p:nvSpPr>
          <p:cNvPr id="6" name="Text 4"/>
          <p:cNvSpPr/>
          <p:nvPr/>
        </p:nvSpPr>
        <p:spPr>
          <a:xfrm>
            <a:off x="868680" y="2423160"/>
            <a:ext cx="10424160" cy="1508760"/>
          </a:xfrm>
          <a:prstGeom prst="rect">
            <a:avLst/>
          </a:prstGeom>
          <a:noFill/>
          <a:ln/>
        </p:spPr>
        <p:txBody>
          <a:bodyPr wrap="square" lIns="0" tIns="0" rIns="0" bIns="0" rtlCol="0" anchor="t"/>
          <a:lstStyle/>
          <a:p>
            <a:pPr algn="l" indent="0" marL="0">
              <a:lnSpc>
                <a:spcPts val="2100"/>
              </a:lnSpc>
              <a:buNone/>
            </a:pPr>
            <a:r>
              <a:rPr lang="en-US" sz="1450" dirty="0">
                <a:solidFill>
                  <a:srgbClr val="11121A"/>
                </a:solidFill>
                <a:latin typeface="Palatino Linotype" pitchFamily="34" charset="0"/>
                <a:ea typeface="Palatino Linotype" pitchFamily="34" charset="-122"/>
                <a:cs typeface="Palatino Linotype" pitchFamily="34" charset="-120"/>
              </a:rPr>
              <a:t>Diferența este de regulă de unu până la trei ani, dar poate fi mai mare și NU este constantă între țări în aceeași publicație internațională. Într-o comparație europeană cu douăzeci și șapte de rânduri, valorile se pot referi la ani diferiți. În acest caz, tabelul nu mai este o comparație, ci o colecție.</a:t>
            </a:r>
            <a:endParaRPr lang="en-US" sz="1450" dirty="0"/>
          </a:p>
        </p:txBody>
      </p:sp>
      <p:sp>
        <p:nvSpPr>
          <p:cNvPr id="7" name="Shape 5"/>
          <p:cNvSpPr/>
          <p:nvPr/>
        </p:nvSpPr>
        <p:spPr>
          <a:xfrm>
            <a:off x="594360" y="4251960"/>
            <a:ext cx="10972800" cy="1463040"/>
          </a:xfrm>
          <a:prstGeom prst="roundRect">
            <a:avLst>
              <a:gd name="adj" fmla="val 5625"/>
            </a:avLst>
          </a:prstGeom>
          <a:solidFill>
            <a:srgbClr val="07564B"/>
          </a:solidFill>
          <a:ln w="12700">
            <a:solidFill>
              <a:srgbClr val="07564B"/>
            </a:solidFill>
            <a:prstDash val="solid"/>
          </a:ln>
        </p:spPr>
        <p:txBody>
          <a:bodyPr/>
          <a:p/>
        </p:txBody>
      </p:sp>
      <p:sp>
        <p:nvSpPr>
          <p:cNvPr id="8" name="Text 6"/>
          <p:cNvSpPr/>
          <p:nvPr/>
        </p:nvSpPr>
        <p:spPr>
          <a:xfrm>
            <a:off x="868680" y="441655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FFFFFF"/>
                </a:solidFill>
                <a:latin typeface="Palatino Linotype" pitchFamily="34" charset="0"/>
                <a:ea typeface="Palatino Linotype" pitchFamily="34" charset="-122"/>
                <a:cs typeface="Palatino Linotype" pitchFamily="34" charset="-120"/>
              </a:rPr>
              <a:t>CONSECINȚA PRACTICĂ</a:t>
            </a:r>
            <a:endParaRPr lang="en-US" sz="1000" dirty="0"/>
          </a:p>
        </p:txBody>
      </p:sp>
      <p:sp>
        <p:nvSpPr>
          <p:cNvPr id="9" name="Text 7"/>
          <p:cNvSpPr/>
          <p:nvPr/>
        </p:nvSpPr>
        <p:spPr>
          <a:xfrm>
            <a:off x="868680" y="4709160"/>
            <a:ext cx="10424160" cy="914400"/>
          </a:xfrm>
          <a:prstGeom prst="rect">
            <a:avLst/>
          </a:prstGeom>
          <a:noFill/>
          <a:ln/>
        </p:spPr>
        <p:txBody>
          <a:bodyPr wrap="square" lIns="0" tIns="0" rIns="0" bIns="0" rtlCol="0" anchor="t"/>
          <a:lstStyle/>
          <a:p>
            <a:pPr algn="l" indent="0" marL="0">
              <a:lnSpc>
                <a:spcPts val="2000"/>
              </a:lnSpc>
              <a:buNone/>
            </a:pPr>
            <a:r>
              <a:rPr lang="en-US" sz="1500" b="1" dirty="0">
                <a:solidFill>
                  <a:srgbClr val="FFFFFF"/>
                </a:solidFill>
                <a:latin typeface="Palatino Linotype" pitchFamily="34" charset="0"/>
                <a:ea typeface="Palatino Linotype" pitchFamily="34" charset="-122"/>
                <a:cs typeface="Palatino Linotype" pitchFamily="34" charset="-120"/>
              </a:rPr>
              <a:t>Pe fiecare diapozitiv al acestui curs, anul afișat lângă o cifră este anul de referință. Când diferă de anul publicării, se scriu amândouă.</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9C4A0A"/>
                </a:solidFill>
                <a:latin typeface="Palatino Linotype" pitchFamily="34" charset="0"/>
                <a:ea typeface="Palatino Linotype" pitchFamily="34" charset="-122"/>
                <a:cs typeface="Palatino Linotype" pitchFamily="34" charset="-120"/>
              </a:rPr>
              <a:t>NOȚIUNEA 5 / 6</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Indicatorul compozit</a:t>
            </a:r>
            <a:endParaRPr lang="en-US" sz="3400" dirty="0"/>
          </a:p>
        </p:txBody>
      </p:sp>
      <p:sp>
        <p:nvSpPr>
          <p:cNvPr id="4" name="Text 2"/>
          <p:cNvSpPr/>
          <p:nvPr/>
        </p:nvSpPr>
        <p:spPr>
          <a:xfrm>
            <a:off x="594360" y="1481328"/>
            <a:ext cx="10972800" cy="502920"/>
          </a:xfrm>
          <a:prstGeom prst="rect">
            <a:avLst/>
          </a:prstGeom>
          <a:noFill/>
          <a:ln/>
        </p:spPr>
        <p:txBody>
          <a:bodyPr wrap="square" lIns="0" tIns="0" rIns="0" bIns="0" rtlCol="0" anchor="ctr"/>
          <a:lstStyle/>
          <a:p>
            <a:pPr indent="0" marL="0">
              <a:buNone/>
            </a:pPr>
            <a:r>
              <a:rPr lang="en-US" sz="1700" dirty="0">
                <a:solidFill>
                  <a:srgbClr val="9C4A0A"/>
                </a:solidFill>
                <a:latin typeface="Palatino Linotype" pitchFamily="34" charset="0"/>
                <a:ea typeface="Palatino Linotype" pitchFamily="34" charset="-122"/>
                <a:cs typeface="Palatino Linotype" pitchFamily="34" charset="-120"/>
              </a:rPr>
              <a:t>Un număr care nu măsoară nimic direct: agregă mai multe surse după o regulă publicată.</a:t>
            </a:r>
            <a:endParaRPr lang="en-US" sz="1700" dirty="0"/>
          </a:p>
        </p:txBody>
      </p:sp>
      <p:sp>
        <p:nvSpPr>
          <p:cNvPr id="5" name="Shape 3"/>
          <p:cNvSpPr/>
          <p:nvPr/>
        </p:nvSpPr>
        <p:spPr>
          <a:xfrm>
            <a:off x="594360" y="2240280"/>
            <a:ext cx="10972800" cy="1828800"/>
          </a:xfrm>
          <a:prstGeom prst="roundRect">
            <a:avLst>
              <a:gd name="adj" fmla="val 4500"/>
            </a:avLst>
          </a:prstGeom>
          <a:solidFill>
            <a:srgbClr val="ECEAE4"/>
          </a:solidFill>
          <a:ln w="12700">
            <a:solidFill>
              <a:srgbClr val="ECEAE4"/>
            </a:solidFill>
            <a:prstDash val="solid"/>
          </a:ln>
        </p:spPr>
        <p:txBody>
          <a:bodyPr/>
          <a:p/>
        </p:txBody>
      </p:sp>
      <p:sp>
        <p:nvSpPr>
          <p:cNvPr id="6" name="Text 4"/>
          <p:cNvSpPr/>
          <p:nvPr/>
        </p:nvSpPr>
        <p:spPr>
          <a:xfrm>
            <a:off x="868680" y="2423160"/>
            <a:ext cx="10424160" cy="1508760"/>
          </a:xfrm>
          <a:prstGeom prst="rect">
            <a:avLst/>
          </a:prstGeom>
          <a:noFill/>
          <a:ln/>
        </p:spPr>
        <p:txBody>
          <a:bodyPr wrap="square" lIns="0" tIns="0" rIns="0" bIns="0" rtlCol="0" anchor="t"/>
          <a:lstStyle/>
          <a:p>
            <a:pPr algn="l" indent="0" marL="0">
              <a:lnSpc>
                <a:spcPts val="2100"/>
              </a:lnSpc>
              <a:buNone/>
            </a:pPr>
            <a:r>
              <a:rPr lang="en-US" sz="1450" dirty="0">
                <a:solidFill>
                  <a:srgbClr val="11121A"/>
                </a:solidFill>
                <a:latin typeface="Palatino Linotype" pitchFamily="34" charset="0"/>
                <a:ea typeface="Palatino Linotype" pitchFamily="34" charset="-122"/>
                <a:cs typeface="Palatino Linotype" pitchFamily="34" charset="-120"/>
              </a:rPr>
              <a:t>Indicele de percepție discutat astăzi agregă treisprezece surse de evaluare, de la experți și din mediul de afaceri. Un indicator compozit moștenește limitele surselor sale și adaugă una proprie: nu toate sursele acoperă toate țările. Scorul României din ediția 2025 a fost calculat din 9 dintre cele 13 surse.</a:t>
            </a:r>
            <a:endParaRPr lang="en-US" sz="1450" dirty="0"/>
          </a:p>
        </p:txBody>
      </p:sp>
      <p:sp>
        <p:nvSpPr>
          <p:cNvPr id="7" name="Shape 5"/>
          <p:cNvSpPr/>
          <p:nvPr/>
        </p:nvSpPr>
        <p:spPr>
          <a:xfrm>
            <a:off x="594360" y="4251960"/>
            <a:ext cx="10972800" cy="1463040"/>
          </a:xfrm>
          <a:prstGeom prst="roundRect">
            <a:avLst>
              <a:gd name="adj" fmla="val 5625"/>
            </a:avLst>
          </a:prstGeom>
          <a:solidFill>
            <a:srgbClr val="FF8A3D"/>
          </a:solidFill>
          <a:ln w="12700">
            <a:solidFill>
              <a:srgbClr val="FF8A3D"/>
            </a:solidFill>
            <a:prstDash val="solid"/>
          </a:ln>
        </p:spPr>
        <p:txBody>
          <a:bodyPr/>
          <a:p/>
        </p:txBody>
      </p:sp>
      <p:sp>
        <p:nvSpPr>
          <p:cNvPr id="8" name="Text 6"/>
          <p:cNvSpPr/>
          <p:nvPr/>
        </p:nvSpPr>
        <p:spPr>
          <a:xfrm>
            <a:off x="868680" y="441655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B1200"/>
                </a:solidFill>
                <a:latin typeface="Palatino Linotype" pitchFamily="34" charset="0"/>
                <a:ea typeface="Palatino Linotype" pitchFamily="34" charset="-122"/>
                <a:cs typeface="Palatino Linotype" pitchFamily="34" charset="-120"/>
              </a:rPr>
              <a:t>CONSECINȚA PRACTICĂ</a:t>
            </a:r>
            <a:endParaRPr lang="en-US" sz="1000" dirty="0"/>
          </a:p>
        </p:txBody>
      </p:sp>
      <p:sp>
        <p:nvSpPr>
          <p:cNvPr id="9" name="Text 7"/>
          <p:cNvSpPr/>
          <p:nvPr/>
        </p:nvSpPr>
        <p:spPr>
          <a:xfrm>
            <a:off x="868680" y="4709160"/>
            <a:ext cx="10424160" cy="914400"/>
          </a:xfrm>
          <a:prstGeom prst="rect">
            <a:avLst/>
          </a:prstGeom>
          <a:noFill/>
          <a:ln/>
        </p:spPr>
        <p:txBody>
          <a:bodyPr wrap="square" lIns="0" tIns="0" rIns="0" bIns="0" rtlCol="0" anchor="t"/>
          <a:lstStyle/>
          <a:p>
            <a:pPr algn="l" indent="0" marL="0">
              <a:lnSpc>
                <a:spcPts val="2000"/>
              </a:lnSpc>
              <a:buNone/>
            </a:pPr>
            <a:r>
              <a:rPr lang="en-US" sz="1500" b="1" dirty="0">
                <a:solidFill>
                  <a:srgbClr val="2B1200"/>
                </a:solidFill>
                <a:latin typeface="Palatino Linotype" pitchFamily="34" charset="0"/>
                <a:ea typeface="Palatino Linotype" pitchFamily="34" charset="-122"/>
                <a:cs typeface="Palatino Linotype" pitchFamily="34" charset="-120"/>
              </a:rPr>
              <a:t>Un scor compozit nu este o măsurătoare, ci o sinteză numerică a unor opinii calificate.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NOȚIUNEA 6 / 6</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Eroarea standard</a:t>
            </a:r>
            <a:endParaRPr lang="en-US" sz="3400" dirty="0"/>
          </a:p>
        </p:txBody>
      </p:sp>
      <p:sp>
        <p:nvSpPr>
          <p:cNvPr id="4" name="Text 2"/>
          <p:cNvSpPr/>
          <p:nvPr/>
        </p:nvSpPr>
        <p:spPr>
          <a:xfrm>
            <a:off x="594360" y="1481328"/>
            <a:ext cx="10972800" cy="502920"/>
          </a:xfrm>
          <a:prstGeom prst="rect">
            <a:avLst/>
          </a:prstGeom>
          <a:noFill/>
          <a:ln/>
        </p:spPr>
        <p:txBody>
          <a:bodyPr wrap="square" lIns="0" tIns="0" rIns="0" bIns="0" rtlCol="0" anchor="ctr"/>
          <a:lstStyle/>
          <a:p>
            <a:pPr indent="0" marL="0">
              <a:buNone/>
            </a:pPr>
            <a:r>
              <a:rPr lang="en-US" sz="1700" dirty="0">
                <a:solidFill>
                  <a:srgbClr val="B02532"/>
                </a:solidFill>
                <a:latin typeface="Palatino Linotype" pitchFamily="34" charset="0"/>
                <a:ea typeface="Palatino Linotype" pitchFamily="34" charset="-122"/>
                <a:cs typeface="Palatino Linotype" pitchFamily="34" charset="-120"/>
              </a:rPr>
              <a:t>Marja de incertitudine publicată a unei estimări. Face parte din cifră.</a:t>
            </a:r>
            <a:endParaRPr lang="en-US" sz="1700" dirty="0"/>
          </a:p>
        </p:txBody>
      </p:sp>
      <p:sp>
        <p:nvSpPr>
          <p:cNvPr id="5" name="Shape 3"/>
          <p:cNvSpPr/>
          <p:nvPr/>
        </p:nvSpPr>
        <p:spPr>
          <a:xfrm>
            <a:off x="594360" y="2240280"/>
            <a:ext cx="10972800" cy="1828800"/>
          </a:xfrm>
          <a:prstGeom prst="roundRect">
            <a:avLst>
              <a:gd name="adj" fmla="val 4500"/>
            </a:avLst>
          </a:prstGeom>
          <a:solidFill>
            <a:srgbClr val="ECEAE4"/>
          </a:solidFill>
          <a:ln w="12700">
            <a:solidFill>
              <a:srgbClr val="ECEAE4"/>
            </a:solidFill>
            <a:prstDash val="solid"/>
          </a:ln>
        </p:spPr>
        <p:txBody>
          <a:bodyPr/>
          <a:p/>
        </p:txBody>
      </p:sp>
      <p:sp>
        <p:nvSpPr>
          <p:cNvPr id="6" name="Text 4"/>
          <p:cNvSpPr/>
          <p:nvPr/>
        </p:nvSpPr>
        <p:spPr>
          <a:xfrm>
            <a:off x="868680" y="2423160"/>
            <a:ext cx="10424160" cy="1508760"/>
          </a:xfrm>
          <a:prstGeom prst="rect">
            <a:avLst/>
          </a:prstGeom>
          <a:noFill/>
          <a:ln/>
        </p:spPr>
        <p:txBody>
          <a:bodyPr wrap="square" lIns="0" tIns="0" rIns="0" bIns="0" rtlCol="0" anchor="t"/>
          <a:lstStyle/>
          <a:p>
            <a:pPr algn="l" indent="0" marL="0">
              <a:lnSpc>
                <a:spcPts val="2100"/>
              </a:lnSpc>
              <a:buNone/>
            </a:pPr>
            <a:r>
              <a:rPr lang="en-US" sz="1450" dirty="0">
                <a:solidFill>
                  <a:srgbClr val="11121A"/>
                </a:solidFill>
                <a:latin typeface="Palatino Linotype" pitchFamily="34" charset="0"/>
                <a:ea typeface="Palatino Linotype" pitchFamily="34" charset="-122"/>
                <a:cs typeface="Palatino Linotype" pitchFamily="34" charset="-120"/>
              </a:rPr>
              <a:t>Dacă intervalele de încredere ale două valori se suprapun larg, diferența dintre ele nu susține o afirmație despre schimbare, fie că este vorba de doi ani ai aceleiași țări, fie de două țări în același an. Exemplu: indicele de percepție, 46 (42,7–49,3) în ediția 2024 și 45 (42,8–47,2) în ediția 2025. Un grafic fără benzi de incertitudine nu arată dacă panta depășește incertitudinea.</a:t>
            </a:r>
            <a:endParaRPr lang="en-US" sz="1450" dirty="0"/>
          </a:p>
        </p:txBody>
      </p:sp>
      <p:sp>
        <p:nvSpPr>
          <p:cNvPr id="7" name="Shape 5"/>
          <p:cNvSpPr/>
          <p:nvPr/>
        </p:nvSpPr>
        <p:spPr>
          <a:xfrm>
            <a:off x="594360" y="4251960"/>
            <a:ext cx="10972800" cy="1463040"/>
          </a:xfrm>
          <a:prstGeom prst="roundRect">
            <a:avLst>
              <a:gd name="adj" fmla="val 5625"/>
            </a:avLst>
          </a:prstGeom>
          <a:solidFill>
            <a:srgbClr val="FF4757"/>
          </a:solidFill>
          <a:ln w="12700">
            <a:solidFill>
              <a:srgbClr val="FF4757"/>
            </a:solidFill>
            <a:prstDash val="solid"/>
          </a:ln>
        </p:spPr>
        <p:txBody>
          <a:bodyPr/>
          <a:p/>
        </p:txBody>
      </p:sp>
      <p:sp>
        <p:nvSpPr>
          <p:cNvPr id="8" name="Text 6"/>
          <p:cNvSpPr/>
          <p:nvPr/>
        </p:nvSpPr>
        <p:spPr>
          <a:xfrm>
            <a:off x="868680" y="441655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E060B"/>
                </a:solidFill>
                <a:latin typeface="Palatino Linotype" pitchFamily="34" charset="0"/>
                <a:ea typeface="Palatino Linotype" pitchFamily="34" charset="-122"/>
                <a:cs typeface="Palatino Linotype" pitchFamily="34" charset="-120"/>
              </a:rPr>
              <a:t>CONSECINȚA PRACTICĂ</a:t>
            </a:r>
            <a:endParaRPr lang="en-US" sz="1000" dirty="0"/>
          </a:p>
        </p:txBody>
      </p:sp>
      <p:sp>
        <p:nvSpPr>
          <p:cNvPr id="9" name="Text 7"/>
          <p:cNvSpPr/>
          <p:nvPr/>
        </p:nvSpPr>
        <p:spPr>
          <a:xfrm>
            <a:off x="868680" y="4709160"/>
            <a:ext cx="10424160" cy="914400"/>
          </a:xfrm>
          <a:prstGeom prst="rect">
            <a:avLst/>
          </a:prstGeom>
          <a:noFill/>
          <a:ln/>
        </p:spPr>
        <p:txBody>
          <a:bodyPr wrap="square" lIns="0" tIns="0" rIns="0" bIns="0" rtlCol="0" anchor="t"/>
          <a:lstStyle/>
          <a:p>
            <a:pPr algn="l" indent="0" marL="0">
              <a:lnSpc>
                <a:spcPts val="2000"/>
              </a:lnSpc>
              <a:buNone/>
            </a:pPr>
            <a:r>
              <a:rPr lang="en-US" sz="1500" b="1" dirty="0">
                <a:solidFill>
                  <a:srgbClr val="2E060B"/>
                </a:solidFill>
                <a:latin typeface="Palatino Linotype" pitchFamily="34" charset="0"/>
                <a:ea typeface="Palatino Linotype" pitchFamily="34" charset="-122"/>
                <a:cs typeface="Palatino Linotype" pitchFamily="34" charset="-120"/>
              </a:rPr>
              <a:t>O cifră fără marjă de eroare nu poate susține o comparație. Poate susține cel mult o descriere.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564B"/>
        </a:solidFill>
      </p:bgPr>
    </p:bg>
    <p:spTree>
      <p:nvGrpSpPr>
        <p:cNvPr id="1" name=""/>
        <p:cNvGrpSpPr/>
        <p:nvPr/>
      </p:nvGrpSpPr>
      <p:grpSpPr>
        <a:xfrm>
          <a:off x="0" y="0"/>
          <a:ext cx="0" cy="0"/>
          <a:chOff x="0" y="0"/>
          <a:chExt cx="0" cy="0"/>
        </a:xfrm>
      </p:grpSpPr>
      <p:sp>
        <p:nvSpPr>
          <p:cNvPr id="2" name="Shape 0"/>
          <p:cNvSpPr/>
          <p:nvPr/>
        </p:nvSpPr>
        <p:spPr>
          <a:xfrm>
            <a:off x="594360" y="384048"/>
            <a:ext cx="2194560" cy="310896"/>
          </a:xfrm>
          <a:prstGeom prst="roundRect">
            <a:avLst>
              <a:gd name="adj" fmla="val 50000"/>
            </a:avLst>
          </a:prstGeom>
          <a:solidFill>
            <a:srgbClr val="FFFFFF"/>
          </a:solidFill>
          <a:ln w="12700">
            <a:solidFill>
              <a:srgbClr val="FFFFFF"/>
            </a:solidFill>
            <a:prstDash val="solid"/>
          </a:ln>
        </p:spPr>
        <p:txBody>
          <a:bodyPr/>
          <a:p/>
        </p:txBody>
      </p:sp>
      <p:sp>
        <p:nvSpPr>
          <p:cNvPr id="3" name="Text 1"/>
          <p:cNvSpPr/>
          <p:nvPr/>
        </p:nvSpPr>
        <p:spPr>
          <a:xfrm>
            <a:off x="594360" y="384048"/>
            <a:ext cx="2194560" cy="310896"/>
          </a:xfrm>
          <a:prstGeom prst="rect">
            <a:avLst/>
          </a:prstGeom>
          <a:noFill/>
          <a:ln/>
        </p:spPr>
        <p:txBody>
          <a:bodyPr wrap="square" lIns="0" tIns="0" rIns="0" bIns="0" rtlCol="0" anchor="ctr"/>
          <a:lstStyle/>
          <a:p>
            <a:pPr algn="ctr" indent="0" marL="0">
              <a:buNone/>
            </a:pPr>
            <a:r>
              <a:rPr lang="en-US" sz="1000" b="1" dirty="0">
                <a:solidFill>
                  <a:srgbClr val="07564B"/>
                </a:solidFill>
                <a:latin typeface="Palatino Linotype" pitchFamily="34" charset="0"/>
                <a:ea typeface="Palatino Linotype" pitchFamily="34" charset="-122"/>
                <a:cs typeface="Palatino Linotype" pitchFamily="34" charset="-120"/>
              </a:rPr>
              <a:t>DE AICI ÎNCOLO</a:t>
            </a:r>
            <a:endParaRPr lang="en-US" sz="1000" dirty="0"/>
          </a:p>
        </p:txBody>
      </p:sp>
      <p:sp>
        <p:nvSpPr>
          <p:cNvPr id="4" name="Text 2"/>
          <p:cNvSpPr/>
          <p:nvPr/>
        </p:nvSpPr>
        <p:spPr>
          <a:xfrm>
            <a:off x="594360" y="1143000"/>
            <a:ext cx="10972800" cy="731520"/>
          </a:xfrm>
          <a:prstGeom prst="rect">
            <a:avLst/>
          </a:prstGeom>
          <a:noFill/>
          <a:ln/>
        </p:spPr>
        <p:txBody>
          <a:bodyPr wrap="square" lIns="0" tIns="0" rIns="0" bIns="0" rtlCol="0" anchor="ctr"/>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Fiecare cifră de pe fiecare diapozitiv</a:t>
            </a:r>
            <a:endParaRPr lang="en-US" sz="3100" dirty="0"/>
          </a:p>
        </p:txBody>
      </p:sp>
      <p:sp>
        <p:nvSpPr>
          <p:cNvPr id="5" name="Text 3"/>
          <p:cNvSpPr/>
          <p:nvPr/>
        </p:nvSpPr>
        <p:spPr>
          <a:xfrm>
            <a:off x="594360" y="1874520"/>
            <a:ext cx="10972800" cy="731520"/>
          </a:xfrm>
          <a:prstGeom prst="rect">
            <a:avLst/>
          </a:prstGeom>
          <a:noFill/>
          <a:ln/>
        </p:spPr>
        <p:txBody>
          <a:bodyPr wrap="square" lIns="0" tIns="0" rIns="0" bIns="0" rtlCol="0" anchor="ctr"/>
          <a:lstStyle/>
          <a:p>
            <a:pPr indent="0" marL="0">
              <a:buNone/>
            </a:pPr>
            <a:r>
              <a:rPr lang="en-US" sz="3100" b="1" dirty="0">
                <a:solidFill>
                  <a:srgbClr val="7FE8D8"/>
                </a:solidFill>
                <a:latin typeface="Palatino Linotype" pitchFamily="34" charset="0"/>
                <a:ea typeface="Palatino Linotype" pitchFamily="34" charset="-122"/>
                <a:cs typeface="Palatino Linotype" pitchFamily="34" charset="-120"/>
              </a:rPr>
              <a:t>are afișate trei lucruri</a:t>
            </a:r>
            <a:endParaRPr lang="en-US" sz="3100" dirty="0"/>
          </a:p>
        </p:txBody>
      </p:sp>
      <p:sp>
        <p:nvSpPr>
          <p:cNvPr id="6" name="Shape 4"/>
          <p:cNvSpPr/>
          <p:nvPr/>
        </p:nvSpPr>
        <p:spPr>
          <a:xfrm>
            <a:off x="594360" y="3063240"/>
            <a:ext cx="3529584" cy="1600200"/>
          </a:xfrm>
          <a:prstGeom prst="roundRect">
            <a:avLst>
              <a:gd name="adj" fmla="val 5143"/>
            </a:avLst>
          </a:prstGeom>
          <a:solidFill>
            <a:srgbClr val="0A6456"/>
          </a:solidFill>
          <a:ln w="12700">
            <a:solidFill>
              <a:srgbClr val="0A6456"/>
            </a:solidFill>
            <a:prstDash val="solid"/>
          </a:ln>
        </p:spPr>
        <p:txBody>
          <a:bodyPr/>
          <a:p/>
        </p:txBody>
      </p:sp>
      <p:sp>
        <p:nvSpPr>
          <p:cNvPr id="7" name="Text 5"/>
          <p:cNvSpPr/>
          <p:nvPr/>
        </p:nvSpPr>
        <p:spPr>
          <a:xfrm>
            <a:off x="868680" y="3246120"/>
            <a:ext cx="2980944" cy="320040"/>
          </a:xfrm>
          <a:prstGeom prst="rect">
            <a:avLst/>
          </a:prstGeom>
          <a:noFill/>
          <a:ln/>
        </p:spPr>
        <p:txBody>
          <a:bodyPr wrap="square" lIns="0" tIns="0" rIns="0" bIns="0" rtlCol="0" anchor="t"/>
          <a:lstStyle/>
          <a:p>
            <a:pPr algn="l" indent="0" marL="0">
              <a:lnSpc>
                <a:spcPts val="1800"/>
              </a:lnSpc>
              <a:buNone/>
            </a:pPr>
            <a:r>
              <a:rPr lang="en-US" sz="1300" b="1" dirty="0">
                <a:solidFill>
                  <a:srgbClr val="FFFFFF"/>
                </a:solidFill>
                <a:latin typeface="Palatino Linotype" pitchFamily="34" charset="0"/>
                <a:ea typeface="Palatino Linotype" pitchFamily="34" charset="-122"/>
                <a:cs typeface="Palatino Linotype" pitchFamily="34" charset="-120"/>
              </a:rPr>
              <a:t>INSTRUMENTUL</a:t>
            </a:r>
            <a:endParaRPr lang="en-US" sz="1300" dirty="0"/>
          </a:p>
        </p:txBody>
      </p:sp>
      <p:sp>
        <p:nvSpPr>
          <p:cNvPr id="8" name="Text 6"/>
          <p:cNvSpPr/>
          <p:nvPr/>
        </p:nvSpPr>
        <p:spPr>
          <a:xfrm>
            <a:off x="868680" y="3639312"/>
            <a:ext cx="2980944" cy="868680"/>
          </a:xfrm>
          <a:prstGeom prst="rect">
            <a:avLst/>
          </a:prstGeom>
          <a:noFill/>
          <a:ln/>
        </p:spPr>
        <p:txBody>
          <a:bodyPr wrap="square" lIns="0" tIns="0" rIns="0" bIns="0" rtlCol="0" anchor="t"/>
          <a:lstStyle/>
          <a:p>
            <a:pPr algn="l" indent="0" marL="0">
              <a:lnSpc>
                <a:spcPts val="1900"/>
              </a:lnSpc>
              <a:buNone/>
            </a:pPr>
            <a:r>
              <a:rPr lang="en-US" sz="1300" dirty="0">
                <a:solidFill>
                  <a:srgbClr val="A8DED4"/>
                </a:solidFill>
                <a:latin typeface="Palatino Linotype" pitchFamily="34" charset="0"/>
                <a:ea typeface="Palatino Linotype" pitchFamily="34" charset="-122"/>
                <a:cs typeface="Palatino Linotype" pitchFamily="34" charset="-120"/>
              </a:rPr>
              <a:t>ce anume a fost măsurat</a:t>
            </a:r>
            <a:endParaRPr lang="en-US" sz="1300" dirty="0"/>
          </a:p>
        </p:txBody>
      </p:sp>
      <p:sp>
        <p:nvSpPr>
          <p:cNvPr id="9" name="Shape 7"/>
          <p:cNvSpPr/>
          <p:nvPr/>
        </p:nvSpPr>
        <p:spPr>
          <a:xfrm>
            <a:off x="4315968" y="3063240"/>
            <a:ext cx="3529584" cy="1600200"/>
          </a:xfrm>
          <a:prstGeom prst="roundRect">
            <a:avLst>
              <a:gd name="adj" fmla="val 5143"/>
            </a:avLst>
          </a:prstGeom>
          <a:solidFill>
            <a:srgbClr val="0A6456"/>
          </a:solidFill>
          <a:ln w="12700">
            <a:solidFill>
              <a:srgbClr val="0A6456"/>
            </a:solidFill>
            <a:prstDash val="solid"/>
          </a:ln>
        </p:spPr>
        <p:txBody>
          <a:bodyPr/>
          <a:p/>
        </p:txBody>
      </p:sp>
      <p:sp>
        <p:nvSpPr>
          <p:cNvPr id="10" name="Text 8"/>
          <p:cNvSpPr/>
          <p:nvPr/>
        </p:nvSpPr>
        <p:spPr>
          <a:xfrm>
            <a:off x="4590288" y="3246120"/>
            <a:ext cx="2980944" cy="320040"/>
          </a:xfrm>
          <a:prstGeom prst="rect">
            <a:avLst/>
          </a:prstGeom>
          <a:noFill/>
          <a:ln/>
        </p:spPr>
        <p:txBody>
          <a:bodyPr wrap="square" lIns="0" tIns="0" rIns="0" bIns="0" rtlCol="0" anchor="t"/>
          <a:lstStyle/>
          <a:p>
            <a:pPr algn="l" indent="0" marL="0">
              <a:lnSpc>
                <a:spcPts val="1800"/>
              </a:lnSpc>
              <a:buNone/>
            </a:pPr>
            <a:r>
              <a:rPr lang="en-US" sz="1300" b="1" dirty="0">
                <a:solidFill>
                  <a:srgbClr val="FFFFFF"/>
                </a:solidFill>
                <a:latin typeface="Palatino Linotype" pitchFamily="34" charset="0"/>
                <a:ea typeface="Palatino Linotype" pitchFamily="34" charset="-122"/>
                <a:cs typeface="Palatino Linotype" pitchFamily="34" charset="-120"/>
              </a:rPr>
              <a:t>POPULAȚIA</a:t>
            </a:r>
            <a:endParaRPr lang="en-US" sz="1300" dirty="0"/>
          </a:p>
        </p:txBody>
      </p:sp>
      <p:sp>
        <p:nvSpPr>
          <p:cNvPr id="11" name="Text 9"/>
          <p:cNvSpPr/>
          <p:nvPr/>
        </p:nvSpPr>
        <p:spPr>
          <a:xfrm>
            <a:off x="4590288" y="3639312"/>
            <a:ext cx="2980944" cy="868680"/>
          </a:xfrm>
          <a:prstGeom prst="rect">
            <a:avLst/>
          </a:prstGeom>
          <a:noFill/>
          <a:ln/>
        </p:spPr>
        <p:txBody>
          <a:bodyPr wrap="square" lIns="0" tIns="0" rIns="0" bIns="0" rtlCol="0" anchor="t"/>
          <a:lstStyle/>
          <a:p>
            <a:pPr algn="l" indent="0" marL="0">
              <a:lnSpc>
                <a:spcPts val="1900"/>
              </a:lnSpc>
              <a:buNone/>
            </a:pPr>
            <a:r>
              <a:rPr lang="en-US" sz="1300" dirty="0">
                <a:solidFill>
                  <a:srgbClr val="A8DED4"/>
                </a:solidFill>
                <a:latin typeface="Palatino Linotype" pitchFamily="34" charset="0"/>
                <a:ea typeface="Palatino Linotype" pitchFamily="34" charset="-122"/>
                <a:cs typeface="Palatino Linotype" pitchFamily="34" charset="-120"/>
              </a:rPr>
              <a:t>din cine provine cifra</a:t>
            </a:r>
            <a:endParaRPr lang="en-US" sz="1300" dirty="0"/>
          </a:p>
        </p:txBody>
      </p:sp>
      <p:sp>
        <p:nvSpPr>
          <p:cNvPr id="12" name="Shape 10"/>
          <p:cNvSpPr/>
          <p:nvPr/>
        </p:nvSpPr>
        <p:spPr>
          <a:xfrm>
            <a:off x="8037576" y="3063240"/>
            <a:ext cx="3529584" cy="1600200"/>
          </a:xfrm>
          <a:prstGeom prst="roundRect">
            <a:avLst>
              <a:gd name="adj" fmla="val 5143"/>
            </a:avLst>
          </a:prstGeom>
          <a:solidFill>
            <a:srgbClr val="0A6456"/>
          </a:solidFill>
          <a:ln w="12700">
            <a:solidFill>
              <a:srgbClr val="0A6456"/>
            </a:solidFill>
            <a:prstDash val="solid"/>
          </a:ln>
        </p:spPr>
        <p:txBody>
          <a:bodyPr/>
          <a:p/>
        </p:txBody>
      </p:sp>
      <p:sp>
        <p:nvSpPr>
          <p:cNvPr id="13" name="Text 11"/>
          <p:cNvSpPr/>
          <p:nvPr/>
        </p:nvSpPr>
        <p:spPr>
          <a:xfrm>
            <a:off x="8311896" y="3246120"/>
            <a:ext cx="2980944" cy="320040"/>
          </a:xfrm>
          <a:prstGeom prst="rect">
            <a:avLst/>
          </a:prstGeom>
          <a:noFill/>
          <a:ln/>
        </p:spPr>
        <p:txBody>
          <a:bodyPr wrap="square" lIns="0" tIns="0" rIns="0" bIns="0" rtlCol="0" anchor="t"/>
          <a:lstStyle/>
          <a:p>
            <a:pPr algn="l" indent="0" marL="0">
              <a:lnSpc>
                <a:spcPts val="1800"/>
              </a:lnSpc>
              <a:buNone/>
            </a:pPr>
            <a:r>
              <a:rPr lang="en-US" sz="1300" b="1" dirty="0">
                <a:solidFill>
                  <a:srgbClr val="FFFFFF"/>
                </a:solidFill>
                <a:latin typeface="Palatino Linotype" pitchFamily="34" charset="0"/>
                <a:ea typeface="Palatino Linotype" pitchFamily="34" charset="-122"/>
                <a:cs typeface="Palatino Linotype" pitchFamily="34" charset="-120"/>
              </a:rPr>
              <a:t>ANUL DE REFERINȚĂ</a:t>
            </a:r>
            <a:endParaRPr lang="en-US" sz="1300" dirty="0"/>
          </a:p>
        </p:txBody>
      </p:sp>
      <p:sp>
        <p:nvSpPr>
          <p:cNvPr id="14" name="Text 12"/>
          <p:cNvSpPr/>
          <p:nvPr/>
        </p:nvSpPr>
        <p:spPr>
          <a:xfrm>
            <a:off x="8311896" y="3639312"/>
            <a:ext cx="2980944" cy="868680"/>
          </a:xfrm>
          <a:prstGeom prst="rect">
            <a:avLst/>
          </a:prstGeom>
          <a:noFill/>
          <a:ln/>
        </p:spPr>
        <p:txBody>
          <a:bodyPr wrap="square" lIns="0" tIns="0" rIns="0" bIns="0" rtlCol="0" anchor="t"/>
          <a:lstStyle/>
          <a:p>
            <a:pPr algn="l" indent="0" marL="0">
              <a:lnSpc>
                <a:spcPts val="1900"/>
              </a:lnSpc>
              <a:buNone/>
            </a:pPr>
            <a:r>
              <a:rPr lang="en-US" sz="1300" dirty="0">
                <a:solidFill>
                  <a:srgbClr val="A8DED4"/>
                </a:solidFill>
                <a:latin typeface="Palatino Linotype" pitchFamily="34" charset="0"/>
                <a:ea typeface="Palatino Linotype" pitchFamily="34" charset="-122"/>
                <a:cs typeface="Palatino Linotype" pitchFamily="34" charset="-120"/>
              </a:rPr>
              <a:t>la ce an se referă data</a:t>
            </a:r>
            <a:endParaRPr lang="en-US" sz="1300" dirty="0"/>
          </a:p>
        </p:txBody>
      </p:sp>
      <p:sp>
        <p:nvSpPr>
          <p:cNvPr id="15" name="Shape 13"/>
          <p:cNvSpPr/>
          <p:nvPr/>
        </p:nvSpPr>
        <p:spPr>
          <a:xfrm>
            <a:off x="594360" y="4892040"/>
            <a:ext cx="10972800" cy="868680"/>
          </a:xfrm>
          <a:prstGeom prst="roundRect">
            <a:avLst>
              <a:gd name="adj" fmla="val 9474"/>
            </a:avLst>
          </a:prstGeom>
          <a:solidFill>
            <a:srgbClr val="0A6456"/>
          </a:solidFill>
          <a:ln w="12700">
            <a:solidFill>
              <a:srgbClr val="0A6456"/>
            </a:solidFill>
            <a:prstDash val="solid"/>
          </a:ln>
        </p:spPr>
        <p:txBody>
          <a:bodyPr/>
          <a:p/>
        </p:txBody>
      </p:sp>
      <p:sp>
        <p:nvSpPr>
          <p:cNvPr id="16" name="Text 14"/>
          <p:cNvSpPr/>
          <p:nvPr/>
        </p:nvSpPr>
        <p:spPr>
          <a:xfrm>
            <a:off x="868680" y="5047488"/>
            <a:ext cx="10424160" cy="566928"/>
          </a:xfrm>
          <a:prstGeom prst="rect">
            <a:avLst/>
          </a:prstGeom>
          <a:noFill/>
          <a:ln/>
        </p:spPr>
        <p:txBody>
          <a:bodyPr wrap="square" lIns="0" tIns="0" rIns="0" bIns="0" rtlCol="0" anchor="t"/>
          <a:lstStyle/>
          <a:p>
            <a:pPr algn="l" indent="0" marL="0">
              <a:lnSpc>
                <a:spcPts val="2000"/>
              </a:lnSpc>
              <a:buNone/>
            </a:pPr>
            <a:r>
              <a:rPr lang="en-US" sz="1700" b="1" dirty="0">
                <a:solidFill>
                  <a:srgbClr val="FFFFFF"/>
                </a:solidFill>
                <a:latin typeface="Palatino Linotype" pitchFamily="34" charset="0"/>
                <a:ea typeface="Palatino Linotype" pitchFamily="34" charset="-122"/>
                <a:cs typeface="Palatino Linotype" pitchFamily="34" charset="-120"/>
              </a:rPr>
              <a:t>Dacă lipsește vreunul dintre cele trei, cifra nu se folosește.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indent="0" marL="0">
              <a:buNone/>
            </a:pPr>
            <a:r>
              <a:rPr lang="en-US" sz="13500" b="1" dirty="0">
                <a:solidFill>
                  <a:srgbClr val="9B7EF7"/>
                </a:solidFill>
                <a:latin typeface="Palatino Linotype" pitchFamily="34" charset="0"/>
                <a:ea typeface="Palatino Linotype" pitchFamily="34" charset="-122"/>
                <a:cs typeface="Palatino Linotype" pitchFamily="34" charset="-120"/>
              </a:rPr>
              <a:t>02</a:t>
            </a:r>
            <a:endParaRPr lang="en-US" sz="13500" dirty="0"/>
          </a:p>
        </p:txBody>
      </p:sp>
      <p:sp>
        <p:nvSpPr>
          <p:cNvPr id="3" name="Shape 1"/>
          <p:cNvSpPr/>
          <p:nvPr/>
        </p:nvSpPr>
        <p:spPr>
          <a:xfrm>
            <a:off x="4160520" y="1691640"/>
            <a:ext cx="27432" cy="1737360"/>
          </a:xfrm>
          <a:prstGeom prst="rect">
            <a:avLst/>
          </a:prstGeom>
          <a:solidFill>
            <a:srgbClr val="9B7EF7"/>
          </a:solidFill>
          <a:ln w="12700">
            <a:solidFill>
              <a:srgbClr val="9B7EF7"/>
            </a:solidFill>
            <a:prstDash val="solid"/>
          </a:ln>
        </p:spPr>
        <p:txBody>
          <a:bodyPr/>
          <a:p/>
        </p:txBody>
      </p:sp>
      <p:sp>
        <p:nvSpPr>
          <p:cNvPr id="4" name="Text 2"/>
          <p:cNvSpPr/>
          <p:nvPr/>
        </p:nvSpPr>
        <p:spPr>
          <a:xfrm>
            <a:off x="4709160" y="1737360"/>
            <a:ext cx="6858000" cy="822960"/>
          </a:xfrm>
          <a:prstGeom prst="rect">
            <a:avLst/>
          </a:prstGeom>
          <a:noFill/>
          <a:ln/>
        </p:spPr>
        <p:txBody>
          <a:bodyPr wrap="square" lIns="0" tIns="0" rIns="0" bIns="0" rtlCol="0" anchor="ctr"/>
          <a:lstStyle/>
          <a:p>
            <a:pPr indent="0" marL="0">
              <a:buNone/>
            </a:pPr>
            <a:r>
              <a:rPr lang="en-US" sz="3300" b="1" dirty="0">
                <a:solidFill>
                  <a:srgbClr val="FFFFFF"/>
                </a:solidFill>
                <a:latin typeface="Palatino Linotype" pitchFamily="34" charset="0"/>
                <a:ea typeface="Palatino Linotype" pitchFamily="34" charset="-122"/>
                <a:cs typeface="Palatino Linotype" pitchFamily="34" charset="-120"/>
              </a:rPr>
              <a:t>CE NUMIM CORUPȚIE</a:t>
            </a:r>
            <a:endParaRPr lang="en-US" sz="3300" dirty="0"/>
          </a:p>
        </p:txBody>
      </p:sp>
      <p:sp>
        <p:nvSpPr>
          <p:cNvPr id="5" name="Text 3"/>
          <p:cNvSpPr/>
          <p:nvPr/>
        </p:nvSpPr>
        <p:spPr>
          <a:xfrm>
            <a:off x="4709160" y="2606040"/>
            <a:ext cx="6858000" cy="1371600"/>
          </a:xfrm>
          <a:prstGeom prst="rect">
            <a:avLst/>
          </a:prstGeom>
          <a:noFill/>
          <a:ln/>
        </p:spPr>
        <p:txBody>
          <a:bodyPr wrap="square" lIns="0" tIns="0" rIns="0" bIns="0" rtlCol="0" anchor="t"/>
          <a:lstStyle/>
          <a:p>
            <a:pPr indent="0" marL="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Șapte procese care se măsoară cu instrumente diferite și nu se însumează. Plus caracteristicile care fac sectorul sanitar vulnerabil structural și mecanismul, pe două niveluri.</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4A2D8C"/>
                </a:solidFill>
                <a:latin typeface="Palatino Linotype" pitchFamily="34" charset="0"/>
                <a:ea typeface="Palatino Linotype" pitchFamily="34" charset="-122"/>
                <a:cs typeface="Palatino Linotype" pitchFamily="34" charset="-120"/>
              </a:rPr>
              <a:t>TIPOLOGIE</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Șapte procese, nu cinci categorii</a:t>
            </a:r>
            <a:endParaRPr lang="en-US" sz="31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Tipologia standard nu clasifică după felul faptei, ci după locul din proces în care ea devine posibilă.</a:t>
            </a:r>
            <a:endParaRPr lang="en-US" sz="1450" dirty="0"/>
          </a:p>
        </p:txBody>
      </p:sp>
      <p:sp>
        <p:nvSpPr>
          <p:cNvPr id="5" name="Text 3"/>
          <p:cNvSpPr/>
          <p:nvPr/>
        </p:nvSpPr>
        <p:spPr>
          <a:xfrm>
            <a:off x="594360" y="2103120"/>
            <a:ext cx="329184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ARIA SAU PROCESUL</a:t>
            </a:r>
            <a:endParaRPr lang="en-US" sz="1050" dirty="0"/>
          </a:p>
        </p:txBody>
      </p:sp>
      <p:sp>
        <p:nvSpPr>
          <p:cNvPr id="6" name="Text 4"/>
          <p:cNvSpPr/>
          <p:nvPr/>
        </p:nvSpPr>
        <p:spPr>
          <a:xfrm>
            <a:off x="3886200" y="2103120"/>
            <a:ext cx="457200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CE SE ÎNTÂMPLĂ</a:t>
            </a:r>
            <a:endParaRPr lang="en-US" sz="1050" dirty="0"/>
          </a:p>
        </p:txBody>
      </p:sp>
      <p:sp>
        <p:nvSpPr>
          <p:cNvPr id="7" name="Text 5"/>
          <p:cNvSpPr/>
          <p:nvPr/>
        </p:nvSpPr>
        <p:spPr>
          <a:xfrm>
            <a:off x="8458200" y="2103120"/>
            <a:ext cx="310896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ȘEDINȚA</a:t>
            </a:r>
            <a:endParaRPr lang="en-US" sz="1050" dirty="0"/>
          </a:p>
        </p:txBody>
      </p:sp>
      <p:sp>
        <p:nvSpPr>
          <p:cNvPr id="8" name="Shape 6"/>
          <p:cNvSpPr/>
          <p:nvPr/>
        </p:nvSpPr>
        <p:spPr>
          <a:xfrm>
            <a:off x="594360" y="2505456"/>
            <a:ext cx="10972800" cy="466344"/>
          </a:xfrm>
          <a:prstGeom prst="roundRect">
            <a:avLst>
              <a:gd name="adj" fmla="val 17647"/>
            </a:avLst>
          </a:prstGeom>
          <a:solidFill>
            <a:srgbClr val="ECEAE4"/>
          </a:solidFill>
          <a:ln w="12700">
            <a:solidFill>
              <a:srgbClr val="ECEAE4"/>
            </a:solidFill>
            <a:prstDash val="solid"/>
          </a:ln>
        </p:spPr>
        <p:txBody>
          <a:bodyPr/>
          <a:p/>
        </p:txBody>
      </p:sp>
      <p:sp>
        <p:nvSpPr>
          <p:cNvPr id="9" name="Text 7"/>
          <p:cNvSpPr/>
          <p:nvPr/>
        </p:nvSpPr>
        <p:spPr>
          <a:xfrm>
            <a:off x="868680" y="2505456"/>
            <a:ext cx="301752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Construcția unităților</a:t>
            </a:r>
            <a:endParaRPr lang="en-US" sz="1250" dirty="0"/>
          </a:p>
        </p:txBody>
      </p:sp>
      <p:sp>
        <p:nvSpPr>
          <p:cNvPr id="10" name="Text 8"/>
          <p:cNvSpPr/>
          <p:nvPr/>
        </p:nvSpPr>
        <p:spPr>
          <a:xfrm>
            <a:off x="3886200" y="2505456"/>
            <a:ext cx="438912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Mită și considerente politice în contractare</a:t>
            </a:r>
            <a:endParaRPr lang="en-US" sz="1250" dirty="0"/>
          </a:p>
        </p:txBody>
      </p:sp>
      <p:sp>
        <p:nvSpPr>
          <p:cNvPr id="11" name="Text 9"/>
          <p:cNvSpPr/>
          <p:nvPr/>
        </p:nvSpPr>
        <p:spPr>
          <a:xfrm>
            <a:off x="8458200" y="2505456"/>
            <a:ext cx="29260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a:t>
            </a:r>
            <a:endParaRPr lang="en-US" sz="1250" dirty="0"/>
          </a:p>
        </p:txBody>
      </p:sp>
      <p:sp>
        <p:nvSpPr>
          <p:cNvPr id="12" name="Text 10"/>
          <p:cNvSpPr/>
          <p:nvPr/>
        </p:nvSpPr>
        <p:spPr>
          <a:xfrm>
            <a:off x="868680" y="3017520"/>
            <a:ext cx="301752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Achiziția de echipamente</a:t>
            </a:r>
            <a:endParaRPr lang="en-US" sz="1250" dirty="0"/>
          </a:p>
        </p:txBody>
      </p:sp>
      <p:sp>
        <p:nvSpPr>
          <p:cNvPr id="13" name="Text 11"/>
          <p:cNvSpPr/>
          <p:nvPr/>
        </p:nvSpPr>
        <p:spPr>
          <a:xfrm>
            <a:off x="3886200" y="3017520"/>
            <a:ext cx="438912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Influențarea specificațiilor; înțelegeri la licitație</a:t>
            </a:r>
            <a:endParaRPr lang="en-US" sz="1250" dirty="0"/>
          </a:p>
        </p:txBody>
      </p:sp>
      <p:sp>
        <p:nvSpPr>
          <p:cNvPr id="14" name="Text 12"/>
          <p:cNvSpPr/>
          <p:nvPr/>
        </p:nvSpPr>
        <p:spPr>
          <a:xfrm>
            <a:off x="8458200" y="3017520"/>
            <a:ext cx="29260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2</a:t>
            </a:r>
            <a:endParaRPr lang="en-US" sz="1250" dirty="0"/>
          </a:p>
        </p:txBody>
      </p:sp>
      <p:sp>
        <p:nvSpPr>
          <p:cNvPr id="15" name="Shape 13"/>
          <p:cNvSpPr/>
          <p:nvPr/>
        </p:nvSpPr>
        <p:spPr>
          <a:xfrm>
            <a:off x="594360" y="3529584"/>
            <a:ext cx="10972800" cy="466344"/>
          </a:xfrm>
          <a:prstGeom prst="roundRect">
            <a:avLst>
              <a:gd name="adj" fmla="val 17647"/>
            </a:avLst>
          </a:prstGeom>
          <a:solidFill>
            <a:srgbClr val="ECEAE4"/>
          </a:solidFill>
          <a:ln w="12700">
            <a:solidFill>
              <a:srgbClr val="ECEAE4"/>
            </a:solidFill>
            <a:prstDash val="solid"/>
          </a:ln>
        </p:spPr>
        <p:txBody>
          <a:bodyPr/>
          <a:p/>
        </p:txBody>
      </p:sp>
      <p:sp>
        <p:nvSpPr>
          <p:cNvPr id="16" name="Text 14"/>
          <p:cNvSpPr/>
          <p:nvPr/>
        </p:nvSpPr>
        <p:spPr>
          <a:xfrm>
            <a:off x="868680" y="3529584"/>
            <a:ext cx="301752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Distribuția medicamentelor</a:t>
            </a:r>
            <a:endParaRPr lang="en-US" sz="1250" dirty="0"/>
          </a:p>
        </p:txBody>
      </p:sp>
      <p:sp>
        <p:nvSpPr>
          <p:cNvPr id="17" name="Text 15"/>
          <p:cNvSpPr/>
          <p:nvPr/>
        </p:nvSpPr>
        <p:spPr>
          <a:xfrm>
            <a:off x="3886200" y="3529584"/>
            <a:ext cx="438912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Furt, deturnare, vânzarea a ce trebuia gratuit</a:t>
            </a:r>
            <a:endParaRPr lang="en-US" sz="1250" dirty="0"/>
          </a:p>
        </p:txBody>
      </p:sp>
      <p:sp>
        <p:nvSpPr>
          <p:cNvPr id="18" name="Text 16"/>
          <p:cNvSpPr/>
          <p:nvPr/>
        </p:nvSpPr>
        <p:spPr>
          <a:xfrm>
            <a:off x="8458200" y="3529584"/>
            <a:ext cx="29260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a:t>
            </a:r>
            <a:endParaRPr lang="en-US" sz="1250" dirty="0"/>
          </a:p>
        </p:txBody>
      </p:sp>
      <p:sp>
        <p:nvSpPr>
          <p:cNvPr id="19" name="Text 17"/>
          <p:cNvSpPr/>
          <p:nvPr/>
        </p:nvSpPr>
        <p:spPr>
          <a:xfrm>
            <a:off x="868680" y="4041648"/>
            <a:ext cx="301752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Reglementarea calității</a:t>
            </a:r>
            <a:endParaRPr lang="en-US" sz="1250" dirty="0"/>
          </a:p>
        </p:txBody>
      </p:sp>
      <p:sp>
        <p:nvSpPr>
          <p:cNvPr id="20" name="Text 18"/>
          <p:cNvSpPr/>
          <p:nvPr/>
        </p:nvSpPr>
        <p:spPr>
          <a:xfrm>
            <a:off x="3886200" y="4041648"/>
            <a:ext cx="438912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Mită pentru autorizare; influențarea inspecțiilor</a:t>
            </a:r>
            <a:endParaRPr lang="en-US" sz="1250" dirty="0"/>
          </a:p>
        </p:txBody>
      </p:sp>
      <p:sp>
        <p:nvSpPr>
          <p:cNvPr id="21" name="Text 19"/>
          <p:cNvSpPr/>
          <p:nvPr/>
        </p:nvSpPr>
        <p:spPr>
          <a:xfrm>
            <a:off x="8458200" y="4041648"/>
            <a:ext cx="29260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3</a:t>
            </a:r>
            <a:endParaRPr lang="en-US" sz="1250" dirty="0"/>
          </a:p>
        </p:txBody>
      </p:sp>
      <p:sp>
        <p:nvSpPr>
          <p:cNvPr id="22" name="Shape 20"/>
          <p:cNvSpPr/>
          <p:nvPr/>
        </p:nvSpPr>
        <p:spPr>
          <a:xfrm>
            <a:off x="594360" y="4553712"/>
            <a:ext cx="10972800" cy="466344"/>
          </a:xfrm>
          <a:prstGeom prst="roundRect">
            <a:avLst>
              <a:gd name="adj" fmla="val 17647"/>
            </a:avLst>
          </a:prstGeom>
          <a:solidFill>
            <a:srgbClr val="ECEAE4"/>
          </a:solidFill>
          <a:ln w="12700">
            <a:solidFill>
              <a:srgbClr val="ECEAE4"/>
            </a:solidFill>
            <a:prstDash val="solid"/>
          </a:ln>
        </p:spPr>
        <p:txBody>
          <a:bodyPr/>
          <a:p/>
        </p:txBody>
      </p:sp>
      <p:sp>
        <p:nvSpPr>
          <p:cNvPr id="23" name="Text 21"/>
          <p:cNvSpPr/>
          <p:nvPr/>
        </p:nvSpPr>
        <p:spPr>
          <a:xfrm>
            <a:off x="868680" y="4553712"/>
            <a:ext cx="301752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Formarea profesioniștilor</a:t>
            </a:r>
            <a:endParaRPr lang="en-US" sz="1250" dirty="0"/>
          </a:p>
        </p:txBody>
      </p:sp>
      <p:sp>
        <p:nvSpPr>
          <p:cNvPr id="24" name="Text 22"/>
          <p:cNvSpPr/>
          <p:nvPr/>
        </p:nvSpPr>
        <p:spPr>
          <a:xfrm>
            <a:off x="3886200" y="4553712"/>
            <a:ext cx="438912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Mită pentru un loc sau pentru o notă; nepotism</a:t>
            </a:r>
            <a:endParaRPr lang="en-US" sz="1250" dirty="0"/>
          </a:p>
        </p:txBody>
      </p:sp>
      <p:sp>
        <p:nvSpPr>
          <p:cNvPr id="25" name="Text 23"/>
          <p:cNvSpPr/>
          <p:nvPr/>
        </p:nvSpPr>
        <p:spPr>
          <a:xfrm>
            <a:off x="8458200" y="4553712"/>
            <a:ext cx="29260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a:t>
            </a:r>
            <a:endParaRPr lang="en-US" sz="1250" dirty="0"/>
          </a:p>
        </p:txBody>
      </p:sp>
      <p:sp>
        <p:nvSpPr>
          <p:cNvPr id="26" name="Text 24"/>
          <p:cNvSpPr/>
          <p:nvPr/>
        </p:nvSpPr>
        <p:spPr>
          <a:xfrm>
            <a:off x="868680" y="5065776"/>
            <a:ext cx="301752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Cercetarea medicală</a:t>
            </a:r>
            <a:endParaRPr lang="en-US" sz="1250" dirty="0"/>
          </a:p>
        </p:txBody>
      </p:sp>
      <p:sp>
        <p:nvSpPr>
          <p:cNvPr id="27" name="Text 25"/>
          <p:cNvSpPr/>
          <p:nvPr/>
        </p:nvSpPr>
        <p:spPr>
          <a:xfrm>
            <a:off x="3886200" y="5065776"/>
            <a:ext cx="438912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Pseudostudii de marketing; consimțământ superficial</a:t>
            </a:r>
            <a:endParaRPr lang="en-US" sz="1250" dirty="0"/>
          </a:p>
        </p:txBody>
      </p:sp>
      <p:sp>
        <p:nvSpPr>
          <p:cNvPr id="28" name="Text 26"/>
          <p:cNvSpPr/>
          <p:nvPr/>
        </p:nvSpPr>
        <p:spPr>
          <a:xfrm>
            <a:off x="8458200" y="5065776"/>
            <a:ext cx="29260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3</a:t>
            </a:r>
            <a:endParaRPr lang="en-US" sz="1250" dirty="0"/>
          </a:p>
        </p:txBody>
      </p:sp>
      <p:sp>
        <p:nvSpPr>
          <p:cNvPr id="29" name="Shape 27"/>
          <p:cNvSpPr/>
          <p:nvPr/>
        </p:nvSpPr>
        <p:spPr>
          <a:xfrm>
            <a:off x="594360" y="5577840"/>
            <a:ext cx="10972800" cy="466344"/>
          </a:xfrm>
          <a:prstGeom prst="roundRect">
            <a:avLst>
              <a:gd name="adj" fmla="val 17647"/>
            </a:avLst>
          </a:prstGeom>
          <a:solidFill>
            <a:srgbClr val="ECEAE4"/>
          </a:solidFill>
          <a:ln w="12700">
            <a:solidFill>
              <a:srgbClr val="ECEAE4"/>
            </a:solidFill>
            <a:prstDash val="solid"/>
          </a:ln>
        </p:spPr>
        <p:txBody>
          <a:bodyPr/>
          <a:p/>
        </p:txBody>
      </p:sp>
      <p:sp>
        <p:nvSpPr>
          <p:cNvPr id="30" name="Text 28"/>
          <p:cNvSpPr/>
          <p:nvPr/>
        </p:nvSpPr>
        <p:spPr>
          <a:xfrm>
            <a:off x="868680" y="5577840"/>
            <a:ext cx="301752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Furnizarea serviciilor</a:t>
            </a:r>
            <a:endParaRPr lang="en-US" sz="1250" dirty="0"/>
          </a:p>
        </p:txBody>
      </p:sp>
      <p:sp>
        <p:nvSpPr>
          <p:cNvPr id="31" name="Text 29"/>
          <p:cNvSpPr/>
          <p:nvPr/>
        </p:nvSpPr>
        <p:spPr>
          <a:xfrm>
            <a:off x="3886200" y="5577840"/>
            <a:ext cx="438912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Absenteism; trimiteri inutile; plăți informale cerute</a:t>
            </a:r>
            <a:endParaRPr lang="en-US" sz="1250" dirty="0"/>
          </a:p>
        </p:txBody>
      </p:sp>
      <p:sp>
        <p:nvSpPr>
          <p:cNvPr id="32" name="Text 30"/>
          <p:cNvSpPr/>
          <p:nvPr/>
        </p:nvSpPr>
        <p:spPr>
          <a:xfrm>
            <a:off x="8458200" y="5577840"/>
            <a:ext cx="29260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1, 6</a:t>
            </a:r>
            <a:endParaRPr lang="en-US" sz="1250" dirty="0"/>
          </a:p>
        </p:txBody>
      </p:sp>
      <p:sp>
        <p:nvSpPr>
          <p:cNvPr id="33" name="Text 31"/>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Vian T., Health Policy and Planning, 2008, tabelul 1, doi:10.1093/heapol/czm048 [TI, recitit în septembrie 2026]. Tabelul este atribuit de autoare unui capitol propriu anterior, din 2005.</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C24B"/>
        </a:solidFill>
      </p:bgPr>
    </p:bg>
    <p:spTree>
      <p:nvGrpSpPr>
        <p:cNvPr id="1" name=""/>
        <p:cNvGrpSpPr/>
        <p:nvPr/>
      </p:nvGrpSpPr>
      <p:grpSpPr>
        <a:xfrm>
          <a:off x="0" y="0"/>
          <a:ext cx="0" cy="0"/>
          <a:chOff x="0" y="0"/>
          <a:chExt cx="0" cy="0"/>
        </a:xfrm>
      </p:grpSpPr>
      <p:sp>
        <p:nvSpPr>
          <p:cNvPr id="2" name="Shape 0"/>
          <p:cNvSpPr/>
          <p:nvPr/>
        </p:nvSpPr>
        <p:spPr>
          <a:xfrm>
            <a:off x="594360" y="384048"/>
            <a:ext cx="2377440" cy="310896"/>
          </a:xfrm>
          <a:prstGeom prst="roundRect">
            <a:avLst>
              <a:gd name="adj" fmla="val 50000"/>
            </a:avLst>
          </a:prstGeom>
          <a:solidFill>
            <a:srgbClr val="3D2A00"/>
          </a:solidFill>
          <a:ln w="12700">
            <a:solidFill>
              <a:srgbClr val="3D2A00"/>
            </a:solidFill>
            <a:prstDash val="solid"/>
          </a:ln>
        </p:spPr>
        <p:txBody>
          <a:bodyPr/>
          <a:p/>
        </p:txBody>
      </p:sp>
      <p:sp>
        <p:nvSpPr>
          <p:cNvPr id="3" name="Text 1"/>
          <p:cNvSpPr/>
          <p:nvPr/>
        </p:nvSpPr>
        <p:spPr>
          <a:xfrm>
            <a:off x="594360" y="384048"/>
            <a:ext cx="2377440" cy="310896"/>
          </a:xfrm>
          <a:prstGeom prst="rect">
            <a:avLst/>
          </a:prstGeom>
          <a:noFill/>
          <a:ln/>
        </p:spPr>
        <p:txBody>
          <a:bodyPr wrap="square" lIns="0" tIns="0" rIns="0" bIns="0" rtlCol="0" anchor="ctr"/>
          <a:lstStyle/>
          <a:p>
            <a:pPr algn="ctr" indent="0" marL="0">
              <a:buNone/>
            </a:pPr>
            <a:r>
              <a:rPr lang="en-US" sz="1000" b="1" dirty="0">
                <a:solidFill>
                  <a:srgbClr val="FFC24B"/>
                </a:solidFill>
                <a:latin typeface="Palatino Linotype" pitchFamily="34" charset="0"/>
                <a:ea typeface="Palatino Linotype" pitchFamily="34" charset="-122"/>
                <a:cs typeface="Palatino Linotype" pitchFamily="34" charset="-120"/>
              </a:rPr>
              <a:t>ATENȚIE DE METODĂ</a:t>
            </a:r>
            <a:endParaRPr lang="en-US" sz="1000" dirty="0"/>
          </a:p>
        </p:txBody>
      </p:sp>
      <p:sp>
        <p:nvSpPr>
          <p:cNvPr id="4" name="Text 2"/>
          <p:cNvSpPr/>
          <p:nvPr/>
        </p:nvSpPr>
        <p:spPr>
          <a:xfrm>
            <a:off x="594360" y="1051560"/>
            <a:ext cx="10972800" cy="777240"/>
          </a:xfrm>
          <a:prstGeom prst="rect">
            <a:avLst/>
          </a:prstGeom>
          <a:noFill/>
          <a:ln/>
        </p:spPr>
        <p:txBody>
          <a:bodyPr wrap="square" lIns="0" tIns="0" rIns="0" bIns="0" rtlCol="0" anchor="ctr"/>
          <a:lstStyle/>
          <a:p>
            <a:pPr indent="0" marL="0">
              <a:buNone/>
            </a:pPr>
            <a:r>
              <a:rPr lang="en-US" sz="3300" b="1" dirty="0">
                <a:solidFill>
                  <a:srgbClr val="3D2A00"/>
                </a:solidFill>
                <a:latin typeface="Palatino Linotype" pitchFamily="34" charset="0"/>
                <a:ea typeface="Palatino Linotype" pitchFamily="34" charset="-122"/>
                <a:cs typeface="Palatino Linotype" pitchFamily="34" charset="-120"/>
              </a:rPr>
              <a:t>Cele șapte procese nu se însumează</a:t>
            </a:r>
            <a:endParaRPr lang="en-US" sz="3300" dirty="0"/>
          </a:p>
        </p:txBody>
      </p:sp>
      <p:sp>
        <p:nvSpPr>
          <p:cNvPr id="5" name="Shape 3"/>
          <p:cNvSpPr/>
          <p:nvPr/>
        </p:nvSpPr>
        <p:spPr>
          <a:xfrm>
            <a:off x="594360" y="2057400"/>
            <a:ext cx="10972800" cy="1463040"/>
          </a:xfrm>
          <a:prstGeom prst="roundRect">
            <a:avLst>
              <a:gd name="adj" fmla="val 5625"/>
            </a:avLst>
          </a:prstGeom>
          <a:solidFill>
            <a:srgbClr val="FFFFFF"/>
          </a:solidFill>
          <a:ln w="12700">
            <a:solidFill>
              <a:srgbClr val="FFFFFF"/>
            </a:solidFill>
            <a:prstDash val="solid"/>
          </a:ln>
        </p:spPr>
        <p:txBody>
          <a:bodyPr/>
          <a:p/>
        </p:txBody>
      </p:sp>
      <p:sp>
        <p:nvSpPr>
          <p:cNvPr id="6" name="Text 4"/>
          <p:cNvSpPr/>
          <p:nvPr/>
        </p:nvSpPr>
        <p:spPr>
          <a:xfrm>
            <a:off x="868680" y="2267712"/>
            <a:ext cx="10424160" cy="1097280"/>
          </a:xfrm>
          <a:prstGeom prst="rect">
            <a:avLst/>
          </a:prstGeom>
          <a:noFill/>
          <a:ln/>
        </p:spPr>
        <p:txBody>
          <a:bodyPr wrap="square" lIns="0" tIns="0" rIns="0" bIns="0" rtlCol="0" anchor="t"/>
          <a:lstStyle/>
          <a:p>
            <a:pPr algn="l" indent="0" marL="0">
              <a:lnSpc>
                <a:spcPts val="2200"/>
              </a:lnSpc>
              <a:buNone/>
            </a:pPr>
            <a:r>
              <a:rPr lang="en-US" sz="1600" dirty="0">
                <a:solidFill>
                  <a:srgbClr val="11121A"/>
                </a:solidFill>
                <a:latin typeface="Palatino Linotype" pitchFamily="34" charset="0"/>
                <a:ea typeface="Palatino Linotype" pitchFamily="34" charset="-122"/>
                <a:cs typeface="Palatino Linotype" pitchFamily="34" charset="-120"/>
              </a:rPr>
              <a:t>Un instrument care măsoară plățile informale din ultimul rând nu spune nimic despre ce se întâmplă în al doilea. Două procese cu mecanisme diferite, actori diferiți și consecințe diferite pentru pacient nu produc o cantitate comună.</a:t>
            </a:r>
            <a:endParaRPr lang="en-US" sz="1600" dirty="0"/>
          </a:p>
        </p:txBody>
      </p:sp>
      <p:sp>
        <p:nvSpPr>
          <p:cNvPr id="7" name="Shape 5"/>
          <p:cNvSpPr/>
          <p:nvPr/>
        </p:nvSpPr>
        <p:spPr>
          <a:xfrm>
            <a:off x="594360" y="3703320"/>
            <a:ext cx="10972800" cy="2011680"/>
          </a:xfrm>
          <a:prstGeom prst="roundRect">
            <a:avLst>
              <a:gd name="adj" fmla="val 4091"/>
            </a:avLst>
          </a:prstGeom>
          <a:solidFill>
            <a:srgbClr val="D9A233"/>
          </a:solidFill>
          <a:ln w="12700">
            <a:solidFill>
              <a:srgbClr val="D9A233"/>
            </a:solidFill>
            <a:prstDash val="solid"/>
          </a:ln>
        </p:spPr>
        <p:txBody>
          <a:bodyPr/>
          <a:p/>
        </p:txBody>
      </p:sp>
      <p:sp>
        <p:nvSpPr>
          <p:cNvPr id="8" name="Text 6"/>
          <p:cNvSpPr/>
          <p:nvPr/>
        </p:nvSpPr>
        <p:spPr>
          <a:xfrm>
            <a:off x="868680" y="388620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3D2A00"/>
                </a:solidFill>
                <a:latin typeface="Palatino Linotype" pitchFamily="34" charset="0"/>
                <a:ea typeface="Palatino Linotype" pitchFamily="34" charset="-122"/>
                <a:cs typeface="Palatino Linotype" pitchFamily="34" charset="-120"/>
              </a:rPr>
              <a:t>CE FACEȚI ÎN PRACTICĂ</a:t>
            </a:r>
            <a:endParaRPr lang="en-US" sz="1000" dirty="0"/>
          </a:p>
        </p:txBody>
      </p:sp>
      <p:sp>
        <p:nvSpPr>
          <p:cNvPr id="9" name="Text 7"/>
          <p:cNvSpPr/>
          <p:nvPr/>
        </p:nvSpPr>
        <p:spPr>
          <a:xfrm>
            <a:off x="868680" y="4206240"/>
            <a:ext cx="10424160" cy="1417320"/>
          </a:xfrm>
          <a:prstGeom prst="rect">
            <a:avLst/>
          </a:prstGeom>
          <a:noFill/>
          <a:ln/>
        </p:spPr>
        <p:txBody>
          <a:bodyPr wrap="square" lIns="0" tIns="0" rIns="0" bIns="0" rtlCol="0" anchor="t"/>
          <a:lstStyle/>
          <a:p>
            <a:pPr algn="l" indent="0" marL="0">
              <a:lnSpc>
                <a:spcPts val="2200"/>
              </a:lnSpc>
              <a:buNone/>
            </a:pPr>
            <a:r>
              <a:rPr lang="en-US" sz="1550" b="1" dirty="0">
                <a:solidFill>
                  <a:srgbClr val="3D2A00"/>
                </a:solidFill>
                <a:latin typeface="Palatino Linotype" pitchFamily="34" charset="0"/>
                <a:ea typeface="Palatino Linotype" pitchFamily="34" charset="-122"/>
                <a:cs typeface="Palatino Linotype" pitchFamily="34" charset="-120"/>
              </a:rPr>
              <a:t>Când cineva vorbește despre „nivelul corupției în sănătate” ca despre o cantitate unică, prima întrebare este: despre care rând vorbiți?</a:t>
            </a:r>
            <a:endParaRPr lang="en-US" sz="1550" dirty="0"/>
          </a:p>
          <a:p>
            <a:pPr algn="l" indent="0" marL="0">
              <a:lnSpc>
                <a:spcPts val="2200"/>
              </a:lnSpc>
              <a:buNone/>
            </a:pPr>
            <a:endParaRPr lang="en-US" sz="1550" dirty="0"/>
          </a:p>
          <a:p>
            <a:pPr algn="l" indent="0" marL="0">
              <a:lnSpc>
                <a:spcPts val="2200"/>
              </a:lnSpc>
              <a:buNone/>
            </a:pPr>
            <a:r>
              <a:rPr lang="en-US" sz="1550" b="1" dirty="0">
                <a:solidFill>
                  <a:srgbClr val="3D2A00"/>
                </a:solidFill>
                <a:latin typeface="Palatino Linotype" pitchFamily="34" charset="0"/>
                <a:ea typeface="Palatino Linotype" pitchFamily="34" charset="-122"/>
                <a:cs typeface="Palatino Linotype" pitchFamily="34" charset="-120"/>
              </a:rPr>
              <a:t>Dacă vorbitorul nu poate răspunde, aceasta este informația.</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27D3BE"/>
                </a:solidFill>
                <a:latin typeface="Palatino Linotype" pitchFamily="34" charset="0"/>
                <a:ea typeface="Palatino Linotype" pitchFamily="34" charset="-122"/>
                <a:cs typeface="Palatino Linotype" pitchFamily="34" charset="-120"/>
              </a:rPr>
              <a:t>VULNERABILITATE STRUCTURALĂ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Trei caracteristici — și încă două</a:t>
            </a:r>
            <a:endParaRPr lang="en-US" sz="30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959BB0"/>
                </a:solidFill>
                <a:latin typeface="Palatino Linotype" pitchFamily="34" charset="0"/>
                <a:ea typeface="Palatino Linotype" pitchFamily="34" charset="-122"/>
                <a:cs typeface="Palatino Linotype" pitchFamily="34" charset="-120"/>
              </a:rPr>
              <a:t>Argumentul nu este că oamenii din sănătate ar fi mai puțin onești. Este despre arhitectura sectorului.</a:t>
            </a:r>
            <a:endParaRPr lang="en-US" sz="1450" dirty="0"/>
          </a:p>
        </p:txBody>
      </p:sp>
      <p:sp>
        <p:nvSpPr>
          <p:cNvPr id="5" name="Shape 3"/>
          <p:cNvSpPr/>
          <p:nvPr/>
        </p:nvSpPr>
        <p:spPr>
          <a:xfrm>
            <a:off x="594360" y="2103120"/>
            <a:ext cx="3529584" cy="2331720"/>
          </a:xfrm>
          <a:prstGeom prst="roundRect">
            <a:avLst>
              <a:gd name="adj" fmla="val 3529"/>
            </a:avLst>
          </a:prstGeom>
          <a:solidFill>
            <a:srgbClr val="1D1F2B"/>
          </a:solidFill>
          <a:ln w="12700">
            <a:solidFill>
              <a:srgbClr val="1D1F2B"/>
            </a:solidFill>
            <a:prstDash val="solid"/>
          </a:ln>
        </p:spPr>
        <p:txBody>
          <a:bodyPr/>
          <a:p/>
        </p:txBody>
      </p:sp>
      <p:sp>
        <p:nvSpPr>
          <p:cNvPr id="6" name="Shape 4"/>
          <p:cNvSpPr/>
          <p:nvPr/>
        </p:nvSpPr>
        <p:spPr>
          <a:xfrm>
            <a:off x="868680" y="2331720"/>
            <a:ext cx="822960" cy="45720"/>
          </a:xfrm>
          <a:prstGeom prst="rect">
            <a:avLst/>
          </a:prstGeom>
          <a:solidFill>
            <a:srgbClr val="FF4757"/>
          </a:solidFill>
          <a:ln w="12700">
            <a:solidFill>
              <a:srgbClr val="FF4757"/>
            </a:solidFill>
            <a:prstDash val="solid"/>
          </a:ln>
        </p:spPr>
        <p:txBody>
          <a:bodyPr/>
          <a:p/>
        </p:txBody>
      </p:sp>
      <p:sp>
        <p:nvSpPr>
          <p:cNvPr id="7" name="Text 5"/>
          <p:cNvSpPr/>
          <p:nvPr/>
        </p:nvSpPr>
        <p:spPr>
          <a:xfrm>
            <a:off x="868680" y="2542032"/>
            <a:ext cx="2980944" cy="548640"/>
          </a:xfrm>
          <a:prstGeom prst="rect">
            <a:avLst/>
          </a:prstGeom>
          <a:noFill/>
          <a:ln/>
        </p:spPr>
        <p:txBody>
          <a:bodyPr wrap="square" lIns="0" tIns="0" rIns="0" bIns="0" rtlCol="0" anchor="t"/>
          <a:lstStyle/>
          <a:p>
            <a:pPr algn="l" indent="0" marL="0">
              <a:lnSpc>
                <a:spcPts val="1900"/>
              </a:lnSpc>
              <a:buNone/>
            </a:pPr>
            <a:r>
              <a:rPr lang="en-US" sz="1450" b="1" dirty="0">
                <a:solidFill>
                  <a:srgbClr val="FF4757"/>
                </a:solidFill>
                <a:latin typeface="Palatino Linotype" pitchFamily="34" charset="0"/>
                <a:ea typeface="Palatino Linotype" pitchFamily="34" charset="-122"/>
                <a:cs typeface="Palatino Linotype" pitchFamily="34" charset="-120"/>
              </a:rPr>
              <a:t>INCERTITUDINEA</a:t>
            </a:r>
            <a:endParaRPr lang="en-US" sz="1450" dirty="0"/>
          </a:p>
        </p:txBody>
      </p:sp>
      <p:sp>
        <p:nvSpPr>
          <p:cNvPr id="8" name="Text 6"/>
          <p:cNvSpPr/>
          <p:nvPr/>
        </p:nvSpPr>
        <p:spPr>
          <a:xfrm>
            <a:off x="868680" y="3182112"/>
            <a:ext cx="2980944" cy="1143000"/>
          </a:xfrm>
          <a:prstGeom prst="rect">
            <a:avLst/>
          </a:prstGeom>
          <a:noFill/>
          <a:ln/>
        </p:spPr>
        <p:txBody>
          <a:bodyPr wrap="square" lIns="0" tIns="0" rIns="0" bIns="0" rtlCol="0" anchor="t"/>
          <a:lstStyle/>
          <a:p>
            <a:pPr algn="l" indent="0" marL="0">
              <a:lnSpc>
                <a:spcPts val="1900"/>
              </a:lnSpc>
              <a:buNone/>
            </a:pPr>
            <a:r>
              <a:rPr lang="en-US" sz="1300" dirty="0">
                <a:solidFill>
                  <a:srgbClr val="959BB0"/>
                </a:solidFill>
                <a:latin typeface="Palatino Linotype" pitchFamily="34" charset="0"/>
                <a:ea typeface="Palatino Linotype" pitchFamily="34" charset="-122"/>
                <a:cs typeface="Palatino Linotype" pitchFamily="34" charset="-120"/>
              </a:rPr>
              <a:t>Cine se va îmbolnăvi, când și ce tratament va funcționa: toate acestea sunt incerte dinainte.</a:t>
            </a:r>
            <a:endParaRPr lang="en-US" sz="1300" dirty="0"/>
          </a:p>
        </p:txBody>
      </p:sp>
      <p:sp>
        <p:nvSpPr>
          <p:cNvPr id="9" name="Shape 7"/>
          <p:cNvSpPr/>
          <p:nvPr/>
        </p:nvSpPr>
        <p:spPr>
          <a:xfrm>
            <a:off x="4315968" y="2103120"/>
            <a:ext cx="3529584" cy="2331720"/>
          </a:xfrm>
          <a:prstGeom prst="roundRect">
            <a:avLst>
              <a:gd name="adj" fmla="val 3529"/>
            </a:avLst>
          </a:prstGeom>
          <a:solidFill>
            <a:srgbClr val="1D1F2B"/>
          </a:solidFill>
          <a:ln w="12700">
            <a:solidFill>
              <a:srgbClr val="1D1F2B"/>
            </a:solidFill>
            <a:prstDash val="solid"/>
          </a:ln>
        </p:spPr>
        <p:txBody>
          <a:bodyPr/>
          <a:p/>
        </p:txBody>
      </p:sp>
      <p:sp>
        <p:nvSpPr>
          <p:cNvPr id="10" name="Shape 8"/>
          <p:cNvSpPr/>
          <p:nvPr/>
        </p:nvSpPr>
        <p:spPr>
          <a:xfrm>
            <a:off x="4590288" y="2331720"/>
            <a:ext cx="822960" cy="45720"/>
          </a:xfrm>
          <a:prstGeom prst="rect">
            <a:avLst/>
          </a:prstGeom>
          <a:solidFill>
            <a:srgbClr val="FFC24B"/>
          </a:solidFill>
          <a:ln w="12700">
            <a:solidFill>
              <a:srgbClr val="FFC24B"/>
            </a:solidFill>
            <a:prstDash val="solid"/>
          </a:ln>
        </p:spPr>
        <p:txBody>
          <a:bodyPr/>
          <a:p/>
        </p:txBody>
      </p:sp>
      <p:sp>
        <p:nvSpPr>
          <p:cNvPr id="11" name="Text 9"/>
          <p:cNvSpPr/>
          <p:nvPr/>
        </p:nvSpPr>
        <p:spPr>
          <a:xfrm>
            <a:off x="4590288" y="2542032"/>
            <a:ext cx="2980944" cy="548640"/>
          </a:xfrm>
          <a:prstGeom prst="rect">
            <a:avLst/>
          </a:prstGeom>
          <a:noFill/>
          <a:ln/>
        </p:spPr>
        <p:txBody>
          <a:bodyPr wrap="square" lIns="0" tIns="0" rIns="0" bIns="0" rtlCol="0" anchor="t"/>
          <a:lstStyle/>
          <a:p>
            <a:pPr algn="l" indent="0" marL="0">
              <a:lnSpc>
                <a:spcPts val="1900"/>
              </a:lnSpc>
              <a:buNone/>
            </a:pPr>
            <a:r>
              <a:rPr lang="en-US" sz="1450" b="1" dirty="0">
                <a:solidFill>
                  <a:srgbClr val="FFC24B"/>
                </a:solidFill>
                <a:latin typeface="Palatino Linotype" pitchFamily="34" charset="0"/>
                <a:ea typeface="Palatino Linotype" pitchFamily="34" charset="-122"/>
                <a:cs typeface="Palatino Linotype" pitchFamily="34" charset="-120"/>
              </a:rPr>
              <a:t>ASIMETRIA DE INFORMAȚIE</a:t>
            </a:r>
            <a:endParaRPr lang="en-US" sz="1450" dirty="0"/>
          </a:p>
        </p:txBody>
      </p:sp>
      <p:sp>
        <p:nvSpPr>
          <p:cNvPr id="12" name="Text 10"/>
          <p:cNvSpPr/>
          <p:nvPr/>
        </p:nvSpPr>
        <p:spPr>
          <a:xfrm>
            <a:off x="4590288" y="3182112"/>
            <a:ext cx="2980944" cy="1143000"/>
          </a:xfrm>
          <a:prstGeom prst="rect">
            <a:avLst/>
          </a:prstGeom>
          <a:noFill/>
          <a:ln/>
        </p:spPr>
        <p:txBody>
          <a:bodyPr wrap="square" lIns="0" tIns="0" rIns="0" bIns="0" rtlCol="0" anchor="t"/>
          <a:lstStyle/>
          <a:p>
            <a:pPr algn="l" indent="0" marL="0">
              <a:lnSpc>
                <a:spcPts val="1900"/>
              </a:lnSpc>
              <a:buNone/>
            </a:pPr>
            <a:r>
              <a:rPr lang="en-US" sz="1300" dirty="0">
                <a:solidFill>
                  <a:srgbClr val="959BB0"/>
                </a:solidFill>
                <a:latin typeface="Palatino Linotype" pitchFamily="34" charset="0"/>
                <a:ea typeface="Palatino Linotype" pitchFamily="34" charset="-122"/>
                <a:cs typeface="Palatino Linotype" pitchFamily="34" charset="-120"/>
              </a:rPr>
              <a:t>Pacientul nu poate evalua ce i se face, nici în momentul în care i se face, nici de multe ori după.</a:t>
            </a:r>
            <a:endParaRPr lang="en-US" sz="1300" dirty="0"/>
          </a:p>
        </p:txBody>
      </p:sp>
      <p:sp>
        <p:nvSpPr>
          <p:cNvPr id="13" name="Shape 11"/>
          <p:cNvSpPr/>
          <p:nvPr/>
        </p:nvSpPr>
        <p:spPr>
          <a:xfrm>
            <a:off x="8037576" y="2103120"/>
            <a:ext cx="3529584" cy="2331720"/>
          </a:xfrm>
          <a:prstGeom prst="roundRect">
            <a:avLst>
              <a:gd name="adj" fmla="val 3529"/>
            </a:avLst>
          </a:prstGeom>
          <a:solidFill>
            <a:srgbClr val="1D1F2B"/>
          </a:solidFill>
          <a:ln w="12700">
            <a:solidFill>
              <a:srgbClr val="1D1F2B"/>
            </a:solidFill>
            <a:prstDash val="solid"/>
          </a:ln>
        </p:spPr>
        <p:txBody>
          <a:bodyPr/>
          <a:p/>
        </p:txBody>
      </p:sp>
      <p:sp>
        <p:nvSpPr>
          <p:cNvPr id="14" name="Shape 12"/>
          <p:cNvSpPr/>
          <p:nvPr/>
        </p:nvSpPr>
        <p:spPr>
          <a:xfrm>
            <a:off x="8311896" y="2331720"/>
            <a:ext cx="822960" cy="45720"/>
          </a:xfrm>
          <a:prstGeom prst="rect">
            <a:avLst/>
          </a:prstGeom>
          <a:solidFill>
            <a:srgbClr val="27D3BE"/>
          </a:solidFill>
          <a:ln w="12700">
            <a:solidFill>
              <a:srgbClr val="27D3BE"/>
            </a:solidFill>
            <a:prstDash val="solid"/>
          </a:ln>
        </p:spPr>
        <p:txBody>
          <a:bodyPr/>
          <a:p/>
        </p:txBody>
      </p:sp>
      <p:sp>
        <p:nvSpPr>
          <p:cNvPr id="15" name="Text 13"/>
          <p:cNvSpPr/>
          <p:nvPr/>
        </p:nvSpPr>
        <p:spPr>
          <a:xfrm>
            <a:off x="8311896" y="2542032"/>
            <a:ext cx="2980944" cy="548640"/>
          </a:xfrm>
          <a:prstGeom prst="rect">
            <a:avLst/>
          </a:prstGeom>
          <a:noFill/>
          <a:ln/>
        </p:spPr>
        <p:txBody>
          <a:bodyPr wrap="square" lIns="0" tIns="0" rIns="0" bIns="0" rtlCol="0" anchor="t"/>
          <a:lstStyle/>
          <a:p>
            <a:pPr algn="l" indent="0" marL="0">
              <a:lnSpc>
                <a:spcPts val="1900"/>
              </a:lnSpc>
              <a:buNone/>
            </a:pPr>
            <a:r>
              <a:rPr lang="en-US" sz="1450" b="1" dirty="0">
                <a:solidFill>
                  <a:srgbClr val="27D3BE"/>
                </a:solidFill>
                <a:latin typeface="Palatino Linotype" pitchFamily="34" charset="0"/>
                <a:ea typeface="Palatino Linotype" pitchFamily="34" charset="-122"/>
                <a:cs typeface="Palatino Linotype" pitchFamily="34" charset="-120"/>
              </a:rPr>
              <a:t>ACTORI DISPERSAȚI</a:t>
            </a:r>
            <a:endParaRPr lang="en-US" sz="1450" dirty="0"/>
          </a:p>
        </p:txBody>
      </p:sp>
      <p:sp>
        <p:nvSpPr>
          <p:cNvPr id="16" name="Text 14"/>
          <p:cNvSpPr/>
          <p:nvPr/>
        </p:nvSpPr>
        <p:spPr>
          <a:xfrm>
            <a:off x="8311896" y="3182112"/>
            <a:ext cx="2980944" cy="1143000"/>
          </a:xfrm>
          <a:prstGeom prst="rect">
            <a:avLst/>
          </a:prstGeom>
          <a:noFill/>
          <a:ln/>
        </p:spPr>
        <p:txBody>
          <a:bodyPr wrap="square" lIns="0" tIns="0" rIns="0" bIns="0" rtlCol="0" anchor="t"/>
          <a:lstStyle/>
          <a:p>
            <a:pPr algn="l" indent="0" marL="0">
              <a:lnSpc>
                <a:spcPts val="1900"/>
              </a:lnSpc>
              <a:buNone/>
            </a:pPr>
            <a:r>
              <a:rPr lang="en-US" sz="1300" dirty="0">
                <a:solidFill>
                  <a:srgbClr val="959BB0"/>
                </a:solidFill>
                <a:latin typeface="Palatino Linotype" pitchFamily="34" charset="0"/>
                <a:ea typeface="Palatino Linotype" pitchFamily="34" charset="-122"/>
                <a:cs typeface="Palatino Linotype" pitchFamily="34" charset="-120"/>
              </a:rPr>
              <a:t>Furnizori, plătitori, reglementatori, producători, distribuitori — fiecare cu informație parțială.</a:t>
            </a:r>
            <a:endParaRPr lang="en-US" sz="1300" dirty="0"/>
          </a:p>
        </p:txBody>
      </p:sp>
      <p:sp>
        <p:nvSpPr>
          <p:cNvPr id="17" name="Shape 15"/>
          <p:cNvSpPr/>
          <p:nvPr/>
        </p:nvSpPr>
        <p:spPr>
          <a:xfrm>
            <a:off x="594360" y="4617720"/>
            <a:ext cx="10972800" cy="1097280"/>
          </a:xfrm>
          <a:prstGeom prst="roundRect">
            <a:avLst>
              <a:gd name="adj" fmla="val 7500"/>
            </a:avLst>
          </a:prstGeom>
          <a:solidFill>
            <a:srgbClr val="272A38"/>
          </a:solidFill>
          <a:ln w="12700">
            <a:solidFill>
              <a:srgbClr val="272A38"/>
            </a:solidFill>
            <a:prstDash val="solid"/>
          </a:ln>
        </p:spPr>
        <p:txBody>
          <a:bodyPr/>
          <a:p/>
        </p:txBody>
      </p:sp>
      <p:sp>
        <p:nvSpPr>
          <p:cNvPr id="18" name="Text 16"/>
          <p:cNvSpPr/>
          <p:nvPr/>
        </p:nvSpPr>
        <p:spPr>
          <a:xfrm>
            <a:off x="868680" y="4828032"/>
            <a:ext cx="10424160" cy="685800"/>
          </a:xfrm>
          <a:prstGeom prst="rect">
            <a:avLst/>
          </a:prstGeom>
          <a:noFill/>
          <a:ln/>
        </p:spPr>
        <p:txBody>
          <a:bodyPr wrap="square" lIns="0" tIns="0" rIns="0" bIns="0" rtlCol="0" anchor="t"/>
          <a:lstStyle/>
          <a:p>
            <a:pPr algn="l" indent="0" marL="0">
              <a:lnSpc>
                <a:spcPts val="2100"/>
              </a:lnSpc>
              <a:buNone/>
            </a:pPr>
            <a:r>
              <a:rPr lang="en-US" sz="1550" b="1" dirty="0">
                <a:solidFill>
                  <a:srgbClr val="FFFFFF"/>
                </a:solidFill>
                <a:latin typeface="Palatino Linotype" pitchFamily="34" charset="0"/>
                <a:ea typeface="Palatino Linotype" pitchFamily="34" charset="-122"/>
                <a:cs typeface="Palatino Linotype" pitchFamily="34" charset="-120"/>
              </a:rPr>
              <a:t>Niciun alt sector nu are această combinație. Aceiași autori adaugă încă două: roluri publice încredințate actorilor privați și volumul mare de bani publici, care face din sector o țintă atractivă.</a:t>
            </a:r>
            <a:endParaRPr lang="en-US" sz="1550" dirty="0"/>
          </a:p>
        </p:txBody>
      </p:sp>
      <p:sp>
        <p:nvSpPr>
          <p:cNvPr id="19" name="Text 17"/>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Savedoff WD, Hussmann K. În: Transparency International, Global Corruption Report 2006. Pluto Press, 2006, p. 4–16 [TI].</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0E7C6B"/>
                </a:solidFill>
                <a:latin typeface="Palatino Linotype" pitchFamily="34" charset="0"/>
                <a:ea typeface="Palatino Linotype" pitchFamily="34" charset="-122"/>
                <a:cs typeface="Palatino Linotype" pitchFamily="34" charset="-120"/>
              </a:rPr>
              <a:t>MECANISMUL · NIVELUL ÎNTÂI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De ce ajunge cineva să facă asta</a:t>
            </a:r>
            <a:endParaRPr lang="en-US" sz="31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Dacă toată lumea știe că se întâmplă, de ce nu încetează? Răspunsul nu este moral.</a:t>
            </a:r>
            <a:endParaRPr lang="en-US" sz="1450" dirty="0"/>
          </a:p>
        </p:txBody>
      </p:sp>
      <p:sp>
        <p:nvSpPr>
          <p:cNvPr id="5" name="Shape 3"/>
          <p:cNvSpPr/>
          <p:nvPr/>
        </p:nvSpPr>
        <p:spPr>
          <a:xfrm>
            <a:off x="594360" y="1920240"/>
            <a:ext cx="10972800" cy="1170432"/>
          </a:xfrm>
          <a:prstGeom prst="roundRect">
            <a:avLst>
              <a:gd name="adj" fmla="val 7031"/>
            </a:avLst>
          </a:prstGeom>
          <a:solidFill>
            <a:srgbClr val="ECEAE4"/>
          </a:solidFill>
          <a:ln w="12700">
            <a:solidFill>
              <a:srgbClr val="ECEAE4"/>
            </a:solidFill>
            <a:prstDash val="solid"/>
          </a:ln>
        </p:spPr>
        <p:txBody>
          <a:bodyPr/>
          <a:p/>
        </p:txBody>
      </p:sp>
      <p:sp>
        <p:nvSpPr>
          <p:cNvPr id="6" name="Shape 4"/>
          <p:cNvSpPr/>
          <p:nvPr/>
        </p:nvSpPr>
        <p:spPr>
          <a:xfrm>
            <a:off x="868680" y="2249424"/>
            <a:ext cx="475488" cy="475488"/>
          </a:xfrm>
          <a:prstGeom prst="ellipse">
            <a:avLst/>
          </a:prstGeom>
          <a:solidFill>
            <a:srgbClr val="B02532"/>
          </a:solidFill>
          <a:ln w="12700">
            <a:solidFill>
              <a:srgbClr val="B02532"/>
            </a:solidFill>
            <a:prstDash val="solid"/>
          </a:ln>
        </p:spPr>
        <p:txBody>
          <a:bodyPr/>
          <a:p/>
        </p:txBody>
      </p:sp>
      <p:sp>
        <p:nvSpPr>
          <p:cNvPr id="7" name="Text 5"/>
          <p:cNvSpPr/>
          <p:nvPr/>
        </p:nvSpPr>
        <p:spPr>
          <a:xfrm>
            <a:off x="868680" y="22494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a:t>
            </a:r>
            <a:endParaRPr lang="en-US" sz="1500" dirty="0"/>
          </a:p>
        </p:txBody>
      </p:sp>
      <p:sp>
        <p:nvSpPr>
          <p:cNvPr id="8" name="Text 6"/>
          <p:cNvSpPr/>
          <p:nvPr/>
        </p:nvSpPr>
        <p:spPr>
          <a:xfrm>
            <a:off x="1554480" y="2103120"/>
            <a:ext cx="3657600" cy="365760"/>
          </a:xfrm>
          <a:prstGeom prst="rect">
            <a:avLst/>
          </a:prstGeom>
          <a:noFill/>
          <a:ln/>
        </p:spPr>
        <p:txBody>
          <a:bodyPr wrap="square" lIns="0" tIns="0" rIns="0" bIns="0" rtlCol="0" anchor="t"/>
          <a:lstStyle/>
          <a:p>
            <a:pPr algn="l" indent="0" marL="0">
              <a:lnSpc>
                <a:spcPts val="1800"/>
              </a:lnSpc>
              <a:buNone/>
            </a:pPr>
            <a:r>
              <a:rPr lang="en-US" sz="1400" b="1" dirty="0">
                <a:solidFill>
                  <a:srgbClr val="B02532"/>
                </a:solidFill>
                <a:latin typeface="Palatino Linotype" pitchFamily="34" charset="0"/>
                <a:ea typeface="Palatino Linotype" pitchFamily="34" charset="-122"/>
                <a:cs typeface="Palatino Linotype" pitchFamily="34" charset="-120"/>
              </a:rPr>
              <a:t>PRESIUNEA</a:t>
            </a:r>
            <a:endParaRPr lang="en-US" sz="1400" dirty="0"/>
          </a:p>
        </p:txBody>
      </p:sp>
      <p:sp>
        <p:nvSpPr>
          <p:cNvPr id="9" name="Text 7"/>
          <p:cNvSpPr/>
          <p:nvPr/>
        </p:nvSpPr>
        <p:spPr>
          <a:xfrm>
            <a:off x="1554480" y="2487168"/>
            <a:ext cx="9692640" cy="530352"/>
          </a:xfrm>
          <a:prstGeom prst="rect">
            <a:avLst/>
          </a:prstGeom>
          <a:noFill/>
          <a:ln/>
        </p:spPr>
        <p:txBody>
          <a:bodyPr wrap="square" lIns="0" tIns="0" rIns="0" bIns="0" rtlCol="0" anchor="t"/>
          <a:lstStyle/>
          <a:p>
            <a:pPr algn="l" indent="0" marL="0">
              <a:lnSpc>
                <a:spcPts val="1800"/>
              </a:lnSpc>
              <a:buNone/>
            </a:pPr>
            <a:r>
              <a:rPr lang="en-US" sz="1350" dirty="0">
                <a:solidFill>
                  <a:srgbClr val="11121A"/>
                </a:solidFill>
                <a:latin typeface="Palatino Linotype" pitchFamily="34" charset="0"/>
                <a:ea typeface="Palatino Linotype" pitchFamily="34" charset="-122"/>
                <a:cs typeface="Palatino Linotype" pitchFamily="34" charset="-120"/>
              </a:rPr>
              <a:t>Financiară sau venită dinspre pacient: un salariu care nu acoperă nevoile, o familie care așteaptă, un pacient care insistă să dea.</a:t>
            </a:r>
            <a:endParaRPr lang="en-US" sz="1350" dirty="0"/>
          </a:p>
        </p:txBody>
      </p:sp>
      <p:sp>
        <p:nvSpPr>
          <p:cNvPr id="10" name="Shape 8"/>
          <p:cNvSpPr/>
          <p:nvPr/>
        </p:nvSpPr>
        <p:spPr>
          <a:xfrm>
            <a:off x="594360" y="3218688"/>
            <a:ext cx="10972800" cy="1170432"/>
          </a:xfrm>
          <a:prstGeom prst="roundRect">
            <a:avLst>
              <a:gd name="adj" fmla="val 7031"/>
            </a:avLst>
          </a:prstGeom>
          <a:solidFill>
            <a:srgbClr val="ECEAE4"/>
          </a:solidFill>
          <a:ln w="12700">
            <a:solidFill>
              <a:srgbClr val="ECEAE4"/>
            </a:solidFill>
            <a:prstDash val="solid"/>
          </a:ln>
        </p:spPr>
        <p:txBody>
          <a:bodyPr/>
          <a:p/>
        </p:txBody>
      </p:sp>
      <p:sp>
        <p:nvSpPr>
          <p:cNvPr id="11" name="Shape 9"/>
          <p:cNvSpPr/>
          <p:nvPr/>
        </p:nvSpPr>
        <p:spPr>
          <a:xfrm>
            <a:off x="868680" y="3547872"/>
            <a:ext cx="475488" cy="475488"/>
          </a:xfrm>
          <a:prstGeom prst="ellipse">
            <a:avLst/>
          </a:prstGeom>
          <a:solidFill>
            <a:srgbClr val="8A6100"/>
          </a:solidFill>
          <a:ln w="12700">
            <a:solidFill>
              <a:srgbClr val="8A6100"/>
            </a:solidFill>
            <a:prstDash val="solid"/>
          </a:ln>
        </p:spPr>
        <p:txBody>
          <a:bodyPr/>
          <a:p/>
        </p:txBody>
      </p:sp>
      <p:sp>
        <p:nvSpPr>
          <p:cNvPr id="12" name="Text 10"/>
          <p:cNvSpPr/>
          <p:nvPr/>
        </p:nvSpPr>
        <p:spPr>
          <a:xfrm>
            <a:off x="868680" y="354787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2</a:t>
            </a:r>
            <a:endParaRPr lang="en-US" sz="1500" dirty="0"/>
          </a:p>
        </p:txBody>
      </p:sp>
      <p:sp>
        <p:nvSpPr>
          <p:cNvPr id="13" name="Text 11"/>
          <p:cNvSpPr/>
          <p:nvPr/>
        </p:nvSpPr>
        <p:spPr>
          <a:xfrm>
            <a:off x="1554480" y="3401568"/>
            <a:ext cx="3657600" cy="365760"/>
          </a:xfrm>
          <a:prstGeom prst="rect">
            <a:avLst/>
          </a:prstGeom>
          <a:noFill/>
          <a:ln/>
        </p:spPr>
        <p:txBody>
          <a:bodyPr wrap="square" lIns="0" tIns="0" rIns="0" bIns="0" rtlCol="0" anchor="t"/>
          <a:lstStyle/>
          <a:p>
            <a:pPr algn="l" indent="0" marL="0">
              <a:lnSpc>
                <a:spcPts val="1800"/>
              </a:lnSpc>
              <a:buNone/>
            </a:pPr>
            <a:r>
              <a:rPr lang="en-US" sz="1400" b="1" dirty="0">
                <a:solidFill>
                  <a:srgbClr val="8A6100"/>
                </a:solidFill>
                <a:latin typeface="Palatino Linotype" pitchFamily="34" charset="0"/>
                <a:ea typeface="Palatino Linotype" pitchFamily="34" charset="-122"/>
                <a:cs typeface="Palatino Linotype" pitchFamily="34" charset="-120"/>
              </a:rPr>
              <a:t>RAȚIONALIZAREA</a:t>
            </a:r>
            <a:endParaRPr lang="en-US" sz="1400" dirty="0"/>
          </a:p>
        </p:txBody>
      </p:sp>
      <p:sp>
        <p:nvSpPr>
          <p:cNvPr id="14" name="Text 12"/>
          <p:cNvSpPr/>
          <p:nvPr/>
        </p:nvSpPr>
        <p:spPr>
          <a:xfrm>
            <a:off x="1554480" y="3785616"/>
            <a:ext cx="9692640" cy="530352"/>
          </a:xfrm>
          <a:prstGeom prst="rect">
            <a:avLst/>
          </a:prstGeom>
          <a:noFill/>
          <a:ln/>
        </p:spPr>
        <p:txBody>
          <a:bodyPr wrap="square" lIns="0" tIns="0" rIns="0" bIns="0" rtlCol="0" anchor="t"/>
          <a:lstStyle/>
          <a:p>
            <a:pPr algn="l" indent="0" marL="0">
              <a:lnSpc>
                <a:spcPts val="1800"/>
              </a:lnSpc>
              <a:buNone/>
            </a:pPr>
            <a:r>
              <a:rPr lang="en-US" sz="1350" dirty="0">
                <a:solidFill>
                  <a:srgbClr val="11121A"/>
                </a:solidFill>
                <a:latin typeface="Palatino Linotype" pitchFamily="34" charset="0"/>
                <a:ea typeface="Palatino Linotype" pitchFamily="34" charset="-122"/>
                <a:cs typeface="Palatino Linotype" pitchFamily="34" charset="-120"/>
              </a:rPr>
              <a:t>Atitudinile și normele din jur susțin decizia: „toată lumea face așa”, „nu am cerut, mi s-a dat”, „este un semn de recunoștință”.</a:t>
            </a:r>
            <a:endParaRPr lang="en-US" sz="1350" dirty="0"/>
          </a:p>
        </p:txBody>
      </p:sp>
      <p:sp>
        <p:nvSpPr>
          <p:cNvPr id="15" name="Shape 13"/>
          <p:cNvSpPr/>
          <p:nvPr/>
        </p:nvSpPr>
        <p:spPr>
          <a:xfrm>
            <a:off x="594360" y="4517136"/>
            <a:ext cx="10972800" cy="1170432"/>
          </a:xfrm>
          <a:prstGeom prst="roundRect">
            <a:avLst>
              <a:gd name="adj" fmla="val 7031"/>
            </a:avLst>
          </a:prstGeom>
          <a:solidFill>
            <a:srgbClr val="ECEAE4"/>
          </a:solidFill>
          <a:ln w="12700">
            <a:solidFill>
              <a:srgbClr val="ECEAE4"/>
            </a:solidFill>
            <a:prstDash val="solid"/>
          </a:ln>
        </p:spPr>
        <p:txBody>
          <a:bodyPr/>
          <a:p/>
        </p:txBody>
      </p:sp>
      <p:sp>
        <p:nvSpPr>
          <p:cNvPr id="16" name="Shape 14"/>
          <p:cNvSpPr/>
          <p:nvPr/>
        </p:nvSpPr>
        <p:spPr>
          <a:xfrm>
            <a:off x="868680" y="4846320"/>
            <a:ext cx="475488" cy="475488"/>
          </a:xfrm>
          <a:prstGeom prst="ellipse">
            <a:avLst/>
          </a:prstGeom>
          <a:solidFill>
            <a:srgbClr val="4A2D8C"/>
          </a:solidFill>
          <a:ln w="12700">
            <a:solidFill>
              <a:srgbClr val="4A2D8C"/>
            </a:solidFill>
            <a:prstDash val="solid"/>
          </a:ln>
        </p:spPr>
        <p:txBody>
          <a:bodyPr/>
          <a:p/>
        </p:txBody>
      </p:sp>
      <p:sp>
        <p:nvSpPr>
          <p:cNvPr id="17" name="Text 15"/>
          <p:cNvSpPr/>
          <p:nvPr/>
        </p:nvSpPr>
        <p:spPr>
          <a:xfrm>
            <a:off x="868680" y="48463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3</a:t>
            </a:r>
            <a:endParaRPr lang="en-US" sz="1500" dirty="0"/>
          </a:p>
        </p:txBody>
      </p:sp>
      <p:sp>
        <p:nvSpPr>
          <p:cNvPr id="18" name="Text 16"/>
          <p:cNvSpPr/>
          <p:nvPr/>
        </p:nvSpPr>
        <p:spPr>
          <a:xfrm>
            <a:off x="1554480" y="4700016"/>
            <a:ext cx="3657600" cy="365760"/>
          </a:xfrm>
          <a:prstGeom prst="rect">
            <a:avLst/>
          </a:prstGeom>
          <a:noFill/>
          <a:ln/>
        </p:spPr>
        <p:txBody>
          <a:bodyPr wrap="square" lIns="0" tIns="0" rIns="0" bIns="0" rtlCol="0" anchor="t"/>
          <a:lstStyle/>
          <a:p>
            <a:pPr algn="l" indent="0" marL="0">
              <a:lnSpc>
                <a:spcPts val="1800"/>
              </a:lnSpc>
              <a:buNone/>
            </a:pPr>
            <a:r>
              <a:rPr lang="en-US" sz="1400" b="1" dirty="0">
                <a:solidFill>
                  <a:srgbClr val="4A2D8C"/>
                </a:solidFill>
                <a:latin typeface="Palatino Linotype" pitchFamily="34" charset="0"/>
                <a:ea typeface="Palatino Linotype" pitchFamily="34" charset="-122"/>
                <a:cs typeface="Palatino Linotype" pitchFamily="34" charset="-120"/>
              </a:rPr>
              <a:t>OPORTUNITATEA</a:t>
            </a:r>
            <a:endParaRPr lang="en-US" sz="1400" dirty="0"/>
          </a:p>
        </p:txBody>
      </p:sp>
      <p:sp>
        <p:nvSpPr>
          <p:cNvPr id="19" name="Text 17"/>
          <p:cNvSpPr/>
          <p:nvPr/>
        </p:nvSpPr>
        <p:spPr>
          <a:xfrm>
            <a:off x="1554480" y="5084064"/>
            <a:ext cx="9692640" cy="530352"/>
          </a:xfrm>
          <a:prstGeom prst="rect">
            <a:avLst/>
          </a:prstGeom>
          <a:noFill/>
          <a:ln/>
        </p:spPr>
        <p:txBody>
          <a:bodyPr wrap="square" lIns="0" tIns="0" rIns="0" bIns="0" rtlCol="0" anchor="t"/>
          <a:lstStyle/>
          <a:p>
            <a:pPr algn="l" indent="0" marL="0">
              <a:lnSpc>
                <a:spcPts val="1800"/>
              </a:lnSpc>
              <a:buNone/>
            </a:pPr>
            <a:r>
              <a:rPr lang="en-US" sz="1350" dirty="0">
                <a:solidFill>
                  <a:srgbClr val="11121A"/>
                </a:solidFill>
                <a:latin typeface="Palatino Linotype" pitchFamily="34" charset="0"/>
                <a:ea typeface="Palatino Linotype" pitchFamily="34" charset="-122"/>
                <a:cs typeface="Palatino Linotype" pitchFamily="34" charset="-120"/>
              </a:rPr>
              <a:t>Posibilitatea de a o face fără consecințe. Din ce este făcută: pe diapozitivul următor.</a:t>
            </a:r>
            <a:endParaRPr lang="en-US" sz="1350" dirty="0"/>
          </a:p>
        </p:txBody>
      </p:sp>
      <p:sp>
        <p:nvSpPr>
          <p:cNvPr id="20" name="Text 18"/>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Vian T., Health Policy and Planning, 2008, figura 2, doi:10.1093/heapol/czm048 [TI, recitit în septembrie 2026]. Cele trei forțe acționează împreună: o intervenție care reduce numai una lucrează asupra unei singure forțe din trei.</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C24B"/>
                </a:solidFill>
                <a:latin typeface="Palatino Linotype" pitchFamily="34" charset="0"/>
                <a:ea typeface="Palatino Linotype" pitchFamily="34" charset="-122"/>
                <a:cs typeface="Palatino Linotype" pitchFamily="34" charset="-120"/>
              </a:rPr>
              <a:t>MECANISMUL · NIVELUL AL DOILEA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Din ce este făcută oportunitatea</a:t>
            </a:r>
            <a:endParaRPr lang="en-US" sz="31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959BB0"/>
                </a:solidFill>
                <a:latin typeface="Palatino Linotype" pitchFamily="34" charset="0"/>
                <a:ea typeface="Palatino Linotype" pitchFamily="34" charset="-122"/>
                <a:cs typeface="Palatino Linotype" pitchFamily="34" charset="-120"/>
              </a:rPr>
              <a:t>Formularea clasică a lui Klitgaard, preluată de Vian pentru sectorul sanitar.</a:t>
            </a:r>
            <a:endParaRPr lang="en-US" sz="1450" dirty="0"/>
          </a:p>
        </p:txBody>
      </p:sp>
      <p:sp>
        <p:nvSpPr>
          <p:cNvPr id="5" name="Shape 3"/>
          <p:cNvSpPr/>
          <p:nvPr/>
        </p:nvSpPr>
        <p:spPr>
          <a:xfrm>
            <a:off x="594360" y="2103120"/>
            <a:ext cx="3529584" cy="2423160"/>
          </a:xfrm>
          <a:prstGeom prst="roundRect">
            <a:avLst>
              <a:gd name="adj" fmla="val 3396"/>
            </a:avLst>
          </a:prstGeom>
          <a:solidFill>
            <a:srgbClr val="1D1F2B"/>
          </a:solidFill>
          <a:ln w="12700">
            <a:solidFill>
              <a:srgbClr val="1D1F2B"/>
            </a:solidFill>
            <a:prstDash val="solid"/>
          </a:ln>
        </p:spPr>
        <p:txBody>
          <a:bodyPr/>
          <a:p/>
        </p:txBody>
      </p:sp>
      <p:sp>
        <p:nvSpPr>
          <p:cNvPr id="6" name="Shape 4"/>
          <p:cNvSpPr/>
          <p:nvPr/>
        </p:nvSpPr>
        <p:spPr>
          <a:xfrm>
            <a:off x="868680" y="2304288"/>
            <a:ext cx="420624" cy="420624"/>
          </a:xfrm>
          <a:prstGeom prst="ellipse">
            <a:avLst/>
          </a:prstGeom>
          <a:solidFill>
            <a:srgbClr val="FF4757"/>
          </a:solidFill>
          <a:ln w="12700">
            <a:solidFill>
              <a:srgbClr val="FF4757"/>
            </a:solidFill>
            <a:prstDash val="solid"/>
          </a:ln>
        </p:spPr>
        <p:txBody>
          <a:bodyPr/>
          <a:p/>
        </p:txBody>
      </p:sp>
      <p:sp>
        <p:nvSpPr>
          <p:cNvPr id="7" name="Text 5"/>
          <p:cNvSpPr/>
          <p:nvPr/>
        </p:nvSpPr>
        <p:spPr>
          <a:xfrm>
            <a:off x="868680" y="2304288"/>
            <a:ext cx="420624" cy="420624"/>
          </a:xfrm>
          <a:prstGeom prst="rect">
            <a:avLst/>
          </a:prstGeom>
          <a:noFill/>
          <a:ln/>
        </p:spPr>
        <p:txBody>
          <a:bodyPr wrap="square" lIns="0" tIns="0" rIns="0" bIns="0" rtlCol="0" anchor="ctr"/>
          <a:lstStyle/>
          <a:p>
            <a:pPr algn="ctr" indent="0" marL="0">
              <a:buNone/>
            </a:pPr>
            <a:r>
              <a:rPr lang="en-US" sz="1900" b="1" dirty="0">
                <a:solidFill>
                  <a:srgbClr val="11121A"/>
                </a:solidFill>
                <a:latin typeface="Palatino Linotype" pitchFamily="34" charset="0"/>
                <a:ea typeface="Palatino Linotype" pitchFamily="34" charset="-122"/>
                <a:cs typeface="Palatino Linotype" pitchFamily="34" charset="-120"/>
              </a:rPr>
              <a:t>+</a:t>
            </a:r>
            <a:endParaRPr lang="en-US" sz="1900" dirty="0"/>
          </a:p>
        </p:txBody>
      </p:sp>
      <p:sp>
        <p:nvSpPr>
          <p:cNvPr id="8" name="Text 6"/>
          <p:cNvSpPr/>
          <p:nvPr/>
        </p:nvSpPr>
        <p:spPr>
          <a:xfrm>
            <a:off x="868680" y="2834640"/>
            <a:ext cx="2980944" cy="365760"/>
          </a:xfrm>
          <a:prstGeom prst="rect">
            <a:avLst/>
          </a:prstGeom>
          <a:noFill/>
          <a:ln/>
        </p:spPr>
        <p:txBody>
          <a:bodyPr wrap="square" lIns="0" tIns="0" rIns="0" bIns="0" rtlCol="0" anchor="t"/>
          <a:lstStyle/>
          <a:p>
            <a:pPr algn="l" indent="0" marL="0">
              <a:lnSpc>
                <a:spcPts val="1800"/>
              </a:lnSpc>
              <a:buNone/>
            </a:pPr>
            <a:r>
              <a:rPr lang="en-US" sz="1450" b="1" dirty="0">
                <a:solidFill>
                  <a:srgbClr val="FF4757"/>
                </a:solidFill>
                <a:latin typeface="Palatino Linotype" pitchFamily="34" charset="0"/>
                <a:ea typeface="Palatino Linotype" pitchFamily="34" charset="-122"/>
                <a:cs typeface="Palatino Linotype" pitchFamily="34" charset="-120"/>
              </a:rPr>
              <a:t>MONOPOLUL</a:t>
            </a:r>
            <a:endParaRPr lang="en-US" sz="1450" dirty="0"/>
          </a:p>
        </p:txBody>
      </p:sp>
      <p:sp>
        <p:nvSpPr>
          <p:cNvPr id="9" name="Text 7"/>
          <p:cNvSpPr/>
          <p:nvPr/>
        </p:nvSpPr>
        <p:spPr>
          <a:xfrm>
            <a:off x="868680" y="3273552"/>
            <a:ext cx="2980944" cy="1143000"/>
          </a:xfrm>
          <a:prstGeom prst="rect">
            <a:avLst/>
          </a:prstGeom>
          <a:noFill/>
          <a:ln/>
        </p:spPr>
        <p:txBody>
          <a:bodyPr wrap="square" lIns="0" tIns="0" rIns="0" bIns="0" rtlCol="0" anchor="t"/>
          <a:lstStyle/>
          <a:p>
            <a:pPr algn="l" indent="0" marL="0">
              <a:lnSpc>
                <a:spcPts val="1900"/>
              </a:lnSpc>
              <a:buNone/>
            </a:pPr>
            <a:r>
              <a:rPr lang="en-US" sz="1300" dirty="0">
                <a:solidFill>
                  <a:srgbClr val="959BB0"/>
                </a:solidFill>
                <a:latin typeface="Palatino Linotype" pitchFamily="34" charset="0"/>
                <a:ea typeface="Palatino Linotype" pitchFamily="34" charset="-122"/>
                <a:cs typeface="Palatino Linotype" pitchFamily="34" charset="-120"/>
              </a:rPr>
              <a:t>Lipsa unei alternative pentru pacient. Dacă statul este singurul furnizor, pacientul poate fi constrâns să plătească pentru a accesa serviciul.</a:t>
            </a:r>
            <a:endParaRPr lang="en-US" sz="1300" dirty="0"/>
          </a:p>
        </p:txBody>
      </p:sp>
      <p:sp>
        <p:nvSpPr>
          <p:cNvPr id="10" name="Shape 8"/>
          <p:cNvSpPr/>
          <p:nvPr/>
        </p:nvSpPr>
        <p:spPr>
          <a:xfrm>
            <a:off x="4315968" y="2103120"/>
            <a:ext cx="3529584" cy="2423160"/>
          </a:xfrm>
          <a:prstGeom prst="roundRect">
            <a:avLst>
              <a:gd name="adj" fmla="val 3396"/>
            </a:avLst>
          </a:prstGeom>
          <a:solidFill>
            <a:srgbClr val="1D1F2B"/>
          </a:solidFill>
          <a:ln w="12700">
            <a:solidFill>
              <a:srgbClr val="1D1F2B"/>
            </a:solidFill>
            <a:prstDash val="solid"/>
          </a:ln>
        </p:spPr>
        <p:txBody>
          <a:bodyPr/>
          <a:p/>
        </p:txBody>
      </p:sp>
      <p:sp>
        <p:nvSpPr>
          <p:cNvPr id="11" name="Shape 9"/>
          <p:cNvSpPr/>
          <p:nvPr/>
        </p:nvSpPr>
        <p:spPr>
          <a:xfrm>
            <a:off x="4590288" y="2304288"/>
            <a:ext cx="420624" cy="420624"/>
          </a:xfrm>
          <a:prstGeom prst="ellipse">
            <a:avLst/>
          </a:prstGeom>
          <a:solidFill>
            <a:srgbClr val="FFC24B"/>
          </a:solidFill>
          <a:ln w="12700">
            <a:solidFill>
              <a:srgbClr val="FFC24B"/>
            </a:solidFill>
            <a:prstDash val="solid"/>
          </a:ln>
        </p:spPr>
        <p:txBody>
          <a:bodyPr/>
          <a:p/>
        </p:txBody>
      </p:sp>
      <p:sp>
        <p:nvSpPr>
          <p:cNvPr id="12" name="Text 10"/>
          <p:cNvSpPr/>
          <p:nvPr/>
        </p:nvSpPr>
        <p:spPr>
          <a:xfrm>
            <a:off x="4590288" y="2304288"/>
            <a:ext cx="420624" cy="420624"/>
          </a:xfrm>
          <a:prstGeom prst="rect">
            <a:avLst/>
          </a:prstGeom>
          <a:noFill/>
          <a:ln/>
        </p:spPr>
        <p:txBody>
          <a:bodyPr wrap="square" lIns="0" tIns="0" rIns="0" bIns="0" rtlCol="0" anchor="ctr"/>
          <a:lstStyle/>
          <a:p>
            <a:pPr algn="ctr" indent="0" marL="0">
              <a:buNone/>
            </a:pPr>
            <a:r>
              <a:rPr lang="en-US" sz="1900" b="1" dirty="0">
                <a:solidFill>
                  <a:srgbClr val="11121A"/>
                </a:solidFill>
                <a:latin typeface="Palatino Linotype" pitchFamily="34" charset="0"/>
                <a:ea typeface="Palatino Linotype" pitchFamily="34" charset="-122"/>
                <a:cs typeface="Palatino Linotype" pitchFamily="34" charset="-120"/>
              </a:rPr>
              <a:t>+</a:t>
            </a:r>
            <a:endParaRPr lang="en-US" sz="1900" dirty="0"/>
          </a:p>
        </p:txBody>
      </p:sp>
      <p:sp>
        <p:nvSpPr>
          <p:cNvPr id="13" name="Text 11"/>
          <p:cNvSpPr/>
          <p:nvPr/>
        </p:nvSpPr>
        <p:spPr>
          <a:xfrm>
            <a:off x="4590288" y="2834640"/>
            <a:ext cx="2980944" cy="365760"/>
          </a:xfrm>
          <a:prstGeom prst="rect">
            <a:avLst/>
          </a:prstGeom>
          <a:noFill/>
          <a:ln/>
        </p:spPr>
        <p:txBody>
          <a:bodyPr wrap="square" lIns="0" tIns="0" rIns="0" bIns="0" rtlCol="0" anchor="t"/>
          <a:lstStyle/>
          <a:p>
            <a:pPr algn="l" indent="0" marL="0">
              <a:lnSpc>
                <a:spcPts val="1800"/>
              </a:lnSpc>
              <a:buNone/>
            </a:pPr>
            <a:r>
              <a:rPr lang="en-US" sz="1450" b="1" dirty="0">
                <a:solidFill>
                  <a:srgbClr val="FFC24B"/>
                </a:solidFill>
                <a:latin typeface="Palatino Linotype" pitchFamily="34" charset="0"/>
                <a:ea typeface="Palatino Linotype" pitchFamily="34" charset="-122"/>
                <a:cs typeface="Palatino Linotype" pitchFamily="34" charset="-120"/>
              </a:rPr>
              <a:t>DISCREȚIA</a:t>
            </a:r>
            <a:endParaRPr lang="en-US" sz="1450" dirty="0"/>
          </a:p>
        </p:txBody>
      </p:sp>
      <p:sp>
        <p:nvSpPr>
          <p:cNvPr id="14" name="Text 12"/>
          <p:cNvSpPr/>
          <p:nvPr/>
        </p:nvSpPr>
        <p:spPr>
          <a:xfrm>
            <a:off x="4590288" y="3273552"/>
            <a:ext cx="2980944" cy="1143000"/>
          </a:xfrm>
          <a:prstGeom prst="rect">
            <a:avLst/>
          </a:prstGeom>
          <a:noFill/>
          <a:ln/>
        </p:spPr>
        <p:txBody>
          <a:bodyPr wrap="square" lIns="0" tIns="0" rIns="0" bIns="0" rtlCol="0" anchor="t"/>
          <a:lstStyle/>
          <a:p>
            <a:pPr algn="l" indent="0" marL="0">
              <a:lnSpc>
                <a:spcPts val="1900"/>
              </a:lnSpc>
              <a:buNone/>
            </a:pPr>
            <a:r>
              <a:rPr lang="en-US" sz="1300" dirty="0">
                <a:solidFill>
                  <a:srgbClr val="959BB0"/>
                </a:solidFill>
                <a:latin typeface="Palatino Linotype" pitchFamily="34" charset="0"/>
                <a:ea typeface="Palatino Linotype" pitchFamily="34" charset="-122"/>
                <a:cs typeface="Palatino Linotype" pitchFamily="34" charset="-120"/>
              </a:rPr>
              <a:t>Autonomia de decizie a celui care oferă serviciul, fără control adecvat: cine intră pe listă, cine primește patul, cine este programat mâine.</a:t>
            </a:r>
            <a:endParaRPr lang="en-US" sz="1300" dirty="0"/>
          </a:p>
        </p:txBody>
      </p:sp>
      <p:sp>
        <p:nvSpPr>
          <p:cNvPr id="15" name="Shape 13"/>
          <p:cNvSpPr/>
          <p:nvPr/>
        </p:nvSpPr>
        <p:spPr>
          <a:xfrm>
            <a:off x="8037576" y="2103120"/>
            <a:ext cx="3529584" cy="2423160"/>
          </a:xfrm>
          <a:prstGeom prst="roundRect">
            <a:avLst>
              <a:gd name="adj" fmla="val 3396"/>
            </a:avLst>
          </a:prstGeom>
          <a:solidFill>
            <a:srgbClr val="1D1F2B"/>
          </a:solidFill>
          <a:ln w="12700">
            <a:solidFill>
              <a:srgbClr val="1D1F2B"/>
            </a:solidFill>
            <a:prstDash val="solid"/>
          </a:ln>
        </p:spPr>
        <p:txBody>
          <a:bodyPr/>
          <a:p/>
        </p:txBody>
      </p:sp>
      <p:sp>
        <p:nvSpPr>
          <p:cNvPr id="16" name="Shape 14"/>
          <p:cNvSpPr/>
          <p:nvPr/>
        </p:nvSpPr>
        <p:spPr>
          <a:xfrm>
            <a:off x="8311896" y="2304288"/>
            <a:ext cx="420624" cy="420624"/>
          </a:xfrm>
          <a:prstGeom prst="ellipse">
            <a:avLst/>
          </a:prstGeom>
          <a:solidFill>
            <a:srgbClr val="27D3BE"/>
          </a:solidFill>
          <a:ln w="12700">
            <a:solidFill>
              <a:srgbClr val="27D3BE"/>
            </a:solidFill>
            <a:prstDash val="solid"/>
          </a:ln>
        </p:spPr>
        <p:txBody>
          <a:bodyPr/>
          <a:p/>
        </p:txBody>
      </p:sp>
      <p:sp>
        <p:nvSpPr>
          <p:cNvPr id="17" name="Text 15"/>
          <p:cNvSpPr/>
          <p:nvPr/>
        </p:nvSpPr>
        <p:spPr>
          <a:xfrm>
            <a:off x="8311896" y="2304288"/>
            <a:ext cx="420624" cy="420624"/>
          </a:xfrm>
          <a:prstGeom prst="rect">
            <a:avLst/>
          </a:prstGeom>
          <a:noFill/>
          <a:ln/>
        </p:spPr>
        <p:txBody>
          <a:bodyPr wrap="square" lIns="0" tIns="0" rIns="0" bIns="0" rtlCol="0" anchor="ctr"/>
          <a:lstStyle/>
          <a:p>
            <a:pPr algn="ctr" indent="0" marL="0">
              <a:buNone/>
            </a:pPr>
            <a:r>
              <a:rPr lang="en-US" sz="1900" b="1" dirty="0">
                <a:solidFill>
                  <a:srgbClr val="11121A"/>
                </a:solidFill>
                <a:latin typeface="Palatino Linotype" pitchFamily="34" charset="0"/>
                <a:ea typeface="Palatino Linotype" pitchFamily="34" charset="-122"/>
                <a:cs typeface="Palatino Linotype" pitchFamily="34" charset="-120"/>
              </a:rPr>
              <a:t>−</a:t>
            </a:r>
            <a:endParaRPr lang="en-US" sz="1900" dirty="0"/>
          </a:p>
        </p:txBody>
      </p:sp>
      <p:sp>
        <p:nvSpPr>
          <p:cNvPr id="18" name="Text 16"/>
          <p:cNvSpPr/>
          <p:nvPr/>
        </p:nvSpPr>
        <p:spPr>
          <a:xfrm>
            <a:off x="8311896" y="2834640"/>
            <a:ext cx="2980944" cy="365760"/>
          </a:xfrm>
          <a:prstGeom prst="rect">
            <a:avLst/>
          </a:prstGeom>
          <a:noFill/>
          <a:ln/>
        </p:spPr>
        <p:txBody>
          <a:bodyPr wrap="square" lIns="0" tIns="0" rIns="0" bIns="0" rtlCol="0" anchor="t"/>
          <a:lstStyle/>
          <a:p>
            <a:pPr algn="l" indent="0" marL="0">
              <a:lnSpc>
                <a:spcPts val="1800"/>
              </a:lnSpc>
              <a:buNone/>
            </a:pPr>
            <a:r>
              <a:rPr lang="en-US" sz="1450" b="1" dirty="0">
                <a:solidFill>
                  <a:srgbClr val="27D3BE"/>
                </a:solidFill>
                <a:latin typeface="Palatino Linotype" pitchFamily="34" charset="0"/>
                <a:ea typeface="Palatino Linotype" pitchFamily="34" charset="-122"/>
                <a:cs typeface="Palatino Linotype" pitchFamily="34" charset="-120"/>
              </a:rPr>
              <a:t>RESPONSABILIZAREA</a:t>
            </a:r>
            <a:endParaRPr lang="en-US" sz="1450" dirty="0"/>
          </a:p>
        </p:txBody>
      </p:sp>
      <p:sp>
        <p:nvSpPr>
          <p:cNvPr id="19" name="Text 17"/>
          <p:cNvSpPr/>
          <p:nvPr/>
        </p:nvSpPr>
        <p:spPr>
          <a:xfrm>
            <a:off x="8311896" y="3273552"/>
            <a:ext cx="2980944" cy="1143000"/>
          </a:xfrm>
          <a:prstGeom prst="rect">
            <a:avLst/>
          </a:prstGeom>
          <a:noFill/>
          <a:ln/>
        </p:spPr>
        <p:txBody>
          <a:bodyPr wrap="square" lIns="0" tIns="0" rIns="0" bIns="0" rtlCol="0" anchor="t"/>
          <a:lstStyle/>
          <a:p>
            <a:pPr algn="l" indent="0" marL="0">
              <a:lnSpc>
                <a:spcPts val="1900"/>
              </a:lnSpc>
              <a:buNone/>
            </a:pPr>
            <a:r>
              <a:rPr lang="en-US" sz="1300" dirty="0">
                <a:solidFill>
                  <a:srgbClr val="959BB0"/>
                </a:solidFill>
                <a:latin typeface="Palatino Linotype" pitchFamily="34" charset="0"/>
                <a:ea typeface="Palatino Linotype" pitchFamily="34" charset="-122"/>
                <a:cs typeface="Palatino Linotype" pitchFamily="34" charset="-120"/>
              </a:rPr>
              <a:t>Cineva anume răspunde pentru decizie și pentru rezultat. O atribuție împărțită între mulți riscă să nu mai fie exercitată de nimeni.</a:t>
            </a:r>
            <a:endParaRPr lang="en-US" sz="1300" dirty="0"/>
          </a:p>
        </p:txBody>
      </p:sp>
      <p:sp>
        <p:nvSpPr>
          <p:cNvPr id="20" name="Shape 18"/>
          <p:cNvSpPr/>
          <p:nvPr/>
        </p:nvSpPr>
        <p:spPr>
          <a:xfrm>
            <a:off x="594360" y="4709160"/>
            <a:ext cx="10972800" cy="1005840"/>
          </a:xfrm>
          <a:prstGeom prst="roundRect">
            <a:avLst>
              <a:gd name="adj" fmla="val 8182"/>
            </a:avLst>
          </a:prstGeom>
          <a:solidFill>
            <a:srgbClr val="272A38"/>
          </a:solidFill>
          <a:ln w="12700">
            <a:solidFill>
              <a:srgbClr val="272A38"/>
            </a:solidFill>
            <a:prstDash val="solid"/>
          </a:ln>
        </p:spPr>
        <p:txBody>
          <a:bodyPr/>
          <a:p/>
        </p:txBody>
      </p:sp>
      <p:sp>
        <p:nvSpPr>
          <p:cNvPr id="21" name="Text 19"/>
          <p:cNvSpPr/>
          <p:nvPr/>
        </p:nvSpPr>
        <p:spPr>
          <a:xfrm>
            <a:off x="868680" y="4892040"/>
            <a:ext cx="10424160" cy="685800"/>
          </a:xfrm>
          <a:prstGeom prst="rect">
            <a:avLst/>
          </a:prstGeom>
          <a:noFill/>
          <a:ln/>
        </p:spPr>
        <p:txBody>
          <a:bodyPr wrap="square" lIns="0" tIns="0" rIns="0" bIns="0" rtlCol="0" anchor="t"/>
          <a:lstStyle/>
          <a:p>
            <a:pPr algn="l" indent="0" marL="0">
              <a:lnSpc>
                <a:spcPts val="2000"/>
              </a:lnSpc>
              <a:buNone/>
            </a:pPr>
            <a:r>
              <a:rPr lang="en-US" sz="1500" b="1" dirty="0">
                <a:solidFill>
                  <a:srgbClr val="FFC24B"/>
                </a:solidFill>
                <a:latin typeface="Palatino Linotype" pitchFamily="34" charset="0"/>
                <a:ea typeface="Palatino Linotype" pitchFamily="34" charset="-122"/>
                <a:cs typeface="Palatino Linotype" pitchFamily="34" charset="-120"/>
              </a:rPr>
              <a:t>Oportunitatea crește cu monopolul și cu discreția și scade cu responsabilizarea. Cele trei elemente nu epuizează factorii care o pot limita: o intervenție se judecă după efectul ei măsurat, nu după cât de energic este anunțată.</a:t>
            </a:r>
            <a:endParaRPr lang="en-US" sz="1500" dirty="0"/>
          </a:p>
        </p:txBody>
      </p:sp>
      <p:sp>
        <p:nvSpPr>
          <p:cNvPr id="22" name="Text 20"/>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Vian T., Health Policy and Planning, 2008, doi:10.1093/heapol/czm048 [TI, recitit în septembrie 2026], după Klitgaard. Unul dintre puținele teste directe în sănătate: în Bolivia, existența unor alternative la serviciile publice a fost asociată cu plăți informale mai mici (Gray-Molina et al., 2001).</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4757"/>
                </a:solidFill>
                <a:latin typeface="Palatino Linotype" pitchFamily="34" charset="0"/>
                <a:ea typeface="Palatino Linotype" pitchFamily="34" charset="-122"/>
                <a:cs typeface="Palatino Linotype" pitchFamily="34" charset="-120"/>
              </a:rPr>
              <a:t>LIMITA CADRULUI TEORETIC</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Ce nu explică mecanismul</a:t>
            </a:r>
            <a:endParaRPr lang="en-US" sz="3100" dirty="0"/>
          </a:p>
        </p:txBody>
      </p:sp>
      <p:sp>
        <p:nvSpPr>
          <p:cNvPr id="4" name="Shape 2"/>
          <p:cNvSpPr/>
          <p:nvPr/>
        </p:nvSpPr>
        <p:spPr>
          <a:xfrm>
            <a:off x="594360" y="1645920"/>
            <a:ext cx="10972800" cy="1417320"/>
          </a:xfrm>
          <a:prstGeom prst="roundRect">
            <a:avLst>
              <a:gd name="adj" fmla="val 5806"/>
            </a:avLst>
          </a:prstGeom>
          <a:solidFill>
            <a:srgbClr val="1D1F2B"/>
          </a:solidFill>
          <a:ln w="12700">
            <a:solidFill>
              <a:srgbClr val="1D1F2B"/>
            </a:solidFill>
            <a:prstDash val="solid"/>
          </a:ln>
        </p:spPr>
        <p:txBody>
          <a:bodyPr/>
          <a:p/>
        </p:txBody>
      </p:sp>
      <p:sp>
        <p:nvSpPr>
          <p:cNvPr id="5" name="Text 3"/>
          <p:cNvSpPr/>
          <p:nvPr/>
        </p:nvSpPr>
        <p:spPr>
          <a:xfrm>
            <a:off x="868680" y="1847088"/>
            <a:ext cx="10424160" cy="1051560"/>
          </a:xfrm>
          <a:prstGeom prst="rect">
            <a:avLst/>
          </a:prstGeom>
          <a:noFill/>
          <a:ln/>
        </p:spPr>
        <p:txBody>
          <a:bodyPr wrap="square" lIns="0" tIns="0" rIns="0" bIns="0" rtlCol="0" anchor="t"/>
          <a:lstStyle/>
          <a:p>
            <a:pPr algn="l" indent="0" marL="0">
              <a:lnSpc>
                <a:spcPts val="2300"/>
              </a:lnSpc>
              <a:buNone/>
            </a:pPr>
            <a:r>
              <a:rPr lang="en-US" sz="1600" dirty="0">
                <a:solidFill>
                  <a:srgbClr val="FFFFFF"/>
                </a:solidFill>
                <a:latin typeface="Palatino Linotype" pitchFamily="34" charset="0"/>
                <a:ea typeface="Palatino Linotype" pitchFamily="34" charset="-122"/>
                <a:cs typeface="Palatino Linotype" pitchFamily="34" charset="-120"/>
              </a:rPr>
              <a:t>Modelul explică de ce fenomenul este stabil. Nu explică de ce solicitările raportate au fost, în 2017–2021, de peste două ori mai frecvente în trei regiuni de dezvoltare decât în celelalte cinci, într-o țară cu aceeași lege, același sistem de asigurări și aceeași grilă de salarizare.</a:t>
            </a:r>
            <a:endParaRPr lang="en-US" sz="1600" dirty="0"/>
          </a:p>
        </p:txBody>
      </p:sp>
      <p:sp>
        <p:nvSpPr>
          <p:cNvPr id="6" name="Shape 4"/>
          <p:cNvSpPr/>
          <p:nvPr/>
        </p:nvSpPr>
        <p:spPr>
          <a:xfrm>
            <a:off x="594360" y="3246120"/>
            <a:ext cx="10972800" cy="1371600"/>
          </a:xfrm>
          <a:prstGeom prst="roundRect">
            <a:avLst>
              <a:gd name="adj" fmla="val 6000"/>
            </a:avLst>
          </a:prstGeom>
          <a:solidFill>
            <a:srgbClr val="272A38"/>
          </a:solidFill>
          <a:ln w="12700">
            <a:solidFill>
              <a:srgbClr val="272A38"/>
            </a:solidFill>
            <a:prstDash val="solid"/>
          </a:ln>
        </p:spPr>
        <p:txBody>
          <a:bodyPr/>
          <a:p/>
        </p:txBody>
      </p:sp>
      <p:sp>
        <p:nvSpPr>
          <p:cNvPr id="7" name="Text 5"/>
          <p:cNvSpPr/>
          <p:nvPr/>
        </p:nvSpPr>
        <p:spPr>
          <a:xfrm>
            <a:off x="868680" y="342900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FFC24B"/>
                </a:solidFill>
                <a:latin typeface="Palatino Linotype" pitchFamily="34" charset="0"/>
                <a:ea typeface="Palatino Linotype" pitchFamily="34" charset="-122"/>
                <a:cs typeface="Palatino Linotype" pitchFamily="34" charset="-120"/>
              </a:rPr>
              <a:t>LECȚIA DE METODĂ</a:t>
            </a:r>
            <a:endParaRPr lang="en-US" sz="1000" dirty="0"/>
          </a:p>
        </p:txBody>
      </p:sp>
      <p:sp>
        <p:nvSpPr>
          <p:cNvPr id="8" name="Text 6"/>
          <p:cNvSpPr/>
          <p:nvPr/>
        </p:nvSpPr>
        <p:spPr>
          <a:xfrm>
            <a:off x="868680" y="3730752"/>
            <a:ext cx="10424160" cy="777240"/>
          </a:xfrm>
          <a:prstGeom prst="rect">
            <a:avLst/>
          </a:prstGeom>
          <a:noFill/>
          <a:ln/>
        </p:spPr>
        <p:txBody>
          <a:bodyPr wrap="square" lIns="0" tIns="0" rIns="0" bIns="0" rtlCol="0" anchor="t"/>
          <a:lstStyle/>
          <a:p>
            <a:pPr algn="l" indent="0" marL="0">
              <a:lnSpc>
                <a:spcPts val="2200"/>
              </a:lnSpc>
              <a:buNone/>
            </a:pPr>
            <a:r>
              <a:rPr lang="en-US" sz="1600" b="1" dirty="0">
                <a:solidFill>
                  <a:srgbClr val="FFC24B"/>
                </a:solidFill>
                <a:latin typeface="Palatino Linotype" pitchFamily="34" charset="0"/>
                <a:ea typeface="Palatino Linotype" pitchFamily="34" charset="-122"/>
                <a:cs typeface="Palatino Linotype" pitchFamily="34" charset="-120"/>
              </a:rPr>
              <a:t>Un model care explică totul la nivel general și nimic la nivel local nu este încă un model utilizabil pentru politici publice.</a:t>
            </a:r>
            <a:endParaRPr lang="en-US" sz="1600" dirty="0"/>
          </a:p>
        </p:txBody>
      </p:sp>
      <p:sp>
        <p:nvSpPr>
          <p:cNvPr id="9" name="Shape 7"/>
          <p:cNvSpPr/>
          <p:nvPr/>
        </p:nvSpPr>
        <p:spPr>
          <a:xfrm>
            <a:off x="594360" y="4800600"/>
            <a:ext cx="10972800" cy="914400"/>
          </a:xfrm>
          <a:prstGeom prst="roundRect">
            <a:avLst>
              <a:gd name="adj" fmla="val 9000"/>
            </a:avLst>
          </a:prstGeom>
          <a:solidFill>
            <a:srgbClr val="07564B"/>
          </a:solidFill>
          <a:ln w="12700">
            <a:solidFill>
              <a:srgbClr val="07564B"/>
            </a:solidFill>
            <a:prstDash val="solid"/>
          </a:ln>
        </p:spPr>
        <p:txBody>
          <a:bodyPr/>
          <a:p/>
        </p:txBody>
      </p:sp>
      <p:sp>
        <p:nvSpPr>
          <p:cNvPr id="10" name="Text 8"/>
          <p:cNvSpPr/>
          <p:nvPr/>
        </p:nvSpPr>
        <p:spPr>
          <a:xfrm>
            <a:off x="868680" y="4983480"/>
            <a:ext cx="10424160" cy="594360"/>
          </a:xfrm>
          <a:prstGeom prst="rect">
            <a:avLst/>
          </a:prstGeom>
          <a:noFill/>
          <a:ln/>
        </p:spPr>
        <p:txBody>
          <a:bodyPr wrap="square" lIns="0" tIns="0" rIns="0" bIns="0" rtlCol="0" anchor="t"/>
          <a:lstStyle/>
          <a:p>
            <a:pPr algn="l" indent="0" marL="0">
              <a:lnSpc>
                <a:spcPts val="2000"/>
              </a:lnSpc>
              <a:buNone/>
            </a:pPr>
            <a:r>
              <a:rPr lang="en-US" sz="1550" b="1" dirty="0">
                <a:solidFill>
                  <a:srgbClr val="FFFFFF"/>
                </a:solidFill>
                <a:latin typeface="Palatino Linotype" pitchFamily="34" charset="0"/>
                <a:ea typeface="Palatino Linotype" pitchFamily="34" charset="-122"/>
                <a:cs typeface="Palatino Linotype" pitchFamily="34" charset="-120"/>
              </a:rPr>
              <a:t>Aici începe ședința a doua. Cifra pe care o lăsăm deschisă astăzi este exact această dispersie regională.</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9C4A0A"/>
                </a:solidFill>
                <a:latin typeface="Palatino Linotype" pitchFamily="34" charset="0"/>
                <a:ea typeface="Palatino Linotype" pitchFamily="34" charset="-122"/>
                <a:cs typeface="Palatino Linotype" pitchFamily="34" charset="-120"/>
              </a:rPr>
              <a:t>HARTA INSTITUȚIONALĂ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Cine ar fi trebuit să vadă ce</a:t>
            </a:r>
            <a:endParaRPr lang="en-US" sz="30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O cifră despre corupție are sens numai dacă știți cine ar fi trebuit să producă informația și nu a produs-o.</a:t>
            </a:r>
            <a:endParaRPr lang="en-US" sz="1450" dirty="0"/>
          </a:p>
        </p:txBody>
      </p:sp>
      <p:sp>
        <p:nvSpPr>
          <p:cNvPr id="5" name="Text 3"/>
          <p:cNvSpPr/>
          <p:nvPr/>
        </p:nvSpPr>
        <p:spPr>
          <a:xfrm>
            <a:off x="594360" y="2103120"/>
            <a:ext cx="301752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INSTITUȚIA</a:t>
            </a:r>
            <a:endParaRPr lang="en-US" sz="1050" dirty="0"/>
          </a:p>
        </p:txBody>
      </p:sp>
      <p:sp>
        <p:nvSpPr>
          <p:cNvPr id="6" name="Text 4"/>
          <p:cNvSpPr/>
          <p:nvPr/>
        </p:nvSpPr>
        <p:spPr>
          <a:xfrm>
            <a:off x="3611880" y="2103120"/>
            <a:ext cx="585216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CE FACE, RELEVANT PENTRU ACEST CURS</a:t>
            </a:r>
            <a:endParaRPr lang="en-US" sz="1050" dirty="0"/>
          </a:p>
        </p:txBody>
      </p:sp>
      <p:sp>
        <p:nvSpPr>
          <p:cNvPr id="7" name="Text 5"/>
          <p:cNvSpPr/>
          <p:nvPr/>
        </p:nvSpPr>
        <p:spPr>
          <a:xfrm>
            <a:off x="9464040" y="2103120"/>
            <a:ext cx="210312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ȘEDINȚA</a:t>
            </a:r>
            <a:endParaRPr lang="en-US" sz="1050" dirty="0"/>
          </a:p>
        </p:txBody>
      </p:sp>
      <p:sp>
        <p:nvSpPr>
          <p:cNvPr id="8" name="Shape 6"/>
          <p:cNvSpPr/>
          <p:nvPr/>
        </p:nvSpPr>
        <p:spPr>
          <a:xfrm>
            <a:off x="594360" y="2505456"/>
            <a:ext cx="10972800" cy="466344"/>
          </a:xfrm>
          <a:prstGeom prst="roundRect">
            <a:avLst>
              <a:gd name="adj" fmla="val 17647"/>
            </a:avLst>
          </a:prstGeom>
          <a:solidFill>
            <a:srgbClr val="ECEAE4"/>
          </a:solidFill>
          <a:ln w="12700">
            <a:solidFill>
              <a:srgbClr val="ECEAE4"/>
            </a:solidFill>
            <a:prstDash val="solid"/>
          </a:ln>
        </p:spPr>
        <p:txBody>
          <a:bodyPr/>
          <a:p/>
        </p:txBody>
      </p:sp>
      <p:sp>
        <p:nvSpPr>
          <p:cNvPr id="9" name="Text 7"/>
          <p:cNvSpPr/>
          <p:nvPr/>
        </p:nvSpPr>
        <p:spPr>
          <a:xfrm>
            <a:off x="868680" y="2505456"/>
            <a:ext cx="274320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Ministerul Sănătății</a:t>
            </a:r>
            <a:endParaRPr lang="en-US" sz="1250" dirty="0"/>
          </a:p>
        </p:txBody>
      </p:sp>
      <p:sp>
        <p:nvSpPr>
          <p:cNvPr id="10" name="Text 8"/>
          <p:cNvSpPr/>
          <p:nvPr/>
        </p:nvSpPr>
        <p:spPr>
          <a:xfrm>
            <a:off x="3611880" y="2505456"/>
            <a:ext cx="56692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Politica sanitară; componența comisiilor de specialitate</a:t>
            </a:r>
            <a:endParaRPr lang="en-US" sz="1250" dirty="0"/>
          </a:p>
        </p:txBody>
      </p:sp>
      <p:sp>
        <p:nvSpPr>
          <p:cNvPr id="11" name="Text 9"/>
          <p:cNvSpPr/>
          <p:nvPr/>
        </p:nvSpPr>
        <p:spPr>
          <a:xfrm>
            <a:off x="9464040" y="2505456"/>
            <a:ext cx="192024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3, 7</a:t>
            </a:r>
            <a:endParaRPr lang="en-US" sz="1250" dirty="0"/>
          </a:p>
        </p:txBody>
      </p:sp>
      <p:sp>
        <p:nvSpPr>
          <p:cNvPr id="12" name="Text 10"/>
          <p:cNvSpPr/>
          <p:nvPr/>
        </p:nvSpPr>
        <p:spPr>
          <a:xfrm>
            <a:off x="868680" y="3017520"/>
            <a:ext cx="274320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CNAS</a:t>
            </a:r>
            <a:endParaRPr lang="en-US" sz="1250" dirty="0"/>
          </a:p>
        </p:txBody>
      </p:sp>
      <p:sp>
        <p:nvSpPr>
          <p:cNvPr id="13" name="Text 11"/>
          <p:cNvSpPr/>
          <p:nvPr/>
        </p:nvSpPr>
        <p:spPr>
          <a:xfrm>
            <a:off x="3611880" y="3017520"/>
            <a:ext cx="56692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Contractarea și decontarea serviciilor; datele de consum</a:t>
            </a:r>
            <a:endParaRPr lang="en-US" sz="1250" dirty="0"/>
          </a:p>
        </p:txBody>
      </p:sp>
      <p:sp>
        <p:nvSpPr>
          <p:cNvPr id="14" name="Text 12"/>
          <p:cNvSpPr/>
          <p:nvPr/>
        </p:nvSpPr>
        <p:spPr>
          <a:xfrm>
            <a:off x="9464040" y="3017520"/>
            <a:ext cx="192024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2, 7</a:t>
            </a:r>
            <a:endParaRPr lang="en-US" sz="1250" dirty="0"/>
          </a:p>
        </p:txBody>
      </p:sp>
      <p:sp>
        <p:nvSpPr>
          <p:cNvPr id="15" name="Shape 13"/>
          <p:cNvSpPr/>
          <p:nvPr/>
        </p:nvSpPr>
        <p:spPr>
          <a:xfrm>
            <a:off x="594360" y="3529584"/>
            <a:ext cx="10972800" cy="466344"/>
          </a:xfrm>
          <a:prstGeom prst="roundRect">
            <a:avLst>
              <a:gd name="adj" fmla="val 17647"/>
            </a:avLst>
          </a:prstGeom>
          <a:solidFill>
            <a:srgbClr val="ECEAE4"/>
          </a:solidFill>
          <a:ln w="12700">
            <a:solidFill>
              <a:srgbClr val="ECEAE4"/>
            </a:solidFill>
            <a:prstDash val="solid"/>
          </a:ln>
        </p:spPr>
        <p:txBody>
          <a:bodyPr/>
          <a:p/>
        </p:txBody>
      </p:sp>
      <p:sp>
        <p:nvSpPr>
          <p:cNvPr id="16" name="Text 14"/>
          <p:cNvSpPr/>
          <p:nvPr/>
        </p:nvSpPr>
        <p:spPr>
          <a:xfrm>
            <a:off x="868680" y="3529584"/>
            <a:ext cx="274320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DSP județene</a:t>
            </a:r>
            <a:endParaRPr lang="en-US" sz="1250" dirty="0"/>
          </a:p>
        </p:txBody>
      </p:sp>
      <p:sp>
        <p:nvSpPr>
          <p:cNvPr id="17" name="Text 15"/>
          <p:cNvSpPr/>
          <p:nvPr/>
        </p:nvSpPr>
        <p:spPr>
          <a:xfrm>
            <a:off x="3611880" y="3529584"/>
            <a:ext cx="56692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Control în teritoriu; sesizări la nivel județean</a:t>
            </a:r>
            <a:endParaRPr lang="en-US" sz="1250" dirty="0"/>
          </a:p>
        </p:txBody>
      </p:sp>
      <p:sp>
        <p:nvSpPr>
          <p:cNvPr id="18" name="Text 16"/>
          <p:cNvSpPr/>
          <p:nvPr/>
        </p:nvSpPr>
        <p:spPr>
          <a:xfrm>
            <a:off x="9464040" y="3529584"/>
            <a:ext cx="192024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2</a:t>
            </a:r>
            <a:endParaRPr lang="en-US" sz="1250" dirty="0"/>
          </a:p>
        </p:txBody>
      </p:sp>
      <p:sp>
        <p:nvSpPr>
          <p:cNvPr id="19" name="Text 17"/>
          <p:cNvSpPr/>
          <p:nvPr/>
        </p:nvSpPr>
        <p:spPr>
          <a:xfrm>
            <a:off x="868680" y="4041648"/>
            <a:ext cx="274320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INSP</a:t>
            </a:r>
            <a:endParaRPr lang="en-US" sz="1250" dirty="0"/>
          </a:p>
        </p:txBody>
      </p:sp>
      <p:sp>
        <p:nvSpPr>
          <p:cNvPr id="20" name="Text 18"/>
          <p:cNvSpPr/>
          <p:nvPr/>
        </p:nvSpPr>
        <p:spPr>
          <a:xfrm>
            <a:off x="3611880" y="4041648"/>
            <a:ext cx="56692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Producerea indicatorilor de sănătate a populației</a:t>
            </a:r>
            <a:endParaRPr lang="en-US" sz="1250" dirty="0"/>
          </a:p>
        </p:txBody>
      </p:sp>
      <p:sp>
        <p:nvSpPr>
          <p:cNvPr id="21" name="Text 19"/>
          <p:cNvSpPr/>
          <p:nvPr/>
        </p:nvSpPr>
        <p:spPr>
          <a:xfrm>
            <a:off x="9464040" y="4041648"/>
            <a:ext cx="192024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1, 4</a:t>
            </a:r>
            <a:endParaRPr lang="en-US" sz="1250" dirty="0"/>
          </a:p>
        </p:txBody>
      </p:sp>
      <p:sp>
        <p:nvSpPr>
          <p:cNvPr id="22" name="Shape 20"/>
          <p:cNvSpPr/>
          <p:nvPr/>
        </p:nvSpPr>
        <p:spPr>
          <a:xfrm>
            <a:off x="594360" y="4553712"/>
            <a:ext cx="10972800" cy="466344"/>
          </a:xfrm>
          <a:prstGeom prst="roundRect">
            <a:avLst>
              <a:gd name="adj" fmla="val 17647"/>
            </a:avLst>
          </a:prstGeom>
          <a:solidFill>
            <a:srgbClr val="ECEAE4"/>
          </a:solidFill>
          <a:ln w="12700">
            <a:solidFill>
              <a:srgbClr val="ECEAE4"/>
            </a:solidFill>
            <a:prstDash val="solid"/>
          </a:ln>
        </p:spPr>
        <p:txBody>
          <a:bodyPr/>
          <a:p/>
        </p:txBody>
      </p:sp>
      <p:sp>
        <p:nvSpPr>
          <p:cNvPr id="23" name="Text 21"/>
          <p:cNvSpPr/>
          <p:nvPr/>
        </p:nvSpPr>
        <p:spPr>
          <a:xfrm>
            <a:off x="868680" y="4553712"/>
            <a:ext cx="274320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ANMDMR</a:t>
            </a:r>
            <a:endParaRPr lang="en-US" sz="1250" dirty="0"/>
          </a:p>
        </p:txBody>
      </p:sp>
      <p:sp>
        <p:nvSpPr>
          <p:cNvPr id="24" name="Text 22"/>
          <p:cNvSpPr/>
          <p:nvPr/>
        </p:nvSpPr>
        <p:spPr>
          <a:xfrm>
            <a:off x="3611880" y="4553712"/>
            <a:ext cx="56692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Autorizare, farmacovigilență, trasabilitate</a:t>
            </a:r>
            <a:endParaRPr lang="en-US" sz="1250" dirty="0"/>
          </a:p>
        </p:txBody>
      </p:sp>
      <p:sp>
        <p:nvSpPr>
          <p:cNvPr id="25" name="Text 23"/>
          <p:cNvSpPr/>
          <p:nvPr/>
        </p:nvSpPr>
        <p:spPr>
          <a:xfrm>
            <a:off x="9464040" y="4553712"/>
            <a:ext cx="192024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3, 7</a:t>
            </a:r>
            <a:endParaRPr lang="en-US" sz="1250" dirty="0"/>
          </a:p>
        </p:txBody>
      </p:sp>
      <p:sp>
        <p:nvSpPr>
          <p:cNvPr id="26" name="Text 24"/>
          <p:cNvSpPr/>
          <p:nvPr/>
        </p:nvSpPr>
        <p:spPr>
          <a:xfrm>
            <a:off x="868680" y="5065776"/>
            <a:ext cx="274320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ANI</a:t>
            </a:r>
            <a:endParaRPr lang="en-US" sz="1250" dirty="0"/>
          </a:p>
        </p:txBody>
      </p:sp>
      <p:sp>
        <p:nvSpPr>
          <p:cNvPr id="27" name="Text 25"/>
          <p:cNvSpPr/>
          <p:nvPr/>
        </p:nvSpPr>
        <p:spPr>
          <a:xfrm>
            <a:off x="3611880" y="5065776"/>
            <a:ext cx="56692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Averi, interese, incompatibilități; canal extern (Legea nr. 361/2022)</a:t>
            </a:r>
            <a:endParaRPr lang="en-US" sz="1250" dirty="0"/>
          </a:p>
        </p:txBody>
      </p:sp>
      <p:sp>
        <p:nvSpPr>
          <p:cNvPr id="28" name="Text 26"/>
          <p:cNvSpPr/>
          <p:nvPr/>
        </p:nvSpPr>
        <p:spPr>
          <a:xfrm>
            <a:off x="9464040" y="5065776"/>
            <a:ext cx="192024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3, 4, 5, 7</a:t>
            </a:r>
            <a:endParaRPr lang="en-US" sz="1250" dirty="0"/>
          </a:p>
        </p:txBody>
      </p:sp>
      <p:sp>
        <p:nvSpPr>
          <p:cNvPr id="29" name="Shape 27"/>
          <p:cNvSpPr/>
          <p:nvPr/>
        </p:nvSpPr>
        <p:spPr>
          <a:xfrm>
            <a:off x="594360" y="5577840"/>
            <a:ext cx="10972800" cy="466344"/>
          </a:xfrm>
          <a:prstGeom prst="roundRect">
            <a:avLst>
              <a:gd name="adj" fmla="val 17647"/>
            </a:avLst>
          </a:prstGeom>
          <a:solidFill>
            <a:srgbClr val="ECEAE4"/>
          </a:solidFill>
          <a:ln w="12700">
            <a:solidFill>
              <a:srgbClr val="ECEAE4"/>
            </a:solidFill>
            <a:prstDash val="solid"/>
          </a:ln>
        </p:spPr>
        <p:txBody>
          <a:bodyPr/>
          <a:p/>
        </p:txBody>
      </p:sp>
      <p:sp>
        <p:nvSpPr>
          <p:cNvPr id="30" name="Text 28"/>
          <p:cNvSpPr/>
          <p:nvPr/>
        </p:nvSpPr>
        <p:spPr>
          <a:xfrm>
            <a:off x="868680" y="5577840"/>
            <a:ext cx="2743200" cy="466344"/>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DNA</a:t>
            </a:r>
            <a:endParaRPr lang="en-US" sz="1250" dirty="0"/>
          </a:p>
        </p:txBody>
      </p:sp>
      <p:sp>
        <p:nvSpPr>
          <p:cNvPr id="31" name="Text 29"/>
          <p:cNvSpPr/>
          <p:nvPr/>
        </p:nvSpPr>
        <p:spPr>
          <a:xfrm>
            <a:off x="3611880" y="5577840"/>
            <a:ext cx="566928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Urmărirea penală a faptelor de corupție de competența sa</a:t>
            </a:r>
            <a:endParaRPr lang="en-US" sz="1250" dirty="0"/>
          </a:p>
        </p:txBody>
      </p:sp>
      <p:sp>
        <p:nvSpPr>
          <p:cNvPr id="32" name="Text 30"/>
          <p:cNvSpPr/>
          <p:nvPr/>
        </p:nvSpPr>
        <p:spPr>
          <a:xfrm>
            <a:off x="9464040" y="5577840"/>
            <a:ext cx="1920240" cy="466344"/>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2, 4, 7</a:t>
            </a:r>
            <a:endParaRPr lang="en-US" sz="1250" dirty="0"/>
          </a:p>
        </p:txBody>
      </p:sp>
      <p:sp>
        <p:nvSpPr>
          <p:cNvPr id="33" name="Text 31"/>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Lista completă, inclusiv Consiliul Concurenței, este în notele de curs, secțiunea 1.8.</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4757"/>
        </a:solidFill>
      </p:bgPr>
    </p:bg>
    <p:spTree>
      <p:nvGrpSpPr>
        <p:cNvPr id="1" name=""/>
        <p:cNvGrpSpPr/>
        <p:nvPr/>
      </p:nvGrpSpPr>
      <p:grpSpPr>
        <a:xfrm>
          <a:off x="0" y="0"/>
          <a:ext cx="0" cy="0"/>
          <a:chOff x="0" y="0"/>
          <a:chExt cx="0" cy="0"/>
        </a:xfrm>
      </p:grpSpPr>
      <p:sp>
        <p:nvSpPr>
          <p:cNvPr id="2" name="Shape 0"/>
          <p:cNvSpPr/>
          <p:nvPr/>
        </p:nvSpPr>
        <p:spPr>
          <a:xfrm>
            <a:off x="594360" y="384048"/>
            <a:ext cx="3291840" cy="310896"/>
          </a:xfrm>
          <a:prstGeom prst="roundRect">
            <a:avLst>
              <a:gd name="adj" fmla="val 50000"/>
            </a:avLst>
          </a:prstGeom>
          <a:solidFill>
            <a:srgbClr val="2E060B"/>
          </a:solidFill>
          <a:ln w="12700">
            <a:solidFill>
              <a:srgbClr val="2E060B"/>
            </a:solidFill>
            <a:prstDash val="solid"/>
          </a:ln>
        </p:spPr>
        <p:txBody>
          <a:bodyPr/>
          <a:p/>
        </p:txBody>
      </p:sp>
      <p:sp>
        <p:nvSpPr>
          <p:cNvPr id="3" name="Text 1"/>
          <p:cNvSpPr/>
          <p:nvPr/>
        </p:nvSpPr>
        <p:spPr>
          <a:xfrm>
            <a:off x="594360" y="384048"/>
            <a:ext cx="3291840" cy="310896"/>
          </a:xfrm>
          <a:prstGeom prst="rect">
            <a:avLst/>
          </a:prstGeom>
          <a:noFill/>
          <a:ln/>
        </p:spPr>
        <p:txBody>
          <a:bodyPr wrap="square" lIns="0" tIns="0" rIns="0" bIns="0" rtlCol="0" anchor="ctr"/>
          <a:lstStyle/>
          <a:p>
            <a:pPr algn="ctr" indent="0" marL="0">
              <a:buNone/>
            </a:pPr>
            <a:r>
              <a:rPr lang="en-US" sz="1000" b="1" dirty="0">
                <a:solidFill>
                  <a:srgbClr val="FF4757"/>
                </a:solidFill>
                <a:latin typeface="Palatino Linotype" pitchFamily="34" charset="0"/>
                <a:ea typeface="Palatino Linotype" pitchFamily="34" charset="-122"/>
                <a:cs typeface="Palatino Linotype" pitchFamily="34" charset="-120"/>
              </a:rPr>
              <a:t>O DISTINCȚIE CU CONSECINȚE PERSONALE</a:t>
            </a:r>
            <a:endParaRPr lang="en-US" sz="1000" dirty="0"/>
          </a:p>
        </p:txBody>
      </p:sp>
      <p:sp>
        <p:nvSpPr>
          <p:cNvPr id="4" name="Text 2"/>
          <p:cNvSpPr/>
          <p:nvPr/>
        </p:nvSpPr>
        <p:spPr>
          <a:xfrm>
            <a:off x="594360" y="1051560"/>
            <a:ext cx="10972800" cy="777240"/>
          </a:xfrm>
          <a:prstGeom prst="rect">
            <a:avLst/>
          </a:prstGeom>
          <a:noFill/>
          <a:ln/>
        </p:spPr>
        <p:txBody>
          <a:bodyPr wrap="square" lIns="0" tIns="0" rIns="0" bIns="0" rtlCol="0" anchor="ctr"/>
          <a:lstStyle/>
          <a:p>
            <a:pPr indent="0" marL="0">
              <a:buNone/>
            </a:pPr>
            <a:r>
              <a:rPr lang="en-US" sz="3300" b="1" dirty="0">
                <a:solidFill>
                  <a:srgbClr val="2E060B"/>
                </a:solidFill>
                <a:latin typeface="Palatino Linotype" pitchFamily="34" charset="0"/>
                <a:ea typeface="Palatino Linotype" pitchFamily="34" charset="-122"/>
                <a:cs typeface="Palatino Linotype" pitchFamily="34" charset="-120"/>
              </a:rPr>
              <a:t>ANI nu este organ de urmărire penală</a:t>
            </a:r>
            <a:endParaRPr lang="en-US" sz="3300" dirty="0"/>
          </a:p>
        </p:txBody>
      </p:sp>
      <p:sp>
        <p:nvSpPr>
          <p:cNvPr id="5" name="Shape 3"/>
          <p:cNvSpPr/>
          <p:nvPr/>
        </p:nvSpPr>
        <p:spPr>
          <a:xfrm>
            <a:off x="594360" y="2103120"/>
            <a:ext cx="5349240" cy="2148840"/>
          </a:xfrm>
          <a:prstGeom prst="roundRect">
            <a:avLst>
              <a:gd name="adj" fmla="val 3830"/>
            </a:avLst>
          </a:prstGeom>
          <a:solidFill>
            <a:srgbClr val="FFFFFF"/>
          </a:solidFill>
          <a:ln w="12700">
            <a:solidFill>
              <a:srgbClr val="FFFFFF"/>
            </a:solidFill>
            <a:prstDash val="solid"/>
          </a:ln>
        </p:spPr>
        <p:txBody>
          <a:bodyPr/>
          <a:p/>
        </p:txBody>
      </p:sp>
      <p:sp>
        <p:nvSpPr>
          <p:cNvPr id="6" name="Text 4"/>
          <p:cNvSpPr/>
          <p:nvPr/>
        </p:nvSpPr>
        <p:spPr>
          <a:xfrm>
            <a:off x="868680" y="2286000"/>
            <a:ext cx="480060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1121A"/>
                </a:solidFill>
                <a:latin typeface="Palatino Linotype" pitchFamily="34" charset="0"/>
                <a:ea typeface="Palatino Linotype" pitchFamily="34" charset="-122"/>
                <a:cs typeface="Palatino Linotype" pitchFamily="34" charset="-120"/>
              </a:rPr>
              <a:t>CE FACE ANI</a:t>
            </a:r>
            <a:endParaRPr lang="en-US" sz="1000" dirty="0"/>
          </a:p>
        </p:txBody>
      </p:sp>
      <p:sp>
        <p:nvSpPr>
          <p:cNvPr id="7" name="Text 5"/>
          <p:cNvSpPr/>
          <p:nvPr/>
        </p:nvSpPr>
        <p:spPr>
          <a:xfrm>
            <a:off x="868680" y="2606040"/>
            <a:ext cx="4800600" cy="1508760"/>
          </a:xfrm>
          <a:prstGeom prst="rect">
            <a:avLst/>
          </a:prstGeom>
          <a:noFill/>
          <a:ln/>
        </p:spPr>
        <p:txBody>
          <a:bodyPr wrap="square" lIns="0" tIns="0" rIns="0" bIns="0" rtlCol="0" anchor="t"/>
          <a:lstStyle/>
          <a:p>
            <a:pPr algn="l" indent="0" marL="0">
              <a:lnSpc>
                <a:spcPts val="2000"/>
              </a:lnSpc>
              <a:buNone/>
            </a:pPr>
            <a:r>
              <a:rPr lang="en-US" sz="1400" dirty="0">
                <a:solidFill>
                  <a:srgbClr val="11121A"/>
                </a:solidFill>
                <a:latin typeface="Palatino Linotype" pitchFamily="34" charset="0"/>
                <a:ea typeface="Palatino Linotype" pitchFamily="34" charset="-122"/>
                <a:cs typeface="Palatino Linotype" pitchFamily="34" charset="-120"/>
              </a:rPr>
              <a:t>Evaluează declarațiile de avere și de interese, modificările patrimoniale, incompatibilitățile și conflictele de interese. Este canal extern de raportare pentru avertizori, potrivit Legii nr. 361/2022.</a:t>
            </a:r>
            <a:endParaRPr lang="en-US" sz="1400" dirty="0"/>
          </a:p>
        </p:txBody>
      </p:sp>
      <p:sp>
        <p:nvSpPr>
          <p:cNvPr id="8" name="Shape 6"/>
          <p:cNvSpPr/>
          <p:nvPr/>
        </p:nvSpPr>
        <p:spPr>
          <a:xfrm>
            <a:off x="6217920" y="2103120"/>
            <a:ext cx="5349240" cy="2148840"/>
          </a:xfrm>
          <a:prstGeom prst="roundRect">
            <a:avLst>
              <a:gd name="adj" fmla="val 3830"/>
            </a:avLst>
          </a:prstGeom>
          <a:solidFill>
            <a:srgbClr val="FFFFFF"/>
          </a:solidFill>
          <a:ln w="12700">
            <a:solidFill>
              <a:srgbClr val="FFFFFF"/>
            </a:solidFill>
            <a:prstDash val="solid"/>
          </a:ln>
        </p:spPr>
        <p:txBody>
          <a:bodyPr/>
          <a:p/>
        </p:txBody>
      </p:sp>
      <p:sp>
        <p:nvSpPr>
          <p:cNvPr id="9" name="Text 7"/>
          <p:cNvSpPr/>
          <p:nvPr/>
        </p:nvSpPr>
        <p:spPr>
          <a:xfrm>
            <a:off x="6492240" y="2286000"/>
            <a:ext cx="480060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1121A"/>
                </a:solidFill>
                <a:latin typeface="Palatino Linotype" pitchFamily="34" charset="0"/>
                <a:ea typeface="Palatino Linotype" pitchFamily="34" charset="-122"/>
                <a:cs typeface="Palatino Linotype" pitchFamily="34" charset="-120"/>
              </a:rPr>
              <a:t>CE NU FACE ANI</a:t>
            </a:r>
            <a:endParaRPr lang="en-US" sz="1000" dirty="0"/>
          </a:p>
        </p:txBody>
      </p:sp>
      <p:sp>
        <p:nvSpPr>
          <p:cNvPr id="10" name="Text 8"/>
          <p:cNvSpPr/>
          <p:nvPr/>
        </p:nvSpPr>
        <p:spPr>
          <a:xfrm>
            <a:off x="6492240" y="2606040"/>
            <a:ext cx="4800600" cy="1508760"/>
          </a:xfrm>
          <a:prstGeom prst="rect">
            <a:avLst/>
          </a:prstGeom>
          <a:noFill/>
          <a:ln/>
        </p:spPr>
        <p:txBody>
          <a:bodyPr wrap="square" lIns="0" tIns="0" rIns="0" bIns="0" rtlCol="0" anchor="t"/>
          <a:lstStyle/>
          <a:p>
            <a:pPr algn="l" indent="0" marL="0">
              <a:lnSpc>
                <a:spcPts val="2000"/>
              </a:lnSpc>
              <a:buNone/>
            </a:pPr>
            <a:r>
              <a:rPr lang="en-US" sz="1400" dirty="0">
                <a:solidFill>
                  <a:srgbClr val="11121A"/>
                </a:solidFill>
                <a:latin typeface="Palatino Linotype" pitchFamily="34" charset="0"/>
                <a:ea typeface="Palatino Linotype" pitchFamily="34" charset="-122"/>
                <a:cs typeface="Palatino Linotype" pitchFamily="34" charset="-120"/>
              </a:rPr>
              <a:t>Nu efectuează urmărire penală și nu trimite în judecată. Când constată elemente care țin de competența altor autorități, transmite cazul organelor fiscale sau de urmărire penală.</a:t>
            </a:r>
            <a:endParaRPr lang="en-US" sz="1400" dirty="0"/>
          </a:p>
        </p:txBody>
      </p:sp>
      <p:sp>
        <p:nvSpPr>
          <p:cNvPr id="11" name="Shape 9"/>
          <p:cNvSpPr/>
          <p:nvPr/>
        </p:nvSpPr>
        <p:spPr>
          <a:xfrm>
            <a:off x="594360" y="4434840"/>
            <a:ext cx="10972800" cy="1280160"/>
          </a:xfrm>
          <a:prstGeom prst="roundRect">
            <a:avLst>
              <a:gd name="adj" fmla="val 6429"/>
            </a:avLst>
          </a:prstGeom>
          <a:solidFill>
            <a:srgbClr val="D63A48"/>
          </a:solidFill>
          <a:ln w="12700">
            <a:solidFill>
              <a:srgbClr val="D63A48"/>
            </a:solidFill>
            <a:prstDash val="solid"/>
          </a:ln>
        </p:spPr>
        <p:txBody>
          <a:bodyPr/>
          <a:p/>
        </p:txBody>
      </p:sp>
      <p:sp>
        <p:nvSpPr>
          <p:cNvPr id="12" name="Text 10"/>
          <p:cNvSpPr/>
          <p:nvPr/>
        </p:nvSpPr>
        <p:spPr>
          <a:xfrm>
            <a:off x="868680" y="459943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E060B"/>
                </a:solidFill>
                <a:latin typeface="Palatino Linotype" pitchFamily="34" charset="0"/>
                <a:ea typeface="Palatino Linotype" pitchFamily="34" charset="-122"/>
                <a:cs typeface="Palatino Linotype" pitchFamily="34" charset="-120"/>
              </a:rPr>
              <a:t>CONSECINȚA PERSONALĂ</a:t>
            </a:r>
            <a:endParaRPr lang="en-US" sz="1000" dirty="0"/>
          </a:p>
        </p:txBody>
      </p:sp>
      <p:sp>
        <p:nvSpPr>
          <p:cNvPr id="13" name="Text 11"/>
          <p:cNvSpPr/>
          <p:nvPr/>
        </p:nvSpPr>
        <p:spPr>
          <a:xfrm>
            <a:off x="868680" y="4901184"/>
            <a:ext cx="10424160" cy="731520"/>
          </a:xfrm>
          <a:prstGeom prst="rect">
            <a:avLst/>
          </a:prstGeom>
          <a:noFill/>
          <a:ln/>
        </p:spPr>
        <p:txBody>
          <a:bodyPr wrap="square" lIns="0" tIns="0" rIns="0" bIns="0" rtlCol="0" anchor="t"/>
          <a:lstStyle/>
          <a:p>
            <a:pPr algn="l" indent="0" marL="0">
              <a:lnSpc>
                <a:spcPts val="2000"/>
              </a:lnSpc>
              <a:buNone/>
            </a:pPr>
            <a:r>
              <a:rPr lang="en-US" sz="1500" b="1" dirty="0">
                <a:solidFill>
                  <a:srgbClr val="2E060B"/>
                </a:solidFill>
                <a:latin typeface="Palatino Linotype" pitchFamily="34" charset="0"/>
                <a:ea typeface="Palatino Linotype" pitchFamily="34" charset="-122"/>
                <a:cs typeface="Palatino Linotype" pitchFamily="34" charset="-120"/>
              </a:rPr>
              <a:t>O sesizare adresată instituției nepotrivite nu produce consecința urmărită și consumă timp. Alegerea instituției se exersează în ultima ședință, printr-o simulare de raportare.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indent="0" marL="0">
              <a:buNone/>
            </a:pPr>
            <a:r>
              <a:rPr lang="en-US" sz="13500" b="1" dirty="0">
                <a:solidFill>
                  <a:srgbClr val="FF4757"/>
                </a:solidFill>
                <a:latin typeface="Palatino Linotype" pitchFamily="34" charset="0"/>
                <a:ea typeface="Palatino Linotype" pitchFamily="34" charset="-122"/>
                <a:cs typeface="Palatino Linotype" pitchFamily="34" charset="-120"/>
              </a:rPr>
              <a:t>03</a:t>
            </a:r>
            <a:endParaRPr lang="en-US" sz="13500" dirty="0"/>
          </a:p>
        </p:txBody>
      </p:sp>
      <p:sp>
        <p:nvSpPr>
          <p:cNvPr id="3" name="Shape 1"/>
          <p:cNvSpPr/>
          <p:nvPr/>
        </p:nvSpPr>
        <p:spPr>
          <a:xfrm>
            <a:off x="4160520" y="1691640"/>
            <a:ext cx="27432" cy="1737360"/>
          </a:xfrm>
          <a:prstGeom prst="rect">
            <a:avLst/>
          </a:prstGeom>
          <a:solidFill>
            <a:srgbClr val="FF4757"/>
          </a:solidFill>
          <a:ln w="12700">
            <a:solidFill>
              <a:srgbClr val="FF4757"/>
            </a:solidFill>
            <a:prstDash val="solid"/>
          </a:ln>
        </p:spPr>
        <p:txBody>
          <a:bodyPr/>
          <a:p/>
        </p:txBody>
      </p:sp>
      <p:sp>
        <p:nvSpPr>
          <p:cNvPr id="4" name="Text 2"/>
          <p:cNvSpPr/>
          <p:nvPr/>
        </p:nvSpPr>
        <p:spPr>
          <a:xfrm>
            <a:off x="4709160" y="1737360"/>
            <a:ext cx="6858000" cy="822960"/>
          </a:xfrm>
          <a:prstGeom prst="rect">
            <a:avLst/>
          </a:prstGeom>
          <a:noFill/>
          <a:ln/>
        </p:spPr>
        <p:txBody>
          <a:bodyPr wrap="square" lIns="0" tIns="0" rIns="0" bIns="0" rtlCol="0" anchor="ctr"/>
          <a:lstStyle/>
          <a:p>
            <a:pPr indent="0" marL="0">
              <a:buNone/>
            </a:pPr>
            <a:r>
              <a:rPr lang="en-US" sz="3300" b="1" dirty="0">
                <a:solidFill>
                  <a:srgbClr val="FFFFFF"/>
                </a:solidFill>
                <a:latin typeface="Palatino Linotype" pitchFamily="34" charset="0"/>
                <a:ea typeface="Palatino Linotype" pitchFamily="34" charset="-122"/>
                <a:cs typeface="Palatino Linotype" pitchFamily="34" charset="-120"/>
              </a:rPr>
              <a:t>TREI INSTRUMENTE</a:t>
            </a:r>
            <a:endParaRPr lang="en-US" sz="3300" dirty="0"/>
          </a:p>
        </p:txBody>
      </p:sp>
      <p:sp>
        <p:nvSpPr>
          <p:cNvPr id="5" name="Text 3"/>
          <p:cNvSpPr/>
          <p:nvPr/>
        </p:nvSpPr>
        <p:spPr>
          <a:xfrm>
            <a:off x="4709160" y="2606040"/>
            <a:ext cx="6858000" cy="1371600"/>
          </a:xfrm>
          <a:prstGeom prst="rect">
            <a:avLst/>
          </a:prstGeom>
          <a:noFill/>
          <a:ln/>
        </p:spPr>
        <p:txBody>
          <a:bodyPr wrap="square" lIns="0" tIns="0" rIns="0" bIns="0" rtlCol="0" anchor="t"/>
          <a:lstStyle/>
          <a:p>
            <a:pPr indent="0" marL="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Un indice compozit de percepție, un indicator de guvernanță și o întrebare despre experiența proprie. Aceeași țară, trei cifre. Și trei capcane.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INSTRUMENTUL 1 · INDICE DE PERCEPȚIE</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Corruption Perceptions Index</a:t>
            </a:r>
            <a:endParaRPr lang="en-US" sz="32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Produs anual de Transparency International. Scor de la 0 la 100, în care 0 marchează cel mai ridicat nivel de corupție percepută.</a:t>
            </a:r>
            <a:endParaRPr lang="en-US" sz="1450" dirty="0"/>
          </a:p>
        </p:txBody>
      </p:sp>
      <p:sp>
        <p:nvSpPr>
          <p:cNvPr id="5" name="Shape 3"/>
          <p:cNvSpPr/>
          <p:nvPr/>
        </p:nvSpPr>
        <p:spPr>
          <a:xfrm>
            <a:off x="594360" y="2103120"/>
            <a:ext cx="3529584" cy="1965960"/>
          </a:xfrm>
          <a:prstGeom prst="roundRect">
            <a:avLst>
              <a:gd name="adj" fmla="val 4186"/>
            </a:avLst>
          </a:prstGeom>
          <a:solidFill>
            <a:srgbClr val="ECEAE4"/>
          </a:solidFill>
          <a:ln w="12700">
            <a:solidFill>
              <a:srgbClr val="ECEAE4"/>
            </a:solidFill>
            <a:prstDash val="solid"/>
          </a:ln>
        </p:spPr>
        <p:txBody>
          <a:bodyPr/>
          <a:p/>
        </p:txBody>
      </p:sp>
      <p:sp>
        <p:nvSpPr>
          <p:cNvPr id="6" name="Text 4"/>
          <p:cNvSpPr/>
          <p:nvPr/>
        </p:nvSpPr>
        <p:spPr>
          <a:xfrm>
            <a:off x="850392" y="2249424"/>
            <a:ext cx="3017520" cy="640080"/>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13</a:t>
            </a:r>
            <a:endParaRPr lang="en-US" sz="4400" dirty="0"/>
          </a:p>
        </p:txBody>
      </p:sp>
      <p:sp>
        <p:nvSpPr>
          <p:cNvPr id="7" name="Text 5"/>
          <p:cNvSpPr/>
          <p:nvPr/>
        </p:nvSpPr>
        <p:spPr>
          <a:xfrm>
            <a:off x="850392" y="2926080"/>
            <a:ext cx="3017520" cy="996696"/>
          </a:xfrm>
          <a:prstGeom prst="rect">
            <a:avLst/>
          </a:prstGeom>
          <a:noFill/>
          <a:ln/>
        </p:spPr>
        <p:txBody>
          <a:bodyPr wrap="square" lIns="0" tIns="0" rIns="0" bIns="0" rtlCol="0" anchor="t"/>
          <a:lstStyle/>
          <a:p>
            <a:pPr indent="0" marL="0">
              <a:lnSpc>
                <a:spcPts val="1600"/>
              </a:lnSpc>
              <a:buNone/>
            </a:pPr>
            <a:r>
              <a:rPr lang="en-US" sz="1150" dirty="0">
                <a:solidFill>
                  <a:srgbClr val="11121A"/>
                </a:solidFill>
                <a:latin typeface="Palatino Linotype" pitchFamily="34" charset="0"/>
                <a:ea typeface="Palatino Linotype" pitchFamily="34" charset="-122"/>
                <a:cs typeface="Palatino Linotype" pitchFamily="34" charset="-120"/>
              </a:rPr>
              <a:t>surse de evaluare de tip expert și mediu de afaceri, agregate într-un singur număr</a:t>
            </a:r>
            <a:endParaRPr lang="en-US" sz="1150" dirty="0"/>
          </a:p>
        </p:txBody>
      </p:sp>
      <p:sp>
        <p:nvSpPr>
          <p:cNvPr id="8" name="Shape 6"/>
          <p:cNvSpPr/>
          <p:nvPr/>
        </p:nvSpPr>
        <p:spPr>
          <a:xfrm>
            <a:off x="4315968" y="2103120"/>
            <a:ext cx="3529584" cy="1965960"/>
          </a:xfrm>
          <a:prstGeom prst="roundRect">
            <a:avLst>
              <a:gd name="adj" fmla="val 4186"/>
            </a:avLst>
          </a:prstGeom>
          <a:solidFill>
            <a:srgbClr val="ECEAE4"/>
          </a:solidFill>
          <a:ln w="12700">
            <a:solidFill>
              <a:srgbClr val="ECEAE4"/>
            </a:solidFill>
            <a:prstDash val="solid"/>
          </a:ln>
        </p:spPr>
        <p:txBody>
          <a:bodyPr/>
          <a:p/>
        </p:txBody>
      </p:sp>
      <p:sp>
        <p:nvSpPr>
          <p:cNvPr id="9" name="Text 7"/>
          <p:cNvSpPr/>
          <p:nvPr/>
        </p:nvSpPr>
        <p:spPr>
          <a:xfrm>
            <a:off x="4572000" y="2249424"/>
            <a:ext cx="3017520" cy="640080"/>
          </a:xfrm>
          <a:prstGeom prst="rect">
            <a:avLst/>
          </a:prstGeom>
          <a:noFill/>
          <a:ln/>
        </p:spPr>
        <p:txBody>
          <a:bodyPr wrap="square" lIns="0" tIns="0" rIns="0" bIns="0" rtlCol="0" anchor="ctr"/>
          <a:lstStyle/>
          <a:p>
            <a:pPr indent="0" marL="0">
              <a:buNone/>
            </a:pPr>
            <a:r>
              <a:rPr lang="en-US" sz="4400" b="1" dirty="0">
                <a:solidFill>
                  <a:srgbClr val="0E7C6B"/>
                </a:solidFill>
                <a:latin typeface="Palatino Linotype" pitchFamily="34" charset="0"/>
                <a:ea typeface="Palatino Linotype" pitchFamily="34" charset="-122"/>
                <a:cs typeface="Palatino Linotype" pitchFamily="34" charset="-120"/>
              </a:rPr>
              <a:t>182</a:t>
            </a:r>
            <a:endParaRPr lang="en-US" sz="4400" dirty="0"/>
          </a:p>
        </p:txBody>
      </p:sp>
      <p:sp>
        <p:nvSpPr>
          <p:cNvPr id="10" name="Text 8"/>
          <p:cNvSpPr/>
          <p:nvPr/>
        </p:nvSpPr>
        <p:spPr>
          <a:xfrm>
            <a:off x="4572000" y="2926080"/>
            <a:ext cx="3017520" cy="996696"/>
          </a:xfrm>
          <a:prstGeom prst="rect">
            <a:avLst/>
          </a:prstGeom>
          <a:noFill/>
          <a:ln/>
        </p:spPr>
        <p:txBody>
          <a:bodyPr wrap="square" lIns="0" tIns="0" rIns="0" bIns="0" rtlCol="0" anchor="t"/>
          <a:lstStyle/>
          <a:p>
            <a:pPr indent="0" marL="0">
              <a:lnSpc>
                <a:spcPts val="1600"/>
              </a:lnSpc>
              <a:buNone/>
            </a:pPr>
            <a:r>
              <a:rPr lang="en-US" sz="1150" dirty="0">
                <a:solidFill>
                  <a:srgbClr val="11121A"/>
                </a:solidFill>
                <a:latin typeface="Palatino Linotype" pitchFamily="34" charset="0"/>
                <a:ea typeface="Palatino Linotype" pitchFamily="34" charset="-122"/>
                <a:cs typeface="Palatino Linotype" pitchFamily="34" charset="-120"/>
              </a:rPr>
              <a:t>țări și teritorii acoperite în ediția 2025, publicată la 10 februarie 2026</a:t>
            </a:r>
            <a:endParaRPr lang="en-US" sz="1150" dirty="0"/>
          </a:p>
        </p:txBody>
      </p:sp>
      <p:sp>
        <p:nvSpPr>
          <p:cNvPr id="11" name="Shape 9"/>
          <p:cNvSpPr/>
          <p:nvPr/>
        </p:nvSpPr>
        <p:spPr>
          <a:xfrm>
            <a:off x="8037576" y="2103120"/>
            <a:ext cx="3529584" cy="1965960"/>
          </a:xfrm>
          <a:prstGeom prst="roundRect">
            <a:avLst>
              <a:gd name="adj" fmla="val 4186"/>
            </a:avLst>
          </a:prstGeom>
          <a:solidFill>
            <a:srgbClr val="ECEAE4"/>
          </a:solidFill>
          <a:ln w="12700">
            <a:solidFill>
              <a:srgbClr val="ECEAE4"/>
            </a:solidFill>
            <a:prstDash val="solid"/>
          </a:ln>
        </p:spPr>
        <p:txBody>
          <a:bodyPr/>
          <a:p/>
        </p:txBody>
      </p:sp>
      <p:sp>
        <p:nvSpPr>
          <p:cNvPr id="12" name="Text 10"/>
          <p:cNvSpPr/>
          <p:nvPr/>
        </p:nvSpPr>
        <p:spPr>
          <a:xfrm>
            <a:off x="8293608" y="2249424"/>
            <a:ext cx="3017520" cy="640080"/>
          </a:xfrm>
          <a:prstGeom prst="rect">
            <a:avLst/>
          </a:prstGeom>
          <a:noFill/>
          <a:ln/>
        </p:spPr>
        <p:txBody>
          <a:bodyPr wrap="square" lIns="0" tIns="0" rIns="0" bIns="0" rtlCol="0" anchor="ctr"/>
          <a:lstStyle/>
          <a:p>
            <a:pPr indent="0" marL="0">
              <a:buNone/>
            </a:pPr>
            <a:r>
              <a:rPr lang="en-US" sz="4400" b="1" dirty="0">
                <a:solidFill>
                  <a:srgbClr val="4A2D8C"/>
                </a:solidFill>
                <a:latin typeface="Palatino Linotype" pitchFamily="34" charset="0"/>
                <a:ea typeface="Palatino Linotype" pitchFamily="34" charset="-122"/>
                <a:cs typeface="Palatino Linotype" pitchFamily="34" charset="-120"/>
              </a:rPr>
              <a:t>2012</a:t>
            </a:r>
            <a:endParaRPr lang="en-US" sz="4400" dirty="0"/>
          </a:p>
        </p:txBody>
      </p:sp>
      <p:sp>
        <p:nvSpPr>
          <p:cNvPr id="13" name="Text 11"/>
          <p:cNvSpPr/>
          <p:nvPr/>
        </p:nvSpPr>
        <p:spPr>
          <a:xfrm>
            <a:off x="8293608" y="2926080"/>
            <a:ext cx="3017520" cy="996696"/>
          </a:xfrm>
          <a:prstGeom prst="rect">
            <a:avLst/>
          </a:prstGeom>
          <a:noFill/>
          <a:ln/>
        </p:spPr>
        <p:txBody>
          <a:bodyPr wrap="square" lIns="0" tIns="0" rIns="0" bIns="0" rtlCol="0" anchor="t"/>
          <a:lstStyle/>
          <a:p>
            <a:pPr indent="0" marL="0">
              <a:lnSpc>
                <a:spcPts val="1600"/>
              </a:lnSpc>
              <a:buNone/>
            </a:pPr>
            <a:r>
              <a:rPr lang="en-US" sz="1150" dirty="0">
                <a:solidFill>
                  <a:srgbClr val="11121A"/>
                </a:solidFill>
                <a:latin typeface="Palatino Linotype" pitchFamily="34" charset="0"/>
                <a:ea typeface="Palatino Linotype" pitchFamily="34" charset="-122"/>
                <a:cs typeface="Palatino Linotype" pitchFamily="34" charset="-120"/>
              </a:rPr>
              <a:t>anul de la care seria este comparabilă, potrivit producătorului</a:t>
            </a:r>
            <a:endParaRPr lang="en-US" sz="1150" dirty="0"/>
          </a:p>
        </p:txBody>
      </p:sp>
      <p:sp>
        <p:nvSpPr>
          <p:cNvPr id="14" name="Shape 12"/>
          <p:cNvSpPr/>
          <p:nvPr/>
        </p:nvSpPr>
        <p:spPr>
          <a:xfrm>
            <a:off x="594360" y="4251960"/>
            <a:ext cx="10972800" cy="1417320"/>
          </a:xfrm>
          <a:prstGeom prst="roundRect">
            <a:avLst>
              <a:gd name="adj" fmla="val 5806"/>
            </a:avLst>
          </a:prstGeom>
          <a:solidFill>
            <a:srgbClr val="FFE9EB"/>
          </a:solidFill>
          <a:ln w="12700">
            <a:solidFill>
              <a:srgbClr val="FFE9EB"/>
            </a:solidFill>
            <a:prstDash val="solid"/>
          </a:ln>
        </p:spPr>
        <p:txBody>
          <a:bodyPr/>
          <a:p/>
        </p:txBody>
      </p:sp>
      <p:sp>
        <p:nvSpPr>
          <p:cNvPr id="15" name="Text 13"/>
          <p:cNvSpPr/>
          <p:nvPr/>
        </p:nvSpPr>
        <p:spPr>
          <a:xfrm>
            <a:off x="868680" y="443484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B02532"/>
                </a:solidFill>
                <a:latin typeface="Palatino Linotype" pitchFamily="34" charset="0"/>
                <a:ea typeface="Palatino Linotype" pitchFamily="34" charset="-122"/>
                <a:cs typeface="Palatino Linotype" pitchFamily="34" charset="-120"/>
              </a:rPr>
              <a:t>CE DECLARĂ PRODUCĂTORUL CĂ NU ACOPERĂ</a:t>
            </a:r>
            <a:endParaRPr lang="en-US" sz="1000" dirty="0"/>
          </a:p>
        </p:txBody>
      </p:sp>
      <p:sp>
        <p:nvSpPr>
          <p:cNvPr id="16" name="Text 14"/>
          <p:cNvSpPr/>
          <p:nvPr/>
        </p:nvSpPr>
        <p:spPr>
          <a:xfrm>
            <a:off x="868680" y="4736592"/>
            <a:ext cx="10424160" cy="868680"/>
          </a:xfrm>
          <a:prstGeom prst="rect">
            <a:avLst/>
          </a:prstGeom>
          <a:noFill/>
          <a:ln/>
        </p:spPr>
        <p:txBody>
          <a:bodyPr wrap="square" lIns="0" tIns="0" rIns="0" bIns="0" rtlCol="0" anchor="t"/>
          <a:lstStyle/>
          <a:p>
            <a:pPr algn="l" indent="0" marL="0">
              <a:lnSpc>
                <a:spcPts val="2000"/>
              </a:lnSpc>
              <a:buNone/>
            </a:pPr>
            <a:r>
              <a:rPr lang="en-US" sz="1450" b="1" dirty="0">
                <a:solidFill>
                  <a:srgbClr val="B02532"/>
                </a:solidFill>
                <a:latin typeface="Palatino Linotype" pitchFamily="34" charset="0"/>
                <a:ea typeface="Palatino Linotype" pitchFamily="34" charset="-122"/>
                <a:cs typeface="Palatino Linotype" pitchFamily="34" charset="-120"/>
              </a:rPr>
              <a:t>În întrebările frecvente ale ediției 2025, organizația enumeră explicit, printre aspectele pe care indicele nu le surprinde, percepțiile sau experiența cetățenilor privind corupția. Indicele nu este, așadar, o măsură a experienței pacienților.</a:t>
            </a:r>
            <a:endParaRPr lang="en-US" sz="1450" dirty="0"/>
          </a:p>
        </p:txBody>
      </p:sp>
      <p:sp>
        <p:nvSpPr>
          <p:cNvPr id="17" name="Text 15"/>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Transparency International, CPI 2025: metodologia scurtă și întrebările frecvente [TI]</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C24B"/>
                </a:solidFill>
                <a:latin typeface="Palatino Linotype" pitchFamily="34" charset="0"/>
                <a:ea typeface="Palatino Linotype" pitchFamily="34" charset="-122"/>
                <a:cs typeface="Palatino Linotype" pitchFamily="34" charset="-120"/>
              </a:rPr>
              <a:t>ROMÂNIA · SERIA COMPARABILĂ · SCOR CPI · 8 DIN CELE 14 EDIȚII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Paisprezece ediții, un punct diferență</a:t>
            </a:r>
            <a:endParaRPr lang="en-US" sz="3000" dirty="0"/>
          </a:p>
        </p:txBody>
      </p:sp>
      <p:sp>
        <p:nvSpPr>
          <p:cNvPr id="4" name="Text 2"/>
          <p:cNvSpPr/>
          <p:nvPr/>
        </p:nvSpPr>
        <p:spPr>
          <a:xfrm>
            <a:off x="594360" y="1709928"/>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2012 · 44</a:t>
            </a:r>
            <a:endParaRPr lang="en-US" sz="1300" dirty="0"/>
          </a:p>
        </p:txBody>
      </p:sp>
      <p:sp>
        <p:nvSpPr>
          <p:cNvPr id="5" name="Shape 3"/>
          <p:cNvSpPr/>
          <p:nvPr/>
        </p:nvSpPr>
        <p:spPr>
          <a:xfrm>
            <a:off x="3017520" y="1755648"/>
            <a:ext cx="6115507" cy="329184"/>
          </a:xfrm>
          <a:prstGeom prst="roundRect">
            <a:avLst>
              <a:gd name="adj" fmla="val 13889"/>
            </a:avLst>
          </a:prstGeom>
          <a:solidFill>
            <a:srgbClr val="959BB0"/>
          </a:solidFill>
          <a:ln w="12700">
            <a:solidFill>
              <a:srgbClr val="959BB0"/>
            </a:solidFill>
            <a:prstDash val="solid"/>
          </a:ln>
        </p:spPr>
        <p:txBody>
          <a:bodyPr/>
          <a:p/>
        </p:txBody>
      </p:sp>
      <p:sp>
        <p:nvSpPr>
          <p:cNvPr id="6" name="Text 4"/>
          <p:cNvSpPr/>
          <p:nvPr/>
        </p:nvSpPr>
        <p:spPr>
          <a:xfrm>
            <a:off x="10076688" y="1755648"/>
            <a:ext cx="1097280" cy="329184"/>
          </a:xfrm>
          <a:prstGeom prst="rect">
            <a:avLst/>
          </a:prstGeom>
          <a:noFill/>
          <a:ln/>
        </p:spPr>
        <p:txBody>
          <a:bodyPr wrap="square" lIns="0" tIns="0" rIns="0" bIns="0" rtlCol="0" anchor="ctr"/>
          <a:lstStyle/>
          <a:p>
            <a:pPr algn="l" indent="0" marL="0">
              <a:buNone/>
            </a:pPr>
            <a:r>
              <a:rPr lang="en-US" sz="1350" b="1" dirty="0">
                <a:solidFill>
                  <a:srgbClr val="959BB0"/>
                </a:solidFill>
                <a:latin typeface="Palatino Linotype" pitchFamily="34" charset="0"/>
                <a:ea typeface="Palatino Linotype" pitchFamily="34" charset="-122"/>
                <a:cs typeface="Palatino Linotype" pitchFamily="34" charset="-120"/>
              </a:rPr>
              <a:t>44</a:t>
            </a:r>
            <a:endParaRPr lang="en-US" sz="1350" dirty="0"/>
          </a:p>
        </p:txBody>
      </p:sp>
      <p:sp>
        <p:nvSpPr>
          <p:cNvPr id="7" name="Text 5"/>
          <p:cNvSpPr/>
          <p:nvPr/>
        </p:nvSpPr>
        <p:spPr>
          <a:xfrm>
            <a:off x="594360" y="2185416"/>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2014 · 43</a:t>
            </a:r>
            <a:endParaRPr lang="en-US" sz="1300" dirty="0"/>
          </a:p>
        </p:txBody>
      </p:sp>
      <p:sp>
        <p:nvSpPr>
          <p:cNvPr id="8" name="Shape 6"/>
          <p:cNvSpPr/>
          <p:nvPr/>
        </p:nvSpPr>
        <p:spPr>
          <a:xfrm>
            <a:off x="3017520" y="2231136"/>
            <a:ext cx="5976518" cy="329184"/>
          </a:xfrm>
          <a:prstGeom prst="roundRect">
            <a:avLst>
              <a:gd name="adj" fmla="val 13889"/>
            </a:avLst>
          </a:prstGeom>
          <a:solidFill>
            <a:srgbClr val="959BB0"/>
          </a:solidFill>
          <a:ln w="12700">
            <a:solidFill>
              <a:srgbClr val="959BB0"/>
            </a:solidFill>
            <a:prstDash val="solid"/>
          </a:ln>
        </p:spPr>
        <p:txBody>
          <a:bodyPr/>
          <a:p/>
        </p:txBody>
      </p:sp>
      <p:sp>
        <p:nvSpPr>
          <p:cNvPr id="9" name="Text 7"/>
          <p:cNvSpPr/>
          <p:nvPr/>
        </p:nvSpPr>
        <p:spPr>
          <a:xfrm>
            <a:off x="9937699" y="2231136"/>
            <a:ext cx="1097280" cy="329184"/>
          </a:xfrm>
          <a:prstGeom prst="rect">
            <a:avLst/>
          </a:prstGeom>
          <a:noFill/>
          <a:ln/>
        </p:spPr>
        <p:txBody>
          <a:bodyPr wrap="square" lIns="0" tIns="0" rIns="0" bIns="0" rtlCol="0" anchor="ctr"/>
          <a:lstStyle/>
          <a:p>
            <a:pPr algn="l" indent="0" marL="0">
              <a:buNone/>
            </a:pPr>
            <a:r>
              <a:rPr lang="en-US" sz="1350" b="1" dirty="0">
                <a:solidFill>
                  <a:srgbClr val="959BB0"/>
                </a:solidFill>
                <a:latin typeface="Palatino Linotype" pitchFamily="34" charset="0"/>
                <a:ea typeface="Palatino Linotype" pitchFamily="34" charset="-122"/>
                <a:cs typeface="Palatino Linotype" pitchFamily="34" charset="-120"/>
              </a:rPr>
              <a:t>43</a:t>
            </a:r>
            <a:endParaRPr lang="en-US" sz="1350" dirty="0"/>
          </a:p>
        </p:txBody>
      </p:sp>
      <p:sp>
        <p:nvSpPr>
          <p:cNvPr id="10" name="Text 8"/>
          <p:cNvSpPr/>
          <p:nvPr/>
        </p:nvSpPr>
        <p:spPr>
          <a:xfrm>
            <a:off x="594360" y="2660904"/>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2016 · 48</a:t>
            </a:r>
            <a:endParaRPr lang="en-US" sz="1300" dirty="0"/>
          </a:p>
        </p:txBody>
      </p:sp>
      <p:sp>
        <p:nvSpPr>
          <p:cNvPr id="11" name="Shape 9"/>
          <p:cNvSpPr/>
          <p:nvPr/>
        </p:nvSpPr>
        <p:spPr>
          <a:xfrm>
            <a:off x="3017520" y="2706624"/>
            <a:ext cx="6671462" cy="329184"/>
          </a:xfrm>
          <a:prstGeom prst="roundRect">
            <a:avLst>
              <a:gd name="adj" fmla="val 13889"/>
            </a:avLst>
          </a:prstGeom>
          <a:solidFill>
            <a:srgbClr val="27D3BE"/>
          </a:solidFill>
          <a:ln w="12700">
            <a:solidFill>
              <a:srgbClr val="27D3BE"/>
            </a:solidFill>
            <a:prstDash val="solid"/>
          </a:ln>
        </p:spPr>
        <p:txBody>
          <a:bodyPr/>
          <a:p/>
        </p:txBody>
      </p:sp>
      <p:sp>
        <p:nvSpPr>
          <p:cNvPr id="12" name="Text 10"/>
          <p:cNvSpPr/>
          <p:nvPr/>
        </p:nvSpPr>
        <p:spPr>
          <a:xfrm>
            <a:off x="10493654" y="2706624"/>
            <a:ext cx="1097280" cy="329184"/>
          </a:xfrm>
          <a:prstGeom prst="rect">
            <a:avLst/>
          </a:prstGeom>
          <a:noFill/>
          <a:ln/>
        </p:spPr>
        <p:txBody>
          <a:bodyPr wrap="square" lIns="0" tIns="0" rIns="0" bIns="0" rtlCol="0" anchor="ctr"/>
          <a:lstStyle/>
          <a:p>
            <a:pPr algn="l" indent="0" marL="0">
              <a:buNone/>
            </a:pPr>
            <a:r>
              <a:rPr lang="en-US" sz="1350" b="1" dirty="0">
                <a:solidFill>
                  <a:srgbClr val="27D3BE"/>
                </a:solidFill>
                <a:latin typeface="Palatino Linotype" pitchFamily="34" charset="0"/>
                <a:ea typeface="Palatino Linotype" pitchFamily="34" charset="-122"/>
                <a:cs typeface="Palatino Linotype" pitchFamily="34" charset="-120"/>
              </a:rPr>
              <a:t>48</a:t>
            </a:r>
            <a:endParaRPr lang="en-US" sz="1350" dirty="0"/>
          </a:p>
        </p:txBody>
      </p:sp>
      <p:sp>
        <p:nvSpPr>
          <p:cNvPr id="13" name="Text 11"/>
          <p:cNvSpPr/>
          <p:nvPr/>
        </p:nvSpPr>
        <p:spPr>
          <a:xfrm>
            <a:off x="594360" y="3136392"/>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2018 · 47</a:t>
            </a:r>
            <a:endParaRPr lang="en-US" sz="1300" dirty="0"/>
          </a:p>
        </p:txBody>
      </p:sp>
      <p:sp>
        <p:nvSpPr>
          <p:cNvPr id="14" name="Shape 12"/>
          <p:cNvSpPr/>
          <p:nvPr/>
        </p:nvSpPr>
        <p:spPr>
          <a:xfrm>
            <a:off x="3017520" y="3182112"/>
            <a:ext cx="6532474" cy="329184"/>
          </a:xfrm>
          <a:prstGeom prst="roundRect">
            <a:avLst>
              <a:gd name="adj" fmla="val 13889"/>
            </a:avLst>
          </a:prstGeom>
          <a:solidFill>
            <a:srgbClr val="959BB0"/>
          </a:solidFill>
          <a:ln w="12700">
            <a:solidFill>
              <a:srgbClr val="959BB0"/>
            </a:solidFill>
            <a:prstDash val="solid"/>
          </a:ln>
        </p:spPr>
        <p:txBody>
          <a:bodyPr/>
          <a:p/>
        </p:txBody>
      </p:sp>
      <p:sp>
        <p:nvSpPr>
          <p:cNvPr id="15" name="Text 13"/>
          <p:cNvSpPr/>
          <p:nvPr/>
        </p:nvSpPr>
        <p:spPr>
          <a:xfrm>
            <a:off x="10354665" y="3182112"/>
            <a:ext cx="1097280" cy="329184"/>
          </a:xfrm>
          <a:prstGeom prst="rect">
            <a:avLst/>
          </a:prstGeom>
          <a:noFill/>
          <a:ln/>
        </p:spPr>
        <p:txBody>
          <a:bodyPr wrap="square" lIns="0" tIns="0" rIns="0" bIns="0" rtlCol="0" anchor="ctr"/>
          <a:lstStyle/>
          <a:p>
            <a:pPr algn="l" indent="0" marL="0">
              <a:buNone/>
            </a:pPr>
            <a:r>
              <a:rPr lang="en-US" sz="1350" b="1" dirty="0">
                <a:solidFill>
                  <a:srgbClr val="959BB0"/>
                </a:solidFill>
                <a:latin typeface="Palatino Linotype" pitchFamily="34" charset="0"/>
                <a:ea typeface="Palatino Linotype" pitchFamily="34" charset="-122"/>
                <a:cs typeface="Palatino Linotype" pitchFamily="34" charset="-120"/>
              </a:rPr>
              <a:t>47</a:t>
            </a:r>
            <a:endParaRPr lang="en-US" sz="1350" dirty="0"/>
          </a:p>
        </p:txBody>
      </p:sp>
      <p:sp>
        <p:nvSpPr>
          <p:cNvPr id="16" name="Text 14"/>
          <p:cNvSpPr/>
          <p:nvPr/>
        </p:nvSpPr>
        <p:spPr>
          <a:xfrm>
            <a:off x="594360" y="3611880"/>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2020 · 44</a:t>
            </a:r>
            <a:endParaRPr lang="en-US" sz="1300" dirty="0"/>
          </a:p>
        </p:txBody>
      </p:sp>
      <p:sp>
        <p:nvSpPr>
          <p:cNvPr id="17" name="Shape 15"/>
          <p:cNvSpPr/>
          <p:nvPr/>
        </p:nvSpPr>
        <p:spPr>
          <a:xfrm>
            <a:off x="3017520" y="3657600"/>
            <a:ext cx="6115507" cy="329184"/>
          </a:xfrm>
          <a:prstGeom prst="roundRect">
            <a:avLst>
              <a:gd name="adj" fmla="val 13889"/>
            </a:avLst>
          </a:prstGeom>
          <a:solidFill>
            <a:srgbClr val="959BB0"/>
          </a:solidFill>
          <a:ln w="12700">
            <a:solidFill>
              <a:srgbClr val="959BB0"/>
            </a:solidFill>
            <a:prstDash val="solid"/>
          </a:ln>
        </p:spPr>
        <p:txBody>
          <a:bodyPr/>
          <a:p/>
        </p:txBody>
      </p:sp>
      <p:sp>
        <p:nvSpPr>
          <p:cNvPr id="18" name="Text 16"/>
          <p:cNvSpPr/>
          <p:nvPr/>
        </p:nvSpPr>
        <p:spPr>
          <a:xfrm>
            <a:off x="9451238" y="3657600"/>
            <a:ext cx="1097280" cy="329184"/>
          </a:xfrm>
          <a:prstGeom prst="rect">
            <a:avLst/>
          </a:prstGeom>
          <a:noFill/>
          <a:ln/>
        </p:spPr>
        <p:txBody>
          <a:bodyPr wrap="square" lIns="0" tIns="0" rIns="0" bIns="0" rtlCol="0" anchor="ctr"/>
          <a:lstStyle/>
          <a:p>
            <a:pPr algn="l" indent="0" marL="0">
              <a:buNone/>
            </a:pPr>
            <a:r>
              <a:rPr lang="en-US" sz="1350" b="1" dirty="0">
                <a:solidFill>
                  <a:srgbClr val="959BB0"/>
                </a:solidFill>
                <a:latin typeface="Palatino Linotype" pitchFamily="34" charset="0"/>
                <a:ea typeface="Palatino Linotype" pitchFamily="34" charset="-122"/>
                <a:cs typeface="Palatino Linotype" pitchFamily="34" charset="-120"/>
              </a:rPr>
              <a:t>44</a:t>
            </a:r>
            <a:endParaRPr lang="en-US" sz="1350" dirty="0"/>
          </a:p>
        </p:txBody>
      </p:sp>
      <p:sp>
        <p:nvSpPr>
          <p:cNvPr id="19" name="Text 17"/>
          <p:cNvSpPr/>
          <p:nvPr/>
        </p:nvSpPr>
        <p:spPr>
          <a:xfrm>
            <a:off x="594360" y="4087368"/>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2022 · 46</a:t>
            </a:r>
            <a:endParaRPr lang="en-US" sz="1300" dirty="0"/>
          </a:p>
        </p:txBody>
      </p:sp>
      <p:sp>
        <p:nvSpPr>
          <p:cNvPr id="20" name="Shape 18"/>
          <p:cNvSpPr/>
          <p:nvPr/>
        </p:nvSpPr>
        <p:spPr>
          <a:xfrm>
            <a:off x="3017520" y="4133088"/>
            <a:ext cx="6393485" cy="329184"/>
          </a:xfrm>
          <a:prstGeom prst="roundRect">
            <a:avLst>
              <a:gd name="adj" fmla="val 13889"/>
            </a:avLst>
          </a:prstGeom>
          <a:solidFill>
            <a:srgbClr val="959BB0"/>
          </a:solidFill>
          <a:ln w="12700">
            <a:solidFill>
              <a:srgbClr val="959BB0"/>
            </a:solidFill>
            <a:prstDash val="solid"/>
          </a:ln>
        </p:spPr>
        <p:txBody>
          <a:bodyPr/>
          <a:p/>
        </p:txBody>
      </p:sp>
      <p:sp>
        <p:nvSpPr>
          <p:cNvPr id="21" name="Text 19"/>
          <p:cNvSpPr/>
          <p:nvPr/>
        </p:nvSpPr>
        <p:spPr>
          <a:xfrm>
            <a:off x="9756648" y="4133088"/>
            <a:ext cx="1097280" cy="329184"/>
          </a:xfrm>
          <a:prstGeom prst="rect">
            <a:avLst/>
          </a:prstGeom>
          <a:noFill/>
          <a:ln/>
        </p:spPr>
        <p:txBody>
          <a:bodyPr wrap="square" lIns="0" tIns="0" rIns="0" bIns="0" rtlCol="0" anchor="ctr"/>
          <a:lstStyle/>
          <a:p>
            <a:pPr algn="l" indent="0" marL="0">
              <a:buNone/>
            </a:pPr>
            <a:r>
              <a:rPr lang="en-US" sz="1350" b="1" dirty="0">
                <a:solidFill>
                  <a:srgbClr val="959BB0"/>
                </a:solidFill>
                <a:latin typeface="Palatino Linotype" pitchFamily="34" charset="0"/>
                <a:ea typeface="Palatino Linotype" pitchFamily="34" charset="-122"/>
                <a:cs typeface="Palatino Linotype" pitchFamily="34" charset="-120"/>
              </a:rPr>
              <a:t>46</a:t>
            </a:r>
            <a:endParaRPr lang="en-US" sz="1350" dirty="0"/>
          </a:p>
        </p:txBody>
      </p:sp>
      <p:sp>
        <p:nvSpPr>
          <p:cNvPr id="22" name="Text 20"/>
          <p:cNvSpPr/>
          <p:nvPr/>
        </p:nvSpPr>
        <p:spPr>
          <a:xfrm>
            <a:off x="594360" y="4562856"/>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2024 · 46</a:t>
            </a:r>
            <a:endParaRPr lang="en-US" sz="1300" dirty="0"/>
          </a:p>
        </p:txBody>
      </p:sp>
      <p:sp>
        <p:nvSpPr>
          <p:cNvPr id="23" name="Shape 21"/>
          <p:cNvSpPr/>
          <p:nvPr/>
        </p:nvSpPr>
        <p:spPr>
          <a:xfrm>
            <a:off x="3017520" y="4608576"/>
            <a:ext cx="6393485" cy="329184"/>
          </a:xfrm>
          <a:prstGeom prst="roundRect">
            <a:avLst>
              <a:gd name="adj" fmla="val 13889"/>
            </a:avLst>
          </a:prstGeom>
          <a:solidFill>
            <a:srgbClr val="FFC24B"/>
          </a:solidFill>
          <a:ln w="12700">
            <a:solidFill>
              <a:srgbClr val="FFC24B"/>
            </a:solidFill>
            <a:prstDash val="solid"/>
          </a:ln>
        </p:spPr>
        <p:txBody>
          <a:bodyPr/>
          <a:p/>
        </p:txBody>
      </p:sp>
      <p:sp>
        <p:nvSpPr>
          <p:cNvPr id="24" name="Text 22"/>
          <p:cNvSpPr/>
          <p:nvPr/>
        </p:nvSpPr>
        <p:spPr>
          <a:xfrm>
            <a:off x="9979761" y="4608576"/>
            <a:ext cx="1097280" cy="329184"/>
          </a:xfrm>
          <a:prstGeom prst="rect">
            <a:avLst/>
          </a:prstGeom>
          <a:noFill/>
          <a:ln/>
        </p:spPr>
        <p:txBody>
          <a:bodyPr wrap="square" lIns="0" tIns="0" rIns="0" bIns="0" rtlCol="0" anchor="ctr"/>
          <a:lstStyle/>
          <a:p>
            <a:pPr algn="l" indent="0" marL="0">
              <a:buNone/>
            </a:pPr>
            <a:r>
              <a:rPr lang="en-US" sz="1350" b="1" dirty="0">
                <a:solidFill>
                  <a:srgbClr val="FFC24B"/>
                </a:solidFill>
                <a:latin typeface="Palatino Linotype" pitchFamily="34" charset="0"/>
                <a:ea typeface="Palatino Linotype" pitchFamily="34" charset="-122"/>
                <a:cs typeface="Palatino Linotype" pitchFamily="34" charset="-120"/>
              </a:rPr>
              <a:t>46</a:t>
            </a:r>
            <a:endParaRPr lang="en-US" sz="1350" dirty="0"/>
          </a:p>
        </p:txBody>
      </p:sp>
      <p:sp>
        <p:nvSpPr>
          <p:cNvPr id="25" name="Text 23"/>
          <p:cNvSpPr/>
          <p:nvPr/>
        </p:nvSpPr>
        <p:spPr>
          <a:xfrm>
            <a:off x="594360" y="5038344"/>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2025 · 45</a:t>
            </a:r>
            <a:endParaRPr lang="en-US" sz="1300" dirty="0"/>
          </a:p>
        </p:txBody>
      </p:sp>
      <p:sp>
        <p:nvSpPr>
          <p:cNvPr id="26" name="Shape 24"/>
          <p:cNvSpPr/>
          <p:nvPr/>
        </p:nvSpPr>
        <p:spPr>
          <a:xfrm>
            <a:off x="3017520" y="5084064"/>
            <a:ext cx="6254496" cy="329184"/>
          </a:xfrm>
          <a:prstGeom prst="roundRect">
            <a:avLst>
              <a:gd name="adj" fmla="val 13889"/>
            </a:avLst>
          </a:prstGeom>
          <a:solidFill>
            <a:srgbClr val="FF4757"/>
          </a:solidFill>
          <a:ln w="12700">
            <a:solidFill>
              <a:srgbClr val="FF4757"/>
            </a:solidFill>
            <a:prstDash val="solid"/>
          </a:ln>
        </p:spPr>
        <p:txBody>
          <a:bodyPr/>
          <a:p/>
        </p:txBody>
      </p:sp>
      <p:sp>
        <p:nvSpPr>
          <p:cNvPr id="27" name="Text 25"/>
          <p:cNvSpPr/>
          <p:nvPr/>
        </p:nvSpPr>
        <p:spPr>
          <a:xfrm>
            <a:off x="9687153" y="5084064"/>
            <a:ext cx="1097280" cy="329184"/>
          </a:xfrm>
          <a:prstGeom prst="rect">
            <a:avLst/>
          </a:prstGeom>
          <a:noFill/>
          <a:ln/>
        </p:spPr>
        <p:txBody>
          <a:bodyPr wrap="square" lIns="0" tIns="0" rIns="0" bIns="0" rtlCol="0" anchor="ctr"/>
          <a:lstStyle/>
          <a:p>
            <a:pPr algn="l" indent="0" marL="0">
              <a:buNone/>
            </a:pPr>
            <a:r>
              <a:rPr lang="en-US" sz="1350" b="1" dirty="0">
                <a:solidFill>
                  <a:srgbClr val="FF4757"/>
                </a:solidFill>
                <a:latin typeface="Palatino Linotype" pitchFamily="34" charset="0"/>
                <a:ea typeface="Palatino Linotype" pitchFamily="34" charset="-122"/>
                <a:cs typeface="Palatino Linotype" pitchFamily="34" charset="-120"/>
              </a:rPr>
              <a:t>45</a:t>
            </a:r>
            <a:endParaRPr lang="en-US" sz="1350" dirty="0"/>
          </a:p>
        </p:txBody>
      </p:sp>
      <p:sp>
        <p:nvSpPr>
          <p:cNvPr id="28" name="Shape 26"/>
          <p:cNvSpPr/>
          <p:nvPr/>
        </p:nvSpPr>
        <p:spPr>
          <a:xfrm>
            <a:off x="594360" y="5532120"/>
            <a:ext cx="10972800" cy="731520"/>
          </a:xfrm>
          <a:prstGeom prst="roundRect">
            <a:avLst>
              <a:gd name="adj" fmla="val 13636"/>
            </a:avLst>
          </a:prstGeom>
          <a:solidFill>
            <a:srgbClr val="1D1F2B"/>
          </a:solidFill>
          <a:ln w="12700">
            <a:solidFill>
              <a:srgbClr val="1D1F2B"/>
            </a:solidFill>
            <a:prstDash val="solid"/>
          </a:ln>
        </p:spPr>
        <p:txBody>
          <a:bodyPr/>
          <a:p/>
        </p:txBody>
      </p:sp>
      <p:sp>
        <p:nvSpPr>
          <p:cNvPr id="29" name="Text 27"/>
          <p:cNvSpPr/>
          <p:nvPr/>
        </p:nvSpPr>
        <p:spPr>
          <a:xfrm>
            <a:off x="868680" y="5605272"/>
            <a:ext cx="10424160" cy="566928"/>
          </a:xfrm>
          <a:prstGeom prst="rect">
            <a:avLst/>
          </a:prstGeom>
          <a:noFill/>
          <a:ln/>
        </p:spPr>
        <p:txBody>
          <a:bodyPr wrap="square" lIns="0" tIns="0" rIns="0" bIns="0" rtlCol="0" anchor="t"/>
          <a:lstStyle/>
          <a:p>
            <a:pPr algn="l" indent="0" marL="0">
              <a:lnSpc>
                <a:spcPts val="1800"/>
              </a:lnSpc>
              <a:buNone/>
            </a:pPr>
            <a:r>
              <a:rPr lang="en-US" sz="1400" b="1" dirty="0">
                <a:solidFill>
                  <a:srgbClr val="FFC24B"/>
                </a:solidFill>
                <a:latin typeface="Palatino Linotype" pitchFamily="34" charset="0"/>
                <a:ea typeface="Palatino Linotype" pitchFamily="34" charset="-122"/>
                <a:cs typeface="Palatino Linotype" pitchFamily="34" charset="-120"/>
              </a:rPr>
              <a:t>Variația netă 2012 → 2025: un punct. Liniile albe arată intervalele de 90%, care se suprapun (38–50 și 42,8–47,2). Nu susține nicio afirmație despre tendință.</a:t>
            </a:r>
            <a:endParaRPr lang="en-US" sz="1400" dirty="0"/>
          </a:p>
        </p:txBody>
      </p:sp>
      <p:sp>
        <p:nvSpPr>
          <p:cNvPr id="30" name="Text 28"/>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Transparency International, CPI, seria comparabilă 2012–2025; anii sunt edițiile indicelui. Ediția 2025, publicată la 10 februarie 2026: România 45/100, locul 70 din 182 [TI].</a:t>
            </a:r>
            <a:endParaRPr lang="en-US" sz="950" dirty="0"/>
          </a:p>
        </p:txBody>
      </p:sp>
      <p:cxnSp>
        <p:nvCxnSpPr>
          <p:cNvPr id="31" name="Connector 30"/>
          <p:cNvCxnSpPr/>
          <p:nvPr/>
        </p:nvCxnSpPr>
        <p:spPr>
          <a:xfrm>
            <a:off x="8299094" y="1920240"/>
            <a:ext cx="1667865"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299094" y="1828800"/>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966959" y="1828800"/>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160105" y="2395728"/>
            <a:ext cx="1667866"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160105" y="2304288"/>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827971" y="2304288"/>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994038" y="2871216"/>
            <a:ext cx="1389888"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994038" y="2779776"/>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383926" y="2779776"/>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855049" y="3346704"/>
            <a:ext cx="1389888"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855049" y="3255264"/>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244937" y="3255264"/>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924544" y="3822192"/>
            <a:ext cx="416966"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924544" y="3730752"/>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341510" y="3730752"/>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74723" y="4297680"/>
            <a:ext cx="472562"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74723" y="4206240"/>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647285" y="4206240"/>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952341" y="4773168"/>
            <a:ext cx="917326"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952341" y="4681728"/>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869667" y="4681728"/>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966240" y="5248656"/>
            <a:ext cx="611551"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966240" y="5157216"/>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577791" y="5157216"/>
            <a:ext cx="0" cy="18288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9B7EF7"/>
        </a:solidFill>
      </p:bgPr>
    </p:bg>
    <p:spTree>
      <p:nvGrpSpPr>
        <p:cNvPr id="1" name=""/>
        <p:cNvGrpSpPr/>
        <p:nvPr/>
      </p:nvGrpSpPr>
      <p:grpSpPr>
        <a:xfrm>
          <a:off x="0" y="0"/>
          <a:ext cx="0" cy="0"/>
          <a:chOff x="0" y="0"/>
          <a:chExt cx="0" cy="0"/>
        </a:xfrm>
      </p:grpSpPr>
      <p:sp>
        <p:nvSpPr>
          <p:cNvPr id="2" name="Shape 0"/>
          <p:cNvSpPr/>
          <p:nvPr/>
        </p:nvSpPr>
        <p:spPr>
          <a:xfrm>
            <a:off x="594360" y="384048"/>
            <a:ext cx="1737360" cy="310896"/>
          </a:xfrm>
          <a:prstGeom prst="roundRect">
            <a:avLst>
              <a:gd name="adj" fmla="val 50000"/>
            </a:avLst>
          </a:prstGeom>
          <a:solidFill>
            <a:srgbClr val="1F1040"/>
          </a:solidFill>
          <a:ln w="12700">
            <a:solidFill>
              <a:srgbClr val="1F1040"/>
            </a:solidFill>
            <a:prstDash val="solid"/>
          </a:ln>
        </p:spPr>
        <p:txBody>
          <a:bodyPr/>
          <a:p/>
        </p:txBody>
      </p:sp>
      <p:sp>
        <p:nvSpPr>
          <p:cNvPr id="3" name="Text 1"/>
          <p:cNvSpPr/>
          <p:nvPr/>
        </p:nvSpPr>
        <p:spPr>
          <a:xfrm>
            <a:off x="594360" y="384048"/>
            <a:ext cx="1737360" cy="310896"/>
          </a:xfrm>
          <a:prstGeom prst="rect">
            <a:avLst/>
          </a:prstGeom>
          <a:noFill/>
          <a:ln/>
        </p:spPr>
        <p:txBody>
          <a:bodyPr wrap="square" lIns="0" tIns="0" rIns="0" bIns="0" rtlCol="0" anchor="ctr"/>
          <a:lstStyle/>
          <a:p>
            <a:pPr algn="ctr" indent="0" marL="0">
              <a:buNone/>
            </a:pPr>
            <a:r>
              <a:rPr lang="en-US" sz="1000" b="1" dirty="0">
                <a:solidFill>
                  <a:srgbClr val="9B7EF7"/>
                </a:solidFill>
                <a:latin typeface="Palatino Linotype" pitchFamily="34" charset="0"/>
                <a:ea typeface="Palatino Linotype" pitchFamily="34" charset="-122"/>
                <a:cs typeface="Palatino Linotype" pitchFamily="34" charset="-120"/>
              </a:rPr>
              <a:t>CAPCANA 2 / 4</a:t>
            </a:r>
            <a:endParaRPr lang="en-US" sz="1000" dirty="0"/>
          </a:p>
        </p:txBody>
      </p:sp>
      <p:sp>
        <p:nvSpPr>
          <p:cNvPr id="4" name="Text 2"/>
          <p:cNvSpPr/>
          <p:nvPr/>
        </p:nvSpPr>
        <p:spPr>
          <a:xfrm>
            <a:off x="594360" y="896112"/>
            <a:ext cx="10972800" cy="777240"/>
          </a:xfrm>
          <a:prstGeom prst="rect">
            <a:avLst/>
          </a:prstGeom>
          <a:noFill/>
          <a:ln/>
        </p:spPr>
        <p:txBody>
          <a:bodyPr wrap="square" lIns="0" tIns="0" rIns="0" bIns="0" rtlCol="0" anchor="ctr"/>
          <a:lstStyle/>
          <a:p>
            <a:pPr indent="0" marL="0">
              <a:buNone/>
            </a:pPr>
            <a:r>
              <a:rPr lang="en-US" sz="2400" b="1" dirty="0">
                <a:solidFill>
                  <a:srgbClr val="1F1040"/>
                </a:solidFill>
                <a:latin typeface="Palatino Linotype" pitchFamily="34" charset="0"/>
                <a:ea typeface="Palatino Linotype" pitchFamily="34" charset="-122"/>
                <a:cs typeface="Palatino Linotype" pitchFamily="34" charset="-120"/>
              </a:rPr>
              <a:t>„Percepția corupției în România s-a îmbunătățit puternic față de primele ediții ale indicelui”</a:t>
            </a:r>
            <a:endParaRPr lang="en-US" sz="2700" dirty="0"/>
          </a:p>
        </p:txBody>
      </p:sp>
      <p:sp>
        <p:nvSpPr>
          <p:cNvPr id="5" name="Shape 3"/>
          <p:cNvSpPr/>
          <p:nvPr/>
        </p:nvSpPr>
        <p:spPr>
          <a:xfrm>
            <a:off x="594360" y="1828800"/>
            <a:ext cx="10972800" cy="1170432"/>
          </a:xfrm>
          <a:prstGeom prst="roundRect">
            <a:avLst>
              <a:gd name="adj" fmla="val 7031"/>
            </a:avLst>
          </a:prstGeom>
          <a:solidFill>
            <a:srgbClr val="8A6CE0"/>
          </a:solidFill>
          <a:ln w="12700">
            <a:solidFill>
              <a:srgbClr val="8A6CE0"/>
            </a:solidFill>
            <a:prstDash val="solid"/>
          </a:ln>
        </p:spPr>
        <p:txBody>
          <a:bodyPr/>
          <a:p/>
        </p:txBody>
      </p:sp>
      <p:sp>
        <p:nvSpPr>
          <p:cNvPr id="6" name="Text 4"/>
          <p:cNvSpPr/>
          <p:nvPr/>
        </p:nvSpPr>
        <p:spPr>
          <a:xfrm>
            <a:off x="868680" y="195681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F1040"/>
                </a:solidFill>
                <a:latin typeface="Palatino Linotype" pitchFamily="34" charset="0"/>
                <a:ea typeface="Palatino Linotype" pitchFamily="34" charset="-122"/>
                <a:cs typeface="Palatino Linotype" pitchFamily="34" charset="-120"/>
              </a:rPr>
              <a:t>CE SE AFIRMĂ</a:t>
            </a:r>
            <a:endParaRPr lang="en-US" sz="1000" dirty="0"/>
          </a:p>
        </p:txBody>
      </p:sp>
      <p:sp>
        <p:nvSpPr>
          <p:cNvPr id="7" name="Text 5"/>
          <p:cNvSpPr/>
          <p:nvPr/>
        </p:nvSpPr>
        <p:spPr>
          <a:xfrm>
            <a:off x="868680" y="2231136"/>
            <a:ext cx="10424160" cy="713232"/>
          </a:xfrm>
          <a:prstGeom prst="rect">
            <a:avLst/>
          </a:prstGeom>
          <a:noFill/>
          <a:ln/>
        </p:spPr>
        <p:txBody>
          <a:bodyPr wrap="square" lIns="0" tIns="0" rIns="0" bIns="0" rtlCol="0" anchor="t"/>
          <a:lstStyle/>
          <a:p>
            <a:pPr algn="l" indent="0" marL="0">
              <a:lnSpc>
                <a:spcPts val="1700"/>
              </a:lnSpc>
              <a:buNone/>
            </a:pPr>
            <a:r>
              <a:rPr lang="en-US" sz="1350" dirty="0">
                <a:solidFill>
                  <a:srgbClr val="1F1040"/>
                </a:solidFill>
                <a:latin typeface="Palatino Linotype" pitchFamily="34" charset="0"/>
                <a:ea typeface="Palatino Linotype" pitchFamily="34" charset="-122"/>
                <a:cs typeface="Palatino Linotype" pitchFamily="34" charset="-120"/>
              </a:rPr>
              <a:t>Se proiectează un grafic care pune pe aceeași axă scorurile dinainte de 2012, de la 0 la 10, înmulțite cu zece (de exemplu, 3,0 în ediția 2005), și scorurile din 2012 încoace, de la 0 la 100 (45 în ediția 2025).</a:t>
            </a:r>
            <a:endParaRPr lang="en-US" sz="1350" dirty="0"/>
          </a:p>
        </p:txBody>
      </p:sp>
      <p:sp>
        <p:nvSpPr>
          <p:cNvPr id="8" name="Shape 6"/>
          <p:cNvSpPr/>
          <p:nvPr/>
        </p:nvSpPr>
        <p:spPr>
          <a:xfrm>
            <a:off x="594360" y="3108960"/>
            <a:ext cx="10972800" cy="1417320"/>
          </a:xfrm>
          <a:prstGeom prst="roundRect">
            <a:avLst>
              <a:gd name="adj" fmla="val 5806"/>
            </a:avLst>
          </a:prstGeom>
          <a:solidFill>
            <a:srgbClr val="FFFFFF"/>
          </a:solidFill>
          <a:ln w="12700">
            <a:solidFill>
              <a:srgbClr val="FFFFFF"/>
            </a:solidFill>
            <a:prstDash val="solid"/>
          </a:ln>
        </p:spPr>
        <p:txBody>
          <a:bodyPr/>
          <a:p/>
        </p:txBody>
      </p:sp>
      <p:sp>
        <p:nvSpPr>
          <p:cNvPr id="9" name="Text 7"/>
          <p:cNvSpPr/>
          <p:nvPr/>
        </p:nvSpPr>
        <p:spPr>
          <a:xfrm>
            <a:off x="868680" y="323697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1121A"/>
                </a:solidFill>
                <a:latin typeface="Palatino Linotype" pitchFamily="34" charset="0"/>
                <a:ea typeface="Palatino Linotype" pitchFamily="34" charset="-122"/>
                <a:cs typeface="Palatino Linotype" pitchFamily="34" charset="-120"/>
              </a:rPr>
              <a:t>CE SPUNE SURSA</a:t>
            </a:r>
            <a:endParaRPr lang="en-US" sz="1000" dirty="0"/>
          </a:p>
        </p:txBody>
      </p:sp>
      <p:sp>
        <p:nvSpPr>
          <p:cNvPr id="10" name="Text 8"/>
          <p:cNvSpPr/>
          <p:nvPr/>
        </p:nvSpPr>
        <p:spPr>
          <a:xfrm>
            <a:off x="868680" y="3511296"/>
            <a:ext cx="10424160" cy="960120"/>
          </a:xfrm>
          <a:prstGeom prst="rect">
            <a:avLst/>
          </a:prstGeom>
          <a:noFill/>
          <a:ln/>
        </p:spPr>
        <p:txBody>
          <a:bodyPr wrap="square" lIns="0" tIns="0" rIns="0" bIns="0" rtlCol="0" anchor="t"/>
          <a:lstStyle/>
          <a:p>
            <a:pPr algn="l" indent="0" marL="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Transparency International precizează, în documentația metodologică, că, din cauza schimbării metodologiei, numai rezultatele DIN 2012 ÎNCOACE pot fi comparate. Rescalarea folosește ca ancoră media și abaterea standard ale ediției 2012. Un grafic care trece peste 2012 pune pe aceeași axă valori produse cu două instrumente diferite; înmulțirea cu zece schimbă unitatea, nu și metoda.</a:t>
            </a:r>
            <a:endParaRPr lang="en-US" sz="1350" dirty="0"/>
          </a:p>
        </p:txBody>
      </p:sp>
      <p:sp>
        <p:nvSpPr>
          <p:cNvPr id="11" name="Shape 9"/>
          <p:cNvSpPr/>
          <p:nvPr/>
        </p:nvSpPr>
        <p:spPr>
          <a:xfrm>
            <a:off x="594360" y="4636008"/>
            <a:ext cx="10972800" cy="1097280"/>
          </a:xfrm>
          <a:prstGeom prst="roundRect">
            <a:avLst>
              <a:gd name="adj" fmla="val 7500"/>
            </a:avLst>
          </a:prstGeom>
          <a:solidFill>
            <a:srgbClr val="8A6CE0"/>
          </a:solidFill>
          <a:ln w="12700">
            <a:solidFill>
              <a:srgbClr val="8A6CE0"/>
            </a:solidFill>
            <a:prstDash val="solid"/>
          </a:ln>
        </p:spPr>
        <p:txBody>
          <a:bodyPr/>
          <a:p/>
        </p:txBody>
      </p:sp>
      <p:sp>
        <p:nvSpPr>
          <p:cNvPr id="12" name="Text 10"/>
          <p:cNvSpPr/>
          <p:nvPr/>
        </p:nvSpPr>
        <p:spPr>
          <a:xfrm>
            <a:off x="868680" y="475488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F1040"/>
                </a:solidFill>
                <a:latin typeface="Palatino Linotype" pitchFamily="34" charset="0"/>
                <a:ea typeface="Palatino Linotype" pitchFamily="34" charset="-122"/>
                <a:cs typeface="Palatino Linotype" pitchFamily="34" charset="-120"/>
              </a:rPr>
              <a:t>REGULA TRANSFERABILĂ</a:t>
            </a:r>
            <a:endParaRPr lang="en-US" sz="1000" dirty="0"/>
          </a:p>
        </p:txBody>
      </p:sp>
      <p:sp>
        <p:nvSpPr>
          <p:cNvPr id="13" name="Text 11"/>
          <p:cNvSpPr/>
          <p:nvPr/>
        </p:nvSpPr>
        <p:spPr>
          <a:xfrm>
            <a:off x="868680" y="5029200"/>
            <a:ext cx="10424160" cy="640080"/>
          </a:xfrm>
          <a:prstGeom prst="rect">
            <a:avLst/>
          </a:prstGeom>
          <a:noFill/>
          <a:ln/>
        </p:spPr>
        <p:txBody>
          <a:bodyPr wrap="square" lIns="0" tIns="0" rIns="0" bIns="0" rtlCol="0" anchor="t"/>
          <a:lstStyle/>
          <a:p>
            <a:pPr algn="l" indent="0" marL="0">
              <a:lnSpc>
                <a:spcPts val="1700"/>
              </a:lnSpc>
              <a:buNone/>
            </a:pPr>
            <a:r>
              <a:rPr lang="en-US" sz="1400" b="1" dirty="0">
                <a:solidFill>
                  <a:srgbClr val="1F1040"/>
                </a:solidFill>
                <a:latin typeface="Palatino Linotype" pitchFamily="34" charset="0"/>
                <a:ea typeface="Palatino Linotype" pitchFamily="34" charset="-122"/>
                <a:cs typeface="Palatino Linotype" pitchFamily="34" charset="-120"/>
              </a:rPr>
              <a:t>Înainte de a compara doi ani dintr-o serie, citiți nota metodologică a producătorului și verificați dacă el însuși declară seria comparabilă între acei doi ani. Verificarea durează câteva zeci de secunde.</a:t>
            </a:r>
            <a:endParaRPr lang="en-US" sz="1400" dirty="0"/>
          </a:p>
        </p:txBody>
      </p:sp>
      <p:sp>
        <p:nvSpPr>
          <p:cNvPr id="14" name="Text 12"/>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1F1040"/>
                </a:solidFill>
                <a:latin typeface="Palatino Linotype" pitchFamily="34" charset="0"/>
                <a:ea typeface="Palatino Linotype" pitchFamily="34" charset="-122"/>
                <a:cs typeface="Palatino Linotype" pitchFamily="34" charset="-120"/>
              </a:rPr>
              <a:t>Transparency International, CPI 2025 — întrebările frecvente, comparabilitatea în timp [TI]; Lambsdorff, CPI 2005, în Global Corruption Report 2006 [TI]</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0E7C6B"/>
                </a:solidFill>
                <a:latin typeface="Palatino Linotype" pitchFamily="34" charset="0"/>
                <a:ea typeface="Palatino Linotype" pitchFamily="34" charset="-122"/>
                <a:cs typeface="Palatino Linotype" pitchFamily="34" charset="-120"/>
              </a:rPr>
              <a:t>ROMÂNIA ÎN UE · EDIȚIA 2025</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Două state membre au scor mai mic</a:t>
            </a:r>
            <a:endParaRPr lang="en-US" sz="3100" dirty="0"/>
          </a:p>
        </p:txBody>
      </p:sp>
      <p:sp>
        <p:nvSpPr>
          <p:cNvPr id="7" name="Text 5"/>
          <p:cNvSpPr/>
          <p:nvPr/>
        </p:nvSpPr>
        <p:spPr>
          <a:xfrm>
            <a:off x="594360" y="2057400"/>
            <a:ext cx="2926080" cy="402336"/>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Media a 31 de țări*</a:t>
            </a:r>
            <a:endParaRPr lang="en-US" sz="1300" dirty="0"/>
          </a:p>
        </p:txBody>
      </p:sp>
      <p:sp>
        <p:nvSpPr>
          <p:cNvPr id="8" name="Shape 6"/>
          <p:cNvSpPr/>
          <p:nvPr/>
        </p:nvSpPr>
        <p:spPr>
          <a:xfrm>
            <a:off x="3749040" y="2103120"/>
            <a:ext cx="4312310" cy="329184"/>
          </a:xfrm>
          <a:prstGeom prst="roundRect">
            <a:avLst>
              <a:gd name="adj" fmla="val 13889"/>
            </a:avLst>
          </a:prstGeom>
          <a:solidFill>
            <a:srgbClr val="585A64"/>
          </a:solidFill>
          <a:ln w="12700">
            <a:solidFill>
              <a:srgbClr val="585A64"/>
            </a:solidFill>
            <a:prstDash val="solid"/>
          </a:ln>
        </p:spPr>
        <p:txBody>
          <a:bodyPr/>
          <a:p/>
        </p:txBody>
      </p:sp>
      <p:sp>
        <p:nvSpPr>
          <p:cNvPr id="9" name="Text 7"/>
          <p:cNvSpPr/>
          <p:nvPr/>
        </p:nvSpPr>
        <p:spPr>
          <a:xfrm>
            <a:off x="8189366" y="2103120"/>
            <a:ext cx="1097280" cy="329184"/>
          </a:xfrm>
          <a:prstGeom prst="rect">
            <a:avLst/>
          </a:prstGeom>
          <a:noFill/>
          <a:ln/>
        </p:spPr>
        <p:txBody>
          <a:bodyPr wrap="square" lIns="0" tIns="0" rIns="0" bIns="0" rtlCol="0" anchor="ctr"/>
          <a:lstStyle/>
          <a:p>
            <a:pPr algn="l" indent="0" marL="0">
              <a:buNone/>
            </a:pPr>
            <a:r>
              <a:rPr lang="en-US" sz="1350" b="1" dirty="0">
                <a:solidFill>
                  <a:srgbClr val="585A64"/>
                </a:solidFill>
                <a:latin typeface="Palatino Linotype" pitchFamily="34" charset="0"/>
                <a:ea typeface="Palatino Linotype" pitchFamily="34" charset="-122"/>
                <a:cs typeface="Palatino Linotype" pitchFamily="34" charset="-120"/>
              </a:rPr>
              <a:t>64</a:t>
            </a:r>
            <a:endParaRPr lang="en-US" sz="1350" dirty="0"/>
          </a:p>
        </p:txBody>
      </p:sp>
      <p:sp>
        <p:nvSpPr>
          <p:cNvPr id="13" name="Text 11"/>
          <p:cNvSpPr/>
          <p:nvPr/>
        </p:nvSpPr>
        <p:spPr>
          <a:xfrm>
            <a:off x="594360" y="2788920"/>
            <a:ext cx="2926080" cy="402336"/>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ROMÂNIA</a:t>
            </a:r>
            <a:endParaRPr lang="en-US" sz="1300" dirty="0"/>
          </a:p>
        </p:txBody>
      </p:sp>
      <p:sp>
        <p:nvSpPr>
          <p:cNvPr id="14" name="Shape 12"/>
          <p:cNvSpPr/>
          <p:nvPr/>
        </p:nvSpPr>
        <p:spPr>
          <a:xfrm>
            <a:off x="3749040" y="2834639"/>
            <a:ext cx="3032150" cy="329184"/>
          </a:xfrm>
          <a:prstGeom prst="roundRect">
            <a:avLst>
              <a:gd name="adj" fmla="val 13889"/>
            </a:avLst>
          </a:prstGeom>
          <a:solidFill>
            <a:srgbClr val="B02532"/>
          </a:solidFill>
          <a:ln w="12700">
            <a:solidFill>
              <a:srgbClr val="B02532"/>
            </a:solidFill>
            <a:prstDash val="solid"/>
          </a:ln>
        </p:spPr>
        <p:txBody>
          <a:bodyPr/>
          <a:p/>
        </p:txBody>
      </p:sp>
      <p:sp>
        <p:nvSpPr>
          <p:cNvPr id="15" name="Text 13"/>
          <p:cNvSpPr/>
          <p:nvPr/>
        </p:nvSpPr>
        <p:spPr>
          <a:xfrm>
            <a:off x="6909206" y="2834639"/>
            <a:ext cx="1097280" cy="329184"/>
          </a:xfrm>
          <a:prstGeom prst="rect">
            <a:avLst/>
          </a:prstGeom>
          <a:noFill/>
          <a:ln/>
        </p:spPr>
        <p:txBody>
          <a:bodyPr wrap="square" lIns="0" tIns="0" rIns="0" bIns="0" rtlCol="0" anchor="ctr"/>
          <a:lstStyle/>
          <a:p>
            <a:pPr algn="l" indent="0" marL="0">
              <a:buNone/>
            </a:pPr>
            <a:r>
              <a:rPr lang="en-US" sz="1350" b="1" dirty="0">
                <a:solidFill>
                  <a:srgbClr val="B02532"/>
                </a:solidFill>
                <a:latin typeface="Palatino Linotype" pitchFamily="34" charset="0"/>
                <a:ea typeface="Palatino Linotype" pitchFamily="34" charset="-122"/>
                <a:cs typeface="Palatino Linotype" pitchFamily="34" charset="-120"/>
              </a:rPr>
              <a:t>45</a:t>
            </a:r>
            <a:endParaRPr lang="en-US" sz="1350" dirty="0"/>
          </a:p>
        </p:txBody>
      </p:sp>
      <p:sp>
        <p:nvSpPr>
          <p:cNvPr id="16" name="Text 14"/>
          <p:cNvSpPr/>
          <p:nvPr/>
        </p:nvSpPr>
        <p:spPr>
          <a:xfrm>
            <a:off x="594360" y="3520440"/>
            <a:ext cx="2926080" cy="402336"/>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Bulgaria</a:t>
            </a:r>
            <a:endParaRPr lang="en-US" sz="1300" dirty="0"/>
          </a:p>
        </p:txBody>
      </p:sp>
      <p:sp>
        <p:nvSpPr>
          <p:cNvPr id="17" name="Shape 15"/>
          <p:cNvSpPr/>
          <p:nvPr/>
        </p:nvSpPr>
        <p:spPr>
          <a:xfrm>
            <a:off x="3749040" y="3566160"/>
            <a:ext cx="2695651" cy="329184"/>
          </a:xfrm>
          <a:prstGeom prst="roundRect">
            <a:avLst>
              <a:gd name="adj" fmla="val 13889"/>
            </a:avLst>
          </a:prstGeom>
          <a:solidFill>
            <a:srgbClr val="8A6100"/>
          </a:solidFill>
          <a:ln w="12700">
            <a:solidFill>
              <a:srgbClr val="8A6100"/>
            </a:solidFill>
            <a:prstDash val="solid"/>
          </a:ln>
        </p:spPr>
        <p:txBody>
          <a:bodyPr/>
          <a:p/>
        </p:txBody>
      </p:sp>
      <p:sp>
        <p:nvSpPr>
          <p:cNvPr id="18" name="Text 16"/>
          <p:cNvSpPr/>
          <p:nvPr/>
        </p:nvSpPr>
        <p:spPr>
          <a:xfrm>
            <a:off x="6572707" y="3566160"/>
            <a:ext cx="1097280" cy="329184"/>
          </a:xfrm>
          <a:prstGeom prst="rect">
            <a:avLst/>
          </a:prstGeom>
          <a:noFill/>
          <a:ln/>
        </p:spPr>
        <p:txBody>
          <a:bodyPr wrap="square" lIns="0" tIns="0" rIns="0" bIns="0" rtlCol="0" anchor="ctr"/>
          <a:lstStyle/>
          <a:p>
            <a:pPr algn="l" indent="0" marL="0">
              <a:buNone/>
            </a:pPr>
            <a:r>
              <a:rPr lang="en-US" sz="1350" b="1" dirty="0">
                <a:solidFill>
                  <a:srgbClr val="8A6100"/>
                </a:solidFill>
                <a:latin typeface="Palatino Linotype" pitchFamily="34" charset="0"/>
                <a:ea typeface="Palatino Linotype" pitchFamily="34" charset="-122"/>
                <a:cs typeface="Palatino Linotype" pitchFamily="34" charset="-120"/>
              </a:rPr>
              <a:t>40</a:t>
            </a:r>
            <a:endParaRPr lang="en-US" sz="1350" dirty="0"/>
          </a:p>
        </p:txBody>
      </p:sp>
      <p:sp>
        <p:nvSpPr>
          <p:cNvPr id="19" name="Text 17"/>
          <p:cNvSpPr/>
          <p:nvPr/>
        </p:nvSpPr>
        <p:spPr>
          <a:xfrm>
            <a:off x="594360" y="4251960"/>
            <a:ext cx="2926080" cy="402336"/>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Ungaria</a:t>
            </a:r>
            <a:endParaRPr lang="en-US" sz="1300" dirty="0"/>
          </a:p>
        </p:txBody>
      </p:sp>
      <p:sp>
        <p:nvSpPr>
          <p:cNvPr id="20" name="Shape 18"/>
          <p:cNvSpPr/>
          <p:nvPr/>
        </p:nvSpPr>
        <p:spPr>
          <a:xfrm>
            <a:off x="3749040" y="4297680"/>
            <a:ext cx="2695651" cy="329184"/>
          </a:xfrm>
          <a:prstGeom prst="roundRect">
            <a:avLst>
              <a:gd name="adj" fmla="val 13889"/>
            </a:avLst>
          </a:prstGeom>
          <a:solidFill>
            <a:srgbClr val="8A6100"/>
          </a:solidFill>
          <a:ln w="12700">
            <a:solidFill>
              <a:srgbClr val="8A6100"/>
            </a:solidFill>
            <a:prstDash val="solid"/>
          </a:ln>
        </p:spPr>
        <p:txBody>
          <a:bodyPr/>
          <a:p/>
        </p:txBody>
      </p:sp>
      <p:sp>
        <p:nvSpPr>
          <p:cNvPr id="21" name="Text 19"/>
          <p:cNvSpPr/>
          <p:nvPr/>
        </p:nvSpPr>
        <p:spPr>
          <a:xfrm>
            <a:off x="6572707" y="4297680"/>
            <a:ext cx="1097280" cy="329184"/>
          </a:xfrm>
          <a:prstGeom prst="rect">
            <a:avLst/>
          </a:prstGeom>
          <a:noFill/>
          <a:ln/>
        </p:spPr>
        <p:txBody>
          <a:bodyPr wrap="square" lIns="0" tIns="0" rIns="0" bIns="0" rtlCol="0" anchor="ctr"/>
          <a:lstStyle/>
          <a:p>
            <a:pPr algn="l" indent="0" marL="0">
              <a:buNone/>
            </a:pPr>
            <a:r>
              <a:rPr lang="en-US" sz="1350" b="1" dirty="0">
                <a:solidFill>
                  <a:srgbClr val="8A6100"/>
                </a:solidFill>
                <a:latin typeface="Palatino Linotype" pitchFamily="34" charset="0"/>
                <a:ea typeface="Palatino Linotype" pitchFamily="34" charset="-122"/>
                <a:cs typeface="Palatino Linotype" pitchFamily="34" charset="-120"/>
              </a:rPr>
              <a:t>40</a:t>
            </a:r>
            <a:endParaRPr lang="en-US" sz="1350" dirty="0"/>
          </a:p>
        </p:txBody>
      </p:sp>
      <p:sp>
        <p:nvSpPr>
          <p:cNvPr id="22" name="Shape 20"/>
          <p:cNvSpPr/>
          <p:nvPr/>
        </p:nvSpPr>
        <p:spPr>
          <a:xfrm>
            <a:off x="594360" y="548640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23" name="Text 21"/>
          <p:cNvSpPr/>
          <p:nvPr/>
        </p:nvSpPr>
        <p:spPr>
          <a:xfrm>
            <a:off x="868680" y="5632704"/>
            <a:ext cx="10424160" cy="502920"/>
          </a:xfrm>
          <a:prstGeom prst="rect">
            <a:avLst/>
          </a:prstGeom>
          <a:noFill/>
          <a:ln/>
        </p:spPr>
        <p:txBody>
          <a:bodyPr wrap="square" lIns="0" tIns="0" rIns="0" bIns="0" rtlCol="0" anchor="t"/>
          <a:lstStyle/>
          <a:p>
            <a:pPr algn="l" indent="0" marL="0">
              <a:lnSpc>
                <a:spcPts val="1700"/>
              </a:lnSpc>
              <a:buNone/>
            </a:pPr>
            <a:r>
              <a:rPr lang="en-US" sz="1250" b="1" dirty="0">
                <a:solidFill>
                  <a:srgbClr val="B02532"/>
                </a:solidFill>
                <a:latin typeface="Palatino Linotype" pitchFamily="34" charset="0"/>
                <a:ea typeface="Palatino Linotype" pitchFamily="34" charset="-122"/>
                <a:cs typeface="Palatino Linotype" pitchFamily="34" charset="-120"/>
              </a:rPr>
              <a:t>* Media regională publicată de Transparency International, 64 de puncte, acoperă 31 de țări din Europa de Vest și din UE, nu cele 27 de state membre. În ediția 2024: România 46, Malta 46, Bulgaria 43, Ungaria 41.</a:t>
            </a:r>
            <a:endParaRPr lang="en-US" sz="1250" dirty="0"/>
          </a:p>
        </p:txBody>
      </p:sp>
      <p:sp>
        <p:nvSpPr>
          <p:cNvPr id="24" name="Text 22"/>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Scoruri: Transparency International, CPI 2025 [TI]. Ordonarea în interiorul UE este un calcul propriu din tabelul de scoruri; Transparency International publică rangul mondial, nu un clasament al UE.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27D3BE"/>
                </a:solidFill>
                <a:latin typeface="Palatino Linotype" pitchFamily="34" charset="0"/>
                <a:ea typeface="Palatino Linotype" pitchFamily="34" charset="-122"/>
                <a:cs typeface="Palatino Linotype" pitchFamily="34" charset="-120"/>
              </a:rPr>
              <a:t>INSTRUMENTUL 2 · GUVERNANȚA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Control of Corruption, Banca Mondială</a:t>
            </a:r>
            <a:endParaRPr lang="en-US" sz="31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959BB0"/>
                </a:solidFill>
                <a:latin typeface="Palatino Linotype" pitchFamily="34" charset="0"/>
                <a:ea typeface="Palatino Linotype" pitchFamily="34" charset="-122"/>
                <a:cs typeface="Palatino Linotype" pitchFamily="34" charset="-120"/>
              </a:rPr>
              <a:t>Estimare față de media mondială a anului (tipic între −2,5 și 2,5), cu eroarea standard, și scor pe o scală absolută de la 0 la 100.</a:t>
            </a:r>
            <a:endParaRPr lang="en-US" sz="1450" dirty="0"/>
          </a:p>
        </p:txBody>
      </p:sp>
      <p:sp>
        <p:nvSpPr>
          <p:cNvPr id="5" name="Text 3"/>
          <p:cNvSpPr/>
          <p:nvPr/>
        </p:nvSpPr>
        <p:spPr>
          <a:xfrm>
            <a:off x="594360" y="2148840"/>
            <a:ext cx="274320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ANUL</a:t>
            </a:r>
            <a:endParaRPr lang="en-US" sz="1050" dirty="0"/>
          </a:p>
        </p:txBody>
      </p:sp>
      <p:sp>
        <p:nvSpPr>
          <p:cNvPr id="6" name="Text 4"/>
          <p:cNvSpPr/>
          <p:nvPr/>
        </p:nvSpPr>
        <p:spPr>
          <a:xfrm>
            <a:off x="3337560" y="2148840"/>
            <a:ext cx="237744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ESTIMAREA</a:t>
            </a:r>
            <a:endParaRPr lang="en-US" sz="1050" dirty="0"/>
          </a:p>
        </p:txBody>
      </p:sp>
      <p:sp>
        <p:nvSpPr>
          <p:cNvPr id="7" name="Text 5"/>
          <p:cNvSpPr/>
          <p:nvPr/>
        </p:nvSpPr>
        <p:spPr>
          <a:xfrm>
            <a:off x="5715000" y="2148840"/>
            <a:ext cx="292608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SCORUL (0–100)</a:t>
            </a:r>
            <a:endParaRPr lang="en-US" sz="1050" dirty="0"/>
          </a:p>
        </p:txBody>
      </p:sp>
      <p:sp>
        <p:nvSpPr>
          <p:cNvPr id="8" name="Text 6"/>
          <p:cNvSpPr/>
          <p:nvPr/>
        </p:nvSpPr>
        <p:spPr>
          <a:xfrm>
            <a:off x="8641080" y="2148840"/>
            <a:ext cx="292608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EROAREA STANDARD A ESTIMĂRII</a:t>
            </a:r>
            <a:endParaRPr lang="en-US" sz="1050" dirty="0"/>
          </a:p>
        </p:txBody>
      </p:sp>
      <p:sp>
        <p:nvSpPr>
          <p:cNvPr id="9" name="Shape 7"/>
          <p:cNvSpPr/>
          <p:nvPr/>
        </p:nvSpPr>
        <p:spPr>
          <a:xfrm>
            <a:off x="594360" y="2551176"/>
            <a:ext cx="10972800" cy="612648"/>
          </a:xfrm>
          <a:prstGeom prst="roundRect">
            <a:avLst>
              <a:gd name="adj" fmla="val 13433"/>
            </a:avLst>
          </a:prstGeom>
          <a:solidFill>
            <a:srgbClr val="1D1F2B"/>
          </a:solidFill>
          <a:ln w="12700">
            <a:solidFill>
              <a:srgbClr val="1D1F2B"/>
            </a:solidFill>
            <a:prstDash val="solid"/>
          </a:ln>
        </p:spPr>
        <p:txBody>
          <a:bodyPr/>
          <a:p/>
        </p:txBody>
      </p:sp>
      <p:sp>
        <p:nvSpPr>
          <p:cNvPr id="10" name="Text 8"/>
          <p:cNvSpPr/>
          <p:nvPr/>
        </p:nvSpPr>
        <p:spPr>
          <a:xfrm>
            <a:off x="868680" y="2551176"/>
            <a:ext cx="2468880" cy="612648"/>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Palatino Linotype" pitchFamily="34" charset="0"/>
                <a:ea typeface="Palatino Linotype" pitchFamily="34" charset="-122"/>
                <a:cs typeface="Palatino Linotype" pitchFamily="34" charset="-120"/>
              </a:rPr>
              <a:t>2004</a:t>
            </a:r>
            <a:endParaRPr lang="en-US" sz="1400" dirty="0"/>
          </a:p>
        </p:txBody>
      </p:sp>
      <p:sp>
        <p:nvSpPr>
          <p:cNvPr id="11" name="Text 9"/>
          <p:cNvSpPr/>
          <p:nvPr/>
        </p:nvSpPr>
        <p:spPr>
          <a:xfrm>
            <a:off x="3337560" y="2551176"/>
            <a:ext cx="219456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−0,326</a:t>
            </a:r>
            <a:endParaRPr lang="en-US" sz="1400" dirty="0"/>
          </a:p>
        </p:txBody>
      </p:sp>
      <p:sp>
        <p:nvSpPr>
          <p:cNvPr id="12" name="Text 10"/>
          <p:cNvSpPr/>
          <p:nvPr/>
        </p:nvSpPr>
        <p:spPr>
          <a:xfrm>
            <a:off x="5715000" y="2551176"/>
            <a:ext cx="274320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41,5</a:t>
            </a:r>
            <a:endParaRPr lang="en-US" sz="1400" dirty="0"/>
          </a:p>
        </p:txBody>
      </p:sp>
      <p:sp>
        <p:nvSpPr>
          <p:cNvPr id="13" name="Text 11"/>
          <p:cNvSpPr/>
          <p:nvPr/>
        </p:nvSpPr>
        <p:spPr>
          <a:xfrm>
            <a:off x="8641080" y="2551176"/>
            <a:ext cx="274320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0,178</a:t>
            </a:r>
            <a:endParaRPr lang="en-US" sz="1400" dirty="0"/>
          </a:p>
        </p:txBody>
      </p:sp>
      <p:sp>
        <p:nvSpPr>
          <p:cNvPr id="14" name="Text 12"/>
          <p:cNvSpPr/>
          <p:nvPr/>
        </p:nvSpPr>
        <p:spPr>
          <a:xfrm>
            <a:off x="868680" y="3209544"/>
            <a:ext cx="2468880" cy="612648"/>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Palatino Linotype" pitchFamily="34" charset="0"/>
                <a:ea typeface="Palatino Linotype" pitchFamily="34" charset="-122"/>
                <a:cs typeface="Palatino Linotype" pitchFamily="34" charset="-120"/>
              </a:rPr>
              <a:t>2014</a:t>
            </a:r>
            <a:endParaRPr lang="en-US" sz="1400" dirty="0"/>
          </a:p>
        </p:txBody>
      </p:sp>
      <p:sp>
        <p:nvSpPr>
          <p:cNvPr id="15" name="Text 13"/>
          <p:cNvSpPr/>
          <p:nvPr/>
        </p:nvSpPr>
        <p:spPr>
          <a:xfrm>
            <a:off x="3337560" y="3209544"/>
            <a:ext cx="219456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−0,236</a:t>
            </a:r>
            <a:endParaRPr lang="en-US" sz="1400" dirty="0"/>
          </a:p>
        </p:txBody>
      </p:sp>
      <p:sp>
        <p:nvSpPr>
          <p:cNvPr id="16" name="Text 14"/>
          <p:cNvSpPr/>
          <p:nvPr/>
        </p:nvSpPr>
        <p:spPr>
          <a:xfrm>
            <a:off x="5715000" y="3209544"/>
            <a:ext cx="274320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43,3</a:t>
            </a:r>
            <a:endParaRPr lang="en-US" sz="1400" dirty="0"/>
          </a:p>
        </p:txBody>
      </p:sp>
      <p:sp>
        <p:nvSpPr>
          <p:cNvPr id="17" name="Text 15"/>
          <p:cNvSpPr/>
          <p:nvPr/>
        </p:nvSpPr>
        <p:spPr>
          <a:xfrm>
            <a:off x="8641080" y="3209544"/>
            <a:ext cx="274320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0,152</a:t>
            </a:r>
            <a:endParaRPr lang="en-US" sz="1400" dirty="0"/>
          </a:p>
        </p:txBody>
      </p:sp>
      <p:sp>
        <p:nvSpPr>
          <p:cNvPr id="18" name="Shape 16"/>
          <p:cNvSpPr/>
          <p:nvPr/>
        </p:nvSpPr>
        <p:spPr>
          <a:xfrm>
            <a:off x="594360" y="3867912"/>
            <a:ext cx="10972800" cy="612648"/>
          </a:xfrm>
          <a:prstGeom prst="roundRect">
            <a:avLst>
              <a:gd name="adj" fmla="val 13433"/>
            </a:avLst>
          </a:prstGeom>
          <a:solidFill>
            <a:srgbClr val="1D1F2B"/>
          </a:solidFill>
          <a:ln w="12700">
            <a:solidFill>
              <a:srgbClr val="1D1F2B"/>
            </a:solidFill>
            <a:prstDash val="solid"/>
          </a:ln>
        </p:spPr>
        <p:txBody>
          <a:bodyPr/>
          <a:p/>
        </p:txBody>
      </p:sp>
      <p:sp>
        <p:nvSpPr>
          <p:cNvPr id="19" name="Text 17"/>
          <p:cNvSpPr/>
          <p:nvPr/>
        </p:nvSpPr>
        <p:spPr>
          <a:xfrm>
            <a:off x="868680" y="3867912"/>
            <a:ext cx="2468880" cy="612648"/>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Palatino Linotype" pitchFamily="34" charset="0"/>
                <a:ea typeface="Palatino Linotype" pitchFamily="34" charset="-122"/>
                <a:cs typeface="Palatino Linotype" pitchFamily="34" charset="-120"/>
              </a:rPr>
              <a:t>2024</a:t>
            </a:r>
            <a:endParaRPr lang="en-US" sz="1400" dirty="0"/>
          </a:p>
        </p:txBody>
      </p:sp>
      <p:sp>
        <p:nvSpPr>
          <p:cNvPr id="20" name="Text 18"/>
          <p:cNvSpPr/>
          <p:nvPr/>
        </p:nvSpPr>
        <p:spPr>
          <a:xfrm>
            <a:off x="3337560" y="3867912"/>
            <a:ext cx="219456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−0,001</a:t>
            </a:r>
            <a:endParaRPr lang="en-US" sz="1400" dirty="0"/>
          </a:p>
        </p:txBody>
      </p:sp>
      <p:sp>
        <p:nvSpPr>
          <p:cNvPr id="21" name="Text 19"/>
          <p:cNvSpPr/>
          <p:nvPr/>
        </p:nvSpPr>
        <p:spPr>
          <a:xfrm>
            <a:off x="5715000" y="3867912"/>
            <a:ext cx="274320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48,0</a:t>
            </a:r>
            <a:endParaRPr lang="en-US" sz="1400" dirty="0"/>
          </a:p>
        </p:txBody>
      </p:sp>
      <p:sp>
        <p:nvSpPr>
          <p:cNvPr id="22" name="Text 20"/>
          <p:cNvSpPr/>
          <p:nvPr/>
        </p:nvSpPr>
        <p:spPr>
          <a:xfrm>
            <a:off x="8641080" y="3867912"/>
            <a:ext cx="274320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0,151</a:t>
            </a:r>
            <a:endParaRPr lang="en-US" sz="1400" dirty="0"/>
          </a:p>
        </p:txBody>
      </p:sp>
      <p:sp>
        <p:nvSpPr>
          <p:cNvPr id="23" name="Text 21"/>
          <p:cNvSpPr/>
          <p:nvPr/>
        </p:nvSpPr>
        <p:spPr>
          <a:xfrm>
            <a:off x="868680" y="4526280"/>
            <a:ext cx="2468880" cy="612648"/>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Palatino Linotype" pitchFamily="34" charset="0"/>
                <a:ea typeface="Palatino Linotype" pitchFamily="34" charset="-122"/>
                <a:cs typeface="Palatino Linotype" pitchFamily="34" charset="-120"/>
              </a:rPr>
              <a:t>2025</a:t>
            </a:r>
            <a:endParaRPr lang="en-US" sz="1400" dirty="0"/>
          </a:p>
        </p:txBody>
      </p:sp>
      <p:sp>
        <p:nvSpPr>
          <p:cNvPr id="24" name="Text 22"/>
          <p:cNvSpPr/>
          <p:nvPr/>
        </p:nvSpPr>
        <p:spPr>
          <a:xfrm>
            <a:off x="3337560" y="4526280"/>
            <a:ext cx="219456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−0,003</a:t>
            </a:r>
            <a:endParaRPr lang="en-US" sz="1400" dirty="0"/>
          </a:p>
        </p:txBody>
      </p:sp>
      <p:sp>
        <p:nvSpPr>
          <p:cNvPr id="25" name="Text 23"/>
          <p:cNvSpPr/>
          <p:nvPr/>
        </p:nvSpPr>
        <p:spPr>
          <a:xfrm>
            <a:off x="5715000" y="4526280"/>
            <a:ext cx="274320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48,0</a:t>
            </a:r>
            <a:endParaRPr lang="en-US" sz="1400" dirty="0"/>
          </a:p>
        </p:txBody>
      </p:sp>
      <p:sp>
        <p:nvSpPr>
          <p:cNvPr id="26" name="Text 24"/>
          <p:cNvSpPr/>
          <p:nvPr/>
        </p:nvSpPr>
        <p:spPr>
          <a:xfrm>
            <a:off x="8641080" y="4526280"/>
            <a:ext cx="2743200" cy="612648"/>
          </a:xfrm>
          <a:prstGeom prst="rect">
            <a:avLst/>
          </a:prstGeom>
          <a:noFill/>
          <a:ln/>
        </p:spPr>
        <p:txBody>
          <a:bodyPr wrap="square" lIns="0" tIns="0" rIns="0" bIns="0" rtlCol="0" anchor="ctr"/>
          <a:lstStyle/>
          <a:p>
            <a:pPr indent="0" marL="0">
              <a:lnSpc>
                <a:spcPts val="1600"/>
              </a:lnSpc>
              <a:buNone/>
            </a:pPr>
            <a:r>
              <a:rPr lang="en-US" sz="1400" dirty="0">
                <a:solidFill>
                  <a:srgbClr val="959BB0"/>
                </a:solidFill>
                <a:latin typeface="Palatino Linotype" pitchFamily="34" charset="0"/>
                <a:ea typeface="Palatino Linotype" pitchFamily="34" charset="-122"/>
                <a:cs typeface="Palatino Linotype" pitchFamily="34" charset="-120"/>
              </a:rPr>
              <a:t>0,151</a:t>
            </a:r>
            <a:endParaRPr lang="en-US" sz="1400" dirty="0"/>
          </a:p>
        </p:txBody>
      </p:sp>
      <p:sp>
        <p:nvSpPr>
          <p:cNvPr id="27" name="Text 25"/>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Banca Mondială, Worldwide Governance Indicators, ediția din septembrie 2026 (1996–2025), controlul corupției; aceleași valori în Data360 (WB_WGI, GOV_WGI_CC, ROU). Setul nu conține rang percentilă [TI].</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564B"/>
        </a:solidFill>
      </p:bgPr>
    </p:bg>
    <p:spTree>
      <p:nvGrpSpPr>
        <p:cNvPr id="1" name=""/>
        <p:cNvGrpSpPr/>
        <p:nvPr/>
      </p:nvGrpSpPr>
      <p:grpSpPr>
        <a:xfrm>
          <a:off x="0" y="0"/>
          <a:ext cx="0" cy="0"/>
          <a:chOff x="0" y="0"/>
          <a:chExt cx="0" cy="0"/>
        </a:xfrm>
      </p:grpSpPr>
      <p:sp>
        <p:nvSpPr>
          <p:cNvPr id="2" name="Shape 0"/>
          <p:cNvSpPr/>
          <p:nvPr/>
        </p:nvSpPr>
        <p:spPr>
          <a:xfrm>
            <a:off x="594360" y="384048"/>
            <a:ext cx="2651760" cy="310896"/>
          </a:xfrm>
          <a:prstGeom prst="roundRect">
            <a:avLst>
              <a:gd name="adj" fmla="val 50000"/>
            </a:avLst>
          </a:prstGeom>
          <a:solidFill>
            <a:srgbClr val="FFFFFF"/>
          </a:solidFill>
          <a:ln w="12700">
            <a:solidFill>
              <a:srgbClr val="FFFFFF"/>
            </a:solidFill>
            <a:prstDash val="solid"/>
          </a:ln>
        </p:spPr>
        <p:txBody>
          <a:bodyPr/>
          <a:p/>
        </p:txBody>
      </p:sp>
      <p:sp>
        <p:nvSpPr>
          <p:cNvPr id="3" name="Text 1"/>
          <p:cNvSpPr/>
          <p:nvPr/>
        </p:nvSpPr>
        <p:spPr>
          <a:xfrm>
            <a:off x="594360" y="384048"/>
            <a:ext cx="2651760" cy="310896"/>
          </a:xfrm>
          <a:prstGeom prst="rect">
            <a:avLst/>
          </a:prstGeom>
          <a:noFill/>
          <a:ln/>
        </p:spPr>
        <p:txBody>
          <a:bodyPr wrap="square" lIns="0" tIns="0" rIns="0" bIns="0" rtlCol="0" anchor="ctr"/>
          <a:lstStyle/>
          <a:p>
            <a:pPr algn="ctr" indent="0" marL="0">
              <a:buNone/>
            </a:pPr>
            <a:r>
              <a:rPr lang="en-US" sz="1000" b="1" dirty="0">
                <a:solidFill>
                  <a:srgbClr val="07564B"/>
                </a:solidFill>
                <a:latin typeface="Palatino Linotype" pitchFamily="34" charset="0"/>
                <a:ea typeface="Palatino Linotype" pitchFamily="34" charset="-122"/>
                <a:cs typeface="Palatino Linotype" pitchFamily="34" charset="-120"/>
              </a:rPr>
              <a:t>CUM SE CITEȘTE RÂNDUL 2025</a:t>
            </a:r>
            <a:endParaRPr lang="en-US" sz="1000" dirty="0"/>
          </a:p>
        </p:txBody>
      </p:sp>
      <p:sp>
        <p:nvSpPr>
          <p:cNvPr id="4" name="Text 2"/>
          <p:cNvSpPr/>
          <p:nvPr/>
        </p:nvSpPr>
        <p:spPr>
          <a:xfrm>
            <a:off x="594360" y="100584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Intervalul include zero</a:t>
            </a:r>
            <a:endParaRPr lang="en-US" sz="3400" dirty="0"/>
          </a:p>
        </p:txBody>
      </p:sp>
      <p:sp>
        <p:nvSpPr>
          <p:cNvPr id="5" name="Shape 3"/>
          <p:cNvSpPr/>
          <p:nvPr/>
        </p:nvSpPr>
        <p:spPr>
          <a:xfrm>
            <a:off x="594360" y="2011680"/>
            <a:ext cx="10972800" cy="1234440"/>
          </a:xfrm>
          <a:prstGeom prst="roundRect">
            <a:avLst>
              <a:gd name="adj" fmla="val 6667"/>
            </a:avLst>
          </a:prstGeom>
          <a:solidFill>
            <a:srgbClr val="0A6456"/>
          </a:solidFill>
          <a:ln w="12700">
            <a:solidFill>
              <a:srgbClr val="0A6456"/>
            </a:solidFill>
            <a:prstDash val="solid"/>
          </a:ln>
        </p:spPr>
        <p:txBody>
          <a:bodyPr/>
          <a:p/>
        </p:txBody>
      </p:sp>
      <p:sp>
        <p:nvSpPr>
          <p:cNvPr id="6" name="Text 4"/>
          <p:cNvSpPr/>
          <p:nvPr/>
        </p:nvSpPr>
        <p:spPr>
          <a:xfrm>
            <a:off x="868680" y="2212848"/>
            <a:ext cx="10424160" cy="868680"/>
          </a:xfrm>
          <a:prstGeom prst="rect">
            <a:avLst/>
          </a:prstGeom>
          <a:noFill/>
          <a:ln/>
        </p:spPr>
        <p:txBody>
          <a:bodyPr wrap="square" lIns="0" tIns="0" rIns="0" bIns="0" rtlCol="0" anchor="t"/>
          <a:lstStyle/>
          <a:p>
            <a:pPr algn="l" indent="0" marL="0">
              <a:lnSpc>
                <a:spcPts val="2300"/>
              </a:lnSpc>
              <a:buNone/>
            </a:pPr>
            <a:r>
              <a:rPr lang="en-US" sz="1650" dirty="0">
                <a:solidFill>
                  <a:srgbClr val="FFFFFF"/>
                </a:solidFill>
                <a:latin typeface="Palatino Linotype" pitchFamily="34" charset="0"/>
                <a:ea typeface="Palatino Linotype" pitchFamily="34" charset="-122"/>
                <a:cs typeface="Palatino Linotype" pitchFamily="34" charset="-120"/>
              </a:rPr>
              <a:t>Estimarea este −0,003, cu eroarea standard 0,151. Marja de 90%: 0,151 × 1,64 ≈ 0,25. Intervalul publicat se întinde între −0,251 și 0,246, deci include media mondială a anului.</a:t>
            </a:r>
            <a:endParaRPr lang="en-US" sz="1650" dirty="0"/>
          </a:p>
        </p:txBody>
      </p:sp>
      <p:sp>
        <p:nvSpPr>
          <p:cNvPr id="7" name="Shape 5"/>
          <p:cNvSpPr/>
          <p:nvPr/>
        </p:nvSpPr>
        <p:spPr>
          <a:xfrm>
            <a:off x="594360" y="3401568"/>
            <a:ext cx="10972800" cy="1234440"/>
          </a:xfrm>
          <a:prstGeom prst="roundRect">
            <a:avLst>
              <a:gd name="adj" fmla="val 6667"/>
            </a:avLst>
          </a:prstGeom>
          <a:solidFill>
            <a:srgbClr val="0A6456"/>
          </a:solidFill>
          <a:ln w="12700">
            <a:solidFill>
              <a:srgbClr val="0A6456"/>
            </a:solidFill>
            <a:prstDash val="solid"/>
          </a:ln>
        </p:spPr>
        <p:txBody>
          <a:bodyPr/>
          <a:p/>
        </p:txBody>
      </p:sp>
      <p:sp>
        <p:nvSpPr>
          <p:cNvPr id="8" name="Text 6"/>
          <p:cNvSpPr/>
          <p:nvPr/>
        </p:nvSpPr>
        <p:spPr>
          <a:xfrm>
            <a:off x="868680" y="3602736"/>
            <a:ext cx="10424160" cy="868680"/>
          </a:xfrm>
          <a:prstGeom prst="rect">
            <a:avLst/>
          </a:prstGeom>
          <a:noFill/>
          <a:ln/>
        </p:spPr>
        <p:txBody>
          <a:bodyPr wrap="square" lIns="0" tIns="0" rIns="0" bIns="0" rtlCol="0" anchor="t"/>
          <a:lstStyle/>
          <a:p>
            <a:pPr algn="l" indent="0" marL="0">
              <a:lnSpc>
                <a:spcPts val="2300"/>
              </a:lnSpc>
              <a:buNone/>
            </a:pPr>
            <a:r>
              <a:rPr lang="en-US" sz="1650" dirty="0">
                <a:solidFill>
                  <a:srgbClr val="FFFFFF"/>
                </a:solidFill>
                <a:latin typeface="Palatino Linotype" pitchFamily="34" charset="0"/>
                <a:ea typeface="Palatino Linotype" pitchFamily="34" charset="-122"/>
                <a:cs typeface="Palatino Linotype" pitchFamily="34" charset="-120"/>
              </a:rPr>
              <a:t>Față de 2024: estimările din ani diferiți nu se compară direct, fiecare fiind raportată la media mondială a propriului an. Pe scorul 0–100, folosit pentru comparațiile în timp, valoarea a fost 48,0 în ambii ani. Nicio schimbare de interpretat.</a:t>
            </a:r>
            <a:endParaRPr lang="en-US" sz="1650" dirty="0"/>
          </a:p>
        </p:txBody>
      </p:sp>
      <p:sp>
        <p:nvSpPr>
          <p:cNvPr id="9" name="Shape 7"/>
          <p:cNvSpPr/>
          <p:nvPr/>
        </p:nvSpPr>
        <p:spPr>
          <a:xfrm>
            <a:off x="594360" y="4800600"/>
            <a:ext cx="10972800" cy="960120"/>
          </a:xfrm>
          <a:prstGeom prst="roundRect">
            <a:avLst>
              <a:gd name="adj" fmla="val 8571"/>
            </a:avLst>
          </a:prstGeom>
          <a:solidFill>
            <a:srgbClr val="FFC24B"/>
          </a:solidFill>
          <a:ln w="12700">
            <a:solidFill>
              <a:srgbClr val="FFC24B"/>
            </a:solidFill>
            <a:prstDash val="solid"/>
          </a:ln>
        </p:spPr>
        <p:txBody>
          <a:bodyPr/>
          <a:p/>
        </p:txBody>
      </p:sp>
      <p:sp>
        <p:nvSpPr>
          <p:cNvPr id="10" name="Text 8"/>
          <p:cNvSpPr/>
          <p:nvPr/>
        </p:nvSpPr>
        <p:spPr>
          <a:xfrm>
            <a:off x="868680" y="4992624"/>
            <a:ext cx="10424160" cy="621792"/>
          </a:xfrm>
          <a:prstGeom prst="rect">
            <a:avLst/>
          </a:prstGeom>
          <a:noFill/>
          <a:ln/>
        </p:spPr>
        <p:txBody>
          <a:bodyPr wrap="square" lIns="0" tIns="0" rIns="0" bIns="0" rtlCol="0" anchor="t"/>
          <a:lstStyle/>
          <a:p>
            <a:pPr algn="l" indent="0" marL="0">
              <a:lnSpc>
                <a:spcPts val="1900"/>
              </a:lnSpc>
              <a:buNone/>
            </a:pPr>
            <a:r>
              <a:rPr lang="en-US" sz="1450" b="1" dirty="0">
                <a:solidFill>
                  <a:srgbClr val="3D2A00"/>
                </a:solidFill>
                <a:latin typeface="Palatino Linotype" pitchFamily="34" charset="0"/>
                <a:ea typeface="Palatino Linotype" pitchFamily="34" charset="-122"/>
                <a:cs typeface="Palatino Linotype" pitchFamily="34" charset="-120"/>
              </a:rPr>
              <a:t>Banca Mondială publică limitele exacte ale intervalului, calculate cu valorile nerotunjite. Calculul de mână, 0,151 × 1,64, dă aceeași marjă, rotunjită.</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4A2D8C"/>
                </a:solidFill>
                <a:latin typeface="Palatino Linotype" pitchFamily="34" charset="0"/>
                <a:ea typeface="Palatino Linotype" pitchFamily="34" charset="-122"/>
                <a:cs typeface="Palatino Linotype" pitchFamily="34" charset="-120"/>
              </a:rPr>
              <a:t>INSTRUMENTUL 3 · EXPERIENȚA PROPRIE</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Singurul dintre cele trei instrumente care întreabă ce s-a întâmplat</a:t>
            </a:r>
            <a:endParaRPr lang="en-US" sz="2900" dirty="0"/>
          </a:p>
        </p:txBody>
      </p:sp>
      <p:sp>
        <p:nvSpPr>
          <p:cNvPr id="4" name="Shape 2"/>
          <p:cNvSpPr/>
          <p:nvPr/>
        </p:nvSpPr>
        <p:spPr>
          <a:xfrm>
            <a:off x="594360" y="1691640"/>
            <a:ext cx="10972800" cy="1298448"/>
          </a:xfrm>
          <a:prstGeom prst="roundRect">
            <a:avLst>
              <a:gd name="adj" fmla="val 6338"/>
            </a:avLst>
          </a:prstGeom>
          <a:solidFill>
            <a:srgbClr val="ECEAE4"/>
          </a:solidFill>
          <a:ln w="12700">
            <a:solidFill>
              <a:srgbClr val="ECEAE4"/>
            </a:solidFill>
            <a:prstDash val="solid"/>
          </a:ln>
        </p:spPr>
        <p:txBody>
          <a:bodyPr/>
          <a:p/>
        </p:txBody>
      </p:sp>
      <p:sp>
        <p:nvSpPr>
          <p:cNvPr id="5" name="Shape 3"/>
          <p:cNvSpPr/>
          <p:nvPr/>
        </p:nvSpPr>
        <p:spPr>
          <a:xfrm>
            <a:off x="868680" y="2029968"/>
            <a:ext cx="475488" cy="475488"/>
          </a:xfrm>
          <a:prstGeom prst="ellipse">
            <a:avLst/>
          </a:prstGeom>
          <a:solidFill>
            <a:srgbClr val="4A2D8C"/>
          </a:solidFill>
          <a:ln w="12700">
            <a:solidFill>
              <a:srgbClr val="4A2D8C"/>
            </a:solidFill>
            <a:prstDash val="solid"/>
          </a:ln>
        </p:spPr>
        <p:txBody>
          <a:bodyPr/>
          <a:p/>
        </p:txBody>
      </p:sp>
      <p:sp>
        <p:nvSpPr>
          <p:cNvPr id="6" name="Text 4"/>
          <p:cNvSpPr/>
          <p:nvPr/>
        </p:nvSpPr>
        <p:spPr>
          <a:xfrm>
            <a:off x="868680" y="20299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a:t>
            </a:r>
            <a:endParaRPr lang="en-US" sz="1500" dirty="0"/>
          </a:p>
        </p:txBody>
      </p:sp>
      <p:sp>
        <p:nvSpPr>
          <p:cNvPr id="7" name="Text 5"/>
          <p:cNvSpPr/>
          <p:nvPr/>
        </p:nvSpPr>
        <p:spPr>
          <a:xfrm>
            <a:off x="1554480" y="1847088"/>
            <a:ext cx="3200400" cy="310896"/>
          </a:xfrm>
          <a:prstGeom prst="rect">
            <a:avLst/>
          </a:prstGeom>
          <a:noFill/>
          <a:ln/>
        </p:spPr>
        <p:txBody>
          <a:bodyPr wrap="square" lIns="0" tIns="0" rIns="0" bIns="0" rtlCol="0" anchor="t"/>
          <a:lstStyle/>
          <a:p>
            <a:pPr algn="l" indent="0" marL="0">
              <a:lnSpc>
                <a:spcPts val="1800"/>
              </a:lnSpc>
              <a:buNone/>
            </a:pPr>
            <a:r>
              <a:rPr lang="en-US" sz="1250" b="1" dirty="0">
                <a:solidFill>
                  <a:srgbClr val="4A2D8C"/>
                </a:solidFill>
                <a:latin typeface="Palatino Linotype" pitchFamily="34" charset="0"/>
                <a:ea typeface="Palatino Linotype" pitchFamily="34" charset="-122"/>
                <a:cs typeface="Palatino Linotype" pitchFamily="34" charset="-120"/>
              </a:rPr>
              <a:t>FILTRUL</a:t>
            </a:r>
            <a:endParaRPr lang="en-US" sz="1250" dirty="0"/>
          </a:p>
        </p:txBody>
      </p:sp>
      <p:sp>
        <p:nvSpPr>
          <p:cNvPr id="8" name="Text 6"/>
          <p:cNvSpPr/>
          <p:nvPr/>
        </p:nvSpPr>
        <p:spPr>
          <a:xfrm>
            <a:off x="1554480" y="2194560"/>
            <a:ext cx="9692640" cy="658368"/>
          </a:xfrm>
          <a:prstGeom prst="rect">
            <a:avLst/>
          </a:prstGeom>
          <a:noFill/>
          <a:ln/>
        </p:spPr>
        <p:txBody>
          <a:bodyPr wrap="square" lIns="0" tIns="0" rIns="0" bIns="0" rtlCol="0" anchor="t"/>
          <a:lstStyle/>
          <a:p>
            <a:pPr algn="l" indent="0" marL="0">
              <a:lnSpc>
                <a:spcPts val="1900"/>
              </a:lnSpc>
              <a:buNone/>
            </a:pPr>
            <a:r>
              <a:rPr lang="en-US" sz="1450" dirty="0">
                <a:solidFill>
                  <a:srgbClr val="11121A"/>
                </a:solidFill>
                <a:latin typeface="Palatino Linotype" pitchFamily="34" charset="0"/>
                <a:ea typeface="Palatino Linotype" pitchFamily="34" charset="-122"/>
                <a:cs typeface="Palatino Linotype" pitchFamily="34" charset="-120"/>
              </a:rPr>
              <a:t>Ați fost, în ultimele douăsprezece luni, la un profesionist din sistemul public de sănătate, de exemplu la medicul de familie, sau într-o instituție publică de sănătate, de exemplu într-un spital public?</a:t>
            </a:r>
            <a:endParaRPr lang="en-US" sz="1450" dirty="0"/>
          </a:p>
        </p:txBody>
      </p:sp>
      <p:sp>
        <p:nvSpPr>
          <p:cNvPr id="9" name="Shape 7"/>
          <p:cNvSpPr/>
          <p:nvPr/>
        </p:nvSpPr>
        <p:spPr>
          <a:xfrm>
            <a:off x="594360" y="3127248"/>
            <a:ext cx="10972800" cy="1600200"/>
          </a:xfrm>
          <a:prstGeom prst="roundRect">
            <a:avLst>
              <a:gd name="adj" fmla="val 5143"/>
            </a:avLst>
          </a:prstGeom>
          <a:solidFill>
            <a:srgbClr val="ECEAE4"/>
          </a:solidFill>
          <a:ln w="12700">
            <a:solidFill>
              <a:srgbClr val="ECEAE4"/>
            </a:solidFill>
            <a:prstDash val="solid"/>
          </a:ln>
        </p:spPr>
        <p:txBody>
          <a:bodyPr/>
          <a:p/>
        </p:txBody>
      </p:sp>
      <p:sp>
        <p:nvSpPr>
          <p:cNvPr id="10" name="Shape 8"/>
          <p:cNvSpPr/>
          <p:nvPr/>
        </p:nvSpPr>
        <p:spPr>
          <a:xfrm>
            <a:off x="868680" y="3611880"/>
            <a:ext cx="475488" cy="475488"/>
          </a:xfrm>
          <a:prstGeom prst="ellipse">
            <a:avLst/>
          </a:prstGeom>
          <a:solidFill>
            <a:srgbClr val="B02532"/>
          </a:solidFill>
          <a:ln w="12700">
            <a:solidFill>
              <a:srgbClr val="B02532"/>
            </a:solidFill>
            <a:prstDash val="solid"/>
          </a:ln>
        </p:spPr>
        <p:txBody>
          <a:bodyPr/>
          <a:p/>
        </p:txBody>
      </p:sp>
      <p:sp>
        <p:nvSpPr>
          <p:cNvPr id="11" name="Text 9"/>
          <p:cNvSpPr/>
          <p:nvPr/>
        </p:nvSpPr>
        <p:spPr>
          <a:xfrm>
            <a:off x="868680" y="36118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2</a:t>
            </a:r>
            <a:endParaRPr lang="en-US" sz="1500" dirty="0"/>
          </a:p>
        </p:txBody>
      </p:sp>
      <p:sp>
        <p:nvSpPr>
          <p:cNvPr id="12" name="Text 10"/>
          <p:cNvSpPr/>
          <p:nvPr/>
        </p:nvSpPr>
        <p:spPr>
          <a:xfrm>
            <a:off x="1554480" y="3291840"/>
            <a:ext cx="9692640" cy="310896"/>
          </a:xfrm>
          <a:prstGeom prst="rect">
            <a:avLst/>
          </a:prstGeom>
          <a:noFill/>
          <a:ln/>
        </p:spPr>
        <p:txBody>
          <a:bodyPr wrap="square" lIns="0" tIns="0" rIns="0" bIns="0" rtlCol="0" anchor="t"/>
          <a:lstStyle/>
          <a:p>
            <a:pPr algn="l" indent="0" marL="0">
              <a:lnSpc>
                <a:spcPts val="1800"/>
              </a:lnSpc>
              <a:buNone/>
            </a:pPr>
            <a:r>
              <a:rPr lang="en-US" sz="1250" b="1" dirty="0">
                <a:solidFill>
                  <a:srgbClr val="B02532"/>
                </a:solidFill>
                <a:latin typeface="Palatino Linotype" pitchFamily="34" charset="0"/>
                <a:ea typeface="Palatino Linotype" pitchFamily="34" charset="-122"/>
                <a:cs typeface="Palatino Linotype" pitchFamily="34" charset="-120"/>
              </a:rPr>
              <a:t>ÎNTREBAREA DE EXPERIENȚĂ — pusă NUMAI celor filtrați</a:t>
            </a:r>
            <a:endParaRPr lang="en-US" sz="1250" dirty="0"/>
          </a:p>
        </p:txBody>
      </p:sp>
      <p:sp>
        <p:nvSpPr>
          <p:cNvPr id="13" name="Text 11"/>
          <p:cNvSpPr/>
          <p:nvPr/>
        </p:nvSpPr>
        <p:spPr>
          <a:xfrm>
            <a:off x="1554480" y="3639312"/>
            <a:ext cx="9692640" cy="960120"/>
          </a:xfrm>
          <a:prstGeom prst="rect">
            <a:avLst/>
          </a:prstGeom>
          <a:noFill/>
          <a:ln/>
        </p:spPr>
        <p:txBody>
          <a:bodyPr wrap="square" lIns="0" tIns="0" rIns="0" bIns="0" rtlCol="0" anchor="t"/>
          <a:lstStyle/>
          <a:p>
            <a:pPr algn="l" indent="0" marL="0">
              <a:lnSpc>
                <a:spcPts val="1900"/>
              </a:lnSpc>
              <a:buNone/>
            </a:pPr>
            <a:r>
              <a:rPr lang="en-US" sz="1450" dirty="0">
                <a:solidFill>
                  <a:srgbClr val="11121A"/>
                </a:solidFill>
                <a:latin typeface="Palatino Linotype" pitchFamily="34" charset="0"/>
                <a:ea typeface="Palatino Linotype" pitchFamily="34" charset="-122"/>
                <a:cs typeface="Palatino Linotype" pitchFamily="34" charset="-120"/>
              </a:rPr>
              <a:t>În afara taxelor oficiale, a trebuit să dați bani în plus sau un cadou de valoare unei asistente sau unui medic ori să faceți o donație spitalului?</a:t>
            </a:r>
            <a:endParaRPr lang="en-US" sz="1450" dirty="0"/>
          </a:p>
        </p:txBody>
      </p:sp>
      <p:sp>
        <p:nvSpPr>
          <p:cNvPr id="14" name="Shape 12"/>
          <p:cNvSpPr/>
          <p:nvPr/>
        </p:nvSpPr>
        <p:spPr>
          <a:xfrm>
            <a:off x="594360" y="4864608"/>
            <a:ext cx="10972800" cy="896112"/>
          </a:xfrm>
          <a:prstGeom prst="roundRect">
            <a:avLst>
              <a:gd name="adj" fmla="val 9184"/>
            </a:avLst>
          </a:prstGeom>
          <a:solidFill>
            <a:srgbClr val="EDE6FF"/>
          </a:solidFill>
          <a:ln w="12700">
            <a:solidFill>
              <a:srgbClr val="EDE6FF"/>
            </a:solidFill>
            <a:prstDash val="solid"/>
          </a:ln>
        </p:spPr>
        <p:txBody>
          <a:bodyPr/>
          <a:p/>
        </p:txBody>
      </p:sp>
      <p:sp>
        <p:nvSpPr>
          <p:cNvPr id="15" name="Text 13"/>
          <p:cNvSpPr/>
          <p:nvPr/>
        </p:nvSpPr>
        <p:spPr>
          <a:xfrm>
            <a:off x="868680" y="5047488"/>
            <a:ext cx="10424160" cy="566928"/>
          </a:xfrm>
          <a:prstGeom prst="rect">
            <a:avLst/>
          </a:prstGeom>
          <a:noFill/>
          <a:ln/>
        </p:spPr>
        <p:txBody>
          <a:bodyPr wrap="square" lIns="0" tIns="0" rIns="0" bIns="0" rtlCol="0" anchor="t"/>
          <a:lstStyle/>
          <a:p>
            <a:pPr algn="l" indent="0" marL="0">
              <a:lnSpc>
                <a:spcPts val="1900"/>
              </a:lnSpc>
              <a:buNone/>
            </a:pPr>
            <a:r>
              <a:rPr lang="en-US" sz="1450" b="1" dirty="0">
                <a:solidFill>
                  <a:srgbClr val="4A2D8C"/>
                </a:solidFill>
                <a:latin typeface="Palatino Linotype" pitchFamily="34" charset="0"/>
                <a:ea typeface="Palatino Linotype" pitchFamily="34" charset="-122"/>
                <a:cs typeface="Palatino Linotype" pitchFamily="34" charset="-120"/>
              </a:rPr>
              <a:t>Rețineți structura: numitorul întrebării 2 NU este populația generală, ci subgrupul care a trecut de filtrul 1. Aici se află capcanele din diapozitivele următoare.</a:t>
            </a:r>
            <a:endParaRPr lang="en-US" sz="1450" dirty="0"/>
          </a:p>
        </p:txBody>
      </p:sp>
      <p:sp>
        <p:nvSpPr>
          <p:cNvPr id="16" name="Text 14"/>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Eurobarometrele speciale 397, 470, 502, 523 și 534: aceeași formulare a întrebării de experiență în versiunea engleză, 2013–2023; versiunea română nu a fost verificată [TI]</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4757"/>
                </a:solidFill>
                <a:latin typeface="Palatino Linotype" pitchFamily="34" charset="0"/>
                <a:ea typeface="Palatino Linotype" pitchFamily="34" charset="-122"/>
                <a:cs typeface="Palatino Linotype" pitchFamily="34" charset="-120"/>
              </a:rPr>
              <a:t>EXPERIENȚA PROPRIE · ROMÂNIA ȘI UE-27</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Două valuri, două perechi de cifre</a:t>
            </a:r>
            <a:endParaRPr lang="en-US" sz="3000" dirty="0"/>
          </a:p>
        </p:txBody>
      </p:sp>
      <p:sp>
        <p:nvSpPr>
          <p:cNvPr id="4" name="Text 2"/>
          <p:cNvSpPr/>
          <p:nvPr/>
        </p:nvSpPr>
        <p:spPr>
          <a:xfrm>
            <a:off x="594360" y="2057400"/>
            <a:ext cx="329184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VALUL</a:t>
            </a:r>
            <a:endParaRPr lang="en-US" sz="1050" dirty="0"/>
          </a:p>
        </p:txBody>
      </p:sp>
      <p:sp>
        <p:nvSpPr>
          <p:cNvPr id="5" name="Text 3"/>
          <p:cNvSpPr/>
          <p:nvPr/>
        </p:nvSpPr>
        <p:spPr>
          <a:xfrm>
            <a:off x="3886200" y="2057400"/>
            <a:ext cx="292608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TEREN ÎN ROMÂNIA</a:t>
            </a:r>
            <a:endParaRPr lang="en-US" sz="1050" dirty="0"/>
          </a:p>
        </p:txBody>
      </p:sp>
      <p:sp>
        <p:nvSpPr>
          <p:cNvPr id="6" name="Text 4"/>
          <p:cNvSpPr/>
          <p:nvPr/>
        </p:nvSpPr>
        <p:spPr>
          <a:xfrm>
            <a:off x="6812280" y="2057400"/>
            <a:ext cx="237744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ROMÂNIA</a:t>
            </a:r>
            <a:endParaRPr lang="en-US" sz="1050" dirty="0"/>
          </a:p>
        </p:txBody>
      </p:sp>
      <p:sp>
        <p:nvSpPr>
          <p:cNvPr id="7" name="Text 5"/>
          <p:cNvSpPr/>
          <p:nvPr/>
        </p:nvSpPr>
        <p:spPr>
          <a:xfrm>
            <a:off x="9189720" y="2057400"/>
            <a:ext cx="237744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MEDIA UE-27</a:t>
            </a:r>
            <a:endParaRPr lang="en-US" sz="1050" dirty="0"/>
          </a:p>
        </p:txBody>
      </p:sp>
      <p:sp>
        <p:nvSpPr>
          <p:cNvPr id="8" name="Shape 6"/>
          <p:cNvSpPr/>
          <p:nvPr/>
        </p:nvSpPr>
        <p:spPr>
          <a:xfrm>
            <a:off x="594360" y="2459736"/>
            <a:ext cx="10972800" cy="667512"/>
          </a:xfrm>
          <a:prstGeom prst="roundRect">
            <a:avLst>
              <a:gd name="adj" fmla="val 12329"/>
            </a:avLst>
          </a:prstGeom>
          <a:solidFill>
            <a:srgbClr val="1D1F2B"/>
          </a:solidFill>
          <a:ln w="12700">
            <a:solidFill>
              <a:srgbClr val="1D1F2B"/>
            </a:solidFill>
            <a:prstDash val="solid"/>
          </a:ln>
        </p:spPr>
        <p:txBody>
          <a:bodyPr/>
          <a:p/>
        </p:txBody>
      </p:sp>
      <p:sp>
        <p:nvSpPr>
          <p:cNvPr id="9" name="Text 7"/>
          <p:cNvSpPr/>
          <p:nvPr/>
        </p:nvSpPr>
        <p:spPr>
          <a:xfrm>
            <a:off x="868680" y="2459736"/>
            <a:ext cx="3017520" cy="667512"/>
          </a:xfrm>
          <a:prstGeom prst="rect">
            <a:avLst/>
          </a:prstGeom>
          <a:noFill/>
          <a:ln/>
        </p:spPr>
        <p:txBody>
          <a:bodyPr wrap="square" lIns="0" tIns="0" rIns="0" bIns="0" rtlCol="0" anchor="ctr"/>
          <a:lstStyle/>
          <a:p>
            <a:pPr indent="0" marL="0">
              <a:lnSpc>
                <a:spcPts val="1600"/>
              </a:lnSpc>
              <a:buNone/>
            </a:pPr>
            <a:r>
              <a:rPr lang="en-US" sz="1500" b="1" dirty="0">
                <a:solidFill>
                  <a:srgbClr val="FFFFFF"/>
                </a:solidFill>
                <a:latin typeface="Palatino Linotype" pitchFamily="34" charset="0"/>
                <a:ea typeface="Palatino Linotype" pitchFamily="34" charset="-122"/>
                <a:cs typeface="Palatino Linotype" pitchFamily="34" charset="-120"/>
              </a:rPr>
              <a:t>Special EB 523</a:t>
            </a:r>
            <a:endParaRPr lang="en-US" sz="1500" dirty="0"/>
          </a:p>
        </p:txBody>
      </p:sp>
      <p:sp>
        <p:nvSpPr>
          <p:cNvPr id="10" name="Text 8"/>
          <p:cNvSpPr/>
          <p:nvPr/>
        </p:nvSpPr>
        <p:spPr>
          <a:xfrm>
            <a:off x="3886200" y="2459736"/>
            <a:ext cx="274320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22 mar. – 15 apr. 2022</a:t>
            </a:r>
            <a:endParaRPr lang="en-US" sz="1500" dirty="0"/>
          </a:p>
        </p:txBody>
      </p:sp>
      <p:sp>
        <p:nvSpPr>
          <p:cNvPr id="11" name="Text 9"/>
          <p:cNvSpPr/>
          <p:nvPr/>
        </p:nvSpPr>
        <p:spPr>
          <a:xfrm>
            <a:off x="6812280" y="2459736"/>
            <a:ext cx="219456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18%</a:t>
            </a:r>
            <a:endParaRPr lang="en-US" sz="1500" dirty="0"/>
          </a:p>
        </p:txBody>
      </p:sp>
      <p:sp>
        <p:nvSpPr>
          <p:cNvPr id="12" name="Text 10"/>
          <p:cNvSpPr/>
          <p:nvPr/>
        </p:nvSpPr>
        <p:spPr>
          <a:xfrm>
            <a:off x="9189720" y="2459736"/>
            <a:ext cx="219456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4%</a:t>
            </a:r>
            <a:endParaRPr lang="en-US" sz="1500" dirty="0"/>
          </a:p>
        </p:txBody>
      </p:sp>
      <p:sp>
        <p:nvSpPr>
          <p:cNvPr id="13" name="Text 11"/>
          <p:cNvSpPr/>
          <p:nvPr/>
        </p:nvSpPr>
        <p:spPr>
          <a:xfrm>
            <a:off x="868680" y="3172968"/>
            <a:ext cx="3017520" cy="667512"/>
          </a:xfrm>
          <a:prstGeom prst="rect">
            <a:avLst/>
          </a:prstGeom>
          <a:noFill/>
          <a:ln/>
        </p:spPr>
        <p:txBody>
          <a:bodyPr wrap="square" lIns="0" tIns="0" rIns="0" bIns="0" rtlCol="0" anchor="ctr"/>
          <a:lstStyle/>
          <a:p>
            <a:pPr indent="0" marL="0">
              <a:lnSpc>
                <a:spcPts val="1600"/>
              </a:lnSpc>
              <a:buNone/>
            </a:pPr>
            <a:r>
              <a:rPr lang="en-US" sz="1500" b="1" dirty="0">
                <a:solidFill>
                  <a:srgbClr val="FFFFFF"/>
                </a:solidFill>
                <a:latin typeface="Palatino Linotype" pitchFamily="34" charset="0"/>
                <a:ea typeface="Palatino Linotype" pitchFamily="34" charset="-122"/>
                <a:cs typeface="Palatino Linotype" pitchFamily="34" charset="-120"/>
              </a:rPr>
              <a:t>Special EB 534</a:t>
            </a:r>
            <a:endParaRPr lang="en-US" sz="1500" dirty="0"/>
          </a:p>
        </p:txBody>
      </p:sp>
      <p:sp>
        <p:nvSpPr>
          <p:cNvPr id="14" name="Text 12"/>
          <p:cNvSpPr/>
          <p:nvPr/>
        </p:nvSpPr>
        <p:spPr>
          <a:xfrm>
            <a:off x="3886200" y="3172968"/>
            <a:ext cx="274320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16 apr. – 5 mai 2023</a:t>
            </a:r>
            <a:endParaRPr lang="en-US" sz="1500" dirty="0"/>
          </a:p>
        </p:txBody>
      </p:sp>
      <p:sp>
        <p:nvSpPr>
          <p:cNvPr id="15" name="Text 13"/>
          <p:cNvSpPr/>
          <p:nvPr/>
        </p:nvSpPr>
        <p:spPr>
          <a:xfrm>
            <a:off x="6812280" y="3172968"/>
            <a:ext cx="219456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9%</a:t>
            </a:r>
            <a:endParaRPr lang="en-US" sz="1500" dirty="0"/>
          </a:p>
        </p:txBody>
      </p:sp>
      <p:sp>
        <p:nvSpPr>
          <p:cNvPr id="16" name="Text 14"/>
          <p:cNvSpPr/>
          <p:nvPr/>
        </p:nvSpPr>
        <p:spPr>
          <a:xfrm>
            <a:off x="9189720" y="3172968"/>
            <a:ext cx="219456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3%</a:t>
            </a:r>
            <a:endParaRPr lang="en-US" sz="1500" dirty="0"/>
          </a:p>
        </p:txBody>
      </p:sp>
      <p:sp>
        <p:nvSpPr>
          <p:cNvPr id="17" name="Shape 15"/>
          <p:cNvSpPr/>
          <p:nvPr/>
        </p:nvSpPr>
        <p:spPr>
          <a:xfrm>
            <a:off x="594360" y="4005072"/>
            <a:ext cx="5349240" cy="1700784"/>
          </a:xfrm>
          <a:prstGeom prst="roundRect">
            <a:avLst>
              <a:gd name="adj" fmla="val 4839"/>
            </a:avLst>
          </a:prstGeom>
          <a:solidFill>
            <a:srgbClr val="1D1F2B"/>
          </a:solidFill>
          <a:ln w="12700">
            <a:solidFill>
              <a:srgbClr val="1D1F2B"/>
            </a:solidFill>
            <a:prstDash val="solid"/>
          </a:ln>
        </p:spPr>
        <p:txBody>
          <a:bodyPr/>
          <a:p/>
        </p:txBody>
      </p:sp>
      <p:sp>
        <p:nvSpPr>
          <p:cNvPr id="18" name="Text 16"/>
          <p:cNvSpPr/>
          <p:nvPr/>
        </p:nvSpPr>
        <p:spPr>
          <a:xfrm>
            <a:off x="868680" y="4169664"/>
            <a:ext cx="480060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FF4757"/>
                </a:solidFill>
                <a:latin typeface="Palatino Linotype" pitchFamily="34" charset="0"/>
                <a:ea typeface="Palatino Linotype" pitchFamily="34" charset="-122"/>
                <a:cs typeface="Palatino Linotype" pitchFamily="34" charset="-120"/>
              </a:rPr>
              <a:t>VALUL 2022</a:t>
            </a:r>
            <a:endParaRPr lang="en-US" sz="1000" dirty="0"/>
          </a:p>
        </p:txBody>
      </p:sp>
      <p:sp>
        <p:nvSpPr>
          <p:cNvPr id="19" name="Text 17"/>
          <p:cNvSpPr/>
          <p:nvPr/>
        </p:nvSpPr>
        <p:spPr>
          <a:xfrm>
            <a:off x="868680" y="4480560"/>
            <a:ext cx="4800600" cy="1097280"/>
          </a:xfrm>
          <a:prstGeom prst="rect">
            <a:avLst/>
          </a:prstGeom>
          <a:noFill/>
          <a:ln/>
        </p:spPr>
        <p:txBody>
          <a:bodyPr wrap="square" lIns="0" tIns="0" rIns="0" bIns="0" rtlCol="0" anchor="t"/>
          <a:lstStyle/>
          <a:p>
            <a:pPr algn="l" indent="0" marL="0">
              <a:lnSpc>
                <a:spcPts val="2000"/>
              </a:lnSpc>
              <a:buNone/>
            </a:pPr>
            <a:r>
              <a:rPr lang="en-US" sz="1400" dirty="0">
                <a:solidFill>
                  <a:srgbClr val="959BB0"/>
                </a:solidFill>
                <a:latin typeface="Palatino Linotype" pitchFamily="34" charset="0"/>
                <a:ea typeface="Palatino Linotype" pitchFamily="34" charset="-122"/>
                <a:cs typeface="Palatino Linotype" pitchFamily="34" charset="-120"/>
              </a:rPr>
              <a:t>26 509 interviuri în UE; în România, 1 038, față în față. Valoarea României, cea mai mare din Uniune.</a:t>
            </a:r>
            <a:endParaRPr lang="en-US" sz="1400" dirty="0"/>
          </a:p>
        </p:txBody>
      </p:sp>
      <p:sp>
        <p:nvSpPr>
          <p:cNvPr id="20" name="Shape 18"/>
          <p:cNvSpPr/>
          <p:nvPr/>
        </p:nvSpPr>
        <p:spPr>
          <a:xfrm>
            <a:off x="6217920" y="4005072"/>
            <a:ext cx="5349240" cy="1700784"/>
          </a:xfrm>
          <a:prstGeom prst="roundRect">
            <a:avLst>
              <a:gd name="adj" fmla="val 4839"/>
            </a:avLst>
          </a:prstGeom>
          <a:solidFill>
            <a:srgbClr val="1D1F2B"/>
          </a:solidFill>
          <a:ln w="12700">
            <a:solidFill>
              <a:srgbClr val="1D1F2B"/>
            </a:solidFill>
            <a:prstDash val="solid"/>
          </a:ln>
        </p:spPr>
        <p:txBody>
          <a:bodyPr/>
          <a:p/>
        </p:txBody>
      </p:sp>
      <p:sp>
        <p:nvSpPr>
          <p:cNvPr id="21" name="Text 19"/>
          <p:cNvSpPr/>
          <p:nvPr/>
        </p:nvSpPr>
        <p:spPr>
          <a:xfrm>
            <a:off x="6492240" y="4169664"/>
            <a:ext cx="480060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7D3BE"/>
                </a:solidFill>
                <a:latin typeface="Palatino Linotype" pitchFamily="34" charset="0"/>
                <a:ea typeface="Palatino Linotype" pitchFamily="34" charset="-122"/>
                <a:cs typeface="Palatino Linotype" pitchFamily="34" charset="-120"/>
              </a:rPr>
              <a:t>VALUL 2023</a:t>
            </a:r>
            <a:endParaRPr lang="en-US" sz="1000" dirty="0"/>
          </a:p>
        </p:txBody>
      </p:sp>
      <p:sp>
        <p:nvSpPr>
          <p:cNvPr id="22" name="Text 20"/>
          <p:cNvSpPr/>
          <p:nvPr/>
        </p:nvSpPr>
        <p:spPr>
          <a:xfrm>
            <a:off x="6492240" y="4480560"/>
            <a:ext cx="4800600" cy="1097280"/>
          </a:xfrm>
          <a:prstGeom prst="rect">
            <a:avLst/>
          </a:prstGeom>
          <a:noFill/>
          <a:ln/>
        </p:spPr>
        <p:txBody>
          <a:bodyPr wrap="square" lIns="0" tIns="0" rIns="0" bIns="0" rtlCol="0" anchor="t"/>
          <a:lstStyle/>
          <a:p>
            <a:pPr algn="l" indent="0" marL="0">
              <a:lnSpc>
                <a:spcPts val="2000"/>
              </a:lnSpc>
              <a:buNone/>
            </a:pPr>
            <a:r>
              <a:rPr lang="en-US" sz="1400" dirty="0">
                <a:solidFill>
                  <a:srgbClr val="959BB0"/>
                </a:solidFill>
                <a:latin typeface="Palatino Linotype" pitchFamily="34" charset="0"/>
                <a:ea typeface="Palatino Linotype" pitchFamily="34" charset="-122"/>
                <a:cs typeface="Palatino Linotype" pitchFamily="34" charset="-120"/>
              </a:rPr>
              <a:t>26 404 interviuri în UE; în România, 1 053, față în față. România, a doua după Grecia (14%).</a:t>
            </a:r>
            <a:endParaRPr lang="en-US" sz="1400" dirty="0"/>
          </a:p>
        </p:txBody>
      </p:sp>
      <p:sp>
        <p:nvSpPr>
          <p:cNvPr id="23" name="Text 21"/>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Comisia Europeană, Special Eurobarometer 523 (2022) și 534 (2023): rapoartele și tabelele Volumului A [TI]</a:t>
            </a:r>
            <a:endParaRPr lang="en-US" sz="95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A"/>
        </a:solidFill>
      </p:bgPr>
    </p:bg>
    <p:spTree>
      <p:nvGrpSpPr>
        <p:cNvPr id="1" name=""/>
        <p:cNvGrpSpPr/>
        <p:nvPr/>
      </p:nvGrpSpPr>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C24B"/>
                </a:solidFill>
                <a:latin typeface="Palatino Linotype" pitchFamily="34" charset="0"/>
                <a:ea typeface="Palatino Linotype" pitchFamily="34" charset="-122"/>
                <a:cs typeface="Palatino Linotype" pitchFamily="34" charset="-120"/>
              </a:rPr>
              <a:t>EXPERIENȚA PROPRIE · ROMÂNI CU CONTACT CU SISTEMUL PUBLIC DE SĂNĂTATE · 2013–2023</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Același item, cinci valuri</a:t>
            </a:r>
            <a:endParaRPr lang="en-US" sz="3000" dirty="0"/>
          </a:p>
        </p:txBody>
      </p:sp>
      <p:sp>
        <p:nvSpPr>
          <p:cNvPr id="4" name="Text 2"/>
          <p:cNvSpPr/>
          <p:nvPr/>
        </p:nvSpPr>
        <p:spPr>
          <a:xfrm>
            <a:off x="594360" y="1783080"/>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2013 · 28%</a:t>
            </a:r>
            <a:endParaRPr lang="en-US" sz="1300" dirty="0"/>
          </a:p>
        </p:txBody>
      </p:sp>
      <p:sp>
        <p:nvSpPr>
          <p:cNvPr id="5" name="Shape 3"/>
          <p:cNvSpPr/>
          <p:nvPr/>
        </p:nvSpPr>
        <p:spPr>
          <a:xfrm>
            <a:off x="3017520" y="1828800"/>
            <a:ext cx="6144768" cy="329184"/>
          </a:xfrm>
          <a:prstGeom prst="roundRect">
            <a:avLst>
              <a:gd name="adj" fmla="val 13889"/>
            </a:avLst>
          </a:prstGeom>
          <a:solidFill>
            <a:srgbClr val="959BB0"/>
          </a:solidFill>
          <a:ln w="12700">
            <a:solidFill>
              <a:srgbClr val="959BB0"/>
            </a:solidFill>
            <a:prstDash val="solid"/>
          </a:ln>
        </p:spPr>
        <p:txBody>
          <a:bodyPr/>
          <a:p/>
        </p:txBody>
      </p:sp>
      <p:sp>
        <p:nvSpPr>
          <p:cNvPr id="6" name="Text 4"/>
          <p:cNvSpPr/>
          <p:nvPr/>
        </p:nvSpPr>
        <p:spPr>
          <a:xfrm>
            <a:off x="9290304" y="1828800"/>
            <a:ext cx="1097280" cy="329184"/>
          </a:xfrm>
          <a:prstGeom prst="rect">
            <a:avLst/>
          </a:prstGeom>
          <a:noFill/>
          <a:ln/>
        </p:spPr>
        <p:txBody>
          <a:bodyPr wrap="square" lIns="0" tIns="0" rIns="0" bIns="0" rtlCol="0" anchor="ctr"/>
          <a:lstStyle/>
          <a:p>
            <a:pPr algn="l" indent="0" marL="0">
              <a:buNone/>
            </a:pPr>
            <a:r>
              <a:rPr lang="en-US" sz="1350" b="1" dirty="0">
                <a:solidFill>
                  <a:srgbClr val="959BB0"/>
                </a:solidFill>
                <a:latin typeface="Palatino Linotype" pitchFamily="34" charset="0"/>
                <a:ea typeface="Palatino Linotype" pitchFamily="34" charset="-122"/>
                <a:cs typeface="Palatino Linotype" pitchFamily="34" charset="-120"/>
              </a:rPr>
              <a:t>28%</a:t>
            </a:r>
            <a:endParaRPr lang="en-US" sz="1350" dirty="0"/>
          </a:p>
        </p:txBody>
      </p:sp>
      <p:sp>
        <p:nvSpPr>
          <p:cNvPr id="7" name="Text 5"/>
          <p:cNvSpPr/>
          <p:nvPr/>
        </p:nvSpPr>
        <p:spPr>
          <a:xfrm>
            <a:off x="594360" y="2514600"/>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2017 · 19%</a:t>
            </a:r>
            <a:endParaRPr lang="en-US" sz="1300" dirty="0"/>
          </a:p>
        </p:txBody>
      </p:sp>
      <p:sp>
        <p:nvSpPr>
          <p:cNvPr id="8" name="Shape 6"/>
          <p:cNvSpPr/>
          <p:nvPr/>
        </p:nvSpPr>
        <p:spPr>
          <a:xfrm>
            <a:off x="3017520" y="2560320"/>
            <a:ext cx="4169663" cy="329184"/>
          </a:xfrm>
          <a:prstGeom prst="roundRect">
            <a:avLst>
              <a:gd name="adj" fmla="val 13889"/>
            </a:avLst>
          </a:prstGeom>
          <a:solidFill>
            <a:srgbClr val="959BB0"/>
          </a:solidFill>
          <a:ln w="12700">
            <a:solidFill>
              <a:srgbClr val="959BB0"/>
            </a:solidFill>
            <a:prstDash val="solid"/>
          </a:ln>
        </p:spPr>
        <p:txBody>
          <a:bodyPr/>
          <a:p/>
        </p:txBody>
      </p:sp>
      <p:sp>
        <p:nvSpPr>
          <p:cNvPr id="9" name="Text 7"/>
          <p:cNvSpPr/>
          <p:nvPr/>
        </p:nvSpPr>
        <p:spPr>
          <a:xfrm>
            <a:off x="7315199" y="2560320"/>
            <a:ext cx="1097280" cy="329184"/>
          </a:xfrm>
          <a:prstGeom prst="rect">
            <a:avLst/>
          </a:prstGeom>
          <a:noFill/>
          <a:ln/>
        </p:spPr>
        <p:txBody>
          <a:bodyPr wrap="square" lIns="0" tIns="0" rIns="0" bIns="0" rtlCol="0" anchor="ctr"/>
          <a:lstStyle/>
          <a:p>
            <a:pPr algn="l" indent="0" marL="0">
              <a:buNone/>
            </a:pPr>
            <a:r>
              <a:rPr lang="en-US" sz="1350" b="1" dirty="0">
                <a:solidFill>
                  <a:srgbClr val="959BB0"/>
                </a:solidFill>
                <a:latin typeface="Palatino Linotype" pitchFamily="34" charset="0"/>
                <a:ea typeface="Palatino Linotype" pitchFamily="34" charset="-122"/>
                <a:cs typeface="Palatino Linotype" pitchFamily="34" charset="-120"/>
              </a:rPr>
              <a:t>19%</a:t>
            </a:r>
            <a:endParaRPr lang="en-US" sz="1350" dirty="0"/>
          </a:p>
        </p:txBody>
      </p:sp>
      <p:sp>
        <p:nvSpPr>
          <p:cNvPr id="13" name="Text 11"/>
          <p:cNvSpPr/>
          <p:nvPr/>
        </p:nvSpPr>
        <p:spPr>
          <a:xfrm>
            <a:off x="594360" y="3246120"/>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2019 · 19%</a:t>
            </a:r>
            <a:endParaRPr lang="en-US" sz="1300" dirty="0"/>
          </a:p>
        </p:txBody>
      </p:sp>
      <p:sp>
        <p:nvSpPr>
          <p:cNvPr id="14" name="Shape 12"/>
          <p:cNvSpPr/>
          <p:nvPr/>
        </p:nvSpPr>
        <p:spPr>
          <a:xfrm>
            <a:off x="3017520" y="3291839"/>
            <a:ext cx="4169663" cy="329184"/>
          </a:xfrm>
          <a:prstGeom prst="roundRect">
            <a:avLst>
              <a:gd name="adj" fmla="val 13889"/>
            </a:avLst>
          </a:prstGeom>
          <a:solidFill>
            <a:srgbClr val="959BB0"/>
          </a:solidFill>
          <a:ln w="12700">
            <a:solidFill>
              <a:srgbClr val="959BB0"/>
            </a:solidFill>
            <a:prstDash val="solid"/>
          </a:ln>
        </p:spPr>
        <p:txBody>
          <a:bodyPr/>
          <a:p/>
        </p:txBody>
      </p:sp>
      <p:sp>
        <p:nvSpPr>
          <p:cNvPr id="15" name="Text 13"/>
          <p:cNvSpPr/>
          <p:nvPr/>
        </p:nvSpPr>
        <p:spPr>
          <a:xfrm>
            <a:off x="7315199" y="3291839"/>
            <a:ext cx="1097280" cy="329184"/>
          </a:xfrm>
          <a:prstGeom prst="rect">
            <a:avLst/>
          </a:prstGeom>
          <a:noFill/>
          <a:ln/>
        </p:spPr>
        <p:txBody>
          <a:bodyPr wrap="square" lIns="0" tIns="0" rIns="0" bIns="0" rtlCol="0" anchor="ctr"/>
          <a:lstStyle/>
          <a:p>
            <a:pPr algn="l" indent="0" marL="0">
              <a:buNone/>
            </a:pPr>
            <a:r>
              <a:rPr lang="en-US" sz="1350" b="1" dirty="0">
                <a:solidFill>
                  <a:srgbClr val="959BB0"/>
                </a:solidFill>
                <a:latin typeface="Palatino Linotype" pitchFamily="34" charset="0"/>
                <a:ea typeface="Palatino Linotype" pitchFamily="34" charset="-122"/>
                <a:cs typeface="Palatino Linotype" pitchFamily="34" charset="-120"/>
              </a:rPr>
              <a:t>19%</a:t>
            </a:r>
            <a:endParaRPr lang="en-US" sz="1350" dirty="0"/>
          </a:p>
        </p:txBody>
      </p:sp>
      <p:sp>
        <p:nvSpPr>
          <p:cNvPr id="22" name="Text 20"/>
          <p:cNvSpPr/>
          <p:nvPr/>
        </p:nvSpPr>
        <p:spPr>
          <a:xfrm>
            <a:off x="594360" y="3977639"/>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2022 · 18%</a:t>
            </a:r>
            <a:endParaRPr lang="en-US" sz="1300" dirty="0"/>
          </a:p>
        </p:txBody>
      </p:sp>
      <p:sp>
        <p:nvSpPr>
          <p:cNvPr id="23" name="Shape 21"/>
          <p:cNvSpPr/>
          <p:nvPr/>
        </p:nvSpPr>
        <p:spPr>
          <a:xfrm>
            <a:off x="3017520" y="4023359"/>
            <a:ext cx="3950208" cy="329184"/>
          </a:xfrm>
          <a:prstGeom prst="roundRect">
            <a:avLst>
              <a:gd name="adj" fmla="val 13889"/>
            </a:avLst>
          </a:prstGeom>
          <a:solidFill>
            <a:srgbClr val="FFC24B"/>
          </a:solidFill>
          <a:ln w="12700">
            <a:solidFill>
              <a:srgbClr val="FFC24B"/>
            </a:solidFill>
            <a:prstDash val="solid"/>
          </a:ln>
        </p:spPr>
        <p:txBody>
          <a:bodyPr/>
          <a:p/>
        </p:txBody>
      </p:sp>
      <p:sp>
        <p:nvSpPr>
          <p:cNvPr id="24" name="Text 22"/>
          <p:cNvSpPr/>
          <p:nvPr/>
        </p:nvSpPr>
        <p:spPr>
          <a:xfrm>
            <a:off x="7095744" y="4023359"/>
            <a:ext cx="1097280" cy="329184"/>
          </a:xfrm>
          <a:prstGeom prst="rect">
            <a:avLst/>
          </a:prstGeom>
          <a:noFill/>
          <a:ln/>
        </p:spPr>
        <p:txBody>
          <a:bodyPr wrap="square" lIns="0" tIns="0" rIns="0" bIns="0" rtlCol="0" anchor="ctr"/>
          <a:lstStyle/>
          <a:p>
            <a:pPr algn="l" indent="0" marL="0">
              <a:buNone/>
            </a:pPr>
            <a:r>
              <a:rPr lang="en-US" sz="1350" b="1" dirty="0">
                <a:solidFill>
                  <a:srgbClr val="FFC24B"/>
                </a:solidFill>
                <a:latin typeface="Palatino Linotype" pitchFamily="34" charset="0"/>
                <a:ea typeface="Palatino Linotype" pitchFamily="34" charset="-122"/>
                <a:cs typeface="Palatino Linotype" pitchFamily="34" charset="-120"/>
              </a:rPr>
              <a:t>18%</a:t>
            </a:r>
            <a:endParaRPr lang="en-US" sz="1350" dirty="0"/>
          </a:p>
        </p:txBody>
      </p:sp>
      <p:sp>
        <p:nvSpPr>
          <p:cNvPr id="25" name="Text 23"/>
          <p:cNvSpPr/>
          <p:nvPr/>
        </p:nvSpPr>
        <p:spPr>
          <a:xfrm>
            <a:off x="594360" y="4709160"/>
            <a:ext cx="2194560" cy="402336"/>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2023 · 9%</a:t>
            </a:r>
            <a:endParaRPr lang="en-US" sz="1300" dirty="0"/>
          </a:p>
        </p:txBody>
      </p:sp>
      <p:sp>
        <p:nvSpPr>
          <p:cNvPr id="26" name="Shape 24"/>
          <p:cNvSpPr/>
          <p:nvPr/>
        </p:nvSpPr>
        <p:spPr>
          <a:xfrm>
            <a:off x="3017520" y="4754880"/>
            <a:ext cx="1975104" cy="329184"/>
          </a:xfrm>
          <a:prstGeom prst="roundRect">
            <a:avLst>
              <a:gd name="adj" fmla="val 13889"/>
            </a:avLst>
          </a:prstGeom>
          <a:solidFill>
            <a:srgbClr val="FF4757"/>
          </a:solidFill>
          <a:ln w="12700">
            <a:solidFill>
              <a:srgbClr val="FF4757"/>
            </a:solidFill>
            <a:prstDash val="solid"/>
          </a:ln>
        </p:spPr>
        <p:txBody>
          <a:bodyPr/>
          <a:p/>
        </p:txBody>
      </p:sp>
      <p:sp>
        <p:nvSpPr>
          <p:cNvPr id="27" name="Text 25"/>
          <p:cNvSpPr/>
          <p:nvPr/>
        </p:nvSpPr>
        <p:spPr>
          <a:xfrm>
            <a:off x="5120640" y="4754880"/>
            <a:ext cx="1097280" cy="329184"/>
          </a:xfrm>
          <a:prstGeom prst="rect">
            <a:avLst/>
          </a:prstGeom>
          <a:noFill/>
          <a:ln/>
        </p:spPr>
        <p:txBody>
          <a:bodyPr wrap="square" lIns="0" tIns="0" rIns="0" bIns="0" rtlCol="0" anchor="ctr"/>
          <a:lstStyle/>
          <a:p>
            <a:pPr algn="l" indent="0" marL="0">
              <a:buNone/>
            </a:pPr>
            <a:r>
              <a:rPr lang="en-US" sz="1350" b="1" dirty="0">
                <a:solidFill>
                  <a:srgbClr val="FF4757"/>
                </a:solidFill>
                <a:latin typeface="Palatino Linotype" pitchFamily="34" charset="0"/>
                <a:ea typeface="Palatino Linotype" pitchFamily="34" charset="-122"/>
                <a:cs typeface="Palatino Linotype" pitchFamily="34" charset="-120"/>
              </a:rPr>
              <a:t>9%</a:t>
            </a:r>
            <a:endParaRPr lang="en-US" sz="1350" dirty="0"/>
          </a:p>
        </p:txBody>
      </p:sp>
      <p:sp>
        <p:nvSpPr>
          <p:cNvPr id="28" name="Shape 26"/>
          <p:cNvSpPr/>
          <p:nvPr/>
        </p:nvSpPr>
        <p:spPr>
          <a:xfrm>
            <a:off x="594360" y="5532120"/>
            <a:ext cx="10972800" cy="731520"/>
          </a:xfrm>
          <a:prstGeom prst="roundRect">
            <a:avLst>
              <a:gd name="adj" fmla="val 13636"/>
            </a:avLst>
          </a:prstGeom>
          <a:solidFill>
            <a:srgbClr val="1D1F2B"/>
          </a:solidFill>
          <a:ln w="12700">
            <a:solidFill>
              <a:srgbClr val="1D1F2B"/>
            </a:solidFill>
            <a:prstDash val="solid"/>
          </a:ln>
        </p:spPr>
        <p:txBody>
          <a:bodyPr/>
          <a:p/>
        </p:txBody>
      </p:sp>
      <p:sp>
        <p:nvSpPr>
          <p:cNvPr id="29" name="Text 27"/>
          <p:cNvSpPr/>
          <p:nvPr/>
        </p:nvSpPr>
        <p:spPr>
          <a:xfrm>
            <a:off x="868680" y="5605272"/>
            <a:ext cx="10424160" cy="566928"/>
          </a:xfrm>
          <a:prstGeom prst="rect">
            <a:avLst/>
          </a:prstGeom>
          <a:noFill/>
          <a:ln/>
        </p:spPr>
        <p:txBody>
          <a:bodyPr wrap="square" lIns="0" tIns="0" rIns="0" bIns="0" rtlCol="0" anchor="t"/>
          <a:lstStyle/>
          <a:p>
            <a:pPr algn="l" indent="0" marL="0">
              <a:lnSpc>
                <a:spcPts val="1800"/>
              </a:lnSpc>
              <a:buNone/>
            </a:pPr>
            <a:r>
              <a:rPr lang="en-US" sz="1400" b="1" dirty="0">
                <a:solidFill>
                  <a:srgbClr val="FFC24B"/>
                </a:solidFill>
                <a:latin typeface="Palatino Linotype" pitchFamily="34" charset="0"/>
                <a:ea typeface="Palatino Linotype" pitchFamily="34" charset="-122"/>
                <a:cs typeface="Palatino Linotype" pitchFamily="34" charset="-120"/>
              </a:rPr>
              <a:t>Procent din respondenții care au fost, în ultimele 12 luni, la un profesionist sau într-o instituție din sistemul public de sănătate. Prima în UE în 2013, 2017, 2019 și 2022; a doua în 2023. Tabelele publicate nu dau intervale de încredere pe țară.</a:t>
            </a:r>
            <a:endParaRPr lang="en-US" sz="1400" dirty="0"/>
          </a:p>
        </p:txBody>
      </p:sp>
      <p:sp>
        <p:nvSpPr>
          <p:cNvPr id="30" name="Text 28"/>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Eurobarometrele speciale 397, 470, 502, 523 și 534, Volumul A. Media UE, în componența de atunci: 5% (2013, fără Croația), 4% (2017) și 5% (2019), cu Regatul Unit, 4% (2022) și 3% (2023) [TI]</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ACELAȘI AN, ACEEAȘI ȚARĂ, DOUĂ ÎNTREBĂRI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9% față de 53%</a:t>
            </a:r>
            <a:endParaRPr lang="en-US" sz="34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Anul 2023. Ambele sunt corecte. Măsoară lucruri diferite, pe numitori diferiți.</a:t>
            </a:r>
            <a:endParaRPr lang="en-US" sz="1450" dirty="0"/>
          </a:p>
        </p:txBody>
      </p:sp>
      <p:sp>
        <p:nvSpPr>
          <p:cNvPr id="5" name="Shape 3"/>
          <p:cNvSpPr/>
          <p:nvPr/>
        </p:nvSpPr>
        <p:spPr>
          <a:xfrm>
            <a:off x="594360" y="2057400"/>
            <a:ext cx="5349240" cy="2788920"/>
          </a:xfrm>
          <a:prstGeom prst="roundRect">
            <a:avLst>
              <a:gd name="adj" fmla="val 2951"/>
            </a:avLst>
          </a:prstGeom>
          <a:solidFill>
            <a:srgbClr val="ECEAE4"/>
          </a:solidFill>
          <a:ln w="12700">
            <a:solidFill>
              <a:srgbClr val="ECEAE4"/>
            </a:solidFill>
            <a:prstDash val="solid"/>
          </a:ln>
        </p:spPr>
        <p:txBody>
          <a:bodyPr/>
          <a:p/>
        </p:txBody>
      </p:sp>
      <p:sp>
        <p:nvSpPr>
          <p:cNvPr id="6" name="Text 4"/>
          <p:cNvSpPr/>
          <p:nvPr/>
        </p:nvSpPr>
        <p:spPr>
          <a:xfrm>
            <a:off x="868680" y="2286000"/>
            <a:ext cx="4800600" cy="1097280"/>
          </a:xfrm>
          <a:prstGeom prst="rect">
            <a:avLst/>
          </a:prstGeom>
          <a:noFill/>
          <a:ln/>
        </p:spPr>
        <p:txBody>
          <a:bodyPr wrap="square" lIns="0" tIns="0" rIns="0" bIns="0" rtlCol="0" anchor="ctr"/>
          <a:lstStyle/>
          <a:p>
            <a:pPr algn="ctr" indent="0" marL="0">
              <a:lnSpc>
                <a:spcPts val="1800"/>
              </a:lnSpc>
              <a:buNone/>
            </a:pPr>
            <a:r>
              <a:rPr lang="en-US" sz="7600" b="1" dirty="0">
                <a:solidFill>
                  <a:srgbClr val="0E7C6B"/>
                </a:solidFill>
                <a:latin typeface="Palatino Linotype" pitchFamily="34" charset="0"/>
                <a:ea typeface="Palatino Linotype" pitchFamily="34" charset="-122"/>
                <a:cs typeface="Palatino Linotype" pitchFamily="34" charset="-120"/>
              </a:rPr>
              <a:t>9%</a:t>
            </a:r>
            <a:endParaRPr lang="en-US" sz="7600" dirty="0"/>
          </a:p>
        </p:txBody>
      </p:sp>
      <p:sp>
        <p:nvSpPr>
          <p:cNvPr id="7" name="Text 5"/>
          <p:cNvSpPr/>
          <p:nvPr/>
        </p:nvSpPr>
        <p:spPr>
          <a:xfrm>
            <a:off x="868680" y="3474720"/>
            <a:ext cx="4800600" cy="274320"/>
          </a:xfrm>
          <a:prstGeom prst="rect">
            <a:avLst/>
          </a:prstGeom>
          <a:noFill/>
          <a:ln/>
        </p:spPr>
        <p:txBody>
          <a:bodyPr wrap="square" lIns="0" tIns="0" rIns="0" bIns="0" rtlCol="0" anchor="t"/>
          <a:lstStyle/>
          <a:p>
            <a:pPr algn="ctr" indent="0" marL="0">
              <a:lnSpc>
                <a:spcPts val="1800"/>
              </a:lnSpc>
              <a:buNone/>
            </a:pPr>
            <a:r>
              <a:rPr lang="en-US" sz="1100" b="1" spc="200" kern="0" dirty="0">
                <a:solidFill>
                  <a:srgbClr val="0E7C6B"/>
                </a:solidFill>
                <a:latin typeface="Palatino Linotype" pitchFamily="34" charset="0"/>
                <a:ea typeface="Palatino Linotype" pitchFamily="34" charset="-122"/>
                <a:cs typeface="Palatino Linotype" pitchFamily="34" charset="-120"/>
              </a:rPr>
              <a:t>EXPERIENȚA PROPRIE</a:t>
            </a:r>
            <a:endParaRPr lang="en-US" sz="1100" dirty="0"/>
          </a:p>
        </p:txBody>
      </p:sp>
      <p:sp>
        <p:nvSpPr>
          <p:cNvPr id="8" name="Text 6"/>
          <p:cNvSpPr/>
          <p:nvPr/>
        </p:nvSpPr>
        <p:spPr>
          <a:xfrm>
            <a:off x="868680" y="3822192"/>
            <a:ext cx="4800600" cy="868680"/>
          </a:xfrm>
          <a:prstGeom prst="rect">
            <a:avLst/>
          </a:prstGeom>
          <a:noFill/>
          <a:ln/>
        </p:spPr>
        <p:txBody>
          <a:bodyPr wrap="square" lIns="0" tIns="0" rIns="0" bIns="0" rtlCol="0" anchor="t"/>
          <a:lstStyle/>
          <a:p>
            <a:pPr algn="ctr" indent="0" marL="0">
              <a:lnSpc>
                <a:spcPts val="1900"/>
              </a:lnSpc>
              <a:buNone/>
            </a:pPr>
            <a:r>
              <a:rPr lang="en-US" sz="1400" dirty="0">
                <a:solidFill>
                  <a:srgbClr val="11121A"/>
                </a:solidFill>
                <a:latin typeface="Palatino Linotype" pitchFamily="34" charset="0"/>
                <a:ea typeface="Palatino Linotype" pitchFamily="34" charset="-122"/>
                <a:cs typeface="Palatino Linotype" pitchFamily="34" charset="-120"/>
              </a:rPr>
              <a:t>au declarat că li s-a întâmplat, dintre cei cu contact recent cu sistemul public</a:t>
            </a:r>
            <a:endParaRPr lang="en-US" sz="1400" dirty="0"/>
          </a:p>
        </p:txBody>
      </p:sp>
      <p:sp>
        <p:nvSpPr>
          <p:cNvPr id="9" name="Shape 7"/>
          <p:cNvSpPr/>
          <p:nvPr/>
        </p:nvSpPr>
        <p:spPr>
          <a:xfrm>
            <a:off x="6217920" y="2057400"/>
            <a:ext cx="5349240" cy="2788920"/>
          </a:xfrm>
          <a:prstGeom prst="roundRect">
            <a:avLst>
              <a:gd name="adj" fmla="val 2951"/>
            </a:avLst>
          </a:prstGeom>
          <a:solidFill>
            <a:srgbClr val="ECEAE4"/>
          </a:solidFill>
          <a:ln w="12700">
            <a:solidFill>
              <a:srgbClr val="ECEAE4"/>
            </a:solidFill>
            <a:prstDash val="solid"/>
          </a:ln>
        </p:spPr>
        <p:txBody>
          <a:bodyPr/>
          <a:p/>
        </p:txBody>
      </p:sp>
      <p:sp>
        <p:nvSpPr>
          <p:cNvPr id="10" name="Text 8"/>
          <p:cNvSpPr/>
          <p:nvPr/>
        </p:nvSpPr>
        <p:spPr>
          <a:xfrm>
            <a:off x="6492240" y="2286000"/>
            <a:ext cx="4800600" cy="1097280"/>
          </a:xfrm>
          <a:prstGeom prst="rect">
            <a:avLst/>
          </a:prstGeom>
          <a:noFill/>
          <a:ln/>
        </p:spPr>
        <p:txBody>
          <a:bodyPr wrap="square" lIns="0" tIns="0" rIns="0" bIns="0" rtlCol="0" anchor="ctr"/>
          <a:lstStyle/>
          <a:p>
            <a:pPr algn="ctr" indent="0" marL="0">
              <a:lnSpc>
                <a:spcPts val="1800"/>
              </a:lnSpc>
              <a:buNone/>
            </a:pPr>
            <a:r>
              <a:rPr lang="en-US" sz="7600" b="1" dirty="0">
                <a:solidFill>
                  <a:srgbClr val="B02532"/>
                </a:solidFill>
                <a:latin typeface="Palatino Linotype" pitchFamily="34" charset="0"/>
                <a:ea typeface="Palatino Linotype" pitchFamily="34" charset="-122"/>
                <a:cs typeface="Palatino Linotype" pitchFamily="34" charset="-120"/>
              </a:rPr>
              <a:t>53%</a:t>
            </a:r>
            <a:endParaRPr lang="en-US" sz="7600" dirty="0"/>
          </a:p>
        </p:txBody>
      </p:sp>
      <p:sp>
        <p:nvSpPr>
          <p:cNvPr id="11" name="Text 9"/>
          <p:cNvSpPr/>
          <p:nvPr/>
        </p:nvSpPr>
        <p:spPr>
          <a:xfrm>
            <a:off x="6492240" y="3474720"/>
            <a:ext cx="4800600" cy="274320"/>
          </a:xfrm>
          <a:prstGeom prst="rect">
            <a:avLst/>
          </a:prstGeom>
          <a:noFill/>
          <a:ln/>
        </p:spPr>
        <p:txBody>
          <a:bodyPr wrap="square" lIns="0" tIns="0" rIns="0" bIns="0" rtlCol="0" anchor="t"/>
          <a:lstStyle/>
          <a:p>
            <a:pPr algn="ctr" indent="0" marL="0">
              <a:lnSpc>
                <a:spcPts val="1800"/>
              </a:lnSpc>
              <a:buNone/>
            </a:pPr>
            <a:r>
              <a:rPr lang="en-US" sz="1100" b="1" spc="200" kern="0" dirty="0">
                <a:solidFill>
                  <a:srgbClr val="B02532"/>
                </a:solidFill>
                <a:latin typeface="Palatino Linotype" pitchFamily="34" charset="0"/>
                <a:ea typeface="Palatino Linotype" pitchFamily="34" charset="-122"/>
                <a:cs typeface="Palatino Linotype" pitchFamily="34" charset="-120"/>
              </a:rPr>
              <a:t>PERCEPȚIE</a:t>
            </a:r>
            <a:endParaRPr lang="en-US" sz="1100" dirty="0"/>
          </a:p>
        </p:txBody>
      </p:sp>
      <p:sp>
        <p:nvSpPr>
          <p:cNvPr id="12" name="Text 10"/>
          <p:cNvSpPr/>
          <p:nvPr/>
        </p:nvSpPr>
        <p:spPr>
          <a:xfrm>
            <a:off x="6492240" y="3822192"/>
            <a:ext cx="4800600" cy="868680"/>
          </a:xfrm>
          <a:prstGeom prst="rect">
            <a:avLst/>
          </a:prstGeom>
          <a:noFill/>
          <a:ln/>
        </p:spPr>
        <p:txBody>
          <a:bodyPr wrap="square" lIns="0" tIns="0" rIns="0" bIns="0" rtlCol="0" anchor="t"/>
          <a:lstStyle/>
          <a:p>
            <a:pPr algn="ctr" indent="0" marL="0">
              <a:lnSpc>
                <a:spcPts val="1900"/>
              </a:lnSpc>
              <a:buNone/>
            </a:pPr>
            <a:r>
              <a:rPr lang="en-US" sz="1400" dirty="0">
                <a:solidFill>
                  <a:srgbClr val="11121A"/>
                </a:solidFill>
                <a:latin typeface="Palatino Linotype" pitchFamily="34" charset="0"/>
                <a:ea typeface="Palatino Linotype" pitchFamily="34" charset="-122"/>
                <a:cs typeface="Palatino Linotype" pitchFamily="34" charset="-120"/>
              </a:rPr>
              <a:t>cred că darea și luarea de mită și abuzul de putere în beneficiu personal sunt răspândite în sistemul de sănătate</a:t>
            </a:r>
            <a:endParaRPr lang="en-US" sz="1400" dirty="0"/>
          </a:p>
        </p:txBody>
      </p:sp>
      <p:sp>
        <p:nvSpPr>
          <p:cNvPr id="13" name="Shape 11"/>
          <p:cNvSpPr/>
          <p:nvPr/>
        </p:nvSpPr>
        <p:spPr>
          <a:xfrm>
            <a:off x="594360" y="5010912"/>
            <a:ext cx="10972800" cy="749808"/>
          </a:xfrm>
          <a:prstGeom prst="roundRect">
            <a:avLst>
              <a:gd name="adj" fmla="val 10976"/>
            </a:avLst>
          </a:prstGeom>
          <a:solidFill>
            <a:srgbClr val="FFE9EB"/>
          </a:solidFill>
          <a:ln w="12700">
            <a:solidFill>
              <a:srgbClr val="FFE9EB"/>
            </a:solidFill>
            <a:prstDash val="solid"/>
          </a:ln>
        </p:spPr>
        <p:txBody>
          <a:bodyPr/>
          <a:p/>
        </p:txBody>
      </p:sp>
      <p:sp>
        <p:nvSpPr>
          <p:cNvPr id="14" name="Text 12"/>
          <p:cNvSpPr/>
          <p:nvPr/>
        </p:nvSpPr>
        <p:spPr>
          <a:xfrm>
            <a:off x="868680" y="5166360"/>
            <a:ext cx="10424160" cy="502920"/>
          </a:xfrm>
          <a:prstGeom prst="rect">
            <a:avLst/>
          </a:prstGeom>
          <a:noFill/>
          <a:ln/>
        </p:spPr>
        <p:txBody>
          <a:bodyPr wrap="square" lIns="0" tIns="0" rIns="0" bIns="0" rtlCol="0" anchor="t"/>
          <a:lstStyle/>
          <a:p>
            <a:pPr algn="l" indent="0" marL="0">
              <a:lnSpc>
                <a:spcPts val="1800"/>
              </a:lnSpc>
              <a:buNone/>
            </a:pPr>
            <a:r>
              <a:rPr lang="en-US" sz="1400" b="1" dirty="0">
                <a:solidFill>
                  <a:srgbClr val="B02532"/>
                </a:solidFill>
                <a:latin typeface="Palatino Linotype" pitchFamily="34" charset="0"/>
                <a:ea typeface="Palatino Linotype" pitchFamily="34" charset="-122"/>
                <a:cs typeface="Palatino Linotype" pitchFamily="34" charset="-120"/>
              </a:rPr>
              <a:t>Raportul este de aproape șase la unu. Media UE-27 la itemul de percepție: 29%. În 2023, sănătatea a fost domeniul cel mai des indicat în România.</a:t>
            </a:r>
            <a:endParaRPr lang="en-US" sz="1400" dirty="0"/>
          </a:p>
        </p:txBody>
      </p:sp>
      <p:sp>
        <p:nvSpPr>
          <p:cNvPr id="15" name="Text 13"/>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Special Eurobarometer 534, itemii QA2 și QA7 [TI]. Percepția în România: 50% (2022), 53% (2023), 45% (2024), 44% (2025), 40% (2026).</a:t>
            </a:r>
            <a:endParaRPr lang="en-US" sz="95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5F2"/>
        </a:solidFill>
      </p:bgPr>
    </p:bg>
    <p:spTree>
      <p:nvGrpSpPr>
        <p:cNvPr id="1" name=""/>
        <p:cNvGrpSpPr/>
        <p:nvPr/>
      </p:nvGrpSpPr>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ACEEAȘI ÎNTREBARE, ALT NUMITOR · SISTEMUL DE SĂNĂTATE · ROMÂNIA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11% sau 16%?</a:t>
            </a:r>
            <a:endParaRPr lang="en-US" sz="34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Anul 2023. Aceeași întrebare: vi s-a cerut sau s-a așteptat de la dumneavoastră un cadou, o favoare sau bani?</a:t>
            </a:r>
            <a:endParaRPr lang="en-US" sz="1450" dirty="0"/>
          </a:p>
        </p:txBody>
      </p:sp>
      <p:sp>
        <p:nvSpPr>
          <p:cNvPr id="5" name="Shape 3"/>
          <p:cNvSpPr/>
          <p:nvPr/>
        </p:nvSpPr>
        <p:spPr>
          <a:xfrm>
            <a:off x="594360" y="2057400"/>
            <a:ext cx="5349240" cy="2788920"/>
          </a:xfrm>
          <a:prstGeom prst="roundRect">
            <a:avLst>
              <a:gd name="adj" fmla="val 2951"/>
            </a:avLst>
          </a:prstGeom>
          <a:solidFill>
            <a:srgbClr val="ECEAE4"/>
          </a:solidFill>
          <a:ln w="12700">
            <a:solidFill>
              <a:srgbClr val="ECEAE4"/>
            </a:solidFill>
            <a:prstDash val="solid"/>
          </a:ln>
        </p:spPr>
        <p:txBody>
          <a:bodyPr/>
          <a:p/>
        </p:txBody>
      </p:sp>
      <p:sp>
        <p:nvSpPr>
          <p:cNvPr id="6" name="Text 4"/>
          <p:cNvSpPr/>
          <p:nvPr/>
        </p:nvSpPr>
        <p:spPr>
          <a:xfrm>
            <a:off x="868680" y="2286000"/>
            <a:ext cx="4800600" cy="1097280"/>
          </a:xfrm>
          <a:prstGeom prst="rect">
            <a:avLst/>
          </a:prstGeom>
          <a:noFill/>
          <a:ln/>
        </p:spPr>
        <p:txBody>
          <a:bodyPr wrap="square" lIns="0" tIns="0" rIns="0" bIns="0" rtlCol="0" anchor="ctr"/>
          <a:lstStyle/>
          <a:p>
            <a:pPr algn="ctr" indent="0" marL="0">
              <a:lnSpc>
                <a:spcPts val="1800"/>
              </a:lnSpc>
              <a:buNone/>
            </a:pPr>
            <a:r>
              <a:rPr lang="en-US" sz="7600" b="1" dirty="0">
                <a:solidFill>
                  <a:srgbClr val="0E7C6B"/>
                </a:solidFill>
                <a:latin typeface="Palatino Linotype" pitchFamily="34" charset="0"/>
                <a:ea typeface="Palatino Linotype" pitchFamily="34" charset="-122"/>
                <a:cs typeface="Palatino Linotype" pitchFamily="34" charset="-120"/>
              </a:rPr>
              <a:t>11%</a:t>
            </a:r>
            <a:endParaRPr lang="en-US" sz="7600" dirty="0"/>
          </a:p>
        </p:txBody>
      </p:sp>
      <p:sp>
        <p:nvSpPr>
          <p:cNvPr id="7" name="Text 5"/>
          <p:cNvSpPr/>
          <p:nvPr/>
        </p:nvSpPr>
        <p:spPr>
          <a:xfrm>
            <a:off x="868680" y="3474720"/>
            <a:ext cx="4800600" cy="274320"/>
          </a:xfrm>
          <a:prstGeom prst="rect">
            <a:avLst/>
          </a:prstGeom>
          <a:noFill/>
          <a:ln/>
        </p:spPr>
        <p:txBody>
          <a:bodyPr wrap="square" lIns="0" tIns="0" rIns="0" bIns="0" rtlCol="0" anchor="t"/>
          <a:lstStyle/>
          <a:p>
            <a:pPr algn="ctr" indent="0" marL="0">
              <a:lnSpc>
                <a:spcPts val="1800"/>
              </a:lnSpc>
              <a:buNone/>
            </a:pPr>
            <a:r>
              <a:rPr lang="en-US" sz="1100" b="1" spc="200" kern="0" dirty="0">
                <a:solidFill>
                  <a:srgbClr val="0E7C6B"/>
                </a:solidFill>
                <a:latin typeface="Palatino Linotype" pitchFamily="34" charset="0"/>
                <a:ea typeface="Palatino Linotype" pitchFamily="34" charset="-122"/>
                <a:cs typeface="Palatino Linotype" pitchFamily="34" charset="-120"/>
              </a:rPr>
              <a:t>VALOAREA PUBLICATĂ</a:t>
            </a:r>
            <a:endParaRPr lang="en-US" sz="1100" dirty="0"/>
          </a:p>
        </p:txBody>
      </p:sp>
      <p:sp>
        <p:nvSpPr>
          <p:cNvPr id="8" name="Text 6"/>
          <p:cNvSpPr/>
          <p:nvPr/>
        </p:nvSpPr>
        <p:spPr>
          <a:xfrm>
            <a:off x="868680" y="3822192"/>
            <a:ext cx="4800600" cy="868680"/>
          </a:xfrm>
          <a:prstGeom prst="rect">
            <a:avLst/>
          </a:prstGeom>
          <a:noFill/>
          <a:ln/>
        </p:spPr>
        <p:txBody>
          <a:bodyPr wrap="square" lIns="0" tIns="0" rIns="0" bIns="0" rtlCol="0" anchor="t"/>
          <a:lstStyle/>
          <a:p>
            <a:pPr algn="ctr" indent="0" marL="0">
              <a:lnSpc>
                <a:spcPts val="1900"/>
              </a:lnSpc>
              <a:buNone/>
            </a:pPr>
            <a:r>
              <a:rPr lang="en-US" sz="1400" dirty="0">
                <a:solidFill>
                  <a:srgbClr val="11121A"/>
                </a:solidFill>
                <a:latin typeface="Palatino Linotype" pitchFamily="34" charset="0"/>
                <a:ea typeface="Palatino Linotype" pitchFamily="34" charset="-122"/>
                <a:cs typeface="Palatino Linotype" pitchFamily="34" charset="-120"/>
              </a:rPr>
              <a:t>din toți cei care avuseseră contact cu oricare dintre instituțiile enumerate</a:t>
            </a:r>
            <a:endParaRPr lang="en-US" sz="1400" dirty="0"/>
          </a:p>
        </p:txBody>
      </p:sp>
      <p:sp>
        <p:nvSpPr>
          <p:cNvPr id="9" name="Shape 7"/>
          <p:cNvSpPr/>
          <p:nvPr/>
        </p:nvSpPr>
        <p:spPr>
          <a:xfrm>
            <a:off x="6217920" y="2057400"/>
            <a:ext cx="5349240" cy="2788920"/>
          </a:xfrm>
          <a:prstGeom prst="roundRect">
            <a:avLst>
              <a:gd name="adj" fmla="val 2951"/>
            </a:avLst>
          </a:prstGeom>
          <a:solidFill>
            <a:srgbClr val="ECEAE4"/>
          </a:solidFill>
          <a:ln w="12700">
            <a:solidFill>
              <a:srgbClr val="ECEAE4"/>
            </a:solidFill>
            <a:prstDash val="solid"/>
          </a:ln>
        </p:spPr>
        <p:txBody>
          <a:bodyPr/>
          <a:p/>
        </p:txBody>
      </p:sp>
      <p:sp>
        <p:nvSpPr>
          <p:cNvPr id="10" name="Text 8"/>
          <p:cNvSpPr/>
          <p:nvPr/>
        </p:nvSpPr>
        <p:spPr>
          <a:xfrm>
            <a:off x="6492240" y="2286000"/>
            <a:ext cx="4800600" cy="1097280"/>
          </a:xfrm>
          <a:prstGeom prst="rect">
            <a:avLst/>
          </a:prstGeom>
          <a:noFill/>
          <a:ln/>
        </p:spPr>
        <p:txBody>
          <a:bodyPr wrap="square" lIns="0" tIns="0" rIns="0" bIns="0" rtlCol="0" anchor="ctr"/>
          <a:lstStyle/>
          <a:p>
            <a:pPr algn="ctr" indent="0" marL="0">
              <a:lnSpc>
                <a:spcPts val="1800"/>
              </a:lnSpc>
              <a:buNone/>
            </a:pPr>
            <a:r>
              <a:rPr lang="en-US" sz="7600" b="1" dirty="0">
                <a:solidFill>
                  <a:srgbClr val="B02532"/>
                </a:solidFill>
                <a:latin typeface="Palatino Linotype" pitchFamily="34" charset="0"/>
                <a:ea typeface="Palatino Linotype" pitchFamily="34" charset="-122"/>
                <a:cs typeface="Palatino Linotype" pitchFamily="34" charset="-120"/>
              </a:rPr>
              <a:t>16%</a:t>
            </a:r>
            <a:endParaRPr lang="en-US" sz="7600" dirty="0"/>
          </a:p>
        </p:txBody>
      </p:sp>
      <p:sp>
        <p:nvSpPr>
          <p:cNvPr id="11" name="Text 9"/>
          <p:cNvSpPr/>
          <p:nvPr/>
        </p:nvSpPr>
        <p:spPr>
          <a:xfrm>
            <a:off x="6492240" y="3474720"/>
            <a:ext cx="4800600" cy="274320"/>
          </a:xfrm>
          <a:prstGeom prst="rect">
            <a:avLst/>
          </a:prstGeom>
          <a:noFill/>
          <a:ln/>
        </p:spPr>
        <p:txBody>
          <a:bodyPr wrap="square" lIns="0" tIns="0" rIns="0" bIns="0" rtlCol="0" anchor="t"/>
          <a:lstStyle/>
          <a:p>
            <a:pPr algn="ctr" indent="0" marL="0">
              <a:lnSpc>
                <a:spcPts val="1800"/>
              </a:lnSpc>
              <a:buNone/>
            </a:pPr>
            <a:r>
              <a:rPr lang="en-US" sz="1100" b="1" spc="200" kern="0" dirty="0">
                <a:solidFill>
                  <a:srgbClr val="B02532"/>
                </a:solidFill>
                <a:latin typeface="Palatino Linotype" pitchFamily="34" charset="0"/>
                <a:ea typeface="Palatino Linotype" pitchFamily="34" charset="-122"/>
                <a:cs typeface="Palatino Linotype" pitchFamily="34" charset="-120"/>
              </a:rPr>
              <a:t>PE NUMITORUL NOU</a:t>
            </a:r>
            <a:endParaRPr lang="en-US" sz="1100" dirty="0"/>
          </a:p>
        </p:txBody>
      </p:sp>
      <p:sp>
        <p:nvSpPr>
          <p:cNvPr id="12" name="Text 10"/>
          <p:cNvSpPr/>
          <p:nvPr/>
        </p:nvSpPr>
        <p:spPr>
          <a:xfrm>
            <a:off x="6492240" y="3822192"/>
            <a:ext cx="4800600" cy="868680"/>
          </a:xfrm>
          <a:prstGeom prst="rect">
            <a:avLst/>
          </a:prstGeom>
          <a:noFill/>
          <a:ln/>
        </p:spPr>
        <p:txBody>
          <a:bodyPr wrap="square" lIns="0" tIns="0" rIns="0" bIns="0" rtlCol="0" anchor="t"/>
          <a:lstStyle/>
          <a:p>
            <a:pPr algn="ctr" indent="0" marL="0">
              <a:lnSpc>
                <a:spcPts val="1900"/>
              </a:lnSpc>
              <a:buNone/>
            </a:pPr>
            <a:r>
              <a:rPr lang="en-US" sz="1400" dirty="0">
                <a:solidFill>
                  <a:srgbClr val="11121A"/>
                </a:solidFill>
                <a:latin typeface="Palatino Linotype" pitchFamily="34" charset="0"/>
                <a:ea typeface="Palatino Linotype" pitchFamily="34" charset="-122"/>
                <a:cs typeface="Palatino Linotype" pitchFamily="34" charset="-120"/>
              </a:rPr>
              <a:t>numai din cei cu contact cu sistemul de sănătate (recalcul propriu)</a:t>
            </a:r>
            <a:endParaRPr lang="en-US" sz="1400" dirty="0"/>
          </a:p>
        </p:txBody>
      </p:sp>
      <p:sp>
        <p:nvSpPr>
          <p:cNvPr id="13" name="Shape 11"/>
          <p:cNvSpPr/>
          <p:nvPr/>
        </p:nvSpPr>
        <p:spPr>
          <a:xfrm>
            <a:off x="594360" y="5010912"/>
            <a:ext cx="10972800" cy="749808"/>
          </a:xfrm>
          <a:prstGeom prst="roundRect">
            <a:avLst>
              <a:gd name="adj" fmla="val 10976"/>
            </a:avLst>
          </a:prstGeom>
          <a:solidFill>
            <a:srgbClr val="FFE9EB"/>
          </a:solidFill>
          <a:ln w="12700">
            <a:solidFill>
              <a:srgbClr val="FFE9EB"/>
            </a:solidFill>
            <a:prstDash val="solid"/>
          </a:ln>
        </p:spPr>
        <p:txBody>
          <a:bodyPr/>
          <a:p/>
        </p:txBody>
      </p:sp>
      <p:sp>
        <p:nvSpPr>
          <p:cNvPr id="14" name="Text 12"/>
          <p:cNvSpPr/>
          <p:nvPr/>
        </p:nvSpPr>
        <p:spPr>
          <a:xfrm>
            <a:off x="868680" y="5166360"/>
            <a:ext cx="10424160" cy="502920"/>
          </a:xfrm>
          <a:prstGeom prst="rect">
            <a:avLst/>
          </a:prstGeom>
          <a:noFill/>
          <a:ln/>
        </p:spPr>
        <p:txBody>
          <a:bodyPr wrap="square" lIns="0" tIns="0" rIns="0" bIns="0" rtlCol="0" anchor="t"/>
          <a:lstStyle/>
          <a:p>
            <a:pPr algn="l" indent="0" marL="0">
              <a:lnSpc>
                <a:spcPts val="1800"/>
              </a:lnSpc>
              <a:buNone/>
            </a:pPr>
            <a:r>
              <a:rPr lang="en-US" sz="1400" b="1" dirty="0">
                <a:solidFill>
                  <a:srgbClr val="B02532"/>
                </a:solidFill>
                <a:latin typeface="Palatino Linotype" pitchFamily="34" charset="0"/>
                <a:ea typeface="Palatino Linotype" pitchFamily="34" charset="-122"/>
                <a:cs typeface="Palatino Linotype" pitchFamily="34" charset="-120"/>
              </a:rPr>
              <a:t>Din 2025, tabelele calculează procentul numai din cei cu contact cu instituția respectivă. Valoarea din 2026, 7% (media UE 3%), nu se compară direct cu 11%.</a:t>
            </a:r>
            <a:endParaRPr lang="en-US" sz="1400" dirty="0"/>
          </a:p>
        </p:txBody>
      </p:sp>
      <p:sp>
        <p:nvSpPr>
          <p:cNvPr id="15" name="Text 13"/>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Special Eurobarometer 534 (QA9a–QA9b), 561 (QD9b) și 573 (QC6b), Volumul A [TI]; recalculul pentru 2023 este propriu.</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C24B"/>
        </a:solidFill>
      </p:bgPr>
    </p:bg>
    <p:spTree>
      <p:nvGrpSpPr>
        <p:cNvPr id="1" name=""/>
        <p:cNvGrpSpPr/>
        <p:nvPr/>
      </p:nvGrpSpPr>
      <p:grpSpPr>
        <a:xfrm>
          <a:off x="0" y="0"/>
          <a:ext cx="0" cy="0"/>
          <a:chOff x="0" y="0"/>
          <a:chExt cx="0" cy="0"/>
        </a:xfrm>
      </p:grpSpPr>
      <p:sp>
        <p:nvSpPr>
          <p:cNvPr id="2" name="Shape 0"/>
          <p:cNvSpPr/>
          <p:nvPr/>
        </p:nvSpPr>
        <p:spPr>
          <a:xfrm>
            <a:off x="594360" y="384048"/>
            <a:ext cx="1737360" cy="310896"/>
          </a:xfrm>
          <a:prstGeom prst="roundRect">
            <a:avLst>
              <a:gd name="adj" fmla="val 50000"/>
            </a:avLst>
          </a:prstGeom>
          <a:solidFill>
            <a:srgbClr val="3D2A00"/>
          </a:solidFill>
          <a:ln w="12700">
            <a:solidFill>
              <a:srgbClr val="3D2A00"/>
            </a:solidFill>
            <a:prstDash val="solid"/>
          </a:ln>
        </p:spPr>
        <p:txBody>
          <a:bodyPr/>
          <a:p/>
        </p:txBody>
      </p:sp>
      <p:sp>
        <p:nvSpPr>
          <p:cNvPr id="3" name="Text 1"/>
          <p:cNvSpPr/>
          <p:nvPr/>
        </p:nvSpPr>
        <p:spPr>
          <a:xfrm>
            <a:off x="594360" y="384048"/>
            <a:ext cx="1737360" cy="310896"/>
          </a:xfrm>
          <a:prstGeom prst="rect">
            <a:avLst/>
          </a:prstGeom>
          <a:noFill/>
          <a:ln/>
        </p:spPr>
        <p:txBody>
          <a:bodyPr wrap="square" lIns="0" tIns="0" rIns="0" bIns="0" rtlCol="0" anchor="ctr"/>
          <a:lstStyle/>
          <a:p>
            <a:pPr algn="ctr" indent="0" marL="0">
              <a:buNone/>
            </a:pPr>
            <a:r>
              <a:rPr lang="en-US" sz="1000" b="1" dirty="0">
                <a:solidFill>
                  <a:srgbClr val="FFC24B"/>
                </a:solidFill>
                <a:latin typeface="Palatino Linotype" pitchFamily="34" charset="0"/>
                <a:ea typeface="Palatino Linotype" pitchFamily="34" charset="-122"/>
                <a:cs typeface="Palatino Linotype" pitchFamily="34" charset="-120"/>
              </a:rPr>
              <a:t>CAPCANA 3 / 4</a:t>
            </a:r>
            <a:endParaRPr lang="en-US" sz="1000" dirty="0"/>
          </a:p>
        </p:txBody>
      </p:sp>
      <p:sp>
        <p:nvSpPr>
          <p:cNvPr id="4" name="Text 2"/>
          <p:cNvSpPr/>
          <p:nvPr/>
        </p:nvSpPr>
        <p:spPr>
          <a:xfrm>
            <a:off x="594360" y="896112"/>
            <a:ext cx="10972800" cy="777240"/>
          </a:xfrm>
          <a:prstGeom prst="rect">
            <a:avLst/>
          </a:prstGeom>
          <a:noFill/>
          <a:ln/>
        </p:spPr>
        <p:txBody>
          <a:bodyPr wrap="square" lIns="0" tIns="0" rIns="0" bIns="0" rtlCol="0" anchor="ctr"/>
          <a:lstStyle/>
          <a:p>
            <a:pPr indent="0" marL="0">
              <a:buNone/>
            </a:pPr>
            <a:r>
              <a:rPr lang="en-US" sz="2700" b="1" dirty="0">
                <a:solidFill>
                  <a:srgbClr val="3D2A00"/>
                </a:solidFill>
                <a:latin typeface="Palatino Linotype" pitchFamily="34" charset="0"/>
                <a:ea typeface="Palatino Linotype" pitchFamily="34" charset="-122"/>
                <a:cs typeface="Palatino Linotype" pitchFamily="34" charset="-120"/>
              </a:rPr>
              <a:t>„Plățile informale s-au înjumătățit într-un an”</a:t>
            </a:r>
            <a:endParaRPr lang="en-US" sz="2700" dirty="0"/>
          </a:p>
        </p:txBody>
      </p:sp>
      <p:sp>
        <p:nvSpPr>
          <p:cNvPr id="5" name="Shape 3"/>
          <p:cNvSpPr/>
          <p:nvPr/>
        </p:nvSpPr>
        <p:spPr>
          <a:xfrm>
            <a:off x="594360" y="1828800"/>
            <a:ext cx="10972800" cy="1170432"/>
          </a:xfrm>
          <a:prstGeom prst="roundRect">
            <a:avLst>
              <a:gd name="adj" fmla="val 7031"/>
            </a:avLst>
          </a:prstGeom>
          <a:solidFill>
            <a:srgbClr val="D9A233"/>
          </a:solidFill>
          <a:ln w="12700">
            <a:solidFill>
              <a:srgbClr val="D9A233"/>
            </a:solidFill>
            <a:prstDash val="solid"/>
          </a:ln>
        </p:spPr>
        <p:txBody>
          <a:bodyPr/>
          <a:p/>
        </p:txBody>
      </p:sp>
      <p:sp>
        <p:nvSpPr>
          <p:cNvPr id="6" name="Text 4"/>
          <p:cNvSpPr/>
          <p:nvPr/>
        </p:nvSpPr>
        <p:spPr>
          <a:xfrm>
            <a:off x="868680" y="195681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3D2A00"/>
                </a:solidFill>
                <a:latin typeface="Palatino Linotype" pitchFamily="34" charset="0"/>
                <a:ea typeface="Palatino Linotype" pitchFamily="34" charset="-122"/>
                <a:cs typeface="Palatino Linotype" pitchFamily="34" charset="-120"/>
              </a:rPr>
              <a:t>CE SE AFIRMĂ</a:t>
            </a:r>
            <a:endParaRPr lang="en-US" sz="1000" dirty="0"/>
          </a:p>
        </p:txBody>
      </p:sp>
      <p:sp>
        <p:nvSpPr>
          <p:cNvPr id="7" name="Text 5"/>
          <p:cNvSpPr/>
          <p:nvPr/>
        </p:nvSpPr>
        <p:spPr>
          <a:xfrm>
            <a:off x="868680" y="2231136"/>
            <a:ext cx="10424160" cy="713232"/>
          </a:xfrm>
          <a:prstGeom prst="rect">
            <a:avLst/>
          </a:prstGeom>
          <a:noFill/>
          <a:ln/>
        </p:spPr>
        <p:txBody>
          <a:bodyPr wrap="square" lIns="0" tIns="0" rIns="0" bIns="0" rtlCol="0" anchor="t"/>
          <a:lstStyle/>
          <a:p>
            <a:pPr algn="l" indent="0" marL="0">
              <a:lnSpc>
                <a:spcPts val="1700"/>
              </a:lnSpc>
              <a:buNone/>
            </a:pPr>
            <a:r>
              <a:rPr lang="en-US" sz="1350" dirty="0">
                <a:solidFill>
                  <a:srgbClr val="3D2A00"/>
                </a:solidFill>
                <a:latin typeface="Palatino Linotype" pitchFamily="34" charset="0"/>
                <a:ea typeface="Palatino Linotype" pitchFamily="34" charset="-122"/>
                <a:cs typeface="Palatino Linotype" pitchFamily="34" charset="-120"/>
              </a:rPr>
              <a:t>18% în 2022, 9% în 2023, deci fenomenul s-ar fi redus la jumătate într-un singur an.</a:t>
            </a:r>
            <a:endParaRPr lang="en-US" sz="1350" dirty="0"/>
          </a:p>
        </p:txBody>
      </p:sp>
      <p:sp>
        <p:nvSpPr>
          <p:cNvPr id="8" name="Shape 6"/>
          <p:cNvSpPr/>
          <p:nvPr/>
        </p:nvSpPr>
        <p:spPr>
          <a:xfrm>
            <a:off x="594360" y="3108960"/>
            <a:ext cx="10972800" cy="1417320"/>
          </a:xfrm>
          <a:prstGeom prst="roundRect">
            <a:avLst>
              <a:gd name="adj" fmla="val 5806"/>
            </a:avLst>
          </a:prstGeom>
          <a:solidFill>
            <a:srgbClr val="FFFFFF"/>
          </a:solidFill>
          <a:ln w="12700">
            <a:solidFill>
              <a:srgbClr val="FFFFFF"/>
            </a:solidFill>
            <a:prstDash val="solid"/>
          </a:ln>
        </p:spPr>
        <p:txBody>
          <a:bodyPr/>
          <a:p/>
        </p:txBody>
      </p:sp>
      <p:sp>
        <p:nvSpPr>
          <p:cNvPr id="9" name="Text 7"/>
          <p:cNvSpPr/>
          <p:nvPr/>
        </p:nvSpPr>
        <p:spPr>
          <a:xfrm>
            <a:off x="868680" y="323697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1121A"/>
                </a:solidFill>
                <a:latin typeface="Palatino Linotype" pitchFamily="34" charset="0"/>
                <a:ea typeface="Palatino Linotype" pitchFamily="34" charset="-122"/>
                <a:cs typeface="Palatino Linotype" pitchFamily="34" charset="-120"/>
              </a:rPr>
              <a:t>CE SPUNE SURSA</a:t>
            </a:r>
            <a:endParaRPr lang="en-US" sz="1000" dirty="0"/>
          </a:p>
        </p:txBody>
      </p:sp>
      <p:sp>
        <p:nvSpPr>
          <p:cNvPr id="10" name="Text 8"/>
          <p:cNvSpPr/>
          <p:nvPr/>
        </p:nvSpPr>
        <p:spPr>
          <a:xfrm>
            <a:off x="868680" y="3511296"/>
            <a:ext cx="10424160" cy="960120"/>
          </a:xfrm>
          <a:prstGeom prst="rect">
            <a:avLst/>
          </a:prstGeom>
          <a:noFill/>
          <a:ln/>
        </p:spPr>
        <p:txBody>
          <a:bodyPr wrap="square" lIns="0" tIns="0" rIns="0" bIns="0" rtlCol="0" anchor="t"/>
          <a:lstStyle/>
          <a:p>
            <a:pPr algn="l" indent="0" marL="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Filtrul a fost același în ambii ani, 47%, iar interviurile din România au fost față în față în ambele valuri: explicațiile tehnice obișnuite nu se aplică. Un item înrudit a crescut în aceleași valuri, de la 6% la 11%. Între 2017 și 2022, valoarea a fost practic stabilă (19%, 19%, 18%); față de 2013 (28%), seria mai scăzuse o dată, cu aproape aceeași mărime; după 2023, itemul nu a mai fost măsurat.</a:t>
            </a:r>
            <a:endParaRPr lang="en-US" sz="1350" dirty="0"/>
          </a:p>
        </p:txBody>
      </p:sp>
      <p:sp>
        <p:nvSpPr>
          <p:cNvPr id="11" name="Shape 9"/>
          <p:cNvSpPr/>
          <p:nvPr/>
        </p:nvSpPr>
        <p:spPr>
          <a:xfrm>
            <a:off x="594360" y="4636008"/>
            <a:ext cx="10972800" cy="1097280"/>
          </a:xfrm>
          <a:prstGeom prst="roundRect">
            <a:avLst>
              <a:gd name="adj" fmla="val 7500"/>
            </a:avLst>
          </a:prstGeom>
          <a:solidFill>
            <a:srgbClr val="D9A233"/>
          </a:solidFill>
          <a:ln w="12700">
            <a:solidFill>
              <a:srgbClr val="D9A233"/>
            </a:solidFill>
            <a:prstDash val="solid"/>
          </a:ln>
        </p:spPr>
        <p:txBody>
          <a:bodyPr/>
          <a:p/>
        </p:txBody>
      </p:sp>
      <p:sp>
        <p:nvSpPr>
          <p:cNvPr id="12" name="Text 10"/>
          <p:cNvSpPr/>
          <p:nvPr/>
        </p:nvSpPr>
        <p:spPr>
          <a:xfrm>
            <a:off x="868680" y="475488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3D2A00"/>
                </a:solidFill>
                <a:latin typeface="Palatino Linotype" pitchFamily="34" charset="0"/>
                <a:ea typeface="Palatino Linotype" pitchFamily="34" charset="-122"/>
                <a:cs typeface="Palatino Linotype" pitchFamily="34" charset="-120"/>
              </a:rPr>
              <a:t>REGULA TRANSFERABILĂ</a:t>
            </a:r>
            <a:endParaRPr lang="en-US" sz="1000" dirty="0"/>
          </a:p>
        </p:txBody>
      </p:sp>
      <p:sp>
        <p:nvSpPr>
          <p:cNvPr id="13" name="Text 11"/>
          <p:cNvSpPr/>
          <p:nvPr/>
        </p:nvSpPr>
        <p:spPr>
          <a:xfrm>
            <a:off x="868680" y="5029200"/>
            <a:ext cx="10424160" cy="640080"/>
          </a:xfrm>
          <a:prstGeom prst="rect">
            <a:avLst/>
          </a:prstGeom>
          <a:noFill/>
          <a:ln/>
        </p:spPr>
        <p:txBody>
          <a:bodyPr wrap="square" lIns="0" tIns="0" rIns="0" bIns="0" rtlCol="0" anchor="t"/>
          <a:lstStyle/>
          <a:p>
            <a:pPr algn="l" indent="0" marL="0">
              <a:lnSpc>
                <a:spcPts val="1700"/>
              </a:lnSpc>
              <a:buNone/>
            </a:pPr>
            <a:r>
              <a:rPr lang="en-US" sz="1400" b="1" dirty="0">
                <a:solidFill>
                  <a:srgbClr val="3D2A00"/>
                </a:solidFill>
                <a:latin typeface="Palatino Linotype" pitchFamily="34" charset="0"/>
                <a:ea typeface="Palatino Linotype" pitchFamily="34" charset="-122"/>
                <a:cs typeface="Palatino Linotype" pitchFamily="34" charset="-120"/>
              </a:rPr>
              <a:t>O variație între două valuri ale unui singur item nu stabilește o tendință. Verificați numitorul, modul de colectare, itemii înrudiți și punctele seriei de dinainte și de după.</a:t>
            </a:r>
            <a:endParaRPr lang="en-US" sz="1400" dirty="0"/>
          </a:p>
        </p:txBody>
      </p:sp>
      <p:sp>
        <p:nvSpPr>
          <p:cNvPr id="14" name="Text 12"/>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3D2A00"/>
                </a:solidFill>
                <a:latin typeface="Palatino Linotype" pitchFamily="34" charset="0"/>
                <a:ea typeface="Palatino Linotype" pitchFamily="34" charset="-122"/>
                <a:cs typeface="Palatino Linotype" pitchFamily="34" charset="-120"/>
              </a:rPr>
              <a:t>Eurobarometrele speciale 397, 470, 502, 523 și 534, Volumul A: itemul de experiență, filtrul și itemul înrudit (QA9b) [TI]</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FF4757"/>
        </a:solidFill>
      </p:bgPr>
    </p:bg>
    <p:spTree>
      <p:nvGrpSpPr>
        <p:cNvPr id="1" name=""/>
        <p:cNvGrpSpPr/>
        <p:nvPr/>
      </p:nvGrpSpPr>
      <p:grpSpPr>
        <a:xfrm>
          <a:off x="0" y="0"/>
          <a:ext cx="0" cy="0"/>
          <a:chOff x="0" y="0"/>
          <a:chExt cx="0" cy="0"/>
        </a:xfrm>
      </p:grpSpPr>
      <p:sp>
        <p:nvSpPr>
          <p:cNvPr id="2" name="Shape 0"/>
          <p:cNvSpPr/>
          <p:nvPr/>
        </p:nvSpPr>
        <p:spPr>
          <a:xfrm>
            <a:off x="594360" y="384048"/>
            <a:ext cx="1737360" cy="310896"/>
          </a:xfrm>
          <a:prstGeom prst="roundRect">
            <a:avLst>
              <a:gd name="adj" fmla="val 50000"/>
            </a:avLst>
          </a:prstGeom>
          <a:solidFill>
            <a:srgbClr val="2E060B"/>
          </a:solidFill>
          <a:ln w="12700">
            <a:solidFill>
              <a:srgbClr val="2E060B"/>
            </a:solidFill>
            <a:prstDash val="solid"/>
          </a:ln>
        </p:spPr>
        <p:txBody>
          <a:bodyPr/>
          <a:p/>
        </p:txBody>
      </p:sp>
      <p:sp>
        <p:nvSpPr>
          <p:cNvPr id="3" name="Text 1"/>
          <p:cNvSpPr/>
          <p:nvPr/>
        </p:nvSpPr>
        <p:spPr>
          <a:xfrm>
            <a:off x="594360" y="384048"/>
            <a:ext cx="1737360" cy="310896"/>
          </a:xfrm>
          <a:prstGeom prst="rect">
            <a:avLst/>
          </a:prstGeom>
          <a:noFill/>
          <a:ln/>
        </p:spPr>
        <p:txBody>
          <a:bodyPr wrap="square" lIns="0" tIns="0" rIns="0" bIns="0" rtlCol="0" anchor="ctr"/>
          <a:lstStyle/>
          <a:p>
            <a:pPr algn="ctr" indent="0" marL="0">
              <a:buNone/>
            </a:pPr>
            <a:r>
              <a:rPr lang="en-US" sz="1000" b="1" dirty="0">
                <a:solidFill>
                  <a:srgbClr val="FF4757"/>
                </a:solidFill>
                <a:latin typeface="Palatino Linotype" pitchFamily="34" charset="0"/>
                <a:ea typeface="Palatino Linotype" pitchFamily="34" charset="-122"/>
                <a:cs typeface="Palatino Linotype" pitchFamily="34" charset="-120"/>
              </a:rPr>
              <a:t>CAPCANA 4 / 4</a:t>
            </a:r>
            <a:endParaRPr lang="en-US" sz="1000" dirty="0"/>
          </a:p>
        </p:txBody>
      </p:sp>
      <p:sp>
        <p:nvSpPr>
          <p:cNvPr id="4" name="Text 2"/>
          <p:cNvSpPr/>
          <p:nvPr/>
        </p:nvSpPr>
        <p:spPr>
          <a:xfrm>
            <a:off x="594360" y="896112"/>
            <a:ext cx="10972800" cy="777240"/>
          </a:xfrm>
          <a:prstGeom prst="rect">
            <a:avLst/>
          </a:prstGeom>
          <a:noFill/>
          <a:ln/>
        </p:spPr>
        <p:txBody>
          <a:bodyPr wrap="square" lIns="0" tIns="0" rIns="0" bIns="0" rtlCol="0" anchor="ctr"/>
          <a:lstStyle/>
          <a:p>
            <a:pPr indent="0" marL="0">
              <a:buNone/>
            </a:pPr>
            <a:r>
              <a:rPr lang="en-US" sz="2700" b="1" dirty="0">
                <a:solidFill>
                  <a:srgbClr val="2E060B"/>
                </a:solidFill>
                <a:latin typeface="Palatino Linotype" pitchFamily="34" charset="0"/>
                <a:ea typeface="Palatino Linotype" pitchFamily="34" charset="-122"/>
                <a:cs typeface="Palatino Linotype" pitchFamily="34" charset="-120"/>
              </a:rPr>
              <a:t>„România conduce Uniunea Europeană la corupția din sănătate”</a:t>
            </a:r>
            <a:endParaRPr lang="en-US" sz="2700" dirty="0"/>
          </a:p>
        </p:txBody>
      </p:sp>
      <p:sp>
        <p:nvSpPr>
          <p:cNvPr id="5" name="Shape 3"/>
          <p:cNvSpPr/>
          <p:nvPr/>
        </p:nvSpPr>
        <p:spPr>
          <a:xfrm>
            <a:off x="594360" y="1828800"/>
            <a:ext cx="10972800" cy="1170432"/>
          </a:xfrm>
          <a:prstGeom prst="roundRect">
            <a:avLst>
              <a:gd name="adj" fmla="val 7031"/>
            </a:avLst>
          </a:prstGeom>
          <a:solidFill>
            <a:srgbClr val="D63A48"/>
          </a:solidFill>
          <a:ln w="12700">
            <a:solidFill>
              <a:srgbClr val="D63A48"/>
            </a:solidFill>
            <a:prstDash val="solid"/>
          </a:ln>
        </p:spPr>
        <p:txBody>
          <a:bodyPr/>
          <a:p/>
        </p:txBody>
      </p:sp>
      <p:sp>
        <p:nvSpPr>
          <p:cNvPr id="6" name="Text 4"/>
          <p:cNvSpPr/>
          <p:nvPr/>
        </p:nvSpPr>
        <p:spPr>
          <a:xfrm>
            <a:off x="868680" y="195681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E060B"/>
                </a:solidFill>
                <a:latin typeface="Palatino Linotype" pitchFamily="34" charset="0"/>
                <a:ea typeface="Palatino Linotype" pitchFamily="34" charset="-122"/>
                <a:cs typeface="Palatino Linotype" pitchFamily="34" charset="-120"/>
              </a:rPr>
              <a:t>CE SE AFIRMĂ</a:t>
            </a:r>
            <a:endParaRPr lang="en-US" sz="1000" dirty="0"/>
          </a:p>
        </p:txBody>
      </p:sp>
      <p:sp>
        <p:nvSpPr>
          <p:cNvPr id="7" name="Text 5"/>
          <p:cNvSpPr/>
          <p:nvPr/>
        </p:nvSpPr>
        <p:spPr>
          <a:xfrm>
            <a:off x="868680" y="2231136"/>
            <a:ext cx="10424160" cy="713232"/>
          </a:xfrm>
          <a:prstGeom prst="rect">
            <a:avLst/>
          </a:prstGeom>
          <a:noFill/>
          <a:ln/>
        </p:spPr>
        <p:txBody>
          <a:bodyPr wrap="square" lIns="0" tIns="0" rIns="0" bIns="0" rtlCol="0" anchor="t"/>
          <a:lstStyle/>
          <a:p>
            <a:pPr algn="l" indent="0" marL="0">
              <a:lnSpc>
                <a:spcPts val="1700"/>
              </a:lnSpc>
              <a:buNone/>
            </a:pPr>
            <a:r>
              <a:rPr lang="en-US" sz="1350" dirty="0">
                <a:solidFill>
                  <a:srgbClr val="2E060B"/>
                </a:solidFill>
                <a:latin typeface="Palatino Linotype" pitchFamily="34" charset="0"/>
                <a:ea typeface="Palatino Linotype" pitchFamily="34" charset="-122"/>
                <a:cs typeface="Palatino Linotype" pitchFamily="34" charset="-120"/>
              </a:rPr>
              <a:t>Propoziția circulă în această formă generală, fără indicarea instrumentului și fără an.</a:t>
            </a:r>
            <a:endParaRPr lang="en-US" sz="1350" dirty="0"/>
          </a:p>
        </p:txBody>
      </p:sp>
      <p:sp>
        <p:nvSpPr>
          <p:cNvPr id="8" name="Shape 6"/>
          <p:cNvSpPr/>
          <p:nvPr/>
        </p:nvSpPr>
        <p:spPr>
          <a:xfrm>
            <a:off x="594360" y="3108960"/>
            <a:ext cx="10972800" cy="1417320"/>
          </a:xfrm>
          <a:prstGeom prst="roundRect">
            <a:avLst>
              <a:gd name="adj" fmla="val 5806"/>
            </a:avLst>
          </a:prstGeom>
          <a:solidFill>
            <a:srgbClr val="FFFFFF"/>
          </a:solidFill>
          <a:ln w="12700">
            <a:solidFill>
              <a:srgbClr val="FFFFFF"/>
            </a:solidFill>
            <a:prstDash val="solid"/>
          </a:ln>
        </p:spPr>
        <p:txBody>
          <a:bodyPr/>
          <a:p/>
        </p:txBody>
      </p:sp>
      <p:sp>
        <p:nvSpPr>
          <p:cNvPr id="9" name="Text 7"/>
          <p:cNvSpPr/>
          <p:nvPr/>
        </p:nvSpPr>
        <p:spPr>
          <a:xfrm>
            <a:off x="868680" y="323697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1121A"/>
                </a:solidFill>
                <a:latin typeface="Palatino Linotype" pitchFamily="34" charset="0"/>
                <a:ea typeface="Palatino Linotype" pitchFamily="34" charset="-122"/>
                <a:cs typeface="Palatino Linotype" pitchFamily="34" charset="-120"/>
              </a:rPr>
              <a:t>CE SPUNE SURSA</a:t>
            </a:r>
            <a:endParaRPr lang="en-US" sz="1000" dirty="0"/>
          </a:p>
        </p:txBody>
      </p:sp>
      <p:sp>
        <p:nvSpPr>
          <p:cNvPr id="10" name="Text 8"/>
          <p:cNvSpPr/>
          <p:nvPr/>
        </p:nvSpPr>
        <p:spPr>
          <a:xfrm>
            <a:off x="868680" y="3511296"/>
            <a:ext cx="10424160" cy="960120"/>
          </a:xfrm>
          <a:prstGeom prst="rect">
            <a:avLst/>
          </a:prstGeom>
          <a:noFill/>
          <a:ln/>
        </p:spPr>
        <p:txBody>
          <a:bodyPr wrap="square" lIns="0" tIns="0" rIns="0" bIns="0" rtlCol="0" anchor="t"/>
          <a:lstStyle/>
          <a:p>
            <a:pPr algn="l" indent="0" marL="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Depinde de instrument și de an. PERCEPȚIE: România între locul 5 și locul 7 din 27 (40–53%, 2022–2026); Grecia, prima în fiecare val (88–91%). EXPERIENȚĂ: prima în UE în 2013, 2017, 2019 și 2022; a doua în 2023. CERERE SAU AȘTEPTARE: prima în 2023; în 2026, șapte state membre peste România.</a:t>
            </a:r>
            <a:endParaRPr lang="en-US" sz="1350" dirty="0"/>
          </a:p>
        </p:txBody>
      </p:sp>
      <p:sp>
        <p:nvSpPr>
          <p:cNvPr id="11" name="Shape 9"/>
          <p:cNvSpPr/>
          <p:nvPr/>
        </p:nvSpPr>
        <p:spPr>
          <a:xfrm>
            <a:off x="594360" y="4636008"/>
            <a:ext cx="10972800" cy="1097280"/>
          </a:xfrm>
          <a:prstGeom prst="roundRect">
            <a:avLst>
              <a:gd name="adj" fmla="val 7500"/>
            </a:avLst>
          </a:prstGeom>
          <a:solidFill>
            <a:srgbClr val="D63A48"/>
          </a:solidFill>
          <a:ln w="12700">
            <a:solidFill>
              <a:srgbClr val="D63A48"/>
            </a:solidFill>
            <a:prstDash val="solid"/>
          </a:ln>
        </p:spPr>
        <p:txBody>
          <a:bodyPr/>
          <a:p/>
        </p:txBody>
      </p:sp>
      <p:sp>
        <p:nvSpPr>
          <p:cNvPr id="12" name="Text 10"/>
          <p:cNvSpPr/>
          <p:nvPr/>
        </p:nvSpPr>
        <p:spPr>
          <a:xfrm>
            <a:off x="868680" y="475488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E060B"/>
                </a:solidFill>
                <a:latin typeface="Palatino Linotype" pitchFamily="34" charset="0"/>
                <a:ea typeface="Palatino Linotype" pitchFamily="34" charset="-122"/>
                <a:cs typeface="Palatino Linotype" pitchFamily="34" charset="-120"/>
              </a:rPr>
              <a:t>REGULA TRANSFERABILĂ</a:t>
            </a:r>
            <a:endParaRPr lang="en-US" sz="1000" dirty="0"/>
          </a:p>
        </p:txBody>
      </p:sp>
      <p:sp>
        <p:nvSpPr>
          <p:cNvPr id="13" name="Text 11"/>
          <p:cNvSpPr/>
          <p:nvPr/>
        </p:nvSpPr>
        <p:spPr>
          <a:xfrm>
            <a:off x="868680" y="5029200"/>
            <a:ext cx="10424160" cy="640080"/>
          </a:xfrm>
          <a:prstGeom prst="rect">
            <a:avLst/>
          </a:prstGeom>
          <a:noFill/>
          <a:ln/>
        </p:spPr>
        <p:txBody>
          <a:bodyPr wrap="square" lIns="0" tIns="0" rIns="0" bIns="0" rtlCol="0" anchor="t"/>
          <a:lstStyle/>
          <a:p>
            <a:pPr algn="l" indent="0" marL="0">
              <a:lnSpc>
                <a:spcPts val="1700"/>
              </a:lnSpc>
              <a:buNone/>
            </a:pPr>
            <a:r>
              <a:rPr lang="en-US" sz="1400" b="1" dirty="0">
                <a:solidFill>
                  <a:srgbClr val="2E060B"/>
                </a:solidFill>
                <a:latin typeface="Palatino Linotype" pitchFamily="34" charset="0"/>
                <a:ea typeface="Palatino Linotype" pitchFamily="34" charset="-122"/>
                <a:cs typeface="Palatino Linotype" pitchFamily="34" charset="-120"/>
              </a:rPr>
              <a:t>O afirmație comparativă fără numele instrumentului și fără an nu poate fi verificată și, prin urmare, nu este o afirmație factuală. Cereți instrumentul și anul înainte de a discuta cifra.</a:t>
            </a:r>
            <a:endParaRPr lang="en-US" sz="1400" dirty="0"/>
          </a:p>
        </p:txBody>
      </p:sp>
      <p:sp>
        <p:nvSpPr>
          <p:cNvPr id="14" name="Text 12"/>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2E060B"/>
                </a:solidFill>
                <a:latin typeface="Palatino Linotype" pitchFamily="34" charset="0"/>
                <a:ea typeface="Palatino Linotype" pitchFamily="34" charset="-122"/>
                <a:cs typeface="Palatino Linotype" pitchFamily="34" charset="-120"/>
              </a:rPr>
              <a:t>Eurobarometrele speciale 397–573 (2013–2026), Volumul A; ordonări proprii [TI]</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C24B"/>
                </a:solidFill>
                <a:latin typeface="Palatino Linotype" pitchFamily="34" charset="0"/>
                <a:ea typeface="Palatino Linotype" pitchFamily="34" charset="-122"/>
                <a:cs typeface="Palatino Linotype" pitchFamily="34" charset="-120"/>
              </a:rPr>
              <a:t>O TENTAȚIE UȘOR DE ÎNȚELES</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De ce cele trei nu se pot media</a:t>
            </a:r>
            <a:endParaRPr lang="en-US" sz="3100" dirty="0"/>
          </a:p>
        </p:txBody>
      </p:sp>
      <p:sp>
        <p:nvSpPr>
          <p:cNvPr id="4" name="Shape 2"/>
          <p:cNvSpPr/>
          <p:nvPr/>
        </p:nvSpPr>
        <p:spPr>
          <a:xfrm>
            <a:off x="594360" y="1691640"/>
            <a:ext cx="10972800" cy="1170432"/>
          </a:xfrm>
          <a:prstGeom prst="roundRect">
            <a:avLst>
              <a:gd name="adj" fmla="val 7031"/>
            </a:avLst>
          </a:prstGeom>
          <a:solidFill>
            <a:srgbClr val="1D1F2B"/>
          </a:solidFill>
          <a:ln w="12700">
            <a:solidFill>
              <a:srgbClr val="1D1F2B"/>
            </a:solidFill>
            <a:prstDash val="solid"/>
          </a:ln>
        </p:spPr>
        <p:txBody>
          <a:bodyPr/>
          <a:p/>
        </p:txBody>
      </p:sp>
      <p:sp>
        <p:nvSpPr>
          <p:cNvPr id="5" name="Shape 3"/>
          <p:cNvSpPr/>
          <p:nvPr/>
        </p:nvSpPr>
        <p:spPr>
          <a:xfrm>
            <a:off x="868680" y="1929384"/>
            <a:ext cx="685800" cy="45720"/>
          </a:xfrm>
          <a:prstGeom prst="rect">
            <a:avLst/>
          </a:prstGeom>
          <a:solidFill>
            <a:srgbClr val="FF4757"/>
          </a:solidFill>
          <a:ln w="12700">
            <a:solidFill>
              <a:srgbClr val="FF4757"/>
            </a:solidFill>
            <a:prstDash val="solid"/>
          </a:ln>
        </p:spPr>
        <p:txBody>
          <a:bodyPr/>
          <a:p/>
        </p:txBody>
      </p:sp>
      <p:sp>
        <p:nvSpPr>
          <p:cNvPr id="6" name="Text 4"/>
          <p:cNvSpPr/>
          <p:nvPr/>
        </p:nvSpPr>
        <p:spPr>
          <a:xfrm>
            <a:off x="868680" y="2093976"/>
            <a:ext cx="3291840" cy="329184"/>
          </a:xfrm>
          <a:prstGeom prst="rect">
            <a:avLst/>
          </a:prstGeom>
          <a:noFill/>
          <a:ln/>
        </p:spPr>
        <p:txBody>
          <a:bodyPr wrap="square" lIns="0" tIns="0" rIns="0" bIns="0" rtlCol="0" anchor="t"/>
          <a:lstStyle/>
          <a:p>
            <a:pPr algn="l" indent="0" marL="0">
              <a:lnSpc>
                <a:spcPts val="1800"/>
              </a:lnSpc>
              <a:buNone/>
            </a:pPr>
            <a:r>
              <a:rPr lang="en-US" sz="1350" b="1" dirty="0">
                <a:solidFill>
                  <a:srgbClr val="FF4757"/>
                </a:solidFill>
                <a:latin typeface="Palatino Linotype" pitchFamily="34" charset="0"/>
                <a:ea typeface="Palatino Linotype" pitchFamily="34" charset="-122"/>
                <a:cs typeface="Palatino Linotype" pitchFamily="34" charset="-120"/>
              </a:rPr>
              <a:t>UNITĂȚILE DIFERĂ</a:t>
            </a:r>
            <a:endParaRPr lang="en-US" sz="1350" dirty="0"/>
          </a:p>
        </p:txBody>
      </p:sp>
      <p:sp>
        <p:nvSpPr>
          <p:cNvPr id="7" name="Text 5"/>
          <p:cNvSpPr/>
          <p:nvPr/>
        </p:nvSpPr>
        <p:spPr>
          <a:xfrm>
            <a:off x="4343400" y="1874520"/>
            <a:ext cx="6949440" cy="914400"/>
          </a:xfrm>
          <a:prstGeom prst="rect">
            <a:avLst/>
          </a:prstGeom>
          <a:noFill/>
          <a:ln/>
        </p:spPr>
        <p:txBody>
          <a:bodyPr wrap="square" lIns="0" tIns="0" rIns="0" bIns="0" rtlCol="0" anchor="t"/>
          <a:lstStyle/>
          <a:p>
            <a:pPr algn="l" indent="0" marL="0">
              <a:lnSpc>
                <a:spcPts val="1800"/>
              </a:lnSpc>
              <a:buNone/>
            </a:pPr>
            <a:r>
              <a:rPr lang="en-US" sz="1300" dirty="0">
                <a:solidFill>
                  <a:srgbClr val="959BB0"/>
                </a:solidFill>
                <a:latin typeface="Palatino Linotype" pitchFamily="34" charset="0"/>
                <a:ea typeface="Palatino Linotype" pitchFamily="34" charset="-122"/>
                <a:cs typeface="Palatino Linotype" pitchFamily="34" charset="-120"/>
              </a:rPr>
              <a:t>Un scor de la 0 la 100, o estimare față de media mondială și un procent dintr-o populație filtrată nu sunt trei exprimări ale aceleiași mărimi. Normalizarea nu le face comparabile: face doar diferența invizibilă.</a:t>
            </a:r>
            <a:endParaRPr lang="en-US" sz="1300" dirty="0"/>
          </a:p>
        </p:txBody>
      </p:sp>
      <p:sp>
        <p:nvSpPr>
          <p:cNvPr id="8" name="Shape 6"/>
          <p:cNvSpPr/>
          <p:nvPr/>
        </p:nvSpPr>
        <p:spPr>
          <a:xfrm>
            <a:off x="594360" y="2990088"/>
            <a:ext cx="10972800" cy="1170432"/>
          </a:xfrm>
          <a:prstGeom prst="roundRect">
            <a:avLst>
              <a:gd name="adj" fmla="val 7031"/>
            </a:avLst>
          </a:prstGeom>
          <a:solidFill>
            <a:srgbClr val="1D1F2B"/>
          </a:solidFill>
          <a:ln w="12700">
            <a:solidFill>
              <a:srgbClr val="1D1F2B"/>
            </a:solidFill>
            <a:prstDash val="solid"/>
          </a:ln>
        </p:spPr>
        <p:txBody>
          <a:bodyPr/>
          <a:p/>
        </p:txBody>
      </p:sp>
      <p:sp>
        <p:nvSpPr>
          <p:cNvPr id="9" name="Shape 7"/>
          <p:cNvSpPr/>
          <p:nvPr/>
        </p:nvSpPr>
        <p:spPr>
          <a:xfrm>
            <a:off x="868680" y="3227832"/>
            <a:ext cx="685800" cy="45720"/>
          </a:xfrm>
          <a:prstGeom prst="rect">
            <a:avLst/>
          </a:prstGeom>
          <a:solidFill>
            <a:srgbClr val="FFC24B"/>
          </a:solidFill>
          <a:ln w="12700">
            <a:solidFill>
              <a:srgbClr val="FFC24B"/>
            </a:solidFill>
            <a:prstDash val="solid"/>
          </a:ln>
        </p:spPr>
        <p:txBody>
          <a:bodyPr/>
          <a:p/>
        </p:txBody>
      </p:sp>
      <p:sp>
        <p:nvSpPr>
          <p:cNvPr id="10" name="Text 8"/>
          <p:cNvSpPr/>
          <p:nvPr/>
        </p:nvSpPr>
        <p:spPr>
          <a:xfrm>
            <a:off x="868680" y="3392424"/>
            <a:ext cx="3291840" cy="329184"/>
          </a:xfrm>
          <a:prstGeom prst="rect">
            <a:avLst/>
          </a:prstGeom>
          <a:noFill/>
          <a:ln/>
        </p:spPr>
        <p:txBody>
          <a:bodyPr wrap="square" lIns="0" tIns="0" rIns="0" bIns="0" rtlCol="0" anchor="t"/>
          <a:lstStyle/>
          <a:p>
            <a:pPr algn="l" indent="0" marL="0">
              <a:lnSpc>
                <a:spcPts val="1800"/>
              </a:lnSpc>
              <a:buNone/>
            </a:pPr>
            <a:r>
              <a:rPr lang="en-US" sz="1350" b="1" dirty="0">
                <a:solidFill>
                  <a:srgbClr val="FFC24B"/>
                </a:solidFill>
                <a:latin typeface="Palatino Linotype" pitchFamily="34" charset="0"/>
                <a:ea typeface="Palatino Linotype" pitchFamily="34" charset="-122"/>
                <a:cs typeface="Palatino Linotype" pitchFamily="34" charset="-120"/>
              </a:rPr>
              <a:t>POPULAȚIILE DIFERĂ</a:t>
            </a:r>
            <a:endParaRPr lang="en-US" sz="1350" dirty="0"/>
          </a:p>
        </p:txBody>
      </p:sp>
      <p:sp>
        <p:nvSpPr>
          <p:cNvPr id="11" name="Text 9"/>
          <p:cNvSpPr/>
          <p:nvPr/>
        </p:nvSpPr>
        <p:spPr>
          <a:xfrm>
            <a:off x="4343400" y="3172968"/>
            <a:ext cx="6949440" cy="914400"/>
          </a:xfrm>
          <a:prstGeom prst="rect">
            <a:avLst/>
          </a:prstGeom>
          <a:noFill/>
          <a:ln/>
        </p:spPr>
        <p:txBody>
          <a:bodyPr wrap="square" lIns="0" tIns="0" rIns="0" bIns="0" rtlCol="0" anchor="t"/>
          <a:lstStyle/>
          <a:p>
            <a:pPr algn="l" indent="0" marL="0">
              <a:lnSpc>
                <a:spcPts val="1800"/>
              </a:lnSpc>
              <a:buNone/>
            </a:pPr>
            <a:r>
              <a:rPr lang="en-US" sz="1300" dirty="0">
                <a:solidFill>
                  <a:srgbClr val="959BB0"/>
                </a:solidFill>
                <a:latin typeface="Palatino Linotype" pitchFamily="34" charset="0"/>
                <a:ea typeface="Palatino Linotype" pitchFamily="34" charset="-122"/>
                <a:cs typeface="Palatino Linotype" pitchFamily="34" charset="-120"/>
              </a:rPr>
              <a:t>Experți și oameni de afaceri; o agregare de surse eterogene la nivel de țară; pacienți cu contact recent. Nu există o populație despre care toate trei să afirme ceva.</a:t>
            </a:r>
            <a:endParaRPr lang="en-US" sz="1300" dirty="0"/>
          </a:p>
        </p:txBody>
      </p:sp>
      <p:sp>
        <p:nvSpPr>
          <p:cNvPr id="12" name="Shape 10"/>
          <p:cNvSpPr/>
          <p:nvPr/>
        </p:nvSpPr>
        <p:spPr>
          <a:xfrm>
            <a:off x="594360" y="4288536"/>
            <a:ext cx="10972800" cy="1170432"/>
          </a:xfrm>
          <a:prstGeom prst="roundRect">
            <a:avLst>
              <a:gd name="adj" fmla="val 7031"/>
            </a:avLst>
          </a:prstGeom>
          <a:solidFill>
            <a:srgbClr val="1D1F2B"/>
          </a:solidFill>
          <a:ln w="12700">
            <a:solidFill>
              <a:srgbClr val="1D1F2B"/>
            </a:solidFill>
            <a:prstDash val="solid"/>
          </a:ln>
        </p:spPr>
        <p:txBody>
          <a:bodyPr/>
          <a:p/>
        </p:txBody>
      </p:sp>
      <p:sp>
        <p:nvSpPr>
          <p:cNvPr id="13" name="Shape 11"/>
          <p:cNvSpPr/>
          <p:nvPr/>
        </p:nvSpPr>
        <p:spPr>
          <a:xfrm>
            <a:off x="868680" y="4526280"/>
            <a:ext cx="685800" cy="45720"/>
          </a:xfrm>
          <a:prstGeom prst="rect">
            <a:avLst/>
          </a:prstGeom>
          <a:solidFill>
            <a:srgbClr val="27D3BE"/>
          </a:solidFill>
          <a:ln w="12700">
            <a:solidFill>
              <a:srgbClr val="27D3BE"/>
            </a:solidFill>
            <a:prstDash val="solid"/>
          </a:ln>
        </p:spPr>
        <p:txBody>
          <a:bodyPr/>
          <a:p/>
        </p:txBody>
      </p:sp>
      <p:sp>
        <p:nvSpPr>
          <p:cNvPr id="14" name="Text 12"/>
          <p:cNvSpPr/>
          <p:nvPr/>
        </p:nvSpPr>
        <p:spPr>
          <a:xfrm>
            <a:off x="868680" y="4690872"/>
            <a:ext cx="3291840" cy="329184"/>
          </a:xfrm>
          <a:prstGeom prst="rect">
            <a:avLst/>
          </a:prstGeom>
          <a:noFill/>
          <a:ln/>
        </p:spPr>
        <p:txBody>
          <a:bodyPr wrap="square" lIns="0" tIns="0" rIns="0" bIns="0" rtlCol="0" anchor="t"/>
          <a:lstStyle/>
          <a:p>
            <a:pPr algn="l" indent="0" marL="0">
              <a:lnSpc>
                <a:spcPts val="1800"/>
              </a:lnSpc>
              <a:buNone/>
            </a:pPr>
            <a:r>
              <a:rPr lang="en-US" sz="1350" b="1" dirty="0">
                <a:solidFill>
                  <a:srgbClr val="27D3BE"/>
                </a:solidFill>
                <a:latin typeface="Palatino Linotype" pitchFamily="34" charset="0"/>
                <a:ea typeface="Palatino Linotype" pitchFamily="34" charset="-122"/>
                <a:cs typeface="Palatino Linotype" pitchFamily="34" charset="-120"/>
              </a:rPr>
              <a:t>ANII DE REFERINȚĂ DIFERĂ</a:t>
            </a:r>
            <a:endParaRPr lang="en-US" sz="1350" dirty="0"/>
          </a:p>
        </p:txBody>
      </p:sp>
      <p:sp>
        <p:nvSpPr>
          <p:cNvPr id="15" name="Text 13"/>
          <p:cNvSpPr/>
          <p:nvPr/>
        </p:nvSpPr>
        <p:spPr>
          <a:xfrm>
            <a:off x="4343400" y="4471416"/>
            <a:ext cx="6949440" cy="914400"/>
          </a:xfrm>
          <a:prstGeom prst="rect">
            <a:avLst/>
          </a:prstGeom>
          <a:noFill/>
          <a:ln/>
        </p:spPr>
        <p:txBody>
          <a:bodyPr wrap="square" lIns="0" tIns="0" rIns="0" bIns="0" rtlCol="0" anchor="t"/>
          <a:lstStyle/>
          <a:p>
            <a:pPr algn="l" indent="0" marL="0">
              <a:lnSpc>
                <a:spcPts val="1800"/>
              </a:lnSpc>
              <a:buNone/>
            </a:pPr>
            <a:r>
              <a:rPr lang="en-US" sz="1300" dirty="0">
                <a:solidFill>
                  <a:srgbClr val="959BB0"/>
                </a:solidFill>
                <a:latin typeface="Palatino Linotype" pitchFamily="34" charset="0"/>
                <a:ea typeface="Palatino Linotype" pitchFamily="34" charset="-122"/>
                <a:cs typeface="Palatino Linotype" pitchFamily="34" charset="-120"/>
              </a:rPr>
              <a:t>În exemplul de astăzi: ediția 2025 a indicelui (surse din ultimii doi ani), anul 2025, anul 2023 și perioada 2017–2021. O medie a acestor referințe temporale nu descrie niciun moment real.</a:t>
            </a:r>
            <a:endParaRPr lang="en-US" sz="1300" dirty="0"/>
          </a:p>
        </p:txBody>
      </p:sp>
      <p:sp>
        <p:nvSpPr>
          <p:cNvPr id="16" name="Shape 14"/>
          <p:cNvSpPr/>
          <p:nvPr/>
        </p:nvSpPr>
        <p:spPr>
          <a:xfrm>
            <a:off x="594360" y="5623560"/>
            <a:ext cx="10972800" cy="566928"/>
          </a:xfrm>
          <a:prstGeom prst="roundRect">
            <a:avLst>
              <a:gd name="adj" fmla="val 14516"/>
            </a:avLst>
          </a:prstGeom>
          <a:solidFill>
            <a:srgbClr val="272A38"/>
          </a:solidFill>
          <a:ln w="12700">
            <a:solidFill>
              <a:srgbClr val="272A38"/>
            </a:solidFill>
            <a:prstDash val="solid"/>
          </a:ln>
        </p:spPr>
        <p:txBody>
          <a:bodyPr/>
          <a:p/>
        </p:txBody>
      </p:sp>
      <p:sp>
        <p:nvSpPr>
          <p:cNvPr id="17" name="Text 15"/>
          <p:cNvSpPr/>
          <p:nvPr/>
        </p:nvSpPr>
        <p:spPr>
          <a:xfrm>
            <a:off x="868680" y="5742432"/>
            <a:ext cx="10424160" cy="365760"/>
          </a:xfrm>
          <a:prstGeom prst="rect">
            <a:avLst/>
          </a:prstGeom>
          <a:noFill/>
          <a:ln/>
        </p:spPr>
        <p:txBody>
          <a:bodyPr wrap="square" lIns="0" tIns="0" rIns="0" bIns="0" rtlCol="0" anchor="t"/>
          <a:lstStyle/>
          <a:p>
            <a:pPr algn="l" indent="0" marL="0">
              <a:lnSpc>
                <a:spcPts val="1800"/>
              </a:lnSpc>
              <a:buNone/>
            </a:pPr>
            <a:r>
              <a:rPr lang="en-US" sz="1400" b="1" dirty="0">
                <a:solidFill>
                  <a:srgbClr val="FFC24B"/>
                </a:solidFill>
                <a:latin typeface="Palatino Linotype" pitchFamily="34" charset="0"/>
                <a:ea typeface="Palatino Linotype" pitchFamily="34" charset="-122"/>
                <a:cs typeface="Palatino Linotype" pitchFamily="34" charset="-120"/>
              </a:rPr>
              <a:t>Când vedeți un „indice compozit de integritate a sistemului de sănătate”, cereți documentul de metodologie.</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indent="0" marL="0">
              <a:buNone/>
            </a:pPr>
            <a:r>
              <a:rPr lang="en-US" sz="13500" b="1" dirty="0">
                <a:solidFill>
                  <a:srgbClr val="27D3BE"/>
                </a:solidFill>
                <a:latin typeface="Palatino Linotype" pitchFamily="34" charset="0"/>
                <a:ea typeface="Palatino Linotype" pitchFamily="34" charset="-122"/>
                <a:cs typeface="Palatino Linotype" pitchFamily="34" charset="-120"/>
              </a:rPr>
              <a:t>04</a:t>
            </a:r>
            <a:endParaRPr lang="en-US" sz="13500" dirty="0"/>
          </a:p>
        </p:txBody>
      </p:sp>
      <p:sp>
        <p:nvSpPr>
          <p:cNvPr id="3" name="Shape 1"/>
          <p:cNvSpPr/>
          <p:nvPr/>
        </p:nvSpPr>
        <p:spPr>
          <a:xfrm>
            <a:off x="4160520" y="1691640"/>
            <a:ext cx="27432" cy="1737360"/>
          </a:xfrm>
          <a:prstGeom prst="rect">
            <a:avLst/>
          </a:prstGeom>
          <a:solidFill>
            <a:srgbClr val="27D3BE"/>
          </a:solidFill>
          <a:ln w="12700">
            <a:solidFill>
              <a:srgbClr val="27D3BE"/>
            </a:solidFill>
            <a:prstDash val="solid"/>
          </a:ln>
        </p:spPr>
        <p:txBody>
          <a:bodyPr/>
          <a:p/>
        </p:txBody>
      </p:sp>
      <p:sp>
        <p:nvSpPr>
          <p:cNvPr id="4" name="Text 2"/>
          <p:cNvSpPr/>
          <p:nvPr/>
        </p:nvSpPr>
        <p:spPr>
          <a:xfrm>
            <a:off x="4709160" y="1737360"/>
            <a:ext cx="6858000" cy="822960"/>
          </a:xfrm>
          <a:prstGeom prst="rect">
            <a:avLst/>
          </a:prstGeom>
          <a:noFill/>
          <a:ln/>
        </p:spPr>
        <p:txBody>
          <a:bodyPr wrap="square" lIns="0" tIns="0" rIns="0" bIns="0" rtlCol="0" anchor="ctr"/>
          <a:lstStyle/>
          <a:p>
            <a:pPr indent="0" marL="0">
              <a:buNone/>
            </a:pPr>
            <a:r>
              <a:rPr lang="en-US" sz="3300" b="1" dirty="0">
                <a:solidFill>
                  <a:srgbClr val="FFFFFF"/>
                </a:solidFill>
                <a:latin typeface="Palatino Linotype" pitchFamily="34" charset="0"/>
                <a:ea typeface="Palatino Linotype" pitchFamily="34" charset="-122"/>
                <a:cs typeface="Palatino Linotype" pitchFamily="34" charset="-120"/>
              </a:rPr>
              <a:t>ROMÂNIA</a:t>
            </a:r>
            <a:endParaRPr lang="en-US" sz="3300" dirty="0"/>
          </a:p>
        </p:txBody>
      </p:sp>
      <p:sp>
        <p:nvSpPr>
          <p:cNvPr id="5" name="Text 3"/>
          <p:cNvSpPr/>
          <p:nvPr/>
        </p:nvSpPr>
        <p:spPr>
          <a:xfrm>
            <a:off x="4709160" y="2606040"/>
            <a:ext cx="6858000" cy="1371600"/>
          </a:xfrm>
          <a:prstGeom prst="rect">
            <a:avLst/>
          </a:prstGeom>
          <a:noFill/>
          <a:ln/>
        </p:spPr>
        <p:txBody>
          <a:bodyPr wrap="square" lIns="0" tIns="0" rIns="0" bIns="0" rtlCol="0" anchor="t"/>
          <a:lstStyle/>
          <a:p>
            <a:pPr indent="0" marL="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Toate cele trei instrumente de până acum sunt internaționale, construite pentru comparații între țări. Niciunul nu a fost proiectat pentru a descrie sistemul românesc.</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0E7C6B"/>
                </a:solidFill>
                <a:latin typeface="Palatino Linotype" pitchFamily="34" charset="0"/>
                <a:ea typeface="Palatino Linotype" pitchFamily="34" charset="-122"/>
                <a:cs typeface="Palatino Linotype" pitchFamily="34" charset="-120"/>
              </a:rPr>
              <a:t>O SERIE MULTIANUALĂ A SISTEMULUI ROMÂNESC</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254 de spitale publice, cinci ani</a:t>
            </a:r>
            <a:endParaRPr lang="en-US" sz="31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Date administrative din mecanismul de feedback al pacientului, colectate prin mesaje scurte după externare.</a:t>
            </a:r>
            <a:endParaRPr lang="en-US" sz="1450" dirty="0"/>
          </a:p>
        </p:txBody>
      </p:sp>
      <p:sp>
        <p:nvSpPr>
          <p:cNvPr id="5" name="Shape 3"/>
          <p:cNvSpPr/>
          <p:nvPr/>
        </p:nvSpPr>
        <p:spPr>
          <a:xfrm>
            <a:off x="594360" y="2103120"/>
            <a:ext cx="3529584" cy="1783080"/>
          </a:xfrm>
          <a:prstGeom prst="roundRect">
            <a:avLst>
              <a:gd name="adj" fmla="val 4615"/>
            </a:avLst>
          </a:prstGeom>
          <a:solidFill>
            <a:srgbClr val="ECEAE4"/>
          </a:solidFill>
          <a:ln w="12700">
            <a:solidFill>
              <a:srgbClr val="ECEAE4"/>
            </a:solidFill>
            <a:prstDash val="solid"/>
          </a:ln>
        </p:spPr>
        <p:txBody>
          <a:bodyPr/>
          <a:p/>
        </p:txBody>
      </p:sp>
      <p:sp>
        <p:nvSpPr>
          <p:cNvPr id="6" name="Text 4"/>
          <p:cNvSpPr/>
          <p:nvPr/>
        </p:nvSpPr>
        <p:spPr>
          <a:xfrm>
            <a:off x="850392" y="2249424"/>
            <a:ext cx="3017520" cy="640080"/>
          </a:xfrm>
          <a:prstGeom prst="rect">
            <a:avLst/>
          </a:prstGeom>
          <a:noFill/>
          <a:ln/>
        </p:spPr>
        <p:txBody>
          <a:bodyPr wrap="square" lIns="0" tIns="0" rIns="0" bIns="0" rtlCol="0" anchor="ctr"/>
          <a:lstStyle/>
          <a:p>
            <a:pPr indent="0" marL="0">
              <a:buNone/>
            </a:pPr>
            <a:r>
              <a:rPr lang="en-US" sz="4600" b="1" dirty="0">
                <a:solidFill>
                  <a:srgbClr val="0E7C6B"/>
                </a:solidFill>
                <a:latin typeface="Palatino Linotype" pitchFamily="34" charset="0"/>
                <a:ea typeface="Palatino Linotype" pitchFamily="34" charset="-122"/>
                <a:cs typeface="Palatino Linotype" pitchFamily="34" charset="-120"/>
              </a:rPr>
              <a:t>254</a:t>
            </a:r>
            <a:endParaRPr lang="en-US" sz="4600" dirty="0"/>
          </a:p>
        </p:txBody>
      </p:sp>
      <p:sp>
        <p:nvSpPr>
          <p:cNvPr id="7" name="Text 5"/>
          <p:cNvSpPr/>
          <p:nvPr/>
        </p:nvSpPr>
        <p:spPr>
          <a:xfrm>
            <a:off x="850392" y="2926080"/>
            <a:ext cx="3017520" cy="813816"/>
          </a:xfrm>
          <a:prstGeom prst="rect">
            <a:avLst/>
          </a:prstGeom>
          <a:noFill/>
          <a:ln/>
        </p:spPr>
        <p:txBody>
          <a:bodyPr wrap="square" lIns="0" tIns="0" rIns="0" bIns="0" rtlCol="0" anchor="t"/>
          <a:lstStyle/>
          <a:p>
            <a:pPr indent="0" marL="0">
              <a:lnSpc>
                <a:spcPts val="1600"/>
              </a:lnSpc>
              <a:buNone/>
            </a:pPr>
            <a:r>
              <a:rPr lang="en-US" sz="1150" dirty="0">
                <a:solidFill>
                  <a:srgbClr val="11121A"/>
                </a:solidFill>
                <a:latin typeface="Palatino Linotype" pitchFamily="34" charset="0"/>
                <a:ea typeface="Palatino Linotype" pitchFamily="34" charset="-122"/>
                <a:cs typeface="Palatino Linotype" pitchFamily="34" charset="-120"/>
              </a:rPr>
              <a:t>spitale publice, aproximativ 72% din rețeaua inclusă în sistem</a:t>
            </a:r>
            <a:endParaRPr lang="en-US" sz="1150" dirty="0"/>
          </a:p>
        </p:txBody>
      </p:sp>
      <p:sp>
        <p:nvSpPr>
          <p:cNvPr id="8" name="Shape 6"/>
          <p:cNvSpPr/>
          <p:nvPr/>
        </p:nvSpPr>
        <p:spPr>
          <a:xfrm>
            <a:off x="4315968" y="2103120"/>
            <a:ext cx="3529584" cy="1783080"/>
          </a:xfrm>
          <a:prstGeom prst="roundRect">
            <a:avLst>
              <a:gd name="adj" fmla="val 4615"/>
            </a:avLst>
          </a:prstGeom>
          <a:solidFill>
            <a:srgbClr val="ECEAE4"/>
          </a:solidFill>
          <a:ln w="12700">
            <a:solidFill>
              <a:srgbClr val="ECEAE4"/>
            </a:solidFill>
            <a:prstDash val="solid"/>
          </a:ln>
        </p:spPr>
        <p:txBody>
          <a:bodyPr/>
          <a:p/>
        </p:txBody>
      </p:sp>
      <p:sp>
        <p:nvSpPr>
          <p:cNvPr id="9" name="Text 7"/>
          <p:cNvSpPr/>
          <p:nvPr/>
        </p:nvSpPr>
        <p:spPr>
          <a:xfrm>
            <a:off x="4572000" y="2249424"/>
            <a:ext cx="3017520" cy="640080"/>
          </a:xfrm>
          <a:prstGeom prst="rect">
            <a:avLst/>
          </a:prstGeom>
          <a:noFill/>
          <a:ln/>
        </p:spPr>
        <p:txBody>
          <a:bodyPr wrap="square" lIns="0" tIns="0" rIns="0" bIns="0" rtlCol="0" anchor="ctr"/>
          <a:lstStyle/>
          <a:p>
            <a:pPr indent="0" marL="0">
              <a:buNone/>
            </a:pPr>
            <a:r>
              <a:rPr lang="en-US" sz="3600" b="1" dirty="0">
                <a:solidFill>
                  <a:srgbClr val="4A2D8C"/>
                </a:solidFill>
                <a:latin typeface="Palatino Linotype" pitchFamily="34" charset="0"/>
                <a:ea typeface="Palatino Linotype" pitchFamily="34" charset="-122"/>
                <a:cs typeface="Palatino Linotype" pitchFamily="34" charset="-120"/>
              </a:rPr>
              <a:t>2017–21</a:t>
            </a:r>
            <a:endParaRPr lang="en-US" sz="3600" dirty="0"/>
          </a:p>
        </p:txBody>
      </p:sp>
      <p:sp>
        <p:nvSpPr>
          <p:cNvPr id="10" name="Text 8"/>
          <p:cNvSpPr/>
          <p:nvPr/>
        </p:nvSpPr>
        <p:spPr>
          <a:xfrm>
            <a:off x="4572000" y="2926080"/>
            <a:ext cx="3017520" cy="813816"/>
          </a:xfrm>
          <a:prstGeom prst="rect">
            <a:avLst/>
          </a:prstGeom>
          <a:noFill/>
          <a:ln/>
        </p:spPr>
        <p:txBody>
          <a:bodyPr wrap="square" lIns="0" tIns="0" rIns="0" bIns="0" rtlCol="0" anchor="t"/>
          <a:lstStyle/>
          <a:p>
            <a:pPr indent="0" marL="0">
              <a:lnSpc>
                <a:spcPts val="1600"/>
              </a:lnSpc>
              <a:buNone/>
            </a:pPr>
            <a:r>
              <a:rPr lang="en-US" sz="1150" dirty="0">
                <a:solidFill>
                  <a:srgbClr val="11121A"/>
                </a:solidFill>
                <a:latin typeface="Palatino Linotype" pitchFamily="34" charset="0"/>
                <a:ea typeface="Palatino Linotype" pitchFamily="34" charset="-122"/>
                <a:cs typeface="Palatino Linotype" pitchFamily="34" charset="-120"/>
              </a:rPr>
              <a:t>perioada acoperită: ianuarie 2017 – decembrie 2021</a:t>
            </a:r>
            <a:endParaRPr lang="en-US" sz="1150" dirty="0"/>
          </a:p>
        </p:txBody>
      </p:sp>
      <p:sp>
        <p:nvSpPr>
          <p:cNvPr id="11" name="Shape 9"/>
          <p:cNvSpPr/>
          <p:nvPr/>
        </p:nvSpPr>
        <p:spPr>
          <a:xfrm>
            <a:off x="8037576" y="2103120"/>
            <a:ext cx="3529584" cy="1783080"/>
          </a:xfrm>
          <a:prstGeom prst="roundRect">
            <a:avLst>
              <a:gd name="adj" fmla="val 4615"/>
            </a:avLst>
          </a:prstGeom>
          <a:solidFill>
            <a:srgbClr val="ECEAE4"/>
          </a:solidFill>
          <a:ln w="12700">
            <a:solidFill>
              <a:srgbClr val="ECEAE4"/>
            </a:solidFill>
            <a:prstDash val="solid"/>
          </a:ln>
        </p:spPr>
        <p:txBody>
          <a:bodyPr/>
          <a:p/>
        </p:txBody>
      </p:sp>
      <p:sp>
        <p:nvSpPr>
          <p:cNvPr id="12" name="Text 10"/>
          <p:cNvSpPr/>
          <p:nvPr/>
        </p:nvSpPr>
        <p:spPr>
          <a:xfrm>
            <a:off x="8293608" y="2249424"/>
            <a:ext cx="3017520" cy="640080"/>
          </a:xfrm>
          <a:prstGeom prst="rect">
            <a:avLst/>
          </a:prstGeom>
          <a:noFill/>
          <a:ln/>
        </p:spPr>
        <p:txBody>
          <a:bodyPr wrap="square" lIns="0" tIns="0" rIns="0" bIns="0" rtlCol="0" anchor="ctr"/>
          <a:lstStyle/>
          <a:p>
            <a:pPr indent="0" marL="0">
              <a:buNone/>
            </a:pPr>
            <a:r>
              <a:rPr lang="en-US" sz="3400" b="1" dirty="0">
                <a:solidFill>
                  <a:srgbClr val="8A6100"/>
                </a:solidFill>
                <a:latin typeface="Palatino Linotype" pitchFamily="34" charset="0"/>
                <a:ea typeface="Palatino Linotype" pitchFamily="34" charset="-122"/>
                <a:cs typeface="Palatino Linotype" pitchFamily="34" charset="-120"/>
              </a:rPr>
              <a:t>197 219</a:t>
            </a:r>
            <a:endParaRPr lang="en-US" sz="3400" dirty="0"/>
          </a:p>
        </p:txBody>
      </p:sp>
      <p:sp>
        <p:nvSpPr>
          <p:cNvPr id="13" name="Text 11"/>
          <p:cNvSpPr/>
          <p:nvPr/>
        </p:nvSpPr>
        <p:spPr>
          <a:xfrm>
            <a:off x="8293608" y="2926080"/>
            <a:ext cx="3017520" cy="813816"/>
          </a:xfrm>
          <a:prstGeom prst="rect">
            <a:avLst/>
          </a:prstGeom>
          <a:noFill/>
          <a:ln/>
        </p:spPr>
        <p:txBody>
          <a:bodyPr wrap="square" lIns="0" tIns="0" rIns="0" bIns="0" rtlCol="0" anchor="t"/>
          <a:lstStyle/>
          <a:p>
            <a:pPr indent="0" marL="0">
              <a:lnSpc>
                <a:spcPts val="1600"/>
              </a:lnSpc>
              <a:buNone/>
            </a:pPr>
            <a:r>
              <a:rPr lang="en-US" sz="1150" dirty="0">
                <a:solidFill>
                  <a:srgbClr val="11121A"/>
                </a:solidFill>
                <a:latin typeface="Palatino Linotype" pitchFamily="34" charset="0"/>
                <a:ea typeface="Palatino Linotype" pitchFamily="34" charset="-122"/>
                <a:cs typeface="Palatino Linotype" pitchFamily="34" charset="-120"/>
              </a:rPr>
              <a:t>respondenți în 2021, față de 94 025 în 2017</a:t>
            </a:r>
            <a:endParaRPr lang="en-US" sz="1150" dirty="0"/>
          </a:p>
        </p:txBody>
      </p:sp>
      <p:sp>
        <p:nvSpPr>
          <p:cNvPr id="14" name="Shape 12"/>
          <p:cNvSpPr/>
          <p:nvPr/>
        </p:nvSpPr>
        <p:spPr>
          <a:xfrm>
            <a:off x="594360" y="4069080"/>
            <a:ext cx="10972800" cy="1600200"/>
          </a:xfrm>
          <a:prstGeom prst="roundRect">
            <a:avLst>
              <a:gd name="adj" fmla="val 5143"/>
            </a:avLst>
          </a:prstGeom>
          <a:solidFill>
            <a:srgbClr val="ECEAE4"/>
          </a:solidFill>
          <a:ln w="12700">
            <a:solidFill>
              <a:srgbClr val="ECEAE4"/>
            </a:solidFill>
            <a:prstDash val="solid"/>
          </a:ln>
        </p:spPr>
        <p:txBody>
          <a:bodyPr/>
          <a:p/>
        </p:txBody>
      </p:sp>
      <p:sp>
        <p:nvSpPr>
          <p:cNvPr id="15" name="Text 13"/>
          <p:cNvSpPr/>
          <p:nvPr/>
        </p:nvSpPr>
        <p:spPr>
          <a:xfrm>
            <a:off x="868680" y="4233672"/>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0E7C6B"/>
                </a:solidFill>
                <a:latin typeface="Palatino Linotype" pitchFamily="34" charset="0"/>
                <a:ea typeface="Palatino Linotype" pitchFamily="34" charset="-122"/>
                <a:cs typeface="Palatino Linotype" pitchFamily="34" charset="-120"/>
              </a:rPr>
              <a:t>DESIGNUL, EXACT</a:t>
            </a:r>
            <a:endParaRPr lang="en-US" sz="1000" dirty="0"/>
          </a:p>
        </p:txBody>
      </p:sp>
      <p:sp>
        <p:nvSpPr>
          <p:cNvPr id="16" name="Text 14"/>
          <p:cNvSpPr/>
          <p:nvPr/>
        </p:nvSpPr>
        <p:spPr>
          <a:xfrm>
            <a:off x="868680" y="4535424"/>
            <a:ext cx="10424160" cy="1005840"/>
          </a:xfrm>
          <a:prstGeom prst="rect">
            <a:avLst/>
          </a:prstGeom>
          <a:noFill/>
          <a:ln/>
        </p:spPr>
        <p:txBody>
          <a:bodyPr wrap="square" lIns="0" tIns="0" rIns="0" bIns="0" rtlCol="0" anchor="t"/>
          <a:lstStyle/>
          <a:p>
            <a:pPr algn="l" indent="0" marL="0">
              <a:lnSpc>
                <a:spcPts val="2100"/>
              </a:lnSpc>
              <a:buNone/>
            </a:pPr>
            <a:r>
              <a:rPr lang="en-US" sz="1500" dirty="0">
                <a:solidFill>
                  <a:srgbClr val="11121A"/>
                </a:solidFill>
                <a:latin typeface="Palatino Linotype" pitchFamily="34" charset="0"/>
                <a:ea typeface="Palatino Linotype" pitchFamily="34" charset="-122"/>
                <a:cs typeface="Palatino Linotype" pitchFamily="34" charset="-120"/>
              </a:rPr>
              <a:t>Serie de timp pe date administrative. NU este un eșantion aleatoriu de pacienți: răspund cei care aleg să răspundă unui mesaj. Măsoară raportarea unei SOLICITĂRI, nu prevalența plății.</a:t>
            </a:r>
            <a:endParaRPr lang="en-US" sz="1500" dirty="0"/>
          </a:p>
        </p:txBody>
      </p:sp>
      <p:sp>
        <p:nvSpPr>
          <p:cNvPr id="17" name="Text 15"/>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Mosca I, Radu C, Strilciuc Ș, Ungureanu MI. Journal of Medicine and Life, 2023. doi:10.25122/jml-2023-0080 [TI, text integral PMC]</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27D3BE"/>
                </a:solidFill>
                <a:latin typeface="Palatino Linotype" pitchFamily="34" charset="0"/>
                <a:ea typeface="Palatino Linotype" pitchFamily="34" charset="-122"/>
                <a:cs typeface="Palatino Linotype" pitchFamily="34" charset="-120"/>
              </a:rPr>
              <a:t>ROMÂNIA · MEDIA PE CINCI ANI · 2017–2021</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Cifrele principale, cu intervalele lor</a:t>
            </a:r>
            <a:endParaRPr lang="en-US" sz="3000" dirty="0"/>
          </a:p>
        </p:txBody>
      </p:sp>
      <p:sp>
        <p:nvSpPr>
          <p:cNvPr id="4" name="Text 2"/>
          <p:cNvSpPr/>
          <p:nvPr/>
        </p:nvSpPr>
        <p:spPr>
          <a:xfrm>
            <a:off x="594360" y="2103120"/>
            <a:ext cx="530352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ÎNTREBAREA</a:t>
            </a:r>
            <a:endParaRPr lang="en-US" sz="1050" dirty="0"/>
          </a:p>
        </p:txBody>
      </p:sp>
      <p:sp>
        <p:nvSpPr>
          <p:cNvPr id="5" name="Text 3"/>
          <p:cNvSpPr/>
          <p:nvPr/>
        </p:nvSpPr>
        <p:spPr>
          <a:xfrm>
            <a:off x="5897880" y="2103120"/>
            <a:ext cx="265176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MEDIA 5 ANI</a:t>
            </a:r>
            <a:endParaRPr lang="en-US" sz="1050" dirty="0"/>
          </a:p>
        </p:txBody>
      </p:sp>
      <p:sp>
        <p:nvSpPr>
          <p:cNvPr id="6" name="Text 4"/>
          <p:cNvSpPr/>
          <p:nvPr/>
        </p:nvSpPr>
        <p:spPr>
          <a:xfrm>
            <a:off x="8549640" y="2103120"/>
            <a:ext cx="301752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INTERVAL DE ÎNCREDERE 95%</a:t>
            </a:r>
            <a:endParaRPr lang="en-US" sz="1050" dirty="0"/>
          </a:p>
        </p:txBody>
      </p:sp>
      <p:sp>
        <p:nvSpPr>
          <p:cNvPr id="7" name="Shape 5"/>
          <p:cNvSpPr/>
          <p:nvPr/>
        </p:nvSpPr>
        <p:spPr>
          <a:xfrm>
            <a:off x="594360" y="2505456"/>
            <a:ext cx="10972800" cy="667512"/>
          </a:xfrm>
          <a:prstGeom prst="roundRect">
            <a:avLst>
              <a:gd name="adj" fmla="val 12329"/>
            </a:avLst>
          </a:prstGeom>
          <a:solidFill>
            <a:srgbClr val="1D1F2B"/>
          </a:solidFill>
          <a:ln w="12700">
            <a:solidFill>
              <a:srgbClr val="1D1F2B"/>
            </a:solidFill>
            <a:prstDash val="solid"/>
          </a:ln>
        </p:spPr>
        <p:txBody>
          <a:bodyPr/>
          <a:p/>
        </p:txBody>
      </p:sp>
      <p:sp>
        <p:nvSpPr>
          <p:cNvPr id="8" name="Text 6"/>
          <p:cNvSpPr/>
          <p:nvPr/>
        </p:nvSpPr>
        <p:spPr>
          <a:xfrm>
            <a:off x="868680" y="2505456"/>
            <a:ext cx="5029200" cy="667512"/>
          </a:xfrm>
          <a:prstGeom prst="rect">
            <a:avLst/>
          </a:prstGeom>
          <a:noFill/>
          <a:ln/>
        </p:spPr>
        <p:txBody>
          <a:bodyPr wrap="square" lIns="0" tIns="0" rIns="0" bIns="0" rtlCol="0" anchor="ctr"/>
          <a:lstStyle/>
          <a:p>
            <a:pPr indent="0" marL="0">
              <a:lnSpc>
                <a:spcPts val="1600"/>
              </a:lnSpc>
              <a:buNone/>
            </a:pPr>
            <a:r>
              <a:rPr lang="en-US" sz="1500" b="1" dirty="0">
                <a:solidFill>
                  <a:srgbClr val="FFFFFF"/>
                </a:solidFill>
                <a:latin typeface="Palatino Linotype" pitchFamily="34" charset="0"/>
                <a:ea typeface="Palatino Linotype" pitchFamily="34" charset="-122"/>
                <a:cs typeface="Palatino Linotype" pitchFamily="34" charset="-120"/>
              </a:rPr>
              <a:t>Pacienți care au raportat o solicitare de mită</a:t>
            </a:r>
            <a:endParaRPr lang="en-US" sz="1500" dirty="0"/>
          </a:p>
        </p:txBody>
      </p:sp>
      <p:sp>
        <p:nvSpPr>
          <p:cNvPr id="9" name="Text 7"/>
          <p:cNvSpPr/>
          <p:nvPr/>
        </p:nvSpPr>
        <p:spPr>
          <a:xfrm>
            <a:off x="5897880" y="2505456"/>
            <a:ext cx="246888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3,2%</a:t>
            </a:r>
            <a:endParaRPr lang="en-US" sz="1500" dirty="0"/>
          </a:p>
        </p:txBody>
      </p:sp>
      <p:sp>
        <p:nvSpPr>
          <p:cNvPr id="10" name="Text 8"/>
          <p:cNvSpPr/>
          <p:nvPr/>
        </p:nvSpPr>
        <p:spPr>
          <a:xfrm>
            <a:off x="8549640" y="2505456"/>
            <a:ext cx="283464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3,0% – 3,5%</a:t>
            </a:r>
            <a:endParaRPr lang="en-US" sz="1500" dirty="0"/>
          </a:p>
        </p:txBody>
      </p:sp>
      <p:sp>
        <p:nvSpPr>
          <p:cNvPr id="11" name="Text 9"/>
          <p:cNvSpPr/>
          <p:nvPr/>
        </p:nvSpPr>
        <p:spPr>
          <a:xfrm>
            <a:off x="868680" y="3218688"/>
            <a:ext cx="5029200" cy="667512"/>
          </a:xfrm>
          <a:prstGeom prst="rect">
            <a:avLst/>
          </a:prstGeom>
          <a:noFill/>
          <a:ln/>
        </p:spPr>
        <p:txBody>
          <a:bodyPr wrap="square" lIns="0" tIns="0" rIns="0" bIns="0" rtlCol="0" anchor="ctr"/>
          <a:lstStyle/>
          <a:p>
            <a:pPr indent="0" marL="0">
              <a:lnSpc>
                <a:spcPts val="1600"/>
              </a:lnSpc>
              <a:buNone/>
            </a:pPr>
            <a:r>
              <a:rPr lang="en-US" sz="1500" b="1" dirty="0">
                <a:solidFill>
                  <a:srgbClr val="FFFFFF"/>
                </a:solidFill>
                <a:latin typeface="Palatino Linotype" pitchFamily="34" charset="0"/>
                <a:ea typeface="Palatino Linotype" pitchFamily="34" charset="-122"/>
                <a:cs typeface="Palatino Linotype" pitchFamily="34" charset="-120"/>
              </a:rPr>
              <a:t>Disponibilitate de a raporta</a:t>
            </a:r>
            <a:endParaRPr lang="en-US" sz="1500" dirty="0"/>
          </a:p>
        </p:txBody>
      </p:sp>
      <p:sp>
        <p:nvSpPr>
          <p:cNvPr id="12" name="Text 10"/>
          <p:cNvSpPr/>
          <p:nvPr/>
        </p:nvSpPr>
        <p:spPr>
          <a:xfrm>
            <a:off x="5897880" y="3218688"/>
            <a:ext cx="246888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2,6%</a:t>
            </a:r>
            <a:endParaRPr lang="en-US" sz="1500" dirty="0"/>
          </a:p>
        </p:txBody>
      </p:sp>
      <p:sp>
        <p:nvSpPr>
          <p:cNvPr id="13" name="Text 11"/>
          <p:cNvSpPr/>
          <p:nvPr/>
        </p:nvSpPr>
        <p:spPr>
          <a:xfrm>
            <a:off x="8549640" y="3218688"/>
            <a:ext cx="2834640" cy="667512"/>
          </a:xfrm>
          <a:prstGeom prst="rect">
            <a:avLst/>
          </a:prstGeom>
          <a:noFill/>
          <a:ln/>
        </p:spPr>
        <p:txBody>
          <a:bodyPr wrap="square" lIns="0" tIns="0" rIns="0" bIns="0" rtlCol="0" anchor="ctr"/>
          <a:lstStyle/>
          <a:p>
            <a:pPr indent="0" marL="0">
              <a:lnSpc>
                <a:spcPts val="1600"/>
              </a:lnSpc>
              <a:buNone/>
            </a:pPr>
            <a:r>
              <a:rPr lang="en-US" sz="1500" dirty="0">
                <a:solidFill>
                  <a:srgbClr val="959BB0"/>
                </a:solidFill>
                <a:latin typeface="Palatino Linotype" pitchFamily="34" charset="0"/>
                <a:ea typeface="Palatino Linotype" pitchFamily="34" charset="-122"/>
                <a:cs typeface="Palatino Linotype" pitchFamily="34" charset="-120"/>
              </a:rPr>
              <a:t>2,5% – 2,8%</a:t>
            </a:r>
            <a:endParaRPr lang="en-US" sz="1500" dirty="0"/>
          </a:p>
        </p:txBody>
      </p:sp>
      <p:sp>
        <p:nvSpPr>
          <p:cNvPr id="14" name="Shape 12"/>
          <p:cNvSpPr/>
          <p:nvPr/>
        </p:nvSpPr>
        <p:spPr>
          <a:xfrm>
            <a:off x="594360" y="4041648"/>
            <a:ext cx="10972800" cy="1664208"/>
          </a:xfrm>
          <a:prstGeom prst="roundRect">
            <a:avLst>
              <a:gd name="adj" fmla="val 4945"/>
            </a:avLst>
          </a:prstGeom>
          <a:solidFill>
            <a:srgbClr val="1D1F2B"/>
          </a:solidFill>
          <a:ln w="12700">
            <a:solidFill>
              <a:srgbClr val="1D1F2B"/>
            </a:solidFill>
            <a:prstDash val="solid"/>
          </a:ln>
        </p:spPr>
        <p:txBody>
          <a:bodyPr/>
          <a:p/>
        </p:txBody>
      </p:sp>
      <p:sp>
        <p:nvSpPr>
          <p:cNvPr id="15" name="Text 13"/>
          <p:cNvSpPr/>
          <p:nvPr/>
        </p:nvSpPr>
        <p:spPr>
          <a:xfrm>
            <a:off x="868680" y="420624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7D3BE"/>
                </a:solidFill>
                <a:latin typeface="Palatino Linotype" pitchFamily="34" charset="0"/>
                <a:ea typeface="Palatino Linotype" pitchFamily="34" charset="-122"/>
                <a:cs typeface="Palatino Linotype" pitchFamily="34" charset="-120"/>
              </a:rPr>
              <a:t>CE ÎNSEAMNĂ ȘI CE NU ÎNSEAMNĂ</a:t>
            </a:r>
            <a:endParaRPr lang="en-US" sz="1000" dirty="0"/>
          </a:p>
        </p:txBody>
      </p:sp>
      <p:sp>
        <p:nvSpPr>
          <p:cNvPr id="16" name="Text 14"/>
          <p:cNvSpPr/>
          <p:nvPr/>
        </p:nvSpPr>
        <p:spPr>
          <a:xfrm>
            <a:off x="868680" y="4517136"/>
            <a:ext cx="10424160" cy="1133856"/>
          </a:xfrm>
          <a:prstGeom prst="rect">
            <a:avLst/>
          </a:prstGeom>
          <a:noFill/>
          <a:ln/>
        </p:spPr>
        <p:txBody>
          <a:bodyPr wrap="square" lIns="0" tIns="0" rIns="0" bIns="0" rtlCol="0" anchor="t"/>
          <a:lstStyle/>
          <a:p>
            <a:pPr algn="l" indent="0" marL="0">
              <a:lnSpc>
                <a:spcPts val="2100"/>
              </a:lnSpc>
              <a:buNone/>
            </a:pPr>
            <a:r>
              <a:rPr lang="en-US" sz="1450" dirty="0">
                <a:solidFill>
                  <a:srgbClr val="959BB0"/>
                </a:solidFill>
                <a:latin typeface="Palatino Linotype" pitchFamily="34" charset="0"/>
                <a:ea typeface="Palatino Linotype" pitchFamily="34" charset="-122"/>
                <a:cs typeface="Palatino Linotype" pitchFamily="34" charset="-120"/>
              </a:rPr>
              <a:t>Nu este o măsură a prevalenței plăților informale, ci a RAPORTĂRII UNEI SOLICITĂRI, printr-un canal administrativ. Cine a plătit fără să i se fi cerut explicit nu apare în această cifră.</a:t>
            </a:r>
            <a:endParaRPr lang="en-US" sz="1450" dirty="0"/>
          </a:p>
          <a:p>
            <a:pPr algn="l" indent="0" marL="0">
              <a:lnSpc>
                <a:spcPts val="2100"/>
              </a:lnSpc>
              <a:buNone/>
            </a:pPr>
            <a:endParaRPr lang="en-US" sz="1450" dirty="0"/>
          </a:p>
          <a:p>
            <a:pPr algn="l" indent="0" marL="0">
              <a:lnSpc>
                <a:spcPts val="2100"/>
              </a:lnSpc>
              <a:buNone/>
            </a:pPr>
            <a:r>
              <a:rPr lang="en-US" sz="1450" dirty="0">
                <a:solidFill>
                  <a:srgbClr val="959BB0"/>
                </a:solidFill>
                <a:latin typeface="Palatino Linotype" pitchFamily="34" charset="0"/>
                <a:ea typeface="Palatino Linotype" pitchFamily="34" charset="-122"/>
                <a:cs typeface="Palatino Linotype" pitchFamily="34" charset="-120"/>
              </a:rPr>
              <a:t>Permite, în schimb, comparații în interiorul țării, între regiuni și între tipuri de spitale, cu același instrument.</a:t>
            </a:r>
            <a:endParaRPr lang="en-US" sz="1450" dirty="0"/>
          </a:p>
        </p:txBody>
      </p:sp>
      <p:sp>
        <p:nvSpPr>
          <p:cNvPr id="17" name="Text 15"/>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Mosca I et al. Journal of Medicine and Life, 2023. doi:10.25122/jml-2023-0080 [TI]</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STRUCTURA INTERNĂ A SERIEI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Aceeași țară, aceeași lege, același instrument</a:t>
            </a:r>
            <a:endParaRPr lang="en-US" sz="2900" dirty="0"/>
          </a:p>
        </p:txBody>
      </p:sp>
      <p:sp>
        <p:nvSpPr>
          <p:cNvPr id="4" name="Text 2"/>
          <p:cNvSpPr/>
          <p:nvPr/>
        </p:nvSpPr>
        <p:spPr>
          <a:xfrm>
            <a:off x="594360" y="2029968"/>
            <a:ext cx="3931920" cy="402336"/>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Sud-Est, Sud-Muntenia, Sud-Vest</a:t>
            </a:r>
            <a:endParaRPr lang="en-US" sz="1300" dirty="0"/>
          </a:p>
        </p:txBody>
      </p:sp>
      <p:sp>
        <p:nvSpPr>
          <p:cNvPr id="5" name="Shape 3"/>
          <p:cNvSpPr/>
          <p:nvPr/>
        </p:nvSpPr>
        <p:spPr>
          <a:xfrm>
            <a:off x="4663440" y="2075688"/>
            <a:ext cx="2774551" cy="329184"/>
          </a:xfrm>
          <a:prstGeom prst="roundRect">
            <a:avLst>
              <a:gd name="adj" fmla="val 13889"/>
            </a:avLst>
          </a:prstGeom>
          <a:solidFill>
            <a:srgbClr val="B02532"/>
          </a:solidFill>
          <a:ln w="12700">
            <a:solidFill>
              <a:srgbClr val="B02532"/>
            </a:solidFill>
            <a:prstDash val="solid"/>
          </a:ln>
        </p:spPr>
        <p:txBody>
          <a:bodyPr/>
          <a:p/>
        </p:txBody>
      </p:sp>
      <p:sp>
        <p:nvSpPr>
          <p:cNvPr id="6" name="Text 4"/>
          <p:cNvSpPr/>
          <p:nvPr/>
        </p:nvSpPr>
        <p:spPr>
          <a:xfrm>
            <a:off x="7566007" y="2075688"/>
            <a:ext cx="2377440" cy="329184"/>
          </a:xfrm>
          <a:prstGeom prst="rect">
            <a:avLst/>
          </a:prstGeom>
          <a:noFill/>
          <a:ln/>
        </p:spPr>
        <p:txBody>
          <a:bodyPr wrap="square" lIns="0" tIns="0" rIns="0" bIns="0" rtlCol="0" anchor="ctr"/>
          <a:lstStyle/>
          <a:p>
            <a:pPr algn="l" indent="0" marL="0">
              <a:buNone/>
            </a:pPr>
            <a:r>
              <a:rPr lang="en-US" sz="1350" b="1" dirty="0">
                <a:solidFill>
                  <a:srgbClr val="B02532"/>
                </a:solidFill>
                <a:latin typeface="Palatino Linotype" pitchFamily="34" charset="0"/>
                <a:ea typeface="Palatino Linotype" pitchFamily="34" charset="-122"/>
                <a:cs typeface="Palatino Linotype" pitchFamily="34" charset="-120"/>
              </a:rPr>
              <a:t>5,9%  (4,8–6,9)</a:t>
            </a:r>
            <a:endParaRPr lang="en-US" sz="1350" dirty="0"/>
          </a:p>
        </p:txBody>
      </p:sp>
      <p:sp>
        <p:nvSpPr>
          <p:cNvPr id="7" name="Text 5"/>
          <p:cNvSpPr/>
          <p:nvPr/>
        </p:nvSpPr>
        <p:spPr>
          <a:xfrm>
            <a:off x="594360" y="2871216"/>
            <a:ext cx="3931920" cy="402336"/>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Celelalte cinci regiuni</a:t>
            </a:r>
            <a:endParaRPr lang="en-US" sz="1300" dirty="0"/>
          </a:p>
        </p:txBody>
      </p:sp>
      <p:sp>
        <p:nvSpPr>
          <p:cNvPr id="8" name="Shape 6"/>
          <p:cNvSpPr/>
          <p:nvPr/>
        </p:nvSpPr>
        <p:spPr>
          <a:xfrm>
            <a:off x="4663440" y="2916936"/>
            <a:ext cx="1222683" cy="329184"/>
          </a:xfrm>
          <a:prstGeom prst="roundRect">
            <a:avLst>
              <a:gd name="adj" fmla="val 13889"/>
            </a:avLst>
          </a:prstGeom>
          <a:solidFill>
            <a:srgbClr val="0E7C6B"/>
          </a:solidFill>
          <a:ln w="12700">
            <a:solidFill>
              <a:srgbClr val="0E7C6B"/>
            </a:solidFill>
            <a:prstDash val="solid"/>
          </a:ln>
        </p:spPr>
        <p:txBody>
          <a:bodyPr/>
          <a:p/>
        </p:txBody>
      </p:sp>
      <p:sp>
        <p:nvSpPr>
          <p:cNvPr id="9" name="Text 7"/>
          <p:cNvSpPr/>
          <p:nvPr/>
        </p:nvSpPr>
        <p:spPr>
          <a:xfrm>
            <a:off x="6014139" y="2916936"/>
            <a:ext cx="2377440" cy="329184"/>
          </a:xfrm>
          <a:prstGeom prst="rect">
            <a:avLst/>
          </a:prstGeom>
          <a:noFill/>
          <a:ln/>
        </p:spPr>
        <p:txBody>
          <a:bodyPr wrap="square" lIns="0" tIns="0" rIns="0" bIns="0" rtlCol="0" anchor="ctr"/>
          <a:lstStyle/>
          <a:p>
            <a:pPr algn="l" indent="0" marL="0">
              <a:buNone/>
            </a:pPr>
            <a:r>
              <a:rPr lang="en-US" sz="1350" b="1" dirty="0">
                <a:solidFill>
                  <a:srgbClr val="0E7C6B"/>
                </a:solidFill>
                <a:latin typeface="Palatino Linotype" pitchFamily="34" charset="0"/>
                <a:ea typeface="Palatino Linotype" pitchFamily="34" charset="-122"/>
                <a:cs typeface="Palatino Linotype" pitchFamily="34" charset="-120"/>
              </a:rPr>
              <a:t>2,6%  (2,3–3,0)</a:t>
            </a:r>
            <a:endParaRPr lang="en-US" sz="1350" dirty="0"/>
          </a:p>
        </p:txBody>
      </p:sp>
      <p:sp>
        <p:nvSpPr>
          <p:cNvPr id="10" name="Text 8"/>
          <p:cNvSpPr/>
          <p:nvPr/>
        </p:nvSpPr>
        <p:spPr>
          <a:xfrm>
            <a:off x="594360" y="3712464"/>
            <a:ext cx="3931920" cy="402336"/>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Spitale mari</a:t>
            </a:r>
            <a:endParaRPr lang="en-US" sz="1300" dirty="0"/>
          </a:p>
        </p:txBody>
      </p:sp>
      <p:sp>
        <p:nvSpPr>
          <p:cNvPr id="11" name="Shape 9"/>
          <p:cNvSpPr/>
          <p:nvPr/>
        </p:nvSpPr>
        <p:spPr>
          <a:xfrm>
            <a:off x="4663440" y="3758184"/>
            <a:ext cx="1881051" cy="329184"/>
          </a:xfrm>
          <a:prstGeom prst="roundRect">
            <a:avLst>
              <a:gd name="adj" fmla="val 13889"/>
            </a:avLst>
          </a:prstGeom>
          <a:solidFill>
            <a:srgbClr val="8A6100"/>
          </a:solidFill>
          <a:ln w="12700">
            <a:solidFill>
              <a:srgbClr val="8A6100"/>
            </a:solidFill>
            <a:prstDash val="solid"/>
          </a:ln>
        </p:spPr>
        <p:txBody>
          <a:bodyPr/>
          <a:p/>
        </p:txBody>
      </p:sp>
      <p:sp>
        <p:nvSpPr>
          <p:cNvPr id="12" name="Text 10"/>
          <p:cNvSpPr/>
          <p:nvPr/>
        </p:nvSpPr>
        <p:spPr>
          <a:xfrm>
            <a:off x="6672507" y="3758184"/>
            <a:ext cx="2377440" cy="329184"/>
          </a:xfrm>
          <a:prstGeom prst="rect">
            <a:avLst/>
          </a:prstGeom>
          <a:noFill/>
          <a:ln/>
        </p:spPr>
        <p:txBody>
          <a:bodyPr wrap="square" lIns="0" tIns="0" rIns="0" bIns="0" rtlCol="0" anchor="ctr"/>
          <a:lstStyle/>
          <a:p>
            <a:pPr algn="l" indent="0" marL="0">
              <a:buNone/>
            </a:pPr>
            <a:r>
              <a:rPr lang="en-US" sz="1350" b="1" dirty="0">
                <a:solidFill>
                  <a:srgbClr val="8A6100"/>
                </a:solidFill>
                <a:latin typeface="Palatino Linotype" pitchFamily="34" charset="0"/>
                <a:ea typeface="Palatino Linotype" pitchFamily="34" charset="-122"/>
                <a:cs typeface="Palatino Linotype" pitchFamily="34" charset="-120"/>
              </a:rPr>
              <a:t>4%  (2,7–5,3)</a:t>
            </a:r>
            <a:endParaRPr lang="en-US" sz="1350" dirty="0"/>
          </a:p>
        </p:txBody>
      </p:sp>
      <p:sp>
        <p:nvSpPr>
          <p:cNvPr id="13" name="Text 11"/>
          <p:cNvSpPr/>
          <p:nvPr/>
        </p:nvSpPr>
        <p:spPr>
          <a:xfrm>
            <a:off x="594360" y="4553712"/>
            <a:ext cx="3931920" cy="402336"/>
          </a:xfrm>
          <a:prstGeom prst="rect">
            <a:avLst/>
          </a:prstGeom>
          <a:noFill/>
          <a:ln/>
        </p:spPr>
        <p:txBody>
          <a:bodyPr wrap="square" lIns="0" tIns="0" rIns="0" bIns="0" rtlCol="0" anchor="ctr"/>
          <a:lstStyle/>
          <a:p>
            <a:pPr indent="0" marL="0">
              <a:buNone/>
            </a:pPr>
            <a:r>
              <a:rPr lang="en-US" sz="1300" b="1" dirty="0">
                <a:solidFill>
                  <a:srgbClr val="11121A"/>
                </a:solidFill>
                <a:latin typeface="Palatino Linotype" pitchFamily="34" charset="0"/>
                <a:ea typeface="Palatino Linotype" pitchFamily="34" charset="-122"/>
                <a:cs typeface="Palatino Linotype" pitchFamily="34" charset="-120"/>
              </a:rPr>
              <a:t>Spitale mici și mijlocii</a:t>
            </a:r>
            <a:endParaRPr lang="en-US" sz="1300" dirty="0"/>
          </a:p>
        </p:txBody>
      </p:sp>
      <p:sp>
        <p:nvSpPr>
          <p:cNvPr id="14" name="Shape 12"/>
          <p:cNvSpPr/>
          <p:nvPr/>
        </p:nvSpPr>
        <p:spPr>
          <a:xfrm>
            <a:off x="4663440" y="4599432"/>
            <a:ext cx="1034578" cy="329184"/>
          </a:xfrm>
          <a:prstGeom prst="roundRect">
            <a:avLst>
              <a:gd name="adj" fmla="val 13889"/>
            </a:avLst>
          </a:prstGeom>
          <a:solidFill>
            <a:srgbClr val="0E7C6B"/>
          </a:solidFill>
          <a:ln w="12700">
            <a:solidFill>
              <a:srgbClr val="0E7C6B"/>
            </a:solidFill>
            <a:prstDash val="solid"/>
          </a:ln>
        </p:spPr>
        <p:txBody>
          <a:bodyPr/>
          <a:p/>
        </p:txBody>
      </p:sp>
      <p:sp>
        <p:nvSpPr>
          <p:cNvPr id="15" name="Text 13"/>
          <p:cNvSpPr/>
          <p:nvPr/>
        </p:nvSpPr>
        <p:spPr>
          <a:xfrm>
            <a:off x="5826034" y="4599432"/>
            <a:ext cx="2377440" cy="329184"/>
          </a:xfrm>
          <a:prstGeom prst="rect">
            <a:avLst/>
          </a:prstGeom>
          <a:noFill/>
          <a:ln/>
        </p:spPr>
        <p:txBody>
          <a:bodyPr wrap="square" lIns="0" tIns="0" rIns="0" bIns="0" rtlCol="0" anchor="ctr"/>
          <a:lstStyle/>
          <a:p>
            <a:pPr algn="l" indent="0" marL="0">
              <a:buNone/>
            </a:pPr>
            <a:r>
              <a:rPr lang="en-US" sz="1350" b="1" dirty="0">
                <a:solidFill>
                  <a:srgbClr val="0E7C6B"/>
                </a:solidFill>
                <a:latin typeface="Palatino Linotype" pitchFamily="34" charset="0"/>
                <a:ea typeface="Palatino Linotype" pitchFamily="34" charset="-122"/>
                <a:cs typeface="Palatino Linotype" pitchFamily="34" charset="-120"/>
              </a:rPr>
              <a:t>2,2%  (1,7–2,8)</a:t>
            </a:r>
            <a:endParaRPr lang="en-US" sz="1350" dirty="0"/>
          </a:p>
        </p:txBody>
      </p:sp>
      <p:sp>
        <p:nvSpPr>
          <p:cNvPr id="16" name="Shape 14"/>
          <p:cNvSpPr/>
          <p:nvPr/>
        </p:nvSpPr>
        <p:spPr>
          <a:xfrm>
            <a:off x="594360" y="5486400"/>
            <a:ext cx="10972800" cy="777240"/>
          </a:xfrm>
          <a:prstGeom prst="roundRect">
            <a:avLst>
              <a:gd name="adj" fmla="val 10588"/>
            </a:avLst>
          </a:prstGeom>
          <a:solidFill>
            <a:srgbClr val="FFE9EB"/>
          </a:solidFill>
          <a:ln w="12700">
            <a:solidFill>
              <a:srgbClr val="FFE9EB"/>
            </a:solidFill>
            <a:prstDash val="solid"/>
          </a:ln>
        </p:spPr>
        <p:txBody>
          <a:bodyPr/>
          <a:p/>
        </p:txBody>
      </p:sp>
      <p:sp>
        <p:nvSpPr>
          <p:cNvPr id="17" name="Text 15"/>
          <p:cNvSpPr/>
          <p:nvPr/>
        </p:nvSpPr>
        <p:spPr>
          <a:xfrm>
            <a:off x="868680" y="5650992"/>
            <a:ext cx="10424160" cy="502920"/>
          </a:xfrm>
          <a:prstGeom prst="rect">
            <a:avLst/>
          </a:prstGeom>
          <a:noFill/>
          <a:ln/>
        </p:spPr>
        <p:txBody>
          <a:bodyPr wrap="square" lIns="0" tIns="0" rIns="0" bIns="0" rtlCol="0" anchor="t"/>
          <a:lstStyle/>
          <a:p>
            <a:pPr algn="l" indent="0" marL="0">
              <a:lnSpc>
                <a:spcPts val="1900"/>
              </a:lnSpc>
              <a:buNone/>
            </a:pPr>
            <a:r>
              <a:rPr lang="en-US" sz="1450" b="1" dirty="0">
                <a:solidFill>
                  <a:srgbClr val="B02532"/>
                </a:solidFill>
                <a:latin typeface="Palatino Linotype" pitchFamily="34" charset="0"/>
                <a:ea typeface="Palatino Linotype" pitchFamily="34" charset="-122"/>
                <a:cs typeface="Palatino Linotype" pitchFamily="34" charset="-120"/>
              </a:rPr>
              <a:t>Intervalele primelor două rânduri NU se suprapun. Autorii sugerează o legătură cu sărăcia, necuantificată în analiză; explicația rămâne deschisă.</a:t>
            </a:r>
            <a:endParaRPr lang="en-US" sz="1450" dirty="0"/>
          </a:p>
        </p:txBody>
      </p:sp>
      <p:sp>
        <p:nvSpPr>
          <p:cNvPr id="18" name="Text 16"/>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Mosca I et al. Journal of Medicine and Life, 2023, doi:10.25122/jml-2023-0080 [TI]. În spitalele județene: 6,7% în 2017 → 3,8% în 2021.</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4757"/>
                </a:solidFill>
                <a:latin typeface="Palatino Linotype" pitchFamily="34" charset="0"/>
                <a:ea typeface="Palatino Linotype" pitchFamily="34" charset="-122"/>
                <a:cs typeface="Palatino Linotype" pitchFamily="34" charset="-120"/>
              </a:rPr>
              <a:t>ÎNAPOI LA CIFRA DE LA ÎNCEPUTUL ȘEDINȚEI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De unde vine „jumătate”</a:t>
            </a:r>
            <a:endParaRPr lang="en-US" sz="32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959BB0"/>
                </a:solidFill>
                <a:latin typeface="Palatino Linotype" pitchFamily="34" charset="0"/>
                <a:ea typeface="Palatino Linotype" pitchFamily="34" charset="-122"/>
                <a:cs typeface="Palatino Linotype" pitchFamily="34" charset="-120"/>
              </a:rPr>
              <a:t>Nu vine de nicăieri, dar nici nu are o sursă unică: trei candidate, care nu converg.</a:t>
            </a:r>
            <a:endParaRPr lang="en-US" sz="1450" dirty="0"/>
          </a:p>
        </p:txBody>
      </p:sp>
      <p:sp>
        <p:nvSpPr>
          <p:cNvPr id="5" name="Text 3"/>
          <p:cNvSpPr/>
          <p:nvPr/>
        </p:nvSpPr>
        <p:spPr>
          <a:xfrm>
            <a:off x="594360" y="2103120"/>
            <a:ext cx="310896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CANDIDATA</a:t>
            </a:r>
            <a:endParaRPr lang="en-US" sz="1050" dirty="0"/>
          </a:p>
        </p:txBody>
      </p:sp>
      <p:sp>
        <p:nvSpPr>
          <p:cNvPr id="6" name="Text 4"/>
          <p:cNvSpPr/>
          <p:nvPr/>
        </p:nvSpPr>
        <p:spPr>
          <a:xfrm>
            <a:off x="3703320" y="2103120"/>
            <a:ext cx="786384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CE SPUNE, DE FAPT</a:t>
            </a:r>
            <a:endParaRPr lang="en-US" sz="1050" dirty="0"/>
          </a:p>
        </p:txBody>
      </p:sp>
      <p:sp>
        <p:nvSpPr>
          <p:cNvPr id="7" name="Shape 5"/>
          <p:cNvSpPr/>
          <p:nvPr/>
        </p:nvSpPr>
        <p:spPr>
          <a:xfrm>
            <a:off x="594360" y="2505456"/>
            <a:ext cx="10972800" cy="630936"/>
          </a:xfrm>
          <a:prstGeom prst="roundRect">
            <a:avLst>
              <a:gd name="adj" fmla="val 13043"/>
            </a:avLst>
          </a:prstGeom>
          <a:solidFill>
            <a:srgbClr val="1D1F2B"/>
          </a:solidFill>
          <a:ln w="12700">
            <a:solidFill>
              <a:srgbClr val="1D1F2B"/>
            </a:solidFill>
            <a:prstDash val="solid"/>
          </a:ln>
        </p:spPr>
        <p:txBody>
          <a:bodyPr/>
          <a:p/>
        </p:txBody>
      </p:sp>
      <p:sp>
        <p:nvSpPr>
          <p:cNvPr id="8" name="Text 6"/>
          <p:cNvSpPr/>
          <p:nvPr/>
        </p:nvSpPr>
        <p:spPr>
          <a:xfrm>
            <a:off x="868680" y="2505456"/>
            <a:ext cx="2834640" cy="630936"/>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ASSPRO CEE (anexa, 2014)</a:t>
            </a:r>
            <a:endParaRPr lang="en-US" sz="1350" dirty="0"/>
          </a:p>
        </p:txBody>
      </p:sp>
      <p:sp>
        <p:nvSpPr>
          <p:cNvPr id="9" name="Text 7"/>
          <p:cNvSpPr/>
          <p:nvPr/>
        </p:nvSpPr>
        <p:spPr>
          <a:xfrm>
            <a:off x="3703320" y="2505456"/>
            <a:ext cx="7680960" cy="630936"/>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Proiect 2008–2013: 55% dintre utilizatorii de ambulatoriu, 72% dintre cei internați</a:t>
            </a:r>
            <a:endParaRPr lang="en-US" sz="1350" dirty="0"/>
          </a:p>
        </p:txBody>
      </p:sp>
      <p:sp>
        <p:nvSpPr>
          <p:cNvPr id="10" name="Text 8"/>
          <p:cNvSpPr/>
          <p:nvPr/>
        </p:nvSpPr>
        <p:spPr>
          <a:xfrm>
            <a:off x="868680" y="3182112"/>
            <a:ext cx="2834640" cy="630936"/>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ASSPRO CEE (Mosca, 2023)</a:t>
            </a:r>
            <a:endParaRPr lang="en-US" sz="1350" dirty="0"/>
          </a:p>
        </p:txBody>
      </p:sp>
      <p:sp>
        <p:nvSpPr>
          <p:cNvPr id="11" name="Text 9"/>
          <p:cNvSpPr/>
          <p:nvPr/>
        </p:nvSpPr>
        <p:spPr>
          <a:xfrm>
            <a:off x="3703320" y="3182112"/>
            <a:ext cx="7680960" cy="630936"/>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„Aproape jumătate” pentru spitalizare, aproximativ 29% pentru ambulatoriu</a:t>
            </a:r>
            <a:endParaRPr lang="en-US" sz="1350" dirty="0"/>
          </a:p>
        </p:txBody>
      </p:sp>
      <p:sp>
        <p:nvSpPr>
          <p:cNvPr id="12" name="Shape 10"/>
          <p:cNvSpPr/>
          <p:nvPr/>
        </p:nvSpPr>
        <p:spPr>
          <a:xfrm>
            <a:off x="594360" y="3858768"/>
            <a:ext cx="10972800" cy="630936"/>
          </a:xfrm>
          <a:prstGeom prst="roundRect">
            <a:avLst>
              <a:gd name="adj" fmla="val 13043"/>
            </a:avLst>
          </a:prstGeom>
          <a:solidFill>
            <a:srgbClr val="1D1F2B"/>
          </a:solidFill>
          <a:ln w="12700">
            <a:solidFill>
              <a:srgbClr val="1D1F2B"/>
            </a:solidFill>
            <a:prstDash val="solid"/>
          </a:ln>
        </p:spPr>
        <p:txBody>
          <a:bodyPr/>
          <a:p/>
        </p:txBody>
      </p:sp>
      <p:sp>
        <p:nvSpPr>
          <p:cNvPr id="13" name="Text 11"/>
          <p:cNvSpPr/>
          <p:nvPr/>
        </p:nvSpPr>
        <p:spPr>
          <a:xfrm>
            <a:off x="868680" y="3858768"/>
            <a:ext cx="2834640" cy="630936"/>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Eurobarometrul 2013</a:t>
            </a:r>
            <a:endParaRPr lang="en-US" sz="1350" dirty="0"/>
          </a:p>
        </p:txBody>
      </p:sp>
      <p:sp>
        <p:nvSpPr>
          <p:cNvPr id="14" name="Text 12"/>
          <p:cNvSpPr/>
          <p:nvPr/>
        </p:nvSpPr>
        <p:spPr>
          <a:xfrm>
            <a:off x="3703320" y="3858768"/>
            <a:ext cx="7680960" cy="630936"/>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28% dintre cei cu contact cu sistemul public de sănătate au declarat o plată (UE 5%); „jumătatea”: jumătate dintre aceștia</a:t>
            </a:r>
            <a:endParaRPr lang="en-US" sz="1350" dirty="0"/>
          </a:p>
        </p:txBody>
      </p:sp>
      <p:sp>
        <p:nvSpPr>
          <p:cNvPr id="15" name="Text 13"/>
          <p:cNvSpPr/>
          <p:nvPr/>
        </p:nvSpPr>
        <p:spPr>
          <a:xfrm>
            <a:off x="868680" y="4535424"/>
            <a:ext cx="2834640" cy="630936"/>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Pe cine descrie „jumătatea”</a:t>
            </a:r>
            <a:endParaRPr lang="en-US" sz="1350" dirty="0"/>
          </a:p>
        </p:txBody>
      </p:sp>
      <p:sp>
        <p:nvSpPr>
          <p:cNvPr id="16" name="Text 14"/>
          <p:cNvSpPr/>
          <p:nvPr/>
        </p:nvSpPr>
        <p:spPr>
          <a:xfrm>
            <a:off x="3703320" y="4535424"/>
            <a:ext cx="7680960" cy="630936"/>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Aproximativ 14% dintre cei cu contact au declarat că au simțit că trebuie să plătească și au plătit înainte de îngrijire (calcul propriu)</a:t>
            </a:r>
            <a:endParaRPr lang="en-US" sz="1350" dirty="0"/>
          </a:p>
        </p:txBody>
      </p:sp>
      <p:sp>
        <p:nvSpPr>
          <p:cNvPr id="17" name="Text 15"/>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Comisia Europeană, COM(2014) 38, anexa România [TI] · ASSPRO CEE [SS, neconsultat] · Special Eurobarometer 397, QB2–QB3 [TI] · Mosca et al. 2023 [TI]</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4757"/>
        </a:solidFill>
      </p:bgPr>
    </p:bg>
    <p:spTree>
      <p:nvGrpSpPr>
        <p:cNvPr id="1" name=""/>
        <p:cNvGrpSpPr/>
        <p:nvPr/>
      </p:nvGrpSpPr>
      <p:grpSpPr>
        <a:xfrm>
          <a:off x="0" y="0"/>
          <a:ext cx="0" cy="0"/>
          <a:chOff x="0" y="0"/>
          <a:chExt cx="0" cy="0"/>
        </a:xfrm>
      </p:grpSpPr>
      <p:sp>
        <p:nvSpPr>
          <p:cNvPr id="2" name="Shape 0"/>
          <p:cNvSpPr/>
          <p:nvPr/>
        </p:nvSpPr>
        <p:spPr>
          <a:xfrm>
            <a:off x="594360" y="384048"/>
            <a:ext cx="1737360" cy="310896"/>
          </a:xfrm>
          <a:prstGeom prst="roundRect">
            <a:avLst>
              <a:gd name="adj" fmla="val 50000"/>
            </a:avLst>
          </a:prstGeom>
          <a:solidFill>
            <a:srgbClr val="2E060B"/>
          </a:solidFill>
          <a:ln w="12700">
            <a:solidFill>
              <a:srgbClr val="2E060B"/>
            </a:solidFill>
            <a:prstDash val="solid"/>
          </a:ln>
        </p:spPr>
        <p:txBody>
          <a:bodyPr/>
          <a:p/>
        </p:txBody>
      </p:sp>
      <p:sp>
        <p:nvSpPr>
          <p:cNvPr id="3" name="Text 1"/>
          <p:cNvSpPr/>
          <p:nvPr/>
        </p:nvSpPr>
        <p:spPr>
          <a:xfrm>
            <a:off x="594360" y="384048"/>
            <a:ext cx="1737360" cy="310896"/>
          </a:xfrm>
          <a:prstGeom prst="rect">
            <a:avLst/>
          </a:prstGeom>
          <a:noFill/>
          <a:ln/>
        </p:spPr>
        <p:txBody>
          <a:bodyPr wrap="square" lIns="0" tIns="0" rIns="0" bIns="0" rtlCol="0" anchor="ctr"/>
          <a:lstStyle/>
          <a:p>
            <a:pPr algn="ctr" indent="0" marL="0">
              <a:buNone/>
            </a:pPr>
            <a:r>
              <a:rPr lang="en-US" sz="1000" b="1" dirty="0">
                <a:solidFill>
                  <a:srgbClr val="FF4757"/>
                </a:solidFill>
                <a:latin typeface="Palatino Linotype" pitchFamily="34" charset="0"/>
                <a:ea typeface="Palatino Linotype" pitchFamily="34" charset="-122"/>
                <a:cs typeface="Palatino Linotype" pitchFamily="34" charset="-120"/>
              </a:rPr>
              <a:t>CAPCANA 1 / 4</a:t>
            </a:r>
            <a:endParaRPr lang="en-US" sz="1000" dirty="0"/>
          </a:p>
        </p:txBody>
      </p:sp>
      <p:sp>
        <p:nvSpPr>
          <p:cNvPr id="4" name="Text 2"/>
          <p:cNvSpPr/>
          <p:nvPr/>
        </p:nvSpPr>
        <p:spPr>
          <a:xfrm>
            <a:off x="594360" y="896112"/>
            <a:ext cx="10972800" cy="777240"/>
          </a:xfrm>
          <a:prstGeom prst="rect">
            <a:avLst/>
          </a:prstGeom>
          <a:noFill/>
          <a:ln/>
        </p:spPr>
        <p:txBody>
          <a:bodyPr wrap="square" lIns="0" tIns="0" rIns="0" bIns="0" rtlCol="0" anchor="ctr"/>
          <a:lstStyle/>
          <a:p>
            <a:pPr indent="0" marL="0">
              <a:buNone/>
            </a:pPr>
            <a:r>
              <a:rPr lang="en-US" sz="2700" b="1" dirty="0">
                <a:solidFill>
                  <a:srgbClr val="2E060B"/>
                </a:solidFill>
                <a:latin typeface="Palatino Linotype" pitchFamily="34" charset="0"/>
                <a:ea typeface="Palatino Linotype" pitchFamily="34" charset="-122"/>
                <a:cs typeface="Palatino Linotype" pitchFamily="34" charset="-120"/>
              </a:rPr>
              <a:t>„Aproximativ jumătate dintre pacienții români plătesc informal”</a:t>
            </a:r>
            <a:endParaRPr lang="en-US" sz="2700" dirty="0"/>
          </a:p>
        </p:txBody>
      </p:sp>
      <p:sp>
        <p:nvSpPr>
          <p:cNvPr id="5" name="Shape 3"/>
          <p:cNvSpPr/>
          <p:nvPr/>
        </p:nvSpPr>
        <p:spPr>
          <a:xfrm>
            <a:off x="594360" y="1828800"/>
            <a:ext cx="10972800" cy="1170432"/>
          </a:xfrm>
          <a:prstGeom prst="roundRect">
            <a:avLst>
              <a:gd name="adj" fmla="val 7031"/>
            </a:avLst>
          </a:prstGeom>
          <a:solidFill>
            <a:srgbClr val="D63A48"/>
          </a:solidFill>
          <a:ln w="12700">
            <a:solidFill>
              <a:srgbClr val="D63A48"/>
            </a:solidFill>
            <a:prstDash val="solid"/>
          </a:ln>
        </p:spPr>
        <p:txBody>
          <a:bodyPr/>
          <a:p/>
        </p:txBody>
      </p:sp>
      <p:sp>
        <p:nvSpPr>
          <p:cNvPr id="6" name="Text 4"/>
          <p:cNvSpPr/>
          <p:nvPr/>
        </p:nvSpPr>
        <p:spPr>
          <a:xfrm>
            <a:off x="868680" y="195681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E060B"/>
                </a:solidFill>
                <a:latin typeface="Palatino Linotype" pitchFamily="34" charset="0"/>
                <a:ea typeface="Palatino Linotype" pitchFamily="34" charset="-122"/>
                <a:cs typeface="Palatino Linotype" pitchFamily="34" charset="-120"/>
              </a:rPr>
              <a:t>CE SE AFIRMĂ</a:t>
            </a:r>
            <a:endParaRPr lang="en-US" sz="1000" dirty="0"/>
          </a:p>
        </p:txBody>
      </p:sp>
      <p:sp>
        <p:nvSpPr>
          <p:cNvPr id="7" name="Text 5"/>
          <p:cNvSpPr/>
          <p:nvPr/>
        </p:nvSpPr>
        <p:spPr>
          <a:xfrm>
            <a:off x="868680" y="2231136"/>
            <a:ext cx="10424160" cy="713232"/>
          </a:xfrm>
          <a:prstGeom prst="rect">
            <a:avLst/>
          </a:prstGeom>
          <a:noFill/>
          <a:ln/>
        </p:spPr>
        <p:txBody>
          <a:bodyPr wrap="square" lIns="0" tIns="0" rIns="0" bIns="0" rtlCol="0" anchor="t"/>
          <a:lstStyle/>
          <a:p>
            <a:pPr algn="l" indent="0" marL="0">
              <a:lnSpc>
                <a:spcPts val="1700"/>
              </a:lnSpc>
              <a:buNone/>
            </a:pPr>
            <a:r>
              <a:rPr lang="en-US" sz="1350" dirty="0">
                <a:solidFill>
                  <a:srgbClr val="2E060B"/>
                </a:solidFill>
                <a:latin typeface="Palatino Linotype" pitchFamily="34" charset="0"/>
                <a:ea typeface="Palatino Linotype" pitchFamily="34" charset="-122"/>
                <a:cs typeface="Palatino Linotype" pitchFamily="34" charset="-120"/>
              </a:rPr>
              <a:t>Că aceasta este starea de fapt ACTUALĂ a sistemului de sănătate. Formularea circulă în prezentări, în articole de opinie și în materiale de advocacy, fără an.</a:t>
            </a:r>
            <a:endParaRPr lang="en-US" sz="1350" dirty="0"/>
          </a:p>
        </p:txBody>
      </p:sp>
      <p:sp>
        <p:nvSpPr>
          <p:cNvPr id="8" name="Shape 6"/>
          <p:cNvSpPr/>
          <p:nvPr/>
        </p:nvSpPr>
        <p:spPr>
          <a:xfrm>
            <a:off x="594360" y="3108960"/>
            <a:ext cx="10972800" cy="1417320"/>
          </a:xfrm>
          <a:prstGeom prst="roundRect">
            <a:avLst>
              <a:gd name="adj" fmla="val 5806"/>
            </a:avLst>
          </a:prstGeom>
          <a:solidFill>
            <a:srgbClr val="FFFFFF"/>
          </a:solidFill>
          <a:ln w="12700">
            <a:solidFill>
              <a:srgbClr val="FFFFFF"/>
            </a:solidFill>
            <a:prstDash val="solid"/>
          </a:ln>
        </p:spPr>
        <p:txBody>
          <a:bodyPr/>
          <a:p/>
        </p:txBody>
      </p:sp>
      <p:sp>
        <p:nvSpPr>
          <p:cNvPr id="9" name="Text 7"/>
          <p:cNvSpPr/>
          <p:nvPr/>
        </p:nvSpPr>
        <p:spPr>
          <a:xfrm>
            <a:off x="868680" y="323697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11121A"/>
                </a:solidFill>
                <a:latin typeface="Palatino Linotype" pitchFamily="34" charset="0"/>
                <a:ea typeface="Palatino Linotype" pitchFamily="34" charset="-122"/>
                <a:cs typeface="Palatino Linotype" pitchFamily="34" charset="-120"/>
              </a:rPr>
              <a:t>CE SPUNE SURSA</a:t>
            </a:r>
            <a:endParaRPr lang="en-US" sz="1000" dirty="0"/>
          </a:p>
        </p:txBody>
      </p:sp>
      <p:sp>
        <p:nvSpPr>
          <p:cNvPr id="10" name="Text 8"/>
          <p:cNvSpPr/>
          <p:nvPr/>
        </p:nvSpPr>
        <p:spPr>
          <a:xfrm>
            <a:off x="868680" y="3511296"/>
            <a:ext cx="10424160" cy="960120"/>
          </a:xfrm>
          <a:prstGeom prst="rect">
            <a:avLst/>
          </a:prstGeom>
          <a:noFill/>
          <a:ln/>
        </p:spPr>
        <p:txBody>
          <a:bodyPr wrap="square" lIns="0" tIns="0" rIns="0" bIns="0" rtlCol="0" anchor="t"/>
          <a:lstStyle/>
          <a:p>
            <a:pPr algn="l" indent="0" marL="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Candidatele descriu anii 2008–2013 și nu converg. Pe itemul european de experiență, valoarea României a fost 28% în 2013, 19% în 2017 și în 2019, 18% în 2022 și 9% în 2023: nicio valoare nu se apropie de jumătate.</a:t>
            </a:r>
            <a:endParaRPr lang="en-US" sz="1350" dirty="0"/>
          </a:p>
        </p:txBody>
      </p:sp>
      <p:sp>
        <p:nvSpPr>
          <p:cNvPr id="11" name="Shape 9"/>
          <p:cNvSpPr/>
          <p:nvPr/>
        </p:nvSpPr>
        <p:spPr>
          <a:xfrm>
            <a:off x="594360" y="4636008"/>
            <a:ext cx="10972800" cy="1097280"/>
          </a:xfrm>
          <a:prstGeom prst="roundRect">
            <a:avLst>
              <a:gd name="adj" fmla="val 7500"/>
            </a:avLst>
          </a:prstGeom>
          <a:solidFill>
            <a:srgbClr val="D63A48"/>
          </a:solidFill>
          <a:ln w="12700">
            <a:solidFill>
              <a:srgbClr val="D63A48"/>
            </a:solidFill>
            <a:prstDash val="solid"/>
          </a:ln>
        </p:spPr>
        <p:txBody>
          <a:bodyPr/>
          <a:p/>
        </p:txBody>
      </p:sp>
      <p:sp>
        <p:nvSpPr>
          <p:cNvPr id="12" name="Text 10"/>
          <p:cNvSpPr/>
          <p:nvPr/>
        </p:nvSpPr>
        <p:spPr>
          <a:xfrm>
            <a:off x="868680" y="475488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E060B"/>
                </a:solidFill>
                <a:latin typeface="Palatino Linotype" pitchFamily="34" charset="0"/>
                <a:ea typeface="Palatino Linotype" pitchFamily="34" charset="-122"/>
                <a:cs typeface="Palatino Linotype" pitchFamily="34" charset="-120"/>
              </a:rPr>
              <a:t>REGULA TRANSFERABILĂ</a:t>
            </a:r>
            <a:endParaRPr lang="en-US" sz="1000" dirty="0"/>
          </a:p>
        </p:txBody>
      </p:sp>
      <p:sp>
        <p:nvSpPr>
          <p:cNvPr id="13" name="Text 11"/>
          <p:cNvSpPr/>
          <p:nvPr/>
        </p:nvSpPr>
        <p:spPr>
          <a:xfrm>
            <a:off x="868680" y="5029200"/>
            <a:ext cx="10424160" cy="640080"/>
          </a:xfrm>
          <a:prstGeom prst="rect">
            <a:avLst/>
          </a:prstGeom>
          <a:noFill/>
          <a:ln/>
        </p:spPr>
        <p:txBody>
          <a:bodyPr wrap="square" lIns="0" tIns="0" rIns="0" bIns="0" rtlCol="0" anchor="t"/>
          <a:lstStyle/>
          <a:p>
            <a:pPr algn="l" indent="0" marL="0">
              <a:lnSpc>
                <a:spcPts val="1700"/>
              </a:lnSpc>
              <a:buNone/>
            </a:pPr>
            <a:r>
              <a:rPr lang="en-US" sz="1400" b="1" dirty="0">
                <a:solidFill>
                  <a:srgbClr val="2E060B"/>
                </a:solidFill>
                <a:latin typeface="Palatino Linotype" pitchFamily="34" charset="0"/>
                <a:ea typeface="Palatino Linotype" pitchFamily="34" charset="-122"/>
                <a:cs typeface="Palatino Linotype" pitchFamily="34" charset="-120"/>
              </a:rPr>
              <a:t>O cifră care circulă la mai mult de un deceniu după terenul care a produs-o nu mai poate fi prezentată ca descriere a prezentului fără o măsurătoare nouă.</a:t>
            </a:r>
            <a:endParaRPr lang="en-US" sz="1400" dirty="0"/>
          </a:p>
        </p:txBody>
      </p:sp>
      <p:sp>
        <p:nvSpPr>
          <p:cNvPr id="14" name="Text 12"/>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2E060B"/>
                </a:solidFill>
                <a:latin typeface="Palatino Linotype" pitchFamily="34" charset="0"/>
                <a:ea typeface="Palatino Linotype" pitchFamily="34" charset="-122"/>
                <a:cs typeface="Palatino Linotype" pitchFamily="34" charset="-120"/>
              </a:rPr>
              <a:t>Comisia Europeană, COM(2014) 38, anexa România [TI]; Mosca et al., Journal of Medicine and Life, 2023 [TI]; Special Eurobarometer 397, 470, 502, 523 și 534 [TI].</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FC24B"/>
        </a:solidFill>
      </p:bgPr>
    </p:bg>
    <p:spTree>
      <p:nvGrpSpPr>
        <p:cNvPr id="1" name=""/>
        <p:cNvGrpSpPr/>
        <p:nvPr/>
      </p:nvGrpSpPr>
      <p:grpSpPr>
        <a:xfrm>
          <a:off x="0" y="0"/>
          <a:ext cx="0" cy="0"/>
          <a:chOff x="0" y="0"/>
          <a:chExt cx="0" cy="0"/>
        </a:xfrm>
      </p:grpSpPr>
      <p:sp>
        <p:nvSpPr>
          <p:cNvPr id="2" name="Shape 0"/>
          <p:cNvSpPr/>
          <p:nvPr/>
        </p:nvSpPr>
        <p:spPr>
          <a:xfrm>
            <a:off x="594360" y="384048"/>
            <a:ext cx="2651760" cy="310896"/>
          </a:xfrm>
          <a:prstGeom prst="roundRect">
            <a:avLst>
              <a:gd name="adj" fmla="val 50000"/>
            </a:avLst>
          </a:prstGeom>
          <a:solidFill>
            <a:srgbClr val="3D2A00"/>
          </a:solidFill>
          <a:ln w="12700">
            <a:solidFill>
              <a:srgbClr val="3D2A00"/>
            </a:solidFill>
            <a:prstDash val="solid"/>
          </a:ln>
        </p:spPr>
        <p:txBody>
          <a:bodyPr/>
          <a:p/>
        </p:txBody>
      </p:sp>
      <p:sp>
        <p:nvSpPr>
          <p:cNvPr id="3" name="Text 1"/>
          <p:cNvSpPr/>
          <p:nvPr/>
        </p:nvSpPr>
        <p:spPr>
          <a:xfrm>
            <a:off x="594360" y="384048"/>
            <a:ext cx="2651760" cy="310896"/>
          </a:xfrm>
          <a:prstGeom prst="rect">
            <a:avLst/>
          </a:prstGeom>
          <a:noFill/>
          <a:ln/>
        </p:spPr>
        <p:txBody>
          <a:bodyPr wrap="square" lIns="0" tIns="0" rIns="0" bIns="0" rtlCol="0" anchor="ctr"/>
          <a:lstStyle/>
          <a:p>
            <a:pPr algn="ctr" indent="0" marL="0">
              <a:buNone/>
            </a:pPr>
            <a:r>
              <a:rPr lang="en-US" sz="1000" b="1" dirty="0">
                <a:solidFill>
                  <a:srgbClr val="FFC24B"/>
                </a:solidFill>
                <a:latin typeface="Palatino Linotype" pitchFamily="34" charset="0"/>
                <a:ea typeface="Palatino Linotype" pitchFamily="34" charset="-122"/>
                <a:cs typeface="Palatino Linotype" pitchFamily="34" charset="-120"/>
              </a:rPr>
              <a:t>SE SPUNE LA PERSOANA ÎNTÂI</a:t>
            </a:r>
            <a:endParaRPr lang="en-US" sz="1000" dirty="0"/>
          </a:p>
        </p:txBody>
      </p:sp>
      <p:sp>
        <p:nvSpPr>
          <p:cNvPr id="4" name="Text 2"/>
          <p:cNvSpPr/>
          <p:nvPr/>
        </p:nvSpPr>
        <p:spPr>
          <a:xfrm>
            <a:off x="594360" y="960120"/>
            <a:ext cx="10972800" cy="777240"/>
          </a:xfrm>
          <a:prstGeom prst="rect">
            <a:avLst/>
          </a:prstGeom>
          <a:noFill/>
          <a:ln/>
        </p:spPr>
        <p:txBody>
          <a:bodyPr wrap="square" lIns="0" tIns="0" rIns="0" bIns="0" rtlCol="0" anchor="ctr"/>
          <a:lstStyle/>
          <a:p>
            <a:pPr indent="0" marL="0">
              <a:buNone/>
            </a:pPr>
            <a:r>
              <a:rPr lang="en-US" sz="3100" b="1" dirty="0">
                <a:solidFill>
                  <a:srgbClr val="3D2A00"/>
                </a:solidFill>
                <a:latin typeface="Palatino Linotype" pitchFamily="34" charset="0"/>
                <a:ea typeface="Palatino Linotype" pitchFamily="34" charset="-122"/>
                <a:cs typeface="Palatino Linotype" pitchFamily="34" charset="-120"/>
              </a:rPr>
              <a:t>Este o afirmație pe care am folosit-o eu însumi</a:t>
            </a:r>
            <a:endParaRPr lang="en-US" sz="3100" dirty="0"/>
          </a:p>
        </p:txBody>
      </p:sp>
      <p:sp>
        <p:nvSpPr>
          <p:cNvPr id="5" name="Shape 3"/>
          <p:cNvSpPr/>
          <p:nvPr/>
        </p:nvSpPr>
        <p:spPr>
          <a:xfrm>
            <a:off x="594360" y="1965960"/>
            <a:ext cx="10972800" cy="1783080"/>
          </a:xfrm>
          <a:prstGeom prst="roundRect">
            <a:avLst>
              <a:gd name="adj" fmla="val 4615"/>
            </a:avLst>
          </a:prstGeom>
          <a:solidFill>
            <a:srgbClr val="FFFFFF"/>
          </a:solidFill>
          <a:ln w="12700">
            <a:solidFill>
              <a:srgbClr val="FFFFFF"/>
            </a:solidFill>
            <a:prstDash val="solid"/>
          </a:ln>
        </p:spPr>
        <p:txBody>
          <a:bodyPr/>
          <a:p/>
        </p:txBody>
      </p:sp>
      <p:sp>
        <p:nvSpPr>
          <p:cNvPr id="6" name="Text 4"/>
          <p:cNvSpPr/>
          <p:nvPr/>
        </p:nvSpPr>
        <p:spPr>
          <a:xfrm>
            <a:off x="868680" y="2176272"/>
            <a:ext cx="10424160" cy="1417320"/>
          </a:xfrm>
          <a:prstGeom prst="rect">
            <a:avLst/>
          </a:prstGeom>
          <a:noFill/>
          <a:ln/>
        </p:spPr>
        <p:txBody>
          <a:bodyPr wrap="square" lIns="0" tIns="0" rIns="0" bIns="0" rtlCol="0" anchor="t"/>
          <a:lstStyle/>
          <a:p>
            <a:pPr algn="l" indent="0" marL="0">
              <a:lnSpc>
                <a:spcPts val="2300"/>
              </a:lnSpc>
              <a:buNone/>
            </a:pPr>
            <a:r>
              <a:rPr lang="en-US" sz="1600" dirty="0">
                <a:solidFill>
                  <a:srgbClr val="11121A"/>
                </a:solidFill>
                <a:latin typeface="Palatino Linotype" pitchFamily="34" charset="0"/>
                <a:ea typeface="Palatino Linotype" pitchFamily="34" charset="-122"/>
                <a:cs typeface="Palatino Linotype" pitchFamily="34" charset="-120"/>
              </a:rPr>
              <a:t>Am folosit-o pentru că părea adevărată despre perioada pe care o descrie și pentru că este eficace: ascultătorul o înțelege ca fiind despre prezent. Verificată, ea nu are o sursă unică, iar candidatele din 2008–2013 nu converg.</a:t>
            </a:r>
            <a:endParaRPr lang="en-US" sz="1600" dirty="0"/>
          </a:p>
          <a:p>
            <a:pPr algn="l" indent="0" marL="0">
              <a:lnSpc>
                <a:spcPts val="2300"/>
              </a:lnSpc>
              <a:buNone/>
            </a:pPr>
            <a:endParaRPr lang="en-US" sz="1600" dirty="0"/>
          </a:p>
          <a:p>
            <a:pPr algn="l" indent="0" marL="0">
              <a:lnSpc>
                <a:spcPts val="2300"/>
              </a:lnSpc>
              <a:buNone/>
            </a:pPr>
            <a:r>
              <a:rPr lang="en-US" sz="1600" dirty="0">
                <a:solidFill>
                  <a:srgbClr val="11121A"/>
                </a:solidFill>
                <a:latin typeface="Palatino Linotype" pitchFamily="34" charset="0"/>
                <a:ea typeface="Palatino Linotype" pitchFamily="34" charset="-122"/>
                <a:cs typeface="Palatino Linotype" pitchFamily="34" charset="-120"/>
              </a:rPr>
              <a:t>Chiar exactă pentru perioada ei, o cifră prezentată fără an induce în eroare fără să conțină o neadevărare.</a:t>
            </a:r>
            <a:endParaRPr lang="en-US" sz="1600" dirty="0"/>
          </a:p>
        </p:txBody>
      </p:sp>
      <p:sp>
        <p:nvSpPr>
          <p:cNvPr id="7" name="Shape 5"/>
          <p:cNvSpPr/>
          <p:nvPr/>
        </p:nvSpPr>
        <p:spPr>
          <a:xfrm>
            <a:off x="594360" y="3931920"/>
            <a:ext cx="10972800" cy="1783080"/>
          </a:xfrm>
          <a:prstGeom prst="roundRect">
            <a:avLst>
              <a:gd name="adj" fmla="val 4615"/>
            </a:avLst>
          </a:prstGeom>
          <a:solidFill>
            <a:srgbClr val="D9A233"/>
          </a:solidFill>
          <a:ln w="12700">
            <a:solidFill>
              <a:srgbClr val="D9A233"/>
            </a:solidFill>
            <a:prstDash val="solid"/>
          </a:ln>
        </p:spPr>
        <p:txBody>
          <a:bodyPr/>
          <a:p/>
        </p:txBody>
      </p:sp>
      <p:sp>
        <p:nvSpPr>
          <p:cNvPr id="8" name="Text 6"/>
          <p:cNvSpPr/>
          <p:nvPr/>
        </p:nvSpPr>
        <p:spPr>
          <a:xfrm>
            <a:off x="868680" y="411480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3D2A00"/>
                </a:solidFill>
                <a:latin typeface="Palatino Linotype" pitchFamily="34" charset="0"/>
                <a:ea typeface="Palatino Linotype" pitchFamily="34" charset="-122"/>
                <a:cs typeface="Palatino Linotype" pitchFamily="34" charset="-120"/>
              </a:rPr>
              <a:t>DE CE AM ÎNCEPUT CU EA, ȘI NU CU A ALTCUIVA</a:t>
            </a:r>
            <a:endParaRPr lang="en-US" sz="1000" dirty="0"/>
          </a:p>
        </p:txBody>
      </p:sp>
      <p:sp>
        <p:nvSpPr>
          <p:cNvPr id="9" name="Text 7"/>
          <p:cNvSpPr/>
          <p:nvPr/>
        </p:nvSpPr>
        <p:spPr>
          <a:xfrm>
            <a:off x="868680" y="4434840"/>
            <a:ext cx="10424160" cy="1188720"/>
          </a:xfrm>
          <a:prstGeom prst="rect">
            <a:avLst/>
          </a:prstGeom>
          <a:noFill/>
          <a:ln/>
        </p:spPr>
        <p:txBody>
          <a:bodyPr wrap="square" lIns="0" tIns="0" rIns="0" bIns="0" rtlCol="0" anchor="t"/>
          <a:lstStyle/>
          <a:p>
            <a:pPr algn="l" indent="0" marL="0">
              <a:lnSpc>
                <a:spcPts val="2100"/>
              </a:lnSpc>
              <a:buNone/>
            </a:pPr>
            <a:r>
              <a:rPr lang="en-US" sz="1500" b="1" dirty="0">
                <a:solidFill>
                  <a:srgbClr val="3D2A00"/>
                </a:solidFill>
                <a:latin typeface="Palatino Linotype" pitchFamily="34" charset="0"/>
                <a:ea typeface="Palatino Linotype" pitchFamily="34" charset="-122"/>
                <a:cs typeface="Palatino Linotype" pitchFamily="34" charset="-120"/>
              </a:rPr>
              <a:t>Pentru că regula pe care v-o cer se aplică și mie. Și pentru că veți argumenta public despre sistemul în care veți lucra. Veți avea la dispoziție cifre eficace și cifre corecte, iar ele nu vor coincide întotdeauna. Cursul acesta este despre ce faceți în acel moment.</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indent="0" marL="0">
              <a:buNone/>
            </a:pPr>
            <a:r>
              <a:rPr lang="en-US" sz="13500" b="1" dirty="0">
                <a:solidFill>
                  <a:srgbClr val="9B7EF7"/>
                </a:solidFill>
                <a:latin typeface="Palatino Linotype" pitchFamily="34" charset="0"/>
                <a:ea typeface="Palatino Linotype" pitchFamily="34" charset="-122"/>
                <a:cs typeface="Palatino Linotype" pitchFamily="34" charset="-120"/>
              </a:rPr>
              <a:t>05</a:t>
            </a:r>
            <a:endParaRPr lang="en-US" sz="13500" dirty="0"/>
          </a:p>
        </p:txBody>
      </p:sp>
      <p:sp>
        <p:nvSpPr>
          <p:cNvPr id="3" name="Shape 1"/>
          <p:cNvSpPr/>
          <p:nvPr/>
        </p:nvSpPr>
        <p:spPr>
          <a:xfrm>
            <a:off x="4160520" y="1691640"/>
            <a:ext cx="27432" cy="1737360"/>
          </a:xfrm>
          <a:prstGeom prst="rect">
            <a:avLst/>
          </a:prstGeom>
          <a:solidFill>
            <a:srgbClr val="9B7EF7"/>
          </a:solidFill>
          <a:ln w="12700">
            <a:solidFill>
              <a:srgbClr val="9B7EF7"/>
            </a:solidFill>
            <a:prstDash val="solid"/>
          </a:ln>
        </p:spPr>
        <p:txBody>
          <a:bodyPr/>
          <a:p/>
        </p:txBody>
      </p:sp>
      <p:sp>
        <p:nvSpPr>
          <p:cNvPr id="4" name="Text 2"/>
          <p:cNvSpPr/>
          <p:nvPr/>
        </p:nvSpPr>
        <p:spPr>
          <a:xfrm>
            <a:off x="4709160" y="1737360"/>
            <a:ext cx="6858000" cy="822960"/>
          </a:xfrm>
          <a:prstGeom prst="rect">
            <a:avLst/>
          </a:prstGeom>
          <a:noFill/>
          <a:ln/>
        </p:spPr>
        <p:txBody>
          <a:bodyPr wrap="square" lIns="0" tIns="0" rIns="0" bIns="0" rtlCol="0" anchor="ctr"/>
          <a:lstStyle/>
          <a:p>
            <a:pPr indent="0" marL="0">
              <a:buNone/>
            </a:pPr>
            <a:r>
              <a:rPr lang="en-US" sz="3300" b="1" dirty="0">
                <a:solidFill>
                  <a:srgbClr val="FFFFFF"/>
                </a:solidFill>
                <a:latin typeface="Palatino Linotype" pitchFamily="34" charset="0"/>
                <a:ea typeface="Palatino Linotype" pitchFamily="34" charset="-122"/>
                <a:cs typeface="Palatino Linotype" pitchFamily="34" charset="-120"/>
              </a:rPr>
              <a:t>CONTRACTUL</a:t>
            </a:r>
            <a:endParaRPr lang="en-US" sz="3300" dirty="0"/>
          </a:p>
        </p:txBody>
      </p:sp>
      <p:sp>
        <p:nvSpPr>
          <p:cNvPr id="5" name="Text 3"/>
          <p:cNvSpPr/>
          <p:nvPr/>
        </p:nvSpPr>
        <p:spPr>
          <a:xfrm>
            <a:off x="4709160" y="2606040"/>
            <a:ext cx="6858000" cy="1371600"/>
          </a:xfrm>
          <a:prstGeom prst="rect">
            <a:avLst/>
          </a:prstGeom>
          <a:noFill/>
          <a:ln/>
        </p:spPr>
        <p:txBody>
          <a:bodyPr wrap="square" lIns="0" tIns="0" rIns="0" bIns="0" rtlCol="0" anchor="t"/>
          <a:lstStyle/>
          <a:p>
            <a:pPr indent="0" marL="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Această ședință nu este evaluată, dar stabilește regulile după care se evaluează celelalte. Se enunță acum, o singură dată, ca să nu existe surprize în ședința a patra.</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4A2D8C"/>
                </a:solidFill>
                <a:latin typeface="Palatino Linotype" pitchFamily="34" charset="0"/>
                <a:ea typeface="Palatino Linotype" pitchFamily="34" charset="-122"/>
                <a:cs typeface="Palatino Linotype" pitchFamily="34" charset="-120"/>
              </a:rPr>
              <a:t>EVALUAREA DISCIPLINEI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Trei componente, trei praguri</a:t>
            </a:r>
            <a:endParaRPr lang="en-US" sz="3100" dirty="0"/>
          </a:p>
        </p:txBody>
      </p:sp>
      <p:sp>
        <p:nvSpPr>
          <p:cNvPr id="4" name="Text 2"/>
          <p:cNvSpPr/>
          <p:nvPr/>
        </p:nvSpPr>
        <p:spPr>
          <a:xfrm>
            <a:off x="594360" y="2011680"/>
            <a:ext cx="493776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COMPONENTA</a:t>
            </a:r>
            <a:endParaRPr lang="en-US" sz="1050" dirty="0"/>
          </a:p>
        </p:txBody>
      </p:sp>
      <p:sp>
        <p:nvSpPr>
          <p:cNvPr id="5" name="Text 3"/>
          <p:cNvSpPr/>
          <p:nvPr/>
        </p:nvSpPr>
        <p:spPr>
          <a:xfrm>
            <a:off x="5532120" y="2011680"/>
            <a:ext cx="182880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PONDERE</a:t>
            </a:r>
            <a:endParaRPr lang="en-US" sz="1050" dirty="0"/>
          </a:p>
        </p:txBody>
      </p:sp>
      <p:sp>
        <p:nvSpPr>
          <p:cNvPr id="6" name="Text 4"/>
          <p:cNvSpPr/>
          <p:nvPr/>
        </p:nvSpPr>
        <p:spPr>
          <a:xfrm>
            <a:off x="7360920" y="2011680"/>
            <a:ext cx="420624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CÂND</a:t>
            </a:r>
            <a:endParaRPr lang="en-US" sz="1050" dirty="0"/>
          </a:p>
        </p:txBody>
      </p:sp>
      <p:sp>
        <p:nvSpPr>
          <p:cNvPr id="7" name="Shape 5"/>
          <p:cNvSpPr/>
          <p:nvPr/>
        </p:nvSpPr>
        <p:spPr>
          <a:xfrm>
            <a:off x="594360" y="2414016"/>
            <a:ext cx="10972800" cy="667512"/>
          </a:xfrm>
          <a:prstGeom prst="roundRect">
            <a:avLst>
              <a:gd name="adj" fmla="val 12329"/>
            </a:avLst>
          </a:prstGeom>
          <a:solidFill>
            <a:srgbClr val="ECEAE4"/>
          </a:solidFill>
          <a:ln w="12700">
            <a:solidFill>
              <a:srgbClr val="ECEAE4"/>
            </a:solidFill>
            <a:prstDash val="solid"/>
          </a:ln>
        </p:spPr>
        <p:txBody>
          <a:bodyPr/>
          <a:p/>
        </p:txBody>
      </p:sp>
      <p:sp>
        <p:nvSpPr>
          <p:cNvPr id="8" name="Text 6"/>
          <p:cNvSpPr/>
          <p:nvPr/>
        </p:nvSpPr>
        <p:spPr>
          <a:xfrm>
            <a:off x="868680" y="2414016"/>
            <a:ext cx="4663440" cy="667512"/>
          </a:xfrm>
          <a:prstGeom prst="rect">
            <a:avLst/>
          </a:prstGeom>
          <a:noFill/>
          <a:ln/>
        </p:spPr>
        <p:txBody>
          <a:bodyPr wrap="square" lIns="0" tIns="0" rIns="0" bIns="0" rtlCol="0" anchor="ctr"/>
          <a:lstStyle/>
          <a:p>
            <a:pPr indent="0" marL="0">
              <a:lnSpc>
                <a:spcPts val="1600"/>
              </a:lnSpc>
              <a:buNone/>
            </a:pPr>
            <a:r>
              <a:rPr lang="en-US" sz="1400" b="1" dirty="0">
                <a:solidFill>
                  <a:srgbClr val="11121A"/>
                </a:solidFill>
                <a:latin typeface="Palatino Linotype" pitchFamily="34" charset="0"/>
                <a:ea typeface="Palatino Linotype" pitchFamily="34" charset="-122"/>
                <a:cs typeface="Palatino Linotype" pitchFamily="34" charset="-120"/>
              </a:rPr>
              <a:t>Investigație documentară individuală</a:t>
            </a:r>
            <a:endParaRPr lang="en-US" sz="1400" dirty="0"/>
          </a:p>
        </p:txBody>
      </p:sp>
      <p:sp>
        <p:nvSpPr>
          <p:cNvPr id="9" name="Text 7"/>
          <p:cNvSpPr/>
          <p:nvPr/>
        </p:nvSpPr>
        <p:spPr>
          <a:xfrm>
            <a:off x="5532120" y="2414016"/>
            <a:ext cx="1645920" cy="667512"/>
          </a:xfrm>
          <a:prstGeom prst="rect">
            <a:avLst/>
          </a:prstGeom>
          <a:noFill/>
          <a:ln/>
        </p:spPr>
        <p:txBody>
          <a:bodyPr wrap="square" lIns="0" tIns="0" rIns="0" bIns="0" rtlCol="0" anchor="ctr"/>
          <a:lstStyle/>
          <a:p>
            <a:pPr indent="0" marL="0">
              <a:lnSpc>
                <a:spcPts val="1600"/>
              </a:lnSpc>
              <a:buNone/>
            </a:pPr>
            <a:r>
              <a:rPr lang="en-US" sz="1400" dirty="0">
                <a:solidFill>
                  <a:srgbClr val="11121A"/>
                </a:solidFill>
                <a:latin typeface="Palatino Linotype" pitchFamily="34" charset="0"/>
                <a:ea typeface="Palatino Linotype" pitchFamily="34" charset="-122"/>
                <a:cs typeface="Palatino Linotype" pitchFamily="34" charset="-120"/>
              </a:rPr>
              <a:t>40%</a:t>
            </a:r>
            <a:endParaRPr lang="en-US" sz="1400" dirty="0"/>
          </a:p>
        </p:txBody>
      </p:sp>
      <p:sp>
        <p:nvSpPr>
          <p:cNvPr id="10" name="Text 8"/>
          <p:cNvSpPr/>
          <p:nvPr/>
        </p:nvSpPr>
        <p:spPr>
          <a:xfrm>
            <a:off x="7360920" y="2414016"/>
            <a:ext cx="4023360" cy="667512"/>
          </a:xfrm>
          <a:prstGeom prst="rect">
            <a:avLst/>
          </a:prstGeom>
          <a:noFill/>
          <a:ln/>
        </p:spPr>
        <p:txBody>
          <a:bodyPr wrap="square" lIns="0" tIns="0" rIns="0" bIns="0" rtlCol="0" anchor="ctr"/>
          <a:lstStyle/>
          <a:p>
            <a:pPr indent="0" marL="0">
              <a:lnSpc>
                <a:spcPts val="1600"/>
              </a:lnSpc>
              <a:buNone/>
            </a:pPr>
            <a:r>
              <a:rPr lang="en-US" sz="1400" dirty="0">
                <a:solidFill>
                  <a:srgbClr val="11121A"/>
                </a:solidFill>
                <a:latin typeface="Palatino Linotype" pitchFamily="34" charset="0"/>
                <a:ea typeface="Palatino Linotype" pitchFamily="34" charset="-122"/>
                <a:cs typeface="Palatino Linotype" pitchFamily="34" charset="-120"/>
              </a:rPr>
              <a:t>predare electronică în ședința a șaptea</a:t>
            </a:r>
            <a:endParaRPr lang="en-US" sz="1400" dirty="0"/>
          </a:p>
        </p:txBody>
      </p:sp>
      <p:sp>
        <p:nvSpPr>
          <p:cNvPr id="11" name="Text 9"/>
          <p:cNvSpPr/>
          <p:nvPr/>
        </p:nvSpPr>
        <p:spPr>
          <a:xfrm>
            <a:off x="868680" y="3127248"/>
            <a:ext cx="4663440" cy="667512"/>
          </a:xfrm>
          <a:prstGeom prst="rect">
            <a:avLst/>
          </a:prstGeom>
          <a:noFill/>
          <a:ln/>
        </p:spPr>
        <p:txBody>
          <a:bodyPr wrap="square" lIns="0" tIns="0" rIns="0" bIns="0" rtlCol="0" anchor="ctr"/>
          <a:lstStyle/>
          <a:p>
            <a:pPr indent="0" marL="0">
              <a:lnSpc>
                <a:spcPts val="1600"/>
              </a:lnSpc>
              <a:buNone/>
            </a:pPr>
            <a:r>
              <a:rPr lang="en-US" sz="1400" b="1" dirty="0">
                <a:solidFill>
                  <a:srgbClr val="11121A"/>
                </a:solidFill>
                <a:latin typeface="Palatino Linotype" pitchFamily="34" charset="0"/>
                <a:ea typeface="Palatino Linotype" pitchFamily="34" charset="-122"/>
                <a:cs typeface="Palatino Linotype" pitchFamily="34" charset="-120"/>
              </a:rPr>
              <a:t>Trei dezbateri Oxford evaluate</a:t>
            </a:r>
            <a:endParaRPr lang="en-US" sz="1400" dirty="0"/>
          </a:p>
        </p:txBody>
      </p:sp>
      <p:sp>
        <p:nvSpPr>
          <p:cNvPr id="12" name="Text 10"/>
          <p:cNvSpPr/>
          <p:nvPr/>
        </p:nvSpPr>
        <p:spPr>
          <a:xfrm>
            <a:off x="5532120" y="3127248"/>
            <a:ext cx="1645920" cy="667512"/>
          </a:xfrm>
          <a:prstGeom prst="rect">
            <a:avLst/>
          </a:prstGeom>
          <a:noFill/>
          <a:ln/>
        </p:spPr>
        <p:txBody>
          <a:bodyPr wrap="square" lIns="0" tIns="0" rIns="0" bIns="0" rtlCol="0" anchor="ctr"/>
          <a:lstStyle/>
          <a:p>
            <a:pPr indent="0" marL="0">
              <a:lnSpc>
                <a:spcPts val="1600"/>
              </a:lnSpc>
              <a:buNone/>
            </a:pPr>
            <a:r>
              <a:rPr lang="en-US" sz="1400" dirty="0">
                <a:solidFill>
                  <a:srgbClr val="11121A"/>
                </a:solidFill>
                <a:latin typeface="Palatino Linotype" pitchFamily="34" charset="0"/>
                <a:ea typeface="Palatino Linotype" pitchFamily="34" charset="-122"/>
                <a:cs typeface="Palatino Linotype" pitchFamily="34" charset="-120"/>
              </a:rPr>
              <a:t>30%</a:t>
            </a:r>
            <a:endParaRPr lang="en-US" sz="1400" dirty="0"/>
          </a:p>
        </p:txBody>
      </p:sp>
      <p:sp>
        <p:nvSpPr>
          <p:cNvPr id="13" name="Text 11"/>
          <p:cNvSpPr/>
          <p:nvPr/>
        </p:nvSpPr>
        <p:spPr>
          <a:xfrm>
            <a:off x="7360920" y="3127248"/>
            <a:ext cx="4023360" cy="667512"/>
          </a:xfrm>
          <a:prstGeom prst="rect">
            <a:avLst/>
          </a:prstGeom>
          <a:noFill/>
          <a:ln/>
        </p:spPr>
        <p:txBody>
          <a:bodyPr wrap="square" lIns="0" tIns="0" rIns="0" bIns="0" rtlCol="0" anchor="ctr"/>
          <a:lstStyle/>
          <a:p>
            <a:pPr indent="0" marL="0">
              <a:lnSpc>
                <a:spcPts val="1600"/>
              </a:lnSpc>
              <a:buNone/>
            </a:pPr>
            <a:r>
              <a:rPr lang="en-US" sz="1400" dirty="0">
                <a:solidFill>
                  <a:srgbClr val="11121A"/>
                </a:solidFill>
                <a:latin typeface="Palatino Linotype" pitchFamily="34" charset="0"/>
                <a:ea typeface="Palatino Linotype" pitchFamily="34" charset="-122"/>
                <a:cs typeface="Palatino Linotype" pitchFamily="34" charset="-120"/>
              </a:rPr>
              <a:t>Ședințele 4, 6 și 7</a:t>
            </a:r>
            <a:endParaRPr lang="en-US" sz="1400" dirty="0"/>
          </a:p>
        </p:txBody>
      </p:sp>
      <p:sp>
        <p:nvSpPr>
          <p:cNvPr id="14" name="Shape 12"/>
          <p:cNvSpPr/>
          <p:nvPr/>
        </p:nvSpPr>
        <p:spPr>
          <a:xfrm>
            <a:off x="594360" y="3840480"/>
            <a:ext cx="10972800" cy="667512"/>
          </a:xfrm>
          <a:prstGeom prst="roundRect">
            <a:avLst>
              <a:gd name="adj" fmla="val 12329"/>
            </a:avLst>
          </a:prstGeom>
          <a:solidFill>
            <a:srgbClr val="ECEAE4"/>
          </a:solidFill>
          <a:ln w="12700">
            <a:solidFill>
              <a:srgbClr val="ECEAE4"/>
            </a:solidFill>
            <a:prstDash val="solid"/>
          </a:ln>
        </p:spPr>
        <p:txBody>
          <a:bodyPr/>
          <a:p/>
        </p:txBody>
      </p:sp>
      <p:sp>
        <p:nvSpPr>
          <p:cNvPr id="15" name="Text 13"/>
          <p:cNvSpPr/>
          <p:nvPr/>
        </p:nvSpPr>
        <p:spPr>
          <a:xfrm>
            <a:off x="868680" y="3840480"/>
            <a:ext cx="4663440" cy="667512"/>
          </a:xfrm>
          <a:prstGeom prst="rect">
            <a:avLst/>
          </a:prstGeom>
          <a:noFill/>
          <a:ln/>
        </p:spPr>
        <p:txBody>
          <a:bodyPr wrap="square" lIns="0" tIns="0" rIns="0" bIns="0" rtlCol="0" anchor="ctr"/>
          <a:lstStyle/>
          <a:p>
            <a:pPr indent="0" marL="0">
              <a:lnSpc>
                <a:spcPts val="1600"/>
              </a:lnSpc>
              <a:buNone/>
            </a:pPr>
            <a:r>
              <a:rPr lang="en-US" sz="1400" b="1" dirty="0">
                <a:solidFill>
                  <a:srgbClr val="11121A"/>
                </a:solidFill>
                <a:latin typeface="Palatino Linotype" pitchFamily="34" charset="0"/>
                <a:ea typeface="Palatino Linotype" pitchFamily="34" charset="-122"/>
                <a:cs typeface="Palatino Linotype" pitchFamily="34" charset="-120"/>
              </a:rPr>
              <a:t>Chestionar final (20 de itemi grilă și 2 cu răspuns scurt)</a:t>
            </a:r>
            <a:endParaRPr lang="en-US" sz="1400" dirty="0"/>
          </a:p>
        </p:txBody>
      </p:sp>
      <p:sp>
        <p:nvSpPr>
          <p:cNvPr id="16" name="Text 14"/>
          <p:cNvSpPr/>
          <p:nvPr/>
        </p:nvSpPr>
        <p:spPr>
          <a:xfrm>
            <a:off x="5532120" y="3840480"/>
            <a:ext cx="1645920" cy="667512"/>
          </a:xfrm>
          <a:prstGeom prst="rect">
            <a:avLst/>
          </a:prstGeom>
          <a:noFill/>
          <a:ln/>
        </p:spPr>
        <p:txBody>
          <a:bodyPr wrap="square" lIns="0" tIns="0" rIns="0" bIns="0" rtlCol="0" anchor="ctr"/>
          <a:lstStyle/>
          <a:p>
            <a:pPr indent="0" marL="0">
              <a:lnSpc>
                <a:spcPts val="1600"/>
              </a:lnSpc>
              <a:buNone/>
            </a:pPr>
            <a:r>
              <a:rPr lang="en-US" sz="1400" dirty="0">
                <a:solidFill>
                  <a:srgbClr val="11121A"/>
                </a:solidFill>
                <a:latin typeface="Palatino Linotype" pitchFamily="34" charset="0"/>
                <a:ea typeface="Palatino Linotype" pitchFamily="34" charset="-122"/>
                <a:cs typeface="Palatino Linotype" pitchFamily="34" charset="-120"/>
              </a:rPr>
              <a:t>30%</a:t>
            </a:r>
            <a:endParaRPr lang="en-US" sz="1400" dirty="0"/>
          </a:p>
        </p:txBody>
      </p:sp>
      <p:sp>
        <p:nvSpPr>
          <p:cNvPr id="17" name="Text 15"/>
          <p:cNvSpPr/>
          <p:nvPr/>
        </p:nvSpPr>
        <p:spPr>
          <a:xfrm>
            <a:off x="7360920" y="3840480"/>
            <a:ext cx="4023360" cy="667512"/>
          </a:xfrm>
          <a:prstGeom prst="rect">
            <a:avLst/>
          </a:prstGeom>
          <a:noFill/>
          <a:ln/>
        </p:spPr>
        <p:txBody>
          <a:bodyPr wrap="square" lIns="0" tIns="0" rIns="0" bIns="0" rtlCol="0" anchor="ctr"/>
          <a:lstStyle/>
          <a:p>
            <a:pPr indent="0" marL="0">
              <a:lnSpc>
                <a:spcPts val="1600"/>
              </a:lnSpc>
              <a:buNone/>
            </a:pPr>
            <a:r>
              <a:rPr lang="en-US" sz="1400" dirty="0">
                <a:solidFill>
                  <a:srgbClr val="11121A"/>
                </a:solidFill>
                <a:latin typeface="Palatino Linotype" pitchFamily="34" charset="0"/>
                <a:ea typeface="Palatino Linotype" pitchFamily="34" charset="-122"/>
                <a:cs typeface="Palatino Linotype" pitchFamily="34" charset="-120"/>
              </a:rPr>
              <a:t>Ședința 7</a:t>
            </a:r>
            <a:endParaRPr lang="en-US" sz="1400" dirty="0"/>
          </a:p>
        </p:txBody>
      </p:sp>
      <p:sp>
        <p:nvSpPr>
          <p:cNvPr id="18" name="Shape 16"/>
          <p:cNvSpPr/>
          <p:nvPr/>
        </p:nvSpPr>
        <p:spPr>
          <a:xfrm>
            <a:off x="594360" y="4626864"/>
            <a:ext cx="10972800" cy="1170432"/>
          </a:xfrm>
          <a:prstGeom prst="roundRect">
            <a:avLst>
              <a:gd name="adj" fmla="val 7031"/>
            </a:avLst>
          </a:prstGeom>
          <a:solidFill>
            <a:srgbClr val="ECEAE4"/>
          </a:solidFill>
          <a:ln w="12700">
            <a:solidFill>
              <a:srgbClr val="ECEAE4"/>
            </a:solidFill>
            <a:prstDash val="solid"/>
          </a:ln>
        </p:spPr>
        <p:txBody>
          <a:bodyPr/>
          <a:p/>
        </p:txBody>
      </p:sp>
      <p:sp>
        <p:nvSpPr>
          <p:cNvPr id="19" name="Text 17"/>
          <p:cNvSpPr/>
          <p:nvPr/>
        </p:nvSpPr>
        <p:spPr>
          <a:xfrm>
            <a:off x="868680" y="4791456"/>
            <a:ext cx="10424160" cy="411480"/>
          </a:xfrm>
          <a:prstGeom prst="rect">
            <a:avLst/>
          </a:prstGeom>
          <a:noFill/>
          <a:ln/>
        </p:spPr>
        <p:txBody>
          <a:bodyPr wrap="square" lIns="0" tIns="0" rIns="0" bIns="0" rtlCol="0" anchor="t"/>
          <a:lstStyle/>
          <a:p>
            <a:pPr algn="l" indent="0" marL="0">
              <a:lnSpc>
                <a:spcPts val="1800"/>
              </a:lnSpc>
              <a:buNone/>
            </a:pPr>
            <a:r>
              <a:rPr lang="en-US" sz="1600" b="1" dirty="0">
                <a:solidFill>
                  <a:srgbClr val="11121A"/>
                </a:solidFill>
                <a:latin typeface="Palatino Linotype" pitchFamily="34" charset="0"/>
                <a:ea typeface="Palatino Linotype" pitchFamily="34" charset="-122"/>
                <a:cs typeface="Palatino Linotype" pitchFamily="34" charset="-120"/>
              </a:rPr>
              <a:t>NF = 0,40 × nota investigației + 0,30 × media celor trei dezbateri + 0,30 × nota chestionarului</a:t>
            </a:r>
            <a:endParaRPr lang="en-US" sz="1600" dirty="0"/>
          </a:p>
        </p:txBody>
      </p:sp>
      <p:sp>
        <p:nvSpPr>
          <p:cNvPr id="20" name="Text 18"/>
          <p:cNvSpPr/>
          <p:nvPr/>
        </p:nvSpPr>
        <p:spPr>
          <a:xfrm>
            <a:off x="868680" y="5212080"/>
            <a:ext cx="10424160" cy="530352"/>
          </a:xfrm>
          <a:prstGeom prst="rect">
            <a:avLst/>
          </a:prstGeom>
          <a:noFill/>
          <a:ln/>
        </p:spPr>
        <p:txBody>
          <a:bodyPr wrap="square" lIns="0" tIns="0" rIns="0" bIns="0" rtlCol="0" anchor="t"/>
          <a:lstStyle/>
          <a:p>
            <a:pPr algn="l" indent="0" marL="0">
              <a:lnSpc>
                <a:spcPts val="1800"/>
              </a:lnSpc>
              <a:buNone/>
            </a:pPr>
            <a:r>
              <a:rPr lang="en-US" sz="1350" dirty="0">
                <a:solidFill>
                  <a:srgbClr val="585A64"/>
                </a:solidFill>
                <a:latin typeface="Palatino Linotype" pitchFamily="34" charset="0"/>
                <a:ea typeface="Palatino Linotype" pitchFamily="34" charset="-122"/>
                <a:cs typeface="Palatino Linotype" pitchFamily="34" charset="-120"/>
              </a:rPr>
              <a:t>Minimum 5,00 la FIECARE componentă, nu doar la nota finală. Contestații: 48 de ore de la comunicare, în scris, cu indicarea criteriului contestat; același termen pentru toate cele trei componente.</a:t>
            </a:r>
            <a:endParaRPr lang="en-US" sz="1350" dirty="0"/>
          </a:p>
        </p:txBody>
      </p:sp>
      <p:sp>
        <p:nvSpPr>
          <p:cNvPr id="21" name="Text 19"/>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Contractul complet: fișa disciplinei, secțiunea 10; notele de curs, contractul de evaluare; fișa de resurse, punctul 5.</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27D3BE"/>
                </a:solidFill>
                <a:latin typeface="Palatino Linotype" pitchFamily="34" charset="0"/>
                <a:ea typeface="Palatino Linotype" pitchFamily="34" charset="-122"/>
                <a:cs typeface="Palatino Linotype" pitchFamily="34" charset="-120"/>
              </a:rPr>
              <a:t>IDENTICĂ ÎN ȘEDINȚELE 4, 6 ȘI 7</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Grila dezbaterilor</a:t>
            </a:r>
            <a:endParaRPr lang="en-US" sz="3200" dirty="0"/>
          </a:p>
        </p:txBody>
      </p:sp>
      <p:sp>
        <p:nvSpPr>
          <p:cNvPr id="4" name="Text 2"/>
          <p:cNvSpPr/>
          <p:nvPr/>
        </p:nvSpPr>
        <p:spPr>
          <a:xfrm>
            <a:off x="594360" y="2011680"/>
            <a:ext cx="292608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CRITERIU</a:t>
            </a:r>
            <a:endParaRPr lang="en-US" sz="1050" dirty="0"/>
          </a:p>
        </p:txBody>
      </p:sp>
      <p:sp>
        <p:nvSpPr>
          <p:cNvPr id="5" name="Text 3"/>
          <p:cNvSpPr/>
          <p:nvPr/>
        </p:nvSpPr>
        <p:spPr>
          <a:xfrm>
            <a:off x="3520440" y="2011680"/>
            <a:ext cx="603504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CE SE EVALUEAZĂ</a:t>
            </a:r>
            <a:endParaRPr lang="en-US" sz="1050" dirty="0"/>
          </a:p>
        </p:txBody>
      </p:sp>
      <p:sp>
        <p:nvSpPr>
          <p:cNvPr id="6" name="Text 4"/>
          <p:cNvSpPr/>
          <p:nvPr/>
        </p:nvSpPr>
        <p:spPr>
          <a:xfrm>
            <a:off x="9555480" y="2011680"/>
            <a:ext cx="201168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PUNCTAJ</a:t>
            </a:r>
            <a:endParaRPr lang="en-US" sz="1050" dirty="0"/>
          </a:p>
        </p:txBody>
      </p:sp>
      <p:sp>
        <p:nvSpPr>
          <p:cNvPr id="7" name="Shape 5"/>
          <p:cNvSpPr/>
          <p:nvPr/>
        </p:nvSpPr>
        <p:spPr>
          <a:xfrm>
            <a:off x="594360" y="2414016"/>
            <a:ext cx="10972800" cy="612648"/>
          </a:xfrm>
          <a:prstGeom prst="roundRect">
            <a:avLst>
              <a:gd name="adj" fmla="val 13433"/>
            </a:avLst>
          </a:prstGeom>
          <a:solidFill>
            <a:srgbClr val="1D1F2B"/>
          </a:solidFill>
          <a:ln w="12700">
            <a:solidFill>
              <a:srgbClr val="1D1F2B"/>
            </a:solidFill>
            <a:prstDash val="solid"/>
          </a:ln>
        </p:spPr>
        <p:txBody>
          <a:bodyPr/>
          <a:p/>
        </p:txBody>
      </p:sp>
      <p:sp>
        <p:nvSpPr>
          <p:cNvPr id="8" name="Text 6"/>
          <p:cNvSpPr/>
          <p:nvPr/>
        </p:nvSpPr>
        <p:spPr>
          <a:xfrm>
            <a:off x="868680" y="2414016"/>
            <a:ext cx="2651760" cy="61264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1. Argument</a:t>
            </a:r>
            <a:endParaRPr lang="en-US" sz="1350" dirty="0"/>
          </a:p>
        </p:txBody>
      </p:sp>
      <p:sp>
        <p:nvSpPr>
          <p:cNvPr id="9" name="Text 7"/>
          <p:cNvSpPr/>
          <p:nvPr/>
        </p:nvSpPr>
        <p:spPr>
          <a:xfrm>
            <a:off x="3520440" y="2414016"/>
            <a:ext cx="5852160" cy="61264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Claritatea și coerența poziției susținute</a:t>
            </a:r>
            <a:endParaRPr lang="en-US" sz="1350" dirty="0"/>
          </a:p>
        </p:txBody>
      </p:sp>
      <p:sp>
        <p:nvSpPr>
          <p:cNvPr id="10" name="Text 8"/>
          <p:cNvSpPr/>
          <p:nvPr/>
        </p:nvSpPr>
        <p:spPr>
          <a:xfrm>
            <a:off x="9555480" y="2414016"/>
            <a:ext cx="1828800" cy="61264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0 – 5</a:t>
            </a:r>
            <a:endParaRPr lang="en-US" sz="1350" dirty="0"/>
          </a:p>
        </p:txBody>
      </p:sp>
      <p:sp>
        <p:nvSpPr>
          <p:cNvPr id="11" name="Text 9"/>
          <p:cNvSpPr/>
          <p:nvPr/>
        </p:nvSpPr>
        <p:spPr>
          <a:xfrm>
            <a:off x="868680" y="3072384"/>
            <a:ext cx="2651760" cy="61264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2. Dovezi</a:t>
            </a:r>
            <a:endParaRPr lang="en-US" sz="1350" dirty="0"/>
          </a:p>
        </p:txBody>
      </p:sp>
      <p:sp>
        <p:nvSpPr>
          <p:cNvPr id="12" name="Text 10"/>
          <p:cNvSpPr/>
          <p:nvPr/>
        </p:nvSpPr>
        <p:spPr>
          <a:xfrm>
            <a:off x="3520440" y="3072384"/>
            <a:ext cx="5852160" cy="61264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Surse verificabile, cu identificator, an de referință și populație</a:t>
            </a:r>
            <a:endParaRPr lang="en-US" sz="1350" dirty="0"/>
          </a:p>
        </p:txBody>
      </p:sp>
      <p:sp>
        <p:nvSpPr>
          <p:cNvPr id="13" name="Text 11"/>
          <p:cNvSpPr/>
          <p:nvPr/>
        </p:nvSpPr>
        <p:spPr>
          <a:xfrm>
            <a:off x="9555480" y="3072384"/>
            <a:ext cx="1828800" cy="61264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0 – 5</a:t>
            </a:r>
            <a:endParaRPr lang="en-US" sz="1350" dirty="0"/>
          </a:p>
        </p:txBody>
      </p:sp>
      <p:sp>
        <p:nvSpPr>
          <p:cNvPr id="14" name="Shape 12"/>
          <p:cNvSpPr/>
          <p:nvPr/>
        </p:nvSpPr>
        <p:spPr>
          <a:xfrm>
            <a:off x="594360" y="3730752"/>
            <a:ext cx="10972800" cy="612648"/>
          </a:xfrm>
          <a:prstGeom prst="roundRect">
            <a:avLst>
              <a:gd name="adj" fmla="val 13433"/>
            </a:avLst>
          </a:prstGeom>
          <a:solidFill>
            <a:srgbClr val="1D1F2B"/>
          </a:solidFill>
          <a:ln w="12700">
            <a:solidFill>
              <a:srgbClr val="1D1F2B"/>
            </a:solidFill>
            <a:prstDash val="solid"/>
          </a:ln>
        </p:spPr>
        <p:txBody>
          <a:bodyPr/>
          <a:p/>
        </p:txBody>
      </p:sp>
      <p:sp>
        <p:nvSpPr>
          <p:cNvPr id="15" name="Text 13"/>
          <p:cNvSpPr/>
          <p:nvPr/>
        </p:nvSpPr>
        <p:spPr>
          <a:xfrm>
            <a:off x="868680" y="3730752"/>
            <a:ext cx="2651760" cy="61264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3. Contraargument</a:t>
            </a:r>
            <a:endParaRPr lang="en-US" sz="1350" dirty="0"/>
          </a:p>
        </p:txBody>
      </p:sp>
      <p:sp>
        <p:nvSpPr>
          <p:cNvPr id="16" name="Text 14"/>
          <p:cNvSpPr/>
          <p:nvPr/>
        </p:nvSpPr>
        <p:spPr>
          <a:xfrm>
            <a:off x="3520440" y="3730752"/>
            <a:ext cx="5852160" cy="61264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Capacitatea de a răspunde argumentului advers</a:t>
            </a:r>
            <a:endParaRPr lang="en-US" sz="1350" dirty="0"/>
          </a:p>
        </p:txBody>
      </p:sp>
      <p:sp>
        <p:nvSpPr>
          <p:cNvPr id="17" name="Text 15"/>
          <p:cNvSpPr/>
          <p:nvPr/>
        </p:nvSpPr>
        <p:spPr>
          <a:xfrm>
            <a:off x="9555480" y="3730752"/>
            <a:ext cx="1828800" cy="61264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0 – 5</a:t>
            </a:r>
            <a:endParaRPr lang="en-US" sz="1350" dirty="0"/>
          </a:p>
        </p:txBody>
      </p:sp>
      <p:sp>
        <p:nvSpPr>
          <p:cNvPr id="18" name="Text 16"/>
          <p:cNvSpPr/>
          <p:nvPr/>
        </p:nvSpPr>
        <p:spPr>
          <a:xfrm>
            <a:off x="868680" y="4389120"/>
            <a:ext cx="2651760" cy="61264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4. Dovada contrară</a:t>
            </a:r>
            <a:endParaRPr lang="en-US" sz="1350" dirty="0"/>
          </a:p>
        </p:txBody>
      </p:sp>
      <p:sp>
        <p:nvSpPr>
          <p:cNvPr id="19" name="Text 17"/>
          <p:cNvSpPr/>
          <p:nvPr/>
        </p:nvSpPr>
        <p:spPr>
          <a:xfrm>
            <a:off x="3520440" y="4389120"/>
            <a:ext cx="5852160" cy="61264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Cum integrați cifra din plicul sigilat</a:t>
            </a:r>
            <a:endParaRPr lang="en-US" sz="1350" dirty="0"/>
          </a:p>
        </p:txBody>
      </p:sp>
      <p:sp>
        <p:nvSpPr>
          <p:cNvPr id="20" name="Text 18"/>
          <p:cNvSpPr/>
          <p:nvPr/>
        </p:nvSpPr>
        <p:spPr>
          <a:xfrm>
            <a:off x="9555480" y="4389120"/>
            <a:ext cx="1828800" cy="61264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0 – 5</a:t>
            </a:r>
            <a:endParaRPr lang="en-US" sz="1350" dirty="0"/>
          </a:p>
        </p:txBody>
      </p:sp>
      <p:sp>
        <p:nvSpPr>
          <p:cNvPr id="21" name="Shape 19"/>
          <p:cNvSpPr/>
          <p:nvPr/>
        </p:nvSpPr>
        <p:spPr>
          <a:xfrm>
            <a:off x="594360" y="5120640"/>
            <a:ext cx="10972800" cy="1060704"/>
          </a:xfrm>
          <a:prstGeom prst="roundRect">
            <a:avLst>
              <a:gd name="adj" fmla="val 7759"/>
            </a:avLst>
          </a:prstGeom>
          <a:solidFill>
            <a:srgbClr val="07564B"/>
          </a:solidFill>
          <a:ln w="12700">
            <a:solidFill>
              <a:srgbClr val="07564B"/>
            </a:solidFill>
            <a:prstDash val="solid"/>
          </a:ln>
        </p:spPr>
        <p:txBody>
          <a:bodyPr/>
          <a:p/>
        </p:txBody>
      </p:sp>
      <p:sp>
        <p:nvSpPr>
          <p:cNvPr id="22" name="Text 20"/>
          <p:cNvSpPr/>
          <p:nvPr/>
        </p:nvSpPr>
        <p:spPr>
          <a:xfrm>
            <a:off x="868680" y="5248656"/>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FFFFFF"/>
                </a:solidFill>
                <a:latin typeface="Palatino Linotype" pitchFamily="34" charset="0"/>
                <a:ea typeface="Palatino Linotype" pitchFamily="34" charset="-122"/>
                <a:cs typeface="Palatino Linotype" pitchFamily="34" charset="-120"/>
              </a:rPr>
              <a:t>REGULA DE CONVERSIE</a:t>
            </a:r>
            <a:endParaRPr lang="en-US" sz="1000" dirty="0"/>
          </a:p>
        </p:txBody>
      </p:sp>
      <p:sp>
        <p:nvSpPr>
          <p:cNvPr id="23" name="Text 21"/>
          <p:cNvSpPr/>
          <p:nvPr/>
        </p:nvSpPr>
        <p:spPr>
          <a:xfrm>
            <a:off x="868680" y="5541264"/>
            <a:ext cx="10424160" cy="566928"/>
          </a:xfrm>
          <a:prstGeom prst="rect">
            <a:avLst/>
          </a:prstGeom>
          <a:noFill/>
          <a:ln/>
        </p:spPr>
        <p:txBody>
          <a:bodyPr wrap="square" lIns="0" tIns="0" rIns="0" bIns="0" rtlCol="0" anchor="t"/>
          <a:lstStyle/>
          <a:p>
            <a:pPr algn="l" indent="0" marL="0">
              <a:lnSpc>
                <a:spcPts val="1900"/>
              </a:lnSpc>
              <a:buNone/>
            </a:pPr>
            <a:r>
              <a:rPr lang="en-US" sz="1500" b="1" dirty="0">
                <a:solidFill>
                  <a:srgbClr val="FFFFFF"/>
                </a:solidFill>
                <a:latin typeface="Palatino Linotype" pitchFamily="34" charset="0"/>
                <a:ea typeface="Palatino Linotype" pitchFamily="34" charset="-122"/>
                <a:cs typeface="Palatino Linotype" pitchFamily="34" charset="-120"/>
              </a:rPr>
              <a:t>Nota pe scala 0–10 = total brut ÷ 2. Un total de 20 înseamnă 10,00. Un total de 9 înseamnă 4,50, sub pragul de promovare al componentei (pragul se aplică mediei celor trei dezbateri).</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9B7EF7"/>
        </a:solidFill>
      </p:bgPr>
    </p:bg>
    <p:spTree>
      <p:nvGrpSpPr>
        <p:cNvPr id="1" name=""/>
        <p:cNvGrpSpPr/>
        <p:nvPr/>
      </p:nvGrpSpPr>
      <p:grpSpPr>
        <a:xfrm>
          <a:off x="0" y="0"/>
          <a:ext cx="0" cy="0"/>
          <a:chOff x="0" y="0"/>
          <a:chExt cx="0" cy="0"/>
        </a:xfrm>
      </p:grpSpPr>
      <p:sp>
        <p:nvSpPr>
          <p:cNvPr id="2" name="Shape 0"/>
          <p:cNvSpPr/>
          <p:nvPr/>
        </p:nvSpPr>
        <p:spPr>
          <a:xfrm>
            <a:off x="594360" y="384048"/>
            <a:ext cx="2286000" cy="310896"/>
          </a:xfrm>
          <a:prstGeom prst="roundRect">
            <a:avLst>
              <a:gd name="adj" fmla="val 50000"/>
            </a:avLst>
          </a:prstGeom>
          <a:solidFill>
            <a:srgbClr val="1F1040"/>
          </a:solidFill>
          <a:ln w="12700">
            <a:solidFill>
              <a:srgbClr val="1F1040"/>
            </a:solidFill>
            <a:prstDash val="solid"/>
          </a:ln>
        </p:spPr>
        <p:txBody>
          <a:bodyPr/>
          <a:p/>
        </p:txBody>
      </p:sp>
      <p:sp>
        <p:nvSpPr>
          <p:cNvPr id="3" name="Text 1"/>
          <p:cNvSpPr/>
          <p:nvPr/>
        </p:nvSpPr>
        <p:spPr>
          <a:xfrm>
            <a:off x="594360" y="384048"/>
            <a:ext cx="2286000" cy="310896"/>
          </a:xfrm>
          <a:prstGeom prst="rect">
            <a:avLst/>
          </a:prstGeom>
          <a:noFill/>
          <a:ln/>
        </p:spPr>
        <p:txBody>
          <a:bodyPr wrap="square" lIns="0" tIns="0" rIns="0" bIns="0" rtlCol="0" anchor="ctr"/>
          <a:lstStyle/>
          <a:p>
            <a:pPr algn="ctr" indent="0" marL="0">
              <a:buNone/>
            </a:pPr>
            <a:r>
              <a:rPr lang="en-US" sz="1000" b="1" dirty="0">
                <a:solidFill>
                  <a:srgbClr val="9B7EF7"/>
                </a:solidFill>
                <a:latin typeface="Palatino Linotype" pitchFamily="34" charset="0"/>
                <a:ea typeface="Palatino Linotype" pitchFamily="34" charset="-122"/>
                <a:cs typeface="Palatino Linotype" pitchFamily="34" charset="-120"/>
              </a:rPr>
              <a:t>CRITERIUL 4 · MECANISM</a:t>
            </a:r>
            <a:endParaRPr lang="en-US" sz="1000" dirty="0"/>
          </a:p>
        </p:txBody>
      </p:sp>
      <p:sp>
        <p:nvSpPr>
          <p:cNvPr id="4" name="Text 2"/>
          <p:cNvSpPr/>
          <p:nvPr/>
        </p:nvSpPr>
        <p:spPr>
          <a:xfrm>
            <a:off x="594360" y="960120"/>
            <a:ext cx="10972800" cy="777240"/>
          </a:xfrm>
          <a:prstGeom prst="rect">
            <a:avLst/>
          </a:prstGeom>
          <a:noFill/>
          <a:ln/>
        </p:spPr>
        <p:txBody>
          <a:bodyPr wrap="square" lIns="0" tIns="0" rIns="0" bIns="0" rtlCol="0" anchor="ctr"/>
          <a:lstStyle/>
          <a:p>
            <a:pPr indent="0" marL="0">
              <a:buNone/>
            </a:pPr>
            <a:r>
              <a:rPr lang="en-US" sz="3000" b="1" dirty="0">
                <a:solidFill>
                  <a:srgbClr val="1F1040"/>
                </a:solidFill>
                <a:latin typeface="Palatino Linotype" pitchFamily="34" charset="0"/>
                <a:ea typeface="Palatino Linotype" pitchFamily="34" charset="-122"/>
                <a:cs typeface="Palatino Linotype" pitchFamily="34" charset="-120"/>
              </a:rPr>
              <a:t>La minutul 6, fiecare echipă primește un plic sigilat</a:t>
            </a:r>
            <a:endParaRPr lang="en-US" sz="3000" dirty="0"/>
          </a:p>
        </p:txBody>
      </p:sp>
      <p:sp>
        <p:nvSpPr>
          <p:cNvPr id="5" name="Shape 3"/>
          <p:cNvSpPr/>
          <p:nvPr/>
        </p:nvSpPr>
        <p:spPr>
          <a:xfrm>
            <a:off x="594360" y="1965960"/>
            <a:ext cx="10972800" cy="1417320"/>
          </a:xfrm>
          <a:prstGeom prst="roundRect">
            <a:avLst>
              <a:gd name="adj" fmla="val 5806"/>
            </a:avLst>
          </a:prstGeom>
          <a:solidFill>
            <a:srgbClr val="FFFFFF"/>
          </a:solidFill>
          <a:ln w="12700">
            <a:solidFill>
              <a:srgbClr val="FFFFFF"/>
            </a:solidFill>
            <a:prstDash val="solid"/>
          </a:ln>
        </p:spPr>
        <p:txBody>
          <a:bodyPr/>
          <a:p/>
        </p:txBody>
      </p:sp>
      <p:sp>
        <p:nvSpPr>
          <p:cNvPr id="6" name="Text 4"/>
          <p:cNvSpPr/>
          <p:nvPr/>
        </p:nvSpPr>
        <p:spPr>
          <a:xfrm>
            <a:off x="868680" y="2176272"/>
            <a:ext cx="10424160" cy="1051560"/>
          </a:xfrm>
          <a:prstGeom prst="rect">
            <a:avLst/>
          </a:prstGeom>
          <a:noFill/>
          <a:ln/>
        </p:spPr>
        <p:txBody>
          <a:bodyPr wrap="square" lIns="0" tIns="0" rIns="0" bIns="0" rtlCol="0" anchor="t"/>
          <a:lstStyle/>
          <a:p>
            <a:pPr algn="l" indent="0" marL="0">
              <a:lnSpc>
                <a:spcPts val="2200"/>
              </a:lnSpc>
              <a:buNone/>
            </a:pPr>
            <a:r>
              <a:rPr lang="en-US" sz="1550" dirty="0">
                <a:solidFill>
                  <a:srgbClr val="11121A"/>
                </a:solidFill>
                <a:latin typeface="Palatino Linotype" pitchFamily="34" charset="0"/>
                <a:ea typeface="Palatino Linotype" pitchFamily="34" charset="-122"/>
                <a:cs typeface="Palatino Linotype" pitchFamily="34" charset="-120"/>
              </a:rPr>
              <a:t>În el se află o cifră reală, publicată, cu identificator și an de referință, CARE CONTRAZICE POZIȚIA PE CARE ECHIPA O SUSȚINE. Plicurile se distribuie simultan tuturor echipelor. Ce faceți cu acea cifră în restul dezbaterii se notează cu până la cinci puncte.</a:t>
            </a:r>
            <a:endParaRPr lang="en-US" sz="1550" dirty="0"/>
          </a:p>
        </p:txBody>
      </p:sp>
      <p:sp>
        <p:nvSpPr>
          <p:cNvPr id="7" name="Shape 5"/>
          <p:cNvSpPr/>
          <p:nvPr/>
        </p:nvSpPr>
        <p:spPr>
          <a:xfrm>
            <a:off x="594360" y="3566160"/>
            <a:ext cx="5349240" cy="1005840"/>
          </a:xfrm>
          <a:prstGeom prst="roundRect">
            <a:avLst>
              <a:gd name="adj" fmla="val 8182"/>
            </a:avLst>
          </a:prstGeom>
          <a:solidFill>
            <a:srgbClr val="6B4FC9"/>
          </a:solidFill>
          <a:ln w="12700">
            <a:solidFill>
              <a:srgbClr val="6B4FC9"/>
            </a:solidFill>
            <a:prstDash val="solid"/>
          </a:ln>
        </p:spPr>
        <p:txBody>
          <a:bodyPr/>
          <a:p/>
        </p:txBody>
      </p:sp>
      <p:sp>
        <p:nvSpPr>
          <p:cNvPr id="8" name="Text 6"/>
          <p:cNvSpPr/>
          <p:nvPr/>
        </p:nvSpPr>
        <p:spPr>
          <a:xfrm>
            <a:off x="868680" y="3730752"/>
            <a:ext cx="4800600" cy="777240"/>
          </a:xfrm>
          <a:prstGeom prst="rect">
            <a:avLst/>
          </a:prstGeom>
          <a:noFill/>
          <a:ln/>
        </p:spPr>
        <p:txBody>
          <a:bodyPr wrap="square" lIns="0" tIns="0" rIns="0" bIns="0" rtlCol="0" anchor="t"/>
          <a:lstStyle/>
          <a:p>
            <a:pPr algn="l" indent="0" marL="0">
              <a:lnSpc>
                <a:spcPts val="1800"/>
              </a:lnSpc>
              <a:buNone/>
            </a:pPr>
            <a:r>
              <a:rPr lang="en-US" sz="1350" b="1" dirty="0">
                <a:solidFill>
                  <a:srgbClr val="FFFFFF"/>
                </a:solidFill>
                <a:latin typeface="Palatino Linotype" pitchFamily="34" charset="0"/>
                <a:ea typeface="Palatino Linotype" pitchFamily="34" charset="-122"/>
                <a:cs typeface="Palatino Linotype" pitchFamily="34" charset="-120"/>
              </a:rPr>
              <a:t>O echipă care nu deschide plicul sau nu se referă la conținutul lui primește ZERO la acest criteriu, adică pierde până la un sfert din notă (2,5 puncte din 10).</a:t>
            </a:r>
            <a:endParaRPr lang="en-US" sz="1350" dirty="0"/>
          </a:p>
        </p:txBody>
      </p:sp>
      <p:sp>
        <p:nvSpPr>
          <p:cNvPr id="9" name="Shape 7"/>
          <p:cNvSpPr/>
          <p:nvPr/>
        </p:nvSpPr>
        <p:spPr>
          <a:xfrm>
            <a:off x="6217920" y="3566160"/>
            <a:ext cx="5349240" cy="1005840"/>
          </a:xfrm>
          <a:prstGeom prst="roundRect">
            <a:avLst>
              <a:gd name="adj" fmla="val 8182"/>
            </a:avLst>
          </a:prstGeom>
          <a:solidFill>
            <a:srgbClr val="6B4FC9"/>
          </a:solidFill>
          <a:ln w="12700">
            <a:solidFill>
              <a:srgbClr val="6B4FC9"/>
            </a:solidFill>
            <a:prstDash val="solid"/>
          </a:ln>
        </p:spPr>
        <p:txBody>
          <a:bodyPr/>
          <a:p/>
        </p:txBody>
      </p:sp>
      <p:sp>
        <p:nvSpPr>
          <p:cNvPr id="10" name="Text 8"/>
          <p:cNvSpPr/>
          <p:nvPr/>
        </p:nvSpPr>
        <p:spPr>
          <a:xfrm>
            <a:off x="6492240" y="3730752"/>
            <a:ext cx="4800600" cy="777240"/>
          </a:xfrm>
          <a:prstGeom prst="rect">
            <a:avLst/>
          </a:prstGeom>
          <a:noFill/>
          <a:ln/>
        </p:spPr>
        <p:txBody>
          <a:bodyPr wrap="square" lIns="0" tIns="0" rIns="0" bIns="0" rtlCol="0" anchor="t"/>
          <a:lstStyle/>
          <a:p>
            <a:pPr algn="l" indent="0" marL="0">
              <a:lnSpc>
                <a:spcPts val="1800"/>
              </a:lnSpc>
              <a:buNone/>
            </a:pPr>
            <a:r>
              <a:rPr lang="en-US" sz="1350" b="1" dirty="0">
                <a:solidFill>
                  <a:srgbClr val="FFFFFF"/>
                </a:solidFill>
                <a:latin typeface="Palatino Linotype" pitchFamily="34" charset="0"/>
                <a:ea typeface="Palatino Linotype" pitchFamily="34" charset="-122"/>
                <a:cs typeface="Palatino Linotype" pitchFamily="34" charset="-120"/>
              </a:rPr>
              <a:t>Repartizarea pozițiilor se face PRIN TRAGERE LA SORȚI. Refuzul motivat nu se penalizează: primiți poziție alternativă sau rol în juriu.</a:t>
            </a:r>
            <a:endParaRPr lang="en-US" sz="1350" dirty="0"/>
          </a:p>
        </p:txBody>
      </p:sp>
      <p:sp>
        <p:nvSpPr>
          <p:cNvPr id="11" name="Shape 9"/>
          <p:cNvSpPr/>
          <p:nvPr/>
        </p:nvSpPr>
        <p:spPr>
          <a:xfrm>
            <a:off x="594360" y="4754880"/>
            <a:ext cx="10972800" cy="1005840"/>
          </a:xfrm>
          <a:prstGeom prst="roundRect">
            <a:avLst>
              <a:gd name="adj" fmla="val 8182"/>
            </a:avLst>
          </a:prstGeom>
          <a:solidFill>
            <a:srgbClr val="FFFFFF"/>
          </a:solidFill>
          <a:ln w="12700">
            <a:solidFill>
              <a:srgbClr val="FFFFFF"/>
            </a:solidFill>
            <a:prstDash val="solid"/>
          </a:ln>
        </p:spPr>
        <p:txBody>
          <a:bodyPr/>
          <a:p/>
        </p:txBody>
      </p:sp>
      <p:sp>
        <p:nvSpPr>
          <p:cNvPr id="12" name="Text 10"/>
          <p:cNvSpPr/>
          <p:nvPr/>
        </p:nvSpPr>
        <p:spPr>
          <a:xfrm>
            <a:off x="868680" y="4919472"/>
            <a:ext cx="10424160" cy="731520"/>
          </a:xfrm>
          <a:prstGeom prst="rect">
            <a:avLst/>
          </a:prstGeom>
          <a:noFill/>
          <a:ln/>
        </p:spPr>
        <p:txBody>
          <a:bodyPr wrap="square" lIns="0" tIns="0" rIns="0" bIns="0" rtlCol="0" anchor="t"/>
          <a:lstStyle/>
          <a:p>
            <a:pPr algn="l" indent="0" marL="0">
              <a:lnSpc>
                <a:spcPts val="1900"/>
              </a:lnSpc>
              <a:buNone/>
            </a:pPr>
            <a:r>
              <a:rPr lang="en-US" sz="1400" dirty="0">
                <a:solidFill>
                  <a:srgbClr val="11121A"/>
                </a:solidFill>
                <a:latin typeface="Palatino Linotype" pitchFamily="34" charset="0"/>
                <a:ea typeface="Palatino Linotype" pitchFamily="34" charset="-122"/>
                <a:cs typeface="Palatino Linotype" pitchFamily="34" charset="-120"/>
              </a:rPr>
              <a:t>De ce acest criteriu cântărește cât fiecare dintre celelalte trei: în practica dumneavoastră veți întâlni frecvent dovezi care vă contrazic. Capacitatea de a le integra fără a abandona poziția și fără a le ignora este una dintre competențele pe care cursul le formează.</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40% DIN NOTA FINALĂ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Investigația documentară individuală</a:t>
            </a:r>
            <a:endParaRPr lang="en-US" sz="31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Trei până la cinci pagini, plus referințe, despre un caz documentat public de corupție în sistemul de sănătate din România. Ghidul se distribuie astăzi.</a:t>
            </a:r>
            <a:endParaRPr lang="en-US" sz="1450" dirty="0"/>
          </a:p>
        </p:txBody>
      </p:sp>
      <p:sp>
        <p:nvSpPr>
          <p:cNvPr id="5" name="Shape 3"/>
          <p:cNvSpPr/>
          <p:nvPr/>
        </p:nvSpPr>
        <p:spPr>
          <a:xfrm>
            <a:off x="594360" y="2057400"/>
            <a:ext cx="10972800" cy="2011680"/>
          </a:xfrm>
          <a:prstGeom prst="roundRect">
            <a:avLst>
              <a:gd name="adj" fmla="val 4091"/>
            </a:avLst>
          </a:prstGeom>
          <a:solidFill>
            <a:srgbClr val="FFE9EB"/>
          </a:solidFill>
          <a:ln w="12700">
            <a:solidFill>
              <a:srgbClr val="FFE9EB"/>
            </a:solidFill>
            <a:prstDash val="solid"/>
          </a:ln>
        </p:spPr>
        <p:txBody>
          <a:bodyPr/>
          <a:p/>
        </p:txBody>
      </p:sp>
      <p:sp>
        <p:nvSpPr>
          <p:cNvPr id="6" name="Text 4"/>
          <p:cNvSpPr/>
          <p:nvPr/>
        </p:nvSpPr>
        <p:spPr>
          <a:xfrm>
            <a:off x="868680" y="2240280"/>
            <a:ext cx="1042416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B02532"/>
                </a:solidFill>
                <a:latin typeface="Palatino Linotype" pitchFamily="34" charset="0"/>
                <a:ea typeface="Palatino Linotype" pitchFamily="34" charset="-122"/>
                <a:cs typeface="Palatino Linotype" pitchFamily="34" charset="-120"/>
              </a:rPr>
              <a:t>CERINȚA PE CARE O VEȚI SUBESTIMA</a:t>
            </a:r>
            <a:endParaRPr lang="en-US" sz="1000" dirty="0"/>
          </a:p>
        </p:txBody>
      </p:sp>
      <p:sp>
        <p:nvSpPr>
          <p:cNvPr id="7" name="Text 5"/>
          <p:cNvSpPr/>
          <p:nvPr/>
        </p:nvSpPr>
        <p:spPr>
          <a:xfrm>
            <a:off x="868680" y="2560320"/>
            <a:ext cx="10424160" cy="1371600"/>
          </a:xfrm>
          <a:prstGeom prst="rect">
            <a:avLst/>
          </a:prstGeom>
          <a:noFill/>
          <a:ln/>
        </p:spPr>
        <p:txBody>
          <a:bodyPr wrap="square" lIns="0" tIns="0" rIns="0" bIns="0" rtlCol="0" anchor="t"/>
          <a:lstStyle/>
          <a:p>
            <a:pPr algn="l" indent="0" marL="0">
              <a:lnSpc>
                <a:spcPts val="2100"/>
              </a:lnSpc>
              <a:buNone/>
            </a:pPr>
            <a:r>
              <a:rPr lang="en-US" sz="1500" dirty="0">
                <a:solidFill>
                  <a:srgbClr val="11121A"/>
                </a:solidFill>
                <a:latin typeface="Palatino Linotype" pitchFamily="34" charset="0"/>
                <a:ea typeface="Palatino Linotype" pitchFamily="34" charset="-122"/>
                <a:cs typeface="Palatino Linotype" pitchFamily="34" charset="-120"/>
              </a:rPr>
              <a:t>Pentru fiecare afirmație de fapt din lucrare trebuie să fie evident în care dintre cele trei statute se află; separarea lor corectă este unul dintre criteriile de evaluare.</a:t>
            </a:r>
            <a:endParaRPr lang="en-US" sz="1500" dirty="0"/>
          </a:p>
        </p:txBody>
      </p:sp>
      <p:sp>
        <p:nvSpPr>
          <p:cNvPr id="8" name="Shape 6"/>
          <p:cNvSpPr/>
          <p:nvPr/>
        </p:nvSpPr>
        <p:spPr>
          <a:xfrm>
            <a:off x="594360" y="4251960"/>
            <a:ext cx="3529584" cy="1417320"/>
          </a:xfrm>
          <a:prstGeom prst="roundRect">
            <a:avLst>
              <a:gd name="adj" fmla="val 5806"/>
            </a:avLst>
          </a:prstGeom>
          <a:solidFill>
            <a:srgbClr val="ECEAE4"/>
          </a:solidFill>
          <a:ln w="12700">
            <a:solidFill>
              <a:srgbClr val="ECEAE4"/>
            </a:solidFill>
            <a:prstDash val="solid"/>
          </a:ln>
        </p:spPr>
        <p:txBody>
          <a:bodyPr/>
          <a:p/>
        </p:txBody>
      </p:sp>
      <p:sp>
        <p:nvSpPr>
          <p:cNvPr id="9" name="Text 7"/>
          <p:cNvSpPr/>
          <p:nvPr/>
        </p:nvSpPr>
        <p:spPr>
          <a:xfrm>
            <a:off x="868680" y="4434840"/>
            <a:ext cx="2980944" cy="365760"/>
          </a:xfrm>
          <a:prstGeom prst="rect">
            <a:avLst/>
          </a:prstGeom>
          <a:noFill/>
          <a:ln/>
        </p:spPr>
        <p:txBody>
          <a:bodyPr wrap="square" lIns="0" tIns="0" rIns="0" bIns="0" rtlCol="0" anchor="t"/>
          <a:lstStyle/>
          <a:p>
            <a:pPr algn="l" indent="0" marL="0">
              <a:lnSpc>
                <a:spcPts val="1800"/>
              </a:lnSpc>
              <a:buNone/>
            </a:pPr>
            <a:r>
              <a:rPr lang="en-US" sz="1600" b="1" dirty="0">
                <a:solidFill>
                  <a:srgbClr val="0E7C6B"/>
                </a:solidFill>
                <a:latin typeface="Palatino Linotype" pitchFamily="34" charset="0"/>
                <a:ea typeface="Palatino Linotype" pitchFamily="34" charset="-122"/>
                <a:cs typeface="Palatino Linotype" pitchFamily="34" charset="-120"/>
              </a:rPr>
              <a:t>STABILIT</a:t>
            </a:r>
            <a:endParaRPr lang="en-US" sz="1600" dirty="0"/>
          </a:p>
        </p:txBody>
      </p:sp>
      <p:sp>
        <p:nvSpPr>
          <p:cNvPr id="10" name="Text 8"/>
          <p:cNvSpPr/>
          <p:nvPr/>
        </p:nvSpPr>
        <p:spPr>
          <a:xfrm>
            <a:off x="868680" y="4864608"/>
            <a:ext cx="2980944" cy="685800"/>
          </a:xfrm>
          <a:prstGeom prst="rect">
            <a:avLst/>
          </a:prstGeom>
          <a:noFill/>
          <a:ln/>
        </p:spPr>
        <p:txBody>
          <a:bodyPr wrap="square" lIns="0" tIns="0" rIns="0" bIns="0" rtlCol="0" anchor="t"/>
          <a:lstStyle/>
          <a:p>
            <a:pPr algn="l" indent="0" marL="0">
              <a:lnSpc>
                <a:spcPts val="1800"/>
              </a:lnSpc>
              <a:buNone/>
            </a:pPr>
            <a:r>
              <a:rPr lang="en-US" sz="1300" dirty="0">
                <a:solidFill>
                  <a:srgbClr val="11121A"/>
                </a:solidFill>
                <a:latin typeface="Palatino Linotype" pitchFamily="34" charset="0"/>
                <a:ea typeface="Palatino Linotype" pitchFamily="34" charset="-122"/>
                <a:cs typeface="Palatino Linotype" pitchFamily="34" charset="-120"/>
              </a:rPr>
              <a:t>prin hotărâre judecătorească definitivă</a:t>
            </a:r>
            <a:endParaRPr lang="en-US" sz="1300" dirty="0"/>
          </a:p>
        </p:txBody>
      </p:sp>
      <p:sp>
        <p:nvSpPr>
          <p:cNvPr id="11" name="Shape 9"/>
          <p:cNvSpPr/>
          <p:nvPr/>
        </p:nvSpPr>
        <p:spPr>
          <a:xfrm>
            <a:off x="4315968" y="4251960"/>
            <a:ext cx="3529584" cy="1417320"/>
          </a:xfrm>
          <a:prstGeom prst="roundRect">
            <a:avLst>
              <a:gd name="adj" fmla="val 5806"/>
            </a:avLst>
          </a:prstGeom>
          <a:solidFill>
            <a:srgbClr val="ECEAE4"/>
          </a:solidFill>
          <a:ln w="12700">
            <a:solidFill>
              <a:srgbClr val="ECEAE4"/>
            </a:solidFill>
            <a:prstDash val="solid"/>
          </a:ln>
        </p:spPr>
        <p:txBody>
          <a:bodyPr/>
          <a:p/>
        </p:txBody>
      </p:sp>
      <p:sp>
        <p:nvSpPr>
          <p:cNvPr id="12" name="Text 10"/>
          <p:cNvSpPr/>
          <p:nvPr/>
        </p:nvSpPr>
        <p:spPr>
          <a:xfrm>
            <a:off x="4590288" y="4434840"/>
            <a:ext cx="2980944" cy="365760"/>
          </a:xfrm>
          <a:prstGeom prst="rect">
            <a:avLst/>
          </a:prstGeom>
          <a:noFill/>
          <a:ln/>
        </p:spPr>
        <p:txBody>
          <a:bodyPr wrap="square" lIns="0" tIns="0" rIns="0" bIns="0" rtlCol="0" anchor="t"/>
          <a:lstStyle/>
          <a:p>
            <a:pPr algn="l" indent="0" marL="0">
              <a:lnSpc>
                <a:spcPts val="1800"/>
              </a:lnSpc>
              <a:buNone/>
            </a:pPr>
            <a:r>
              <a:rPr lang="en-US" sz="1600" b="1" dirty="0">
                <a:solidFill>
                  <a:srgbClr val="8A6100"/>
                </a:solidFill>
                <a:latin typeface="Palatino Linotype" pitchFamily="34" charset="0"/>
                <a:ea typeface="Palatino Linotype" pitchFamily="34" charset="-122"/>
                <a:cs typeface="Palatino Linotype" pitchFamily="34" charset="-120"/>
              </a:rPr>
              <a:t>RAPORTAT</a:t>
            </a:r>
            <a:endParaRPr lang="en-US" sz="1600" dirty="0"/>
          </a:p>
        </p:txBody>
      </p:sp>
      <p:sp>
        <p:nvSpPr>
          <p:cNvPr id="13" name="Text 11"/>
          <p:cNvSpPr/>
          <p:nvPr/>
        </p:nvSpPr>
        <p:spPr>
          <a:xfrm>
            <a:off x="4590288" y="4864608"/>
            <a:ext cx="2980944" cy="685800"/>
          </a:xfrm>
          <a:prstGeom prst="rect">
            <a:avLst/>
          </a:prstGeom>
          <a:noFill/>
          <a:ln/>
        </p:spPr>
        <p:txBody>
          <a:bodyPr wrap="square" lIns="0" tIns="0" rIns="0" bIns="0" rtlCol="0" anchor="t"/>
          <a:lstStyle/>
          <a:p>
            <a:pPr algn="l" indent="0" marL="0">
              <a:lnSpc>
                <a:spcPts val="1800"/>
              </a:lnSpc>
              <a:buNone/>
            </a:pPr>
            <a:r>
              <a:rPr lang="en-US" sz="1300" dirty="0">
                <a:solidFill>
                  <a:srgbClr val="11121A"/>
                </a:solidFill>
                <a:latin typeface="Palatino Linotype" pitchFamily="34" charset="0"/>
                <a:ea typeface="Palatino Linotype" pitchFamily="34" charset="-122"/>
                <a:cs typeface="Palatino Linotype" pitchFamily="34" charset="-120"/>
              </a:rPr>
              <a:t>de presă sau într-un act de acuzare, fără confirmare judiciară</a:t>
            </a:r>
            <a:endParaRPr lang="en-US" sz="1300" dirty="0"/>
          </a:p>
        </p:txBody>
      </p:sp>
      <p:sp>
        <p:nvSpPr>
          <p:cNvPr id="14" name="Shape 12"/>
          <p:cNvSpPr/>
          <p:nvPr/>
        </p:nvSpPr>
        <p:spPr>
          <a:xfrm>
            <a:off x="8037576" y="4251960"/>
            <a:ext cx="3529584" cy="1417320"/>
          </a:xfrm>
          <a:prstGeom prst="roundRect">
            <a:avLst>
              <a:gd name="adj" fmla="val 5806"/>
            </a:avLst>
          </a:prstGeom>
          <a:solidFill>
            <a:srgbClr val="ECEAE4"/>
          </a:solidFill>
          <a:ln w="12700">
            <a:solidFill>
              <a:srgbClr val="ECEAE4"/>
            </a:solidFill>
            <a:prstDash val="solid"/>
          </a:ln>
        </p:spPr>
        <p:txBody>
          <a:bodyPr/>
          <a:p/>
        </p:txBody>
      </p:sp>
      <p:sp>
        <p:nvSpPr>
          <p:cNvPr id="15" name="Text 13"/>
          <p:cNvSpPr/>
          <p:nvPr/>
        </p:nvSpPr>
        <p:spPr>
          <a:xfrm>
            <a:off x="8311896" y="4434840"/>
            <a:ext cx="2980944" cy="365760"/>
          </a:xfrm>
          <a:prstGeom prst="rect">
            <a:avLst/>
          </a:prstGeom>
          <a:noFill/>
          <a:ln/>
        </p:spPr>
        <p:txBody>
          <a:bodyPr wrap="square" lIns="0" tIns="0" rIns="0" bIns="0" rtlCol="0" anchor="t"/>
          <a:lstStyle/>
          <a:p>
            <a:pPr algn="l" indent="0" marL="0">
              <a:lnSpc>
                <a:spcPts val="1800"/>
              </a:lnSpc>
              <a:buNone/>
            </a:pPr>
            <a:r>
              <a:rPr lang="en-US" sz="1600" b="1" dirty="0">
                <a:solidFill>
                  <a:srgbClr val="B02532"/>
                </a:solidFill>
                <a:latin typeface="Palatino Linotype" pitchFamily="34" charset="0"/>
                <a:ea typeface="Palatino Linotype" pitchFamily="34" charset="-122"/>
                <a:cs typeface="Palatino Linotype" pitchFamily="34" charset="-120"/>
              </a:rPr>
              <a:t>NEPROBAT</a:t>
            </a:r>
            <a:endParaRPr lang="en-US" sz="1600" dirty="0"/>
          </a:p>
        </p:txBody>
      </p:sp>
      <p:sp>
        <p:nvSpPr>
          <p:cNvPr id="16" name="Text 14"/>
          <p:cNvSpPr/>
          <p:nvPr/>
        </p:nvSpPr>
        <p:spPr>
          <a:xfrm>
            <a:off x="8311896" y="4864608"/>
            <a:ext cx="2980944" cy="685800"/>
          </a:xfrm>
          <a:prstGeom prst="rect">
            <a:avLst/>
          </a:prstGeom>
          <a:noFill/>
          <a:ln/>
        </p:spPr>
        <p:txBody>
          <a:bodyPr wrap="square" lIns="0" tIns="0" rIns="0" bIns="0" rtlCol="0" anchor="t"/>
          <a:lstStyle/>
          <a:p>
            <a:pPr algn="l" indent="0" marL="0">
              <a:lnSpc>
                <a:spcPts val="1800"/>
              </a:lnSpc>
              <a:buNone/>
            </a:pPr>
            <a:r>
              <a:rPr lang="en-US" sz="1300" dirty="0">
                <a:solidFill>
                  <a:srgbClr val="11121A"/>
                </a:solidFill>
                <a:latin typeface="Palatino Linotype" pitchFamily="34" charset="0"/>
                <a:ea typeface="Palatino Linotype" pitchFamily="34" charset="-122"/>
                <a:cs typeface="Palatino Linotype" pitchFamily="34" charset="-120"/>
              </a:rPr>
              <a:t>fără sursă, clasat ori nereținut de instanță în hotărârea definitivă</a:t>
            </a:r>
            <a:endParaRPr lang="en-US" sz="1300" dirty="0"/>
          </a:p>
        </p:txBody>
      </p:sp>
      <p:sp>
        <p:nvSpPr>
          <p:cNvPr id="17" name="Text 15"/>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Criteriile de evaluare: fișa disciplinei și notele de curs, la contractul de evaluare.</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C24B"/>
                </a:solidFill>
                <a:latin typeface="Palatino Linotype" pitchFamily="34" charset="0"/>
                <a:ea typeface="Palatino Linotype" pitchFamily="34" charset="-122"/>
                <a:cs typeface="Palatino Linotype" pitchFamily="34" charset="-120"/>
              </a:rPr>
              <a:t>EXERCIȚIU ÎN ECHIPE · VARIANTA COMPRIMATĂ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Trei afirmații, trei instrumente</a:t>
            </a:r>
            <a:endParaRPr lang="en-US" sz="32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959BB0"/>
                </a:solidFill>
                <a:latin typeface="Palatino Linotype" pitchFamily="34" charset="0"/>
                <a:ea typeface="Palatino Linotype" pitchFamily="34" charset="-122"/>
                <a:cs typeface="Palatino Linotype" pitchFamily="34" charset="-120"/>
              </a:rPr>
              <a:t>Fiecare echipă primește, tipărite, trei afirmații numerice despre România, construite pe cifre publicate, fără indicarea instrumentului.</a:t>
            </a:r>
            <a:endParaRPr lang="en-US" sz="1450" dirty="0"/>
          </a:p>
        </p:txBody>
      </p:sp>
      <p:sp>
        <p:nvSpPr>
          <p:cNvPr id="5" name="Text 3"/>
          <p:cNvSpPr/>
          <p:nvPr/>
        </p:nvSpPr>
        <p:spPr>
          <a:xfrm>
            <a:off x="594360" y="2148840"/>
            <a:ext cx="310896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RUBRICA</a:t>
            </a:r>
            <a:endParaRPr lang="en-US" sz="1050" dirty="0"/>
          </a:p>
        </p:txBody>
      </p:sp>
      <p:sp>
        <p:nvSpPr>
          <p:cNvPr id="6" name="Text 4"/>
          <p:cNvSpPr/>
          <p:nvPr/>
        </p:nvSpPr>
        <p:spPr>
          <a:xfrm>
            <a:off x="3703320" y="2148840"/>
            <a:ext cx="7863840" cy="329184"/>
          </a:xfrm>
          <a:prstGeom prst="rect">
            <a:avLst/>
          </a:prstGeom>
          <a:noFill/>
          <a:ln/>
        </p:spPr>
        <p:txBody>
          <a:bodyPr wrap="square" lIns="0" tIns="0" rIns="0" bIns="0" rtlCol="0" anchor="ctr"/>
          <a:lstStyle/>
          <a:p>
            <a:pPr indent="0" marL="0">
              <a:buNone/>
            </a:pPr>
            <a:r>
              <a:rPr lang="en-US" sz="1050" b="1" spc="120" kern="0" dirty="0">
                <a:solidFill>
                  <a:srgbClr val="959BB0"/>
                </a:solidFill>
                <a:latin typeface="Palatino Linotype" pitchFamily="34" charset="0"/>
                <a:ea typeface="Palatino Linotype" pitchFamily="34" charset="-122"/>
                <a:cs typeface="Palatino Linotype" pitchFamily="34" charset="-120"/>
              </a:rPr>
              <a:t>CE SE CERE</a:t>
            </a:r>
            <a:endParaRPr lang="en-US" sz="1050" dirty="0"/>
          </a:p>
        </p:txBody>
      </p:sp>
      <p:sp>
        <p:nvSpPr>
          <p:cNvPr id="7" name="Shape 5"/>
          <p:cNvSpPr/>
          <p:nvPr/>
        </p:nvSpPr>
        <p:spPr>
          <a:xfrm>
            <a:off x="594360" y="2551176"/>
            <a:ext cx="10972800" cy="521208"/>
          </a:xfrm>
          <a:prstGeom prst="roundRect">
            <a:avLst>
              <a:gd name="adj" fmla="val 15789"/>
            </a:avLst>
          </a:prstGeom>
          <a:solidFill>
            <a:srgbClr val="1D1F2B"/>
          </a:solidFill>
          <a:ln w="12700">
            <a:solidFill>
              <a:srgbClr val="1D1F2B"/>
            </a:solidFill>
            <a:prstDash val="solid"/>
          </a:ln>
        </p:spPr>
        <p:txBody>
          <a:bodyPr/>
          <a:p/>
        </p:txBody>
      </p:sp>
      <p:sp>
        <p:nvSpPr>
          <p:cNvPr id="8" name="Text 6"/>
          <p:cNvSpPr/>
          <p:nvPr/>
        </p:nvSpPr>
        <p:spPr>
          <a:xfrm>
            <a:off x="868680" y="2551176"/>
            <a:ext cx="2834640" cy="52120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Instrumentul</a:t>
            </a:r>
            <a:endParaRPr lang="en-US" sz="1350" dirty="0"/>
          </a:p>
        </p:txBody>
      </p:sp>
      <p:sp>
        <p:nvSpPr>
          <p:cNvPr id="9" name="Text 7"/>
          <p:cNvSpPr/>
          <p:nvPr/>
        </p:nvSpPr>
        <p:spPr>
          <a:xfrm>
            <a:off x="3703320" y="2551176"/>
            <a:ext cx="7680960" cy="52120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Percepție, experiență proprie sau înregistrare administrativă?</a:t>
            </a:r>
            <a:endParaRPr lang="en-US" sz="1350" dirty="0"/>
          </a:p>
        </p:txBody>
      </p:sp>
      <p:sp>
        <p:nvSpPr>
          <p:cNvPr id="10" name="Text 8"/>
          <p:cNvSpPr/>
          <p:nvPr/>
        </p:nvSpPr>
        <p:spPr>
          <a:xfrm>
            <a:off x="868680" y="3118104"/>
            <a:ext cx="2834640" cy="52120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Numitorul</a:t>
            </a:r>
            <a:endParaRPr lang="en-US" sz="1350" dirty="0"/>
          </a:p>
        </p:txBody>
      </p:sp>
      <p:sp>
        <p:nvSpPr>
          <p:cNvPr id="11" name="Text 9"/>
          <p:cNvSpPr/>
          <p:nvPr/>
        </p:nvSpPr>
        <p:spPr>
          <a:xfrm>
            <a:off x="3703320" y="3118104"/>
            <a:ext cx="7680960" cy="52120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Care este populația din care provine procentul?</a:t>
            </a:r>
            <a:endParaRPr lang="en-US" sz="1350" dirty="0"/>
          </a:p>
        </p:txBody>
      </p:sp>
      <p:sp>
        <p:nvSpPr>
          <p:cNvPr id="12" name="Shape 10"/>
          <p:cNvSpPr/>
          <p:nvPr/>
        </p:nvSpPr>
        <p:spPr>
          <a:xfrm>
            <a:off x="594360" y="3685032"/>
            <a:ext cx="10972800" cy="521208"/>
          </a:xfrm>
          <a:prstGeom prst="roundRect">
            <a:avLst>
              <a:gd name="adj" fmla="val 15789"/>
            </a:avLst>
          </a:prstGeom>
          <a:solidFill>
            <a:srgbClr val="1D1F2B"/>
          </a:solidFill>
          <a:ln w="12700">
            <a:solidFill>
              <a:srgbClr val="1D1F2B"/>
            </a:solidFill>
            <a:prstDash val="solid"/>
          </a:ln>
        </p:spPr>
        <p:txBody>
          <a:bodyPr/>
          <a:p/>
        </p:txBody>
      </p:sp>
      <p:sp>
        <p:nvSpPr>
          <p:cNvPr id="13" name="Text 11"/>
          <p:cNvSpPr/>
          <p:nvPr/>
        </p:nvSpPr>
        <p:spPr>
          <a:xfrm>
            <a:off x="868680" y="3685032"/>
            <a:ext cx="2834640" cy="52120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Anul de referință</a:t>
            </a:r>
            <a:endParaRPr lang="en-US" sz="1350" dirty="0"/>
          </a:p>
        </p:txBody>
      </p:sp>
      <p:sp>
        <p:nvSpPr>
          <p:cNvPr id="14" name="Text 12"/>
          <p:cNvSpPr/>
          <p:nvPr/>
        </p:nvSpPr>
        <p:spPr>
          <a:xfrm>
            <a:off x="3703320" y="3685032"/>
            <a:ext cx="7680960" cy="52120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Nu anul publicării.</a:t>
            </a:r>
            <a:endParaRPr lang="en-US" sz="1350" dirty="0"/>
          </a:p>
        </p:txBody>
      </p:sp>
      <p:sp>
        <p:nvSpPr>
          <p:cNvPr id="15" name="Text 13"/>
          <p:cNvSpPr/>
          <p:nvPr/>
        </p:nvSpPr>
        <p:spPr>
          <a:xfrm>
            <a:off x="868680" y="4251960"/>
            <a:ext cx="2834640" cy="52120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Ce se poate afirma</a:t>
            </a:r>
            <a:endParaRPr lang="en-US" sz="1350" dirty="0"/>
          </a:p>
        </p:txBody>
      </p:sp>
      <p:sp>
        <p:nvSpPr>
          <p:cNvPr id="16" name="Text 14"/>
          <p:cNvSpPr/>
          <p:nvPr/>
        </p:nvSpPr>
        <p:spPr>
          <a:xfrm>
            <a:off x="3703320" y="4251960"/>
            <a:ext cx="7680960" cy="52120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O propoziție care rezistă verificării.</a:t>
            </a:r>
            <a:endParaRPr lang="en-US" sz="1350" dirty="0"/>
          </a:p>
        </p:txBody>
      </p:sp>
      <p:sp>
        <p:nvSpPr>
          <p:cNvPr id="17" name="Shape 15"/>
          <p:cNvSpPr/>
          <p:nvPr/>
        </p:nvSpPr>
        <p:spPr>
          <a:xfrm>
            <a:off x="594360" y="4818888"/>
            <a:ext cx="10972800" cy="521208"/>
          </a:xfrm>
          <a:prstGeom prst="roundRect">
            <a:avLst>
              <a:gd name="adj" fmla="val 15789"/>
            </a:avLst>
          </a:prstGeom>
          <a:solidFill>
            <a:srgbClr val="1D1F2B"/>
          </a:solidFill>
          <a:ln w="12700">
            <a:solidFill>
              <a:srgbClr val="1D1F2B"/>
            </a:solidFill>
            <a:prstDash val="solid"/>
          </a:ln>
        </p:spPr>
        <p:txBody>
          <a:bodyPr/>
          <a:p/>
        </p:txBody>
      </p:sp>
      <p:sp>
        <p:nvSpPr>
          <p:cNvPr id="18" name="Text 16"/>
          <p:cNvSpPr/>
          <p:nvPr/>
        </p:nvSpPr>
        <p:spPr>
          <a:xfrm>
            <a:off x="868680" y="4818888"/>
            <a:ext cx="2834640" cy="521208"/>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Palatino Linotype" pitchFamily="34" charset="0"/>
                <a:ea typeface="Palatino Linotype" pitchFamily="34" charset="-122"/>
                <a:cs typeface="Palatino Linotype" pitchFamily="34" charset="-120"/>
              </a:rPr>
              <a:t>Ce ar trebui verificat</a:t>
            </a:r>
            <a:endParaRPr lang="en-US" sz="1350" dirty="0"/>
          </a:p>
        </p:txBody>
      </p:sp>
      <p:sp>
        <p:nvSpPr>
          <p:cNvPr id="19" name="Text 17"/>
          <p:cNvSpPr/>
          <p:nvPr/>
        </p:nvSpPr>
        <p:spPr>
          <a:xfrm>
            <a:off x="3703320" y="4818888"/>
            <a:ext cx="7680960" cy="521208"/>
          </a:xfrm>
          <a:prstGeom prst="rect">
            <a:avLst/>
          </a:prstGeom>
          <a:noFill/>
          <a:ln/>
        </p:spPr>
        <p:txBody>
          <a:bodyPr wrap="square" lIns="0" tIns="0" rIns="0" bIns="0" rtlCol="0" anchor="ctr"/>
          <a:lstStyle/>
          <a:p>
            <a:pPr indent="0" marL="0">
              <a:lnSpc>
                <a:spcPts val="1600"/>
              </a:lnSpc>
              <a:buNone/>
            </a:pPr>
            <a:r>
              <a:rPr lang="en-US" sz="1350" dirty="0">
                <a:solidFill>
                  <a:srgbClr val="959BB0"/>
                </a:solidFill>
                <a:latin typeface="Palatino Linotype" pitchFamily="34" charset="0"/>
                <a:ea typeface="Palatino Linotype" pitchFamily="34" charset="-122"/>
                <a:cs typeface="Palatino Linotype" pitchFamily="34" charset="-120"/>
              </a:rPr>
              <a:t>Opțional, și cea mai valoroasă rubrică.</a:t>
            </a:r>
            <a:endParaRPr lang="en-US" sz="1350" dirty="0"/>
          </a:p>
        </p:txBody>
      </p:sp>
      <p:sp>
        <p:nvSpPr>
          <p:cNvPr id="20" name="Shape 18"/>
          <p:cNvSpPr/>
          <p:nvPr/>
        </p:nvSpPr>
        <p:spPr>
          <a:xfrm>
            <a:off x="594360" y="5486400"/>
            <a:ext cx="10972800" cy="713232"/>
          </a:xfrm>
          <a:prstGeom prst="roundRect">
            <a:avLst>
              <a:gd name="adj" fmla="val 11538"/>
            </a:avLst>
          </a:prstGeom>
          <a:solidFill>
            <a:srgbClr val="272A38"/>
          </a:solidFill>
          <a:ln w="12700">
            <a:solidFill>
              <a:srgbClr val="272A38"/>
            </a:solidFill>
            <a:prstDash val="solid"/>
          </a:ln>
        </p:spPr>
        <p:txBody>
          <a:bodyPr/>
          <a:p/>
        </p:txBody>
      </p:sp>
      <p:sp>
        <p:nvSpPr>
          <p:cNvPr id="21" name="Text 19"/>
          <p:cNvSpPr/>
          <p:nvPr/>
        </p:nvSpPr>
        <p:spPr>
          <a:xfrm>
            <a:off x="868680" y="5650992"/>
            <a:ext cx="10424160" cy="457200"/>
          </a:xfrm>
          <a:prstGeom prst="rect">
            <a:avLst/>
          </a:prstGeom>
          <a:noFill/>
          <a:ln/>
        </p:spPr>
        <p:txBody>
          <a:bodyPr wrap="square" lIns="0" tIns="0" rIns="0" bIns="0" rtlCol="0" anchor="t"/>
          <a:lstStyle/>
          <a:p>
            <a:pPr algn="l" indent="0" marL="0">
              <a:lnSpc>
                <a:spcPts val="1800"/>
              </a:lnSpc>
              <a:buNone/>
            </a:pPr>
            <a:r>
              <a:rPr lang="en-US" sz="1350" b="1" dirty="0">
                <a:solidFill>
                  <a:srgbClr val="FFC24B"/>
                </a:solidFill>
                <a:latin typeface="Palatino Linotype" pitchFamily="34" charset="0"/>
                <a:ea typeface="Palatino Linotype" pitchFamily="34" charset="-122"/>
                <a:cs typeface="Palatino Linotype" pitchFamily="34" charset="-120"/>
              </a:rPr>
              <a:t>Două echipe prezintă pe scurt. Debriefingul se concentrează pe un singur lucru: în câte cazuri instrumentul NU a putut fi determinat din formulare.</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CONTRACTUL CURSULUI, APLICAT MIE</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300" b="1" dirty="0">
                <a:solidFill>
                  <a:srgbClr val="11121A"/>
                </a:solidFill>
                <a:latin typeface="Palatino Linotype" pitchFamily="34" charset="0"/>
                <a:ea typeface="Palatino Linotype" pitchFamily="34" charset="-122"/>
                <a:cs typeface="Palatino Linotype" pitchFamily="34" charset="-120"/>
              </a:rPr>
              <a:t>Ce nu putem afirma</a:t>
            </a:r>
            <a:endParaRPr lang="en-US" sz="33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Cinci dintre valorile pe care nu le-am putut verifica pentru această ședință, cu locul unde trebuie căutate.</a:t>
            </a:r>
            <a:endParaRPr lang="en-US" sz="1450" dirty="0"/>
          </a:p>
        </p:txBody>
      </p:sp>
      <p:sp>
        <p:nvSpPr>
          <p:cNvPr id="5" name="Text 3"/>
          <p:cNvSpPr/>
          <p:nvPr/>
        </p:nvSpPr>
        <p:spPr>
          <a:xfrm>
            <a:off x="594360" y="2103120"/>
            <a:ext cx="548640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VALOAREA NEVERIFICATĂ</a:t>
            </a:r>
            <a:endParaRPr lang="en-US" sz="1050" dirty="0"/>
          </a:p>
        </p:txBody>
      </p:sp>
      <p:sp>
        <p:nvSpPr>
          <p:cNvPr id="6" name="Text 4"/>
          <p:cNvSpPr/>
          <p:nvPr/>
        </p:nvSpPr>
        <p:spPr>
          <a:xfrm>
            <a:off x="6080760" y="2103120"/>
            <a:ext cx="548640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UNDE TREBUIE CĂUTATĂ</a:t>
            </a:r>
            <a:endParaRPr lang="en-US" sz="1050" dirty="0"/>
          </a:p>
        </p:txBody>
      </p:sp>
      <p:sp>
        <p:nvSpPr>
          <p:cNvPr id="7" name="Shape 5"/>
          <p:cNvSpPr/>
          <p:nvPr/>
        </p:nvSpPr>
        <p:spPr>
          <a:xfrm>
            <a:off x="594360" y="2505456"/>
            <a:ext cx="10972800" cy="484632"/>
          </a:xfrm>
          <a:prstGeom prst="roundRect">
            <a:avLst>
              <a:gd name="adj" fmla="val 16981"/>
            </a:avLst>
          </a:prstGeom>
          <a:solidFill>
            <a:srgbClr val="ECEAE4"/>
          </a:solidFill>
          <a:ln w="12700">
            <a:solidFill>
              <a:srgbClr val="ECEAE4"/>
            </a:solidFill>
            <a:prstDash val="solid"/>
          </a:ln>
        </p:spPr>
        <p:txBody>
          <a:bodyPr/>
          <a:p/>
        </p:txBody>
      </p:sp>
      <p:sp>
        <p:nvSpPr>
          <p:cNvPr id="8" name="Text 6"/>
          <p:cNvSpPr/>
          <p:nvPr/>
        </p:nvSpPr>
        <p:spPr>
          <a:xfrm>
            <a:off x="868680" y="2505456"/>
            <a:ext cx="5212080" cy="484632"/>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Plata la medic, itemul european, după 2023</a:t>
            </a:r>
            <a:endParaRPr lang="en-US" sz="1250" dirty="0"/>
          </a:p>
        </p:txBody>
      </p:sp>
      <p:sp>
        <p:nvSpPr>
          <p:cNvPr id="9" name="Text 7"/>
          <p:cNvSpPr/>
          <p:nvPr/>
        </p:nvSpPr>
        <p:spPr>
          <a:xfrm>
            <a:off x="6080760" y="2505456"/>
            <a:ext cx="5303520" cy="484632"/>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Următorul Eurobarometru special privind corupția</a:t>
            </a:r>
            <a:endParaRPr lang="en-US" sz="1250" dirty="0"/>
          </a:p>
        </p:txBody>
      </p:sp>
      <p:sp>
        <p:nvSpPr>
          <p:cNvPr id="10" name="Text 8"/>
          <p:cNvSpPr/>
          <p:nvPr/>
        </p:nvSpPr>
        <p:spPr>
          <a:xfrm>
            <a:off x="868680" y="3035808"/>
            <a:ext cx="5212080" cy="484632"/>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Seria administrativă românească după 2021</a:t>
            </a:r>
            <a:endParaRPr lang="en-US" sz="1250" dirty="0"/>
          </a:p>
        </p:txBody>
      </p:sp>
      <p:sp>
        <p:nvSpPr>
          <p:cNvPr id="11" name="Text 9"/>
          <p:cNvSpPr/>
          <p:nvPr/>
        </p:nvSpPr>
        <p:spPr>
          <a:xfrm>
            <a:off x="6080760" y="3035808"/>
            <a:ext cx="5303520" cy="484632"/>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Setul Voinea și Voinea (Data, 2026); publicațiile Ministerului Sănătății</a:t>
            </a:r>
            <a:endParaRPr lang="en-US" sz="1250" dirty="0"/>
          </a:p>
        </p:txBody>
      </p:sp>
      <p:sp>
        <p:nvSpPr>
          <p:cNvPr id="12" name="Shape 10"/>
          <p:cNvSpPr/>
          <p:nvPr/>
        </p:nvSpPr>
        <p:spPr>
          <a:xfrm>
            <a:off x="594360" y="3566160"/>
            <a:ext cx="10972800" cy="484632"/>
          </a:xfrm>
          <a:prstGeom prst="roundRect">
            <a:avLst>
              <a:gd name="adj" fmla="val 16981"/>
            </a:avLst>
          </a:prstGeom>
          <a:solidFill>
            <a:srgbClr val="ECEAE4"/>
          </a:solidFill>
          <a:ln w="12700">
            <a:solidFill>
              <a:srgbClr val="ECEAE4"/>
            </a:solidFill>
            <a:prstDash val="solid"/>
          </a:ln>
        </p:spPr>
        <p:txBody>
          <a:bodyPr/>
          <a:p/>
        </p:txBody>
      </p:sp>
      <p:sp>
        <p:nvSpPr>
          <p:cNvPr id="13" name="Text 11"/>
          <p:cNvSpPr/>
          <p:nvPr/>
        </p:nvSpPr>
        <p:spPr>
          <a:xfrm>
            <a:off x="868680" y="3566160"/>
            <a:ext cx="5212080" cy="484632"/>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Numărul efectiv de respondenți români filtrați</a:t>
            </a:r>
            <a:endParaRPr lang="en-US" sz="1250" dirty="0"/>
          </a:p>
        </p:txBody>
      </p:sp>
      <p:sp>
        <p:nvSpPr>
          <p:cNvPr id="14" name="Text 12"/>
          <p:cNvSpPr/>
          <p:nvPr/>
        </p:nvSpPr>
        <p:spPr>
          <a:xfrm>
            <a:off x="6080760" y="3566160"/>
            <a:ext cx="5303520" cy="484632"/>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Datele individuale ale anchetelor, arhivate de GESIS</a:t>
            </a:r>
            <a:endParaRPr lang="en-US" sz="1250" dirty="0"/>
          </a:p>
        </p:txBody>
      </p:sp>
      <p:sp>
        <p:nvSpPr>
          <p:cNvPr id="15" name="Text 13"/>
          <p:cNvSpPr/>
          <p:nvPr/>
        </p:nvSpPr>
        <p:spPr>
          <a:xfrm>
            <a:off x="868680" y="4096512"/>
            <a:ext cx="5212080" cy="484632"/>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Protocolul ASSPRO CEE și valorile lui divergente</a:t>
            </a:r>
            <a:endParaRPr lang="en-US" sz="1250" dirty="0"/>
          </a:p>
        </p:txBody>
      </p:sp>
      <p:sp>
        <p:nvSpPr>
          <p:cNvPr id="16" name="Text 14"/>
          <p:cNvSpPr/>
          <p:nvPr/>
        </p:nvSpPr>
        <p:spPr>
          <a:xfrm>
            <a:off x="6080760" y="4096512"/>
            <a:ext cx="5303520" cy="484632"/>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Publicațiile proiectului</a:t>
            </a:r>
            <a:endParaRPr lang="en-US" sz="1250" dirty="0"/>
          </a:p>
        </p:txBody>
      </p:sp>
      <p:sp>
        <p:nvSpPr>
          <p:cNvPr id="17" name="Shape 15"/>
          <p:cNvSpPr/>
          <p:nvPr/>
        </p:nvSpPr>
        <p:spPr>
          <a:xfrm>
            <a:off x="594360" y="4626864"/>
            <a:ext cx="10972800" cy="484632"/>
          </a:xfrm>
          <a:prstGeom prst="roundRect">
            <a:avLst>
              <a:gd name="adj" fmla="val 16981"/>
            </a:avLst>
          </a:prstGeom>
          <a:solidFill>
            <a:srgbClr val="ECEAE4"/>
          </a:solidFill>
          <a:ln w="12700">
            <a:solidFill>
              <a:srgbClr val="ECEAE4"/>
            </a:solidFill>
            <a:prstDash val="solid"/>
          </a:ln>
        </p:spPr>
        <p:txBody>
          <a:bodyPr/>
          <a:p/>
        </p:txBody>
      </p:sp>
      <p:sp>
        <p:nvSpPr>
          <p:cNvPr id="18" name="Text 16"/>
          <p:cNvSpPr/>
          <p:nvPr/>
        </p:nvSpPr>
        <p:spPr>
          <a:xfrm>
            <a:off x="868680" y="4626864"/>
            <a:ext cx="5212080" cy="484632"/>
          </a:xfrm>
          <a:prstGeom prst="rect">
            <a:avLst/>
          </a:prstGeom>
          <a:noFill/>
          <a:ln/>
        </p:spPr>
        <p:txBody>
          <a:bodyPr wrap="square" lIns="0" tIns="0" rIns="0" bIns="0" rtlCol="0" anchor="ctr"/>
          <a:lstStyle/>
          <a:p>
            <a:pPr indent="0" marL="0">
              <a:lnSpc>
                <a:spcPts val="1600"/>
              </a:lnSpc>
              <a:buNone/>
            </a:pPr>
            <a:r>
              <a:rPr lang="en-US" sz="1250" b="1" dirty="0">
                <a:solidFill>
                  <a:srgbClr val="11121A"/>
                </a:solidFill>
                <a:latin typeface="Palatino Linotype" pitchFamily="34" charset="0"/>
                <a:ea typeface="Palatino Linotype" pitchFamily="34" charset="-122"/>
                <a:cs typeface="Palatino Linotype" pitchFamily="34" charset="-120"/>
              </a:rPr>
              <a:t>Data exactă a măririi salariale din 2018</a:t>
            </a:r>
            <a:endParaRPr lang="en-US" sz="1250" dirty="0"/>
          </a:p>
        </p:txBody>
      </p:sp>
      <p:sp>
        <p:nvSpPr>
          <p:cNvPr id="19" name="Text 17"/>
          <p:cNvSpPr/>
          <p:nvPr/>
        </p:nvSpPr>
        <p:spPr>
          <a:xfrm>
            <a:off x="6080760" y="4626864"/>
            <a:ext cx="5303520" cy="484632"/>
          </a:xfrm>
          <a:prstGeom prst="rect">
            <a:avLst/>
          </a:prstGeom>
          <a:noFill/>
          <a:ln/>
        </p:spPr>
        <p:txBody>
          <a:bodyPr wrap="square" lIns="0" tIns="0" rIns="0" bIns="0" rtlCol="0" anchor="ctr"/>
          <a:lstStyle/>
          <a:p>
            <a:pPr indent="0" marL="0">
              <a:lnSpc>
                <a:spcPts val="1600"/>
              </a:lnSpc>
              <a:buNone/>
            </a:pPr>
            <a:r>
              <a:rPr lang="en-US" sz="1250" dirty="0">
                <a:solidFill>
                  <a:srgbClr val="11121A"/>
                </a:solidFill>
                <a:latin typeface="Palatino Linotype" pitchFamily="34" charset="0"/>
                <a:ea typeface="Palatino Linotype" pitchFamily="34" charset="-122"/>
                <a:cs typeface="Palatino Linotype" pitchFamily="34" charset="-120"/>
              </a:rPr>
              <a:t>Legea salarizării personalului plătit din fonduri publice</a:t>
            </a:r>
            <a:endParaRPr lang="en-US" sz="1250" dirty="0"/>
          </a:p>
        </p:txBody>
      </p:sp>
      <p:sp>
        <p:nvSpPr>
          <p:cNvPr id="20" name="Shape 18"/>
          <p:cNvSpPr/>
          <p:nvPr/>
        </p:nvSpPr>
        <p:spPr>
          <a:xfrm>
            <a:off x="594360" y="5266944"/>
            <a:ext cx="10972800" cy="950976"/>
          </a:xfrm>
          <a:prstGeom prst="roundRect">
            <a:avLst>
              <a:gd name="adj" fmla="val 8654"/>
            </a:avLst>
          </a:prstGeom>
          <a:solidFill>
            <a:srgbClr val="FFE9EB"/>
          </a:solidFill>
          <a:ln w="12700">
            <a:solidFill>
              <a:srgbClr val="FFE9EB"/>
            </a:solidFill>
            <a:prstDash val="solid"/>
          </a:ln>
        </p:spPr>
        <p:txBody>
          <a:bodyPr/>
          <a:p/>
        </p:txBody>
      </p:sp>
      <p:sp>
        <p:nvSpPr>
          <p:cNvPr id="21" name="Text 19"/>
          <p:cNvSpPr/>
          <p:nvPr/>
        </p:nvSpPr>
        <p:spPr>
          <a:xfrm>
            <a:off x="868680" y="5394960"/>
            <a:ext cx="10424160" cy="731520"/>
          </a:xfrm>
          <a:prstGeom prst="rect">
            <a:avLst/>
          </a:prstGeom>
          <a:noFill/>
          <a:ln/>
        </p:spPr>
        <p:txBody>
          <a:bodyPr wrap="square" lIns="0" tIns="0" rIns="0" bIns="0" rtlCol="0" anchor="t"/>
          <a:lstStyle/>
          <a:p>
            <a:pPr algn="l" indent="0" marL="0">
              <a:lnSpc>
                <a:spcPts val="1900"/>
              </a:lnSpc>
              <a:buNone/>
            </a:pPr>
            <a:r>
              <a:rPr lang="en-US" sz="1400" b="1" dirty="0">
                <a:solidFill>
                  <a:srgbClr val="B02532"/>
                </a:solidFill>
                <a:latin typeface="Palatino Linotype" pitchFamily="34" charset="0"/>
                <a:ea typeface="Palatino Linotype" pitchFamily="34" charset="-122"/>
                <a:cs typeface="Palatino Linotype" pitchFamily="34" charset="-120"/>
              </a:rPr>
              <a:t>Un punct la portofoliu pentru oricine aduce oricare dintre ele, cu sursa primară și captura de ecran. Valoarea adusă se adaugă pe acest diapozitiv, CU NUMELE DUMNEAVOASTRĂ, pentru susținerile următoare. Este singurul mecanism prin care o valoare adusă de dumneavoastră se adaugă în material, cu numele dumneavoastră.</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27D3BE"/>
                </a:solidFill>
                <a:latin typeface="Palatino Linotype" pitchFamily="34" charset="0"/>
                <a:ea typeface="Palatino Linotype" pitchFamily="34" charset="-122"/>
                <a:cs typeface="Palatino Linotype" pitchFamily="34" charset="-120"/>
              </a:rPr>
              <a:t>CHESTIONARUL DE ESTIMARE · PATRU MINUTE</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Kahoot: opt până la zece itemi de estimare</a:t>
            </a:r>
            <a:endParaRPr lang="en-US" sz="3200" dirty="0"/>
          </a:p>
        </p:txBody>
      </p:sp>
      <p:sp>
        <p:nvSpPr>
          <p:cNvPr id="4" name="Shape 2"/>
          <p:cNvSpPr/>
          <p:nvPr/>
        </p:nvSpPr>
        <p:spPr>
          <a:xfrm>
            <a:off x="594360" y="1783080"/>
            <a:ext cx="10972800" cy="1325880"/>
          </a:xfrm>
          <a:prstGeom prst="roundRect">
            <a:avLst>
              <a:gd name="adj" fmla="val 6207"/>
            </a:avLst>
          </a:prstGeom>
          <a:solidFill>
            <a:srgbClr val="1D1F2B"/>
          </a:solidFill>
          <a:ln w="12700">
            <a:solidFill>
              <a:srgbClr val="1D1F2B"/>
            </a:solidFill>
            <a:prstDash val="solid"/>
          </a:ln>
        </p:spPr>
        <p:txBody>
          <a:bodyPr/>
          <a:p/>
        </p:txBody>
      </p:sp>
      <p:sp>
        <p:nvSpPr>
          <p:cNvPr id="5" name="Text 3"/>
          <p:cNvSpPr/>
          <p:nvPr/>
        </p:nvSpPr>
        <p:spPr>
          <a:xfrm>
            <a:off x="868680" y="1993392"/>
            <a:ext cx="10424160" cy="960120"/>
          </a:xfrm>
          <a:prstGeom prst="rect">
            <a:avLst/>
          </a:prstGeom>
          <a:noFill/>
          <a:ln/>
        </p:spPr>
        <p:txBody>
          <a:bodyPr wrap="square" lIns="0" tIns="0" rIns="0" bIns="0" rtlCol="0" anchor="t"/>
          <a:lstStyle/>
          <a:p>
            <a:pPr algn="l" indent="0" marL="0">
              <a:lnSpc>
                <a:spcPts val="2200"/>
              </a:lnSpc>
              <a:buNone/>
            </a:pPr>
            <a:r>
              <a:rPr lang="en-US" sz="1550" dirty="0">
                <a:solidFill>
                  <a:srgbClr val="FFFFFF"/>
                </a:solidFill>
                <a:latin typeface="Palatino Linotype" pitchFamily="34" charset="0"/>
                <a:ea typeface="Palatino Linotype" pitchFamily="34" charset="-122"/>
                <a:cs typeface="Palatino Linotype" pitchFamily="34" charset="-120"/>
              </a:rPr>
              <a:t>Toți itemii cer o cifră publicată sau o noțiune din această ședință. Niciunul nu întreabă despre dumneavoastră. Distribuția estimărilor sălii se proiectează înaintea răspunsului corect: distanța dintre estimare și cifra publicată este scopul, nu punctajul.</a:t>
            </a:r>
            <a:endParaRPr lang="en-US" sz="1550" dirty="0"/>
          </a:p>
        </p:txBody>
      </p:sp>
      <p:sp>
        <p:nvSpPr>
          <p:cNvPr id="6" name="Shape 4"/>
          <p:cNvSpPr/>
          <p:nvPr/>
        </p:nvSpPr>
        <p:spPr>
          <a:xfrm>
            <a:off x="594360" y="3246120"/>
            <a:ext cx="5349240" cy="2423160"/>
          </a:xfrm>
          <a:prstGeom prst="roundRect">
            <a:avLst>
              <a:gd name="adj" fmla="val 3396"/>
            </a:avLst>
          </a:prstGeom>
          <a:solidFill>
            <a:srgbClr val="272A38"/>
          </a:solidFill>
          <a:ln w="12700">
            <a:solidFill>
              <a:srgbClr val="272A38"/>
            </a:solidFill>
            <a:prstDash val="solid"/>
          </a:ln>
        </p:spPr>
        <p:txBody>
          <a:bodyPr/>
          <a:p/>
        </p:txBody>
      </p:sp>
      <p:sp>
        <p:nvSpPr>
          <p:cNvPr id="7" name="Text 5"/>
          <p:cNvSpPr/>
          <p:nvPr/>
        </p:nvSpPr>
        <p:spPr>
          <a:xfrm>
            <a:off x="868680" y="3429000"/>
            <a:ext cx="480060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27D3BE"/>
                </a:solidFill>
                <a:latin typeface="Palatino Linotype" pitchFamily="34" charset="0"/>
                <a:ea typeface="Palatino Linotype" pitchFamily="34" charset="-122"/>
                <a:cs typeface="Palatino Linotype" pitchFamily="34" charset="-120"/>
              </a:rPr>
              <a:t>CE SE MĂSOARĂ</a:t>
            </a:r>
            <a:endParaRPr lang="en-US" sz="1000" dirty="0"/>
          </a:p>
        </p:txBody>
      </p:sp>
      <p:sp>
        <p:nvSpPr>
          <p:cNvPr id="8" name="Text 6"/>
          <p:cNvSpPr/>
          <p:nvPr/>
        </p:nvSpPr>
        <p:spPr>
          <a:xfrm>
            <a:off x="868680" y="3749040"/>
            <a:ext cx="4800600" cy="1783080"/>
          </a:xfrm>
          <a:prstGeom prst="rect">
            <a:avLst/>
          </a:prstGeom>
          <a:noFill/>
          <a:ln/>
        </p:spPr>
        <p:txBody>
          <a:bodyPr wrap="square" lIns="0" tIns="0" rIns="0" bIns="0" rtlCol="0" anchor="t"/>
          <a:lstStyle/>
          <a:p>
            <a:pPr algn="l" indent="0" marL="0">
              <a:lnSpc>
                <a:spcPts val="2100"/>
              </a:lnSpc>
              <a:buNone/>
            </a:pPr>
            <a:r>
              <a:rPr lang="en-US" sz="1400" dirty="0">
                <a:solidFill>
                  <a:srgbClr val="959BB0"/>
                </a:solidFill>
                <a:latin typeface="Palatino Linotype" pitchFamily="34" charset="0"/>
                <a:ea typeface="Palatino Linotype" pitchFamily="34" charset="-122"/>
                <a:cs typeface="Palatino Linotype" pitchFamily="34" charset="-120"/>
              </a:rPr>
              <a:t>Noțiunile: percepție și experiență, numitorul, ruptura de serie, anul de referință, indicatorul compozit, eroarea standard.</a:t>
            </a:r>
            <a:endParaRPr lang="en-US" sz="1400" dirty="0"/>
          </a:p>
          <a:p>
            <a:pPr algn="l" indent="0" marL="0">
              <a:lnSpc>
                <a:spcPts val="2100"/>
              </a:lnSpc>
              <a:buNone/>
            </a:pPr>
            <a:endParaRPr lang="en-US" sz="1400" dirty="0"/>
          </a:p>
          <a:p>
            <a:pPr algn="l" indent="0" marL="0">
              <a:lnSpc>
                <a:spcPts val="2100"/>
              </a:lnSpc>
              <a:buNone/>
            </a:pPr>
            <a:r>
              <a:rPr lang="en-US" sz="1400" dirty="0">
                <a:solidFill>
                  <a:srgbClr val="959BB0"/>
                </a:solidFill>
                <a:latin typeface="Palatino Linotype" pitchFamily="34" charset="0"/>
                <a:ea typeface="Palatino Linotype" pitchFamily="34" charset="-122"/>
                <a:cs typeface="Palatino Linotype" pitchFamily="34" charset="-120"/>
              </a:rPr>
              <a:t>Cifrele: indicele de percepție, indicatorii de guvernanță, Eurobarometrul, datele românești.</a:t>
            </a:r>
            <a:endParaRPr lang="en-US" sz="1400" dirty="0"/>
          </a:p>
        </p:txBody>
      </p:sp>
      <p:sp>
        <p:nvSpPr>
          <p:cNvPr id="9" name="Shape 7"/>
          <p:cNvSpPr/>
          <p:nvPr/>
        </p:nvSpPr>
        <p:spPr>
          <a:xfrm>
            <a:off x="6217920" y="3246120"/>
            <a:ext cx="5349240" cy="2423160"/>
          </a:xfrm>
          <a:prstGeom prst="roundRect">
            <a:avLst>
              <a:gd name="adj" fmla="val 3396"/>
            </a:avLst>
          </a:prstGeom>
          <a:solidFill>
            <a:srgbClr val="272A38"/>
          </a:solidFill>
          <a:ln w="12700">
            <a:solidFill>
              <a:srgbClr val="272A38"/>
            </a:solidFill>
            <a:prstDash val="solid"/>
          </a:ln>
        </p:spPr>
        <p:txBody>
          <a:bodyPr/>
          <a:p/>
        </p:txBody>
      </p:sp>
      <p:sp>
        <p:nvSpPr>
          <p:cNvPr id="10" name="Text 8"/>
          <p:cNvSpPr/>
          <p:nvPr/>
        </p:nvSpPr>
        <p:spPr>
          <a:xfrm>
            <a:off x="6492240" y="3429000"/>
            <a:ext cx="4800600" cy="256032"/>
          </a:xfrm>
          <a:prstGeom prst="rect">
            <a:avLst/>
          </a:prstGeom>
          <a:noFill/>
          <a:ln/>
        </p:spPr>
        <p:txBody>
          <a:bodyPr wrap="square" lIns="0" tIns="0" rIns="0" bIns="0" rtlCol="0" anchor="t"/>
          <a:lstStyle/>
          <a:p>
            <a:pPr algn="l" indent="0" marL="0">
              <a:lnSpc>
                <a:spcPts val="1800"/>
              </a:lnSpc>
              <a:buNone/>
            </a:pPr>
            <a:r>
              <a:rPr lang="en-US" sz="1000" b="1" spc="200" kern="0" dirty="0">
                <a:solidFill>
                  <a:srgbClr val="FF4757"/>
                </a:solidFill>
                <a:latin typeface="Palatino Linotype" pitchFamily="34" charset="0"/>
                <a:ea typeface="Palatino Linotype" pitchFamily="34" charset="-122"/>
                <a:cs typeface="Palatino Linotype" pitchFamily="34" charset="-120"/>
              </a:rPr>
              <a:t>CE NU SE MĂSOARĂ</a:t>
            </a:r>
            <a:endParaRPr lang="en-US" sz="1000" dirty="0"/>
          </a:p>
        </p:txBody>
      </p:sp>
      <p:sp>
        <p:nvSpPr>
          <p:cNvPr id="11" name="Text 9"/>
          <p:cNvSpPr/>
          <p:nvPr/>
        </p:nvSpPr>
        <p:spPr>
          <a:xfrm>
            <a:off x="6492240" y="3749040"/>
            <a:ext cx="4800600" cy="1783080"/>
          </a:xfrm>
          <a:prstGeom prst="rect">
            <a:avLst/>
          </a:prstGeom>
          <a:noFill/>
          <a:ln/>
        </p:spPr>
        <p:txBody>
          <a:bodyPr wrap="square" lIns="0" tIns="0" rIns="0" bIns="0" rtlCol="0" anchor="t"/>
          <a:lstStyle/>
          <a:p>
            <a:pPr algn="l" indent="0" marL="0">
              <a:lnSpc>
                <a:spcPts val="2100"/>
              </a:lnSpc>
              <a:buNone/>
            </a:pPr>
            <a:r>
              <a:rPr lang="en-US" sz="1400" dirty="0">
                <a:solidFill>
                  <a:srgbClr val="959BB0"/>
                </a:solidFill>
                <a:latin typeface="Palatino Linotype" pitchFamily="34" charset="0"/>
                <a:ea typeface="Palatino Linotype" pitchFamily="34" charset="-122"/>
                <a:cs typeface="Palatino Linotype" pitchFamily="34" charset="-120"/>
              </a:rPr>
              <a:t>Nimic despre experiența participanților. Niciun item nu întreabă ce ați văzut, ce ați făcut sau ce se întâmplă acolo unde faceți practica.</a:t>
            </a:r>
            <a:endParaRPr lang="en-US" sz="1400" dirty="0"/>
          </a:p>
          <a:p>
            <a:pPr algn="l" indent="0" marL="0">
              <a:lnSpc>
                <a:spcPts val="2100"/>
              </a:lnSpc>
              <a:buNone/>
            </a:pPr>
            <a:endParaRPr lang="en-US" sz="1400" dirty="0"/>
          </a:p>
          <a:p>
            <a:pPr algn="l" indent="0" marL="0">
              <a:lnSpc>
                <a:spcPts val="2100"/>
              </a:lnSpc>
              <a:buNone/>
            </a:pPr>
            <a:r>
              <a:rPr lang="en-US" sz="1400" dirty="0">
                <a:solidFill>
                  <a:srgbClr val="959BB0"/>
                </a:solidFill>
                <a:latin typeface="Palatino Linotype" pitchFamily="34" charset="0"/>
                <a:ea typeface="Palatino Linotype" pitchFamily="34" charset="-122"/>
                <a:cs typeface="Palatino Linotype" pitchFamily="34" charset="-120"/>
              </a:rPr>
              <a:t>Fiecare item are sursa primară afișată după răspuns.</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0E7C6B"/>
                </a:solidFill>
                <a:latin typeface="Palatino Linotype" pitchFamily="34" charset="0"/>
                <a:ea typeface="Palatino Linotype" pitchFamily="34" charset="-122"/>
                <a:cs typeface="Palatino Linotype" pitchFamily="34" charset="-120"/>
              </a:rPr>
              <a:t>SINTEZA ȘEDINȚEI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cifre pentru aceeași țară</a:t>
            </a:r>
            <a:endParaRPr lang="en-US" sz="3200" dirty="0"/>
          </a:p>
        </p:txBody>
      </p:sp>
      <p:sp>
        <p:nvSpPr>
          <p:cNvPr id="4" name="Text 2"/>
          <p:cNvSpPr/>
          <p:nvPr/>
        </p:nvSpPr>
        <p:spPr>
          <a:xfrm>
            <a:off x="594360" y="1481328"/>
            <a:ext cx="10972800" cy="384048"/>
          </a:xfrm>
          <a:prstGeom prst="rect">
            <a:avLst/>
          </a:prstGeom>
          <a:noFill/>
          <a:ln/>
        </p:spPr>
        <p:txBody>
          <a:bodyPr wrap="square" lIns="0" tIns="0" rIns="0" bIns="0" rtlCol="0" anchor="ctr"/>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Niciuna dintre ele nu le contrazice pe celelalte două.</a:t>
            </a:r>
            <a:endParaRPr lang="en-US" sz="1450" dirty="0"/>
          </a:p>
        </p:txBody>
      </p:sp>
      <p:sp>
        <p:nvSpPr>
          <p:cNvPr id="5" name="Text 3"/>
          <p:cNvSpPr/>
          <p:nvPr/>
        </p:nvSpPr>
        <p:spPr>
          <a:xfrm>
            <a:off x="594360" y="2103120"/>
            <a:ext cx="201168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CIFRA</a:t>
            </a:r>
            <a:endParaRPr lang="en-US" sz="1050" dirty="0"/>
          </a:p>
        </p:txBody>
      </p:sp>
      <p:sp>
        <p:nvSpPr>
          <p:cNvPr id="6" name="Text 4"/>
          <p:cNvSpPr/>
          <p:nvPr/>
        </p:nvSpPr>
        <p:spPr>
          <a:xfrm>
            <a:off x="2606040" y="2103120"/>
            <a:ext cx="365760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INSTRUMENTUL</a:t>
            </a:r>
            <a:endParaRPr lang="en-US" sz="1050" dirty="0"/>
          </a:p>
        </p:txBody>
      </p:sp>
      <p:sp>
        <p:nvSpPr>
          <p:cNvPr id="7" name="Text 5"/>
          <p:cNvSpPr/>
          <p:nvPr/>
        </p:nvSpPr>
        <p:spPr>
          <a:xfrm>
            <a:off x="6263640" y="2103120"/>
            <a:ext cx="329184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POPULAȚIA</a:t>
            </a:r>
            <a:endParaRPr lang="en-US" sz="1050" dirty="0"/>
          </a:p>
        </p:txBody>
      </p:sp>
      <p:sp>
        <p:nvSpPr>
          <p:cNvPr id="8" name="Text 6"/>
          <p:cNvSpPr/>
          <p:nvPr/>
        </p:nvSpPr>
        <p:spPr>
          <a:xfrm>
            <a:off x="9555480" y="2103120"/>
            <a:ext cx="2011680" cy="329184"/>
          </a:xfrm>
          <a:prstGeom prst="rect">
            <a:avLst/>
          </a:prstGeom>
          <a:noFill/>
          <a:ln/>
        </p:spPr>
        <p:txBody>
          <a:bodyPr wrap="square" lIns="0" tIns="0" rIns="0" bIns="0" rtlCol="0" anchor="ctr"/>
          <a:lstStyle/>
          <a:p>
            <a:pPr indent="0" marL="0">
              <a:buNone/>
            </a:pPr>
            <a:r>
              <a:rPr lang="en-US" sz="1050" b="1" spc="120" kern="0" dirty="0">
                <a:solidFill>
                  <a:srgbClr val="585A64"/>
                </a:solidFill>
                <a:latin typeface="Palatino Linotype" pitchFamily="34" charset="0"/>
                <a:ea typeface="Palatino Linotype" pitchFamily="34" charset="-122"/>
                <a:cs typeface="Palatino Linotype" pitchFamily="34" charset="-120"/>
              </a:rPr>
              <a:t>AN DE REF. / EDIȚIA</a:t>
            </a:r>
            <a:endParaRPr lang="en-US" sz="1050" dirty="0"/>
          </a:p>
        </p:txBody>
      </p:sp>
      <p:sp>
        <p:nvSpPr>
          <p:cNvPr id="9" name="Shape 7"/>
          <p:cNvSpPr/>
          <p:nvPr/>
        </p:nvSpPr>
        <p:spPr>
          <a:xfrm>
            <a:off x="594360" y="2505456"/>
            <a:ext cx="10972800" cy="667512"/>
          </a:xfrm>
          <a:prstGeom prst="roundRect">
            <a:avLst>
              <a:gd name="adj" fmla="val 12329"/>
            </a:avLst>
          </a:prstGeom>
          <a:solidFill>
            <a:srgbClr val="ECEAE4"/>
          </a:solidFill>
          <a:ln w="12700">
            <a:solidFill>
              <a:srgbClr val="ECEAE4"/>
            </a:solidFill>
            <a:prstDash val="solid"/>
          </a:ln>
        </p:spPr>
        <p:txBody>
          <a:bodyPr/>
          <a:p/>
        </p:txBody>
      </p:sp>
      <p:sp>
        <p:nvSpPr>
          <p:cNvPr id="10" name="Text 8"/>
          <p:cNvSpPr/>
          <p:nvPr/>
        </p:nvSpPr>
        <p:spPr>
          <a:xfrm>
            <a:off x="868680" y="2505456"/>
            <a:ext cx="1737360" cy="667512"/>
          </a:xfrm>
          <a:prstGeom prst="rect">
            <a:avLst/>
          </a:prstGeom>
          <a:noFill/>
          <a:ln/>
        </p:spPr>
        <p:txBody>
          <a:bodyPr wrap="square" lIns="0" tIns="0" rIns="0" bIns="0" rtlCol="0" anchor="ctr"/>
          <a:lstStyle/>
          <a:p>
            <a:pPr indent="0" marL="0">
              <a:lnSpc>
                <a:spcPts val="1600"/>
              </a:lnSpc>
              <a:buNone/>
            </a:pPr>
            <a:r>
              <a:rPr lang="en-US" sz="1350" b="1" dirty="0">
                <a:solidFill>
                  <a:srgbClr val="11121A"/>
                </a:solidFill>
                <a:latin typeface="Palatino Linotype" pitchFamily="34" charset="0"/>
                <a:ea typeface="Palatino Linotype" pitchFamily="34" charset="-122"/>
                <a:cs typeface="Palatino Linotype" pitchFamily="34" charset="-120"/>
              </a:rPr>
              <a:t>45 / 100</a:t>
            </a:r>
            <a:endParaRPr lang="en-US" sz="1350" dirty="0"/>
          </a:p>
        </p:txBody>
      </p:sp>
      <p:sp>
        <p:nvSpPr>
          <p:cNvPr id="11" name="Text 9"/>
          <p:cNvSpPr/>
          <p:nvPr/>
        </p:nvSpPr>
        <p:spPr>
          <a:xfrm>
            <a:off x="2606040" y="2505456"/>
            <a:ext cx="347472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Indice compozit de percepție</a:t>
            </a:r>
            <a:endParaRPr lang="en-US" sz="1350" dirty="0"/>
          </a:p>
        </p:txBody>
      </p:sp>
      <p:sp>
        <p:nvSpPr>
          <p:cNvPr id="12" name="Text 10"/>
          <p:cNvSpPr/>
          <p:nvPr/>
        </p:nvSpPr>
        <p:spPr>
          <a:xfrm>
            <a:off x="6263640" y="2505456"/>
            <a:ext cx="310896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Experți și oameni de afaceri</a:t>
            </a:r>
            <a:endParaRPr lang="en-US" sz="1350" dirty="0"/>
          </a:p>
        </p:txBody>
      </p:sp>
      <p:sp>
        <p:nvSpPr>
          <p:cNvPr id="13" name="Text 11"/>
          <p:cNvSpPr/>
          <p:nvPr/>
        </p:nvSpPr>
        <p:spPr>
          <a:xfrm>
            <a:off x="9555480" y="2505456"/>
            <a:ext cx="18288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ediția 2025</a:t>
            </a:r>
            <a:endParaRPr lang="en-US" sz="1350" dirty="0"/>
          </a:p>
        </p:txBody>
      </p:sp>
      <p:sp>
        <p:nvSpPr>
          <p:cNvPr id="14" name="Text 12"/>
          <p:cNvSpPr/>
          <p:nvPr/>
        </p:nvSpPr>
        <p:spPr>
          <a:xfrm>
            <a:off x="868680" y="3218688"/>
            <a:ext cx="1737360" cy="667512"/>
          </a:xfrm>
          <a:prstGeom prst="rect">
            <a:avLst/>
          </a:prstGeom>
          <a:noFill/>
          <a:ln/>
        </p:spPr>
        <p:txBody>
          <a:bodyPr wrap="square" lIns="0" tIns="0" rIns="0" bIns="0" rtlCol="0" anchor="ctr"/>
          <a:lstStyle/>
          <a:p>
            <a:pPr indent="0" marL="0">
              <a:lnSpc>
                <a:spcPts val="1600"/>
              </a:lnSpc>
              <a:buNone/>
            </a:pPr>
            <a:r>
              <a:rPr lang="en-US" sz="1350" b="1" dirty="0">
                <a:solidFill>
                  <a:srgbClr val="11121A"/>
                </a:solidFill>
                <a:latin typeface="Palatino Linotype" pitchFamily="34" charset="0"/>
                <a:ea typeface="Palatino Linotype" pitchFamily="34" charset="-122"/>
                <a:cs typeface="Palatino Linotype" pitchFamily="34" charset="-120"/>
              </a:rPr>
              <a:t>9%</a:t>
            </a:r>
            <a:endParaRPr lang="en-US" sz="1350" dirty="0"/>
          </a:p>
        </p:txBody>
      </p:sp>
      <p:sp>
        <p:nvSpPr>
          <p:cNvPr id="15" name="Text 13"/>
          <p:cNvSpPr/>
          <p:nvPr/>
        </p:nvSpPr>
        <p:spPr>
          <a:xfrm>
            <a:off x="2606040" y="3218688"/>
            <a:ext cx="347472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Sondaj de experiență proprie</a:t>
            </a:r>
            <a:endParaRPr lang="en-US" sz="1350" dirty="0"/>
          </a:p>
        </p:txBody>
      </p:sp>
      <p:sp>
        <p:nvSpPr>
          <p:cNvPr id="16" name="Text 14"/>
          <p:cNvSpPr/>
          <p:nvPr/>
        </p:nvSpPr>
        <p:spPr>
          <a:xfrm>
            <a:off x="6263640" y="3218688"/>
            <a:ext cx="310896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Cei cu contact recent</a:t>
            </a:r>
            <a:endParaRPr lang="en-US" sz="1350" dirty="0"/>
          </a:p>
        </p:txBody>
      </p:sp>
      <p:sp>
        <p:nvSpPr>
          <p:cNvPr id="17" name="Text 15"/>
          <p:cNvSpPr/>
          <p:nvPr/>
        </p:nvSpPr>
        <p:spPr>
          <a:xfrm>
            <a:off x="9555480" y="3218688"/>
            <a:ext cx="18288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2023</a:t>
            </a:r>
            <a:endParaRPr lang="en-US" sz="1350" dirty="0"/>
          </a:p>
        </p:txBody>
      </p:sp>
      <p:sp>
        <p:nvSpPr>
          <p:cNvPr id="18" name="Shape 16"/>
          <p:cNvSpPr/>
          <p:nvPr/>
        </p:nvSpPr>
        <p:spPr>
          <a:xfrm>
            <a:off x="594360" y="3931920"/>
            <a:ext cx="10972800" cy="667512"/>
          </a:xfrm>
          <a:prstGeom prst="roundRect">
            <a:avLst>
              <a:gd name="adj" fmla="val 12329"/>
            </a:avLst>
          </a:prstGeom>
          <a:solidFill>
            <a:srgbClr val="ECEAE4"/>
          </a:solidFill>
          <a:ln w="12700">
            <a:solidFill>
              <a:srgbClr val="ECEAE4"/>
            </a:solidFill>
            <a:prstDash val="solid"/>
          </a:ln>
        </p:spPr>
        <p:txBody>
          <a:bodyPr/>
          <a:p/>
        </p:txBody>
      </p:sp>
      <p:sp>
        <p:nvSpPr>
          <p:cNvPr id="19" name="Text 17"/>
          <p:cNvSpPr/>
          <p:nvPr/>
        </p:nvSpPr>
        <p:spPr>
          <a:xfrm>
            <a:off x="868680" y="3931920"/>
            <a:ext cx="1737360" cy="667512"/>
          </a:xfrm>
          <a:prstGeom prst="rect">
            <a:avLst/>
          </a:prstGeom>
          <a:noFill/>
          <a:ln/>
        </p:spPr>
        <p:txBody>
          <a:bodyPr wrap="square" lIns="0" tIns="0" rIns="0" bIns="0" rtlCol="0" anchor="ctr"/>
          <a:lstStyle/>
          <a:p>
            <a:pPr indent="0" marL="0">
              <a:lnSpc>
                <a:spcPts val="1600"/>
              </a:lnSpc>
              <a:buNone/>
            </a:pPr>
            <a:r>
              <a:rPr lang="en-US" sz="1350" b="1" dirty="0">
                <a:solidFill>
                  <a:srgbClr val="11121A"/>
                </a:solidFill>
                <a:latin typeface="Palatino Linotype" pitchFamily="34" charset="0"/>
                <a:ea typeface="Palatino Linotype" pitchFamily="34" charset="-122"/>
                <a:cs typeface="Palatino Linotype" pitchFamily="34" charset="-120"/>
              </a:rPr>
              <a:t>3,2%</a:t>
            </a:r>
            <a:endParaRPr lang="en-US" sz="1350" dirty="0"/>
          </a:p>
        </p:txBody>
      </p:sp>
      <p:sp>
        <p:nvSpPr>
          <p:cNvPr id="20" name="Text 18"/>
          <p:cNvSpPr/>
          <p:nvPr/>
        </p:nvSpPr>
        <p:spPr>
          <a:xfrm>
            <a:off x="2606040" y="3931920"/>
            <a:ext cx="347472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Canal administrativ de feedback</a:t>
            </a:r>
            <a:endParaRPr lang="en-US" sz="1350" dirty="0"/>
          </a:p>
        </p:txBody>
      </p:sp>
      <p:sp>
        <p:nvSpPr>
          <p:cNvPr id="21" name="Text 19"/>
          <p:cNvSpPr/>
          <p:nvPr/>
        </p:nvSpPr>
        <p:spPr>
          <a:xfrm>
            <a:off x="6263640" y="3931920"/>
            <a:ext cx="310896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Pacienți care răspund</a:t>
            </a:r>
            <a:endParaRPr lang="en-US" sz="1350" dirty="0"/>
          </a:p>
        </p:txBody>
      </p:sp>
      <p:sp>
        <p:nvSpPr>
          <p:cNvPr id="22" name="Text 20"/>
          <p:cNvSpPr/>
          <p:nvPr/>
        </p:nvSpPr>
        <p:spPr>
          <a:xfrm>
            <a:off x="9555480" y="3931920"/>
            <a:ext cx="1828800" cy="667512"/>
          </a:xfrm>
          <a:prstGeom prst="rect">
            <a:avLst/>
          </a:prstGeom>
          <a:noFill/>
          <a:ln/>
        </p:spPr>
        <p:txBody>
          <a:bodyPr wrap="square" lIns="0" tIns="0" rIns="0" bIns="0" rtlCol="0" anchor="ctr"/>
          <a:lstStyle/>
          <a:p>
            <a:pPr indent="0" marL="0">
              <a:lnSpc>
                <a:spcPts val="1600"/>
              </a:lnSpc>
              <a:buNone/>
            </a:pPr>
            <a:r>
              <a:rPr lang="en-US" sz="1350" dirty="0">
                <a:solidFill>
                  <a:srgbClr val="11121A"/>
                </a:solidFill>
                <a:latin typeface="Palatino Linotype" pitchFamily="34" charset="0"/>
                <a:ea typeface="Palatino Linotype" pitchFamily="34" charset="-122"/>
                <a:cs typeface="Palatino Linotype" pitchFamily="34" charset="-120"/>
              </a:rPr>
              <a:t>2017–2021</a:t>
            </a:r>
            <a:endParaRPr lang="en-US" sz="1350" dirty="0"/>
          </a:p>
        </p:txBody>
      </p:sp>
      <p:sp>
        <p:nvSpPr>
          <p:cNvPr id="23" name="Shape 21"/>
          <p:cNvSpPr/>
          <p:nvPr/>
        </p:nvSpPr>
        <p:spPr>
          <a:xfrm>
            <a:off x="594360" y="4736592"/>
            <a:ext cx="10972800" cy="1115568"/>
          </a:xfrm>
          <a:prstGeom prst="roundRect">
            <a:avLst>
              <a:gd name="adj" fmla="val 7377"/>
            </a:avLst>
          </a:prstGeom>
          <a:solidFill>
            <a:srgbClr val="ECEAE4"/>
          </a:solidFill>
          <a:ln w="12700">
            <a:solidFill>
              <a:srgbClr val="ECEAE4"/>
            </a:solidFill>
            <a:prstDash val="solid"/>
          </a:ln>
        </p:spPr>
        <p:txBody>
          <a:bodyPr/>
          <a:p/>
        </p:txBody>
      </p:sp>
      <p:sp>
        <p:nvSpPr>
          <p:cNvPr id="24" name="Text 22"/>
          <p:cNvSpPr/>
          <p:nvPr/>
        </p:nvSpPr>
        <p:spPr>
          <a:xfrm>
            <a:off x="868680" y="4919472"/>
            <a:ext cx="10424160" cy="786384"/>
          </a:xfrm>
          <a:prstGeom prst="rect">
            <a:avLst/>
          </a:prstGeom>
          <a:noFill/>
          <a:ln/>
        </p:spPr>
        <p:txBody>
          <a:bodyPr wrap="square" lIns="0" tIns="0" rIns="0" bIns="0" rtlCol="0" anchor="t"/>
          <a:lstStyle/>
          <a:p>
            <a:pPr algn="l" indent="0" marL="0">
              <a:lnSpc>
                <a:spcPts val="2200"/>
              </a:lnSpc>
              <a:buNone/>
            </a:pPr>
            <a:r>
              <a:rPr lang="en-US" sz="1600" b="1" dirty="0">
                <a:solidFill>
                  <a:srgbClr val="11121A"/>
                </a:solidFill>
                <a:latin typeface="Palatino Linotype" pitchFamily="34" charset="0"/>
                <a:ea typeface="Palatino Linotype" pitchFamily="34" charset="-122"/>
                <a:cs typeface="Palatino Linotype" pitchFamily="34" charset="-120"/>
              </a:rPr>
              <a:t>Corupția în sănătate nu este o cantitate, ci o familie de fenomene, măsurată cu instrumente care nu comunică între ele. Întrebarea din titlul cursului presupune că există o cantitate. Niciunul dintre instrumentele discutate astăzi nu o măsoară.</a:t>
            </a:r>
            <a:endParaRPr lang="en-US" sz="1600" dirty="0"/>
          </a:p>
        </p:txBody>
      </p:sp>
      <p:sp>
        <p:nvSpPr>
          <p:cNvPr id="25" name="Text 23"/>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474954"/>
                </a:solidFill>
                <a:latin typeface="Palatino Linotype" pitchFamily="34" charset="0"/>
                <a:ea typeface="Palatino Linotype" pitchFamily="34" charset="-122"/>
                <a:cs typeface="Palatino Linotype" pitchFamily="34" charset="-120"/>
              </a:rPr>
              <a:t>Teza enunțată la început și ilustrată acum. Capcane demontate astăzi: patru.</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FFC24B"/>
                </a:solidFill>
                <a:latin typeface="Palatino Linotype" pitchFamily="34" charset="0"/>
                <a:ea typeface="Palatino Linotype" pitchFamily="34" charset="-122"/>
                <a:cs typeface="Palatino Linotype" pitchFamily="34" charset="-120"/>
              </a:rPr>
              <a:t>DUPĂ ȘEDINȚĂ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rămâne de făcut</a:t>
            </a:r>
            <a:endParaRPr lang="en-US" sz="3200" dirty="0"/>
          </a:p>
        </p:txBody>
      </p:sp>
      <p:sp>
        <p:nvSpPr>
          <p:cNvPr id="4" name="Shape 2"/>
          <p:cNvSpPr/>
          <p:nvPr/>
        </p:nvSpPr>
        <p:spPr>
          <a:xfrm>
            <a:off x="594360" y="1783080"/>
            <a:ext cx="10972800" cy="1188720"/>
          </a:xfrm>
          <a:prstGeom prst="roundRect">
            <a:avLst>
              <a:gd name="adj" fmla="val 6923"/>
            </a:avLst>
          </a:prstGeom>
          <a:solidFill>
            <a:srgbClr val="1D1F2B"/>
          </a:solidFill>
          <a:ln w="12700">
            <a:solidFill>
              <a:srgbClr val="1D1F2B"/>
            </a:solidFill>
            <a:prstDash val="solid"/>
          </a:ln>
        </p:spPr>
        <p:txBody>
          <a:bodyPr/>
          <a:p/>
        </p:txBody>
      </p:sp>
      <p:sp>
        <p:nvSpPr>
          <p:cNvPr id="5" name="Shape 3"/>
          <p:cNvSpPr/>
          <p:nvPr/>
        </p:nvSpPr>
        <p:spPr>
          <a:xfrm>
            <a:off x="868680" y="2002536"/>
            <a:ext cx="685800" cy="45720"/>
          </a:xfrm>
          <a:prstGeom prst="rect">
            <a:avLst/>
          </a:prstGeom>
          <a:solidFill>
            <a:srgbClr val="FFC24B"/>
          </a:solidFill>
          <a:ln w="12700">
            <a:solidFill>
              <a:srgbClr val="FFC24B"/>
            </a:solidFill>
            <a:prstDash val="solid"/>
          </a:ln>
        </p:spPr>
        <p:txBody>
          <a:bodyPr/>
          <a:p/>
        </p:txBody>
      </p:sp>
      <p:sp>
        <p:nvSpPr>
          <p:cNvPr id="6" name="Text 4"/>
          <p:cNvSpPr/>
          <p:nvPr/>
        </p:nvSpPr>
        <p:spPr>
          <a:xfrm>
            <a:off x="868680" y="2185416"/>
            <a:ext cx="3566160" cy="329184"/>
          </a:xfrm>
          <a:prstGeom prst="rect">
            <a:avLst/>
          </a:prstGeom>
          <a:noFill/>
          <a:ln/>
        </p:spPr>
        <p:txBody>
          <a:bodyPr wrap="square" lIns="0" tIns="0" rIns="0" bIns="0" rtlCol="0" anchor="t"/>
          <a:lstStyle/>
          <a:p>
            <a:pPr algn="l" indent="0" marL="0">
              <a:lnSpc>
                <a:spcPts val="1800"/>
              </a:lnSpc>
              <a:buNone/>
            </a:pPr>
            <a:r>
              <a:rPr lang="en-US" sz="1400" b="1" dirty="0">
                <a:solidFill>
                  <a:srgbClr val="FFC24B"/>
                </a:solidFill>
                <a:latin typeface="Palatino Linotype" pitchFamily="34" charset="0"/>
                <a:ea typeface="Palatino Linotype" pitchFamily="34" charset="-122"/>
                <a:cs typeface="Palatino Linotype" pitchFamily="34" charset="-120"/>
              </a:rPr>
              <a:t>FIȘA DE REFLECȚIE</a:t>
            </a:r>
            <a:endParaRPr lang="en-US" sz="1400" dirty="0"/>
          </a:p>
        </p:txBody>
      </p:sp>
      <p:sp>
        <p:nvSpPr>
          <p:cNvPr id="7" name="Text 5"/>
          <p:cNvSpPr/>
          <p:nvPr/>
        </p:nvSpPr>
        <p:spPr>
          <a:xfrm>
            <a:off x="4617720" y="1984248"/>
            <a:ext cx="6675120" cy="914400"/>
          </a:xfrm>
          <a:prstGeom prst="rect">
            <a:avLst/>
          </a:prstGeom>
          <a:noFill/>
          <a:ln/>
        </p:spPr>
        <p:txBody>
          <a:bodyPr wrap="square" lIns="0" tIns="0" rIns="0" bIns="0" rtlCol="0" anchor="t"/>
          <a:lstStyle/>
          <a:p>
            <a:pPr algn="l" indent="0" marL="0">
              <a:lnSpc>
                <a:spcPts val="1900"/>
              </a:lnSpc>
              <a:buNone/>
            </a:pPr>
            <a:r>
              <a:rPr lang="en-US" sz="1350" dirty="0">
                <a:solidFill>
                  <a:srgbClr val="959BB0"/>
                </a:solidFill>
                <a:latin typeface="Palatino Linotype" pitchFamily="34" charset="0"/>
                <a:ea typeface="Palatino Linotype" pitchFamily="34" charset="-122"/>
                <a:cs typeface="Palatino Linotype" pitchFamily="34" charset="-120"/>
              </a:rPr>
              <a:t>Se completează la final și se predă la ieșire. Doi itemi scriși. Nu se notează; intră la portofoliu.</a:t>
            </a:r>
            <a:endParaRPr lang="en-US" sz="1350" dirty="0"/>
          </a:p>
        </p:txBody>
      </p:sp>
      <p:sp>
        <p:nvSpPr>
          <p:cNvPr id="8" name="Shape 6"/>
          <p:cNvSpPr/>
          <p:nvPr/>
        </p:nvSpPr>
        <p:spPr>
          <a:xfrm>
            <a:off x="594360" y="3108960"/>
            <a:ext cx="10972800" cy="1188720"/>
          </a:xfrm>
          <a:prstGeom prst="roundRect">
            <a:avLst>
              <a:gd name="adj" fmla="val 6923"/>
            </a:avLst>
          </a:prstGeom>
          <a:solidFill>
            <a:srgbClr val="1D1F2B"/>
          </a:solidFill>
          <a:ln w="12700">
            <a:solidFill>
              <a:srgbClr val="1D1F2B"/>
            </a:solidFill>
            <a:prstDash val="solid"/>
          </a:ln>
        </p:spPr>
        <p:txBody>
          <a:bodyPr/>
          <a:p/>
        </p:txBody>
      </p:sp>
      <p:sp>
        <p:nvSpPr>
          <p:cNvPr id="9" name="Shape 7"/>
          <p:cNvSpPr/>
          <p:nvPr/>
        </p:nvSpPr>
        <p:spPr>
          <a:xfrm>
            <a:off x="868680" y="3328416"/>
            <a:ext cx="685800" cy="45720"/>
          </a:xfrm>
          <a:prstGeom prst="rect">
            <a:avLst/>
          </a:prstGeom>
          <a:solidFill>
            <a:srgbClr val="27D3BE"/>
          </a:solidFill>
          <a:ln w="12700">
            <a:solidFill>
              <a:srgbClr val="27D3BE"/>
            </a:solidFill>
            <a:prstDash val="solid"/>
          </a:ln>
        </p:spPr>
        <p:txBody>
          <a:bodyPr/>
          <a:p/>
        </p:txBody>
      </p:sp>
      <p:sp>
        <p:nvSpPr>
          <p:cNvPr id="10" name="Text 8"/>
          <p:cNvSpPr/>
          <p:nvPr/>
        </p:nvSpPr>
        <p:spPr>
          <a:xfrm>
            <a:off x="868680" y="3511296"/>
            <a:ext cx="3566160" cy="329184"/>
          </a:xfrm>
          <a:prstGeom prst="rect">
            <a:avLst/>
          </a:prstGeom>
          <a:noFill/>
          <a:ln/>
        </p:spPr>
        <p:txBody>
          <a:bodyPr wrap="square" lIns="0" tIns="0" rIns="0" bIns="0" rtlCol="0" anchor="t"/>
          <a:lstStyle/>
          <a:p>
            <a:pPr algn="l" indent="0" marL="0">
              <a:lnSpc>
                <a:spcPts val="1800"/>
              </a:lnSpc>
              <a:buNone/>
            </a:pPr>
            <a:r>
              <a:rPr lang="en-US" sz="1400" b="1" dirty="0">
                <a:solidFill>
                  <a:srgbClr val="27D3BE"/>
                </a:solidFill>
                <a:latin typeface="Palatino Linotype" pitchFamily="34" charset="0"/>
                <a:ea typeface="Palatino Linotype" pitchFamily="34" charset="-122"/>
                <a:cs typeface="Palatino Linotype" pitchFamily="34" charset="-120"/>
              </a:rPr>
              <a:t>GHIDUL INVESTIGAȚIEI</a:t>
            </a:r>
            <a:endParaRPr lang="en-US" sz="1400" dirty="0"/>
          </a:p>
        </p:txBody>
      </p:sp>
      <p:sp>
        <p:nvSpPr>
          <p:cNvPr id="11" name="Text 9"/>
          <p:cNvSpPr/>
          <p:nvPr/>
        </p:nvSpPr>
        <p:spPr>
          <a:xfrm>
            <a:off x="4617720" y="3310128"/>
            <a:ext cx="6675120" cy="914400"/>
          </a:xfrm>
          <a:prstGeom prst="rect">
            <a:avLst/>
          </a:prstGeom>
          <a:noFill/>
          <a:ln/>
        </p:spPr>
        <p:txBody>
          <a:bodyPr wrap="square" lIns="0" tIns="0" rIns="0" bIns="0" rtlCol="0" anchor="t"/>
          <a:lstStyle/>
          <a:p>
            <a:pPr algn="l" indent="0" marL="0">
              <a:lnSpc>
                <a:spcPts val="1900"/>
              </a:lnSpc>
              <a:buNone/>
            </a:pPr>
            <a:r>
              <a:rPr lang="en-US" sz="1350" dirty="0">
                <a:solidFill>
                  <a:srgbClr val="959BB0"/>
                </a:solidFill>
                <a:latin typeface="Palatino Linotype" pitchFamily="34" charset="0"/>
                <a:ea typeface="Palatino Linotype" pitchFamily="34" charset="-122"/>
                <a:cs typeface="Palatino Linotype" pitchFamily="34" charset="-120"/>
              </a:rPr>
              <a:t>Lista de cazuri recomandate, structura și grila de evaluare — luați-le astăzi de pe masă.</a:t>
            </a:r>
            <a:endParaRPr lang="en-US" sz="1350" dirty="0"/>
          </a:p>
        </p:txBody>
      </p:sp>
      <p:sp>
        <p:nvSpPr>
          <p:cNvPr id="12" name="Shape 10"/>
          <p:cNvSpPr/>
          <p:nvPr/>
        </p:nvSpPr>
        <p:spPr>
          <a:xfrm>
            <a:off x="594360" y="4434840"/>
            <a:ext cx="10972800" cy="1188720"/>
          </a:xfrm>
          <a:prstGeom prst="roundRect">
            <a:avLst>
              <a:gd name="adj" fmla="val 6923"/>
            </a:avLst>
          </a:prstGeom>
          <a:solidFill>
            <a:srgbClr val="1D1F2B"/>
          </a:solidFill>
          <a:ln w="12700">
            <a:solidFill>
              <a:srgbClr val="1D1F2B"/>
            </a:solidFill>
            <a:prstDash val="solid"/>
          </a:ln>
        </p:spPr>
        <p:txBody>
          <a:bodyPr/>
          <a:p/>
        </p:txBody>
      </p:sp>
      <p:sp>
        <p:nvSpPr>
          <p:cNvPr id="13" name="Shape 11"/>
          <p:cNvSpPr/>
          <p:nvPr/>
        </p:nvSpPr>
        <p:spPr>
          <a:xfrm>
            <a:off x="868680" y="4654296"/>
            <a:ext cx="685800" cy="45720"/>
          </a:xfrm>
          <a:prstGeom prst="rect">
            <a:avLst/>
          </a:prstGeom>
          <a:solidFill>
            <a:srgbClr val="9B7EF7"/>
          </a:solidFill>
          <a:ln w="12700">
            <a:solidFill>
              <a:srgbClr val="9B7EF7"/>
            </a:solidFill>
            <a:prstDash val="solid"/>
          </a:ln>
        </p:spPr>
        <p:txBody>
          <a:bodyPr/>
          <a:p/>
        </p:txBody>
      </p:sp>
      <p:sp>
        <p:nvSpPr>
          <p:cNvPr id="14" name="Text 12"/>
          <p:cNvSpPr/>
          <p:nvPr/>
        </p:nvSpPr>
        <p:spPr>
          <a:xfrm>
            <a:off x="868680" y="4837176"/>
            <a:ext cx="3566160" cy="329184"/>
          </a:xfrm>
          <a:prstGeom prst="rect">
            <a:avLst/>
          </a:prstGeom>
          <a:noFill/>
          <a:ln/>
        </p:spPr>
        <p:txBody>
          <a:bodyPr wrap="square" lIns="0" tIns="0" rIns="0" bIns="0" rtlCol="0" anchor="t"/>
          <a:lstStyle/>
          <a:p>
            <a:pPr algn="l" indent="0" marL="0">
              <a:lnSpc>
                <a:spcPts val="1800"/>
              </a:lnSpc>
              <a:buNone/>
            </a:pPr>
            <a:r>
              <a:rPr lang="en-US" sz="1400" b="1" dirty="0">
                <a:solidFill>
                  <a:srgbClr val="9B7EF7"/>
                </a:solidFill>
                <a:latin typeface="Palatino Linotype" pitchFamily="34" charset="0"/>
                <a:ea typeface="Palatino Linotype" pitchFamily="34" charset="-122"/>
                <a:cs typeface="Palatino Linotype" pitchFamily="34" charset="-120"/>
              </a:rPr>
              <a:t>UN PUNCT LA PORTOFOLIU</a:t>
            </a:r>
            <a:endParaRPr lang="en-US" sz="1400" dirty="0"/>
          </a:p>
        </p:txBody>
      </p:sp>
      <p:sp>
        <p:nvSpPr>
          <p:cNvPr id="15" name="Text 13"/>
          <p:cNvSpPr/>
          <p:nvPr/>
        </p:nvSpPr>
        <p:spPr>
          <a:xfrm>
            <a:off x="4617720" y="4636008"/>
            <a:ext cx="6675120" cy="914400"/>
          </a:xfrm>
          <a:prstGeom prst="rect">
            <a:avLst/>
          </a:prstGeom>
          <a:noFill/>
          <a:ln/>
        </p:spPr>
        <p:txBody>
          <a:bodyPr wrap="square" lIns="0" tIns="0" rIns="0" bIns="0" rtlCol="0" anchor="t"/>
          <a:lstStyle/>
          <a:p>
            <a:pPr algn="l" indent="0" marL="0">
              <a:lnSpc>
                <a:spcPts val="1900"/>
              </a:lnSpc>
              <a:buNone/>
            </a:pPr>
            <a:r>
              <a:rPr lang="en-US" sz="1350" dirty="0">
                <a:solidFill>
                  <a:srgbClr val="959BB0"/>
                </a:solidFill>
                <a:latin typeface="Palatino Linotype" pitchFamily="34" charset="0"/>
                <a:ea typeface="Palatino Linotype" pitchFamily="34" charset="-122"/>
                <a:cs typeface="Palatino Linotype" pitchFamily="34" charset="-120"/>
              </a:rPr>
              <a:t>Pentru oricine aduce una dintre valorile neverificate, cu sursa primară și captura de ecran.</a:t>
            </a:r>
            <a:endParaRPr lang="en-US" sz="1350" dirty="0"/>
          </a:p>
        </p:txBody>
      </p:sp>
      <p:sp>
        <p:nvSpPr>
          <p:cNvPr id="16" name="Text 14"/>
          <p:cNvSpPr/>
          <p:nvPr/>
        </p:nvSpPr>
        <p:spPr>
          <a:xfrm>
            <a:off x="594360" y="6309360"/>
            <a:ext cx="10972800" cy="292608"/>
          </a:xfrm>
          <a:prstGeom prst="rect">
            <a:avLst/>
          </a:prstGeom>
          <a:noFill/>
          <a:ln/>
        </p:spPr>
        <p:txBody>
          <a:bodyPr wrap="square" lIns="0" tIns="0" rIns="0" bIns="0" rtlCol="0" anchor="ctr"/>
          <a:lstStyle/>
          <a:p>
            <a:pPr indent="0" marL="0">
              <a:buNone/>
            </a:pPr>
            <a:r>
              <a:rPr lang="en-US" sz="950" i="1" dirty="0">
                <a:solidFill>
                  <a:srgbClr val="A6ADC2"/>
                </a:solidFill>
                <a:latin typeface="Palatino Linotype" pitchFamily="34" charset="0"/>
                <a:ea typeface="Palatino Linotype" pitchFamily="34" charset="-122"/>
                <a:cs typeface="Palatino Linotype" pitchFamily="34" charset="-120"/>
              </a:rPr>
              <a:t>Ședința a doua începe de la dispersia regională: 5,9% față de 2,6%, cu intervale care nu se suprapun.</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6">
    <p:bg>
      <p:bgPr>
        <a:solidFill>
          <a:srgbClr val="07564B"/>
        </a:solidFill>
      </p:bgPr>
    </p:bg>
    <p:spTree>
      <p:nvGrpSpPr>
        <p:cNvPr id="1" name=""/>
        <p:cNvGrpSpPr/>
        <p:nvPr/>
      </p:nvGrpSpPr>
      <p:grpSpPr>
        <a:xfrm>
          <a:off x="0" y="0"/>
          <a:ext cx="0" cy="0"/>
          <a:chOff x="0" y="0"/>
          <a:chExt cx="0" cy="0"/>
        </a:xfrm>
      </p:grpSpPr>
      <p:sp>
        <p:nvSpPr>
          <p:cNvPr id="2" name="Shape 0"/>
          <p:cNvSpPr/>
          <p:nvPr/>
        </p:nvSpPr>
        <p:spPr>
          <a:xfrm>
            <a:off x="594360" y="384048"/>
            <a:ext cx="1737360" cy="310896"/>
          </a:xfrm>
          <a:prstGeom prst="roundRect">
            <a:avLst>
              <a:gd name="adj" fmla="val 50000"/>
            </a:avLst>
          </a:prstGeom>
          <a:solidFill>
            <a:srgbClr val="FFFFFF"/>
          </a:solidFill>
          <a:ln w="12700">
            <a:solidFill>
              <a:srgbClr val="FFFFFF"/>
            </a:solidFill>
            <a:prstDash val="solid"/>
          </a:ln>
        </p:spPr>
        <p:txBody>
          <a:bodyPr/>
          <a:p/>
        </p:txBody>
      </p:sp>
      <p:sp>
        <p:nvSpPr>
          <p:cNvPr id="3" name="Text 1"/>
          <p:cNvSpPr/>
          <p:nvPr/>
        </p:nvSpPr>
        <p:spPr>
          <a:xfrm>
            <a:off x="594360" y="384048"/>
            <a:ext cx="1737360" cy="310896"/>
          </a:xfrm>
          <a:prstGeom prst="rect">
            <a:avLst/>
          </a:prstGeom>
          <a:noFill/>
          <a:ln/>
        </p:spPr>
        <p:txBody>
          <a:bodyPr wrap="square" lIns="0" tIns="0" rIns="0" bIns="0" rtlCol="0" anchor="ctr"/>
          <a:lstStyle/>
          <a:p>
            <a:pPr algn="ctr" indent="0" marL="0">
              <a:buNone/>
            </a:pPr>
            <a:r>
              <a:rPr lang="en-US" sz="1000" b="1" dirty="0">
                <a:solidFill>
                  <a:srgbClr val="07564B"/>
                </a:solidFill>
                <a:latin typeface="Palatino Linotype" pitchFamily="34" charset="0"/>
                <a:ea typeface="Palatino Linotype" pitchFamily="34" charset="-122"/>
                <a:cs typeface="Palatino Linotype" pitchFamily="34" charset="-120"/>
              </a:rPr>
              <a:t>ÎNCHIDERE</a:t>
            </a:r>
            <a:endParaRPr lang="en-US" sz="1000" dirty="0"/>
          </a:p>
        </p:txBody>
      </p:sp>
      <p:sp>
        <p:nvSpPr>
          <p:cNvPr id="4" name="Text 2"/>
          <p:cNvSpPr/>
          <p:nvPr/>
        </p:nvSpPr>
        <p:spPr>
          <a:xfrm>
            <a:off x="594360" y="1691640"/>
            <a:ext cx="10972800" cy="86868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Ați venit astăzi așteptând un număr.</a:t>
            </a:r>
            <a:endParaRPr lang="en-US" sz="3600" dirty="0"/>
          </a:p>
        </p:txBody>
      </p:sp>
      <p:sp>
        <p:nvSpPr>
          <p:cNvPr id="5" name="Text 3"/>
          <p:cNvSpPr/>
          <p:nvPr/>
        </p:nvSpPr>
        <p:spPr>
          <a:xfrm>
            <a:off x="594360" y="2606040"/>
            <a:ext cx="10972800" cy="868680"/>
          </a:xfrm>
          <a:prstGeom prst="rect">
            <a:avLst/>
          </a:prstGeom>
          <a:noFill/>
          <a:ln/>
        </p:spPr>
        <p:txBody>
          <a:bodyPr wrap="square" lIns="0" tIns="0" rIns="0" bIns="0" rtlCol="0" anchor="ctr"/>
          <a:lstStyle/>
          <a:p>
            <a:pPr indent="0" marL="0">
              <a:buNone/>
            </a:pPr>
            <a:r>
              <a:rPr lang="en-US" sz="3600" b="1" dirty="0">
                <a:solidFill>
                  <a:srgbClr val="7FE8D8"/>
                </a:solidFill>
                <a:latin typeface="Palatino Linotype" pitchFamily="34" charset="0"/>
                <a:ea typeface="Palatino Linotype" pitchFamily="34" charset="-122"/>
                <a:cs typeface="Palatino Linotype" pitchFamily="34" charset="-120"/>
              </a:rPr>
              <a:t>Plecați cu o întrebare de pus oricărui număr.</a:t>
            </a:r>
            <a:endParaRPr lang="en-US" sz="3600" dirty="0"/>
          </a:p>
        </p:txBody>
      </p:sp>
      <p:sp>
        <p:nvSpPr>
          <p:cNvPr id="6" name="Shape 4"/>
          <p:cNvSpPr/>
          <p:nvPr/>
        </p:nvSpPr>
        <p:spPr>
          <a:xfrm>
            <a:off x="594360" y="3931920"/>
            <a:ext cx="10972800" cy="1783080"/>
          </a:xfrm>
          <a:prstGeom prst="roundRect">
            <a:avLst>
              <a:gd name="adj" fmla="val 4615"/>
            </a:avLst>
          </a:prstGeom>
          <a:solidFill>
            <a:srgbClr val="0A6456"/>
          </a:solidFill>
          <a:ln w="12700">
            <a:solidFill>
              <a:srgbClr val="0A6456"/>
            </a:solidFill>
            <a:prstDash val="solid"/>
          </a:ln>
        </p:spPr>
        <p:txBody>
          <a:bodyPr/>
          <a:p/>
        </p:txBody>
      </p:sp>
      <p:sp>
        <p:nvSpPr>
          <p:cNvPr id="7" name="Text 5"/>
          <p:cNvSpPr/>
          <p:nvPr/>
        </p:nvSpPr>
        <p:spPr>
          <a:xfrm>
            <a:off x="868680" y="4160520"/>
            <a:ext cx="10424160" cy="1371600"/>
          </a:xfrm>
          <a:prstGeom prst="rect">
            <a:avLst/>
          </a:prstGeom>
          <a:noFill/>
          <a:ln/>
        </p:spPr>
        <p:txBody>
          <a:bodyPr wrap="square" lIns="0" tIns="0" rIns="0" bIns="0" rtlCol="0" anchor="t"/>
          <a:lstStyle/>
          <a:p>
            <a:pPr algn="l" indent="0" marL="0">
              <a:lnSpc>
                <a:spcPts val="2600"/>
              </a:lnSpc>
              <a:buNone/>
            </a:pPr>
            <a:r>
              <a:rPr lang="en-US" sz="1700" dirty="0">
                <a:solidFill>
                  <a:srgbClr val="FFFFFF"/>
                </a:solidFill>
                <a:latin typeface="Palatino Linotype" pitchFamily="34" charset="0"/>
                <a:ea typeface="Palatino Linotype" pitchFamily="34" charset="-122"/>
                <a:cs typeface="Palatino Linotype" pitchFamily="34" charset="-120"/>
              </a:rPr>
              <a:t>Ce măsoară, pe cine, în ce an, cu ce marjă de eroare.</a:t>
            </a:r>
            <a:endParaRPr lang="en-US" sz="1700" dirty="0"/>
          </a:p>
          <a:p>
            <a:pPr algn="l" indent="0" marL="0">
              <a:lnSpc>
                <a:spcPts val="2600"/>
              </a:lnSpc>
              <a:buNone/>
            </a:pPr>
            <a:endParaRPr lang="en-US" sz="1700" dirty="0"/>
          </a:p>
          <a:p>
            <a:pPr algn="l" indent="0" marL="0">
              <a:lnSpc>
                <a:spcPts val="2600"/>
              </a:lnSpc>
              <a:buNone/>
            </a:pPr>
            <a:r>
              <a:rPr lang="en-US" sz="1700" dirty="0">
                <a:solidFill>
                  <a:srgbClr val="FFFFFF"/>
                </a:solidFill>
                <a:latin typeface="Palatino Linotype" pitchFamily="34" charset="0"/>
                <a:ea typeface="Palatino Linotype" pitchFamily="34" charset="-122"/>
                <a:cs typeface="Palatino Linotype" pitchFamily="34" charset="-120"/>
              </a:rPr>
              <a:t>Patru întrebări. Treizeci de secunde. Se aplică oricărei cifre pe care o veți întâlni în următorii patruzeci de ani de practică, inclusiv celor pe care vi le voi da eu.</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C01 · Trei instrumente, trei cifre, o singură țară (decul de proiectat)</dc:title>
  <dc:subject>PptxGenJS Presentation</dc:subject>
  <dc:creator>Adrian Pană</dc:creator>
  <cp:lastModifiedBy>Adrian Pană</cp:lastModifiedBy>
  <cp:revision>1</cp:revision>
  <dcterms:created xsi:type="dcterms:W3CDTF">2026-08-31T07:16:49Z</dcterms:created>
  <dcterms:modified xsi:type="dcterms:W3CDTF">2026-09-27T17:11:58Z</dcterms:modified>
  <dc:description>Copie a S1_Prezentare.pptx (august 2026), actualizată la 27.09.2026 după notele C01 și registrul de afirmații OPT_PLIC.</dc:description>
  <cp:keywords>sursa_amprenta=7e74c17661ef0773; proiectie</cp:keywords>
</cp:coreProperties>
</file>