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Interesul nu are nevoie de intenție. Astăzi pornim de la un rând dintr-un registru de sponsorizări și ajungem la articolele retrase care continuă să fie citate.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citit răspunsurile de la biletul de ieșire al ședinței a doua. Am schimbat un lucru: cifrele apar câte una pe diapozitiv, rotunjite și spuse în frecvențe, iar explicația o dăm oral, nu în tabele.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povești: cina de 20 de dolari, cine declară interesele în România și articolul retras. Jumătate din timp lucrați voi: votați pe telefon, discutați cu colegul de bancă și verificați chiar voi un articol. Iar înainte de câteva cifre, vă rog să ghiciți.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 ipotetice. Într-un registru public de sponsorizări apare un rând: o firmă care produce medicamente a plătit taxa de înscriere la un congres național, în valoare de 900 de lei, pentru o rezidentă de cardiologie. Firma a declarat plata la termen. Rezidenta a declarat-o și ea. Congresul a avut loc, rezidenta a participat la toate sesiunile, iar firma nu i-a cerut nimic în schimb.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Nimeni nu a greșit nimic. Firma și rezidenta au respectat regulile de declarare, iar congresul a fost unul științific. Teza ședinței: interesul nu are nevoie de intenție ca să producă efect, iar declararea, singură, nu ajunge; unele experimente sugerează că poate chiar înrăutăți lucrurile. Nimeni nu poate spune „eu nu fac așa ceva”, pentru că reacția la un dar este în mare parte inconștientă.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anonim, pe telefon: rezidenta din registru are un conflict de interese? Rezultatul îl discutăm la sfârșitul primei povești.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Aproape fiecare medic primește, la un moment dat, ceva de la o firmă: un pix, o cafea la o prezentare de produs, un prânz la o conferință, o taxă de înscriere plătită. Argumentul obișnuit este că lucrurile acestea sunt prea mici ca să conteze. Ce ați primit voi până acum?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Într-o sinteză publicată în 2026, Joel Lexchin arată că argumentul „prea mic ca să conteze” pornește de la o premisă falsă: ideea că medicii ar alege conștient să se lase influențați. În realitate, scrie el, a răspunde unui dar cu o favoare este un gest în mare parte inconștient. Mecanismul se numește reciprocitate: întoarcem un serviciu primit, de cele mai multe ori fără să ne dăm seama.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Ghiciți înainte de a afla rezultatul. Un studiu american a urmărit medici care primiseră de la firme mese de cel mult 20 de dolari și a comparat ce au prescris apoi, în patru clase de medicamente folosite foarte des. În câte dintre cele patru clase credeți că au prescris mai des medicamentul promovat? Ridicați mâna la varianta voastră.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Lexchin citează un studiu american care a urmărit medicii care primiseră de la firme mese în valoare de cel mult 20 de dolari. Studiul a privit patru clase de medicamente folosite foarte des. În toate cele patru clase, medicii care primiseră o masă au prescris mai des medicamentul promovat decât alternativele din aceeași clasă.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Imaginați-vă un titlu de știre: „Medicii, cumpărați cu o cină de 20 de dolari”. Ați crede acest titlu? Votați, apoi discutați un minut cu colegul: ce întrebare i-ați pune autorului știrii?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Titlul spune mai mult decât studiul. Studiul a găsit o asociere, nu a arătat că masa a fost cauza. Firmele pot alege să invite tocmai medicii care prescriu deja mult. Ca să ne apropiem de un răspuns, avem nevoie de mai multe studii, citite împreună. În 2021, o echipă condusă de Aaron Mitchell a făcut o sinteză sistematică: a căutat, după reguli stabilite dinainte, toate studiile pe această temă. A găsit 36 de studii, cu 101 analize în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5 din 6 studii, plățile au mers împreună cu mai multe prescrieri în toate analizele. În celelalte studii, rezultatele au fost amestecate, și niciun studiu nu a găsit numai rezultate nule, adică nicio legătură.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Dacă numărăm analizele, nu studiile, aproape 9 din 10 au găsit aceeași legătură. Plățile au mers împreună cu mai multe prescrieri ale medicamentelor firmei care plătea, cu costuri mai mari ale prescrierii și cu mai multe medicamente de marcă.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Aceeași sinteză are și o limită pe care trebuie să o spuneți de fiecare dată când citați cifra: toate studiile au fost observaționale, iar mai mult de jumătate dintre ele au avut un risc serios de eroare sistematică. Autorii mai notează că studiile cu rezultate nule ar fi putut fi publicate mai 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Atunci de ce spun autorii că legătura pare cauzală? Pentru că două lucruri apar în multe studii. Primul: în 9 studii, prescrierea a crescut după plată, nu înainte. Dacă prescrierea crește după plată, explicația inversă devine mai puțin probabilă.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doilea lucru: în 25 din cele 36 de studii, adică în aproximativ 7 din 10, cu cât plata a fost mai mare, cu atât efectul a fost mai mare. Aceasta este relația doză–răspuns.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Concluzia autorilor este formulată cu grijă: constatările privind succesiunea în timp și relația doză–răspuns „sugerează o relație cauzală”. Verbul ales de autori este „sugerează”, nu „demonstrează”, iar acesta este tonul potrivit și atunci când vorbiți voi despre aceste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acest curs numim conflict de interese situația în care un folos personal, al vostru sau al cuiva apropiat, poate influența o decizie pe care o luați în numele altcuiva, de pildă al pacientului. Conflictul de interese este o situație, nu o faptă: îl aveți înainte să decideți ceva, indiferent ce veți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Valori ipotetice. Primul medic primește o cafea la o prezentare de produs și prescrie a doua zi exact ca înainte. Al doilea este membru într-o comisie care decide ce medicamente se compensează și are rude care lucrează la una dintre firmele discutate. Al treilea cere bani unei firme ca să-i includă medicamentul pe lista spitalului. Cine are un conflict de interese? Cine a comis deja o faptă?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Rezidenta are un conflict de interese, chiar dacă nu a prescris încă nimic. Nu este o acuzație, ci descrierea situației în care se află; situația îi cere doar să fie conștientă de ea. A avea un conflict de interese nu înseamnă a fi corupt; corupția este o faptă. Dar conflictele de interese gestionate prost sunt printre factorii care favorizează corupția. Primul și al doilea medic au un conflict de interese; al treilea a trecut de la situație la faptă.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Există trei remedii, de la cel mai blând la cel mai strict: declararea, abținerea și interdicția. Ordinul ministrului sănătății din 2023 despre comisiile de specialitate le folosește pe toate trei. Adevărat sau fals: odată declarat, conflictul de interese a dispărut? Fals. Declararea îl face vizibil, dar nu îl înlătură; transparența este considerată o condiție necesară, dar nu suficientă. Iar singurele măsuri despre care s-a arătat că reduc conflictele de interese sunt regulile impuse prin lege care interzic sau limitează darurile către medici și contactul cu firmele încă din facultate.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simple, de pus înainte să primiți ceva. Cine îmi oferă acest lucru? Ce decizii iau eu care contează pentru el? M-aș simți bine dacă pacientul meu ar ști? Nu vă cerem să refuzați orice; vă cerem să nu vă considerați imuni.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România, declarațiile de avere și de interese sunt reglementate de Legea nr. 176/2010 privind integritatea în exercitarea funcțiilor și demnităților publice. Într-un spital de stat, cine credeți că este obligat de această lege să își declare interesele: managerul, directorul medical, medicul de secție? Ridicați mâna la varianta voastră.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sistemul de sănătate, Legea nr. 176/2010 îi obligă pe cei cu funcții de conducere și de control din unitățile de stat, deci pe manager și pe directorul medical. În sistemul de sănătate, legea îi obligă pe cei cu funcții de conducere și de control din unitățile de stat. Un medic de pe secție nu le depune în temeiul acestei legi. Instituția afișează declarațiile pe pagina ei de internet sau la avizier, în cel mult 30 de zile de la primire. Cine este găsit în conflict de interese nu mai poate ocupa, timp de 3 ani, o funcție dintre cele la care se referă legea, cu excepția celor electorale.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Există un loc în care deciziile medicilor contează mult mai mult decât la patul pacientului: comisiile de specialitate ale Ministerului Sănătății. Ordinul în vigoare, din 2023, cere ca fiecare membru să depună o declarație de interese în 30 de zile de la numire și să o actualizeze în 30 de zile de la orice schimbare. Declarațiile se depun și se arhivează la minister. Membrul care a participat, în ultimul an, la studii clinice cu medicamente discutate în comisie, precum și orice membru la care s-a identificat un conflict de interese, completează o declarație de abținere și se retrage de la vot.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Ordinul ministrului sănătății nr. 2396/2023 spune cine poate fi membru al unei comisii de specialitate. Membrii trebuie să fie specialiști care nu au funcții, plătite sau nu, în companiile care produc, distribuie sau dețin autorizații de punere pe piață pentru medicamente, dispozitive, aparatură sau echipamente medicale. Și nu pot avea în asemenea companii acțiuni sau părți sociale care, împreună cu ale soțului sau soției și ale rudelor de gradul întâi, depășesc 5% din capitalul societății, indiferent cum au fost dobândite. Cine nu mai îndeplinește aceste condiții are obligația să informeze ministerul. Este deci o condiție ca să puteți fi membru al comisiei. În textul ordinului nu am găsit o prevedere care să ceară publicarea declarațiilor de interese.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anonim: declarațiile de interese ale membrilor comisiilor de specialitate ar trebui să fie publice, să rămână la minister sau să fie accesibile numai la cerere? Apoi, un minut cu colegul: ce ar câștiga și ce ar pierde pacientul dacă ar fi publice?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Legea sănătății, Legea nr. 95/2006, la articolul 814, îi obligă pe producătorii și distribuitorii de medicamente și de dispozitive medicale să declare sponsorizările făcute pentru medici; medicul sponsorizat declară și el. Declarațiile pentru anul trecut se depun până la 31 martie. Registrul arată că a existat o plată; nu arată dacă plata a schimbat ceva. Declararea interesului este primul și cel mai blând remediu: nu înlătură conflictul, doar îl face vizibil.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Lucrați în perechi. Imaginați-vă că aveți în față un registru public de sponsorizări. Scrieți trei întrebări despre sistem la care registrul vă poate răspunde și o întrebare la care nu vă poate răspunde. Nu căutați persoane și nu numiți pe nimeni: analizăm structura, nu oamenii.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Sinteza lui Lexchin descrie două mecanisme prin care declararea poate face lucrurile mai rele. Prima este exagerarea calculată: un vorbitor care știe că publicul îl va crede mai puțin poate compensa, exagerând beneficiile unui medicament nou. A doua este permisiunea morală: după un gest corect, cum este declararea, oamenii se simt mai îndreptățiți să facă unul mai puțin corect. Iar publicul îl poate considera pe vorbitor un om cinstit și poate uita că ce spune poate fi părtinitor.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Ghiciți înainte de a afla rezultatul. Un studiu a verificat declarațiile a 270 de medici americani, autori ai 20 de ghiduri clinice publicate în 2020. Câți dintre ei credeți că și-au declarat corect conflictele de interese financiare? Ridicați mâna la varianta voastră.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„Conflictele de interese sunt rezolvate: toți autorii și le declară.” Ați crede acest titlu? Două probleme. Chiar și o declarație completă nu rezolvă conflictul. Iar declarațiile sunt adesea incomplete: dintre 270 de medici americani, autori ai 20 de ghiduri clinice publicate în 2020, numai aproximativ 1 din 4 și-au declarat corect conflictele de interese financiare.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revedem în zece minute, cu povestea a treia: articolul retras.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Mutăm privirea mai sus, la literatura științifică pe care se sprijină deciziile tuturor medicilor. Aici, un singur articol greșit poate influența mii de decizii. Retractarea este retragerea oficială a unui articol publicat, anunțată de revistă, care avertizează cititorii asupra unor probleme grave. Ea scoate articolul din literatura care poate fi citată, dar nu oprește răspândirea lui. Un articol poate fi valabil, corectat sau retras; unele reviste publică și o expresie de îngrijorare.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Retraction Watch este o bază de date publică despre retractări; datele ei se pot descărca gratuit prin Crossref. Am descărcat-o pe 11.10.2026. Ea conține 73 100 de înregistrări, dintre care 67 663 sunt retractări.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„Retractările au explodat: știința e tot mai necinstită.” Ați crede acest titlu? Retractările au crescut mult în ultimele decenii. Ce credeți că s-a întâmplat? Votați, apoi discutați un minut cu colegul: ce cifră ați mai vrea să vedeți?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studiu publicat în 2013 de Daniele Fanelli a analizat 2 294 de retractări și a comparat creșterea lor cu creșterea corecturilor. Din 1980, frecvența retractărilor a crescut cu aproximativ 20% pe an, în timp ce frecvența corecturilor nu a crescut semnificativ. Ce a crescut este mai ales înclinația revistelor de a retrage articole, adică supravegherea, nu neapărat frauda. O analiză din 2025 ajunge la o concluzie apropiată, dar mai nuanțată: supraveghere mai atentă, dar și probleme de integritate care continuă.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 putem afla direct cât de des falsifică cercetătorii datele, pentru că frauda se ascunde. Fanelli a încercat, în 2009, să o estimeze din chestionare anonime. În medie, aproximativ 2 din 100 de cercetători au recunoscut că au fabricat sau au falsificat date cel puțin o dată. Autorul consideră estimarea una prudentă, iar studiul e vechi: îl folosim ca reper.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Când au fost întrebați despre colegi, aproximativ 14 din 100 au spus că au văzut așa ceva. De ce diferă cifrele? Fanelli amintește un tipar care poate explica diferența: oamenii se văd mai cinstiți decât colegii lor, așa-numitul „efect Muhammad 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Ghiciți înainte de a afla rezultatul. A cita un articol înseamnă a-l folosi ca sprijin într-o lucrare nouă. Cine citează un articol după ce a fost retras ar trebui măcar să spună că a fost retras. Din citările scrise după retragere, câte credeți că spun acest lucru? Ridicați mâna la varianta voastră.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articol retras ar trebui să nu mai fie folosit ca dovadă. În realitate, el continuă să fie citat. Un studiu publicat în 2021 de Tzu-Kun Hsiao și Jodi Schneider a urmărit 7 813 articole retrase. Din citările de după retragere, numai aproximativ 1 din 20 spunea că articolul fusese retras. Retragerea nu a schimbat felul în care erau citate aceste articole.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studiu din 2019 al lui Daniel Hamilton a urmărit 47 de studii retrase din literatura de radioterapie oncologică și cele 358 de lucrări care le citau după retragere și au putut fi examinate. Aproximativ 9 din 10 dintre aceste lucrări citau articolul retras ca pe unul valabil. Printre ele erau trei ghiduri clinice. Fenomenul a fost studiat și la noi, de o echipă de la Universitatea de Medicină și Farmacie „Iuliu Hațieganu” din Cluj-Napoca.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 verificați concret dacă un articol a fost retras. Deschideți pubmed.ncbi.nlm.nih.gov. Lipiți în caseta de căutare titlul articolului; merge și PMID-ul, adică numărul articolului în PubMed, sau DOI-ul, codul lui unic. Deschideți înregistrarea și uitați-vă sub titlu: dacă articolul a fost retras, apare trimiterea „Retraction in”, care duce la nota de retractare. La „Publication types” apare eticheta „Retracted Publication”. Dacă nu apare nimic, căutați titlul sau DOI-ul și în baza Retraction Watch, la retractiondatabase.org; acolo vedeți și tipul notei: retractare, corectură sau expresie de îngrijorare. Și un pas în plus: dacă adăugați la o căutare în PubMed „AND retracted publication[pt]”, vedeți numai articolele retrase pe tema respectivă.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Să vedem un exemplu real. Articolul lui Wakefield și al colaboratorilor săi, publicat în The Lancet în 1998, a legat, după relatarea părinților, debutul tulburărilor de comportament de vaccinul ROR, împotriva rujeolei, oreionului și rubeolei, la 8 din 12 copii. Îi căutăm titlul în PubMed și deschidem înregistrarea, cu PMID 9500320. Sub titlu apare „Retraction in: Lancet. 2010 Feb 6;375(9713):445”: revista l-a retras în 2010, iar trimiterea duce la nota de retractare. La tipurile de publicație apare „Retracted Publication”. Încă din 2004, 10 dintre cei 13 autori retrăseseră interpretarea articolului.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Acum e rândul vostru, în perechi, pe telefon. Alegeți un articol pe care l-ați citat recent sau pe care îl citează un ghid folosit de voi. Căutați-l în PubMed, ca în exemplul de adineauri, și uitați-vă dacă apar „Retraction in” sau „Retracted Publication”. Dacă nu găsiți nimic, verificați și în baza Retraction Watch. Spuneți colegului ce ați găsit și cât timp v-a luat. De ce întâi PubMed? Într-un studiu, PubMed a marcat ca retrase toate cele 150 de articole retrase verificate, iar pe paginile editurilor numai 88% dintre PDF-uri erau marcate. Un PDF descărcat mai demult nu arată retragerea.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baza descărcată pe 11.10.2026 apar 211 retractări cu cel puțin o afiliere din România. Motivele cele mai frecvente sunt plagiatul, o investigație a revistei sau a editurii și publicarea dublă. Baza numără articolele retrase, nu articolele care ar fi trebuit retrase. O țară cu puține retractări poate avea fie cercetători mai cinstiți, fie reviste care verifică mai puțin. Înainte să comparați două cifre, întrebați-vă dacă numără același lucru.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faceți diferit de mâine. Înainte să primiți ceva de la o firmă, întrebați-vă ce decizii luați care contează pentru ea. Declarați-vă interesele, dar nu vă opriți la declarare. Nu credeți un vorbitor mai mult pentru că își declară interesele. Înainte să citați un articol, verificați în două minute, întâi în PubMed, dacă nu a fost retras. Și la orice titlu despre medici, firme sau fraude în știință, întrebați-vă: ați crede acest titlu?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Zece întrebări despre ce am discutat. Rezultatul nu se notează.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 întrebări anonime: ce a fost util azi, unde v-am pierdut și ce ați putea folosi mâine. Luni, pe pagina cursului, veți găsi ce am modificat pe baza răspunsurilor.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237744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40080" y="777240"/>
            <a:ext cx="23774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TREIA</a:t>
            </a:r>
            <a:endParaRPr lang="en-US" sz="1300" dirty="0"/>
          </a:p>
        </p:txBody>
      </p:sp>
      <p:sp>
        <p:nvSpPr>
          <p:cNvPr id="4" name="Text 2"/>
          <p:cNvSpPr/>
          <p:nvPr/>
        </p:nvSpPr>
        <p:spPr>
          <a:xfrm>
            <a:off x="640080" y="1417320"/>
            <a:ext cx="5394960" cy="2194560"/>
          </a:xfrm>
          <a:prstGeom prst="rect">
            <a:avLst/>
          </a:prstGeom>
          <a:noFill/>
          <a:ln/>
        </p:spPr>
        <p:txBody>
          <a:bodyPr wrap="square" lIns="0" tIns="0" rIns="0" bIns="0" rtlCol="0" anchor="t"/>
          <a:lstStyle/>
          <a:p>
            <a:pPr indent="0" marL="0">
              <a:buNone/>
            </a:pPr>
            <a:r>
              <a:rPr lang="en-US" sz="4200" b="1" dirty="0">
                <a:solidFill>
                  <a:srgbClr val="FFFFFF"/>
                </a:solidFill>
                <a:latin typeface="Palatino Linotype" pitchFamily="34" charset="0"/>
                <a:ea typeface="Palatino Linotype" pitchFamily="34" charset="-122"/>
                <a:cs typeface="Palatino Linotype" pitchFamily="34" charset="-120"/>
              </a:rPr>
              <a:t>Interesul nu are nevoie de intenție</a:t>
            </a:r>
            <a:endParaRPr lang="en-US" sz="4200" dirty="0"/>
          </a:p>
        </p:txBody>
      </p:sp>
      <p:sp>
        <p:nvSpPr>
          <p:cNvPr id="5" name="Shape 3"/>
          <p:cNvSpPr/>
          <p:nvPr/>
        </p:nvSpPr>
        <p:spPr>
          <a:xfrm>
            <a:off x="667512" y="3931920"/>
            <a:ext cx="1280160" cy="27432"/>
          </a:xfrm>
          <a:prstGeom prst="rect">
            <a:avLst/>
          </a:prstGeom>
          <a:solidFill>
            <a:srgbClr val="FF4757"/>
          </a:solidFill>
          <a:ln/>
        </p:spPr>
      </p:sp>
      <p:sp>
        <p:nvSpPr>
          <p:cNvPr id="6" name="Text 4"/>
          <p:cNvSpPr/>
          <p:nvPr/>
        </p:nvSpPr>
        <p:spPr>
          <a:xfrm>
            <a:off x="640080" y="4160520"/>
            <a:ext cx="5394960" cy="822960"/>
          </a:xfrm>
          <a:prstGeom prst="rect">
            <a:avLst/>
          </a:prstGeom>
          <a:noFill/>
          <a:ln/>
        </p:spPr>
        <p:txBody>
          <a:bodyPr wrap="square" lIns="0" tIns="0" rIns="0" bIns="0" rtlCol="0" anchor="t"/>
          <a:lstStyle/>
          <a:p>
            <a:pPr indent="0" marL="0">
              <a:buNone/>
            </a:pPr>
            <a:r>
              <a:rPr lang="en-US" sz="1400" b="1" dirty="0">
                <a:solidFill>
                  <a:srgbClr val="FFFFFF"/>
                </a:solidFill>
                <a:latin typeface="Palatino Linotype" pitchFamily="34" charset="0"/>
                <a:ea typeface="Palatino Linotype" pitchFamily="34" charset="-122"/>
                <a:cs typeface="Palatino Linotype" pitchFamily="34" charset="-120"/>
              </a:rPr>
              <a:t>Câte vieți costă un plic? Corupție, sistem și sănătate în România</a:t>
            </a:r>
            <a:endParaRPr lang="en-US" sz="1400" dirty="0"/>
          </a:p>
          <a:p>
            <a:pPr indent="0" marL="0">
              <a:buNone/>
            </a:pPr>
            <a:r>
              <a:rPr lang="en-US" sz="1400" dirty="0">
                <a:solidFill>
                  <a:srgbClr val="959BB0"/>
                </a:solidFill>
                <a:latin typeface="Palatino Linotype" pitchFamily="34" charset="0"/>
                <a:ea typeface="Palatino Linotype" pitchFamily="34" charset="-122"/>
                <a:cs typeface="Palatino Linotype" pitchFamily="34" charset="-120"/>
              </a:rPr>
              <a:t>Conf. univ. dr. Adrian Pană · UMF Cluj-Napoca</a:t>
            </a:r>
            <a:endParaRPr lang="en-US" sz="1400" dirty="0"/>
          </a:p>
        </p:txBody>
      </p:sp>
      <p:sp>
        <p:nvSpPr>
          <p:cNvPr id="7" name="Shape 5"/>
          <p:cNvSpPr/>
          <p:nvPr/>
        </p:nvSpPr>
        <p:spPr>
          <a:xfrm>
            <a:off x="6492240" y="1097280"/>
            <a:ext cx="5120640" cy="4663440"/>
          </a:xfrm>
          <a:prstGeom prst="roundRect">
            <a:avLst>
              <a:gd name="adj" fmla="val 1765"/>
            </a:avLst>
          </a:prstGeom>
          <a:solidFill>
            <a:srgbClr val="FBF8F1"/>
          </a:solidFill>
          <a:ln w="12700">
            <a:solidFill>
              <a:srgbClr val="FBF8F1"/>
            </a:solidFill>
            <a:prstDash val="solid"/>
          </a:ln>
        </p:spPr>
      </p:sp>
      <p:sp>
        <p:nvSpPr>
          <p:cNvPr id="8" name="Text 6"/>
          <p:cNvSpPr/>
          <p:nvPr/>
        </p:nvSpPr>
        <p:spPr>
          <a:xfrm>
            <a:off x="6766560" y="1280160"/>
            <a:ext cx="4572000" cy="32004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REGISTRU DE SPONSORIZĂRI · EXTRAS</a:t>
            </a:r>
            <a:endParaRPr lang="en-US" sz="1300" dirty="0"/>
          </a:p>
        </p:txBody>
      </p:sp>
      <p:sp>
        <p:nvSpPr>
          <p:cNvPr id="9" name="Text 7"/>
          <p:cNvSpPr/>
          <p:nvPr/>
        </p:nvSpPr>
        <p:spPr>
          <a:xfrm>
            <a:off x="6812280" y="1783080"/>
            <a:ext cx="1463040" cy="502920"/>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Plătitor</a:t>
            </a:r>
            <a:endParaRPr lang="en-US" sz="1400" dirty="0"/>
          </a:p>
        </p:txBody>
      </p:sp>
      <p:sp>
        <p:nvSpPr>
          <p:cNvPr id="10" name="Text 8"/>
          <p:cNvSpPr/>
          <p:nvPr/>
        </p:nvSpPr>
        <p:spPr>
          <a:xfrm>
            <a:off x="8321040" y="1783080"/>
            <a:ext cx="3063240" cy="5029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O firmă de medicamente</a:t>
            </a:r>
            <a:endParaRPr lang="en-US" sz="1600" dirty="0"/>
          </a:p>
        </p:txBody>
      </p:sp>
      <p:sp>
        <p:nvSpPr>
          <p:cNvPr id="11" name="Shape 9"/>
          <p:cNvSpPr/>
          <p:nvPr/>
        </p:nvSpPr>
        <p:spPr>
          <a:xfrm>
            <a:off x="6812280" y="2386584"/>
            <a:ext cx="4572000" cy="9144"/>
          </a:xfrm>
          <a:prstGeom prst="rect">
            <a:avLst/>
          </a:prstGeom>
          <a:solidFill>
            <a:srgbClr val="C9C6BE"/>
          </a:solidFill>
          <a:ln/>
        </p:spPr>
      </p:sp>
      <p:sp>
        <p:nvSpPr>
          <p:cNvPr id="12" name="Text 10"/>
          <p:cNvSpPr/>
          <p:nvPr/>
        </p:nvSpPr>
        <p:spPr>
          <a:xfrm>
            <a:off x="6812280" y="2514600"/>
            <a:ext cx="1463040" cy="502920"/>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Beneficiar</a:t>
            </a:r>
            <a:endParaRPr lang="en-US" sz="1400" dirty="0"/>
          </a:p>
        </p:txBody>
      </p:sp>
      <p:sp>
        <p:nvSpPr>
          <p:cNvPr id="13" name="Text 11"/>
          <p:cNvSpPr/>
          <p:nvPr/>
        </p:nvSpPr>
        <p:spPr>
          <a:xfrm>
            <a:off x="8321040" y="2514600"/>
            <a:ext cx="3063240" cy="5029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O rezidentă de cardiologie</a:t>
            </a:r>
            <a:endParaRPr lang="en-US" sz="1600" dirty="0"/>
          </a:p>
        </p:txBody>
      </p:sp>
      <p:sp>
        <p:nvSpPr>
          <p:cNvPr id="14" name="Shape 12"/>
          <p:cNvSpPr/>
          <p:nvPr/>
        </p:nvSpPr>
        <p:spPr>
          <a:xfrm>
            <a:off x="6812280" y="3118104"/>
            <a:ext cx="4572000" cy="9144"/>
          </a:xfrm>
          <a:prstGeom prst="rect">
            <a:avLst/>
          </a:prstGeom>
          <a:solidFill>
            <a:srgbClr val="C9C6BE"/>
          </a:solidFill>
          <a:ln/>
        </p:spPr>
      </p:sp>
      <p:sp>
        <p:nvSpPr>
          <p:cNvPr id="15" name="Text 13"/>
          <p:cNvSpPr/>
          <p:nvPr/>
        </p:nvSpPr>
        <p:spPr>
          <a:xfrm>
            <a:off x="6812280" y="3246120"/>
            <a:ext cx="1463040" cy="502920"/>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Tip</a:t>
            </a:r>
            <a:endParaRPr lang="en-US" sz="1400" dirty="0"/>
          </a:p>
        </p:txBody>
      </p:sp>
      <p:sp>
        <p:nvSpPr>
          <p:cNvPr id="16" name="Text 14"/>
          <p:cNvSpPr/>
          <p:nvPr/>
        </p:nvSpPr>
        <p:spPr>
          <a:xfrm>
            <a:off x="8321040" y="3246120"/>
            <a:ext cx="3063240" cy="5029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Taxă de congres</a:t>
            </a:r>
            <a:endParaRPr lang="en-US" sz="1600" dirty="0"/>
          </a:p>
        </p:txBody>
      </p:sp>
      <p:sp>
        <p:nvSpPr>
          <p:cNvPr id="17" name="Shape 15"/>
          <p:cNvSpPr/>
          <p:nvPr/>
        </p:nvSpPr>
        <p:spPr>
          <a:xfrm>
            <a:off x="6812280" y="3849624"/>
            <a:ext cx="4572000" cy="9144"/>
          </a:xfrm>
          <a:prstGeom prst="rect">
            <a:avLst/>
          </a:prstGeom>
          <a:solidFill>
            <a:srgbClr val="C9C6BE"/>
          </a:solidFill>
          <a:ln/>
        </p:spPr>
      </p:sp>
      <p:sp>
        <p:nvSpPr>
          <p:cNvPr id="18" name="Shape 16"/>
          <p:cNvSpPr/>
          <p:nvPr/>
        </p:nvSpPr>
        <p:spPr>
          <a:xfrm>
            <a:off x="6675120" y="3904488"/>
            <a:ext cx="4754880" cy="640080"/>
          </a:xfrm>
          <a:prstGeom prst="rect">
            <a:avLst/>
          </a:prstGeom>
          <a:solidFill>
            <a:srgbClr val="FFE7A3"/>
          </a:solidFill>
          <a:ln w="12700">
            <a:solidFill>
              <a:srgbClr val="FFE7A3"/>
            </a:solidFill>
            <a:prstDash val="solid"/>
          </a:ln>
        </p:spPr>
      </p:sp>
      <p:sp>
        <p:nvSpPr>
          <p:cNvPr id="19" name="Text 17"/>
          <p:cNvSpPr/>
          <p:nvPr/>
        </p:nvSpPr>
        <p:spPr>
          <a:xfrm>
            <a:off x="6812280" y="3977640"/>
            <a:ext cx="1463040" cy="502920"/>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Valoare</a:t>
            </a:r>
            <a:endParaRPr lang="en-US" sz="1400" dirty="0"/>
          </a:p>
        </p:txBody>
      </p:sp>
      <p:sp>
        <p:nvSpPr>
          <p:cNvPr id="20" name="Text 18"/>
          <p:cNvSpPr/>
          <p:nvPr/>
        </p:nvSpPr>
        <p:spPr>
          <a:xfrm>
            <a:off x="8321040" y="3977640"/>
            <a:ext cx="3063240" cy="5029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900 de lei</a:t>
            </a:r>
            <a:endParaRPr lang="en-US" sz="1600" dirty="0"/>
          </a:p>
        </p:txBody>
      </p:sp>
      <p:sp>
        <p:nvSpPr>
          <p:cNvPr id="21" name="Shape 19"/>
          <p:cNvSpPr/>
          <p:nvPr/>
        </p:nvSpPr>
        <p:spPr>
          <a:xfrm>
            <a:off x="6812280" y="4581144"/>
            <a:ext cx="4572000" cy="9144"/>
          </a:xfrm>
          <a:prstGeom prst="rect">
            <a:avLst/>
          </a:prstGeom>
          <a:solidFill>
            <a:srgbClr val="C9C6BE"/>
          </a:solidFill>
          <a:ln/>
        </p:spPr>
      </p:sp>
      <p:sp>
        <p:nvSpPr>
          <p:cNvPr id="22" name="Text 20"/>
          <p:cNvSpPr/>
          <p:nvPr/>
        </p:nvSpPr>
        <p:spPr>
          <a:xfrm>
            <a:off x="6812280" y="4709160"/>
            <a:ext cx="1463040" cy="502920"/>
          </a:xfrm>
          <a:prstGeom prst="rect">
            <a:avLst/>
          </a:prstGeom>
          <a:noFill/>
          <a:ln/>
        </p:spPr>
        <p:txBody>
          <a:bodyPr wrap="square" lIns="0" tIns="0" rIns="0" bIns="0" rtlCol="0" anchor="ctr"/>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Declarat</a:t>
            </a:r>
            <a:endParaRPr lang="en-US" sz="1400" dirty="0"/>
          </a:p>
        </p:txBody>
      </p:sp>
      <p:sp>
        <p:nvSpPr>
          <p:cNvPr id="23" name="Text 21"/>
          <p:cNvSpPr/>
          <p:nvPr/>
        </p:nvSpPr>
        <p:spPr>
          <a:xfrm>
            <a:off x="8321040" y="4709160"/>
            <a:ext cx="3063240" cy="50292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Da, de ambele părți</a:t>
            </a:r>
            <a:endParaRPr lang="en-US" sz="1600" dirty="0"/>
          </a:p>
        </p:txBody>
      </p:sp>
      <p:sp>
        <p:nvSpPr>
          <p:cNvPr id="24" name="Shape 22"/>
          <p:cNvSpPr/>
          <p:nvPr/>
        </p:nvSpPr>
        <p:spPr>
          <a:xfrm>
            <a:off x="6812280" y="5312664"/>
            <a:ext cx="4572000" cy="9144"/>
          </a:xfrm>
          <a:prstGeom prst="rect">
            <a:avLst/>
          </a:prstGeom>
          <a:solidFill>
            <a:srgbClr val="C9C6BE"/>
          </a:solidFill>
          <a:ln/>
        </p:spPr>
      </p:sp>
      <p:sp>
        <p:nvSpPr>
          <p:cNvPr id="25" name="Text 23"/>
          <p:cNvSpPr/>
          <p:nvPr/>
        </p:nvSpPr>
        <p:spPr>
          <a:xfrm>
            <a:off x="6766560" y="5349240"/>
            <a:ext cx="4572000" cy="27432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Valori ipotetice.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BILETELE DE IEȘIRE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am schimbat după răspunsurile voastre</a:t>
            </a:r>
            <a:endParaRPr lang="en-US" sz="3200" dirty="0"/>
          </a:p>
        </p:txBody>
      </p:sp>
      <p:sp>
        <p:nvSpPr>
          <p:cNvPr id="4" name="Text 2"/>
          <p:cNvSpPr/>
          <p:nvPr/>
        </p:nvSpPr>
        <p:spPr>
          <a:xfrm>
            <a:off x="594360" y="1783080"/>
            <a:ext cx="10972800" cy="457200"/>
          </a:xfrm>
          <a:prstGeom prst="rect">
            <a:avLst/>
          </a:prstGeom>
          <a:noFill/>
          <a:ln/>
        </p:spPr>
        <p:txBody>
          <a:bodyPr wrap="square" lIns="0" tIns="0" rIns="0" bIns="0" rtlCol="0" anchor="t"/>
          <a:lstStyle/>
          <a:p>
            <a:pPr indent="0" marL="0">
              <a:buNone/>
            </a:pPr>
            <a:r>
              <a:rPr lang="en-US" sz="1900" dirty="0">
                <a:solidFill>
                  <a:srgbClr val="3A3C44"/>
                </a:solidFill>
                <a:latin typeface="Palatino Linotype" pitchFamily="34" charset="0"/>
                <a:ea typeface="Palatino Linotype" pitchFamily="34" charset="-122"/>
                <a:cs typeface="Palatino Linotype" pitchFamily="34" charset="-120"/>
              </a:rPr>
              <a:t>Am citit răspunsurile de la biletul de ieșire al ședinței a doua.</a:t>
            </a:r>
            <a:endParaRPr lang="en-US" sz="1900" dirty="0"/>
          </a:p>
        </p:txBody>
      </p:sp>
      <p:sp>
        <p:nvSpPr>
          <p:cNvPr id="5" name="Shape 3"/>
          <p:cNvSpPr/>
          <p:nvPr/>
        </p:nvSpPr>
        <p:spPr>
          <a:xfrm>
            <a:off x="594360" y="2514600"/>
            <a:ext cx="10972800" cy="2103120"/>
          </a:xfrm>
          <a:prstGeom prst="roundRect">
            <a:avLst>
              <a:gd name="adj" fmla="val 3913"/>
            </a:avLst>
          </a:prstGeom>
          <a:solidFill>
            <a:srgbClr val="ECEAE4"/>
          </a:solidFill>
          <a:ln w="12700">
            <a:solidFill>
              <a:srgbClr val="ECEAE4"/>
            </a:solidFill>
            <a:prstDash val="solid"/>
          </a:ln>
        </p:spPr>
      </p:sp>
      <p:sp>
        <p:nvSpPr>
          <p:cNvPr id="6" name="Shape 4"/>
          <p:cNvSpPr/>
          <p:nvPr/>
        </p:nvSpPr>
        <p:spPr>
          <a:xfrm>
            <a:off x="594360" y="2514600"/>
            <a:ext cx="109728" cy="2103120"/>
          </a:xfrm>
          <a:prstGeom prst="rect">
            <a:avLst/>
          </a:prstGeom>
          <a:solidFill>
            <a:srgbClr val="B02532"/>
          </a:solidFill>
          <a:ln w="12700">
            <a:solidFill>
              <a:srgbClr val="B02532"/>
            </a:solidFill>
            <a:prstDash val="solid"/>
          </a:ln>
        </p:spPr>
      </p:sp>
      <p:sp>
        <p:nvSpPr>
          <p:cNvPr id="7" name="Text 5"/>
          <p:cNvSpPr/>
          <p:nvPr/>
        </p:nvSpPr>
        <p:spPr>
          <a:xfrm>
            <a:off x="1051560" y="2514600"/>
            <a:ext cx="10241280" cy="2103120"/>
          </a:xfrm>
          <a:prstGeom prst="rect">
            <a:avLst/>
          </a:prstGeom>
          <a:noFill/>
          <a:ln/>
        </p:spPr>
        <p:txBody>
          <a:bodyPr wrap="square" lIns="0" tIns="0" rIns="0" bIns="0" rtlCol="0" anchor="ctr"/>
          <a:lstStyle/>
          <a:p>
            <a:pPr indent="0" marL="0">
              <a:buNone/>
            </a:pPr>
            <a:r>
              <a:rPr lang="en-US" sz="2600" b="1" dirty="0">
                <a:solidFill>
                  <a:srgbClr val="11121A"/>
                </a:solidFill>
                <a:latin typeface="Palatino Linotype" pitchFamily="34" charset="0"/>
                <a:ea typeface="Palatino Linotype" pitchFamily="34" charset="-122"/>
                <a:cs typeface="Palatino Linotype" pitchFamily="34" charset="-120"/>
              </a:rPr>
              <a:t>Cifrele apar câte una pe diapozitiv, rotunjite și spuse în frecvențe („1 din 10”); explicația o dăm oral, nu în tabele.</a:t>
            </a:r>
            <a:endParaRPr lang="en-US" sz="2600" dirty="0"/>
          </a:p>
        </p:txBody>
      </p:sp>
      <p:sp>
        <p:nvSpPr>
          <p:cNvPr id="8" name="Text 6"/>
          <p:cNvSpPr/>
          <p:nvPr/>
        </p:nvSpPr>
        <p:spPr>
          <a:xfrm>
            <a:off x="594360" y="5029200"/>
            <a:ext cx="10972800" cy="457200"/>
          </a:xfrm>
          <a:prstGeom prst="rect">
            <a:avLst/>
          </a:prstGeom>
          <a:noFill/>
          <a:ln/>
        </p:spPr>
        <p:txBody>
          <a:bodyPr wrap="square" lIns="0" tIns="0" rIns="0" bIns="0" rtlCol="0" anchor="t"/>
          <a:lstStyle/>
          <a:p>
            <a:pPr indent="0" marL="0">
              <a:buNone/>
            </a:pPr>
            <a:r>
              <a:rPr lang="en-US" sz="1800" i="1" dirty="0">
                <a:solidFill>
                  <a:srgbClr val="B02532"/>
                </a:solidFill>
                <a:latin typeface="Palatino Linotype" pitchFamily="34" charset="0"/>
                <a:ea typeface="Palatino Linotype" pitchFamily="34" charset="-122"/>
                <a:cs typeface="Palatino Linotype" pitchFamily="34" charset="-120"/>
              </a:rPr>
              <a:t>Veți vedea asta de la primele cifre de azi.</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Trei povești în două ore</a:t>
            </a:r>
            <a:endParaRPr lang="en-US" sz="3100" dirty="0"/>
          </a:p>
        </p:txBody>
      </p:sp>
      <p:sp>
        <p:nvSpPr>
          <p:cNvPr id="4" name="Shape 2"/>
          <p:cNvSpPr/>
          <p:nvPr/>
        </p:nvSpPr>
        <p:spPr>
          <a:xfrm>
            <a:off x="594360" y="2148840"/>
            <a:ext cx="914400" cy="868680"/>
          </a:xfrm>
          <a:prstGeom prst="rect">
            <a:avLst/>
          </a:prstGeom>
          <a:solidFill>
            <a:srgbClr val="585A64"/>
          </a:solidFill>
          <a:ln w="19050">
            <a:solidFill>
              <a:srgbClr val="F6F5F2"/>
            </a:solidFill>
            <a:prstDash val="solid"/>
          </a:ln>
        </p:spPr>
      </p:sp>
      <p:sp>
        <p:nvSpPr>
          <p:cNvPr id="5" name="Shape 3"/>
          <p:cNvSpPr/>
          <p:nvPr/>
        </p:nvSpPr>
        <p:spPr>
          <a:xfrm>
            <a:off x="1508760" y="2148840"/>
            <a:ext cx="2743200" cy="868680"/>
          </a:xfrm>
          <a:prstGeom prst="rect">
            <a:avLst/>
          </a:prstGeom>
          <a:solidFill>
            <a:srgbClr val="FF4757"/>
          </a:solidFill>
          <a:ln w="19050">
            <a:solidFill>
              <a:srgbClr val="F6F5F2"/>
            </a:solidFill>
            <a:prstDash val="solid"/>
          </a:ln>
        </p:spPr>
      </p:sp>
      <p:sp>
        <p:nvSpPr>
          <p:cNvPr id="6" name="Text 4"/>
          <p:cNvSpPr/>
          <p:nvPr/>
        </p:nvSpPr>
        <p:spPr>
          <a:xfrm>
            <a:off x="1508760" y="2148840"/>
            <a:ext cx="2743200" cy="868680"/>
          </a:xfrm>
          <a:prstGeom prst="rect">
            <a:avLst/>
          </a:prstGeom>
          <a:noFill/>
          <a:ln/>
        </p:spPr>
        <p:txBody>
          <a:bodyPr wrap="square" lIns="0" tIns="0" rIns="0" bIns="0" rtlCol="0" anchor="ctr"/>
          <a:lstStyle/>
          <a:p>
            <a:pPr algn="ctr" indent="0" marL="0">
              <a:buNone/>
            </a:pPr>
            <a:r>
              <a:rPr lang="en-US" sz="1700" b="1" dirty="0">
                <a:solidFill>
                  <a:srgbClr val="2E060B"/>
                </a:solidFill>
                <a:latin typeface="Palatino Linotype" pitchFamily="34" charset="0"/>
                <a:ea typeface="Palatino Linotype" pitchFamily="34" charset="-122"/>
                <a:cs typeface="Palatino Linotype" pitchFamily="34" charset="-120"/>
              </a:rPr>
              <a:t>Cina de 20 de dolari</a:t>
            </a:r>
            <a:endParaRPr lang="en-US" sz="1700" dirty="0"/>
          </a:p>
        </p:txBody>
      </p:sp>
      <p:sp>
        <p:nvSpPr>
          <p:cNvPr id="7" name="Shape 5"/>
          <p:cNvSpPr/>
          <p:nvPr/>
        </p:nvSpPr>
        <p:spPr>
          <a:xfrm>
            <a:off x="4251960" y="2148840"/>
            <a:ext cx="1828800" cy="868680"/>
          </a:xfrm>
          <a:prstGeom prst="rect">
            <a:avLst/>
          </a:prstGeom>
          <a:solidFill>
            <a:srgbClr val="9B7EF7"/>
          </a:solidFill>
          <a:ln w="19050">
            <a:solidFill>
              <a:srgbClr val="F6F5F2"/>
            </a:solidFill>
            <a:prstDash val="solid"/>
          </a:ln>
        </p:spPr>
      </p:sp>
      <p:sp>
        <p:nvSpPr>
          <p:cNvPr id="8" name="Text 6"/>
          <p:cNvSpPr/>
          <p:nvPr/>
        </p:nvSpPr>
        <p:spPr>
          <a:xfrm>
            <a:off x="4251960" y="2148840"/>
            <a:ext cx="1828800" cy="868680"/>
          </a:xfrm>
          <a:prstGeom prst="rect">
            <a:avLst/>
          </a:prstGeom>
          <a:noFill/>
          <a:ln/>
        </p:spPr>
        <p:txBody>
          <a:bodyPr wrap="square" lIns="0" tIns="0" rIns="0" bIns="0" rtlCol="0" anchor="ctr"/>
          <a:lstStyle/>
          <a:p>
            <a:pPr algn="ctr" indent="0" marL="0">
              <a:buNone/>
            </a:pPr>
            <a:r>
              <a:rPr lang="en-US" sz="1700" b="1" dirty="0">
                <a:solidFill>
                  <a:srgbClr val="1F1040"/>
                </a:solidFill>
                <a:latin typeface="Palatino Linotype" pitchFamily="34" charset="0"/>
                <a:ea typeface="Palatino Linotype" pitchFamily="34" charset="-122"/>
                <a:cs typeface="Palatino Linotype" pitchFamily="34" charset="-120"/>
              </a:rPr>
              <a:t>Cine declară</a:t>
            </a:r>
            <a:endParaRPr lang="en-US" sz="1700" dirty="0"/>
          </a:p>
        </p:txBody>
      </p:sp>
      <p:sp>
        <p:nvSpPr>
          <p:cNvPr id="9" name="Shape 7"/>
          <p:cNvSpPr/>
          <p:nvPr/>
        </p:nvSpPr>
        <p:spPr>
          <a:xfrm>
            <a:off x="6080760" y="2148840"/>
            <a:ext cx="914400" cy="868680"/>
          </a:xfrm>
          <a:prstGeom prst="rect">
            <a:avLst/>
          </a:prstGeom>
          <a:solidFill>
            <a:srgbClr val="ECEAE4"/>
          </a:solidFill>
          <a:ln w="19050">
            <a:solidFill>
              <a:srgbClr val="F6F5F2"/>
            </a:solidFill>
            <a:prstDash val="solid"/>
          </a:ln>
        </p:spPr>
      </p:sp>
      <p:sp>
        <p:nvSpPr>
          <p:cNvPr id="10" name="Shape 8"/>
          <p:cNvSpPr/>
          <p:nvPr/>
        </p:nvSpPr>
        <p:spPr>
          <a:xfrm>
            <a:off x="6995160" y="2148840"/>
            <a:ext cx="2743200" cy="868680"/>
          </a:xfrm>
          <a:prstGeom prst="rect">
            <a:avLst/>
          </a:prstGeom>
          <a:solidFill>
            <a:srgbClr val="FFC24B"/>
          </a:solidFill>
          <a:ln w="19050">
            <a:solidFill>
              <a:srgbClr val="F6F5F2"/>
            </a:solidFill>
            <a:prstDash val="solid"/>
          </a:ln>
        </p:spPr>
      </p:sp>
      <p:sp>
        <p:nvSpPr>
          <p:cNvPr id="11" name="Text 9"/>
          <p:cNvSpPr/>
          <p:nvPr/>
        </p:nvSpPr>
        <p:spPr>
          <a:xfrm>
            <a:off x="6995160" y="2148840"/>
            <a:ext cx="2743200" cy="868680"/>
          </a:xfrm>
          <a:prstGeom prst="rect">
            <a:avLst/>
          </a:prstGeom>
          <a:noFill/>
          <a:ln/>
        </p:spPr>
        <p:txBody>
          <a:bodyPr wrap="square" lIns="0" tIns="0" rIns="0" bIns="0" rtlCol="0" anchor="ctr"/>
          <a:lstStyle/>
          <a:p>
            <a:pPr algn="ctr" indent="0" marL="0">
              <a:buNone/>
            </a:pPr>
            <a:r>
              <a:rPr lang="en-US" sz="1700" b="1" dirty="0">
                <a:solidFill>
                  <a:srgbClr val="3D2A00"/>
                </a:solidFill>
                <a:latin typeface="Palatino Linotype" pitchFamily="34" charset="0"/>
                <a:ea typeface="Palatino Linotype" pitchFamily="34" charset="-122"/>
                <a:cs typeface="Palatino Linotype" pitchFamily="34" charset="-120"/>
              </a:rPr>
              <a:t>Articolul retras</a:t>
            </a:r>
            <a:endParaRPr lang="en-US" sz="1700" dirty="0"/>
          </a:p>
        </p:txBody>
      </p:sp>
      <p:sp>
        <p:nvSpPr>
          <p:cNvPr id="12" name="Shape 10"/>
          <p:cNvSpPr/>
          <p:nvPr/>
        </p:nvSpPr>
        <p:spPr>
          <a:xfrm>
            <a:off x="9738360" y="2148840"/>
            <a:ext cx="1371600" cy="868680"/>
          </a:xfrm>
          <a:prstGeom prst="rect">
            <a:avLst/>
          </a:prstGeom>
          <a:solidFill>
            <a:srgbClr val="27D3BE"/>
          </a:solidFill>
          <a:ln w="19050">
            <a:solidFill>
              <a:srgbClr val="F6F5F2"/>
            </a:solidFill>
            <a:prstDash val="solid"/>
          </a:ln>
        </p:spPr>
      </p:sp>
      <p:sp>
        <p:nvSpPr>
          <p:cNvPr id="13" name="Text 11"/>
          <p:cNvSpPr/>
          <p:nvPr/>
        </p:nvSpPr>
        <p:spPr>
          <a:xfrm>
            <a:off x="9738360" y="2148840"/>
            <a:ext cx="1371600" cy="86868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Kahoot</a:t>
            </a:r>
            <a:endParaRPr lang="en-US" sz="1400" dirty="0"/>
          </a:p>
        </p:txBody>
      </p:sp>
      <p:sp>
        <p:nvSpPr>
          <p:cNvPr id="14" name="Shape 12"/>
          <p:cNvSpPr/>
          <p:nvPr/>
        </p:nvSpPr>
        <p:spPr>
          <a:xfrm>
            <a:off x="11109960" y="2148840"/>
            <a:ext cx="457200" cy="868680"/>
          </a:xfrm>
          <a:prstGeom prst="rect">
            <a:avLst/>
          </a:prstGeom>
          <a:solidFill>
            <a:srgbClr val="FF8A3D"/>
          </a:solidFill>
          <a:ln w="19050">
            <a:solidFill>
              <a:srgbClr val="F6F5F2"/>
            </a:solidFill>
            <a:prstDash val="solid"/>
          </a:ln>
        </p:spPr>
      </p:sp>
      <p:sp>
        <p:nvSpPr>
          <p:cNvPr id="15" name="Text 13"/>
          <p:cNvSpPr/>
          <p:nvPr/>
        </p:nvSpPr>
        <p:spPr>
          <a:xfrm>
            <a:off x="2286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0′</a:t>
            </a:r>
            <a:endParaRPr lang="en-US" sz="1300" dirty="0"/>
          </a:p>
        </p:txBody>
      </p:sp>
      <p:sp>
        <p:nvSpPr>
          <p:cNvPr id="16" name="Text 14"/>
          <p:cNvSpPr/>
          <p:nvPr/>
        </p:nvSpPr>
        <p:spPr>
          <a:xfrm>
            <a:off x="11430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10′</a:t>
            </a:r>
            <a:endParaRPr lang="en-US" sz="1300" dirty="0"/>
          </a:p>
        </p:txBody>
      </p:sp>
      <p:sp>
        <p:nvSpPr>
          <p:cNvPr id="17" name="Text 15"/>
          <p:cNvSpPr/>
          <p:nvPr/>
        </p:nvSpPr>
        <p:spPr>
          <a:xfrm>
            <a:off x="38862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40′</a:t>
            </a:r>
            <a:endParaRPr lang="en-US" sz="1300" dirty="0"/>
          </a:p>
        </p:txBody>
      </p:sp>
      <p:sp>
        <p:nvSpPr>
          <p:cNvPr id="18" name="Text 16"/>
          <p:cNvSpPr/>
          <p:nvPr/>
        </p:nvSpPr>
        <p:spPr>
          <a:xfrm>
            <a:off x="57150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60′</a:t>
            </a:r>
            <a:endParaRPr lang="en-US" sz="1300" dirty="0"/>
          </a:p>
        </p:txBody>
      </p:sp>
      <p:sp>
        <p:nvSpPr>
          <p:cNvPr id="19" name="Text 17"/>
          <p:cNvSpPr/>
          <p:nvPr/>
        </p:nvSpPr>
        <p:spPr>
          <a:xfrm>
            <a:off x="66294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70′</a:t>
            </a:r>
            <a:endParaRPr lang="en-US" sz="1300" dirty="0"/>
          </a:p>
        </p:txBody>
      </p:sp>
      <p:sp>
        <p:nvSpPr>
          <p:cNvPr id="20" name="Text 18"/>
          <p:cNvSpPr/>
          <p:nvPr/>
        </p:nvSpPr>
        <p:spPr>
          <a:xfrm>
            <a:off x="93726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100′</a:t>
            </a:r>
            <a:endParaRPr lang="en-US" sz="1300" dirty="0"/>
          </a:p>
        </p:txBody>
      </p:sp>
      <p:sp>
        <p:nvSpPr>
          <p:cNvPr id="21" name="Text 19"/>
          <p:cNvSpPr/>
          <p:nvPr/>
        </p:nvSpPr>
        <p:spPr>
          <a:xfrm>
            <a:off x="107442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115′</a:t>
            </a:r>
            <a:endParaRPr lang="en-US" sz="1300" dirty="0"/>
          </a:p>
        </p:txBody>
      </p:sp>
      <p:sp>
        <p:nvSpPr>
          <p:cNvPr id="22" name="Text 20"/>
          <p:cNvSpPr/>
          <p:nvPr/>
        </p:nvSpPr>
        <p:spPr>
          <a:xfrm>
            <a:off x="112014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120′</a:t>
            </a:r>
            <a:endParaRPr lang="en-US" sz="1300" dirty="0"/>
          </a:p>
        </p:txBody>
      </p:sp>
      <p:sp>
        <p:nvSpPr>
          <p:cNvPr id="23" name="Text 21"/>
          <p:cNvSpPr/>
          <p:nvPr/>
        </p:nvSpPr>
        <p:spPr>
          <a:xfrm>
            <a:off x="548640" y="3090672"/>
            <a:ext cx="1463040" cy="274320"/>
          </a:xfrm>
          <a:prstGeom prst="rect">
            <a:avLst/>
          </a:prstGeom>
          <a:noFill/>
          <a:ln/>
        </p:spPr>
        <p:txBody>
          <a:bodyPr wrap="square" lIns="0" tIns="0" rIns="0" bIns="0" rtlCol="0" anchor="t"/>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Deschiderea</a:t>
            </a:r>
            <a:endParaRPr lang="en-US" sz="1300" dirty="0"/>
          </a:p>
        </p:txBody>
      </p:sp>
      <p:sp>
        <p:nvSpPr>
          <p:cNvPr id="24" name="Text 22"/>
          <p:cNvSpPr/>
          <p:nvPr/>
        </p:nvSpPr>
        <p:spPr>
          <a:xfrm>
            <a:off x="6080760" y="3090672"/>
            <a:ext cx="914400"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Pauză</a:t>
            </a:r>
            <a:endParaRPr lang="en-US" sz="1300" dirty="0"/>
          </a:p>
        </p:txBody>
      </p:sp>
      <p:sp>
        <p:nvSpPr>
          <p:cNvPr id="25" name="Text 23"/>
          <p:cNvSpPr/>
          <p:nvPr/>
        </p:nvSpPr>
        <p:spPr>
          <a:xfrm>
            <a:off x="9738360" y="3090672"/>
            <a:ext cx="1828800" cy="274320"/>
          </a:xfrm>
          <a:prstGeom prst="rect">
            <a:avLst/>
          </a:prstGeom>
          <a:noFill/>
          <a:ln/>
        </p:spPr>
        <p:txBody>
          <a:bodyPr wrap="square" lIns="0" tIns="0" rIns="0" bIns="0" rtlCol="0" anchor="t"/>
          <a:lstStyle/>
          <a:p>
            <a:pPr algn="r" indent="0" marL="0">
              <a:buNone/>
            </a:pPr>
            <a:r>
              <a:rPr lang="en-US" sz="1300" b="1" dirty="0">
                <a:solidFill>
                  <a:srgbClr val="9C4A0A"/>
                </a:solidFill>
                <a:latin typeface="Palatino Linotype" pitchFamily="34" charset="0"/>
                <a:ea typeface="Palatino Linotype" pitchFamily="34" charset="-122"/>
                <a:cs typeface="Palatino Linotype" pitchFamily="34" charset="-120"/>
              </a:rPr>
              <a:t>Trei întrebări</a:t>
            </a:r>
            <a:endParaRPr lang="en-US" sz="1300" dirty="0"/>
          </a:p>
        </p:txBody>
      </p:sp>
      <p:sp>
        <p:nvSpPr>
          <p:cNvPr id="26" name="Shape 24"/>
          <p:cNvSpPr/>
          <p:nvPr/>
        </p:nvSpPr>
        <p:spPr>
          <a:xfrm>
            <a:off x="1508760" y="3520440"/>
            <a:ext cx="45720" cy="658368"/>
          </a:xfrm>
          <a:prstGeom prst="rect">
            <a:avLst/>
          </a:prstGeom>
          <a:solidFill>
            <a:srgbClr val="B02532"/>
          </a:solidFill>
          <a:ln w="12700">
            <a:solidFill>
              <a:srgbClr val="B02532"/>
            </a:solidFill>
            <a:prstDash val="solid"/>
          </a:ln>
        </p:spPr>
      </p:sp>
      <p:sp>
        <p:nvSpPr>
          <p:cNvPr id="27" name="Text 25"/>
          <p:cNvSpPr/>
          <p:nvPr/>
        </p:nvSpPr>
        <p:spPr>
          <a:xfrm>
            <a:off x="1673352" y="3520440"/>
            <a:ext cx="246888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Ce știm despre darurile mici și prescriere</a:t>
            </a:r>
            <a:endParaRPr lang="en-US" sz="1500" dirty="0"/>
          </a:p>
        </p:txBody>
      </p:sp>
      <p:sp>
        <p:nvSpPr>
          <p:cNvPr id="28" name="Shape 26"/>
          <p:cNvSpPr/>
          <p:nvPr/>
        </p:nvSpPr>
        <p:spPr>
          <a:xfrm>
            <a:off x="4251960" y="3520440"/>
            <a:ext cx="45720" cy="658368"/>
          </a:xfrm>
          <a:prstGeom prst="rect">
            <a:avLst/>
          </a:prstGeom>
          <a:solidFill>
            <a:srgbClr val="4A2D8C"/>
          </a:solidFill>
          <a:ln w="12700">
            <a:solidFill>
              <a:srgbClr val="4A2D8C"/>
            </a:solidFill>
            <a:prstDash val="solid"/>
          </a:ln>
        </p:spPr>
      </p:sp>
      <p:sp>
        <p:nvSpPr>
          <p:cNvPr id="29" name="Text 27"/>
          <p:cNvSpPr/>
          <p:nvPr/>
        </p:nvSpPr>
        <p:spPr>
          <a:xfrm>
            <a:off x="4416552" y="3520440"/>
            <a:ext cx="155448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Cine declară interesele în România</a:t>
            </a:r>
            <a:endParaRPr lang="en-US" sz="1500" dirty="0"/>
          </a:p>
        </p:txBody>
      </p:sp>
      <p:sp>
        <p:nvSpPr>
          <p:cNvPr id="30" name="Shape 28"/>
          <p:cNvSpPr/>
          <p:nvPr/>
        </p:nvSpPr>
        <p:spPr>
          <a:xfrm>
            <a:off x="6995160" y="3520440"/>
            <a:ext cx="45720" cy="658368"/>
          </a:xfrm>
          <a:prstGeom prst="rect">
            <a:avLst/>
          </a:prstGeom>
          <a:solidFill>
            <a:srgbClr val="8A6100"/>
          </a:solidFill>
          <a:ln w="12700">
            <a:solidFill>
              <a:srgbClr val="8A6100"/>
            </a:solidFill>
            <a:prstDash val="solid"/>
          </a:ln>
        </p:spPr>
      </p:sp>
      <p:sp>
        <p:nvSpPr>
          <p:cNvPr id="31" name="Text 29"/>
          <p:cNvSpPr/>
          <p:nvPr/>
        </p:nvSpPr>
        <p:spPr>
          <a:xfrm>
            <a:off x="7159752" y="3520440"/>
            <a:ext cx="246888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De ce un articol retras e încă citat</a:t>
            </a:r>
            <a:endParaRPr lang="en-US" sz="1500" dirty="0"/>
          </a:p>
        </p:txBody>
      </p:sp>
      <p:sp>
        <p:nvSpPr>
          <p:cNvPr id="32" name="Text 30"/>
          <p:cNvSpPr/>
          <p:nvPr/>
        </p:nvSpPr>
        <p:spPr>
          <a:xfrm>
            <a:off x="594360" y="5349240"/>
            <a:ext cx="10972800" cy="457200"/>
          </a:xfrm>
          <a:prstGeom prst="rect">
            <a:avLst/>
          </a:prstGeom>
          <a:noFill/>
          <a:ln/>
        </p:spPr>
        <p:txBody>
          <a:bodyPr wrap="square" lIns="0" tIns="0" rIns="0" bIns="0" rtlCol="0" anchor="t"/>
          <a:lstStyle/>
          <a:p>
            <a:pPr indent="0" marL="0">
              <a:buNone/>
            </a:pPr>
            <a:r>
              <a:rPr lang="en-US" sz="1700" b="1" i="1" dirty="0">
                <a:solidFill>
                  <a:srgbClr val="B02532"/>
                </a:solidFill>
                <a:latin typeface="Palatino Linotype" pitchFamily="34" charset="0"/>
                <a:ea typeface="Palatino Linotype" pitchFamily="34" charset="-122"/>
                <a:cs typeface="Palatino Linotype" pitchFamily="34" charset="-120"/>
              </a:rPr>
              <a:t>Termenii noi de azi: conflictul de interese · declararea interesului · retractarea.</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VALORI IPOTETICE · UN REGISTRU PUBLIC DE SPONSORIZĂRI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Un rând de 900 de lei</a:t>
            </a:r>
            <a:endParaRPr lang="en-US" sz="3100" dirty="0"/>
          </a:p>
        </p:txBody>
      </p:sp>
      <p:sp>
        <p:nvSpPr>
          <p:cNvPr id="4" name="Shape 2"/>
          <p:cNvSpPr/>
          <p:nvPr/>
        </p:nvSpPr>
        <p:spPr>
          <a:xfrm>
            <a:off x="594360" y="1828800"/>
            <a:ext cx="10972800" cy="457200"/>
          </a:xfrm>
          <a:prstGeom prst="rect">
            <a:avLst/>
          </a:prstGeom>
          <a:solidFill>
            <a:srgbClr val="11121A"/>
          </a:solidFill>
          <a:ln w="12700">
            <a:solidFill>
              <a:srgbClr val="11121A"/>
            </a:solidFill>
            <a:prstDash val="solid"/>
          </a:ln>
        </p:spPr>
      </p:sp>
      <p:sp>
        <p:nvSpPr>
          <p:cNvPr id="5" name="Shape 3"/>
          <p:cNvSpPr/>
          <p:nvPr/>
        </p:nvSpPr>
        <p:spPr>
          <a:xfrm>
            <a:off x="594360" y="2286000"/>
            <a:ext cx="10972800" cy="1097280"/>
          </a:xfrm>
          <a:prstGeom prst="rect">
            <a:avLst/>
          </a:prstGeom>
          <a:solidFill>
            <a:srgbClr val="FFE7A3"/>
          </a:solidFill>
          <a:ln w="9525">
            <a:solidFill>
              <a:srgbClr val="E0C77A"/>
            </a:solidFill>
            <a:prstDash val="solid"/>
          </a:ln>
        </p:spPr>
      </p:sp>
      <p:sp>
        <p:nvSpPr>
          <p:cNvPr id="6" name="Text 4"/>
          <p:cNvSpPr/>
          <p:nvPr/>
        </p:nvSpPr>
        <p:spPr>
          <a:xfrm>
            <a:off x="731520" y="1828800"/>
            <a:ext cx="2194560" cy="457200"/>
          </a:xfrm>
          <a:prstGeom prst="rect">
            <a:avLst/>
          </a:prstGeom>
          <a:noFill/>
          <a:ln/>
        </p:spPr>
        <p:txBody>
          <a:bodyPr wrap="square" lIns="0" tIns="0" rIns="0" bIns="0" rtlCol="0" anchor="ctr"/>
          <a:lstStyle/>
          <a:p>
            <a:pPr indent="0" marL="0">
              <a:buNone/>
            </a:pPr>
            <a:r>
              <a:rPr lang="en-US" sz="1300" b="1" spc="100" kern="0" dirty="0">
                <a:solidFill>
                  <a:srgbClr val="FFFFFF"/>
                </a:solidFill>
                <a:latin typeface="Palatino Linotype" pitchFamily="34" charset="0"/>
                <a:ea typeface="Palatino Linotype" pitchFamily="34" charset="-122"/>
                <a:cs typeface="Palatino Linotype" pitchFamily="34" charset="-120"/>
              </a:rPr>
              <a:t>PLĂTITOR</a:t>
            </a:r>
            <a:endParaRPr lang="en-US" sz="1300" dirty="0"/>
          </a:p>
        </p:txBody>
      </p:sp>
      <p:sp>
        <p:nvSpPr>
          <p:cNvPr id="7" name="Text 5"/>
          <p:cNvSpPr/>
          <p:nvPr/>
        </p:nvSpPr>
        <p:spPr>
          <a:xfrm>
            <a:off x="731520" y="2286000"/>
            <a:ext cx="2148840" cy="10972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firmă care produce medicamente</a:t>
            </a:r>
            <a:endParaRPr lang="en-US" sz="1600" dirty="0"/>
          </a:p>
        </p:txBody>
      </p:sp>
      <p:sp>
        <p:nvSpPr>
          <p:cNvPr id="8" name="Text 6"/>
          <p:cNvSpPr/>
          <p:nvPr/>
        </p:nvSpPr>
        <p:spPr>
          <a:xfrm>
            <a:off x="3108960" y="1828800"/>
            <a:ext cx="2286000" cy="457200"/>
          </a:xfrm>
          <a:prstGeom prst="rect">
            <a:avLst/>
          </a:prstGeom>
          <a:noFill/>
          <a:ln/>
        </p:spPr>
        <p:txBody>
          <a:bodyPr wrap="square" lIns="0" tIns="0" rIns="0" bIns="0" rtlCol="0" anchor="ctr"/>
          <a:lstStyle/>
          <a:p>
            <a:pPr indent="0" marL="0">
              <a:buNone/>
            </a:pPr>
            <a:r>
              <a:rPr lang="en-US" sz="1300" b="1" spc="100" kern="0" dirty="0">
                <a:solidFill>
                  <a:srgbClr val="FFFFFF"/>
                </a:solidFill>
                <a:latin typeface="Palatino Linotype" pitchFamily="34" charset="0"/>
                <a:ea typeface="Palatino Linotype" pitchFamily="34" charset="-122"/>
                <a:cs typeface="Palatino Linotype" pitchFamily="34" charset="-120"/>
              </a:rPr>
              <a:t>BENEFICIAR</a:t>
            </a:r>
            <a:endParaRPr lang="en-US" sz="1300" dirty="0"/>
          </a:p>
        </p:txBody>
      </p:sp>
      <p:sp>
        <p:nvSpPr>
          <p:cNvPr id="9" name="Text 7"/>
          <p:cNvSpPr/>
          <p:nvPr/>
        </p:nvSpPr>
        <p:spPr>
          <a:xfrm>
            <a:off x="3108960" y="2286000"/>
            <a:ext cx="2240280" cy="10972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 rezidentă de cardiologie</a:t>
            </a:r>
            <a:endParaRPr lang="en-US" sz="1600" dirty="0"/>
          </a:p>
        </p:txBody>
      </p:sp>
      <p:sp>
        <p:nvSpPr>
          <p:cNvPr id="10" name="Text 8"/>
          <p:cNvSpPr/>
          <p:nvPr/>
        </p:nvSpPr>
        <p:spPr>
          <a:xfrm>
            <a:off x="5577840" y="1828800"/>
            <a:ext cx="2926080" cy="457200"/>
          </a:xfrm>
          <a:prstGeom prst="rect">
            <a:avLst/>
          </a:prstGeom>
          <a:noFill/>
          <a:ln/>
        </p:spPr>
        <p:txBody>
          <a:bodyPr wrap="square" lIns="0" tIns="0" rIns="0" bIns="0" rtlCol="0" anchor="ctr"/>
          <a:lstStyle/>
          <a:p>
            <a:pPr indent="0" marL="0">
              <a:buNone/>
            </a:pPr>
            <a:r>
              <a:rPr lang="en-US" sz="1300" b="1" spc="100" kern="0" dirty="0">
                <a:solidFill>
                  <a:srgbClr val="FFFFFF"/>
                </a:solidFill>
                <a:latin typeface="Palatino Linotype" pitchFamily="34" charset="0"/>
                <a:ea typeface="Palatino Linotype" pitchFamily="34" charset="-122"/>
                <a:cs typeface="Palatino Linotype" pitchFamily="34" charset="-120"/>
              </a:rPr>
              <a:t>CE S-A PLĂTIT</a:t>
            </a:r>
            <a:endParaRPr lang="en-US" sz="1300" dirty="0"/>
          </a:p>
        </p:txBody>
      </p:sp>
      <p:sp>
        <p:nvSpPr>
          <p:cNvPr id="11" name="Text 9"/>
          <p:cNvSpPr/>
          <p:nvPr/>
        </p:nvSpPr>
        <p:spPr>
          <a:xfrm>
            <a:off x="5577840" y="2286000"/>
            <a:ext cx="2880360" cy="10972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Taxa de înscriere la un congres național</a:t>
            </a:r>
            <a:endParaRPr lang="en-US" sz="1600" dirty="0"/>
          </a:p>
        </p:txBody>
      </p:sp>
      <p:sp>
        <p:nvSpPr>
          <p:cNvPr id="12" name="Text 10"/>
          <p:cNvSpPr/>
          <p:nvPr/>
        </p:nvSpPr>
        <p:spPr>
          <a:xfrm>
            <a:off x="8686800" y="1828800"/>
            <a:ext cx="1188720" cy="457200"/>
          </a:xfrm>
          <a:prstGeom prst="rect">
            <a:avLst/>
          </a:prstGeom>
          <a:noFill/>
          <a:ln/>
        </p:spPr>
        <p:txBody>
          <a:bodyPr wrap="square" lIns="0" tIns="0" rIns="0" bIns="0" rtlCol="0" anchor="ctr"/>
          <a:lstStyle/>
          <a:p>
            <a:pPr indent="0" marL="0">
              <a:buNone/>
            </a:pPr>
            <a:r>
              <a:rPr lang="en-US" sz="1300" b="1" spc="100" kern="0" dirty="0">
                <a:solidFill>
                  <a:srgbClr val="FFFFFF"/>
                </a:solidFill>
                <a:latin typeface="Palatino Linotype" pitchFamily="34" charset="0"/>
                <a:ea typeface="Palatino Linotype" pitchFamily="34" charset="-122"/>
                <a:cs typeface="Palatino Linotype" pitchFamily="34" charset="-120"/>
              </a:rPr>
              <a:t>VALOARE</a:t>
            </a:r>
            <a:endParaRPr lang="en-US" sz="1300" dirty="0"/>
          </a:p>
        </p:txBody>
      </p:sp>
      <p:sp>
        <p:nvSpPr>
          <p:cNvPr id="13" name="Text 11"/>
          <p:cNvSpPr/>
          <p:nvPr/>
        </p:nvSpPr>
        <p:spPr>
          <a:xfrm>
            <a:off x="8686800" y="2286000"/>
            <a:ext cx="1143000" cy="109728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900 de lei</a:t>
            </a:r>
            <a:endParaRPr lang="en-US" sz="1600" dirty="0"/>
          </a:p>
        </p:txBody>
      </p:sp>
      <p:sp>
        <p:nvSpPr>
          <p:cNvPr id="14" name="Text 12"/>
          <p:cNvSpPr/>
          <p:nvPr/>
        </p:nvSpPr>
        <p:spPr>
          <a:xfrm>
            <a:off x="10058400" y="1828800"/>
            <a:ext cx="1463040" cy="457200"/>
          </a:xfrm>
          <a:prstGeom prst="rect">
            <a:avLst/>
          </a:prstGeom>
          <a:noFill/>
          <a:ln/>
        </p:spPr>
        <p:txBody>
          <a:bodyPr wrap="square" lIns="0" tIns="0" rIns="0" bIns="0" rtlCol="0" anchor="ctr"/>
          <a:lstStyle/>
          <a:p>
            <a:pPr indent="0" marL="0">
              <a:buNone/>
            </a:pPr>
            <a:r>
              <a:rPr lang="en-US" sz="1300" b="1" spc="100" kern="0" dirty="0">
                <a:solidFill>
                  <a:srgbClr val="FFFFFF"/>
                </a:solidFill>
                <a:latin typeface="Palatino Linotype" pitchFamily="34" charset="0"/>
                <a:ea typeface="Palatino Linotype" pitchFamily="34" charset="-122"/>
                <a:cs typeface="Palatino Linotype" pitchFamily="34" charset="-120"/>
              </a:rPr>
              <a:t>DECLARAT</a:t>
            </a:r>
            <a:endParaRPr lang="en-US" sz="1300" dirty="0"/>
          </a:p>
        </p:txBody>
      </p:sp>
      <p:sp>
        <p:nvSpPr>
          <p:cNvPr id="15" name="Text 13"/>
          <p:cNvSpPr/>
          <p:nvPr/>
        </p:nvSpPr>
        <p:spPr>
          <a:xfrm>
            <a:off x="10058400" y="2286000"/>
            <a:ext cx="1417320" cy="10972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La termen, de ambele părți</a:t>
            </a:r>
            <a:endParaRPr lang="en-US" sz="1600" dirty="0"/>
          </a:p>
        </p:txBody>
      </p:sp>
      <p:sp>
        <p:nvSpPr>
          <p:cNvPr id="16" name="Text 14"/>
          <p:cNvSpPr/>
          <p:nvPr/>
        </p:nvSpPr>
        <p:spPr>
          <a:xfrm>
            <a:off x="594360" y="3749040"/>
            <a:ext cx="10972800" cy="822960"/>
          </a:xfrm>
          <a:prstGeom prst="rect">
            <a:avLst/>
          </a:prstGeom>
          <a:noFill/>
          <a:ln/>
        </p:spPr>
        <p:txBody>
          <a:bodyPr wrap="square" lIns="0" tIns="0" rIns="0" bIns="0" rtlCol="0" anchor="t"/>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Congresul a avut loc. Rezidenta a participat la toate sesiunile. Firma nu i-a cerut nimic în schimb.</a:t>
            </a:r>
            <a:endParaRPr lang="en-US" sz="2100" dirty="0"/>
          </a:p>
        </p:txBody>
      </p:sp>
      <p:sp>
        <p:nvSpPr>
          <p:cNvPr id="17" name="Text 15"/>
          <p:cNvSpPr/>
          <p:nvPr/>
        </p:nvSpPr>
        <p:spPr>
          <a:xfrm>
            <a:off x="594360" y="4709160"/>
            <a:ext cx="10972800" cy="82296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Un folos real, mic, primit cinstit, de la cineva interesat de deciziile pe care rezidenta le va lua mâine pentru pacienții ei.</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TEZA ȘEDINȚEI</a:t>
            </a:r>
            <a:endParaRPr lang="en-US" sz="1300" dirty="0"/>
          </a:p>
        </p:txBody>
      </p:sp>
      <p:sp>
        <p:nvSpPr>
          <p:cNvPr id="3" name="Text 1"/>
          <p:cNvSpPr/>
          <p:nvPr/>
        </p:nvSpPr>
        <p:spPr>
          <a:xfrm>
            <a:off x="594360" y="914400"/>
            <a:ext cx="10972800" cy="1097280"/>
          </a:xfrm>
          <a:prstGeom prst="rect">
            <a:avLst/>
          </a:prstGeom>
          <a:noFill/>
          <a:ln/>
        </p:spPr>
        <p:txBody>
          <a:bodyPr wrap="square" lIns="0" tIns="0" rIns="0" bIns="0" rtlCol="0" anchor="ctr"/>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Nimeni nu a greșit nimic.</a:t>
            </a:r>
            <a:endParaRPr lang="en-US" sz="4400" dirty="0"/>
          </a:p>
        </p:txBody>
      </p:sp>
      <p:sp>
        <p:nvSpPr>
          <p:cNvPr id="4" name="Shape 2"/>
          <p:cNvSpPr/>
          <p:nvPr/>
        </p:nvSpPr>
        <p:spPr>
          <a:xfrm>
            <a:off x="594360" y="2377440"/>
            <a:ext cx="5349240" cy="2651760"/>
          </a:xfrm>
          <a:prstGeom prst="roundRect">
            <a:avLst>
              <a:gd name="adj" fmla="val 3103"/>
            </a:avLst>
          </a:prstGeom>
          <a:solidFill>
            <a:srgbClr val="1D1F2B"/>
          </a:solidFill>
          <a:ln w="12700">
            <a:solidFill>
              <a:srgbClr val="1D1F2B"/>
            </a:solidFill>
            <a:prstDash val="solid"/>
          </a:ln>
        </p:spPr>
      </p:sp>
      <p:sp>
        <p:nvSpPr>
          <p:cNvPr id="5" name="Shape 3"/>
          <p:cNvSpPr/>
          <p:nvPr/>
        </p:nvSpPr>
        <p:spPr>
          <a:xfrm>
            <a:off x="6217920" y="2377440"/>
            <a:ext cx="5349240" cy="2651760"/>
          </a:xfrm>
          <a:prstGeom prst="roundRect">
            <a:avLst>
              <a:gd name="adj" fmla="val 3103"/>
            </a:avLst>
          </a:prstGeom>
          <a:solidFill>
            <a:srgbClr val="1D1F2B"/>
          </a:solidFill>
          <a:ln w="12700">
            <a:solidFill>
              <a:srgbClr val="1D1F2B"/>
            </a:solidFill>
            <a:prstDash val="solid"/>
          </a:ln>
        </p:spPr>
      </p:sp>
      <p:sp>
        <p:nvSpPr>
          <p:cNvPr id="6" name="Text 4"/>
          <p:cNvSpPr/>
          <p:nvPr/>
        </p:nvSpPr>
        <p:spPr>
          <a:xfrm>
            <a:off x="868680" y="2560320"/>
            <a:ext cx="914400" cy="548640"/>
          </a:xfrm>
          <a:prstGeom prst="rect">
            <a:avLst/>
          </a:prstGeom>
          <a:noFill/>
          <a:ln/>
        </p:spPr>
        <p:txBody>
          <a:bodyPr wrap="square" lIns="0" tIns="0" rIns="0" bIns="0" rtlCol="0" anchor="t"/>
          <a:lstStyle/>
          <a:p>
            <a:pPr indent="0" marL="0">
              <a:buNone/>
            </a:pPr>
            <a:r>
              <a:rPr lang="en-US" sz="3000" b="1" dirty="0">
                <a:solidFill>
                  <a:srgbClr val="FF4757"/>
                </a:solidFill>
                <a:latin typeface="Palatino Linotype" pitchFamily="34" charset="0"/>
                <a:ea typeface="Palatino Linotype" pitchFamily="34" charset="-122"/>
                <a:cs typeface="Palatino Linotype" pitchFamily="34" charset="-120"/>
              </a:rPr>
              <a:t>1</a:t>
            </a:r>
            <a:endParaRPr lang="en-US" sz="3000" dirty="0"/>
          </a:p>
        </p:txBody>
      </p:sp>
      <p:sp>
        <p:nvSpPr>
          <p:cNvPr id="7" name="Text 5"/>
          <p:cNvSpPr/>
          <p:nvPr/>
        </p:nvSpPr>
        <p:spPr>
          <a:xfrm>
            <a:off x="868680" y="3154680"/>
            <a:ext cx="4846320" cy="1737360"/>
          </a:xfrm>
          <a:prstGeom prst="rect">
            <a:avLst/>
          </a:prstGeom>
          <a:noFill/>
          <a:ln/>
        </p:spPr>
        <p:txBody>
          <a:bodyPr wrap="square" lIns="0" tIns="0" rIns="0" bIns="0" rtlCol="0" anchor="t"/>
          <a:lstStyle/>
          <a:p>
            <a:pPr indent="0" marL="0">
              <a:buNone/>
            </a:pPr>
            <a:r>
              <a:rPr lang="en-US" sz="2300" b="1" dirty="0">
                <a:solidFill>
                  <a:srgbClr val="FFFFFF"/>
                </a:solidFill>
                <a:latin typeface="Palatino Linotype" pitchFamily="34" charset="0"/>
                <a:ea typeface="Palatino Linotype" pitchFamily="34" charset="-122"/>
                <a:cs typeface="Palatino Linotype" pitchFamily="34" charset="-120"/>
              </a:rPr>
              <a:t>Interesul nu are nevoie de intenție ca să producă efect.</a:t>
            </a:r>
            <a:endParaRPr lang="en-US" sz="2300" dirty="0"/>
          </a:p>
        </p:txBody>
      </p:sp>
      <p:sp>
        <p:nvSpPr>
          <p:cNvPr id="8" name="Text 6"/>
          <p:cNvSpPr/>
          <p:nvPr/>
        </p:nvSpPr>
        <p:spPr>
          <a:xfrm>
            <a:off x="6492240" y="2560320"/>
            <a:ext cx="914400" cy="548640"/>
          </a:xfrm>
          <a:prstGeom prst="rect">
            <a:avLst/>
          </a:prstGeom>
          <a:noFill/>
          <a:ln/>
        </p:spPr>
        <p:txBody>
          <a:bodyPr wrap="square" lIns="0" tIns="0" rIns="0" bIns="0" rtlCol="0" anchor="t"/>
          <a:lstStyle/>
          <a:p>
            <a:pPr indent="0" marL="0">
              <a:buNone/>
            </a:pPr>
            <a:r>
              <a:rPr lang="en-US" sz="3000" b="1" dirty="0">
                <a:solidFill>
                  <a:srgbClr val="27D3BE"/>
                </a:solidFill>
                <a:latin typeface="Palatino Linotype" pitchFamily="34" charset="0"/>
                <a:ea typeface="Palatino Linotype" pitchFamily="34" charset="-122"/>
                <a:cs typeface="Palatino Linotype" pitchFamily="34" charset="-120"/>
              </a:rPr>
              <a:t>2</a:t>
            </a:r>
            <a:endParaRPr lang="en-US" sz="3000" dirty="0"/>
          </a:p>
        </p:txBody>
      </p:sp>
      <p:sp>
        <p:nvSpPr>
          <p:cNvPr id="9" name="Text 7"/>
          <p:cNvSpPr/>
          <p:nvPr/>
        </p:nvSpPr>
        <p:spPr>
          <a:xfrm>
            <a:off x="6492240" y="3154680"/>
            <a:ext cx="4846320" cy="1737360"/>
          </a:xfrm>
          <a:prstGeom prst="rect">
            <a:avLst/>
          </a:prstGeom>
          <a:noFill/>
          <a:ln/>
        </p:spPr>
        <p:txBody>
          <a:bodyPr wrap="square" lIns="0" tIns="0" rIns="0" bIns="0" rtlCol="0" anchor="t"/>
          <a:lstStyle/>
          <a:p>
            <a:pPr indent="0" marL="0">
              <a:buNone/>
            </a:pPr>
            <a:r>
              <a:rPr lang="en-US" sz="2300" b="1" dirty="0">
                <a:solidFill>
                  <a:srgbClr val="FFFFFF"/>
                </a:solidFill>
                <a:latin typeface="Palatino Linotype" pitchFamily="34" charset="0"/>
                <a:ea typeface="Palatino Linotype" pitchFamily="34" charset="-122"/>
                <a:cs typeface="Palatino Linotype" pitchFamily="34" charset="-120"/>
              </a:rPr>
              <a:t>Declararea, singură, nu ajunge; unele experimente sugerează că poate chiar înrăutăți lucrurile.</a:t>
            </a:r>
            <a:endParaRPr lang="en-US" sz="2300" dirty="0"/>
          </a:p>
        </p:txBody>
      </p:sp>
      <p:sp>
        <p:nvSpPr>
          <p:cNvPr id="10" name="Text 8"/>
          <p:cNvSpPr/>
          <p:nvPr/>
        </p:nvSpPr>
        <p:spPr>
          <a:xfrm>
            <a:off x="594360" y="5303520"/>
            <a:ext cx="10972800" cy="73152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Prima jumătate: dovezile despre darurile mici. A doua: ce se poate întâmpla după ce un conflict a fost declarat.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VOTUL 1</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Rezidenta din registru are un conflict de interese?</a:t>
            </a:r>
            <a:endParaRPr lang="en-US" sz="3000" dirty="0"/>
          </a:p>
        </p:txBody>
      </p:sp>
      <p:sp>
        <p:nvSpPr>
          <p:cNvPr id="6" name="Shape 4"/>
          <p:cNvSpPr/>
          <p:nvPr/>
        </p:nvSpPr>
        <p:spPr>
          <a:xfrm>
            <a:off x="594360" y="2011680"/>
            <a:ext cx="7589520" cy="822960"/>
          </a:xfrm>
          <a:prstGeom prst="roundRect">
            <a:avLst>
              <a:gd name="adj" fmla="val 10000"/>
            </a:avLst>
          </a:prstGeom>
          <a:solidFill>
            <a:srgbClr val="1D1F2B"/>
          </a:solidFill>
          <a:ln w="12700">
            <a:solidFill>
              <a:srgbClr val="1D1F2B"/>
            </a:solidFill>
            <a:prstDash val="solid"/>
          </a:ln>
        </p:spPr>
      </p:sp>
      <p:sp>
        <p:nvSpPr>
          <p:cNvPr id="7" name="Shape 5"/>
          <p:cNvSpPr/>
          <p:nvPr/>
        </p:nvSpPr>
        <p:spPr>
          <a:xfrm>
            <a:off x="914400" y="2212848"/>
            <a:ext cx="420624" cy="420624"/>
          </a:xfrm>
          <a:prstGeom prst="ellipse">
            <a:avLst/>
          </a:prstGeom>
          <a:solidFill>
            <a:srgbClr val="FFC24B"/>
          </a:solidFill>
          <a:ln/>
        </p:spPr>
      </p:sp>
      <p:sp>
        <p:nvSpPr>
          <p:cNvPr id="8" name="Text 6"/>
          <p:cNvSpPr/>
          <p:nvPr/>
        </p:nvSpPr>
        <p:spPr>
          <a:xfrm>
            <a:off x="914400" y="22128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011680"/>
            <a:ext cx="630936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Da</a:t>
            </a:r>
            <a:endParaRPr lang="en-US" sz="2000" dirty="0"/>
          </a:p>
        </p:txBody>
      </p:sp>
      <p:sp>
        <p:nvSpPr>
          <p:cNvPr id="10" name="Shape 8"/>
          <p:cNvSpPr/>
          <p:nvPr/>
        </p:nvSpPr>
        <p:spPr>
          <a:xfrm>
            <a:off x="594360" y="3017520"/>
            <a:ext cx="7589520" cy="822960"/>
          </a:xfrm>
          <a:prstGeom prst="roundRect">
            <a:avLst>
              <a:gd name="adj" fmla="val 10000"/>
            </a:avLst>
          </a:prstGeom>
          <a:solidFill>
            <a:srgbClr val="1D1F2B"/>
          </a:solidFill>
          <a:ln w="12700">
            <a:solidFill>
              <a:srgbClr val="1D1F2B"/>
            </a:solidFill>
            <a:prstDash val="solid"/>
          </a:ln>
        </p:spPr>
      </p:sp>
      <p:sp>
        <p:nvSpPr>
          <p:cNvPr id="11" name="Shape 9"/>
          <p:cNvSpPr/>
          <p:nvPr/>
        </p:nvSpPr>
        <p:spPr>
          <a:xfrm>
            <a:off x="914400" y="3218688"/>
            <a:ext cx="420624" cy="420624"/>
          </a:xfrm>
          <a:prstGeom prst="ellipse">
            <a:avLst/>
          </a:prstGeom>
          <a:solidFill>
            <a:srgbClr val="FFC24B"/>
          </a:solidFill>
          <a:ln/>
        </p:spPr>
      </p:sp>
      <p:sp>
        <p:nvSpPr>
          <p:cNvPr id="12" name="Text 10"/>
          <p:cNvSpPr/>
          <p:nvPr/>
        </p:nvSpPr>
        <p:spPr>
          <a:xfrm>
            <a:off x="914400" y="32186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3017520"/>
            <a:ext cx="630936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Nu</a:t>
            </a:r>
            <a:endParaRPr lang="en-US" sz="2000" dirty="0"/>
          </a:p>
        </p:txBody>
      </p:sp>
      <p:sp>
        <p:nvSpPr>
          <p:cNvPr id="14" name="Shape 12"/>
          <p:cNvSpPr/>
          <p:nvPr/>
        </p:nvSpPr>
        <p:spPr>
          <a:xfrm>
            <a:off x="594360" y="4023360"/>
            <a:ext cx="7589520" cy="822960"/>
          </a:xfrm>
          <a:prstGeom prst="roundRect">
            <a:avLst>
              <a:gd name="adj" fmla="val 10000"/>
            </a:avLst>
          </a:prstGeom>
          <a:solidFill>
            <a:srgbClr val="1D1F2B"/>
          </a:solidFill>
          <a:ln w="12700">
            <a:solidFill>
              <a:srgbClr val="1D1F2B"/>
            </a:solidFill>
            <a:prstDash val="solid"/>
          </a:ln>
        </p:spPr>
      </p:sp>
      <p:sp>
        <p:nvSpPr>
          <p:cNvPr id="15" name="Shape 13"/>
          <p:cNvSpPr/>
          <p:nvPr/>
        </p:nvSpPr>
        <p:spPr>
          <a:xfrm>
            <a:off x="914400" y="4224528"/>
            <a:ext cx="420624" cy="420624"/>
          </a:xfrm>
          <a:prstGeom prst="ellipse">
            <a:avLst/>
          </a:prstGeom>
          <a:solidFill>
            <a:srgbClr val="FFC24B"/>
          </a:solidFill>
          <a:ln/>
        </p:spPr>
      </p:sp>
      <p:sp>
        <p:nvSpPr>
          <p:cNvPr id="16" name="Text 14"/>
          <p:cNvSpPr/>
          <p:nvPr/>
        </p:nvSpPr>
        <p:spPr>
          <a:xfrm>
            <a:off x="914400" y="4224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4023360"/>
            <a:ext cx="630936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Numai dacă prescrie apoi medicamentele firmei</a:t>
            </a:r>
            <a:endParaRPr lang="en-US" sz="2000" dirty="0"/>
          </a:p>
        </p:txBody>
      </p:sp>
      <p:sp>
        <p:nvSpPr>
          <p:cNvPr id="18" name="Shape 16"/>
          <p:cNvSpPr/>
          <p:nvPr/>
        </p:nvSpPr>
        <p:spPr>
          <a:xfrm>
            <a:off x="8686800" y="2011680"/>
            <a:ext cx="2880360" cy="2834640"/>
          </a:xfrm>
          <a:prstGeom prst="roundRect">
            <a:avLst>
              <a:gd name="adj" fmla="val 2903"/>
            </a:avLst>
          </a:prstGeom>
          <a:solidFill>
            <a:srgbClr val="FFFFFF"/>
          </a:solidFill>
          <a:ln w="12700">
            <a:solidFill>
              <a:srgbClr val="FFFFFF"/>
            </a:solidFill>
            <a:prstDash val="solid"/>
          </a:ln>
        </p:spPr>
      </p:sp>
      <p:sp>
        <p:nvSpPr>
          <p:cNvPr id="19" name="Text 17"/>
          <p:cNvSpPr/>
          <p:nvPr/>
        </p:nvSpPr>
        <p:spPr>
          <a:xfrm>
            <a:off x="8686800" y="2011680"/>
            <a:ext cx="2880360" cy="2834640"/>
          </a:xfrm>
          <a:prstGeom prst="rect">
            <a:avLst/>
          </a:prstGeom>
          <a:noFill/>
          <a:ln/>
        </p:spPr>
        <p:txBody>
          <a:bodyPr wrap="square" lIns="0" tIns="0" rIns="0" bIns="0" rtlCol="0" anchor="ctr"/>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[codul QR Mentimeter]</a:t>
            </a:r>
            <a:endParaRPr lang="en-US" sz="1400" dirty="0"/>
          </a:p>
        </p:txBody>
      </p:sp>
      <p:sp>
        <p:nvSpPr>
          <p:cNvPr id="20" name="Text 18"/>
          <p:cNvSpPr/>
          <p:nvPr/>
        </p:nvSpPr>
        <p:spPr>
          <a:xfrm>
            <a:off x="594360" y="5303520"/>
            <a:ext cx="10972800" cy="45720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Discutăm rezultatul la sfârșitul primei povești.</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TOȚI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POVESTEA ÎNTÂI · CINA DE 20 DE DOLARI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Un pix, o cafea, o cină</a:t>
            </a:r>
            <a:endParaRPr lang="en-US" sz="3600" dirty="0"/>
          </a:p>
        </p:txBody>
      </p:sp>
      <p:sp>
        <p:nvSpPr>
          <p:cNvPr id="6" name="Shape 4"/>
          <p:cNvSpPr/>
          <p:nvPr/>
        </p:nvSpPr>
        <p:spPr>
          <a:xfrm>
            <a:off x="594360" y="1828800"/>
            <a:ext cx="2606040" cy="1463040"/>
          </a:xfrm>
          <a:prstGeom prst="roundRect">
            <a:avLst>
              <a:gd name="adj" fmla="val 5625"/>
            </a:avLst>
          </a:prstGeom>
          <a:solidFill>
            <a:srgbClr val="1D1F2B"/>
          </a:solidFill>
          <a:ln w="12700">
            <a:solidFill>
              <a:srgbClr val="1D1F2B"/>
            </a:solidFill>
            <a:prstDash val="solid"/>
          </a:ln>
        </p:spPr>
      </p:sp>
      <p:sp>
        <p:nvSpPr>
          <p:cNvPr id="7" name="Shape 5"/>
          <p:cNvSpPr/>
          <p:nvPr/>
        </p:nvSpPr>
        <p:spPr>
          <a:xfrm>
            <a:off x="594360" y="1828800"/>
            <a:ext cx="2606040" cy="73152"/>
          </a:xfrm>
          <a:prstGeom prst="rect">
            <a:avLst/>
          </a:prstGeom>
          <a:solidFill>
            <a:srgbClr val="FF4757"/>
          </a:solidFill>
          <a:ln w="12700">
            <a:solidFill>
              <a:srgbClr val="FF4757"/>
            </a:solidFill>
            <a:prstDash val="solid"/>
          </a:ln>
        </p:spPr>
      </p:sp>
      <p:sp>
        <p:nvSpPr>
          <p:cNvPr id="8" name="Text 6"/>
          <p:cNvSpPr/>
          <p:nvPr/>
        </p:nvSpPr>
        <p:spPr>
          <a:xfrm>
            <a:off x="822960" y="1965960"/>
            <a:ext cx="2194560" cy="12801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Un pix</a:t>
            </a:r>
            <a:endParaRPr lang="en-US" sz="1900" dirty="0"/>
          </a:p>
        </p:txBody>
      </p:sp>
      <p:sp>
        <p:nvSpPr>
          <p:cNvPr id="9" name="Shape 7"/>
          <p:cNvSpPr/>
          <p:nvPr/>
        </p:nvSpPr>
        <p:spPr>
          <a:xfrm>
            <a:off x="3383280" y="1828800"/>
            <a:ext cx="2606040" cy="1463040"/>
          </a:xfrm>
          <a:prstGeom prst="roundRect">
            <a:avLst>
              <a:gd name="adj" fmla="val 5625"/>
            </a:avLst>
          </a:prstGeom>
          <a:solidFill>
            <a:srgbClr val="1D1F2B"/>
          </a:solidFill>
          <a:ln w="12700">
            <a:solidFill>
              <a:srgbClr val="1D1F2B"/>
            </a:solidFill>
            <a:prstDash val="solid"/>
          </a:ln>
        </p:spPr>
      </p:sp>
      <p:sp>
        <p:nvSpPr>
          <p:cNvPr id="10" name="Shape 8"/>
          <p:cNvSpPr/>
          <p:nvPr/>
        </p:nvSpPr>
        <p:spPr>
          <a:xfrm>
            <a:off x="3383280" y="1828800"/>
            <a:ext cx="2606040" cy="73152"/>
          </a:xfrm>
          <a:prstGeom prst="rect">
            <a:avLst/>
          </a:prstGeom>
          <a:solidFill>
            <a:srgbClr val="FFC24B"/>
          </a:solidFill>
          <a:ln w="12700">
            <a:solidFill>
              <a:srgbClr val="FFC24B"/>
            </a:solidFill>
            <a:prstDash val="solid"/>
          </a:ln>
        </p:spPr>
      </p:sp>
      <p:sp>
        <p:nvSpPr>
          <p:cNvPr id="11" name="Text 9"/>
          <p:cNvSpPr/>
          <p:nvPr/>
        </p:nvSpPr>
        <p:spPr>
          <a:xfrm>
            <a:off x="3611880" y="1965960"/>
            <a:ext cx="2194560" cy="12801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O cafea la o prezentare de produs</a:t>
            </a:r>
            <a:endParaRPr lang="en-US" sz="1900" dirty="0"/>
          </a:p>
        </p:txBody>
      </p:sp>
      <p:sp>
        <p:nvSpPr>
          <p:cNvPr id="12" name="Shape 10"/>
          <p:cNvSpPr/>
          <p:nvPr/>
        </p:nvSpPr>
        <p:spPr>
          <a:xfrm>
            <a:off x="6172200" y="1828800"/>
            <a:ext cx="2606040" cy="1463040"/>
          </a:xfrm>
          <a:prstGeom prst="roundRect">
            <a:avLst>
              <a:gd name="adj" fmla="val 5625"/>
            </a:avLst>
          </a:prstGeom>
          <a:solidFill>
            <a:srgbClr val="1D1F2B"/>
          </a:solidFill>
          <a:ln w="12700">
            <a:solidFill>
              <a:srgbClr val="1D1F2B"/>
            </a:solidFill>
            <a:prstDash val="solid"/>
          </a:ln>
        </p:spPr>
      </p:sp>
      <p:sp>
        <p:nvSpPr>
          <p:cNvPr id="13" name="Shape 11"/>
          <p:cNvSpPr/>
          <p:nvPr/>
        </p:nvSpPr>
        <p:spPr>
          <a:xfrm>
            <a:off x="6172200" y="1828800"/>
            <a:ext cx="2606040" cy="73152"/>
          </a:xfrm>
          <a:prstGeom prst="rect">
            <a:avLst/>
          </a:prstGeom>
          <a:solidFill>
            <a:srgbClr val="27D3BE"/>
          </a:solidFill>
          <a:ln w="12700">
            <a:solidFill>
              <a:srgbClr val="27D3BE"/>
            </a:solidFill>
            <a:prstDash val="solid"/>
          </a:ln>
        </p:spPr>
      </p:sp>
      <p:sp>
        <p:nvSpPr>
          <p:cNvPr id="14" name="Text 12"/>
          <p:cNvSpPr/>
          <p:nvPr/>
        </p:nvSpPr>
        <p:spPr>
          <a:xfrm>
            <a:off x="6400800" y="1965960"/>
            <a:ext cx="2194560" cy="12801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Un prânz la o conferință</a:t>
            </a:r>
            <a:endParaRPr lang="en-US" sz="1900" dirty="0"/>
          </a:p>
        </p:txBody>
      </p:sp>
      <p:sp>
        <p:nvSpPr>
          <p:cNvPr id="15" name="Shape 13"/>
          <p:cNvSpPr/>
          <p:nvPr/>
        </p:nvSpPr>
        <p:spPr>
          <a:xfrm>
            <a:off x="8961120" y="1828800"/>
            <a:ext cx="2606040" cy="1463040"/>
          </a:xfrm>
          <a:prstGeom prst="roundRect">
            <a:avLst>
              <a:gd name="adj" fmla="val 5625"/>
            </a:avLst>
          </a:prstGeom>
          <a:solidFill>
            <a:srgbClr val="1D1F2B"/>
          </a:solidFill>
          <a:ln w="12700">
            <a:solidFill>
              <a:srgbClr val="1D1F2B"/>
            </a:solidFill>
            <a:prstDash val="solid"/>
          </a:ln>
        </p:spPr>
      </p:sp>
      <p:sp>
        <p:nvSpPr>
          <p:cNvPr id="16" name="Shape 14"/>
          <p:cNvSpPr/>
          <p:nvPr/>
        </p:nvSpPr>
        <p:spPr>
          <a:xfrm>
            <a:off x="8961120" y="1828800"/>
            <a:ext cx="2606040" cy="73152"/>
          </a:xfrm>
          <a:prstGeom prst="rect">
            <a:avLst/>
          </a:prstGeom>
          <a:solidFill>
            <a:srgbClr val="9B7EF7"/>
          </a:solidFill>
          <a:ln w="12700">
            <a:solidFill>
              <a:srgbClr val="9B7EF7"/>
            </a:solidFill>
            <a:prstDash val="solid"/>
          </a:ln>
        </p:spPr>
      </p:sp>
      <p:sp>
        <p:nvSpPr>
          <p:cNvPr id="17" name="Text 15"/>
          <p:cNvSpPr/>
          <p:nvPr/>
        </p:nvSpPr>
        <p:spPr>
          <a:xfrm>
            <a:off x="9189720" y="1965960"/>
            <a:ext cx="2194560" cy="12801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O taxă de înscriere plătită</a:t>
            </a:r>
            <a:endParaRPr lang="en-US" sz="1900" dirty="0"/>
          </a:p>
        </p:txBody>
      </p:sp>
      <p:sp>
        <p:nvSpPr>
          <p:cNvPr id="18" name="Text 16"/>
          <p:cNvSpPr/>
          <p:nvPr/>
        </p:nvSpPr>
        <p:spPr>
          <a:xfrm>
            <a:off x="594360" y="3657600"/>
            <a:ext cx="10972800" cy="1097280"/>
          </a:xfrm>
          <a:prstGeom prst="rect">
            <a:avLst/>
          </a:prstGeom>
          <a:noFill/>
          <a:ln/>
        </p:spPr>
        <p:txBody>
          <a:bodyPr wrap="square" lIns="0" tIns="0" rIns="0" bIns="0" rtlCol="0" anchor="t"/>
          <a:lstStyle/>
          <a:p>
            <a:pPr indent="0" marL="0">
              <a:buNone/>
            </a:pPr>
            <a:r>
              <a:rPr lang="en-US" sz="2800" b="1" dirty="0">
                <a:solidFill>
                  <a:srgbClr val="FFC24B"/>
                </a:solidFill>
                <a:latin typeface="Palatino Linotype" pitchFamily="34" charset="0"/>
                <a:ea typeface="Palatino Linotype" pitchFamily="34" charset="-122"/>
                <a:cs typeface="Palatino Linotype" pitchFamily="34" charset="-120"/>
              </a:rPr>
              <a:t>Voi ce ați primit până acum? V-a schimbat vreun dar felul în care lucrați?</a:t>
            </a:r>
            <a:endParaRPr lang="en-US" sz="2800" dirty="0"/>
          </a:p>
        </p:txBody>
      </p:sp>
      <p:sp>
        <p:nvSpPr>
          <p:cNvPr id="19" name="Text 17"/>
          <p:cNvSpPr/>
          <p:nvPr/>
        </p:nvSpPr>
        <p:spPr>
          <a:xfrm>
            <a:off x="594360" y="4983480"/>
            <a:ext cx="10972800" cy="82296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Argumentul obișnuit: lucrurile acestea sunt prea mici ca să conteze. Nimeni nu schimbă un tratament pentru un sandviș.</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CUM ACȚIONEAZĂ UN DAR MIC</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Reciprocitatea acționează fără să o observăm</a:t>
            </a:r>
            <a:endParaRPr lang="en-US" sz="3100" dirty="0"/>
          </a:p>
        </p:txBody>
      </p:sp>
      <p:sp>
        <p:nvSpPr>
          <p:cNvPr id="4" name="Shape 2"/>
          <p:cNvSpPr/>
          <p:nvPr/>
        </p:nvSpPr>
        <p:spPr>
          <a:xfrm>
            <a:off x="594360" y="1828800"/>
            <a:ext cx="5349240" cy="3566160"/>
          </a:xfrm>
          <a:prstGeom prst="roundRect">
            <a:avLst>
              <a:gd name="adj" fmla="val 2308"/>
            </a:avLst>
          </a:prstGeom>
          <a:solidFill>
            <a:srgbClr val="ECEAE4"/>
          </a:solidFill>
          <a:ln w="12700">
            <a:solidFill>
              <a:srgbClr val="ECEAE4"/>
            </a:solidFill>
            <a:prstDash val="solid"/>
          </a:ln>
        </p:spPr>
      </p:sp>
      <p:sp>
        <p:nvSpPr>
          <p:cNvPr id="5" name="Text 3"/>
          <p:cNvSpPr/>
          <p:nvPr/>
        </p:nvSpPr>
        <p:spPr>
          <a:xfrm>
            <a:off x="868680" y="2011680"/>
            <a:ext cx="4846320" cy="32004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ARGUMENTUL „PREA MIC CA SĂ CONTEZE”</a:t>
            </a:r>
            <a:endParaRPr lang="en-US" sz="1300" dirty="0"/>
          </a:p>
        </p:txBody>
      </p:sp>
      <p:sp>
        <p:nvSpPr>
          <p:cNvPr id="6" name="Text 4"/>
          <p:cNvSpPr/>
          <p:nvPr/>
        </p:nvSpPr>
        <p:spPr>
          <a:xfrm>
            <a:off x="868680" y="2468880"/>
            <a:ext cx="4846320" cy="27432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Joel Lexchin arată că acest argument pornește de la o premisă falsă: ideea că un medic ar alege conștient să se lase influențat.</a:t>
            </a:r>
            <a:endParaRPr lang="en-US" sz="1900" dirty="0"/>
          </a:p>
        </p:txBody>
      </p:sp>
      <p:sp>
        <p:nvSpPr>
          <p:cNvPr id="7" name="Shape 5"/>
          <p:cNvSpPr/>
          <p:nvPr/>
        </p:nvSpPr>
        <p:spPr>
          <a:xfrm>
            <a:off x="6217920" y="1828800"/>
            <a:ext cx="5349240" cy="3566160"/>
          </a:xfrm>
          <a:prstGeom prst="roundRect">
            <a:avLst>
              <a:gd name="adj" fmla="val 2308"/>
            </a:avLst>
          </a:prstGeom>
          <a:solidFill>
            <a:srgbClr val="B02532"/>
          </a:solidFill>
          <a:ln w="12700">
            <a:solidFill>
              <a:srgbClr val="B02532"/>
            </a:solidFill>
            <a:prstDash val="solid"/>
          </a:ln>
        </p:spPr>
      </p:sp>
      <p:sp>
        <p:nvSpPr>
          <p:cNvPr id="8" name="Text 6"/>
          <p:cNvSpPr/>
          <p:nvPr/>
        </p:nvSpPr>
        <p:spPr>
          <a:xfrm>
            <a:off x="6492240" y="2011680"/>
            <a:ext cx="4846320" cy="320040"/>
          </a:xfrm>
          <a:prstGeom prst="rect">
            <a:avLst/>
          </a:prstGeom>
          <a:noFill/>
          <a:ln/>
        </p:spPr>
        <p:txBody>
          <a:bodyPr wrap="square" lIns="0" tIns="0" rIns="0" bIns="0" rtlCol="0" anchor="t"/>
          <a:lstStyle/>
          <a:p>
            <a:pPr indent="0" marL="0">
              <a:buNone/>
            </a:pPr>
            <a:r>
              <a:rPr lang="en-US" sz="1300" b="1" spc="200" kern="0" dirty="0">
                <a:solidFill>
                  <a:srgbClr val="F3D4D7"/>
                </a:solidFill>
                <a:latin typeface="Palatino Linotype" pitchFamily="34" charset="0"/>
                <a:ea typeface="Palatino Linotype" pitchFamily="34" charset="-122"/>
                <a:cs typeface="Palatino Linotype" pitchFamily="34" charset="-120"/>
              </a:rPr>
              <a:t>ÎN REALITATE</a:t>
            </a:r>
            <a:endParaRPr lang="en-US" sz="1300" dirty="0"/>
          </a:p>
        </p:txBody>
      </p:sp>
      <p:sp>
        <p:nvSpPr>
          <p:cNvPr id="9" name="Text 7"/>
          <p:cNvSpPr/>
          <p:nvPr/>
        </p:nvSpPr>
        <p:spPr>
          <a:xfrm>
            <a:off x="6492240" y="2468880"/>
            <a:ext cx="4846320" cy="173736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A răspunde unui dar cu o favoare este un gest în mare parte inconștient.</a:t>
            </a:r>
            <a:endParaRPr lang="en-US" sz="2400" dirty="0"/>
          </a:p>
        </p:txBody>
      </p:sp>
      <p:sp>
        <p:nvSpPr>
          <p:cNvPr id="10" name="Text 8"/>
          <p:cNvSpPr/>
          <p:nvPr/>
        </p:nvSpPr>
        <p:spPr>
          <a:xfrm>
            <a:off x="6492240" y="4251960"/>
            <a:ext cx="4846320" cy="1005840"/>
          </a:xfrm>
          <a:prstGeom prst="rect">
            <a:avLst/>
          </a:prstGeom>
          <a:noFill/>
          <a:ln/>
        </p:spPr>
        <p:txBody>
          <a:bodyPr wrap="square" lIns="0" tIns="0" rIns="0" bIns="0" rtlCol="0" anchor="t"/>
          <a:lstStyle/>
          <a:p>
            <a:pPr indent="0" marL="0">
              <a:buNone/>
            </a:pPr>
            <a:r>
              <a:rPr lang="en-US" sz="1700" dirty="0">
                <a:solidFill>
                  <a:srgbClr val="F3D4D7"/>
                </a:solidFill>
                <a:latin typeface="Palatino Linotype" pitchFamily="34" charset="0"/>
                <a:ea typeface="Palatino Linotype" pitchFamily="34" charset="-122"/>
                <a:cs typeface="Palatino Linotype" pitchFamily="34" charset="-120"/>
              </a:rPr>
              <a:t>Reciprocitatea: regula socială după care întoarcem un serviciu primit, de cele mai multe ori fără să ne dăm seama.</a:t>
            </a:r>
            <a:endParaRPr lang="en-US" sz="170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Lexchin, sinteză despre conflictele de interese ale medicilor, 2026 (registru A700).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GHICIȚI · RIDICAȚI MÂNA</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CINA DE 20 DE DOLARI · UN STUDIU AMERICAN</a:t>
            </a:r>
            <a:endParaRPr lang="en-US" sz="1300" dirty="0"/>
          </a:p>
        </p:txBody>
      </p:sp>
      <p:sp>
        <p:nvSpPr>
          <p:cNvPr id="5" name="Text 3"/>
          <p:cNvSpPr/>
          <p:nvPr/>
        </p:nvSpPr>
        <p:spPr>
          <a:xfrm>
            <a:off x="594360" y="868680"/>
            <a:ext cx="10972800" cy="128016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Un studiu american a urmărit medici care primiseră de la firme mese de cel mult 20 de dolari și a comparat ce au prescris apoi, în patru clase de medicamente folosite foarte des: statine, betablocante, inhibitori ai enzimei de conversie și sartani, antidepresive serotoninergice.</a:t>
            </a:r>
            <a:endParaRPr lang="en-US" sz="1800" dirty="0"/>
          </a:p>
        </p:txBody>
      </p:sp>
      <p:sp>
        <p:nvSpPr>
          <p:cNvPr id="6" name="Text 4"/>
          <p:cNvSpPr/>
          <p:nvPr/>
        </p:nvSpPr>
        <p:spPr>
          <a:xfrm>
            <a:off x="594360" y="2194560"/>
            <a:ext cx="10972800" cy="91440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În câte dintre cele 4 clase credeți că au prescris mai des medicamentul promovat?</a:t>
            </a:r>
            <a:endParaRPr lang="en-US" sz="2500" dirty="0"/>
          </a:p>
        </p:txBody>
      </p:sp>
      <p:sp>
        <p:nvSpPr>
          <p:cNvPr id="7" name="Shape 5"/>
          <p:cNvSpPr/>
          <p:nvPr/>
        </p:nvSpPr>
        <p:spPr>
          <a:xfrm>
            <a:off x="594360" y="3246120"/>
            <a:ext cx="10972800" cy="566928"/>
          </a:xfrm>
          <a:prstGeom prst="roundRect">
            <a:avLst>
              <a:gd name="adj" fmla="val 14516"/>
            </a:avLst>
          </a:prstGeom>
          <a:solidFill>
            <a:srgbClr val="1D1F2B"/>
          </a:solidFill>
          <a:ln w="12700">
            <a:solidFill>
              <a:srgbClr val="1D1F2B"/>
            </a:solidFill>
            <a:prstDash val="solid"/>
          </a:ln>
        </p:spPr>
      </p:sp>
      <p:sp>
        <p:nvSpPr>
          <p:cNvPr id="8" name="Shape 6"/>
          <p:cNvSpPr/>
          <p:nvPr/>
        </p:nvSpPr>
        <p:spPr>
          <a:xfrm>
            <a:off x="914400" y="3319272"/>
            <a:ext cx="420624" cy="420624"/>
          </a:xfrm>
          <a:prstGeom prst="ellipse">
            <a:avLst/>
          </a:prstGeom>
          <a:solidFill>
            <a:srgbClr val="27D3BE"/>
          </a:solidFill>
          <a:ln/>
        </p:spPr>
      </p:sp>
      <p:sp>
        <p:nvSpPr>
          <p:cNvPr id="9" name="Text 7"/>
          <p:cNvSpPr/>
          <p:nvPr/>
        </p:nvSpPr>
        <p:spPr>
          <a:xfrm>
            <a:off x="914400" y="33192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3246120"/>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În niciuna</a:t>
            </a:r>
            <a:endParaRPr lang="en-US" sz="1800" dirty="0"/>
          </a:p>
        </p:txBody>
      </p:sp>
      <p:sp>
        <p:nvSpPr>
          <p:cNvPr id="11" name="Shape 9"/>
          <p:cNvSpPr/>
          <p:nvPr/>
        </p:nvSpPr>
        <p:spPr>
          <a:xfrm>
            <a:off x="594360" y="3922776"/>
            <a:ext cx="10972800" cy="566928"/>
          </a:xfrm>
          <a:prstGeom prst="roundRect">
            <a:avLst>
              <a:gd name="adj" fmla="val 14516"/>
            </a:avLst>
          </a:prstGeom>
          <a:solidFill>
            <a:srgbClr val="1D1F2B"/>
          </a:solidFill>
          <a:ln w="12700">
            <a:solidFill>
              <a:srgbClr val="1D1F2B"/>
            </a:solidFill>
            <a:prstDash val="solid"/>
          </a:ln>
        </p:spPr>
      </p:sp>
      <p:sp>
        <p:nvSpPr>
          <p:cNvPr id="12" name="Shape 10"/>
          <p:cNvSpPr/>
          <p:nvPr/>
        </p:nvSpPr>
        <p:spPr>
          <a:xfrm>
            <a:off x="914400" y="3995928"/>
            <a:ext cx="420624" cy="420624"/>
          </a:xfrm>
          <a:prstGeom prst="ellipse">
            <a:avLst/>
          </a:prstGeom>
          <a:solidFill>
            <a:srgbClr val="27D3BE"/>
          </a:solidFill>
          <a:ln/>
        </p:spPr>
      </p:sp>
      <p:sp>
        <p:nvSpPr>
          <p:cNvPr id="13" name="Text 11"/>
          <p:cNvSpPr/>
          <p:nvPr/>
        </p:nvSpPr>
        <p:spPr>
          <a:xfrm>
            <a:off x="914400" y="3995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3922776"/>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În una sau două</a:t>
            </a:r>
            <a:endParaRPr lang="en-US" sz="1800" dirty="0"/>
          </a:p>
        </p:txBody>
      </p:sp>
      <p:sp>
        <p:nvSpPr>
          <p:cNvPr id="15" name="Shape 13"/>
          <p:cNvSpPr/>
          <p:nvPr/>
        </p:nvSpPr>
        <p:spPr>
          <a:xfrm>
            <a:off x="594360" y="4599432"/>
            <a:ext cx="10972800" cy="566928"/>
          </a:xfrm>
          <a:prstGeom prst="roundRect">
            <a:avLst>
              <a:gd name="adj" fmla="val 14516"/>
            </a:avLst>
          </a:prstGeom>
          <a:solidFill>
            <a:srgbClr val="1D1F2B"/>
          </a:solidFill>
          <a:ln w="12700">
            <a:solidFill>
              <a:srgbClr val="1D1F2B"/>
            </a:solidFill>
            <a:prstDash val="solid"/>
          </a:ln>
        </p:spPr>
      </p:sp>
      <p:sp>
        <p:nvSpPr>
          <p:cNvPr id="16" name="Shape 14"/>
          <p:cNvSpPr/>
          <p:nvPr/>
        </p:nvSpPr>
        <p:spPr>
          <a:xfrm>
            <a:off x="914400" y="4672584"/>
            <a:ext cx="420624" cy="420624"/>
          </a:xfrm>
          <a:prstGeom prst="ellipse">
            <a:avLst/>
          </a:prstGeom>
          <a:solidFill>
            <a:srgbClr val="27D3BE"/>
          </a:solidFill>
          <a:ln/>
        </p:spPr>
      </p:sp>
      <p:sp>
        <p:nvSpPr>
          <p:cNvPr id="17" name="Text 15"/>
          <p:cNvSpPr/>
          <p:nvPr/>
        </p:nvSpPr>
        <p:spPr>
          <a:xfrm>
            <a:off x="914400" y="46725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600200" y="4599432"/>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În trei</a:t>
            </a:r>
            <a:endParaRPr lang="en-US" sz="1800" dirty="0"/>
          </a:p>
        </p:txBody>
      </p:sp>
      <p:sp>
        <p:nvSpPr>
          <p:cNvPr id="19" name="Shape 17"/>
          <p:cNvSpPr/>
          <p:nvPr/>
        </p:nvSpPr>
        <p:spPr>
          <a:xfrm>
            <a:off x="594360" y="5276088"/>
            <a:ext cx="10972800" cy="566928"/>
          </a:xfrm>
          <a:prstGeom prst="roundRect">
            <a:avLst>
              <a:gd name="adj" fmla="val 14516"/>
            </a:avLst>
          </a:prstGeom>
          <a:solidFill>
            <a:srgbClr val="1D1F2B"/>
          </a:solidFill>
          <a:ln w="12700">
            <a:solidFill>
              <a:srgbClr val="1D1F2B"/>
            </a:solidFill>
            <a:prstDash val="solid"/>
          </a:ln>
        </p:spPr>
      </p:sp>
      <p:sp>
        <p:nvSpPr>
          <p:cNvPr id="20" name="Shape 18"/>
          <p:cNvSpPr/>
          <p:nvPr/>
        </p:nvSpPr>
        <p:spPr>
          <a:xfrm>
            <a:off x="914400" y="5349240"/>
            <a:ext cx="420624" cy="420624"/>
          </a:xfrm>
          <a:prstGeom prst="ellipse">
            <a:avLst/>
          </a:prstGeom>
          <a:solidFill>
            <a:srgbClr val="27D3BE"/>
          </a:solidFill>
          <a:ln/>
        </p:spPr>
      </p:sp>
      <p:sp>
        <p:nvSpPr>
          <p:cNvPr id="21" name="Text 19"/>
          <p:cNvSpPr/>
          <p:nvPr/>
        </p:nvSpPr>
        <p:spPr>
          <a:xfrm>
            <a:off x="914400" y="5349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600200" y="5276088"/>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În toate patru</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CINA DE 20 DE DOLARI · REZULTATUL</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4 din 4</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clase de medicamente: medicii au prescris mai des medicamentul promovat</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Un studiu american a urmărit medicii care primiseră de la firme mese de cel mult 20 de dolari. În toate cele patru clase, ei au prescris mai des medicamentul promovat decât alternativele din aceeași clasă.</a:t>
            </a:r>
            <a:endParaRPr lang="en-US" sz="1700" dirty="0"/>
          </a:p>
        </p:txBody>
      </p:sp>
      <p:sp>
        <p:nvSpPr>
          <p:cNvPr id="6" name="Text 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studiu american citat de Lexchin, 2026 (registru A701).</a:t>
            </a:r>
            <a:endParaRPr lang="en-US" sz="1000" dirty="0"/>
          </a:p>
        </p:txBody>
      </p:sp>
      <p:sp>
        <p:nvSpPr>
          <p:cNvPr id="8" name="Shape 5"/>
          <p:cNvSpPr/>
          <p:nvPr/>
        </p:nvSpPr>
        <p:spPr>
          <a:xfrm>
            <a:off x="7315200" y="1097280"/>
            <a:ext cx="4251960" cy="960120"/>
          </a:xfrm>
          <a:prstGeom prst="roundRect">
            <a:avLst>
              <a:gd name="adj" fmla="val 8571"/>
            </a:avLst>
          </a:prstGeom>
          <a:solidFill>
            <a:srgbClr val="FF4757"/>
          </a:solidFill>
          <a:ln w="12700">
            <a:solidFill>
              <a:srgbClr val="FF4757"/>
            </a:solidFill>
            <a:prstDash val="solid"/>
          </a:ln>
        </p:spPr>
      </p:sp>
      <p:sp>
        <p:nvSpPr>
          <p:cNvPr id="9" name="Text 6"/>
          <p:cNvSpPr/>
          <p:nvPr/>
        </p:nvSpPr>
        <p:spPr>
          <a:xfrm>
            <a:off x="7543800" y="1097280"/>
            <a:ext cx="3840480" cy="960120"/>
          </a:xfrm>
          <a:prstGeom prst="rect">
            <a:avLst/>
          </a:prstGeom>
          <a:noFill/>
          <a:ln/>
        </p:spPr>
        <p:txBody>
          <a:bodyPr wrap="square" lIns="0" tIns="0" rIns="0" bIns="0" rtlCol="0" anchor="ctr"/>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Statinele</a:t>
            </a:r>
            <a:endParaRPr lang="en-US" sz="1700" dirty="0"/>
          </a:p>
        </p:txBody>
      </p:sp>
      <p:sp>
        <p:nvSpPr>
          <p:cNvPr id="10" name="Shape 7"/>
          <p:cNvSpPr/>
          <p:nvPr/>
        </p:nvSpPr>
        <p:spPr>
          <a:xfrm>
            <a:off x="7315200" y="2240280"/>
            <a:ext cx="4251960" cy="960120"/>
          </a:xfrm>
          <a:prstGeom prst="roundRect">
            <a:avLst>
              <a:gd name="adj" fmla="val 8571"/>
            </a:avLst>
          </a:prstGeom>
          <a:solidFill>
            <a:srgbClr val="FF4757"/>
          </a:solidFill>
          <a:ln w="12700">
            <a:solidFill>
              <a:srgbClr val="FF4757"/>
            </a:solidFill>
            <a:prstDash val="solid"/>
          </a:ln>
        </p:spPr>
      </p:sp>
      <p:sp>
        <p:nvSpPr>
          <p:cNvPr id="11" name="Text 8"/>
          <p:cNvSpPr/>
          <p:nvPr/>
        </p:nvSpPr>
        <p:spPr>
          <a:xfrm>
            <a:off x="7543800" y="2240280"/>
            <a:ext cx="3840480" cy="960120"/>
          </a:xfrm>
          <a:prstGeom prst="rect">
            <a:avLst/>
          </a:prstGeom>
          <a:noFill/>
          <a:ln/>
        </p:spPr>
        <p:txBody>
          <a:bodyPr wrap="square" lIns="0" tIns="0" rIns="0" bIns="0" rtlCol="0" anchor="ctr"/>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Betablocantele cardioselective</a:t>
            </a:r>
            <a:endParaRPr lang="en-US" sz="1700" dirty="0"/>
          </a:p>
        </p:txBody>
      </p:sp>
      <p:sp>
        <p:nvSpPr>
          <p:cNvPr id="12" name="Shape 9"/>
          <p:cNvSpPr/>
          <p:nvPr/>
        </p:nvSpPr>
        <p:spPr>
          <a:xfrm>
            <a:off x="7315200" y="3383280"/>
            <a:ext cx="4251960" cy="960120"/>
          </a:xfrm>
          <a:prstGeom prst="roundRect">
            <a:avLst>
              <a:gd name="adj" fmla="val 8571"/>
            </a:avLst>
          </a:prstGeom>
          <a:solidFill>
            <a:srgbClr val="FF4757"/>
          </a:solidFill>
          <a:ln w="12700">
            <a:solidFill>
              <a:srgbClr val="FF4757"/>
            </a:solidFill>
            <a:prstDash val="solid"/>
          </a:ln>
        </p:spPr>
      </p:sp>
      <p:sp>
        <p:nvSpPr>
          <p:cNvPr id="13" name="Text 10"/>
          <p:cNvSpPr/>
          <p:nvPr/>
        </p:nvSpPr>
        <p:spPr>
          <a:xfrm>
            <a:off x="7543800" y="3383280"/>
            <a:ext cx="3840480" cy="960120"/>
          </a:xfrm>
          <a:prstGeom prst="rect">
            <a:avLst/>
          </a:prstGeom>
          <a:noFill/>
          <a:ln/>
        </p:spPr>
        <p:txBody>
          <a:bodyPr wrap="square" lIns="0" tIns="0" rIns="0" bIns="0" rtlCol="0" anchor="ctr"/>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Inhibitorii enzimei de conversie și sartanii</a:t>
            </a:r>
            <a:endParaRPr lang="en-US" sz="1700" dirty="0"/>
          </a:p>
        </p:txBody>
      </p:sp>
      <p:sp>
        <p:nvSpPr>
          <p:cNvPr id="14" name="Shape 11"/>
          <p:cNvSpPr/>
          <p:nvPr/>
        </p:nvSpPr>
        <p:spPr>
          <a:xfrm>
            <a:off x="7315200" y="4526280"/>
            <a:ext cx="4251960" cy="960120"/>
          </a:xfrm>
          <a:prstGeom prst="roundRect">
            <a:avLst>
              <a:gd name="adj" fmla="val 8571"/>
            </a:avLst>
          </a:prstGeom>
          <a:solidFill>
            <a:srgbClr val="FF4757"/>
          </a:solidFill>
          <a:ln w="12700">
            <a:solidFill>
              <a:srgbClr val="FF4757"/>
            </a:solidFill>
            <a:prstDash val="solid"/>
          </a:ln>
        </p:spPr>
      </p:sp>
      <p:sp>
        <p:nvSpPr>
          <p:cNvPr id="15" name="Text 12"/>
          <p:cNvSpPr/>
          <p:nvPr/>
        </p:nvSpPr>
        <p:spPr>
          <a:xfrm>
            <a:off x="7543800" y="4526280"/>
            <a:ext cx="3840480" cy="960120"/>
          </a:xfrm>
          <a:prstGeom prst="rect">
            <a:avLst/>
          </a:prstGeom>
          <a:noFill/>
          <a:ln/>
        </p:spPr>
        <p:txBody>
          <a:bodyPr wrap="square" lIns="0" tIns="0" rIns="0" bIns="0" rtlCol="0" anchor="ctr"/>
          <a:lstStyle/>
          <a:p>
            <a:pPr indent="0" marL="0">
              <a:buNone/>
            </a:pPr>
            <a:r>
              <a:rPr lang="en-US" sz="1700" b="1" dirty="0">
                <a:solidFill>
                  <a:srgbClr val="2E060B"/>
                </a:solidFill>
                <a:latin typeface="Palatino Linotype" pitchFamily="34" charset="0"/>
                <a:ea typeface="Palatino Linotype" pitchFamily="34" charset="-122"/>
                <a:cs typeface="Palatino Linotype" pitchFamily="34" charset="-120"/>
              </a:rPr>
              <a:t>Antidepresivele serotoninergice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rot="-60000">
            <a:off x="685800" y="914400"/>
            <a:ext cx="6949440" cy="2377440"/>
          </a:xfrm>
          <a:prstGeom prst="rect">
            <a:avLst/>
          </a:prstGeom>
          <a:solidFill>
            <a:srgbClr val="FBF8F1"/>
          </a:solidFill>
          <a:ln w="9525">
            <a:solidFill>
              <a:srgbClr val="D6D2C8"/>
            </a:solidFill>
            <a:prstDash val="solid"/>
          </a:ln>
          <a:effectLst>
            <a:outerShdw sx="100000" sy="100000" kx="0" ky="0" algn="bl" rotWithShape="0" blurRad="101600" dist="38100" dir="5400000">
              <a:srgbClr val="000000">
                <a:alpha val="25000"/>
              </a:srgbClr>
            </a:outerShdw>
          </a:effectLst>
        </p:spPr>
      </p:sp>
      <p:sp>
        <p:nvSpPr>
          <p:cNvPr id="6" name="Text 4"/>
          <p:cNvSpPr/>
          <p:nvPr/>
        </p:nvSpPr>
        <p:spPr>
          <a:xfrm rot="-60000">
            <a:off x="1005840" y="1143000"/>
            <a:ext cx="6309360" cy="274320"/>
          </a:xfrm>
          <a:prstGeom prst="rect">
            <a:avLst/>
          </a:prstGeom>
          <a:noFill/>
          <a:ln/>
        </p:spPr>
        <p:txBody>
          <a:bodyPr wrap="square" lIns="0" tIns="0" rIns="0" bIns="0" rtlCol="0" anchor="t"/>
          <a:lstStyle/>
          <a:p>
            <a:pPr indent="0" marL="0">
              <a:buNone/>
            </a:pPr>
            <a:r>
              <a:rPr lang="en-US" sz="1200" b="1" spc="200" kern="0" dirty="0">
                <a:solidFill>
                  <a:srgbClr val="585A64"/>
                </a:solidFill>
                <a:latin typeface="Palatino Linotype" pitchFamily="34" charset="0"/>
                <a:ea typeface="Palatino Linotype" pitchFamily="34" charset="-122"/>
                <a:cs typeface="Palatino Linotype" pitchFamily="34" charset="-120"/>
              </a:rPr>
              <a:t>TITLU IMAGINAT, PENTRU EXERCIȚIU</a:t>
            </a:r>
            <a:endParaRPr lang="en-US" sz="1200" dirty="0"/>
          </a:p>
        </p:txBody>
      </p:sp>
      <p:sp>
        <p:nvSpPr>
          <p:cNvPr id="7" name="Shape 5"/>
          <p:cNvSpPr/>
          <p:nvPr/>
        </p:nvSpPr>
        <p:spPr>
          <a:xfrm rot="-60000">
            <a:off x="1005840" y="1481328"/>
            <a:ext cx="6309360" cy="18288"/>
          </a:xfrm>
          <a:prstGeom prst="rect">
            <a:avLst/>
          </a:prstGeom>
          <a:solidFill>
            <a:srgbClr val="11121A"/>
          </a:solidFill>
          <a:ln/>
        </p:spPr>
      </p:sp>
      <p:sp>
        <p:nvSpPr>
          <p:cNvPr id="8" name="Text 6"/>
          <p:cNvSpPr/>
          <p:nvPr/>
        </p:nvSpPr>
        <p:spPr>
          <a:xfrm rot="-60000">
            <a:off x="1005840" y="1600200"/>
            <a:ext cx="6309360" cy="1508760"/>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„Medicii, cumpărați cu o cină de 20 de dolari”</a:t>
            </a:r>
            <a:endParaRPr lang="en-US" sz="3000" dirty="0"/>
          </a:p>
        </p:txBody>
      </p:sp>
      <p:sp>
        <p:nvSpPr>
          <p:cNvPr id="9" name="Shape 7"/>
          <p:cNvSpPr/>
          <p:nvPr/>
        </p:nvSpPr>
        <p:spPr>
          <a:xfrm>
            <a:off x="594360" y="3611880"/>
            <a:ext cx="7589520" cy="621792"/>
          </a:xfrm>
          <a:prstGeom prst="roundRect">
            <a:avLst>
              <a:gd name="adj" fmla="val 13235"/>
            </a:avLst>
          </a:prstGeom>
          <a:solidFill>
            <a:srgbClr val="1D1F2B"/>
          </a:solidFill>
          <a:ln w="12700">
            <a:solidFill>
              <a:srgbClr val="1D1F2B"/>
            </a:solidFill>
            <a:prstDash val="solid"/>
          </a:ln>
        </p:spPr>
      </p:sp>
      <p:sp>
        <p:nvSpPr>
          <p:cNvPr id="10" name="Shape 8"/>
          <p:cNvSpPr/>
          <p:nvPr/>
        </p:nvSpPr>
        <p:spPr>
          <a:xfrm>
            <a:off x="914400" y="3712464"/>
            <a:ext cx="420624" cy="420624"/>
          </a:xfrm>
          <a:prstGeom prst="ellipse">
            <a:avLst/>
          </a:prstGeom>
          <a:solidFill>
            <a:srgbClr val="FFC24B"/>
          </a:solidFill>
          <a:ln/>
        </p:spPr>
      </p:sp>
      <p:sp>
        <p:nvSpPr>
          <p:cNvPr id="11" name="Text 9"/>
          <p:cNvSpPr/>
          <p:nvPr/>
        </p:nvSpPr>
        <p:spPr>
          <a:xfrm>
            <a:off x="914400" y="37124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2" name="Text 10"/>
          <p:cNvSpPr/>
          <p:nvPr/>
        </p:nvSpPr>
        <p:spPr>
          <a:xfrm>
            <a:off x="1600200" y="3611880"/>
            <a:ext cx="63093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Da</a:t>
            </a:r>
            <a:endParaRPr lang="en-US" sz="1700" dirty="0"/>
          </a:p>
        </p:txBody>
      </p:sp>
      <p:sp>
        <p:nvSpPr>
          <p:cNvPr id="13" name="Shape 11"/>
          <p:cNvSpPr/>
          <p:nvPr/>
        </p:nvSpPr>
        <p:spPr>
          <a:xfrm>
            <a:off x="594360" y="4361688"/>
            <a:ext cx="7589520" cy="621792"/>
          </a:xfrm>
          <a:prstGeom prst="roundRect">
            <a:avLst>
              <a:gd name="adj" fmla="val 13235"/>
            </a:avLst>
          </a:prstGeom>
          <a:solidFill>
            <a:srgbClr val="1D1F2B"/>
          </a:solidFill>
          <a:ln w="12700">
            <a:solidFill>
              <a:srgbClr val="1D1F2B"/>
            </a:solidFill>
            <a:prstDash val="solid"/>
          </a:ln>
        </p:spPr>
      </p:sp>
      <p:sp>
        <p:nvSpPr>
          <p:cNvPr id="14" name="Shape 12"/>
          <p:cNvSpPr/>
          <p:nvPr/>
        </p:nvSpPr>
        <p:spPr>
          <a:xfrm>
            <a:off x="914400" y="4462272"/>
            <a:ext cx="420624" cy="420624"/>
          </a:xfrm>
          <a:prstGeom prst="ellipse">
            <a:avLst/>
          </a:prstGeom>
          <a:solidFill>
            <a:srgbClr val="FFC24B"/>
          </a:solidFill>
          <a:ln/>
        </p:spPr>
      </p:sp>
      <p:sp>
        <p:nvSpPr>
          <p:cNvPr id="15" name="Text 13"/>
          <p:cNvSpPr/>
          <p:nvPr/>
        </p:nvSpPr>
        <p:spPr>
          <a:xfrm>
            <a:off x="914400" y="44622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6" name="Text 14"/>
          <p:cNvSpPr/>
          <p:nvPr/>
        </p:nvSpPr>
        <p:spPr>
          <a:xfrm>
            <a:off x="1600200" y="4361688"/>
            <a:ext cx="63093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a:t>
            </a:r>
            <a:endParaRPr lang="en-US" sz="1700" dirty="0"/>
          </a:p>
        </p:txBody>
      </p:sp>
      <p:sp>
        <p:nvSpPr>
          <p:cNvPr id="17" name="Shape 15"/>
          <p:cNvSpPr/>
          <p:nvPr/>
        </p:nvSpPr>
        <p:spPr>
          <a:xfrm>
            <a:off x="594360" y="5111496"/>
            <a:ext cx="7589520" cy="621792"/>
          </a:xfrm>
          <a:prstGeom prst="roundRect">
            <a:avLst>
              <a:gd name="adj" fmla="val 13235"/>
            </a:avLst>
          </a:prstGeom>
          <a:solidFill>
            <a:srgbClr val="1D1F2B"/>
          </a:solidFill>
          <a:ln w="12700">
            <a:solidFill>
              <a:srgbClr val="1D1F2B"/>
            </a:solidFill>
            <a:prstDash val="solid"/>
          </a:ln>
        </p:spPr>
      </p:sp>
      <p:sp>
        <p:nvSpPr>
          <p:cNvPr id="18" name="Shape 16"/>
          <p:cNvSpPr/>
          <p:nvPr/>
        </p:nvSpPr>
        <p:spPr>
          <a:xfrm>
            <a:off x="914400" y="5212080"/>
            <a:ext cx="420624" cy="420624"/>
          </a:xfrm>
          <a:prstGeom prst="ellipse">
            <a:avLst/>
          </a:prstGeom>
          <a:solidFill>
            <a:srgbClr val="FFC24B"/>
          </a:solidFill>
          <a:ln/>
        </p:spPr>
      </p:sp>
      <p:sp>
        <p:nvSpPr>
          <p:cNvPr id="19" name="Text 17"/>
          <p:cNvSpPr/>
          <p:nvPr/>
        </p:nvSpPr>
        <p:spPr>
          <a:xfrm>
            <a:off x="914400" y="5212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0" name="Text 18"/>
          <p:cNvSpPr/>
          <p:nvPr/>
        </p:nvSpPr>
        <p:spPr>
          <a:xfrm>
            <a:off x="1600200" y="5111496"/>
            <a:ext cx="6309360" cy="621792"/>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Aș vrea să știu mai întâi cum a fost făcut studiul</a:t>
            </a:r>
            <a:endParaRPr lang="en-US" sz="1700" dirty="0"/>
          </a:p>
        </p:txBody>
      </p:sp>
      <p:sp>
        <p:nvSpPr>
          <p:cNvPr id="21" name="Shape 19"/>
          <p:cNvSpPr/>
          <p:nvPr/>
        </p:nvSpPr>
        <p:spPr>
          <a:xfrm>
            <a:off x="8686800" y="1097280"/>
            <a:ext cx="2880360" cy="2834640"/>
          </a:xfrm>
          <a:prstGeom prst="roundRect">
            <a:avLst>
              <a:gd name="adj" fmla="val 2903"/>
            </a:avLst>
          </a:prstGeom>
          <a:solidFill>
            <a:srgbClr val="FFFFFF"/>
          </a:solidFill>
          <a:ln w="12700">
            <a:solidFill>
              <a:srgbClr val="FFFFFF"/>
            </a:solidFill>
            <a:prstDash val="solid"/>
          </a:ln>
        </p:spPr>
      </p:sp>
      <p:sp>
        <p:nvSpPr>
          <p:cNvPr id="22" name="Text 20"/>
          <p:cNvSpPr/>
          <p:nvPr/>
        </p:nvSpPr>
        <p:spPr>
          <a:xfrm>
            <a:off x="8686800" y="1097280"/>
            <a:ext cx="2880360" cy="2834640"/>
          </a:xfrm>
          <a:prstGeom prst="rect">
            <a:avLst/>
          </a:prstGeom>
          <a:noFill/>
          <a:ln/>
        </p:spPr>
        <p:txBody>
          <a:bodyPr wrap="square" lIns="0" tIns="0" rIns="0" bIns="0" rtlCol="0" anchor="ctr"/>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[codul QR Mentimeter]</a:t>
            </a:r>
            <a:endParaRPr lang="en-US" sz="1400" dirty="0"/>
          </a:p>
        </p:txBody>
      </p:sp>
      <p:sp>
        <p:nvSpPr>
          <p:cNvPr id="23" name="Text 21"/>
          <p:cNvSpPr/>
          <p:nvPr/>
        </p:nvSpPr>
        <p:spPr>
          <a:xfrm>
            <a:off x="8503920" y="4160520"/>
            <a:ext cx="3108960" cy="1554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Apoi, un minut cu colegul: ce întrebare i-ați pune autorului știrii?</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SINTEZA SISTEMATICĂ · TOATE STUDIILE, CITITE ÎMPREUNĂ</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B02532"/>
                </a:solidFill>
                <a:latin typeface="Palatino Linotype" pitchFamily="34" charset="0"/>
                <a:ea typeface="Palatino Linotype" pitchFamily="34" charset="-122"/>
                <a:cs typeface="Palatino Linotype" pitchFamily="34" charset="-120"/>
              </a:rPr>
              <a:t>36</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de studii despre plățile firmelor și prescriere, citite împreună</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3A3C44"/>
                </a:solidFill>
                <a:latin typeface="Palatino Linotype" pitchFamily="34" charset="0"/>
                <a:ea typeface="Palatino Linotype" pitchFamily="34" charset="-122"/>
                <a:cs typeface="Palatino Linotype" pitchFamily="34" charset="-120"/>
              </a:rPr>
              <a:t>Un singur studiu observațional nu arată dacă masa a fost cauza sau dacă firmele îi invită tocmai pe medicii care prescriu deja mult. De aceea, în 2021, echipa lui Aaron Mitchell a făcut o sinteză sistematică: a căutat, după reguli stabilite dinainte, toate studiile pe această temă și le-a citit împreună.</a:t>
            </a:r>
            <a:endParaRPr lang="en-US" sz="1700" dirty="0"/>
          </a:p>
        </p:txBody>
      </p:sp>
      <p:sp>
        <p:nvSpPr>
          <p:cNvPr id="6" name="Shape 4"/>
          <p:cNvSpPr/>
          <p:nvPr/>
        </p:nvSpPr>
        <p:spPr>
          <a:xfrm>
            <a:off x="7845552" y="1097280"/>
            <a:ext cx="475488" cy="475488"/>
          </a:xfrm>
          <a:prstGeom prst="ellipse">
            <a:avLst/>
          </a:prstGeom>
          <a:solidFill>
            <a:srgbClr val="B02532"/>
          </a:solidFill>
          <a:ln w="12700">
            <a:solidFill>
              <a:srgbClr val="B02532"/>
            </a:solidFill>
            <a:prstDash val="solid"/>
          </a:ln>
        </p:spPr>
      </p:sp>
      <p:sp>
        <p:nvSpPr>
          <p:cNvPr id="7" name="Shape 5"/>
          <p:cNvSpPr/>
          <p:nvPr/>
        </p:nvSpPr>
        <p:spPr>
          <a:xfrm>
            <a:off x="8485632" y="1097280"/>
            <a:ext cx="475488" cy="475488"/>
          </a:xfrm>
          <a:prstGeom prst="ellipse">
            <a:avLst/>
          </a:prstGeom>
          <a:solidFill>
            <a:srgbClr val="B02532"/>
          </a:solidFill>
          <a:ln w="12700">
            <a:solidFill>
              <a:srgbClr val="B02532"/>
            </a:solidFill>
            <a:prstDash val="solid"/>
          </a:ln>
        </p:spPr>
      </p:sp>
      <p:sp>
        <p:nvSpPr>
          <p:cNvPr id="8" name="Shape 6"/>
          <p:cNvSpPr/>
          <p:nvPr/>
        </p:nvSpPr>
        <p:spPr>
          <a:xfrm>
            <a:off x="9125712" y="1097280"/>
            <a:ext cx="475488" cy="475488"/>
          </a:xfrm>
          <a:prstGeom prst="ellipse">
            <a:avLst/>
          </a:prstGeom>
          <a:solidFill>
            <a:srgbClr val="B02532"/>
          </a:solidFill>
          <a:ln w="12700">
            <a:solidFill>
              <a:srgbClr val="B02532"/>
            </a:solidFill>
            <a:prstDash val="solid"/>
          </a:ln>
        </p:spPr>
      </p:sp>
      <p:sp>
        <p:nvSpPr>
          <p:cNvPr id="9" name="Shape 7"/>
          <p:cNvSpPr/>
          <p:nvPr/>
        </p:nvSpPr>
        <p:spPr>
          <a:xfrm>
            <a:off x="9765792" y="1097280"/>
            <a:ext cx="475488" cy="475488"/>
          </a:xfrm>
          <a:prstGeom prst="ellipse">
            <a:avLst/>
          </a:prstGeom>
          <a:solidFill>
            <a:srgbClr val="B02532"/>
          </a:solidFill>
          <a:ln w="12700">
            <a:solidFill>
              <a:srgbClr val="B02532"/>
            </a:solidFill>
            <a:prstDash val="solid"/>
          </a:ln>
        </p:spPr>
      </p:sp>
      <p:sp>
        <p:nvSpPr>
          <p:cNvPr id="10" name="Shape 8"/>
          <p:cNvSpPr/>
          <p:nvPr/>
        </p:nvSpPr>
        <p:spPr>
          <a:xfrm>
            <a:off x="10405872" y="1097280"/>
            <a:ext cx="475488" cy="475488"/>
          </a:xfrm>
          <a:prstGeom prst="ellipse">
            <a:avLst/>
          </a:prstGeom>
          <a:solidFill>
            <a:srgbClr val="B02532"/>
          </a:solidFill>
          <a:ln w="12700">
            <a:solidFill>
              <a:srgbClr val="B02532"/>
            </a:solidFill>
            <a:prstDash val="solid"/>
          </a:ln>
        </p:spPr>
      </p:sp>
      <p:sp>
        <p:nvSpPr>
          <p:cNvPr id="11" name="Shape 9"/>
          <p:cNvSpPr/>
          <p:nvPr/>
        </p:nvSpPr>
        <p:spPr>
          <a:xfrm>
            <a:off x="11045952" y="1097280"/>
            <a:ext cx="475488" cy="475488"/>
          </a:xfrm>
          <a:prstGeom prst="ellipse">
            <a:avLst/>
          </a:prstGeom>
          <a:solidFill>
            <a:srgbClr val="B02532"/>
          </a:solidFill>
          <a:ln w="12700">
            <a:solidFill>
              <a:srgbClr val="B02532"/>
            </a:solidFill>
            <a:prstDash val="solid"/>
          </a:ln>
        </p:spPr>
      </p:sp>
      <p:sp>
        <p:nvSpPr>
          <p:cNvPr id="12" name="Shape 10"/>
          <p:cNvSpPr/>
          <p:nvPr/>
        </p:nvSpPr>
        <p:spPr>
          <a:xfrm>
            <a:off x="7845552" y="1737360"/>
            <a:ext cx="475488" cy="475488"/>
          </a:xfrm>
          <a:prstGeom prst="ellipse">
            <a:avLst/>
          </a:prstGeom>
          <a:solidFill>
            <a:srgbClr val="B02532"/>
          </a:solidFill>
          <a:ln w="12700">
            <a:solidFill>
              <a:srgbClr val="B02532"/>
            </a:solidFill>
            <a:prstDash val="solid"/>
          </a:ln>
        </p:spPr>
      </p:sp>
      <p:sp>
        <p:nvSpPr>
          <p:cNvPr id="13" name="Shape 11"/>
          <p:cNvSpPr/>
          <p:nvPr/>
        </p:nvSpPr>
        <p:spPr>
          <a:xfrm>
            <a:off x="8485632" y="1737360"/>
            <a:ext cx="475488" cy="475488"/>
          </a:xfrm>
          <a:prstGeom prst="ellipse">
            <a:avLst/>
          </a:prstGeom>
          <a:solidFill>
            <a:srgbClr val="B02532"/>
          </a:solidFill>
          <a:ln w="12700">
            <a:solidFill>
              <a:srgbClr val="B02532"/>
            </a:solidFill>
            <a:prstDash val="solid"/>
          </a:ln>
        </p:spPr>
      </p:sp>
      <p:sp>
        <p:nvSpPr>
          <p:cNvPr id="14" name="Shape 12"/>
          <p:cNvSpPr/>
          <p:nvPr/>
        </p:nvSpPr>
        <p:spPr>
          <a:xfrm>
            <a:off x="9125712" y="1737360"/>
            <a:ext cx="475488" cy="475488"/>
          </a:xfrm>
          <a:prstGeom prst="ellipse">
            <a:avLst/>
          </a:prstGeom>
          <a:solidFill>
            <a:srgbClr val="B02532"/>
          </a:solidFill>
          <a:ln w="12700">
            <a:solidFill>
              <a:srgbClr val="B02532"/>
            </a:solidFill>
            <a:prstDash val="solid"/>
          </a:ln>
        </p:spPr>
      </p:sp>
      <p:sp>
        <p:nvSpPr>
          <p:cNvPr id="15" name="Shape 13"/>
          <p:cNvSpPr/>
          <p:nvPr/>
        </p:nvSpPr>
        <p:spPr>
          <a:xfrm>
            <a:off x="9765792" y="1737360"/>
            <a:ext cx="475488" cy="475488"/>
          </a:xfrm>
          <a:prstGeom prst="ellipse">
            <a:avLst/>
          </a:prstGeom>
          <a:solidFill>
            <a:srgbClr val="B02532"/>
          </a:solidFill>
          <a:ln w="12700">
            <a:solidFill>
              <a:srgbClr val="B02532"/>
            </a:solidFill>
            <a:prstDash val="solid"/>
          </a:ln>
        </p:spPr>
      </p:sp>
      <p:sp>
        <p:nvSpPr>
          <p:cNvPr id="16" name="Shape 14"/>
          <p:cNvSpPr/>
          <p:nvPr/>
        </p:nvSpPr>
        <p:spPr>
          <a:xfrm>
            <a:off x="10405872" y="1737360"/>
            <a:ext cx="475488" cy="475488"/>
          </a:xfrm>
          <a:prstGeom prst="ellipse">
            <a:avLst/>
          </a:prstGeom>
          <a:solidFill>
            <a:srgbClr val="B02532"/>
          </a:solidFill>
          <a:ln w="12700">
            <a:solidFill>
              <a:srgbClr val="B02532"/>
            </a:solidFill>
            <a:prstDash val="solid"/>
          </a:ln>
        </p:spPr>
      </p:sp>
      <p:sp>
        <p:nvSpPr>
          <p:cNvPr id="17" name="Shape 15"/>
          <p:cNvSpPr/>
          <p:nvPr/>
        </p:nvSpPr>
        <p:spPr>
          <a:xfrm>
            <a:off x="11045952" y="1737360"/>
            <a:ext cx="475488" cy="475488"/>
          </a:xfrm>
          <a:prstGeom prst="ellipse">
            <a:avLst/>
          </a:prstGeom>
          <a:solidFill>
            <a:srgbClr val="B02532"/>
          </a:solidFill>
          <a:ln w="12700">
            <a:solidFill>
              <a:srgbClr val="B02532"/>
            </a:solidFill>
            <a:prstDash val="solid"/>
          </a:ln>
        </p:spPr>
      </p:sp>
      <p:sp>
        <p:nvSpPr>
          <p:cNvPr id="18" name="Shape 16"/>
          <p:cNvSpPr/>
          <p:nvPr/>
        </p:nvSpPr>
        <p:spPr>
          <a:xfrm>
            <a:off x="7845552" y="2377440"/>
            <a:ext cx="475488" cy="475488"/>
          </a:xfrm>
          <a:prstGeom prst="ellipse">
            <a:avLst/>
          </a:prstGeom>
          <a:solidFill>
            <a:srgbClr val="B02532"/>
          </a:solidFill>
          <a:ln w="12700">
            <a:solidFill>
              <a:srgbClr val="B02532"/>
            </a:solidFill>
            <a:prstDash val="solid"/>
          </a:ln>
        </p:spPr>
      </p:sp>
      <p:sp>
        <p:nvSpPr>
          <p:cNvPr id="19" name="Shape 17"/>
          <p:cNvSpPr/>
          <p:nvPr/>
        </p:nvSpPr>
        <p:spPr>
          <a:xfrm>
            <a:off x="8485632" y="2377440"/>
            <a:ext cx="475488" cy="475488"/>
          </a:xfrm>
          <a:prstGeom prst="ellipse">
            <a:avLst/>
          </a:prstGeom>
          <a:solidFill>
            <a:srgbClr val="B02532"/>
          </a:solidFill>
          <a:ln w="12700">
            <a:solidFill>
              <a:srgbClr val="B02532"/>
            </a:solidFill>
            <a:prstDash val="solid"/>
          </a:ln>
        </p:spPr>
      </p:sp>
      <p:sp>
        <p:nvSpPr>
          <p:cNvPr id="20" name="Shape 18"/>
          <p:cNvSpPr/>
          <p:nvPr/>
        </p:nvSpPr>
        <p:spPr>
          <a:xfrm>
            <a:off x="9125712" y="2377440"/>
            <a:ext cx="475488" cy="475488"/>
          </a:xfrm>
          <a:prstGeom prst="ellipse">
            <a:avLst/>
          </a:prstGeom>
          <a:solidFill>
            <a:srgbClr val="B02532"/>
          </a:solidFill>
          <a:ln w="12700">
            <a:solidFill>
              <a:srgbClr val="B02532"/>
            </a:solidFill>
            <a:prstDash val="solid"/>
          </a:ln>
        </p:spPr>
      </p:sp>
      <p:sp>
        <p:nvSpPr>
          <p:cNvPr id="21" name="Shape 19"/>
          <p:cNvSpPr/>
          <p:nvPr/>
        </p:nvSpPr>
        <p:spPr>
          <a:xfrm>
            <a:off x="9765792" y="2377440"/>
            <a:ext cx="475488" cy="475488"/>
          </a:xfrm>
          <a:prstGeom prst="ellipse">
            <a:avLst/>
          </a:prstGeom>
          <a:solidFill>
            <a:srgbClr val="B02532"/>
          </a:solidFill>
          <a:ln w="12700">
            <a:solidFill>
              <a:srgbClr val="B02532"/>
            </a:solidFill>
            <a:prstDash val="solid"/>
          </a:ln>
        </p:spPr>
      </p:sp>
      <p:sp>
        <p:nvSpPr>
          <p:cNvPr id="22" name="Shape 20"/>
          <p:cNvSpPr/>
          <p:nvPr/>
        </p:nvSpPr>
        <p:spPr>
          <a:xfrm>
            <a:off x="10405872" y="2377440"/>
            <a:ext cx="475488" cy="475488"/>
          </a:xfrm>
          <a:prstGeom prst="ellipse">
            <a:avLst/>
          </a:prstGeom>
          <a:solidFill>
            <a:srgbClr val="B02532"/>
          </a:solidFill>
          <a:ln w="12700">
            <a:solidFill>
              <a:srgbClr val="B02532"/>
            </a:solidFill>
            <a:prstDash val="solid"/>
          </a:ln>
        </p:spPr>
      </p:sp>
      <p:sp>
        <p:nvSpPr>
          <p:cNvPr id="23" name="Shape 21"/>
          <p:cNvSpPr/>
          <p:nvPr/>
        </p:nvSpPr>
        <p:spPr>
          <a:xfrm>
            <a:off x="11045952" y="2377440"/>
            <a:ext cx="475488" cy="475488"/>
          </a:xfrm>
          <a:prstGeom prst="ellipse">
            <a:avLst/>
          </a:prstGeom>
          <a:solidFill>
            <a:srgbClr val="B02532"/>
          </a:solidFill>
          <a:ln w="12700">
            <a:solidFill>
              <a:srgbClr val="B02532"/>
            </a:solidFill>
            <a:prstDash val="solid"/>
          </a:ln>
        </p:spPr>
      </p:sp>
      <p:sp>
        <p:nvSpPr>
          <p:cNvPr id="24" name="Shape 22"/>
          <p:cNvSpPr/>
          <p:nvPr/>
        </p:nvSpPr>
        <p:spPr>
          <a:xfrm>
            <a:off x="7845552" y="3017520"/>
            <a:ext cx="475488" cy="475488"/>
          </a:xfrm>
          <a:prstGeom prst="ellipse">
            <a:avLst/>
          </a:prstGeom>
          <a:solidFill>
            <a:srgbClr val="B02532"/>
          </a:solidFill>
          <a:ln w="12700">
            <a:solidFill>
              <a:srgbClr val="B02532"/>
            </a:solidFill>
            <a:prstDash val="solid"/>
          </a:ln>
        </p:spPr>
      </p:sp>
      <p:sp>
        <p:nvSpPr>
          <p:cNvPr id="25" name="Shape 23"/>
          <p:cNvSpPr/>
          <p:nvPr/>
        </p:nvSpPr>
        <p:spPr>
          <a:xfrm>
            <a:off x="8485632" y="3017520"/>
            <a:ext cx="475488" cy="475488"/>
          </a:xfrm>
          <a:prstGeom prst="ellipse">
            <a:avLst/>
          </a:prstGeom>
          <a:solidFill>
            <a:srgbClr val="B02532"/>
          </a:solidFill>
          <a:ln w="12700">
            <a:solidFill>
              <a:srgbClr val="B02532"/>
            </a:solidFill>
            <a:prstDash val="solid"/>
          </a:ln>
        </p:spPr>
      </p:sp>
      <p:sp>
        <p:nvSpPr>
          <p:cNvPr id="26" name="Shape 24"/>
          <p:cNvSpPr/>
          <p:nvPr/>
        </p:nvSpPr>
        <p:spPr>
          <a:xfrm>
            <a:off x="9125712" y="3017520"/>
            <a:ext cx="475488" cy="475488"/>
          </a:xfrm>
          <a:prstGeom prst="ellipse">
            <a:avLst/>
          </a:prstGeom>
          <a:solidFill>
            <a:srgbClr val="B02532"/>
          </a:solidFill>
          <a:ln w="12700">
            <a:solidFill>
              <a:srgbClr val="B02532"/>
            </a:solidFill>
            <a:prstDash val="solid"/>
          </a:ln>
        </p:spPr>
      </p:sp>
      <p:sp>
        <p:nvSpPr>
          <p:cNvPr id="27" name="Shape 25"/>
          <p:cNvSpPr/>
          <p:nvPr/>
        </p:nvSpPr>
        <p:spPr>
          <a:xfrm>
            <a:off x="9765792" y="3017520"/>
            <a:ext cx="475488" cy="475488"/>
          </a:xfrm>
          <a:prstGeom prst="ellipse">
            <a:avLst/>
          </a:prstGeom>
          <a:solidFill>
            <a:srgbClr val="B02532"/>
          </a:solidFill>
          <a:ln w="12700">
            <a:solidFill>
              <a:srgbClr val="B02532"/>
            </a:solidFill>
            <a:prstDash val="solid"/>
          </a:ln>
        </p:spPr>
      </p:sp>
      <p:sp>
        <p:nvSpPr>
          <p:cNvPr id="28" name="Shape 26"/>
          <p:cNvSpPr/>
          <p:nvPr/>
        </p:nvSpPr>
        <p:spPr>
          <a:xfrm>
            <a:off x="10405872" y="3017520"/>
            <a:ext cx="475488" cy="475488"/>
          </a:xfrm>
          <a:prstGeom prst="ellipse">
            <a:avLst/>
          </a:prstGeom>
          <a:solidFill>
            <a:srgbClr val="B02532"/>
          </a:solidFill>
          <a:ln w="12700">
            <a:solidFill>
              <a:srgbClr val="B02532"/>
            </a:solidFill>
            <a:prstDash val="solid"/>
          </a:ln>
        </p:spPr>
      </p:sp>
      <p:sp>
        <p:nvSpPr>
          <p:cNvPr id="29" name="Shape 27"/>
          <p:cNvSpPr/>
          <p:nvPr/>
        </p:nvSpPr>
        <p:spPr>
          <a:xfrm>
            <a:off x="11045952" y="3017520"/>
            <a:ext cx="475488" cy="475488"/>
          </a:xfrm>
          <a:prstGeom prst="ellipse">
            <a:avLst/>
          </a:prstGeom>
          <a:solidFill>
            <a:srgbClr val="B02532"/>
          </a:solidFill>
          <a:ln w="12700">
            <a:solidFill>
              <a:srgbClr val="B02532"/>
            </a:solidFill>
            <a:prstDash val="solid"/>
          </a:ln>
        </p:spPr>
      </p:sp>
      <p:sp>
        <p:nvSpPr>
          <p:cNvPr id="30" name="Shape 28"/>
          <p:cNvSpPr/>
          <p:nvPr/>
        </p:nvSpPr>
        <p:spPr>
          <a:xfrm>
            <a:off x="7845552" y="3657600"/>
            <a:ext cx="475488" cy="475488"/>
          </a:xfrm>
          <a:prstGeom prst="ellipse">
            <a:avLst/>
          </a:prstGeom>
          <a:solidFill>
            <a:srgbClr val="B02532"/>
          </a:solidFill>
          <a:ln w="12700">
            <a:solidFill>
              <a:srgbClr val="B02532"/>
            </a:solidFill>
            <a:prstDash val="solid"/>
          </a:ln>
        </p:spPr>
      </p:sp>
      <p:sp>
        <p:nvSpPr>
          <p:cNvPr id="31" name="Shape 29"/>
          <p:cNvSpPr/>
          <p:nvPr/>
        </p:nvSpPr>
        <p:spPr>
          <a:xfrm>
            <a:off x="8485632" y="3657600"/>
            <a:ext cx="475488" cy="475488"/>
          </a:xfrm>
          <a:prstGeom prst="ellipse">
            <a:avLst/>
          </a:prstGeom>
          <a:solidFill>
            <a:srgbClr val="B02532"/>
          </a:solidFill>
          <a:ln w="12700">
            <a:solidFill>
              <a:srgbClr val="B02532"/>
            </a:solidFill>
            <a:prstDash val="solid"/>
          </a:ln>
        </p:spPr>
      </p:sp>
      <p:sp>
        <p:nvSpPr>
          <p:cNvPr id="32" name="Shape 30"/>
          <p:cNvSpPr/>
          <p:nvPr/>
        </p:nvSpPr>
        <p:spPr>
          <a:xfrm>
            <a:off x="9125712" y="3657600"/>
            <a:ext cx="475488" cy="475488"/>
          </a:xfrm>
          <a:prstGeom prst="ellipse">
            <a:avLst/>
          </a:prstGeom>
          <a:solidFill>
            <a:srgbClr val="B02532"/>
          </a:solidFill>
          <a:ln w="12700">
            <a:solidFill>
              <a:srgbClr val="B02532"/>
            </a:solidFill>
            <a:prstDash val="solid"/>
          </a:ln>
        </p:spPr>
      </p:sp>
      <p:sp>
        <p:nvSpPr>
          <p:cNvPr id="33" name="Shape 31"/>
          <p:cNvSpPr/>
          <p:nvPr/>
        </p:nvSpPr>
        <p:spPr>
          <a:xfrm>
            <a:off x="9765792" y="3657600"/>
            <a:ext cx="475488" cy="475488"/>
          </a:xfrm>
          <a:prstGeom prst="ellipse">
            <a:avLst/>
          </a:prstGeom>
          <a:solidFill>
            <a:srgbClr val="B02532"/>
          </a:solidFill>
          <a:ln w="12700">
            <a:solidFill>
              <a:srgbClr val="B02532"/>
            </a:solidFill>
            <a:prstDash val="solid"/>
          </a:ln>
        </p:spPr>
      </p:sp>
      <p:sp>
        <p:nvSpPr>
          <p:cNvPr id="34" name="Shape 32"/>
          <p:cNvSpPr/>
          <p:nvPr/>
        </p:nvSpPr>
        <p:spPr>
          <a:xfrm>
            <a:off x="10405872" y="3657600"/>
            <a:ext cx="475488" cy="475488"/>
          </a:xfrm>
          <a:prstGeom prst="ellipse">
            <a:avLst/>
          </a:prstGeom>
          <a:solidFill>
            <a:srgbClr val="B02532"/>
          </a:solidFill>
          <a:ln w="12700">
            <a:solidFill>
              <a:srgbClr val="B02532"/>
            </a:solidFill>
            <a:prstDash val="solid"/>
          </a:ln>
        </p:spPr>
      </p:sp>
      <p:sp>
        <p:nvSpPr>
          <p:cNvPr id="35" name="Shape 33"/>
          <p:cNvSpPr/>
          <p:nvPr/>
        </p:nvSpPr>
        <p:spPr>
          <a:xfrm>
            <a:off x="11045952" y="3657600"/>
            <a:ext cx="475488" cy="475488"/>
          </a:xfrm>
          <a:prstGeom prst="ellipse">
            <a:avLst/>
          </a:prstGeom>
          <a:solidFill>
            <a:srgbClr val="B02532"/>
          </a:solidFill>
          <a:ln w="12700">
            <a:solidFill>
              <a:srgbClr val="B02532"/>
            </a:solidFill>
            <a:prstDash val="solid"/>
          </a:ln>
        </p:spPr>
      </p:sp>
      <p:sp>
        <p:nvSpPr>
          <p:cNvPr id="36" name="Shape 34"/>
          <p:cNvSpPr/>
          <p:nvPr/>
        </p:nvSpPr>
        <p:spPr>
          <a:xfrm>
            <a:off x="7845552" y="4297680"/>
            <a:ext cx="475488" cy="475488"/>
          </a:xfrm>
          <a:prstGeom prst="ellipse">
            <a:avLst/>
          </a:prstGeom>
          <a:solidFill>
            <a:srgbClr val="B02532"/>
          </a:solidFill>
          <a:ln w="12700">
            <a:solidFill>
              <a:srgbClr val="B02532"/>
            </a:solidFill>
            <a:prstDash val="solid"/>
          </a:ln>
        </p:spPr>
      </p:sp>
      <p:sp>
        <p:nvSpPr>
          <p:cNvPr id="37" name="Shape 35"/>
          <p:cNvSpPr/>
          <p:nvPr/>
        </p:nvSpPr>
        <p:spPr>
          <a:xfrm>
            <a:off x="8485632" y="4297680"/>
            <a:ext cx="475488" cy="475488"/>
          </a:xfrm>
          <a:prstGeom prst="ellipse">
            <a:avLst/>
          </a:prstGeom>
          <a:solidFill>
            <a:srgbClr val="B02532"/>
          </a:solidFill>
          <a:ln w="12700">
            <a:solidFill>
              <a:srgbClr val="B02532"/>
            </a:solidFill>
            <a:prstDash val="solid"/>
          </a:ln>
        </p:spPr>
      </p:sp>
      <p:sp>
        <p:nvSpPr>
          <p:cNvPr id="38" name="Shape 36"/>
          <p:cNvSpPr/>
          <p:nvPr/>
        </p:nvSpPr>
        <p:spPr>
          <a:xfrm>
            <a:off x="9125712" y="4297680"/>
            <a:ext cx="475488" cy="475488"/>
          </a:xfrm>
          <a:prstGeom prst="ellipse">
            <a:avLst/>
          </a:prstGeom>
          <a:solidFill>
            <a:srgbClr val="B02532"/>
          </a:solidFill>
          <a:ln w="12700">
            <a:solidFill>
              <a:srgbClr val="B02532"/>
            </a:solidFill>
            <a:prstDash val="solid"/>
          </a:ln>
        </p:spPr>
      </p:sp>
      <p:sp>
        <p:nvSpPr>
          <p:cNvPr id="39" name="Shape 37"/>
          <p:cNvSpPr/>
          <p:nvPr/>
        </p:nvSpPr>
        <p:spPr>
          <a:xfrm>
            <a:off x="9765792" y="4297680"/>
            <a:ext cx="475488" cy="475488"/>
          </a:xfrm>
          <a:prstGeom prst="ellipse">
            <a:avLst/>
          </a:prstGeom>
          <a:solidFill>
            <a:srgbClr val="B02532"/>
          </a:solidFill>
          <a:ln w="12700">
            <a:solidFill>
              <a:srgbClr val="B02532"/>
            </a:solidFill>
            <a:prstDash val="solid"/>
          </a:ln>
        </p:spPr>
      </p:sp>
      <p:sp>
        <p:nvSpPr>
          <p:cNvPr id="40" name="Shape 38"/>
          <p:cNvSpPr/>
          <p:nvPr/>
        </p:nvSpPr>
        <p:spPr>
          <a:xfrm>
            <a:off x="10405872" y="4297680"/>
            <a:ext cx="475488" cy="475488"/>
          </a:xfrm>
          <a:prstGeom prst="ellipse">
            <a:avLst/>
          </a:prstGeom>
          <a:solidFill>
            <a:srgbClr val="B02532"/>
          </a:solidFill>
          <a:ln w="12700">
            <a:solidFill>
              <a:srgbClr val="B02532"/>
            </a:solidFill>
            <a:prstDash val="solid"/>
          </a:ln>
        </p:spPr>
      </p:sp>
      <p:sp>
        <p:nvSpPr>
          <p:cNvPr id="41" name="Shape 39"/>
          <p:cNvSpPr/>
          <p:nvPr/>
        </p:nvSpPr>
        <p:spPr>
          <a:xfrm>
            <a:off x="11045952" y="4297680"/>
            <a:ext cx="475488" cy="475488"/>
          </a:xfrm>
          <a:prstGeom prst="ellipse">
            <a:avLst/>
          </a:prstGeom>
          <a:solidFill>
            <a:srgbClr val="B02532"/>
          </a:solidFill>
          <a:ln w="12700">
            <a:solidFill>
              <a:srgbClr val="B02532"/>
            </a:solidFill>
            <a:prstDash val="solid"/>
          </a:ln>
        </p:spPr>
      </p:sp>
      <p:sp>
        <p:nvSpPr>
          <p:cNvPr id="42" name="Text 4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Mitchell și colab., sinteză sistematică, 2021 (registru A702).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SINTEZA MITCHELL · STUDIILE</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5 din 6</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studii: în toate analizele lor, plățile au mers împreună cu mai multe prescrieri</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În restul studiilor, rezultatele au fost amestecate. Niciun studiu nu a găsit numai rezultate nule, adică nicio legătură.</a:t>
            </a:r>
            <a:endParaRPr lang="en-US" sz="1700" dirty="0"/>
          </a:p>
        </p:txBody>
      </p:sp>
      <p:sp>
        <p:nvSpPr>
          <p:cNvPr id="6" name="Shape 4"/>
          <p:cNvSpPr/>
          <p:nvPr/>
        </p:nvSpPr>
        <p:spPr>
          <a:xfrm>
            <a:off x="8001000" y="1463040"/>
            <a:ext cx="960120" cy="960120"/>
          </a:xfrm>
          <a:prstGeom prst="ellipse">
            <a:avLst/>
          </a:prstGeom>
          <a:solidFill>
            <a:srgbClr val="FF4757"/>
          </a:solidFill>
          <a:ln w="12700">
            <a:solidFill>
              <a:srgbClr val="FF4757"/>
            </a:solidFill>
            <a:prstDash val="solid"/>
          </a:ln>
        </p:spPr>
      </p:sp>
      <p:sp>
        <p:nvSpPr>
          <p:cNvPr id="7" name="Shape 5"/>
          <p:cNvSpPr/>
          <p:nvPr/>
        </p:nvSpPr>
        <p:spPr>
          <a:xfrm>
            <a:off x="9281160" y="1463040"/>
            <a:ext cx="960120" cy="960120"/>
          </a:xfrm>
          <a:prstGeom prst="ellipse">
            <a:avLst/>
          </a:prstGeom>
          <a:solidFill>
            <a:srgbClr val="FF4757"/>
          </a:solidFill>
          <a:ln w="12700">
            <a:solidFill>
              <a:srgbClr val="FF4757"/>
            </a:solidFill>
            <a:prstDash val="solid"/>
          </a:ln>
        </p:spPr>
      </p:sp>
      <p:sp>
        <p:nvSpPr>
          <p:cNvPr id="8" name="Shape 6"/>
          <p:cNvSpPr/>
          <p:nvPr/>
        </p:nvSpPr>
        <p:spPr>
          <a:xfrm>
            <a:off x="10561320" y="1463040"/>
            <a:ext cx="960120" cy="960120"/>
          </a:xfrm>
          <a:prstGeom prst="ellipse">
            <a:avLst/>
          </a:prstGeom>
          <a:solidFill>
            <a:srgbClr val="FF4757"/>
          </a:solidFill>
          <a:ln w="12700">
            <a:solidFill>
              <a:srgbClr val="FF4757"/>
            </a:solidFill>
            <a:prstDash val="solid"/>
          </a:ln>
        </p:spPr>
      </p:sp>
      <p:sp>
        <p:nvSpPr>
          <p:cNvPr id="9" name="Shape 7"/>
          <p:cNvSpPr/>
          <p:nvPr/>
        </p:nvSpPr>
        <p:spPr>
          <a:xfrm>
            <a:off x="8001000" y="2743200"/>
            <a:ext cx="960120" cy="960120"/>
          </a:xfrm>
          <a:prstGeom prst="ellipse">
            <a:avLst/>
          </a:prstGeom>
          <a:solidFill>
            <a:srgbClr val="FF4757"/>
          </a:solidFill>
          <a:ln w="12700">
            <a:solidFill>
              <a:srgbClr val="FF4757"/>
            </a:solidFill>
            <a:prstDash val="solid"/>
          </a:ln>
        </p:spPr>
      </p:sp>
      <p:sp>
        <p:nvSpPr>
          <p:cNvPr id="10" name="Shape 8"/>
          <p:cNvSpPr/>
          <p:nvPr/>
        </p:nvSpPr>
        <p:spPr>
          <a:xfrm>
            <a:off x="9281160" y="2743200"/>
            <a:ext cx="960120" cy="960120"/>
          </a:xfrm>
          <a:prstGeom prst="ellipse">
            <a:avLst/>
          </a:prstGeom>
          <a:solidFill>
            <a:srgbClr val="FF4757"/>
          </a:solidFill>
          <a:ln w="12700">
            <a:solidFill>
              <a:srgbClr val="FF4757"/>
            </a:solidFill>
            <a:prstDash val="solid"/>
          </a:ln>
        </p:spPr>
      </p:sp>
      <p:sp>
        <p:nvSpPr>
          <p:cNvPr id="11" name="Shape 9"/>
          <p:cNvSpPr/>
          <p:nvPr/>
        </p:nvSpPr>
        <p:spPr>
          <a:xfrm>
            <a:off x="10561320" y="2743200"/>
            <a:ext cx="960120" cy="960120"/>
          </a:xfrm>
          <a:prstGeom prst="ellipse">
            <a:avLst/>
          </a:prstGeom>
          <a:solidFill>
            <a:srgbClr val="272A38"/>
          </a:solidFill>
          <a:ln w="12700">
            <a:solidFill>
              <a:srgbClr val="272A38"/>
            </a:solidFill>
            <a:prstDash val="solid"/>
          </a:ln>
        </p:spPr>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Mitchell și colab., 2021 (registru A702).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SINTEZA MITCHELL · ANALIZELE</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6600" b="1" dirty="0">
                <a:solidFill>
                  <a:srgbClr val="B02532"/>
                </a:solidFill>
                <a:latin typeface="Palatino Linotype" pitchFamily="34" charset="0"/>
                <a:ea typeface="Palatino Linotype" pitchFamily="34" charset="-122"/>
                <a:cs typeface="Palatino Linotype" pitchFamily="34" charset="-120"/>
              </a:rPr>
              <a:t>aproape 9 din 10</a:t>
            </a:r>
            <a:endParaRPr lang="en-US" sz="6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analize au găsit aceeași legătură</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3A3C44"/>
                </a:solidFill>
                <a:latin typeface="Palatino Linotype" pitchFamily="34" charset="0"/>
                <a:ea typeface="Palatino Linotype" pitchFamily="34" charset="-122"/>
                <a:cs typeface="Palatino Linotype" pitchFamily="34" charset="-120"/>
              </a:rPr>
              <a:t>Un studiu poate face mai multe analize; cele 36 de studii au avut împreună 101. Plățile au mers împreună cu mai multe prescrieri ale medicamentelor firmei care plătea, cu costuri mai mari și cu mai multe medicamente de marcă.</a:t>
            </a:r>
            <a:endParaRPr lang="en-US" sz="1700" dirty="0"/>
          </a:p>
        </p:txBody>
      </p:sp>
      <p:sp>
        <p:nvSpPr>
          <p:cNvPr id="6" name="Shape 4"/>
          <p:cNvSpPr/>
          <p:nvPr/>
        </p:nvSpPr>
        <p:spPr>
          <a:xfrm>
            <a:off x="7589520" y="1920240"/>
            <a:ext cx="640080" cy="640080"/>
          </a:xfrm>
          <a:prstGeom prst="ellipse">
            <a:avLst/>
          </a:prstGeom>
          <a:solidFill>
            <a:srgbClr val="B02532"/>
          </a:solidFill>
          <a:ln w="12700">
            <a:solidFill>
              <a:srgbClr val="B02532"/>
            </a:solidFill>
            <a:prstDash val="solid"/>
          </a:ln>
        </p:spPr>
      </p:sp>
      <p:sp>
        <p:nvSpPr>
          <p:cNvPr id="7" name="Shape 5"/>
          <p:cNvSpPr/>
          <p:nvPr/>
        </p:nvSpPr>
        <p:spPr>
          <a:xfrm>
            <a:off x="8412480" y="1920240"/>
            <a:ext cx="640080" cy="640080"/>
          </a:xfrm>
          <a:prstGeom prst="ellipse">
            <a:avLst/>
          </a:prstGeom>
          <a:solidFill>
            <a:srgbClr val="B02532"/>
          </a:solidFill>
          <a:ln w="12700">
            <a:solidFill>
              <a:srgbClr val="B02532"/>
            </a:solidFill>
            <a:prstDash val="solid"/>
          </a:ln>
        </p:spPr>
      </p:sp>
      <p:sp>
        <p:nvSpPr>
          <p:cNvPr id="8" name="Shape 6"/>
          <p:cNvSpPr/>
          <p:nvPr/>
        </p:nvSpPr>
        <p:spPr>
          <a:xfrm>
            <a:off x="9235440" y="1920240"/>
            <a:ext cx="640080" cy="640080"/>
          </a:xfrm>
          <a:prstGeom prst="ellipse">
            <a:avLst/>
          </a:prstGeom>
          <a:solidFill>
            <a:srgbClr val="B02532"/>
          </a:solidFill>
          <a:ln w="12700">
            <a:solidFill>
              <a:srgbClr val="B02532"/>
            </a:solidFill>
            <a:prstDash val="solid"/>
          </a:ln>
        </p:spPr>
      </p:sp>
      <p:sp>
        <p:nvSpPr>
          <p:cNvPr id="9" name="Shape 7"/>
          <p:cNvSpPr/>
          <p:nvPr/>
        </p:nvSpPr>
        <p:spPr>
          <a:xfrm>
            <a:off x="10058400" y="1920240"/>
            <a:ext cx="640080" cy="640080"/>
          </a:xfrm>
          <a:prstGeom prst="ellipse">
            <a:avLst/>
          </a:prstGeom>
          <a:solidFill>
            <a:srgbClr val="B02532"/>
          </a:solidFill>
          <a:ln w="12700">
            <a:solidFill>
              <a:srgbClr val="B02532"/>
            </a:solidFill>
            <a:prstDash val="solid"/>
          </a:ln>
        </p:spPr>
      </p:sp>
      <p:sp>
        <p:nvSpPr>
          <p:cNvPr id="10" name="Shape 8"/>
          <p:cNvSpPr/>
          <p:nvPr/>
        </p:nvSpPr>
        <p:spPr>
          <a:xfrm>
            <a:off x="10881360" y="1920240"/>
            <a:ext cx="640080" cy="640080"/>
          </a:xfrm>
          <a:prstGeom prst="ellipse">
            <a:avLst/>
          </a:prstGeom>
          <a:solidFill>
            <a:srgbClr val="B02532"/>
          </a:solidFill>
          <a:ln w="12700">
            <a:solidFill>
              <a:srgbClr val="B02532"/>
            </a:solidFill>
            <a:prstDash val="solid"/>
          </a:ln>
        </p:spPr>
      </p:sp>
      <p:sp>
        <p:nvSpPr>
          <p:cNvPr id="11" name="Shape 9"/>
          <p:cNvSpPr/>
          <p:nvPr/>
        </p:nvSpPr>
        <p:spPr>
          <a:xfrm>
            <a:off x="7589520" y="2743200"/>
            <a:ext cx="640080" cy="640080"/>
          </a:xfrm>
          <a:prstGeom prst="ellipse">
            <a:avLst/>
          </a:prstGeom>
          <a:solidFill>
            <a:srgbClr val="B02532"/>
          </a:solidFill>
          <a:ln w="12700">
            <a:solidFill>
              <a:srgbClr val="B02532"/>
            </a:solidFill>
            <a:prstDash val="solid"/>
          </a:ln>
        </p:spPr>
      </p:sp>
      <p:sp>
        <p:nvSpPr>
          <p:cNvPr id="12" name="Shape 10"/>
          <p:cNvSpPr/>
          <p:nvPr/>
        </p:nvSpPr>
        <p:spPr>
          <a:xfrm>
            <a:off x="8412480" y="2743200"/>
            <a:ext cx="640080" cy="640080"/>
          </a:xfrm>
          <a:prstGeom prst="ellipse">
            <a:avLst/>
          </a:prstGeom>
          <a:solidFill>
            <a:srgbClr val="B02532"/>
          </a:solidFill>
          <a:ln w="12700">
            <a:solidFill>
              <a:srgbClr val="B02532"/>
            </a:solidFill>
            <a:prstDash val="solid"/>
          </a:ln>
        </p:spPr>
      </p:sp>
      <p:sp>
        <p:nvSpPr>
          <p:cNvPr id="13" name="Shape 11"/>
          <p:cNvSpPr/>
          <p:nvPr/>
        </p:nvSpPr>
        <p:spPr>
          <a:xfrm>
            <a:off x="9235440" y="2743200"/>
            <a:ext cx="640080" cy="640080"/>
          </a:xfrm>
          <a:prstGeom prst="ellipse">
            <a:avLst/>
          </a:prstGeom>
          <a:solidFill>
            <a:srgbClr val="B02532"/>
          </a:solidFill>
          <a:ln w="12700">
            <a:solidFill>
              <a:srgbClr val="B02532"/>
            </a:solidFill>
            <a:prstDash val="solid"/>
          </a:ln>
        </p:spPr>
      </p:sp>
      <p:sp>
        <p:nvSpPr>
          <p:cNvPr id="14" name="Shape 12"/>
          <p:cNvSpPr/>
          <p:nvPr/>
        </p:nvSpPr>
        <p:spPr>
          <a:xfrm>
            <a:off x="10058400" y="2743200"/>
            <a:ext cx="640080" cy="640080"/>
          </a:xfrm>
          <a:prstGeom prst="ellipse">
            <a:avLst/>
          </a:prstGeom>
          <a:solidFill>
            <a:srgbClr val="B02532"/>
          </a:solidFill>
          <a:ln w="12700">
            <a:solidFill>
              <a:srgbClr val="B02532"/>
            </a:solidFill>
            <a:prstDash val="solid"/>
          </a:ln>
        </p:spPr>
      </p:sp>
      <p:sp>
        <p:nvSpPr>
          <p:cNvPr id="15" name="Shape 13"/>
          <p:cNvSpPr/>
          <p:nvPr/>
        </p:nvSpPr>
        <p:spPr>
          <a:xfrm>
            <a:off x="10881360" y="2743200"/>
            <a:ext cx="640080" cy="640080"/>
          </a:xfrm>
          <a:prstGeom prst="ellipse">
            <a:avLst/>
          </a:prstGeom>
          <a:solidFill>
            <a:srgbClr val="DCD8CF"/>
          </a:solidFill>
          <a:ln w="12700">
            <a:solidFill>
              <a:srgbClr val="DCD8CF"/>
            </a:solidFill>
            <a:prstDash val="solid"/>
          </a:ln>
        </p:spPr>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Mitchell și colab., 2021 (registru A703).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LIMITA, SPUSĂ DE FIECARE DATĂ</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6000" b="1" dirty="0">
                <a:solidFill>
                  <a:srgbClr val="FFC24B"/>
                </a:solidFill>
                <a:latin typeface="Palatino Linotype" pitchFamily="34" charset="0"/>
                <a:ea typeface="Palatino Linotype" pitchFamily="34" charset="-122"/>
                <a:cs typeface="Palatino Linotype" pitchFamily="34" charset="-120"/>
              </a:rPr>
              <a:t>peste jumătate</a:t>
            </a:r>
            <a:endParaRPr lang="en-US" sz="60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dintre studii au avut un risc serios de eroare sistematică</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Eroare sistematică: un mod de lucru care poate deforma rezultatul într-o anumită direcție. Toate studiile au fost observaționale, iar cele cu rezultate nule ar fi putut fi publicate mai rar. Când citați cifra, spuneți și limita.</a:t>
            </a:r>
            <a:endParaRPr lang="en-US" sz="1700" dirty="0"/>
          </a:p>
        </p:txBody>
      </p:sp>
      <p:sp>
        <p:nvSpPr>
          <p:cNvPr id="6" name="Shape 4"/>
          <p:cNvSpPr/>
          <p:nvPr/>
        </p:nvSpPr>
        <p:spPr>
          <a:xfrm>
            <a:off x="7845552" y="1097280"/>
            <a:ext cx="475488" cy="475488"/>
          </a:xfrm>
          <a:prstGeom prst="ellipse">
            <a:avLst/>
          </a:prstGeom>
          <a:solidFill>
            <a:srgbClr val="FFC24B"/>
          </a:solidFill>
          <a:ln w="12700">
            <a:solidFill>
              <a:srgbClr val="FFC24B"/>
            </a:solidFill>
            <a:prstDash val="solid"/>
          </a:ln>
        </p:spPr>
      </p:sp>
      <p:sp>
        <p:nvSpPr>
          <p:cNvPr id="7" name="Shape 5"/>
          <p:cNvSpPr/>
          <p:nvPr/>
        </p:nvSpPr>
        <p:spPr>
          <a:xfrm>
            <a:off x="8485632" y="1097280"/>
            <a:ext cx="475488" cy="475488"/>
          </a:xfrm>
          <a:prstGeom prst="ellipse">
            <a:avLst/>
          </a:prstGeom>
          <a:solidFill>
            <a:srgbClr val="FFC24B"/>
          </a:solidFill>
          <a:ln w="12700">
            <a:solidFill>
              <a:srgbClr val="FFC24B"/>
            </a:solidFill>
            <a:prstDash val="solid"/>
          </a:ln>
        </p:spPr>
      </p:sp>
      <p:sp>
        <p:nvSpPr>
          <p:cNvPr id="8" name="Shape 6"/>
          <p:cNvSpPr/>
          <p:nvPr/>
        </p:nvSpPr>
        <p:spPr>
          <a:xfrm>
            <a:off x="9125712" y="1097280"/>
            <a:ext cx="475488" cy="475488"/>
          </a:xfrm>
          <a:prstGeom prst="ellipse">
            <a:avLst/>
          </a:prstGeom>
          <a:solidFill>
            <a:srgbClr val="FFC24B"/>
          </a:solidFill>
          <a:ln w="12700">
            <a:solidFill>
              <a:srgbClr val="FFC24B"/>
            </a:solidFill>
            <a:prstDash val="solid"/>
          </a:ln>
        </p:spPr>
      </p:sp>
      <p:sp>
        <p:nvSpPr>
          <p:cNvPr id="9" name="Shape 7"/>
          <p:cNvSpPr/>
          <p:nvPr/>
        </p:nvSpPr>
        <p:spPr>
          <a:xfrm>
            <a:off x="9765792" y="1097280"/>
            <a:ext cx="475488" cy="475488"/>
          </a:xfrm>
          <a:prstGeom prst="ellipse">
            <a:avLst/>
          </a:prstGeom>
          <a:solidFill>
            <a:srgbClr val="FFC24B"/>
          </a:solidFill>
          <a:ln w="12700">
            <a:solidFill>
              <a:srgbClr val="FFC24B"/>
            </a:solidFill>
            <a:prstDash val="solid"/>
          </a:ln>
        </p:spPr>
      </p:sp>
      <p:sp>
        <p:nvSpPr>
          <p:cNvPr id="10" name="Shape 8"/>
          <p:cNvSpPr/>
          <p:nvPr/>
        </p:nvSpPr>
        <p:spPr>
          <a:xfrm>
            <a:off x="10405872" y="1097280"/>
            <a:ext cx="475488" cy="475488"/>
          </a:xfrm>
          <a:prstGeom prst="ellipse">
            <a:avLst/>
          </a:prstGeom>
          <a:solidFill>
            <a:srgbClr val="FFC24B"/>
          </a:solidFill>
          <a:ln w="12700">
            <a:solidFill>
              <a:srgbClr val="FFC24B"/>
            </a:solidFill>
            <a:prstDash val="solid"/>
          </a:ln>
        </p:spPr>
      </p:sp>
      <p:sp>
        <p:nvSpPr>
          <p:cNvPr id="11" name="Shape 9"/>
          <p:cNvSpPr/>
          <p:nvPr/>
        </p:nvSpPr>
        <p:spPr>
          <a:xfrm>
            <a:off x="11045952" y="1097280"/>
            <a:ext cx="475488" cy="475488"/>
          </a:xfrm>
          <a:prstGeom prst="ellipse">
            <a:avLst/>
          </a:prstGeom>
          <a:solidFill>
            <a:srgbClr val="FFC24B"/>
          </a:solidFill>
          <a:ln w="12700">
            <a:solidFill>
              <a:srgbClr val="FFC24B"/>
            </a:solidFill>
            <a:prstDash val="solid"/>
          </a:ln>
        </p:spPr>
      </p:sp>
      <p:sp>
        <p:nvSpPr>
          <p:cNvPr id="12" name="Shape 10"/>
          <p:cNvSpPr/>
          <p:nvPr/>
        </p:nvSpPr>
        <p:spPr>
          <a:xfrm>
            <a:off x="7845552" y="1737360"/>
            <a:ext cx="475488" cy="475488"/>
          </a:xfrm>
          <a:prstGeom prst="ellipse">
            <a:avLst/>
          </a:prstGeom>
          <a:solidFill>
            <a:srgbClr val="FFC24B"/>
          </a:solidFill>
          <a:ln w="12700">
            <a:solidFill>
              <a:srgbClr val="FFC24B"/>
            </a:solidFill>
            <a:prstDash val="solid"/>
          </a:ln>
        </p:spPr>
      </p:sp>
      <p:sp>
        <p:nvSpPr>
          <p:cNvPr id="13" name="Shape 11"/>
          <p:cNvSpPr/>
          <p:nvPr/>
        </p:nvSpPr>
        <p:spPr>
          <a:xfrm>
            <a:off x="8485632" y="1737360"/>
            <a:ext cx="475488" cy="475488"/>
          </a:xfrm>
          <a:prstGeom prst="ellipse">
            <a:avLst/>
          </a:prstGeom>
          <a:solidFill>
            <a:srgbClr val="FFC24B"/>
          </a:solidFill>
          <a:ln w="12700">
            <a:solidFill>
              <a:srgbClr val="FFC24B"/>
            </a:solidFill>
            <a:prstDash val="solid"/>
          </a:ln>
        </p:spPr>
      </p:sp>
      <p:sp>
        <p:nvSpPr>
          <p:cNvPr id="14" name="Shape 12"/>
          <p:cNvSpPr/>
          <p:nvPr/>
        </p:nvSpPr>
        <p:spPr>
          <a:xfrm>
            <a:off x="9125712" y="1737360"/>
            <a:ext cx="475488" cy="475488"/>
          </a:xfrm>
          <a:prstGeom prst="ellipse">
            <a:avLst/>
          </a:prstGeom>
          <a:solidFill>
            <a:srgbClr val="FFC24B"/>
          </a:solidFill>
          <a:ln w="12700">
            <a:solidFill>
              <a:srgbClr val="FFC24B"/>
            </a:solidFill>
            <a:prstDash val="solid"/>
          </a:ln>
        </p:spPr>
      </p:sp>
      <p:sp>
        <p:nvSpPr>
          <p:cNvPr id="15" name="Shape 13"/>
          <p:cNvSpPr/>
          <p:nvPr/>
        </p:nvSpPr>
        <p:spPr>
          <a:xfrm>
            <a:off x="9765792" y="1737360"/>
            <a:ext cx="475488" cy="475488"/>
          </a:xfrm>
          <a:prstGeom prst="ellipse">
            <a:avLst/>
          </a:prstGeom>
          <a:solidFill>
            <a:srgbClr val="FFC24B"/>
          </a:solidFill>
          <a:ln w="12700">
            <a:solidFill>
              <a:srgbClr val="FFC24B"/>
            </a:solidFill>
            <a:prstDash val="solid"/>
          </a:ln>
        </p:spPr>
      </p:sp>
      <p:sp>
        <p:nvSpPr>
          <p:cNvPr id="16" name="Shape 14"/>
          <p:cNvSpPr/>
          <p:nvPr/>
        </p:nvSpPr>
        <p:spPr>
          <a:xfrm>
            <a:off x="10405872" y="1737360"/>
            <a:ext cx="475488" cy="475488"/>
          </a:xfrm>
          <a:prstGeom prst="ellipse">
            <a:avLst/>
          </a:prstGeom>
          <a:solidFill>
            <a:srgbClr val="FFC24B"/>
          </a:solidFill>
          <a:ln w="12700">
            <a:solidFill>
              <a:srgbClr val="FFC24B"/>
            </a:solidFill>
            <a:prstDash val="solid"/>
          </a:ln>
        </p:spPr>
      </p:sp>
      <p:sp>
        <p:nvSpPr>
          <p:cNvPr id="17" name="Shape 15"/>
          <p:cNvSpPr/>
          <p:nvPr/>
        </p:nvSpPr>
        <p:spPr>
          <a:xfrm>
            <a:off x="11045952" y="1737360"/>
            <a:ext cx="475488" cy="475488"/>
          </a:xfrm>
          <a:prstGeom prst="ellipse">
            <a:avLst/>
          </a:prstGeom>
          <a:solidFill>
            <a:srgbClr val="FFC24B"/>
          </a:solidFill>
          <a:ln w="12700">
            <a:solidFill>
              <a:srgbClr val="FFC24B"/>
            </a:solidFill>
            <a:prstDash val="solid"/>
          </a:ln>
        </p:spPr>
      </p:sp>
      <p:sp>
        <p:nvSpPr>
          <p:cNvPr id="18" name="Shape 16"/>
          <p:cNvSpPr/>
          <p:nvPr/>
        </p:nvSpPr>
        <p:spPr>
          <a:xfrm>
            <a:off x="7845552" y="2377440"/>
            <a:ext cx="475488" cy="475488"/>
          </a:xfrm>
          <a:prstGeom prst="ellipse">
            <a:avLst/>
          </a:prstGeom>
          <a:solidFill>
            <a:srgbClr val="FFC24B"/>
          </a:solidFill>
          <a:ln w="12700">
            <a:solidFill>
              <a:srgbClr val="FFC24B"/>
            </a:solidFill>
            <a:prstDash val="solid"/>
          </a:ln>
        </p:spPr>
      </p:sp>
      <p:sp>
        <p:nvSpPr>
          <p:cNvPr id="19" name="Shape 17"/>
          <p:cNvSpPr/>
          <p:nvPr/>
        </p:nvSpPr>
        <p:spPr>
          <a:xfrm>
            <a:off x="8485632" y="2377440"/>
            <a:ext cx="475488" cy="475488"/>
          </a:xfrm>
          <a:prstGeom prst="ellipse">
            <a:avLst/>
          </a:prstGeom>
          <a:solidFill>
            <a:srgbClr val="FFC24B"/>
          </a:solidFill>
          <a:ln w="12700">
            <a:solidFill>
              <a:srgbClr val="FFC24B"/>
            </a:solidFill>
            <a:prstDash val="solid"/>
          </a:ln>
        </p:spPr>
      </p:sp>
      <p:sp>
        <p:nvSpPr>
          <p:cNvPr id="20" name="Shape 18"/>
          <p:cNvSpPr/>
          <p:nvPr/>
        </p:nvSpPr>
        <p:spPr>
          <a:xfrm>
            <a:off x="9125712" y="2377440"/>
            <a:ext cx="475488" cy="475488"/>
          </a:xfrm>
          <a:prstGeom prst="ellipse">
            <a:avLst/>
          </a:prstGeom>
          <a:solidFill>
            <a:srgbClr val="FFC24B"/>
          </a:solidFill>
          <a:ln w="12700">
            <a:solidFill>
              <a:srgbClr val="FFC24B"/>
            </a:solidFill>
            <a:prstDash val="solid"/>
          </a:ln>
        </p:spPr>
      </p:sp>
      <p:sp>
        <p:nvSpPr>
          <p:cNvPr id="21" name="Shape 19"/>
          <p:cNvSpPr/>
          <p:nvPr/>
        </p:nvSpPr>
        <p:spPr>
          <a:xfrm>
            <a:off x="9765792" y="2377440"/>
            <a:ext cx="475488" cy="475488"/>
          </a:xfrm>
          <a:prstGeom prst="ellipse">
            <a:avLst/>
          </a:prstGeom>
          <a:solidFill>
            <a:srgbClr val="FFC24B"/>
          </a:solidFill>
          <a:ln w="12700">
            <a:solidFill>
              <a:srgbClr val="FFC24B"/>
            </a:solidFill>
            <a:prstDash val="solid"/>
          </a:ln>
        </p:spPr>
      </p:sp>
      <p:sp>
        <p:nvSpPr>
          <p:cNvPr id="22" name="Shape 20"/>
          <p:cNvSpPr/>
          <p:nvPr/>
        </p:nvSpPr>
        <p:spPr>
          <a:xfrm>
            <a:off x="10405872" y="2377440"/>
            <a:ext cx="475488" cy="475488"/>
          </a:xfrm>
          <a:prstGeom prst="ellipse">
            <a:avLst/>
          </a:prstGeom>
          <a:solidFill>
            <a:srgbClr val="FFC24B"/>
          </a:solidFill>
          <a:ln w="12700">
            <a:solidFill>
              <a:srgbClr val="FFC24B"/>
            </a:solidFill>
            <a:prstDash val="solid"/>
          </a:ln>
        </p:spPr>
      </p:sp>
      <p:sp>
        <p:nvSpPr>
          <p:cNvPr id="23" name="Shape 21"/>
          <p:cNvSpPr/>
          <p:nvPr/>
        </p:nvSpPr>
        <p:spPr>
          <a:xfrm>
            <a:off x="11045952" y="2377440"/>
            <a:ext cx="475488" cy="475488"/>
          </a:xfrm>
          <a:prstGeom prst="ellipse">
            <a:avLst/>
          </a:prstGeom>
          <a:solidFill>
            <a:srgbClr val="FFC24B"/>
          </a:solidFill>
          <a:ln w="12700">
            <a:solidFill>
              <a:srgbClr val="FFC24B"/>
            </a:solidFill>
            <a:prstDash val="solid"/>
          </a:ln>
        </p:spPr>
      </p:sp>
      <p:sp>
        <p:nvSpPr>
          <p:cNvPr id="24" name="Shape 22"/>
          <p:cNvSpPr/>
          <p:nvPr/>
        </p:nvSpPr>
        <p:spPr>
          <a:xfrm>
            <a:off x="7845552" y="3017520"/>
            <a:ext cx="475488" cy="475488"/>
          </a:xfrm>
          <a:prstGeom prst="ellipse">
            <a:avLst/>
          </a:prstGeom>
          <a:solidFill>
            <a:srgbClr val="FFC24B"/>
          </a:solidFill>
          <a:ln w="12700">
            <a:solidFill>
              <a:srgbClr val="FFC24B"/>
            </a:solidFill>
            <a:prstDash val="solid"/>
          </a:ln>
        </p:spPr>
      </p:sp>
      <p:sp>
        <p:nvSpPr>
          <p:cNvPr id="25" name="Shape 23"/>
          <p:cNvSpPr/>
          <p:nvPr/>
        </p:nvSpPr>
        <p:spPr>
          <a:xfrm>
            <a:off x="8485632" y="3017520"/>
            <a:ext cx="475488" cy="475488"/>
          </a:xfrm>
          <a:prstGeom prst="ellipse">
            <a:avLst/>
          </a:prstGeom>
          <a:solidFill>
            <a:srgbClr val="FFC24B"/>
          </a:solidFill>
          <a:ln w="12700">
            <a:solidFill>
              <a:srgbClr val="FFC24B"/>
            </a:solidFill>
            <a:prstDash val="solid"/>
          </a:ln>
        </p:spPr>
      </p:sp>
      <p:sp>
        <p:nvSpPr>
          <p:cNvPr id="26" name="Shape 24"/>
          <p:cNvSpPr/>
          <p:nvPr/>
        </p:nvSpPr>
        <p:spPr>
          <a:xfrm>
            <a:off x="9125712" y="3017520"/>
            <a:ext cx="475488" cy="475488"/>
          </a:xfrm>
          <a:prstGeom prst="ellipse">
            <a:avLst/>
          </a:prstGeom>
          <a:solidFill>
            <a:srgbClr val="FFC24B"/>
          </a:solidFill>
          <a:ln w="12700">
            <a:solidFill>
              <a:srgbClr val="FFC24B"/>
            </a:solidFill>
            <a:prstDash val="solid"/>
          </a:ln>
        </p:spPr>
      </p:sp>
      <p:sp>
        <p:nvSpPr>
          <p:cNvPr id="27" name="Shape 25"/>
          <p:cNvSpPr/>
          <p:nvPr/>
        </p:nvSpPr>
        <p:spPr>
          <a:xfrm>
            <a:off x="9765792" y="3017520"/>
            <a:ext cx="475488" cy="475488"/>
          </a:xfrm>
          <a:prstGeom prst="ellipse">
            <a:avLst/>
          </a:prstGeom>
          <a:solidFill>
            <a:srgbClr val="272A38"/>
          </a:solidFill>
          <a:ln w="12700">
            <a:solidFill>
              <a:srgbClr val="272A38"/>
            </a:solidFill>
            <a:prstDash val="solid"/>
          </a:ln>
        </p:spPr>
      </p:sp>
      <p:sp>
        <p:nvSpPr>
          <p:cNvPr id="28" name="Shape 26"/>
          <p:cNvSpPr/>
          <p:nvPr/>
        </p:nvSpPr>
        <p:spPr>
          <a:xfrm>
            <a:off x="10405872" y="3017520"/>
            <a:ext cx="475488" cy="475488"/>
          </a:xfrm>
          <a:prstGeom prst="ellipse">
            <a:avLst/>
          </a:prstGeom>
          <a:solidFill>
            <a:srgbClr val="272A38"/>
          </a:solidFill>
          <a:ln w="12700">
            <a:solidFill>
              <a:srgbClr val="272A38"/>
            </a:solidFill>
            <a:prstDash val="solid"/>
          </a:ln>
        </p:spPr>
      </p:sp>
      <p:sp>
        <p:nvSpPr>
          <p:cNvPr id="29" name="Shape 27"/>
          <p:cNvSpPr/>
          <p:nvPr/>
        </p:nvSpPr>
        <p:spPr>
          <a:xfrm>
            <a:off x="11045952" y="3017520"/>
            <a:ext cx="475488" cy="475488"/>
          </a:xfrm>
          <a:prstGeom prst="ellipse">
            <a:avLst/>
          </a:prstGeom>
          <a:solidFill>
            <a:srgbClr val="272A38"/>
          </a:solidFill>
          <a:ln w="12700">
            <a:solidFill>
              <a:srgbClr val="272A38"/>
            </a:solidFill>
            <a:prstDash val="solid"/>
          </a:ln>
        </p:spPr>
      </p:sp>
      <p:sp>
        <p:nvSpPr>
          <p:cNvPr id="30" name="Shape 28"/>
          <p:cNvSpPr/>
          <p:nvPr/>
        </p:nvSpPr>
        <p:spPr>
          <a:xfrm>
            <a:off x="7845552" y="3657600"/>
            <a:ext cx="475488" cy="475488"/>
          </a:xfrm>
          <a:prstGeom prst="ellipse">
            <a:avLst/>
          </a:prstGeom>
          <a:solidFill>
            <a:srgbClr val="272A38"/>
          </a:solidFill>
          <a:ln w="12700">
            <a:solidFill>
              <a:srgbClr val="272A38"/>
            </a:solidFill>
            <a:prstDash val="solid"/>
          </a:ln>
        </p:spPr>
      </p:sp>
      <p:sp>
        <p:nvSpPr>
          <p:cNvPr id="31" name="Shape 29"/>
          <p:cNvSpPr/>
          <p:nvPr/>
        </p:nvSpPr>
        <p:spPr>
          <a:xfrm>
            <a:off x="8485632" y="3657600"/>
            <a:ext cx="475488" cy="475488"/>
          </a:xfrm>
          <a:prstGeom prst="ellipse">
            <a:avLst/>
          </a:prstGeom>
          <a:solidFill>
            <a:srgbClr val="272A38"/>
          </a:solidFill>
          <a:ln w="12700">
            <a:solidFill>
              <a:srgbClr val="272A38"/>
            </a:solidFill>
            <a:prstDash val="solid"/>
          </a:ln>
        </p:spPr>
      </p:sp>
      <p:sp>
        <p:nvSpPr>
          <p:cNvPr id="32" name="Shape 30"/>
          <p:cNvSpPr/>
          <p:nvPr/>
        </p:nvSpPr>
        <p:spPr>
          <a:xfrm>
            <a:off x="9125712" y="3657600"/>
            <a:ext cx="475488" cy="475488"/>
          </a:xfrm>
          <a:prstGeom prst="ellipse">
            <a:avLst/>
          </a:prstGeom>
          <a:solidFill>
            <a:srgbClr val="272A38"/>
          </a:solidFill>
          <a:ln w="12700">
            <a:solidFill>
              <a:srgbClr val="272A38"/>
            </a:solidFill>
            <a:prstDash val="solid"/>
          </a:ln>
        </p:spPr>
      </p:sp>
      <p:sp>
        <p:nvSpPr>
          <p:cNvPr id="33" name="Shape 31"/>
          <p:cNvSpPr/>
          <p:nvPr/>
        </p:nvSpPr>
        <p:spPr>
          <a:xfrm>
            <a:off x="9765792" y="3657600"/>
            <a:ext cx="475488" cy="475488"/>
          </a:xfrm>
          <a:prstGeom prst="ellipse">
            <a:avLst/>
          </a:prstGeom>
          <a:solidFill>
            <a:srgbClr val="272A38"/>
          </a:solidFill>
          <a:ln w="12700">
            <a:solidFill>
              <a:srgbClr val="272A38"/>
            </a:solidFill>
            <a:prstDash val="solid"/>
          </a:ln>
        </p:spPr>
      </p:sp>
      <p:sp>
        <p:nvSpPr>
          <p:cNvPr id="34" name="Shape 32"/>
          <p:cNvSpPr/>
          <p:nvPr/>
        </p:nvSpPr>
        <p:spPr>
          <a:xfrm>
            <a:off x="10405872" y="3657600"/>
            <a:ext cx="475488" cy="475488"/>
          </a:xfrm>
          <a:prstGeom prst="ellipse">
            <a:avLst/>
          </a:prstGeom>
          <a:solidFill>
            <a:srgbClr val="272A38"/>
          </a:solidFill>
          <a:ln w="12700">
            <a:solidFill>
              <a:srgbClr val="272A38"/>
            </a:solidFill>
            <a:prstDash val="solid"/>
          </a:ln>
        </p:spPr>
      </p:sp>
      <p:sp>
        <p:nvSpPr>
          <p:cNvPr id="35" name="Shape 33"/>
          <p:cNvSpPr/>
          <p:nvPr/>
        </p:nvSpPr>
        <p:spPr>
          <a:xfrm>
            <a:off x="11045952" y="3657600"/>
            <a:ext cx="475488" cy="475488"/>
          </a:xfrm>
          <a:prstGeom prst="ellipse">
            <a:avLst/>
          </a:prstGeom>
          <a:solidFill>
            <a:srgbClr val="272A38"/>
          </a:solidFill>
          <a:ln w="12700">
            <a:solidFill>
              <a:srgbClr val="272A38"/>
            </a:solidFill>
            <a:prstDash val="solid"/>
          </a:ln>
        </p:spPr>
      </p:sp>
      <p:sp>
        <p:nvSpPr>
          <p:cNvPr id="36" name="Shape 34"/>
          <p:cNvSpPr/>
          <p:nvPr/>
        </p:nvSpPr>
        <p:spPr>
          <a:xfrm>
            <a:off x="7845552" y="4297680"/>
            <a:ext cx="475488" cy="475488"/>
          </a:xfrm>
          <a:prstGeom prst="ellipse">
            <a:avLst/>
          </a:prstGeom>
          <a:solidFill>
            <a:srgbClr val="272A38"/>
          </a:solidFill>
          <a:ln w="12700">
            <a:solidFill>
              <a:srgbClr val="272A38"/>
            </a:solidFill>
            <a:prstDash val="solid"/>
          </a:ln>
        </p:spPr>
      </p:sp>
      <p:sp>
        <p:nvSpPr>
          <p:cNvPr id="37" name="Shape 35"/>
          <p:cNvSpPr/>
          <p:nvPr/>
        </p:nvSpPr>
        <p:spPr>
          <a:xfrm>
            <a:off x="8485632" y="4297680"/>
            <a:ext cx="475488" cy="475488"/>
          </a:xfrm>
          <a:prstGeom prst="ellipse">
            <a:avLst/>
          </a:prstGeom>
          <a:solidFill>
            <a:srgbClr val="272A38"/>
          </a:solidFill>
          <a:ln w="12700">
            <a:solidFill>
              <a:srgbClr val="272A38"/>
            </a:solidFill>
            <a:prstDash val="solid"/>
          </a:ln>
        </p:spPr>
      </p:sp>
      <p:sp>
        <p:nvSpPr>
          <p:cNvPr id="38" name="Shape 36"/>
          <p:cNvSpPr/>
          <p:nvPr/>
        </p:nvSpPr>
        <p:spPr>
          <a:xfrm>
            <a:off x="9125712" y="4297680"/>
            <a:ext cx="475488" cy="475488"/>
          </a:xfrm>
          <a:prstGeom prst="ellipse">
            <a:avLst/>
          </a:prstGeom>
          <a:solidFill>
            <a:srgbClr val="272A38"/>
          </a:solidFill>
          <a:ln w="12700">
            <a:solidFill>
              <a:srgbClr val="272A38"/>
            </a:solidFill>
            <a:prstDash val="solid"/>
          </a:ln>
        </p:spPr>
      </p:sp>
      <p:sp>
        <p:nvSpPr>
          <p:cNvPr id="39" name="Shape 37"/>
          <p:cNvSpPr/>
          <p:nvPr/>
        </p:nvSpPr>
        <p:spPr>
          <a:xfrm>
            <a:off x="9765792" y="4297680"/>
            <a:ext cx="475488" cy="475488"/>
          </a:xfrm>
          <a:prstGeom prst="ellipse">
            <a:avLst/>
          </a:prstGeom>
          <a:solidFill>
            <a:srgbClr val="272A38"/>
          </a:solidFill>
          <a:ln w="12700">
            <a:solidFill>
              <a:srgbClr val="272A38"/>
            </a:solidFill>
            <a:prstDash val="solid"/>
          </a:ln>
        </p:spPr>
      </p:sp>
      <p:sp>
        <p:nvSpPr>
          <p:cNvPr id="40" name="Shape 38"/>
          <p:cNvSpPr/>
          <p:nvPr/>
        </p:nvSpPr>
        <p:spPr>
          <a:xfrm>
            <a:off x="10405872" y="4297680"/>
            <a:ext cx="475488" cy="475488"/>
          </a:xfrm>
          <a:prstGeom prst="ellipse">
            <a:avLst/>
          </a:prstGeom>
          <a:solidFill>
            <a:srgbClr val="272A38"/>
          </a:solidFill>
          <a:ln w="12700">
            <a:solidFill>
              <a:srgbClr val="272A38"/>
            </a:solidFill>
            <a:prstDash val="solid"/>
          </a:ln>
        </p:spPr>
      </p:sp>
      <p:sp>
        <p:nvSpPr>
          <p:cNvPr id="41" name="Shape 39"/>
          <p:cNvSpPr/>
          <p:nvPr/>
        </p:nvSpPr>
        <p:spPr>
          <a:xfrm>
            <a:off x="11045952" y="4297680"/>
            <a:ext cx="475488" cy="475488"/>
          </a:xfrm>
          <a:prstGeom prst="ellipse">
            <a:avLst/>
          </a:prstGeom>
          <a:solidFill>
            <a:srgbClr val="272A38"/>
          </a:solidFill>
          <a:ln w="12700">
            <a:solidFill>
              <a:srgbClr val="272A38"/>
            </a:solidFill>
            <a:prstDash val="solid"/>
          </a:ln>
        </p:spPr>
      </p:sp>
      <p:sp>
        <p:nvSpPr>
          <p:cNvPr id="42" name="Text 40"/>
          <p:cNvSpPr/>
          <p:nvPr/>
        </p:nvSpPr>
        <p:spPr>
          <a:xfrm>
            <a:off x="7315200" y="5715000"/>
            <a:ext cx="4297680" cy="365760"/>
          </a:xfrm>
          <a:prstGeom prst="rect">
            <a:avLst/>
          </a:prstGeom>
          <a:noFill/>
          <a:ln/>
        </p:spPr>
        <p:txBody>
          <a:bodyPr wrap="square" lIns="0" tIns="0" rIns="0" bIns="0" rtlCol="0" anchor="t"/>
          <a:lstStyle/>
          <a:p>
            <a:pPr algn="ctr" indent="0" marL="0">
              <a:buNone/>
            </a:pPr>
            <a:r>
              <a:rPr lang="en-US" sz="1300" i="1" dirty="0">
                <a:solidFill>
                  <a:srgbClr val="959BB0"/>
                </a:solidFill>
                <a:latin typeface="Palatino Linotype" pitchFamily="34" charset="0"/>
                <a:ea typeface="Palatino Linotype" pitchFamily="34" charset="-122"/>
                <a:cs typeface="Palatino Linotype" pitchFamily="34" charset="-120"/>
              </a:rPr>
              <a:t>21 din 36 de studii, cu risc serios</a:t>
            </a:r>
            <a:endParaRPr lang="en-US" sz="1300" dirty="0"/>
          </a:p>
        </p:txBody>
      </p:sp>
      <p:sp>
        <p:nvSpPr>
          <p:cNvPr id="43" name="Text 41"/>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Mitchell și colab., 2021 (registru A705).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CE PARE O CAUZĂ · 1</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Prescrierea crește după plată, nu înainte</a:t>
            </a:r>
            <a:endParaRPr lang="en-US" sz="3100" dirty="0"/>
          </a:p>
        </p:txBody>
      </p:sp>
      <p:sp>
        <p:nvSpPr>
          <p:cNvPr id="4" name="Shape 2"/>
          <p:cNvSpPr/>
          <p:nvPr/>
        </p:nvSpPr>
        <p:spPr>
          <a:xfrm>
            <a:off x="822960" y="2788920"/>
            <a:ext cx="10424160" cy="54864"/>
          </a:xfrm>
          <a:prstGeom prst="rect">
            <a:avLst/>
          </a:prstGeom>
          <a:solidFill>
            <a:srgbClr val="11121A"/>
          </a:solidFill>
          <a:ln w="12700">
            <a:solidFill>
              <a:srgbClr val="11121A"/>
            </a:solidFill>
            <a:prstDash val="solid"/>
          </a:ln>
        </p:spPr>
      </p:sp>
      <p:sp>
        <p:nvSpPr>
          <p:cNvPr id="5" name="Shape 3"/>
          <p:cNvSpPr/>
          <p:nvPr/>
        </p:nvSpPr>
        <p:spPr>
          <a:xfrm>
            <a:off x="1737360" y="2587752"/>
            <a:ext cx="457200" cy="457200"/>
          </a:xfrm>
          <a:prstGeom prst="ellipse">
            <a:avLst/>
          </a:prstGeom>
          <a:solidFill>
            <a:srgbClr val="585A64"/>
          </a:solidFill>
          <a:ln w="12700">
            <a:solidFill>
              <a:srgbClr val="585A64"/>
            </a:solidFill>
            <a:prstDash val="solid"/>
          </a:ln>
        </p:spPr>
      </p:sp>
      <p:sp>
        <p:nvSpPr>
          <p:cNvPr id="6" name="Text 4"/>
          <p:cNvSpPr/>
          <p:nvPr/>
        </p:nvSpPr>
        <p:spPr>
          <a:xfrm>
            <a:off x="914400" y="1783080"/>
            <a:ext cx="2377440" cy="548640"/>
          </a:xfrm>
          <a:prstGeom prst="rect">
            <a:avLst/>
          </a:prstGeom>
          <a:noFill/>
          <a:ln/>
        </p:spPr>
        <p:txBody>
          <a:bodyPr wrap="square" lIns="0" tIns="0" rIns="0" bIns="0" rtlCol="0" anchor="t"/>
          <a:lstStyle/>
          <a:p>
            <a:pPr algn="ctr" indent="0" marL="0">
              <a:buNone/>
            </a:pPr>
            <a:r>
              <a:rPr lang="en-US" sz="2200" b="1" dirty="0">
                <a:solidFill>
                  <a:srgbClr val="585A64"/>
                </a:solidFill>
                <a:latin typeface="Palatino Linotype" pitchFamily="34" charset="0"/>
                <a:ea typeface="Palatino Linotype" pitchFamily="34" charset="-122"/>
                <a:cs typeface="Palatino Linotype" pitchFamily="34" charset="-120"/>
              </a:rPr>
              <a:t>Înainte</a:t>
            </a:r>
            <a:endParaRPr lang="en-US" sz="2200" dirty="0"/>
          </a:p>
        </p:txBody>
      </p:sp>
      <p:sp>
        <p:nvSpPr>
          <p:cNvPr id="7" name="Text 5"/>
          <p:cNvSpPr/>
          <p:nvPr/>
        </p:nvSpPr>
        <p:spPr>
          <a:xfrm>
            <a:off x="731520" y="3246120"/>
            <a:ext cx="2743200" cy="457200"/>
          </a:xfrm>
          <a:prstGeom prst="rect">
            <a:avLst/>
          </a:prstGeom>
          <a:noFill/>
          <a:ln/>
        </p:spPr>
        <p:txBody>
          <a:bodyPr wrap="square" lIns="0" tIns="0" rIns="0" bIns="0" rtlCol="0" anchor="t"/>
          <a:lstStyle/>
          <a:p>
            <a:pPr algn="ctr" indent="0" marL="0">
              <a:buNone/>
            </a:pPr>
            <a:r>
              <a:rPr lang="en-US" sz="1700" dirty="0">
                <a:solidFill>
                  <a:srgbClr val="11121A"/>
                </a:solidFill>
                <a:latin typeface="Palatino Linotype" pitchFamily="34" charset="0"/>
                <a:ea typeface="Palatino Linotype" pitchFamily="34" charset="-122"/>
                <a:cs typeface="Palatino Linotype" pitchFamily="34" charset="-120"/>
              </a:rPr>
              <a:t>prescriere obișnuită</a:t>
            </a:r>
            <a:endParaRPr lang="en-US" sz="1700" dirty="0"/>
          </a:p>
        </p:txBody>
      </p:sp>
      <p:sp>
        <p:nvSpPr>
          <p:cNvPr id="8" name="Shape 6"/>
          <p:cNvSpPr/>
          <p:nvPr/>
        </p:nvSpPr>
        <p:spPr>
          <a:xfrm>
            <a:off x="5669280" y="2587752"/>
            <a:ext cx="457200" cy="457200"/>
          </a:xfrm>
          <a:prstGeom prst="ellipse">
            <a:avLst/>
          </a:prstGeom>
          <a:solidFill>
            <a:srgbClr val="B02532"/>
          </a:solidFill>
          <a:ln w="12700">
            <a:solidFill>
              <a:srgbClr val="B02532"/>
            </a:solidFill>
            <a:prstDash val="solid"/>
          </a:ln>
        </p:spPr>
      </p:sp>
      <p:sp>
        <p:nvSpPr>
          <p:cNvPr id="9" name="Text 7"/>
          <p:cNvSpPr/>
          <p:nvPr/>
        </p:nvSpPr>
        <p:spPr>
          <a:xfrm>
            <a:off x="4846320" y="1783080"/>
            <a:ext cx="2377440" cy="548640"/>
          </a:xfrm>
          <a:prstGeom prst="rect">
            <a:avLst/>
          </a:prstGeom>
          <a:noFill/>
          <a:ln/>
        </p:spPr>
        <p:txBody>
          <a:bodyPr wrap="square" lIns="0" tIns="0" rIns="0" bIns="0" rtlCol="0" anchor="t"/>
          <a:lstStyle/>
          <a:p>
            <a:pPr algn="ctr" indent="0" marL="0">
              <a:buNone/>
            </a:pPr>
            <a:r>
              <a:rPr lang="en-US" sz="2200" b="1" dirty="0">
                <a:solidFill>
                  <a:srgbClr val="B02532"/>
                </a:solidFill>
                <a:latin typeface="Palatino Linotype" pitchFamily="34" charset="0"/>
                <a:ea typeface="Palatino Linotype" pitchFamily="34" charset="-122"/>
                <a:cs typeface="Palatino Linotype" pitchFamily="34" charset="-120"/>
              </a:rPr>
              <a:t>Plata</a:t>
            </a:r>
            <a:endParaRPr lang="en-US" sz="2200" dirty="0"/>
          </a:p>
        </p:txBody>
      </p:sp>
      <p:sp>
        <p:nvSpPr>
          <p:cNvPr id="10" name="Text 8"/>
          <p:cNvSpPr/>
          <p:nvPr/>
        </p:nvSpPr>
        <p:spPr>
          <a:xfrm>
            <a:off x="4663440" y="3246120"/>
            <a:ext cx="2743200" cy="457200"/>
          </a:xfrm>
          <a:prstGeom prst="rect">
            <a:avLst/>
          </a:prstGeom>
          <a:noFill/>
          <a:ln/>
        </p:spPr>
        <p:txBody>
          <a:bodyPr wrap="square" lIns="0" tIns="0" rIns="0" bIns="0" rtlCol="0" anchor="t"/>
          <a:lstStyle/>
          <a:p>
            <a:pPr algn="ctr" indent="0" marL="0">
              <a:buNone/>
            </a:pPr>
            <a:r>
              <a:rPr lang="en-US" sz="1700" dirty="0">
                <a:solidFill>
                  <a:srgbClr val="11121A"/>
                </a:solidFill>
                <a:latin typeface="Palatino Linotype" pitchFamily="34" charset="0"/>
                <a:ea typeface="Palatino Linotype" pitchFamily="34" charset="-122"/>
                <a:cs typeface="Palatino Linotype" pitchFamily="34" charset="-120"/>
              </a:rPr>
              <a:t>de la firmă</a:t>
            </a:r>
            <a:endParaRPr lang="en-US" sz="1700" dirty="0"/>
          </a:p>
        </p:txBody>
      </p:sp>
      <p:sp>
        <p:nvSpPr>
          <p:cNvPr id="11" name="Shape 9"/>
          <p:cNvSpPr/>
          <p:nvPr/>
        </p:nvSpPr>
        <p:spPr>
          <a:xfrm>
            <a:off x="9418320" y="2587752"/>
            <a:ext cx="457200" cy="457200"/>
          </a:xfrm>
          <a:prstGeom prst="ellipse">
            <a:avLst/>
          </a:prstGeom>
          <a:solidFill>
            <a:srgbClr val="0E7C6B"/>
          </a:solidFill>
          <a:ln w="12700">
            <a:solidFill>
              <a:srgbClr val="0E7C6B"/>
            </a:solidFill>
            <a:prstDash val="solid"/>
          </a:ln>
        </p:spPr>
      </p:sp>
      <p:sp>
        <p:nvSpPr>
          <p:cNvPr id="12" name="Text 10"/>
          <p:cNvSpPr/>
          <p:nvPr/>
        </p:nvSpPr>
        <p:spPr>
          <a:xfrm>
            <a:off x="8595360" y="1783080"/>
            <a:ext cx="2377440" cy="548640"/>
          </a:xfrm>
          <a:prstGeom prst="rect">
            <a:avLst/>
          </a:prstGeom>
          <a:noFill/>
          <a:ln/>
        </p:spPr>
        <p:txBody>
          <a:bodyPr wrap="square" lIns="0" tIns="0" rIns="0" bIns="0" rtlCol="0" anchor="t"/>
          <a:lstStyle/>
          <a:p>
            <a:pPr algn="ctr" indent="0" marL="0">
              <a:buNone/>
            </a:pPr>
            <a:r>
              <a:rPr lang="en-US" sz="2200" b="1" dirty="0">
                <a:solidFill>
                  <a:srgbClr val="0E7C6B"/>
                </a:solidFill>
                <a:latin typeface="Palatino Linotype" pitchFamily="34" charset="0"/>
                <a:ea typeface="Palatino Linotype" pitchFamily="34" charset="-122"/>
                <a:cs typeface="Palatino Linotype" pitchFamily="34" charset="-120"/>
              </a:rPr>
              <a:t>După</a:t>
            </a:r>
            <a:endParaRPr lang="en-US" sz="2200" dirty="0"/>
          </a:p>
        </p:txBody>
      </p:sp>
      <p:sp>
        <p:nvSpPr>
          <p:cNvPr id="13" name="Text 11"/>
          <p:cNvSpPr/>
          <p:nvPr/>
        </p:nvSpPr>
        <p:spPr>
          <a:xfrm>
            <a:off x="8412480" y="3246120"/>
            <a:ext cx="2743200" cy="457200"/>
          </a:xfrm>
          <a:prstGeom prst="rect">
            <a:avLst/>
          </a:prstGeom>
          <a:noFill/>
          <a:ln/>
        </p:spPr>
        <p:txBody>
          <a:bodyPr wrap="square" lIns="0" tIns="0" rIns="0" bIns="0" rtlCol="0" anchor="t"/>
          <a:lstStyle/>
          <a:p>
            <a:pPr algn="ctr" indent="0" marL="0">
              <a:buNone/>
            </a:pPr>
            <a:r>
              <a:rPr lang="en-US" sz="1700" dirty="0">
                <a:solidFill>
                  <a:srgbClr val="11121A"/>
                </a:solidFill>
                <a:latin typeface="Palatino Linotype" pitchFamily="34" charset="0"/>
                <a:ea typeface="Palatino Linotype" pitchFamily="34" charset="-122"/>
                <a:cs typeface="Palatino Linotype" pitchFamily="34" charset="-120"/>
              </a:rPr>
              <a:t>prescrierea crește</a:t>
            </a:r>
            <a:endParaRPr lang="en-US" sz="1700" dirty="0"/>
          </a:p>
        </p:txBody>
      </p:sp>
      <p:sp>
        <p:nvSpPr>
          <p:cNvPr id="14" name="Text 12"/>
          <p:cNvSpPr/>
          <p:nvPr/>
        </p:nvSpPr>
        <p:spPr>
          <a:xfrm>
            <a:off x="594360" y="4023360"/>
            <a:ext cx="2926080" cy="1005840"/>
          </a:xfrm>
          <a:prstGeom prst="rect">
            <a:avLst/>
          </a:prstGeom>
          <a:noFill/>
          <a:ln/>
        </p:spPr>
        <p:txBody>
          <a:bodyPr wrap="square" lIns="0" tIns="0" rIns="0" bIns="0" rtlCol="0" anchor="ctr"/>
          <a:lstStyle/>
          <a:p>
            <a:pPr indent="0" marL="0">
              <a:buNone/>
            </a:pPr>
            <a:r>
              <a:rPr lang="en-US" sz="4800" b="1" dirty="0">
                <a:solidFill>
                  <a:srgbClr val="B02532"/>
                </a:solidFill>
                <a:latin typeface="Palatino Linotype" pitchFamily="34" charset="0"/>
                <a:ea typeface="Palatino Linotype" pitchFamily="34" charset="-122"/>
                <a:cs typeface="Palatino Linotype" pitchFamily="34" charset="-120"/>
              </a:rPr>
              <a:t>9 studii</a:t>
            </a:r>
            <a:endParaRPr lang="en-US" sz="4800" dirty="0"/>
          </a:p>
        </p:txBody>
      </p:sp>
      <p:sp>
        <p:nvSpPr>
          <p:cNvPr id="15" name="Text 13"/>
          <p:cNvSpPr/>
          <p:nvPr/>
        </p:nvSpPr>
        <p:spPr>
          <a:xfrm>
            <a:off x="3566160" y="4023360"/>
            <a:ext cx="8001000" cy="13716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au observat această succesiune. Explicația inversă, că firmele își aleg medicii care prescriu deja mult, devine astfel mai puțin probabilă.</a:t>
            </a:r>
            <a:endParaRPr lang="en-US" sz="18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Mitchell și colab., 2021 (registru A704).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DE CE PARE O CAUZĂ · 2 · DOZĂ–RĂSPUNS</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7 din 10</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studii: cu cât plata a fost mai mare, cu atât efectul a fost mai mare</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Mai exact, 25 din cele 36 de studii. Când efectul crește odată cu plata, o coincidență explică mai greu acest tipar.</a:t>
            </a:r>
            <a:endParaRPr lang="en-US" sz="1700" dirty="0"/>
          </a:p>
        </p:txBody>
      </p:sp>
      <p:sp>
        <p:nvSpPr>
          <p:cNvPr id="6" name="Text 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Mitchell și colab., 2021 (registru A704, A702). Barele sunt o schemă, nu date.</a:t>
            </a:r>
            <a:endParaRPr lang="en-US" sz="1000" dirty="0"/>
          </a:p>
        </p:txBody>
      </p:sp>
      <p:sp>
        <p:nvSpPr>
          <p:cNvPr id="8" name="Shape 5"/>
          <p:cNvSpPr/>
          <p:nvPr/>
        </p:nvSpPr>
        <p:spPr>
          <a:xfrm>
            <a:off x="7589520" y="4206240"/>
            <a:ext cx="1005840" cy="914400"/>
          </a:xfrm>
          <a:prstGeom prst="rect">
            <a:avLst/>
          </a:prstGeom>
          <a:solidFill>
            <a:srgbClr val="272A38"/>
          </a:solidFill>
          <a:ln w="12700">
            <a:solidFill>
              <a:srgbClr val="11121A"/>
            </a:solidFill>
            <a:prstDash val="solid"/>
          </a:ln>
        </p:spPr>
      </p:sp>
      <p:sp>
        <p:nvSpPr>
          <p:cNvPr id="9" name="Text 6"/>
          <p:cNvSpPr/>
          <p:nvPr/>
        </p:nvSpPr>
        <p:spPr>
          <a:xfrm>
            <a:off x="7360920" y="5257800"/>
            <a:ext cx="1463040" cy="457200"/>
          </a:xfrm>
          <a:prstGeom prst="rect">
            <a:avLst/>
          </a:prstGeom>
          <a:noFill/>
          <a:ln/>
        </p:spPr>
        <p:txBody>
          <a:bodyPr wrap="square" lIns="0" tIns="0" rIns="0" bIns="0" rtlCol="0" anchor="t"/>
          <a:lstStyle/>
          <a:p>
            <a:pPr algn="ctr" indent="0" marL="0">
              <a:buNone/>
            </a:pPr>
            <a:r>
              <a:rPr lang="en-US" sz="1400" dirty="0">
                <a:solidFill>
                  <a:srgbClr val="959BB0"/>
                </a:solidFill>
                <a:latin typeface="Palatino Linotype" pitchFamily="34" charset="0"/>
                <a:ea typeface="Palatino Linotype" pitchFamily="34" charset="-122"/>
                <a:cs typeface="Palatino Linotype" pitchFamily="34" charset="-120"/>
              </a:rPr>
              <a:t>plată mică</a:t>
            </a:r>
            <a:endParaRPr lang="en-US" sz="1400" dirty="0"/>
          </a:p>
        </p:txBody>
      </p:sp>
      <p:sp>
        <p:nvSpPr>
          <p:cNvPr id="10" name="Shape 7"/>
          <p:cNvSpPr/>
          <p:nvPr/>
        </p:nvSpPr>
        <p:spPr>
          <a:xfrm>
            <a:off x="8961120" y="3200400"/>
            <a:ext cx="1005840" cy="1920240"/>
          </a:xfrm>
          <a:prstGeom prst="rect">
            <a:avLst/>
          </a:prstGeom>
          <a:solidFill>
            <a:srgbClr val="B8434F"/>
          </a:solidFill>
          <a:ln w="12700">
            <a:solidFill>
              <a:srgbClr val="11121A"/>
            </a:solidFill>
            <a:prstDash val="solid"/>
          </a:ln>
        </p:spPr>
      </p:sp>
      <p:sp>
        <p:nvSpPr>
          <p:cNvPr id="11" name="Text 8"/>
          <p:cNvSpPr/>
          <p:nvPr/>
        </p:nvSpPr>
        <p:spPr>
          <a:xfrm>
            <a:off x="8732520" y="5257800"/>
            <a:ext cx="1463040" cy="457200"/>
          </a:xfrm>
          <a:prstGeom prst="rect">
            <a:avLst/>
          </a:prstGeom>
          <a:noFill/>
          <a:ln/>
        </p:spPr>
        <p:txBody>
          <a:bodyPr wrap="square" lIns="0" tIns="0" rIns="0" bIns="0" rtlCol="0" anchor="t"/>
          <a:lstStyle/>
          <a:p>
            <a:pPr algn="ctr" indent="0" marL="0">
              <a:buNone/>
            </a:pPr>
            <a:r>
              <a:rPr lang="en-US" sz="1400" dirty="0">
                <a:solidFill>
                  <a:srgbClr val="959BB0"/>
                </a:solidFill>
                <a:latin typeface="Palatino Linotype" pitchFamily="34" charset="0"/>
                <a:ea typeface="Palatino Linotype" pitchFamily="34" charset="-122"/>
                <a:cs typeface="Palatino Linotype" pitchFamily="34" charset="-120"/>
              </a:rPr>
              <a:t>plată medie</a:t>
            </a:r>
            <a:endParaRPr lang="en-US" sz="1400" dirty="0"/>
          </a:p>
        </p:txBody>
      </p:sp>
      <p:sp>
        <p:nvSpPr>
          <p:cNvPr id="12" name="Shape 9"/>
          <p:cNvSpPr/>
          <p:nvPr/>
        </p:nvSpPr>
        <p:spPr>
          <a:xfrm>
            <a:off x="10332720" y="2103120"/>
            <a:ext cx="1005840" cy="3017520"/>
          </a:xfrm>
          <a:prstGeom prst="rect">
            <a:avLst/>
          </a:prstGeom>
          <a:solidFill>
            <a:srgbClr val="FF4757"/>
          </a:solidFill>
          <a:ln w="12700">
            <a:solidFill>
              <a:srgbClr val="11121A"/>
            </a:solidFill>
            <a:prstDash val="solid"/>
          </a:ln>
        </p:spPr>
      </p:sp>
      <p:sp>
        <p:nvSpPr>
          <p:cNvPr id="13" name="Text 10"/>
          <p:cNvSpPr/>
          <p:nvPr/>
        </p:nvSpPr>
        <p:spPr>
          <a:xfrm>
            <a:off x="10104120" y="5257800"/>
            <a:ext cx="1463040" cy="457200"/>
          </a:xfrm>
          <a:prstGeom prst="rect">
            <a:avLst/>
          </a:prstGeom>
          <a:noFill/>
          <a:ln/>
        </p:spPr>
        <p:txBody>
          <a:bodyPr wrap="square" lIns="0" tIns="0" rIns="0" bIns="0" rtlCol="0" anchor="t"/>
          <a:lstStyle/>
          <a:p>
            <a:pPr algn="ctr" indent="0" marL="0">
              <a:buNone/>
            </a:pPr>
            <a:r>
              <a:rPr lang="en-US" sz="1400" dirty="0">
                <a:solidFill>
                  <a:srgbClr val="959BB0"/>
                </a:solidFill>
                <a:latin typeface="Palatino Linotype" pitchFamily="34" charset="0"/>
                <a:ea typeface="Palatino Linotype" pitchFamily="34" charset="-122"/>
                <a:cs typeface="Palatino Linotype" pitchFamily="34" charset="-120"/>
              </a:rPr>
              <a:t>plată mare</a:t>
            </a:r>
            <a:endParaRPr lang="en-US" sz="1400" dirty="0"/>
          </a:p>
        </p:txBody>
      </p:sp>
      <p:sp>
        <p:nvSpPr>
          <p:cNvPr id="14" name="Text 11"/>
          <p:cNvSpPr/>
          <p:nvPr/>
        </p:nvSpPr>
        <p:spPr>
          <a:xfrm>
            <a:off x="7315200" y="1280160"/>
            <a:ext cx="4297680" cy="365760"/>
          </a:xfrm>
          <a:prstGeom prst="rect">
            <a:avLst/>
          </a:prstGeom>
          <a:noFill/>
          <a:ln/>
        </p:spPr>
        <p:txBody>
          <a:bodyPr wrap="square" lIns="0" tIns="0" rIns="0" bIns="0" rtlCol="0" anchor="t"/>
          <a:lstStyle/>
          <a:p>
            <a:pPr algn="ctr" indent="0" marL="0">
              <a:buNone/>
            </a:pPr>
            <a:r>
              <a:rPr lang="en-US" sz="1400" i="1" dirty="0">
                <a:solidFill>
                  <a:srgbClr val="959BB0"/>
                </a:solidFill>
                <a:latin typeface="Palatino Linotype" pitchFamily="34" charset="0"/>
                <a:ea typeface="Palatino Linotype" pitchFamily="34" charset="-122"/>
                <a:cs typeface="Palatino Linotype" pitchFamily="34" charset="-120"/>
              </a:rPr>
              <a:t>efectul asupra prescrierii</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CUM VORBIM DESPRE ACESTE DATE</a:t>
            </a:r>
            <a:endParaRPr lang="en-US" sz="1300" dirty="0"/>
          </a:p>
        </p:txBody>
      </p:sp>
      <p:sp>
        <p:nvSpPr>
          <p:cNvPr id="3" name="Text 1"/>
          <p:cNvSpPr/>
          <p:nvPr/>
        </p:nvSpPr>
        <p:spPr>
          <a:xfrm>
            <a:off x="594360" y="1097280"/>
            <a:ext cx="10972800" cy="1828800"/>
          </a:xfrm>
          <a:prstGeom prst="rect">
            <a:avLst/>
          </a:prstGeom>
          <a:noFill/>
          <a:ln/>
        </p:spPr>
        <p:txBody>
          <a:bodyPr wrap="square" lIns="0" tIns="0" rIns="0" bIns="0" rtlCol="0" anchor="t"/>
          <a:lstStyle/>
          <a:p>
            <a:pPr indent="0" marL="0">
              <a:buNone/>
            </a:pPr>
            <a:r>
              <a:rPr lang="en-US" sz="3000" dirty="0">
                <a:solidFill>
                  <a:srgbClr val="FFFFFF"/>
                </a:solidFill>
                <a:latin typeface="Palatino Linotype" pitchFamily="34" charset="0"/>
                <a:ea typeface="Palatino Linotype" pitchFamily="34" charset="-122"/>
                <a:cs typeface="Palatino Linotype" pitchFamily="34" charset="-120"/>
              </a:rPr>
              <a:t>Constatările privind succesiunea în timp și relația doză–răspuns </a:t>
            </a:r>
            <a:pPr indent="0" marL="0">
              <a:buNone/>
            </a:pPr>
            <a:r>
              <a:rPr lang="en-US" sz="3000" b="1" dirty="0">
                <a:solidFill>
                  <a:srgbClr val="FFC24B"/>
                </a:solidFill>
                <a:latin typeface="Palatino Linotype" pitchFamily="34" charset="0"/>
                <a:ea typeface="Palatino Linotype" pitchFamily="34" charset="-122"/>
                <a:cs typeface="Palatino Linotype" pitchFamily="34" charset="-120"/>
              </a:rPr>
              <a:t>„sugerează o relație cauzală”</a:t>
            </a:r>
            <a:endParaRPr lang="en-US" sz="3000" dirty="0"/>
          </a:p>
        </p:txBody>
      </p:sp>
      <p:sp>
        <p:nvSpPr>
          <p:cNvPr id="4" name="Text 2"/>
          <p:cNvSpPr/>
          <p:nvPr/>
        </p:nvSpPr>
        <p:spPr>
          <a:xfrm>
            <a:off x="594360" y="3291840"/>
            <a:ext cx="5120640" cy="1097280"/>
          </a:xfrm>
          <a:prstGeom prst="rect">
            <a:avLst/>
          </a:prstGeom>
          <a:noFill/>
          <a:ln/>
        </p:spPr>
        <p:txBody>
          <a:bodyPr wrap="square" lIns="0" tIns="0" rIns="0" bIns="0" rtlCol="0" anchor="ctr"/>
          <a:lstStyle/>
          <a:p>
            <a:pPr indent="0" marL="0">
              <a:buNone/>
            </a:pPr>
            <a:r>
              <a:rPr lang="en-US" sz="5400" b="1" dirty="0">
                <a:solidFill>
                  <a:srgbClr val="27D3BE"/>
                </a:solidFill>
                <a:latin typeface="Palatino Linotype" pitchFamily="34" charset="0"/>
                <a:ea typeface="Palatino Linotype" pitchFamily="34" charset="-122"/>
                <a:cs typeface="Palatino Linotype" pitchFamily="34" charset="-120"/>
              </a:rPr>
              <a:t>sugerează</a:t>
            </a:r>
            <a:endParaRPr lang="en-US" sz="5400" dirty="0"/>
          </a:p>
        </p:txBody>
      </p:sp>
      <p:sp>
        <p:nvSpPr>
          <p:cNvPr id="5" name="Text 3"/>
          <p:cNvSpPr/>
          <p:nvPr/>
        </p:nvSpPr>
        <p:spPr>
          <a:xfrm>
            <a:off x="6035040" y="3291840"/>
            <a:ext cx="5486400" cy="1097280"/>
          </a:xfrm>
          <a:prstGeom prst="rect">
            <a:avLst/>
          </a:prstGeom>
          <a:noFill/>
          <a:ln/>
        </p:spPr>
        <p:txBody>
          <a:bodyPr wrap="square" lIns="0" tIns="0" rIns="0" bIns="0" rtlCol="0" anchor="ctr"/>
          <a:lstStyle/>
          <a:p>
            <a:pPr indent="0" marL="0">
              <a:buNone/>
            </a:pPr>
            <a:r>
              <a:rPr lang="en-US" sz="5400" b="1" strike="sngStrike" dirty="0">
                <a:solidFill>
                  <a:srgbClr val="5A5F73"/>
                </a:solidFill>
                <a:latin typeface="Palatino Linotype" pitchFamily="34" charset="0"/>
                <a:ea typeface="Palatino Linotype" pitchFamily="34" charset="-122"/>
                <a:cs typeface="Palatino Linotype" pitchFamily="34" charset="-120"/>
              </a:rPr>
              <a:t>demonstrează</a:t>
            </a:r>
            <a:endParaRPr lang="en-US" sz="5400" dirty="0"/>
          </a:p>
        </p:txBody>
      </p:sp>
      <p:sp>
        <p:nvSpPr>
          <p:cNvPr id="6" name="Text 4"/>
          <p:cNvSpPr/>
          <p:nvPr/>
        </p:nvSpPr>
        <p:spPr>
          <a:xfrm>
            <a:off x="594360" y="4846320"/>
            <a:ext cx="10972800" cy="73152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Verbul ales de autori este și tonul potrivit atunci când vorbiți voi despre aceste date.</a:t>
            </a:r>
            <a:endParaRPr lang="en-US" sz="2000" dirty="0"/>
          </a:p>
        </p:txBody>
      </p:sp>
      <p:sp>
        <p:nvSpPr>
          <p:cNvPr id="7" name="Text 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Mitchell și colab., 2021 (registru A706).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Conflictul de interese</a:t>
            </a:r>
            <a:endParaRPr lang="en-US" sz="3600" dirty="0"/>
          </a:p>
        </p:txBody>
      </p:sp>
      <p:sp>
        <p:nvSpPr>
          <p:cNvPr id="4" name="Shape 2"/>
          <p:cNvSpPr/>
          <p:nvPr/>
        </p:nvSpPr>
        <p:spPr>
          <a:xfrm>
            <a:off x="594360" y="1783080"/>
            <a:ext cx="10972800" cy="1600200"/>
          </a:xfrm>
          <a:prstGeom prst="roundRect">
            <a:avLst>
              <a:gd name="adj" fmla="val 5143"/>
            </a:avLst>
          </a:prstGeom>
          <a:solidFill>
            <a:srgbClr val="ECEAE4"/>
          </a:solidFill>
          <a:ln w="12700">
            <a:solidFill>
              <a:srgbClr val="ECEAE4"/>
            </a:solidFill>
            <a:prstDash val="solid"/>
          </a:ln>
        </p:spPr>
      </p:sp>
      <p:sp>
        <p:nvSpPr>
          <p:cNvPr id="5" name="Text 3"/>
          <p:cNvSpPr/>
          <p:nvPr/>
        </p:nvSpPr>
        <p:spPr>
          <a:xfrm>
            <a:off x="868680" y="1783080"/>
            <a:ext cx="10424160" cy="1600200"/>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În acest curs numim conflict de interese situația în care un folos personal, al vostru sau al cuiva apropiat, poate influența o decizie pe care o luați în numele altcuiva, de pildă al pacientului.</a:t>
            </a:r>
            <a:endParaRPr lang="en-US" sz="1900" dirty="0"/>
          </a:p>
        </p:txBody>
      </p:sp>
      <p:sp>
        <p:nvSpPr>
          <p:cNvPr id="6" name="Shape 4"/>
          <p:cNvSpPr/>
          <p:nvPr/>
        </p:nvSpPr>
        <p:spPr>
          <a:xfrm>
            <a:off x="594360" y="3611880"/>
            <a:ext cx="10972800" cy="1234440"/>
          </a:xfrm>
          <a:prstGeom prst="roundRect">
            <a:avLst>
              <a:gd name="adj" fmla="val 6667"/>
            </a:avLst>
          </a:prstGeom>
          <a:solidFill>
            <a:srgbClr val="B02532"/>
          </a:solidFill>
          <a:ln w="12700">
            <a:solidFill>
              <a:srgbClr val="B02532"/>
            </a:solidFill>
            <a:prstDash val="solid"/>
          </a:ln>
        </p:spPr>
      </p:sp>
      <p:sp>
        <p:nvSpPr>
          <p:cNvPr id="7" name="Text 5"/>
          <p:cNvSpPr/>
          <p:nvPr/>
        </p:nvSpPr>
        <p:spPr>
          <a:xfrm>
            <a:off x="868680" y="3611880"/>
            <a:ext cx="10424160" cy="123444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În cuvinte de zi cu zi: aveți ceva de câștigat dintr-o decizie care ar trebui să privească numai binele pacientului.</a:t>
            </a:r>
            <a:endParaRPr lang="en-US" sz="2000" dirty="0"/>
          </a:p>
        </p:txBody>
      </p:sp>
      <p:sp>
        <p:nvSpPr>
          <p:cNvPr id="8" name="Text 6"/>
          <p:cNvSpPr/>
          <p:nvPr/>
        </p:nvSpPr>
        <p:spPr>
          <a:xfrm>
            <a:off x="594360" y="5120640"/>
            <a:ext cx="10972800" cy="822960"/>
          </a:xfrm>
          <a:prstGeom prst="rect">
            <a:avLst/>
          </a:prstGeom>
          <a:noFill/>
          <a:ln/>
        </p:spPr>
        <p:txBody>
          <a:bodyPr wrap="square" lIns="0" tIns="0" rIns="0" bIns="0" rtlCol="0" anchor="t"/>
          <a:lstStyle/>
          <a:p>
            <a:pPr indent="0" marL="0">
              <a:buNone/>
            </a:pPr>
            <a:r>
              <a:rPr lang="en-US" sz="1800" i="1" dirty="0">
                <a:solidFill>
                  <a:srgbClr val="3A3C44"/>
                </a:solidFill>
                <a:latin typeface="Palatino Linotype" pitchFamily="34" charset="0"/>
                <a:ea typeface="Palatino Linotype" pitchFamily="34" charset="-122"/>
                <a:cs typeface="Palatino Linotype" pitchFamily="34" charset="-120"/>
              </a:rPr>
              <a:t>O situație, nu o faptă: îl aveți înainte să decideți ceva. Exemplul de azi: rezidenta căreia o firmă i-a plătit taxa de congres.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TOȚI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VALORI IPOTETICE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Trei medici, trei situații</a:t>
            </a:r>
            <a:endParaRPr lang="en-US" sz="3400" dirty="0"/>
          </a:p>
        </p:txBody>
      </p:sp>
      <p:sp>
        <p:nvSpPr>
          <p:cNvPr id="6" name="Shape 4"/>
          <p:cNvSpPr/>
          <p:nvPr/>
        </p:nvSpPr>
        <p:spPr>
          <a:xfrm>
            <a:off x="594360" y="1783080"/>
            <a:ext cx="3520440" cy="2743200"/>
          </a:xfrm>
          <a:prstGeom prst="roundRect">
            <a:avLst>
              <a:gd name="adj" fmla="val 3000"/>
            </a:avLst>
          </a:prstGeom>
          <a:solidFill>
            <a:srgbClr val="1D1F2B"/>
          </a:solidFill>
          <a:ln w="12700">
            <a:solidFill>
              <a:srgbClr val="1D1F2B"/>
            </a:solidFill>
            <a:prstDash val="solid"/>
          </a:ln>
        </p:spPr>
      </p:sp>
      <p:sp>
        <p:nvSpPr>
          <p:cNvPr id="7" name="Shape 5"/>
          <p:cNvSpPr/>
          <p:nvPr/>
        </p:nvSpPr>
        <p:spPr>
          <a:xfrm>
            <a:off x="868680" y="1965960"/>
            <a:ext cx="548640" cy="548640"/>
          </a:xfrm>
          <a:prstGeom prst="ellipse">
            <a:avLst/>
          </a:prstGeom>
          <a:solidFill>
            <a:srgbClr val="FFC24B"/>
          </a:solidFill>
          <a:ln/>
        </p:spPr>
      </p:sp>
      <p:sp>
        <p:nvSpPr>
          <p:cNvPr id="8" name="Text 6"/>
          <p:cNvSpPr/>
          <p:nvPr/>
        </p:nvSpPr>
        <p:spPr>
          <a:xfrm>
            <a:off x="868680" y="1965960"/>
            <a:ext cx="548640" cy="54864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1</a:t>
            </a:r>
            <a:endParaRPr lang="en-US" sz="1700" dirty="0"/>
          </a:p>
        </p:txBody>
      </p:sp>
      <p:sp>
        <p:nvSpPr>
          <p:cNvPr id="9" name="Text 7"/>
          <p:cNvSpPr/>
          <p:nvPr/>
        </p:nvSpPr>
        <p:spPr>
          <a:xfrm>
            <a:off x="868680" y="2697480"/>
            <a:ext cx="3017520" cy="17373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Primește o cafea la o prezentare de produs și prescrie a doua zi exact ca înainte.</a:t>
            </a:r>
            <a:endParaRPr lang="en-US" sz="1700" dirty="0"/>
          </a:p>
        </p:txBody>
      </p:sp>
      <p:sp>
        <p:nvSpPr>
          <p:cNvPr id="10" name="Shape 8"/>
          <p:cNvSpPr/>
          <p:nvPr/>
        </p:nvSpPr>
        <p:spPr>
          <a:xfrm>
            <a:off x="4343400" y="1783080"/>
            <a:ext cx="3520440" cy="2743200"/>
          </a:xfrm>
          <a:prstGeom prst="roundRect">
            <a:avLst>
              <a:gd name="adj" fmla="val 3000"/>
            </a:avLst>
          </a:prstGeom>
          <a:solidFill>
            <a:srgbClr val="1D1F2B"/>
          </a:solidFill>
          <a:ln w="12700">
            <a:solidFill>
              <a:srgbClr val="1D1F2B"/>
            </a:solidFill>
            <a:prstDash val="solid"/>
          </a:ln>
        </p:spPr>
      </p:sp>
      <p:sp>
        <p:nvSpPr>
          <p:cNvPr id="11" name="Shape 9"/>
          <p:cNvSpPr/>
          <p:nvPr/>
        </p:nvSpPr>
        <p:spPr>
          <a:xfrm>
            <a:off x="4617720" y="1965960"/>
            <a:ext cx="548640" cy="548640"/>
          </a:xfrm>
          <a:prstGeom prst="ellipse">
            <a:avLst/>
          </a:prstGeom>
          <a:solidFill>
            <a:srgbClr val="FFC24B"/>
          </a:solidFill>
          <a:ln/>
        </p:spPr>
      </p:sp>
      <p:sp>
        <p:nvSpPr>
          <p:cNvPr id="12" name="Text 10"/>
          <p:cNvSpPr/>
          <p:nvPr/>
        </p:nvSpPr>
        <p:spPr>
          <a:xfrm>
            <a:off x="4617720" y="1965960"/>
            <a:ext cx="548640" cy="54864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2</a:t>
            </a:r>
            <a:endParaRPr lang="en-US" sz="1700" dirty="0"/>
          </a:p>
        </p:txBody>
      </p:sp>
      <p:sp>
        <p:nvSpPr>
          <p:cNvPr id="13" name="Text 11"/>
          <p:cNvSpPr/>
          <p:nvPr/>
        </p:nvSpPr>
        <p:spPr>
          <a:xfrm>
            <a:off x="4617720" y="2697480"/>
            <a:ext cx="3017520" cy="17373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Este membru într-o comisie care decide ce medicamente se compensează și are rude care lucrează la una dintre firmele discutate.</a:t>
            </a:r>
            <a:endParaRPr lang="en-US" sz="1700" dirty="0"/>
          </a:p>
        </p:txBody>
      </p:sp>
      <p:sp>
        <p:nvSpPr>
          <p:cNvPr id="14" name="Shape 12"/>
          <p:cNvSpPr/>
          <p:nvPr/>
        </p:nvSpPr>
        <p:spPr>
          <a:xfrm>
            <a:off x="8092440" y="1783080"/>
            <a:ext cx="3520440" cy="2743200"/>
          </a:xfrm>
          <a:prstGeom prst="roundRect">
            <a:avLst>
              <a:gd name="adj" fmla="val 3000"/>
            </a:avLst>
          </a:prstGeom>
          <a:solidFill>
            <a:srgbClr val="1D1F2B"/>
          </a:solidFill>
          <a:ln w="12700">
            <a:solidFill>
              <a:srgbClr val="1D1F2B"/>
            </a:solidFill>
            <a:prstDash val="solid"/>
          </a:ln>
        </p:spPr>
      </p:sp>
      <p:sp>
        <p:nvSpPr>
          <p:cNvPr id="15" name="Shape 13"/>
          <p:cNvSpPr/>
          <p:nvPr/>
        </p:nvSpPr>
        <p:spPr>
          <a:xfrm>
            <a:off x="8366760" y="1965960"/>
            <a:ext cx="548640" cy="548640"/>
          </a:xfrm>
          <a:prstGeom prst="ellipse">
            <a:avLst/>
          </a:prstGeom>
          <a:solidFill>
            <a:srgbClr val="FFC24B"/>
          </a:solidFill>
          <a:ln/>
        </p:spPr>
      </p:sp>
      <p:sp>
        <p:nvSpPr>
          <p:cNvPr id="16" name="Text 14"/>
          <p:cNvSpPr/>
          <p:nvPr/>
        </p:nvSpPr>
        <p:spPr>
          <a:xfrm>
            <a:off x="8366760" y="1965960"/>
            <a:ext cx="548640" cy="548640"/>
          </a:xfrm>
          <a:prstGeom prst="rect">
            <a:avLst/>
          </a:prstGeom>
          <a:noFill/>
          <a:ln/>
        </p:spPr>
        <p:txBody>
          <a:bodyPr wrap="square" lIns="0" tIns="0" rIns="0" bIns="0" rtlCol="0" anchor="ctr"/>
          <a:lstStyle/>
          <a:p>
            <a:pPr algn="ctr" indent="0" marL="0">
              <a:buNone/>
            </a:pPr>
            <a:r>
              <a:rPr lang="en-US" sz="1700" b="1" dirty="0">
                <a:solidFill>
                  <a:srgbClr val="11121A"/>
                </a:solidFill>
                <a:latin typeface="Palatino Linotype" pitchFamily="34" charset="0"/>
                <a:ea typeface="Palatino Linotype" pitchFamily="34" charset="-122"/>
                <a:cs typeface="Palatino Linotype" pitchFamily="34" charset="-120"/>
              </a:rPr>
              <a:t>3</a:t>
            </a:r>
            <a:endParaRPr lang="en-US" sz="1700" dirty="0"/>
          </a:p>
        </p:txBody>
      </p:sp>
      <p:sp>
        <p:nvSpPr>
          <p:cNvPr id="17" name="Text 15"/>
          <p:cNvSpPr/>
          <p:nvPr/>
        </p:nvSpPr>
        <p:spPr>
          <a:xfrm>
            <a:off x="8366760" y="2697480"/>
            <a:ext cx="3017520" cy="17373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Cere bani unei firme ca să-i includă medicamentul pe lista spitalului.</a:t>
            </a:r>
            <a:endParaRPr lang="en-US" sz="1700" dirty="0"/>
          </a:p>
        </p:txBody>
      </p:sp>
      <p:sp>
        <p:nvSpPr>
          <p:cNvPr id="18" name="Text 16"/>
          <p:cNvSpPr/>
          <p:nvPr/>
        </p:nvSpPr>
        <p:spPr>
          <a:xfrm>
            <a:off x="594360" y="4846320"/>
            <a:ext cx="10972800" cy="731520"/>
          </a:xfrm>
          <a:prstGeom prst="rect">
            <a:avLst/>
          </a:prstGeom>
          <a:noFill/>
          <a:ln/>
        </p:spPr>
        <p:txBody>
          <a:bodyPr wrap="square" lIns="0" tIns="0" rIns="0" bIns="0" rtlCol="0" anchor="t"/>
          <a:lstStyle/>
          <a:p>
            <a:pPr indent="0" marL="0">
              <a:buNone/>
            </a:pPr>
            <a:r>
              <a:rPr lang="en-US" sz="2600" b="1" dirty="0">
                <a:solidFill>
                  <a:srgbClr val="FFC24B"/>
                </a:solidFill>
                <a:latin typeface="Palatino Linotype" pitchFamily="34" charset="0"/>
                <a:ea typeface="Palatino Linotype" pitchFamily="34" charset="-122"/>
                <a:cs typeface="Palatino Linotype" pitchFamily="34" charset="-120"/>
              </a:rPr>
              <a:t>Cine are un conflict de interese? Cine a comis deja o faptă?</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 LA VOTUL 1</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Răspunsul A: rezidenta are un conflict de interese</a:t>
            </a:r>
            <a:endParaRPr lang="en-US" sz="3000" dirty="0"/>
          </a:p>
        </p:txBody>
      </p:sp>
      <p:sp>
        <p:nvSpPr>
          <p:cNvPr id="4" name="Shape 2"/>
          <p:cNvSpPr/>
          <p:nvPr/>
        </p:nvSpPr>
        <p:spPr>
          <a:xfrm>
            <a:off x="594360" y="1691640"/>
            <a:ext cx="10972800" cy="896112"/>
          </a:xfrm>
          <a:prstGeom prst="roundRect">
            <a:avLst>
              <a:gd name="adj" fmla="val 9184"/>
            </a:avLst>
          </a:prstGeom>
          <a:solidFill>
            <a:srgbClr val="ECEAE4"/>
          </a:solidFill>
          <a:ln w="12700">
            <a:solidFill>
              <a:srgbClr val="ECEAE4"/>
            </a:solidFill>
            <a:prstDash val="solid"/>
          </a:ln>
        </p:spPr>
      </p:sp>
      <p:sp>
        <p:nvSpPr>
          <p:cNvPr id="5" name="Text 3"/>
          <p:cNvSpPr/>
          <p:nvPr/>
        </p:nvSpPr>
        <p:spPr>
          <a:xfrm>
            <a:off x="868680" y="1691640"/>
            <a:ext cx="3108960" cy="896112"/>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O situație, nu o faptă</a:t>
            </a:r>
            <a:endParaRPr lang="en-US" sz="1800" dirty="0"/>
          </a:p>
        </p:txBody>
      </p:sp>
      <p:sp>
        <p:nvSpPr>
          <p:cNvPr id="6" name="Text 4"/>
          <p:cNvSpPr/>
          <p:nvPr/>
        </p:nvSpPr>
        <p:spPr>
          <a:xfrm>
            <a:off x="4114800" y="1691640"/>
            <a:ext cx="7269480" cy="89611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Nu a prescris încă nimic. Conflictul există înainte de orice decizie.</a:t>
            </a:r>
            <a:endParaRPr lang="en-US" sz="1700" dirty="0"/>
          </a:p>
        </p:txBody>
      </p:sp>
      <p:sp>
        <p:nvSpPr>
          <p:cNvPr id="7" name="Shape 5"/>
          <p:cNvSpPr/>
          <p:nvPr/>
        </p:nvSpPr>
        <p:spPr>
          <a:xfrm>
            <a:off x="594360" y="2715768"/>
            <a:ext cx="10972800" cy="896112"/>
          </a:xfrm>
          <a:prstGeom prst="roundRect">
            <a:avLst>
              <a:gd name="adj" fmla="val 9184"/>
            </a:avLst>
          </a:prstGeom>
          <a:solidFill>
            <a:srgbClr val="F9F8F5"/>
          </a:solidFill>
          <a:ln w="12700">
            <a:solidFill>
              <a:srgbClr val="F9F8F5"/>
            </a:solidFill>
            <a:prstDash val="solid"/>
          </a:ln>
        </p:spPr>
      </p:sp>
      <p:sp>
        <p:nvSpPr>
          <p:cNvPr id="8" name="Text 6"/>
          <p:cNvSpPr/>
          <p:nvPr/>
        </p:nvSpPr>
        <p:spPr>
          <a:xfrm>
            <a:off x="868680" y="2715768"/>
            <a:ext cx="3108960" cy="896112"/>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Intenția nu schimbă situația</a:t>
            </a:r>
            <a:endParaRPr lang="en-US" sz="1800" dirty="0"/>
          </a:p>
        </p:txBody>
      </p:sp>
      <p:sp>
        <p:nvSpPr>
          <p:cNvPr id="9" name="Text 7"/>
          <p:cNvSpPr/>
          <p:nvPr/>
        </p:nvSpPr>
        <p:spPr>
          <a:xfrm>
            <a:off x="4114800" y="2715768"/>
            <a:ext cx="7269480" cy="89611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Lipsa intenției nu face situația mai puțin reală; doar o face mai greu de văzut.</a:t>
            </a:r>
            <a:endParaRPr lang="en-US" sz="1700" dirty="0"/>
          </a:p>
        </p:txBody>
      </p:sp>
      <p:sp>
        <p:nvSpPr>
          <p:cNvPr id="10" name="Shape 8"/>
          <p:cNvSpPr/>
          <p:nvPr/>
        </p:nvSpPr>
        <p:spPr>
          <a:xfrm>
            <a:off x="594360" y="3739896"/>
            <a:ext cx="10972800" cy="896112"/>
          </a:xfrm>
          <a:prstGeom prst="roundRect">
            <a:avLst>
              <a:gd name="adj" fmla="val 9184"/>
            </a:avLst>
          </a:prstGeom>
          <a:solidFill>
            <a:srgbClr val="ECEAE4"/>
          </a:solidFill>
          <a:ln w="12700">
            <a:solidFill>
              <a:srgbClr val="ECEAE4"/>
            </a:solidFill>
            <a:prstDash val="solid"/>
          </a:ln>
        </p:spPr>
      </p:sp>
      <p:sp>
        <p:nvSpPr>
          <p:cNvPr id="11" name="Text 9"/>
          <p:cNvSpPr/>
          <p:nvPr/>
        </p:nvSpPr>
        <p:spPr>
          <a:xfrm>
            <a:off x="868680" y="3739896"/>
            <a:ext cx="3108960" cy="896112"/>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Nu înseamnă corupție</a:t>
            </a:r>
            <a:endParaRPr lang="en-US" sz="1800" dirty="0"/>
          </a:p>
        </p:txBody>
      </p:sp>
      <p:sp>
        <p:nvSpPr>
          <p:cNvPr id="12" name="Text 10"/>
          <p:cNvSpPr/>
          <p:nvPr/>
        </p:nvSpPr>
        <p:spPr>
          <a:xfrm>
            <a:off x="4114800" y="3739896"/>
            <a:ext cx="7269480" cy="896112"/>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Dar conflictele de interese gestionate prost sunt printre factorii care favorizează corupția.</a:t>
            </a:r>
            <a:endParaRPr lang="en-US" sz="1700" dirty="0"/>
          </a:p>
        </p:txBody>
      </p:sp>
      <p:sp>
        <p:nvSpPr>
          <p:cNvPr id="13" name="Text 11"/>
          <p:cNvSpPr/>
          <p:nvPr/>
        </p:nvSpPr>
        <p:spPr>
          <a:xfrm>
            <a:off x="594360" y="489204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Medicii 1 și 2 au un conflict de interese; niciunul nu a făcut ceva greșit. Medicul 3 a trecut de la situație la faptă: cere bani pentru o decizie.</a:t>
            </a:r>
            <a:endParaRPr lang="en-US" sz="18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registru A751 (conflictele gestionate prost, printre factorii corupției).</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ADEVĂRAT SAU FALS?</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SE POATE FACE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Trei remedii, de la cel mai blând la cel mai strict</a:t>
            </a:r>
            <a:endParaRPr lang="en-US" sz="2900" dirty="0"/>
          </a:p>
        </p:txBody>
      </p:sp>
      <p:sp>
        <p:nvSpPr>
          <p:cNvPr id="6" name="Shape 4"/>
          <p:cNvSpPr/>
          <p:nvPr/>
        </p:nvSpPr>
        <p:spPr>
          <a:xfrm>
            <a:off x="594360" y="2743200"/>
            <a:ext cx="3520440" cy="1874520"/>
          </a:xfrm>
          <a:prstGeom prst="roundRect">
            <a:avLst>
              <a:gd name="adj" fmla="val 4390"/>
            </a:avLst>
          </a:prstGeom>
          <a:solidFill>
            <a:srgbClr val="0E7C6B"/>
          </a:solidFill>
          <a:ln w="12700">
            <a:solidFill>
              <a:srgbClr val="0E7C6B"/>
            </a:solidFill>
            <a:prstDash val="solid"/>
          </a:ln>
        </p:spPr>
      </p:sp>
      <p:sp>
        <p:nvSpPr>
          <p:cNvPr id="7" name="Text 5"/>
          <p:cNvSpPr/>
          <p:nvPr/>
        </p:nvSpPr>
        <p:spPr>
          <a:xfrm>
            <a:off x="868680" y="2926080"/>
            <a:ext cx="3017520" cy="548640"/>
          </a:xfrm>
          <a:prstGeom prst="rect">
            <a:avLst/>
          </a:prstGeom>
          <a:noFill/>
          <a:ln/>
        </p:spPr>
        <p:txBody>
          <a:bodyPr wrap="square" lIns="0" tIns="0" rIns="0" bIns="0" rtlCol="0" anchor="t"/>
          <a:lstStyle/>
          <a:p>
            <a:pPr indent="0" marL="0">
              <a:buNone/>
            </a:pPr>
            <a:r>
              <a:rPr lang="en-US" sz="2300" b="1" dirty="0">
                <a:solidFill>
                  <a:srgbClr val="FFFFFF"/>
                </a:solidFill>
                <a:latin typeface="Palatino Linotype" pitchFamily="34" charset="0"/>
                <a:ea typeface="Palatino Linotype" pitchFamily="34" charset="-122"/>
                <a:cs typeface="Palatino Linotype" pitchFamily="34" charset="-120"/>
              </a:rPr>
              <a:t>Declararea</a:t>
            </a:r>
            <a:endParaRPr lang="en-US" sz="2300" dirty="0"/>
          </a:p>
        </p:txBody>
      </p:sp>
      <p:sp>
        <p:nvSpPr>
          <p:cNvPr id="8" name="Text 6"/>
          <p:cNvSpPr/>
          <p:nvPr/>
        </p:nvSpPr>
        <p:spPr>
          <a:xfrm>
            <a:off x="868680" y="3566160"/>
            <a:ext cx="3017520" cy="9144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Spuneți deschis că aveți interesul.</a:t>
            </a:r>
            <a:endParaRPr lang="en-US" sz="1600" dirty="0"/>
          </a:p>
        </p:txBody>
      </p:sp>
      <p:sp>
        <p:nvSpPr>
          <p:cNvPr id="9" name="Shape 7"/>
          <p:cNvSpPr/>
          <p:nvPr/>
        </p:nvSpPr>
        <p:spPr>
          <a:xfrm>
            <a:off x="4343400" y="2331720"/>
            <a:ext cx="3520440" cy="2286000"/>
          </a:xfrm>
          <a:prstGeom prst="roundRect">
            <a:avLst>
              <a:gd name="adj" fmla="val 3600"/>
            </a:avLst>
          </a:prstGeom>
          <a:solidFill>
            <a:srgbClr val="8A6100"/>
          </a:solidFill>
          <a:ln w="12700">
            <a:solidFill>
              <a:srgbClr val="8A6100"/>
            </a:solidFill>
            <a:prstDash val="solid"/>
          </a:ln>
        </p:spPr>
      </p:sp>
      <p:sp>
        <p:nvSpPr>
          <p:cNvPr id="10" name="Text 8"/>
          <p:cNvSpPr/>
          <p:nvPr/>
        </p:nvSpPr>
        <p:spPr>
          <a:xfrm>
            <a:off x="4617720" y="2514600"/>
            <a:ext cx="3017520" cy="548640"/>
          </a:xfrm>
          <a:prstGeom prst="rect">
            <a:avLst/>
          </a:prstGeom>
          <a:noFill/>
          <a:ln/>
        </p:spPr>
        <p:txBody>
          <a:bodyPr wrap="square" lIns="0" tIns="0" rIns="0" bIns="0" rtlCol="0" anchor="t"/>
          <a:lstStyle/>
          <a:p>
            <a:pPr indent="0" marL="0">
              <a:buNone/>
            </a:pPr>
            <a:r>
              <a:rPr lang="en-US" sz="2300" b="1" dirty="0">
                <a:solidFill>
                  <a:srgbClr val="FFFFFF"/>
                </a:solidFill>
                <a:latin typeface="Palatino Linotype" pitchFamily="34" charset="0"/>
                <a:ea typeface="Palatino Linotype" pitchFamily="34" charset="-122"/>
                <a:cs typeface="Palatino Linotype" pitchFamily="34" charset="-120"/>
              </a:rPr>
              <a:t>Abținerea</a:t>
            </a:r>
            <a:endParaRPr lang="en-US" sz="2300" dirty="0"/>
          </a:p>
        </p:txBody>
      </p:sp>
      <p:sp>
        <p:nvSpPr>
          <p:cNvPr id="11" name="Text 9"/>
          <p:cNvSpPr/>
          <p:nvPr/>
        </p:nvSpPr>
        <p:spPr>
          <a:xfrm>
            <a:off x="4617720" y="3154680"/>
            <a:ext cx="3017520" cy="132588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Nu participați la decizia în care interesul ar putea conta.</a:t>
            </a:r>
            <a:endParaRPr lang="en-US" sz="1600" dirty="0"/>
          </a:p>
        </p:txBody>
      </p:sp>
      <p:sp>
        <p:nvSpPr>
          <p:cNvPr id="12" name="Shape 10"/>
          <p:cNvSpPr/>
          <p:nvPr/>
        </p:nvSpPr>
        <p:spPr>
          <a:xfrm>
            <a:off x="8092440" y="1920240"/>
            <a:ext cx="3520440" cy="2697480"/>
          </a:xfrm>
          <a:prstGeom prst="roundRect">
            <a:avLst>
              <a:gd name="adj" fmla="val 3051"/>
            </a:avLst>
          </a:prstGeom>
          <a:solidFill>
            <a:srgbClr val="B02532"/>
          </a:solidFill>
          <a:ln w="12700">
            <a:solidFill>
              <a:srgbClr val="B02532"/>
            </a:solidFill>
            <a:prstDash val="solid"/>
          </a:ln>
        </p:spPr>
      </p:sp>
      <p:sp>
        <p:nvSpPr>
          <p:cNvPr id="13" name="Text 11"/>
          <p:cNvSpPr/>
          <p:nvPr/>
        </p:nvSpPr>
        <p:spPr>
          <a:xfrm>
            <a:off x="8366760" y="2103120"/>
            <a:ext cx="3017520" cy="548640"/>
          </a:xfrm>
          <a:prstGeom prst="rect">
            <a:avLst/>
          </a:prstGeom>
          <a:noFill/>
          <a:ln/>
        </p:spPr>
        <p:txBody>
          <a:bodyPr wrap="square" lIns="0" tIns="0" rIns="0" bIns="0" rtlCol="0" anchor="t"/>
          <a:lstStyle/>
          <a:p>
            <a:pPr indent="0" marL="0">
              <a:buNone/>
            </a:pPr>
            <a:r>
              <a:rPr lang="en-US" sz="2300" b="1" dirty="0">
                <a:solidFill>
                  <a:srgbClr val="FFFFFF"/>
                </a:solidFill>
                <a:latin typeface="Palatino Linotype" pitchFamily="34" charset="0"/>
                <a:ea typeface="Palatino Linotype" pitchFamily="34" charset="-122"/>
                <a:cs typeface="Palatino Linotype" pitchFamily="34" charset="-120"/>
              </a:rPr>
              <a:t>Interdicția</a:t>
            </a:r>
            <a:endParaRPr lang="en-US" sz="2300" dirty="0"/>
          </a:p>
        </p:txBody>
      </p:sp>
      <p:sp>
        <p:nvSpPr>
          <p:cNvPr id="14" name="Text 12"/>
          <p:cNvSpPr/>
          <p:nvPr/>
        </p:nvSpPr>
        <p:spPr>
          <a:xfrm>
            <a:off x="8366760" y="2743200"/>
            <a:ext cx="3017520" cy="173736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Interesul vă exclude de la decizie: de pildă, nu puteți fi membru al unei comisii a ministerului dacă, împreună cu familia, dețineți peste 5% dintr-o companie de medicamente.</a:t>
            </a:r>
            <a:endParaRPr lang="en-US" sz="1600" dirty="0"/>
          </a:p>
        </p:txBody>
      </p:sp>
      <p:sp>
        <p:nvSpPr>
          <p:cNvPr id="15" name="Text 13"/>
          <p:cNvSpPr/>
          <p:nvPr/>
        </p:nvSpPr>
        <p:spPr>
          <a:xfrm>
            <a:off x="594360" y="484632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Adevărat sau fals? „Odată declarat, conflictul de interese a dispărut.” Ridicați mâna dacă e adevărat.</a:t>
            </a:r>
            <a:endParaRPr lang="en-US" sz="18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Ordinul ministrului sănătății nr. 2396/2023; registru A748, A750, A712.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CE ÎNSEAMNĂ PENTRU VOI, CA MEDICI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Trei întrebări înainte să primiți ceva</a:t>
            </a:r>
            <a:endParaRPr lang="en-US" sz="3200" dirty="0"/>
          </a:p>
        </p:txBody>
      </p:sp>
      <p:sp>
        <p:nvSpPr>
          <p:cNvPr id="6" name="Shape 4"/>
          <p:cNvSpPr/>
          <p:nvPr/>
        </p:nvSpPr>
        <p:spPr>
          <a:xfrm>
            <a:off x="594360" y="1783080"/>
            <a:ext cx="10972800" cy="804672"/>
          </a:xfrm>
          <a:prstGeom prst="roundRect">
            <a:avLst>
              <a:gd name="adj" fmla="val 10227"/>
            </a:avLst>
          </a:prstGeom>
          <a:solidFill>
            <a:srgbClr val="1D1F2B"/>
          </a:solidFill>
          <a:ln w="12700">
            <a:solidFill>
              <a:srgbClr val="1D1F2B"/>
            </a:solidFill>
            <a:prstDash val="solid"/>
          </a:ln>
        </p:spPr>
      </p:sp>
      <p:sp>
        <p:nvSpPr>
          <p:cNvPr id="7" name="Shape 5"/>
          <p:cNvSpPr/>
          <p:nvPr/>
        </p:nvSpPr>
        <p:spPr>
          <a:xfrm>
            <a:off x="914400" y="1975104"/>
            <a:ext cx="420624" cy="420624"/>
          </a:xfrm>
          <a:prstGeom prst="ellipse">
            <a:avLst/>
          </a:prstGeom>
          <a:solidFill>
            <a:srgbClr val="27D3BE"/>
          </a:solidFill>
          <a:ln/>
        </p:spPr>
      </p:sp>
      <p:sp>
        <p:nvSpPr>
          <p:cNvPr id="8" name="Text 6"/>
          <p:cNvSpPr/>
          <p:nvPr/>
        </p:nvSpPr>
        <p:spPr>
          <a:xfrm>
            <a:off x="914400" y="19751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783080"/>
            <a:ext cx="9692640" cy="80467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Cine îmi oferă acest lucru?</a:t>
            </a:r>
            <a:endParaRPr lang="en-US" sz="2100" dirty="0"/>
          </a:p>
        </p:txBody>
      </p:sp>
      <p:sp>
        <p:nvSpPr>
          <p:cNvPr id="10" name="Shape 8"/>
          <p:cNvSpPr/>
          <p:nvPr/>
        </p:nvSpPr>
        <p:spPr>
          <a:xfrm>
            <a:off x="594360" y="2743200"/>
            <a:ext cx="10972800" cy="804672"/>
          </a:xfrm>
          <a:prstGeom prst="roundRect">
            <a:avLst>
              <a:gd name="adj" fmla="val 10227"/>
            </a:avLst>
          </a:prstGeom>
          <a:solidFill>
            <a:srgbClr val="1D1F2B"/>
          </a:solidFill>
          <a:ln w="12700">
            <a:solidFill>
              <a:srgbClr val="1D1F2B"/>
            </a:solidFill>
            <a:prstDash val="solid"/>
          </a:ln>
        </p:spPr>
      </p:sp>
      <p:sp>
        <p:nvSpPr>
          <p:cNvPr id="11" name="Shape 9"/>
          <p:cNvSpPr/>
          <p:nvPr/>
        </p:nvSpPr>
        <p:spPr>
          <a:xfrm>
            <a:off x="914400" y="2935224"/>
            <a:ext cx="420624" cy="420624"/>
          </a:xfrm>
          <a:prstGeom prst="ellipse">
            <a:avLst/>
          </a:prstGeom>
          <a:solidFill>
            <a:srgbClr val="27D3BE"/>
          </a:solidFill>
          <a:ln/>
        </p:spPr>
      </p:sp>
      <p:sp>
        <p:nvSpPr>
          <p:cNvPr id="12" name="Text 10"/>
          <p:cNvSpPr/>
          <p:nvPr/>
        </p:nvSpPr>
        <p:spPr>
          <a:xfrm>
            <a:off x="914400" y="29352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743200"/>
            <a:ext cx="9692640" cy="80467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Ce decizii iau eu care contează pentru el?</a:t>
            </a:r>
            <a:endParaRPr lang="en-US" sz="2100" dirty="0"/>
          </a:p>
        </p:txBody>
      </p:sp>
      <p:sp>
        <p:nvSpPr>
          <p:cNvPr id="14" name="Shape 12"/>
          <p:cNvSpPr/>
          <p:nvPr/>
        </p:nvSpPr>
        <p:spPr>
          <a:xfrm>
            <a:off x="594360" y="3703320"/>
            <a:ext cx="10972800" cy="804672"/>
          </a:xfrm>
          <a:prstGeom prst="roundRect">
            <a:avLst>
              <a:gd name="adj" fmla="val 10227"/>
            </a:avLst>
          </a:prstGeom>
          <a:solidFill>
            <a:srgbClr val="1D1F2B"/>
          </a:solidFill>
          <a:ln w="12700">
            <a:solidFill>
              <a:srgbClr val="1D1F2B"/>
            </a:solidFill>
            <a:prstDash val="solid"/>
          </a:ln>
        </p:spPr>
      </p:sp>
      <p:sp>
        <p:nvSpPr>
          <p:cNvPr id="15" name="Shape 13"/>
          <p:cNvSpPr/>
          <p:nvPr/>
        </p:nvSpPr>
        <p:spPr>
          <a:xfrm>
            <a:off x="914400" y="3895344"/>
            <a:ext cx="420624" cy="420624"/>
          </a:xfrm>
          <a:prstGeom prst="ellipse">
            <a:avLst/>
          </a:prstGeom>
          <a:solidFill>
            <a:srgbClr val="27D3BE"/>
          </a:solidFill>
          <a:ln/>
        </p:spPr>
      </p:sp>
      <p:sp>
        <p:nvSpPr>
          <p:cNvPr id="16" name="Text 14"/>
          <p:cNvSpPr/>
          <p:nvPr/>
        </p:nvSpPr>
        <p:spPr>
          <a:xfrm>
            <a:off x="914400" y="38953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703320"/>
            <a:ext cx="9692640" cy="80467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M-aș simți bine dacă pacientul meu ar ști?</a:t>
            </a:r>
            <a:endParaRPr lang="en-US" sz="2100" dirty="0"/>
          </a:p>
        </p:txBody>
      </p:sp>
      <p:sp>
        <p:nvSpPr>
          <p:cNvPr id="18" name="Text 16"/>
          <p:cNvSpPr/>
          <p:nvPr/>
        </p:nvSpPr>
        <p:spPr>
          <a:xfrm>
            <a:off x="594360" y="4754880"/>
            <a:ext cx="10972800" cy="54864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Dacă la ultima întrebare răspundeți „nu prea”, știți deja ce aveți de făcut.</a:t>
            </a:r>
            <a:endParaRPr lang="en-US" sz="1800" dirty="0"/>
          </a:p>
        </p:txBody>
      </p:sp>
      <p:sp>
        <p:nvSpPr>
          <p:cNvPr id="19" name="Text 17"/>
          <p:cNvSpPr/>
          <p:nvPr/>
        </p:nvSpPr>
        <p:spPr>
          <a:xfrm>
            <a:off x="594360" y="534924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Cu colegul de bancă: luați un dar primit de unul dintre voi și treceți-l prin cele trei întrebări.</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RIDICAȚI MÂNA</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POVESTEA A DOUA · CINE DECLARĂ, ÎN ROMÂNIA</a:t>
            </a:r>
            <a:endParaRPr lang="en-US" sz="1300" dirty="0"/>
          </a:p>
        </p:txBody>
      </p:sp>
      <p:sp>
        <p:nvSpPr>
          <p:cNvPr id="5" name="Text 3"/>
          <p:cNvSpPr/>
          <p:nvPr/>
        </p:nvSpPr>
        <p:spPr>
          <a:xfrm>
            <a:off x="594360" y="868680"/>
            <a:ext cx="10972800" cy="128016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În România, declarațiile de avere și de interese sunt reglementate de Legea nr. 176/2010 privind integritatea în exercitarea funcțiilor și demnităților publice. Legea se aplică și unor persoane din sistemul de sănătate.</a:t>
            </a:r>
            <a:endParaRPr lang="en-US" sz="1800" dirty="0"/>
          </a:p>
        </p:txBody>
      </p:sp>
      <p:sp>
        <p:nvSpPr>
          <p:cNvPr id="6" name="Text 4"/>
          <p:cNvSpPr/>
          <p:nvPr/>
        </p:nvSpPr>
        <p:spPr>
          <a:xfrm>
            <a:off x="594360" y="2194560"/>
            <a:ext cx="10972800" cy="91440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Într-un spital de stat, cine credeți că este obligat de această lege să își declare interesele?</a:t>
            </a:r>
            <a:endParaRPr lang="en-US" sz="2500" dirty="0"/>
          </a:p>
        </p:txBody>
      </p:sp>
      <p:sp>
        <p:nvSpPr>
          <p:cNvPr id="7" name="Shape 5"/>
          <p:cNvSpPr/>
          <p:nvPr/>
        </p:nvSpPr>
        <p:spPr>
          <a:xfrm>
            <a:off x="594360" y="3246120"/>
            <a:ext cx="10972800" cy="566928"/>
          </a:xfrm>
          <a:prstGeom prst="roundRect">
            <a:avLst>
              <a:gd name="adj" fmla="val 14516"/>
            </a:avLst>
          </a:prstGeom>
          <a:solidFill>
            <a:srgbClr val="1D1F2B"/>
          </a:solidFill>
          <a:ln w="12700">
            <a:solidFill>
              <a:srgbClr val="1D1F2B"/>
            </a:solidFill>
            <a:prstDash val="solid"/>
          </a:ln>
        </p:spPr>
      </p:sp>
      <p:sp>
        <p:nvSpPr>
          <p:cNvPr id="8" name="Shape 6"/>
          <p:cNvSpPr/>
          <p:nvPr/>
        </p:nvSpPr>
        <p:spPr>
          <a:xfrm>
            <a:off x="914400" y="3319272"/>
            <a:ext cx="420624" cy="420624"/>
          </a:xfrm>
          <a:prstGeom prst="ellipse">
            <a:avLst/>
          </a:prstGeom>
          <a:solidFill>
            <a:srgbClr val="27D3BE"/>
          </a:solidFill>
          <a:ln/>
        </p:spPr>
      </p:sp>
      <p:sp>
        <p:nvSpPr>
          <p:cNvPr id="9" name="Text 7"/>
          <p:cNvSpPr/>
          <p:nvPr/>
        </p:nvSpPr>
        <p:spPr>
          <a:xfrm>
            <a:off x="914400" y="33192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3246120"/>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Managerul spitalului</a:t>
            </a:r>
            <a:endParaRPr lang="en-US" sz="1800" dirty="0"/>
          </a:p>
        </p:txBody>
      </p:sp>
      <p:sp>
        <p:nvSpPr>
          <p:cNvPr id="11" name="Shape 9"/>
          <p:cNvSpPr/>
          <p:nvPr/>
        </p:nvSpPr>
        <p:spPr>
          <a:xfrm>
            <a:off x="594360" y="3922776"/>
            <a:ext cx="10972800" cy="566928"/>
          </a:xfrm>
          <a:prstGeom prst="roundRect">
            <a:avLst>
              <a:gd name="adj" fmla="val 14516"/>
            </a:avLst>
          </a:prstGeom>
          <a:solidFill>
            <a:srgbClr val="1D1F2B"/>
          </a:solidFill>
          <a:ln w="12700">
            <a:solidFill>
              <a:srgbClr val="1D1F2B"/>
            </a:solidFill>
            <a:prstDash val="solid"/>
          </a:ln>
        </p:spPr>
      </p:sp>
      <p:sp>
        <p:nvSpPr>
          <p:cNvPr id="12" name="Shape 10"/>
          <p:cNvSpPr/>
          <p:nvPr/>
        </p:nvSpPr>
        <p:spPr>
          <a:xfrm>
            <a:off x="914400" y="3995928"/>
            <a:ext cx="420624" cy="420624"/>
          </a:xfrm>
          <a:prstGeom prst="ellipse">
            <a:avLst/>
          </a:prstGeom>
          <a:solidFill>
            <a:srgbClr val="27D3BE"/>
          </a:solidFill>
          <a:ln/>
        </p:spPr>
      </p:sp>
      <p:sp>
        <p:nvSpPr>
          <p:cNvPr id="13" name="Text 11"/>
          <p:cNvSpPr/>
          <p:nvPr/>
        </p:nvSpPr>
        <p:spPr>
          <a:xfrm>
            <a:off x="914400" y="3995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3922776"/>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Directorul medical</a:t>
            </a:r>
            <a:endParaRPr lang="en-US" sz="1800" dirty="0"/>
          </a:p>
        </p:txBody>
      </p:sp>
      <p:sp>
        <p:nvSpPr>
          <p:cNvPr id="15" name="Shape 13"/>
          <p:cNvSpPr/>
          <p:nvPr/>
        </p:nvSpPr>
        <p:spPr>
          <a:xfrm>
            <a:off x="594360" y="4599432"/>
            <a:ext cx="10972800" cy="566928"/>
          </a:xfrm>
          <a:prstGeom prst="roundRect">
            <a:avLst>
              <a:gd name="adj" fmla="val 14516"/>
            </a:avLst>
          </a:prstGeom>
          <a:solidFill>
            <a:srgbClr val="1D1F2B"/>
          </a:solidFill>
          <a:ln w="12700">
            <a:solidFill>
              <a:srgbClr val="1D1F2B"/>
            </a:solidFill>
            <a:prstDash val="solid"/>
          </a:ln>
        </p:spPr>
      </p:sp>
      <p:sp>
        <p:nvSpPr>
          <p:cNvPr id="16" name="Shape 14"/>
          <p:cNvSpPr/>
          <p:nvPr/>
        </p:nvSpPr>
        <p:spPr>
          <a:xfrm>
            <a:off x="914400" y="4672584"/>
            <a:ext cx="420624" cy="420624"/>
          </a:xfrm>
          <a:prstGeom prst="ellipse">
            <a:avLst/>
          </a:prstGeom>
          <a:solidFill>
            <a:srgbClr val="27D3BE"/>
          </a:solidFill>
          <a:ln/>
        </p:spPr>
      </p:sp>
      <p:sp>
        <p:nvSpPr>
          <p:cNvPr id="17" name="Text 15"/>
          <p:cNvSpPr/>
          <p:nvPr/>
        </p:nvSpPr>
        <p:spPr>
          <a:xfrm>
            <a:off x="914400" y="46725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600200" y="4599432"/>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Medicul de secție, fără funcție de conducere</a:t>
            </a:r>
            <a:endParaRPr lang="en-US" sz="1800" dirty="0"/>
          </a:p>
        </p:txBody>
      </p:sp>
      <p:sp>
        <p:nvSpPr>
          <p:cNvPr id="19" name="Shape 17"/>
          <p:cNvSpPr/>
          <p:nvPr/>
        </p:nvSpPr>
        <p:spPr>
          <a:xfrm>
            <a:off x="594360" y="5276088"/>
            <a:ext cx="10972800" cy="566928"/>
          </a:xfrm>
          <a:prstGeom prst="roundRect">
            <a:avLst>
              <a:gd name="adj" fmla="val 14516"/>
            </a:avLst>
          </a:prstGeom>
          <a:solidFill>
            <a:srgbClr val="1D1F2B"/>
          </a:solidFill>
          <a:ln w="12700">
            <a:solidFill>
              <a:srgbClr val="1D1F2B"/>
            </a:solidFill>
            <a:prstDash val="solid"/>
          </a:ln>
        </p:spPr>
      </p:sp>
      <p:sp>
        <p:nvSpPr>
          <p:cNvPr id="20" name="Shape 18"/>
          <p:cNvSpPr/>
          <p:nvPr/>
        </p:nvSpPr>
        <p:spPr>
          <a:xfrm>
            <a:off x="914400" y="5349240"/>
            <a:ext cx="420624" cy="420624"/>
          </a:xfrm>
          <a:prstGeom prst="ellipse">
            <a:avLst/>
          </a:prstGeom>
          <a:solidFill>
            <a:srgbClr val="27D3BE"/>
          </a:solidFill>
          <a:ln/>
        </p:spPr>
      </p:sp>
      <p:sp>
        <p:nvSpPr>
          <p:cNvPr id="21" name="Text 19"/>
          <p:cNvSpPr/>
          <p:nvPr/>
        </p:nvSpPr>
        <p:spPr>
          <a:xfrm>
            <a:off x="914400" y="5349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600200" y="5276088"/>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Toți trei</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RĂSPUNSUL · LEGEA NR. 176/2010</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Cine își declară interesele după Legea nr. 176/2010</a:t>
            </a:r>
            <a:endParaRPr lang="en-US" sz="2900" dirty="0"/>
          </a:p>
        </p:txBody>
      </p:sp>
      <p:sp>
        <p:nvSpPr>
          <p:cNvPr id="4" name="Shape 2"/>
          <p:cNvSpPr/>
          <p:nvPr/>
        </p:nvSpPr>
        <p:spPr>
          <a:xfrm>
            <a:off x="594360" y="1737360"/>
            <a:ext cx="5349240" cy="2011680"/>
          </a:xfrm>
          <a:prstGeom prst="roundRect">
            <a:avLst>
              <a:gd name="adj" fmla="val 4091"/>
            </a:avLst>
          </a:prstGeom>
          <a:solidFill>
            <a:srgbClr val="4A2D8C"/>
          </a:solidFill>
          <a:ln w="12700">
            <a:solidFill>
              <a:srgbClr val="4A2D8C"/>
            </a:solidFill>
            <a:prstDash val="solid"/>
          </a:ln>
        </p:spPr>
      </p:sp>
      <p:sp>
        <p:nvSpPr>
          <p:cNvPr id="5" name="Shape 3"/>
          <p:cNvSpPr/>
          <p:nvPr/>
        </p:nvSpPr>
        <p:spPr>
          <a:xfrm>
            <a:off x="6217920" y="1737360"/>
            <a:ext cx="5349240" cy="2011680"/>
          </a:xfrm>
          <a:prstGeom prst="roundRect">
            <a:avLst>
              <a:gd name="adj" fmla="val 4091"/>
            </a:avLst>
          </a:prstGeom>
          <a:solidFill>
            <a:srgbClr val="ECEAE4"/>
          </a:solidFill>
          <a:ln w="12700">
            <a:solidFill>
              <a:srgbClr val="ECEAE4"/>
            </a:solidFill>
            <a:prstDash val="solid"/>
          </a:ln>
        </p:spPr>
      </p:sp>
      <p:sp>
        <p:nvSpPr>
          <p:cNvPr id="6" name="Text 4"/>
          <p:cNvSpPr/>
          <p:nvPr/>
        </p:nvSpPr>
        <p:spPr>
          <a:xfrm>
            <a:off x="868680" y="1874520"/>
            <a:ext cx="4846320" cy="320040"/>
          </a:xfrm>
          <a:prstGeom prst="rect">
            <a:avLst/>
          </a:prstGeom>
          <a:noFill/>
          <a:ln/>
        </p:spPr>
        <p:txBody>
          <a:bodyPr wrap="square" lIns="0" tIns="0" rIns="0" bIns="0" rtlCol="0" anchor="t"/>
          <a:lstStyle/>
          <a:p>
            <a:pPr indent="0" marL="0">
              <a:buNone/>
            </a:pPr>
            <a:r>
              <a:rPr lang="en-US" sz="1300" b="1" spc="200" kern="0" dirty="0">
                <a:solidFill>
                  <a:srgbClr val="D9CCF7"/>
                </a:solidFill>
                <a:latin typeface="Palatino Linotype" pitchFamily="34" charset="0"/>
                <a:ea typeface="Palatino Linotype" pitchFamily="34" charset="-122"/>
                <a:cs typeface="Palatino Linotype" pitchFamily="34" charset="-120"/>
              </a:rPr>
              <a:t>DECLARĂ</a:t>
            </a:r>
            <a:endParaRPr lang="en-US" sz="1300" dirty="0"/>
          </a:p>
        </p:txBody>
      </p:sp>
      <p:sp>
        <p:nvSpPr>
          <p:cNvPr id="7" name="Text 5"/>
          <p:cNvSpPr/>
          <p:nvPr/>
        </p:nvSpPr>
        <p:spPr>
          <a:xfrm>
            <a:off x="868680" y="2240280"/>
            <a:ext cx="4846320" cy="141732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Funcțiile de conducere și de control din unitățile sanitare de stat: managerul, directorul medical.</a:t>
            </a:r>
            <a:endParaRPr lang="en-US" sz="1800" dirty="0"/>
          </a:p>
        </p:txBody>
      </p:sp>
      <p:sp>
        <p:nvSpPr>
          <p:cNvPr id="8" name="Text 6"/>
          <p:cNvSpPr/>
          <p:nvPr/>
        </p:nvSpPr>
        <p:spPr>
          <a:xfrm>
            <a:off x="6492240" y="1874520"/>
            <a:ext cx="4846320" cy="32004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NU DECLARĂ DUPĂ ACEASTĂ LEGE</a:t>
            </a:r>
            <a:endParaRPr lang="en-US" sz="1300" dirty="0"/>
          </a:p>
        </p:txBody>
      </p:sp>
      <p:sp>
        <p:nvSpPr>
          <p:cNvPr id="9" name="Text 7"/>
          <p:cNvSpPr/>
          <p:nvPr/>
        </p:nvSpPr>
        <p:spPr>
          <a:xfrm>
            <a:off x="6492240" y="2240280"/>
            <a:ext cx="4846320" cy="141732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Medicul de secție fără funcție de conducere, chiar dacă prescrie zilnic medicamente scumpe.</a:t>
            </a:r>
            <a:endParaRPr lang="en-US" sz="1800" dirty="0"/>
          </a:p>
        </p:txBody>
      </p:sp>
      <p:sp>
        <p:nvSpPr>
          <p:cNvPr id="10" name="Text 8"/>
          <p:cNvSpPr/>
          <p:nvPr/>
        </p:nvSpPr>
        <p:spPr>
          <a:xfrm>
            <a:off x="594360" y="4023360"/>
            <a:ext cx="10972800" cy="731520"/>
          </a:xfrm>
          <a:prstGeom prst="rect">
            <a:avLst/>
          </a:prstGeom>
          <a:noFill/>
          <a:ln/>
        </p:spPr>
        <p:txBody>
          <a:bodyPr wrap="square" lIns="0" tIns="0" rIns="0" bIns="0" rtlCol="0" anchor="t"/>
          <a:lstStyle/>
          <a:p>
            <a:pPr indent="0" marL="0">
              <a:buNone/>
            </a:pPr>
            <a:r>
              <a:rPr lang="en-US" sz="1800" b="1" dirty="0">
                <a:solidFill>
                  <a:srgbClr val="4A2D8C"/>
                </a:solidFill>
                <a:latin typeface="Palatino Linotype" pitchFamily="34" charset="0"/>
                <a:ea typeface="Palatino Linotype" pitchFamily="34" charset="-122"/>
                <a:cs typeface="Palatino Linotype" pitchFamily="34" charset="-120"/>
              </a:rPr>
              <a:t>Unde le găsiți: </a:t>
            </a:r>
            <a:pPr indent="0" marL="0">
              <a:buNone/>
            </a:pPr>
            <a:r>
              <a:rPr lang="en-US" sz="1800" dirty="0">
                <a:solidFill>
                  <a:srgbClr val="11121A"/>
                </a:solidFill>
                <a:latin typeface="Palatino Linotype" pitchFamily="34" charset="0"/>
                <a:ea typeface="Palatino Linotype" pitchFamily="34" charset="-122"/>
                <a:cs typeface="Palatino Linotype" pitchFamily="34" charset="-120"/>
              </a:rPr>
              <a:t>pe pagina de internet a instituției sau la avizier, afișate în cel mult 30 de zile de la primire.</a:t>
            </a:r>
            <a:endParaRPr lang="en-US" sz="1800" dirty="0"/>
          </a:p>
        </p:txBody>
      </p:sp>
      <p:sp>
        <p:nvSpPr>
          <p:cNvPr id="11" name="Text 9"/>
          <p:cNvSpPr/>
          <p:nvPr/>
        </p:nvSpPr>
        <p:spPr>
          <a:xfrm>
            <a:off x="594360" y="4846320"/>
            <a:ext cx="10972800" cy="731520"/>
          </a:xfrm>
          <a:prstGeom prst="rect">
            <a:avLst/>
          </a:prstGeom>
          <a:noFill/>
          <a:ln/>
        </p:spPr>
        <p:txBody>
          <a:bodyPr wrap="square" lIns="0" tIns="0" rIns="0" bIns="0" rtlCol="0" anchor="t"/>
          <a:lstStyle/>
          <a:p>
            <a:pPr indent="0" marL="0">
              <a:buNone/>
            </a:pPr>
            <a:r>
              <a:rPr lang="en-US" sz="1800" b="1" dirty="0">
                <a:solidFill>
                  <a:srgbClr val="4A2D8C"/>
                </a:solidFill>
                <a:latin typeface="Palatino Linotype" pitchFamily="34" charset="0"/>
                <a:ea typeface="Palatino Linotype" pitchFamily="34" charset="-122"/>
                <a:cs typeface="Palatino Linotype" pitchFamily="34" charset="-120"/>
              </a:rPr>
              <a:t>Ce riscă cine este găsit în conflict de interese: </a:t>
            </a:r>
            <a:pPr indent="0" marL="0">
              <a:buNone/>
            </a:pPr>
            <a:r>
              <a:rPr lang="en-US" sz="1800" dirty="0">
                <a:solidFill>
                  <a:srgbClr val="11121A"/>
                </a:solidFill>
                <a:latin typeface="Palatino Linotype" pitchFamily="34" charset="0"/>
                <a:ea typeface="Palatino Linotype" pitchFamily="34" charset="-122"/>
                <a:cs typeface="Palatino Linotype" pitchFamily="34" charset="-120"/>
              </a:rPr>
              <a:t>timp de 3 ani nu mai poate ocupa funcțiile la care se referă legea, cu excepția celor electorale.</a:t>
            </a:r>
            <a:endParaRPr lang="en-US" sz="18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Legea nr. 176/2010 (registru A707, A745, A744).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7E3D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COMISIILE DE SPECIALITATE ALE MINISTERULUI SĂNĂTĂȚII</a:t>
            </a:r>
            <a:endParaRPr lang="en-US" sz="1300" dirty="0"/>
          </a:p>
        </p:txBody>
      </p:sp>
      <p:sp>
        <p:nvSpPr>
          <p:cNvPr id="3" name="Shape 1"/>
          <p:cNvSpPr/>
          <p:nvPr/>
        </p:nvSpPr>
        <p:spPr>
          <a:xfrm>
            <a:off x="822960" y="868680"/>
            <a:ext cx="7315200" cy="4480560"/>
          </a:xfrm>
          <a:prstGeom prst="rect">
            <a:avLst/>
          </a:prstGeom>
          <a:solidFill>
            <a:srgbClr val="FFFFFF"/>
          </a:solidFill>
          <a:ln w="9525">
            <a:solidFill>
              <a:srgbClr val="D6D2C8"/>
            </a:solidFill>
            <a:prstDash val="solid"/>
          </a:ln>
          <a:effectLst>
            <a:outerShdw sx="100000" sy="100000" kx="0" ky="0" algn="bl" rotWithShape="0" blurRad="101600" dist="38100" dir="5400000">
              <a:srgbClr val="000000">
                <a:alpha val="18000"/>
              </a:srgbClr>
            </a:outerShdw>
          </a:effectLst>
        </p:spPr>
      </p:sp>
      <p:sp>
        <p:nvSpPr>
          <p:cNvPr id="4" name="Text 2"/>
          <p:cNvSpPr/>
          <p:nvPr/>
        </p:nvSpPr>
        <p:spPr>
          <a:xfrm>
            <a:off x="1234440" y="1143000"/>
            <a:ext cx="649224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ORDINUL MINISTRULUI SĂNĂTĂȚII NR. 2396/2023 · EXTRAS PARAFRAZAT</a:t>
            </a:r>
            <a:endParaRPr lang="en-US" sz="1300" dirty="0"/>
          </a:p>
        </p:txBody>
      </p:sp>
      <p:sp>
        <p:nvSpPr>
          <p:cNvPr id="5" name="Shape 3"/>
          <p:cNvSpPr/>
          <p:nvPr/>
        </p:nvSpPr>
        <p:spPr>
          <a:xfrm>
            <a:off x="1234440" y="1554480"/>
            <a:ext cx="6492240" cy="13716"/>
          </a:xfrm>
          <a:prstGeom prst="rect">
            <a:avLst/>
          </a:prstGeom>
          <a:solidFill>
            <a:srgbClr val="C9C6BE"/>
          </a:solidFill>
          <a:ln/>
        </p:spPr>
      </p:sp>
      <p:sp>
        <p:nvSpPr>
          <p:cNvPr id="6" name="Text 4"/>
          <p:cNvSpPr/>
          <p:nvPr/>
        </p:nvSpPr>
        <p:spPr>
          <a:xfrm>
            <a:off x="1234440" y="1783080"/>
            <a:ext cx="6492240" cy="411480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Declarația de interese: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 30 de zile de la numire, actualizată în 30 de zile de la orice schimbare.</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Unde ajunge: </a:t>
            </a:r>
            <a:pPr indent="0" marL="0">
              <a:buNone/>
            </a:pPr>
            <a:r>
              <a:rPr lang="en-US" sz="1700" dirty="0">
                <a:solidFill>
                  <a:srgbClr val="11121A"/>
                </a:solidFill>
                <a:highlight>
                  <a:srgbClr val="FFE7A3"/>
                </a:highlight>
                <a:latin typeface="Palatino Linotype" pitchFamily="34" charset="0"/>
                <a:ea typeface="Palatino Linotype" pitchFamily="34" charset="-122"/>
                <a:cs typeface="Palatino Linotype" pitchFamily="34" charset="-120"/>
              </a:rPr>
              <a:t>se depune și se arhivează la minister.</a:t>
            </a:r>
            <a:endParaRPr lang="en-US" sz="17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 </a:t>
            </a:r>
            <a:endParaRPr lang="en-US" sz="1700" dirty="0"/>
          </a:p>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Abținerea: </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cine a participat în ultimul an la studii clinice cu medicamente discutate în comisie și orice membru la care s-a identificat un conflict de interese completează o declarație de abținere și se retrage de la vot.</a:t>
            </a:r>
            <a:endParaRPr lang="en-US" sz="1700" dirty="0"/>
          </a:p>
        </p:txBody>
      </p:sp>
      <p:sp>
        <p:nvSpPr>
          <p:cNvPr id="7" name="Text 5"/>
          <p:cNvSpPr/>
          <p:nvPr/>
        </p:nvSpPr>
        <p:spPr>
          <a:xfrm>
            <a:off x="8503920" y="1463040"/>
            <a:ext cx="3108960" cy="2377440"/>
          </a:xfrm>
          <a:prstGeom prst="rect">
            <a:avLst/>
          </a:prstGeom>
          <a:noFill/>
          <a:ln/>
        </p:spPr>
        <p:txBody>
          <a:bodyPr wrap="square" lIns="0" tIns="0" rIns="0" bIns="0" rtlCol="0" anchor="t"/>
          <a:lstStyle/>
          <a:p>
            <a:pPr indent="0" marL="0">
              <a:buNone/>
            </a:pPr>
            <a:r>
              <a:rPr lang="en-US" sz="1900" dirty="0">
                <a:solidFill>
                  <a:srgbClr val="3A3C44"/>
                </a:solidFill>
                <a:latin typeface="Palatino Linotype" pitchFamily="34" charset="0"/>
                <a:ea typeface="Palatino Linotype" pitchFamily="34" charset="-122"/>
                <a:cs typeface="Palatino Linotype" pitchFamily="34" charset="-120"/>
              </a:rPr>
              <a:t>Membrii comisiilor dau avize pe care se sprijină politica de sănătate, inclusiv lista medicamentelor compensate.</a:t>
            </a:r>
            <a:endParaRPr lang="en-US" sz="1900" dirty="0"/>
          </a:p>
        </p:txBody>
      </p:sp>
      <p:sp>
        <p:nvSpPr>
          <p:cNvPr id="8" name="Shape 6"/>
          <p:cNvSpPr/>
          <p:nvPr/>
        </p:nvSpPr>
        <p:spPr>
          <a:xfrm>
            <a:off x="8531352" y="3977640"/>
            <a:ext cx="1097280" cy="27432"/>
          </a:xfrm>
          <a:prstGeom prst="rect">
            <a:avLst/>
          </a:prstGeom>
          <a:solidFill>
            <a:srgbClr val="4A2D8C"/>
          </a:solidFill>
          <a:ln/>
        </p:spPr>
      </p:sp>
      <p:sp>
        <p:nvSpPr>
          <p:cNvPr id="9" name="Text 7"/>
          <p:cNvSpPr/>
          <p:nvPr/>
        </p:nvSpPr>
        <p:spPr>
          <a:xfrm>
            <a:off x="8503920" y="4160520"/>
            <a:ext cx="3108960" cy="164592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Aici deciziile medicilor contează mai mult decât la patul pacientului.</a:t>
            </a:r>
            <a:endParaRPr lang="en-US" sz="1900" dirty="0"/>
          </a:p>
        </p:txBody>
      </p:sp>
      <p:sp>
        <p:nvSpPr>
          <p:cNvPr id="10" name="Text 8"/>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Ordinul ministrului sănătății nr. 2396/2023, forma actualizată (registru A710, A711, A743).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COMISIILE DE SPECIALITATE · CINE POATE FI MEMBRU</a:t>
            </a:r>
            <a:endParaRPr lang="en-US" sz="1300" dirty="0"/>
          </a:p>
        </p:txBody>
      </p:sp>
      <p:sp>
        <p:nvSpPr>
          <p:cNvPr id="3" name="Text 1"/>
          <p:cNvSpPr/>
          <p:nvPr/>
        </p:nvSpPr>
        <p:spPr>
          <a:xfrm>
            <a:off x="594360" y="822960"/>
            <a:ext cx="2743200" cy="1463040"/>
          </a:xfrm>
          <a:prstGeom prst="rect">
            <a:avLst/>
          </a:prstGeom>
          <a:noFill/>
          <a:ln/>
        </p:spPr>
        <p:txBody>
          <a:bodyPr wrap="square" lIns="0" tIns="0" rIns="0" bIns="0" rtlCol="0" anchor="ctr"/>
          <a:lstStyle/>
          <a:p>
            <a:pPr indent="0" marL="0">
              <a:buNone/>
            </a:pPr>
            <a:r>
              <a:rPr lang="en-US" sz="10000" b="1" dirty="0">
                <a:solidFill>
                  <a:srgbClr val="9B7EF7"/>
                </a:solidFill>
                <a:latin typeface="Palatino Linotype" pitchFamily="34" charset="0"/>
                <a:ea typeface="Palatino Linotype" pitchFamily="34" charset="-122"/>
                <a:cs typeface="Palatino Linotype" pitchFamily="34" charset="-120"/>
              </a:rPr>
              <a:t>5%</a:t>
            </a:r>
            <a:endParaRPr lang="en-US" sz="10000" dirty="0"/>
          </a:p>
        </p:txBody>
      </p:sp>
      <p:sp>
        <p:nvSpPr>
          <p:cNvPr id="4" name="Text 2"/>
          <p:cNvSpPr/>
          <p:nvPr/>
        </p:nvSpPr>
        <p:spPr>
          <a:xfrm>
            <a:off x="3429000" y="914400"/>
            <a:ext cx="3977640" cy="13716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pragul peste care un specialist nu poate fi membru al unei comisii de specialitate a ministerului</a:t>
            </a:r>
            <a:endParaRPr lang="en-US" sz="1900" dirty="0"/>
          </a:p>
        </p:txBody>
      </p:sp>
      <p:sp>
        <p:nvSpPr>
          <p:cNvPr id="5" name="Shape 3"/>
          <p:cNvSpPr/>
          <p:nvPr/>
        </p:nvSpPr>
        <p:spPr>
          <a:xfrm>
            <a:off x="594360" y="2514600"/>
            <a:ext cx="6812280" cy="3611880"/>
          </a:xfrm>
          <a:prstGeom prst="roundRect">
            <a:avLst>
              <a:gd name="adj" fmla="val 2278"/>
            </a:avLst>
          </a:prstGeom>
          <a:solidFill>
            <a:srgbClr val="1D1F2B"/>
          </a:solidFill>
          <a:ln w="12700">
            <a:solidFill>
              <a:srgbClr val="1D1F2B"/>
            </a:solidFill>
            <a:prstDash val="solid"/>
          </a:ln>
        </p:spPr>
      </p:sp>
      <p:sp>
        <p:nvSpPr>
          <p:cNvPr id="6" name="Text 4"/>
          <p:cNvSpPr/>
          <p:nvPr/>
        </p:nvSpPr>
        <p:spPr>
          <a:xfrm>
            <a:off x="868680" y="2651760"/>
            <a:ext cx="6309360" cy="3383280"/>
          </a:xfrm>
          <a:prstGeom prst="rect">
            <a:avLst/>
          </a:prstGeom>
          <a:noFill/>
          <a:ln/>
        </p:spPr>
        <p:txBody>
          <a:bodyPr wrap="square" lIns="0" tIns="0" rIns="0" bIns="0" rtlCol="0" anchor="t"/>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Ordinul ministrului sănătății nr. 2396/2023, art. 5: membrii comisiilor sunt specialiști care</a:t>
            </a:r>
            <a:endParaRPr lang="en-US" sz="1500" dirty="0"/>
          </a:p>
          <a:p>
            <a:pPr indent="0" marL="0">
              <a:buNone/>
            </a:pPr>
            <a:r>
              <a:rPr lang="en-US" sz="600" dirty="0">
                <a:solidFill>
                  <a:srgbClr val="000000"/>
                </a:solidFill>
                <a:latin typeface="Palatino Linotype" pitchFamily="34" charset="0"/>
                <a:ea typeface="Palatino Linotype" pitchFamily="34" charset="-122"/>
                <a:cs typeface="Palatino Linotype" pitchFamily="34" charset="-120"/>
              </a:rPr>
              <a:t> </a:t>
            </a:r>
            <a:endParaRPr lang="en-US" sz="1500" dirty="0"/>
          </a:p>
          <a:p>
            <a:pPr indent="0" marL="0">
              <a:buNone/>
            </a:pPr>
            <a:r>
              <a:rPr lang="en-US" sz="1500" b="1" dirty="0">
                <a:solidFill>
                  <a:srgbClr val="9B7EF7"/>
                </a:solidFill>
                <a:latin typeface="Palatino Linotype" pitchFamily="34" charset="0"/>
                <a:ea typeface="Palatino Linotype" pitchFamily="34" charset="-122"/>
                <a:cs typeface="Palatino Linotype" pitchFamily="34" charset="-120"/>
              </a:rPr>
              <a:t>a) </a:t>
            </a:r>
            <a:pPr indent="0" marL="0">
              <a:buNone/>
            </a:pPr>
            <a:r>
              <a:rPr lang="en-US" sz="1500" dirty="0">
                <a:solidFill>
                  <a:srgbClr val="D5D8E2"/>
                </a:solidFill>
                <a:latin typeface="Palatino Linotype" pitchFamily="34" charset="0"/>
                <a:ea typeface="Palatino Linotype" pitchFamily="34" charset="-122"/>
                <a:cs typeface="Palatino Linotype" pitchFamily="34" charset="-120"/>
              </a:rPr>
              <a:t>nu au funcții, plătite sau nu, în companiile care produc, distribuie sau dețin autorizații de punere pe piață pentru medicamente, dispozitive, aparatură sau echipamente medicale;</a:t>
            </a:r>
            <a:endParaRPr lang="en-US" sz="1500" dirty="0"/>
          </a:p>
          <a:p>
            <a:pPr indent="0" marL="0">
              <a:buNone/>
            </a:pPr>
            <a:r>
              <a:rPr lang="en-US" sz="600" dirty="0">
                <a:solidFill>
                  <a:srgbClr val="000000"/>
                </a:solidFill>
                <a:latin typeface="Palatino Linotype" pitchFamily="34" charset="0"/>
                <a:ea typeface="Palatino Linotype" pitchFamily="34" charset="-122"/>
                <a:cs typeface="Palatino Linotype" pitchFamily="34" charset="-120"/>
              </a:rPr>
              <a:t> </a:t>
            </a:r>
            <a:endParaRPr lang="en-US" sz="1500" dirty="0"/>
          </a:p>
          <a:p>
            <a:pPr indent="0" marL="0">
              <a:buNone/>
            </a:pPr>
            <a:r>
              <a:rPr lang="en-US" sz="1500" b="1" dirty="0">
                <a:solidFill>
                  <a:srgbClr val="9B7EF7"/>
                </a:solidFill>
                <a:latin typeface="Palatino Linotype" pitchFamily="34" charset="0"/>
                <a:ea typeface="Palatino Linotype" pitchFamily="34" charset="-122"/>
                <a:cs typeface="Palatino Linotype" pitchFamily="34" charset="-120"/>
              </a:rPr>
              <a:t>b) </a:t>
            </a:r>
            <a:pPr indent="0" marL="0">
              <a:buNone/>
            </a:pPr>
            <a:r>
              <a:rPr lang="en-US" sz="1500" dirty="0">
                <a:solidFill>
                  <a:srgbClr val="D5D8E2"/>
                </a:solidFill>
                <a:latin typeface="Palatino Linotype" pitchFamily="34" charset="0"/>
                <a:ea typeface="Palatino Linotype" pitchFamily="34" charset="-122"/>
                <a:cs typeface="Palatino Linotype" pitchFamily="34" charset="-120"/>
              </a:rPr>
              <a:t>nu au în asemenea companii acțiuni sau părți sociale care, împreună cu ale soțului sau soției și ale rudelor de gradul I, depășesc 5% din capitalul societății, oricum ar fi fost dobândite.</a:t>
            </a:r>
            <a:endParaRPr lang="en-US" sz="1500" dirty="0"/>
          </a:p>
          <a:p>
            <a:pPr indent="0" marL="0">
              <a:buNone/>
            </a:pPr>
            <a:r>
              <a:rPr lang="en-US" sz="600" dirty="0">
                <a:solidFill>
                  <a:srgbClr val="000000"/>
                </a:solidFill>
                <a:latin typeface="Palatino Linotype" pitchFamily="34" charset="0"/>
                <a:ea typeface="Palatino Linotype" pitchFamily="34" charset="-122"/>
                <a:cs typeface="Palatino Linotype" pitchFamily="34" charset="-120"/>
              </a:rPr>
              <a:t> </a:t>
            </a:r>
            <a:endParaRPr lang="en-US" sz="1500" dirty="0"/>
          </a:p>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Cine nu mai îndeplinește aceste condiții are obligația să informeze ministerul.</a:t>
            </a:r>
            <a:endParaRPr lang="en-US" sz="1500" dirty="0"/>
          </a:p>
        </p:txBody>
      </p:sp>
      <p:sp>
        <p:nvSpPr>
          <p:cNvPr id="7" name="Shape 5"/>
          <p:cNvSpPr/>
          <p:nvPr/>
        </p:nvSpPr>
        <p:spPr>
          <a:xfrm>
            <a:off x="7680960" y="1188720"/>
            <a:ext cx="292608" cy="292608"/>
          </a:xfrm>
          <a:prstGeom prst="ellipse">
            <a:avLst/>
          </a:prstGeom>
          <a:solidFill>
            <a:srgbClr val="9B7EF7"/>
          </a:solidFill>
          <a:ln w="12700">
            <a:solidFill>
              <a:srgbClr val="9B7EF7"/>
            </a:solidFill>
            <a:prstDash val="solid"/>
          </a:ln>
        </p:spPr>
      </p:sp>
      <p:sp>
        <p:nvSpPr>
          <p:cNvPr id="8" name="Shape 6"/>
          <p:cNvSpPr/>
          <p:nvPr/>
        </p:nvSpPr>
        <p:spPr>
          <a:xfrm>
            <a:off x="8083296" y="1188720"/>
            <a:ext cx="292608" cy="292608"/>
          </a:xfrm>
          <a:prstGeom prst="ellipse">
            <a:avLst/>
          </a:prstGeom>
          <a:solidFill>
            <a:srgbClr val="9B7EF7"/>
          </a:solidFill>
          <a:ln w="12700">
            <a:solidFill>
              <a:srgbClr val="9B7EF7"/>
            </a:solidFill>
            <a:prstDash val="solid"/>
          </a:ln>
        </p:spPr>
      </p:sp>
      <p:sp>
        <p:nvSpPr>
          <p:cNvPr id="9" name="Shape 7"/>
          <p:cNvSpPr/>
          <p:nvPr/>
        </p:nvSpPr>
        <p:spPr>
          <a:xfrm>
            <a:off x="8485632" y="1188720"/>
            <a:ext cx="292608" cy="292608"/>
          </a:xfrm>
          <a:prstGeom prst="ellipse">
            <a:avLst/>
          </a:prstGeom>
          <a:solidFill>
            <a:srgbClr val="9B7EF7"/>
          </a:solidFill>
          <a:ln w="12700">
            <a:solidFill>
              <a:srgbClr val="9B7EF7"/>
            </a:solidFill>
            <a:prstDash val="solid"/>
          </a:ln>
        </p:spPr>
      </p:sp>
      <p:sp>
        <p:nvSpPr>
          <p:cNvPr id="10" name="Shape 8"/>
          <p:cNvSpPr/>
          <p:nvPr/>
        </p:nvSpPr>
        <p:spPr>
          <a:xfrm>
            <a:off x="8887968" y="1188720"/>
            <a:ext cx="292608" cy="292608"/>
          </a:xfrm>
          <a:prstGeom prst="ellipse">
            <a:avLst/>
          </a:prstGeom>
          <a:solidFill>
            <a:srgbClr val="9B7EF7"/>
          </a:solidFill>
          <a:ln w="12700">
            <a:solidFill>
              <a:srgbClr val="9B7EF7"/>
            </a:solidFill>
            <a:prstDash val="solid"/>
          </a:ln>
        </p:spPr>
      </p:sp>
      <p:sp>
        <p:nvSpPr>
          <p:cNvPr id="11" name="Shape 9"/>
          <p:cNvSpPr/>
          <p:nvPr/>
        </p:nvSpPr>
        <p:spPr>
          <a:xfrm>
            <a:off x="9290304" y="1188720"/>
            <a:ext cx="292608" cy="292608"/>
          </a:xfrm>
          <a:prstGeom prst="ellipse">
            <a:avLst/>
          </a:prstGeom>
          <a:solidFill>
            <a:srgbClr val="9B7EF7"/>
          </a:solidFill>
          <a:ln w="12700">
            <a:solidFill>
              <a:srgbClr val="9B7EF7"/>
            </a:solidFill>
            <a:prstDash val="solid"/>
          </a:ln>
        </p:spPr>
      </p:sp>
      <p:sp>
        <p:nvSpPr>
          <p:cNvPr id="12" name="Shape 10"/>
          <p:cNvSpPr/>
          <p:nvPr/>
        </p:nvSpPr>
        <p:spPr>
          <a:xfrm>
            <a:off x="9692640" y="1188720"/>
            <a:ext cx="292608" cy="292608"/>
          </a:xfrm>
          <a:prstGeom prst="ellipse">
            <a:avLst/>
          </a:prstGeom>
          <a:solidFill>
            <a:srgbClr val="272A38"/>
          </a:solidFill>
          <a:ln w="12700">
            <a:solidFill>
              <a:srgbClr val="272A38"/>
            </a:solidFill>
            <a:prstDash val="solid"/>
          </a:ln>
        </p:spPr>
      </p:sp>
      <p:sp>
        <p:nvSpPr>
          <p:cNvPr id="13" name="Shape 11"/>
          <p:cNvSpPr/>
          <p:nvPr/>
        </p:nvSpPr>
        <p:spPr>
          <a:xfrm>
            <a:off x="10094976" y="1188720"/>
            <a:ext cx="292608" cy="292608"/>
          </a:xfrm>
          <a:prstGeom prst="ellipse">
            <a:avLst/>
          </a:prstGeom>
          <a:solidFill>
            <a:srgbClr val="272A38"/>
          </a:solidFill>
          <a:ln w="12700">
            <a:solidFill>
              <a:srgbClr val="272A38"/>
            </a:solidFill>
            <a:prstDash val="solid"/>
          </a:ln>
        </p:spPr>
      </p:sp>
      <p:sp>
        <p:nvSpPr>
          <p:cNvPr id="14" name="Shape 12"/>
          <p:cNvSpPr/>
          <p:nvPr/>
        </p:nvSpPr>
        <p:spPr>
          <a:xfrm>
            <a:off x="10497312" y="1188720"/>
            <a:ext cx="292608" cy="292608"/>
          </a:xfrm>
          <a:prstGeom prst="ellipse">
            <a:avLst/>
          </a:prstGeom>
          <a:solidFill>
            <a:srgbClr val="272A38"/>
          </a:solidFill>
          <a:ln w="12700">
            <a:solidFill>
              <a:srgbClr val="272A38"/>
            </a:solidFill>
            <a:prstDash val="solid"/>
          </a:ln>
        </p:spPr>
      </p:sp>
      <p:sp>
        <p:nvSpPr>
          <p:cNvPr id="15" name="Shape 13"/>
          <p:cNvSpPr/>
          <p:nvPr/>
        </p:nvSpPr>
        <p:spPr>
          <a:xfrm>
            <a:off x="10899648" y="1188720"/>
            <a:ext cx="292608" cy="292608"/>
          </a:xfrm>
          <a:prstGeom prst="ellipse">
            <a:avLst/>
          </a:prstGeom>
          <a:solidFill>
            <a:srgbClr val="272A38"/>
          </a:solidFill>
          <a:ln w="12700">
            <a:solidFill>
              <a:srgbClr val="272A38"/>
            </a:solidFill>
            <a:prstDash val="solid"/>
          </a:ln>
        </p:spPr>
      </p:sp>
      <p:sp>
        <p:nvSpPr>
          <p:cNvPr id="16" name="Shape 14"/>
          <p:cNvSpPr/>
          <p:nvPr/>
        </p:nvSpPr>
        <p:spPr>
          <a:xfrm>
            <a:off x="11301984" y="1188720"/>
            <a:ext cx="292608" cy="292608"/>
          </a:xfrm>
          <a:prstGeom prst="ellipse">
            <a:avLst/>
          </a:prstGeom>
          <a:solidFill>
            <a:srgbClr val="272A38"/>
          </a:solidFill>
          <a:ln w="12700">
            <a:solidFill>
              <a:srgbClr val="272A38"/>
            </a:solidFill>
            <a:prstDash val="solid"/>
          </a:ln>
        </p:spPr>
      </p:sp>
      <p:sp>
        <p:nvSpPr>
          <p:cNvPr id="17" name="Shape 15"/>
          <p:cNvSpPr/>
          <p:nvPr/>
        </p:nvSpPr>
        <p:spPr>
          <a:xfrm>
            <a:off x="7680960" y="1591056"/>
            <a:ext cx="292608" cy="292608"/>
          </a:xfrm>
          <a:prstGeom prst="ellipse">
            <a:avLst/>
          </a:prstGeom>
          <a:solidFill>
            <a:srgbClr val="272A38"/>
          </a:solidFill>
          <a:ln w="12700">
            <a:solidFill>
              <a:srgbClr val="272A38"/>
            </a:solidFill>
            <a:prstDash val="solid"/>
          </a:ln>
        </p:spPr>
      </p:sp>
      <p:sp>
        <p:nvSpPr>
          <p:cNvPr id="18" name="Shape 16"/>
          <p:cNvSpPr/>
          <p:nvPr/>
        </p:nvSpPr>
        <p:spPr>
          <a:xfrm>
            <a:off x="8083296" y="1591056"/>
            <a:ext cx="292608" cy="292608"/>
          </a:xfrm>
          <a:prstGeom prst="ellipse">
            <a:avLst/>
          </a:prstGeom>
          <a:solidFill>
            <a:srgbClr val="272A38"/>
          </a:solidFill>
          <a:ln w="12700">
            <a:solidFill>
              <a:srgbClr val="272A38"/>
            </a:solidFill>
            <a:prstDash val="solid"/>
          </a:ln>
        </p:spPr>
      </p:sp>
      <p:sp>
        <p:nvSpPr>
          <p:cNvPr id="19" name="Shape 17"/>
          <p:cNvSpPr/>
          <p:nvPr/>
        </p:nvSpPr>
        <p:spPr>
          <a:xfrm>
            <a:off x="8485632" y="1591056"/>
            <a:ext cx="292608" cy="292608"/>
          </a:xfrm>
          <a:prstGeom prst="ellipse">
            <a:avLst/>
          </a:prstGeom>
          <a:solidFill>
            <a:srgbClr val="272A38"/>
          </a:solidFill>
          <a:ln w="12700">
            <a:solidFill>
              <a:srgbClr val="272A38"/>
            </a:solidFill>
            <a:prstDash val="solid"/>
          </a:ln>
        </p:spPr>
      </p:sp>
      <p:sp>
        <p:nvSpPr>
          <p:cNvPr id="20" name="Shape 18"/>
          <p:cNvSpPr/>
          <p:nvPr/>
        </p:nvSpPr>
        <p:spPr>
          <a:xfrm>
            <a:off x="8887968" y="1591056"/>
            <a:ext cx="292608" cy="292608"/>
          </a:xfrm>
          <a:prstGeom prst="ellipse">
            <a:avLst/>
          </a:prstGeom>
          <a:solidFill>
            <a:srgbClr val="272A38"/>
          </a:solidFill>
          <a:ln w="12700">
            <a:solidFill>
              <a:srgbClr val="272A38"/>
            </a:solidFill>
            <a:prstDash val="solid"/>
          </a:ln>
        </p:spPr>
      </p:sp>
      <p:sp>
        <p:nvSpPr>
          <p:cNvPr id="21" name="Shape 19"/>
          <p:cNvSpPr/>
          <p:nvPr/>
        </p:nvSpPr>
        <p:spPr>
          <a:xfrm>
            <a:off x="9290304" y="1591056"/>
            <a:ext cx="292608" cy="292608"/>
          </a:xfrm>
          <a:prstGeom prst="ellipse">
            <a:avLst/>
          </a:prstGeom>
          <a:solidFill>
            <a:srgbClr val="272A38"/>
          </a:solidFill>
          <a:ln w="12700">
            <a:solidFill>
              <a:srgbClr val="272A38"/>
            </a:solidFill>
            <a:prstDash val="solid"/>
          </a:ln>
        </p:spPr>
      </p:sp>
      <p:sp>
        <p:nvSpPr>
          <p:cNvPr id="22" name="Shape 20"/>
          <p:cNvSpPr/>
          <p:nvPr/>
        </p:nvSpPr>
        <p:spPr>
          <a:xfrm>
            <a:off x="9692640" y="1591056"/>
            <a:ext cx="292608" cy="292608"/>
          </a:xfrm>
          <a:prstGeom prst="ellipse">
            <a:avLst/>
          </a:prstGeom>
          <a:solidFill>
            <a:srgbClr val="272A38"/>
          </a:solidFill>
          <a:ln w="12700">
            <a:solidFill>
              <a:srgbClr val="272A38"/>
            </a:solidFill>
            <a:prstDash val="solid"/>
          </a:ln>
        </p:spPr>
      </p:sp>
      <p:sp>
        <p:nvSpPr>
          <p:cNvPr id="23" name="Shape 21"/>
          <p:cNvSpPr/>
          <p:nvPr/>
        </p:nvSpPr>
        <p:spPr>
          <a:xfrm>
            <a:off x="10094976" y="1591056"/>
            <a:ext cx="292608" cy="292608"/>
          </a:xfrm>
          <a:prstGeom prst="ellipse">
            <a:avLst/>
          </a:prstGeom>
          <a:solidFill>
            <a:srgbClr val="272A38"/>
          </a:solidFill>
          <a:ln w="12700">
            <a:solidFill>
              <a:srgbClr val="272A38"/>
            </a:solidFill>
            <a:prstDash val="solid"/>
          </a:ln>
        </p:spPr>
      </p:sp>
      <p:sp>
        <p:nvSpPr>
          <p:cNvPr id="24" name="Shape 22"/>
          <p:cNvSpPr/>
          <p:nvPr/>
        </p:nvSpPr>
        <p:spPr>
          <a:xfrm>
            <a:off x="10497312" y="1591056"/>
            <a:ext cx="292608" cy="292608"/>
          </a:xfrm>
          <a:prstGeom prst="ellipse">
            <a:avLst/>
          </a:prstGeom>
          <a:solidFill>
            <a:srgbClr val="272A38"/>
          </a:solidFill>
          <a:ln w="12700">
            <a:solidFill>
              <a:srgbClr val="272A38"/>
            </a:solidFill>
            <a:prstDash val="solid"/>
          </a:ln>
        </p:spPr>
      </p:sp>
      <p:sp>
        <p:nvSpPr>
          <p:cNvPr id="25" name="Shape 23"/>
          <p:cNvSpPr/>
          <p:nvPr/>
        </p:nvSpPr>
        <p:spPr>
          <a:xfrm>
            <a:off x="10899648" y="1591056"/>
            <a:ext cx="292608" cy="292608"/>
          </a:xfrm>
          <a:prstGeom prst="ellipse">
            <a:avLst/>
          </a:prstGeom>
          <a:solidFill>
            <a:srgbClr val="272A38"/>
          </a:solidFill>
          <a:ln w="12700">
            <a:solidFill>
              <a:srgbClr val="272A38"/>
            </a:solidFill>
            <a:prstDash val="solid"/>
          </a:ln>
        </p:spPr>
      </p:sp>
      <p:sp>
        <p:nvSpPr>
          <p:cNvPr id="26" name="Shape 24"/>
          <p:cNvSpPr/>
          <p:nvPr/>
        </p:nvSpPr>
        <p:spPr>
          <a:xfrm>
            <a:off x="11301984" y="1591056"/>
            <a:ext cx="292608" cy="292608"/>
          </a:xfrm>
          <a:prstGeom prst="ellipse">
            <a:avLst/>
          </a:prstGeom>
          <a:solidFill>
            <a:srgbClr val="272A38"/>
          </a:solidFill>
          <a:ln w="12700">
            <a:solidFill>
              <a:srgbClr val="272A38"/>
            </a:solidFill>
            <a:prstDash val="solid"/>
          </a:ln>
        </p:spPr>
      </p:sp>
      <p:sp>
        <p:nvSpPr>
          <p:cNvPr id="27" name="Shape 25"/>
          <p:cNvSpPr/>
          <p:nvPr/>
        </p:nvSpPr>
        <p:spPr>
          <a:xfrm>
            <a:off x="7680960" y="1993392"/>
            <a:ext cx="292608" cy="292608"/>
          </a:xfrm>
          <a:prstGeom prst="ellipse">
            <a:avLst/>
          </a:prstGeom>
          <a:solidFill>
            <a:srgbClr val="272A38"/>
          </a:solidFill>
          <a:ln w="12700">
            <a:solidFill>
              <a:srgbClr val="272A38"/>
            </a:solidFill>
            <a:prstDash val="solid"/>
          </a:ln>
        </p:spPr>
      </p:sp>
      <p:sp>
        <p:nvSpPr>
          <p:cNvPr id="28" name="Shape 26"/>
          <p:cNvSpPr/>
          <p:nvPr/>
        </p:nvSpPr>
        <p:spPr>
          <a:xfrm>
            <a:off x="8083296" y="1993392"/>
            <a:ext cx="292608" cy="292608"/>
          </a:xfrm>
          <a:prstGeom prst="ellipse">
            <a:avLst/>
          </a:prstGeom>
          <a:solidFill>
            <a:srgbClr val="272A38"/>
          </a:solidFill>
          <a:ln w="12700">
            <a:solidFill>
              <a:srgbClr val="272A38"/>
            </a:solidFill>
            <a:prstDash val="solid"/>
          </a:ln>
        </p:spPr>
      </p:sp>
      <p:sp>
        <p:nvSpPr>
          <p:cNvPr id="29" name="Shape 27"/>
          <p:cNvSpPr/>
          <p:nvPr/>
        </p:nvSpPr>
        <p:spPr>
          <a:xfrm>
            <a:off x="8485632" y="1993392"/>
            <a:ext cx="292608" cy="292608"/>
          </a:xfrm>
          <a:prstGeom prst="ellipse">
            <a:avLst/>
          </a:prstGeom>
          <a:solidFill>
            <a:srgbClr val="272A38"/>
          </a:solidFill>
          <a:ln w="12700">
            <a:solidFill>
              <a:srgbClr val="272A38"/>
            </a:solidFill>
            <a:prstDash val="solid"/>
          </a:ln>
        </p:spPr>
      </p:sp>
      <p:sp>
        <p:nvSpPr>
          <p:cNvPr id="30" name="Shape 28"/>
          <p:cNvSpPr/>
          <p:nvPr/>
        </p:nvSpPr>
        <p:spPr>
          <a:xfrm>
            <a:off x="8887968" y="1993392"/>
            <a:ext cx="292608" cy="292608"/>
          </a:xfrm>
          <a:prstGeom prst="ellipse">
            <a:avLst/>
          </a:prstGeom>
          <a:solidFill>
            <a:srgbClr val="272A38"/>
          </a:solidFill>
          <a:ln w="12700">
            <a:solidFill>
              <a:srgbClr val="272A38"/>
            </a:solidFill>
            <a:prstDash val="solid"/>
          </a:ln>
        </p:spPr>
      </p:sp>
      <p:sp>
        <p:nvSpPr>
          <p:cNvPr id="31" name="Shape 29"/>
          <p:cNvSpPr/>
          <p:nvPr/>
        </p:nvSpPr>
        <p:spPr>
          <a:xfrm>
            <a:off x="9290304" y="1993392"/>
            <a:ext cx="292608" cy="292608"/>
          </a:xfrm>
          <a:prstGeom prst="ellipse">
            <a:avLst/>
          </a:prstGeom>
          <a:solidFill>
            <a:srgbClr val="272A38"/>
          </a:solidFill>
          <a:ln w="12700">
            <a:solidFill>
              <a:srgbClr val="272A38"/>
            </a:solidFill>
            <a:prstDash val="solid"/>
          </a:ln>
        </p:spPr>
      </p:sp>
      <p:sp>
        <p:nvSpPr>
          <p:cNvPr id="32" name="Shape 30"/>
          <p:cNvSpPr/>
          <p:nvPr/>
        </p:nvSpPr>
        <p:spPr>
          <a:xfrm>
            <a:off x="9692640" y="1993392"/>
            <a:ext cx="292608" cy="292608"/>
          </a:xfrm>
          <a:prstGeom prst="ellipse">
            <a:avLst/>
          </a:prstGeom>
          <a:solidFill>
            <a:srgbClr val="272A38"/>
          </a:solidFill>
          <a:ln w="12700">
            <a:solidFill>
              <a:srgbClr val="272A38"/>
            </a:solidFill>
            <a:prstDash val="solid"/>
          </a:ln>
        </p:spPr>
      </p:sp>
      <p:sp>
        <p:nvSpPr>
          <p:cNvPr id="33" name="Shape 31"/>
          <p:cNvSpPr/>
          <p:nvPr/>
        </p:nvSpPr>
        <p:spPr>
          <a:xfrm>
            <a:off x="10094976" y="1993392"/>
            <a:ext cx="292608" cy="292608"/>
          </a:xfrm>
          <a:prstGeom prst="ellipse">
            <a:avLst/>
          </a:prstGeom>
          <a:solidFill>
            <a:srgbClr val="272A38"/>
          </a:solidFill>
          <a:ln w="12700">
            <a:solidFill>
              <a:srgbClr val="272A38"/>
            </a:solidFill>
            <a:prstDash val="solid"/>
          </a:ln>
        </p:spPr>
      </p:sp>
      <p:sp>
        <p:nvSpPr>
          <p:cNvPr id="34" name="Shape 32"/>
          <p:cNvSpPr/>
          <p:nvPr/>
        </p:nvSpPr>
        <p:spPr>
          <a:xfrm>
            <a:off x="10497312" y="1993392"/>
            <a:ext cx="292608" cy="292608"/>
          </a:xfrm>
          <a:prstGeom prst="ellipse">
            <a:avLst/>
          </a:prstGeom>
          <a:solidFill>
            <a:srgbClr val="272A38"/>
          </a:solidFill>
          <a:ln w="12700">
            <a:solidFill>
              <a:srgbClr val="272A38"/>
            </a:solidFill>
            <a:prstDash val="solid"/>
          </a:ln>
        </p:spPr>
      </p:sp>
      <p:sp>
        <p:nvSpPr>
          <p:cNvPr id="35" name="Shape 33"/>
          <p:cNvSpPr/>
          <p:nvPr/>
        </p:nvSpPr>
        <p:spPr>
          <a:xfrm>
            <a:off x="10899648" y="1993392"/>
            <a:ext cx="292608" cy="292608"/>
          </a:xfrm>
          <a:prstGeom prst="ellipse">
            <a:avLst/>
          </a:prstGeom>
          <a:solidFill>
            <a:srgbClr val="272A38"/>
          </a:solidFill>
          <a:ln w="12700">
            <a:solidFill>
              <a:srgbClr val="272A38"/>
            </a:solidFill>
            <a:prstDash val="solid"/>
          </a:ln>
        </p:spPr>
      </p:sp>
      <p:sp>
        <p:nvSpPr>
          <p:cNvPr id="36" name="Shape 34"/>
          <p:cNvSpPr/>
          <p:nvPr/>
        </p:nvSpPr>
        <p:spPr>
          <a:xfrm>
            <a:off x="11301984" y="1993392"/>
            <a:ext cx="292608" cy="292608"/>
          </a:xfrm>
          <a:prstGeom prst="ellipse">
            <a:avLst/>
          </a:prstGeom>
          <a:solidFill>
            <a:srgbClr val="272A38"/>
          </a:solidFill>
          <a:ln w="12700">
            <a:solidFill>
              <a:srgbClr val="272A38"/>
            </a:solidFill>
            <a:prstDash val="solid"/>
          </a:ln>
        </p:spPr>
      </p:sp>
      <p:sp>
        <p:nvSpPr>
          <p:cNvPr id="37" name="Shape 35"/>
          <p:cNvSpPr/>
          <p:nvPr/>
        </p:nvSpPr>
        <p:spPr>
          <a:xfrm>
            <a:off x="7680960" y="2395728"/>
            <a:ext cx="292608" cy="292608"/>
          </a:xfrm>
          <a:prstGeom prst="ellipse">
            <a:avLst/>
          </a:prstGeom>
          <a:solidFill>
            <a:srgbClr val="272A38"/>
          </a:solidFill>
          <a:ln w="12700">
            <a:solidFill>
              <a:srgbClr val="272A38"/>
            </a:solidFill>
            <a:prstDash val="solid"/>
          </a:ln>
        </p:spPr>
      </p:sp>
      <p:sp>
        <p:nvSpPr>
          <p:cNvPr id="38" name="Shape 36"/>
          <p:cNvSpPr/>
          <p:nvPr/>
        </p:nvSpPr>
        <p:spPr>
          <a:xfrm>
            <a:off x="8083296" y="2395728"/>
            <a:ext cx="292608" cy="292608"/>
          </a:xfrm>
          <a:prstGeom prst="ellipse">
            <a:avLst/>
          </a:prstGeom>
          <a:solidFill>
            <a:srgbClr val="272A38"/>
          </a:solidFill>
          <a:ln w="12700">
            <a:solidFill>
              <a:srgbClr val="272A38"/>
            </a:solidFill>
            <a:prstDash val="solid"/>
          </a:ln>
        </p:spPr>
      </p:sp>
      <p:sp>
        <p:nvSpPr>
          <p:cNvPr id="39" name="Shape 37"/>
          <p:cNvSpPr/>
          <p:nvPr/>
        </p:nvSpPr>
        <p:spPr>
          <a:xfrm>
            <a:off x="8485632" y="2395728"/>
            <a:ext cx="292608" cy="292608"/>
          </a:xfrm>
          <a:prstGeom prst="ellipse">
            <a:avLst/>
          </a:prstGeom>
          <a:solidFill>
            <a:srgbClr val="272A38"/>
          </a:solidFill>
          <a:ln w="12700">
            <a:solidFill>
              <a:srgbClr val="272A38"/>
            </a:solidFill>
            <a:prstDash val="solid"/>
          </a:ln>
        </p:spPr>
      </p:sp>
      <p:sp>
        <p:nvSpPr>
          <p:cNvPr id="40" name="Shape 38"/>
          <p:cNvSpPr/>
          <p:nvPr/>
        </p:nvSpPr>
        <p:spPr>
          <a:xfrm>
            <a:off x="8887968" y="2395728"/>
            <a:ext cx="292608" cy="292608"/>
          </a:xfrm>
          <a:prstGeom prst="ellipse">
            <a:avLst/>
          </a:prstGeom>
          <a:solidFill>
            <a:srgbClr val="272A38"/>
          </a:solidFill>
          <a:ln w="12700">
            <a:solidFill>
              <a:srgbClr val="272A38"/>
            </a:solidFill>
            <a:prstDash val="solid"/>
          </a:ln>
        </p:spPr>
      </p:sp>
      <p:sp>
        <p:nvSpPr>
          <p:cNvPr id="41" name="Shape 39"/>
          <p:cNvSpPr/>
          <p:nvPr/>
        </p:nvSpPr>
        <p:spPr>
          <a:xfrm>
            <a:off x="9290304" y="2395728"/>
            <a:ext cx="292608" cy="292608"/>
          </a:xfrm>
          <a:prstGeom prst="ellipse">
            <a:avLst/>
          </a:prstGeom>
          <a:solidFill>
            <a:srgbClr val="272A38"/>
          </a:solidFill>
          <a:ln w="12700">
            <a:solidFill>
              <a:srgbClr val="272A38"/>
            </a:solidFill>
            <a:prstDash val="solid"/>
          </a:ln>
        </p:spPr>
      </p:sp>
      <p:sp>
        <p:nvSpPr>
          <p:cNvPr id="42" name="Shape 40"/>
          <p:cNvSpPr/>
          <p:nvPr/>
        </p:nvSpPr>
        <p:spPr>
          <a:xfrm>
            <a:off x="9692640" y="2395728"/>
            <a:ext cx="292608" cy="292608"/>
          </a:xfrm>
          <a:prstGeom prst="ellipse">
            <a:avLst/>
          </a:prstGeom>
          <a:solidFill>
            <a:srgbClr val="272A38"/>
          </a:solidFill>
          <a:ln w="12700">
            <a:solidFill>
              <a:srgbClr val="272A38"/>
            </a:solidFill>
            <a:prstDash val="solid"/>
          </a:ln>
        </p:spPr>
      </p:sp>
      <p:sp>
        <p:nvSpPr>
          <p:cNvPr id="43" name="Shape 41"/>
          <p:cNvSpPr/>
          <p:nvPr/>
        </p:nvSpPr>
        <p:spPr>
          <a:xfrm>
            <a:off x="10094976" y="2395728"/>
            <a:ext cx="292608" cy="292608"/>
          </a:xfrm>
          <a:prstGeom prst="ellipse">
            <a:avLst/>
          </a:prstGeom>
          <a:solidFill>
            <a:srgbClr val="272A38"/>
          </a:solidFill>
          <a:ln w="12700">
            <a:solidFill>
              <a:srgbClr val="272A38"/>
            </a:solidFill>
            <a:prstDash val="solid"/>
          </a:ln>
        </p:spPr>
      </p:sp>
      <p:sp>
        <p:nvSpPr>
          <p:cNvPr id="44" name="Shape 42"/>
          <p:cNvSpPr/>
          <p:nvPr/>
        </p:nvSpPr>
        <p:spPr>
          <a:xfrm>
            <a:off x="10497312" y="2395728"/>
            <a:ext cx="292608" cy="292608"/>
          </a:xfrm>
          <a:prstGeom prst="ellipse">
            <a:avLst/>
          </a:prstGeom>
          <a:solidFill>
            <a:srgbClr val="272A38"/>
          </a:solidFill>
          <a:ln w="12700">
            <a:solidFill>
              <a:srgbClr val="272A38"/>
            </a:solidFill>
            <a:prstDash val="solid"/>
          </a:ln>
        </p:spPr>
      </p:sp>
      <p:sp>
        <p:nvSpPr>
          <p:cNvPr id="45" name="Shape 43"/>
          <p:cNvSpPr/>
          <p:nvPr/>
        </p:nvSpPr>
        <p:spPr>
          <a:xfrm>
            <a:off x="10899648" y="2395728"/>
            <a:ext cx="292608" cy="292608"/>
          </a:xfrm>
          <a:prstGeom prst="ellipse">
            <a:avLst/>
          </a:prstGeom>
          <a:solidFill>
            <a:srgbClr val="272A38"/>
          </a:solidFill>
          <a:ln w="12700">
            <a:solidFill>
              <a:srgbClr val="272A38"/>
            </a:solidFill>
            <a:prstDash val="solid"/>
          </a:ln>
        </p:spPr>
      </p:sp>
      <p:sp>
        <p:nvSpPr>
          <p:cNvPr id="46" name="Shape 44"/>
          <p:cNvSpPr/>
          <p:nvPr/>
        </p:nvSpPr>
        <p:spPr>
          <a:xfrm>
            <a:off x="11301984" y="2395728"/>
            <a:ext cx="292608" cy="292608"/>
          </a:xfrm>
          <a:prstGeom prst="ellipse">
            <a:avLst/>
          </a:prstGeom>
          <a:solidFill>
            <a:srgbClr val="272A38"/>
          </a:solidFill>
          <a:ln w="12700">
            <a:solidFill>
              <a:srgbClr val="272A38"/>
            </a:solidFill>
            <a:prstDash val="solid"/>
          </a:ln>
        </p:spPr>
      </p:sp>
      <p:sp>
        <p:nvSpPr>
          <p:cNvPr id="47" name="Shape 45"/>
          <p:cNvSpPr/>
          <p:nvPr/>
        </p:nvSpPr>
        <p:spPr>
          <a:xfrm>
            <a:off x="7680960" y="2798064"/>
            <a:ext cx="292608" cy="292608"/>
          </a:xfrm>
          <a:prstGeom prst="ellipse">
            <a:avLst/>
          </a:prstGeom>
          <a:solidFill>
            <a:srgbClr val="272A38"/>
          </a:solidFill>
          <a:ln w="12700">
            <a:solidFill>
              <a:srgbClr val="272A38"/>
            </a:solidFill>
            <a:prstDash val="solid"/>
          </a:ln>
        </p:spPr>
      </p:sp>
      <p:sp>
        <p:nvSpPr>
          <p:cNvPr id="48" name="Shape 46"/>
          <p:cNvSpPr/>
          <p:nvPr/>
        </p:nvSpPr>
        <p:spPr>
          <a:xfrm>
            <a:off x="8083296" y="2798064"/>
            <a:ext cx="292608" cy="292608"/>
          </a:xfrm>
          <a:prstGeom prst="ellipse">
            <a:avLst/>
          </a:prstGeom>
          <a:solidFill>
            <a:srgbClr val="272A38"/>
          </a:solidFill>
          <a:ln w="12700">
            <a:solidFill>
              <a:srgbClr val="272A38"/>
            </a:solidFill>
            <a:prstDash val="solid"/>
          </a:ln>
        </p:spPr>
      </p:sp>
      <p:sp>
        <p:nvSpPr>
          <p:cNvPr id="49" name="Shape 47"/>
          <p:cNvSpPr/>
          <p:nvPr/>
        </p:nvSpPr>
        <p:spPr>
          <a:xfrm>
            <a:off x="8485632" y="2798064"/>
            <a:ext cx="292608" cy="292608"/>
          </a:xfrm>
          <a:prstGeom prst="ellipse">
            <a:avLst/>
          </a:prstGeom>
          <a:solidFill>
            <a:srgbClr val="272A38"/>
          </a:solidFill>
          <a:ln w="12700">
            <a:solidFill>
              <a:srgbClr val="272A38"/>
            </a:solidFill>
            <a:prstDash val="solid"/>
          </a:ln>
        </p:spPr>
      </p:sp>
      <p:sp>
        <p:nvSpPr>
          <p:cNvPr id="50" name="Shape 48"/>
          <p:cNvSpPr/>
          <p:nvPr/>
        </p:nvSpPr>
        <p:spPr>
          <a:xfrm>
            <a:off x="8887968" y="2798064"/>
            <a:ext cx="292608" cy="292608"/>
          </a:xfrm>
          <a:prstGeom prst="ellipse">
            <a:avLst/>
          </a:prstGeom>
          <a:solidFill>
            <a:srgbClr val="272A38"/>
          </a:solidFill>
          <a:ln w="12700">
            <a:solidFill>
              <a:srgbClr val="272A38"/>
            </a:solidFill>
            <a:prstDash val="solid"/>
          </a:ln>
        </p:spPr>
      </p:sp>
      <p:sp>
        <p:nvSpPr>
          <p:cNvPr id="51" name="Shape 49"/>
          <p:cNvSpPr/>
          <p:nvPr/>
        </p:nvSpPr>
        <p:spPr>
          <a:xfrm>
            <a:off x="9290304" y="2798064"/>
            <a:ext cx="292608" cy="292608"/>
          </a:xfrm>
          <a:prstGeom prst="ellipse">
            <a:avLst/>
          </a:prstGeom>
          <a:solidFill>
            <a:srgbClr val="272A38"/>
          </a:solidFill>
          <a:ln w="12700">
            <a:solidFill>
              <a:srgbClr val="272A38"/>
            </a:solidFill>
            <a:prstDash val="solid"/>
          </a:ln>
        </p:spPr>
      </p:sp>
      <p:sp>
        <p:nvSpPr>
          <p:cNvPr id="52" name="Shape 50"/>
          <p:cNvSpPr/>
          <p:nvPr/>
        </p:nvSpPr>
        <p:spPr>
          <a:xfrm>
            <a:off x="9692640" y="2798064"/>
            <a:ext cx="292608" cy="292608"/>
          </a:xfrm>
          <a:prstGeom prst="ellipse">
            <a:avLst/>
          </a:prstGeom>
          <a:solidFill>
            <a:srgbClr val="272A38"/>
          </a:solidFill>
          <a:ln w="12700">
            <a:solidFill>
              <a:srgbClr val="272A38"/>
            </a:solidFill>
            <a:prstDash val="solid"/>
          </a:ln>
        </p:spPr>
      </p:sp>
      <p:sp>
        <p:nvSpPr>
          <p:cNvPr id="53" name="Shape 51"/>
          <p:cNvSpPr/>
          <p:nvPr/>
        </p:nvSpPr>
        <p:spPr>
          <a:xfrm>
            <a:off x="10094976" y="2798064"/>
            <a:ext cx="292608" cy="292608"/>
          </a:xfrm>
          <a:prstGeom prst="ellipse">
            <a:avLst/>
          </a:prstGeom>
          <a:solidFill>
            <a:srgbClr val="272A38"/>
          </a:solidFill>
          <a:ln w="12700">
            <a:solidFill>
              <a:srgbClr val="272A38"/>
            </a:solidFill>
            <a:prstDash val="solid"/>
          </a:ln>
        </p:spPr>
      </p:sp>
      <p:sp>
        <p:nvSpPr>
          <p:cNvPr id="54" name="Shape 52"/>
          <p:cNvSpPr/>
          <p:nvPr/>
        </p:nvSpPr>
        <p:spPr>
          <a:xfrm>
            <a:off x="10497312" y="2798064"/>
            <a:ext cx="292608" cy="292608"/>
          </a:xfrm>
          <a:prstGeom prst="ellipse">
            <a:avLst/>
          </a:prstGeom>
          <a:solidFill>
            <a:srgbClr val="272A38"/>
          </a:solidFill>
          <a:ln w="12700">
            <a:solidFill>
              <a:srgbClr val="272A38"/>
            </a:solidFill>
            <a:prstDash val="solid"/>
          </a:ln>
        </p:spPr>
      </p:sp>
      <p:sp>
        <p:nvSpPr>
          <p:cNvPr id="55" name="Shape 53"/>
          <p:cNvSpPr/>
          <p:nvPr/>
        </p:nvSpPr>
        <p:spPr>
          <a:xfrm>
            <a:off x="10899648" y="2798064"/>
            <a:ext cx="292608" cy="292608"/>
          </a:xfrm>
          <a:prstGeom prst="ellipse">
            <a:avLst/>
          </a:prstGeom>
          <a:solidFill>
            <a:srgbClr val="272A38"/>
          </a:solidFill>
          <a:ln w="12700">
            <a:solidFill>
              <a:srgbClr val="272A38"/>
            </a:solidFill>
            <a:prstDash val="solid"/>
          </a:ln>
        </p:spPr>
      </p:sp>
      <p:sp>
        <p:nvSpPr>
          <p:cNvPr id="56" name="Shape 54"/>
          <p:cNvSpPr/>
          <p:nvPr/>
        </p:nvSpPr>
        <p:spPr>
          <a:xfrm>
            <a:off x="11301984" y="2798064"/>
            <a:ext cx="292608" cy="292608"/>
          </a:xfrm>
          <a:prstGeom prst="ellipse">
            <a:avLst/>
          </a:prstGeom>
          <a:solidFill>
            <a:srgbClr val="272A38"/>
          </a:solidFill>
          <a:ln w="12700">
            <a:solidFill>
              <a:srgbClr val="272A38"/>
            </a:solidFill>
            <a:prstDash val="solid"/>
          </a:ln>
        </p:spPr>
      </p:sp>
      <p:sp>
        <p:nvSpPr>
          <p:cNvPr id="57" name="Shape 55"/>
          <p:cNvSpPr/>
          <p:nvPr/>
        </p:nvSpPr>
        <p:spPr>
          <a:xfrm>
            <a:off x="7680960" y="3200400"/>
            <a:ext cx="292608" cy="292608"/>
          </a:xfrm>
          <a:prstGeom prst="ellipse">
            <a:avLst/>
          </a:prstGeom>
          <a:solidFill>
            <a:srgbClr val="272A38"/>
          </a:solidFill>
          <a:ln w="12700">
            <a:solidFill>
              <a:srgbClr val="272A38"/>
            </a:solidFill>
            <a:prstDash val="solid"/>
          </a:ln>
        </p:spPr>
      </p:sp>
      <p:sp>
        <p:nvSpPr>
          <p:cNvPr id="58" name="Shape 56"/>
          <p:cNvSpPr/>
          <p:nvPr/>
        </p:nvSpPr>
        <p:spPr>
          <a:xfrm>
            <a:off x="8083296" y="3200400"/>
            <a:ext cx="292608" cy="292608"/>
          </a:xfrm>
          <a:prstGeom prst="ellipse">
            <a:avLst/>
          </a:prstGeom>
          <a:solidFill>
            <a:srgbClr val="272A38"/>
          </a:solidFill>
          <a:ln w="12700">
            <a:solidFill>
              <a:srgbClr val="272A38"/>
            </a:solidFill>
            <a:prstDash val="solid"/>
          </a:ln>
        </p:spPr>
      </p:sp>
      <p:sp>
        <p:nvSpPr>
          <p:cNvPr id="59" name="Shape 57"/>
          <p:cNvSpPr/>
          <p:nvPr/>
        </p:nvSpPr>
        <p:spPr>
          <a:xfrm>
            <a:off x="8485632" y="3200400"/>
            <a:ext cx="292608" cy="292608"/>
          </a:xfrm>
          <a:prstGeom prst="ellipse">
            <a:avLst/>
          </a:prstGeom>
          <a:solidFill>
            <a:srgbClr val="272A38"/>
          </a:solidFill>
          <a:ln w="12700">
            <a:solidFill>
              <a:srgbClr val="272A38"/>
            </a:solidFill>
            <a:prstDash val="solid"/>
          </a:ln>
        </p:spPr>
      </p:sp>
      <p:sp>
        <p:nvSpPr>
          <p:cNvPr id="60" name="Shape 58"/>
          <p:cNvSpPr/>
          <p:nvPr/>
        </p:nvSpPr>
        <p:spPr>
          <a:xfrm>
            <a:off x="8887968" y="3200400"/>
            <a:ext cx="292608" cy="292608"/>
          </a:xfrm>
          <a:prstGeom prst="ellipse">
            <a:avLst/>
          </a:prstGeom>
          <a:solidFill>
            <a:srgbClr val="272A38"/>
          </a:solidFill>
          <a:ln w="12700">
            <a:solidFill>
              <a:srgbClr val="272A38"/>
            </a:solidFill>
            <a:prstDash val="solid"/>
          </a:ln>
        </p:spPr>
      </p:sp>
      <p:sp>
        <p:nvSpPr>
          <p:cNvPr id="61" name="Shape 59"/>
          <p:cNvSpPr/>
          <p:nvPr/>
        </p:nvSpPr>
        <p:spPr>
          <a:xfrm>
            <a:off x="9290304" y="3200400"/>
            <a:ext cx="292608" cy="292608"/>
          </a:xfrm>
          <a:prstGeom prst="ellipse">
            <a:avLst/>
          </a:prstGeom>
          <a:solidFill>
            <a:srgbClr val="272A38"/>
          </a:solidFill>
          <a:ln w="12700">
            <a:solidFill>
              <a:srgbClr val="272A38"/>
            </a:solidFill>
            <a:prstDash val="solid"/>
          </a:ln>
        </p:spPr>
      </p:sp>
      <p:sp>
        <p:nvSpPr>
          <p:cNvPr id="62" name="Shape 60"/>
          <p:cNvSpPr/>
          <p:nvPr/>
        </p:nvSpPr>
        <p:spPr>
          <a:xfrm>
            <a:off x="9692640" y="3200400"/>
            <a:ext cx="292608" cy="292608"/>
          </a:xfrm>
          <a:prstGeom prst="ellipse">
            <a:avLst/>
          </a:prstGeom>
          <a:solidFill>
            <a:srgbClr val="272A38"/>
          </a:solidFill>
          <a:ln w="12700">
            <a:solidFill>
              <a:srgbClr val="272A38"/>
            </a:solidFill>
            <a:prstDash val="solid"/>
          </a:ln>
        </p:spPr>
      </p:sp>
      <p:sp>
        <p:nvSpPr>
          <p:cNvPr id="63" name="Shape 61"/>
          <p:cNvSpPr/>
          <p:nvPr/>
        </p:nvSpPr>
        <p:spPr>
          <a:xfrm>
            <a:off x="10094976" y="3200400"/>
            <a:ext cx="292608" cy="292608"/>
          </a:xfrm>
          <a:prstGeom prst="ellipse">
            <a:avLst/>
          </a:prstGeom>
          <a:solidFill>
            <a:srgbClr val="272A38"/>
          </a:solidFill>
          <a:ln w="12700">
            <a:solidFill>
              <a:srgbClr val="272A38"/>
            </a:solidFill>
            <a:prstDash val="solid"/>
          </a:ln>
        </p:spPr>
      </p:sp>
      <p:sp>
        <p:nvSpPr>
          <p:cNvPr id="64" name="Shape 62"/>
          <p:cNvSpPr/>
          <p:nvPr/>
        </p:nvSpPr>
        <p:spPr>
          <a:xfrm>
            <a:off x="10497312" y="3200400"/>
            <a:ext cx="292608" cy="292608"/>
          </a:xfrm>
          <a:prstGeom prst="ellipse">
            <a:avLst/>
          </a:prstGeom>
          <a:solidFill>
            <a:srgbClr val="272A38"/>
          </a:solidFill>
          <a:ln w="12700">
            <a:solidFill>
              <a:srgbClr val="272A38"/>
            </a:solidFill>
            <a:prstDash val="solid"/>
          </a:ln>
        </p:spPr>
      </p:sp>
      <p:sp>
        <p:nvSpPr>
          <p:cNvPr id="65" name="Shape 63"/>
          <p:cNvSpPr/>
          <p:nvPr/>
        </p:nvSpPr>
        <p:spPr>
          <a:xfrm>
            <a:off x="10899648" y="3200400"/>
            <a:ext cx="292608" cy="292608"/>
          </a:xfrm>
          <a:prstGeom prst="ellipse">
            <a:avLst/>
          </a:prstGeom>
          <a:solidFill>
            <a:srgbClr val="272A38"/>
          </a:solidFill>
          <a:ln w="12700">
            <a:solidFill>
              <a:srgbClr val="272A38"/>
            </a:solidFill>
            <a:prstDash val="solid"/>
          </a:ln>
        </p:spPr>
      </p:sp>
      <p:sp>
        <p:nvSpPr>
          <p:cNvPr id="66" name="Shape 64"/>
          <p:cNvSpPr/>
          <p:nvPr/>
        </p:nvSpPr>
        <p:spPr>
          <a:xfrm>
            <a:off x="11301984" y="3200400"/>
            <a:ext cx="292608" cy="292608"/>
          </a:xfrm>
          <a:prstGeom prst="ellipse">
            <a:avLst/>
          </a:prstGeom>
          <a:solidFill>
            <a:srgbClr val="272A38"/>
          </a:solidFill>
          <a:ln w="12700">
            <a:solidFill>
              <a:srgbClr val="272A38"/>
            </a:solidFill>
            <a:prstDash val="solid"/>
          </a:ln>
        </p:spPr>
      </p:sp>
      <p:sp>
        <p:nvSpPr>
          <p:cNvPr id="67" name="Shape 65"/>
          <p:cNvSpPr/>
          <p:nvPr/>
        </p:nvSpPr>
        <p:spPr>
          <a:xfrm>
            <a:off x="7680960" y="3602736"/>
            <a:ext cx="292608" cy="292608"/>
          </a:xfrm>
          <a:prstGeom prst="ellipse">
            <a:avLst/>
          </a:prstGeom>
          <a:solidFill>
            <a:srgbClr val="272A38"/>
          </a:solidFill>
          <a:ln w="12700">
            <a:solidFill>
              <a:srgbClr val="272A38"/>
            </a:solidFill>
            <a:prstDash val="solid"/>
          </a:ln>
        </p:spPr>
      </p:sp>
      <p:sp>
        <p:nvSpPr>
          <p:cNvPr id="68" name="Shape 66"/>
          <p:cNvSpPr/>
          <p:nvPr/>
        </p:nvSpPr>
        <p:spPr>
          <a:xfrm>
            <a:off x="8083296" y="3602736"/>
            <a:ext cx="292608" cy="292608"/>
          </a:xfrm>
          <a:prstGeom prst="ellipse">
            <a:avLst/>
          </a:prstGeom>
          <a:solidFill>
            <a:srgbClr val="272A38"/>
          </a:solidFill>
          <a:ln w="12700">
            <a:solidFill>
              <a:srgbClr val="272A38"/>
            </a:solidFill>
            <a:prstDash val="solid"/>
          </a:ln>
        </p:spPr>
      </p:sp>
      <p:sp>
        <p:nvSpPr>
          <p:cNvPr id="69" name="Shape 67"/>
          <p:cNvSpPr/>
          <p:nvPr/>
        </p:nvSpPr>
        <p:spPr>
          <a:xfrm>
            <a:off x="8485632" y="3602736"/>
            <a:ext cx="292608" cy="292608"/>
          </a:xfrm>
          <a:prstGeom prst="ellipse">
            <a:avLst/>
          </a:prstGeom>
          <a:solidFill>
            <a:srgbClr val="272A38"/>
          </a:solidFill>
          <a:ln w="12700">
            <a:solidFill>
              <a:srgbClr val="272A38"/>
            </a:solidFill>
            <a:prstDash val="solid"/>
          </a:ln>
        </p:spPr>
      </p:sp>
      <p:sp>
        <p:nvSpPr>
          <p:cNvPr id="70" name="Shape 68"/>
          <p:cNvSpPr/>
          <p:nvPr/>
        </p:nvSpPr>
        <p:spPr>
          <a:xfrm>
            <a:off x="8887968" y="3602736"/>
            <a:ext cx="292608" cy="292608"/>
          </a:xfrm>
          <a:prstGeom prst="ellipse">
            <a:avLst/>
          </a:prstGeom>
          <a:solidFill>
            <a:srgbClr val="272A38"/>
          </a:solidFill>
          <a:ln w="12700">
            <a:solidFill>
              <a:srgbClr val="272A38"/>
            </a:solidFill>
            <a:prstDash val="solid"/>
          </a:ln>
        </p:spPr>
      </p:sp>
      <p:sp>
        <p:nvSpPr>
          <p:cNvPr id="71" name="Shape 69"/>
          <p:cNvSpPr/>
          <p:nvPr/>
        </p:nvSpPr>
        <p:spPr>
          <a:xfrm>
            <a:off x="9290304" y="3602736"/>
            <a:ext cx="292608" cy="292608"/>
          </a:xfrm>
          <a:prstGeom prst="ellipse">
            <a:avLst/>
          </a:prstGeom>
          <a:solidFill>
            <a:srgbClr val="272A38"/>
          </a:solidFill>
          <a:ln w="12700">
            <a:solidFill>
              <a:srgbClr val="272A38"/>
            </a:solidFill>
            <a:prstDash val="solid"/>
          </a:ln>
        </p:spPr>
      </p:sp>
      <p:sp>
        <p:nvSpPr>
          <p:cNvPr id="72" name="Shape 70"/>
          <p:cNvSpPr/>
          <p:nvPr/>
        </p:nvSpPr>
        <p:spPr>
          <a:xfrm>
            <a:off x="9692640" y="3602736"/>
            <a:ext cx="292608" cy="292608"/>
          </a:xfrm>
          <a:prstGeom prst="ellipse">
            <a:avLst/>
          </a:prstGeom>
          <a:solidFill>
            <a:srgbClr val="272A38"/>
          </a:solidFill>
          <a:ln w="12700">
            <a:solidFill>
              <a:srgbClr val="272A38"/>
            </a:solidFill>
            <a:prstDash val="solid"/>
          </a:ln>
        </p:spPr>
      </p:sp>
      <p:sp>
        <p:nvSpPr>
          <p:cNvPr id="73" name="Shape 71"/>
          <p:cNvSpPr/>
          <p:nvPr/>
        </p:nvSpPr>
        <p:spPr>
          <a:xfrm>
            <a:off x="10094976" y="3602736"/>
            <a:ext cx="292608" cy="292608"/>
          </a:xfrm>
          <a:prstGeom prst="ellipse">
            <a:avLst/>
          </a:prstGeom>
          <a:solidFill>
            <a:srgbClr val="272A38"/>
          </a:solidFill>
          <a:ln w="12700">
            <a:solidFill>
              <a:srgbClr val="272A38"/>
            </a:solidFill>
            <a:prstDash val="solid"/>
          </a:ln>
        </p:spPr>
      </p:sp>
      <p:sp>
        <p:nvSpPr>
          <p:cNvPr id="74" name="Shape 72"/>
          <p:cNvSpPr/>
          <p:nvPr/>
        </p:nvSpPr>
        <p:spPr>
          <a:xfrm>
            <a:off x="10497312" y="3602736"/>
            <a:ext cx="292608" cy="292608"/>
          </a:xfrm>
          <a:prstGeom prst="ellipse">
            <a:avLst/>
          </a:prstGeom>
          <a:solidFill>
            <a:srgbClr val="272A38"/>
          </a:solidFill>
          <a:ln w="12700">
            <a:solidFill>
              <a:srgbClr val="272A38"/>
            </a:solidFill>
            <a:prstDash val="solid"/>
          </a:ln>
        </p:spPr>
      </p:sp>
      <p:sp>
        <p:nvSpPr>
          <p:cNvPr id="75" name="Shape 73"/>
          <p:cNvSpPr/>
          <p:nvPr/>
        </p:nvSpPr>
        <p:spPr>
          <a:xfrm>
            <a:off x="10899648" y="3602736"/>
            <a:ext cx="292608" cy="292608"/>
          </a:xfrm>
          <a:prstGeom prst="ellipse">
            <a:avLst/>
          </a:prstGeom>
          <a:solidFill>
            <a:srgbClr val="272A38"/>
          </a:solidFill>
          <a:ln w="12700">
            <a:solidFill>
              <a:srgbClr val="272A38"/>
            </a:solidFill>
            <a:prstDash val="solid"/>
          </a:ln>
        </p:spPr>
      </p:sp>
      <p:sp>
        <p:nvSpPr>
          <p:cNvPr id="76" name="Shape 74"/>
          <p:cNvSpPr/>
          <p:nvPr/>
        </p:nvSpPr>
        <p:spPr>
          <a:xfrm>
            <a:off x="11301984" y="3602736"/>
            <a:ext cx="292608" cy="292608"/>
          </a:xfrm>
          <a:prstGeom prst="ellipse">
            <a:avLst/>
          </a:prstGeom>
          <a:solidFill>
            <a:srgbClr val="272A38"/>
          </a:solidFill>
          <a:ln w="12700">
            <a:solidFill>
              <a:srgbClr val="272A38"/>
            </a:solidFill>
            <a:prstDash val="solid"/>
          </a:ln>
        </p:spPr>
      </p:sp>
      <p:sp>
        <p:nvSpPr>
          <p:cNvPr id="77" name="Shape 75"/>
          <p:cNvSpPr/>
          <p:nvPr/>
        </p:nvSpPr>
        <p:spPr>
          <a:xfrm>
            <a:off x="7680960" y="4005072"/>
            <a:ext cx="292608" cy="292608"/>
          </a:xfrm>
          <a:prstGeom prst="ellipse">
            <a:avLst/>
          </a:prstGeom>
          <a:solidFill>
            <a:srgbClr val="272A38"/>
          </a:solidFill>
          <a:ln w="12700">
            <a:solidFill>
              <a:srgbClr val="272A38"/>
            </a:solidFill>
            <a:prstDash val="solid"/>
          </a:ln>
        </p:spPr>
      </p:sp>
      <p:sp>
        <p:nvSpPr>
          <p:cNvPr id="78" name="Shape 76"/>
          <p:cNvSpPr/>
          <p:nvPr/>
        </p:nvSpPr>
        <p:spPr>
          <a:xfrm>
            <a:off x="8083296" y="4005072"/>
            <a:ext cx="292608" cy="292608"/>
          </a:xfrm>
          <a:prstGeom prst="ellipse">
            <a:avLst/>
          </a:prstGeom>
          <a:solidFill>
            <a:srgbClr val="272A38"/>
          </a:solidFill>
          <a:ln w="12700">
            <a:solidFill>
              <a:srgbClr val="272A38"/>
            </a:solidFill>
            <a:prstDash val="solid"/>
          </a:ln>
        </p:spPr>
      </p:sp>
      <p:sp>
        <p:nvSpPr>
          <p:cNvPr id="79" name="Shape 77"/>
          <p:cNvSpPr/>
          <p:nvPr/>
        </p:nvSpPr>
        <p:spPr>
          <a:xfrm>
            <a:off x="8485632" y="4005072"/>
            <a:ext cx="292608" cy="292608"/>
          </a:xfrm>
          <a:prstGeom prst="ellipse">
            <a:avLst/>
          </a:prstGeom>
          <a:solidFill>
            <a:srgbClr val="272A38"/>
          </a:solidFill>
          <a:ln w="12700">
            <a:solidFill>
              <a:srgbClr val="272A38"/>
            </a:solidFill>
            <a:prstDash val="solid"/>
          </a:ln>
        </p:spPr>
      </p:sp>
      <p:sp>
        <p:nvSpPr>
          <p:cNvPr id="80" name="Shape 78"/>
          <p:cNvSpPr/>
          <p:nvPr/>
        </p:nvSpPr>
        <p:spPr>
          <a:xfrm>
            <a:off x="8887968" y="4005072"/>
            <a:ext cx="292608" cy="292608"/>
          </a:xfrm>
          <a:prstGeom prst="ellipse">
            <a:avLst/>
          </a:prstGeom>
          <a:solidFill>
            <a:srgbClr val="272A38"/>
          </a:solidFill>
          <a:ln w="12700">
            <a:solidFill>
              <a:srgbClr val="272A38"/>
            </a:solidFill>
            <a:prstDash val="solid"/>
          </a:ln>
        </p:spPr>
      </p:sp>
      <p:sp>
        <p:nvSpPr>
          <p:cNvPr id="81" name="Shape 79"/>
          <p:cNvSpPr/>
          <p:nvPr/>
        </p:nvSpPr>
        <p:spPr>
          <a:xfrm>
            <a:off x="9290304" y="4005072"/>
            <a:ext cx="292608" cy="292608"/>
          </a:xfrm>
          <a:prstGeom prst="ellipse">
            <a:avLst/>
          </a:prstGeom>
          <a:solidFill>
            <a:srgbClr val="272A38"/>
          </a:solidFill>
          <a:ln w="12700">
            <a:solidFill>
              <a:srgbClr val="272A38"/>
            </a:solidFill>
            <a:prstDash val="solid"/>
          </a:ln>
        </p:spPr>
      </p:sp>
      <p:sp>
        <p:nvSpPr>
          <p:cNvPr id="82" name="Shape 80"/>
          <p:cNvSpPr/>
          <p:nvPr/>
        </p:nvSpPr>
        <p:spPr>
          <a:xfrm>
            <a:off x="9692640" y="4005072"/>
            <a:ext cx="292608" cy="292608"/>
          </a:xfrm>
          <a:prstGeom prst="ellipse">
            <a:avLst/>
          </a:prstGeom>
          <a:solidFill>
            <a:srgbClr val="272A38"/>
          </a:solidFill>
          <a:ln w="12700">
            <a:solidFill>
              <a:srgbClr val="272A38"/>
            </a:solidFill>
            <a:prstDash val="solid"/>
          </a:ln>
        </p:spPr>
      </p:sp>
      <p:sp>
        <p:nvSpPr>
          <p:cNvPr id="83" name="Shape 81"/>
          <p:cNvSpPr/>
          <p:nvPr/>
        </p:nvSpPr>
        <p:spPr>
          <a:xfrm>
            <a:off x="10094976" y="4005072"/>
            <a:ext cx="292608" cy="292608"/>
          </a:xfrm>
          <a:prstGeom prst="ellipse">
            <a:avLst/>
          </a:prstGeom>
          <a:solidFill>
            <a:srgbClr val="272A38"/>
          </a:solidFill>
          <a:ln w="12700">
            <a:solidFill>
              <a:srgbClr val="272A38"/>
            </a:solidFill>
            <a:prstDash val="solid"/>
          </a:ln>
        </p:spPr>
      </p:sp>
      <p:sp>
        <p:nvSpPr>
          <p:cNvPr id="84" name="Shape 82"/>
          <p:cNvSpPr/>
          <p:nvPr/>
        </p:nvSpPr>
        <p:spPr>
          <a:xfrm>
            <a:off x="10497312" y="4005072"/>
            <a:ext cx="292608" cy="292608"/>
          </a:xfrm>
          <a:prstGeom prst="ellipse">
            <a:avLst/>
          </a:prstGeom>
          <a:solidFill>
            <a:srgbClr val="272A38"/>
          </a:solidFill>
          <a:ln w="12700">
            <a:solidFill>
              <a:srgbClr val="272A38"/>
            </a:solidFill>
            <a:prstDash val="solid"/>
          </a:ln>
        </p:spPr>
      </p:sp>
      <p:sp>
        <p:nvSpPr>
          <p:cNvPr id="85" name="Shape 83"/>
          <p:cNvSpPr/>
          <p:nvPr/>
        </p:nvSpPr>
        <p:spPr>
          <a:xfrm>
            <a:off x="10899648" y="4005072"/>
            <a:ext cx="292608" cy="292608"/>
          </a:xfrm>
          <a:prstGeom prst="ellipse">
            <a:avLst/>
          </a:prstGeom>
          <a:solidFill>
            <a:srgbClr val="272A38"/>
          </a:solidFill>
          <a:ln w="12700">
            <a:solidFill>
              <a:srgbClr val="272A38"/>
            </a:solidFill>
            <a:prstDash val="solid"/>
          </a:ln>
        </p:spPr>
      </p:sp>
      <p:sp>
        <p:nvSpPr>
          <p:cNvPr id="86" name="Shape 84"/>
          <p:cNvSpPr/>
          <p:nvPr/>
        </p:nvSpPr>
        <p:spPr>
          <a:xfrm>
            <a:off x="11301984" y="4005072"/>
            <a:ext cx="292608" cy="292608"/>
          </a:xfrm>
          <a:prstGeom prst="ellipse">
            <a:avLst/>
          </a:prstGeom>
          <a:solidFill>
            <a:srgbClr val="272A38"/>
          </a:solidFill>
          <a:ln w="12700">
            <a:solidFill>
              <a:srgbClr val="272A38"/>
            </a:solidFill>
            <a:prstDash val="solid"/>
          </a:ln>
        </p:spPr>
      </p:sp>
      <p:sp>
        <p:nvSpPr>
          <p:cNvPr id="87" name="Shape 85"/>
          <p:cNvSpPr/>
          <p:nvPr/>
        </p:nvSpPr>
        <p:spPr>
          <a:xfrm>
            <a:off x="7680960" y="4407408"/>
            <a:ext cx="292608" cy="292608"/>
          </a:xfrm>
          <a:prstGeom prst="ellipse">
            <a:avLst/>
          </a:prstGeom>
          <a:solidFill>
            <a:srgbClr val="272A38"/>
          </a:solidFill>
          <a:ln w="12700">
            <a:solidFill>
              <a:srgbClr val="272A38"/>
            </a:solidFill>
            <a:prstDash val="solid"/>
          </a:ln>
        </p:spPr>
      </p:sp>
      <p:sp>
        <p:nvSpPr>
          <p:cNvPr id="88" name="Shape 86"/>
          <p:cNvSpPr/>
          <p:nvPr/>
        </p:nvSpPr>
        <p:spPr>
          <a:xfrm>
            <a:off x="8083296" y="4407408"/>
            <a:ext cx="292608" cy="292608"/>
          </a:xfrm>
          <a:prstGeom prst="ellipse">
            <a:avLst/>
          </a:prstGeom>
          <a:solidFill>
            <a:srgbClr val="272A38"/>
          </a:solidFill>
          <a:ln w="12700">
            <a:solidFill>
              <a:srgbClr val="272A38"/>
            </a:solidFill>
            <a:prstDash val="solid"/>
          </a:ln>
        </p:spPr>
      </p:sp>
      <p:sp>
        <p:nvSpPr>
          <p:cNvPr id="89" name="Shape 87"/>
          <p:cNvSpPr/>
          <p:nvPr/>
        </p:nvSpPr>
        <p:spPr>
          <a:xfrm>
            <a:off x="8485632" y="4407408"/>
            <a:ext cx="292608" cy="292608"/>
          </a:xfrm>
          <a:prstGeom prst="ellipse">
            <a:avLst/>
          </a:prstGeom>
          <a:solidFill>
            <a:srgbClr val="272A38"/>
          </a:solidFill>
          <a:ln w="12700">
            <a:solidFill>
              <a:srgbClr val="272A38"/>
            </a:solidFill>
            <a:prstDash val="solid"/>
          </a:ln>
        </p:spPr>
      </p:sp>
      <p:sp>
        <p:nvSpPr>
          <p:cNvPr id="90" name="Shape 88"/>
          <p:cNvSpPr/>
          <p:nvPr/>
        </p:nvSpPr>
        <p:spPr>
          <a:xfrm>
            <a:off x="8887968" y="4407408"/>
            <a:ext cx="292608" cy="292608"/>
          </a:xfrm>
          <a:prstGeom prst="ellipse">
            <a:avLst/>
          </a:prstGeom>
          <a:solidFill>
            <a:srgbClr val="272A38"/>
          </a:solidFill>
          <a:ln w="12700">
            <a:solidFill>
              <a:srgbClr val="272A38"/>
            </a:solidFill>
            <a:prstDash val="solid"/>
          </a:ln>
        </p:spPr>
      </p:sp>
      <p:sp>
        <p:nvSpPr>
          <p:cNvPr id="91" name="Shape 89"/>
          <p:cNvSpPr/>
          <p:nvPr/>
        </p:nvSpPr>
        <p:spPr>
          <a:xfrm>
            <a:off x="9290304" y="4407408"/>
            <a:ext cx="292608" cy="292608"/>
          </a:xfrm>
          <a:prstGeom prst="ellipse">
            <a:avLst/>
          </a:prstGeom>
          <a:solidFill>
            <a:srgbClr val="272A38"/>
          </a:solidFill>
          <a:ln w="12700">
            <a:solidFill>
              <a:srgbClr val="272A38"/>
            </a:solidFill>
            <a:prstDash val="solid"/>
          </a:ln>
        </p:spPr>
      </p:sp>
      <p:sp>
        <p:nvSpPr>
          <p:cNvPr id="92" name="Shape 90"/>
          <p:cNvSpPr/>
          <p:nvPr/>
        </p:nvSpPr>
        <p:spPr>
          <a:xfrm>
            <a:off x="9692640" y="4407408"/>
            <a:ext cx="292608" cy="292608"/>
          </a:xfrm>
          <a:prstGeom prst="ellipse">
            <a:avLst/>
          </a:prstGeom>
          <a:solidFill>
            <a:srgbClr val="272A38"/>
          </a:solidFill>
          <a:ln w="12700">
            <a:solidFill>
              <a:srgbClr val="272A38"/>
            </a:solidFill>
            <a:prstDash val="solid"/>
          </a:ln>
        </p:spPr>
      </p:sp>
      <p:sp>
        <p:nvSpPr>
          <p:cNvPr id="93" name="Shape 91"/>
          <p:cNvSpPr/>
          <p:nvPr/>
        </p:nvSpPr>
        <p:spPr>
          <a:xfrm>
            <a:off x="10094976" y="4407408"/>
            <a:ext cx="292608" cy="292608"/>
          </a:xfrm>
          <a:prstGeom prst="ellipse">
            <a:avLst/>
          </a:prstGeom>
          <a:solidFill>
            <a:srgbClr val="272A38"/>
          </a:solidFill>
          <a:ln w="12700">
            <a:solidFill>
              <a:srgbClr val="272A38"/>
            </a:solidFill>
            <a:prstDash val="solid"/>
          </a:ln>
        </p:spPr>
      </p:sp>
      <p:sp>
        <p:nvSpPr>
          <p:cNvPr id="94" name="Shape 92"/>
          <p:cNvSpPr/>
          <p:nvPr/>
        </p:nvSpPr>
        <p:spPr>
          <a:xfrm>
            <a:off x="10497312" y="4407408"/>
            <a:ext cx="292608" cy="292608"/>
          </a:xfrm>
          <a:prstGeom prst="ellipse">
            <a:avLst/>
          </a:prstGeom>
          <a:solidFill>
            <a:srgbClr val="272A38"/>
          </a:solidFill>
          <a:ln w="12700">
            <a:solidFill>
              <a:srgbClr val="272A38"/>
            </a:solidFill>
            <a:prstDash val="solid"/>
          </a:ln>
        </p:spPr>
      </p:sp>
      <p:sp>
        <p:nvSpPr>
          <p:cNvPr id="95" name="Shape 93"/>
          <p:cNvSpPr/>
          <p:nvPr/>
        </p:nvSpPr>
        <p:spPr>
          <a:xfrm>
            <a:off x="10899648" y="4407408"/>
            <a:ext cx="292608" cy="292608"/>
          </a:xfrm>
          <a:prstGeom prst="ellipse">
            <a:avLst/>
          </a:prstGeom>
          <a:solidFill>
            <a:srgbClr val="272A38"/>
          </a:solidFill>
          <a:ln w="12700">
            <a:solidFill>
              <a:srgbClr val="272A38"/>
            </a:solidFill>
            <a:prstDash val="solid"/>
          </a:ln>
        </p:spPr>
      </p:sp>
      <p:sp>
        <p:nvSpPr>
          <p:cNvPr id="96" name="Shape 94"/>
          <p:cNvSpPr/>
          <p:nvPr/>
        </p:nvSpPr>
        <p:spPr>
          <a:xfrm>
            <a:off x="11301984" y="4407408"/>
            <a:ext cx="292608" cy="292608"/>
          </a:xfrm>
          <a:prstGeom prst="ellipse">
            <a:avLst/>
          </a:prstGeom>
          <a:solidFill>
            <a:srgbClr val="272A38"/>
          </a:solidFill>
          <a:ln w="12700">
            <a:solidFill>
              <a:srgbClr val="272A38"/>
            </a:solidFill>
            <a:prstDash val="solid"/>
          </a:ln>
        </p:spPr>
      </p:sp>
      <p:sp>
        <p:nvSpPr>
          <p:cNvPr id="97" name="Shape 95"/>
          <p:cNvSpPr/>
          <p:nvPr/>
        </p:nvSpPr>
        <p:spPr>
          <a:xfrm>
            <a:off x="7680960" y="4809744"/>
            <a:ext cx="292608" cy="292608"/>
          </a:xfrm>
          <a:prstGeom prst="ellipse">
            <a:avLst/>
          </a:prstGeom>
          <a:solidFill>
            <a:srgbClr val="272A38"/>
          </a:solidFill>
          <a:ln w="12700">
            <a:solidFill>
              <a:srgbClr val="272A38"/>
            </a:solidFill>
            <a:prstDash val="solid"/>
          </a:ln>
        </p:spPr>
      </p:sp>
      <p:sp>
        <p:nvSpPr>
          <p:cNvPr id="98" name="Shape 96"/>
          <p:cNvSpPr/>
          <p:nvPr/>
        </p:nvSpPr>
        <p:spPr>
          <a:xfrm>
            <a:off x="8083296" y="4809744"/>
            <a:ext cx="292608" cy="292608"/>
          </a:xfrm>
          <a:prstGeom prst="ellipse">
            <a:avLst/>
          </a:prstGeom>
          <a:solidFill>
            <a:srgbClr val="272A38"/>
          </a:solidFill>
          <a:ln w="12700">
            <a:solidFill>
              <a:srgbClr val="272A38"/>
            </a:solidFill>
            <a:prstDash val="solid"/>
          </a:ln>
        </p:spPr>
      </p:sp>
      <p:sp>
        <p:nvSpPr>
          <p:cNvPr id="99" name="Shape 97"/>
          <p:cNvSpPr/>
          <p:nvPr/>
        </p:nvSpPr>
        <p:spPr>
          <a:xfrm>
            <a:off x="8485632" y="4809744"/>
            <a:ext cx="292608" cy="292608"/>
          </a:xfrm>
          <a:prstGeom prst="ellipse">
            <a:avLst/>
          </a:prstGeom>
          <a:solidFill>
            <a:srgbClr val="272A38"/>
          </a:solidFill>
          <a:ln w="12700">
            <a:solidFill>
              <a:srgbClr val="272A38"/>
            </a:solidFill>
            <a:prstDash val="solid"/>
          </a:ln>
        </p:spPr>
      </p:sp>
      <p:sp>
        <p:nvSpPr>
          <p:cNvPr id="100" name="Shape 98"/>
          <p:cNvSpPr/>
          <p:nvPr/>
        </p:nvSpPr>
        <p:spPr>
          <a:xfrm>
            <a:off x="8887968" y="4809744"/>
            <a:ext cx="292608" cy="292608"/>
          </a:xfrm>
          <a:prstGeom prst="ellipse">
            <a:avLst/>
          </a:prstGeom>
          <a:solidFill>
            <a:srgbClr val="272A38"/>
          </a:solidFill>
          <a:ln w="12700">
            <a:solidFill>
              <a:srgbClr val="272A38"/>
            </a:solidFill>
            <a:prstDash val="solid"/>
          </a:ln>
        </p:spPr>
      </p:sp>
      <p:sp>
        <p:nvSpPr>
          <p:cNvPr id="101" name="Shape 99"/>
          <p:cNvSpPr/>
          <p:nvPr/>
        </p:nvSpPr>
        <p:spPr>
          <a:xfrm>
            <a:off x="9290304" y="4809744"/>
            <a:ext cx="292608" cy="292608"/>
          </a:xfrm>
          <a:prstGeom prst="ellipse">
            <a:avLst/>
          </a:prstGeom>
          <a:solidFill>
            <a:srgbClr val="272A38"/>
          </a:solidFill>
          <a:ln w="12700">
            <a:solidFill>
              <a:srgbClr val="272A38"/>
            </a:solidFill>
            <a:prstDash val="solid"/>
          </a:ln>
        </p:spPr>
      </p:sp>
      <p:sp>
        <p:nvSpPr>
          <p:cNvPr id="102" name="Shape 100"/>
          <p:cNvSpPr/>
          <p:nvPr/>
        </p:nvSpPr>
        <p:spPr>
          <a:xfrm>
            <a:off x="9692640" y="4809744"/>
            <a:ext cx="292608" cy="292608"/>
          </a:xfrm>
          <a:prstGeom prst="ellipse">
            <a:avLst/>
          </a:prstGeom>
          <a:solidFill>
            <a:srgbClr val="272A38"/>
          </a:solidFill>
          <a:ln w="12700">
            <a:solidFill>
              <a:srgbClr val="272A38"/>
            </a:solidFill>
            <a:prstDash val="solid"/>
          </a:ln>
        </p:spPr>
      </p:sp>
      <p:sp>
        <p:nvSpPr>
          <p:cNvPr id="103" name="Shape 101"/>
          <p:cNvSpPr/>
          <p:nvPr/>
        </p:nvSpPr>
        <p:spPr>
          <a:xfrm>
            <a:off x="10094976" y="4809744"/>
            <a:ext cx="292608" cy="292608"/>
          </a:xfrm>
          <a:prstGeom prst="ellipse">
            <a:avLst/>
          </a:prstGeom>
          <a:solidFill>
            <a:srgbClr val="272A38"/>
          </a:solidFill>
          <a:ln w="12700">
            <a:solidFill>
              <a:srgbClr val="272A38"/>
            </a:solidFill>
            <a:prstDash val="solid"/>
          </a:ln>
        </p:spPr>
      </p:sp>
      <p:sp>
        <p:nvSpPr>
          <p:cNvPr id="104" name="Shape 102"/>
          <p:cNvSpPr/>
          <p:nvPr/>
        </p:nvSpPr>
        <p:spPr>
          <a:xfrm>
            <a:off x="10497312" y="4809744"/>
            <a:ext cx="292608" cy="292608"/>
          </a:xfrm>
          <a:prstGeom prst="ellipse">
            <a:avLst/>
          </a:prstGeom>
          <a:solidFill>
            <a:srgbClr val="272A38"/>
          </a:solidFill>
          <a:ln w="12700">
            <a:solidFill>
              <a:srgbClr val="272A38"/>
            </a:solidFill>
            <a:prstDash val="solid"/>
          </a:ln>
        </p:spPr>
      </p:sp>
      <p:sp>
        <p:nvSpPr>
          <p:cNvPr id="105" name="Shape 103"/>
          <p:cNvSpPr/>
          <p:nvPr/>
        </p:nvSpPr>
        <p:spPr>
          <a:xfrm>
            <a:off x="10899648" y="4809744"/>
            <a:ext cx="292608" cy="292608"/>
          </a:xfrm>
          <a:prstGeom prst="ellipse">
            <a:avLst/>
          </a:prstGeom>
          <a:solidFill>
            <a:srgbClr val="272A38"/>
          </a:solidFill>
          <a:ln w="12700">
            <a:solidFill>
              <a:srgbClr val="272A38"/>
            </a:solidFill>
            <a:prstDash val="solid"/>
          </a:ln>
        </p:spPr>
      </p:sp>
      <p:sp>
        <p:nvSpPr>
          <p:cNvPr id="106" name="Shape 104"/>
          <p:cNvSpPr/>
          <p:nvPr/>
        </p:nvSpPr>
        <p:spPr>
          <a:xfrm>
            <a:off x="11301984" y="4809744"/>
            <a:ext cx="292608" cy="292608"/>
          </a:xfrm>
          <a:prstGeom prst="ellipse">
            <a:avLst/>
          </a:prstGeom>
          <a:solidFill>
            <a:srgbClr val="272A38"/>
          </a:solidFill>
          <a:ln w="12700">
            <a:solidFill>
              <a:srgbClr val="272A38"/>
            </a:solidFill>
            <a:prstDash val="solid"/>
          </a:ln>
        </p:spPr>
      </p:sp>
      <p:sp>
        <p:nvSpPr>
          <p:cNvPr id="107" name="Text 105"/>
          <p:cNvSpPr/>
          <p:nvPr/>
        </p:nvSpPr>
        <p:spPr>
          <a:xfrm>
            <a:off x="7315200" y="5257800"/>
            <a:ext cx="4297680" cy="365760"/>
          </a:xfrm>
          <a:prstGeom prst="rect">
            <a:avLst/>
          </a:prstGeom>
          <a:noFill/>
          <a:ln/>
        </p:spPr>
        <p:txBody>
          <a:bodyPr wrap="square" lIns="0" tIns="0" rIns="0" bIns="0" rtlCol="0" anchor="t"/>
          <a:lstStyle/>
          <a:p>
            <a:pPr algn="ctr" indent="0" marL="0">
              <a:buNone/>
            </a:pPr>
            <a:r>
              <a:rPr lang="en-US" sz="1300" i="1" dirty="0">
                <a:solidFill>
                  <a:srgbClr val="959BB0"/>
                </a:solidFill>
                <a:latin typeface="Palatino Linotype" pitchFamily="34" charset="0"/>
                <a:ea typeface="Palatino Linotype" pitchFamily="34" charset="-122"/>
                <a:cs typeface="Palatino Linotype" pitchFamily="34" charset="-120"/>
              </a:rPr>
              <a:t>100 de părți din capitalul unei companii</a:t>
            </a:r>
            <a:endParaRPr lang="en-US" sz="1300" dirty="0"/>
          </a:p>
        </p:txBody>
      </p:sp>
      <p:sp>
        <p:nvSpPr>
          <p:cNvPr id="108" name="Text 10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Ordinul ministrului sănătății nr. 2396/2023, art. 5 alin. (1) lit. a) și b), alin. (2) (registru A712).</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VOTUL 3 · OPINIA VOASTRĂ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Declarațiile de interese ale membrilor comisiilor de specialitate ar trebui…</a:t>
            </a:r>
            <a:endParaRPr lang="en-US" sz="2800" dirty="0"/>
          </a:p>
        </p:txBody>
      </p:sp>
      <p:sp>
        <p:nvSpPr>
          <p:cNvPr id="6" name="Shape 4"/>
          <p:cNvSpPr/>
          <p:nvPr/>
        </p:nvSpPr>
        <p:spPr>
          <a:xfrm>
            <a:off x="594360" y="2057400"/>
            <a:ext cx="7589520" cy="749808"/>
          </a:xfrm>
          <a:prstGeom prst="roundRect">
            <a:avLst>
              <a:gd name="adj" fmla="val 10976"/>
            </a:avLst>
          </a:prstGeom>
          <a:solidFill>
            <a:srgbClr val="1D1F2B"/>
          </a:solidFill>
          <a:ln w="12700">
            <a:solidFill>
              <a:srgbClr val="1D1F2B"/>
            </a:solidFill>
            <a:prstDash val="solid"/>
          </a:ln>
        </p:spPr>
      </p:sp>
      <p:sp>
        <p:nvSpPr>
          <p:cNvPr id="7" name="Shape 5"/>
          <p:cNvSpPr/>
          <p:nvPr/>
        </p:nvSpPr>
        <p:spPr>
          <a:xfrm>
            <a:off x="914400" y="2221992"/>
            <a:ext cx="420624" cy="420624"/>
          </a:xfrm>
          <a:prstGeom prst="ellipse">
            <a:avLst/>
          </a:prstGeom>
          <a:solidFill>
            <a:srgbClr val="FFC24B"/>
          </a:solidFill>
          <a:ln/>
        </p:spPr>
      </p:sp>
      <p:sp>
        <p:nvSpPr>
          <p:cNvPr id="8" name="Text 6"/>
          <p:cNvSpPr/>
          <p:nvPr/>
        </p:nvSpPr>
        <p:spPr>
          <a:xfrm>
            <a:off x="914400" y="22219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057400"/>
            <a:ext cx="630936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să fie publice</a:t>
            </a:r>
            <a:endParaRPr lang="en-US" sz="2000" dirty="0"/>
          </a:p>
        </p:txBody>
      </p:sp>
      <p:sp>
        <p:nvSpPr>
          <p:cNvPr id="10" name="Shape 8"/>
          <p:cNvSpPr/>
          <p:nvPr/>
        </p:nvSpPr>
        <p:spPr>
          <a:xfrm>
            <a:off x="594360" y="2971800"/>
            <a:ext cx="7589520" cy="749808"/>
          </a:xfrm>
          <a:prstGeom prst="roundRect">
            <a:avLst>
              <a:gd name="adj" fmla="val 10976"/>
            </a:avLst>
          </a:prstGeom>
          <a:solidFill>
            <a:srgbClr val="1D1F2B"/>
          </a:solidFill>
          <a:ln w="12700">
            <a:solidFill>
              <a:srgbClr val="1D1F2B"/>
            </a:solidFill>
            <a:prstDash val="solid"/>
          </a:ln>
        </p:spPr>
      </p:sp>
      <p:sp>
        <p:nvSpPr>
          <p:cNvPr id="11" name="Shape 9"/>
          <p:cNvSpPr/>
          <p:nvPr/>
        </p:nvSpPr>
        <p:spPr>
          <a:xfrm>
            <a:off x="914400" y="3136392"/>
            <a:ext cx="420624" cy="420624"/>
          </a:xfrm>
          <a:prstGeom prst="ellipse">
            <a:avLst/>
          </a:prstGeom>
          <a:solidFill>
            <a:srgbClr val="FFC24B"/>
          </a:solidFill>
          <a:ln/>
        </p:spPr>
      </p:sp>
      <p:sp>
        <p:nvSpPr>
          <p:cNvPr id="12" name="Text 10"/>
          <p:cNvSpPr/>
          <p:nvPr/>
        </p:nvSpPr>
        <p:spPr>
          <a:xfrm>
            <a:off x="914400" y="31363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971800"/>
            <a:ext cx="630936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să rămână la minister</a:t>
            </a:r>
            <a:endParaRPr lang="en-US" sz="2000" dirty="0"/>
          </a:p>
        </p:txBody>
      </p:sp>
      <p:sp>
        <p:nvSpPr>
          <p:cNvPr id="14" name="Shape 12"/>
          <p:cNvSpPr/>
          <p:nvPr/>
        </p:nvSpPr>
        <p:spPr>
          <a:xfrm>
            <a:off x="594360" y="3886200"/>
            <a:ext cx="7589520" cy="749808"/>
          </a:xfrm>
          <a:prstGeom prst="roundRect">
            <a:avLst>
              <a:gd name="adj" fmla="val 10976"/>
            </a:avLst>
          </a:prstGeom>
          <a:solidFill>
            <a:srgbClr val="1D1F2B"/>
          </a:solidFill>
          <a:ln w="12700">
            <a:solidFill>
              <a:srgbClr val="1D1F2B"/>
            </a:solidFill>
            <a:prstDash val="solid"/>
          </a:ln>
        </p:spPr>
      </p:sp>
      <p:sp>
        <p:nvSpPr>
          <p:cNvPr id="15" name="Shape 13"/>
          <p:cNvSpPr/>
          <p:nvPr/>
        </p:nvSpPr>
        <p:spPr>
          <a:xfrm>
            <a:off x="914400" y="4050792"/>
            <a:ext cx="420624" cy="420624"/>
          </a:xfrm>
          <a:prstGeom prst="ellipse">
            <a:avLst/>
          </a:prstGeom>
          <a:solidFill>
            <a:srgbClr val="FFC24B"/>
          </a:solidFill>
          <a:ln/>
        </p:spPr>
      </p:sp>
      <p:sp>
        <p:nvSpPr>
          <p:cNvPr id="16" name="Text 14"/>
          <p:cNvSpPr/>
          <p:nvPr/>
        </p:nvSpPr>
        <p:spPr>
          <a:xfrm>
            <a:off x="914400" y="4050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886200"/>
            <a:ext cx="6309360" cy="749808"/>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să fie accesibile numai la cerere</a:t>
            </a:r>
            <a:endParaRPr lang="en-US" sz="2000" dirty="0"/>
          </a:p>
        </p:txBody>
      </p:sp>
      <p:sp>
        <p:nvSpPr>
          <p:cNvPr id="18" name="Shape 16"/>
          <p:cNvSpPr/>
          <p:nvPr/>
        </p:nvSpPr>
        <p:spPr>
          <a:xfrm>
            <a:off x="8686800" y="2057400"/>
            <a:ext cx="2880360" cy="2743200"/>
          </a:xfrm>
          <a:prstGeom prst="roundRect">
            <a:avLst>
              <a:gd name="adj" fmla="val 3000"/>
            </a:avLst>
          </a:prstGeom>
          <a:solidFill>
            <a:srgbClr val="FFFFFF"/>
          </a:solidFill>
          <a:ln w="12700">
            <a:solidFill>
              <a:srgbClr val="FFFFFF"/>
            </a:solidFill>
            <a:prstDash val="solid"/>
          </a:ln>
        </p:spPr>
      </p:sp>
      <p:sp>
        <p:nvSpPr>
          <p:cNvPr id="19" name="Text 17"/>
          <p:cNvSpPr/>
          <p:nvPr/>
        </p:nvSpPr>
        <p:spPr>
          <a:xfrm>
            <a:off x="8686800" y="2057400"/>
            <a:ext cx="2880360" cy="2743200"/>
          </a:xfrm>
          <a:prstGeom prst="rect">
            <a:avLst/>
          </a:prstGeom>
          <a:noFill/>
          <a:ln/>
        </p:spPr>
        <p:txBody>
          <a:bodyPr wrap="square" lIns="0" tIns="0" rIns="0" bIns="0" rtlCol="0" anchor="ctr"/>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[codul QR Mentimeter]</a:t>
            </a:r>
            <a:endParaRPr lang="en-US" sz="1400" dirty="0"/>
          </a:p>
        </p:txBody>
      </p:sp>
      <p:sp>
        <p:nvSpPr>
          <p:cNvPr id="20" name="Text 18"/>
          <p:cNvSpPr/>
          <p:nvPr/>
        </p:nvSpPr>
        <p:spPr>
          <a:xfrm>
            <a:off x="594360" y="5120640"/>
            <a:ext cx="10972800" cy="73152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Apoi, un minut cu colegul: ce ar câștiga și ce ar pierde pacientul dacă ar fi publice?</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REGISTRUL DE SPONSORIZĂRI · 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Declararea: necesară, dar nu ajunge</a:t>
            </a:r>
            <a:endParaRPr lang="en-US" sz="3000" dirty="0"/>
          </a:p>
        </p:txBody>
      </p:sp>
      <p:sp>
        <p:nvSpPr>
          <p:cNvPr id="4" name="Shape 2"/>
          <p:cNvSpPr/>
          <p:nvPr/>
        </p:nvSpPr>
        <p:spPr>
          <a:xfrm>
            <a:off x="594360" y="1737360"/>
            <a:ext cx="5349240" cy="4023360"/>
          </a:xfrm>
          <a:prstGeom prst="roundRect">
            <a:avLst>
              <a:gd name="adj" fmla="val 2045"/>
            </a:avLst>
          </a:prstGeom>
          <a:solidFill>
            <a:srgbClr val="ECEAE4"/>
          </a:solidFill>
          <a:ln w="12700">
            <a:solidFill>
              <a:srgbClr val="ECEAE4"/>
            </a:solidFill>
            <a:prstDash val="solid"/>
          </a:ln>
        </p:spPr>
      </p:sp>
      <p:sp>
        <p:nvSpPr>
          <p:cNvPr id="5" name="Text 3"/>
          <p:cNvSpPr/>
          <p:nvPr/>
        </p:nvSpPr>
        <p:spPr>
          <a:xfrm>
            <a:off x="868680" y="1874520"/>
            <a:ext cx="4846320" cy="320040"/>
          </a:xfrm>
          <a:prstGeom prst="rect">
            <a:avLst/>
          </a:prstGeom>
          <a:noFill/>
          <a:ln/>
        </p:spPr>
        <p:txBody>
          <a:bodyPr wrap="square" lIns="0" tIns="0" rIns="0" bIns="0" rtlCol="0" anchor="t"/>
          <a:lstStyle/>
          <a:p>
            <a:pPr indent="0" marL="0">
              <a:buNone/>
            </a:pPr>
            <a:r>
              <a:rPr lang="en-US" sz="1300" b="1" spc="200" kern="0" dirty="0">
                <a:solidFill>
                  <a:srgbClr val="585A64"/>
                </a:solidFill>
                <a:latin typeface="Palatino Linotype" pitchFamily="34" charset="0"/>
                <a:ea typeface="Palatino Linotype" pitchFamily="34" charset="-122"/>
                <a:cs typeface="Palatino Linotype" pitchFamily="34" charset="-120"/>
              </a:rPr>
              <a:t>LEGEA SĂNĂTĂȚII, NR. 95/2006, ART. 814</a:t>
            </a:r>
            <a:endParaRPr lang="en-US" sz="1300" dirty="0"/>
          </a:p>
        </p:txBody>
      </p:sp>
      <p:sp>
        <p:nvSpPr>
          <p:cNvPr id="6" name="Text 4"/>
          <p:cNvSpPr/>
          <p:nvPr/>
        </p:nvSpPr>
        <p:spPr>
          <a:xfrm>
            <a:off x="868680" y="2286000"/>
            <a:ext cx="4846320" cy="21945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Legea îi obligă pe producătorii și distribuitorii de medicamente și de dispozitive medicale să declare sponsorizările și celelalte cheltuieli făcute pentru medici. Medicul sponsorizat declară și el. Termenul: 31 martie, pentru anul anterior.</a:t>
            </a:r>
            <a:endParaRPr lang="en-US" sz="1700" dirty="0"/>
          </a:p>
        </p:txBody>
      </p:sp>
      <p:sp>
        <p:nvSpPr>
          <p:cNvPr id="7" name="Text 5"/>
          <p:cNvSpPr/>
          <p:nvPr/>
        </p:nvSpPr>
        <p:spPr>
          <a:xfrm>
            <a:off x="868680" y="4572000"/>
            <a:ext cx="4846320" cy="100584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Registrul arată plata, nu și dacă plata a schimbat ceva.</a:t>
            </a:r>
            <a:endParaRPr lang="en-US" sz="1800" dirty="0"/>
          </a:p>
        </p:txBody>
      </p:sp>
      <p:sp>
        <p:nvSpPr>
          <p:cNvPr id="8" name="Shape 6"/>
          <p:cNvSpPr/>
          <p:nvPr/>
        </p:nvSpPr>
        <p:spPr>
          <a:xfrm>
            <a:off x="6217920" y="1737360"/>
            <a:ext cx="5349240" cy="4023360"/>
          </a:xfrm>
          <a:prstGeom prst="roundRect">
            <a:avLst>
              <a:gd name="adj" fmla="val 2045"/>
            </a:avLst>
          </a:prstGeom>
          <a:solidFill>
            <a:srgbClr val="0E7C6B"/>
          </a:solidFill>
          <a:ln w="12700">
            <a:solidFill>
              <a:srgbClr val="0E7C6B"/>
            </a:solidFill>
            <a:prstDash val="solid"/>
          </a:ln>
        </p:spPr>
      </p:sp>
      <p:sp>
        <p:nvSpPr>
          <p:cNvPr id="9" name="Text 7"/>
          <p:cNvSpPr/>
          <p:nvPr/>
        </p:nvSpPr>
        <p:spPr>
          <a:xfrm>
            <a:off x="6492240" y="1874520"/>
            <a:ext cx="4846320" cy="320040"/>
          </a:xfrm>
          <a:prstGeom prst="rect">
            <a:avLst/>
          </a:prstGeom>
          <a:noFill/>
          <a:ln/>
        </p:spPr>
        <p:txBody>
          <a:bodyPr wrap="square" lIns="0" tIns="0" rIns="0" bIns="0" rtlCol="0" anchor="t"/>
          <a:lstStyle/>
          <a:p>
            <a:pPr indent="0" marL="0">
              <a:buNone/>
            </a:pPr>
            <a:r>
              <a:rPr lang="en-US" sz="1300" b="1" spc="200" kern="0" dirty="0">
                <a:solidFill>
                  <a:srgbClr val="BFEFE8"/>
                </a:solidFill>
                <a:latin typeface="Palatino Linotype" pitchFamily="34" charset="0"/>
                <a:ea typeface="Palatino Linotype" pitchFamily="34" charset="-122"/>
                <a:cs typeface="Palatino Linotype" pitchFamily="34" charset="-120"/>
              </a:rPr>
              <a:t>DECLARAREA INTERESULUI</a:t>
            </a:r>
            <a:endParaRPr lang="en-US" sz="1300" dirty="0"/>
          </a:p>
        </p:txBody>
      </p:sp>
      <p:sp>
        <p:nvSpPr>
          <p:cNvPr id="10" name="Text 8"/>
          <p:cNvSpPr/>
          <p:nvPr/>
        </p:nvSpPr>
        <p:spPr>
          <a:xfrm>
            <a:off x="6492240" y="2286000"/>
            <a:ext cx="4846320" cy="1463040"/>
          </a:xfrm>
          <a:prstGeom prst="rect">
            <a:avLst/>
          </a:prstGeom>
          <a:noFill/>
          <a:ln/>
        </p:spPr>
        <p:txBody>
          <a:bodyPr wrap="square" lIns="0" tIns="0" rIns="0" bIns="0" rtlCol="0" anchor="t"/>
          <a:lstStyle/>
          <a:p>
            <a:pPr indent="0" marL="0">
              <a:buNone/>
            </a:pPr>
            <a:r>
              <a:rPr lang="en-US" sz="2200" b="1" i="1" dirty="0">
                <a:solidFill>
                  <a:srgbClr val="FFFFFF"/>
                </a:solidFill>
                <a:latin typeface="Palatino Linotype" pitchFamily="34" charset="0"/>
                <a:ea typeface="Palatino Linotype" pitchFamily="34" charset="-122"/>
                <a:cs typeface="Palatino Linotype" pitchFamily="34" charset="-120"/>
              </a:rPr>
              <a:t>„Vă spun de la început că firma X mi-a plătit congresul.”</a:t>
            </a:r>
            <a:endParaRPr lang="en-US" sz="2200" dirty="0"/>
          </a:p>
        </p:txBody>
      </p:sp>
      <p:sp>
        <p:nvSpPr>
          <p:cNvPr id="11" name="Text 9"/>
          <p:cNvSpPr/>
          <p:nvPr/>
        </p:nvSpPr>
        <p:spPr>
          <a:xfrm>
            <a:off x="6492240" y="3931920"/>
            <a:ext cx="4846320" cy="16459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Primul și cel mai blând remediu al conflictului de interese: nu îl înlătură, doar îl face vizibil.</a:t>
            </a:r>
            <a:endParaRPr lang="en-US" sz="17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Legea nr. 95/2006, ordinul din 2015 (registru A716, A718).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4 MINUTE</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LUCRU ÎN PERECHI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vă poate spune un registru și ce nu</a:t>
            </a:r>
            <a:endParaRPr lang="en-US" sz="3200" dirty="0"/>
          </a:p>
        </p:txBody>
      </p:sp>
      <p:sp>
        <p:nvSpPr>
          <p:cNvPr id="6" name="Shape 4"/>
          <p:cNvSpPr/>
          <p:nvPr/>
        </p:nvSpPr>
        <p:spPr>
          <a:xfrm>
            <a:off x="594360" y="1783080"/>
            <a:ext cx="6949440" cy="3291840"/>
          </a:xfrm>
          <a:prstGeom prst="roundRect">
            <a:avLst>
              <a:gd name="adj" fmla="val 2500"/>
            </a:avLst>
          </a:prstGeom>
          <a:solidFill>
            <a:srgbClr val="1D1F2B"/>
          </a:solidFill>
          <a:ln w="12700">
            <a:solidFill>
              <a:srgbClr val="1D1F2B"/>
            </a:solidFill>
            <a:prstDash val="solid"/>
          </a:ln>
        </p:spPr>
      </p:sp>
      <p:sp>
        <p:nvSpPr>
          <p:cNvPr id="7" name="Text 5"/>
          <p:cNvSpPr/>
          <p:nvPr/>
        </p:nvSpPr>
        <p:spPr>
          <a:xfrm>
            <a:off x="868680" y="1965960"/>
            <a:ext cx="6400800" cy="301752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Imaginați-vă că aveți în față un registru public de sponsorizări.</a:t>
            </a:r>
            <a:endParaRPr lang="en-US" sz="1900" dirty="0"/>
          </a:p>
          <a:p>
            <a:pPr indent="0" marL="0">
              <a:buNone/>
            </a:pPr>
            <a:r>
              <a:rPr lang="en-US" sz="1900" dirty="0">
                <a:solidFill>
                  <a:srgbClr val="000000"/>
                </a:solidFill>
                <a:latin typeface="Palatino Linotype" pitchFamily="34" charset="0"/>
                <a:ea typeface="Palatino Linotype" pitchFamily="34" charset="-122"/>
                <a:cs typeface="Palatino Linotype" pitchFamily="34" charset="-120"/>
              </a:rPr>
              <a:t> </a:t>
            </a:r>
            <a:endParaRPr lang="en-US" sz="1900" dirty="0"/>
          </a:p>
          <a:p>
            <a:pPr indent="0" marL="0">
              <a:buNone/>
            </a:pPr>
            <a:r>
              <a:rPr lang="en-US" sz="1900" dirty="0">
                <a:solidFill>
                  <a:srgbClr val="D5D8E2"/>
                </a:solidFill>
                <a:latin typeface="Palatino Linotype" pitchFamily="34" charset="0"/>
                <a:ea typeface="Palatino Linotype" pitchFamily="34" charset="-122"/>
                <a:cs typeface="Palatino Linotype" pitchFamily="34" charset="-120"/>
              </a:rPr>
              <a:t>Scrieți trei întrebări despre sistem la care registrul vă poate răspunde (de pildă, ce tip de cheltuieli apar cel mai des) și o întrebare la care nu vă poate răspunde.</a:t>
            </a:r>
            <a:endParaRPr lang="en-US" sz="1900" dirty="0"/>
          </a:p>
        </p:txBody>
      </p:sp>
      <p:sp>
        <p:nvSpPr>
          <p:cNvPr id="8" name="Shape 6"/>
          <p:cNvSpPr/>
          <p:nvPr/>
        </p:nvSpPr>
        <p:spPr>
          <a:xfrm>
            <a:off x="7818120" y="1783080"/>
            <a:ext cx="3749040" cy="3291840"/>
          </a:xfrm>
          <a:prstGeom prst="roundRect">
            <a:avLst>
              <a:gd name="adj" fmla="val 2500"/>
            </a:avLst>
          </a:prstGeom>
          <a:solidFill>
            <a:srgbClr val="701C22"/>
          </a:solidFill>
          <a:ln w="12700">
            <a:solidFill>
              <a:srgbClr val="701C22"/>
            </a:solidFill>
            <a:prstDash val="solid"/>
          </a:ln>
        </p:spPr>
      </p:sp>
      <p:sp>
        <p:nvSpPr>
          <p:cNvPr id="9" name="Text 7"/>
          <p:cNvSpPr/>
          <p:nvPr/>
        </p:nvSpPr>
        <p:spPr>
          <a:xfrm>
            <a:off x="8092440" y="1965960"/>
            <a:ext cx="3200400" cy="320040"/>
          </a:xfrm>
          <a:prstGeom prst="rect">
            <a:avLst/>
          </a:prstGeom>
          <a:noFill/>
          <a:ln/>
        </p:spPr>
        <p:txBody>
          <a:bodyPr wrap="square" lIns="0" tIns="0" rIns="0" bIns="0" rtlCol="0" anchor="t"/>
          <a:lstStyle/>
          <a:p>
            <a:pPr indent="0" marL="0">
              <a:buNone/>
            </a:pPr>
            <a:r>
              <a:rPr lang="en-US" sz="1300" b="1" spc="200" kern="0" dirty="0">
                <a:solidFill>
                  <a:srgbClr val="F3D4D7"/>
                </a:solidFill>
                <a:latin typeface="Palatino Linotype" pitchFamily="34" charset="0"/>
                <a:ea typeface="Palatino Linotype" pitchFamily="34" charset="-122"/>
                <a:cs typeface="Palatino Linotype" pitchFamily="34" charset="-120"/>
              </a:rPr>
              <a:t>REGULA EXERCIȚIULUI</a:t>
            </a:r>
            <a:endParaRPr lang="en-US" sz="1300" dirty="0"/>
          </a:p>
        </p:txBody>
      </p:sp>
      <p:sp>
        <p:nvSpPr>
          <p:cNvPr id="10" name="Text 8"/>
          <p:cNvSpPr/>
          <p:nvPr/>
        </p:nvSpPr>
        <p:spPr>
          <a:xfrm>
            <a:off x="8092440" y="2423160"/>
            <a:ext cx="3200400" cy="246888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Nu căutați persoane și nu numiți pe nimeni. Analizăm structura, nu oamenii.</a:t>
            </a:r>
            <a:endParaRPr lang="en-US" sz="2000" dirty="0"/>
          </a:p>
        </p:txBody>
      </p:sp>
      <p:sp>
        <p:nvSpPr>
          <p:cNvPr id="11" name="Text 9"/>
          <p:cNvSpPr/>
          <p:nvPr/>
        </p:nvSpPr>
        <p:spPr>
          <a:xfrm>
            <a:off x="594360" y="534924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Apoi, două perechi spun ce au scris.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CÂND DECLARAREA ÎNRĂUTĂȚEȘTE LUCRURILE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se poate întâmpla după declarare</a:t>
            </a:r>
            <a:endParaRPr lang="en-US" sz="3000" dirty="0"/>
          </a:p>
        </p:txBody>
      </p:sp>
      <p:sp>
        <p:nvSpPr>
          <p:cNvPr id="4" name="Shape 2"/>
          <p:cNvSpPr/>
          <p:nvPr/>
        </p:nvSpPr>
        <p:spPr>
          <a:xfrm>
            <a:off x="594360" y="1783080"/>
            <a:ext cx="3520440" cy="3291840"/>
          </a:xfrm>
          <a:prstGeom prst="roundRect">
            <a:avLst>
              <a:gd name="adj" fmla="val 2500"/>
            </a:avLst>
          </a:prstGeom>
          <a:solidFill>
            <a:srgbClr val="ECEAE4"/>
          </a:solidFill>
          <a:ln w="12700">
            <a:solidFill>
              <a:srgbClr val="ECEAE4"/>
            </a:solidFill>
            <a:prstDash val="solid"/>
          </a:ln>
        </p:spPr>
      </p:sp>
      <p:sp>
        <p:nvSpPr>
          <p:cNvPr id="5" name="Shape 3"/>
          <p:cNvSpPr/>
          <p:nvPr/>
        </p:nvSpPr>
        <p:spPr>
          <a:xfrm>
            <a:off x="594360" y="1783080"/>
            <a:ext cx="3520440" cy="91440"/>
          </a:xfrm>
          <a:prstGeom prst="rect">
            <a:avLst/>
          </a:prstGeom>
          <a:solidFill>
            <a:srgbClr val="B02532"/>
          </a:solidFill>
          <a:ln w="12700">
            <a:solidFill>
              <a:srgbClr val="B02532"/>
            </a:solidFill>
            <a:prstDash val="solid"/>
          </a:ln>
        </p:spPr>
      </p:sp>
      <p:sp>
        <p:nvSpPr>
          <p:cNvPr id="6" name="Text 4"/>
          <p:cNvSpPr/>
          <p:nvPr/>
        </p:nvSpPr>
        <p:spPr>
          <a:xfrm>
            <a:off x="868680" y="2057400"/>
            <a:ext cx="3017520" cy="82296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Exagerarea calculată</a:t>
            </a:r>
            <a:endParaRPr lang="en-US" sz="2100" dirty="0"/>
          </a:p>
        </p:txBody>
      </p:sp>
      <p:sp>
        <p:nvSpPr>
          <p:cNvPr id="7" name="Text 5"/>
          <p:cNvSpPr/>
          <p:nvPr/>
        </p:nvSpPr>
        <p:spPr>
          <a:xfrm>
            <a:off x="868680" y="2926080"/>
            <a:ext cx="3017520" cy="20116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Vorbitorul știe că va fi crezut mai puțin și compensează, exagerând beneficiile unui medicament nou.</a:t>
            </a:r>
            <a:endParaRPr lang="en-US" sz="1700" dirty="0"/>
          </a:p>
        </p:txBody>
      </p:sp>
      <p:sp>
        <p:nvSpPr>
          <p:cNvPr id="8" name="Shape 6"/>
          <p:cNvSpPr/>
          <p:nvPr/>
        </p:nvSpPr>
        <p:spPr>
          <a:xfrm>
            <a:off x="4343400" y="1783080"/>
            <a:ext cx="3520440" cy="3291840"/>
          </a:xfrm>
          <a:prstGeom prst="roundRect">
            <a:avLst>
              <a:gd name="adj" fmla="val 2500"/>
            </a:avLst>
          </a:prstGeom>
          <a:solidFill>
            <a:srgbClr val="F9F8F5"/>
          </a:solidFill>
          <a:ln w="12700">
            <a:solidFill>
              <a:srgbClr val="F9F8F5"/>
            </a:solidFill>
            <a:prstDash val="solid"/>
          </a:ln>
        </p:spPr>
      </p:sp>
      <p:sp>
        <p:nvSpPr>
          <p:cNvPr id="9" name="Shape 7"/>
          <p:cNvSpPr/>
          <p:nvPr/>
        </p:nvSpPr>
        <p:spPr>
          <a:xfrm>
            <a:off x="4343400" y="1783080"/>
            <a:ext cx="3520440" cy="91440"/>
          </a:xfrm>
          <a:prstGeom prst="rect">
            <a:avLst/>
          </a:prstGeom>
          <a:solidFill>
            <a:srgbClr val="8A6100"/>
          </a:solidFill>
          <a:ln w="12700">
            <a:solidFill>
              <a:srgbClr val="8A6100"/>
            </a:solidFill>
            <a:prstDash val="solid"/>
          </a:ln>
        </p:spPr>
      </p:sp>
      <p:sp>
        <p:nvSpPr>
          <p:cNvPr id="10" name="Text 8"/>
          <p:cNvSpPr/>
          <p:nvPr/>
        </p:nvSpPr>
        <p:spPr>
          <a:xfrm>
            <a:off x="4617720" y="2057400"/>
            <a:ext cx="3017520" cy="822960"/>
          </a:xfrm>
          <a:prstGeom prst="rect">
            <a:avLst/>
          </a:prstGeom>
          <a:noFill/>
          <a:ln/>
        </p:spPr>
        <p:txBody>
          <a:bodyPr wrap="square" lIns="0" tIns="0" rIns="0" bIns="0" rtlCol="0" anchor="t"/>
          <a:lstStyle/>
          <a:p>
            <a:pPr indent="0" marL="0">
              <a:buNone/>
            </a:pPr>
            <a:r>
              <a:rPr lang="en-US" sz="2100" b="1" dirty="0">
                <a:solidFill>
                  <a:srgbClr val="8A6100"/>
                </a:solidFill>
                <a:latin typeface="Palatino Linotype" pitchFamily="34" charset="0"/>
                <a:ea typeface="Palatino Linotype" pitchFamily="34" charset="-122"/>
                <a:cs typeface="Palatino Linotype" pitchFamily="34" charset="-120"/>
              </a:rPr>
              <a:t>Permisiunea morală</a:t>
            </a:r>
            <a:endParaRPr lang="en-US" sz="2100" dirty="0"/>
          </a:p>
        </p:txBody>
      </p:sp>
      <p:sp>
        <p:nvSpPr>
          <p:cNvPr id="11" name="Text 9"/>
          <p:cNvSpPr/>
          <p:nvPr/>
        </p:nvSpPr>
        <p:spPr>
          <a:xfrm>
            <a:off x="4617720" y="2926080"/>
            <a:ext cx="3017520" cy="20116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După gestul corect al declarării, se simte îndreptățit la unul mai puțin corect, ca și cum și-ar fi „plătit” deja datoria.</a:t>
            </a:r>
            <a:endParaRPr lang="en-US" sz="1700" dirty="0"/>
          </a:p>
        </p:txBody>
      </p:sp>
      <p:sp>
        <p:nvSpPr>
          <p:cNvPr id="12" name="Shape 10"/>
          <p:cNvSpPr/>
          <p:nvPr/>
        </p:nvSpPr>
        <p:spPr>
          <a:xfrm>
            <a:off x="8092440" y="1783080"/>
            <a:ext cx="3520440" cy="3291840"/>
          </a:xfrm>
          <a:prstGeom prst="roundRect">
            <a:avLst>
              <a:gd name="adj" fmla="val 2500"/>
            </a:avLst>
          </a:prstGeom>
          <a:solidFill>
            <a:srgbClr val="ECEAE4"/>
          </a:solidFill>
          <a:ln w="12700">
            <a:solidFill>
              <a:srgbClr val="ECEAE4"/>
            </a:solidFill>
            <a:prstDash val="solid"/>
          </a:ln>
        </p:spPr>
      </p:sp>
      <p:sp>
        <p:nvSpPr>
          <p:cNvPr id="13" name="Shape 11"/>
          <p:cNvSpPr/>
          <p:nvPr/>
        </p:nvSpPr>
        <p:spPr>
          <a:xfrm>
            <a:off x="8092440" y="1783080"/>
            <a:ext cx="3520440" cy="91440"/>
          </a:xfrm>
          <a:prstGeom prst="rect">
            <a:avLst/>
          </a:prstGeom>
          <a:solidFill>
            <a:srgbClr val="4A2D8C"/>
          </a:solidFill>
          <a:ln w="12700">
            <a:solidFill>
              <a:srgbClr val="4A2D8C"/>
            </a:solidFill>
            <a:prstDash val="solid"/>
          </a:ln>
        </p:spPr>
      </p:sp>
      <p:sp>
        <p:nvSpPr>
          <p:cNvPr id="14" name="Text 12"/>
          <p:cNvSpPr/>
          <p:nvPr/>
        </p:nvSpPr>
        <p:spPr>
          <a:xfrm>
            <a:off x="8366760" y="2057400"/>
            <a:ext cx="3017520" cy="822960"/>
          </a:xfrm>
          <a:prstGeom prst="rect">
            <a:avLst/>
          </a:prstGeom>
          <a:noFill/>
          <a:ln/>
        </p:spPr>
        <p:txBody>
          <a:bodyPr wrap="square" lIns="0" tIns="0" rIns="0" bIns="0" rtlCol="0" anchor="t"/>
          <a:lstStyle/>
          <a:p>
            <a:pPr indent="0" marL="0">
              <a:buNone/>
            </a:pPr>
            <a:r>
              <a:rPr lang="en-US" sz="2100" b="1" dirty="0">
                <a:solidFill>
                  <a:srgbClr val="4A2D8C"/>
                </a:solidFill>
                <a:latin typeface="Palatino Linotype" pitchFamily="34" charset="0"/>
                <a:ea typeface="Palatino Linotype" pitchFamily="34" charset="-122"/>
                <a:cs typeface="Palatino Linotype" pitchFamily="34" charset="-120"/>
              </a:rPr>
              <a:t>Publicul</a:t>
            </a:r>
            <a:endParaRPr lang="en-US" sz="2100" dirty="0"/>
          </a:p>
        </p:txBody>
      </p:sp>
      <p:sp>
        <p:nvSpPr>
          <p:cNvPr id="15" name="Text 13"/>
          <p:cNvSpPr/>
          <p:nvPr/>
        </p:nvSpPr>
        <p:spPr>
          <a:xfrm>
            <a:off x="8366760" y="2926080"/>
            <a:ext cx="3017520" cy="20116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Îl socotește „cinstit” pe cel care declară și uită că ce spune acesta poate fi părtinitor.</a:t>
            </a:r>
            <a:endParaRPr lang="en-US" sz="17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Pe cel care își declară interesele ascultați-l cu aceeași atenție critică pe care o acordați oricui.</a:t>
            </a:r>
            <a:endParaRPr lang="en-US" sz="18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Lexchin, 2026 (registru A722, A723).</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GHICIȚI · RIDICAȚI MÂNA</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GHIDURILE CLINICE · DECLARAȚIILE AUTORILOR</a:t>
            </a:r>
            <a:endParaRPr lang="en-US" sz="1300" dirty="0"/>
          </a:p>
        </p:txBody>
      </p:sp>
      <p:sp>
        <p:nvSpPr>
          <p:cNvPr id="5" name="Text 3"/>
          <p:cNvSpPr/>
          <p:nvPr/>
        </p:nvSpPr>
        <p:spPr>
          <a:xfrm>
            <a:off x="594360" y="868680"/>
            <a:ext cx="10972800" cy="128016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Un ghid clinic le spune medicilor cum să trateze o boală, iar autorii lui trebuie să își declare legăturile financiare cu firmele. Un studiu a verificat declarațiile a 270 de medici americani, autori ai 20 de ghiduri clinice publicate în 2020.</a:t>
            </a:r>
            <a:endParaRPr lang="en-US" sz="1800" dirty="0"/>
          </a:p>
        </p:txBody>
      </p:sp>
      <p:sp>
        <p:nvSpPr>
          <p:cNvPr id="6" name="Text 4"/>
          <p:cNvSpPr/>
          <p:nvPr/>
        </p:nvSpPr>
        <p:spPr>
          <a:xfrm>
            <a:off x="594360" y="2194560"/>
            <a:ext cx="10972800" cy="91440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Câți dintre ei credeți că și-au declarat corect conflictele de interese financiare?</a:t>
            </a:r>
            <a:endParaRPr lang="en-US" sz="2500" dirty="0"/>
          </a:p>
        </p:txBody>
      </p:sp>
      <p:sp>
        <p:nvSpPr>
          <p:cNvPr id="7" name="Shape 5"/>
          <p:cNvSpPr/>
          <p:nvPr/>
        </p:nvSpPr>
        <p:spPr>
          <a:xfrm>
            <a:off x="594360" y="3246120"/>
            <a:ext cx="10972800" cy="566928"/>
          </a:xfrm>
          <a:prstGeom prst="roundRect">
            <a:avLst>
              <a:gd name="adj" fmla="val 14516"/>
            </a:avLst>
          </a:prstGeom>
          <a:solidFill>
            <a:srgbClr val="1D1F2B"/>
          </a:solidFill>
          <a:ln w="12700">
            <a:solidFill>
              <a:srgbClr val="1D1F2B"/>
            </a:solidFill>
            <a:prstDash val="solid"/>
          </a:ln>
        </p:spPr>
      </p:sp>
      <p:sp>
        <p:nvSpPr>
          <p:cNvPr id="8" name="Shape 6"/>
          <p:cNvSpPr/>
          <p:nvPr/>
        </p:nvSpPr>
        <p:spPr>
          <a:xfrm>
            <a:off x="914400" y="3319272"/>
            <a:ext cx="420624" cy="420624"/>
          </a:xfrm>
          <a:prstGeom prst="ellipse">
            <a:avLst/>
          </a:prstGeom>
          <a:solidFill>
            <a:srgbClr val="27D3BE"/>
          </a:solidFill>
          <a:ln/>
        </p:spPr>
      </p:sp>
      <p:sp>
        <p:nvSpPr>
          <p:cNvPr id="9" name="Text 7"/>
          <p:cNvSpPr/>
          <p:nvPr/>
        </p:nvSpPr>
        <p:spPr>
          <a:xfrm>
            <a:off x="914400" y="33192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3246120"/>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Aproape toți</a:t>
            </a:r>
            <a:endParaRPr lang="en-US" sz="1800" dirty="0"/>
          </a:p>
        </p:txBody>
      </p:sp>
      <p:sp>
        <p:nvSpPr>
          <p:cNvPr id="11" name="Shape 9"/>
          <p:cNvSpPr/>
          <p:nvPr/>
        </p:nvSpPr>
        <p:spPr>
          <a:xfrm>
            <a:off x="594360" y="3922776"/>
            <a:ext cx="10972800" cy="566928"/>
          </a:xfrm>
          <a:prstGeom prst="roundRect">
            <a:avLst>
              <a:gd name="adj" fmla="val 14516"/>
            </a:avLst>
          </a:prstGeom>
          <a:solidFill>
            <a:srgbClr val="1D1F2B"/>
          </a:solidFill>
          <a:ln w="12700">
            <a:solidFill>
              <a:srgbClr val="1D1F2B"/>
            </a:solidFill>
            <a:prstDash val="solid"/>
          </a:ln>
        </p:spPr>
      </p:sp>
      <p:sp>
        <p:nvSpPr>
          <p:cNvPr id="12" name="Shape 10"/>
          <p:cNvSpPr/>
          <p:nvPr/>
        </p:nvSpPr>
        <p:spPr>
          <a:xfrm>
            <a:off x="914400" y="3995928"/>
            <a:ext cx="420624" cy="420624"/>
          </a:xfrm>
          <a:prstGeom prst="ellipse">
            <a:avLst/>
          </a:prstGeom>
          <a:solidFill>
            <a:srgbClr val="27D3BE"/>
          </a:solidFill>
          <a:ln/>
        </p:spPr>
      </p:sp>
      <p:sp>
        <p:nvSpPr>
          <p:cNvPr id="13" name="Text 11"/>
          <p:cNvSpPr/>
          <p:nvPr/>
        </p:nvSpPr>
        <p:spPr>
          <a:xfrm>
            <a:off x="914400" y="3995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3922776"/>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Cam 3 din 4</a:t>
            </a:r>
            <a:endParaRPr lang="en-US" sz="1800" dirty="0"/>
          </a:p>
        </p:txBody>
      </p:sp>
      <p:sp>
        <p:nvSpPr>
          <p:cNvPr id="15" name="Shape 13"/>
          <p:cNvSpPr/>
          <p:nvPr/>
        </p:nvSpPr>
        <p:spPr>
          <a:xfrm>
            <a:off x="594360" y="4599432"/>
            <a:ext cx="10972800" cy="566928"/>
          </a:xfrm>
          <a:prstGeom prst="roundRect">
            <a:avLst>
              <a:gd name="adj" fmla="val 14516"/>
            </a:avLst>
          </a:prstGeom>
          <a:solidFill>
            <a:srgbClr val="1D1F2B"/>
          </a:solidFill>
          <a:ln w="12700">
            <a:solidFill>
              <a:srgbClr val="1D1F2B"/>
            </a:solidFill>
            <a:prstDash val="solid"/>
          </a:ln>
        </p:spPr>
      </p:sp>
      <p:sp>
        <p:nvSpPr>
          <p:cNvPr id="16" name="Shape 14"/>
          <p:cNvSpPr/>
          <p:nvPr/>
        </p:nvSpPr>
        <p:spPr>
          <a:xfrm>
            <a:off x="914400" y="4672584"/>
            <a:ext cx="420624" cy="420624"/>
          </a:xfrm>
          <a:prstGeom prst="ellipse">
            <a:avLst/>
          </a:prstGeom>
          <a:solidFill>
            <a:srgbClr val="27D3BE"/>
          </a:solidFill>
          <a:ln/>
        </p:spPr>
      </p:sp>
      <p:sp>
        <p:nvSpPr>
          <p:cNvPr id="17" name="Text 15"/>
          <p:cNvSpPr/>
          <p:nvPr/>
        </p:nvSpPr>
        <p:spPr>
          <a:xfrm>
            <a:off x="914400" y="46725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600200" y="4599432"/>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Cam jumătate</a:t>
            </a:r>
            <a:endParaRPr lang="en-US" sz="1800" dirty="0"/>
          </a:p>
        </p:txBody>
      </p:sp>
      <p:sp>
        <p:nvSpPr>
          <p:cNvPr id="19" name="Shape 17"/>
          <p:cNvSpPr/>
          <p:nvPr/>
        </p:nvSpPr>
        <p:spPr>
          <a:xfrm>
            <a:off x="594360" y="5276088"/>
            <a:ext cx="10972800" cy="566928"/>
          </a:xfrm>
          <a:prstGeom prst="roundRect">
            <a:avLst>
              <a:gd name="adj" fmla="val 14516"/>
            </a:avLst>
          </a:prstGeom>
          <a:solidFill>
            <a:srgbClr val="1D1F2B"/>
          </a:solidFill>
          <a:ln w="12700">
            <a:solidFill>
              <a:srgbClr val="1D1F2B"/>
            </a:solidFill>
            <a:prstDash val="solid"/>
          </a:ln>
        </p:spPr>
      </p:sp>
      <p:sp>
        <p:nvSpPr>
          <p:cNvPr id="20" name="Shape 18"/>
          <p:cNvSpPr/>
          <p:nvPr/>
        </p:nvSpPr>
        <p:spPr>
          <a:xfrm>
            <a:off x="914400" y="5349240"/>
            <a:ext cx="420624" cy="420624"/>
          </a:xfrm>
          <a:prstGeom prst="ellipse">
            <a:avLst/>
          </a:prstGeom>
          <a:solidFill>
            <a:srgbClr val="27D3BE"/>
          </a:solidFill>
          <a:ln/>
        </p:spPr>
      </p:sp>
      <p:sp>
        <p:nvSpPr>
          <p:cNvPr id="21" name="Text 19"/>
          <p:cNvSpPr/>
          <p:nvPr/>
        </p:nvSpPr>
        <p:spPr>
          <a:xfrm>
            <a:off x="914400" y="5349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600200" y="5276088"/>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Cam 1 din 4</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TOȚI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rot="-60000">
            <a:off x="685800" y="914400"/>
            <a:ext cx="6400800" cy="2468880"/>
          </a:xfrm>
          <a:prstGeom prst="rect">
            <a:avLst/>
          </a:prstGeom>
          <a:solidFill>
            <a:srgbClr val="FBF8F1"/>
          </a:solidFill>
          <a:ln w="9525">
            <a:solidFill>
              <a:srgbClr val="D6D2C8"/>
            </a:solidFill>
            <a:prstDash val="solid"/>
          </a:ln>
          <a:effectLst>
            <a:outerShdw sx="100000" sy="100000" kx="0" ky="0" algn="bl" rotWithShape="0" blurRad="101600" dist="38100" dir="5400000">
              <a:srgbClr val="000000">
                <a:alpha val="25000"/>
              </a:srgbClr>
            </a:outerShdw>
          </a:effectLst>
        </p:spPr>
      </p:sp>
      <p:sp>
        <p:nvSpPr>
          <p:cNvPr id="6" name="Text 4"/>
          <p:cNvSpPr/>
          <p:nvPr/>
        </p:nvSpPr>
        <p:spPr>
          <a:xfrm rot="-60000">
            <a:off x="1005840" y="1143000"/>
            <a:ext cx="5760720" cy="274320"/>
          </a:xfrm>
          <a:prstGeom prst="rect">
            <a:avLst/>
          </a:prstGeom>
          <a:noFill/>
          <a:ln/>
        </p:spPr>
        <p:txBody>
          <a:bodyPr wrap="square" lIns="0" tIns="0" rIns="0" bIns="0" rtlCol="0" anchor="t"/>
          <a:lstStyle/>
          <a:p>
            <a:pPr indent="0" marL="0">
              <a:buNone/>
            </a:pPr>
            <a:r>
              <a:rPr lang="en-US" sz="1200" b="1" spc="200" kern="0" dirty="0">
                <a:solidFill>
                  <a:srgbClr val="585A64"/>
                </a:solidFill>
                <a:latin typeface="Palatino Linotype" pitchFamily="34" charset="0"/>
                <a:ea typeface="Palatino Linotype" pitchFamily="34" charset="-122"/>
                <a:cs typeface="Palatino Linotype" pitchFamily="34" charset="-120"/>
              </a:rPr>
              <a:t>TITLU IMAGINAT, PENTRU EXERCIȚIU</a:t>
            </a:r>
            <a:endParaRPr lang="en-US" sz="1200" dirty="0"/>
          </a:p>
        </p:txBody>
      </p:sp>
      <p:sp>
        <p:nvSpPr>
          <p:cNvPr id="7" name="Shape 5"/>
          <p:cNvSpPr/>
          <p:nvPr/>
        </p:nvSpPr>
        <p:spPr>
          <a:xfrm rot="-60000">
            <a:off x="1005840" y="1481328"/>
            <a:ext cx="5760720" cy="18288"/>
          </a:xfrm>
          <a:prstGeom prst="rect">
            <a:avLst/>
          </a:prstGeom>
          <a:solidFill>
            <a:srgbClr val="11121A"/>
          </a:solidFill>
          <a:ln/>
        </p:spPr>
      </p:sp>
      <p:sp>
        <p:nvSpPr>
          <p:cNvPr id="8" name="Text 6"/>
          <p:cNvSpPr/>
          <p:nvPr/>
        </p:nvSpPr>
        <p:spPr>
          <a:xfrm rot="-60000">
            <a:off x="1005840" y="1600200"/>
            <a:ext cx="5760720" cy="1600200"/>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„Conflictele de interese sunt rezolvate: toți autorii și le declară.”</a:t>
            </a:r>
            <a:endParaRPr lang="en-US" sz="3000" dirty="0"/>
          </a:p>
        </p:txBody>
      </p:sp>
      <p:sp>
        <p:nvSpPr>
          <p:cNvPr id="9" name="Text 7"/>
          <p:cNvSpPr/>
          <p:nvPr/>
        </p:nvSpPr>
        <p:spPr>
          <a:xfrm>
            <a:off x="7498080" y="914400"/>
            <a:ext cx="4114800" cy="1371600"/>
          </a:xfrm>
          <a:prstGeom prst="rect">
            <a:avLst/>
          </a:prstGeom>
          <a:noFill/>
          <a:ln/>
        </p:spPr>
        <p:txBody>
          <a:bodyPr wrap="square" lIns="0" tIns="0" rIns="0" bIns="0" rtlCol="0" anchor="ctr"/>
          <a:lstStyle/>
          <a:p>
            <a:pPr indent="0" marL="0">
              <a:buNone/>
            </a:pPr>
            <a:r>
              <a:rPr lang="en-US" sz="7200" b="1" dirty="0">
                <a:solidFill>
                  <a:srgbClr val="FF4757"/>
                </a:solidFill>
                <a:latin typeface="Palatino Linotype" pitchFamily="34" charset="0"/>
                <a:ea typeface="Palatino Linotype" pitchFamily="34" charset="-122"/>
                <a:cs typeface="Palatino Linotype" pitchFamily="34" charset="-120"/>
              </a:rPr>
              <a:t>1 din 4</a:t>
            </a:r>
            <a:endParaRPr lang="en-US" sz="7200" dirty="0"/>
          </a:p>
        </p:txBody>
      </p:sp>
      <p:sp>
        <p:nvSpPr>
          <p:cNvPr id="10" name="Text 8"/>
          <p:cNvSpPr/>
          <p:nvPr/>
        </p:nvSpPr>
        <p:spPr>
          <a:xfrm>
            <a:off x="7498080" y="2331720"/>
            <a:ext cx="4114800" cy="128016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dintre medicii autori de ghiduri clinice și-au declarat corect, aproximativ, conflictele de interese financiare</a:t>
            </a:r>
            <a:endParaRPr lang="en-US" sz="1800" dirty="0"/>
          </a:p>
        </p:txBody>
      </p:sp>
      <p:sp>
        <p:nvSpPr>
          <p:cNvPr id="11" name="Shape 9"/>
          <p:cNvSpPr/>
          <p:nvPr/>
        </p:nvSpPr>
        <p:spPr>
          <a:xfrm>
            <a:off x="7543800" y="3794760"/>
            <a:ext cx="640080" cy="640080"/>
          </a:xfrm>
          <a:prstGeom prst="ellipse">
            <a:avLst/>
          </a:prstGeom>
          <a:solidFill>
            <a:srgbClr val="FF4757"/>
          </a:solidFill>
          <a:ln w="12700">
            <a:solidFill>
              <a:srgbClr val="FF4757"/>
            </a:solidFill>
            <a:prstDash val="solid"/>
          </a:ln>
        </p:spPr>
      </p:sp>
      <p:sp>
        <p:nvSpPr>
          <p:cNvPr id="12" name="Shape 10"/>
          <p:cNvSpPr/>
          <p:nvPr/>
        </p:nvSpPr>
        <p:spPr>
          <a:xfrm>
            <a:off x="8458200" y="3794760"/>
            <a:ext cx="640080" cy="640080"/>
          </a:xfrm>
          <a:prstGeom prst="ellipse">
            <a:avLst/>
          </a:prstGeom>
          <a:solidFill>
            <a:srgbClr val="272A38"/>
          </a:solidFill>
          <a:ln w="12700">
            <a:solidFill>
              <a:srgbClr val="272A38"/>
            </a:solidFill>
            <a:prstDash val="solid"/>
          </a:ln>
        </p:spPr>
      </p:sp>
      <p:sp>
        <p:nvSpPr>
          <p:cNvPr id="13" name="Shape 11"/>
          <p:cNvSpPr/>
          <p:nvPr/>
        </p:nvSpPr>
        <p:spPr>
          <a:xfrm>
            <a:off x="9372600" y="3794760"/>
            <a:ext cx="640080" cy="640080"/>
          </a:xfrm>
          <a:prstGeom prst="ellipse">
            <a:avLst/>
          </a:prstGeom>
          <a:solidFill>
            <a:srgbClr val="272A38"/>
          </a:solidFill>
          <a:ln w="12700">
            <a:solidFill>
              <a:srgbClr val="272A38"/>
            </a:solidFill>
            <a:prstDash val="solid"/>
          </a:ln>
        </p:spPr>
      </p:sp>
      <p:sp>
        <p:nvSpPr>
          <p:cNvPr id="14" name="Shape 12"/>
          <p:cNvSpPr/>
          <p:nvPr/>
        </p:nvSpPr>
        <p:spPr>
          <a:xfrm>
            <a:off x="10287000" y="3794760"/>
            <a:ext cx="640080" cy="640080"/>
          </a:xfrm>
          <a:prstGeom prst="ellipse">
            <a:avLst/>
          </a:prstGeom>
          <a:solidFill>
            <a:srgbClr val="272A38"/>
          </a:solidFill>
          <a:ln w="12700">
            <a:solidFill>
              <a:srgbClr val="272A38"/>
            </a:solidFill>
            <a:prstDash val="solid"/>
          </a:ln>
        </p:spPr>
      </p:sp>
      <p:sp>
        <p:nvSpPr>
          <p:cNvPr id="15" name="Text 13"/>
          <p:cNvSpPr/>
          <p:nvPr/>
        </p:nvSpPr>
        <p:spPr>
          <a:xfrm>
            <a:off x="594360" y="3886200"/>
            <a:ext cx="6583680" cy="146304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Studiul a verificat 270 de medici americani, autori ai 20 de ghiduri clinice publicate în 2020. Și chiar o declarație completă nu rezolvă conflictul.</a:t>
            </a:r>
            <a:endParaRPr lang="en-US" sz="1800" dirty="0"/>
          </a:p>
        </p:txBody>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studiu citat de Lexchin, 2026 (registru A724).</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1828800"/>
            <a:ext cx="10972800" cy="1463040"/>
          </a:xfrm>
          <a:prstGeom prst="rect">
            <a:avLst/>
          </a:prstGeom>
          <a:noFill/>
          <a:ln/>
        </p:spPr>
        <p:txBody>
          <a:bodyPr wrap="square" lIns="0" tIns="0" rIns="0" bIns="0" rtlCol="0" anchor="ctr"/>
          <a:lstStyle/>
          <a:p>
            <a:pPr indent="0" marL="0">
              <a:buNone/>
            </a:pPr>
            <a:r>
              <a:rPr lang="en-US" sz="7200" b="1" dirty="0">
                <a:solidFill>
                  <a:srgbClr val="073B34"/>
                </a:solidFill>
                <a:latin typeface="Palatino Linotype" pitchFamily="34" charset="0"/>
                <a:ea typeface="Palatino Linotype" pitchFamily="34" charset="-122"/>
                <a:cs typeface="Palatino Linotype" pitchFamily="34" charset="-120"/>
              </a:rPr>
              <a:t>Pauză</a:t>
            </a:r>
            <a:endParaRPr lang="en-US" sz="7200" dirty="0"/>
          </a:p>
        </p:txBody>
      </p:sp>
      <p:sp>
        <p:nvSpPr>
          <p:cNvPr id="3" name="Text 1"/>
          <p:cNvSpPr/>
          <p:nvPr/>
        </p:nvSpPr>
        <p:spPr>
          <a:xfrm>
            <a:off x="594360" y="3474720"/>
            <a:ext cx="10972800" cy="731520"/>
          </a:xfrm>
          <a:prstGeom prst="rect">
            <a:avLst/>
          </a:prstGeom>
          <a:noFill/>
          <a:ln/>
        </p:spPr>
        <p:txBody>
          <a:bodyPr wrap="square" lIns="0" tIns="0" rIns="0" bIns="0" rtlCol="0" anchor="t"/>
          <a:lstStyle/>
          <a:p>
            <a:pPr indent="0" marL="0">
              <a:buNone/>
            </a:pPr>
            <a:r>
              <a:rPr lang="en-US" sz="2600" dirty="0">
                <a:solidFill>
                  <a:srgbClr val="073B34"/>
                </a:solidFill>
                <a:latin typeface="Palatino Linotype" pitchFamily="34" charset="0"/>
                <a:ea typeface="Palatino Linotype" pitchFamily="34" charset="-122"/>
                <a:cs typeface="Palatino Linotype" pitchFamily="34" charset="-120"/>
              </a:rPr>
              <a:t>Zece minute. Urmează povestea a treia: articolul retras.</a:t>
            </a:r>
            <a:endParaRPr lang="en-US" sz="2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POVESTEA A TREIA · ARTICOLUL RETRAS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 articol greșit, mii de decizii</a:t>
            </a:r>
            <a:endParaRPr lang="en-US" sz="3200" dirty="0"/>
          </a:p>
        </p:txBody>
      </p:sp>
      <p:sp>
        <p:nvSpPr>
          <p:cNvPr id="4" name="Text 2"/>
          <p:cNvSpPr/>
          <p:nvPr/>
        </p:nvSpPr>
        <p:spPr>
          <a:xfrm>
            <a:off x="594360" y="1783080"/>
            <a:ext cx="5120640" cy="274320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Până acum am vorbit despre un medic și o decizie. Acum urcăm la literatura științifică pe care se sprijină deciziile tuturor. Dacă un ghid clinic se sprijină pe un studiu fals, fiecare medic care îl urmează este indus în eroare fără să știe.</a:t>
            </a:r>
            <a:endParaRPr lang="en-US" sz="1800" dirty="0"/>
          </a:p>
        </p:txBody>
      </p:sp>
      <p:sp>
        <p:nvSpPr>
          <p:cNvPr id="5" name="Shape 3"/>
          <p:cNvSpPr/>
          <p:nvPr/>
        </p:nvSpPr>
        <p:spPr>
          <a:xfrm>
            <a:off x="6035040" y="1691640"/>
            <a:ext cx="5532120" cy="3291840"/>
          </a:xfrm>
          <a:prstGeom prst="roundRect">
            <a:avLst>
              <a:gd name="adj" fmla="val 2500"/>
            </a:avLst>
          </a:prstGeom>
          <a:solidFill>
            <a:srgbClr val="1D1F2B"/>
          </a:solidFill>
          <a:ln w="12700">
            <a:solidFill>
              <a:srgbClr val="1D1F2B"/>
            </a:solidFill>
            <a:prstDash val="solid"/>
          </a:ln>
        </p:spPr>
      </p:sp>
      <p:sp>
        <p:nvSpPr>
          <p:cNvPr id="6" name="Text 4"/>
          <p:cNvSpPr/>
          <p:nvPr/>
        </p:nvSpPr>
        <p:spPr>
          <a:xfrm>
            <a:off x="6309360" y="1828800"/>
            <a:ext cx="502920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AL TREILEA TERMEN NOU · RETRACTAREA</a:t>
            </a:r>
            <a:endParaRPr lang="en-US" sz="1300" dirty="0"/>
          </a:p>
        </p:txBody>
      </p:sp>
      <p:sp>
        <p:nvSpPr>
          <p:cNvPr id="7" name="Text 5"/>
          <p:cNvSpPr/>
          <p:nvPr/>
        </p:nvSpPr>
        <p:spPr>
          <a:xfrm>
            <a:off x="6309360" y="2240280"/>
            <a:ext cx="5029200" cy="1600200"/>
          </a:xfrm>
          <a:prstGeom prst="rect">
            <a:avLst/>
          </a:prstGeom>
          <a:noFill/>
          <a:ln/>
        </p:spPr>
        <p:txBody>
          <a:bodyPr wrap="square" lIns="0" tIns="0" rIns="0" bIns="0" rtlCol="0" anchor="t"/>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Revista retrage oficial un articol și avertizează cititorii asupra unor probleme grave. În cuvinte de zi cu zi: „nu mai garantăm pentru acest articol”.</a:t>
            </a:r>
            <a:endParaRPr lang="en-US" sz="1700" dirty="0"/>
          </a:p>
        </p:txBody>
      </p:sp>
      <p:sp>
        <p:nvSpPr>
          <p:cNvPr id="8" name="Text 6"/>
          <p:cNvSpPr/>
          <p:nvPr/>
        </p:nvSpPr>
        <p:spPr>
          <a:xfrm>
            <a:off x="6309360" y="3840480"/>
            <a:ext cx="5029200" cy="105156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Articolul iese din literatura care poate fi citată, dar nu dispare: anunțul se leagă de el și spune motivul.</a:t>
            </a:r>
            <a:endParaRPr lang="en-US" sz="1500" dirty="0"/>
          </a:p>
        </p:txBody>
      </p:sp>
      <p:sp>
        <p:nvSpPr>
          <p:cNvPr id="9" name="Shape 7"/>
          <p:cNvSpPr/>
          <p:nvPr/>
        </p:nvSpPr>
        <p:spPr>
          <a:xfrm>
            <a:off x="594360" y="5349240"/>
            <a:ext cx="2286000" cy="329184"/>
          </a:xfrm>
          <a:prstGeom prst="roundRect">
            <a:avLst>
              <a:gd name="adj" fmla="val 50000"/>
            </a:avLst>
          </a:prstGeom>
          <a:solidFill>
            <a:srgbClr val="27D3BE"/>
          </a:solidFill>
          <a:ln w="12700">
            <a:solidFill>
              <a:srgbClr val="27D3BE"/>
            </a:solidFill>
            <a:prstDash val="solid"/>
          </a:ln>
        </p:spPr>
      </p:sp>
      <p:sp>
        <p:nvSpPr>
          <p:cNvPr id="10" name="Text 8"/>
          <p:cNvSpPr/>
          <p:nvPr/>
        </p:nvSpPr>
        <p:spPr>
          <a:xfrm>
            <a:off x="594360" y="5349240"/>
            <a:ext cx="2286000" cy="329184"/>
          </a:xfrm>
          <a:prstGeom prst="rect">
            <a:avLst/>
          </a:prstGeom>
          <a:noFill/>
          <a:ln/>
        </p:spPr>
        <p:txBody>
          <a:bodyPr wrap="square" lIns="0" tIns="0" rIns="0" bIns="0" rtlCol="0" anchor="ctr"/>
          <a:lstStyle/>
          <a:p>
            <a:pPr algn="ctr" indent="0" marL="0">
              <a:buNone/>
            </a:pPr>
            <a:r>
              <a:rPr lang="en-US" sz="1500" b="1" dirty="0">
                <a:solidFill>
                  <a:srgbClr val="073B34"/>
                </a:solidFill>
                <a:latin typeface="Palatino Linotype" pitchFamily="34" charset="0"/>
                <a:ea typeface="Palatino Linotype" pitchFamily="34" charset="-122"/>
                <a:cs typeface="Palatino Linotype" pitchFamily="34" charset="-120"/>
              </a:rPr>
              <a:t>Valabil</a:t>
            </a:r>
            <a:endParaRPr lang="en-US" sz="1500" dirty="0"/>
          </a:p>
        </p:txBody>
      </p:sp>
      <p:sp>
        <p:nvSpPr>
          <p:cNvPr id="11" name="Shape 9"/>
          <p:cNvSpPr/>
          <p:nvPr/>
        </p:nvSpPr>
        <p:spPr>
          <a:xfrm>
            <a:off x="3017520" y="5349240"/>
            <a:ext cx="2286000" cy="329184"/>
          </a:xfrm>
          <a:prstGeom prst="roundRect">
            <a:avLst>
              <a:gd name="adj" fmla="val 50000"/>
            </a:avLst>
          </a:prstGeom>
          <a:solidFill>
            <a:srgbClr val="FFC24B"/>
          </a:solidFill>
          <a:ln w="12700">
            <a:solidFill>
              <a:srgbClr val="FFC24B"/>
            </a:solidFill>
            <a:prstDash val="solid"/>
          </a:ln>
        </p:spPr>
      </p:sp>
      <p:sp>
        <p:nvSpPr>
          <p:cNvPr id="12" name="Text 10"/>
          <p:cNvSpPr/>
          <p:nvPr/>
        </p:nvSpPr>
        <p:spPr>
          <a:xfrm>
            <a:off x="3017520" y="5349240"/>
            <a:ext cx="2286000" cy="329184"/>
          </a:xfrm>
          <a:prstGeom prst="rect">
            <a:avLst/>
          </a:prstGeom>
          <a:noFill/>
          <a:ln/>
        </p:spPr>
        <p:txBody>
          <a:bodyPr wrap="square" lIns="0" tIns="0" rIns="0" bIns="0" rtlCol="0" anchor="ctr"/>
          <a:lstStyle/>
          <a:p>
            <a:pPr algn="ctr" indent="0" marL="0">
              <a:buNone/>
            </a:pPr>
            <a:r>
              <a:rPr lang="en-US" sz="1500" b="1" dirty="0">
                <a:solidFill>
                  <a:srgbClr val="3D2A00"/>
                </a:solidFill>
                <a:latin typeface="Palatino Linotype" pitchFamily="34" charset="0"/>
                <a:ea typeface="Palatino Linotype" pitchFamily="34" charset="-122"/>
                <a:cs typeface="Palatino Linotype" pitchFamily="34" charset="-120"/>
              </a:rPr>
              <a:t>Corectat</a:t>
            </a:r>
            <a:endParaRPr lang="en-US" sz="1500" dirty="0"/>
          </a:p>
        </p:txBody>
      </p:sp>
      <p:sp>
        <p:nvSpPr>
          <p:cNvPr id="13" name="Shape 11"/>
          <p:cNvSpPr/>
          <p:nvPr/>
        </p:nvSpPr>
        <p:spPr>
          <a:xfrm>
            <a:off x="5440680" y="5349240"/>
            <a:ext cx="2286000" cy="329184"/>
          </a:xfrm>
          <a:prstGeom prst="roundRect">
            <a:avLst>
              <a:gd name="adj" fmla="val 50000"/>
            </a:avLst>
          </a:prstGeom>
          <a:solidFill>
            <a:srgbClr val="FF4757"/>
          </a:solidFill>
          <a:ln w="12700">
            <a:solidFill>
              <a:srgbClr val="FF4757"/>
            </a:solidFill>
            <a:prstDash val="solid"/>
          </a:ln>
        </p:spPr>
      </p:sp>
      <p:sp>
        <p:nvSpPr>
          <p:cNvPr id="14" name="Text 12"/>
          <p:cNvSpPr/>
          <p:nvPr/>
        </p:nvSpPr>
        <p:spPr>
          <a:xfrm>
            <a:off x="5440680" y="5349240"/>
            <a:ext cx="2286000" cy="329184"/>
          </a:xfrm>
          <a:prstGeom prst="rect">
            <a:avLst/>
          </a:prstGeom>
          <a:noFill/>
          <a:ln/>
        </p:spPr>
        <p:txBody>
          <a:bodyPr wrap="square" lIns="0" tIns="0" rIns="0" bIns="0" rtlCol="0" anchor="ctr"/>
          <a:lstStyle/>
          <a:p>
            <a:pPr algn="ctr" indent="0" marL="0">
              <a:buNone/>
            </a:pPr>
            <a:r>
              <a:rPr lang="en-US" sz="1500" b="1" dirty="0">
                <a:solidFill>
                  <a:srgbClr val="2E060B"/>
                </a:solidFill>
                <a:latin typeface="Palatino Linotype" pitchFamily="34" charset="0"/>
                <a:ea typeface="Palatino Linotype" pitchFamily="34" charset="-122"/>
                <a:cs typeface="Palatino Linotype" pitchFamily="34" charset="-120"/>
              </a:rPr>
              <a:t>Retras</a:t>
            </a:r>
            <a:endParaRPr lang="en-US" sz="1500" dirty="0"/>
          </a:p>
        </p:txBody>
      </p:sp>
      <p:sp>
        <p:nvSpPr>
          <p:cNvPr id="15" name="Shape 13"/>
          <p:cNvSpPr/>
          <p:nvPr/>
        </p:nvSpPr>
        <p:spPr>
          <a:xfrm>
            <a:off x="7863840" y="5349240"/>
            <a:ext cx="3291840" cy="329184"/>
          </a:xfrm>
          <a:prstGeom prst="roundRect">
            <a:avLst>
              <a:gd name="adj" fmla="val 50000"/>
            </a:avLst>
          </a:prstGeom>
          <a:solidFill>
            <a:srgbClr val="9B7EF7"/>
          </a:solidFill>
          <a:ln w="12700">
            <a:solidFill>
              <a:srgbClr val="9B7EF7"/>
            </a:solidFill>
            <a:prstDash val="solid"/>
          </a:ln>
        </p:spPr>
      </p:sp>
      <p:sp>
        <p:nvSpPr>
          <p:cNvPr id="16" name="Text 14"/>
          <p:cNvSpPr/>
          <p:nvPr/>
        </p:nvSpPr>
        <p:spPr>
          <a:xfrm>
            <a:off x="7863840" y="5349240"/>
            <a:ext cx="3291840" cy="329184"/>
          </a:xfrm>
          <a:prstGeom prst="rect">
            <a:avLst/>
          </a:prstGeom>
          <a:noFill/>
          <a:ln/>
        </p:spPr>
        <p:txBody>
          <a:bodyPr wrap="square" lIns="0" tIns="0" rIns="0" bIns="0" rtlCol="0" anchor="ctr"/>
          <a:lstStyle/>
          <a:p>
            <a:pPr algn="ctr" indent="0" marL="0">
              <a:buNone/>
            </a:pPr>
            <a:r>
              <a:rPr lang="en-US" sz="1500" b="1" dirty="0">
                <a:solidFill>
                  <a:srgbClr val="1F1040"/>
                </a:solidFill>
                <a:latin typeface="Palatino Linotype" pitchFamily="34" charset="0"/>
                <a:ea typeface="Palatino Linotype" pitchFamily="34" charset="-122"/>
                <a:cs typeface="Palatino Linotype" pitchFamily="34" charset="-120"/>
              </a:rPr>
              <a:t>Expresie de îngrijorare</a:t>
            </a:r>
            <a:endParaRPr lang="en-US" sz="15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definiția retractării după ghidul COPE, Comitetul pentru Etica Publicării (registru A753, A752).</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8A6100"/>
                </a:solidFill>
                <a:latin typeface="Palatino Linotype" pitchFamily="34" charset="0"/>
                <a:ea typeface="Palatino Linotype" pitchFamily="34" charset="-122"/>
                <a:cs typeface="Palatino Linotype" pitchFamily="34" charset="-120"/>
              </a:rPr>
              <a:t>BAZA RETRACTION WATCH · CÂTE ARTICOLE AU FOST RETRASE</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8A6100"/>
                </a:solidFill>
                <a:latin typeface="Palatino Linotype" pitchFamily="34" charset="0"/>
                <a:ea typeface="Palatino Linotype" pitchFamily="34" charset="-122"/>
                <a:cs typeface="Palatino Linotype" pitchFamily="34" charset="-120"/>
              </a:rPr>
              <a:t>67 663</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de retractări, în baza Retraction Watch descărcată pe 11.10.2026</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3A3C44"/>
                </a:solidFill>
                <a:latin typeface="Palatino Linotype" pitchFamily="34" charset="0"/>
                <a:ea typeface="Palatino Linotype" pitchFamily="34" charset="-122"/>
                <a:cs typeface="Palatino Linotype" pitchFamily="34" charset="-120"/>
              </a:rPr>
              <a:t>Retraction Watch este o bază de date publică despre articolele retrase, cu motivul retragerii; datele ei se pot descărca gratuit prin Crossref. Baza are 73 100 de înregistrări: pe lângă retractări, expresii de îngrijorare, corecturi și câteva reveniri asupra unei retractări.</a:t>
            </a:r>
            <a:endParaRPr lang="en-US" sz="1700" dirty="0"/>
          </a:p>
        </p:txBody>
      </p:sp>
      <p:sp>
        <p:nvSpPr>
          <p:cNvPr id="6" name="Text 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Retraction Watch, prin Crossref, descărcată pe 11.10.2026 (registru A728, A729).</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rot="-60000">
            <a:off x="685800" y="914400"/>
            <a:ext cx="6949440" cy="2286000"/>
          </a:xfrm>
          <a:prstGeom prst="rect">
            <a:avLst/>
          </a:prstGeom>
          <a:solidFill>
            <a:srgbClr val="FBF8F1"/>
          </a:solidFill>
          <a:ln w="9525">
            <a:solidFill>
              <a:srgbClr val="D6D2C8"/>
            </a:solidFill>
            <a:prstDash val="solid"/>
          </a:ln>
          <a:effectLst>
            <a:outerShdw sx="100000" sy="100000" kx="0" ky="0" algn="bl" rotWithShape="0" blurRad="101600" dist="38100" dir="5400000">
              <a:srgbClr val="000000">
                <a:alpha val="25000"/>
              </a:srgbClr>
            </a:outerShdw>
          </a:effectLst>
        </p:spPr>
      </p:sp>
      <p:sp>
        <p:nvSpPr>
          <p:cNvPr id="6" name="Text 4"/>
          <p:cNvSpPr/>
          <p:nvPr/>
        </p:nvSpPr>
        <p:spPr>
          <a:xfrm rot="-60000">
            <a:off x="1005840" y="1143000"/>
            <a:ext cx="6309360" cy="274320"/>
          </a:xfrm>
          <a:prstGeom prst="rect">
            <a:avLst/>
          </a:prstGeom>
          <a:noFill/>
          <a:ln/>
        </p:spPr>
        <p:txBody>
          <a:bodyPr wrap="square" lIns="0" tIns="0" rIns="0" bIns="0" rtlCol="0" anchor="t"/>
          <a:lstStyle/>
          <a:p>
            <a:pPr indent="0" marL="0">
              <a:buNone/>
            </a:pPr>
            <a:r>
              <a:rPr lang="en-US" sz="1200" b="1" spc="200" kern="0" dirty="0">
                <a:solidFill>
                  <a:srgbClr val="585A64"/>
                </a:solidFill>
                <a:latin typeface="Palatino Linotype" pitchFamily="34" charset="0"/>
                <a:ea typeface="Palatino Linotype" pitchFamily="34" charset="-122"/>
                <a:cs typeface="Palatino Linotype" pitchFamily="34" charset="-120"/>
              </a:rPr>
              <a:t>TITLU IMAGINAT, PENTRU EXERCIȚIU</a:t>
            </a:r>
            <a:endParaRPr lang="en-US" sz="1200" dirty="0"/>
          </a:p>
        </p:txBody>
      </p:sp>
      <p:sp>
        <p:nvSpPr>
          <p:cNvPr id="7" name="Shape 5"/>
          <p:cNvSpPr/>
          <p:nvPr/>
        </p:nvSpPr>
        <p:spPr>
          <a:xfrm rot="-60000">
            <a:off x="1005840" y="1481328"/>
            <a:ext cx="6309360" cy="18288"/>
          </a:xfrm>
          <a:prstGeom prst="rect">
            <a:avLst/>
          </a:prstGeom>
          <a:solidFill>
            <a:srgbClr val="11121A"/>
          </a:solidFill>
          <a:ln/>
        </p:spPr>
      </p:sp>
      <p:sp>
        <p:nvSpPr>
          <p:cNvPr id="8" name="Text 6"/>
          <p:cNvSpPr/>
          <p:nvPr/>
        </p:nvSpPr>
        <p:spPr>
          <a:xfrm rot="-60000">
            <a:off x="1005840" y="1600200"/>
            <a:ext cx="6309360" cy="1417320"/>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„Retractările au explodat: știința e tot mai necinstită.”</a:t>
            </a:r>
            <a:endParaRPr lang="en-US" sz="3000" dirty="0"/>
          </a:p>
        </p:txBody>
      </p:sp>
      <p:sp>
        <p:nvSpPr>
          <p:cNvPr id="9" name="Text 7"/>
          <p:cNvSpPr/>
          <p:nvPr/>
        </p:nvSpPr>
        <p:spPr>
          <a:xfrm>
            <a:off x="594360" y="3429000"/>
            <a:ext cx="7589520" cy="41148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Ce credeți că s-a întâmplat?</a:t>
            </a:r>
            <a:endParaRPr lang="en-US" sz="1800" dirty="0"/>
          </a:p>
        </p:txBody>
      </p:sp>
      <p:sp>
        <p:nvSpPr>
          <p:cNvPr id="10" name="Shape 8"/>
          <p:cNvSpPr/>
          <p:nvPr/>
        </p:nvSpPr>
        <p:spPr>
          <a:xfrm>
            <a:off x="594360" y="3931920"/>
            <a:ext cx="7589520" cy="603504"/>
          </a:xfrm>
          <a:prstGeom prst="roundRect">
            <a:avLst>
              <a:gd name="adj" fmla="val 13636"/>
            </a:avLst>
          </a:prstGeom>
          <a:solidFill>
            <a:srgbClr val="1D1F2B"/>
          </a:solidFill>
          <a:ln w="12700">
            <a:solidFill>
              <a:srgbClr val="1D1F2B"/>
            </a:solidFill>
            <a:prstDash val="solid"/>
          </a:ln>
        </p:spPr>
      </p:sp>
      <p:sp>
        <p:nvSpPr>
          <p:cNvPr id="11" name="Shape 9"/>
          <p:cNvSpPr/>
          <p:nvPr/>
        </p:nvSpPr>
        <p:spPr>
          <a:xfrm>
            <a:off x="914400" y="4023360"/>
            <a:ext cx="420624" cy="420624"/>
          </a:xfrm>
          <a:prstGeom prst="ellipse">
            <a:avLst/>
          </a:prstGeom>
          <a:solidFill>
            <a:srgbClr val="FFC24B"/>
          </a:solidFill>
          <a:ln/>
        </p:spPr>
      </p:sp>
      <p:sp>
        <p:nvSpPr>
          <p:cNvPr id="12" name="Text 10"/>
          <p:cNvSpPr/>
          <p:nvPr/>
        </p:nvSpPr>
        <p:spPr>
          <a:xfrm>
            <a:off x="914400" y="40233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3" name="Text 11"/>
          <p:cNvSpPr/>
          <p:nvPr/>
        </p:nvSpPr>
        <p:spPr>
          <a:xfrm>
            <a:off x="1600200" y="3931920"/>
            <a:ext cx="6309360" cy="60350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Frauda a crescut</a:t>
            </a:r>
            <a:endParaRPr lang="en-US" sz="1700" dirty="0"/>
          </a:p>
        </p:txBody>
      </p:sp>
      <p:sp>
        <p:nvSpPr>
          <p:cNvPr id="14" name="Shape 12"/>
          <p:cNvSpPr/>
          <p:nvPr/>
        </p:nvSpPr>
        <p:spPr>
          <a:xfrm>
            <a:off x="594360" y="4645152"/>
            <a:ext cx="7589520" cy="603504"/>
          </a:xfrm>
          <a:prstGeom prst="roundRect">
            <a:avLst>
              <a:gd name="adj" fmla="val 13636"/>
            </a:avLst>
          </a:prstGeom>
          <a:solidFill>
            <a:srgbClr val="1D1F2B"/>
          </a:solidFill>
          <a:ln w="12700">
            <a:solidFill>
              <a:srgbClr val="1D1F2B"/>
            </a:solidFill>
            <a:prstDash val="solid"/>
          </a:ln>
        </p:spPr>
      </p:sp>
      <p:sp>
        <p:nvSpPr>
          <p:cNvPr id="15" name="Shape 13"/>
          <p:cNvSpPr/>
          <p:nvPr/>
        </p:nvSpPr>
        <p:spPr>
          <a:xfrm>
            <a:off x="914400" y="4736592"/>
            <a:ext cx="420624" cy="420624"/>
          </a:xfrm>
          <a:prstGeom prst="ellipse">
            <a:avLst/>
          </a:prstGeom>
          <a:solidFill>
            <a:srgbClr val="FFC24B"/>
          </a:solidFill>
          <a:ln/>
        </p:spPr>
      </p:sp>
      <p:sp>
        <p:nvSpPr>
          <p:cNvPr id="16" name="Text 14"/>
          <p:cNvSpPr/>
          <p:nvPr/>
        </p:nvSpPr>
        <p:spPr>
          <a:xfrm>
            <a:off x="914400" y="47365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7" name="Text 15"/>
          <p:cNvSpPr/>
          <p:nvPr/>
        </p:nvSpPr>
        <p:spPr>
          <a:xfrm>
            <a:off x="1600200" y="4645152"/>
            <a:ext cx="6309360" cy="60350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Revistele verifică și retrag mai des</a:t>
            </a:r>
            <a:endParaRPr lang="en-US" sz="1700" dirty="0"/>
          </a:p>
        </p:txBody>
      </p:sp>
      <p:sp>
        <p:nvSpPr>
          <p:cNvPr id="18" name="Shape 16"/>
          <p:cNvSpPr/>
          <p:nvPr/>
        </p:nvSpPr>
        <p:spPr>
          <a:xfrm>
            <a:off x="594360" y="5358384"/>
            <a:ext cx="7589520" cy="603504"/>
          </a:xfrm>
          <a:prstGeom prst="roundRect">
            <a:avLst>
              <a:gd name="adj" fmla="val 13636"/>
            </a:avLst>
          </a:prstGeom>
          <a:solidFill>
            <a:srgbClr val="1D1F2B"/>
          </a:solidFill>
          <a:ln w="12700">
            <a:solidFill>
              <a:srgbClr val="1D1F2B"/>
            </a:solidFill>
            <a:prstDash val="solid"/>
          </a:ln>
        </p:spPr>
      </p:sp>
      <p:sp>
        <p:nvSpPr>
          <p:cNvPr id="19" name="Shape 17"/>
          <p:cNvSpPr/>
          <p:nvPr/>
        </p:nvSpPr>
        <p:spPr>
          <a:xfrm>
            <a:off x="914400" y="5449824"/>
            <a:ext cx="420624" cy="420624"/>
          </a:xfrm>
          <a:prstGeom prst="ellipse">
            <a:avLst/>
          </a:prstGeom>
          <a:solidFill>
            <a:srgbClr val="FFC24B"/>
          </a:solidFill>
          <a:ln/>
        </p:spPr>
      </p:sp>
      <p:sp>
        <p:nvSpPr>
          <p:cNvPr id="20" name="Text 18"/>
          <p:cNvSpPr/>
          <p:nvPr/>
        </p:nvSpPr>
        <p:spPr>
          <a:xfrm>
            <a:off x="914400" y="5449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1" name="Text 19"/>
          <p:cNvSpPr/>
          <p:nvPr/>
        </p:nvSpPr>
        <p:spPr>
          <a:xfrm>
            <a:off x="1600200" y="5358384"/>
            <a:ext cx="6309360" cy="603504"/>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 se poate spune numai din numărul retractărilor</a:t>
            </a:r>
            <a:endParaRPr lang="en-US" sz="1700" dirty="0"/>
          </a:p>
        </p:txBody>
      </p:sp>
      <p:sp>
        <p:nvSpPr>
          <p:cNvPr id="22" name="Shape 20"/>
          <p:cNvSpPr/>
          <p:nvPr/>
        </p:nvSpPr>
        <p:spPr>
          <a:xfrm>
            <a:off x="8686800" y="1097280"/>
            <a:ext cx="2880360" cy="2834640"/>
          </a:xfrm>
          <a:prstGeom prst="roundRect">
            <a:avLst>
              <a:gd name="adj" fmla="val 2903"/>
            </a:avLst>
          </a:prstGeom>
          <a:solidFill>
            <a:srgbClr val="FFFFFF"/>
          </a:solidFill>
          <a:ln w="12700">
            <a:solidFill>
              <a:srgbClr val="FFFFFF"/>
            </a:solidFill>
            <a:prstDash val="solid"/>
          </a:ln>
        </p:spPr>
      </p:sp>
      <p:sp>
        <p:nvSpPr>
          <p:cNvPr id="23" name="Text 21"/>
          <p:cNvSpPr/>
          <p:nvPr/>
        </p:nvSpPr>
        <p:spPr>
          <a:xfrm>
            <a:off x="8686800" y="1097280"/>
            <a:ext cx="2880360" cy="2834640"/>
          </a:xfrm>
          <a:prstGeom prst="rect">
            <a:avLst/>
          </a:prstGeom>
          <a:noFill/>
          <a:ln/>
        </p:spPr>
        <p:txBody>
          <a:bodyPr wrap="square" lIns="0" tIns="0" rIns="0" bIns="0" rtlCol="0" anchor="ctr"/>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[codul QR Mentimeter]</a:t>
            </a:r>
            <a:endParaRPr lang="en-US" sz="1400" dirty="0"/>
          </a:p>
        </p:txBody>
      </p:sp>
      <p:sp>
        <p:nvSpPr>
          <p:cNvPr id="24" name="Text 22"/>
          <p:cNvSpPr/>
          <p:nvPr/>
        </p:nvSpPr>
        <p:spPr>
          <a:xfrm>
            <a:off x="8503920" y="4160520"/>
            <a:ext cx="3108960" cy="155448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Apoi, un minut cu colegul: ce cifră ați mai vrea să vedeți?</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VOT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Retractările cresc. Corecturile, nu.</a:t>
            </a:r>
            <a:endParaRPr lang="en-US" sz="3400" dirty="0"/>
          </a:p>
        </p:txBody>
      </p:sp>
      <p:sp>
        <p:nvSpPr>
          <p:cNvPr id="4" name="Shape 2"/>
          <p:cNvSpPr/>
          <p:nvPr/>
        </p:nvSpPr>
        <p:spPr>
          <a:xfrm>
            <a:off x="822960" y="2103120"/>
            <a:ext cx="0" cy="2651760"/>
          </a:xfrm>
          <a:prstGeom prst="line">
            <a:avLst/>
          </a:prstGeom>
          <a:noFill/>
          <a:ln w="12700">
            <a:solidFill>
              <a:srgbClr val="585A64"/>
            </a:solidFill>
            <a:prstDash val="solid"/>
          </a:ln>
        </p:spPr>
      </p:sp>
      <p:sp>
        <p:nvSpPr>
          <p:cNvPr id="5" name="Shape 3"/>
          <p:cNvSpPr/>
          <p:nvPr/>
        </p:nvSpPr>
        <p:spPr>
          <a:xfrm>
            <a:off x="822960" y="4754880"/>
            <a:ext cx="4937760" cy="0"/>
          </a:xfrm>
          <a:prstGeom prst="line">
            <a:avLst/>
          </a:prstGeom>
          <a:noFill/>
          <a:ln w="12700">
            <a:solidFill>
              <a:srgbClr val="585A64"/>
            </a:solidFill>
            <a:prstDash val="solid"/>
          </a:ln>
        </p:spPr>
      </p:sp>
      <p:sp>
        <p:nvSpPr>
          <p:cNvPr id="6" name="Shape 4"/>
          <p:cNvSpPr/>
          <p:nvPr/>
        </p:nvSpPr>
        <p:spPr>
          <a:xfrm flipV="1">
            <a:off x="868680" y="2148840"/>
            <a:ext cx="4754880" cy="2514600"/>
          </a:xfrm>
          <a:prstGeom prst="line">
            <a:avLst/>
          </a:prstGeom>
          <a:noFill/>
          <a:ln w="50800">
            <a:solidFill>
              <a:srgbClr val="B02532"/>
            </a:solidFill>
            <a:prstDash val="solid"/>
          </a:ln>
        </p:spPr>
      </p:sp>
      <p:sp>
        <p:nvSpPr>
          <p:cNvPr id="7" name="Shape 5"/>
          <p:cNvSpPr/>
          <p:nvPr/>
        </p:nvSpPr>
        <p:spPr>
          <a:xfrm>
            <a:off x="868680" y="4206240"/>
            <a:ext cx="4754880" cy="0"/>
          </a:xfrm>
          <a:prstGeom prst="line">
            <a:avLst/>
          </a:prstGeom>
          <a:noFill/>
          <a:ln w="50800">
            <a:solidFill>
              <a:srgbClr val="0E7C6B"/>
            </a:solidFill>
            <a:prstDash val="solid"/>
          </a:ln>
        </p:spPr>
      </p:sp>
      <p:sp>
        <p:nvSpPr>
          <p:cNvPr id="8" name="Text 6"/>
          <p:cNvSpPr/>
          <p:nvPr/>
        </p:nvSpPr>
        <p:spPr>
          <a:xfrm>
            <a:off x="2926080" y="1828800"/>
            <a:ext cx="3017520" cy="54864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retractări: aproximativ +20% pe an</a:t>
            </a:r>
            <a:endParaRPr lang="en-US" sz="1500" dirty="0"/>
          </a:p>
        </p:txBody>
      </p:sp>
      <p:sp>
        <p:nvSpPr>
          <p:cNvPr id="9" name="Text 7"/>
          <p:cNvSpPr/>
          <p:nvPr/>
        </p:nvSpPr>
        <p:spPr>
          <a:xfrm>
            <a:off x="1828800" y="4251960"/>
            <a:ext cx="4023360" cy="41148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corecturi: fără o creștere semnificativă</a:t>
            </a:r>
            <a:endParaRPr lang="en-US" sz="1500" dirty="0"/>
          </a:p>
        </p:txBody>
      </p:sp>
      <p:sp>
        <p:nvSpPr>
          <p:cNvPr id="10" name="Text 8"/>
          <p:cNvSpPr/>
          <p:nvPr/>
        </p:nvSpPr>
        <p:spPr>
          <a:xfrm>
            <a:off x="822960" y="4846320"/>
            <a:ext cx="4937760" cy="320040"/>
          </a:xfrm>
          <a:prstGeom prst="rect">
            <a:avLst/>
          </a:prstGeom>
          <a:noFill/>
          <a:ln/>
        </p:spPr>
        <p:txBody>
          <a:bodyPr wrap="square" lIns="0" tIns="0" rIns="0" bIns="0" rtlCol="0" anchor="t"/>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din 1980 încoace · schemă, nu date</a:t>
            </a:r>
            <a:endParaRPr lang="en-US" sz="1300" dirty="0"/>
          </a:p>
        </p:txBody>
      </p:sp>
      <p:sp>
        <p:nvSpPr>
          <p:cNvPr id="11" name="Text 9"/>
          <p:cNvSpPr/>
          <p:nvPr/>
        </p:nvSpPr>
        <p:spPr>
          <a:xfrm>
            <a:off x="6309360" y="1783080"/>
            <a:ext cx="5257800" cy="21031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Fanelli (2013) a analizat 2 294 de retractări. Raționamentul lui: dacă cercetătorii ar fi tot mai necinstiți, ar crește și corecturile. Corecturile nu au crescut; a crescut mai ales supravegherea, nu neapărat frauda.</a:t>
            </a:r>
            <a:endParaRPr lang="en-US" sz="1700" dirty="0"/>
          </a:p>
        </p:txBody>
      </p:sp>
      <p:sp>
        <p:nvSpPr>
          <p:cNvPr id="12" name="Text 10"/>
          <p:cNvSpPr/>
          <p:nvPr/>
        </p:nvSpPr>
        <p:spPr>
          <a:xfrm>
            <a:off x="6309360" y="3977640"/>
            <a:ext cx="5257800" cy="118872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O analiză din 2025: supraveghere mai atentă, dar și probleme de integritate care continuă.</a:t>
            </a:r>
            <a:endParaRPr lang="en-US" sz="1700" dirty="0"/>
          </a:p>
        </p:txBody>
      </p:sp>
      <p:sp>
        <p:nvSpPr>
          <p:cNvPr id="13" name="Text 11"/>
          <p:cNvSpPr/>
          <p:nvPr/>
        </p:nvSpPr>
        <p:spPr>
          <a:xfrm>
            <a:off x="594360" y="5394960"/>
            <a:ext cx="10972800" cy="45720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Pentru orice cifră care crește: crește fenomenul sau îl vedem mai bine?</a:t>
            </a:r>
            <a:endParaRPr lang="en-US" sz="18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Surse: Fanelli, 2013 (registru A731, A732); analiza din 2025 (registru A755).</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CÂT DE DES SE TRIȘEAZĂ ÎN CERCETARE</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2 din 100</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cercetători au recunoscut că au fabricat sau au falsificat date cel puțin o dată</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Fanelli a adunat în 2009 rezultatele mai multor chestionare anonime. Estimarea este prudentă, probabil sub nivelul real, iar studiul este vechi: îl folosim ca reper, nu ca măsură a situației de azi.</a:t>
            </a:r>
            <a:endParaRPr lang="en-US" sz="1700" dirty="0"/>
          </a:p>
        </p:txBody>
      </p:sp>
      <p:sp>
        <p:nvSpPr>
          <p:cNvPr id="6" name="Shape 4"/>
          <p:cNvSpPr/>
          <p:nvPr/>
        </p:nvSpPr>
        <p:spPr>
          <a:xfrm>
            <a:off x="7589520" y="1097280"/>
            <a:ext cx="310896" cy="310896"/>
          </a:xfrm>
          <a:prstGeom prst="ellipse">
            <a:avLst/>
          </a:prstGeom>
          <a:solidFill>
            <a:srgbClr val="FF4757"/>
          </a:solidFill>
          <a:ln w="12700">
            <a:solidFill>
              <a:srgbClr val="FF4757"/>
            </a:solidFill>
            <a:prstDash val="solid"/>
          </a:ln>
        </p:spPr>
      </p:sp>
      <p:sp>
        <p:nvSpPr>
          <p:cNvPr id="7" name="Shape 5"/>
          <p:cNvSpPr/>
          <p:nvPr/>
        </p:nvSpPr>
        <p:spPr>
          <a:xfrm>
            <a:off x="7991856" y="1097280"/>
            <a:ext cx="310896" cy="310896"/>
          </a:xfrm>
          <a:prstGeom prst="ellipse">
            <a:avLst/>
          </a:prstGeom>
          <a:solidFill>
            <a:srgbClr val="FF4757"/>
          </a:solidFill>
          <a:ln w="12700">
            <a:solidFill>
              <a:srgbClr val="FF4757"/>
            </a:solidFill>
            <a:prstDash val="solid"/>
          </a:ln>
        </p:spPr>
      </p:sp>
      <p:sp>
        <p:nvSpPr>
          <p:cNvPr id="8" name="Shape 6"/>
          <p:cNvSpPr/>
          <p:nvPr/>
        </p:nvSpPr>
        <p:spPr>
          <a:xfrm>
            <a:off x="8394192" y="1097280"/>
            <a:ext cx="310896" cy="310896"/>
          </a:xfrm>
          <a:prstGeom prst="ellipse">
            <a:avLst/>
          </a:prstGeom>
          <a:solidFill>
            <a:srgbClr val="272A38"/>
          </a:solidFill>
          <a:ln w="12700">
            <a:solidFill>
              <a:srgbClr val="272A38"/>
            </a:solidFill>
            <a:prstDash val="solid"/>
          </a:ln>
        </p:spPr>
      </p:sp>
      <p:sp>
        <p:nvSpPr>
          <p:cNvPr id="9" name="Shape 7"/>
          <p:cNvSpPr/>
          <p:nvPr/>
        </p:nvSpPr>
        <p:spPr>
          <a:xfrm>
            <a:off x="8796528" y="1097280"/>
            <a:ext cx="310896" cy="310896"/>
          </a:xfrm>
          <a:prstGeom prst="ellipse">
            <a:avLst/>
          </a:prstGeom>
          <a:solidFill>
            <a:srgbClr val="272A38"/>
          </a:solidFill>
          <a:ln w="12700">
            <a:solidFill>
              <a:srgbClr val="272A38"/>
            </a:solidFill>
            <a:prstDash val="solid"/>
          </a:ln>
        </p:spPr>
      </p:sp>
      <p:sp>
        <p:nvSpPr>
          <p:cNvPr id="10" name="Shape 8"/>
          <p:cNvSpPr/>
          <p:nvPr/>
        </p:nvSpPr>
        <p:spPr>
          <a:xfrm>
            <a:off x="9198864" y="1097280"/>
            <a:ext cx="310896" cy="310896"/>
          </a:xfrm>
          <a:prstGeom prst="ellipse">
            <a:avLst/>
          </a:prstGeom>
          <a:solidFill>
            <a:srgbClr val="272A38"/>
          </a:solidFill>
          <a:ln w="12700">
            <a:solidFill>
              <a:srgbClr val="272A38"/>
            </a:solidFill>
            <a:prstDash val="solid"/>
          </a:ln>
        </p:spPr>
      </p:sp>
      <p:sp>
        <p:nvSpPr>
          <p:cNvPr id="11" name="Shape 9"/>
          <p:cNvSpPr/>
          <p:nvPr/>
        </p:nvSpPr>
        <p:spPr>
          <a:xfrm>
            <a:off x="9601200" y="1097280"/>
            <a:ext cx="310896" cy="310896"/>
          </a:xfrm>
          <a:prstGeom prst="ellipse">
            <a:avLst/>
          </a:prstGeom>
          <a:solidFill>
            <a:srgbClr val="272A38"/>
          </a:solidFill>
          <a:ln w="12700">
            <a:solidFill>
              <a:srgbClr val="272A38"/>
            </a:solidFill>
            <a:prstDash val="solid"/>
          </a:ln>
        </p:spPr>
      </p:sp>
      <p:sp>
        <p:nvSpPr>
          <p:cNvPr id="12" name="Shape 10"/>
          <p:cNvSpPr/>
          <p:nvPr/>
        </p:nvSpPr>
        <p:spPr>
          <a:xfrm>
            <a:off x="10003536" y="1097280"/>
            <a:ext cx="310896" cy="310896"/>
          </a:xfrm>
          <a:prstGeom prst="ellipse">
            <a:avLst/>
          </a:prstGeom>
          <a:solidFill>
            <a:srgbClr val="272A38"/>
          </a:solidFill>
          <a:ln w="12700">
            <a:solidFill>
              <a:srgbClr val="272A38"/>
            </a:solidFill>
            <a:prstDash val="solid"/>
          </a:ln>
        </p:spPr>
      </p:sp>
      <p:sp>
        <p:nvSpPr>
          <p:cNvPr id="13" name="Shape 11"/>
          <p:cNvSpPr/>
          <p:nvPr/>
        </p:nvSpPr>
        <p:spPr>
          <a:xfrm>
            <a:off x="10405872" y="1097280"/>
            <a:ext cx="310896" cy="310896"/>
          </a:xfrm>
          <a:prstGeom prst="ellipse">
            <a:avLst/>
          </a:prstGeom>
          <a:solidFill>
            <a:srgbClr val="272A38"/>
          </a:solidFill>
          <a:ln w="12700">
            <a:solidFill>
              <a:srgbClr val="272A38"/>
            </a:solidFill>
            <a:prstDash val="solid"/>
          </a:ln>
        </p:spPr>
      </p:sp>
      <p:sp>
        <p:nvSpPr>
          <p:cNvPr id="14" name="Shape 12"/>
          <p:cNvSpPr/>
          <p:nvPr/>
        </p:nvSpPr>
        <p:spPr>
          <a:xfrm>
            <a:off x="10808208" y="1097280"/>
            <a:ext cx="310896" cy="310896"/>
          </a:xfrm>
          <a:prstGeom prst="ellipse">
            <a:avLst/>
          </a:prstGeom>
          <a:solidFill>
            <a:srgbClr val="272A38"/>
          </a:solidFill>
          <a:ln w="12700">
            <a:solidFill>
              <a:srgbClr val="272A38"/>
            </a:solidFill>
            <a:prstDash val="solid"/>
          </a:ln>
        </p:spPr>
      </p:sp>
      <p:sp>
        <p:nvSpPr>
          <p:cNvPr id="15" name="Shape 13"/>
          <p:cNvSpPr/>
          <p:nvPr/>
        </p:nvSpPr>
        <p:spPr>
          <a:xfrm>
            <a:off x="11210544" y="1097280"/>
            <a:ext cx="310896" cy="310896"/>
          </a:xfrm>
          <a:prstGeom prst="ellipse">
            <a:avLst/>
          </a:prstGeom>
          <a:solidFill>
            <a:srgbClr val="272A38"/>
          </a:solidFill>
          <a:ln w="12700">
            <a:solidFill>
              <a:srgbClr val="272A38"/>
            </a:solidFill>
            <a:prstDash val="solid"/>
          </a:ln>
        </p:spPr>
      </p:sp>
      <p:sp>
        <p:nvSpPr>
          <p:cNvPr id="16" name="Shape 14"/>
          <p:cNvSpPr/>
          <p:nvPr/>
        </p:nvSpPr>
        <p:spPr>
          <a:xfrm>
            <a:off x="7589520" y="1499616"/>
            <a:ext cx="310896" cy="310896"/>
          </a:xfrm>
          <a:prstGeom prst="ellipse">
            <a:avLst/>
          </a:prstGeom>
          <a:solidFill>
            <a:srgbClr val="272A38"/>
          </a:solidFill>
          <a:ln w="12700">
            <a:solidFill>
              <a:srgbClr val="272A38"/>
            </a:solidFill>
            <a:prstDash val="solid"/>
          </a:ln>
        </p:spPr>
      </p:sp>
      <p:sp>
        <p:nvSpPr>
          <p:cNvPr id="17" name="Shape 15"/>
          <p:cNvSpPr/>
          <p:nvPr/>
        </p:nvSpPr>
        <p:spPr>
          <a:xfrm>
            <a:off x="7991856" y="1499616"/>
            <a:ext cx="310896" cy="310896"/>
          </a:xfrm>
          <a:prstGeom prst="ellipse">
            <a:avLst/>
          </a:prstGeom>
          <a:solidFill>
            <a:srgbClr val="272A38"/>
          </a:solidFill>
          <a:ln w="12700">
            <a:solidFill>
              <a:srgbClr val="272A38"/>
            </a:solidFill>
            <a:prstDash val="solid"/>
          </a:ln>
        </p:spPr>
      </p:sp>
      <p:sp>
        <p:nvSpPr>
          <p:cNvPr id="18" name="Shape 16"/>
          <p:cNvSpPr/>
          <p:nvPr/>
        </p:nvSpPr>
        <p:spPr>
          <a:xfrm>
            <a:off x="8394192" y="1499616"/>
            <a:ext cx="310896" cy="310896"/>
          </a:xfrm>
          <a:prstGeom prst="ellipse">
            <a:avLst/>
          </a:prstGeom>
          <a:solidFill>
            <a:srgbClr val="272A38"/>
          </a:solidFill>
          <a:ln w="12700">
            <a:solidFill>
              <a:srgbClr val="272A38"/>
            </a:solidFill>
            <a:prstDash val="solid"/>
          </a:ln>
        </p:spPr>
      </p:sp>
      <p:sp>
        <p:nvSpPr>
          <p:cNvPr id="19" name="Shape 17"/>
          <p:cNvSpPr/>
          <p:nvPr/>
        </p:nvSpPr>
        <p:spPr>
          <a:xfrm>
            <a:off x="8796528" y="1499616"/>
            <a:ext cx="310896" cy="310896"/>
          </a:xfrm>
          <a:prstGeom prst="ellipse">
            <a:avLst/>
          </a:prstGeom>
          <a:solidFill>
            <a:srgbClr val="272A38"/>
          </a:solidFill>
          <a:ln w="12700">
            <a:solidFill>
              <a:srgbClr val="272A38"/>
            </a:solidFill>
            <a:prstDash val="solid"/>
          </a:ln>
        </p:spPr>
      </p:sp>
      <p:sp>
        <p:nvSpPr>
          <p:cNvPr id="20" name="Shape 18"/>
          <p:cNvSpPr/>
          <p:nvPr/>
        </p:nvSpPr>
        <p:spPr>
          <a:xfrm>
            <a:off x="9198864" y="1499616"/>
            <a:ext cx="310896" cy="310896"/>
          </a:xfrm>
          <a:prstGeom prst="ellipse">
            <a:avLst/>
          </a:prstGeom>
          <a:solidFill>
            <a:srgbClr val="272A38"/>
          </a:solidFill>
          <a:ln w="12700">
            <a:solidFill>
              <a:srgbClr val="272A38"/>
            </a:solidFill>
            <a:prstDash val="solid"/>
          </a:ln>
        </p:spPr>
      </p:sp>
      <p:sp>
        <p:nvSpPr>
          <p:cNvPr id="21" name="Shape 19"/>
          <p:cNvSpPr/>
          <p:nvPr/>
        </p:nvSpPr>
        <p:spPr>
          <a:xfrm>
            <a:off x="9601200" y="1499616"/>
            <a:ext cx="310896" cy="310896"/>
          </a:xfrm>
          <a:prstGeom prst="ellipse">
            <a:avLst/>
          </a:prstGeom>
          <a:solidFill>
            <a:srgbClr val="272A38"/>
          </a:solidFill>
          <a:ln w="12700">
            <a:solidFill>
              <a:srgbClr val="272A38"/>
            </a:solidFill>
            <a:prstDash val="solid"/>
          </a:ln>
        </p:spPr>
      </p:sp>
      <p:sp>
        <p:nvSpPr>
          <p:cNvPr id="22" name="Shape 20"/>
          <p:cNvSpPr/>
          <p:nvPr/>
        </p:nvSpPr>
        <p:spPr>
          <a:xfrm>
            <a:off x="10003536" y="1499616"/>
            <a:ext cx="310896" cy="310896"/>
          </a:xfrm>
          <a:prstGeom prst="ellipse">
            <a:avLst/>
          </a:prstGeom>
          <a:solidFill>
            <a:srgbClr val="272A38"/>
          </a:solidFill>
          <a:ln w="12700">
            <a:solidFill>
              <a:srgbClr val="272A38"/>
            </a:solidFill>
            <a:prstDash val="solid"/>
          </a:ln>
        </p:spPr>
      </p:sp>
      <p:sp>
        <p:nvSpPr>
          <p:cNvPr id="23" name="Shape 21"/>
          <p:cNvSpPr/>
          <p:nvPr/>
        </p:nvSpPr>
        <p:spPr>
          <a:xfrm>
            <a:off x="10405872" y="1499616"/>
            <a:ext cx="310896" cy="310896"/>
          </a:xfrm>
          <a:prstGeom prst="ellipse">
            <a:avLst/>
          </a:prstGeom>
          <a:solidFill>
            <a:srgbClr val="272A38"/>
          </a:solidFill>
          <a:ln w="12700">
            <a:solidFill>
              <a:srgbClr val="272A38"/>
            </a:solidFill>
            <a:prstDash val="solid"/>
          </a:ln>
        </p:spPr>
      </p:sp>
      <p:sp>
        <p:nvSpPr>
          <p:cNvPr id="24" name="Shape 22"/>
          <p:cNvSpPr/>
          <p:nvPr/>
        </p:nvSpPr>
        <p:spPr>
          <a:xfrm>
            <a:off x="10808208" y="1499616"/>
            <a:ext cx="310896" cy="310896"/>
          </a:xfrm>
          <a:prstGeom prst="ellipse">
            <a:avLst/>
          </a:prstGeom>
          <a:solidFill>
            <a:srgbClr val="272A38"/>
          </a:solidFill>
          <a:ln w="12700">
            <a:solidFill>
              <a:srgbClr val="272A38"/>
            </a:solidFill>
            <a:prstDash val="solid"/>
          </a:ln>
        </p:spPr>
      </p:sp>
      <p:sp>
        <p:nvSpPr>
          <p:cNvPr id="25" name="Shape 23"/>
          <p:cNvSpPr/>
          <p:nvPr/>
        </p:nvSpPr>
        <p:spPr>
          <a:xfrm>
            <a:off x="11210544" y="1499616"/>
            <a:ext cx="310896" cy="310896"/>
          </a:xfrm>
          <a:prstGeom prst="ellipse">
            <a:avLst/>
          </a:prstGeom>
          <a:solidFill>
            <a:srgbClr val="272A38"/>
          </a:solidFill>
          <a:ln w="12700">
            <a:solidFill>
              <a:srgbClr val="272A38"/>
            </a:solidFill>
            <a:prstDash val="solid"/>
          </a:ln>
        </p:spPr>
      </p:sp>
      <p:sp>
        <p:nvSpPr>
          <p:cNvPr id="26" name="Shape 24"/>
          <p:cNvSpPr/>
          <p:nvPr/>
        </p:nvSpPr>
        <p:spPr>
          <a:xfrm>
            <a:off x="7589520" y="1901952"/>
            <a:ext cx="310896" cy="310896"/>
          </a:xfrm>
          <a:prstGeom prst="ellipse">
            <a:avLst/>
          </a:prstGeom>
          <a:solidFill>
            <a:srgbClr val="272A38"/>
          </a:solidFill>
          <a:ln w="12700">
            <a:solidFill>
              <a:srgbClr val="272A38"/>
            </a:solidFill>
            <a:prstDash val="solid"/>
          </a:ln>
        </p:spPr>
      </p:sp>
      <p:sp>
        <p:nvSpPr>
          <p:cNvPr id="27" name="Shape 25"/>
          <p:cNvSpPr/>
          <p:nvPr/>
        </p:nvSpPr>
        <p:spPr>
          <a:xfrm>
            <a:off x="7991856" y="1901952"/>
            <a:ext cx="310896" cy="310896"/>
          </a:xfrm>
          <a:prstGeom prst="ellipse">
            <a:avLst/>
          </a:prstGeom>
          <a:solidFill>
            <a:srgbClr val="272A38"/>
          </a:solidFill>
          <a:ln w="12700">
            <a:solidFill>
              <a:srgbClr val="272A38"/>
            </a:solidFill>
            <a:prstDash val="solid"/>
          </a:ln>
        </p:spPr>
      </p:sp>
      <p:sp>
        <p:nvSpPr>
          <p:cNvPr id="28" name="Shape 26"/>
          <p:cNvSpPr/>
          <p:nvPr/>
        </p:nvSpPr>
        <p:spPr>
          <a:xfrm>
            <a:off x="8394192" y="1901952"/>
            <a:ext cx="310896" cy="310896"/>
          </a:xfrm>
          <a:prstGeom prst="ellipse">
            <a:avLst/>
          </a:prstGeom>
          <a:solidFill>
            <a:srgbClr val="272A38"/>
          </a:solidFill>
          <a:ln w="12700">
            <a:solidFill>
              <a:srgbClr val="272A38"/>
            </a:solidFill>
            <a:prstDash val="solid"/>
          </a:ln>
        </p:spPr>
      </p:sp>
      <p:sp>
        <p:nvSpPr>
          <p:cNvPr id="29" name="Shape 27"/>
          <p:cNvSpPr/>
          <p:nvPr/>
        </p:nvSpPr>
        <p:spPr>
          <a:xfrm>
            <a:off x="8796528" y="1901952"/>
            <a:ext cx="310896" cy="310896"/>
          </a:xfrm>
          <a:prstGeom prst="ellipse">
            <a:avLst/>
          </a:prstGeom>
          <a:solidFill>
            <a:srgbClr val="272A38"/>
          </a:solidFill>
          <a:ln w="12700">
            <a:solidFill>
              <a:srgbClr val="272A38"/>
            </a:solidFill>
            <a:prstDash val="solid"/>
          </a:ln>
        </p:spPr>
      </p:sp>
      <p:sp>
        <p:nvSpPr>
          <p:cNvPr id="30" name="Shape 28"/>
          <p:cNvSpPr/>
          <p:nvPr/>
        </p:nvSpPr>
        <p:spPr>
          <a:xfrm>
            <a:off x="9198864" y="1901952"/>
            <a:ext cx="310896" cy="310896"/>
          </a:xfrm>
          <a:prstGeom prst="ellipse">
            <a:avLst/>
          </a:prstGeom>
          <a:solidFill>
            <a:srgbClr val="272A38"/>
          </a:solidFill>
          <a:ln w="12700">
            <a:solidFill>
              <a:srgbClr val="272A38"/>
            </a:solidFill>
            <a:prstDash val="solid"/>
          </a:ln>
        </p:spPr>
      </p:sp>
      <p:sp>
        <p:nvSpPr>
          <p:cNvPr id="31" name="Shape 29"/>
          <p:cNvSpPr/>
          <p:nvPr/>
        </p:nvSpPr>
        <p:spPr>
          <a:xfrm>
            <a:off x="9601200" y="1901952"/>
            <a:ext cx="310896" cy="310896"/>
          </a:xfrm>
          <a:prstGeom prst="ellipse">
            <a:avLst/>
          </a:prstGeom>
          <a:solidFill>
            <a:srgbClr val="272A38"/>
          </a:solidFill>
          <a:ln w="12700">
            <a:solidFill>
              <a:srgbClr val="272A38"/>
            </a:solidFill>
            <a:prstDash val="solid"/>
          </a:ln>
        </p:spPr>
      </p:sp>
      <p:sp>
        <p:nvSpPr>
          <p:cNvPr id="32" name="Shape 30"/>
          <p:cNvSpPr/>
          <p:nvPr/>
        </p:nvSpPr>
        <p:spPr>
          <a:xfrm>
            <a:off x="10003536" y="1901952"/>
            <a:ext cx="310896" cy="310896"/>
          </a:xfrm>
          <a:prstGeom prst="ellipse">
            <a:avLst/>
          </a:prstGeom>
          <a:solidFill>
            <a:srgbClr val="272A38"/>
          </a:solidFill>
          <a:ln w="12700">
            <a:solidFill>
              <a:srgbClr val="272A38"/>
            </a:solidFill>
            <a:prstDash val="solid"/>
          </a:ln>
        </p:spPr>
      </p:sp>
      <p:sp>
        <p:nvSpPr>
          <p:cNvPr id="33" name="Shape 31"/>
          <p:cNvSpPr/>
          <p:nvPr/>
        </p:nvSpPr>
        <p:spPr>
          <a:xfrm>
            <a:off x="10405872" y="1901952"/>
            <a:ext cx="310896" cy="310896"/>
          </a:xfrm>
          <a:prstGeom prst="ellipse">
            <a:avLst/>
          </a:prstGeom>
          <a:solidFill>
            <a:srgbClr val="272A38"/>
          </a:solidFill>
          <a:ln w="12700">
            <a:solidFill>
              <a:srgbClr val="272A38"/>
            </a:solidFill>
            <a:prstDash val="solid"/>
          </a:ln>
        </p:spPr>
      </p:sp>
      <p:sp>
        <p:nvSpPr>
          <p:cNvPr id="34" name="Shape 32"/>
          <p:cNvSpPr/>
          <p:nvPr/>
        </p:nvSpPr>
        <p:spPr>
          <a:xfrm>
            <a:off x="10808208" y="1901952"/>
            <a:ext cx="310896" cy="310896"/>
          </a:xfrm>
          <a:prstGeom prst="ellipse">
            <a:avLst/>
          </a:prstGeom>
          <a:solidFill>
            <a:srgbClr val="272A38"/>
          </a:solidFill>
          <a:ln w="12700">
            <a:solidFill>
              <a:srgbClr val="272A38"/>
            </a:solidFill>
            <a:prstDash val="solid"/>
          </a:ln>
        </p:spPr>
      </p:sp>
      <p:sp>
        <p:nvSpPr>
          <p:cNvPr id="35" name="Shape 33"/>
          <p:cNvSpPr/>
          <p:nvPr/>
        </p:nvSpPr>
        <p:spPr>
          <a:xfrm>
            <a:off x="11210544" y="1901952"/>
            <a:ext cx="310896" cy="310896"/>
          </a:xfrm>
          <a:prstGeom prst="ellipse">
            <a:avLst/>
          </a:prstGeom>
          <a:solidFill>
            <a:srgbClr val="272A38"/>
          </a:solidFill>
          <a:ln w="12700">
            <a:solidFill>
              <a:srgbClr val="272A38"/>
            </a:solidFill>
            <a:prstDash val="solid"/>
          </a:ln>
        </p:spPr>
      </p:sp>
      <p:sp>
        <p:nvSpPr>
          <p:cNvPr id="36" name="Shape 34"/>
          <p:cNvSpPr/>
          <p:nvPr/>
        </p:nvSpPr>
        <p:spPr>
          <a:xfrm>
            <a:off x="7589520" y="2304288"/>
            <a:ext cx="310896" cy="310896"/>
          </a:xfrm>
          <a:prstGeom prst="ellipse">
            <a:avLst/>
          </a:prstGeom>
          <a:solidFill>
            <a:srgbClr val="272A38"/>
          </a:solidFill>
          <a:ln w="12700">
            <a:solidFill>
              <a:srgbClr val="272A38"/>
            </a:solidFill>
            <a:prstDash val="solid"/>
          </a:ln>
        </p:spPr>
      </p:sp>
      <p:sp>
        <p:nvSpPr>
          <p:cNvPr id="37" name="Shape 35"/>
          <p:cNvSpPr/>
          <p:nvPr/>
        </p:nvSpPr>
        <p:spPr>
          <a:xfrm>
            <a:off x="7991856" y="2304288"/>
            <a:ext cx="310896" cy="310896"/>
          </a:xfrm>
          <a:prstGeom prst="ellipse">
            <a:avLst/>
          </a:prstGeom>
          <a:solidFill>
            <a:srgbClr val="272A38"/>
          </a:solidFill>
          <a:ln w="12700">
            <a:solidFill>
              <a:srgbClr val="272A38"/>
            </a:solidFill>
            <a:prstDash val="solid"/>
          </a:ln>
        </p:spPr>
      </p:sp>
      <p:sp>
        <p:nvSpPr>
          <p:cNvPr id="38" name="Shape 36"/>
          <p:cNvSpPr/>
          <p:nvPr/>
        </p:nvSpPr>
        <p:spPr>
          <a:xfrm>
            <a:off x="8394192" y="2304288"/>
            <a:ext cx="310896" cy="310896"/>
          </a:xfrm>
          <a:prstGeom prst="ellipse">
            <a:avLst/>
          </a:prstGeom>
          <a:solidFill>
            <a:srgbClr val="272A38"/>
          </a:solidFill>
          <a:ln w="12700">
            <a:solidFill>
              <a:srgbClr val="272A38"/>
            </a:solidFill>
            <a:prstDash val="solid"/>
          </a:ln>
        </p:spPr>
      </p:sp>
      <p:sp>
        <p:nvSpPr>
          <p:cNvPr id="39" name="Shape 37"/>
          <p:cNvSpPr/>
          <p:nvPr/>
        </p:nvSpPr>
        <p:spPr>
          <a:xfrm>
            <a:off x="8796528" y="2304288"/>
            <a:ext cx="310896" cy="310896"/>
          </a:xfrm>
          <a:prstGeom prst="ellipse">
            <a:avLst/>
          </a:prstGeom>
          <a:solidFill>
            <a:srgbClr val="272A38"/>
          </a:solidFill>
          <a:ln w="12700">
            <a:solidFill>
              <a:srgbClr val="272A38"/>
            </a:solidFill>
            <a:prstDash val="solid"/>
          </a:ln>
        </p:spPr>
      </p:sp>
      <p:sp>
        <p:nvSpPr>
          <p:cNvPr id="40" name="Shape 38"/>
          <p:cNvSpPr/>
          <p:nvPr/>
        </p:nvSpPr>
        <p:spPr>
          <a:xfrm>
            <a:off x="9198864" y="2304288"/>
            <a:ext cx="310896" cy="310896"/>
          </a:xfrm>
          <a:prstGeom prst="ellipse">
            <a:avLst/>
          </a:prstGeom>
          <a:solidFill>
            <a:srgbClr val="272A38"/>
          </a:solidFill>
          <a:ln w="12700">
            <a:solidFill>
              <a:srgbClr val="272A38"/>
            </a:solidFill>
            <a:prstDash val="solid"/>
          </a:ln>
        </p:spPr>
      </p:sp>
      <p:sp>
        <p:nvSpPr>
          <p:cNvPr id="41" name="Shape 39"/>
          <p:cNvSpPr/>
          <p:nvPr/>
        </p:nvSpPr>
        <p:spPr>
          <a:xfrm>
            <a:off x="9601200" y="2304288"/>
            <a:ext cx="310896" cy="310896"/>
          </a:xfrm>
          <a:prstGeom prst="ellipse">
            <a:avLst/>
          </a:prstGeom>
          <a:solidFill>
            <a:srgbClr val="272A38"/>
          </a:solidFill>
          <a:ln w="12700">
            <a:solidFill>
              <a:srgbClr val="272A38"/>
            </a:solidFill>
            <a:prstDash val="solid"/>
          </a:ln>
        </p:spPr>
      </p:sp>
      <p:sp>
        <p:nvSpPr>
          <p:cNvPr id="42" name="Shape 40"/>
          <p:cNvSpPr/>
          <p:nvPr/>
        </p:nvSpPr>
        <p:spPr>
          <a:xfrm>
            <a:off x="10003536" y="2304288"/>
            <a:ext cx="310896" cy="310896"/>
          </a:xfrm>
          <a:prstGeom prst="ellipse">
            <a:avLst/>
          </a:prstGeom>
          <a:solidFill>
            <a:srgbClr val="272A38"/>
          </a:solidFill>
          <a:ln w="12700">
            <a:solidFill>
              <a:srgbClr val="272A38"/>
            </a:solidFill>
            <a:prstDash val="solid"/>
          </a:ln>
        </p:spPr>
      </p:sp>
      <p:sp>
        <p:nvSpPr>
          <p:cNvPr id="43" name="Shape 41"/>
          <p:cNvSpPr/>
          <p:nvPr/>
        </p:nvSpPr>
        <p:spPr>
          <a:xfrm>
            <a:off x="10405872" y="2304288"/>
            <a:ext cx="310896" cy="310896"/>
          </a:xfrm>
          <a:prstGeom prst="ellipse">
            <a:avLst/>
          </a:prstGeom>
          <a:solidFill>
            <a:srgbClr val="272A38"/>
          </a:solidFill>
          <a:ln w="12700">
            <a:solidFill>
              <a:srgbClr val="272A38"/>
            </a:solidFill>
            <a:prstDash val="solid"/>
          </a:ln>
        </p:spPr>
      </p:sp>
      <p:sp>
        <p:nvSpPr>
          <p:cNvPr id="44" name="Shape 42"/>
          <p:cNvSpPr/>
          <p:nvPr/>
        </p:nvSpPr>
        <p:spPr>
          <a:xfrm>
            <a:off x="10808208" y="2304288"/>
            <a:ext cx="310896" cy="310896"/>
          </a:xfrm>
          <a:prstGeom prst="ellipse">
            <a:avLst/>
          </a:prstGeom>
          <a:solidFill>
            <a:srgbClr val="272A38"/>
          </a:solidFill>
          <a:ln w="12700">
            <a:solidFill>
              <a:srgbClr val="272A38"/>
            </a:solidFill>
            <a:prstDash val="solid"/>
          </a:ln>
        </p:spPr>
      </p:sp>
      <p:sp>
        <p:nvSpPr>
          <p:cNvPr id="45" name="Shape 43"/>
          <p:cNvSpPr/>
          <p:nvPr/>
        </p:nvSpPr>
        <p:spPr>
          <a:xfrm>
            <a:off x="11210544" y="2304288"/>
            <a:ext cx="310896" cy="310896"/>
          </a:xfrm>
          <a:prstGeom prst="ellipse">
            <a:avLst/>
          </a:prstGeom>
          <a:solidFill>
            <a:srgbClr val="272A38"/>
          </a:solidFill>
          <a:ln w="12700">
            <a:solidFill>
              <a:srgbClr val="272A38"/>
            </a:solidFill>
            <a:prstDash val="solid"/>
          </a:ln>
        </p:spPr>
      </p:sp>
      <p:sp>
        <p:nvSpPr>
          <p:cNvPr id="46" name="Shape 44"/>
          <p:cNvSpPr/>
          <p:nvPr/>
        </p:nvSpPr>
        <p:spPr>
          <a:xfrm>
            <a:off x="7589520" y="2706624"/>
            <a:ext cx="310896" cy="310896"/>
          </a:xfrm>
          <a:prstGeom prst="ellipse">
            <a:avLst/>
          </a:prstGeom>
          <a:solidFill>
            <a:srgbClr val="272A38"/>
          </a:solidFill>
          <a:ln w="12700">
            <a:solidFill>
              <a:srgbClr val="272A38"/>
            </a:solidFill>
            <a:prstDash val="solid"/>
          </a:ln>
        </p:spPr>
      </p:sp>
      <p:sp>
        <p:nvSpPr>
          <p:cNvPr id="47" name="Shape 45"/>
          <p:cNvSpPr/>
          <p:nvPr/>
        </p:nvSpPr>
        <p:spPr>
          <a:xfrm>
            <a:off x="7991856" y="2706624"/>
            <a:ext cx="310896" cy="310896"/>
          </a:xfrm>
          <a:prstGeom prst="ellipse">
            <a:avLst/>
          </a:prstGeom>
          <a:solidFill>
            <a:srgbClr val="272A38"/>
          </a:solidFill>
          <a:ln w="12700">
            <a:solidFill>
              <a:srgbClr val="272A38"/>
            </a:solidFill>
            <a:prstDash val="solid"/>
          </a:ln>
        </p:spPr>
      </p:sp>
      <p:sp>
        <p:nvSpPr>
          <p:cNvPr id="48" name="Shape 46"/>
          <p:cNvSpPr/>
          <p:nvPr/>
        </p:nvSpPr>
        <p:spPr>
          <a:xfrm>
            <a:off x="8394192" y="2706624"/>
            <a:ext cx="310896" cy="310896"/>
          </a:xfrm>
          <a:prstGeom prst="ellipse">
            <a:avLst/>
          </a:prstGeom>
          <a:solidFill>
            <a:srgbClr val="272A38"/>
          </a:solidFill>
          <a:ln w="12700">
            <a:solidFill>
              <a:srgbClr val="272A38"/>
            </a:solidFill>
            <a:prstDash val="solid"/>
          </a:ln>
        </p:spPr>
      </p:sp>
      <p:sp>
        <p:nvSpPr>
          <p:cNvPr id="49" name="Shape 47"/>
          <p:cNvSpPr/>
          <p:nvPr/>
        </p:nvSpPr>
        <p:spPr>
          <a:xfrm>
            <a:off x="8796528" y="2706624"/>
            <a:ext cx="310896" cy="310896"/>
          </a:xfrm>
          <a:prstGeom prst="ellipse">
            <a:avLst/>
          </a:prstGeom>
          <a:solidFill>
            <a:srgbClr val="272A38"/>
          </a:solidFill>
          <a:ln w="12700">
            <a:solidFill>
              <a:srgbClr val="272A38"/>
            </a:solidFill>
            <a:prstDash val="solid"/>
          </a:ln>
        </p:spPr>
      </p:sp>
      <p:sp>
        <p:nvSpPr>
          <p:cNvPr id="50" name="Shape 48"/>
          <p:cNvSpPr/>
          <p:nvPr/>
        </p:nvSpPr>
        <p:spPr>
          <a:xfrm>
            <a:off x="9198864" y="2706624"/>
            <a:ext cx="310896" cy="310896"/>
          </a:xfrm>
          <a:prstGeom prst="ellipse">
            <a:avLst/>
          </a:prstGeom>
          <a:solidFill>
            <a:srgbClr val="272A38"/>
          </a:solidFill>
          <a:ln w="12700">
            <a:solidFill>
              <a:srgbClr val="272A38"/>
            </a:solidFill>
            <a:prstDash val="solid"/>
          </a:ln>
        </p:spPr>
      </p:sp>
      <p:sp>
        <p:nvSpPr>
          <p:cNvPr id="51" name="Shape 49"/>
          <p:cNvSpPr/>
          <p:nvPr/>
        </p:nvSpPr>
        <p:spPr>
          <a:xfrm>
            <a:off x="9601200" y="2706624"/>
            <a:ext cx="310896" cy="310896"/>
          </a:xfrm>
          <a:prstGeom prst="ellipse">
            <a:avLst/>
          </a:prstGeom>
          <a:solidFill>
            <a:srgbClr val="272A38"/>
          </a:solidFill>
          <a:ln w="12700">
            <a:solidFill>
              <a:srgbClr val="272A38"/>
            </a:solidFill>
            <a:prstDash val="solid"/>
          </a:ln>
        </p:spPr>
      </p:sp>
      <p:sp>
        <p:nvSpPr>
          <p:cNvPr id="52" name="Shape 50"/>
          <p:cNvSpPr/>
          <p:nvPr/>
        </p:nvSpPr>
        <p:spPr>
          <a:xfrm>
            <a:off x="10003536" y="2706624"/>
            <a:ext cx="310896" cy="310896"/>
          </a:xfrm>
          <a:prstGeom prst="ellipse">
            <a:avLst/>
          </a:prstGeom>
          <a:solidFill>
            <a:srgbClr val="272A38"/>
          </a:solidFill>
          <a:ln w="12700">
            <a:solidFill>
              <a:srgbClr val="272A38"/>
            </a:solidFill>
            <a:prstDash val="solid"/>
          </a:ln>
        </p:spPr>
      </p:sp>
      <p:sp>
        <p:nvSpPr>
          <p:cNvPr id="53" name="Shape 51"/>
          <p:cNvSpPr/>
          <p:nvPr/>
        </p:nvSpPr>
        <p:spPr>
          <a:xfrm>
            <a:off x="10405872" y="2706624"/>
            <a:ext cx="310896" cy="310896"/>
          </a:xfrm>
          <a:prstGeom prst="ellipse">
            <a:avLst/>
          </a:prstGeom>
          <a:solidFill>
            <a:srgbClr val="272A38"/>
          </a:solidFill>
          <a:ln w="12700">
            <a:solidFill>
              <a:srgbClr val="272A38"/>
            </a:solidFill>
            <a:prstDash val="solid"/>
          </a:ln>
        </p:spPr>
      </p:sp>
      <p:sp>
        <p:nvSpPr>
          <p:cNvPr id="54" name="Shape 52"/>
          <p:cNvSpPr/>
          <p:nvPr/>
        </p:nvSpPr>
        <p:spPr>
          <a:xfrm>
            <a:off x="10808208" y="2706624"/>
            <a:ext cx="310896" cy="310896"/>
          </a:xfrm>
          <a:prstGeom prst="ellipse">
            <a:avLst/>
          </a:prstGeom>
          <a:solidFill>
            <a:srgbClr val="272A38"/>
          </a:solidFill>
          <a:ln w="12700">
            <a:solidFill>
              <a:srgbClr val="272A38"/>
            </a:solidFill>
            <a:prstDash val="solid"/>
          </a:ln>
        </p:spPr>
      </p:sp>
      <p:sp>
        <p:nvSpPr>
          <p:cNvPr id="55" name="Shape 53"/>
          <p:cNvSpPr/>
          <p:nvPr/>
        </p:nvSpPr>
        <p:spPr>
          <a:xfrm>
            <a:off x="11210544" y="2706624"/>
            <a:ext cx="310896" cy="310896"/>
          </a:xfrm>
          <a:prstGeom prst="ellipse">
            <a:avLst/>
          </a:prstGeom>
          <a:solidFill>
            <a:srgbClr val="272A38"/>
          </a:solidFill>
          <a:ln w="12700">
            <a:solidFill>
              <a:srgbClr val="272A38"/>
            </a:solidFill>
            <a:prstDash val="solid"/>
          </a:ln>
        </p:spPr>
      </p:sp>
      <p:sp>
        <p:nvSpPr>
          <p:cNvPr id="56" name="Shape 54"/>
          <p:cNvSpPr/>
          <p:nvPr/>
        </p:nvSpPr>
        <p:spPr>
          <a:xfrm>
            <a:off x="7589520" y="3108960"/>
            <a:ext cx="310896" cy="310896"/>
          </a:xfrm>
          <a:prstGeom prst="ellipse">
            <a:avLst/>
          </a:prstGeom>
          <a:solidFill>
            <a:srgbClr val="272A38"/>
          </a:solidFill>
          <a:ln w="12700">
            <a:solidFill>
              <a:srgbClr val="272A38"/>
            </a:solidFill>
            <a:prstDash val="solid"/>
          </a:ln>
        </p:spPr>
      </p:sp>
      <p:sp>
        <p:nvSpPr>
          <p:cNvPr id="57" name="Shape 55"/>
          <p:cNvSpPr/>
          <p:nvPr/>
        </p:nvSpPr>
        <p:spPr>
          <a:xfrm>
            <a:off x="7991856" y="3108960"/>
            <a:ext cx="310896" cy="310896"/>
          </a:xfrm>
          <a:prstGeom prst="ellipse">
            <a:avLst/>
          </a:prstGeom>
          <a:solidFill>
            <a:srgbClr val="272A38"/>
          </a:solidFill>
          <a:ln w="12700">
            <a:solidFill>
              <a:srgbClr val="272A38"/>
            </a:solidFill>
            <a:prstDash val="solid"/>
          </a:ln>
        </p:spPr>
      </p:sp>
      <p:sp>
        <p:nvSpPr>
          <p:cNvPr id="58" name="Shape 56"/>
          <p:cNvSpPr/>
          <p:nvPr/>
        </p:nvSpPr>
        <p:spPr>
          <a:xfrm>
            <a:off x="8394192" y="3108960"/>
            <a:ext cx="310896" cy="310896"/>
          </a:xfrm>
          <a:prstGeom prst="ellipse">
            <a:avLst/>
          </a:prstGeom>
          <a:solidFill>
            <a:srgbClr val="272A38"/>
          </a:solidFill>
          <a:ln w="12700">
            <a:solidFill>
              <a:srgbClr val="272A38"/>
            </a:solidFill>
            <a:prstDash val="solid"/>
          </a:ln>
        </p:spPr>
      </p:sp>
      <p:sp>
        <p:nvSpPr>
          <p:cNvPr id="59" name="Shape 57"/>
          <p:cNvSpPr/>
          <p:nvPr/>
        </p:nvSpPr>
        <p:spPr>
          <a:xfrm>
            <a:off x="8796528" y="3108960"/>
            <a:ext cx="310896" cy="310896"/>
          </a:xfrm>
          <a:prstGeom prst="ellipse">
            <a:avLst/>
          </a:prstGeom>
          <a:solidFill>
            <a:srgbClr val="272A38"/>
          </a:solidFill>
          <a:ln w="12700">
            <a:solidFill>
              <a:srgbClr val="272A38"/>
            </a:solidFill>
            <a:prstDash val="solid"/>
          </a:ln>
        </p:spPr>
      </p:sp>
      <p:sp>
        <p:nvSpPr>
          <p:cNvPr id="60" name="Shape 58"/>
          <p:cNvSpPr/>
          <p:nvPr/>
        </p:nvSpPr>
        <p:spPr>
          <a:xfrm>
            <a:off x="9198864" y="3108960"/>
            <a:ext cx="310896" cy="310896"/>
          </a:xfrm>
          <a:prstGeom prst="ellipse">
            <a:avLst/>
          </a:prstGeom>
          <a:solidFill>
            <a:srgbClr val="272A38"/>
          </a:solidFill>
          <a:ln w="12700">
            <a:solidFill>
              <a:srgbClr val="272A38"/>
            </a:solidFill>
            <a:prstDash val="solid"/>
          </a:ln>
        </p:spPr>
      </p:sp>
      <p:sp>
        <p:nvSpPr>
          <p:cNvPr id="61" name="Shape 59"/>
          <p:cNvSpPr/>
          <p:nvPr/>
        </p:nvSpPr>
        <p:spPr>
          <a:xfrm>
            <a:off x="9601200" y="3108960"/>
            <a:ext cx="310896" cy="310896"/>
          </a:xfrm>
          <a:prstGeom prst="ellipse">
            <a:avLst/>
          </a:prstGeom>
          <a:solidFill>
            <a:srgbClr val="272A38"/>
          </a:solidFill>
          <a:ln w="12700">
            <a:solidFill>
              <a:srgbClr val="272A38"/>
            </a:solidFill>
            <a:prstDash val="solid"/>
          </a:ln>
        </p:spPr>
      </p:sp>
      <p:sp>
        <p:nvSpPr>
          <p:cNvPr id="62" name="Shape 60"/>
          <p:cNvSpPr/>
          <p:nvPr/>
        </p:nvSpPr>
        <p:spPr>
          <a:xfrm>
            <a:off x="10003536" y="3108960"/>
            <a:ext cx="310896" cy="310896"/>
          </a:xfrm>
          <a:prstGeom prst="ellipse">
            <a:avLst/>
          </a:prstGeom>
          <a:solidFill>
            <a:srgbClr val="272A38"/>
          </a:solidFill>
          <a:ln w="12700">
            <a:solidFill>
              <a:srgbClr val="272A38"/>
            </a:solidFill>
            <a:prstDash val="solid"/>
          </a:ln>
        </p:spPr>
      </p:sp>
      <p:sp>
        <p:nvSpPr>
          <p:cNvPr id="63" name="Shape 61"/>
          <p:cNvSpPr/>
          <p:nvPr/>
        </p:nvSpPr>
        <p:spPr>
          <a:xfrm>
            <a:off x="10405872" y="3108960"/>
            <a:ext cx="310896" cy="310896"/>
          </a:xfrm>
          <a:prstGeom prst="ellipse">
            <a:avLst/>
          </a:prstGeom>
          <a:solidFill>
            <a:srgbClr val="272A38"/>
          </a:solidFill>
          <a:ln w="12700">
            <a:solidFill>
              <a:srgbClr val="272A38"/>
            </a:solidFill>
            <a:prstDash val="solid"/>
          </a:ln>
        </p:spPr>
      </p:sp>
      <p:sp>
        <p:nvSpPr>
          <p:cNvPr id="64" name="Shape 62"/>
          <p:cNvSpPr/>
          <p:nvPr/>
        </p:nvSpPr>
        <p:spPr>
          <a:xfrm>
            <a:off x="10808208" y="3108960"/>
            <a:ext cx="310896" cy="310896"/>
          </a:xfrm>
          <a:prstGeom prst="ellipse">
            <a:avLst/>
          </a:prstGeom>
          <a:solidFill>
            <a:srgbClr val="272A38"/>
          </a:solidFill>
          <a:ln w="12700">
            <a:solidFill>
              <a:srgbClr val="272A38"/>
            </a:solidFill>
            <a:prstDash val="solid"/>
          </a:ln>
        </p:spPr>
      </p:sp>
      <p:sp>
        <p:nvSpPr>
          <p:cNvPr id="65" name="Shape 63"/>
          <p:cNvSpPr/>
          <p:nvPr/>
        </p:nvSpPr>
        <p:spPr>
          <a:xfrm>
            <a:off x="11210544" y="3108960"/>
            <a:ext cx="310896" cy="310896"/>
          </a:xfrm>
          <a:prstGeom prst="ellipse">
            <a:avLst/>
          </a:prstGeom>
          <a:solidFill>
            <a:srgbClr val="272A38"/>
          </a:solidFill>
          <a:ln w="12700">
            <a:solidFill>
              <a:srgbClr val="272A38"/>
            </a:solidFill>
            <a:prstDash val="solid"/>
          </a:ln>
        </p:spPr>
      </p:sp>
      <p:sp>
        <p:nvSpPr>
          <p:cNvPr id="66" name="Shape 64"/>
          <p:cNvSpPr/>
          <p:nvPr/>
        </p:nvSpPr>
        <p:spPr>
          <a:xfrm>
            <a:off x="7589520" y="3511296"/>
            <a:ext cx="310896" cy="310896"/>
          </a:xfrm>
          <a:prstGeom prst="ellipse">
            <a:avLst/>
          </a:prstGeom>
          <a:solidFill>
            <a:srgbClr val="272A38"/>
          </a:solidFill>
          <a:ln w="12700">
            <a:solidFill>
              <a:srgbClr val="272A38"/>
            </a:solidFill>
            <a:prstDash val="solid"/>
          </a:ln>
        </p:spPr>
      </p:sp>
      <p:sp>
        <p:nvSpPr>
          <p:cNvPr id="67" name="Shape 65"/>
          <p:cNvSpPr/>
          <p:nvPr/>
        </p:nvSpPr>
        <p:spPr>
          <a:xfrm>
            <a:off x="7991856" y="3511296"/>
            <a:ext cx="310896" cy="310896"/>
          </a:xfrm>
          <a:prstGeom prst="ellipse">
            <a:avLst/>
          </a:prstGeom>
          <a:solidFill>
            <a:srgbClr val="272A38"/>
          </a:solidFill>
          <a:ln w="12700">
            <a:solidFill>
              <a:srgbClr val="272A38"/>
            </a:solidFill>
            <a:prstDash val="solid"/>
          </a:ln>
        </p:spPr>
      </p:sp>
      <p:sp>
        <p:nvSpPr>
          <p:cNvPr id="68" name="Shape 66"/>
          <p:cNvSpPr/>
          <p:nvPr/>
        </p:nvSpPr>
        <p:spPr>
          <a:xfrm>
            <a:off x="8394192" y="3511296"/>
            <a:ext cx="310896" cy="310896"/>
          </a:xfrm>
          <a:prstGeom prst="ellipse">
            <a:avLst/>
          </a:prstGeom>
          <a:solidFill>
            <a:srgbClr val="272A38"/>
          </a:solidFill>
          <a:ln w="12700">
            <a:solidFill>
              <a:srgbClr val="272A38"/>
            </a:solidFill>
            <a:prstDash val="solid"/>
          </a:ln>
        </p:spPr>
      </p:sp>
      <p:sp>
        <p:nvSpPr>
          <p:cNvPr id="69" name="Shape 67"/>
          <p:cNvSpPr/>
          <p:nvPr/>
        </p:nvSpPr>
        <p:spPr>
          <a:xfrm>
            <a:off x="8796528" y="3511296"/>
            <a:ext cx="310896" cy="310896"/>
          </a:xfrm>
          <a:prstGeom prst="ellipse">
            <a:avLst/>
          </a:prstGeom>
          <a:solidFill>
            <a:srgbClr val="272A38"/>
          </a:solidFill>
          <a:ln w="12700">
            <a:solidFill>
              <a:srgbClr val="272A38"/>
            </a:solidFill>
            <a:prstDash val="solid"/>
          </a:ln>
        </p:spPr>
      </p:sp>
      <p:sp>
        <p:nvSpPr>
          <p:cNvPr id="70" name="Shape 68"/>
          <p:cNvSpPr/>
          <p:nvPr/>
        </p:nvSpPr>
        <p:spPr>
          <a:xfrm>
            <a:off x="9198864" y="3511296"/>
            <a:ext cx="310896" cy="310896"/>
          </a:xfrm>
          <a:prstGeom prst="ellipse">
            <a:avLst/>
          </a:prstGeom>
          <a:solidFill>
            <a:srgbClr val="272A38"/>
          </a:solidFill>
          <a:ln w="12700">
            <a:solidFill>
              <a:srgbClr val="272A38"/>
            </a:solidFill>
            <a:prstDash val="solid"/>
          </a:ln>
        </p:spPr>
      </p:sp>
      <p:sp>
        <p:nvSpPr>
          <p:cNvPr id="71" name="Shape 69"/>
          <p:cNvSpPr/>
          <p:nvPr/>
        </p:nvSpPr>
        <p:spPr>
          <a:xfrm>
            <a:off x="9601200" y="3511296"/>
            <a:ext cx="310896" cy="310896"/>
          </a:xfrm>
          <a:prstGeom prst="ellipse">
            <a:avLst/>
          </a:prstGeom>
          <a:solidFill>
            <a:srgbClr val="272A38"/>
          </a:solidFill>
          <a:ln w="12700">
            <a:solidFill>
              <a:srgbClr val="272A38"/>
            </a:solidFill>
            <a:prstDash val="solid"/>
          </a:ln>
        </p:spPr>
      </p:sp>
      <p:sp>
        <p:nvSpPr>
          <p:cNvPr id="72" name="Shape 70"/>
          <p:cNvSpPr/>
          <p:nvPr/>
        </p:nvSpPr>
        <p:spPr>
          <a:xfrm>
            <a:off x="10003536" y="3511296"/>
            <a:ext cx="310896" cy="310896"/>
          </a:xfrm>
          <a:prstGeom prst="ellipse">
            <a:avLst/>
          </a:prstGeom>
          <a:solidFill>
            <a:srgbClr val="272A38"/>
          </a:solidFill>
          <a:ln w="12700">
            <a:solidFill>
              <a:srgbClr val="272A38"/>
            </a:solidFill>
            <a:prstDash val="solid"/>
          </a:ln>
        </p:spPr>
      </p:sp>
      <p:sp>
        <p:nvSpPr>
          <p:cNvPr id="73" name="Shape 71"/>
          <p:cNvSpPr/>
          <p:nvPr/>
        </p:nvSpPr>
        <p:spPr>
          <a:xfrm>
            <a:off x="10405872" y="3511296"/>
            <a:ext cx="310896" cy="310896"/>
          </a:xfrm>
          <a:prstGeom prst="ellipse">
            <a:avLst/>
          </a:prstGeom>
          <a:solidFill>
            <a:srgbClr val="272A38"/>
          </a:solidFill>
          <a:ln w="12700">
            <a:solidFill>
              <a:srgbClr val="272A38"/>
            </a:solidFill>
            <a:prstDash val="solid"/>
          </a:ln>
        </p:spPr>
      </p:sp>
      <p:sp>
        <p:nvSpPr>
          <p:cNvPr id="74" name="Shape 72"/>
          <p:cNvSpPr/>
          <p:nvPr/>
        </p:nvSpPr>
        <p:spPr>
          <a:xfrm>
            <a:off x="10808208" y="3511296"/>
            <a:ext cx="310896" cy="310896"/>
          </a:xfrm>
          <a:prstGeom prst="ellipse">
            <a:avLst/>
          </a:prstGeom>
          <a:solidFill>
            <a:srgbClr val="272A38"/>
          </a:solidFill>
          <a:ln w="12700">
            <a:solidFill>
              <a:srgbClr val="272A38"/>
            </a:solidFill>
            <a:prstDash val="solid"/>
          </a:ln>
        </p:spPr>
      </p:sp>
      <p:sp>
        <p:nvSpPr>
          <p:cNvPr id="75" name="Shape 73"/>
          <p:cNvSpPr/>
          <p:nvPr/>
        </p:nvSpPr>
        <p:spPr>
          <a:xfrm>
            <a:off x="11210544" y="3511296"/>
            <a:ext cx="310896" cy="310896"/>
          </a:xfrm>
          <a:prstGeom prst="ellipse">
            <a:avLst/>
          </a:prstGeom>
          <a:solidFill>
            <a:srgbClr val="272A38"/>
          </a:solidFill>
          <a:ln w="12700">
            <a:solidFill>
              <a:srgbClr val="272A38"/>
            </a:solidFill>
            <a:prstDash val="solid"/>
          </a:ln>
        </p:spPr>
      </p:sp>
      <p:sp>
        <p:nvSpPr>
          <p:cNvPr id="76" name="Shape 74"/>
          <p:cNvSpPr/>
          <p:nvPr/>
        </p:nvSpPr>
        <p:spPr>
          <a:xfrm>
            <a:off x="7589520" y="3913632"/>
            <a:ext cx="310896" cy="310896"/>
          </a:xfrm>
          <a:prstGeom prst="ellipse">
            <a:avLst/>
          </a:prstGeom>
          <a:solidFill>
            <a:srgbClr val="272A38"/>
          </a:solidFill>
          <a:ln w="12700">
            <a:solidFill>
              <a:srgbClr val="272A38"/>
            </a:solidFill>
            <a:prstDash val="solid"/>
          </a:ln>
        </p:spPr>
      </p:sp>
      <p:sp>
        <p:nvSpPr>
          <p:cNvPr id="77" name="Shape 75"/>
          <p:cNvSpPr/>
          <p:nvPr/>
        </p:nvSpPr>
        <p:spPr>
          <a:xfrm>
            <a:off x="7991856" y="3913632"/>
            <a:ext cx="310896" cy="310896"/>
          </a:xfrm>
          <a:prstGeom prst="ellipse">
            <a:avLst/>
          </a:prstGeom>
          <a:solidFill>
            <a:srgbClr val="272A38"/>
          </a:solidFill>
          <a:ln w="12700">
            <a:solidFill>
              <a:srgbClr val="272A38"/>
            </a:solidFill>
            <a:prstDash val="solid"/>
          </a:ln>
        </p:spPr>
      </p:sp>
      <p:sp>
        <p:nvSpPr>
          <p:cNvPr id="78" name="Shape 76"/>
          <p:cNvSpPr/>
          <p:nvPr/>
        </p:nvSpPr>
        <p:spPr>
          <a:xfrm>
            <a:off x="8394192" y="3913632"/>
            <a:ext cx="310896" cy="310896"/>
          </a:xfrm>
          <a:prstGeom prst="ellipse">
            <a:avLst/>
          </a:prstGeom>
          <a:solidFill>
            <a:srgbClr val="272A38"/>
          </a:solidFill>
          <a:ln w="12700">
            <a:solidFill>
              <a:srgbClr val="272A38"/>
            </a:solidFill>
            <a:prstDash val="solid"/>
          </a:ln>
        </p:spPr>
      </p:sp>
      <p:sp>
        <p:nvSpPr>
          <p:cNvPr id="79" name="Shape 77"/>
          <p:cNvSpPr/>
          <p:nvPr/>
        </p:nvSpPr>
        <p:spPr>
          <a:xfrm>
            <a:off x="8796528" y="3913632"/>
            <a:ext cx="310896" cy="310896"/>
          </a:xfrm>
          <a:prstGeom prst="ellipse">
            <a:avLst/>
          </a:prstGeom>
          <a:solidFill>
            <a:srgbClr val="272A38"/>
          </a:solidFill>
          <a:ln w="12700">
            <a:solidFill>
              <a:srgbClr val="272A38"/>
            </a:solidFill>
            <a:prstDash val="solid"/>
          </a:ln>
        </p:spPr>
      </p:sp>
      <p:sp>
        <p:nvSpPr>
          <p:cNvPr id="80" name="Shape 78"/>
          <p:cNvSpPr/>
          <p:nvPr/>
        </p:nvSpPr>
        <p:spPr>
          <a:xfrm>
            <a:off x="9198864" y="3913632"/>
            <a:ext cx="310896" cy="310896"/>
          </a:xfrm>
          <a:prstGeom prst="ellipse">
            <a:avLst/>
          </a:prstGeom>
          <a:solidFill>
            <a:srgbClr val="272A38"/>
          </a:solidFill>
          <a:ln w="12700">
            <a:solidFill>
              <a:srgbClr val="272A38"/>
            </a:solidFill>
            <a:prstDash val="solid"/>
          </a:ln>
        </p:spPr>
      </p:sp>
      <p:sp>
        <p:nvSpPr>
          <p:cNvPr id="81" name="Shape 79"/>
          <p:cNvSpPr/>
          <p:nvPr/>
        </p:nvSpPr>
        <p:spPr>
          <a:xfrm>
            <a:off x="9601200" y="3913632"/>
            <a:ext cx="310896" cy="310896"/>
          </a:xfrm>
          <a:prstGeom prst="ellipse">
            <a:avLst/>
          </a:prstGeom>
          <a:solidFill>
            <a:srgbClr val="272A38"/>
          </a:solidFill>
          <a:ln w="12700">
            <a:solidFill>
              <a:srgbClr val="272A38"/>
            </a:solidFill>
            <a:prstDash val="solid"/>
          </a:ln>
        </p:spPr>
      </p:sp>
      <p:sp>
        <p:nvSpPr>
          <p:cNvPr id="82" name="Shape 80"/>
          <p:cNvSpPr/>
          <p:nvPr/>
        </p:nvSpPr>
        <p:spPr>
          <a:xfrm>
            <a:off x="10003536" y="3913632"/>
            <a:ext cx="310896" cy="310896"/>
          </a:xfrm>
          <a:prstGeom prst="ellipse">
            <a:avLst/>
          </a:prstGeom>
          <a:solidFill>
            <a:srgbClr val="272A38"/>
          </a:solidFill>
          <a:ln w="12700">
            <a:solidFill>
              <a:srgbClr val="272A38"/>
            </a:solidFill>
            <a:prstDash val="solid"/>
          </a:ln>
        </p:spPr>
      </p:sp>
      <p:sp>
        <p:nvSpPr>
          <p:cNvPr id="83" name="Shape 81"/>
          <p:cNvSpPr/>
          <p:nvPr/>
        </p:nvSpPr>
        <p:spPr>
          <a:xfrm>
            <a:off x="10405872" y="3913632"/>
            <a:ext cx="310896" cy="310896"/>
          </a:xfrm>
          <a:prstGeom prst="ellipse">
            <a:avLst/>
          </a:prstGeom>
          <a:solidFill>
            <a:srgbClr val="272A38"/>
          </a:solidFill>
          <a:ln w="12700">
            <a:solidFill>
              <a:srgbClr val="272A38"/>
            </a:solidFill>
            <a:prstDash val="solid"/>
          </a:ln>
        </p:spPr>
      </p:sp>
      <p:sp>
        <p:nvSpPr>
          <p:cNvPr id="84" name="Shape 82"/>
          <p:cNvSpPr/>
          <p:nvPr/>
        </p:nvSpPr>
        <p:spPr>
          <a:xfrm>
            <a:off x="10808208" y="3913632"/>
            <a:ext cx="310896" cy="310896"/>
          </a:xfrm>
          <a:prstGeom prst="ellipse">
            <a:avLst/>
          </a:prstGeom>
          <a:solidFill>
            <a:srgbClr val="272A38"/>
          </a:solidFill>
          <a:ln w="12700">
            <a:solidFill>
              <a:srgbClr val="272A38"/>
            </a:solidFill>
            <a:prstDash val="solid"/>
          </a:ln>
        </p:spPr>
      </p:sp>
      <p:sp>
        <p:nvSpPr>
          <p:cNvPr id="85" name="Shape 83"/>
          <p:cNvSpPr/>
          <p:nvPr/>
        </p:nvSpPr>
        <p:spPr>
          <a:xfrm>
            <a:off x="11210544" y="3913632"/>
            <a:ext cx="310896" cy="310896"/>
          </a:xfrm>
          <a:prstGeom prst="ellipse">
            <a:avLst/>
          </a:prstGeom>
          <a:solidFill>
            <a:srgbClr val="272A38"/>
          </a:solidFill>
          <a:ln w="12700">
            <a:solidFill>
              <a:srgbClr val="272A38"/>
            </a:solidFill>
            <a:prstDash val="solid"/>
          </a:ln>
        </p:spPr>
      </p:sp>
      <p:sp>
        <p:nvSpPr>
          <p:cNvPr id="86" name="Shape 84"/>
          <p:cNvSpPr/>
          <p:nvPr/>
        </p:nvSpPr>
        <p:spPr>
          <a:xfrm>
            <a:off x="7589520" y="4315968"/>
            <a:ext cx="310896" cy="310896"/>
          </a:xfrm>
          <a:prstGeom prst="ellipse">
            <a:avLst/>
          </a:prstGeom>
          <a:solidFill>
            <a:srgbClr val="272A38"/>
          </a:solidFill>
          <a:ln w="12700">
            <a:solidFill>
              <a:srgbClr val="272A38"/>
            </a:solidFill>
            <a:prstDash val="solid"/>
          </a:ln>
        </p:spPr>
      </p:sp>
      <p:sp>
        <p:nvSpPr>
          <p:cNvPr id="87" name="Shape 85"/>
          <p:cNvSpPr/>
          <p:nvPr/>
        </p:nvSpPr>
        <p:spPr>
          <a:xfrm>
            <a:off x="7991856" y="4315968"/>
            <a:ext cx="310896" cy="310896"/>
          </a:xfrm>
          <a:prstGeom prst="ellipse">
            <a:avLst/>
          </a:prstGeom>
          <a:solidFill>
            <a:srgbClr val="272A38"/>
          </a:solidFill>
          <a:ln w="12700">
            <a:solidFill>
              <a:srgbClr val="272A38"/>
            </a:solidFill>
            <a:prstDash val="solid"/>
          </a:ln>
        </p:spPr>
      </p:sp>
      <p:sp>
        <p:nvSpPr>
          <p:cNvPr id="88" name="Shape 86"/>
          <p:cNvSpPr/>
          <p:nvPr/>
        </p:nvSpPr>
        <p:spPr>
          <a:xfrm>
            <a:off x="8394192" y="4315968"/>
            <a:ext cx="310896" cy="310896"/>
          </a:xfrm>
          <a:prstGeom prst="ellipse">
            <a:avLst/>
          </a:prstGeom>
          <a:solidFill>
            <a:srgbClr val="272A38"/>
          </a:solidFill>
          <a:ln w="12700">
            <a:solidFill>
              <a:srgbClr val="272A38"/>
            </a:solidFill>
            <a:prstDash val="solid"/>
          </a:ln>
        </p:spPr>
      </p:sp>
      <p:sp>
        <p:nvSpPr>
          <p:cNvPr id="89" name="Shape 87"/>
          <p:cNvSpPr/>
          <p:nvPr/>
        </p:nvSpPr>
        <p:spPr>
          <a:xfrm>
            <a:off x="8796528" y="4315968"/>
            <a:ext cx="310896" cy="310896"/>
          </a:xfrm>
          <a:prstGeom prst="ellipse">
            <a:avLst/>
          </a:prstGeom>
          <a:solidFill>
            <a:srgbClr val="272A38"/>
          </a:solidFill>
          <a:ln w="12700">
            <a:solidFill>
              <a:srgbClr val="272A38"/>
            </a:solidFill>
            <a:prstDash val="solid"/>
          </a:ln>
        </p:spPr>
      </p:sp>
      <p:sp>
        <p:nvSpPr>
          <p:cNvPr id="90" name="Shape 88"/>
          <p:cNvSpPr/>
          <p:nvPr/>
        </p:nvSpPr>
        <p:spPr>
          <a:xfrm>
            <a:off x="9198864" y="4315968"/>
            <a:ext cx="310896" cy="310896"/>
          </a:xfrm>
          <a:prstGeom prst="ellipse">
            <a:avLst/>
          </a:prstGeom>
          <a:solidFill>
            <a:srgbClr val="272A38"/>
          </a:solidFill>
          <a:ln w="12700">
            <a:solidFill>
              <a:srgbClr val="272A38"/>
            </a:solidFill>
            <a:prstDash val="solid"/>
          </a:ln>
        </p:spPr>
      </p:sp>
      <p:sp>
        <p:nvSpPr>
          <p:cNvPr id="91" name="Shape 89"/>
          <p:cNvSpPr/>
          <p:nvPr/>
        </p:nvSpPr>
        <p:spPr>
          <a:xfrm>
            <a:off x="9601200" y="4315968"/>
            <a:ext cx="310896" cy="310896"/>
          </a:xfrm>
          <a:prstGeom prst="ellipse">
            <a:avLst/>
          </a:prstGeom>
          <a:solidFill>
            <a:srgbClr val="272A38"/>
          </a:solidFill>
          <a:ln w="12700">
            <a:solidFill>
              <a:srgbClr val="272A38"/>
            </a:solidFill>
            <a:prstDash val="solid"/>
          </a:ln>
        </p:spPr>
      </p:sp>
      <p:sp>
        <p:nvSpPr>
          <p:cNvPr id="92" name="Shape 90"/>
          <p:cNvSpPr/>
          <p:nvPr/>
        </p:nvSpPr>
        <p:spPr>
          <a:xfrm>
            <a:off x="10003536" y="4315968"/>
            <a:ext cx="310896" cy="310896"/>
          </a:xfrm>
          <a:prstGeom prst="ellipse">
            <a:avLst/>
          </a:prstGeom>
          <a:solidFill>
            <a:srgbClr val="272A38"/>
          </a:solidFill>
          <a:ln w="12700">
            <a:solidFill>
              <a:srgbClr val="272A38"/>
            </a:solidFill>
            <a:prstDash val="solid"/>
          </a:ln>
        </p:spPr>
      </p:sp>
      <p:sp>
        <p:nvSpPr>
          <p:cNvPr id="93" name="Shape 91"/>
          <p:cNvSpPr/>
          <p:nvPr/>
        </p:nvSpPr>
        <p:spPr>
          <a:xfrm>
            <a:off x="10405872" y="4315968"/>
            <a:ext cx="310896" cy="310896"/>
          </a:xfrm>
          <a:prstGeom prst="ellipse">
            <a:avLst/>
          </a:prstGeom>
          <a:solidFill>
            <a:srgbClr val="272A38"/>
          </a:solidFill>
          <a:ln w="12700">
            <a:solidFill>
              <a:srgbClr val="272A38"/>
            </a:solidFill>
            <a:prstDash val="solid"/>
          </a:ln>
        </p:spPr>
      </p:sp>
      <p:sp>
        <p:nvSpPr>
          <p:cNvPr id="94" name="Shape 92"/>
          <p:cNvSpPr/>
          <p:nvPr/>
        </p:nvSpPr>
        <p:spPr>
          <a:xfrm>
            <a:off x="10808208" y="4315968"/>
            <a:ext cx="310896" cy="310896"/>
          </a:xfrm>
          <a:prstGeom prst="ellipse">
            <a:avLst/>
          </a:prstGeom>
          <a:solidFill>
            <a:srgbClr val="272A38"/>
          </a:solidFill>
          <a:ln w="12700">
            <a:solidFill>
              <a:srgbClr val="272A38"/>
            </a:solidFill>
            <a:prstDash val="solid"/>
          </a:ln>
        </p:spPr>
      </p:sp>
      <p:sp>
        <p:nvSpPr>
          <p:cNvPr id="95" name="Shape 93"/>
          <p:cNvSpPr/>
          <p:nvPr/>
        </p:nvSpPr>
        <p:spPr>
          <a:xfrm>
            <a:off x="11210544" y="4315968"/>
            <a:ext cx="310896" cy="310896"/>
          </a:xfrm>
          <a:prstGeom prst="ellipse">
            <a:avLst/>
          </a:prstGeom>
          <a:solidFill>
            <a:srgbClr val="272A38"/>
          </a:solidFill>
          <a:ln w="12700">
            <a:solidFill>
              <a:srgbClr val="272A38"/>
            </a:solidFill>
            <a:prstDash val="solid"/>
          </a:ln>
        </p:spPr>
      </p:sp>
      <p:sp>
        <p:nvSpPr>
          <p:cNvPr id="96" name="Shape 94"/>
          <p:cNvSpPr/>
          <p:nvPr/>
        </p:nvSpPr>
        <p:spPr>
          <a:xfrm>
            <a:off x="7589520" y="4718304"/>
            <a:ext cx="310896" cy="310896"/>
          </a:xfrm>
          <a:prstGeom prst="ellipse">
            <a:avLst/>
          </a:prstGeom>
          <a:solidFill>
            <a:srgbClr val="272A38"/>
          </a:solidFill>
          <a:ln w="12700">
            <a:solidFill>
              <a:srgbClr val="272A38"/>
            </a:solidFill>
            <a:prstDash val="solid"/>
          </a:ln>
        </p:spPr>
      </p:sp>
      <p:sp>
        <p:nvSpPr>
          <p:cNvPr id="97" name="Shape 95"/>
          <p:cNvSpPr/>
          <p:nvPr/>
        </p:nvSpPr>
        <p:spPr>
          <a:xfrm>
            <a:off x="7991856" y="4718304"/>
            <a:ext cx="310896" cy="310896"/>
          </a:xfrm>
          <a:prstGeom prst="ellipse">
            <a:avLst/>
          </a:prstGeom>
          <a:solidFill>
            <a:srgbClr val="272A38"/>
          </a:solidFill>
          <a:ln w="12700">
            <a:solidFill>
              <a:srgbClr val="272A38"/>
            </a:solidFill>
            <a:prstDash val="solid"/>
          </a:ln>
        </p:spPr>
      </p:sp>
      <p:sp>
        <p:nvSpPr>
          <p:cNvPr id="98" name="Shape 96"/>
          <p:cNvSpPr/>
          <p:nvPr/>
        </p:nvSpPr>
        <p:spPr>
          <a:xfrm>
            <a:off x="8394192" y="4718304"/>
            <a:ext cx="310896" cy="310896"/>
          </a:xfrm>
          <a:prstGeom prst="ellipse">
            <a:avLst/>
          </a:prstGeom>
          <a:solidFill>
            <a:srgbClr val="272A38"/>
          </a:solidFill>
          <a:ln w="12700">
            <a:solidFill>
              <a:srgbClr val="272A38"/>
            </a:solidFill>
            <a:prstDash val="solid"/>
          </a:ln>
        </p:spPr>
      </p:sp>
      <p:sp>
        <p:nvSpPr>
          <p:cNvPr id="99" name="Shape 97"/>
          <p:cNvSpPr/>
          <p:nvPr/>
        </p:nvSpPr>
        <p:spPr>
          <a:xfrm>
            <a:off x="8796528" y="4718304"/>
            <a:ext cx="310896" cy="310896"/>
          </a:xfrm>
          <a:prstGeom prst="ellipse">
            <a:avLst/>
          </a:prstGeom>
          <a:solidFill>
            <a:srgbClr val="272A38"/>
          </a:solidFill>
          <a:ln w="12700">
            <a:solidFill>
              <a:srgbClr val="272A38"/>
            </a:solidFill>
            <a:prstDash val="solid"/>
          </a:ln>
        </p:spPr>
      </p:sp>
      <p:sp>
        <p:nvSpPr>
          <p:cNvPr id="100" name="Shape 98"/>
          <p:cNvSpPr/>
          <p:nvPr/>
        </p:nvSpPr>
        <p:spPr>
          <a:xfrm>
            <a:off x="9198864" y="4718304"/>
            <a:ext cx="310896" cy="310896"/>
          </a:xfrm>
          <a:prstGeom prst="ellipse">
            <a:avLst/>
          </a:prstGeom>
          <a:solidFill>
            <a:srgbClr val="272A38"/>
          </a:solidFill>
          <a:ln w="12700">
            <a:solidFill>
              <a:srgbClr val="272A38"/>
            </a:solidFill>
            <a:prstDash val="solid"/>
          </a:ln>
        </p:spPr>
      </p:sp>
      <p:sp>
        <p:nvSpPr>
          <p:cNvPr id="101" name="Shape 99"/>
          <p:cNvSpPr/>
          <p:nvPr/>
        </p:nvSpPr>
        <p:spPr>
          <a:xfrm>
            <a:off x="9601200" y="4718304"/>
            <a:ext cx="310896" cy="310896"/>
          </a:xfrm>
          <a:prstGeom prst="ellipse">
            <a:avLst/>
          </a:prstGeom>
          <a:solidFill>
            <a:srgbClr val="272A38"/>
          </a:solidFill>
          <a:ln w="12700">
            <a:solidFill>
              <a:srgbClr val="272A38"/>
            </a:solidFill>
            <a:prstDash val="solid"/>
          </a:ln>
        </p:spPr>
      </p:sp>
      <p:sp>
        <p:nvSpPr>
          <p:cNvPr id="102" name="Shape 100"/>
          <p:cNvSpPr/>
          <p:nvPr/>
        </p:nvSpPr>
        <p:spPr>
          <a:xfrm>
            <a:off x="10003536" y="4718304"/>
            <a:ext cx="310896" cy="310896"/>
          </a:xfrm>
          <a:prstGeom prst="ellipse">
            <a:avLst/>
          </a:prstGeom>
          <a:solidFill>
            <a:srgbClr val="272A38"/>
          </a:solidFill>
          <a:ln w="12700">
            <a:solidFill>
              <a:srgbClr val="272A38"/>
            </a:solidFill>
            <a:prstDash val="solid"/>
          </a:ln>
        </p:spPr>
      </p:sp>
      <p:sp>
        <p:nvSpPr>
          <p:cNvPr id="103" name="Shape 101"/>
          <p:cNvSpPr/>
          <p:nvPr/>
        </p:nvSpPr>
        <p:spPr>
          <a:xfrm>
            <a:off x="10405872" y="4718304"/>
            <a:ext cx="310896" cy="310896"/>
          </a:xfrm>
          <a:prstGeom prst="ellipse">
            <a:avLst/>
          </a:prstGeom>
          <a:solidFill>
            <a:srgbClr val="272A38"/>
          </a:solidFill>
          <a:ln w="12700">
            <a:solidFill>
              <a:srgbClr val="272A38"/>
            </a:solidFill>
            <a:prstDash val="solid"/>
          </a:ln>
        </p:spPr>
      </p:sp>
      <p:sp>
        <p:nvSpPr>
          <p:cNvPr id="104" name="Shape 102"/>
          <p:cNvSpPr/>
          <p:nvPr/>
        </p:nvSpPr>
        <p:spPr>
          <a:xfrm>
            <a:off x="10808208" y="4718304"/>
            <a:ext cx="310896" cy="310896"/>
          </a:xfrm>
          <a:prstGeom prst="ellipse">
            <a:avLst/>
          </a:prstGeom>
          <a:solidFill>
            <a:srgbClr val="272A38"/>
          </a:solidFill>
          <a:ln w="12700">
            <a:solidFill>
              <a:srgbClr val="272A38"/>
            </a:solidFill>
            <a:prstDash val="solid"/>
          </a:ln>
        </p:spPr>
      </p:sp>
      <p:sp>
        <p:nvSpPr>
          <p:cNvPr id="105" name="Shape 103"/>
          <p:cNvSpPr/>
          <p:nvPr/>
        </p:nvSpPr>
        <p:spPr>
          <a:xfrm>
            <a:off x="11210544" y="4718304"/>
            <a:ext cx="310896" cy="310896"/>
          </a:xfrm>
          <a:prstGeom prst="ellipse">
            <a:avLst/>
          </a:prstGeom>
          <a:solidFill>
            <a:srgbClr val="272A38"/>
          </a:solidFill>
          <a:ln w="12700">
            <a:solidFill>
              <a:srgbClr val="272A38"/>
            </a:solidFill>
            <a:prstDash val="solid"/>
          </a:ln>
        </p:spPr>
      </p:sp>
      <p:sp>
        <p:nvSpPr>
          <p:cNvPr id="106" name="Text 10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Fanelli, 2009 (registru A733, A734).</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SPUN DESPRE COLEGI</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FFC24B"/>
                </a:solidFill>
                <a:latin typeface="Palatino Linotype" pitchFamily="34" charset="0"/>
                <a:ea typeface="Palatino Linotype" pitchFamily="34" charset="-122"/>
                <a:cs typeface="Palatino Linotype" pitchFamily="34" charset="-120"/>
              </a:rPr>
              <a:t>14 din 100</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au spus că au văzut așa ceva la colegii lor</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De ce diferă cifrele? Fanelli amintește un tipar care poate explica diferența: oamenii se văd mai cinstiți decât colegii lor, așa-numitul „efect Muhammad Ali”.</a:t>
            </a:r>
            <a:endParaRPr lang="en-US" sz="1700" dirty="0"/>
          </a:p>
        </p:txBody>
      </p:sp>
      <p:sp>
        <p:nvSpPr>
          <p:cNvPr id="6" name="Shape 4"/>
          <p:cNvSpPr/>
          <p:nvPr/>
        </p:nvSpPr>
        <p:spPr>
          <a:xfrm>
            <a:off x="7589520" y="1097280"/>
            <a:ext cx="310896" cy="310896"/>
          </a:xfrm>
          <a:prstGeom prst="ellipse">
            <a:avLst/>
          </a:prstGeom>
          <a:solidFill>
            <a:srgbClr val="FFC24B"/>
          </a:solidFill>
          <a:ln w="12700">
            <a:solidFill>
              <a:srgbClr val="FFC24B"/>
            </a:solidFill>
            <a:prstDash val="solid"/>
          </a:ln>
        </p:spPr>
      </p:sp>
      <p:sp>
        <p:nvSpPr>
          <p:cNvPr id="7" name="Shape 5"/>
          <p:cNvSpPr/>
          <p:nvPr/>
        </p:nvSpPr>
        <p:spPr>
          <a:xfrm>
            <a:off x="7991856" y="1097280"/>
            <a:ext cx="310896" cy="310896"/>
          </a:xfrm>
          <a:prstGeom prst="ellipse">
            <a:avLst/>
          </a:prstGeom>
          <a:solidFill>
            <a:srgbClr val="FFC24B"/>
          </a:solidFill>
          <a:ln w="12700">
            <a:solidFill>
              <a:srgbClr val="FFC24B"/>
            </a:solidFill>
            <a:prstDash val="solid"/>
          </a:ln>
        </p:spPr>
      </p:sp>
      <p:sp>
        <p:nvSpPr>
          <p:cNvPr id="8" name="Shape 6"/>
          <p:cNvSpPr/>
          <p:nvPr/>
        </p:nvSpPr>
        <p:spPr>
          <a:xfrm>
            <a:off x="8394192" y="1097280"/>
            <a:ext cx="310896" cy="310896"/>
          </a:xfrm>
          <a:prstGeom prst="ellipse">
            <a:avLst/>
          </a:prstGeom>
          <a:solidFill>
            <a:srgbClr val="FFC24B"/>
          </a:solidFill>
          <a:ln w="12700">
            <a:solidFill>
              <a:srgbClr val="FFC24B"/>
            </a:solidFill>
            <a:prstDash val="solid"/>
          </a:ln>
        </p:spPr>
      </p:sp>
      <p:sp>
        <p:nvSpPr>
          <p:cNvPr id="9" name="Shape 7"/>
          <p:cNvSpPr/>
          <p:nvPr/>
        </p:nvSpPr>
        <p:spPr>
          <a:xfrm>
            <a:off x="8796528" y="1097280"/>
            <a:ext cx="310896" cy="310896"/>
          </a:xfrm>
          <a:prstGeom prst="ellipse">
            <a:avLst/>
          </a:prstGeom>
          <a:solidFill>
            <a:srgbClr val="FFC24B"/>
          </a:solidFill>
          <a:ln w="12700">
            <a:solidFill>
              <a:srgbClr val="FFC24B"/>
            </a:solidFill>
            <a:prstDash val="solid"/>
          </a:ln>
        </p:spPr>
      </p:sp>
      <p:sp>
        <p:nvSpPr>
          <p:cNvPr id="10" name="Shape 8"/>
          <p:cNvSpPr/>
          <p:nvPr/>
        </p:nvSpPr>
        <p:spPr>
          <a:xfrm>
            <a:off x="9198864" y="1097280"/>
            <a:ext cx="310896" cy="310896"/>
          </a:xfrm>
          <a:prstGeom prst="ellipse">
            <a:avLst/>
          </a:prstGeom>
          <a:solidFill>
            <a:srgbClr val="FFC24B"/>
          </a:solidFill>
          <a:ln w="12700">
            <a:solidFill>
              <a:srgbClr val="FFC24B"/>
            </a:solidFill>
            <a:prstDash val="solid"/>
          </a:ln>
        </p:spPr>
      </p:sp>
      <p:sp>
        <p:nvSpPr>
          <p:cNvPr id="11" name="Shape 9"/>
          <p:cNvSpPr/>
          <p:nvPr/>
        </p:nvSpPr>
        <p:spPr>
          <a:xfrm>
            <a:off x="9601200" y="1097280"/>
            <a:ext cx="310896" cy="310896"/>
          </a:xfrm>
          <a:prstGeom prst="ellipse">
            <a:avLst/>
          </a:prstGeom>
          <a:solidFill>
            <a:srgbClr val="FFC24B"/>
          </a:solidFill>
          <a:ln w="12700">
            <a:solidFill>
              <a:srgbClr val="FFC24B"/>
            </a:solidFill>
            <a:prstDash val="solid"/>
          </a:ln>
        </p:spPr>
      </p:sp>
      <p:sp>
        <p:nvSpPr>
          <p:cNvPr id="12" name="Shape 10"/>
          <p:cNvSpPr/>
          <p:nvPr/>
        </p:nvSpPr>
        <p:spPr>
          <a:xfrm>
            <a:off x="10003536" y="1097280"/>
            <a:ext cx="310896" cy="310896"/>
          </a:xfrm>
          <a:prstGeom prst="ellipse">
            <a:avLst/>
          </a:prstGeom>
          <a:solidFill>
            <a:srgbClr val="FFC24B"/>
          </a:solidFill>
          <a:ln w="12700">
            <a:solidFill>
              <a:srgbClr val="FFC24B"/>
            </a:solidFill>
            <a:prstDash val="solid"/>
          </a:ln>
        </p:spPr>
      </p:sp>
      <p:sp>
        <p:nvSpPr>
          <p:cNvPr id="13" name="Shape 11"/>
          <p:cNvSpPr/>
          <p:nvPr/>
        </p:nvSpPr>
        <p:spPr>
          <a:xfrm>
            <a:off x="10405872" y="1097280"/>
            <a:ext cx="310896" cy="310896"/>
          </a:xfrm>
          <a:prstGeom prst="ellipse">
            <a:avLst/>
          </a:prstGeom>
          <a:solidFill>
            <a:srgbClr val="FFC24B"/>
          </a:solidFill>
          <a:ln w="12700">
            <a:solidFill>
              <a:srgbClr val="FFC24B"/>
            </a:solidFill>
            <a:prstDash val="solid"/>
          </a:ln>
        </p:spPr>
      </p:sp>
      <p:sp>
        <p:nvSpPr>
          <p:cNvPr id="14" name="Shape 12"/>
          <p:cNvSpPr/>
          <p:nvPr/>
        </p:nvSpPr>
        <p:spPr>
          <a:xfrm>
            <a:off x="10808208" y="1097280"/>
            <a:ext cx="310896" cy="310896"/>
          </a:xfrm>
          <a:prstGeom prst="ellipse">
            <a:avLst/>
          </a:prstGeom>
          <a:solidFill>
            <a:srgbClr val="FFC24B"/>
          </a:solidFill>
          <a:ln w="12700">
            <a:solidFill>
              <a:srgbClr val="FFC24B"/>
            </a:solidFill>
            <a:prstDash val="solid"/>
          </a:ln>
        </p:spPr>
      </p:sp>
      <p:sp>
        <p:nvSpPr>
          <p:cNvPr id="15" name="Shape 13"/>
          <p:cNvSpPr/>
          <p:nvPr/>
        </p:nvSpPr>
        <p:spPr>
          <a:xfrm>
            <a:off x="11210544" y="1097280"/>
            <a:ext cx="310896" cy="310896"/>
          </a:xfrm>
          <a:prstGeom prst="ellipse">
            <a:avLst/>
          </a:prstGeom>
          <a:solidFill>
            <a:srgbClr val="FFC24B"/>
          </a:solidFill>
          <a:ln w="12700">
            <a:solidFill>
              <a:srgbClr val="FFC24B"/>
            </a:solidFill>
            <a:prstDash val="solid"/>
          </a:ln>
        </p:spPr>
      </p:sp>
      <p:sp>
        <p:nvSpPr>
          <p:cNvPr id="16" name="Shape 14"/>
          <p:cNvSpPr/>
          <p:nvPr/>
        </p:nvSpPr>
        <p:spPr>
          <a:xfrm>
            <a:off x="7589520" y="1499616"/>
            <a:ext cx="310896" cy="310896"/>
          </a:xfrm>
          <a:prstGeom prst="ellipse">
            <a:avLst/>
          </a:prstGeom>
          <a:solidFill>
            <a:srgbClr val="FFC24B"/>
          </a:solidFill>
          <a:ln w="12700">
            <a:solidFill>
              <a:srgbClr val="FFC24B"/>
            </a:solidFill>
            <a:prstDash val="solid"/>
          </a:ln>
        </p:spPr>
      </p:sp>
      <p:sp>
        <p:nvSpPr>
          <p:cNvPr id="17" name="Shape 15"/>
          <p:cNvSpPr/>
          <p:nvPr/>
        </p:nvSpPr>
        <p:spPr>
          <a:xfrm>
            <a:off x="7991856" y="1499616"/>
            <a:ext cx="310896" cy="310896"/>
          </a:xfrm>
          <a:prstGeom prst="ellipse">
            <a:avLst/>
          </a:prstGeom>
          <a:solidFill>
            <a:srgbClr val="FFC24B"/>
          </a:solidFill>
          <a:ln w="12700">
            <a:solidFill>
              <a:srgbClr val="FFC24B"/>
            </a:solidFill>
            <a:prstDash val="solid"/>
          </a:ln>
        </p:spPr>
      </p:sp>
      <p:sp>
        <p:nvSpPr>
          <p:cNvPr id="18" name="Shape 16"/>
          <p:cNvSpPr/>
          <p:nvPr/>
        </p:nvSpPr>
        <p:spPr>
          <a:xfrm>
            <a:off x="8394192" y="1499616"/>
            <a:ext cx="310896" cy="310896"/>
          </a:xfrm>
          <a:prstGeom prst="ellipse">
            <a:avLst/>
          </a:prstGeom>
          <a:solidFill>
            <a:srgbClr val="FFC24B"/>
          </a:solidFill>
          <a:ln w="12700">
            <a:solidFill>
              <a:srgbClr val="FFC24B"/>
            </a:solidFill>
            <a:prstDash val="solid"/>
          </a:ln>
        </p:spPr>
      </p:sp>
      <p:sp>
        <p:nvSpPr>
          <p:cNvPr id="19" name="Shape 17"/>
          <p:cNvSpPr/>
          <p:nvPr/>
        </p:nvSpPr>
        <p:spPr>
          <a:xfrm>
            <a:off x="8796528" y="1499616"/>
            <a:ext cx="310896" cy="310896"/>
          </a:xfrm>
          <a:prstGeom prst="ellipse">
            <a:avLst/>
          </a:prstGeom>
          <a:solidFill>
            <a:srgbClr val="FFC24B"/>
          </a:solidFill>
          <a:ln w="12700">
            <a:solidFill>
              <a:srgbClr val="FFC24B"/>
            </a:solidFill>
            <a:prstDash val="solid"/>
          </a:ln>
        </p:spPr>
      </p:sp>
      <p:sp>
        <p:nvSpPr>
          <p:cNvPr id="20" name="Shape 18"/>
          <p:cNvSpPr/>
          <p:nvPr/>
        </p:nvSpPr>
        <p:spPr>
          <a:xfrm>
            <a:off x="9198864" y="1499616"/>
            <a:ext cx="310896" cy="310896"/>
          </a:xfrm>
          <a:prstGeom prst="ellipse">
            <a:avLst/>
          </a:prstGeom>
          <a:solidFill>
            <a:srgbClr val="272A38"/>
          </a:solidFill>
          <a:ln w="12700">
            <a:solidFill>
              <a:srgbClr val="272A38"/>
            </a:solidFill>
            <a:prstDash val="solid"/>
          </a:ln>
        </p:spPr>
      </p:sp>
      <p:sp>
        <p:nvSpPr>
          <p:cNvPr id="21" name="Shape 19"/>
          <p:cNvSpPr/>
          <p:nvPr/>
        </p:nvSpPr>
        <p:spPr>
          <a:xfrm>
            <a:off x="9601200" y="1499616"/>
            <a:ext cx="310896" cy="310896"/>
          </a:xfrm>
          <a:prstGeom prst="ellipse">
            <a:avLst/>
          </a:prstGeom>
          <a:solidFill>
            <a:srgbClr val="272A38"/>
          </a:solidFill>
          <a:ln w="12700">
            <a:solidFill>
              <a:srgbClr val="272A38"/>
            </a:solidFill>
            <a:prstDash val="solid"/>
          </a:ln>
        </p:spPr>
      </p:sp>
      <p:sp>
        <p:nvSpPr>
          <p:cNvPr id="22" name="Shape 20"/>
          <p:cNvSpPr/>
          <p:nvPr/>
        </p:nvSpPr>
        <p:spPr>
          <a:xfrm>
            <a:off x="10003536" y="1499616"/>
            <a:ext cx="310896" cy="310896"/>
          </a:xfrm>
          <a:prstGeom prst="ellipse">
            <a:avLst/>
          </a:prstGeom>
          <a:solidFill>
            <a:srgbClr val="272A38"/>
          </a:solidFill>
          <a:ln w="12700">
            <a:solidFill>
              <a:srgbClr val="272A38"/>
            </a:solidFill>
            <a:prstDash val="solid"/>
          </a:ln>
        </p:spPr>
      </p:sp>
      <p:sp>
        <p:nvSpPr>
          <p:cNvPr id="23" name="Shape 21"/>
          <p:cNvSpPr/>
          <p:nvPr/>
        </p:nvSpPr>
        <p:spPr>
          <a:xfrm>
            <a:off x="10405872" y="1499616"/>
            <a:ext cx="310896" cy="310896"/>
          </a:xfrm>
          <a:prstGeom prst="ellipse">
            <a:avLst/>
          </a:prstGeom>
          <a:solidFill>
            <a:srgbClr val="272A38"/>
          </a:solidFill>
          <a:ln w="12700">
            <a:solidFill>
              <a:srgbClr val="272A38"/>
            </a:solidFill>
            <a:prstDash val="solid"/>
          </a:ln>
        </p:spPr>
      </p:sp>
      <p:sp>
        <p:nvSpPr>
          <p:cNvPr id="24" name="Shape 22"/>
          <p:cNvSpPr/>
          <p:nvPr/>
        </p:nvSpPr>
        <p:spPr>
          <a:xfrm>
            <a:off x="10808208" y="1499616"/>
            <a:ext cx="310896" cy="310896"/>
          </a:xfrm>
          <a:prstGeom prst="ellipse">
            <a:avLst/>
          </a:prstGeom>
          <a:solidFill>
            <a:srgbClr val="272A38"/>
          </a:solidFill>
          <a:ln w="12700">
            <a:solidFill>
              <a:srgbClr val="272A38"/>
            </a:solidFill>
            <a:prstDash val="solid"/>
          </a:ln>
        </p:spPr>
      </p:sp>
      <p:sp>
        <p:nvSpPr>
          <p:cNvPr id="25" name="Shape 23"/>
          <p:cNvSpPr/>
          <p:nvPr/>
        </p:nvSpPr>
        <p:spPr>
          <a:xfrm>
            <a:off x="11210544" y="1499616"/>
            <a:ext cx="310896" cy="310896"/>
          </a:xfrm>
          <a:prstGeom prst="ellipse">
            <a:avLst/>
          </a:prstGeom>
          <a:solidFill>
            <a:srgbClr val="272A38"/>
          </a:solidFill>
          <a:ln w="12700">
            <a:solidFill>
              <a:srgbClr val="272A38"/>
            </a:solidFill>
            <a:prstDash val="solid"/>
          </a:ln>
        </p:spPr>
      </p:sp>
      <p:sp>
        <p:nvSpPr>
          <p:cNvPr id="26" name="Shape 24"/>
          <p:cNvSpPr/>
          <p:nvPr/>
        </p:nvSpPr>
        <p:spPr>
          <a:xfrm>
            <a:off x="7589520" y="1901952"/>
            <a:ext cx="310896" cy="310896"/>
          </a:xfrm>
          <a:prstGeom prst="ellipse">
            <a:avLst/>
          </a:prstGeom>
          <a:solidFill>
            <a:srgbClr val="272A38"/>
          </a:solidFill>
          <a:ln w="12700">
            <a:solidFill>
              <a:srgbClr val="272A38"/>
            </a:solidFill>
            <a:prstDash val="solid"/>
          </a:ln>
        </p:spPr>
      </p:sp>
      <p:sp>
        <p:nvSpPr>
          <p:cNvPr id="27" name="Shape 25"/>
          <p:cNvSpPr/>
          <p:nvPr/>
        </p:nvSpPr>
        <p:spPr>
          <a:xfrm>
            <a:off x="7991856" y="1901952"/>
            <a:ext cx="310896" cy="310896"/>
          </a:xfrm>
          <a:prstGeom prst="ellipse">
            <a:avLst/>
          </a:prstGeom>
          <a:solidFill>
            <a:srgbClr val="272A38"/>
          </a:solidFill>
          <a:ln w="12700">
            <a:solidFill>
              <a:srgbClr val="272A38"/>
            </a:solidFill>
            <a:prstDash val="solid"/>
          </a:ln>
        </p:spPr>
      </p:sp>
      <p:sp>
        <p:nvSpPr>
          <p:cNvPr id="28" name="Shape 26"/>
          <p:cNvSpPr/>
          <p:nvPr/>
        </p:nvSpPr>
        <p:spPr>
          <a:xfrm>
            <a:off x="8394192" y="1901952"/>
            <a:ext cx="310896" cy="310896"/>
          </a:xfrm>
          <a:prstGeom prst="ellipse">
            <a:avLst/>
          </a:prstGeom>
          <a:solidFill>
            <a:srgbClr val="272A38"/>
          </a:solidFill>
          <a:ln w="12700">
            <a:solidFill>
              <a:srgbClr val="272A38"/>
            </a:solidFill>
            <a:prstDash val="solid"/>
          </a:ln>
        </p:spPr>
      </p:sp>
      <p:sp>
        <p:nvSpPr>
          <p:cNvPr id="29" name="Shape 27"/>
          <p:cNvSpPr/>
          <p:nvPr/>
        </p:nvSpPr>
        <p:spPr>
          <a:xfrm>
            <a:off x="8796528" y="1901952"/>
            <a:ext cx="310896" cy="310896"/>
          </a:xfrm>
          <a:prstGeom prst="ellipse">
            <a:avLst/>
          </a:prstGeom>
          <a:solidFill>
            <a:srgbClr val="272A38"/>
          </a:solidFill>
          <a:ln w="12700">
            <a:solidFill>
              <a:srgbClr val="272A38"/>
            </a:solidFill>
            <a:prstDash val="solid"/>
          </a:ln>
        </p:spPr>
      </p:sp>
      <p:sp>
        <p:nvSpPr>
          <p:cNvPr id="30" name="Shape 28"/>
          <p:cNvSpPr/>
          <p:nvPr/>
        </p:nvSpPr>
        <p:spPr>
          <a:xfrm>
            <a:off x="9198864" y="1901952"/>
            <a:ext cx="310896" cy="310896"/>
          </a:xfrm>
          <a:prstGeom prst="ellipse">
            <a:avLst/>
          </a:prstGeom>
          <a:solidFill>
            <a:srgbClr val="272A38"/>
          </a:solidFill>
          <a:ln w="12700">
            <a:solidFill>
              <a:srgbClr val="272A38"/>
            </a:solidFill>
            <a:prstDash val="solid"/>
          </a:ln>
        </p:spPr>
      </p:sp>
      <p:sp>
        <p:nvSpPr>
          <p:cNvPr id="31" name="Shape 29"/>
          <p:cNvSpPr/>
          <p:nvPr/>
        </p:nvSpPr>
        <p:spPr>
          <a:xfrm>
            <a:off x="9601200" y="1901952"/>
            <a:ext cx="310896" cy="310896"/>
          </a:xfrm>
          <a:prstGeom prst="ellipse">
            <a:avLst/>
          </a:prstGeom>
          <a:solidFill>
            <a:srgbClr val="272A38"/>
          </a:solidFill>
          <a:ln w="12700">
            <a:solidFill>
              <a:srgbClr val="272A38"/>
            </a:solidFill>
            <a:prstDash val="solid"/>
          </a:ln>
        </p:spPr>
      </p:sp>
      <p:sp>
        <p:nvSpPr>
          <p:cNvPr id="32" name="Shape 30"/>
          <p:cNvSpPr/>
          <p:nvPr/>
        </p:nvSpPr>
        <p:spPr>
          <a:xfrm>
            <a:off x="10003536" y="1901952"/>
            <a:ext cx="310896" cy="310896"/>
          </a:xfrm>
          <a:prstGeom prst="ellipse">
            <a:avLst/>
          </a:prstGeom>
          <a:solidFill>
            <a:srgbClr val="272A38"/>
          </a:solidFill>
          <a:ln w="12700">
            <a:solidFill>
              <a:srgbClr val="272A38"/>
            </a:solidFill>
            <a:prstDash val="solid"/>
          </a:ln>
        </p:spPr>
      </p:sp>
      <p:sp>
        <p:nvSpPr>
          <p:cNvPr id="33" name="Shape 31"/>
          <p:cNvSpPr/>
          <p:nvPr/>
        </p:nvSpPr>
        <p:spPr>
          <a:xfrm>
            <a:off x="10405872" y="1901952"/>
            <a:ext cx="310896" cy="310896"/>
          </a:xfrm>
          <a:prstGeom prst="ellipse">
            <a:avLst/>
          </a:prstGeom>
          <a:solidFill>
            <a:srgbClr val="272A38"/>
          </a:solidFill>
          <a:ln w="12700">
            <a:solidFill>
              <a:srgbClr val="272A38"/>
            </a:solidFill>
            <a:prstDash val="solid"/>
          </a:ln>
        </p:spPr>
      </p:sp>
      <p:sp>
        <p:nvSpPr>
          <p:cNvPr id="34" name="Shape 32"/>
          <p:cNvSpPr/>
          <p:nvPr/>
        </p:nvSpPr>
        <p:spPr>
          <a:xfrm>
            <a:off x="10808208" y="1901952"/>
            <a:ext cx="310896" cy="310896"/>
          </a:xfrm>
          <a:prstGeom prst="ellipse">
            <a:avLst/>
          </a:prstGeom>
          <a:solidFill>
            <a:srgbClr val="272A38"/>
          </a:solidFill>
          <a:ln w="12700">
            <a:solidFill>
              <a:srgbClr val="272A38"/>
            </a:solidFill>
            <a:prstDash val="solid"/>
          </a:ln>
        </p:spPr>
      </p:sp>
      <p:sp>
        <p:nvSpPr>
          <p:cNvPr id="35" name="Shape 33"/>
          <p:cNvSpPr/>
          <p:nvPr/>
        </p:nvSpPr>
        <p:spPr>
          <a:xfrm>
            <a:off x="11210544" y="1901952"/>
            <a:ext cx="310896" cy="310896"/>
          </a:xfrm>
          <a:prstGeom prst="ellipse">
            <a:avLst/>
          </a:prstGeom>
          <a:solidFill>
            <a:srgbClr val="272A38"/>
          </a:solidFill>
          <a:ln w="12700">
            <a:solidFill>
              <a:srgbClr val="272A38"/>
            </a:solidFill>
            <a:prstDash val="solid"/>
          </a:ln>
        </p:spPr>
      </p:sp>
      <p:sp>
        <p:nvSpPr>
          <p:cNvPr id="36" name="Shape 34"/>
          <p:cNvSpPr/>
          <p:nvPr/>
        </p:nvSpPr>
        <p:spPr>
          <a:xfrm>
            <a:off x="7589520" y="2304288"/>
            <a:ext cx="310896" cy="310896"/>
          </a:xfrm>
          <a:prstGeom prst="ellipse">
            <a:avLst/>
          </a:prstGeom>
          <a:solidFill>
            <a:srgbClr val="272A38"/>
          </a:solidFill>
          <a:ln w="12700">
            <a:solidFill>
              <a:srgbClr val="272A38"/>
            </a:solidFill>
            <a:prstDash val="solid"/>
          </a:ln>
        </p:spPr>
      </p:sp>
      <p:sp>
        <p:nvSpPr>
          <p:cNvPr id="37" name="Shape 35"/>
          <p:cNvSpPr/>
          <p:nvPr/>
        </p:nvSpPr>
        <p:spPr>
          <a:xfrm>
            <a:off x="7991856" y="2304288"/>
            <a:ext cx="310896" cy="310896"/>
          </a:xfrm>
          <a:prstGeom prst="ellipse">
            <a:avLst/>
          </a:prstGeom>
          <a:solidFill>
            <a:srgbClr val="272A38"/>
          </a:solidFill>
          <a:ln w="12700">
            <a:solidFill>
              <a:srgbClr val="272A38"/>
            </a:solidFill>
            <a:prstDash val="solid"/>
          </a:ln>
        </p:spPr>
      </p:sp>
      <p:sp>
        <p:nvSpPr>
          <p:cNvPr id="38" name="Shape 36"/>
          <p:cNvSpPr/>
          <p:nvPr/>
        </p:nvSpPr>
        <p:spPr>
          <a:xfrm>
            <a:off x="8394192" y="2304288"/>
            <a:ext cx="310896" cy="310896"/>
          </a:xfrm>
          <a:prstGeom prst="ellipse">
            <a:avLst/>
          </a:prstGeom>
          <a:solidFill>
            <a:srgbClr val="272A38"/>
          </a:solidFill>
          <a:ln w="12700">
            <a:solidFill>
              <a:srgbClr val="272A38"/>
            </a:solidFill>
            <a:prstDash val="solid"/>
          </a:ln>
        </p:spPr>
      </p:sp>
      <p:sp>
        <p:nvSpPr>
          <p:cNvPr id="39" name="Shape 37"/>
          <p:cNvSpPr/>
          <p:nvPr/>
        </p:nvSpPr>
        <p:spPr>
          <a:xfrm>
            <a:off x="8796528" y="2304288"/>
            <a:ext cx="310896" cy="310896"/>
          </a:xfrm>
          <a:prstGeom prst="ellipse">
            <a:avLst/>
          </a:prstGeom>
          <a:solidFill>
            <a:srgbClr val="272A38"/>
          </a:solidFill>
          <a:ln w="12700">
            <a:solidFill>
              <a:srgbClr val="272A38"/>
            </a:solidFill>
            <a:prstDash val="solid"/>
          </a:ln>
        </p:spPr>
      </p:sp>
      <p:sp>
        <p:nvSpPr>
          <p:cNvPr id="40" name="Shape 38"/>
          <p:cNvSpPr/>
          <p:nvPr/>
        </p:nvSpPr>
        <p:spPr>
          <a:xfrm>
            <a:off x="9198864" y="2304288"/>
            <a:ext cx="310896" cy="310896"/>
          </a:xfrm>
          <a:prstGeom prst="ellipse">
            <a:avLst/>
          </a:prstGeom>
          <a:solidFill>
            <a:srgbClr val="272A38"/>
          </a:solidFill>
          <a:ln w="12700">
            <a:solidFill>
              <a:srgbClr val="272A38"/>
            </a:solidFill>
            <a:prstDash val="solid"/>
          </a:ln>
        </p:spPr>
      </p:sp>
      <p:sp>
        <p:nvSpPr>
          <p:cNvPr id="41" name="Shape 39"/>
          <p:cNvSpPr/>
          <p:nvPr/>
        </p:nvSpPr>
        <p:spPr>
          <a:xfrm>
            <a:off x="9601200" y="2304288"/>
            <a:ext cx="310896" cy="310896"/>
          </a:xfrm>
          <a:prstGeom prst="ellipse">
            <a:avLst/>
          </a:prstGeom>
          <a:solidFill>
            <a:srgbClr val="272A38"/>
          </a:solidFill>
          <a:ln w="12700">
            <a:solidFill>
              <a:srgbClr val="272A38"/>
            </a:solidFill>
            <a:prstDash val="solid"/>
          </a:ln>
        </p:spPr>
      </p:sp>
      <p:sp>
        <p:nvSpPr>
          <p:cNvPr id="42" name="Shape 40"/>
          <p:cNvSpPr/>
          <p:nvPr/>
        </p:nvSpPr>
        <p:spPr>
          <a:xfrm>
            <a:off x="10003536" y="2304288"/>
            <a:ext cx="310896" cy="310896"/>
          </a:xfrm>
          <a:prstGeom prst="ellipse">
            <a:avLst/>
          </a:prstGeom>
          <a:solidFill>
            <a:srgbClr val="272A38"/>
          </a:solidFill>
          <a:ln w="12700">
            <a:solidFill>
              <a:srgbClr val="272A38"/>
            </a:solidFill>
            <a:prstDash val="solid"/>
          </a:ln>
        </p:spPr>
      </p:sp>
      <p:sp>
        <p:nvSpPr>
          <p:cNvPr id="43" name="Shape 41"/>
          <p:cNvSpPr/>
          <p:nvPr/>
        </p:nvSpPr>
        <p:spPr>
          <a:xfrm>
            <a:off x="10405872" y="2304288"/>
            <a:ext cx="310896" cy="310896"/>
          </a:xfrm>
          <a:prstGeom prst="ellipse">
            <a:avLst/>
          </a:prstGeom>
          <a:solidFill>
            <a:srgbClr val="272A38"/>
          </a:solidFill>
          <a:ln w="12700">
            <a:solidFill>
              <a:srgbClr val="272A38"/>
            </a:solidFill>
            <a:prstDash val="solid"/>
          </a:ln>
        </p:spPr>
      </p:sp>
      <p:sp>
        <p:nvSpPr>
          <p:cNvPr id="44" name="Shape 42"/>
          <p:cNvSpPr/>
          <p:nvPr/>
        </p:nvSpPr>
        <p:spPr>
          <a:xfrm>
            <a:off x="10808208" y="2304288"/>
            <a:ext cx="310896" cy="310896"/>
          </a:xfrm>
          <a:prstGeom prst="ellipse">
            <a:avLst/>
          </a:prstGeom>
          <a:solidFill>
            <a:srgbClr val="272A38"/>
          </a:solidFill>
          <a:ln w="12700">
            <a:solidFill>
              <a:srgbClr val="272A38"/>
            </a:solidFill>
            <a:prstDash val="solid"/>
          </a:ln>
        </p:spPr>
      </p:sp>
      <p:sp>
        <p:nvSpPr>
          <p:cNvPr id="45" name="Shape 43"/>
          <p:cNvSpPr/>
          <p:nvPr/>
        </p:nvSpPr>
        <p:spPr>
          <a:xfrm>
            <a:off x="11210544" y="2304288"/>
            <a:ext cx="310896" cy="310896"/>
          </a:xfrm>
          <a:prstGeom prst="ellipse">
            <a:avLst/>
          </a:prstGeom>
          <a:solidFill>
            <a:srgbClr val="272A38"/>
          </a:solidFill>
          <a:ln w="12700">
            <a:solidFill>
              <a:srgbClr val="272A38"/>
            </a:solidFill>
            <a:prstDash val="solid"/>
          </a:ln>
        </p:spPr>
      </p:sp>
      <p:sp>
        <p:nvSpPr>
          <p:cNvPr id="46" name="Shape 44"/>
          <p:cNvSpPr/>
          <p:nvPr/>
        </p:nvSpPr>
        <p:spPr>
          <a:xfrm>
            <a:off x="7589520" y="2706624"/>
            <a:ext cx="310896" cy="310896"/>
          </a:xfrm>
          <a:prstGeom prst="ellipse">
            <a:avLst/>
          </a:prstGeom>
          <a:solidFill>
            <a:srgbClr val="272A38"/>
          </a:solidFill>
          <a:ln w="12700">
            <a:solidFill>
              <a:srgbClr val="272A38"/>
            </a:solidFill>
            <a:prstDash val="solid"/>
          </a:ln>
        </p:spPr>
      </p:sp>
      <p:sp>
        <p:nvSpPr>
          <p:cNvPr id="47" name="Shape 45"/>
          <p:cNvSpPr/>
          <p:nvPr/>
        </p:nvSpPr>
        <p:spPr>
          <a:xfrm>
            <a:off x="7991856" y="2706624"/>
            <a:ext cx="310896" cy="310896"/>
          </a:xfrm>
          <a:prstGeom prst="ellipse">
            <a:avLst/>
          </a:prstGeom>
          <a:solidFill>
            <a:srgbClr val="272A38"/>
          </a:solidFill>
          <a:ln w="12700">
            <a:solidFill>
              <a:srgbClr val="272A38"/>
            </a:solidFill>
            <a:prstDash val="solid"/>
          </a:ln>
        </p:spPr>
      </p:sp>
      <p:sp>
        <p:nvSpPr>
          <p:cNvPr id="48" name="Shape 46"/>
          <p:cNvSpPr/>
          <p:nvPr/>
        </p:nvSpPr>
        <p:spPr>
          <a:xfrm>
            <a:off x="8394192" y="2706624"/>
            <a:ext cx="310896" cy="310896"/>
          </a:xfrm>
          <a:prstGeom prst="ellipse">
            <a:avLst/>
          </a:prstGeom>
          <a:solidFill>
            <a:srgbClr val="272A38"/>
          </a:solidFill>
          <a:ln w="12700">
            <a:solidFill>
              <a:srgbClr val="272A38"/>
            </a:solidFill>
            <a:prstDash val="solid"/>
          </a:ln>
        </p:spPr>
      </p:sp>
      <p:sp>
        <p:nvSpPr>
          <p:cNvPr id="49" name="Shape 47"/>
          <p:cNvSpPr/>
          <p:nvPr/>
        </p:nvSpPr>
        <p:spPr>
          <a:xfrm>
            <a:off x="8796528" y="2706624"/>
            <a:ext cx="310896" cy="310896"/>
          </a:xfrm>
          <a:prstGeom prst="ellipse">
            <a:avLst/>
          </a:prstGeom>
          <a:solidFill>
            <a:srgbClr val="272A38"/>
          </a:solidFill>
          <a:ln w="12700">
            <a:solidFill>
              <a:srgbClr val="272A38"/>
            </a:solidFill>
            <a:prstDash val="solid"/>
          </a:ln>
        </p:spPr>
      </p:sp>
      <p:sp>
        <p:nvSpPr>
          <p:cNvPr id="50" name="Shape 48"/>
          <p:cNvSpPr/>
          <p:nvPr/>
        </p:nvSpPr>
        <p:spPr>
          <a:xfrm>
            <a:off x="9198864" y="2706624"/>
            <a:ext cx="310896" cy="310896"/>
          </a:xfrm>
          <a:prstGeom prst="ellipse">
            <a:avLst/>
          </a:prstGeom>
          <a:solidFill>
            <a:srgbClr val="272A38"/>
          </a:solidFill>
          <a:ln w="12700">
            <a:solidFill>
              <a:srgbClr val="272A38"/>
            </a:solidFill>
            <a:prstDash val="solid"/>
          </a:ln>
        </p:spPr>
      </p:sp>
      <p:sp>
        <p:nvSpPr>
          <p:cNvPr id="51" name="Shape 49"/>
          <p:cNvSpPr/>
          <p:nvPr/>
        </p:nvSpPr>
        <p:spPr>
          <a:xfrm>
            <a:off x="9601200" y="2706624"/>
            <a:ext cx="310896" cy="310896"/>
          </a:xfrm>
          <a:prstGeom prst="ellipse">
            <a:avLst/>
          </a:prstGeom>
          <a:solidFill>
            <a:srgbClr val="272A38"/>
          </a:solidFill>
          <a:ln w="12700">
            <a:solidFill>
              <a:srgbClr val="272A38"/>
            </a:solidFill>
            <a:prstDash val="solid"/>
          </a:ln>
        </p:spPr>
      </p:sp>
      <p:sp>
        <p:nvSpPr>
          <p:cNvPr id="52" name="Shape 50"/>
          <p:cNvSpPr/>
          <p:nvPr/>
        </p:nvSpPr>
        <p:spPr>
          <a:xfrm>
            <a:off x="10003536" y="2706624"/>
            <a:ext cx="310896" cy="310896"/>
          </a:xfrm>
          <a:prstGeom prst="ellipse">
            <a:avLst/>
          </a:prstGeom>
          <a:solidFill>
            <a:srgbClr val="272A38"/>
          </a:solidFill>
          <a:ln w="12700">
            <a:solidFill>
              <a:srgbClr val="272A38"/>
            </a:solidFill>
            <a:prstDash val="solid"/>
          </a:ln>
        </p:spPr>
      </p:sp>
      <p:sp>
        <p:nvSpPr>
          <p:cNvPr id="53" name="Shape 51"/>
          <p:cNvSpPr/>
          <p:nvPr/>
        </p:nvSpPr>
        <p:spPr>
          <a:xfrm>
            <a:off x="10405872" y="2706624"/>
            <a:ext cx="310896" cy="310896"/>
          </a:xfrm>
          <a:prstGeom prst="ellipse">
            <a:avLst/>
          </a:prstGeom>
          <a:solidFill>
            <a:srgbClr val="272A38"/>
          </a:solidFill>
          <a:ln w="12700">
            <a:solidFill>
              <a:srgbClr val="272A38"/>
            </a:solidFill>
            <a:prstDash val="solid"/>
          </a:ln>
        </p:spPr>
      </p:sp>
      <p:sp>
        <p:nvSpPr>
          <p:cNvPr id="54" name="Shape 52"/>
          <p:cNvSpPr/>
          <p:nvPr/>
        </p:nvSpPr>
        <p:spPr>
          <a:xfrm>
            <a:off x="10808208" y="2706624"/>
            <a:ext cx="310896" cy="310896"/>
          </a:xfrm>
          <a:prstGeom prst="ellipse">
            <a:avLst/>
          </a:prstGeom>
          <a:solidFill>
            <a:srgbClr val="272A38"/>
          </a:solidFill>
          <a:ln w="12700">
            <a:solidFill>
              <a:srgbClr val="272A38"/>
            </a:solidFill>
            <a:prstDash val="solid"/>
          </a:ln>
        </p:spPr>
      </p:sp>
      <p:sp>
        <p:nvSpPr>
          <p:cNvPr id="55" name="Shape 53"/>
          <p:cNvSpPr/>
          <p:nvPr/>
        </p:nvSpPr>
        <p:spPr>
          <a:xfrm>
            <a:off x="11210544" y="2706624"/>
            <a:ext cx="310896" cy="310896"/>
          </a:xfrm>
          <a:prstGeom prst="ellipse">
            <a:avLst/>
          </a:prstGeom>
          <a:solidFill>
            <a:srgbClr val="272A38"/>
          </a:solidFill>
          <a:ln w="12700">
            <a:solidFill>
              <a:srgbClr val="272A38"/>
            </a:solidFill>
            <a:prstDash val="solid"/>
          </a:ln>
        </p:spPr>
      </p:sp>
      <p:sp>
        <p:nvSpPr>
          <p:cNvPr id="56" name="Shape 54"/>
          <p:cNvSpPr/>
          <p:nvPr/>
        </p:nvSpPr>
        <p:spPr>
          <a:xfrm>
            <a:off x="7589520" y="3108960"/>
            <a:ext cx="310896" cy="310896"/>
          </a:xfrm>
          <a:prstGeom prst="ellipse">
            <a:avLst/>
          </a:prstGeom>
          <a:solidFill>
            <a:srgbClr val="272A38"/>
          </a:solidFill>
          <a:ln w="12700">
            <a:solidFill>
              <a:srgbClr val="272A38"/>
            </a:solidFill>
            <a:prstDash val="solid"/>
          </a:ln>
        </p:spPr>
      </p:sp>
      <p:sp>
        <p:nvSpPr>
          <p:cNvPr id="57" name="Shape 55"/>
          <p:cNvSpPr/>
          <p:nvPr/>
        </p:nvSpPr>
        <p:spPr>
          <a:xfrm>
            <a:off x="7991856" y="3108960"/>
            <a:ext cx="310896" cy="310896"/>
          </a:xfrm>
          <a:prstGeom prst="ellipse">
            <a:avLst/>
          </a:prstGeom>
          <a:solidFill>
            <a:srgbClr val="272A38"/>
          </a:solidFill>
          <a:ln w="12700">
            <a:solidFill>
              <a:srgbClr val="272A38"/>
            </a:solidFill>
            <a:prstDash val="solid"/>
          </a:ln>
        </p:spPr>
      </p:sp>
      <p:sp>
        <p:nvSpPr>
          <p:cNvPr id="58" name="Shape 56"/>
          <p:cNvSpPr/>
          <p:nvPr/>
        </p:nvSpPr>
        <p:spPr>
          <a:xfrm>
            <a:off x="8394192" y="3108960"/>
            <a:ext cx="310896" cy="310896"/>
          </a:xfrm>
          <a:prstGeom prst="ellipse">
            <a:avLst/>
          </a:prstGeom>
          <a:solidFill>
            <a:srgbClr val="272A38"/>
          </a:solidFill>
          <a:ln w="12700">
            <a:solidFill>
              <a:srgbClr val="272A38"/>
            </a:solidFill>
            <a:prstDash val="solid"/>
          </a:ln>
        </p:spPr>
      </p:sp>
      <p:sp>
        <p:nvSpPr>
          <p:cNvPr id="59" name="Shape 57"/>
          <p:cNvSpPr/>
          <p:nvPr/>
        </p:nvSpPr>
        <p:spPr>
          <a:xfrm>
            <a:off x="8796528" y="3108960"/>
            <a:ext cx="310896" cy="310896"/>
          </a:xfrm>
          <a:prstGeom prst="ellipse">
            <a:avLst/>
          </a:prstGeom>
          <a:solidFill>
            <a:srgbClr val="272A38"/>
          </a:solidFill>
          <a:ln w="12700">
            <a:solidFill>
              <a:srgbClr val="272A38"/>
            </a:solidFill>
            <a:prstDash val="solid"/>
          </a:ln>
        </p:spPr>
      </p:sp>
      <p:sp>
        <p:nvSpPr>
          <p:cNvPr id="60" name="Shape 58"/>
          <p:cNvSpPr/>
          <p:nvPr/>
        </p:nvSpPr>
        <p:spPr>
          <a:xfrm>
            <a:off x="9198864" y="3108960"/>
            <a:ext cx="310896" cy="310896"/>
          </a:xfrm>
          <a:prstGeom prst="ellipse">
            <a:avLst/>
          </a:prstGeom>
          <a:solidFill>
            <a:srgbClr val="272A38"/>
          </a:solidFill>
          <a:ln w="12700">
            <a:solidFill>
              <a:srgbClr val="272A38"/>
            </a:solidFill>
            <a:prstDash val="solid"/>
          </a:ln>
        </p:spPr>
      </p:sp>
      <p:sp>
        <p:nvSpPr>
          <p:cNvPr id="61" name="Shape 59"/>
          <p:cNvSpPr/>
          <p:nvPr/>
        </p:nvSpPr>
        <p:spPr>
          <a:xfrm>
            <a:off x="9601200" y="3108960"/>
            <a:ext cx="310896" cy="310896"/>
          </a:xfrm>
          <a:prstGeom prst="ellipse">
            <a:avLst/>
          </a:prstGeom>
          <a:solidFill>
            <a:srgbClr val="272A38"/>
          </a:solidFill>
          <a:ln w="12700">
            <a:solidFill>
              <a:srgbClr val="272A38"/>
            </a:solidFill>
            <a:prstDash val="solid"/>
          </a:ln>
        </p:spPr>
      </p:sp>
      <p:sp>
        <p:nvSpPr>
          <p:cNvPr id="62" name="Shape 60"/>
          <p:cNvSpPr/>
          <p:nvPr/>
        </p:nvSpPr>
        <p:spPr>
          <a:xfrm>
            <a:off x="10003536" y="3108960"/>
            <a:ext cx="310896" cy="310896"/>
          </a:xfrm>
          <a:prstGeom prst="ellipse">
            <a:avLst/>
          </a:prstGeom>
          <a:solidFill>
            <a:srgbClr val="272A38"/>
          </a:solidFill>
          <a:ln w="12700">
            <a:solidFill>
              <a:srgbClr val="272A38"/>
            </a:solidFill>
            <a:prstDash val="solid"/>
          </a:ln>
        </p:spPr>
      </p:sp>
      <p:sp>
        <p:nvSpPr>
          <p:cNvPr id="63" name="Shape 61"/>
          <p:cNvSpPr/>
          <p:nvPr/>
        </p:nvSpPr>
        <p:spPr>
          <a:xfrm>
            <a:off x="10405872" y="3108960"/>
            <a:ext cx="310896" cy="310896"/>
          </a:xfrm>
          <a:prstGeom prst="ellipse">
            <a:avLst/>
          </a:prstGeom>
          <a:solidFill>
            <a:srgbClr val="272A38"/>
          </a:solidFill>
          <a:ln w="12700">
            <a:solidFill>
              <a:srgbClr val="272A38"/>
            </a:solidFill>
            <a:prstDash val="solid"/>
          </a:ln>
        </p:spPr>
      </p:sp>
      <p:sp>
        <p:nvSpPr>
          <p:cNvPr id="64" name="Shape 62"/>
          <p:cNvSpPr/>
          <p:nvPr/>
        </p:nvSpPr>
        <p:spPr>
          <a:xfrm>
            <a:off x="10808208" y="3108960"/>
            <a:ext cx="310896" cy="310896"/>
          </a:xfrm>
          <a:prstGeom prst="ellipse">
            <a:avLst/>
          </a:prstGeom>
          <a:solidFill>
            <a:srgbClr val="272A38"/>
          </a:solidFill>
          <a:ln w="12700">
            <a:solidFill>
              <a:srgbClr val="272A38"/>
            </a:solidFill>
            <a:prstDash val="solid"/>
          </a:ln>
        </p:spPr>
      </p:sp>
      <p:sp>
        <p:nvSpPr>
          <p:cNvPr id="65" name="Shape 63"/>
          <p:cNvSpPr/>
          <p:nvPr/>
        </p:nvSpPr>
        <p:spPr>
          <a:xfrm>
            <a:off x="11210544" y="3108960"/>
            <a:ext cx="310896" cy="310896"/>
          </a:xfrm>
          <a:prstGeom prst="ellipse">
            <a:avLst/>
          </a:prstGeom>
          <a:solidFill>
            <a:srgbClr val="272A38"/>
          </a:solidFill>
          <a:ln w="12700">
            <a:solidFill>
              <a:srgbClr val="272A38"/>
            </a:solidFill>
            <a:prstDash val="solid"/>
          </a:ln>
        </p:spPr>
      </p:sp>
      <p:sp>
        <p:nvSpPr>
          <p:cNvPr id="66" name="Shape 64"/>
          <p:cNvSpPr/>
          <p:nvPr/>
        </p:nvSpPr>
        <p:spPr>
          <a:xfrm>
            <a:off x="7589520" y="3511296"/>
            <a:ext cx="310896" cy="310896"/>
          </a:xfrm>
          <a:prstGeom prst="ellipse">
            <a:avLst/>
          </a:prstGeom>
          <a:solidFill>
            <a:srgbClr val="272A38"/>
          </a:solidFill>
          <a:ln w="12700">
            <a:solidFill>
              <a:srgbClr val="272A38"/>
            </a:solidFill>
            <a:prstDash val="solid"/>
          </a:ln>
        </p:spPr>
      </p:sp>
      <p:sp>
        <p:nvSpPr>
          <p:cNvPr id="67" name="Shape 65"/>
          <p:cNvSpPr/>
          <p:nvPr/>
        </p:nvSpPr>
        <p:spPr>
          <a:xfrm>
            <a:off x="7991856" y="3511296"/>
            <a:ext cx="310896" cy="310896"/>
          </a:xfrm>
          <a:prstGeom prst="ellipse">
            <a:avLst/>
          </a:prstGeom>
          <a:solidFill>
            <a:srgbClr val="272A38"/>
          </a:solidFill>
          <a:ln w="12700">
            <a:solidFill>
              <a:srgbClr val="272A38"/>
            </a:solidFill>
            <a:prstDash val="solid"/>
          </a:ln>
        </p:spPr>
      </p:sp>
      <p:sp>
        <p:nvSpPr>
          <p:cNvPr id="68" name="Shape 66"/>
          <p:cNvSpPr/>
          <p:nvPr/>
        </p:nvSpPr>
        <p:spPr>
          <a:xfrm>
            <a:off x="8394192" y="3511296"/>
            <a:ext cx="310896" cy="310896"/>
          </a:xfrm>
          <a:prstGeom prst="ellipse">
            <a:avLst/>
          </a:prstGeom>
          <a:solidFill>
            <a:srgbClr val="272A38"/>
          </a:solidFill>
          <a:ln w="12700">
            <a:solidFill>
              <a:srgbClr val="272A38"/>
            </a:solidFill>
            <a:prstDash val="solid"/>
          </a:ln>
        </p:spPr>
      </p:sp>
      <p:sp>
        <p:nvSpPr>
          <p:cNvPr id="69" name="Shape 67"/>
          <p:cNvSpPr/>
          <p:nvPr/>
        </p:nvSpPr>
        <p:spPr>
          <a:xfrm>
            <a:off x="8796528" y="3511296"/>
            <a:ext cx="310896" cy="310896"/>
          </a:xfrm>
          <a:prstGeom prst="ellipse">
            <a:avLst/>
          </a:prstGeom>
          <a:solidFill>
            <a:srgbClr val="272A38"/>
          </a:solidFill>
          <a:ln w="12700">
            <a:solidFill>
              <a:srgbClr val="272A38"/>
            </a:solidFill>
            <a:prstDash val="solid"/>
          </a:ln>
        </p:spPr>
      </p:sp>
      <p:sp>
        <p:nvSpPr>
          <p:cNvPr id="70" name="Shape 68"/>
          <p:cNvSpPr/>
          <p:nvPr/>
        </p:nvSpPr>
        <p:spPr>
          <a:xfrm>
            <a:off x="9198864" y="3511296"/>
            <a:ext cx="310896" cy="310896"/>
          </a:xfrm>
          <a:prstGeom prst="ellipse">
            <a:avLst/>
          </a:prstGeom>
          <a:solidFill>
            <a:srgbClr val="272A38"/>
          </a:solidFill>
          <a:ln w="12700">
            <a:solidFill>
              <a:srgbClr val="272A38"/>
            </a:solidFill>
            <a:prstDash val="solid"/>
          </a:ln>
        </p:spPr>
      </p:sp>
      <p:sp>
        <p:nvSpPr>
          <p:cNvPr id="71" name="Shape 69"/>
          <p:cNvSpPr/>
          <p:nvPr/>
        </p:nvSpPr>
        <p:spPr>
          <a:xfrm>
            <a:off x="9601200" y="3511296"/>
            <a:ext cx="310896" cy="310896"/>
          </a:xfrm>
          <a:prstGeom prst="ellipse">
            <a:avLst/>
          </a:prstGeom>
          <a:solidFill>
            <a:srgbClr val="272A38"/>
          </a:solidFill>
          <a:ln w="12700">
            <a:solidFill>
              <a:srgbClr val="272A38"/>
            </a:solidFill>
            <a:prstDash val="solid"/>
          </a:ln>
        </p:spPr>
      </p:sp>
      <p:sp>
        <p:nvSpPr>
          <p:cNvPr id="72" name="Shape 70"/>
          <p:cNvSpPr/>
          <p:nvPr/>
        </p:nvSpPr>
        <p:spPr>
          <a:xfrm>
            <a:off x="10003536" y="3511296"/>
            <a:ext cx="310896" cy="310896"/>
          </a:xfrm>
          <a:prstGeom prst="ellipse">
            <a:avLst/>
          </a:prstGeom>
          <a:solidFill>
            <a:srgbClr val="272A38"/>
          </a:solidFill>
          <a:ln w="12700">
            <a:solidFill>
              <a:srgbClr val="272A38"/>
            </a:solidFill>
            <a:prstDash val="solid"/>
          </a:ln>
        </p:spPr>
      </p:sp>
      <p:sp>
        <p:nvSpPr>
          <p:cNvPr id="73" name="Shape 71"/>
          <p:cNvSpPr/>
          <p:nvPr/>
        </p:nvSpPr>
        <p:spPr>
          <a:xfrm>
            <a:off x="10405872" y="3511296"/>
            <a:ext cx="310896" cy="310896"/>
          </a:xfrm>
          <a:prstGeom prst="ellipse">
            <a:avLst/>
          </a:prstGeom>
          <a:solidFill>
            <a:srgbClr val="272A38"/>
          </a:solidFill>
          <a:ln w="12700">
            <a:solidFill>
              <a:srgbClr val="272A38"/>
            </a:solidFill>
            <a:prstDash val="solid"/>
          </a:ln>
        </p:spPr>
      </p:sp>
      <p:sp>
        <p:nvSpPr>
          <p:cNvPr id="74" name="Shape 72"/>
          <p:cNvSpPr/>
          <p:nvPr/>
        </p:nvSpPr>
        <p:spPr>
          <a:xfrm>
            <a:off x="10808208" y="3511296"/>
            <a:ext cx="310896" cy="310896"/>
          </a:xfrm>
          <a:prstGeom prst="ellipse">
            <a:avLst/>
          </a:prstGeom>
          <a:solidFill>
            <a:srgbClr val="272A38"/>
          </a:solidFill>
          <a:ln w="12700">
            <a:solidFill>
              <a:srgbClr val="272A38"/>
            </a:solidFill>
            <a:prstDash val="solid"/>
          </a:ln>
        </p:spPr>
      </p:sp>
      <p:sp>
        <p:nvSpPr>
          <p:cNvPr id="75" name="Shape 73"/>
          <p:cNvSpPr/>
          <p:nvPr/>
        </p:nvSpPr>
        <p:spPr>
          <a:xfrm>
            <a:off x="11210544" y="3511296"/>
            <a:ext cx="310896" cy="310896"/>
          </a:xfrm>
          <a:prstGeom prst="ellipse">
            <a:avLst/>
          </a:prstGeom>
          <a:solidFill>
            <a:srgbClr val="272A38"/>
          </a:solidFill>
          <a:ln w="12700">
            <a:solidFill>
              <a:srgbClr val="272A38"/>
            </a:solidFill>
            <a:prstDash val="solid"/>
          </a:ln>
        </p:spPr>
      </p:sp>
      <p:sp>
        <p:nvSpPr>
          <p:cNvPr id="76" name="Shape 74"/>
          <p:cNvSpPr/>
          <p:nvPr/>
        </p:nvSpPr>
        <p:spPr>
          <a:xfrm>
            <a:off x="7589520" y="3913632"/>
            <a:ext cx="310896" cy="310896"/>
          </a:xfrm>
          <a:prstGeom prst="ellipse">
            <a:avLst/>
          </a:prstGeom>
          <a:solidFill>
            <a:srgbClr val="272A38"/>
          </a:solidFill>
          <a:ln w="12700">
            <a:solidFill>
              <a:srgbClr val="272A38"/>
            </a:solidFill>
            <a:prstDash val="solid"/>
          </a:ln>
        </p:spPr>
      </p:sp>
      <p:sp>
        <p:nvSpPr>
          <p:cNvPr id="77" name="Shape 75"/>
          <p:cNvSpPr/>
          <p:nvPr/>
        </p:nvSpPr>
        <p:spPr>
          <a:xfrm>
            <a:off x="7991856" y="3913632"/>
            <a:ext cx="310896" cy="310896"/>
          </a:xfrm>
          <a:prstGeom prst="ellipse">
            <a:avLst/>
          </a:prstGeom>
          <a:solidFill>
            <a:srgbClr val="272A38"/>
          </a:solidFill>
          <a:ln w="12700">
            <a:solidFill>
              <a:srgbClr val="272A38"/>
            </a:solidFill>
            <a:prstDash val="solid"/>
          </a:ln>
        </p:spPr>
      </p:sp>
      <p:sp>
        <p:nvSpPr>
          <p:cNvPr id="78" name="Shape 76"/>
          <p:cNvSpPr/>
          <p:nvPr/>
        </p:nvSpPr>
        <p:spPr>
          <a:xfrm>
            <a:off x="8394192" y="3913632"/>
            <a:ext cx="310896" cy="310896"/>
          </a:xfrm>
          <a:prstGeom prst="ellipse">
            <a:avLst/>
          </a:prstGeom>
          <a:solidFill>
            <a:srgbClr val="272A38"/>
          </a:solidFill>
          <a:ln w="12700">
            <a:solidFill>
              <a:srgbClr val="272A38"/>
            </a:solidFill>
            <a:prstDash val="solid"/>
          </a:ln>
        </p:spPr>
      </p:sp>
      <p:sp>
        <p:nvSpPr>
          <p:cNvPr id="79" name="Shape 77"/>
          <p:cNvSpPr/>
          <p:nvPr/>
        </p:nvSpPr>
        <p:spPr>
          <a:xfrm>
            <a:off x="8796528" y="3913632"/>
            <a:ext cx="310896" cy="310896"/>
          </a:xfrm>
          <a:prstGeom prst="ellipse">
            <a:avLst/>
          </a:prstGeom>
          <a:solidFill>
            <a:srgbClr val="272A38"/>
          </a:solidFill>
          <a:ln w="12700">
            <a:solidFill>
              <a:srgbClr val="272A38"/>
            </a:solidFill>
            <a:prstDash val="solid"/>
          </a:ln>
        </p:spPr>
      </p:sp>
      <p:sp>
        <p:nvSpPr>
          <p:cNvPr id="80" name="Shape 78"/>
          <p:cNvSpPr/>
          <p:nvPr/>
        </p:nvSpPr>
        <p:spPr>
          <a:xfrm>
            <a:off x="9198864" y="3913632"/>
            <a:ext cx="310896" cy="310896"/>
          </a:xfrm>
          <a:prstGeom prst="ellipse">
            <a:avLst/>
          </a:prstGeom>
          <a:solidFill>
            <a:srgbClr val="272A38"/>
          </a:solidFill>
          <a:ln w="12700">
            <a:solidFill>
              <a:srgbClr val="272A38"/>
            </a:solidFill>
            <a:prstDash val="solid"/>
          </a:ln>
        </p:spPr>
      </p:sp>
      <p:sp>
        <p:nvSpPr>
          <p:cNvPr id="81" name="Shape 79"/>
          <p:cNvSpPr/>
          <p:nvPr/>
        </p:nvSpPr>
        <p:spPr>
          <a:xfrm>
            <a:off x="9601200" y="3913632"/>
            <a:ext cx="310896" cy="310896"/>
          </a:xfrm>
          <a:prstGeom prst="ellipse">
            <a:avLst/>
          </a:prstGeom>
          <a:solidFill>
            <a:srgbClr val="272A38"/>
          </a:solidFill>
          <a:ln w="12700">
            <a:solidFill>
              <a:srgbClr val="272A38"/>
            </a:solidFill>
            <a:prstDash val="solid"/>
          </a:ln>
        </p:spPr>
      </p:sp>
      <p:sp>
        <p:nvSpPr>
          <p:cNvPr id="82" name="Shape 80"/>
          <p:cNvSpPr/>
          <p:nvPr/>
        </p:nvSpPr>
        <p:spPr>
          <a:xfrm>
            <a:off x="10003536" y="3913632"/>
            <a:ext cx="310896" cy="310896"/>
          </a:xfrm>
          <a:prstGeom prst="ellipse">
            <a:avLst/>
          </a:prstGeom>
          <a:solidFill>
            <a:srgbClr val="272A38"/>
          </a:solidFill>
          <a:ln w="12700">
            <a:solidFill>
              <a:srgbClr val="272A38"/>
            </a:solidFill>
            <a:prstDash val="solid"/>
          </a:ln>
        </p:spPr>
      </p:sp>
      <p:sp>
        <p:nvSpPr>
          <p:cNvPr id="83" name="Shape 81"/>
          <p:cNvSpPr/>
          <p:nvPr/>
        </p:nvSpPr>
        <p:spPr>
          <a:xfrm>
            <a:off x="10405872" y="3913632"/>
            <a:ext cx="310896" cy="310896"/>
          </a:xfrm>
          <a:prstGeom prst="ellipse">
            <a:avLst/>
          </a:prstGeom>
          <a:solidFill>
            <a:srgbClr val="272A38"/>
          </a:solidFill>
          <a:ln w="12700">
            <a:solidFill>
              <a:srgbClr val="272A38"/>
            </a:solidFill>
            <a:prstDash val="solid"/>
          </a:ln>
        </p:spPr>
      </p:sp>
      <p:sp>
        <p:nvSpPr>
          <p:cNvPr id="84" name="Shape 82"/>
          <p:cNvSpPr/>
          <p:nvPr/>
        </p:nvSpPr>
        <p:spPr>
          <a:xfrm>
            <a:off x="10808208" y="3913632"/>
            <a:ext cx="310896" cy="310896"/>
          </a:xfrm>
          <a:prstGeom prst="ellipse">
            <a:avLst/>
          </a:prstGeom>
          <a:solidFill>
            <a:srgbClr val="272A38"/>
          </a:solidFill>
          <a:ln w="12700">
            <a:solidFill>
              <a:srgbClr val="272A38"/>
            </a:solidFill>
            <a:prstDash val="solid"/>
          </a:ln>
        </p:spPr>
      </p:sp>
      <p:sp>
        <p:nvSpPr>
          <p:cNvPr id="85" name="Shape 83"/>
          <p:cNvSpPr/>
          <p:nvPr/>
        </p:nvSpPr>
        <p:spPr>
          <a:xfrm>
            <a:off x="11210544" y="3913632"/>
            <a:ext cx="310896" cy="310896"/>
          </a:xfrm>
          <a:prstGeom prst="ellipse">
            <a:avLst/>
          </a:prstGeom>
          <a:solidFill>
            <a:srgbClr val="272A38"/>
          </a:solidFill>
          <a:ln w="12700">
            <a:solidFill>
              <a:srgbClr val="272A38"/>
            </a:solidFill>
            <a:prstDash val="solid"/>
          </a:ln>
        </p:spPr>
      </p:sp>
      <p:sp>
        <p:nvSpPr>
          <p:cNvPr id="86" name="Shape 84"/>
          <p:cNvSpPr/>
          <p:nvPr/>
        </p:nvSpPr>
        <p:spPr>
          <a:xfrm>
            <a:off x="7589520" y="4315968"/>
            <a:ext cx="310896" cy="310896"/>
          </a:xfrm>
          <a:prstGeom prst="ellipse">
            <a:avLst/>
          </a:prstGeom>
          <a:solidFill>
            <a:srgbClr val="272A38"/>
          </a:solidFill>
          <a:ln w="12700">
            <a:solidFill>
              <a:srgbClr val="272A38"/>
            </a:solidFill>
            <a:prstDash val="solid"/>
          </a:ln>
        </p:spPr>
      </p:sp>
      <p:sp>
        <p:nvSpPr>
          <p:cNvPr id="87" name="Shape 85"/>
          <p:cNvSpPr/>
          <p:nvPr/>
        </p:nvSpPr>
        <p:spPr>
          <a:xfrm>
            <a:off x="7991856" y="4315968"/>
            <a:ext cx="310896" cy="310896"/>
          </a:xfrm>
          <a:prstGeom prst="ellipse">
            <a:avLst/>
          </a:prstGeom>
          <a:solidFill>
            <a:srgbClr val="272A38"/>
          </a:solidFill>
          <a:ln w="12700">
            <a:solidFill>
              <a:srgbClr val="272A38"/>
            </a:solidFill>
            <a:prstDash val="solid"/>
          </a:ln>
        </p:spPr>
      </p:sp>
      <p:sp>
        <p:nvSpPr>
          <p:cNvPr id="88" name="Shape 86"/>
          <p:cNvSpPr/>
          <p:nvPr/>
        </p:nvSpPr>
        <p:spPr>
          <a:xfrm>
            <a:off x="8394192" y="4315968"/>
            <a:ext cx="310896" cy="310896"/>
          </a:xfrm>
          <a:prstGeom prst="ellipse">
            <a:avLst/>
          </a:prstGeom>
          <a:solidFill>
            <a:srgbClr val="272A38"/>
          </a:solidFill>
          <a:ln w="12700">
            <a:solidFill>
              <a:srgbClr val="272A38"/>
            </a:solidFill>
            <a:prstDash val="solid"/>
          </a:ln>
        </p:spPr>
      </p:sp>
      <p:sp>
        <p:nvSpPr>
          <p:cNvPr id="89" name="Shape 87"/>
          <p:cNvSpPr/>
          <p:nvPr/>
        </p:nvSpPr>
        <p:spPr>
          <a:xfrm>
            <a:off x="8796528" y="4315968"/>
            <a:ext cx="310896" cy="310896"/>
          </a:xfrm>
          <a:prstGeom prst="ellipse">
            <a:avLst/>
          </a:prstGeom>
          <a:solidFill>
            <a:srgbClr val="272A38"/>
          </a:solidFill>
          <a:ln w="12700">
            <a:solidFill>
              <a:srgbClr val="272A38"/>
            </a:solidFill>
            <a:prstDash val="solid"/>
          </a:ln>
        </p:spPr>
      </p:sp>
      <p:sp>
        <p:nvSpPr>
          <p:cNvPr id="90" name="Shape 88"/>
          <p:cNvSpPr/>
          <p:nvPr/>
        </p:nvSpPr>
        <p:spPr>
          <a:xfrm>
            <a:off x="9198864" y="4315968"/>
            <a:ext cx="310896" cy="310896"/>
          </a:xfrm>
          <a:prstGeom prst="ellipse">
            <a:avLst/>
          </a:prstGeom>
          <a:solidFill>
            <a:srgbClr val="272A38"/>
          </a:solidFill>
          <a:ln w="12700">
            <a:solidFill>
              <a:srgbClr val="272A38"/>
            </a:solidFill>
            <a:prstDash val="solid"/>
          </a:ln>
        </p:spPr>
      </p:sp>
      <p:sp>
        <p:nvSpPr>
          <p:cNvPr id="91" name="Shape 89"/>
          <p:cNvSpPr/>
          <p:nvPr/>
        </p:nvSpPr>
        <p:spPr>
          <a:xfrm>
            <a:off x="9601200" y="4315968"/>
            <a:ext cx="310896" cy="310896"/>
          </a:xfrm>
          <a:prstGeom prst="ellipse">
            <a:avLst/>
          </a:prstGeom>
          <a:solidFill>
            <a:srgbClr val="272A38"/>
          </a:solidFill>
          <a:ln w="12700">
            <a:solidFill>
              <a:srgbClr val="272A38"/>
            </a:solidFill>
            <a:prstDash val="solid"/>
          </a:ln>
        </p:spPr>
      </p:sp>
      <p:sp>
        <p:nvSpPr>
          <p:cNvPr id="92" name="Shape 90"/>
          <p:cNvSpPr/>
          <p:nvPr/>
        </p:nvSpPr>
        <p:spPr>
          <a:xfrm>
            <a:off x="10003536" y="4315968"/>
            <a:ext cx="310896" cy="310896"/>
          </a:xfrm>
          <a:prstGeom prst="ellipse">
            <a:avLst/>
          </a:prstGeom>
          <a:solidFill>
            <a:srgbClr val="272A38"/>
          </a:solidFill>
          <a:ln w="12700">
            <a:solidFill>
              <a:srgbClr val="272A38"/>
            </a:solidFill>
            <a:prstDash val="solid"/>
          </a:ln>
        </p:spPr>
      </p:sp>
      <p:sp>
        <p:nvSpPr>
          <p:cNvPr id="93" name="Shape 91"/>
          <p:cNvSpPr/>
          <p:nvPr/>
        </p:nvSpPr>
        <p:spPr>
          <a:xfrm>
            <a:off x="10405872" y="4315968"/>
            <a:ext cx="310896" cy="310896"/>
          </a:xfrm>
          <a:prstGeom prst="ellipse">
            <a:avLst/>
          </a:prstGeom>
          <a:solidFill>
            <a:srgbClr val="272A38"/>
          </a:solidFill>
          <a:ln w="12700">
            <a:solidFill>
              <a:srgbClr val="272A38"/>
            </a:solidFill>
            <a:prstDash val="solid"/>
          </a:ln>
        </p:spPr>
      </p:sp>
      <p:sp>
        <p:nvSpPr>
          <p:cNvPr id="94" name="Shape 92"/>
          <p:cNvSpPr/>
          <p:nvPr/>
        </p:nvSpPr>
        <p:spPr>
          <a:xfrm>
            <a:off x="10808208" y="4315968"/>
            <a:ext cx="310896" cy="310896"/>
          </a:xfrm>
          <a:prstGeom prst="ellipse">
            <a:avLst/>
          </a:prstGeom>
          <a:solidFill>
            <a:srgbClr val="272A38"/>
          </a:solidFill>
          <a:ln w="12700">
            <a:solidFill>
              <a:srgbClr val="272A38"/>
            </a:solidFill>
            <a:prstDash val="solid"/>
          </a:ln>
        </p:spPr>
      </p:sp>
      <p:sp>
        <p:nvSpPr>
          <p:cNvPr id="95" name="Shape 93"/>
          <p:cNvSpPr/>
          <p:nvPr/>
        </p:nvSpPr>
        <p:spPr>
          <a:xfrm>
            <a:off x="11210544" y="4315968"/>
            <a:ext cx="310896" cy="310896"/>
          </a:xfrm>
          <a:prstGeom prst="ellipse">
            <a:avLst/>
          </a:prstGeom>
          <a:solidFill>
            <a:srgbClr val="272A38"/>
          </a:solidFill>
          <a:ln w="12700">
            <a:solidFill>
              <a:srgbClr val="272A38"/>
            </a:solidFill>
            <a:prstDash val="solid"/>
          </a:ln>
        </p:spPr>
      </p:sp>
      <p:sp>
        <p:nvSpPr>
          <p:cNvPr id="96" name="Shape 94"/>
          <p:cNvSpPr/>
          <p:nvPr/>
        </p:nvSpPr>
        <p:spPr>
          <a:xfrm>
            <a:off x="7589520" y="4718304"/>
            <a:ext cx="310896" cy="310896"/>
          </a:xfrm>
          <a:prstGeom prst="ellipse">
            <a:avLst/>
          </a:prstGeom>
          <a:solidFill>
            <a:srgbClr val="272A38"/>
          </a:solidFill>
          <a:ln w="12700">
            <a:solidFill>
              <a:srgbClr val="272A38"/>
            </a:solidFill>
            <a:prstDash val="solid"/>
          </a:ln>
        </p:spPr>
      </p:sp>
      <p:sp>
        <p:nvSpPr>
          <p:cNvPr id="97" name="Shape 95"/>
          <p:cNvSpPr/>
          <p:nvPr/>
        </p:nvSpPr>
        <p:spPr>
          <a:xfrm>
            <a:off x="7991856" y="4718304"/>
            <a:ext cx="310896" cy="310896"/>
          </a:xfrm>
          <a:prstGeom prst="ellipse">
            <a:avLst/>
          </a:prstGeom>
          <a:solidFill>
            <a:srgbClr val="272A38"/>
          </a:solidFill>
          <a:ln w="12700">
            <a:solidFill>
              <a:srgbClr val="272A38"/>
            </a:solidFill>
            <a:prstDash val="solid"/>
          </a:ln>
        </p:spPr>
      </p:sp>
      <p:sp>
        <p:nvSpPr>
          <p:cNvPr id="98" name="Shape 96"/>
          <p:cNvSpPr/>
          <p:nvPr/>
        </p:nvSpPr>
        <p:spPr>
          <a:xfrm>
            <a:off x="8394192" y="4718304"/>
            <a:ext cx="310896" cy="310896"/>
          </a:xfrm>
          <a:prstGeom prst="ellipse">
            <a:avLst/>
          </a:prstGeom>
          <a:solidFill>
            <a:srgbClr val="272A38"/>
          </a:solidFill>
          <a:ln w="12700">
            <a:solidFill>
              <a:srgbClr val="272A38"/>
            </a:solidFill>
            <a:prstDash val="solid"/>
          </a:ln>
        </p:spPr>
      </p:sp>
      <p:sp>
        <p:nvSpPr>
          <p:cNvPr id="99" name="Shape 97"/>
          <p:cNvSpPr/>
          <p:nvPr/>
        </p:nvSpPr>
        <p:spPr>
          <a:xfrm>
            <a:off x="8796528" y="4718304"/>
            <a:ext cx="310896" cy="310896"/>
          </a:xfrm>
          <a:prstGeom prst="ellipse">
            <a:avLst/>
          </a:prstGeom>
          <a:solidFill>
            <a:srgbClr val="272A38"/>
          </a:solidFill>
          <a:ln w="12700">
            <a:solidFill>
              <a:srgbClr val="272A38"/>
            </a:solidFill>
            <a:prstDash val="solid"/>
          </a:ln>
        </p:spPr>
      </p:sp>
      <p:sp>
        <p:nvSpPr>
          <p:cNvPr id="100" name="Shape 98"/>
          <p:cNvSpPr/>
          <p:nvPr/>
        </p:nvSpPr>
        <p:spPr>
          <a:xfrm>
            <a:off x="9198864" y="4718304"/>
            <a:ext cx="310896" cy="310896"/>
          </a:xfrm>
          <a:prstGeom prst="ellipse">
            <a:avLst/>
          </a:prstGeom>
          <a:solidFill>
            <a:srgbClr val="272A38"/>
          </a:solidFill>
          <a:ln w="12700">
            <a:solidFill>
              <a:srgbClr val="272A38"/>
            </a:solidFill>
            <a:prstDash val="solid"/>
          </a:ln>
        </p:spPr>
      </p:sp>
      <p:sp>
        <p:nvSpPr>
          <p:cNvPr id="101" name="Shape 99"/>
          <p:cNvSpPr/>
          <p:nvPr/>
        </p:nvSpPr>
        <p:spPr>
          <a:xfrm>
            <a:off x="9601200" y="4718304"/>
            <a:ext cx="310896" cy="310896"/>
          </a:xfrm>
          <a:prstGeom prst="ellipse">
            <a:avLst/>
          </a:prstGeom>
          <a:solidFill>
            <a:srgbClr val="272A38"/>
          </a:solidFill>
          <a:ln w="12700">
            <a:solidFill>
              <a:srgbClr val="272A38"/>
            </a:solidFill>
            <a:prstDash val="solid"/>
          </a:ln>
        </p:spPr>
      </p:sp>
      <p:sp>
        <p:nvSpPr>
          <p:cNvPr id="102" name="Shape 100"/>
          <p:cNvSpPr/>
          <p:nvPr/>
        </p:nvSpPr>
        <p:spPr>
          <a:xfrm>
            <a:off x="10003536" y="4718304"/>
            <a:ext cx="310896" cy="310896"/>
          </a:xfrm>
          <a:prstGeom prst="ellipse">
            <a:avLst/>
          </a:prstGeom>
          <a:solidFill>
            <a:srgbClr val="272A38"/>
          </a:solidFill>
          <a:ln w="12700">
            <a:solidFill>
              <a:srgbClr val="272A38"/>
            </a:solidFill>
            <a:prstDash val="solid"/>
          </a:ln>
        </p:spPr>
      </p:sp>
      <p:sp>
        <p:nvSpPr>
          <p:cNvPr id="103" name="Shape 101"/>
          <p:cNvSpPr/>
          <p:nvPr/>
        </p:nvSpPr>
        <p:spPr>
          <a:xfrm>
            <a:off x="10405872" y="4718304"/>
            <a:ext cx="310896" cy="310896"/>
          </a:xfrm>
          <a:prstGeom prst="ellipse">
            <a:avLst/>
          </a:prstGeom>
          <a:solidFill>
            <a:srgbClr val="272A38"/>
          </a:solidFill>
          <a:ln w="12700">
            <a:solidFill>
              <a:srgbClr val="272A38"/>
            </a:solidFill>
            <a:prstDash val="solid"/>
          </a:ln>
        </p:spPr>
      </p:sp>
      <p:sp>
        <p:nvSpPr>
          <p:cNvPr id="104" name="Shape 102"/>
          <p:cNvSpPr/>
          <p:nvPr/>
        </p:nvSpPr>
        <p:spPr>
          <a:xfrm>
            <a:off x="10808208" y="4718304"/>
            <a:ext cx="310896" cy="310896"/>
          </a:xfrm>
          <a:prstGeom prst="ellipse">
            <a:avLst/>
          </a:prstGeom>
          <a:solidFill>
            <a:srgbClr val="272A38"/>
          </a:solidFill>
          <a:ln w="12700">
            <a:solidFill>
              <a:srgbClr val="272A38"/>
            </a:solidFill>
            <a:prstDash val="solid"/>
          </a:ln>
        </p:spPr>
      </p:sp>
      <p:sp>
        <p:nvSpPr>
          <p:cNvPr id="105" name="Shape 103"/>
          <p:cNvSpPr/>
          <p:nvPr/>
        </p:nvSpPr>
        <p:spPr>
          <a:xfrm>
            <a:off x="11210544" y="4718304"/>
            <a:ext cx="310896" cy="310896"/>
          </a:xfrm>
          <a:prstGeom prst="ellipse">
            <a:avLst/>
          </a:prstGeom>
          <a:solidFill>
            <a:srgbClr val="272A38"/>
          </a:solidFill>
          <a:ln w="12700">
            <a:solidFill>
              <a:srgbClr val="272A38"/>
            </a:solidFill>
            <a:prstDash val="solid"/>
          </a:ln>
        </p:spPr>
      </p:sp>
      <p:sp>
        <p:nvSpPr>
          <p:cNvPr id="106" name="Text 10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Fanelli, 2009 (registru A734, A756).</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GHICIȚI · RIDICAȚI MÂNA</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DUPĂ RETRAGERE · CE FAC CEI CARE CITEAZĂ</a:t>
            </a:r>
            <a:endParaRPr lang="en-US" sz="1300" dirty="0"/>
          </a:p>
        </p:txBody>
      </p:sp>
      <p:sp>
        <p:nvSpPr>
          <p:cNvPr id="5" name="Text 3"/>
          <p:cNvSpPr/>
          <p:nvPr/>
        </p:nvSpPr>
        <p:spPr>
          <a:xfrm>
            <a:off x="594360" y="868680"/>
            <a:ext cx="10972800" cy="128016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A cita un articol înseamnă a-l folosi ca sprijin într-o lucrare nouă. Cine citează un articol după ce a fost retras ar trebui măcar să spună că a fost retras. Hsiao și Schneider (2021) au citit contextul a peste 13 000 de astfel de citări.</a:t>
            </a:r>
            <a:endParaRPr lang="en-US" sz="1800" dirty="0"/>
          </a:p>
        </p:txBody>
      </p:sp>
      <p:sp>
        <p:nvSpPr>
          <p:cNvPr id="6" name="Text 4"/>
          <p:cNvSpPr/>
          <p:nvPr/>
        </p:nvSpPr>
        <p:spPr>
          <a:xfrm>
            <a:off x="594360" y="2194560"/>
            <a:ext cx="10972800" cy="91440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Din citările scrise după retragere, câte credeți că spun că articolul fusese retras?</a:t>
            </a:r>
            <a:endParaRPr lang="en-US" sz="2500" dirty="0"/>
          </a:p>
        </p:txBody>
      </p:sp>
      <p:sp>
        <p:nvSpPr>
          <p:cNvPr id="7" name="Shape 5"/>
          <p:cNvSpPr/>
          <p:nvPr/>
        </p:nvSpPr>
        <p:spPr>
          <a:xfrm>
            <a:off x="594360" y="3246120"/>
            <a:ext cx="10972800" cy="566928"/>
          </a:xfrm>
          <a:prstGeom prst="roundRect">
            <a:avLst>
              <a:gd name="adj" fmla="val 14516"/>
            </a:avLst>
          </a:prstGeom>
          <a:solidFill>
            <a:srgbClr val="1D1F2B"/>
          </a:solidFill>
          <a:ln w="12700">
            <a:solidFill>
              <a:srgbClr val="1D1F2B"/>
            </a:solidFill>
            <a:prstDash val="solid"/>
          </a:ln>
        </p:spPr>
      </p:sp>
      <p:sp>
        <p:nvSpPr>
          <p:cNvPr id="8" name="Shape 6"/>
          <p:cNvSpPr/>
          <p:nvPr/>
        </p:nvSpPr>
        <p:spPr>
          <a:xfrm>
            <a:off x="914400" y="3319272"/>
            <a:ext cx="420624" cy="420624"/>
          </a:xfrm>
          <a:prstGeom prst="ellipse">
            <a:avLst/>
          </a:prstGeom>
          <a:solidFill>
            <a:srgbClr val="27D3BE"/>
          </a:solidFill>
          <a:ln/>
        </p:spPr>
      </p:sp>
      <p:sp>
        <p:nvSpPr>
          <p:cNvPr id="9" name="Text 7"/>
          <p:cNvSpPr/>
          <p:nvPr/>
        </p:nvSpPr>
        <p:spPr>
          <a:xfrm>
            <a:off x="914400" y="33192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600200" y="3246120"/>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Aproape toate</a:t>
            </a:r>
            <a:endParaRPr lang="en-US" sz="1800" dirty="0"/>
          </a:p>
        </p:txBody>
      </p:sp>
      <p:sp>
        <p:nvSpPr>
          <p:cNvPr id="11" name="Shape 9"/>
          <p:cNvSpPr/>
          <p:nvPr/>
        </p:nvSpPr>
        <p:spPr>
          <a:xfrm>
            <a:off x="594360" y="3922776"/>
            <a:ext cx="10972800" cy="566928"/>
          </a:xfrm>
          <a:prstGeom prst="roundRect">
            <a:avLst>
              <a:gd name="adj" fmla="val 14516"/>
            </a:avLst>
          </a:prstGeom>
          <a:solidFill>
            <a:srgbClr val="1D1F2B"/>
          </a:solidFill>
          <a:ln w="12700">
            <a:solidFill>
              <a:srgbClr val="1D1F2B"/>
            </a:solidFill>
            <a:prstDash val="solid"/>
          </a:ln>
        </p:spPr>
      </p:sp>
      <p:sp>
        <p:nvSpPr>
          <p:cNvPr id="12" name="Shape 10"/>
          <p:cNvSpPr/>
          <p:nvPr/>
        </p:nvSpPr>
        <p:spPr>
          <a:xfrm>
            <a:off x="914400" y="3995928"/>
            <a:ext cx="420624" cy="420624"/>
          </a:xfrm>
          <a:prstGeom prst="ellipse">
            <a:avLst/>
          </a:prstGeom>
          <a:solidFill>
            <a:srgbClr val="27D3BE"/>
          </a:solidFill>
          <a:ln/>
        </p:spPr>
      </p:sp>
      <p:sp>
        <p:nvSpPr>
          <p:cNvPr id="13" name="Text 11"/>
          <p:cNvSpPr/>
          <p:nvPr/>
        </p:nvSpPr>
        <p:spPr>
          <a:xfrm>
            <a:off x="914400" y="3995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600200" y="3922776"/>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Cam jumătate</a:t>
            </a:r>
            <a:endParaRPr lang="en-US" sz="1800" dirty="0"/>
          </a:p>
        </p:txBody>
      </p:sp>
      <p:sp>
        <p:nvSpPr>
          <p:cNvPr id="15" name="Shape 13"/>
          <p:cNvSpPr/>
          <p:nvPr/>
        </p:nvSpPr>
        <p:spPr>
          <a:xfrm>
            <a:off x="594360" y="4599432"/>
            <a:ext cx="10972800" cy="566928"/>
          </a:xfrm>
          <a:prstGeom prst="roundRect">
            <a:avLst>
              <a:gd name="adj" fmla="val 14516"/>
            </a:avLst>
          </a:prstGeom>
          <a:solidFill>
            <a:srgbClr val="1D1F2B"/>
          </a:solidFill>
          <a:ln w="12700">
            <a:solidFill>
              <a:srgbClr val="1D1F2B"/>
            </a:solidFill>
            <a:prstDash val="solid"/>
          </a:ln>
        </p:spPr>
      </p:sp>
      <p:sp>
        <p:nvSpPr>
          <p:cNvPr id="16" name="Shape 14"/>
          <p:cNvSpPr/>
          <p:nvPr/>
        </p:nvSpPr>
        <p:spPr>
          <a:xfrm>
            <a:off x="914400" y="4672584"/>
            <a:ext cx="420624" cy="420624"/>
          </a:xfrm>
          <a:prstGeom prst="ellipse">
            <a:avLst/>
          </a:prstGeom>
          <a:solidFill>
            <a:srgbClr val="27D3BE"/>
          </a:solidFill>
          <a:ln/>
        </p:spPr>
      </p:sp>
      <p:sp>
        <p:nvSpPr>
          <p:cNvPr id="17" name="Text 15"/>
          <p:cNvSpPr/>
          <p:nvPr/>
        </p:nvSpPr>
        <p:spPr>
          <a:xfrm>
            <a:off x="914400" y="46725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600200" y="4599432"/>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Cam 1 din 5</a:t>
            </a:r>
            <a:endParaRPr lang="en-US" sz="1800" dirty="0"/>
          </a:p>
        </p:txBody>
      </p:sp>
      <p:sp>
        <p:nvSpPr>
          <p:cNvPr id="19" name="Shape 17"/>
          <p:cNvSpPr/>
          <p:nvPr/>
        </p:nvSpPr>
        <p:spPr>
          <a:xfrm>
            <a:off x="594360" y="5276088"/>
            <a:ext cx="10972800" cy="566928"/>
          </a:xfrm>
          <a:prstGeom prst="roundRect">
            <a:avLst>
              <a:gd name="adj" fmla="val 14516"/>
            </a:avLst>
          </a:prstGeom>
          <a:solidFill>
            <a:srgbClr val="1D1F2B"/>
          </a:solidFill>
          <a:ln w="12700">
            <a:solidFill>
              <a:srgbClr val="1D1F2B"/>
            </a:solidFill>
            <a:prstDash val="solid"/>
          </a:ln>
        </p:spPr>
      </p:sp>
      <p:sp>
        <p:nvSpPr>
          <p:cNvPr id="20" name="Shape 18"/>
          <p:cNvSpPr/>
          <p:nvPr/>
        </p:nvSpPr>
        <p:spPr>
          <a:xfrm>
            <a:off x="914400" y="5349240"/>
            <a:ext cx="420624" cy="420624"/>
          </a:xfrm>
          <a:prstGeom prst="ellipse">
            <a:avLst/>
          </a:prstGeom>
          <a:solidFill>
            <a:srgbClr val="27D3BE"/>
          </a:solidFill>
          <a:ln/>
        </p:spPr>
      </p:sp>
      <p:sp>
        <p:nvSpPr>
          <p:cNvPr id="21" name="Text 19"/>
          <p:cNvSpPr/>
          <p:nvPr/>
        </p:nvSpPr>
        <p:spPr>
          <a:xfrm>
            <a:off x="914400" y="5349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600200" y="5276088"/>
            <a:ext cx="9692640" cy="566928"/>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Cam 1 din 20</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RETRAGERE · RĂSPUNSUL</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B02532"/>
                </a:solidFill>
                <a:latin typeface="Palatino Linotype" pitchFamily="34" charset="0"/>
                <a:ea typeface="Palatino Linotype" pitchFamily="34" charset="-122"/>
                <a:cs typeface="Palatino Linotype" pitchFamily="34" charset="-120"/>
              </a:rPr>
              <a:t>1 din 20</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dintre citările scrise după retragere spun, aproximativ, că articolul fusese retras</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3A3C44"/>
                </a:solidFill>
                <a:latin typeface="Palatino Linotype" pitchFamily="34" charset="0"/>
                <a:ea typeface="Palatino Linotype" pitchFamily="34" charset="-122"/>
                <a:cs typeface="Palatino Linotype" pitchFamily="34" charset="-120"/>
              </a:rPr>
              <a:t>Celelalte 19 nu spun nimic despre retragere. Hsiao și Schneider (2021) au urmărit 7 813 articole retrase: retragerea nu a schimbat felul în care erau citate.</a:t>
            </a:r>
            <a:endParaRPr lang="en-US" sz="1700" dirty="0"/>
          </a:p>
        </p:txBody>
      </p:sp>
      <p:sp>
        <p:nvSpPr>
          <p:cNvPr id="6" name="Shape 4"/>
          <p:cNvSpPr/>
          <p:nvPr/>
        </p:nvSpPr>
        <p:spPr>
          <a:xfrm>
            <a:off x="7516368" y="1280160"/>
            <a:ext cx="640080" cy="640080"/>
          </a:xfrm>
          <a:prstGeom prst="ellipse">
            <a:avLst/>
          </a:prstGeom>
          <a:solidFill>
            <a:srgbClr val="B02532"/>
          </a:solidFill>
          <a:ln w="12700">
            <a:solidFill>
              <a:srgbClr val="B02532"/>
            </a:solidFill>
            <a:prstDash val="solid"/>
          </a:ln>
        </p:spPr>
      </p:sp>
      <p:sp>
        <p:nvSpPr>
          <p:cNvPr id="7" name="Shape 5"/>
          <p:cNvSpPr/>
          <p:nvPr/>
        </p:nvSpPr>
        <p:spPr>
          <a:xfrm>
            <a:off x="8357616" y="1280160"/>
            <a:ext cx="640080" cy="640080"/>
          </a:xfrm>
          <a:prstGeom prst="ellipse">
            <a:avLst/>
          </a:prstGeom>
          <a:solidFill>
            <a:srgbClr val="DCD8CF"/>
          </a:solidFill>
          <a:ln w="12700">
            <a:solidFill>
              <a:srgbClr val="DCD8CF"/>
            </a:solidFill>
            <a:prstDash val="solid"/>
          </a:ln>
        </p:spPr>
      </p:sp>
      <p:sp>
        <p:nvSpPr>
          <p:cNvPr id="8" name="Shape 6"/>
          <p:cNvSpPr/>
          <p:nvPr/>
        </p:nvSpPr>
        <p:spPr>
          <a:xfrm>
            <a:off x="9198864" y="1280160"/>
            <a:ext cx="640080" cy="640080"/>
          </a:xfrm>
          <a:prstGeom prst="ellipse">
            <a:avLst/>
          </a:prstGeom>
          <a:solidFill>
            <a:srgbClr val="DCD8CF"/>
          </a:solidFill>
          <a:ln w="12700">
            <a:solidFill>
              <a:srgbClr val="DCD8CF"/>
            </a:solidFill>
            <a:prstDash val="solid"/>
          </a:ln>
        </p:spPr>
      </p:sp>
      <p:sp>
        <p:nvSpPr>
          <p:cNvPr id="9" name="Shape 7"/>
          <p:cNvSpPr/>
          <p:nvPr/>
        </p:nvSpPr>
        <p:spPr>
          <a:xfrm>
            <a:off x="10040112" y="1280160"/>
            <a:ext cx="640080" cy="640080"/>
          </a:xfrm>
          <a:prstGeom prst="ellipse">
            <a:avLst/>
          </a:prstGeom>
          <a:solidFill>
            <a:srgbClr val="DCD8CF"/>
          </a:solidFill>
          <a:ln w="12700">
            <a:solidFill>
              <a:srgbClr val="DCD8CF"/>
            </a:solidFill>
            <a:prstDash val="solid"/>
          </a:ln>
        </p:spPr>
      </p:sp>
      <p:sp>
        <p:nvSpPr>
          <p:cNvPr id="10" name="Shape 8"/>
          <p:cNvSpPr/>
          <p:nvPr/>
        </p:nvSpPr>
        <p:spPr>
          <a:xfrm>
            <a:off x="10881360" y="1280160"/>
            <a:ext cx="640080" cy="640080"/>
          </a:xfrm>
          <a:prstGeom prst="ellipse">
            <a:avLst/>
          </a:prstGeom>
          <a:solidFill>
            <a:srgbClr val="DCD8CF"/>
          </a:solidFill>
          <a:ln w="12700">
            <a:solidFill>
              <a:srgbClr val="DCD8CF"/>
            </a:solidFill>
            <a:prstDash val="solid"/>
          </a:ln>
        </p:spPr>
      </p:sp>
      <p:sp>
        <p:nvSpPr>
          <p:cNvPr id="11" name="Shape 9"/>
          <p:cNvSpPr/>
          <p:nvPr/>
        </p:nvSpPr>
        <p:spPr>
          <a:xfrm>
            <a:off x="7516368" y="2121408"/>
            <a:ext cx="640080" cy="640080"/>
          </a:xfrm>
          <a:prstGeom prst="ellipse">
            <a:avLst/>
          </a:prstGeom>
          <a:solidFill>
            <a:srgbClr val="DCD8CF"/>
          </a:solidFill>
          <a:ln w="12700">
            <a:solidFill>
              <a:srgbClr val="DCD8CF"/>
            </a:solidFill>
            <a:prstDash val="solid"/>
          </a:ln>
        </p:spPr>
      </p:sp>
      <p:sp>
        <p:nvSpPr>
          <p:cNvPr id="12" name="Shape 10"/>
          <p:cNvSpPr/>
          <p:nvPr/>
        </p:nvSpPr>
        <p:spPr>
          <a:xfrm>
            <a:off x="8357616" y="2121408"/>
            <a:ext cx="640080" cy="640080"/>
          </a:xfrm>
          <a:prstGeom prst="ellipse">
            <a:avLst/>
          </a:prstGeom>
          <a:solidFill>
            <a:srgbClr val="DCD8CF"/>
          </a:solidFill>
          <a:ln w="12700">
            <a:solidFill>
              <a:srgbClr val="DCD8CF"/>
            </a:solidFill>
            <a:prstDash val="solid"/>
          </a:ln>
        </p:spPr>
      </p:sp>
      <p:sp>
        <p:nvSpPr>
          <p:cNvPr id="13" name="Shape 11"/>
          <p:cNvSpPr/>
          <p:nvPr/>
        </p:nvSpPr>
        <p:spPr>
          <a:xfrm>
            <a:off x="9198864" y="2121408"/>
            <a:ext cx="640080" cy="640080"/>
          </a:xfrm>
          <a:prstGeom prst="ellipse">
            <a:avLst/>
          </a:prstGeom>
          <a:solidFill>
            <a:srgbClr val="DCD8CF"/>
          </a:solidFill>
          <a:ln w="12700">
            <a:solidFill>
              <a:srgbClr val="DCD8CF"/>
            </a:solidFill>
            <a:prstDash val="solid"/>
          </a:ln>
        </p:spPr>
      </p:sp>
      <p:sp>
        <p:nvSpPr>
          <p:cNvPr id="14" name="Shape 12"/>
          <p:cNvSpPr/>
          <p:nvPr/>
        </p:nvSpPr>
        <p:spPr>
          <a:xfrm>
            <a:off x="10040112" y="2121408"/>
            <a:ext cx="640080" cy="640080"/>
          </a:xfrm>
          <a:prstGeom prst="ellipse">
            <a:avLst/>
          </a:prstGeom>
          <a:solidFill>
            <a:srgbClr val="DCD8CF"/>
          </a:solidFill>
          <a:ln w="12700">
            <a:solidFill>
              <a:srgbClr val="DCD8CF"/>
            </a:solidFill>
            <a:prstDash val="solid"/>
          </a:ln>
        </p:spPr>
      </p:sp>
      <p:sp>
        <p:nvSpPr>
          <p:cNvPr id="15" name="Shape 13"/>
          <p:cNvSpPr/>
          <p:nvPr/>
        </p:nvSpPr>
        <p:spPr>
          <a:xfrm>
            <a:off x="10881360" y="2121408"/>
            <a:ext cx="640080" cy="640080"/>
          </a:xfrm>
          <a:prstGeom prst="ellipse">
            <a:avLst/>
          </a:prstGeom>
          <a:solidFill>
            <a:srgbClr val="DCD8CF"/>
          </a:solidFill>
          <a:ln w="12700">
            <a:solidFill>
              <a:srgbClr val="DCD8CF"/>
            </a:solidFill>
            <a:prstDash val="solid"/>
          </a:ln>
        </p:spPr>
      </p:sp>
      <p:sp>
        <p:nvSpPr>
          <p:cNvPr id="16" name="Shape 14"/>
          <p:cNvSpPr/>
          <p:nvPr/>
        </p:nvSpPr>
        <p:spPr>
          <a:xfrm>
            <a:off x="7516368" y="2962656"/>
            <a:ext cx="640080" cy="640080"/>
          </a:xfrm>
          <a:prstGeom prst="ellipse">
            <a:avLst/>
          </a:prstGeom>
          <a:solidFill>
            <a:srgbClr val="DCD8CF"/>
          </a:solidFill>
          <a:ln w="12700">
            <a:solidFill>
              <a:srgbClr val="DCD8CF"/>
            </a:solidFill>
            <a:prstDash val="solid"/>
          </a:ln>
        </p:spPr>
      </p:sp>
      <p:sp>
        <p:nvSpPr>
          <p:cNvPr id="17" name="Shape 15"/>
          <p:cNvSpPr/>
          <p:nvPr/>
        </p:nvSpPr>
        <p:spPr>
          <a:xfrm>
            <a:off x="8357616" y="2962656"/>
            <a:ext cx="640080" cy="640080"/>
          </a:xfrm>
          <a:prstGeom prst="ellipse">
            <a:avLst/>
          </a:prstGeom>
          <a:solidFill>
            <a:srgbClr val="DCD8CF"/>
          </a:solidFill>
          <a:ln w="12700">
            <a:solidFill>
              <a:srgbClr val="DCD8CF"/>
            </a:solidFill>
            <a:prstDash val="solid"/>
          </a:ln>
        </p:spPr>
      </p:sp>
      <p:sp>
        <p:nvSpPr>
          <p:cNvPr id="18" name="Shape 16"/>
          <p:cNvSpPr/>
          <p:nvPr/>
        </p:nvSpPr>
        <p:spPr>
          <a:xfrm>
            <a:off x="9198864" y="2962656"/>
            <a:ext cx="640080" cy="640080"/>
          </a:xfrm>
          <a:prstGeom prst="ellipse">
            <a:avLst/>
          </a:prstGeom>
          <a:solidFill>
            <a:srgbClr val="DCD8CF"/>
          </a:solidFill>
          <a:ln w="12700">
            <a:solidFill>
              <a:srgbClr val="DCD8CF"/>
            </a:solidFill>
            <a:prstDash val="solid"/>
          </a:ln>
        </p:spPr>
      </p:sp>
      <p:sp>
        <p:nvSpPr>
          <p:cNvPr id="19" name="Shape 17"/>
          <p:cNvSpPr/>
          <p:nvPr/>
        </p:nvSpPr>
        <p:spPr>
          <a:xfrm>
            <a:off x="10040112" y="2962656"/>
            <a:ext cx="640080" cy="640080"/>
          </a:xfrm>
          <a:prstGeom prst="ellipse">
            <a:avLst/>
          </a:prstGeom>
          <a:solidFill>
            <a:srgbClr val="DCD8CF"/>
          </a:solidFill>
          <a:ln w="12700">
            <a:solidFill>
              <a:srgbClr val="DCD8CF"/>
            </a:solidFill>
            <a:prstDash val="solid"/>
          </a:ln>
        </p:spPr>
      </p:sp>
      <p:sp>
        <p:nvSpPr>
          <p:cNvPr id="20" name="Shape 18"/>
          <p:cNvSpPr/>
          <p:nvPr/>
        </p:nvSpPr>
        <p:spPr>
          <a:xfrm>
            <a:off x="10881360" y="2962656"/>
            <a:ext cx="640080" cy="640080"/>
          </a:xfrm>
          <a:prstGeom prst="ellipse">
            <a:avLst/>
          </a:prstGeom>
          <a:solidFill>
            <a:srgbClr val="DCD8CF"/>
          </a:solidFill>
          <a:ln w="12700">
            <a:solidFill>
              <a:srgbClr val="DCD8CF"/>
            </a:solidFill>
            <a:prstDash val="solid"/>
          </a:ln>
        </p:spPr>
      </p:sp>
      <p:sp>
        <p:nvSpPr>
          <p:cNvPr id="21" name="Shape 19"/>
          <p:cNvSpPr/>
          <p:nvPr/>
        </p:nvSpPr>
        <p:spPr>
          <a:xfrm>
            <a:off x="7516368" y="3803904"/>
            <a:ext cx="640080" cy="640080"/>
          </a:xfrm>
          <a:prstGeom prst="ellipse">
            <a:avLst/>
          </a:prstGeom>
          <a:solidFill>
            <a:srgbClr val="DCD8CF"/>
          </a:solidFill>
          <a:ln w="12700">
            <a:solidFill>
              <a:srgbClr val="DCD8CF"/>
            </a:solidFill>
            <a:prstDash val="solid"/>
          </a:ln>
        </p:spPr>
      </p:sp>
      <p:sp>
        <p:nvSpPr>
          <p:cNvPr id="22" name="Shape 20"/>
          <p:cNvSpPr/>
          <p:nvPr/>
        </p:nvSpPr>
        <p:spPr>
          <a:xfrm>
            <a:off x="8357616" y="3803904"/>
            <a:ext cx="640080" cy="640080"/>
          </a:xfrm>
          <a:prstGeom prst="ellipse">
            <a:avLst/>
          </a:prstGeom>
          <a:solidFill>
            <a:srgbClr val="DCD8CF"/>
          </a:solidFill>
          <a:ln w="12700">
            <a:solidFill>
              <a:srgbClr val="DCD8CF"/>
            </a:solidFill>
            <a:prstDash val="solid"/>
          </a:ln>
        </p:spPr>
      </p:sp>
      <p:sp>
        <p:nvSpPr>
          <p:cNvPr id="23" name="Shape 21"/>
          <p:cNvSpPr/>
          <p:nvPr/>
        </p:nvSpPr>
        <p:spPr>
          <a:xfrm>
            <a:off x="9198864" y="3803904"/>
            <a:ext cx="640080" cy="640080"/>
          </a:xfrm>
          <a:prstGeom prst="ellipse">
            <a:avLst/>
          </a:prstGeom>
          <a:solidFill>
            <a:srgbClr val="DCD8CF"/>
          </a:solidFill>
          <a:ln w="12700">
            <a:solidFill>
              <a:srgbClr val="DCD8CF"/>
            </a:solidFill>
            <a:prstDash val="solid"/>
          </a:ln>
        </p:spPr>
      </p:sp>
      <p:sp>
        <p:nvSpPr>
          <p:cNvPr id="24" name="Shape 22"/>
          <p:cNvSpPr/>
          <p:nvPr/>
        </p:nvSpPr>
        <p:spPr>
          <a:xfrm>
            <a:off x="10040112" y="3803904"/>
            <a:ext cx="640080" cy="640080"/>
          </a:xfrm>
          <a:prstGeom prst="ellipse">
            <a:avLst/>
          </a:prstGeom>
          <a:solidFill>
            <a:srgbClr val="DCD8CF"/>
          </a:solidFill>
          <a:ln w="12700">
            <a:solidFill>
              <a:srgbClr val="DCD8CF"/>
            </a:solidFill>
            <a:prstDash val="solid"/>
          </a:ln>
        </p:spPr>
      </p:sp>
      <p:sp>
        <p:nvSpPr>
          <p:cNvPr id="25" name="Shape 23"/>
          <p:cNvSpPr/>
          <p:nvPr/>
        </p:nvSpPr>
        <p:spPr>
          <a:xfrm>
            <a:off x="10881360" y="3803904"/>
            <a:ext cx="640080" cy="640080"/>
          </a:xfrm>
          <a:prstGeom prst="ellipse">
            <a:avLst/>
          </a:prstGeom>
          <a:solidFill>
            <a:srgbClr val="DCD8CF"/>
          </a:solidFill>
          <a:ln w="12700">
            <a:solidFill>
              <a:srgbClr val="DCD8CF"/>
            </a:solidFill>
            <a:prstDash val="solid"/>
          </a:ln>
        </p:spPr>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Hsiao și Schneider, 2021 (registru A735, A736, A746).</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 MEDICINĂ · RADIOTERAPIA ONCOLOGICĂ</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FF4757"/>
                </a:solidFill>
                <a:latin typeface="Palatino Linotype" pitchFamily="34" charset="0"/>
                <a:ea typeface="Palatino Linotype" pitchFamily="34" charset="-122"/>
                <a:cs typeface="Palatino Linotype" pitchFamily="34" charset="-120"/>
              </a:rPr>
              <a:t>9 din 10</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dintre cele 358 de lucrări examinate citau, aproximativ, un articol retras ca pe unul valabil</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D5D8E2"/>
                </a:solidFill>
                <a:latin typeface="Palatino Linotype" pitchFamily="34" charset="0"/>
                <a:ea typeface="Palatino Linotype" pitchFamily="34" charset="-122"/>
                <a:cs typeface="Palatino Linotype" pitchFamily="34" charset="-120"/>
              </a:rPr>
              <a:t>Hamilton (2019) a urmărit 47 de studii retrase din radioterapia oncologică și lucrările care le-au citat după retragere. Printre acestea se aflau trei ghiduri clinice.</a:t>
            </a:r>
            <a:endParaRPr lang="en-US" sz="1700" dirty="0"/>
          </a:p>
        </p:txBody>
      </p:sp>
      <p:sp>
        <p:nvSpPr>
          <p:cNvPr id="6" name="Shape 4"/>
          <p:cNvSpPr/>
          <p:nvPr/>
        </p:nvSpPr>
        <p:spPr>
          <a:xfrm>
            <a:off x="7589520" y="1920240"/>
            <a:ext cx="640080" cy="640080"/>
          </a:xfrm>
          <a:prstGeom prst="ellipse">
            <a:avLst/>
          </a:prstGeom>
          <a:solidFill>
            <a:srgbClr val="FF4757"/>
          </a:solidFill>
          <a:ln w="12700">
            <a:solidFill>
              <a:srgbClr val="FF4757"/>
            </a:solidFill>
            <a:prstDash val="solid"/>
          </a:ln>
        </p:spPr>
      </p:sp>
      <p:sp>
        <p:nvSpPr>
          <p:cNvPr id="7" name="Shape 5"/>
          <p:cNvSpPr/>
          <p:nvPr/>
        </p:nvSpPr>
        <p:spPr>
          <a:xfrm>
            <a:off x="8412480" y="1920240"/>
            <a:ext cx="640080" cy="640080"/>
          </a:xfrm>
          <a:prstGeom prst="ellipse">
            <a:avLst/>
          </a:prstGeom>
          <a:solidFill>
            <a:srgbClr val="FF4757"/>
          </a:solidFill>
          <a:ln w="12700">
            <a:solidFill>
              <a:srgbClr val="FF4757"/>
            </a:solidFill>
            <a:prstDash val="solid"/>
          </a:ln>
        </p:spPr>
      </p:sp>
      <p:sp>
        <p:nvSpPr>
          <p:cNvPr id="8" name="Shape 6"/>
          <p:cNvSpPr/>
          <p:nvPr/>
        </p:nvSpPr>
        <p:spPr>
          <a:xfrm>
            <a:off x="9235440" y="1920240"/>
            <a:ext cx="640080" cy="640080"/>
          </a:xfrm>
          <a:prstGeom prst="ellipse">
            <a:avLst/>
          </a:prstGeom>
          <a:solidFill>
            <a:srgbClr val="FF4757"/>
          </a:solidFill>
          <a:ln w="12700">
            <a:solidFill>
              <a:srgbClr val="FF4757"/>
            </a:solidFill>
            <a:prstDash val="solid"/>
          </a:ln>
        </p:spPr>
      </p:sp>
      <p:sp>
        <p:nvSpPr>
          <p:cNvPr id="9" name="Shape 7"/>
          <p:cNvSpPr/>
          <p:nvPr/>
        </p:nvSpPr>
        <p:spPr>
          <a:xfrm>
            <a:off x="10058400" y="1920240"/>
            <a:ext cx="640080" cy="640080"/>
          </a:xfrm>
          <a:prstGeom prst="ellipse">
            <a:avLst/>
          </a:prstGeom>
          <a:solidFill>
            <a:srgbClr val="FF4757"/>
          </a:solidFill>
          <a:ln w="12700">
            <a:solidFill>
              <a:srgbClr val="FF4757"/>
            </a:solidFill>
            <a:prstDash val="solid"/>
          </a:ln>
        </p:spPr>
      </p:sp>
      <p:sp>
        <p:nvSpPr>
          <p:cNvPr id="10" name="Shape 8"/>
          <p:cNvSpPr/>
          <p:nvPr/>
        </p:nvSpPr>
        <p:spPr>
          <a:xfrm>
            <a:off x="10881360" y="1920240"/>
            <a:ext cx="640080" cy="640080"/>
          </a:xfrm>
          <a:prstGeom prst="ellipse">
            <a:avLst/>
          </a:prstGeom>
          <a:solidFill>
            <a:srgbClr val="FF4757"/>
          </a:solidFill>
          <a:ln w="12700">
            <a:solidFill>
              <a:srgbClr val="FF4757"/>
            </a:solidFill>
            <a:prstDash val="solid"/>
          </a:ln>
        </p:spPr>
      </p:sp>
      <p:sp>
        <p:nvSpPr>
          <p:cNvPr id="11" name="Shape 9"/>
          <p:cNvSpPr/>
          <p:nvPr/>
        </p:nvSpPr>
        <p:spPr>
          <a:xfrm>
            <a:off x="7589520" y="2743200"/>
            <a:ext cx="640080" cy="640080"/>
          </a:xfrm>
          <a:prstGeom prst="ellipse">
            <a:avLst/>
          </a:prstGeom>
          <a:solidFill>
            <a:srgbClr val="FF4757"/>
          </a:solidFill>
          <a:ln w="12700">
            <a:solidFill>
              <a:srgbClr val="FF4757"/>
            </a:solidFill>
            <a:prstDash val="solid"/>
          </a:ln>
        </p:spPr>
      </p:sp>
      <p:sp>
        <p:nvSpPr>
          <p:cNvPr id="12" name="Shape 10"/>
          <p:cNvSpPr/>
          <p:nvPr/>
        </p:nvSpPr>
        <p:spPr>
          <a:xfrm>
            <a:off x="8412480" y="2743200"/>
            <a:ext cx="640080" cy="640080"/>
          </a:xfrm>
          <a:prstGeom prst="ellipse">
            <a:avLst/>
          </a:prstGeom>
          <a:solidFill>
            <a:srgbClr val="FF4757"/>
          </a:solidFill>
          <a:ln w="12700">
            <a:solidFill>
              <a:srgbClr val="FF4757"/>
            </a:solidFill>
            <a:prstDash val="solid"/>
          </a:ln>
        </p:spPr>
      </p:sp>
      <p:sp>
        <p:nvSpPr>
          <p:cNvPr id="13" name="Shape 11"/>
          <p:cNvSpPr/>
          <p:nvPr/>
        </p:nvSpPr>
        <p:spPr>
          <a:xfrm>
            <a:off x="9235440" y="2743200"/>
            <a:ext cx="640080" cy="640080"/>
          </a:xfrm>
          <a:prstGeom prst="ellipse">
            <a:avLst/>
          </a:prstGeom>
          <a:solidFill>
            <a:srgbClr val="FF4757"/>
          </a:solidFill>
          <a:ln w="12700">
            <a:solidFill>
              <a:srgbClr val="FF4757"/>
            </a:solidFill>
            <a:prstDash val="solid"/>
          </a:ln>
        </p:spPr>
      </p:sp>
      <p:sp>
        <p:nvSpPr>
          <p:cNvPr id="14" name="Shape 12"/>
          <p:cNvSpPr/>
          <p:nvPr/>
        </p:nvSpPr>
        <p:spPr>
          <a:xfrm>
            <a:off x="10058400" y="2743200"/>
            <a:ext cx="640080" cy="640080"/>
          </a:xfrm>
          <a:prstGeom prst="ellipse">
            <a:avLst/>
          </a:prstGeom>
          <a:solidFill>
            <a:srgbClr val="FF4757"/>
          </a:solidFill>
          <a:ln w="12700">
            <a:solidFill>
              <a:srgbClr val="FF4757"/>
            </a:solidFill>
            <a:prstDash val="solid"/>
          </a:ln>
        </p:spPr>
      </p:sp>
      <p:sp>
        <p:nvSpPr>
          <p:cNvPr id="15" name="Shape 13"/>
          <p:cNvSpPr/>
          <p:nvPr/>
        </p:nvSpPr>
        <p:spPr>
          <a:xfrm>
            <a:off x="10881360" y="2743200"/>
            <a:ext cx="640080" cy="640080"/>
          </a:xfrm>
          <a:prstGeom prst="ellipse">
            <a:avLst/>
          </a:prstGeom>
          <a:solidFill>
            <a:srgbClr val="272A38"/>
          </a:solidFill>
          <a:ln w="12700">
            <a:solidFill>
              <a:srgbClr val="272A38"/>
            </a:solidFill>
            <a:prstDash val="solid"/>
          </a:ln>
        </p:spPr>
      </p:sp>
      <p:sp>
        <p:nvSpPr>
          <p:cNvPr id="16" name="Text 1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Hamilton, 2019 (registru A737, A738).</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VERIFICAȚI CHIAR VOI · PAȘII ÎN PUBMED</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Cum aflați dacă un articol a fost retras</a:t>
            </a:r>
            <a:endParaRPr lang="en-US" sz="3000" dirty="0"/>
          </a:p>
        </p:txBody>
      </p:sp>
      <p:sp>
        <p:nvSpPr>
          <p:cNvPr id="4" name="Shape 2"/>
          <p:cNvSpPr/>
          <p:nvPr/>
        </p:nvSpPr>
        <p:spPr>
          <a:xfrm>
            <a:off x="594360" y="1645920"/>
            <a:ext cx="10972800" cy="768096"/>
          </a:xfrm>
          <a:prstGeom prst="roundRect">
            <a:avLst>
              <a:gd name="adj" fmla="val 10714"/>
            </a:avLst>
          </a:prstGeom>
          <a:solidFill>
            <a:srgbClr val="ECEAE4"/>
          </a:solidFill>
          <a:ln w="12700">
            <a:solidFill>
              <a:srgbClr val="ECEAE4"/>
            </a:solidFill>
            <a:prstDash val="solid"/>
          </a:ln>
        </p:spPr>
      </p:sp>
      <p:sp>
        <p:nvSpPr>
          <p:cNvPr id="5" name="Shape 3"/>
          <p:cNvSpPr/>
          <p:nvPr/>
        </p:nvSpPr>
        <p:spPr>
          <a:xfrm>
            <a:off x="914400" y="1819656"/>
            <a:ext cx="420624" cy="420624"/>
          </a:xfrm>
          <a:prstGeom prst="ellipse">
            <a:avLst/>
          </a:prstGeom>
          <a:solidFill>
            <a:srgbClr val="0E7C6B"/>
          </a:solidFill>
          <a:ln/>
        </p:spPr>
      </p:sp>
      <p:sp>
        <p:nvSpPr>
          <p:cNvPr id="6" name="Text 4"/>
          <p:cNvSpPr/>
          <p:nvPr/>
        </p:nvSpPr>
        <p:spPr>
          <a:xfrm>
            <a:off x="914400" y="18196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645920"/>
            <a:ext cx="969264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Deschideți pubmed.ncbi.nlm.nih.gov, pe telefon sau pe calculator.</a:t>
            </a:r>
            <a:endParaRPr lang="en-US" sz="1600" dirty="0"/>
          </a:p>
        </p:txBody>
      </p:sp>
      <p:sp>
        <p:nvSpPr>
          <p:cNvPr id="8" name="Shape 6"/>
          <p:cNvSpPr/>
          <p:nvPr/>
        </p:nvSpPr>
        <p:spPr>
          <a:xfrm>
            <a:off x="594360" y="2532888"/>
            <a:ext cx="10972800" cy="768096"/>
          </a:xfrm>
          <a:prstGeom prst="roundRect">
            <a:avLst>
              <a:gd name="adj" fmla="val 10714"/>
            </a:avLst>
          </a:prstGeom>
          <a:solidFill>
            <a:srgbClr val="ECEAE4"/>
          </a:solidFill>
          <a:ln w="12700">
            <a:solidFill>
              <a:srgbClr val="ECEAE4"/>
            </a:solidFill>
            <a:prstDash val="solid"/>
          </a:ln>
        </p:spPr>
      </p:sp>
      <p:sp>
        <p:nvSpPr>
          <p:cNvPr id="9" name="Shape 7"/>
          <p:cNvSpPr/>
          <p:nvPr/>
        </p:nvSpPr>
        <p:spPr>
          <a:xfrm>
            <a:off x="914400" y="2706624"/>
            <a:ext cx="420624" cy="420624"/>
          </a:xfrm>
          <a:prstGeom prst="ellipse">
            <a:avLst/>
          </a:prstGeom>
          <a:solidFill>
            <a:srgbClr val="0E7C6B"/>
          </a:solidFill>
          <a:ln/>
        </p:spPr>
      </p:sp>
      <p:sp>
        <p:nvSpPr>
          <p:cNvPr id="10" name="Text 8"/>
          <p:cNvSpPr/>
          <p:nvPr/>
        </p:nvSpPr>
        <p:spPr>
          <a:xfrm>
            <a:off x="914400" y="27066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532888"/>
            <a:ext cx="969264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Lipiți în caseta de căutare titlul articolului. Merge și PMID-ul (numărul lui în PubMed) sau DOI-ul (codul lui unic, de pe prima pagină).</a:t>
            </a:r>
            <a:endParaRPr lang="en-US" sz="1600" dirty="0"/>
          </a:p>
        </p:txBody>
      </p:sp>
      <p:sp>
        <p:nvSpPr>
          <p:cNvPr id="12" name="Shape 10"/>
          <p:cNvSpPr/>
          <p:nvPr/>
        </p:nvSpPr>
        <p:spPr>
          <a:xfrm>
            <a:off x="594360" y="3419856"/>
            <a:ext cx="10972800" cy="768096"/>
          </a:xfrm>
          <a:prstGeom prst="roundRect">
            <a:avLst>
              <a:gd name="adj" fmla="val 10714"/>
            </a:avLst>
          </a:prstGeom>
          <a:solidFill>
            <a:srgbClr val="ECEAE4"/>
          </a:solidFill>
          <a:ln w="12700">
            <a:solidFill>
              <a:srgbClr val="ECEAE4"/>
            </a:solidFill>
            <a:prstDash val="solid"/>
          </a:ln>
        </p:spPr>
      </p:sp>
      <p:sp>
        <p:nvSpPr>
          <p:cNvPr id="13" name="Shape 11"/>
          <p:cNvSpPr/>
          <p:nvPr/>
        </p:nvSpPr>
        <p:spPr>
          <a:xfrm>
            <a:off x="914400" y="3593592"/>
            <a:ext cx="420624" cy="420624"/>
          </a:xfrm>
          <a:prstGeom prst="ellipse">
            <a:avLst/>
          </a:prstGeom>
          <a:solidFill>
            <a:srgbClr val="0E7C6B"/>
          </a:solidFill>
          <a:ln/>
        </p:spPr>
      </p:sp>
      <p:sp>
        <p:nvSpPr>
          <p:cNvPr id="14" name="Text 12"/>
          <p:cNvSpPr/>
          <p:nvPr/>
        </p:nvSpPr>
        <p:spPr>
          <a:xfrm>
            <a:off x="914400" y="35935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419856"/>
            <a:ext cx="969264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Deschideți înregistrarea. Sub titlu căutați trimiterea „Retraction in”; la „Publication types”, eticheta „Retracted Publication”.</a:t>
            </a:r>
            <a:endParaRPr lang="en-US" sz="1600" dirty="0"/>
          </a:p>
        </p:txBody>
      </p:sp>
      <p:sp>
        <p:nvSpPr>
          <p:cNvPr id="16" name="Shape 14"/>
          <p:cNvSpPr/>
          <p:nvPr/>
        </p:nvSpPr>
        <p:spPr>
          <a:xfrm>
            <a:off x="594360" y="4306824"/>
            <a:ext cx="10972800" cy="768096"/>
          </a:xfrm>
          <a:prstGeom prst="roundRect">
            <a:avLst>
              <a:gd name="adj" fmla="val 10714"/>
            </a:avLst>
          </a:prstGeom>
          <a:solidFill>
            <a:srgbClr val="ECEAE4"/>
          </a:solidFill>
          <a:ln w="12700">
            <a:solidFill>
              <a:srgbClr val="ECEAE4"/>
            </a:solidFill>
            <a:prstDash val="solid"/>
          </a:ln>
        </p:spPr>
      </p:sp>
      <p:sp>
        <p:nvSpPr>
          <p:cNvPr id="17" name="Shape 15"/>
          <p:cNvSpPr/>
          <p:nvPr/>
        </p:nvSpPr>
        <p:spPr>
          <a:xfrm>
            <a:off x="914400" y="4480560"/>
            <a:ext cx="420624" cy="420624"/>
          </a:xfrm>
          <a:prstGeom prst="ellipse">
            <a:avLst/>
          </a:prstGeom>
          <a:solidFill>
            <a:srgbClr val="0E7C6B"/>
          </a:solidFill>
          <a:ln/>
        </p:spPr>
      </p:sp>
      <p:sp>
        <p:nvSpPr>
          <p:cNvPr id="18" name="Text 16"/>
          <p:cNvSpPr/>
          <p:nvPr/>
        </p:nvSpPr>
        <p:spPr>
          <a:xfrm>
            <a:off x="914400" y="44805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600200" y="4306824"/>
            <a:ext cx="969264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Nu apare nimic? Căutați titlul sau DOI-ul și în baza Retraction Watch, la retractiondatabase.org: acolo vedeți tipul notei (retractare, corectură sau expresie de îngrijorare).</a:t>
            </a:r>
            <a:endParaRPr lang="en-US" sz="1600" dirty="0"/>
          </a:p>
        </p:txBody>
      </p:sp>
      <p:sp>
        <p:nvSpPr>
          <p:cNvPr id="20" name="Shape 18"/>
          <p:cNvSpPr/>
          <p:nvPr/>
        </p:nvSpPr>
        <p:spPr>
          <a:xfrm>
            <a:off x="594360" y="5193792"/>
            <a:ext cx="10972800" cy="768096"/>
          </a:xfrm>
          <a:prstGeom prst="roundRect">
            <a:avLst>
              <a:gd name="adj" fmla="val 10714"/>
            </a:avLst>
          </a:prstGeom>
          <a:solidFill>
            <a:srgbClr val="ECEAE4"/>
          </a:solidFill>
          <a:ln w="12700">
            <a:solidFill>
              <a:srgbClr val="ECEAE4"/>
            </a:solidFill>
            <a:prstDash val="solid"/>
          </a:ln>
        </p:spPr>
      </p:sp>
      <p:sp>
        <p:nvSpPr>
          <p:cNvPr id="21" name="Shape 19"/>
          <p:cNvSpPr/>
          <p:nvPr/>
        </p:nvSpPr>
        <p:spPr>
          <a:xfrm>
            <a:off x="914400" y="5367528"/>
            <a:ext cx="420624" cy="420624"/>
          </a:xfrm>
          <a:prstGeom prst="ellipse">
            <a:avLst/>
          </a:prstGeom>
          <a:solidFill>
            <a:srgbClr val="0E7C6B"/>
          </a:solidFill>
          <a:ln/>
        </p:spPr>
      </p:sp>
      <p:sp>
        <p:nvSpPr>
          <p:cNvPr id="22" name="Text 20"/>
          <p:cNvSpPr/>
          <p:nvPr/>
        </p:nvSpPr>
        <p:spPr>
          <a:xfrm>
            <a:off x="914400" y="53675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600200" y="5193792"/>
            <a:ext cx="9692640" cy="76809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Pentru o temă întreagă: adăugați la căutarea din PubMed  AND retracted publication[pt]  și vedeți numai articolele retrase.</a:t>
            </a:r>
            <a:endParaRPr lang="en-US" sz="16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Etichetele sunt cele din înregistrările PubMed, în limba engleză.</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EXEMPLU REAL · CE VEDEȚI ÎN PUBMED</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Wakefield și colab., The Lancet, 1998</a:t>
            </a:r>
            <a:endParaRPr lang="en-US" sz="3000" dirty="0"/>
          </a:p>
        </p:txBody>
      </p:sp>
      <p:sp>
        <p:nvSpPr>
          <p:cNvPr id="4" name="Shape 2"/>
          <p:cNvSpPr/>
          <p:nvPr/>
        </p:nvSpPr>
        <p:spPr>
          <a:xfrm>
            <a:off x="594360" y="1691640"/>
            <a:ext cx="6949440" cy="4343400"/>
          </a:xfrm>
          <a:prstGeom prst="rect">
            <a:avLst/>
          </a:prstGeom>
          <a:solidFill>
            <a:srgbClr val="FFFFFF"/>
          </a:solidFill>
          <a:ln w="12700">
            <a:solidFill>
              <a:srgbClr val="C9C6BE"/>
            </a:solidFill>
            <a:prstDash val="solid"/>
          </a:ln>
        </p:spPr>
      </p:sp>
      <p:sp>
        <p:nvSpPr>
          <p:cNvPr id="5" name="Text 3"/>
          <p:cNvSpPr/>
          <p:nvPr/>
        </p:nvSpPr>
        <p:spPr>
          <a:xfrm>
            <a:off x="868680" y="1828800"/>
            <a:ext cx="6400800" cy="274320"/>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pubmed.ncbi.nlm.nih.gov/9500320</a:t>
            </a:r>
            <a:endParaRPr lang="en-US" sz="1200" dirty="0"/>
          </a:p>
        </p:txBody>
      </p:sp>
      <p:sp>
        <p:nvSpPr>
          <p:cNvPr id="6" name="Text 4"/>
          <p:cNvSpPr/>
          <p:nvPr/>
        </p:nvSpPr>
        <p:spPr>
          <a:xfrm>
            <a:off x="868680" y="2148840"/>
            <a:ext cx="6400800" cy="100584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Ileal-lymphoid-nodular hyperplasia, non-specific colitis, and pervasive developmental disorder in children</a:t>
            </a:r>
            <a:endParaRPr lang="en-US" sz="1700" dirty="0"/>
          </a:p>
        </p:txBody>
      </p:sp>
      <p:sp>
        <p:nvSpPr>
          <p:cNvPr id="7" name="Text 5"/>
          <p:cNvSpPr/>
          <p:nvPr/>
        </p:nvSpPr>
        <p:spPr>
          <a:xfrm>
            <a:off x="868680" y="3200400"/>
            <a:ext cx="6400800" cy="320040"/>
          </a:xfrm>
          <a:prstGeom prst="rect">
            <a:avLst/>
          </a:prstGeom>
          <a:noFill/>
          <a:ln/>
        </p:spPr>
        <p:txBody>
          <a:bodyPr wrap="square" lIns="0" tIns="0" rIns="0" bIns="0" rtlCol="0" anchor="t"/>
          <a:lstStyle/>
          <a:p>
            <a:pPr indent="0" marL="0">
              <a:buNone/>
            </a:pPr>
            <a:r>
              <a:rPr lang="en-US" sz="1400" dirty="0">
                <a:solidFill>
                  <a:srgbClr val="3A3C44"/>
                </a:solidFill>
                <a:latin typeface="Palatino Linotype" pitchFamily="34" charset="0"/>
                <a:ea typeface="Palatino Linotype" pitchFamily="34" charset="-122"/>
                <a:cs typeface="Palatino Linotype" pitchFamily="34" charset="-120"/>
              </a:rPr>
              <a:t>Wakefield AJ, et al. Lancet. 1998.   PMID: 9500320</a:t>
            </a:r>
            <a:endParaRPr lang="en-US" sz="1400" dirty="0"/>
          </a:p>
        </p:txBody>
      </p:sp>
      <p:sp>
        <p:nvSpPr>
          <p:cNvPr id="8" name="Shape 6"/>
          <p:cNvSpPr/>
          <p:nvPr/>
        </p:nvSpPr>
        <p:spPr>
          <a:xfrm>
            <a:off x="777240" y="3657600"/>
            <a:ext cx="6583680" cy="475488"/>
          </a:xfrm>
          <a:prstGeom prst="rect">
            <a:avLst/>
          </a:prstGeom>
          <a:solidFill>
            <a:srgbClr val="FFE7A3"/>
          </a:solidFill>
          <a:ln w="9525">
            <a:solidFill>
              <a:srgbClr val="E0C77A"/>
            </a:solidFill>
            <a:prstDash val="solid"/>
          </a:ln>
        </p:spPr>
      </p:sp>
      <p:sp>
        <p:nvSpPr>
          <p:cNvPr id="9" name="Text 7"/>
          <p:cNvSpPr/>
          <p:nvPr/>
        </p:nvSpPr>
        <p:spPr>
          <a:xfrm>
            <a:off x="868680" y="3657600"/>
            <a:ext cx="6400800" cy="475488"/>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Retraction in: Lancet. 2010 Feb 6;375(9713):445</a:t>
            </a:r>
            <a:endParaRPr lang="en-US" sz="1600" dirty="0"/>
          </a:p>
        </p:txBody>
      </p:sp>
      <p:sp>
        <p:nvSpPr>
          <p:cNvPr id="10" name="Text 8"/>
          <p:cNvSpPr/>
          <p:nvPr/>
        </p:nvSpPr>
        <p:spPr>
          <a:xfrm>
            <a:off x="868680" y="4343400"/>
            <a:ext cx="6400800" cy="274320"/>
          </a:xfrm>
          <a:prstGeom prst="rect">
            <a:avLst/>
          </a:prstGeom>
          <a:noFill/>
          <a:ln/>
        </p:spPr>
        <p:txBody>
          <a:bodyPr wrap="square" lIns="0" tIns="0" rIns="0" bIns="0" rtlCol="0" anchor="t"/>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Publication types</a:t>
            </a:r>
            <a:endParaRPr lang="en-US" sz="1300" dirty="0"/>
          </a:p>
        </p:txBody>
      </p:sp>
      <p:sp>
        <p:nvSpPr>
          <p:cNvPr id="11" name="Shape 9"/>
          <p:cNvSpPr/>
          <p:nvPr/>
        </p:nvSpPr>
        <p:spPr>
          <a:xfrm>
            <a:off x="777240" y="4663440"/>
            <a:ext cx="3840480" cy="475488"/>
          </a:xfrm>
          <a:prstGeom prst="rect">
            <a:avLst/>
          </a:prstGeom>
          <a:solidFill>
            <a:srgbClr val="FFE7A3"/>
          </a:solidFill>
          <a:ln w="9525">
            <a:solidFill>
              <a:srgbClr val="E0C77A"/>
            </a:solidFill>
            <a:prstDash val="solid"/>
          </a:ln>
        </p:spPr>
      </p:sp>
      <p:sp>
        <p:nvSpPr>
          <p:cNvPr id="12" name="Text 10"/>
          <p:cNvSpPr/>
          <p:nvPr/>
        </p:nvSpPr>
        <p:spPr>
          <a:xfrm>
            <a:off x="868680" y="4663440"/>
            <a:ext cx="3657600" cy="475488"/>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Retracted Publication</a:t>
            </a:r>
            <a:endParaRPr lang="en-US" sz="1600" dirty="0"/>
          </a:p>
        </p:txBody>
      </p:sp>
      <p:sp>
        <p:nvSpPr>
          <p:cNvPr id="13" name="Text 11"/>
          <p:cNvSpPr/>
          <p:nvPr/>
        </p:nvSpPr>
        <p:spPr>
          <a:xfrm>
            <a:off x="868680" y="5394960"/>
            <a:ext cx="6400800" cy="457200"/>
          </a:xfrm>
          <a:prstGeom prst="rect">
            <a:avLst/>
          </a:prstGeom>
          <a:noFill/>
          <a:ln/>
        </p:spPr>
        <p:txBody>
          <a:bodyPr wrap="square" lIns="0" tIns="0" rIns="0" bIns="0" rtlCol="0" anchor="t"/>
          <a:lstStyle/>
          <a:p>
            <a:pPr indent="0" marL="0">
              <a:buNone/>
            </a:pPr>
            <a:r>
              <a:rPr lang="en-US" sz="1200" i="1" dirty="0">
                <a:solidFill>
                  <a:srgbClr val="585A64"/>
                </a:solidFill>
                <a:latin typeface="Palatino Linotype" pitchFamily="34" charset="0"/>
                <a:ea typeface="Palatino Linotype" pitchFamily="34" charset="-122"/>
                <a:cs typeface="Palatino Linotype" pitchFamily="34" charset="-120"/>
              </a:rPr>
              <a:t>Schemă după înregistrarea PubMed; pe ecran, elementele pot fi așezate altfel.</a:t>
            </a:r>
            <a:endParaRPr lang="en-US" sz="1200" dirty="0"/>
          </a:p>
        </p:txBody>
      </p:sp>
      <p:sp>
        <p:nvSpPr>
          <p:cNvPr id="14" name="Text 12"/>
          <p:cNvSpPr/>
          <p:nvPr/>
        </p:nvSpPr>
        <p:spPr>
          <a:xfrm>
            <a:off x="7863840" y="1737360"/>
            <a:ext cx="3703320" cy="32004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ÎNSEAMNĂ</a:t>
            </a:r>
            <a:endParaRPr lang="en-US" sz="1300" dirty="0"/>
          </a:p>
        </p:txBody>
      </p:sp>
      <p:sp>
        <p:nvSpPr>
          <p:cNvPr id="15" name="Text 13"/>
          <p:cNvSpPr/>
          <p:nvPr/>
        </p:nvSpPr>
        <p:spPr>
          <a:xfrm>
            <a:off x="7863840" y="2103120"/>
            <a:ext cx="3703320" cy="11887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„Retraction in”: revista a publicat o notă de retractare; trimiterea duce la ea (PMID 20137807).</a:t>
            </a:r>
            <a:endParaRPr lang="en-US" sz="1600" dirty="0"/>
          </a:p>
        </p:txBody>
      </p:sp>
      <p:sp>
        <p:nvSpPr>
          <p:cNvPr id="16" name="Text 14"/>
          <p:cNvSpPr/>
          <p:nvPr/>
        </p:nvSpPr>
        <p:spPr>
          <a:xfrm>
            <a:off x="7863840" y="3383280"/>
            <a:ext cx="370332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„Retracted Publication”: articolul este marcat oficial ca retras.</a:t>
            </a:r>
            <a:endParaRPr lang="en-US" sz="1600" dirty="0"/>
          </a:p>
        </p:txBody>
      </p:sp>
      <p:sp>
        <p:nvSpPr>
          <p:cNvPr id="17" name="Text 15"/>
          <p:cNvSpPr/>
          <p:nvPr/>
        </p:nvSpPr>
        <p:spPr>
          <a:xfrm>
            <a:off x="7863840" y="4389120"/>
            <a:ext cx="3703320" cy="155448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Articolul a legat, după relatarea părinților, debutul tulburărilor de comportament de vaccinul ROR la 8 din 12 copii. În 2004, 10 dintre cei 13 autori au retras interpretarea („Retraction of an interpretation”); în 2010 a urmat nota care retrage articolul.</a:t>
            </a:r>
            <a:endParaRPr lang="en-US" sz="15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PubMed, înregistrările PMID 9500320, 15016483 și 20137807 (registru A762–A764). Consultate pe 15.10.2026.</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TELEFON · 4 MINUTE</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VERIFICAȚI CHIAR VOI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Rândul vostru: a fost retras articolul?</a:t>
            </a:r>
            <a:endParaRPr lang="en-US" sz="3200" dirty="0"/>
          </a:p>
        </p:txBody>
      </p:sp>
      <p:sp>
        <p:nvSpPr>
          <p:cNvPr id="6" name="Shape 4"/>
          <p:cNvSpPr/>
          <p:nvPr/>
        </p:nvSpPr>
        <p:spPr>
          <a:xfrm>
            <a:off x="594360" y="1783080"/>
            <a:ext cx="7315200" cy="768096"/>
          </a:xfrm>
          <a:prstGeom prst="roundRect">
            <a:avLst>
              <a:gd name="adj" fmla="val 10714"/>
            </a:avLst>
          </a:prstGeom>
          <a:solidFill>
            <a:srgbClr val="1D1F2B"/>
          </a:solidFill>
          <a:ln w="12700">
            <a:solidFill>
              <a:srgbClr val="1D1F2B"/>
            </a:solidFill>
            <a:prstDash val="solid"/>
          </a:ln>
        </p:spPr>
      </p:sp>
      <p:sp>
        <p:nvSpPr>
          <p:cNvPr id="7" name="Shape 5"/>
          <p:cNvSpPr/>
          <p:nvPr/>
        </p:nvSpPr>
        <p:spPr>
          <a:xfrm>
            <a:off x="914400" y="1956816"/>
            <a:ext cx="420624" cy="420624"/>
          </a:xfrm>
          <a:prstGeom prst="ellipse">
            <a:avLst/>
          </a:prstGeom>
          <a:solidFill>
            <a:srgbClr val="27D3BE"/>
          </a:solidFill>
          <a:ln/>
        </p:spPr>
      </p:sp>
      <p:sp>
        <p:nvSpPr>
          <p:cNvPr id="8" name="Text 6"/>
          <p:cNvSpPr/>
          <p:nvPr/>
        </p:nvSpPr>
        <p:spPr>
          <a:xfrm>
            <a:off x="914400" y="19568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783080"/>
            <a:ext cx="6035040" cy="76809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Alegeți un articol pe care l-ați citat recent sau pe care îl citează un ghid folosit de voi.</a:t>
            </a:r>
            <a:endParaRPr lang="en-US" sz="1700" dirty="0"/>
          </a:p>
        </p:txBody>
      </p:sp>
      <p:sp>
        <p:nvSpPr>
          <p:cNvPr id="10" name="Shape 8"/>
          <p:cNvSpPr/>
          <p:nvPr/>
        </p:nvSpPr>
        <p:spPr>
          <a:xfrm>
            <a:off x="594360" y="2679192"/>
            <a:ext cx="7315200" cy="768096"/>
          </a:xfrm>
          <a:prstGeom prst="roundRect">
            <a:avLst>
              <a:gd name="adj" fmla="val 10714"/>
            </a:avLst>
          </a:prstGeom>
          <a:solidFill>
            <a:srgbClr val="1D1F2B"/>
          </a:solidFill>
          <a:ln w="12700">
            <a:solidFill>
              <a:srgbClr val="1D1F2B"/>
            </a:solidFill>
            <a:prstDash val="solid"/>
          </a:ln>
        </p:spPr>
      </p:sp>
      <p:sp>
        <p:nvSpPr>
          <p:cNvPr id="11" name="Shape 9"/>
          <p:cNvSpPr/>
          <p:nvPr/>
        </p:nvSpPr>
        <p:spPr>
          <a:xfrm>
            <a:off x="914400" y="2852928"/>
            <a:ext cx="420624" cy="420624"/>
          </a:xfrm>
          <a:prstGeom prst="ellipse">
            <a:avLst/>
          </a:prstGeom>
          <a:solidFill>
            <a:srgbClr val="27D3BE"/>
          </a:solidFill>
          <a:ln/>
        </p:spPr>
      </p:sp>
      <p:sp>
        <p:nvSpPr>
          <p:cNvPr id="12" name="Text 10"/>
          <p:cNvSpPr/>
          <p:nvPr/>
        </p:nvSpPr>
        <p:spPr>
          <a:xfrm>
            <a:off x="914400" y="28529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679192"/>
            <a:ext cx="6035040" cy="76809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Căutați-l în PubMed, ca în exemplul Wakefield: „Retraction in”, „Retracted Publication”.</a:t>
            </a:r>
            <a:endParaRPr lang="en-US" sz="1700" dirty="0"/>
          </a:p>
        </p:txBody>
      </p:sp>
      <p:sp>
        <p:nvSpPr>
          <p:cNvPr id="14" name="Shape 12"/>
          <p:cNvSpPr/>
          <p:nvPr/>
        </p:nvSpPr>
        <p:spPr>
          <a:xfrm>
            <a:off x="594360" y="3575304"/>
            <a:ext cx="7315200" cy="768096"/>
          </a:xfrm>
          <a:prstGeom prst="roundRect">
            <a:avLst>
              <a:gd name="adj" fmla="val 10714"/>
            </a:avLst>
          </a:prstGeom>
          <a:solidFill>
            <a:srgbClr val="1D1F2B"/>
          </a:solidFill>
          <a:ln w="12700">
            <a:solidFill>
              <a:srgbClr val="1D1F2B"/>
            </a:solidFill>
            <a:prstDash val="solid"/>
          </a:ln>
        </p:spPr>
      </p:sp>
      <p:sp>
        <p:nvSpPr>
          <p:cNvPr id="15" name="Shape 13"/>
          <p:cNvSpPr/>
          <p:nvPr/>
        </p:nvSpPr>
        <p:spPr>
          <a:xfrm>
            <a:off x="914400" y="3749040"/>
            <a:ext cx="420624" cy="420624"/>
          </a:xfrm>
          <a:prstGeom prst="ellipse">
            <a:avLst/>
          </a:prstGeom>
          <a:solidFill>
            <a:srgbClr val="27D3BE"/>
          </a:solidFill>
          <a:ln/>
        </p:spPr>
      </p:sp>
      <p:sp>
        <p:nvSpPr>
          <p:cNvPr id="16" name="Text 14"/>
          <p:cNvSpPr/>
          <p:nvPr/>
        </p:nvSpPr>
        <p:spPr>
          <a:xfrm>
            <a:off x="914400" y="3749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575304"/>
            <a:ext cx="6035040" cy="76809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 găsiți nimic? Verificați și în retractiondatabase.org: retractare, corectură sau îngrijorare?</a:t>
            </a:r>
            <a:endParaRPr lang="en-US" sz="1700" dirty="0"/>
          </a:p>
        </p:txBody>
      </p:sp>
      <p:sp>
        <p:nvSpPr>
          <p:cNvPr id="18" name="Shape 16"/>
          <p:cNvSpPr/>
          <p:nvPr/>
        </p:nvSpPr>
        <p:spPr>
          <a:xfrm>
            <a:off x="594360" y="4471416"/>
            <a:ext cx="7315200" cy="768096"/>
          </a:xfrm>
          <a:prstGeom prst="roundRect">
            <a:avLst>
              <a:gd name="adj" fmla="val 10714"/>
            </a:avLst>
          </a:prstGeom>
          <a:solidFill>
            <a:srgbClr val="1D1F2B"/>
          </a:solidFill>
          <a:ln w="12700">
            <a:solidFill>
              <a:srgbClr val="1D1F2B"/>
            </a:solidFill>
            <a:prstDash val="solid"/>
          </a:ln>
        </p:spPr>
      </p:sp>
      <p:sp>
        <p:nvSpPr>
          <p:cNvPr id="19" name="Shape 17"/>
          <p:cNvSpPr/>
          <p:nvPr/>
        </p:nvSpPr>
        <p:spPr>
          <a:xfrm>
            <a:off x="914400" y="4645152"/>
            <a:ext cx="420624" cy="420624"/>
          </a:xfrm>
          <a:prstGeom prst="ellipse">
            <a:avLst/>
          </a:prstGeom>
          <a:solidFill>
            <a:srgbClr val="27D3BE"/>
          </a:solidFill>
          <a:ln/>
        </p:spPr>
      </p:sp>
      <p:sp>
        <p:nvSpPr>
          <p:cNvPr id="20" name="Text 18"/>
          <p:cNvSpPr/>
          <p:nvPr/>
        </p:nvSpPr>
        <p:spPr>
          <a:xfrm>
            <a:off x="914400" y="46451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471416"/>
            <a:ext cx="6035040" cy="76809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Spuneți colegului ce ați găsit și cât timp v-a luat.</a:t>
            </a:r>
            <a:endParaRPr lang="en-US" sz="1700" dirty="0"/>
          </a:p>
        </p:txBody>
      </p:sp>
      <p:sp>
        <p:nvSpPr>
          <p:cNvPr id="22" name="Shape 20"/>
          <p:cNvSpPr/>
          <p:nvPr/>
        </p:nvSpPr>
        <p:spPr>
          <a:xfrm>
            <a:off x="8183880" y="1783080"/>
            <a:ext cx="3383280" cy="3429000"/>
          </a:xfrm>
          <a:prstGeom prst="roundRect">
            <a:avLst>
              <a:gd name="adj" fmla="val 2432"/>
            </a:avLst>
          </a:prstGeom>
          <a:solidFill>
            <a:srgbClr val="272A38"/>
          </a:solidFill>
          <a:ln w="12700">
            <a:solidFill>
              <a:srgbClr val="272A38"/>
            </a:solidFill>
            <a:prstDash val="solid"/>
          </a:ln>
        </p:spPr>
      </p:sp>
      <p:sp>
        <p:nvSpPr>
          <p:cNvPr id="23" name="Text 21"/>
          <p:cNvSpPr/>
          <p:nvPr/>
        </p:nvSpPr>
        <p:spPr>
          <a:xfrm>
            <a:off x="8458200" y="1920240"/>
            <a:ext cx="2834640" cy="45720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De ce întâi PubMed</a:t>
            </a:r>
            <a:endParaRPr lang="en-US" sz="1600" dirty="0"/>
          </a:p>
        </p:txBody>
      </p:sp>
      <p:sp>
        <p:nvSpPr>
          <p:cNvPr id="24" name="Text 22"/>
          <p:cNvSpPr/>
          <p:nvPr/>
        </p:nvSpPr>
        <p:spPr>
          <a:xfrm>
            <a:off x="8458200" y="2423160"/>
            <a:ext cx="2834640" cy="269748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Un studiu a verificat 150 de articole retrase: PubMed le marca pe toate ca retrase, dar pe paginile editurilor numai 88% dintre PDF-uri aveau marcajul. Un PDF descărcat mai demult nu arată retragerea.</a:t>
            </a:r>
            <a:endParaRPr lang="en-US" sz="1400" dirty="0"/>
          </a:p>
        </p:txBody>
      </p:sp>
      <p:sp>
        <p:nvSpPr>
          <p:cNvPr id="25" name="Text 23"/>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Sursa: registru A759.</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ROMÂNIA ÎN BAZA RETRACTION WATCH</a:t>
            </a:r>
            <a:endParaRPr lang="en-US" sz="1300" dirty="0"/>
          </a:p>
        </p:txBody>
      </p:sp>
      <p:sp>
        <p:nvSpPr>
          <p:cNvPr id="3" name="Text 1"/>
          <p:cNvSpPr/>
          <p:nvPr/>
        </p:nvSpPr>
        <p:spPr>
          <a:xfrm>
            <a:off x="594360" y="914400"/>
            <a:ext cx="6400800" cy="1828800"/>
          </a:xfrm>
          <a:prstGeom prst="rect">
            <a:avLst/>
          </a:prstGeom>
          <a:noFill/>
          <a:ln/>
        </p:spPr>
        <p:txBody>
          <a:bodyPr wrap="square" lIns="0" tIns="0" rIns="0" bIns="0" rtlCol="0" anchor="ctr"/>
          <a:lstStyle/>
          <a:p>
            <a:pPr indent="0" marL="0">
              <a:buNone/>
            </a:pPr>
            <a:r>
              <a:rPr lang="en-US" sz="9600" b="1" dirty="0">
                <a:solidFill>
                  <a:srgbClr val="B02532"/>
                </a:solidFill>
                <a:latin typeface="Palatino Linotype" pitchFamily="34" charset="0"/>
                <a:ea typeface="Palatino Linotype" pitchFamily="34" charset="-122"/>
                <a:cs typeface="Palatino Linotype" pitchFamily="34" charset="-120"/>
              </a:rPr>
              <a:t>211</a:t>
            </a:r>
            <a:endParaRPr lang="en-US" sz="9600" dirty="0"/>
          </a:p>
        </p:txBody>
      </p:sp>
      <p:sp>
        <p:nvSpPr>
          <p:cNvPr id="4" name="Text 2"/>
          <p:cNvSpPr/>
          <p:nvPr/>
        </p:nvSpPr>
        <p:spPr>
          <a:xfrm>
            <a:off x="594360" y="2788920"/>
            <a:ext cx="6309360" cy="118872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retractări la care cel puțin un autor avea o afiliere din România (baza descărcată pe 11.10.2026)</a:t>
            </a:r>
            <a:endParaRPr lang="en-US" sz="2200" dirty="0"/>
          </a:p>
        </p:txBody>
      </p:sp>
      <p:sp>
        <p:nvSpPr>
          <p:cNvPr id="5" name="Text 3"/>
          <p:cNvSpPr/>
          <p:nvPr/>
        </p:nvSpPr>
        <p:spPr>
          <a:xfrm>
            <a:off x="594360" y="4069080"/>
            <a:ext cx="6309360" cy="2011680"/>
          </a:xfrm>
          <a:prstGeom prst="rect">
            <a:avLst/>
          </a:prstGeom>
          <a:noFill/>
          <a:ln/>
        </p:spPr>
        <p:txBody>
          <a:bodyPr wrap="square" lIns="0" tIns="0" rIns="0" bIns="0" rtlCol="0" anchor="t"/>
          <a:lstStyle/>
          <a:p>
            <a:pPr indent="0" marL="0">
              <a:buNone/>
            </a:pPr>
            <a:r>
              <a:rPr lang="en-US" sz="1700" dirty="0">
                <a:solidFill>
                  <a:srgbClr val="3A3C44"/>
                </a:solidFill>
                <a:latin typeface="Palatino Linotype" pitchFamily="34" charset="0"/>
                <a:ea typeface="Palatino Linotype" pitchFamily="34" charset="-122"/>
                <a:cs typeface="Palatino Linotype" pitchFamily="34" charset="-120"/>
              </a:rPr>
              <a:t>Motivele cele mai frecvente: o investigație a revistei sau a editurii, plagiatul, publicarea dublă. Atenție: baza numără articolele retrase, nu pe cele care ar fi trebuit retrase. Puține retractări pot însemna cercetători mai cinstiți sau reviste care verifică mai puțin.</a:t>
            </a:r>
            <a:endParaRPr lang="en-US" sz="1700" dirty="0"/>
          </a:p>
        </p:txBody>
      </p:sp>
      <p:sp>
        <p:nvSpPr>
          <p:cNvPr id="6" name="Text 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Sursa: Retraction Watch, prin Crossref, 11.10.2026 (registru A741, A742).</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PRACTICĂ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faceți diferit de mâine</a:t>
            </a:r>
            <a:endParaRPr lang="en-US" sz="3100" dirty="0"/>
          </a:p>
        </p:txBody>
      </p:sp>
      <p:sp>
        <p:nvSpPr>
          <p:cNvPr id="4" name="Shape 2"/>
          <p:cNvSpPr/>
          <p:nvPr/>
        </p:nvSpPr>
        <p:spPr>
          <a:xfrm>
            <a:off x="594360" y="1645920"/>
            <a:ext cx="10972800" cy="731520"/>
          </a:xfrm>
          <a:prstGeom prst="roundRect">
            <a:avLst>
              <a:gd name="adj" fmla="val 11250"/>
            </a:avLst>
          </a:prstGeom>
          <a:solidFill>
            <a:srgbClr val="ECEAE4"/>
          </a:solidFill>
          <a:ln w="12700">
            <a:solidFill>
              <a:srgbClr val="ECEAE4"/>
            </a:solidFill>
            <a:prstDash val="solid"/>
          </a:ln>
        </p:spPr>
      </p:sp>
      <p:sp>
        <p:nvSpPr>
          <p:cNvPr id="5" name="Shape 3"/>
          <p:cNvSpPr/>
          <p:nvPr/>
        </p:nvSpPr>
        <p:spPr>
          <a:xfrm>
            <a:off x="868680" y="1801368"/>
            <a:ext cx="420624" cy="420624"/>
          </a:xfrm>
          <a:prstGeom prst="ellipse">
            <a:avLst/>
          </a:prstGeom>
          <a:solidFill>
            <a:srgbClr val="FF4757"/>
          </a:solidFill>
          <a:ln/>
        </p:spPr>
      </p:sp>
      <p:sp>
        <p:nvSpPr>
          <p:cNvPr id="6" name="Text 4"/>
          <p:cNvSpPr/>
          <p:nvPr/>
        </p:nvSpPr>
        <p:spPr>
          <a:xfrm>
            <a:off x="868680" y="18013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Înainte să primiți ceva de la o firmă: ce decizii iau eu care contează pentru ea, și m-aș simți bine dacă pacientul meu ar ști?</a:t>
            </a:r>
            <a:endParaRPr lang="en-US" sz="1700" dirty="0"/>
          </a:p>
        </p:txBody>
      </p:sp>
      <p:sp>
        <p:nvSpPr>
          <p:cNvPr id="8" name="Shape 6"/>
          <p:cNvSpPr/>
          <p:nvPr/>
        </p:nvSpPr>
        <p:spPr>
          <a:xfrm>
            <a:off x="594360" y="2487168"/>
            <a:ext cx="10972800" cy="731520"/>
          </a:xfrm>
          <a:prstGeom prst="roundRect">
            <a:avLst>
              <a:gd name="adj" fmla="val 11250"/>
            </a:avLst>
          </a:prstGeom>
          <a:solidFill>
            <a:srgbClr val="F9F8F5"/>
          </a:solidFill>
          <a:ln w="12700">
            <a:solidFill>
              <a:srgbClr val="F9F8F5"/>
            </a:solidFill>
            <a:prstDash val="solid"/>
          </a:ln>
        </p:spPr>
      </p:sp>
      <p:sp>
        <p:nvSpPr>
          <p:cNvPr id="9" name="Shape 7"/>
          <p:cNvSpPr/>
          <p:nvPr/>
        </p:nvSpPr>
        <p:spPr>
          <a:xfrm>
            <a:off x="868680" y="2642616"/>
            <a:ext cx="420624" cy="420624"/>
          </a:xfrm>
          <a:prstGeom prst="ellipse">
            <a:avLst/>
          </a:prstGeom>
          <a:solidFill>
            <a:srgbClr val="FF4757"/>
          </a:solidFill>
          <a:ln/>
        </p:spPr>
      </p:sp>
      <p:sp>
        <p:nvSpPr>
          <p:cNvPr id="10" name="Text 8"/>
          <p:cNvSpPr/>
          <p:nvPr/>
        </p:nvSpPr>
        <p:spPr>
          <a:xfrm>
            <a:off x="868680" y="264261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87168"/>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Declarați-vă interesele, dar nu vă opriți la declarare: când interesul e mare, abțineți-vă de la decizie.</a:t>
            </a:r>
            <a:endParaRPr lang="en-US" sz="1700" dirty="0"/>
          </a:p>
        </p:txBody>
      </p:sp>
      <p:sp>
        <p:nvSpPr>
          <p:cNvPr id="12" name="Shape 10"/>
          <p:cNvSpPr/>
          <p:nvPr/>
        </p:nvSpPr>
        <p:spPr>
          <a:xfrm>
            <a:off x="594360" y="3328416"/>
            <a:ext cx="10972800" cy="731520"/>
          </a:xfrm>
          <a:prstGeom prst="roundRect">
            <a:avLst>
              <a:gd name="adj" fmla="val 11250"/>
            </a:avLst>
          </a:prstGeom>
          <a:solidFill>
            <a:srgbClr val="ECEAE4"/>
          </a:solidFill>
          <a:ln w="12700">
            <a:solidFill>
              <a:srgbClr val="ECEAE4"/>
            </a:solidFill>
            <a:prstDash val="solid"/>
          </a:ln>
        </p:spPr>
      </p:sp>
      <p:sp>
        <p:nvSpPr>
          <p:cNvPr id="13" name="Shape 11"/>
          <p:cNvSpPr/>
          <p:nvPr/>
        </p:nvSpPr>
        <p:spPr>
          <a:xfrm>
            <a:off x="868680" y="3483864"/>
            <a:ext cx="420624" cy="420624"/>
          </a:xfrm>
          <a:prstGeom prst="ellipse">
            <a:avLst/>
          </a:prstGeom>
          <a:solidFill>
            <a:srgbClr val="FF4757"/>
          </a:solidFill>
          <a:ln/>
        </p:spPr>
      </p:sp>
      <p:sp>
        <p:nvSpPr>
          <p:cNvPr id="14" name="Text 12"/>
          <p:cNvSpPr/>
          <p:nvPr/>
        </p:nvSpPr>
        <p:spPr>
          <a:xfrm>
            <a:off x="868680" y="34838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328416"/>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Când un vorbitor își declară interesele, nu îl credeți mai mult pentru asta.</a:t>
            </a:r>
            <a:endParaRPr lang="en-US" sz="1700" dirty="0"/>
          </a:p>
        </p:txBody>
      </p:sp>
      <p:sp>
        <p:nvSpPr>
          <p:cNvPr id="16" name="Shape 14"/>
          <p:cNvSpPr/>
          <p:nvPr/>
        </p:nvSpPr>
        <p:spPr>
          <a:xfrm>
            <a:off x="594360" y="4169664"/>
            <a:ext cx="10972800" cy="731520"/>
          </a:xfrm>
          <a:prstGeom prst="roundRect">
            <a:avLst>
              <a:gd name="adj" fmla="val 11250"/>
            </a:avLst>
          </a:prstGeom>
          <a:solidFill>
            <a:srgbClr val="F9F8F5"/>
          </a:solidFill>
          <a:ln w="12700">
            <a:solidFill>
              <a:srgbClr val="F9F8F5"/>
            </a:solidFill>
            <a:prstDash val="solid"/>
          </a:ln>
        </p:spPr>
      </p:sp>
      <p:sp>
        <p:nvSpPr>
          <p:cNvPr id="17" name="Shape 15"/>
          <p:cNvSpPr/>
          <p:nvPr/>
        </p:nvSpPr>
        <p:spPr>
          <a:xfrm>
            <a:off x="868680" y="4325112"/>
            <a:ext cx="420624" cy="420624"/>
          </a:xfrm>
          <a:prstGeom prst="ellipse">
            <a:avLst/>
          </a:prstGeom>
          <a:solidFill>
            <a:srgbClr val="FF4757"/>
          </a:solidFill>
          <a:ln/>
        </p:spPr>
      </p:sp>
      <p:sp>
        <p:nvSpPr>
          <p:cNvPr id="18" name="Text 16"/>
          <p:cNvSpPr/>
          <p:nvPr/>
        </p:nvSpPr>
        <p:spPr>
          <a:xfrm>
            <a:off x="868680" y="432511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169664"/>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Înainte să citați un articol, verificați în PubMed, în două minute, dacă nu a fost retras.</a:t>
            </a:r>
            <a:endParaRPr lang="en-US" sz="1700" dirty="0"/>
          </a:p>
        </p:txBody>
      </p:sp>
      <p:sp>
        <p:nvSpPr>
          <p:cNvPr id="20" name="Shape 18"/>
          <p:cNvSpPr/>
          <p:nvPr/>
        </p:nvSpPr>
        <p:spPr>
          <a:xfrm>
            <a:off x="594360" y="5010912"/>
            <a:ext cx="10972800" cy="731520"/>
          </a:xfrm>
          <a:prstGeom prst="roundRect">
            <a:avLst>
              <a:gd name="adj" fmla="val 11250"/>
            </a:avLst>
          </a:prstGeom>
          <a:solidFill>
            <a:srgbClr val="ECEAE4"/>
          </a:solidFill>
          <a:ln w="12700">
            <a:solidFill>
              <a:srgbClr val="ECEAE4"/>
            </a:solidFill>
            <a:prstDash val="solid"/>
          </a:ln>
        </p:spPr>
      </p:sp>
      <p:sp>
        <p:nvSpPr>
          <p:cNvPr id="21" name="Shape 19"/>
          <p:cNvSpPr/>
          <p:nvPr/>
        </p:nvSpPr>
        <p:spPr>
          <a:xfrm>
            <a:off x="868680" y="5166360"/>
            <a:ext cx="420624" cy="420624"/>
          </a:xfrm>
          <a:prstGeom prst="ellipse">
            <a:avLst/>
          </a:prstGeom>
          <a:solidFill>
            <a:srgbClr val="FF4757"/>
          </a:solidFill>
          <a:ln/>
        </p:spPr>
      </p:sp>
      <p:sp>
        <p:nvSpPr>
          <p:cNvPr id="22" name="Text 20"/>
          <p:cNvSpPr/>
          <p:nvPr/>
        </p:nvSpPr>
        <p:spPr>
          <a:xfrm>
            <a:off x="868680" y="5166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5010912"/>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La un titlu despre medici, firme sau fraude în știință: ați crede acest titlu?</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AȚI REȚINUT</a:t>
            </a:r>
            <a:endParaRPr lang="en-US" sz="1300" dirty="0"/>
          </a:p>
        </p:txBody>
      </p:sp>
      <p:sp>
        <p:nvSpPr>
          <p:cNvPr id="5" name="Text 3"/>
          <p:cNvSpPr/>
          <p:nvPr/>
        </p:nvSpPr>
        <p:spPr>
          <a:xfrm>
            <a:off x="594360" y="1097280"/>
            <a:ext cx="10972800" cy="1097280"/>
          </a:xfrm>
          <a:prstGeom prst="rect">
            <a:avLst/>
          </a:prstGeom>
          <a:noFill/>
          <a:ln/>
        </p:spPr>
        <p:txBody>
          <a:bodyPr wrap="square" lIns="0" tIns="0" rIns="0" bIns="0" rtlCol="0" anchor="ctr"/>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Cina, declarația, articolul retras: zece întrebări</a:t>
            </a:r>
            <a:endParaRPr lang="en-US" sz="36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Intrați pe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sp>
      <p:sp>
        <p:nvSpPr>
          <p:cNvPr id="8" name="Text 6"/>
          <p:cNvSpPr/>
          <p:nvPr/>
        </p:nvSpPr>
        <p:spPr>
          <a:xfrm>
            <a:off x="594360" y="3200400"/>
            <a:ext cx="5486400" cy="2011680"/>
          </a:xfrm>
          <a:prstGeom prst="rect">
            <a:avLst/>
          </a:prstGeom>
          <a:noFill/>
          <a:ln/>
        </p:spPr>
        <p:txBody>
          <a:bodyPr wrap="square" lIns="0" tIns="0" rIns="0" bIns="0" rtlCol="0" anchor="ctr"/>
          <a:lstStyle/>
          <a:p>
            <a:pPr algn="ctr" indent="0" marL="0">
              <a:buNone/>
            </a:pPr>
            <a:r>
              <a:rPr lang="en-US" sz="1800" dirty="0">
                <a:solidFill>
                  <a:srgbClr val="959BB0"/>
                </a:solidFill>
                <a:latin typeface="Palatino Linotype" pitchFamily="34" charset="0"/>
                <a:ea typeface="Palatino Linotype" pitchFamily="34" charset="-122"/>
                <a:cs typeface="Palatino Linotype" pitchFamily="34" charset="-120"/>
              </a:rPr>
              <a:t>[codul jocului Kahoot]</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Rezultatul nu se notează; ne arată ce ați reținut.</a:t>
            </a:r>
            <a:endParaRPr lang="en-US" sz="1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sp>
      <p:sp>
        <p:nvSpPr>
          <p:cNvPr id="15" name="Text 13"/>
          <p:cNvSpPr/>
          <p:nvPr/>
        </p:nvSpPr>
        <p:spPr>
          <a:xfrm>
            <a:off x="8549640" y="2514600"/>
            <a:ext cx="3017520" cy="2468880"/>
          </a:xfrm>
          <a:prstGeom prst="rect">
            <a:avLst/>
          </a:prstGeom>
          <a:noFill/>
          <a:ln/>
        </p:spPr>
        <p:txBody>
          <a:bodyPr wrap="square" lIns="0" tIns="0" rIns="0" bIns="0" rtlCol="0" anchor="ctr"/>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[codul QR Mentimeter]</a:t>
            </a:r>
            <a:endParaRPr lang="en-US" sz="14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Luni, pe pagina cursului, veți găsi ce am modificat pe baza răspunsurilor.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3 - Interesul nu are nevoie de intenție</dc:title>
  <dc:subject>PptxGenJS Presentation</dc:subject>
  <dc:creator>Conf. Univ. Dr. Adrian Pana</dc:creator>
  <cp:lastModifiedBy>Conf. Univ. Dr. Adrian Pana</cp:lastModifiedBy>
  <cp:revision>1</cp:revision>
  <dcterms:created xsi:type="dcterms:W3CDTF">2026-10-15T19:21:14Z</dcterms:created>
  <dcterms:modified xsi:type="dcterms:W3CDTF">2026-10-15T19:21:14Z</dcterms:modified>
  <cp:keywords>sursa_amprenta=452131235bbdc3c3; proiectie</cp:keywords>
</cp:coreProperties>
</file>