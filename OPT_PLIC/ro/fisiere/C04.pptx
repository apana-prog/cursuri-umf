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Distanța dintre titlu și design. Azi pornim de la un titlu de două cuvinte, „Corupția ucide”, și măsurăm de trei ori cât de departe poate fi titlul unui studiu de felul în care a fost făcut.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schimbat felul în care prezentăm legea. Legea avertizorilor nu o citim articol cu articol, ci o parcurgem pe un singur caz, iar termenele le vedeți pe o cronologie, nu într-un paragraf de 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povești și o dezbatere. Prima: de unde vine cifra de 140 000 de copii. A doua: un studiu mare despre democrație, citat uneori ca dovadă despre corupție. După zece minute de odihnă, dezbaterea, apoi a treia poveste: ce puteți face, legal, când vedeți ceva în neregulă în spital. Jumătate din timp lucrați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2011, revista științifică PLoS ONE a publicat un studiu cu un titlu de două cuvinte, urmat de o promisiune: „Corupția ucide: o estimare a impactului global al corupției asupra deceselor copiilor”. Din studiu a rămas în circulație o cifră: peste 140 000 de decese ale copiilor, în fiecare an, ar putea fi atribuite indirect corupției.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anonim, pe telefon, la codul afișat: ați crede titlul „Corupția ucide”? Revenim la vot la sfârșitul primei povești.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Cursul acesta poartă o întrebare în titlu: câte vieți costă un plic? Vă datorăm răspunsul de la început, iar el nu s-a schimbat din ședința a doua: nimeni nu știe. Nici studiul din 2011 nu numără vieți. În prima ședință ați primit patru întrebări pentru orice cifră: ce măsoară, pe cine, în ce an și cu ce marjă de eroare. Azi adăugăm una, care le cuprinde pe toate: cum a fost făcut studiul din care vine cifra? Distanța dintre titlu și design o măsurăm de trei ori: pe un studiu despre copii, pe un studiu despre democrație și pe propria voastră relatare, când veți vedea ceva în neregulă în 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Autorii, o echipă al cărei prim autor este Matthieu Hanf, au pornit de la o întrebare legitimă: corupția poate deturna banii pentru apă curată, vaccinuri sau spitale, deci ar trebui să se vadă în sănătatea copiilor. Dar cât? Au luat 178 de țări și, pentru fiecare, două cifre din 2008: câți copii din 1 000 născuți vii mor înainte de 5 ani și scorul țării în indicele de percepție a corupției, același indice pe care l-ați întâlnit în prima ședință. Indicele nu numără plicuri, ci impresii. După ce au ținut cont de alte date despre țări, în model au rămas cinci factori, între care indicele corupției.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Ghiciți înainte de pasul următor și ridicați mâna la varianta voastră. Cum credeți că au ajuns autorii la cifra de peste 140 000 de decese pe an? Au numărat copiii morți în spitale unde s-au dovedit fapte de corupție, au comparat aceiași copii înainte și după o campanie anticorupție, au pornit de la cât de bine prezice un model statistic diferențele dintre țări sau au luat-o dintr-un raport al unei organizații internaționale?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Calculul este descris chiar în articol. Un model statistic încearcă să explice de ce unele țări au o mortalitate a copiilor mai mare decât altele. Varianta cu indicele corupției explica o parte puțin mai mare din diferențele dintre țări: de la circa 87,4% la circa 89%, adică, în cuvintele autorilor, cu 1,61%. Autorii au tradus apoi creșterea astfel: aproximativ 1,6% din decesele copiilor din lume, adică circa 1 din 60, ar putea fi explicate de corupție, iar din cele aproape 9 milioane de decese anuale ale copiilor, peste 140 000 ar putea fi atribuite indirect corupției. Varianta corectă era deci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Uitați-vă la acest pas cu atenție, pentru că aici stă distanța. O creștere cu 1,61% a proporției din diferențele dintre țări pe care un model o poate prezice este o afirmație despre model. A spune că 1,6% dintre copiii morți au murit din cauza corupției este o afirmație despre copii. Ca să treceți de la prima la a doua ar trebui să știți câți dintre acești copii ar fi trăit dacă țara lor n-ar fi fost coruptă, iar asta un studiu care compară țări într-un singur an nu poate ști. Observația aceasta ne aparține, nu autorilor. Autorii au fost prudenți în alt fel: au scris că s-ar putea formula aproximativ ipoteza și că decesele ar putea fi atribuite indirect.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designul studiului. În acest curs numim designul unui studiu felul în care a fost făcut: pe cine a urmărit, oameni sau grupuri întregi, cum sunt țările, ce a măsurat, o singură dată sau de-a lungul timpului și dacă cercetătorii au intervenit sau doar au observat. În cuvinte de zi cu zi: rețeta studiului. Designul nu se citește din titlu, ci din secțiunea despre metodă. Pentru studiul lui Hanf, ea are trei informații de care aveți nevoie: unitatea comparată este țara, nu copilul; datele sunt dintr-un singur an; corupția este măsurată prin percepție.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studiul ecologic. În acest curs numim studiu ecologic un studiu în care se compară grupuri întregi de oameni, de pildă țări, județe sau orașe, folosind o cifră medie pentru fiecare grup, fără date despre persoanele din el. Autorii își numesc ei înșiși lucrarea un studiu ecologic și scriu că asemenea studii au limite: erori sistematice, factori care încurcă comparația, un singur an de date și variabile importante care nu au putut fi incluse. Un studiu ecologic poate arăta că acolo unde e mai multă corupție percepută mor, în medie, mai mulți copii. Nu poate spune că un anumit copil a murit din cauza unui anumit act de corupție.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Puneți pe un grafic patru țări: pe orizontală, indicele corupției percepute; pe verticală, câți copii mor înainte de cinci ani. Țara A are corupție percepută mică și puțini copii morți. Țara D are corupție percepută mare și mulți copii morți. Punctele formează aproape o linie, iar concluzia pare evidentă. Acum aflați un lucru în plus: A și B sunt țări bogate, cu apă curentă și spitale bine dotate; C și D sunt sărace. Bogăția poate explica singură ambele axe. Linia de pe grafic rămâne la fel de frumoasă, dar acum are cel puțin două explicații.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din exemplu nu este o speculație. În datele lui Hanf, indicele corupției percepute mergea foarte strâns cu cheltuielile pentru sănătate pe locuitor și cu venitul pe locuitor: coeficienții de corelație au fost de 0,82 și de 0,78, pe o scală pe care 1 înseamnă că două mărimi urcă și coboară perfect împreună. Mergea strâns și cu indicii libertăților civile și ai drepturilor politice. Țările percepute ca puțin corupte erau în mare parte aceleași cu țările bogate și libere. Autorii au ținut cont de cheltuielile pentru sănătate, ceea ce ajută, dar un studiu nu poate ține cont de ceva ce nu a măsurat.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Adevărat sau fals? Dacă țările mai corupte au mai mulți copii morți, înseamnă că în fiecare țară copiii mor din cauza corupției. Ridicați mâna dacă e adevărat.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 Un studiu ecologic vorbește despre țări, nu despre copii, și nu exclude explicațiile comune. În ședința trecută ați întâlnit ideea că o asociere poate avea trei explicații. La țări, un candidat evident pentru al treilea factor este bogăția sau sărăcia lor: în datele lui Hanf, corupția percepută mergea strâns cu venitul pe locuitor, iar în studiul din 2025 venitul național avea o legătură mai puternică cu mortalitatea evitabilă decât corupția. Și explicația inversă este posibilă: autorii notează că, în diferite țări, corupția a fost și cauză, și consecință a sărăciei.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Întoarceți-vă la votul de la început. Varianta pe care o susțin datele este (c): depinde de felul în care a fost făcut studiul. „Corupția ucide” are un verb care spune o cauză și, prin subtitlu, promite o numărătoare. Designul oferă altceva: o legătură între țări, într-un singur an, între o percepție și o medie. Nu înseamnă că studiul este prost sau că autorii au mințit. În interiorul articolului, ei spun ce poate și ce nu poate studiul; ba chiar cred că modelul lor, simplu, probabil subestimează efectele corupției. Distanța este între titlu și text, iar o știre poate prelua titlul fără textul care îl nuanțează.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putem spune cinstit, atunci? Că studiul din 2011 a încercat să pună o cifră pe legătura dintre corupție și mortalitatea copiilor; că a găsit o asociere între țări, care rămâne după ce s-a ținut cont de câțiva alți factori; și că cifra de 140 000 este o ipoteză aproximativă, nu o numărătoare. Este mai lung decât „corupția ucide”, dar este adevărat. Un studiu din 2025, pe care îl vedem în povestea a doua, găsește o legătură asemănătoare în Europa Centrală și de Est, dar ca factor printre mai mulți.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în perechi, cinci minute. Rescrieți titlul „Corupția ucide 140 000 de copii pe an” în cel mult cincisprezece cuvinte, astfel încât să spună exact ce a găsit studiul: ce a comparat, în ce an și cu ce măsură a corupției. Trimiteți titlul vostru pe telefon, la codul afișat. Câteva titluri le citim împreună și le judecăm cu aceleași întrebări: ce a măsurat, pe cine, o dată sau în timp?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Veți fi întrebați, la o gardă, la o masă în familie sau într-o discuție publică, dacă e adevărat că spitalele noastre omoară oameni din cauza șpăgii. Veți avea la îndemână o cifră spectaculoasă și o frază lungă și prudentă. Cifra va convinge mai repede. Fraza va fi adevărată. Cursul acesta vă cere să o alegeți pe a doua și să spuneți de unde vine. Același lucru este valabil când citiți un studiu clinic: un titlu care spune „reduce mortalitatea” vă cere o întrebare înainte de entuziasm: cum a fost făcut studiul?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2019, revista medicală The Lancet a publicat un studiu despre 170 de țări, între 1980 și 2016, cu un titlu lung și precis: relațiile dintre experiența democratică, sănătatea adulților și mortalitatea pe cauze de deces. Primul autor este Thomas Bollyky. Un articol retras din The Lancet, ca cel din ședința trecută, nu face revista nesigură: ce contează este designul fiecărui studiu și ce afirmă cel care îl citează. Spre deosebire de Hanf, autorii au urmărit aceleași țări de-a lungul a câteva decenii. Au construit experiența democratică a unei țări dintr-un indice internațional al democrației, adunat din 1900, iar fiecare an din trecut cântărește cu 1% mai puțin decât anul de după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au găsit? După trecerea la democrație, speranța de viață la 15 ani, socotită fără decesele prin infecția cu HIV, a crescut în medie cu 3% după 10 ani. Pentru bolile cardiovasculare, accidentele rutiere, cancere, ciroză și alte boli netransmisibile, experiența democratică explica o parte mai mare din variația mortalității în interiorul unei țări decât venitul pe locuitor. Iar când au scos din indice componenta despre alegerile libere și corecte, legătura cu mortalitatea prin boli netransmisibile și prin accidente s-a pierdut.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anonim, pe telefon, la codul afișat: ce a măsurat, ca factor de expunere, studiul din The Lancet? Corupția din fiecare țară, experiența democratică a fiecărei țări sau cheltuielile pentru sănătate?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corectă este (b). Experiența democratică este expunerea studiată, iar în textul articolului nu apare nicio măsură a corupției. Nici cuvântul în sine, în engleză, nu apare în textul integral. De ce povestim, atunci, acest studiu într-un curs despre corupție? Pentru că este ușor de folosit greșit. Democrația, libertățile civile și corupția percepută merg adesea împreună: chiar în datele lui Hanf, indicele corupției percepute era strâns legat de indicii libertăților civile și ai drepturilor politice. Să citați studiul ca dovadă despre corupție înseamnă să-i mutați concluzia pe o măsură pe care autorii nu au studiat-o.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Aceasta este a doua formă a distanței dintre titlu și design. În prima, titlul promitea mai mult decât putea da designul. În a doua, titlul este corect, dar cel care citează studiul îi atribuie o concluzie despre altceva. Și studiul acesta își spune limitele. Legătura dintre democrație și sănătate este greu de măsurat, scriu autorii, pentru că democrația merge împreună cu alți factori, cum sunt venitul țării sau cheltuielile pentru sănătate, și pentru că nu există date dintr-un experiment în care țările să fi fost repartizate la întâmplare.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studiu îl știți din ședința a doua. Publicat în 2025, a urmărit douăsprezece țări din Europa Centrală și de Est, între care România, de la 2012 la 2020. Designul lui este mai puternic decât al lui Hanf într-un punct important: urmărește fiecare țară an de an și o compară, în bună măsură, cu ea însăși. Rezultatul: o corupție percepută ca mai mică mergea împreună cu o mortalitate evitabilă mai mică, dar venitul național și calitatea guvernării aveau legături mai puternice cu rezultatele decât corupția. Autorii notează că indicele se bazează pe percepția experților și că legătura poate merge și invers: oamenii mai bolnavi pot fi mai dispuși să ofere mită ca să primească îngrijire.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Puse alături, cele trei studii spun ceva coerent. Două dintre ele, cu metode diferite, găsesc o legătură între corupția percepută și sănătate; al treilea arată cât de ușor se mută o concluzie de pe democrație pe corupție. Niciunul nu o transformă într-o numărătoare de vieți, iar cel mai recent o prezintă ca pe un factor printre mai mulți.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în perechi, patru minute. Iată trei titluri inventate pentru cele trei studii: „Corupția ucide 140 000 de copii pe an”, „Democrația vă prelungește viața” și „Mai puțină corupție, mai puține decese evitabile în Europa de Est”. Pentru fiecare, spuneți colegului ce a comparat studiul, țări într-un an, țări de-a lungul deceniilor sau aceleași țări an de an, și ce cuvânt din titlu spune mai mult decât designul.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revedem în zece minute, pentru dezbatere.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Dezbaterea este felul în care exersăm, cu voce tare, ce am citit până acum. Regulile de notare sunt cele din fișa disciplinei. Sala se împarte în două tabere: o jumătate susține moțiunea „Corupția ucide, iar studiile o arată”, cealaltă se opune. Tabăra nu se alege după convingere, ci după locul în sală. Fiecare tabără are trei minute de pregătire, cu vecinii de bancă, apoi doi vorbitori pentru fiecare parte, câte două minute. La minutul șase, fiecare tabără primește un plic închis. Înăuntru este un rezultat real, publicat, cu sursa și anul lui, care contrazice poziția taberei. Vorbitorii următori trebuie să-l folosească: să-l explice, să-l pună în context sau să-și schimbe argumentul.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pe telefon, la codul afișat: care tabără a folosit mai bine dovezile, inclusiv plicul primit?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era în plicuri? Pentru tabăra care susține moțiunea, propriile cuvinte ale lui Hanf: estimarea e aproximativă, atribuirea e indirectă, iar datele sunt dintr-un singur an, 2008. Și rezultatul studiului din 2025: venitul național și calitatea guvernării au legături mai puternice cu mortalitatea evitabilă decât corupția. Pentru tabăra care se opune, același studiu din 2025, citit din partea cealaltă: în douăsprezece țări din Europa Centrală și de Est, între care România, o corupție percepută mai mică a mers cu o mortalitate evitabilă mai mică. Exercițiul nu este să câștigați, ci să vedeți ce faceți cu o dovadă care vă incomodează. În meseria voastră, va fi rezultatul unui test care nu confirmă diagnosticul de care erați siguri. Corupția poate costa vieți, iar mecanismele prin care o poate face se pot descrie; câte vieți, nu știe nimeni.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Sunteți medic specialist, angajat al unui spital județean. De două luni, secția primește dezinfectant de la un furnizor nou. Pe fișele de livrare, concentrația substanței active este alta decât cea pe care ați văzut-o în caietul de sarcini, la o ședință a secției. Ați întrebat-o pe asistenta-șefă; v-a spus că „așa a venit de la achiziții”. Nu știți dacă cineva a luat bani. Nu știți dacă dezinfectantul e mai slab. Aveți doar două hârtii care nu se potrivesc. De data aceasta nu citiți o anchetă despre alții: sunteți în interiorul ei, la început, când nimeni nu știe încă nimic.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anonim, pe telefon, la codul afișat: ce faceți întâi? Nimic, pentru că nu aveți dovezi; raportați pe canalul intern al spitalului; raportați direct unei autorități din afara spitalului; sau publicați fotografiile fișelor pe o rețea socială. Apoi, un minut cu colegul: ce v-ar face să alegeți altă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avertizorul în interes public. Legea nr. 361/2022 îl definește ca persoana fizică care efectuează o raportare sau divulgă public informații referitoare la încălcări ale legii, obținute în context profesional. În cuvinte de zi cu zi: cel care spune, pe căile prevăzute de lege, ce a văzut la locul de muncă și nu e în regulă. Trei lucruri contează pentru voi. Informația trebuie să vină din activitatea profesională. E vorba despre încălcări ale legii, iar printre domeniile numite sunt achizițiile publice, siguranța produselor și sănătatea publică. Și legea nu cere să fi dovedit ceva; cere motive întemeiate. Legea se aplică lucrătorilor, voluntarilor și stagiarilor, printre alții; medicul din caz, angajat al spitalului, este un lucrător.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Întoarceți-vă la vot. El nu are o singură variantă bună: legea vă lasă să alegeți între calea internă, varianta b, și cea externă, varianta c. Raportarea se face în principal pe canalul intern, dar avertizorul poate alege și poate ține cont, de pildă, de riscul de represalii sau de faptul că încălcarea nu poate fi remediată eficient în interior. Publicarea fotografiilor pe o rețea socială, varianta d, este o divulgare publică, protejată numai în condițiile legii, pe care le găsiți în note, la „Pentru curioși”.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spital public trebuie să aibă un canal intern, oricâți angajați ar avea. O clinică privată are aceeași obligație dacă are cel puțin 50 de angajați. Instituția desemnează o persoană, un compartiment sau un terț care primește raportările și trebuie să lucreze imparțial și independent. Pe calea externă, raportarea ajunge la autoritățile care se ocupă de domeniul respectiv sau la Agenția Națională de Integritate, care o poate trimite mai departe autorității competente. Raportarea poate fi făcută în scris, prin telefon sau, la cerere, față în față, iar raportarea fără numele celui care raportează se examinează și ea, dacă are indicii despre încălcări ale legii.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Ghiciți și votați pe telefon, la codul afișat. Ați raportat intern luni. În cât timp trebuie spitalul să vă confirme primirea? În cel mult 3 zile, în cel mult 7 zile calendaristice, în cel mult 30 de zile sau nu există un termen?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corectă este b: în cel mult 7 zile calendaristice. Pe calea internă, spitalul are două obligații de timp: confirmarea primirii raportării, în cel mult 7 zile calendaristice de la primire, și informarea voastră despre stadiul cercetării, în cel mult 3 luni de la confirmare sau, dacă nu ați primit confirmarea, de la expirarea celor 7 zile. Pe calea externă, Agenția Națională de Integritate trebuie să confirme primirea imediat, dar nu mai târziu de 7 zile calendaristice, și să vă informeze într-un termen rezonabil, de cel mult 3 luni sau, în cazuri justificate, de cel mult 6 luni de la primire.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să beneficiați de protecție, trebuie îndeplinite împreună trei condiții: să fiți una dintre persoanele cărora li se aplică legea și să fi aflat informația într-un context profesional; să fi avut motive întemeiate să credeți că informația era adevărată în momentul raportării; și să fi raportat intern, extern sau prin divulgare publică. Legea interzice represaliile, adică orice măsură luată împotriva voastră din cauza raportării: printre ele, concedierea, reducerea salariului, evaluările profesionale negative, sancțiunile disciplinare, intimidarea și hărțuirea. Dacă le suferiți, le puteți contesta în instanță, iar acolo angajatorul trebuie să dovedească faptul că măsura a avut alte motive decât raportarea; dacă vreți să contestați represaliile, baroul vă asigură, la cererea voastră, asistență judiciară gratuită.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Cine raportează în condițiile legii și a avut motive întemeiate să creadă că raportarea era necesară nu încalcă, prin raportare, regulile despre divulgarea informațiilor și nu răspunde pentru ea. Nu răspunde nici pentru accesarea datelor pe care le are din muncă, dacă le-a accesat ca să raporteze. Legea păstrează însă explicit o limită: nu aduce atingere dispozițiilor privind confidențialitatea informațiilor medicale. Pentru un medic, aceasta este limita cea mai importantă: în raportarea despre dezinfectant scrieți despre fișe, date de livrare și contracte, nu despre pacienți identificabili. Relatarea voastră trebuie să rămână la ce ați văzut: este stabilit că cele două hârtii nu se potrivesc; nu este stabilit că cineva a furat.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joc de rol de trei minute, cu doi voluntari. Primul este medicul din caz. Al doilea este persoana desemnată de spital să primească raportările. Medicul spune ce a văzut, fără să acuze pe nimeni și fără să dea date despre pacienți; persoana desemnată poate pune întrebări. Apoi votați pe telefon: medicul a spus numai fapte, a amestecat fapte cu bănuieli sau a acuzat pe cineva? Încheiem cu un singur cuvânt despre ce v-ar opri să raportați.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Aflați, în primul an de rezidențiat, cine este persoana desemnată să primească raportările în spitalul vostru și cum se ajunge la ea. Nu în ziua în care aveți nevoie. Când raportați, scrieți ce ați văzut, cu date și documente, și păstrați confirmarea de primire. Socotiți termenele: dacă după 7 zile calendaristice nu ați primit confirmarea, știți că instituția a depășit termenul legal. Și nu vă transformați în anchetatori: nu luați acasă dosare de pacienți și nu fotografiați foi de observație, pentru că confidențialitatea informațiilor medicale rămâne în vigoare și pentru avertizori. Legea nu vă cere să dovediți fapta; vă cere să spuneți cinstit ce știți.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faceți diferit de mâine. Înainte să citați un studiu, citiți-i metoda: pe cine a comparat, ce a măsurat, o dată sau în timp. Când vedeți „corupția ucide” sau orice alt titlu cu un verb de cauză, întrebați-vă ce a măsurat, de fapt, studiul din spatele lui. Nu folosiți un studiu ca dovadă pentru ceva ce nu a măsurat. Aflați cine primește raportările în spitalul în care faceți stagiul sau rezidențiatul. Și dacă raportați ceva, scrieți fapte, nu bănuieli, și lăsați pacienții în afara raportării.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Zece întrebări despre ce am discutat în sală.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anonime, pe telefon, la codul afișat: ce a fost util azi, unde v-am pierdut și ce ați putea folosi mâine. Luni, pe pagina cursului, veți găsi ce am modificat pe baza răspunsurilor.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PATRA</a:t>
            </a:r>
            <a:endParaRPr lang="en-US" sz="1300" dirty="0"/>
          </a:p>
        </p:txBody>
      </p:sp>
      <p:sp>
        <p:nvSpPr>
          <p:cNvPr id="4" name="Text 2"/>
          <p:cNvSpPr/>
          <p:nvPr/>
        </p:nvSpPr>
        <p:spPr>
          <a:xfrm>
            <a:off x="640080" y="1417320"/>
            <a:ext cx="5394960" cy="2194560"/>
          </a:xfrm>
          <a:prstGeom prst="rect">
            <a:avLst/>
          </a:prstGeom>
          <a:noFill/>
          <a:ln/>
        </p:spPr>
        <p:txBody>
          <a:bodyPr wrap="square" lIns="0" tIns="0" rIns="0" bIns="0" rtlCol="0" anchor="t"/>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Distanța dintre titlu și design</a:t>
            </a:r>
            <a:endParaRPr lang="en-US" sz="4200" dirty="0"/>
          </a:p>
        </p:txBody>
      </p:sp>
      <p:sp>
        <p:nvSpPr>
          <p:cNvPr id="5" name="Shape 3"/>
          <p:cNvSpPr/>
          <p:nvPr/>
        </p:nvSpPr>
        <p:spPr>
          <a:xfrm>
            <a:off x="667512" y="3931920"/>
            <a:ext cx="1280160" cy="27432"/>
          </a:xfrm>
          <a:prstGeom prst="rect">
            <a:avLst/>
          </a:prstGeom>
          <a:solidFill>
            <a:srgbClr val="FF4757"/>
          </a:solidFill>
          <a:ln/>
        </p:spPr>
        <p:txBody>
          <a:bodyPr/>
          <a:p/>
        </p:txBody>
      </p:sp>
      <p:sp>
        <p:nvSpPr>
          <p:cNvPr id="6" name="Text 4"/>
          <p:cNvSpPr/>
          <p:nvPr/>
        </p:nvSpPr>
        <p:spPr>
          <a:xfrm>
            <a:off x="640080" y="4160520"/>
            <a:ext cx="5394960" cy="82296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Câte vieți costă un plic? Corupție, sistem și sănătate în România</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400" dirty="0"/>
          </a:p>
        </p:txBody>
      </p:sp>
      <p:sp>
        <p:nvSpPr>
          <p:cNvPr id="7" name="Shape 5"/>
          <p:cNvSpPr/>
          <p:nvPr/>
        </p:nvSpPr>
        <p:spPr>
          <a:xfrm>
            <a:off x="6492240" y="1097280"/>
            <a:ext cx="5120640" cy="4663440"/>
          </a:xfrm>
          <a:prstGeom prst="roundRect">
            <a:avLst>
              <a:gd name="adj" fmla="val 1765"/>
            </a:avLst>
          </a:prstGeom>
          <a:solidFill>
            <a:srgbClr val="FBF8F1"/>
          </a:solidFill>
          <a:ln w="12700">
            <a:solidFill>
              <a:srgbClr val="FBF8F1"/>
            </a:solidFill>
            <a:prstDash val="solid"/>
          </a:ln>
        </p:spPr>
        <p:txBody>
          <a:bodyPr/>
          <a:p/>
        </p:txBody>
      </p:sp>
      <p:sp>
        <p:nvSpPr>
          <p:cNvPr id="8" name="Text 6"/>
          <p:cNvSpPr/>
          <p:nvPr/>
        </p:nvSpPr>
        <p:spPr>
          <a:xfrm>
            <a:off x="6812280" y="1325880"/>
            <a:ext cx="448056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PLOS ONE · 2011</a:t>
            </a:r>
            <a:endParaRPr lang="en-US" sz="1300" dirty="0"/>
          </a:p>
        </p:txBody>
      </p:sp>
      <p:sp>
        <p:nvSpPr>
          <p:cNvPr id="9" name="Shape 7"/>
          <p:cNvSpPr/>
          <p:nvPr/>
        </p:nvSpPr>
        <p:spPr>
          <a:xfrm>
            <a:off x="6812280" y="1737360"/>
            <a:ext cx="4480560" cy="18288"/>
          </a:xfrm>
          <a:prstGeom prst="rect">
            <a:avLst/>
          </a:prstGeom>
          <a:solidFill>
            <a:srgbClr val="11121A"/>
          </a:solidFill>
          <a:ln/>
        </p:spPr>
        <p:txBody>
          <a:bodyPr/>
          <a:p/>
        </p:txBody>
      </p:sp>
      <p:sp>
        <p:nvSpPr>
          <p:cNvPr id="10" name="Text 8"/>
          <p:cNvSpPr/>
          <p:nvPr/>
        </p:nvSpPr>
        <p:spPr>
          <a:xfrm>
            <a:off x="6812280" y="1920240"/>
            <a:ext cx="4480560" cy="914400"/>
          </a:xfrm>
          <a:prstGeom prst="rect">
            <a:avLst/>
          </a:prstGeom>
          <a:noFill/>
          <a:ln/>
        </p:spPr>
        <p:txBody>
          <a:bodyPr wrap="square" lIns="0" tIns="0" rIns="0" bIns="0" rtlCol="0" anchor="t"/>
          <a:lstStyle/>
          <a:p>
            <a:pPr indent="0" marL="0">
              <a:buNone/>
            </a:pPr>
            <a:r>
              <a:rPr lang="en-US" sz="4000" b="1" dirty="0">
                <a:solidFill>
                  <a:srgbClr val="11121A"/>
                </a:solidFill>
                <a:latin typeface="Palatino Linotype" pitchFamily="34" charset="0"/>
                <a:ea typeface="Palatino Linotype" pitchFamily="34" charset="-122"/>
                <a:cs typeface="Palatino Linotype" pitchFamily="34" charset="-120"/>
              </a:rPr>
              <a:t>Corruption Kills</a:t>
            </a:r>
            <a:endParaRPr lang="en-US" sz="4000" dirty="0"/>
          </a:p>
        </p:txBody>
      </p:sp>
      <p:sp>
        <p:nvSpPr>
          <p:cNvPr id="11" name="Text 9"/>
          <p:cNvSpPr/>
          <p:nvPr/>
        </p:nvSpPr>
        <p:spPr>
          <a:xfrm>
            <a:off x="6812280" y="2880360"/>
            <a:ext cx="4480560" cy="91440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Estimating the Global Impact of Corruption on Children Deaths</a:t>
            </a:r>
            <a:endParaRPr lang="en-US" sz="1800" dirty="0"/>
          </a:p>
        </p:txBody>
      </p:sp>
      <p:sp>
        <p:nvSpPr>
          <p:cNvPr id="12" name="Shape 10"/>
          <p:cNvSpPr/>
          <p:nvPr/>
        </p:nvSpPr>
        <p:spPr>
          <a:xfrm>
            <a:off x="6812280" y="4069080"/>
            <a:ext cx="4480560" cy="9144"/>
          </a:xfrm>
          <a:prstGeom prst="rect">
            <a:avLst/>
          </a:prstGeom>
          <a:solidFill>
            <a:srgbClr val="C9C6BE"/>
          </a:solidFill>
          <a:ln/>
        </p:spPr>
        <p:txBody>
          <a:bodyPr/>
          <a:p/>
        </p:txBody>
      </p:sp>
      <p:sp>
        <p:nvSpPr>
          <p:cNvPr id="13" name="Text 11"/>
          <p:cNvSpPr/>
          <p:nvPr/>
        </p:nvSpPr>
        <p:spPr>
          <a:xfrm>
            <a:off x="6812280" y="4251960"/>
            <a:ext cx="448056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Titlul real al unui studiu. Azi îl comparăm cu felul în care a fost făcut.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BILETELE DE IEȘIRE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am schimbat după răspunsurile voastre</a:t>
            </a:r>
            <a:endParaRPr lang="en-US" sz="3200" dirty="0"/>
          </a:p>
        </p:txBody>
      </p:sp>
      <p:sp>
        <p:nvSpPr>
          <p:cNvPr id="4" name="Shape 2"/>
          <p:cNvSpPr/>
          <p:nvPr/>
        </p:nvSpPr>
        <p:spPr>
          <a:xfrm>
            <a:off x="594360" y="2011680"/>
            <a:ext cx="10972800" cy="2377440"/>
          </a:xfrm>
          <a:prstGeom prst="roundRect">
            <a:avLst>
              <a:gd name="adj" fmla="val 3462"/>
            </a:avLst>
          </a:prstGeom>
          <a:solidFill>
            <a:srgbClr val="ECEAE4"/>
          </a:solidFill>
          <a:ln w="12700">
            <a:solidFill>
              <a:srgbClr val="ECEAE4"/>
            </a:solidFill>
            <a:prstDash val="solid"/>
          </a:ln>
        </p:spPr>
        <p:txBody>
          <a:bodyPr/>
          <a:p/>
        </p:txBody>
      </p:sp>
      <p:sp>
        <p:nvSpPr>
          <p:cNvPr id="5" name="Shape 3"/>
          <p:cNvSpPr/>
          <p:nvPr/>
        </p:nvSpPr>
        <p:spPr>
          <a:xfrm>
            <a:off x="594360" y="2011680"/>
            <a:ext cx="109728" cy="2377440"/>
          </a:xfrm>
          <a:prstGeom prst="rect">
            <a:avLst/>
          </a:prstGeom>
          <a:solidFill>
            <a:srgbClr val="B02532"/>
          </a:solidFill>
          <a:ln w="12700">
            <a:solidFill>
              <a:srgbClr val="B02532"/>
            </a:solidFill>
            <a:prstDash val="solid"/>
          </a:ln>
        </p:spPr>
        <p:txBody>
          <a:bodyPr/>
          <a:p/>
        </p:txBody>
      </p:sp>
      <p:sp>
        <p:nvSpPr>
          <p:cNvPr id="6" name="Text 4"/>
          <p:cNvSpPr/>
          <p:nvPr/>
        </p:nvSpPr>
        <p:spPr>
          <a:xfrm>
            <a:off x="1051560" y="2011680"/>
            <a:ext cx="10241280" cy="2377440"/>
          </a:xfrm>
          <a:prstGeom prst="rect">
            <a:avLst/>
          </a:prstGeom>
          <a:noFill/>
          <a:ln/>
        </p:spPr>
        <p:txBody>
          <a:bodyPr wrap="square" lIns="0" tIns="0" rIns="0" bIns="0" rtlCol="0" anchor="ctr"/>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Legea avertizorilor nu o citim articol cu articol: o parcurgem pe un singur caz, iar termenele le vedeți pe o cronologie.</a:t>
            </a:r>
            <a:endParaRPr lang="en-US" sz="2700" dirty="0"/>
          </a:p>
        </p:txBody>
      </p:sp>
      <p:sp>
        <p:nvSpPr>
          <p:cNvPr id="7" name="Text 5"/>
          <p:cNvSpPr/>
          <p:nvPr/>
        </p:nvSpPr>
        <p:spPr>
          <a:xfrm>
            <a:off x="594360" y="4846320"/>
            <a:ext cx="10972800" cy="457200"/>
          </a:xfrm>
          <a:prstGeom prst="rect">
            <a:avLst/>
          </a:prstGeom>
          <a:noFill/>
          <a:ln/>
        </p:spPr>
        <p:txBody>
          <a:bodyPr wrap="square" lIns="0" tIns="0" rIns="0" bIns="0" rtlCol="0" anchor="t"/>
          <a:lstStyle/>
          <a:p>
            <a:pPr indent="0" marL="0">
              <a:buNone/>
            </a:pPr>
            <a:r>
              <a:rPr lang="en-US" sz="1800" i="1" dirty="0">
                <a:solidFill>
                  <a:srgbClr val="B02532"/>
                </a:solidFill>
                <a:latin typeface="Palatino Linotype" pitchFamily="34" charset="0"/>
                <a:ea typeface="Palatino Linotype" pitchFamily="34" charset="-122"/>
                <a:cs typeface="Palatino Linotype" pitchFamily="34" charset="-120"/>
              </a:rPr>
              <a:t>O vedeți în povestea a treia.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povești și o dezbatere</a:t>
            </a:r>
            <a:endParaRPr lang="en-US" sz="3100" dirty="0"/>
          </a:p>
        </p:txBody>
      </p:sp>
      <p:sp>
        <p:nvSpPr>
          <p:cNvPr id="4" name="Shape 2"/>
          <p:cNvSpPr/>
          <p:nvPr/>
        </p:nvSpPr>
        <p:spPr>
          <a:xfrm>
            <a:off x="594360" y="2148840"/>
            <a:ext cx="914400" cy="868680"/>
          </a:xfrm>
          <a:prstGeom prst="rect">
            <a:avLst/>
          </a:prstGeom>
          <a:solidFill>
            <a:srgbClr val="585A64"/>
          </a:solidFill>
          <a:ln w="19050">
            <a:solidFill>
              <a:srgbClr val="F6F5F2"/>
            </a:solidFill>
            <a:prstDash val="solid"/>
          </a:ln>
        </p:spPr>
        <p:txBody>
          <a:bodyPr/>
          <a:p/>
        </p:txBody>
      </p:sp>
      <p:sp>
        <p:nvSpPr>
          <p:cNvPr id="5" name="Shape 3"/>
          <p:cNvSpPr/>
          <p:nvPr/>
        </p:nvSpPr>
        <p:spPr>
          <a:xfrm>
            <a:off x="1508760" y="2148840"/>
            <a:ext cx="2743200" cy="868680"/>
          </a:xfrm>
          <a:prstGeom prst="rect">
            <a:avLst/>
          </a:prstGeom>
          <a:solidFill>
            <a:srgbClr val="FF4757"/>
          </a:solidFill>
          <a:ln w="19050">
            <a:solidFill>
              <a:srgbClr val="F6F5F2"/>
            </a:solidFill>
            <a:prstDash val="solid"/>
          </a:ln>
        </p:spPr>
        <p:txBody>
          <a:bodyPr/>
          <a:p/>
        </p:txBody>
      </p:sp>
      <p:sp>
        <p:nvSpPr>
          <p:cNvPr id="6" name="Text 4"/>
          <p:cNvSpPr/>
          <p:nvPr/>
        </p:nvSpPr>
        <p:spPr>
          <a:xfrm>
            <a:off x="1508760" y="2148840"/>
            <a:ext cx="2743200" cy="868680"/>
          </a:xfrm>
          <a:prstGeom prst="rect">
            <a:avLst/>
          </a:prstGeom>
          <a:noFill/>
          <a:ln/>
        </p:spPr>
        <p:txBody>
          <a:bodyPr wrap="square" lIns="0" tIns="0" rIns="0" bIns="0" rtlCol="0" anchor="ctr"/>
          <a:lstStyle/>
          <a:p>
            <a:pPr algn="ctr" indent="0" marL="0">
              <a:buNone/>
            </a:pPr>
            <a:r>
              <a:rPr lang="en-US" sz="1600" b="1" dirty="0">
                <a:solidFill>
                  <a:srgbClr val="2E060B"/>
                </a:solidFill>
                <a:latin typeface="Palatino Linotype" pitchFamily="34" charset="0"/>
                <a:ea typeface="Palatino Linotype" pitchFamily="34" charset="-122"/>
                <a:cs typeface="Palatino Linotype" pitchFamily="34" charset="-120"/>
              </a:rPr>
              <a:t>140 000 de copii</a:t>
            </a:r>
            <a:endParaRPr lang="en-US" sz="1600" dirty="0"/>
          </a:p>
        </p:txBody>
      </p:sp>
      <p:sp>
        <p:nvSpPr>
          <p:cNvPr id="7" name="Shape 5"/>
          <p:cNvSpPr/>
          <p:nvPr/>
        </p:nvSpPr>
        <p:spPr>
          <a:xfrm>
            <a:off x="4251960" y="2148840"/>
            <a:ext cx="1371600" cy="868680"/>
          </a:xfrm>
          <a:prstGeom prst="rect">
            <a:avLst/>
          </a:prstGeom>
          <a:solidFill>
            <a:srgbClr val="9B7EF7"/>
          </a:solidFill>
          <a:ln w="19050">
            <a:solidFill>
              <a:srgbClr val="F6F5F2"/>
            </a:solidFill>
            <a:prstDash val="solid"/>
          </a:ln>
        </p:spPr>
        <p:txBody>
          <a:bodyPr/>
          <a:p/>
        </p:txBody>
      </p:sp>
      <p:sp>
        <p:nvSpPr>
          <p:cNvPr id="8" name="Text 6"/>
          <p:cNvSpPr/>
          <p:nvPr/>
        </p:nvSpPr>
        <p:spPr>
          <a:xfrm>
            <a:off x="4251960" y="2148840"/>
            <a:ext cx="1371600" cy="868680"/>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The Lancet</a:t>
            </a:r>
            <a:endParaRPr lang="en-US" sz="1300" dirty="0"/>
          </a:p>
        </p:txBody>
      </p:sp>
      <p:sp>
        <p:nvSpPr>
          <p:cNvPr id="9" name="Shape 7"/>
          <p:cNvSpPr/>
          <p:nvPr/>
        </p:nvSpPr>
        <p:spPr>
          <a:xfrm>
            <a:off x="5623560" y="2148840"/>
            <a:ext cx="914400" cy="868680"/>
          </a:xfrm>
          <a:prstGeom prst="rect">
            <a:avLst/>
          </a:prstGeom>
          <a:solidFill>
            <a:srgbClr val="ECEAE4"/>
          </a:solidFill>
          <a:ln w="19050">
            <a:solidFill>
              <a:srgbClr val="F6F5F2"/>
            </a:solidFill>
            <a:prstDash val="solid"/>
          </a:ln>
        </p:spPr>
        <p:txBody>
          <a:bodyPr/>
          <a:p/>
        </p:txBody>
      </p:sp>
      <p:sp>
        <p:nvSpPr>
          <p:cNvPr id="10" name="Shape 8"/>
          <p:cNvSpPr/>
          <p:nvPr/>
        </p:nvSpPr>
        <p:spPr>
          <a:xfrm>
            <a:off x="6537960" y="2148840"/>
            <a:ext cx="1828800" cy="868680"/>
          </a:xfrm>
          <a:prstGeom prst="rect">
            <a:avLst/>
          </a:prstGeom>
          <a:solidFill>
            <a:srgbClr val="FFC24B"/>
          </a:solidFill>
          <a:ln w="19050">
            <a:solidFill>
              <a:srgbClr val="F6F5F2"/>
            </a:solidFill>
            <a:prstDash val="solid"/>
          </a:ln>
        </p:spPr>
        <p:txBody>
          <a:bodyPr/>
          <a:p/>
        </p:txBody>
      </p:sp>
      <p:sp>
        <p:nvSpPr>
          <p:cNvPr id="11" name="Text 9"/>
          <p:cNvSpPr/>
          <p:nvPr/>
        </p:nvSpPr>
        <p:spPr>
          <a:xfrm>
            <a:off x="6537960" y="2148840"/>
            <a:ext cx="1828800" cy="868680"/>
          </a:xfrm>
          <a:prstGeom prst="rect">
            <a:avLst/>
          </a:prstGeom>
          <a:noFill/>
          <a:ln/>
        </p:spPr>
        <p:txBody>
          <a:bodyPr wrap="square" lIns="0" tIns="0" rIns="0" bIns="0" rtlCol="0" anchor="ctr"/>
          <a:lstStyle/>
          <a:p>
            <a:pPr algn="ctr" indent="0" marL="0">
              <a:buNone/>
            </a:pPr>
            <a:r>
              <a:rPr lang="en-US" sz="1600" b="1" dirty="0">
                <a:solidFill>
                  <a:srgbClr val="3D2A00"/>
                </a:solidFill>
                <a:latin typeface="Palatino Linotype" pitchFamily="34" charset="0"/>
                <a:ea typeface="Palatino Linotype" pitchFamily="34" charset="-122"/>
                <a:cs typeface="Palatino Linotype" pitchFamily="34" charset="-120"/>
              </a:rPr>
              <a:t>Dezbaterea</a:t>
            </a:r>
            <a:endParaRPr lang="en-US" sz="1600" dirty="0"/>
          </a:p>
        </p:txBody>
      </p:sp>
      <p:sp>
        <p:nvSpPr>
          <p:cNvPr id="12" name="Shape 10"/>
          <p:cNvSpPr/>
          <p:nvPr/>
        </p:nvSpPr>
        <p:spPr>
          <a:xfrm>
            <a:off x="8366760" y="2148840"/>
            <a:ext cx="1828800" cy="868680"/>
          </a:xfrm>
          <a:prstGeom prst="rect">
            <a:avLst/>
          </a:prstGeom>
          <a:solidFill>
            <a:srgbClr val="27D3BE"/>
          </a:solidFill>
          <a:ln w="19050">
            <a:solidFill>
              <a:srgbClr val="F6F5F2"/>
            </a:solidFill>
            <a:prstDash val="solid"/>
          </a:ln>
        </p:spPr>
        <p:txBody>
          <a:bodyPr/>
          <a:p/>
        </p:txBody>
      </p:sp>
      <p:sp>
        <p:nvSpPr>
          <p:cNvPr id="13" name="Text 11"/>
          <p:cNvSpPr/>
          <p:nvPr/>
        </p:nvSpPr>
        <p:spPr>
          <a:xfrm>
            <a:off x="8366760" y="2148840"/>
            <a:ext cx="1828800" cy="868680"/>
          </a:xfrm>
          <a:prstGeom prst="rect">
            <a:avLst/>
          </a:prstGeom>
          <a:noFill/>
          <a:ln/>
        </p:spPr>
        <p:txBody>
          <a:bodyPr wrap="square" lIns="0" tIns="0" rIns="0" bIns="0" rtlCol="0" anchor="ctr"/>
          <a:lstStyle/>
          <a:p>
            <a:pPr algn="ctr" indent="0" marL="0">
              <a:buNone/>
            </a:pPr>
            <a:r>
              <a:rPr lang="en-US" sz="1600" b="1" dirty="0">
                <a:solidFill>
                  <a:srgbClr val="073B34"/>
                </a:solidFill>
                <a:latin typeface="Palatino Linotype" pitchFamily="34" charset="0"/>
                <a:ea typeface="Palatino Linotype" pitchFamily="34" charset="-122"/>
                <a:cs typeface="Palatino Linotype" pitchFamily="34" charset="-120"/>
              </a:rPr>
              <a:t>Două hârtii</a:t>
            </a:r>
            <a:endParaRPr lang="en-US" sz="1600" dirty="0"/>
          </a:p>
        </p:txBody>
      </p:sp>
      <p:sp>
        <p:nvSpPr>
          <p:cNvPr id="14" name="Shape 12"/>
          <p:cNvSpPr/>
          <p:nvPr/>
        </p:nvSpPr>
        <p:spPr>
          <a:xfrm>
            <a:off x="10195560" y="2148840"/>
            <a:ext cx="914400" cy="868680"/>
          </a:xfrm>
          <a:prstGeom prst="rect">
            <a:avLst/>
          </a:prstGeom>
          <a:solidFill>
            <a:srgbClr val="FF8A3D"/>
          </a:solidFill>
          <a:ln w="19050">
            <a:solidFill>
              <a:srgbClr val="F6F5F2"/>
            </a:solidFill>
            <a:prstDash val="solid"/>
          </a:ln>
        </p:spPr>
        <p:txBody>
          <a:bodyPr/>
          <a:p/>
        </p:txBody>
      </p:sp>
      <p:sp>
        <p:nvSpPr>
          <p:cNvPr id="15" name="Text 13"/>
          <p:cNvSpPr/>
          <p:nvPr/>
        </p:nvSpPr>
        <p:spPr>
          <a:xfrm>
            <a:off x="10195560" y="2148840"/>
            <a:ext cx="914400" cy="86868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16" name="Shape 14"/>
          <p:cNvSpPr/>
          <p:nvPr/>
        </p:nvSpPr>
        <p:spPr>
          <a:xfrm>
            <a:off x="11109960" y="2148840"/>
            <a:ext cx="457200" cy="868680"/>
          </a:xfrm>
          <a:prstGeom prst="rect">
            <a:avLst/>
          </a:prstGeom>
          <a:solidFill>
            <a:srgbClr val="585A64"/>
          </a:solidFill>
          <a:ln w="19050">
            <a:solidFill>
              <a:srgbClr val="F6F5F2"/>
            </a:solidFill>
            <a:prstDash val="solid"/>
          </a:ln>
        </p:spPr>
        <p:txBody>
          <a:bodyPr/>
          <a:p/>
        </p:txBody>
      </p:sp>
      <p:sp>
        <p:nvSpPr>
          <p:cNvPr id="17" name="Text 15"/>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0′</a:t>
            </a:r>
            <a:endParaRPr lang="en-US" sz="1200" dirty="0"/>
          </a:p>
        </p:txBody>
      </p:sp>
      <p:sp>
        <p:nvSpPr>
          <p:cNvPr id="18" name="Text 16"/>
          <p:cNvSpPr/>
          <p:nvPr/>
        </p:nvSpPr>
        <p:spPr>
          <a:xfrm>
            <a:off x="11430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10′</a:t>
            </a:r>
            <a:endParaRPr lang="en-US" sz="1200" dirty="0"/>
          </a:p>
        </p:txBody>
      </p:sp>
      <p:sp>
        <p:nvSpPr>
          <p:cNvPr id="19" name="Text 17"/>
          <p:cNvSpPr/>
          <p:nvPr/>
        </p:nvSpPr>
        <p:spPr>
          <a:xfrm>
            <a:off x="38862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40′</a:t>
            </a:r>
            <a:endParaRPr lang="en-US" sz="1200" dirty="0"/>
          </a:p>
        </p:txBody>
      </p:sp>
      <p:sp>
        <p:nvSpPr>
          <p:cNvPr id="20" name="Text 18"/>
          <p:cNvSpPr/>
          <p:nvPr/>
        </p:nvSpPr>
        <p:spPr>
          <a:xfrm>
            <a:off x="52578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55′</a:t>
            </a:r>
            <a:endParaRPr lang="en-US" sz="1200" dirty="0"/>
          </a:p>
        </p:txBody>
      </p:sp>
      <p:sp>
        <p:nvSpPr>
          <p:cNvPr id="21" name="Text 19"/>
          <p:cNvSpPr/>
          <p:nvPr/>
        </p:nvSpPr>
        <p:spPr>
          <a:xfrm>
            <a:off x="61722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65′</a:t>
            </a:r>
            <a:endParaRPr lang="en-US" sz="1200" dirty="0"/>
          </a:p>
        </p:txBody>
      </p:sp>
      <p:sp>
        <p:nvSpPr>
          <p:cNvPr id="22" name="Text 20"/>
          <p:cNvSpPr/>
          <p:nvPr/>
        </p:nvSpPr>
        <p:spPr>
          <a:xfrm>
            <a:off x="80010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85′</a:t>
            </a:r>
            <a:endParaRPr lang="en-US" sz="1200" dirty="0"/>
          </a:p>
        </p:txBody>
      </p:sp>
      <p:sp>
        <p:nvSpPr>
          <p:cNvPr id="23" name="Text 21"/>
          <p:cNvSpPr/>
          <p:nvPr/>
        </p:nvSpPr>
        <p:spPr>
          <a:xfrm>
            <a:off x="98298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105′</a:t>
            </a:r>
            <a:endParaRPr lang="en-US" sz="1200" dirty="0"/>
          </a:p>
        </p:txBody>
      </p:sp>
      <p:sp>
        <p:nvSpPr>
          <p:cNvPr id="24" name="Text 22"/>
          <p:cNvSpPr/>
          <p:nvPr/>
        </p:nvSpPr>
        <p:spPr>
          <a:xfrm>
            <a:off x="107442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115′</a:t>
            </a:r>
            <a:endParaRPr lang="en-US" sz="1200" dirty="0"/>
          </a:p>
        </p:txBody>
      </p:sp>
      <p:sp>
        <p:nvSpPr>
          <p:cNvPr id="25" name="Text 23"/>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120′</a:t>
            </a:r>
            <a:endParaRPr lang="en-US" sz="1200" dirty="0"/>
          </a:p>
        </p:txBody>
      </p:sp>
      <p:sp>
        <p:nvSpPr>
          <p:cNvPr id="26" name="Text 24"/>
          <p:cNvSpPr/>
          <p:nvPr/>
        </p:nvSpPr>
        <p:spPr>
          <a:xfrm>
            <a:off x="548640" y="3090672"/>
            <a:ext cx="1463040" cy="274320"/>
          </a:xfrm>
          <a:prstGeom prst="rect">
            <a:avLst/>
          </a:prstGeom>
          <a:noFill/>
          <a:ln/>
        </p:spPr>
        <p:txBody>
          <a:bodyPr wrap="square" lIns="0" tIns="0" rIns="0" bIns="0" rtlCol="0" anchor="t"/>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Deschiderea</a:t>
            </a:r>
            <a:endParaRPr lang="en-US" sz="1200" dirty="0"/>
          </a:p>
        </p:txBody>
      </p:sp>
      <p:sp>
        <p:nvSpPr>
          <p:cNvPr id="27" name="Text 25"/>
          <p:cNvSpPr/>
          <p:nvPr/>
        </p:nvSpPr>
        <p:spPr>
          <a:xfrm>
            <a:off x="5623560" y="3090672"/>
            <a:ext cx="914400" cy="274320"/>
          </a:xfrm>
          <a:prstGeom prst="rect">
            <a:avLst/>
          </a:prstGeom>
          <a:noFill/>
          <a:ln/>
        </p:spPr>
        <p:txBody>
          <a:bodyPr wrap="square" lIns="0" tIns="0" rIns="0" bIns="0" rtlCol="0" anchor="t"/>
          <a:lstStyle/>
          <a:p>
            <a:pPr algn="ctr" indent="0" marL="0">
              <a:buNone/>
            </a:pPr>
            <a:r>
              <a:rPr lang="en-US" sz="1200" b="1" dirty="0">
                <a:solidFill>
                  <a:srgbClr val="585A64"/>
                </a:solidFill>
                <a:latin typeface="Palatino Linotype" pitchFamily="34" charset="0"/>
                <a:ea typeface="Palatino Linotype" pitchFamily="34" charset="-122"/>
                <a:cs typeface="Palatino Linotype" pitchFamily="34" charset="-120"/>
              </a:rPr>
              <a:t>Pauză</a:t>
            </a:r>
            <a:endParaRPr lang="en-US" sz="1200" dirty="0"/>
          </a:p>
        </p:txBody>
      </p:sp>
      <p:sp>
        <p:nvSpPr>
          <p:cNvPr id="28" name="Shape 26"/>
          <p:cNvSpPr/>
          <p:nvPr/>
        </p:nvSpPr>
        <p:spPr>
          <a:xfrm>
            <a:off x="1508760" y="3520440"/>
            <a:ext cx="45720" cy="658368"/>
          </a:xfrm>
          <a:prstGeom prst="rect">
            <a:avLst/>
          </a:prstGeom>
          <a:solidFill>
            <a:srgbClr val="B02532"/>
          </a:solidFill>
          <a:ln w="12700">
            <a:solidFill>
              <a:srgbClr val="B02532"/>
            </a:solidFill>
            <a:prstDash val="solid"/>
          </a:ln>
        </p:spPr>
        <p:txBody>
          <a:bodyPr/>
          <a:p/>
        </p:txBody>
      </p:sp>
      <p:sp>
        <p:nvSpPr>
          <p:cNvPr id="29" name="Text 27"/>
          <p:cNvSpPr/>
          <p:nvPr/>
        </p:nvSpPr>
        <p:spPr>
          <a:xfrm>
            <a:off x="1645920" y="3520440"/>
            <a:ext cx="25603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 unde vine o cifră celebră</a:t>
            </a:r>
            <a:endParaRPr lang="en-US" sz="1400" dirty="0"/>
          </a:p>
        </p:txBody>
      </p:sp>
      <p:sp>
        <p:nvSpPr>
          <p:cNvPr id="30" name="Shape 28"/>
          <p:cNvSpPr/>
          <p:nvPr/>
        </p:nvSpPr>
        <p:spPr>
          <a:xfrm>
            <a:off x="4251960" y="3520440"/>
            <a:ext cx="45720" cy="658368"/>
          </a:xfrm>
          <a:prstGeom prst="rect">
            <a:avLst/>
          </a:prstGeom>
          <a:solidFill>
            <a:srgbClr val="4A2D8C"/>
          </a:solidFill>
          <a:ln w="12700">
            <a:solidFill>
              <a:srgbClr val="4A2D8C"/>
            </a:solidFill>
            <a:prstDash val="solid"/>
          </a:ln>
        </p:spPr>
        <p:txBody>
          <a:bodyPr/>
          <a:p/>
        </p:txBody>
      </p:sp>
      <p:sp>
        <p:nvSpPr>
          <p:cNvPr id="31" name="Text 29"/>
          <p:cNvSpPr/>
          <p:nvPr/>
        </p:nvSpPr>
        <p:spPr>
          <a:xfrm>
            <a:off x="4389120" y="3520440"/>
            <a:ext cx="11887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Un studiu citat greșit</a:t>
            </a:r>
            <a:endParaRPr lang="en-US" sz="1400" dirty="0"/>
          </a:p>
        </p:txBody>
      </p:sp>
      <p:sp>
        <p:nvSpPr>
          <p:cNvPr id="32" name="Shape 30"/>
          <p:cNvSpPr/>
          <p:nvPr/>
        </p:nvSpPr>
        <p:spPr>
          <a:xfrm>
            <a:off x="6537960" y="3520440"/>
            <a:ext cx="45720" cy="658368"/>
          </a:xfrm>
          <a:prstGeom prst="rect">
            <a:avLst/>
          </a:prstGeom>
          <a:solidFill>
            <a:srgbClr val="8A6100"/>
          </a:solidFill>
          <a:ln w="12700">
            <a:solidFill>
              <a:srgbClr val="8A6100"/>
            </a:solidFill>
            <a:prstDash val="solid"/>
          </a:ln>
        </p:spPr>
        <p:txBody>
          <a:bodyPr/>
          <a:p/>
        </p:txBody>
      </p:sp>
      <p:sp>
        <p:nvSpPr>
          <p:cNvPr id="33" name="Text 31"/>
          <p:cNvSpPr/>
          <p:nvPr/>
        </p:nvSpPr>
        <p:spPr>
          <a:xfrm>
            <a:off x="6675120" y="3520440"/>
            <a:ext cx="16459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Două tabere, un plic</a:t>
            </a:r>
            <a:endParaRPr lang="en-US" sz="1400" dirty="0"/>
          </a:p>
        </p:txBody>
      </p:sp>
      <p:sp>
        <p:nvSpPr>
          <p:cNvPr id="34" name="Shape 32"/>
          <p:cNvSpPr/>
          <p:nvPr/>
        </p:nvSpPr>
        <p:spPr>
          <a:xfrm>
            <a:off x="8366760" y="3520440"/>
            <a:ext cx="45720" cy="658368"/>
          </a:xfrm>
          <a:prstGeom prst="rect">
            <a:avLst/>
          </a:prstGeom>
          <a:solidFill>
            <a:srgbClr val="0E7C6B"/>
          </a:solidFill>
          <a:ln w="12700">
            <a:solidFill>
              <a:srgbClr val="0E7C6B"/>
            </a:solidFill>
            <a:prstDash val="solid"/>
          </a:ln>
        </p:spPr>
        <p:txBody>
          <a:bodyPr/>
          <a:p/>
        </p:txBody>
      </p:sp>
      <p:sp>
        <p:nvSpPr>
          <p:cNvPr id="35" name="Text 33"/>
          <p:cNvSpPr/>
          <p:nvPr/>
        </p:nvSpPr>
        <p:spPr>
          <a:xfrm>
            <a:off x="8503920" y="3520440"/>
            <a:ext cx="16459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 puteți face legal în spital</a:t>
            </a:r>
            <a:endParaRPr lang="en-US" sz="1400" dirty="0"/>
          </a:p>
        </p:txBody>
      </p:sp>
      <p:sp>
        <p:nvSpPr>
          <p:cNvPr id="36" name="Text 34"/>
          <p:cNvSpPr/>
          <p:nvPr/>
        </p:nvSpPr>
        <p:spPr>
          <a:xfrm>
            <a:off x="594360" y="5349240"/>
            <a:ext cx="10972800" cy="45720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Termenii noi de azi: designul studiului · studiul ecologic · avertizorul în interes public.</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TITLU REAL · PLOS ONE, 2011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„Corupția ucide”</a:t>
            </a:r>
            <a:endParaRPr lang="en-US" sz="3400" dirty="0"/>
          </a:p>
        </p:txBody>
      </p:sp>
      <p:sp>
        <p:nvSpPr>
          <p:cNvPr id="4" name="Shape 2"/>
          <p:cNvSpPr/>
          <p:nvPr/>
        </p:nvSpPr>
        <p:spPr>
          <a:xfrm>
            <a:off x="594360" y="1783080"/>
            <a:ext cx="6035040" cy="4023360"/>
          </a:xfrm>
          <a:prstGeom prst="roundRect">
            <a:avLst>
              <a:gd name="adj" fmla="val 2045"/>
            </a:avLst>
          </a:prstGeom>
          <a:solidFill>
            <a:srgbClr val="FBF8F1"/>
          </a:solidFill>
          <a:ln w="12700">
            <a:solidFill>
              <a:srgbClr val="FBF8F1"/>
            </a:solidFill>
            <a:prstDash val="solid"/>
          </a:ln>
        </p:spPr>
        <p:txBody>
          <a:bodyPr/>
          <a:p/>
        </p:txBody>
      </p:sp>
      <p:sp>
        <p:nvSpPr>
          <p:cNvPr id="5" name="Shape 3"/>
          <p:cNvSpPr/>
          <p:nvPr/>
        </p:nvSpPr>
        <p:spPr>
          <a:xfrm>
            <a:off x="594360" y="1783080"/>
            <a:ext cx="6035040" cy="4023360"/>
          </a:xfrm>
          <a:prstGeom prst="roundRect">
            <a:avLst>
              <a:gd name="adj" fmla="val 2045"/>
            </a:avLst>
          </a:prstGeom>
          <a:solidFill>
            <a:srgbClr val="FBF8F1"/>
          </a:solidFill>
          <a:ln w="12700">
            <a:solidFill>
              <a:srgbClr val="C9C6BE"/>
            </a:solidFill>
            <a:prstDash val="solid"/>
          </a:ln>
        </p:spPr>
        <p:txBody>
          <a:bodyPr/>
          <a:p/>
        </p:txBody>
      </p:sp>
      <p:sp>
        <p:nvSpPr>
          <p:cNvPr id="6" name="Text 4"/>
          <p:cNvSpPr/>
          <p:nvPr/>
        </p:nvSpPr>
        <p:spPr>
          <a:xfrm>
            <a:off x="868680" y="2011680"/>
            <a:ext cx="5486400" cy="146304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Corruption Kills: Estimating the Global Impact of Corruption on Children Deaths</a:t>
            </a:r>
            <a:endParaRPr lang="en-US" sz="2200" dirty="0"/>
          </a:p>
        </p:txBody>
      </p:sp>
      <p:sp>
        <p:nvSpPr>
          <p:cNvPr id="7" name="Shape 5"/>
          <p:cNvSpPr/>
          <p:nvPr/>
        </p:nvSpPr>
        <p:spPr>
          <a:xfrm>
            <a:off x="868680" y="3611880"/>
            <a:ext cx="5486400" cy="9144"/>
          </a:xfrm>
          <a:prstGeom prst="rect">
            <a:avLst/>
          </a:prstGeom>
          <a:solidFill>
            <a:srgbClr val="C9C6BE"/>
          </a:solidFill>
          <a:ln/>
        </p:spPr>
        <p:txBody>
          <a:bodyPr/>
          <a:p/>
        </p:txBody>
      </p:sp>
      <p:sp>
        <p:nvSpPr>
          <p:cNvPr id="8" name="Text 6"/>
          <p:cNvSpPr/>
          <p:nvPr/>
        </p:nvSpPr>
        <p:spPr>
          <a:xfrm>
            <a:off x="868680" y="3749040"/>
            <a:ext cx="5486400" cy="118872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„Corupția ucide: o estimare a impactului global al corupției asupra deceselor copiilor”</a:t>
            </a:r>
            <a:endParaRPr lang="en-US" sz="1800" dirty="0"/>
          </a:p>
        </p:txBody>
      </p:sp>
      <p:sp>
        <p:nvSpPr>
          <p:cNvPr id="9" name="Text 7"/>
          <p:cNvSpPr/>
          <p:nvPr/>
        </p:nvSpPr>
        <p:spPr>
          <a:xfrm>
            <a:off x="7040880" y="1783080"/>
            <a:ext cx="4572000" cy="1280160"/>
          </a:xfrm>
          <a:prstGeom prst="rect">
            <a:avLst/>
          </a:prstGeom>
          <a:noFill/>
          <a:ln/>
        </p:spPr>
        <p:txBody>
          <a:bodyPr wrap="square" lIns="0" tIns="0" rIns="0" bIns="0" rtlCol="0" anchor="ctr"/>
          <a:lstStyle/>
          <a:p>
            <a:pPr indent="0" marL="0">
              <a:buNone/>
            </a:pPr>
            <a:r>
              <a:rPr lang="en-US" sz="6000" b="1" dirty="0">
                <a:solidFill>
                  <a:srgbClr val="B02532"/>
                </a:solidFill>
                <a:latin typeface="Palatino Linotype" pitchFamily="34" charset="0"/>
                <a:ea typeface="Palatino Linotype" pitchFamily="34" charset="-122"/>
                <a:cs typeface="Palatino Linotype" pitchFamily="34" charset="-120"/>
              </a:rPr>
              <a:t>peste 140 000</a:t>
            </a:r>
            <a:endParaRPr lang="en-US" sz="6000" dirty="0"/>
          </a:p>
        </p:txBody>
      </p:sp>
      <p:sp>
        <p:nvSpPr>
          <p:cNvPr id="10" name="Text 8"/>
          <p:cNvSpPr/>
          <p:nvPr/>
        </p:nvSpPr>
        <p:spPr>
          <a:xfrm>
            <a:off x="7040880" y="3108960"/>
            <a:ext cx="4572000" cy="128016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decese ale copiilor, în fiecare an, ar putea fi „atribuite indirect” corupției</a:t>
            </a:r>
            <a:endParaRPr lang="en-US" sz="2100" dirty="0"/>
          </a:p>
        </p:txBody>
      </p:sp>
      <p:sp>
        <p:nvSpPr>
          <p:cNvPr id="11" name="Text 9"/>
          <p:cNvSpPr/>
          <p:nvPr/>
        </p:nvSpPr>
        <p:spPr>
          <a:xfrm>
            <a:off x="7040880" y="4663440"/>
            <a:ext cx="4572000" cy="731520"/>
          </a:xfrm>
          <a:prstGeom prst="rect">
            <a:avLst/>
          </a:prstGeom>
          <a:noFill/>
          <a:ln/>
        </p:spPr>
        <p:txBody>
          <a:bodyPr wrap="square" lIns="0" tIns="0" rIns="0" bIns="0" rtlCol="0" anchor="t"/>
          <a:lstStyle/>
          <a:p>
            <a:pPr indent="0" marL="0">
              <a:buNone/>
            </a:pPr>
            <a:r>
              <a:rPr lang="en-US" sz="1700" i="1" dirty="0">
                <a:solidFill>
                  <a:srgbClr val="3A3C44"/>
                </a:solidFill>
                <a:latin typeface="Palatino Linotype" pitchFamily="34" charset="0"/>
                <a:ea typeface="Palatino Linotype" pitchFamily="34" charset="-122"/>
                <a:cs typeface="Palatino Linotype" pitchFamily="34" charset="-120"/>
              </a:rPr>
              <a:t>Din studiu a rămas în circulație cifra.</a:t>
            </a:r>
            <a:endParaRPr lang="en-US" sz="17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și colab., PLoS ONE, 2011 · A770, A771.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Ați crede titlul „Corupția ucide”?</a:t>
            </a:r>
            <a:endParaRPr lang="en-US" sz="3000" dirty="0"/>
          </a:p>
        </p:txBody>
      </p:sp>
      <p:sp>
        <p:nvSpPr>
          <p:cNvPr id="6" name="Shape 4"/>
          <p:cNvSpPr/>
          <p:nvPr/>
        </p:nvSpPr>
        <p:spPr>
          <a:xfrm>
            <a:off x="594360" y="201168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212848"/>
            <a:ext cx="420624" cy="420624"/>
          </a:xfrm>
          <a:prstGeom prst="ellipse">
            <a:avLst/>
          </a:prstGeom>
          <a:solidFill>
            <a:srgbClr val="FFC24B"/>
          </a:solidFill>
          <a:ln/>
        </p:spPr>
        <p:txBody>
          <a:bodyPr/>
          <a:p/>
        </p:txBody>
      </p:sp>
      <p:sp>
        <p:nvSpPr>
          <p:cNvPr id="8" name="Text 6"/>
          <p:cNvSpPr/>
          <p:nvPr/>
        </p:nvSpPr>
        <p:spPr>
          <a:xfrm>
            <a:off x="91440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 studiul arată că o face</a:t>
            </a:r>
            <a:endParaRPr lang="en-US" sz="1900" dirty="0"/>
          </a:p>
        </p:txBody>
      </p:sp>
      <p:sp>
        <p:nvSpPr>
          <p:cNvPr id="10" name="Shape 8"/>
          <p:cNvSpPr/>
          <p:nvPr/>
        </p:nvSpPr>
        <p:spPr>
          <a:xfrm>
            <a:off x="594360" y="301752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3218688"/>
            <a:ext cx="420624" cy="420624"/>
          </a:xfrm>
          <a:prstGeom prst="ellipse">
            <a:avLst/>
          </a:prstGeom>
          <a:solidFill>
            <a:srgbClr val="FFC24B"/>
          </a:solidFill>
          <a:ln/>
        </p:spPr>
        <p:txBody>
          <a:bodyPr/>
          <a:p/>
        </p:txBody>
      </p:sp>
      <p:sp>
        <p:nvSpPr>
          <p:cNvPr id="12" name="Text 10"/>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01752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a:t>
            </a:r>
            <a:endParaRPr lang="en-US" sz="1900" dirty="0"/>
          </a:p>
        </p:txBody>
      </p:sp>
      <p:sp>
        <p:nvSpPr>
          <p:cNvPr id="14" name="Shape 12"/>
          <p:cNvSpPr/>
          <p:nvPr/>
        </p:nvSpPr>
        <p:spPr>
          <a:xfrm>
            <a:off x="594360" y="402336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4224528"/>
            <a:ext cx="420624" cy="420624"/>
          </a:xfrm>
          <a:prstGeom prst="ellipse">
            <a:avLst/>
          </a:prstGeom>
          <a:solidFill>
            <a:srgbClr val="FFC24B"/>
          </a:solidFill>
          <a:ln/>
        </p:spPr>
        <p:txBody>
          <a:bodyPr/>
          <a:p/>
        </p:txBody>
      </p:sp>
      <p:sp>
        <p:nvSpPr>
          <p:cNvPr id="16" name="Text 14"/>
          <p:cNvSpPr/>
          <p:nvPr/>
        </p:nvSpPr>
        <p:spPr>
          <a:xfrm>
            <a:off x="91440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02336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Depinde de felul în care a fost făcut studiul</a:t>
            </a:r>
            <a:endParaRPr lang="en-US" sz="1900" dirty="0"/>
          </a:p>
        </p:txBody>
      </p:sp>
      <p:sp>
        <p:nvSpPr>
          <p:cNvPr id="18" name="Shape 16"/>
          <p:cNvSpPr/>
          <p:nvPr/>
        </p:nvSpPr>
        <p:spPr>
          <a:xfrm>
            <a:off x="8686800" y="201168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20" name="Text 18"/>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Revenim la vot la sfârșitul primei povești. Răspundeți pe telefon, la codul afișat.</a:t>
            </a:r>
            <a:endParaRPr lang="en-US" sz="1700" dirty="0"/>
          </a:p>
        </p:txBody>
      </p:sp>
      <p:pic>
        <p:nvPicPr>
          <p:cNvPr id="21" name="Picture 20" descr="Mentimeter_OPT_PLIC_C04.png"/>
          <p:cNvPicPr>
            <a:picLocks noChangeAspect="1"/>
          </p:cNvPicPr>
          <p:nvPr/>
        </p:nvPicPr>
        <p:blipFill>
          <a:blip r:embed="rId3"/>
          <a:stretch>
            <a:fillRect/>
          </a:stretch>
        </p:blipFill>
        <p:spPr>
          <a:xfrm>
            <a:off x="9023350" y="2011680"/>
            <a:ext cx="2207260" cy="2207260"/>
          </a:xfrm>
          <a:prstGeom prst="rect">
            <a:avLst/>
          </a:prstGeom>
        </p:spPr>
      </p:pic>
      <p:sp>
        <p:nvSpPr>
          <p:cNvPr id="22" name="TextBox 21"/>
          <p:cNvSpPr txBox="1"/>
          <p:nvPr/>
        </p:nvSpPr>
        <p:spPr>
          <a:xfrm>
            <a:off x="8686800" y="425704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DIN TITLUL CURSULUI</a:t>
            </a:r>
            <a:endParaRPr lang="en-US" sz="1300" dirty="0"/>
          </a:p>
        </p:txBody>
      </p:sp>
      <p:sp>
        <p:nvSpPr>
          <p:cNvPr id="3" name="Text 1"/>
          <p:cNvSpPr/>
          <p:nvPr/>
        </p:nvSpPr>
        <p:spPr>
          <a:xfrm>
            <a:off x="594360" y="868680"/>
            <a:ext cx="10972800" cy="100584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Câte vieți costă un plic?</a:t>
            </a:r>
            <a:endParaRPr lang="en-US" sz="4400" dirty="0"/>
          </a:p>
        </p:txBody>
      </p:sp>
      <p:sp>
        <p:nvSpPr>
          <p:cNvPr id="4" name="Text 2"/>
          <p:cNvSpPr/>
          <p:nvPr/>
        </p:nvSpPr>
        <p:spPr>
          <a:xfrm>
            <a:off x="594360" y="1965960"/>
            <a:ext cx="10972800" cy="731520"/>
          </a:xfrm>
          <a:prstGeom prst="rect">
            <a:avLst/>
          </a:prstGeom>
          <a:noFill/>
          <a:ln/>
        </p:spPr>
        <p:txBody>
          <a:bodyPr wrap="square" lIns="0" tIns="0" rIns="0" bIns="0" rtlCol="0" anchor="t"/>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Nimeni nu știe. Nici studiul din 2011 nu numără vieți.</a:t>
            </a:r>
            <a:endParaRPr lang="en-US" sz="2600" dirty="0"/>
          </a:p>
        </p:txBody>
      </p:sp>
      <p:sp>
        <p:nvSpPr>
          <p:cNvPr id="5" name="Shape 3"/>
          <p:cNvSpPr/>
          <p:nvPr/>
        </p:nvSpPr>
        <p:spPr>
          <a:xfrm>
            <a:off x="594360" y="3017520"/>
            <a:ext cx="10972800" cy="2651760"/>
          </a:xfrm>
          <a:prstGeom prst="roundRect">
            <a:avLst>
              <a:gd name="adj" fmla="val 3103"/>
            </a:avLst>
          </a:prstGeom>
          <a:solidFill>
            <a:srgbClr val="1D1F2B"/>
          </a:solidFill>
          <a:ln w="12700">
            <a:solidFill>
              <a:srgbClr val="1D1F2B"/>
            </a:solidFill>
            <a:prstDash val="solid"/>
          </a:ln>
        </p:spPr>
        <p:txBody>
          <a:bodyPr/>
          <a:p/>
        </p:txBody>
      </p:sp>
      <p:sp>
        <p:nvSpPr>
          <p:cNvPr id="6" name="Text 4"/>
          <p:cNvSpPr/>
          <p:nvPr/>
        </p:nvSpPr>
        <p:spPr>
          <a:xfrm>
            <a:off x="868680" y="3200400"/>
            <a:ext cx="10424160" cy="4114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Patru întrebări pentru orice cifră, din prima ședință:</a:t>
            </a:r>
            <a:endParaRPr lang="en-US" sz="1700" dirty="0"/>
          </a:p>
        </p:txBody>
      </p:sp>
      <p:sp>
        <p:nvSpPr>
          <p:cNvPr id="7" name="Text 5"/>
          <p:cNvSpPr/>
          <p:nvPr/>
        </p:nvSpPr>
        <p:spPr>
          <a:xfrm>
            <a:off x="868680" y="3611880"/>
            <a:ext cx="10424160" cy="50292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ce măsoară · pe cine · în ce an · cu ce marjă de eroare</a:t>
            </a:r>
            <a:endParaRPr lang="en-US" sz="2000" dirty="0"/>
          </a:p>
        </p:txBody>
      </p:sp>
      <p:sp>
        <p:nvSpPr>
          <p:cNvPr id="8" name="Text 6"/>
          <p:cNvSpPr/>
          <p:nvPr/>
        </p:nvSpPr>
        <p:spPr>
          <a:xfrm>
            <a:off x="868680" y="4297680"/>
            <a:ext cx="10424160" cy="118872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Azi adăugăm una care le cuprinde pe toate: cum a fost făcut studiul din care vine cifra?</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POVESTEA ÎNTÂI · 140 000 DE COPII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178 de țări, un singur an</a:t>
            </a:r>
            <a:endParaRPr lang="en-US" sz="3100" dirty="0"/>
          </a:p>
        </p:txBody>
      </p:sp>
      <p:sp>
        <p:nvSpPr>
          <p:cNvPr id="4" name="Shape 2"/>
          <p:cNvSpPr/>
          <p:nvPr/>
        </p:nvSpPr>
        <p:spPr>
          <a:xfrm>
            <a:off x="594360" y="1691640"/>
            <a:ext cx="5349240" cy="3429000"/>
          </a:xfrm>
          <a:prstGeom prst="roundRect">
            <a:avLst>
              <a:gd name="adj" fmla="val 2400"/>
            </a:avLst>
          </a:prstGeom>
          <a:solidFill>
            <a:srgbClr val="ECEAE4"/>
          </a:solidFill>
          <a:ln w="12700">
            <a:solidFill>
              <a:srgbClr val="ECEAE4"/>
            </a:solidFill>
            <a:prstDash val="solid"/>
          </a:ln>
        </p:spPr>
        <p:txBody>
          <a:bodyPr/>
          <a:p/>
        </p:txBody>
      </p:sp>
      <p:sp>
        <p:nvSpPr>
          <p:cNvPr id="5" name="Shape 3"/>
          <p:cNvSpPr/>
          <p:nvPr/>
        </p:nvSpPr>
        <p:spPr>
          <a:xfrm>
            <a:off x="6217920" y="1691640"/>
            <a:ext cx="5349240" cy="3429000"/>
          </a:xfrm>
          <a:prstGeom prst="roundRect">
            <a:avLst>
              <a:gd name="adj" fmla="val 2400"/>
            </a:avLst>
          </a:prstGeom>
          <a:solidFill>
            <a:srgbClr val="ECEAE4"/>
          </a:solidFill>
          <a:ln w="12700">
            <a:solidFill>
              <a:srgbClr val="ECEAE4"/>
            </a:solidFill>
            <a:prstDash val="solid"/>
          </a:ln>
        </p:spPr>
        <p:txBody>
          <a:bodyPr/>
          <a:p/>
        </p:txBody>
      </p:sp>
      <p:sp>
        <p:nvSpPr>
          <p:cNvPr id="6" name="Text 4"/>
          <p:cNvSpPr/>
          <p:nvPr/>
        </p:nvSpPr>
        <p:spPr>
          <a:xfrm>
            <a:off x="868680" y="1874520"/>
            <a:ext cx="4846320" cy="32004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DOUĂ CIFRE DIN 2008, PENTRU FIECARE ȚARĂ</a:t>
            </a:r>
            <a:endParaRPr lang="en-US" sz="1300" dirty="0"/>
          </a:p>
        </p:txBody>
      </p:sp>
      <p:sp>
        <p:nvSpPr>
          <p:cNvPr id="7" name="Text 5"/>
          <p:cNvSpPr/>
          <p:nvPr/>
        </p:nvSpPr>
        <p:spPr>
          <a:xfrm>
            <a:off x="868680" y="2286000"/>
            <a:ext cx="4846320" cy="2743200"/>
          </a:xfrm>
          <a:prstGeom prst="rect">
            <a:avLst/>
          </a:prstGeom>
          <a:noFill/>
          <a:ln/>
        </p:spPr>
        <p:txBody>
          <a:bodyPr wrap="square" lIns="0" tIns="0" rIns="0" bIns="0" rtlCol="0" anchor="t"/>
          <a:lstStyle/>
          <a:p>
            <a:pPr indent="0" marL="0">
              <a:spcAft>
                <a:spcPts val="1400"/>
              </a:spcAft>
              <a:buNone/>
            </a:pPr>
            <a:r>
              <a:rPr lang="en-US" sz="1800" dirty="0">
                <a:solidFill>
                  <a:srgbClr val="11121A"/>
                </a:solidFill>
                <a:latin typeface="Palatino Linotype" pitchFamily="34" charset="0"/>
                <a:ea typeface="Palatino Linotype" pitchFamily="34" charset="-122"/>
                <a:cs typeface="Palatino Linotype" pitchFamily="34" charset="-120"/>
              </a:rPr>
              <a:t>Câți copii din 1 000 născuți vii mor înainte de 5 ani.</a:t>
            </a:r>
            <a:endParaRPr lang="en-US" sz="1800" dirty="0"/>
          </a:p>
          <a:p>
            <a:pPr indent="0" marL="0">
              <a:spcAft>
                <a:spcPts val="1400"/>
              </a:spcAft>
              <a:buNone/>
            </a:pPr>
            <a:r>
              <a:rPr lang="en-US" sz="1800" dirty="0">
                <a:solidFill>
                  <a:srgbClr val="11121A"/>
                </a:solidFill>
                <a:latin typeface="Palatino Linotype" pitchFamily="34" charset="0"/>
                <a:ea typeface="Palatino Linotype" pitchFamily="34" charset="-122"/>
                <a:cs typeface="Palatino Linotype" pitchFamily="34" charset="-120"/>
              </a:rPr>
              <a:t>Indicele de percepție a corupției, de la 0 la 10: un scor mai mare înseamnă corupție percepută mai mică.</a:t>
            </a:r>
            <a:endParaRPr lang="en-US" sz="1800" dirty="0"/>
          </a:p>
        </p:txBody>
      </p:sp>
      <p:sp>
        <p:nvSpPr>
          <p:cNvPr id="8" name="Text 6"/>
          <p:cNvSpPr/>
          <p:nvPr/>
        </p:nvSpPr>
        <p:spPr>
          <a:xfrm>
            <a:off x="6492240" y="1874520"/>
            <a:ext cx="4846320" cy="32004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CINCI FACTORI ÎN MODELUL FINAL</a:t>
            </a:r>
            <a:endParaRPr lang="en-US" sz="1300" dirty="0"/>
          </a:p>
        </p:txBody>
      </p:sp>
      <p:sp>
        <p:nvSpPr>
          <p:cNvPr id="9" name="Text 7"/>
          <p:cNvSpPr/>
          <p:nvPr/>
        </p:nvSpPr>
        <p:spPr>
          <a:xfrm>
            <a:off x="6492240" y="2286000"/>
            <a:ext cx="4846320" cy="2743200"/>
          </a:xfrm>
          <a:prstGeom prst="rect">
            <a:avLst/>
          </a:prstGeom>
          <a:noFill/>
          <a:ln/>
        </p:spPr>
        <p:txBody>
          <a:bodyPr wrap="square" lIns="0" tIns="0" rIns="0" bIns="0" rtlCol="0" anchor="t"/>
          <a:lstStyle/>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canalizarea</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cheltuielile pentru sănătate pe locuitor</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indicele corupției percepute</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clima aridă</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structura pe vârste a populației</a:t>
            </a:r>
            <a:endParaRPr lang="en-US" sz="1800" dirty="0"/>
          </a:p>
        </p:txBody>
      </p:sp>
      <p:sp>
        <p:nvSpPr>
          <p:cNvPr id="10" name="Text 8"/>
          <p:cNvSpPr/>
          <p:nvPr/>
        </p:nvSpPr>
        <p:spPr>
          <a:xfrm>
            <a:off x="594360" y="5349240"/>
            <a:ext cx="10972800" cy="54864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Indicele nu numără plicuri, ci impresii.</a:t>
            </a:r>
            <a:endParaRPr lang="en-US" sz="22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și colab., 2011 · A772, A773, A776.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GHICIȚI · RIDICAȚI MÂNA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UNDE VINE CIFRA</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Autorii scriu că peste 140 000 de decese ale copiilor, în fiecare an, ar putea fi atribuite indirect corupției.</a:t>
            </a:r>
            <a:endParaRPr lang="en-US" sz="1800" dirty="0"/>
          </a:p>
        </p:txBody>
      </p:sp>
      <p:sp>
        <p:nvSpPr>
          <p:cNvPr id="6" name="Text 4"/>
          <p:cNvSpPr/>
          <p:nvPr/>
        </p:nvSpPr>
        <p:spPr>
          <a:xfrm>
            <a:off x="594360" y="1828800"/>
            <a:ext cx="10972800" cy="91440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Cum credeți că au ajuns la cifra aceasta?</a:t>
            </a:r>
            <a:endParaRPr lang="en-US" sz="2500" dirty="0"/>
          </a:p>
        </p:txBody>
      </p:sp>
      <p:sp>
        <p:nvSpPr>
          <p:cNvPr id="7" name="Shape 5"/>
          <p:cNvSpPr/>
          <p:nvPr/>
        </p:nvSpPr>
        <p:spPr>
          <a:xfrm>
            <a:off x="594360" y="2834640"/>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8" name="Shape 6"/>
          <p:cNvSpPr/>
          <p:nvPr/>
        </p:nvSpPr>
        <p:spPr>
          <a:xfrm>
            <a:off x="914400" y="2935224"/>
            <a:ext cx="420624" cy="420624"/>
          </a:xfrm>
          <a:prstGeom prst="ellipse">
            <a:avLst/>
          </a:prstGeom>
          <a:solidFill>
            <a:srgbClr val="27D3BE"/>
          </a:solidFill>
          <a:ln/>
        </p:spPr>
        <p:txBody>
          <a:bodyPr/>
          <a:p/>
        </p:txBody>
      </p:sp>
      <p:sp>
        <p:nvSpPr>
          <p:cNvPr id="9" name="Text 7"/>
          <p:cNvSpPr/>
          <p:nvPr/>
        </p:nvSpPr>
        <p:spPr>
          <a:xfrm>
            <a:off x="914400" y="2935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2834640"/>
            <a:ext cx="969264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Au numărat copiii morți în spitale unde s-au dovedit fapte de corupție</a:t>
            </a:r>
            <a:endParaRPr lang="en-US" sz="1700" dirty="0"/>
          </a:p>
        </p:txBody>
      </p:sp>
      <p:sp>
        <p:nvSpPr>
          <p:cNvPr id="11" name="Shape 9"/>
          <p:cNvSpPr/>
          <p:nvPr/>
        </p:nvSpPr>
        <p:spPr>
          <a:xfrm>
            <a:off x="594360" y="3566160"/>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12" name="Shape 10"/>
          <p:cNvSpPr/>
          <p:nvPr/>
        </p:nvSpPr>
        <p:spPr>
          <a:xfrm>
            <a:off x="914400" y="3666744"/>
            <a:ext cx="420624" cy="420624"/>
          </a:xfrm>
          <a:prstGeom prst="ellipse">
            <a:avLst/>
          </a:prstGeom>
          <a:solidFill>
            <a:srgbClr val="27D3BE"/>
          </a:solidFill>
          <a:ln/>
        </p:spPr>
        <p:txBody>
          <a:bodyPr/>
          <a:p/>
        </p:txBody>
      </p:sp>
      <p:sp>
        <p:nvSpPr>
          <p:cNvPr id="13" name="Text 11"/>
          <p:cNvSpPr/>
          <p:nvPr/>
        </p:nvSpPr>
        <p:spPr>
          <a:xfrm>
            <a:off x="914400" y="36667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566160"/>
            <a:ext cx="969264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Au comparat aceiași copii înainte și după o campanie anticorupție</a:t>
            </a:r>
            <a:endParaRPr lang="en-US" sz="1700" dirty="0"/>
          </a:p>
        </p:txBody>
      </p:sp>
      <p:sp>
        <p:nvSpPr>
          <p:cNvPr id="15" name="Shape 13"/>
          <p:cNvSpPr/>
          <p:nvPr/>
        </p:nvSpPr>
        <p:spPr>
          <a:xfrm>
            <a:off x="594360" y="4297680"/>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16" name="Shape 14"/>
          <p:cNvSpPr/>
          <p:nvPr/>
        </p:nvSpPr>
        <p:spPr>
          <a:xfrm>
            <a:off x="914400" y="4398264"/>
            <a:ext cx="420624" cy="420624"/>
          </a:xfrm>
          <a:prstGeom prst="ellipse">
            <a:avLst/>
          </a:prstGeom>
          <a:solidFill>
            <a:srgbClr val="27D3BE"/>
          </a:solidFill>
          <a:ln/>
        </p:spPr>
        <p:txBody>
          <a:bodyPr/>
          <a:p/>
        </p:txBody>
      </p:sp>
      <p:sp>
        <p:nvSpPr>
          <p:cNvPr id="17" name="Text 15"/>
          <p:cNvSpPr/>
          <p:nvPr/>
        </p:nvSpPr>
        <p:spPr>
          <a:xfrm>
            <a:off x="914400" y="4398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297680"/>
            <a:ext cx="969264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Au pornit de la cât de bine prezice un model statistic diferențele dintre țări</a:t>
            </a:r>
            <a:endParaRPr lang="en-US" sz="1700" dirty="0"/>
          </a:p>
        </p:txBody>
      </p:sp>
      <p:sp>
        <p:nvSpPr>
          <p:cNvPr id="19" name="Shape 17"/>
          <p:cNvSpPr/>
          <p:nvPr/>
        </p:nvSpPr>
        <p:spPr>
          <a:xfrm>
            <a:off x="594360" y="5029200"/>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20" name="Shape 18"/>
          <p:cNvSpPr/>
          <p:nvPr/>
        </p:nvSpPr>
        <p:spPr>
          <a:xfrm>
            <a:off x="914400" y="5129784"/>
            <a:ext cx="420624" cy="420624"/>
          </a:xfrm>
          <a:prstGeom prst="ellipse">
            <a:avLst/>
          </a:prstGeom>
          <a:solidFill>
            <a:srgbClr val="27D3BE"/>
          </a:solidFill>
          <a:ln/>
        </p:spPr>
        <p:txBody>
          <a:bodyPr/>
          <a:p/>
        </p:txBody>
      </p:sp>
      <p:sp>
        <p:nvSpPr>
          <p:cNvPr id="21" name="Text 19"/>
          <p:cNvSpPr/>
          <p:nvPr/>
        </p:nvSpPr>
        <p:spPr>
          <a:xfrm>
            <a:off x="914400" y="5129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029200"/>
            <a:ext cx="969264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Au luat-o dintr-un raport al unei organizații internaționale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VARIANTA (C) · CALCULUL DIN ARTICOL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Un model care prezice puțin mai bine</a:t>
            </a:r>
            <a:endParaRPr lang="en-US" sz="3100" dirty="0"/>
          </a:p>
        </p:txBody>
      </p:sp>
      <p:sp>
        <p:nvSpPr>
          <p:cNvPr id="4" name="Text 2"/>
          <p:cNvSpPr/>
          <p:nvPr/>
        </p:nvSpPr>
        <p:spPr>
          <a:xfrm>
            <a:off x="594360" y="1828800"/>
            <a:ext cx="6400800" cy="292608"/>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Modelul fără indicele corupției</a:t>
            </a:r>
            <a:endParaRPr lang="en-US" sz="1500" dirty="0"/>
          </a:p>
        </p:txBody>
      </p:sp>
      <p:sp>
        <p:nvSpPr>
          <p:cNvPr id="5" name="Shape 3"/>
          <p:cNvSpPr/>
          <p:nvPr/>
        </p:nvSpPr>
        <p:spPr>
          <a:xfrm>
            <a:off x="594360" y="2176272"/>
            <a:ext cx="6073811" cy="457200"/>
          </a:xfrm>
          <a:prstGeom prst="rect">
            <a:avLst/>
          </a:prstGeom>
          <a:solidFill>
            <a:srgbClr val="B9B4A8"/>
          </a:solidFill>
          <a:ln w="12700">
            <a:solidFill>
              <a:srgbClr val="B9B4A8"/>
            </a:solidFill>
            <a:prstDash val="solid"/>
          </a:ln>
        </p:spPr>
        <p:txBody>
          <a:bodyPr/>
          <a:p/>
        </p:txBody>
      </p:sp>
      <p:sp>
        <p:nvSpPr>
          <p:cNvPr id="6" name="Text 4"/>
          <p:cNvSpPr/>
          <p:nvPr/>
        </p:nvSpPr>
        <p:spPr>
          <a:xfrm>
            <a:off x="6805331" y="2176272"/>
            <a:ext cx="1737360" cy="457200"/>
          </a:xfrm>
          <a:prstGeom prst="rect">
            <a:avLst/>
          </a:prstGeom>
          <a:noFill/>
          <a:ln/>
        </p:spPr>
        <p:txBody>
          <a:bodyPr wrap="square" lIns="0" tIns="0" rIns="0" bIns="0" rtlCol="0" anchor="ctr"/>
          <a:lstStyle/>
          <a:p>
            <a:pPr indent="0" marL="0">
              <a:buNone/>
            </a:pPr>
            <a:r>
              <a:rPr lang="en-US" sz="1800" b="1" dirty="0">
                <a:solidFill>
                  <a:srgbClr val="3A3C44"/>
                </a:solidFill>
                <a:latin typeface="Palatino Linotype" pitchFamily="34" charset="0"/>
                <a:ea typeface="Palatino Linotype" pitchFamily="34" charset="-122"/>
                <a:cs typeface="Palatino Linotype" pitchFamily="34" charset="-120"/>
              </a:rPr>
              <a:t>circa 87,4%</a:t>
            </a:r>
            <a:endParaRPr lang="en-US" sz="1800" dirty="0"/>
          </a:p>
        </p:txBody>
      </p:sp>
      <p:sp>
        <p:nvSpPr>
          <p:cNvPr id="7" name="Text 5"/>
          <p:cNvSpPr/>
          <p:nvPr/>
        </p:nvSpPr>
        <p:spPr>
          <a:xfrm>
            <a:off x="594360" y="2880360"/>
            <a:ext cx="6400800" cy="292608"/>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Modelul cu indicele corupției</a:t>
            </a:r>
            <a:endParaRPr lang="en-US" sz="1500" dirty="0"/>
          </a:p>
        </p:txBody>
      </p:sp>
      <p:sp>
        <p:nvSpPr>
          <p:cNvPr id="8" name="Shape 6"/>
          <p:cNvSpPr/>
          <p:nvPr/>
        </p:nvSpPr>
        <p:spPr>
          <a:xfrm>
            <a:off x="594360" y="3227832"/>
            <a:ext cx="6185002" cy="457200"/>
          </a:xfrm>
          <a:prstGeom prst="rect">
            <a:avLst/>
          </a:prstGeom>
          <a:solidFill>
            <a:srgbClr val="B02532"/>
          </a:solidFill>
          <a:ln w="12700">
            <a:solidFill>
              <a:srgbClr val="B02532"/>
            </a:solidFill>
            <a:prstDash val="solid"/>
          </a:ln>
        </p:spPr>
        <p:txBody>
          <a:bodyPr/>
          <a:p/>
        </p:txBody>
      </p:sp>
      <p:sp>
        <p:nvSpPr>
          <p:cNvPr id="9" name="Text 7"/>
          <p:cNvSpPr/>
          <p:nvPr/>
        </p:nvSpPr>
        <p:spPr>
          <a:xfrm>
            <a:off x="6916522" y="3227832"/>
            <a:ext cx="1737360" cy="457200"/>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circa 89%</a:t>
            </a:r>
            <a:endParaRPr lang="en-US" sz="1800" dirty="0"/>
          </a:p>
        </p:txBody>
      </p:sp>
      <p:sp>
        <p:nvSpPr>
          <p:cNvPr id="10" name="Text 8"/>
          <p:cNvSpPr/>
          <p:nvPr/>
        </p:nvSpPr>
        <p:spPr>
          <a:xfrm>
            <a:off x="594360" y="3977640"/>
            <a:ext cx="6949440" cy="32004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din diferențele dintre țări explicate de model</a:t>
            </a:r>
            <a:endParaRPr lang="en-US" sz="1400" dirty="0"/>
          </a:p>
        </p:txBody>
      </p:sp>
      <p:sp>
        <p:nvSpPr>
          <p:cNvPr id="11" name="Shape 9"/>
          <p:cNvSpPr/>
          <p:nvPr/>
        </p:nvSpPr>
        <p:spPr>
          <a:xfrm>
            <a:off x="8229600" y="1783080"/>
            <a:ext cx="3337560" cy="1188720"/>
          </a:xfrm>
          <a:prstGeom prst="roundRect">
            <a:avLst>
              <a:gd name="adj" fmla="val 6923"/>
            </a:avLst>
          </a:prstGeom>
          <a:solidFill>
            <a:srgbClr val="ECEAE4"/>
          </a:solidFill>
          <a:ln w="12700">
            <a:solidFill>
              <a:srgbClr val="ECEAE4"/>
            </a:solidFill>
            <a:prstDash val="solid"/>
          </a:ln>
        </p:spPr>
        <p:txBody>
          <a:bodyPr/>
          <a:p/>
        </p:txBody>
      </p:sp>
      <p:sp>
        <p:nvSpPr>
          <p:cNvPr id="12" name="Text 10"/>
          <p:cNvSpPr/>
          <p:nvPr/>
        </p:nvSpPr>
        <p:spPr>
          <a:xfrm>
            <a:off x="8412480" y="1874520"/>
            <a:ext cx="301752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+1,61%</a:t>
            </a:r>
            <a:endParaRPr lang="en-US" sz="2400" dirty="0"/>
          </a:p>
        </p:txBody>
      </p:sp>
      <p:sp>
        <p:nvSpPr>
          <p:cNvPr id="13" name="Text 11"/>
          <p:cNvSpPr/>
          <p:nvPr/>
        </p:nvSpPr>
        <p:spPr>
          <a:xfrm>
            <a:off x="8412480" y="2423160"/>
            <a:ext cx="3017520" cy="5029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din diferențele dintre țări</a:t>
            </a:r>
            <a:endParaRPr lang="en-US" sz="1300" dirty="0"/>
          </a:p>
        </p:txBody>
      </p:sp>
      <p:sp>
        <p:nvSpPr>
          <p:cNvPr id="14" name="Text 12"/>
          <p:cNvSpPr/>
          <p:nvPr/>
        </p:nvSpPr>
        <p:spPr>
          <a:xfrm>
            <a:off x="9601200" y="2944368"/>
            <a:ext cx="548640" cy="22860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5" name="Shape 13"/>
          <p:cNvSpPr/>
          <p:nvPr/>
        </p:nvSpPr>
        <p:spPr>
          <a:xfrm>
            <a:off x="8229600" y="3154680"/>
            <a:ext cx="3337560" cy="1188720"/>
          </a:xfrm>
          <a:prstGeom prst="roundRect">
            <a:avLst>
              <a:gd name="adj" fmla="val 6923"/>
            </a:avLst>
          </a:prstGeom>
          <a:solidFill>
            <a:srgbClr val="ECEAE4"/>
          </a:solidFill>
          <a:ln w="12700">
            <a:solidFill>
              <a:srgbClr val="ECEAE4"/>
            </a:solidFill>
            <a:prstDash val="solid"/>
          </a:ln>
        </p:spPr>
        <p:txBody>
          <a:bodyPr/>
          <a:p/>
        </p:txBody>
      </p:sp>
      <p:sp>
        <p:nvSpPr>
          <p:cNvPr id="16" name="Text 14"/>
          <p:cNvSpPr/>
          <p:nvPr/>
        </p:nvSpPr>
        <p:spPr>
          <a:xfrm>
            <a:off x="8412480" y="3246120"/>
            <a:ext cx="301752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 1,6%</a:t>
            </a:r>
            <a:endParaRPr lang="en-US" sz="2400" dirty="0"/>
          </a:p>
        </p:txBody>
      </p:sp>
      <p:sp>
        <p:nvSpPr>
          <p:cNvPr id="17" name="Text 15"/>
          <p:cNvSpPr/>
          <p:nvPr/>
        </p:nvSpPr>
        <p:spPr>
          <a:xfrm>
            <a:off x="8412480" y="3794760"/>
            <a:ext cx="3017520" cy="5029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din decesele copiilor, circa 1 din 60</a:t>
            </a:r>
            <a:endParaRPr lang="en-US" sz="1300" dirty="0"/>
          </a:p>
        </p:txBody>
      </p:sp>
      <p:sp>
        <p:nvSpPr>
          <p:cNvPr id="18" name="Text 16"/>
          <p:cNvSpPr/>
          <p:nvPr/>
        </p:nvSpPr>
        <p:spPr>
          <a:xfrm>
            <a:off x="9601200" y="4315968"/>
            <a:ext cx="548640" cy="22860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9" name="Shape 17"/>
          <p:cNvSpPr/>
          <p:nvPr/>
        </p:nvSpPr>
        <p:spPr>
          <a:xfrm>
            <a:off x="8229600" y="4526280"/>
            <a:ext cx="3337560" cy="1188720"/>
          </a:xfrm>
          <a:prstGeom prst="roundRect">
            <a:avLst>
              <a:gd name="adj" fmla="val 6923"/>
            </a:avLst>
          </a:prstGeom>
          <a:solidFill>
            <a:srgbClr val="B02532"/>
          </a:solidFill>
          <a:ln w="12700">
            <a:solidFill>
              <a:srgbClr val="B02532"/>
            </a:solidFill>
            <a:prstDash val="solid"/>
          </a:ln>
        </p:spPr>
        <p:txBody>
          <a:bodyPr/>
          <a:p/>
        </p:txBody>
      </p:sp>
      <p:sp>
        <p:nvSpPr>
          <p:cNvPr id="20" name="Text 18"/>
          <p:cNvSpPr/>
          <p:nvPr/>
        </p:nvSpPr>
        <p:spPr>
          <a:xfrm>
            <a:off x="8412480" y="4617720"/>
            <a:ext cx="3017520" cy="54864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peste 140 000</a:t>
            </a:r>
            <a:endParaRPr lang="en-US" sz="2400" dirty="0"/>
          </a:p>
        </p:txBody>
      </p:sp>
      <p:sp>
        <p:nvSpPr>
          <p:cNvPr id="21" name="Text 19"/>
          <p:cNvSpPr/>
          <p:nvPr/>
        </p:nvSpPr>
        <p:spPr>
          <a:xfrm>
            <a:off x="8412480" y="5166360"/>
            <a:ext cx="3017520" cy="502920"/>
          </a:xfrm>
          <a:prstGeom prst="rect">
            <a:avLst/>
          </a:prstGeom>
          <a:noFill/>
          <a:ln/>
        </p:spPr>
        <p:txBody>
          <a:bodyPr wrap="square" lIns="0" tIns="0" rIns="0" bIns="0" rtlCol="0" anchor="t"/>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din aproape 9 milioane de decese pe an</a:t>
            </a:r>
            <a:endParaRPr lang="en-US" sz="1300" dirty="0"/>
          </a:p>
        </p:txBody>
      </p:sp>
      <p:sp>
        <p:nvSpPr>
          <p:cNvPr id="22" name="Text 20"/>
          <p:cNvSpPr/>
          <p:nvPr/>
        </p:nvSpPr>
        <p:spPr>
          <a:xfrm>
            <a:off x="594360" y="4663440"/>
            <a:ext cx="6949440" cy="8229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Creșterea a fost tradusă apoi în copii.</a:t>
            </a:r>
            <a:endParaRPr lang="en-US" sz="19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și colab., 2011 · A777.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AICI STĂ DISTANȚA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Despre model, nu despre copii</a:t>
            </a:r>
            <a:endParaRPr lang="en-US" sz="3200" dirty="0"/>
          </a:p>
        </p:txBody>
      </p:sp>
      <p:sp>
        <p:nvSpPr>
          <p:cNvPr id="4" name="Shape 2"/>
          <p:cNvSpPr/>
          <p:nvPr/>
        </p:nvSpPr>
        <p:spPr>
          <a:xfrm>
            <a:off x="594360" y="1874520"/>
            <a:ext cx="5349240" cy="210312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594360" y="1874520"/>
            <a:ext cx="534924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68680" y="2103120"/>
            <a:ext cx="480060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Despre model</a:t>
            </a:r>
            <a:endParaRPr lang="en-US" sz="1700" dirty="0"/>
          </a:p>
        </p:txBody>
      </p:sp>
      <p:sp>
        <p:nvSpPr>
          <p:cNvPr id="7" name="Text 5"/>
          <p:cNvSpPr/>
          <p:nvPr/>
        </p:nvSpPr>
        <p:spPr>
          <a:xfrm>
            <a:off x="868680" y="2606040"/>
            <a:ext cx="4800600" cy="12344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Cu indicele corupției, modelul prezice cu 1,61% mai bine diferențele dintre țări.</a:t>
            </a:r>
            <a:endParaRPr lang="en-US" sz="1800" dirty="0"/>
          </a:p>
        </p:txBody>
      </p:sp>
      <p:sp>
        <p:nvSpPr>
          <p:cNvPr id="8" name="Shape 6"/>
          <p:cNvSpPr/>
          <p:nvPr/>
        </p:nvSpPr>
        <p:spPr>
          <a:xfrm>
            <a:off x="6217920" y="1874520"/>
            <a:ext cx="5349240" cy="2103120"/>
          </a:xfrm>
          <a:prstGeom prst="roundRect">
            <a:avLst>
              <a:gd name="adj" fmla="val 3913"/>
            </a:avLst>
          </a:prstGeom>
          <a:solidFill>
            <a:srgbClr val="1D1F2B"/>
          </a:solidFill>
          <a:ln w="12700">
            <a:solidFill>
              <a:srgbClr val="1D1F2B"/>
            </a:solidFill>
            <a:prstDash val="solid"/>
          </a:ln>
        </p:spPr>
        <p:txBody>
          <a:bodyPr/>
          <a:p/>
        </p:txBody>
      </p:sp>
      <p:sp>
        <p:nvSpPr>
          <p:cNvPr id="9" name="Shape 7"/>
          <p:cNvSpPr/>
          <p:nvPr/>
        </p:nvSpPr>
        <p:spPr>
          <a:xfrm>
            <a:off x="6217920" y="1874520"/>
            <a:ext cx="5349240" cy="73152"/>
          </a:xfrm>
          <a:prstGeom prst="rect">
            <a:avLst/>
          </a:prstGeom>
          <a:solidFill>
            <a:srgbClr val="FF4757"/>
          </a:solidFill>
          <a:ln w="12700">
            <a:solidFill>
              <a:srgbClr val="FF4757"/>
            </a:solidFill>
            <a:prstDash val="solid"/>
          </a:ln>
        </p:spPr>
        <p:txBody>
          <a:bodyPr/>
          <a:p/>
        </p:txBody>
      </p:sp>
      <p:sp>
        <p:nvSpPr>
          <p:cNvPr id="10" name="Text 8"/>
          <p:cNvSpPr/>
          <p:nvPr/>
        </p:nvSpPr>
        <p:spPr>
          <a:xfrm>
            <a:off x="6492240" y="2103120"/>
            <a:ext cx="480060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Despre copii</a:t>
            </a:r>
            <a:endParaRPr lang="en-US" sz="1700" dirty="0"/>
          </a:p>
        </p:txBody>
      </p:sp>
      <p:sp>
        <p:nvSpPr>
          <p:cNvPr id="11" name="Text 9"/>
          <p:cNvSpPr/>
          <p:nvPr/>
        </p:nvSpPr>
        <p:spPr>
          <a:xfrm>
            <a:off x="6492240" y="2606040"/>
            <a:ext cx="4800600" cy="12344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1,6% dintre copiii morți au murit din cauza corupției.</a:t>
            </a:r>
            <a:endParaRPr lang="en-US" sz="1800" dirty="0"/>
          </a:p>
        </p:txBody>
      </p:sp>
      <p:sp>
        <p:nvSpPr>
          <p:cNvPr id="12" name="Text 10"/>
          <p:cNvSpPr/>
          <p:nvPr/>
        </p:nvSpPr>
        <p:spPr>
          <a:xfrm>
            <a:off x="594360" y="4206240"/>
            <a:ext cx="10972800" cy="100584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Ca să treceți de la una la alta, ar trebui să știți câți copii ar fi trăit fără corupție. Un studiu pe țări, într-un singur an, nu poate ști.</a:t>
            </a:r>
            <a:endParaRPr lang="en-US" sz="2000" dirty="0"/>
          </a:p>
        </p:txBody>
      </p:sp>
      <p:sp>
        <p:nvSpPr>
          <p:cNvPr id="13" name="Text 11"/>
          <p:cNvSpPr/>
          <p:nvPr/>
        </p:nvSpPr>
        <p:spPr>
          <a:xfrm>
            <a:off x="594360" y="534924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Observația ne aparține; autorii scriu „aproximativ” și „indirect”.</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Hanf și colab., 2011 · A770, A777.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Designul studiului</a:t>
            </a:r>
            <a:endParaRPr lang="en-US" sz="3600" dirty="0"/>
          </a:p>
        </p:txBody>
      </p:sp>
      <p:sp>
        <p:nvSpPr>
          <p:cNvPr id="4" name="Shape 2"/>
          <p:cNvSpPr/>
          <p:nvPr/>
        </p:nvSpPr>
        <p:spPr>
          <a:xfrm>
            <a:off x="594360" y="1691640"/>
            <a:ext cx="6035040" cy="3291840"/>
          </a:xfrm>
          <a:prstGeom prst="roundRect">
            <a:avLst>
              <a:gd name="adj" fmla="val 2500"/>
            </a:avLst>
          </a:prstGeom>
          <a:solidFill>
            <a:srgbClr val="ECEAE4"/>
          </a:solidFill>
          <a:ln w="12700">
            <a:solidFill>
              <a:srgbClr val="ECEAE4"/>
            </a:solidFill>
            <a:prstDash val="solid"/>
          </a:ln>
        </p:spPr>
        <p:txBody>
          <a:bodyPr/>
          <a:p/>
        </p:txBody>
      </p:sp>
      <p:sp>
        <p:nvSpPr>
          <p:cNvPr id="5" name="Shape 3"/>
          <p:cNvSpPr/>
          <p:nvPr/>
        </p:nvSpPr>
        <p:spPr>
          <a:xfrm>
            <a:off x="594360" y="1691640"/>
            <a:ext cx="109728" cy="3291840"/>
          </a:xfrm>
          <a:prstGeom prst="rect">
            <a:avLst/>
          </a:prstGeom>
          <a:solidFill>
            <a:srgbClr val="B02532"/>
          </a:solidFill>
          <a:ln w="12700">
            <a:solidFill>
              <a:srgbClr val="B02532"/>
            </a:solidFill>
            <a:prstDash val="solid"/>
          </a:ln>
        </p:spPr>
        <p:txBody>
          <a:bodyPr/>
          <a:p/>
        </p:txBody>
      </p:sp>
      <p:sp>
        <p:nvSpPr>
          <p:cNvPr id="6" name="Text 4"/>
          <p:cNvSpPr/>
          <p:nvPr/>
        </p:nvSpPr>
        <p:spPr>
          <a:xfrm>
            <a:off x="960120" y="1874520"/>
            <a:ext cx="5486400" cy="20116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Felul în care a fost făcut studiul: pe cine a urmărit, ce a măsurat, o dată sau în timp și dacă cercetătorii au intervenit sau doar au observat.</a:t>
            </a:r>
            <a:endParaRPr lang="en-US" sz="1900" dirty="0"/>
          </a:p>
        </p:txBody>
      </p:sp>
      <p:sp>
        <p:nvSpPr>
          <p:cNvPr id="7" name="Text 5"/>
          <p:cNvSpPr/>
          <p:nvPr/>
        </p:nvSpPr>
        <p:spPr>
          <a:xfrm>
            <a:off x="960120" y="4023360"/>
            <a:ext cx="5486400" cy="731520"/>
          </a:xfrm>
          <a:prstGeom prst="rect">
            <a:avLst/>
          </a:prstGeom>
          <a:noFill/>
          <a:ln/>
        </p:spPr>
        <p:txBody>
          <a:bodyPr wrap="square" lIns="0" tIns="0" rIns="0" bIns="0" rtlCol="0" anchor="t"/>
          <a:lstStyle/>
          <a:p>
            <a:pPr indent="0" marL="0">
              <a:buNone/>
            </a:pPr>
            <a:r>
              <a:rPr lang="en-US" sz="2100" b="1" i="1" dirty="0">
                <a:solidFill>
                  <a:srgbClr val="B02532"/>
                </a:solidFill>
                <a:latin typeface="Palatino Linotype" pitchFamily="34" charset="0"/>
                <a:ea typeface="Palatino Linotype" pitchFamily="34" charset="-122"/>
                <a:cs typeface="Palatino Linotype" pitchFamily="34" charset="-120"/>
              </a:rPr>
              <a:t>În cuvinte de zi cu zi: rețeta studiului.</a:t>
            </a:r>
            <a:endParaRPr lang="en-US" sz="2100" dirty="0"/>
          </a:p>
        </p:txBody>
      </p:sp>
      <p:sp>
        <p:nvSpPr>
          <p:cNvPr id="8" name="Text 6"/>
          <p:cNvSpPr/>
          <p:nvPr/>
        </p:nvSpPr>
        <p:spPr>
          <a:xfrm>
            <a:off x="6949440" y="1737360"/>
            <a:ext cx="4572000" cy="32004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METODA LUI HANF SPUNE</a:t>
            </a:r>
            <a:endParaRPr lang="en-US" sz="1300" dirty="0"/>
          </a:p>
        </p:txBody>
      </p:sp>
      <p:sp>
        <p:nvSpPr>
          <p:cNvPr id="9" name="Shape 7"/>
          <p:cNvSpPr/>
          <p:nvPr/>
        </p:nvSpPr>
        <p:spPr>
          <a:xfrm>
            <a:off x="6949440" y="2286000"/>
            <a:ext cx="420624" cy="420624"/>
          </a:xfrm>
          <a:prstGeom prst="ellipse">
            <a:avLst/>
          </a:prstGeom>
          <a:solidFill>
            <a:srgbClr val="B02532"/>
          </a:solidFill>
          <a:ln/>
        </p:spPr>
        <p:txBody>
          <a:bodyPr/>
          <a:p/>
        </p:txBody>
      </p:sp>
      <p:sp>
        <p:nvSpPr>
          <p:cNvPr id="10" name="Text 8"/>
          <p:cNvSpPr/>
          <p:nvPr/>
        </p:nvSpPr>
        <p:spPr>
          <a:xfrm>
            <a:off x="6949440" y="22860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7589520" y="2194560"/>
            <a:ext cx="3977640" cy="6400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Se compară țări, nu copii.</a:t>
            </a:r>
            <a:endParaRPr lang="en-US" sz="1800" dirty="0"/>
          </a:p>
        </p:txBody>
      </p:sp>
      <p:sp>
        <p:nvSpPr>
          <p:cNvPr id="12" name="Shape 10"/>
          <p:cNvSpPr/>
          <p:nvPr/>
        </p:nvSpPr>
        <p:spPr>
          <a:xfrm>
            <a:off x="6949440" y="3200400"/>
            <a:ext cx="420624" cy="420624"/>
          </a:xfrm>
          <a:prstGeom prst="ellipse">
            <a:avLst/>
          </a:prstGeom>
          <a:solidFill>
            <a:srgbClr val="B02532"/>
          </a:solidFill>
          <a:ln/>
        </p:spPr>
        <p:txBody>
          <a:bodyPr/>
          <a:p/>
        </p:txBody>
      </p:sp>
      <p:sp>
        <p:nvSpPr>
          <p:cNvPr id="13" name="Text 11"/>
          <p:cNvSpPr/>
          <p:nvPr/>
        </p:nvSpPr>
        <p:spPr>
          <a:xfrm>
            <a:off x="6949440" y="3200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7589520" y="3108960"/>
            <a:ext cx="3977640" cy="6400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Datele sunt dintr-un singur an.</a:t>
            </a:r>
            <a:endParaRPr lang="en-US" sz="1800" dirty="0"/>
          </a:p>
        </p:txBody>
      </p:sp>
      <p:sp>
        <p:nvSpPr>
          <p:cNvPr id="15" name="Shape 13"/>
          <p:cNvSpPr/>
          <p:nvPr/>
        </p:nvSpPr>
        <p:spPr>
          <a:xfrm>
            <a:off x="6949440" y="4114800"/>
            <a:ext cx="420624" cy="420624"/>
          </a:xfrm>
          <a:prstGeom prst="ellipse">
            <a:avLst/>
          </a:prstGeom>
          <a:solidFill>
            <a:srgbClr val="B02532"/>
          </a:solidFill>
          <a:ln/>
        </p:spPr>
        <p:txBody>
          <a:bodyPr/>
          <a:p/>
        </p:txBody>
      </p:sp>
      <p:sp>
        <p:nvSpPr>
          <p:cNvPr id="16" name="Text 14"/>
          <p:cNvSpPr/>
          <p:nvPr/>
        </p:nvSpPr>
        <p:spPr>
          <a:xfrm>
            <a:off x="6949440" y="4114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7589520" y="4023360"/>
            <a:ext cx="3977640" cy="6400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Corupția e măsurată prin percepție.</a:t>
            </a:r>
            <a:endParaRPr lang="en-US" sz="1800" dirty="0"/>
          </a:p>
        </p:txBody>
      </p:sp>
      <p:sp>
        <p:nvSpPr>
          <p:cNvPr id="18" name="Text 16"/>
          <p:cNvSpPr/>
          <p:nvPr/>
        </p:nvSpPr>
        <p:spPr>
          <a:xfrm>
            <a:off x="594360" y="5257800"/>
            <a:ext cx="10972800" cy="7315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Titlul spune ce a găsit autorul; designul, cât vă puteți baza pe asta.</a:t>
            </a:r>
            <a:endParaRPr lang="en-US" sz="19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Definiția acestui curs. Metoda: Hanf și colab., 2011 · A772, A776.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Studiul ecologic</a:t>
            </a:r>
            <a:endParaRPr lang="en-US" sz="3600" dirty="0"/>
          </a:p>
        </p:txBody>
      </p:sp>
      <p:sp>
        <p:nvSpPr>
          <p:cNvPr id="4" name="Text 2"/>
          <p:cNvSpPr/>
          <p:nvPr/>
        </p:nvSpPr>
        <p:spPr>
          <a:xfrm>
            <a:off x="594360" y="1645920"/>
            <a:ext cx="10972800" cy="868680"/>
          </a:xfrm>
          <a:prstGeom prst="rect">
            <a:avLst/>
          </a:prstGeom>
          <a:noFill/>
          <a:ln/>
        </p:spPr>
        <p:txBody>
          <a:bodyPr wrap="square" lIns="0" tIns="0" rIns="0" bIns="0" rtlCol="0" anchor="t"/>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Compară grupuri întregi, de pildă țări, județe sau orașe, prin cifre medii, fără date despre persoanele din ele.</a:t>
            </a:r>
            <a:endParaRPr lang="en-US" sz="2100" dirty="0"/>
          </a:p>
        </p:txBody>
      </p:sp>
      <p:sp>
        <p:nvSpPr>
          <p:cNvPr id="5" name="Text 3"/>
          <p:cNvSpPr/>
          <p:nvPr/>
        </p:nvSpPr>
        <p:spPr>
          <a:xfrm>
            <a:off x="594360" y="2560320"/>
            <a:ext cx="10972800" cy="502920"/>
          </a:xfrm>
          <a:prstGeom prst="rect">
            <a:avLst/>
          </a:prstGeom>
          <a:noFill/>
          <a:ln/>
        </p:spPr>
        <p:txBody>
          <a:bodyPr wrap="square" lIns="0" tIns="0" rIns="0" bIns="0" rtlCol="0" anchor="t"/>
          <a:lstStyle/>
          <a:p>
            <a:pPr indent="0" marL="0">
              <a:buNone/>
            </a:pPr>
            <a:r>
              <a:rPr lang="en-US" sz="2100" b="1" i="1" dirty="0">
                <a:solidFill>
                  <a:srgbClr val="B02532"/>
                </a:solidFill>
                <a:latin typeface="Palatino Linotype" pitchFamily="34" charset="0"/>
                <a:ea typeface="Palatino Linotype" pitchFamily="34" charset="-122"/>
                <a:cs typeface="Palatino Linotype" pitchFamily="34" charset="-120"/>
              </a:rPr>
              <a:t>Pe scurt: medii de țări, nu oameni.</a:t>
            </a:r>
            <a:endParaRPr lang="en-US" sz="2100" dirty="0"/>
          </a:p>
        </p:txBody>
      </p:sp>
      <p:sp>
        <p:nvSpPr>
          <p:cNvPr id="6" name="Shape 4"/>
          <p:cNvSpPr/>
          <p:nvPr/>
        </p:nvSpPr>
        <p:spPr>
          <a:xfrm>
            <a:off x="594360" y="3291840"/>
            <a:ext cx="5349240" cy="2286000"/>
          </a:xfrm>
          <a:prstGeom prst="roundRect">
            <a:avLst>
              <a:gd name="adj" fmla="val 3600"/>
            </a:avLst>
          </a:prstGeom>
          <a:solidFill>
            <a:srgbClr val="ECEAE4"/>
          </a:solidFill>
          <a:ln w="12700">
            <a:solidFill>
              <a:srgbClr val="ECEAE4"/>
            </a:solidFill>
            <a:prstDash val="solid"/>
          </a:ln>
        </p:spPr>
        <p:txBody>
          <a:bodyPr/>
          <a:p/>
        </p:txBody>
      </p:sp>
      <p:sp>
        <p:nvSpPr>
          <p:cNvPr id="7" name="Shape 5"/>
          <p:cNvSpPr/>
          <p:nvPr/>
        </p:nvSpPr>
        <p:spPr>
          <a:xfrm>
            <a:off x="594360" y="3291840"/>
            <a:ext cx="534924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68680" y="352044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Poate arăta</a:t>
            </a:r>
            <a:endParaRPr lang="en-US" sz="1700" dirty="0"/>
          </a:p>
        </p:txBody>
      </p:sp>
      <p:sp>
        <p:nvSpPr>
          <p:cNvPr id="9" name="Text 7"/>
          <p:cNvSpPr/>
          <p:nvPr/>
        </p:nvSpPr>
        <p:spPr>
          <a:xfrm>
            <a:off x="868680" y="4023360"/>
            <a:ext cx="4800600" cy="14173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Că acolo unde e mai multă corupție percepută mor, în medie, mai mulți copii.</a:t>
            </a:r>
            <a:endParaRPr lang="en-US" sz="1800" dirty="0"/>
          </a:p>
        </p:txBody>
      </p:sp>
      <p:sp>
        <p:nvSpPr>
          <p:cNvPr id="10" name="Shape 8"/>
          <p:cNvSpPr/>
          <p:nvPr/>
        </p:nvSpPr>
        <p:spPr>
          <a:xfrm>
            <a:off x="6217920" y="3291840"/>
            <a:ext cx="5349240" cy="2286000"/>
          </a:xfrm>
          <a:prstGeom prst="roundRect">
            <a:avLst>
              <a:gd name="adj" fmla="val 3600"/>
            </a:avLst>
          </a:prstGeom>
          <a:solidFill>
            <a:srgbClr val="ECEAE4"/>
          </a:solidFill>
          <a:ln w="12700">
            <a:solidFill>
              <a:srgbClr val="ECEAE4"/>
            </a:solidFill>
            <a:prstDash val="solid"/>
          </a:ln>
        </p:spPr>
        <p:txBody>
          <a:bodyPr/>
          <a:p/>
        </p:txBody>
      </p:sp>
      <p:sp>
        <p:nvSpPr>
          <p:cNvPr id="11" name="Shape 9"/>
          <p:cNvSpPr/>
          <p:nvPr/>
        </p:nvSpPr>
        <p:spPr>
          <a:xfrm>
            <a:off x="6217920" y="3291840"/>
            <a:ext cx="5349240"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6492240" y="3520440"/>
            <a:ext cx="4800600" cy="4114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Nu poate spune</a:t>
            </a:r>
            <a:endParaRPr lang="en-US" sz="1700" dirty="0"/>
          </a:p>
        </p:txBody>
      </p:sp>
      <p:sp>
        <p:nvSpPr>
          <p:cNvPr id="13" name="Text 11"/>
          <p:cNvSpPr/>
          <p:nvPr/>
        </p:nvSpPr>
        <p:spPr>
          <a:xfrm>
            <a:off x="6492240" y="4023360"/>
            <a:ext cx="4800600" cy="14173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Că un anumit copil a murit din cauza unui anumit act de corupție.</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Definiția acestui curs. Autorii își numesc lucrarea studiu ecologic · A776, A651.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UN EXEMPLU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Patru țări pe un grafic</a:t>
            </a:r>
            <a:endParaRPr lang="en-US" sz="3100" dirty="0"/>
          </a:p>
        </p:txBody>
      </p:sp>
      <p:sp>
        <p:nvSpPr>
          <p:cNvPr id="4" name="Shape 2"/>
          <p:cNvSpPr/>
          <p:nvPr/>
        </p:nvSpPr>
        <p:spPr>
          <a:xfrm>
            <a:off x="1097280" y="1783080"/>
            <a:ext cx="27432" cy="3931920"/>
          </a:xfrm>
          <a:prstGeom prst="rect">
            <a:avLst/>
          </a:prstGeom>
          <a:solidFill>
            <a:srgbClr val="11121A"/>
          </a:solidFill>
          <a:ln w="12700">
            <a:solidFill>
              <a:srgbClr val="11121A"/>
            </a:solidFill>
            <a:prstDash val="solid"/>
          </a:ln>
        </p:spPr>
        <p:txBody>
          <a:bodyPr/>
          <a:p/>
        </p:txBody>
      </p:sp>
      <p:sp>
        <p:nvSpPr>
          <p:cNvPr id="5" name="Shape 3"/>
          <p:cNvSpPr/>
          <p:nvPr/>
        </p:nvSpPr>
        <p:spPr>
          <a:xfrm>
            <a:off x="1097280" y="5715000"/>
            <a:ext cx="5120640" cy="27432"/>
          </a:xfrm>
          <a:prstGeom prst="rect">
            <a:avLst/>
          </a:prstGeom>
          <a:solidFill>
            <a:srgbClr val="11121A"/>
          </a:solidFill>
          <a:ln w="12700">
            <a:solidFill>
              <a:srgbClr val="11121A"/>
            </a:solidFill>
            <a:prstDash val="solid"/>
          </a:ln>
        </p:spPr>
        <p:txBody>
          <a:bodyPr/>
          <a:p/>
        </p:txBody>
      </p:sp>
      <p:sp>
        <p:nvSpPr>
          <p:cNvPr id="6" name="Shape 4"/>
          <p:cNvSpPr/>
          <p:nvPr/>
        </p:nvSpPr>
        <p:spPr>
          <a:xfrm flipV="1">
            <a:off x="1463040" y="2240280"/>
            <a:ext cx="4389120" cy="3017520"/>
          </a:xfrm>
          <a:prstGeom prst="line">
            <a:avLst/>
          </a:prstGeom>
          <a:noFill/>
          <a:ln w="25400">
            <a:solidFill>
              <a:srgbClr val="B9B4A8"/>
            </a:solidFill>
            <a:prstDash val="dash"/>
          </a:ln>
        </p:spPr>
        <p:txBody>
          <a:bodyPr/>
          <a:p/>
        </p:txBody>
      </p:sp>
      <p:sp>
        <p:nvSpPr>
          <p:cNvPr id="7" name="Shape 5"/>
          <p:cNvSpPr/>
          <p:nvPr/>
        </p:nvSpPr>
        <p:spPr>
          <a:xfrm>
            <a:off x="1737360" y="4800600"/>
            <a:ext cx="502920" cy="502920"/>
          </a:xfrm>
          <a:prstGeom prst="ellipse">
            <a:avLst/>
          </a:prstGeom>
          <a:solidFill>
            <a:srgbClr val="0E7C6B"/>
          </a:solidFill>
          <a:ln/>
        </p:spPr>
        <p:txBody>
          <a:bodyPr/>
          <a:p/>
        </p:txBody>
      </p:sp>
      <p:sp>
        <p:nvSpPr>
          <p:cNvPr id="8" name="Text 6"/>
          <p:cNvSpPr/>
          <p:nvPr/>
        </p:nvSpPr>
        <p:spPr>
          <a:xfrm>
            <a:off x="1737360" y="48006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A</a:t>
            </a:r>
            <a:endParaRPr lang="en-US" sz="1700" dirty="0"/>
          </a:p>
        </p:txBody>
      </p:sp>
      <p:sp>
        <p:nvSpPr>
          <p:cNvPr id="9" name="Shape 7"/>
          <p:cNvSpPr/>
          <p:nvPr/>
        </p:nvSpPr>
        <p:spPr>
          <a:xfrm>
            <a:off x="2926080" y="4114800"/>
            <a:ext cx="502920" cy="502920"/>
          </a:xfrm>
          <a:prstGeom prst="ellipse">
            <a:avLst/>
          </a:prstGeom>
          <a:solidFill>
            <a:srgbClr val="0E7C6B"/>
          </a:solidFill>
          <a:ln/>
        </p:spPr>
        <p:txBody>
          <a:bodyPr/>
          <a:p/>
        </p:txBody>
      </p:sp>
      <p:sp>
        <p:nvSpPr>
          <p:cNvPr id="10" name="Text 8"/>
          <p:cNvSpPr/>
          <p:nvPr/>
        </p:nvSpPr>
        <p:spPr>
          <a:xfrm>
            <a:off x="2926080" y="41148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B</a:t>
            </a:r>
            <a:endParaRPr lang="en-US" sz="1700" dirty="0"/>
          </a:p>
        </p:txBody>
      </p:sp>
      <p:sp>
        <p:nvSpPr>
          <p:cNvPr id="11" name="Shape 9"/>
          <p:cNvSpPr/>
          <p:nvPr/>
        </p:nvSpPr>
        <p:spPr>
          <a:xfrm>
            <a:off x="4206240" y="3200400"/>
            <a:ext cx="502920" cy="502920"/>
          </a:xfrm>
          <a:prstGeom prst="ellipse">
            <a:avLst/>
          </a:prstGeom>
          <a:solidFill>
            <a:srgbClr val="B02532"/>
          </a:solidFill>
          <a:ln/>
        </p:spPr>
        <p:txBody>
          <a:bodyPr/>
          <a:p/>
        </p:txBody>
      </p:sp>
      <p:sp>
        <p:nvSpPr>
          <p:cNvPr id="12" name="Text 10"/>
          <p:cNvSpPr/>
          <p:nvPr/>
        </p:nvSpPr>
        <p:spPr>
          <a:xfrm>
            <a:off x="4206240" y="32004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a:t>
            </a:r>
            <a:endParaRPr lang="en-US" sz="1700" dirty="0"/>
          </a:p>
        </p:txBody>
      </p:sp>
      <p:sp>
        <p:nvSpPr>
          <p:cNvPr id="13" name="Shape 11"/>
          <p:cNvSpPr/>
          <p:nvPr/>
        </p:nvSpPr>
        <p:spPr>
          <a:xfrm>
            <a:off x="5394960" y="2331720"/>
            <a:ext cx="502920" cy="502920"/>
          </a:xfrm>
          <a:prstGeom prst="ellipse">
            <a:avLst/>
          </a:prstGeom>
          <a:solidFill>
            <a:srgbClr val="B02532"/>
          </a:solidFill>
          <a:ln/>
        </p:spPr>
        <p:txBody>
          <a:bodyPr/>
          <a:p/>
        </p:txBody>
      </p:sp>
      <p:sp>
        <p:nvSpPr>
          <p:cNvPr id="14" name="Text 12"/>
          <p:cNvSpPr/>
          <p:nvPr/>
        </p:nvSpPr>
        <p:spPr>
          <a:xfrm>
            <a:off x="5394960" y="23317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D</a:t>
            </a:r>
            <a:endParaRPr lang="en-US" sz="1700" dirty="0"/>
          </a:p>
        </p:txBody>
      </p:sp>
      <p:sp>
        <p:nvSpPr>
          <p:cNvPr id="15" name="Text 13"/>
          <p:cNvSpPr/>
          <p:nvPr/>
        </p:nvSpPr>
        <p:spPr>
          <a:xfrm>
            <a:off x="1097280" y="5806440"/>
            <a:ext cx="5120640" cy="274320"/>
          </a:xfrm>
          <a:prstGeom prst="rect">
            <a:avLst/>
          </a:prstGeom>
          <a:noFill/>
          <a:ln/>
        </p:spPr>
        <p:txBody>
          <a:bodyPr wrap="square" lIns="0" tIns="0" rIns="0" bIns="0" rtlCol="0" anchor="t"/>
          <a:lstStyle/>
          <a:p>
            <a:pPr algn="r" indent="0" marL="0">
              <a:buNone/>
            </a:pPr>
            <a:r>
              <a:rPr lang="en-US" sz="1300" i="1" dirty="0">
                <a:solidFill>
                  <a:srgbClr val="585A64"/>
                </a:solidFill>
                <a:latin typeface="Palatino Linotype" pitchFamily="34" charset="0"/>
                <a:ea typeface="Palatino Linotype" pitchFamily="34" charset="-122"/>
                <a:cs typeface="Palatino Linotype" pitchFamily="34" charset="-120"/>
              </a:rPr>
              <a:t>corupția percepută →</a:t>
            </a:r>
            <a:endParaRPr lang="en-US" sz="1300" dirty="0"/>
          </a:p>
        </p:txBody>
      </p:sp>
      <p:sp>
        <p:nvSpPr>
          <p:cNvPr id="16" name="Text 14"/>
          <p:cNvSpPr/>
          <p:nvPr/>
        </p:nvSpPr>
        <p:spPr>
          <a:xfrm>
            <a:off x="274320" y="1463040"/>
            <a:ext cx="1828800" cy="27432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copii morți ↑</a:t>
            </a:r>
            <a:endParaRPr lang="en-US" sz="1300" dirty="0"/>
          </a:p>
        </p:txBody>
      </p:sp>
      <p:sp>
        <p:nvSpPr>
          <p:cNvPr id="17" name="Text 15"/>
          <p:cNvSpPr/>
          <p:nvPr/>
        </p:nvSpPr>
        <p:spPr>
          <a:xfrm>
            <a:off x="6766560" y="1783080"/>
            <a:ext cx="4800600" cy="10058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Punctele formează aproape o linie. Concluzia pare evidentă.</a:t>
            </a:r>
            <a:endParaRPr lang="en-US" sz="1900" dirty="0"/>
          </a:p>
        </p:txBody>
      </p:sp>
      <p:sp>
        <p:nvSpPr>
          <p:cNvPr id="18" name="Text 16"/>
          <p:cNvSpPr/>
          <p:nvPr/>
        </p:nvSpPr>
        <p:spPr>
          <a:xfrm>
            <a:off x="6766560" y="2880360"/>
            <a:ext cx="4800600" cy="82296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A și B</a:t>
            </a:r>
            <a:pPr indent="0" marL="0">
              <a:buNone/>
            </a:pPr>
            <a:r>
              <a:rPr lang="en-US" sz="2100" dirty="0">
                <a:solidFill>
                  <a:srgbClr val="11121A"/>
                </a:solidFill>
                <a:latin typeface="Palatino Linotype" pitchFamily="34" charset="0"/>
                <a:ea typeface="Palatino Linotype" pitchFamily="34" charset="-122"/>
                <a:cs typeface="Palatino Linotype" pitchFamily="34" charset="-120"/>
              </a:rPr>
              <a:t> sunt țări bogate. </a:t>
            </a:r>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 și D</a:t>
            </a:r>
            <a:pPr indent="0" marL="0">
              <a:buNone/>
            </a:pPr>
            <a:r>
              <a:rPr lang="en-US" sz="2100" dirty="0">
                <a:solidFill>
                  <a:srgbClr val="11121A"/>
                </a:solidFill>
                <a:latin typeface="Palatino Linotype" pitchFamily="34" charset="0"/>
                <a:ea typeface="Palatino Linotype" pitchFamily="34" charset="-122"/>
                <a:cs typeface="Palatino Linotype" pitchFamily="34" charset="-120"/>
              </a:rPr>
              <a:t> sunt sărace.</a:t>
            </a:r>
            <a:endParaRPr lang="en-US" sz="2100" dirty="0"/>
          </a:p>
        </p:txBody>
      </p:sp>
      <p:sp>
        <p:nvSpPr>
          <p:cNvPr id="19" name="Text 17"/>
          <p:cNvSpPr/>
          <p:nvPr/>
        </p:nvSpPr>
        <p:spPr>
          <a:xfrm>
            <a:off x="6766560" y="3840480"/>
            <a:ext cx="4800600" cy="17373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Bogăția poate explica singură ambele axe. Linia rămâne la fel de frumoasă, dar are acum cel puțin două explicații.</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NU E O SPECULAȚIE · ÎN DATELE LUI HANF</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Țările puțin corupte erau și țările bogate</a:t>
            </a:r>
            <a:endParaRPr lang="en-US" sz="3000" dirty="0"/>
          </a:p>
        </p:txBody>
      </p:sp>
      <p:sp>
        <p:nvSpPr>
          <p:cNvPr id="4" name="Shape 2"/>
          <p:cNvSpPr/>
          <p:nvPr/>
        </p:nvSpPr>
        <p:spPr>
          <a:xfrm>
            <a:off x="594360" y="178308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5" name="Text 3"/>
          <p:cNvSpPr/>
          <p:nvPr/>
        </p:nvSpPr>
        <p:spPr>
          <a:xfrm>
            <a:off x="868680" y="1874520"/>
            <a:ext cx="4846320" cy="1188720"/>
          </a:xfrm>
          <a:prstGeom prst="rect">
            <a:avLst/>
          </a:prstGeom>
          <a:noFill/>
          <a:ln/>
        </p:spPr>
        <p:txBody>
          <a:bodyPr wrap="square" lIns="0" tIns="0" rIns="0" bIns="0" rtlCol="0" anchor="ctr"/>
          <a:lstStyle/>
          <a:p>
            <a:pPr indent="0" marL="0">
              <a:buNone/>
            </a:pPr>
            <a:r>
              <a:rPr lang="en-US" sz="6600" b="1" dirty="0">
                <a:solidFill>
                  <a:srgbClr val="FFC24B"/>
                </a:solidFill>
                <a:latin typeface="Palatino Linotype" pitchFamily="34" charset="0"/>
                <a:ea typeface="Palatino Linotype" pitchFamily="34" charset="-122"/>
                <a:cs typeface="Palatino Linotype" pitchFamily="34" charset="-120"/>
              </a:rPr>
              <a:t>0,82</a:t>
            </a:r>
            <a:endParaRPr lang="en-US" sz="6600" dirty="0"/>
          </a:p>
        </p:txBody>
      </p:sp>
      <p:sp>
        <p:nvSpPr>
          <p:cNvPr id="6" name="Text 4"/>
          <p:cNvSpPr/>
          <p:nvPr/>
        </p:nvSpPr>
        <p:spPr>
          <a:xfrm>
            <a:off x="868680" y="3108960"/>
            <a:ext cx="4846320"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corupția percepută și cheltuielile pentru sănătate pe locuitor</a:t>
            </a:r>
            <a:endParaRPr lang="en-US" sz="1700" dirty="0"/>
          </a:p>
        </p:txBody>
      </p:sp>
      <p:sp>
        <p:nvSpPr>
          <p:cNvPr id="7" name="Shape 5"/>
          <p:cNvSpPr/>
          <p:nvPr/>
        </p:nvSpPr>
        <p:spPr>
          <a:xfrm>
            <a:off x="6217920" y="178308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8" name="Text 6"/>
          <p:cNvSpPr/>
          <p:nvPr/>
        </p:nvSpPr>
        <p:spPr>
          <a:xfrm>
            <a:off x="6492240" y="1874520"/>
            <a:ext cx="4846320" cy="1188720"/>
          </a:xfrm>
          <a:prstGeom prst="rect">
            <a:avLst/>
          </a:prstGeom>
          <a:noFill/>
          <a:ln/>
        </p:spPr>
        <p:txBody>
          <a:bodyPr wrap="square" lIns="0" tIns="0" rIns="0" bIns="0" rtlCol="0" anchor="ctr"/>
          <a:lstStyle/>
          <a:p>
            <a:pPr indent="0" marL="0">
              <a:buNone/>
            </a:pPr>
            <a:r>
              <a:rPr lang="en-US" sz="6600" b="1" dirty="0">
                <a:solidFill>
                  <a:srgbClr val="FFC24B"/>
                </a:solidFill>
                <a:latin typeface="Palatino Linotype" pitchFamily="34" charset="0"/>
                <a:ea typeface="Palatino Linotype" pitchFamily="34" charset="-122"/>
                <a:cs typeface="Palatino Linotype" pitchFamily="34" charset="-120"/>
              </a:rPr>
              <a:t>0,78</a:t>
            </a:r>
            <a:endParaRPr lang="en-US" sz="6600" dirty="0"/>
          </a:p>
        </p:txBody>
      </p:sp>
      <p:sp>
        <p:nvSpPr>
          <p:cNvPr id="9" name="Text 7"/>
          <p:cNvSpPr/>
          <p:nvPr/>
        </p:nvSpPr>
        <p:spPr>
          <a:xfrm>
            <a:off x="6492240" y="3108960"/>
            <a:ext cx="4846320"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corupția percepută și venitul pe locuitor</a:t>
            </a:r>
            <a:endParaRPr lang="en-US" sz="1700" dirty="0"/>
          </a:p>
        </p:txBody>
      </p:sp>
      <p:sp>
        <p:nvSpPr>
          <p:cNvPr id="10" name="Text 8"/>
          <p:cNvSpPr/>
          <p:nvPr/>
        </p:nvSpPr>
        <p:spPr>
          <a:xfrm>
            <a:off x="594360" y="4389120"/>
            <a:ext cx="10972800" cy="45720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Pe o scală pe care 1 înseamnă că două mărimi urcă și coboară perfect împreună.</a:t>
            </a:r>
            <a:endParaRPr lang="en-US" sz="1800" dirty="0"/>
          </a:p>
        </p:txBody>
      </p:sp>
      <p:sp>
        <p:nvSpPr>
          <p:cNvPr id="11" name="Text 9"/>
          <p:cNvSpPr/>
          <p:nvPr/>
        </p:nvSpPr>
        <p:spPr>
          <a:xfrm>
            <a:off x="594360" y="4937760"/>
            <a:ext cx="10972800" cy="82296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Un studiu nu poate ține cont de ceva ce nu a măsurat, iar autorii recunosc că lipseau variabile importante.</a:t>
            </a:r>
            <a:endParaRPr lang="en-US" sz="20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Hanf și colab., 2011 · A774, A651.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ADEVĂRAT SAU FALS</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RIDICAȚI MÂNA DACĂ E ADEVĂRAT</a:t>
            </a:r>
            <a:endParaRPr lang="en-US" sz="1300" dirty="0"/>
          </a:p>
        </p:txBody>
      </p:sp>
      <p:sp>
        <p:nvSpPr>
          <p:cNvPr id="5" name="Shape 3"/>
          <p:cNvSpPr/>
          <p:nvPr/>
        </p:nvSpPr>
        <p:spPr>
          <a:xfrm>
            <a:off x="594360" y="1371600"/>
            <a:ext cx="10972800" cy="3108960"/>
          </a:xfrm>
          <a:prstGeom prst="roundRect">
            <a:avLst>
              <a:gd name="adj" fmla="val 2647"/>
            </a:avLst>
          </a:prstGeom>
          <a:solidFill>
            <a:srgbClr val="1D1F2B"/>
          </a:solidFill>
          <a:ln w="12700">
            <a:solidFill>
              <a:srgbClr val="1D1F2B"/>
            </a:solidFill>
            <a:prstDash val="solid"/>
          </a:ln>
        </p:spPr>
        <p:txBody>
          <a:bodyPr/>
          <a:p/>
        </p:txBody>
      </p:sp>
      <p:sp>
        <p:nvSpPr>
          <p:cNvPr id="6" name="Text 4"/>
          <p:cNvSpPr/>
          <p:nvPr/>
        </p:nvSpPr>
        <p:spPr>
          <a:xfrm>
            <a:off x="914400" y="1371600"/>
            <a:ext cx="10332720" cy="310896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„Dacă țările mai corupte au mai mulți copii morți, înseamnă că în fiecare țară copiii mor din cauza corupției.”</a:t>
            </a:r>
            <a:endParaRPr lang="en-US" sz="3200" dirty="0"/>
          </a:p>
        </p:txBody>
      </p:sp>
      <p:sp>
        <p:nvSpPr>
          <p:cNvPr id="7" name="Text 5"/>
          <p:cNvSpPr/>
          <p:nvPr/>
        </p:nvSpPr>
        <p:spPr>
          <a:xfrm>
            <a:off x="594360" y="4846320"/>
            <a:ext cx="10972800" cy="73152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Adevărat sau fals?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FALS · TREI EXPLICAȚII POSIBILE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Un studiu ecologic vorbește despre țări, nu despre copii</a:t>
            </a:r>
            <a:endParaRPr lang="en-US" sz="2800" dirty="0"/>
          </a:p>
        </p:txBody>
      </p:sp>
      <p:sp>
        <p:nvSpPr>
          <p:cNvPr id="4" name="Shape 2"/>
          <p:cNvSpPr/>
          <p:nvPr/>
        </p:nvSpPr>
        <p:spPr>
          <a:xfrm>
            <a:off x="594360" y="1691640"/>
            <a:ext cx="10972800" cy="822960"/>
          </a:xfrm>
          <a:prstGeom prst="roundRect">
            <a:avLst>
              <a:gd name="adj" fmla="val 10000"/>
            </a:avLst>
          </a:prstGeom>
          <a:solidFill>
            <a:srgbClr val="ECEAE4"/>
          </a:solidFill>
          <a:ln w="12700">
            <a:solidFill>
              <a:srgbClr val="ECEAE4"/>
            </a:solidFill>
            <a:prstDash val="solid"/>
          </a:ln>
        </p:spPr>
        <p:txBody>
          <a:bodyPr/>
          <a:p/>
        </p:txBody>
      </p:sp>
      <p:sp>
        <p:nvSpPr>
          <p:cNvPr id="5" name="Shape 3"/>
          <p:cNvSpPr/>
          <p:nvPr/>
        </p:nvSpPr>
        <p:spPr>
          <a:xfrm>
            <a:off x="914400" y="1892808"/>
            <a:ext cx="420624" cy="420624"/>
          </a:xfrm>
          <a:prstGeom prst="ellipse">
            <a:avLst/>
          </a:prstGeom>
          <a:solidFill>
            <a:srgbClr val="B02532"/>
          </a:solidFill>
          <a:ln/>
        </p:spPr>
        <p:txBody>
          <a:bodyPr/>
          <a:p/>
        </p:txBody>
      </p:sp>
      <p:sp>
        <p:nvSpPr>
          <p:cNvPr id="6" name="Text 4"/>
          <p:cNvSpPr/>
          <p:nvPr/>
        </p:nvSpPr>
        <p:spPr>
          <a:xfrm>
            <a:off x="914400" y="1892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91640"/>
            <a:ext cx="96926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Corupția înrăutățește sănătatea copiilor.</a:t>
            </a:r>
            <a:endParaRPr lang="en-US" sz="1800" dirty="0"/>
          </a:p>
        </p:txBody>
      </p:sp>
      <p:sp>
        <p:nvSpPr>
          <p:cNvPr id="8" name="Shape 6"/>
          <p:cNvSpPr/>
          <p:nvPr/>
        </p:nvSpPr>
        <p:spPr>
          <a:xfrm>
            <a:off x="594360" y="2651760"/>
            <a:ext cx="10972800" cy="822960"/>
          </a:xfrm>
          <a:prstGeom prst="roundRect">
            <a:avLst>
              <a:gd name="adj" fmla="val 10000"/>
            </a:avLst>
          </a:prstGeom>
          <a:solidFill>
            <a:srgbClr val="ECEAE4"/>
          </a:solidFill>
          <a:ln w="12700">
            <a:solidFill>
              <a:srgbClr val="ECEAE4"/>
            </a:solidFill>
            <a:prstDash val="solid"/>
          </a:ln>
        </p:spPr>
        <p:txBody>
          <a:bodyPr/>
          <a:p/>
        </p:txBody>
      </p:sp>
      <p:sp>
        <p:nvSpPr>
          <p:cNvPr id="9" name="Shape 7"/>
          <p:cNvSpPr/>
          <p:nvPr/>
        </p:nvSpPr>
        <p:spPr>
          <a:xfrm>
            <a:off x="914400" y="2852928"/>
            <a:ext cx="420624" cy="420624"/>
          </a:xfrm>
          <a:prstGeom prst="ellipse">
            <a:avLst/>
          </a:prstGeom>
          <a:solidFill>
            <a:srgbClr val="B02532"/>
          </a:solidFill>
          <a:ln/>
        </p:spPr>
        <p:txBody>
          <a:bodyPr/>
          <a:p/>
        </p:txBody>
      </p:sp>
      <p:sp>
        <p:nvSpPr>
          <p:cNvPr id="10" name="Text 8"/>
          <p:cNvSpPr/>
          <p:nvPr/>
        </p:nvSpPr>
        <p:spPr>
          <a:xfrm>
            <a:off x="914400" y="2852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651760"/>
            <a:ext cx="96926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 al treilea factor le produce pe amândouă: sărăcia, strâns legată de corupția percepută.</a:t>
            </a:r>
            <a:endParaRPr lang="en-US" sz="1800" dirty="0"/>
          </a:p>
        </p:txBody>
      </p:sp>
      <p:sp>
        <p:nvSpPr>
          <p:cNvPr id="12" name="Shape 10"/>
          <p:cNvSpPr/>
          <p:nvPr/>
        </p:nvSpPr>
        <p:spPr>
          <a:xfrm>
            <a:off x="594360" y="3611880"/>
            <a:ext cx="10972800" cy="822960"/>
          </a:xfrm>
          <a:prstGeom prst="roundRect">
            <a:avLst>
              <a:gd name="adj" fmla="val 10000"/>
            </a:avLst>
          </a:prstGeom>
          <a:solidFill>
            <a:srgbClr val="ECEAE4"/>
          </a:solidFill>
          <a:ln w="12700">
            <a:solidFill>
              <a:srgbClr val="ECEAE4"/>
            </a:solidFill>
            <a:prstDash val="solid"/>
          </a:ln>
        </p:spPr>
        <p:txBody>
          <a:bodyPr/>
          <a:p/>
        </p:txBody>
      </p:sp>
      <p:sp>
        <p:nvSpPr>
          <p:cNvPr id="13" name="Shape 11"/>
          <p:cNvSpPr/>
          <p:nvPr/>
        </p:nvSpPr>
        <p:spPr>
          <a:xfrm>
            <a:off x="914400" y="3813048"/>
            <a:ext cx="420624" cy="420624"/>
          </a:xfrm>
          <a:prstGeom prst="ellipse">
            <a:avLst/>
          </a:prstGeom>
          <a:solidFill>
            <a:srgbClr val="B02532"/>
          </a:solidFill>
          <a:ln/>
        </p:spPr>
        <p:txBody>
          <a:bodyPr/>
          <a:p/>
        </p:txBody>
      </p:sp>
      <p:sp>
        <p:nvSpPr>
          <p:cNvPr id="14" name="Text 12"/>
          <p:cNvSpPr/>
          <p:nvPr/>
        </p:nvSpPr>
        <p:spPr>
          <a:xfrm>
            <a:off x="914400" y="3813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611880"/>
            <a:ext cx="96926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Explicația inversă: autorii notează că, în diferite țări, corupția a fost și cauză, și consecință a sărăciei.</a:t>
            </a:r>
            <a:endParaRPr lang="en-US" sz="1800" dirty="0"/>
          </a:p>
        </p:txBody>
      </p:sp>
      <p:sp>
        <p:nvSpPr>
          <p:cNvPr id="16" name="Text 14"/>
          <p:cNvSpPr/>
          <p:nvPr/>
        </p:nvSpPr>
        <p:spPr>
          <a:xfrm>
            <a:off x="594360" y="4754880"/>
            <a:ext cx="10972800" cy="8229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În studiul din 2025, venitul național avea o legătură mai puternică cu mortalitatea evitabilă decât corupția.</a:t>
            </a:r>
            <a:endParaRPr lang="en-US" sz="19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2011 · A774, A779; studiul din 2025 · A652.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VOTUL 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Varianta (c): depinde de felul în care a fost făcut studiul</a:t>
            </a:r>
            <a:endParaRPr lang="en-US" sz="2800" dirty="0"/>
          </a:p>
        </p:txBody>
      </p:sp>
      <p:sp>
        <p:nvSpPr>
          <p:cNvPr id="4" name="Shape 2"/>
          <p:cNvSpPr/>
          <p:nvPr/>
        </p:nvSpPr>
        <p:spPr>
          <a:xfrm>
            <a:off x="594360" y="1783080"/>
            <a:ext cx="5349240" cy="2103120"/>
          </a:xfrm>
          <a:prstGeom prst="roundRect">
            <a:avLst>
              <a:gd name="adj" fmla="val 3913"/>
            </a:avLst>
          </a:prstGeom>
          <a:solidFill>
            <a:srgbClr val="ECEAE4"/>
          </a:solidFill>
          <a:ln w="12700">
            <a:solidFill>
              <a:srgbClr val="ECEAE4"/>
            </a:solidFill>
            <a:prstDash val="solid"/>
          </a:ln>
        </p:spPr>
        <p:txBody>
          <a:bodyPr/>
          <a:p/>
        </p:txBody>
      </p:sp>
      <p:sp>
        <p:nvSpPr>
          <p:cNvPr id="5" name="Shape 3"/>
          <p:cNvSpPr/>
          <p:nvPr/>
        </p:nvSpPr>
        <p:spPr>
          <a:xfrm>
            <a:off x="594360" y="1783080"/>
            <a:ext cx="534924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011680"/>
            <a:ext cx="4800600" cy="4114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Ce promite titlul</a:t>
            </a:r>
            <a:endParaRPr lang="en-US" sz="1700" dirty="0"/>
          </a:p>
        </p:txBody>
      </p:sp>
      <p:sp>
        <p:nvSpPr>
          <p:cNvPr id="7" name="Text 5"/>
          <p:cNvSpPr/>
          <p:nvPr/>
        </p:nvSpPr>
        <p:spPr>
          <a:xfrm>
            <a:off x="868680" y="2514600"/>
            <a:ext cx="4800600" cy="1234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 verb de cauză, „ucide”, și, prin subtitlu, o numărătoare.</a:t>
            </a:r>
            <a:endParaRPr lang="en-US" sz="1800" dirty="0"/>
          </a:p>
        </p:txBody>
      </p:sp>
      <p:sp>
        <p:nvSpPr>
          <p:cNvPr id="8" name="Shape 6"/>
          <p:cNvSpPr/>
          <p:nvPr/>
        </p:nvSpPr>
        <p:spPr>
          <a:xfrm>
            <a:off x="6217920" y="1783080"/>
            <a:ext cx="5349240" cy="2103120"/>
          </a:xfrm>
          <a:prstGeom prst="roundRect">
            <a:avLst>
              <a:gd name="adj" fmla="val 3913"/>
            </a:avLst>
          </a:prstGeom>
          <a:solidFill>
            <a:srgbClr val="ECEAE4"/>
          </a:solidFill>
          <a:ln w="12700">
            <a:solidFill>
              <a:srgbClr val="ECEAE4"/>
            </a:solidFill>
            <a:prstDash val="solid"/>
          </a:ln>
        </p:spPr>
        <p:txBody>
          <a:bodyPr/>
          <a:p/>
        </p:txBody>
      </p:sp>
      <p:sp>
        <p:nvSpPr>
          <p:cNvPr id="9" name="Shape 7"/>
          <p:cNvSpPr/>
          <p:nvPr/>
        </p:nvSpPr>
        <p:spPr>
          <a:xfrm>
            <a:off x="6217920" y="178308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201168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 oferă designul</a:t>
            </a:r>
            <a:endParaRPr lang="en-US" sz="1700" dirty="0"/>
          </a:p>
        </p:txBody>
      </p:sp>
      <p:sp>
        <p:nvSpPr>
          <p:cNvPr id="11" name="Text 9"/>
          <p:cNvSpPr/>
          <p:nvPr/>
        </p:nvSpPr>
        <p:spPr>
          <a:xfrm>
            <a:off x="6492240" y="2514600"/>
            <a:ext cx="4800600" cy="1234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legătură între țări, într-un singur an, între o percepție și o medie.</a:t>
            </a:r>
            <a:endParaRPr lang="en-US" sz="1800" dirty="0"/>
          </a:p>
        </p:txBody>
      </p:sp>
      <p:sp>
        <p:nvSpPr>
          <p:cNvPr id="12" name="Text 10"/>
          <p:cNvSpPr/>
          <p:nvPr/>
        </p:nvSpPr>
        <p:spPr>
          <a:xfrm>
            <a:off x="594360" y="4160520"/>
            <a:ext cx="10972800" cy="146304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Studiul nu e prost: în text, autorii spun ce poate și ce nu poate. O știre poate prelua titlul fără textul care îl nuanțează.</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și colab., 2011 · A772, A779.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PUTEM SPUNE CINSTIT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Mai lung decât „corupția ucide”, dar adevărat</a:t>
            </a:r>
            <a:endParaRPr lang="en-US" sz="3000" dirty="0"/>
          </a:p>
        </p:txBody>
      </p:sp>
      <p:sp>
        <p:nvSpPr>
          <p:cNvPr id="4" name="Shape 2"/>
          <p:cNvSpPr/>
          <p:nvPr/>
        </p:nvSpPr>
        <p:spPr>
          <a:xfrm>
            <a:off x="594360" y="178308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5" name="Shape 3"/>
          <p:cNvSpPr/>
          <p:nvPr/>
        </p:nvSpPr>
        <p:spPr>
          <a:xfrm>
            <a:off x="914400" y="2007108"/>
            <a:ext cx="420624" cy="420624"/>
          </a:xfrm>
          <a:prstGeom prst="ellipse">
            <a:avLst/>
          </a:prstGeom>
          <a:solidFill>
            <a:srgbClr val="FFC24B"/>
          </a:solidFill>
          <a:ln/>
        </p:spPr>
        <p:txBody>
          <a:bodyPr/>
          <a:p/>
        </p:txBody>
      </p:sp>
      <p:sp>
        <p:nvSpPr>
          <p:cNvPr id="6" name="Text 4"/>
          <p:cNvSpPr/>
          <p:nvPr/>
        </p:nvSpPr>
        <p:spPr>
          <a:xfrm>
            <a:off x="914400" y="20071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83080"/>
            <a:ext cx="9692640" cy="8686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Studiul din 2011 a încercat să pună o cifră pe legătura dintre corupție și mortalitatea copiilor.</a:t>
            </a:r>
            <a:endParaRPr lang="en-US" sz="1900" dirty="0"/>
          </a:p>
        </p:txBody>
      </p:sp>
      <p:sp>
        <p:nvSpPr>
          <p:cNvPr id="8" name="Shape 6"/>
          <p:cNvSpPr/>
          <p:nvPr/>
        </p:nvSpPr>
        <p:spPr>
          <a:xfrm>
            <a:off x="594360" y="2807208"/>
            <a:ext cx="10972800" cy="868680"/>
          </a:xfrm>
          <a:prstGeom prst="roundRect">
            <a:avLst>
              <a:gd name="adj" fmla="val 9474"/>
            </a:avLst>
          </a:prstGeom>
          <a:solidFill>
            <a:srgbClr val="1D1F2B"/>
          </a:solidFill>
          <a:ln w="12700">
            <a:solidFill>
              <a:srgbClr val="1D1F2B"/>
            </a:solidFill>
            <a:prstDash val="solid"/>
          </a:ln>
        </p:spPr>
        <p:txBody>
          <a:bodyPr/>
          <a:p/>
        </p:txBody>
      </p:sp>
      <p:sp>
        <p:nvSpPr>
          <p:cNvPr id="9" name="Shape 7"/>
          <p:cNvSpPr/>
          <p:nvPr/>
        </p:nvSpPr>
        <p:spPr>
          <a:xfrm>
            <a:off x="914400" y="3031236"/>
            <a:ext cx="420624" cy="420624"/>
          </a:xfrm>
          <a:prstGeom prst="ellipse">
            <a:avLst/>
          </a:prstGeom>
          <a:solidFill>
            <a:srgbClr val="FFC24B"/>
          </a:solidFill>
          <a:ln/>
        </p:spPr>
        <p:txBody>
          <a:bodyPr/>
          <a:p/>
        </p:txBody>
      </p:sp>
      <p:sp>
        <p:nvSpPr>
          <p:cNvPr id="10" name="Text 8"/>
          <p:cNvSpPr/>
          <p:nvPr/>
        </p:nvSpPr>
        <p:spPr>
          <a:xfrm>
            <a:off x="914400" y="30312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807208"/>
            <a:ext cx="9692640" cy="8686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 găsit o asociere între țări, care rămâne după ce s-a ținut cont de câțiva alți factori.</a:t>
            </a:r>
            <a:endParaRPr lang="en-US" sz="1900" dirty="0"/>
          </a:p>
        </p:txBody>
      </p:sp>
      <p:sp>
        <p:nvSpPr>
          <p:cNvPr id="12" name="Shape 10"/>
          <p:cNvSpPr/>
          <p:nvPr/>
        </p:nvSpPr>
        <p:spPr>
          <a:xfrm>
            <a:off x="594360" y="3831336"/>
            <a:ext cx="10972800" cy="868680"/>
          </a:xfrm>
          <a:prstGeom prst="roundRect">
            <a:avLst>
              <a:gd name="adj" fmla="val 9474"/>
            </a:avLst>
          </a:prstGeom>
          <a:solidFill>
            <a:srgbClr val="1D1F2B"/>
          </a:solidFill>
          <a:ln w="12700">
            <a:solidFill>
              <a:srgbClr val="1D1F2B"/>
            </a:solidFill>
            <a:prstDash val="solid"/>
          </a:ln>
        </p:spPr>
        <p:txBody>
          <a:bodyPr/>
          <a:p/>
        </p:txBody>
      </p:sp>
      <p:sp>
        <p:nvSpPr>
          <p:cNvPr id="13" name="Shape 11"/>
          <p:cNvSpPr/>
          <p:nvPr/>
        </p:nvSpPr>
        <p:spPr>
          <a:xfrm>
            <a:off x="914400" y="4055364"/>
            <a:ext cx="420624" cy="420624"/>
          </a:xfrm>
          <a:prstGeom prst="ellipse">
            <a:avLst/>
          </a:prstGeom>
          <a:solidFill>
            <a:srgbClr val="FFC24B"/>
          </a:solidFill>
          <a:ln/>
        </p:spPr>
        <p:txBody>
          <a:bodyPr/>
          <a:p/>
        </p:txBody>
      </p:sp>
      <p:sp>
        <p:nvSpPr>
          <p:cNvPr id="14" name="Text 12"/>
          <p:cNvSpPr/>
          <p:nvPr/>
        </p:nvSpPr>
        <p:spPr>
          <a:xfrm>
            <a:off x="914400" y="40553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831336"/>
            <a:ext cx="9692640" cy="8686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Cifra de 140 000 este o ipoteză aproximativă, nu o numărătoare.</a:t>
            </a:r>
            <a:endParaRPr lang="en-US" sz="19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Hanf și colab., 2011 · A770, A771, A773.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RÂNDUL VOSTRU · CINCI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Rescrieți titlul</a:t>
            </a:r>
            <a:endParaRPr lang="en-US" sz="3400" dirty="0"/>
          </a:p>
        </p:txBody>
      </p:sp>
      <p:sp>
        <p:nvSpPr>
          <p:cNvPr id="6" name="Shape 4"/>
          <p:cNvSpPr/>
          <p:nvPr/>
        </p:nvSpPr>
        <p:spPr>
          <a:xfrm rot="-60000">
            <a:off x="777240" y="1783080"/>
            <a:ext cx="6949440" cy="219456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txBody>
          <a:bodyPr/>
          <a:p/>
        </p:txBody>
      </p:sp>
      <p:sp>
        <p:nvSpPr>
          <p:cNvPr id="7" name="Text 5"/>
          <p:cNvSpPr/>
          <p:nvPr/>
        </p:nvSpPr>
        <p:spPr>
          <a:xfrm rot="-60000">
            <a:off x="1051560" y="1984248"/>
            <a:ext cx="6400800" cy="274320"/>
          </a:xfrm>
          <a:prstGeom prst="rect">
            <a:avLst/>
          </a:prstGeom>
          <a:noFill/>
          <a:ln/>
        </p:spPr>
        <p:txBody>
          <a:bodyPr wrap="square" lIns="0" tIns="0" rIns="0" bIns="0" rtlCol="0" anchor="t"/>
          <a:lstStyle/>
          <a:p>
            <a:pPr indent="0" marL="0">
              <a:buNone/>
            </a:pPr>
            <a:r>
              <a:rPr lang="en-US" sz="1100" b="1" spc="200" kern="0" dirty="0">
                <a:solidFill>
                  <a:srgbClr val="585A64"/>
                </a:solidFill>
                <a:latin typeface="Palatino Linotype" pitchFamily="34" charset="0"/>
                <a:ea typeface="Palatino Linotype" pitchFamily="34" charset="-122"/>
                <a:cs typeface="Palatino Linotype" pitchFamily="34" charset="-120"/>
              </a:rPr>
              <a:t>TITLU IMAGINAT</a:t>
            </a:r>
            <a:endParaRPr lang="en-US" sz="1100" dirty="0"/>
          </a:p>
        </p:txBody>
      </p:sp>
      <p:sp>
        <p:nvSpPr>
          <p:cNvPr id="8" name="Shape 6"/>
          <p:cNvSpPr/>
          <p:nvPr/>
        </p:nvSpPr>
        <p:spPr>
          <a:xfrm rot="-60000">
            <a:off x="1051560" y="2313432"/>
            <a:ext cx="6400800" cy="18288"/>
          </a:xfrm>
          <a:prstGeom prst="rect">
            <a:avLst/>
          </a:prstGeom>
          <a:solidFill>
            <a:srgbClr val="11121A"/>
          </a:solidFill>
          <a:ln/>
        </p:spPr>
        <p:txBody>
          <a:bodyPr/>
          <a:p/>
        </p:txBody>
      </p:sp>
      <p:sp>
        <p:nvSpPr>
          <p:cNvPr id="9" name="Text 7"/>
          <p:cNvSpPr/>
          <p:nvPr/>
        </p:nvSpPr>
        <p:spPr>
          <a:xfrm rot="-60000">
            <a:off x="1051560" y="2423160"/>
            <a:ext cx="6400800" cy="141732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Corupția ucide 140 000 de copii pe an</a:t>
            </a:r>
            <a:endParaRPr lang="en-US" sz="3000" dirty="0"/>
          </a:p>
        </p:txBody>
      </p:sp>
      <p:sp>
        <p:nvSpPr>
          <p:cNvPr id="10" name="Shape 8"/>
          <p:cNvSpPr/>
          <p:nvPr/>
        </p:nvSpPr>
        <p:spPr>
          <a:xfrm>
            <a:off x="8686800" y="178308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12" name="Text 10"/>
          <p:cNvSpPr/>
          <p:nvPr/>
        </p:nvSpPr>
        <p:spPr>
          <a:xfrm>
            <a:off x="594360" y="4343400"/>
            <a:ext cx="7863840" cy="109728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 cel mult cincisprezece cuvinte, spuneți exact ce a găsit studiul: ce a comparat, în ce an și cu ce măsură a corupției.</a:t>
            </a:r>
            <a:endParaRPr lang="en-US" sz="1900" dirty="0"/>
          </a:p>
        </p:txBody>
      </p:sp>
      <p:sp>
        <p:nvSpPr>
          <p:cNvPr id="13" name="Text 11"/>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Răspundeți pe telefon, la codul afișat. Câteva titluri le citim împreună.</a:t>
            </a:r>
            <a:endParaRPr lang="en-US" sz="1700" dirty="0"/>
          </a:p>
        </p:txBody>
      </p:sp>
      <p:pic>
        <p:nvPicPr>
          <p:cNvPr id="14" name="Picture 13" descr="Mentimeter_OPT_PLIC_C04.png"/>
          <p:cNvPicPr>
            <a:picLocks noChangeAspect="1"/>
          </p:cNvPicPr>
          <p:nvPr/>
        </p:nvPicPr>
        <p:blipFill>
          <a:blip r:embed="rId3"/>
          <a:stretch>
            <a:fillRect/>
          </a:stretch>
        </p:blipFill>
        <p:spPr>
          <a:xfrm>
            <a:off x="9023350" y="1783080"/>
            <a:ext cx="2207260" cy="2207260"/>
          </a:xfrm>
          <a:prstGeom prst="rect">
            <a:avLst/>
          </a:prstGeom>
        </p:spPr>
      </p:pic>
      <p:sp>
        <p:nvSpPr>
          <p:cNvPr id="15" name="TextBox 14"/>
          <p:cNvSpPr txBox="1"/>
          <p:nvPr/>
        </p:nvSpPr>
        <p:spPr>
          <a:xfrm>
            <a:off x="8686800" y="402844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ÎNSEAMNĂ PENTRU VOI, CA MEDICI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cifră spectaculoasă sau o frază adevărată</a:t>
            </a:r>
            <a:endParaRPr lang="en-US" sz="3000" dirty="0"/>
          </a:p>
        </p:txBody>
      </p:sp>
      <p:sp>
        <p:nvSpPr>
          <p:cNvPr id="4" name="Shape 2"/>
          <p:cNvSpPr/>
          <p:nvPr/>
        </p:nvSpPr>
        <p:spPr>
          <a:xfrm>
            <a:off x="594360" y="1737360"/>
            <a:ext cx="10972800" cy="2468880"/>
          </a:xfrm>
          <a:prstGeom prst="roundRect">
            <a:avLst>
              <a:gd name="adj" fmla="val 3333"/>
            </a:avLst>
          </a:prstGeom>
          <a:solidFill>
            <a:srgbClr val="ECEAE4"/>
          </a:solidFill>
          <a:ln w="12700">
            <a:solidFill>
              <a:srgbClr val="ECEAE4"/>
            </a:solidFill>
            <a:prstDash val="solid"/>
          </a:ln>
        </p:spPr>
        <p:txBody>
          <a:bodyPr/>
          <a:p/>
        </p:txBody>
      </p:sp>
      <p:sp>
        <p:nvSpPr>
          <p:cNvPr id="5" name="Shape 3"/>
          <p:cNvSpPr/>
          <p:nvPr/>
        </p:nvSpPr>
        <p:spPr>
          <a:xfrm>
            <a:off x="594360" y="1737360"/>
            <a:ext cx="109728" cy="2468880"/>
          </a:xfrm>
          <a:prstGeom prst="rect">
            <a:avLst/>
          </a:prstGeom>
          <a:solidFill>
            <a:srgbClr val="B02532"/>
          </a:solidFill>
          <a:ln w="12700">
            <a:solidFill>
              <a:srgbClr val="B02532"/>
            </a:solidFill>
            <a:prstDash val="solid"/>
          </a:ln>
        </p:spPr>
        <p:txBody>
          <a:bodyPr/>
          <a:p/>
        </p:txBody>
      </p:sp>
      <p:sp>
        <p:nvSpPr>
          <p:cNvPr id="6" name="Text 4"/>
          <p:cNvSpPr/>
          <p:nvPr/>
        </p:nvSpPr>
        <p:spPr>
          <a:xfrm>
            <a:off x="1005840" y="1737360"/>
            <a:ext cx="10332720" cy="2468880"/>
          </a:xfrm>
          <a:prstGeom prst="rect">
            <a:avLst/>
          </a:prstGeom>
          <a:noFill/>
          <a:ln/>
        </p:spPr>
        <p:txBody>
          <a:bodyPr wrap="square" lIns="0" tIns="0" rIns="0" bIns="0" rtlCol="0" anchor="ctr"/>
          <a:lstStyle/>
          <a:p>
            <a:pPr indent="0" marL="0">
              <a:buNone/>
            </a:pPr>
            <a:r>
              <a:rPr lang="en-US" sz="2400" b="1" i="1" dirty="0">
                <a:solidFill>
                  <a:srgbClr val="11121A"/>
                </a:solidFill>
                <a:latin typeface="Palatino Linotype" pitchFamily="34" charset="0"/>
                <a:ea typeface="Palatino Linotype" pitchFamily="34" charset="-122"/>
                <a:cs typeface="Palatino Linotype" pitchFamily="34" charset="-120"/>
              </a:rPr>
              <a:t>„Între țări, în 2008, cele percepute ca mai corupte aveau mai multe decese ale copiilor; câte decese se datorează corupției, nu știe nimeni.”</a:t>
            </a:r>
            <a:endParaRPr lang="en-US" sz="2400" dirty="0"/>
          </a:p>
        </p:txBody>
      </p:sp>
      <p:sp>
        <p:nvSpPr>
          <p:cNvPr id="7" name="Text 5"/>
          <p:cNvSpPr/>
          <p:nvPr/>
        </p:nvSpPr>
        <p:spPr>
          <a:xfrm>
            <a:off x="594360" y="4434840"/>
            <a:ext cx="10972800" cy="50292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Cifra va convinge mai repede. Fraza va fi adevărată.</a:t>
            </a:r>
            <a:endParaRPr lang="en-US" sz="2000" dirty="0"/>
          </a:p>
        </p:txBody>
      </p:sp>
      <p:sp>
        <p:nvSpPr>
          <p:cNvPr id="8" name="Text 6"/>
          <p:cNvSpPr/>
          <p:nvPr/>
        </p:nvSpPr>
        <p:spPr>
          <a:xfrm>
            <a:off x="594360" y="502920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La fel la un studiu clinic: înainte de entuziasmul pentru „reduce mortalitatea”, întrebați cum a fost făcut studiul.</a:t>
            </a:r>
            <a:endParaRPr lang="en-US" sz="18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Hanf și colab., 2011 · A772.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POVESTEA A DOUA · STUDIUL CARE NU MĂSURA CORUPȚIA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Democrația și inima</a:t>
            </a:r>
            <a:endParaRPr lang="en-US" sz="3100" dirty="0"/>
          </a:p>
        </p:txBody>
      </p:sp>
      <p:sp>
        <p:nvSpPr>
          <p:cNvPr id="4" name="Shape 2"/>
          <p:cNvSpPr/>
          <p:nvPr/>
        </p:nvSpPr>
        <p:spPr>
          <a:xfrm>
            <a:off x="594360" y="1691640"/>
            <a:ext cx="6583680" cy="3200400"/>
          </a:xfrm>
          <a:prstGeom prst="roundRect">
            <a:avLst>
              <a:gd name="adj" fmla="val 2571"/>
            </a:avLst>
          </a:prstGeom>
          <a:solidFill>
            <a:srgbClr val="FBF8F1"/>
          </a:solidFill>
          <a:ln w="12700">
            <a:solidFill>
              <a:srgbClr val="FBF8F1"/>
            </a:solidFill>
            <a:prstDash val="solid"/>
          </a:ln>
        </p:spPr>
        <p:txBody>
          <a:bodyPr/>
          <a:p/>
        </p:txBody>
      </p:sp>
      <p:sp>
        <p:nvSpPr>
          <p:cNvPr id="5" name="Shape 3"/>
          <p:cNvSpPr/>
          <p:nvPr/>
        </p:nvSpPr>
        <p:spPr>
          <a:xfrm>
            <a:off x="594360" y="1691640"/>
            <a:ext cx="6583680" cy="3200400"/>
          </a:xfrm>
          <a:prstGeom prst="roundRect">
            <a:avLst>
              <a:gd name="adj" fmla="val 2571"/>
            </a:avLst>
          </a:prstGeom>
          <a:solidFill>
            <a:srgbClr val="FBF8F1"/>
          </a:solidFill>
          <a:ln w="12700">
            <a:solidFill>
              <a:srgbClr val="C9C6BE"/>
            </a:solidFill>
            <a:prstDash val="solid"/>
          </a:ln>
        </p:spPr>
        <p:txBody>
          <a:bodyPr/>
          <a:p/>
        </p:txBody>
      </p:sp>
      <p:sp>
        <p:nvSpPr>
          <p:cNvPr id="6" name="Text 4"/>
          <p:cNvSpPr/>
          <p:nvPr/>
        </p:nvSpPr>
        <p:spPr>
          <a:xfrm>
            <a:off x="868680" y="1874520"/>
            <a:ext cx="6035040" cy="320040"/>
          </a:xfrm>
          <a:prstGeom prst="rect">
            <a:avLst/>
          </a:prstGeom>
          <a:noFill/>
          <a:ln/>
        </p:spPr>
        <p:txBody>
          <a:bodyPr wrap="square" lIns="0" tIns="0" rIns="0" bIns="0" rtlCol="0" anchor="t"/>
          <a:lstStyle/>
          <a:p>
            <a:pPr indent="0" marL="0">
              <a:buNone/>
            </a:pPr>
            <a:r>
              <a:rPr lang="en-US" sz="1300" b="1" spc="100" kern="0" dirty="0">
                <a:solidFill>
                  <a:srgbClr val="585A64"/>
                </a:solidFill>
                <a:latin typeface="Palatino Linotype" pitchFamily="34" charset="0"/>
                <a:ea typeface="Palatino Linotype" pitchFamily="34" charset="-122"/>
                <a:cs typeface="Palatino Linotype" pitchFamily="34" charset="-120"/>
              </a:rPr>
              <a:t>THE LANCET · 2019 · BOLLYKY ȘI COLAB.</a:t>
            </a:r>
            <a:endParaRPr lang="en-US" sz="1300" dirty="0"/>
          </a:p>
        </p:txBody>
      </p:sp>
      <p:sp>
        <p:nvSpPr>
          <p:cNvPr id="7" name="Text 5"/>
          <p:cNvSpPr/>
          <p:nvPr/>
        </p:nvSpPr>
        <p:spPr>
          <a:xfrm>
            <a:off x="868680" y="2286000"/>
            <a:ext cx="6035040" cy="1371600"/>
          </a:xfrm>
          <a:prstGeom prst="rect">
            <a:avLst/>
          </a:prstGeom>
          <a:noFill/>
          <a:ln/>
        </p:spPr>
        <p:txBody>
          <a:bodyPr wrap="square" lIns="0" tIns="0" rIns="0" bIns="0" rtlCol="0" anchor="t"/>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Experiența democratică, sănătatea adulților și mortalitatea pe cauze de deces</a:t>
            </a:r>
            <a:endParaRPr lang="en-US" sz="2300" dirty="0"/>
          </a:p>
        </p:txBody>
      </p:sp>
      <p:sp>
        <p:nvSpPr>
          <p:cNvPr id="8" name="Text 6"/>
          <p:cNvSpPr/>
          <p:nvPr/>
        </p:nvSpPr>
        <p:spPr>
          <a:xfrm>
            <a:off x="868680" y="3886200"/>
            <a:ext cx="6035040" cy="45720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O analiză observațională</a:t>
            </a:r>
            <a:endParaRPr lang="en-US" sz="1800" dirty="0"/>
          </a:p>
        </p:txBody>
      </p:sp>
      <p:sp>
        <p:nvSpPr>
          <p:cNvPr id="9" name="Shape 7"/>
          <p:cNvSpPr/>
          <p:nvPr/>
        </p:nvSpPr>
        <p:spPr>
          <a:xfrm>
            <a:off x="7498080" y="1691640"/>
            <a:ext cx="4069080" cy="1463040"/>
          </a:xfrm>
          <a:prstGeom prst="roundRect">
            <a:avLst>
              <a:gd name="adj" fmla="val 5625"/>
            </a:avLst>
          </a:prstGeom>
          <a:solidFill>
            <a:srgbClr val="ECEAE4"/>
          </a:solidFill>
          <a:ln w="12700">
            <a:solidFill>
              <a:srgbClr val="ECEAE4"/>
            </a:solidFill>
            <a:prstDash val="solid"/>
          </a:ln>
        </p:spPr>
        <p:txBody>
          <a:bodyPr/>
          <a:p/>
        </p:txBody>
      </p:sp>
      <p:sp>
        <p:nvSpPr>
          <p:cNvPr id="10" name="Text 8"/>
          <p:cNvSpPr/>
          <p:nvPr/>
        </p:nvSpPr>
        <p:spPr>
          <a:xfrm>
            <a:off x="7772400" y="1801368"/>
            <a:ext cx="3520440" cy="731520"/>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170 de țări</a:t>
            </a:r>
            <a:endParaRPr lang="en-US" sz="3400" dirty="0"/>
          </a:p>
        </p:txBody>
      </p:sp>
      <p:sp>
        <p:nvSpPr>
          <p:cNvPr id="11" name="Text 9"/>
          <p:cNvSpPr/>
          <p:nvPr/>
        </p:nvSpPr>
        <p:spPr>
          <a:xfrm>
            <a:off x="7772400" y="2441448"/>
            <a:ext cx="3520440" cy="672998"/>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urmărite de-a lungul deceniilor</a:t>
            </a:r>
            <a:endParaRPr lang="en-US" sz="1200" dirty="0"/>
          </a:p>
        </p:txBody>
      </p:sp>
      <p:sp>
        <p:nvSpPr>
          <p:cNvPr id="12" name="Shape 10"/>
          <p:cNvSpPr/>
          <p:nvPr/>
        </p:nvSpPr>
        <p:spPr>
          <a:xfrm>
            <a:off x="7498080" y="3429000"/>
            <a:ext cx="4069080" cy="1463040"/>
          </a:xfrm>
          <a:prstGeom prst="roundRect">
            <a:avLst>
              <a:gd name="adj" fmla="val 5625"/>
            </a:avLst>
          </a:prstGeom>
          <a:solidFill>
            <a:srgbClr val="ECEAE4"/>
          </a:solidFill>
          <a:ln w="12700">
            <a:solidFill>
              <a:srgbClr val="ECEAE4"/>
            </a:solidFill>
            <a:prstDash val="solid"/>
          </a:ln>
        </p:spPr>
        <p:txBody>
          <a:bodyPr/>
          <a:p/>
        </p:txBody>
      </p:sp>
      <p:sp>
        <p:nvSpPr>
          <p:cNvPr id="13" name="Text 11"/>
          <p:cNvSpPr/>
          <p:nvPr/>
        </p:nvSpPr>
        <p:spPr>
          <a:xfrm>
            <a:off x="7772400" y="3538728"/>
            <a:ext cx="3520440" cy="731520"/>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1980–2016</a:t>
            </a:r>
            <a:endParaRPr lang="en-US" sz="3400" dirty="0"/>
          </a:p>
        </p:txBody>
      </p:sp>
      <p:sp>
        <p:nvSpPr>
          <p:cNvPr id="14" name="Text 12"/>
          <p:cNvSpPr/>
          <p:nvPr/>
        </p:nvSpPr>
        <p:spPr>
          <a:xfrm>
            <a:off x="7772400" y="4178808"/>
            <a:ext cx="3520440" cy="672998"/>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aceleași țări, an de an</a:t>
            </a:r>
            <a:endParaRPr lang="en-US" sz="1200" dirty="0"/>
          </a:p>
        </p:txBody>
      </p:sp>
      <p:sp>
        <p:nvSpPr>
          <p:cNvPr id="15" name="Text 13"/>
          <p:cNvSpPr/>
          <p:nvPr/>
        </p:nvSpPr>
        <p:spPr>
          <a:xfrm>
            <a:off x="594360" y="5120640"/>
            <a:ext cx="10972800" cy="77724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Expunerea: „experiența democratică”, un indice al democrației adunat din 1900, cu fiecare an vechi cântărind cu 1% mai puțin.</a:t>
            </a:r>
            <a:endParaRPr lang="en-US" sz="17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Bollyky și colab., 2019 · A780, A775.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CE AU GĂSIT</a:t>
            </a:r>
            <a:endParaRPr lang="en-US" sz="1300" dirty="0"/>
          </a:p>
        </p:txBody>
      </p:sp>
      <p:sp>
        <p:nvSpPr>
          <p:cNvPr id="3" name="Text 1"/>
          <p:cNvSpPr/>
          <p:nvPr/>
        </p:nvSpPr>
        <p:spPr>
          <a:xfrm>
            <a:off x="594360" y="868680"/>
            <a:ext cx="5029200" cy="1828800"/>
          </a:xfrm>
          <a:prstGeom prst="rect">
            <a:avLst/>
          </a:prstGeom>
          <a:noFill/>
          <a:ln/>
        </p:spPr>
        <p:txBody>
          <a:bodyPr wrap="square" lIns="0" tIns="0" rIns="0" bIns="0" rtlCol="0" anchor="ctr"/>
          <a:lstStyle/>
          <a:p>
            <a:pPr indent="0" marL="0">
              <a:buNone/>
            </a:pPr>
            <a:r>
              <a:rPr lang="en-US" sz="11000" b="1" dirty="0">
                <a:solidFill>
                  <a:srgbClr val="9B7EF7"/>
                </a:solidFill>
                <a:latin typeface="Palatino Linotype" pitchFamily="34" charset="0"/>
                <a:ea typeface="Palatino Linotype" pitchFamily="34" charset="-122"/>
                <a:cs typeface="Palatino Linotype" pitchFamily="34" charset="-120"/>
              </a:rPr>
              <a:t>+3%</a:t>
            </a:r>
            <a:endParaRPr lang="en-US" sz="11000" dirty="0"/>
          </a:p>
        </p:txBody>
      </p:sp>
      <p:sp>
        <p:nvSpPr>
          <p:cNvPr id="4" name="Text 2"/>
          <p:cNvSpPr/>
          <p:nvPr/>
        </p:nvSpPr>
        <p:spPr>
          <a:xfrm>
            <a:off x="5852160" y="1097280"/>
            <a:ext cx="5715000" cy="146304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speranța de viață la 15 ani, la 10 ani după trecerea la democrație, fără decesele prin infecția cu HIV</a:t>
            </a:r>
            <a:endParaRPr lang="en-US" sz="2100" dirty="0"/>
          </a:p>
        </p:txBody>
      </p:sp>
      <p:sp>
        <p:nvSpPr>
          <p:cNvPr id="5" name="Shape 3"/>
          <p:cNvSpPr/>
          <p:nvPr/>
        </p:nvSpPr>
        <p:spPr>
          <a:xfrm>
            <a:off x="594360" y="301752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6" name="Text 4"/>
          <p:cNvSpPr/>
          <p:nvPr/>
        </p:nvSpPr>
        <p:spPr>
          <a:xfrm>
            <a:off x="868680" y="3017520"/>
            <a:ext cx="10424160" cy="13716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 bolile cardiovasculare, accidentele rutiere, cancere și ciroză, experiența democratică explica mai mult din variația mortalității decât venitul pe locuitor.</a:t>
            </a:r>
            <a:endParaRPr lang="en-US" sz="1800" dirty="0"/>
          </a:p>
        </p:txBody>
      </p:sp>
      <p:sp>
        <p:nvSpPr>
          <p:cNvPr id="7" name="Shape 5"/>
          <p:cNvSpPr/>
          <p:nvPr/>
        </p:nvSpPr>
        <p:spPr>
          <a:xfrm>
            <a:off x="594360" y="457200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8" name="Text 6"/>
          <p:cNvSpPr/>
          <p:nvPr/>
        </p:nvSpPr>
        <p:spPr>
          <a:xfrm>
            <a:off x="868680" y="4572000"/>
            <a:ext cx="10424160" cy="13716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Fără componenta despre alegerile libere și corecte, legătura cu mortalitatea prin boli netransmisibile și prin accidente s-a pierdut.</a:t>
            </a:r>
            <a:endParaRPr lang="en-US" sz="18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Bollyky și colab., 2019 · A781, A782, A784.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2</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Ce a măsurat, ca factor de expunere, studiul din The Lancet?</a:t>
            </a:r>
            <a:endParaRPr lang="en-US" sz="2800" dirty="0"/>
          </a:p>
        </p:txBody>
      </p:sp>
      <p:sp>
        <p:nvSpPr>
          <p:cNvPr id="6" name="Shape 4"/>
          <p:cNvSpPr/>
          <p:nvPr/>
        </p:nvSpPr>
        <p:spPr>
          <a:xfrm>
            <a:off x="594360" y="201168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212848"/>
            <a:ext cx="420624" cy="420624"/>
          </a:xfrm>
          <a:prstGeom prst="ellipse">
            <a:avLst/>
          </a:prstGeom>
          <a:solidFill>
            <a:srgbClr val="FFC24B"/>
          </a:solidFill>
          <a:ln/>
        </p:spPr>
        <p:txBody>
          <a:bodyPr/>
          <a:p/>
        </p:txBody>
      </p:sp>
      <p:sp>
        <p:nvSpPr>
          <p:cNvPr id="8" name="Text 6"/>
          <p:cNvSpPr/>
          <p:nvPr/>
        </p:nvSpPr>
        <p:spPr>
          <a:xfrm>
            <a:off x="91440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Corupția din fiecare țară</a:t>
            </a:r>
            <a:endParaRPr lang="en-US" sz="1900" dirty="0"/>
          </a:p>
        </p:txBody>
      </p:sp>
      <p:sp>
        <p:nvSpPr>
          <p:cNvPr id="10" name="Shape 8"/>
          <p:cNvSpPr/>
          <p:nvPr/>
        </p:nvSpPr>
        <p:spPr>
          <a:xfrm>
            <a:off x="594360" y="301752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3218688"/>
            <a:ext cx="420624" cy="420624"/>
          </a:xfrm>
          <a:prstGeom prst="ellipse">
            <a:avLst/>
          </a:prstGeom>
          <a:solidFill>
            <a:srgbClr val="FFC24B"/>
          </a:solidFill>
          <a:ln/>
        </p:spPr>
        <p:txBody>
          <a:bodyPr/>
          <a:p/>
        </p:txBody>
      </p:sp>
      <p:sp>
        <p:nvSpPr>
          <p:cNvPr id="12" name="Text 10"/>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01752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Experiența democratică a fiecărei țări</a:t>
            </a:r>
            <a:endParaRPr lang="en-US" sz="1900" dirty="0"/>
          </a:p>
        </p:txBody>
      </p:sp>
      <p:sp>
        <p:nvSpPr>
          <p:cNvPr id="14" name="Shape 12"/>
          <p:cNvSpPr/>
          <p:nvPr/>
        </p:nvSpPr>
        <p:spPr>
          <a:xfrm>
            <a:off x="594360" y="402336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4224528"/>
            <a:ext cx="420624" cy="420624"/>
          </a:xfrm>
          <a:prstGeom prst="ellipse">
            <a:avLst/>
          </a:prstGeom>
          <a:solidFill>
            <a:srgbClr val="FFC24B"/>
          </a:solidFill>
          <a:ln/>
        </p:spPr>
        <p:txBody>
          <a:bodyPr/>
          <a:p/>
        </p:txBody>
      </p:sp>
      <p:sp>
        <p:nvSpPr>
          <p:cNvPr id="16" name="Text 14"/>
          <p:cNvSpPr/>
          <p:nvPr/>
        </p:nvSpPr>
        <p:spPr>
          <a:xfrm>
            <a:off x="91440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02336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Cheltuielile pentru sănătate</a:t>
            </a:r>
            <a:endParaRPr lang="en-US" sz="1900" dirty="0"/>
          </a:p>
        </p:txBody>
      </p:sp>
      <p:sp>
        <p:nvSpPr>
          <p:cNvPr id="18" name="Shape 16"/>
          <p:cNvSpPr/>
          <p:nvPr/>
        </p:nvSpPr>
        <p:spPr>
          <a:xfrm>
            <a:off x="8686800" y="201168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20" name="Text 18"/>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pic>
        <p:nvPicPr>
          <p:cNvPr id="21" name="Picture 20" descr="Mentimeter_OPT_PLIC_C04.png"/>
          <p:cNvPicPr>
            <a:picLocks noChangeAspect="1"/>
          </p:cNvPicPr>
          <p:nvPr/>
        </p:nvPicPr>
        <p:blipFill>
          <a:blip r:embed="rId3"/>
          <a:stretch>
            <a:fillRect/>
          </a:stretch>
        </p:blipFill>
        <p:spPr>
          <a:xfrm>
            <a:off x="9023350" y="2011680"/>
            <a:ext cx="2207260" cy="2207260"/>
          </a:xfrm>
          <a:prstGeom prst="rect">
            <a:avLst/>
          </a:prstGeom>
        </p:spPr>
      </p:pic>
      <p:sp>
        <p:nvSpPr>
          <p:cNvPr id="22" name="TextBox 21"/>
          <p:cNvSpPr txBox="1"/>
          <p:nvPr/>
        </p:nvSpPr>
        <p:spPr>
          <a:xfrm>
            <a:off x="8686800" y="425704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RĂSPUNSUL LA VOTUL 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Varianta (b): experiența democratică</a:t>
            </a:r>
            <a:endParaRPr lang="en-US" sz="3200" dirty="0"/>
          </a:p>
        </p:txBody>
      </p:sp>
      <p:sp>
        <p:nvSpPr>
          <p:cNvPr id="4" name="Shape 2"/>
          <p:cNvSpPr/>
          <p:nvPr/>
        </p:nvSpPr>
        <p:spPr>
          <a:xfrm>
            <a:off x="594360" y="1691640"/>
            <a:ext cx="10972800" cy="1737360"/>
          </a:xfrm>
          <a:prstGeom prst="roundRect">
            <a:avLst>
              <a:gd name="adj" fmla="val 4737"/>
            </a:avLst>
          </a:prstGeom>
          <a:solidFill>
            <a:srgbClr val="ECEAE4"/>
          </a:solidFill>
          <a:ln w="12700">
            <a:solidFill>
              <a:srgbClr val="ECEAE4"/>
            </a:solidFill>
            <a:prstDash val="solid"/>
          </a:ln>
        </p:spPr>
        <p:txBody>
          <a:bodyPr/>
          <a:p/>
        </p:txBody>
      </p:sp>
      <p:sp>
        <p:nvSpPr>
          <p:cNvPr id="5" name="Shape 3"/>
          <p:cNvSpPr/>
          <p:nvPr/>
        </p:nvSpPr>
        <p:spPr>
          <a:xfrm>
            <a:off x="594360" y="1691640"/>
            <a:ext cx="109728" cy="1737360"/>
          </a:xfrm>
          <a:prstGeom prst="rect">
            <a:avLst/>
          </a:prstGeom>
          <a:solidFill>
            <a:srgbClr val="4A2D8C"/>
          </a:solidFill>
          <a:ln w="12700">
            <a:solidFill>
              <a:srgbClr val="4A2D8C"/>
            </a:solidFill>
            <a:prstDash val="solid"/>
          </a:ln>
        </p:spPr>
        <p:txBody>
          <a:bodyPr/>
          <a:p/>
        </p:txBody>
      </p:sp>
      <p:sp>
        <p:nvSpPr>
          <p:cNvPr id="6" name="Text 4"/>
          <p:cNvSpPr/>
          <p:nvPr/>
        </p:nvSpPr>
        <p:spPr>
          <a:xfrm>
            <a:off x="1005840" y="1691640"/>
            <a:ext cx="10332720" cy="1737360"/>
          </a:xfrm>
          <a:prstGeom prst="rect">
            <a:avLst/>
          </a:prstGeom>
          <a:noFill/>
          <a:ln/>
        </p:spPr>
        <p:txBody>
          <a:bodyPr wrap="square" lIns="0" tIns="0" rIns="0" bIns="0" rtlCol="0" anchor="ctr"/>
          <a:lstStyle/>
          <a:p>
            <a:pPr indent="0" marL="0">
              <a:buNone/>
            </a:pPr>
            <a:r>
              <a:rPr lang="en-US" sz="2500" b="1" dirty="0">
                <a:solidFill>
                  <a:srgbClr val="11121A"/>
                </a:solidFill>
                <a:latin typeface="Palatino Linotype" pitchFamily="34" charset="0"/>
                <a:ea typeface="Palatino Linotype" pitchFamily="34" charset="-122"/>
                <a:cs typeface="Palatino Linotype" pitchFamily="34" charset="-120"/>
              </a:rPr>
              <a:t>În textul articolului nu apare nicio măsură a corupției. Nici cuvântul „corruption”.</a:t>
            </a:r>
            <a:endParaRPr lang="en-US" sz="2500" dirty="0"/>
          </a:p>
        </p:txBody>
      </p:sp>
      <p:sp>
        <p:nvSpPr>
          <p:cNvPr id="7" name="Text 5"/>
          <p:cNvSpPr/>
          <p:nvPr/>
        </p:nvSpPr>
        <p:spPr>
          <a:xfrm>
            <a:off x="594360" y="3657600"/>
            <a:ext cx="10972800" cy="457200"/>
          </a:xfrm>
          <a:prstGeom prst="rect">
            <a:avLst/>
          </a:prstGeom>
          <a:noFill/>
          <a:ln/>
        </p:spPr>
        <p:txBody>
          <a:bodyPr wrap="square" lIns="0" tIns="0" rIns="0" bIns="0" rtlCol="0" anchor="t"/>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De ce îl povestim, atunci?</a:t>
            </a:r>
            <a:endParaRPr lang="en-US" sz="2000" dirty="0"/>
          </a:p>
        </p:txBody>
      </p:sp>
      <p:sp>
        <p:nvSpPr>
          <p:cNvPr id="8" name="Text 6"/>
          <p:cNvSpPr/>
          <p:nvPr/>
        </p:nvSpPr>
        <p:spPr>
          <a:xfrm>
            <a:off x="594360" y="4160520"/>
            <a:ext cx="10972800" cy="14630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Democrația, libertățile civile și corupția percepută merg adesea împreună. Cine citează studiul ca dovadă despre corupție îi mută concluzia pe o măsură pe care autorii nu au studiat-o.</a:t>
            </a:r>
            <a:endParaRPr lang="en-US" sz="19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Bollyky, 2019, text integral · A785; Hanf, 2011 · A774.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FORME ALE DISTANȚEI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Titlul promite prea mult sau citatul mută concluzia</a:t>
            </a:r>
            <a:endParaRPr lang="en-US" sz="2800" dirty="0"/>
          </a:p>
        </p:txBody>
      </p:sp>
      <p:sp>
        <p:nvSpPr>
          <p:cNvPr id="4" name="Shape 2"/>
          <p:cNvSpPr/>
          <p:nvPr/>
        </p:nvSpPr>
        <p:spPr>
          <a:xfrm>
            <a:off x="594360" y="178308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5" name="Shape 3"/>
          <p:cNvSpPr/>
          <p:nvPr/>
        </p:nvSpPr>
        <p:spPr>
          <a:xfrm>
            <a:off x="594360" y="1783080"/>
            <a:ext cx="534924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868680" y="2011680"/>
            <a:ext cx="480060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1 · Studiul despre copii</a:t>
            </a:r>
            <a:endParaRPr lang="en-US" sz="1700" dirty="0"/>
          </a:p>
        </p:txBody>
      </p:sp>
      <p:sp>
        <p:nvSpPr>
          <p:cNvPr id="7" name="Text 5"/>
          <p:cNvSpPr/>
          <p:nvPr/>
        </p:nvSpPr>
        <p:spPr>
          <a:xfrm>
            <a:off x="868680" y="2514600"/>
            <a:ext cx="4800600" cy="11430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Titlul promite mai mult decât poate da designul.</a:t>
            </a:r>
            <a:endParaRPr lang="en-US" sz="1800" dirty="0"/>
          </a:p>
        </p:txBody>
      </p:sp>
      <p:sp>
        <p:nvSpPr>
          <p:cNvPr id="8" name="Shape 6"/>
          <p:cNvSpPr/>
          <p:nvPr/>
        </p:nvSpPr>
        <p:spPr>
          <a:xfrm>
            <a:off x="6217920" y="178308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9" name="Shape 7"/>
          <p:cNvSpPr/>
          <p:nvPr/>
        </p:nvSpPr>
        <p:spPr>
          <a:xfrm>
            <a:off x="6217920" y="1783080"/>
            <a:ext cx="5349240" cy="73152"/>
          </a:xfrm>
          <a:prstGeom prst="rect">
            <a:avLst/>
          </a:prstGeom>
          <a:solidFill>
            <a:srgbClr val="9B7EF7"/>
          </a:solidFill>
          <a:ln w="12700">
            <a:solidFill>
              <a:srgbClr val="9B7EF7"/>
            </a:solidFill>
            <a:prstDash val="solid"/>
          </a:ln>
        </p:spPr>
        <p:txBody>
          <a:bodyPr/>
          <a:p/>
        </p:txBody>
      </p:sp>
      <p:sp>
        <p:nvSpPr>
          <p:cNvPr id="10" name="Text 8"/>
          <p:cNvSpPr/>
          <p:nvPr/>
        </p:nvSpPr>
        <p:spPr>
          <a:xfrm>
            <a:off x="6492240" y="2011680"/>
            <a:ext cx="4800600" cy="41148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2 · Studiul despre democrație</a:t>
            </a:r>
            <a:endParaRPr lang="en-US" sz="1700" dirty="0"/>
          </a:p>
        </p:txBody>
      </p:sp>
      <p:sp>
        <p:nvSpPr>
          <p:cNvPr id="11" name="Text 9"/>
          <p:cNvSpPr/>
          <p:nvPr/>
        </p:nvSpPr>
        <p:spPr>
          <a:xfrm>
            <a:off x="6492240" y="2514600"/>
            <a:ext cx="4800600" cy="11430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Titlul e corect, dar cine citează studiul îi atribuie o concluzie despre altceva.</a:t>
            </a:r>
            <a:endParaRPr lang="en-US" sz="1800" dirty="0"/>
          </a:p>
        </p:txBody>
      </p:sp>
      <p:sp>
        <p:nvSpPr>
          <p:cNvPr id="12" name="Text 10"/>
          <p:cNvSpPr/>
          <p:nvPr/>
        </p:nvSpPr>
        <p:spPr>
          <a:xfrm>
            <a:off x="594360" y="4069080"/>
            <a:ext cx="10972800" cy="164592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Și autorii din The Lancet își spun limitele: democrația merge cu venitul și cu cheltuielile pentru sănătate, iar fără un experiment cu țări repartizate la întâmplare nu se pot exclude toți factorii.</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Bollyky și colab., 2019 · A783.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MAI APROAPE DE NOI · STUDIUL DIN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Douăsprezece țări, între care România</a:t>
            </a:r>
            <a:endParaRPr lang="en-US" sz="3000" dirty="0"/>
          </a:p>
        </p:txBody>
      </p:sp>
      <p:sp>
        <p:nvSpPr>
          <p:cNvPr id="4" name="Shape 2"/>
          <p:cNvSpPr/>
          <p:nvPr/>
        </p:nvSpPr>
        <p:spPr>
          <a:xfrm>
            <a:off x="822960" y="1874520"/>
            <a:ext cx="182880" cy="182880"/>
          </a:xfrm>
          <a:prstGeom prst="ellipse">
            <a:avLst/>
          </a:prstGeom>
          <a:solidFill>
            <a:srgbClr val="B9B4A8"/>
          </a:solidFill>
          <a:ln w="12700">
            <a:solidFill>
              <a:srgbClr val="B9B4A8"/>
            </a:solidFill>
            <a:prstDash val="solid"/>
          </a:ln>
        </p:spPr>
        <p:txBody>
          <a:bodyPr/>
          <a:p/>
        </p:txBody>
      </p:sp>
      <p:sp>
        <p:nvSpPr>
          <p:cNvPr id="5" name="Shape 3"/>
          <p:cNvSpPr/>
          <p:nvPr/>
        </p:nvSpPr>
        <p:spPr>
          <a:xfrm>
            <a:off x="1097280" y="1874520"/>
            <a:ext cx="182880" cy="182880"/>
          </a:xfrm>
          <a:prstGeom prst="ellipse">
            <a:avLst/>
          </a:prstGeom>
          <a:solidFill>
            <a:srgbClr val="B9B4A8"/>
          </a:solidFill>
          <a:ln w="12700">
            <a:solidFill>
              <a:srgbClr val="B9B4A8"/>
            </a:solidFill>
            <a:prstDash val="solid"/>
          </a:ln>
        </p:spPr>
        <p:txBody>
          <a:bodyPr/>
          <a:p/>
        </p:txBody>
      </p:sp>
      <p:sp>
        <p:nvSpPr>
          <p:cNvPr id="6" name="Shape 4"/>
          <p:cNvSpPr/>
          <p:nvPr/>
        </p:nvSpPr>
        <p:spPr>
          <a:xfrm>
            <a:off x="1371600" y="1874520"/>
            <a:ext cx="182880" cy="182880"/>
          </a:xfrm>
          <a:prstGeom prst="ellipse">
            <a:avLst/>
          </a:prstGeom>
          <a:solidFill>
            <a:srgbClr val="B9B4A8"/>
          </a:solidFill>
          <a:ln w="12700">
            <a:solidFill>
              <a:srgbClr val="B9B4A8"/>
            </a:solidFill>
            <a:prstDash val="solid"/>
          </a:ln>
        </p:spPr>
        <p:txBody>
          <a:bodyPr/>
          <a:p/>
        </p:txBody>
      </p:sp>
      <p:sp>
        <p:nvSpPr>
          <p:cNvPr id="7" name="Shape 5"/>
          <p:cNvSpPr/>
          <p:nvPr/>
        </p:nvSpPr>
        <p:spPr>
          <a:xfrm>
            <a:off x="1645920" y="1874520"/>
            <a:ext cx="182880" cy="182880"/>
          </a:xfrm>
          <a:prstGeom prst="ellipse">
            <a:avLst/>
          </a:prstGeom>
          <a:solidFill>
            <a:srgbClr val="B9B4A8"/>
          </a:solidFill>
          <a:ln w="12700">
            <a:solidFill>
              <a:srgbClr val="B9B4A8"/>
            </a:solidFill>
            <a:prstDash val="solid"/>
          </a:ln>
        </p:spPr>
        <p:txBody>
          <a:bodyPr/>
          <a:p/>
        </p:txBody>
      </p:sp>
      <p:sp>
        <p:nvSpPr>
          <p:cNvPr id="8" name="Shape 6"/>
          <p:cNvSpPr/>
          <p:nvPr/>
        </p:nvSpPr>
        <p:spPr>
          <a:xfrm>
            <a:off x="1920240" y="1874520"/>
            <a:ext cx="182880" cy="182880"/>
          </a:xfrm>
          <a:prstGeom prst="ellipse">
            <a:avLst/>
          </a:prstGeom>
          <a:solidFill>
            <a:srgbClr val="B9B4A8"/>
          </a:solidFill>
          <a:ln w="12700">
            <a:solidFill>
              <a:srgbClr val="B9B4A8"/>
            </a:solidFill>
            <a:prstDash val="solid"/>
          </a:ln>
        </p:spPr>
        <p:txBody>
          <a:bodyPr/>
          <a:p/>
        </p:txBody>
      </p:sp>
      <p:sp>
        <p:nvSpPr>
          <p:cNvPr id="9" name="Shape 7"/>
          <p:cNvSpPr/>
          <p:nvPr/>
        </p:nvSpPr>
        <p:spPr>
          <a:xfrm>
            <a:off x="2194560" y="1874520"/>
            <a:ext cx="182880" cy="182880"/>
          </a:xfrm>
          <a:prstGeom prst="ellipse">
            <a:avLst/>
          </a:prstGeom>
          <a:solidFill>
            <a:srgbClr val="B9B4A8"/>
          </a:solidFill>
          <a:ln w="12700">
            <a:solidFill>
              <a:srgbClr val="B9B4A8"/>
            </a:solidFill>
            <a:prstDash val="solid"/>
          </a:ln>
        </p:spPr>
        <p:txBody>
          <a:bodyPr/>
          <a:p/>
        </p:txBody>
      </p:sp>
      <p:sp>
        <p:nvSpPr>
          <p:cNvPr id="10" name="Shape 8"/>
          <p:cNvSpPr/>
          <p:nvPr/>
        </p:nvSpPr>
        <p:spPr>
          <a:xfrm>
            <a:off x="2468880" y="1874520"/>
            <a:ext cx="182880" cy="182880"/>
          </a:xfrm>
          <a:prstGeom prst="ellipse">
            <a:avLst/>
          </a:prstGeom>
          <a:solidFill>
            <a:srgbClr val="B9B4A8"/>
          </a:solidFill>
          <a:ln w="12700">
            <a:solidFill>
              <a:srgbClr val="B9B4A8"/>
            </a:solidFill>
            <a:prstDash val="solid"/>
          </a:ln>
        </p:spPr>
        <p:txBody>
          <a:bodyPr/>
          <a:p/>
        </p:txBody>
      </p:sp>
      <p:sp>
        <p:nvSpPr>
          <p:cNvPr id="11" name="Shape 9"/>
          <p:cNvSpPr/>
          <p:nvPr/>
        </p:nvSpPr>
        <p:spPr>
          <a:xfrm>
            <a:off x="2743200" y="1874520"/>
            <a:ext cx="182880" cy="182880"/>
          </a:xfrm>
          <a:prstGeom prst="ellipse">
            <a:avLst/>
          </a:prstGeom>
          <a:solidFill>
            <a:srgbClr val="B9B4A8"/>
          </a:solidFill>
          <a:ln w="12700">
            <a:solidFill>
              <a:srgbClr val="B9B4A8"/>
            </a:solidFill>
            <a:prstDash val="solid"/>
          </a:ln>
        </p:spPr>
        <p:txBody>
          <a:bodyPr/>
          <a:p/>
        </p:txBody>
      </p:sp>
      <p:sp>
        <p:nvSpPr>
          <p:cNvPr id="12" name="Shape 10"/>
          <p:cNvSpPr/>
          <p:nvPr/>
        </p:nvSpPr>
        <p:spPr>
          <a:xfrm>
            <a:off x="3017520" y="1874520"/>
            <a:ext cx="182880" cy="182880"/>
          </a:xfrm>
          <a:prstGeom prst="ellipse">
            <a:avLst/>
          </a:prstGeom>
          <a:solidFill>
            <a:srgbClr val="B9B4A8"/>
          </a:solidFill>
          <a:ln w="12700">
            <a:solidFill>
              <a:srgbClr val="B9B4A8"/>
            </a:solidFill>
            <a:prstDash val="solid"/>
          </a:ln>
        </p:spPr>
        <p:txBody>
          <a:bodyPr/>
          <a:p/>
        </p:txBody>
      </p:sp>
      <p:sp>
        <p:nvSpPr>
          <p:cNvPr id="13" name="Shape 11"/>
          <p:cNvSpPr/>
          <p:nvPr/>
        </p:nvSpPr>
        <p:spPr>
          <a:xfrm>
            <a:off x="822960" y="2148840"/>
            <a:ext cx="182880" cy="182880"/>
          </a:xfrm>
          <a:prstGeom prst="ellipse">
            <a:avLst/>
          </a:prstGeom>
          <a:solidFill>
            <a:srgbClr val="B9B4A8"/>
          </a:solidFill>
          <a:ln w="12700">
            <a:solidFill>
              <a:srgbClr val="B9B4A8"/>
            </a:solidFill>
            <a:prstDash val="solid"/>
          </a:ln>
        </p:spPr>
        <p:txBody>
          <a:bodyPr/>
          <a:p/>
        </p:txBody>
      </p:sp>
      <p:sp>
        <p:nvSpPr>
          <p:cNvPr id="14" name="Shape 12"/>
          <p:cNvSpPr/>
          <p:nvPr/>
        </p:nvSpPr>
        <p:spPr>
          <a:xfrm>
            <a:off x="1097280" y="2148840"/>
            <a:ext cx="182880" cy="182880"/>
          </a:xfrm>
          <a:prstGeom prst="ellipse">
            <a:avLst/>
          </a:prstGeom>
          <a:solidFill>
            <a:srgbClr val="B9B4A8"/>
          </a:solidFill>
          <a:ln w="12700">
            <a:solidFill>
              <a:srgbClr val="B9B4A8"/>
            </a:solidFill>
            <a:prstDash val="solid"/>
          </a:ln>
        </p:spPr>
        <p:txBody>
          <a:bodyPr/>
          <a:p/>
        </p:txBody>
      </p:sp>
      <p:sp>
        <p:nvSpPr>
          <p:cNvPr id="15" name="Shape 13"/>
          <p:cNvSpPr/>
          <p:nvPr/>
        </p:nvSpPr>
        <p:spPr>
          <a:xfrm>
            <a:off x="1371600" y="2148840"/>
            <a:ext cx="182880" cy="182880"/>
          </a:xfrm>
          <a:prstGeom prst="ellipse">
            <a:avLst/>
          </a:prstGeom>
          <a:solidFill>
            <a:srgbClr val="B9B4A8"/>
          </a:solidFill>
          <a:ln w="12700">
            <a:solidFill>
              <a:srgbClr val="B9B4A8"/>
            </a:solidFill>
            <a:prstDash val="solid"/>
          </a:ln>
        </p:spPr>
        <p:txBody>
          <a:bodyPr/>
          <a:p/>
        </p:txBody>
      </p:sp>
      <p:sp>
        <p:nvSpPr>
          <p:cNvPr id="16" name="Shape 14"/>
          <p:cNvSpPr/>
          <p:nvPr/>
        </p:nvSpPr>
        <p:spPr>
          <a:xfrm>
            <a:off x="1645920" y="2148840"/>
            <a:ext cx="182880" cy="182880"/>
          </a:xfrm>
          <a:prstGeom prst="ellipse">
            <a:avLst/>
          </a:prstGeom>
          <a:solidFill>
            <a:srgbClr val="B9B4A8"/>
          </a:solidFill>
          <a:ln w="12700">
            <a:solidFill>
              <a:srgbClr val="B9B4A8"/>
            </a:solidFill>
            <a:prstDash val="solid"/>
          </a:ln>
        </p:spPr>
        <p:txBody>
          <a:bodyPr/>
          <a:p/>
        </p:txBody>
      </p:sp>
      <p:sp>
        <p:nvSpPr>
          <p:cNvPr id="17" name="Shape 15"/>
          <p:cNvSpPr/>
          <p:nvPr/>
        </p:nvSpPr>
        <p:spPr>
          <a:xfrm>
            <a:off x="1920240" y="2148840"/>
            <a:ext cx="182880" cy="182880"/>
          </a:xfrm>
          <a:prstGeom prst="ellipse">
            <a:avLst/>
          </a:prstGeom>
          <a:solidFill>
            <a:srgbClr val="B9B4A8"/>
          </a:solidFill>
          <a:ln w="12700">
            <a:solidFill>
              <a:srgbClr val="B9B4A8"/>
            </a:solidFill>
            <a:prstDash val="solid"/>
          </a:ln>
        </p:spPr>
        <p:txBody>
          <a:bodyPr/>
          <a:p/>
        </p:txBody>
      </p:sp>
      <p:sp>
        <p:nvSpPr>
          <p:cNvPr id="18" name="Shape 16"/>
          <p:cNvSpPr/>
          <p:nvPr/>
        </p:nvSpPr>
        <p:spPr>
          <a:xfrm>
            <a:off x="2194560" y="2148840"/>
            <a:ext cx="182880" cy="182880"/>
          </a:xfrm>
          <a:prstGeom prst="ellipse">
            <a:avLst/>
          </a:prstGeom>
          <a:solidFill>
            <a:srgbClr val="B9B4A8"/>
          </a:solidFill>
          <a:ln w="12700">
            <a:solidFill>
              <a:srgbClr val="B9B4A8"/>
            </a:solidFill>
            <a:prstDash val="solid"/>
          </a:ln>
        </p:spPr>
        <p:txBody>
          <a:bodyPr/>
          <a:p/>
        </p:txBody>
      </p:sp>
      <p:sp>
        <p:nvSpPr>
          <p:cNvPr id="19" name="Shape 17"/>
          <p:cNvSpPr/>
          <p:nvPr/>
        </p:nvSpPr>
        <p:spPr>
          <a:xfrm>
            <a:off x="2468880" y="2148840"/>
            <a:ext cx="182880" cy="182880"/>
          </a:xfrm>
          <a:prstGeom prst="ellipse">
            <a:avLst/>
          </a:prstGeom>
          <a:solidFill>
            <a:srgbClr val="B9B4A8"/>
          </a:solidFill>
          <a:ln w="12700">
            <a:solidFill>
              <a:srgbClr val="B9B4A8"/>
            </a:solidFill>
            <a:prstDash val="solid"/>
          </a:ln>
        </p:spPr>
        <p:txBody>
          <a:bodyPr/>
          <a:p/>
        </p:txBody>
      </p:sp>
      <p:sp>
        <p:nvSpPr>
          <p:cNvPr id="20" name="Shape 18"/>
          <p:cNvSpPr/>
          <p:nvPr/>
        </p:nvSpPr>
        <p:spPr>
          <a:xfrm>
            <a:off x="2743200" y="2148840"/>
            <a:ext cx="182880" cy="182880"/>
          </a:xfrm>
          <a:prstGeom prst="ellipse">
            <a:avLst/>
          </a:prstGeom>
          <a:solidFill>
            <a:srgbClr val="B9B4A8"/>
          </a:solidFill>
          <a:ln w="12700">
            <a:solidFill>
              <a:srgbClr val="B9B4A8"/>
            </a:solidFill>
            <a:prstDash val="solid"/>
          </a:ln>
        </p:spPr>
        <p:txBody>
          <a:bodyPr/>
          <a:p/>
        </p:txBody>
      </p:sp>
      <p:sp>
        <p:nvSpPr>
          <p:cNvPr id="21" name="Shape 19"/>
          <p:cNvSpPr/>
          <p:nvPr/>
        </p:nvSpPr>
        <p:spPr>
          <a:xfrm>
            <a:off x="3017520" y="2148840"/>
            <a:ext cx="182880" cy="182880"/>
          </a:xfrm>
          <a:prstGeom prst="ellipse">
            <a:avLst/>
          </a:prstGeom>
          <a:solidFill>
            <a:srgbClr val="B9B4A8"/>
          </a:solidFill>
          <a:ln w="12700">
            <a:solidFill>
              <a:srgbClr val="B9B4A8"/>
            </a:solidFill>
            <a:prstDash val="solid"/>
          </a:ln>
        </p:spPr>
        <p:txBody>
          <a:bodyPr/>
          <a:p/>
        </p:txBody>
      </p:sp>
      <p:sp>
        <p:nvSpPr>
          <p:cNvPr id="22" name="Shape 20"/>
          <p:cNvSpPr/>
          <p:nvPr/>
        </p:nvSpPr>
        <p:spPr>
          <a:xfrm>
            <a:off x="822960" y="2423160"/>
            <a:ext cx="182880" cy="182880"/>
          </a:xfrm>
          <a:prstGeom prst="ellipse">
            <a:avLst/>
          </a:prstGeom>
          <a:solidFill>
            <a:srgbClr val="B9B4A8"/>
          </a:solidFill>
          <a:ln w="12700">
            <a:solidFill>
              <a:srgbClr val="B9B4A8"/>
            </a:solidFill>
            <a:prstDash val="solid"/>
          </a:ln>
        </p:spPr>
        <p:txBody>
          <a:bodyPr/>
          <a:p/>
        </p:txBody>
      </p:sp>
      <p:sp>
        <p:nvSpPr>
          <p:cNvPr id="23" name="Shape 21"/>
          <p:cNvSpPr/>
          <p:nvPr/>
        </p:nvSpPr>
        <p:spPr>
          <a:xfrm>
            <a:off x="1097280" y="2423160"/>
            <a:ext cx="182880" cy="182880"/>
          </a:xfrm>
          <a:prstGeom prst="ellipse">
            <a:avLst/>
          </a:prstGeom>
          <a:solidFill>
            <a:srgbClr val="B9B4A8"/>
          </a:solidFill>
          <a:ln w="12700">
            <a:solidFill>
              <a:srgbClr val="B9B4A8"/>
            </a:solidFill>
            <a:prstDash val="solid"/>
          </a:ln>
        </p:spPr>
        <p:txBody>
          <a:bodyPr/>
          <a:p/>
        </p:txBody>
      </p:sp>
      <p:sp>
        <p:nvSpPr>
          <p:cNvPr id="24" name="Shape 22"/>
          <p:cNvSpPr/>
          <p:nvPr/>
        </p:nvSpPr>
        <p:spPr>
          <a:xfrm>
            <a:off x="1371600" y="2423160"/>
            <a:ext cx="182880" cy="182880"/>
          </a:xfrm>
          <a:prstGeom prst="ellipse">
            <a:avLst/>
          </a:prstGeom>
          <a:solidFill>
            <a:srgbClr val="B9B4A8"/>
          </a:solidFill>
          <a:ln w="12700">
            <a:solidFill>
              <a:srgbClr val="B9B4A8"/>
            </a:solidFill>
            <a:prstDash val="solid"/>
          </a:ln>
        </p:spPr>
        <p:txBody>
          <a:bodyPr/>
          <a:p/>
        </p:txBody>
      </p:sp>
      <p:sp>
        <p:nvSpPr>
          <p:cNvPr id="25" name="Shape 23"/>
          <p:cNvSpPr/>
          <p:nvPr/>
        </p:nvSpPr>
        <p:spPr>
          <a:xfrm>
            <a:off x="1645920" y="2423160"/>
            <a:ext cx="182880" cy="182880"/>
          </a:xfrm>
          <a:prstGeom prst="ellipse">
            <a:avLst/>
          </a:prstGeom>
          <a:solidFill>
            <a:srgbClr val="B9B4A8"/>
          </a:solidFill>
          <a:ln w="12700">
            <a:solidFill>
              <a:srgbClr val="B9B4A8"/>
            </a:solidFill>
            <a:prstDash val="solid"/>
          </a:ln>
        </p:spPr>
        <p:txBody>
          <a:bodyPr/>
          <a:p/>
        </p:txBody>
      </p:sp>
      <p:sp>
        <p:nvSpPr>
          <p:cNvPr id="26" name="Shape 24"/>
          <p:cNvSpPr/>
          <p:nvPr/>
        </p:nvSpPr>
        <p:spPr>
          <a:xfrm>
            <a:off x="1920240" y="2423160"/>
            <a:ext cx="182880" cy="182880"/>
          </a:xfrm>
          <a:prstGeom prst="ellipse">
            <a:avLst/>
          </a:prstGeom>
          <a:solidFill>
            <a:srgbClr val="B9B4A8"/>
          </a:solidFill>
          <a:ln w="12700">
            <a:solidFill>
              <a:srgbClr val="B9B4A8"/>
            </a:solidFill>
            <a:prstDash val="solid"/>
          </a:ln>
        </p:spPr>
        <p:txBody>
          <a:bodyPr/>
          <a:p/>
        </p:txBody>
      </p:sp>
      <p:sp>
        <p:nvSpPr>
          <p:cNvPr id="27" name="Shape 25"/>
          <p:cNvSpPr/>
          <p:nvPr/>
        </p:nvSpPr>
        <p:spPr>
          <a:xfrm>
            <a:off x="2194560" y="2423160"/>
            <a:ext cx="182880" cy="182880"/>
          </a:xfrm>
          <a:prstGeom prst="ellipse">
            <a:avLst/>
          </a:prstGeom>
          <a:solidFill>
            <a:srgbClr val="B9B4A8"/>
          </a:solidFill>
          <a:ln w="12700">
            <a:solidFill>
              <a:srgbClr val="B9B4A8"/>
            </a:solidFill>
            <a:prstDash val="solid"/>
          </a:ln>
        </p:spPr>
        <p:txBody>
          <a:bodyPr/>
          <a:p/>
        </p:txBody>
      </p:sp>
      <p:sp>
        <p:nvSpPr>
          <p:cNvPr id="28" name="Shape 26"/>
          <p:cNvSpPr/>
          <p:nvPr/>
        </p:nvSpPr>
        <p:spPr>
          <a:xfrm>
            <a:off x="2468880" y="2423160"/>
            <a:ext cx="182880" cy="182880"/>
          </a:xfrm>
          <a:prstGeom prst="ellipse">
            <a:avLst/>
          </a:prstGeom>
          <a:solidFill>
            <a:srgbClr val="B9B4A8"/>
          </a:solidFill>
          <a:ln w="12700">
            <a:solidFill>
              <a:srgbClr val="B9B4A8"/>
            </a:solidFill>
            <a:prstDash val="solid"/>
          </a:ln>
        </p:spPr>
        <p:txBody>
          <a:bodyPr/>
          <a:p/>
        </p:txBody>
      </p:sp>
      <p:sp>
        <p:nvSpPr>
          <p:cNvPr id="29" name="Shape 27"/>
          <p:cNvSpPr/>
          <p:nvPr/>
        </p:nvSpPr>
        <p:spPr>
          <a:xfrm>
            <a:off x="2743200" y="2423160"/>
            <a:ext cx="182880" cy="182880"/>
          </a:xfrm>
          <a:prstGeom prst="ellipse">
            <a:avLst/>
          </a:prstGeom>
          <a:solidFill>
            <a:srgbClr val="B9B4A8"/>
          </a:solidFill>
          <a:ln w="12700">
            <a:solidFill>
              <a:srgbClr val="B9B4A8"/>
            </a:solidFill>
            <a:prstDash val="solid"/>
          </a:ln>
        </p:spPr>
        <p:txBody>
          <a:bodyPr/>
          <a:p/>
        </p:txBody>
      </p:sp>
      <p:sp>
        <p:nvSpPr>
          <p:cNvPr id="30" name="Shape 28"/>
          <p:cNvSpPr/>
          <p:nvPr/>
        </p:nvSpPr>
        <p:spPr>
          <a:xfrm>
            <a:off x="3017520" y="2423160"/>
            <a:ext cx="182880" cy="182880"/>
          </a:xfrm>
          <a:prstGeom prst="ellipse">
            <a:avLst/>
          </a:prstGeom>
          <a:solidFill>
            <a:srgbClr val="B9B4A8"/>
          </a:solidFill>
          <a:ln w="12700">
            <a:solidFill>
              <a:srgbClr val="B9B4A8"/>
            </a:solidFill>
            <a:prstDash val="solid"/>
          </a:ln>
        </p:spPr>
        <p:txBody>
          <a:bodyPr/>
          <a:p/>
        </p:txBody>
      </p:sp>
      <p:sp>
        <p:nvSpPr>
          <p:cNvPr id="31" name="Shape 29"/>
          <p:cNvSpPr/>
          <p:nvPr/>
        </p:nvSpPr>
        <p:spPr>
          <a:xfrm>
            <a:off x="822960" y="2697480"/>
            <a:ext cx="182880" cy="182880"/>
          </a:xfrm>
          <a:prstGeom prst="ellipse">
            <a:avLst/>
          </a:prstGeom>
          <a:solidFill>
            <a:srgbClr val="B9B4A8"/>
          </a:solidFill>
          <a:ln w="12700">
            <a:solidFill>
              <a:srgbClr val="B9B4A8"/>
            </a:solidFill>
            <a:prstDash val="solid"/>
          </a:ln>
        </p:spPr>
        <p:txBody>
          <a:bodyPr/>
          <a:p/>
        </p:txBody>
      </p:sp>
      <p:sp>
        <p:nvSpPr>
          <p:cNvPr id="32" name="Shape 30"/>
          <p:cNvSpPr/>
          <p:nvPr/>
        </p:nvSpPr>
        <p:spPr>
          <a:xfrm>
            <a:off x="1097280" y="2697480"/>
            <a:ext cx="182880" cy="182880"/>
          </a:xfrm>
          <a:prstGeom prst="ellipse">
            <a:avLst/>
          </a:prstGeom>
          <a:solidFill>
            <a:srgbClr val="B9B4A8"/>
          </a:solidFill>
          <a:ln w="12700">
            <a:solidFill>
              <a:srgbClr val="B9B4A8"/>
            </a:solidFill>
            <a:prstDash val="solid"/>
          </a:ln>
        </p:spPr>
        <p:txBody>
          <a:bodyPr/>
          <a:p/>
        </p:txBody>
      </p:sp>
      <p:sp>
        <p:nvSpPr>
          <p:cNvPr id="33" name="Shape 31"/>
          <p:cNvSpPr/>
          <p:nvPr/>
        </p:nvSpPr>
        <p:spPr>
          <a:xfrm>
            <a:off x="1371600" y="2697480"/>
            <a:ext cx="182880" cy="182880"/>
          </a:xfrm>
          <a:prstGeom prst="ellipse">
            <a:avLst/>
          </a:prstGeom>
          <a:solidFill>
            <a:srgbClr val="B9B4A8"/>
          </a:solidFill>
          <a:ln w="12700">
            <a:solidFill>
              <a:srgbClr val="B9B4A8"/>
            </a:solidFill>
            <a:prstDash val="solid"/>
          </a:ln>
        </p:spPr>
        <p:txBody>
          <a:bodyPr/>
          <a:p/>
        </p:txBody>
      </p:sp>
      <p:sp>
        <p:nvSpPr>
          <p:cNvPr id="34" name="Shape 32"/>
          <p:cNvSpPr/>
          <p:nvPr/>
        </p:nvSpPr>
        <p:spPr>
          <a:xfrm>
            <a:off x="1645920" y="2697480"/>
            <a:ext cx="182880" cy="182880"/>
          </a:xfrm>
          <a:prstGeom prst="ellipse">
            <a:avLst/>
          </a:prstGeom>
          <a:solidFill>
            <a:srgbClr val="B9B4A8"/>
          </a:solidFill>
          <a:ln w="12700">
            <a:solidFill>
              <a:srgbClr val="B9B4A8"/>
            </a:solidFill>
            <a:prstDash val="solid"/>
          </a:ln>
        </p:spPr>
        <p:txBody>
          <a:bodyPr/>
          <a:p/>
        </p:txBody>
      </p:sp>
      <p:sp>
        <p:nvSpPr>
          <p:cNvPr id="35" name="Shape 33"/>
          <p:cNvSpPr/>
          <p:nvPr/>
        </p:nvSpPr>
        <p:spPr>
          <a:xfrm>
            <a:off x="1920240" y="2697480"/>
            <a:ext cx="182880" cy="182880"/>
          </a:xfrm>
          <a:prstGeom prst="ellipse">
            <a:avLst/>
          </a:prstGeom>
          <a:solidFill>
            <a:srgbClr val="B9B4A8"/>
          </a:solidFill>
          <a:ln w="12700">
            <a:solidFill>
              <a:srgbClr val="B9B4A8"/>
            </a:solidFill>
            <a:prstDash val="solid"/>
          </a:ln>
        </p:spPr>
        <p:txBody>
          <a:bodyPr/>
          <a:p/>
        </p:txBody>
      </p:sp>
      <p:sp>
        <p:nvSpPr>
          <p:cNvPr id="36" name="Shape 34"/>
          <p:cNvSpPr/>
          <p:nvPr/>
        </p:nvSpPr>
        <p:spPr>
          <a:xfrm>
            <a:off x="2194560" y="2697480"/>
            <a:ext cx="182880" cy="182880"/>
          </a:xfrm>
          <a:prstGeom prst="ellipse">
            <a:avLst/>
          </a:prstGeom>
          <a:solidFill>
            <a:srgbClr val="B9B4A8"/>
          </a:solidFill>
          <a:ln w="12700">
            <a:solidFill>
              <a:srgbClr val="B9B4A8"/>
            </a:solidFill>
            <a:prstDash val="solid"/>
          </a:ln>
        </p:spPr>
        <p:txBody>
          <a:bodyPr/>
          <a:p/>
        </p:txBody>
      </p:sp>
      <p:sp>
        <p:nvSpPr>
          <p:cNvPr id="37" name="Shape 35"/>
          <p:cNvSpPr/>
          <p:nvPr/>
        </p:nvSpPr>
        <p:spPr>
          <a:xfrm>
            <a:off x="2468880" y="2697480"/>
            <a:ext cx="182880" cy="182880"/>
          </a:xfrm>
          <a:prstGeom prst="ellipse">
            <a:avLst/>
          </a:prstGeom>
          <a:solidFill>
            <a:srgbClr val="B9B4A8"/>
          </a:solidFill>
          <a:ln w="12700">
            <a:solidFill>
              <a:srgbClr val="B9B4A8"/>
            </a:solidFill>
            <a:prstDash val="solid"/>
          </a:ln>
        </p:spPr>
        <p:txBody>
          <a:bodyPr/>
          <a:p/>
        </p:txBody>
      </p:sp>
      <p:sp>
        <p:nvSpPr>
          <p:cNvPr id="38" name="Shape 36"/>
          <p:cNvSpPr/>
          <p:nvPr/>
        </p:nvSpPr>
        <p:spPr>
          <a:xfrm>
            <a:off x="2743200" y="2697480"/>
            <a:ext cx="182880" cy="182880"/>
          </a:xfrm>
          <a:prstGeom prst="ellipse">
            <a:avLst/>
          </a:prstGeom>
          <a:solidFill>
            <a:srgbClr val="B9B4A8"/>
          </a:solidFill>
          <a:ln w="12700">
            <a:solidFill>
              <a:srgbClr val="B9B4A8"/>
            </a:solidFill>
            <a:prstDash val="solid"/>
          </a:ln>
        </p:spPr>
        <p:txBody>
          <a:bodyPr/>
          <a:p/>
        </p:txBody>
      </p:sp>
      <p:sp>
        <p:nvSpPr>
          <p:cNvPr id="39" name="Shape 37"/>
          <p:cNvSpPr/>
          <p:nvPr/>
        </p:nvSpPr>
        <p:spPr>
          <a:xfrm>
            <a:off x="3017520" y="2697480"/>
            <a:ext cx="182880" cy="182880"/>
          </a:xfrm>
          <a:prstGeom prst="ellipse">
            <a:avLst/>
          </a:prstGeom>
          <a:solidFill>
            <a:srgbClr val="B9B4A8"/>
          </a:solidFill>
          <a:ln w="12700">
            <a:solidFill>
              <a:srgbClr val="B9B4A8"/>
            </a:solidFill>
            <a:prstDash val="solid"/>
          </a:ln>
        </p:spPr>
        <p:txBody>
          <a:bodyPr/>
          <a:p/>
        </p:txBody>
      </p:sp>
      <p:sp>
        <p:nvSpPr>
          <p:cNvPr id="40" name="Shape 38"/>
          <p:cNvSpPr/>
          <p:nvPr/>
        </p:nvSpPr>
        <p:spPr>
          <a:xfrm>
            <a:off x="822960" y="2971800"/>
            <a:ext cx="182880" cy="182880"/>
          </a:xfrm>
          <a:prstGeom prst="ellipse">
            <a:avLst/>
          </a:prstGeom>
          <a:solidFill>
            <a:srgbClr val="B9B4A8"/>
          </a:solidFill>
          <a:ln w="12700">
            <a:solidFill>
              <a:srgbClr val="B9B4A8"/>
            </a:solidFill>
            <a:prstDash val="solid"/>
          </a:ln>
        </p:spPr>
        <p:txBody>
          <a:bodyPr/>
          <a:p/>
        </p:txBody>
      </p:sp>
      <p:sp>
        <p:nvSpPr>
          <p:cNvPr id="41" name="Shape 39"/>
          <p:cNvSpPr/>
          <p:nvPr/>
        </p:nvSpPr>
        <p:spPr>
          <a:xfrm>
            <a:off x="1097280" y="2971800"/>
            <a:ext cx="182880" cy="182880"/>
          </a:xfrm>
          <a:prstGeom prst="ellipse">
            <a:avLst/>
          </a:prstGeom>
          <a:solidFill>
            <a:srgbClr val="B9B4A8"/>
          </a:solidFill>
          <a:ln w="12700">
            <a:solidFill>
              <a:srgbClr val="B9B4A8"/>
            </a:solidFill>
            <a:prstDash val="solid"/>
          </a:ln>
        </p:spPr>
        <p:txBody>
          <a:bodyPr/>
          <a:p/>
        </p:txBody>
      </p:sp>
      <p:sp>
        <p:nvSpPr>
          <p:cNvPr id="42" name="Shape 40"/>
          <p:cNvSpPr/>
          <p:nvPr/>
        </p:nvSpPr>
        <p:spPr>
          <a:xfrm>
            <a:off x="1371600" y="2971800"/>
            <a:ext cx="182880" cy="182880"/>
          </a:xfrm>
          <a:prstGeom prst="ellipse">
            <a:avLst/>
          </a:prstGeom>
          <a:solidFill>
            <a:srgbClr val="B9B4A8"/>
          </a:solidFill>
          <a:ln w="12700">
            <a:solidFill>
              <a:srgbClr val="B9B4A8"/>
            </a:solidFill>
            <a:prstDash val="solid"/>
          </a:ln>
        </p:spPr>
        <p:txBody>
          <a:bodyPr/>
          <a:p/>
        </p:txBody>
      </p:sp>
      <p:sp>
        <p:nvSpPr>
          <p:cNvPr id="43" name="Shape 41"/>
          <p:cNvSpPr/>
          <p:nvPr/>
        </p:nvSpPr>
        <p:spPr>
          <a:xfrm>
            <a:off x="1645920" y="2971800"/>
            <a:ext cx="182880" cy="182880"/>
          </a:xfrm>
          <a:prstGeom prst="ellipse">
            <a:avLst/>
          </a:prstGeom>
          <a:solidFill>
            <a:srgbClr val="B9B4A8"/>
          </a:solidFill>
          <a:ln w="12700">
            <a:solidFill>
              <a:srgbClr val="B9B4A8"/>
            </a:solidFill>
            <a:prstDash val="solid"/>
          </a:ln>
        </p:spPr>
        <p:txBody>
          <a:bodyPr/>
          <a:p/>
        </p:txBody>
      </p:sp>
      <p:sp>
        <p:nvSpPr>
          <p:cNvPr id="44" name="Shape 42"/>
          <p:cNvSpPr/>
          <p:nvPr/>
        </p:nvSpPr>
        <p:spPr>
          <a:xfrm>
            <a:off x="1920240" y="2971800"/>
            <a:ext cx="182880" cy="182880"/>
          </a:xfrm>
          <a:prstGeom prst="ellipse">
            <a:avLst/>
          </a:prstGeom>
          <a:solidFill>
            <a:srgbClr val="B9B4A8"/>
          </a:solidFill>
          <a:ln w="12700">
            <a:solidFill>
              <a:srgbClr val="B9B4A8"/>
            </a:solidFill>
            <a:prstDash val="solid"/>
          </a:ln>
        </p:spPr>
        <p:txBody>
          <a:bodyPr/>
          <a:p/>
        </p:txBody>
      </p:sp>
      <p:sp>
        <p:nvSpPr>
          <p:cNvPr id="45" name="Shape 43"/>
          <p:cNvSpPr/>
          <p:nvPr/>
        </p:nvSpPr>
        <p:spPr>
          <a:xfrm>
            <a:off x="2194560" y="2971800"/>
            <a:ext cx="182880" cy="182880"/>
          </a:xfrm>
          <a:prstGeom prst="ellipse">
            <a:avLst/>
          </a:prstGeom>
          <a:solidFill>
            <a:srgbClr val="B9B4A8"/>
          </a:solidFill>
          <a:ln w="12700">
            <a:solidFill>
              <a:srgbClr val="B9B4A8"/>
            </a:solidFill>
            <a:prstDash val="solid"/>
          </a:ln>
        </p:spPr>
        <p:txBody>
          <a:bodyPr/>
          <a:p/>
        </p:txBody>
      </p:sp>
      <p:sp>
        <p:nvSpPr>
          <p:cNvPr id="46" name="Shape 44"/>
          <p:cNvSpPr/>
          <p:nvPr/>
        </p:nvSpPr>
        <p:spPr>
          <a:xfrm>
            <a:off x="2468880" y="2971800"/>
            <a:ext cx="182880" cy="182880"/>
          </a:xfrm>
          <a:prstGeom prst="ellipse">
            <a:avLst/>
          </a:prstGeom>
          <a:solidFill>
            <a:srgbClr val="B9B4A8"/>
          </a:solidFill>
          <a:ln w="12700">
            <a:solidFill>
              <a:srgbClr val="B9B4A8"/>
            </a:solidFill>
            <a:prstDash val="solid"/>
          </a:ln>
        </p:spPr>
        <p:txBody>
          <a:bodyPr/>
          <a:p/>
        </p:txBody>
      </p:sp>
      <p:sp>
        <p:nvSpPr>
          <p:cNvPr id="47" name="Shape 45"/>
          <p:cNvSpPr/>
          <p:nvPr/>
        </p:nvSpPr>
        <p:spPr>
          <a:xfrm>
            <a:off x="2743200" y="2971800"/>
            <a:ext cx="182880" cy="182880"/>
          </a:xfrm>
          <a:prstGeom prst="ellipse">
            <a:avLst/>
          </a:prstGeom>
          <a:solidFill>
            <a:srgbClr val="B9B4A8"/>
          </a:solidFill>
          <a:ln w="12700">
            <a:solidFill>
              <a:srgbClr val="B9B4A8"/>
            </a:solidFill>
            <a:prstDash val="solid"/>
          </a:ln>
        </p:spPr>
        <p:txBody>
          <a:bodyPr/>
          <a:p/>
        </p:txBody>
      </p:sp>
      <p:sp>
        <p:nvSpPr>
          <p:cNvPr id="48" name="Shape 46"/>
          <p:cNvSpPr/>
          <p:nvPr/>
        </p:nvSpPr>
        <p:spPr>
          <a:xfrm>
            <a:off x="3017520" y="2971800"/>
            <a:ext cx="182880" cy="182880"/>
          </a:xfrm>
          <a:prstGeom prst="ellipse">
            <a:avLst/>
          </a:prstGeom>
          <a:solidFill>
            <a:srgbClr val="B9B4A8"/>
          </a:solidFill>
          <a:ln w="12700">
            <a:solidFill>
              <a:srgbClr val="B9B4A8"/>
            </a:solidFill>
            <a:prstDash val="solid"/>
          </a:ln>
        </p:spPr>
        <p:txBody>
          <a:bodyPr/>
          <a:p/>
        </p:txBody>
      </p:sp>
      <p:sp>
        <p:nvSpPr>
          <p:cNvPr id="49" name="Shape 47"/>
          <p:cNvSpPr/>
          <p:nvPr/>
        </p:nvSpPr>
        <p:spPr>
          <a:xfrm>
            <a:off x="822960" y="3246120"/>
            <a:ext cx="182880" cy="182880"/>
          </a:xfrm>
          <a:prstGeom prst="ellipse">
            <a:avLst/>
          </a:prstGeom>
          <a:solidFill>
            <a:srgbClr val="B9B4A8"/>
          </a:solidFill>
          <a:ln w="12700">
            <a:solidFill>
              <a:srgbClr val="B9B4A8"/>
            </a:solidFill>
            <a:prstDash val="solid"/>
          </a:ln>
        </p:spPr>
        <p:txBody>
          <a:bodyPr/>
          <a:p/>
        </p:txBody>
      </p:sp>
      <p:sp>
        <p:nvSpPr>
          <p:cNvPr id="50" name="Shape 48"/>
          <p:cNvSpPr/>
          <p:nvPr/>
        </p:nvSpPr>
        <p:spPr>
          <a:xfrm>
            <a:off x="1097280" y="3246120"/>
            <a:ext cx="182880" cy="182880"/>
          </a:xfrm>
          <a:prstGeom prst="ellipse">
            <a:avLst/>
          </a:prstGeom>
          <a:solidFill>
            <a:srgbClr val="B9B4A8"/>
          </a:solidFill>
          <a:ln w="12700">
            <a:solidFill>
              <a:srgbClr val="B9B4A8"/>
            </a:solidFill>
            <a:prstDash val="solid"/>
          </a:ln>
        </p:spPr>
        <p:txBody>
          <a:bodyPr/>
          <a:p/>
        </p:txBody>
      </p:sp>
      <p:sp>
        <p:nvSpPr>
          <p:cNvPr id="51" name="Shape 49"/>
          <p:cNvSpPr/>
          <p:nvPr/>
        </p:nvSpPr>
        <p:spPr>
          <a:xfrm>
            <a:off x="1371600" y="3246120"/>
            <a:ext cx="182880" cy="182880"/>
          </a:xfrm>
          <a:prstGeom prst="ellipse">
            <a:avLst/>
          </a:prstGeom>
          <a:solidFill>
            <a:srgbClr val="B9B4A8"/>
          </a:solidFill>
          <a:ln w="12700">
            <a:solidFill>
              <a:srgbClr val="B9B4A8"/>
            </a:solidFill>
            <a:prstDash val="solid"/>
          </a:ln>
        </p:spPr>
        <p:txBody>
          <a:bodyPr/>
          <a:p/>
        </p:txBody>
      </p:sp>
      <p:sp>
        <p:nvSpPr>
          <p:cNvPr id="52" name="Shape 50"/>
          <p:cNvSpPr/>
          <p:nvPr/>
        </p:nvSpPr>
        <p:spPr>
          <a:xfrm>
            <a:off x="1645920" y="3246120"/>
            <a:ext cx="182880" cy="182880"/>
          </a:xfrm>
          <a:prstGeom prst="ellipse">
            <a:avLst/>
          </a:prstGeom>
          <a:solidFill>
            <a:srgbClr val="B9B4A8"/>
          </a:solidFill>
          <a:ln w="12700">
            <a:solidFill>
              <a:srgbClr val="B9B4A8"/>
            </a:solidFill>
            <a:prstDash val="solid"/>
          </a:ln>
        </p:spPr>
        <p:txBody>
          <a:bodyPr/>
          <a:p/>
        </p:txBody>
      </p:sp>
      <p:sp>
        <p:nvSpPr>
          <p:cNvPr id="53" name="Shape 51"/>
          <p:cNvSpPr/>
          <p:nvPr/>
        </p:nvSpPr>
        <p:spPr>
          <a:xfrm>
            <a:off x="1920240" y="3246120"/>
            <a:ext cx="182880" cy="182880"/>
          </a:xfrm>
          <a:prstGeom prst="ellipse">
            <a:avLst/>
          </a:prstGeom>
          <a:solidFill>
            <a:srgbClr val="B9B4A8"/>
          </a:solidFill>
          <a:ln w="12700">
            <a:solidFill>
              <a:srgbClr val="B9B4A8"/>
            </a:solidFill>
            <a:prstDash val="solid"/>
          </a:ln>
        </p:spPr>
        <p:txBody>
          <a:bodyPr/>
          <a:p/>
        </p:txBody>
      </p:sp>
      <p:sp>
        <p:nvSpPr>
          <p:cNvPr id="54" name="Shape 52"/>
          <p:cNvSpPr/>
          <p:nvPr/>
        </p:nvSpPr>
        <p:spPr>
          <a:xfrm>
            <a:off x="2194560" y="3246120"/>
            <a:ext cx="182880" cy="182880"/>
          </a:xfrm>
          <a:prstGeom prst="ellipse">
            <a:avLst/>
          </a:prstGeom>
          <a:solidFill>
            <a:srgbClr val="B9B4A8"/>
          </a:solidFill>
          <a:ln w="12700">
            <a:solidFill>
              <a:srgbClr val="B9B4A8"/>
            </a:solidFill>
            <a:prstDash val="solid"/>
          </a:ln>
        </p:spPr>
        <p:txBody>
          <a:bodyPr/>
          <a:p/>
        </p:txBody>
      </p:sp>
      <p:sp>
        <p:nvSpPr>
          <p:cNvPr id="55" name="Shape 53"/>
          <p:cNvSpPr/>
          <p:nvPr/>
        </p:nvSpPr>
        <p:spPr>
          <a:xfrm>
            <a:off x="2468880" y="3246120"/>
            <a:ext cx="182880" cy="182880"/>
          </a:xfrm>
          <a:prstGeom prst="ellipse">
            <a:avLst/>
          </a:prstGeom>
          <a:solidFill>
            <a:srgbClr val="B9B4A8"/>
          </a:solidFill>
          <a:ln w="12700">
            <a:solidFill>
              <a:srgbClr val="B9B4A8"/>
            </a:solidFill>
            <a:prstDash val="solid"/>
          </a:ln>
        </p:spPr>
        <p:txBody>
          <a:bodyPr/>
          <a:p/>
        </p:txBody>
      </p:sp>
      <p:sp>
        <p:nvSpPr>
          <p:cNvPr id="56" name="Shape 54"/>
          <p:cNvSpPr/>
          <p:nvPr/>
        </p:nvSpPr>
        <p:spPr>
          <a:xfrm>
            <a:off x="2743200" y="3246120"/>
            <a:ext cx="182880" cy="182880"/>
          </a:xfrm>
          <a:prstGeom prst="ellipse">
            <a:avLst/>
          </a:prstGeom>
          <a:solidFill>
            <a:srgbClr val="B9B4A8"/>
          </a:solidFill>
          <a:ln w="12700">
            <a:solidFill>
              <a:srgbClr val="B9B4A8"/>
            </a:solidFill>
            <a:prstDash val="solid"/>
          </a:ln>
        </p:spPr>
        <p:txBody>
          <a:bodyPr/>
          <a:p/>
        </p:txBody>
      </p:sp>
      <p:sp>
        <p:nvSpPr>
          <p:cNvPr id="57" name="Shape 55"/>
          <p:cNvSpPr/>
          <p:nvPr/>
        </p:nvSpPr>
        <p:spPr>
          <a:xfrm>
            <a:off x="3017520" y="3246120"/>
            <a:ext cx="182880" cy="182880"/>
          </a:xfrm>
          <a:prstGeom prst="ellipse">
            <a:avLst/>
          </a:prstGeom>
          <a:solidFill>
            <a:srgbClr val="B9B4A8"/>
          </a:solidFill>
          <a:ln w="12700">
            <a:solidFill>
              <a:srgbClr val="B9B4A8"/>
            </a:solidFill>
            <a:prstDash val="solid"/>
          </a:ln>
        </p:spPr>
        <p:txBody>
          <a:bodyPr/>
          <a:p/>
        </p:txBody>
      </p:sp>
      <p:sp>
        <p:nvSpPr>
          <p:cNvPr id="58" name="Shape 56"/>
          <p:cNvSpPr/>
          <p:nvPr/>
        </p:nvSpPr>
        <p:spPr>
          <a:xfrm>
            <a:off x="822960" y="3520440"/>
            <a:ext cx="182880" cy="182880"/>
          </a:xfrm>
          <a:prstGeom prst="ellipse">
            <a:avLst/>
          </a:prstGeom>
          <a:solidFill>
            <a:srgbClr val="B02532"/>
          </a:solidFill>
          <a:ln w="12700">
            <a:solidFill>
              <a:srgbClr val="B02532"/>
            </a:solidFill>
            <a:prstDash val="solid"/>
          </a:ln>
        </p:spPr>
        <p:txBody>
          <a:bodyPr/>
          <a:p/>
        </p:txBody>
      </p:sp>
      <p:sp>
        <p:nvSpPr>
          <p:cNvPr id="59" name="Shape 57"/>
          <p:cNvSpPr/>
          <p:nvPr/>
        </p:nvSpPr>
        <p:spPr>
          <a:xfrm>
            <a:off x="1097280" y="3520440"/>
            <a:ext cx="182880" cy="182880"/>
          </a:xfrm>
          <a:prstGeom prst="ellipse">
            <a:avLst/>
          </a:prstGeom>
          <a:solidFill>
            <a:srgbClr val="B02532"/>
          </a:solidFill>
          <a:ln w="12700">
            <a:solidFill>
              <a:srgbClr val="B02532"/>
            </a:solidFill>
            <a:prstDash val="solid"/>
          </a:ln>
        </p:spPr>
        <p:txBody>
          <a:bodyPr/>
          <a:p/>
        </p:txBody>
      </p:sp>
      <p:sp>
        <p:nvSpPr>
          <p:cNvPr id="60" name="Shape 58"/>
          <p:cNvSpPr/>
          <p:nvPr/>
        </p:nvSpPr>
        <p:spPr>
          <a:xfrm>
            <a:off x="1371600" y="3520440"/>
            <a:ext cx="182880" cy="182880"/>
          </a:xfrm>
          <a:prstGeom prst="ellipse">
            <a:avLst/>
          </a:prstGeom>
          <a:solidFill>
            <a:srgbClr val="B02532"/>
          </a:solidFill>
          <a:ln w="12700">
            <a:solidFill>
              <a:srgbClr val="B02532"/>
            </a:solidFill>
            <a:prstDash val="solid"/>
          </a:ln>
        </p:spPr>
        <p:txBody>
          <a:bodyPr/>
          <a:p/>
        </p:txBody>
      </p:sp>
      <p:sp>
        <p:nvSpPr>
          <p:cNvPr id="61" name="Shape 59"/>
          <p:cNvSpPr/>
          <p:nvPr/>
        </p:nvSpPr>
        <p:spPr>
          <a:xfrm>
            <a:off x="1645920" y="3520440"/>
            <a:ext cx="182880" cy="182880"/>
          </a:xfrm>
          <a:prstGeom prst="ellipse">
            <a:avLst/>
          </a:prstGeom>
          <a:solidFill>
            <a:srgbClr val="B02532"/>
          </a:solidFill>
          <a:ln w="12700">
            <a:solidFill>
              <a:srgbClr val="B02532"/>
            </a:solidFill>
            <a:prstDash val="solid"/>
          </a:ln>
        </p:spPr>
        <p:txBody>
          <a:bodyPr/>
          <a:p/>
        </p:txBody>
      </p:sp>
      <p:sp>
        <p:nvSpPr>
          <p:cNvPr id="62" name="Shape 60"/>
          <p:cNvSpPr/>
          <p:nvPr/>
        </p:nvSpPr>
        <p:spPr>
          <a:xfrm>
            <a:off x="1920240" y="3520440"/>
            <a:ext cx="182880" cy="182880"/>
          </a:xfrm>
          <a:prstGeom prst="ellipse">
            <a:avLst/>
          </a:prstGeom>
          <a:solidFill>
            <a:srgbClr val="B02532"/>
          </a:solidFill>
          <a:ln w="12700">
            <a:solidFill>
              <a:srgbClr val="B02532"/>
            </a:solidFill>
            <a:prstDash val="solid"/>
          </a:ln>
        </p:spPr>
        <p:txBody>
          <a:bodyPr/>
          <a:p/>
        </p:txBody>
      </p:sp>
      <p:sp>
        <p:nvSpPr>
          <p:cNvPr id="63" name="Shape 61"/>
          <p:cNvSpPr/>
          <p:nvPr/>
        </p:nvSpPr>
        <p:spPr>
          <a:xfrm>
            <a:off x="2194560" y="3520440"/>
            <a:ext cx="182880" cy="182880"/>
          </a:xfrm>
          <a:prstGeom prst="ellipse">
            <a:avLst/>
          </a:prstGeom>
          <a:solidFill>
            <a:srgbClr val="B02532"/>
          </a:solidFill>
          <a:ln w="12700">
            <a:solidFill>
              <a:srgbClr val="B02532"/>
            </a:solidFill>
            <a:prstDash val="solid"/>
          </a:ln>
        </p:spPr>
        <p:txBody>
          <a:bodyPr/>
          <a:p/>
        </p:txBody>
      </p:sp>
      <p:sp>
        <p:nvSpPr>
          <p:cNvPr id="64" name="Shape 62"/>
          <p:cNvSpPr/>
          <p:nvPr/>
        </p:nvSpPr>
        <p:spPr>
          <a:xfrm>
            <a:off x="2468880" y="3520440"/>
            <a:ext cx="182880" cy="182880"/>
          </a:xfrm>
          <a:prstGeom prst="ellipse">
            <a:avLst/>
          </a:prstGeom>
          <a:solidFill>
            <a:srgbClr val="B02532"/>
          </a:solidFill>
          <a:ln w="12700">
            <a:solidFill>
              <a:srgbClr val="B02532"/>
            </a:solidFill>
            <a:prstDash val="solid"/>
          </a:ln>
        </p:spPr>
        <p:txBody>
          <a:bodyPr/>
          <a:p/>
        </p:txBody>
      </p:sp>
      <p:sp>
        <p:nvSpPr>
          <p:cNvPr id="65" name="Shape 63"/>
          <p:cNvSpPr/>
          <p:nvPr/>
        </p:nvSpPr>
        <p:spPr>
          <a:xfrm>
            <a:off x="2743200" y="3520440"/>
            <a:ext cx="182880" cy="182880"/>
          </a:xfrm>
          <a:prstGeom prst="ellipse">
            <a:avLst/>
          </a:prstGeom>
          <a:solidFill>
            <a:srgbClr val="B02532"/>
          </a:solidFill>
          <a:ln w="12700">
            <a:solidFill>
              <a:srgbClr val="B02532"/>
            </a:solidFill>
            <a:prstDash val="solid"/>
          </a:ln>
        </p:spPr>
        <p:txBody>
          <a:bodyPr/>
          <a:p/>
        </p:txBody>
      </p:sp>
      <p:sp>
        <p:nvSpPr>
          <p:cNvPr id="66" name="Shape 64"/>
          <p:cNvSpPr/>
          <p:nvPr/>
        </p:nvSpPr>
        <p:spPr>
          <a:xfrm>
            <a:off x="3017520" y="3520440"/>
            <a:ext cx="182880" cy="182880"/>
          </a:xfrm>
          <a:prstGeom prst="ellipse">
            <a:avLst/>
          </a:prstGeom>
          <a:solidFill>
            <a:srgbClr val="B02532"/>
          </a:solidFill>
          <a:ln w="12700">
            <a:solidFill>
              <a:srgbClr val="B02532"/>
            </a:solidFill>
            <a:prstDash val="solid"/>
          </a:ln>
        </p:spPr>
        <p:txBody>
          <a:bodyPr/>
          <a:p/>
        </p:txBody>
      </p:sp>
      <p:sp>
        <p:nvSpPr>
          <p:cNvPr id="67" name="Shape 65"/>
          <p:cNvSpPr/>
          <p:nvPr/>
        </p:nvSpPr>
        <p:spPr>
          <a:xfrm>
            <a:off x="822960" y="3794760"/>
            <a:ext cx="182880" cy="182880"/>
          </a:xfrm>
          <a:prstGeom prst="ellipse">
            <a:avLst/>
          </a:prstGeom>
          <a:solidFill>
            <a:srgbClr val="B9B4A8"/>
          </a:solidFill>
          <a:ln w="12700">
            <a:solidFill>
              <a:srgbClr val="B9B4A8"/>
            </a:solidFill>
            <a:prstDash val="solid"/>
          </a:ln>
        </p:spPr>
        <p:txBody>
          <a:bodyPr/>
          <a:p/>
        </p:txBody>
      </p:sp>
      <p:sp>
        <p:nvSpPr>
          <p:cNvPr id="68" name="Shape 66"/>
          <p:cNvSpPr/>
          <p:nvPr/>
        </p:nvSpPr>
        <p:spPr>
          <a:xfrm>
            <a:off x="1097280" y="3794760"/>
            <a:ext cx="182880" cy="182880"/>
          </a:xfrm>
          <a:prstGeom prst="ellipse">
            <a:avLst/>
          </a:prstGeom>
          <a:solidFill>
            <a:srgbClr val="B9B4A8"/>
          </a:solidFill>
          <a:ln w="12700">
            <a:solidFill>
              <a:srgbClr val="B9B4A8"/>
            </a:solidFill>
            <a:prstDash val="solid"/>
          </a:ln>
        </p:spPr>
        <p:txBody>
          <a:bodyPr/>
          <a:p/>
        </p:txBody>
      </p:sp>
      <p:sp>
        <p:nvSpPr>
          <p:cNvPr id="69" name="Shape 67"/>
          <p:cNvSpPr/>
          <p:nvPr/>
        </p:nvSpPr>
        <p:spPr>
          <a:xfrm>
            <a:off x="1371600" y="3794760"/>
            <a:ext cx="182880" cy="182880"/>
          </a:xfrm>
          <a:prstGeom prst="ellipse">
            <a:avLst/>
          </a:prstGeom>
          <a:solidFill>
            <a:srgbClr val="B9B4A8"/>
          </a:solidFill>
          <a:ln w="12700">
            <a:solidFill>
              <a:srgbClr val="B9B4A8"/>
            </a:solidFill>
            <a:prstDash val="solid"/>
          </a:ln>
        </p:spPr>
        <p:txBody>
          <a:bodyPr/>
          <a:p/>
        </p:txBody>
      </p:sp>
      <p:sp>
        <p:nvSpPr>
          <p:cNvPr id="70" name="Shape 68"/>
          <p:cNvSpPr/>
          <p:nvPr/>
        </p:nvSpPr>
        <p:spPr>
          <a:xfrm>
            <a:off x="1645920" y="3794760"/>
            <a:ext cx="182880" cy="182880"/>
          </a:xfrm>
          <a:prstGeom prst="ellipse">
            <a:avLst/>
          </a:prstGeom>
          <a:solidFill>
            <a:srgbClr val="B9B4A8"/>
          </a:solidFill>
          <a:ln w="12700">
            <a:solidFill>
              <a:srgbClr val="B9B4A8"/>
            </a:solidFill>
            <a:prstDash val="solid"/>
          </a:ln>
        </p:spPr>
        <p:txBody>
          <a:bodyPr/>
          <a:p/>
        </p:txBody>
      </p:sp>
      <p:sp>
        <p:nvSpPr>
          <p:cNvPr id="71" name="Shape 69"/>
          <p:cNvSpPr/>
          <p:nvPr/>
        </p:nvSpPr>
        <p:spPr>
          <a:xfrm>
            <a:off x="1920240" y="3794760"/>
            <a:ext cx="182880" cy="182880"/>
          </a:xfrm>
          <a:prstGeom prst="ellipse">
            <a:avLst/>
          </a:prstGeom>
          <a:solidFill>
            <a:srgbClr val="B9B4A8"/>
          </a:solidFill>
          <a:ln w="12700">
            <a:solidFill>
              <a:srgbClr val="B9B4A8"/>
            </a:solidFill>
            <a:prstDash val="solid"/>
          </a:ln>
        </p:spPr>
        <p:txBody>
          <a:bodyPr/>
          <a:p/>
        </p:txBody>
      </p:sp>
      <p:sp>
        <p:nvSpPr>
          <p:cNvPr id="72" name="Shape 70"/>
          <p:cNvSpPr/>
          <p:nvPr/>
        </p:nvSpPr>
        <p:spPr>
          <a:xfrm>
            <a:off x="2194560" y="3794760"/>
            <a:ext cx="182880" cy="182880"/>
          </a:xfrm>
          <a:prstGeom prst="ellipse">
            <a:avLst/>
          </a:prstGeom>
          <a:solidFill>
            <a:srgbClr val="B9B4A8"/>
          </a:solidFill>
          <a:ln w="12700">
            <a:solidFill>
              <a:srgbClr val="B9B4A8"/>
            </a:solidFill>
            <a:prstDash val="solid"/>
          </a:ln>
        </p:spPr>
        <p:txBody>
          <a:bodyPr/>
          <a:p/>
        </p:txBody>
      </p:sp>
      <p:sp>
        <p:nvSpPr>
          <p:cNvPr id="73" name="Shape 71"/>
          <p:cNvSpPr/>
          <p:nvPr/>
        </p:nvSpPr>
        <p:spPr>
          <a:xfrm>
            <a:off x="2468880" y="3794760"/>
            <a:ext cx="182880" cy="182880"/>
          </a:xfrm>
          <a:prstGeom prst="ellipse">
            <a:avLst/>
          </a:prstGeom>
          <a:solidFill>
            <a:srgbClr val="B9B4A8"/>
          </a:solidFill>
          <a:ln w="12700">
            <a:solidFill>
              <a:srgbClr val="B9B4A8"/>
            </a:solidFill>
            <a:prstDash val="solid"/>
          </a:ln>
        </p:spPr>
        <p:txBody>
          <a:bodyPr/>
          <a:p/>
        </p:txBody>
      </p:sp>
      <p:sp>
        <p:nvSpPr>
          <p:cNvPr id="74" name="Shape 72"/>
          <p:cNvSpPr/>
          <p:nvPr/>
        </p:nvSpPr>
        <p:spPr>
          <a:xfrm>
            <a:off x="2743200" y="3794760"/>
            <a:ext cx="182880" cy="182880"/>
          </a:xfrm>
          <a:prstGeom prst="ellipse">
            <a:avLst/>
          </a:prstGeom>
          <a:solidFill>
            <a:srgbClr val="B9B4A8"/>
          </a:solidFill>
          <a:ln w="12700">
            <a:solidFill>
              <a:srgbClr val="B9B4A8"/>
            </a:solidFill>
            <a:prstDash val="solid"/>
          </a:ln>
        </p:spPr>
        <p:txBody>
          <a:bodyPr/>
          <a:p/>
        </p:txBody>
      </p:sp>
      <p:sp>
        <p:nvSpPr>
          <p:cNvPr id="75" name="Shape 73"/>
          <p:cNvSpPr/>
          <p:nvPr/>
        </p:nvSpPr>
        <p:spPr>
          <a:xfrm>
            <a:off x="3017520" y="3794760"/>
            <a:ext cx="182880" cy="182880"/>
          </a:xfrm>
          <a:prstGeom prst="ellipse">
            <a:avLst/>
          </a:prstGeom>
          <a:solidFill>
            <a:srgbClr val="B9B4A8"/>
          </a:solidFill>
          <a:ln w="12700">
            <a:solidFill>
              <a:srgbClr val="B9B4A8"/>
            </a:solidFill>
            <a:prstDash val="solid"/>
          </a:ln>
        </p:spPr>
        <p:txBody>
          <a:bodyPr/>
          <a:p/>
        </p:txBody>
      </p:sp>
      <p:sp>
        <p:nvSpPr>
          <p:cNvPr id="76" name="Shape 74"/>
          <p:cNvSpPr/>
          <p:nvPr/>
        </p:nvSpPr>
        <p:spPr>
          <a:xfrm>
            <a:off x="822960" y="4069080"/>
            <a:ext cx="182880" cy="182880"/>
          </a:xfrm>
          <a:prstGeom prst="ellipse">
            <a:avLst/>
          </a:prstGeom>
          <a:solidFill>
            <a:srgbClr val="B9B4A8"/>
          </a:solidFill>
          <a:ln w="12700">
            <a:solidFill>
              <a:srgbClr val="B9B4A8"/>
            </a:solidFill>
            <a:prstDash val="solid"/>
          </a:ln>
        </p:spPr>
        <p:txBody>
          <a:bodyPr/>
          <a:p/>
        </p:txBody>
      </p:sp>
      <p:sp>
        <p:nvSpPr>
          <p:cNvPr id="77" name="Shape 75"/>
          <p:cNvSpPr/>
          <p:nvPr/>
        </p:nvSpPr>
        <p:spPr>
          <a:xfrm>
            <a:off x="1097280" y="4069080"/>
            <a:ext cx="182880" cy="182880"/>
          </a:xfrm>
          <a:prstGeom prst="ellipse">
            <a:avLst/>
          </a:prstGeom>
          <a:solidFill>
            <a:srgbClr val="B9B4A8"/>
          </a:solidFill>
          <a:ln w="12700">
            <a:solidFill>
              <a:srgbClr val="B9B4A8"/>
            </a:solidFill>
            <a:prstDash val="solid"/>
          </a:ln>
        </p:spPr>
        <p:txBody>
          <a:bodyPr/>
          <a:p/>
        </p:txBody>
      </p:sp>
      <p:sp>
        <p:nvSpPr>
          <p:cNvPr id="78" name="Shape 76"/>
          <p:cNvSpPr/>
          <p:nvPr/>
        </p:nvSpPr>
        <p:spPr>
          <a:xfrm>
            <a:off x="1371600" y="4069080"/>
            <a:ext cx="182880" cy="182880"/>
          </a:xfrm>
          <a:prstGeom prst="ellipse">
            <a:avLst/>
          </a:prstGeom>
          <a:solidFill>
            <a:srgbClr val="B9B4A8"/>
          </a:solidFill>
          <a:ln w="12700">
            <a:solidFill>
              <a:srgbClr val="B9B4A8"/>
            </a:solidFill>
            <a:prstDash val="solid"/>
          </a:ln>
        </p:spPr>
        <p:txBody>
          <a:bodyPr/>
          <a:p/>
        </p:txBody>
      </p:sp>
      <p:sp>
        <p:nvSpPr>
          <p:cNvPr id="79" name="Shape 77"/>
          <p:cNvSpPr/>
          <p:nvPr/>
        </p:nvSpPr>
        <p:spPr>
          <a:xfrm>
            <a:off x="1645920" y="4069080"/>
            <a:ext cx="182880" cy="182880"/>
          </a:xfrm>
          <a:prstGeom prst="ellipse">
            <a:avLst/>
          </a:prstGeom>
          <a:solidFill>
            <a:srgbClr val="B9B4A8"/>
          </a:solidFill>
          <a:ln w="12700">
            <a:solidFill>
              <a:srgbClr val="B9B4A8"/>
            </a:solidFill>
            <a:prstDash val="solid"/>
          </a:ln>
        </p:spPr>
        <p:txBody>
          <a:bodyPr/>
          <a:p/>
        </p:txBody>
      </p:sp>
      <p:sp>
        <p:nvSpPr>
          <p:cNvPr id="80" name="Shape 78"/>
          <p:cNvSpPr/>
          <p:nvPr/>
        </p:nvSpPr>
        <p:spPr>
          <a:xfrm>
            <a:off x="1920240" y="4069080"/>
            <a:ext cx="182880" cy="182880"/>
          </a:xfrm>
          <a:prstGeom prst="ellipse">
            <a:avLst/>
          </a:prstGeom>
          <a:solidFill>
            <a:srgbClr val="B9B4A8"/>
          </a:solidFill>
          <a:ln w="12700">
            <a:solidFill>
              <a:srgbClr val="B9B4A8"/>
            </a:solidFill>
            <a:prstDash val="solid"/>
          </a:ln>
        </p:spPr>
        <p:txBody>
          <a:bodyPr/>
          <a:p/>
        </p:txBody>
      </p:sp>
      <p:sp>
        <p:nvSpPr>
          <p:cNvPr id="81" name="Shape 79"/>
          <p:cNvSpPr/>
          <p:nvPr/>
        </p:nvSpPr>
        <p:spPr>
          <a:xfrm>
            <a:off x="2194560" y="4069080"/>
            <a:ext cx="182880" cy="182880"/>
          </a:xfrm>
          <a:prstGeom prst="ellipse">
            <a:avLst/>
          </a:prstGeom>
          <a:solidFill>
            <a:srgbClr val="B9B4A8"/>
          </a:solidFill>
          <a:ln w="12700">
            <a:solidFill>
              <a:srgbClr val="B9B4A8"/>
            </a:solidFill>
            <a:prstDash val="solid"/>
          </a:ln>
        </p:spPr>
        <p:txBody>
          <a:bodyPr/>
          <a:p/>
        </p:txBody>
      </p:sp>
      <p:sp>
        <p:nvSpPr>
          <p:cNvPr id="82" name="Shape 80"/>
          <p:cNvSpPr/>
          <p:nvPr/>
        </p:nvSpPr>
        <p:spPr>
          <a:xfrm>
            <a:off x="2468880" y="4069080"/>
            <a:ext cx="182880" cy="182880"/>
          </a:xfrm>
          <a:prstGeom prst="ellipse">
            <a:avLst/>
          </a:prstGeom>
          <a:solidFill>
            <a:srgbClr val="B9B4A8"/>
          </a:solidFill>
          <a:ln w="12700">
            <a:solidFill>
              <a:srgbClr val="B9B4A8"/>
            </a:solidFill>
            <a:prstDash val="solid"/>
          </a:ln>
        </p:spPr>
        <p:txBody>
          <a:bodyPr/>
          <a:p/>
        </p:txBody>
      </p:sp>
      <p:sp>
        <p:nvSpPr>
          <p:cNvPr id="83" name="Shape 81"/>
          <p:cNvSpPr/>
          <p:nvPr/>
        </p:nvSpPr>
        <p:spPr>
          <a:xfrm>
            <a:off x="2743200" y="4069080"/>
            <a:ext cx="182880" cy="182880"/>
          </a:xfrm>
          <a:prstGeom prst="ellipse">
            <a:avLst/>
          </a:prstGeom>
          <a:solidFill>
            <a:srgbClr val="B9B4A8"/>
          </a:solidFill>
          <a:ln w="12700">
            <a:solidFill>
              <a:srgbClr val="B9B4A8"/>
            </a:solidFill>
            <a:prstDash val="solid"/>
          </a:ln>
        </p:spPr>
        <p:txBody>
          <a:bodyPr/>
          <a:p/>
        </p:txBody>
      </p:sp>
      <p:sp>
        <p:nvSpPr>
          <p:cNvPr id="84" name="Shape 82"/>
          <p:cNvSpPr/>
          <p:nvPr/>
        </p:nvSpPr>
        <p:spPr>
          <a:xfrm>
            <a:off x="3017520" y="4069080"/>
            <a:ext cx="182880" cy="182880"/>
          </a:xfrm>
          <a:prstGeom prst="ellipse">
            <a:avLst/>
          </a:prstGeom>
          <a:solidFill>
            <a:srgbClr val="B9B4A8"/>
          </a:solidFill>
          <a:ln w="12700">
            <a:solidFill>
              <a:srgbClr val="B9B4A8"/>
            </a:solidFill>
            <a:prstDash val="solid"/>
          </a:ln>
        </p:spPr>
        <p:txBody>
          <a:bodyPr/>
          <a:p/>
        </p:txBody>
      </p:sp>
      <p:sp>
        <p:nvSpPr>
          <p:cNvPr id="85" name="Shape 83"/>
          <p:cNvSpPr/>
          <p:nvPr/>
        </p:nvSpPr>
        <p:spPr>
          <a:xfrm>
            <a:off x="822960" y="4343400"/>
            <a:ext cx="182880" cy="182880"/>
          </a:xfrm>
          <a:prstGeom prst="ellipse">
            <a:avLst/>
          </a:prstGeom>
          <a:solidFill>
            <a:srgbClr val="B9B4A8"/>
          </a:solidFill>
          <a:ln w="12700">
            <a:solidFill>
              <a:srgbClr val="B9B4A8"/>
            </a:solidFill>
            <a:prstDash val="solid"/>
          </a:ln>
        </p:spPr>
        <p:txBody>
          <a:bodyPr/>
          <a:p/>
        </p:txBody>
      </p:sp>
      <p:sp>
        <p:nvSpPr>
          <p:cNvPr id="86" name="Shape 84"/>
          <p:cNvSpPr/>
          <p:nvPr/>
        </p:nvSpPr>
        <p:spPr>
          <a:xfrm>
            <a:off x="1097280" y="4343400"/>
            <a:ext cx="182880" cy="182880"/>
          </a:xfrm>
          <a:prstGeom prst="ellipse">
            <a:avLst/>
          </a:prstGeom>
          <a:solidFill>
            <a:srgbClr val="B9B4A8"/>
          </a:solidFill>
          <a:ln w="12700">
            <a:solidFill>
              <a:srgbClr val="B9B4A8"/>
            </a:solidFill>
            <a:prstDash val="solid"/>
          </a:ln>
        </p:spPr>
        <p:txBody>
          <a:bodyPr/>
          <a:p/>
        </p:txBody>
      </p:sp>
      <p:sp>
        <p:nvSpPr>
          <p:cNvPr id="87" name="Shape 85"/>
          <p:cNvSpPr/>
          <p:nvPr/>
        </p:nvSpPr>
        <p:spPr>
          <a:xfrm>
            <a:off x="1371600" y="4343400"/>
            <a:ext cx="182880" cy="182880"/>
          </a:xfrm>
          <a:prstGeom prst="ellipse">
            <a:avLst/>
          </a:prstGeom>
          <a:solidFill>
            <a:srgbClr val="B9B4A8"/>
          </a:solidFill>
          <a:ln w="12700">
            <a:solidFill>
              <a:srgbClr val="B9B4A8"/>
            </a:solidFill>
            <a:prstDash val="solid"/>
          </a:ln>
        </p:spPr>
        <p:txBody>
          <a:bodyPr/>
          <a:p/>
        </p:txBody>
      </p:sp>
      <p:sp>
        <p:nvSpPr>
          <p:cNvPr id="88" name="Shape 86"/>
          <p:cNvSpPr/>
          <p:nvPr/>
        </p:nvSpPr>
        <p:spPr>
          <a:xfrm>
            <a:off x="1645920" y="4343400"/>
            <a:ext cx="182880" cy="182880"/>
          </a:xfrm>
          <a:prstGeom prst="ellipse">
            <a:avLst/>
          </a:prstGeom>
          <a:solidFill>
            <a:srgbClr val="B9B4A8"/>
          </a:solidFill>
          <a:ln w="12700">
            <a:solidFill>
              <a:srgbClr val="B9B4A8"/>
            </a:solidFill>
            <a:prstDash val="solid"/>
          </a:ln>
        </p:spPr>
        <p:txBody>
          <a:bodyPr/>
          <a:p/>
        </p:txBody>
      </p:sp>
      <p:sp>
        <p:nvSpPr>
          <p:cNvPr id="89" name="Shape 87"/>
          <p:cNvSpPr/>
          <p:nvPr/>
        </p:nvSpPr>
        <p:spPr>
          <a:xfrm>
            <a:off x="1920240" y="4343400"/>
            <a:ext cx="182880" cy="182880"/>
          </a:xfrm>
          <a:prstGeom prst="ellipse">
            <a:avLst/>
          </a:prstGeom>
          <a:solidFill>
            <a:srgbClr val="B9B4A8"/>
          </a:solidFill>
          <a:ln w="12700">
            <a:solidFill>
              <a:srgbClr val="B9B4A8"/>
            </a:solidFill>
            <a:prstDash val="solid"/>
          </a:ln>
        </p:spPr>
        <p:txBody>
          <a:bodyPr/>
          <a:p/>
        </p:txBody>
      </p:sp>
      <p:sp>
        <p:nvSpPr>
          <p:cNvPr id="90" name="Shape 88"/>
          <p:cNvSpPr/>
          <p:nvPr/>
        </p:nvSpPr>
        <p:spPr>
          <a:xfrm>
            <a:off x="2194560" y="4343400"/>
            <a:ext cx="182880" cy="182880"/>
          </a:xfrm>
          <a:prstGeom prst="ellipse">
            <a:avLst/>
          </a:prstGeom>
          <a:solidFill>
            <a:srgbClr val="B9B4A8"/>
          </a:solidFill>
          <a:ln w="12700">
            <a:solidFill>
              <a:srgbClr val="B9B4A8"/>
            </a:solidFill>
            <a:prstDash val="solid"/>
          </a:ln>
        </p:spPr>
        <p:txBody>
          <a:bodyPr/>
          <a:p/>
        </p:txBody>
      </p:sp>
      <p:sp>
        <p:nvSpPr>
          <p:cNvPr id="91" name="Shape 89"/>
          <p:cNvSpPr/>
          <p:nvPr/>
        </p:nvSpPr>
        <p:spPr>
          <a:xfrm>
            <a:off x="2468880" y="4343400"/>
            <a:ext cx="182880" cy="182880"/>
          </a:xfrm>
          <a:prstGeom prst="ellipse">
            <a:avLst/>
          </a:prstGeom>
          <a:solidFill>
            <a:srgbClr val="B9B4A8"/>
          </a:solidFill>
          <a:ln w="12700">
            <a:solidFill>
              <a:srgbClr val="B9B4A8"/>
            </a:solidFill>
            <a:prstDash val="solid"/>
          </a:ln>
        </p:spPr>
        <p:txBody>
          <a:bodyPr/>
          <a:p/>
        </p:txBody>
      </p:sp>
      <p:sp>
        <p:nvSpPr>
          <p:cNvPr id="92" name="Shape 90"/>
          <p:cNvSpPr/>
          <p:nvPr/>
        </p:nvSpPr>
        <p:spPr>
          <a:xfrm>
            <a:off x="2743200" y="4343400"/>
            <a:ext cx="182880" cy="182880"/>
          </a:xfrm>
          <a:prstGeom prst="ellipse">
            <a:avLst/>
          </a:prstGeom>
          <a:solidFill>
            <a:srgbClr val="B9B4A8"/>
          </a:solidFill>
          <a:ln w="12700">
            <a:solidFill>
              <a:srgbClr val="B9B4A8"/>
            </a:solidFill>
            <a:prstDash val="solid"/>
          </a:ln>
        </p:spPr>
        <p:txBody>
          <a:bodyPr/>
          <a:p/>
        </p:txBody>
      </p:sp>
      <p:sp>
        <p:nvSpPr>
          <p:cNvPr id="93" name="Shape 91"/>
          <p:cNvSpPr/>
          <p:nvPr/>
        </p:nvSpPr>
        <p:spPr>
          <a:xfrm>
            <a:off x="3017520" y="4343400"/>
            <a:ext cx="182880" cy="182880"/>
          </a:xfrm>
          <a:prstGeom prst="ellipse">
            <a:avLst/>
          </a:prstGeom>
          <a:solidFill>
            <a:srgbClr val="B9B4A8"/>
          </a:solidFill>
          <a:ln w="12700">
            <a:solidFill>
              <a:srgbClr val="B9B4A8"/>
            </a:solidFill>
            <a:prstDash val="solid"/>
          </a:ln>
        </p:spPr>
        <p:txBody>
          <a:bodyPr/>
          <a:p/>
        </p:txBody>
      </p:sp>
      <p:sp>
        <p:nvSpPr>
          <p:cNvPr id="94" name="Shape 92"/>
          <p:cNvSpPr/>
          <p:nvPr/>
        </p:nvSpPr>
        <p:spPr>
          <a:xfrm>
            <a:off x="822960" y="4617720"/>
            <a:ext cx="182880" cy="182880"/>
          </a:xfrm>
          <a:prstGeom prst="ellipse">
            <a:avLst/>
          </a:prstGeom>
          <a:solidFill>
            <a:srgbClr val="B9B4A8"/>
          </a:solidFill>
          <a:ln w="12700">
            <a:solidFill>
              <a:srgbClr val="B9B4A8"/>
            </a:solidFill>
            <a:prstDash val="solid"/>
          </a:ln>
        </p:spPr>
        <p:txBody>
          <a:bodyPr/>
          <a:p/>
        </p:txBody>
      </p:sp>
      <p:sp>
        <p:nvSpPr>
          <p:cNvPr id="95" name="Shape 93"/>
          <p:cNvSpPr/>
          <p:nvPr/>
        </p:nvSpPr>
        <p:spPr>
          <a:xfrm>
            <a:off x="1097280" y="4617720"/>
            <a:ext cx="182880" cy="182880"/>
          </a:xfrm>
          <a:prstGeom prst="ellipse">
            <a:avLst/>
          </a:prstGeom>
          <a:solidFill>
            <a:srgbClr val="B9B4A8"/>
          </a:solidFill>
          <a:ln w="12700">
            <a:solidFill>
              <a:srgbClr val="B9B4A8"/>
            </a:solidFill>
            <a:prstDash val="solid"/>
          </a:ln>
        </p:spPr>
        <p:txBody>
          <a:bodyPr/>
          <a:p/>
        </p:txBody>
      </p:sp>
      <p:sp>
        <p:nvSpPr>
          <p:cNvPr id="96" name="Shape 94"/>
          <p:cNvSpPr/>
          <p:nvPr/>
        </p:nvSpPr>
        <p:spPr>
          <a:xfrm>
            <a:off x="1371600" y="4617720"/>
            <a:ext cx="182880" cy="182880"/>
          </a:xfrm>
          <a:prstGeom prst="ellipse">
            <a:avLst/>
          </a:prstGeom>
          <a:solidFill>
            <a:srgbClr val="B9B4A8"/>
          </a:solidFill>
          <a:ln w="12700">
            <a:solidFill>
              <a:srgbClr val="B9B4A8"/>
            </a:solidFill>
            <a:prstDash val="solid"/>
          </a:ln>
        </p:spPr>
        <p:txBody>
          <a:bodyPr/>
          <a:p/>
        </p:txBody>
      </p:sp>
      <p:sp>
        <p:nvSpPr>
          <p:cNvPr id="97" name="Shape 95"/>
          <p:cNvSpPr/>
          <p:nvPr/>
        </p:nvSpPr>
        <p:spPr>
          <a:xfrm>
            <a:off x="1645920" y="4617720"/>
            <a:ext cx="182880" cy="182880"/>
          </a:xfrm>
          <a:prstGeom prst="ellipse">
            <a:avLst/>
          </a:prstGeom>
          <a:solidFill>
            <a:srgbClr val="B9B4A8"/>
          </a:solidFill>
          <a:ln w="12700">
            <a:solidFill>
              <a:srgbClr val="B9B4A8"/>
            </a:solidFill>
            <a:prstDash val="solid"/>
          </a:ln>
        </p:spPr>
        <p:txBody>
          <a:bodyPr/>
          <a:p/>
        </p:txBody>
      </p:sp>
      <p:sp>
        <p:nvSpPr>
          <p:cNvPr id="98" name="Shape 96"/>
          <p:cNvSpPr/>
          <p:nvPr/>
        </p:nvSpPr>
        <p:spPr>
          <a:xfrm>
            <a:off x="1920240" y="4617720"/>
            <a:ext cx="182880" cy="182880"/>
          </a:xfrm>
          <a:prstGeom prst="ellipse">
            <a:avLst/>
          </a:prstGeom>
          <a:solidFill>
            <a:srgbClr val="B9B4A8"/>
          </a:solidFill>
          <a:ln w="12700">
            <a:solidFill>
              <a:srgbClr val="B9B4A8"/>
            </a:solidFill>
            <a:prstDash val="solid"/>
          </a:ln>
        </p:spPr>
        <p:txBody>
          <a:bodyPr/>
          <a:p/>
        </p:txBody>
      </p:sp>
      <p:sp>
        <p:nvSpPr>
          <p:cNvPr id="99" name="Shape 97"/>
          <p:cNvSpPr/>
          <p:nvPr/>
        </p:nvSpPr>
        <p:spPr>
          <a:xfrm>
            <a:off x="2194560" y="4617720"/>
            <a:ext cx="182880" cy="182880"/>
          </a:xfrm>
          <a:prstGeom prst="ellipse">
            <a:avLst/>
          </a:prstGeom>
          <a:solidFill>
            <a:srgbClr val="B9B4A8"/>
          </a:solidFill>
          <a:ln w="12700">
            <a:solidFill>
              <a:srgbClr val="B9B4A8"/>
            </a:solidFill>
            <a:prstDash val="solid"/>
          </a:ln>
        </p:spPr>
        <p:txBody>
          <a:bodyPr/>
          <a:p/>
        </p:txBody>
      </p:sp>
      <p:sp>
        <p:nvSpPr>
          <p:cNvPr id="100" name="Shape 98"/>
          <p:cNvSpPr/>
          <p:nvPr/>
        </p:nvSpPr>
        <p:spPr>
          <a:xfrm>
            <a:off x="2468880" y="4617720"/>
            <a:ext cx="182880" cy="182880"/>
          </a:xfrm>
          <a:prstGeom prst="ellipse">
            <a:avLst/>
          </a:prstGeom>
          <a:solidFill>
            <a:srgbClr val="B9B4A8"/>
          </a:solidFill>
          <a:ln w="12700">
            <a:solidFill>
              <a:srgbClr val="B9B4A8"/>
            </a:solidFill>
            <a:prstDash val="solid"/>
          </a:ln>
        </p:spPr>
        <p:txBody>
          <a:bodyPr/>
          <a:p/>
        </p:txBody>
      </p:sp>
      <p:sp>
        <p:nvSpPr>
          <p:cNvPr id="101" name="Shape 99"/>
          <p:cNvSpPr/>
          <p:nvPr/>
        </p:nvSpPr>
        <p:spPr>
          <a:xfrm>
            <a:off x="2743200" y="4617720"/>
            <a:ext cx="182880" cy="182880"/>
          </a:xfrm>
          <a:prstGeom prst="ellipse">
            <a:avLst/>
          </a:prstGeom>
          <a:solidFill>
            <a:srgbClr val="B9B4A8"/>
          </a:solidFill>
          <a:ln w="12700">
            <a:solidFill>
              <a:srgbClr val="B9B4A8"/>
            </a:solidFill>
            <a:prstDash val="solid"/>
          </a:ln>
        </p:spPr>
        <p:txBody>
          <a:bodyPr/>
          <a:p/>
        </p:txBody>
      </p:sp>
      <p:sp>
        <p:nvSpPr>
          <p:cNvPr id="102" name="Shape 100"/>
          <p:cNvSpPr/>
          <p:nvPr/>
        </p:nvSpPr>
        <p:spPr>
          <a:xfrm>
            <a:off x="3017520" y="4617720"/>
            <a:ext cx="182880" cy="182880"/>
          </a:xfrm>
          <a:prstGeom prst="ellipse">
            <a:avLst/>
          </a:prstGeom>
          <a:solidFill>
            <a:srgbClr val="B9B4A8"/>
          </a:solidFill>
          <a:ln w="12700">
            <a:solidFill>
              <a:srgbClr val="B9B4A8"/>
            </a:solidFill>
            <a:prstDash val="solid"/>
          </a:ln>
        </p:spPr>
        <p:txBody>
          <a:bodyPr/>
          <a:p/>
        </p:txBody>
      </p:sp>
      <p:sp>
        <p:nvSpPr>
          <p:cNvPr id="103" name="Shape 101"/>
          <p:cNvSpPr/>
          <p:nvPr/>
        </p:nvSpPr>
        <p:spPr>
          <a:xfrm>
            <a:off x="822960" y="4892040"/>
            <a:ext cx="182880" cy="182880"/>
          </a:xfrm>
          <a:prstGeom prst="ellipse">
            <a:avLst/>
          </a:prstGeom>
          <a:solidFill>
            <a:srgbClr val="B9B4A8"/>
          </a:solidFill>
          <a:ln w="12700">
            <a:solidFill>
              <a:srgbClr val="B9B4A8"/>
            </a:solidFill>
            <a:prstDash val="solid"/>
          </a:ln>
        </p:spPr>
        <p:txBody>
          <a:bodyPr/>
          <a:p/>
        </p:txBody>
      </p:sp>
      <p:sp>
        <p:nvSpPr>
          <p:cNvPr id="104" name="Shape 102"/>
          <p:cNvSpPr/>
          <p:nvPr/>
        </p:nvSpPr>
        <p:spPr>
          <a:xfrm>
            <a:off x="1097280" y="4892040"/>
            <a:ext cx="182880" cy="182880"/>
          </a:xfrm>
          <a:prstGeom prst="ellipse">
            <a:avLst/>
          </a:prstGeom>
          <a:solidFill>
            <a:srgbClr val="B9B4A8"/>
          </a:solidFill>
          <a:ln w="12700">
            <a:solidFill>
              <a:srgbClr val="B9B4A8"/>
            </a:solidFill>
            <a:prstDash val="solid"/>
          </a:ln>
        </p:spPr>
        <p:txBody>
          <a:bodyPr/>
          <a:p/>
        </p:txBody>
      </p:sp>
      <p:sp>
        <p:nvSpPr>
          <p:cNvPr id="105" name="Shape 103"/>
          <p:cNvSpPr/>
          <p:nvPr/>
        </p:nvSpPr>
        <p:spPr>
          <a:xfrm>
            <a:off x="1371600" y="4892040"/>
            <a:ext cx="182880" cy="182880"/>
          </a:xfrm>
          <a:prstGeom prst="ellipse">
            <a:avLst/>
          </a:prstGeom>
          <a:solidFill>
            <a:srgbClr val="B9B4A8"/>
          </a:solidFill>
          <a:ln w="12700">
            <a:solidFill>
              <a:srgbClr val="B9B4A8"/>
            </a:solidFill>
            <a:prstDash val="solid"/>
          </a:ln>
        </p:spPr>
        <p:txBody>
          <a:bodyPr/>
          <a:p/>
        </p:txBody>
      </p:sp>
      <p:sp>
        <p:nvSpPr>
          <p:cNvPr id="106" name="Shape 104"/>
          <p:cNvSpPr/>
          <p:nvPr/>
        </p:nvSpPr>
        <p:spPr>
          <a:xfrm>
            <a:off x="1645920" y="4892040"/>
            <a:ext cx="182880" cy="182880"/>
          </a:xfrm>
          <a:prstGeom prst="ellipse">
            <a:avLst/>
          </a:prstGeom>
          <a:solidFill>
            <a:srgbClr val="B9B4A8"/>
          </a:solidFill>
          <a:ln w="12700">
            <a:solidFill>
              <a:srgbClr val="B9B4A8"/>
            </a:solidFill>
            <a:prstDash val="solid"/>
          </a:ln>
        </p:spPr>
        <p:txBody>
          <a:bodyPr/>
          <a:p/>
        </p:txBody>
      </p:sp>
      <p:sp>
        <p:nvSpPr>
          <p:cNvPr id="107" name="Shape 105"/>
          <p:cNvSpPr/>
          <p:nvPr/>
        </p:nvSpPr>
        <p:spPr>
          <a:xfrm>
            <a:off x="1920240" y="4892040"/>
            <a:ext cx="182880" cy="182880"/>
          </a:xfrm>
          <a:prstGeom prst="ellipse">
            <a:avLst/>
          </a:prstGeom>
          <a:solidFill>
            <a:srgbClr val="B9B4A8"/>
          </a:solidFill>
          <a:ln w="12700">
            <a:solidFill>
              <a:srgbClr val="B9B4A8"/>
            </a:solidFill>
            <a:prstDash val="solid"/>
          </a:ln>
        </p:spPr>
        <p:txBody>
          <a:bodyPr/>
          <a:p/>
        </p:txBody>
      </p:sp>
      <p:sp>
        <p:nvSpPr>
          <p:cNvPr id="108" name="Shape 106"/>
          <p:cNvSpPr/>
          <p:nvPr/>
        </p:nvSpPr>
        <p:spPr>
          <a:xfrm>
            <a:off x="2194560" y="4892040"/>
            <a:ext cx="182880" cy="182880"/>
          </a:xfrm>
          <a:prstGeom prst="ellipse">
            <a:avLst/>
          </a:prstGeom>
          <a:solidFill>
            <a:srgbClr val="B9B4A8"/>
          </a:solidFill>
          <a:ln w="12700">
            <a:solidFill>
              <a:srgbClr val="B9B4A8"/>
            </a:solidFill>
            <a:prstDash val="solid"/>
          </a:ln>
        </p:spPr>
        <p:txBody>
          <a:bodyPr/>
          <a:p/>
        </p:txBody>
      </p:sp>
      <p:sp>
        <p:nvSpPr>
          <p:cNvPr id="109" name="Shape 107"/>
          <p:cNvSpPr/>
          <p:nvPr/>
        </p:nvSpPr>
        <p:spPr>
          <a:xfrm>
            <a:off x="2468880" y="4892040"/>
            <a:ext cx="182880" cy="182880"/>
          </a:xfrm>
          <a:prstGeom prst="ellipse">
            <a:avLst/>
          </a:prstGeom>
          <a:solidFill>
            <a:srgbClr val="B9B4A8"/>
          </a:solidFill>
          <a:ln w="12700">
            <a:solidFill>
              <a:srgbClr val="B9B4A8"/>
            </a:solidFill>
            <a:prstDash val="solid"/>
          </a:ln>
        </p:spPr>
        <p:txBody>
          <a:bodyPr/>
          <a:p/>
        </p:txBody>
      </p:sp>
      <p:sp>
        <p:nvSpPr>
          <p:cNvPr id="110" name="Shape 108"/>
          <p:cNvSpPr/>
          <p:nvPr/>
        </p:nvSpPr>
        <p:spPr>
          <a:xfrm>
            <a:off x="2743200" y="4892040"/>
            <a:ext cx="182880" cy="182880"/>
          </a:xfrm>
          <a:prstGeom prst="ellipse">
            <a:avLst/>
          </a:prstGeom>
          <a:solidFill>
            <a:srgbClr val="B9B4A8"/>
          </a:solidFill>
          <a:ln w="12700">
            <a:solidFill>
              <a:srgbClr val="B9B4A8"/>
            </a:solidFill>
            <a:prstDash val="solid"/>
          </a:ln>
        </p:spPr>
        <p:txBody>
          <a:bodyPr/>
          <a:p/>
        </p:txBody>
      </p:sp>
      <p:sp>
        <p:nvSpPr>
          <p:cNvPr id="111" name="Shape 109"/>
          <p:cNvSpPr/>
          <p:nvPr/>
        </p:nvSpPr>
        <p:spPr>
          <a:xfrm>
            <a:off x="3017520" y="4892040"/>
            <a:ext cx="182880" cy="182880"/>
          </a:xfrm>
          <a:prstGeom prst="ellipse">
            <a:avLst/>
          </a:prstGeom>
          <a:solidFill>
            <a:srgbClr val="B9B4A8"/>
          </a:solidFill>
          <a:ln w="12700">
            <a:solidFill>
              <a:srgbClr val="B9B4A8"/>
            </a:solidFill>
            <a:prstDash val="solid"/>
          </a:ln>
        </p:spPr>
        <p:txBody>
          <a:bodyPr/>
          <a:p/>
        </p:txBody>
      </p:sp>
      <p:sp>
        <p:nvSpPr>
          <p:cNvPr id="112" name="Text 110"/>
          <p:cNvSpPr/>
          <p:nvPr/>
        </p:nvSpPr>
        <p:spPr>
          <a:xfrm>
            <a:off x="3337560" y="3456432"/>
            <a:ext cx="1188720" cy="310896"/>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România</a:t>
            </a:r>
            <a:endParaRPr lang="en-US" sz="1300" dirty="0"/>
          </a:p>
        </p:txBody>
      </p:sp>
      <p:sp>
        <p:nvSpPr>
          <p:cNvPr id="113" name="Text 111"/>
          <p:cNvSpPr/>
          <p:nvPr/>
        </p:nvSpPr>
        <p:spPr>
          <a:xfrm>
            <a:off x="640080" y="5184648"/>
            <a:ext cx="64008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2012</a:t>
            </a:r>
            <a:endParaRPr lang="en-US" sz="1200" dirty="0"/>
          </a:p>
        </p:txBody>
      </p:sp>
      <p:sp>
        <p:nvSpPr>
          <p:cNvPr id="114" name="Text 112"/>
          <p:cNvSpPr/>
          <p:nvPr/>
        </p:nvSpPr>
        <p:spPr>
          <a:xfrm>
            <a:off x="2788920" y="5184648"/>
            <a:ext cx="64008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2020</a:t>
            </a:r>
            <a:endParaRPr lang="en-US" sz="1200" dirty="0"/>
          </a:p>
        </p:txBody>
      </p:sp>
      <p:sp>
        <p:nvSpPr>
          <p:cNvPr id="115" name="Text 113"/>
          <p:cNvSpPr/>
          <p:nvPr/>
        </p:nvSpPr>
        <p:spPr>
          <a:xfrm>
            <a:off x="640080" y="5458968"/>
            <a:ext cx="329184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fiecare rând: o țară, an de an</a:t>
            </a:r>
            <a:endParaRPr lang="en-US" sz="1200" dirty="0"/>
          </a:p>
        </p:txBody>
      </p:sp>
      <p:sp>
        <p:nvSpPr>
          <p:cNvPr id="116" name="Text 114"/>
          <p:cNvSpPr/>
          <p:nvPr/>
        </p:nvSpPr>
        <p:spPr>
          <a:xfrm>
            <a:off x="4480560" y="1691640"/>
            <a:ext cx="7086600" cy="347472"/>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Designul</a:t>
            </a:r>
            <a:endParaRPr lang="en-US" sz="1600" dirty="0"/>
          </a:p>
        </p:txBody>
      </p:sp>
      <p:sp>
        <p:nvSpPr>
          <p:cNvPr id="117" name="Text 115"/>
          <p:cNvSpPr/>
          <p:nvPr/>
        </p:nvSpPr>
        <p:spPr>
          <a:xfrm>
            <a:off x="4480560" y="2057400"/>
            <a:ext cx="7086600" cy="1051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Fiecare țară e comparată, în bună măsură, cu ea însăși.</a:t>
            </a:r>
            <a:endParaRPr lang="en-US" sz="1700" dirty="0"/>
          </a:p>
        </p:txBody>
      </p:sp>
      <p:sp>
        <p:nvSpPr>
          <p:cNvPr id="118" name="Text 116"/>
          <p:cNvSpPr/>
          <p:nvPr/>
        </p:nvSpPr>
        <p:spPr>
          <a:xfrm>
            <a:off x="4480560" y="3154680"/>
            <a:ext cx="7086600" cy="347472"/>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Rezultatul</a:t>
            </a:r>
            <a:endParaRPr lang="en-US" sz="1600" dirty="0"/>
          </a:p>
        </p:txBody>
      </p:sp>
      <p:sp>
        <p:nvSpPr>
          <p:cNvPr id="119" name="Text 117"/>
          <p:cNvSpPr/>
          <p:nvPr/>
        </p:nvSpPr>
        <p:spPr>
          <a:xfrm>
            <a:off x="4480560" y="3520440"/>
            <a:ext cx="7086600" cy="1051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Corupția percepută mai mică a mers cu mortalitate evitabilă mai mică; venitul național și calitatea guvernării cântăreau însă mai mult.</a:t>
            </a:r>
            <a:endParaRPr lang="en-US" sz="1700" dirty="0"/>
          </a:p>
        </p:txBody>
      </p:sp>
      <p:sp>
        <p:nvSpPr>
          <p:cNvPr id="120" name="Text 118"/>
          <p:cNvSpPr/>
          <p:nvPr/>
        </p:nvSpPr>
        <p:spPr>
          <a:xfrm>
            <a:off x="4480560" y="4617720"/>
            <a:ext cx="7086600" cy="347472"/>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Limitele</a:t>
            </a:r>
            <a:endParaRPr lang="en-US" sz="1600" dirty="0"/>
          </a:p>
        </p:txBody>
      </p:sp>
      <p:sp>
        <p:nvSpPr>
          <p:cNvPr id="121" name="Text 119"/>
          <p:cNvSpPr/>
          <p:nvPr/>
        </p:nvSpPr>
        <p:spPr>
          <a:xfrm>
            <a:off x="4480560" y="4983480"/>
            <a:ext cx="7086600" cy="1051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Indicele vine din percepția experților, iar legătura poate merge și invers.</a:t>
            </a:r>
            <a:endParaRPr lang="en-US" sz="1700" dirty="0"/>
          </a:p>
        </p:txBody>
      </p:sp>
      <p:sp>
        <p:nvSpPr>
          <p:cNvPr id="122" name="Text 12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studiul din 2025 · A652, A653.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PUSE ALĂTURI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studii, trei designuri</a:t>
            </a:r>
            <a:endParaRPr lang="en-US" sz="3200" dirty="0"/>
          </a:p>
        </p:txBody>
      </p:sp>
      <p:sp>
        <p:nvSpPr>
          <p:cNvPr id="4" name="Shape 2"/>
          <p:cNvSpPr/>
          <p:nvPr/>
        </p:nvSpPr>
        <p:spPr>
          <a:xfrm>
            <a:off x="594360" y="1737360"/>
            <a:ext cx="3520440" cy="3429000"/>
          </a:xfrm>
          <a:prstGeom prst="roundRect">
            <a:avLst>
              <a:gd name="adj" fmla="val 2400"/>
            </a:avLst>
          </a:prstGeom>
          <a:solidFill>
            <a:srgbClr val="1D1F2B"/>
          </a:solidFill>
          <a:ln w="12700">
            <a:solidFill>
              <a:srgbClr val="1D1F2B"/>
            </a:solidFill>
            <a:prstDash val="solid"/>
          </a:ln>
        </p:spPr>
        <p:txBody>
          <a:bodyPr/>
          <a:p/>
        </p:txBody>
      </p:sp>
      <p:sp>
        <p:nvSpPr>
          <p:cNvPr id="5" name="Shape 3"/>
          <p:cNvSpPr/>
          <p:nvPr/>
        </p:nvSpPr>
        <p:spPr>
          <a:xfrm>
            <a:off x="594360" y="1737360"/>
            <a:ext cx="352044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822960" y="1920240"/>
            <a:ext cx="3063240" cy="45720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Hanf, 2011</a:t>
            </a:r>
            <a:endParaRPr lang="en-US" sz="2000" dirty="0"/>
          </a:p>
        </p:txBody>
      </p:sp>
      <p:sp>
        <p:nvSpPr>
          <p:cNvPr id="7" name="Text 5"/>
          <p:cNvSpPr/>
          <p:nvPr/>
        </p:nvSpPr>
        <p:spPr>
          <a:xfrm>
            <a:off x="822960" y="2423160"/>
            <a:ext cx="3063240" cy="6858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țări, într-un singur an</a:t>
            </a:r>
            <a:endParaRPr lang="en-US" sz="1600" dirty="0"/>
          </a:p>
        </p:txBody>
      </p:sp>
      <p:sp>
        <p:nvSpPr>
          <p:cNvPr id="8" name="Text 6"/>
          <p:cNvSpPr/>
          <p:nvPr/>
        </p:nvSpPr>
        <p:spPr>
          <a:xfrm>
            <a:off x="822960" y="3154680"/>
            <a:ext cx="306324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găsește o legătură între corupția percepută și mortalitatea copiilor</a:t>
            </a:r>
            <a:endParaRPr lang="en-US" sz="1700" dirty="0"/>
          </a:p>
        </p:txBody>
      </p:sp>
      <p:sp>
        <p:nvSpPr>
          <p:cNvPr id="9" name="Shape 7"/>
          <p:cNvSpPr/>
          <p:nvPr/>
        </p:nvSpPr>
        <p:spPr>
          <a:xfrm>
            <a:off x="4343400" y="1737360"/>
            <a:ext cx="3520440" cy="3429000"/>
          </a:xfrm>
          <a:prstGeom prst="roundRect">
            <a:avLst>
              <a:gd name="adj" fmla="val 2400"/>
            </a:avLst>
          </a:prstGeom>
          <a:solidFill>
            <a:srgbClr val="1D1F2B"/>
          </a:solidFill>
          <a:ln w="12700">
            <a:solidFill>
              <a:srgbClr val="1D1F2B"/>
            </a:solidFill>
            <a:prstDash val="solid"/>
          </a:ln>
        </p:spPr>
        <p:txBody>
          <a:bodyPr/>
          <a:p/>
        </p:txBody>
      </p:sp>
      <p:sp>
        <p:nvSpPr>
          <p:cNvPr id="10" name="Shape 8"/>
          <p:cNvSpPr/>
          <p:nvPr/>
        </p:nvSpPr>
        <p:spPr>
          <a:xfrm>
            <a:off x="4343400" y="1737360"/>
            <a:ext cx="3520440" cy="73152"/>
          </a:xfrm>
          <a:prstGeom prst="rect">
            <a:avLst/>
          </a:prstGeom>
          <a:solidFill>
            <a:srgbClr val="9B7EF7"/>
          </a:solidFill>
          <a:ln w="12700">
            <a:solidFill>
              <a:srgbClr val="9B7EF7"/>
            </a:solidFill>
            <a:prstDash val="solid"/>
          </a:ln>
        </p:spPr>
        <p:txBody>
          <a:bodyPr/>
          <a:p/>
        </p:txBody>
      </p:sp>
      <p:sp>
        <p:nvSpPr>
          <p:cNvPr id="11" name="Text 9"/>
          <p:cNvSpPr/>
          <p:nvPr/>
        </p:nvSpPr>
        <p:spPr>
          <a:xfrm>
            <a:off x="4572000" y="1920240"/>
            <a:ext cx="3063240" cy="457200"/>
          </a:xfrm>
          <a:prstGeom prst="rect">
            <a:avLst/>
          </a:prstGeom>
          <a:noFill/>
          <a:ln/>
        </p:spPr>
        <p:txBody>
          <a:bodyPr wrap="square" lIns="0" tIns="0" rIns="0" bIns="0" rtlCol="0" anchor="t"/>
          <a:lstStyle/>
          <a:p>
            <a:pPr indent="0" marL="0">
              <a:buNone/>
            </a:pPr>
            <a:r>
              <a:rPr lang="en-US" sz="2000" b="1" dirty="0">
                <a:solidFill>
                  <a:srgbClr val="9B7EF7"/>
                </a:solidFill>
                <a:latin typeface="Palatino Linotype" pitchFamily="34" charset="0"/>
                <a:ea typeface="Palatino Linotype" pitchFamily="34" charset="-122"/>
                <a:cs typeface="Palatino Linotype" pitchFamily="34" charset="-120"/>
              </a:rPr>
              <a:t>Bollyky, 2019</a:t>
            </a:r>
            <a:endParaRPr lang="en-US" sz="2000" dirty="0"/>
          </a:p>
        </p:txBody>
      </p:sp>
      <p:sp>
        <p:nvSpPr>
          <p:cNvPr id="12" name="Text 10"/>
          <p:cNvSpPr/>
          <p:nvPr/>
        </p:nvSpPr>
        <p:spPr>
          <a:xfrm>
            <a:off x="4572000" y="2423160"/>
            <a:ext cx="3063240" cy="6858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țări, de-a lungul deceniilor</a:t>
            </a:r>
            <a:endParaRPr lang="en-US" sz="1600" dirty="0"/>
          </a:p>
        </p:txBody>
      </p:sp>
      <p:sp>
        <p:nvSpPr>
          <p:cNvPr id="13" name="Text 11"/>
          <p:cNvSpPr/>
          <p:nvPr/>
        </p:nvSpPr>
        <p:spPr>
          <a:xfrm>
            <a:off x="4572000" y="3154680"/>
            <a:ext cx="306324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a măsurat corupția: arată cât de ușor se mută o concluzie de pe democrație pe corupție</a:t>
            </a:r>
            <a:endParaRPr lang="en-US" sz="1700" dirty="0"/>
          </a:p>
        </p:txBody>
      </p:sp>
      <p:sp>
        <p:nvSpPr>
          <p:cNvPr id="14" name="Shape 12"/>
          <p:cNvSpPr/>
          <p:nvPr/>
        </p:nvSpPr>
        <p:spPr>
          <a:xfrm>
            <a:off x="8092440" y="1737360"/>
            <a:ext cx="3520440" cy="3429000"/>
          </a:xfrm>
          <a:prstGeom prst="roundRect">
            <a:avLst>
              <a:gd name="adj" fmla="val 2400"/>
            </a:avLst>
          </a:prstGeom>
          <a:solidFill>
            <a:srgbClr val="1D1F2B"/>
          </a:solidFill>
          <a:ln w="12700">
            <a:solidFill>
              <a:srgbClr val="1D1F2B"/>
            </a:solidFill>
            <a:prstDash val="solid"/>
          </a:ln>
        </p:spPr>
        <p:txBody>
          <a:bodyPr/>
          <a:p/>
        </p:txBody>
      </p:sp>
      <p:sp>
        <p:nvSpPr>
          <p:cNvPr id="15" name="Shape 13"/>
          <p:cNvSpPr/>
          <p:nvPr/>
        </p:nvSpPr>
        <p:spPr>
          <a:xfrm>
            <a:off x="8092440" y="1737360"/>
            <a:ext cx="3520440"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8321040" y="1920240"/>
            <a:ext cx="3063240" cy="4572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Studiul din 2025</a:t>
            </a:r>
            <a:endParaRPr lang="en-US" sz="2000" dirty="0"/>
          </a:p>
        </p:txBody>
      </p:sp>
      <p:sp>
        <p:nvSpPr>
          <p:cNvPr id="17" name="Text 15"/>
          <p:cNvSpPr/>
          <p:nvPr/>
        </p:nvSpPr>
        <p:spPr>
          <a:xfrm>
            <a:off x="8321040" y="2423160"/>
            <a:ext cx="3063240" cy="6858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aceleași țări, an de an</a:t>
            </a:r>
            <a:endParaRPr lang="en-US" sz="1600" dirty="0"/>
          </a:p>
        </p:txBody>
      </p:sp>
      <p:sp>
        <p:nvSpPr>
          <p:cNvPr id="18" name="Text 16"/>
          <p:cNvSpPr/>
          <p:nvPr/>
        </p:nvSpPr>
        <p:spPr>
          <a:xfrm>
            <a:off x="8321040" y="3154680"/>
            <a:ext cx="306324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vede corupția ca pe un factor printre mai mulți</a:t>
            </a:r>
            <a:endParaRPr lang="en-US" sz="1700" dirty="0"/>
          </a:p>
        </p:txBody>
      </p:sp>
      <p:sp>
        <p:nvSpPr>
          <p:cNvPr id="19" name="Text 17"/>
          <p:cNvSpPr/>
          <p:nvPr/>
        </p:nvSpPr>
        <p:spPr>
          <a:xfrm>
            <a:off x="594360" y="5394960"/>
            <a:ext cx="10972800" cy="54864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Niciunul nu transformă legătura într-o numărătoare de vieți.</a:t>
            </a:r>
            <a:endParaRPr lang="en-US" sz="21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A773, A785, A652.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PATRU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RÂNDUL VOSTRU</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titluri inventate</a:t>
            </a:r>
            <a:endParaRPr lang="en-US" sz="3200" dirty="0"/>
          </a:p>
        </p:txBody>
      </p:sp>
      <p:sp>
        <p:nvSpPr>
          <p:cNvPr id="6" name="Shape 4"/>
          <p:cNvSpPr/>
          <p:nvPr/>
        </p:nvSpPr>
        <p:spPr>
          <a:xfrm rot="-60000">
            <a:off x="685800" y="1783080"/>
            <a:ext cx="3383280" cy="237744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txBody>
          <a:bodyPr/>
          <a:p/>
        </p:txBody>
      </p:sp>
      <p:sp>
        <p:nvSpPr>
          <p:cNvPr id="7" name="Text 5"/>
          <p:cNvSpPr/>
          <p:nvPr/>
        </p:nvSpPr>
        <p:spPr>
          <a:xfrm rot="-60000">
            <a:off x="960120" y="1984248"/>
            <a:ext cx="2834640" cy="274320"/>
          </a:xfrm>
          <a:prstGeom prst="rect">
            <a:avLst/>
          </a:prstGeom>
          <a:noFill/>
          <a:ln/>
        </p:spPr>
        <p:txBody>
          <a:bodyPr wrap="square" lIns="0" tIns="0" rIns="0" bIns="0" rtlCol="0" anchor="t"/>
          <a:lstStyle/>
          <a:p>
            <a:pPr indent="0" marL="0">
              <a:buNone/>
            </a:pPr>
            <a:r>
              <a:rPr lang="en-US" sz="1100" b="1" spc="200" kern="0" dirty="0">
                <a:solidFill>
                  <a:srgbClr val="585A64"/>
                </a:solidFill>
                <a:latin typeface="Palatino Linotype" pitchFamily="34" charset="0"/>
                <a:ea typeface="Palatino Linotype" pitchFamily="34" charset="-122"/>
                <a:cs typeface="Palatino Linotype" pitchFamily="34" charset="-120"/>
              </a:rPr>
              <a:t>TITLU IMAGINAT</a:t>
            </a:r>
            <a:endParaRPr lang="en-US" sz="1100" dirty="0"/>
          </a:p>
        </p:txBody>
      </p:sp>
      <p:sp>
        <p:nvSpPr>
          <p:cNvPr id="8" name="Shape 6"/>
          <p:cNvSpPr/>
          <p:nvPr/>
        </p:nvSpPr>
        <p:spPr>
          <a:xfrm rot="-60000">
            <a:off x="960120" y="2313432"/>
            <a:ext cx="2834640" cy="18288"/>
          </a:xfrm>
          <a:prstGeom prst="rect">
            <a:avLst/>
          </a:prstGeom>
          <a:solidFill>
            <a:srgbClr val="11121A"/>
          </a:solidFill>
          <a:ln/>
        </p:spPr>
        <p:txBody>
          <a:bodyPr/>
          <a:p/>
        </p:txBody>
      </p:sp>
      <p:sp>
        <p:nvSpPr>
          <p:cNvPr id="9" name="Text 7"/>
          <p:cNvSpPr/>
          <p:nvPr/>
        </p:nvSpPr>
        <p:spPr>
          <a:xfrm rot="-60000">
            <a:off x="960120" y="2423160"/>
            <a:ext cx="2834640" cy="160020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Corupția ucide 140 000 de copii pe an</a:t>
            </a:r>
            <a:endParaRPr lang="en-US" sz="2000" dirty="0"/>
          </a:p>
        </p:txBody>
      </p:sp>
      <p:sp>
        <p:nvSpPr>
          <p:cNvPr id="10" name="Shape 8"/>
          <p:cNvSpPr/>
          <p:nvPr/>
        </p:nvSpPr>
        <p:spPr>
          <a:xfrm rot="-60000">
            <a:off x="4434840" y="1783080"/>
            <a:ext cx="3383280" cy="237744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txBody>
          <a:bodyPr/>
          <a:p/>
        </p:txBody>
      </p:sp>
      <p:sp>
        <p:nvSpPr>
          <p:cNvPr id="11" name="Text 9"/>
          <p:cNvSpPr/>
          <p:nvPr/>
        </p:nvSpPr>
        <p:spPr>
          <a:xfrm rot="-60000">
            <a:off x="4709160" y="1984248"/>
            <a:ext cx="2834640" cy="274320"/>
          </a:xfrm>
          <a:prstGeom prst="rect">
            <a:avLst/>
          </a:prstGeom>
          <a:noFill/>
          <a:ln/>
        </p:spPr>
        <p:txBody>
          <a:bodyPr wrap="square" lIns="0" tIns="0" rIns="0" bIns="0" rtlCol="0" anchor="t"/>
          <a:lstStyle/>
          <a:p>
            <a:pPr indent="0" marL="0">
              <a:buNone/>
            </a:pPr>
            <a:r>
              <a:rPr lang="en-US" sz="1100" b="1" spc="200" kern="0" dirty="0">
                <a:solidFill>
                  <a:srgbClr val="585A64"/>
                </a:solidFill>
                <a:latin typeface="Palatino Linotype" pitchFamily="34" charset="0"/>
                <a:ea typeface="Palatino Linotype" pitchFamily="34" charset="-122"/>
                <a:cs typeface="Palatino Linotype" pitchFamily="34" charset="-120"/>
              </a:rPr>
              <a:t>TITLU IMAGINAT</a:t>
            </a:r>
            <a:endParaRPr lang="en-US" sz="1100" dirty="0"/>
          </a:p>
        </p:txBody>
      </p:sp>
      <p:sp>
        <p:nvSpPr>
          <p:cNvPr id="12" name="Shape 10"/>
          <p:cNvSpPr/>
          <p:nvPr/>
        </p:nvSpPr>
        <p:spPr>
          <a:xfrm rot="-60000">
            <a:off x="4709160" y="2313432"/>
            <a:ext cx="2834640" cy="18288"/>
          </a:xfrm>
          <a:prstGeom prst="rect">
            <a:avLst/>
          </a:prstGeom>
          <a:solidFill>
            <a:srgbClr val="11121A"/>
          </a:solidFill>
          <a:ln/>
        </p:spPr>
        <p:txBody>
          <a:bodyPr/>
          <a:p/>
        </p:txBody>
      </p:sp>
      <p:sp>
        <p:nvSpPr>
          <p:cNvPr id="13" name="Text 11"/>
          <p:cNvSpPr/>
          <p:nvPr/>
        </p:nvSpPr>
        <p:spPr>
          <a:xfrm rot="-60000">
            <a:off x="4709160" y="2423160"/>
            <a:ext cx="2834640" cy="160020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Democrația vă prelungește viața</a:t>
            </a:r>
            <a:endParaRPr lang="en-US" sz="2000" dirty="0"/>
          </a:p>
        </p:txBody>
      </p:sp>
      <p:sp>
        <p:nvSpPr>
          <p:cNvPr id="14" name="Shape 12"/>
          <p:cNvSpPr/>
          <p:nvPr/>
        </p:nvSpPr>
        <p:spPr>
          <a:xfrm rot="-60000">
            <a:off x="8183880" y="1783080"/>
            <a:ext cx="3383280" cy="237744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txBody>
          <a:bodyPr/>
          <a:p/>
        </p:txBody>
      </p:sp>
      <p:sp>
        <p:nvSpPr>
          <p:cNvPr id="15" name="Text 13"/>
          <p:cNvSpPr/>
          <p:nvPr/>
        </p:nvSpPr>
        <p:spPr>
          <a:xfrm rot="-60000">
            <a:off x="8458200" y="1984248"/>
            <a:ext cx="2834640" cy="274320"/>
          </a:xfrm>
          <a:prstGeom prst="rect">
            <a:avLst/>
          </a:prstGeom>
          <a:noFill/>
          <a:ln/>
        </p:spPr>
        <p:txBody>
          <a:bodyPr wrap="square" lIns="0" tIns="0" rIns="0" bIns="0" rtlCol="0" anchor="t"/>
          <a:lstStyle/>
          <a:p>
            <a:pPr indent="0" marL="0">
              <a:buNone/>
            </a:pPr>
            <a:r>
              <a:rPr lang="en-US" sz="1100" b="1" spc="200" kern="0" dirty="0">
                <a:solidFill>
                  <a:srgbClr val="585A64"/>
                </a:solidFill>
                <a:latin typeface="Palatino Linotype" pitchFamily="34" charset="0"/>
                <a:ea typeface="Palatino Linotype" pitchFamily="34" charset="-122"/>
                <a:cs typeface="Palatino Linotype" pitchFamily="34" charset="-120"/>
              </a:rPr>
              <a:t>TITLU IMAGINAT</a:t>
            </a:r>
            <a:endParaRPr lang="en-US" sz="1100" dirty="0"/>
          </a:p>
        </p:txBody>
      </p:sp>
      <p:sp>
        <p:nvSpPr>
          <p:cNvPr id="16" name="Shape 14"/>
          <p:cNvSpPr/>
          <p:nvPr/>
        </p:nvSpPr>
        <p:spPr>
          <a:xfrm rot="-60000">
            <a:off x="8458200" y="2313432"/>
            <a:ext cx="2834640" cy="18288"/>
          </a:xfrm>
          <a:prstGeom prst="rect">
            <a:avLst/>
          </a:prstGeom>
          <a:solidFill>
            <a:srgbClr val="11121A"/>
          </a:solidFill>
          <a:ln/>
        </p:spPr>
        <p:txBody>
          <a:bodyPr/>
          <a:p/>
        </p:txBody>
      </p:sp>
      <p:sp>
        <p:nvSpPr>
          <p:cNvPr id="17" name="Text 15"/>
          <p:cNvSpPr/>
          <p:nvPr/>
        </p:nvSpPr>
        <p:spPr>
          <a:xfrm rot="-60000">
            <a:off x="8458200" y="2423160"/>
            <a:ext cx="2834640" cy="160020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Mai puțină corupție, mai puține decese evitabile în Europa de Est</a:t>
            </a:r>
            <a:endParaRPr lang="en-US" sz="2000" dirty="0"/>
          </a:p>
        </p:txBody>
      </p:sp>
      <p:sp>
        <p:nvSpPr>
          <p:cNvPr id="18" name="Text 16"/>
          <p:cNvSpPr/>
          <p:nvPr/>
        </p:nvSpPr>
        <p:spPr>
          <a:xfrm>
            <a:off x="594360" y="4526280"/>
            <a:ext cx="10972800" cy="12801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Pentru fiecare, spuneți colegului: ce a comparat studiul (țări într-un an, țări de-a lungul deceniilor sau aceleași țări an de an)? Ce cuvânt din titlu spune mai mult decât designul?</a:t>
            </a:r>
            <a:endParaRPr lang="en-US" sz="19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Primul titlu reia cifra lui Hanf (A770).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PAUZĂ</a:t>
            </a:r>
            <a:endParaRPr lang="en-US" sz="1300" dirty="0"/>
          </a:p>
        </p:txBody>
      </p:sp>
      <p:sp>
        <p:nvSpPr>
          <p:cNvPr id="3" name="Text 1"/>
          <p:cNvSpPr/>
          <p:nvPr/>
        </p:nvSpPr>
        <p:spPr>
          <a:xfrm>
            <a:off x="594360" y="2011680"/>
            <a:ext cx="10972800" cy="1463040"/>
          </a:xfrm>
          <a:prstGeom prst="rect">
            <a:avLst/>
          </a:prstGeom>
          <a:noFill/>
          <a:ln/>
        </p:spPr>
        <p:txBody>
          <a:bodyPr wrap="square" lIns="0" tIns="0" rIns="0" bIns="0" rtlCol="0" anchor="ctr"/>
          <a:lstStyle/>
          <a:p>
            <a:pPr algn="ctr" indent="0" marL="0">
              <a:buNone/>
            </a:pPr>
            <a:r>
              <a:rPr lang="en-US" sz="7200" b="1" dirty="0">
                <a:solidFill>
                  <a:srgbClr val="FFFFFF"/>
                </a:solidFill>
                <a:latin typeface="Palatino Linotype" pitchFamily="34" charset="0"/>
                <a:ea typeface="Palatino Linotype" pitchFamily="34" charset="-122"/>
                <a:cs typeface="Palatino Linotype" pitchFamily="34" charset="-120"/>
              </a:rPr>
              <a:t>Zece minute</a:t>
            </a:r>
            <a:endParaRPr lang="en-US" sz="7200" dirty="0"/>
          </a:p>
        </p:txBody>
      </p:sp>
      <p:sp>
        <p:nvSpPr>
          <p:cNvPr id="4" name="Text 2"/>
          <p:cNvSpPr/>
          <p:nvPr/>
        </p:nvSpPr>
        <p:spPr>
          <a:xfrm>
            <a:off x="594360" y="3749040"/>
            <a:ext cx="10972800" cy="640080"/>
          </a:xfrm>
          <a:prstGeom prst="rect">
            <a:avLst/>
          </a:prstGeom>
          <a:noFill/>
          <a:ln/>
        </p:spPr>
        <p:txBody>
          <a:bodyPr wrap="square" lIns="0" tIns="0" rIns="0" bIns="0" rtlCol="0" anchor="t"/>
          <a:lstStyle/>
          <a:p>
            <a:pPr algn="ctr" indent="0" marL="0">
              <a:buNone/>
            </a:pPr>
            <a:r>
              <a:rPr lang="en-US" sz="2200" dirty="0">
                <a:solidFill>
                  <a:srgbClr val="959BB0"/>
                </a:solidFill>
                <a:latin typeface="Palatino Linotype" pitchFamily="34" charset="0"/>
                <a:ea typeface="Palatino Linotype" pitchFamily="34" charset="-122"/>
                <a:cs typeface="Palatino Linotype" pitchFamily="34" charset="-120"/>
              </a:rPr>
              <a:t>Urmează dezbaterea: alegeți-vă locul în sală.</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DEZBATERE · DOUĂ TABERE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DEZBATEREA · 20 DE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„Corupția ucide, iar studiile o arată”</a:t>
            </a:r>
            <a:endParaRPr lang="en-US" sz="3200" dirty="0"/>
          </a:p>
        </p:txBody>
      </p:sp>
      <p:sp>
        <p:nvSpPr>
          <p:cNvPr id="6" name="Shape 4"/>
          <p:cNvSpPr/>
          <p:nvPr/>
        </p:nvSpPr>
        <p:spPr>
          <a:xfrm>
            <a:off x="594360" y="1783080"/>
            <a:ext cx="2606040" cy="2103120"/>
          </a:xfrm>
          <a:prstGeom prst="roundRect">
            <a:avLst>
              <a:gd name="adj" fmla="val 3913"/>
            </a:avLst>
          </a:prstGeom>
          <a:solidFill>
            <a:srgbClr val="1D1F2B"/>
          </a:solidFill>
          <a:ln w="12700">
            <a:solidFill>
              <a:srgbClr val="1D1F2B"/>
            </a:solidFill>
            <a:prstDash val="solid"/>
          </a:ln>
        </p:spPr>
        <p:txBody>
          <a:bodyPr/>
          <a:p/>
        </p:txBody>
      </p:sp>
      <p:sp>
        <p:nvSpPr>
          <p:cNvPr id="7" name="Shape 5"/>
          <p:cNvSpPr/>
          <p:nvPr/>
        </p:nvSpPr>
        <p:spPr>
          <a:xfrm>
            <a:off x="822960" y="1965960"/>
            <a:ext cx="420624" cy="420624"/>
          </a:xfrm>
          <a:prstGeom prst="ellipse">
            <a:avLst/>
          </a:prstGeom>
          <a:solidFill>
            <a:srgbClr val="FFC24B"/>
          </a:solidFill>
          <a:ln/>
        </p:spPr>
        <p:txBody>
          <a:bodyPr/>
          <a:p/>
        </p:txBody>
      </p:sp>
      <p:sp>
        <p:nvSpPr>
          <p:cNvPr id="8" name="Text 6"/>
          <p:cNvSpPr/>
          <p:nvPr/>
        </p:nvSpPr>
        <p:spPr>
          <a:xfrm>
            <a:off x="82296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822960" y="2514600"/>
            <a:ext cx="2194560" cy="13258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Tabăra după locul în sală: o jumătate susține moțiunea, cealaltă se opune.</a:t>
            </a:r>
            <a:endParaRPr lang="en-US" sz="1600" dirty="0"/>
          </a:p>
        </p:txBody>
      </p:sp>
      <p:sp>
        <p:nvSpPr>
          <p:cNvPr id="10" name="Shape 8"/>
          <p:cNvSpPr/>
          <p:nvPr/>
        </p:nvSpPr>
        <p:spPr>
          <a:xfrm>
            <a:off x="3383280" y="1783080"/>
            <a:ext cx="2606040" cy="2103120"/>
          </a:xfrm>
          <a:prstGeom prst="roundRect">
            <a:avLst>
              <a:gd name="adj" fmla="val 3913"/>
            </a:avLst>
          </a:prstGeom>
          <a:solidFill>
            <a:srgbClr val="1D1F2B"/>
          </a:solidFill>
          <a:ln w="12700">
            <a:solidFill>
              <a:srgbClr val="1D1F2B"/>
            </a:solidFill>
            <a:prstDash val="solid"/>
          </a:ln>
        </p:spPr>
        <p:txBody>
          <a:bodyPr/>
          <a:p/>
        </p:txBody>
      </p:sp>
      <p:sp>
        <p:nvSpPr>
          <p:cNvPr id="11" name="Shape 9"/>
          <p:cNvSpPr/>
          <p:nvPr/>
        </p:nvSpPr>
        <p:spPr>
          <a:xfrm>
            <a:off x="3611880" y="1965960"/>
            <a:ext cx="420624" cy="420624"/>
          </a:xfrm>
          <a:prstGeom prst="ellipse">
            <a:avLst/>
          </a:prstGeom>
          <a:solidFill>
            <a:srgbClr val="FFC24B"/>
          </a:solidFill>
          <a:ln/>
        </p:spPr>
        <p:txBody>
          <a:bodyPr/>
          <a:p/>
        </p:txBody>
      </p:sp>
      <p:sp>
        <p:nvSpPr>
          <p:cNvPr id="12" name="Text 10"/>
          <p:cNvSpPr/>
          <p:nvPr/>
        </p:nvSpPr>
        <p:spPr>
          <a:xfrm>
            <a:off x="361188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3611880" y="2514600"/>
            <a:ext cx="2194560" cy="13258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Trei minute de pregătire, cu vecinii de bancă.</a:t>
            </a:r>
            <a:endParaRPr lang="en-US" sz="1600" dirty="0"/>
          </a:p>
        </p:txBody>
      </p:sp>
      <p:sp>
        <p:nvSpPr>
          <p:cNvPr id="14" name="Shape 12"/>
          <p:cNvSpPr/>
          <p:nvPr/>
        </p:nvSpPr>
        <p:spPr>
          <a:xfrm>
            <a:off x="6172200" y="1783080"/>
            <a:ext cx="2606040" cy="2103120"/>
          </a:xfrm>
          <a:prstGeom prst="roundRect">
            <a:avLst>
              <a:gd name="adj" fmla="val 3913"/>
            </a:avLst>
          </a:prstGeom>
          <a:solidFill>
            <a:srgbClr val="1D1F2B"/>
          </a:solidFill>
          <a:ln w="12700">
            <a:solidFill>
              <a:srgbClr val="1D1F2B"/>
            </a:solidFill>
            <a:prstDash val="solid"/>
          </a:ln>
        </p:spPr>
        <p:txBody>
          <a:bodyPr/>
          <a:p/>
        </p:txBody>
      </p:sp>
      <p:sp>
        <p:nvSpPr>
          <p:cNvPr id="15" name="Shape 13"/>
          <p:cNvSpPr/>
          <p:nvPr/>
        </p:nvSpPr>
        <p:spPr>
          <a:xfrm>
            <a:off x="6400800" y="1965960"/>
            <a:ext cx="420624" cy="420624"/>
          </a:xfrm>
          <a:prstGeom prst="ellipse">
            <a:avLst/>
          </a:prstGeom>
          <a:solidFill>
            <a:srgbClr val="FFC24B"/>
          </a:solidFill>
          <a:ln/>
        </p:spPr>
        <p:txBody>
          <a:bodyPr/>
          <a:p/>
        </p:txBody>
      </p:sp>
      <p:sp>
        <p:nvSpPr>
          <p:cNvPr id="16" name="Text 14"/>
          <p:cNvSpPr/>
          <p:nvPr/>
        </p:nvSpPr>
        <p:spPr>
          <a:xfrm>
            <a:off x="640080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6400800" y="2514600"/>
            <a:ext cx="2194560" cy="13258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Doi vorbitori pentru fiecare tabără, câte două minute.</a:t>
            </a:r>
            <a:endParaRPr lang="en-US" sz="1600" dirty="0"/>
          </a:p>
        </p:txBody>
      </p:sp>
      <p:sp>
        <p:nvSpPr>
          <p:cNvPr id="18" name="Shape 16"/>
          <p:cNvSpPr/>
          <p:nvPr/>
        </p:nvSpPr>
        <p:spPr>
          <a:xfrm>
            <a:off x="8961120" y="1783080"/>
            <a:ext cx="2606040" cy="2103120"/>
          </a:xfrm>
          <a:prstGeom prst="roundRect">
            <a:avLst>
              <a:gd name="adj" fmla="val 3913"/>
            </a:avLst>
          </a:prstGeom>
          <a:solidFill>
            <a:srgbClr val="1D1F2B"/>
          </a:solidFill>
          <a:ln w="12700">
            <a:solidFill>
              <a:srgbClr val="1D1F2B"/>
            </a:solidFill>
            <a:prstDash val="solid"/>
          </a:ln>
        </p:spPr>
        <p:txBody>
          <a:bodyPr/>
          <a:p/>
        </p:txBody>
      </p:sp>
      <p:sp>
        <p:nvSpPr>
          <p:cNvPr id="19" name="Shape 17"/>
          <p:cNvSpPr/>
          <p:nvPr/>
        </p:nvSpPr>
        <p:spPr>
          <a:xfrm>
            <a:off x="9189720" y="1965960"/>
            <a:ext cx="420624" cy="420624"/>
          </a:xfrm>
          <a:prstGeom prst="ellipse">
            <a:avLst/>
          </a:prstGeom>
          <a:solidFill>
            <a:srgbClr val="FFC24B"/>
          </a:solidFill>
          <a:ln/>
        </p:spPr>
        <p:txBody>
          <a:bodyPr/>
          <a:p/>
        </p:txBody>
      </p:sp>
      <p:sp>
        <p:nvSpPr>
          <p:cNvPr id="20" name="Text 18"/>
          <p:cNvSpPr/>
          <p:nvPr/>
        </p:nvSpPr>
        <p:spPr>
          <a:xfrm>
            <a:off x="918972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9189720" y="2514600"/>
            <a:ext cx="2194560" cy="13258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minutul 6, fiecare tabără primește un plic închis.</a:t>
            </a:r>
            <a:endParaRPr lang="en-US" sz="1600" dirty="0"/>
          </a:p>
        </p:txBody>
      </p:sp>
      <p:sp>
        <p:nvSpPr>
          <p:cNvPr id="22" name="Text 20"/>
          <p:cNvSpPr/>
          <p:nvPr/>
        </p:nvSpPr>
        <p:spPr>
          <a:xfrm>
            <a:off x="594360" y="4114800"/>
            <a:ext cx="10972800" cy="100584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 plic: un rezultat real, publicat, cu sursa și anul lui, care contrazice poziția taberei. Vorbitorii următori trebuie să-l folosească.</a:t>
            </a:r>
            <a:endParaRPr lang="en-US" sz="1900" dirty="0"/>
          </a:p>
        </p:txBody>
      </p:sp>
      <p:sp>
        <p:nvSpPr>
          <p:cNvPr id="23" name="Text 21"/>
          <p:cNvSpPr/>
          <p:nvPr/>
        </p:nvSpPr>
        <p:spPr>
          <a:xfrm>
            <a:off x="594360" y="5394960"/>
            <a:ext cx="10972800" cy="4572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Regulile de notare sunt cele din fișa disciplinei.</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 · DUPĂ DEZBATERE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Care tabără a folosit mai bine dovezile, inclusiv plicul primit?</a:t>
            </a:r>
            <a:endParaRPr lang="en-US" sz="2800" dirty="0"/>
          </a:p>
        </p:txBody>
      </p:sp>
      <p:sp>
        <p:nvSpPr>
          <p:cNvPr id="6" name="Shape 4"/>
          <p:cNvSpPr/>
          <p:nvPr/>
        </p:nvSpPr>
        <p:spPr>
          <a:xfrm>
            <a:off x="594360" y="201168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212848"/>
            <a:ext cx="420624" cy="420624"/>
          </a:xfrm>
          <a:prstGeom prst="ellipse">
            <a:avLst/>
          </a:prstGeom>
          <a:solidFill>
            <a:srgbClr val="FFC24B"/>
          </a:solidFill>
          <a:ln/>
        </p:spPr>
        <p:txBody>
          <a:bodyPr/>
          <a:p/>
        </p:txBody>
      </p:sp>
      <p:sp>
        <p:nvSpPr>
          <p:cNvPr id="8" name="Text 6"/>
          <p:cNvSpPr/>
          <p:nvPr/>
        </p:nvSpPr>
        <p:spPr>
          <a:xfrm>
            <a:off x="91440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Tabăra care a susținut moțiunea</a:t>
            </a:r>
            <a:endParaRPr lang="en-US" sz="1900" dirty="0"/>
          </a:p>
        </p:txBody>
      </p:sp>
      <p:sp>
        <p:nvSpPr>
          <p:cNvPr id="10" name="Shape 8"/>
          <p:cNvSpPr/>
          <p:nvPr/>
        </p:nvSpPr>
        <p:spPr>
          <a:xfrm>
            <a:off x="594360" y="3017520"/>
            <a:ext cx="758952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3218688"/>
            <a:ext cx="420624" cy="420624"/>
          </a:xfrm>
          <a:prstGeom prst="ellipse">
            <a:avLst/>
          </a:prstGeom>
          <a:solidFill>
            <a:srgbClr val="FFC24B"/>
          </a:solidFill>
          <a:ln/>
        </p:spPr>
        <p:txBody>
          <a:bodyPr/>
          <a:p/>
        </p:txBody>
      </p:sp>
      <p:sp>
        <p:nvSpPr>
          <p:cNvPr id="12" name="Text 10"/>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017520"/>
            <a:ext cx="630936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Tabăra care s-a opus moțiunii</a:t>
            </a:r>
            <a:endParaRPr lang="en-US" sz="1900" dirty="0"/>
          </a:p>
        </p:txBody>
      </p:sp>
      <p:sp>
        <p:nvSpPr>
          <p:cNvPr id="14" name="Shape 12"/>
          <p:cNvSpPr/>
          <p:nvPr/>
        </p:nvSpPr>
        <p:spPr>
          <a:xfrm>
            <a:off x="8686800" y="201168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16" name="Text 14"/>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pic>
        <p:nvPicPr>
          <p:cNvPr id="17" name="Picture 16" descr="Mentimeter_OPT_PLIC_C04.png"/>
          <p:cNvPicPr>
            <a:picLocks noChangeAspect="1"/>
          </p:cNvPicPr>
          <p:nvPr/>
        </p:nvPicPr>
        <p:blipFill>
          <a:blip r:embed="rId3"/>
          <a:stretch>
            <a:fillRect/>
          </a:stretch>
        </p:blipFill>
        <p:spPr>
          <a:xfrm>
            <a:off x="9023350" y="2011680"/>
            <a:ext cx="2207260" cy="2207260"/>
          </a:xfrm>
          <a:prstGeom prst="rect">
            <a:avLst/>
          </a:prstGeom>
        </p:spPr>
      </p:pic>
      <p:sp>
        <p:nvSpPr>
          <p:cNvPr id="18" name="TextBox 17"/>
          <p:cNvSpPr txBox="1"/>
          <p:nvPr/>
        </p:nvSpPr>
        <p:spPr>
          <a:xfrm>
            <a:off x="8686800" y="425704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CE ERA ÎN PLICURI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dovadă care vă incomodează</a:t>
            </a:r>
            <a:endParaRPr lang="en-US" sz="3200" dirty="0"/>
          </a:p>
        </p:txBody>
      </p:sp>
      <p:sp>
        <p:nvSpPr>
          <p:cNvPr id="4" name="Shape 2"/>
          <p:cNvSpPr/>
          <p:nvPr/>
        </p:nvSpPr>
        <p:spPr>
          <a:xfrm>
            <a:off x="594360" y="169164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5" name="Shape 3"/>
          <p:cNvSpPr/>
          <p:nvPr/>
        </p:nvSpPr>
        <p:spPr>
          <a:xfrm>
            <a:off x="594360" y="1691640"/>
            <a:ext cx="5349240" cy="73152"/>
          </a:xfrm>
          <a:prstGeom prst="rect">
            <a:avLst/>
          </a:prstGeom>
          <a:solidFill>
            <a:srgbClr val="8A6100"/>
          </a:solidFill>
          <a:ln w="12700">
            <a:solidFill>
              <a:srgbClr val="8A6100"/>
            </a:solidFill>
            <a:prstDash val="solid"/>
          </a:ln>
        </p:spPr>
        <p:txBody>
          <a:bodyPr/>
          <a:p/>
        </p:txBody>
      </p:sp>
      <p:sp>
        <p:nvSpPr>
          <p:cNvPr id="6" name="Text 4"/>
          <p:cNvSpPr/>
          <p:nvPr/>
        </p:nvSpPr>
        <p:spPr>
          <a:xfrm>
            <a:off x="868680" y="1920240"/>
            <a:ext cx="4800600" cy="41148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Pentru tabăra care susține</a:t>
            </a:r>
            <a:endParaRPr lang="en-US" sz="1700" dirty="0"/>
          </a:p>
        </p:txBody>
      </p:sp>
      <p:sp>
        <p:nvSpPr>
          <p:cNvPr id="7" name="Text 5"/>
          <p:cNvSpPr/>
          <p:nvPr/>
        </p:nvSpPr>
        <p:spPr>
          <a:xfrm>
            <a:off x="868680" y="2423160"/>
            <a:ext cx="4800600" cy="17373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Hanf însuși: estimare „aproximativă”, atribuire „indirectă”, date din 2008. Studiul din 2025: venitul și guvernarea cântăresc mai mult decât corupția.</a:t>
            </a:r>
            <a:endParaRPr lang="en-US" sz="1800" dirty="0"/>
          </a:p>
        </p:txBody>
      </p:sp>
      <p:sp>
        <p:nvSpPr>
          <p:cNvPr id="8" name="Shape 6"/>
          <p:cNvSpPr/>
          <p:nvPr/>
        </p:nvSpPr>
        <p:spPr>
          <a:xfrm>
            <a:off x="6217920" y="1691640"/>
            <a:ext cx="5349240" cy="2606040"/>
          </a:xfrm>
          <a:prstGeom prst="roundRect">
            <a:avLst>
              <a:gd name="adj" fmla="val 3158"/>
            </a:avLst>
          </a:prstGeom>
          <a:solidFill>
            <a:srgbClr val="ECEAE4"/>
          </a:solidFill>
          <a:ln w="12700">
            <a:solidFill>
              <a:srgbClr val="ECEAE4"/>
            </a:solidFill>
            <a:prstDash val="solid"/>
          </a:ln>
        </p:spPr>
        <p:txBody>
          <a:bodyPr/>
          <a:p/>
        </p:txBody>
      </p:sp>
      <p:sp>
        <p:nvSpPr>
          <p:cNvPr id="9" name="Shape 7"/>
          <p:cNvSpPr/>
          <p:nvPr/>
        </p:nvSpPr>
        <p:spPr>
          <a:xfrm>
            <a:off x="6217920" y="169164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92024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Pentru tabăra care se opune</a:t>
            </a:r>
            <a:endParaRPr lang="en-US" sz="1700" dirty="0"/>
          </a:p>
        </p:txBody>
      </p:sp>
      <p:sp>
        <p:nvSpPr>
          <p:cNvPr id="11" name="Text 9"/>
          <p:cNvSpPr/>
          <p:nvPr/>
        </p:nvSpPr>
        <p:spPr>
          <a:xfrm>
            <a:off x="6492240" y="2423160"/>
            <a:ext cx="4800600" cy="17373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Același studiu din 2025: în douăsprezece țări, între care România, corupția percepută mai mică a mers cu o mortalitate evitabilă mai mică.</a:t>
            </a:r>
            <a:endParaRPr lang="en-US" sz="1800" dirty="0"/>
          </a:p>
        </p:txBody>
      </p:sp>
      <p:sp>
        <p:nvSpPr>
          <p:cNvPr id="12" name="Text 10"/>
          <p:cNvSpPr/>
          <p:nvPr/>
        </p:nvSpPr>
        <p:spPr>
          <a:xfrm>
            <a:off x="594360" y="4526280"/>
            <a:ext cx="10972800" cy="11887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Răspunsul provizoriu rămâne cel din ședința a doua: corupția poate costa vieți, iar mecanismele se pot descrie; câte vieți, nu știe nimeni.</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A770, A651, A772, A652, A655.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POVESTEA A TREIA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hârtii care nu se potrivesc</a:t>
            </a:r>
            <a:endParaRPr lang="en-US" sz="3100" dirty="0"/>
          </a:p>
        </p:txBody>
      </p:sp>
      <p:sp>
        <p:nvSpPr>
          <p:cNvPr id="4" name="Shape 2"/>
          <p:cNvSpPr/>
          <p:nvPr/>
        </p:nvSpPr>
        <p:spPr>
          <a:xfrm rot="-90000">
            <a:off x="594360" y="1737360"/>
            <a:ext cx="3063240" cy="3017520"/>
          </a:xfrm>
          <a:prstGeom prst="rect">
            <a:avLst/>
          </a:prstGeom>
          <a:solidFill>
            <a:srgbClr val="FFFFFF"/>
          </a:solidFill>
          <a:ln w="12700">
            <a:solidFill>
              <a:srgbClr val="C9C6BE"/>
            </a:solidFill>
            <a:prstDash val="solid"/>
          </a:ln>
        </p:spPr>
        <p:txBody>
          <a:bodyPr/>
          <a:p/>
        </p:txBody>
      </p:sp>
      <p:sp>
        <p:nvSpPr>
          <p:cNvPr id="5" name="Text 3"/>
          <p:cNvSpPr/>
          <p:nvPr/>
        </p:nvSpPr>
        <p:spPr>
          <a:xfrm rot="-90000">
            <a:off x="822960" y="1920240"/>
            <a:ext cx="2606040" cy="548640"/>
          </a:xfrm>
          <a:prstGeom prst="rect">
            <a:avLst/>
          </a:prstGeom>
          <a:noFill/>
          <a:ln/>
        </p:spPr>
        <p:txBody>
          <a:bodyPr wrap="square" lIns="0" tIns="0" rIns="0" bIns="0" rtlCol="0" anchor="t"/>
          <a:lstStyle/>
          <a:p>
            <a:pPr indent="0" marL="0">
              <a:buNone/>
            </a:pPr>
            <a:r>
              <a:rPr lang="en-US" sz="1200" b="1" spc="100" kern="0" dirty="0">
                <a:solidFill>
                  <a:srgbClr val="585A64"/>
                </a:solidFill>
                <a:latin typeface="Palatino Linotype" pitchFamily="34" charset="0"/>
                <a:ea typeface="Palatino Linotype" pitchFamily="34" charset="-122"/>
                <a:cs typeface="Palatino Linotype" pitchFamily="34" charset="-120"/>
              </a:rPr>
              <a:t>CAIETUL DE SARCINI</a:t>
            </a:r>
            <a:endParaRPr lang="en-US" sz="1200" dirty="0"/>
          </a:p>
        </p:txBody>
      </p:sp>
      <p:sp>
        <p:nvSpPr>
          <p:cNvPr id="6" name="Text 4"/>
          <p:cNvSpPr/>
          <p:nvPr/>
        </p:nvSpPr>
        <p:spPr>
          <a:xfrm rot="-90000">
            <a:off x="822960" y="2514600"/>
            <a:ext cx="260604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Dezinfectant pentru secție</a:t>
            </a:r>
            <a:endParaRPr lang="en-US" sz="1500" dirty="0"/>
          </a:p>
        </p:txBody>
      </p:sp>
      <p:sp>
        <p:nvSpPr>
          <p:cNvPr id="7" name="Shape 5"/>
          <p:cNvSpPr/>
          <p:nvPr/>
        </p:nvSpPr>
        <p:spPr>
          <a:xfrm rot="-90000">
            <a:off x="731520" y="3291840"/>
            <a:ext cx="2788920" cy="1097280"/>
          </a:xfrm>
          <a:prstGeom prst="rect">
            <a:avLst/>
          </a:prstGeom>
          <a:solidFill>
            <a:srgbClr val="FFE7A3"/>
          </a:solidFill>
          <a:ln w="9525">
            <a:solidFill>
              <a:srgbClr val="E0C77A"/>
            </a:solidFill>
            <a:prstDash val="solid"/>
          </a:ln>
        </p:spPr>
        <p:txBody>
          <a:bodyPr/>
          <a:p/>
        </p:txBody>
      </p:sp>
      <p:sp>
        <p:nvSpPr>
          <p:cNvPr id="8" name="Text 6"/>
          <p:cNvSpPr/>
          <p:nvPr/>
        </p:nvSpPr>
        <p:spPr>
          <a:xfrm rot="-90000">
            <a:off x="822960" y="3291840"/>
            <a:ext cx="2606040" cy="10972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Concentrația substanței active: cea cerută</a:t>
            </a:r>
            <a:endParaRPr lang="en-US" sz="1500" dirty="0"/>
          </a:p>
        </p:txBody>
      </p:sp>
      <p:sp>
        <p:nvSpPr>
          <p:cNvPr id="9" name="Shape 7"/>
          <p:cNvSpPr/>
          <p:nvPr/>
        </p:nvSpPr>
        <p:spPr>
          <a:xfrm rot="90000">
            <a:off x="4023360" y="1737360"/>
            <a:ext cx="3063240" cy="3017520"/>
          </a:xfrm>
          <a:prstGeom prst="rect">
            <a:avLst/>
          </a:prstGeom>
          <a:solidFill>
            <a:srgbClr val="FFFFFF"/>
          </a:solidFill>
          <a:ln w="12700">
            <a:solidFill>
              <a:srgbClr val="C9C6BE"/>
            </a:solidFill>
            <a:prstDash val="solid"/>
          </a:ln>
        </p:spPr>
        <p:txBody>
          <a:bodyPr/>
          <a:p/>
        </p:txBody>
      </p:sp>
      <p:sp>
        <p:nvSpPr>
          <p:cNvPr id="10" name="Text 8"/>
          <p:cNvSpPr/>
          <p:nvPr/>
        </p:nvSpPr>
        <p:spPr>
          <a:xfrm rot="90000">
            <a:off x="4251960" y="1920240"/>
            <a:ext cx="2606040" cy="548640"/>
          </a:xfrm>
          <a:prstGeom prst="rect">
            <a:avLst/>
          </a:prstGeom>
          <a:noFill/>
          <a:ln/>
        </p:spPr>
        <p:txBody>
          <a:bodyPr wrap="square" lIns="0" tIns="0" rIns="0" bIns="0" rtlCol="0" anchor="t"/>
          <a:lstStyle/>
          <a:p>
            <a:pPr indent="0" marL="0">
              <a:buNone/>
            </a:pPr>
            <a:r>
              <a:rPr lang="en-US" sz="1200" b="1" spc="100" kern="0" dirty="0">
                <a:solidFill>
                  <a:srgbClr val="585A64"/>
                </a:solidFill>
                <a:latin typeface="Palatino Linotype" pitchFamily="34" charset="0"/>
                <a:ea typeface="Palatino Linotype" pitchFamily="34" charset="-122"/>
                <a:cs typeface="Palatino Linotype" pitchFamily="34" charset="-120"/>
              </a:rPr>
              <a:t>FIȘA DE LIVRARE · FURNIZOR NOU</a:t>
            </a:r>
            <a:endParaRPr lang="en-US" sz="1200" dirty="0"/>
          </a:p>
        </p:txBody>
      </p:sp>
      <p:sp>
        <p:nvSpPr>
          <p:cNvPr id="11" name="Text 9"/>
          <p:cNvSpPr/>
          <p:nvPr/>
        </p:nvSpPr>
        <p:spPr>
          <a:xfrm rot="90000">
            <a:off x="4251960" y="2514600"/>
            <a:ext cx="260604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Același dezinfectant</a:t>
            </a:r>
            <a:endParaRPr lang="en-US" sz="1500" dirty="0"/>
          </a:p>
        </p:txBody>
      </p:sp>
      <p:sp>
        <p:nvSpPr>
          <p:cNvPr id="12" name="Shape 10"/>
          <p:cNvSpPr/>
          <p:nvPr/>
        </p:nvSpPr>
        <p:spPr>
          <a:xfrm rot="90000">
            <a:off x="4160520" y="3291840"/>
            <a:ext cx="2788920" cy="1097280"/>
          </a:xfrm>
          <a:prstGeom prst="rect">
            <a:avLst/>
          </a:prstGeom>
          <a:solidFill>
            <a:srgbClr val="FFE7A3"/>
          </a:solidFill>
          <a:ln w="9525">
            <a:solidFill>
              <a:srgbClr val="E0C77A"/>
            </a:solidFill>
            <a:prstDash val="solid"/>
          </a:ln>
        </p:spPr>
        <p:txBody>
          <a:bodyPr/>
          <a:p/>
        </p:txBody>
      </p:sp>
      <p:sp>
        <p:nvSpPr>
          <p:cNvPr id="13" name="Text 11"/>
          <p:cNvSpPr/>
          <p:nvPr/>
        </p:nvSpPr>
        <p:spPr>
          <a:xfrm rot="90000">
            <a:off x="4251960" y="3291840"/>
            <a:ext cx="2606040" cy="10972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Concentrația substanței active: alta</a:t>
            </a:r>
            <a:endParaRPr lang="en-US" sz="1500" dirty="0"/>
          </a:p>
        </p:txBody>
      </p:sp>
      <p:sp>
        <p:nvSpPr>
          <p:cNvPr id="14" name="Text 12"/>
          <p:cNvSpPr/>
          <p:nvPr/>
        </p:nvSpPr>
        <p:spPr>
          <a:xfrm>
            <a:off x="3611880" y="4846320"/>
            <a:ext cx="731520" cy="640080"/>
          </a:xfrm>
          <a:prstGeom prst="rect">
            <a:avLst/>
          </a:prstGeom>
          <a:noFill/>
          <a:ln/>
        </p:spPr>
        <p:txBody>
          <a:bodyPr wrap="square" lIns="0" tIns="0" rIns="0" bIns="0" rtlCol="0" anchor="ctr"/>
          <a:lstStyle/>
          <a:p>
            <a:pPr algn="ctr" indent="0" marL="0">
              <a:buNone/>
            </a:pPr>
            <a:r>
              <a:rPr lang="en-US" sz="4000" b="1" dirty="0">
                <a:solidFill>
                  <a:srgbClr val="B02532"/>
                </a:solidFill>
                <a:latin typeface="Palatino Linotype" pitchFamily="34" charset="0"/>
                <a:ea typeface="Palatino Linotype" pitchFamily="34" charset="-122"/>
                <a:cs typeface="Palatino Linotype" pitchFamily="34" charset="-120"/>
              </a:rPr>
              <a:t>≠</a:t>
            </a:r>
            <a:endParaRPr lang="en-US" sz="4000" dirty="0"/>
          </a:p>
        </p:txBody>
      </p:sp>
      <p:sp>
        <p:nvSpPr>
          <p:cNvPr id="15" name="Text 13"/>
          <p:cNvSpPr/>
          <p:nvPr/>
        </p:nvSpPr>
        <p:spPr>
          <a:xfrm>
            <a:off x="7498080" y="1737360"/>
            <a:ext cx="406908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Sunteți medic specialist, angajat al unui spital județean. De două luni, secția primește dezinfectant de la un furnizor nou.</a:t>
            </a:r>
            <a:endParaRPr lang="en-US" sz="1700" dirty="0"/>
          </a:p>
        </p:txBody>
      </p:sp>
      <p:sp>
        <p:nvSpPr>
          <p:cNvPr id="16" name="Text 14"/>
          <p:cNvSpPr/>
          <p:nvPr/>
        </p:nvSpPr>
        <p:spPr>
          <a:xfrm>
            <a:off x="7498080" y="3246120"/>
            <a:ext cx="4069080" cy="731520"/>
          </a:xfrm>
          <a:prstGeom prst="rect">
            <a:avLst/>
          </a:prstGeom>
          <a:noFill/>
          <a:ln/>
        </p:spPr>
        <p:txBody>
          <a:bodyPr wrap="square" lIns="0" tIns="0" rIns="0" bIns="0" rtlCol="0" anchor="t"/>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Asistenta-șefă: „așa a venit de la achiziții”.</a:t>
            </a:r>
            <a:endParaRPr lang="en-US" sz="1700" dirty="0"/>
          </a:p>
        </p:txBody>
      </p:sp>
      <p:sp>
        <p:nvSpPr>
          <p:cNvPr id="17" name="Text 15"/>
          <p:cNvSpPr/>
          <p:nvPr/>
        </p:nvSpPr>
        <p:spPr>
          <a:xfrm>
            <a:off x="7498080" y="4069080"/>
            <a:ext cx="4069080" cy="118872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Nu știți dacă cineva a luat bani. Nu știți dacă dezinfectantul e mai slab.</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3</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faceți întâi?</a:t>
            </a:r>
            <a:endParaRPr lang="en-US" sz="3000" dirty="0"/>
          </a:p>
        </p:txBody>
      </p:sp>
      <p:sp>
        <p:nvSpPr>
          <p:cNvPr id="6" name="Shape 4"/>
          <p:cNvSpPr/>
          <p:nvPr/>
        </p:nvSpPr>
        <p:spPr>
          <a:xfrm>
            <a:off x="594360" y="160020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914400" y="1746504"/>
            <a:ext cx="420624" cy="420624"/>
          </a:xfrm>
          <a:prstGeom prst="ellipse">
            <a:avLst/>
          </a:prstGeom>
          <a:solidFill>
            <a:srgbClr val="FFC24B"/>
          </a:solidFill>
          <a:ln/>
        </p:spPr>
        <p:txBody>
          <a:bodyPr/>
          <a:p/>
        </p:txBody>
      </p:sp>
      <p:sp>
        <p:nvSpPr>
          <p:cNvPr id="8" name="Text 6"/>
          <p:cNvSpPr/>
          <p:nvPr/>
        </p:nvSpPr>
        <p:spPr>
          <a:xfrm>
            <a:off x="914400" y="1746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Nimic, pentru că nu am dovezi</a:t>
            </a:r>
            <a:endParaRPr lang="en-US" sz="1900" dirty="0"/>
          </a:p>
        </p:txBody>
      </p:sp>
      <p:sp>
        <p:nvSpPr>
          <p:cNvPr id="10" name="Shape 8"/>
          <p:cNvSpPr/>
          <p:nvPr/>
        </p:nvSpPr>
        <p:spPr>
          <a:xfrm>
            <a:off x="594360" y="2441448"/>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914400" y="2587752"/>
            <a:ext cx="420624" cy="420624"/>
          </a:xfrm>
          <a:prstGeom prst="ellipse">
            <a:avLst/>
          </a:prstGeom>
          <a:solidFill>
            <a:srgbClr val="FFC24B"/>
          </a:solidFill>
          <a:ln/>
        </p:spPr>
        <p:txBody>
          <a:bodyPr/>
          <a:p/>
        </p:txBody>
      </p:sp>
      <p:sp>
        <p:nvSpPr>
          <p:cNvPr id="12" name="Text 10"/>
          <p:cNvSpPr/>
          <p:nvPr/>
        </p:nvSpPr>
        <p:spPr>
          <a:xfrm>
            <a:off x="914400" y="25877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441448"/>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Raportez pe canalul intern al spitalului</a:t>
            </a:r>
            <a:endParaRPr lang="en-US" sz="1900" dirty="0"/>
          </a:p>
        </p:txBody>
      </p:sp>
      <p:sp>
        <p:nvSpPr>
          <p:cNvPr id="14" name="Shape 12"/>
          <p:cNvSpPr/>
          <p:nvPr/>
        </p:nvSpPr>
        <p:spPr>
          <a:xfrm>
            <a:off x="594360" y="3282696"/>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914400" y="3429000"/>
            <a:ext cx="420624" cy="420624"/>
          </a:xfrm>
          <a:prstGeom prst="ellipse">
            <a:avLst/>
          </a:prstGeom>
          <a:solidFill>
            <a:srgbClr val="FFC24B"/>
          </a:solidFill>
          <a:ln/>
        </p:spPr>
        <p:txBody>
          <a:bodyPr/>
          <a:p/>
        </p:txBody>
      </p:sp>
      <p:sp>
        <p:nvSpPr>
          <p:cNvPr id="16" name="Text 14"/>
          <p:cNvSpPr/>
          <p:nvPr/>
        </p:nvSpPr>
        <p:spPr>
          <a:xfrm>
            <a:off x="914400" y="3429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282696"/>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Raportez direct unei autorități din afara spitalului</a:t>
            </a:r>
            <a:endParaRPr lang="en-US" sz="1900" dirty="0"/>
          </a:p>
        </p:txBody>
      </p:sp>
      <p:sp>
        <p:nvSpPr>
          <p:cNvPr id="18" name="Shape 16"/>
          <p:cNvSpPr/>
          <p:nvPr/>
        </p:nvSpPr>
        <p:spPr>
          <a:xfrm>
            <a:off x="594360" y="4123944"/>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914400" y="4270248"/>
            <a:ext cx="420624" cy="420624"/>
          </a:xfrm>
          <a:prstGeom prst="ellipse">
            <a:avLst/>
          </a:prstGeom>
          <a:solidFill>
            <a:srgbClr val="FFC24B"/>
          </a:solidFill>
          <a:ln/>
        </p:spPr>
        <p:txBody>
          <a:bodyPr/>
          <a:p/>
        </p:txBody>
      </p:sp>
      <p:sp>
        <p:nvSpPr>
          <p:cNvPr id="20" name="Text 18"/>
          <p:cNvSpPr/>
          <p:nvPr/>
        </p:nvSpPr>
        <p:spPr>
          <a:xfrm>
            <a:off x="914400" y="4270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123944"/>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Public fotografiile fișelor pe o rețea socială</a:t>
            </a:r>
            <a:endParaRPr lang="en-US" sz="1900" dirty="0"/>
          </a:p>
        </p:txBody>
      </p:sp>
      <p:sp>
        <p:nvSpPr>
          <p:cNvPr id="22" name="Shape 20"/>
          <p:cNvSpPr/>
          <p:nvPr/>
        </p:nvSpPr>
        <p:spPr>
          <a:xfrm>
            <a:off x="8686800" y="160020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24" name="Text 22"/>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Apoi, un minut cu colegul: ce v-ar face să alegeți altă variantă? Răspundeți pe telefon, la codul afișat.</a:t>
            </a:r>
            <a:endParaRPr lang="en-US" sz="1700" dirty="0"/>
          </a:p>
        </p:txBody>
      </p:sp>
      <p:pic>
        <p:nvPicPr>
          <p:cNvPr id="25" name="Picture 24" descr="Mentimeter_OPT_PLIC_C04.png"/>
          <p:cNvPicPr>
            <a:picLocks noChangeAspect="1"/>
          </p:cNvPicPr>
          <p:nvPr/>
        </p:nvPicPr>
        <p:blipFill>
          <a:blip r:embed="rId3"/>
          <a:stretch>
            <a:fillRect/>
          </a:stretch>
        </p:blipFill>
        <p:spPr>
          <a:xfrm>
            <a:off x="9023350" y="1600200"/>
            <a:ext cx="2207260" cy="2207260"/>
          </a:xfrm>
          <a:prstGeom prst="rect">
            <a:avLst/>
          </a:prstGeom>
        </p:spPr>
      </p:pic>
      <p:sp>
        <p:nvSpPr>
          <p:cNvPr id="26" name="TextBox 25"/>
          <p:cNvSpPr txBox="1"/>
          <p:nvPr/>
        </p:nvSpPr>
        <p:spPr>
          <a:xfrm>
            <a:off x="8686800" y="384556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AL TREILEA TERMEN NOU · LEGEA NR. 361/2022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Avertizorul în interes public</a:t>
            </a:r>
            <a:endParaRPr lang="en-US" sz="3400" dirty="0"/>
          </a:p>
        </p:txBody>
      </p:sp>
      <p:sp>
        <p:nvSpPr>
          <p:cNvPr id="4" name="Shape 2"/>
          <p:cNvSpPr/>
          <p:nvPr/>
        </p:nvSpPr>
        <p:spPr>
          <a:xfrm>
            <a:off x="594360" y="1691640"/>
            <a:ext cx="10972800" cy="1600200"/>
          </a:xfrm>
          <a:prstGeom prst="roundRect">
            <a:avLst>
              <a:gd name="adj" fmla="val 5143"/>
            </a:avLst>
          </a:prstGeom>
          <a:solidFill>
            <a:srgbClr val="ECEAE4"/>
          </a:solidFill>
          <a:ln w="12700">
            <a:solidFill>
              <a:srgbClr val="ECEAE4"/>
            </a:solidFill>
            <a:prstDash val="solid"/>
          </a:ln>
        </p:spPr>
        <p:txBody>
          <a:bodyPr/>
          <a:p/>
        </p:txBody>
      </p:sp>
      <p:sp>
        <p:nvSpPr>
          <p:cNvPr id="5" name="Shape 3"/>
          <p:cNvSpPr/>
          <p:nvPr/>
        </p:nvSpPr>
        <p:spPr>
          <a:xfrm>
            <a:off x="594360" y="1691640"/>
            <a:ext cx="109728" cy="1600200"/>
          </a:xfrm>
          <a:prstGeom prst="rect">
            <a:avLst/>
          </a:prstGeom>
          <a:solidFill>
            <a:srgbClr val="0E7C6B"/>
          </a:solidFill>
          <a:ln w="12700">
            <a:solidFill>
              <a:srgbClr val="0E7C6B"/>
            </a:solidFill>
            <a:prstDash val="solid"/>
          </a:ln>
        </p:spPr>
        <p:txBody>
          <a:bodyPr/>
          <a:p/>
        </p:txBody>
      </p:sp>
      <p:sp>
        <p:nvSpPr>
          <p:cNvPr id="6" name="Text 4"/>
          <p:cNvSpPr/>
          <p:nvPr/>
        </p:nvSpPr>
        <p:spPr>
          <a:xfrm>
            <a:off x="1005840" y="1691640"/>
            <a:ext cx="10332720" cy="1600200"/>
          </a:xfrm>
          <a:prstGeom prst="rect">
            <a:avLst/>
          </a:prstGeom>
          <a:noFill/>
          <a:ln/>
        </p:spPr>
        <p:txBody>
          <a:bodyPr wrap="square" lIns="0" tIns="0" rIns="0" bIns="0" rtlCol="0" anchor="ctr"/>
          <a:lstStyle/>
          <a:p>
            <a:pPr indent="0" marL="0">
              <a:buNone/>
            </a:pPr>
            <a:r>
              <a:rPr lang="en-US" sz="2000" i="1" dirty="0">
                <a:solidFill>
                  <a:srgbClr val="11121A"/>
                </a:solidFill>
                <a:latin typeface="Palatino Linotype" pitchFamily="34" charset="0"/>
                <a:ea typeface="Palatino Linotype" pitchFamily="34" charset="-122"/>
                <a:cs typeface="Palatino Linotype" pitchFamily="34" charset="-120"/>
              </a:rPr>
              <a:t>„persoana fizică care efectuează o raportare sau divulgă public informații referitoare la încălcări ale legii, obținute în context profesional”</a:t>
            </a:r>
            <a:endParaRPr lang="en-US" sz="2000" dirty="0"/>
          </a:p>
        </p:txBody>
      </p:sp>
      <p:sp>
        <p:nvSpPr>
          <p:cNvPr id="7" name="Text 5"/>
          <p:cNvSpPr/>
          <p:nvPr/>
        </p:nvSpPr>
        <p:spPr>
          <a:xfrm>
            <a:off x="594360" y="3429000"/>
            <a:ext cx="10972800" cy="77724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În cuvinte de zi cu zi: cel care spune, pe căile prevăzute de lege, ce a văzut la locul de muncă și nu e în regulă.</a:t>
            </a:r>
            <a:endParaRPr lang="en-US" sz="1800" dirty="0"/>
          </a:p>
        </p:txBody>
      </p:sp>
      <p:sp>
        <p:nvSpPr>
          <p:cNvPr id="8" name="Shape 6"/>
          <p:cNvSpPr/>
          <p:nvPr/>
        </p:nvSpPr>
        <p:spPr>
          <a:xfrm>
            <a:off x="594360" y="4434840"/>
            <a:ext cx="420624" cy="420624"/>
          </a:xfrm>
          <a:prstGeom prst="ellipse">
            <a:avLst/>
          </a:prstGeom>
          <a:solidFill>
            <a:srgbClr val="0E7C6B"/>
          </a:solidFill>
          <a:ln/>
        </p:spPr>
        <p:txBody>
          <a:bodyPr/>
          <a:p/>
        </p:txBody>
      </p:sp>
      <p:sp>
        <p:nvSpPr>
          <p:cNvPr id="9" name="Text 7"/>
          <p:cNvSpPr/>
          <p:nvPr/>
        </p:nvSpPr>
        <p:spPr>
          <a:xfrm>
            <a:off x="594360" y="44348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143000" y="4343400"/>
            <a:ext cx="310896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Informația vine din muncă.</a:t>
            </a:r>
            <a:endParaRPr lang="en-US" sz="1600" dirty="0"/>
          </a:p>
        </p:txBody>
      </p:sp>
      <p:sp>
        <p:nvSpPr>
          <p:cNvPr id="11" name="Shape 9"/>
          <p:cNvSpPr/>
          <p:nvPr/>
        </p:nvSpPr>
        <p:spPr>
          <a:xfrm>
            <a:off x="4343400" y="4434840"/>
            <a:ext cx="420624" cy="420624"/>
          </a:xfrm>
          <a:prstGeom prst="ellipse">
            <a:avLst/>
          </a:prstGeom>
          <a:solidFill>
            <a:srgbClr val="0E7C6B"/>
          </a:solidFill>
          <a:ln/>
        </p:spPr>
        <p:txBody>
          <a:bodyPr/>
          <a:p/>
        </p:txBody>
      </p:sp>
      <p:sp>
        <p:nvSpPr>
          <p:cNvPr id="12" name="Text 10"/>
          <p:cNvSpPr/>
          <p:nvPr/>
        </p:nvSpPr>
        <p:spPr>
          <a:xfrm>
            <a:off x="4343400" y="44348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4892040" y="4343400"/>
            <a:ext cx="310896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Încălcări ale legii, de pildă în achiziții.</a:t>
            </a:r>
            <a:endParaRPr lang="en-US" sz="1600" dirty="0"/>
          </a:p>
        </p:txBody>
      </p:sp>
      <p:sp>
        <p:nvSpPr>
          <p:cNvPr id="14" name="Shape 12"/>
          <p:cNvSpPr/>
          <p:nvPr/>
        </p:nvSpPr>
        <p:spPr>
          <a:xfrm>
            <a:off x="8092440" y="4434840"/>
            <a:ext cx="420624" cy="420624"/>
          </a:xfrm>
          <a:prstGeom prst="ellipse">
            <a:avLst/>
          </a:prstGeom>
          <a:solidFill>
            <a:srgbClr val="0E7C6B"/>
          </a:solidFill>
          <a:ln/>
        </p:spPr>
        <p:txBody>
          <a:bodyPr/>
          <a:p/>
        </p:txBody>
      </p:sp>
      <p:sp>
        <p:nvSpPr>
          <p:cNvPr id="15" name="Text 13"/>
          <p:cNvSpPr/>
          <p:nvPr/>
        </p:nvSpPr>
        <p:spPr>
          <a:xfrm>
            <a:off x="8092440" y="44348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8641080" y="4343400"/>
            <a:ext cx="310896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cere dovezi, ci motive întemeiate.</a:t>
            </a:r>
            <a:endParaRPr lang="en-US" sz="16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avertizorilor · A786, A787, A788, A796.</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DUPĂ VOTUL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Votul nu are un singur răspuns corect</a:t>
            </a:r>
            <a:endParaRPr lang="en-US" sz="3200" dirty="0"/>
          </a:p>
        </p:txBody>
      </p:sp>
      <p:sp>
        <p:nvSpPr>
          <p:cNvPr id="4" name="Shape 2"/>
          <p:cNvSpPr/>
          <p:nvPr/>
        </p:nvSpPr>
        <p:spPr>
          <a:xfrm>
            <a:off x="594360" y="1691640"/>
            <a:ext cx="5349240" cy="2194560"/>
          </a:xfrm>
          <a:prstGeom prst="roundRect">
            <a:avLst>
              <a:gd name="adj" fmla="val 3750"/>
            </a:avLst>
          </a:prstGeom>
          <a:solidFill>
            <a:srgbClr val="ECEAE4"/>
          </a:solidFill>
          <a:ln w="12700">
            <a:solidFill>
              <a:srgbClr val="ECEAE4"/>
            </a:solidFill>
            <a:prstDash val="solid"/>
          </a:ln>
        </p:spPr>
        <p:txBody>
          <a:bodyPr/>
          <a:p/>
        </p:txBody>
      </p:sp>
      <p:sp>
        <p:nvSpPr>
          <p:cNvPr id="5" name="Shape 3"/>
          <p:cNvSpPr/>
          <p:nvPr/>
        </p:nvSpPr>
        <p:spPr>
          <a:xfrm>
            <a:off x="594360" y="1691640"/>
            <a:ext cx="534924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92024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(b) Calea internă</a:t>
            </a:r>
            <a:endParaRPr lang="en-US" sz="1700" dirty="0"/>
          </a:p>
        </p:txBody>
      </p:sp>
      <p:sp>
        <p:nvSpPr>
          <p:cNvPr id="7" name="Text 5"/>
          <p:cNvSpPr/>
          <p:nvPr/>
        </p:nvSpPr>
        <p:spPr>
          <a:xfrm>
            <a:off x="868680" y="2423160"/>
            <a:ext cx="4800600" cy="13258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În spitalul în care lucrați. Legea o numește „în principal”.</a:t>
            </a:r>
            <a:endParaRPr lang="en-US" sz="1800" dirty="0"/>
          </a:p>
        </p:txBody>
      </p:sp>
      <p:sp>
        <p:nvSpPr>
          <p:cNvPr id="8" name="Shape 6"/>
          <p:cNvSpPr/>
          <p:nvPr/>
        </p:nvSpPr>
        <p:spPr>
          <a:xfrm>
            <a:off x="6217920" y="1691640"/>
            <a:ext cx="5349240" cy="2194560"/>
          </a:xfrm>
          <a:prstGeom prst="roundRect">
            <a:avLst>
              <a:gd name="adj" fmla="val 3750"/>
            </a:avLst>
          </a:prstGeom>
          <a:solidFill>
            <a:srgbClr val="ECEAE4"/>
          </a:solidFill>
          <a:ln w="12700">
            <a:solidFill>
              <a:srgbClr val="ECEAE4"/>
            </a:solidFill>
            <a:prstDash val="solid"/>
          </a:ln>
        </p:spPr>
        <p:txBody>
          <a:bodyPr/>
          <a:p/>
        </p:txBody>
      </p:sp>
      <p:sp>
        <p:nvSpPr>
          <p:cNvPr id="9" name="Shape 7"/>
          <p:cNvSpPr/>
          <p:nvPr/>
        </p:nvSpPr>
        <p:spPr>
          <a:xfrm>
            <a:off x="6217920" y="169164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92024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 Calea externă</a:t>
            </a:r>
            <a:endParaRPr lang="en-US" sz="1700" dirty="0"/>
          </a:p>
        </p:txBody>
      </p:sp>
      <p:sp>
        <p:nvSpPr>
          <p:cNvPr id="11" name="Text 9"/>
          <p:cNvSpPr/>
          <p:nvPr/>
        </p:nvSpPr>
        <p:spPr>
          <a:xfrm>
            <a:off x="6492240" y="2423160"/>
            <a:ext cx="4800600" cy="13258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Direct la o autoritate din afară. O puteți alege, de pildă, de teama represaliilor.</a:t>
            </a:r>
            <a:endParaRPr lang="en-US" sz="1800" dirty="0"/>
          </a:p>
        </p:txBody>
      </p:sp>
      <p:sp>
        <p:nvSpPr>
          <p:cNvPr id="12" name="Shape 10"/>
          <p:cNvSpPr/>
          <p:nvPr/>
        </p:nvSpPr>
        <p:spPr>
          <a:xfrm>
            <a:off x="594360" y="4114800"/>
            <a:ext cx="10972800" cy="1417320"/>
          </a:xfrm>
          <a:prstGeom prst="roundRect">
            <a:avLst>
              <a:gd name="adj" fmla="val 5806"/>
            </a:avLst>
          </a:prstGeom>
          <a:solidFill>
            <a:srgbClr val="ECEAE4"/>
          </a:solidFill>
          <a:ln w="12700">
            <a:solidFill>
              <a:srgbClr val="ECEAE4"/>
            </a:solidFill>
            <a:prstDash val="solid"/>
          </a:ln>
        </p:spPr>
        <p:txBody>
          <a:bodyPr/>
          <a:p/>
        </p:txBody>
      </p:sp>
      <p:sp>
        <p:nvSpPr>
          <p:cNvPr id="13" name="Text 11"/>
          <p:cNvSpPr/>
          <p:nvPr/>
        </p:nvSpPr>
        <p:spPr>
          <a:xfrm>
            <a:off x="868680" y="4114800"/>
            <a:ext cx="10424160" cy="141732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 Publicarea fotografiilor pe o rețea socială este o divulgare publică, protejată numai în condițiile legii.</a:t>
            </a:r>
            <a:endParaRPr lang="en-US" sz="19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avertizorilor · A790, A793.</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PE CE CALE · CINE PRIMEȘTE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Unde ajunge raportarea</a:t>
            </a:r>
            <a:endParaRPr lang="en-US" sz="3200" dirty="0"/>
          </a:p>
        </p:txBody>
      </p:sp>
      <p:sp>
        <p:nvSpPr>
          <p:cNvPr id="4" name="Shape 2"/>
          <p:cNvSpPr/>
          <p:nvPr/>
        </p:nvSpPr>
        <p:spPr>
          <a:xfrm>
            <a:off x="594360" y="1691640"/>
            <a:ext cx="5349240" cy="2514600"/>
          </a:xfrm>
          <a:prstGeom prst="roundRect">
            <a:avLst>
              <a:gd name="adj" fmla="val 3273"/>
            </a:avLst>
          </a:prstGeom>
          <a:solidFill>
            <a:srgbClr val="1D1F2B"/>
          </a:solidFill>
          <a:ln w="12700">
            <a:solidFill>
              <a:srgbClr val="1D1F2B"/>
            </a:solidFill>
            <a:prstDash val="solid"/>
          </a:ln>
        </p:spPr>
        <p:txBody>
          <a:bodyPr/>
          <a:p/>
        </p:txBody>
      </p:sp>
      <p:sp>
        <p:nvSpPr>
          <p:cNvPr id="5" name="Shape 3"/>
          <p:cNvSpPr/>
          <p:nvPr/>
        </p:nvSpPr>
        <p:spPr>
          <a:xfrm>
            <a:off x="594360" y="1691640"/>
            <a:ext cx="534924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68680" y="1920240"/>
            <a:ext cx="480060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Intern</a:t>
            </a:r>
            <a:endParaRPr lang="en-US" sz="1700" dirty="0"/>
          </a:p>
        </p:txBody>
      </p:sp>
      <p:sp>
        <p:nvSpPr>
          <p:cNvPr id="7" name="Text 5"/>
          <p:cNvSpPr/>
          <p:nvPr/>
        </p:nvSpPr>
        <p:spPr>
          <a:xfrm>
            <a:off x="868680" y="2423160"/>
            <a:ext cx="4800600" cy="1645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Orice spital public are canal intern; o clinică privată, de la 50 de angajați. Primește o persoană sau un compartiment desemnat, imparțial și independent.</a:t>
            </a:r>
            <a:endParaRPr lang="en-US" sz="1800" dirty="0"/>
          </a:p>
        </p:txBody>
      </p:sp>
      <p:sp>
        <p:nvSpPr>
          <p:cNvPr id="8" name="Shape 6"/>
          <p:cNvSpPr/>
          <p:nvPr/>
        </p:nvSpPr>
        <p:spPr>
          <a:xfrm>
            <a:off x="6217920" y="1691640"/>
            <a:ext cx="5349240" cy="2514600"/>
          </a:xfrm>
          <a:prstGeom prst="roundRect">
            <a:avLst>
              <a:gd name="adj" fmla="val 3273"/>
            </a:avLst>
          </a:prstGeom>
          <a:solidFill>
            <a:srgbClr val="1D1F2B"/>
          </a:solidFill>
          <a:ln w="12700">
            <a:solidFill>
              <a:srgbClr val="1D1F2B"/>
            </a:solidFill>
            <a:prstDash val="solid"/>
          </a:ln>
        </p:spPr>
        <p:txBody>
          <a:bodyPr/>
          <a:p/>
        </p:txBody>
      </p:sp>
      <p:sp>
        <p:nvSpPr>
          <p:cNvPr id="9" name="Shape 7"/>
          <p:cNvSpPr/>
          <p:nvPr/>
        </p:nvSpPr>
        <p:spPr>
          <a:xfrm>
            <a:off x="6217920" y="1691640"/>
            <a:ext cx="5349240" cy="73152"/>
          </a:xfrm>
          <a:prstGeom prst="rect">
            <a:avLst/>
          </a:prstGeom>
          <a:solidFill>
            <a:srgbClr val="27D3BE"/>
          </a:solidFill>
          <a:ln w="12700">
            <a:solidFill>
              <a:srgbClr val="27D3BE"/>
            </a:solidFill>
            <a:prstDash val="solid"/>
          </a:ln>
        </p:spPr>
        <p:txBody>
          <a:bodyPr/>
          <a:p/>
        </p:txBody>
      </p:sp>
      <p:sp>
        <p:nvSpPr>
          <p:cNvPr id="10" name="Text 8"/>
          <p:cNvSpPr/>
          <p:nvPr/>
        </p:nvSpPr>
        <p:spPr>
          <a:xfrm>
            <a:off x="6492240" y="1920240"/>
            <a:ext cx="480060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Extern</a:t>
            </a:r>
            <a:endParaRPr lang="en-US" sz="1700" dirty="0"/>
          </a:p>
        </p:txBody>
      </p:sp>
      <p:sp>
        <p:nvSpPr>
          <p:cNvPr id="11" name="Text 9"/>
          <p:cNvSpPr/>
          <p:nvPr/>
        </p:nvSpPr>
        <p:spPr>
          <a:xfrm>
            <a:off x="6492240" y="2423160"/>
            <a:ext cx="4800600" cy="1645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Autoritatea din domeniu sau Agenția Națională de Integritate, care o poate trimite mai departe.</a:t>
            </a:r>
            <a:endParaRPr lang="en-US" sz="1800" dirty="0"/>
          </a:p>
        </p:txBody>
      </p:sp>
      <p:sp>
        <p:nvSpPr>
          <p:cNvPr id="12" name="Text 10"/>
          <p:cNvSpPr/>
          <p:nvPr/>
        </p:nvSpPr>
        <p:spPr>
          <a:xfrm>
            <a:off x="594360" y="4434840"/>
            <a:ext cx="10972800" cy="11887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 scris, prin telefon sau, la cerere, față în față. O raportare fără nume se examinează și ea, dacă are indicii despre încălcări ale legii.</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legea avertizorilor · A789, A790, A791, A792, A794.</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GHICIȚI · MENTIMETER</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4</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În cât timp trebuie spitalul să vă confirme primirea?</a:t>
            </a:r>
            <a:endParaRPr lang="en-US" sz="3000" dirty="0"/>
          </a:p>
        </p:txBody>
      </p:sp>
      <p:sp>
        <p:nvSpPr>
          <p:cNvPr id="6" name="Text 4"/>
          <p:cNvSpPr/>
          <p:nvPr/>
        </p:nvSpPr>
        <p:spPr>
          <a:xfrm>
            <a:off x="594360" y="1371600"/>
            <a:ext cx="10972800" cy="411480"/>
          </a:xfrm>
          <a:prstGeom prst="rect">
            <a:avLst/>
          </a:prstGeom>
          <a:noFill/>
          <a:ln/>
        </p:spPr>
        <p:txBody>
          <a:bodyPr wrap="square" lIns="0" tIns="0" rIns="0" bIns="0" rtlCol="0" anchor="t"/>
          <a:lstStyle/>
          <a:p>
            <a:pPr indent="0" marL="0">
              <a:buNone/>
            </a:pPr>
            <a:r>
              <a:rPr lang="en-US" sz="1700" i="1" dirty="0">
                <a:solidFill>
                  <a:srgbClr val="D5D8E2"/>
                </a:solidFill>
                <a:latin typeface="Palatino Linotype" pitchFamily="34" charset="0"/>
                <a:ea typeface="Palatino Linotype" pitchFamily="34" charset="-122"/>
                <a:cs typeface="Palatino Linotype" pitchFamily="34" charset="-120"/>
              </a:rPr>
              <a:t>Ați raportat intern luni.</a:t>
            </a:r>
            <a:endParaRPr lang="en-US" sz="1700" dirty="0"/>
          </a:p>
        </p:txBody>
      </p:sp>
      <p:sp>
        <p:nvSpPr>
          <p:cNvPr id="7" name="Shape 5"/>
          <p:cNvSpPr/>
          <p:nvPr/>
        </p:nvSpPr>
        <p:spPr>
          <a:xfrm>
            <a:off x="594360" y="182880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8" name="Shape 6"/>
          <p:cNvSpPr/>
          <p:nvPr/>
        </p:nvSpPr>
        <p:spPr>
          <a:xfrm>
            <a:off x="914400" y="1975104"/>
            <a:ext cx="420624" cy="420624"/>
          </a:xfrm>
          <a:prstGeom prst="ellipse">
            <a:avLst/>
          </a:prstGeom>
          <a:solidFill>
            <a:srgbClr val="27D3BE"/>
          </a:solidFill>
          <a:ln/>
        </p:spPr>
        <p:txBody>
          <a:bodyPr/>
          <a:p/>
        </p:txBody>
      </p:sp>
      <p:sp>
        <p:nvSpPr>
          <p:cNvPr id="9" name="Text 7"/>
          <p:cNvSpPr/>
          <p:nvPr/>
        </p:nvSpPr>
        <p:spPr>
          <a:xfrm>
            <a:off x="91440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1828800"/>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 cel mult 3 zile</a:t>
            </a:r>
            <a:endParaRPr lang="en-US" sz="1900" dirty="0"/>
          </a:p>
        </p:txBody>
      </p:sp>
      <p:sp>
        <p:nvSpPr>
          <p:cNvPr id="11" name="Shape 9"/>
          <p:cNvSpPr/>
          <p:nvPr/>
        </p:nvSpPr>
        <p:spPr>
          <a:xfrm>
            <a:off x="594360" y="2670048"/>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2" name="Shape 10"/>
          <p:cNvSpPr/>
          <p:nvPr/>
        </p:nvSpPr>
        <p:spPr>
          <a:xfrm>
            <a:off x="914400" y="2816352"/>
            <a:ext cx="420624" cy="420624"/>
          </a:xfrm>
          <a:prstGeom prst="ellipse">
            <a:avLst/>
          </a:prstGeom>
          <a:solidFill>
            <a:srgbClr val="27D3BE"/>
          </a:solidFill>
          <a:ln/>
        </p:spPr>
        <p:txBody>
          <a:bodyPr/>
          <a:p/>
        </p:txBody>
      </p:sp>
      <p:sp>
        <p:nvSpPr>
          <p:cNvPr id="13" name="Text 11"/>
          <p:cNvSpPr/>
          <p:nvPr/>
        </p:nvSpPr>
        <p:spPr>
          <a:xfrm>
            <a:off x="91440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2670048"/>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 cel mult 7 zile calendaristice</a:t>
            </a:r>
            <a:endParaRPr lang="en-US" sz="1900" dirty="0"/>
          </a:p>
        </p:txBody>
      </p:sp>
      <p:sp>
        <p:nvSpPr>
          <p:cNvPr id="15" name="Shape 13"/>
          <p:cNvSpPr/>
          <p:nvPr/>
        </p:nvSpPr>
        <p:spPr>
          <a:xfrm>
            <a:off x="594360" y="3511296"/>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6" name="Shape 14"/>
          <p:cNvSpPr/>
          <p:nvPr/>
        </p:nvSpPr>
        <p:spPr>
          <a:xfrm>
            <a:off x="914400" y="3657600"/>
            <a:ext cx="420624" cy="420624"/>
          </a:xfrm>
          <a:prstGeom prst="ellipse">
            <a:avLst/>
          </a:prstGeom>
          <a:solidFill>
            <a:srgbClr val="27D3BE"/>
          </a:solidFill>
          <a:ln/>
        </p:spPr>
        <p:txBody>
          <a:bodyPr/>
          <a:p/>
        </p:txBody>
      </p:sp>
      <p:sp>
        <p:nvSpPr>
          <p:cNvPr id="17" name="Text 15"/>
          <p:cNvSpPr/>
          <p:nvPr/>
        </p:nvSpPr>
        <p:spPr>
          <a:xfrm>
            <a:off x="91440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3511296"/>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 cel mult 30 de zile</a:t>
            </a:r>
            <a:endParaRPr lang="en-US" sz="1900" dirty="0"/>
          </a:p>
        </p:txBody>
      </p:sp>
      <p:sp>
        <p:nvSpPr>
          <p:cNvPr id="19" name="Shape 17"/>
          <p:cNvSpPr/>
          <p:nvPr/>
        </p:nvSpPr>
        <p:spPr>
          <a:xfrm>
            <a:off x="594360" y="4352544"/>
            <a:ext cx="7589520" cy="713232"/>
          </a:xfrm>
          <a:prstGeom prst="roundRect">
            <a:avLst>
              <a:gd name="adj" fmla="val 11538"/>
            </a:avLst>
          </a:prstGeom>
          <a:solidFill>
            <a:srgbClr val="1D1F2B"/>
          </a:solidFill>
          <a:ln w="12700">
            <a:solidFill>
              <a:srgbClr val="1D1F2B"/>
            </a:solidFill>
            <a:prstDash val="solid"/>
          </a:ln>
        </p:spPr>
        <p:txBody>
          <a:bodyPr/>
          <a:p/>
        </p:txBody>
      </p:sp>
      <p:sp>
        <p:nvSpPr>
          <p:cNvPr id="20" name="Shape 18"/>
          <p:cNvSpPr/>
          <p:nvPr/>
        </p:nvSpPr>
        <p:spPr>
          <a:xfrm>
            <a:off x="914400" y="4498848"/>
            <a:ext cx="420624" cy="420624"/>
          </a:xfrm>
          <a:prstGeom prst="ellipse">
            <a:avLst/>
          </a:prstGeom>
          <a:solidFill>
            <a:srgbClr val="27D3BE"/>
          </a:solidFill>
          <a:ln/>
        </p:spPr>
        <p:txBody>
          <a:bodyPr/>
          <a:p/>
        </p:txBody>
      </p:sp>
      <p:sp>
        <p:nvSpPr>
          <p:cNvPr id="21" name="Text 19"/>
          <p:cNvSpPr/>
          <p:nvPr/>
        </p:nvSpPr>
        <p:spPr>
          <a:xfrm>
            <a:off x="91440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4352544"/>
            <a:ext cx="630936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există un termen</a:t>
            </a:r>
            <a:endParaRPr lang="en-US" sz="1900" dirty="0"/>
          </a:p>
        </p:txBody>
      </p:sp>
      <p:sp>
        <p:nvSpPr>
          <p:cNvPr id="23" name="Shape 21"/>
          <p:cNvSpPr/>
          <p:nvPr/>
        </p:nvSpPr>
        <p:spPr>
          <a:xfrm>
            <a:off x="8686800" y="1828800"/>
            <a:ext cx="2880360" cy="2834640"/>
          </a:xfrm>
          <a:prstGeom prst="roundRect">
            <a:avLst>
              <a:gd name="adj" fmla="val 2903"/>
            </a:avLst>
          </a:prstGeom>
          <a:solidFill>
            <a:srgbClr val="FFFFFF"/>
          </a:solidFill>
          <a:ln w="12700">
            <a:solidFill>
              <a:srgbClr val="FFFFFF"/>
            </a:solidFill>
            <a:prstDash val="solid"/>
          </a:ln>
        </p:spPr>
        <p:txBody>
          <a:bodyPr/>
          <a:p/>
        </p:txBody>
      </p:sp>
      <p:sp>
        <p:nvSpPr>
          <p:cNvPr id="25" name="Text 23"/>
          <p:cNvSpPr/>
          <p:nvPr/>
        </p:nvSpPr>
        <p:spPr>
          <a:xfrm>
            <a:off x="594360" y="5532120"/>
            <a:ext cx="10972800" cy="54864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pic>
        <p:nvPicPr>
          <p:cNvPr id="26" name="Picture 25" descr="Mentimeter_OPT_PLIC_C04.png"/>
          <p:cNvPicPr>
            <a:picLocks noChangeAspect="1"/>
          </p:cNvPicPr>
          <p:nvPr/>
        </p:nvPicPr>
        <p:blipFill>
          <a:blip r:embed="rId3"/>
          <a:stretch>
            <a:fillRect/>
          </a:stretch>
        </p:blipFill>
        <p:spPr>
          <a:xfrm>
            <a:off x="9023350" y="1828800"/>
            <a:ext cx="2207260" cy="2207260"/>
          </a:xfrm>
          <a:prstGeom prst="rect">
            <a:avLst/>
          </a:prstGeom>
        </p:spPr>
      </p:pic>
      <p:sp>
        <p:nvSpPr>
          <p:cNvPr id="27" name="TextBox 26"/>
          <p:cNvSpPr txBox="1"/>
          <p:nvPr/>
        </p:nvSpPr>
        <p:spPr>
          <a:xfrm>
            <a:off x="8686800" y="407416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RĂSPUNSUL LA VOTUL 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 În cel mult 7 zile calendaristice</a:t>
            </a:r>
            <a:endParaRPr lang="en-US" sz="3200" dirty="0"/>
          </a:p>
        </p:txBody>
      </p:sp>
      <p:sp>
        <p:nvSpPr>
          <p:cNvPr id="4" name="Shape 2"/>
          <p:cNvSpPr/>
          <p:nvPr/>
        </p:nvSpPr>
        <p:spPr>
          <a:xfrm>
            <a:off x="822960" y="2514600"/>
            <a:ext cx="10515600" cy="54864"/>
          </a:xfrm>
          <a:prstGeom prst="rect">
            <a:avLst/>
          </a:prstGeom>
          <a:solidFill>
            <a:srgbClr val="0E7C6B"/>
          </a:solidFill>
          <a:ln w="12700">
            <a:solidFill>
              <a:srgbClr val="0E7C6B"/>
            </a:solidFill>
            <a:prstDash val="solid"/>
          </a:ln>
        </p:spPr>
        <p:txBody>
          <a:bodyPr/>
          <a:p/>
        </p:txBody>
      </p:sp>
      <p:sp>
        <p:nvSpPr>
          <p:cNvPr id="5" name="Shape 3"/>
          <p:cNvSpPr/>
          <p:nvPr/>
        </p:nvSpPr>
        <p:spPr>
          <a:xfrm>
            <a:off x="1005840" y="2331720"/>
            <a:ext cx="420624" cy="420624"/>
          </a:xfrm>
          <a:prstGeom prst="ellipse">
            <a:avLst/>
          </a:prstGeom>
          <a:solidFill>
            <a:srgbClr val="0E7C6B"/>
          </a:solidFill>
          <a:ln w="25400">
            <a:solidFill>
              <a:srgbClr val="FFFFFF"/>
            </a:solidFill>
            <a:prstDash val="solid"/>
          </a:ln>
        </p:spPr>
        <p:txBody>
          <a:bodyPr/>
          <a:p/>
        </p:txBody>
      </p:sp>
      <p:sp>
        <p:nvSpPr>
          <p:cNvPr id="6" name="Text 4"/>
          <p:cNvSpPr/>
          <p:nvPr/>
        </p:nvSpPr>
        <p:spPr>
          <a:xfrm>
            <a:off x="914400" y="1737360"/>
            <a:ext cx="329184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Luni</a:t>
            </a:r>
            <a:endParaRPr lang="en-US" sz="1700" dirty="0"/>
          </a:p>
        </p:txBody>
      </p:sp>
      <p:sp>
        <p:nvSpPr>
          <p:cNvPr id="7" name="Text 5"/>
          <p:cNvSpPr/>
          <p:nvPr/>
        </p:nvSpPr>
        <p:spPr>
          <a:xfrm>
            <a:off x="914400" y="2880360"/>
            <a:ext cx="3108960" cy="731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Raportați pe canalul intern.</a:t>
            </a:r>
            <a:endParaRPr lang="en-US" sz="1700" dirty="0"/>
          </a:p>
        </p:txBody>
      </p:sp>
      <p:sp>
        <p:nvSpPr>
          <p:cNvPr id="8" name="Shape 6"/>
          <p:cNvSpPr/>
          <p:nvPr/>
        </p:nvSpPr>
        <p:spPr>
          <a:xfrm>
            <a:off x="4846320" y="2331720"/>
            <a:ext cx="420624" cy="420624"/>
          </a:xfrm>
          <a:prstGeom prst="ellipse">
            <a:avLst/>
          </a:prstGeom>
          <a:solidFill>
            <a:srgbClr val="0E7C6B"/>
          </a:solidFill>
          <a:ln w="25400">
            <a:solidFill>
              <a:srgbClr val="FFFFFF"/>
            </a:solidFill>
            <a:prstDash val="solid"/>
          </a:ln>
        </p:spPr>
        <p:txBody>
          <a:bodyPr/>
          <a:p/>
        </p:txBody>
      </p:sp>
      <p:sp>
        <p:nvSpPr>
          <p:cNvPr id="9" name="Text 7"/>
          <p:cNvSpPr/>
          <p:nvPr/>
        </p:nvSpPr>
        <p:spPr>
          <a:xfrm>
            <a:off x="4754880" y="1737360"/>
            <a:ext cx="329184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Cel mult 7 zile calendaristice</a:t>
            </a:r>
            <a:endParaRPr lang="en-US" sz="1700" dirty="0"/>
          </a:p>
        </p:txBody>
      </p:sp>
      <p:sp>
        <p:nvSpPr>
          <p:cNvPr id="10" name="Text 8"/>
          <p:cNvSpPr/>
          <p:nvPr/>
        </p:nvSpPr>
        <p:spPr>
          <a:xfrm>
            <a:off x="4754880" y="2880360"/>
            <a:ext cx="3108960" cy="731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confirmă primirea.</a:t>
            </a:r>
            <a:endParaRPr lang="en-US" sz="1700" dirty="0"/>
          </a:p>
        </p:txBody>
      </p:sp>
      <p:sp>
        <p:nvSpPr>
          <p:cNvPr id="11" name="Shape 9"/>
          <p:cNvSpPr/>
          <p:nvPr/>
        </p:nvSpPr>
        <p:spPr>
          <a:xfrm>
            <a:off x="8869680" y="2331720"/>
            <a:ext cx="420624" cy="420624"/>
          </a:xfrm>
          <a:prstGeom prst="ellipse">
            <a:avLst/>
          </a:prstGeom>
          <a:solidFill>
            <a:srgbClr val="0E7C6B"/>
          </a:solidFill>
          <a:ln w="25400">
            <a:solidFill>
              <a:srgbClr val="FFFFFF"/>
            </a:solidFill>
            <a:prstDash val="solid"/>
          </a:ln>
        </p:spPr>
        <p:txBody>
          <a:bodyPr/>
          <a:p/>
        </p:txBody>
      </p:sp>
      <p:sp>
        <p:nvSpPr>
          <p:cNvPr id="12" name="Text 10"/>
          <p:cNvSpPr/>
          <p:nvPr/>
        </p:nvSpPr>
        <p:spPr>
          <a:xfrm>
            <a:off x="8778240" y="1737360"/>
            <a:ext cx="329184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Cel mult 3 luni de la confirmare</a:t>
            </a:r>
            <a:endParaRPr lang="en-US" sz="1700" dirty="0"/>
          </a:p>
        </p:txBody>
      </p:sp>
      <p:sp>
        <p:nvSpPr>
          <p:cNvPr id="13" name="Text 11"/>
          <p:cNvSpPr/>
          <p:nvPr/>
        </p:nvSpPr>
        <p:spPr>
          <a:xfrm>
            <a:off x="8778240" y="2880360"/>
            <a:ext cx="3108960" cy="731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vă spune stadiul cercetării.</a:t>
            </a:r>
            <a:endParaRPr lang="en-US" sz="1700" dirty="0"/>
          </a:p>
        </p:txBody>
      </p:sp>
      <p:sp>
        <p:nvSpPr>
          <p:cNvPr id="14" name="Text 12"/>
          <p:cNvSpPr/>
          <p:nvPr/>
        </p:nvSpPr>
        <p:spPr>
          <a:xfrm>
            <a:off x="594360" y="3611880"/>
            <a:ext cx="10972800" cy="457200"/>
          </a:xfrm>
          <a:prstGeom prst="rect">
            <a:avLst/>
          </a:prstGeom>
          <a:noFill/>
          <a:ln/>
        </p:spPr>
        <p:txBody>
          <a:bodyPr wrap="square" lIns="0" tIns="0" rIns="0" bIns="0" rtlCol="0" anchor="t"/>
          <a:lstStyle/>
          <a:p>
            <a:pPr indent="0" marL="0">
              <a:buNone/>
            </a:pPr>
            <a:r>
              <a:rPr lang="en-US" sz="1800" i="1" dirty="0">
                <a:solidFill>
                  <a:srgbClr val="11121A"/>
                </a:solidFill>
                <a:latin typeface="Palatino Linotype" pitchFamily="34" charset="0"/>
                <a:ea typeface="Palatino Linotype" pitchFamily="34" charset="-122"/>
                <a:cs typeface="Palatino Linotype" pitchFamily="34" charset="-120"/>
              </a:rPr>
              <a:t>Fără confirmare? Cele 3 luni curg de la expirarea celor 7 zile.</a:t>
            </a:r>
            <a:endParaRPr lang="en-US" sz="1800" dirty="0"/>
          </a:p>
        </p:txBody>
      </p:sp>
      <p:sp>
        <p:nvSpPr>
          <p:cNvPr id="15" name="Shape 13"/>
          <p:cNvSpPr/>
          <p:nvPr/>
        </p:nvSpPr>
        <p:spPr>
          <a:xfrm>
            <a:off x="594360" y="4251960"/>
            <a:ext cx="10972800" cy="1508760"/>
          </a:xfrm>
          <a:prstGeom prst="roundRect">
            <a:avLst>
              <a:gd name="adj" fmla="val 5455"/>
            </a:avLst>
          </a:prstGeom>
          <a:solidFill>
            <a:srgbClr val="ECEAE4"/>
          </a:solidFill>
          <a:ln w="12700">
            <a:solidFill>
              <a:srgbClr val="ECEAE4"/>
            </a:solidFill>
            <a:prstDash val="solid"/>
          </a:ln>
        </p:spPr>
        <p:txBody>
          <a:bodyPr/>
          <a:p/>
        </p:txBody>
      </p:sp>
      <p:sp>
        <p:nvSpPr>
          <p:cNvPr id="16" name="Text 14"/>
          <p:cNvSpPr/>
          <p:nvPr/>
        </p:nvSpPr>
        <p:spPr>
          <a:xfrm>
            <a:off x="868680" y="4389120"/>
            <a:ext cx="10424160" cy="320040"/>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PE CALEA EXTERNĂ</a:t>
            </a:r>
            <a:endParaRPr lang="en-US" sz="1300" dirty="0"/>
          </a:p>
        </p:txBody>
      </p:sp>
      <p:sp>
        <p:nvSpPr>
          <p:cNvPr id="17" name="Text 15"/>
          <p:cNvSpPr/>
          <p:nvPr/>
        </p:nvSpPr>
        <p:spPr>
          <a:xfrm>
            <a:off x="868680" y="4709160"/>
            <a:ext cx="1042416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Agenția Națională de Integritate confirmă cel târziu în 7 zile calendaristice și vă informează în cel mult 3 luni (6 luni, în cazuri justificate).</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avertizorilor · A794, A795.</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VĂ PROTEJEAZĂ LEGEA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condiții, îndeplinite împreună</a:t>
            </a:r>
            <a:endParaRPr lang="en-US" sz="3200" dirty="0"/>
          </a:p>
        </p:txBody>
      </p:sp>
      <p:sp>
        <p:nvSpPr>
          <p:cNvPr id="4" name="Shape 2"/>
          <p:cNvSpPr/>
          <p:nvPr/>
        </p:nvSpPr>
        <p:spPr>
          <a:xfrm>
            <a:off x="594360" y="1645920"/>
            <a:ext cx="10972800" cy="694944"/>
          </a:xfrm>
          <a:prstGeom prst="roundRect">
            <a:avLst>
              <a:gd name="adj" fmla="val 11842"/>
            </a:avLst>
          </a:prstGeom>
          <a:solidFill>
            <a:srgbClr val="1D1F2B"/>
          </a:solidFill>
          <a:ln w="12700">
            <a:solidFill>
              <a:srgbClr val="1D1F2B"/>
            </a:solidFill>
            <a:prstDash val="solid"/>
          </a:ln>
        </p:spPr>
        <p:txBody>
          <a:bodyPr/>
          <a:p/>
        </p:txBody>
      </p:sp>
      <p:sp>
        <p:nvSpPr>
          <p:cNvPr id="5" name="Shape 3"/>
          <p:cNvSpPr/>
          <p:nvPr/>
        </p:nvSpPr>
        <p:spPr>
          <a:xfrm>
            <a:off x="914400" y="1783080"/>
            <a:ext cx="420624" cy="420624"/>
          </a:xfrm>
          <a:prstGeom prst="ellipse">
            <a:avLst/>
          </a:prstGeom>
          <a:solidFill>
            <a:srgbClr val="27D3BE"/>
          </a:solidFill>
          <a:ln/>
        </p:spPr>
        <p:txBody>
          <a:bodyPr/>
          <a:p/>
        </p:txBody>
      </p:sp>
      <p:sp>
        <p:nvSpPr>
          <p:cNvPr id="6" name="Text 4"/>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45920"/>
            <a:ext cx="969264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Legea vi se aplică, iar informația vine dintr-un context profesional.</a:t>
            </a:r>
            <a:endParaRPr lang="en-US" sz="1700" dirty="0"/>
          </a:p>
        </p:txBody>
      </p:sp>
      <p:sp>
        <p:nvSpPr>
          <p:cNvPr id="8" name="Shape 6"/>
          <p:cNvSpPr/>
          <p:nvPr/>
        </p:nvSpPr>
        <p:spPr>
          <a:xfrm>
            <a:off x="594360" y="2450592"/>
            <a:ext cx="10972800" cy="694944"/>
          </a:xfrm>
          <a:prstGeom prst="roundRect">
            <a:avLst>
              <a:gd name="adj" fmla="val 11842"/>
            </a:avLst>
          </a:prstGeom>
          <a:solidFill>
            <a:srgbClr val="1D1F2B"/>
          </a:solidFill>
          <a:ln w="12700">
            <a:solidFill>
              <a:srgbClr val="1D1F2B"/>
            </a:solidFill>
            <a:prstDash val="solid"/>
          </a:ln>
        </p:spPr>
        <p:txBody>
          <a:bodyPr/>
          <a:p/>
        </p:txBody>
      </p:sp>
      <p:sp>
        <p:nvSpPr>
          <p:cNvPr id="9" name="Shape 7"/>
          <p:cNvSpPr/>
          <p:nvPr/>
        </p:nvSpPr>
        <p:spPr>
          <a:xfrm>
            <a:off x="914400" y="2587752"/>
            <a:ext cx="420624" cy="420624"/>
          </a:xfrm>
          <a:prstGeom prst="ellipse">
            <a:avLst/>
          </a:prstGeom>
          <a:solidFill>
            <a:srgbClr val="27D3BE"/>
          </a:solidFill>
          <a:ln/>
        </p:spPr>
        <p:txBody>
          <a:bodyPr/>
          <a:p/>
        </p:txBody>
      </p:sp>
      <p:sp>
        <p:nvSpPr>
          <p:cNvPr id="10" name="Text 8"/>
          <p:cNvSpPr/>
          <p:nvPr/>
        </p:nvSpPr>
        <p:spPr>
          <a:xfrm>
            <a:off x="914400" y="25877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450592"/>
            <a:ext cx="969264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Aveați motive întemeiate să credeți că informația era adevărată când ați raportat.</a:t>
            </a:r>
            <a:endParaRPr lang="en-US" sz="1700" dirty="0"/>
          </a:p>
        </p:txBody>
      </p:sp>
      <p:sp>
        <p:nvSpPr>
          <p:cNvPr id="12" name="Shape 10"/>
          <p:cNvSpPr/>
          <p:nvPr/>
        </p:nvSpPr>
        <p:spPr>
          <a:xfrm>
            <a:off x="594360" y="3255264"/>
            <a:ext cx="10972800" cy="694944"/>
          </a:xfrm>
          <a:prstGeom prst="roundRect">
            <a:avLst>
              <a:gd name="adj" fmla="val 11842"/>
            </a:avLst>
          </a:prstGeom>
          <a:solidFill>
            <a:srgbClr val="1D1F2B"/>
          </a:solidFill>
          <a:ln w="12700">
            <a:solidFill>
              <a:srgbClr val="1D1F2B"/>
            </a:solidFill>
            <a:prstDash val="solid"/>
          </a:ln>
        </p:spPr>
        <p:txBody>
          <a:bodyPr/>
          <a:p/>
        </p:txBody>
      </p:sp>
      <p:sp>
        <p:nvSpPr>
          <p:cNvPr id="13" name="Shape 11"/>
          <p:cNvSpPr/>
          <p:nvPr/>
        </p:nvSpPr>
        <p:spPr>
          <a:xfrm>
            <a:off x="914400" y="3392424"/>
            <a:ext cx="420624" cy="420624"/>
          </a:xfrm>
          <a:prstGeom prst="ellipse">
            <a:avLst/>
          </a:prstGeom>
          <a:solidFill>
            <a:srgbClr val="27D3BE"/>
          </a:solidFill>
          <a:ln/>
        </p:spPr>
        <p:txBody>
          <a:bodyPr/>
          <a:p/>
        </p:txBody>
      </p:sp>
      <p:sp>
        <p:nvSpPr>
          <p:cNvPr id="14" name="Text 12"/>
          <p:cNvSpPr/>
          <p:nvPr/>
        </p:nvSpPr>
        <p:spPr>
          <a:xfrm>
            <a:off x="914400" y="3392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255264"/>
            <a:ext cx="969264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Ați raportat intern, extern sau prin divulgare publică.</a:t>
            </a:r>
            <a:endParaRPr lang="en-US" sz="1700" dirty="0"/>
          </a:p>
        </p:txBody>
      </p:sp>
      <p:sp>
        <p:nvSpPr>
          <p:cNvPr id="16" name="Shape 14"/>
          <p:cNvSpPr/>
          <p:nvPr/>
        </p:nvSpPr>
        <p:spPr>
          <a:xfrm>
            <a:off x="594360" y="4160520"/>
            <a:ext cx="10972800" cy="1783080"/>
          </a:xfrm>
          <a:prstGeom prst="roundRect">
            <a:avLst>
              <a:gd name="adj" fmla="val 4615"/>
            </a:avLst>
          </a:prstGeom>
          <a:solidFill>
            <a:srgbClr val="272A38"/>
          </a:solidFill>
          <a:ln w="12700">
            <a:solidFill>
              <a:srgbClr val="272A38"/>
            </a:solidFill>
            <a:prstDash val="solid"/>
          </a:ln>
        </p:spPr>
        <p:txBody>
          <a:bodyPr/>
          <a:p/>
        </p:txBody>
      </p:sp>
      <p:sp>
        <p:nvSpPr>
          <p:cNvPr id="17" name="Text 15"/>
          <p:cNvSpPr/>
          <p:nvPr/>
        </p:nvSpPr>
        <p:spPr>
          <a:xfrm>
            <a:off x="868680" y="4160520"/>
            <a:ext cx="10424160" cy="1783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Represaliile sunt interzise: concedierea, reducerea salariului, evaluările negative, sancțiunile, hărțuirea. În instanță, angajatorul trebuie să dovedească alte motive; dacă le contestați, baroul vă asigură, la cerere, asistență judiciară gratuită.</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legea avertizorilor · A796, A797, A798.</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NU VĂ PERMITE LEGEA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Limita cea mai importantă pentru un medic</a:t>
            </a:r>
            <a:endParaRPr lang="en-US" sz="3000" dirty="0"/>
          </a:p>
        </p:txBody>
      </p:sp>
      <p:sp>
        <p:nvSpPr>
          <p:cNvPr id="4" name="Shape 2"/>
          <p:cNvSpPr/>
          <p:nvPr/>
        </p:nvSpPr>
        <p:spPr>
          <a:xfrm>
            <a:off x="594360" y="1691640"/>
            <a:ext cx="5349240" cy="2377440"/>
          </a:xfrm>
          <a:prstGeom prst="roundRect">
            <a:avLst>
              <a:gd name="adj" fmla="val 3462"/>
            </a:avLst>
          </a:prstGeom>
          <a:solidFill>
            <a:srgbClr val="ECEAE4"/>
          </a:solidFill>
          <a:ln w="12700">
            <a:solidFill>
              <a:srgbClr val="ECEAE4"/>
            </a:solidFill>
            <a:prstDash val="solid"/>
          </a:ln>
        </p:spPr>
        <p:txBody>
          <a:bodyPr/>
          <a:p/>
        </p:txBody>
      </p:sp>
      <p:sp>
        <p:nvSpPr>
          <p:cNvPr id="5" name="Shape 3"/>
          <p:cNvSpPr/>
          <p:nvPr/>
        </p:nvSpPr>
        <p:spPr>
          <a:xfrm>
            <a:off x="594360" y="1691640"/>
            <a:ext cx="534924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920240"/>
            <a:ext cx="48006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 vă scutește</a:t>
            </a:r>
            <a:endParaRPr lang="en-US" sz="1700" dirty="0"/>
          </a:p>
        </p:txBody>
      </p:sp>
      <p:sp>
        <p:nvSpPr>
          <p:cNvPr id="7" name="Text 5"/>
          <p:cNvSpPr/>
          <p:nvPr/>
        </p:nvSpPr>
        <p:spPr>
          <a:xfrm>
            <a:off x="868680" y="2423160"/>
            <a:ext cx="4800600" cy="15087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Raportând în condițiile legii, nu răspundeți pentru divulgarea informațiilor și nici pentru accesarea datelor din muncă, folosite ca să raportați.</a:t>
            </a:r>
            <a:endParaRPr lang="en-US" sz="1800" dirty="0"/>
          </a:p>
        </p:txBody>
      </p:sp>
      <p:sp>
        <p:nvSpPr>
          <p:cNvPr id="8" name="Shape 6"/>
          <p:cNvSpPr/>
          <p:nvPr/>
        </p:nvSpPr>
        <p:spPr>
          <a:xfrm>
            <a:off x="6217920" y="1691640"/>
            <a:ext cx="5349240" cy="2377440"/>
          </a:xfrm>
          <a:prstGeom prst="roundRect">
            <a:avLst>
              <a:gd name="adj" fmla="val 3462"/>
            </a:avLst>
          </a:prstGeom>
          <a:solidFill>
            <a:srgbClr val="ECEAE4"/>
          </a:solidFill>
          <a:ln w="12700">
            <a:solidFill>
              <a:srgbClr val="ECEAE4"/>
            </a:solidFill>
            <a:prstDash val="solid"/>
          </a:ln>
        </p:spPr>
        <p:txBody>
          <a:bodyPr/>
          <a:p/>
        </p:txBody>
      </p:sp>
      <p:sp>
        <p:nvSpPr>
          <p:cNvPr id="9" name="Shape 7"/>
          <p:cNvSpPr/>
          <p:nvPr/>
        </p:nvSpPr>
        <p:spPr>
          <a:xfrm>
            <a:off x="6217920" y="1691640"/>
            <a:ext cx="534924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92240" y="1920240"/>
            <a:ext cx="4800600" cy="4114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Ce rămâne în vigoare</a:t>
            </a:r>
            <a:endParaRPr lang="en-US" sz="1700" dirty="0"/>
          </a:p>
        </p:txBody>
      </p:sp>
      <p:sp>
        <p:nvSpPr>
          <p:cNvPr id="11" name="Text 9"/>
          <p:cNvSpPr/>
          <p:nvPr/>
        </p:nvSpPr>
        <p:spPr>
          <a:xfrm>
            <a:off x="6492240" y="2423160"/>
            <a:ext cx="4800600" cy="15087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Confidențialitatea informațiilor medicale. Scrieți despre fișe, date de livrare și contracte, nu despre pacienți identificabili.</a:t>
            </a:r>
            <a:endParaRPr lang="en-US" sz="1800" dirty="0"/>
          </a:p>
        </p:txBody>
      </p:sp>
      <p:sp>
        <p:nvSpPr>
          <p:cNvPr id="12" name="Shape 10"/>
          <p:cNvSpPr/>
          <p:nvPr/>
        </p:nvSpPr>
        <p:spPr>
          <a:xfrm>
            <a:off x="594360" y="4434840"/>
            <a:ext cx="5349240" cy="329184"/>
          </a:xfrm>
          <a:prstGeom prst="roundRect">
            <a:avLst>
              <a:gd name="adj" fmla="val 50000"/>
            </a:avLst>
          </a:prstGeom>
          <a:solidFill>
            <a:srgbClr val="0E7C6B"/>
          </a:solidFill>
          <a:ln w="12700">
            <a:solidFill>
              <a:srgbClr val="0E7C6B"/>
            </a:solidFill>
            <a:prstDash val="solid"/>
          </a:ln>
        </p:spPr>
        <p:txBody>
          <a:bodyPr/>
          <a:p/>
        </p:txBody>
      </p:sp>
      <p:sp>
        <p:nvSpPr>
          <p:cNvPr id="13" name="Text 11"/>
          <p:cNvSpPr/>
          <p:nvPr/>
        </p:nvSpPr>
        <p:spPr>
          <a:xfrm>
            <a:off x="594360" y="4434840"/>
            <a:ext cx="53492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Stabilit: cele două hârtii nu se potrivesc.</a:t>
            </a:r>
            <a:endParaRPr lang="en-US" sz="1500" dirty="0"/>
          </a:p>
        </p:txBody>
      </p:sp>
      <p:sp>
        <p:nvSpPr>
          <p:cNvPr id="14" name="Shape 12"/>
          <p:cNvSpPr/>
          <p:nvPr/>
        </p:nvSpPr>
        <p:spPr>
          <a:xfrm>
            <a:off x="6217920" y="4434840"/>
            <a:ext cx="5349240" cy="329184"/>
          </a:xfrm>
          <a:prstGeom prst="roundRect">
            <a:avLst>
              <a:gd name="adj" fmla="val 50000"/>
            </a:avLst>
          </a:prstGeom>
          <a:solidFill>
            <a:srgbClr val="B02532"/>
          </a:solidFill>
          <a:ln w="12700">
            <a:solidFill>
              <a:srgbClr val="B02532"/>
            </a:solidFill>
            <a:prstDash val="solid"/>
          </a:ln>
        </p:spPr>
        <p:txBody>
          <a:bodyPr/>
          <a:p/>
        </p:txBody>
      </p:sp>
      <p:sp>
        <p:nvSpPr>
          <p:cNvPr id="15" name="Text 13"/>
          <p:cNvSpPr/>
          <p:nvPr/>
        </p:nvSpPr>
        <p:spPr>
          <a:xfrm>
            <a:off x="6217920" y="4434840"/>
            <a:ext cx="53492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Nestabilit: că cineva a furat.</a:t>
            </a:r>
            <a:endParaRPr lang="en-US" sz="15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avertizorilor · A799, A800, A803, A804.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TREI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DOI VOLUNTARI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Medicul raportează</a:t>
            </a:r>
            <a:endParaRPr lang="en-US" sz="3400" dirty="0"/>
          </a:p>
        </p:txBody>
      </p:sp>
      <p:sp>
        <p:nvSpPr>
          <p:cNvPr id="6" name="Shape 4"/>
          <p:cNvSpPr/>
          <p:nvPr/>
        </p:nvSpPr>
        <p:spPr>
          <a:xfrm>
            <a:off x="594360" y="1691640"/>
            <a:ext cx="7680960" cy="1097280"/>
          </a:xfrm>
          <a:prstGeom prst="roundRect">
            <a:avLst>
              <a:gd name="adj" fmla="val 7500"/>
            </a:avLst>
          </a:prstGeom>
          <a:solidFill>
            <a:srgbClr val="1D1F2B"/>
          </a:solidFill>
          <a:ln w="12700">
            <a:solidFill>
              <a:srgbClr val="1D1F2B"/>
            </a:solidFill>
            <a:prstDash val="solid"/>
          </a:ln>
        </p:spPr>
        <p:txBody>
          <a:bodyPr/>
          <a:p/>
        </p:txBody>
      </p:sp>
      <p:sp>
        <p:nvSpPr>
          <p:cNvPr id="7" name="Text 5"/>
          <p:cNvSpPr/>
          <p:nvPr/>
        </p:nvSpPr>
        <p:spPr>
          <a:xfrm>
            <a:off x="868680" y="1801368"/>
            <a:ext cx="7223760" cy="36576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Medicul din caz</a:t>
            </a:r>
            <a:endParaRPr lang="en-US" sz="1700" dirty="0"/>
          </a:p>
        </p:txBody>
      </p:sp>
      <p:sp>
        <p:nvSpPr>
          <p:cNvPr id="8" name="Text 6"/>
          <p:cNvSpPr/>
          <p:nvPr/>
        </p:nvSpPr>
        <p:spPr>
          <a:xfrm>
            <a:off x="868680" y="2167128"/>
            <a:ext cx="7223760" cy="5486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Spune ce a văzut, fără să acuze pe nimeni și fără date despre pacienți.</a:t>
            </a:r>
            <a:endParaRPr lang="en-US" sz="1700" dirty="0"/>
          </a:p>
        </p:txBody>
      </p:sp>
      <p:sp>
        <p:nvSpPr>
          <p:cNvPr id="9" name="Shape 7"/>
          <p:cNvSpPr/>
          <p:nvPr/>
        </p:nvSpPr>
        <p:spPr>
          <a:xfrm>
            <a:off x="594360" y="2926080"/>
            <a:ext cx="7680960" cy="1097280"/>
          </a:xfrm>
          <a:prstGeom prst="roundRect">
            <a:avLst>
              <a:gd name="adj" fmla="val 7500"/>
            </a:avLst>
          </a:prstGeom>
          <a:solidFill>
            <a:srgbClr val="1D1F2B"/>
          </a:solidFill>
          <a:ln w="12700">
            <a:solidFill>
              <a:srgbClr val="1D1F2B"/>
            </a:solidFill>
            <a:prstDash val="solid"/>
          </a:ln>
        </p:spPr>
        <p:txBody>
          <a:bodyPr/>
          <a:p/>
        </p:txBody>
      </p:sp>
      <p:sp>
        <p:nvSpPr>
          <p:cNvPr id="10" name="Text 8"/>
          <p:cNvSpPr/>
          <p:nvPr/>
        </p:nvSpPr>
        <p:spPr>
          <a:xfrm>
            <a:off x="868680" y="3035808"/>
            <a:ext cx="7223760" cy="36576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Persoana desemnată de spital</a:t>
            </a:r>
            <a:endParaRPr lang="en-US" sz="1700" dirty="0"/>
          </a:p>
        </p:txBody>
      </p:sp>
      <p:sp>
        <p:nvSpPr>
          <p:cNvPr id="11" name="Text 9"/>
          <p:cNvSpPr/>
          <p:nvPr/>
        </p:nvSpPr>
        <p:spPr>
          <a:xfrm>
            <a:off x="868680" y="3401568"/>
            <a:ext cx="7223760" cy="5486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Primește raportarea și poate pune întrebări.</a:t>
            </a:r>
            <a:endParaRPr lang="en-US" sz="1700" dirty="0"/>
          </a:p>
        </p:txBody>
      </p:sp>
      <p:sp>
        <p:nvSpPr>
          <p:cNvPr id="12" name="Shape 10"/>
          <p:cNvSpPr/>
          <p:nvPr/>
        </p:nvSpPr>
        <p:spPr>
          <a:xfrm>
            <a:off x="8686800" y="1691640"/>
            <a:ext cx="2880360" cy="2331720"/>
          </a:xfrm>
          <a:prstGeom prst="roundRect">
            <a:avLst>
              <a:gd name="adj" fmla="val 3529"/>
            </a:avLst>
          </a:prstGeom>
          <a:solidFill>
            <a:srgbClr val="FFFFFF"/>
          </a:solidFill>
          <a:ln w="12700">
            <a:solidFill>
              <a:srgbClr val="FFFFFF"/>
            </a:solidFill>
            <a:prstDash val="solid"/>
          </a:ln>
        </p:spPr>
        <p:txBody>
          <a:bodyPr/>
          <a:p/>
        </p:txBody>
      </p:sp>
      <p:sp>
        <p:nvSpPr>
          <p:cNvPr id="14" name="Text 12"/>
          <p:cNvSpPr/>
          <p:nvPr/>
        </p:nvSpPr>
        <p:spPr>
          <a:xfrm>
            <a:off x="594360" y="4251960"/>
            <a:ext cx="10972800" cy="7315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Apoi votați: medicul a spus numai fapte, a amestecat fapte cu bănuieli sau a acuzat pe cineva?</a:t>
            </a:r>
            <a:endParaRPr lang="en-US" sz="1800" dirty="0"/>
          </a:p>
        </p:txBody>
      </p:sp>
      <p:sp>
        <p:nvSpPr>
          <p:cNvPr id="15" name="Text 13"/>
          <p:cNvSpPr/>
          <p:nvPr/>
        </p:nvSpPr>
        <p:spPr>
          <a:xfrm>
            <a:off x="594360" y="498348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La sfârșit, un singur cuvânt: ce v-ar opri să raportați?</a:t>
            </a:r>
            <a:endParaRPr lang="en-US" sz="1800" dirty="0"/>
          </a:p>
        </p:txBody>
      </p:sp>
      <p:sp>
        <p:nvSpPr>
          <p:cNvPr id="16" name="Text 14"/>
          <p:cNvSpPr/>
          <p:nvPr/>
        </p:nvSpPr>
        <p:spPr>
          <a:xfrm>
            <a:off x="594360" y="5532120"/>
            <a:ext cx="10972800" cy="4572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pic>
        <p:nvPicPr>
          <p:cNvPr id="17" name="Picture 16" descr="Mentimeter_OPT_PLIC_C04.png"/>
          <p:cNvPicPr>
            <a:picLocks noChangeAspect="1"/>
          </p:cNvPicPr>
          <p:nvPr/>
        </p:nvPicPr>
        <p:blipFill>
          <a:blip r:embed="rId3"/>
          <a:stretch>
            <a:fillRect/>
          </a:stretch>
        </p:blipFill>
        <p:spPr>
          <a:xfrm>
            <a:off x="9274810" y="1691640"/>
            <a:ext cx="1704340" cy="1704340"/>
          </a:xfrm>
          <a:prstGeom prst="rect">
            <a:avLst/>
          </a:prstGeom>
        </p:spPr>
      </p:pic>
      <p:sp>
        <p:nvSpPr>
          <p:cNvPr id="18" name="TextBox 17"/>
          <p:cNvSpPr txBox="1"/>
          <p:nvPr/>
        </p:nvSpPr>
        <p:spPr>
          <a:xfrm>
            <a:off x="8686800" y="3434080"/>
            <a:ext cx="28803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CE ÎNSEAMNĂ PENTRU VOI, CA MEDICI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Înainte să aveți nevoie</a:t>
            </a:r>
            <a:endParaRPr lang="en-US" sz="3200" dirty="0"/>
          </a:p>
        </p:txBody>
      </p:sp>
      <p:sp>
        <p:nvSpPr>
          <p:cNvPr id="4" name="Shape 2"/>
          <p:cNvSpPr/>
          <p:nvPr/>
        </p:nvSpPr>
        <p:spPr>
          <a:xfrm>
            <a:off x="594360" y="1645920"/>
            <a:ext cx="10972800" cy="713232"/>
          </a:xfrm>
          <a:prstGeom prst="roundRect">
            <a:avLst>
              <a:gd name="adj" fmla="val 11538"/>
            </a:avLst>
          </a:prstGeom>
          <a:solidFill>
            <a:srgbClr val="ECEAE4"/>
          </a:solidFill>
          <a:ln w="12700">
            <a:solidFill>
              <a:srgbClr val="ECEAE4"/>
            </a:solidFill>
            <a:prstDash val="solid"/>
          </a:ln>
        </p:spPr>
        <p:txBody>
          <a:bodyPr/>
          <a:p/>
        </p:txBody>
      </p:sp>
      <p:sp>
        <p:nvSpPr>
          <p:cNvPr id="5" name="Shape 3"/>
          <p:cNvSpPr/>
          <p:nvPr/>
        </p:nvSpPr>
        <p:spPr>
          <a:xfrm>
            <a:off x="914400" y="1792224"/>
            <a:ext cx="420624" cy="420624"/>
          </a:xfrm>
          <a:prstGeom prst="ellipse">
            <a:avLst/>
          </a:prstGeom>
          <a:solidFill>
            <a:srgbClr val="0E7C6B"/>
          </a:solidFill>
          <a:ln/>
        </p:spPr>
        <p:txBody>
          <a:bodyPr/>
          <a:p/>
        </p:txBody>
      </p:sp>
      <p:sp>
        <p:nvSpPr>
          <p:cNvPr id="6" name="Text 4"/>
          <p:cNvSpPr/>
          <p:nvPr/>
        </p:nvSpPr>
        <p:spPr>
          <a:xfrm>
            <a:off x="914400" y="1792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45920"/>
            <a:ext cx="969264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Aflați, din primul an de rezidențiat, cine primește raportările în spitalul vostru.</a:t>
            </a:r>
            <a:endParaRPr lang="en-US" sz="1700" dirty="0"/>
          </a:p>
        </p:txBody>
      </p:sp>
      <p:sp>
        <p:nvSpPr>
          <p:cNvPr id="8" name="Shape 6"/>
          <p:cNvSpPr/>
          <p:nvPr/>
        </p:nvSpPr>
        <p:spPr>
          <a:xfrm>
            <a:off x="594360" y="2468880"/>
            <a:ext cx="10972800" cy="713232"/>
          </a:xfrm>
          <a:prstGeom prst="roundRect">
            <a:avLst>
              <a:gd name="adj" fmla="val 11538"/>
            </a:avLst>
          </a:prstGeom>
          <a:solidFill>
            <a:srgbClr val="ECEAE4"/>
          </a:solidFill>
          <a:ln w="12700">
            <a:solidFill>
              <a:srgbClr val="ECEAE4"/>
            </a:solidFill>
            <a:prstDash val="solid"/>
          </a:ln>
        </p:spPr>
        <p:txBody>
          <a:bodyPr/>
          <a:p/>
        </p:txBody>
      </p:sp>
      <p:sp>
        <p:nvSpPr>
          <p:cNvPr id="9" name="Shape 7"/>
          <p:cNvSpPr/>
          <p:nvPr/>
        </p:nvSpPr>
        <p:spPr>
          <a:xfrm>
            <a:off x="914400" y="2615184"/>
            <a:ext cx="420624" cy="420624"/>
          </a:xfrm>
          <a:prstGeom prst="ellipse">
            <a:avLst/>
          </a:prstGeom>
          <a:solidFill>
            <a:srgbClr val="0E7C6B"/>
          </a:solidFill>
          <a:ln/>
        </p:spPr>
        <p:txBody>
          <a:bodyPr/>
          <a:p/>
        </p:txBody>
      </p:sp>
      <p:sp>
        <p:nvSpPr>
          <p:cNvPr id="10" name="Text 8"/>
          <p:cNvSpPr/>
          <p:nvPr/>
        </p:nvSpPr>
        <p:spPr>
          <a:xfrm>
            <a:off x="914400" y="2615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468880"/>
            <a:ext cx="969264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Scrieți ce ați văzut, cu date și documente, și păstrați confirmarea de primire.</a:t>
            </a:r>
            <a:endParaRPr lang="en-US" sz="1700" dirty="0"/>
          </a:p>
        </p:txBody>
      </p:sp>
      <p:sp>
        <p:nvSpPr>
          <p:cNvPr id="12" name="Shape 10"/>
          <p:cNvSpPr/>
          <p:nvPr/>
        </p:nvSpPr>
        <p:spPr>
          <a:xfrm>
            <a:off x="594360" y="3291840"/>
            <a:ext cx="10972800" cy="713232"/>
          </a:xfrm>
          <a:prstGeom prst="roundRect">
            <a:avLst>
              <a:gd name="adj" fmla="val 11538"/>
            </a:avLst>
          </a:prstGeom>
          <a:solidFill>
            <a:srgbClr val="ECEAE4"/>
          </a:solidFill>
          <a:ln w="12700">
            <a:solidFill>
              <a:srgbClr val="ECEAE4"/>
            </a:solidFill>
            <a:prstDash val="solid"/>
          </a:ln>
        </p:spPr>
        <p:txBody>
          <a:bodyPr/>
          <a:p/>
        </p:txBody>
      </p:sp>
      <p:sp>
        <p:nvSpPr>
          <p:cNvPr id="13" name="Shape 11"/>
          <p:cNvSpPr/>
          <p:nvPr/>
        </p:nvSpPr>
        <p:spPr>
          <a:xfrm>
            <a:off x="914400" y="3438144"/>
            <a:ext cx="420624" cy="420624"/>
          </a:xfrm>
          <a:prstGeom prst="ellipse">
            <a:avLst/>
          </a:prstGeom>
          <a:solidFill>
            <a:srgbClr val="0E7C6B"/>
          </a:solidFill>
          <a:ln/>
        </p:spPr>
        <p:txBody>
          <a:bodyPr/>
          <a:p/>
        </p:txBody>
      </p:sp>
      <p:sp>
        <p:nvSpPr>
          <p:cNvPr id="14" name="Text 12"/>
          <p:cNvSpPr/>
          <p:nvPr/>
        </p:nvSpPr>
        <p:spPr>
          <a:xfrm>
            <a:off x="914400" y="34381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291840"/>
            <a:ext cx="969264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Fără confirmare după 7 zile calendaristice, spitalul a depășit termenul legal.</a:t>
            </a:r>
            <a:endParaRPr lang="en-US" sz="1700" dirty="0"/>
          </a:p>
        </p:txBody>
      </p:sp>
      <p:sp>
        <p:nvSpPr>
          <p:cNvPr id="16" name="Shape 14"/>
          <p:cNvSpPr/>
          <p:nvPr/>
        </p:nvSpPr>
        <p:spPr>
          <a:xfrm>
            <a:off x="594360" y="4114800"/>
            <a:ext cx="10972800" cy="713232"/>
          </a:xfrm>
          <a:prstGeom prst="roundRect">
            <a:avLst>
              <a:gd name="adj" fmla="val 11538"/>
            </a:avLst>
          </a:prstGeom>
          <a:solidFill>
            <a:srgbClr val="ECEAE4"/>
          </a:solidFill>
          <a:ln w="12700">
            <a:solidFill>
              <a:srgbClr val="ECEAE4"/>
            </a:solidFill>
            <a:prstDash val="solid"/>
          </a:ln>
        </p:spPr>
        <p:txBody>
          <a:bodyPr/>
          <a:p/>
        </p:txBody>
      </p:sp>
      <p:sp>
        <p:nvSpPr>
          <p:cNvPr id="17" name="Shape 15"/>
          <p:cNvSpPr/>
          <p:nvPr/>
        </p:nvSpPr>
        <p:spPr>
          <a:xfrm>
            <a:off x="914400" y="4261104"/>
            <a:ext cx="420624" cy="420624"/>
          </a:xfrm>
          <a:prstGeom prst="ellipse">
            <a:avLst/>
          </a:prstGeom>
          <a:solidFill>
            <a:srgbClr val="0E7C6B"/>
          </a:solidFill>
          <a:ln/>
        </p:spPr>
        <p:txBody>
          <a:bodyPr/>
          <a:p/>
        </p:txBody>
      </p:sp>
      <p:sp>
        <p:nvSpPr>
          <p:cNvPr id="18" name="Text 16"/>
          <p:cNvSpPr/>
          <p:nvPr/>
        </p:nvSpPr>
        <p:spPr>
          <a:xfrm>
            <a:off x="914400" y="42611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114800"/>
            <a:ext cx="969264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luați acasă dosare de pacienți și nu fotografiați foi de observație.</a:t>
            </a:r>
            <a:endParaRPr lang="en-US" sz="1700" dirty="0"/>
          </a:p>
        </p:txBody>
      </p:sp>
      <p:sp>
        <p:nvSpPr>
          <p:cNvPr id="20" name="Text 18"/>
          <p:cNvSpPr/>
          <p:nvPr/>
        </p:nvSpPr>
        <p:spPr>
          <a:xfrm>
            <a:off x="594360" y="5074920"/>
            <a:ext cx="10972800" cy="64008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Legea nu vă cere să dovediți fapta; vă cere să spuneți cinstit ce știți.</a:t>
            </a:r>
            <a:endParaRPr lang="en-US" sz="21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avertizorilor · A794, A796, A799, A803.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100" dirty="0"/>
          </a:p>
        </p:txBody>
      </p:sp>
      <p:sp>
        <p:nvSpPr>
          <p:cNvPr id="4" name="Shape 2"/>
          <p:cNvSpPr/>
          <p:nvPr/>
        </p:nvSpPr>
        <p:spPr>
          <a:xfrm>
            <a:off x="594360" y="164592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868680" y="1801368"/>
            <a:ext cx="420624" cy="420624"/>
          </a:xfrm>
          <a:prstGeom prst="ellipse">
            <a:avLst/>
          </a:prstGeom>
          <a:solidFill>
            <a:srgbClr val="FF4757"/>
          </a:solidFill>
          <a:ln/>
        </p:spPr>
        <p:txBody>
          <a:bodyPr/>
          <a:p/>
        </p:txBody>
      </p:sp>
      <p:sp>
        <p:nvSpPr>
          <p:cNvPr id="6" name="Text 4"/>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Înainte să citați un studiu, citiți-i metoda: pe cine a comparat, ce a măsurat, o dată sau în timp.</a:t>
            </a:r>
            <a:endParaRPr lang="en-US" sz="1700" dirty="0"/>
          </a:p>
        </p:txBody>
      </p:sp>
      <p:sp>
        <p:nvSpPr>
          <p:cNvPr id="8" name="Shape 6"/>
          <p:cNvSpPr/>
          <p:nvPr/>
        </p:nvSpPr>
        <p:spPr>
          <a:xfrm>
            <a:off x="594360" y="2487168"/>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868680" y="2642616"/>
            <a:ext cx="420624" cy="420624"/>
          </a:xfrm>
          <a:prstGeom prst="ellipse">
            <a:avLst/>
          </a:prstGeom>
          <a:solidFill>
            <a:srgbClr val="FF4757"/>
          </a:solidFill>
          <a:ln/>
        </p:spPr>
        <p:txBody>
          <a:bodyPr/>
          <a:p/>
        </p:txBody>
      </p:sp>
      <p:sp>
        <p:nvSpPr>
          <p:cNvPr id="10" name="Text 8"/>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87168"/>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„corupția ucide” sau la orice titlu cu un verb de cauză: ce a măsurat, de fapt, studiul?</a:t>
            </a:r>
            <a:endParaRPr lang="en-US" sz="1700" dirty="0"/>
          </a:p>
        </p:txBody>
      </p:sp>
      <p:sp>
        <p:nvSpPr>
          <p:cNvPr id="12" name="Shape 10"/>
          <p:cNvSpPr/>
          <p:nvPr/>
        </p:nvSpPr>
        <p:spPr>
          <a:xfrm>
            <a:off x="594360" y="3328416"/>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868680" y="3483864"/>
            <a:ext cx="420624" cy="420624"/>
          </a:xfrm>
          <a:prstGeom prst="ellipse">
            <a:avLst/>
          </a:prstGeom>
          <a:solidFill>
            <a:srgbClr val="FF4757"/>
          </a:solidFill>
          <a:ln/>
        </p:spPr>
        <p:txBody>
          <a:bodyPr/>
          <a:p/>
        </p:txBody>
      </p:sp>
      <p:sp>
        <p:nvSpPr>
          <p:cNvPr id="14" name="Text 12"/>
          <p:cNvSpPr/>
          <p:nvPr/>
        </p:nvSpPr>
        <p:spPr>
          <a:xfrm>
            <a:off x="868680" y="34838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28416"/>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folosiți un studiu ca dovadă pentru ceva ce nu a măsurat.</a:t>
            </a:r>
            <a:endParaRPr lang="en-US" sz="1700" dirty="0"/>
          </a:p>
        </p:txBody>
      </p:sp>
      <p:sp>
        <p:nvSpPr>
          <p:cNvPr id="16" name="Shape 14"/>
          <p:cNvSpPr/>
          <p:nvPr/>
        </p:nvSpPr>
        <p:spPr>
          <a:xfrm>
            <a:off x="594360" y="4169664"/>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868680" y="4325112"/>
            <a:ext cx="420624" cy="420624"/>
          </a:xfrm>
          <a:prstGeom prst="ellipse">
            <a:avLst/>
          </a:prstGeom>
          <a:solidFill>
            <a:srgbClr val="FF4757"/>
          </a:solidFill>
          <a:ln/>
        </p:spPr>
        <p:txBody>
          <a:bodyPr/>
          <a:p/>
        </p:txBody>
      </p:sp>
      <p:sp>
        <p:nvSpPr>
          <p:cNvPr id="18" name="Text 16"/>
          <p:cNvSpPr/>
          <p:nvPr/>
        </p:nvSpPr>
        <p:spPr>
          <a:xfrm>
            <a:off x="868680" y="43251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69664"/>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Aflați cine primește raportările în spitalul în care faceți stagiul sau rezidențiatul.</a:t>
            </a:r>
            <a:endParaRPr lang="en-US" sz="1700" dirty="0"/>
          </a:p>
        </p:txBody>
      </p:sp>
      <p:sp>
        <p:nvSpPr>
          <p:cNvPr id="20" name="Shape 18"/>
          <p:cNvSpPr/>
          <p:nvPr/>
        </p:nvSpPr>
        <p:spPr>
          <a:xfrm>
            <a:off x="594360" y="5010912"/>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21" name="Shape 19"/>
          <p:cNvSpPr/>
          <p:nvPr/>
        </p:nvSpPr>
        <p:spPr>
          <a:xfrm>
            <a:off x="868680" y="5166360"/>
            <a:ext cx="420624" cy="420624"/>
          </a:xfrm>
          <a:prstGeom prst="ellipse">
            <a:avLst/>
          </a:prstGeom>
          <a:solidFill>
            <a:srgbClr val="FF4757"/>
          </a:solidFill>
          <a:ln/>
        </p:spPr>
        <p:txBody>
          <a:bodyPr/>
          <a:p/>
        </p:txBody>
      </p:sp>
      <p:sp>
        <p:nvSpPr>
          <p:cNvPr id="22" name="Text 20"/>
          <p:cNvSpPr/>
          <p:nvPr/>
        </p:nvSpPr>
        <p:spPr>
          <a:xfrm>
            <a:off x="868680" y="5166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010912"/>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Dacă raportați ceva, scrieți fapte, nu bănuieli, și lăsați pacienții în afara raportării.</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AȚI REȚINUT</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Titlul, designul, avertizorul: zece întrebări</a:t>
            </a:r>
            <a:endParaRPr lang="en-US" sz="36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Intrați pe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Zece întrebări despre ce am discutat în sală.</a:t>
            </a:r>
            <a:endParaRPr lang="en-US" sz="1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0352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Răspundeți pe telefon, la codul afișat. Luni, pe pagina cursului, veți găsi ce am modificat pe baza răspunsurilor.</a:t>
            </a:r>
            <a:endParaRPr lang="en-US" sz="1700" dirty="0"/>
          </a:p>
        </p:txBody>
      </p:sp>
      <p:pic>
        <p:nvPicPr>
          <p:cNvPr id="17" name="Picture 16" descr="Mentimeter_OPT_PLIC_C04.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4 - Distanța dintre titlu și design</dc:title>
  <dc:subject>PptxGenJS Presentation</dc:subject>
  <dc:creator>Conf. Univ. Dr. Adrian Pana</dc:creator>
  <cp:lastModifiedBy>Conf. Univ. Dr. Adrian Pana</cp:lastModifiedBy>
  <cp:revision>1</cp:revision>
  <dcterms:created xsi:type="dcterms:W3CDTF">2026-10-17T11:01:16Z</dcterms:created>
  <dcterms:modified xsi:type="dcterms:W3CDTF">2026-10-17T11:01:16Z</dcterms:modified>
  <cp:keywords>sursa_amprenta=5e8d2faac0fa07a7; proiectie</cp:keywords>
</cp:coreProperties>
</file>