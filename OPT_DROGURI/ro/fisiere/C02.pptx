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8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rianpana/Downloads/UMF_Cluj_SP/Materiale SP/Atelier_didactic/discipline/OPT_DROGURI/active/img/festival_beach_please_comm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0"/>
            <a:ext cx="7345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77724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40080" y="777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ȘEDINȚA A DOUA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consumă în România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25603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și ce nu putem afla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337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War on Drugs: 55 de ani de politici penale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67512" y="4343400"/>
            <a:ext cx="1280160" cy="27432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45262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Creierul tău pe droguri: neuroștiința adicției și politicile drogurilor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Conf. univ. dr. Adrian Pană · UMF „Iuliu Hațieganu” Cluj-Napoca · 2026–2027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6355080"/>
            <a:ext cx="7345375" cy="502920"/>
          </a:xfrm>
          <a:prstGeom prst="rect">
            <a:avLst/>
          </a:prstGeom>
          <a:solidFill>
            <a:srgbClr val="11121A">
              <a:alpha val="70000"/>
            </a:srgbClr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029200" y="6373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festival de vară în România: Costinești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0" y="660196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Foto: PinkBeachPlanet · CC BY-SA 4.0 · Wikimedia Commons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PRIMA ȘEDINȚĂ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mi-ați spus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7863840" cy="868680"/>
          </a:xfrm>
          <a:prstGeom prst="wedgeRoundRectCallou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783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Prea mulți termeni.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97280" y="2880360"/>
            <a:ext cx="6400800" cy="868680"/>
          </a:xfrm>
          <a:prstGeom prst="wedgeRoundRectCallou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17320" y="288036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 nu și-a primit răspunsul.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600200" y="3977640"/>
            <a:ext cx="6400800" cy="868680"/>
          </a:xfrm>
          <a:prstGeom prst="wedgeRoundRectCallou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920240" y="397764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era clar cum suntem evaluați.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9436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Toate trei observațiile sunt întemeiate. Ședința de azi pornește de la ele.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MODIFICĂRI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schimbă de azi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874519"/>
            <a:ext cx="64008" cy="512064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83080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mult trei termeni noi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577840" y="1783080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explicat cu un exemplu.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642616"/>
            <a:ext cx="64008" cy="512064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551176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la titlu, de la început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77840" y="2551176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răspuns provizoriu: ce face un drog în creier.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410712"/>
            <a:ext cx="64008" cy="512064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331927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Evaluarea: două componente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77840" y="3319272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Policy brief 60%, chestionar 40%; diapozitivul următor.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178807"/>
            <a:ext cx="64008" cy="512064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08736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Întâi situația, apoi teoria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77840" y="4087368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petrecere, o gardă, un telefon.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946903"/>
            <a:ext cx="64008" cy="512064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855464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Aproape jumătate din timp lucrați voi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77840" y="4855464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pe telefon, colegul de bancă, un joc de rol.</a:t>
            </a:r>
            <a:endParaRPr lang="en-US" sz="1600" dirty="0"/>
          </a:p>
        </p:txBody>
      </p:sp>
      <p:sp>
        <p:nvSpPr>
          <p:cNvPr id="19" name="Text 18"/>
          <p:cNvSpPr/>
          <p:nvPr/>
        </p:nvSpPr>
        <p:spPr>
          <a:xfrm>
            <a:off x="868680" y="5623560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Statistica, pentru curioși</a:t>
            </a:r>
            <a:endParaRPr lang="en-US" sz="1800" dirty="0"/>
          </a:p>
        </p:txBody>
      </p:sp>
      <p:sp>
        <p:nvSpPr>
          <p:cNvPr id="20" name="Text 19"/>
          <p:cNvSpPr/>
          <p:nvPr/>
        </p:nvSpPr>
        <p:spPr>
          <a:xfrm>
            <a:off x="5577840" y="5623560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casetele din note, nu pe ecran.</a:t>
            </a:r>
            <a:endParaRPr lang="en-US" sz="1600" dirty="0"/>
          </a:p>
        </p:txBody>
      </p:sp>
      <p:sp>
        <p:nvSpPr>
          <p:cNvPr id="21" name="Shape 20"/>
          <p:cNvSpPr/>
          <p:nvPr/>
        </p:nvSpPr>
        <p:spPr>
          <a:xfrm>
            <a:off x="594360" y="5715000"/>
            <a:ext cx="64008" cy="512064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7D3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SUNTEȚI EVALUAȚI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lucruri notate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1417320"/>
          </a:xfrm>
          <a:prstGeom prst="roundRect">
            <a:avLst>
              <a:gd name="adj" fmla="val 5806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69164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60%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01752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Policy brief individual, de cel mult o pagină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1752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recomandare de politică publică despre droguri, cu sursa fiecărei cifre. Se predă în ultima ședință.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3291840"/>
            <a:ext cx="10972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29184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40%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01752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Chestionar de 15 întrebări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17520" y="3886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ultima ședință, douăzeci de minute, numai din cazurile discutate în sală.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94360" y="49834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se notează: votul, discuțiile, jocul de rol, Kahoot-ul. Promovarea: nota finală cel puțin cinci.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Obligatorie: ședința 7 (chestionarul și policy brief-ul); în total, cel puțin 5 din 7 ședințe.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PARCURSUL DE AZI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weekend, trei povești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10607040" cy="3657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51760"/>
            <a:ext cx="310896" cy="310896"/>
          </a:xfrm>
          <a:prstGeom prst="ellipse">
            <a:avLst/>
          </a:prstGeom>
          <a:solidFill>
            <a:srgbClr val="B02532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VINERI SEARA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Petrecerea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nou: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71800" y="2651760"/>
            <a:ext cx="310896" cy="310896"/>
          </a:xfrm>
          <a:prstGeom prst="ellipse">
            <a:avLst/>
          </a:prstGeom>
          <a:solidFill>
            <a:srgbClr val="4A2D8C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97180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SÂMBĂTĂ NOAPTEA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Garda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71800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nou: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subraportarea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2651760"/>
            <a:ext cx="310896" cy="310896"/>
          </a:xfrm>
          <a:prstGeom prst="ellipse">
            <a:avLst/>
          </a:prstGeom>
          <a:solidFill>
            <a:srgbClr val="8A8F9E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9204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8F9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Pauză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2651760"/>
            <a:ext cx="310896" cy="310896"/>
          </a:xfrm>
          <a:prstGeom prst="ellipse">
            <a:avLst/>
          </a:prstGeom>
          <a:solidFill>
            <a:srgbClr val="8A6100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DUMINICĂ DIMINEAȚA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Festivalul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72200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nou: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dezincriminarea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12480" y="2651760"/>
            <a:ext cx="310896" cy="310896"/>
          </a:xfrm>
          <a:prstGeom prst="ellipse">
            <a:avLst/>
          </a:prstGeom>
          <a:solidFill>
            <a:srgbClr val="0E7C6B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1248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FINAL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058400" y="2651760"/>
            <a:ext cx="310896" cy="310896"/>
          </a:xfrm>
          <a:prstGeom prst="ellipse">
            <a:avLst/>
          </a:prstGeom>
          <a:solidFill>
            <a:srgbClr val="9C4A0A"/>
          </a:solidFill>
          <a:ln w="2540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5840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MINUTE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94360" y="4892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final, Kahoot: ce a rămas din cele trei povești. Apoi trei întrebări anonime: ce a fost util, unde v-am pierdut.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VINERI SEARA, DUPĂ COLOCVIU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petrecere în Mărăști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un colocviu greu, la o petrecere într-un apartament, cineva scoate un joint și îl dă mai departe. Nimeni nu insistă. Peste o oră, convins: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3429000"/>
            <a:ext cx="5486400" cy="1600200"/>
          </a:xfrm>
          <a:prstGeom prst="wedgeRoundRectCallou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34290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„Lasă, că la vârsta noastră toată lumea a încercat.”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75120" y="1600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nu spuneți cu voce tare: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75120" y="2194560"/>
            <a:ext cx="4892040" cy="1371600"/>
          </a:xfrm>
          <a:prstGeom prst="cloud">
            <a:avLst/>
          </a:prstGeom>
          <a:solidFill>
            <a:srgbClr val="272A38"/>
          </a:solidFill>
          <a:ln w="1905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78040" y="2194560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 asta în creierul meu?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675120" y="3794760"/>
            <a:ext cx="4892040" cy="1371600"/>
          </a:xfrm>
          <a:prstGeom prst="cloud">
            <a:avLst/>
          </a:prstGeom>
          <a:solidFill>
            <a:srgbClr val="272A38"/>
          </a:solidFill>
          <a:ln w="1905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78040" y="3794760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Are dreptate? Chiar a încercat toată lumea?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94360" y="6309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Scenă reconstituită.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ÎNTREBAREA DIN TITLU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100 de persoane care au consumat vreodată canabis, câte vor deveni, după estimări, dependente la un moment dat în viață?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2402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103120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Aproape toate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944368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30815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081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944368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Cam jumătate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785616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392277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785616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Cam una din zece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626864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4400" y="47640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4764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4626864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Aproape niciuna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după prima impresie. Votul este anonim și nu se notează.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RĂSPUNS PROVIZORIU · CREIERUL VOSTRU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Cam 9 din 100, după estimări. Cei mai mulți nu devin dependenți.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85850" y="1828800"/>
            <a:ext cx="4686300" cy="3143250"/>
          </a:xfrm>
          <a:prstGeom prst="ellipse">
            <a:avLst/>
          </a:prstGeom>
          <a:solidFill>
            <a:srgbClr val="2B3048"/>
          </a:solidFill>
          <a:ln w="12700">
            <a:solidFill>
              <a:srgbClr val="2B304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343150"/>
            <a:ext cx="2857500" cy="2571750"/>
          </a:xfrm>
          <a:prstGeom prst="ellipse">
            <a:avLst/>
          </a:prstGeom>
          <a:solidFill>
            <a:srgbClr val="2B3048"/>
          </a:solidFill>
          <a:ln w="12700">
            <a:solidFill>
              <a:srgbClr val="2B304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057400" y="3371850"/>
            <a:ext cx="2286000" cy="1428750"/>
          </a:xfrm>
          <a:prstGeom prst="ellipse">
            <a:avLst/>
          </a:prstGeom>
          <a:solidFill>
            <a:srgbClr val="2B3048"/>
          </a:solidFill>
          <a:ln w="12700">
            <a:solidFill>
              <a:srgbClr val="2B304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114800" y="4057650"/>
            <a:ext cx="1657350" cy="1143000"/>
          </a:xfrm>
          <a:prstGeom prst="ellipse">
            <a:avLst/>
          </a:prstGeom>
          <a:solidFill>
            <a:srgbClr val="363C58"/>
          </a:solidFill>
          <a:ln w="1905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 rot="840000">
            <a:off x="3486150" y="4057650"/>
            <a:ext cx="685800" cy="1485900"/>
          </a:xfrm>
          <a:prstGeom prst="roundRect">
            <a:avLst>
              <a:gd name="adj" fmla="val 16000"/>
            </a:avLst>
          </a:prstGeom>
          <a:solidFill>
            <a:srgbClr val="363C58"/>
          </a:solidFill>
          <a:ln w="1905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714500" y="2457450"/>
            <a:ext cx="457200" cy="400050"/>
          </a:xfrm>
          <a:prstGeom prst="line">
            <a:avLst/>
          </a:prstGeom>
          <a:noFill/>
          <a:ln w="25400">
            <a:solidFill>
              <a:srgbClr val="3E456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57500" y="2171700"/>
            <a:ext cx="114300" cy="742950"/>
          </a:xfrm>
          <a:prstGeom prst="line">
            <a:avLst/>
          </a:prstGeom>
          <a:noFill/>
          <a:ln w="25400">
            <a:solidFill>
              <a:srgbClr val="3E4566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flipH="1">
            <a:off x="3771900" y="2343150"/>
            <a:ext cx="228600" cy="742950"/>
          </a:xfrm>
          <a:prstGeom prst="line">
            <a:avLst/>
          </a:prstGeom>
          <a:noFill/>
          <a:ln w="25400">
            <a:solidFill>
              <a:srgbClr val="3E4566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flipH="1">
            <a:off x="4343400" y="2857500"/>
            <a:ext cx="457200" cy="514350"/>
          </a:xfrm>
          <a:prstGeom prst="line">
            <a:avLst/>
          </a:prstGeom>
          <a:noFill/>
          <a:ln w="25400">
            <a:solidFill>
              <a:srgbClr val="3E456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567178" y="3874770"/>
            <a:ext cx="1033272" cy="182880"/>
          </a:xfrm>
          <a:prstGeom prst="line">
            <a:avLst/>
          </a:prstGeom>
          <a:noFill/>
          <a:ln w="44450">
            <a:solidFill>
              <a:srgbClr val="FFC24B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451610" y="3102102"/>
            <a:ext cx="2103120" cy="864108"/>
          </a:xfrm>
          <a:prstGeom prst="line">
            <a:avLst/>
          </a:prstGeom>
          <a:noFill/>
          <a:ln w="44450">
            <a:solidFill>
              <a:srgbClr val="FFC24B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472434" y="3929634"/>
            <a:ext cx="256032" cy="256032"/>
          </a:xfrm>
          <a:prstGeom prst="ellipse">
            <a:avLst/>
          </a:prstGeom>
          <a:solidFill>
            <a:srgbClr val="FF4757"/>
          </a:solidFill>
          <a:ln w="1905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329434" y="3701034"/>
            <a:ext cx="256032" cy="256032"/>
          </a:xfrm>
          <a:prstGeom prst="ellipse">
            <a:avLst/>
          </a:prstGeom>
          <a:solidFill>
            <a:srgbClr val="FFC24B"/>
          </a:solidFill>
          <a:ln w="1905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186434" y="2900934"/>
            <a:ext cx="256032" cy="256032"/>
          </a:xfrm>
          <a:prstGeom prst="ellipse">
            <a:avLst/>
          </a:prstGeom>
          <a:solidFill>
            <a:srgbClr val="27D3BE"/>
          </a:solidFill>
          <a:ln w="1905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5074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sistemul care folosește dopamina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1783080"/>
            <a:ext cx="64008" cy="91440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7512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sistem cu rol-cheie în recompensă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75120" y="216712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Aproape toate drogurile de abuz îl activează. Recompensele naturale încetează să-l activeze după consum repetat; drogurile, nu.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2926080"/>
            <a:ext cx="64008" cy="9144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675120" y="2926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Canabisul, mai puțin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75120" y="331012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om, efectul asupra dopaminei pare mai mic decât la amfetamină.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0" y="4069080"/>
            <a:ext cx="64008" cy="9144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67512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minoritate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75120" y="445312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ajunge la consum cu risc ridicat sau la dependență.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0" y="52578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 din 100, după estimările unei mari anchete americane, cu date vechi de peste două decenii: dependență la un moment dat în viață, la cei care au consumat vreodată canabis.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Schemă simplificată, desenată pentru curs.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CREIERUL VOSTRU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se descrie pentru o populație. Nu se prezice pentru o persoană.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70432" y="192024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63624" y="192024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956816" y="1920240"/>
            <a:ext cx="274320" cy="27432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350008" y="192024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743200" y="192024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136392" y="192024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529584" y="192024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922776" y="192024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15968" y="192024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7240" y="231343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70432" y="231343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563624" y="231343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956816" y="231343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350008" y="231343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743200" y="231343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136392" y="231343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529584" y="2313432"/>
            <a:ext cx="274320" cy="27432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922776" y="231343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315968" y="231343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77240" y="270662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170432" y="270662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563624" y="270662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956816" y="270662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350008" y="270662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2743200" y="270662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136392" y="270662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529584" y="270662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922776" y="2706624"/>
            <a:ext cx="274320" cy="27432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315968" y="270662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777240" y="309981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170432" y="309981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563624" y="309981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956816" y="309981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350008" y="309981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743200" y="309981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3136392" y="309981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3529584" y="309981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3922776" y="309981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315968" y="309981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777240" y="3493008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1170432" y="3493008"/>
            <a:ext cx="274320" cy="27432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563624" y="3493008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956816" y="3493008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2350008" y="3493008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2743200" y="3493008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3136392" y="3493008"/>
            <a:ext cx="274320" cy="27432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3529584" y="3493008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3922776" y="3493008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4315968" y="3493008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77240" y="388620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170432" y="388620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1563624" y="388620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1956816" y="388620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2350008" y="388620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2743200" y="388620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3136392" y="388620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3529584" y="388620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3922776" y="388620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315968" y="3886200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777240" y="427939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1170432" y="427939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1563624" y="4279392"/>
            <a:ext cx="274320" cy="27432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1956816" y="427939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2350008" y="427939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2743200" y="427939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3136392" y="427939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3529584" y="427939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3922776" y="427939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4315968" y="4279392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777240" y="467258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1170432" y="467258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1563624" y="467258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1956816" y="467258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2350008" y="467258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2743200" y="4672584"/>
            <a:ext cx="274320" cy="27432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3136392" y="467258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3529584" y="467258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3922776" y="467258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83" name="Shape 81"/>
          <p:cNvSpPr/>
          <p:nvPr/>
        </p:nvSpPr>
        <p:spPr>
          <a:xfrm>
            <a:off x="4315968" y="4672584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777240" y="506577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>
            <a:off x="1170432" y="506577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86" name="Shape 84"/>
          <p:cNvSpPr/>
          <p:nvPr/>
        </p:nvSpPr>
        <p:spPr>
          <a:xfrm>
            <a:off x="1563624" y="506577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87" name="Shape 85"/>
          <p:cNvSpPr/>
          <p:nvPr/>
        </p:nvSpPr>
        <p:spPr>
          <a:xfrm>
            <a:off x="1956816" y="5065776"/>
            <a:ext cx="274320" cy="27432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2350008" y="506577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2743200" y="506577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90" name="Shape 88"/>
          <p:cNvSpPr/>
          <p:nvPr/>
        </p:nvSpPr>
        <p:spPr>
          <a:xfrm>
            <a:off x="3136392" y="506577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91" name="Shape 89"/>
          <p:cNvSpPr/>
          <p:nvPr/>
        </p:nvSpPr>
        <p:spPr>
          <a:xfrm>
            <a:off x="3529584" y="506577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92" name="Shape 90"/>
          <p:cNvSpPr/>
          <p:nvPr/>
        </p:nvSpPr>
        <p:spPr>
          <a:xfrm>
            <a:off x="3922776" y="506577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4315968" y="5065776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777240" y="5458968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1170432" y="5458968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96" name="Shape 94"/>
          <p:cNvSpPr/>
          <p:nvPr/>
        </p:nvSpPr>
        <p:spPr>
          <a:xfrm>
            <a:off x="1563624" y="5458968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97" name="Shape 95"/>
          <p:cNvSpPr/>
          <p:nvPr/>
        </p:nvSpPr>
        <p:spPr>
          <a:xfrm>
            <a:off x="1956816" y="5458968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98" name="Shape 96"/>
          <p:cNvSpPr/>
          <p:nvPr/>
        </p:nvSpPr>
        <p:spPr>
          <a:xfrm>
            <a:off x="2350008" y="5458968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99" name="Shape 97"/>
          <p:cNvSpPr/>
          <p:nvPr/>
        </p:nvSpPr>
        <p:spPr>
          <a:xfrm>
            <a:off x="2743200" y="5458968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3136392" y="5458968"/>
            <a:ext cx="274320" cy="27432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01" name="Shape 99"/>
          <p:cNvSpPr/>
          <p:nvPr/>
        </p:nvSpPr>
        <p:spPr>
          <a:xfrm>
            <a:off x="3529584" y="5458968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02" name="Shape 100"/>
          <p:cNvSpPr/>
          <p:nvPr/>
        </p:nvSpPr>
        <p:spPr>
          <a:xfrm>
            <a:off x="3922776" y="5458968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03" name="Shape 101"/>
          <p:cNvSpPr/>
          <p:nvPr/>
        </p:nvSpPr>
        <p:spPr>
          <a:xfrm>
            <a:off x="4315968" y="5458968"/>
            <a:ext cx="274320" cy="274320"/>
          </a:xfrm>
          <a:prstGeom prst="ellipse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5120640" y="187452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Nimeni nu vă poate spune dacă sunteți printre cei nouă sau printre ceilalți.</a:t>
            </a:r>
            <a:endParaRPr lang="en-US" sz="2000" dirty="0"/>
          </a:p>
        </p:txBody>
      </p:sp>
      <p:sp>
        <p:nvSpPr>
          <p:cNvPr id="105" name="Text 103"/>
          <p:cNvSpPr/>
          <p:nvPr/>
        </p:nvSpPr>
        <p:spPr>
          <a:xfrm>
            <a:off x="5120640" y="28346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Vulnerabilitatea diferă după: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5120640" y="329184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07" name="Text 105"/>
          <p:cNvSpPr/>
          <p:nvPr/>
        </p:nvSpPr>
        <p:spPr>
          <a:xfrm>
            <a:off x="5120640" y="32918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Genele</a:t>
            </a:r>
            <a:endParaRPr lang="en-US" sz="1500" dirty="0"/>
          </a:p>
        </p:txBody>
      </p:sp>
      <p:sp>
        <p:nvSpPr>
          <p:cNvPr id="108" name="Shape 106"/>
          <p:cNvSpPr/>
          <p:nvPr/>
        </p:nvSpPr>
        <p:spPr>
          <a:xfrm>
            <a:off x="6748272" y="329184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09" name="Text 107"/>
          <p:cNvSpPr/>
          <p:nvPr/>
        </p:nvSpPr>
        <p:spPr>
          <a:xfrm>
            <a:off x="6748272" y="32918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Vârsta</a:t>
            </a:r>
            <a:endParaRPr lang="en-US" sz="1500" dirty="0"/>
          </a:p>
        </p:txBody>
      </p:sp>
      <p:sp>
        <p:nvSpPr>
          <p:cNvPr id="110" name="Shape 108"/>
          <p:cNvSpPr/>
          <p:nvPr/>
        </p:nvSpPr>
        <p:spPr>
          <a:xfrm>
            <a:off x="8375904" y="329184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11" name="Text 109"/>
          <p:cNvSpPr/>
          <p:nvPr/>
        </p:nvSpPr>
        <p:spPr>
          <a:xfrm>
            <a:off x="8375904" y="32918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Mediul</a:t>
            </a:r>
            <a:endParaRPr lang="en-US" sz="1500" dirty="0"/>
          </a:p>
        </p:txBody>
      </p:sp>
      <p:sp>
        <p:nvSpPr>
          <p:cNvPr id="112" name="Shape 110"/>
          <p:cNvSpPr/>
          <p:nvPr/>
        </p:nvSpPr>
        <p:spPr>
          <a:xfrm>
            <a:off x="10003536" y="329184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13" name="Text 111"/>
          <p:cNvSpPr/>
          <p:nvPr/>
        </p:nvSpPr>
        <p:spPr>
          <a:xfrm>
            <a:off x="10003536" y="32918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Substanța</a:t>
            </a:r>
            <a:endParaRPr lang="en-US" sz="1500" dirty="0"/>
          </a:p>
        </p:txBody>
      </p:sp>
      <p:sp>
        <p:nvSpPr>
          <p:cNvPr id="114" name="Text 112"/>
          <p:cNvSpPr/>
          <p:nvPr/>
        </p:nvSpPr>
        <p:spPr>
          <a:xfrm>
            <a:off x="5120640" y="38862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drog nu face același lucru în toate creierele.</a:t>
            </a:r>
            <a:endParaRPr lang="en-US" sz="1800" dirty="0"/>
          </a:p>
        </p:txBody>
      </p:sp>
      <p:sp>
        <p:nvSpPr>
          <p:cNvPr id="115" name="Text 113"/>
          <p:cNvSpPr/>
          <p:nvPr/>
        </p:nvSpPr>
        <p:spPr>
          <a:xfrm>
            <a:off x="5120640" y="457200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Azi: are dreptate cel de la petrecere? Și de ce au răspuns multe țări, 55 de ani, mai ales cu legea penală?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NOR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 POVESTE · PETRECEREA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cuvânt: cum arată, în mintea voastră, „un consumator de droguri”?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21792" y="3931920"/>
            <a:ext cx="1280160" cy="27432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anonim, într-un singur cuvânt; pe ecran apare un nor de cuvinte.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acest curs spunem „persoană care consumă”. Motivul se vede în cifrele care urmează.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PERECHI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CIFRA VOASTRĂ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100 de tineri români de 15–34 de ani, câți…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0756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828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…au consumat măcar o dată în viață un drog ilegal?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94360" y="292608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31729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9260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…au consumat un drog ilegal în ultimul an?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94360" y="42519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estimări anonime pe telefon, de la 0 la 100.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" y="4846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 două minute cu colegul de bancă: de unde vine cifra pe care ați ales-o?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ANCHETA NAȚIONALĂ · 2024 · TINERII DE 15–34 DE ANI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din unsprezece tineri: niciun drog ilegal în ultimul 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măcar o dată în viață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017520" y="1874520"/>
            <a:ext cx="5074920" cy="64008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0" y="1828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18,5%  </a:t>
            </a:r>
            <a:pPr indent="0" marL="0">
              <a:buNone/>
            </a:pPr>
            <a:r>
              <a:rPr lang="en-US" sz="14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aproape unul din cinci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852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ultimul an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17520" y="2898648"/>
            <a:ext cx="2496312" cy="64008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50992" y="2852928"/>
            <a:ext cx="5961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9,1%  </a:t>
            </a:r>
            <a:pPr indent="0" marL="0">
              <a:buNone/>
            </a:pPr>
            <a:r>
              <a:rPr lang="en-US" sz="14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aproximativ unul din unsprezece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387705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ultima lună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17520" y="3922776"/>
            <a:ext cx="1700784" cy="64008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55464" y="3877056"/>
            <a:ext cx="6757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6,2%  </a:t>
            </a:r>
            <a:pPr indent="0" marL="0">
              <a:buNone/>
            </a:pPr>
            <a:r>
              <a:rPr lang="en-US" sz="14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aproximativ unul din șaisprezece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999232" y="1737360"/>
            <a:ext cx="27432" cy="3108960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5074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Comparați cu cifra voastră. Dacă ați ales una mai mare: auziți despre cei care consumă, nu despre cei care nu consumă.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" y="6217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ANPCDDA, Raportul național 2025 (date pentru 2024); interviuri față în față, cu un operator de teren, la oameni aleși la întâmplare din populația domiciliată în România, cu promisiunea anonimatului.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ADULȚII, EUROPA, ELEVII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Sub media europeană, după ce declară oamenii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Canabis în ultimul an · adulți de 15–64 de ani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0" y="2148840"/>
            <a:ext cx="757123" cy="5486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860243" y="21031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2,3%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 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011680" y="3017520"/>
            <a:ext cx="2863901" cy="548640"/>
          </a:xfrm>
          <a:prstGeom prst="rect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67021" y="2971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8,7%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4360" y="4069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aproape patru ori mai mult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1645920"/>
            <a:ext cx="18288" cy="265176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ESPAD · elevi de 16 ani · 8 543 de elevi din România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057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2019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2121408"/>
            <a:ext cx="2084832" cy="420624"/>
          </a:xfrm>
          <a:prstGeom prst="rect">
            <a:avLst/>
          </a:prstGeom>
          <a:solidFill>
            <a:srgbClr val="8C6FB8"/>
          </a:solidFill>
          <a:ln w="12700">
            <a:solidFill>
              <a:srgbClr val="8C6FB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222992" y="2057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C6FB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9,5%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2024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2807208"/>
            <a:ext cx="1360627" cy="420624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498787" y="2743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6,2%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00800" y="34290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Europa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3493008"/>
            <a:ext cx="2852928" cy="420624"/>
          </a:xfrm>
          <a:prstGeom prst="rect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91088" y="3429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≈ 13%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00800" y="4069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drog ilicit, măcar o dată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4754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Adulții din România: 12,6% măcar o dată, 5,7% în ultimul an; canabis, 6,7% măcar o dată. ESPAD: elevi de liceu, nu studenți.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ANPCDDA, Raportul național 2025; EUDA, European Drug Report 2026; ESPAD 2024.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TERMEN NOU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Prevalența: câți din 100 au făcut asta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dintr-o populație au făcut un lucru într-o perioadă dată. Prima întrebare: care fereastră de timp?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F4E0E2"/>
          </a:solidFill>
          <a:ln w="12700">
            <a:solidFill>
              <a:srgbClr val="F4E0E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487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Măcar o dată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944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de-a lungul vieții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18,5%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68680" y="4023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Numără și o singură încercare.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66260" y="237744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40580" y="2487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40580" y="2944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ultimul 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0580" y="3337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9,1%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40580" y="4023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consumă acum.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E8E2F4"/>
          </a:solidFill>
          <a:ln w="12700">
            <a:solidFill>
              <a:srgbClr val="E8E2F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12480" y="2487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Acum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2944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ultima lună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3337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6,2%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412480" y="4023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Fereastra cea mai îngustă.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94360" y="4892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cifre, toate corecte. Cine le confundă face orice cifră să pară mare sau mică.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PERECHI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AȚI CREDE ACEST TITLU?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051560"/>
            <a:ext cx="10515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8"/>
            </a:solidFill>
            <a:prstDash val="solid"/>
          </a:ln>
          <a:effectLst>
            <a:outerShdw sx="100000" sy="100000" kx="0" ky="0" algn="bl" rotWithShape="0" blurRad="127000" dist="63500" dir="36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1051560"/>
            <a:ext cx="10515600" cy="347472"/>
          </a:xfrm>
          <a:prstGeom prst="rect">
            <a:avLst/>
          </a:prstGeom>
          <a:solidFill>
            <a:srgbClr val="E4E1D9"/>
          </a:solidFill>
          <a:ln w="12700">
            <a:solidFill>
              <a:srgbClr val="E4E1D9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05840" y="1152144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34440" y="1152144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463040" y="1152144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34440" y="1600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ȘTIRI LOCALE · CLUJ · IULIE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1965960"/>
            <a:ext cx="9692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consumului de substanțe interzise la nivel European. România este una dintre țările care stă cel mai bine din Uniunea Europeană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Reconstituire; titlul real, publicat de un site de știri din Cluj în iulie 2026.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438912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3891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0" y="438912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00400" y="43891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577840" y="438912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577840" y="43891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Depinde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 două minute cu colegul: ce ar trebui să știți ca să răspundeți?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Depinde: s-a măsurat ce acceptă oamenii să declare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 este real, iar anchetele îl susțin doar în parte, la canabis. Dar cum se face ancheta?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33172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Imaginați-vă un interviu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108960" y="2331720"/>
            <a:ext cx="8275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necunoscut vă întreabă față în față, la domiciliu, poate cu părinții alături.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32004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320040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108960" y="3200400"/>
            <a:ext cx="8275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Deținerea pentru consum propriu e infracțiune: este de așteptat ca unii să răspundă „nu”.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94360" y="406908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406908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lipsește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108960" y="4069080"/>
            <a:ext cx="8275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Cei fără domiciliu: o anchetă în populația domiciliată nu îi cuprinde, prin construcție.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94360" y="5074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Sigur: declarăm mai puțin decât media europeană. Nesigur: cu cât. Este de așteptat ca cifra reală să fie ceva mai mare, nu mai mică.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ÎNSEAMNĂ PENTRU VOI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Presiunea care nu există și întrebarea care vă lipsește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petrecere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„Toată lumea a încercat” e fals. Cifra reală vă scutește de o presiune care nu există.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cabinet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Mulți pacienți tineri au consumat și nu seamănă cu norul de cuvinte. Întrebați cu dezgust, răspund „nu”.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6576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Formulați pentru colegul de bancă întrebarea despre droguri pentru un pacient tânăr: calm, ca despre fumat sau alcool. Apoi inversați rolurile.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rianpana/Downloads/UMF_Cluj_SP/Materiale SP/Atelier_didactic/discipline/OPT_DROGURI/active/img/sala_urgente_comm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053328"/>
            <a:ext cx="5486400" cy="804672"/>
          </a:xfrm>
          <a:prstGeom prst="rect">
            <a:avLst/>
          </a:prstGeom>
          <a:solidFill>
            <a:srgbClr val="11121A">
              <a:alpha val="75000"/>
            </a:srgbClr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74320" y="608990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sală de reanimare pregătită pentru următorul pacient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654710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Foto: Jacob Windham · CC BY 2.0 · Wikimedia Commons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035040" y="41148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POVESTE · GARDA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35040" y="7772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Ora trei, la Primiri Urgențe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0350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Sâmbătă noaptea, sunteți student în stagiu. Ambulanța aduce un tânăr de douăzeci și trei de ani, găsit pe o bancă lângă un festival. Nu răspunde, respiră rar și superficial, pupilele cât un vârf de ac.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035040" y="36118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prieten, speriat: „A băut și a luat ceva să se calmeze, o pastilă de la cineva.”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035040" y="45262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Echipa intervine; tânărul își revine.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35040" y="51206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s-a întâmplat în creierul lui?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CREIERUL VOSTRU · RESPIRAȚIA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substanță, singură, suportabilă. Împreună, nu.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577840" cy="4343400"/>
          </a:xfrm>
          <a:prstGeom prst="roundRect">
            <a:avLst>
              <a:gd name="adj" fmla="val 189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82446" y="2286000"/>
            <a:ext cx="4311396" cy="2891790"/>
          </a:xfrm>
          <a:prstGeom prst="ellipse">
            <a:avLst/>
          </a:prstGeom>
          <a:solidFill>
            <a:srgbClr val="2B3048"/>
          </a:solidFill>
          <a:ln w="12700">
            <a:solidFill>
              <a:srgbClr val="2B304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759202"/>
            <a:ext cx="2628900" cy="2366010"/>
          </a:xfrm>
          <a:prstGeom prst="ellipse">
            <a:avLst/>
          </a:prstGeom>
          <a:solidFill>
            <a:srgbClr val="2B3048"/>
          </a:solidFill>
          <a:ln w="12700">
            <a:solidFill>
              <a:srgbClr val="2B304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176272" y="3705606"/>
            <a:ext cx="2103120" cy="1314450"/>
          </a:xfrm>
          <a:prstGeom prst="ellipse">
            <a:avLst/>
          </a:prstGeom>
          <a:solidFill>
            <a:srgbClr val="2B3048"/>
          </a:solidFill>
          <a:ln w="12700">
            <a:solidFill>
              <a:srgbClr val="2B304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069080" y="4336542"/>
            <a:ext cx="1524762" cy="1051560"/>
          </a:xfrm>
          <a:prstGeom prst="ellipse">
            <a:avLst/>
          </a:prstGeom>
          <a:solidFill>
            <a:srgbClr val="363C58"/>
          </a:solidFill>
          <a:ln w="1905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rot="840000">
            <a:off x="3490722" y="4336542"/>
            <a:ext cx="630936" cy="1367028"/>
          </a:xfrm>
          <a:prstGeom prst="roundRect">
            <a:avLst>
              <a:gd name="adj" fmla="val 17391"/>
            </a:avLst>
          </a:prstGeom>
          <a:solidFill>
            <a:srgbClr val="9B7EF7"/>
          </a:solidFill>
          <a:ln w="1905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860804" y="2864358"/>
            <a:ext cx="420624" cy="368046"/>
          </a:xfrm>
          <a:prstGeom prst="line">
            <a:avLst/>
          </a:prstGeom>
          <a:noFill/>
          <a:ln w="25400">
            <a:solidFill>
              <a:srgbClr val="3E4566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912364" y="2601468"/>
            <a:ext cx="105156" cy="683514"/>
          </a:xfrm>
          <a:prstGeom prst="line">
            <a:avLst/>
          </a:prstGeom>
          <a:noFill/>
          <a:ln w="25400">
            <a:solidFill>
              <a:srgbClr val="3E4566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flipH="1">
            <a:off x="3753612" y="2759202"/>
            <a:ext cx="210312" cy="683514"/>
          </a:xfrm>
          <a:prstGeom prst="line">
            <a:avLst/>
          </a:prstGeom>
          <a:noFill/>
          <a:ln w="25400">
            <a:solidFill>
              <a:srgbClr val="3E456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 flipH="1">
            <a:off x="4279392" y="3232404"/>
            <a:ext cx="420624" cy="473202"/>
          </a:xfrm>
          <a:prstGeom prst="line">
            <a:avLst/>
          </a:prstGeom>
          <a:noFill/>
          <a:ln w="25400">
            <a:solidFill>
              <a:srgbClr val="3E456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B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din creier care reglează respirația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Supradoza de opioide (OMS): trei semne împreună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92240" y="2167128"/>
            <a:ext cx="384048" cy="384048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922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210312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Pupile punctiforme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92240" y="2807208"/>
            <a:ext cx="384048" cy="384048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9224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274320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Pierderea conștienței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92240" y="3447288"/>
            <a:ext cx="384048" cy="384048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92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338328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Respirație dificilă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92240" y="4069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Pupilele punctiforme orientează spre un opioid. Opioidele, alcoolul și pastilele „de calmat”, precum benzodiazepinele, deprimă împreună respirația.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492240" y="48463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Și în România, opiaceele cauzează cele mai multe decese asociate direct consumului, uneori împreună cu benzodiazepine (RN 2025, p. 100). Prima ședință: circuitul recompensei explică obsesia. Azi: de ce un drog poate ucide într-o noapte, chiar la primul consum.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Schemă simplificată, desenată pentru curs.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PERECHI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ANONIM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tânărul nu și-ar fi revenit, ar fi apărut decesul lui în statistica națională?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3271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3271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1031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Da, sigur.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127248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335127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3512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3127248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dacă se fac autopsia medico-legală și analizele toxicologice, iar instituția care le face trimite datele mai departe.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151376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43754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3754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151376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4360" y="53949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vot, două minute cu colegul de bancă.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9B7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B. Numai dacă trece prin toate verigile.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2697480" cy="109728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20116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Autopsia medico-legală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83280" y="2011680"/>
            <a:ext cx="2697480" cy="109728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886200" y="20116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Analizele toxicologice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2011680"/>
            <a:ext cx="2697480" cy="109728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0" y="20116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Instituția trimite datele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961120" y="2011680"/>
            <a:ext cx="2697480" cy="1097280"/>
          </a:xfrm>
          <a:prstGeom prst="chevron">
            <a:avLst/>
          </a:prstGeom>
          <a:solidFill>
            <a:srgbClr val="1F104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464040" y="20116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Raportul național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3520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Orice verigă lipsă scoate cazul din cifră. Rareori o verigă adaugă un caz care nu a existat.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4360" y="4434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România, decesele legate de droguri se numără din cazuistica medicinei legale. Răspunsul corect ascunde o problemă mare.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NUMĂRĂ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47 de decese, din 8 instituții medico-legale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47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 asociate consumului de droguri în 2024, dintre care 40 asociate direct. 28 din 47: INML București.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94960" y="16459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Instituțiile medico-legale care au trimis date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94960" y="2377440"/>
            <a:ext cx="347472" cy="34747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833872" y="2377440"/>
            <a:ext cx="347472" cy="34747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72784" y="2377440"/>
            <a:ext cx="347472" cy="34747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711696" y="2377440"/>
            <a:ext cx="347472" cy="34747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150608" y="2377440"/>
            <a:ext cx="347472" cy="34747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589520" y="2377440"/>
            <a:ext cx="347472" cy="34747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28432" y="2377440"/>
            <a:ext cx="347472" cy="34747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467344" y="2377440"/>
            <a:ext cx="347472" cy="34747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906256" y="2377440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345168" y="2377440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784080" y="2377440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222992" y="2377440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661904" y="2377440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1100816" y="2377440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394960" y="2816352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833872" y="2816352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72784" y="2816352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711696" y="2816352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150608" y="2816352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589520" y="2816352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028432" y="2816352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467344" y="2816352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906256" y="2816352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345168" y="2816352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784080" y="2816352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222992" y="2816352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661904" y="2816352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1100816" y="2816352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394960" y="3255264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833872" y="3255264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272784" y="3255264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711696" y="3255264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150608" y="3255264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589520" y="3255264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028432" y="3255264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467344" y="3255264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8906256" y="3255264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9345168" y="3255264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9784080" y="3255264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0222992" y="3255264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0661904" y="3255264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1100816" y="3255264"/>
            <a:ext cx="347472" cy="347472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394960" y="37490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pentru 2024</a:t>
            </a:r>
            <a:pPr indent="0" marL="0">
              <a:buNone/>
            </a:pPr>
            <a:r>
              <a:rPr lang="en-US" sz="2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    6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pentru 2023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394960" y="43434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pătrat: o instituție, din cele patruzeci și două.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594360" y="5120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Harta deceselor prin droguri din România are mari pete albe: județe din care nu vine nicio cifră.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ANPCDDA, Raportul național 2025.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VEDE LA URGENȚE · 2024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Aproape trei mii de urgențe pe 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2 995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urgențe în care s-a semnalat un drog ilicit: cam opt pe zi (3 098 în 2023)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0" y="1691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80,6%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4108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aveau sub 35 de ani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0" y="2788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85,8%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64108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avut analize toxicologice: 2 570 de pacienți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s-a găsit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4297680"/>
            <a:ext cx="2642616" cy="38404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317736" y="4251960"/>
            <a:ext cx="2386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28,9%  noile substanțe psihoactive („etnobotanice”)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0" y="4846320"/>
            <a:ext cx="2459736" cy="384048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34856" y="4800600"/>
            <a:ext cx="2569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26,9%  canabis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16052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mii de urgențe, câteva zeci de decese numărate. Ce ar fi de așteptat?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ANPCDDA, Raportul național 2025.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COMPARAȚIE CU EUROPA · CALCUL ORIENTATIV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Ne-am aștepta la aproximativ 320. Am raportat 40 direct.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5715000"/>
            <a:ext cx="4937760" cy="18288"/>
          </a:xfrm>
          <a:prstGeom prst="rect">
            <a:avLst/>
          </a:prstGeom>
          <a:solidFill>
            <a:srgbClr val="8E94A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97280" y="2148840"/>
            <a:ext cx="1554480" cy="356616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≈ 320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5769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așteptate, la frecvența medie din 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66160" y="5269230"/>
            <a:ext cx="1554480" cy="44577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0" y="458343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0" y="5769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raportate direct (47 cu cele indirecte)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Calculul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7 589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21040" y="2103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 prin supradoză în UE în 2024: o estimare minimă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din 24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21040" y="3017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europeni locuiește în România (≈ 19 milioane din 449)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0" y="4069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Diferența: de aproximativ opt ori.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45720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Față de cele 40 de decese asociate direct. Definițiile nu se suprapun perfect, dar diferența e prea mare ca să țină numai de ele.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 orientativ; sursa fiecărei cifre este în note.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UNDE VINE DIFERENȚA?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explicații care nu se exclud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3520440" cy="2240280"/>
          </a:xfrm>
          <a:prstGeom prst="roundRect">
            <a:avLst>
              <a:gd name="adj" fmla="val 3673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737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puțin consum declarat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Anchetele o arată; și la noi, opiaceele cauzează cele mai multe decese directe.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66260" y="1600200"/>
            <a:ext cx="3520440" cy="2240280"/>
          </a:xfrm>
          <a:prstGeom prst="roundRect">
            <a:avLst>
              <a:gd name="adj" fmla="val 3673"/>
            </a:avLst>
          </a:prstGeom>
          <a:solidFill>
            <a:srgbClr val="F6EDD5"/>
          </a:solidFill>
          <a:ln w="12700">
            <a:solidFill>
              <a:srgbClr val="F6EDD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40580" y="1737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Servicii care salvează mai mulți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40580" y="25603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Tratament și reducerea riscurilor. Nu avem date care să o susțină.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20440" cy="2240280"/>
          </a:xfrm>
          <a:prstGeom prst="roundRect">
            <a:avLst>
              <a:gd name="adj" fmla="val 3673"/>
            </a:avLst>
          </a:prstGeom>
          <a:solidFill>
            <a:srgbClr val="F4E0E2"/>
          </a:solidFill>
          <a:ln w="12700">
            <a:solidFill>
              <a:srgbClr val="F4E0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12480" y="1737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numărăm la fel de bine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0" y="25603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2024, numai câteva instituții au trimis datele.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4069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minute cu colegul: ce date v-ar trebui ca să alegeți?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4800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se poate spune cât ține de fiecare. Dar 47 de decese, din 8 instituții, nu dovedesc că România „stă bine”.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DOILEA TERMEN NOU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Subraportarea: s-a întâmplat, dar nu s-a numărat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Cazuri reale nedescoperite, înregistrate greșit sau netrimise. Cifra oficială iese mai mică decât realitatea.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217920" y="237744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37744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tânăr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ajunge la o instituție medico-legală care trimite datele.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37744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doilea tânăr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moare într-un județ care nu trimite nimic.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4069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Ambii sunt la fel de morți. Doar unul e numărat.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4892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Ați crede, a doua oară, că „România stă cel mai bine”, la decese? Cifra de 47 arată bine tocmai pentru că a fost măsurată prost.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635508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ipotetice: aceeași noapte, același amestec de alcool și pastile.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ÎNSEAMNĂ PENTRU VOI, LA GARDĂ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Statistica nu cade din cer. O parte începe în fișa voastră.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7315200" cy="393192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27000" dist="63500" dir="36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8720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PACIENTULUI · UPU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88720" y="2258568"/>
            <a:ext cx="6583680" cy="18288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8872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Consum de substanțe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0" y="3182112"/>
            <a:ext cx="4114800" cy="13716"/>
          </a:xfrm>
          <a:prstGeom prst="rect">
            <a:avLst/>
          </a:prstGeom>
          <a:solidFill>
            <a:srgbClr val="C9C6B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57600" y="2468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i="1" dirty="0">
                <a:solidFill>
                  <a:srgbClr val="1F3F8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întrebat fără judecată; notat ce s-a aflat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474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Analize toxicologice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0" y="4187952"/>
            <a:ext cx="4114800" cy="13716"/>
          </a:xfrm>
          <a:prstGeom prst="rect">
            <a:avLst/>
          </a:prstGeom>
          <a:solidFill>
            <a:srgbClr val="C9C6B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57600" y="34747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i="1" dirty="0">
                <a:solidFill>
                  <a:srgbClr val="1F3F8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cerute când sunt indicate: o confirmare obiectivă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4480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Cauza decesului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0" y="5193792"/>
            <a:ext cx="4114800" cy="13716"/>
          </a:xfrm>
          <a:prstGeom prst="rect">
            <a:avLst/>
          </a:prstGeom>
          <a:solidFill>
            <a:srgbClr val="C9C6B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57600" y="44805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i="1" strike="sngStrike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„stop cardiorespirator”</a:t>
            </a:r>
            <a:pPr indent="0" marL="0">
              <a:buNone/>
            </a:pPr>
            <a:r>
              <a:rPr lang="en-US" sz="1600" b="1" i="1" dirty="0">
                <a:solidFill>
                  <a:srgbClr val="1F3F8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cauza reală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57332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Formular reconstituit și simplificat.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49640" y="178308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„Stop cardiorespirator”: așa moare oricine. O cauză vagă șterge drogul din statistică.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577072" y="3977640"/>
            <a:ext cx="1097280" cy="27432"/>
          </a:xfrm>
          <a:prstGeom prst="rect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49640" y="41148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el dispare argumentul pentru servicii care ar fi salvat următorul pacient.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Pauză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94360" y="3474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minute. Urmează a treia poveste: duminică dimineața, un telefon.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JOC DE ROL · 2 VOLUNTARI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TREIA POVESTE · FESTIVALUL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Telefonul de duminică dimineață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108960" cy="4526280"/>
          </a:xfrm>
          <a:prstGeom prst="roundRect">
            <a:avLst>
              <a:gd name="adj" fmla="val 10294"/>
            </a:avLst>
          </a:prstGeom>
          <a:solidFill>
            <a:srgbClr val="0B0C12"/>
          </a:solidFill>
          <a:ln w="1905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41832" y="1719072"/>
            <a:ext cx="2871216" cy="4288536"/>
          </a:xfrm>
          <a:prstGeom prst="roundRect">
            <a:avLst>
              <a:gd name="adj" fmla="val 7962"/>
            </a:avLst>
          </a:prstGeom>
          <a:solidFill>
            <a:srgbClr val="1B1D27"/>
          </a:solidFill>
          <a:ln w="12700">
            <a:solidFill>
              <a:srgbClr val="1B1D2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apel de intrare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74520" y="2468880"/>
            <a:ext cx="1005840" cy="1005840"/>
          </a:xfrm>
          <a:prstGeom prst="ellipse">
            <a:avLst/>
          </a:prstGeom>
          <a:solidFill>
            <a:srgbClr val="07564B"/>
          </a:solidFill>
          <a:ln w="1905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7452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Radu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coleg de cameră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280160" y="4892040"/>
            <a:ext cx="685800" cy="685800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788920" y="4892040"/>
            <a:ext cx="685800" cy="68580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34840" y="1645920"/>
            <a:ext cx="7178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Colegul vostru din cămin, student la Farmacie. Aseară, la intrarea într-un festival, poliția l-a găsit cu puțin canabis, pentru el. Are un dosar. Nu e dependent; fumează rar.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434840" y="3337560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„Mă exmatriculează? Fac închisoare? Ce le spun părinților?”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434840" y="4434840"/>
            <a:ext cx="7178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Doi voluntari, trei minute: colegul speriat și studentul la medicină. Jucați un personaj, nu pe voi înșivă.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4840" y="58521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Scenă reconstituită; numele este fictiv.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SCENĂ, TOATĂ SALA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riscă, după lege, colegul vostru?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19751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9692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Nimic: e o contravenție, ca o amendă de parcare.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715768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29077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715768"/>
            <a:ext cx="9692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infracțiune, pedepsită cu închisoare sau amendă, la care procurorul poate cere și o evaluare pentru asistență.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648456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3840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648456"/>
            <a:ext cx="9692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Închisoare sigur.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581144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4400" y="47731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4773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4581144"/>
            <a:ext cx="9692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Exmatriculare automată.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C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B. O infracțiune.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nr. 143/2000, art. 4, forma în vigoare: deținerea de droguri pentru consum propriu, fără drept.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217920" y="237744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3D2A00"/>
          </a:solidFill>
          <a:ln w="12700">
            <a:solidFill>
              <a:srgbClr val="3D2A0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514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Drogurile de risc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închisoare de la 3 luni la 2 ani sau amendă. Canabisul este în acest tabel.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514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Drogurile de mare risc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92240" y="30175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închisoare de la 6 luni la 3 ani. Heroina este în acest tabel.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4297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colegul vostru: închisoare sau amendă.</a:t>
            </a:r>
            <a:endParaRPr lang="en-US" sz="1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MAI SPUNE LEGEA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are și o ușă laterală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5544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83280" y="1554480"/>
            <a:ext cx="8001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Procurorul poate dispune evaluarea, pentru circuitul integrat de asistență: lângă dosar, o întrebare de sănătate. Obligatorie la minori; o face centrul de prevenire, evaluare și consiliere antidrog, cu consimțământul persoanei. Art. 20: dacă programul e respectat, instanța poate renunța la pedeapsă sau o poate amâna.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7432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374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83280" y="2743200"/>
            <a:ext cx="8001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persoane condamnate în 2024 pentru deținere pentru consum propriu. Dosarul nu e o formalitate.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393192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39319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Exmatricularea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3931920"/>
            <a:ext cx="8001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e „automată”: depinde de dosar și de regulamentele universității.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94360" y="521208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5212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i-ați putea spune: „E o infracțiune, dar procurorul poate dispune o evaluare care să te ducă spre asistență. Dacă intri în program și îl respecți, instanța poate renunța la pedeapsă sau o poate amâna. Vorbește cu un avocat.”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CREIERUL ȘI LEGEA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Creierul pe care legea nu-l vede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a încercat o dată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Dosarul penal poate fi singura urmare serioasă a unei seri la festival.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9224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nu se mai poate opri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dosar penal nu tratează nimic din ce s-a schimbat în creierul lui.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352044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canabis, după estimări, cam 9 din 100 vor deveni dependenți la un moment dat în viață. Articolul 4 nu face această deosebire; articolele 19 și 20 sunt punctele în care legea întreabă, totuși, ce se petrece cu persoana.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" y="4617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minute cu colegul: dacă dependența e o problemă de sănătate, de ce răspunsul de bază e penal?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 IUNIE 1971 · CASA ALBĂ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„Inamicul public numărul unu”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Președintele Richard Nixon declară abuzul de droguri inamicul public și cere o ofensivă nouă și totală.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999232"/>
            <a:ext cx="10607040" cy="36576"/>
          </a:xfrm>
          <a:prstGeom prst="rect">
            <a:avLst/>
          </a:prstGeom>
          <a:solidFill>
            <a:srgbClr val="3A3E52"/>
          </a:solidFill>
          <a:ln w="12700">
            <a:solidFill>
              <a:srgbClr val="3A3E5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880360"/>
            <a:ext cx="274320" cy="274320"/>
          </a:xfrm>
          <a:prstGeom prst="ellipse">
            <a:avLst/>
          </a:prstGeom>
          <a:solidFill>
            <a:srgbClr val="FFC24B"/>
          </a:solidFill>
          <a:ln w="254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2918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1971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155 mil. $ în plus: bugetul ar fi trecut de 350 de milioane, pentru poliție și pentru tratament.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2880360"/>
            <a:ext cx="274320" cy="274320"/>
          </a:xfrm>
          <a:prstGeom prst="ellipse">
            <a:avLst/>
          </a:prstGeom>
          <a:solidFill>
            <a:srgbClr val="FF4757"/>
          </a:solidFill>
          <a:ln w="254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63440" y="32918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63440" y="40233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40 de ani, presa face bilanțul.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21040" y="2880360"/>
            <a:ext cx="274320" cy="274320"/>
          </a:xfrm>
          <a:prstGeom prst="ellipse">
            <a:avLst/>
          </a:prstGeom>
          <a:solidFill>
            <a:srgbClr val="27D3BE"/>
          </a:solidFill>
          <a:ln w="254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2918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321040" y="40233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55 de ani. „Războiul” evocă poliția, nu clinica.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5349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Citatul atribuit unui consilier al lui Nixon nu rezistă ca dovadă. Aplicarea inegală a legii se arată cu date, iar datele există. „A eșuat” e o judecată, verificată pe date în ședințele următoare.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PERECHI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AȚI CREDE ACEST TITLU? A TREIA OARĂ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rot="-60000">
            <a:off x="822960" y="1051560"/>
            <a:ext cx="10332720" cy="283464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27000" dist="63500" dir="36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 rot="-60000">
            <a:off x="1234440" y="1280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 DE AGENȚIE · MAI 2010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-60000">
            <a:off x="1234440" y="1618488"/>
            <a:ext cx="9509760" cy="18288"/>
          </a:xfrm>
          <a:prstGeom prst="rect">
            <a:avLst/>
          </a:prstGeom>
          <a:solidFill>
            <a:srgbClr val="11121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 rot="-60000">
            <a:off x="1234440" y="1737360"/>
            <a:ext cx="9509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 IMPACT: After 40 years, $1 trillion, US War on Drugs has failed to meet any of its goals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 rot="-60000">
            <a:off x="1234440" y="301752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„După 40 de ani și un trilion de dolari, războiul SUA împotriva drogurilor nu și-a atins niciunul dintre obiective”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Reconstituire; titlul real: Associated Press, 13 mai 2010, preluat, între altele, de Fox News.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4805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00400" y="448056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00400" y="44805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577840" y="448056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577840" y="44805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Depinde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5166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 două minute cu colegul: ce ați vrea să știți despre cifra de un trilion?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Depinde: cifra are un autor și o metodă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Limba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91840" y="1554480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„trillion” american e o mie de miliarde: în română, un bilion.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6888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468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a calculat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291840" y="2468880"/>
            <a:ext cx="8092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Jurnaliștii AP, din mai multe surse, pe aproximativ 40 de ani; nu un total oficial. Între componente: 121 de miliarde pentru arestarea a peste 37 de milioane de persoane (≈ 10 milioane pentru canabis), 450 de miliarde pentru încarcerare.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06908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4069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lipsește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91840" y="4069080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„Nu și-a atins niciunul dintre obiective”: o judecată argumentată, nu o măsurătoare.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5120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citează: „după un calcul al agenției AP din 2010”.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ESTE ARESTAT · SUA, 2010–2018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canabis, alte dosare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3,64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ori mai multe șanse de arestare pentru posesie de canabis: o persoană de culoare față de una albă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16916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Consumă canabis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0" y="2103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persoane albe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2157984"/>
            <a:ext cx="2011680" cy="274320"/>
          </a:xfrm>
          <a:prstGeom prst="rect">
            <a:avLst/>
          </a:prstGeom>
          <a:solidFill>
            <a:srgbClr val="8E94A8"/>
          </a:solidFill>
          <a:ln w="12700">
            <a:solidFill>
              <a:srgbClr val="8E94A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846320" y="2560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persoane de culoare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2615184"/>
            <a:ext cx="2011680" cy="27432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732520" y="210312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proporții asemănătoare, potrivit ACLU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3154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Sunt arestați pentru posesie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3566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persoane albe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3621024"/>
            <a:ext cx="1143000" cy="274320"/>
          </a:xfrm>
          <a:prstGeom prst="rect">
            <a:avLst/>
          </a:prstGeom>
          <a:solidFill>
            <a:srgbClr val="8E94A8"/>
          </a:solidFill>
          <a:ln w="12700">
            <a:solidFill>
              <a:srgbClr val="8E94A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46320" y="4023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persoane de culoare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4078224"/>
            <a:ext cx="4160520" cy="2743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45720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Consum asemănător, potrivit ACLU; riscul de a fi arestați pentru posesie, nu.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se aplică acolo unde se uită poliția. Pentru România, date comparabile nu avem.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ACLU, aprilie 2020: raportul unei organizații cu poziție declarată, nu o statistică oficială.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TREILEA TERMEN NOU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Dezincriminarea: nu mai e penal, dar nici nu e voie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4E0E2"/>
          </a:solidFill>
          <a:ln w="12700">
            <a:solidFill>
              <a:srgbClr val="F4E0E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37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Infracțiune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Pedeapsă penală. Aici e România azi, cu evaluarea (art. 19) și art. 20.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66260" y="160020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6EDD5"/>
          </a:solidFill>
          <a:ln w="12700">
            <a:solidFill>
              <a:srgbClr val="F6EDD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40580" y="1737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Dezincriminare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40580" y="23317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Pedepsele penale se elimină; pot rămâne sancțiuni civile sau administrative (Scheim și colab., 2020).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1F0EC"/>
          </a:solidFill>
          <a:ln w="12700">
            <a:solidFill>
              <a:srgbClr val="E1F0E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0" y="1737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Legalizare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412480" y="23317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 legal pentru consum, producție și vânzare (reglementare legală).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94360" y="3886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 nu oprește dosarul penal; îi adaugă o întrebare de sănătate.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4480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 viitoare: Portugalia. Ce date ne-ar trebui ca să știm dacă schimbarea a funcționat?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PRACTICĂ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 de mâine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6002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„Toată lumea ia”? În ultimul an, unul din unsprezece tineri.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85800" y="249631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3774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orice cifră: ce fereastră, cine a numărat, cât de complet.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85800" y="327355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1546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gardă: întrebați fără judecată, notați în fișă, cereți analize.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85800" y="405079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93192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Prieten cu dosar: infracțiune, dar și o posibilă evaluare spre asistență; dacă respectă programul, instanța poate renunța la pedeapsă sau o poate amâna.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85800" y="482803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" y="4828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7091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 cu cifră uriașă: cine a calculat-o și cum?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21792" y="5577840"/>
            <a:ext cx="1097280" cy="27432"/>
          </a:xfrm>
          <a:prstGeom prst="rect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436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pacient judecat nu mai spune ce a consumat; medicul lucrează apoi pe întuneric.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RECAPITULARE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rămas din cele trei povești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Accesați kahoot.it și introduceți codul jocului.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320040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3200400"/>
            <a:ext cx="5486400" cy="201168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dirty="0" i="1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Kahoot: intrați pe kahoot.it cu PIN-ul afișat pe ecran.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3200400"/>
            <a:ext cx="5166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Rezultatul nu se notează. După fiecare întrebare, pe ecran: răspunsul corect și sursa lui.</a:t>
            </a:r>
            <a:endParaRPr lang="en-US" sz="1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titular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549640" y="2514600"/>
            <a:ext cx="30175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Luni, pe pagina disciplinei, veți găsi două modificări făcute pe baza răspunsurilor.</a:t>
            </a:r>
            <a:endParaRPr lang="en-US" sz="1700" dirty="0"/>
          </a:p>
        </p:txBody>
      </p:sp>
      <p:pic>
        <p:nvPicPr>
          <p:cNvPr id="17" name="Picture 16" descr="Mentimeter_OPT_DROGURI_C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650" y="2514600"/>
            <a:ext cx="1841500" cy="1841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37650" y="4394200"/>
            <a:ext cx="1841500" cy="627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02532"/>
                </a:solidFill>
                <a:latin typeface="Palatino Linotype"/>
              </a:rPr>
              <a:t>menti.com</a:t>
            </a:r>
          </a:p>
          <a:p>
            <a:pPr algn="ctr"/>
            <a:r>
              <a:rPr sz="1300" b="1">
                <a:solidFill>
                  <a:srgbClr val="B02532"/>
                </a:solidFill>
                <a:latin typeface="Palatino Linotype"/>
              </a:rPr>
              <a:t>anonim, fără cont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Ședința 2 - Cine consumă în România și ce nu putem afla. War on Drugs: 55 de ani de politici penale</dc:title>
  <dc:subject>PptxGenJS Presentation</dc:subject>
  <dc:creator>Conf. Univ. Dr. Adrian Pana</dc:creator>
  <cp:lastModifiedBy>Conf. Univ. Dr. Adrian Pana</cp:lastModifiedBy>
  <cp:revision>1</cp:revision>
  <dcterms:created xsi:type="dcterms:W3CDTF">2026-10-03T13:24:39Z</dcterms:created>
  <dcterms:modified xsi:type="dcterms:W3CDTF">2026-10-03T13:24:39Z</dcterms:modified>
  <cp:keywords>sursa_amprenta=f492982c4552222a; proiectie</cp:keywords>
</cp:coreProperties>
</file>