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Bine ați venit la a patra ședință, de data aceasta pe Teams. Titlul are două jumătăți: ce face medicul cu cineva care consumă și nu se poate opri, și dependența pe care o poate produce, fără nicio intenție, chiar rețeta lui. Deschideți Mentimeter de acum, de pe telefon sau din linkul din chat: votăm în primele minute.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Biletul de ieșire al ședinței a treia a rămas fără răspunsuri, deci nu avem încă ce schimba pe baza lui. Azi îi păstrăm ultimele cinci minute: trei întrebări pe Mentimeter, cu linkul și în chat. Biletul este anonim și nu se notează, iar ce scrieți acolo schimbă ședința următoare.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Sunteți în stagiu la un cabinet de medicină de familie. Prima pacientă, doamna Elena, are șaizeci și șapte de ani și vine, ca în fiecare lună, pentru rețeta de alprazolam. L-a început acum șase ani, după moartea soțului, „doar pentru câteva săptămâni”; când a rămas fără pastile peste un weekend, a tremurat și a avut palpitații. Al doilea pacient are treizeci și patru de ani, a fost operat de hernie de disc acum trei luni și cere încă o cutie de opioid. Niciunul nu a cumpărat ceva de pe stradă: amândoi au început cu o rețetă scrisă pentru un motiv real. Răspunsul provizoriu la titlu: medicul are două datorii care nu se exclud, să nu creeze dependențe noi și să țină în viață pe cei deja dependenți. A doua datorie are un nume, reducerea riscurilor. Cazurile sunt construite pentru ședință.</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Înainte de orice explicație, un vot anonim. Doamna Elena vă spune că vrea să renunțe la alprazolam de mâine. Ce îi răspundeți? Votați pe Mentimeter, la codul de pe ecran sau din linkul din chat. Nu e nevoie să știți deja varianta corectă; revenim la acest vot în prima parte, după ce vedem ce spun ghidurile.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Primul termen nou: dependența fizică. Este starea în care organismul s-a adaptat la un medicament luat regulat, astfel încât oprirea bruscă sau scăderea prea rapidă a dozei produce simptome de sevraj. În cuvinte obișnuite, corpul s-a obișnuit cu pastila și protestează când nu o mai primește. Ghidul comun din 2025 o numește un rezultat așteptat al folosirii benzodiazepinelor, distinct de tulburarea de uz, iar ea poate apărea și la cine ia medicamentul exact cum i s-a spus. În prima ședință ați văzut că adicția înseamnă pierderea controlului asupra consumului. Doamna Elena nu își mărește singură doza și nu caută pastile pe ascuns. Diferența contează pentru cuvinte: „sunteți dependentă” se aude ca „sunteți o drogată”, iar „corpul s-a obișnuit, îl dezvățăm încet” se aude ca un plan.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Cât de repede apare? Autoritatea americană a medicamentului (FDA) avertizează, într-o comunicare din 2020, că dependența fizică de benzodiazepine poate apărea după câteva zile sau săptămâni de administrare regulată, chiar conform prescripției. Ghidul clinic comun publicat în 2025 de Societatea Americană de Medicină a Adicțiilor și de alte societăți medicale nuanțează: mulți pacienți care le iau de mai puțin de o lună, mai ales în doze mici, probabil nu au dependență fizică, dar ea se poate dezvolta în câteva săptămâni și diferă de la un pacient la altul. Citiți încă o dată fraza din caz: „doar pentru câteva săptămâni”. Este exact intervalul în care dependența poate începe. De aceea, ghidul cere ca, după o rețetă nouă, raportul dintre riscuri și beneficii să fie reevaluat în cel mult o lună.</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Cât de des se întâmplă? Pentru România nu am găsit o serie oficială publică despre câte persoane iau benzodiazepine pe termen lung, cu rețetă. Cifrele vin din Statele Unite, citate de ghidul din 2025: în 2023, aproape 24 de milioane de persoane au raportat că folosesc o benzodiazepină, dintre care aproximativ 20 de milioane conform prescripției; în 2018, aproximativ jumătate dintre pacienții cu benzodiazepine orale le-au primit două luni sau mai mult, adică mai mult decât intervalul în care dependența fizică poate începe. Din România vedem numai partea care ajunge la serviciile pentru adicții: 69 de cereri de asistență în 2024, față de 59 în 2023, pentru hipnotice și sedative. Observați formularea raportului: fără prescripție medicală. Doamna Elena, cu rețetă, nu apare în această cifră.</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Scrieți în chat două motive pentru care dependența de benzodiazepine luate cu rețetă ajunge rar într-o statistică; o frază pentru fiecare motiv ajunge. Apoi citim câteva dintre ele. Iată și câteva motive posibile, toate de verificat: pacientul nu se consideră bolnav, pentru că „le-a dat doctorul”; medicul reînnoiește rețeta fără să o numească problemă; nimeni nu cere ajutor până nu apare o criză, de exemplu o cădere sau un sevraj după o internare. Nu putem spune care dintre ele contează cel mai mult, pentru că nu avem date.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Să vedem ce ați votat. Varianta corectă este B: nu se oprește brusc, ci se face un plan de reducere treptată. Ghidul comun din 2025 spune că, la utilizarea regulată, întreruperea bruscă sau scăderea precipitată a dozei poate produce simptome de sevraj grave, potențial letale, și că benzodiazepinele nu se întrerup brusc la pacienții probabil dependenți fizic. Agenția Uniunii Europene pentru Droguri (EUDA) scrie același lucru în raportul european din 2026: simptomele de sevraj pot pune viața în pericol. Varianta A pare cea mai virtuoasă și este cea mai periculoasă. Varianta C pare blândă, dar este o renunțare: ghidul nu spune că vârstnicii nu mai merită să încerce, ci că reducerea se adaptează fiecărui pacient.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Cum arată o reducere treptată? Ghidul din 2025 dă un reper, nu o rețetă fixă: ritmul inițial este, în general, o scădere de 5–10% din doză la fiecare 2–4 săptămâni, iar ritmul nu depășește, de regulă, 25% la 2 săptămâni. Strategia se adaptează pacientului și se ajustează după cum răspunde. Pentru doamna Elena, cu valori ipotetice: aproximativ o zecime din doză la fiecare trei săptămâni. În primele luni ia aproape aceeași cantitate ca înainte, iar schimbarea abia se simte; ritmul încetinește când apar simptome. Planul durează luni, nu zile. Comparați-l cu cei șase ani în care s-a format dependența. Scopul poate fi oprirea medicamentului sau doza la care riscurile nu mai depășesc beneficiile: nu orice pacient trebuie să ajungă la zero.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 joc de rol cu doi voluntari, cu microfonul deschis: unul este medicul de familie, celălalt doamna Elena. Cine vrea să participe folosește reacția „mână ridicată” din Teams. Doamna Elena a citit că alprazolamul strică memoria și vrea să-l lase de mâine. Medicul are trei minute să o convingă să nu îl oprească brusc, fără să o sperie și fără să o certe. Ceilalți urmăriți cuvintele pe care le alege medicul. Apoi votați pe Mentimeter, la codul de pe ecran sau din linkul din chat: ați fi plecat de la acest medic cu un plan?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Să vedem ce ați votat. Discuția de după joc pornește de la cuvintele folosite. Medicul care spune „sunteți dependentă” pierde, de obicei, conversația. Cel care spune „corpul s-a obișnuit cu medicamentul; îl scădem împreună, încet, și ne vedem peste trei săptămâni” are mai multe șanse. Pacienta are, în parte, dreptate, iar medicul i-o poate spune: ghidul din 2025 enumeră afectarea cognitivă printre riscurile asociate benzodiazepinelor, alături de căderi și de accidentele rutiere. Tocmai de aceea merită scăzută doza, dar treptat, nu de mâine.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Pastilele de somn care nu sunt benzodiazepine: zolpidemul, zopiclona, eszopiclona și zaleplonul, numite adesea „medicamentele Z”. Nu au structura chimică a benzodiazepinelor, dar ghidul din 2025 notează că au mecanisme asemănătoare și pot avea riscuri asemănătoare, deși nu le tratează direct. FDA a adăugat în 2019, pentru eszopiclonă, zaleplon și zolpidem, avertismentul cel mai vizibil din informațiile de prescriere, din cauza comportamentelor complexe din somn: mersul, condusul mașinii sau alte activități făcute fără ca pacientul să fie complet treaz. Agenția a identificat 66 de cazuri cu leziuni grave, inclusiv decese, în 26 de ani. Cifra pare mică, dar cuprinde numai ce a fost raportat sau publicat. Pentru pacient, informația utilă e simplă: dacă v-ați trezit vreodată făcând ceva fără să vă amintiți, opriți medicamentul și spuneți imediat medicului.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Mai există o categorie pe care un student la medicină trebuie să o cunoască: benzodiazepinele noi, produse în afara oricărei autorizări. Raportul european din 2026 arată că 40 de benzodiazepine noi au fost notificate sistemului european de avertizare timpurie între 2007 și 2025, iar 28 dintre ele au apărut pe piață în 2024, în 22 de state ale Uniunii Europene și în Norvegia. Una dintre ele, bromazolamul, a fost introdusă de România în martie 2025 în tabelele substanțelor controlate, odată cu tramadolul și cu cinolazepamul. Și o diferență practică: supradoza cu opioide poate fi inversată cu naloxonă, dar cea cu benzodiazepine cere un alt antidot, administrat în general numai în spital.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Închidem prima parte cu o frază pe care i-o puteți spune mâine unui coleg. Scrieți-o în chat, cu cuvintele voastre. Ideea ei: benzodiazepina scrisă pentru câteva săptămâni poate produce dependență fizică chiar dacă pacientul o ia corect; îl programați înapoi într-o lună. Dacă o ia de ani de zile, nu i-o opriți brusc: o scădeți încet, cu un plan.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 doilea pacient al dimineții: bărbatul de treizeci și patru de ani, operat de hernie de disc acum trei luni, cere încă o cutie de opioid, „că altfel nu pot lucra”. Ce faceți? Votați pe Mentimeter, la codul de pe ecran sau din linkul din chat. Gândiți-vă la ce riscă pacientul în fiecare variantă.</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Să vedem ce ați votat. Varianta C urmează ghidul american pentru prescrierea opioidelor în durere, publicat în 2022 de Centrele pentru Controlul și Prevenirea Bolilor (CDC). Pentru multe tipuri obișnuite de durere acută, tratamentele fără opioide sunt cel puțin la fel de eficace ca opioidele; în durerea subacută și cronică, de câteva săptămâni sau luni, ele sunt preferate. Când opioidele sunt necesare pentru durerea acută, ghidul recomandă cel mult cantitatea necesară pentru durata așteptată a durerii severe. Înainte de un tratament continuu, medicul stabilește împreună cu pacientul ținte de durere și de funcție. Varianta B pare prudentă, dar îl lasă pe pacient singur cu durerea și cu o dependență posibilă, fără plan.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 să înțelegeți de ce ghidul este atât de prudent, priviți ce s-a întâmplat în Statele Unite. CDC descrie, pe pagina actualizată în 2026, trei valuri ale deceselor prin supradoză de opioide. Primul a început odată cu creșterea prescrierii opioidelor în anii 1990; decesele cu opioide eliberate pe rețetă au crescut din jurul anului 1999. Al doilea val a început în 2010, cu heroina, iar al treilea în 2013, cu opioidele sintetice, mai ales fentanilul produs ilegal. Între 1999 și 2023, aproximativ 806 000 de persoane au murit în Statele Unite prin supradoză de opioide. În 2023, din aproximativ 105 000 de decese prin supradoză, aproape 80 000 au implicat opioide: aproximativ trei din patru.</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Organizația Mondială a Sănătății (OMS) face aceeași legătură la nivel global. În fișa din 2025, notează că supradozele de opioide au crescut în mai multe țări, în parte din cauza disponibilității crescute a opioidelor folosite în durerea cronică, dar și din cauza opioidelor foarte puternice apărute pe piața ilegală. Printre factorii de risc enumeră opioidele eliberate pe rețetă fără supraveghere medicală, o doză prescrisă de peste 100 mg de morfină sau echivalent pe zi și folosirea opioidelor împreună cu alcoolul sau cu benzodiazepinele. Aici se întâlnesc cele două cazuri ale dimineții: un pacient poate primi, de la medici diferiți, și o benzodiazepină, și un opioid. Ghidul CDC din 2022 cere prudență deosebită la această combinație. În România, opiaceele au cauzat cele mai multe decese asociate direct consumului de droguri, uneori împreună cu benzodiazepine.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 titlu real de presă: AFP, preluat de Arab News la 10 august 2017, tradus pe ecran: „Medicii, în centrul crizei opioidelor din SUA”. L-ați crede? Votați pe Mentimeter. După vot, scrieți în chat ce cuvinte din titlu spun mai mult decât datele; citim trei răspunsuri.</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Titlul are o parte de adevăr și o parte care depășește sursele. Partea de adevăr: primul val a început odată cu creșterea prescrierii. Ce depășește sursele sunt cuvintele „în centrul”, care pun medicii în mijlocul întregii crize. Al doilea și al treilea val au venit cu heroina și cu fentanilul produs ilegal. Decesele cu opioide eliberate pe rețetă au scăzut cu aproape 12% între 2022 și 2023, dar în 2023 aproape 80 000 de decese prin supradoză tot au implicat opioide. Chiar articolul spune, mai jos, că, după experți, medicii nu sunt singurii vinovați. O frază mai apropiată de date: „Prescrierea largă a opioidelor a deschis prima etapă a crizei.” Este mai puțin spectaculoasă și mai ușor de apărat.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Două decizii recente privesc direct cabinetul. Ordonanța nr. 42/2024 a modernizat prescrierea, înregistrarea și raportarea medicamentelor stupefiante și psihotrope, cu mecanisme electronice obligatorii și o trasabilitate mai bună, ca să scadă riscul deturnării lor spre piața ilegală. Apoi, în martie 2025, tramadolul, un analgezic opioid, a fost trecut în tabelele substanțelor controlate. Raportul european din 2026 arată de ce contează și în afara Statelor Unite: în 2024, autoritățile din 10 țări au găsit peste 50 000 de comprimate cu nitazene, opioide sintetice foarte puternice, față de 23 000 în 2023. Aspectul aparent legitim al medicamentelor false le poate da consumatorilor un fals sentiment de siguranță. Un pacient care nu mai primește rețeta și își caută pastilele pe internet poate cumpăra altceva decât crede.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Închidem a doua parte cu fraza pentru un coleg. Scrieți-o în chat, cu cuvintele voastre. Criza americană a opioidelor a început cu rețete. Înainte de un opioid pentru o durere de luni de zile, încercați tratamentele fără opioide și stabiliți cu pacientul ce vreți să obțineți și cât durează. Nu combinați, fără un motiv bun, opioidul cu o benzodiazepină.</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 revedem în zece minute; rămâneți conectați la ședință. Urmează partea a treia, despre reducerea riscurilor: seringa curată, cu un caz din București, din 2010.</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Partea a treia începe cu un caz. Suntem la câțiva ani după aderarea României la Uniunea Europeană. La un spital de boli infecțioase din București, medicii observă că numărul tinerilor care își injectează droguri și primesc un diagnostic nou de infecție cu virusul imunodeficienței umane (HIV) crește de la o lună la alta. Mulți nu mai injectează heroină, ci o pulbere vândută legal, ca „sare de baie” sau „îngrășământ pentru plante”. Un medic rezident întreabă: cum s-a putut întâmpla asta atât de repede? Întrebarea lui este și a noastră. Cazul este o reconstituire; cifrele care urmează nu sunt.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Comisia internațională pentru sănătate publică și politica drogurilor, publicată în 2016 de revista The Lancet, descrie ce s-a întâmplat. În 2010–2012, România și Grecia au avut împreună o treime din incidența infecției HIV la persoanele care își injectează droguri în statele Uniunii de atunci, plus Norvegia, Islanda și Turcia, cu o creștere de 20 de ori a diagnosticelor noi legate de injectare. Comisia numește două cauze venite împreună. Serviciile de reducere a riscurilor au fost în mare parte reduse în 2010, când organizațiile neguvernamentale au pierdut finanțarea Fondului Global odată cu aderarea. Și au apărut stimulante ieftine, încă necontrolate, injectate de șase până la zece ori pe zi, față de două sau trei ori la heroină. Recunoașteți problema atribuirii din ședința trecută: comisia nu spune cât din creștere se datorează fiecărei cauze.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 doilea termen nou: reducerea riscurilor. În formularea raportului european din 2026, sunt politicile, programele și intervențiile care urmăresc să reducă efectele sanitare, sociale, juridice și economice ale consumului de droguri asupra persoanelor, comunităților și societăților. Raportul național român adaugă precizarea esențială: aceste servicii nu au ca obiectiv principal încetarea totală a consumului. În cuvinte obișnuite: dacă tot consumi, să nu mori și să nu te îmbolnăvești din asta. Exemplele cele mai cunoscute sunt schimbul de seringi, naloxona dată persoanelor care pot fi martore la o supradoză, camerele de consum supravegheat și analiza drogurilor cumpărate. Tratamentul de substituție este și el o formă de reducere a riscurilor, dar într-un cadru medical obișnuit.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 singur cuvânt, primul care vă vine în minte când auziți „schimb de seringi”. Scrieți-l pe Mentimeter, la codul de pe ecran sau din linkul din chat. Nu există cuvinte greșite. Norul rămâne pe ecran cât discutăm obiecțiile care urmează.</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Obiecția cea mai frecventă este una morală: statul îi ajută pe oameni să se drogheze. Merită luată în serios, pentru că o au și mulți medici. Răspunsul vine din propria voastră practică. Un medic tratează un fumător pentru bronșită chiar dacă acesta continuă să fumeze; un chirurg operează un motociclist accidentat fără să îi ceară să renunțe la motocicletă. Medicina nu condiționează îngrijirea de virtutea pacientului: îngrijirea vine înainte de abstinență, nu în locul ei. A doua obiecție, că serviciile acestea cresc consumul, este una de fapt și se poate verifica; pentru schimbul de seringi, notele nu citează un studiu care să măsoare acest efect. Prima se discută cu valori, a doua cu date, exact ca în ședința trecută.</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Raportul european din 2026 face o distincție pe care merită să o rețineți. Pentru programele de schimb de ace și seringi și pentru naloxona dată acasă, dovezile actuale arată eficacitate. Pentru camerele de consum, dovezile sunt încă în dezvoltare, iar evaluarea este dificilă, dar datele disponibile arată că ele pot contribui la reducerea deceselor legate de droguri. Observați verbele: „arată eficacitate” la primele două, „pot contribui” la camere. Sunt niveluri diferite de siguranță. OMS adaugă, în fișa din 2025, că programele care dau naloxonă persoanelor care pot fi martore la o supradoză, împreună cu instruirea, ar putea reduce substanțial decesele prin supradoză. Iar naloxona e ușor de apărat: la cine nu a luat opioide, nu are, practic, niciun efect.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 există în Europa? Potrivit raportului european din 2026, în 2024 programe de schimb de ace și seringi existau în toate statele Uniunii și în Norvegia, dar numai 7 din 25 de țări cu date atinseseră ținta OMS pentru 2025. Până în 2025, naloxona dată acasă exista în 19 țări europene, iar în Danemarca, Franța, Italia, Suedia și Norvegia se eliberează fără prescripție. În 2025 funcționau 100 de camere de consum de droguri în 13 state ale Uniunii și în Norvegia. La nivel mondial, OMS menționează Australia, Canada, Italia, Regatul Unit și Ucraina printre țările care au introdus naloxona fără prescripție. Rețineți lista; în România vom vedea ce lipsește.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În România, raportul național descrie un program de reducere a riscurilor disponibil exclusiv în București, oferit de asociația ARAS și de echipa mobilă a direcției de asistență socială a Sectorului cinci. În 2024, programul a avut 2 571 de beneficiari care își injectează droguri. S-au distribuit 514 760 de seringi, cu 33,9% mai puține decât în anul precedent; pe beneficiar, de la 446 la 301. Două servicii lipsesc. Naloxona este disponibilă doar în unitățile de primiri urgențe și în sistemul național de urgență și prim ajutor calificat: cine este martor la o supradoză nu o are în buzunar. Camerele de consum supravegheat nu există, iar raportul consemnează că nu au fost inițiate demersuri pentru înființarea lor.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Înainte de cifră, un vot: din o sută de persoane care își injectează droguri, testate în programele din București, câte aveau hepatita C? Votați pe Mentimeter, la codul de pe ecran sau din linkul din chat. Apoi scrieți în chat, într-o frază, de ce v-ați gândit la o cifră mai mică sau mai mare.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Să vedem ce ați votat. Varianta corectă este C, aproximativ o treime. La beneficiarii programelor de reducere a riscurilor testați în 2024, prevalența infecției cu virusul hepatitei C a fost de 32,19%: 132 de teste rapide pozitive din 410. Tot în 2024 au fost diagnosticate în România 810 cazuri noi de infecție HIV și de sindrom al imunodeficienței dobândite (SIDA), iar injectarea de droguri a fost calea probabilă de transmitere la 59 de persoane, adică la 7,28%. Mulți aleg o cifră mai mică, pentru că hepatita C nu se vede. Este un bun exemplu de risc care rămâne invizibil până când cineva îl măsoară.</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Moțiunea: „Clujul ar trebui să aibă o cameră de consum supravegheat de droguri.” Ne împărțim după luna nașterii: cei născuți între ianuarie și iunie susțin moțiunea, cei născuți între iulie și decembrie se opun, indiferent de opinia fiecăruia. Scrieți argumentele în chat, cu „PENTRU” sau „ÎMPOTRIVĂ” în față. Apoi doi voluntari din fiecare tabără, anunțați prin reacția „mână ridicată” din Teams, vorbesc câte un minut, cu microfonul deschis. Ca în ședința trecută, scopul nu este să câștige cineva, ci să vedeți unde se termină faptul și unde începe valoarea.</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doua rundă. Fiecare tabără primește pe ecran o dovadă care îi contrazice poziția și trebuie să o includă în argument. Tabăra „pentru” primește formularea raportului european: dovezile despre camerele de consum sunt încă în dezvoltare, iar evaluarea este dificilă. Tabăra „împotrivă” primește continuarea aceleiași fraze: datele disponibile arată că ele pot contribui la reducerea deceselor legate de droguri. Câte un voluntar din fiecare tabără mai vorbește un minut. Observați că ambele tabere au primit aceeași propoziție, tăiată în două: în dezbaterea publică, fiecare parte citează des jumătatea care îi convine. Întrebările care rămân deschise sunt de politică, nu de știință: cine plătește, unde se deschide, ce spun vecinii, ce spune legea. Pentru ele, datele informează, dar nu decid.</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Închidem partea a treia cu fraza pentru un coleg. Scrieți-o în chat, cu cuvintele voastre. Ideea ei: reducerea riscurilor nu înseamnă că aprobați consumul, ci că nu condiționați îngrijirea de abstinență. Pentru seringile sterile și pentru naloxonă, dovezile sunt solide. În România, programul există doar în București, iar naloxona doar în ambulanțe și în urgențe.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Partea a patra și al treilea termen nou: tratamentul de substituție. Este tratamentul de întreținere al dependenței de opioide cu un medicament opioid, de obicei metadonă sau buprenorfină; se numește și tratament cu agoniști opioizi. În cuvinte obișnuite: un medicament luat zilnic, controlat, în locul drogului luat de pe stradă. Este și el o formă de reducere a riscurilor, dar se face într-un cadru medical obișnuit. Legătura cu partea a doua: ghidul CDC din 2022 nu recomandă dezintoxicarea singură, fără aceste medicamente, la pacienții cu tulburare de consum de opioide, din cauza riscului crescut de reluare a consumului, de supradoză și de deces. Medicamentele se discută pe larg în ședința a șasea.</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Înainte de cifre, un vot: din zece persoane care au nevoie, în lume, de tratament pentru dependența de opioide, câte credeți că îl primesc? Votați pe Mentimeter, la codul de pe ecran sau din linkul din chat. Apoi scrieți în chat ce ar putea ține un om departe de tratament.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Să vedem ce ați votat. Varianta corectă este A: în fișa din 2025, OMS estimează că, la nivel global, mai puțin de 10% dintre persoanele care au nevoie de tratament pentru dependența de opioide îl primesc. În Uniunea Europeană, în 2024, aproximativ 505 000 de persoane au primit o formă de tratament cu agoniști opioizi. În România, în 2024, 1 686 de persoane au primit tratament de substituție cu metadonă; dintre ele, 311, adică 18,5%, au fost admise în acel an, iar restul erau în program din anii anteriori. Comparați aceste cifre cu motivele pe care le-ați scris în chat.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Metadona este însă și ea un opioid, cu riscurile unui opioid. În 2024, în România, metadona a fost prezentă în 10 cazuri de deces asociat direct consumului de droguri, iar metadona și heroina au explicat împreună 18 din cele 40 de decese directe. Într-unul dintre cele 10 decese cu metadonă, raportul notează și benzodiazepine sau alte sedative luate împreună cu ea: aceeași combinație ca în partea a doua. Raportul nu spune câte dintre aceste persoane erau în tratament și câte foloseau metadonă obținută altfel. De aceea, cifra nu se poate citi ca o evaluare a programului.</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Închidem partea a patra cu fraza pentru un coleg. Scrieți-o în chat, cu cuvintele voastre. Ideea ei: tratamentul de substituție ține omul în viață și în legătură cu medicul. În România îl primesc puțin peste o mie și jumătate de oameni. Iar metadona rămâne un opioid: combinată cu o benzodiazepină, crește riscul.</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Șase lucruri pe care le puteți face de mâine, ca studenți și ca viitori medici. Când scrieți pentru prima dată o benzodiazepină sau un medicament de somn, programați pacientul înapoi în cel mult o lună și spuneți-i de la început cât ar trebui să dureze tratamentul. Când un pacient o ia de ani de zile, nu i-o opriți brusc și nu îl certați: propuneți o reducere treptată, cu întâlniri programate. La o durere de luni de zile, întâi tratamentele fără opioide și ținte stabilite împreună. Opioid și benzodiazepină pe aceeași fișă: vă opriți și întrebați dacă e nevoie de amândouă. Obiecția „statul îi ajută să se drogheze” o despărțiți în două: valorile se discută, faptele se verifică. Iar ca martori la o supradoză, sunați imediat la numărul unic de urgență: în România, naloxona o au echipajele de urgență.</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Recapitulăm cu un Kahoot de zece întrebări despre rețeta doamnei Elena, durerea după operație, seringa curată și tratamentul de substituție. Accesați kahoot.it și introduceți codul jocului; îl găsiți pe ecran și în chat. Rezultatul nu se notează. După fiecare întrebare apar varianta corectă și sursa ei.</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Ultimele cinci minute sunt ale voastre: trei întrebări anonime pe Mentimeter. Ce a fost util? Unde v-am pierdut? Ce ați putea folosi mâine? Codul e pe ecran, iar linkul e și în chat. Răspunsurile se citesc, iar pe pagina disciplinei veți găsi apoi două lucruri schimbate după ele. Vă mulțumesc.</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OPT_DROGURI/active/img/alprazolam_blister_commons.jpg">    </p:cNvPr>
          <p:cNvPicPr>
            <a:picLocks noChangeAspect="1"/>
          </p:cNvPicPr>
          <p:nvPr/>
        </p:nvPicPr>
        <p:blipFill>
          <a:blip r:embed="rId1"/>
          <a:stretch>
            <a:fillRect/>
          </a:stretch>
        </p:blipFill>
        <p:spPr>
          <a:xfrm>
            <a:off x="7345375" y="0"/>
            <a:ext cx="4846320" cy="6858000"/>
          </a:xfrm>
          <a:prstGeom prst="rect">
            <a:avLst/>
          </a:prstGeom>
        </p:spPr>
      </p:pic>
      <p:sp>
        <p:nvSpPr>
          <p:cNvPr id="3" name="Shape 0"/>
          <p:cNvSpPr/>
          <p:nvPr/>
        </p:nvSpPr>
        <p:spPr>
          <a:xfrm>
            <a:off x="640080" y="777240"/>
            <a:ext cx="2377440" cy="329184"/>
          </a:xfrm>
          <a:prstGeom prst="roundRect">
            <a:avLst>
              <a:gd name="adj" fmla="val 50000"/>
            </a:avLst>
          </a:prstGeom>
          <a:solidFill>
            <a:srgbClr val="FF4757"/>
          </a:solidFill>
          <a:ln w="12700">
            <a:solidFill>
              <a:srgbClr val="FF4757"/>
            </a:solidFill>
            <a:prstDash val="solid"/>
          </a:ln>
        </p:spPr>
        <p:txBody>
          <a:bodyPr/>
          <a:p/>
        </p:txBody>
      </p:sp>
      <p:sp>
        <p:nvSpPr>
          <p:cNvPr id="4" name="Text 1"/>
          <p:cNvSpPr/>
          <p:nvPr/>
        </p:nvSpPr>
        <p:spPr>
          <a:xfrm>
            <a:off x="640080" y="777240"/>
            <a:ext cx="23774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ȘEDINȚA A PATRA</a:t>
            </a:r>
            <a:endParaRPr lang="en-US" sz="1300" dirty="0"/>
          </a:p>
        </p:txBody>
      </p:sp>
      <p:sp>
        <p:nvSpPr>
          <p:cNvPr id="5" name="Text 2"/>
          <p:cNvSpPr/>
          <p:nvPr/>
        </p:nvSpPr>
        <p:spPr>
          <a:xfrm>
            <a:off x="640080" y="1371600"/>
            <a:ext cx="6400800" cy="868680"/>
          </a:xfrm>
          <a:prstGeom prst="rect">
            <a:avLst/>
          </a:prstGeom>
          <a:noFill/>
          <a:ln/>
        </p:spPr>
        <p:txBody>
          <a:bodyPr wrap="square" lIns="0" tIns="0" rIns="0" bIns="0" rtlCol="0" anchor="t"/>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Reducerea riscurilor</a:t>
            </a:r>
            <a:endParaRPr lang="en-US" sz="3800" dirty="0"/>
          </a:p>
        </p:txBody>
      </p:sp>
      <p:sp>
        <p:nvSpPr>
          <p:cNvPr id="6" name="Text 3"/>
          <p:cNvSpPr/>
          <p:nvPr/>
        </p:nvSpPr>
        <p:spPr>
          <a:xfrm>
            <a:off x="640080" y="2240280"/>
            <a:ext cx="6400800" cy="1005840"/>
          </a:xfrm>
          <a:prstGeom prst="rect">
            <a:avLst/>
          </a:prstGeom>
          <a:noFill/>
          <a:ln/>
        </p:spPr>
        <p:txBody>
          <a:bodyPr wrap="square" lIns="0" tIns="0" rIns="0" bIns="0" rtlCol="0" anchor="t"/>
          <a:lstStyle/>
          <a:p>
            <a:pPr indent="0" marL="0">
              <a:buNone/>
            </a:pPr>
            <a:r>
              <a:rPr lang="en-US" sz="2800" b="1" dirty="0">
                <a:solidFill>
                  <a:srgbClr val="27D3BE"/>
                </a:solidFill>
                <a:latin typeface="Palatino Linotype" pitchFamily="34" charset="0"/>
                <a:ea typeface="Palatino Linotype" pitchFamily="34" charset="-122"/>
                <a:cs typeface="Palatino Linotype" pitchFamily="34" charset="-120"/>
              </a:rPr>
              <a:t>și dependența care începe în cabinet</a:t>
            </a:r>
            <a:endParaRPr lang="en-US" sz="2800" dirty="0"/>
          </a:p>
        </p:txBody>
      </p:sp>
      <p:sp>
        <p:nvSpPr>
          <p:cNvPr id="7" name="Shape 4"/>
          <p:cNvSpPr/>
          <p:nvPr/>
        </p:nvSpPr>
        <p:spPr>
          <a:xfrm>
            <a:off x="667512" y="3474720"/>
            <a:ext cx="1280160" cy="27432"/>
          </a:xfrm>
          <a:prstGeom prst="rect">
            <a:avLst/>
          </a:prstGeom>
          <a:solidFill>
            <a:srgbClr val="FF4757"/>
          </a:solidFill>
          <a:ln/>
        </p:spPr>
        <p:txBody>
          <a:bodyPr/>
          <a:p/>
        </p:txBody>
      </p:sp>
      <p:sp>
        <p:nvSpPr>
          <p:cNvPr id="8" name="Text 5"/>
          <p:cNvSpPr/>
          <p:nvPr/>
        </p:nvSpPr>
        <p:spPr>
          <a:xfrm>
            <a:off x="640080" y="3657600"/>
            <a:ext cx="6400800" cy="1005840"/>
          </a:xfrm>
          <a:prstGeom prst="rect">
            <a:avLst/>
          </a:prstGeom>
          <a:noFill/>
          <a:ln/>
        </p:spPr>
        <p:txBody>
          <a:bodyPr wrap="square" lIns="0" tIns="0" rIns="0" bIns="0" rtlCol="0" anchor="t"/>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Creierul tău pe droguri: neuroștiința adicției și politicile drogurilor</a:t>
            </a:r>
            <a:endParaRPr lang="en-US" sz="1300" dirty="0"/>
          </a:p>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Conf. univ. dr. Adrian Pană · UMF „Iuliu Hațieganu” Cluj-Napoca · 2026–2027</a:t>
            </a:r>
            <a:endParaRPr lang="en-US" sz="1300" dirty="0"/>
          </a:p>
        </p:txBody>
      </p:sp>
      <p:sp>
        <p:nvSpPr>
          <p:cNvPr id="9" name="Shape 6"/>
          <p:cNvSpPr/>
          <p:nvPr/>
        </p:nvSpPr>
        <p:spPr>
          <a:xfrm>
            <a:off x="640080" y="4983480"/>
            <a:ext cx="1417320" cy="1097280"/>
          </a:xfrm>
          <a:prstGeom prst="roundRect">
            <a:avLst>
              <a:gd name="adj" fmla="val 7500"/>
            </a:avLst>
          </a:prstGeom>
          <a:solidFill>
            <a:srgbClr val="FFFFFF"/>
          </a:solidFill>
          <a:ln w="12700">
            <a:solidFill>
              <a:srgbClr val="FFFFFF"/>
            </a:solidFill>
            <a:prstDash val="solid"/>
          </a:ln>
        </p:spPr>
        <p:txBody>
          <a:bodyPr/>
          <a:p/>
        </p:txBody>
      </p:sp>
      <p:sp>
        <p:nvSpPr>
          <p:cNvPr id="11" name="Text 8"/>
          <p:cNvSpPr/>
          <p:nvPr/>
        </p:nvSpPr>
        <p:spPr>
          <a:xfrm>
            <a:off x="2240280" y="5029200"/>
            <a:ext cx="4572000" cy="1005840"/>
          </a:xfrm>
          <a:prstGeom prst="rect">
            <a:avLst/>
          </a:prstGeom>
          <a:noFill/>
          <a:ln/>
        </p:spPr>
        <p:txBody>
          <a:bodyPr wrap="square" lIns="0" tIns="0" rIns="0" bIns="0" rtlCol="0" anchor="ctr"/>
          <a:lstStyle/>
          <a:p>
            <a:pPr indent="0" marL="0">
              <a:buNone/>
            </a:pPr>
            <a:r>
              <a:rPr lang="en-US" sz="1400" dirty="0">
                <a:solidFill>
                  <a:srgbClr val="959BB0"/>
                </a:solidFill>
                <a:latin typeface="Palatino Linotype" pitchFamily="34" charset="0"/>
                <a:ea typeface="Palatino Linotype" pitchFamily="34" charset="-122"/>
                <a:cs typeface="Palatino Linotype" pitchFamily="34" charset="-120"/>
              </a:rPr>
              <a:t>Deschideți Mentimeter de acum: votăm în primele minute.</a:t>
            </a:r>
            <a:endParaRPr lang="en-US" sz="1400" dirty="0"/>
          </a:p>
        </p:txBody>
      </p:sp>
      <p:sp>
        <p:nvSpPr>
          <p:cNvPr id="12" name="Shape 9"/>
          <p:cNvSpPr/>
          <p:nvPr/>
        </p:nvSpPr>
        <p:spPr>
          <a:xfrm>
            <a:off x="7345375" y="6355080"/>
            <a:ext cx="4846320" cy="502920"/>
          </a:xfrm>
          <a:prstGeom prst="rect">
            <a:avLst/>
          </a:prstGeom>
          <a:solidFill>
            <a:srgbClr val="11121A">
              <a:alpha val="70000"/>
            </a:srgbClr>
          </a:solidFill>
          <a:ln w="12700">
            <a:solidFill>
              <a:srgbClr val="11121A"/>
            </a:solidFill>
            <a:prstDash val="solid"/>
          </a:ln>
        </p:spPr>
        <p:txBody>
          <a:bodyPr/>
          <a:p/>
        </p:txBody>
      </p:sp>
      <p:sp>
        <p:nvSpPr>
          <p:cNvPr id="13" name="Text 10"/>
          <p:cNvSpPr/>
          <p:nvPr/>
        </p:nvSpPr>
        <p:spPr>
          <a:xfrm>
            <a:off x="7498080" y="6373368"/>
            <a:ext cx="4572000" cy="256032"/>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Alprazolam, comprimate în blister</a:t>
            </a:r>
            <a:endParaRPr lang="en-US" sz="1100" dirty="0"/>
          </a:p>
        </p:txBody>
      </p:sp>
      <p:sp>
        <p:nvSpPr>
          <p:cNvPr id="14" name="Text 11"/>
          <p:cNvSpPr/>
          <p:nvPr/>
        </p:nvSpPr>
        <p:spPr>
          <a:xfrm>
            <a:off x="7498080" y="6601968"/>
            <a:ext cx="4572000" cy="219456"/>
          </a:xfrm>
          <a:prstGeom prst="rect">
            <a:avLst/>
          </a:prstGeom>
          <a:noFill/>
          <a:ln/>
        </p:spPr>
        <p:txBody>
          <a:bodyPr wrap="square" lIns="0" tIns="0" rIns="0" bIns="0" rtlCol="0" anchor="ctr"/>
          <a:lstStyle/>
          <a:p>
            <a:pPr indent="0" marL="0">
              <a:buNone/>
            </a:pPr>
            <a:r>
              <a:rPr lang="en-US" sz="850" i="1" dirty="0">
                <a:solidFill>
                  <a:srgbClr val="C9CCD8"/>
                </a:solidFill>
                <a:latin typeface="Palatino Linotype" pitchFamily="34" charset="0"/>
                <a:ea typeface="Palatino Linotype" pitchFamily="34" charset="-122"/>
                <a:cs typeface="Palatino Linotype" pitchFamily="34" charset="-120"/>
              </a:rPr>
              <a:t>Foto: Tmeers91 · CC0 · Wikimedia Commons</a:t>
            </a:r>
            <a:endParaRPr lang="en-US" sz="850" dirty="0"/>
          </a:p>
        </p:txBody>
      </p:sp>
      <p:pic>
        <p:nvPicPr>
          <p:cNvPr id="15" name="Picture 14" descr="Mentimeter_OPT_DROGURI_C04.png"/>
          <p:cNvPicPr>
            <a:picLocks noChangeAspect="1"/>
          </p:cNvPicPr>
          <p:nvPr/>
        </p:nvPicPr>
        <p:blipFill>
          <a:blip r:embed="rId4"/>
          <a:stretch>
            <a:fillRect/>
          </a:stretch>
        </p:blipFill>
        <p:spPr>
          <a:xfrm>
            <a:off x="1017269" y="4983480"/>
            <a:ext cx="662941" cy="662941"/>
          </a:xfrm>
          <a:prstGeom prst="rect">
            <a:avLst/>
          </a:prstGeom>
        </p:spPr>
      </p:pic>
      <p:sp>
        <p:nvSpPr>
          <p:cNvPr id="16" name="TextBox 15"/>
          <p:cNvSpPr txBox="1"/>
          <p:nvPr/>
        </p:nvSpPr>
        <p:spPr>
          <a:xfrm>
            <a:off x="640080" y="5684521"/>
            <a:ext cx="1417320" cy="434339"/>
          </a:xfrm>
          <a:prstGeom prst="rect">
            <a:avLst/>
          </a:prstGeom>
          <a:noFill/>
        </p:spPr>
        <p:txBody>
          <a:bodyPr wrap="square" lIns="0" rIns="0" tIns="0" bIns="0" anchor="t">
            <a:spAutoFit/>
          </a:bodyPr>
          <a:lstStyle/>
          <a:p>
            <a:pPr algn="ctr"/>
            <a:r>
              <a:rPr sz="900" b="1">
                <a:solidFill>
                  <a:srgbClr val="B02532"/>
                </a:solidFill>
                <a:latin typeface="Palatino Linotype"/>
              </a:rPr>
              <a:t>menti.com</a:t>
            </a:r>
          </a:p>
          <a:p>
            <a:pPr algn="ctr"/>
            <a:r>
              <a:rPr sz="900" b="1">
                <a:solidFill>
                  <a:srgbClr val="B02532"/>
                </a:solidFill>
                <a:latin typeface="Palatino Linotype"/>
              </a:rPr>
              <a:t>anonim, fără cont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DUPĂ BILETELE DE IEȘIRE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Biletul de ieșire are nevoie de voi</a:t>
            </a:r>
            <a:endParaRPr lang="en-US" sz="3200" dirty="0"/>
          </a:p>
        </p:txBody>
      </p:sp>
      <p:sp>
        <p:nvSpPr>
          <p:cNvPr id="4" name="Shape 2"/>
          <p:cNvSpPr/>
          <p:nvPr/>
        </p:nvSpPr>
        <p:spPr>
          <a:xfrm>
            <a:off x="594360" y="1737360"/>
            <a:ext cx="10972800" cy="1417320"/>
          </a:xfrm>
          <a:prstGeom prst="roundRect">
            <a:avLst>
              <a:gd name="adj" fmla="val 5806"/>
            </a:avLst>
          </a:prstGeom>
          <a:solidFill>
            <a:srgbClr val="ECEAE4"/>
          </a:solidFill>
          <a:ln w="12700">
            <a:solidFill>
              <a:srgbClr val="ECEAE4"/>
            </a:solidFill>
            <a:prstDash val="solid"/>
          </a:ln>
        </p:spPr>
        <p:txBody>
          <a:bodyPr/>
          <a:p/>
        </p:txBody>
      </p:sp>
      <p:sp>
        <p:nvSpPr>
          <p:cNvPr id="5" name="Shape 3"/>
          <p:cNvSpPr/>
          <p:nvPr/>
        </p:nvSpPr>
        <p:spPr>
          <a:xfrm>
            <a:off x="914400" y="2240280"/>
            <a:ext cx="420624" cy="420624"/>
          </a:xfrm>
          <a:prstGeom prst="ellipse">
            <a:avLst/>
          </a:prstGeom>
          <a:solidFill>
            <a:srgbClr val="B02532"/>
          </a:solidFill>
          <a:ln/>
        </p:spPr>
        <p:txBody>
          <a:bodyPr/>
          <a:p/>
        </p:txBody>
      </p:sp>
      <p:sp>
        <p:nvSpPr>
          <p:cNvPr id="6" name="Text 4"/>
          <p:cNvSpPr/>
          <p:nvPr/>
        </p:nvSpPr>
        <p:spPr>
          <a:xfrm>
            <a:off x="914400" y="22402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1737360"/>
            <a:ext cx="9692640" cy="1417320"/>
          </a:xfrm>
          <a:prstGeom prst="rect">
            <a:avLst/>
          </a:prstGeom>
          <a:noFill/>
          <a:ln/>
        </p:spPr>
        <p:txBody>
          <a:bodyPr wrap="square" lIns="0" tIns="0" rIns="0" bIns="0" rtlCol="0" anchor="ctr"/>
          <a:lstStyle/>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La biletul de ieșire al ședinței a treia nu am primit răspunsuri, așa că nu avem încă două lucruri de schimbat pe baza lor.</a:t>
            </a:r>
            <a:endParaRPr lang="en-US" sz="2000" dirty="0"/>
          </a:p>
        </p:txBody>
      </p:sp>
      <p:sp>
        <p:nvSpPr>
          <p:cNvPr id="8" name="Shape 6"/>
          <p:cNvSpPr/>
          <p:nvPr/>
        </p:nvSpPr>
        <p:spPr>
          <a:xfrm>
            <a:off x="594360" y="3429000"/>
            <a:ext cx="10972800" cy="1417320"/>
          </a:xfrm>
          <a:prstGeom prst="roundRect">
            <a:avLst>
              <a:gd name="adj" fmla="val 5806"/>
            </a:avLst>
          </a:prstGeom>
          <a:solidFill>
            <a:srgbClr val="F9F8F5"/>
          </a:solidFill>
          <a:ln w="12700">
            <a:solidFill>
              <a:srgbClr val="F9F8F5"/>
            </a:solidFill>
            <a:prstDash val="solid"/>
          </a:ln>
        </p:spPr>
        <p:txBody>
          <a:bodyPr/>
          <a:p/>
        </p:txBody>
      </p:sp>
      <p:sp>
        <p:nvSpPr>
          <p:cNvPr id="9" name="Shape 7"/>
          <p:cNvSpPr/>
          <p:nvPr/>
        </p:nvSpPr>
        <p:spPr>
          <a:xfrm>
            <a:off x="914400" y="3931920"/>
            <a:ext cx="420624" cy="420624"/>
          </a:xfrm>
          <a:prstGeom prst="ellipse">
            <a:avLst/>
          </a:prstGeom>
          <a:solidFill>
            <a:srgbClr val="B02532"/>
          </a:solidFill>
          <a:ln/>
        </p:spPr>
        <p:txBody>
          <a:bodyPr/>
          <a:p/>
        </p:txBody>
      </p:sp>
      <p:sp>
        <p:nvSpPr>
          <p:cNvPr id="10" name="Text 8"/>
          <p:cNvSpPr/>
          <p:nvPr/>
        </p:nvSpPr>
        <p:spPr>
          <a:xfrm>
            <a:off x="914400" y="39319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600200" y="3429000"/>
            <a:ext cx="9692640" cy="1417320"/>
          </a:xfrm>
          <a:prstGeom prst="rect">
            <a:avLst/>
          </a:prstGeom>
          <a:noFill/>
          <a:ln/>
        </p:spPr>
        <p:txBody>
          <a:bodyPr wrap="square" lIns="0" tIns="0" rIns="0" bIns="0" rtlCol="0" anchor="ctr"/>
          <a:lstStyle/>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Azi, ultimele cinci minute sunt pentru cele trei întrebări. Ce scrieți schimbă ședința următoare.</a:t>
            </a:r>
            <a:endParaRPr lang="en-US" sz="2000" dirty="0"/>
          </a:p>
        </p:txBody>
      </p:sp>
      <p:sp>
        <p:nvSpPr>
          <p:cNvPr id="12" name="Text 10"/>
          <p:cNvSpPr/>
          <p:nvPr/>
        </p:nvSpPr>
        <p:spPr>
          <a:xfrm>
            <a:off x="594360" y="5349240"/>
            <a:ext cx="10972800" cy="457200"/>
          </a:xfrm>
          <a:prstGeom prst="rect">
            <a:avLst/>
          </a:prstGeom>
          <a:noFill/>
          <a:ln/>
        </p:spPr>
        <p:txBody>
          <a:bodyPr wrap="square" lIns="0" tIns="0" rIns="0" bIns="0" rtlCol="0" anchor="t"/>
          <a:lstStyle/>
          <a:p>
            <a:pPr indent="0" marL="0">
              <a:buNone/>
            </a:pPr>
            <a:r>
              <a:rPr lang="en-US" sz="1700" i="1" dirty="0">
                <a:solidFill>
                  <a:srgbClr val="3A3C44"/>
                </a:solidFill>
                <a:latin typeface="Palatino Linotype" pitchFamily="34" charset="0"/>
                <a:ea typeface="Palatino Linotype" pitchFamily="34" charset="-122"/>
                <a:cs typeface="Palatino Linotype" pitchFamily="34" charset="-120"/>
              </a:rPr>
              <a:t>Biletul este anonim și nu se notează.</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LA CABINETUL DE FAMILIE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Două rețete în aceeași dimineață</a:t>
            </a:r>
            <a:endParaRPr lang="en-US" sz="3200" dirty="0"/>
          </a:p>
        </p:txBody>
      </p:sp>
      <p:sp>
        <p:nvSpPr>
          <p:cNvPr id="4" name="Shape 2"/>
          <p:cNvSpPr/>
          <p:nvPr/>
        </p:nvSpPr>
        <p:spPr>
          <a:xfrm>
            <a:off x="594360" y="1508760"/>
            <a:ext cx="5349240" cy="2788920"/>
          </a:xfrm>
          <a:prstGeom prst="roundRect">
            <a:avLst>
              <a:gd name="adj" fmla="val 2951"/>
            </a:avLst>
          </a:prstGeom>
          <a:solidFill>
            <a:srgbClr val="1D1F2B"/>
          </a:solidFill>
          <a:ln w="12700">
            <a:solidFill>
              <a:srgbClr val="1D1F2B"/>
            </a:solidFill>
            <a:prstDash val="solid"/>
          </a:ln>
        </p:spPr>
        <p:txBody>
          <a:bodyPr/>
          <a:p/>
        </p:txBody>
      </p:sp>
      <p:sp>
        <p:nvSpPr>
          <p:cNvPr id="5" name="Shape 3"/>
          <p:cNvSpPr/>
          <p:nvPr/>
        </p:nvSpPr>
        <p:spPr>
          <a:xfrm>
            <a:off x="594360" y="1508760"/>
            <a:ext cx="5349240" cy="73152"/>
          </a:xfrm>
          <a:prstGeom prst="rect">
            <a:avLst/>
          </a:prstGeom>
          <a:solidFill>
            <a:srgbClr val="27D3BE"/>
          </a:solidFill>
          <a:ln w="12700">
            <a:solidFill>
              <a:srgbClr val="27D3BE"/>
            </a:solidFill>
            <a:prstDash val="solid"/>
          </a:ln>
        </p:spPr>
        <p:txBody>
          <a:bodyPr/>
          <a:p/>
        </p:txBody>
      </p:sp>
      <p:sp>
        <p:nvSpPr>
          <p:cNvPr id="6" name="Text 4"/>
          <p:cNvSpPr/>
          <p:nvPr/>
        </p:nvSpPr>
        <p:spPr>
          <a:xfrm>
            <a:off x="868680" y="1737360"/>
            <a:ext cx="4846320" cy="320040"/>
          </a:xfrm>
          <a:prstGeom prst="rect">
            <a:avLst/>
          </a:prstGeom>
          <a:noFill/>
          <a:ln/>
        </p:spPr>
        <p:txBody>
          <a:bodyPr wrap="square" lIns="0" tIns="0" rIns="0" bIns="0" rtlCol="0" anchor="t"/>
          <a:lstStyle/>
          <a:p>
            <a:pPr indent="0" marL="0">
              <a:buNone/>
            </a:pPr>
            <a:r>
              <a:rPr lang="en-US" sz="1250" b="1" spc="200" kern="0" dirty="0">
                <a:solidFill>
                  <a:srgbClr val="27D3BE"/>
                </a:solidFill>
                <a:latin typeface="Palatino Linotype" pitchFamily="34" charset="0"/>
                <a:ea typeface="Palatino Linotype" pitchFamily="34" charset="-122"/>
                <a:cs typeface="Palatino Linotype" pitchFamily="34" charset="-120"/>
              </a:rPr>
              <a:t>DOAMNA ELENA, ȘAIZECI ȘI ȘAPTE DE ANI</a:t>
            </a:r>
            <a:endParaRPr lang="en-US" sz="1250" dirty="0"/>
          </a:p>
        </p:txBody>
      </p:sp>
      <p:sp>
        <p:nvSpPr>
          <p:cNvPr id="7" name="Text 5"/>
          <p:cNvSpPr/>
          <p:nvPr/>
        </p:nvSpPr>
        <p:spPr>
          <a:xfrm>
            <a:off x="868680" y="2148840"/>
            <a:ext cx="4846320" cy="205740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Rețeta lunară de alprazolam, începută acum șase ani, după moartea soțului, „doar pentru câteva săptămâni”. Într-un weekend fără pastile a tremurat și a avut palpitații.</a:t>
            </a:r>
            <a:endParaRPr lang="en-US" sz="1600" dirty="0"/>
          </a:p>
        </p:txBody>
      </p:sp>
      <p:sp>
        <p:nvSpPr>
          <p:cNvPr id="8" name="Shape 6"/>
          <p:cNvSpPr/>
          <p:nvPr/>
        </p:nvSpPr>
        <p:spPr>
          <a:xfrm>
            <a:off x="6217920" y="1508760"/>
            <a:ext cx="5349240" cy="2788920"/>
          </a:xfrm>
          <a:prstGeom prst="roundRect">
            <a:avLst>
              <a:gd name="adj" fmla="val 2951"/>
            </a:avLst>
          </a:prstGeom>
          <a:solidFill>
            <a:srgbClr val="1D1F2B"/>
          </a:solidFill>
          <a:ln w="12700">
            <a:solidFill>
              <a:srgbClr val="1D1F2B"/>
            </a:solidFill>
            <a:prstDash val="solid"/>
          </a:ln>
        </p:spPr>
        <p:txBody>
          <a:bodyPr/>
          <a:p/>
        </p:txBody>
      </p:sp>
      <p:sp>
        <p:nvSpPr>
          <p:cNvPr id="9" name="Shape 7"/>
          <p:cNvSpPr/>
          <p:nvPr/>
        </p:nvSpPr>
        <p:spPr>
          <a:xfrm>
            <a:off x="6217920" y="1508760"/>
            <a:ext cx="5349240" cy="73152"/>
          </a:xfrm>
          <a:prstGeom prst="rect">
            <a:avLst/>
          </a:prstGeom>
          <a:solidFill>
            <a:srgbClr val="FF4757"/>
          </a:solidFill>
          <a:ln w="12700">
            <a:solidFill>
              <a:srgbClr val="FF4757"/>
            </a:solidFill>
            <a:prstDash val="solid"/>
          </a:ln>
        </p:spPr>
        <p:txBody>
          <a:bodyPr/>
          <a:p/>
        </p:txBody>
      </p:sp>
      <p:sp>
        <p:nvSpPr>
          <p:cNvPr id="10" name="Text 8"/>
          <p:cNvSpPr/>
          <p:nvPr/>
        </p:nvSpPr>
        <p:spPr>
          <a:xfrm>
            <a:off x="6492240" y="1737360"/>
            <a:ext cx="4846320" cy="320040"/>
          </a:xfrm>
          <a:prstGeom prst="rect">
            <a:avLst/>
          </a:prstGeom>
          <a:noFill/>
          <a:ln/>
        </p:spPr>
        <p:txBody>
          <a:bodyPr wrap="square" lIns="0" tIns="0" rIns="0" bIns="0" rtlCol="0" anchor="t"/>
          <a:lstStyle/>
          <a:p>
            <a:pPr indent="0" marL="0">
              <a:buNone/>
            </a:pPr>
            <a:r>
              <a:rPr lang="en-US" sz="1250" b="1" spc="200" kern="0" dirty="0">
                <a:solidFill>
                  <a:srgbClr val="FF4757"/>
                </a:solidFill>
                <a:latin typeface="Palatino Linotype" pitchFamily="34" charset="0"/>
                <a:ea typeface="Palatino Linotype" pitchFamily="34" charset="-122"/>
                <a:cs typeface="Palatino Linotype" pitchFamily="34" charset="-120"/>
              </a:rPr>
              <a:t>UN BĂRBAT DE TREIZECI ȘI PATRU DE ANI</a:t>
            </a:r>
            <a:endParaRPr lang="en-US" sz="1250" dirty="0"/>
          </a:p>
        </p:txBody>
      </p:sp>
      <p:sp>
        <p:nvSpPr>
          <p:cNvPr id="11" name="Text 9"/>
          <p:cNvSpPr/>
          <p:nvPr/>
        </p:nvSpPr>
        <p:spPr>
          <a:xfrm>
            <a:off x="6492240" y="2148840"/>
            <a:ext cx="4846320" cy="205740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Operat de hernie de disc acum trei luni; a primit atunci un opioid. Cere acum „încă o cutie, că altfel nu pot lucra”.</a:t>
            </a:r>
            <a:endParaRPr lang="en-US" sz="1600" dirty="0"/>
          </a:p>
        </p:txBody>
      </p:sp>
      <p:sp>
        <p:nvSpPr>
          <p:cNvPr id="12" name="Text 10"/>
          <p:cNvSpPr/>
          <p:nvPr/>
        </p:nvSpPr>
        <p:spPr>
          <a:xfrm>
            <a:off x="594360" y="4526280"/>
            <a:ext cx="10972800" cy="45720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Niciunul nu a cumpărat ceva de pe stradă. Amândoi au început cu o rețetă.</a:t>
            </a:r>
            <a:endParaRPr lang="en-US" sz="1900" dirty="0"/>
          </a:p>
        </p:txBody>
      </p:sp>
      <p:sp>
        <p:nvSpPr>
          <p:cNvPr id="13" name="Text 11"/>
          <p:cNvSpPr/>
          <p:nvPr/>
        </p:nvSpPr>
        <p:spPr>
          <a:xfrm>
            <a:off x="594360" y="5074920"/>
            <a:ext cx="10972800" cy="86868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Răspunsul provizoriu: medicul are două datorii. Să nu creeze dependențe noi și să-i țină în viață pe cei deja dependenți.</a:t>
            </a:r>
            <a:endParaRPr lang="en-US" sz="1600" dirty="0"/>
          </a:p>
        </p:txBody>
      </p:sp>
      <p:sp>
        <p:nvSpPr>
          <p:cNvPr id="14" name="Text 12"/>
          <p:cNvSpPr/>
          <p:nvPr/>
        </p:nvSpPr>
        <p:spPr>
          <a:xfrm>
            <a:off x="594360" y="6309360"/>
            <a:ext cx="5486400" cy="256032"/>
          </a:xfrm>
          <a:prstGeom prst="rect">
            <a:avLst/>
          </a:prstGeom>
          <a:noFill/>
          <a:ln/>
        </p:spPr>
        <p:txBody>
          <a:bodyPr wrap="square" lIns="0" tIns="0" rIns="0" bIns="0" rtlCol="0" anchor="t"/>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Cazuri construite pentru ședință.</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ÎNAINTE DE ORICE EXPLICAȚIE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700" b="1" dirty="0">
                <a:solidFill>
                  <a:srgbClr val="FFFFFF"/>
                </a:solidFill>
                <a:latin typeface="Palatino Linotype" pitchFamily="34" charset="0"/>
                <a:ea typeface="Palatino Linotype" pitchFamily="34" charset="-122"/>
                <a:cs typeface="Palatino Linotype" pitchFamily="34" charset="-120"/>
              </a:rPr>
              <a:t>„Doamna Elena vrea să renunțe la alprazolam de mâine.” Ce îi răspundeți?</a:t>
            </a:r>
            <a:endParaRPr lang="en-US" sz="2700" dirty="0"/>
          </a:p>
        </p:txBody>
      </p:sp>
      <p:sp>
        <p:nvSpPr>
          <p:cNvPr id="6" name="Shape 4"/>
          <p:cNvSpPr/>
          <p:nvPr/>
        </p:nvSpPr>
        <p:spPr>
          <a:xfrm>
            <a:off x="594360" y="1828800"/>
            <a:ext cx="10972800" cy="713232"/>
          </a:xfrm>
          <a:prstGeom prst="roundRect">
            <a:avLst>
              <a:gd name="adj" fmla="val 11538"/>
            </a:avLst>
          </a:prstGeom>
          <a:solidFill>
            <a:srgbClr val="1D1F2B"/>
          </a:solidFill>
          <a:ln w="12700">
            <a:solidFill>
              <a:srgbClr val="1D1F2B"/>
            </a:solidFill>
            <a:prstDash val="solid"/>
          </a:ln>
        </p:spPr>
        <p:txBody>
          <a:bodyPr/>
          <a:p/>
        </p:txBody>
      </p:sp>
      <p:sp>
        <p:nvSpPr>
          <p:cNvPr id="7" name="Shape 5"/>
          <p:cNvSpPr/>
          <p:nvPr/>
        </p:nvSpPr>
        <p:spPr>
          <a:xfrm>
            <a:off x="914400" y="1975104"/>
            <a:ext cx="420624" cy="420624"/>
          </a:xfrm>
          <a:prstGeom prst="ellipse">
            <a:avLst/>
          </a:prstGeom>
          <a:solidFill>
            <a:srgbClr val="FFC24B"/>
          </a:solidFill>
          <a:ln/>
        </p:spPr>
        <p:txBody>
          <a:bodyPr/>
          <a:p/>
        </p:txBody>
      </p:sp>
      <p:sp>
        <p:nvSpPr>
          <p:cNvPr id="8" name="Text 6"/>
          <p:cNvSpPr/>
          <p:nvPr/>
        </p:nvSpPr>
        <p:spPr>
          <a:xfrm>
            <a:off x="914400" y="19751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1828800"/>
            <a:ext cx="9692640" cy="713232"/>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„Foarte bine, opriți-l de mâine.”</a:t>
            </a:r>
            <a:endParaRPr lang="en-US" sz="1800" dirty="0"/>
          </a:p>
        </p:txBody>
      </p:sp>
      <p:sp>
        <p:nvSpPr>
          <p:cNvPr id="10" name="Shape 8"/>
          <p:cNvSpPr/>
          <p:nvPr/>
        </p:nvSpPr>
        <p:spPr>
          <a:xfrm>
            <a:off x="594360" y="2670048"/>
            <a:ext cx="10972800" cy="713232"/>
          </a:xfrm>
          <a:prstGeom prst="roundRect">
            <a:avLst>
              <a:gd name="adj" fmla="val 11538"/>
            </a:avLst>
          </a:prstGeom>
          <a:solidFill>
            <a:srgbClr val="1D1F2B"/>
          </a:solidFill>
          <a:ln w="12700">
            <a:solidFill>
              <a:srgbClr val="1D1F2B"/>
            </a:solidFill>
            <a:prstDash val="solid"/>
          </a:ln>
        </p:spPr>
        <p:txBody>
          <a:bodyPr/>
          <a:p/>
        </p:txBody>
      </p:sp>
      <p:sp>
        <p:nvSpPr>
          <p:cNvPr id="11" name="Shape 9"/>
          <p:cNvSpPr/>
          <p:nvPr/>
        </p:nvSpPr>
        <p:spPr>
          <a:xfrm>
            <a:off x="914400" y="2816352"/>
            <a:ext cx="420624" cy="420624"/>
          </a:xfrm>
          <a:prstGeom prst="ellipse">
            <a:avLst/>
          </a:prstGeom>
          <a:solidFill>
            <a:srgbClr val="FFC24B"/>
          </a:solidFill>
          <a:ln/>
        </p:spPr>
        <p:txBody>
          <a:bodyPr/>
          <a:p/>
        </p:txBody>
      </p:sp>
      <p:sp>
        <p:nvSpPr>
          <p:cNvPr id="12" name="Text 10"/>
          <p:cNvSpPr/>
          <p:nvPr/>
        </p:nvSpPr>
        <p:spPr>
          <a:xfrm>
            <a:off x="914400" y="28163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2670048"/>
            <a:ext cx="9692640" cy="713232"/>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„Să nu-l opriți brusc; facem un plan să scădem doza treptat.”</a:t>
            </a:r>
            <a:endParaRPr lang="en-US" sz="1800" dirty="0"/>
          </a:p>
        </p:txBody>
      </p:sp>
      <p:sp>
        <p:nvSpPr>
          <p:cNvPr id="14" name="Shape 12"/>
          <p:cNvSpPr/>
          <p:nvPr/>
        </p:nvSpPr>
        <p:spPr>
          <a:xfrm>
            <a:off x="594360" y="3511296"/>
            <a:ext cx="10972800" cy="713232"/>
          </a:xfrm>
          <a:prstGeom prst="roundRect">
            <a:avLst>
              <a:gd name="adj" fmla="val 11538"/>
            </a:avLst>
          </a:prstGeom>
          <a:solidFill>
            <a:srgbClr val="1D1F2B"/>
          </a:solidFill>
          <a:ln w="12700">
            <a:solidFill>
              <a:srgbClr val="1D1F2B"/>
            </a:solidFill>
            <a:prstDash val="solid"/>
          </a:ln>
        </p:spPr>
        <p:txBody>
          <a:bodyPr/>
          <a:p/>
        </p:txBody>
      </p:sp>
      <p:sp>
        <p:nvSpPr>
          <p:cNvPr id="15" name="Shape 13"/>
          <p:cNvSpPr/>
          <p:nvPr/>
        </p:nvSpPr>
        <p:spPr>
          <a:xfrm>
            <a:off x="914400" y="3657600"/>
            <a:ext cx="420624" cy="420624"/>
          </a:xfrm>
          <a:prstGeom prst="ellipse">
            <a:avLst/>
          </a:prstGeom>
          <a:solidFill>
            <a:srgbClr val="FFC24B"/>
          </a:solidFill>
          <a:ln/>
        </p:spPr>
        <p:txBody>
          <a:bodyPr/>
          <a:p/>
        </p:txBody>
      </p:sp>
      <p:sp>
        <p:nvSpPr>
          <p:cNvPr id="16" name="Text 14"/>
          <p:cNvSpPr/>
          <p:nvPr/>
        </p:nvSpPr>
        <p:spPr>
          <a:xfrm>
            <a:off x="914400" y="36576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3511296"/>
            <a:ext cx="9692640" cy="713232"/>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„La vârsta dumneavoastră nu mai merită să renunțați.”</a:t>
            </a:r>
            <a:endParaRPr lang="en-US" sz="1800" dirty="0"/>
          </a:p>
        </p:txBody>
      </p:sp>
      <p:sp>
        <p:nvSpPr>
          <p:cNvPr id="18" name="Shape 16"/>
          <p:cNvSpPr/>
          <p:nvPr/>
        </p:nvSpPr>
        <p:spPr>
          <a:xfrm>
            <a:off x="594360" y="4352544"/>
            <a:ext cx="10972800" cy="713232"/>
          </a:xfrm>
          <a:prstGeom prst="roundRect">
            <a:avLst>
              <a:gd name="adj" fmla="val 11538"/>
            </a:avLst>
          </a:prstGeom>
          <a:solidFill>
            <a:srgbClr val="1D1F2B"/>
          </a:solidFill>
          <a:ln w="12700">
            <a:solidFill>
              <a:srgbClr val="1D1F2B"/>
            </a:solidFill>
            <a:prstDash val="solid"/>
          </a:ln>
        </p:spPr>
        <p:txBody>
          <a:bodyPr/>
          <a:p/>
        </p:txBody>
      </p:sp>
      <p:sp>
        <p:nvSpPr>
          <p:cNvPr id="19" name="Shape 17"/>
          <p:cNvSpPr/>
          <p:nvPr/>
        </p:nvSpPr>
        <p:spPr>
          <a:xfrm>
            <a:off x="914400" y="4498848"/>
            <a:ext cx="420624" cy="420624"/>
          </a:xfrm>
          <a:prstGeom prst="ellipse">
            <a:avLst/>
          </a:prstGeom>
          <a:solidFill>
            <a:srgbClr val="FFC24B"/>
          </a:solidFill>
          <a:ln/>
        </p:spPr>
        <p:txBody>
          <a:bodyPr/>
          <a:p/>
        </p:txBody>
      </p:sp>
      <p:sp>
        <p:nvSpPr>
          <p:cNvPr id="20" name="Text 18"/>
          <p:cNvSpPr/>
          <p:nvPr/>
        </p:nvSpPr>
        <p:spPr>
          <a:xfrm>
            <a:off x="914400" y="44988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600200" y="4352544"/>
            <a:ext cx="9692640" cy="713232"/>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„Nu știu.”</a:t>
            </a:r>
            <a:endParaRPr lang="en-US" sz="1800" dirty="0"/>
          </a:p>
        </p:txBody>
      </p:sp>
      <p:sp>
        <p:nvSpPr>
          <p:cNvPr id="22" name="Text 20"/>
          <p:cNvSpPr/>
          <p:nvPr/>
        </p:nvSpPr>
        <p:spPr>
          <a:xfrm>
            <a:off x="594360" y="5349240"/>
            <a:ext cx="8595360" cy="41148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Răspundeți pe telefon, la codul afișat.</a:t>
            </a:r>
            <a:endParaRPr lang="en-US" sz="1600" dirty="0"/>
          </a:p>
        </p:txBody>
      </p:sp>
      <p:sp>
        <p:nvSpPr>
          <p:cNvPr id="23" name="Shape 21"/>
          <p:cNvSpPr/>
          <p:nvPr/>
        </p:nvSpPr>
        <p:spPr>
          <a:xfrm>
            <a:off x="9738360" y="5212080"/>
            <a:ext cx="1828800" cy="1371600"/>
          </a:xfrm>
          <a:prstGeom prst="roundRect">
            <a:avLst>
              <a:gd name="adj" fmla="val 6000"/>
            </a:avLst>
          </a:prstGeom>
          <a:solidFill>
            <a:srgbClr val="FFFFFF"/>
          </a:solidFill>
          <a:ln w="12700">
            <a:solidFill>
              <a:srgbClr val="FFFFFF"/>
            </a:solidFill>
            <a:prstDash val="solid"/>
          </a:ln>
        </p:spPr>
        <p:txBody>
          <a:bodyPr/>
          <a:p/>
        </p:txBody>
      </p:sp>
      <p:pic>
        <p:nvPicPr>
          <p:cNvPr id="24" name="Picture 23" descr="Mentimeter_OPT_DROGURI_C04.png"/>
          <p:cNvPicPr>
            <a:picLocks noChangeAspect="1"/>
          </p:cNvPicPr>
          <p:nvPr/>
        </p:nvPicPr>
        <p:blipFill>
          <a:blip r:embed="rId3"/>
          <a:stretch>
            <a:fillRect/>
          </a:stretch>
        </p:blipFill>
        <p:spPr>
          <a:xfrm>
            <a:off x="10184129" y="5212080"/>
            <a:ext cx="937261" cy="937261"/>
          </a:xfrm>
          <a:prstGeom prst="rect">
            <a:avLst/>
          </a:prstGeom>
        </p:spPr>
      </p:pic>
      <p:sp>
        <p:nvSpPr>
          <p:cNvPr id="25" name="TextBox 24"/>
          <p:cNvSpPr txBox="1"/>
          <p:nvPr/>
        </p:nvSpPr>
        <p:spPr>
          <a:xfrm>
            <a:off x="9738360" y="6187441"/>
            <a:ext cx="1828800" cy="434339"/>
          </a:xfrm>
          <a:prstGeom prst="rect">
            <a:avLst/>
          </a:prstGeom>
          <a:noFill/>
        </p:spPr>
        <p:txBody>
          <a:bodyPr wrap="square" lIns="0" rIns="0" tIns="0" bIns="0" anchor="t">
            <a:spAutoFit/>
          </a:bodyPr>
          <a:lstStyle/>
          <a:p>
            <a:pPr algn="ctr"/>
            <a:r>
              <a:rPr sz="900" b="1">
                <a:solidFill>
                  <a:srgbClr val="B02532"/>
                </a:solidFill>
                <a:latin typeface="Palatino Linotype"/>
              </a:rPr>
              <a:t>menti.com</a:t>
            </a:r>
          </a:p>
          <a:p>
            <a:pPr algn="ctr"/>
            <a:r>
              <a:rPr sz="900" b="1">
                <a:solidFill>
                  <a:srgbClr val="B02532"/>
                </a:solidFill>
                <a:latin typeface="Palatino Linotype"/>
              </a:rPr>
              <a:t>anonim, fără cont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PARTEA ÎNTÂI · PRIMUL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Dependența fizică</a:t>
            </a:r>
            <a:endParaRPr lang="en-US" sz="3400" dirty="0"/>
          </a:p>
        </p:txBody>
      </p:sp>
      <p:sp>
        <p:nvSpPr>
          <p:cNvPr id="4" name="Text 2"/>
          <p:cNvSpPr/>
          <p:nvPr/>
        </p:nvSpPr>
        <p:spPr>
          <a:xfrm>
            <a:off x="594360" y="1417320"/>
            <a:ext cx="5577840" cy="118872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Organismul s-a adaptat la un medicament luat regulat: oprirea bruscă sau scăderea prea rapidă a dozei produce sevraj.</a:t>
            </a:r>
            <a:endParaRPr lang="en-US" sz="1800" dirty="0"/>
          </a:p>
        </p:txBody>
      </p:sp>
      <p:sp>
        <p:nvSpPr>
          <p:cNvPr id="5" name="Text 3"/>
          <p:cNvSpPr/>
          <p:nvPr/>
        </p:nvSpPr>
        <p:spPr>
          <a:xfrm>
            <a:off x="594360" y="2697480"/>
            <a:ext cx="5577840" cy="914400"/>
          </a:xfrm>
          <a:prstGeom prst="rect">
            <a:avLst/>
          </a:prstGeom>
          <a:noFill/>
          <a:ln/>
        </p:spPr>
        <p:txBody>
          <a:bodyPr wrap="square" lIns="0" tIns="0" rIns="0" bIns="0" rtlCol="0" anchor="t"/>
          <a:lstStyle/>
          <a:p>
            <a:pPr indent="0" marL="0">
              <a:buNone/>
            </a:pPr>
            <a:r>
              <a:rPr lang="en-US" sz="1800" b="1" i="1" dirty="0">
                <a:solidFill>
                  <a:srgbClr val="FFC24B"/>
                </a:solidFill>
                <a:latin typeface="Palatino Linotype" pitchFamily="34" charset="0"/>
                <a:ea typeface="Palatino Linotype" pitchFamily="34" charset="-122"/>
                <a:cs typeface="Palatino Linotype" pitchFamily="34" charset="-120"/>
              </a:rPr>
              <a:t>„Corpul s-a obișnuit cu pastila și protestează când nu o mai primește.”</a:t>
            </a:r>
            <a:endParaRPr lang="en-US" sz="1800" dirty="0"/>
          </a:p>
        </p:txBody>
      </p:sp>
      <p:sp>
        <p:nvSpPr>
          <p:cNvPr id="6" name="Text 4"/>
          <p:cNvSpPr/>
          <p:nvPr/>
        </p:nvSpPr>
        <p:spPr>
          <a:xfrm>
            <a:off x="594360" y="3749040"/>
            <a:ext cx="5577840" cy="1188720"/>
          </a:xfrm>
          <a:prstGeom prst="rect">
            <a:avLst/>
          </a:prstGeom>
          <a:noFill/>
          <a:ln/>
        </p:spPr>
        <p:txBody>
          <a:bodyPr wrap="square" lIns="0" tIns="0" rIns="0" bIns="0" rtlCol="0" anchor="t"/>
          <a:lstStyle/>
          <a:p>
            <a:pPr indent="0" marL="0">
              <a:buNone/>
            </a:pPr>
            <a:r>
              <a:rPr lang="en-US" sz="1550" dirty="0">
                <a:solidFill>
                  <a:srgbClr val="959BB0"/>
                </a:solidFill>
                <a:latin typeface="Palatino Linotype" pitchFamily="34" charset="0"/>
                <a:ea typeface="Palatino Linotype" pitchFamily="34" charset="-122"/>
                <a:cs typeface="Palatino Linotype" pitchFamily="34" charset="-120"/>
              </a:rPr>
              <a:t>Poate apărea și la cine ia medicamentul exact cum i s-a spus. Ghidul comun din 2025: un rezultat așteptat, distinct de tulburarea de uz.</a:t>
            </a:r>
            <a:endParaRPr lang="en-US" sz="1550" dirty="0"/>
          </a:p>
        </p:txBody>
      </p:sp>
      <p:sp>
        <p:nvSpPr>
          <p:cNvPr id="7" name="Shape 5"/>
          <p:cNvSpPr/>
          <p:nvPr/>
        </p:nvSpPr>
        <p:spPr>
          <a:xfrm>
            <a:off x="6492240" y="1417320"/>
            <a:ext cx="5074920" cy="2057400"/>
          </a:xfrm>
          <a:prstGeom prst="roundRect">
            <a:avLst>
              <a:gd name="adj" fmla="val 4000"/>
            </a:avLst>
          </a:prstGeom>
          <a:solidFill>
            <a:srgbClr val="1D1F2B"/>
          </a:solidFill>
          <a:ln w="12700">
            <a:solidFill>
              <a:srgbClr val="1D1F2B"/>
            </a:solidFill>
            <a:prstDash val="solid"/>
          </a:ln>
        </p:spPr>
        <p:txBody>
          <a:bodyPr/>
          <a:p/>
        </p:txBody>
      </p:sp>
      <p:sp>
        <p:nvSpPr>
          <p:cNvPr id="8" name="Shape 6"/>
          <p:cNvSpPr/>
          <p:nvPr/>
        </p:nvSpPr>
        <p:spPr>
          <a:xfrm>
            <a:off x="6492240" y="1417320"/>
            <a:ext cx="73152" cy="2057400"/>
          </a:xfrm>
          <a:prstGeom prst="rect">
            <a:avLst/>
          </a:prstGeom>
          <a:solidFill>
            <a:srgbClr val="FF4757"/>
          </a:solidFill>
          <a:ln w="12700">
            <a:solidFill>
              <a:srgbClr val="FF4757"/>
            </a:solidFill>
            <a:prstDash val="solid"/>
          </a:ln>
        </p:spPr>
        <p:txBody>
          <a:bodyPr/>
          <a:p/>
        </p:txBody>
      </p:sp>
      <p:sp>
        <p:nvSpPr>
          <p:cNvPr id="9" name="Text 7"/>
          <p:cNvSpPr/>
          <p:nvPr/>
        </p:nvSpPr>
        <p:spPr>
          <a:xfrm>
            <a:off x="6812280" y="1581912"/>
            <a:ext cx="4526280" cy="292608"/>
          </a:xfrm>
          <a:prstGeom prst="rect">
            <a:avLst/>
          </a:prstGeom>
          <a:noFill/>
          <a:ln/>
        </p:spPr>
        <p:txBody>
          <a:bodyPr wrap="square" lIns="0" tIns="0" rIns="0" bIns="0" rtlCol="0" anchor="t"/>
          <a:lstStyle/>
          <a:p>
            <a:pPr indent="0" marL="0">
              <a:buNone/>
            </a:pPr>
            <a:r>
              <a:rPr lang="en-US" sz="1200" b="1" spc="200" kern="0" dirty="0">
                <a:solidFill>
                  <a:srgbClr val="FF4757"/>
                </a:solidFill>
                <a:latin typeface="Palatino Linotype" pitchFamily="34" charset="0"/>
                <a:ea typeface="Palatino Linotype" pitchFamily="34" charset="-122"/>
                <a:cs typeface="Palatino Linotype" pitchFamily="34" charset="-120"/>
              </a:rPr>
              <a:t>DACĂ SPUNEȚI</a:t>
            </a:r>
            <a:endParaRPr lang="en-US" sz="1200" dirty="0"/>
          </a:p>
        </p:txBody>
      </p:sp>
      <p:sp>
        <p:nvSpPr>
          <p:cNvPr id="10" name="Text 8"/>
          <p:cNvSpPr/>
          <p:nvPr/>
        </p:nvSpPr>
        <p:spPr>
          <a:xfrm>
            <a:off x="6812280" y="1920240"/>
            <a:ext cx="4526280" cy="1028700"/>
          </a:xfrm>
          <a:prstGeom prst="rect">
            <a:avLst/>
          </a:prstGeom>
          <a:noFill/>
          <a:ln/>
        </p:spPr>
        <p:txBody>
          <a:bodyPr wrap="square" lIns="0" tIns="0" rIns="0" bIns="0" rtlCol="0" anchor="t"/>
          <a:lstStyle/>
          <a:p>
            <a:pPr indent="0" marL="0">
              <a:buNone/>
            </a:pPr>
            <a:r>
              <a:rPr lang="en-US" sz="1900" b="1" i="1" dirty="0">
                <a:solidFill>
                  <a:srgbClr val="FFFFFF"/>
                </a:solidFill>
                <a:latin typeface="Palatino Linotype" pitchFamily="34" charset="0"/>
                <a:ea typeface="Palatino Linotype" pitchFamily="34" charset="-122"/>
                <a:cs typeface="Palatino Linotype" pitchFamily="34" charset="-120"/>
              </a:rPr>
              <a:t>„Sunteți dependentă.”</a:t>
            </a:r>
            <a:endParaRPr lang="en-US" sz="1900" dirty="0"/>
          </a:p>
        </p:txBody>
      </p:sp>
      <p:sp>
        <p:nvSpPr>
          <p:cNvPr id="11" name="Text 9"/>
          <p:cNvSpPr/>
          <p:nvPr/>
        </p:nvSpPr>
        <p:spPr>
          <a:xfrm>
            <a:off x="6812280" y="2903220"/>
            <a:ext cx="4526280" cy="480060"/>
          </a:xfrm>
          <a:prstGeom prst="rect">
            <a:avLst/>
          </a:prstGeom>
          <a:noFill/>
          <a:ln/>
        </p:spPr>
        <p:txBody>
          <a:bodyPr wrap="square" lIns="0" tIns="0" rIns="0" bIns="0" rtlCol="0" anchor="t"/>
          <a:lstStyle/>
          <a:p>
            <a:pPr indent="0" marL="0">
              <a:buNone/>
            </a:pPr>
            <a:r>
              <a:rPr lang="en-US" sz="1550" dirty="0">
                <a:solidFill>
                  <a:srgbClr val="959BB0"/>
                </a:solidFill>
                <a:latin typeface="Palatino Linotype" pitchFamily="34" charset="0"/>
                <a:ea typeface="Palatino Linotype" pitchFamily="34" charset="-122"/>
                <a:cs typeface="Palatino Linotype" pitchFamily="34" charset="-120"/>
              </a:rPr>
              <a:t>ea aude „sunteți o drogată”.</a:t>
            </a:r>
            <a:endParaRPr lang="en-US" sz="1550" dirty="0"/>
          </a:p>
        </p:txBody>
      </p:sp>
      <p:sp>
        <p:nvSpPr>
          <p:cNvPr id="12" name="Shape 10"/>
          <p:cNvSpPr/>
          <p:nvPr/>
        </p:nvSpPr>
        <p:spPr>
          <a:xfrm>
            <a:off x="6492240" y="3657600"/>
            <a:ext cx="5074920" cy="2057400"/>
          </a:xfrm>
          <a:prstGeom prst="roundRect">
            <a:avLst>
              <a:gd name="adj" fmla="val 4000"/>
            </a:avLst>
          </a:prstGeom>
          <a:solidFill>
            <a:srgbClr val="1D1F2B"/>
          </a:solidFill>
          <a:ln w="12700">
            <a:solidFill>
              <a:srgbClr val="1D1F2B"/>
            </a:solidFill>
            <a:prstDash val="solid"/>
          </a:ln>
        </p:spPr>
        <p:txBody>
          <a:bodyPr/>
          <a:p/>
        </p:txBody>
      </p:sp>
      <p:sp>
        <p:nvSpPr>
          <p:cNvPr id="13" name="Shape 11"/>
          <p:cNvSpPr/>
          <p:nvPr/>
        </p:nvSpPr>
        <p:spPr>
          <a:xfrm>
            <a:off x="6492240" y="3657600"/>
            <a:ext cx="73152" cy="2057400"/>
          </a:xfrm>
          <a:prstGeom prst="rect">
            <a:avLst/>
          </a:prstGeom>
          <a:solidFill>
            <a:srgbClr val="27D3BE"/>
          </a:solidFill>
          <a:ln w="12700">
            <a:solidFill>
              <a:srgbClr val="27D3BE"/>
            </a:solidFill>
            <a:prstDash val="solid"/>
          </a:ln>
        </p:spPr>
        <p:txBody>
          <a:bodyPr/>
          <a:p/>
        </p:txBody>
      </p:sp>
      <p:sp>
        <p:nvSpPr>
          <p:cNvPr id="14" name="Text 12"/>
          <p:cNvSpPr/>
          <p:nvPr/>
        </p:nvSpPr>
        <p:spPr>
          <a:xfrm>
            <a:off x="6812280" y="3822192"/>
            <a:ext cx="4526280" cy="292608"/>
          </a:xfrm>
          <a:prstGeom prst="rect">
            <a:avLst/>
          </a:prstGeom>
          <a:noFill/>
          <a:ln/>
        </p:spPr>
        <p:txBody>
          <a:bodyPr wrap="square" lIns="0" tIns="0" rIns="0" bIns="0" rtlCol="0" anchor="t"/>
          <a:lstStyle/>
          <a:p>
            <a:pPr indent="0" marL="0">
              <a:buNone/>
            </a:pPr>
            <a:r>
              <a:rPr lang="en-US" sz="1200" b="1" spc="200" kern="0" dirty="0">
                <a:solidFill>
                  <a:srgbClr val="27D3BE"/>
                </a:solidFill>
                <a:latin typeface="Palatino Linotype" pitchFamily="34" charset="0"/>
                <a:ea typeface="Palatino Linotype" pitchFamily="34" charset="-122"/>
                <a:cs typeface="Palatino Linotype" pitchFamily="34" charset="-120"/>
              </a:rPr>
              <a:t>DACĂ SPUNEȚI</a:t>
            </a:r>
            <a:endParaRPr lang="en-US" sz="1200" dirty="0"/>
          </a:p>
        </p:txBody>
      </p:sp>
      <p:sp>
        <p:nvSpPr>
          <p:cNvPr id="15" name="Text 13"/>
          <p:cNvSpPr/>
          <p:nvPr/>
        </p:nvSpPr>
        <p:spPr>
          <a:xfrm>
            <a:off x="6812280" y="4160520"/>
            <a:ext cx="4526280" cy="1028700"/>
          </a:xfrm>
          <a:prstGeom prst="rect">
            <a:avLst/>
          </a:prstGeom>
          <a:noFill/>
          <a:ln/>
        </p:spPr>
        <p:txBody>
          <a:bodyPr wrap="square" lIns="0" tIns="0" rIns="0" bIns="0" rtlCol="0" anchor="t"/>
          <a:lstStyle/>
          <a:p>
            <a:pPr indent="0" marL="0">
              <a:buNone/>
            </a:pPr>
            <a:r>
              <a:rPr lang="en-US" sz="1900" b="1" i="1" dirty="0">
                <a:solidFill>
                  <a:srgbClr val="FFFFFF"/>
                </a:solidFill>
                <a:latin typeface="Palatino Linotype" pitchFamily="34" charset="0"/>
                <a:ea typeface="Palatino Linotype" pitchFamily="34" charset="-122"/>
                <a:cs typeface="Palatino Linotype" pitchFamily="34" charset="-120"/>
              </a:rPr>
              <a:t>„Corpul s-a obișnuit; îl dezvățăm încet.”</a:t>
            </a:r>
            <a:endParaRPr lang="en-US" sz="1900" dirty="0"/>
          </a:p>
        </p:txBody>
      </p:sp>
      <p:sp>
        <p:nvSpPr>
          <p:cNvPr id="16" name="Text 14"/>
          <p:cNvSpPr/>
          <p:nvPr/>
        </p:nvSpPr>
        <p:spPr>
          <a:xfrm>
            <a:off x="6812280" y="5143500"/>
            <a:ext cx="4526280" cy="480060"/>
          </a:xfrm>
          <a:prstGeom prst="rect">
            <a:avLst/>
          </a:prstGeom>
          <a:noFill/>
          <a:ln/>
        </p:spPr>
        <p:txBody>
          <a:bodyPr wrap="square" lIns="0" tIns="0" rIns="0" bIns="0" rtlCol="0" anchor="t"/>
          <a:lstStyle/>
          <a:p>
            <a:pPr indent="0" marL="0">
              <a:buNone/>
            </a:pPr>
            <a:r>
              <a:rPr lang="en-US" sz="1550" dirty="0">
                <a:solidFill>
                  <a:srgbClr val="959BB0"/>
                </a:solidFill>
                <a:latin typeface="Palatino Linotype" pitchFamily="34" charset="0"/>
                <a:ea typeface="Palatino Linotype" pitchFamily="34" charset="-122"/>
                <a:cs typeface="Palatino Linotype" pitchFamily="34" charset="-120"/>
              </a:rPr>
              <a:t>ea aude un plan.</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CÂT DE REPEDE APARE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„Doar pentru câteva săptămâni”</a:t>
            </a:r>
            <a:endParaRPr lang="en-US" sz="3200" dirty="0"/>
          </a:p>
        </p:txBody>
      </p:sp>
      <p:sp>
        <p:nvSpPr>
          <p:cNvPr id="4" name="Text 2"/>
          <p:cNvSpPr/>
          <p:nvPr/>
        </p:nvSpPr>
        <p:spPr>
          <a:xfrm>
            <a:off x="594360" y="1463040"/>
            <a:ext cx="5669280" cy="914400"/>
          </a:xfrm>
          <a:prstGeom prst="rect">
            <a:avLst/>
          </a:prstGeom>
          <a:noFill/>
          <a:ln/>
        </p:spPr>
        <p:txBody>
          <a:bodyPr wrap="square" lIns="0" tIns="0" rIns="0" bIns="0" rtlCol="0" anchor="t"/>
          <a:lstStyle/>
          <a:p>
            <a:pPr indent="0" marL="0">
              <a:buNone/>
            </a:pPr>
            <a:r>
              <a:rPr lang="en-US" sz="3400" b="1" dirty="0">
                <a:solidFill>
                  <a:srgbClr val="B02532"/>
                </a:solidFill>
                <a:latin typeface="Palatino Linotype" pitchFamily="34" charset="0"/>
                <a:ea typeface="Palatino Linotype" pitchFamily="34" charset="-122"/>
                <a:cs typeface="Palatino Linotype" pitchFamily="34" charset="-120"/>
              </a:rPr>
              <a:t>câteva zile sau săptămâni</a:t>
            </a:r>
            <a:endParaRPr lang="en-US" sz="3400" dirty="0"/>
          </a:p>
        </p:txBody>
      </p:sp>
      <p:sp>
        <p:nvSpPr>
          <p:cNvPr id="5" name="Text 3"/>
          <p:cNvSpPr/>
          <p:nvPr/>
        </p:nvSpPr>
        <p:spPr>
          <a:xfrm>
            <a:off x="594360" y="2423160"/>
            <a:ext cx="5669280" cy="10972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FDA, comunicarea din 2020: după atât poate apărea dependența fizică de benzodiazepine, chiar luate conform prescripției.</a:t>
            </a:r>
            <a:endParaRPr lang="en-US" sz="1600" dirty="0"/>
          </a:p>
        </p:txBody>
      </p:sp>
      <p:sp>
        <p:nvSpPr>
          <p:cNvPr id="6" name="Shape 4"/>
          <p:cNvSpPr/>
          <p:nvPr/>
        </p:nvSpPr>
        <p:spPr>
          <a:xfrm>
            <a:off x="6583680" y="1463040"/>
            <a:ext cx="4983480" cy="2377440"/>
          </a:xfrm>
          <a:prstGeom prst="roundRect">
            <a:avLst>
              <a:gd name="adj" fmla="val 3462"/>
            </a:avLst>
          </a:prstGeom>
          <a:solidFill>
            <a:srgbClr val="ECEAE4"/>
          </a:solidFill>
          <a:ln w="12700">
            <a:solidFill>
              <a:srgbClr val="ECEAE4"/>
            </a:solidFill>
            <a:prstDash val="solid"/>
          </a:ln>
        </p:spPr>
        <p:txBody>
          <a:bodyPr/>
          <a:p/>
        </p:txBody>
      </p:sp>
      <p:sp>
        <p:nvSpPr>
          <p:cNvPr id="7" name="Text 5"/>
          <p:cNvSpPr/>
          <p:nvPr/>
        </p:nvSpPr>
        <p:spPr>
          <a:xfrm>
            <a:off x="6858000" y="1627632"/>
            <a:ext cx="4572000" cy="292608"/>
          </a:xfrm>
          <a:prstGeom prst="rect">
            <a:avLst/>
          </a:prstGeom>
          <a:noFill/>
          <a:ln/>
        </p:spPr>
        <p:txBody>
          <a:bodyPr wrap="square" lIns="0" tIns="0" rIns="0" bIns="0" rtlCol="0" anchor="t"/>
          <a:lstStyle/>
          <a:p>
            <a:pPr indent="0" marL="0">
              <a:buNone/>
            </a:pPr>
            <a:r>
              <a:rPr lang="en-US" sz="1250" b="1" spc="200" kern="0" dirty="0">
                <a:solidFill>
                  <a:srgbClr val="0E7C6B"/>
                </a:solidFill>
                <a:latin typeface="Palatino Linotype" pitchFamily="34" charset="0"/>
                <a:ea typeface="Palatino Linotype" pitchFamily="34" charset="-122"/>
                <a:cs typeface="Palatino Linotype" pitchFamily="34" charset="-120"/>
              </a:rPr>
              <a:t>GHIDUL COMUN DIN 2025</a:t>
            </a:r>
            <a:endParaRPr lang="en-US" sz="1250" dirty="0"/>
          </a:p>
        </p:txBody>
      </p:sp>
      <p:sp>
        <p:nvSpPr>
          <p:cNvPr id="8" name="Text 6"/>
          <p:cNvSpPr/>
          <p:nvPr/>
        </p:nvSpPr>
        <p:spPr>
          <a:xfrm>
            <a:off x="6858000" y="1993392"/>
            <a:ext cx="4480560" cy="17830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Mulți pacienți care le iau de mai puțin de o lună, mai ales în doze mici, probabil nu au dependență fizică. Ea se poate dezvolta în câteva săptămâni și diferă de la un pacient la altul.</a:t>
            </a:r>
            <a:endParaRPr lang="en-US" sz="1500" dirty="0"/>
          </a:p>
        </p:txBody>
      </p:sp>
      <p:sp>
        <p:nvSpPr>
          <p:cNvPr id="9" name="Shape 7"/>
          <p:cNvSpPr/>
          <p:nvPr/>
        </p:nvSpPr>
        <p:spPr>
          <a:xfrm>
            <a:off x="594360" y="4114800"/>
            <a:ext cx="10972800" cy="1143000"/>
          </a:xfrm>
          <a:prstGeom prst="roundRect">
            <a:avLst>
              <a:gd name="adj" fmla="val 7200"/>
            </a:avLst>
          </a:prstGeom>
          <a:solidFill>
            <a:srgbClr val="F4E0E2"/>
          </a:solidFill>
          <a:ln w="12700">
            <a:solidFill>
              <a:srgbClr val="F4E0E2"/>
            </a:solidFill>
            <a:prstDash val="solid"/>
          </a:ln>
        </p:spPr>
        <p:txBody>
          <a:bodyPr/>
          <a:p/>
        </p:txBody>
      </p:sp>
      <p:sp>
        <p:nvSpPr>
          <p:cNvPr id="10" name="Text 8"/>
          <p:cNvSpPr/>
          <p:nvPr/>
        </p:nvSpPr>
        <p:spPr>
          <a:xfrm>
            <a:off x="868680" y="4114800"/>
            <a:ext cx="10424160" cy="1143000"/>
          </a:xfrm>
          <a:prstGeom prst="rect">
            <a:avLst/>
          </a:prstGeom>
          <a:noFill/>
          <a:ln/>
        </p:spPr>
        <p:txBody>
          <a:bodyPr wrap="square" lIns="0" tIns="0" rIns="0" bIns="0" rtlCol="0" anchor="ctr"/>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După o rețetă nouă: reevaluați riscurile și beneficiile în cel mult o lună.</a:t>
            </a:r>
            <a:endParaRPr lang="en-US" sz="2000" dirty="0"/>
          </a:p>
        </p:txBody>
      </p:sp>
      <p:sp>
        <p:nvSpPr>
          <p:cNvPr id="11" name="Text 9"/>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Surse: FDA, comunicarea din 2020; ghidul clinic comun din 2025.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CÂT DE DES</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se vede și ce nu se vede</a:t>
            </a:r>
            <a:endParaRPr lang="en-US" sz="3200" dirty="0"/>
          </a:p>
        </p:txBody>
      </p:sp>
      <p:sp>
        <p:nvSpPr>
          <p:cNvPr id="4" name="Text 2"/>
          <p:cNvSpPr/>
          <p:nvPr/>
        </p:nvSpPr>
        <p:spPr>
          <a:xfrm>
            <a:off x="594360" y="1417320"/>
            <a:ext cx="5486400" cy="320040"/>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STATELE UNITE</a:t>
            </a:r>
            <a:endParaRPr lang="en-US" sz="1300" dirty="0"/>
          </a:p>
        </p:txBody>
      </p:sp>
      <p:sp>
        <p:nvSpPr>
          <p:cNvPr id="5" name="Shape 3"/>
          <p:cNvSpPr/>
          <p:nvPr/>
        </p:nvSpPr>
        <p:spPr>
          <a:xfrm>
            <a:off x="594360" y="1783080"/>
            <a:ext cx="5349240" cy="1600200"/>
          </a:xfrm>
          <a:prstGeom prst="roundRect">
            <a:avLst>
              <a:gd name="adj" fmla="val 5143"/>
            </a:avLst>
          </a:prstGeom>
          <a:solidFill>
            <a:srgbClr val="ECEAE4"/>
          </a:solidFill>
          <a:ln w="12700">
            <a:solidFill>
              <a:srgbClr val="ECEAE4"/>
            </a:solidFill>
            <a:prstDash val="solid"/>
          </a:ln>
        </p:spPr>
        <p:txBody>
          <a:bodyPr/>
          <a:p/>
        </p:txBody>
      </p:sp>
      <p:sp>
        <p:nvSpPr>
          <p:cNvPr id="6" name="Text 4"/>
          <p:cNvSpPr/>
          <p:nvPr/>
        </p:nvSpPr>
        <p:spPr>
          <a:xfrm>
            <a:off x="868680" y="1892808"/>
            <a:ext cx="4800600" cy="800100"/>
          </a:xfrm>
          <a:prstGeom prst="rect">
            <a:avLst/>
          </a:prstGeom>
          <a:noFill/>
          <a:ln/>
        </p:spPr>
        <p:txBody>
          <a:bodyPr wrap="square" lIns="0" tIns="0" rIns="0" bIns="0" rtlCol="0" anchor="ctr"/>
          <a:lstStyle/>
          <a:p>
            <a:pPr indent="0" marL="0">
              <a:buNone/>
            </a:pPr>
            <a:r>
              <a:rPr lang="en-US" sz="3000" b="1" dirty="0">
                <a:solidFill>
                  <a:srgbClr val="0E7C6B"/>
                </a:solidFill>
                <a:latin typeface="Palatino Linotype" pitchFamily="34" charset="0"/>
                <a:ea typeface="Palatino Linotype" pitchFamily="34" charset="-122"/>
                <a:cs typeface="Palatino Linotype" pitchFamily="34" charset="-120"/>
              </a:rPr>
              <a:t>24 de milioane</a:t>
            </a:r>
            <a:endParaRPr lang="en-US" sz="3000" dirty="0"/>
          </a:p>
        </p:txBody>
      </p:sp>
      <p:sp>
        <p:nvSpPr>
          <p:cNvPr id="7" name="Text 5"/>
          <p:cNvSpPr/>
          <p:nvPr/>
        </p:nvSpPr>
        <p:spPr>
          <a:xfrm>
            <a:off x="868680" y="2601468"/>
            <a:ext cx="4800600" cy="736092"/>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au raportat, în 2023, că folosesc o benzodiazepină; aproximativ 20 de milioane conform prescripției</a:t>
            </a:r>
            <a:endParaRPr lang="en-US" sz="1200" dirty="0"/>
          </a:p>
        </p:txBody>
      </p:sp>
      <p:sp>
        <p:nvSpPr>
          <p:cNvPr id="8" name="Shape 6"/>
          <p:cNvSpPr/>
          <p:nvPr/>
        </p:nvSpPr>
        <p:spPr>
          <a:xfrm>
            <a:off x="594360" y="3520440"/>
            <a:ext cx="5349240" cy="1600200"/>
          </a:xfrm>
          <a:prstGeom prst="roundRect">
            <a:avLst>
              <a:gd name="adj" fmla="val 5143"/>
            </a:avLst>
          </a:prstGeom>
          <a:solidFill>
            <a:srgbClr val="ECEAE4"/>
          </a:solidFill>
          <a:ln w="12700">
            <a:solidFill>
              <a:srgbClr val="ECEAE4"/>
            </a:solidFill>
            <a:prstDash val="solid"/>
          </a:ln>
        </p:spPr>
        <p:txBody>
          <a:bodyPr/>
          <a:p/>
        </p:txBody>
      </p:sp>
      <p:sp>
        <p:nvSpPr>
          <p:cNvPr id="9" name="Text 7"/>
          <p:cNvSpPr/>
          <p:nvPr/>
        </p:nvSpPr>
        <p:spPr>
          <a:xfrm>
            <a:off x="868680" y="3630168"/>
            <a:ext cx="4800600" cy="800100"/>
          </a:xfrm>
          <a:prstGeom prst="rect">
            <a:avLst/>
          </a:prstGeom>
          <a:noFill/>
          <a:ln/>
        </p:spPr>
        <p:txBody>
          <a:bodyPr wrap="square" lIns="0" tIns="0" rIns="0" bIns="0" rtlCol="0" anchor="ctr"/>
          <a:lstStyle/>
          <a:p>
            <a:pPr indent="0" marL="0">
              <a:buNone/>
            </a:pPr>
            <a:r>
              <a:rPr lang="en-US" sz="3000" b="1" dirty="0">
                <a:solidFill>
                  <a:srgbClr val="0E7C6B"/>
                </a:solidFill>
                <a:latin typeface="Palatino Linotype" pitchFamily="34" charset="0"/>
                <a:ea typeface="Palatino Linotype" pitchFamily="34" charset="-122"/>
                <a:cs typeface="Palatino Linotype" pitchFamily="34" charset="-120"/>
              </a:rPr>
              <a:t>1 din 2</a:t>
            </a:r>
            <a:endParaRPr lang="en-US" sz="3000" dirty="0"/>
          </a:p>
        </p:txBody>
      </p:sp>
      <p:sp>
        <p:nvSpPr>
          <p:cNvPr id="10" name="Text 8"/>
          <p:cNvSpPr/>
          <p:nvPr/>
        </p:nvSpPr>
        <p:spPr>
          <a:xfrm>
            <a:off x="868680" y="4338828"/>
            <a:ext cx="4800600" cy="736092"/>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pacienți cu benzodiazepine orale le-au primit două luni sau mai mult, în 2018</a:t>
            </a:r>
            <a:endParaRPr lang="en-US" sz="1200" dirty="0"/>
          </a:p>
        </p:txBody>
      </p:sp>
      <p:sp>
        <p:nvSpPr>
          <p:cNvPr id="11" name="Text 9"/>
          <p:cNvSpPr/>
          <p:nvPr/>
        </p:nvSpPr>
        <p:spPr>
          <a:xfrm>
            <a:off x="6217920" y="1417320"/>
            <a:ext cx="5303520" cy="32004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ROMÂNIA</a:t>
            </a:r>
            <a:endParaRPr lang="en-US" sz="1300" dirty="0"/>
          </a:p>
        </p:txBody>
      </p:sp>
      <p:sp>
        <p:nvSpPr>
          <p:cNvPr id="12" name="Shape 10"/>
          <p:cNvSpPr/>
          <p:nvPr/>
        </p:nvSpPr>
        <p:spPr>
          <a:xfrm>
            <a:off x="6217920" y="1783080"/>
            <a:ext cx="5349240" cy="1600200"/>
          </a:xfrm>
          <a:prstGeom prst="roundRect">
            <a:avLst>
              <a:gd name="adj" fmla="val 5143"/>
            </a:avLst>
          </a:prstGeom>
          <a:solidFill>
            <a:srgbClr val="ECEAE4"/>
          </a:solidFill>
          <a:ln w="12700">
            <a:solidFill>
              <a:srgbClr val="ECEAE4"/>
            </a:solidFill>
            <a:prstDash val="solid"/>
          </a:ln>
        </p:spPr>
        <p:txBody>
          <a:bodyPr/>
          <a:p/>
        </p:txBody>
      </p:sp>
      <p:sp>
        <p:nvSpPr>
          <p:cNvPr id="13" name="Text 11"/>
          <p:cNvSpPr/>
          <p:nvPr/>
        </p:nvSpPr>
        <p:spPr>
          <a:xfrm>
            <a:off x="6492240" y="1892808"/>
            <a:ext cx="4800600" cy="800100"/>
          </a:xfrm>
          <a:prstGeom prst="rect">
            <a:avLst/>
          </a:prstGeom>
          <a:noFill/>
          <a:ln/>
        </p:spPr>
        <p:txBody>
          <a:bodyPr wrap="square" lIns="0" tIns="0" rIns="0" bIns="0" rtlCol="0" anchor="ctr"/>
          <a:lstStyle/>
          <a:p>
            <a:pPr indent="0" marL="0">
              <a:buNone/>
            </a:pPr>
            <a:r>
              <a:rPr lang="en-US" sz="4000" b="1" dirty="0">
                <a:solidFill>
                  <a:srgbClr val="B02532"/>
                </a:solidFill>
                <a:latin typeface="Palatino Linotype" pitchFamily="34" charset="0"/>
                <a:ea typeface="Palatino Linotype" pitchFamily="34" charset="-122"/>
                <a:cs typeface="Palatino Linotype" pitchFamily="34" charset="-120"/>
              </a:rPr>
              <a:t>69</a:t>
            </a:r>
            <a:endParaRPr lang="en-US" sz="4000" dirty="0"/>
          </a:p>
        </p:txBody>
      </p:sp>
      <p:sp>
        <p:nvSpPr>
          <p:cNvPr id="14" name="Text 12"/>
          <p:cNvSpPr/>
          <p:nvPr/>
        </p:nvSpPr>
        <p:spPr>
          <a:xfrm>
            <a:off x="6492240" y="2601468"/>
            <a:ext cx="4800600" cy="736092"/>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de cereri de asistență în 2024 (59 în 2023) pentru hipnotice și sedative fără prescripție medicală</a:t>
            </a:r>
            <a:endParaRPr lang="en-US" sz="1200" dirty="0"/>
          </a:p>
        </p:txBody>
      </p:sp>
      <p:sp>
        <p:nvSpPr>
          <p:cNvPr id="15" name="Shape 13"/>
          <p:cNvSpPr/>
          <p:nvPr/>
        </p:nvSpPr>
        <p:spPr>
          <a:xfrm>
            <a:off x="6217920" y="3520440"/>
            <a:ext cx="5349240" cy="1600200"/>
          </a:xfrm>
          <a:prstGeom prst="roundRect">
            <a:avLst>
              <a:gd name="adj" fmla="val 5143"/>
            </a:avLst>
          </a:prstGeom>
          <a:solidFill>
            <a:srgbClr val="F4E0E2"/>
          </a:solidFill>
          <a:ln w="12700">
            <a:solidFill>
              <a:srgbClr val="F4E0E2"/>
            </a:solidFill>
            <a:prstDash val="solid"/>
          </a:ln>
        </p:spPr>
        <p:txBody>
          <a:bodyPr/>
          <a:p/>
        </p:txBody>
      </p:sp>
      <p:sp>
        <p:nvSpPr>
          <p:cNvPr id="16" name="Text 14"/>
          <p:cNvSpPr/>
          <p:nvPr/>
        </p:nvSpPr>
        <p:spPr>
          <a:xfrm>
            <a:off x="6492240" y="3520440"/>
            <a:ext cx="4846320" cy="1600200"/>
          </a:xfrm>
          <a:prstGeom prst="rect">
            <a:avLst/>
          </a:prstGeom>
          <a:noFill/>
          <a:ln/>
        </p:spPr>
        <p:txBody>
          <a:bodyPr wrap="square" lIns="0" tIns="0" rIns="0" bIns="0" rtlCol="0" anchor="ctr"/>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Doamna Elena, cu rețetă, nu apare în această cifră.</a:t>
            </a:r>
            <a:endParaRPr lang="en-US" sz="1900" dirty="0"/>
          </a:p>
        </p:txBody>
      </p:sp>
      <p:sp>
        <p:nvSpPr>
          <p:cNvPr id="17" name="Text 15"/>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Surse: ghidul clinic comun din 2025 (datele americane); raportul național privind situația drogurilor (datele pentru 2024).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CHAT · 2 MINUTE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FIECARE, ÎN CHAT</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De ce ajunge rar într-o statistică?</a:t>
            </a:r>
            <a:endParaRPr lang="en-US" sz="3400" dirty="0"/>
          </a:p>
        </p:txBody>
      </p:sp>
      <p:sp>
        <p:nvSpPr>
          <p:cNvPr id="6" name="Text 4"/>
          <p:cNvSpPr/>
          <p:nvPr/>
        </p:nvSpPr>
        <p:spPr>
          <a:xfrm>
            <a:off x="594360" y="1463040"/>
            <a:ext cx="10972800" cy="868680"/>
          </a:xfrm>
          <a:prstGeom prst="rect">
            <a:avLst/>
          </a:prstGeom>
          <a:noFill/>
          <a:ln/>
        </p:spPr>
        <p:txBody>
          <a:bodyPr wrap="square" lIns="0" tIns="0" rIns="0" bIns="0" rtlCol="0" anchor="t"/>
          <a:lstStyle/>
          <a:p>
            <a:pPr indent="0" marL="0">
              <a:buNone/>
            </a:pPr>
            <a:r>
              <a:rPr lang="en-US" sz="1900" dirty="0">
                <a:solidFill>
                  <a:srgbClr val="959BB0"/>
                </a:solidFill>
                <a:latin typeface="Palatino Linotype" pitchFamily="34" charset="0"/>
                <a:ea typeface="Palatino Linotype" pitchFamily="34" charset="-122"/>
                <a:cs typeface="Palatino Linotype" pitchFamily="34" charset="-120"/>
              </a:rPr>
              <a:t>Dependența de benzodiazepine luate cu rețetă ajunge rar într-o statistică. Scrieți în chat două motive posibile.</a:t>
            </a:r>
            <a:endParaRPr lang="en-US" sz="1900" dirty="0"/>
          </a:p>
        </p:txBody>
      </p:sp>
      <p:sp>
        <p:nvSpPr>
          <p:cNvPr id="7" name="Shape 5"/>
          <p:cNvSpPr/>
          <p:nvPr/>
        </p:nvSpPr>
        <p:spPr>
          <a:xfrm>
            <a:off x="594360" y="2606040"/>
            <a:ext cx="10972800" cy="1005840"/>
          </a:xfrm>
          <a:prstGeom prst="roundRect">
            <a:avLst>
              <a:gd name="adj" fmla="val 8182"/>
            </a:avLst>
          </a:prstGeom>
          <a:solidFill>
            <a:srgbClr val="1D1F2B"/>
          </a:solidFill>
          <a:ln w="12700">
            <a:solidFill>
              <a:srgbClr val="1D1F2B"/>
            </a:solidFill>
            <a:prstDash val="solid"/>
          </a:ln>
        </p:spPr>
        <p:txBody>
          <a:bodyPr/>
          <a:p/>
        </p:txBody>
      </p:sp>
      <p:sp>
        <p:nvSpPr>
          <p:cNvPr id="8" name="Shape 6"/>
          <p:cNvSpPr/>
          <p:nvPr/>
        </p:nvSpPr>
        <p:spPr>
          <a:xfrm>
            <a:off x="914400" y="2898648"/>
            <a:ext cx="420624" cy="420624"/>
          </a:xfrm>
          <a:prstGeom prst="ellipse">
            <a:avLst/>
          </a:prstGeom>
          <a:solidFill>
            <a:srgbClr val="27D3BE"/>
          </a:solidFill>
          <a:ln/>
        </p:spPr>
        <p:txBody>
          <a:bodyPr/>
          <a:p/>
        </p:txBody>
      </p:sp>
      <p:sp>
        <p:nvSpPr>
          <p:cNvPr id="9" name="Text 7"/>
          <p:cNvSpPr/>
          <p:nvPr/>
        </p:nvSpPr>
        <p:spPr>
          <a:xfrm>
            <a:off x="914400" y="28986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0" name="Shape 8"/>
          <p:cNvSpPr/>
          <p:nvPr/>
        </p:nvSpPr>
        <p:spPr>
          <a:xfrm>
            <a:off x="1600200" y="3291840"/>
            <a:ext cx="9509760" cy="0"/>
          </a:xfrm>
          <a:prstGeom prst="line">
            <a:avLst/>
          </a:prstGeom>
          <a:noFill/>
          <a:ln w="12700">
            <a:solidFill>
              <a:srgbClr val="3A3E52"/>
            </a:solidFill>
            <a:prstDash val="dash"/>
          </a:ln>
        </p:spPr>
        <p:txBody>
          <a:bodyPr/>
          <a:p/>
        </p:txBody>
      </p:sp>
      <p:sp>
        <p:nvSpPr>
          <p:cNvPr id="11" name="Shape 9"/>
          <p:cNvSpPr/>
          <p:nvPr/>
        </p:nvSpPr>
        <p:spPr>
          <a:xfrm>
            <a:off x="594360" y="3840480"/>
            <a:ext cx="10972800" cy="1005840"/>
          </a:xfrm>
          <a:prstGeom prst="roundRect">
            <a:avLst>
              <a:gd name="adj" fmla="val 8182"/>
            </a:avLst>
          </a:prstGeom>
          <a:solidFill>
            <a:srgbClr val="1D1F2B"/>
          </a:solidFill>
          <a:ln w="12700">
            <a:solidFill>
              <a:srgbClr val="1D1F2B"/>
            </a:solidFill>
            <a:prstDash val="solid"/>
          </a:ln>
        </p:spPr>
        <p:txBody>
          <a:bodyPr/>
          <a:p/>
        </p:txBody>
      </p:sp>
      <p:sp>
        <p:nvSpPr>
          <p:cNvPr id="12" name="Shape 10"/>
          <p:cNvSpPr/>
          <p:nvPr/>
        </p:nvSpPr>
        <p:spPr>
          <a:xfrm>
            <a:off x="914400" y="4133088"/>
            <a:ext cx="420624" cy="420624"/>
          </a:xfrm>
          <a:prstGeom prst="ellipse">
            <a:avLst/>
          </a:prstGeom>
          <a:solidFill>
            <a:srgbClr val="27D3BE"/>
          </a:solidFill>
          <a:ln/>
        </p:spPr>
        <p:txBody>
          <a:bodyPr/>
          <a:p/>
        </p:txBody>
      </p:sp>
      <p:sp>
        <p:nvSpPr>
          <p:cNvPr id="13" name="Text 11"/>
          <p:cNvSpPr/>
          <p:nvPr/>
        </p:nvSpPr>
        <p:spPr>
          <a:xfrm>
            <a:off x="914400" y="41330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4" name="Shape 12"/>
          <p:cNvSpPr/>
          <p:nvPr/>
        </p:nvSpPr>
        <p:spPr>
          <a:xfrm>
            <a:off x="1600200" y="4526280"/>
            <a:ext cx="9509760" cy="0"/>
          </a:xfrm>
          <a:prstGeom prst="line">
            <a:avLst/>
          </a:prstGeom>
          <a:noFill/>
          <a:ln w="12700">
            <a:solidFill>
              <a:srgbClr val="3A3E52"/>
            </a:solidFill>
            <a:prstDash val="dash"/>
          </a:ln>
        </p:spPr>
        <p:txBody>
          <a:bodyPr/>
          <a:p/>
        </p:txBody>
      </p:sp>
      <p:sp>
        <p:nvSpPr>
          <p:cNvPr id="15" name="Text 13"/>
          <p:cNvSpPr/>
          <p:nvPr/>
        </p:nvSpPr>
        <p:spPr>
          <a:xfrm>
            <a:off x="594360" y="5257800"/>
            <a:ext cx="10972800" cy="41148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Apoi citim câteva motive din chat.</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VOTUL DE LA ÎNCEPUT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Varianta B: nu se oprește brusc</a:t>
            </a:r>
            <a:endParaRPr lang="en-US" sz="3200" dirty="0"/>
          </a:p>
        </p:txBody>
      </p:sp>
      <p:sp>
        <p:nvSpPr>
          <p:cNvPr id="4" name="Shape 2"/>
          <p:cNvSpPr/>
          <p:nvPr/>
        </p:nvSpPr>
        <p:spPr>
          <a:xfrm>
            <a:off x="594360" y="1463040"/>
            <a:ext cx="10972800" cy="1417320"/>
          </a:xfrm>
          <a:prstGeom prst="roundRect">
            <a:avLst>
              <a:gd name="adj" fmla="val 5806"/>
            </a:avLst>
          </a:prstGeom>
          <a:solidFill>
            <a:srgbClr val="ECEAE4"/>
          </a:solidFill>
          <a:ln w="12700">
            <a:solidFill>
              <a:srgbClr val="ECEAE4"/>
            </a:solidFill>
            <a:prstDash val="solid"/>
          </a:ln>
        </p:spPr>
        <p:txBody>
          <a:bodyPr/>
          <a:p/>
        </p:txBody>
      </p:sp>
      <p:sp>
        <p:nvSpPr>
          <p:cNvPr id="5" name="Text 3"/>
          <p:cNvSpPr/>
          <p:nvPr/>
        </p:nvSpPr>
        <p:spPr>
          <a:xfrm>
            <a:off x="868680" y="1463040"/>
            <a:ext cx="10424160" cy="14173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Ghidul comun din 2025: la utilizarea regulată, întreruperea bruscă poate produce un sevraj grav, potențial letal. Raportul european din 2026: simptomele de sevraj pot pune viața în pericol.</a:t>
            </a:r>
            <a:endParaRPr lang="en-US" sz="1700" dirty="0"/>
          </a:p>
        </p:txBody>
      </p:sp>
      <p:sp>
        <p:nvSpPr>
          <p:cNvPr id="6" name="Shape 4"/>
          <p:cNvSpPr/>
          <p:nvPr/>
        </p:nvSpPr>
        <p:spPr>
          <a:xfrm>
            <a:off x="685800" y="3383280"/>
            <a:ext cx="548640" cy="548640"/>
          </a:xfrm>
          <a:prstGeom prst="ellipse">
            <a:avLst/>
          </a:prstGeom>
          <a:solidFill>
            <a:srgbClr val="B02532"/>
          </a:solidFill>
          <a:ln/>
        </p:spPr>
        <p:txBody>
          <a:bodyPr/>
          <a:p/>
        </p:txBody>
      </p:sp>
      <p:sp>
        <p:nvSpPr>
          <p:cNvPr id="7" name="Text 5"/>
          <p:cNvSpPr/>
          <p:nvPr/>
        </p:nvSpPr>
        <p:spPr>
          <a:xfrm>
            <a:off x="685800" y="338328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A</a:t>
            </a:r>
            <a:endParaRPr lang="en-US" sz="1700" dirty="0"/>
          </a:p>
        </p:txBody>
      </p:sp>
      <p:sp>
        <p:nvSpPr>
          <p:cNvPr id="8" name="Text 6"/>
          <p:cNvSpPr/>
          <p:nvPr/>
        </p:nvSpPr>
        <p:spPr>
          <a:xfrm>
            <a:off x="1463040" y="3154680"/>
            <a:ext cx="10058400" cy="10058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pare cea mai virtuoasă și este cea mai periculoasă.</a:t>
            </a:r>
            <a:endParaRPr lang="en-US" sz="1700" dirty="0"/>
          </a:p>
        </p:txBody>
      </p:sp>
      <p:sp>
        <p:nvSpPr>
          <p:cNvPr id="9" name="Shape 7"/>
          <p:cNvSpPr/>
          <p:nvPr/>
        </p:nvSpPr>
        <p:spPr>
          <a:xfrm>
            <a:off x="685800" y="4572000"/>
            <a:ext cx="548640" cy="548640"/>
          </a:xfrm>
          <a:prstGeom prst="ellipse">
            <a:avLst/>
          </a:prstGeom>
          <a:solidFill>
            <a:srgbClr val="4A2D8C"/>
          </a:solidFill>
          <a:ln/>
        </p:spPr>
        <p:txBody>
          <a:bodyPr/>
          <a:p/>
        </p:txBody>
      </p:sp>
      <p:sp>
        <p:nvSpPr>
          <p:cNvPr id="10" name="Text 8"/>
          <p:cNvSpPr/>
          <p:nvPr/>
        </p:nvSpPr>
        <p:spPr>
          <a:xfrm>
            <a:off x="685800" y="457200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C</a:t>
            </a:r>
            <a:endParaRPr lang="en-US" sz="1700" dirty="0"/>
          </a:p>
        </p:txBody>
      </p:sp>
      <p:sp>
        <p:nvSpPr>
          <p:cNvPr id="11" name="Text 9"/>
          <p:cNvSpPr/>
          <p:nvPr/>
        </p:nvSpPr>
        <p:spPr>
          <a:xfrm>
            <a:off x="1463040" y="4343400"/>
            <a:ext cx="10058400" cy="10058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pare blândă și este o renunțare: ghidul nu spune că vârstnicii nu mai merită să încerce, ci că reducerea se adaptează fiecărui pacient.</a:t>
            </a:r>
            <a:endParaRPr lang="en-US" sz="1700" dirty="0"/>
          </a:p>
        </p:txBody>
      </p:sp>
      <p:sp>
        <p:nvSpPr>
          <p:cNvPr id="12" name="Text 10"/>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Surse: ghidul clinic comun din 2025; EUDA, European Drug Report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CUM ARATĂ O REDUCERE TREPTATĂ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Luni de zile, nu de mâine</a:t>
            </a:r>
            <a:endParaRPr lang="en-US" sz="3200" dirty="0"/>
          </a:p>
        </p:txBody>
      </p:sp>
      <p:sp>
        <p:nvSpPr>
          <p:cNvPr id="4" name="Text 2"/>
          <p:cNvSpPr/>
          <p:nvPr/>
        </p:nvSpPr>
        <p:spPr>
          <a:xfrm>
            <a:off x="594360" y="1417320"/>
            <a:ext cx="5394960" cy="960120"/>
          </a:xfrm>
          <a:prstGeom prst="rect">
            <a:avLst/>
          </a:prstGeom>
          <a:noFill/>
          <a:ln/>
        </p:spPr>
        <p:txBody>
          <a:bodyPr wrap="square" lIns="0" tIns="0" rIns="0" bIns="0" rtlCol="0" anchor="t"/>
          <a:lstStyle/>
          <a:p>
            <a:pPr indent="0" marL="0">
              <a:buNone/>
            </a:pPr>
            <a:r>
              <a:rPr lang="en-US" sz="6000" b="1" dirty="0">
                <a:solidFill>
                  <a:srgbClr val="0E7C6B"/>
                </a:solidFill>
                <a:latin typeface="Palatino Linotype" pitchFamily="34" charset="0"/>
                <a:ea typeface="Palatino Linotype" pitchFamily="34" charset="-122"/>
                <a:cs typeface="Palatino Linotype" pitchFamily="34" charset="-120"/>
              </a:rPr>
              <a:t>5–10%</a:t>
            </a:r>
            <a:endParaRPr lang="en-US" sz="6000" dirty="0"/>
          </a:p>
        </p:txBody>
      </p:sp>
      <p:sp>
        <p:nvSpPr>
          <p:cNvPr id="5" name="Text 3"/>
          <p:cNvSpPr/>
          <p:nvPr/>
        </p:nvSpPr>
        <p:spPr>
          <a:xfrm>
            <a:off x="594360" y="2423160"/>
            <a:ext cx="5394960" cy="1005840"/>
          </a:xfrm>
          <a:prstGeom prst="rect">
            <a:avLst/>
          </a:prstGeom>
          <a:noFill/>
          <a:ln/>
        </p:spPr>
        <p:txBody>
          <a:bodyPr wrap="square" lIns="0" tIns="0" rIns="0" bIns="0" rtlCol="0" anchor="t"/>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din doză, la fiecare 2–4 săptămâni: ritmul inițial obișnuit. De regulă, cel mult 25% la 2 săptămâni.</a:t>
            </a:r>
            <a:endParaRPr lang="en-US" sz="1650" dirty="0"/>
          </a:p>
        </p:txBody>
      </p:sp>
      <p:sp>
        <p:nvSpPr>
          <p:cNvPr id="6" name="Text 4"/>
          <p:cNvSpPr/>
          <p:nvPr/>
        </p:nvSpPr>
        <p:spPr>
          <a:xfrm>
            <a:off x="594360" y="3520440"/>
            <a:ext cx="5394960" cy="822960"/>
          </a:xfrm>
          <a:prstGeom prst="rect">
            <a:avLst/>
          </a:prstGeom>
          <a:noFill/>
          <a:ln/>
        </p:spPr>
        <p:txBody>
          <a:bodyPr wrap="square" lIns="0" tIns="0" rIns="0" bIns="0" rtlCol="0" anchor="t"/>
          <a:lstStyle/>
          <a:p>
            <a:pPr indent="0" marL="0">
              <a:buNone/>
            </a:pPr>
            <a:r>
              <a:rPr lang="en-US" sz="1550" i="1" dirty="0">
                <a:solidFill>
                  <a:srgbClr val="3A3C44"/>
                </a:solidFill>
                <a:latin typeface="Palatino Linotype" pitchFamily="34" charset="0"/>
                <a:ea typeface="Palatino Linotype" pitchFamily="34" charset="-122"/>
                <a:cs typeface="Palatino Linotype" pitchFamily="34" charset="-120"/>
              </a:rPr>
              <a:t>Un reper, nu o rețetă fixă: ritmul se ajustează după pacient.</a:t>
            </a:r>
            <a:endParaRPr lang="en-US" sz="1550" dirty="0"/>
          </a:p>
        </p:txBody>
      </p:sp>
      <p:sp>
        <p:nvSpPr>
          <p:cNvPr id="7" name="Shape 5"/>
          <p:cNvSpPr/>
          <p:nvPr/>
        </p:nvSpPr>
        <p:spPr>
          <a:xfrm>
            <a:off x="6309360" y="1417320"/>
            <a:ext cx="5257800" cy="3017520"/>
          </a:xfrm>
          <a:prstGeom prst="roundRect">
            <a:avLst>
              <a:gd name="adj" fmla="val 2727"/>
            </a:avLst>
          </a:prstGeom>
          <a:solidFill>
            <a:srgbClr val="ECEAE4"/>
          </a:solidFill>
          <a:ln w="12700">
            <a:solidFill>
              <a:srgbClr val="ECEAE4"/>
            </a:solidFill>
            <a:prstDash val="solid"/>
          </a:ln>
        </p:spPr>
        <p:txBody>
          <a:bodyPr/>
          <a:p/>
        </p:txBody>
      </p:sp>
      <p:sp>
        <p:nvSpPr>
          <p:cNvPr id="8" name="Text 6"/>
          <p:cNvSpPr/>
          <p:nvPr/>
        </p:nvSpPr>
        <p:spPr>
          <a:xfrm>
            <a:off x="6583680" y="1572768"/>
            <a:ext cx="4754880" cy="292608"/>
          </a:xfrm>
          <a:prstGeom prst="rect">
            <a:avLst/>
          </a:prstGeom>
          <a:noFill/>
          <a:ln/>
        </p:spPr>
        <p:txBody>
          <a:bodyPr wrap="square" lIns="0" tIns="0" rIns="0" bIns="0" rtlCol="0" anchor="t"/>
          <a:lstStyle/>
          <a:p>
            <a:pPr indent="0" marL="0">
              <a:buNone/>
            </a:pPr>
            <a:r>
              <a:rPr lang="en-US" sz="1250" b="1" spc="200" kern="0" dirty="0">
                <a:solidFill>
                  <a:srgbClr val="B02532"/>
                </a:solidFill>
                <a:latin typeface="Palatino Linotype" pitchFamily="34" charset="0"/>
                <a:ea typeface="Palatino Linotype" pitchFamily="34" charset="-122"/>
                <a:cs typeface="Palatino Linotype" pitchFamily="34" charset="-120"/>
              </a:rPr>
              <a:t>CALENDARUL DOAMNEI ELENA</a:t>
            </a:r>
            <a:endParaRPr lang="en-US" sz="1250" dirty="0"/>
          </a:p>
        </p:txBody>
      </p:sp>
      <p:sp>
        <p:nvSpPr>
          <p:cNvPr id="9" name="Text 7"/>
          <p:cNvSpPr/>
          <p:nvPr/>
        </p:nvSpPr>
        <p:spPr>
          <a:xfrm>
            <a:off x="6583680" y="1938528"/>
            <a:ext cx="4754880" cy="210312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O zecime din doză la fiecare trei săptămâni. Ritmul încetinește când apar simptome; știe dinainte pașii și poate reveni la cabinet.</a:t>
            </a:r>
            <a:endParaRPr lang="en-US" sz="1550" dirty="0"/>
          </a:p>
        </p:txBody>
      </p:sp>
      <p:sp>
        <p:nvSpPr>
          <p:cNvPr id="10" name="Text 8"/>
          <p:cNvSpPr/>
          <p:nvPr/>
        </p:nvSpPr>
        <p:spPr>
          <a:xfrm>
            <a:off x="6583680" y="4069080"/>
            <a:ext cx="4572000" cy="256032"/>
          </a:xfrm>
          <a:prstGeom prst="rect">
            <a:avLst/>
          </a:prstGeom>
          <a:noFill/>
          <a:ln/>
        </p:spPr>
        <p:txBody>
          <a:bodyPr wrap="square" lIns="0" tIns="0" rIns="0" bIns="0" rtlCol="0" anchor="t"/>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Valori ipotetice.</a:t>
            </a:r>
            <a:endParaRPr lang="en-US" sz="1000" dirty="0"/>
          </a:p>
        </p:txBody>
      </p:sp>
      <p:sp>
        <p:nvSpPr>
          <p:cNvPr id="11" name="Shape 9"/>
          <p:cNvSpPr/>
          <p:nvPr/>
        </p:nvSpPr>
        <p:spPr>
          <a:xfrm>
            <a:off x="594360" y="4663440"/>
            <a:ext cx="10972800" cy="1143000"/>
          </a:xfrm>
          <a:prstGeom prst="roundRect">
            <a:avLst>
              <a:gd name="adj" fmla="val 7200"/>
            </a:avLst>
          </a:prstGeom>
          <a:solidFill>
            <a:srgbClr val="E1F0EC"/>
          </a:solidFill>
          <a:ln w="12700">
            <a:solidFill>
              <a:srgbClr val="E1F0EC"/>
            </a:solidFill>
            <a:prstDash val="solid"/>
          </a:ln>
        </p:spPr>
        <p:txBody>
          <a:bodyPr/>
          <a:p/>
        </p:txBody>
      </p:sp>
      <p:sp>
        <p:nvSpPr>
          <p:cNvPr id="12" name="Text 10"/>
          <p:cNvSpPr/>
          <p:nvPr/>
        </p:nvSpPr>
        <p:spPr>
          <a:xfrm>
            <a:off x="868680" y="4663440"/>
            <a:ext cx="10424160" cy="1143000"/>
          </a:xfrm>
          <a:prstGeom prst="rect">
            <a:avLst/>
          </a:prstGeom>
          <a:noFill/>
          <a:ln/>
        </p:spPr>
        <p:txBody>
          <a:bodyPr wrap="square" lIns="0" tIns="0" rIns="0" bIns="0" rtlCol="0" anchor="ctr"/>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Scopul poate fi oprirea sau doza la care riscurile nu mai depășesc beneficiile. Nu orice pacient ajunge la zero.</a:t>
            </a:r>
            <a:endParaRPr lang="en-US" sz="1800" dirty="0"/>
          </a:p>
        </p:txBody>
      </p:sp>
      <p:sp>
        <p:nvSpPr>
          <p:cNvPr id="13" name="Text 11"/>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ghidul clinic comun din 2025.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JOC DE ROL · 3 MINUTE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DOI VOLUNTARI, CU MICROFONUL DESCHIS</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Doamna Elena a citit ceva</a:t>
            </a:r>
            <a:endParaRPr lang="en-US" sz="3200" dirty="0"/>
          </a:p>
        </p:txBody>
      </p:sp>
      <p:sp>
        <p:nvSpPr>
          <p:cNvPr id="6" name="Shape 4"/>
          <p:cNvSpPr/>
          <p:nvPr/>
        </p:nvSpPr>
        <p:spPr>
          <a:xfrm>
            <a:off x="594360" y="1463040"/>
            <a:ext cx="6766560" cy="1600200"/>
          </a:xfrm>
          <a:prstGeom prst="roundRect">
            <a:avLst>
              <a:gd name="adj" fmla="val 5143"/>
            </a:avLst>
          </a:prstGeom>
          <a:solidFill>
            <a:srgbClr val="272A38"/>
          </a:solidFill>
          <a:ln w="12700">
            <a:solidFill>
              <a:srgbClr val="272A38"/>
            </a:solidFill>
            <a:prstDash val="solid"/>
          </a:ln>
        </p:spPr>
        <p:txBody>
          <a:bodyPr/>
          <a:p/>
        </p:txBody>
      </p:sp>
      <p:sp>
        <p:nvSpPr>
          <p:cNvPr id="7" name="Text 5"/>
          <p:cNvSpPr/>
          <p:nvPr/>
        </p:nvSpPr>
        <p:spPr>
          <a:xfrm>
            <a:off x="868680" y="1572768"/>
            <a:ext cx="6309360" cy="274320"/>
          </a:xfrm>
          <a:prstGeom prst="rect">
            <a:avLst/>
          </a:prstGeom>
          <a:noFill/>
          <a:ln/>
        </p:spPr>
        <p:txBody>
          <a:bodyPr wrap="square" lIns="0" tIns="0" rIns="0" bIns="0" rtlCol="0" anchor="t"/>
          <a:lstStyle/>
          <a:p>
            <a:pPr indent="0" marL="0">
              <a:buNone/>
            </a:pPr>
            <a:r>
              <a:rPr lang="en-US" sz="1150" b="1" spc="200" kern="0" dirty="0">
                <a:solidFill>
                  <a:srgbClr val="FFC24B"/>
                </a:solidFill>
                <a:latin typeface="Palatino Linotype" pitchFamily="34" charset="0"/>
                <a:ea typeface="Palatino Linotype" pitchFamily="34" charset="-122"/>
                <a:cs typeface="Palatino Linotype" pitchFamily="34" charset="-120"/>
              </a:rPr>
              <a:t>DOAMNA ELENA</a:t>
            </a:r>
            <a:endParaRPr lang="en-US" sz="1150" dirty="0"/>
          </a:p>
        </p:txBody>
      </p:sp>
      <p:sp>
        <p:nvSpPr>
          <p:cNvPr id="8" name="Text 6"/>
          <p:cNvSpPr/>
          <p:nvPr/>
        </p:nvSpPr>
        <p:spPr>
          <a:xfrm>
            <a:off x="868680" y="1874520"/>
            <a:ext cx="6309360" cy="1097280"/>
          </a:xfrm>
          <a:prstGeom prst="rect">
            <a:avLst/>
          </a:prstGeom>
          <a:noFill/>
          <a:ln/>
        </p:spPr>
        <p:txBody>
          <a:bodyPr wrap="square" lIns="0" tIns="0" rIns="0" bIns="0" rtlCol="0" anchor="t"/>
          <a:lstStyle/>
          <a:p>
            <a:pPr indent="0" marL="0">
              <a:buNone/>
            </a:pPr>
            <a:r>
              <a:rPr lang="en-US" sz="2100" b="1" i="1" dirty="0">
                <a:solidFill>
                  <a:srgbClr val="FFFFFF"/>
                </a:solidFill>
                <a:latin typeface="Palatino Linotype" pitchFamily="34" charset="0"/>
                <a:ea typeface="Palatino Linotype" pitchFamily="34" charset="-122"/>
                <a:cs typeface="Palatino Linotype" pitchFamily="34" charset="-120"/>
              </a:rPr>
              <a:t>„Am citit că alprazolamul strică memoria. Vreau să-l las de mâine.”</a:t>
            </a:r>
            <a:endParaRPr lang="en-US" sz="2100" dirty="0"/>
          </a:p>
        </p:txBody>
      </p:sp>
      <p:sp>
        <p:nvSpPr>
          <p:cNvPr id="9" name="Text 7"/>
          <p:cNvSpPr/>
          <p:nvPr/>
        </p:nvSpPr>
        <p:spPr>
          <a:xfrm>
            <a:off x="594360" y="3291840"/>
            <a:ext cx="6766560" cy="914400"/>
          </a:xfrm>
          <a:prstGeom prst="rect">
            <a:avLst/>
          </a:prstGeom>
          <a:noFill/>
          <a:ln/>
        </p:spPr>
        <p:txBody>
          <a:bodyPr wrap="square" lIns="0" tIns="0" rIns="0" bIns="0" rtlCol="0" anchor="t"/>
          <a:lstStyle/>
          <a:p>
            <a:pPr indent="0" marL="0">
              <a:buNone/>
            </a:pPr>
            <a:r>
              <a:rPr lang="en-US" sz="1700" dirty="0">
                <a:solidFill>
                  <a:srgbClr val="959BB0"/>
                </a:solidFill>
                <a:latin typeface="Palatino Linotype" pitchFamily="34" charset="0"/>
                <a:ea typeface="Palatino Linotype" pitchFamily="34" charset="-122"/>
                <a:cs typeface="Palatino Linotype" pitchFamily="34" charset="-120"/>
              </a:rPr>
              <a:t>Medicul are trei minute: să o convingă să nu îl oprească brusc, fără să o sperie și fără să o certe.</a:t>
            </a:r>
            <a:endParaRPr lang="en-US" sz="1700" dirty="0"/>
          </a:p>
        </p:txBody>
      </p:sp>
      <p:sp>
        <p:nvSpPr>
          <p:cNvPr id="10" name="Text 8"/>
          <p:cNvSpPr/>
          <p:nvPr/>
        </p:nvSpPr>
        <p:spPr>
          <a:xfrm>
            <a:off x="594360" y="4343400"/>
            <a:ext cx="10972800" cy="457200"/>
          </a:xfrm>
          <a:prstGeom prst="rect">
            <a:avLst/>
          </a:prstGeom>
          <a:noFill/>
          <a:ln/>
        </p:spPr>
        <p:txBody>
          <a:bodyPr wrap="square" lIns="0" tIns="0" rIns="0" bIns="0" rtlCol="0" anchor="t"/>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Apoi votați: „Ați fi plecat de la acest medic cu un plan?”</a:t>
            </a:r>
            <a:endParaRPr lang="en-US" sz="1800" dirty="0"/>
          </a:p>
        </p:txBody>
      </p:sp>
      <p:sp>
        <p:nvSpPr>
          <p:cNvPr id="11" name="Shape 9"/>
          <p:cNvSpPr/>
          <p:nvPr/>
        </p:nvSpPr>
        <p:spPr>
          <a:xfrm>
            <a:off x="594360" y="4937760"/>
            <a:ext cx="2148840" cy="329184"/>
          </a:xfrm>
          <a:prstGeom prst="roundRect">
            <a:avLst>
              <a:gd name="adj" fmla="val 50000"/>
            </a:avLst>
          </a:prstGeom>
          <a:solidFill>
            <a:srgbClr val="272A38"/>
          </a:solidFill>
          <a:ln w="12700">
            <a:solidFill>
              <a:srgbClr val="272A38"/>
            </a:solidFill>
            <a:prstDash val="solid"/>
          </a:ln>
        </p:spPr>
        <p:txBody>
          <a:bodyPr/>
          <a:p/>
        </p:txBody>
      </p:sp>
      <p:sp>
        <p:nvSpPr>
          <p:cNvPr id="12" name="Text 10"/>
          <p:cNvSpPr/>
          <p:nvPr/>
        </p:nvSpPr>
        <p:spPr>
          <a:xfrm>
            <a:off x="594360" y="4937760"/>
            <a:ext cx="214884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Da</a:t>
            </a:r>
            <a:endParaRPr lang="en-US" sz="1500" dirty="0"/>
          </a:p>
        </p:txBody>
      </p:sp>
      <p:sp>
        <p:nvSpPr>
          <p:cNvPr id="13" name="Shape 11"/>
          <p:cNvSpPr/>
          <p:nvPr/>
        </p:nvSpPr>
        <p:spPr>
          <a:xfrm>
            <a:off x="2971800" y="4937760"/>
            <a:ext cx="2148840" cy="329184"/>
          </a:xfrm>
          <a:prstGeom prst="roundRect">
            <a:avLst>
              <a:gd name="adj" fmla="val 50000"/>
            </a:avLst>
          </a:prstGeom>
          <a:solidFill>
            <a:srgbClr val="272A38"/>
          </a:solidFill>
          <a:ln w="12700">
            <a:solidFill>
              <a:srgbClr val="272A38"/>
            </a:solidFill>
            <a:prstDash val="solid"/>
          </a:ln>
        </p:spPr>
        <p:txBody>
          <a:bodyPr/>
          <a:p/>
        </p:txBody>
      </p:sp>
      <p:sp>
        <p:nvSpPr>
          <p:cNvPr id="14" name="Text 12"/>
          <p:cNvSpPr/>
          <p:nvPr/>
        </p:nvSpPr>
        <p:spPr>
          <a:xfrm>
            <a:off x="2971800" y="4937760"/>
            <a:ext cx="214884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Nu</a:t>
            </a:r>
            <a:endParaRPr lang="en-US" sz="1500" dirty="0"/>
          </a:p>
        </p:txBody>
      </p:sp>
      <p:sp>
        <p:nvSpPr>
          <p:cNvPr id="15" name="Shape 13"/>
          <p:cNvSpPr/>
          <p:nvPr/>
        </p:nvSpPr>
        <p:spPr>
          <a:xfrm>
            <a:off x="5349240" y="4937760"/>
            <a:ext cx="2148840" cy="329184"/>
          </a:xfrm>
          <a:prstGeom prst="roundRect">
            <a:avLst>
              <a:gd name="adj" fmla="val 50000"/>
            </a:avLst>
          </a:prstGeom>
          <a:solidFill>
            <a:srgbClr val="272A38"/>
          </a:solidFill>
          <a:ln w="12700">
            <a:solidFill>
              <a:srgbClr val="272A38"/>
            </a:solidFill>
            <a:prstDash val="solid"/>
          </a:ln>
        </p:spPr>
        <p:txBody>
          <a:bodyPr/>
          <a:p/>
        </p:txBody>
      </p:sp>
      <p:sp>
        <p:nvSpPr>
          <p:cNvPr id="16" name="Text 14"/>
          <p:cNvSpPr/>
          <p:nvPr/>
        </p:nvSpPr>
        <p:spPr>
          <a:xfrm>
            <a:off x="5349240" y="4937760"/>
            <a:ext cx="214884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Nu sunt sigur</a:t>
            </a:r>
            <a:endParaRPr lang="en-US" sz="1500" dirty="0"/>
          </a:p>
        </p:txBody>
      </p:sp>
      <p:sp>
        <p:nvSpPr>
          <p:cNvPr id="17" name="Text 15"/>
          <p:cNvSpPr/>
          <p:nvPr/>
        </p:nvSpPr>
        <p:spPr>
          <a:xfrm>
            <a:off x="594360" y="5532120"/>
            <a:ext cx="8595360" cy="41148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Răspundeți pe telefon, la codul afișat.</a:t>
            </a:r>
            <a:endParaRPr lang="en-US" sz="1600" dirty="0"/>
          </a:p>
        </p:txBody>
      </p:sp>
      <p:sp>
        <p:nvSpPr>
          <p:cNvPr id="18" name="Shape 16"/>
          <p:cNvSpPr/>
          <p:nvPr/>
        </p:nvSpPr>
        <p:spPr>
          <a:xfrm>
            <a:off x="9509760" y="1463040"/>
            <a:ext cx="2057400" cy="1737360"/>
          </a:xfrm>
          <a:prstGeom prst="roundRect">
            <a:avLst>
              <a:gd name="adj" fmla="val 4737"/>
            </a:avLst>
          </a:prstGeom>
          <a:solidFill>
            <a:srgbClr val="FFFFFF"/>
          </a:solidFill>
          <a:ln w="12700">
            <a:solidFill>
              <a:srgbClr val="FFFFFF"/>
            </a:solidFill>
            <a:prstDash val="solid"/>
          </a:ln>
        </p:spPr>
        <p:txBody>
          <a:bodyPr/>
          <a:p/>
        </p:txBody>
      </p:sp>
      <p:pic>
        <p:nvPicPr>
          <p:cNvPr id="19" name="Picture 18" descr="Mentimeter_OPT_DROGURI_C04.png"/>
          <p:cNvPicPr>
            <a:picLocks noChangeAspect="1"/>
          </p:cNvPicPr>
          <p:nvPr/>
        </p:nvPicPr>
        <p:blipFill>
          <a:blip r:embed="rId3"/>
          <a:stretch>
            <a:fillRect/>
          </a:stretch>
        </p:blipFill>
        <p:spPr>
          <a:xfrm>
            <a:off x="9886949" y="1463040"/>
            <a:ext cx="1303021" cy="1303021"/>
          </a:xfrm>
          <a:prstGeom prst="rect">
            <a:avLst/>
          </a:prstGeom>
        </p:spPr>
      </p:pic>
      <p:sp>
        <p:nvSpPr>
          <p:cNvPr id="20" name="TextBox 19"/>
          <p:cNvSpPr txBox="1"/>
          <p:nvPr/>
        </p:nvSpPr>
        <p:spPr>
          <a:xfrm>
            <a:off x="9509760" y="2804161"/>
            <a:ext cx="2057400" cy="434339"/>
          </a:xfrm>
          <a:prstGeom prst="rect">
            <a:avLst/>
          </a:prstGeom>
          <a:noFill/>
        </p:spPr>
        <p:txBody>
          <a:bodyPr wrap="square" lIns="0" rIns="0" tIns="0" bIns="0" anchor="t">
            <a:spAutoFit/>
          </a:bodyPr>
          <a:lstStyle/>
          <a:p>
            <a:pPr algn="ctr"/>
            <a:r>
              <a:rPr sz="900" b="1">
                <a:solidFill>
                  <a:srgbClr val="B02532"/>
                </a:solidFill>
                <a:latin typeface="Palatino Linotype"/>
              </a:rPr>
              <a:t>menti.com</a:t>
            </a:r>
          </a:p>
          <a:p>
            <a:pPr algn="ctr"/>
            <a:r>
              <a:rPr sz="900" b="1">
                <a:solidFill>
                  <a:srgbClr val="B02532"/>
                </a:solidFill>
                <a:latin typeface="Palatino Linotype"/>
              </a:rPr>
              <a:t>anonim, fără cont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DUPĂ JOCUL DE ROL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Pacienta are, în parte, dreptate</a:t>
            </a:r>
            <a:endParaRPr lang="en-US" sz="3200" dirty="0"/>
          </a:p>
        </p:txBody>
      </p:sp>
      <p:sp>
        <p:nvSpPr>
          <p:cNvPr id="4" name="Shape 2"/>
          <p:cNvSpPr/>
          <p:nvPr/>
        </p:nvSpPr>
        <p:spPr>
          <a:xfrm>
            <a:off x="594360" y="1463040"/>
            <a:ext cx="5349240" cy="2240280"/>
          </a:xfrm>
          <a:prstGeom prst="roundRect">
            <a:avLst>
              <a:gd name="adj" fmla="val 3673"/>
            </a:avLst>
          </a:prstGeom>
          <a:solidFill>
            <a:srgbClr val="ECEAE4"/>
          </a:solidFill>
          <a:ln w="12700">
            <a:solidFill>
              <a:srgbClr val="ECEAE4"/>
            </a:solidFill>
            <a:prstDash val="solid"/>
          </a:ln>
        </p:spPr>
        <p:txBody>
          <a:bodyPr/>
          <a:p/>
        </p:txBody>
      </p:sp>
      <p:sp>
        <p:nvSpPr>
          <p:cNvPr id="5" name="Shape 3"/>
          <p:cNvSpPr/>
          <p:nvPr/>
        </p:nvSpPr>
        <p:spPr>
          <a:xfrm>
            <a:off x="594360" y="1463040"/>
            <a:ext cx="73152" cy="2240280"/>
          </a:xfrm>
          <a:prstGeom prst="rect">
            <a:avLst/>
          </a:prstGeom>
          <a:solidFill>
            <a:srgbClr val="B02532"/>
          </a:solidFill>
          <a:ln w="12700">
            <a:solidFill>
              <a:srgbClr val="B02532"/>
            </a:solidFill>
            <a:prstDash val="solid"/>
          </a:ln>
        </p:spPr>
        <p:txBody>
          <a:bodyPr/>
          <a:p/>
        </p:txBody>
      </p:sp>
      <p:sp>
        <p:nvSpPr>
          <p:cNvPr id="6" name="Text 4"/>
          <p:cNvSpPr/>
          <p:nvPr/>
        </p:nvSpPr>
        <p:spPr>
          <a:xfrm>
            <a:off x="914400" y="1627632"/>
            <a:ext cx="4800600" cy="292608"/>
          </a:xfrm>
          <a:prstGeom prst="rect">
            <a:avLst/>
          </a:prstGeom>
          <a:noFill/>
          <a:ln/>
        </p:spPr>
        <p:txBody>
          <a:bodyPr wrap="square" lIns="0" tIns="0" rIns="0" bIns="0" rtlCol="0" anchor="t"/>
          <a:lstStyle/>
          <a:p>
            <a:pPr indent="0" marL="0">
              <a:buNone/>
            </a:pPr>
            <a:r>
              <a:rPr lang="en-US" sz="1200" b="1" spc="200" kern="0" dirty="0">
                <a:solidFill>
                  <a:srgbClr val="B02532"/>
                </a:solidFill>
                <a:latin typeface="Palatino Linotype" pitchFamily="34" charset="0"/>
                <a:ea typeface="Palatino Linotype" pitchFamily="34" charset="-122"/>
                <a:cs typeface="Palatino Linotype" pitchFamily="34" charset="-120"/>
              </a:rPr>
              <a:t>MEDICUL CARE SPUNE</a:t>
            </a:r>
            <a:endParaRPr lang="en-US" sz="1200" dirty="0"/>
          </a:p>
        </p:txBody>
      </p:sp>
      <p:sp>
        <p:nvSpPr>
          <p:cNvPr id="7" name="Text 5"/>
          <p:cNvSpPr/>
          <p:nvPr/>
        </p:nvSpPr>
        <p:spPr>
          <a:xfrm>
            <a:off x="914400" y="1965960"/>
            <a:ext cx="4800600" cy="1120140"/>
          </a:xfrm>
          <a:prstGeom prst="rect">
            <a:avLst/>
          </a:prstGeom>
          <a:noFill/>
          <a:ln/>
        </p:spPr>
        <p:txBody>
          <a:bodyPr wrap="square" lIns="0" tIns="0" rIns="0" bIns="0" rtlCol="0" anchor="t"/>
          <a:lstStyle/>
          <a:p>
            <a:pPr indent="0" marL="0">
              <a:buNone/>
            </a:pPr>
            <a:r>
              <a:rPr lang="en-US" sz="1900" b="1" i="1" dirty="0">
                <a:solidFill>
                  <a:srgbClr val="11121A"/>
                </a:solidFill>
                <a:latin typeface="Palatino Linotype" pitchFamily="34" charset="0"/>
                <a:ea typeface="Palatino Linotype" pitchFamily="34" charset="-122"/>
                <a:cs typeface="Palatino Linotype" pitchFamily="34" charset="-120"/>
              </a:rPr>
              <a:t>„Sunteți dependentă.”</a:t>
            </a:r>
            <a:endParaRPr lang="en-US" sz="1900" dirty="0"/>
          </a:p>
        </p:txBody>
      </p:sp>
      <p:sp>
        <p:nvSpPr>
          <p:cNvPr id="8" name="Text 6"/>
          <p:cNvSpPr/>
          <p:nvPr/>
        </p:nvSpPr>
        <p:spPr>
          <a:xfrm>
            <a:off x="914400" y="3040380"/>
            <a:ext cx="4800600" cy="571500"/>
          </a:xfrm>
          <a:prstGeom prst="rect">
            <a:avLst/>
          </a:prstGeom>
          <a:noFill/>
          <a:ln/>
        </p:spPr>
        <p:txBody>
          <a:bodyPr wrap="square" lIns="0" tIns="0" rIns="0" bIns="0" rtlCol="0" anchor="t"/>
          <a:lstStyle/>
          <a:p>
            <a:pPr indent="0" marL="0">
              <a:buNone/>
            </a:pPr>
            <a:r>
              <a:rPr lang="en-US" sz="1550" dirty="0">
                <a:solidFill>
                  <a:srgbClr val="3A3C44"/>
                </a:solidFill>
                <a:latin typeface="Palatino Linotype" pitchFamily="34" charset="0"/>
                <a:ea typeface="Palatino Linotype" pitchFamily="34" charset="-122"/>
                <a:cs typeface="Palatino Linotype" pitchFamily="34" charset="-120"/>
              </a:rPr>
              <a:t>pierde, de obicei, conversația.</a:t>
            </a:r>
            <a:endParaRPr lang="en-US" sz="1550" dirty="0"/>
          </a:p>
        </p:txBody>
      </p:sp>
      <p:sp>
        <p:nvSpPr>
          <p:cNvPr id="9" name="Shape 7"/>
          <p:cNvSpPr/>
          <p:nvPr/>
        </p:nvSpPr>
        <p:spPr>
          <a:xfrm>
            <a:off x="6217920" y="1463040"/>
            <a:ext cx="5349240" cy="2240280"/>
          </a:xfrm>
          <a:prstGeom prst="roundRect">
            <a:avLst>
              <a:gd name="adj" fmla="val 3673"/>
            </a:avLst>
          </a:prstGeom>
          <a:solidFill>
            <a:srgbClr val="ECEAE4"/>
          </a:solidFill>
          <a:ln w="12700">
            <a:solidFill>
              <a:srgbClr val="ECEAE4"/>
            </a:solidFill>
            <a:prstDash val="solid"/>
          </a:ln>
        </p:spPr>
        <p:txBody>
          <a:bodyPr/>
          <a:p/>
        </p:txBody>
      </p:sp>
      <p:sp>
        <p:nvSpPr>
          <p:cNvPr id="10" name="Shape 8"/>
          <p:cNvSpPr/>
          <p:nvPr/>
        </p:nvSpPr>
        <p:spPr>
          <a:xfrm>
            <a:off x="6217920" y="1463040"/>
            <a:ext cx="73152" cy="2240280"/>
          </a:xfrm>
          <a:prstGeom prst="rect">
            <a:avLst/>
          </a:prstGeom>
          <a:solidFill>
            <a:srgbClr val="0E7C6B"/>
          </a:solidFill>
          <a:ln w="12700">
            <a:solidFill>
              <a:srgbClr val="0E7C6B"/>
            </a:solidFill>
            <a:prstDash val="solid"/>
          </a:ln>
        </p:spPr>
        <p:txBody>
          <a:bodyPr/>
          <a:p/>
        </p:txBody>
      </p:sp>
      <p:sp>
        <p:nvSpPr>
          <p:cNvPr id="11" name="Text 9"/>
          <p:cNvSpPr/>
          <p:nvPr/>
        </p:nvSpPr>
        <p:spPr>
          <a:xfrm>
            <a:off x="6537960" y="1627632"/>
            <a:ext cx="4800600" cy="292608"/>
          </a:xfrm>
          <a:prstGeom prst="rect">
            <a:avLst/>
          </a:prstGeom>
          <a:noFill/>
          <a:ln/>
        </p:spPr>
        <p:txBody>
          <a:bodyPr wrap="square" lIns="0" tIns="0" rIns="0" bIns="0" rtlCol="0" anchor="t"/>
          <a:lstStyle/>
          <a:p>
            <a:pPr indent="0" marL="0">
              <a:buNone/>
            </a:pPr>
            <a:r>
              <a:rPr lang="en-US" sz="1200" b="1" spc="200" kern="0" dirty="0">
                <a:solidFill>
                  <a:srgbClr val="0E7C6B"/>
                </a:solidFill>
                <a:latin typeface="Palatino Linotype" pitchFamily="34" charset="0"/>
                <a:ea typeface="Palatino Linotype" pitchFamily="34" charset="-122"/>
                <a:cs typeface="Palatino Linotype" pitchFamily="34" charset="-120"/>
              </a:rPr>
              <a:t>MEDICUL CARE SPUNE</a:t>
            </a:r>
            <a:endParaRPr lang="en-US" sz="1200" dirty="0"/>
          </a:p>
        </p:txBody>
      </p:sp>
      <p:sp>
        <p:nvSpPr>
          <p:cNvPr id="12" name="Text 10"/>
          <p:cNvSpPr/>
          <p:nvPr/>
        </p:nvSpPr>
        <p:spPr>
          <a:xfrm>
            <a:off x="6537960" y="1965960"/>
            <a:ext cx="4800600" cy="1120140"/>
          </a:xfrm>
          <a:prstGeom prst="rect">
            <a:avLst/>
          </a:prstGeom>
          <a:noFill/>
          <a:ln/>
        </p:spPr>
        <p:txBody>
          <a:bodyPr wrap="square" lIns="0" tIns="0" rIns="0" bIns="0" rtlCol="0" anchor="t"/>
          <a:lstStyle/>
          <a:p>
            <a:pPr indent="0" marL="0">
              <a:buNone/>
            </a:pPr>
            <a:r>
              <a:rPr lang="en-US" sz="1900" b="1" i="1" dirty="0">
                <a:solidFill>
                  <a:srgbClr val="11121A"/>
                </a:solidFill>
                <a:latin typeface="Palatino Linotype" pitchFamily="34" charset="0"/>
                <a:ea typeface="Palatino Linotype" pitchFamily="34" charset="-122"/>
                <a:cs typeface="Palatino Linotype" pitchFamily="34" charset="-120"/>
              </a:rPr>
              <a:t>„Îl scădem împreună, încet, și ne vedem peste trei săptămâni.”</a:t>
            </a:r>
            <a:endParaRPr lang="en-US" sz="1900" dirty="0"/>
          </a:p>
        </p:txBody>
      </p:sp>
      <p:sp>
        <p:nvSpPr>
          <p:cNvPr id="13" name="Text 11"/>
          <p:cNvSpPr/>
          <p:nvPr/>
        </p:nvSpPr>
        <p:spPr>
          <a:xfrm>
            <a:off x="6537960" y="3040380"/>
            <a:ext cx="4800600" cy="571500"/>
          </a:xfrm>
          <a:prstGeom prst="rect">
            <a:avLst/>
          </a:prstGeom>
          <a:noFill/>
          <a:ln/>
        </p:spPr>
        <p:txBody>
          <a:bodyPr wrap="square" lIns="0" tIns="0" rIns="0" bIns="0" rtlCol="0" anchor="t"/>
          <a:lstStyle/>
          <a:p>
            <a:pPr indent="0" marL="0">
              <a:buNone/>
            </a:pPr>
            <a:r>
              <a:rPr lang="en-US" sz="1550" dirty="0">
                <a:solidFill>
                  <a:srgbClr val="3A3C44"/>
                </a:solidFill>
                <a:latin typeface="Palatino Linotype" pitchFamily="34" charset="0"/>
                <a:ea typeface="Palatino Linotype" pitchFamily="34" charset="-122"/>
                <a:cs typeface="Palatino Linotype" pitchFamily="34" charset="-120"/>
              </a:rPr>
              <a:t>are mai multe șanse.</a:t>
            </a:r>
            <a:endParaRPr lang="en-US" sz="1550" dirty="0"/>
          </a:p>
        </p:txBody>
      </p:sp>
      <p:sp>
        <p:nvSpPr>
          <p:cNvPr id="14" name="Shape 12"/>
          <p:cNvSpPr/>
          <p:nvPr/>
        </p:nvSpPr>
        <p:spPr>
          <a:xfrm>
            <a:off x="594360" y="3931920"/>
            <a:ext cx="10972800" cy="1554480"/>
          </a:xfrm>
          <a:prstGeom prst="roundRect">
            <a:avLst>
              <a:gd name="adj" fmla="val 5294"/>
            </a:avLst>
          </a:prstGeom>
          <a:solidFill>
            <a:srgbClr val="E1F0EC"/>
          </a:solidFill>
          <a:ln w="12700">
            <a:solidFill>
              <a:srgbClr val="E1F0EC"/>
            </a:solidFill>
            <a:prstDash val="solid"/>
          </a:ln>
        </p:spPr>
        <p:txBody>
          <a:bodyPr/>
          <a:p/>
        </p:txBody>
      </p:sp>
      <p:sp>
        <p:nvSpPr>
          <p:cNvPr id="15" name="Text 13"/>
          <p:cNvSpPr/>
          <p:nvPr/>
        </p:nvSpPr>
        <p:spPr>
          <a:xfrm>
            <a:off x="868680" y="3931920"/>
            <a:ext cx="10424160" cy="155448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Ghidul din 2025 enumeră afectarea cognitivă printre riscurile benzodiazepinelor, alături de căderi și de accidentele rutiere. Tocmai de aceea merită scăzută doza: treptat, nu de mâine.</a:t>
            </a:r>
            <a:endParaRPr lang="en-US" sz="1800" dirty="0"/>
          </a:p>
        </p:txBody>
      </p:sp>
      <p:sp>
        <p:nvSpPr>
          <p:cNvPr id="16" name="Text 14"/>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ghidul clinic comun din 2025.</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PASTILELE DE SOMN</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Cele care nu sunt benzodiazepine</a:t>
            </a:r>
            <a:endParaRPr lang="en-US" sz="3200" dirty="0"/>
          </a:p>
        </p:txBody>
      </p:sp>
      <p:sp>
        <p:nvSpPr>
          <p:cNvPr id="4" name="Text 2"/>
          <p:cNvSpPr/>
          <p:nvPr/>
        </p:nvSpPr>
        <p:spPr>
          <a:xfrm>
            <a:off x="594360" y="1417320"/>
            <a:ext cx="5669280" cy="118872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Zolpidem, zopiclonă, eszopiclonă, zaleplon: „medicamentele Z”. Altă structură chimică; mecanisme și riscuri asemănătoare.</a:t>
            </a:r>
            <a:endParaRPr lang="en-US" sz="1700" dirty="0"/>
          </a:p>
        </p:txBody>
      </p:sp>
      <p:sp>
        <p:nvSpPr>
          <p:cNvPr id="5" name="Text 3"/>
          <p:cNvSpPr/>
          <p:nvPr/>
        </p:nvSpPr>
        <p:spPr>
          <a:xfrm>
            <a:off x="594360" y="2697480"/>
            <a:ext cx="2103120" cy="1280160"/>
          </a:xfrm>
          <a:prstGeom prst="rect">
            <a:avLst/>
          </a:prstGeom>
          <a:noFill/>
          <a:ln/>
        </p:spPr>
        <p:txBody>
          <a:bodyPr wrap="square" lIns="0" tIns="0" rIns="0" bIns="0" rtlCol="0" anchor="ctr"/>
          <a:lstStyle/>
          <a:p>
            <a:pPr indent="0" marL="0">
              <a:buNone/>
            </a:pPr>
            <a:r>
              <a:rPr lang="en-US" sz="8000" b="1" dirty="0">
                <a:solidFill>
                  <a:srgbClr val="FF4757"/>
                </a:solidFill>
                <a:latin typeface="Palatino Linotype" pitchFamily="34" charset="0"/>
                <a:ea typeface="Palatino Linotype" pitchFamily="34" charset="-122"/>
                <a:cs typeface="Palatino Linotype" pitchFamily="34" charset="-120"/>
              </a:rPr>
              <a:t>66</a:t>
            </a:r>
            <a:endParaRPr lang="en-US" sz="8000" dirty="0"/>
          </a:p>
        </p:txBody>
      </p:sp>
      <p:sp>
        <p:nvSpPr>
          <p:cNvPr id="6" name="Text 4"/>
          <p:cNvSpPr/>
          <p:nvPr/>
        </p:nvSpPr>
        <p:spPr>
          <a:xfrm>
            <a:off x="2743200" y="2743200"/>
            <a:ext cx="3520440" cy="128016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de cazuri cu leziuni grave, inclusiv decese, în 26 de ani: mers sau condus fără ca pacientul să fie complet treaz.</a:t>
            </a:r>
            <a:endParaRPr lang="en-US" sz="1500" dirty="0"/>
          </a:p>
        </p:txBody>
      </p:sp>
      <p:sp>
        <p:nvSpPr>
          <p:cNvPr id="7" name="Text 5"/>
          <p:cNvSpPr/>
          <p:nvPr/>
        </p:nvSpPr>
        <p:spPr>
          <a:xfrm>
            <a:off x="594360" y="4206240"/>
            <a:ext cx="5669280" cy="914400"/>
          </a:xfrm>
          <a:prstGeom prst="rect">
            <a:avLst/>
          </a:prstGeom>
          <a:noFill/>
          <a:ln/>
        </p:spPr>
        <p:txBody>
          <a:bodyPr wrap="square" lIns="0" tIns="0" rIns="0" bIns="0" rtlCol="0" anchor="t"/>
          <a:lstStyle/>
          <a:p>
            <a:pPr indent="0" marL="0">
              <a:buNone/>
            </a:pPr>
            <a:r>
              <a:rPr lang="en-US" sz="1450" i="1" dirty="0">
                <a:solidFill>
                  <a:srgbClr val="959BB0"/>
                </a:solidFill>
                <a:latin typeface="Palatino Linotype" pitchFamily="34" charset="0"/>
                <a:ea typeface="Palatino Linotype" pitchFamily="34" charset="-122"/>
                <a:cs typeface="Palatino Linotype" pitchFamily="34" charset="-120"/>
              </a:rPr>
              <a:t>FDA, 2019: avertismentul cel mai vizibil din informațiile de prescriere. Zopiclona nu intră în comunicarea americană.</a:t>
            </a:r>
            <a:endParaRPr lang="en-US" sz="1450" dirty="0"/>
          </a:p>
        </p:txBody>
      </p:sp>
      <p:sp>
        <p:nvSpPr>
          <p:cNvPr id="8" name="Shape 6"/>
          <p:cNvSpPr/>
          <p:nvPr/>
        </p:nvSpPr>
        <p:spPr>
          <a:xfrm>
            <a:off x="6583680" y="1463040"/>
            <a:ext cx="4983480" cy="3657600"/>
          </a:xfrm>
          <a:prstGeom prst="roundRect">
            <a:avLst>
              <a:gd name="adj" fmla="val 2250"/>
            </a:avLst>
          </a:prstGeom>
          <a:solidFill>
            <a:srgbClr val="1D1F2B"/>
          </a:solidFill>
          <a:ln w="12700">
            <a:solidFill>
              <a:srgbClr val="1D1F2B"/>
            </a:solidFill>
            <a:prstDash val="solid"/>
          </a:ln>
        </p:spPr>
        <p:txBody>
          <a:bodyPr/>
          <a:p/>
        </p:txBody>
      </p:sp>
      <p:sp>
        <p:nvSpPr>
          <p:cNvPr id="9" name="Text 7"/>
          <p:cNvSpPr/>
          <p:nvPr/>
        </p:nvSpPr>
        <p:spPr>
          <a:xfrm>
            <a:off x="6858000" y="1645920"/>
            <a:ext cx="4480560" cy="292608"/>
          </a:xfrm>
          <a:prstGeom prst="rect">
            <a:avLst/>
          </a:prstGeom>
          <a:noFill/>
          <a:ln/>
        </p:spPr>
        <p:txBody>
          <a:bodyPr wrap="square" lIns="0" tIns="0" rIns="0" bIns="0" rtlCol="0" anchor="t"/>
          <a:lstStyle/>
          <a:p>
            <a:pPr indent="0" marL="0">
              <a:buNone/>
            </a:pPr>
            <a:r>
              <a:rPr lang="en-US" sz="1250" b="1" spc="200" kern="0" dirty="0">
                <a:solidFill>
                  <a:srgbClr val="27D3BE"/>
                </a:solidFill>
                <a:latin typeface="Palatino Linotype" pitchFamily="34" charset="0"/>
                <a:ea typeface="Palatino Linotype" pitchFamily="34" charset="-122"/>
                <a:cs typeface="Palatino Linotype" pitchFamily="34" charset="-120"/>
              </a:rPr>
              <a:t>CE ÎI SPUNEȚI PACIENTULUI</a:t>
            </a:r>
            <a:endParaRPr lang="en-US" sz="1250" dirty="0"/>
          </a:p>
        </p:txBody>
      </p:sp>
      <p:sp>
        <p:nvSpPr>
          <p:cNvPr id="10" name="Text 8"/>
          <p:cNvSpPr/>
          <p:nvPr/>
        </p:nvSpPr>
        <p:spPr>
          <a:xfrm>
            <a:off x="6858000" y="2057400"/>
            <a:ext cx="4480560" cy="2011680"/>
          </a:xfrm>
          <a:prstGeom prst="rect">
            <a:avLst/>
          </a:prstGeom>
          <a:noFill/>
          <a:ln/>
        </p:spPr>
        <p:txBody>
          <a:bodyPr wrap="square" lIns="0" tIns="0" rIns="0" bIns="0" rtlCol="0" anchor="t"/>
          <a:lstStyle/>
          <a:p>
            <a:pPr indent="0" marL="0">
              <a:buNone/>
            </a:pPr>
            <a:r>
              <a:rPr lang="en-US" sz="1900" b="1" i="1" dirty="0">
                <a:solidFill>
                  <a:srgbClr val="FFFFFF"/>
                </a:solidFill>
                <a:latin typeface="Palatino Linotype" pitchFamily="34" charset="0"/>
                <a:ea typeface="Palatino Linotype" pitchFamily="34" charset="-122"/>
                <a:cs typeface="Palatino Linotype" pitchFamily="34" charset="-120"/>
              </a:rPr>
              <a:t>„Dacă v-ați trezit vreodată făcând ceva fără să vă amintiți, opriți medicamentul și spuneți imediat medicului.”</a:t>
            </a:r>
            <a:endParaRPr lang="en-US" sz="1900" dirty="0"/>
          </a:p>
        </p:txBody>
      </p:sp>
      <p:sp>
        <p:nvSpPr>
          <p:cNvPr id="11" name="Text 9"/>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Surse: ghidul clinic comun din 2025; FDA, comunicarea din 2019.</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PE PIAȚA ILEGALĂ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Benzodiazepinele care nu sunt medicamente</a:t>
            </a:r>
            <a:endParaRPr lang="en-US" sz="3000" dirty="0"/>
          </a:p>
        </p:txBody>
      </p:sp>
      <p:sp>
        <p:nvSpPr>
          <p:cNvPr id="4" name="Shape 2"/>
          <p:cNvSpPr/>
          <p:nvPr/>
        </p:nvSpPr>
        <p:spPr>
          <a:xfrm>
            <a:off x="594360" y="1463040"/>
            <a:ext cx="3520440" cy="1920240"/>
          </a:xfrm>
          <a:prstGeom prst="roundRect">
            <a:avLst>
              <a:gd name="adj" fmla="val 4286"/>
            </a:avLst>
          </a:prstGeom>
          <a:solidFill>
            <a:srgbClr val="ECEAE4"/>
          </a:solidFill>
          <a:ln w="12700">
            <a:solidFill>
              <a:srgbClr val="ECEAE4"/>
            </a:solidFill>
            <a:prstDash val="solid"/>
          </a:ln>
        </p:spPr>
        <p:txBody>
          <a:bodyPr/>
          <a:p/>
        </p:txBody>
      </p:sp>
      <p:sp>
        <p:nvSpPr>
          <p:cNvPr id="5" name="Text 3"/>
          <p:cNvSpPr/>
          <p:nvPr/>
        </p:nvSpPr>
        <p:spPr>
          <a:xfrm>
            <a:off x="868680" y="1572768"/>
            <a:ext cx="2971800" cy="960120"/>
          </a:xfrm>
          <a:prstGeom prst="rect">
            <a:avLst/>
          </a:prstGeom>
          <a:noFill/>
          <a:ln/>
        </p:spPr>
        <p:txBody>
          <a:bodyPr wrap="square" lIns="0" tIns="0" rIns="0" bIns="0" rtlCol="0" anchor="ctr"/>
          <a:lstStyle/>
          <a:p>
            <a:pPr indent="0" marL="0">
              <a:buNone/>
            </a:pPr>
            <a:r>
              <a:rPr lang="en-US" sz="4800" b="1" dirty="0">
                <a:solidFill>
                  <a:srgbClr val="B02532"/>
                </a:solidFill>
                <a:latin typeface="Palatino Linotype" pitchFamily="34" charset="0"/>
                <a:ea typeface="Palatino Linotype" pitchFamily="34" charset="-122"/>
                <a:cs typeface="Palatino Linotype" pitchFamily="34" charset="-120"/>
              </a:rPr>
              <a:t>40</a:t>
            </a:r>
            <a:endParaRPr lang="en-US" sz="4800" dirty="0"/>
          </a:p>
        </p:txBody>
      </p:sp>
      <p:sp>
        <p:nvSpPr>
          <p:cNvPr id="6" name="Text 4"/>
          <p:cNvSpPr/>
          <p:nvPr/>
        </p:nvSpPr>
        <p:spPr>
          <a:xfrm>
            <a:off x="868680" y="2441448"/>
            <a:ext cx="2971800" cy="883310"/>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benzodiazepine noi notificate sistemului european de avertizare, 2007–2025</a:t>
            </a:r>
            <a:endParaRPr lang="en-US" sz="1200" dirty="0"/>
          </a:p>
        </p:txBody>
      </p:sp>
      <p:sp>
        <p:nvSpPr>
          <p:cNvPr id="7" name="Shape 5"/>
          <p:cNvSpPr/>
          <p:nvPr/>
        </p:nvSpPr>
        <p:spPr>
          <a:xfrm>
            <a:off x="4343400" y="1463040"/>
            <a:ext cx="3520440" cy="1920240"/>
          </a:xfrm>
          <a:prstGeom prst="roundRect">
            <a:avLst>
              <a:gd name="adj" fmla="val 4286"/>
            </a:avLst>
          </a:prstGeom>
          <a:solidFill>
            <a:srgbClr val="ECEAE4"/>
          </a:solidFill>
          <a:ln w="12700">
            <a:solidFill>
              <a:srgbClr val="ECEAE4"/>
            </a:solidFill>
            <a:prstDash val="solid"/>
          </a:ln>
        </p:spPr>
        <p:txBody>
          <a:bodyPr/>
          <a:p/>
        </p:txBody>
      </p:sp>
      <p:sp>
        <p:nvSpPr>
          <p:cNvPr id="8" name="Text 6"/>
          <p:cNvSpPr/>
          <p:nvPr/>
        </p:nvSpPr>
        <p:spPr>
          <a:xfrm>
            <a:off x="4617720" y="1572768"/>
            <a:ext cx="2971800" cy="960120"/>
          </a:xfrm>
          <a:prstGeom prst="rect">
            <a:avLst/>
          </a:prstGeom>
          <a:noFill/>
          <a:ln/>
        </p:spPr>
        <p:txBody>
          <a:bodyPr wrap="square" lIns="0" tIns="0" rIns="0" bIns="0" rtlCol="0" anchor="ctr"/>
          <a:lstStyle/>
          <a:p>
            <a:pPr indent="0" marL="0">
              <a:buNone/>
            </a:pPr>
            <a:r>
              <a:rPr lang="en-US" sz="4800" b="1" dirty="0">
                <a:solidFill>
                  <a:srgbClr val="B02532"/>
                </a:solidFill>
                <a:latin typeface="Palatino Linotype" pitchFamily="34" charset="0"/>
                <a:ea typeface="Palatino Linotype" pitchFamily="34" charset="-122"/>
                <a:cs typeface="Palatino Linotype" pitchFamily="34" charset="-120"/>
              </a:rPr>
              <a:t>28</a:t>
            </a:r>
            <a:endParaRPr lang="en-US" sz="4800" dirty="0"/>
          </a:p>
        </p:txBody>
      </p:sp>
      <p:sp>
        <p:nvSpPr>
          <p:cNvPr id="9" name="Text 7"/>
          <p:cNvSpPr/>
          <p:nvPr/>
        </p:nvSpPr>
        <p:spPr>
          <a:xfrm>
            <a:off x="4617720" y="2441448"/>
            <a:ext cx="2971800" cy="883310"/>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dintre ele, pe piață în 2024, în 22 de state ale UE și în Norvegia</a:t>
            </a:r>
            <a:endParaRPr lang="en-US" sz="1200" dirty="0"/>
          </a:p>
        </p:txBody>
      </p:sp>
      <p:sp>
        <p:nvSpPr>
          <p:cNvPr id="10" name="Shape 8"/>
          <p:cNvSpPr/>
          <p:nvPr/>
        </p:nvSpPr>
        <p:spPr>
          <a:xfrm>
            <a:off x="8092440" y="1463040"/>
            <a:ext cx="3474720" cy="1920240"/>
          </a:xfrm>
          <a:prstGeom prst="roundRect">
            <a:avLst>
              <a:gd name="adj" fmla="val 4286"/>
            </a:avLst>
          </a:prstGeom>
          <a:solidFill>
            <a:srgbClr val="E1F0EC"/>
          </a:solidFill>
          <a:ln w="12700">
            <a:solidFill>
              <a:srgbClr val="E1F0EC"/>
            </a:solidFill>
            <a:prstDash val="solid"/>
          </a:ln>
        </p:spPr>
        <p:txBody>
          <a:bodyPr/>
          <a:p/>
        </p:txBody>
      </p:sp>
      <p:sp>
        <p:nvSpPr>
          <p:cNvPr id="11" name="Text 9"/>
          <p:cNvSpPr/>
          <p:nvPr/>
        </p:nvSpPr>
        <p:spPr>
          <a:xfrm>
            <a:off x="8321040" y="1554480"/>
            <a:ext cx="3063240" cy="1737360"/>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Martie 2025: România trece bromazolamul în tabelele substanțelor controlate, odată cu tramadolul și cinolazepamul.</a:t>
            </a:r>
            <a:endParaRPr lang="en-US" sz="1450" dirty="0"/>
          </a:p>
        </p:txBody>
      </p:sp>
      <p:sp>
        <p:nvSpPr>
          <p:cNvPr id="12" name="Shape 10"/>
          <p:cNvSpPr/>
          <p:nvPr/>
        </p:nvSpPr>
        <p:spPr>
          <a:xfrm>
            <a:off x="594360" y="3657600"/>
            <a:ext cx="10972800" cy="1554480"/>
          </a:xfrm>
          <a:prstGeom prst="roundRect">
            <a:avLst>
              <a:gd name="adj" fmla="val 5294"/>
            </a:avLst>
          </a:prstGeom>
          <a:solidFill>
            <a:srgbClr val="F4E0E2"/>
          </a:solidFill>
          <a:ln w="12700">
            <a:solidFill>
              <a:srgbClr val="F4E0E2"/>
            </a:solidFill>
            <a:prstDash val="solid"/>
          </a:ln>
        </p:spPr>
        <p:txBody>
          <a:bodyPr/>
          <a:p/>
        </p:txBody>
      </p:sp>
      <p:sp>
        <p:nvSpPr>
          <p:cNvPr id="13" name="Text 11"/>
          <p:cNvSpPr/>
          <p:nvPr/>
        </p:nvSpPr>
        <p:spPr>
          <a:xfrm>
            <a:off x="868680" y="3657600"/>
            <a:ext cx="10424160" cy="1554480"/>
          </a:xfrm>
          <a:prstGeom prst="rect">
            <a:avLst/>
          </a:prstGeom>
          <a:noFill/>
          <a:ln/>
        </p:spPr>
        <p:txBody>
          <a:bodyPr wrap="square" lIns="0" tIns="0" rIns="0" bIns="0" rtlCol="0" anchor="ctr"/>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Supradoza cu opioide poate fi inversată cu naloxonă. Cea cu benzodiazepine cere un alt antidot, administrat în general numai în spital.</a:t>
            </a:r>
            <a:endParaRPr lang="en-US" sz="1900" dirty="0"/>
          </a:p>
        </p:txBody>
      </p:sp>
      <p:sp>
        <p:nvSpPr>
          <p:cNvPr id="14" name="Text 12"/>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EUDA, European Drug Report 2026.</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 CHAT · JUMĂTATE DE MINUT</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PARTEA ÎNTÂI · ÎNCHEIERE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Ce îi spuneți mâine unui coleg</a:t>
            </a:r>
            <a:endParaRPr lang="en-US" sz="3400" dirty="0"/>
          </a:p>
        </p:txBody>
      </p:sp>
      <p:sp>
        <p:nvSpPr>
          <p:cNvPr id="6" name="Shape 4"/>
          <p:cNvSpPr/>
          <p:nvPr/>
        </p:nvSpPr>
        <p:spPr>
          <a:xfrm>
            <a:off x="594360" y="1828800"/>
            <a:ext cx="73152" cy="3291840"/>
          </a:xfrm>
          <a:prstGeom prst="rect">
            <a:avLst/>
          </a:prstGeom>
          <a:solidFill>
            <a:srgbClr val="27D3BE"/>
          </a:solidFill>
          <a:ln w="12700">
            <a:solidFill>
              <a:srgbClr val="27D3BE"/>
            </a:solidFill>
            <a:prstDash val="solid"/>
          </a:ln>
        </p:spPr>
        <p:txBody>
          <a:bodyPr/>
          <a:p/>
        </p:txBody>
      </p:sp>
      <p:sp>
        <p:nvSpPr>
          <p:cNvPr id="7" name="Text 5"/>
          <p:cNvSpPr/>
          <p:nvPr/>
        </p:nvSpPr>
        <p:spPr>
          <a:xfrm>
            <a:off x="960120" y="1828800"/>
            <a:ext cx="10515600" cy="3291840"/>
          </a:xfrm>
          <a:prstGeom prst="rect">
            <a:avLst/>
          </a:prstGeom>
          <a:noFill/>
          <a:ln/>
        </p:spPr>
        <p:txBody>
          <a:bodyPr wrap="square" lIns="0" tIns="0" rIns="0" bIns="0" rtlCol="0" anchor="ctr"/>
          <a:lstStyle/>
          <a:p>
            <a:pPr indent="0" marL="0">
              <a:buNone/>
            </a:pPr>
            <a:r>
              <a:rPr lang="en-US" sz="2300" i="1" dirty="0">
                <a:solidFill>
                  <a:srgbClr val="FFFFFF"/>
                </a:solidFill>
                <a:latin typeface="Palatino Linotype" pitchFamily="34" charset="0"/>
                <a:ea typeface="Palatino Linotype" pitchFamily="34" charset="-122"/>
                <a:cs typeface="Palatino Linotype" pitchFamily="34" charset="-120"/>
              </a:rPr>
              <a:t>„Benzodiazepina pe care o scrii azi pentru câteva săptămâni poate produce dependență fizică chiar dacă pacientul o ia corect. Programează-l înapoi într-o lună. Iar dacă o ia de ani de zile, nu i-o opri brusc: scade-o încet, cu un plan.”</a:t>
            </a:r>
            <a:endParaRPr lang="en-US" sz="2300" dirty="0"/>
          </a:p>
        </p:txBody>
      </p:sp>
      <p:sp>
        <p:nvSpPr>
          <p:cNvPr id="8" name="Text 6"/>
          <p:cNvSpPr/>
          <p:nvPr/>
        </p:nvSpPr>
        <p:spPr>
          <a:xfrm>
            <a:off x="594360" y="5486400"/>
            <a:ext cx="10972800" cy="41148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Scrieți-o în chat, cu cuvintele voastre.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PARTEA A DOUA · DUREREA DUPĂ OPERAȚIE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„Încă o cutie de opioid”, la trei luni după operație. Ce faceți?</a:t>
            </a:r>
            <a:endParaRPr lang="en-US" sz="2800" dirty="0"/>
          </a:p>
        </p:txBody>
      </p:sp>
      <p:sp>
        <p:nvSpPr>
          <p:cNvPr id="6" name="Shape 4"/>
          <p:cNvSpPr/>
          <p:nvPr/>
        </p:nvSpPr>
        <p:spPr>
          <a:xfrm>
            <a:off x="594360" y="1691640"/>
            <a:ext cx="10972800" cy="777240"/>
          </a:xfrm>
          <a:prstGeom prst="roundRect">
            <a:avLst>
              <a:gd name="adj" fmla="val 10588"/>
            </a:avLst>
          </a:prstGeom>
          <a:solidFill>
            <a:srgbClr val="1D1F2B"/>
          </a:solidFill>
          <a:ln w="12700">
            <a:solidFill>
              <a:srgbClr val="1D1F2B"/>
            </a:solidFill>
            <a:prstDash val="solid"/>
          </a:ln>
        </p:spPr>
        <p:txBody>
          <a:bodyPr/>
          <a:p/>
        </p:txBody>
      </p:sp>
      <p:sp>
        <p:nvSpPr>
          <p:cNvPr id="7" name="Shape 5"/>
          <p:cNvSpPr/>
          <p:nvPr/>
        </p:nvSpPr>
        <p:spPr>
          <a:xfrm>
            <a:off x="914400" y="1869948"/>
            <a:ext cx="420624" cy="420624"/>
          </a:xfrm>
          <a:prstGeom prst="ellipse">
            <a:avLst/>
          </a:prstGeom>
          <a:solidFill>
            <a:srgbClr val="FFC24B"/>
          </a:solidFill>
          <a:ln/>
        </p:spPr>
        <p:txBody>
          <a:bodyPr/>
          <a:p/>
        </p:txBody>
      </p:sp>
      <p:sp>
        <p:nvSpPr>
          <p:cNvPr id="8" name="Text 6"/>
          <p:cNvSpPr/>
          <p:nvPr/>
        </p:nvSpPr>
        <p:spPr>
          <a:xfrm>
            <a:off x="914400" y="18699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1691640"/>
            <a:ext cx="9692640" cy="77724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Scrieți rețeta: durerea e reală.</a:t>
            </a:r>
            <a:endParaRPr lang="en-US" sz="1650" dirty="0"/>
          </a:p>
        </p:txBody>
      </p:sp>
      <p:sp>
        <p:nvSpPr>
          <p:cNvPr id="10" name="Shape 8"/>
          <p:cNvSpPr/>
          <p:nvPr/>
        </p:nvSpPr>
        <p:spPr>
          <a:xfrm>
            <a:off x="594360" y="2587752"/>
            <a:ext cx="10972800" cy="777240"/>
          </a:xfrm>
          <a:prstGeom prst="roundRect">
            <a:avLst>
              <a:gd name="adj" fmla="val 10588"/>
            </a:avLst>
          </a:prstGeom>
          <a:solidFill>
            <a:srgbClr val="1D1F2B"/>
          </a:solidFill>
          <a:ln w="12700">
            <a:solidFill>
              <a:srgbClr val="1D1F2B"/>
            </a:solidFill>
            <a:prstDash val="solid"/>
          </a:ln>
        </p:spPr>
        <p:txBody>
          <a:bodyPr/>
          <a:p/>
        </p:txBody>
      </p:sp>
      <p:sp>
        <p:nvSpPr>
          <p:cNvPr id="11" name="Shape 9"/>
          <p:cNvSpPr/>
          <p:nvPr/>
        </p:nvSpPr>
        <p:spPr>
          <a:xfrm>
            <a:off x="914400" y="2766060"/>
            <a:ext cx="420624" cy="420624"/>
          </a:xfrm>
          <a:prstGeom prst="ellipse">
            <a:avLst/>
          </a:prstGeom>
          <a:solidFill>
            <a:srgbClr val="FFC24B"/>
          </a:solidFill>
          <a:ln/>
        </p:spPr>
        <p:txBody>
          <a:bodyPr/>
          <a:p/>
        </p:txBody>
      </p:sp>
      <p:sp>
        <p:nvSpPr>
          <p:cNvPr id="12" name="Text 10"/>
          <p:cNvSpPr/>
          <p:nvPr/>
        </p:nvSpPr>
        <p:spPr>
          <a:xfrm>
            <a:off x="914400" y="27660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2587752"/>
            <a:ext cx="9692640" cy="77724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Refuzați și îl trimiteți acasă.</a:t>
            </a:r>
            <a:endParaRPr lang="en-US" sz="1650" dirty="0"/>
          </a:p>
        </p:txBody>
      </p:sp>
      <p:sp>
        <p:nvSpPr>
          <p:cNvPr id="14" name="Shape 12"/>
          <p:cNvSpPr/>
          <p:nvPr/>
        </p:nvSpPr>
        <p:spPr>
          <a:xfrm>
            <a:off x="594360" y="3483864"/>
            <a:ext cx="10972800" cy="777240"/>
          </a:xfrm>
          <a:prstGeom prst="roundRect">
            <a:avLst>
              <a:gd name="adj" fmla="val 10588"/>
            </a:avLst>
          </a:prstGeom>
          <a:solidFill>
            <a:srgbClr val="1D1F2B"/>
          </a:solidFill>
          <a:ln w="12700">
            <a:solidFill>
              <a:srgbClr val="1D1F2B"/>
            </a:solidFill>
            <a:prstDash val="solid"/>
          </a:ln>
        </p:spPr>
        <p:txBody>
          <a:bodyPr/>
          <a:p/>
        </p:txBody>
      </p:sp>
      <p:sp>
        <p:nvSpPr>
          <p:cNvPr id="15" name="Shape 13"/>
          <p:cNvSpPr/>
          <p:nvPr/>
        </p:nvSpPr>
        <p:spPr>
          <a:xfrm>
            <a:off x="914400" y="3662172"/>
            <a:ext cx="420624" cy="420624"/>
          </a:xfrm>
          <a:prstGeom prst="ellipse">
            <a:avLst/>
          </a:prstGeom>
          <a:solidFill>
            <a:srgbClr val="FFC24B"/>
          </a:solidFill>
          <a:ln/>
        </p:spPr>
        <p:txBody>
          <a:bodyPr/>
          <a:p/>
        </p:txBody>
      </p:sp>
      <p:sp>
        <p:nvSpPr>
          <p:cNvPr id="16" name="Text 14"/>
          <p:cNvSpPr/>
          <p:nvPr/>
        </p:nvSpPr>
        <p:spPr>
          <a:xfrm>
            <a:off x="914400" y="36621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3483864"/>
            <a:ext cx="9692640" cy="77724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Reevaluați durerea și funcția, discutați tratamente fără opioide și, dacă e nevoie de opioid, stabiliți împreună ținte și o durată.</a:t>
            </a:r>
            <a:endParaRPr lang="en-US" sz="1650" dirty="0"/>
          </a:p>
        </p:txBody>
      </p:sp>
      <p:sp>
        <p:nvSpPr>
          <p:cNvPr id="18" name="Shape 16"/>
          <p:cNvSpPr/>
          <p:nvPr/>
        </p:nvSpPr>
        <p:spPr>
          <a:xfrm>
            <a:off x="594360" y="4379976"/>
            <a:ext cx="10972800" cy="777240"/>
          </a:xfrm>
          <a:prstGeom prst="roundRect">
            <a:avLst>
              <a:gd name="adj" fmla="val 10588"/>
            </a:avLst>
          </a:prstGeom>
          <a:solidFill>
            <a:srgbClr val="1D1F2B"/>
          </a:solidFill>
          <a:ln w="12700">
            <a:solidFill>
              <a:srgbClr val="1D1F2B"/>
            </a:solidFill>
            <a:prstDash val="solid"/>
          </a:ln>
        </p:spPr>
        <p:txBody>
          <a:bodyPr/>
          <a:p/>
        </p:txBody>
      </p:sp>
      <p:sp>
        <p:nvSpPr>
          <p:cNvPr id="19" name="Shape 17"/>
          <p:cNvSpPr/>
          <p:nvPr/>
        </p:nvSpPr>
        <p:spPr>
          <a:xfrm>
            <a:off x="914400" y="4558284"/>
            <a:ext cx="420624" cy="420624"/>
          </a:xfrm>
          <a:prstGeom prst="ellipse">
            <a:avLst/>
          </a:prstGeom>
          <a:solidFill>
            <a:srgbClr val="FFC24B"/>
          </a:solidFill>
          <a:ln/>
        </p:spPr>
        <p:txBody>
          <a:bodyPr/>
          <a:p/>
        </p:txBody>
      </p:sp>
      <p:sp>
        <p:nvSpPr>
          <p:cNvPr id="20" name="Text 18"/>
          <p:cNvSpPr/>
          <p:nvPr/>
        </p:nvSpPr>
        <p:spPr>
          <a:xfrm>
            <a:off x="914400" y="45582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600200" y="4379976"/>
            <a:ext cx="9692640" cy="77724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Nu știu.</a:t>
            </a:r>
            <a:endParaRPr lang="en-US" sz="1650" dirty="0"/>
          </a:p>
        </p:txBody>
      </p:sp>
      <p:sp>
        <p:nvSpPr>
          <p:cNvPr id="22" name="Text 20"/>
          <p:cNvSpPr/>
          <p:nvPr/>
        </p:nvSpPr>
        <p:spPr>
          <a:xfrm>
            <a:off x="594360" y="5440680"/>
            <a:ext cx="8595360" cy="41148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Răspundeți pe telefon, la codul afișat.</a:t>
            </a:r>
            <a:endParaRPr lang="en-US" sz="1600" dirty="0"/>
          </a:p>
        </p:txBody>
      </p:sp>
      <p:sp>
        <p:nvSpPr>
          <p:cNvPr id="23" name="Shape 21"/>
          <p:cNvSpPr/>
          <p:nvPr/>
        </p:nvSpPr>
        <p:spPr>
          <a:xfrm>
            <a:off x="9738360" y="5257800"/>
            <a:ext cx="1828800" cy="1325880"/>
          </a:xfrm>
          <a:prstGeom prst="roundRect">
            <a:avLst>
              <a:gd name="adj" fmla="val 6207"/>
            </a:avLst>
          </a:prstGeom>
          <a:solidFill>
            <a:srgbClr val="FFFFFF"/>
          </a:solidFill>
          <a:ln w="12700">
            <a:solidFill>
              <a:srgbClr val="FFFFFF"/>
            </a:solidFill>
            <a:prstDash val="solid"/>
          </a:ln>
        </p:spPr>
        <p:txBody>
          <a:bodyPr/>
          <a:p/>
        </p:txBody>
      </p:sp>
      <p:pic>
        <p:nvPicPr>
          <p:cNvPr id="24" name="Picture 23" descr="Mentimeter_OPT_DROGURI_C04.png"/>
          <p:cNvPicPr>
            <a:picLocks noChangeAspect="1"/>
          </p:cNvPicPr>
          <p:nvPr/>
        </p:nvPicPr>
        <p:blipFill>
          <a:blip r:embed="rId3"/>
          <a:stretch>
            <a:fillRect/>
          </a:stretch>
        </p:blipFill>
        <p:spPr>
          <a:xfrm>
            <a:off x="10206989" y="5257800"/>
            <a:ext cx="891541" cy="891541"/>
          </a:xfrm>
          <a:prstGeom prst="rect">
            <a:avLst/>
          </a:prstGeom>
        </p:spPr>
      </p:pic>
      <p:sp>
        <p:nvSpPr>
          <p:cNvPr id="25" name="TextBox 24"/>
          <p:cNvSpPr txBox="1"/>
          <p:nvPr/>
        </p:nvSpPr>
        <p:spPr>
          <a:xfrm>
            <a:off x="9738360" y="6187441"/>
            <a:ext cx="1828800" cy="434339"/>
          </a:xfrm>
          <a:prstGeom prst="rect">
            <a:avLst/>
          </a:prstGeom>
          <a:noFill/>
        </p:spPr>
        <p:txBody>
          <a:bodyPr wrap="square" lIns="0" rIns="0" tIns="0" bIns="0" anchor="t">
            <a:spAutoFit/>
          </a:bodyPr>
          <a:lstStyle/>
          <a:p>
            <a:pPr algn="ctr"/>
            <a:r>
              <a:rPr sz="900" b="1">
                <a:solidFill>
                  <a:srgbClr val="B02532"/>
                </a:solidFill>
                <a:latin typeface="Palatino Linotype"/>
              </a:rPr>
              <a:t>menti.com</a:t>
            </a:r>
          </a:p>
          <a:p>
            <a:pPr algn="ctr"/>
            <a:r>
              <a:rPr sz="900" b="1">
                <a:solidFill>
                  <a:srgbClr val="B02532"/>
                </a:solidFill>
                <a:latin typeface="Palatino Linotype"/>
              </a:rPr>
              <a:t>anonim, fără cont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GHIDUL CDC DIN 2022</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Varianta C urmează ghidul</a:t>
            </a:r>
            <a:endParaRPr lang="en-US" sz="3200" dirty="0"/>
          </a:p>
        </p:txBody>
      </p:sp>
      <p:sp>
        <p:nvSpPr>
          <p:cNvPr id="4" name="Shape 2"/>
          <p:cNvSpPr/>
          <p:nvPr/>
        </p:nvSpPr>
        <p:spPr>
          <a:xfrm>
            <a:off x="594360" y="1463040"/>
            <a:ext cx="10972800" cy="694944"/>
          </a:xfrm>
          <a:prstGeom prst="roundRect">
            <a:avLst>
              <a:gd name="adj" fmla="val 11842"/>
            </a:avLst>
          </a:prstGeom>
          <a:solidFill>
            <a:srgbClr val="ECEAE4"/>
          </a:solidFill>
          <a:ln w="12700">
            <a:solidFill>
              <a:srgbClr val="ECEAE4"/>
            </a:solidFill>
            <a:prstDash val="solid"/>
          </a:ln>
        </p:spPr>
        <p:txBody>
          <a:bodyPr/>
          <a:p/>
        </p:txBody>
      </p:sp>
      <p:sp>
        <p:nvSpPr>
          <p:cNvPr id="5" name="Shape 3"/>
          <p:cNvSpPr/>
          <p:nvPr/>
        </p:nvSpPr>
        <p:spPr>
          <a:xfrm>
            <a:off x="914400" y="1600200"/>
            <a:ext cx="420624" cy="420624"/>
          </a:xfrm>
          <a:prstGeom prst="ellipse">
            <a:avLst/>
          </a:prstGeom>
          <a:solidFill>
            <a:srgbClr val="B02532"/>
          </a:solidFill>
          <a:ln/>
        </p:spPr>
        <p:txBody>
          <a:bodyPr/>
          <a:p/>
        </p:txBody>
      </p:sp>
      <p:sp>
        <p:nvSpPr>
          <p:cNvPr id="6" name="Text 4"/>
          <p:cNvSpPr/>
          <p:nvPr/>
        </p:nvSpPr>
        <p:spPr>
          <a:xfrm>
            <a:off x="914400" y="16002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1463040"/>
            <a:ext cx="9692640" cy="694944"/>
          </a:xfrm>
          <a:prstGeom prst="rect">
            <a:avLst/>
          </a:prstGeom>
          <a:noFill/>
          <a:ln/>
        </p:spPr>
        <p:txBody>
          <a:bodyPr wrap="square" lIns="0" tIns="0" rIns="0" bIns="0" rtlCol="0" anchor="ctr"/>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Durerea acută obișnuită: tratamentele fără opioide sunt cel puțin la fel de eficace.</a:t>
            </a:r>
            <a:endParaRPr lang="en-US" sz="1650" dirty="0"/>
          </a:p>
        </p:txBody>
      </p:sp>
      <p:sp>
        <p:nvSpPr>
          <p:cNvPr id="8" name="Shape 6"/>
          <p:cNvSpPr/>
          <p:nvPr/>
        </p:nvSpPr>
        <p:spPr>
          <a:xfrm>
            <a:off x="594360" y="2267712"/>
            <a:ext cx="10972800" cy="694944"/>
          </a:xfrm>
          <a:prstGeom prst="roundRect">
            <a:avLst>
              <a:gd name="adj" fmla="val 11842"/>
            </a:avLst>
          </a:prstGeom>
          <a:solidFill>
            <a:srgbClr val="ECEAE4"/>
          </a:solidFill>
          <a:ln w="12700">
            <a:solidFill>
              <a:srgbClr val="ECEAE4"/>
            </a:solidFill>
            <a:prstDash val="solid"/>
          </a:ln>
        </p:spPr>
        <p:txBody>
          <a:bodyPr/>
          <a:p/>
        </p:txBody>
      </p:sp>
      <p:sp>
        <p:nvSpPr>
          <p:cNvPr id="9" name="Shape 7"/>
          <p:cNvSpPr/>
          <p:nvPr/>
        </p:nvSpPr>
        <p:spPr>
          <a:xfrm>
            <a:off x="914400" y="2404872"/>
            <a:ext cx="420624" cy="420624"/>
          </a:xfrm>
          <a:prstGeom prst="ellipse">
            <a:avLst/>
          </a:prstGeom>
          <a:solidFill>
            <a:srgbClr val="B02532"/>
          </a:solidFill>
          <a:ln/>
        </p:spPr>
        <p:txBody>
          <a:bodyPr/>
          <a:p/>
        </p:txBody>
      </p:sp>
      <p:sp>
        <p:nvSpPr>
          <p:cNvPr id="10" name="Text 8"/>
          <p:cNvSpPr/>
          <p:nvPr/>
        </p:nvSpPr>
        <p:spPr>
          <a:xfrm>
            <a:off x="914400" y="24048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600200" y="2267712"/>
            <a:ext cx="9692640" cy="694944"/>
          </a:xfrm>
          <a:prstGeom prst="rect">
            <a:avLst/>
          </a:prstGeom>
          <a:noFill/>
          <a:ln/>
        </p:spPr>
        <p:txBody>
          <a:bodyPr wrap="square" lIns="0" tIns="0" rIns="0" bIns="0" rtlCol="0" anchor="ctr"/>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Durerea de câteva săptămâni sau luni: tratamentele fără opioide sunt preferate.</a:t>
            </a:r>
            <a:endParaRPr lang="en-US" sz="1650" dirty="0"/>
          </a:p>
        </p:txBody>
      </p:sp>
      <p:sp>
        <p:nvSpPr>
          <p:cNvPr id="12" name="Shape 10"/>
          <p:cNvSpPr/>
          <p:nvPr/>
        </p:nvSpPr>
        <p:spPr>
          <a:xfrm>
            <a:off x="594360" y="3072384"/>
            <a:ext cx="10972800" cy="694944"/>
          </a:xfrm>
          <a:prstGeom prst="roundRect">
            <a:avLst>
              <a:gd name="adj" fmla="val 11842"/>
            </a:avLst>
          </a:prstGeom>
          <a:solidFill>
            <a:srgbClr val="ECEAE4"/>
          </a:solidFill>
          <a:ln w="12700">
            <a:solidFill>
              <a:srgbClr val="ECEAE4"/>
            </a:solidFill>
            <a:prstDash val="solid"/>
          </a:ln>
        </p:spPr>
        <p:txBody>
          <a:bodyPr/>
          <a:p/>
        </p:txBody>
      </p:sp>
      <p:sp>
        <p:nvSpPr>
          <p:cNvPr id="13" name="Shape 11"/>
          <p:cNvSpPr/>
          <p:nvPr/>
        </p:nvSpPr>
        <p:spPr>
          <a:xfrm>
            <a:off x="914400" y="3209544"/>
            <a:ext cx="420624" cy="420624"/>
          </a:xfrm>
          <a:prstGeom prst="ellipse">
            <a:avLst/>
          </a:prstGeom>
          <a:solidFill>
            <a:srgbClr val="B02532"/>
          </a:solidFill>
          <a:ln/>
        </p:spPr>
        <p:txBody>
          <a:bodyPr/>
          <a:p/>
        </p:txBody>
      </p:sp>
      <p:sp>
        <p:nvSpPr>
          <p:cNvPr id="14" name="Text 12"/>
          <p:cNvSpPr/>
          <p:nvPr/>
        </p:nvSpPr>
        <p:spPr>
          <a:xfrm>
            <a:off x="914400" y="32095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600200" y="3072384"/>
            <a:ext cx="9692640" cy="694944"/>
          </a:xfrm>
          <a:prstGeom prst="rect">
            <a:avLst/>
          </a:prstGeom>
          <a:noFill/>
          <a:ln/>
        </p:spPr>
        <p:txBody>
          <a:bodyPr wrap="square" lIns="0" tIns="0" rIns="0" bIns="0" rtlCol="0" anchor="ctr"/>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Dacă e nevoie de opioid: cel mult cât cere durata așteptată a durerii severe.</a:t>
            </a:r>
            <a:endParaRPr lang="en-US" sz="1650" dirty="0"/>
          </a:p>
        </p:txBody>
      </p:sp>
      <p:sp>
        <p:nvSpPr>
          <p:cNvPr id="16" name="Shape 14"/>
          <p:cNvSpPr/>
          <p:nvPr/>
        </p:nvSpPr>
        <p:spPr>
          <a:xfrm>
            <a:off x="594360" y="3877056"/>
            <a:ext cx="10972800" cy="694944"/>
          </a:xfrm>
          <a:prstGeom prst="roundRect">
            <a:avLst>
              <a:gd name="adj" fmla="val 11842"/>
            </a:avLst>
          </a:prstGeom>
          <a:solidFill>
            <a:srgbClr val="ECEAE4"/>
          </a:solidFill>
          <a:ln w="12700">
            <a:solidFill>
              <a:srgbClr val="ECEAE4"/>
            </a:solidFill>
            <a:prstDash val="solid"/>
          </a:ln>
        </p:spPr>
        <p:txBody>
          <a:bodyPr/>
          <a:p/>
        </p:txBody>
      </p:sp>
      <p:sp>
        <p:nvSpPr>
          <p:cNvPr id="17" name="Shape 15"/>
          <p:cNvSpPr/>
          <p:nvPr/>
        </p:nvSpPr>
        <p:spPr>
          <a:xfrm>
            <a:off x="914400" y="4014216"/>
            <a:ext cx="420624" cy="420624"/>
          </a:xfrm>
          <a:prstGeom prst="ellipse">
            <a:avLst/>
          </a:prstGeom>
          <a:solidFill>
            <a:srgbClr val="B02532"/>
          </a:solidFill>
          <a:ln/>
        </p:spPr>
        <p:txBody>
          <a:bodyPr/>
          <a:p/>
        </p:txBody>
      </p:sp>
      <p:sp>
        <p:nvSpPr>
          <p:cNvPr id="18" name="Text 16"/>
          <p:cNvSpPr/>
          <p:nvPr/>
        </p:nvSpPr>
        <p:spPr>
          <a:xfrm>
            <a:off x="914400" y="401421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600200" y="3877056"/>
            <a:ext cx="9692640" cy="694944"/>
          </a:xfrm>
          <a:prstGeom prst="rect">
            <a:avLst/>
          </a:prstGeom>
          <a:noFill/>
          <a:ln/>
        </p:spPr>
        <p:txBody>
          <a:bodyPr wrap="square" lIns="0" tIns="0" rIns="0" bIns="0" rtlCol="0" anchor="ctr"/>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Înainte de un tratament continuu: ținte de durere și de funcție, stabilite împreună.</a:t>
            </a:r>
            <a:endParaRPr lang="en-US" sz="1650" dirty="0"/>
          </a:p>
        </p:txBody>
      </p:sp>
      <p:sp>
        <p:nvSpPr>
          <p:cNvPr id="20" name="Text 18"/>
          <p:cNvSpPr/>
          <p:nvPr/>
        </p:nvSpPr>
        <p:spPr>
          <a:xfrm>
            <a:off x="594360" y="4846320"/>
            <a:ext cx="10972800" cy="77724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Varianta B pare prudentă, dar îl lasă singur cu durerea și cu o dependență posibilă, fără plan.</a:t>
            </a:r>
            <a:endParaRPr lang="en-US" sz="1700" dirty="0"/>
          </a:p>
        </p:txBody>
      </p:sp>
      <p:sp>
        <p:nvSpPr>
          <p:cNvPr id="21" name="Text 19"/>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CDC, ghidul pentru prescrierea opioidelor în durere, 2022.</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STATELE UNITE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Trei valuri</a:t>
            </a:r>
            <a:endParaRPr lang="en-US" sz="3400" dirty="0"/>
          </a:p>
        </p:txBody>
      </p:sp>
      <p:sp>
        <p:nvSpPr>
          <p:cNvPr id="4" name="Shape 2"/>
          <p:cNvSpPr/>
          <p:nvPr/>
        </p:nvSpPr>
        <p:spPr>
          <a:xfrm>
            <a:off x="822960" y="2103120"/>
            <a:ext cx="10515600" cy="36576"/>
          </a:xfrm>
          <a:prstGeom prst="rect">
            <a:avLst/>
          </a:prstGeom>
          <a:solidFill>
            <a:srgbClr val="3A3E52"/>
          </a:solidFill>
          <a:ln w="12700">
            <a:solidFill>
              <a:srgbClr val="3A3E52"/>
            </a:solidFill>
            <a:prstDash val="solid"/>
          </a:ln>
        </p:spPr>
        <p:txBody>
          <a:bodyPr/>
          <a:p/>
        </p:txBody>
      </p:sp>
      <p:sp>
        <p:nvSpPr>
          <p:cNvPr id="5" name="Shape 3"/>
          <p:cNvSpPr/>
          <p:nvPr/>
        </p:nvSpPr>
        <p:spPr>
          <a:xfrm>
            <a:off x="822960" y="1965960"/>
            <a:ext cx="310896" cy="310896"/>
          </a:xfrm>
          <a:prstGeom prst="ellipse">
            <a:avLst/>
          </a:prstGeom>
          <a:solidFill>
            <a:srgbClr val="FFC24B"/>
          </a:solidFill>
          <a:ln w="25400">
            <a:solidFill>
              <a:srgbClr val="11121A"/>
            </a:solidFill>
            <a:prstDash val="solid"/>
          </a:ln>
        </p:spPr>
        <p:txBody>
          <a:bodyPr/>
          <a:p/>
        </p:txBody>
      </p:sp>
      <p:sp>
        <p:nvSpPr>
          <p:cNvPr id="6" name="Text 4"/>
          <p:cNvSpPr/>
          <p:nvPr/>
        </p:nvSpPr>
        <p:spPr>
          <a:xfrm>
            <a:off x="822960" y="1463040"/>
            <a:ext cx="3200400" cy="41148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anii 1990</a:t>
            </a:r>
            <a:endParaRPr lang="en-US" sz="2000" dirty="0"/>
          </a:p>
        </p:txBody>
      </p:sp>
      <p:sp>
        <p:nvSpPr>
          <p:cNvPr id="7" name="Text 5"/>
          <p:cNvSpPr/>
          <p:nvPr/>
        </p:nvSpPr>
        <p:spPr>
          <a:xfrm>
            <a:off x="822960" y="2468880"/>
            <a:ext cx="3291840" cy="1280160"/>
          </a:xfrm>
          <a:prstGeom prst="rect">
            <a:avLst/>
          </a:prstGeom>
          <a:noFill/>
          <a:ln/>
        </p:spPr>
        <p:txBody>
          <a:bodyPr wrap="square" lIns="0" tIns="0" rIns="0" bIns="0" rtlCol="0" anchor="t"/>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Primul val: crește prescrierea opioidelor; decesele cu opioide pe rețetă cresc din jurul anului 1999.</a:t>
            </a:r>
            <a:endParaRPr lang="en-US" sz="1550" dirty="0"/>
          </a:p>
        </p:txBody>
      </p:sp>
      <p:sp>
        <p:nvSpPr>
          <p:cNvPr id="8" name="Shape 6"/>
          <p:cNvSpPr/>
          <p:nvPr/>
        </p:nvSpPr>
        <p:spPr>
          <a:xfrm>
            <a:off x="4572000" y="1965960"/>
            <a:ext cx="310896" cy="310896"/>
          </a:xfrm>
          <a:prstGeom prst="ellipse">
            <a:avLst/>
          </a:prstGeom>
          <a:solidFill>
            <a:srgbClr val="FF4757"/>
          </a:solidFill>
          <a:ln w="25400">
            <a:solidFill>
              <a:srgbClr val="11121A"/>
            </a:solidFill>
            <a:prstDash val="solid"/>
          </a:ln>
        </p:spPr>
        <p:txBody>
          <a:bodyPr/>
          <a:p/>
        </p:txBody>
      </p:sp>
      <p:sp>
        <p:nvSpPr>
          <p:cNvPr id="9" name="Text 7"/>
          <p:cNvSpPr/>
          <p:nvPr/>
        </p:nvSpPr>
        <p:spPr>
          <a:xfrm>
            <a:off x="4572000" y="1463040"/>
            <a:ext cx="3200400" cy="411480"/>
          </a:xfrm>
          <a:prstGeom prst="rect">
            <a:avLst/>
          </a:prstGeom>
          <a:noFill/>
          <a:ln/>
        </p:spPr>
        <p:txBody>
          <a:bodyPr wrap="square" lIns="0" tIns="0" rIns="0" bIns="0" rtlCol="0" anchor="t"/>
          <a:lstStyle/>
          <a:p>
            <a:pPr indent="0" marL="0">
              <a:buNone/>
            </a:pPr>
            <a:r>
              <a:rPr lang="en-US" sz="2000" b="1" dirty="0">
                <a:solidFill>
                  <a:srgbClr val="FF4757"/>
                </a:solidFill>
                <a:latin typeface="Palatino Linotype" pitchFamily="34" charset="0"/>
                <a:ea typeface="Palatino Linotype" pitchFamily="34" charset="-122"/>
                <a:cs typeface="Palatino Linotype" pitchFamily="34" charset="-120"/>
              </a:rPr>
              <a:t>2010</a:t>
            </a:r>
            <a:endParaRPr lang="en-US" sz="2000" dirty="0"/>
          </a:p>
        </p:txBody>
      </p:sp>
      <p:sp>
        <p:nvSpPr>
          <p:cNvPr id="10" name="Text 8"/>
          <p:cNvSpPr/>
          <p:nvPr/>
        </p:nvSpPr>
        <p:spPr>
          <a:xfrm>
            <a:off x="4572000" y="2468880"/>
            <a:ext cx="3291840" cy="1280160"/>
          </a:xfrm>
          <a:prstGeom prst="rect">
            <a:avLst/>
          </a:prstGeom>
          <a:noFill/>
          <a:ln/>
        </p:spPr>
        <p:txBody>
          <a:bodyPr wrap="square" lIns="0" tIns="0" rIns="0" bIns="0" rtlCol="0" anchor="t"/>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Al doilea val: heroina.</a:t>
            </a:r>
            <a:endParaRPr lang="en-US" sz="1550" dirty="0"/>
          </a:p>
        </p:txBody>
      </p:sp>
      <p:sp>
        <p:nvSpPr>
          <p:cNvPr id="11" name="Shape 9"/>
          <p:cNvSpPr/>
          <p:nvPr/>
        </p:nvSpPr>
        <p:spPr>
          <a:xfrm>
            <a:off x="7863840" y="1965960"/>
            <a:ext cx="310896" cy="310896"/>
          </a:xfrm>
          <a:prstGeom prst="ellipse">
            <a:avLst/>
          </a:prstGeom>
          <a:solidFill>
            <a:srgbClr val="27D3BE"/>
          </a:solidFill>
          <a:ln w="25400">
            <a:solidFill>
              <a:srgbClr val="11121A"/>
            </a:solidFill>
            <a:prstDash val="solid"/>
          </a:ln>
        </p:spPr>
        <p:txBody>
          <a:bodyPr/>
          <a:p/>
        </p:txBody>
      </p:sp>
      <p:sp>
        <p:nvSpPr>
          <p:cNvPr id="12" name="Text 10"/>
          <p:cNvSpPr/>
          <p:nvPr/>
        </p:nvSpPr>
        <p:spPr>
          <a:xfrm>
            <a:off x="7863840" y="1463040"/>
            <a:ext cx="3200400" cy="411480"/>
          </a:xfrm>
          <a:prstGeom prst="rect">
            <a:avLst/>
          </a:prstGeom>
          <a:noFill/>
          <a:ln/>
        </p:spPr>
        <p:txBody>
          <a:bodyPr wrap="square" lIns="0" tIns="0" rIns="0" bIns="0" rtlCol="0" anchor="t"/>
          <a:lstStyle/>
          <a:p>
            <a:pPr indent="0" marL="0">
              <a:buNone/>
            </a:pPr>
            <a:r>
              <a:rPr lang="en-US" sz="2000" b="1" dirty="0">
                <a:solidFill>
                  <a:srgbClr val="27D3BE"/>
                </a:solidFill>
                <a:latin typeface="Palatino Linotype" pitchFamily="34" charset="0"/>
                <a:ea typeface="Palatino Linotype" pitchFamily="34" charset="-122"/>
                <a:cs typeface="Palatino Linotype" pitchFamily="34" charset="-120"/>
              </a:rPr>
              <a:t>2013</a:t>
            </a:r>
            <a:endParaRPr lang="en-US" sz="2000" dirty="0"/>
          </a:p>
        </p:txBody>
      </p:sp>
      <p:sp>
        <p:nvSpPr>
          <p:cNvPr id="13" name="Text 11"/>
          <p:cNvSpPr/>
          <p:nvPr/>
        </p:nvSpPr>
        <p:spPr>
          <a:xfrm>
            <a:off x="7863840" y="2468880"/>
            <a:ext cx="3291840" cy="1280160"/>
          </a:xfrm>
          <a:prstGeom prst="rect">
            <a:avLst/>
          </a:prstGeom>
          <a:noFill/>
          <a:ln/>
        </p:spPr>
        <p:txBody>
          <a:bodyPr wrap="square" lIns="0" tIns="0" rIns="0" bIns="0" rtlCol="0" anchor="t"/>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Al treilea val: opioidele sintetice, mai ales fentanilul produs ilegal.</a:t>
            </a:r>
            <a:endParaRPr lang="en-US" sz="1550" dirty="0"/>
          </a:p>
        </p:txBody>
      </p:sp>
      <p:sp>
        <p:nvSpPr>
          <p:cNvPr id="14" name="Shape 12"/>
          <p:cNvSpPr/>
          <p:nvPr/>
        </p:nvSpPr>
        <p:spPr>
          <a:xfrm>
            <a:off x="594360" y="4023360"/>
            <a:ext cx="5349240" cy="1783080"/>
          </a:xfrm>
          <a:prstGeom prst="roundRect">
            <a:avLst>
              <a:gd name="adj" fmla="val 4615"/>
            </a:avLst>
          </a:prstGeom>
          <a:solidFill>
            <a:srgbClr val="1D1F2B"/>
          </a:solidFill>
          <a:ln w="12700">
            <a:solidFill>
              <a:srgbClr val="1D1F2B"/>
            </a:solidFill>
            <a:prstDash val="solid"/>
          </a:ln>
        </p:spPr>
        <p:txBody>
          <a:bodyPr/>
          <a:p/>
        </p:txBody>
      </p:sp>
      <p:sp>
        <p:nvSpPr>
          <p:cNvPr id="15" name="Text 13"/>
          <p:cNvSpPr/>
          <p:nvPr/>
        </p:nvSpPr>
        <p:spPr>
          <a:xfrm>
            <a:off x="868680" y="4133088"/>
            <a:ext cx="4800600" cy="891540"/>
          </a:xfrm>
          <a:prstGeom prst="rect">
            <a:avLst/>
          </a:prstGeom>
          <a:noFill/>
          <a:ln/>
        </p:spPr>
        <p:txBody>
          <a:bodyPr wrap="square" lIns="0" tIns="0" rIns="0" bIns="0" rtlCol="0" anchor="ctr"/>
          <a:lstStyle/>
          <a:p>
            <a:pPr indent="0" marL="0">
              <a:buNone/>
            </a:pPr>
            <a:r>
              <a:rPr lang="en-US" sz="4200" b="1" dirty="0">
                <a:solidFill>
                  <a:srgbClr val="FFC24B"/>
                </a:solidFill>
                <a:latin typeface="Palatino Linotype" pitchFamily="34" charset="0"/>
                <a:ea typeface="Palatino Linotype" pitchFamily="34" charset="-122"/>
                <a:cs typeface="Palatino Linotype" pitchFamily="34" charset="-120"/>
              </a:rPr>
              <a:t>806 000</a:t>
            </a:r>
            <a:endParaRPr lang="en-US" sz="4200" dirty="0"/>
          </a:p>
        </p:txBody>
      </p:sp>
      <p:sp>
        <p:nvSpPr>
          <p:cNvPr id="16" name="Text 14"/>
          <p:cNvSpPr/>
          <p:nvPr/>
        </p:nvSpPr>
        <p:spPr>
          <a:xfrm>
            <a:off x="868680" y="4933188"/>
            <a:ext cx="4800600" cy="820217"/>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de decese prin supradoză de opioide în Statele Unite, între 1999 și 2023</a:t>
            </a:r>
            <a:endParaRPr lang="en-US" sz="1200" dirty="0"/>
          </a:p>
        </p:txBody>
      </p:sp>
      <p:sp>
        <p:nvSpPr>
          <p:cNvPr id="17" name="Shape 15"/>
          <p:cNvSpPr/>
          <p:nvPr/>
        </p:nvSpPr>
        <p:spPr>
          <a:xfrm>
            <a:off x="6217920" y="4023360"/>
            <a:ext cx="5349240" cy="1783080"/>
          </a:xfrm>
          <a:prstGeom prst="roundRect">
            <a:avLst>
              <a:gd name="adj" fmla="val 4615"/>
            </a:avLst>
          </a:prstGeom>
          <a:solidFill>
            <a:srgbClr val="1D1F2B"/>
          </a:solidFill>
          <a:ln w="12700">
            <a:solidFill>
              <a:srgbClr val="1D1F2B"/>
            </a:solidFill>
            <a:prstDash val="solid"/>
          </a:ln>
        </p:spPr>
        <p:txBody>
          <a:bodyPr/>
          <a:p/>
        </p:txBody>
      </p:sp>
      <p:sp>
        <p:nvSpPr>
          <p:cNvPr id="18" name="Text 16"/>
          <p:cNvSpPr/>
          <p:nvPr/>
        </p:nvSpPr>
        <p:spPr>
          <a:xfrm>
            <a:off x="6492240" y="4133088"/>
            <a:ext cx="4800600" cy="891540"/>
          </a:xfrm>
          <a:prstGeom prst="rect">
            <a:avLst/>
          </a:prstGeom>
          <a:noFill/>
          <a:ln/>
        </p:spPr>
        <p:txBody>
          <a:bodyPr wrap="square" lIns="0" tIns="0" rIns="0" bIns="0" rtlCol="0" anchor="ctr"/>
          <a:lstStyle/>
          <a:p>
            <a:pPr indent="0" marL="0">
              <a:buNone/>
            </a:pPr>
            <a:r>
              <a:rPr lang="en-US" sz="4200" b="1" dirty="0">
                <a:solidFill>
                  <a:srgbClr val="FF4757"/>
                </a:solidFill>
                <a:latin typeface="Palatino Linotype" pitchFamily="34" charset="0"/>
                <a:ea typeface="Palatino Linotype" pitchFamily="34" charset="-122"/>
                <a:cs typeface="Palatino Linotype" pitchFamily="34" charset="-120"/>
              </a:rPr>
              <a:t>3 din 4</a:t>
            </a:r>
            <a:endParaRPr lang="en-US" sz="4200" dirty="0"/>
          </a:p>
        </p:txBody>
      </p:sp>
      <p:sp>
        <p:nvSpPr>
          <p:cNvPr id="19" name="Text 17"/>
          <p:cNvSpPr/>
          <p:nvPr/>
        </p:nvSpPr>
        <p:spPr>
          <a:xfrm>
            <a:off x="6492240" y="4933188"/>
            <a:ext cx="4800600" cy="820217"/>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decese prin supradoză au implicat un opioid în 2023</a:t>
            </a:r>
            <a:endParaRPr lang="en-US" sz="1200" dirty="0"/>
          </a:p>
        </p:txBody>
      </p:sp>
      <p:sp>
        <p:nvSpPr>
          <p:cNvPr id="20" name="Text 18"/>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CDC, pagina despre epidemia de opioide, actualizată în 2026.</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DINCOLO DE STATELE UNITE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spune OMS și ce se combină</a:t>
            </a:r>
            <a:endParaRPr lang="en-US" sz="3200" dirty="0"/>
          </a:p>
        </p:txBody>
      </p:sp>
      <p:sp>
        <p:nvSpPr>
          <p:cNvPr id="4" name="Shape 2"/>
          <p:cNvSpPr/>
          <p:nvPr/>
        </p:nvSpPr>
        <p:spPr>
          <a:xfrm>
            <a:off x="594360" y="1463040"/>
            <a:ext cx="5349240" cy="3108960"/>
          </a:xfrm>
          <a:prstGeom prst="roundRect">
            <a:avLst>
              <a:gd name="adj" fmla="val 2647"/>
            </a:avLst>
          </a:prstGeom>
          <a:solidFill>
            <a:srgbClr val="ECEAE4"/>
          </a:solidFill>
          <a:ln w="12700">
            <a:solidFill>
              <a:srgbClr val="ECEAE4"/>
            </a:solidFill>
            <a:prstDash val="solid"/>
          </a:ln>
        </p:spPr>
        <p:txBody>
          <a:bodyPr/>
          <a:p/>
        </p:txBody>
      </p:sp>
      <p:sp>
        <p:nvSpPr>
          <p:cNvPr id="5" name="Text 3"/>
          <p:cNvSpPr/>
          <p:nvPr/>
        </p:nvSpPr>
        <p:spPr>
          <a:xfrm>
            <a:off x="868680" y="1627632"/>
            <a:ext cx="4846320" cy="292608"/>
          </a:xfrm>
          <a:prstGeom prst="rect">
            <a:avLst/>
          </a:prstGeom>
          <a:noFill/>
          <a:ln/>
        </p:spPr>
        <p:txBody>
          <a:bodyPr wrap="square" lIns="0" tIns="0" rIns="0" bIns="0" rtlCol="0" anchor="t"/>
          <a:lstStyle/>
          <a:p>
            <a:pPr indent="0" marL="0">
              <a:buNone/>
            </a:pPr>
            <a:r>
              <a:rPr lang="en-US" sz="1250" b="1" spc="200" kern="0" dirty="0">
                <a:solidFill>
                  <a:srgbClr val="B02532"/>
                </a:solidFill>
                <a:latin typeface="Palatino Linotype" pitchFamily="34" charset="0"/>
                <a:ea typeface="Palatino Linotype" pitchFamily="34" charset="-122"/>
                <a:cs typeface="Palatino Linotype" pitchFamily="34" charset="-120"/>
              </a:rPr>
              <a:t>DE CE AU CRESCUT SUPRADOZELE</a:t>
            </a:r>
            <a:endParaRPr lang="en-US" sz="1250" dirty="0"/>
          </a:p>
        </p:txBody>
      </p:sp>
      <p:sp>
        <p:nvSpPr>
          <p:cNvPr id="6" name="Text 4"/>
          <p:cNvSpPr/>
          <p:nvPr/>
        </p:nvSpPr>
        <p:spPr>
          <a:xfrm>
            <a:off x="868680" y="2011680"/>
            <a:ext cx="4846320" cy="2377440"/>
          </a:xfrm>
          <a:prstGeom prst="rect">
            <a:avLst/>
          </a:prstGeom>
          <a:noFill/>
          <a:ln/>
        </p:spPr>
        <p:txBody>
          <a:bodyPr wrap="square" lIns="0" tIns="0" rIns="0" bIns="0" rtlCol="0" anchor="t"/>
          <a:lstStyle/>
          <a:p>
            <a:pPr marL="342900" indent="-342900">
              <a:spcAft>
                <a:spcPts val="800"/>
              </a:spcAft>
              <a:buSzPct val="100000"/>
              <a:buChar char="•"/>
            </a:pPr>
            <a:r>
              <a:rPr lang="en-US" sz="1650" dirty="0">
                <a:solidFill>
                  <a:srgbClr val="11121A"/>
                </a:solidFill>
                <a:latin typeface="Palatino Linotype" pitchFamily="34" charset="0"/>
                <a:ea typeface="Palatino Linotype" pitchFamily="34" charset="-122"/>
                <a:cs typeface="Palatino Linotype" pitchFamily="34" charset="-120"/>
              </a:rPr>
              <a:t>opioidele folosite în durerea cronică, mai disponibile;</a:t>
            </a:r>
            <a:endParaRPr lang="en-US" sz="1650" dirty="0"/>
          </a:p>
          <a:p>
            <a:pPr marL="342900" indent="-342900">
              <a:spcAft>
                <a:spcPts val="800"/>
              </a:spcAft>
              <a:buSzPct val="100000"/>
              <a:buChar char="•"/>
            </a:pPr>
            <a:r>
              <a:rPr lang="en-US" sz="1650" dirty="0">
                <a:solidFill>
                  <a:srgbClr val="11121A"/>
                </a:solidFill>
                <a:latin typeface="Palatino Linotype" pitchFamily="34" charset="0"/>
                <a:ea typeface="Palatino Linotype" pitchFamily="34" charset="-122"/>
                <a:cs typeface="Palatino Linotype" pitchFamily="34" charset="-120"/>
              </a:rPr>
              <a:t>opioidele foarte puternice apărute pe piața ilegală.</a:t>
            </a:r>
            <a:endParaRPr lang="en-US" sz="1650" dirty="0"/>
          </a:p>
        </p:txBody>
      </p:sp>
      <p:sp>
        <p:nvSpPr>
          <p:cNvPr id="7" name="Shape 5"/>
          <p:cNvSpPr/>
          <p:nvPr/>
        </p:nvSpPr>
        <p:spPr>
          <a:xfrm>
            <a:off x="6217920" y="1463040"/>
            <a:ext cx="5349240" cy="3108960"/>
          </a:xfrm>
          <a:prstGeom prst="roundRect">
            <a:avLst>
              <a:gd name="adj" fmla="val 2647"/>
            </a:avLst>
          </a:prstGeom>
          <a:solidFill>
            <a:srgbClr val="ECEAE4"/>
          </a:solidFill>
          <a:ln w="12700">
            <a:solidFill>
              <a:srgbClr val="ECEAE4"/>
            </a:solidFill>
            <a:prstDash val="solid"/>
          </a:ln>
        </p:spPr>
        <p:txBody>
          <a:bodyPr/>
          <a:p/>
        </p:txBody>
      </p:sp>
      <p:sp>
        <p:nvSpPr>
          <p:cNvPr id="8" name="Text 6"/>
          <p:cNvSpPr/>
          <p:nvPr/>
        </p:nvSpPr>
        <p:spPr>
          <a:xfrm>
            <a:off x="6492240" y="1627632"/>
            <a:ext cx="4846320" cy="292608"/>
          </a:xfrm>
          <a:prstGeom prst="rect">
            <a:avLst/>
          </a:prstGeom>
          <a:noFill/>
          <a:ln/>
        </p:spPr>
        <p:txBody>
          <a:bodyPr wrap="square" lIns="0" tIns="0" rIns="0" bIns="0" rtlCol="0" anchor="t"/>
          <a:lstStyle/>
          <a:p>
            <a:pPr indent="0" marL="0">
              <a:buNone/>
            </a:pPr>
            <a:r>
              <a:rPr lang="en-US" sz="1250" b="1" spc="200" kern="0" dirty="0">
                <a:solidFill>
                  <a:srgbClr val="0E7C6B"/>
                </a:solidFill>
                <a:latin typeface="Palatino Linotype" pitchFamily="34" charset="0"/>
                <a:ea typeface="Palatino Linotype" pitchFamily="34" charset="-122"/>
                <a:cs typeface="Palatino Linotype" pitchFamily="34" charset="-120"/>
              </a:rPr>
              <a:t>FACTORI DE RISC</a:t>
            </a:r>
            <a:endParaRPr lang="en-US" sz="1250" dirty="0"/>
          </a:p>
        </p:txBody>
      </p:sp>
      <p:sp>
        <p:nvSpPr>
          <p:cNvPr id="9" name="Text 7"/>
          <p:cNvSpPr/>
          <p:nvPr/>
        </p:nvSpPr>
        <p:spPr>
          <a:xfrm>
            <a:off x="6492240" y="2011680"/>
            <a:ext cx="4846320" cy="2377440"/>
          </a:xfrm>
          <a:prstGeom prst="rect">
            <a:avLst/>
          </a:prstGeom>
          <a:noFill/>
          <a:ln/>
        </p:spPr>
        <p:txBody>
          <a:bodyPr wrap="square" lIns="0" tIns="0" rIns="0" bIns="0" rtlCol="0" anchor="t"/>
          <a:lstStyle/>
          <a:p>
            <a:pPr marL="342900" indent="-342900">
              <a:spcAft>
                <a:spcPts val="800"/>
              </a:spcAft>
              <a:buSzPct val="100000"/>
              <a:buChar char="•"/>
            </a:pPr>
            <a:r>
              <a:rPr lang="en-US" sz="1650" dirty="0">
                <a:solidFill>
                  <a:srgbClr val="11121A"/>
                </a:solidFill>
                <a:latin typeface="Palatino Linotype" pitchFamily="34" charset="0"/>
                <a:ea typeface="Palatino Linotype" pitchFamily="34" charset="-122"/>
                <a:cs typeface="Palatino Linotype" pitchFamily="34" charset="-120"/>
              </a:rPr>
              <a:t>opioide pe rețetă, fără supraveghere medicală;</a:t>
            </a:r>
            <a:endParaRPr lang="en-US" sz="1650" dirty="0"/>
          </a:p>
          <a:p>
            <a:pPr marL="342900" indent="-342900">
              <a:spcAft>
                <a:spcPts val="800"/>
              </a:spcAft>
              <a:buSzPct val="100000"/>
              <a:buChar char="•"/>
            </a:pPr>
            <a:r>
              <a:rPr lang="en-US" sz="1650" dirty="0">
                <a:solidFill>
                  <a:srgbClr val="11121A"/>
                </a:solidFill>
                <a:latin typeface="Palatino Linotype" pitchFamily="34" charset="0"/>
                <a:ea typeface="Palatino Linotype" pitchFamily="34" charset="-122"/>
                <a:cs typeface="Palatino Linotype" pitchFamily="34" charset="-120"/>
              </a:rPr>
              <a:t>o doză prescrisă de peste 100 mg de morfină sau echivalent, pe zi;</a:t>
            </a:r>
            <a:endParaRPr lang="en-US" sz="1650" dirty="0"/>
          </a:p>
          <a:p>
            <a:pPr marL="342900" indent="-342900">
              <a:spcAft>
                <a:spcPts val="800"/>
              </a:spcAft>
              <a:buSzPct val="100000"/>
              <a:buChar char="•"/>
            </a:pPr>
            <a:r>
              <a:rPr lang="en-US" sz="1650" dirty="0">
                <a:solidFill>
                  <a:srgbClr val="11121A"/>
                </a:solidFill>
                <a:latin typeface="Palatino Linotype" pitchFamily="34" charset="0"/>
                <a:ea typeface="Palatino Linotype" pitchFamily="34" charset="-122"/>
                <a:cs typeface="Palatino Linotype" pitchFamily="34" charset="-120"/>
              </a:rPr>
              <a:t>opioide împreună cu alcool sau cu benzodiazepine.</a:t>
            </a:r>
            <a:endParaRPr lang="en-US" sz="1650" dirty="0"/>
          </a:p>
        </p:txBody>
      </p:sp>
      <p:sp>
        <p:nvSpPr>
          <p:cNvPr id="10" name="Text 8"/>
          <p:cNvSpPr/>
          <p:nvPr/>
        </p:nvSpPr>
        <p:spPr>
          <a:xfrm>
            <a:off x="594360" y="4800600"/>
            <a:ext cx="10972800" cy="914400"/>
          </a:xfrm>
          <a:prstGeom prst="rect">
            <a:avLst/>
          </a:prstGeom>
          <a:noFill/>
          <a:ln/>
        </p:spPr>
        <p:txBody>
          <a:bodyPr wrap="square" lIns="0" tIns="0" rIns="0" bIns="0" rtlCol="0" anchor="t"/>
          <a:lstStyle/>
          <a:p>
            <a:pPr indent="0" marL="0">
              <a:buNone/>
            </a:pPr>
            <a:r>
              <a:rPr lang="en-US" sz="1650" b="1" dirty="0">
                <a:solidFill>
                  <a:srgbClr val="B02532"/>
                </a:solidFill>
                <a:latin typeface="Palatino Linotype" pitchFamily="34" charset="0"/>
                <a:ea typeface="Palatino Linotype" pitchFamily="34" charset="-122"/>
                <a:cs typeface="Palatino Linotype" pitchFamily="34" charset="-120"/>
              </a:rPr>
              <a:t>În România, opiaceele au cauzat cele mai multe decese directe, uneori cu benzodiazepine. CDC: prudență la opioid plus benzodiazepină.</a:t>
            </a:r>
            <a:endParaRPr lang="en-US" sz="1650" dirty="0"/>
          </a:p>
        </p:txBody>
      </p:sp>
      <p:sp>
        <p:nvSpPr>
          <p:cNvPr id="11" name="Text 9"/>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Surse: OMS, fișa despre supradoza de opioide, 2025; CDC, 2022; raportul național privind situația drogurilor.</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AȚI CREDE ACEST TITLU?</a:t>
            </a:r>
            <a:endParaRPr lang="en-US" sz="1300" dirty="0"/>
          </a:p>
        </p:txBody>
      </p:sp>
      <p:sp>
        <p:nvSpPr>
          <p:cNvPr id="5" name="Shape 3"/>
          <p:cNvSpPr/>
          <p:nvPr/>
        </p:nvSpPr>
        <p:spPr>
          <a:xfrm>
            <a:off x="822960" y="1005840"/>
            <a:ext cx="10515600" cy="2331720"/>
          </a:xfrm>
          <a:prstGeom prst="rect">
            <a:avLst/>
          </a:prstGeom>
          <a:solidFill>
            <a:srgbClr val="FBF8F1"/>
          </a:solidFill>
          <a:ln w="9525">
            <a:solidFill>
              <a:srgbClr val="D6D2C8"/>
            </a:solidFill>
            <a:prstDash val="solid"/>
          </a:ln>
          <a:effectLst>
            <a:outerShdw sx="100000" sy="100000" kx="0" ky="0" algn="bl" rotWithShape="0" blurRad="127000" dist="63500" dir="3600000">
              <a:srgbClr val="000000">
                <a:alpha val="45000"/>
              </a:srgbClr>
            </a:outerShdw>
          </a:effectLst>
        </p:spPr>
        <p:txBody>
          <a:bodyPr/>
          <a:p/>
        </p:txBody>
      </p:sp>
      <p:sp>
        <p:nvSpPr>
          <p:cNvPr id="6" name="Shape 4"/>
          <p:cNvSpPr/>
          <p:nvPr/>
        </p:nvSpPr>
        <p:spPr>
          <a:xfrm>
            <a:off x="1234440" y="1417320"/>
            <a:ext cx="9692640" cy="27432"/>
          </a:xfrm>
          <a:prstGeom prst="rect">
            <a:avLst/>
          </a:prstGeom>
          <a:solidFill>
            <a:srgbClr val="11121A"/>
          </a:solidFill>
          <a:ln w="12700">
            <a:solidFill>
              <a:srgbClr val="11121A"/>
            </a:solidFill>
            <a:prstDash val="solid"/>
          </a:ln>
        </p:spPr>
        <p:txBody>
          <a:bodyPr/>
          <a:p/>
        </p:txBody>
      </p:sp>
      <p:sp>
        <p:nvSpPr>
          <p:cNvPr id="7" name="Text 5"/>
          <p:cNvSpPr/>
          <p:nvPr/>
        </p:nvSpPr>
        <p:spPr>
          <a:xfrm>
            <a:off x="1234440" y="1536192"/>
            <a:ext cx="9692640" cy="274320"/>
          </a:xfrm>
          <a:prstGeom prst="rect">
            <a:avLst/>
          </a:prstGeom>
          <a:noFill/>
          <a:ln/>
        </p:spPr>
        <p:txBody>
          <a:bodyPr wrap="square" lIns="0" tIns="0" rIns="0" bIns="0" rtlCol="0" anchor="t"/>
          <a:lstStyle/>
          <a:p>
            <a:pPr indent="0" marL="0">
              <a:buNone/>
            </a:pPr>
            <a:r>
              <a:rPr lang="en-US" sz="1100" b="1" spc="300" kern="0" dirty="0">
                <a:solidFill>
                  <a:srgbClr val="B02532"/>
                </a:solidFill>
                <a:latin typeface="Palatino Linotype" pitchFamily="34" charset="0"/>
                <a:ea typeface="Palatino Linotype" pitchFamily="34" charset="-122"/>
                <a:cs typeface="Palatino Linotype" pitchFamily="34" charset="-120"/>
              </a:rPr>
              <a:t>AFP, PRELUAT DE ARAB NEWS · 10 AUGUST 2017</a:t>
            </a:r>
            <a:endParaRPr lang="en-US" sz="1100" dirty="0"/>
          </a:p>
        </p:txBody>
      </p:sp>
      <p:sp>
        <p:nvSpPr>
          <p:cNvPr id="8" name="Text 6"/>
          <p:cNvSpPr/>
          <p:nvPr/>
        </p:nvSpPr>
        <p:spPr>
          <a:xfrm>
            <a:off x="1234440" y="1920240"/>
            <a:ext cx="9692640" cy="1234440"/>
          </a:xfrm>
          <a:prstGeom prst="rect">
            <a:avLst/>
          </a:prstGeom>
          <a:noFill/>
          <a:ln/>
        </p:spPr>
        <p:txBody>
          <a:bodyPr wrap="square" lIns="0" tIns="0" rIns="0" bIns="0" rtlCol="0" anchor="t"/>
          <a:lstStyle/>
          <a:p>
            <a:pPr indent="0" marL="0">
              <a:buNone/>
            </a:pPr>
            <a:r>
              <a:rPr lang="en-US" sz="3800" b="1" dirty="0">
                <a:solidFill>
                  <a:srgbClr val="11121A"/>
                </a:solidFill>
                <a:latin typeface="Palatino Linotype" pitchFamily="34" charset="0"/>
                <a:ea typeface="Palatino Linotype" pitchFamily="34" charset="-122"/>
                <a:cs typeface="Palatino Linotype" pitchFamily="34" charset="-120"/>
              </a:rPr>
              <a:t>Doctors at heart of US opioid crisis</a:t>
            </a:r>
            <a:endParaRPr lang="en-US" sz="3800" dirty="0"/>
          </a:p>
        </p:txBody>
      </p:sp>
      <p:sp>
        <p:nvSpPr>
          <p:cNvPr id="9" name="Text 7"/>
          <p:cNvSpPr/>
          <p:nvPr/>
        </p:nvSpPr>
        <p:spPr>
          <a:xfrm>
            <a:off x="822960" y="3520440"/>
            <a:ext cx="10515600" cy="548640"/>
          </a:xfrm>
          <a:prstGeom prst="rect">
            <a:avLst/>
          </a:prstGeom>
          <a:noFill/>
          <a:ln/>
        </p:spPr>
        <p:txBody>
          <a:bodyPr wrap="square" lIns="0" tIns="0" rIns="0" bIns="0" rtlCol="0" anchor="t"/>
          <a:lstStyle/>
          <a:p>
            <a:pPr indent="0" marL="0">
              <a:buNone/>
            </a:pPr>
            <a:r>
              <a:rPr lang="en-US" sz="2000" i="1" dirty="0">
                <a:solidFill>
                  <a:srgbClr val="959BB0"/>
                </a:solidFill>
                <a:latin typeface="Palatino Linotype" pitchFamily="34" charset="0"/>
                <a:ea typeface="Palatino Linotype" pitchFamily="34" charset="-122"/>
                <a:cs typeface="Palatino Linotype" pitchFamily="34" charset="-120"/>
              </a:rPr>
              <a:t>„Medicii, în centrul crizei opioidelor din SUA”</a:t>
            </a:r>
            <a:endParaRPr lang="en-US" sz="2000" dirty="0"/>
          </a:p>
        </p:txBody>
      </p:sp>
      <p:sp>
        <p:nvSpPr>
          <p:cNvPr id="10" name="Shape 8"/>
          <p:cNvSpPr/>
          <p:nvPr/>
        </p:nvSpPr>
        <p:spPr>
          <a:xfrm>
            <a:off x="822960" y="4251960"/>
            <a:ext cx="2148840" cy="329184"/>
          </a:xfrm>
          <a:prstGeom prst="roundRect">
            <a:avLst>
              <a:gd name="adj" fmla="val 50000"/>
            </a:avLst>
          </a:prstGeom>
          <a:solidFill>
            <a:srgbClr val="272A38"/>
          </a:solidFill>
          <a:ln w="12700">
            <a:solidFill>
              <a:srgbClr val="272A38"/>
            </a:solidFill>
            <a:prstDash val="solid"/>
          </a:ln>
        </p:spPr>
        <p:txBody>
          <a:bodyPr/>
          <a:p/>
        </p:txBody>
      </p:sp>
      <p:sp>
        <p:nvSpPr>
          <p:cNvPr id="11" name="Text 9"/>
          <p:cNvSpPr/>
          <p:nvPr/>
        </p:nvSpPr>
        <p:spPr>
          <a:xfrm>
            <a:off x="822960" y="4251960"/>
            <a:ext cx="214884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Da</a:t>
            </a:r>
            <a:endParaRPr lang="en-US" sz="1500" dirty="0"/>
          </a:p>
        </p:txBody>
      </p:sp>
      <p:sp>
        <p:nvSpPr>
          <p:cNvPr id="12" name="Shape 10"/>
          <p:cNvSpPr/>
          <p:nvPr/>
        </p:nvSpPr>
        <p:spPr>
          <a:xfrm>
            <a:off x="3200400" y="4251960"/>
            <a:ext cx="2148840" cy="329184"/>
          </a:xfrm>
          <a:prstGeom prst="roundRect">
            <a:avLst>
              <a:gd name="adj" fmla="val 50000"/>
            </a:avLst>
          </a:prstGeom>
          <a:solidFill>
            <a:srgbClr val="272A38"/>
          </a:solidFill>
          <a:ln w="12700">
            <a:solidFill>
              <a:srgbClr val="272A38"/>
            </a:solidFill>
            <a:prstDash val="solid"/>
          </a:ln>
        </p:spPr>
        <p:txBody>
          <a:bodyPr/>
          <a:p/>
        </p:txBody>
      </p:sp>
      <p:sp>
        <p:nvSpPr>
          <p:cNvPr id="13" name="Text 11"/>
          <p:cNvSpPr/>
          <p:nvPr/>
        </p:nvSpPr>
        <p:spPr>
          <a:xfrm>
            <a:off x="3200400" y="4251960"/>
            <a:ext cx="214884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Nu</a:t>
            </a:r>
            <a:endParaRPr lang="en-US" sz="1500" dirty="0"/>
          </a:p>
        </p:txBody>
      </p:sp>
      <p:sp>
        <p:nvSpPr>
          <p:cNvPr id="14" name="Shape 12"/>
          <p:cNvSpPr/>
          <p:nvPr/>
        </p:nvSpPr>
        <p:spPr>
          <a:xfrm>
            <a:off x="5577840" y="4251960"/>
            <a:ext cx="2148840" cy="329184"/>
          </a:xfrm>
          <a:prstGeom prst="roundRect">
            <a:avLst>
              <a:gd name="adj" fmla="val 50000"/>
            </a:avLst>
          </a:prstGeom>
          <a:solidFill>
            <a:srgbClr val="272A38"/>
          </a:solidFill>
          <a:ln w="12700">
            <a:solidFill>
              <a:srgbClr val="272A38"/>
            </a:solidFill>
            <a:prstDash val="solid"/>
          </a:ln>
        </p:spPr>
        <p:txBody>
          <a:bodyPr/>
          <a:p/>
        </p:txBody>
      </p:sp>
      <p:sp>
        <p:nvSpPr>
          <p:cNvPr id="15" name="Text 13"/>
          <p:cNvSpPr/>
          <p:nvPr/>
        </p:nvSpPr>
        <p:spPr>
          <a:xfrm>
            <a:off x="5577840" y="4251960"/>
            <a:ext cx="214884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Depinde</a:t>
            </a:r>
            <a:endParaRPr lang="en-US" sz="1500" dirty="0"/>
          </a:p>
        </p:txBody>
      </p:sp>
      <p:sp>
        <p:nvSpPr>
          <p:cNvPr id="16" name="Text 14"/>
          <p:cNvSpPr/>
          <p:nvPr/>
        </p:nvSpPr>
        <p:spPr>
          <a:xfrm>
            <a:off x="594360" y="4846320"/>
            <a:ext cx="8686800" cy="731520"/>
          </a:xfrm>
          <a:prstGeom prst="rect">
            <a:avLst/>
          </a:prstGeom>
          <a:noFill/>
          <a:ln/>
        </p:spPr>
        <p:txBody>
          <a:bodyPr wrap="square" lIns="0" tIns="0" rIns="0" bIns="0" rtlCol="0" anchor="t"/>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Titlu real. După vot, trei răspunsuri din chat: ce cuvinte din titlu depășesc datele?</a:t>
            </a:r>
            <a:endParaRPr lang="en-US" sz="1800" dirty="0"/>
          </a:p>
        </p:txBody>
      </p:sp>
      <p:sp>
        <p:nvSpPr>
          <p:cNvPr id="17" name="Text 15"/>
          <p:cNvSpPr/>
          <p:nvPr/>
        </p:nvSpPr>
        <p:spPr>
          <a:xfrm>
            <a:off x="594360" y="5669280"/>
            <a:ext cx="8595360" cy="41148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Răspundeți pe telefon, la codul afișat.</a:t>
            </a:r>
            <a:endParaRPr lang="en-US" sz="1600" dirty="0"/>
          </a:p>
        </p:txBody>
      </p:sp>
      <p:sp>
        <p:nvSpPr>
          <p:cNvPr id="18" name="Shape 16"/>
          <p:cNvSpPr/>
          <p:nvPr/>
        </p:nvSpPr>
        <p:spPr>
          <a:xfrm>
            <a:off x="9738360" y="4709160"/>
            <a:ext cx="1828800" cy="1783080"/>
          </a:xfrm>
          <a:prstGeom prst="roundRect">
            <a:avLst>
              <a:gd name="adj" fmla="val 4615"/>
            </a:avLst>
          </a:prstGeom>
          <a:solidFill>
            <a:srgbClr val="FFFFFF"/>
          </a:solidFill>
          <a:ln w="12700">
            <a:solidFill>
              <a:srgbClr val="FFFFFF"/>
            </a:solidFill>
            <a:prstDash val="solid"/>
          </a:ln>
        </p:spPr>
        <p:txBody>
          <a:bodyPr/>
          <a:p/>
        </p:txBody>
      </p:sp>
      <p:pic>
        <p:nvPicPr>
          <p:cNvPr id="19" name="Picture 18" descr="Mentimeter_OPT_DROGURI_C04.png"/>
          <p:cNvPicPr>
            <a:picLocks noChangeAspect="1"/>
          </p:cNvPicPr>
          <p:nvPr/>
        </p:nvPicPr>
        <p:blipFill>
          <a:blip r:embed="rId3"/>
          <a:stretch>
            <a:fillRect/>
          </a:stretch>
        </p:blipFill>
        <p:spPr>
          <a:xfrm>
            <a:off x="9978389" y="4709160"/>
            <a:ext cx="1348741" cy="1348741"/>
          </a:xfrm>
          <a:prstGeom prst="rect">
            <a:avLst/>
          </a:prstGeom>
        </p:spPr>
      </p:pic>
      <p:sp>
        <p:nvSpPr>
          <p:cNvPr id="20" name="TextBox 19"/>
          <p:cNvSpPr txBox="1"/>
          <p:nvPr/>
        </p:nvSpPr>
        <p:spPr>
          <a:xfrm>
            <a:off x="9738360" y="6096001"/>
            <a:ext cx="1828800" cy="434339"/>
          </a:xfrm>
          <a:prstGeom prst="rect">
            <a:avLst/>
          </a:prstGeom>
          <a:noFill/>
        </p:spPr>
        <p:txBody>
          <a:bodyPr wrap="square" lIns="0" rIns="0" tIns="0" bIns="0" anchor="t">
            <a:spAutoFit/>
          </a:bodyPr>
          <a:lstStyle/>
          <a:p>
            <a:pPr algn="ctr"/>
            <a:r>
              <a:rPr sz="900" b="1">
                <a:solidFill>
                  <a:srgbClr val="B02532"/>
                </a:solidFill>
                <a:latin typeface="Palatino Linotype"/>
              </a:rPr>
              <a:t>menti.com</a:t>
            </a:r>
          </a:p>
          <a:p>
            <a:pPr algn="ctr"/>
            <a:r>
              <a:rPr sz="900" b="1">
                <a:solidFill>
                  <a:srgbClr val="B02532"/>
                </a:solidFill>
                <a:latin typeface="Palatino Linotype"/>
              </a:rPr>
              <a:t>anonim, fără cont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CUVINTELE CARE DEPĂȘESC DATELE</a:t>
            </a:r>
            <a:endParaRPr lang="en-US" sz="1300" dirty="0"/>
          </a:p>
        </p:txBody>
      </p:sp>
      <p:sp>
        <p:nvSpPr>
          <p:cNvPr id="3" name="Text 1"/>
          <p:cNvSpPr/>
          <p:nvPr/>
        </p:nvSpPr>
        <p:spPr>
          <a:xfrm>
            <a:off x="594360" y="868680"/>
            <a:ext cx="10972800" cy="868680"/>
          </a:xfrm>
          <a:prstGeom prst="rect">
            <a:avLst/>
          </a:prstGeom>
          <a:noFill/>
          <a:ln/>
        </p:spPr>
        <p:txBody>
          <a:bodyPr wrap="square" lIns="0" tIns="0" rIns="0" bIns="0" rtlCol="0" anchor="t"/>
          <a:lstStyle/>
          <a:p>
            <a:pPr indent="0" marL="0">
              <a:buNone/>
            </a:pPr>
            <a:r>
              <a:rPr lang="en-US" sz="3400" b="1" dirty="0">
                <a:solidFill>
                  <a:srgbClr val="8A8F9E"/>
                </a:solidFill>
                <a:latin typeface="Palatino Linotype" pitchFamily="34" charset="0"/>
                <a:ea typeface="Palatino Linotype" pitchFamily="34" charset="-122"/>
                <a:cs typeface="Palatino Linotype" pitchFamily="34" charset="-120"/>
              </a:rPr>
              <a:t>„Medicii, </a:t>
            </a:r>
            <a:pPr indent="0" marL="0">
              <a:buNone/>
            </a:pPr>
            <a:r>
              <a:rPr lang="en-US" sz="3400" b="1" u="sng" dirty="0">
                <a:solidFill>
                  <a:srgbClr val="B02532"/>
                </a:solidFill>
                <a:latin typeface="Palatino Linotype" pitchFamily="34" charset="0"/>
                <a:ea typeface="Palatino Linotype" pitchFamily="34" charset="-122"/>
                <a:cs typeface="Palatino Linotype" pitchFamily="34" charset="-120"/>
              </a:rPr>
              <a:t>în centrul</a:t>
            </a:r>
            <a:pPr indent="0" marL="0">
              <a:buNone/>
            </a:pPr>
            <a:r>
              <a:rPr lang="en-US" sz="3400" b="1" dirty="0">
                <a:solidFill>
                  <a:srgbClr val="8A8F9E"/>
                </a:solidFill>
                <a:latin typeface="Palatino Linotype" pitchFamily="34" charset="0"/>
                <a:ea typeface="Palatino Linotype" pitchFamily="34" charset="-122"/>
                <a:cs typeface="Palatino Linotype" pitchFamily="34" charset="-120"/>
              </a:rPr>
              <a:t> crizei opioidelor din SUA”</a:t>
            </a:r>
            <a:endParaRPr lang="en-US" sz="3400" dirty="0"/>
          </a:p>
        </p:txBody>
      </p:sp>
      <p:sp>
        <p:nvSpPr>
          <p:cNvPr id="4" name="Shape 2"/>
          <p:cNvSpPr/>
          <p:nvPr/>
        </p:nvSpPr>
        <p:spPr>
          <a:xfrm>
            <a:off x="594360" y="1874520"/>
            <a:ext cx="10972800" cy="694944"/>
          </a:xfrm>
          <a:prstGeom prst="roundRect">
            <a:avLst>
              <a:gd name="adj" fmla="val 11842"/>
            </a:avLst>
          </a:prstGeom>
          <a:solidFill>
            <a:srgbClr val="ECEAE4"/>
          </a:solidFill>
          <a:ln w="12700">
            <a:solidFill>
              <a:srgbClr val="ECEAE4"/>
            </a:solidFill>
            <a:prstDash val="solid"/>
          </a:ln>
        </p:spPr>
        <p:txBody>
          <a:bodyPr/>
          <a:p/>
        </p:txBody>
      </p:sp>
      <p:sp>
        <p:nvSpPr>
          <p:cNvPr id="5" name="Shape 3"/>
          <p:cNvSpPr/>
          <p:nvPr/>
        </p:nvSpPr>
        <p:spPr>
          <a:xfrm>
            <a:off x="914400" y="2011680"/>
            <a:ext cx="420624" cy="420624"/>
          </a:xfrm>
          <a:prstGeom prst="ellipse">
            <a:avLst/>
          </a:prstGeom>
          <a:solidFill>
            <a:srgbClr val="B02532"/>
          </a:solidFill>
          <a:ln/>
        </p:spPr>
        <p:txBody>
          <a:bodyPr/>
          <a:p/>
        </p:txBody>
      </p:sp>
      <p:sp>
        <p:nvSpPr>
          <p:cNvPr id="6" name="Text 4"/>
          <p:cNvSpPr/>
          <p:nvPr/>
        </p:nvSpPr>
        <p:spPr>
          <a:xfrm>
            <a:off x="914400" y="20116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a:t>
            </a:r>
            <a:endParaRPr lang="en-US" sz="1400" dirty="0"/>
          </a:p>
        </p:txBody>
      </p:sp>
      <p:sp>
        <p:nvSpPr>
          <p:cNvPr id="7" name="Text 5"/>
          <p:cNvSpPr/>
          <p:nvPr/>
        </p:nvSpPr>
        <p:spPr>
          <a:xfrm>
            <a:off x="1600200" y="1874520"/>
            <a:ext cx="9692640" cy="694944"/>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Adevărat: primul val a început cu creșterea prescrierii.</a:t>
            </a:r>
            <a:endParaRPr lang="en-US" sz="1550" dirty="0"/>
          </a:p>
        </p:txBody>
      </p:sp>
      <p:sp>
        <p:nvSpPr>
          <p:cNvPr id="8" name="Shape 6"/>
          <p:cNvSpPr/>
          <p:nvPr/>
        </p:nvSpPr>
        <p:spPr>
          <a:xfrm>
            <a:off x="594360" y="2660904"/>
            <a:ext cx="10972800" cy="694944"/>
          </a:xfrm>
          <a:prstGeom prst="roundRect">
            <a:avLst>
              <a:gd name="adj" fmla="val 11842"/>
            </a:avLst>
          </a:prstGeom>
          <a:solidFill>
            <a:srgbClr val="ECEAE4"/>
          </a:solidFill>
          <a:ln w="12700">
            <a:solidFill>
              <a:srgbClr val="ECEAE4"/>
            </a:solidFill>
            <a:prstDash val="solid"/>
          </a:ln>
        </p:spPr>
        <p:txBody>
          <a:bodyPr/>
          <a:p/>
        </p:txBody>
      </p:sp>
      <p:sp>
        <p:nvSpPr>
          <p:cNvPr id="9" name="Shape 7"/>
          <p:cNvSpPr/>
          <p:nvPr/>
        </p:nvSpPr>
        <p:spPr>
          <a:xfrm>
            <a:off x="914400" y="2798064"/>
            <a:ext cx="420624" cy="420624"/>
          </a:xfrm>
          <a:prstGeom prst="ellipse">
            <a:avLst/>
          </a:prstGeom>
          <a:solidFill>
            <a:srgbClr val="B02532"/>
          </a:solidFill>
          <a:ln/>
        </p:spPr>
        <p:txBody>
          <a:bodyPr/>
          <a:p/>
        </p:txBody>
      </p:sp>
      <p:sp>
        <p:nvSpPr>
          <p:cNvPr id="10" name="Text 8"/>
          <p:cNvSpPr/>
          <p:nvPr/>
        </p:nvSpPr>
        <p:spPr>
          <a:xfrm>
            <a:off x="914400" y="2798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a:t>
            </a:r>
            <a:endParaRPr lang="en-US" sz="1400" dirty="0"/>
          </a:p>
        </p:txBody>
      </p:sp>
      <p:sp>
        <p:nvSpPr>
          <p:cNvPr id="11" name="Text 9"/>
          <p:cNvSpPr/>
          <p:nvPr/>
        </p:nvSpPr>
        <p:spPr>
          <a:xfrm>
            <a:off x="1600200" y="2660904"/>
            <a:ext cx="9692640" cy="694944"/>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Valurile doi și trei: heroina și fentanilul produs ilegal.</a:t>
            </a:r>
            <a:endParaRPr lang="en-US" sz="1550" dirty="0"/>
          </a:p>
        </p:txBody>
      </p:sp>
      <p:sp>
        <p:nvSpPr>
          <p:cNvPr id="12" name="Shape 10"/>
          <p:cNvSpPr/>
          <p:nvPr/>
        </p:nvSpPr>
        <p:spPr>
          <a:xfrm>
            <a:off x="594360" y="3447288"/>
            <a:ext cx="10972800" cy="694944"/>
          </a:xfrm>
          <a:prstGeom prst="roundRect">
            <a:avLst>
              <a:gd name="adj" fmla="val 11842"/>
            </a:avLst>
          </a:prstGeom>
          <a:solidFill>
            <a:srgbClr val="ECEAE4"/>
          </a:solidFill>
          <a:ln w="12700">
            <a:solidFill>
              <a:srgbClr val="ECEAE4"/>
            </a:solidFill>
            <a:prstDash val="solid"/>
          </a:ln>
        </p:spPr>
        <p:txBody>
          <a:bodyPr/>
          <a:p/>
        </p:txBody>
      </p:sp>
      <p:sp>
        <p:nvSpPr>
          <p:cNvPr id="13" name="Shape 11"/>
          <p:cNvSpPr/>
          <p:nvPr/>
        </p:nvSpPr>
        <p:spPr>
          <a:xfrm>
            <a:off x="914400" y="3584448"/>
            <a:ext cx="420624" cy="420624"/>
          </a:xfrm>
          <a:prstGeom prst="ellipse">
            <a:avLst/>
          </a:prstGeom>
          <a:solidFill>
            <a:srgbClr val="B02532"/>
          </a:solidFill>
          <a:ln/>
        </p:spPr>
        <p:txBody>
          <a:bodyPr/>
          <a:p/>
        </p:txBody>
      </p:sp>
      <p:sp>
        <p:nvSpPr>
          <p:cNvPr id="14" name="Text 12"/>
          <p:cNvSpPr/>
          <p:nvPr/>
        </p:nvSpPr>
        <p:spPr>
          <a:xfrm>
            <a:off x="914400" y="358444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a:t>
            </a:r>
            <a:endParaRPr lang="en-US" sz="1400" dirty="0"/>
          </a:p>
        </p:txBody>
      </p:sp>
      <p:sp>
        <p:nvSpPr>
          <p:cNvPr id="15" name="Text 13"/>
          <p:cNvSpPr/>
          <p:nvPr/>
        </p:nvSpPr>
        <p:spPr>
          <a:xfrm>
            <a:off x="1600200" y="3447288"/>
            <a:ext cx="9692640" cy="694944"/>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Decesele cu opioide pe rețetă au scăzut cu aproape 12% între 2022 și 2023; în 2023, aproape 80 000 de decese prin supradoză au implicat opioide.</a:t>
            </a:r>
            <a:endParaRPr lang="en-US" sz="1550" dirty="0"/>
          </a:p>
        </p:txBody>
      </p:sp>
      <p:sp>
        <p:nvSpPr>
          <p:cNvPr id="16" name="Shape 14"/>
          <p:cNvSpPr/>
          <p:nvPr/>
        </p:nvSpPr>
        <p:spPr>
          <a:xfrm>
            <a:off x="594360" y="4233672"/>
            <a:ext cx="10972800" cy="694944"/>
          </a:xfrm>
          <a:prstGeom prst="roundRect">
            <a:avLst>
              <a:gd name="adj" fmla="val 11842"/>
            </a:avLst>
          </a:prstGeom>
          <a:solidFill>
            <a:srgbClr val="ECEAE4"/>
          </a:solidFill>
          <a:ln w="12700">
            <a:solidFill>
              <a:srgbClr val="ECEAE4"/>
            </a:solidFill>
            <a:prstDash val="solid"/>
          </a:ln>
        </p:spPr>
        <p:txBody>
          <a:bodyPr/>
          <a:p/>
        </p:txBody>
      </p:sp>
      <p:sp>
        <p:nvSpPr>
          <p:cNvPr id="17" name="Shape 15"/>
          <p:cNvSpPr/>
          <p:nvPr/>
        </p:nvSpPr>
        <p:spPr>
          <a:xfrm>
            <a:off x="914400" y="4370832"/>
            <a:ext cx="420624" cy="420624"/>
          </a:xfrm>
          <a:prstGeom prst="ellipse">
            <a:avLst/>
          </a:prstGeom>
          <a:solidFill>
            <a:srgbClr val="B02532"/>
          </a:solidFill>
          <a:ln/>
        </p:spPr>
        <p:txBody>
          <a:bodyPr/>
          <a:p/>
        </p:txBody>
      </p:sp>
      <p:sp>
        <p:nvSpPr>
          <p:cNvPr id="18" name="Text 16"/>
          <p:cNvSpPr/>
          <p:nvPr/>
        </p:nvSpPr>
        <p:spPr>
          <a:xfrm>
            <a:off x="914400" y="43708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a:t>
            </a:r>
            <a:endParaRPr lang="en-US" sz="1400" dirty="0"/>
          </a:p>
        </p:txBody>
      </p:sp>
      <p:sp>
        <p:nvSpPr>
          <p:cNvPr id="19" name="Text 17"/>
          <p:cNvSpPr/>
          <p:nvPr/>
        </p:nvSpPr>
        <p:spPr>
          <a:xfrm>
            <a:off x="1600200" y="4233672"/>
            <a:ext cx="9692640" cy="694944"/>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Articolul însuși spune, mai jos, că medicii nu sunt singurii vinovați.</a:t>
            </a:r>
            <a:endParaRPr lang="en-US" sz="1550" dirty="0"/>
          </a:p>
        </p:txBody>
      </p:sp>
      <p:sp>
        <p:nvSpPr>
          <p:cNvPr id="20" name="Shape 18"/>
          <p:cNvSpPr/>
          <p:nvPr/>
        </p:nvSpPr>
        <p:spPr>
          <a:xfrm>
            <a:off x="594360" y="5074920"/>
            <a:ext cx="10972800" cy="868680"/>
          </a:xfrm>
          <a:prstGeom prst="roundRect">
            <a:avLst>
              <a:gd name="adj" fmla="val 9474"/>
            </a:avLst>
          </a:prstGeom>
          <a:solidFill>
            <a:srgbClr val="E1F0EC"/>
          </a:solidFill>
          <a:ln w="12700">
            <a:solidFill>
              <a:srgbClr val="E1F0EC"/>
            </a:solidFill>
            <a:prstDash val="solid"/>
          </a:ln>
        </p:spPr>
        <p:txBody>
          <a:bodyPr/>
          <a:p/>
        </p:txBody>
      </p:sp>
      <p:sp>
        <p:nvSpPr>
          <p:cNvPr id="21" name="Text 19"/>
          <p:cNvSpPr/>
          <p:nvPr/>
        </p:nvSpPr>
        <p:spPr>
          <a:xfrm>
            <a:off x="868680" y="5074920"/>
            <a:ext cx="10424160" cy="868680"/>
          </a:xfrm>
          <a:prstGeom prst="rect">
            <a:avLst/>
          </a:prstGeom>
          <a:noFill/>
          <a:ln/>
        </p:spPr>
        <p:txBody>
          <a:bodyPr wrap="square" lIns="0" tIns="0" rIns="0" bIns="0" rtlCol="0" anchor="ctr"/>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Mai aproape de date: „Prescrierea largă a opioidelor a deschis prima etapă a crizei.”</a:t>
            </a:r>
            <a:endParaRPr lang="en-US" sz="1700" dirty="0"/>
          </a:p>
        </p:txBody>
      </p:sp>
      <p:sp>
        <p:nvSpPr>
          <p:cNvPr id="22" name="Text 20"/>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Surse: CDC; AFP, preluat de Arab News, 10 august 2017.</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ÎN ULTIMII DOI ANI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s-a schimbat la noi și în Europa</a:t>
            </a:r>
            <a:endParaRPr lang="en-US" sz="3200" dirty="0"/>
          </a:p>
        </p:txBody>
      </p:sp>
      <p:sp>
        <p:nvSpPr>
          <p:cNvPr id="4" name="Text 2"/>
          <p:cNvSpPr/>
          <p:nvPr/>
        </p:nvSpPr>
        <p:spPr>
          <a:xfrm>
            <a:off x="594360" y="1417320"/>
            <a:ext cx="5303520" cy="320040"/>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ROMÂNIA</a:t>
            </a:r>
            <a:endParaRPr lang="en-US" sz="1300" dirty="0"/>
          </a:p>
        </p:txBody>
      </p:sp>
      <p:sp>
        <p:nvSpPr>
          <p:cNvPr id="5" name="Shape 3"/>
          <p:cNvSpPr/>
          <p:nvPr/>
        </p:nvSpPr>
        <p:spPr>
          <a:xfrm>
            <a:off x="594360" y="1828800"/>
            <a:ext cx="5349240" cy="1234440"/>
          </a:xfrm>
          <a:prstGeom prst="roundRect">
            <a:avLst>
              <a:gd name="adj" fmla="val 6667"/>
            </a:avLst>
          </a:prstGeom>
          <a:solidFill>
            <a:srgbClr val="1D1F2B"/>
          </a:solidFill>
          <a:ln w="12700">
            <a:solidFill>
              <a:srgbClr val="1D1F2B"/>
            </a:solidFill>
            <a:prstDash val="solid"/>
          </a:ln>
        </p:spPr>
        <p:txBody>
          <a:bodyPr/>
          <a:p/>
        </p:txBody>
      </p:sp>
      <p:sp>
        <p:nvSpPr>
          <p:cNvPr id="6" name="Text 4"/>
          <p:cNvSpPr/>
          <p:nvPr/>
        </p:nvSpPr>
        <p:spPr>
          <a:xfrm>
            <a:off x="868680" y="1965960"/>
            <a:ext cx="4846320" cy="411480"/>
          </a:xfrm>
          <a:prstGeom prst="rect">
            <a:avLst/>
          </a:prstGeom>
          <a:noFill/>
          <a:ln/>
        </p:spPr>
        <p:txBody>
          <a:bodyPr wrap="square" lIns="0" tIns="0" rIns="0" bIns="0" rtlCol="0" anchor="t"/>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Ordonanța nr. 42/2024</a:t>
            </a:r>
            <a:endParaRPr lang="en-US" sz="1800" dirty="0"/>
          </a:p>
        </p:txBody>
      </p:sp>
      <p:sp>
        <p:nvSpPr>
          <p:cNvPr id="7" name="Text 5"/>
          <p:cNvSpPr/>
          <p:nvPr/>
        </p:nvSpPr>
        <p:spPr>
          <a:xfrm>
            <a:off x="868680" y="2377440"/>
            <a:ext cx="4846320" cy="640080"/>
          </a:xfrm>
          <a:prstGeom prst="rect">
            <a:avLst/>
          </a:prstGeom>
          <a:noFill/>
          <a:ln/>
        </p:spPr>
        <p:txBody>
          <a:bodyPr wrap="square" lIns="0" tIns="0" rIns="0" bIns="0" rtlCol="0" anchor="t"/>
          <a:lstStyle/>
          <a:p>
            <a:pPr indent="0" marL="0">
              <a:buNone/>
            </a:pPr>
            <a:r>
              <a:rPr lang="en-US" sz="1450" dirty="0">
                <a:solidFill>
                  <a:srgbClr val="FFFFFF"/>
                </a:solidFill>
                <a:latin typeface="Palatino Linotype" pitchFamily="34" charset="0"/>
                <a:ea typeface="Palatino Linotype" pitchFamily="34" charset="-122"/>
                <a:cs typeface="Palatino Linotype" pitchFamily="34" charset="-120"/>
              </a:rPr>
              <a:t>prescriere, înregistrare și raportare electronice; trasabilitate mai bună</a:t>
            </a:r>
            <a:endParaRPr lang="en-US" sz="1450" dirty="0"/>
          </a:p>
        </p:txBody>
      </p:sp>
      <p:sp>
        <p:nvSpPr>
          <p:cNvPr id="8" name="Shape 6"/>
          <p:cNvSpPr/>
          <p:nvPr/>
        </p:nvSpPr>
        <p:spPr>
          <a:xfrm>
            <a:off x="594360" y="3246120"/>
            <a:ext cx="5349240" cy="1234440"/>
          </a:xfrm>
          <a:prstGeom prst="roundRect">
            <a:avLst>
              <a:gd name="adj" fmla="val 6667"/>
            </a:avLst>
          </a:prstGeom>
          <a:solidFill>
            <a:srgbClr val="1D1F2B"/>
          </a:solidFill>
          <a:ln w="12700">
            <a:solidFill>
              <a:srgbClr val="1D1F2B"/>
            </a:solidFill>
            <a:prstDash val="solid"/>
          </a:ln>
        </p:spPr>
        <p:txBody>
          <a:bodyPr/>
          <a:p/>
        </p:txBody>
      </p:sp>
      <p:sp>
        <p:nvSpPr>
          <p:cNvPr id="9" name="Text 7"/>
          <p:cNvSpPr/>
          <p:nvPr/>
        </p:nvSpPr>
        <p:spPr>
          <a:xfrm>
            <a:off x="868680" y="3383280"/>
            <a:ext cx="4846320" cy="411480"/>
          </a:xfrm>
          <a:prstGeom prst="rect">
            <a:avLst/>
          </a:prstGeom>
          <a:noFill/>
          <a:ln/>
        </p:spPr>
        <p:txBody>
          <a:bodyPr wrap="square" lIns="0" tIns="0" rIns="0" bIns="0" rtlCol="0" anchor="t"/>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Martie 2025</a:t>
            </a:r>
            <a:endParaRPr lang="en-US" sz="1800" dirty="0"/>
          </a:p>
        </p:txBody>
      </p:sp>
      <p:sp>
        <p:nvSpPr>
          <p:cNvPr id="10" name="Text 8"/>
          <p:cNvSpPr/>
          <p:nvPr/>
        </p:nvSpPr>
        <p:spPr>
          <a:xfrm>
            <a:off x="868680" y="3794760"/>
            <a:ext cx="4846320" cy="640080"/>
          </a:xfrm>
          <a:prstGeom prst="rect">
            <a:avLst/>
          </a:prstGeom>
          <a:noFill/>
          <a:ln/>
        </p:spPr>
        <p:txBody>
          <a:bodyPr wrap="square" lIns="0" tIns="0" rIns="0" bIns="0" rtlCol="0" anchor="t"/>
          <a:lstStyle/>
          <a:p>
            <a:pPr indent="0" marL="0">
              <a:buNone/>
            </a:pPr>
            <a:r>
              <a:rPr lang="en-US" sz="1450" dirty="0">
                <a:solidFill>
                  <a:srgbClr val="FFFFFF"/>
                </a:solidFill>
                <a:latin typeface="Palatino Linotype" pitchFamily="34" charset="0"/>
                <a:ea typeface="Palatino Linotype" pitchFamily="34" charset="-122"/>
                <a:cs typeface="Palatino Linotype" pitchFamily="34" charset="-120"/>
              </a:rPr>
              <a:t>tramadolul, un analgezic opioid, intră în tabelele substanțelor controlate</a:t>
            </a:r>
            <a:endParaRPr lang="en-US" sz="1450" dirty="0"/>
          </a:p>
        </p:txBody>
      </p:sp>
      <p:sp>
        <p:nvSpPr>
          <p:cNvPr id="11" name="Text 9"/>
          <p:cNvSpPr/>
          <p:nvPr/>
        </p:nvSpPr>
        <p:spPr>
          <a:xfrm>
            <a:off x="6217920" y="1417320"/>
            <a:ext cx="5303520" cy="320040"/>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EUROPA, 2024</a:t>
            </a:r>
            <a:endParaRPr lang="en-US" sz="1300" dirty="0"/>
          </a:p>
        </p:txBody>
      </p:sp>
      <p:sp>
        <p:nvSpPr>
          <p:cNvPr id="12" name="Text 10"/>
          <p:cNvSpPr/>
          <p:nvPr/>
        </p:nvSpPr>
        <p:spPr>
          <a:xfrm>
            <a:off x="6217920" y="1783080"/>
            <a:ext cx="5303520" cy="914400"/>
          </a:xfrm>
          <a:prstGeom prst="rect">
            <a:avLst/>
          </a:prstGeom>
          <a:noFill/>
          <a:ln/>
        </p:spPr>
        <p:txBody>
          <a:bodyPr wrap="square" lIns="0" tIns="0" rIns="0" bIns="0" rtlCol="0" anchor="t"/>
          <a:lstStyle/>
          <a:p>
            <a:pPr indent="0" marL="0">
              <a:buNone/>
            </a:pPr>
            <a:r>
              <a:rPr lang="en-US" sz="5800" b="1" dirty="0">
                <a:solidFill>
                  <a:srgbClr val="FFC24B"/>
                </a:solidFill>
                <a:latin typeface="Palatino Linotype" pitchFamily="34" charset="0"/>
                <a:ea typeface="Palatino Linotype" pitchFamily="34" charset="-122"/>
                <a:cs typeface="Palatino Linotype" pitchFamily="34" charset="-120"/>
              </a:rPr>
              <a:t>50 000</a:t>
            </a:r>
            <a:endParaRPr lang="en-US" sz="5800" dirty="0"/>
          </a:p>
        </p:txBody>
      </p:sp>
      <p:sp>
        <p:nvSpPr>
          <p:cNvPr id="13" name="Text 11"/>
          <p:cNvSpPr/>
          <p:nvPr/>
        </p:nvSpPr>
        <p:spPr>
          <a:xfrm>
            <a:off x="6217920" y="2743200"/>
            <a:ext cx="5349240" cy="868680"/>
          </a:xfrm>
          <a:prstGeom prst="rect">
            <a:avLst/>
          </a:prstGeom>
          <a:noFill/>
          <a:ln/>
        </p:spPr>
        <p:txBody>
          <a:bodyPr wrap="square" lIns="0" tIns="0" rIns="0" bIns="0" rtlCol="0" anchor="t"/>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de comprimate cu nitazene, opioide sintetice foarte puternice, găsite în 10 țări (23 000 în 2023).</a:t>
            </a:r>
            <a:endParaRPr lang="en-US" sz="1550" dirty="0"/>
          </a:p>
        </p:txBody>
      </p:sp>
      <p:sp>
        <p:nvSpPr>
          <p:cNvPr id="14" name="Text 12"/>
          <p:cNvSpPr/>
          <p:nvPr/>
        </p:nvSpPr>
        <p:spPr>
          <a:xfrm>
            <a:off x="6217920" y="3657600"/>
            <a:ext cx="5349240" cy="822960"/>
          </a:xfrm>
          <a:prstGeom prst="rect">
            <a:avLst/>
          </a:prstGeom>
          <a:noFill/>
          <a:ln/>
        </p:spPr>
        <p:txBody>
          <a:bodyPr wrap="square" lIns="0" tIns="0" rIns="0" bIns="0" rtlCol="0" anchor="t"/>
          <a:lstStyle/>
          <a:p>
            <a:pPr indent="0" marL="0">
              <a:buNone/>
            </a:pPr>
            <a:r>
              <a:rPr lang="en-US" sz="1550" i="1" dirty="0">
                <a:solidFill>
                  <a:srgbClr val="959BB0"/>
                </a:solidFill>
                <a:latin typeface="Palatino Linotype" pitchFamily="34" charset="0"/>
                <a:ea typeface="Palatino Linotype" pitchFamily="34" charset="-122"/>
                <a:cs typeface="Palatino Linotype" pitchFamily="34" charset="-120"/>
              </a:rPr>
              <a:t>Medicamentele false par legitime: un fals sentiment de siguranță.</a:t>
            </a:r>
            <a:endParaRPr lang="en-US" sz="1550" dirty="0"/>
          </a:p>
        </p:txBody>
      </p:sp>
      <p:sp>
        <p:nvSpPr>
          <p:cNvPr id="15" name="Text 13"/>
          <p:cNvSpPr/>
          <p:nvPr/>
        </p:nvSpPr>
        <p:spPr>
          <a:xfrm>
            <a:off x="594360" y="4846320"/>
            <a:ext cx="10972800" cy="822960"/>
          </a:xfrm>
          <a:prstGeom prst="rect">
            <a:avLst/>
          </a:prstGeom>
          <a:noFill/>
          <a:ln/>
        </p:spPr>
        <p:txBody>
          <a:bodyPr wrap="square" lIns="0" tIns="0" rIns="0" bIns="0" rtlCol="0" anchor="t"/>
          <a:lstStyle/>
          <a:p>
            <a:pPr indent="0" marL="0">
              <a:buNone/>
            </a:pPr>
            <a:r>
              <a:rPr lang="en-US" sz="1800" b="1" dirty="0">
                <a:solidFill>
                  <a:srgbClr val="FF4757"/>
                </a:solidFill>
                <a:latin typeface="Palatino Linotype" pitchFamily="34" charset="0"/>
                <a:ea typeface="Palatino Linotype" pitchFamily="34" charset="-122"/>
                <a:cs typeface="Palatino Linotype" pitchFamily="34" charset="-120"/>
              </a:rPr>
              <a:t>Un pacient care nu mai primește rețeta și își caută pastilele pe internet poate cumpăra altceva decât crede.</a:t>
            </a:r>
            <a:endParaRPr lang="en-US" sz="1800" dirty="0"/>
          </a:p>
        </p:txBody>
      </p:sp>
      <p:sp>
        <p:nvSpPr>
          <p:cNvPr id="16" name="Text 14"/>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Surse: Ordonanța nr. 42/2024; EUDA, European Drug Report 2026.</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 CHAT · JUMĂTATE DE MINUT</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PARTEA A DOUA · ÎNCHEIERE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Ce îi spuneți mâine unui coleg</a:t>
            </a:r>
            <a:endParaRPr lang="en-US" sz="3400" dirty="0"/>
          </a:p>
        </p:txBody>
      </p:sp>
      <p:sp>
        <p:nvSpPr>
          <p:cNvPr id="6" name="Shape 4"/>
          <p:cNvSpPr/>
          <p:nvPr/>
        </p:nvSpPr>
        <p:spPr>
          <a:xfrm>
            <a:off x="594360" y="1828800"/>
            <a:ext cx="73152" cy="3291840"/>
          </a:xfrm>
          <a:prstGeom prst="rect">
            <a:avLst/>
          </a:prstGeom>
          <a:solidFill>
            <a:srgbClr val="27D3BE"/>
          </a:solidFill>
          <a:ln w="12700">
            <a:solidFill>
              <a:srgbClr val="27D3BE"/>
            </a:solidFill>
            <a:prstDash val="solid"/>
          </a:ln>
        </p:spPr>
        <p:txBody>
          <a:bodyPr/>
          <a:p/>
        </p:txBody>
      </p:sp>
      <p:sp>
        <p:nvSpPr>
          <p:cNvPr id="7" name="Text 5"/>
          <p:cNvSpPr/>
          <p:nvPr/>
        </p:nvSpPr>
        <p:spPr>
          <a:xfrm>
            <a:off x="960120" y="1828800"/>
            <a:ext cx="10515600" cy="3291840"/>
          </a:xfrm>
          <a:prstGeom prst="rect">
            <a:avLst/>
          </a:prstGeom>
          <a:noFill/>
          <a:ln/>
        </p:spPr>
        <p:txBody>
          <a:bodyPr wrap="square" lIns="0" tIns="0" rIns="0" bIns="0" rtlCol="0" anchor="ctr"/>
          <a:lstStyle/>
          <a:p>
            <a:pPr indent="0" marL="0">
              <a:buNone/>
            </a:pPr>
            <a:r>
              <a:rPr lang="en-US" sz="2300" i="1" dirty="0">
                <a:solidFill>
                  <a:srgbClr val="FFFFFF"/>
                </a:solidFill>
                <a:latin typeface="Palatino Linotype" pitchFamily="34" charset="0"/>
                <a:ea typeface="Palatino Linotype" pitchFamily="34" charset="-122"/>
                <a:cs typeface="Palatino Linotype" pitchFamily="34" charset="-120"/>
              </a:rPr>
              <a:t>„Criza americană a opioidelor a început cu rețete. Înainte să scrii un opioid pentru o durere care durează de luni de zile, încearcă tratamentele fără opioide, stabilește cu pacientul ce vreți să obțineți și cât durează. Și nu combina, fără un motiv bun, opioidul cu o benzodiazepină.”</a:t>
            </a:r>
            <a:endParaRPr lang="en-US" sz="2300" dirty="0"/>
          </a:p>
        </p:txBody>
      </p:sp>
      <p:sp>
        <p:nvSpPr>
          <p:cNvPr id="8" name="Text 6"/>
          <p:cNvSpPr/>
          <p:nvPr/>
        </p:nvSpPr>
        <p:spPr>
          <a:xfrm>
            <a:off x="594360" y="5486400"/>
            <a:ext cx="10972800" cy="41148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Scrieți-o în chat, cu cuvintele voastre.</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2103120"/>
            <a:ext cx="10972800" cy="1280160"/>
          </a:xfrm>
          <a:prstGeom prst="rect">
            <a:avLst/>
          </a:prstGeom>
          <a:noFill/>
          <a:ln/>
        </p:spPr>
        <p:txBody>
          <a:bodyPr wrap="square" lIns="0" tIns="0" rIns="0" bIns="0" rtlCol="0" anchor="ctr"/>
          <a:lstStyle/>
          <a:p>
            <a:pPr algn="ctr" indent="0" marL="0">
              <a:buNone/>
            </a:pPr>
            <a:r>
              <a:rPr lang="en-US" sz="6600" b="1" dirty="0">
                <a:solidFill>
                  <a:srgbClr val="FFFFFF"/>
                </a:solidFill>
                <a:latin typeface="Palatino Linotype" pitchFamily="34" charset="0"/>
                <a:ea typeface="Palatino Linotype" pitchFamily="34" charset="-122"/>
                <a:cs typeface="Palatino Linotype" pitchFamily="34" charset="-120"/>
              </a:rPr>
              <a:t>Zece minute</a:t>
            </a:r>
            <a:endParaRPr lang="en-US" sz="6600" dirty="0"/>
          </a:p>
        </p:txBody>
      </p:sp>
      <p:sp>
        <p:nvSpPr>
          <p:cNvPr id="3" name="Text 1"/>
          <p:cNvSpPr/>
          <p:nvPr/>
        </p:nvSpPr>
        <p:spPr>
          <a:xfrm>
            <a:off x="1371600" y="3566160"/>
            <a:ext cx="9418320" cy="822960"/>
          </a:xfrm>
          <a:prstGeom prst="rect">
            <a:avLst/>
          </a:prstGeom>
          <a:noFill/>
          <a:ln/>
        </p:spPr>
        <p:txBody>
          <a:bodyPr wrap="square" lIns="0" tIns="0" rIns="0" bIns="0" rtlCol="0" anchor="t"/>
          <a:lstStyle/>
          <a:p>
            <a:pPr algn="ctr" indent="0" marL="0">
              <a:buNone/>
            </a:pPr>
            <a:r>
              <a:rPr lang="en-US" sz="2000" dirty="0">
                <a:solidFill>
                  <a:srgbClr val="959BB0"/>
                </a:solidFill>
                <a:latin typeface="Palatino Linotype" pitchFamily="34" charset="0"/>
                <a:ea typeface="Palatino Linotype" pitchFamily="34" charset="-122"/>
                <a:cs typeface="Palatino Linotype" pitchFamily="34" charset="-120"/>
              </a:rPr>
              <a:t>Urmează seringa curată: București, 2010.</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PARTEA A TREIA · SERINGA CURATĂ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București, la câțiva ani după aderare</a:t>
            </a:r>
            <a:endParaRPr lang="en-US" sz="3200" dirty="0"/>
          </a:p>
        </p:txBody>
      </p:sp>
      <p:sp>
        <p:nvSpPr>
          <p:cNvPr id="4" name="Shape 2"/>
          <p:cNvSpPr/>
          <p:nvPr/>
        </p:nvSpPr>
        <p:spPr>
          <a:xfrm>
            <a:off x="594360" y="1463040"/>
            <a:ext cx="6766560" cy="3566160"/>
          </a:xfrm>
          <a:prstGeom prst="roundRect">
            <a:avLst>
              <a:gd name="adj" fmla="val 2308"/>
            </a:avLst>
          </a:prstGeom>
          <a:solidFill>
            <a:srgbClr val="1D1F2B"/>
          </a:solidFill>
          <a:ln w="12700">
            <a:solidFill>
              <a:srgbClr val="1D1F2B"/>
            </a:solidFill>
            <a:prstDash val="solid"/>
          </a:ln>
        </p:spPr>
        <p:txBody>
          <a:bodyPr/>
          <a:p/>
        </p:txBody>
      </p:sp>
      <p:sp>
        <p:nvSpPr>
          <p:cNvPr id="5" name="Shape 3"/>
          <p:cNvSpPr/>
          <p:nvPr/>
        </p:nvSpPr>
        <p:spPr>
          <a:xfrm>
            <a:off x="594360" y="1463040"/>
            <a:ext cx="73152" cy="3566160"/>
          </a:xfrm>
          <a:prstGeom prst="rect">
            <a:avLst/>
          </a:prstGeom>
          <a:solidFill>
            <a:srgbClr val="27D3BE"/>
          </a:solidFill>
          <a:ln w="12700">
            <a:solidFill>
              <a:srgbClr val="27D3BE"/>
            </a:solidFill>
            <a:prstDash val="solid"/>
          </a:ln>
        </p:spPr>
        <p:txBody>
          <a:bodyPr/>
          <a:p/>
        </p:txBody>
      </p:sp>
      <p:sp>
        <p:nvSpPr>
          <p:cNvPr id="6" name="Text 4"/>
          <p:cNvSpPr/>
          <p:nvPr/>
        </p:nvSpPr>
        <p:spPr>
          <a:xfrm>
            <a:off x="914400" y="1645920"/>
            <a:ext cx="6217920" cy="292608"/>
          </a:xfrm>
          <a:prstGeom prst="rect">
            <a:avLst/>
          </a:prstGeom>
          <a:noFill/>
          <a:ln/>
        </p:spPr>
        <p:txBody>
          <a:bodyPr wrap="square" lIns="0" tIns="0" rIns="0" bIns="0" rtlCol="0" anchor="t"/>
          <a:lstStyle/>
          <a:p>
            <a:pPr indent="0" marL="0">
              <a:buNone/>
            </a:pPr>
            <a:r>
              <a:rPr lang="en-US" sz="1250" b="1" spc="200" kern="0" dirty="0">
                <a:solidFill>
                  <a:srgbClr val="27D3BE"/>
                </a:solidFill>
                <a:latin typeface="Palatino Linotype" pitchFamily="34" charset="0"/>
                <a:ea typeface="Palatino Linotype" pitchFamily="34" charset="-122"/>
                <a:cs typeface="Palatino Linotype" pitchFamily="34" charset="-120"/>
              </a:rPr>
              <a:t>SPITALUL DE BOLI INFECȚIOASE</a:t>
            </a:r>
            <a:endParaRPr lang="en-US" sz="1250" dirty="0"/>
          </a:p>
        </p:txBody>
      </p:sp>
      <p:sp>
        <p:nvSpPr>
          <p:cNvPr id="7" name="Text 5"/>
          <p:cNvSpPr/>
          <p:nvPr/>
        </p:nvSpPr>
        <p:spPr>
          <a:xfrm>
            <a:off x="914400" y="2057400"/>
            <a:ext cx="6217920" cy="283464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Numărul tinerilor care își injectează droguri și primesc un diagnostic nou de infecție HIV crește de la o lună la alta. Mulți nu mai injectează heroină, ci o pulbere vândută legal, ca „sare de baie” sau „îngrășământ pentru plante”.</a:t>
            </a:r>
            <a:endParaRPr lang="en-US" sz="1700" dirty="0"/>
          </a:p>
        </p:txBody>
      </p:sp>
      <p:sp>
        <p:nvSpPr>
          <p:cNvPr id="8" name="Shape 6"/>
          <p:cNvSpPr/>
          <p:nvPr/>
        </p:nvSpPr>
        <p:spPr>
          <a:xfrm>
            <a:off x="7635240" y="1463040"/>
            <a:ext cx="3931920" cy="3566160"/>
          </a:xfrm>
          <a:prstGeom prst="roundRect">
            <a:avLst>
              <a:gd name="adj" fmla="val 2308"/>
            </a:avLst>
          </a:prstGeom>
          <a:solidFill>
            <a:srgbClr val="272A38"/>
          </a:solidFill>
          <a:ln w="12700">
            <a:solidFill>
              <a:srgbClr val="272A38"/>
            </a:solidFill>
            <a:prstDash val="solid"/>
          </a:ln>
        </p:spPr>
        <p:txBody>
          <a:bodyPr/>
          <a:p/>
        </p:txBody>
      </p:sp>
      <p:sp>
        <p:nvSpPr>
          <p:cNvPr id="9" name="Text 7"/>
          <p:cNvSpPr/>
          <p:nvPr/>
        </p:nvSpPr>
        <p:spPr>
          <a:xfrm>
            <a:off x="7909560" y="1645920"/>
            <a:ext cx="3474720" cy="292608"/>
          </a:xfrm>
          <a:prstGeom prst="rect">
            <a:avLst/>
          </a:prstGeom>
          <a:noFill/>
          <a:ln/>
        </p:spPr>
        <p:txBody>
          <a:bodyPr wrap="square" lIns="0" tIns="0" rIns="0" bIns="0" rtlCol="0" anchor="t"/>
          <a:lstStyle/>
          <a:p>
            <a:pPr indent="0" marL="0">
              <a:buNone/>
            </a:pPr>
            <a:r>
              <a:rPr lang="en-US" sz="1250" b="1" spc="200" kern="0" dirty="0">
                <a:solidFill>
                  <a:srgbClr val="FFC24B"/>
                </a:solidFill>
                <a:latin typeface="Palatino Linotype" pitchFamily="34" charset="0"/>
                <a:ea typeface="Palatino Linotype" pitchFamily="34" charset="-122"/>
                <a:cs typeface="Palatino Linotype" pitchFamily="34" charset="-120"/>
              </a:rPr>
              <a:t>UN MEDIC REZIDENT</a:t>
            </a:r>
            <a:endParaRPr lang="en-US" sz="1250" dirty="0"/>
          </a:p>
        </p:txBody>
      </p:sp>
      <p:sp>
        <p:nvSpPr>
          <p:cNvPr id="10" name="Text 8"/>
          <p:cNvSpPr/>
          <p:nvPr/>
        </p:nvSpPr>
        <p:spPr>
          <a:xfrm>
            <a:off x="7909560" y="2103120"/>
            <a:ext cx="3474720" cy="2651760"/>
          </a:xfrm>
          <a:prstGeom prst="rect">
            <a:avLst/>
          </a:prstGeom>
          <a:noFill/>
          <a:ln/>
        </p:spPr>
        <p:txBody>
          <a:bodyPr wrap="square" lIns="0" tIns="0" rIns="0" bIns="0" rtlCol="0" anchor="ctr"/>
          <a:lstStyle/>
          <a:p>
            <a:pPr indent="0" marL="0">
              <a:buNone/>
            </a:pPr>
            <a:r>
              <a:rPr lang="en-US" sz="2400" b="1" i="1" dirty="0">
                <a:solidFill>
                  <a:srgbClr val="FFFFFF"/>
                </a:solidFill>
                <a:latin typeface="Palatino Linotype" pitchFamily="34" charset="0"/>
                <a:ea typeface="Palatino Linotype" pitchFamily="34" charset="-122"/>
                <a:cs typeface="Palatino Linotype" pitchFamily="34" charset="-120"/>
              </a:rPr>
              <a:t>„Cum s-a putut întâmpla asta atât de repede?”</a:t>
            </a:r>
            <a:endParaRPr lang="en-US" sz="2400" dirty="0"/>
          </a:p>
        </p:txBody>
      </p:sp>
      <p:sp>
        <p:nvSpPr>
          <p:cNvPr id="11" name="Text 9"/>
          <p:cNvSpPr/>
          <p:nvPr/>
        </p:nvSpPr>
        <p:spPr>
          <a:xfrm>
            <a:off x="594360" y="6309360"/>
            <a:ext cx="7315200" cy="256032"/>
          </a:xfrm>
          <a:prstGeom prst="rect">
            <a:avLst/>
          </a:prstGeom>
          <a:noFill/>
          <a:ln/>
        </p:spPr>
        <p:txBody>
          <a:bodyPr wrap="square" lIns="0" tIns="0" rIns="0" bIns="0" rtlCol="0" anchor="t"/>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Cazul este o reconstituire; cifrele care urmează nu sunt.</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COMISIA THE LANCET · 2016</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Două schimbări în același timp</a:t>
            </a:r>
            <a:endParaRPr lang="en-US" sz="3200" dirty="0"/>
          </a:p>
        </p:txBody>
      </p:sp>
      <p:sp>
        <p:nvSpPr>
          <p:cNvPr id="4" name="Shape 2"/>
          <p:cNvSpPr/>
          <p:nvPr/>
        </p:nvSpPr>
        <p:spPr>
          <a:xfrm>
            <a:off x="594360" y="1463040"/>
            <a:ext cx="5120640" cy="1737360"/>
          </a:xfrm>
          <a:prstGeom prst="roundRect">
            <a:avLst>
              <a:gd name="adj" fmla="val 4737"/>
            </a:avLst>
          </a:prstGeom>
          <a:solidFill>
            <a:srgbClr val="ECEAE4"/>
          </a:solidFill>
          <a:ln w="12700">
            <a:solidFill>
              <a:srgbClr val="ECEAE4"/>
            </a:solidFill>
            <a:prstDash val="solid"/>
          </a:ln>
        </p:spPr>
        <p:txBody>
          <a:bodyPr/>
          <a:p/>
        </p:txBody>
      </p:sp>
      <p:sp>
        <p:nvSpPr>
          <p:cNvPr id="5" name="Text 3"/>
          <p:cNvSpPr/>
          <p:nvPr/>
        </p:nvSpPr>
        <p:spPr>
          <a:xfrm>
            <a:off x="868680" y="1572768"/>
            <a:ext cx="4572000" cy="868680"/>
          </a:xfrm>
          <a:prstGeom prst="rect">
            <a:avLst/>
          </a:prstGeom>
          <a:noFill/>
          <a:ln/>
        </p:spPr>
        <p:txBody>
          <a:bodyPr wrap="square" lIns="0" tIns="0" rIns="0" bIns="0" rtlCol="0" anchor="ctr"/>
          <a:lstStyle/>
          <a:p>
            <a:pPr indent="0" marL="0">
              <a:buNone/>
            </a:pPr>
            <a:r>
              <a:rPr lang="en-US" sz="3600" b="1" dirty="0">
                <a:solidFill>
                  <a:srgbClr val="B02532"/>
                </a:solidFill>
                <a:latin typeface="Palatino Linotype" pitchFamily="34" charset="0"/>
                <a:ea typeface="Palatino Linotype" pitchFamily="34" charset="-122"/>
                <a:cs typeface="Palatino Linotype" pitchFamily="34" charset="-120"/>
              </a:rPr>
              <a:t>de 20 de ori</a:t>
            </a:r>
            <a:endParaRPr lang="en-US" sz="3600" dirty="0"/>
          </a:p>
        </p:txBody>
      </p:sp>
      <p:sp>
        <p:nvSpPr>
          <p:cNvPr id="6" name="Text 4"/>
          <p:cNvSpPr/>
          <p:nvPr/>
        </p:nvSpPr>
        <p:spPr>
          <a:xfrm>
            <a:off x="868680" y="2350008"/>
            <a:ext cx="4572000" cy="799186"/>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creșterea diagnosticelor noi de HIV prin injectare</a:t>
            </a:r>
            <a:endParaRPr lang="en-US" sz="1200" dirty="0"/>
          </a:p>
        </p:txBody>
      </p:sp>
      <p:sp>
        <p:nvSpPr>
          <p:cNvPr id="7" name="Shape 5"/>
          <p:cNvSpPr/>
          <p:nvPr/>
        </p:nvSpPr>
        <p:spPr>
          <a:xfrm>
            <a:off x="594360" y="3383280"/>
            <a:ext cx="5120640" cy="1737360"/>
          </a:xfrm>
          <a:prstGeom prst="roundRect">
            <a:avLst>
              <a:gd name="adj" fmla="val 4737"/>
            </a:avLst>
          </a:prstGeom>
          <a:solidFill>
            <a:srgbClr val="ECEAE4"/>
          </a:solidFill>
          <a:ln w="12700">
            <a:solidFill>
              <a:srgbClr val="ECEAE4"/>
            </a:solidFill>
            <a:prstDash val="solid"/>
          </a:ln>
        </p:spPr>
        <p:txBody>
          <a:bodyPr/>
          <a:p/>
        </p:txBody>
      </p:sp>
      <p:sp>
        <p:nvSpPr>
          <p:cNvPr id="8" name="Text 6"/>
          <p:cNvSpPr/>
          <p:nvPr/>
        </p:nvSpPr>
        <p:spPr>
          <a:xfrm>
            <a:off x="868680" y="3493008"/>
            <a:ext cx="4572000" cy="868680"/>
          </a:xfrm>
          <a:prstGeom prst="rect">
            <a:avLst/>
          </a:prstGeom>
          <a:noFill/>
          <a:ln/>
        </p:spPr>
        <p:txBody>
          <a:bodyPr wrap="square" lIns="0" tIns="0" rIns="0" bIns="0" rtlCol="0" anchor="ctr"/>
          <a:lstStyle/>
          <a:p>
            <a:pPr indent="0" marL="0">
              <a:buNone/>
            </a:pPr>
            <a:r>
              <a:rPr lang="en-US" sz="3600" b="1" dirty="0">
                <a:solidFill>
                  <a:srgbClr val="B02532"/>
                </a:solidFill>
                <a:latin typeface="Palatino Linotype" pitchFamily="34" charset="0"/>
                <a:ea typeface="Palatino Linotype" pitchFamily="34" charset="-122"/>
                <a:cs typeface="Palatino Linotype" pitchFamily="34" charset="-120"/>
              </a:rPr>
              <a:t>o treime</a:t>
            </a:r>
            <a:endParaRPr lang="en-US" sz="3600" dirty="0"/>
          </a:p>
        </p:txBody>
      </p:sp>
      <p:sp>
        <p:nvSpPr>
          <p:cNvPr id="9" name="Text 7"/>
          <p:cNvSpPr/>
          <p:nvPr/>
        </p:nvSpPr>
        <p:spPr>
          <a:xfrm>
            <a:off x="868680" y="4270248"/>
            <a:ext cx="4572000" cy="799186"/>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din HIV prin injectare în UE de atunci, Norvegia, Islanda și Turcia, 2010–2012: România și Grecia, împreună</a:t>
            </a:r>
            <a:endParaRPr lang="en-US" sz="1200" dirty="0"/>
          </a:p>
        </p:txBody>
      </p:sp>
      <p:sp>
        <p:nvSpPr>
          <p:cNvPr id="10" name="Shape 8"/>
          <p:cNvSpPr/>
          <p:nvPr/>
        </p:nvSpPr>
        <p:spPr>
          <a:xfrm>
            <a:off x="5989320" y="1463040"/>
            <a:ext cx="5577840" cy="1737360"/>
          </a:xfrm>
          <a:prstGeom prst="roundRect">
            <a:avLst>
              <a:gd name="adj" fmla="val 4737"/>
            </a:avLst>
          </a:prstGeom>
          <a:solidFill>
            <a:srgbClr val="E1F0EC"/>
          </a:solidFill>
          <a:ln w="12700">
            <a:solidFill>
              <a:srgbClr val="E1F0EC"/>
            </a:solidFill>
            <a:prstDash val="solid"/>
          </a:ln>
        </p:spPr>
        <p:txBody>
          <a:bodyPr/>
          <a:p/>
        </p:txBody>
      </p:sp>
      <p:sp>
        <p:nvSpPr>
          <p:cNvPr id="11" name="Shape 9"/>
          <p:cNvSpPr/>
          <p:nvPr/>
        </p:nvSpPr>
        <p:spPr>
          <a:xfrm>
            <a:off x="6263640" y="2121408"/>
            <a:ext cx="420624" cy="420624"/>
          </a:xfrm>
          <a:prstGeom prst="ellipse">
            <a:avLst/>
          </a:prstGeom>
          <a:solidFill>
            <a:srgbClr val="0E7C6B"/>
          </a:solidFill>
          <a:ln/>
        </p:spPr>
        <p:txBody>
          <a:bodyPr/>
          <a:p/>
        </p:txBody>
      </p:sp>
      <p:sp>
        <p:nvSpPr>
          <p:cNvPr id="12" name="Text 10"/>
          <p:cNvSpPr/>
          <p:nvPr/>
        </p:nvSpPr>
        <p:spPr>
          <a:xfrm>
            <a:off x="6263640" y="21214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3" name="Text 11"/>
          <p:cNvSpPr/>
          <p:nvPr/>
        </p:nvSpPr>
        <p:spPr>
          <a:xfrm>
            <a:off x="6903720" y="1463040"/>
            <a:ext cx="4480560" cy="173736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Reducerea riscurilor, slăbită în 2010: finanțarea Fondului Global s-a pierdut odată cu aderarea.</a:t>
            </a:r>
            <a:endParaRPr lang="en-US" sz="1550" dirty="0"/>
          </a:p>
        </p:txBody>
      </p:sp>
      <p:sp>
        <p:nvSpPr>
          <p:cNvPr id="14" name="Shape 12"/>
          <p:cNvSpPr/>
          <p:nvPr/>
        </p:nvSpPr>
        <p:spPr>
          <a:xfrm>
            <a:off x="5989320" y="3383280"/>
            <a:ext cx="5577840" cy="1737360"/>
          </a:xfrm>
          <a:prstGeom prst="roundRect">
            <a:avLst>
              <a:gd name="adj" fmla="val 4737"/>
            </a:avLst>
          </a:prstGeom>
          <a:solidFill>
            <a:srgbClr val="E1F0EC"/>
          </a:solidFill>
          <a:ln w="12700">
            <a:solidFill>
              <a:srgbClr val="E1F0EC"/>
            </a:solidFill>
            <a:prstDash val="solid"/>
          </a:ln>
        </p:spPr>
        <p:txBody>
          <a:bodyPr/>
          <a:p/>
        </p:txBody>
      </p:sp>
      <p:sp>
        <p:nvSpPr>
          <p:cNvPr id="15" name="Shape 13"/>
          <p:cNvSpPr/>
          <p:nvPr/>
        </p:nvSpPr>
        <p:spPr>
          <a:xfrm>
            <a:off x="6263640" y="4041648"/>
            <a:ext cx="420624" cy="420624"/>
          </a:xfrm>
          <a:prstGeom prst="ellipse">
            <a:avLst/>
          </a:prstGeom>
          <a:solidFill>
            <a:srgbClr val="0E7C6B"/>
          </a:solidFill>
          <a:ln/>
        </p:spPr>
        <p:txBody>
          <a:bodyPr/>
          <a:p/>
        </p:txBody>
      </p:sp>
      <p:sp>
        <p:nvSpPr>
          <p:cNvPr id="16" name="Text 14"/>
          <p:cNvSpPr/>
          <p:nvPr/>
        </p:nvSpPr>
        <p:spPr>
          <a:xfrm>
            <a:off x="6263640" y="404164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7" name="Text 15"/>
          <p:cNvSpPr/>
          <p:nvPr/>
        </p:nvSpPr>
        <p:spPr>
          <a:xfrm>
            <a:off x="6903720" y="3383280"/>
            <a:ext cx="4480560" cy="173736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Stimulante ieftine, încă necontrolate: șase până la zece injectări pe zi, față de două sau trei la heroină.</a:t>
            </a:r>
            <a:endParaRPr lang="en-US" sz="1550" dirty="0"/>
          </a:p>
        </p:txBody>
      </p:sp>
      <p:sp>
        <p:nvSpPr>
          <p:cNvPr id="18" name="Text 16"/>
          <p:cNvSpPr/>
          <p:nvPr/>
        </p:nvSpPr>
        <p:spPr>
          <a:xfrm>
            <a:off x="594360" y="5349240"/>
            <a:ext cx="10972800" cy="731520"/>
          </a:xfrm>
          <a:prstGeom prst="rect">
            <a:avLst/>
          </a:prstGeom>
          <a:noFill/>
          <a:ln/>
        </p:spPr>
        <p:txBody>
          <a:bodyPr wrap="square" lIns="0" tIns="0" rIns="0" bIns="0" rtlCol="0" anchor="t"/>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Problema atribuirii: ambele cauze sunt numite, fără ponderea fiecăreia.</a:t>
            </a:r>
            <a:endParaRPr lang="en-US" sz="1600" dirty="0"/>
          </a:p>
        </p:txBody>
      </p:sp>
      <p:sp>
        <p:nvSpPr>
          <p:cNvPr id="19" name="Text 17"/>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comisia The Lancet pentru sănătate publică și politica drogurilor, 2016.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AL DOILEA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Reducerea riscurilor</a:t>
            </a:r>
            <a:endParaRPr lang="en-US" sz="3400" dirty="0"/>
          </a:p>
        </p:txBody>
      </p:sp>
      <p:sp>
        <p:nvSpPr>
          <p:cNvPr id="4" name="Text 2"/>
          <p:cNvSpPr/>
          <p:nvPr/>
        </p:nvSpPr>
        <p:spPr>
          <a:xfrm>
            <a:off x="594360" y="1417320"/>
            <a:ext cx="5852160" cy="164592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Politicile, programele și intervențiile care reduc efectele sanitare, sociale, juridice și economice ale consumului de droguri. Obiectivul principal nu este încetarea totală a consumului.</a:t>
            </a:r>
            <a:endParaRPr lang="en-US" sz="1700" dirty="0"/>
          </a:p>
        </p:txBody>
      </p:sp>
      <p:sp>
        <p:nvSpPr>
          <p:cNvPr id="5" name="Text 3"/>
          <p:cNvSpPr/>
          <p:nvPr/>
        </p:nvSpPr>
        <p:spPr>
          <a:xfrm>
            <a:off x="594360" y="3200400"/>
            <a:ext cx="5852160" cy="914400"/>
          </a:xfrm>
          <a:prstGeom prst="rect">
            <a:avLst/>
          </a:prstGeom>
          <a:noFill/>
          <a:ln/>
        </p:spPr>
        <p:txBody>
          <a:bodyPr wrap="square" lIns="0" tIns="0" rIns="0" bIns="0" rtlCol="0" anchor="t"/>
          <a:lstStyle/>
          <a:p>
            <a:pPr indent="0" marL="0">
              <a:buNone/>
            </a:pPr>
            <a:r>
              <a:rPr lang="en-US" sz="1900" b="1" i="1" dirty="0">
                <a:solidFill>
                  <a:srgbClr val="FFC24B"/>
                </a:solidFill>
                <a:latin typeface="Palatino Linotype" pitchFamily="34" charset="0"/>
                <a:ea typeface="Palatino Linotype" pitchFamily="34" charset="-122"/>
                <a:cs typeface="Palatino Linotype" pitchFamily="34" charset="-120"/>
              </a:rPr>
              <a:t>„Dacă tot consumi, să nu mori și să nu te îmbolnăvești din asta.”</a:t>
            </a:r>
            <a:endParaRPr lang="en-US" sz="1900" dirty="0"/>
          </a:p>
        </p:txBody>
      </p:sp>
      <p:sp>
        <p:nvSpPr>
          <p:cNvPr id="6" name="Shape 4"/>
          <p:cNvSpPr/>
          <p:nvPr/>
        </p:nvSpPr>
        <p:spPr>
          <a:xfrm>
            <a:off x="6720840" y="1463040"/>
            <a:ext cx="4846320" cy="3840480"/>
          </a:xfrm>
          <a:prstGeom prst="roundRect">
            <a:avLst>
              <a:gd name="adj" fmla="val 2143"/>
            </a:avLst>
          </a:prstGeom>
          <a:solidFill>
            <a:srgbClr val="1D1F2B"/>
          </a:solidFill>
          <a:ln w="12700">
            <a:solidFill>
              <a:srgbClr val="1D1F2B"/>
            </a:solidFill>
            <a:prstDash val="solid"/>
          </a:ln>
        </p:spPr>
        <p:txBody>
          <a:bodyPr/>
          <a:p/>
        </p:txBody>
      </p:sp>
      <p:sp>
        <p:nvSpPr>
          <p:cNvPr id="7" name="Text 5"/>
          <p:cNvSpPr/>
          <p:nvPr/>
        </p:nvSpPr>
        <p:spPr>
          <a:xfrm>
            <a:off x="6995160" y="1645920"/>
            <a:ext cx="4389120" cy="292608"/>
          </a:xfrm>
          <a:prstGeom prst="rect">
            <a:avLst/>
          </a:prstGeom>
          <a:noFill/>
          <a:ln/>
        </p:spPr>
        <p:txBody>
          <a:bodyPr wrap="square" lIns="0" tIns="0" rIns="0" bIns="0" rtlCol="0" anchor="t"/>
          <a:lstStyle/>
          <a:p>
            <a:pPr indent="0" marL="0">
              <a:buNone/>
            </a:pPr>
            <a:r>
              <a:rPr lang="en-US" sz="1250" b="1" spc="200" kern="0" dirty="0">
                <a:solidFill>
                  <a:srgbClr val="27D3BE"/>
                </a:solidFill>
                <a:latin typeface="Palatino Linotype" pitchFamily="34" charset="0"/>
                <a:ea typeface="Palatino Linotype" pitchFamily="34" charset="-122"/>
                <a:cs typeface="Palatino Linotype" pitchFamily="34" charset="-120"/>
              </a:rPr>
              <a:t>EXEMPLE</a:t>
            </a:r>
            <a:endParaRPr lang="en-US" sz="1250" dirty="0"/>
          </a:p>
        </p:txBody>
      </p:sp>
      <p:sp>
        <p:nvSpPr>
          <p:cNvPr id="8" name="Text 6"/>
          <p:cNvSpPr/>
          <p:nvPr/>
        </p:nvSpPr>
        <p:spPr>
          <a:xfrm>
            <a:off x="6995160" y="2057400"/>
            <a:ext cx="4389120" cy="3108960"/>
          </a:xfrm>
          <a:prstGeom prst="rect">
            <a:avLst/>
          </a:prstGeom>
          <a:noFill/>
          <a:ln/>
        </p:spPr>
        <p:txBody>
          <a:bodyPr wrap="square" lIns="0" tIns="0" rIns="0" bIns="0" rtlCol="0" anchor="t"/>
          <a:lstStyle/>
          <a:p>
            <a:pPr marL="342900" indent="-342900">
              <a:spcAft>
                <a:spcPts val="600"/>
              </a:spcAft>
              <a:buSzPct val="100000"/>
              <a:buChar char="•"/>
            </a:pPr>
            <a:r>
              <a:rPr lang="en-US" sz="1550" dirty="0">
                <a:solidFill>
                  <a:srgbClr val="FFFFFF"/>
                </a:solidFill>
                <a:latin typeface="Palatino Linotype" pitchFamily="34" charset="0"/>
                <a:ea typeface="Palatino Linotype" pitchFamily="34" charset="-122"/>
                <a:cs typeface="Palatino Linotype" pitchFamily="34" charset="-120"/>
              </a:rPr>
              <a:t>schimbul de seringi</a:t>
            </a:r>
            <a:endParaRPr lang="en-US" sz="1550" dirty="0"/>
          </a:p>
          <a:p>
            <a:pPr marL="342900" indent="-342900">
              <a:spcAft>
                <a:spcPts val="600"/>
              </a:spcAft>
              <a:buSzPct val="100000"/>
              <a:buChar char="•"/>
            </a:pPr>
            <a:r>
              <a:rPr lang="en-US" sz="1550" dirty="0">
                <a:solidFill>
                  <a:srgbClr val="FFFFFF"/>
                </a:solidFill>
                <a:latin typeface="Palatino Linotype" pitchFamily="34" charset="0"/>
                <a:ea typeface="Palatino Linotype" pitchFamily="34" charset="-122"/>
                <a:cs typeface="Palatino Linotype" pitchFamily="34" charset="-120"/>
              </a:rPr>
              <a:t>naloxona dată celor care pot fi martori la o supradoză</a:t>
            </a:r>
            <a:endParaRPr lang="en-US" sz="1550" dirty="0"/>
          </a:p>
          <a:p>
            <a:pPr marL="342900" indent="-342900">
              <a:spcAft>
                <a:spcPts val="600"/>
              </a:spcAft>
              <a:buSzPct val="100000"/>
              <a:buChar char="•"/>
            </a:pPr>
            <a:r>
              <a:rPr lang="en-US" sz="1550" dirty="0">
                <a:solidFill>
                  <a:srgbClr val="FFFFFF"/>
                </a:solidFill>
                <a:latin typeface="Palatino Linotype" pitchFamily="34" charset="0"/>
                <a:ea typeface="Palatino Linotype" pitchFamily="34" charset="-122"/>
                <a:cs typeface="Palatino Linotype" pitchFamily="34" charset="-120"/>
              </a:rPr>
              <a:t>camerele de consum supravegheat</a:t>
            </a:r>
            <a:endParaRPr lang="en-US" sz="1550" dirty="0"/>
          </a:p>
          <a:p>
            <a:pPr marL="342900" indent="-342900">
              <a:spcAft>
                <a:spcPts val="600"/>
              </a:spcAft>
              <a:buSzPct val="100000"/>
              <a:buChar char="•"/>
            </a:pPr>
            <a:r>
              <a:rPr lang="en-US" sz="1550" dirty="0">
                <a:solidFill>
                  <a:srgbClr val="FFFFFF"/>
                </a:solidFill>
                <a:latin typeface="Palatino Linotype" pitchFamily="34" charset="0"/>
                <a:ea typeface="Palatino Linotype" pitchFamily="34" charset="-122"/>
                <a:cs typeface="Palatino Linotype" pitchFamily="34" charset="-120"/>
              </a:rPr>
              <a:t>analiza drogurilor cumpărate</a:t>
            </a:r>
            <a:endParaRPr lang="en-US" sz="1550" dirty="0"/>
          </a:p>
          <a:p>
            <a:pPr marL="342900" indent="-342900">
              <a:spcAft>
                <a:spcPts val="600"/>
              </a:spcAft>
              <a:buSzPct val="100000"/>
              <a:buChar char="•"/>
            </a:pPr>
            <a:r>
              <a:rPr lang="en-US" sz="1550" dirty="0">
                <a:solidFill>
                  <a:srgbClr val="FFFFFF"/>
                </a:solidFill>
                <a:latin typeface="Palatino Linotype" pitchFamily="34" charset="0"/>
                <a:ea typeface="Palatino Linotype" pitchFamily="34" charset="-122"/>
                <a:cs typeface="Palatino Linotype" pitchFamily="34" charset="-120"/>
              </a:rPr>
              <a:t>tratamentul de substituție, într-un cadru medical obișnuit</a:t>
            </a:r>
            <a:endParaRPr lang="en-US" sz="1550" dirty="0"/>
          </a:p>
        </p:txBody>
      </p:sp>
      <p:sp>
        <p:nvSpPr>
          <p:cNvPr id="9" name="Text 7"/>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Surse: EUDA, European Drug Report 2026; raportul național privind situația drogurilor.</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NOR DE CUVINTE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UN SINGUR CUVÂNT</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cuvânt vă vine în minte când auziți „schimb de seringi”?</a:t>
            </a:r>
            <a:endParaRPr lang="en-US" sz="3200" dirty="0"/>
          </a:p>
        </p:txBody>
      </p:sp>
      <p:sp>
        <p:nvSpPr>
          <p:cNvPr id="6" name="Text 4"/>
          <p:cNvSpPr/>
          <p:nvPr/>
        </p:nvSpPr>
        <p:spPr>
          <a:xfrm>
            <a:off x="594360" y="2377440"/>
            <a:ext cx="8229600" cy="822960"/>
          </a:xfrm>
          <a:prstGeom prst="rect">
            <a:avLst/>
          </a:prstGeom>
          <a:noFill/>
          <a:ln/>
        </p:spPr>
        <p:txBody>
          <a:bodyPr wrap="square" lIns="0" tIns="0" rIns="0" bIns="0" rtlCol="0" anchor="t"/>
          <a:lstStyle/>
          <a:p>
            <a:pPr indent="0" marL="0">
              <a:buNone/>
            </a:pPr>
            <a:r>
              <a:rPr lang="en-US" sz="1800" dirty="0">
                <a:solidFill>
                  <a:srgbClr val="959BB0"/>
                </a:solidFill>
                <a:latin typeface="Palatino Linotype" pitchFamily="34" charset="0"/>
                <a:ea typeface="Palatino Linotype" pitchFamily="34" charset="-122"/>
                <a:cs typeface="Palatino Linotype" pitchFamily="34" charset="-120"/>
              </a:rPr>
              <a:t>Răspunsurile apar ca nor de cuvinte și rămân pe ecran în timpul explicației.</a:t>
            </a:r>
            <a:endParaRPr lang="en-US" sz="1800" dirty="0"/>
          </a:p>
        </p:txBody>
      </p:sp>
      <p:sp>
        <p:nvSpPr>
          <p:cNvPr id="7" name="Text 5"/>
          <p:cNvSpPr/>
          <p:nvPr/>
        </p:nvSpPr>
        <p:spPr>
          <a:xfrm>
            <a:off x="594360" y="3383280"/>
            <a:ext cx="8595360" cy="41148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Răspundeți pe telefon, la codul afișat.</a:t>
            </a:r>
            <a:endParaRPr lang="en-US" sz="1600" dirty="0"/>
          </a:p>
        </p:txBody>
      </p:sp>
      <p:sp>
        <p:nvSpPr>
          <p:cNvPr id="8" name="Shape 6"/>
          <p:cNvSpPr/>
          <p:nvPr/>
        </p:nvSpPr>
        <p:spPr>
          <a:xfrm>
            <a:off x="9052560" y="2377440"/>
            <a:ext cx="2514600" cy="2514600"/>
          </a:xfrm>
          <a:prstGeom prst="roundRect">
            <a:avLst>
              <a:gd name="adj" fmla="val 3273"/>
            </a:avLst>
          </a:prstGeom>
          <a:solidFill>
            <a:srgbClr val="FFFFFF"/>
          </a:solidFill>
          <a:ln w="12700">
            <a:solidFill>
              <a:srgbClr val="FFFFFF"/>
            </a:solidFill>
            <a:prstDash val="solid"/>
          </a:ln>
        </p:spPr>
        <p:txBody>
          <a:bodyPr/>
          <a:p/>
        </p:txBody>
      </p:sp>
      <p:pic>
        <p:nvPicPr>
          <p:cNvPr id="9" name="Picture 8" descr="Mentimeter_OPT_DROGURI_C04.png"/>
          <p:cNvPicPr>
            <a:picLocks noChangeAspect="1"/>
          </p:cNvPicPr>
          <p:nvPr/>
        </p:nvPicPr>
        <p:blipFill>
          <a:blip r:embed="rId3"/>
          <a:stretch>
            <a:fillRect/>
          </a:stretch>
        </p:blipFill>
        <p:spPr>
          <a:xfrm>
            <a:off x="9366250" y="2377440"/>
            <a:ext cx="1887220" cy="1887220"/>
          </a:xfrm>
          <a:prstGeom prst="rect">
            <a:avLst/>
          </a:prstGeom>
        </p:spPr>
      </p:pic>
      <p:sp>
        <p:nvSpPr>
          <p:cNvPr id="10" name="TextBox 9"/>
          <p:cNvSpPr txBox="1"/>
          <p:nvPr/>
        </p:nvSpPr>
        <p:spPr>
          <a:xfrm>
            <a:off x="9052560" y="4302760"/>
            <a:ext cx="251460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DOUĂ OBIECȚII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Este etic?</a:t>
            </a:r>
            <a:endParaRPr lang="en-US" sz="3400" dirty="0"/>
          </a:p>
        </p:txBody>
      </p:sp>
      <p:sp>
        <p:nvSpPr>
          <p:cNvPr id="4" name="Shape 2"/>
          <p:cNvSpPr/>
          <p:nvPr/>
        </p:nvSpPr>
        <p:spPr>
          <a:xfrm>
            <a:off x="594360" y="1463040"/>
            <a:ext cx="5349240" cy="3749040"/>
          </a:xfrm>
          <a:prstGeom prst="roundRect">
            <a:avLst>
              <a:gd name="adj" fmla="val 2195"/>
            </a:avLst>
          </a:prstGeom>
          <a:solidFill>
            <a:srgbClr val="1D1F2B"/>
          </a:solidFill>
          <a:ln w="12700">
            <a:solidFill>
              <a:srgbClr val="1D1F2B"/>
            </a:solidFill>
            <a:prstDash val="solid"/>
          </a:ln>
        </p:spPr>
        <p:txBody>
          <a:bodyPr/>
          <a:p/>
        </p:txBody>
      </p:sp>
      <p:sp>
        <p:nvSpPr>
          <p:cNvPr id="5" name="Shape 3"/>
          <p:cNvSpPr/>
          <p:nvPr/>
        </p:nvSpPr>
        <p:spPr>
          <a:xfrm>
            <a:off x="594360" y="1463040"/>
            <a:ext cx="5349240" cy="73152"/>
          </a:xfrm>
          <a:prstGeom prst="rect">
            <a:avLst/>
          </a:prstGeom>
          <a:solidFill>
            <a:srgbClr val="9B7EF7"/>
          </a:solidFill>
          <a:ln w="12700">
            <a:solidFill>
              <a:srgbClr val="9B7EF7"/>
            </a:solidFill>
            <a:prstDash val="solid"/>
          </a:ln>
        </p:spPr>
        <p:txBody>
          <a:bodyPr/>
          <a:p/>
        </p:txBody>
      </p:sp>
      <p:sp>
        <p:nvSpPr>
          <p:cNvPr id="6" name="Text 4"/>
          <p:cNvSpPr/>
          <p:nvPr/>
        </p:nvSpPr>
        <p:spPr>
          <a:xfrm>
            <a:off x="868680" y="1691640"/>
            <a:ext cx="4846320" cy="292608"/>
          </a:xfrm>
          <a:prstGeom prst="rect">
            <a:avLst/>
          </a:prstGeom>
          <a:noFill/>
          <a:ln/>
        </p:spPr>
        <p:txBody>
          <a:bodyPr wrap="square" lIns="0" tIns="0" rIns="0" bIns="0" rtlCol="0" anchor="t"/>
          <a:lstStyle/>
          <a:p>
            <a:pPr indent="0" marL="0">
              <a:buNone/>
            </a:pPr>
            <a:r>
              <a:rPr lang="en-US" sz="1250" b="1" spc="200" kern="0" dirty="0">
                <a:solidFill>
                  <a:srgbClr val="9B7EF7"/>
                </a:solidFill>
                <a:latin typeface="Palatino Linotype" pitchFamily="34" charset="0"/>
                <a:ea typeface="Palatino Linotype" pitchFamily="34" charset="-122"/>
                <a:cs typeface="Palatino Linotype" pitchFamily="34" charset="-120"/>
              </a:rPr>
              <a:t>OBIECȚIA DE VALORI</a:t>
            </a:r>
            <a:endParaRPr lang="en-US" sz="1250" dirty="0"/>
          </a:p>
        </p:txBody>
      </p:sp>
      <p:sp>
        <p:nvSpPr>
          <p:cNvPr id="7" name="Text 5"/>
          <p:cNvSpPr/>
          <p:nvPr/>
        </p:nvSpPr>
        <p:spPr>
          <a:xfrm>
            <a:off x="868680" y="2057400"/>
            <a:ext cx="4846320" cy="914400"/>
          </a:xfrm>
          <a:prstGeom prst="rect">
            <a:avLst/>
          </a:prstGeom>
          <a:noFill/>
          <a:ln/>
        </p:spPr>
        <p:txBody>
          <a:bodyPr wrap="square" lIns="0" tIns="0" rIns="0" bIns="0" rtlCol="0" anchor="t"/>
          <a:lstStyle/>
          <a:p>
            <a:pPr indent="0" marL="0">
              <a:buNone/>
            </a:pPr>
            <a:r>
              <a:rPr lang="en-US" sz="1900" b="1" i="1" dirty="0">
                <a:solidFill>
                  <a:srgbClr val="FFFFFF"/>
                </a:solidFill>
                <a:latin typeface="Palatino Linotype" pitchFamily="34" charset="0"/>
                <a:ea typeface="Palatino Linotype" pitchFamily="34" charset="-122"/>
                <a:cs typeface="Palatino Linotype" pitchFamily="34" charset="-120"/>
              </a:rPr>
              <a:t>„Statul îi ajută pe oameni să se drogheze.”</a:t>
            </a:r>
            <a:endParaRPr lang="en-US" sz="1900" dirty="0"/>
          </a:p>
        </p:txBody>
      </p:sp>
      <p:sp>
        <p:nvSpPr>
          <p:cNvPr id="8" name="Text 6"/>
          <p:cNvSpPr/>
          <p:nvPr/>
        </p:nvSpPr>
        <p:spPr>
          <a:xfrm>
            <a:off x="868680" y="3063240"/>
            <a:ext cx="4846320" cy="2011680"/>
          </a:xfrm>
          <a:prstGeom prst="rect">
            <a:avLst/>
          </a:prstGeom>
          <a:noFill/>
          <a:ln/>
        </p:spPr>
        <p:txBody>
          <a:bodyPr wrap="square" lIns="0" tIns="0" rIns="0" bIns="0" rtlCol="0" anchor="t"/>
          <a:lstStyle/>
          <a:p>
            <a:pPr indent="0" marL="0">
              <a:buNone/>
            </a:pPr>
            <a:r>
              <a:rPr lang="en-US" sz="1550" dirty="0">
                <a:solidFill>
                  <a:srgbClr val="959BB0"/>
                </a:solidFill>
                <a:latin typeface="Palatino Linotype" pitchFamily="34" charset="0"/>
                <a:ea typeface="Palatino Linotype" pitchFamily="34" charset="-122"/>
                <a:cs typeface="Palatino Linotype" pitchFamily="34" charset="-120"/>
              </a:rPr>
              <a:t>Medicul tratează bronșita fumătorului care încă fumează. Medicina nu condiționează îngrijirea de virtutea pacientului: îngrijirea vine înainte de abstinență, nu în locul ei.</a:t>
            </a:r>
            <a:endParaRPr lang="en-US" sz="1550" dirty="0"/>
          </a:p>
        </p:txBody>
      </p:sp>
      <p:sp>
        <p:nvSpPr>
          <p:cNvPr id="9" name="Shape 7"/>
          <p:cNvSpPr/>
          <p:nvPr/>
        </p:nvSpPr>
        <p:spPr>
          <a:xfrm>
            <a:off x="6217920" y="1463040"/>
            <a:ext cx="5349240" cy="3749040"/>
          </a:xfrm>
          <a:prstGeom prst="roundRect">
            <a:avLst>
              <a:gd name="adj" fmla="val 2195"/>
            </a:avLst>
          </a:prstGeom>
          <a:solidFill>
            <a:srgbClr val="1D1F2B"/>
          </a:solidFill>
          <a:ln w="12700">
            <a:solidFill>
              <a:srgbClr val="1D1F2B"/>
            </a:solidFill>
            <a:prstDash val="solid"/>
          </a:ln>
        </p:spPr>
        <p:txBody>
          <a:bodyPr/>
          <a:p/>
        </p:txBody>
      </p:sp>
      <p:sp>
        <p:nvSpPr>
          <p:cNvPr id="10" name="Shape 8"/>
          <p:cNvSpPr/>
          <p:nvPr/>
        </p:nvSpPr>
        <p:spPr>
          <a:xfrm>
            <a:off x="6217920" y="1463040"/>
            <a:ext cx="5349240" cy="73152"/>
          </a:xfrm>
          <a:prstGeom prst="rect">
            <a:avLst/>
          </a:prstGeom>
          <a:solidFill>
            <a:srgbClr val="27D3BE"/>
          </a:solidFill>
          <a:ln w="12700">
            <a:solidFill>
              <a:srgbClr val="27D3BE"/>
            </a:solidFill>
            <a:prstDash val="solid"/>
          </a:ln>
        </p:spPr>
        <p:txBody>
          <a:bodyPr/>
          <a:p/>
        </p:txBody>
      </p:sp>
      <p:sp>
        <p:nvSpPr>
          <p:cNvPr id="11" name="Text 9"/>
          <p:cNvSpPr/>
          <p:nvPr/>
        </p:nvSpPr>
        <p:spPr>
          <a:xfrm>
            <a:off x="6492240" y="1691640"/>
            <a:ext cx="4846320" cy="292608"/>
          </a:xfrm>
          <a:prstGeom prst="rect">
            <a:avLst/>
          </a:prstGeom>
          <a:noFill/>
          <a:ln/>
        </p:spPr>
        <p:txBody>
          <a:bodyPr wrap="square" lIns="0" tIns="0" rIns="0" bIns="0" rtlCol="0" anchor="t"/>
          <a:lstStyle/>
          <a:p>
            <a:pPr indent="0" marL="0">
              <a:buNone/>
            </a:pPr>
            <a:r>
              <a:rPr lang="en-US" sz="1250" b="1" spc="200" kern="0" dirty="0">
                <a:solidFill>
                  <a:srgbClr val="27D3BE"/>
                </a:solidFill>
                <a:latin typeface="Palatino Linotype" pitchFamily="34" charset="0"/>
                <a:ea typeface="Palatino Linotype" pitchFamily="34" charset="-122"/>
                <a:cs typeface="Palatino Linotype" pitchFamily="34" charset="-120"/>
              </a:rPr>
              <a:t>OBIECȚIA DE FAPT</a:t>
            </a:r>
            <a:endParaRPr lang="en-US" sz="1250" dirty="0"/>
          </a:p>
        </p:txBody>
      </p:sp>
      <p:sp>
        <p:nvSpPr>
          <p:cNvPr id="12" name="Text 10"/>
          <p:cNvSpPr/>
          <p:nvPr/>
        </p:nvSpPr>
        <p:spPr>
          <a:xfrm>
            <a:off x="6492240" y="2057400"/>
            <a:ext cx="4846320" cy="914400"/>
          </a:xfrm>
          <a:prstGeom prst="rect">
            <a:avLst/>
          </a:prstGeom>
          <a:noFill/>
          <a:ln/>
        </p:spPr>
        <p:txBody>
          <a:bodyPr wrap="square" lIns="0" tIns="0" rIns="0" bIns="0" rtlCol="0" anchor="t"/>
          <a:lstStyle/>
          <a:p>
            <a:pPr indent="0" marL="0">
              <a:buNone/>
            </a:pPr>
            <a:r>
              <a:rPr lang="en-US" sz="1900" b="1" i="1" dirty="0">
                <a:solidFill>
                  <a:srgbClr val="FFFFFF"/>
                </a:solidFill>
                <a:latin typeface="Palatino Linotype" pitchFamily="34" charset="0"/>
                <a:ea typeface="Palatino Linotype" pitchFamily="34" charset="-122"/>
                <a:cs typeface="Palatino Linotype" pitchFamily="34" charset="-120"/>
              </a:rPr>
              <a:t>„Serviciile acestea cresc consumul.”</a:t>
            </a:r>
            <a:endParaRPr lang="en-US" sz="1900" dirty="0"/>
          </a:p>
        </p:txBody>
      </p:sp>
      <p:sp>
        <p:nvSpPr>
          <p:cNvPr id="13" name="Text 11"/>
          <p:cNvSpPr/>
          <p:nvPr/>
        </p:nvSpPr>
        <p:spPr>
          <a:xfrm>
            <a:off x="6492240" y="3063240"/>
            <a:ext cx="4846320" cy="2011680"/>
          </a:xfrm>
          <a:prstGeom prst="rect">
            <a:avLst/>
          </a:prstGeom>
          <a:noFill/>
          <a:ln/>
        </p:spPr>
        <p:txBody>
          <a:bodyPr wrap="square" lIns="0" tIns="0" rIns="0" bIns="0" rtlCol="0" anchor="t"/>
          <a:lstStyle/>
          <a:p>
            <a:pPr indent="0" marL="0">
              <a:buNone/>
            </a:pPr>
            <a:r>
              <a:rPr lang="en-US" sz="1550" dirty="0">
                <a:solidFill>
                  <a:srgbClr val="959BB0"/>
                </a:solidFill>
                <a:latin typeface="Palatino Linotype" pitchFamily="34" charset="0"/>
                <a:ea typeface="Palatino Linotype" pitchFamily="34" charset="-122"/>
                <a:cs typeface="Palatino Linotype" pitchFamily="34" charset="-120"/>
              </a:rPr>
              <a:t>Se poate verifica. Pentru schimbul de seringi, notele nu citează un studiu care să măsoare efectul asupra consumului.</a:t>
            </a:r>
            <a:endParaRPr lang="en-US" sz="1550" dirty="0"/>
          </a:p>
        </p:txBody>
      </p:sp>
      <p:sp>
        <p:nvSpPr>
          <p:cNvPr id="14" name="Text 12"/>
          <p:cNvSpPr/>
          <p:nvPr/>
        </p:nvSpPr>
        <p:spPr>
          <a:xfrm>
            <a:off x="594360" y="5440680"/>
            <a:ext cx="10972800" cy="45720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Prima se discută cu valori, a doua cu date.</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RAPORTUL EUROPEAN DIN 2026</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funcționează: observați verbele</a:t>
            </a:r>
            <a:endParaRPr lang="en-US" sz="3200" dirty="0"/>
          </a:p>
        </p:txBody>
      </p:sp>
      <p:sp>
        <p:nvSpPr>
          <p:cNvPr id="4" name="Shape 2"/>
          <p:cNvSpPr/>
          <p:nvPr/>
        </p:nvSpPr>
        <p:spPr>
          <a:xfrm>
            <a:off x="594360" y="1463040"/>
            <a:ext cx="10972800" cy="804672"/>
          </a:xfrm>
          <a:prstGeom prst="roundRect">
            <a:avLst>
              <a:gd name="adj" fmla="val 10227"/>
            </a:avLst>
          </a:prstGeom>
          <a:solidFill>
            <a:srgbClr val="ECEAE4"/>
          </a:solidFill>
          <a:ln w="12700">
            <a:solidFill>
              <a:srgbClr val="ECEAE4"/>
            </a:solidFill>
            <a:prstDash val="solid"/>
          </a:ln>
        </p:spPr>
        <p:txBody>
          <a:bodyPr/>
          <a:p/>
        </p:txBody>
      </p:sp>
      <p:sp>
        <p:nvSpPr>
          <p:cNvPr id="5" name="Shape 3"/>
          <p:cNvSpPr/>
          <p:nvPr/>
        </p:nvSpPr>
        <p:spPr>
          <a:xfrm>
            <a:off x="594360" y="1463040"/>
            <a:ext cx="73152" cy="804672"/>
          </a:xfrm>
          <a:prstGeom prst="rect">
            <a:avLst/>
          </a:prstGeom>
          <a:solidFill>
            <a:srgbClr val="0E7C6B"/>
          </a:solidFill>
          <a:ln w="12700">
            <a:solidFill>
              <a:srgbClr val="0E7C6B"/>
            </a:solidFill>
            <a:prstDash val="solid"/>
          </a:ln>
        </p:spPr>
        <p:txBody>
          <a:bodyPr/>
          <a:p/>
        </p:txBody>
      </p:sp>
      <p:sp>
        <p:nvSpPr>
          <p:cNvPr id="6" name="Text 4"/>
          <p:cNvSpPr/>
          <p:nvPr/>
        </p:nvSpPr>
        <p:spPr>
          <a:xfrm>
            <a:off x="914400" y="1463040"/>
            <a:ext cx="4023360" cy="804672"/>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Schimbul de ace și seringi</a:t>
            </a:r>
            <a:endParaRPr lang="en-US" sz="1700" dirty="0"/>
          </a:p>
        </p:txBody>
      </p:sp>
      <p:sp>
        <p:nvSpPr>
          <p:cNvPr id="7" name="Text 5"/>
          <p:cNvSpPr/>
          <p:nvPr/>
        </p:nvSpPr>
        <p:spPr>
          <a:xfrm>
            <a:off x="5029200" y="1463040"/>
            <a:ext cx="6400800" cy="804672"/>
          </a:xfrm>
          <a:prstGeom prst="rect">
            <a:avLst/>
          </a:prstGeom>
          <a:noFill/>
          <a:ln/>
        </p:spPr>
        <p:txBody>
          <a:bodyPr wrap="square" lIns="0" tIns="0" rIns="0" bIns="0" rtlCol="0" anchor="ctr"/>
          <a:lstStyle/>
          <a:p>
            <a:pPr indent="0" marL="0">
              <a:buNone/>
            </a:pPr>
            <a:r>
              <a:rPr lang="en-US" sz="1700" b="1" i="1" dirty="0">
                <a:solidFill>
                  <a:srgbClr val="0E7C6B"/>
                </a:solidFill>
                <a:latin typeface="Palatino Linotype" pitchFamily="34" charset="0"/>
                <a:ea typeface="Palatino Linotype" pitchFamily="34" charset="-122"/>
                <a:cs typeface="Palatino Linotype" pitchFamily="34" charset="-120"/>
              </a:rPr>
              <a:t>arată eficacitate</a:t>
            </a:r>
            <a:endParaRPr lang="en-US" sz="1700" dirty="0"/>
          </a:p>
        </p:txBody>
      </p:sp>
      <p:sp>
        <p:nvSpPr>
          <p:cNvPr id="8" name="Shape 6"/>
          <p:cNvSpPr/>
          <p:nvPr/>
        </p:nvSpPr>
        <p:spPr>
          <a:xfrm>
            <a:off x="594360" y="2423160"/>
            <a:ext cx="10972800" cy="804672"/>
          </a:xfrm>
          <a:prstGeom prst="roundRect">
            <a:avLst>
              <a:gd name="adj" fmla="val 10227"/>
            </a:avLst>
          </a:prstGeom>
          <a:solidFill>
            <a:srgbClr val="ECEAE4"/>
          </a:solidFill>
          <a:ln w="12700">
            <a:solidFill>
              <a:srgbClr val="ECEAE4"/>
            </a:solidFill>
            <a:prstDash val="solid"/>
          </a:ln>
        </p:spPr>
        <p:txBody>
          <a:bodyPr/>
          <a:p/>
        </p:txBody>
      </p:sp>
      <p:sp>
        <p:nvSpPr>
          <p:cNvPr id="9" name="Shape 7"/>
          <p:cNvSpPr/>
          <p:nvPr/>
        </p:nvSpPr>
        <p:spPr>
          <a:xfrm>
            <a:off x="594360" y="2423160"/>
            <a:ext cx="73152" cy="804672"/>
          </a:xfrm>
          <a:prstGeom prst="rect">
            <a:avLst/>
          </a:prstGeom>
          <a:solidFill>
            <a:srgbClr val="0E7C6B"/>
          </a:solidFill>
          <a:ln w="12700">
            <a:solidFill>
              <a:srgbClr val="0E7C6B"/>
            </a:solidFill>
            <a:prstDash val="solid"/>
          </a:ln>
        </p:spPr>
        <p:txBody>
          <a:bodyPr/>
          <a:p/>
        </p:txBody>
      </p:sp>
      <p:sp>
        <p:nvSpPr>
          <p:cNvPr id="10" name="Text 8"/>
          <p:cNvSpPr/>
          <p:nvPr/>
        </p:nvSpPr>
        <p:spPr>
          <a:xfrm>
            <a:off x="914400" y="2423160"/>
            <a:ext cx="4023360" cy="804672"/>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Naloxona dată acasă</a:t>
            </a:r>
            <a:endParaRPr lang="en-US" sz="1700" dirty="0"/>
          </a:p>
        </p:txBody>
      </p:sp>
      <p:sp>
        <p:nvSpPr>
          <p:cNvPr id="11" name="Text 9"/>
          <p:cNvSpPr/>
          <p:nvPr/>
        </p:nvSpPr>
        <p:spPr>
          <a:xfrm>
            <a:off x="5029200" y="2423160"/>
            <a:ext cx="6400800" cy="804672"/>
          </a:xfrm>
          <a:prstGeom prst="rect">
            <a:avLst/>
          </a:prstGeom>
          <a:noFill/>
          <a:ln/>
        </p:spPr>
        <p:txBody>
          <a:bodyPr wrap="square" lIns="0" tIns="0" rIns="0" bIns="0" rtlCol="0" anchor="ctr"/>
          <a:lstStyle/>
          <a:p>
            <a:pPr indent="0" marL="0">
              <a:buNone/>
            </a:pPr>
            <a:r>
              <a:rPr lang="en-US" sz="1700" b="1" i="1" dirty="0">
                <a:solidFill>
                  <a:srgbClr val="0E7C6B"/>
                </a:solidFill>
                <a:latin typeface="Palatino Linotype" pitchFamily="34" charset="0"/>
                <a:ea typeface="Palatino Linotype" pitchFamily="34" charset="-122"/>
                <a:cs typeface="Palatino Linotype" pitchFamily="34" charset="-120"/>
              </a:rPr>
              <a:t>arată eficacitate</a:t>
            </a:r>
            <a:endParaRPr lang="en-US" sz="1700" dirty="0"/>
          </a:p>
        </p:txBody>
      </p:sp>
      <p:sp>
        <p:nvSpPr>
          <p:cNvPr id="12" name="Shape 10"/>
          <p:cNvSpPr/>
          <p:nvPr/>
        </p:nvSpPr>
        <p:spPr>
          <a:xfrm>
            <a:off x="594360" y="3383280"/>
            <a:ext cx="10972800" cy="804672"/>
          </a:xfrm>
          <a:prstGeom prst="roundRect">
            <a:avLst>
              <a:gd name="adj" fmla="val 10227"/>
            </a:avLst>
          </a:prstGeom>
          <a:solidFill>
            <a:srgbClr val="ECEAE4"/>
          </a:solidFill>
          <a:ln w="12700">
            <a:solidFill>
              <a:srgbClr val="ECEAE4"/>
            </a:solidFill>
            <a:prstDash val="solid"/>
          </a:ln>
        </p:spPr>
        <p:txBody>
          <a:bodyPr/>
          <a:p/>
        </p:txBody>
      </p:sp>
      <p:sp>
        <p:nvSpPr>
          <p:cNvPr id="13" name="Shape 11"/>
          <p:cNvSpPr/>
          <p:nvPr/>
        </p:nvSpPr>
        <p:spPr>
          <a:xfrm>
            <a:off x="594360" y="3383280"/>
            <a:ext cx="73152" cy="804672"/>
          </a:xfrm>
          <a:prstGeom prst="rect">
            <a:avLst/>
          </a:prstGeom>
          <a:solidFill>
            <a:srgbClr val="8A6100"/>
          </a:solidFill>
          <a:ln w="12700">
            <a:solidFill>
              <a:srgbClr val="8A6100"/>
            </a:solidFill>
            <a:prstDash val="solid"/>
          </a:ln>
        </p:spPr>
        <p:txBody>
          <a:bodyPr/>
          <a:p/>
        </p:txBody>
      </p:sp>
      <p:sp>
        <p:nvSpPr>
          <p:cNvPr id="14" name="Text 12"/>
          <p:cNvSpPr/>
          <p:nvPr/>
        </p:nvSpPr>
        <p:spPr>
          <a:xfrm>
            <a:off x="914400" y="3383280"/>
            <a:ext cx="4023360" cy="804672"/>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Camerele de consum</a:t>
            </a:r>
            <a:endParaRPr lang="en-US" sz="1700" dirty="0"/>
          </a:p>
        </p:txBody>
      </p:sp>
      <p:sp>
        <p:nvSpPr>
          <p:cNvPr id="15" name="Text 13"/>
          <p:cNvSpPr/>
          <p:nvPr/>
        </p:nvSpPr>
        <p:spPr>
          <a:xfrm>
            <a:off x="5029200" y="3383280"/>
            <a:ext cx="6400800" cy="804672"/>
          </a:xfrm>
          <a:prstGeom prst="rect">
            <a:avLst/>
          </a:prstGeom>
          <a:noFill/>
          <a:ln/>
        </p:spPr>
        <p:txBody>
          <a:bodyPr wrap="square" lIns="0" tIns="0" rIns="0" bIns="0" rtlCol="0" anchor="ctr"/>
          <a:lstStyle/>
          <a:p>
            <a:pPr indent="0" marL="0">
              <a:buNone/>
            </a:pPr>
            <a:r>
              <a:rPr lang="en-US" sz="1700" b="1" i="1" dirty="0">
                <a:solidFill>
                  <a:srgbClr val="8A6100"/>
                </a:solidFill>
                <a:latin typeface="Palatino Linotype" pitchFamily="34" charset="0"/>
                <a:ea typeface="Palatino Linotype" pitchFamily="34" charset="-122"/>
                <a:cs typeface="Palatino Linotype" pitchFamily="34" charset="-120"/>
              </a:rPr>
              <a:t>pot contribui la reducerea deceselor; dovezile sunt încă în dezvoltare</a:t>
            </a:r>
            <a:endParaRPr lang="en-US" sz="1700" dirty="0"/>
          </a:p>
        </p:txBody>
      </p:sp>
      <p:sp>
        <p:nvSpPr>
          <p:cNvPr id="16" name="Shape 14"/>
          <p:cNvSpPr/>
          <p:nvPr/>
        </p:nvSpPr>
        <p:spPr>
          <a:xfrm>
            <a:off x="594360" y="4480560"/>
            <a:ext cx="10972800" cy="1280160"/>
          </a:xfrm>
          <a:prstGeom prst="roundRect">
            <a:avLst>
              <a:gd name="adj" fmla="val 6429"/>
            </a:avLst>
          </a:prstGeom>
          <a:solidFill>
            <a:srgbClr val="E1F0EC"/>
          </a:solidFill>
          <a:ln w="12700">
            <a:solidFill>
              <a:srgbClr val="E1F0EC"/>
            </a:solidFill>
            <a:prstDash val="solid"/>
          </a:ln>
        </p:spPr>
        <p:txBody>
          <a:bodyPr/>
          <a:p/>
        </p:txBody>
      </p:sp>
      <p:sp>
        <p:nvSpPr>
          <p:cNvPr id="17" name="Text 15"/>
          <p:cNvSpPr/>
          <p:nvPr/>
        </p:nvSpPr>
        <p:spPr>
          <a:xfrm>
            <a:off x="868680" y="4480560"/>
            <a:ext cx="10424160" cy="128016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Naloxona, după OMS (2025): nu are, practic, niciun efect la cine nu a luat opioide. Dată din greșeală cuiva care a leșinat din alt motiv, nu are, practic, niciun efect.</a:t>
            </a:r>
            <a:endParaRPr lang="en-US" sz="1700" dirty="0"/>
          </a:p>
        </p:txBody>
      </p:sp>
      <p:sp>
        <p:nvSpPr>
          <p:cNvPr id="18" name="Text 16"/>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Surse: EUDA, European Drug Report 2026; OMS, fișa despre supradoza de opioide, 2025.</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EUROPA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există în Europa</a:t>
            </a:r>
            <a:endParaRPr lang="en-US" sz="3200" dirty="0"/>
          </a:p>
        </p:txBody>
      </p:sp>
      <p:sp>
        <p:nvSpPr>
          <p:cNvPr id="4" name="Shape 2"/>
          <p:cNvSpPr/>
          <p:nvPr/>
        </p:nvSpPr>
        <p:spPr>
          <a:xfrm>
            <a:off x="594360" y="1463040"/>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5" name="Text 3"/>
          <p:cNvSpPr/>
          <p:nvPr/>
        </p:nvSpPr>
        <p:spPr>
          <a:xfrm>
            <a:off x="868680" y="1463040"/>
            <a:ext cx="3840480" cy="73152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Schimbul de ace și seringi</a:t>
            </a:r>
            <a:endParaRPr lang="en-US" sz="1600" dirty="0"/>
          </a:p>
        </p:txBody>
      </p:sp>
      <p:sp>
        <p:nvSpPr>
          <p:cNvPr id="6" name="Text 4"/>
          <p:cNvSpPr/>
          <p:nvPr/>
        </p:nvSpPr>
        <p:spPr>
          <a:xfrm>
            <a:off x="4800600" y="1463040"/>
            <a:ext cx="6583680" cy="731520"/>
          </a:xfrm>
          <a:prstGeom prst="rect">
            <a:avLst/>
          </a:prstGeom>
          <a:noFill/>
          <a:ln/>
        </p:spPr>
        <p:txBody>
          <a:bodyPr wrap="square" lIns="0" tIns="0" rIns="0" bIns="0" rtlCol="0" anchor="ctr"/>
          <a:lstStyle/>
          <a:p>
            <a:pPr indent="0" marL="0">
              <a:buNone/>
            </a:pPr>
            <a:r>
              <a:rPr lang="en-US" sz="1550" dirty="0">
                <a:solidFill>
                  <a:srgbClr val="3A3C44"/>
                </a:solidFill>
                <a:latin typeface="Palatino Linotype" pitchFamily="34" charset="0"/>
                <a:ea typeface="Palatino Linotype" pitchFamily="34" charset="-122"/>
                <a:cs typeface="Palatino Linotype" pitchFamily="34" charset="-120"/>
              </a:rPr>
              <a:t>în toate statele UE și în Norvegia, 2024; ținta OMS pentru 2025: 7 din 25 de țări cu date</a:t>
            </a:r>
            <a:endParaRPr lang="en-US" sz="1550" dirty="0"/>
          </a:p>
        </p:txBody>
      </p:sp>
      <p:sp>
        <p:nvSpPr>
          <p:cNvPr id="7" name="Shape 5"/>
          <p:cNvSpPr/>
          <p:nvPr/>
        </p:nvSpPr>
        <p:spPr>
          <a:xfrm>
            <a:off x="594360" y="2286000"/>
            <a:ext cx="10972800" cy="731520"/>
          </a:xfrm>
          <a:prstGeom prst="roundRect">
            <a:avLst>
              <a:gd name="adj" fmla="val 11250"/>
            </a:avLst>
          </a:prstGeom>
          <a:solidFill>
            <a:srgbClr val="F9F8F5"/>
          </a:solidFill>
          <a:ln w="12700">
            <a:solidFill>
              <a:srgbClr val="F9F8F5"/>
            </a:solidFill>
            <a:prstDash val="solid"/>
          </a:ln>
        </p:spPr>
        <p:txBody>
          <a:bodyPr/>
          <a:p/>
        </p:txBody>
      </p:sp>
      <p:sp>
        <p:nvSpPr>
          <p:cNvPr id="8" name="Text 6"/>
          <p:cNvSpPr/>
          <p:nvPr/>
        </p:nvSpPr>
        <p:spPr>
          <a:xfrm>
            <a:off x="868680" y="2286000"/>
            <a:ext cx="3840480" cy="73152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Naloxona dată acasă</a:t>
            </a:r>
            <a:endParaRPr lang="en-US" sz="1600" dirty="0"/>
          </a:p>
        </p:txBody>
      </p:sp>
      <p:sp>
        <p:nvSpPr>
          <p:cNvPr id="9" name="Text 7"/>
          <p:cNvSpPr/>
          <p:nvPr/>
        </p:nvSpPr>
        <p:spPr>
          <a:xfrm>
            <a:off x="4800600" y="2286000"/>
            <a:ext cx="6583680" cy="731520"/>
          </a:xfrm>
          <a:prstGeom prst="rect">
            <a:avLst/>
          </a:prstGeom>
          <a:noFill/>
          <a:ln/>
        </p:spPr>
        <p:txBody>
          <a:bodyPr wrap="square" lIns="0" tIns="0" rIns="0" bIns="0" rtlCol="0" anchor="ctr"/>
          <a:lstStyle/>
          <a:p>
            <a:pPr indent="0" marL="0">
              <a:buNone/>
            </a:pPr>
            <a:r>
              <a:rPr lang="en-US" sz="1550" dirty="0">
                <a:solidFill>
                  <a:srgbClr val="3A3C44"/>
                </a:solidFill>
                <a:latin typeface="Palatino Linotype" pitchFamily="34" charset="0"/>
                <a:ea typeface="Palatino Linotype" pitchFamily="34" charset="-122"/>
                <a:cs typeface="Palatino Linotype" pitchFamily="34" charset="-120"/>
              </a:rPr>
              <a:t>în 19 țări europene, până în 2025</a:t>
            </a:r>
            <a:endParaRPr lang="en-US" sz="1550" dirty="0"/>
          </a:p>
        </p:txBody>
      </p:sp>
      <p:sp>
        <p:nvSpPr>
          <p:cNvPr id="10" name="Shape 8"/>
          <p:cNvSpPr/>
          <p:nvPr/>
        </p:nvSpPr>
        <p:spPr>
          <a:xfrm>
            <a:off x="594360" y="3108960"/>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11" name="Text 9"/>
          <p:cNvSpPr/>
          <p:nvPr/>
        </p:nvSpPr>
        <p:spPr>
          <a:xfrm>
            <a:off x="868680" y="3108960"/>
            <a:ext cx="3840480" cy="73152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Naloxona fără prescripție</a:t>
            </a:r>
            <a:endParaRPr lang="en-US" sz="1600" dirty="0"/>
          </a:p>
        </p:txBody>
      </p:sp>
      <p:sp>
        <p:nvSpPr>
          <p:cNvPr id="12" name="Text 10"/>
          <p:cNvSpPr/>
          <p:nvPr/>
        </p:nvSpPr>
        <p:spPr>
          <a:xfrm>
            <a:off x="4800600" y="3108960"/>
            <a:ext cx="6583680" cy="731520"/>
          </a:xfrm>
          <a:prstGeom prst="rect">
            <a:avLst/>
          </a:prstGeom>
          <a:noFill/>
          <a:ln/>
        </p:spPr>
        <p:txBody>
          <a:bodyPr wrap="square" lIns="0" tIns="0" rIns="0" bIns="0" rtlCol="0" anchor="ctr"/>
          <a:lstStyle/>
          <a:p>
            <a:pPr indent="0" marL="0">
              <a:buNone/>
            </a:pPr>
            <a:r>
              <a:rPr lang="en-US" sz="1550" dirty="0">
                <a:solidFill>
                  <a:srgbClr val="3A3C44"/>
                </a:solidFill>
                <a:latin typeface="Palatino Linotype" pitchFamily="34" charset="0"/>
                <a:ea typeface="Palatino Linotype" pitchFamily="34" charset="-122"/>
                <a:cs typeface="Palatino Linotype" pitchFamily="34" charset="-120"/>
              </a:rPr>
              <a:t>în Danemarca, Franța, Italia, Suedia și Norvegia</a:t>
            </a:r>
            <a:endParaRPr lang="en-US" sz="1550" dirty="0"/>
          </a:p>
        </p:txBody>
      </p:sp>
      <p:sp>
        <p:nvSpPr>
          <p:cNvPr id="13" name="Shape 11"/>
          <p:cNvSpPr/>
          <p:nvPr/>
        </p:nvSpPr>
        <p:spPr>
          <a:xfrm>
            <a:off x="594360" y="3931920"/>
            <a:ext cx="10972800" cy="731520"/>
          </a:xfrm>
          <a:prstGeom prst="roundRect">
            <a:avLst>
              <a:gd name="adj" fmla="val 11250"/>
            </a:avLst>
          </a:prstGeom>
          <a:solidFill>
            <a:srgbClr val="F9F8F5"/>
          </a:solidFill>
          <a:ln w="12700">
            <a:solidFill>
              <a:srgbClr val="F9F8F5"/>
            </a:solidFill>
            <a:prstDash val="solid"/>
          </a:ln>
        </p:spPr>
        <p:txBody>
          <a:bodyPr/>
          <a:p/>
        </p:txBody>
      </p:sp>
      <p:sp>
        <p:nvSpPr>
          <p:cNvPr id="14" name="Text 12"/>
          <p:cNvSpPr/>
          <p:nvPr/>
        </p:nvSpPr>
        <p:spPr>
          <a:xfrm>
            <a:off x="868680" y="3931920"/>
            <a:ext cx="3840480" cy="73152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Camerele de consum</a:t>
            </a:r>
            <a:endParaRPr lang="en-US" sz="1600" dirty="0"/>
          </a:p>
        </p:txBody>
      </p:sp>
      <p:sp>
        <p:nvSpPr>
          <p:cNvPr id="15" name="Text 13"/>
          <p:cNvSpPr/>
          <p:nvPr/>
        </p:nvSpPr>
        <p:spPr>
          <a:xfrm>
            <a:off x="4800600" y="3931920"/>
            <a:ext cx="6583680" cy="731520"/>
          </a:xfrm>
          <a:prstGeom prst="rect">
            <a:avLst/>
          </a:prstGeom>
          <a:noFill/>
          <a:ln/>
        </p:spPr>
        <p:txBody>
          <a:bodyPr wrap="square" lIns="0" tIns="0" rIns="0" bIns="0" rtlCol="0" anchor="ctr"/>
          <a:lstStyle/>
          <a:p>
            <a:pPr indent="0" marL="0">
              <a:buNone/>
            </a:pPr>
            <a:r>
              <a:rPr lang="en-US" sz="1550" dirty="0">
                <a:solidFill>
                  <a:srgbClr val="3A3C44"/>
                </a:solidFill>
                <a:latin typeface="Palatino Linotype" pitchFamily="34" charset="0"/>
                <a:ea typeface="Palatino Linotype" pitchFamily="34" charset="-122"/>
                <a:cs typeface="Palatino Linotype" pitchFamily="34" charset="-120"/>
              </a:rPr>
              <a:t>100, în 13 state UE și în Norvegia, în 2025</a:t>
            </a:r>
            <a:endParaRPr lang="en-US" sz="1550" dirty="0"/>
          </a:p>
        </p:txBody>
      </p:sp>
      <p:sp>
        <p:nvSpPr>
          <p:cNvPr id="16" name="Text 14"/>
          <p:cNvSpPr/>
          <p:nvPr/>
        </p:nvSpPr>
        <p:spPr>
          <a:xfrm>
            <a:off x="594360" y="4892040"/>
            <a:ext cx="10972800" cy="777240"/>
          </a:xfrm>
          <a:prstGeom prst="rect">
            <a:avLst/>
          </a:prstGeom>
          <a:noFill/>
          <a:ln/>
        </p:spPr>
        <p:txBody>
          <a:bodyPr wrap="square" lIns="0" tIns="0" rIns="0" bIns="0" rtlCol="0" anchor="t"/>
          <a:lstStyle/>
          <a:p>
            <a:pPr indent="0" marL="0">
              <a:buNone/>
            </a:pPr>
            <a:r>
              <a:rPr lang="en-US" sz="1650" b="1" dirty="0">
                <a:solidFill>
                  <a:srgbClr val="0E7C6B"/>
                </a:solidFill>
                <a:latin typeface="Palatino Linotype" pitchFamily="34" charset="0"/>
                <a:ea typeface="Palatino Linotype" pitchFamily="34" charset="-122"/>
                <a:cs typeface="Palatino Linotype" pitchFamily="34" charset="-120"/>
              </a:rPr>
              <a:t>La nivel mondial (OMS, 2025): naloxonă fără prescripție în Australia, Canada, Italia, Regatul Unit și Ucraina.</a:t>
            </a:r>
            <a:endParaRPr lang="en-US" sz="1650" dirty="0"/>
          </a:p>
        </p:txBody>
      </p:sp>
      <p:sp>
        <p:nvSpPr>
          <p:cNvPr id="17" name="Text 15"/>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Surse: EUDA, European Drug Report 2026, modulul „Harm reduction”; OMS, fișa din 2025.</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ROMÂNIA, 2024</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există în România</a:t>
            </a:r>
            <a:endParaRPr lang="en-US" sz="3200" dirty="0"/>
          </a:p>
        </p:txBody>
      </p:sp>
      <p:sp>
        <p:nvSpPr>
          <p:cNvPr id="4" name="Shape 2"/>
          <p:cNvSpPr/>
          <p:nvPr/>
        </p:nvSpPr>
        <p:spPr>
          <a:xfrm>
            <a:off x="594360" y="1463040"/>
            <a:ext cx="5349240" cy="1783080"/>
          </a:xfrm>
          <a:prstGeom prst="roundRect">
            <a:avLst>
              <a:gd name="adj" fmla="val 4615"/>
            </a:avLst>
          </a:prstGeom>
          <a:solidFill>
            <a:srgbClr val="1D1F2B"/>
          </a:solidFill>
          <a:ln w="12700">
            <a:solidFill>
              <a:srgbClr val="1D1F2B"/>
            </a:solidFill>
            <a:prstDash val="solid"/>
          </a:ln>
        </p:spPr>
        <p:txBody>
          <a:bodyPr/>
          <a:p/>
        </p:txBody>
      </p:sp>
      <p:sp>
        <p:nvSpPr>
          <p:cNvPr id="5" name="Text 3"/>
          <p:cNvSpPr/>
          <p:nvPr/>
        </p:nvSpPr>
        <p:spPr>
          <a:xfrm>
            <a:off x="868680" y="1572768"/>
            <a:ext cx="4800600" cy="891540"/>
          </a:xfrm>
          <a:prstGeom prst="rect">
            <a:avLst/>
          </a:prstGeom>
          <a:noFill/>
          <a:ln/>
        </p:spPr>
        <p:txBody>
          <a:bodyPr wrap="square" lIns="0" tIns="0" rIns="0" bIns="0" rtlCol="0" anchor="ctr"/>
          <a:lstStyle/>
          <a:p>
            <a:pPr indent="0" marL="0">
              <a:buNone/>
            </a:pPr>
            <a:r>
              <a:rPr lang="en-US" sz="4400" b="1" dirty="0">
                <a:solidFill>
                  <a:srgbClr val="27D3BE"/>
                </a:solidFill>
                <a:latin typeface="Palatino Linotype" pitchFamily="34" charset="0"/>
                <a:ea typeface="Palatino Linotype" pitchFamily="34" charset="-122"/>
                <a:cs typeface="Palatino Linotype" pitchFamily="34" charset="-120"/>
              </a:rPr>
              <a:t>2 571</a:t>
            </a:r>
            <a:endParaRPr lang="en-US" sz="4400" dirty="0"/>
          </a:p>
        </p:txBody>
      </p:sp>
      <p:sp>
        <p:nvSpPr>
          <p:cNvPr id="6" name="Text 4"/>
          <p:cNvSpPr/>
          <p:nvPr/>
        </p:nvSpPr>
        <p:spPr>
          <a:xfrm>
            <a:off x="868680" y="2372868"/>
            <a:ext cx="4800600" cy="820217"/>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de beneficiari care își injectează droguri, numai în București (asociația ARAS și echipa mobilă a Sectorului cinci)</a:t>
            </a:r>
            <a:endParaRPr lang="en-US" sz="1200" dirty="0"/>
          </a:p>
        </p:txBody>
      </p:sp>
      <p:sp>
        <p:nvSpPr>
          <p:cNvPr id="7" name="Shape 5"/>
          <p:cNvSpPr/>
          <p:nvPr/>
        </p:nvSpPr>
        <p:spPr>
          <a:xfrm>
            <a:off x="594360" y="3429000"/>
            <a:ext cx="5349240" cy="1783080"/>
          </a:xfrm>
          <a:prstGeom prst="roundRect">
            <a:avLst>
              <a:gd name="adj" fmla="val 4615"/>
            </a:avLst>
          </a:prstGeom>
          <a:solidFill>
            <a:srgbClr val="1D1F2B"/>
          </a:solidFill>
          <a:ln w="12700">
            <a:solidFill>
              <a:srgbClr val="1D1F2B"/>
            </a:solidFill>
            <a:prstDash val="solid"/>
          </a:ln>
        </p:spPr>
        <p:txBody>
          <a:bodyPr/>
          <a:p/>
        </p:txBody>
      </p:sp>
      <p:sp>
        <p:nvSpPr>
          <p:cNvPr id="8" name="Text 6"/>
          <p:cNvSpPr/>
          <p:nvPr/>
        </p:nvSpPr>
        <p:spPr>
          <a:xfrm>
            <a:off x="868680" y="3538728"/>
            <a:ext cx="4800600" cy="891540"/>
          </a:xfrm>
          <a:prstGeom prst="rect">
            <a:avLst/>
          </a:prstGeom>
          <a:noFill/>
          <a:ln/>
        </p:spPr>
        <p:txBody>
          <a:bodyPr wrap="square" lIns="0" tIns="0" rIns="0" bIns="0" rtlCol="0" anchor="ctr"/>
          <a:lstStyle/>
          <a:p>
            <a:pPr indent="0" marL="0">
              <a:buNone/>
            </a:pPr>
            <a:r>
              <a:rPr lang="en-US" sz="4400" b="1" dirty="0">
                <a:solidFill>
                  <a:srgbClr val="27D3BE"/>
                </a:solidFill>
                <a:latin typeface="Palatino Linotype" pitchFamily="34" charset="0"/>
                <a:ea typeface="Palatino Linotype" pitchFamily="34" charset="-122"/>
                <a:cs typeface="Palatino Linotype" pitchFamily="34" charset="-120"/>
              </a:rPr>
              <a:t>514 760</a:t>
            </a:r>
            <a:endParaRPr lang="en-US" sz="4400" dirty="0"/>
          </a:p>
        </p:txBody>
      </p:sp>
      <p:sp>
        <p:nvSpPr>
          <p:cNvPr id="9" name="Text 7"/>
          <p:cNvSpPr/>
          <p:nvPr/>
        </p:nvSpPr>
        <p:spPr>
          <a:xfrm>
            <a:off x="868680" y="4338828"/>
            <a:ext cx="4800600" cy="820217"/>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de seringi distribuite; 301 pe beneficiar, față de 446 în anul precedent</a:t>
            </a:r>
            <a:endParaRPr lang="en-US" sz="1200" dirty="0"/>
          </a:p>
        </p:txBody>
      </p:sp>
      <p:sp>
        <p:nvSpPr>
          <p:cNvPr id="10" name="Shape 8"/>
          <p:cNvSpPr/>
          <p:nvPr/>
        </p:nvSpPr>
        <p:spPr>
          <a:xfrm>
            <a:off x="6217920" y="1463040"/>
            <a:ext cx="5349240" cy="3749040"/>
          </a:xfrm>
          <a:prstGeom prst="roundRect">
            <a:avLst>
              <a:gd name="adj" fmla="val 2195"/>
            </a:avLst>
          </a:prstGeom>
          <a:solidFill>
            <a:srgbClr val="272A38"/>
          </a:solidFill>
          <a:ln w="12700">
            <a:solidFill>
              <a:srgbClr val="272A38"/>
            </a:solidFill>
            <a:prstDash val="solid"/>
          </a:ln>
        </p:spPr>
        <p:txBody>
          <a:bodyPr/>
          <a:p/>
        </p:txBody>
      </p:sp>
      <p:sp>
        <p:nvSpPr>
          <p:cNvPr id="11" name="Shape 9"/>
          <p:cNvSpPr/>
          <p:nvPr/>
        </p:nvSpPr>
        <p:spPr>
          <a:xfrm>
            <a:off x="6217920" y="1463040"/>
            <a:ext cx="5349240" cy="73152"/>
          </a:xfrm>
          <a:prstGeom prst="rect">
            <a:avLst/>
          </a:prstGeom>
          <a:solidFill>
            <a:srgbClr val="FF4757"/>
          </a:solidFill>
          <a:ln w="12700">
            <a:solidFill>
              <a:srgbClr val="FF4757"/>
            </a:solidFill>
            <a:prstDash val="solid"/>
          </a:ln>
        </p:spPr>
        <p:txBody>
          <a:bodyPr/>
          <a:p/>
        </p:txBody>
      </p:sp>
      <p:sp>
        <p:nvSpPr>
          <p:cNvPr id="12" name="Text 10"/>
          <p:cNvSpPr/>
          <p:nvPr/>
        </p:nvSpPr>
        <p:spPr>
          <a:xfrm>
            <a:off x="6492240" y="1691640"/>
            <a:ext cx="4846320" cy="292608"/>
          </a:xfrm>
          <a:prstGeom prst="rect">
            <a:avLst/>
          </a:prstGeom>
          <a:noFill/>
          <a:ln/>
        </p:spPr>
        <p:txBody>
          <a:bodyPr wrap="square" lIns="0" tIns="0" rIns="0" bIns="0" rtlCol="0" anchor="t"/>
          <a:lstStyle/>
          <a:p>
            <a:pPr indent="0" marL="0">
              <a:buNone/>
            </a:pPr>
            <a:r>
              <a:rPr lang="en-US" sz="1250" b="1" spc="200" kern="0" dirty="0">
                <a:solidFill>
                  <a:srgbClr val="FF4757"/>
                </a:solidFill>
                <a:latin typeface="Palatino Linotype" pitchFamily="34" charset="0"/>
                <a:ea typeface="Palatino Linotype" pitchFamily="34" charset="-122"/>
                <a:cs typeface="Palatino Linotype" pitchFamily="34" charset="-120"/>
              </a:rPr>
              <a:t>CE LIPSEȘTE</a:t>
            </a:r>
            <a:endParaRPr lang="en-US" sz="1250" dirty="0"/>
          </a:p>
        </p:txBody>
      </p:sp>
      <p:sp>
        <p:nvSpPr>
          <p:cNvPr id="13" name="Text 11"/>
          <p:cNvSpPr/>
          <p:nvPr/>
        </p:nvSpPr>
        <p:spPr>
          <a:xfrm>
            <a:off x="6492240" y="2103120"/>
            <a:ext cx="4846320" cy="292608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Naloxona: </a:t>
            </a:r>
            <a:pPr indent="0" marL="0">
              <a:buNone/>
            </a:pPr>
            <a:r>
              <a:rPr lang="en-US" sz="1700" dirty="0">
                <a:solidFill>
                  <a:srgbClr val="FFFFFF"/>
                </a:solidFill>
                <a:latin typeface="Palatino Linotype" pitchFamily="34" charset="0"/>
                <a:ea typeface="Palatino Linotype" pitchFamily="34" charset="-122"/>
                <a:cs typeface="Palatino Linotype" pitchFamily="34" charset="-120"/>
              </a:rPr>
              <a:t>numai în urgențe și în ambulanțe. Martorul unei supradoze nu o are în buzunar.</a:t>
            </a:r>
            <a:endParaRPr lang="en-US" sz="1700" dirty="0"/>
          </a:p>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 </a:t>
            </a:r>
            <a:endParaRPr lang="en-US" sz="1700" dirty="0"/>
          </a:p>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Camerele de consum: </a:t>
            </a:r>
            <a:pPr indent="0" marL="0">
              <a:buNone/>
            </a:pPr>
            <a:r>
              <a:rPr lang="en-US" sz="1700" dirty="0">
                <a:solidFill>
                  <a:srgbClr val="FFFFFF"/>
                </a:solidFill>
                <a:latin typeface="Palatino Linotype" pitchFamily="34" charset="0"/>
                <a:ea typeface="Palatino Linotype" pitchFamily="34" charset="-122"/>
                <a:cs typeface="Palatino Linotype" pitchFamily="34" charset="-120"/>
              </a:rPr>
              <a:t>nu există; nu au fost inițiate demersuri pentru înființarea lor.</a:t>
            </a:r>
            <a:endParaRPr lang="en-US" sz="1700" dirty="0"/>
          </a:p>
        </p:txBody>
      </p:sp>
      <p:sp>
        <p:nvSpPr>
          <p:cNvPr id="14" name="Text 12"/>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raportul național privind situația drogurilor, datele pentru 2024.</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ÎNAINTE DE CIFRĂ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500" b="1" dirty="0">
                <a:solidFill>
                  <a:srgbClr val="FFFFFF"/>
                </a:solidFill>
                <a:latin typeface="Palatino Linotype" pitchFamily="34" charset="0"/>
                <a:ea typeface="Palatino Linotype" pitchFamily="34" charset="-122"/>
                <a:cs typeface="Palatino Linotype" pitchFamily="34" charset="-120"/>
              </a:rPr>
              <a:t>Din o sută de persoane care își injectează droguri, testate în programele din București, câte aveau hepatita C?</a:t>
            </a:r>
            <a:endParaRPr lang="en-US" sz="2500" dirty="0"/>
          </a:p>
        </p:txBody>
      </p:sp>
      <p:sp>
        <p:nvSpPr>
          <p:cNvPr id="6" name="Shape 4"/>
          <p:cNvSpPr/>
          <p:nvPr/>
        </p:nvSpPr>
        <p:spPr>
          <a:xfrm>
            <a:off x="594360" y="2011680"/>
            <a:ext cx="8046720" cy="603504"/>
          </a:xfrm>
          <a:prstGeom prst="roundRect">
            <a:avLst>
              <a:gd name="adj" fmla="val 13636"/>
            </a:avLst>
          </a:prstGeom>
          <a:solidFill>
            <a:srgbClr val="1D1F2B"/>
          </a:solidFill>
          <a:ln w="12700">
            <a:solidFill>
              <a:srgbClr val="1D1F2B"/>
            </a:solidFill>
            <a:prstDash val="solid"/>
          </a:ln>
        </p:spPr>
        <p:txBody>
          <a:bodyPr/>
          <a:p/>
        </p:txBody>
      </p:sp>
      <p:sp>
        <p:nvSpPr>
          <p:cNvPr id="7" name="Shape 5"/>
          <p:cNvSpPr/>
          <p:nvPr/>
        </p:nvSpPr>
        <p:spPr>
          <a:xfrm>
            <a:off x="914400" y="2103120"/>
            <a:ext cx="420624" cy="420624"/>
          </a:xfrm>
          <a:prstGeom prst="ellipse">
            <a:avLst/>
          </a:prstGeom>
          <a:solidFill>
            <a:srgbClr val="FFC24B"/>
          </a:solidFill>
          <a:ln/>
        </p:spPr>
        <p:txBody>
          <a:bodyPr/>
          <a:p/>
        </p:txBody>
      </p:sp>
      <p:sp>
        <p:nvSpPr>
          <p:cNvPr id="8" name="Text 6"/>
          <p:cNvSpPr/>
          <p:nvPr/>
        </p:nvSpPr>
        <p:spPr>
          <a:xfrm>
            <a:off x="914400" y="210312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2011680"/>
            <a:ext cx="6766560" cy="603504"/>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trei</a:t>
            </a:r>
            <a:endParaRPr lang="en-US" sz="1800" dirty="0"/>
          </a:p>
        </p:txBody>
      </p:sp>
      <p:sp>
        <p:nvSpPr>
          <p:cNvPr id="10" name="Shape 8"/>
          <p:cNvSpPr/>
          <p:nvPr/>
        </p:nvSpPr>
        <p:spPr>
          <a:xfrm>
            <a:off x="594360" y="2743200"/>
            <a:ext cx="8046720" cy="603504"/>
          </a:xfrm>
          <a:prstGeom prst="roundRect">
            <a:avLst>
              <a:gd name="adj" fmla="val 13636"/>
            </a:avLst>
          </a:prstGeom>
          <a:solidFill>
            <a:srgbClr val="1D1F2B"/>
          </a:solidFill>
          <a:ln w="12700">
            <a:solidFill>
              <a:srgbClr val="1D1F2B"/>
            </a:solidFill>
            <a:prstDash val="solid"/>
          </a:ln>
        </p:spPr>
        <p:txBody>
          <a:bodyPr/>
          <a:p/>
        </p:txBody>
      </p:sp>
      <p:sp>
        <p:nvSpPr>
          <p:cNvPr id="11" name="Shape 9"/>
          <p:cNvSpPr/>
          <p:nvPr/>
        </p:nvSpPr>
        <p:spPr>
          <a:xfrm>
            <a:off x="914400" y="2834640"/>
            <a:ext cx="420624" cy="420624"/>
          </a:xfrm>
          <a:prstGeom prst="ellipse">
            <a:avLst/>
          </a:prstGeom>
          <a:solidFill>
            <a:srgbClr val="FFC24B"/>
          </a:solidFill>
          <a:ln/>
        </p:spPr>
        <p:txBody>
          <a:bodyPr/>
          <a:p/>
        </p:txBody>
      </p:sp>
      <p:sp>
        <p:nvSpPr>
          <p:cNvPr id="12" name="Text 10"/>
          <p:cNvSpPr/>
          <p:nvPr/>
        </p:nvSpPr>
        <p:spPr>
          <a:xfrm>
            <a:off x="914400" y="28346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2743200"/>
            <a:ext cx="6766560" cy="603504"/>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zece</a:t>
            </a:r>
            <a:endParaRPr lang="en-US" sz="1800" dirty="0"/>
          </a:p>
        </p:txBody>
      </p:sp>
      <p:sp>
        <p:nvSpPr>
          <p:cNvPr id="14" name="Shape 12"/>
          <p:cNvSpPr/>
          <p:nvPr/>
        </p:nvSpPr>
        <p:spPr>
          <a:xfrm>
            <a:off x="594360" y="3474720"/>
            <a:ext cx="8046720" cy="603504"/>
          </a:xfrm>
          <a:prstGeom prst="roundRect">
            <a:avLst>
              <a:gd name="adj" fmla="val 13636"/>
            </a:avLst>
          </a:prstGeom>
          <a:solidFill>
            <a:srgbClr val="1D1F2B"/>
          </a:solidFill>
          <a:ln w="12700">
            <a:solidFill>
              <a:srgbClr val="1D1F2B"/>
            </a:solidFill>
            <a:prstDash val="solid"/>
          </a:ln>
        </p:spPr>
        <p:txBody>
          <a:bodyPr/>
          <a:p/>
        </p:txBody>
      </p:sp>
      <p:sp>
        <p:nvSpPr>
          <p:cNvPr id="15" name="Shape 13"/>
          <p:cNvSpPr/>
          <p:nvPr/>
        </p:nvSpPr>
        <p:spPr>
          <a:xfrm>
            <a:off x="914400" y="3566160"/>
            <a:ext cx="420624" cy="420624"/>
          </a:xfrm>
          <a:prstGeom prst="ellipse">
            <a:avLst/>
          </a:prstGeom>
          <a:solidFill>
            <a:srgbClr val="FFC24B"/>
          </a:solidFill>
          <a:ln/>
        </p:spPr>
        <p:txBody>
          <a:bodyPr/>
          <a:p/>
        </p:txBody>
      </p:sp>
      <p:sp>
        <p:nvSpPr>
          <p:cNvPr id="16" name="Text 14"/>
          <p:cNvSpPr/>
          <p:nvPr/>
        </p:nvSpPr>
        <p:spPr>
          <a:xfrm>
            <a:off x="914400" y="35661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3474720"/>
            <a:ext cx="6766560" cy="603504"/>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treizeci și două</a:t>
            </a:r>
            <a:endParaRPr lang="en-US" sz="1800" dirty="0"/>
          </a:p>
        </p:txBody>
      </p:sp>
      <p:sp>
        <p:nvSpPr>
          <p:cNvPr id="18" name="Shape 16"/>
          <p:cNvSpPr/>
          <p:nvPr/>
        </p:nvSpPr>
        <p:spPr>
          <a:xfrm>
            <a:off x="594360" y="4206240"/>
            <a:ext cx="8046720" cy="603504"/>
          </a:xfrm>
          <a:prstGeom prst="roundRect">
            <a:avLst>
              <a:gd name="adj" fmla="val 13636"/>
            </a:avLst>
          </a:prstGeom>
          <a:solidFill>
            <a:srgbClr val="1D1F2B"/>
          </a:solidFill>
          <a:ln w="12700">
            <a:solidFill>
              <a:srgbClr val="1D1F2B"/>
            </a:solidFill>
            <a:prstDash val="solid"/>
          </a:ln>
        </p:spPr>
        <p:txBody>
          <a:bodyPr/>
          <a:p/>
        </p:txBody>
      </p:sp>
      <p:sp>
        <p:nvSpPr>
          <p:cNvPr id="19" name="Shape 17"/>
          <p:cNvSpPr/>
          <p:nvPr/>
        </p:nvSpPr>
        <p:spPr>
          <a:xfrm>
            <a:off x="914400" y="4297680"/>
            <a:ext cx="420624" cy="420624"/>
          </a:xfrm>
          <a:prstGeom prst="ellipse">
            <a:avLst/>
          </a:prstGeom>
          <a:solidFill>
            <a:srgbClr val="FFC24B"/>
          </a:solidFill>
          <a:ln/>
        </p:spPr>
        <p:txBody>
          <a:bodyPr/>
          <a:p/>
        </p:txBody>
      </p:sp>
      <p:sp>
        <p:nvSpPr>
          <p:cNvPr id="20" name="Text 18"/>
          <p:cNvSpPr/>
          <p:nvPr/>
        </p:nvSpPr>
        <p:spPr>
          <a:xfrm>
            <a:off x="914400" y="42976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600200" y="4206240"/>
            <a:ext cx="6766560" cy="603504"/>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șaizeci</a:t>
            </a:r>
            <a:endParaRPr lang="en-US" sz="1800" dirty="0"/>
          </a:p>
        </p:txBody>
      </p:sp>
      <p:sp>
        <p:nvSpPr>
          <p:cNvPr id="22" name="Text 20"/>
          <p:cNvSpPr/>
          <p:nvPr/>
        </p:nvSpPr>
        <p:spPr>
          <a:xfrm>
            <a:off x="594360" y="5029200"/>
            <a:ext cx="8686800" cy="45720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Apoi două minute în chat: de ce v-ați gândit la o cifră mai mică sau mai mare?</a:t>
            </a:r>
            <a:endParaRPr lang="en-US" sz="1600" dirty="0"/>
          </a:p>
        </p:txBody>
      </p:sp>
      <p:sp>
        <p:nvSpPr>
          <p:cNvPr id="23" name="Text 21"/>
          <p:cNvSpPr/>
          <p:nvPr/>
        </p:nvSpPr>
        <p:spPr>
          <a:xfrm>
            <a:off x="594360" y="5577840"/>
            <a:ext cx="8595360" cy="41148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Răspundeți pe telefon, la codul afișat.</a:t>
            </a:r>
            <a:endParaRPr lang="en-US" sz="1600" dirty="0"/>
          </a:p>
        </p:txBody>
      </p:sp>
      <p:sp>
        <p:nvSpPr>
          <p:cNvPr id="24" name="Shape 22"/>
          <p:cNvSpPr/>
          <p:nvPr/>
        </p:nvSpPr>
        <p:spPr>
          <a:xfrm>
            <a:off x="9144000" y="2011680"/>
            <a:ext cx="2423160" cy="2286000"/>
          </a:xfrm>
          <a:prstGeom prst="roundRect">
            <a:avLst>
              <a:gd name="adj" fmla="val 3600"/>
            </a:avLst>
          </a:prstGeom>
          <a:solidFill>
            <a:srgbClr val="FFFFFF"/>
          </a:solidFill>
          <a:ln w="12700">
            <a:solidFill>
              <a:srgbClr val="FFFFFF"/>
            </a:solidFill>
            <a:prstDash val="solid"/>
          </a:ln>
        </p:spPr>
        <p:txBody>
          <a:bodyPr/>
          <a:p/>
        </p:txBody>
      </p:sp>
      <p:pic>
        <p:nvPicPr>
          <p:cNvPr id="25" name="Picture 24" descr="Mentimeter_OPT_DROGURI_C04.png"/>
          <p:cNvPicPr>
            <a:picLocks noChangeAspect="1"/>
          </p:cNvPicPr>
          <p:nvPr/>
        </p:nvPicPr>
        <p:blipFill>
          <a:blip r:embed="rId3"/>
          <a:stretch>
            <a:fillRect/>
          </a:stretch>
        </p:blipFill>
        <p:spPr>
          <a:xfrm>
            <a:off x="9526270" y="2011680"/>
            <a:ext cx="1658620" cy="1658620"/>
          </a:xfrm>
          <a:prstGeom prst="rect">
            <a:avLst/>
          </a:prstGeom>
        </p:spPr>
      </p:pic>
      <p:sp>
        <p:nvSpPr>
          <p:cNvPr id="26" name="TextBox 25"/>
          <p:cNvSpPr txBox="1"/>
          <p:nvPr/>
        </p:nvSpPr>
        <p:spPr>
          <a:xfrm>
            <a:off x="9144000" y="3708400"/>
            <a:ext cx="242316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HEPATITA C ȘI HIV, 2024</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Varianta C: aproximativ o treime</a:t>
            </a:r>
            <a:endParaRPr lang="en-US" sz="3200" dirty="0"/>
          </a:p>
        </p:txBody>
      </p:sp>
      <p:sp>
        <p:nvSpPr>
          <p:cNvPr id="4" name="Text 2"/>
          <p:cNvSpPr/>
          <p:nvPr/>
        </p:nvSpPr>
        <p:spPr>
          <a:xfrm>
            <a:off x="594360" y="1463040"/>
            <a:ext cx="5394960" cy="1371600"/>
          </a:xfrm>
          <a:prstGeom prst="rect">
            <a:avLst/>
          </a:prstGeom>
          <a:noFill/>
          <a:ln/>
        </p:spPr>
        <p:txBody>
          <a:bodyPr wrap="square" lIns="0" tIns="0" rIns="0" bIns="0" rtlCol="0" anchor="t"/>
          <a:lstStyle/>
          <a:p>
            <a:pPr indent="0" marL="0">
              <a:buNone/>
            </a:pPr>
            <a:r>
              <a:rPr lang="en-US" sz="8800" b="1" dirty="0">
                <a:solidFill>
                  <a:srgbClr val="B02532"/>
                </a:solidFill>
                <a:latin typeface="Palatino Linotype" pitchFamily="34" charset="0"/>
                <a:ea typeface="Palatino Linotype" pitchFamily="34" charset="-122"/>
                <a:cs typeface="Palatino Linotype" pitchFamily="34" charset="-120"/>
              </a:rPr>
              <a:t>1 din 3</a:t>
            </a:r>
            <a:endParaRPr lang="en-US" sz="8800" dirty="0"/>
          </a:p>
        </p:txBody>
      </p:sp>
      <p:sp>
        <p:nvSpPr>
          <p:cNvPr id="5" name="Text 3"/>
          <p:cNvSpPr/>
          <p:nvPr/>
        </p:nvSpPr>
        <p:spPr>
          <a:xfrm>
            <a:off x="594360" y="2926080"/>
            <a:ext cx="5394960" cy="914400"/>
          </a:xfrm>
          <a:prstGeom prst="rect">
            <a:avLst/>
          </a:prstGeom>
          <a:noFill/>
          <a:ln/>
        </p:spPr>
        <p:txBody>
          <a:bodyPr wrap="square" lIns="0" tIns="0" rIns="0" bIns="0" rtlCol="0" anchor="t"/>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32,19%: 132 de teste rapide pozitive din 410, la beneficiarii programelor testați în 2024.</a:t>
            </a:r>
            <a:endParaRPr lang="en-US" sz="1650" dirty="0"/>
          </a:p>
        </p:txBody>
      </p:sp>
      <p:sp>
        <p:nvSpPr>
          <p:cNvPr id="6" name="Shape 4"/>
          <p:cNvSpPr/>
          <p:nvPr/>
        </p:nvSpPr>
        <p:spPr>
          <a:xfrm>
            <a:off x="6309360" y="1463040"/>
            <a:ext cx="5257800" cy="2377440"/>
          </a:xfrm>
          <a:prstGeom prst="roundRect">
            <a:avLst>
              <a:gd name="adj" fmla="val 3462"/>
            </a:avLst>
          </a:prstGeom>
          <a:solidFill>
            <a:srgbClr val="ECEAE4"/>
          </a:solidFill>
          <a:ln w="12700">
            <a:solidFill>
              <a:srgbClr val="ECEAE4"/>
            </a:solidFill>
            <a:prstDash val="solid"/>
          </a:ln>
        </p:spPr>
        <p:txBody>
          <a:bodyPr/>
          <a:p/>
        </p:txBody>
      </p:sp>
      <p:sp>
        <p:nvSpPr>
          <p:cNvPr id="7" name="Text 5"/>
          <p:cNvSpPr/>
          <p:nvPr/>
        </p:nvSpPr>
        <p:spPr>
          <a:xfrm>
            <a:off x="6583680" y="1627632"/>
            <a:ext cx="4754880" cy="365760"/>
          </a:xfrm>
          <a:prstGeom prst="rect">
            <a:avLst/>
          </a:prstGeom>
          <a:noFill/>
          <a:ln/>
        </p:spPr>
        <p:txBody>
          <a:bodyPr wrap="square" lIns="0" tIns="0" rIns="0" bIns="0" rtlCol="0" anchor="t"/>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HIV, 2024</a:t>
            </a:r>
            <a:endParaRPr lang="en-US" sz="1600" dirty="0"/>
          </a:p>
        </p:txBody>
      </p:sp>
      <p:sp>
        <p:nvSpPr>
          <p:cNvPr id="8" name="Text 6"/>
          <p:cNvSpPr/>
          <p:nvPr/>
        </p:nvSpPr>
        <p:spPr>
          <a:xfrm>
            <a:off x="6583680" y="2057400"/>
            <a:ext cx="4754880" cy="16916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810 cazuri noi în România; la 59 de persoane, adică la 7,28%, calea probabilă de transmitere a fost injectarea de droguri.</a:t>
            </a:r>
            <a:endParaRPr lang="en-US" sz="1600" dirty="0"/>
          </a:p>
        </p:txBody>
      </p:sp>
      <p:sp>
        <p:nvSpPr>
          <p:cNvPr id="9" name="Shape 7"/>
          <p:cNvSpPr/>
          <p:nvPr/>
        </p:nvSpPr>
        <p:spPr>
          <a:xfrm>
            <a:off x="594360" y="4160520"/>
            <a:ext cx="10972800" cy="1188720"/>
          </a:xfrm>
          <a:prstGeom prst="roundRect">
            <a:avLst>
              <a:gd name="adj" fmla="val 6923"/>
            </a:avLst>
          </a:prstGeom>
          <a:solidFill>
            <a:srgbClr val="F4E0E2"/>
          </a:solidFill>
          <a:ln w="12700">
            <a:solidFill>
              <a:srgbClr val="F4E0E2"/>
            </a:solidFill>
            <a:prstDash val="solid"/>
          </a:ln>
        </p:spPr>
        <p:txBody>
          <a:bodyPr/>
          <a:p/>
        </p:txBody>
      </p:sp>
      <p:sp>
        <p:nvSpPr>
          <p:cNvPr id="10" name="Text 8"/>
          <p:cNvSpPr/>
          <p:nvPr/>
        </p:nvSpPr>
        <p:spPr>
          <a:xfrm>
            <a:off x="868680" y="4160520"/>
            <a:ext cx="10424160" cy="1188720"/>
          </a:xfrm>
          <a:prstGeom prst="rect">
            <a:avLst/>
          </a:prstGeom>
          <a:noFill/>
          <a:ln/>
        </p:spPr>
        <p:txBody>
          <a:bodyPr wrap="square" lIns="0" tIns="0" rIns="0" bIns="0" rtlCol="0" anchor="ctr"/>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Hepatita C nu se vede: un risc rămâne invizibil până când cineva îl măsoară.</a:t>
            </a:r>
            <a:endParaRPr lang="en-US" sz="2000" dirty="0"/>
          </a:p>
        </p:txBody>
      </p:sp>
      <p:sp>
        <p:nvSpPr>
          <p:cNvPr id="11" name="Text 9"/>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raportul național privind situația drogurilor, datele pentru 2024.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TABERE · 3 MINUTE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CELE DOUĂ TABERE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Moțiunea și cele două tabere</a:t>
            </a:r>
            <a:endParaRPr lang="en-US" sz="3200" dirty="0"/>
          </a:p>
        </p:txBody>
      </p:sp>
      <p:sp>
        <p:nvSpPr>
          <p:cNvPr id="6" name="Text 4"/>
          <p:cNvSpPr/>
          <p:nvPr/>
        </p:nvSpPr>
        <p:spPr>
          <a:xfrm>
            <a:off x="594360" y="1417320"/>
            <a:ext cx="10972800" cy="868680"/>
          </a:xfrm>
          <a:prstGeom prst="rect">
            <a:avLst/>
          </a:prstGeom>
          <a:noFill/>
          <a:ln/>
        </p:spPr>
        <p:txBody>
          <a:bodyPr wrap="square" lIns="0" tIns="0" rIns="0" bIns="0" rtlCol="0" anchor="t"/>
          <a:lstStyle/>
          <a:p>
            <a:pPr indent="0" marL="0">
              <a:buNone/>
            </a:pPr>
            <a:r>
              <a:rPr lang="en-US" sz="2100" i="1" dirty="0">
                <a:solidFill>
                  <a:srgbClr val="FFFFFF"/>
                </a:solidFill>
                <a:latin typeface="Palatino Linotype" pitchFamily="34" charset="0"/>
                <a:ea typeface="Palatino Linotype" pitchFamily="34" charset="-122"/>
                <a:cs typeface="Palatino Linotype" pitchFamily="34" charset="-120"/>
              </a:rPr>
              <a:t>„Clujul ar trebui să aibă o cameră de consum supravegheat de droguri.”</a:t>
            </a:r>
            <a:endParaRPr lang="en-US" sz="2100" dirty="0"/>
          </a:p>
        </p:txBody>
      </p:sp>
      <p:sp>
        <p:nvSpPr>
          <p:cNvPr id="7" name="Shape 5"/>
          <p:cNvSpPr/>
          <p:nvPr/>
        </p:nvSpPr>
        <p:spPr>
          <a:xfrm>
            <a:off x="594360" y="2468880"/>
            <a:ext cx="5349240" cy="1554480"/>
          </a:xfrm>
          <a:prstGeom prst="roundRect">
            <a:avLst>
              <a:gd name="adj" fmla="val 5294"/>
            </a:avLst>
          </a:prstGeom>
          <a:solidFill>
            <a:srgbClr val="27D3BE"/>
          </a:solidFill>
          <a:ln w="12700">
            <a:solidFill>
              <a:srgbClr val="27D3BE"/>
            </a:solidFill>
            <a:prstDash val="solid"/>
          </a:ln>
        </p:spPr>
        <p:txBody>
          <a:bodyPr/>
          <a:p/>
        </p:txBody>
      </p:sp>
      <p:sp>
        <p:nvSpPr>
          <p:cNvPr id="8" name="Text 6"/>
          <p:cNvSpPr/>
          <p:nvPr/>
        </p:nvSpPr>
        <p:spPr>
          <a:xfrm>
            <a:off x="868680" y="2651760"/>
            <a:ext cx="4754880" cy="457200"/>
          </a:xfrm>
          <a:prstGeom prst="rect">
            <a:avLst/>
          </a:prstGeom>
          <a:noFill/>
          <a:ln/>
        </p:spPr>
        <p:txBody>
          <a:bodyPr wrap="square" lIns="0" tIns="0" rIns="0" bIns="0" rtlCol="0" anchor="t"/>
          <a:lstStyle/>
          <a:p>
            <a:pPr indent="0" marL="0">
              <a:buNone/>
            </a:pPr>
            <a:r>
              <a:rPr lang="en-US" sz="2200" b="1" spc="200" kern="0" dirty="0">
                <a:solidFill>
                  <a:srgbClr val="073B34"/>
                </a:solidFill>
                <a:latin typeface="Palatino Linotype" pitchFamily="34" charset="0"/>
                <a:ea typeface="Palatino Linotype" pitchFamily="34" charset="-122"/>
                <a:cs typeface="Palatino Linotype" pitchFamily="34" charset="-120"/>
              </a:rPr>
              <a:t>IAN.–IUN.</a:t>
            </a:r>
            <a:endParaRPr lang="en-US" sz="2200" dirty="0"/>
          </a:p>
        </p:txBody>
      </p:sp>
      <p:sp>
        <p:nvSpPr>
          <p:cNvPr id="9" name="Text 7"/>
          <p:cNvSpPr/>
          <p:nvPr/>
        </p:nvSpPr>
        <p:spPr>
          <a:xfrm>
            <a:off x="868680" y="3200400"/>
            <a:ext cx="4754880" cy="548640"/>
          </a:xfrm>
          <a:prstGeom prst="rect">
            <a:avLst/>
          </a:prstGeom>
          <a:noFill/>
          <a:ln/>
        </p:spPr>
        <p:txBody>
          <a:bodyPr wrap="square" lIns="0" tIns="0" rIns="0" bIns="0" rtlCol="0" anchor="t"/>
          <a:lstStyle/>
          <a:p>
            <a:pPr indent="0" marL="0">
              <a:buNone/>
            </a:pPr>
            <a:r>
              <a:rPr lang="en-US" sz="1900" dirty="0">
                <a:solidFill>
                  <a:srgbClr val="073B34"/>
                </a:solidFill>
                <a:latin typeface="Palatino Linotype" pitchFamily="34" charset="0"/>
                <a:ea typeface="Palatino Linotype" pitchFamily="34" charset="-122"/>
                <a:cs typeface="Palatino Linotype" pitchFamily="34" charset="-120"/>
              </a:rPr>
              <a:t>pentru moțiune</a:t>
            </a:r>
            <a:endParaRPr lang="en-US" sz="1900" dirty="0"/>
          </a:p>
        </p:txBody>
      </p:sp>
      <p:sp>
        <p:nvSpPr>
          <p:cNvPr id="10" name="Shape 8"/>
          <p:cNvSpPr/>
          <p:nvPr/>
        </p:nvSpPr>
        <p:spPr>
          <a:xfrm>
            <a:off x="6217920" y="2468880"/>
            <a:ext cx="5349240" cy="1554480"/>
          </a:xfrm>
          <a:prstGeom prst="roundRect">
            <a:avLst>
              <a:gd name="adj" fmla="val 5294"/>
            </a:avLst>
          </a:prstGeom>
          <a:solidFill>
            <a:srgbClr val="FF4757"/>
          </a:solidFill>
          <a:ln w="12700">
            <a:solidFill>
              <a:srgbClr val="FF4757"/>
            </a:solidFill>
            <a:prstDash val="solid"/>
          </a:ln>
        </p:spPr>
        <p:txBody>
          <a:bodyPr/>
          <a:p/>
        </p:txBody>
      </p:sp>
      <p:sp>
        <p:nvSpPr>
          <p:cNvPr id="11" name="Text 9"/>
          <p:cNvSpPr/>
          <p:nvPr/>
        </p:nvSpPr>
        <p:spPr>
          <a:xfrm>
            <a:off x="6492240" y="2651760"/>
            <a:ext cx="4754880" cy="457200"/>
          </a:xfrm>
          <a:prstGeom prst="rect">
            <a:avLst/>
          </a:prstGeom>
          <a:noFill/>
          <a:ln/>
        </p:spPr>
        <p:txBody>
          <a:bodyPr wrap="square" lIns="0" tIns="0" rIns="0" bIns="0" rtlCol="0" anchor="t"/>
          <a:lstStyle/>
          <a:p>
            <a:pPr indent="0" marL="0">
              <a:buNone/>
            </a:pPr>
            <a:r>
              <a:rPr lang="en-US" sz="2200" b="1" spc="200" kern="0" dirty="0">
                <a:solidFill>
                  <a:srgbClr val="2E060B"/>
                </a:solidFill>
                <a:latin typeface="Palatino Linotype" pitchFamily="34" charset="0"/>
                <a:ea typeface="Palatino Linotype" pitchFamily="34" charset="-122"/>
                <a:cs typeface="Palatino Linotype" pitchFamily="34" charset="-120"/>
              </a:rPr>
              <a:t>IUL.–DEC.</a:t>
            </a:r>
            <a:endParaRPr lang="en-US" sz="2200" dirty="0"/>
          </a:p>
        </p:txBody>
      </p:sp>
      <p:sp>
        <p:nvSpPr>
          <p:cNvPr id="12" name="Text 10"/>
          <p:cNvSpPr/>
          <p:nvPr/>
        </p:nvSpPr>
        <p:spPr>
          <a:xfrm>
            <a:off x="6492240" y="3200400"/>
            <a:ext cx="4754880" cy="548640"/>
          </a:xfrm>
          <a:prstGeom prst="rect">
            <a:avLst/>
          </a:prstGeom>
          <a:noFill/>
          <a:ln/>
        </p:spPr>
        <p:txBody>
          <a:bodyPr wrap="square" lIns="0" tIns="0" rIns="0" bIns="0" rtlCol="0" anchor="t"/>
          <a:lstStyle/>
          <a:p>
            <a:pPr indent="0" marL="0">
              <a:buNone/>
            </a:pPr>
            <a:r>
              <a:rPr lang="en-US" sz="1900" dirty="0">
                <a:solidFill>
                  <a:srgbClr val="2E060B"/>
                </a:solidFill>
                <a:latin typeface="Palatino Linotype" pitchFamily="34" charset="0"/>
                <a:ea typeface="Palatino Linotype" pitchFamily="34" charset="-122"/>
                <a:cs typeface="Palatino Linotype" pitchFamily="34" charset="-120"/>
              </a:rPr>
              <a:t>împotriva moțiunii</a:t>
            </a:r>
            <a:endParaRPr lang="en-US" sz="1900" dirty="0"/>
          </a:p>
        </p:txBody>
      </p:sp>
      <p:sp>
        <p:nvSpPr>
          <p:cNvPr id="13" name="Text 11"/>
          <p:cNvSpPr/>
          <p:nvPr/>
        </p:nvSpPr>
        <p:spPr>
          <a:xfrm>
            <a:off x="594360" y="4297680"/>
            <a:ext cx="10972800" cy="82296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După luna nașterii, indiferent de opinie. Trei minute de argumente în chat, apoi doi voluntari pe tabără, câte un minut.</a:t>
            </a:r>
            <a:endParaRPr lang="en-US" sz="1800" dirty="0"/>
          </a:p>
        </p:txBody>
      </p:sp>
      <p:sp>
        <p:nvSpPr>
          <p:cNvPr id="14" name="Text 12"/>
          <p:cNvSpPr/>
          <p:nvPr/>
        </p:nvSpPr>
        <p:spPr>
          <a:xfrm>
            <a:off x="594360" y="5212080"/>
            <a:ext cx="10972800" cy="73152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Scopul nu e să câștige cineva, ci să vedeți unde se termină faptul și unde începe valoarea.</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TABERE · A DOUA RUNDĂ</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A DOUA RUNDĂ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Dovada care vă contrazice</a:t>
            </a:r>
            <a:endParaRPr lang="en-US" sz="3400" dirty="0"/>
          </a:p>
        </p:txBody>
      </p:sp>
      <p:sp>
        <p:nvSpPr>
          <p:cNvPr id="6" name="Shape 4"/>
          <p:cNvSpPr/>
          <p:nvPr/>
        </p:nvSpPr>
        <p:spPr>
          <a:xfrm>
            <a:off x="594360" y="1600200"/>
            <a:ext cx="5349240" cy="2651760"/>
          </a:xfrm>
          <a:prstGeom prst="roundRect">
            <a:avLst>
              <a:gd name="adj" fmla="val 3103"/>
            </a:avLst>
          </a:prstGeom>
          <a:solidFill>
            <a:srgbClr val="1D1F2B"/>
          </a:solidFill>
          <a:ln w="12700">
            <a:solidFill>
              <a:srgbClr val="1D1F2B"/>
            </a:solidFill>
            <a:prstDash val="solid"/>
          </a:ln>
        </p:spPr>
        <p:txBody>
          <a:bodyPr/>
          <a:p/>
        </p:txBody>
      </p:sp>
      <p:sp>
        <p:nvSpPr>
          <p:cNvPr id="7" name="Shape 5"/>
          <p:cNvSpPr/>
          <p:nvPr/>
        </p:nvSpPr>
        <p:spPr>
          <a:xfrm>
            <a:off x="594360" y="1600200"/>
            <a:ext cx="5349240" cy="73152"/>
          </a:xfrm>
          <a:prstGeom prst="rect">
            <a:avLst/>
          </a:prstGeom>
          <a:solidFill>
            <a:srgbClr val="27D3BE"/>
          </a:solidFill>
          <a:ln w="12700">
            <a:solidFill>
              <a:srgbClr val="27D3BE"/>
            </a:solidFill>
            <a:prstDash val="solid"/>
          </a:ln>
        </p:spPr>
        <p:txBody>
          <a:bodyPr/>
          <a:p/>
        </p:txBody>
      </p:sp>
      <p:sp>
        <p:nvSpPr>
          <p:cNvPr id="8" name="Text 6"/>
          <p:cNvSpPr/>
          <p:nvPr/>
        </p:nvSpPr>
        <p:spPr>
          <a:xfrm>
            <a:off x="868680" y="1810512"/>
            <a:ext cx="4846320" cy="365760"/>
          </a:xfrm>
          <a:prstGeom prst="rect">
            <a:avLst/>
          </a:prstGeom>
          <a:noFill/>
          <a:ln/>
        </p:spPr>
        <p:txBody>
          <a:bodyPr wrap="square" lIns="0" tIns="0" rIns="0" bIns="0" rtlCol="0" anchor="t"/>
          <a:lstStyle/>
          <a:p>
            <a:pPr indent="0" marL="0">
              <a:buNone/>
            </a:pPr>
            <a:r>
              <a:rPr lang="en-US" sz="1400" b="1" spc="200" kern="0" dirty="0">
                <a:solidFill>
                  <a:srgbClr val="27D3BE"/>
                </a:solidFill>
                <a:latin typeface="Palatino Linotype" pitchFamily="34" charset="0"/>
                <a:ea typeface="Palatino Linotype" pitchFamily="34" charset="-122"/>
                <a:cs typeface="Palatino Linotype" pitchFamily="34" charset="-120"/>
              </a:rPr>
              <a:t>TABĂRA „PENTRU” PRIMEȘTE</a:t>
            </a:r>
            <a:endParaRPr lang="en-US" sz="1400" dirty="0"/>
          </a:p>
        </p:txBody>
      </p:sp>
      <p:sp>
        <p:nvSpPr>
          <p:cNvPr id="9" name="Text 7"/>
          <p:cNvSpPr/>
          <p:nvPr/>
        </p:nvSpPr>
        <p:spPr>
          <a:xfrm>
            <a:off x="868680" y="2286000"/>
            <a:ext cx="4846320" cy="1828800"/>
          </a:xfrm>
          <a:prstGeom prst="rect">
            <a:avLst/>
          </a:prstGeom>
          <a:noFill/>
          <a:ln/>
        </p:spPr>
        <p:txBody>
          <a:bodyPr wrap="square" lIns="0" tIns="0" rIns="0" bIns="0" rtlCol="0" anchor="t"/>
          <a:lstStyle/>
          <a:p>
            <a:pPr indent="0" marL="0">
              <a:buNone/>
            </a:pPr>
            <a:r>
              <a:rPr lang="en-US" sz="1800" i="1" dirty="0">
                <a:solidFill>
                  <a:srgbClr val="FFFFFF"/>
                </a:solidFill>
                <a:latin typeface="Palatino Linotype" pitchFamily="34" charset="0"/>
                <a:ea typeface="Palatino Linotype" pitchFamily="34" charset="-122"/>
                <a:cs typeface="Palatino Linotype" pitchFamily="34" charset="-120"/>
              </a:rPr>
              <a:t>„Dovezile despre camerele de consum sunt încă în dezvoltare, iar evaluarea este dificilă…”</a:t>
            </a:r>
            <a:endParaRPr lang="en-US" sz="1800" dirty="0"/>
          </a:p>
        </p:txBody>
      </p:sp>
      <p:sp>
        <p:nvSpPr>
          <p:cNvPr id="10" name="Shape 8"/>
          <p:cNvSpPr/>
          <p:nvPr/>
        </p:nvSpPr>
        <p:spPr>
          <a:xfrm>
            <a:off x="6217920" y="1600200"/>
            <a:ext cx="5349240" cy="2651760"/>
          </a:xfrm>
          <a:prstGeom prst="roundRect">
            <a:avLst>
              <a:gd name="adj" fmla="val 3103"/>
            </a:avLst>
          </a:prstGeom>
          <a:solidFill>
            <a:srgbClr val="1D1F2B"/>
          </a:solidFill>
          <a:ln w="12700">
            <a:solidFill>
              <a:srgbClr val="1D1F2B"/>
            </a:solidFill>
            <a:prstDash val="solid"/>
          </a:ln>
        </p:spPr>
        <p:txBody>
          <a:bodyPr/>
          <a:p/>
        </p:txBody>
      </p:sp>
      <p:sp>
        <p:nvSpPr>
          <p:cNvPr id="11" name="Shape 9"/>
          <p:cNvSpPr/>
          <p:nvPr/>
        </p:nvSpPr>
        <p:spPr>
          <a:xfrm>
            <a:off x="6217920" y="1600200"/>
            <a:ext cx="5349240" cy="73152"/>
          </a:xfrm>
          <a:prstGeom prst="rect">
            <a:avLst/>
          </a:prstGeom>
          <a:solidFill>
            <a:srgbClr val="FF4757"/>
          </a:solidFill>
          <a:ln w="12700">
            <a:solidFill>
              <a:srgbClr val="FF4757"/>
            </a:solidFill>
            <a:prstDash val="solid"/>
          </a:ln>
        </p:spPr>
        <p:txBody>
          <a:bodyPr/>
          <a:p/>
        </p:txBody>
      </p:sp>
      <p:sp>
        <p:nvSpPr>
          <p:cNvPr id="12" name="Text 10"/>
          <p:cNvSpPr/>
          <p:nvPr/>
        </p:nvSpPr>
        <p:spPr>
          <a:xfrm>
            <a:off x="6492240" y="1810512"/>
            <a:ext cx="4846320" cy="365760"/>
          </a:xfrm>
          <a:prstGeom prst="rect">
            <a:avLst/>
          </a:prstGeom>
          <a:noFill/>
          <a:ln/>
        </p:spPr>
        <p:txBody>
          <a:bodyPr wrap="square" lIns="0" tIns="0" rIns="0" bIns="0" rtlCol="0" anchor="t"/>
          <a:lstStyle/>
          <a:p>
            <a:pPr indent="0" marL="0">
              <a:buNone/>
            </a:pPr>
            <a:r>
              <a:rPr lang="en-US" sz="1400" b="1" spc="200" kern="0" dirty="0">
                <a:solidFill>
                  <a:srgbClr val="FF4757"/>
                </a:solidFill>
                <a:latin typeface="Palatino Linotype" pitchFamily="34" charset="0"/>
                <a:ea typeface="Palatino Linotype" pitchFamily="34" charset="-122"/>
                <a:cs typeface="Palatino Linotype" pitchFamily="34" charset="-120"/>
              </a:rPr>
              <a:t>TABĂRA „ÎMPOTRIVĂ” PRIMEȘTE</a:t>
            </a:r>
            <a:endParaRPr lang="en-US" sz="1400" dirty="0"/>
          </a:p>
        </p:txBody>
      </p:sp>
      <p:sp>
        <p:nvSpPr>
          <p:cNvPr id="13" name="Text 11"/>
          <p:cNvSpPr/>
          <p:nvPr/>
        </p:nvSpPr>
        <p:spPr>
          <a:xfrm>
            <a:off x="6492240" y="2286000"/>
            <a:ext cx="4846320" cy="1828800"/>
          </a:xfrm>
          <a:prstGeom prst="rect">
            <a:avLst/>
          </a:prstGeom>
          <a:noFill/>
          <a:ln/>
        </p:spPr>
        <p:txBody>
          <a:bodyPr wrap="square" lIns="0" tIns="0" rIns="0" bIns="0" rtlCol="0" anchor="t"/>
          <a:lstStyle/>
          <a:p>
            <a:pPr indent="0" marL="0">
              <a:buNone/>
            </a:pPr>
            <a:r>
              <a:rPr lang="en-US" sz="1800" i="1" dirty="0">
                <a:solidFill>
                  <a:srgbClr val="FFFFFF"/>
                </a:solidFill>
                <a:latin typeface="Palatino Linotype" pitchFamily="34" charset="0"/>
                <a:ea typeface="Palatino Linotype" pitchFamily="34" charset="-122"/>
                <a:cs typeface="Palatino Linotype" pitchFamily="34" charset="-120"/>
              </a:rPr>
              <a:t>„… dar datele disponibile arată că ele pot contribui la reducerea deceselor legate de droguri.”</a:t>
            </a:r>
            <a:endParaRPr lang="en-US" sz="1800" dirty="0"/>
          </a:p>
        </p:txBody>
      </p:sp>
      <p:sp>
        <p:nvSpPr>
          <p:cNvPr id="14" name="Text 12"/>
          <p:cNvSpPr/>
          <p:nvPr/>
        </p:nvSpPr>
        <p:spPr>
          <a:xfrm>
            <a:off x="594360" y="4480560"/>
            <a:ext cx="10972800" cy="45720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Includeți dovada în argument. Câte un voluntar pe tabără, un minut.</a:t>
            </a:r>
            <a:endParaRPr lang="en-US" sz="1900" dirty="0"/>
          </a:p>
        </p:txBody>
      </p:sp>
      <p:sp>
        <p:nvSpPr>
          <p:cNvPr id="15" name="Text 13"/>
          <p:cNvSpPr/>
          <p:nvPr/>
        </p:nvSpPr>
        <p:spPr>
          <a:xfrm>
            <a:off x="594360" y="5074920"/>
            <a:ext cx="10972800" cy="82296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Aceeași propoziție, tăiată în două. Cine plătește, unde se deschide, ce spun vecinii și legea: datele informează, dar nu decid.</a:t>
            </a:r>
            <a:endParaRPr lang="en-US" sz="1600" dirty="0"/>
          </a:p>
        </p:txBody>
      </p:sp>
      <p:sp>
        <p:nvSpPr>
          <p:cNvPr id="16" name="Text 14"/>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EUDA, European Drug Report 2026.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 CHAT · JUMĂTATE DE MINUT</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PARTEA A TREIA · ÎNCHEIERE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Ce îi spuneți mâine unui coleg</a:t>
            </a:r>
            <a:endParaRPr lang="en-US" sz="3400" dirty="0"/>
          </a:p>
        </p:txBody>
      </p:sp>
      <p:sp>
        <p:nvSpPr>
          <p:cNvPr id="6" name="Shape 4"/>
          <p:cNvSpPr/>
          <p:nvPr/>
        </p:nvSpPr>
        <p:spPr>
          <a:xfrm>
            <a:off x="594360" y="1828800"/>
            <a:ext cx="73152" cy="3291840"/>
          </a:xfrm>
          <a:prstGeom prst="rect">
            <a:avLst/>
          </a:prstGeom>
          <a:solidFill>
            <a:srgbClr val="27D3BE"/>
          </a:solidFill>
          <a:ln w="12700">
            <a:solidFill>
              <a:srgbClr val="27D3BE"/>
            </a:solidFill>
            <a:prstDash val="solid"/>
          </a:ln>
        </p:spPr>
        <p:txBody>
          <a:bodyPr/>
          <a:p/>
        </p:txBody>
      </p:sp>
      <p:sp>
        <p:nvSpPr>
          <p:cNvPr id="7" name="Text 5"/>
          <p:cNvSpPr/>
          <p:nvPr/>
        </p:nvSpPr>
        <p:spPr>
          <a:xfrm>
            <a:off x="960120" y="1828800"/>
            <a:ext cx="10515600" cy="3291840"/>
          </a:xfrm>
          <a:prstGeom prst="rect">
            <a:avLst/>
          </a:prstGeom>
          <a:noFill/>
          <a:ln/>
        </p:spPr>
        <p:txBody>
          <a:bodyPr wrap="square" lIns="0" tIns="0" rIns="0" bIns="0" rtlCol="0" anchor="ctr"/>
          <a:lstStyle/>
          <a:p>
            <a:pPr indent="0" marL="0">
              <a:buNone/>
            </a:pPr>
            <a:r>
              <a:rPr lang="en-US" sz="2300" i="1" dirty="0">
                <a:solidFill>
                  <a:srgbClr val="FFFFFF"/>
                </a:solidFill>
                <a:latin typeface="Palatino Linotype" pitchFamily="34" charset="0"/>
                <a:ea typeface="Palatino Linotype" pitchFamily="34" charset="-122"/>
                <a:cs typeface="Palatino Linotype" pitchFamily="34" charset="-120"/>
              </a:rPr>
              <a:t>„Reducerea riscurilor nu înseamnă că aprobi consumul, ci că nu condiționezi îngrijirea de abstinență. Pentru seringile sterile și pentru naloxonă, dovezile sunt solide. În România, programul există doar în București, iar naloxona doar în ambulanțe și în urgențe.”</a:t>
            </a:r>
            <a:endParaRPr lang="en-US" sz="2300" dirty="0"/>
          </a:p>
        </p:txBody>
      </p:sp>
      <p:sp>
        <p:nvSpPr>
          <p:cNvPr id="8" name="Text 6"/>
          <p:cNvSpPr/>
          <p:nvPr/>
        </p:nvSpPr>
        <p:spPr>
          <a:xfrm>
            <a:off x="594360" y="5486400"/>
            <a:ext cx="10972800" cy="41148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Scrieți-o în chat, cu cuvintele voastre.</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PARTEA A PATRA · AL TREILEA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Tratamentul de substituție</a:t>
            </a:r>
            <a:endParaRPr lang="en-US" sz="3400" dirty="0"/>
          </a:p>
        </p:txBody>
      </p:sp>
      <p:sp>
        <p:nvSpPr>
          <p:cNvPr id="4" name="Text 2"/>
          <p:cNvSpPr/>
          <p:nvPr/>
        </p:nvSpPr>
        <p:spPr>
          <a:xfrm>
            <a:off x="594360" y="1463040"/>
            <a:ext cx="6400800" cy="155448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Tratamentul de întreținere al dependenței de opioide cu un medicament opioid, de obicei metadonă sau buprenorfină. Se numește și tratament cu agoniști opioizi.</a:t>
            </a:r>
            <a:endParaRPr lang="en-US" sz="1900" dirty="0"/>
          </a:p>
        </p:txBody>
      </p:sp>
      <p:sp>
        <p:nvSpPr>
          <p:cNvPr id="5" name="Text 3"/>
          <p:cNvSpPr/>
          <p:nvPr/>
        </p:nvSpPr>
        <p:spPr>
          <a:xfrm>
            <a:off x="594360" y="3200400"/>
            <a:ext cx="6400800" cy="1005840"/>
          </a:xfrm>
          <a:prstGeom prst="rect">
            <a:avLst/>
          </a:prstGeom>
          <a:noFill/>
          <a:ln/>
        </p:spPr>
        <p:txBody>
          <a:bodyPr wrap="square" lIns="0" tIns="0" rIns="0" bIns="0" rtlCol="0" anchor="t"/>
          <a:lstStyle/>
          <a:p>
            <a:pPr indent="0" marL="0">
              <a:buNone/>
            </a:pPr>
            <a:r>
              <a:rPr lang="en-US" sz="2000" b="1" i="1" dirty="0">
                <a:solidFill>
                  <a:srgbClr val="FFC24B"/>
                </a:solidFill>
                <a:latin typeface="Palatino Linotype" pitchFamily="34" charset="0"/>
                <a:ea typeface="Palatino Linotype" pitchFamily="34" charset="-122"/>
                <a:cs typeface="Palatino Linotype" pitchFamily="34" charset="-120"/>
              </a:rPr>
              <a:t>„Un medicament luat zilnic, controlat, în locul drogului luat de pe stradă.”</a:t>
            </a:r>
            <a:endParaRPr lang="en-US" sz="2000" dirty="0"/>
          </a:p>
        </p:txBody>
      </p:sp>
      <p:sp>
        <p:nvSpPr>
          <p:cNvPr id="6" name="Shape 4"/>
          <p:cNvSpPr/>
          <p:nvPr/>
        </p:nvSpPr>
        <p:spPr>
          <a:xfrm>
            <a:off x="7315200" y="1463040"/>
            <a:ext cx="4251960" cy="2743200"/>
          </a:xfrm>
          <a:prstGeom prst="roundRect">
            <a:avLst>
              <a:gd name="adj" fmla="val 3000"/>
            </a:avLst>
          </a:prstGeom>
          <a:solidFill>
            <a:srgbClr val="1D1F2B"/>
          </a:solidFill>
          <a:ln w="12700">
            <a:solidFill>
              <a:srgbClr val="1D1F2B"/>
            </a:solidFill>
            <a:prstDash val="solid"/>
          </a:ln>
        </p:spPr>
        <p:txBody>
          <a:bodyPr/>
          <a:p/>
        </p:txBody>
      </p:sp>
      <p:sp>
        <p:nvSpPr>
          <p:cNvPr id="7" name="Text 5"/>
          <p:cNvSpPr/>
          <p:nvPr/>
        </p:nvSpPr>
        <p:spPr>
          <a:xfrm>
            <a:off x="7589520" y="1600200"/>
            <a:ext cx="3749040" cy="24688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Este și el o formă de reducere a riscurilor, dar se face într-un cadru medical obișnuit.</a:t>
            </a:r>
            <a:endParaRPr lang="en-US" sz="1700" dirty="0"/>
          </a:p>
        </p:txBody>
      </p:sp>
      <p:sp>
        <p:nvSpPr>
          <p:cNvPr id="8" name="Text 6"/>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Surse: EUDA, European Drug Report 2026; notele ședinței.</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ÎNAINTE DE CIFRE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600" b="1" dirty="0">
                <a:solidFill>
                  <a:srgbClr val="FFFFFF"/>
                </a:solidFill>
                <a:latin typeface="Palatino Linotype" pitchFamily="34" charset="0"/>
                <a:ea typeface="Palatino Linotype" pitchFamily="34" charset="-122"/>
                <a:cs typeface="Palatino Linotype" pitchFamily="34" charset="-120"/>
              </a:rPr>
              <a:t>Din zece persoane care au nevoie, în lume, de tratament pentru dependența de opioide, câte îl primesc?</a:t>
            </a:r>
            <a:endParaRPr lang="en-US" sz="2600" dirty="0"/>
          </a:p>
        </p:txBody>
      </p:sp>
      <p:sp>
        <p:nvSpPr>
          <p:cNvPr id="6" name="Shape 4"/>
          <p:cNvSpPr/>
          <p:nvPr/>
        </p:nvSpPr>
        <p:spPr>
          <a:xfrm>
            <a:off x="594360" y="2011680"/>
            <a:ext cx="8046720" cy="603504"/>
          </a:xfrm>
          <a:prstGeom prst="roundRect">
            <a:avLst>
              <a:gd name="adj" fmla="val 13636"/>
            </a:avLst>
          </a:prstGeom>
          <a:solidFill>
            <a:srgbClr val="1D1F2B"/>
          </a:solidFill>
          <a:ln w="12700">
            <a:solidFill>
              <a:srgbClr val="1D1F2B"/>
            </a:solidFill>
            <a:prstDash val="solid"/>
          </a:ln>
        </p:spPr>
        <p:txBody>
          <a:bodyPr/>
          <a:p/>
        </p:txBody>
      </p:sp>
      <p:sp>
        <p:nvSpPr>
          <p:cNvPr id="7" name="Shape 5"/>
          <p:cNvSpPr/>
          <p:nvPr/>
        </p:nvSpPr>
        <p:spPr>
          <a:xfrm>
            <a:off x="914400" y="2103120"/>
            <a:ext cx="420624" cy="420624"/>
          </a:xfrm>
          <a:prstGeom prst="ellipse">
            <a:avLst/>
          </a:prstGeom>
          <a:solidFill>
            <a:srgbClr val="FFC24B"/>
          </a:solidFill>
          <a:ln/>
        </p:spPr>
        <p:txBody>
          <a:bodyPr/>
          <a:p/>
        </p:txBody>
      </p:sp>
      <p:sp>
        <p:nvSpPr>
          <p:cNvPr id="8" name="Text 6"/>
          <p:cNvSpPr/>
          <p:nvPr/>
        </p:nvSpPr>
        <p:spPr>
          <a:xfrm>
            <a:off x="914400" y="210312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2011680"/>
            <a:ext cx="6766560" cy="603504"/>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mai puțin de una</a:t>
            </a:r>
            <a:endParaRPr lang="en-US" sz="1800" dirty="0"/>
          </a:p>
        </p:txBody>
      </p:sp>
      <p:sp>
        <p:nvSpPr>
          <p:cNvPr id="10" name="Shape 8"/>
          <p:cNvSpPr/>
          <p:nvPr/>
        </p:nvSpPr>
        <p:spPr>
          <a:xfrm>
            <a:off x="594360" y="2743200"/>
            <a:ext cx="8046720" cy="603504"/>
          </a:xfrm>
          <a:prstGeom prst="roundRect">
            <a:avLst>
              <a:gd name="adj" fmla="val 13636"/>
            </a:avLst>
          </a:prstGeom>
          <a:solidFill>
            <a:srgbClr val="1D1F2B"/>
          </a:solidFill>
          <a:ln w="12700">
            <a:solidFill>
              <a:srgbClr val="1D1F2B"/>
            </a:solidFill>
            <a:prstDash val="solid"/>
          </a:ln>
        </p:spPr>
        <p:txBody>
          <a:bodyPr/>
          <a:p/>
        </p:txBody>
      </p:sp>
      <p:sp>
        <p:nvSpPr>
          <p:cNvPr id="11" name="Shape 9"/>
          <p:cNvSpPr/>
          <p:nvPr/>
        </p:nvSpPr>
        <p:spPr>
          <a:xfrm>
            <a:off x="914400" y="2834640"/>
            <a:ext cx="420624" cy="420624"/>
          </a:xfrm>
          <a:prstGeom prst="ellipse">
            <a:avLst/>
          </a:prstGeom>
          <a:solidFill>
            <a:srgbClr val="FFC24B"/>
          </a:solidFill>
          <a:ln/>
        </p:spPr>
        <p:txBody>
          <a:bodyPr/>
          <a:p/>
        </p:txBody>
      </p:sp>
      <p:sp>
        <p:nvSpPr>
          <p:cNvPr id="12" name="Text 10"/>
          <p:cNvSpPr/>
          <p:nvPr/>
        </p:nvSpPr>
        <p:spPr>
          <a:xfrm>
            <a:off x="914400" y="28346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2743200"/>
            <a:ext cx="6766560" cy="603504"/>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trei</a:t>
            </a:r>
            <a:endParaRPr lang="en-US" sz="1800" dirty="0"/>
          </a:p>
        </p:txBody>
      </p:sp>
      <p:sp>
        <p:nvSpPr>
          <p:cNvPr id="14" name="Shape 12"/>
          <p:cNvSpPr/>
          <p:nvPr/>
        </p:nvSpPr>
        <p:spPr>
          <a:xfrm>
            <a:off x="594360" y="3474720"/>
            <a:ext cx="8046720" cy="603504"/>
          </a:xfrm>
          <a:prstGeom prst="roundRect">
            <a:avLst>
              <a:gd name="adj" fmla="val 13636"/>
            </a:avLst>
          </a:prstGeom>
          <a:solidFill>
            <a:srgbClr val="1D1F2B"/>
          </a:solidFill>
          <a:ln w="12700">
            <a:solidFill>
              <a:srgbClr val="1D1F2B"/>
            </a:solidFill>
            <a:prstDash val="solid"/>
          </a:ln>
        </p:spPr>
        <p:txBody>
          <a:bodyPr/>
          <a:p/>
        </p:txBody>
      </p:sp>
      <p:sp>
        <p:nvSpPr>
          <p:cNvPr id="15" name="Shape 13"/>
          <p:cNvSpPr/>
          <p:nvPr/>
        </p:nvSpPr>
        <p:spPr>
          <a:xfrm>
            <a:off x="914400" y="3566160"/>
            <a:ext cx="420624" cy="420624"/>
          </a:xfrm>
          <a:prstGeom prst="ellipse">
            <a:avLst/>
          </a:prstGeom>
          <a:solidFill>
            <a:srgbClr val="FFC24B"/>
          </a:solidFill>
          <a:ln/>
        </p:spPr>
        <p:txBody>
          <a:bodyPr/>
          <a:p/>
        </p:txBody>
      </p:sp>
      <p:sp>
        <p:nvSpPr>
          <p:cNvPr id="16" name="Text 14"/>
          <p:cNvSpPr/>
          <p:nvPr/>
        </p:nvSpPr>
        <p:spPr>
          <a:xfrm>
            <a:off x="914400" y="35661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3474720"/>
            <a:ext cx="6766560" cy="603504"/>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cinci</a:t>
            </a:r>
            <a:endParaRPr lang="en-US" sz="1800" dirty="0"/>
          </a:p>
        </p:txBody>
      </p:sp>
      <p:sp>
        <p:nvSpPr>
          <p:cNvPr id="18" name="Shape 16"/>
          <p:cNvSpPr/>
          <p:nvPr/>
        </p:nvSpPr>
        <p:spPr>
          <a:xfrm>
            <a:off x="594360" y="4206240"/>
            <a:ext cx="8046720" cy="603504"/>
          </a:xfrm>
          <a:prstGeom prst="roundRect">
            <a:avLst>
              <a:gd name="adj" fmla="val 13636"/>
            </a:avLst>
          </a:prstGeom>
          <a:solidFill>
            <a:srgbClr val="1D1F2B"/>
          </a:solidFill>
          <a:ln w="12700">
            <a:solidFill>
              <a:srgbClr val="1D1F2B"/>
            </a:solidFill>
            <a:prstDash val="solid"/>
          </a:ln>
        </p:spPr>
        <p:txBody>
          <a:bodyPr/>
          <a:p/>
        </p:txBody>
      </p:sp>
      <p:sp>
        <p:nvSpPr>
          <p:cNvPr id="19" name="Shape 17"/>
          <p:cNvSpPr/>
          <p:nvPr/>
        </p:nvSpPr>
        <p:spPr>
          <a:xfrm>
            <a:off x="914400" y="4297680"/>
            <a:ext cx="420624" cy="420624"/>
          </a:xfrm>
          <a:prstGeom prst="ellipse">
            <a:avLst/>
          </a:prstGeom>
          <a:solidFill>
            <a:srgbClr val="FFC24B"/>
          </a:solidFill>
          <a:ln/>
        </p:spPr>
        <p:txBody>
          <a:bodyPr/>
          <a:p/>
        </p:txBody>
      </p:sp>
      <p:sp>
        <p:nvSpPr>
          <p:cNvPr id="20" name="Text 18"/>
          <p:cNvSpPr/>
          <p:nvPr/>
        </p:nvSpPr>
        <p:spPr>
          <a:xfrm>
            <a:off x="914400" y="42976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600200" y="4206240"/>
            <a:ext cx="6766560" cy="603504"/>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opt</a:t>
            </a:r>
            <a:endParaRPr lang="en-US" sz="1800" dirty="0"/>
          </a:p>
        </p:txBody>
      </p:sp>
      <p:sp>
        <p:nvSpPr>
          <p:cNvPr id="22" name="Text 20"/>
          <p:cNvSpPr/>
          <p:nvPr/>
        </p:nvSpPr>
        <p:spPr>
          <a:xfrm>
            <a:off x="594360" y="5029200"/>
            <a:ext cx="8686800" cy="45720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Apoi trei minute în chat: ce ar putea ține un om departe de tratament?</a:t>
            </a:r>
            <a:endParaRPr lang="en-US" sz="1600" dirty="0"/>
          </a:p>
        </p:txBody>
      </p:sp>
      <p:sp>
        <p:nvSpPr>
          <p:cNvPr id="23" name="Text 21"/>
          <p:cNvSpPr/>
          <p:nvPr/>
        </p:nvSpPr>
        <p:spPr>
          <a:xfrm>
            <a:off x="594360" y="5577840"/>
            <a:ext cx="8595360" cy="41148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Răspundeți pe telefon, la codul afișat.</a:t>
            </a:r>
            <a:endParaRPr lang="en-US" sz="1600" dirty="0"/>
          </a:p>
        </p:txBody>
      </p:sp>
      <p:sp>
        <p:nvSpPr>
          <p:cNvPr id="24" name="Shape 22"/>
          <p:cNvSpPr/>
          <p:nvPr/>
        </p:nvSpPr>
        <p:spPr>
          <a:xfrm>
            <a:off x="9144000" y="2011680"/>
            <a:ext cx="2423160" cy="2286000"/>
          </a:xfrm>
          <a:prstGeom prst="roundRect">
            <a:avLst>
              <a:gd name="adj" fmla="val 3600"/>
            </a:avLst>
          </a:prstGeom>
          <a:solidFill>
            <a:srgbClr val="FFFFFF"/>
          </a:solidFill>
          <a:ln w="12700">
            <a:solidFill>
              <a:srgbClr val="FFFFFF"/>
            </a:solidFill>
            <a:prstDash val="solid"/>
          </a:ln>
        </p:spPr>
        <p:txBody>
          <a:bodyPr/>
          <a:p/>
        </p:txBody>
      </p:sp>
      <p:pic>
        <p:nvPicPr>
          <p:cNvPr id="25" name="Picture 24" descr="Mentimeter_OPT_DROGURI_C04.png"/>
          <p:cNvPicPr>
            <a:picLocks noChangeAspect="1"/>
          </p:cNvPicPr>
          <p:nvPr/>
        </p:nvPicPr>
        <p:blipFill>
          <a:blip r:embed="rId3"/>
          <a:stretch>
            <a:fillRect/>
          </a:stretch>
        </p:blipFill>
        <p:spPr>
          <a:xfrm>
            <a:off x="9526270" y="2011680"/>
            <a:ext cx="1658620" cy="1658620"/>
          </a:xfrm>
          <a:prstGeom prst="rect">
            <a:avLst/>
          </a:prstGeom>
        </p:spPr>
      </p:pic>
      <p:sp>
        <p:nvSpPr>
          <p:cNvPr id="26" name="TextBox 25"/>
          <p:cNvSpPr txBox="1"/>
          <p:nvPr/>
        </p:nvSpPr>
        <p:spPr>
          <a:xfrm>
            <a:off x="9144000" y="3708400"/>
            <a:ext cx="242316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OMS · FIȘA DIN 2025</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Varianta A: mai puțin de una din zece</a:t>
            </a:r>
            <a:endParaRPr lang="en-US" sz="3200" dirty="0"/>
          </a:p>
        </p:txBody>
      </p:sp>
      <p:sp>
        <p:nvSpPr>
          <p:cNvPr id="4" name="Shape 2"/>
          <p:cNvSpPr/>
          <p:nvPr/>
        </p:nvSpPr>
        <p:spPr>
          <a:xfrm>
            <a:off x="685800" y="1600200"/>
            <a:ext cx="438912" cy="438912"/>
          </a:xfrm>
          <a:prstGeom prst="ellipse">
            <a:avLst/>
          </a:prstGeom>
          <a:solidFill>
            <a:srgbClr val="D9D6CE"/>
          </a:solidFill>
          <a:ln w="12700">
            <a:solidFill>
              <a:srgbClr val="D9D6CE"/>
            </a:solidFill>
            <a:prstDash val="solid"/>
          </a:ln>
        </p:spPr>
        <p:txBody>
          <a:bodyPr/>
          <a:p/>
        </p:txBody>
      </p:sp>
      <p:sp>
        <p:nvSpPr>
          <p:cNvPr id="5" name="Shape 3"/>
          <p:cNvSpPr/>
          <p:nvPr/>
        </p:nvSpPr>
        <p:spPr>
          <a:xfrm>
            <a:off x="1252728" y="1600200"/>
            <a:ext cx="438912" cy="438912"/>
          </a:xfrm>
          <a:prstGeom prst="ellipse">
            <a:avLst/>
          </a:prstGeom>
          <a:solidFill>
            <a:srgbClr val="D9D6CE"/>
          </a:solidFill>
          <a:ln w="12700">
            <a:solidFill>
              <a:srgbClr val="D9D6CE"/>
            </a:solidFill>
            <a:prstDash val="solid"/>
          </a:ln>
        </p:spPr>
        <p:txBody>
          <a:bodyPr/>
          <a:p/>
        </p:txBody>
      </p:sp>
      <p:sp>
        <p:nvSpPr>
          <p:cNvPr id="6" name="Shape 4"/>
          <p:cNvSpPr/>
          <p:nvPr/>
        </p:nvSpPr>
        <p:spPr>
          <a:xfrm>
            <a:off x="1819656" y="1600200"/>
            <a:ext cx="438912" cy="438912"/>
          </a:xfrm>
          <a:prstGeom prst="ellipse">
            <a:avLst/>
          </a:prstGeom>
          <a:solidFill>
            <a:srgbClr val="D9D6CE"/>
          </a:solidFill>
          <a:ln w="12700">
            <a:solidFill>
              <a:srgbClr val="D9D6CE"/>
            </a:solidFill>
            <a:prstDash val="solid"/>
          </a:ln>
        </p:spPr>
        <p:txBody>
          <a:bodyPr/>
          <a:p/>
        </p:txBody>
      </p:sp>
      <p:sp>
        <p:nvSpPr>
          <p:cNvPr id="7" name="Shape 5"/>
          <p:cNvSpPr/>
          <p:nvPr/>
        </p:nvSpPr>
        <p:spPr>
          <a:xfrm>
            <a:off x="2386584" y="1600200"/>
            <a:ext cx="438912" cy="438912"/>
          </a:xfrm>
          <a:prstGeom prst="ellipse">
            <a:avLst/>
          </a:prstGeom>
          <a:solidFill>
            <a:srgbClr val="D9D6CE"/>
          </a:solidFill>
          <a:ln w="12700">
            <a:solidFill>
              <a:srgbClr val="D9D6CE"/>
            </a:solidFill>
            <a:prstDash val="solid"/>
          </a:ln>
        </p:spPr>
        <p:txBody>
          <a:bodyPr/>
          <a:p/>
        </p:txBody>
      </p:sp>
      <p:sp>
        <p:nvSpPr>
          <p:cNvPr id="8" name="Shape 6"/>
          <p:cNvSpPr/>
          <p:nvPr/>
        </p:nvSpPr>
        <p:spPr>
          <a:xfrm>
            <a:off x="2953512" y="1600200"/>
            <a:ext cx="438912" cy="438912"/>
          </a:xfrm>
          <a:prstGeom prst="ellipse">
            <a:avLst/>
          </a:prstGeom>
          <a:solidFill>
            <a:srgbClr val="D9D6CE"/>
          </a:solidFill>
          <a:ln w="12700">
            <a:solidFill>
              <a:srgbClr val="D9D6CE"/>
            </a:solidFill>
            <a:prstDash val="solid"/>
          </a:ln>
        </p:spPr>
        <p:txBody>
          <a:bodyPr/>
          <a:p/>
        </p:txBody>
      </p:sp>
      <p:sp>
        <p:nvSpPr>
          <p:cNvPr id="9" name="Shape 7"/>
          <p:cNvSpPr/>
          <p:nvPr/>
        </p:nvSpPr>
        <p:spPr>
          <a:xfrm>
            <a:off x="3520440" y="1600200"/>
            <a:ext cx="438912" cy="438912"/>
          </a:xfrm>
          <a:prstGeom prst="ellipse">
            <a:avLst/>
          </a:prstGeom>
          <a:solidFill>
            <a:srgbClr val="D9D6CE"/>
          </a:solidFill>
          <a:ln w="12700">
            <a:solidFill>
              <a:srgbClr val="D9D6CE"/>
            </a:solidFill>
            <a:prstDash val="solid"/>
          </a:ln>
        </p:spPr>
        <p:txBody>
          <a:bodyPr/>
          <a:p/>
        </p:txBody>
      </p:sp>
      <p:sp>
        <p:nvSpPr>
          <p:cNvPr id="10" name="Shape 8"/>
          <p:cNvSpPr/>
          <p:nvPr/>
        </p:nvSpPr>
        <p:spPr>
          <a:xfrm>
            <a:off x="4087368" y="1600200"/>
            <a:ext cx="438912" cy="438912"/>
          </a:xfrm>
          <a:prstGeom prst="ellipse">
            <a:avLst/>
          </a:prstGeom>
          <a:solidFill>
            <a:srgbClr val="D9D6CE"/>
          </a:solidFill>
          <a:ln w="12700">
            <a:solidFill>
              <a:srgbClr val="D9D6CE"/>
            </a:solidFill>
            <a:prstDash val="solid"/>
          </a:ln>
        </p:spPr>
        <p:txBody>
          <a:bodyPr/>
          <a:p/>
        </p:txBody>
      </p:sp>
      <p:sp>
        <p:nvSpPr>
          <p:cNvPr id="11" name="Shape 9"/>
          <p:cNvSpPr/>
          <p:nvPr/>
        </p:nvSpPr>
        <p:spPr>
          <a:xfrm>
            <a:off x="4654296" y="1600200"/>
            <a:ext cx="438912" cy="438912"/>
          </a:xfrm>
          <a:prstGeom prst="ellipse">
            <a:avLst/>
          </a:prstGeom>
          <a:solidFill>
            <a:srgbClr val="D9D6CE"/>
          </a:solidFill>
          <a:ln w="12700">
            <a:solidFill>
              <a:srgbClr val="D9D6CE"/>
            </a:solidFill>
            <a:prstDash val="solid"/>
          </a:ln>
        </p:spPr>
        <p:txBody>
          <a:bodyPr/>
          <a:p/>
        </p:txBody>
      </p:sp>
      <p:sp>
        <p:nvSpPr>
          <p:cNvPr id="12" name="Shape 10"/>
          <p:cNvSpPr/>
          <p:nvPr/>
        </p:nvSpPr>
        <p:spPr>
          <a:xfrm>
            <a:off x="5221224" y="1600200"/>
            <a:ext cx="438912" cy="438912"/>
          </a:xfrm>
          <a:prstGeom prst="ellipse">
            <a:avLst/>
          </a:prstGeom>
          <a:solidFill>
            <a:srgbClr val="D9D6CE"/>
          </a:solidFill>
          <a:ln w="12700">
            <a:solidFill>
              <a:srgbClr val="D9D6CE"/>
            </a:solidFill>
            <a:prstDash val="solid"/>
          </a:ln>
        </p:spPr>
        <p:txBody>
          <a:bodyPr/>
          <a:p/>
        </p:txBody>
      </p:sp>
      <p:sp>
        <p:nvSpPr>
          <p:cNvPr id="13" name="Shape 11"/>
          <p:cNvSpPr/>
          <p:nvPr/>
        </p:nvSpPr>
        <p:spPr>
          <a:xfrm>
            <a:off x="5788152" y="1600200"/>
            <a:ext cx="438912" cy="438912"/>
          </a:xfrm>
          <a:prstGeom prst="ellipse">
            <a:avLst/>
          </a:prstGeom>
          <a:solidFill>
            <a:srgbClr val="D9D6CE"/>
          </a:solidFill>
          <a:ln w="12700">
            <a:solidFill>
              <a:srgbClr val="D9D6CE"/>
            </a:solidFill>
            <a:prstDash val="solid"/>
          </a:ln>
        </p:spPr>
        <p:txBody>
          <a:bodyPr/>
          <a:p/>
        </p:txBody>
      </p:sp>
      <p:sp>
        <p:nvSpPr>
          <p:cNvPr id="14" name="Shape 12"/>
          <p:cNvSpPr/>
          <p:nvPr/>
        </p:nvSpPr>
        <p:spPr>
          <a:xfrm>
            <a:off x="795528" y="1709928"/>
            <a:ext cx="219456" cy="219456"/>
          </a:xfrm>
          <a:prstGeom prst="ellipse">
            <a:avLst/>
          </a:prstGeom>
          <a:solidFill>
            <a:srgbClr val="B02532"/>
          </a:solidFill>
          <a:ln w="12700">
            <a:solidFill>
              <a:srgbClr val="B02532"/>
            </a:solidFill>
            <a:prstDash val="solid"/>
          </a:ln>
        </p:spPr>
        <p:txBody>
          <a:bodyPr/>
          <a:p/>
        </p:txBody>
      </p:sp>
      <p:sp>
        <p:nvSpPr>
          <p:cNvPr id="15" name="Text 13"/>
          <p:cNvSpPr/>
          <p:nvPr/>
        </p:nvSpPr>
        <p:spPr>
          <a:xfrm>
            <a:off x="594360" y="2240280"/>
            <a:ext cx="5760720" cy="822960"/>
          </a:xfrm>
          <a:prstGeom prst="rect">
            <a:avLst/>
          </a:prstGeom>
          <a:noFill/>
          <a:ln/>
        </p:spPr>
        <p:txBody>
          <a:bodyPr wrap="square" lIns="0" tIns="0" rIns="0" bIns="0" rtlCol="0" anchor="t"/>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La nivel global, mai puțin de 10% dintre cei care au nevoie de tratament îl primesc.</a:t>
            </a:r>
            <a:endParaRPr lang="en-US" sz="1650" dirty="0"/>
          </a:p>
        </p:txBody>
      </p:sp>
      <p:sp>
        <p:nvSpPr>
          <p:cNvPr id="16" name="Shape 14"/>
          <p:cNvSpPr/>
          <p:nvPr/>
        </p:nvSpPr>
        <p:spPr>
          <a:xfrm>
            <a:off x="594360" y="3291840"/>
            <a:ext cx="5349240" cy="1737360"/>
          </a:xfrm>
          <a:prstGeom prst="roundRect">
            <a:avLst>
              <a:gd name="adj" fmla="val 4737"/>
            </a:avLst>
          </a:prstGeom>
          <a:solidFill>
            <a:srgbClr val="ECEAE4"/>
          </a:solidFill>
          <a:ln w="12700">
            <a:solidFill>
              <a:srgbClr val="ECEAE4"/>
            </a:solidFill>
            <a:prstDash val="solid"/>
          </a:ln>
        </p:spPr>
        <p:txBody>
          <a:bodyPr/>
          <a:p/>
        </p:txBody>
      </p:sp>
      <p:sp>
        <p:nvSpPr>
          <p:cNvPr id="17" name="Text 15"/>
          <p:cNvSpPr/>
          <p:nvPr/>
        </p:nvSpPr>
        <p:spPr>
          <a:xfrm>
            <a:off x="868680" y="3401568"/>
            <a:ext cx="4800600" cy="868680"/>
          </a:xfrm>
          <a:prstGeom prst="rect">
            <a:avLst/>
          </a:prstGeom>
          <a:noFill/>
          <a:ln/>
        </p:spPr>
        <p:txBody>
          <a:bodyPr wrap="square" lIns="0" tIns="0" rIns="0" bIns="0" rtlCol="0" anchor="ctr"/>
          <a:lstStyle/>
          <a:p>
            <a:pPr indent="0" marL="0">
              <a:buNone/>
            </a:pPr>
            <a:r>
              <a:rPr lang="en-US" sz="4000" b="1" dirty="0">
                <a:solidFill>
                  <a:srgbClr val="0E7C6B"/>
                </a:solidFill>
                <a:latin typeface="Palatino Linotype" pitchFamily="34" charset="0"/>
                <a:ea typeface="Palatino Linotype" pitchFamily="34" charset="-122"/>
                <a:cs typeface="Palatino Linotype" pitchFamily="34" charset="-120"/>
              </a:rPr>
              <a:t>505 000</a:t>
            </a:r>
            <a:endParaRPr lang="en-US" sz="4000" dirty="0"/>
          </a:p>
        </p:txBody>
      </p:sp>
      <p:sp>
        <p:nvSpPr>
          <p:cNvPr id="18" name="Text 16"/>
          <p:cNvSpPr/>
          <p:nvPr/>
        </p:nvSpPr>
        <p:spPr>
          <a:xfrm>
            <a:off x="868680" y="4178808"/>
            <a:ext cx="4800600" cy="799186"/>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de persoane în UE, în 2024, au primit o formă de tratament cu agoniști opioizi</a:t>
            </a:r>
            <a:endParaRPr lang="en-US" sz="1200" dirty="0"/>
          </a:p>
        </p:txBody>
      </p:sp>
      <p:sp>
        <p:nvSpPr>
          <p:cNvPr id="19" name="Shape 17"/>
          <p:cNvSpPr/>
          <p:nvPr/>
        </p:nvSpPr>
        <p:spPr>
          <a:xfrm>
            <a:off x="6217920" y="3291840"/>
            <a:ext cx="5349240" cy="1737360"/>
          </a:xfrm>
          <a:prstGeom prst="roundRect">
            <a:avLst>
              <a:gd name="adj" fmla="val 4737"/>
            </a:avLst>
          </a:prstGeom>
          <a:solidFill>
            <a:srgbClr val="ECEAE4"/>
          </a:solidFill>
          <a:ln w="12700">
            <a:solidFill>
              <a:srgbClr val="ECEAE4"/>
            </a:solidFill>
            <a:prstDash val="solid"/>
          </a:ln>
        </p:spPr>
        <p:txBody>
          <a:bodyPr/>
          <a:p/>
        </p:txBody>
      </p:sp>
      <p:sp>
        <p:nvSpPr>
          <p:cNvPr id="20" name="Text 18"/>
          <p:cNvSpPr/>
          <p:nvPr/>
        </p:nvSpPr>
        <p:spPr>
          <a:xfrm>
            <a:off x="6492240" y="3401568"/>
            <a:ext cx="4800600" cy="868680"/>
          </a:xfrm>
          <a:prstGeom prst="rect">
            <a:avLst/>
          </a:prstGeom>
          <a:noFill/>
          <a:ln/>
        </p:spPr>
        <p:txBody>
          <a:bodyPr wrap="square" lIns="0" tIns="0" rIns="0" bIns="0" rtlCol="0" anchor="ctr"/>
          <a:lstStyle/>
          <a:p>
            <a:pPr indent="0" marL="0">
              <a:buNone/>
            </a:pPr>
            <a:r>
              <a:rPr lang="en-US" sz="4000" b="1" dirty="0">
                <a:solidFill>
                  <a:srgbClr val="B02532"/>
                </a:solidFill>
                <a:latin typeface="Palatino Linotype" pitchFamily="34" charset="0"/>
                <a:ea typeface="Palatino Linotype" pitchFamily="34" charset="-122"/>
                <a:cs typeface="Palatino Linotype" pitchFamily="34" charset="-120"/>
              </a:rPr>
              <a:t>1 686</a:t>
            </a:r>
            <a:endParaRPr lang="en-US" sz="4000" dirty="0"/>
          </a:p>
        </p:txBody>
      </p:sp>
      <p:sp>
        <p:nvSpPr>
          <p:cNvPr id="21" name="Text 19"/>
          <p:cNvSpPr/>
          <p:nvPr/>
        </p:nvSpPr>
        <p:spPr>
          <a:xfrm>
            <a:off x="6492240" y="4178808"/>
            <a:ext cx="4800600" cy="799186"/>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de persoane în România, în 2024, cu metadonă; 311 (18,5%) admise în acel an</a:t>
            </a:r>
            <a:endParaRPr lang="en-US" sz="1200" dirty="0"/>
          </a:p>
        </p:txBody>
      </p:sp>
      <p:sp>
        <p:nvSpPr>
          <p:cNvPr id="22" name="Text 20"/>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Surse: OMS, fișa din 2025; EUDA, European Drug Report 2026; raportul național privind situația drogurilor.</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ROMÂNIA, 2024</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Metadona este și ea un opioid</a:t>
            </a:r>
            <a:endParaRPr lang="en-US" sz="3200" dirty="0"/>
          </a:p>
        </p:txBody>
      </p:sp>
      <p:sp>
        <p:nvSpPr>
          <p:cNvPr id="4" name="Shape 2"/>
          <p:cNvSpPr/>
          <p:nvPr/>
        </p:nvSpPr>
        <p:spPr>
          <a:xfrm>
            <a:off x="594360" y="1463040"/>
            <a:ext cx="5349240" cy="1828800"/>
          </a:xfrm>
          <a:prstGeom prst="roundRect">
            <a:avLst>
              <a:gd name="adj" fmla="val 4500"/>
            </a:avLst>
          </a:prstGeom>
          <a:solidFill>
            <a:srgbClr val="1D1F2B"/>
          </a:solidFill>
          <a:ln w="12700">
            <a:solidFill>
              <a:srgbClr val="1D1F2B"/>
            </a:solidFill>
            <a:prstDash val="solid"/>
          </a:ln>
        </p:spPr>
        <p:txBody>
          <a:bodyPr/>
          <a:p/>
        </p:txBody>
      </p:sp>
      <p:sp>
        <p:nvSpPr>
          <p:cNvPr id="5" name="Text 3"/>
          <p:cNvSpPr/>
          <p:nvPr/>
        </p:nvSpPr>
        <p:spPr>
          <a:xfrm>
            <a:off x="868680" y="1572768"/>
            <a:ext cx="4800600" cy="914400"/>
          </a:xfrm>
          <a:prstGeom prst="rect">
            <a:avLst/>
          </a:prstGeom>
          <a:noFill/>
          <a:ln/>
        </p:spPr>
        <p:txBody>
          <a:bodyPr wrap="square" lIns="0" tIns="0" rIns="0" bIns="0" rtlCol="0" anchor="ctr"/>
          <a:lstStyle/>
          <a:p>
            <a:pPr indent="0" marL="0">
              <a:buNone/>
            </a:pPr>
            <a:r>
              <a:rPr lang="en-US" sz="5600" b="1" dirty="0">
                <a:solidFill>
                  <a:srgbClr val="FF4757"/>
                </a:solidFill>
                <a:latin typeface="Palatino Linotype" pitchFamily="34" charset="0"/>
                <a:ea typeface="Palatino Linotype" pitchFamily="34" charset="-122"/>
                <a:cs typeface="Palatino Linotype" pitchFamily="34" charset="-120"/>
              </a:rPr>
              <a:t>10</a:t>
            </a:r>
            <a:endParaRPr lang="en-US" sz="5600" dirty="0"/>
          </a:p>
        </p:txBody>
      </p:sp>
      <p:sp>
        <p:nvSpPr>
          <p:cNvPr id="6" name="Text 4"/>
          <p:cNvSpPr/>
          <p:nvPr/>
        </p:nvSpPr>
        <p:spPr>
          <a:xfrm>
            <a:off x="868680" y="2395728"/>
            <a:ext cx="4800600" cy="841248"/>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decese asociate direct consumului de droguri cu metadonă prezentă; într-unul, și benzodiazepine sau alte sedative</a:t>
            </a:r>
            <a:endParaRPr lang="en-US" sz="1200" dirty="0"/>
          </a:p>
        </p:txBody>
      </p:sp>
      <p:sp>
        <p:nvSpPr>
          <p:cNvPr id="7" name="Shape 5"/>
          <p:cNvSpPr/>
          <p:nvPr/>
        </p:nvSpPr>
        <p:spPr>
          <a:xfrm>
            <a:off x="6217920" y="1463040"/>
            <a:ext cx="5349240" cy="1828800"/>
          </a:xfrm>
          <a:prstGeom prst="roundRect">
            <a:avLst>
              <a:gd name="adj" fmla="val 4500"/>
            </a:avLst>
          </a:prstGeom>
          <a:solidFill>
            <a:srgbClr val="1D1F2B"/>
          </a:solidFill>
          <a:ln w="12700">
            <a:solidFill>
              <a:srgbClr val="1D1F2B"/>
            </a:solidFill>
            <a:prstDash val="solid"/>
          </a:ln>
        </p:spPr>
        <p:txBody>
          <a:bodyPr/>
          <a:p/>
        </p:txBody>
      </p:sp>
      <p:sp>
        <p:nvSpPr>
          <p:cNvPr id="8" name="Text 6"/>
          <p:cNvSpPr/>
          <p:nvPr/>
        </p:nvSpPr>
        <p:spPr>
          <a:xfrm>
            <a:off x="6492240" y="1572768"/>
            <a:ext cx="4800600" cy="914400"/>
          </a:xfrm>
          <a:prstGeom prst="rect">
            <a:avLst/>
          </a:prstGeom>
          <a:noFill/>
          <a:ln/>
        </p:spPr>
        <p:txBody>
          <a:bodyPr wrap="square" lIns="0" tIns="0" rIns="0" bIns="0" rtlCol="0" anchor="ctr"/>
          <a:lstStyle/>
          <a:p>
            <a:pPr indent="0" marL="0">
              <a:buNone/>
            </a:pPr>
            <a:r>
              <a:rPr lang="en-US" sz="4800" b="1" dirty="0">
                <a:solidFill>
                  <a:srgbClr val="FFC24B"/>
                </a:solidFill>
                <a:latin typeface="Palatino Linotype" pitchFamily="34" charset="0"/>
                <a:ea typeface="Palatino Linotype" pitchFamily="34" charset="-122"/>
                <a:cs typeface="Palatino Linotype" pitchFamily="34" charset="-120"/>
              </a:rPr>
              <a:t>18 din 40</a:t>
            </a:r>
            <a:endParaRPr lang="en-US" sz="4800" dirty="0"/>
          </a:p>
        </p:txBody>
      </p:sp>
      <p:sp>
        <p:nvSpPr>
          <p:cNvPr id="9" name="Text 7"/>
          <p:cNvSpPr/>
          <p:nvPr/>
        </p:nvSpPr>
        <p:spPr>
          <a:xfrm>
            <a:off x="6492240" y="2395728"/>
            <a:ext cx="4800600" cy="841248"/>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decese directe explicate, împreună, de metadonă și heroină</a:t>
            </a:r>
            <a:endParaRPr lang="en-US" sz="1200" dirty="0"/>
          </a:p>
        </p:txBody>
      </p:sp>
      <p:sp>
        <p:nvSpPr>
          <p:cNvPr id="10" name="Shape 8"/>
          <p:cNvSpPr/>
          <p:nvPr/>
        </p:nvSpPr>
        <p:spPr>
          <a:xfrm>
            <a:off x="594360" y="3566160"/>
            <a:ext cx="10972800" cy="1463040"/>
          </a:xfrm>
          <a:prstGeom prst="roundRect">
            <a:avLst>
              <a:gd name="adj" fmla="val 5625"/>
            </a:avLst>
          </a:prstGeom>
          <a:solidFill>
            <a:srgbClr val="272A38"/>
          </a:solidFill>
          <a:ln w="12700">
            <a:solidFill>
              <a:srgbClr val="272A38"/>
            </a:solidFill>
            <a:prstDash val="solid"/>
          </a:ln>
        </p:spPr>
        <p:txBody>
          <a:bodyPr/>
          <a:p/>
        </p:txBody>
      </p:sp>
      <p:sp>
        <p:nvSpPr>
          <p:cNvPr id="11" name="Text 9"/>
          <p:cNvSpPr/>
          <p:nvPr/>
        </p:nvSpPr>
        <p:spPr>
          <a:xfrm>
            <a:off x="868680" y="3566160"/>
            <a:ext cx="10424160" cy="1463040"/>
          </a:xfrm>
          <a:prstGeom prst="rect">
            <a:avLst/>
          </a:prstGeom>
          <a:noFill/>
          <a:ln/>
        </p:spPr>
        <p:txBody>
          <a:bodyPr wrap="square" lIns="0" tIns="0" rIns="0" bIns="0" rtlCol="0" anchor="ctr"/>
          <a:lstStyle/>
          <a:p>
            <a:pPr indent="0" marL="0">
              <a:buNone/>
            </a:pPr>
            <a:r>
              <a:rPr lang="en-US" sz="1750" i="1" dirty="0">
                <a:solidFill>
                  <a:srgbClr val="FFFFFF"/>
                </a:solidFill>
                <a:latin typeface="Palatino Linotype" pitchFamily="34" charset="0"/>
                <a:ea typeface="Palatino Linotype" pitchFamily="34" charset="-122"/>
                <a:cs typeface="Palatino Linotype" pitchFamily="34" charset="-120"/>
              </a:rPr>
              <a:t>Raportul nu spune câte dintre aceste persoane erau în tratament și câte foloseau metadonă obținută altfel. Cifra nu se poate citi ca o evaluare a programului.</a:t>
            </a:r>
            <a:endParaRPr lang="en-US" sz="1750" dirty="0"/>
          </a:p>
        </p:txBody>
      </p:sp>
      <p:sp>
        <p:nvSpPr>
          <p:cNvPr id="12" name="Text 10"/>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raportul național privind situația drogurilor, datele pentru 2024.</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 CHAT · JUMĂTATE DE MINUT</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PARTEA A PATRA · ÎNCHEIERE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Ce îi spuneți mâine unui coleg</a:t>
            </a:r>
            <a:endParaRPr lang="en-US" sz="3400" dirty="0"/>
          </a:p>
        </p:txBody>
      </p:sp>
      <p:sp>
        <p:nvSpPr>
          <p:cNvPr id="6" name="Shape 4"/>
          <p:cNvSpPr/>
          <p:nvPr/>
        </p:nvSpPr>
        <p:spPr>
          <a:xfrm>
            <a:off x="594360" y="1828800"/>
            <a:ext cx="73152" cy="3291840"/>
          </a:xfrm>
          <a:prstGeom prst="rect">
            <a:avLst/>
          </a:prstGeom>
          <a:solidFill>
            <a:srgbClr val="27D3BE"/>
          </a:solidFill>
          <a:ln w="12700">
            <a:solidFill>
              <a:srgbClr val="27D3BE"/>
            </a:solidFill>
            <a:prstDash val="solid"/>
          </a:ln>
        </p:spPr>
        <p:txBody>
          <a:bodyPr/>
          <a:p/>
        </p:txBody>
      </p:sp>
      <p:sp>
        <p:nvSpPr>
          <p:cNvPr id="7" name="Text 5"/>
          <p:cNvSpPr/>
          <p:nvPr/>
        </p:nvSpPr>
        <p:spPr>
          <a:xfrm>
            <a:off x="960120" y="1828800"/>
            <a:ext cx="10515600" cy="3291840"/>
          </a:xfrm>
          <a:prstGeom prst="rect">
            <a:avLst/>
          </a:prstGeom>
          <a:noFill/>
          <a:ln/>
        </p:spPr>
        <p:txBody>
          <a:bodyPr wrap="square" lIns="0" tIns="0" rIns="0" bIns="0" rtlCol="0" anchor="ctr"/>
          <a:lstStyle/>
          <a:p>
            <a:pPr indent="0" marL="0">
              <a:buNone/>
            </a:pPr>
            <a:r>
              <a:rPr lang="en-US" sz="2300" i="1" dirty="0">
                <a:solidFill>
                  <a:srgbClr val="FFFFFF"/>
                </a:solidFill>
                <a:latin typeface="Palatino Linotype" pitchFamily="34" charset="0"/>
                <a:ea typeface="Palatino Linotype" pitchFamily="34" charset="-122"/>
                <a:cs typeface="Palatino Linotype" pitchFamily="34" charset="-120"/>
              </a:rPr>
              <a:t>„Tratamentul de substituție ține omul în viață și în legătură cu medicul. În România îl primesc puțin peste o mie și jumătate de oameni. Iar metadona rămâne un opioid: combinată cu o benzodiazepină, crește riscul.”</a:t>
            </a:r>
            <a:endParaRPr lang="en-US" sz="2300" dirty="0"/>
          </a:p>
        </p:txBody>
      </p:sp>
      <p:sp>
        <p:nvSpPr>
          <p:cNvPr id="8" name="Text 6"/>
          <p:cNvSpPr/>
          <p:nvPr/>
        </p:nvSpPr>
        <p:spPr>
          <a:xfrm>
            <a:off x="594360" y="5486400"/>
            <a:ext cx="10972800" cy="41148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Scrieți-o în chat, cu cuvintele voastre.</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ÎN PRACTICĂ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faceți diferit de mâine</a:t>
            </a:r>
            <a:endParaRPr lang="en-US" sz="3200" dirty="0"/>
          </a:p>
        </p:txBody>
      </p:sp>
      <p:sp>
        <p:nvSpPr>
          <p:cNvPr id="4" name="Shape 2"/>
          <p:cNvSpPr/>
          <p:nvPr/>
        </p:nvSpPr>
        <p:spPr>
          <a:xfrm>
            <a:off x="685800" y="1517904"/>
            <a:ext cx="420624" cy="420624"/>
          </a:xfrm>
          <a:prstGeom prst="ellipse">
            <a:avLst/>
          </a:prstGeom>
          <a:solidFill>
            <a:srgbClr val="FF4757"/>
          </a:solidFill>
          <a:ln/>
        </p:spPr>
        <p:txBody>
          <a:bodyPr/>
          <a:p/>
        </p:txBody>
      </p:sp>
      <p:sp>
        <p:nvSpPr>
          <p:cNvPr id="5" name="Text 3"/>
          <p:cNvSpPr/>
          <p:nvPr/>
        </p:nvSpPr>
        <p:spPr>
          <a:xfrm>
            <a:off x="685800" y="151790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6" name="Text 4"/>
          <p:cNvSpPr/>
          <p:nvPr/>
        </p:nvSpPr>
        <p:spPr>
          <a:xfrm>
            <a:off x="1325880" y="1417320"/>
            <a:ext cx="1024128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Prima rețetă de benzodiazepină sau de somn: programați pacientul înapoi în cel mult o lună.</a:t>
            </a:r>
            <a:endParaRPr lang="en-US" sz="1550" dirty="0"/>
          </a:p>
        </p:txBody>
      </p:sp>
      <p:sp>
        <p:nvSpPr>
          <p:cNvPr id="7" name="Shape 5"/>
          <p:cNvSpPr/>
          <p:nvPr/>
        </p:nvSpPr>
        <p:spPr>
          <a:xfrm>
            <a:off x="685800" y="2249424"/>
            <a:ext cx="420624" cy="420624"/>
          </a:xfrm>
          <a:prstGeom prst="ellipse">
            <a:avLst/>
          </a:prstGeom>
          <a:solidFill>
            <a:srgbClr val="FF4757"/>
          </a:solidFill>
          <a:ln/>
        </p:spPr>
        <p:txBody>
          <a:bodyPr/>
          <a:p/>
        </p:txBody>
      </p:sp>
      <p:sp>
        <p:nvSpPr>
          <p:cNvPr id="8" name="Text 6"/>
          <p:cNvSpPr/>
          <p:nvPr/>
        </p:nvSpPr>
        <p:spPr>
          <a:xfrm>
            <a:off x="685800" y="224942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9" name="Text 7"/>
          <p:cNvSpPr/>
          <p:nvPr/>
        </p:nvSpPr>
        <p:spPr>
          <a:xfrm>
            <a:off x="1325880" y="2148840"/>
            <a:ext cx="1024128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Ani de benzodiazepină: nu o opriți brusc și nu certați; reducere treptată, cu întâlniri programate.</a:t>
            </a:r>
            <a:endParaRPr lang="en-US" sz="1550" dirty="0"/>
          </a:p>
        </p:txBody>
      </p:sp>
      <p:sp>
        <p:nvSpPr>
          <p:cNvPr id="10" name="Shape 8"/>
          <p:cNvSpPr/>
          <p:nvPr/>
        </p:nvSpPr>
        <p:spPr>
          <a:xfrm>
            <a:off x="685800" y="2980944"/>
            <a:ext cx="420624" cy="420624"/>
          </a:xfrm>
          <a:prstGeom prst="ellipse">
            <a:avLst/>
          </a:prstGeom>
          <a:solidFill>
            <a:srgbClr val="FF4757"/>
          </a:solidFill>
          <a:ln/>
        </p:spPr>
        <p:txBody>
          <a:bodyPr/>
          <a:p/>
        </p:txBody>
      </p:sp>
      <p:sp>
        <p:nvSpPr>
          <p:cNvPr id="11" name="Text 9"/>
          <p:cNvSpPr/>
          <p:nvPr/>
        </p:nvSpPr>
        <p:spPr>
          <a:xfrm>
            <a:off x="685800" y="298094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2" name="Text 10"/>
          <p:cNvSpPr/>
          <p:nvPr/>
        </p:nvSpPr>
        <p:spPr>
          <a:xfrm>
            <a:off x="1325880" y="2880360"/>
            <a:ext cx="1024128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Durere de luni de zile: întâi tratamentele fără opioide; ținte de durere și de funcție, împreună.</a:t>
            </a:r>
            <a:endParaRPr lang="en-US" sz="1550" dirty="0"/>
          </a:p>
        </p:txBody>
      </p:sp>
      <p:sp>
        <p:nvSpPr>
          <p:cNvPr id="13" name="Shape 11"/>
          <p:cNvSpPr/>
          <p:nvPr/>
        </p:nvSpPr>
        <p:spPr>
          <a:xfrm>
            <a:off x="685800" y="3712464"/>
            <a:ext cx="420624" cy="420624"/>
          </a:xfrm>
          <a:prstGeom prst="ellipse">
            <a:avLst/>
          </a:prstGeom>
          <a:solidFill>
            <a:srgbClr val="FF4757"/>
          </a:solidFill>
          <a:ln/>
        </p:spPr>
        <p:txBody>
          <a:bodyPr/>
          <a:p/>
        </p:txBody>
      </p:sp>
      <p:sp>
        <p:nvSpPr>
          <p:cNvPr id="14" name="Text 12"/>
          <p:cNvSpPr/>
          <p:nvPr/>
        </p:nvSpPr>
        <p:spPr>
          <a:xfrm>
            <a:off x="685800" y="371246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5" name="Text 13"/>
          <p:cNvSpPr/>
          <p:nvPr/>
        </p:nvSpPr>
        <p:spPr>
          <a:xfrm>
            <a:off x="1325880" y="3611880"/>
            <a:ext cx="1024128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Opioid și benzodiazepină pe aceeași fișă: e nevoie de amândouă?</a:t>
            </a:r>
            <a:endParaRPr lang="en-US" sz="1550" dirty="0"/>
          </a:p>
        </p:txBody>
      </p:sp>
      <p:sp>
        <p:nvSpPr>
          <p:cNvPr id="16" name="Shape 14"/>
          <p:cNvSpPr/>
          <p:nvPr/>
        </p:nvSpPr>
        <p:spPr>
          <a:xfrm>
            <a:off x="685800" y="4443984"/>
            <a:ext cx="420624" cy="420624"/>
          </a:xfrm>
          <a:prstGeom prst="ellipse">
            <a:avLst/>
          </a:prstGeom>
          <a:solidFill>
            <a:srgbClr val="FF4757"/>
          </a:solidFill>
          <a:ln/>
        </p:spPr>
        <p:txBody>
          <a:bodyPr/>
          <a:p/>
        </p:txBody>
      </p:sp>
      <p:sp>
        <p:nvSpPr>
          <p:cNvPr id="17" name="Text 15"/>
          <p:cNvSpPr/>
          <p:nvPr/>
        </p:nvSpPr>
        <p:spPr>
          <a:xfrm>
            <a:off x="685800" y="444398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5</a:t>
            </a:r>
            <a:endParaRPr lang="en-US" sz="1400" dirty="0"/>
          </a:p>
        </p:txBody>
      </p:sp>
      <p:sp>
        <p:nvSpPr>
          <p:cNvPr id="18" name="Text 16"/>
          <p:cNvSpPr/>
          <p:nvPr/>
        </p:nvSpPr>
        <p:spPr>
          <a:xfrm>
            <a:off x="1325880" y="4343400"/>
            <a:ext cx="1024128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„Statul îi ajută să se drogheze”: valorile se discută, faptele se verifică.</a:t>
            </a:r>
            <a:endParaRPr lang="en-US" sz="1550" dirty="0"/>
          </a:p>
        </p:txBody>
      </p:sp>
      <p:sp>
        <p:nvSpPr>
          <p:cNvPr id="19" name="Shape 17"/>
          <p:cNvSpPr/>
          <p:nvPr/>
        </p:nvSpPr>
        <p:spPr>
          <a:xfrm>
            <a:off x="685800" y="5175504"/>
            <a:ext cx="420624" cy="420624"/>
          </a:xfrm>
          <a:prstGeom prst="ellipse">
            <a:avLst/>
          </a:prstGeom>
          <a:solidFill>
            <a:srgbClr val="FF4757"/>
          </a:solidFill>
          <a:ln/>
        </p:spPr>
        <p:txBody>
          <a:bodyPr/>
          <a:p/>
        </p:txBody>
      </p:sp>
      <p:sp>
        <p:nvSpPr>
          <p:cNvPr id="20" name="Text 18"/>
          <p:cNvSpPr/>
          <p:nvPr/>
        </p:nvSpPr>
        <p:spPr>
          <a:xfrm>
            <a:off x="685800" y="517550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6</a:t>
            </a:r>
            <a:endParaRPr lang="en-US" sz="1400" dirty="0"/>
          </a:p>
        </p:txBody>
      </p:sp>
      <p:sp>
        <p:nvSpPr>
          <p:cNvPr id="21" name="Text 19"/>
          <p:cNvSpPr/>
          <p:nvPr/>
        </p:nvSpPr>
        <p:spPr>
          <a:xfrm>
            <a:off x="1325880" y="5074920"/>
            <a:ext cx="1024128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Martor la o supradoză: sunați imediat la numărul unic de urgență.</a:t>
            </a:r>
            <a:endParaRPr lang="en-US" sz="15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KAHOOT</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RECAPITULARE</a:t>
            </a:r>
            <a:endParaRPr lang="en-US" sz="1300" dirty="0"/>
          </a:p>
        </p:txBody>
      </p:sp>
      <p:sp>
        <p:nvSpPr>
          <p:cNvPr id="5" name="Text 3"/>
          <p:cNvSpPr/>
          <p:nvPr/>
        </p:nvSpPr>
        <p:spPr>
          <a:xfrm>
            <a:off x="594360" y="1280160"/>
            <a:ext cx="10972800" cy="914400"/>
          </a:xfrm>
          <a:prstGeom prst="rect">
            <a:avLst/>
          </a:prstGeom>
          <a:noFill/>
          <a:ln/>
        </p:spPr>
        <p:txBody>
          <a:bodyPr wrap="square" lIns="0" tIns="0" rIns="0" bIns="0" rtlCol="0" anchor="t"/>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Rețeta, durerea, seringa, substituția</a:t>
            </a:r>
            <a:endParaRPr lang="en-US" sz="3800" dirty="0"/>
          </a:p>
        </p:txBody>
      </p:sp>
      <p:sp>
        <p:nvSpPr>
          <p:cNvPr id="6" name="Text 4"/>
          <p:cNvSpPr/>
          <p:nvPr/>
        </p:nvSpPr>
        <p:spPr>
          <a:xfrm>
            <a:off x="594360" y="2331720"/>
            <a:ext cx="10972800" cy="548640"/>
          </a:xfrm>
          <a:prstGeom prst="rect">
            <a:avLst/>
          </a:prstGeom>
          <a:noFill/>
          <a:ln/>
        </p:spPr>
        <p:txBody>
          <a:bodyPr wrap="square" lIns="0" tIns="0" rIns="0" bIns="0" rtlCol="0" anchor="t"/>
          <a:lstStyle/>
          <a:p>
            <a:pPr indent="0" marL="0">
              <a:buNone/>
            </a:pPr>
            <a:r>
              <a:rPr lang="en-US" sz="2200" dirty="0">
                <a:solidFill>
                  <a:srgbClr val="959BB0"/>
                </a:solidFill>
                <a:latin typeface="Palatino Linotype" pitchFamily="34" charset="0"/>
                <a:ea typeface="Palatino Linotype" pitchFamily="34" charset="-122"/>
                <a:cs typeface="Palatino Linotype" pitchFamily="34" charset="-120"/>
              </a:rPr>
              <a:t>Accesați kahoot.it; codul jocului e și în chat.</a:t>
            </a:r>
            <a:endParaRPr lang="en-US" sz="2200" dirty="0"/>
          </a:p>
        </p:txBody>
      </p:sp>
      <p:sp>
        <p:nvSpPr>
          <p:cNvPr id="7" name="Text 5"/>
          <p:cNvSpPr/>
          <p:nvPr/>
        </p:nvSpPr>
        <p:spPr>
          <a:xfrm>
            <a:off x="594360" y="3200400"/>
            <a:ext cx="10972800" cy="1097280"/>
          </a:xfrm>
          <a:prstGeom prst="rect">
            <a:avLst/>
          </a:prstGeom>
          <a:noFill/>
          <a:ln/>
        </p:spPr>
        <p:txBody>
          <a:bodyPr wrap="square" lIns="0" tIns="0" rIns="0" bIns="0" rtlCol="0" anchor="ctr"/>
          <a:lstStyle/>
          <a:p>
            <a:pPr indent="0" marL="0">
              <a:buNone/>
            </a:pPr>
            <a:r>
              <a:rPr lang="en-US" sz="2200" i="1" dirty="0">
                <a:solidFill>
                  <a:srgbClr val="FFFFFF"/>
                </a:solidFill>
                <a:latin typeface="Palatino Linotype" pitchFamily="34" charset="0"/>
                <a:ea typeface="Palatino Linotype" pitchFamily="34" charset="-122"/>
                <a:cs typeface="Palatino Linotype" pitchFamily="34" charset="-120"/>
              </a:rPr>
              <a:t>Zece întrebări. Rezultatul nu se notează. După fiecare întrebare: varianta corectă și sursa ei.</a:t>
            </a:r>
            <a:endParaRPr lang="en-US" sz="2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84048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38404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titular</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 fost util?</a:t>
            </a:r>
            <a:endParaRPr lang="en-US" sz="20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Unde te-am pierdut?</a:t>
            </a:r>
            <a:endParaRPr lang="en-US" sz="20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ai putea folosi mâine?</a:t>
            </a:r>
            <a:endParaRPr lang="en-US" sz="2000" dirty="0"/>
          </a:p>
        </p:txBody>
      </p:sp>
      <p:sp>
        <p:nvSpPr>
          <p:cNvPr id="14" name="Shape 12"/>
          <p:cNvSpPr/>
          <p:nvPr/>
        </p:nvSpPr>
        <p:spPr>
          <a:xfrm>
            <a:off x="8549640" y="2514600"/>
            <a:ext cx="3017520" cy="2468880"/>
          </a:xfrm>
          <a:prstGeom prst="roundRect">
            <a:avLst>
              <a:gd name="adj" fmla="val 3333"/>
            </a:avLst>
          </a:prstGeom>
          <a:solidFill>
            <a:srgbClr val="FFFFFF"/>
          </a:solidFill>
          <a:ln w="12700">
            <a:solidFill>
              <a:srgbClr val="FFFFFF"/>
            </a:solidFill>
            <a:prstDash val="solid"/>
          </a:ln>
        </p:spPr>
        <p:txBody>
          <a:bodyPr/>
          <a:p/>
        </p:txBody>
      </p:sp>
      <p:sp>
        <p:nvSpPr>
          <p:cNvPr id="16" name="Text 14"/>
          <p:cNvSpPr/>
          <p:nvPr/>
        </p:nvSpPr>
        <p:spPr>
          <a:xfrm>
            <a:off x="594360" y="5212080"/>
            <a:ext cx="7772400" cy="41148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Codul e pe ecran; linkul e și în chat.</a:t>
            </a:r>
            <a:endParaRPr lang="en-US" sz="1600" dirty="0"/>
          </a:p>
        </p:txBody>
      </p:sp>
      <p:sp>
        <p:nvSpPr>
          <p:cNvPr id="17" name="Text 15"/>
          <p:cNvSpPr/>
          <p:nvPr/>
        </p:nvSpPr>
        <p:spPr>
          <a:xfrm>
            <a:off x="594360" y="5669280"/>
            <a:ext cx="10972800" cy="45720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Luni, pe pagina disciplinei, veți găsi două lucruri schimbate după răspunsuri.</a:t>
            </a:r>
            <a:endParaRPr lang="en-US" sz="1700" dirty="0"/>
          </a:p>
        </p:txBody>
      </p:sp>
      <p:pic>
        <p:nvPicPr>
          <p:cNvPr id="18" name="Picture 17" descr="Mentimeter_OPT_DROGURI_C04.png"/>
          <p:cNvPicPr>
            <a:picLocks noChangeAspect="1"/>
          </p:cNvPicPr>
          <p:nvPr/>
        </p:nvPicPr>
        <p:blipFill>
          <a:blip r:embed="rId3"/>
          <a:stretch>
            <a:fillRect/>
          </a:stretch>
        </p:blipFill>
        <p:spPr>
          <a:xfrm>
            <a:off x="9137650" y="2514600"/>
            <a:ext cx="1841500" cy="1841500"/>
          </a:xfrm>
          <a:prstGeom prst="rect">
            <a:avLst/>
          </a:prstGeom>
        </p:spPr>
      </p:pic>
      <p:sp>
        <p:nvSpPr>
          <p:cNvPr id="19" name="TextBox 18"/>
          <p:cNvSpPr txBox="1"/>
          <p:nvPr/>
        </p:nvSpPr>
        <p:spPr>
          <a:xfrm>
            <a:off x="8549640" y="4394200"/>
            <a:ext cx="301752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Ședința 4 - Reducerea riscurilor și dependența care începe în cabinet</dc:title>
  <dc:subject>PptxGenJS Presentation</dc:subject>
  <dc:creator>Conf. Univ. Dr. Adrian Pana</dc:creator>
  <cp:lastModifiedBy>Conf. Univ. Dr. Adrian Pana</cp:lastModifiedBy>
  <cp:revision>1</cp:revision>
  <dcterms:created xsi:type="dcterms:W3CDTF">2026-10-17T10:53:26Z</dcterms:created>
  <dcterms:modified xsi:type="dcterms:W3CDTF">2026-10-17T10:53:26Z</dcterms:modified>
  <cp:keywords>sursa_amprenta=e396a1d927863d2f; proiectie</cp:keywords>
</cp:coreProperties>
</file>